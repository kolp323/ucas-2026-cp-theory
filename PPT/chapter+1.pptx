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9"/>
  </p:handoutMasterIdLst>
  <p:sldIdLst>
    <p:sldId id="256" r:id="rId3"/>
    <p:sldId id="342" r:id="rId5"/>
    <p:sldId id="425" r:id="rId6"/>
    <p:sldId id="329" r:id="rId7"/>
    <p:sldId id="351" r:id="rId8"/>
    <p:sldId id="352" r:id="rId9"/>
    <p:sldId id="353" r:id="rId10"/>
    <p:sldId id="384" r:id="rId11"/>
    <p:sldId id="385" r:id="rId12"/>
    <p:sldId id="386" r:id="rId13"/>
    <p:sldId id="354" r:id="rId14"/>
    <p:sldId id="355" r:id="rId15"/>
    <p:sldId id="357" r:id="rId16"/>
    <p:sldId id="358" r:id="rId17"/>
    <p:sldId id="360" r:id="rId18"/>
    <p:sldId id="359" r:id="rId19"/>
    <p:sldId id="387" r:id="rId20"/>
    <p:sldId id="388" r:id="rId21"/>
    <p:sldId id="361" r:id="rId22"/>
    <p:sldId id="363" r:id="rId23"/>
    <p:sldId id="424" r:id="rId24"/>
    <p:sldId id="362" r:id="rId25"/>
    <p:sldId id="390" r:id="rId26"/>
    <p:sldId id="391" r:id="rId27"/>
    <p:sldId id="392" r:id="rId28"/>
    <p:sldId id="393" r:id="rId29"/>
    <p:sldId id="394" r:id="rId30"/>
    <p:sldId id="395" r:id="rId31"/>
    <p:sldId id="396" r:id="rId32"/>
    <p:sldId id="397" r:id="rId33"/>
    <p:sldId id="365" r:id="rId34"/>
    <p:sldId id="398" r:id="rId35"/>
    <p:sldId id="400" r:id="rId36"/>
    <p:sldId id="401" r:id="rId37"/>
    <p:sldId id="402" r:id="rId38"/>
    <p:sldId id="403" r:id="rId39"/>
    <p:sldId id="404" r:id="rId40"/>
    <p:sldId id="405" r:id="rId41"/>
    <p:sldId id="406" r:id="rId42"/>
    <p:sldId id="407" r:id="rId43"/>
    <p:sldId id="408" r:id="rId44"/>
    <p:sldId id="409" r:id="rId45"/>
    <p:sldId id="410" r:id="rId46"/>
    <p:sldId id="411" r:id="rId47"/>
    <p:sldId id="412" r:id="rId48"/>
    <p:sldId id="413" r:id="rId49"/>
    <p:sldId id="414" r:id="rId50"/>
    <p:sldId id="415" r:id="rId51"/>
    <p:sldId id="417" r:id="rId52"/>
    <p:sldId id="418" r:id="rId53"/>
    <p:sldId id="420" r:id="rId54"/>
    <p:sldId id="421" r:id="rId55"/>
    <p:sldId id="422" r:id="rId56"/>
    <p:sldId id="423" r:id="rId57"/>
    <p:sldId id="382" r:id="rId58"/>
  </p:sldIdLst>
  <p:sldSz cx="9144000" cy="6858000" type="screen4x3"/>
  <p:notesSz cx="6708775" cy="9774555"/>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ja" initials="f" lastIdx="1" clrIdx="3"/>
  <p:cmAuthor id="2" name="f ja" initials="f" lastIdx="1" clrIdx="5"/>
  <p:cmAuthor id="3" name="f ja" initials="f" lastIdx="1" clrIdx="6"/>
  <p:cmAuthor id="4" name="ja f" initials="j" lastIdx="1" clrIdx="0"/>
  <p:cmAuthor id="5" name="f ja" initials="f" lastIdx="1" clrIdx="8"/>
  <p:cmAuthor id="6" name="ja f" initials="j" lastIdx="1" clrIdx="1"/>
  <p:cmAuthor id="7" name="ja f" initials="j" lastIdx="1" clrIdx="2"/>
  <p:cmAuthor id="8" name="f ja" initials="f" lastIdx="1" clrIdx="7"/>
  <p:cmAuthor id="9" name="f ja" initials="f"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CC0000"/>
    <a:srgbClr val="FFFFCC"/>
    <a:srgbClr val="CCFFCC"/>
    <a:srgbClr val="FFCCFF"/>
    <a:srgbClr val="CCFFFF"/>
    <a:srgbClr val="CCECFF"/>
    <a:srgbClr val="66FF6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8"/>
    <p:restoredTop sz="63227"/>
  </p:normalViewPr>
  <p:slideViewPr>
    <p:cSldViewPr showGuides="1">
      <p:cViewPr>
        <p:scale>
          <a:sx n="69" d="100"/>
          <a:sy n="69" d="100"/>
        </p:scale>
        <p:origin x="1452" y="60"/>
      </p:cViewPr>
      <p:guideLst>
        <p:guide orient="horz" pos="144"/>
        <p:guide pos="5759"/>
      </p:guideLst>
    </p:cSldViewPr>
  </p:slideViewPr>
  <p:outlineViewPr>
    <p:cViewPr>
      <p:scale>
        <a:sx n="33" d="100"/>
        <a:sy n="33" d="100"/>
      </p:scale>
      <p:origin x="0" y="-2010"/>
    </p:cViewPr>
  </p:outlineViewPr>
  <p:notesTextViewPr>
    <p:cViewPr>
      <p:scale>
        <a:sx n="150" d="100"/>
        <a:sy n="15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atin typeface="Times New Roman" panose="02020603050405020304" pitchFamily="18" charset="0"/>
              </a:defRPr>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atin typeface="Times New Roman" panose="02020603050405020304" pitchFamily="18" charset="0"/>
              </a:defRPr>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atin typeface="Times New Roman" panose="02020603050405020304" pitchFamily="18" charset="0"/>
              </a:defRPr>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fontAlgn="base">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atin typeface="Times New Roman" panose="02020603050405020304" pitchFamily="18" charset="0"/>
              </a:defRPr>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atin typeface="Times New Roman" panose="02020603050405020304" pitchFamily="18" charset="0"/>
              </a:defRPr>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6" name="Rectangle 4"/>
          <p:cNvSpPr>
            <a:spLocks noGrp="1" noRot="1" noChangeAspect="1" noTextEdit="1"/>
          </p:cNvSpPr>
          <p:nvPr>
            <p:ph type="sldImg"/>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atin typeface="Times New Roman" panose="02020603050405020304" pitchFamily="18" charset="0"/>
              </a:defRPr>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fontAlgn="base">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2" name="Rectangle 2"/>
          <p:cNvSpPr>
            <a:spLocks noGrp="1" noRot="1" noChangeAspect="1" noTextEdit="1"/>
          </p:cNvSpPr>
          <p:nvPr>
            <p:ph type="sldImg"/>
          </p:nvPr>
        </p:nvSpPr>
        <p:spPr>
          <a:ln/>
        </p:spPr>
      </p:sp>
      <p:sp>
        <p:nvSpPr>
          <p:cNvPr id="5123"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助教：</a:t>
            </a:r>
            <a:endParaRPr lang="en-US"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0" name="Rectangle 2"/>
          <p:cNvSpPr>
            <a:spLocks noGrp="1" noRot="1" noChangeAspect="1" noTextEdit="1"/>
          </p:cNvSpPr>
          <p:nvPr>
            <p:ph type="sldImg"/>
          </p:nvPr>
        </p:nvSpPr>
        <p:spPr>
          <a:ln/>
        </p:spPr>
      </p:sp>
      <p:sp>
        <p:nvSpPr>
          <p:cNvPr id="717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8" name="Rectangle 2"/>
          <p:cNvSpPr>
            <a:spLocks noGrp="1" noRot="1" noChangeAspect="1" noTextEdit="1"/>
          </p:cNvSpPr>
          <p:nvPr>
            <p:ph type="sldImg"/>
          </p:nvPr>
        </p:nvSpPr>
        <p:spPr>
          <a:ln/>
        </p:spPr>
      </p:sp>
      <p:sp>
        <p:nvSpPr>
          <p:cNvPr id="9219"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6" name="Rectangle 2"/>
          <p:cNvSpPr>
            <a:spLocks noGrp="1" noRot="1" noChangeAspect="1" noTextEdit="1"/>
          </p:cNvSpPr>
          <p:nvPr>
            <p:ph type="sldImg"/>
          </p:nvPr>
        </p:nvSpPr>
        <p:spPr>
          <a:ln/>
        </p:spPr>
      </p:sp>
      <p:sp>
        <p:nvSpPr>
          <p:cNvPr id="11267"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本章的目的是了解编译器是什么？有什么作用？以及一些基本知识。</a:t>
            </a:r>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4" name="Rectangle 2"/>
          <p:cNvSpPr>
            <a:spLocks noGrp="1" noRot="1" noChangeAspect="1" noTextEdit="1"/>
          </p:cNvSpPr>
          <p:nvPr>
            <p:ph type="sldImg"/>
          </p:nvPr>
        </p:nvSpPr>
        <p:spPr>
          <a:ln/>
        </p:spPr>
      </p:sp>
      <p:sp>
        <p:nvSpPr>
          <p:cNvPr id="13315" name="Rectangle 3"/>
          <p:cNvSpPr>
            <a:spLocks noGrp="1"/>
          </p:cNvSpPr>
          <p:nvPr>
            <p:ph type="body"/>
          </p:nvPr>
        </p:nvSpPr>
        <p:spPr>
          <a:ln/>
        </p:spPr>
        <p:txBody>
          <a:bodyPr wrap="square" lIns="91534" tIns="45768" rIns="91534" bIns="45768" anchor="t" anchorCtr="0"/>
          <a:p>
            <a:pPr lvl="0"/>
            <a:r>
              <a:rPr lang="zh-CN" altLang="en-US" sz="1600" b="1" dirty="0">
                <a:ea typeface="宋体" panose="02010600030101010101" pitchFamily="2" charset="-122"/>
              </a:rPr>
              <a:t>这种等价变换，也是弥补二者间的鸿沟</a:t>
            </a:r>
            <a:endParaRPr lang="zh-CN" altLang="en-US" sz="1600" b="1" dirty="0">
              <a:ea typeface="宋体" panose="02010600030101010101" pitchFamily="2" charset="-122"/>
            </a:endParaRPr>
          </a:p>
          <a:p>
            <a:pPr lvl="0"/>
            <a:r>
              <a:rPr lang="en-US" altLang="zh-CN" sz="1600" b="1" dirty="0">
                <a:ea typeface="宋体" panose="02010600030101010101" pitchFamily="2" charset="-122"/>
              </a:rPr>
              <a:t>1</a:t>
            </a:r>
            <a:r>
              <a:rPr lang="zh-CN" altLang="en-US" sz="1600" b="1" dirty="0">
                <a:ea typeface="宋体" panose="02010600030101010101" pitchFamily="2" charset="-122"/>
              </a:rPr>
              <a:t>。算法与硬件是有区别的，算法考虑问题本身</a:t>
            </a:r>
            <a:endParaRPr lang="zh-CN" altLang="en-US" sz="1600" b="1" dirty="0">
              <a:ea typeface="宋体" panose="02010600030101010101" pitchFamily="2" charset="-122"/>
            </a:endParaRPr>
          </a:p>
          <a:p>
            <a:pPr lvl="0"/>
            <a:r>
              <a:rPr lang="en-US" altLang="zh-CN" sz="1600" b="1" dirty="0">
                <a:ea typeface="宋体" panose="02010600030101010101" pitchFamily="2" charset="-122"/>
              </a:rPr>
              <a:t>2</a:t>
            </a:r>
            <a:r>
              <a:rPr lang="zh-CN" altLang="en-US" sz="1600" b="1" dirty="0">
                <a:ea typeface="宋体" panose="02010600030101010101" pitchFamily="2" charset="-122"/>
              </a:rPr>
              <a:t>。硬件的特点千差万别</a:t>
            </a:r>
            <a:endParaRPr lang="zh-CN" altLang="en-US" sz="1600" b="1" dirty="0">
              <a:ea typeface="宋体" panose="02010600030101010101" pitchFamily="2" charset="-122"/>
            </a:endParaRPr>
          </a:p>
          <a:p>
            <a:pPr lvl="0"/>
            <a:r>
              <a:rPr lang="en-US" altLang="zh-CN" sz="1600" b="1" dirty="0">
                <a:ea typeface="宋体" panose="02010600030101010101" pitchFamily="2" charset="-122"/>
              </a:rPr>
              <a:t>3</a:t>
            </a:r>
            <a:r>
              <a:rPr lang="zh-CN" altLang="en-US" sz="1600" b="1" dirty="0">
                <a:ea typeface="宋体" panose="02010600030101010101" pitchFamily="2" charset="-122"/>
              </a:rPr>
              <a:t>。编译器的好坏是多方面的：性能、适用性、健壮性。。。</a:t>
            </a:r>
            <a:endParaRPr lang="zh-CN" altLang="en-US" sz="1600" b="1" dirty="0">
              <a:ea typeface="宋体" panose="02010600030101010101" pitchFamily="2" charset="-122"/>
            </a:endParaRPr>
          </a:p>
          <a:p>
            <a:pPr lvl="0"/>
            <a:r>
              <a:rPr lang="zh-CN" altLang="en-US" sz="1600" b="1" dirty="0">
                <a:ea typeface="宋体" panose="02010600030101010101" pitchFamily="2" charset="-122"/>
              </a:rPr>
              <a:t>等价变换相关的例子：浮点精度（数学上等价的，在计算机的计算实现上未必等价）、多线程数据竞争（）</a:t>
            </a:r>
            <a:endParaRPr lang="en-US" altLang="zh-CN" sz="1600" b="1" dirty="0">
              <a:ea typeface="宋体" panose="02010600030101010101" pitchFamily="2" charset="-122"/>
            </a:endParaRPr>
          </a:p>
          <a:p>
            <a:pPr lvl="0"/>
            <a:endParaRPr lang="en-US" altLang="zh-CN" sz="1600" b="1" dirty="0">
              <a:ea typeface="宋体" panose="02010600030101010101" pitchFamily="2" charset="-122"/>
            </a:endParaRPr>
          </a:p>
          <a:p>
            <a:pPr lvl="0"/>
            <a:r>
              <a:rPr lang="zh-CN" altLang="en-US" sz="1600" b="1" dirty="0">
                <a:ea typeface="宋体" panose="02010600030101010101" pitchFamily="2" charset="-122"/>
              </a:rPr>
              <a:t>后面有关于语言和编译相互关系的讨论</a:t>
            </a:r>
            <a:endParaRPr lang="zh-CN" altLang="en-US" sz="1600" b="1"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2" name="Rectangle 2"/>
          <p:cNvSpPr>
            <a:spLocks noGrp="1" noRot="1" noChangeAspect="1" noTextEdit="1"/>
          </p:cNvSpPr>
          <p:nvPr>
            <p:ph type="sldImg"/>
          </p:nvPr>
        </p:nvSpPr>
        <p:spPr>
          <a:ln/>
        </p:spPr>
      </p:sp>
      <p:sp>
        <p:nvSpPr>
          <p:cNvPr id="15363" name="Rectangle 3"/>
          <p:cNvSpPr>
            <a:spLocks noGrp="1"/>
          </p:cNvSpPr>
          <p:nvPr>
            <p:ph type="body"/>
          </p:nvPr>
        </p:nvSpPr>
        <p:spPr>
          <a:ln/>
        </p:spPr>
        <p:txBody>
          <a:bodyPr wrap="square" lIns="91534" tIns="45768" rIns="91534" bIns="45768" anchor="t" anchorCtr="0"/>
          <a:p>
            <a:pPr lvl="0"/>
            <a:r>
              <a:rPr lang="zh-CN" altLang="en-US" b="1" dirty="0">
                <a:ea typeface="宋体" panose="02010600030101010101" pitchFamily="2" charset="-122"/>
              </a:rPr>
              <a:t>编译器的编写需要考虑使用到的程序设计语言、编译器接收的语言、目标机的体系结构、语言理论、算法、软件工程等多方面的问题</a:t>
            </a:r>
            <a:endParaRPr lang="en-US" altLang="zh-CN" b="1" dirty="0">
              <a:ea typeface="宋体" panose="02010600030101010101" pitchFamily="2" charset="-122"/>
            </a:endParaRPr>
          </a:p>
          <a:p>
            <a:pPr lvl="0"/>
            <a:endParaRPr lang="en-US" altLang="zh-CN" b="1" dirty="0">
              <a:ea typeface="宋体" panose="02010600030101010101" pitchFamily="2" charset="-122"/>
            </a:endParaRPr>
          </a:p>
          <a:p>
            <a:pPr lvl="0"/>
            <a:r>
              <a:rPr lang="zh-CN" altLang="en-US" b="1" dirty="0">
                <a:ea typeface="宋体" panose="02010600030101010101" pitchFamily="2" charset="-122"/>
              </a:rPr>
              <a:t>这几种典型形式的典型应用场景是什么？</a:t>
            </a:r>
            <a:endParaRPr lang="en-US" altLang="zh-CN" b="1" dirty="0">
              <a:ea typeface="宋体" panose="02010600030101010101" pitchFamily="2" charset="-122"/>
            </a:endParaRPr>
          </a:p>
          <a:p>
            <a:pPr lvl="0"/>
            <a:r>
              <a:rPr lang="en-US" altLang="zh-CN" b="1" dirty="0">
                <a:ea typeface="宋体" panose="02010600030101010101" pitchFamily="2" charset="-122"/>
              </a:rPr>
              <a:t>	</a:t>
            </a:r>
            <a:r>
              <a:rPr lang="zh-CN" altLang="en-US" b="1" dirty="0">
                <a:ea typeface="宋体" panose="02010600030101010101" pitchFamily="2" charset="-122"/>
              </a:rPr>
              <a:t>如翻译器：</a:t>
            </a:r>
            <a:r>
              <a:rPr lang="en-US" altLang="zh-CN" b="1" dirty="0">
                <a:ea typeface="宋体" panose="02010600030101010101" pitchFamily="2" charset="-122"/>
              </a:rPr>
              <a:t>Pascal</a:t>
            </a:r>
            <a:r>
              <a:rPr lang="zh-CN" altLang="en-US" b="1" dirty="0">
                <a:ea typeface="宋体" panose="02010600030101010101" pitchFamily="2" charset="-122"/>
              </a:rPr>
              <a:t>语言，其他的呢？</a:t>
            </a:r>
            <a:endParaRPr lang="en-US" altLang="zh-CN" b="1" dirty="0">
              <a:ea typeface="宋体" panose="02010600030101010101" pitchFamily="2" charset="-122"/>
            </a:endParaRPr>
          </a:p>
          <a:p>
            <a:pPr lvl="0"/>
            <a:r>
              <a:rPr lang="en-US" altLang="zh-CN" b="1" dirty="0">
                <a:ea typeface="宋体" panose="02010600030101010101" pitchFamily="2" charset="-122"/>
              </a:rPr>
              <a:t>	</a:t>
            </a:r>
            <a:r>
              <a:rPr lang="zh-CN" altLang="en-US" b="1" dirty="0">
                <a:ea typeface="宋体" panose="02010600030101010101" pitchFamily="2" charset="-122"/>
              </a:rPr>
              <a:t>解释器：早期的</a:t>
            </a:r>
            <a:r>
              <a:rPr lang="en-US" altLang="zh-CN" b="1" dirty="0">
                <a:ea typeface="宋体" panose="02010600030101010101" pitchFamily="2" charset="-122"/>
              </a:rPr>
              <a:t>Basic</a:t>
            </a:r>
            <a:r>
              <a:rPr lang="zh-CN" altLang="en-US" b="1" dirty="0">
                <a:ea typeface="宋体" panose="02010600030101010101" pitchFamily="2" charset="-122"/>
              </a:rPr>
              <a:t>，某些脚本语言</a:t>
            </a:r>
            <a:endParaRPr lang="en-US" altLang="zh-CN" b="1" dirty="0">
              <a:ea typeface="宋体" panose="02010600030101010101" pitchFamily="2" charset="-122"/>
            </a:endParaRPr>
          </a:p>
          <a:p>
            <a:pPr lvl="0"/>
            <a:r>
              <a:rPr lang="en-US" altLang="zh-CN" b="1" dirty="0">
                <a:ea typeface="宋体" panose="02010600030101010101" pitchFamily="2" charset="-122"/>
              </a:rPr>
              <a:t>	</a:t>
            </a:r>
            <a:r>
              <a:rPr lang="zh-CN" altLang="en-US" b="1" dirty="0">
                <a:ea typeface="宋体" panose="02010600030101010101" pitchFamily="2" charset="-122"/>
              </a:rPr>
              <a:t>现在的</a:t>
            </a:r>
            <a:r>
              <a:rPr lang="en-US" altLang="zh-CN" b="1" dirty="0">
                <a:ea typeface="宋体" panose="02010600030101010101" pitchFamily="2" charset="-122"/>
              </a:rPr>
              <a:t>Java</a:t>
            </a:r>
            <a:r>
              <a:rPr lang="zh-CN" altLang="en-US" b="1" dirty="0">
                <a:ea typeface="宋体" panose="02010600030101010101" pitchFamily="2" charset="-122"/>
              </a:rPr>
              <a:t>采用的是混合式编译，先翻译成字节码，再利用</a:t>
            </a:r>
            <a:r>
              <a:rPr lang="en-US" altLang="zh-CN" b="1" dirty="0">
                <a:ea typeface="宋体" panose="02010600030101010101" pitchFamily="2" charset="-122"/>
              </a:rPr>
              <a:t>JVM</a:t>
            </a:r>
            <a:r>
              <a:rPr lang="zh-CN" altLang="en-US" b="1" dirty="0">
                <a:ea typeface="宋体" panose="02010600030101010101" pitchFamily="2" charset="-122"/>
              </a:rPr>
              <a:t>解释执行，为了提高效率，引入了</a:t>
            </a:r>
            <a:r>
              <a:rPr lang="en-US" altLang="zh-CN" b="1" dirty="0">
                <a:ea typeface="宋体" panose="02010600030101010101" pitchFamily="2" charset="-122"/>
              </a:rPr>
              <a:t>JIT</a:t>
            </a:r>
            <a:endParaRPr lang="en-US" altLang="zh-CN" b="1" dirty="0">
              <a:ea typeface="宋体" panose="02010600030101010101" pitchFamily="2" charset="-122"/>
            </a:endParaRPr>
          </a:p>
          <a:p>
            <a:pPr lvl="0"/>
            <a:r>
              <a:rPr lang="en-US" altLang="zh-CN" b="1" dirty="0">
                <a:ea typeface="宋体" panose="02010600030101010101" pitchFamily="2" charset="-122"/>
              </a:rPr>
              <a:t>	C/C++</a:t>
            </a:r>
            <a:r>
              <a:rPr lang="zh-CN" altLang="en-US" b="1" dirty="0">
                <a:ea typeface="宋体" panose="02010600030101010101" pitchFamily="2" charset="-122"/>
              </a:rPr>
              <a:t>，</a:t>
            </a:r>
            <a:r>
              <a:rPr lang="en-US" altLang="zh-CN" b="1" dirty="0">
                <a:ea typeface="宋体" panose="02010600030101010101" pitchFamily="2" charset="-122"/>
              </a:rPr>
              <a:t>OpenMP</a:t>
            </a:r>
            <a:r>
              <a:rPr lang="zh-CN" altLang="en-US" b="1" dirty="0">
                <a:ea typeface="宋体" panose="02010600030101010101" pitchFamily="2" charset="-122"/>
              </a:rPr>
              <a:t>等的编译流程要更为复杂一些</a:t>
            </a:r>
            <a:endParaRPr lang="zh-CN" altLang="en-US" b="1"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0" name="Rectangle 2"/>
          <p:cNvSpPr>
            <a:spLocks noGrp="1" noRot="1" noChangeAspect="1" noTextEdit="1"/>
          </p:cNvSpPr>
          <p:nvPr>
            <p:ph type="sldImg"/>
          </p:nvPr>
        </p:nvSpPr>
        <p:spPr>
          <a:ln/>
        </p:spPr>
      </p:sp>
      <p:sp>
        <p:nvSpPr>
          <p:cNvPr id="1741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8" name="Rectangle 2"/>
          <p:cNvSpPr>
            <a:spLocks noGrp="1" noRot="1" noChangeAspect="1" noTextEdit="1"/>
          </p:cNvSpPr>
          <p:nvPr>
            <p:ph type="sldImg"/>
          </p:nvPr>
        </p:nvSpPr>
        <p:spPr>
          <a:ln/>
        </p:spPr>
      </p:sp>
      <p:sp>
        <p:nvSpPr>
          <p:cNvPr id="19459"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6" name="Rectangle 2"/>
          <p:cNvSpPr>
            <a:spLocks noGrp="1" noRot="1" noChangeAspect="1" noTextEdit="1"/>
          </p:cNvSpPr>
          <p:nvPr>
            <p:ph type="sldImg"/>
          </p:nvPr>
        </p:nvSpPr>
        <p:spPr>
          <a:ln/>
        </p:spPr>
      </p:sp>
      <p:sp>
        <p:nvSpPr>
          <p:cNvPr id="21507"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4" name="Rectangle 2"/>
          <p:cNvSpPr>
            <a:spLocks noGrp="1" noRot="1" noChangeAspect="1" noTextEdit="1"/>
          </p:cNvSpPr>
          <p:nvPr>
            <p:ph type="sldImg"/>
          </p:nvPr>
        </p:nvSpPr>
        <p:spPr>
          <a:ln/>
        </p:spPr>
      </p:sp>
      <p:sp>
        <p:nvSpPr>
          <p:cNvPr id="23555"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语法分析生成语法树，语义分析生成的语法树是已经经过修饰的语法树（对语法树进行修饰是语义分析的一个重要工作）</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一般，我们将语法树、带注释的语法树、中间代码、符号表等统称为中间表示（</a:t>
            </a:r>
            <a:r>
              <a:rPr lang="en-US" altLang="zh-CN" dirty="0">
                <a:ea typeface="宋体" panose="02010600030101010101" pitchFamily="2" charset="-122"/>
              </a:rPr>
              <a:t>IR</a:t>
            </a:r>
            <a:r>
              <a:rPr lang="zh-CN" altLang="en-US" dirty="0">
                <a:ea typeface="宋体" panose="02010600030101010101" pitchFamily="2" charset="-122"/>
              </a:rPr>
              <a:t>），中间代码可以是分层的，主要是为了适合编译的不同阶段的需要</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符号表贯穿编译的各个阶段，甚至在程序运行时都有作用</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错误处理也在编译的各个阶段都有所涉及，但是编译能够发现的错误大多是在编译器的前端阶段发现的</a:t>
            </a:r>
            <a:endParaRPr lang="en-US"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2" name="Rectangle 2"/>
          <p:cNvSpPr>
            <a:spLocks noGrp="1" noRot="1" noChangeAspect="1" noTextEdit="1"/>
          </p:cNvSpPr>
          <p:nvPr>
            <p:ph type="sldImg"/>
          </p:nvPr>
        </p:nvSpPr>
        <p:spPr>
          <a:ln/>
        </p:spPr>
      </p:sp>
      <p:sp>
        <p:nvSpPr>
          <p:cNvPr id="25603"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以赋值语句</a:t>
            </a:r>
            <a:r>
              <a:rPr lang="en-US" altLang="zh-CN" dirty="0">
                <a:ea typeface="宋体" panose="02010600030101010101" pitchFamily="2" charset="-122"/>
              </a:rPr>
              <a:t>position = initial + rate * 60</a:t>
            </a:r>
            <a:r>
              <a:rPr lang="zh-CN" altLang="en-US" dirty="0">
                <a:ea typeface="宋体" panose="02010600030101010101" pitchFamily="2" charset="-122"/>
              </a:rPr>
              <a:t>为例，说明各个阶段的工作和结果</a:t>
            </a:r>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0" name="Rectangle 2"/>
          <p:cNvSpPr>
            <a:spLocks noGrp="1" noRot="1" noChangeAspect="1" noTextEdit="1"/>
          </p:cNvSpPr>
          <p:nvPr>
            <p:ph type="sldImg"/>
          </p:nvPr>
        </p:nvSpPr>
        <p:spPr>
          <a:ln/>
        </p:spPr>
      </p:sp>
      <p:sp>
        <p:nvSpPr>
          <p:cNvPr id="27651"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下雨天留客，天留我不留</a:t>
            </a:r>
            <a:r>
              <a:rPr lang="en-US" altLang="zh-CN" dirty="0">
                <a:ea typeface="宋体" panose="02010600030101010101" pitchFamily="2" charset="-122"/>
              </a:rPr>
              <a:t>《==》</a:t>
            </a:r>
            <a:r>
              <a:rPr lang="zh-CN" altLang="en-US" dirty="0">
                <a:ea typeface="宋体" panose="02010600030101010101" pitchFamily="2" charset="-122"/>
              </a:rPr>
              <a:t>下雨天，留客天，留我不？留！</a:t>
            </a:r>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8" name="Rectangle 2"/>
          <p:cNvSpPr>
            <a:spLocks noGrp="1" noRot="1" noChangeAspect="1" noTextEdit="1"/>
          </p:cNvSpPr>
          <p:nvPr>
            <p:ph type="sldImg"/>
          </p:nvPr>
        </p:nvSpPr>
        <p:spPr>
          <a:ln/>
        </p:spPr>
      </p:sp>
      <p:sp>
        <p:nvSpPr>
          <p:cNvPr id="29699" name="Rectangle 3"/>
          <p:cNvSpPr>
            <a:spLocks noGrp="1"/>
          </p:cNvSpPr>
          <p:nvPr>
            <p:ph type="body"/>
          </p:nvPr>
        </p:nvSpPr>
        <p:spPr>
          <a:ln/>
        </p:spPr>
        <p:txBody>
          <a:bodyPr wrap="square" lIns="91534" tIns="45768" rIns="91534" bIns="45768" anchor="t" anchorCtr="0"/>
          <a:p>
            <a:pPr lvl="0"/>
            <a:endParaRPr lang="en-US" altLang="zh-CN"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6" name="Rectangle 2"/>
          <p:cNvSpPr>
            <a:spLocks noGrp="1" noRot="1" noChangeAspect="1" noTextEdit="1"/>
          </p:cNvSpPr>
          <p:nvPr>
            <p:ph type="sldImg"/>
          </p:nvPr>
        </p:nvSpPr>
        <p:spPr>
          <a:ln/>
        </p:spPr>
      </p:sp>
      <p:sp>
        <p:nvSpPr>
          <p:cNvPr id="31747"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一个语法分析没有出问题的程序是一个正确的程序吗？</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引申的问题：什么是一个正确的程序？正确的程序是一个好的程序吗？什么是一个好的程序？</a:t>
            </a:r>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4" name="Rectangle 2"/>
          <p:cNvSpPr>
            <a:spLocks noGrp="1" noRot="1" noChangeAspect="1" noTextEdit="1"/>
          </p:cNvSpPr>
          <p:nvPr>
            <p:ph type="sldImg"/>
          </p:nvPr>
        </p:nvSpPr>
        <p:spPr>
          <a:ln/>
        </p:spPr>
      </p:sp>
      <p:sp>
        <p:nvSpPr>
          <p:cNvPr id="33795"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2" name="Rectangle 2"/>
          <p:cNvSpPr>
            <a:spLocks noGrp="1" noRot="1" noChangeAspect="1" noTextEdit="1"/>
          </p:cNvSpPr>
          <p:nvPr>
            <p:ph type="sldImg"/>
          </p:nvPr>
        </p:nvSpPr>
        <p:spPr>
          <a:ln/>
        </p:spPr>
      </p:sp>
      <p:sp>
        <p:nvSpPr>
          <p:cNvPr id="35843"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0" name="Rectangle 2"/>
          <p:cNvSpPr>
            <a:spLocks noGrp="1" noRot="1" noChangeAspect="1" noTextEdit="1"/>
          </p:cNvSpPr>
          <p:nvPr>
            <p:ph type="sldImg"/>
          </p:nvPr>
        </p:nvSpPr>
        <p:spPr>
          <a:ln/>
        </p:spPr>
      </p:sp>
      <p:sp>
        <p:nvSpPr>
          <p:cNvPr id="3789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8" name="Rectangle 2"/>
          <p:cNvSpPr>
            <a:spLocks noGrp="1" noRot="1" noChangeAspect="1" noTextEdit="1"/>
          </p:cNvSpPr>
          <p:nvPr>
            <p:ph type="sldImg"/>
          </p:nvPr>
        </p:nvSpPr>
        <p:spPr>
          <a:ln/>
        </p:spPr>
      </p:sp>
      <p:sp>
        <p:nvSpPr>
          <p:cNvPr id="39939"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由于编译程序的计算机与目标程序运行的计算机可能是不一样的，在编译时刻完成某些工作，可能是有风险的，例如对于浮点计算，编译时刻模拟完成的操作的计算结果与在程序运行时刻完成的同样操作的计算结果可能是不一样的</a:t>
            </a:r>
            <a:endParaRPr lang="en-US" altLang="zh-CN" dirty="0">
              <a:ea typeface="宋体" panose="02010600030101010101" pitchFamily="2" charset="-122"/>
            </a:endParaRPr>
          </a:p>
          <a:p>
            <a:pPr lvl="0"/>
            <a:r>
              <a:rPr lang="zh-CN" altLang="en-US" dirty="0">
                <a:ea typeface="宋体" panose="02010600030101010101" pitchFamily="2" charset="-122"/>
              </a:rPr>
              <a:t>即便编译与运行是在同一台计算机上，上述问题也不是绝对可以避免的</a:t>
            </a:r>
            <a:endParaRPr lang="en-US" altLang="zh-CN" dirty="0">
              <a:ea typeface="宋体" panose="02010600030101010101" pitchFamily="2" charset="-122"/>
            </a:endParaRPr>
          </a:p>
          <a:p>
            <a:pPr lvl="0"/>
            <a:r>
              <a:rPr lang="zh-CN" altLang="en-US" dirty="0">
                <a:ea typeface="宋体" panose="02010600030101010101" pitchFamily="2" charset="-122"/>
              </a:rPr>
              <a:t>因此，一种可能的方式是把要在编译时刻完成的计算放在目标机上真是执行，把得到的计算结果用于编译器的优化和代码生成中</a:t>
            </a:r>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6" name="Rectangle 2"/>
          <p:cNvSpPr>
            <a:spLocks noGrp="1" noRot="1" noChangeAspect="1" noTextEdit="1"/>
          </p:cNvSpPr>
          <p:nvPr>
            <p:ph type="sldImg"/>
          </p:nvPr>
        </p:nvSpPr>
        <p:spPr>
          <a:ln/>
        </p:spPr>
      </p:sp>
      <p:sp>
        <p:nvSpPr>
          <p:cNvPr id="41987"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4" name="Rectangle 2"/>
          <p:cNvSpPr>
            <a:spLocks noGrp="1" noRot="1" noChangeAspect="1" noTextEdit="1"/>
          </p:cNvSpPr>
          <p:nvPr>
            <p:ph type="sldImg"/>
          </p:nvPr>
        </p:nvSpPr>
        <p:spPr>
          <a:ln/>
        </p:spPr>
      </p:sp>
      <p:sp>
        <p:nvSpPr>
          <p:cNvPr id="44035"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后面有关于优化的讨论</a:t>
            </a:r>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106" name="Rectangle 2"/>
          <p:cNvSpPr>
            <a:spLocks noGrp="1" noRot="1" noChangeAspect="1" noTextEdit="1"/>
          </p:cNvSpPr>
          <p:nvPr>
            <p:ph type="sldImg"/>
          </p:nvPr>
        </p:nvSpPr>
        <p:spPr>
          <a:ln/>
        </p:spPr>
      </p:sp>
      <p:sp>
        <p:nvSpPr>
          <p:cNvPr id="47107"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9154" name="Rectangle 2"/>
          <p:cNvSpPr>
            <a:spLocks noGrp="1" noRot="1" noChangeAspect="1" noTextEdit="1"/>
          </p:cNvSpPr>
          <p:nvPr>
            <p:ph type="sldImg"/>
          </p:nvPr>
        </p:nvSpPr>
        <p:spPr>
          <a:ln/>
        </p:spPr>
      </p:sp>
      <p:sp>
        <p:nvSpPr>
          <p:cNvPr id="49155" name="Rectangle 3"/>
          <p:cNvSpPr>
            <a:spLocks noGrp="1"/>
          </p:cNvSpPr>
          <p:nvPr>
            <p:ph type="body"/>
          </p:nvPr>
        </p:nvSpPr>
        <p:spPr>
          <a:ln/>
        </p:spPr>
        <p:txBody>
          <a:bodyPr wrap="square" lIns="91534" tIns="45768" rIns="91534" bIns="45768" anchor="t" anchorCtr="0"/>
          <a:p>
            <a:pPr lvl="0"/>
            <a:r>
              <a:rPr lang="zh-CN" altLang="en-US" dirty="0">
                <a:ea typeface="宋体" panose="02010600030101010101" pitchFamily="2" charset="-122"/>
              </a:rPr>
              <a:t>大致上，机器语言对应了课本上第一代语言，汇编语言对应了第二代语言，第三代语言在大型机时代出现，并一直有应用；而第四代语言是为特定应用设计的语言，大致上从上世纪</a:t>
            </a:r>
            <a:r>
              <a:rPr lang="en-US" altLang="zh-CN" dirty="0">
                <a:ea typeface="宋体" panose="02010600030101010101" pitchFamily="2" charset="-122"/>
              </a:rPr>
              <a:t>80</a:t>
            </a:r>
            <a:r>
              <a:rPr lang="zh-CN" altLang="en-US" dirty="0">
                <a:ea typeface="宋体" panose="02010600030101010101" pitchFamily="2" charset="-122"/>
              </a:rPr>
              <a:t>年代出现并推广开来，如</a:t>
            </a:r>
            <a:r>
              <a:rPr lang="en-US" altLang="zh-CN" dirty="0">
                <a:ea typeface="宋体" panose="02010600030101010101" pitchFamily="2" charset="-122"/>
              </a:rPr>
              <a:t>NOMAD</a:t>
            </a:r>
            <a:r>
              <a:rPr lang="zh-CN" altLang="en-US" dirty="0">
                <a:ea typeface="宋体" panose="02010600030101010101" pitchFamily="2" charset="-122"/>
              </a:rPr>
              <a:t>（用于生成报告），</a:t>
            </a:r>
            <a:r>
              <a:rPr lang="en-US" altLang="zh-CN" dirty="0">
                <a:ea typeface="宋体" panose="02010600030101010101" pitchFamily="2" charset="-122"/>
              </a:rPr>
              <a:t>SQL</a:t>
            </a:r>
            <a:r>
              <a:rPr lang="zh-CN" altLang="en-US" dirty="0">
                <a:ea typeface="宋体" panose="02010600030101010101" pitchFamily="2" charset="-122"/>
              </a:rPr>
              <a:t>和</a:t>
            </a:r>
            <a:r>
              <a:rPr lang="en-US" altLang="zh-CN" dirty="0">
                <a:ea typeface="宋体" panose="02010600030101010101" pitchFamily="2" charset="-122"/>
              </a:rPr>
              <a:t>Postscript</a:t>
            </a:r>
            <a:r>
              <a:rPr lang="zh-CN" altLang="en-US" dirty="0">
                <a:ea typeface="宋体" panose="02010600030101010101" pitchFamily="2" charset="-122"/>
              </a:rPr>
              <a:t>等；而第五代语言是基于逻辑和约束的语言，如</a:t>
            </a:r>
            <a:r>
              <a:rPr lang="en-US" altLang="zh-CN" dirty="0">
                <a:ea typeface="宋体" panose="02010600030101010101" pitchFamily="2" charset="-122"/>
              </a:rPr>
              <a:t>Prolog</a:t>
            </a:r>
            <a:r>
              <a:rPr lang="zh-CN" altLang="en-US" dirty="0">
                <a:ea typeface="宋体" panose="02010600030101010101" pitchFamily="2" charset="-122"/>
              </a:rPr>
              <a:t>和</a:t>
            </a:r>
            <a:r>
              <a:rPr lang="en-US" altLang="zh-CN" dirty="0">
                <a:ea typeface="宋体" panose="02010600030101010101" pitchFamily="2" charset="-122"/>
              </a:rPr>
              <a:t>OPS5</a:t>
            </a:r>
            <a:r>
              <a:rPr lang="zh-CN" altLang="en-US" dirty="0">
                <a:ea typeface="宋体" panose="02010600030101010101" pitchFamily="2" charset="-122"/>
              </a:rPr>
              <a:t>等，该类语言诞生较早（如</a:t>
            </a:r>
            <a:r>
              <a:rPr lang="en-US" altLang="zh-CN" dirty="0">
                <a:ea typeface="宋体" panose="02010600030101010101" pitchFamily="2" charset="-122"/>
              </a:rPr>
              <a:t>lisp</a:t>
            </a:r>
            <a:r>
              <a:rPr lang="zh-CN" altLang="en-US" dirty="0">
                <a:ea typeface="宋体" panose="02010600030101010101" pitchFamily="2" charset="-122"/>
              </a:rPr>
              <a:t>诞生于</a:t>
            </a:r>
            <a:r>
              <a:rPr lang="en-US" altLang="zh-CN" dirty="0">
                <a:ea typeface="宋体" panose="02010600030101010101" pitchFamily="2" charset="-122"/>
              </a:rPr>
              <a:t>50</a:t>
            </a:r>
            <a:r>
              <a:rPr lang="zh-CN" altLang="en-US" dirty="0">
                <a:ea typeface="宋体" panose="02010600030101010101" pitchFamily="2" charset="-122"/>
              </a:rPr>
              <a:t>年代末、</a:t>
            </a:r>
            <a:r>
              <a:rPr lang="en-US" altLang="zh-CN" dirty="0">
                <a:ea typeface="宋体" panose="02010600030101010101" pitchFamily="2" charset="-122"/>
              </a:rPr>
              <a:t>Prolog</a:t>
            </a:r>
            <a:r>
              <a:rPr lang="zh-CN" altLang="en-US" dirty="0">
                <a:ea typeface="宋体" panose="02010600030101010101" pitchFamily="2" charset="-122"/>
              </a:rPr>
              <a:t>诞生于</a:t>
            </a:r>
            <a:r>
              <a:rPr lang="en-US" altLang="zh-CN" dirty="0">
                <a:ea typeface="宋体" panose="02010600030101010101" pitchFamily="2" charset="-122"/>
              </a:rPr>
              <a:t>60</a:t>
            </a:r>
            <a:r>
              <a:rPr lang="zh-CN" altLang="en-US" dirty="0">
                <a:ea typeface="宋体" panose="02010600030101010101" pitchFamily="2" charset="-122"/>
              </a:rPr>
              <a:t>年代末</a:t>
            </a:r>
            <a:r>
              <a:rPr lang="en-US" altLang="zh-CN" dirty="0">
                <a:ea typeface="宋体" panose="02010600030101010101" pitchFamily="2" charset="-122"/>
              </a:rPr>
              <a:t>~70</a:t>
            </a:r>
            <a:r>
              <a:rPr lang="zh-CN" altLang="en-US" dirty="0">
                <a:ea typeface="宋体" panose="02010600030101010101" pitchFamily="2" charset="-122"/>
              </a:rPr>
              <a:t>年代初，但是作为一个语言类提出来，要晚于第四代语言</a:t>
            </a:r>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02" name="Rectangle 2"/>
          <p:cNvSpPr>
            <a:spLocks noGrp="1" noRot="1" noChangeAspect="1" noTextEdit="1"/>
          </p:cNvSpPr>
          <p:nvPr>
            <p:ph type="sldImg"/>
          </p:nvPr>
        </p:nvSpPr>
        <p:spPr>
          <a:ln/>
        </p:spPr>
      </p:sp>
      <p:sp>
        <p:nvSpPr>
          <p:cNvPr id="51203"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3250" name="Rectangle 2"/>
          <p:cNvSpPr>
            <a:spLocks noGrp="1" noRot="1" noChangeAspect="1" noTextEdit="1"/>
          </p:cNvSpPr>
          <p:nvPr>
            <p:ph type="sldImg"/>
          </p:nvPr>
        </p:nvSpPr>
        <p:spPr>
          <a:ln/>
        </p:spPr>
      </p:sp>
      <p:sp>
        <p:nvSpPr>
          <p:cNvPr id="5325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5298" name="Rectangle 2"/>
          <p:cNvSpPr>
            <a:spLocks noGrp="1" noRot="1" noChangeAspect="1" noTextEdit="1"/>
          </p:cNvSpPr>
          <p:nvPr>
            <p:ph type="sldImg"/>
          </p:nvPr>
        </p:nvSpPr>
        <p:spPr>
          <a:ln/>
        </p:spPr>
      </p:sp>
      <p:sp>
        <p:nvSpPr>
          <p:cNvPr id="55299"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7346" name="Rectangle 2"/>
          <p:cNvSpPr>
            <a:spLocks noGrp="1" noRot="1" noChangeAspect="1" noTextEdit="1"/>
          </p:cNvSpPr>
          <p:nvPr>
            <p:ph type="sldImg"/>
          </p:nvPr>
        </p:nvSpPr>
        <p:spPr>
          <a:ln/>
        </p:spPr>
      </p:sp>
      <p:sp>
        <p:nvSpPr>
          <p:cNvPr id="57347"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9394" name="Rectangle 2"/>
          <p:cNvSpPr>
            <a:spLocks noGrp="1" noRot="1" noChangeAspect="1" noTextEdit="1"/>
          </p:cNvSpPr>
          <p:nvPr>
            <p:ph type="sldImg"/>
          </p:nvPr>
        </p:nvSpPr>
        <p:spPr>
          <a:ln/>
        </p:spPr>
      </p:sp>
      <p:sp>
        <p:nvSpPr>
          <p:cNvPr id="59395"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1442" name="Rectangle 2"/>
          <p:cNvSpPr>
            <a:spLocks noGrp="1" noRot="1" noChangeAspect="1" noTextEdit="1"/>
          </p:cNvSpPr>
          <p:nvPr>
            <p:ph type="sldImg"/>
          </p:nvPr>
        </p:nvSpPr>
        <p:spPr>
          <a:ln/>
        </p:spPr>
      </p:sp>
      <p:sp>
        <p:nvSpPr>
          <p:cNvPr id="61443"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3490" name="Rectangle 2"/>
          <p:cNvSpPr>
            <a:spLocks noGrp="1" noRot="1" noChangeAspect="1" noTextEdit="1"/>
          </p:cNvSpPr>
          <p:nvPr>
            <p:ph type="sldImg"/>
          </p:nvPr>
        </p:nvSpPr>
        <p:spPr>
          <a:ln/>
        </p:spPr>
      </p:sp>
      <p:sp>
        <p:nvSpPr>
          <p:cNvPr id="6349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5538" name="Rectangle 1026"/>
          <p:cNvSpPr>
            <a:spLocks noGrp="1" noRot="1" noChangeAspect="1" noTextEdit="1"/>
          </p:cNvSpPr>
          <p:nvPr>
            <p:ph type="sldImg"/>
          </p:nvPr>
        </p:nvSpPr>
        <p:spPr>
          <a:ln/>
        </p:spPr>
      </p:sp>
      <p:sp>
        <p:nvSpPr>
          <p:cNvPr id="65539" name="Rectangle 1027"/>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7586" name="Rectangle 2"/>
          <p:cNvSpPr>
            <a:spLocks noGrp="1" noRot="1" noChangeAspect="1" noTextEdit="1"/>
          </p:cNvSpPr>
          <p:nvPr>
            <p:ph type="sldImg"/>
          </p:nvPr>
        </p:nvSpPr>
        <p:spPr>
          <a:ln/>
        </p:spPr>
      </p:sp>
      <p:sp>
        <p:nvSpPr>
          <p:cNvPr id="67587"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9634" name="Rectangle 2"/>
          <p:cNvSpPr>
            <a:spLocks noGrp="1" noRot="1" noChangeAspect="1" noTextEdit="1"/>
          </p:cNvSpPr>
          <p:nvPr>
            <p:ph type="sldImg"/>
          </p:nvPr>
        </p:nvSpPr>
        <p:spPr>
          <a:ln/>
        </p:spPr>
      </p:sp>
      <p:sp>
        <p:nvSpPr>
          <p:cNvPr id="69635"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682" name="Rectangle 2"/>
          <p:cNvSpPr>
            <a:spLocks noGrp="1" noRot="1" noChangeAspect="1" noTextEdit="1"/>
          </p:cNvSpPr>
          <p:nvPr>
            <p:ph type="sldImg"/>
          </p:nvPr>
        </p:nvSpPr>
        <p:spPr>
          <a:ln/>
        </p:spPr>
      </p:sp>
      <p:sp>
        <p:nvSpPr>
          <p:cNvPr id="71683"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数学上等价变换，在计算机的计算实现未必保证等价，如精度、数值的溢出等</a:t>
            </a:r>
            <a:endParaRPr lang="en-US" altLang="zh-CN" sz="2800" b="1" dirty="0">
              <a:ea typeface="宋体" panose="02010600030101010101" pitchFamily="2" charset="-122"/>
            </a:endParaRPr>
          </a:p>
          <a:p>
            <a:pPr lvl="0"/>
            <a:endParaRPr lang="en-US" altLang="zh-CN" sz="2800" b="1" dirty="0">
              <a:ea typeface="宋体" panose="02010600030101010101" pitchFamily="2" charset="-122"/>
            </a:endParaRPr>
          </a:p>
          <a:p>
            <a:pPr lvl="0"/>
            <a:r>
              <a:rPr lang="zh-CN" altLang="en-US" sz="2800" b="1" dirty="0">
                <a:ea typeface="宋体" panose="02010600030101010101" pitchFamily="2" charset="-122"/>
              </a:rPr>
              <a:t>针对程序的某个特定输入集实施的优化，在其他的数据集上不能保证正确性，这种优化是不应采用的</a:t>
            </a:r>
            <a:endParaRPr lang="zh-CN" altLang="en-US" sz="2800" b="1"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3730" name="Rectangle 2"/>
          <p:cNvSpPr>
            <a:spLocks noGrp="1" noRot="1" noChangeAspect="1" noTextEdit="1"/>
          </p:cNvSpPr>
          <p:nvPr>
            <p:ph type="sldImg"/>
          </p:nvPr>
        </p:nvSpPr>
        <p:spPr>
          <a:ln/>
        </p:spPr>
      </p:sp>
      <p:sp>
        <p:nvSpPr>
          <p:cNvPr id="73731"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5778" name="Rectangle 2"/>
          <p:cNvSpPr>
            <a:spLocks noGrp="1" noRot="1" noChangeAspect="1" noTextEdit="1"/>
          </p:cNvSpPr>
          <p:nvPr>
            <p:ph type="sldImg"/>
          </p:nvPr>
        </p:nvSpPr>
        <p:spPr>
          <a:ln/>
        </p:spPr>
      </p:sp>
      <p:sp>
        <p:nvSpPr>
          <p:cNvPr id="75779"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7826" name="Rectangle 2"/>
          <p:cNvSpPr>
            <a:spLocks noGrp="1" noRot="1" noChangeAspect="1" noTextEdit="1"/>
          </p:cNvSpPr>
          <p:nvPr>
            <p:ph type="sldImg"/>
          </p:nvPr>
        </p:nvSpPr>
        <p:spPr>
          <a:ln/>
        </p:spPr>
      </p:sp>
      <p:sp>
        <p:nvSpPr>
          <p:cNvPr id="77827"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9874" name="Rectangle 2"/>
          <p:cNvSpPr>
            <a:spLocks noGrp="1" noRot="1" noChangeAspect="1" noTextEdit="1"/>
          </p:cNvSpPr>
          <p:nvPr>
            <p:ph type="sldImg"/>
          </p:nvPr>
        </p:nvSpPr>
        <p:spPr>
          <a:ln/>
        </p:spPr>
      </p:sp>
      <p:sp>
        <p:nvSpPr>
          <p:cNvPr id="79875"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1922" name="Rectangle 2"/>
          <p:cNvSpPr>
            <a:spLocks noGrp="1" noRot="1" noChangeAspect="1" noTextEdit="1"/>
          </p:cNvSpPr>
          <p:nvPr>
            <p:ph type="sldImg"/>
          </p:nvPr>
        </p:nvSpPr>
        <p:spPr>
          <a:ln/>
        </p:spPr>
      </p:sp>
      <p:sp>
        <p:nvSpPr>
          <p:cNvPr id="81923"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平时写程序就可以利用编译器来发现一些语义错误，如将</a:t>
            </a:r>
            <a:endParaRPr lang="en-US" altLang="zh-CN" sz="2800" b="1" dirty="0">
              <a:ea typeface="宋体" panose="02010600030101010101" pitchFamily="2" charset="-122"/>
            </a:endParaRPr>
          </a:p>
          <a:p>
            <a:pPr lvl="0"/>
            <a:r>
              <a:rPr lang="en-US" altLang="zh-CN" sz="2800" b="1" dirty="0">
                <a:ea typeface="宋体" panose="02010600030101010101" pitchFamily="2" charset="-122"/>
              </a:rPr>
              <a:t>If</a:t>
            </a:r>
            <a:r>
              <a:rPr lang="zh-CN" altLang="en-US" sz="2800" b="1" dirty="0">
                <a:ea typeface="宋体" panose="02010600030101010101" pitchFamily="2" charset="-122"/>
              </a:rPr>
              <a:t> （ </a:t>
            </a:r>
            <a:r>
              <a:rPr lang="en-US" altLang="zh-CN" sz="2800" b="1" dirty="0">
                <a:ea typeface="宋体" panose="02010600030101010101" pitchFamily="2" charset="-122"/>
              </a:rPr>
              <a:t>a</a:t>
            </a:r>
            <a:r>
              <a:rPr lang="zh-CN" altLang="en-US" sz="2800" b="1" dirty="0">
                <a:ea typeface="宋体" panose="02010600030101010101" pitchFamily="2" charset="-122"/>
              </a:rPr>
              <a:t> </a:t>
            </a:r>
            <a:r>
              <a:rPr lang="en-US" altLang="zh-CN" sz="2800" b="1" dirty="0">
                <a:ea typeface="宋体" panose="02010600030101010101" pitchFamily="2" charset="-122"/>
              </a:rPr>
              <a:t>==</a:t>
            </a:r>
            <a:r>
              <a:rPr lang="zh-CN" altLang="en-US" sz="2800" b="1" dirty="0">
                <a:ea typeface="宋体" panose="02010600030101010101" pitchFamily="2" charset="-122"/>
              </a:rPr>
              <a:t> </a:t>
            </a:r>
            <a:r>
              <a:rPr lang="en-US" altLang="zh-CN" sz="2800" b="1" dirty="0">
                <a:ea typeface="宋体" panose="02010600030101010101" pitchFamily="2" charset="-122"/>
              </a:rPr>
              <a:t>6</a:t>
            </a:r>
            <a:r>
              <a:rPr lang="zh-CN" altLang="en-US" sz="2800" b="1" dirty="0">
                <a:ea typeface="宋体" panose="02010600030101010101" pitchFamily="2" charset="-122"/>
              </a:rPr>
              <a:t> </a:t>
            </a:r>
            <a:r>
              <a:rPr lang="en-US" altLang="zh-CN" sz="2800" b="1" dirty="0">
                <a:ea typeface="宋体" panose="02010600030101010101" pitchFamily="2" charset="-122"/>
              </a:rPr>
              <a:t>)</a:t>
            </a:r>
            <a:r>
              <a:rPr lang="zh-CN" altLang="en-US" sz="2800" b="1" dirty="0">
                <a:ea typeface="宋体" panose="02010600030101010101" pitchFamily="2" charset="-122"/>
              </a:rPr>
              <a:t> </a:t>
            </a:r>
            <a:r>
              <a:rPr lang="en-US" altLang="zh-CN" sz="2800" b="1" dirty="0">
                <a:ea typeface="宋体" panose="02010600030101010101" pitchFamily="2" charset="-122"/>
              </a:rPr>
              <a:t>…</a:t>
            </a:r>
            <a:endParaRPr lang="en-US" altLang="zh-CN" sz="2800" b="1" dirty="0">
              <a:ea typeface="宋体" panose="02010600030101010101" pitchFamily="2" charset="-122"/>
            </a:endParaRPr>
          </a:p>
          <a:p>
            <a:pPr lvl="0"/>
            <a:r>
              <a:rPr lang="zh-CN" altLang="en-US" sz="2800" b="1" dirty="0">
                <a:ea typeface="宋体" panose="02010600030101010101" pitchFamily="2" charset="-122"/>
              </a:rPr>
              <a:t>改为</a:t>
            </a:r>
            <a:endParaRPr lang="en-US" altLang="zh-CN" sz="2800" b="1" dirty="0">
              <a:ea typeface="宋体" panose="02010600030101010101" pitchFamily="2" charset="-122"/>
            </a:endParaRPr>
          </a:p>
          <a:p>
            <a:pPr lvl="0"/>
            <a:r>
              <a:rPr lang="en-US" altLang="zh-CN" sz="2800" b="1" dirty="0">
                <a:ea typeface="宋体" panose="02010600030101010101" pitchFamily="2" charset="-122"/>
              </a:rPr>
              <a:t>If</a:t>
            </a:r>
            <a:r>
              <a:rPr lang="zh-CN" altLang="en-US" sz="2800" b="1" dirty="0">
                <a:ea typeface="宋体" panose="02010600030101010101" pitchFamily="2" charset="-122"/>
              </a:rPr>
              <a:t> （ </a:t>
            </a:r>
            <a:r>
              <a:rPr lang="en-US" altLang="zh-CN" sz="2800" b="1" dirty="0">
                <a:ea typeface="宋体" panose="02010600030101010101" pitchFamily="2" charset="-122"/>
              </a:rPr>
              <a:t>6</a:t>
            </a:r>
            <a:r>
              <a:rPr lang="zh-CN" altLang="en-US" sz="2800" b="1" dirty="0">
                <a:ea typeface="宋体" panose="02010600030101010101" pitchFamily="2" charset="-122"/>
              </a:rPr>
              <a:t> </a:t>
            </a:r>
            <a:r>
              <a:rPr lang="en-US" altLang="zh-CN" sz="2800" b="1" dirty="0">
                <a:ea typeface="宋体" panose="02010600030101010101" pitchFamily="2" charset="-122"/>
              </a:rPr>
              <a:t>==</a:t>
            </a:r>
            <a:r>
              <a:rPr lang="zh-CN" altLang="en-US" sz="2800" b="1" dirty="0">
                <a:ea typeface="宋体" panose="02010600030101010101" pitchFamily="2" charset="-122"/>
              </a:rPr>
              <a:t> </a:t>
            </a:r>
            <a:r>
              <a:rPr lang="en-US" altLang="zh-CN" sz="2800" b="1" dirty="0">
                <a:ea typeface="宋体" panose="02010600030101010101" pitchFamily="2" charset="-122"/>
              </a:rPr>
              <a:t>a</a:t>
            </a:r>
            <a:r>
              <a:rPr lang="zh-CN" altLang="en-US" sz="2800" b="1" dirty="0">
                <a:ea typeface="宋体" panose="02010600030101010101" pitchFamily="2" charset="-122"/>
              </a:rPr>
              <a:t> </a:t>
            </a:r>
            <a:r>
              <a:rPr lang="en-US" altLang="zh-CN" sz="2800" b="1" dirty="0">
                <a:ea typeface="宋体" panose="02010600030101010101" pitchFamily="2" charset="-122"/>
              </a:rPr>
              <a:t>) …</a:t>
            </a:r>
            <a:endParaRPr lang="en-US" altLang="zh-CN" sz="2800" b="1" dirty="0">
              <a:ea typeface="宋体" panose="02010600030101010101" pitchFamily="2" charset="-122"/>
            </a:endParaRPr>
          </a:p>
          <a:p>
            <a:pPr lvl="0"/>
            <a:r>
              <a:rPr lang="zh-CN" altLang="en-US" sz="2800" b="1" dirty="0">
                <a:ea typeface="宋体" panose="02010600030101010101" pitchFamily="2" charset="-122"/>
              </a:rPr>
              <a:t>如此，在把比较符号“</a:t>
            </a:r>
            <a:r>
              <a:rPr lang="en-US" altLang="zh-CN" sz="2800" b="1" dirty="0">
                <a:ea typeface="宋体" panose="02010600030101010101" pitchFamily="2" charset="-122"/>
              </a:rPr>
              <a:t>==</a:t>
            </a:r>
            <a:r>
              <a:rPr lang="zh-CN" altLang="en-US" sz="2800" b="1" dirty="0">
                <a:ea typeface="宋体" panose="02010600030101010101" pitchFamily="2" charset="-122"/>
              </a:rPr>
              <a:t>”错写成赋值号“</a:t>
            </a:r>
            <a:r>
              <a:rPr lang="en-US" altLang="zh-CN" sz="2800" b="1" dirty="0">
                <a:ea typeface="宋体" panose="02010600030101010101" pitchFamily="2" charset="-122"/>
              </a:rPr>
              <a:t>=</a:t>
            </a:r>
            <a:r>
              <a:rPr lang="zh-CN" altLang="en-US" sz="2800" b="1" dirty="0">
                <a:ea typeface="宋体" panose="02010600030101010101" pitchFamily="2" charset="-122"/>
              </a:rPr>
              <a:t>”时，利用编译器的能力，在编译时刻发现错误</a:t>
            </a:r>
            <a:endParaRPr lang="zh-CN" altLang="en-US" sz="2800" b="1"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3970" name="Rectangle 2"/>
          <p:cNvSpPr>
            <a:spLocks noGrp="1" noRot="1" noChangeAspect="1" noTextEdit="1"/>
          </p:cNvSpPr>
          <p:nvPr>
            <p:ph type="sldImg"/>
          </p:nvPr>
        </p:nvSpPr>
        <p:spPr>
          <a:ln/>
        </p:spPr>
      </p:sp>
      <p:sp>
        <p:nvSpPr>
          <p:cNvPr id="83971"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6018" name="Rectangle 2"/>
          <p:cNvSpPr>
            <a:spLocks noGrp="1" noRot="1" noChangeAspect="1" noTextEdit="1"/>
          </p:cNvSpPr>
          <p:nvPr>
            <p:ph type="sldImg"/>
          </p:nvPr>
        </p:nvSpPr>
        <p:spPr>
          <a:ln/>
        </p:spPr>
      </p:sp>
      <p:sp>
        <p:nvSpPr>
          <p:cNvPr id="86019"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8066" name="Rectangle 2"/>
          <p:cNvSpPr>
            <a:spLocks noGrp="1" noRot="1" noChangeAspect="1" noTextEdit="1"/>
          </p:cNvSpPr>
          <p:nvPr>
            <p:ph type="sldImg"/>
          </p:nvPr>
        </p:nvSpPr>
        <p:spPr>
          <a:ln/>
        </p:spPr>
      </p:sp>
      <p:sp>
        <p:nvSpPr>
          <p:cNvPr id="88067"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0114" name="Rectangle 2"/>
          <p:cNvSpPr>
            <a:spLocks noGrp="1" noRot="1" noChangeAspect="1" noTextEdit="1"/>
          </p:cNvSpPr>
          <p:nvPr>
            <p:ph type="sldImg"/>
          </p:nvPr>
        </p:nvSpPr>
        <p:spPr>
          <a:ln/>
        </p:spPr>
      </p:sp>
      <p:sp>
        <p:nvSpPr>
          <p:cNvPr id="90115"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62" name="Rectangle 2"/>
          <p:cNvSpPr>
            <a:spLocks noGrp="1" noRot="1" noChangeAspect="1" noTextEdit="1"/>
          </p:cNvSpPr>
          <p:nvPr>
            <p:ph type="sldImg"/>
          </p:nvPr>
        </p:nvSpPr>
        <p:spPr>
          <a:ln/>
        </p:spPr>
      </p:sp>
      <p:sp>
        <p:nvSpPr>
          <p:cNvPr id="92163"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4210" name="Rectangle 2"/>
          <p:cNvSpPr>
            <a:spLocks noGrp="1" noRot="1" noChangeAspect="1" noTextEdit="1"/>
          </p:cNvSpPr>
          <p:nvPr>
            <p:ph type="sldImg"/>
          </p:nvPr>
        </p:nvSpPr>
        <p:spPr>
          <a:ln/>
        </p:spPr>
      </p:sp>
      <p:sp>
        <p:nvSpPr>
          <p:cNvPr id="94211"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6258" name="Rectangle 2"/>
          <p:cNvSpPr>
            <a:spLocks noGrp="1" noRot="1" noChangeAspect="1" noTextEdit="1"/>
          </p:cNvSpPr>
          <p:nvPr>
            <p:ph type="sldImg"/>
          </p:nvPr>
        </p:nvSpPr>
        <p:spPr>
          <a:ln/>
        </p:spPr>
      </p:sp>
      <p:sp>
        <p:nvSpPr>
          <p:cNvPr id="96259"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8306" name="Rectangle 2"/>
          <p:cNvSpPr>
            <a:spLocks noGrp="1" noRot="1" noChangeAspect="1" noTextEdit="1"/>
          </p:cNvSpPr>
          <p:nvPr>
            <p:ph type="sldImg"/>
          </p:nvPr>
        </p:nvSpPr>
        <p:spPr>
          <a:ln/>
        </p:spPr>
      </p:sp>
      <p:sp>
        <p:nvSpPr>
          <p:cNvPr id="98307"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该例子中，</a:t>
            </a:r>
            <a:r>
              <a:rPr lang="en-US" altLang="zh-CN" sz="2800" b="1" dirty="0">
                <a:ea typeface="宋体" panose="02010600030101010101" pitchFamily="2" charset="-122"/>
              </a:rPr>
              <a:t>a</a:t>
            </a:r>
            <a:r>
              <a:rPr lang="zh-CN" altLang="en-US" sz="2800" b="1" dirty="0">
                <a:ea typeface="宋体" panose="02010600030101010101" pitchFamily="2" charset="-122"/>
              </a:rPr>
              <a:t>的每次出现用</a:t>
            </a:r>
            <a:r>
              <a:rPr lang="en-US" altLang="zh-CN" sz="2800" b="1" dirty="0">
                <a:ea typeface="宋体" panose="02010600030101010101" pitchFamily="2" charset="-122"/>
              </a:rPr>
              <a:t>x+1</a:t>
            </a:r>
            <a:r>
              <a:rPr lang="zh-CN" altLang="en-US" sz="2800" b="1" dirty="0">
                <a:ea typeface="宋体" panose="02010600030101010101" pitchFamily="2" charset="-122"/>
              </a:rPr>
              <a:t>替换，但是如果把</a:t>
            </a:r>
            <a:r>
              <a:rPr lang="en-US" altLang="zh-CN" sz="2800" b="1" dirty="0">
                <a:ea typeface="宋体" panose="02010600030101010101" pitchFamily="2" charset="-122"/>
              </a:rPr>
              <a:t>b</a:t>
            </a:r>
            <a:r>
              <a:rPr lang="zh-CN" altLang="en-US" sz="2800" b="1" dirty="0">
                <a:ea typeface="宋体" panose="02010600030101010101" pitchFamily="2" charset="-122"/>
              </a:rPr>
              <a:t>的定义改掉，可以看出宏定义对变量结合的声明的解释规则在本质上和动态作用域是有差异的，原例中，</a:t>
            </a:r>
            <a:r>
              <a:rPr lang="en-US" altLang="zh-CN" sz="2800" b="1" dirty="0">
                <a:ea typeface="宋体" panose="02010600030101010101" pitchFamily="2" charset="-122"/>
              </a:rPr>
              <a:t>b</a:t>
            </a:r>
            <a:r>
              <a:rPr lang="zh-CN" altLang="en-US" sz="2800" b="1" dirty="0">
                <a:ea typeface="宋体" panose="02010600030101010101" pitchFamily="2" charset="-122"/>
              </a:rPr>
              <a:t>打印了</a:t>
            </a:r>
            <a:r>
              <a:rPr lang="en-US" altLang="zh-CN" sz="2800" b="1" dirty="0">
                <a:ea typeface="宋体" panose="02010600030101010101" pitchFamily="2" charset="-122"/>
              </a:rPr>
              <a:t>2</a:t>
            </a:r>
            <a:r>
              <a:rPr lang="zh-CN" altLang="en-US" sz="2800" b="1" dirty="0">
                <a:ea typeface="宋体" panose="02010600030101010101" pitchFamily="2" charset="-122"/>
              </a:rPr>
              <a:t>，</a:t>
            </a:r>
            <a:r>
              <a:rPr lang="en-US" altLang="zh-CN" sz="2800" b="1" dirty="0">
                <a:ea typeface="宋体" panose="02010600030101010101" pitchFamily="2" charset="-122"/>
              </a:rPr>
              <a:t>c</a:t>
            </a:r>
            <a:r>
              <a:rPr lang="zh-CN" altLang="en-US" sz="2800" b="1" dirty="0">
                <a:ea typeface="宋体" panose="02010600030101010101" pitchFamily="2" charset="-122"/>
              </a:rPr>
              <a:t>打印了</a:t>
            </a:r>
            <a:r>
              <a:rPr lang="en-US" altLang="zh-CN" sz="2800" b="1" dirty="0">
                <a:ea typeface="宋体" panose="02010600030101010101" pitchFamily="2" charset="-122"/>
              </a:rPr>
              <a:t>3</a:t>
            </a:r>
            <a:r>
              <a:rPr lang="zh-CN" altLang="en-US" sz="2800" b="1" dirty="0">
                <a:ea typeface="宋体" panose="02010600030101010101" pitchFamily="2" charset="-122"/>
              </a:rPr>
              <a:t>，而修改后，对</a:t>
            </a:r>
            <a:r>
              <a:rPr lang="en-US" altLang="zh-CN" sz="2800" b="1" dirty="0">
                <a:ea typeface="宋体" panose="02010600030101010101" pitchFamily="2" charset="-122"/>
              </a:rPr>
              <a:t>b</a:t>
            </a:r>
            <a:r>
              <a:rPr lang="zh-CN" altLang="en-US" sz="2800" b="1" dirty="0">
                <a:ea typeface="宋体" panose="02010600030101010101" pitchFamily="2" charset="-122"/>
              </a:rPr>
              <a:t>的调用打印了</a:t>
            </a:r>
            <a:r>
              <a:rPr lang="en-US" altLang="zh-CN" sz="2800" b="1" dirty="0">
                <a:ea typeface="宋体" panose="02010600030101010101" pitchFamily="2" charset="-122"/>
              </a:rPr>
              <a:t>2</a:t>
            </a:r>
            <a:r>
              <a:rPr lang="zh-CN" altLang="en-US" sz="2800" b="1" dirty="0">
                <a:ea typeface="宋体" panose="02010600030101010101" pitchFamily="2" charset="-122"/>
              </a:rPr>
              <a:t>，</a:t>
            </a:r>
            <a:r>
              <a:rPr lang="en-US" altLang="zh-CN" sz="2800" b="1" dirty="0">
                <a:ea typeface="宋体" panose="02010600030101010101" pitchFamily="2" charset="-122"/>
              </a:rPr>
              <a:t>b</a:t>
            </a:r>
            <a:r>
              <a:rPr lang="zh-CN" altLang="en-US" sz="2800" b="1" dirty="0">
                <a:ea typeface="宋体" panose="02010600030101010101" pitchFamily="2" charset="-122"/>
              </a:rPr>
              <a:t>中调用了</a:t>
            </a:r>
            <a:r>
              <a:rPr lang="en-US" altLang="zh-CN" sz="2800" b="1" dirty="0">
                <a:ea typeface="宋体" panose="02010600030101010101" pitchFamily="2" charset="-122"/>
              </a:rPr>
              <a:t>c</a:t>
            </a:r>
            <a:r>
              <a:rPr lang="zh-CN" altLang="en-US" sz="2800" b="1" dirty="0">
                <a:ea typeface="宋体" panose="02010600030101010101" pitchFamily="2" charset="-122"/>
              </a:rPr>
              <a:t>，打印的还是</a:t>
            </a:r>
            <a:r>
              <a:rPr lang="en-US" altLang="zh-CN" sz="2800" b="1" dirty="0">
                <a:ea typeface="宋体" panose="02010600030101010101" pitchFamily="2" charset="-122"/>
              </a:rPr>
              <a:t>3</a:t>
            </a:r>
            <a:r>
              <a:rPr lang="zh-CN" altLang="en-US" sz="2800" b="1" dirty="0">
                <a:ea typeface="宋体" panose="02010600030101010101" pitchFamily="2" charset="-122"/>
              </a:rPr>
              <a:t>，而按照动态作用于规则，这个调用中打印的应该是</a:t>
            </a:r>
            <a:r>
              <a:rPr lang="en-US" altLang="zh-CN" sz="2800" b="1" dirty="0">
                <a:ea typeface="宋体" panose="02010600030101010101" pitchFamily="2" charset="-122"/>
              </a:rPr>
              <a:t>2</a:t>
            </a:r>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0354" name="Rectangle 2"/>
          <p:cNvSpPr>
            <a:spLocks noGrp="1" noRot="1" noChangeAspect="1" noTextEdit="1"/>
          </p:cNvSpPr>
          <p:nvPr>
            <p:ph type="sldImg"/>
          </p:nvPr>
        </p:nvSpPr>
        <p:spPr>
          <a:ln/>
        </p:spPr>
      </p:sp>
      <p:sp>
        <p:nvSpPr>
          <p:cNvPr id="100355" name="Rectangle 3"/>
          <p:cNvSpPr>
            <a:spLocks noGrp="1"/>
          </p:cNvSpPr>
          <p:nvPr>
            <p:ph type="body"/>
          </p:nvPr>
        </p:nvSpPr>
        <p:spPr>
          <a:ln/>
        </p:spPr>
        <p:txBody>
          <a:bodyPr wrap="square" lIns="91534" tIns="45768" rIns="91534" bIns="45768" anchor="t" anchorCtr="0"/>
          <a:p>
            <a:pPr lvl="0"/>
            <a:r>
              <a:rPr lang="zh-CN" altLang="en-US" sz="2800" b="1" dirty="0">
                <a:ea typeface="宋体" panose="02010600030101010101" pitchFamily="2" charset="-122"/>
              </a:rPr>
              <a:t>	</a:t>
            </a:r>
            <a:endParaRPr lang="zh-CN" altLang="en-US" sz="2800" b="1"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2402" name="Rectangle 2"/>
          <p:cNvSpPr>
            <a:spLocks noGrp="1" noRot="1" noTextEdit="1"/>
          </p:cNvSpPr>
          <p:nvPr>
            <p:ph type="sldImg"/>
          </p:nvPr>
        </p:nvSpPr>
        <p:spPr>
          <a:solidFill>
            <a:srgbClr val="FFFFFF"/>
          </a:solidFill>
          <a:ln/>
        </p:spPr>
      </p:sp>
      <p:sp>
        <p:nvSpPr>
          <p:cNvPr id="102403" name="Rectangle 3"/>
          <p:cNvSpPr/>
          <p:nvPr>
            <p:ph type="body"/>
          </p:nvPr>
        </p:nvSpPr>
        <p:spPr>
          <a:solidFill>
            <a:srgbClr val="FFFFFF"/>
          </a:solidFill>
          <a:ln w="22225">
            <a:solidFill>
              <a:srgbClr val="000000"/>
            </a:solidFill>
            <a:miter/>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4450" name="Rectangle 2"/>
          <p:cNvSpPr>
            <a:spLocks noGrp="1" noRot="1" noTextEdit="1"/>
          </p:cNvSpPr>
          <p:nvPr>
            <p:ph type="sldImg"/>
          </p:nvPr>
        </p:nvSpPr>
        <p:spPr>
          <a:solidFill>
            <a:srgbClr val="FFFFFF"/>
          </a:solidFill>
          <a:ln/>
        </p:spPr>
      </p:sp>
      <p:sp>
        <p:nvSpPr>
          <p:cNvPr id="104451" name="Rectangle 3"/>
          <p:cNvSpPr/>
          <p:nvPr>
            <p:ph type="body"/>
          </p:nvPr>
        </p:nvSpPr>
        <p:spPr>
          <a:solidFill>
            <a:srgbClr val="FFFFFF"/>
          </a:solidFill>
          <a:ln w="22225">
            <a:solidFill>
              <a:srgbClr val="000000"/>
            </a:solidFill>
            <a:miter/>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6498" name="Rectangle 2"/>
          <p:cNvSpPr>
            <a:spLocks noGrp="1" noRot="1" noTextEdit="1"/>
          </p:cNvSpPr>
          <p:nvPr>
            <p:ph type="sldImg"/>
          </p:nvPr>
        </p:nvSpPr>
        <p:spPr>
          <a:solidFill>
            <a:srgbClr val="FFFFFF"/>
          </a:solidFill>
          <a:ln/>
        </p:spPr>
      </p:sp>
      <p:sp>
        <p:nvSpPr>
          <p:cNvPr id="106499" name="Rectangle 3"/>
          <p:cNvSpPr/>
          <p:nvPr>
            <p:ph type="body"/>
          </p:nvPr>
        </p:nvSpPr>
        <p:spPr>
          <a:solidFill>
            <a:srgbClr val="FFFFFF"/>
          </a:solidFill>
          <a:ln w="22225">
            <a:solidFill>
              <a:srgbClr val="000000"/>
            </a:solidFill>
            <a:miter/>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8546" name="Rectangle 2"/>
          <p:cNvSpPr>
            <a:spLocks noGrp="1" noRot="1" noTextEdit="1"/>
          </p:cNvSpPr>
          <p:nvPr>
            <p:ph type="sldImg"/>
          </p:nvPr>
        </p:nvSpPr>
        <p:spPr>
          <a:solidFill>
            <a:srgbClr val="FFFFFF"/>
          </a:solidFill>
          <a:ln/>
        </p:spPr>
      </p:sp>
      <p:sp>
        <p:nvSpPr>
          <p:cNvPr id="108547" name="Rectangle 3"/>
          <p:cNvSpPr/>
          <p:nvPr>
            <p:ph type="body"/>
          </p:nvPr>
        </p:nvSpPr>
        <p:spPr>
          <a:solidFill>
            <a:srgbClr val="FFFFFF"/>
          </a:solidFill>
          <a:ln w="22225">
            <a:solidFill>
              <a:srgbClr val="000000"/>
            </a:solidFill>
            <a:miter/>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7"/>
          <p:cNvSpPr txBox="1">
            <a:spLocks noGrp="1"/>
          </p:cNvSpPr>
          <p:nvPr>
            <p:ph type="sldNum" sz="quarter"/>
          </p:nvPr>
        </p:nvSpPr>
        <p:spPr>
          <a:xfrm>
            <a:off x="3802063" y="9285288"/>
            <a:ext cx="2906712" cy="488950"/>
          </a:xfrm>
          <a:prstGeom prst="rect">
            <a:avLst/>
          </a:prstGeom>
          <a:noFill/>
          <a:ln w="95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0594" name="Rectangle 2"/>
          <p:cNvSpPr>
            <a:spLocks noGrp="1" noRot="1" noTextEdit="1"/>
          </p:cNvSpPr>
          <p:nvPr>
            <p:ph type="sldImg"/>
          </p:nvPr>
        </p:nvSpPr>
        <p:spPr>
          <a:solidFill>
            <a:srgbClr val="FFFFFF"/>
          </a:solidFill>
          <a:ln/>
        </p:spPr>
      </p:sp>
      <p:sp>
        <p:nvSpPr>
          <p:cNvPr id="110595" name="Rectangle 3"/>
          <p:cNvSpPr/>
          <p:nvPr>
            <p:ph type="body"/>
          </p:nvPr>
        </p:nvSpPr>
        <p:spPr>
          <a:solidFill>
            <a:srgbClr val="FFFFFF"/>
          </a:solidFill>
          <a:ln w="22225">
            <a:solidFill>
              <a:srgbClr val="000000"/>
            </a:solidFill>
            <a:miter/>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42" name="Rectangle 2"/>
          <p:cNvSpPr>
            <a:spLocks noGrp="1" noRot="1" noChangeAspect="1" noTextEdit="1"/>
          </p:cNvSpPr>
          <p:nvPr>
            <p:ph type="sldImg"/>
          </p:nvPr>
        </p:nvSpPr>
        <p:spPr>
          <a:ln/>
        </p:spPr>
      </p:sp>
      <p:sp>
        <p:nvSpPr>
          <p:cNvPr id="112643"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7"/>
          <p:cNvSpPr txBox="1">
            <a:spLocks noGrp="1"/>
          </p:cNvSpPr>
          <p:nvPr>
            <p:ph type="sldNum" sz="quarter"/>
          </p:nvPr>
        </p:nvSpPr>
        <p:spPr>
          <a:xfrm>
            <a:off x="3802063" y="9285288"/>
            <a:ext cx="2906712" cy="488950"/>
          </a:xfrm>
          <a:prstGeom prst="rect">
            <a:avLst/>
          </a:prstGeom>
          <a:noFill/>
          <a:ln w="22225">
            <a:noFill/>
          </a:ln>
        </p:spPr>
        <p:txBody>
          <a:bodyPr vert="horz" wrap="square"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4690" name="Rectangle 2"/>
          <p:cNvSpPr>
            <a:spLocks noGrp="1" noRot="1" noChangeAspect="1" noTextEdit="1"/>
          </p:cNvSpPr>
          <p:nvPr>
            <p:ph type="sldImg"/>
          </p:nvPr>
        </p:nvSpPr>
        <p:spPr>
          <a:ln/>
        </p:spPr>
      </p:sp>
      <p:sp>
        <p:nvSpPr>
          <p:cNvPr id="114691" name="Rectangle 3"/>
          <p:cNvSpPr>
            <a:spLocks noGrp="1"/>
          </p:cNvSpPr>
          <p:nvPr>
            <p:ph type="body"/>
          </p:nvPr>
        </p:nvSpPr>
        <p:spPr>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676400"/>
            <a:ext cx="7543800" cy="4495800"/>
          </a:xfrm>
        </p:spPr>
        <p:txBody>
          <a:bodyPr/>
          <a:lstStyle/>
          <a:p>
            <a:pPr lvl="0" fontAlgn="base"/>
            <a:r>
              <a:rPr lang="zh-CN" altLang="en-US" strike="noStrike" noProof="1" dirty="0"/>
              <a:t>单击此处编辑母版文本样式</a:t>
            </a:r>
            <a:endParaRPr lang="zh-CN" altLang="en-US" strike="noStrike" noProof="1" dirty="0"/>
          </a:p>
          <a:p>
            <a:pPr lvl="1" fontAlgn="base"/>
            <a:r>
              <a:rPr lang="zh-CN" altLang="en-US" strike="noStrike" noProof="1" dirty="0"/>
              <a:t>第二级</a:t>
            </a:r>
            <a:endParaRPr lang="zh-CN" altLang="en-US" strike="noStrike" noProof="1" dirty="0"/>
          </a:p>
          <a:p>
            <a:pPr lvl="2" fontAlgn="base"/>
            <a:r>
              <a:rPr lang="zh-CN" altLang="en-US" strike="noStrike" noProof="1" dirty="0"/>
              <a:t>第三级</a:t>
            </a:r>
            <a:endParaRPr lang="zh-CN" altLang="en-US" strike="noStrike" noProof="1" dirty="0"/>
          </a:p>
          <a:p>
            <a:pPr lvl="3" fontAlgn="base"/>
            <a:r>
              <a:rPr lang="zh-CN" altLang="en-US" strike="noStrike" noProof="1" dirty="0"/>
              <a:t>第四级</a:t>
            </a:r>
            <a:endParaRPr lang="zh-CN" altLang="en-US" strike="noStrike" noProof="1" dirty="0"/>
          </a:p>
          <a:p>
            <a:pPr lvl="4" fontAlgn="base"/>
            <a:r>
              <a:rPr lang="zh-CN" altLang="en-US" strike="noStrike" noProof="1" dirty="0"/>
              <a:t>第五级</a:t>
            </a:r>
            <a:endParaRPr lang="zh-CN" altLang="en-US" strike="noStrike" noProof="1" dirty="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914400" y="457200"/>
            <a:ext cx="550545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latin typeface="Times New Roman" panose="02020603050405020304" pitchFamily="18" charset="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p:nvPr>
        </p:nvSpPr>
        <p:spPr>
          <a:xfrm>
            <a:off x="914400" y="1676400"/>
            <a:ext cx="7543800" cy="4495800"/>
          </a:xfrm>
          <a:prstGeom prst="rect">
            <a:avLst/>
          </a:prstGeom>
          <a:noFill/>
          <a:ln w="9525">
            <a:noFill/>
          </a:ln>
        </p:spPr>
        <p:txBody>
          <a:bodyPr lIns="92075" tIns="46038" rIns="92075" bIns="46038" anchor="t" anchorCtr="0"/>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p:nvPr/>
        </p:nvSpPr>
        <p:spPr>
          <a:xfrm>
            <a:off x="4191000" y="6477000"/>
            <a:ext cx="390525" cy="304800"/>
          </a:xfrm>
          <a:prstGeom prst="rect">
            <a:avLst/>
          </a:prstGeom>
          <a:noFill/>
          <a:ln w="9525">
            <a:noFill/>
          </a:ln>
        </p:spPr>
        <p:txBody>
          <a:bodyPr wrap="none" lIns="92075" tIns="46038" rIns="92075" bIns="46038" anchor="t" anchorCtr="0">
            <a:spAutoFit/>
          </a:bodyPr>
          <a:p>
            <a:pPr lvl="0" eaLnBrk="0" hangingPunct="0"/>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ctrTitle"/>
          </p:nvPr>
        </p:nvSpPr>
        <p:spPr>
          <a:xfrm>
            <a:off x="838200" y="1066800"/>
            <a:ext cx="7620000" cy="1600200"/>
          </a:xfrm>
          <a:ln/>
        </p:spPr>
        <p:txBody>
          <a:bodyPr vert="horz" wrap="square" lIns="92075" tIns="46038" rIns="92075" bIns="46038" anchor="ctr" anchorCtr="0"/>
          <a:p>
            <a:pPr fontAlgn="ctr">
              <a:buClrTx/>
              <a:buSzTx/>
              <a:buFontTx/>
            </a:pPr>
            <a:r>
              <a:rPr lang="zh-CN" altLang="en-US" sz="3600" dirty="0">
                <a:ea typeface="幼圆" panose="02010509060101010101" pitchFamily="49" charset="-122"/>
              </a:rPr>
              <a:t>编译原理</a:t>
            </a:r>
            <a:br>
              <a:rPr lang="zh-CN" altLang="en-US" sz="3600" dirty="0">
                <a:ea typeface="幼圆" panose="02010509060101010101" pitchFamily="49" charset="-122"/>
              </a:rPr>
            </a:br>
            <a:r>
              <a:rPr lang="en-US" altLang="zh-CN" sz="2600" dirty="0">
                <a:ea typeface="宋体" panose="02010600030101010101" pitchFamily="2" charset="-122"/>
              </a:rPr>
              <a:t>Compilers: Principles,</a:t>
            </a:r>
            <a:r>
              <a:rPr lang="zh-CN" altLang="en-US" sz="2600" dirty="0">
                <a:ea typeface="宋体" panose="02010600030101010101" pitchFamily="2" charset="-122"/>
              </a:rPr>
              <a:t> </a:t>
            </a:r>
            <a:r>
              <a:rPr lang="en-US" altLang="zh-CN" sz="2600" dirty="0">
                <a:ea typeface="宋体" panose="02010600030101010101" pitchFamily="2" charset="-122"/>
              </a:rPr>
              <a:t>Techniques</a:t>
            </a:r>
            <a:r>
              <a:rPr lang="zh-CN" altLang="en-US" sz="2600" dirty="0">
                <a:ea typeface="宋体" panose="02010600030101010101" pitchFamily="2" charset="-122"/>
              </a:rPr>
              <a:t> </a:t>
            </a:r>
            <a:r>
              <a:rPr lang="en-US" altLang="zh-CN" sz="2600" dirty="0">
                <a:ea typeface="宋体" panose="02010600030101010101" pitchFamily="2" charset="-122"/>
              </a:rPr>
              <a:t>&amp;</a:t>
            </a:r>
            <a:r>
              <a:rPr lang="zh-CN" altLang="en-US" sz="2600" dirty="0">
                <a:ea typeface="宋体" panose="02010600030101010101" pitchFamily="2" charset="-122"/>
              </a:rPr>
              <a:t> </a:t>
            </a:r>
            <a:r>
              <a:rPr lang="en-US" altLang="zh-CN" sz="2600" dirty="0">
                <a:ea typeface="宋体" panose="02010600030101010101" pitchFamily="2" charset="-122"/>
              </a:rPr>
              <a:t>Tools</a:t>
            </a:r>
            <a:endParaRPr lang="zh-CN" altLang="en-US" sz="2600" dirty="0">
              <a:ea typeface="宋体" panose="02010600030101010101" pitchFamily="2" charset="-122"/>
            </a:endParaRPr>
          </a:p>
        </p:txBody>
      </p:sp>
      <p:sp>
        <p:nvSpPr>
          <p:cNvPr id="4098" name="Rectangle 3"/>
          <p:cNvSpPr>
            <a:spLocks noGrp="1"/>
          </p:cNvSpPr>
          <p:nvPr>
            <p:ph type="subTitle" idx="1"/>
          </p:nvPr>
        </p:nvSpPr>
        <p:spPr>
          <a:xfrm>
            <a:off x="1447800" y="3500438"/>
            <a:ext cx="6400800" cy="2138362"/>
          </a:xfrm>
          <a:ln/>
        </p:spPr>
        <p:txBody>
          <a:bodyPr vert="horz" wrap="square" lIns="92075" tIns="46038" rIns="92075" bIns="46038" anchor="t" anchorCtr="0"/>
          <a:p>
            <a:pPr>
              <a:buClr>
                <a:srgbClr val="063DE8"/>
              </a:buClr>
              <a:buSzPct val="125000"/>
              <a:buFontTx/>
            </a:pPr>
            <a:r>
              <a:rPr lang="zh-CN" altLang="en-US" sz="2400" b="1" dirty="0">
                <a:latin typeface="+mn-lt"/>
                <a:ea typeface="幼圆" panose="02010509060101010101" pitchFamily="49" charset="-122"/>
                <a:cs typeface="+mn-cs"/>
              </a:rPr>
              <a:t>冯晓兵</a:t>
            </a:r>
            <a:endParaRPr lang="zh-CN" altLang="en-US" sz="2400" b="1" dirty="0">
              <a:latin typeface="+mn-lt"/>
              <a:ea typeface="幼圆" panose="02010509060101010101" pitchFamily="49" charset="-122"/>
              <a:cs typeface="+mn-cs"/>
            </a:endParaRPr>
          </a:p>
          <a:p>
            <a:pPr>
              <a:buClr>
                <a:srgbClr val="063DE8"/>
              </a:buClr>
              <a:buSzPct val="125000"/>
              <a:buFontTx/>
            </a:pPr>
            <a:r>
              <a:rPr lang="en-US" altLang="zh-CN" sz="2400" b="1" dirty="0">
                <a:latin typeface="+mn-lt"/>
                <a:ea typeface="幼圆" panose="02010509060101010101" pitchFamily="49" charset="-122"/>
                <a:cs typeface="+mn-cs"/>
              </a:rPr>
              <a:t>E-mail: fxb@ict.ac.cn</a:t>
            </a:r>
            <a:endParaRPr lang="en-US" altLang="zh-CN" sz="2400" b="1" dirty="0">
              <a:latin typeface="+mn-lt"/>
              <a:ea typeface="幼圆" panose="02010509060101010101" pitchFamily="49" charset="-122"/>
              <a:cs typeface="+mn-cs"/>
            </a:endParaRPr>
          </a:p>
          <a:p>
            <a:pPr>
              <a:buClr>
                <a:srgbClr val="063DE8"/>
              </a:buClr>
              <a:buSzPct val="125000"/>
              <a:buFontTx/>
            </a:pPr>
            <a:r>
              <a:rPr lang="zh-CN" altLang="en-US" sz="2400" b="1" dirty="0">
                <a:latin typeface="+mn-lt"/>
                <a:ea typeface="幼圆" panose="02010509060101010101" pitchFamily="49" charset="-122"/>
                <a:cs typeface="+mn-cs"/>
              </a:rPr>
              <a:t>中国科学院计算技术研究所</a:t>
            </a:r>
            <a:endParaRPr lang="en-US" altLang="zh-CN" sz="2400" b="1" dirty="0">
              <a:latin typeface="+mn-lt"/>
              <a:ea typeface="幼圆" panose="02010509060101010101" pitchFamily="49" charset="-122"/>
              <a:cs typeface="+mn-cs"/>
            </a:endParaRPr>
          </a:p>
          <a:p>
            <a:pPr>
              <a:buClr>
                <a:srgbClr val="063DE8"/>
              </a:buClr>
              <a:buSzPct val="125000"/>
              <a:buFontTx/>
            </a:pPr>
            <a:r>
              <a:rPr lang="zh-CN" altLang="en-US" sz="2400" b="1" dirty="0">
                <a:latin typeface="+mn-lt"/>
                <a:ea typeface="幼圆" panose="02010509060101010101" pitchFamily="49" charset="-122"/>
                <a:cs typeface="+mn-cs"/>
              </a:rPr>
              <a:t>处理器芯片全国重点实验室</a:t>
            </a:r>
            <a:endParaRPr lang="en-US" altLang="zh-CN" sz="2400" b="1" dirty="0">
              <a:latin typeface="+mn-lt"/>
              <a:ea typeface="幼圆" panose="02010509060101010101" pitchFamily="49" charset="-122"/>
              <a:cs typeface="+mn-cs"/>
            </a:endParaRPr>
          </a:p>
          <a:p>
            <a:pPr>
              <a:buClr>
                <a:srgbClr val="063DE8"/>
              </a:buClr>
              <a:buSzPct val="125000"/>
              <a:buFontTx/>
            </a:pPr>
            <a:r>
              <a:rPr lang="zh-CN" altLang="en-US" sz="2400" b="1" dirty="0">
                <a:latin typeface="+mn-lt"/>
                <a:ea typeface="幼圆" panose="02010509060101010101" pitchFamily="49" charset="-122"/>
                <a:cs typeface="+mn-cs"/>
              </a:rPr>
              <a:t>编译与编程实验室</a:t>
            </a:r>
            <a:endParaRPr lang="zh-CN" altLang="en-US" sz="2400" b="1" dirty="0">
              <a:latin typeface="+mn-lt"/>
              <a:ea typeface="幼圆" panose="02010509060101010101"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3"/>
          <p:cNvSpPr>
            <a:spLocks noGrp="1"/>
          </p:cNvSpPr>
          <p:nvPr>
            <p:ph idx="1"/>
          </p:nvPr>
        </p:nvSpPr>
        <p:spPr>
          <a:xfrm>
            <a:off x="914400" y="685800"/>
            <a:ext cx="7696200" cy="5486400"/>
          </a:xfrm>
          <a:ln/>
        </p:spPr>
        <p:txBody>
          <a:bodyPr vert="horz" wrap="square" lIns="92075" tIns="46038" rIns="92075" bIns="46038" anchor="t" anchorCtr="0"/>
          <a:p>
            <a:pPr marL="495300" indent="-495300">
              <a:lnSpc>
                <a:spcPct val="90000"/>
              </a:lnSpc>
              <a:buNone/>
            </a:pPr>
            <a:r>
              <a:rPr lang="zh-CN" altLang="en-US" sz="2400" dirty="0">
                <a:solidFill>
                  <a:srgbClr val="063DE8"/>
                </a:solidFill>
                <a:ea typeface="宋体" panose="02010600030101010101" pitchFamily="2" charset="-122"/>
              </a:rPr>
              <a:t>参考书：</a:t>
            </a:r>
            <a:endParaRPr lang="zh-CN" altLang="en-US" sz="2400" dirty="0">
              <a:solidFill>
                <a:srgbClr val="063DE8"/>
              </a:solidFill>
              <a:ea typeface="宋体" panose="02010600030101010101" pitchFamily="2" charset="-122"/>
            </a:endParaRPr>
          </a:p>
          <a:p>
            <a:pPr marL="495300" indent="-495300">
              <a:lnSpc>
                <a:spcPct val="90000"/>
              </a:lnSpc>
              <a:buNone/>
            </a:pPr>
            <a:endParaRPr lang="zh-CN" altLang="en-US" sz="2400" dirty="0">
              <a:ea typeface="宋体" panose="02010600030101010101" pitchFamily="2" charset="-122"/>
            </a:endParaRPr>
          </a:p>
          <a:p>
            <a:pPr marL="495300" indent="-495300">
              <a:lnSpc>
                <a:spcPct val="90000"/>
              </a:lnSpc>
              <a:buClr>
                <a:schemeClr val="tx1"/>
              </a:buClr>
              <a:buAutoNum type="arabicPeriod"/>
            </a:pPr>
            <a:r>
              <a:rPr lang="zh-CN" altLang="en-US" sz="2400" dirty="0">
                <a:ea typeface="宋体" panose="02010600030101010101" pitchFamily="2" charset="-122"/>
              </a:rPr>
              <a:t>参考书： </a:t>
            </a:r>
            <a:r>
              <a:rPr lang="en-US" altLang="zh-CN" sz="2400" dirty="0">
                <a:ea typeface="宋体" panose="02010600030101010101" pitchFamily="2" charset="-122"/>
              </a:rPr>
              <a:t>Alfred V. Aho, MonicaS.</a:t>
            </a:r>
            <a:r>
              <a:rPr lang="zh-CN" altLang="en-US" sz="2400" dirty="0">
                <a:ea typeface="宋体" panose="02010600030101010101" pitchFamily="2" charset="-122"/>
              </a:rPr>
              <a:t> </a:t>
            </a:r>
            <a:r>
              <a:rPr lang="en-US" altLang="zh-CN" sz="2400" dirty="0">
                <a:ea typeface="宋体" panose="02010600030101010101" pitchFamily="2" charset="-122"/>
              </a:rPr>
              <a:t>Lam,</a:t>
            </a:r>
            <a:r>
              <a:rPr lang="zh-CN" altLang="en-US" sz="2400" dirty="0">
                <a:ea typeface="宋体" panose="02010600030101010101" pitchFamily="2" charset="-122"/>
              </a:rPr>
              <a:t> </a:t>
            </a:r>
            <a:r>
              <a:rPr lang="en-US" altLang="zh-CN" sz="2400" dirty="0">
                <a:ea typeface="宋体" panose="02010600030101010101" pitchFamily="2" charset="-122"/>
              </a:rPr>
              <a:t>Ravi Sethi, Jeffery D. Ullman, Compilers Principles, Techniques and Tools, Second</a:t>
            </a:r>
            <a:r>
              <a:rPr lang="zh-CN" altLang="en-US" sz="2400" dirty="0">
                <a:ea typeface="宋体" panose="02010600030101010101" pitchFamily="2" charset="-122"/>
              </a:rPr>
              <a:t> </a:t>
            </a:r>
            <a:r>
              <a:rPr lang="en-US" altLang="zh-CN" sz="2400" dirty="0">
                <a:ea typeface="宋体" panose="02010600030101010101" pitchFamily="2" charset="-122"/>
              </a:rPr>
              <a:t>Edition,</a:t>
            </a:r>
            <a:r>
              <a:rPr lang="zh-CN" altLang="en-US" sz="2400" dirty="0">
                <a:ea typeface="宋体" panose="02010600030101010101" pitchFamily="2" charset="-122"/>
              </a:rPr>
              <a:t> </a:t>
            </a:r>
            <a:r>
              <a:rPr lang="en-US" altLang="zh-CN" sz="2400" dirty="0">
                <a:ea typeface="宋体" panose="02010600030101010101" pitchFamily="2" charset="-122"/>
              </a:rPr>
              <a:t>Addison-Wesley, 2007</a:t>
            </a:r>
            <a:endParaRPr lang="en-US" altLang="zh-CN" sz="2400" dirty="0">
              <a:ea typeface="宋体" panose="02010600030101010101" pitchFamily="2" charset="-122"/>
            </a:endParaRPr>
          </a:p>
          <a:p>
            <a:pPr marL="495300" indent="-495300">
              <a:lnSpc>
                <a:spcPct val="90000"/>
              </a:lnSpc>
              <a:buClr>
                <a:schemeClr val="tx1"/>
              </a:buClr>
              <a:buAutoNum type="arabicPeriod"/>
            </a:pPr>
            <a:r>
              <a:rPr lang="zh-CN" altLang="en-US" sz="2400" dirty="0">
                <a:ea typeface="宋体" panose="02010600030101010101" pitchFamily="2" charset="-122"/>
              </a:rPr>
              <a:t>中译本：编译原理（第</a:t>
            </a:r>
            <a:r>
              <a:rPr lang="en-US" altLang="zh-CN" sz="2400" dirty="0">
                <a:ea typeface="宋体" panose="02010600030101010101" pitchFamily="2" charset="-122"/>
              </a:rPr>
              <a:t>2</a:t>
            </a:r>
            <a:r>
              <a:rPr lang="zh-CN" altLang="en-US" sz="2400" dirty="0">
                <a:ea typeface="宋体" panose="02010600030101010101" pitchFamily="2" charset="-122"/>
              </a:rPr>
              <a:t>版），赵建华、郑滔、戴新宇译，机械工业出版社，</a:t>
            </a:r>
            <a:r>
              <a:rPr lang="en-US" altLang="zh-CN" sz="2400" dirty="0">
                <a:ea typeface="宋体" panose="02010600030101010101" pitchFamily="2" charset="-122"/>
              </a:rPr>
              <a:t>2009</a:t>
            </a:r>
            <a:r>
              <a:rPr lang="zh-CN" altLang="en-US" sz="2400" dirty="0">
                <a:ea typeface="宋体" panose="02010600030101010101" pitchFamily="2" charset="-122"/>
              </a:rPr>
              <a:t>（</a:t>
            </a:r>
            <a:r>
              <a:rPr lang="en-US" altLang="zh-CN" sz="2400" dirty="0">
                <a:ea typeface="宋体" panose="02010600030101010101" pitchFamily="2" charset="-122"/>
              </a:rPr>
              <a:t>2015</a:t>
            </a:r>
            <a:r>
              <a:rPr lang="zh-CN" altLang="en-US" sz="2400" dirty="0">
                <a:ea typeface="宋体" panose="02010600030101010101" pitchFamily="2" charset="-122"/>
              </a:rPr>
              <a:t>年第二次印刷）</a:t>
            </a:r>
            <a:endParaRPr lang="zh-CN" altLang="en-US" sz="2400" dirty="0">
              <a:ea typeface="宋体" panose="02010600030101010101" pitchFamily="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a:spLocks noGrp="1" noChangeArrowheads="1"/>
          </p:cNvSpPr>
          <p:nvPr>
            <p:ph idx="1"/>
          </p:nvPr>
        </p:nvSpPr>
        <p:spPr>
          <a:xfrm>
            <a:off x="914400" y="685800"/>
            <a:ext cx="7696200" cy="5486400"/>
          </a:xfrm>
        </p:spPr>
        <p:txBody>
          <a:bodyPr vert="horz" wrap="square" lIns="92075" tIns="46038" rIns="92075" bIns="46038" numCol="1" anchor="t" anchorCtr="0" compatLnSpc="1"/>
          <a:lstStyle/>
          <a:p>
            <a:pPr marL="495300" marR="0" lvl="0" indent="-495300" algn="ctr" defTabSz="914400" rtl="0" eaLnBrk="0" fontAlgn="base" latinLnBrk="0" hangingPunct="0">
              <a:lnSpc>
                <a:spcPct val="90000"/>
              </a:lnSpc>
              <a:spcBef>
                <a:spcPct val="20000"/>
              </a:spcBef>
              <a:spcAft>
                <a:spcPct val="0"/>
              </a:spcAft>
              <a:buClr>
                <a:srgbClr val="063DE8"/>
              </a:buClr>
              <a:buSzPct val="125000"/>
              <a:buFontTx/>
              <a:buNone/>
              <a:defRPr/>
            </a:pPr>
            <a:r>
              <a:rPr kumimoji="0" lang="zh-CN" altLang="en-US" sz="4400" b="0" i="0" u="none" strike="noStrike" kern="0" cap="none" spc="0" normalizeH="0" baseline="0" noProof="0" dirty="0">
                <a:ln>
                  <a:noFill/>
                </a:ln>
                <a:solidFill>
                  <a:srgbClr val="063DE8"/>
                </a:solidFill>
                <a:effectLst/>
                <a:uLnTx/>
                <a:uFillTx/>
                <a:latin typeface="+mn-lt"/>
                <a:ea typeface="宋体" panose="02010600030101010101" pitchFamily="2" charset="-122"/>
                <a:cs typeface="+mn-cs"/>
              </a:rPr>
              <a:t>考核方式</a:t>
            </a:r>
            <a:endParaRPr kumimoji="0" lang="en-US" altLang="zh-CN" sz="4400" b="0" i="0" u="none" strike="noStrike" kern="0" cap="none" spc="0" normalizeH="0" baseline="0" noProof="0" dirty="0">
              <a:ln>
                <a:noFill/>
              </a:ln>
              <a:solidFill>
                <a:srgbClr val="063DE8"/>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90000"/>
              </a:lnSpc>
              <a:spcBef>
                <a:spcPct val="20000"/>
              </a:spcBef>
              <a:spcAft>
                <a:spcPct val="0"/>
              </a:spcAft>
              <a:buClr>
                <a:srgbClr val="063DE8"/>
              </a:buClr>
              <a:buSzPct val="125000"/>
              <a:buFontTx/>
              <a:buNone/>
              <a:defRPr/>
            </a:pP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90000"/>
              </a:lnSpc>
              <a:spcBef>
                <a:spcPct val="20000"/>
              </a:spcBef>
              <a:spcAft>
                <a:spcPct val="0"/>
              </a:spcAft>
              <a:buClr>
                <a:schemeClr val="tx1"/>
              </a:buClr>
              <a:buSzPct val="125000"/>
              <a:buFontTx/>
              <a:buAutoNum type="arabicPeriod"/>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平时成绩</a:t>
            </a:r>
            <a:r>
              <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70%</a:t>
            </a: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514350" algn="l" defTabSz="914400" rtl="0" eaLnBrk="0" fontAlgn="base" latinLnBrk="0" hangingPunct="0">
              <a:lnSpc>
                <a:spcPct val="90000"/>
              </a:lnSpc>
              <a:spcBef>
                <a:spcPct val="20000"/>
              </a:spcBef>
              <a:spcAft>
                <a:spcPct val="0"/>
              </a:spcAft>
              <a:buClr>
                <a:schemeClr val="tx1"/>
              </a:buClr>
              <a:buSzPct val="70000"/>
              <a:buFont typeface="+mj-ea"/>
              <a:buAutoNum type="circleNumDbPlain"/>
              <a:defRPr/>
            </a:pPr>
            <a:r>
              <a:rPr kumimoji="0" lang="zh-CN" altLang="en-US"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rPr>
              <a:t>作业和考勤</a:t>
            </a:r>
            <a:r>
              <a:rPr kumimoji="0" lang="en-US" altLang="zh-CN"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rPr>
              <a:t>40%</a:t>
            </a:r>
            <a:endParaRPr kumimoji="0" lang="en-US" altLang="zh-CN"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895350" marR="0" lvl="1" indent="-495300" algn="l" defTabSz="914400" rtl="0" eaLnBrk="0" fontAlgn="base" latinLnBrk="0" hangingPunct="0">
              <a:lnSpc>
                <a:spcPct val="90000"/>
              </a:lnSpc>
              <a:spcBef>
                <a:spcPct val="20000"/>
              </a:spcBef>
              <a:spcAft>
                <a:spcPct val="0"/>
              </a:spcAft>
              <a:buClr>
                <a:schemeClr val="tx1"/>
              </a:buClr>
              <a:buSzPct val="70000"/>
              <a:buFontTx/>
              <a:buAutoNum type="circleNumDbPlain"/>
              <a:defRPr/>
            </a:pPr>
            <a:r>
              <a:rPr kumimoji="0" lang="zh-CN" altLang="en-US"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rPr>
              <a:t>两次小测验</a:t>
            </a:r>
            <a:r>
              <a:rPr kumimoji="0" lang="en-US" altLang="zh-CN"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rPr>
              <a:t>30%</a:t>
            </a:r>
            <a:endParaRPr kumimoji="0" lang="en-US" altLang="zh-CN" sz="3000"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495300" marR="0" lvl="0" indent="-495300" algn="l" defTabSz="914400" rtl="0" eaLnBrk="0" fontAlgn="base" latinLnBrk="0" hangingPunct="0">
              <a:lnSpc>
                <a:spcPct val="90000"/>
              </a:lnSpc>
              <a:spcBef>
                <a:spcPct val="20000"/>
              </a:spcBef>
              <a:spcAft>
                <a:spcPct val="0"/>
              </a:spcAft>
              <a:buClr>
                <a:schemeClr val="tx1"/>
              </a:buClr>
              <a:buSzPct val="125000"/>
              <a:buFontTx/>
              <a:buAutoNum type="arabicPeriod"/>
              <a:defRPr/>
            </a:pP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95300" marR="0" lvl="0" indent="-495300" algn="l" defTabSz="914400" rtl="0" eaLnBrk="0" fontAlgn="base" latinLnBrk="0" hangingPunct="0">
              <a:lnSpc>
                <a:spcPct val="90000"/>
              </a:lnSpc>
              <a:spcBef>
                <a:spcPct val="20000"/>
              </a:spcBef>
              <a:spcAft>
                <a:spcPct val="0"/>
              </a:spcAft>
              <a:buClr>
                <a:schemeClr val="tx1"/>
              </a:buClr>
              <a:buSzPct val="125000"/>
              <a:buFontTx/>
              <a:buAutoNum type="arabicPeriod"/>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期末占</a:t>
            </a:r>
            <a:r>
              <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30%</a:t>
            </a: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，闭卷考试</a:t>
            </a: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chemeClr val="tx1"/>
              </a:buClr>
              <a:buSzPct val="125000"/>
              <a:buFontTx/>
              <a:buNone/>
              <a:defRPr/>
            </a:pP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第1章 编译概论</a:t>
            </a:r>
            <a:endParaRPr lang="en-US" altLang="zh-CN" dirty="0">
              <a:latin typeface="宋体" panose="02010600030101010101" pitchFamily="2" charset="-122"/>
              <a:ea typeface="宋体" panose="02010600030101010101" pitchFamily="2" charset="-122"/>
            </a:endParaRPr>
          </a:p>
        </p:txBody>
      </p:sp>
      <p:sp>
        <p:nvSpPr>
          <p:cNvPr id="10242" name="Rectangle 3"/>
          <p:cNvSpPr>
            <a:spLocks noGrp="1"/>
          </p:cNvSpPr>
          <p:nvPr>
            <p:ph idx="1"/>
          </p:nvPr>
        </p:nvSpPr>
        <p:spPr>
          <a:xfrm>
            <a:off x="990600" y="1600200"/>
            <a:ext cx="7391400" cy="3773488"/>
          </a:xfrm>
          <a:ln/>
        </p:spPr>
        <p:txBody>
          <a:bodyPr vert="horz" wrap="square" lIns="92075" tIns="46038" rIns="92075" bIns="46038" anchor="t" anchorCtr="0"/>
          <a:p>
            <a:r>
              <a:rPr lang="zh-CN" altLang="en-US" sz="3400" b="1" dirty="0">
                <a:latin typeface="宋体" panose="02010600030101010101" pitchFamily="2" charset="-122"/>
                <a:ea typeface="宋体" panose="02010600030101010101" pitchFamily="2" charset="-122"/>
              </a:rPr>
              <a:t>编译的概念</a:t>
            </a:r>
            <a:endParaRPr lang="zh-CN" altLang="en-US" sz="3400" b="1" dirty="0">
              <a:latin typeface="宋体" panose="02010600030101010101" pitchFamily="2" charset="-122"/>
              <a:ea typeface="宋体" panose="02010600030101010101" pitchFamily="2" charset="-122"/>
            </a:endParaRPr>
          </a:p>
          <a:p>
            <a:r>
              <a:rPr lang="zh-CN" altLang="en-US" sz="3400" b="1" dirty="0">
                <a:latin typeface="宋体" panose="02010600030101010101" pitchFamily="2" charset="-122"/>
                <a:ea typeface="宋体" panose="02010600030101010101" pitchFamily="2" charset="-122"/>
              </a:rPr>
              <a:t>编译器的结构</a:t>
            </a:r>
            <a:endParaRPr lang="zh-CN" altLang="en-US" sz="3400" b="1" dirty="0">
              <a:latin typeface="宋体" panose="02010600030101010101" pitchFamily="2" charset="-122"/>
              <a:ea typeface="宋体" panose="02010600030101010101" pitchFamily="2" charset="-122"/>
            </a:endParaRPr>
          </a:p>
          <a:p>
            <a:r>
              <a:rPr lang="zh-CN" altLang="en-US" sz="3400" b="1" dirty="0">
                <a:latin typeface="宋体" panose="02010600030101010101" pitchFamily="2" charset="-122"/>
                <a:ea typeface="宋体" panose="02010600030101010101" pitchFamily="2" charset="-122"/>
              </a:rPr>
              <a:t>程序设计语言的发展历程</a:t>
            </a:r>
            <a:endParaRPr lang="en-US" altLang="zh-CN" sz="3400" b="1" dirty="0">
              <a:latin typeface="宋体" panose="02010600030101010101" pitchFamily="2" charset="-122"/>
              <a:ea typeface="宋体" panose="02010600030101010101" pitchFamily="2" charset="-122"/>
            </a:endParaRPr>
          </a:p>
          <a:p>
            <a:r>
              <a:rPr lang="zh-CN" altLang="en-US" sz="3400" b="1" dirty="0">
                <a:latin typeface="宋体" panose="02010600030101010101" pitchFamily="2" charset="-122"/>
                <a:ea typeface="宋体" panose="02010600030101010101" pitchFamily="2" charset="-122"/>
              </a:rPr>
              <a:t>构造一个编译器的相关科学</a:t>
            </a:r>
            <a:endParaRPr lang="zh-CN" altLang="en-US" sz="3400" b="1" dirty="0">
              <a:latin typeface="宋体" panose="02010600030101010101" pitchFamily="2" charset="-122"/>
              <a:ea typeface="宋体" panose="02010600030101010101" pitchFamily="2" charset="-122"/>
            </a:endParaRPr>
          </a:p>
          <a:p>
            <a:r>
              <a:rPr lang="zh-CN" altLang="en-US" sz="3400" b="1" dirty="0">
                <a:latin typeface="宋体" panose="02010600030101010101" pitchFamily="2" charset="-122"/>
                <a:ea typeface="宋体" panose="02010600030101010101" pitchFamily="2" charset="-122"/>
              </a:rPr>
              <a:t>编译器的应用</a:t>
            </a:r>
            <a:endParaRPr lang="en-US" altLang="zh-CN" sz="3400" b="1" dirty="0">
              <a:latin typeface="宋体" panose="02010600030101010101" pitchFamily="2" charset="-122"/>
              <a:ea typeface="宋体" panose="02010600030101010101" pitchFamily="2" charset="-122"/>
            </a:endParaRPr>
          </a:p>
          <a:p>
            <a:r>
              <a:rPr lang="zh-CN" altLang="en-US" sz="3400" b="1" dirty="0">
                <a:latin typeface="宋体" panose="02010600030101010101" pitchFamily="2" charset="-122"/>
                <a:ea typeface="宋体" panose="02010600030101010101" pitchFamily="2" charset="-122"/>
              </a:rPr>
              <a:t>程序设计语言基础</a:t>
            </a:r>
            <a:endParaRPr lang="zh-CN" altLang="en-US" sz="3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编译的概念（1）</a:t>
            </a:r>
            <a:endParaRPr lang="zh-CN" altLang="en-US" dirty="0">
              <a:latin typeface="宋体" panose="02010600030101010101" pitchFamily="2" charset="-122"/>
              <a:ea typeface="宋体" panose="02010600030101010101" pitchFamily="2" charset="-122"/>
            </a:endParaRPr>
          </a:p>
        </p:txBody>
      </p:sp>
      <p:sp>
        <p:nvSpPr>
          <p:cNvPr id="12290" name="Rectangle 3"/>
          <p:cNvSpPr>
            <a:spLocks noGrp="1"/>
          </p:cNvSpPr>
          <p:nvPr>
            <p:ph idx="1"/>
          </p:nvPr>
        </p:nvSpPr>
        <p:spPr>
          <a:xfrm>
            <a:off x="990600" y="1600200"/>
            <a:ext cx="7391400" cy="41910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程序设计语言：向人和计算机描述计算过程的记号</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是有规范的</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需要一种系统将其翻译成计算机能够执行的形式</a:t>
            </a:r>
            <a:endParaRPr lang="en-US" altLang="zh-CN"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编译：从</a:t>
            </a:r>
            <a:r>
              <a:rPr lang="zh-CN" altLang="en-US" sz="2400" b="1" dirty="0">
                <a:solidFill>
                  <a:schemeClr val="accent1"/>
                </a:solidFill>
                <a:latin typeface="宋体" panose="02010600030101010101" pitchFamily="2" charset="-122"/>
                <a:ea typeface="宋体" panose="02010600030101010101" pitchFamily="2" charset="-122"/>
              </a:rPr>
              <a:t>源语言（或某种低层语言）</a:t>
            </a:r>
            <a:r>
              <a:rPr lang="zh-CN" altLang="en-US" sz="2400" b="1" dirty="0">
                <a:latin typeface="宋体" panose="02010600030101010101" pitchFamily="2" charset="-122"/>
                <a:ea typeface="宋体" panose="02010600030101010101" pitchFamily="2" charset="-122"/>
              </a:rPr>
              <a:t>表示的算法到面向硬件的</a:t>
            </a:r>
            <a:r>
              <a:rPr lang="zh-CN" altLang="en-US" sz="2400" b="1" dirty="0">
                <a:solidFill>
                  <a:schemeClr val="accent1"/>
                </a:solidFill>
                <a:latin typeface="宋体" panose="02010600030101010101" pitchFamily="2" charset="-122"/>
                <a:ea typeface="宋体" panose="02010600030101010101" pitchFamily="2" charset="-122"/>
              </a:rPr>
              <a:t>目标语言</a:t>
            </a:r>
            <a:r>
              <a:rPr lang="zh-CN" altLang="en-US" sz="2400" b="1" dirty="0">
                <a:latin typeface="宋体" panose="02010600030101010101" pitchFamily="2" charset="-122"/>
                <a:ea typeface="宋体" panose="02010600030101010101" pitchFamily="2" charset="-122"/>
              </a:rPr>
              <a:t>表示的算法的一个</a:t>
            </a:r>
            <a:r>
              <a:rPr lang="zh-CN" altLang="en-US" sz="2400" b="1" dirty="0">
                <a:solidFill>
                  <a:schemeClr val="accent1"/>
                </a:solidFill>
                <a:latin typeface="宋体" panose="02010600030101010101" pitchFamily="2" charset="-122"/>
                <a:ea typeface="宋体" panose="02010600030101010101" pitchFamily="2" charset="-122"/>
              </a:rPr>
              <a:t>等价变换</a:t>
            </a:r>
            <a:endParaRPr lang="zh-CN" altLang="en-US" sz="2400" b="1" dirty="0">
              <a:solidFill>
                <a:schemeClr val="accent1"/>
              </a:solidFill>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等价变换：是指功能的等价性</a:t>
            </a:r>
            <a:endParaRPr lang="zh-CN" altLang="en-US"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一般程序设计语言的定义包括以下三个方面：</a:t>
            </a:r>
            <a:endParaRPr lang="zh-CN" altLang="en-US" sz="2000"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语法：指程序的构造规则，目前已较好地形式化</a:t>
            </a:r>
            <a:endParaRPr lang="zh-CN" altLang="en-US" sz="1800"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语义：指按语法规则构成的各个语法成分的含义，作了一些形式化的探索</a:t>
            </a:r>
            <a:endParaRPr lang="zh-CN" altLang="en-US" sz="1800"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语用：表示程序与使用者间的关系，</a:t>
            </a:r>
            <a:endParaRPr lang="zh-CN" altLang="en-US" sz="18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一般地，变换要求满足程序的语义的等价性</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编译的概念（2）</a:t>
            </a:r>
            <a:endParaRPr lang="zh-CN" altLang="en-US" dirty="0">
              <a:latin typeface="宋体" panose="02010600030101010101" pitchFamily="2" charset="-122"/>
              <a:ea typeface="宋体" panose="02010600030101010101" pitchFamily="2" charset="-122"/>
            </a:endParaRPr>
          </a:p>
        </p:txBody>
      </p:sp>
      <p:sp>
        <p:nvSpPr>
          <p:cNvPr id="14338" name="Rectangle 3"/>
          <p:cNvSpPr>
            <a:spLocks noGrp="1"/>
          </p:cNvSpPr>
          <p:nvPr>
            <p:ph idx="1"/>
          </p:nvPr>
        </p:nvSpPr>
        <p:spPr>
          <a:xfrm>
            <a:off x="990600" y="1371600"/>
            <a:ext cx="7391400" cy="473075"/>
          </a:xfrm>
          <a:ln/>
        </p:spPr>
        <p:txBody>
          <a:bodyPr vert="horz" wrap="square" lIns="92075" tIns="46038" rIns="92075" bIns="46038" anchor="t" anchorCtr="0"/>
          <a:p>
            <a:pPr>
              <a:lnSpc>
                <a:spcPct val="90000"/>
              </a:lnSpc>
            </a:pPr>
            <a:r>
              <a:rPr lang="zh-CN" altLang="en-US" b="1" dirty="0">
                <a:latin typeface="宋体" panose="02010600030101010101" pitchFamily="2" charset="-122"/>
                <a:ea typeface="宋体" panose="02010600030101010101" pitchFamily="2" charset="-122"/>
              </a:rPr>
              <a:t>编译系统的几种典型形式</a:t>
            </a:r>
            <a:endParaRPr lang="en-US" altLang="zh-CN" b="1" dirty="0">
              <a:latin typeface="宋体" panose="02010600030101010101" pitchFamily="2" charset="-122"/>
              <a:ea typeface="宋体" panose="02010600030101010101" pitchFamily="2" charset="-122"/>
            </a:endParaRPr>
          </a:p>
        </p:txBody>
      </p:sp>
      <p:pic>
        <p:nvPicPr>
          <p:cNvPr id="14339" name="图片 1"/>
          <p:cNvPicPr>
            <a:picLocks noChangeAspect="1"/>
          </p:cNvPicPr>
          <p:nvPr/>
        </p:nvPicPr>
        <p:blipFill>
          <a:blip r:embed="rId1"/>
          <a:stretch>
            <a:fillRect/>
          </a:stretch>
        </p:blipFill>
        <p:spPr>
          <a:xfrm>
            <a:off x="714375" y="1844675"/>
            <a:ext cx="7667625" cy="4668838"/>
          </a:xfrm>
          <a:prstGeom prst="rect">
            <a:avLst/>
          </a:prstGeom>
          <a:noFill/>
          <a:ln w="9525">
            <a:noFill/>
          </a:ln>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编译的流程和编译器结构（1）</a:t>
            </a:r>
            <a:endParaRPr lang="zh-CN" altLang="en-US" dirty="0">
              <a:latin typeface="宋体" panose="02010600030101010101" pitchFamily="2" charset="-122"/>
              <a:ea typeface="宋体" panose="02010600030101010101" pitchFamily="2" charset="-122"/>
            </a:endParaRPr>
          </a:p>
        </p:txBody>
      </p:sp>
      <p:sp>
        <p:nvSpPr>
          <p:cNvPr id="16386" name="Rectangle 3"/>
          <p:cNvSpPr>
            <a:spLocks noGrp="1"/>
          </p:cNvSpPr>
          <p:nvPr>
            <p:ph idx="1"/>
          </p:nvPr>
        </p:nvSpPr>
        <p:spPr>
          <a:xfrm>
            <a:off x="990600" y="1600200"/>
            <a:ext cx="7391400" cy="4648200"/>
          </a:xfrm>
          <a:ln/>
        </p:spPr>
        <p:txBody>
          <a:bodyPr vert="horz" wrap="square" lIns="92075" tIns="46038" rIns="92075" bIns="46038" anchor="t" anchorCtr="0"/>
          <a:p>
            <a:r>
              <a:rPr lang="zh-CN" altLang="en-US" b="1" dirty="0">
                <a:ea typeface="宋体" panose="02010600030101010101" pitchFamily="2" charset="-122"/>
              </a:rPr>
              <a:t>人进行进行汉英翻译的过程：信、达、雅的翻译目标</a:t>
            </a:r>
            <a:endParaRPr lang="zh-CN" altLang="en-US" b="1" dirty="0">
              <a:ea typeface="宋体" panose="02010600030101010101" pitchFamily="2" charset="-122"/>
            </a:endParaRPr>
          </a:p>
          <a:p>
            <a:pPr lvl="1"/>
            <a:r>
              <a:rPr lang="zh-CN" altLang="en-US" b="1" dirty="0">
                <a:ea typeface="宋体" panose="02010600030101010101" pitchFamily="2" charset="-122"/>
              </a:rPr>
              <a:t>识别句子中的一个个单词</a:t>
            </a:r>
            <a:endParaRPr lang="zh-CN" altLang="en-US" b="1" dirty="0">
              <a:ea typeface="宋体" panose="02010600030101010101" pitchFamily="2" charset="-122"/>
            </a:endParaRPr>
          </a:p>
          <a:p>
            <a:pPr lvl="1"/>
            <a:r>
              <a:rPr lang="zh-CN" altLang="en-US" b="1" dirty="0">
                <a:ea typeface="宋体" panose="02010600030101010101" pitchFamily="2" charset="-122"/>
              </a:rPr>
              <a:t>分析句子的语法结构</a:t>
            </a:r>
            <a:endParaRPr lang="zh-CN" altLang="en-US" b="1" dirty="0">
              <a:ea typeface="宋体" panose="02010600030101010101" pitchFamily="2" charset="-122"/>
            </a:endParaRPr>
          </a:p>
          <a:p>
            <a:pPr lvl="1"/>
            <a:r>
              <a:rPr lang="zh-CN" altLang="en-US" b="1" dirty="0">
                <a:ea typeface="宋体" panose="02010600030101010101" pitchFamily="2" charset="-122"/>
              </a:rPr>
              <a:t>根据语义进行初步翻译</a:t>
            </a:r>
            <a:endParaRPr lang="zh-CN" altLang="en-US" b="1" dirty="0">
              <a:ea typeface="宋体" panose="02010600030101010101" pitchFamily="2" charset="-122"/>
            </a:endParaRPr>
          </a:p>
          <a:p>
            <a:pPr lvl="1"/>
            <a:r>
              <a:rPr lang="zh-CN" altLang="en-US" b="1" dirty="0">
                <a:ea typeface="宋体" panose="02010600030101010101" pitchFamily="2" charset="-122"/>
              </a:rPr>
              <a:t>对译文进行修饰</a:t>
            </a:r>
            <a:endParaRPr lang="zh-CN" altLang="en-US" b="1" dirty="0">
              <a:ea typeface="宋体" panose="02010600030101010101" pitchFamily="2" charset="-122"/>
            </a:endParaRPr>
          </a:p>
          <a:p>
            <a:pPr lvl="1"/>
            <a:r>
              <a:rPr lang="zh-CN" altLang="en-US" b="1" dirty="0">
                <a:ea typeface="宋体" panose="02010600030101010101" pitchFamily="2" charset="-122"/>
              </a:rPr>
              <a:t>写出最后的译文</a:t>
            </a:r>
            <a:endParaRPr lang="zh-CN" altLang="en-US"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一个中英翻译的例子</a:t>
            </a:r>
            <a:endParaRPr lang="zh-CN" altLang="en-US" dirty="0">
              <a:latin typeface="宋体" panose="02010600030101010101" pitchFamily="2" charset="-122"/>
              <a:ea typeface="宋体" panose="02010600030101010101" pitchFamily="2" charset="-122"/>
            </a:endParaRPr>
          </a:p>
        </p:txBody>
      </p:sp>
      <p:sp>
        <p:nvSpPr>
          <p:cNvPr id="18434" name="Rectangle 3"/>
          <p:cNvSpPr>
            <a:spLocks noGrp="1"/>
          </p:cNvSpPr>
          <p:nvPr>
            <p:ph idx="1"/>
          </p:nvPr>
        </p:nvSpPr>
        <p:spPr>
          <a:xfrm>
            <a:off x="990600" y="1600200"/>
            <a:ext cx="7391400" cy="4648200"/>
          </a:xfrm>
          <a:ln/>
        </p:spPr>
        <p:txBody>
          <a:bodyPr vert="horz" wrap="square" lIns="92075" tIns="46038" rIns="92075" bIns="46038" anchor="t" anchorCtr="0"/>
          <a:p>
            <a:r>
              <a:rPr lang="en-US" altLang="zh-CN" dirty="0">
                <a:ea typeface="宋体" panose="02010600030101010101" pitchFamily="2" charset="-122"/>
              </a:rPr>
              <a:t>If you do not leave me, I will stand by your side until the life ends.</a:t>
            </a:r>
            <a:endParaRPr lang="en-US" altLang="zh-CN" dirty="0">
              <a:ea typeface="宋体" panose="02010600030101010101" pitchFamily="2" charset="-122"/>
            </a:endParaRPr>
          </a:p>
          <a:p>
            <a:r>
              <a:rPr lang="zh-CN" altLang="en-US" sz="2000" b="1" dirty="0">
                <a:ea typeface="宋体" panose="02010600030101010101" pitchFamily="2" charset="-122"/>
              </a:rPr>
              <a:t>你如果不离开我，我就和你同归于尽。</a:t>
            </a:r>
            <a:r>
              <a:rPr lang="zh-CN" altLang="en-US" sz="2000" dirty="0">
                <a:ea typeface="宋体" panose="02010600030101010101" pitchFamily="2" charset="-122"/>
              </a:rPr>
              <a:t>  </a:t>
            </a:r>
            <a:r>
              <a:rPr lang="zh-CN" altLang="en-US" sz="2000" b="1" dirty="0">
                <a:ea typeface="宋体" panose="02010600030101010101" pitchFamily="2" charset="-122"/>
              </a:rPr>
              <a:t>（四级水平）</a:t>
            </a:r>
            <a:r>
              <a:rPr lang="zh-CN" altLang="en-US" sz="2000" dirty="0">
                <a:ea typeface="宋体" panose="02010600030101010101" pitchFamily="2" charset="-122"/>
              </a:rPr>
              <a:t>         </a:t>
            </a:r>
            <a:endParaRPr lang="en-US" altLang="zh-CN" sz="2000" dirty="0">
              <a:ea typeface="宋体" panose="02010600030101010101" pitchFamily="2" charset="-122"/>
            </a:endParaRPr>
          </a:p>
          <a:p>
            <a:r>
              <a:rPr lang="zh-CN" altLang="en-US" sz="2000" b="1" dirty="0">
                <a:ea typeface="宋体" panose="02010600030101010101" pitchFamily="2" charset="-122"/>
              </a:rPr>
              <a:t>你若不离不弃，我必生死相依。</a:t>
            </a:r>
            <a:r>
              <a:rPr lang="zh-CN" altLang="en-US" sz="2000" dirty="0">
                <a:ea typeface="宋体" panose="02010600030101010101" pitchFamily="2" charset="-122"/>
              </a:rPr>
              <a:t>        </a:t>
            </a:r>
            <a:r>
              <a:rPr lang="en-US" altLang="zh-CN" sz="2000" dirty="0">
                <a:ea typeface="宋体" panose="02010600030101010101" pitchFamily="2" charset="-122"/>
              </a:rPr>
              <a:t>	    </a:t>
            </a:r>
            <a:r>
              <a:rPr lang="zh-CN" altLang="en-US" sz="2000" b="1" dirty="0">
                <a:ea typeface="宋体" panose="02010600030101010101" pitchFamily="2" charset="-122"/>
              </a:rPr>
              <a:t>（六级水平）</a:t>
            </a:r>
            <a:r>
              <a:rPr lang="zh-CN" altLang="en-US" sz="2000" dirty="0">
                <a:ea typeface="宋体" panose="02010600030101010101" pitchFamily="2" charset="-122"/>
              </a:rPr>
              <a:t>          </a:t>
            </a:r>
            <a:endParaRPr lang="en-US" altLang="zh-CN" sz="2000" dirty="0">
              <a:ea typeface="宋体" panose="02010600030101010101" pitchFamily="2" charset="-122"/>
            </a:endParaRPr>
          </a:p>
          <a:p>
            <a:r>
              <a:rPr lang="zh-CN" altLang="en-US" sz="2000" b="1" dirty="0">
                <a:ea typeface="宋体" panose="02010600030101010101" pitchFamily="2" charset="-122"/>
              </a:rPr>
              <a:t>问世间情为何物？直教人生死相许。</a:t>
            </a:r>
            <a:r>
              <a:rPr lang="zh-CN" altLang="en-US" sz="2000" dirty="0">
                <a:ea typeface="宋体" panose="02010600030101010101" pitchFamily="2" charset="-122"/>
              </a:rPr>
              <a:t>      </a:t>
            </a:r>
            <a:r>
              <a:rPr lang="zh-CN" altLang="en-US" sz="2000" b="1" dirty="0">
                <a:ea typeface="宋体" panose="02010600030101010101" pitchFamily="2" charset="-122"/>
              </a:rPr>
              <a:t>（八级水平）</a:t>
            </a:r>
            <a:r>
              <a:rPr lang="zh-CN" altLang="en-US" sz="2000" dirty="0">
                <a:ea typeface="宋体" panose="02010600030101010101" pitchFamily="2" charset="-122"/>
              </a:rPr>
              <a:t>          </a:t>
            </a:r>
            <a:endParaRPr lang="en-US" altLang="zh-CN" sz="2000" dirty="0">
              <a:ea typeface="宋体" panose="02010600030101010101" pitchFamily="2" charset="-122"/>
            </a:endParaRPr>
          </a:p>
          <a:p>
            <a:r>
              <a:rPr lang="zh-CN" altLang="en-US" sz="2000" b="1" dirty="0">
                <a:ea typeface="宋体" panose="02010600030101010101" pitchFamily="2" charset="-122"/>
              </a:rPr>
              <a:t>山无棱，天地合，乃敢与君绝。</a:t>
            </a:r>
            <a:r>
              <a:rPr lang="zh-CN" altLang="en-US" sz="2000" dirty="0">
                <a:ea typeface="宋体" panose="02010600030101010101" pitchFamily="2" charset="-122"/>
              </a:rPr>
              <a:t>              </a:t>
            </a:r>
            <a:r>
              <a:rPr lang="zh-CN" altLang="en-US" sz="2000" b="1" dirty="0">
                <a:ea typeface="宋体" panose="02010600030101010101" pitchFamily="2" charset="-122"/>
              </a:rPr>
              <a:t>（专家水平）          </a:t>
            </a:r>
            <a:endParaRPr lang="en-US" altLang="zh-CN" sz="2000" b="1" dirty="0">
              <a:ea typeface="宋体" panose="02010600030101010101" pitchFamily="2" charset="-122"/>
            </a:endParaRPr>
          </a:p>
          <a:p>
            <a:r>
              <a:rPr lang="zh-CN" altLang="en-US" sz="2000" b="1" dirty="0">
                <a:ea typeface="宋体" panose="02010600030101010101" pitchFamily="2" charset="-122"/>
              </a:rPr>
              <a:t>你在或不在，爱就在那里，不增不减。</a:t>
            </a:r>
            <a:r>
              <a:rPr lang="zh-CN" altLang="en-US" sz="2000" dirty="0">
                <a:ea typeface="宋体" panose="02010600030101010101" pitchFamily="2" charset="-122"/>
              </a:rPr>
              <a:t>  </a:t>
            </a:r>
            <a:r>
              <a:rPr lang="zh-CN" altLang="en-US" sz="2000" b="1" dirty="0">
                <a:ea typeface="宋体" panose="02010600030101010101" pitchFamily="2" charset="-122"/>
              </a:rPr>
              <a:t>（圣者水平）</a:t>
            </a:r>
            <a:r>
              <a:rPr lang="zh-CN" altLang="en-US" sz="2000" dirty="0">
                <a:ea typeface="宋体" panose="02010600030101010101" pitchFamily="2" charset="-122"/>
              </a:rPr>
              <a:t>   </a:t>
            </a:r>
            <a:endParaRPr lang="zh-CN" altLang="en-US" sz="2000" b="1" dirty="0">
              <a:ea typeface="宋体" panose="02010600030101010101" pitchFamily="2" charset="-122"/>
            </a:endParaRPr>
          </a:p>
        </p:txBody>
      </p:sp>
      <p:sp>
        <p:nvSpPr>
          <p:cNvPr id="18435" name="TextBox 3"/>
          <p:cNvSpPr txBox="1"/>
          <p:nvPr/>
        </p:nvSpPr>
        <p:spPr>
          <a:xfrm>
            <a:off x="1116013" y="5876925"/>
            <a:ext cx="6480175" cy="338138"/>
          </a:xfrm>
          <a:prstGeom prst="rect">
            <a:avLst/>
          </a:prstGeom>
          <a:noFill/>
          <a:ln w="9525">
            <a:noFill/>
          </a:ln>
        </p:spPr>
        <p:txBody>
          <a:bodyPr anchor="t" anchorCtr="0">
            <a:spAutoFit/>
          </a:bodyPr>
          <a:p>
            <a:pPr eaLnBrk="0" hangingPunct="0">
              <a:buClrTx/>
            </a:pPr>
            <a:r>
              <a:rPr lang="zh-CN" altLang="en-US" sz="1600" b="1" dirty="0">
                <a:solidFill>
                  <a:srgbClr val="FF0000"/>
                </a:solidFill>
                <a:latin typeface="Times New Roman" panose="02020603050405020304" pitchFamily="18" charset="0"/>
                <a:ea typeface="宋体" panose="02010600030101010101" pitchFamily="2" charset="-122"/>
              </a:rPr>
              <a:t>本例子取自网络，不用深究英语句子的严谨性</a:t>
            </a:r>
            <a:endParaRPr lang="zh-CN" altLang="en-US" sz="16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编译的流程和编译器结构（</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0482" name="Rectangle 3"/>
          <p:cNvSpPr>
            <a:spLocks noGrp="1"/>
          </p:cNvSpPr>
          <p:nvPr>
            <p:ph idx="1"/>
          </p:nvPr>
        </p:nvSpPr>
        <p:spPr>
          <a:xfrm>
            <a:off x="990600" y="1600200"/>
            <a:ext cx="7391400" cy="4648200"/>
          </a:xfrm>
          <a:ln/>
        </p:spPr>
        <p:txBody>
          <a:bodyPr vert="horz" wrap="square" lIns="92075" tIns="46038" rIns="92075" bIns="46038" anchor="t" anchorCtr="0"/>
          <a:p>
            <a:pPr>
              <a:lnSpc>
                <a:spcPct val="90000"/>
              </a:lnSpc>
            </a:pPr>
            <a:r>
              <a:rPr lang="zh-CN" altLang="en-US" sz="2000" b="1" dirty="0">
                <a:ea typeface="宋体" panose="02010600030101010101" pitchFamily="2" charset="-122"/>
              </a:rPr>
              <a:t>编译是一个类似的过程，一般一个编译器不仅要将源程序映射为语义等价的可以执行的目标程序，还要对程序进行优化</a:t>
            </a:r>
            <a:endParaRPr lang="en-US" altLang="zh-CN" sz="2000" b="1" dirty="0">
              <a:ea typeface="宋体" panose="02010600030101010101" pitchFamily="2" charset="-122"/>
            </a:endParaRPr>
          </a:p>
          <a:p>
            <a:pPr>
              <a:lnSpc>
                <a:spcPct val="90000"/>
              </a:lnSpc>
            </a:pPr>
            <a:r>
              <a:rPr lang="zh-CN" altLang="en-US" sz="2000" b="1" dirty="0">
                <a:ea typeface="宋体" panose="02010600030101010101" pitchFamily="2" charset="-122"/>
              </a:rPr>
              <a:t>整个映射过程可以分为两部分</a:t>
            </a:r>
            <a:endParaRPr lang="en-US" altLang="zh-CN" sz="2000" b="1" dirty="0">
              <a:ea typeface="宋体" panose="02010600030101010101" pitchFamily="2" charset="-122"/>
            </a:endParaRPr>
          </a:p>
          <a:p>
            <a:pPr lvl="1">
              <a:lnSpc>
                <a:spcPct val="90000"/>
              </a:lnSpc>
            </a:pPr>
            <a:r>
              <a:rPr lang="zh-CN" altLang="en-US" sz="1800" b="1" dirty="0">
                <a:ea typeface="宋体" panose="02010600030101010101" pitchFamily="2" charset="-122"/>
              </a:rPr>
              <a:t>分析</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将程序分解成为多个组成要素，并加上语法结构，创建中间表示</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检测语法或语义上的不一致性，报错</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符号表、中间表示一起传递给综合部分</a:t>
            </a:r>
            <a:endParaRPr lang="en-US" altLang="zh-CN" sz="1800" b="1" dirty="0">
              <a:ea typeface="宋体" panose="02010600030101010101" pitchFamily="2" charset="-122"/>
            </a:endParaRPr>
          </a:p>
          <a:p>
            <a:pPr lvl="2">
              <a:lnSpc>
                <a:spcPct val="90000"/>
              </a:lnSpc>
            </a:pPr>
            <a:r>
              <a:rPr lang="zh-CN" altLang="en-US" sz="1800" b="1" dirty="0">
                <a:ea typeface="宋体" panose="02010600030101010101" pitchFamily="2" charset="-122"/>
              </a:rPr>
              <a:t>通常称为前端</a:t>
            </a:r>
            <a:endParaRPr lang="zh-CN" altLang="en-US" sz="1800" b="1" dirty="0">
              <a:ea typeface="宋体" panose="02010600030101010101" pitchFamily="2" charset="-122"/>
            </a:endParaRPr>
          </a:p>
          <a:p>
            <a:pPr lvl="1"/>
            <a:r>
              <a:rPr lang="zh-CN" altLang="en-US" sz="1800" b="1" dirty="0">
                <a:ea typeface="宋体" panose="02010600030101010101" pitchFamily="2" charset="-122"/>
              </a:rPr>
              <a:t>综合</a:t>
            </a:r>
            <a:endParaRPr lang="en-US" altLang="zh-CN" sz="1800" b="1" dirty="0">
              <a:ea typeface="宋体" panose="02010600030101010101" pitchFamily="2" charset="-122"/>
            </a:endParaRPr>
          </a:p>
          <a:p>
            <a:pPr lvl="2"/>
            <a:r>
              <a:rPr lang="zh-CN" altLang="en-US" sz="1800" b="1" dirty="0">
                <a:ea typeface="宋体" panose="02010600030101010101" pitchFamily="2" charset="-122"/>
              </a:rPr>
              <a:t>根据中间表示和符号表构造目标程序</a:t>
            </a:r>
            <a:endParaRPr lang="en-US" altLang="zh-CN" sz="1800" b="1" dirty="0">
              <a:ea typeface="宋体" panose="02010600030101010101" pitchFamily="2" charset="-122"/>
            </a:endParaRPr>
          </a:p>
          <a:p>
            <a:pPr lvl="2"/>
            <a:r>
              <a:rPr lang="zh-CN" altLang="en-US" sz="1800" b="1" dirty="0">
                <a:ea typeface="宋体" panose="02010600030101010101" pitchFamily="2" charset="-122"/>
              </a:rPr>
              <a:t>通常称为后端</a:t>
            </a:r>
            <a:endParaRPr lang="en-US" altLang="zh-CN" sz="1800" b="1" dirty="0">
              <a:ea typeface="宋体" panose="02010600030101010101" pitchFamily="2" charset="-122"/>
            </a:endParaRPr>
          </a:p>
          <a:p>
            <a:r>
              <a:rPr lang="zh-CN" altLang="en-US" sz="2000" b="1" dirty="0">
                <a:ea typeface="宋体" panose="02010600030101010101" pitchFamily="2" charset="-122"/>
              </a:rPr>
              <a:t>优化既有分析，也有综合</a:t>
            </a:r>
            <a:endParaRPr lang="en-US" altLang="zh-CN" sz="2000" b="1" dirty="0">
              <a:ea typeface="宋体" panose="02010600030101010101" pitchFamily="2" charset="-122"/>
            </a:endParaRPr>
          </a:p>
          <a:p>
            <a:r>
              <a:rPr lang="zh-CN" altLang="en-US" sz="2000" b="1" dirty="0">
                <a:ea typeface="宋体" panose="02010600030101010101" pitchFamily="2" charset="-122"/>
              </a:rPr>
              <a:t>分为前端、后端的一个重要考虑是便于移植</a:t>
            </a:r>
            <a:endParaRPr lang="zh-CN" altLang="en-US" sz="2000" b="1" dirty="0">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编译的流程和编译器结构（</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pic>
        <p:nvPicPr>
          <p:cNvPr id="22530" name="图片 1"/>
          <p:cNvPicPr>
            <a:picLocks noChangeAspect="1"/>
          </p:cNvPicPr>
          <p:nvPr/>
        </p:nvPicPr>
        <p:blipFill>
          <a:blip r:embed="rId1"/>
          <a:stretch>
            <a:fillRect/>
          </a:stretch>
        </p:blipFill>
        <p:spPr>
          <a:xfrm>
            <a:off x="1547813" y="1412875"/>
            <a:ext cx="5305425" cy="5084763"/>
          </a:xfrm>
          <a:prstGeom prst="rect">
            <a:avLst/>
          </a:prstGeom>
          <a:noFill/>
          <a:ln w="9525">
            <a:noFill/>
          </a:ln>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编译器的阶段（</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4578" name="Rectangle 3"/>
          <p:cNvSpPr>
            <a:spLocks noGrp="1"/>
          </p:cNvSpPr>
          <p:nvPr>
            <p:ph idx="1"/>
          </p:nvPr>
        </p:nvSpPr>
        <p:spPr>
          <a:xfrm>
            <a:off x="468313" y="1600200"/>
            <a:ext cx="8207375" cy="4876800"/>
          </a:xfrm>
          <a:ln/>
        </p:spPr>
        <p:txBody>
          <a:bodyPr vert="horz" wrap="square" lIns="92075" tIns="46038" rIns="92075" bIns="46038" anchor="t" anchorCtr="0"/>
          <a:p>
            <a:pPr>
              <a:lnSpc>
                <a:spcPct val="90000"/>
              </a:lnSpc>
            </a:pPr>
            <a:r>
              <a:rPr lang="zh-CN" altLang="en-US" b="1" dirty="0">
                <a:ea typeface="宋体" panose="02010600030101010101" pitchFamily="2" charset="-122"/>
              </a:rPr>
              <a:t>一个编译器包括以下几个阶段（不同的编译器由于其目的、应用场景不同等，包含的阶段可能有差异）：</a:t>
            </a:r>
            <a:endParaRPr lang="zh-CN" altLang="en-US" b="1" dirty="0">
              <a:ea typeface="宋体" panose="02010600030101010101" pitchFamily="2" charset="-122"/>
            </a:endParaRPr>
          </a:p>
          <a:p>
            <a:pPr lvl="1">
              <a:lnSpc>
                <a:spcPct val="90000"/>
              </a:lnSpc>
            </a:pPr>
            <a:r>
              <a:rPr lang="zh-CN" altLang="en-US" b="1" dirty="0">
                <a:ea typeface="宋体" panose="02010600030101010101" pitchFamily="2" charset="-122"/>
              </a:rPr>
              <a:t>词法分析程序（</a:t>
            </a:r>
            <a:r>
              <a:rPr lang="en-US" altLang="zh-CN" b="1" dirty="0">
                <a:ea typeface="宋体" panose="02010600030101010101" pitchFamily="2" charset="-122"/>
              </a:rPr>
              <a:t>scanner）：</a:t>
            </a:r>
            <a:r>
              <a:rPr lang="zh-CN" altLang="en-US" b="1" dirty="0">
                <a:ea typeface="宋体" panose="02010600030101010101" pitchFamily="2" charset="-122"/>
              </a:rPr>
              <a:t>将源程序的字符流组成记号流</a:t>
            </a:r>
            <a:endParaRPr lang="zh-CN" altLang="en-US" b="1" dirty="0">
              <a:ea typeface="宋体" panose="02010600030101010101" pitchFamily="2" charset="-122"/>
            </a:endParaRPr>
          </a:p>
          <a:p>
            <a:pPr lvl="2">
              <a:lnSpc>
                <a:spcPct val="90000"/>
              </a:lnSpc>
              <a:buFont typeface="Wingdings" panose="05000000000000000000" pitchFamily="2" charset="2"/>
              <a:buChar char="§"/>
            </a:pPr>
            <a:r>
              <a:rPr lang="zh-CN" altLang="en-US" b="1" dirty="0">
                <a:ea typeface="宋体" panose="02010600030101010101" pitchFamily="2" charset="-122"/>
              </a:rPr>
              <a:t>记号表示逻辑上有内聚力的字符序列</a:t>
            </a:r>
            <a:endParaRPr lang="zh-CN" altLang="en-US" b="1" dirty="0">
              <a:ea typeface="宋体" panose="02010600030101010101" pitchFamily="2" charset="-122"/>
            </a:endParaRPr>
          </a:p>
          <a:p>
            <a:pPr lvl="2">
              <a:lnSpc>
                <a:spcPct val="90000"/>
              </a:lnSpc>
              <a:buFont typeface="Wingdings" panose="05000000000000000000" pitchFamily="2" charset="2"/>
              <a:buChar char="§"/>
            </a:pPr>
            <a:r>
              <a:rPr lang="zh-CN" altLang="en-US" b="1" dirty="0">
                <a:ea typeface="宋体" panose="02010600030101010101" pitchFamily="2" charset="-122"/>
              </a:rPr>
              <a:t>形成记号的字符序列称为该记号的单词：</a:t>
            </a:r>
            <a:endParaRPr lang="en-US" altLang="zh-CN" b="1" dirty="0">
              <a:ea typeface="宋体" panose="02010600030101010101" pitchFamily="2" charset="-122"/>
            </a:endParaRPr>
          </a:p>
          <a:p>
            <a:pPr lvl="3">
              <a:lnSpc>
                <a:spcPct val="90000"/>
              </a:lnSpc>
              <a:buFont typeface="Wingdings" panose="05000000000000000000" pitchFamily="2" charset="2"/>
              <a:buChar char="§"/>
            </a:pPr>
            <a:r>
              <a:rPr lang="en-US" altLang="zh-CN" b="1" dirty="0">
                <a:ea typeface="宋体" panose="02010600030101010101" pitchFamily="2" charset="-122"/>
              </a:rPr>
              <a:t>&lt;token-name</a:t>
            </a:r>
            <a:r>
              <a:rPr lang="zh-CN" altLang="en-US" b="1" dirty="0">
                <a:ea typeface="宋体" panose="02010600030101010101" pitchFamily="2" charset="-122"/>
              </a:rPr>
              <a:t>，</a:t>
            </a:r>
            <a:r>
              <a:rPr lang="en-US" altLang="zh-CN" b="1" dirty="0">
                <a:ea typeface="宋体" panose="02010600030101010101" pitchFamily="2" charset="-122"/>
              </a:rPr>
              <a:t>attribute-value&gt;</a:t>
            </a:r>
            <a:endParaRPr lang="zh-CN" altLang="en-US" b="1" dirty="0">
              <a:ea typeface="宋体" panose="02010600030101010101" pitchFamily="2" charset="-122"/>
            </a:endParaRPr>
          </a:p>
          <a:p>
            <a:pPr lvl="2">
              <a:lnSpc>
                <a:spcPct val="90000"/>
              </a:lnSpc>
              <a:buNone/>
            </a:pPr>
            <a:r>
              <a:rPr lang="zh-CN" altLang="en-US" b="1" dirty="0">
                <a:ea typeface="宋体" panose="02010600030101010101" pitchFamily="2" charset="-122"/>
              </a:rPr>
              <a:t>	赋值语句：</a:t>
            </a:r>
            <a:r>
              <a:rPr lang="en-US" altLang="zh-CN" b="1" dirty="0">
                <a:ea typeface="宋体" panose="02010600030101010101" pitchFamily="2" charset="-122"/>
              </a:rPr>
              <a:t>position = initial + rate * 60</a:t>
            </a:r>
            <a:endParaRPr lang="en-US" altLang="zh-CN" b="1" dirty="0">
              <a:ea typeface="宋体" panose="02010600030101010101" pitchFamily="2" charset="-122"/>
            </a:endParaRPr>
          </a:p>
          <a:p>
            <a:pPr lvl="2">
              <a:lnSpc>
                <a:spcPct val="90000"/>
              </a:lnSpc>
              <a:buNone/>
            </a:pPr>
            <a:r>
              <a:rPr lang="zh-CN" altLang="en-US" b="1" dirty="0">
                <a:ea typeface="宋体" panose="02010600030101010101" pitchFamily="2" charset="-122"/>
              </a:rPr>
              <a:t>	词法分析后可以得到</a:t>
            </a:r>
            <a:r>
              <a:rPr lang="en-US" altLang="zh-CN" b="1" dirty="0">
                <a:ea typeface="宋体" panose="02010600030101010101" pitchFamily="2" charset="-122"/>
              </a:rPr>
              <a:t>7</a:t>
            </a:r>
            <a:r>
              <a:rPr lang="zh-CN" altLang="en-US" b="1" dirty="0">
                <a:ea typeface="宋体" panose="02010600030101010101" pitchFamily="2" charset="-122"/>
              </a:rPr>
              <a:t>个单词：标识符</a:t>
            </a:r>
            <a:r>
              <a:rPr lang="en-US" altLang="zh-CN" b="1" dirty="0">
                <a:ea typeface="宋体" panose="02010600030101010101" pitchFamily="2" charset="-122"/>
              </a:rPr>
              <a:t>position(&lt;id,1&gt;)、</a:t>
            </a:r>
            <a:r>
              <a:rPr lang="zh-CN" altLang="en-US" b="1" dirty="0">
                <a:ea typeface="宋体" panose="02010600030101010101" pitchFamily="2" charset="-122"/>
              </a:rPr>
              <a:t>赋值号</a:t>
            </a:r>
            <a:r>
              <a:rPr lang="en-US" altLang="zh-CN" b="1" dirty="0">
                <a:ea typeface="宋体" panose="02010600030101010101" pitchFamily="2" charset="-122"/>
              </a:rPr>
              <a:t>=(=/assignop)</a:t>
            </a:r>
            <a:r>
              <a:rPr lang="zh-CN" altLang="en-US" b="1" dirty="0">
                <a:ea typeface="宋体" panose="02010600030101010101" pitchFamily="2" charset="-122"/>
              </a:rPr>
              <a:t>、标识符</a:t>
            </a:r>
            <a:r>
              <a:rPr lang="en-US" altLang="zh-CN" b="1" dirty="0">
                <a:ea typeface="宋体" panose="02010600030101010101" pitchFamily="2" charset="-122"/>
              </a:rPr>
              <a:t>initial(&lt;id,2&gt;)、</a:t>
            </a:r>
            <a:r>
              <a:rPr lang="zh-CN" altLang="en-US" b="1" dirty="0">
                <a:ea typeface="宋体" panose="02010600030101010101" pitchFamily="2" charset="-122"/>
              </a:rPr>
              <a:t>加号+</a:t>
            </a:r>
            <a:r>
              <a:rPr lang="en-US" altLang="zh-CN" b="1" dirty="0">
                <a:ea typeface="宋体" panose="02010600030101010101" pitchFamily="2" charset="-122"/>
              </a:rPr>
              <a:t>(+/addop)</a:t>
            </a:r>
            <a:r>
              <a:rPr lang="zh-CN" altLang="en-US" b="1" dirty="0">
                <a:ea typeface="宋体" panose="02010600030101010101" pitchFamily="2" charset="-122"/>
              </a:rPr>
              <a:t>、标识符</a:t>
            </a:r>
            <a:r>
              <a:rPr lang="en-US" altLang="zh-CN" b="1" dirty="0">
                <a:ea typeface="宋体" panose="02010600030101010101" pitchFamily="2" charset="-122"/>
              </a:rPr>
              <a:t>rate(&lt;id,3&gt;)</a:t>
            </a:r>
            <a:r>
              <a:rPr lang="zh-CN" altLang="en-US" b="1" dirty="0">
                <a:ea typeface="宋体" panose="02010600030101010101" pitchFamily="2" charset="-122"/>
              </a:rPr>
              <a:t>，乘号* </a:t>
            </a:r>
            <a:r>
              <a:rPr lang="en-US" altLang="zh-CN" b="1" dirty="0">
                <a:ea typeface="宋体" panose="02010600030101010101" pitchFamily="2" charset="-122"/>
              </a:rPr>
              <a:t>(*/multop)</a:t>
            </a:r>
            <a:r>
              <a:rPr lang="zh-CN" altLang="en-US" b="1" dirty="0">
                <a:ea typeface="宋体" panose="02010600030101010101" pitchFamily="2" charset="-122"/>
              </a:rPr>
              <a:t>、数字</a:t>
            </a:r>
            <a:r>
              <a:rPr lang="en-US" altLang="zh-CN" b="1" dirty="0">
                <a:ea typeface="宋体" panose="02010600030101010101" pitchFamily="2" charset="-122"/>
              </a:rPr>
              <a:t>60(60/&lt;num,60&gt;)</a:t>
            </a:r>
            <a:endParaRPr lang="zh-CN" altLang="en-US" b="1" dirty="0">
              <a:ea typeface="宋体" panose="02010600030101010101" pitchFamily="2" charset="-122"/>
            </a:endParaRPr>
          </a:p>
          <a:p>
            <a:pPr lvl="2">
              <a:lnSpc>
                <a:spcPct val="90000"/>
              </a:lnSpc>
              <a:buFont typeface="Wingdings" panose="05000000000000000000" pitchFamily="2" charset="2"/>
              <a:buChar char="§"/>
            </a:pPr>
            <a:r>
              <a:rPr lang="zh-CN" altLang="en-US" b="1" dirty="0">
                <a:ea typeface="宋体" panose="02010600030101010101" pitchFamily="2" charset="-122"/>
              </a:rPr>
              <a:t>词法分析同时完成一些可行的操作，如填符号表</a:t>
            </a:r>
            <a:endParaRPr lang="zh-CN" altLang="en-US" b="1" dirty="0">
              <a:ea typeface="宋体" panose="02010600030101010101" pitchFamily="2"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6626" name="Rectangle 3"/>
          <p:cNvSpPr>
            <a:spLocks noGrp="1"/>
          </p:cNvSpPr>
          <p:nvPr>
            <p:ph idx="1"/>
          </p:nvPr>
        </p:nvSpPr>
        <p:spPr>
          <a:xfrm>
            <a:off x="990600" y="1600200"/>
            <a:ext cx="7391400" cy="4648200"/>
          </a:xfrm>
          <a:ln/>
        </p:spPr>
        <p:txBody>
          <a:bodyPr vert="horz" wrap="square" lIns="92075" tIns="46038" rIns="92075" bIns="46038" anchor="t" anchorCtr="0"/>
          <a:p>
            <a:pPr lvl="1"/>
            <a:r>
              <a:rPr lang="zh-CN" altLang="en-US" b="1" dirty="0">
                <a:ea typeface="宋体" panose="02010600030101010101" pitchFamily="2" charset="-122"/>
              </a:rPr>
              <a:t>语法分析程序（</a:t>
            </a:r>
            <a:r>
              <a:rPr lang="en-US" altLang="zh-CN" b="1" dirty="0">
                <a:ea typeface="宋体" panose="02010600030101010101" pitchFamily="2" charset="-122"/>
              </a:rPr>
              <a:t>parser）：</a:t>
            </a:r>
            <a:r>
              <a:rPr lang="zh-CN" altLang="en-US" b="1" dirty="0">
                <a:ea typeface="宋体" panose="02010600030101010101" pitchFamily="2" charset="-122"/>
              </a:rPr>
              <a:t>语法分析</a:t>
            </a:r>
            <a:r>
              <a:rPr lang="en-US" altLang="zh-CN" b="1" dirty="0">
                <a:ea typeface="宋体" panose="02010600030101010101" pitchFamily="2" charset="-122"/>
              </a:rPr>
              <a:t>syntax analysis</a:t>
            </a:r>
            <a:r>
              <a:rPr lang="zh-CN" altLang="en-US" b="1" dirty="0">
                <a:ea typeface="宋体" panose="02010600030101010101" pitchFamily="2" charset="-122"/>
              </a:rPr>
              <a:t>，或称为解析</a:t>
            </a:r>
            <a:r>
              <a:rPr lang="en-US" altLang="zh-CN" b="1" dirty="0">
                <a:ea typeface="宋体" panose="02010600030101010101" pitchFamily="2" charset="-122"/>
              </a:rPr>
              <a:t>parsing</a:t>
            </a:r>
            <a:endParaRPr lang="en-US" altLang="zh-CN"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将记号流按语言的语法结构层次分组，得到语法短语</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语法分析得到分析树或语法树（</a:t>
            </a:r>
            <a:r>
              <a:rPr lang="en-US" altLang="zh-CN" b="1" dirty="0">
                <a:ea typeface="宋体" panose="02010600030101010101" pitchFamily="2" charset="-122"/>
              </a:rPr>
              <a:t>syntax</a:t>
            </a:r>
            <a:r>
              <a:rPr lang="zh-CN" altLang="en-US" b="1" dirty="0">
                <a:ea typeface="宋体" panose="02010600030101010101" pitchFamily="2" charset="-122"/>
              </a:rPr>
              <a:t> </a:t>
            </a:r>
            <a:r>
              <a:rPr lang="en-US" altLang="zh-CN" b="1" dirty="0">
                <a:ea typeface="宋体" panose="02010600030101010101" pitchFamily="2" charset="-122"/>
              </a:rPr>
              <a:t>tree</a:t>
            </a:r>
            <a:r>
              <a:rPr lang="zh-CN" altLang="en-US" b="1" dirty="0">
                <a:ea typeface="宋体" panose="02010600030101010101" pitchFamily="2" charset="-122"/>
              </a:rPr>
              <a:t>）</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语法树：每个内部节点表示一个计算（如前例的</a:t>
            </a:r>
            <a:r>
              <a:rPr lang="en-US" altLang="zh-CN" b="1" dirty="0">
                <a:ea typeface="宋体" panose="02010600030101010101" pitchFamily="2" charset="-122"/>
              </a:rPr>
              <a:t>=/+/</a:t>
            </a:r>
            <a:r>
              <a:rPr lang="zh-CN" altLang="en-US" b="1" dirty="0">
                <a:ea typeface="宋体" panose="02010600030101010101" pitchFamily="2" charset="-122"/>
              </a:rPr>
              <a:t>*等），而叶子节点表示参与运算的记号</a:t>
            </a:r>
            <a:endParaRPr lang="en-US" altLang="zh-CN"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树的层次表征了计算的优先次序（如本例中*优先于</a:t>
            </a:r>
            <a:r>
              <a:rPr lang="en-US" altLang="zh-CN" b="1" dirty="0">
                <a:ea typeface="宋体" panose="02010600030101010101" pitchFamily="2" charset="-122"/>
              </a:rPr>
              <a:t>+</a:t>
            </a:r>
            <a:r>
              <a:rPr lang="zh-CN" altLang="en-US" b="1" dirty="0">
                <a:ea typeface="宋体" panose="02010600030101010101" pitchFamily="2" charset="-122"/>
              </a:rPr>
              <a:t>）</a:t>
            </a:r>
            <a:endParaRPr lang="en-US" altLang="zh-CN"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语法树是编译器后续工作的依托</a:t>
            </a:r>
            <a:endParaRPr lang="zh-CN" altLang="en-US" b="1" dirty="0">
              <a:ea typeface="宋体" panose="02010600030101010101" pitchFamily="2"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1026"/>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graphicFrame>
        <p:nvGraphicFramePr>
          <p:cNvPr id="28674" name="Object 1029"/>
          <p:cNvGraphicFramePr>
            <a:graphicFrameLocks noChangeAspect="1"/>
          </p:cNvGraphicFramePr>
          <p:nvPr/>
        </p:nvGraphicFramePr>
        <p:xfrm>
          <a:off x="2124075" y="1557338"/>
          <a:ext cx="6096000" cy="4116387"/>
        </p:xfrm>
        <a:graphic>
          <a:graphicData uri="http://schemas.openxmlformats.org/presentationml/2006/ole">
            <mc:AlternateContent xmlns:mc="http://schemas.openxmlformats.org/markup-compatibility/2006">
              <mc:Choice xmlns:v="urn:schemas-microsoft-com:vml" Requires="v">
                <p:oleObj spid="_x0000_s3077" name="" r:id="rId1" imgW="9715500" imgH="5435600" progId="Visio.Drawing.11">
                  <p:embed/>
                </p:oleObj>
              </mc:Choice>
              <mc:Fallback>
                <p:oleObj name="" r:id="rId1" imgW="9715500" imgH="5435600" progId="Visio.Drawing.11">
                  <p:embed/>
                  <p:pic>
                    <p:nvPicPr>
                      <p:cNvPr id="0" name="图片 3076"/>
                      <p:cNvPicPr/>
                      <p:nvPr/>
                    </p:nvPicPr>
                    <p:blipFill>
                      <a:blip r:embed="rId2"/>
                      <a:stretch>
                        <a:fillRect/>
                      </a:stretch>
                    </p:blipFill>
                    <p:spPr>
                      <a:xfrm>
                        <a:off x="2124075" y="1557338"/>
                        <a:ext cx="6096000" cy="4116387"/>
                      </a:xfrm>
                      <a:prstGeom prst="rect">
                        <a:avLst/>
                      </a:prstGeom>
                      <a:noFill/>
                      <a:ln w="38100">
                        <a:noFill/>
                        <a:miter/>
                      </a:ln>
                    </p:spPr>
                  </p:pic>
                </p:oleObj>
              </mc:Fallback>
            </mc:AlternateContent>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30722" name="Rectangle 3"/>
          <p:cNvSpPr>
            <a:spLocks noGrp="1"/>
          </p:cNvSpPr>
          <p:nvPr>
            <p:ph idx="1"/>
          </p:nvPr>
        </p:nvSpPr>
        <p:spPr>
          <a:xfrm>
            <a:off x="990600" y="1600200"/>
            <a:ext cx="7467600" cy="4648200"/>
          </a:xfrm>
          <a:ln/>
        </p:spPr>
        <p:txBody>
          <a:bodyPr vert="horz" wrap="square" lIns="92075" tIns="46038" rIns="92075" bIns="46038" anchor="t" anchorCtr="0"/>
          <a:p>
            <a:pPr lvl="1"/>
            <a:r>
              <a:rPr lang="zh-CN" altLang="en-US" b="1" dirty="0">
                <a:ea typeface="宋体" panose="02010600030101010101" pitchFamily="2" charset="-122"/>
              </a:rPr>
              <a:t>语义分析程序（</a:t>
            </a:r>
            <a:r>
              <a:rPr lang="en-US" altLang="zh-CN" b="1" dirty="0">
                <a:ea typeface="宋体" panose="02010600030101010101" pitchFamily="2" charset="-122"/>
              </a:rPr>
              <a:t>semantic analyzer）：</a:t>
            </a:r>
            <a:r>
              <a:rPr lang="zh-CN" altLang="en-US" b="1" dirty="0">
                <a:ea typeface="宋体" panose="02010600030101010101" pitchFamily="2" charset="-122"/>
              </a:rPr>
              <a:t>检查程序的语义正确性</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程序的语义决定了程序的运行</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程序设计语言中存在在执行前可以确定而不易被语法表示的特征，这些特征称为静态语义，这也是语义分析的内容</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一般，典型的静态语义包括声明和类型检查等</a:t>
            </a:r>
            <a:endParaRPr lang="zh-CN" altLang="en-US"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类型检查：检测每个算符是否具有匹配的运算对象</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可能会增加强制类型转换</a:t>
            </a:r>
            <a:endParaRPr lang="en-US" altLang="zh-CN"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由语义分析程序计算得到的额外信息（如数据类型）等作为属性（</a:t>
            </a:r>
            <a:r>
              <a:rPr lang="en-US" altLang="zh-CN" b="1" dirty="0">
                <a:ea typeface="宋体" panose="02010600030101010101" pitchFamily="2" charset="-122"/>
              </a:rPr>
              <a:t>attribute），</a:t>
            </a:r>
            <a:r>
              <a:rPr lang="zh-CN" altLang="en-US" b="1" dirty="0">
                <a:ea typeface="宋体" panose="02010600030101010101" pitchFamily="2" charset="-122"/>
              </a:rPr>
              <a:t>填加到语法树中</a:t>
            </a:r>
            <a:endParaRPr lang="zh-CN" altLang="en-US" b="1" dirty="0">
              <a:ea typeface="宋体" panose="02010600030101010101" pitchFamily="2"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graphicFrame>
        <p:nvGraphicFramePr>
          <p:cNvPr id="32770" name="Object 1029"/>
          <p:cNvGraphicFramePr>
            <a:graphicFrameLocks noChangeAspect="1"/>
          </p:cNvGraphicFramePr>
          <p:nvPr/>
        </p:nvGraphicFramePr>
        <p:xfrm>
          <a:off x="1524000" y="1905000"/>
          <a:ext cx="6096000" cy="4116388"/>
        </p:xfrm>
        <a:graphic>
          <a:graphicData uri="http://schemas.openxmlformats.org/presentationml/2006/ole">
            <mc:AlternateContent xmlns:mc="http://schemas.openxmlformats.org/markup-compatibility/2006">
              <mc:Choice xmlns:v="urn:schemas-microsoft-com:vml" Requires="v">
                <p:oleObj spid="_x0000_s3076" name="" r:id="rId1" imgW="9715500" imgH="5435600" progId="Visio.Drawing.11">
                  <p:embed/>
                </p:oleObj>
              </mc:Choice>
              <mc:Fallback>
                <p:oleObj name="" r:id="rId1" imgW="9715500" imgH="5435600" progId="Visio.Drawing.11">
                  <p:embed/>
                  <p:pic>
                    <p:nvPicPr>
                      <p:cNvPr id="0" name="图片 3075"/>
                      <p:cNvPicPr/>
                      <p:nvPr/>
                    </p:nvPicPr>
                    <p:blipFill>
                      <a:blip r:embed="rId2"/>
                      <a:stretch>
                        <a:fillRect/>
                      </a:stretch>
                    </p:blipFill>
                    <p:spPr>
                      <a:xfrm>
                        <a:off x="1524000" y="1905000"/>
                        <a:ext cx="6096000" cy="4116388"/>
                      </a:xfrm>
                      <a:prstGeom prst="rect">
                        <a:avLst/>
                      </a:prstGeom>
                      <a:noFill/>
                      <a:ln w="38100">
                        <a:noFill/>
                        <a:miter/>
                      </a:ln>
                    </p:spPr>
                  </p:pic>
                </p:oleObj>
              </mc:Fallback>
            </mc:AlternateContent>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34818" name="Rectangle 3"/>
          <p:cNvSpPr>
            <a:spLocks noGrp="1"/>
          </p:cNvSpPr>
          <p:nvPr>
            <p:ph idx="1"/>
          </p:nvPr>
        </p:nvSpPr>
        <p:spPr>
          <a:xfrm>
            <a:off x="990600" y="1600200"/>
            <a:ext cx="7391400" cy="4648200"/>
          </a:xfrm>
          <a:ln/>
        </p:spPr>
        <p:txBody>
          <a:bodyPr vert="horz" wrap="square" lIns="92075" tIns="46038" rIns="92075" bIns="46038" anchor="t" anchorCtr="0"/>
          <a:p>
            <a:pPr lvl="1"/>
            <a:r>
              <a:rPr lang="zh-CN" altLang="en-US" b="1" dirty="0">
                <a:ea typeface="宋体" panose="02010600030101010101" pitchFamily="2" charset="-122"/>
              </a:rPr>
              <a:t>中间代码生成</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把一个源程序翻译成目标代码的过程中，一个编译器可能构造出一个或多个中间表示</a:t>
            </a:r>
            <a:endParaRPr lang="en-US" altLang="zh-CN"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不同编译器选择的中间代码可能不同</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对机器的一种抽象</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要易于生成，且能够轻松翻译为目标机器语言</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三地址代码是一种常用的低层表示</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每个指令具有三个运算分量</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每条赋值指令右部只能有一个运算符，指令次序决定了运算完成的顺序</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编译器应该生成一个临时名字存放一个三地址指令计算得到的值</a:t>
            </a:r>
            <a:endParaRPr lang="en-US" altLang="zh-CN" b="1" dirty="0">
              <a:ea typeface="宋体" panose="02010600030101010101" pitchFamily="2" charset="-122"/>
            </a:endParaRPr>
          </a:p>
          <a:p>
            <a:pPr lvl="3">
              <a:buFont typeface="Wingdings" panose="05000000000000000000" pitchFamily="2" charset="2"/>
              <a:buChar char="§"/>
            </a:pPr>
            <a:r>
              <a:rPr lang="zh-CN" altLang="en-US" b="1" dirty="0">
                <a:ea typeface="宋体" panose="02010600030101010101" pitchFamily="2" charset="-122"/>
              </a:rPr>
              <a:t>有些指令，其运算对象可以少于</a:t>
            </a:r>
            <a:r>
              <a:rPr lang="en-US" altLang="zh-CN" b="1" dirty="0">
                <a:ea typeface="宋体" panose="02010600030101010101" pitchFamily="2" charset="-122"/>
              </a:rPr>
              <a:t>3</a:t>
            </a:r>
            <a:r>
              <a:rPr lang="zh-CN" altLang="en-US" b="1" dirty="0">
                <a:ea typeface="宋体" panose="02010600030101010101" pitchFamily="2" charset="-122"/>
              </a:rPr>
              <a:t>个</a:t>
            </a:r>
            <a:endParaRPr lang="en-US" altLang="zh-CN" b="1" dirty="0">
              <a:ea typeface="宋体" panose="02010600030101010101" pitchFamily="2" charset="-122"/>
            </a:endParaRPr>
          </a:p>
          <a:p>
            <a:pPr lvl="3">
              <a:buFont typeface="Wingdings" panose="05000000000000000000" pitchFamily="2" charset="2"/>
              <a:buChar char="§"/>
            </a:pPr>
            <a:endParaRPr lang="en-US" altLang="zh-CN" b="1" dirty="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36866" name="Rectangle 3"/>
          <p:cNvSpPr>
            <a:spLocks noGrp="1"/>
          </p:cNvSpPr>
          <p:nvPr>
            <p:ph idx="1"/>
          </p:nvPr>
        </p:nvSpPr>
        <p:spPr>
          <a:xfrm>
            <a:off x="990600" y="1600200"/>
            <a:ext cx="7391400" cy="4648200"/>
          </a:xfrm>
          <a:ln/>
        </p:spPr>
        <p:txBody>
          <a:bodyPr vert="horz" wrap="square" lIns="92075" tIns="46038" rIns="92075" bIns="46038" anchor="t" anchorCtr="0"/>
          <a:p>
            <a:pPr lvl="2">
              <a:buNone/>
            </a:pPr>
            <a:r>
              <a:rPr lang="zh-CN" altLang="en-US" b="1" dirty="0">
                <a:ea typeface="宋体" panose="02010600030101010101" pitchFamily="2" charset="-122"/>
              </a:rPr>
              <a:t>本例生成的三地址代码序列</a:t>
            </a:r>
            <a:endParaRPr lang="en-US" altLang="zh-CN" b="1" dirty="0">
              <a:ea typeface="宋体" panose="02010600030101010101" pitchFamily="2" charset="-122"/>
            </a:endParaRPr>
          </a:p>
          <a:p>
            <a:pPr lvl="2">
              <a:buNone/>
            </a:pPr>
            <a:r>
              <a:rPr lang="en-US" altLang="zh-CN" b="1" dirty="0">
                <a:ea typeface="宋体" panose="02010600030101010101" pitchFamily="2" charset="-122"/>
              </a:rPr>
              <a:t>t1</a:t>
            </a:r>
            <a:r>
              <a:rPr lang="zh-CN" altLang="en-US" b="1" dirty="0">
                <a:ea typeface="宋体" panose="02010600030101010101" pitchFamily="2" charset="-122"/>
              </a:rPr>
              <a:t> </a:t>
            </a:r>
            <a:r>
              <a:rPr lang="en-US" altLang="zh-CN" b="1" dirty="0">
                <a:ea typeface="宋体" panose="02010600030101010101" pitchFamily="2" charset="-122"/>
              </a:rPr>
              <a:t>= inttofloat( 60 )</a:t>
            </a:r>
            <a:endParaRPr lang="en-US" altLang="zh-CN" b="1" dirty="0">
              <a:ea typeface="宋体" panose="02010600030101010101" pitchFamily="2" charset="-122"/>
            </a:endParaRPr>
          </a:p>
          <a:p>
            <a:pPr lvl="2">
              <a:buNone/>
            </a:pPr>
            <a:r>
              <a:rPr lang="en-US" altLang="zh-CN" b="1" dirty="0">
                <a:ea typeface="宋体" panose="02010600030101010101" pitchFamily="2" charset="-122"/>
              </a:rPr>
              <a:t>t2 = id3 * t1</a:t>
            </a:r>
            <a:endParaRPr lang="en-US" altLang="zh-CN" b="1" dirty="0">
              <a:ea typeface="宋体" panose="02010600030101010101" pitchFamily="2" charset="-122"/>
            </a:endParaRPr>
          </a:p>
          <a:p>
            <a:pPr lvl="2">
              <a:buNone/>
            </a:pPr>
            <a:r>
              <a:rPr lang="en-US" altLang="zh-CN" b="1" dirty="0">
                <a:ea typeface="宋体" panose="02010600030101010101" pitchFamily="2" charset="-122"/>
              </a:rPr>
              <a:t>t3 = id2 + t2</a:t>
            </a:r>
            <a:endParaRPr lang="en-US" altLang="zh-CN" b="1" dirty="0">
              <a:ea typeface="宋体" panose="02010600030101010101" pitchFamily="2" charset="-122"/>
            </a:endParaRPr>
          </a:p>
          <a:p>
            <a:pPr lvl="2">
              <a:buNone/>
            </a:pPr>
            <a:r>
              <a:rPr lang="en-US" altLang="zh-CN" b="1" dirty="0">
                <a:ea typeface="宋体" panose="02010600030101010101" pitchFamily="2" charset="-122"/>
              </a:rPr>
              <a:t>id1 = t3</a:t>
            </a:r>
            <a:endParaRPr lang="zh-CN" altLang="en-US" b="1" dirty="0">
              <a:ea typeface="宋体" panose="02010600030101010101" pitchFamily="2"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4100" name="Rectangle 3"/>
          <p:cNvSpPr>
            <a:spLocks noGrp="1" noChangeArrowheads="1"/>
          </p:cNvSpPr>
          <p:nvPr>
            <p:ph idx="1"/>
          </p:nvPr>
        </p:nvSpPr>
        <p:spPr>
          <a:xfrm>
            <a:off x="990600" y="1600200"/>
            <a:ext cx="7391400" cy="4648200"/>
          </a:xfrm>
        </p:spPr>
        <p:txBody>
          <a:bodyPr vert="horz" wrap="square" lIns="92075" tIns="46038" rIns="92075" bIns="46038" numCol="1" anchor="t" anchorCtr="0" compatLnSpc="1"/>
          <a:lstStyle/>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代码优化</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机器无关优化：改变中间代码，得到更好的目标代码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什么是“更好”？</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生成优质目标代码的一个合理方法：使用一个简单的中间代码生成算法，其后再进行代码优化</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将可以编译时刻完成的工作尽可能在在编译时刻完成是一种常用的优化方式</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如将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60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直接变成</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60.0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，这样可以消除</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ea"/>
              </a:rPr>
              <a:t>inttofloat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运算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t1 = id3 * 60.0</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id1 = id2 + t1</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rPr>
              <a:t>不同的编译器，其优化存在很大的差异</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Wingdings" panose="05000000000000000000" pitchFamily="2" charset="2"/>
              <a:buChar char="§"/>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40962" name="Rectangle 3"/>
          <p:cNvSpPr>
            <a:spLocks noGrp="1"/>
          </p:cNvSpPr>
          <p:nvPr>
            <p:ph idx="1"/>
          </p:nvPr>
        </p:nvSpPr>
        <p:spPr>
          <a:xfrm>
            <a:off x="990600" y="1600200"/>
            <a:ext cx="7391400" cy="4648200"/>
          </a:xfrm>
          <a:ln/>
        </p:spPr>
        <p:txBody>
          <a:bodyPr vert="horz" wrap="square" lIns="92075" tIns="46038" rIns="92075" bIns="46038" anchor="t" anchorCtr="0"/>
          <a:p>
            <a:pPr lvl="1"/>
            <a:r>
              <a:rPr lang="zh-CN" altLang="en-US" b="1" dirty="0">
                <a:ea typeface="宋体" panose="02010600030101010101" pitchFamily="2" charset="-122"/>
              </a:rPr>
              <a:t>代码生成器（</a:t>
            </a:r>
            <a:r>
              <a:rPr lang="en-US" altLang="zh-CN" b="1" dirty="0">
                <a:ea typeface="宋体" panose="02010600030101010101" pitchFamily="2" charset="-122"/>
              </a:rPr>
              <a:t>code generator）：</a:t>
            </a:r>
            <a:endParaRPr lang="en-US" altLang="zh-CN" b="1" dirty="0">
              <a:ea typeface="宋体" panose="02010600030101010101" pitchFamily="2" charset="-122"/>
            </a:endParaRPr>
          </a:p>
          <a:p>
            <a:pPr lvl="2"/>
            <a:r>
              <a:rPr lang="zh-CN" altLang="en-US" b="1" dirty="0">
                <a:ea typeface="宋体" panose="02010600030101010101" pitchFamily="2" charset="-122"/>
              </a:rPr>
              <a:t>将源程序对应的中间表示映射到目标语言，生成目标代码</a:t>
            </a:r>
            <a:endParaRPr lang="en-US" altLang="zh-CN" b="1" dirty="0">
              <a:ea typeface="宋体" panose="02010600030101010101" pitchFamily="2" charset="-122"/>
            </a:endParaRPr>
          </a:p>
          <a:p>
            <a:pPr lvl="2"/>
            <a:r>
              <a:rPr lang="zh-CN" altLang="en-US" b="1" dirty="0">
                <a:ea typeface="宋体" panose="02010600030101010101" pitchFamily="2" charset="-122"/>
              </a:rPr>
              <a:t>如果目标语言是机器代码，变量映射为存储位置</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目标机器的特性成为主要影响因素</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寄存器的合理使用是一个重要问题</a:t>
            </a:r>
            <a:endParaRPr lang="zh-CN" altLang="en-US" b="1" dirty="0">
              <a:ea typeface="宋体" panose="02010600030101010101" pitchFamily="2" charset="-122"/>
            </a:endParaRPr>
          </a:p>
          <a:p>
            <a:pPr lvl="2">
              <a:buNone/>
            </a:pPr>
            <a:r>
              <a:rPr lang="en-US" altLang="zh-CN" b="1" dirty="0">
                <a:ea typeface="宋体" panose="02010600030101010101" pitchFamily="2" charset="-122"/>
              </a:rPr>
              <a:t>LDF	R2,  id3</a:t>
            </a:r>
            <a:endParaRPr lang="en-US" altLang="zh-CN" b="1" dirty="0">
              <a:ea typeface="宋体" panose="02010600030101010101" pitchFamily="2" charset="-122"/>
            </a:endParaRPr>
          </a:p>
          <a:p>
            <a:pPr lvl="2">
              <a:buNone/>
            </a:pPr>
            <a:r>
              <a:rPr lang="en-US" altLang="zh-CN" b="1" dirty="0">
                <a:ea typeface="宋体" panose="02010600030101010101" pitchFamily="2" charset="-122"/>
              </a:rPr>
              <a:t>MULF	R2,  R2,  #60.0</a:t>
            </a:r>
            <a:endParaRPr lang="en-US" altLang="zh-CN" b="1" dirty="0">
              <a:ea typeface="宋体" panose="02010600030101010101" pitchFamily="2" charset="-122"/>
            </a:endParaRPr>
          </a:p>
          <a:p>
            <a:pPr lvl="2">
              <a:buNone/>
            </a:pPr>
            <a:r>
              <a:rPr lang="en-US" altLang="zh-CN" b="1" dirty="0">
                <a:ea typeface="宋体" panose="02010600030101010101" pitchFamily="2" charset="-122"/>
              </a:rPr>
              <a:t>LDF	R1,  id2</a:t>
            </a:r>
            <a:endParaRPr lang="en-US" altLang="zh-CN" b="1" dirty="0">
              <a:ea typeface="宋体" panose="02010600030101010101" pitchFamily="2" charset="-122"/>
            </a:endParaRPr>
          </a:p>
          <a:p>
            <a:pPr lvl="2">
              <a:buNone/>
            </a:pPr>
            <a:r>
              <a:rPr lang="en-US" altLang="zh-CN" b="1" dirty="0">
                <a:ea typeface="宋体" panose="02010600030101010101" pitchFamily="2" charset="-122"/>
              </a:rPr>
              <a:t>ADDF	R1,  R1,  R2</a:t>
            </a:r>
            <a:endParaRPr lang="en-US" altLang="zh-CN" b="1" dirty="0">
              <a:ea typeface="宋体" panose="02010600030101010101" pitchFamily="2" charset="-122"/>
            </a:endParaRPr>
          </a:p>
          <a:p>
            <a:pPr lvl="2">
              <a:buNone/>
            </a:pPr>
            <a:r>
              <a:rPr lang="en-US" altLang="zh-CN" b="1" dirty="0">
                <a:ea typeface="宋体" panose="02010600030101010101" pitchFamily="2" charset="-122"/>
              </a:rPr>
              <a:t>STF	id1,  R1</a:t>
            </a:r>
            <a:endParaRPr lang="zh-CN" altLang="en-US" b="1"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1026"/>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编译的阶段（</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43010" name="Rectangle 1027"/>
          <p:cNvSpPr>
            <a:spLocks noGrp="1"/>
          </p:cNvSpPr>
          <p:nvPr>
            <p:ph idx="1"/>
          </p:nvPr>
        </p:nvSpPr>
        <p:spPr>
          <a:xfrm>
            <a:off x="990600" y="1600200"/>
            <a:ext cx="7613650" cy="4648200"/>
          </a:xfrm>
          <a:ln/>
        </p:spPr>
        <p:txBody>
          <a:bodyPr vert="horz" wrap="square" lIns="92075" tIns="46038" rIns="92075" bIns="46038" anchor="t" anchorCtr="0"/>
          <a:p>
            <a:pPr lvl="1"/>
            <a:r>
              <a:rPr lang="zh-CN" altLang="en-US" b="1" dirty="0">
                <a:ea typeface="宋体" panose="02010600030101010101" pitchFamily="2" charset="-122"/>
              </a:rPr>
              <a:t>目标代码优化器（</a:t>
            </a:r>
            <a:r>
              <a:rPr lang="en-US" altLang="zh-CN" b="1" dirty="0">
                <a:ea typeface="宋体" panose="02010600030101010101" pitchFamily="2" charset="-122"/>
              </a:rPr>
              <a:t>target code optimizer）：</a:t>
            </a:r>
            <a:r>
              <a:rPr lang="zh-CN" altLang="en-US" b="1" dirty="0">
                <a:ea typeface="宋体" panose="02010600030101010101" pitchFamily="2" charset="-122"/>
              </a:rPr>
              <a:t>改进目标代码</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选择编址模式提高性能</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将速度慢的指令换为速度快的指令</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删除多余的代码</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寄存器优化</a:t>
            </a:r>
            <a:endParaRPr lang="zh-CN" altLang="en-US" b="1" dirty="0">
              <a:ea typeface="宋体" panose="02010600030101010101" pitchFamily="2" charset="-122"/>
            </a:endParaRPr>
          </a:p>
          <a:p>
            <a:pPr lvl="2">
              <a:buFont typeface="Wingdings" panose="05000000000000000000" pitchFamily="2" charset="2"/>
              <a:buChar char="§"/>
            </a:pPr>
            <a:r>
              <a:rPr lang="zh-CN" altLang="en-US" b="1" dirty="0">
                <a:ea typeface="宋体" panose="02010600030101010101" pitchFamily="2" charset="-122"/>
              </a:rPr>
              <a:t>软流水等</a:t>
            </a:r>
            <a:endParaRPr lang="en-US" altLang="zh-CN" b="1" dirty="0">
              <a:ea typeface="宋体" panose="02010600030101010101" pitchFamily="2" charset="-122"/>
            </a:endParaRPr>
          </a:p>
          <a:p>
            <a:pPr lvl="1"/>
            <a:r>
              <a:rPr lang="zh-CN" altLang="en-US" b="1" dirty="0">
                <a:ea typeface="宋体" panose="02010600030101010101" pitchFamily="2" charset="-122"/>
              </a:rPr>
              <a:t>符号表的管理</a:t>
            </a:r>
            <a:endParaRPr lang="en-US" altLang="zh-CN" b="1" dirty="0">
              <a:ea typeface="宋体" panose="02010600030101010101" pitchFamily="2" charset="-122"/>
            </a:endParaRPr>
          </a:p>
          <a:p>
            <a:pPr lvl="2"/>
            <a:r>
              <a:rPr lang="zh-CN" altLang="en-US" b="1" dirty="0">
                <a:ea typeface="宋体" panose="02010600030101010101" pitchFamily="2" charset="-122"/>
              </a:rPr>
              <a:t>每个名字一个表项，其中信息对存储管理等很重要</a:t>
            </a:r>
            <a:endParaRPr lang="en-US" altLang="zh-CN" b="1" dirty="0">
              <a:ea typeface="宋体" panose="02010600030101010101" pitchFamily="2" charset="-122"/>
            </a:endParaRPr>
          </a:p>
          <a:p>
            <a:pPr lvl="1"/>
            <a:r>
              <a:rPr lang="zh-CN" altLang="en-US" b="1" dirty="0">
                <a:ea typeface="宋体" panose="02010600030101010101" pitchFamily="2" charset="-122"/>
              </a:rPr>
              <a:t>将多个阶段组合成趟（</a:t>
            </a:r>
            <a:r>
              <a:rPr lang="en-US" altLang="zh-CN" b="1" dirty="0">
                <a:ea typeface="宋体" panose="02010600030101010101" pitchFamily="2" charset="-122"/>
              </a:rPr>
              <a:t>pass</a:t>
            </a:r>
            <a:r>
              <a:rPr lang="zh-CN" altLang="en-US" b="1" dirty="0">
                <a:ea typeface="宋体" panose="02010600030101010101" pitchFamily="2" charset="-122"/>
              </a:rPr>
              <a:t>，或称为“遍”）</a:t>
            </a:r>
            <a:endParaRPr lang="en-US" altLang="zh-CN" b="1" dirty="0">
              <a:ea typeface="宋体" panose="02010600030101010101" pitchFamily="2" charset="-122"/>
            </a:endParaRPr>
          </a:p>
          <a:p>
            <a:pPr lvl="2"/>
            <a:r>
              <a:rPr lang="zh-CN" altLang="en-US" b="1" dirty="0">
                <a:ea typeface="宋体" panose="02010600030101010101" pitchFamily="2" charset="-122"/>
              </a:rPr>
              <a:t>每趟读入一个输入文件，并产生一个输出文件，实现对程序的一趟处理</a:t>
            </a:r>
            <a:endParaRPr lang="zh-CN" altLang="en-US" b="1" dirty="0">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Picture 2"/>
          <p:cNvPicPr>
            <a:picLocks noChangeAspect="1"/>
          </p:cNvPicPr>
          <p:nvPr/>
        </p:nvPicPr>
        <p:blipFill>
          <a:blip r:embed="rId1"/>
          <a:stretch>
            <a:fillRect/>
          </a:stretch>
        </p:blipFill>
        <p:spPr>
          <a:xfrm>
            <a:off x="1447800" y="0"/>
            <a:ext cx="4598988" cy="6858000"/>
          </a:xfrm>
          <a:prstGeom prst="rect">
            <a:avLst/>
          </a:prstGeom>
          <a:noFill/>
          <a:ln w="9525">
            <a:noFill/>
          </a:ln>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编译器构造工具</a:t>
            </a:r>
            <a:endParaRPr lang="zh-CN" altLang="en-US" dirty="0">
              <a:latin typeface="宋体" panose="02010600030101010101" pitchFamily="2" charset="-122"/>
              <a:ea typeface="宋体" panose="02010600030101010101" pitchFamily="2" charset="-122"/>
            </a:endParaRPr>
          </a:p>
        </p:txBody>
      </p:sp>
      <p:sp>
        <p:nvSpPr>
          <p:cNvPr id="46082" name="Rectangle 3"/>
          <p:cNvSpPr>
            <a:spLocks noGrp="1"/>
          </p:cNvSpPr>
          <p:nvPr>
            <p:ph idx="1"/>
          </p:nvPr>
        </p:nvSpPr>
        <p:spPr>
          <a:xfrm>
            <a:off x="990600" y="1600200"/>
            <a:ext cx="7391400" cy="4648200"/>
          </a:xfrm>
          <a:ln/>
        </p:spPr>
        <p:txBody>
          <a:bodyPr vert="horz" wrap="square" lIns="92075" tIns="46038" rIns="92075" bIns="46038" anchor="t" anchorCtr="0"/>
          <a:p>
            <a:r>
              <a:rPr lang="zh-CN" altLang="en-US" sz="2200" b="1" dirty="0">
                <a:ea typeface="宋体" panose="02010600030101010101" pitchFamily="2" charset="-122"/>
              </a:rPr>
              <a:t>编译器是一个复杂的系统软件，真实编译器的开发需要大量的工具的支持，包括常规的软件开发类工具，以及编译器开发特色的构造工具</a:t>
            </a:r>
            <a:endParaRPr lang="zh-CN" altLang="en-US" sz="2200" b="1" dirty="0">
              <a:ea typeface="宋体" panose="02010600030101010101" pitchFamily="2" charset="-122"/>
            </a:endParaRPr>
          </a:p>
          <a:p>
            <a:r>
              <a:rPr lang="zh-CN" altLang="en-US" sz="2200" b="1" dirty="0">
                <a:ea typeface="宋体" panose="02010600030101010101" pitchFamily="2" charset="-122"/>
              </a:rPr>
              <a:t>特色工具：使用专用语言描述和实现特定的组件，本身算法可能很复杂，但可以对编译器开发者隐藏细节</a:t>
            </a:r>
            <a:endParaRPr lang="en-US" altLang="zh-CN" sz="2200" b="1" dirty="0">
              <a:ea typeface="宋体" panose="02010600030101010101" pitchFamily="2" charset="-122"/>
            </a:endParaRPr>
          </a:p>
          <a:p>
            <a:r>
              <a:rPr lang="zh-CN" altLang="en-US" sz="2200" b="1" dirty="0">
                <a:ea typeface="宋体" panose="02010600030101010101" pitchFamily="2" charset="-122"/>
              </a:rPr>
              <a:t>常用的工具：</a:t>
            </a:r>
            <a:endParaRPr lang="zh-CN" altLang="en-US"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语法分析器的生成器，如</a:t>
            </a:r>
            <a:r>
              <a:rPr lang="en-US" altLang="zh-CN" sz="2200" b="1" dirty="0">
                <a:ea typeface="宋体" panose="02010600030101010101" pitchFamily="2" charset="-122"/>
              </a:rPr>
              <a:t>YACC</a:t>
            </a:r>
            <a:endParaRPr lang="zh-CN" altLang="en-US"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扫描器的生成器，如</a:t>
            </a:r>
            <a:r>
              <a:rPr lang="en-US" altLang="zh-CN" sz="2200" b="1" dirty="0">
                <a:ea typeface="宋体" panose="02010600030101010101" pitchFamily="2" charset="-122"/>
              </a:rPr>
              <a:t>Lex</a:t>
            </a:r>
            <a:endParaRPr lang="en-US" altLang="zh-CN"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语法制导翻译的引擎</a:t>
            </a:r>
            <a:endParaRPr lang="en-US" altLang="zh-CN"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代码生成器的生成器，基于规则生成代码生成器</a:t>
            </a:r>
            <a:endParaRPr lang="en-US" altLang="zh-CN"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数据流分析引擎</a:t>
            </a:r>
            <a:endParaRPr lang="en-US" altLang="zh-CN" sz="2200" b="1" dirty="0">
              <a:ea typeface="宋体" panose="02010600030101010101" pitchFamily="2" charset="-122"/>
            </a:endParaRPr>
          </a:p>
          <a:p>
            <a:pPr marL="971550" lvl="1" indent="-457200">
              <a:buFontTx/>
              <a:buAutoNum type="circleNumDbPlain"/>
            </a:pPr>
            <a:r>
              <a:rPr lang="zh-CN" altLang="en-US" sz="2200" b="1" dirty="0">
                <a:ea typeface="宋体" panose="02010600030101010101" pitchFamily="2" charset="-122"/>
              </a:rPr>
              <a:t>编译器构造工具集：提供了构造编译器的不同阶段的例程地完整集合</a:t>
            </a:r>
            <a:endParaRPr lang="zh-CN" altLang="en-US" sz="2200" b="1" dirty="0">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高级程序设计语言发展简介（1）</a:t>
            </a:r>
            <a:endParaRPr lang="zh-CN" altLang="en-US" dirty="0">
              <a:latin typeface="宋体" panose="02010600030101010101" pitchFamily="2" charset="-122"/>
              <a:ea typeface="宋体" panose="02010600030101010101" pitchFamily="2" charset="-122"/>
            </a:endParaRPr>
          </a:p>
        </p:txBody>
      </p:sp>
      <p:sp>
        <p:nvSpPr>
          <p:cNvPr id="48130" name="Rectangle 3"/>
          <p:cNvSpPr>
            <a:spLocks noGrp="1"/>
          </p:cNvSpPr>
          <p:nvPr>
            <p:ph idx="1"/>
          </p:nvPr>
        </p:nvSpPr>
        <p:spPr>
          <a:xfrm>
            <a:off x="755650" y="1371600"/>
            <a:ext cx="8064500" cy="4794250"/>
          </a:xfrm>
          <a:ln/>
        </p:spPr>
        <p:txBody>
          <a:bodyPr vert="horz" wrap="square" lIns="92075" tIns="46038" rIns="92075" bIns="46038" anchor="t" anchorCtr="0"/>
          <a:p>
            <a:pPr>
              <a:lnSpc>
                <a:spcPct val="90000"/>
              </a:lnSpc>
            </a:pPr>
            <a:r>
              <a:rPr lang="zh-CN" altLang="en-US" sz="2200" b="1" dirty="0">
                <a:latin typeface="宋体" panose="02010600030101010101" pitchFamily="2" charset="-122"/>
                <a:ea typeface="宋体" panose="02010600030101010101" pitchFamily="2" charset="-122"/>
              </a:rPr>
              <a:t>发展：（从时间上概括）</a:t>
            </a:r>
            <a:endParaRPr lang="zh-CN" altLang="en-US" sz="2200" b="1" dirty="0">
              <a:latin typeface="宋体" panose="02010600030101010101" pitchFamily="2" charset="-122"/>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起始阶段（</a:t>
            </a:r>
            <a:r>
              <a:rPr lang="en-US" altLang="zh-CN" sz="2000" b="1" dirty="0">
                <a:latin typeface="宋体" panose="02010600030101010101" pitchFamily="2" charset="-122"/>
                <a:ea typeface="宋体" panose="02010600030101010101" pitchFamily="2" charset="-122"/>
              </a:rPr>
              <a:t>20</a:t>
            </a:r>
            <a:r>
              <a:rPr lang="zh-CN" altLang="en-US" sz="2000" b="1" dirty="0">
                <a:latin typeface="宋体" panose="02010600030101010101" pitchFamily="2" charset="-122"/>
                <a:ea typeface="宋体" panose="02010600030101010101" pitchFamily="2" charset="-122"/>
              </a:rPr>
              <a:t>世纪</a:t>
            </a:r>
            <a:r>
              <a:rPr lang="en-US" altLang="zh-CN" sz="2000" b="1" dirty="0">
                <a:latin typeface="宋体" panose="02010600030101010101" pitchFamily="2" charset="-122"/>
                <a:ea typeface="宋体" panose="02010600030101010101" pitchFamily="2" charset="-122"/>
              </a:rPr>
              <a:t>40~50</a:t>
            </a:r>
            <a:r>
              <a:rPr lang="zh-CN" altLang="en-US" sz="2000" b="1" dirty="0">
                <a:latin typeface="宋体" panose="02010600030101010101" pitchFamily="2" charset="-122"/>
                <a:ea typeface="宋体" panose="02010600030101010101" pitchFamily="2" charset="-122"/>
              </a:rPr>
              <a:t>年代）</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机器语言：编程困难，易出错，且难于维护</a:t>
            </a:r>
            <a:endParaRPr lang="en-US" altLang="zh-CN"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汇编语言：助记符、宏指令，程序开发容易一些</a:t>
            </a:r>
            <a:endParaRPr lang="en-US" altLang="zh-CN" sz="2000" b="1" dirty="0">
              <a:latin typeface="宋体" panose="02010600030101010101" pitchFamily="2" charset="-122"/>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大型机时代（20世纪50年代~70年代）</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硬件资源昂贵，程序的效率是首要的问题</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针对具体的应用领域、硬件资源，程序设计语言提供必要的高效语言特征</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编译技术在60、70年代开始成熟</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代表语言</a:t>
            </a:r>
            <a:r>
              <a:rPr lang="en-US" altLang="zh-CN" sz="2000" b="1" dirty="0">
                <a:latin typeface="宋体" panose="02010600030101010101" pitchFamily="2" charset="-122"/>
                <a:ea typeface="宋体" panose="02010600030101010101" pitchFamily="2" charset="-122"/>
              </a:rPr>
              <a:t>FORTRAN、COBOL</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LISP</a:t>
            </a:r>
            <a:r>
              <a:rPr lang="zh-CN" altLang="en-US" sz="2000" b="1" dirty="0">
                <a:latin typeface="宋体" panose="02010600030101010101" pitchFamily="2" charset="-122"/>
                <a:ea typeface="宋体" panose="02010600030101010101" pitchFamily="2" charset="-122"/>
              </a:rPr>
              <a:t>等（</a:t>
            </a:r>
            <a:r>
              <a:rPr lang="en-US" altLang="zh-CN" sz="2000" b="1" dirty="0">
                <a:latin typeface="宋体" panose="02010600030101010101" pitchFamily="2" charset="-122"/>
                <a:ea typeface="宋体" panose="02010600030101010101" pitchFamily="2" charset="-122"/>
              </a:rPr>
              <a:t>50</a:t>
            </a:r>
            <a:r>
              <a:rPr lang="zh-CN" altLang="en-US" sz="2000" b="1" dirty="0">
                <a:latin typeface="宋体" panose="02010600030101010101" pitchFamily="2" charset="-122"/>
                <a:ea typeface="宋体" panose="02010600030101010101" pitchFamily="2" charset="-122"/>
              </a:rPr>
              <a:t>年代后期出现）</a:t>
            </a:r>
            <a:endParaRPr lang="zh-CN" altLang="en-US" sz="20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语言的标准化：</a:t>
            </a:r>
            <a:endParaRPr lang="zh-CN" altLang="en-US" sz="2000"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方言的问题的解决</a:t>
            </a:r>
            <a:endParaRPr lang="zh-CN" altLang="en-US" sz="1800"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标准提出的时机</a:t>
            </a:r>
            <a:endParaRPr lang="zh-CN" altLang="en-US" sz="1800"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v"/>
            </a:pPr>
            <a:r>
              <a:rPr lang="zh-CN" altLang="en-US" sz="1800" b="1" dirty="0">
                <a:latin typeface="宋体" panose="02010600030101010101" pitchFamily="2" charset="-122"/>
                <a:ea typeface="宋体" panose="02010600030101010101" pitchFamily="2" charset="-122"/>
              </a:rPr>
              <a:t>标准的更新</a:t>
            </a:r>
            <a:endParaRPr lang="zh-CN" altLang="en-US" sz="1800"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语言为了保持向后兼容，以充分利用已有的程序资源，必须保留已过时的语言成分，对新的语言特征的使用受到限制</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高级程序设计语言发展简介（2）</a:t>
            </a:r>
            <a:endParaRPr lang="zh-CN" altLang="en-US" dirty="0">
              <a:latin typeface="宋体" panose="02010600030101010101" pitchFamily="2" charset="-122"/>
              <a:ea typeface="宋体" panose="02010600030101010101" pitchFamily="2" charset="-122"/>
            </a:endParaRPr>
          </a:p>
        </p:txBody>
      </p:sp>
      <p:sp>
        <p:nvSpPr>
          <p:cNvPr id="50178" name="Rectangle 3"/>
          <p:cNvSpPr>
            <a:spLocks noGrp="1"/>
          </p:cNvSpPr>
          <p:nvPr>
            <p:ph idx="1"/>
          </p:nvPr>
        </p:nvSpPr>
        <p:spPr>
          <a:xfrm>
            <a:off x="990600" y="1600200"/>
            <a:ext cx="7391400" cy="4191000"/>
          </a:xfrm>
          <a:ln/>
        </p:spPr>
        <p:txBody>
          <a:bodyPr vert="horz" wrap="square" lIns="92075" tIns="46038" rIns="92075" bIns="46038" anchor="t" anchorCtr="0"/>
          <a:p>
            <a:pPr lvl="1"/>
            <a:r>
              <a:rPr lang="en-US" altLang="zh-CN" b="1" dirty="0">
                <a:latin typeface="宋体" panose="02010600030101010101" pitchFamily="2" charset="-122"/>
                <a:ea typeface="宋体" panose="02010600030101010101" pitchFamily="2" charset="-122"/>
              </a:rPr>
              <a:t>PC</a:t>
            </a:r>
            <a:r>
              <a:rPr lang="zh-CN" altLang="en-US" b="1" dirty="0">
                <a:latin typeface="宋体" panose="02010600030101010101" pitchFamily="2" charset="-122"/>
                <a:ea typeface="宋体" panose="02010600030101010101" pitchFamily="2" charset="-122"/>
              </a:rPr>
              <a:t>机时代（20世纪70年代始）</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软件日益成为重要的角色，软件开发、测试、维护、移植等的代价越来越大</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用户定义类型的概念在60年代得到发展，后来在</a:t>
            </a:r>
            <a:r>
              <a:rPr lang="en-US" altLang="zh-CN" b="1" dirty="0">
                <a:latin typeface="宋体" panose="02010600030101010101" pitchFamily="2" charset="-122"/>
                <a:ea typeface="宋体" panose="02010600030101010101" pitchFamily="2" charset="-122"/>
              </a:rPr>
              <a:t>Simula67</a:t>
            </a:r>
            <a:r>
              <a:rPr lang="zh-CN" altLang="en-US" b="1" dirty="0">
                <a:latin typeface="宋体" panose="02010600030101010101" pitchFamily="2" charset="-122"/>
                <a:ea typeface="宋体" panose="02010600030101010101" pitchFamily="2" charset="-122"/>
              </a:rPr>
              <a:t>中首次引入类的概念</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结构化的程序设计</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程序的抽象</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面向对象的技术</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集成的交互式图形化编程环境</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C/C++、Pascal、Smalltalk</a:t>
            </a:r>
            <a:r>
              <a:rPr lang="zh-CN" altLang="en-US" b="1" dirty="0">
                <a:latin typeface="宋体" panose="02010600030101010101" pitchFamily="2" charset="-122"/>
                <a:ea typeface="宋体" panose="02010600030101010101" pitchFamily="2" charset="-122"/>
              </a:rPr>
              <a:t>等</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高级程序设计语言发展简介（3）</a:t>
            </a:r>
            <a:endParaRPr lang="zh-CN" altLang="en-US" dirty="0">
              <a:latin typeface="宋体" panose="02010600030101010101" pitchFamily="2" charset="-122"/>
              <a:ea typeface="宋体" panose="02010600030101010101" pitchFamily="2" charset="-122"/>
            </a:endParaRPr>
          </a:p>
        </p:txBody>
      </p:sp>
      <p:sp>
        <p:nvSpPr>
          <p:cNvPr id="52226" name="Rectangle 3"/>
          <p:cNvSpPr>
            <a:spLocks noGrp="1"/>
          </p:cNvSpPr>
          <p:nvPr>
            <p:ph idx="1"/>
          </p:nvPr>
        </p:nvSpPr>
        <p:spPr>
          <a:xfrm>
            <a:off x="990600" y="1600200"/>
            <a:ext cx="7391400" cy="4191000"/>
          </a:xfrm>
          <a:ln/>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网络时代（20世纪90年代始）</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分布式计算和因特网</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软件可以通过网络发行和进行版本与权限的管理等</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客户机与服务器间存在交互</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从语言机制上保证系统的安全性</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描述并行的语言机制</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软件要方便地跨平台执行，与平台的无关性</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Java</a:t>
            </a:r>
            <a:r>
              <a:rPr lang="zh-CN" altLang="en-US" b="1" dirty="0">
                <a:latin typeface="宋体" panose="02010600030101010101" pitchFamily="2" charset="-122"/>
                <a:ea typeface="宋体" panose="02010600030101010101" pitchFamily="2" charset="-122"/>
              </a:rPr>
              <a:t>等语言</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4274" name="Rectangle 3"/>
          <p:cNvSpPr>
            <a:spLocks noGrp="1"/>
          </p:cNvSpPr>
          <p:nvPr>
            <p:ph idx="1"/>
          </p:nvPr>
        </p:nvSpPr>
        <p:spPr>
          <a:xfrm>
            <a:off x="990600" y="1600200"/>
            <a:ext cx="7391400" cy="4191000"/>
          </a:xfrm>
          <a:ln/>
        </p:spPr>
        <p:txBody>
          <a:bodyPr vert="horz" wrap="square" lIns="92075" tIns="46038" rIns="92075" bIns="46038" anchor="t" anchorCtr="0"/>
          <a:p>
            <a:pPr lvl="1"/>
            <a:r>
              <a:rPr lang="zh-CN" altLang="en-US" sz="2000" b="1" dirty="0">
                <a:latin typeface="宋体" panose="02010600030101010101" pitchFamily="2" charset="-122"/>
                <a:ea typeface="宋体" panose="02010600030101010101" pitchFamily="2" charset="-122"/>
              </a:rPr>
              <a:t>现在需要什么语言？</a:t>
            </a:r>
            <a:endParaRPr lang="en-US" altLang="zh-CN"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计算机处理器的多核时代</a:t>
            </a:r>
            <a:endParaRPr lang="zh-CN" altLang="en-US"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en-US" altLang="zh-CN" sz="2000" b="1" dirty="0">
                <a:latin typeface="宋体" panose="02010600030101010101" pitchFamily="2" charset="-122"/>
                <a:ea typeface="宋体" panose="02010600030101010101" pitchFamily="2" charset="-122"/>
              </a:rPr>
              <a:t>P</a:t>
            </a:r>
            <a:r>
              <a:rPr lang="zh-CN" altLang="en-US" sz="2000" b="1" dirty="0">
                <a:latin typeface="宋体" panose="02010600030101010101" pitchFamily="2" charset="-122"/>
                <a:ea typeface="宋体" panose="02010600030101010101" pitchFamily="2" charset="-122"/>
              </a:rPr>
              <a:t>级计算到</a:t>
            </a:r>
            <a:r>
              <a:rPr lang="en-US" altLang="zh-CN" sz="2000" b="1" dirty="0">
                <a:latin typeface="宋体" panose="02010600030101010101" pitchFamily="2" charset="-122"/>
                <a:ea typeface="宋体" panose="02010600030101010101" pitchFamily="2" charset="-122"/>
              </a:rPr>
              <a:t>E</a:t>
            </a:r>
            <a:r>
              <a:rPr lang="zh-CN" altLang="en-US" sz="2000" b="1" dirty="0">
                <a:latin typeface="宋体" panose="02010600030101010101" pitchFamily="2" charset="-122"/>
                <a:ea typeface="宋体" panose="02010600030101010101" pitchFamily="2" charset="-122"/>
              </a:rPr>
              <a:t>级计算转变的时代</a:t>
            </a:r>
            <a:endParaRPr lang="en-US" altLang="zh-CN"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多层次、多种类的并行性，如何描述？</a:t>
            </a:r>
            <a:endParaRPr lang="zh-CN" altLang="en-US"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存储体系的复杂性</a:t>
            </a:r>
            <a:endParaRPr lang="en-US" altLang="zh-CN"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每个用户都可能是并行计算系统的使用者</a:t>
            </a:r>
            <a:endParaRPr lang="zh-CN" altLang="en-US"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程序员的背景知识、需求千差万别</a:t>
            </a:r>
            <a:endParaRPr lang="en-US" altLang="zh-CN" sz="2000" b="1" dirty="0">
              <a:latin typeface="宋体" panose="02010600030101010101" pitchFamily="2" charset="-122"/>
              <a:ea typeface="宋体" panose="02010600030101010101" pitchFamily="2" charset="-122"/>
            </a:endParaRPr>
          </a:p>
          <a:p>
            <a:pPr lvl="3">
              <a:buFont typeface="Wingdings" panose="05000000000000000000" pitchFamily="2" charset="2"/>
              <a:buChar char="§"/>
            </a:pPr>
            <a:r>
              <a:rPr lang="zh-CN" altLang="en-US" sz="1800" b="1" dirty="0">
                <a:latin typeface="宋体" panose="02010600030101010101" pitchFamily="2" charset="-122"/>
                <a:ea typeface="宋体" panose="02010600030101010101" pitchFamily="2" charset="-122"/>
              </a:rPr>
              <a:t>大众编程：编程美国人？中国百姓编程？</a:t>
            </a:r>
            <a:endParaRPr lang="en-US" altLang="zh-CN" sz="18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资源的共享和使用的透明</a:t>
            </a:r>
            <a:endParaRPr lang="en-US" altLang="zh-CN" sz="20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安全、隐私、可靠等的巨大挑战</a:t>
            </a:r>
            <a:endParaRPr lang="en-US" altLang="zh-CN" sz="2000" b="1" dirty="0">
              <a:latin typeface="宋体" panose="02010600030101010101" pitchFamily="2" charset="-122"/>
              <a:ea typeface="宋体" panose="02010600030101010101" pitchFamily="2" charset="-122"/>
            </a:endParaRPr>
          </a:p>
          <a:p>
            <a:pPr lvl="3">
              <a:buFont typeface="Wingdings" panose="05000000000000000000" pitchFamily="2" charset="2"/>
              <a:buChar char="§"/>
            </a:pPr>
            <a:r>
              <a:rPr lang="zh-CN" altLang="en-US" sz="1800" b="1" dirty="0">
                <a:latin typeface="宋体" panose="02010600030101010101" pitchFamily="2" charset="-122"/>
                <a:ea typeface="宋体" panose="02010600030101010101" pitchFamily="2" charset="-122"/>
              </a:rPr>
              <a:t>程序开发方法、执行模式</a:t>
            </a:r>
            <a:endParaRPr lang="zh-CN" altLang="en-US" sz="1800"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sz="2000" b="1" dirty="0">
                <a:latin typeface="宋体" panose="02010600030101010101" pitchFamily="2" charset="-122"/>
                <a:ea typeface="宋体" panose="02010600030101010101" pitchFamily="2" charset="-122"/>
              </a:rPr>
              <a:t>应用也在不断发生变化</a:t>
            </a:r>
            <a:endParaRPr lang="en-US" altLang="zh-CN" sz="2000" b="1" dirty="0">
              <a:latin typeface="宋体" panose="02010600030101010101" pitchFamily="2" charset="-122"/>
              <a:ea typeface="宋体" panose="02010600030101010101" pitchFamily="2" charset="-122"/>
            </a:endParaRPr>
          </a:p>
          <a:p>
            <a:pPr lvl="3">
              <a:buFont typeface="Wingdings" panose="05000000000000000000" pitchFamily="2" charset="2"/>
              <a:buChar char="§"/>
            </a:pPr>
            <a:r>
              <a:rPr lang="zh-CN" altLang="en-US" sz="1800" b="1" dirty="0">
                <a:latin typeface="宋体" panose="02010600030101010101" pitchFamily="2" charset="-122"/>
                <a:ea typeface="宋体" panose="02010600030101010101" pitchFamily="2" charset="-122"/>
              </a:rPr>
              <a:t>云计算、泛在计算</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6322" name="Rectangle 3"/>
          <p:cNvSpPr>
            <a:spLocks noGrp="1"/>
          </p:cNvSpPr>
          <p:nvPr>
            <p:ph idx="1"/>
          </p:nvPr>
        </p:nvSpPr>
        <p:spPr>
          <a:xfrm>
            <a:off x="990600" y="1600200"/>
            <a:ext cx="7391400" cy="4648200"/>
          </a:xfrm>
          <a:ln/>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程序设计语言的定义：</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程序设计语言必须要有明确而确切的定义</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语法:合法程序的构成规则</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语法规则的要满足可读性、可写性、易检验性、易翻译性、无二义性</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语义：构成程序的各个语法成分的意义</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程序的执行效果说明了程序的语义</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静态程序语义：编译时刻可以确定的语义</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动态程序语义：运行时刻才能确定的语义</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语用：语言符号与使用者之间的关系，如变量的物理意义等</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58370" name="Rectangle 3"/>
          <p:cNvSpPr>
            <a:spLocks noGrp="1"/>
          </p:cNvSpPr>
          <p:nvPr>
            <p:ph idx="1"/>
          </p:nvPr>
        </p:nvSpPr>
        <p:spPr>
          <a:xfrm>
            <a:off x="990600" y="1600200"/>
            <a:ext cx="7391400" cy="4572000"/>
          </a:xfrm>
          <a:ln/>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高级语言的分类：</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命令式语言：也称过程式语言</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命令驱动、面向语句</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这类语言遵循了通常计算机体系结构指令的顺序执行机制，因此多种语言从属于命令式语言</a:t>
            </a:r>
            <a:endParaRPr lang="zh-CN" altLang="en-US"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C、C++、FORTRAN、ALGOL、Pascal、Ada、COBOL</a:t>
            </a:r>
            <a:r>
              <a:rPr lang="zh-CN" altLang="en-US" b="1" dirty="0">
                <a:latin typeface="宋体" panose="02010600030101010101" pitchFamily="2" charset="-122"/>
                <a:ea typeface="宋体" panose="02010600030101010101" pitchFamily="2" charset="-122"/>
              </a:rPr>
              <a:t>等</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0418" name="Rectangle 3"/>
          <p:cNvSpPr>
            <a:spLocks noGrp="1"/>
          </p:cNvSpPr>
          <p:nvPr>
            <p:ph idx="1"/>
          </p:nvPr>
        </p:nvSpPr>
        <p:spPr>
          <a:xfrm>
            <a:off x="990600" y="1600200"/>
            <a:ext cx="7391400" cy="4953000"/>
          </a:xfrm>
          <a:ln/>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声明式语言</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应用式语言：也称函数式语言</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注重程序表示的功能，而不是程序的一个个语句执行时状态的变化</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ML</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Haskell</a:t>
            </a:r>
            <a:endParaRPr lang="en-US" altLang="zh-CN" b="1" dirty="0">
              <a:latin typeface="宋体" panose="02010600030101010101" pitchFamily="2" charset="-122"/>
              <a:ea typeface="宋体" panose="02010600030101010101" pitchFamily="2" charset="-122"/>
            </a:endParaRPr>
          </a:p>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基于逻辑约束的语言：</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通过检查某一个条件是否被满足来决定相应的动作是否被执行</a:t>
            </a:r>
            <a:endParaRPr lang="en-US" altLang="zh-CN"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Prolog</a:t>
            </a:r>
            <a:r>
              <a:rPr lang="zh-CN" altLang="en-US" b="1" dirty="0">
                <a:latin typeface="宋体" panose="02010600030101010101" pitchFamily="2" charset="-122"/>
                <a:ea typeface="宋体" panose="02010600030101010101" pitchFamily="2" charset="-122"/>
              </a:rPr>
              <a:t>等</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高级程序设计语言发展简介（</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2466" name="Rectangle 3"/>
          <p:cNvSpPr>
            <a:spLocks noGrp="1"/>
          </p:cNvSpPr>
          <p:nvPr>
            <p:ph idx="1"/>
          </p:nvPr>
        </p:nvSpPr>
        <p:spPr>
          <a:xfrm>
            <a:off x="990600" y="1600200"/>
            <a:ext cx="7391400" cy="4953000"/>
          </a:xfrm>
          <a:ln/>
        </p:spPr>
        <p:txBody>
          <a:bodyPr vert="horz" wrap="square" lIns="92075" tIns="46038" rIns="92075" bIns="46038" anchor="t" anchorCtr="0"/>
          <a:p>
            <a:pPr lvl="1">
              <a:lnSpc>
                <a:spcPct val="90000"/>
              </a:lnSpc>
            </a:pPr>
            <a:r>
              <a:rPr lang="zh-CN" altLang="en-US" b="1" dirty="0">
                <a:latin typeface="宋体" panose="02010600030101010101" pitchFamily="2" charset="-122"/>
                <a:ea typeface="宋体" panose="02010600030101010101" pitchFamily="2" charset="-122"/>
              </a:rPr>
              <a:t>面向对象的语言：</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封装性</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继承性</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多态性：操作符或子程序名能够根据参数和结果的数据类型，引用某些函数定义中的任意一个。</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算符重载是多态性的一种受限的形式</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zh-CN" altLang="en-US" b="1" dirty="0">
                <a:latin typeface="宋体" panose="02010600030101010101" pitchFamily="2" charset="-122"/>
                <a:ea typeface="宋体" panose="02010600030101010101" pitchFamily="2" charset="-122"/>
              </a:rPr>
              <a:t>如：1+2和1.5+2.5中的</a:t>
            </a:r>
            <a:r>
              <a:rPr lang="zh-CN" altLang="en-US" b="1" dirty="0">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r>
              <a:rPr lang="zh-CN" altLang="en-US" b="1" dirty="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Smalltalk</a:t>
            </a:r>
            <a:r>
              <a:rPr lang="zh-CN" altLang="en-US" b="1" dirty="0">
                <a:latin typeface="宋体" panose="02010600030101010101" pitchFamily="2" charset="-122"/>
                <a:ea typeface="宋体" panose="02010600030101010101" pitchFamily="2" charset="-122"/>
              </a:rPr>
              <a:t>是完全面向对象的语言，而</a:t>
            </a:r>
            <a:r>
              <a:rPr lang="en-US" altLang="zh-CN" b="1" dirty="0">
                <a:latin typeface="宋体" panose="02010600030101010101" pitchFamily="2" charset="-122"/>
                <a:ea typeface="宋体" panose="02010600030101010101" pitchFamily="2" charset="-122"/>
              </a:rPr>
              <a:t>C++、Ada</a:t>
            </a:r>
            <a:r>
              <a:rPr lang="zh-CN" altLang="en-US" b="1" dirty="0">
                <a:latin typeface="宋体" panose="02010600030101010101" pitchFamily="2" charset="-122"/>
                <a:ea typeface="宋体" panose="02010600030101010101" pitchFamily="2" charset="-122"/>
              </a:rPr>
              <a:t>等语言是在现有的类型机制上加入了继承等概念</a:t>
            </a:r>
            <a:endParaRPr lang="en-US" altLang="zh-CN" b="1" dirty="0">
              <a:latin typeface="宋体" panose="02010600030101010101" pitchFamily="2" charset="-122"/>
              <a:ea typeface="宋体" panose="02010600030101010101" pitchFamily="2" charset="-122"/>
            </a:endParaRPr>
          </a:p>
          <a:p>
            <a:pPr lvl="1">
              <a:lnSpc>
                <a:spcPct val="90000"/>
              </a:lnSpc>
              <a:buFont typeface="Monotype Sorts" pitchFamily="2" charset="2"/>
              <a:buChar char="ä"/>
            </a:pPr>
            <a:r>
              <a:rPr lang="zh-CN" altLang="en-US" b="1" dirty="0">
                <a:latin typeface="宋体" panose="02010600030101010101" pitchFamily="2" charset="-122"/>
                <a:ea typeface="宋体" panose="02010600030101010101" pitchFamily="2" charset="-122"/>
              </a:rPr>
              <a:t>脚本语言：</a:t>
            </a:r>
            <a:endParaRPr lang="zh-CN" altLang="en-US"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具有高层次预算符的解释型语言</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通常用于将多个计算过程“粘合”在一起</a:t>
            </a:r>
            <a:endParaRPr lang="en-US" altLang="zh-CN" b="1" dirty="0">
              <a:latin typeface="宋体" panose="02010600030101010101" pitchFamily="2" charset="-122"/>
              <a:ea typeface="宋体" panose="02010600030101010101" pitchFamily="2" charset="-122"/>
            </a:endParaRPr>
          </a:p>
          <a:p>
            <a:pPr lvl="2">
              <a:lnSpc>
                <a:spcPct val="90000"/>
              </a:lnSpc>
              <a:buFont typeface="Wingdings" panose="05000000000000000000" pitchFamily="2" charset="2"/>
              <a:buChar char="§"/>
            </a:pPr>
            <a:r>
              <a:rPr lang="en-US" altLang="zh-CN" b="1" dirty="0">
                <a:latin typeface="宋体" panose="02010600030101010101" pitchFamily="2" charset="-122"/>
                <a:ea typeface="宋体" panose="02010600030101010101" pitchFamily="2" charset="-122"/>
              </a:rPr>
              <a:t>AWK</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JavaScript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Perl</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PHP</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Python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Ruby</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Tcl</a:t>
            </a:r>
            <a:r>
              <a:rPr lang="zh-CN" altLang="en-US" b="1" dirty="0">
                <a:latin typeface="宋体" panose="02010600030101010101" pitchFamily="2" charset="-122"/>
                <a:ea typeface="宋体" panose="02010600030101010101" pitchFamily="2" charset="-122"/>
              </a:rPr>
              <a:t>等</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程序设计语言与编译器的相互影响</a:t>
            </a:r>
            <a:endParaRPr lang="zh-CN" altLang="en-US" dirty="0">
              <a:latin typeface="宋体" panose="02010600030101010101" pitchFamily="2" charset="-122"/>
              <a:ea typeface="宋体" panose="02010600030101010101" pitchFamily="2" charset="-122"/>
            </a:endParaRPr>
          </a:p>
        </p:txBody>
      </p:sp>
      <p:sp>
        <p:nvSpPr>
          <p:cNvPr id="64514" name="Rectangle 3"/>
          <p:cNvSpPr>
            <a:spLocks noGrp="1"/>
          </p:cNvSpPr>
          <p:nvPr>
            <p:ph idx="1"/>
          </p:nvPr>
        </p:nvSpPr>
        <p:spPr>
          <a:xfrm>
            <a:off x="990600" y="1371600"/>
            <a:ext cx="7391400" cy="48768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程序设计语言发展对编译器的影响</a:t>
            </a:r>
            <a:endParaRPr lang="en-US" altLang="zh-CN" sz="2400" b="1" dirty="0">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新的成分</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机制的出现，要求新的编译技术支持</a:t>
            </a:r>
            <a:endParaRPr lang="en-US" altLang="zh-CN" sz="2000" b="1" dirty="0">
              <a:latin typeface="宋体" panose="02010600030101010101" pitchFamily="2" charset="-122"/>
              <a:ea typeface="宋体" panose="02010600030101010101" pitchFamily="2" charset="-122"/>
            </a:endParaRPr>
          </a:p>
          <a:p>
            <a:pPr lvl="2">
              <a:lnSpc>
                <a:spcPct val="90000"/>
              </a:lnSpc>
            </a:pPr>
            <a:r>
              <a:rPr lang="zh-CN" altLang="en-US" sz="2000" b="1" dirty="0">
                <a:latin typeface="宋体" panose="02010600030101010101" pitchFamily="2" charset="-122"/>
                <a:ea typeface="宋体" panose="02010600030101010101" pitchFamily="2" charset="-122"/>
              </a:rPr>
              <a:t>新的需求</a:t>
            </a:r>
            <a:endParaRPr lang="en-US" altLang="zh-CN" sz="2000" b="1" dirty="0">
              <a:latin typeface="宋体" panose="02010600030101010101" pitchFamily="2" charset="-122"/>
              <a:ea typeface="宋体" panose="02010600030101010101" pitchFamily="2" charset="-122"/>
            </a:endParaRPr>
          </a:p>
          <a:p>
            <a:pPr lvl="3">
              <a:lnSpc>
                <a:spcPct val="90000"/>
              </a:lnSpc>
            </a:pPr>
            <a:r>
              <a:rPr lang="zh-CN" altLang="en-US" sz="1800" b="1" dirty="0">
                <a:latin typeface="宋体" panose="02010600030101010101" pitchFamily="2" charset="-122"/>
                <a:ea typeface="宋体" panose="02010600030101010101" pitchFamily="2" charset="-122"/>
              </a:rPr>
              <a:t>面向对象技术对新编译技术的需求</a:t>
            </a:r>
            <a:endParaRPr lang="en-US" altLang="zh-CN" sz="1800" b="1" dirty="0">
              <a:latin typeface="宋体" panose="02010600030101010101" pitchFamily="2" charset="-122"/>
              <a:ea typeface="宋体" panose="02010600030101010101" pitchFamily="2" charset="-122"/>
            </a:endParaRPr>
          </a:p>
          <a:p>
            <a:pPr lvl="3">
              <a:lnSpc>
                <a:spcPct val="90000"/>
              </a:lnSpc>
            </a:pPr>
            <a:r>
              <a:rPr lang="en-US" altLang="zh-CN" sz="1800" b="1" dirty="0">
                <a:latin typeface="宋体" panose="02010600030101010101" pitchFamily="2" charset="-122"/>
                <a:ea typeface="宋体" panose="02010600030101010101" pitchFamily="2" charset="-122"/>
              </a:rPr>
              <a:t>ML</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Java</a:t>
            </a:r>
            <a:r>
              <a:rPr lang="zh-CN" altLang="en-US" sz="1800" b="1" dirty="0">
                <a:latin typeface="宋体" panose="02010600030101010101" pitchFamily="2" charset="-122"/>
                <a:ea typeface="宋体" panose="02010600030101010101" pitchFamily="2" charset="-122"/>
              </a:rPr>
              <a:t>等语言的出现对虚拟机</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即时编译、</a:t>
            </a:r>
            <a:r>
              <a:rPr lang="en-US" altLang="zh-CN" sz="1800" b="1" dirty="0">
                <a:latin typeface="宋体" panose="02010600030101010101" pitchFamily="2" charset="-122"/>
                <a:ea typeface="宋体" panose="02010600030101010101" pitchFamily="2" charset="-122"/>
              </a:rPr>
              <a:t>GC</a:t>
            </a:r>
            <a:r>
              <a:rPr lang="zh-CN" altLang="en-US" sz="1800" b="1" dirty="0">
                <a:latin typeface="宋体" panose="02010600030101010101" pitchFamily="2" charset="-122"/>
                <a:ea typeface="宋体" panose="02010600030101010101" pitchFamily="2" charset="-122"/>
              </a:rPr>
              <a:t>的需求</a:t>
            </a:r>
            <a:endParaRPr lang="en-US" altLang="zh-CN" sz="1800" b="1" dirty="0">
              <a:latin typeface="宋体" panose="02010600030101010101" pitchFamily="2" charset="-122"/>
              <a:ea typeface="宋体" panose="02010600030101010101" pitchFamily="2" charset="-122"/>
            </a:endParaRPr>
          </a:p>
          <a:p>
            <a:pPr lvl="3">
              <a:lnSpc>
                <a:spcPct val="90000"/>
              </a:lnSpc>
            </a:pPr>
            <a:r>
              <a:rPr lang="en-US" altLang="zh-CN" sz="1800" b="1" dirty="0">
                <a:latin typeface="宋体" panose="02010600030101010101" pitchFamily="2" charset="-122"/>
                <a:ea typeface="宋体" panose="02010600030101010101" pitchFamily="2" charset="-122"/>
              </a:rPr>
              <a:t>… …</a:t>
            </a:r>
            <a:endParaRPr lang="en-US" altLang="zh-CN" sz="1800" b="1" dirty="0">
              <a:latin typeface="宋体" panose="02010600030101010101" pitchFamily="2" charset="-122"/>
              <a:ea typeface="宋体" panose="02010600030101010101" pitchFamily="2" charset="-122"/>
            </a:endParaRPr>
          </a:p>
          <a:p>
            <a:pPr lvl="2">
              <a:lnSpc>
                <a:spcPct val="90000"/>
              </a:lnSpc>
            </a:pPr>
            <a:r>
              <a:rPr lang="zh-CN" altLang="en-US" sz="2000" b="1" dirty="0">
                <a:latin typeface="宋体" panose="02010600030101010101" pitchFamily="2" charset="-122"/>
                <a:ea typeface="宋体" panose="02010600030101010101" pitchFamily="2" charset="-122"/>
              </a:rPr>
              <a:t>对编译实现的支持</a:t>
            </a:r>
            <a:endParaRPr lang="en-US" altLang="zh-CN" sz="2000" b="1" dirty="0">
              <a:latin typeface="宋体" panose="02010600030101010101" pitchFamily="2" charset="-122"/>
              <a:ea typeface="宋体" panose="02010600030101010101" pitchFamily="2" charset="-122"/>
            </a:endParaRPr>
          </a:p>
          <a:p>
            <a:pPr lvl="3">
              <a:lnSpc>
                <a:spcPct val="90000"/>
              </a:lnSpc>
            </a:pPr>
            <a:r>
              <a:rPr lang="zh-CN" altLang="en-US" sz="1800" b="1" dirty="0">
                <a:latin typeface="宋体" panose="02010600030101010101" pitchFamily="2" charset="-122"/>
                <a:ea typeface="宋体" panose="02010600030101010101" pitchFamily="2" charset="-122"/>
              </a:rPr>
              <a:t>指针、面向对象等机制的出现极大提高了编译研发的能力</a:t>
            </a:r>
            <a:endParaRPr lang="en-US" altLang="zh-CN" sz="1800" b="1" dirty="0">
              <a:latin typeface="宋体" panose="02010600030101010101" pitchFamily="2" charset="-122"/>
              <a:ea typeface="宋体" panose="02010600030101010101" pitchFamily="2" charset="-122"/>
            </a:endParaRPr>
          </a:p>
          <a:p>
            <a:pPr lvl="3">
              <a:lnSpc>
                <a:spcPct val="90000"/>
              </a:lnSpc>
            </a:pPr>
            <a:r>
              <a:rPr lang="zh-CN" altLang="en-US" sz="1800" b="1" dirty="0">
                <a:latin typeface="宋体" panose="02010600030101010101" pitchFamily="2" charset="-122"/>
                <a:ea typeface="宋体" panose="02010600030101010101" pitchFamily="2" charset="-122"/>
              </a:rPr>
              <a:t>软件工程技术对编译研发的支持：巨大、复杂的软件系统</a:t>
            </a:r>
            <a:endParaRPr lang="zh-CN" altLang="en-US" sz="1800" b="1" dirty="0">
              <a:latin typeface="宋体" panose="02010600030101010101" pitchFamily="2" charset="-122"/>
              <a:ea typeface="宋体" panose="02010600030101010101" pitchFamily="2" charset="-122"/>
            </a:endParaRPr>
          </a:p>
          <a:p>
            <a:pPr>
              <a:lnSpc>
                <a:spcPct val="90000"/>
              </a:lnSpc>
            </a:pPr>
            <a:r>
              <a:rPr lang="zh-CN" altLang="en-US" sz="2400" b="1" dirty="0">
                <a:ea typeface="宋体" panose="02010600030101010101" pitchFamily="2" charset="-122"/>
              </a:rPr>
              <a:t>编译器技术的发展对语言的有力支持</a:t>
            </a:r>
            <a:endParaRPr lang="en-US" altLang="zh-CN" sz="2400" b="1" dirty="0">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优化效果是语言的普及的一个重要推动因素</a:t>
            </a:r>
            <a:endParaRPr lang="en-US" altLang="zh-CN" sz="2000" b="1" dirty="0">
              <a:latin typeface="宋体" panose="02010600030101010101" pitchFamily="2" charset="-122"/>
              <a:ea typeface="宋体" panose="02010600030101010101" pitchFamily="2" charset="-122"/>
            </a:endParaRPr>
          </a:p>
          <a:p>
            <a:pPr lvl="2">
              <a:lnSpc>
                <a:spcPct val="90000"/>
              </a:lnSpc>
            </a:pPr>
            <a:r>
              <a:rPr lang="zh-CN" altLang="en-US" sz="1800" b="1" dirty="0">
                <a:latin typeface="宋体" panose="02010600030101010101" pitchFamily="2" charset="-122"/>
                <a:ea typeface="宋体" panose="02010600030101010101" pitchFamily="2" charset="-122"/>
              </a:rPr>
              <a:t>如虚拟机</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即时编译技术的成熟对</a:t>
            </a:r>
            <a:r>
              <a:rPr lang="en-US" altLang="zh-CN" sz="1800" b="1" dirty="0">
                <a:latin typeface="宋体" panose="02010600030101010101" pitchFamily="2" charset="-122"/>
                <a:ea typeface="宋体" panose="02010600030101010101" pitchFamily="2" charset="-122"/>
              </a:rPr>
              <a:t>Java</a:t>
            </a:r>
            <a:r>
              <a:rPr lang="zh-CN" altLang="en-US" sz="1800" b="1" dirty="0">
                <a:latin typeface="宋体" panose="02010600030101010101" pitchFamily="2" charset="-122"/>
                <a:ea typeface="宋体" panose="02010600030101010101" pitchFamily="2" charset="-122"/>
              </a:rPr>
              <a:t>类语言的普及的作用</a:t>
            </a:r>
            <a:endParaRPr lang="zh-CN" altLang="en-US" sz="1800" b="1" dirty="0">
              <a:latin typeface="宋体" panose="02010600030101010101" pitchFamily="2" charset="-122"/>
              <a:ea typeface="宋体" panose="02010600030101010101" pitchFamily="2" charset="-122"/>
            </a:endParaRPr>
          </a:p>
          <a:p>
            <a:pPr lvl="1">
              <a:lnSpc>
                <a:spcPct val="90000"/>
              </a:lnSpc>
            </a:pPr>
            <a:r>
              <a:rPr lang="zh-CN" altLang="en-US" sz="2000" b="1" dirty="0">
                <a:latin typeface="宋体" panose="02010600030101010101" pitchFamily="2" charset="-122"/>
                <a:ea typeface="宋体" panose="02010600030101010101" pitchFamily="2" charset="-122"/>
              </a:rPr>
              <a:t>编译技术的发展可以简化</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改良语言的设计</a:t>
            </a:r>
            <a:endParaRPr lang="en-US" altLang="zh-CN" sz="2000" b="1" dirty="0">
              <a:latin typeface="宋体" panose="02010600030101010101" pitchFamily="2" charset="-122"/>
              <a:ea typeface="宋体" panose="02010600030101010101" pitchFamily="2" charset="-122"/>
            </a:endParaRPr>
          </a:p>
          <a:p>
            <a:pPr lvl="2">
              <a:lnSpc>
                <a:spcPct val="90000"/>
              </a:lnSpc>
            </a:pPr>
            <a:r>
              <a:rPr lang="zh-CN" altLang="en-US" sz="1800" b="1" dirty="0">
                <a:latin typeface="宋体" panose="02010600030101010101" pitchFamily="2" charset="-122"/>
                <a:ea typeface="宋体" panose="02010600030101010101" pitchFamily="2" charset="-122"/>
              </a:rPr>
              <a:t>如</a:t>
            </a:r>
            <a:r>
              <a:rPr lang="en-US" altLang="zh-CN" sz="1800" b="1" dirty="0">
                <a:latin typeface="宋体" panose="02010600030101010101" pitchFamily="2" charset="-122"/>
                <a:ea typeface="宋体" panose="02010600030101010101" pitchFamily="2" charset="-122"/>
              </a:rPr>
              <a:t>C</a:t>
            </a:r>
            <a:r>
              <a:rPr lang="zh-CN" altLang="en-US" sz="1800" b="1" dirty="0">
                <a:latin typeface="宋体" panose="02010600030101010101" pitchFamily="2" charset="-122"/>
                <a:ea typeface="宋体" panose="02010600030101010101" pitchFamily="2" charset="-122"/>
              </a:rPr>
              <a:t>语言中的</a:t>
            </a:r>
            <a:r>
              <a:rPr lang="en-US" altLang="zh-CN" sz="1800" b="1" dirty="0">
                <a:latin typeface="宋体" panose="02010600030101010101" pitchFamily="2" charset="-122"/>
                <a:ea typeface="宋体" panose="02010600030101010101" pitchFamily="2" charset="-122"/>
              </a:rPr>
              <a:t>Register</a:t>
            </a:r>
            <a:r>
              <a:rPr lang="zh-CN" altLang="en-US" sz="1800" b="1" dirty="0">
                <a:latin typeface="宋体" panose="02010600030101010101" pitchFamily="2" charset="-122"/>
                <a:ea typeface="宋体" panose="02010600030101010101" pitchFamily="2" charset="-122"/>
              </a:rPr>
              <a:t>关键字等</a:t>
            </a:r>
            <a:endParaRPr lang="zh-CN" altLang="en-US"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构建一个编译器的相关科学（1）</a:t>
            </a:r>
            <a:endParaRPr lang="zh-CN" altLang="en-US" dirty="0">
              <a:latin typeface="宋体" panose="02010600030101010101" pitchFamily="2" charset="-122"/>
              <a:ea typeface="宋体" panose="02010600030101010101" pitchFamily="2" charset="-122"/>
            </a:endParaRPr>
          </a:p>
        </p:txBody>
      </p:sp>
      <p:sp>
        <p:nvSpPr>
          <p:cNvPr id="66562" name="Rectangle 3"/>
          <p:cNvSpPr>
            <a:spLocks noGrp="1"/>
          </p:cNvSpPr>
          <p:nvPr>
            <p:ph idx="1"/>
          </p:nvPr>
        </p:nvSpPr>
        <p:spPr>
          <a:xfrm>
            <a:off x="990600" y="1600200"/>
            <a:ext cx="7391400" cy="41910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编译器开发的一些基本考虑</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建模：</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从具体例子中抽象出数学模式</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将针对数学抽象的解决方法通过实用</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测试来验证和精化</a:t>
            </a:r>
            <a:endParaRPr lang="en-US" altLang="zh-CN" sz="18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编译器的处理过程必须保持被编译程序的语义</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一个好的编译器可以使得其编译的程序获益</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优化效果不能只对一个或很少的例子有好效果</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编译器对语言、机器的推广意义重大</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挑战巨大</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收益巨大</a:t>
            </a:r>
            <a:endParaRPr lang="en-US" altLang="zh-CN" sz="16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构建一个编译器的相关科学（</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9635" name="Rectangle 3"/>
          <p:cNvSpPr>
            <a:spLocks noGrp="1"/>
          </p:cNvSpPr>
          <p:nvPr>
            <p:ph idx="1"/>
          </p:nvPr>
        </p:nvSpPr>
        <p:spPr>
          <a:xfrm>
            <a:off x="990600" y="1371600"/>
            <a:ext cx="7391400"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代码优化的科学</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优化：编译器通过优化以生成更高效的代码</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优化的目标是多样的</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性能</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代码大小</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功耗等等</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优化应尽可能不对调试等方面产生严重的负面影响</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应用的拓展、机器结构的发展等都对优化提出了巨大的挑战</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高性能计算</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并行计算机架构（多核</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超级计算机等）都对并行优化提出了需求</a:t>
            </a:r>
            <a:endParaRPr lang="en-US" altLang="zh-CN" sz="1600" b="1" dirty="0">
              <a:latin typeface="宋体" panose="02010600030101010101" pitchFamily="2" charset="-122"/>
              <a:ea typeface="宋体" panose="02010600030101010101" pitchFamily="2" charset="-122"/>
            </a:endParaRPr>
          </a:p>
          <a:p>
            <a:pPr lvl="3"/>
            <a:r>
              <a:rPr lang="en-US" altLang="zh-CN" sz="1600" b="1" dirty="0">
                <a:latin typeface="宋体" panose="02010600030101010101" pitchFamily="2" charset="-122"/>
                <a:ea typeface="宋体" panose="02010600030101010101" pitchFamily="2" charset="-122"/>
              </a:rPr>
              <a:t>Java</a:t>
            </a:r>
            <a:r>
              <a:rPr lang="zh-CN" altLang="en-US" sz="1600" b="1" dirty="0">
                <a:latin typeface="宋体" panose="02010600030101010101" pitchFamily="2" charset="-122"/>
                <a:ea typeface="宋体" panose="02010600030101010101" pitchFamily="2" charset="-122"/>
              </a:rPr>
              <a:t>类应用对即时优化提出了需求</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大数据、智能应用、物联网应用等的挑战是什么？</a:t>
            </a:r>
            <a:endParaRPr lang="en-US" altLang="zh-CN" sz="1600" b="1" dirty="0">
              <a:latin typeface="宋体" panose="02010600030101010101" pitchFamily="2" charset="-122"/>
              <a:ea typeface="宋体" panose="02010600030101010101" pitchFamily="2" charset="-122"/>
            </a:endParaRPr>
          </a:p>
          <a:p>
            <a:pPr lvl="3"/>
            <a:r>
              <a:rPr lang="en-US" altLang="zh-CN" sz="1600" b="1" dirty="0">
                <a:latin typeface="宋体" panose="02010600030101010101" pitchFamily="2" charset="-122"/>
                <a:ea typeface="宋体" panose="02010600030101010101" pitchFamily="2" charset="-122"/>
              </a:rPr>
              <a:t>GPU/FPGA/ASIC</a:t>
            </a:r>
            <a:r>
              <a:rPr lang="zh-CN" altLang="en-US" sz="1600" b="1" dirty="0">
                <a:latin typeface="宋体" panose="02010600030101010101" pitchFamily="2" charset="-122"/>
                <a:ea typeface="宋体" panose="02010600030101010101" pitchFamily="2" charset="-122"/>
              </a:rPr>
              <a:t>等硬件的挑战？智能处理器的挑战？</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优化的效果应该是经得起检验的</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传统的优化是基于数学基础的，因此图、矩阵、线性规划等被广泛使用，可以比较容易说明“对”的标准并易于检验</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针对基于统计学基础的应用、非精确计算等，原来的“对”的规范还适用吗？</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优化的很多问题是不可判定的</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charRg st="101" end="13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35">
                                            <p:txEl>
                                              <p:charRg st="137" end="15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635">
                                            <p:txEl>
                                              <p:charRg st="155" end="17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635">
                                            <p:txEl>
                                              <p:charRg st="178" end="20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635">
                                            <p:txEl>
                                              <p:charRg st="223" end="27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635">
                                            <p:txEl>
                                              <p:charRg st="275" end="3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构建一个编译器的相关科学（</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1683" name="Rectangle 3"/>
          <p:cNvSpPr>
            <a:spLocks noGrp="1"/>
          </p:cNvSpPr>
          <p:nvPr>
            <p:ph idx="1"/>
          </p:nvPr>
        </p:nvSpPr>
        <p:spPr>
          <a:xfrm>
            <a:off x="990600" y="1600200"/>
            <a:ext cx="7829550" cy="4191000"/>
          </a:xfrm>
          <a:ln/>
        </p:spPr>
        <p:txBody>
          <a:bodyPr vert="horz" wrap="square" lIns="92075" tIns="46038" rIns="92075" bIns="46038" anchor="t" anchorCtr="0"/>
          <a:p>
            <a:pPr lvl="1"/>
            <a:r>
              <a:rPr lang="zh-CN" altLang="en-US" sz="2000" b="1" dirty="0">
                <a:latin typeface="宋体" panose="02010600030101010101" pitchFamily="2" charset="-122"/>
                <a:ea typeface="宋体" panose="02010600030101010101" pitchFamily="2" charset="-122"/>
              </a:rPr>
              <a:t>优化实现过程中的考虑</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优化不能改变被编译程序的含义，“对”的标准</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传统的优化中</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很多优化技术</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可以从数学上给出一个正确的保证</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但是由于程序实现的复杂性</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很难从理论上证明一个编译器的优化是完全无错的</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新的应用类型中，能否精确给出“对”的标准以及检验方法？</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优化的效果不能只对个别输入程序有效</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优化的效果应该能够体现在很多程序上</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对同一个程序的不同输入，优化效果也应该尽可能不出现大的波动</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优化的时间开销应该是可接受的</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以</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支持快速的开发和调试周期</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编译优化时间开销 </a:t>
            </a:r>
            <a:r>
              <a:rPr lang="en-US" altLang="zh-CN" sz="1600" b="1" dirty="0">
                <a:latin typeface="宋体" panose="02010600030101010101" pitchFamily="2" charset="-122"/>
                <a:ea typeface="宋体" panose="02010600030101010101" pitchFamily="2" charset="-122"/>
              </a:rPr>
              <a:t>vs</a:t>
            </a:r>
            <a:r>
              <a:rPr lang="zh-CN" altLang="en-US" sz="1600" b="1" dirty="0">
                <a:latin typeface="宋体" panose="02010600030101010101" pitchFamily="2" charset="-122"/>
                <a:ea typeface="宋体" panose="02010600030101010101" pitchFamily="2" charset="-122"/>
              </a:rPr>
              <a:t> 被编译程序获得的优化效果</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因此标准不唯一</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所需要的工程方面的工作必须是可管理的</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软件工程促进了编译器开发的质量掌控</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编译技术也对软件工程的进步提供了很多思想和支持</a:t>
            </a:r>
            <a:endParaRPr lang="en-US" altLang="zh-CN" sz="16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charRg st="11" end="3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charRg st="33" end="9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3">
                                            <p:txEl>
                                              <p:charRg st="99" end="12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charRg st="127" end="14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charRg st="145" end="16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683">
                                            <p:txEl>
                                              <p:charRg st="163" end="19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3">
                                            <p:txEl>
                                              <p:charRg st="193" end="2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683">
                                            <p:txEl>
                                              <p:charRg st="210" end="22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683">
                                            <p:txEl>
                                              <p:charRg st="223" end="25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3">
                                            <p:txEl>
                                              <p:charRg st="256" end="27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683">
                                            <p:txEl>
                                              <p:charRg st="275" end="29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1683">
                                            <p:txEl>
                                              <p:charRg st="293" end="3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编译技术的应用（</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9635" name="Rectangle 3"/>
          <p:cNvSpPr>
            <a:spLocks noGrp="1" noChangeArrowheads="1"/>
          </p:cNvSpPr>
          <p:nvPr>
            <p:ph idx="1"/>
          </p:nvPr>
        </p:nvSpPr>
        <p:spPr>
          <a:xfrm>
            <a:off x="827088" y="1371600"/>
            <a:ext cx="7705725"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编译技术的应用非常广泛，不限于编译器开发</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高级程序设计语言的实现</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语言与编译</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高级程序设计语言定义了一个编程抽象，程序员用以表达算法</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高级程序设计语言由于其抽象性，因而更易于编程、可移植性</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维护性较好，但是简单生成的目标代码可能比较低效，</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低级程序设计语言更便于程序员精心控制计算的过程，从而得到高效的代码，但是易编程性、可移植性、易维护性都较差</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编译器将程序翻译成目标程序，并希望将高级语言开发的程序转换为功能等价但是更高效的低级语言（低级</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汇编</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机器语言等）表达的代码</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语言的发展与编译器技术的发展是互相促进的（见</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zh-CN" altLang="en-US" sz="1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程序设计语言与编译器的相互影响</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中的介绍）</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编译技术的应用（</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5779" name="Rectangle 3"/>
          <p:cNvSpPr>
            <a:spLocks noGrp="1"/>
          </p:cNvSpPr>
          <p:nvPr>
            <p:ph idx="1"/>
          </p:nvPr>
        </p:nvSpPr>
        <p:spPr>
          <a:xfrm>
            <a:off x="827088" y="1371600"/>
            <a:ext cx="7705725" cy="4419600"/>
          </a:xfrm>
          <a:ln/>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针对计算机体系结构的优化</a:t>
            </a:r>
            <a:endParaRPr lang="en-US" altLang="zh-CN"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是传统的编译优化的重要目的之一</a:t>
            </a:r>
            <a:endParaRPr lang="en-US" altLang="zh-CN" sz="18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编译器质量的好坏对相关硬件平台的推广具有重要的作用</a:t>
            </a:r>
            <a:endParaRPr lang="en-US" altLang="zh-CN" sz="18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并行性的发掘：单位时间内执行更多的操作</a:t>
            </a:r>
            <a:endParaRPr lang="en-US" altLang="zh-CN" sz="18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指令级并行，编译器可以调整指令排列顺序来改善指令序列执行速度</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要保证正确性</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对于</a:t>
            </a:r>
            <a:r>
              <a:rPr lang="en-US" altLang="zh-CN" sz="1400" b="1" dirty="0">
                <a:latin typeface="宋体" panose="02010600030101010101" pitchFamily="2" charset="-122"/>
                <a:ea typeface="宋体" panose="02010600030101010101" pitchFamily="2" charset="-122"/>
              </a:rPr>
              <a:t>VLIW</a:t>
            </a:r>
            <a:r>
              <a:rPr lang="zh-CN" altLang="en-US" sz="1400" b="1" dirty="0">
                <a:latin typeface="宋体" panose="02010600030101010101" pitchFamily="2" charset="-122"/>
                <a:ea typeface="宋体" panose="02010600030101010101" pitchFamily="2" charset="-122"/>
              </a:rPr>
              <a:t>类芯片，是必备的</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对于</a:t>
            </a:r>
            <a:r>
              <a:rPr lang="en-US" altLang="zh-CN" sz="1400" b="1" dirty="0">
                <a:latin typeface="宋体" panose="02010600030101010101" pitchFamily="2" charset="-122"/>
                <a:ea typeface="宋体" panose="02010600030101010101" pitchFamily="2" charset="-122"/>
              </a:rPr>
              <a:t>RISC</a:t>
            </a:r>
            <a:r>
              <a:rPr lang="zh-CN" altLang="en-US" sz="1400" b="1" dirty="0">
                <a:latin typeface="宋体" panose="02010600030101010101" pitchFamily="2" charset="-122"/>
                <a:ea typeface="宋体" panose="02010600030101010101" pitchFamily="2" charset="-122"/>
              </a:rPr>
              <a:t>芯片，编译器的调整，仍然可以扩大硬件动态指令调度器可选择的指令范围，从而可能带来收益</a:t>
            </a:r>
            <a:endParaRPr lang="en-US" altLang="zh-CN" sz="1400" b="1" dirty="0">
              <a:latin typeface="宋体" panose="02010600030101010101" pitchFamily="2" charset="-122"/>
              <a:ea typeface="宋体" panose="02010600030101010101" pitchFamily="2" charset="-122"/>
            </a:endParaRPr>
          </a:p>
          <a:p>
            <a:pPr lvl="2"/>
            <a:r>
              <a:rPr lang="en-US" altLang="zh-CN" sz="1600" b="1" dirty="0">
                <a:latin typeface="宋体" panose="02010600030101010101" pitchFamily="2" charset="-122"/>
                <a:ea typeface="宋体" panose="02010600030101010101" pitchFamily="2" charset="-122"/>
              </a:rPr>
              <a:t>SIMD</a:t>
            </a:r>
            <a:r>
              <a:rPr lang="zh-CN" altLang="en-US" sz="1600" b="1" dirty="0">
                <a:latin typeface="宋体" panose="02010600030101010101" pitchFamily="2" charset="-122"/>
                <a:ea typeface="宋体" panose="02010600030101010101" pitchFamily="2" charset="-122"/>
              </a:rPr>
              <a:t>部件：短向量优化，类似的指令同时执行，发掘合适的模式</a:t>
            </a:r>
            <a:endParaRPr lang="en-US" altLang="zh-CN" sz="16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多处理：发掘更大范围</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更高层次的并行性，通信</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同步的优化</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多核处理器：多线程</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多机：多进程</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异构（</a:t>
            </a:r>
            <a:r>
              <a:rPr lang="en-US" altLang="zh-CN" sz="1400" b="1" dirty="0">
                <a:latin typeface="宋体" panose="02010600030101010101" pitchFamily="2" charset="-122"/>
                <a:ea typeface="宋体" panose="02010600030101010101" pitchFamily="2" charset="-122"/>
              </a:rPr>
              <a:t>CPU+GPU</a:t>
            </a:r>
            <a:r>
              <a:rPr lang="zh-CN" altLang="en-US" sz="1400" b="1" dirty="0">
                <a:latin typeface="宋体" panose="02010600030101010101" pitchFamily="2" charset="-122"/>
                <a:ea typeface="宋体" panose="02010600030101010101" pitchFamily="2" charset="-122"/>
              </a:rPr>
              <a:t>，</a:t>
            </a:r>
            <a:r>
              <a:rPr lang="en-US" altLang="zh-CN" sz="1400" b="1" dirty="0">
                <a:latin typeface="宋体" panose="02010600030101010101" pitchFamily="2" charset="-122"/>
                <a:ea typeface="宋体" panose="02010600030101010101" pitchFamily="2" charset="-122"/>
              </a:rPr>
              <a:t>CPU+FPGA… …)</a:t>
            </a:r>
            <a:r>
              <a:rPr lang="zh-CN" altLang="en-US" sz="1400" b="1" dirty="0">
                <a:latin typeface="宋体" panose="02010600030101010101" pitchFamily="2" charset="-122"/>
                <a:ea typeface="宋体" panose="02010600030101010101" pitchFamily="2" charset="-122"/>
              </a:rPr>
              <a:t>：任务的合理生成和部署</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超级计算机：单位时间内算得更快，如神威</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太湖之光、天河、曙光等</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数据中心服务器：单位时间内相应更多的服务需求，如亚马逊、谷歌、阿里、百度等的服务器</a:t>
            </a:r>
            <a:endParaRPr lang="en-US" altLang="zh-CN" sz="14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charRg st="75" end="10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79">
                                            <p:txEl>
                                              <p:charRg st="106" end="1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779">
                                            <p:txEl>
                                              <p:charRg st="113" end="12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779">
                                            <p:txEl>
                                              <p:charRg st="128" end="17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5779">
                                            <p:txEl>
                                              <p:charRg st="177" end="20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779">
                                            <p:txEl>
                                              <p:charRg st="208" end="23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779">
                                            <p:txEl>
                                              <p:charRg st="237" end="24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5779">
                                            <p:txEl>
                                              <p:charRg st="247" end="25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5779">
                                            <p:txEl>
                                              <p:charRg st="254" end="28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779">
                                            <p:txEl>
                                              <p:charRg st="289" end="32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779">
                                            <p:txEl>
                                              <p:charRg st="321" end="36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编译技术的应用（</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7827" name="Rectangle 3"/>
          <p:cNvSpPr>
            <a:spLocks noGrp="1"/>
          </p:cNvSpPr>
          <p:nvPr>
            <p:ph idx="1"/>
          </p:nvPr>
        </p:nvSpPr>
        <p:spPr>
          <a:xfrm>
            <a:off x="827088" y="1371600"/>
            <a:ext cx="7705725" cy="4419600"/>
          </a:xfrm>
          <a:ln/>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新计算机体系结构的设计</a:t>
            </a:r>
            <a:endParaRPr lang="en-US" altLang="zh-CN"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当今的体系结构的设计与编译器的研发是相辅相成的</a:t>
            </a:r>
            <a:endParaRPr lang="en-US" altLang="zh-CN" sz="1800" b="1" dirty="0">
              <a:latin typeface="宋体" panose="02010600030101010101" pitchFamily="2" charset="-122"/>
              <a:ea typeface="宋体" panose="02010600030101010101" pitchFamily="2" charset="-122"/>
            </a:endParaRPr>
          </a:p>
          <a:p>
            <a:pPr lvl="2"/>
            <a:r>
              <a:rPr lang="en-US" altLang="zh-CN" sz="1600" b="1" dirty="0">
                <a:latin typeface="宋体" panose="02010600030101010101" pitchFamily="2" charset="-122"/>
                <a:ea typeface="宋体" panose="02010600030101010101" pitchFamily="2" charset="-122"/>
              </a:rPr>
              <a:t>RISC</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精简指令，使得体系结构设计更高效，但是如何构建合理的指令流是发挥</a:t>
            </a:r>
            <a:r>
              <a:rPr lang="en-US" altLang="zh-CN" sz="1400" b="1" dirty="0">
                <a:latin typeface="宋体" panose="02010600030101010101" pitchFamily="2" charset="-122"/>
                <a:ea typeface="宋体" panose="02010600030101010101" pitchFamily="2" charset="-122"/>
              </a:rPr>
              <a:t>RISC</a:t>
            </a:r>
            <a:r>
              <a:rPr lang="zh-CN" altLang="en-US" sz="1400" b="1" dirty="0">
                <a:latin typeface="宋体" panose="02010600030101010101" pitchFamily="2" charset="-122"/>
                <a:ea typeface="宋体" panose="02010600030101010101" pitchFamily="2" charset="-122"/>
              </a:rPr>
              <a:t>架构潜力的关键因素，体系结构通过多发射</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乱序执行</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流水线等技术提供了极大的计算潜能</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编译器技术的进步对</a:t>
            </a:r>
            <a:r>
              <a:rPr lang="en-US" altLang="zh-CN" sz="1400" b="1" dirty="0">
                <a:latin typeface="宋体" panose="02010600030101010101" pitchFamily="2" charset="-122"/>
                <a:ea typeface="宋体" panose="02010600030101010101" pitchFamily="2" charset="-122"/>
              </a:rPr>
              <a:t>RISC</a:t>
            </a:r>
            <a:r>
              <a:rPr lang="zh-CN" altLang="en-US" sz="1400" b="1" dirty="0">
                <a:latin typeface="宋体" panose="02010600030101010101" pitchFamily="2" charset="-122"/>
                <a:ea typeface="宋体" panose="02010600030101010101" pitchFamily="2" charset="-122"/>
              </a:rPr>
              <a:t>的推广起了重要的作用，新的寄存器分配</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指令调度</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软件流水等技术的发展，很好地发挥了</a:t>
            </a:r>
            <a:r>
              <a:rPr lang="en-US" altLang="zh-CN" sz="1400" b="1" dirty="0">
                <a:latin typeface="宋体" panose="02010600030101010101" pitchFamily="2" charset="-122"/>
                <a:ea typeface="宋体" panose="02010600030101010101" pitchFamily="2" charset="-122"/>
              </a:rPr>
              <a:t>RISC</a:t>
            </a:r>
            <a:r>
              <a:rPr lang="zh-CN" altLang="en-US" sz="1400" b="1" dirty="0">
                <a:latin typeface="宋体" panose="02010600030101010101" pitchFamily="2" charset="-122"/>
                <a:ea typeface="宋体" panose="02010600030101010101" pitchFamily="2" charset="-122"/>
              </a:rPr>
              <a:t>芯片的性能</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目前，</a:t>
            </a:r>
            <a:r>
              <a:rPr lang="en-US" altLang="zh-CN" sz="1400" b="1" dirty="0">
                <a:latin typeface="宋体" panose="02010600030101010101" pitchFamily="2" charset="-122"/>
                <a:ea typeface="宋体" panose="02010600030101010101" pitchFamily="2" charset="-122"/>
              </a:rPr>
              <a:t>RISC</a:t>
            </a:r>
            <a:r>
              <a:rPr lang="zh-CN" altLang="en-US" sz="1400" b="1" dirty="0">
                <a:latin typeface="宋体" panose="02010600030101010101" pitchFamily="2" charset="-122"/>
                <a:ea typeface="宋体" panose="02010600030101010101" pitchFamily="2" charset="-122"/>
              </a:rPr>
              <a:t>的思想已经广泛应用在各类芯片的设计中</a:t>
            </a:r>
            <a:endParaRPr lang="en-US" altLang="zh-CN" sz="14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 专用架构</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根据应用场景的特点，简化控制逻辑，增加单位周期内完成的操作数目是专用硬件的主要特点</a:t>
            </a:r>
            <a:endParaRPr lang="en-US" altLang="zh-CN" sz="14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数据流：是数据驱动的模式，而不是控制驱动的模式（这是目前计算机的主要模式），近年来数据流模型成为解决一些种类应用的合理选择，数据流的思想融入了软件编程模型</a:t>
            </a:r>
            <a:r>
              <a:rPr lang="en-US" altLang="zh-CN" sz="1200" b="1" dirty="0">
                <a:latin typeface="宋体" panose="02010600030101010101" pitchFamily="2" charset="-122"/>
                <a:ea typeface="宋体" panose="02010600030101010101" pitchFamily="2" charset="-122"/>
              </a:rPr>
              <a:t>/</a:t>
            </a:r>
            <a:r>
              <a:rPr lang="zh-CN" altLang="en-US" sz="1200" b="1" dirty="0">
                <a:latin typeface="宋体" panose="02010600030101010101" pitchFamily="2" charset="-122"/>
                <a:ea typeface="宋体" panose="02010600030101010101" pitchFamily="2" charset="-122"/>
              </a:rPr>
              <a:t>框架等中，在大数据等应用中得到应用</a:t>
            </a:r>
            <a:endParaRPr lang="en-US" altLang="zh-CN" sz="1200" b="1" dirty="0">
              <a:latin typeface="宋体" panose="02010600030101010101" pitchFamily="2" charset="-122"/>
              <a:ea typeface="宋体" panose="02010600030101010101" pitchFamily="2" charset="-122"/>
            </a:endParaRPr>
          </a:p>
          <a:p>
            <a:pPr lvl="4"/>
            <a:r>
              <a:rPr lang="en-US" altLang="zh-CN" sz="1200" b="1" dirty="0">
                <a:latin typeface="宋体" panose="02010600030101010101" pitchFamily="2" charset="-122"/>
                <a:ea typeface="宋体" panose="02010600030101010101" pitchFamily="2" charset="-122"/>
              </a:rPr>
              <a:t>VLIW</a:t>
            </a:r>
            <a:r>
              <a:rPr lang="zh-CN" altLang="en-US" sz="1200" b="1" dirty="0">
                <a:latin typeface="宋体" panose="02010600030101010101" pitchFamily="2" charset="-122"/>
                <a:ea typeface="宋体" panose="02010600030101010101" pitchFamily="2" charset="-122"/>
              </a:rPr>
              <a:t>、</a:t>
            </a:r>
            <a:r>
              <a:rPr lang="en-US" altLang="zh-CN" sz="1200" b="1" dirty="0">
                <a:latin typeface="宋体" panose="02010600030101010101" pitchFamily="2" charset="-122"/>
                <a:ea typeface="宋体" panose="02010600030101010101" pitchFamily="2" charset="-122"/>
              </a:rPr>
              <a:t>SIMD</a:t>
            </a:r>
            <a:r>
              <a:rPr lang="zh-CN" altLang="en-US" sz="1200" b="1" dirty="0">
                <a:latin typeface="宋体" panose="02010600030101010101" pitchFamily="2" charset="-122"/>
                <a:ea typeface="宋体" panose="02010600030101010101" pitchFamily="2" charset="-122"/>
              </a:rPr>
              <a:t>、向量机、心动阵列（</a:t>
            </a:r>
            <a:r>
              <a:rPr lang="en-US" altLang="zh-CN" sz="1200" b="1" dirty="0">
                <a:latin typeface="宋体" panose="02010600030101010101" pitchFamily="2" charset="-122"/>
                <a:ea typeface="宋体" panose="02010600030101010101" pitchFamily="2" charset="-122"/>
              </a:rPr>
              <a:t>systolic</a:t>
            </a:r>
            <a:r>
              <a:rPr lang="zh-CN" altLang="en-US" sz="1200" b="1" dirty="0">
                <a:latin typeface="宋体" panose="02010600030101010101" pitchFamily="2" charset="-122"/>
                <a:ea typeface="宋体" panose="02010600030101010101" pitchFamily="2" charset="-122"/>
              </a:rPr>
              <a:t> </a:t>
            </a:r>
            <a:r>
              <a:rPr lang="en-US" altLang="zh-CN" sz="1200" b="1" dirty="0">
                <a:latin typeface="宋体" panose="02010600030101010101" pitchFamily="2" charset="-122"/>
                <a:ea typeface="宋体" panose="02010600030101010101" pitchFamily="2" charset="-122"/>
              </a:rPr>
              <a:t>array</a:t>
            </a:r>
            <a:r>
              <a:rPr lang="zh-CN" altLang="en-US" sz="1200" b="1" dirty="0">
                <a:latin typeface="宋体" panose="02010600030101010101" pitchFamily="2" charset="-122"/>
                <a:ea typeface="宋体" panose="02010600030101010101" pitchFamily="2" charset="-122"/>
              </a:rPr>
              <a:t>），</a:t>
            </a:r>
            <a:r>
              <a:rPr lang="en-US" altLang="zh-CN" sz="1200" b="1" dirty="0">
                <a:latin typeface="宋体" panose="02010600030101010101" pitchFamily="2" charset="-122"/>
                <a:ea typeface="宋体" panose="02010600030101010101" pitchFamily="2" charset="-122"/>
              </a:rPr>
              <a:t>SMP</a:t>
            </a:r>
            <a:r>
              <a:rPr lang="zh-CN" altLang="en-US" sz="1200" b="1" dirty="0">
                <a:latin typeface="宋体" panose="02010600030101010101" pitchFamily="2" charset="-122"/>
                <a:ea typeface="宋体" panose="02010600030101010101" pitchFamily="2" charset="-122"/>
              </a:rPr>
              <a:t>，</a:t>
            </a:r>
            <a:r>
              <a:rPr lang="en-US" altLang="zh-CN" sz="1200" b="1" dirty="0">
                <a:latin typeface="宋体" panose="02010600030101010101" pitchFamily="2" charset="-122"/>
                <a:ea typeface="宋体" panose="02010600030101010101" pitchFamily="2" charset="-122"/>
              </a:rPr>
              <a:t>MPP</a:t>
            </a:r>
            <a:r>
              <a:rPr lang="zh-CN" altLang="en-US" sz="1200" b="1" dirty="0">
                <a:latin typeface="宋体" panose="02010600030101010101" pitchFamily="2" charset="-122"/>
                <a:ea typeface="宋体" panose="02010600030101010101" pitchFamily="2" charset="-122"/>
              </a:rPr>
              <a:t>等是对现有计算机的改进，从不同层面增加了并行性，新的编译技术提供了重要的支持，如向量化编译器之于向量计算机，并行优化编译器之于并行计算机</a:t>
            </a:r>
            <a:endParaRPr lang="en-US" altLang="zh-CN" sz="1200" b="1" dirty="0">
              <a:latin typeface="宋体" panose="02010600030101010101" pitchFamily="2" charset="-122"/>
              <a:ea typeface="宋体" panose="02010600030101010101" pitchFamily="2" charset="-122"/>
            </a:endParaRPr>
          </a:p>
          <a:p>
            <a:pPr lvl="4"/>
            <a:r>
              <a:rPr lang="en-US" altLang="zh-CN" sz="1200" b="1" dirty="0">
                <a:latin typeface="宋体" panose="02010600030101010101" pitchFamily="2" charset="-122"/>
                <a:ea typeface="宋体" panose="02010600030101010101" pitchFamily="2" charset="-122"/>
              </a:rPr>
              <a:t>GPU</a:t>
            </a:r>
            <a:r>
              <a:rPr lang="zh-CN" altLang="en-US" sz="1200" b="1" dirty="0">
                <a:latin typeface="宋体" panose="02010600030101010101" pitchFamily="2" charset="-122"/>
                <a:ea typeface="宋体" panose="02010600030101010101" pitchFamily="2" charset="-122"/>
              </a:rPr>
              <a:t>：面向</a:t>
            </a:r>
            <a:r>
              <a:rPr lang="en-US" altLang="zh-CN" sz="1200" b="1" dirty="0">
                <a:latin typeface="宋体" panose="02010600030101010101" pitchFamily="2" charset="-122"/>
                <a:ea typeface="宋体" panose="02010600030101010101" pitchFamily="2" charset="-122"/>
              </a:rPr>
              <a:t>GPU</a:t>
            </a:r>
            <a:r>
              <a:rPr lang="zh-CN" altLang="en-US" sz="1200" b="1" dirty="0">
                <a:latin typeface="宋体" panose="02010600030101010101" pitchFamily="2" charset="-122"/>
                <a:ea typeface="宋体" panose="02010600030101010101" pitchFamily="2" charset="-122"/>
              </a:rPr>
              <a:t>的优化</a:t>
            </a:r>
            <a:r>
              <a:rPr lang="en-US" altLang="zh-CN" sz="1200" b="1" dirty="0">
                <a:latin typeface="宋体" panose="02010600030101010101" pitchFamily="2" charset="-122"/>
                <a:ea typeface="宋体" panose="02010600030101010101" pitchFamily="2" charset="-122"/>
              </a:rPr>
              <a:t>/</a:t>
            </a:r>
            <a:r>
              <a:rPr lang="zh-CN" altLang="en-US" sz="1200" b="1" dirty="0">
                <a:latin typeface="宋体" panose="02010600030101010101" pitchFamily="2" charset="-122"/>
                <a:ea typeface="宋体" panose="02010600030101010101" pitchFamily="2" charset="-122"/>
              </a:rPr>
              <a:t>异构优化</a:t>
            </a:r>
            <a:endParaRPr lang="en-US" altLang="zh-CN" sz="1200" b="1" dirty="0">
              <a:latin typeface="宋体" panose="02010600030101010101" pitchFamily="2" charset="-122"/>
              <a:ea typeface="宋体" panose="02010600030101010101" pitchFamily="2" charset="-122"/>
            </a:endParaRPr>
          </a:p>
          <a:p>
            <a:pPr lvl="4"/>
            <a:r>
              <a:rPr lang="en-US" altLang="zh-CN" sz="1200" b="1" dirty="0">
                <a:latin typeface="宋体" panose="02010600030101010101" pitchFamily="2" charset="-122"/>
                <a:ea typeface="宋体" panose="02010600030101010101" pitchFamily="2" charset="-122"/>
              </a:rPr>
              <a:t>FPGA</a:t>
            </a:r>
            <a:r>
              <a:rPr lang="zh-CN" altLang="en-US" sz="1200" b="1" dirty="0">
                <a:latin typeface="宋体" panose="02010600030101010101" pitchFamily="2" charset="-122"/>
                <a:ea typeface="宋体" panose="02010600030101010101" pitchFamily="2" charset="-122"/>
              </a:rPr>
              <a:t>：针对特定领域应用的加速有优势，编译的支持是广泛使用的助推器</a:t>
            </a:r>
            <a:endParaRPr lang="en-US" altLang="zh-CN" sz="12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智能处理器：近年非常热，目前基本是针对某几个特定应用，已经在做编译</a:t>
            </a:r>
            <a:r>
              <a:rPr lang="en-US" altLang="zh-CN" sz="1200" b="1" dirty="0">
                <a:latin typeface="宋体" panose="02010600030101010101" pitchFamily="2" charset="-122"/>
                <a:ea typeface="宋体" panose="02010600030101010101" pitchFamily="2" charset="-122"/>
              </a:rPr>
              <a:t>/</a:t>
            </a:r>
            <a:r>
              <a:rPr lang="zh-CN" altLang="en-US" sz="1200" b="1" dirty="0">
                <a:latin typeface="宋体" panose="02010600030101010101" pitchFamily="2" charset="-122"/>
                <a:ea typeface="宋体" panose="02010600030101010101" pitchFamily="2" charset="-122"/>
              </a:rPr>
              <a:t>编程框架等</a:t>
            </a:r>
            <a:endParaRPr lang="en-US" altLang="zh-CN" sz="12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a:t>
            </a:r>
            <a:r>
              <a:rPr lang="en-US" altLang="zh-CN" sz="1200" b="1" dirty="0">
                <a:latin typeface="宋体" panose="02010600030101010101" pitchFamily="2" charset="-122"/>
                <a:ea typeface="宋体" panose="02010600030101010101" pitchFamily="2" charset="-122"/>
              </a:rPr>
              <a:t>…</a:t>
            </a:r>
            <a:endParaRPr lang="en-US" altLang="zh-CN" sz="12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charRg st="36" end="4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7">
                                            <p:txEl>
                                              <p:charRg st="41" end="11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827">
                                            <p:txEl>
                                              <p:charRg st="119" end="18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827">
                                            <p:txEl>
                                              <p:charRg st="183" end="20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7827">
                                            <p:txEl>
                                              <p:charRg st="209" end="2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827">
                                            <p:txEl>
                                              <p:charRg st="215" end="25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7827">
                                            <p:txEl>
                                              <p:charRg st="257" end="35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7827">
                                            <p:txEl>
                                              <p:charRg st="353" end="46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827">
                                            <p:txEl>
                                              <p:charRg st="464" end="48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827">
                                            <p:txEl>
                                              <p:charRg st="482" end="5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7827">
                                            <p:txEl>
                                              <p:charRg st="517" end="55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7827">
                                            <p:txEl>
                                              <p:charRg st="557" end="56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编译技术的应用（</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8850" name="Rectangle 3"/>
          <p:cNvSpPr>
            <a:spLocks noGrp="1"/>
          </p:cNvSpPr>
          <p:nvPr>
            <p:ph idx="1"/>
          </p:nvPr>
        </p:nvSpPr>
        <p:spPr>
          <a:xfrm>
            <a:off x="827088" y="1371600"/>
            <a:ext cx="7705725" cy="4419600"/>
          </a:xfrm>
          <a:ln/>
        </p:spPr>
        <p:txBody>
          <a:bodyPr vert="horz" wrap="square" lIns="92075" tIns="46038" rIns="92075" bIns="46038" anchor="t" anchorCtr="0"/>
          <a:p>
            <a:r>
              <a:rPr lang="zh-CN" altLang="en-US" sz="1800" b="1" dirty="0">
                <a:latin typeface="宋体" panose="02010600030101010101" pitchFamily="2" charset="-122"/>
                <a:ea typeface="宋体" panose="02010600030101010101" pitchFamily="2" charset="-122"/>
              </a:rPr>
              <a:t>程序翻译</a:t>
            </a:r>
            <a:endParaRPr lang="en-US" altLang="zh-CN" sz="1800" b="1" dirty="0">
              <a:latin typeface="宋体" panose="02010600030101010101" pitchFamily="2" charset="-122"/>
              <a:ea typeface="宋体" panose="02010600030101010101" pitchFamily="2" charset="-122"/>
            </a:endParaRPr>
          </a:p>
          <a:p>
            <a:pPr lvl="1"/>
            <a:r>
              <a:rPr lang="zh-CN" altLang="en-US" sz="1600" b="1" dirty="0">
                <a:latin typeface="宋体" panose="02010600030101010101" pitchFamily="2" charset="-122"/>
                <a:ea typeface="宋体" panose="02010600030101010101" pitchFamily="2" charset="-122"/>
              </a:rPr>
              <a:t>二进制翻译：</a:t>
            </a:r>
            <a:r>
              <a:rPr lang="zh-CN" altLang="en-US" sz="1400" b="1" dirty="0">
                <a:latin typeface="宋体" panose="02010600030101010101" pitchFamily="2" charset="-122"/>
                <a:ea typeface="宋体" panose="02010600030101010101" pitchFamily="2" charset="-122"/>
              </a:rPr>
              <a:t>将一个机器的二进制代码翻译为另外一个机器的二进制码</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如将</a:t>
            </a:r>
            <a:r>
              <a:rPr lang="en-US" altLang="zh-CN" sz="1400" b="1" dirty="0">
                <a:latin typeface="宋体" panose="02010600030101010101" pitchFamily="2" charset="-122"/>
                <a:ea typeface="宋体" panose="02010600030101010101" pitchFamily="2" charset="-122"/>
              </a:rPr>
              <a:t>X86/Linux</a:t>
            </a:r>
            <a:r>
              <a:rPr lang="zh-CN" altLang="en-US" sz="1400" b="1" dirty="0">
                <a:latin typeface="宋体" panose="02010600030101010101" pitchFamily="2" charset="-122"/>
                <a:ea typeface="宋体" panose="02010600030101010101" pitchFamily="2" charset="-122"/>
              </a:rPr>
              <a:t>的二进制码翻译为龙芯</a:t>
            </a:r>
            <a:r>
              <a:rPr lang="en-US" altLang="zh-CN" sz="1400" b="1" dirty="0">
                <a:latin typeface="宋体" panose="02010600030101010101" pitchFamily="2" charset="-122"/>
                <a:ea typeface="宋体" panose="02010600030101010101" pitchFamily="2" charset="-122"/>
              </a:rPr>
              <a:t>/Linux</a:t>
            </a:r>
            <a:r>
              <a:rPr lang="zh-CN" altLang="en-US" sz="1400" b="1" dirty="0">
                <a:latin typeface="宋体" panose="02010600030101010101" pitchFamily="2" charset="-122"/>
                <a:ea typeface="宋体" panose="02010600030101010101" pitchFamily="2" charset="-122"/>
              </a:rPr>
              <a:t>的二进制代码，不仅与体系结构优化，还与操作系统等有关</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解决遗产代码应用的问题，在有限范围内有过一定的应用</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解决新型处理器缺乏应用的问题，但是有很多困难</a:t>
            </a:r>
            <a:endParaRPr lang="en-US" altLang="zh-CN" sz="1400" b="1" dirty="0">
              <a:latin typeface="宋体" panose="02010600030101010101" pitchFamily="2" charset="-122"/>
              <a:ea typeface="宋体" panose="02010600030101010101" pitchFamily="2" charset="-122"/>
            </a:endParaRPr>
          </a:p>
          <a:p>
            <a:pPr lvl="1"/>
            <a:r>
              <a:rPr lang="zh-CN" altLang="en-US" sz="1600" b="1" dirty="0">
                <a:latin typeface="宋体" panose="02010600030101010101" pitchFamily="2" charset="-122"/>
                <a:ea typeface="宋体" panose="02010600030101010101" pitchFamily="2" charset="-122"/>
              </a:rPr>
              <a:t> 硬件综合</a:t>
            </a:r>
            <a:endParaRPr lang="en-US" altLang="zh-CN" sz="16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大部分硬件设计是采用诸如</a:t>
            </a:r>
            <a:r>
              <a:rPr lang="en-US" altLang="zh-CN" sz="1400" b="1" dirty="0">
                <a:latin typeface="宋体" panose="02010600030101010101" pitchFamily="2" charset="-122"/>
                <a:ea typeface="宋体" panose="02010600030101010101" pitchFamily="2" charset="-122"/>
              </a:rPr>
              <a:t>Verilog</a:t>
            </a:r>
            <a:r>
              <a:rPr lang="zh-CN" altLang="en-US" sz="1400" b="1" dirty="0">
                <a:latin typeface="宋体" panose="02010600030101010101" pitchFamily="2" charset="-122"/>
                <a:ea typeface="宋体" panose="02010600030101010101" pitchFamily="2" charset="-122"/>
              </a:rPr>
              <a:t>、</a:t>
            </a:r>
            <a:r>
              <a:rPr lang="en-US" altLang="zh-CN" sz="1400" b="1" dirty="0">
                <a:latin typeface="宋体" panose="02010600030101010101" pitchFamily="2" charset="-122"/>
                <a:ea typeface="宋体" panose="02010600030101010101" pitchFamily="2" charset="-122"/>
              </a:rPr>
              <a:t>VHDL</a:t>
            </a:r>
            <a:r>
              <a:rPr lang="zh-CN" altLang="en-US" sz="1400" b="1" dirty="0">
                <a:latin typeface="宋体" panose="02010600030101010101" pitchFamily="2" charset="-122"/>
                <a:ea typeface="宋体" panose="02010600030101010101" pitchFamily="2" charset="-122"/>
              </a:rPr>
              <a:t>等语言实现的</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将这些程序自动综合得到一个高质量的布局布线结果是一个非常难得问题，编译技术可以提供帮助</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编译技术在这类应用中也会遇到一些特有的问题，例如超大的循环体</a:t>
            </a:r>
            <a:endParaRPr lang="en-US" altLang="zh-CN" sz="1400" b="1" dirty="0">
              <a:latin typeface="宋体" panose="02010600030101010101" pitchFamily="2" charset="-122"/>
              <a:ea typeface="宋体" panose="02010600030101010101" pitchFamily="2" charset="-122"/>
            </a:endParaRPr>
          </a:p>
          <a:p>
            <a:pPr lvl="1"/>
            <a:r>
              <a:rPr lang="zh-CN" altLang="en-US" sz="1600" b="1" dirty="0">
                <a:latin typeface="宋体" panose="02010600030101010101" pitchFamily="2" charset="-122"/>
                <a:ea typeface="宋体" panose="02010600030101010101" pitchFamily="2" charset="-122"/>
              </a:rPr>
              <a:t>数据查询解释器</a:t>
            </a:r>
            <a:endParaRPr lang="en-US" altLang="zh-CN" sz="1600" b="1" dirty="0">
              <a:latin typeface="宋体" panose="02010600030101010101" pitchFamily="2" charset="-122"/>
              <a:ea typeface="宋体" panose="02010600030101010101" pitchFamily="2" charset="-122"/>
            </a:endParaRPr>
          </a:p>
          <a:p>
            <a:pPr lvl="2"/>
            <a:r>
              <a:rPr lang="en-US" altLang="zh-CN" sz="1400" b="1" dirty="0">
                <a:latin typeface="宋体" panose="02010600030101010101" pitchFamily="2" charset="-122"/>
                <a:ea typeface="宋体" panose="02010600030101010101" pitchFamily="2" charset="-122"/>
              </a:rPr>
              <a:t>SQL</a:t>
            </a:r>
            <a:r>
              <a:rPr lang="zh-CN" altLang="en-US" sz="1400" b="1" dirty="0">
                <a:latin typeface="宋体" panose="02010600030101010101" pitchFamily="2" charset="-122"/>
                <a:ea typeface="宋体" panose="02010600030101010101" pitchFamily="2" charset="-122"/>
              </a:rPr>
              <a:t>语言的程序包含有很多关系和布尔运算符的断言</a:t>
            </a:r>
            <a:endParaRPr lang="en-US" altLang="zh-CN" sz="1400" b="1" dirty="0">
              <a:latin typeface="宋体" panose="02010600030101010101" pitchFamily="2" charset="-122"/>
              <a:ea typeface="宋体" panose="02010600030101010101" pitchFamily="2" charset="-122"/>
            </a:endParaRPr>
          </a:p>
          <a:p>
            <a:pPr lvl="3"/>
            <a:r>
              <a:rPr lang="zh-CN" altLang="en-US" sz="1200" b="1" dirty="0">
                <a:latin typeface="宋体" panose="02010600030101010101" pitchFamily="2" charset="-122"/>
                <a:ea typeface="宋体" panose="02010600030101010101" pitchFamily="2" charset="-122"/>
              </a:rPr>
              <a:t>可以解释执行，也可以翻译执行</a:t>
            </a:r>
            <a:endParaRPr lang="en-US" altLang="zh-CN" sz="1200" b="1" dirty="0">
              <a:latin typeface="宋体" panose="02010600030101010101" pitchFamily="2" charset="-122"/>
              <a:ea typeface="宋体" panose="02010600030101010101" pitchFamily="2" charset="-122"/>
            </a:endParaRPr>
          </a:p>
          <a:p>
            <a:pPr lvl="3"/>
            <a:r>
              <a:rPr lang="zh-CN" altLang="en-US" sz="1200" b="1" dirty="0">
                <a:latin typeface="宋体" panose="02010600030101010101" pitchFamily="2" charset="-122"/>
                <a:ea typeface="宋体" panose="02010600030101010101" pitchFamily="2" charset="-122"/>
              </a:rPr>
              <a:t>如何合理布置计算的过程是一个非常重要的优化</a:t>
            </a:r>
            <a:endParaRPr lang="en-US" altLang="zh-CN" sz="1200" b="1" dirty="0">
              <a:latin typeface="宋体" panose="02010600030101010101" pitchFamily="2" charset="-122"/>
              <a:ea typeface="宋体" panose="02010600030101010101" pitchFamily="2" charset="-122"/>
            </a:endParaRPr>
          </a:p>
          <a:p>
            <a:pPr lvl="1"/>
            <a:r>
              <a:rPr lang="zh-CN" altLang="en-US" sz="1600" b="1" dirty="0">
                <a:latin typeface="宋体" panose="02010600030101010101" pitchFamily="2" charset="-122"/>
                <a:ea typeface="宋体" panose="02010600030101010101" pitchFamily="2" charset="-122"/>
              </a:rPr>
              <a:t>编译然后模拟</a:t>
            </a:r>
            <a:endParaRPr lang="en-US" altLang="zh-CN" sz="16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不构建模拟器（昂贵，且可能很耗时），特别是软件模拟器，由于是解释执行，可能非常耗时</a:t>
            </a:r>
            <a:endParaRPr lang="en-US" altLang="zh-CN" sz="1400" b="1" dirty="0">
              <a:latin typeface="宋体" panose="02010600030101010101" pitchFamily="2" charset="-122"/>
              <a:ea typeface="宋体" panose="02010600030101010101" pitchFamily="2" charset="-122"/>
            </a:endParaRPr>
          </a:p>
          <a:p>
            <a:pPr lvl="2"/>
            <a:r>
              <a:rPr lang="zh-CN" altLang="en-US" sz="1400" b="1" dirty="0">
                <a:latin typeface="宋体" panose="02010600030101010101" pitchFamily="2" charset="-122"/>
                <a:ea typeface="宋体" panose="02010600030101010101" pitchFamily="2" charset="-122"/>
              </a:rPr>
              <a:t>直接将设计的代码编译生成可以在机器上直接模拟特定设计的机器代码，可以显著改善模拟的效率</a:t>
            </a:r>
            <a:endParaRPr lang="en-US" altLang="zh-CN" sz="1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编译技术的应用（</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0898" name="Rectangle 3"/>
          <p:cNvSpPr>
            <a:spLocks noGrp="1"/>
          </p:cNvSpPr>
          <p:nvPr>
            <p:ph idx="1"/>
          </p:nvPr>
        </p:nvSpPr>
        <p:spPr>
          <a:xfrm>
            <a:off x="755650" y="1371600"/>
            <a:ext cx="7848600" cy="4419600"/>
          </a:xfrm>
          <a:ln/>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软件生产率工具</a:t>
            </a:r>
            <a:endParaRPr lang="en-US" altLang="zh-CN" sz="2000" b="1" dirty="0">
              <a:latin typeface="宋体" panose="02010600030101010101" pitchFamily="2" charset="-122"/>
              <a:ea typeface="宋体" panose="02010600030101010101" pitchFamily="2" charset="-122"/>
            </a:endParaRPr>
          </a:p>
          <a:p>
            <a:pPr lvl="1"/>
            <a:r>
              <a:rPr lang="zh-CN" altLang="en-US" sz="1600" b="1" dirty="0">
                <a:latin typeface="宋体" panose="02010600030101010101" pitchFamily="2" charset="-122"/>
                <a:ea typeface="宋体" panose="02010600030101010101" pitchFamily="2" charset="-122"/>
              </a:rPr>
              <a:t>编译技术不仅可以改善目标代码的执行效率，还可以对提高软件的开发效率</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安全特性等作出贡献</a:t>
            </a:r>
            <a:endParaRPr lang="en-US" altLang="zh-CN" sz="16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基于编译技术的软件安全架构是编译技术研究的主要趋势之一</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漏洞挖掘、代码混淆等方面都可以借助编译技术的支持</a:t>
            </a:r>
            <a:endParaRPr lang="en-US" altLang="zh-CN" sz="14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错误检测和定位也可以通过编译技术改善</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通过流分析技术（编译常用分析技术之一）可以提高测试的效率，用更少的例子得到更高的代码覆盖率</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通过依赖关系帮助错误的自动定位</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找到程序中的所有错误是不可判定的</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工具报告的错误可能存在漏报，也可能存在误报，要尽可能减少漏报和误报，但是用到的技术往往相冲突的</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编译用到的一些分析技术等，为了保证正确性，往往倾向于采取保守的策略，而在错误检测</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定位中策略可能不同</a:t>
            </a:r>
            <a:endParaRPr lang="en-US" altLang="zh-CN" sz="14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几个例子</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类型检查：类型的不匹配也可能意味着错误</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漏洞</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边界检查：如缓冲区溢出</a:t>
            </a:r>
            <a:r>
              <a:rPr lang="en-US" altLang="zh-CN" sz="1400" b="1" dirty="0">
                <a:latin typeface="宋体" panose="02010600030101010101" pitchFamily="2" charset="-122"/>
                <a:ea typeface="宋体" panose="02010600030101010101" pitchFamily="2" charset="-122"/>
              </a:rPr>
              <a:t>/</a:t>
            </a:r>
            <a:r>
              <a:rPr lang="zh-CN" altLang="en-US" sz="1400" b="1" dirty="0">
                <a:latin typeface="宋体" panose="02010600030101010101" pitchFamily="2" charset="-122"/>
                <a:ea typeface="宋体" panose="02010600030101010101" pitchFamily="2" charset="-122"/>
              </a:rPr>
              <a:t>数组越界，对非法存储区域的访问可能导致严重问题，而对这些漏洞的恶意利用是导致安全问题的原因之一</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内存管理工具：</a:t>
            </a:r>
            <a:r>
              <a:rPr lang="en-US" altLang="zh-CN" sz="1400" b="1" dirty="0">
                <a:latin typeface="宋体" panose="02010600030101010101" pitchFamily="2" charset="-122"/>
                <a:ea typeface="宋体" panose="02010600030101010101" pitchFamily="2" charset="-122"/>
              </a:rPr>
              <a:t>GC</a:t>
            </a:r>
            <a:r>
              <a:rPr lang="zh-CN" altLang="en-US" sz="1400" b="1" dirty="0">
                <a:latin typeface="宋体" panose="02010600030101010101" pitchFamily="2" charset="-122"/>
                <a:ea typeface="宋体" panose="02010600030101010101" pitchFamily="2" charset="-122"/>
              </a:rPr>
              <a:t>机制在一定程度上在编程效率和软件可靠性间取得了良好的折中</a:t>
            </a:r>
            <a:endParaRPr lang="en-US" altLang="zh-CN" sz="1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9635" name="Rectangle 3"/>
          <p:cNvSpPr>
            <a:spLocks noGrp="1" noChangeArrowheads="1"/>
          </p:cNvSpPr>
          <p:nvPr>
            <p:ph idx="1"/>
          </p:nvPr>
        </p:nvSpPr>
        <p:spPr>
          <a:xfrm>
            <a:off x="539750" y="1371600"/>
            <a:ext cx="7993063"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静态和动态的区别</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如果语言使用的策略支持（静态）编译时刻决定某个问题，称为语言使用的一个静态（</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static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）策略</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如</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语言程序中的变量的名字</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类型等</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只允许在运行程序的时候作出决定的策略称为动态（</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dynamic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）策略</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如前述变量（非常量）的值</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声明的作用域：静态作用域（</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1.6.3</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）和动态作用域（</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1.6.5</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Static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关键字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Java</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中的</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public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static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int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成为一个类变量，无论创建了多少个这个类的对象，只存在一个</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的拷贝</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语言程序：</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void</a:t>
            </a:r>
            <a:r>
              <a:rPr kumimoji="0" lang="zh-CN" altLang="en-US"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a:t>
            </a: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f( … )</a:t>
            </a: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a:t>
            </a: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static </a:t>
            </a:r>
            <a:r>
              <a:rPr kumimoji="0" lang="en-US" altLang="zh-CN" sz="12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int</a:t>
            </a: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x;</a:t>
            </a: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a:t>
            </a: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a:buNone/>
              <a:defRPr/>
            </a:pPr>
            <a:r>
              <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endParaRPr kumimoji="0" lang="en-US" altLang="zh-CN" sz="1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放在静态数据区，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f</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的任何一次执行，</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访问的都是静态数据区对应存储单元（只有一个拷贝）</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可以实现</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的值在</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f</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的不同次活动（执行）中的传递，但不是参数传递</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4994" name="Rectangle 3"/>
          <p:cNvSpPr>
            <a:spLocks noGrp="1"/>
          </p:cNvSpPr>
          <p:nvPr>
            <p:ph idx="1"/>
          </p:nvPr>
        </p:nvSpPr>
        <p:spPr>
          <a:xfrm>
            <a:off x="539750" y="1371600"/>
            <a:ext cx="8135938"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环境与状态</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程序中变量</a:t>
            </a:r>
            <a:r>
              <a:rPr lang="en-US" altLang="zh-CN" sz="2000" b="1" dirty="0">
                <a:latin typeface="宋体" panose="02010600030101010101" pitchFamily="2" charset="-122"/>
                <a:ea typeface="宋体" panose="02010600030101010101" pitchFamily="2" charset="-122"/>
              </a:rPr>
              <a:t>x</a:t>
            </a:r>
            <a:r>
              <a:rPr lang="zh-CN" altLang="en-US" sz="2000" b="1" dirty="0">
                <a:latin typeface="宋体" panose="02010600030101010101" pitchFamily="2" charset="-122"/>
                <a:ea typeface="宋体" panose="02010600030101010101" pitchFamily="2" charset="-122"/>
              </a:rPr>
              <a:t>的一次出现，代表了什么？</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名字？存储位置？值？或者类型？</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上述信息，哪些是可以发生变化的？变化发生的条件是什么？</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“值”可以通过赋值操作发生变化</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存储位置能变吗？</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类型呢？</a:t>
            </a:r>
            <a:endParaRPr lang="en-US" altLang="zh-CN" sz="16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名字和内存位置的关联，以及名字与值的关联可用两级映射描述</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环境（</a:t>
            </a:r>
            <a:r>
              <a:rPr lang="en-US" altLang="zh-CN" sz="1800" b="1" dirty="0">
                <a:latin typeface="宋体" panose="02010600030101010101" pitchFamily="2" charset="-122"/>
                <a:ea typeface="宋体" panose="02010600030101010101" pitchFamily="2" charset="-122"/>
              </a:rPr>
              <a:t>environment</a:t>
            </a:r>
            <a:r>
              <a:rPr lang="zh-CN" altLang="en-US" sz="1800" b="1" dirty="0">
                <a:latin typeface="宋体" panose="02010600030101010101" pitchFamily="2" charset="-122"/>
                <a:ea typeface="宋体" panose="02010600030101010101" pitchFamily="2" charset="-122"/>
              </a:rPr>
              <a:t>）：将名字映射到存储位置，其改变需要遵循语言规则</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变量的“左值”</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状态（</a:t>
            </a:r>
            <a:r>
              <a:rPr lang="en-US" altLang="zh-CN" sz="1800" b="1" dirty="0">
                <a:latin typeface="宋体" panose="02010600030101010101" pitchFamily="2" charset="-122"/>
                <a:ea typeface="宋体" panose="02010600030101010101" pitchFamily="2" charset="-122"/>
              </a:rPr>
              <a:t>state</a:t>
            </a:r>
            <a:r>
              <a:rPr lang="zh-CN" altLang="en-US" sz="1800" b="1" dirty="0">
                <a:latin typeface="宋体" panose="02010600030101010101" pitchFamily="2" charset="-122"/>
                <a:ea typeface="宋体" panose="02010600030101010101" pitchFamily="2" charset="-122"/>
              </a:rPr>
              <a:t>）：内存位置到其值的映射</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“右值”，即通常所说的变量的值</a:t>
            </a:r>
            <a:endParaRPr lang="en-US" altLang="zh-CN" sz="1600" b="1" dirty="0">
              <a:latin typeface="宋体" panose="02010600030101010101" pitchFamily="2" charset="-122"/>
              <a:ea typeface="宋体" panose="02010600030101010101" pitchFamily="2" charset="-122"/>
            </a:endParaRPr>
          </a:p>
        </p:txBody>
      </p:sp>
      <p:pic>
        <p:nvPicPr>
          <p:cNvPr id="84995" name="图片 3"/>
          <p:cNvPicPr>
            <a:picLocks noChangeAspect="1"/>
          </p:cNvPicPr>
          <p:nvPr/>
        </p:nvPicPr>
        <p:blipFill>
          <a:blip r:embed="rId1"/>
          <a:stretch>
            <a:fillRect/>
          </a:stretch>
        </p:blipFill>
        <p:spPr>
          <a:xfrm>
            <a:off x="4716780" y="5492750"/>
            <a:ext cx="4077335" cy="1461135"/>
          </a:xfrm>
          <a:prstGeom prst="rect">
            <a:avLst/>
          </a:prstGeom>
          <a:noFill/>
          <a:ln w="9525">
            <a:noFill/>
          </a:ln>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7042" name="Rectangle 3"/>
          <p:cNvSpPr>
            <a:spLocks noGrp="1"/>
          </p:cNvSpPr>
          <p:nvPr>
            <p:ph idx="1"/>
          </p:nvPr>
        </p:nvSpPr>
        <p:spPr>
          <a:xfrm>
            <a:off x="684213" y="1371600"/>
            <a:ext cx="4464050"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环境与状态（续）</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注意右例中“</a:t>
            </a:r>
            <a:r>
              <a:rPr lang="en-US" altLang="zh-CN" sz="2000" b="1" dirty="0">
                <a:latin typeface="宋体" panose="02010600030101010101" pitchFamily="2" charset="-122"/>
                <a:ea typeface="宋体" panose="02010600030101010101" pitchFamily="2" charset="-122"/>
              </a:rPr>
              <a:t>i</a:t>
            </a:r>
            <a:r>
              <a:rPr lang="zh-CN" altLang="en-US" sz="2000" b="1" dirty="0">
                <a:latin typeface="宋体" panose="02010600030101010101" pitchFamily="2" charset="-122"/>
                <a:ea typeface="宋体" panose="02010600030101010101" pitchFamily="2" charset="-122"/>
              </a:rPr>
              <a:t>”的每次出现的不同解释</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前页的两级映射是动态的，但</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通常名字到位置的绑定是动态的，但对于</a:t>
            </a:r>
            <a:r>
              <a:rPr lang="en-US" altLang="zh-CN" sz="1800" b="1" dirty="0">
                <a:latin typeface="宋体" panose="02010600030101010101" pitchFamily="2" charset="-122"/>
                <a:ea typeface="宋体" panose="02010600030101010101" pitchFamily="2" charset="-122"/>
              </a:rPr>
              <a:t>C</a:t>
            </a:r>
            <a:r>
              <a:rPr lang="zh-CN" altLang="en-US" sz="1800" b="1" dirty="0">
                <a:latin typeface="宋体" panose="02010600030101010101" pitchFamily="2" charset="-122"/>
                <a:ea typeface="宋体" panose="02010600030101010101" pitchFamily="2" charset="-122"/>
              </a:rPr>
              <a:t>语言中的全局变量可以在代码生成时直接分配一个存储位置（静态绑定）</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通常位置到值的绑定也是动态的，但是常量声明可以使得这个绑定不可改变</a:t>
            </a:r>
            <a:endParaRPr lang="en-US" altLang="zh-CN" sz="1800" b="1" dirty="0">
              <a:latin typeface="宋体" panose="02010600030101010101" pitchFamily="2" charset="-122"/>
              <a:ea typeface="宋体" panose="02010600030101010101" pitchFamily="2" charset="-122"/>
            </a:endParaRPr>
          </a:p>
        </p:txBody>
      </p:sp>
      <p:sp>
        <p:nvSpPr>
          <p:cNvPr id="87043" name="文本框 1"/>
          <p:cNvSpPr txBox="1"/>
          <p:nvPr/>
        </p:nvSpPr>
        <p:spPr>
          <a:xfrm>
            <a:off x="5148263" y="1628775"/>
            <a:ext cx="3816350" cy="3478213"/>
          </a:xfrm>
          <a:prstGeom prst="rect">
            <a:avLst/>
          </a:prstGeom>
          <a:noFill/>
          <a:ln w="9525">
            <a:noFill/>
          </a:ln>
        </p:spPr>
        <p:txBody>
          <a:bodyPr anchor="t" anchorCtr="0">
            <a:spAutoFit/>
          </a:bodyPr>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int i ;		  </a:t>
            </a:r>
            <a:r>
              <a:rPr lang="en-US" altLang="zh-CN" sz="1600" b="1" dirty="0">
                <a:solidFill>
                  <a:srgbClr val="CC0000"/>
                </a:solidFill>
                <a:latin typeface="Times New Roman" panose="02020603050405020304" pitchFamily="18" charset="0"/>
                <a:ea typeface="宋体" panose="02010600030101010101" pitchFamily="2" charset="-122"/>
              </a:rPr>
              <a:t>/* </a:t>
            </a:r>
            <a:r>
              <a:rPr lang="zh-CN" altLang="en-US" sz="1600" b="1" dirty="0">
                <a:solidFill>
                  <a:srgbClr val="CC0000"/>
                </a:solidFill>
                <a:latin typeface="Times New Roman" panose="02020603050405020304" pitchFamily="18" charset="0"/>
                <a:ea typeface="宋体" panose="02010600030101010101" pitchFamily="2" charset="-122"/>
              </a:rPr>
              <a:t>全局</a:t>
            </a:r>
            <a:r>
              <a:rPr lang="en-US" altLang="zh-CN" sz="1600" b="1" dirty="0">
                <a:solidFill>
                  <a:srgbClr val="CC0000"/>
                </a:solidFill>
                <a:latin typeface="Times New Roman" panose="02020603050405020304" pitchFamily="18" charset="0"/>
                <a:ea typeface="宋体" panose="02010600030101010101" pitchFamily="2" charset="-122"/>
              </a:rPr>
              <a:t>i</a:t>
            </a:r>
            <a:r>
              <a:rPr lang="zh-CN" altLang="en-US" sz="1600" b="1" dirty="0">
                <a:solidFill>
                  <a:srgbClr val="CC0000"/>
                </a:solidFill>
                <a:latin typeface="Times New Roman" panose="02020603050405020304" pitchFamily="18" charset="0"/>
                <a:ea typeface="宋体" panose="02010600030101010101" pitchFamily="2" charset="-122"/>
              </a:rPr>
              <a:t>    *</a:t>
            </a:r>
            <a:r>
              <a:rPr lang="en-US" altLang="zh-CN" sz="1600" b="1" dirty="0">
                <a:solidFill>
                  <a:srgbClr val="CC0000"/>
                </a:solidFill>
                <a:latin typeface="Times New Roman" panose="02020603050405020304" pitchFamily="18" charset="0"/>
                <a:ea typeface="宋体" panose="02010600030101010101" pitchFamily="2" charset="-122"/>
              </a:rPr>
              <a:t>/</a:t>
            </a:r>
            <a:endParaRPr lang="en-US" altLang="zh-CN" sz="16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void f ( … ) {</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	int i;	 </a:t>
            </a:r>
            <a:r>
              <a:rPr lang="en-US" altLang="zh-CN" sz="1600" b="1" dirty="0">
                <a:solidFill>
                  <a:srgbClr val="CC0000"/>
                </a:solidFill>
                <a:latin typeface="Times New Roman" panose="02020603050405020304" pitchFamily="18" charset="0"/>
                <a:ea typeface="宋体" panose="02010600030101010101" pitchFamily="2" charset="-122"/>
              </a:rPr>
              <a:t>/* </a:t>
            </a:r>
            <a:r>
              <a:rPr lang="zh-CN" altLang="en-US" sz="1600" b="1" dirty="0">
                <a:solidFill>
                  <a:srgbClr val="CC0000"/>
                </a:solidFill>
                <a:latin typeface="Times New Roman" panose="02020603050405020304" pitchFamily="18" charset="0"/>
                <a:ea typeface="宋体" panose="02010600030101010101" pitchFamily="2" charset="-122"/>
              </a:rPr>
              <a:t>局部</a:t>
            </a:r>
            <a:r>
              <a:rPr lang="en-US" altLang="zh-CN" sz="1600" b="1" dirty="0">
                <a:solidFill>
                  <a:srgbClr val="CC0000"/>
                </a:solidFill>
                <a:latin typeface="Times New Roman" panose="02020603050405020304" pitchFamily="18" charset="0"/>
                <a:ea typeface="宋体" panose="02010600030101010101" pitchFamily="2" charset="-122"/>
              </a:rPr>
              <a:t>i</a:t>
            </a:r>
            <a:r>
              <a:rPr lang="zh-CN" altLang="en-US" sz="1600" b="1" dirty="0">
                <a:solidFill>
                  <a:srgbClr val="CC0000"/>
                </a:solidFill>
                <a:latin typeface="Times New Roman" panose="02020603050405020304" pitchFamily="18" charset="0"/>
                <a:ea typeface="宋体" panose="02010600030101010101" pitchFamily="2" charset="-122"/>
              </a:rPr>
              <a:t>    *</a:t>
            </a:r>
            <a:r>
              <a:rPr lang="en-US" altLang="zh-CN" sz="16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	…</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	i = 3; 	</a:t>
            </a:r>
            <a:r>
              <a:rPr lang="en-US" altLang="zh-CN" sz="1600" b="1" dirty="0">
                <a:solidFill>
                  <a:srgbClr val="CC0000"/>
                </a:solidFill>
                <a:latin typeface="Times New Roman" panose="02020603050405020304" pitchFamily="18" charset="0"/>
                <a:ea typeface="宋体" panose="02010600030101010101" pitchFamily="2" charset="-122"/>
              </a:rPr>
              <a:t> /* </a:t>
            </a:r>
            <a:r>
              <a:rPr lang="zh-CN" altLang="en-US" sz="1600" b="1" dirty="0">
                <a:solidFill>
                  <a:srgbClr val="CC0000"/>
                </a:solidFill>
                <a:latin typeface="Times New Roman" panose="02020603050405020304" pitchFamily="18" charset="0"/>
                <a:ea typeface="宋体" panose="02010600030101010101" pitchFamily="2" charset="-122"/>
              </a:rPr>
              <a:t>对局部</a:t>
            </a:r>
            <a:r>
              <a:rPr lang="en-US" altLang="zh-CN" sz="1600" b="1" dirty="0">
                <a:solidFill>
                  <a:srgbClr val="CC0000"/>
                </a:solidFill>
                <a:latin typeface="Times New Roman" panose="02020603050405020304" pitchFamily="18" charset="0"/>
                <a:ea typeface="宋体" panose="02010600030101010101" pitchFamily="2" charset="-122"/>
              </a:rPr>
              <a:t>i</a:t>
            </a:r>
            <a:r>
              <a:rPr lang="zh-CN" altLang="en-US" sz="1600" b="1" dirty="0">
                <a:solidFill>
                  <a:srgbClr val="CC0000"/>
                </a:solidFill>
                <a:latin typeface="Times New Roman" panose="02020603050405020304" pitchFamily="18" charset="0"/>
                <a:ea typeface="宋体" panose="02010600030101010101" pitchFamily="2" charset="-122"/>
              </a:rPr>
              <a:t>的使用*</a:t>
            </a:r>
            <a:r>
              <a:rPr lang="en-US" altLang="zh-CN" sz="16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	…</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a:t>
            </a:r>
            <a:endParaRPr lang="en-US" altLang="zh-CN" sz="2000" b="1" dirty="0">
              <a:solidFill>
                <a:srgbClr val="CC0000"/>
              </a:solidFill>
              <a:latin typeface="Times New Roman" panose="02020603050405020304" pitchFamily="18" charset="0"/>
              <a:ea typeface="宋体" panose="02010600030101010101" pitchFamily="2" charset="-122"/>
            </a:endParaRPr>
          </a:p>
          <a:p>
            <a:pPr eaLnBrk="0" hangingPunct="0">
              <a:buClrTx/>
            </a:pPr>
            <a:r>
              <a:rPr lang="en-US" altLang="zh-CN" sz="2000" b="1" dirty="0">
                <a:solidFill>
                  <a:srgbClr val="CC0000"/>
                </a:solidFill>
                <a:latin typeface="Times New Roman" panose="02020603050405020304" pitchFamily="18" charset="0"/>
                <a:ea typeface="宋体" panose="02010600030101010101" pitchFamily="2" charset="-122"/>
              </a:rPr>
              <a:t>	x = i + 1;</a:t>
            </a:r>
            <a:r>
              <a:rPr lang="zh-CN" altLang="en-US" sz="2000" b="1" dirty="0">
                <a:solidFill>
                  <a:srgbClr val="CC0000"/>
                </a:solidFill>
                <a:latin typeface="Times New Roman" panose="02020603050405020304" pitchFamily="18" charset="0"/>
                <a:ea typeface="宋体" panose="02010600030101010101" pitchFamily="2" charset="-122"/>
              </a:rPr>
              <a:t> </a:t>
            </a:r>
            <a:r>
              <a:rPr lang="en-US" altLang="zh-CN" sz="1600" b="1" dirty="0">
                <a:solidFill>
                  <a:srgbClr val="CC0000"/>
                </a:solidFill>
                <a:latin typeface="Times New Roman" panose="02020603050405020304" pitchFamily="18" charset="0"/>
                <a:ea typeface="宋体" panose="02010600030101010101" pitchFamily="2" charset="-122"/>
              </a:rPr>
              <a:t>/* </a:t>
            </a:r>
            <a:r>
              <a:rPr lang="zh-CN" altLang="en-US" sz="1600" b="1" dirty="0">
                <a:solidFill>
                  <a:srgbClr val="CC0000"/>
                </a:solidFill>
                <a:latin typeface="Times New Roman" panose="02020603050405020304" pitchFamily="18" charset="0"/>
                <a:ea typeface="宋体" panose="02010600030101010101" pitchFamily="2" charset="-122"/>
              </a:rPr>
              <a:t>对全局</a:t>
            </a:r>
            <a:r>
              <a:rPr lang="en-US" altLang="zh-CN" sz="1600" b="1" dirty="0">
                <a:solidFill>
                  <a:srgbClr val="CC0000"/>
                </a:solidFill>
                <a:latin typeface="Times New Roman" panose="02020603050405020304" pitchFamily="18" charset="0"/>
                <a:ea typeface="宋体" panose="02010600030101010101" pitchFamily="2" charset="-122"/>
              </a:rPr>
              <a:t>i</a:t>
            </a:r>
            <a:r>
              <a:rPr lang="zh-CN" altLang="en-US" sz="1600" b="1" dirty="0">
                <a:solidFill>
                  <a:srgbClr val="CC0000"/>
                </a:solidFill>
                <a:latin typeface="Times New Roman" panose="02020603050405020304" pitchFamily="18" charset="0"/>
                <a:ea typeface="宋体" panose="02010600030101010101" pitchFamily="2" charset="-122"/>
              </a:rPr>
              <a:t>的使用*</a:t>
            </a:r>
            <a:r>
              <a:rPr lang="en-US" altLang="zh-CN" sz="1600" b="1" dirty="0">
                <a:solidFill>
                  <a:srgbClr val="CC0000"/>
                </a:solidFill>
                <a:latin typeface="Times New Roman" panose="02020603050405020304" pitchFamily="18" charset="0"/>
                <a:ea typeface="宋体" panose="02010600030101010101" pitchFamily="2" charset="-122"/>
              </a:rPr>
              <a:t>/</a:t>
            </a:r>
            <a:endParaRPr lang="en-US" altLang="zh-CN" sz="3200" b="1" dirty="0">
              <a:solidFill>
                <a:srgbClr val="CC0000"/>
              </a:solidFill>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9090" name="Rectangle 3"/>
          <p:cNvSpPr>
            <a:spLocks noGrp="1"/>
          </p:cNvSpPr>
          <p:nvPr>
            <p:ph idx="1"/>
          </p:nvPr>
        </p:nvSpPr>
        <p:spPr>
          <a:xfrm>
            <a:off x="468313" y="1371600"/>
            <a:ext cx="8207375" cy="4419600"/>
          </a:xfrm>
          <a:ln/>
        </p:spPr>
        <p:txBody>
          <a:bodyPr vert="horz" wrap="square" lIns="92075" tIns="46038" rIns="92075" bIns="46038" anchor="t" anchorCtr="0"/>
          <a:p>
            <a:r>
              <a:rPr lang="zh-CN" altLang="en-US" sz="2000" b="1" dirty="0">
                <a:latin typeface="宋体" panose="02010600030101010101" pitchFamily="2" charset="-122"/>
                <a:ea typeface="宋体" panose="02010600030101010101" pitchFamily="2" charset="-122"/>
              </a:rPr>
              <a:t>静态作用域和块结构</a:t>
            </a:r>
            <a:endParaRPr lang="en-US" altLang="zh-CN" sz="20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作用域：</a:t>
            </a:r>
            <a:endParaRPr lang="en-US" altLang="zh-CN" sz="1800" b="1" dirty="0">
              <a:latin typeface="宋体" panose="02010600030101010101" pitchFamily="2" charset="-122"/>
              <a:ea typeface="宋体" panose="02010600030101010101" pitchFamily="2" charset="-122"/>
            </a:endParaRPr>
          </a:p>
          <a:p>
            <a:pPr lvl="2"/>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的一个声明的作用域（</a:t>
            </a:r>
            <a:r>
              <a:rPr lang="en-US" altLang="zh-CN" sz="1600" b="1" dirty="0">
                <a:latin typeface="宋体" panose="02010600030101010101" pitchFamily="2" charset="-122"/>
                <a:ea typeface="宋体" panose="02010600030101010101" pitchFamily="2" charset="-122"/>
              </a:rPr>
              <a:t>scope</a:t>
            </a:r>
            <a:r>
              <a:rPr lang="zh-CN" altLang="en-US" sz="1600" b="1" dirty="0">
                <a:latin typeface="宋体" panose="02010600030101010101" pitchFamily="2" charset="-122"/>
                <a:ea typeface="宋体" panose="02010600030101010101" pitchFamily="2" charset="-122"/>
              </a:rPr>
              <a:t>）是指程序的一个区域，在其中对</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的引用都指向这个声明。作用域可以是在词法上不连续的区域</a:t>
            </a:r>
            <a:endParaRPr lang="en-US" altLang="zh-CN" sz="16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多数语言使用静态作用域：仅通过阅读程序即可确定一个声明的作用域</a:t>
            </a:r>
            <a:endParaRPr lang="en-US" altLang="zh-CN" sz="1600" b="1" dirty="0">
              <a:latin typeface="宋体" panose="02010600030101010101" pitchFamily="2" charset="-122"/>
              <a:ea typeface="宋体" panose="02010600030101010101" pitchFamily="2" charset="-122"/>
            </a:endParaRPr>
          </a:p>
          <a:p>
            <a:pPr lvl="2"/>
            <a:r>
              <a:rPr lang="en-US" altLang="zh-CN" sz="1600" b="1" dirty="0">
                <a:latin typeface="宋体" panose="02010600030101010101" pitchFamily="2" charset="-122"/>
                <a:ea typeface="宋体" panose="02010600030101010101" pitchFamily="2" charset="-122"/>
              </a:rPr>
              <a:t>C</a:t>
            </a:r>
            <a:r>
              <a:rPr lang="zh-CN" altLang="en-US" sz="1600" b="1" dirty="0">
                <a:latin typeface="宋体" panose="02010600030101010101" pitchFamily="2" charset="-122"/>
                <a:ea typeface="宋体" panose="02010600030101010101" pitchFamily="2" charset="-122"/>
              </a:rPr>
              <a:t>语言的作用域则是基于程序结构的</a:t>
            </a:r>
            <a:endParaRPr lang="en-US" altLang="zh-CN" sz="1600" b="1" dirty="0">
              <a:latin typeface="宋体" panose="02010600030101010101" pitchFamily="2" charset="-122"/>
              <a:ea typeface="宋体" panose="02010600030101010101" pitchFamily="2" charset="-122"/>
            </a:endParaRPr>
          </a:p>
          <a:p>
            <a:pPr lvl="2"/>
            <a:r>
              <a:rPr lang="en-US" altLang="zh-CN" sz="1600" b="1" dirty="0">
                <a:latin typeface="宋体" panose="02010600030101010101" pitchFamily="2" charset="-122"/>
                <a:ea typeface="宋体" panose="02010600030101010101" pitchFamily="2" charset="-122"/>
              </a:rPr>
              <a:t>C++</a:t>
            </a: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Java</a:t>
            </a:r>
            <a:r>
              <a:rPr lang="zh-CN" altLang="en-US" sz="1600" b="1" dirty="0">
                <a:latin typeface="宋体" panose="02010600030101010101" pitchFamily="2" charset="-122"/>
                <a:ea typeface="宋体" panose="02010600030101010101" pitchFamily="2" charset="-122"/>
              </a:rPr>
              <a:t>等语言引入了显示控制作用域的关键字</a:t>
            </a:r>
            <a:endParaRPr lang="en-US" altLang="zh-CN" sz="1600" b="1" dirty="0">
              <a:latin typeface="宋体" panose="02010600030101010101" pitchFamily="2" charset="-122"/>
              <a:ea typeface="宋体" panose="02010600030101010101" pitchFamily="2" charset="-122"/>
            </a:endParaRPr>
          </a:p>
          <a:p>
            <a:pPr lvl="3"/>
            <a:r>
              <a:rPr lang="en-US" altLang="zh-CN" sz="1400" b="1" dirty="0">
                <a:latin typeface="宋体" panose="02010600030101010101" pitchFamily="2" charset="-122"/>
                <a:ea typeface="宋体" panose="02010600030101010101" pitchFamily="2" charset="-122"/>
              </a:rPr>
              <a:t>public</a:t>
            </a:r>
            <a:r>
              <a:rPr lang="zh-CN" altLang="en-US" sz="1400" b="1" dirty="0">
                <a:latin typeface="宋体" panose="02010600030101010101" pitchFamily="2" charset="-122"/>
                <a:ea typeface="宋体" panose="02010600030101010101" pitchFamily="2" charset="-122"/>
              </a:rPr>
              <a:t>、</a:t>
            </a:r>
            <a:r>
              <a:rPr lang="en-US" altLang="zh-CN" sz="1400" b="1" dirty="0">
                <a:latin typeface="宋体" panose="02010600030101010101" pitchFamily="2" charset="-122"/>
                <a:ea typeface="宋体" panose="02010600030101010101" pitchFamily="2" charset="-122"/>
              </a:rPr>
              <a:t>private</a:t>
            </a:r>
            <a:r>
              <a:rPr lang="zh-CN" altLang="en-US" sz="1400" b="1" dirty="0">
                <a:latin typeface="宋体" panose="02010600030101010101" pitchFamily="2" charset="-122"/>
                <a:ea typeface="宋体" panose="02010600030101010101" pitchFamily="2" charset="-122"/>
              </a:rPr>
              <a:t>、</a:t>
            </a:r>
            <a:r>
              <a:rPr lang="en-US" altLang="zh-CN" sz="1400" b="1" dirty="0">
                <a:latin typeface="宋体" panose="02010600030101010101" pitchFamily="2" charset="-122"/>
                <a:ea typeface="宋体" panose="02010600030101010101" pitchFamily="2" charset="-122"/>
              </a:rPr>
              <a:t>protected</a:t>
            </a:r>
            <a:endParaRPr lang="en-US" altLang="zh-CN" sz="1400" b="1" dirty="0">
              <a:latin typeface="宋体" panose="02010600030101010101" pitchFamily="2" charset="-122"/>
              <a:ea typeface="宋体" panose="02010600030101010101" pitchFamily="2" charset="-122"/>
            </a:endParaRPr>
          </a:p>
          <a:p>
            <a:pPr lvl="1"/>
            <a:r>
              <a:rPr lang="zh-CN" altLang="en-US" sz="1800" b="1" dirty="0">
                <a:latin typeface="宋体" panose="02010600030101010101" pitchFamily="2" charset="-122"/>
                <a:ea typeface="宋体" panose="02010600030101010101" pitchFamily="2" charset="-122"/>
              </a:rPr>
              <a:t>程序结构：</a:t>
            </a:r>
            <a:r>
              <a:rPr lang="en-US" altLang="zh-CN" sz="1800" b="1" dirty="0">
                <a:latin typeface="宋体" panose="02010600030101010101" pitchFamily="2" charset="-122"/>
                <a:ea typeface="宋体" panose="02010600030101010101" pitchFamily="2" charset="-122"/>
              </a:rPr>
              <a:t>Algol</a:t>
            </a:r>
            <a:r>
              <a:rPr lang="zh-CN" altLang="en-US" sz="1800" b="1" dirty="0">
                <a:latin typeface="宋体" panose="02010600030101010101" pitchFamily="2" charset="-122"/>
                <a:ea typeface="宋体" panose="02010600030101010101" pitchFamily="2" charset="-122"/>
              </a:rPr>
              <a:t>语言引入了“块”结构（</a:t>
            </a:r>
            <a:r>
              <a:rPr lang="en-US" altLang="zh-CN" sz="1800" b="1" dirty="0">
                <a:latin typeface="宋体" panose="02010600030101010101" pitchFamily="2" charset="-122"/>
                <a:ea typeface="宋体" panose="02010600030101010101" pitchFamily="2" charset="-122"/>
              </a:rPr>
              <a:t>begin…</a:t>
            </a: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…end</a:t>
            </a:r>
            <a:r>
              <a:rPr lang="zh-CN" altLang="en-US"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影响了很多语言，如</a:t>
            </a:r>
            <a:r>
              <a:rPr lang="en-US" altLang="zh-CN" sz="1600" b="1" dirty="0">
                <a:latin typeface="宋体" panose="02010600030101010101" pitchFamily="2" charset="-122"/>
                <a:ea typeface="宋体" panose="02010600030101010101" pitchFamily="2" charset="-122"/>
              </a:rPr>
              <a:t>C</a:t>
            </a: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 </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）等</a:t>
            </a:r>
            <a:endParaRPr lang="en-US" altLang="zh-CN" sz="1600" b="1" dirty="0">
              <a:latin typeface="宋体" panose="02010600030101010101" pitchFamily="2" charset="-122"/>
              <a:ea typeface="宋体" panose="02010600030101010101" pitchFamily="2" charset="-122"/>
            </a:endParaRPr>
          </a:p>
          <a:p>
            <a:pPr lvl="2"/>
            <a:r>
              <a:rPr lang="zh-CN" altLang="en-US" sz="1600" b="1" dirty="0">
                <a:latin typeface="宋体" panose="02010600030101010101" pitchFamily="2" charset="-122"/>
                <a:ea typeface="宋体" panose="02010600030101010101" pitchFamily="2" charset="-122"/>
              </a:rPr>
              <a:t>名字、标识符和变量</a:t>
            </a:r>
            <a:endParaRPr lang="en-US" altLang="zh-CN" sz="16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标识符（</a:t>
            </a:r>
            <a:r>
              <a:rPr lang="en-US" altLang="zh-CN" sz="1400" b="1" dirty="0">
                <a:latin typeface="宋体" panose="02010600030101010101" pitchFamily="2" charset="-122"/>
                <a:ea typeface="宋体" panose="02010600030101010101" pitchFamily="2" charset="-122"/>
              </a:rPr>
              <a:t>identifier</a:t>
            </a:r>
            <a:r>
              <a:rPr lang="zh-CN" altLang="en-US" sz="1400" b="1" dirty="0">
                <a:latin typeface="宋体" panose="02010600030101010101" pitchFamily="2" charset="-122"/>
                <a:ea typeface="宋体" panose="02010600030101010101" pitchFamily="2" charset="-122"/>
              </a:rPr>
              <a:t>，本课程中很多处用</a:t>
            </a:r>
            <a:r>
              <a:rPr lang="en-US" altLang="zh-CN" sz="1400" b="1" dirty="0">
                <a:latin typeface="宋体" panose="02010600030101010101" pitchFamily="2" charset="-122"/>
                <a:ea typeface="宋体" panose="02010600030101010101" pitchFamily="2" charset="-122"/>
              </a:rPr>
              <a:t>id</a:t>
            </a:r>
            <a:r>
              <a:rPr lang="zh-CN" altLang="en-US" sz="1400" b="1" dirty="0">
                <a:latin typeface="宋体" panose="02010600030101010101" pitchFamily="2" charset="-122"/>
                <a:ea typeface="宋体" panose="02010600030101010101" pitchFamily="2" charset="-122"/>
              </a:rPr>
              <a:t>表示）</a:t>
            </a:r>
            <a:endParaRPr lang="en-US" altLang="zh-CN" sz="14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一个字符串，通常由字母和数字构成</a:t>
            </a:r>
            <a:endParaRPr lang="en-US" altLang="zh-CN" sz="12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用于标记一个实体（可以是数据对象、过程、类、类型等）</a:t>
            </a:r>
            <a:endParaRPr lang="en-US" altLang="zh-CN" sz="12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所有的标识符都是一个名字，但是名字可以不是标识符，如</a:t>
            </a:r>
            <a:r>
              <a:rPr lang="en-US" altLang="zh-CN" sz="1200" b="1" dirty="0">
                <a:latin typeface="宋体" panose="02010600030101010101" pitchFamily="2" charset="-122"/>
                <a:ea typeface="宋体" panose="02010600030101010101" pitchFamily="2" charset="-122"/>
              </a:rPr>
              <a:t>x.y</a:t>
            </a:r>
            <a:r>
              <a:rPr lang="zh-CN" altLang="en-US" sz="1200" b="1" dirty="0">
                <a:latin typeface="宋体" panose="02010600030101010101" pitchFamily="2" charset="-122"/>
                <a:ea typeface="宋体" panose="02010600030101010101" pitchFamily="2" charset="-122"/>
              </a:rPr>
              <a:t>（受限名字）</a:t>
            </a:r>
            <a:endParaRPr lang="en-US" altLang="zh-CN" sz="12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变量：指向存储中的某个特定的位置</a:t>
            </a:r>
            <a:endParaRPr lang="en-US" altLang="zh-CN" sz="1400" b="1" dirty="0">
              <a:latin typeface="宋体" panose="02010600030101010101" pitchFamily="2" charset="-122"/>
              <a:ea typeface="宋体" panose="02010600030101010101" pitchFamily="2" charset="-122"/>
            </a:endParaRPr>
          </a:p>
          <a:p>
            <a:pPr lvl="3"/>
            <a:r>
              <a:rPr lang="zh-CN" altLang="en-US" sz="1400" b="1" dirty="0">
                <a:latin typeface="宋体" panose="02010600030101010101" pitchFamily="2" charset="-122"/>
                <a:ea typeface="宋体" panose="02010600030101010101" pitchFamily="2" charset="-122"/>
              </a:rPr>
              <a:t>一个标识符可以被多次声明，每个声明引入一个新的变量</a:t>
            </a:r>
            <a:endParaRPr lang="en-US" altLang="zh-CN" sz="14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注意在一些语言中，允许对一个变量通过多个声明语句完善对其属性的声明，此时的多个声明并不引入新的变量</a:t>
            </a:r>
            <a:endParaRPr lang="en-US" altLang="zh-CN" sz="1200" b="1" dirty="0">
              <a:latin typeface="宋体" panose="02010600030101010101" pitchFamily="2" charset="-122"/>
              <a:ea typeface="宋体" panose="02010600030101010101" pitchFamily="2" charset="-122"/>
            </a:endParaRPr>
          </a:p>
          <a:p>
            <a:pPr lvl="4"/>
            <a:r>
              <a:rPr lang="zh-CN" altLang="en-US" sz="1200" b="1" dirty="0">
                <a:latin typeface="宋体" panose="02010600030101010101" pitchFamily="2" charset="-122"/>
                <a:ea typeface="宋体" panose="02010600030101010101" pitchFamily="2" charset="-122"/>
              </a:rPr>
              <a:t>在常见的语言中，不同作用域中对同一个标识符的多次声明，指明了不同变量</a:t>
            </a:r>
            <a:endParaRPr lang="en-US" altLang="zh-CN" sz="12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1138" name="Rectangle 3"/>
          <p:cNvSpPr>
            <a:spLocks noGrp="1"/>
          </p:cNvSpPr>
          <p:nvPr>
            <p:ph idx="1"/>
          </p:nvPr>
        </p:nvSpPr>
        <p:spPr>
          <a:xfrm>
            <a:off x="684213" y="1371600"/>
            <a:ext cx="7920037"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静态作用域和块结构（续）</a:t>
            </a:r>
            <a:endParaRPr lang="en-US" altLang="zh-CN" sz="24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C</a:t>
            </a:r>
            <a:r>
              <a:rPr lang="zh-CN" altLang="en-US" sz="2000" b="1" dirty="0">
                <a:latin typeface="宋体" panose="02010600030101010101" pitchFamily="2" charset="-122"/>
                <a:ea typeface="宋体" panose="02010600030101010101" pitchFamily="2" charset="-122"/>
              </a:rPr>
              <a:t>语言的静态作用域策略</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一个</a:t>
            </a:r>
            <a:r>
              <a:rPr lang="en-US" altLang="zh-CN" sz="1800" b="1" dirty="0">
                <a:latin typeface="宋体" panose="02010600030101010101" pitchFamily="2" charset="-122"/>
                <a:ea typeface="宋体" panose="02010600030101010101" pitchFamily="2" charset="-122"/>
              </a:rPr>
              <a:t>C</a:t>
            </a:r>
            <a:r>
              <a:rPr lang="zh-CN" altLang="en-US" sz="1800" b="1" dirty="0">
                <a:latin typeface="宋体" panose="02010600030101010101" pitchFamily="2" charset="-122"/>
                <a:ea typeface="宋体" panose="02010600030101010101" pitchFamily="2" charset="-122"/>
              </a:rPr>
              <a:t>程序由一个顶层的变量和函数声明的序列组成，全局作用域</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函数内部可以声明变量：包括局部变量和参数，有局部作用域</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名字</a:t>
            </a:r>
            <a:r>
              <a:rPr lang="en-US" altLang="zh-CN" sz="1800" b="1" dirty="0">
                <a:latin typeface="宋体" panose="02010600030101010101" pitchFamily="2" charset="-122"/>
                <a:ea typeface="宋体" panose="02010600030101010101" pitchFamily="2" charset="-122"/>
              </a:rPr>
              <a:t>x</a:t>
            </a:r>
            <a:r>
              <a:rPr lang="zh-CN" altLang="en-US" sz="1800" b="1" dirty="0">
                <a:latin typeface="宋体" panose="02010600030101010101" pitchFamily="2" charset="-122"/>
                <a:ea typeface="宋体" panose="02010600030101010101" pitchFamily="2" charset="-122"/>
              </a:rPr>
              <a:t>的一个顶层声明的作用域</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从声明位置开始起作用</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函数中的对同名变量的声明产生的局部作用域，将在函数体内覆盖该同名全局变量的全局作用域，因此作用域可能存在“洞”</a:t>
            </a:r>
            <a:endParaRPr lang="en-US" altLang="zh-CN" sz="16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过程、函数和方法</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都表示可以被调用的子程序，但是有差异；</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在不影响理解的前提下，本课程中统称为“过程”</a:t>
            </a:r>
            <a:endParaRPr lang="en-US" altLang="zh-CN" sz="1600" b="1" dirty="0">
              <a:latin typeface="宋体" panose="02010600030101010101" pitchFamily="2" charset="-122"/>
              <a:ea typeface="宋体" panose="02010600030101010101" pitchFamily="2" charset="-122"/>
            </a:endParaRPr>
          </a:p>
          <a:p>
            <a:pPr lvl="3"/>
            <a:r>
              <a:rPr lang="en-US" altLang="zh-CN" sz="1600" b="1" dirty="0">
                <a:latin typeface="宋体" panose="02010600030101010101" pitchFamily="2" charset="-122"/>
                <a:ea typeface="宋体" panose="02010600030101010101" pitchFamily="2" charset="-122"/>
              </a:rPr>
              <a:t>C</a:t>
            </a:r>
            <a:r>
              <a:rPr lang="zh-CN" altLang="en-US" sz="1600" b="1" dirty="0">
                <a:latin typeface="宋体" panose="02010600030101010101" pitchFamily="2" charset="-122"/>
                <a:ea typeface="宋体" panose="02010600030101010101" pitchFamily="2" charset="-122"/>
              </a:rPr>
              <a:t>语言中只有函数，</a:t>
            </a:r>
            <a:r>
              <a:rPr lang="en-US" altLang="zh-CN" sz="1600" b="1" dirty="0">
                <a:latin typeface="宋体" panose="02010600030101010101" pitchFamily="2" charset="-122"/>
                <a:ea typeface="宋体" panose="02010600030101010101" pitchFamily="2" charset="-122"/>
              </a:rPr>
              <a:t>Java</a:t>
            </a:r>
            <a:r>
              <a:rPr lang="zh-CN" altLang="en-US" sz="1600" b="1" dirty="0">
                <a:latin typeface="宋体" panose="02010600030101010101" pitchFamily="2" charset="-122"/>
                <a:ea typeface="宋体" panose="02010600030101010101" pitchFamily="2" charset="-122"/>
              </a:rPr>
              <a:t>中只有方法</a:t>
            </a:r>
            <a:endParaRPr lang="en-US" altLang="zh-CN" sz="16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函数有返回值，而过程没有</a:t>
            </a:r>
            <a:endParaRPr lang="en-US" altLang="zh-CN" sz="1400" b="1" dirty="0">
              <a:latin typeface="宋体" panose="02010600030101010101" pitchFamily="2" charset="-122"/>
              <a:ea typeface="宋体" panose="02010600030101010101" pitchFamily="2" charset="-122"/>
            </a:endParaRPr>
          </a:p>
          <a:p>
            <a:pPr lvl="4"/>
            <a:endParaRPr lang="en-US" altLang="zh-CN" sz="1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3186" name="Rectangle 3"/>
          <p:cNvSpPr>
            <a:spLocks noGrp="1"/>
          </p:cNvSpPr>
          <p:nvPr>
            <p:ph idx="1"/>
          </p:nvPr>
        </p:nvSpPr>
        <p:spPr>
          <a:xfrm>
            <a:off x="684213" y="1371600"/>
            <a:ext cx="7848600" cy="20574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静态作用域和块结构（续）</a:t>
            </a:r>
            <a:endParaRPr lang="en-US" altLang="zh-CN" sz="24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C</a:t>
            </a:r>
            <a:r>
              <a:rPr lang="zh-CN" altLang="en-US" sz="2000" b="1" dirty="0">
                <a:latin typeface="宋体" panose="02010600030101010101" pitchFamily="2" charset="-122"/>
                <a:ea typeface="宋体" panose="02010600030101010101" pitchFamily="2" charset="-122"/>
              </a:rPr>
              <a:t>语言中“块”的语法要求如下：</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块是一种语句</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一个块包含了一个声明的序列</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允许嵌套（这点与函数不一样），因此作用域规则也要考虑嵌套的问题</a:t>
            </a:r>
            <a:endParaRPr lang="en-US" altLang="zh-CN" sz="1800" b="1" dirty="0">
              <a:latin typeface="宋体" panose="02010600030101010101" pitchFamily="2" charset="-122"/>
              <a:ea typeface="宋体" panose="02010600030101010101" pitchFamily="2" charset="-122"/>
            </a:endParaRPr>
          </a:p>
        </p:txBody>
      </p:sp>
      <p:graphicFrame>
        <p:nvGraphicFramePr>
          <p:cNvPr id="6" name="表格 5"/>
          <p:cNvGraphicFramePr>
            <a:graphicFrameLocks noGrp="1"/>
          </p:cNvGraphicFramePr>
          <p:nvPr/>
        </p:nvGraphicFramePr>
        <p:xfrm>
          <a:off x="4984750" y="3500438"/>
          <a:ext cx="3552825" cy="2228850"/>
        </p:xfrm>
        <a:graphic>
          <a:graphicData uri="http://schemas.openxmlformats.org/drawingml/2006/table">
            <a:tbl>
              <a:tblPr/>
              <a:tblGrid>
                <a:gridCol w="1776413"/>
                <a:gridCol w="1776412"/>
              </a:tblGrid>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声    明</a:t>
                      </a:r>
                      <a:endParaRPr kumimoji="0" lang="zh-CN" altLang="en-US" sz="18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作 用 域</a:t>
                      </a:r>
                      <a:endParaRPr kumimoji="0" lang="zh-CN" altLang="en-US" sz="18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int a = 1;</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a:ln>
                            <a:noFill/>
                          </a:ln>
                          <a:solidFill>
                            <a:srgbClr val="000000"/>
                          </a:solidFill>
                          <a:effectLst/>
                          <a:latin typeface="Times New Roman" panose="02020603050405020304" pitchFamily="18" charset="0"/>
                          <a:ea typeface="宋体" panose="02010600030101010101" pitchFamily="2" charset="-122"/>
                        </a:rPr>
                        <a:t>1 </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a:ln>
                            <a:noFill/>
                          </a:ln>
                          <a:solidFill>
                            <a:srgbClr val="000000"/>
                          </a:solidFill>
                          <a:effectLst/>
                          <a:latin typeface="Times New Roman" panose="02020603050405020304" pitchFamily="18" charset="0"/>
                          <a:ea typeface="宋体" panose="02010600030101010101" pitchFamily="2" charset="-122"/>
                        </a:rPr>
                        <a:t>3</a:t>
                      </a:r>
                      <a:endParaRPr kumimoji="0" lang="zh-CN" altLang="en-US" sz="1800" b="0" i="0" u="none" strike="noStrike" cap="none" normalizeH="0" baseline="-2500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r>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int b = 1;</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EFF"/>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1 </a:t>
                      </a: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2</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EFF"/>
                    </a:solidFill>
                  </a:tcPr>
                </a:tc>
              </a:tr>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int b = 2;</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2 </a:t>
                      </a: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r>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int a = 3;</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EFF"/>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a:ln>
                            <a:noFill/>
                          </a:ln>
                          <a:solidFill>
                            <a:srgbClr val="000000"/>
                          </a:solidFill>
                          <a:effectLst/>
                          <a:latin typeface="Times New Roman" panose="02020603050405020304" pitchFamily="18" charset="0"/>
                          <a:ea typeface="宋体" panose="02010600030101010101" pitchFamily="2" charset="-122"/>
                        </a:rPr>
                        <a:t>3 </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EFF"/>
                    </a:solidFill>
                  </a:tcPr>
                </a:tc>
              </a:tr>
              <a:tr h="371475">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int b = 4;</a:t>
                      </a:r>
                      <a:endPar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c>
                  <a:txBody>
                    <a:bodyPr/>
                    <a:lstStyle>
                      <a:lvl1pPr>
                        <a:spcBef>
                          <a:spcPct val="20000"/>
                        </a:spcBef>
                        <a:buClr>
                          <a:srgbClr val="063DE8"/>
                        </a:buClr>
                        <a:buSzPct val="125000"/>
                        <a:defRPr sz="22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a:defRPr sz="2000">
                          <a:solidFill>
                            <a:schemeClr val="tx1"/>
                          </a:solidFill>
                          <a:latin typeface="Times New Roman" panose="02020603050405020304" pitchFamily="18" charset="0"/>
                        </a:defRPr>
                      </a:lvl2pPr>
                      <a:lvl3pPr marL="1143000" indent="-228600">
                        <a:spcBef>
                          <a:spcPct val="20000"/>
                        </a:spcBef>
                        <a:buClr>
                          <a:srgbClr val="063DE8"/>
                        </a:buClr>
                        <a:buSzPct val="125000"/>
                        <a:defRPr sz="20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a:defRPr>
                          <a:solidFill>
                            <a:schemeClr val="tx1"/>
                          </a:solidFill>
                          <a:latin typeface="Times New Roman" panose="02020603050405020304" pitchFamily="18" charset="0"/>
                        </a:defRPr>
                      </a:lvl4pPr>
                      <a:lvl5pPr marL="2057400" indent="-228600">
                        <a:spcBef>
                          <a:spcPct val="20000"/>
                        </a:spcBef>
                        <a:buClr>
                          <a:srgbClr val="063DE8"/>
                        </a:buClr>
                        <a:buSzPct val="125000"/>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defRPr sz="16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B</a:t>
                      </a:r>
                      <a:r>
                        <a:rPr kumimoji="0" lang="en-US" altLang="zh-CN" sz="1800" b="0"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rPr>
                        <a:t>4</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BFE"/>
                    </a:solidFill>
                  </a:tcPr>
                </a:tc>
              </a:tr>
            </a:tbl>
          </a:graphicData>
        </a:graphic>
      </p:graphicFrame>
      <p:grpSp>
        <p:nvGrpSpPr>
          <p:cNvPr id="93210" name="组合 7"/>
          <p:cNvGrpSpPr/>
          <p:nvPr/>
        </p:nvGrpSpPr>
        <p:grpSpPr>
          <a:xfrm>
            <a:off x="1187450" y="3429000"/>
            <a:ext cx="3636963" cy="3232150"/>
            <a:chOff x="1187624" y="3429000"/>
            <a:chExt cx="3636404" cy="3231654"/>
          </a:xfrm>
        </p:grpSpPr>
        <p:sp>
          <p:nvSpPr>
            <p:cNvPr id="93211" name="文本框 1"/>
            <p:cNvSpPr txBox="1"/>
            <p:nvPr/>
          </p:nvSpPr>
          <p:spPr>
            <a:xfrm>
              <a:off x="1403648" y="3429000"/>
              <a:ext cx="3312368" cy="3231654"/>
            </a:xfrm>
            <a:prstGeom prst="rect">
              <a:avLst/>
            </a:prstGeom>
            <a:noFill/>
            <a:ln w="9525">
              <a:noFill/>
            </a:ln>
          </p:spPr>
          <p:txBody>
            <a:bodyPr anchor="t" anchorCtr="0">
              <a:spAutoFit/>
            </a:bodyPr>
            <a:p>
              <a:pPr eaLnBrk="0" hangingPunct="0">
                <a:buClrTx/>
              </a:pPr>
              <a:r>
                <a:rPr lang="en-US" altLang="zh-CN" sz="1200" b="1" dirty="0">
                  <a:latin typeface="Times New Roman" panose="02020603050405020304" pitchFamily="18" charset="0"/>
                  <a:ea typeface="宋体" panose="02010600030101010101" pitchFamily="2" charset="-122"/>
                </a:rPr>
                <a:t>main(  )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int a = 1;</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int b = 1;</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int b = 2;</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int a = 3;</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cout &lt;&lt; a &lt;&lt; b;</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int b = 4;</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cout &lt;&lt; a &lt;&lt; b;</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cout &lt;&lt; a &lt;&lt; b;</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    cout &lt;&lt; a &lt;&lt; b;</a:t>
              </a:r>
              <a:endParaRPr lang="en-US" altLang="zh-CN" sz="1200" b="1" dirty="0">
                <a:latin typeface="Times New Roman" panose="02020603050405020304" pitchFamily="18" charset="0"/>
                <a:ea typeface="宋体" panose="02010600030101010101" pitchFamily="2" charset="-122"/>
              </a:endParaRPr>
            </a:p>
            <a:p>
              <a:pPr eaLnBrk="0" hangingPunct="0">
                <a:buClrTx/>
              </a:pPr>
              <a:r>
                <a:rPr lang="en-US" altLang="zh-CN" sz="1200" b="1" dirty="0">
                  <a:latin typeface="Times New Roman" panose="02020603050405020304" pitchFamily="18" charset="0"/>
                  <a:ea typeface="宋体" panose="02010600030101010101" pitchFamily="2" charset="-122"/>
                </a:rPr>
                <a:t>}</a:t>
              </a:r>
              <a:endParaRPr lang="zh-CN" altLang="en-US" sz="1200" b="1" dirty="0">
                <a:latin typeface="Times New Roman" panose="02020603050405020304" pitchFamily="18" charset="0"/>
                <a:ea typeface="宋体" panose="02010600030101010101" pitchFamily="2" charset="-122"/>
              </a:endParaRPr>
            </a:p>
          </p:txBody>
        </p:sp>
        <p:sp>
          <p:nvSpPr>
            <p:cNvPr id="7" name="文本框 6"/>
            <p:cNvSpPr txBox="1"/>
            <p:nvPr/>
          </p:nvSpPr>
          <p:spPr>
            <a:xfrm>
              <a:off x="1187624" y="3644867"/>
              <a:ext cx="3636404" cy="2807857"/>
            </a:xfrm>
            <a:prstGeom prst="rect">
              <a:avLst/>
            </a:prstGeom>
            <a:noFill/>
            <a:ln>
              <a:solidFill>
                <a:schemeClr val="tx1">
                  <a:lumMod val="95000"/>
                  <a:lumOff val="5000"/>
                </a:schemeClr>
              </a:solidFill>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B</a:t>
              </a:r>
              <a:r>
                <a:rPr kumimoji="0" lang="en-US" altLang="zh-CN" sz="1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endParaRPr kumimoji="0" lang="en-US" altLang="zh-CN" sz="11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文本框 9"/>
            <p:cNvSpPr txBox="1"/>
            <p:nvPr/>
          </p:nvSpPr>
          <p:spPr>
            <a:xfrm>
              <a:off x="1424126" y="4181360"/>
              <a:ext cx="3242764" cy="1912644"/>
            </a:xfrm>
            <a:prstGeom prst="rect">
              <a:avLst/>
            </a:prstGeom>
            <a:noFill/>
            <a:ln>
              <a:solidFill>
                <a:schemeClr val="tx1">
                  <a:lumMod val="95000"/>
                  <a:lumOff val="5000"/>
                </a:schemeClr>
              </a:solidFill>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B</a:t>
              </a:r>
              <a:r>
                <a:rPr kumimoji="0" lang="en-US" altLang="zh-CN" sz="14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endParaRPr kumimoji="0" lang="en-US" altLang="zh-CN" sz="11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文本框 10"/>
            <p:cNvSpPr txBox="1"/>
            <p:nvPr/>
          </p:nvSpPr>
          <p:spPr>
            <a:xfrm>
              <a:off x="1692371" y="4581348"/>
              <a:ext cx="2412629" cy="396814"/>
            </a:xfrm>
            <a:prstGeom prst="rect">
              <a:avLst/>
            </a:prstGeom>
            <a:noFill/>
            <a:ln>
              <a:solidFill>
                <a:schemeClr val="tx1">
                  <a:lumMod val="95000"/>
                  <a:lumOff val="5000"/>
                </a:schemeClr>
              </a:solidFill>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B</a:t>
              </a:r>
              <a:r>
                <a:rPr kumimoji="0" lang="en-US" altLang="zh-CN" sz="1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3</a:t>
              </a:r>
              <a:endParaRPr kumimoji="0" lang="en-US" altLang="zh-CN" sz="11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文本框 11"/>
            <p:cNvSpPr txBox="1"/>
            <p:nvPr/>
          </p:nvSpPr>
          <p:spPr>
            <a:xfrm>
              <a:off x="1692371" y="5301963"/>
              <a:ext cx="2412629" cy="396814"/>
            </a:xfrm>
            <a:prstGeom prst="rect">
              <a:avLst/>
            </a:prstGeom>
            <a:noFill/>
            <a:ln>
              <a:solidFill>
                <a:schemeClr val="tx1">
                  <a:lumMod val="95000"/>
                  <a:lumOff val="5000"/>
                </a:schemeClr>
              </a:solidFill>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B</a:t>
              </a:r>
              <a:r>
                <a:rPr kumimoji="0" lang="en-US" altLang="zh-CN" sz="14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4</a:t>
              </a:r>
              <a:endParaRPr kumimoji="0" lang="en-US" altLang="zh-CN" sz="11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5234" name="Rectangle 3"/>
          <p:cNvSpPr>
            <a:spLocks noGrp="1"/>
          </p:cNvSpPr>
          <p:nvPr>
            <p:ph idx="1"/>
          </p:nvPr>
        </p:nvSpPr>
        <p:spPr>
          <a:xfrm>
            <a:off x="684213" y="1371600"/>
            <a:ext cx="7848600"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显式访问控制</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类、结构等语言规范对象的出现引入了新的作用域</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是一个具有字段（成员）</a:t>
            </a:r>
            <a:r>
              <a:rPr lang="en-US" altLang="zh-CN" sz="1800" b="1" dirty="0">
                <a:latin typeface="宋体" panose="02010600030101010101" pitchFamily="2" charset="-122"/>
                <a:ea typeface="宋体" panose="02010600030101010101" pitchFamily="2" charset="-122"/>
              </a:rPr>
              <a:t>x</a:t>
            </a:r>
            <a:r>
              <a:rPr lang="zh-CN" altLang="en-US" sz="1800" b="1" dirty="0">
                <a:latin typeface="宋体" panose="02010600030101010101" pitchFamily="2" charset="-122"/>
                <a:ea typeface="宋体" panose="02010600030101010101" pitchFamily="2" charset="-122"/>
              </a:rPr>
              <a:t>的类的对象</a:t>
            </a:r>
            <a:endParaRPr lang="en-US" altLang="zh-CN" sz="1800" b="1" dirty="0">
              <a:latin typeface="宋体" panose="02010600030101010101" pitchFamily="2" charset="-122"/>
              <a:ea typeface="宋体" panose="02010600030101010101" pitchFamily="2" charset="-122"/>
            </a:endParaRPr>
          </a:p>
          <a:p>
            <a:pPr lvl="3"/>
            <a:r>
              <a:rPr lang="en-US" altLang="zh-CN" sz="1600" b="1" dirty="0">
                <a:latin typeface="宋体" panose="02010600030101010101" pitchFamily="2" charset="-122"/>
                <a:ea typeface="宋体" panose="02010600030101010101" pitchFamily="2" charset="-122"/>
              </a:rPr>
              <a:t>p.x</a:t>
            </a:r>
            <a:r>
              <a:rPr lang="zh-CN" altLang="en-US" sz="1600" b="1" dirty="0">
                <a:latin typeface="宋体" panose="02010600030101010101" pitchFamily="2" charset="-122"/>
                <a:ea typeface="宋体" panose="02010600030101010101" pitchFamily="2" charset="-122"/>
              </a:rPr>
              <a:t>访问的是那个作用域的</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可以通过</a:t>
            </a:r>
            <a:r>
              <a:rPr lang="en-US" altLang="zh-CN" sz="1800" b="1" dirty="0">
                <a:latin typeface="宋体" panose="02010600030101010101" pitchFamily="2" charset="-122"/>
                <a:ea typeface="宋体" panose="02010600030101010101" pitchFamily="2" charset="-122"/>
              </a:rPr>
              <a:t>public</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private</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protected</a:t>
            </a:r>
            <a:r>
              <a:rPr lang="zh-CN" altLang="en-US" sz="1800" b="1" dirty="0">
                <a:latin typeface="宋体" panose="02010600030101010101" pitchFamily="2" charset="-122"/>
                <a:ea typeface="宋体" panose="02010600030101010101" pitchFamily="2" charset="-122"/>
              </a:rPr>
              <a:t>等关键字显式地指明对象的合法访问的属性</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一个名字可以被声明它的作用域代码段外面的程序访问</a:t>
            </a:r>
            <a:endParaRPr lang="en-US" altLang="zh-CN" sz="18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声明和定义</a:t>
            </a:r>
            <a:endParaRPr lang="en-US" altLang="zh-CN"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声明：给出名字的各种属性，如类型、作用域等</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过程等对象的声明可以只给出过程名、参数等，而暂不给出其对应的过程代码体</a:t>
            </a:r>
            <a:endParaRPr lang="en-US" altLang="zh-CN" sz="18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为程序的递归机制、多文件等提供了支持</a:t>
            </a:r>
            <a:endParaRPr lang="en-US" altLang="zh-CN" sz="18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定义：给出程序中名字对象的值</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过程名的定义是给出其对应的代码</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8307" name="Rectangle 3"/>
          <p:cNvSpPr>
            <a:spLocks noGrp="1" noChangeArrowheads="1"/>
          </p:cNvSpPr>
          <p:nvPr>
            <p:ph idx="1"/>
          </p:nvPr>
        </p:nvSpPr>
        <p:spPr>
          <a:xfrm>
            <a:off x="395288" y="1371600"/>
            <a:ext cx="8497888" cy="4144963"/>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动态作用域</a:t>
            </a:r>
            <a:endParaRPr kumimoji="0"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定义：一个作用域策略依赖于一个或多个只有在程序执行时刻才能知道的因素，则称为动态作用域</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从过程视点看：过程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f</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中对一个名字</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的使用指向的是这样一个过程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g</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中对</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的声明</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在</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g</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中声明</a:t>
            </a:r>
            <a:endPar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程序的执行在调用</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f</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之前，就调用了</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g</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，且</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g</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的这次调用还没有执行完</a:t>
            </a:r>
            <a:endPar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在</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g</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的最近一次调用与</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f</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的这次调用之间，不存在对声明过</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x</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的任何过程（包括</a:t>
            </a:r>
            <a:r>
              <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g</a:t>
            </a:r>
            <a:r>
              <a:rPr kumimoji="0" lang="zh-CN" altLang="en-US"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rPr>
              <a:t>自身）的调用</a:t>
            </a:r>
            <a:endParaRPr kumimoji="0" lang="en-US" altLang="zh-CN" sz="1600" b="1" i="0" u="none" strike="noStrike" kern="0" cap="none" spc="0" normalizeH="0" baseline="0" noProof="0" dirty="0">
              <a:ln>
                <a:noFill/>
              </a:ln>
              <a:solidFill>
                <a:schemeClr val="accent5">
                  <a:lumMod val="50000"/>
                </a:schemeClr>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很多语言支持动态作用域</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语言中的“宏”的解析采用的是动态作用域策略吗？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教材上的例子看似是动态作用域，但是是对的吗</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如果把第３行改为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void b(){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int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 x=1;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printf</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a:t>
            </a:r>
            <a:r>
              <a:rPr kumimoji="0" lang="en-US" altLang="zh-CN" sz="1600" b="0" i="0" u="none" strike="noStrike" kern="0" cap="none" spc="0" normalizeH="0" baseline="0" noProof="0" dirty="0">
                <a:ln>
                  <a:noFill/>
                </a:ln>
                <a:solidFill>
                  <a:schemeClr val="tx1"/>
                </a:solidFill>
                <a:effectLst/>
                <a:uLnTx/>
                <a:uFillTx/>
                <a:latin typeface="+mn-lt"/>
                <a:ea typeface="Arial" panose="020B0604020202020204" pitchFamily="34" charset="0"/>
                <a:cs typeface="+mn-ea"/>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%d\</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n</a:t>
            </a:r>
            <a:r>
              <a:rPr kumimoji="0" lang="en-US" altLang="zh-CN" sz="1600" b="0" i="0" u="none" strike="noStrike" kern="0" cap="none" spc="0" normalizeH="0" baseline="0" noProof="0" dirty="0" err="1">
                <a:ln>
                  <a:noFill/>
                </a:ln>
                <a:solidFill>
                  <a:schemeClr val="tx1"/>
                </a:solidFill>
                <a:effectLst/>
                <a:uLnTx/>
                <a:uFillTx/>
                <a:latin typeface="+mn-lt"/>
                <a:ea typeface="Arial" panose="020B0604020202020204" pitchFamily="34" charset="0"/>
                <a:cs typeface="+mn-ea"/>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ea"/>
              </a:rPr>
              <a:t>,a</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rPr>
              <a:t>呢？</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ea"/>
            </a:endParaRPr>
          </a:p>
        </p:txBody>
      </p:sp>
      <p:sp>
        <p:nvSpPr>
          <p:cNvPr id="97283" name="文本框 1"/>
          <p:cNvSpPr txBox="1"/>
          <p:nvPr/>
        </p:nvSpPr>
        <p:spPr>
          <a:xfrm>
            <a:off x="1908175" y="5373688"/>
            <a:ext cx="3270250" cy="1322387"/>
          </a:xfrm>
          <a:prstGeom prst="rect">
            <a:avLst/>
          </a:prstGeom>
          <a:noFill/>
          <a:ln w="9525">
            <a:noFill/>
          </a:ln>
        </p:spPr>
        <p:txBody>
          <a:bodyPr wrap="none" anchor="t" anchorCtr="0">
            <a:spAutoFit/>
          </a:bodyPr>
          <a:p>
            <a:pPr eaLnBrk="0" hangingPunct="0">
              <a:buClrTx/>
            </a:pPr>
            <a:r>
              <a:rPr lang="en-US" altLang="zh-CN" sz="1600" dirty="0">
                <a:latin typeface="Times New Roman" panose="02020603050405020304" pitchFamily="18" charset="0"/>
                <a:ea typeface="宋体" panose="02010600030101010101" pitchFamily="2" charset="-122"/>
              </a:rPr>
              <a:t>#define</a:t>
            </a:r>
            <a:r>
              <a:rPr lang="zh-CN" altLang="en-US" sz="16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a:t>
            </a:r>
            <a:r>
              <a:rPr lang="zh-CN" altLang="en-US" sz="16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(x+1)</a:t>
            </a:r>
            <a:endParaRPr lang="en-US" altLang="zh-CN" sz="1600" dirty="0">
              <a:latin typeface="Times New Roman" panose="02020603050405020304" pitchFamily="18" charset="0"/>
              <a:ea typeface="宋体" panose="02010600030101010101" pitchFamily="2" charset="-122"/>
            </a:endParaRPr>
          </a:p>
          <a:p>
            <a:pPr eaLnBrk="0" hangingPunct="0">
              <a:buClrTx/>
            </a:pPr>
            <a:r>
              <a:rPr lang="en-US" altLang="zh-CN" sz="1600" dirty="0">
                <a:latin typeface="Times New Roman" panose="02020603050405020304" pitchFamily="18" charset="0"/>
                <a:ea typeface="宋体" panose="02010600030101010101" pitchFamily="2" charset="-122"/>
              </a:rPr>
              <a:t>Int</a:t>
            </a:r>
            <a:r>
              <a:rPr lang="zh-CN" altLang="en-US" sz="16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x</a:t>
            </a:r>
            <a:r>
              <a:rPr lang="zh-CN" altLang="en-US" sz="16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 2;</a:t>
            </a:r>
            <a:endParaRPr lang="en-US" altLang="zh-CN" sz="1600" dirty="0">
              <a:latin typeface="Times New Roman" panose="02020603050405020304" pitchFamily="18" charset="0"/>
              <a:ea typeface="宋体" panose="02010600030101010101" pitchFamily="2" charset="-122"/>
            </a:endParaRPr>
          </a:p>
          <a:p>
            <a:pPr eaLnBrk="0" hangingPunct="0">
              <a:buClrTx/>
            </a:pPr>
            <a:r>
              <a:rPr lang="en-US" altLang="zh-CN" sz="1600" dirty="0">
                <a:latin typeface="Times New Roman" panose="02020603050405020304" pitchFamily="18" charset="0"/>
                <a:ea typeface="宋体" panose="02010600030101010101" pitchFamily="2" charset="-122"/>
              </a:rPr>
              <a:t>Void b() { int x=1; printf(“%d\n”,a);}</a:t>
            </a:r>
            <a:endParaRPr lang="en-US" altLang="zh-CN" sz="1600" dirty="0">
              <a:latin typeface="Times New Roman" panose="02020603050405020304" pitchFamily="18" charset="0"/>
              <a:ea typeface="宋体" panose="02010600030101010101" pitchFamily="2" charset="-122"/>
            </a:endParaRPr>
          </a:p>
          <a:p>
            <a:pPr eaLnBrk="0" hangingPunct="0">
              <a:buClrTx/>
            </a:pPr>
            <a:r>
              <a:rPr lang="en-US" altLang="zh-CN" sz="1600" dirty="0">
                <a:latin typeface="Times New Roman" panose="02020603050405020304" pitchFamily="18" charset="0"/>
                <a:ea typeface="宋体" panose="02010600030101010101" pitchFamily="2" charset="-122"/>
              </a:rPr>
              <a:t>Void c() { printf(“%d\n”,a);}</a:t>
            </a:r>
            <a:endParaRPr lang="en-US" altLang="zh-CN" sz="1600" dirty="0">
              <a:latin typeface="Times New Roman" panose="02020603050405020304" pitchFamily="18" charset="0"/>
              <a:ea typeface="宋体" panose="02010600030101010101" pitchFamily="2" charset="-122"/>
            </a:endParaRPr>
          </a:p>
          <a:p>
            <a:pPr eaLnBrk="0" hangingPunct="0">
              <a:buClrTx/>
            </a:pPr>
            <a:r>
              <a:rPr lang="en-US" altLang="zh-CN" sz="1600" dirty="0">
                <a:latin typeface="Times New Roman" panose="02020603050405020304" pitchFamily="18" charset="0"/>
                <a:ea typeface="宋体" panose="02010600030101010101" pitchFamily="2" charset="-122"/>
              </a:rPr>
              <a:t>Void main() { b(); c() }</a:t>
            </a: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9330" name="Rectangle 3"/>
          <p:cNvSpPr>
            <a:spLocks noGrp="1"/>
          </p:cNvSpPr>
          <p:nvPr>
            <p:ph idx="1"/>
          </p:nvPr>
        </p:nvSpPr>
        <p:spPr>
          <a:xfrm>
            <a:off x="611188" y="1371600"/>
            <a:ext cx="8064500" cy="4419600"/>
          </a:xfrm>
          <a:ln/>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动态作用域（续）</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动态作用域和静态作用域的比较</a:t>
            </a:r>
            <a:endParaRPr lang="en-US" altLang="zh-CN" sz="20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静态作用域是根据源程序中的嵌套声明的位置关系来解释</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如果函数</a:t>
            </a:r>
            <a:r>
              <a:rPr lang="en-US" altLang="zh-CN" sz="1600" b="1" dirty="0">
                <a:latin typeface="宋体" panose="02010600030101010101" pitchFamily="2" charset="-122"/>
                <a:ea typeface="宋体" panose="02010600030101010101" pitchFamily="2" charset="-122"/>
              </a:rPr>
              <a:t>f</a:t>
            </a:r>
            <a:r>
              <a:rPr lang="zh-CN" altLang="en-US" sz="1600" b="1" dirty="0">
                <a:latin typeface="宋体" panose="02010600030101010101" pitchFamily="2" charset="-122"/>
                <a:ea typeface="宋体" panose="02010600030101010101" pitchFamily="2" charset="-122"/>
              </a:rPr>
              <a:t>访问了变量</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，则</a:t>
            </a:r>
            <a:r>
              <a:rPr lang="en-US" altLang="zh-CN" sz="1600" b="1" dirty="0">
                <a:latin typeface="宋体" panose="02010600030101010101" pitchFamily="2" charset="-122"/>
                <a:ea typeface="宋体" panose="02010600030101010101" pitchFamily="2" charset="-122"/>
              </a:rPr>
              <a:t>f</a:t>
            </a:r>
            <a:r>
              <a:rPr lang="zh-CN" altLang="en-US" sz="1600" b="1" dirty="0">
                <a:latin typeface="宋体" panose="02010600030101010101" pitchFamily="2" charset="-122"/>
                <a:ea typeface="宋体" panose="02010600030101010101" pitchFamily="2" charset="-122"/>
              </a:rPr>
              <a:t>的任何一个执行的实例，对</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有影响的声明语句是一致的，在编译时刻可确定</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动态作用域是过程的调用实例的执行轨迹的包含关系来解释</a:t>
            </a:r>
            <a:endParaRPr lang="en-US" altLang="zh-CN" sz="1800" b="1" dirty="0">
              <a:latin typeface="宋体" panose="02010600030101010101" pitchFamily="2" charset="-122"/>
              <a:ea typeface="宋体" panose="02010600030101010101" pitchFamily="2" charset="-122"/>
            </a:endParaRPr>
          </a:p>
          <a:p>
            <a:pPr lvl="3"/>
            <a:r>
              <a:rPr lang="zh-CN" altLang="en-US" sz="1600" b="1" dirty="0">
                <a:latin typeface="宋体" panose="02010600030101010101" pitchFamily="2" charset="-122"/>
                <a:ea typeface="宋体" panose="02010600030101010101" pitchFamily="2" charset="-122"/>
              </a:rPr>
              <a:t>函数</a:t>
            </a:r>
            <a:r>
              <a:rPr lang="en-US" altLang="zh-CN" sz="1600" b="1" dirty="0">
                <a:latin typeface="宋体" panose="02010600030101010101" pitchFamily="2" charset="-122"/>
                <a:ea typeface="宋体" panose="02010600030101010101" pitchFamily="2" charset="-122"/>
              </a:rPr>
              <a:t>f</a:t>
            </a:r>
            <a:r>
              <a:rPr lang="zh-CN" altLang="en-US" sz="1600" b="1" dirty="0">
                <a:latin typeface="宋体" panose="02010600030101010101" pitchFamily="2" charset="-122"/>
                <a:ea typeface="宋体" panose="02010600030101010101" pitchFamily="2" charset="-122"/>
              </a:rPr>
              <a:t>访问了变量</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，如果</a:t>
            </a:r>
            <a:r>
              <a:rPr lang="en-US" altLang="zh-CN" sz="1600" b="1" dirty="0">
                <a:latin typeface="宋体" panose="02010600030101010101" pitchFamily="2" charset="-122"/>
                <a:ea typeface="宋体" panose="02010600030101010101" pitchFamily="2" charset="-122"/>
              </a:rPr>
              <a:t>f</a:t>
            </a:r>
            <a:r>
              <a:rPr lang="zh-CN" altLang="en-US" sz="1600" b="1" dirty="0">
                <a:latin typeface="宋体" panose="02010600030101010101" pitchFamily="2" charset="-122"/>
                <a:ea typeface="宋体" panose="02010600030101010101" pitchFamily="2" charset="-122"/>
              </a:rPr>
              <a:t>中没有对</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的声明，则</a:t>
            </a:r>
            <a:r>
              <a:rPr lang="en-US" altLang="zh-CN" sz="1600" b="1" dirty="0">
                <a:latin typeface="宋体" panose="02010600030101010101" pitchFamily="2" charset="-122"/>
                <a:ea typeface="宋体" panose="02010600030101010101" pitchFamily="2" charset="-122"/>
              </a:rPr>
              <a:t>f</a:t>
            </a:r>
            <a:r>
              <a:rPr lang="zh-CN" altLang="en-US" sz="1600" b="1" dirty="0">
                <a:latin typeface="宋体" panose="02010600030101010101" pitchFamily="2" charset="-122"/>
                <a:ea typeface="宋体" panose="02010600030101010101" pitchFamily="2" charset="-122"/>
              </a:rPr>
              <a:t>的不同次执行实例，由于其调用的祖先节点不同，对</a:t>
            </a:r>
            <a:r>
              <a:rPr lang="en-US" altLang="zh-CN" sz="1600" b="1" dirty="0">
                <a:latin typeface="宋体" panose="02010600030101010101" pitchFamily="2" charset="-122"/>
                <a:ea typeface="宋体" panose="02010600030101010101" pitchFamily="2" charset="-122"/>
              </a:rPr>
              <a:t>x</a:t>
            </a:r>
            <a:r>
              <a:rPr lang="zh-CN" altLang="en-US" sz="1600" b="1" dirty="0">
                <a:latin typeface="宋体" panose="02010600030101010101" pitchFamily="2" charset="-122"/>
                <a:ea typeface="宋体" panose="02010600030101010101" pitchFamily="2" charset="-122"/>
              </a:rPr>
              <a:t>有影响的声明语句可能是不一样的</a:t>
            </a:r>
            <a:endParaRPr lang="en-US" altLang="zh-CN" sz="1600" b="1" dirty="0">
              <a:latin typeface="宋体" panose="02010600030101010101" pitchFamily="2" charset="-122"/>
              <a:ea typeface="宋体" panose="02010600030101010101" pitchFamily="2" charset="-122"/>
            </a:endParaRPr>
          </a:p>
          <a:p>
            <a:pPr lvl="2"/>
            <a:r>
              <a:rPr lang="zh-CN" altLang="en-US" sz="1800" b="1" dirty="0">
                <a:latin typeface="宋体" panose="02010600030101010101" pitchFamily="2" charset="-122"/>
                <a:ea typeface="宋体" panose="02010600030101010101" pitchFamily="2" charset="-122"/>
              </a:rPr>
              <a:t>动态作用域和静态作用域的不同，主要影响到对当前执行的过程中没有声明的对象</a:t>
            </a:r>
            <a:r>
              <a:rPr lang="en-US" altLang="zh-CN" sz="1800" b="1" dirty="0">
                <a:latin typeface="宋体" panose="02010600030101010101" pitchFamily="2" charset="-122"/>
                <a:ea typeface="宋体" panose="02010600030101010101" pitchFamily="2" charset="-122"/>
              </a:rPr>
              <a:t>x</a:t>
            </a:r>
            <a:r>
              <a:rPr lang="zh-CN" altLang="en-US" sz="1800" b="1" dirty="0">
                <a:latin typeface="宋体" panose="02010600030101010101" pitchFamily="2" charset="-122"/>
                <a:ea typeface="宋体" panose="02010600030101010101" pitchFamily="2" charset="-122"/>
              </a:rPr>
              <a:t>的解释</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1378" name="Rectangle 3"/>
          <p:cNvSpPr>
            <a:spLocks noGrp="1"/>
          </p:cNvSpPr>
          <p:nvPr>
            <p:ph idx="1"/>
          </p:nvPr>
        </p:nvSpPr>
        <p:spPr>
          <a:xfrm>
            <a:off x="990600" y="1371600"/>
            <a:ext cx="7391400" cy="5105400"/>
          </a:xfrm>
          <a:ln/>
        </p:spPr>
        <p:txBody>
          <a:bodyPr vert="horz" wrap="square" lIns="92075" tIns="46038" rIns="92075" bIns="46038" anchor="t" anchorCtr="0"/>
          <a:p>
            <a:pPr>
              <a:lnSpc>
                <a:spcPct val="90000"/>
              </a:lnSpc>
            </a:pPr>
            <a:r>
              <a:rPr lang="zh-CN" altLang="en-US" sz="2400" b="1" dirty="0">
                <a:ea typeface="宋体" panose="02010600030101010101" pitchFamily="2" charset="-122"/>
              </a:rPr>
              <a:t>过程和其调用者交换信息的方法：</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非局部名字</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参数</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返回值</a:t>
            </a:r>
            <a:endParaRPr lang="zh-CN" altLang="en-US" sz="2200" b="1" dirty="0">
              <a:ea typeface="宋体" panose="02010600030101010101" pitchFamily="2" charset="-122"/>
            </a:endParaRPr>
          </a:p>
          <a:p>
            <a:pPr>
              <a:lnSpc>
                <a:spcPct val="90000"/>
              </a:lnSpc>
            </a:pPr>
            <a:r>
              <a:rPr lang="zh-CN" altLang="en-US" sz="2400" b="1" dirty="0">
                <a:ea typeface="宋体" panose="02010600030101010101" pitchFamily="2" charset="-122"/>
              </a:rPr>
              <a:t>参数传递的方法：实现形参和实参联系的方法</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不同的参数传递方法是因为对表达式所表达的内容的不同解释</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左值</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右值</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参数传递的种类</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值调用（</a:t>
            </a:r>
            <a:r>
              <a:rPr lang="en-US" altLang="zh-CN" sz="2000" b="1" dirty="0">
                <a:ea typeface="宋体" panose="02010600030101010101" pitchFamily="2" charset="-122"/>
              </a:rPr>
              <a:t>Call-by-Value）</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引用调用（</a:t>
            </a:r>
            <a:r>
              <a:rPr lang="en-US" altLang="zh-CN" sz="2000" b="1" dirty="0">
                <a:ea typeface="宋体" panose="02010600030101010101" pitchFamily="2" charset="-122"/>
              </a:rPr>
              <a:t>Call-by-Reference）</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换名调用（</a:t>
            </a:r>
            <a:r>
              <a:rPr lang="en-US" altLang="zh-CN" sz="2000" b="1" dirty="0">
                <a:ea typeface="宋体" panose="02010600030101010101" pitchFamily="2" charset="-122"/>
              </a:rPr>
              <a:t>Call-by-Name）</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 …</a:t>
            </a:r>
            <a:endParaRPr lang="zh-CN" altLang="en-US" sz="2000"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11</a:t>
            </a:r>
            <a:r>
              <a:rPr lang="zh-CN" altLang="en-US"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3426" name="Rectangle 3"/>
          <p:cNvSpPr>
            <a:spLocks noGrp="1"/>
          </p:cNvSpPr>
          <p:nvPr>
            <p:ph idx="1"/>
          </p:nvPr>
        </p:nvSpPr>
        <p:spPr>
          <a:xfrm>
            <a:off x="755650" y="1382713"/>
            <a:ext cx="8064500" cy="2333625"/>
          </a:xfrm>
          <a:ln/>
        </p:spPr>
        <p:txBody>
          <a:bodyPr vert="horz" wrap="square" lIns="92075" tIns="46038" rIns="92075" bIns="46038" anchor="t" anchorCtr="0"/>
          <a:p>
            <a:r>
              <a:rPr lang="zh-CN" altLang="en-US" sz="1800" b="1" dirty="0">
                <a:ea typeface="宋体" panose="02010600030101010101" pitchFamily="2" charset="-122"/>
              </a:rPr>
              <a:t>值调用</a:t>
            </a:r>
            <a:endParaRPr lang="zh-CN" altLang="en-US" sz="1800" b="1" dirty="0">
              <a:ea typeface="宋体" panose="02010600030101010101" pitchFamily="2" charset="-122"/>
            </a:endParaRPr>
          </a:p>
          <a:p>
            <a:pPr lvl="1"/>
            <a:r>
              <a:rPr lang="zh-CN" altLang="en-US" sz="1800" b="1" dirty="0">
                <a:ea typeface="宋体" panose="02010600030101010101" pitchFamily="2" charset="-122"/>
              </a:rPr>
              <a:t>计算实参，并把它的右值传递给被调用过程</a:t>
            </a:r>
            <a:endParaRPr lang="zh-CN" altLang="en-US" sz="1800" b="1" dirty="0">
              <a:ea typeface="宋体" panose="02010600030101010101" pitchFamily="2" charset="-122"/>
            </a:endParaRPr>
          </a:p>
          <a:p>
            <a:pPr lvl="2"/>
            <a:r>
              <a:rPr lang="en-US" altLang="zh-CN" sz="1600" b="1" dirty="0">
                <a:ea typeface="宋体" panose="02010600030101010101" pitchFamily="2" charset="-122"/>
              </a:rPr>
              <a:t>C</a:t>
            </a:r>
            <a:r>
              <a:rPr lang="zh-CN" altLang="en-US" sz="1600" b="1" dirty="0">
                <a:ea typeface="宋体" panose="02010600030101010101" pitchFamily="2" charset="-122"/>
              </a:rPr>
              <a:t>语言、</a:t>
            </a:r>
            <a:r>
              <a:rPr lang="en-US" altLang="zh-CN" sz="1600" b="1" dirty="0">
                <a:ea typeface="宋体" panose="02010600030101010101" pitchFamily="2" charset="-122"/>
              </a:rPr>
              <a:t>Pascal</a:t>
            </a:r>
            <a:r>
              <a:rPr lang="zh-CN" altLang="en-US" sz="1600" b="1" dirty="0">
                <a:ea typeface="宋体" panose="02010600030101010101" pitchFamily="2" charset="-122"/>
              </a:rPr>
              <a:t>语言支持这种方式</a:t>
            </a:r>
            <a:endParaRPr lang="zh-CN" altLang="en-US" sz="1600" b="1" dirty="0">
              <a:ea typeface="宋体" panose="02010600030101010101" pitchFamily="2" charset="-122"/>
            </a:endParaRPr>
          </a:p>
          <a:p>
            <a:pPr lvl="2"/>
            <a:r>
              <a:rPr lang="zh-CN" altLang="en-US" sz="1600" b="1" dirty="0">
                <a:ea typeface="宋体" panose="02010600030101010101" pitchFamily="2" charset="-122"/>
              </a:rPr>
              <a:t>形参当作局部名，其存储单元在被调用过程的活动记录中</a:t>
            </a:r>
            <a:endParaRPr lang="zh-CN" altLang="en-US" sz="1600" b="1" dirty="0">
              <a:ea typeface="宋体" panose="02010600030101010101" pitchFamily="2" charset="-122"/>
            </a:endParaRPr>
          </a:p>
          <a:p>
            <a:pPr lvl="2"/>
            <a:r>
              <a:rPr lang="zh-CN" altLang="en-US" sz="1600" b="1" dirty="0">
                <a:ea typeface="宋体" panose="02010600030101010101" pitchFamily="2" charset="-122"/>
              </a:rPr>
              <a:t>调用者计算实参，并把右值放在形参的存储单元中</a:t>
            </a:r>
            <a:endParaRPr lang="zh-CN" altLang="en-US" sz="1600" b="1" dirty="0">
              <a:ea typeface="宋体" panose="02010600030101010101" pitchFamily="2" charset="-122"/>
            </a:endParaRPr>
          </a:p>
          <a:p>
            <a:pPr lvl="1"/>
            <a:r>
              <a:rPr lang="zh-CN" altLang="en-US" sz="1800" b="1" dirty="0">
                <a:ea typeface="宋体" panose="02010600030101010101" pitchFamily="2" charset="-122"/>
              </a:rPr>
              <a:t>形参的运算不影响调用者活动记录中的值</a:t>
            </a:r>
            <a:endParaRPr lang="zh-CN" altLang="en-US" sz="1800" b="1" dirty="0">
              <a:ea typeface="宋体" panose="02010600030101010101" pitchFamily="2" charset="-122"/>
            </a:endParaRPr>
          </a:p>
          <a:p>
            <a:pPr lvl="1"/>
            <a:r>
              <a:rPr lang="zh-CN" altLang="en-US" sz="1800" b="1" dirty="0">
                <a:ea typeface="宋体" panose="02010600030101010101" pitchFamily="2" charset="-122"/>
              </a:rPr>
              <a:t>被调用过程可以通过非局部名字或通过显式传递的指针值影响调用者</a:t>
            </a:r>
            <a:endParaRPr lang="zh-CN" altLang="en-US" sz="1800" b="1" dirty="0">
              <a:ea typeface="宋体" panose="02010600030101010101" pitchFamily="2" charset="-122"/>
            </a:endParaRPr>
          </a:p>
        </p:txBody>
      </p:sp>
      <p:sp>
        <p:nvSpPr>
          <p:cNvPr id="4" name="Rectangle 3"/>
          <p:cNvSpPr txBox="1">
            <a:spLocks noChangeArrowheads="1"/>
          </p:cNvSpPr>
          <p:nvPr/>
        </p:nvSpPr>
        <p:spPr bwMode="auto">
          <a:xfrm>
            <a:off x="990600" y="3684588"/>
            <a:ext cx="7391400" cy="2913063"/>
          </a:xfrm>
          <a:prstGeom prst="rect">
            <a:avLst/>
          </a:prstGeom>
          <a:noFill/>
          <a:ln>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zh-CN" altLang="en-US"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swap( x , y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x , * y;</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temp;</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temp = *x;  *x = *y;  *y = temp;</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main(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 1,  b = 2;</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swap( &amp;a , &amp;b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2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printf</a:t>
            </a: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a is now %d,  b is now %d\n”, a , b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12</a:t>
            </a:r>
            <a:r>
              <a:rPr lang="zh-CN" altLang="en-US"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5474" name="Rectangle 3"/>
          <p:cNvSpPr>
            <a:spLocks noGrp="1"/>
          </p:cNvSpPr>
          <p:nvPr>
            <p:ph idx="1"/>
          </p:nvPr>
        </p:nvSpPr>
        <p:spPr>
          <a:xfrm>
            <a:off x="990600" y="1524000"/>
            <a:ext cx="7391400" cy="4800600"/>
          </a:xfrm>
          <a:ln/>
        </p:spPr>
        <p:txBody>
          <a:bodyPr vert="horz" wrap="square" lIns="92075" tIns="46038" rIns="92075" bIns="46038" anchor="t" anchorCtr="0"/>
          <a:p>
            <a:r>
              <a:rPr lang="zh-CN" altLang="en-US" sz="2400" b="1" dirty="0">
                <a:ea typeface="宋体" panose="02010600030101010101" pitchFamily="2" charset="-122"/>
              </a:rPr>
              <a:t>引用调用</a:t>
            </a:r>
            <a:endParaRPr lang="zh-CN" altLang="en-US" sz="2400" b="1" dirty="0">
              <a:ea typeface="宋体" panose="02010600030101010101" pitchFamily="2" charset="-122"/>
            </a:endParaRPr>
          </a:p>
          <a:p>
            <a:pPr lvl="1"/>
            <a:r>
              <a:rPr lang="zh-CN" altLang="en-US" sz="2200" b="1" dirty="0">
                <a:ea typeface="宋体" panose="02010600030101010101" pitchFamily="2" charset="-122"/>
              </a:rPr>
              <a:t>也称为地址调用（</a:t>
            </a:r>
            <a:r>
              <a:rPr lang="en-US" altLang="zh-CN" sz="2200" b="1" dirty="0">
                <a:ea typeface="宋体" panose="02010600030101010101" pitchFamily="2" charset="-122"/>
              </a:rPr>
              <a:t>call-by-address）</a:t>
            </a:r>
            <a:r>
              <a:rPr lang="zh-CN" altLang="en-US" sz="2200" b="1" dirty="0">
                <a:ea typeface="宋体" panose="02010600030101010101" pitchFamily="2" charset="-122"/>
              </a:rPr>
              <a:t>或位置调用（</a:t>
            </a:r>
            <a:r>
              <a:rPr lang="en-US" altLang="zh-CN" sz="2200" b="1" dirty="0">
                <a:ea typeface="宋体" panose="02010600030101010101" pitchFamily="2" charset="-122"/>
              </a:rPr>
              <a:t>call-by-location）</a:t>
            </a:r>
            <a:endParaRPr lang="en-US" altLang="zh-CN" sz="2200" b="1" dirty="0">
              <a:ea typeface="宋体" panose="02010600030101010101" pitchFamily="2" charset="-122"/>
            </a:endParaRPr>
          </a:p>
          <a:p>
            <a:pPr lvl="2"/>
            <a:r>
              <a:rPr lang="zh-CN" altLang="en-US" sz="2000" b="1" dirty="0">
                <a:ea typeface="宋体" panose="02010600030101010101" pitchFamily="2" charset="-122"/>
              </a:rPr>
              <a:t>调用者将参数的左值传递给被调用的过程</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如果实参是有左值的名字或表达式，则传递这个左值本身</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如果实参实没有左值的表达式（如</a:t>
            </a:r>
            <a:r>
              <a:rPr lang="en-US" altLang="zh-CN" sz="2000" b="1" dirty="0">
                <a:ea typeface="宋体" panose="02010600030101010101" pitchFamily="2" charset="-122"/>
              </a:rPr>
              <a:t>a+b</a:t>
            </a:r>
            <a:r>
              <a:rPr lang="zh-CN" altLang="en-US" sz="2000" b="1" dirty="0">
                <a:ea typeface="宋体" panose="02010600030101010101" pitchFamily="2" charset="-122"/>
              </a:rPr>
              <a:t>或2等），则把它的值计算到新的存储单元，然后传递这个单元的地址</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a:t>
            </a:r>
            <a:r>
              <a:rPr lang="en-US" altLang="zh-CN" sz="2000" b="1" dirty="0">
                <a:ea typeface="宋体" panose="02010600030101010101" pitchFamily="2" charset="-122"/>
              </a:rPr>
              <a:t>Pascal</a:t>
            </a:r>
            <a:r>
              <a:rPr lang="zh-CN" altLang="en-US" sz="2000" b="1" dirty="0">
                <a:ea typeface="宋体" panose="02010600030101010101" pitchFamily="2" charset="-122"/>
              </a:rPr>
              <a:t>语言中</a:t>
            </a:r>
            <a:r>
              <a:rPr lang="en-US" altLang="zh-CN" sz="2000" b="1" dirty="0">
                <a:ea typeface="宋体" panose="02010600030101010101" pitchFamily="2" charset="-122"/>
              </a:rPr>
              <a:t>var</a:t>
            </a:r>
            <a:r>
              <a:rPr lang="zh-CN" altLang="en-US" sz="2000" b="1" dirty="0">
                <a:ea typeface="宋体" panose="02010600030101010101" pitchFamily="2" charset="-122"/>
              </a:rPr>
              <a:t>参数是用这种方式传递的</a:t>
            </a:r>
            <a:endParaRPr lang="zh-CN" altLang="en-US" sz="2000" b="1" dirty="0">
              <a:ea typeface="宋体" panose="02010600030101010101" pitchFamily="2" charset="-122"/>
            </a:endParaRPr>
          </a:p>
          <a:p>
            <a:pPr lvl="2"/>
            <a:r>
              <a:rPr lang="zh-CN" altLang="en-US" sz="2000" b="1" dirty="0">
                <a:ea typeface="宋体" panose="02010600030101010101" pitchFamily="2" charset="-122"/>
              </a:rPr>
              <a:t>数组一般是用这种方式传递的</a:t>
            </a:r>
            <a:endParaRPr lang="zh-CN" altLang="en-US" sz="2000" b="1" dirty="0">
              <a:ea typeface="宋体" panose="02010600030101010101" pitchFamily="2"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13</a:t>
            </a:r>
            <a:r>
              <a:rPr lang="zh-CN" altLang="en-US"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07522" name="Rectangle 3"/>
          <p:cNvSpPr>
            <a:spLocks noGrp="1"/>
          </p:cNvSpPr>
          <p:nvPr>
            <p:ph idx="1"/>
          </p:nvPr>
        </p:nvSpPr>
        <p:spPr>
          <a:xfrm>
            <a:off x="990600" y="1524000"/>
            <a:ext cx="7391400" cy="4800600"/>
          </a:xfrm>
          <a:ln/>
        </p:spPr>
        <p:txBody>
          <a:bodyPr vert="horz" wrap="square" lIns="92075" tIns="46038" rIns="92075" bIns="46038" anchor="t" anchorCtr="0"/>
          <a:p>
            <a:r>
              <a:rPr lang="zh-CN" altLang="en-US" sz="2400" b="1" dirty="0">
                <a:ea typeface="宋体" panose="02010600030101010101" pitchFamily="2" charset="-122"/>
              </a:rPr>
              <a:t>换名调用：历史上，由</a:t>
            </a:r>
            <a:r>
              <a:rPr lang="en-US" altLang="zh-CN" sz="2400" b="1" dirty="0">
                <a:ea typeface="宋体" panose="02010600030101010101" pitchFamily="2" charset="-122"/>
              </a:rPr>
              <a:t>Algol</a:t>
            </a:r>
            <a:r>
              <a:rPr lang="zh-CN" altLang="en-US" sz="2400" b="1" dirty="0">
                <a:ea typeface="宋体" panose="02010600030101010101" pitchFamily="2" charset="-122"/>
              </a:rPr>
              <a:t>的复写规则定义</a:t>
            </a:r>
            <a:endParaRPr lang="zh-CN" altLang="en-US" sz="2400" b="1" dirty="0">
              <a:ea typeface="宋体" panose="02010600030101010101" pitchFamily="2" charset="-122"/>
            </a:endParaRPr>
          </a:p>
          <a:p>
            <a:pPr lvl="1"/>
            <a:r>
              <a:rPr lang="zh-CN" altLang="en-US" sz="2200" b="1" dirty="0">
                <a:ea typeface="宋体" panose="02010600030101010101" pitchFamily="2" charset="-122"/>
              </a:rPr>
              <a:t>把过程看成是宏，即用它的体替换调用者的调用，用实参的文字代替形参，这样的文字代替称为宏展开或内联展开</a:t>
            </a:r>
            <a:endParaRPr lang="zh-CN" altLang="en-US" sz="2200" b="1" dirty="0">
              <a:ea typeface="宋体" panose="02010600030101010101" pitchFamily="2" charset="-122"/>
            </a:endParaRPr>
          </a:p>
          <a:p>
            <a:pPr lvl="1"/>
            <a:r>
              <a:rPr lang="zh-CN" altLang="en-US" sz="2200" b="1" dirty="0">
                <a:ea typeface="宋体" panose="02010600030101010101" pitchFamily="2" charset="-122"/>
              </a:rPr>
              <a:t>被调用过程的局部名和调用过程的名字保持区别，可以认为在宏展开前，被调用过程的每个局部名系统地被重新命名成可区别的名字</a:t>
            </a:r>
            <a:endParaRPr lang="en-US" altLang="zh-CN" sz="2200" b="1" dirty="0">
              <a:ea typeface="宋体" panose="02010600030101010101" pitchFamily="2" charset="-122"/>
            </a:endParaRPr>
          </a:p>
          <a:p>
            <a:pPr lvl="1"/>
            <a:r>
              <a:rPr lang="zh-CN" altLang="en-US" sz="2200" b="1" dirty="0">
                <a:ea typeface="宋体" panose="02010600030101010101" pitchFamily="2" charset="-122"/>
              </a:rPr>
              <a:t>换名调用主要出于理论上的兴趣，实践中较少采用</a:t>
            </a:r>
            <a:endParaRPr lang="zh-CN" altLang="en-US" sz="2200" b="1" dirty="0">
              <a:ea typeface="宋体" panose="02010600030101010101" pitchFamily="2" charset="-122"/>
            </a:endParaRPr>
          </a:p>
          <a:p>
            <a:pPr lvl="1"/>
            <a:r>
              <a:rPr lang="en-US" altLang="zh-CN" sz="2200" b="1" dirty="0">
                <a:ea typeface="宋体" panose="02010600030101010101" pitchFamily="2" charset="-122"/>
              </a:rPr>
              <a:t>In-lining</a:t>
            </a:r>
            <a:r>
              <a:rPr lang="zh-CN" altLang="en-US" sz="2200" b="1" dirty="0">
                <a:ea typeface="宋体" panose="02010600030101010101" pitchFamily="2" charset="-122"/>
              </a:rPr>
              <a:t>是一种比较常用的类似技术，如果结合执行的</a:t>
            </a:r>
            <a:r>
              <a:rPr lang="en-US" altLang="zh-CN" sz="2200" b="1" dirty="0">
                <a:ea typeface="宋体" panose="02010600030101010101" pitchFamily="2" charset="-122"/>
              </a:rPr>
              <a:t>profling</a:t>
            </a:r>
            <a:r>
              <a:rPr lang="zh-CN" altLang="en-US" sz="2200" b="1" dirty="0">
                <a:ea typeface="宋体" panose="02010600030101010101" pitchFamily="2" charset="-122"/>
              </a:rPr>
              <a:t>信息，</a:t>
            </a:r>
            <a:r>
              <a:rPr lang="en-US" altLang="zh-CN" sz="2200" b="1" dirty="0">
                <a:ea typeface="宋体" panose="02010600030101010101" pitchFamily="2" charset="-122"/>
              </a:rPr>
              <a:t>In-lining</a:t>
            </a:r>
            <a:r>
              <a:rPr lang="zh-CN" altLang="en-US" sz="2200" b="1" dirty="0">
                <a:ea typeface="宋体" panose="02010600030101010101" pitchFamily="2" charset="-122"/>
              </a:rPr>
              <a:t>可能是一种比较有效的优化技术</a:t>
            </a:r>
            <a:endParaRPr lang="zh-CN" altLang="en-US" sz="2200" b="1" dirty="0">
              <a:ea typeface="宋体" panose="02010600030101010101" pitchFamily="2"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程序设计语言基础（</a:t>
            </a:r>
            <a:r>
              <a:rPr lang="en-US" altLang="zh-CN" dirty="0">
                <a:latin typeface="宋体" panose="02010600030101010101" pitchFamily="2" charset="-122"/>
                <a:ea typeface="宋体" panose="02010600030101010101" pitchFamily="2" charset="-122"/>
              </a:rPr>
              <a:t>14</a:t>
            </a:r>
            <a:r>
              <a:rPr lang="zh-CN" altLang="en-US"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3491" name="Rectangle 3"/>
          <p:cNvSpPr>
            <a:spLocks noGrp="1"/>
          </p:cNvSpPr>
          <p:nvPr>
            <p:ph idx="1"/>
          </p:nvPr>
        </p:nvSpPr>
        <p:spPr>
          <a:xfrm>
            <a:off x="990600" y="1524000"/>
            <a:ext cx="7391400" cy="4800600"/>
          </a:xfrm>
          <a:ln/>
        </p:spPr>
        <p:txBody>
          <a:bodyPr vert="horz" wrap="square" lIns="92075" tIns="46038" rIns="92075" bIns="46038" anchor="t" anchorCtr="0"/>
          <a:p>
            <a:r>
              <a:rPr lang="zh-CN" altLang="en-US" sz="2400" b="1" dirty="0">
                <a:ea typeface="宋体" panose="02010600030101010101" pitchFamily="2" charset="-122"/>
              </a:rPr>
              <a:t>别名</a:t>
            </a:r>
            <a:endParaRPr lang="zh-CN" altLang="en-US" sz="2400" b="1" dirty="0">
              <a:ea typeface="宋体" panose="02010600030101010101" pitchFamily="2" charset="-122"/>
            </a:endParaRPr>
          </a:p>
          <a:p>
            <a:pPr lvl="1"/>
            <a:r>
              <a:rPr lang="zh-CN" altLang="en-US" sz="2200" b="1" dirty="0">
                <a:ea typeface="宋体" panose="02010600030101010101" pitchFamily="2" charset="-122"/>
              </a:rPr>
              <a:t>在同一个代码段中，某个存储位置可以以多个名字访问，则称为有别名</a:t>
            </a:r>
            <a:endParaRPr lang="en-US" altLang="zh-CN" sz="2200" b="1" dirty="0">
              <a:ea typeface="宋体" panose="02010600030101010101" pitchFamily="2" charset="-122"/>
            </a:endParaRPr>
          </a:p>
          <a:p>
            <a:pPr lvl="2"/>
            <a:r>
              <a:rPr lang="zh-CN" altLang="en-US" sz="2000" b="1" dirty="0">
                <a:ea typeface="宋体" panose="02010600030101010101" pitchFamily="2" charset="-122"/>
              </a:rPr>
              <a:t>可能引发错误</a:t>
            </a:r>
            <a:endParaRPr lang="en-US" altLang="zh-CN" sz="2000" b="1" dirty="0">
              <a:ea typeface="宋体" panose="02010600030101010101" pitchFamily="2" charset="-122"/>
            </a:endParaRPr>
          </a:p>
          <a:p>
            <a:pPr lvl="2"/>
            <a:r>
              <a:rPr lang="zh-CN" altLang="en-US" sz="2000" b="1" dirty="0">
                <a:ea typeface="宋体" panose="02010600030101010101" pitchFamily="2" charset="-122"/>
              </a:rPr>
              <a:t>影响编译优化的效果</a:t>
            </a:r>
            <a:endParaRPr lang="zh-CN" altLang="en-US" sz="2000" b="1" dirty="0">
              <a:ea typeface="宋体" panose="02010600030101010101" pitchFamily="2" charset="-122"/>
            </a:endParaRPr>
          </a:p>
          <a:p>
            <a:pPr lvl="1"/>
            <a:r>
              <a:rPr lang="zh-CN" altLang="en-US" sz="2200" b="1" dirty="0">
                <a:ea typeface="宋体" panose="02010600030101010101" pitchFamily="2" charset="-122"/>
              </a:rPr>
              <a:t>别名引入的常见方式：</a:t>
            </a:r>
            <a:endParaRPr lang="en-US" altLang="zh-CN" sz="2200" b="1" dirty="0">
              <a:ea typeface="宋体" panose="02010600030101010101" pitchFamily="2" charset="-122"/>
            </a:endParaRPr>
          </a:p>
          <a:p>
            <a:pPr lvl="2"/>
            <a:r>
              <a:rPr lang="zh-CN" altLang="en-US" sz="2000" b="1" dirty="0">
                <a:ea typeface="宋体" panose="02010600030101010101" pitchFamily="2" charset="-122"/>
              </a:rPr>
              <a:t>参数传递的方式是引用调用</a:t>
            </a:r>
            <a:endParaRPr lang="en-US" altLang="zh-CN" sz="2000" b="1" dirty="0">
              <a:ea typeface="宋体" panose="02010600030101010101" pitchFamily="2" charset="-122"/>
            </a:endParaRPr>
          </a:p>
          <a:p>
            <a:pPr lvl="3"/>
            <a:r>
              <a:rPr lang="zh-CN" altLang="en-US" sz="1800" b="1" dirty="0">
                <a:ea typeface="宋体" panose="02010600030101010101" pitchFamily="2" charset="-122"/>
              </a:rPr>
              <a:t>同一过程的两个形式参数，结合的实参是同一个变量，或者两个实参也是别名的</a:t>
            </a:r>
            <a:endParaRPr lang="en-US" altLang="zh-CN" sz="1800" b="1" dirty="0">
              <a:ea typeface="宋体" panose="02010600030101010101" pitchFamily="2" charset="-122"/>
            </a:endParaRPr>
          </a:p>
          <a:p>
            <a:pPr lvl="3"/>
            <a:r>
              <a:rPr lang="zh-CN" altLang="en-US" sz="1800" b="1" dirty="0">
                <a:ea typeface="宋体" panose="02010600030101010101" pitchFamily="2" charset="-122"/>
              </a:rPr>
              <a:t>形参与全局量别名（在同一个过程中被访问）</a:t>
            </a:r>
            <a:endParaRPr lang="en-US" altLang="zh-CN" sz="1800" b="1" dirty="0">
              <a:ea typeface="宋体" panose="02010600030101010101" pitchFamily="2" charset="-122"/>
            </a:endParaRPr>
          </a:p>
          <a:p>
            <a:pPr lvl="2"/>
            <a:r>
              <a:rPr lang="en-US" altLang="zh-CN" sz="2000" b="1" dirty="0">
                <a:ea typeface="宋体" panose="02010600030101010101" pitchFamily="2" charset="-122"/>
              </a:rPr>
              <a:t>C</a:t>
            </a:r>
            <a:r>
              <a:rPr lang="zh-CN" altLang="en-US" sz="2000" b="1" dirty="0">
                <a:ea typeface="宋体" panose="02010600030101010101" pitchFamily="2" charset="-122"/>
              </a:rPr>
              <a:t>语言（包括类</a:t>
            </a:r>
            <a:r>
              <a:rPr lang="en-US" altLang="zh-CN" sz="2000" b="1" dirty="0">
                <a:ea typeface="宋体" panose="02010600030101010101" pitchFamily="2" charset="-122"/>
              </a:rPr>
              <a:t>C</a:t>
            </a:r>
            <a:r>
              <a:rPr lang="zh-CN" altLang="en-US" sz="2000" b="1" dirty="0">
                <a:ea typeface="宋体" panose="02010600030101010101" pitchFamily="2" charset="-122"/>
              </a:rPr>
              <a:t>语言）中</a:t>
            </a:r>
            <a:r>
              <a:rPr lang="en-US" altLang="zh-CN" sz="2000" b="1" dirty="0">
                <a:ea typeface="宋体" panose="02010600030101010101" pitchFamily="2" charset="-122"/>
              </a:rPr>
              <a:t>union</a:t>
            </a:r>
            <a:r>
              <a:rPr lang="zh-CN" altLang="en-US" sz="2000" b="1" dirty="0">
                <a:ea typeface="宋体" panose="02010600030101010101" pitchFamily="2" charset="-122"/>
              </a:rPr>
              <a:t>关键字（其他语言中也可能有类似的关键字）可能引入别名</a:t>
            </a:r>
            <a:endParaRPr lang="en-US" altLang="zh-CN" sz="2000" b="1" dirty="0">
              <a:ea typeface="宋体" panose="02010600030101010101" pitchFamily="2" charset="-122"/>
            </a:endParaRPr>
          </a:p>
          <a:p>
            <a:pPr lvl="2"/>
            <a:r>
              <a:rPr lang="zh-CN" altLang="en-US" sz="2000" b="1" dirty="0">
                <a:ea typeface="宋体" panose="02010600030101010101" pitchFamily="2" charset="-122"/>
              </a:rPr>
              <a:t>指针？</a:t>
            </a:r>
            <a:endParaRPr lang="en-US" altLang="zh-CN" sz="2000" b="1" dirty="0">
              <a:ea typeface="宋体" panose="02010600030101010101" pitchFamily="2" charset="-122"/>
            </a:endParaRPr>
          </a:p>
          <a:p>
            <a:pPr lvl="3"/>
            <a:r>
              <a:rPr lang="zh-CN" altLang="en-US" sz="1800" b="1" dirty="0">
                <a:ea typeface="宋体" panose="02010600030101010101" pitchFamily="2" charset="-122"/>
              </a:rPr>
              <a:t>指针的指向分析</a:t>
            </a:r>
            <a:endParaRPr lang="en-US" altLang="zh-CN" sz="1800" b="1"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charRg st="63" end="7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1">
                                            <p:txEl>
                                              <p:charRg st="76" end="1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1">
                                            <p:txEl>
                                              <p:charRg st="112" end="13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1">
                                            <p:txEl>
                                              <p:charRg st="133" end="17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491">
                                            <p:txEl>
                                              <p:charRg st="177" end="18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491">
                                            <p:txEl>
                                              <p:charRg st="181" end="18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11618" name="Rectangle 3"/>
          <p:cNvSpPr>
            <a:spLocks noGrp="1"/>
          </p:cNvSpPr>
          <p:nvPr>
            <p:ph idx="1"/>
          </p:nvPr>
        </p:nvSpPr>
        <p:spPr>
          <a:xfrm>
            <a:off x="539750" y="1600200"/>
            <a:ext cx="8147050" cy="4876800"/>
          </a:xfrm>
          <a:ln/>
        </p:spPr>
        <p:txBody>
          <a:bodyPr vert="horz" wrap="square" lIns="92075" tIns="46038" rIns="92075" bIns="46038" anchor="t" anchorCtr="0"/>
          <a:p>
            <a:pPr>
              <a:lnSpc>
                <a:spcPct val="90000"/>
              </a:lnSpc>
            </a:pPr>
            <a:r>
              <a:rPr lang="zh-CN" altLang="en-US" sz="2000" b="1" dirty="0">
                <a:ea typeface="宋体" panose="02010600030101010101" pitchFamily="2" charset="-122"/>
              </a:rPr>
              <a:t>练习</a:t>
            </a:r>
            <a:r>
              <a:rPr lang="en-US" altLang="zh-CN" sz="2000" b="1" dirty="0">
                <a:ea typeface="宋体" panose="02010600030101010101" pitchFamily="2" charset="-122"/>
              </a:rPr>
              <a:t>1.1.2</a:t>
            </a:r>
            <a:r>
              <a:rPr lang="zh-CN" altLang="en-US" sz="2000" b="1" dirty="0">
                <a:ea typeface="宋体" panose="02010600030101010101" pitchFamily="2" charset="-122"/>
              </a:rPr>
              <a:t>：编译器相对于解释器的优点是什么？解释器向对于编译其的优点是什么？</a:t>
            </a:r>
            <a:endParaRPr lang="en-US" altLang="zh-CN" sz="2000" b="1" dirty="0">
              <a:ea typeface="宋体" panose="02010600030101010101" pitchFamily="2" charset="-122"/>
            </a:endParaRPr>
          </a:p>
          <a:p>
            <a:pPr>
              <a:lnSpc>
                <a:spcPct val="90000"/>
              </a:lnSpc>
            </a:pPr>
            <a:r>
              <a:rPr lang="zh-CN" altLang="en-US" sz="2000" b="1" dirty="0">
                <a:ea typeface="宋体" panose="02010600030101010101" pitchFamily="2" charset="-122"/>
              </a:rPr>
              <a:t>练习</a:t>
            </a:r>
            <a:r>
              <a:rPr lang="en-US" altLang="zh-CN" sz="2000" b="1" dirty="0">
                <a:ea typeface="宋体" panose="02010600030101010101" pitchFamily="2" charset="-122"/>
              </a:rPr>
              <a:t>1.1.3</a:t>
            </a:r>
            <a:r>
              <a:rPr lang="zh-CN" altLang="en-US" sz="2000" b="1" dirty="0">
                <a:ea typeface="宋体" panose="02010600030101010101" pitchFamily="2" charset="-122"/>
              </a:rPr>
              <a:t>：在一个语言处理系统中，编译器产生汇编语言而不是机器语言的好处是什么？</a:t>
            </a:r>
            <a:endParaRPr lang="en-US" altLang="zh-CN" sz="2000" b="1" dirty="0">
              <a:ea typeface="宋体" panose="02010600030101010101" pitchFamily="2" charset="-122"/>
            </a:endParaRPr>
          </a:p>
          <a:p>
            <a:pPr>
              <a:lnSpc>
                <a:spcPct val="90000"/>
              </a:lnSpc>
            </a:pPr>
            <a:r>
              <a:rPr lang="zh-CN" altLang="en-US" sz="2000" b="1" dirty="0">
                <a:ea typeface="宋体" panose="02010600030101010101" pitchFamily="2" charset="-122"/>
              </a:rPr>
              <a:t>练习</a:t>
            </a:r>
            <a:r>
              <a:rPr lang="en-US" altLang="zh-CN" sz="2000" b="1" dirty="0">
                <a:ea typeface="宋体" panose="02010600030101010101" pitchFamily="2" charset="-122"/>
              </a:rPr>
              <a:t>1.6.1</a:t>
            </a:r>
            <a:r>
              <a:rPr lang="zh-CN" altLang="en-US" sz="2000" b="1" dirty="0">
                <a:ea typeface="宋体" panose="02010600030101010101" pitchFamily="2" charset="-122"/>
              </a:rPr>
              <a:t>：对下图中的块结构的</a:t>
            </a:r>
            <a:r>
              <a:rPr lang="en-US" altLang="zh-CN" sz="2000" b="1" dirty="0">
                <a:ea typeface="宋体" panose="02010600030101010101" pitchFamily="2" charset="-122"/>
              </a:rPr>
              <a:t>C</a:t>
            </a:r>
            <a:r>
              <a:rPr lang="zh-CN" altLang="en-US" sz="2000" b="1" dirty="0">
                <a:ea typeface="宋体" panose="02010600030101010101" pitchFamily="2" charset="-122"/>
              </a:rPr>
              <a:t>代码，指出赋给</a:t>
            </a:r>
            <a:r>
              <a:rPr lang="en-US" altLang="zh-CN" sz="2000" b="1" dirty="0">
                <a:ea typeface="宋体" panose="02010600030101010101" pitchFamily="2" charset="-122"/>
              </a:rPr>
              <a:t>w</a:t>
            </a:r>
            <a:r>
              <a:rPr lang="zh-CN" altLang="en-US" sz="2000" b="1" dirty="0">
                <a:ea typeface="宋体" panose="02010600030101010101" pitchFamily="2" charset="-122"/>
              </a:rPr>
              <a:t>、</a:t>
            </a:r>
            <a:r>
              <a:rPr lang="en-US" altLang="zh-CN" sz="2000" b="1" dirty="0">
                <a:ea typeface="宋体" panose="02010600030101010101" pitchFamily="2" charset="-122"/>
              </a:rPr>
              <a:t>x</a:t>
            </a:r>
            <a:r>
              <a:rPr lang="zh-CN" altLang="en-US" sz="2000" b="1" dirty="0">
                <a:ea typeface="宋体" panose="02010600030101010101" pitchFamily="2" charset="-122"/>
              </a:rPr>
              <a:t>、</a:t>
            </a:r>
            <a:r>
              <a:rPr lang="en-US" altLang="zh-CN" sz="2000" b="1" dirty="0">
                <a:ea typeface="宋体" panose="02010600030101010101" pitchFamily="2" charset="-122"/>
              </a:rPr>
              <a:t>y</a:t>
            </a:r>
            <a:r>
              <a:rPr lang="zh-CN" altLang="en-US" sz="2000" b="1" dirty="0">
                <a:ea typeface="宋体" panose="02010600030101010101" pitchFamily="2" charset="-122"/>
              </a:rPr>
              <a:t>和</a:t>
            </a:r>
            <a:r>
              <a:rPr lang="en-US" altLang="zh-CN" sz="2000" b="1" dirty="0">
                <a:ea typeface="宋体" panose="02010600030101010101" pitchFamily="2" charset="-122"/>
              </a:rPr>
              <a:t>z</a:t>
            </a:r>
            <a:r>
              <a:rPr lang="zh-CN" altLang="en-US" sz="2000" b="1" dirty="0">
                <a:ea typeface="宋体" panose="02010600030101010101" pitchFamily="2" charset="-122"/>
              </a:rPr>
              <a:t>的值</a:t>
            </a:r>
            <a:endParaRPr lang="en-US" altLang="zh-CN" sz="2000" b="1" dirty="0">
              <a:ea typeface="宋体" panose="02010600030101010101" pitchFamily="2" charset="-122"/>
            </a:endParaRPr>
          </a:p>
        </p:txBody>
      </p:sp>
      <p:pic>
        <p:nvPicPr>
          <p:cNvPr id="111619" name="Picture 2"/>
          <p:cNvPicPr>
            <a:picLocks noChangeAspect="1"/>
          </p:cNvPicPr>
          <p:nvPr/>
        </p:nvPicPr>
        <p:blipFill>
          <a:blip r:embed="rId1"/>
          <a:stretch>
            <a:fillRect/>
          </a:stretch>
        </p:blipFill>
        <p:spPr>
          <a:xfrm>
            <a:off x="682625" y="3286125"/>
            <a:ext cx="7467600" cy="3467100"/>
          </a:xfrm>
          <a:prstGeom prst="rect">
            <a:avLst/>
          </a:prstGeom>
          <a:noFill/>
          <a:ln w="9525">
            <a:noFill/>
          </a:ln>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ln/>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作业（</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续）</a:t>
            </a:r>
            <a:endParaRPr lang="zh-CN" altLang="en-US" dirty="0">
              <a:latin typeface="宋体" panose="02010600030101010101" pitchFamily="2" charset="-122"/>
              <a:ea typeface="宋体" panose="02010600030101010101" pitchFamily="2" charset="-122"/>
            </a:endParaRPr>
          </a:p>
        </p:txBody>
      </p:sp>
      <p:sp>
        <p:nvSpPr>
          <p:cNvPr id="110595" name="Rectangle 3"/>
          <p:cNvSpPr>
            <a:spLocks noGrp="1" noChangeArrowheads="1"/>
          </p:cNvSpPr>
          <p:nvPr>
            <p:ph idx="1"/>
          </p:nvPr>
        </p:nvSpPr>
        <p:spPr>
          <a:xfrm>
            <a:off x="539750" y="1600200"/>
            <a:ext cx="814705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练习</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1.6.2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：对前一页图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中的代码重复练习</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1.6.1</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练习</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1.6.4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：下面的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代码的打印结果是什么？</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#define</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(x+1)</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x = 2;</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b( ) { x = a;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printf</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n”,x</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c( ) {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int</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x = 1; </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printf</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(“%d\n”, a);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void main( ) { b( ); c( ); }</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E:\weldon\src\ipd_seminar\ibm0325.ppt</Template>
  <TotalTime>0</TotalTime>
  <Words>11783</Words>
  <Application>WPS 演示</Application>
  <PresentationFormat>全屏显示(4:3)</PresentationFormat>
  <Paragraphs>776</Paragraphs>
  <Slides>55</Slides>
  <Notes>54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70" baseType="lpstr">
      <vt:lpstr>Arial</vt:lpstr>
      <vt:lpstr>宋体</vt:lpstr>
      <vt:lpstr>Wingdings</vt:lpstr>
      <vt:lpstr>Times New Roman</vt:lpstr>
      <vt:lpstr>Book Antiqua</vt:lpstr>
      <vt:lpstr>Monotype Sorts</vt:lpstr>
      <vt:lpstr>Wingdings</vt:lpstr>
      <vt:lpstr>Tahoma</vt:lpstr>
      <vt:lpstr>幼圆</vt:lpstr>
      <vt:lpstr>微软雅黑</vt:lpstr>
      <vt:lpstr>Arial Unicode MS</vt:lpstr>
      <vt:lpstr>Monotype Sorts</vt:lpstr>
      <vt:lpstr>ibm0325</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481</cp:revision>
  <cp:lastPrinted>2000-08-04T00:01:40Z</cp:lastPrinted>
  <dcterms:created xsi:type="dcterms:W3CDTF">1999-10-09T18:48:57Z</dcterms:created>
  <dcterms:modified xsi:type="dcterms:W3CDTF">2026-03-05T03:24:35Z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350E407FA43344EB869EDF3DFBFE515A_12</vt:lpwstr>
  </property>
  <property fmtid="{D5CDD505-2E9C-101B-9397-08002B2CF9AE}" pid="3" name="KSOProductBuildVer">
    <vt:lpwstr>2052-12.1.0.23542</vt:lpwstr>
  </property>
</Properties>
</file>