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96"/>
  </p:handoutMasterIdLst>
  <p:sldIdLst>
    <p:sldId id="329" r:id="rId3"/>
    <p:sldId id="384" r:id="rId5"/>
    <p:sldId id="385" r:id="rId6"/>
    <p:sldId id="386" r:id="rId7"/>
    <p:sldId id="387" r:id="rId8"/>
    <p:sldId id="362" r:id="rId9"/>
    <p:sldId id="363" r:id="rId10"/>
    <p:sldId id="364" r:id="rId11"/>
    <p:sldId id="366" r:id="rId12"/>
    <p:sldId id="367" r:id="rId13"/>
    <p:sldId id="368" r:id="rId14"/>
    <p:sldId id="369" r:id="rId15"/>
    <p:sldId id="370" r:id="rId16"/>
    <p:sldId id="371" r:id="rId17"/>
    <p:sldId id="372" r:id="rId18"/>
    <p:sldId id="373" r:id="rId19"/>
    <p:sldId id="374" r:id="rId20"/>
    <p:sldId id="375" r:id="rId21"/>
    <p:sldId id="376" r:id="rId22"/>
    <p:sldId id="377" r:id="rId23"/>
    <p:sldId id="378" r:id="rId24"/>
    <p:sldId id="379" r:id="rId25"/>
    <p:sldId id="382" r:id="rId26"/>
    <p:sldId id="381" r:id="rId27"/>
    <p:sldId id="389" r:id="rId28"/>
    <p:sldId id="390" r:id="rId29"/>
    <p:sldId id="392" r:id="rId30"/>
    <p:sldId id="391" r:id="rId31"/>
    <p:sldId id="393" r:id="rId32"/>
    <p:sldId id="394" r:id="rId33"/>
    <p:sldId id="396" r:id="rId34"/>
    <p:sldId id="397" r:id="rId35"/>
    <p:sldId id="398" r:id="rId36"/>
    <p:sldId id="399" r:id="rId37"/>
    <p:sldId id="400" r:id="rId38"/>
    <p:sldId id="401" r:id="rId39"/>
    <p:sldId id="402" r:id="rId40"/>
    <p:sldId id="403" r:id="rId41"/>
    <p:sldId id="404" r:id="rId42"/>
    <p:sldId id="406" r:id="rId43"/>
    <p:sldId id="407" r:id="rId44"/>
    <p:sldId id="405" r:id="rId45"/>
    <p:sldId id="409" r:id="rId46"/>
    <p:sldId id="408" r:id="rId47"/>
    <p:sldId id="411" r:id="rId48"/>
    <p:sldId id="412" r:id="rId49"/>
    <p:sldId id="413" r:id="rId50"/>
    <p:sldId id="410" r:id="rId51"/>
    <p:sldId id="415" r:id="rId52"/>
    <p:sldId id="416" r:id="rId53"/>
    <p:sldId id="414" r:id="rId54"/>
    <p:sldId id="417" r:id="rId55"/>
    <p:sldId id="419" r:id="rId56"/>
    <p:sldId id="418" r:id="rId57"/>
    <p:sldId id="420" r:id="rId58"/>
    <p:sldId id="421" r:id="rId59"/>
    <p:sldId id="423" r:id="rId60"/>
    <p:sldId id="424" r:id="rId61"/>
    <p:sldId id="422" r:id="rId62"/>
    <p:sldId id="426" r:id="rId63"/>
    <p:sldId id="427" r:id="rId64"/>
    <p:sldId id="428" r:id="rId65"/>
    <p:sldId id="425" r:id="rId66"/>
    <p:sldId id="429" r:id="rId67"/>
    <p:sldId id="431" r:id="rId68"/>
    <p:sldId id="432" r:id="rId69"/>
    <p:sldId id="433" r:id="rId70"/>
    <p:sldId id="434" r:id="rId71"/>
    <p:sldId id="435" r:id="rId72"/>
    <p:sldId id="430" r:id="rId73"/>
    <p:sldId id="437" r:id="rId74"/>
    <p:sldId id="436" r:id="rId75"/>
    <p:sldId id="439" r:id="rId76"/>
    <p:sldId id="438" r:id="rId77"/>
    <p:sldId id="442" r:id="rId78"/>
    <p:sldId id="440" r:id="rId79"/>
    <p:sldId id="444" r:id="rId80"/>
    <p:sldId id="441" r:id="rId81"/>
    <p:sldId id="443" r:id="rId82"/>
    <p:sldId id="446" r:id="rId83"/>
    <p:sldId id="445" r:id="rId84"/>
    <p:sldId id="447" r:id="rId85"/>
    <p:sldId id="448" r:id="rId86"/>
    <p:sldId id="449" r:id="rId87"/>
    <p:sldId id="450" r:id="rId88"/>
    <p:sldId id="452" r:id="rId89"/>
    <p:sldId id="453" r:id="rId90"/>
    <p:sldId id="454" r:id="rId91"/>
    <p:sldId id="451" r:id="rId92"/>
    <p:sldId id="455" r:id="rId93"/>
    <p:sldId id="456" r:id="rId94"/>
    <p:sldId id="395" r:id="rId95"/>
  </p:sldIdLst>
  <p:sldSz cx="9144000" cy="6858000" type="screen4x3"/>
  <p:notesSz cx="6708775" cy="9774555"/>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44" userDrawn="1">
          <p15:clr>
            <a:srgbClr val="A4A3A4"/>
          </p15:clr>
        </p15:guide>
        <p15:guide id="2" pos="575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 f" initials="j" lastIdx="5" clrIdx="0"/>
  <p:cmAuthor id="3" name="f ja" initials="f" lastIdx="4"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CCFFCC"/>
    <a:srgbClr val="FFCCFF"/>
    <a:srgbClr val="CCFFFF"/>
    <a:srgbClr val="CCECFF"/>
    <a:srgbClr val="66FF66"/>
    <a:srgbClr val="FFFF99"/>
    <a:srgbClr val="063D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9592"/>
    <p:restoredTop sz="72887"/>
  </p:normalViewPr>
  <p:slideViewPr>
    <p:cSldViewPr showGuides="1">
      <p:cViewPr varScale="1">
        <p:scale>
          <a:sx n="53" d="100"/>
          <a:sy n="53" d="100"/>
        </p:scale>
        <p:origin x="744" y="30"/>
      </p:cViewPr>
      <p:guideLst>
        <p:guide orient="horz" pos="144"/>
        <p:guide pos="5759"/>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tableStyles" Target="tableStyles.xml"/><Relationship Id="rId98" Type="http://schemas.openxmlformats.org/officeDocument/2006/relationships/viewProps" Target="viewProps.xml"/><Relationship Id="rId97" Type="http://schemas.openxmlformats.org/officeDocument/2006/relationships/presProps" Target="presProps.xml"/><Relationship Id="rId96" Type="http://schemas.openxmlformats.org/officeDocument/2006/relationships/handoutMaster" Target="handoutMasters/handoutMaster1.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0" Type="http://schemas.openxmlformats.org/officeDocument/2006/relationships/commentAuthors" Target="commentAuthors.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5" Type="http://schemas.openxmlformats.org/officeDocument/2006/relationships/image" Target="../media/image9.wmf"/><Relationship Id="rId4" Type="http://schemas.openxmlformats.org/officeDocument/2006/relationships/image" Target="../media/image8.wmf"/><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31426" name="Rectangle 2"/>
          <p:cNvSpPr>
            <a:spLocks noGrp="1" noChangeArrowheads="1"/>
          </p:cNvSpPr>
          <p:nvPr>
            <p:ph type="hdr" sz="quarter"/>
          </p:nvPr>
        </p:nvSpPr>
        <p:spPr bwMode="auto">
          <a:xfrm>
            <a:off x="0" y="0"/>
            <a:ext cx="2924175" cy="482600"/>
          </a:xfrm>
          <a:prstGeom prst="rect">
            <a:avLst/>
          </a:prstGeom>
          <a:noFill/>
          <a:ln>
            <a:noFill/>
          </a:ln>
          <a:effectLst/>
        </p:spPr>
        <p:txBody>
          <a:bodyPr vert="horz" wrap="square" lIns="90014" tIns="45007" rIns="90014" bIns="45007" numCol="1" anchor="t" anchorCtr="0" compatLnSpc="1"/>
          <a:lstStyle>
            <a:lvl1pPr defTabSz="900430">
              <a:defRPr sz="1200">
                <a:latin typeface="Times New Roman" panose="02020603050405020304" pitchFamily="18" charset="0"/>
              </a:defRPr>
            </a:lvl1pPr>
          </a:lstStyle>
          <a:p>
            <a:pPr marL="0" marR="0" lvl="0" indent="0" algn="l" defTabSz="90043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1427" name="Rectangle 3"/>
          <p:cNvSpPr>
            <a:spLocks noGrp="1" noChangeArrowheads="1"/>
          </p:cNvSpPr>
          <p:nvPr>
            <p:ph type="dt" sz="quarter" idx="1"/>
          </p:nvPr>
        </p:nvSpPr>
        <p:spPr bwMode="auto">
          <a:xfrm>
            <a:off x="3802063" y="0"/>
            <a:ext cx="2925763" cy="482600"/>
          </a:xfrm>
          <a:prstGeom prst="rect">
            <a:avLst/>
          </a:prstGeom>
          <a:noFill/>
          <a:ln>
            <a:noFill/>
          </a:ln>
          <a:effectLst/>
        </p:spPr>
        <p:txBody>
          <a:bodyPr vert="horz" wrap="square" lIns="90014" tIns="45007" rIns="90014" bIns="45007" numCol="1" anchor="t" anchorCtr="0" compatLnSpc="1"/>
          <a:lstStyle>
            <a:lvl1pPr algn="r" defTabSz="900430">
              <a:defRPr sz="1200">
                <a:latin typeface="Times New Roman" panose="02020603050405020304" pitchFamily="18" charset="0"/>
              </a:defRPr>
            </a:lvl1pPr>
          </a:lstStyle>
          <a:p>
            <a:pPr marL="0" marR="0" lvl="0" indent="0" algn="r" defTabSz="90043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1428" name="Rectangle 4"/>
          <p:cNvSpPr>
            <a:spLocks noGrp="1" noChangeArrowheads="1"/>
          </p:cNvSpPr>
          <p:nvPr>
            <p:ph type="ftr" sz="quarter" idx="2"/>
          </p:nvPr>
        </p:nvSpPr>
        <p:spPr bwMode="auto">
          <a:xfrm>
            <a:off x="0" y="9307513"/>
            <a:ext cx="2924175" cy="482600"/>
          </a:xfrm>
          <a:prstGeom prst="rect">
            <a:avLst/>
          </a:prstGeom>
          <a:noFill/>
          <a:ln>
            <a:noFill/>
          </a:ln>
          <a:effectLst/>
        </p:spPr>
        <p:txBody>
          <a:bodyPr vert="horz" wrap="square" lIns="90014" tIns="45007" rIns="90014" bIns="45007" numCol="1" anchor="b" anchorCtr="0" compatLnSpc="1"/>
          <a:lstStyle>
            <a:lvl1pPr defTabSz="900430">
              <a:defRPr sz="1200">
                <a:latin typeface="Times New Roman" panose="02020603050405020304" pitchFamily="18" charset="0"/>
              </a:defRPr>
            </a:lvl1pPr>
          </a:lstStyle>
          <a:p>
            <a:pPr marL="0" marR="0" lvl="0" indent="0" algn="l" defTabSz="90043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1429" name="Rectangle 5"/>
          <p:cNvSpPr>
            <a:spLocks noGrp="1" noChangeArrowheads="1"/>
          </p:cNvSpPr>
          <p:nvPr>
            <p:ph type="sldNum" sz="quarter" idx="3"/>
          </p:nvPr>
        </p:nvSpPr>
        <p:spPr bwMode="auto">
          <a:xfrm>
            <a:off x="3802063" y="9307513"/>
            <a:ext cx="2925763" cy="482600"/>
          </a:xfrm>
          <a:prstGeom prst="rect">
            <a:avLst/>
          </a:prstGeom>
          <a:noFill/>
          <a:ln>
            <a:noFill/>
          </a:ln>
          <a:effectLst/>
        </p:spPr>
        <p:txBody>
          <a:bodyPr vert="horz" wrap="square" lIns="90014" tIns="45007" rIns="90014" bIns="45007" numCol="1" anchor="b" anchorCtr="0" compatLnSpc="1"/>
          <a:p>
            <a:pPr lvl="0" algn="r" defTabSz="900430">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8370" name="Rectangle 2"/>
          <p:cNvSpPr>
            <a:spLocks noGrp="1" noChangeArrowheads="1"/>
          </p:cNvSpPr>
          <p:nvPr>
            <p:ph type="hdr" sz="quarter"/>
          </p:nvPr>
        </p:nvSpPr>
        <p:spPr bwMode="auto">
          <a:xfrm>
            <a:off x="0" y="0"/>
            <a:ext cx="2906713" cy="488950"/>
          </a:xfrm>
          <a:prstGeom prst="rect">
            <a:avLst/>
          </a:prstGeom>
          <a:noFill/>
          <a:ln>
            <a:noFill/>
          </a:ln>
          <a:effectLst/>
        </p:spPr>
        <p:txBody>
          <a:bodyPr vert="horz" wrap="square" lIns="91534" tIns="45768" rIns="91534" bIns="45768" numCol="1" anchor="t" anchorCtr="0" compatLnSpc="1"/>
          <a:lstStyle>
            <a:lvl1pPr defTabSz="916305">
              <a:defRPr sz="1200">
                <a:latin typeface="Times New Roman" panose="02020603050405020304" pitchFamily="18" charset="0"/>
              </a:defRPr>
            </a:lvl1pPr>
          </a:lstStyle>
          <a:p>
            <a:pPr marL="0" marR="0" lvl="0" indent="0" algn="l" defTabSz="9163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8371" name="Rectangle 3"/>
          <p:cNvSpPr>
            <a:spLocks noGrp="1" noChangeArrowheads="1"/>
          </p:cNvSpPr>
          <p:nvPr>
            <p:ph type="dt" idx="1"/>
          </p:nvPr>
        </p:nvSpPr>
        <p:spPr bwMode="auto">
          <a:xfrm>
            <a:off x="3802063" y="0"/>
            <a:ext cx="2906713" cy="488950"/>
          </a:xfrm>
          <a:prstGeom prst="rect">
            <a:avLst/>
          </a:prstGeom>
          <a:noFill/>
          <a:ln>
            <a:noFill/>
          </a:ln>
          <a:effectLst/>
        </p:spPr>
        <p:txBody>
          <a:bodyPr vert="horz" wrap="square" lIns="91534" tIns="45768" rIns="91534" bIns="45768" numCol="1" anchor="t" anchorCtr="0" compatLnSpc="1"/>
          <a:lstStyle>
            <a:lvl1pPr algn="r" defTabSz="916305">
              <a:defRPr sz="1200">
                <a:latin typeface="Times New Roman" panose="02020603050405020304" pitchFamily="18" charset="0"/>
              </a:defRPr>
            </a:lvl1pPr>
          </a:lstStyle>
          <a:p>
            <a:pPr marL="0" marR="0" lvl="0" indent="0" algn="r" defTabSz="9163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052" name="Rectangle 4"/>
          <p:cNvSpPr>
            <a:spLocks noGrp="1" noRot="1" noChangeAspect="1" noTextEdit="1"/>
          </p:cNvSpPr>
          <p:nvPr>
            <p:ph type="sldImg" idx="2"/>
          </p:nvPr>
        </p:nvSpPr>
        <p:spPr>
          <a:xfrm>
            <a:off x="911225" y="733425"/>
            <a:ext cx="4887913" cy="3665538"/>
          </a:xfrm>
          <a:prstGeom prst="rect">
            <a:avLst/>
          </a:prstGeom>
          <a:noFill/>
          <a:ln w="9525" cap="flat" cmpd="sng">
            <a:solidFill>
              <a:srgbClr val="000000"/>
            </a:solidFill>
            <a:prstDash val="solid"/>
            <a:miter/>
            <a:headEnd type="none" w="med" len="med"/>
            <a:tailEnd type="none" w="med" len="med"/>
          </a:ln>
        </p:spPr>
      </p:sp>
      <p:sp>
        <p:nvSpPr>
          <p:cNvPr id="58373" name="Rectangle 5"/>
          <p:cNvSpPr>
            <a:spLocks noGrp="1" noChangeArrowheads="1"/>
          </p:cNvSpPr>
          <p:nvPr>
            <p:ph type="body" sz="quarter" idx="3"/>
          </p:nvPr>
        </p:nvSpPr>
        <p:spPr bwMode="auto">
          <a:xfrm>
            <a:off x="893763" y="4641850"/>
            <a:ext cx="4921250" cy="4398963"/>
          </a:xfrm>
          <a:prstGeom prst="rect">
            <a:avLst/>
          </a:prstGeom>
          <a:noFill/>
          <a:ln>
            <a:noFill/>
          </a:ln>
          <a:effectLst/>
        </p:spPr>
        <p:txBody>
          <a:bodyPr vert="horz" wrap="square" lIns="91534" tIns="45768" rIns="91534" bIns="45768" numCol="1" anchor="t" anchorCtr="0" compatLnSpc="1"/>
          <a:lstStyle/>
          <a:p>
            <a:pPr marL="0" marR="0" lvl="0"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Click to edit Master text styles</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466725" marR="0" lvl="1"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Second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935355" marR="0" lvl="2"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Third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402080" marR="0" lvl="3"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Fourth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870075" marR="0" lvl="4"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Fifth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8374" name="Rectangle 6"/>
          <p:cNvSpPr>
            <a:spLocks noGrp="1" noChangeArrowheads="1"/>
          </p:cNvSpPr>
          <p:nvPr>
            <p:ph type="ftr" sz="quarter" idx="4"/>
          </p:nvPr>
        </p:nvSpPr>
        <p:spPr bwMode="auto">
          <a:xfrm>
            <a:off x="0" y="9285288"/>
            <a:ext cx="2906713" cy="488950"/>
          </a:xfrm>
          <a:prstGeom prst="rect">
            <a:avLst/>
          </a:prstGeom>
          <a:noFill/>
          <a:ln>
            <a:noFill/>
          </a:ln>
          <a:effectLst/>
        </p:spPr>
        <p:txBody>
          <a:bodyPr vert="horz" wrap="square" lIns="91534" tIns="45768" rIns="91534" bIns="45768" numCol="1" anchor="b" anchorCtr="0" compatLnSpc="1"/>
          <a:lstStyle>
            <a:lvl1pPr defTabSz="916305">
              <a:defRPr sz="1200">
                <a:latin typeface="Times New Roman" panose="02020603050405020304" pitchFamily="18" charset="0"/>
              </a:defRPr>
            </a:lvl1pPr>
          </a:lstStyle>
          <a:p>
            <a:pPr marL="0" marR="0" lvl="0" indent="0" algn="l" defTabSz="9163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8375" name="Rectangle 7"/>
          <p:cNvSpPr>
            <a:spLocks noGrp="1" noChangeArrowheads="1"/>
          </p:cNvSpPr>
          <p:nvPr>
            <p:ph type="sldNum" sz="quarter" idx="5"/>
          </p:nvPr>
        </p:nvSpPr>
        <p:spPr bwMode="auto">
          <a:xfrm>
            <a:off x="3802063" y="9285288"/>
            <a:ext cx="2906713" cy="488950"/>
          </a:xfrm>
          <a:prstGeom prst="rect">
            <a:avLst/>
          </a:prstGeom>
          <a:noFill/>
          <a:ln>
            <a:noFill/>
          </a:ln>
          <a:effectLst/>
        </p:spPr>
        <p:txBody>
          <a:bodyPr vert="horz" wrap="square" lIns="91534" tIns="45768" rIns="91534" bIns="45768" numCol="1" anchor="b" anchorCtr="0" compatLnSpc="1"/>
          <a:p>
            <a:pPr lvl="0" algn="r" defTabSz="916305">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66725"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35355"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402080"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70075"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123" name="Rectangle 2"/>
          <p:cNvSpPr>
            <a:spLocks noGrp="1" noRot="1" noChangeAspect="1" noTextEdit="1"/>
          </p:cNvSpPr>
          <p:nvPr>
            <p:ph type="sldImg"/>
          </p:nvPr>
        </p:nvSpPr>
        <p:spPr/>
      </p:sp>
      <p:sp>
        <p:nvSpPr>
          <p:cNvPr id="5124"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171" name="Rectangle 2"/>
          <p:cNvSpPr>
            <a:spLocks noGrp="1" noRot="1" noChangeAspect="1" noTextEdit="1"/>
          </p:cNvSpPr>
          <p:nvPr>
            <p:ph type="sldImg"/>
          </p:nvPr>
        </p:nvSpPr>
        <p:spPr/>
      </p:sp>
      <p:sp>
        <p:nvSpPr>
          <p:cNvPr id="7172"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219" name="Rectangle 2"/>
          <p:cNvSpPr>
            <a:spLocks noGrp="1" noRot="1" noChangeAspect="1" noTextEdit="1"/>
          </p:cNvSpPr>
          <p:nvPr>
            <p:ph type="sldImg"/>
          </p:nvPr>
        </p:nvSpPr>
        <p:spPr/>
      </p:sp>
      <p:sp>
        <p:nvSpPr>
          <p:cNvPr id="9220" name="Rectangle 3"/>
          <p:cNvSpPr>
            <a:spLocks noGrp="1"/>
          </p:cNvSpPr>
          <p:nvPr>
            <p:ph type="body" idx="1"/>
          </p:nvPr>
        </p:nvSpPr>
        <p:spPr/>
        <p:txBody>
          <a:bodyPr wrap="square" lIns="91534" tIns="45768" rIns="91534" bIns="45768" anchor="t" anchorCtr="0"/>
          <a:p>
            <a:pPr lvl="0"/>
            <a:r>
              <a:rPr lang="zh-CN" altLang="en-US" sz="2000" dirty="0">
                <a:ea typeface="宋体" panose="02010600030101010101" pitchFamily="2" charset="-122"/>
              </a:rPr>
              <a:t>在此处，我们说的是“语法给出程序合乎规范的形式要求”，而不是“语法描述了该语言的程序的正确形式”，是因为在中文语境中，“程序正确”这个词在不同的上下文中含义是有差异的，特别是对于多数程序员而言，程序正确隐含的意思中包括了程序的功能达到他的期望，而不仅仅是程序的语法形式没有问题</a:t>
            </a:r>
            <a:endParaRPr lang="en-US" altLang="zh-CN" sz="2000" dirty="0">
              <a:ea typeface="宋体" panose="02010600030101010101" pitchFamily="2" charset="-122"/>
            </a:endParaRPr>
          </a:p>
          <a:p>
            <a:pPr lvl="0"/>
            <a:endParaRPr lang="en-US" altLang="zh-CN" sz="2000" dirty="0">
              <a:ea typeface="宋体" panose="02010600030101010101" pitchFamily="2" charset="-122"/>
            </a:endParaRPr>
          </a:p>
          <a:p>
            <a:pPr lvl="0"/>
            <a:endParaRPr lang="zh-CN" altLang="en-US" sz="2000" dirty="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267" name="Rectangle 2"/>
          <p:cNvSpPr>
            <a:spLocks noGrp="1" noRot="1" noChangeAspect="1" noTextEdit="1"/>
          </p:cNvSpPr>
          <p:nvPr>
            <p:ph type="sldImg"/>
          </p:nvPr>
        </p:nvSpPr>
        <p:spPr/>
      </p:sp>
      <p:sp>
        <p:nvSpPr>
          <p:cNvPr id="11268" name="Rectangle 3"/>
          <p:cNvSpPr>
            <a:spLocks noGrp="1"/>
          </p:cNvSpPr>
          <p:nvPr>
            <p:ph type="body" idx="1"/>
          </p:nvPr>
        </p:nvSpPr>
        <p:spPr/>
        <p:txBody>
          <a:bodyPr wrap="square" lIns="91534" tIns="45768" rIns="91534" bIns="45768" anchor="t" anchorCtr="0"/>
          <a:p>
            <a:pPr lvl="0"/>
            <a:r>
              <a:rPr lang="zh-CN" altLang="en-US" sz="2000" dirty="0">
                <a:ea typeface="宋体" panose="02010600030101010101" pitchFamily="2" charset="-122"/>
              </a:rPr>
              <a:t>语法树的例子</a:t>
            </a:r>
            <a:r>
              <a:rPr lang="en-US" altLang="zh-CN" sz="2000" dirty="0">
                <a:ea typeface="宋体" panose="02010600030101010101" pitchFamily="2" charset="-122"/>
              </a:rPr>
              <a:t>,</a:t>
            </a:r>
            <a:r>
              <a:rPr lang="zh-CN" altLang="en-US" sz="2000" dirty="0">
                <a:ea typeface="宋体" panose="02010600030101010101" pitchFamily="2" charset="-122"/>
              </a:rPr>
              <a:t>例如</a:t>
            </a:r>
            <a:r>
              <a:rPr lang="en-US" altLang="zh-CN" sz="2000" dirty="0">
                <a:ea typeface="宋体" panose="02010600030101010101" pitchFamily="2" charset="-122"/>
              </a:rPr>
              <a:t>a[I,j]=f(b[k,5],7)+3*d/e</a:t>
            </a:r>
            <a:endParaRPr lang="zh-CN" altLang="en-US" sz="2000"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315" name="Rectangle 2"/>
          <p:cNvSpPr>
            <a:spLocks noGrp="1" noRot="1" noChangeAspect="1" noTextEdit="1"/>
          </p:cNvSpPr>
          <p:nvPr>
            <p:ph type="sldImg"/>
          </p:nvPr>
        </p:nvSpPr>
        <p:spPr/>
      </p:sp>
      <p:sp>
        <p:nvSpPr>
          <p:cNvPr id="13316"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363" name="Rectangle 2"/>
          <p:cNvSpPr>
            <a:spLocks noGrp="1" noRot="1" noChangeAspect="1" noTextEdit="1"/>
          </p:cNvSpPr>
          <p:nvPr>
            <p:ph type="sldImg"/>
          </p:nvPr>
        </p:nvSpPr>
        <p:spPr/>
      </p:sp>
      <p:sp>
        <p:nvSpPr>
          <p:cNvPr id="15364" name="Rectangle 3"/>
          <p:cNvSpPr>
            <a:spLocks noGrp="1"/>
          </p:cNvSpPr>
          <p:nvPr>
            <p:ph type="body" idx="1"/>
          </p:nvPr>
        </p:nvSpPr>
        <p:spPr/>
        <p:txBody>
          <a:bodyPr wrap="square" lIns="91534" tIns="45768" rIns="91534" bIns="45768" anchor="t" anchorCtr="0"/>
          <a:p>
            <a:pPr lvl="0"/>
            <a:r>
              <a:rPr lang="zh-CN" altLang="en-US" dirty="0">
                <a:ea typeface="宋体" panose="02010600030101010101" pitchFamily="2" charset="-122"/>
              </a:rPr>
              <a:t>目前语法的形式化已经做得比较好，然而，虽然很多杰出的研究人员曾经作过或在作语义形式化的研究工作，但形式语义的成果在帮助编译器自动解析程序的语义方面还不理想</a:t>
            </a:r>
            <a:endParaRPr lang="zh-CN" altLang="en-US"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411" name="Rectangle 2"/>
          <p:cNvSpPr>
            <a:spLocks noGrp="1" noRot="1" noChangeAspect="1" noTextEdit="1"/>
          </p:cNvSpPr>
          <p:nvPr>
            <p:ph type="sldImg"/>
          </p:nvPr>
        </p:nvSpPr>
        <p:spPr/>
      </p:sp>
      <p:sp>
        <p:nvSpPr>
          <p:cNvPr id="17412"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9459" name="Rectangle 2"/>
          <p:cNvSpPr>
            <a:spLocks noGrp="1" noRot="1" noChangeAspect="1" noTextEdit="1"/>
          </p:cNvSpPr>
          <p:nvPr>
            <p:ph type="sldImg"/>
          </p:nvPr>
        </p:nvSpPr>
        <p:spPr/>
      </p:sp>
      <p:sp>
        <p:nvSpPr>
          <p:cNvPr id="19460"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1507" name="Rectangle 2"/>
          <p:cNvSpPr>
            <a:spLocks noGrp="1" noRot="1" noChangeAspect="1" noTextEdit="1"/>
          </p:cNvSpPr>
          <p:nvPr>
            <p:ph type="sldImg"/>
          </p:nvPr>
        </p:nvSpPr>
        <p:spPr/>
      </p:sp>
      <p:sp>
        <p:nvSpPr>
          <p:cNvPr id="21508"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3555" name="Rectangle 2"/>
          <p:cNvSpPr>
            <a:spLocks noGrp="1" noRot="1" noChangeAspect="1" noTextEdit="1"/>
          </p:cNvSpPr>
          <p:nvPr>
            <p:ph type="sldImg"/>
          </p:nvPr>
        </p:nvSpPr>
        <p:spPr/>
      </p:sp>
      <p:sp>
        <p:nvSpPr>
          <p:cNvPr id="23556" name="Rectangle 3"/>
          <p:cNvSpPr>
            <a:spLocks noGrp="1"/>
          </p:cNvSpPr>
          <p:nvPr>
            <p:ph type="body" idx="1"/>
          </p:nvPr>
        </p:nvSpPr>
        <p:spPr/>
        <p:txBody>
          <a:bodyPr wrap="square" lIns="91534" tIns="45768" rIns="91534" bIns="45768" anchor="t" anchorCtr="0"/>
          <a:p>
            <a:pPr lvl="0"/>
            <a:r>
              <a:rPr lang="zh-CN" altLang="en-US" dirty="0">
                <a:ea typeface="宋体" panose="02010600030101010101" pitchFamily="2" charset="-122"/>
              </a:rPr>
              <a:t>在语法分析阶段，终结符集合也可以称为词法单元，而非终结符集合也可以称为语法变量</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需要注意的是，在编译器的构造过程中，词法分析（目前通用三型文法</a:t>
            </a:r>
            <a:r>
              <a:rPr lang="en-US" altLang="zh-CN" dirty="0">
                <a:ea typeface="宋体" panose="02010600030101010101" pitchFamily="2" charset="-122"/>
              </a:rPr>
              <a:t>/</a:t>
            </a:r>
            <a:r>
              <a:rPr lang="zh-CN" altLang="en-US" dirty="0">
                <a:ea typeface="宋体" panose="02010600030101010101" pitchFamily="2" charset="-122"/>
              </a:rPr>
              <a:t>线性文法描述词法）的非终结符是词法单元，而在语法分析（用二型文法</a:t>
            </a:r>
            <a:r>
              <a:rPr lang="en-US" altLang="zh-CN" dirty="0">
                <a:ea typeface="宋体" panose="02010600030101010101" pitchFamily="2" charset="-122"/>
              </a:rPr>
              <a:t>/</a:t>
            </a:r>
            <a:r>
              <a:rPr lang="zh-CN" altLang="en-US" dirty="0">
                <a:ea typeface="宋体" panose="02010600030101010101" pitchFamily="2" charset="-122"/>
              </a:rPr>
              <a:t>上下文无关文法）阶段，这些词法单元称为语法分析的终结符</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三型文法、二型文法在后续内容介绍</a:t>
            </a:r>
            <a:endParaRPr lang="zh-CN" altLang="en-US" dirty="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5603" name="Rectangle 2"/>
          <p:cNvSpPr>
            <a:spLocks noGrp="1" noRot="1" noChangeAspect="1" noTextEdit="1"/>
          </p:cNvSpPr>
          <p:nvPr>
            <p:ph type="sldImg"/>
          </p:nvPr>
        </p:nvSpPr>
        <p:spPr/>
      </p:sp>
      <p:sp>
        <p:nvSpPr>
          <p:cNvPr id="25604"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7651" name="Rectangle 2"/>
          <p:cNvSpPr>
            <a:spLocks noGrp="1" noRot="1" noChangeAspect="1" noTextEdit="1"/>
          </p:cNvSpPr>
          <p:nvPr>
            <p:ph type="sldImg"/>
          </p:nvPr>
        </p:nvSpPr>
        <p:spPr/>
      </p:sp>
      <p:sp>
        <p:nvSpPr>
          <p:cNvPr id="27652"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9699" name="Rectangle 2"/>
          <p:cNvSpPr>
            <a:spLocks noGrp="1" noRot="1" noChangeAspect="1" noTextEdit="1"/>
          </p:cNvSpPr>
          <p:nvPr>
            <p:ph type="sldImg"/>
          </p:nvPr>
        </p:nvSpPr>
        <p:spPr/>
      </p:sp>
      <p:sp>
        <p:nvSpPr>
          <p:cNvPr id="29700"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1747" name="Rectangle 2"/>
          <p:cNvSpPr>
            <a:spLocks noGrp="1" noRot="1" noChangeAspect="1" noTextEdit="1"/>
          </p:cNvSpPr>
          <p:nvPr>
            <p:ph type="sldImg"/>
          </p:nvPr>
        </p:nvSpPr>
        <p:spPr/>
      </p:sp>
      <p:sp>
        <p:nvSpPr>
          <p:cNvPr id="31748"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3795" name="Rectangle 2"/>
          <p:cNvSpPr>
            <a:spLocks noGrp="1" noRot="1" noChangeAspect="1" noTextEdit="1"/>
          </p:cNvSpPr>
          <p:nvPr>
            <p:ph type="sldImg"/>
          </p:nvPr>
        </p:nvSpPr>
        <p:spPr/>
      </p:sp>
      <p:sp>
        <p:nvSpPr>
          <p:cNvPr id="33796"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5843" name="Rectangle 2"/>
          <p:cNvSpPr>
            <a:spLocks noGrp="1" noRot="1" noChangeAspect="1" noTextEdit="1"/>
          </p:cNvSpPr>
          <p:nvPr>
            <p:ph type="sldImg"/>
          </p:nvPr>
        </p:nvSpPr>
        <p:spPr/>
      </p:sp>
      <p:sp>
        <p:nvSpPr>
          <p:cNvPr id="35844"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7891" name="Rectangle 2"/>
          <p:cNvSpPr>
            <a:spLocks noGrp="1" noRot="1" noChangeAspect="1" noTextEdit="1"/>
          </p:cNvSpPr>
          <p:nvPr>
            <p:ph type="sldImg"/>
          </p:nvPr>
        </p:nvSpPr>
        <p:spPr/>
      </p:sp>
      <p:sp>
        <p:nvSpPr>
          <p:cNvPr id="37892"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9939" name="Rectangle 2"/>
          <p:cNvSpPr>
            <a:spLocks noGrp="1" noRot="1" noChangeAspect="1" noTextEdit="1"/>
          </p:cNvSpPr>
          <p:nvPr>
            <p:ph type="sldImg"/>
          </p:nvPr>
        </p:nvSpPr>
        <p:spPr/>
      </p:sp>
      <p:sp>
        <p:nvSpPr>
          <p:cNvPr id="39940"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1987" name="Rectangle 2"/>
          <p:cNvSpPr>
            <a:spLocks noGrp="1" noRot="1" noChangeAspect="1" noTextEdit="1"/>
          </p:cNvSpPr>
          <p:nvPr>
            <p:ph type="sldImg"/>
          </p:nvPr>
        </p:nvSpPr>
        <p:spPr/>
      </p:sp>
      <p:sp>
        <p:nvSpPr>
          <p:cNvPr id="41988"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4035" name="Rectangle 2"/>
          <p:cNvSpPr>
            <a:spLocks noGrp="1" noRot="1" noChangeAspect="1" noTextEdit="1"/>
          </p:cNvSpPr>
          <p:nvPr>
            <p:ph type="sldImg"/>
          </p:nvPr>
        </p:nvSpPr>
        <p:spPr/>
      </p:sp>
      <p:sp>
        <p:nvSpPr>
          <p:cNvPr id="44036"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6083" name="Rectangle 2"/>
          <p:cNvSpPr>
            <a:spLocks noGrp="1" noRot="1" noChangeAspect="1" noTextEdit="1"/>
          </p:cNvSpPr>
          <p:nvPr>
            <p:ph type="sldImg"/>
          </p:nvPr>
        </p:nvSpPr>
        <p:spPr/>
      </p:sp>
      <p:sp>
        <p:nvSpPr>
          <p:cNvPr id="46084"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8131" name="Rectangle 2"/>
          <p:cNvSpPr>
            <a:spLocks noGrp="1" noRot="1" noChangeAspect="1" noTextEdit="1"/>
          </p:cNvSpPr>
          <p:nvPr>
            <p:ph type="sldImg"/>
          </p:nvPr>
        </p:nvSpPr>
        <p:spPr/>
      </p:sp>
      <p:sp>
        <p:nvSpPr>
          <p:cNvPr id="48132"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0179" name="Rectangle 2"/>
          <p:cNvSpPr>
            <a:spLocks noGrp="1" noRot="1" noChangeAspect="1" noTextEdit="1"/>
          </p:cNvSpPr>
          <p:nvPr>
            <p:ph type="sldImg"/>
          </p:nvPr>
        </p:nvSpPr>
        <p:spPr/>
      </p:sp>
      <p:sp>
        <p:nvSpPr>
          <p:cNvPr id="50180"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2227" name="Rectangle 2"/>
          <p:cNvSpPr>
            <a:spLocks noGrp="1" noRot="1" noChangeAspect="1" noTextEdit="1"/>
          </p:cNvSpPr>
          <p:nvPr>
            <p:ph type="sldImg"/>
          </p:nvPr>
        </p:nvSpPr>
        <p:spPr/>
      </p:sp>
      <p:sp>
        <p:nvSpPr>
          <p:cNvPr id="52228"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4275" name="Rectangle 2"/>
          <p:cNvSpPr>
            <a:spLocks noGrp="1" noRot="1" noChangeAspect="1" noTextEdit="1"/>
          </p:cNvSpPr>
          <p:nvPr>
            <p:ph type="sldImg"/>
          </p:nvPr>
        </p:nvSpPr>
        <p:spPr/>
      </p:sp>
      <p:sp>
        <p:nvSpPr>
          <p:cNvPr id="54276"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6323" name="Rectangle 2"/>
          <p:cNvSpPr>
            <a:spLocks noGrp="1" noRot="1" noChangeAspect="1" noTextEdit="1"/>
          </p:cNvSpPr>
          <p:nvPr>
            <p:ph type="sldImg"/>
          </p:nvPr>
        </p:nvSpPr>
        <p:spPr/>
      </p:sp>
      <p:sp>
        <p:nvSpPr>
          <p:cNvPr id="56324"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8371" name="Rectangle 2"/>
          <p:cNvSpPr>
            <a:spLocks noGrp="1" noRot="1" noChangeAspect="1" noTextEdit="1"/>
          </p:cNvSpPr>
          <p:nvPr>
            <p:ph type="sldImg"/>
          </p:nvPr>
        </p:nvSpPr>
        <p:spPr/>
      </p:sp>
      <p:sp>
        <p:nvSpPr>
          <p:cNvPr id="58372"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0419" name="Rectangle 2"/>
          <p:cNvSpPr>
            <a:spLocks noGrp="1" noRot="1" noChangeAspect="1" noTextEdit="1"/>
          </p:cNvSpPr>
          <p:nvPr>
            <p:ph type="sldImg"/>
          </p:nvPr>
        </p:nvSpPr>
        <p:spPr/>
      </p:sp>
      <p:sp>
        <p:nvSpPr>
          <p:cNvPr id="60420"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2467" name="Rectangle 2"/>
          <p:cNvSpPr>
            <a:spLocks noGrp="1" noRot="1" noChangeAspect="1" noTextEdit="1"/>
          </p:cNvSpPr>
          <p:nvPr>
            <p:ph type="sldImg"/>
          </p:nvPr>
        </p:nvSpPr>
        <p:spPr/>
      </p:sp>
      <p:sp>
        <p:nvSpPr>
          <p:cNvPr id="62468"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4515" name="Rectangle 2"/>
          <p:cNvSpPr>
            <a:spLocks noGrp="1" noRot="1" noChangeAspect="1" noTextEdit="1"/>
          </p:cNvSpPr>
          <p:nvPr>
            <p:ph type="sldImg"/>
          </p:nvPr>
        </p:nvSpPr>
        <p:spPr/>
      </p:sp>
      <p:sp>
        <p:nvSpPr>
          <p:cNvPr id="64516"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6563" name="Rectangle 2"/>
          <p:cNvSpPr>
            <a:spLocks noGrp="1" noRot="1" noChangeAspect="1" noTextEdit="1"/>
          </p:cNvSpPr>
          <p:nvPr>
            <p:ph type="sldImg"/>
          </p:nvPr>
        </p:nvSpPr>
        <p:spPr/>
      </p:sp>
      <p:sp>
        <p:nvSpPr>
          <p:cNvPr id="66564"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8611" name="Rectangle 2"/>
          <p:cNvSpPr>
            <a:spLocks noGrp="1" noRot="1" noChangeAspect="1" noTextEdit="1"/>
          </p:cNvSpPr>
          <p:nvPr>
            <p:ph type="sldImg"/>
          </p:nvPr>
        </p:nvSpPr>
        <p:spPr/>
      </p:sp>
      <p:sp>
        <p:nvSpPr>
          <p:cNvPr id="68612"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0659" name="Rectangle 2"/>
          <p:cNvSpPr>
            <a:spLocks noGrp="1" noRot="1" noChangeAspect="1" noTextEdit="1"/>
          </p:cNvSpPr>
          <p:nvPr>
            <p:ph type="sldImg"/>
          </p:nvPr>
        </p:nvSpPr>
        <p:spPr/>
      </p:sp>
      <p:sp>
        <p:nvSpPr>
          <p:cNvPr id="70660" name="Rectangle 3"/>
          <p:cNvSpPr>
            <a:spLocks noGrp="1"/>
          </p:cNvSpPr>
          <p:nvPr>
            <p:ph type="body" idx="1"/>
          </p:nvPr>
        </p:nvSpPr>
        <p:spPr/>
        <p:txBody>
          <a:bodyPr wrap="square" lIns="91534" tIns="45768" rIns="91534" bIns="45768" anchor="t" anchorCtr="0"/>
          <a:p>
            <a:pPr lvl="0"/>
            <a:r>
              <a:rPr lang="en-US" altLang="zh-CN" dirty="0">
                <a:ea typeface="宋体" panose="02010600030101010101" pitchFamily="2" charset="-122"/>
              </a:rPr>
              <a:t>P31</a:t>
            </a:r>
            <a:r>
              <a:rPr lang="zh-CN" altLang="en-US" dirty="0">
                <a:ea typeface="宋体" panose="02010600030101010101" pitchFamily="2" charset="-122"/>
              </a:rPr>
              <a:t>中的属性</a:t>
            </a:r>
            <a:r>
              <a:rPr lang="en-US" altLang="zh-CN" dirty="0">
                <a:ea typeface="宋体" panose="02010600030101010101" pitchFamily="2" charset="-122"/>
              </a:rPr>
              <a:t>s</a:t>
            </a:r>
            <a:r>
              <a:rPr lang="zh-CN" altLang="en-US" dirty="0">
                <a:ea typeface="宋体" panose="02010600030101010101" pitchFamily="2" charset="-122"/>
              </a:rPr>
              <a:t>、</a:t>
            </a:r>
            <a:r>
              <a:rPr lang="en-US" altLang="zh-CN" dirty="0">
                <a:ea typeface="宋体" panose="02010600030101010101" pitchFamily="2" charset="-122"/>
              </a:rPr>
              <a:t>v</a:t>
            </a:r>
            <a:r>
              <a:rPr lang="zh-CN" altLang="en-US" dirty="0">
                <a:ea typeface="宋体" panose="02010600030101010101" pitchFamily="2" charset="-122"/>
              </a:rPr>
              <a:t>都是综合属性</a:t>
            </a:r>
            <a:endParaRPr lang="zh-CN" altLang="en-US" dirty="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2707" name="Rectangle 2"/>
          <p:cNvSpPr>
            <a:spLocks noGrp="1" noRot="1" noChangeAspect="1" noTextEdit="1"/>
          </p:cNvSpPr>
          <p:nvPr>
            <p:ph type="sldImg"/>
          </p:nvPr>
        </p:nvSpPr>
        <p:spPr/>
      </p:sp>
      <p:sp>
        <p:nvSpPr>
          <p:cNvPr id="72708"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4755" name="Rectangle 2"/>
          <p:cNvSpPr>
            <a:spLocks noGrp="1" noRot="1" noChangeAspect="1" noTextEdit="1"/>
          </p:cNvSpPr>
          <p:nvPr>
            <p:ph type="sldImg"/>
          </p:nvPr>
        </p:nvSpPr>
        <p:spPr/>
      </p:sp>
      <p:sp>
        <p:nvSpPr>
          <p:cNvPr id="74756"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6803" name="Rectangle 2"/>
          <p:cNvSpPr>
            <a:spLocks noGrp="1" noRot="1" noChangeAspect="1" noTextEdit="1"/>
          </p:cNvSpPr>
          <p:nvPr>
            <p:ph type="sldImg"/>
          </p:nvPr>
        </p:nvSpPr>
        <p:spPr/>
      </p:sp>
      <p:sp>
        <p:nvSpPr>
          <p:cNvPr id="76804" name="Rectangle 3"/>
          <p:cNvSpPr>
            <a:spLocks noGrp="1"/>
          </p:cNvSpPr>
          <p:nvPr>
            <p:ph type="body" idx="1"/>
          </p:nvPr>
        </p:nvSpPr>
        <p:spPr/>
        <p:txBody>
          <a:bodyPr wrap="square" lIns="91534" tIns="45768" rIns="91534" bIns="45768" anchor="t" anchorCtr="0"/>
          <a:p>
            <a:pPr lvl="0"/>
            <a:r>
              <a:rPr lang="en-US" altLang="zh-CN" b="1" i="1" dirty="0">
                <a:latin typeface="宋体" panose="02010600030101010101" pitchFamily="2" charset="-122"/>
                <a:ea typeface="宋体" panose="02010600030101010101" pitchFamily="2" charset="-122"/>
              </a:rPr>
              <a:t>rest</a:t>
            </a:r>
            <a:r>
              <a:rPr lang="zh-CN" altLang="en-US" b="1" dirty="0">
                <a:latin typeface="宋体" panose="02010600030101010101" pitchFamily="2" charset="-122"/>
                <a:ea typeface="宋体" panose="02010600030101010101" pitchFamily="2" charset="-122"/>
              </a:rPr>
              <a:t> → </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 </a:t>
            </a:r>
            <a:r>
              <a:rPr lang="en-US" altLang="zh-CN" b="1" i="1" dirty="0">
                <a:latin typeface="宋体" panose="02010600030101010101" pitchFamily="2" charset="-122"/>
                <a:ea typeface="宋体" panose="02010600030101010101" pitchFamily="2" charset="-122"/>
              </a:rPr>
              <a:t>term</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print ′+′} </a:t>
            </a:r>
            <a:r>
              <a:rPr lang="en-US" altLang="zh-CN" b="1" i="1" dirty="0">
                <a:latin typeface="宋体" panose="02010600030101010101" pitchFamily="2" charset="-122"/>
                <a:ea typeface="宋体" panose="02010600030101010101" pitchFamily="2" charset="-122"/>
              </a:rPr>
              <a:t>rest</a:t>
            </a:r>
            <a:r>
              <a:rPr lang="en-US" altLang="zh-CN" b="1" i="1" baseline="-25000" dirty="0">
                <a:latin typeface="宋体" panose="02010600030101010101" pitchFamily="2" charset="-122"/>
                <a:ea typeface="宋体" panose="02010600030101010101" pitchFamily="2" charset="-122"/>
              </a:rPr>
              <a:t>1</a:t>
            </a:r>
            <a:r>
              <a:rPr lang="zh-CN" altLang="en-US" dirty="0">
                <a:ea typeface="宋体" panose="02010600030101010101" pitchFamily="2" charset="-122"/>
              </a:rPr>
              <a:t>是将中缀表示翻译成后缀表示，其中</a:t>
            </a:r>
            <a:r>
              <a:rPr lang="en-US" altLang="zh-CN" dirty="0">
                <a:ea typeface="宋体" panose="02010600030101010101" pitchFamily="2" charset="-122"/>
              </a:rPr>
              <a:t>rest</a:t>
            </a:r>
            <a:r>
              <a:rPr lang="zh-CN" altLang="en-US" dirty="0">
                <a:ea typeface="宋体" panose="02010600030101010101" pitchFamily="2" charset="-122"/>
              </a:rPr>
              <a:t>是表征表达式未尽部分，</a:t>
            </a:r>
            <a:r>
              <a:rPr lang="en-US" altLang="zh-CN" dirty="0">
                <a:ea typeface="宋体" panose="02010600030101010101" pitchFamily="2" charset="-122"/>
              </a:rPr>
              <a:t>+term</a:t>
            </a:r>
            <a:r>
              <a:rPr lang="zh-CN" altLang="en-US" dirty="0">
                <a:ea typeface="宋体" panose="02010600030101010101" pitchFamily="2" charset="-122"/>
              </a:rPr>
              <a:t>表示了前一个表达式的运算符和第二个运算对象，附加</a:t>
            </a:r>
            <a:r>
              <a:rPr lang="en-US" altLang="zh-CN" dirty="0">
                <a:ea typeface="宋体" panose="02010600030101010101" pitchFamily="2" charset="-122"/>
              </a:rPr>
              <a:t>+term</a:t>
            </a:r>
            <a:r>
              <a:rPr lang="zh-CN" altLang="en-US" dirty="0">
                <a:ea typeface="宋体" panose="02010600030101010101" pitchFamily="2" charset="-122"/>
              </a:rPr>
              <a:t>后，前一个表达式已经完整，进而这个表达式整体可以作为第一个运算对象，参与对第二个</a:t>
            </a:r>
            <a:r>
              <a:rPr lang="en-US" altLang="zh-CN" dirty="0">
                <a:ea typeface="宋体" panose="02010600030101010101" pitchFamily="2" charset="-122"/>
              </a:rPr>
              <a:t>rest</a:t>
            </a:r>
            <a:r>
              <a:rPr lang="zh-CN" altLang="en-US" dirty="0">
                <a:ea typeface="宋体" panose="02010600030101010101" pitchFamily="2" charset="-122"/>
              </a:rPr>
              <a:t>（即</a:t>
            </a:r>
            <a:r>
              <a:rPr lang="en-US" altLang="zh-CN" dirty="0">
                <a:ea typeface="宋体" panose="02010600030101010101" pitchFamily="2" charset="-122"/>
              </a:rPr>
              <a:t>rest</a:t>
            </a:r>
            <a:r>
              <a:rPr lang="en-US" altLang="zh-CN" baseline="-25000" dirty="0">
                <a:ea typeface="宋体" panose="02010600030101010101" pitchFamily="2" charset="-122"/>
              </a:rPr>
              <a:t>1</a:t>
            </a:r>
            <a:r>
              <a:rPr lang="zh-CN" altLang="en-US" dirty="0">
                <a:ea typeface="宋体" panose="02010600030101010101" pitchFamily="2" charset="-122"/>
              </a:rPr>
              <a:t>）的翻译。</a:t>
            </a:r>
            <a:r>
              <a:rPr lang="zh-CN" altLang="en-US" b="1" dirty="0">
                <a:ea typeface="宋体" panose="02010600030101010101" pitchFamily="2" charset="-122"/>
              </a:rPr>
              <a:t>产生式变成这样的目的是为了避免左递归</a:t>
            </a:r>
            <a:r>
              <a:rPr lang="zh-CN" altLang="en-US" dirty="0">
                <a:ea typeface="宋体" panose="02010600030101010101" pitchFamily="2" charset="-122"/>
              </a:rPr>
              <a:t>（在</a:t>
            </a:r>
            <a:r>
              <a:rPr lang="en-US" altLang="zh-CN" dirty="0">
                <a:ea typeface="宋体" panose="02010600030101010101" pitchFamily="2" charset="-122"/>
              </a:rPr>
              <a:t>2.4.5</a:t>
            </a:r>
            <a:r>
              <a:rPr lang="zh-CN" altLang="en-US" dirty="0">
                <a:ea typeface="宋体" panose="02010600030101010101" pitchFamily="2" charset="-122"/>
              </a:rPr>
              <a:t>节中介绍），这是预测分析一个重要的工作</a:t>
            </a:r>
            <a:endParaRPr lang="zh-CN" altLang="en-US" dirty="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8851" name="Rectangle 2"/>
          <p:cNvSpPr>
            <a:spLocks noGrp="1" noRot="1" noChangeAspect="1" noTextEdit="1"/>
          </p:cNvSpPr>
          <p:nvPr>
            <p:ph type="sldImg"/>
          </p:nvPr>
        </p:nvSpPr>
        <p:spPr/>
      </p:sp>
      <p:sp>
        <p:nvSpPr>
          <p:cNvPr id="78852" name="Rectangle 3"/>
          <p:cNvSpPr>
            <a:spLocks noGrp="1"/>
          </p:cNvSpPr>
          <p:nvPr>
            <p:ph type="body" idx="1"/>
          </p:nvPr>
        </p:nvSpPr>
        <p:spPr/>
        <p:txBody>
          <a:bodyPr wrap="square" lIns="91534" tIns="45768" rIns="91534" bIns="45768" anchor="t" anchorCtr="0"/>
          <a:p>
            <a:pPr lvl="0"/>
            <a:r>
              <a:rPr lang="zh-CN" altLang="en-US" dirty="0">
                <a:ea typeface="宋体" panose="02010600030101010101" pitchFamily="2" charset="-122"/>
              </a:rPr>
              <a:t>这个翻译方案可以直接用</a:t>
            </a:r>
            <a:r>
              <a:rPr lang="en-US" altLang="zh-CN" dirty="0">
                <a:ea typeface="宋体" panose="02010600030101010101" pitchFamily="2" charset="-122"/>
              </a:rPr>
              <a:t>YACC</a:t>
            </a:r>
            <a:r>
              <a:rPr lang="zh-CN" altLang="en-US" dirty="0">
                <a:ea typeface="宋体" panose="02010600030101010101" pitchFamily="2" charset="-122"/>
              </a:rPr>
              <a:t>实现，无需修改</a:t>
            </a:r>
            <a:endParaRPr lang="zh-CN" altLang="en-US" dirty="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0899" name="Rectangle 2"/>
          <p:cNvSpPr>
            <a:spLocks noGrp="1" noRot="1" noChangeAspect="1" noTextEdit="1"/>
          </p:cNvSpPr>
          <p:nvPr>
            <p:ph type="sldImg"/>
          </p:nvPr>
        </p:nvSpPr>
        <p:spPr/>
      </p:sp>
      <p:sp>
        <p:nvSpPr>
          <p:cNvPr id="80900" name="Rectangle 3"/>
          <p:cNvSpPr>
            <a:spLocks noGrp="1"/>
          </p:cNvSpPr>
          <p:nvPr>
            <p:ph type="body" idx="1"/>
          </p:nvPr>
        </p:nvSpPr>
        <p:spPr/>
        <p:txBody>
          <a:bodyPr wrap="square" lIns="91534" tIns="45768" rIns="91534" bIns="45768" anchor="t" anchorCtr="0"/>
          <a:p>
            <a:pPr lvl="0"/>
            <a:r>
              <a:rPr lang="zh-CN" altLang="en-US" dirty="0">
                <a:ea typeface="宋体" panose="02010600030101010101" pitchFamily="2" charset="-122"/>
              </a:rPr>
              <a:t>理论上讲，任何一个上下文无关文法都可以构造一个时间复杂度为</a:t>
            </a:r>
            <a:r>
              <a:rPr lang="en-US" altLang="zh-CN" dirty="0">
                <a:ea typeface="宋体" panose="02010600030101010101" pitchFamily="2" charset="-122"/>
              </a:rPr>
              <a:t>O(n</a:t>
            </a:r>
            <a:r>
              <a:rPr lang="en-US" altLang="zh-CN" baseline="30000" dirty="0">
                <a:ea typeface="宋体" panose="02010600030101010101" pitchFamily="2" charset="-122"/>
              </a:rPr>
              <a:t>3</a:t>
            </a:r>
            <a:r>
              <a:rPr lang="en-US" altLang="zh-CN" dirty="0">
                <a:ea typeface="宋体" panose="02010600030101010101" pitchFamily="2" charset="-122"/>
              </a:rPr>
              <a:t>)</a:t>
            </a:r>
            <a:r>
              <a:rPr lang="zh-CN" altLang="en-US" dirty="0">
                <a:ea typeface="宋体" panose="02010600030101010101" pitchFamily="2" charset="-122"/>
              </a:rPr>
              <a:t>的语法分析器，但是对于实际的程序设计语言，通常可以设计出一个线性时间复杂度的分析算法：从左向右扫描程序（不回溯），并在扫描过程中构建出分析树</a:t>
            </a:r>
            <a:endParaRPr lang="zh-CN" altLang="en-US" dirty="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2947" name="Rectangle 2"/>
          <p:cNvSpPr>
            <a:spLocks noGrp="1" noRot="1" noChangeAspect="1" noTextEdit="1"/>
          </p:cNvSpPr>
          <p:nvPr>
            <p:ph type="sldImg"/>
          </p:nvPr>
        </p:nvSpPr>
        <p:spPr/>
      </p:sp>
      <p:sp>
        <p:nvSpPr>
          <p:cNvPr id="82948"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4995" name="Rectangle 2"/>
          <p:cNvSpPr>
            <a:spLocks noGrp="1" noRot="1" noChangeAspect="1" noTextEdit="1"/>
          </p:cNvSpPr>
          <p:nvPr>
            <p:ph type="sldImg"/>
          </p:nvPr>
        </p:nvSpPr>
        <p:spPr/>
      </p:sp>
      <p:sp>
        <p:nvSpPr>
          <p:cNvPr id="84996" name="Rectangle 3"/>
          <p:cNvSpPr>
            <a:spLocks noGrp="1"/>
          </p:cNvSpPr>
          <p:nvPr>
            <p:ph type="body" idx="1"/>
          </p:nvPr>
        </p:nvSpPr>
        <p:spPr/>
        <p:txBody>
          <a:bodyPr wrap="square" lIns="91534" tIns="45768" rIns="91534" bIns="45768" anchor="t" anchorCtr="0"/>
          <a:p>
            <a:pPr lvl="0"/>
            <a:r>
              <a:rPr lang="zh-CN" altLang="en-US" dirty="0">
                <a:ea typeface="宋体" panose="02010600030101010101" pitchFamily="2" charset="-122"/>
              </a:rPr>
              <a:t>在这个文法中，把</a:t>
            </a:r>
            <a:r>
              <a:rPr lang="en-US" altLang="zh-CN" dirty="0">
                <a:ea typeface="宋体" panose="02010600030101010101" pitchFamily="2" charset="-122"/>
              </a:rPr>
              <a:t>expr</a:t>
            </a:r>
            <a:r>
              <a:rPr lang="zh-CN" altLang="en-US" dirty="0">
                <a:ea typeface="宋体" panose="02010600030101010101" pitchFamily="2" charset="-122"/>
              </a:rPr>
              <a:t>（表示表达式）和</a:t>
            </a:r>
            <a:r>
              <a:rPr lang="en-US" altLang="zh-CN" dirty="0">
                <a:ea typeface="宋体" panose="02010600030101010101" pitchFamily="2" charset="-122"/>
              </a:rPr>
              <a:t>other</a:t>
            </a:r>
            <a:r>
              <a:rPr lang="zh-CN" altLang="en-US" dirty="0">
                <a:ea typeface="宋体" panose="02010600030101010101" pitchFamily="2" charset="-122"/>
              </a:rPr>
              <a:t>（表示其它语句）当作终结符，在实际的文法中，会有相关的文法规则给出表达式和其他语句的确切描述，而</a:t>
            </a:r>
            <a:r>
              <a:rPr lang="en-US" altLang="zh-CN" dirty="0">
                <a:ea typeface="宋体" panose="02010600030101010101" pitchFamily="2" charset="-122"/>
              </a:rPr>
              <a:t>expr</a:t>
            </a:r>
            <a:r>
              <a:rPr lang="zh-CN" altLang="en-US" dirty="0">
                <a:ea typeface="宋体" panose="02010600030101010101" pitchFamily="2" charset="-122"/>
              </a:rPr>
              <a:t>会变成一个非终结符（不用黑体，要用斜体表征），</a:t>
            </a:r>
            <a:r>
              <a:rPr lang="en-US" altLang="zh-CN" dirty="0">
                <a:ea typeface="宋体" panose="02010600030101010101" pitchFamily="2" charset="-122"/>
              </a:rPr>
              <a:t>other</a:t>
            </a:r>
            <a:r>
              <a:rPr lang="zh-CN" altLang="en-US" dirty="0">
                <a:ea typeface="宋体" panose="02010600030101010101" pitchFamily="2" charset="-122"/>
              </a:rPr>
              <a:t>处理类似，但可能不再有</a:t>
            </a:r>
            <a:r>
              <a:rPr lang="en-US" altLang="zh-CN" dirty="0">
                <a:ea typeface="宋体" panose="02010600030101010101" pitchFamily="2" charset="-122"/>
              </a:rPr>
              <a:t>other</a:t>
            </a:r>
            <a:r>
              <a:rPr lang="zh-CN" altLang="en-US" dirty="0">
                <a:ea typeface="宋体" panose="02010600030101010101" pitchFamily="2" charset="-122"/>
              </a:rPr>
              <a:t>这个词，而是用具体的语句文法符号</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图</a:t>
            </a:r>
            <a:r>
              <a:rPr lang="en-US" altLang="zh-CN" dirty="0">
                <a:ea typeface="宋体" panose="02010600030101010101" pitchFamily="2" charset="-122"/>
              </a:rPr>
              <a:t>2.17</a:t>
            </a:r>
            <a:r>
              <a:rPr lang="zh-CN" altLang="en-US" dirty="0">
                <a:ea typeface="宋体" panose="02010600030101010101" pitchFamily="2" charset="-122"/>
              </a:rPr>
              <a:t>是分析的一个步骤的例子（语法分析就是在不断重复这个过程）：当目前要处理的节点为</a:t>
            </a:r>
            <a:r>
              <a:rPr lang="en-US" altLang="zh-CN" dirty="0">
                <a:ea typeface="宋体" panose="02010600030101010101" pitchFamily="2" charset="-122"/>
              </a:rPr>
              <a:t>stmt</a:t>
            </a:r>
            <a:r>
              <a:rPr lang="zh-CN" altLang="en-US" dirty="0">
                <a:ea typeface="宋体" panose="02010600030101010101" pitchFamily="2" charset="-122"/>
              </a:rPr>
              <a:t>时，根据看到的（预测分析）输入的终结符</a:t>
            </a:r>
            <a:r>
              <a:rPr lang="en-US" altLang="zh-CN" dirty="0">
                <a:ea typeface="宋体" panose="02010600030101010101" pitchFamily="2" charset="-122"/>
              </a:rPr>
              <a:t>for</a:t>
            </a:r>
            <a:r>
              <a:rPr lang="zh-CN" altLang="en-US" dirty="0">
                <a:ea typeface="宋体" panose="02010600030101010101" pitchFamily="2" charset="-122"/>
              </a:rPr>
              <a:t>，选择</a:t>
            </a:r>
            <a:r>
              <a:rPr lang="en-US" altLang="zh-CN" dirty="0">
                <a:ea typeface="宋体" panose="02010600030101010101" pitchFamily="2" charset="-122"/>
              </a:rPr>
              <a:t>stmt-&gt;for(optexpr;optexpr;optexpr)stmt</a:t>
            </a:r>
            <a:r>
              <a:rPr lang="zh-CN" altLang="en-US" dirty="0">
                <a:ea typeface="宋体" panose="02010600030101010101" pitchFamily="2" charset="-122"/>
              </a:rPr>
              <a:t>展开，这样可以避免回溯。如果是先展开，再与</a:t>
            </a:r>
            <a:r>
              <a:rPr lang="en-US" altLang="zh-CN" dirty="0">
                <a:ea typeface="宋体" panose="02010600030101010101" pitchFamily="2" charset="-122"/>
              </a:rPr>
              <a:t>for</a:t>
            </a:r>
            <a:r>
              <a:rPr lang="zh-CN" altLang="en-US" dirty="0">
                <a:ea typeface="宋体" panose="02010600030101010101" pitchFamily="2" charset="-122"/>
              </a:rPr>
              <a:t>匹配，则可能会有回溯</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这个例子匹配的语句是： </a:t>
            </a:r>
            <a:r>
              <a:rPr lang="en-US" altLang="zh-CN" dirty="0">
                <a:ea typeface="宋体" panose="02010600030101010101" pitchFamily="2" charset="-122"/>
              </a:rPr>
              <a:t>for (  ; expr ; expr ) other</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对于图中的</a:t>
            </a:r>
            <a:r>
              <a:rPr lang="el-GR" altLang="zh-CN" dirty="0">
                <a:ea typeface="宋体" panose="02010600030101010101" pitchFamily="2" charset="-122"/>
              </a:rPr>
              <a:t>ε</a:t>
            </a:r>
            <a:r>
              <a:rPr lang="zh-CN" altLang="en-US" dirty="0">
                <a:ea typeface="宋体" panose="02010600030101010101" pitchFamily="2" charset="-122"/>
              </a:rPr>
              <a:t>的出现，是对于非终结符</a:t>
            </a:r>
            <a:r>
              <a:rPr lang="en-US" altLang="zh-CN" dirty="0">
                <a:ea typeface="宋体" panose="02010600030101010101" pitchFamily="2" charset="-122"/>
              </a:rPr>
              <a:t>optexpr</a:t>
            </a:r>
            <a:r>
              <a:rPr lang="zh-CN" altLang="en-US" dirty="0">
                <a:ea typeface="宋体" panose="02010600030101010101" pitchFamily="2" charset="-122"/>
              </a:rPr>
              <a:t>，它预期应该与一个</a:t>
            </a:r>
            <a:r>
              <a:rPr lang="en-US" altLang="zh-CN" dirty="0">
                <a:ea typeface="宋体" panose="02010600030101010101" pitchFamily="2" charset="-122"/>
              </a:rPr>
              <a:t>expr</a:t>
            </a:r>
            <a:r>
              <a:rPr lang="zh-CN" altLang="en-US" dirty="0">
                <a:ea typeface="宋体" panose="02010600030101010101" pitchFamily="2" charset="-122"/>
              </a:rPr>
              <a:t>匹配，此时如果看到的是“；”，则用</a:t>
            </a:r>
            <a:r>
              <a:rPr lang="en-US" altLang="zh-CN" dirty="0">
                <a:ea typeface="宋体" panose="02010600030101010101" pitchFamily="2" charset="-122"/>
              </a:rPr>
              <a:t>optexpr-&gt;</a:t>
            </a:r>
            <a:r>
              <a:rPr lang="el-GR" altLang="zh-CN" dirty="0">
                <a:ea typeface="宋体" panose="02010600030101010101" pitchFamily="2" charset="-122"/>
              </a:rPr>
              <a:t>ε</a:t>
            </a:r>
            <a:r>
              <a:rPr lang="zh-CN" altLang="en-US" dirty="0">
                <a:ea typeface="宋体" panose="02010600030101010101" pitchFamily="2" charset="-122"/>
              </a:rPr>
              <a:t>来展开</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如何精确地选择一个合适的产生式是自顶向下分析的一个关键问题，后面章节介绍</a:t>
            </a:r>
            <a:r>
              <a:rPr lang="en-US" altLang="zh-CN" dirty="0">
                <a:ea typeface="宋体" panose="02010600030101010101" pitchFamily="2" charset="-122"/>
              </a:rPr>
              <a:t>FIRST</a:t>
            </a:r>
            <a:r>
              <a:rPr lang="zh-CN" altLang="en-US" dirty="0">
                <a:ea typeface="宋体" panose="02010600030101010101" pitchFamily="2" charset="-122"/>
              </a:rPr>
              <a:t>和</a:t>
            </a:r>
            <a:r>
              <a:rPr lang="en-US" altLang="zh-CN" dirty="0">
                <a:ea typeface="宋体" panose="02010600030101010101" pitchFamily="2" charset="-122"/>
              </a:rPr>
              <a:t>FOLLOW</a:t>
            </a:r>
            <a:r>
              <a:rPr lang="zh-CN" altLang="en-US" dirty="0">
                <a:ea typeface="宋体" panose="02010600030101010101" pitchFamily="2" charset="-122"/>
              </a:rPr>
              <a:t>就是为了解决这个问题</a:t>
            </a:r>
            <a:endParaRPr lang="zh-CN" altLang="en-US" dirty="0">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7043" name="Rectangle 2"/>
          <p:cNvSpPr>
            <a:spLocks noGrp="1" noRot="1" noChangeAspect="1" noTextEdit="1"/>
          </p:cNvSpPr>
          <p:nvPr>
            <p:ph type="sldImg"/>
          </p:nvPr>
        </p:nvSpPr>
        <p:spPr/>
      </p:sp>
      <p:sp>
        <p:nvSpPr>
          <p:cNvPr id="87044"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9091" name="Rectangle 2"/>
          <p:cNvSpPr>
            <a:spLocks noGrp="1" noRot="1" noChangeAspect="1" noTextEdit="1"/>
          </p:cNvSpPr>
          <p:nvPr>
            <p:ph type="sldImg"/>
          </p:nvPr>
        </p:nvSpPr>
        <p:spPr/>
      </p:sp>
      <p:sp>
        <p:nvSpPr>
          <p:cNvPr id="89092"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1139" name="Rectangle 2"/>
          <p:cNvSpPr>
            <a:spLocks noGrp="1" noRot="1" noChangeAspect="1" noTextEdit="1"/>
          </p:cNvSpPr>
          <p:nvPr>
            <p:ph type="sldImg"/>
          </p:nvPr>
        </p:nvSpPr>
        <p:spPr/>
      </p:sp>
      <p:sp>
        <p:nvSpPr>
          <p:cNvPr id="91140"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3187" name="Rectangle 2"/>
          <p:cNvSpPr>
            <a:spLocks noGrp="1" noRot="1" noChangeAspect="1" noTextEdit="1"/>
          </p:cNvSpPr>
          <p:nvPr>
            <p:ph type="sldImg"/>
          </p:nvPr>
        </p:nvSpPr>
        <p:spPr/>
      </p:sp>
      <p:sp>
        <p:nvSpPr>
          <p:cNvPr id="93188" name="Rectangle 3"/>
          <p:cNvSpPr>
            <a:spLocks noGrp="1"/>
          </p:cNvSpPr>
          <p:nvPr>
            <p:ph type="body" idx="1"/>
          </p:nvPr>
        </p:nvSpPr>
        <p:spPr/>
        <p:txBody>
          <a:bodyPr wrap="square" lIns="91534" tIns="45768" rIns="91534" bIns="45768" anchor="t" anchorCtr="0"/>
          <a:p>
            <a:pPr lvl="0"/>
            <a:r>
              <a:rPr lang="zh-CN" altLang="en-US" dirty="0">
                <a:ea typeface="宋体" panose="02010600030101010101" pitchFamily="2" charset="-122"/>
              </a:rPr>
              <a:t>严格说，应该是用</a:t>
            </a:r>
            <a:r>
              <a:rPr lang="en-US" altLang="zh-CN" dirty="0">
                <a:ea typeface="宋体" panose="02010600030101010101" pitchFamily="2" charset="-122"/>
              </a:rPr>
              <a:t>FIRST</a:t>
            </a:r>
            <a:r>
              <a:rPr lang="zh-CN" altLang="en-US" dirty="0">
                <a:ea typeface="宋体" panose="02010600030101010101" pitchFamily="2" charset="-122"/>
              </a:rPr>
              <a:t>集合和</a:t>
            </a:r>
            <a:r>
              <a:rPr lang="en-US" altLang="zh-CN" dirty="0">
                <a:ea typeface="宋体" panose="02010600030101010101" pitchFamily="2" charset="-122"/>
              </a:rPr>
              <a:t>FOLLOW</a:t>
            </a:r>
            <a:r>
              <a:rPr lang="zh-CN" altLang="en-US" dirty="0">
                <a:ea typeface="宋体" panose="02010600030101010101" pitchFamily="2" charset="-122"/>
              </a:rPr>
              <a:t>集合解决</a:t>
            </a:r>
            <a:endParaRPr lang="zh-CN" altLang="en-US" dirty="0">
              <a:ea typeface="宋体"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5235" name="Rectangle 2"/>
          <p:cNvSpPr>
            <a:spLocks noGrp="1" noRot="1" noChangeAspect="1" noTextEdit="1"/>
          </p:cNvSpPr>
          <p:nvPr>
            <p:ph type="sldImg"/>
          </p:nvPr>
        </p:nvSpPr>
        <p:spPr/>
      </p:sp>
      <p:sp>
        <p:nvSpPr>
          <p:cNvPr id="95236"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7283" name="Rectangle 2"/>
          <p:cNvSpPr>
            <a:spLocks noGrp="1" noRot="1" noChangeAspect="1" noTextEdit="1"/>
          </p:cNvSpPr>
          <p:nvPr>
            <p:ph type="sldImg"/>
          </p:nvPr>
        </p:nvSpPr>
        <p:spPr/>
      </p:sp>
      <p:sp>
        <p:nvSpPr>
          <p:cNvPr id="97284" name="Rectangle 3"/>
          <p:cNvSpPr>
            <a:spLocks noGrp="1"/>
          </p:cNvSpPr>
          <p:nvPr>
            <p:ph type="body" idx="1"/>
          </p:nvPr>
        </p:nvSpPr>
        <p:spPr/>
        <p:txBody>
          <a:bodyPr wrap="square" lIns="91534" tIns="45768" rIns="91534" bIns="45768" anchor="t" anchorCtr="0"/>
          <a:p>
            <a:pPr lvl="0"/>
            <a:r>
              <a:rPr lang="zh-CN" altLang="en-US" dirty="0">
                <a:ea typeface="宋体" panose="02010600030101010101" pitchFamily="2" charset="-122"/>
              </a:rPr>
              <a:t>第四章将考虑更一般的左递归处理的方式</a:t>
            </a:r>
            <a:endParaRPr lang="zh-CN" altLang="en-US" dirty="0">
              <a:ea typeface="宋体"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9331" name="Rectangle 2"/>
          <p:cNvSpPr>
            <a:spLocks noGrp="1" noRot="1" noChangeAspect="1" noTextEdit="1"/>
          </p:cNvSpPr>
          <p:nvPr>
            <p:ph type="sldImg"/>
          </p:nvPr>
        </p:nvSpPr>
        <p:spPr/>
      </p:sp>
      <p:sp>
        <p:nvSpPr>
          <p:cNvPr id="99332"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1379" name="Rectangle 2"/>
          <p:cNvSpPr>
            <a:spLocks noGrp="1" noRot="1" noChangeAspect="1" noTextEdit="1"/>
          </p:cNvSpPr>
          <p:nvPr>
            <p:ph type="sldImg"/>
          </p:nvPr>
        </p:nvSpPr>
        <p:spPr/>
      </p:sp>
      <p:sp>
        <p:nvSpPr>
          <p:cNvPr id="101380"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3427" name="Rectangle 2"/>
          <p:cNvSpPr>
            <a:spLocks noGrp="1" noRot="1" noChangeAspect="1" noTextEdit="1"/>
          </p:cNvSpPr>
          <p:nvPr>
            <p:ph type="sldImg"/>
          </p:nvPr>
        </p:nvSpPr>
        <p:spPr/>
      </p:sp>
      <p:sp>
        <p:nvSpPr>
          <p:cNvPr id="103428" name="Rectangle 3"/>
          <p:cNvSpPr>
            <a:spLocks noGrp="1"/>
          </p:cNvSpPr>
          <p:nvPr>
            <p:ph type="body" idx="1"/>
          </p:nvPr>
        </p:nvSpPr>
        <p:spPr/>
        <p:txBody>
          <a:bodyPr wrap="square" lIns="91534" tIns="45768" rIns="91534" bIns="45768" anchor="t" anchorCtr="0"/>
          <a:p>
            <a:pPr lvl="0"/>
            <a:r>
              <a:rPr lang="zh-CN" altLang="en-US" dirty="0">
                <a:ea typeface="宋体" panose="02010600030101010101" pitchFamily="2" charset="-122"/>
              </a:rPr>
              <a:t>此处消除左递归后，语义动作的内容没有变化，但是要注意其在新的翻译方案中的位置（位置决定了计算的次序，如果位置不对，翻译就会出问题），但是在很多文法中，消除左递归后，由于语义信息流动方向的变化，可能要引入继承属性</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en-US" altLang="zh-CN" b="1" dirty="0">
                <a:ea typeface="宋体" panose="02010600030101010101" pitchFamily="2" charset="-122"/>
              </a:rPr>
              <a:t>A=expr</a:t>
            </a:r>
            <a:endParaRPr lang="en-US" altLang="zh-CN" b="1" dirty="0">
              <a:ea typeface="宋体" panose="02010600030101010101" pitchFamily="2" charset="-122"/>
            </a:endParaRPr>
          </a:p>
          <a:p>
            <a:pPr lvl="0"/>
            <a:r>
              <a:rPr lang="el-GR" altLang="zh-CN" b="1" dirty="0">
                <a:latin typeface="宋体" panose="02010600030101010101" pitchFamily="2" charset="-122"/>
                <a:ea typeface="宋体" panose="02010600030101010101" pitchFamily="2" charset="-122"/>
              </a:rPr>
              <a:t>α</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term</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print</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lvl="0"/>
            <a:r>
              <a:rPr lang="el-GR" altLang="zh-CN" b="1" dirty="0">
                <a:latin typeface="宋体" panose="02010600030101010101" pitchFamily="2" charset="-122"/>
                <a:ea typeface="宋体" panose="02010600030101010101" pitchFamily="2" charset="-122"/>
              </a:rPr>
              <a:t>β</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term</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print</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 ）</a:t>
            </a:r>
            <a:endParaRPr lang="en-US" altLang="zh-CN" b="1" dirty="0">
              <a:latin typeface="宋体" panose="02010600030101010101" pitchFamily="2" charset="-122"/>
              <a:ea typeface="宋体" panose="02010600030101010101" pitchFamily="2" charset="-122"/>
            </a:endParaRPr>
          </a:p>
          <a:p>
            <a:pPr lvl="0"/>
            <a:r>
              <a:rPr lang="el-GR" altLang="zh-CN" b="1" dirty="0">
                <a:latin typeface="宋体" panose="02010600030101010101" pitchFamily="2" charset="-122"/>
                <a:ea typeface="宋体" panose="02010600030101010101" pitchFamily="2" charset="-122"/>
              </a:rPr>
              <a:t>γ</a:t>
            </a:r>
            <a:r>
              <a:rPr lang="en-US" altLang="zh-CN" b="1" dirty="0">
                <a:latin typeface="宋体" panose="02010600030101010101" pitchFamily="2" charset="-122"/>
                <a:ea typeface="宋体" panose="02010600030101010101" pitchFamily="2" charset="-122"/>
              </a:rPr>
              <a:t>=term</a:t>
            </a:r>
            <a:endParaRPr lang="en-US" altLang="zh-CN" dirty="0">
              <a:ea typeface="宋体" panose="02010600030101010101" pitchFamily="2" charset="-122"/>
            </a:endParaRPr>
          </a:p>
          <a:p>
            <a:pPr lvl="0"/>
            <a:endParaRPr lang="zh-CN" altLang="en-US" dirty="0">
              <a:ea typeface="宋体" panose="02010600030101010101"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5475" name="Rectangle 2"/>
          <p:cNvSpPr>
            <a:spLocks noGrp="1" noRot="1" noChangeAspect="1" noTextEdit="1"/>
          </p:cNvSpPr>
          <p:nvPr>
            <p:ph type="sldImg"/>
          </p:nvPr>
        </p:nvSpPr>
        <p:spPr/>
      </p:sp>
      <p:sp>
        <p:nvSpPr>
          <p:cNvPr id="105476" name="Rectangle 3"/>
          <p:cNvSpPr>
            <a:spLocks noGrp="1"/>
          </p:cNvSpPr>
          <p:nvPr>
            <p:ph type="body" idx="1"/>
          </p:nvPr>
        </p:nvSpPr>
        <p:spPr/>
        <p:txBody>
          <a:bodyPr wrap="square" lIns="91534" tIns="45768" rIns="91534" bIns="45768" anchor="t" anchorCtr="0"/>
          <a:p>
            <a:pPr lvl="0"/>
            <a:r>
              <a:rPr lang="zh-CN" altLang="en-US" dirty="0">
                <a:ea typeface="宋体" panose="02010600030101010101" pitchFamily="2" charset="-122"/>
              </a:rPr>
              <a:t>此时形成的树与</a:t>
            </a:r>
            <a:r>
              <a:rPr lang="en-US" altLang="zh-CN" dirty="0">
                <a:ea typeface="宋体" panose="02010600030101010101" pitchFamily="2" charset="-122"/>
              </a:rPr>
              <a:t>P37</a:t>
            </a:r>
            <a:r>
              <a:rPr lang="zh-CN" altLang="en-US" dirty="0">
                <a:ea typeface="宋体" panose="02010600030101010101" pitchFamily="2" charset="-122"/>
              </a:rPr>
              <a:t>的树形状是不一样的，但是翻译的结果相同</a:t>
            </a:r>
            <a:endParaRPr lang="zh-CN" altLang="en-US" dirty="0">
              <a:ea typeface="宋体" panose="02010600030101010101" pitchFamily="2"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7523" name="Rectangle 2"/>
          <p:cNvSpPr>
            <a:spLocks noGrp="1" noRot="1" noChangeAspect="1" noTextEdit="1"/>
          </p:cNvSpPr>
          <p:nvPr>
            <p:ph type="sldImg"/>
          </p:nvPr>
        </p:nvSpPr>
        <p:spPr/>
      </p:sp>
      <p:sp>
        <p:nvSpPr>
          <p:cNvPr id="107524" name="Rectangle 3"/>
          <p:cNvSpPr>
            <a:spLocks noGrp="1"/>
          </p:cNvSpPr>
          <p:nvPr>
            <p:ph type="body" idx="1"/>
          </p:nvPr>
        </p:nvSpPr>
        <p:spPr/>
        <p:txBody>
          <a:bodyPr wrap="square" lIns="91534" tIns="45768" rIns="91534" bIns="45768" anchor="t" anchorCtr="0"/>
          <a:p>
            <a:pPr lvl="0"/>
            <a:r>
              <a:rPr lang="zh-CN" altLang="en-US" dirty="0">
                <a:ea typeface="宋体" panose="02010600030101010101" pitchFamily="2" charset="-122"/>
              </a:rPr>
              <a:t>其中</a:t>
            </a:r>
            <a:r>
              <a:rPr lang="en-US" altLang="zh-CN" dirty="0">
                <a:ea typeface="宋体" panose="02010600030101010101" pitchFamily="2" charset="-122"/>
              </a:rPr>
              <a:t>term</a:t>
            </a:r>
            <a:r>
              <a:rPr lang="zh-CN" altLang="en-US" dirty="0">
                <a:ea typeface="宋体" panose="02010600030101010101" pitchFamily="2" charset="-122"/>
              </a:rPr>
              <a:t>现在文法处理的都是</a:t>
            </a:r>
            <a:r>
              <a:rPr lang="en-US" altLang="zh-CN" dirty="0">
                <a:ea typeface="宋体" panose="02010600030101010101" pitchFamily="2" charset="-122"/>
              </a:rPr>
              <a:t>1</a:t>
            </a:r>
            <a:r>
              <a:rPr lang="zh-CN" altLang="en-US" dirty="0">
                <a:ea typeface="宋体" panose="02010600030101010101" pitchFamily="2" charset="-122"/>
              </a:rPr>
              <a:t>位的数字</a:t>
            </a:r>
            <a:endParaRPr lang="zh-CN" altLang="en-US" dirty="0">
              <a:ea typeface="宋体" panose="02010600030101010101" pitchFamily="2"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9571" name="Rectangle 2"/>
          <p:cNvSpPr>
            <a:spLocks noGrp="1" noRot="1" noChangeAspect="1" noTextEdit="1"/>
          </p:cNvSpPr>
          <p:nvPr>
            <p:ph type="sldImg"/>
          </p:nvPr>
        </p:nvSpPr>
        <p:spPr/>
      </p:sp>
      <p:sp>
        <p:nvSpPr>
          <p:cNvPr id="109572"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幻灯片图像占位符 1"/>
          <p:cNvSpPr>
            <a:spLocks noGrp="1" noRot="1" noChangeAspect="1" noTextEdit="1"/>
          </p:cNvSpPr>
          <p:nvPr>
            <p:ph type="sldImg"/>
          </p:nvPr>
        </p:nvSpPr>
        <p:spPr/>
      </p:sp>
      <p:sp>
        <p:nvSpPr>
          <p:cNvPr id="111619" name="备注占位符 2"/>
          <p:cNvSpPr>
            <a:spLocks noGrp="1"/>
          </p:cNvSpPr>
          <p:nvPr>
            <p:ph type="body" idx="1"/>
          </p:nvPr>
        </p:nvSpPr>
        <p:spPr/>
        <p:txBody>
          <a:bodyPr wrap="square" lIns="91534" tIns="45768" rIns="91534" bIns="45768" anchor="t" anchorCtr="0"/>
          <a:p>
            <a:pPr lvl="0"/>
            <a:r>
              <a:rPr lang="zh-CN" altLang="en-US" dirty="0">
                <a:ea typeface="宋体" panose="02010600030101010101" pitchFamily="2" charset="-122"/>
              </a:rPr>
              <a:t>此页请同学们自己根据需要理解明白即可，如果可以的话，也可以改成</a:t>
            </a:r>
            <a:r>
              <a:rPr lang="en-US" altLang="zh-CN" dirty="0">
                <a:ea typeface="宋体" panose="02010600030101010101" pitchFamily="2" charset="-122"/>
              </a:rPr>
              <a:t>C/C++</a:t>
            </a:r>
            <a:r>
              <a:rPr lang="zh-CN" altLang="en-US" dirty="0">
                <a:ea typeface="宋体" panose="02010600030101010101" pitchFamily="2" charset="-122"/>
              </a:rPr>
              <a:t>语言的实现，</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这个例子需要补充一点的是，代码中出现的</a:t>
            </a:r>
            <a:r>
              <a:rPr lang="en-US" altLang="zh-CN" dirty="0">
                <a:ea typeface="宋体" panose="02010600030101010101" pitchFamily="2" charset="-122"/>
              </a:rPr>
              <a:t>throw</a:t>
            </a:r>
            <a:r>
              <a:rPr lang="zh-CN" altLang="en-US" dirty="0">
                <a:ea typeface="宋体" panose="02010600030101010101" pitchFamily="2" charset="-122"/>
              </a:rPr>
              <a:t> </a:t>
            </a:r>
            <a:r>
              <a:rPr lang="en-US" altLang="zh-CN" dirty="0">
                <a:ea typeface="宋体" panose="02010600030101010101" pitchFamily="2" charset="-122"/>
              </a:rPr>
              <a:t>new</a:t>
            </a:r>
            <a:r>
              <a:rPr lang="zh-CN" altLang="en-US" dirty="0">
                <a:ea typeface="宋体" panose="02010600030101010101" pitchFamily="2" charset="-122"/>
              </a:rPr>
              <a:t> </a:t>
            </a:r>
            <a:r>
              <a:rPr lang="en-US" altLang="zh-CN" dirty="0">
                <a:ea typeface="宋体" panose="02010600030101010101" pitchFamily="2" charset="-122"/>
              </a:rPr>
              <a:t>Error</a:t>
            </a:r>
            <a:r>
              <a:rPr lang="zh-CN" altLang="en-US" dirty="0">
                <a:ea typeface="宋体" panose="02010600030101010101" pitchFamily="2" charset="-122"/>
              </a:rPr>
              <a:t>（“</a:t>
            </a:r>
            <a:r>
              <a:rPr lang="en-US" altLang="zh-CN" dirty="0">
                <a:ea typeface="宋体" panose="02010600030101010101" pitchFamily="2" charset="-122"/>
              </a:rPr>
              <a:t>syntax</a:t>
            </a:r>
            <a:r>
              <a:rPr lang="zh-CN" altLang="en-US" dirty="0">
                <a:ea typeface="宋体" panose="02010600030101010101" pitchFamily="2" charset="-122"/>
              </a:rPr>
              <a:t> </a:t>
            </a:r>
            <a:r>
              <a:rPr lang="en-US" altLang="zh-CN" dirty="0">
                <a:ea typeface="宋体" panose="02010600030101010101" pitchFamily="2" charset="-122"/>
              </a:rPr>
              <a:t>error</a:t>
            </a:r>
            <a:r>
              <a:rPr lang="zh-CN" altLang="en-US" dirty="0">
                <a:ea typeface="宋体" panose="02010600030101010101" pitchFamily="2" charset="-122"/>
              </a:rPr>
              <a:t>”），代表出错处理，在语法分析（包括把语法制导翻译的动作嵌入分析过程的情形）中，如果找不到合适的匹配产生式，会报错，但是实际的报错比这里的示例要复杂，譬如本例中</a:t>
            </a:r>
            <a:r>
              <a:rPr lang="en-US" altLang="zh-CN" dirty="0">
                <a:ea typeface="宋体" panose="02010600030101010101" pitchFamily="2" charset="-122"/>
              </a:rPr>
              <a:t>throw</a:t>
            </a:r>
            <a:r>
              <a:rPr lang="zh-CN" altLang="en-US" dirty="0">
                <a:ea typeface="宋体" panose="02010600030101010101" pitchFamily="2" charset="-122"/>
              </a:rPr>
              <a:t> </a:t>
            </a:r>
            <a:r>
              <a:rPr lang="en-US" altLang="zh-CN" dirty="0">
                <a:ea typeface="宋体" panose="02010600030101010101" pitchFamily="2" charset="-122"/>
              </a:rPr>
              <a:t>new Error(“synjtax error”)</a:t>
            </a:r>
            <a:r>
              <a:rPr lang="zh-CN" altLang="en-US" dirty="0">
                <a:ea typeface="宋体" panose="02010600030101010101" pitchFamily="2" charset="-122"/>
              </a:rPr>
              <a:t>的两次出现，其表示的错误是不一样的，在</a:t>
            </a:r>
            <a:r>
              <a:rPr lang="en-US" altLang="zh-CN" dirty="0">
                <a:ea typeface="宋体" panose="02010600030101010101" pitchFamily="2" charset="-122"/>
              </a:rPr>
              <a:t>term</a:t>
            </a:r>
            <a:r>
              <a:rPr lang="zh-CN" altLang="en-US" dirty="0">
                <a:ea typeface="宋体" panose="02010600030101010101" pitchFamily="2" charset="-122"/>
              </a:rPr>
              <a:t>中的出现是处理“该出现运算对象而没出现”的情形，而</a:t>
            </a:r>
            <a:r>
              <a:rPr lang="en-US" altLang="zh-CN" dirty="0">
                <a:ea typeface="宋体" panose="02010600030101010101" pitchFamily="2" charset="-122"/>
              </a:rPr>
              <a:t>match</a:t>
            </a:r>
            <a:r>
              <a:rPr lang="zh-CN" altLang="en-US" dirty="0">
                <a:ea typeface="宋体" panose="02010600030101010101" pitchFamily="2" charset="-122"/>
              </a:rPr>
              <a:t>中的出现，处理的情况要复杂，还可能表征运算算符不是</a:t>
            </a:r>
            <a:r>
              <a:rPr lang="en-US" altLang="zh-CN" dirty="0">
                <a:ea typeface="宋体" panose="02010600030101010101" pitchFamily="2" charset="-122"/>
              </a:rPr>
              <a:t>+</a:t>
            </a:r>
            <a:r>
              <a:rPr lang="zh-CN" altLang="en-US" dirty="0">
                <a:ea typeface="宋体" panose="02010600030101010101" pitchFamily="2" charset="-122"/>
              </a:rPr>
              <a:t>也不是</a:t>
            </a:r>
            <a:r>
              <a:rPr lang="en-US" altLang="zh-CN" dirty="0">
                <a:ea typeface="宋体" panose="02010600030101010101" pitchFamily="2" charset="-122"/>
              </a:rPr>
              <a:t>-</a:t>
            </a:r>
            <a:r>
              <a:rPr lang="zh-CN" altLang="en-US" dirty="0">
                <a:ea typeface="宋体" panose="02010600030101010101" pitchFamily="2" charset="-122"/>
              </a:rPr>
              <a:t>，也可能表征运算对象不匹配（从本例看，这种情况不可能出现）。</a:t>
            </a:r>
            <a:endParaRPr lang="en-US" altLang="zh-CN" dirty="0">
              <a:ea typeface="宋体" panose="02010600030101010101" pitchFamily="2" charset="-122"/>
            </a:endParaRPr>
          </a:p>
          <a:p>
            <a:pPr lvl="0"/>
            <a:r>
              <a:rPr lang="zh-CN" altLang="en-US" dirty="0">
                <a:ea typeface="宋体" panose="02010600030101010101" pitchFamily="2" charset="-122"/>
              </a:rPr>
              <a:t>此外，实际报错中除了给出错误（不仅要给出错误的种类，还要给出错误的位置），还要做错误恢复，以使得分析尽可能正常进行，并尽可能精准地报出更多的错误</a:t>
            </a:r>
            <a:endParaRPr lang="en-US" altLang="zh-CN" dirty="0">
              <a:ea typeface="宋体" panose="02010600030101010101" pitchFamily="2" charset="-122"/>
            </a:endParaRPr>
          </a:p>
        </p:txBody>
      </p:sp>
      <p:sp>
        <p:nvSpPr>
          <p:cNvPr id="111620" name="灯片编号占位符 3"/>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3667" name="Rectangle 2"/>
          <p:cNvSpPr>
            <a:spLocks noGrp="1" noRot="1" noChangeAspect="1" noTextEdit="1"/>
          </p:cNvSpPr>
          <p:nvPr>
            <p:ph type="sldImg"/>
          </p:nvPr>
        </p:nvSpPr>
        <p:spPr/>
      </p:sp>
      <p:sp>
        <p:nvSpPr>
          <p:cNvPr id="113668"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5715" name="Rectangle 2"/>
          <p:cNvSpPr>
            <a:spLocks noGrp="1" noRot="1" noChangeAspect="1" noTextEdit="1"/>
          </p:cNvSpPr>
          <p:nvPr>
            <p:ph type="sldImg"/>
          </p:nvPr>
        </p:nvSpPr>
        <p:spPr/>
      </p:sp>
      <p:sp>
        <p:nvSpPr>
          <p:cNvPr id="115716" name="Rectangle 3"/>
          <p:cNvSpPr>
            <a:spLocks noGrp="1"/>
          </p:cNvSpPr>
          <p:nvPr>
            <p:ph type="body" idx="1"/>
          </p:nvPr>
        </p:nvSpPr>
        <p:spPr/>
        <p:txBody>
          <a:bodyPr wrap="square" lIns="91534" tIns="45768" rIns="91534" bIns="45768" anchor="t" anchorCtr="0"/>
          <a:p>
            <a:pPr lvl="0"/>
            <a:r>
              <a:rPr lang="en-US" altLang="zh-CN" dirty="0">
                <a:ea typeface="宋体" panose="02010600030101010101" pitchFamily="2" charset="-122"/>
              </a:rPr>
              <a:t>1</a:t>
            </a:r>
            <a:r>
              <a:rPr lang="zh-CN" altLang="en-US" dirty="0">
                <a:ea typeface="宋体" panose="02010600030101010101" pitchFamily="2" charset="-122"/>
              </a:rPr>
              <a:t>）前面关于表达式的文法，如果句子中出现</a:t>
            </a:r>
            <a:r>
              <a:rPr lang="zh-CN" altLang="en-US" b="1" dirty="0">
                <a:ea typeface="宋体" panose="02010600030101010101" pitchFamily="2" charset="-122"/>
              </a:rPr>
              <a:t>空格等无关字符</a:t>
            </a:r>
            <a:r>
              <a:rPr lang="zh-CN" altLang="en-US" dirty="0">
                <a:ea typeface="宋体" panose="02010600030101010101" pitchFamily="2" charset="-122"/>
              </a:rPr>
              <a:t>，会分析失败，但大部分语言允许空格等的出现，甚至把空格当作不同单词的分割符</a:t>
            </a:r>
            <a:endParaRPr lang="en-US" altLang="zh-CN" dirty="0">
              <a:ea typeface="宋体" panose="02010600030101010101" pitchFamily="2" charset="-122"/>
            </a:endParaRPr>
          </a:p>
          <a:p>
            <a:pPr lvl="0"/>
            <a:r>
              <a:rPr lang="en-US" altLang="zh-CN" dirty="0">
                <a:ea typeface="宋体" panose="02010600030101010101" pitchFamily="2" charset="-122"/>
              </a:rPr>
              <a:t>2</a:t>
            </a:r>
            <a:r>
              <a:rPr lang="zh-CN" altLang="en-US" dirty="0">
                <a:ea typeface="宋体" panose="02010600030101010101" pitchFamily="2" charset="-122"/>
              </a:rPr>
              <a:t>）关于注释，一般应该在词法分析阶段滤掉，但是需要注意的是很多语言扩展都是利用注释来实现的（一般会有特殊的字头作为识别符，如</a:t>
            </a:r>
            <a:r>
              <a:rPr lang="en-US" altLang="zh-CN" dirty="0">
                <a:ea typeface="宋体" panose="02010600030101010101" pitchFamily="2" charset="-122"/>
              </a:rPr>
              <a:t>HPF</a:t>
            </a:r>
            <a:r>
              <a:rPr lang="zh-CN" altLang="en-US" dirty="0">
                <a:ea typeface="宋体" panose="02010600030101010101" pitchFamily="2" charset="-122"/>
              </a:rPr>
              <a:t>中 </a:t>
            </a:r>
            <a:r>
              <a:rPr lang="en-US" altLang="zh-CN" dirty="0">
                <a:ea typeface="宋体" panose="02010600030101010101" pitchFamily="2" charset="-122"/>
              </a:rPr>
              <a:t>!HPF$</a:t>
            </a:r>
            <a:r>
              <a:rPr lang="zh-CN" altLang="en-US" dirty="0">
                <a:ea typeface="宋体" panose="02010600030101010101" pitchFamily="2" charset="-122"/>
              </a:rPr>
              <a:t>作为制导语句的标识符号，而</a:t>
            </a:r>
            <a:r>
              <a:rPr lang="en-US" altLang="zh-CN" dirty="0">
                <a:ea typeface="宋体" panose="02010600030101010101" pitchFamily="2" charset="-122"/>
              </a:rPr>
              <a:t>C</a:t>
            </a:r>
            <a:r>
              <a:rPr lang="zh-CN" altLang="en-US" dirty="0">
                <a:ea typeface="宋体" panose="02010600030101010101" pitchFamily="2" charset="-122"/>
              </a:rPr>
              <a:t>语言中采用</a:t>
            </a:r>
            <a:r>
              <a:rPr lang="en-US" altLang="zh-CN" dirty="0">
                <a:ea typeface="宋体" panose="02010600030101010101" pitchFamily="2" charset="-122"/>
              </a:rPr>
              <a:t>#pragma</a:t>
            </a:r>
            <a:r>
              <a:rPr lang="zh-CN" altLang="en-US" dirty="0">
                <a:ea typeface="宋体" panose="02010600030101010101" pitchFamily="2" charset="-122"/>
              </a:rPr>
              <a:t>引出制导信息），此时需要设计一些特殊的处理，将这些制导信息恰当识别、保存，以便后续的编译流程使用</a:t>
            </a:r>
            <a:endParaRPr lang="en-US" altLang="zh-CN" dirty="0">
              <a:ea typeface="宋体" panose="02010600030101010101" pitchFamily="2" charset="-122"/>
            </a:endParaRPr>
          </a:p>
          <a:p>
            <a:pPr lvl="0"/>
            <a:r>
              <a:rPr lang="en-US" altLang="zh-CN" dirty="0">
                <a:ea typeface="宋体" panose="02010600030101010101" pitchFamily="2" charset="-122"/>
              </a:rPr>
              <a:t>3</a:t>
            </a:r>
            <a:r>
              <a:rPr lang="zh-CN" altLang="en-US" dirty="0">
                <a:ea typeface="宋体" panose="02010600030101010101" pitchFamily="2" charset="-122"/>
              </a:rPr>
              <a:t>）行号的信息保存（包括位置信息）不仅仅是为了记录行数，很重要的一个目的是为了出错处理时可以精准地指出出错的位置，因为在词法分析之后，编译器不再看到程序的源码，也就难以知道某个程序对象的位置信息了</a:t>
            </a:r>
            <a:endParaRPr lang="zh-CN" altLang="en-US" dirty="0">
              <a:ea typeface="宋体" panose="02010600030101010101" pitchFamily="2" charset="-12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7763" name="Rectangle 2"/>
          <p:cNvSpPr>
            <a:spLocks noGrp="1" noRot="1" noChangeAspect="1" noTextEdit="1"/>
          </p:cNvSpPr>
          <p:nvPr>
            <p:ph type="sldImg"/>
          </p:nvPr>
        </p:nvSpPr>
        <p:spPr/>
      </p:sp>
      <p:sp>
        <p:nvSpPr>
          <p:cNvPr id="117764" name="Rectangle 3"/>
          <p:cNvSpPr>
            <a:spLocks noGrp="1"/>
          </p:cNvSpPr>
          <p:nvPr>
            <p:ph type="body" idx="1"/>
          </p:nvPr>
        </p:nvSpPr>
        <p:spPr/>
        <p:txBody>
          <a:bodyPr wrap="square" lIns="91534" tIns="45768" rIns="91534" bIns="45768" anchor="t" anchorCtr="0"/>
          <a:p>
            <a:pPr lvl="0"/>
            <a:r>
              <a:rPr lang="zh-CN" altLang="en-US" dirty="0">
                <a:ea typeface="宋体" panose="02010600030101010101" pitchFamily="2" charset="-122"/>
              </a:rPr>
              <a:t>课本上</a:t>
            </a:r>
            <a:r>
              <a:rPr lang="en-US" altLang="zh-CN" dirty="0">
                <a:ea typeface="宋体" panose="02010600030101010101" pitchFamily="2" charset="-122"/>
              </a:rPr>
              <a:t>&lt;+&gt;</a:t>
            </a:r>
            <a:r>
              <a:rPr lang="zh-CN" altLang="en-US" dirty="0">
                <a:ea typeface="宋体" panose="02010600030101010101" pitchFamily="2" charset="-122"/>
              </a:rPr>
              <a:t>，只有一个分量，一般词法分析的结果通过元组表示，其中第一个分量表示其类别，有些词法单元是唯一的，如程序的关键字等，此时第二个分量可以为空，而对于对应了多个实例的类别（如常量、标识符等），第一个分量表示了类别，而第二个分量则用以区分不同的实例，如常数给出其值，标识符给出对应符号表表项指针等</a:t>
            </a:r>
            <a:endParaRPr lang="zh-CN" altLang="en-US" dirty="0">
              <a:ea typeface="宋体" panose="02010600030101010101" pitchFamily="2" charset="-122"/>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9811" name="Rectangle 2"/>
          <p:cNvSpPr>
            <a:spLocks noGrp="1" noRot="1" noChangeAspect="1" noTextEdit="1"/>
          </p:cNvSpPr>
          <p:nvPr>
            <p:ph type="sldImg"/>
          </p:nvPr>
        </p:nvSpPr>
        <p:spPr/>
      </p:sp>
      <p:sp>
        <p:nvSpPr>
          <p:cNvPr id="119812" name="Rectangle 3"/>
          <p:cNvSpPr>
            <a:spLocks noGrp="1"/>
          </p:cNvSpPr>
          <p:nvPr>
            <p:ph type="body" idx="1"/>
          </p:nvPr>
        </p:nvSpPr>
        <p:spPr/>
        <p:txBody>
          <a:bodyPr wrap="square" lIns="91534" tIns="45768" rIns="91534" bIns="45768" anchor="t" anchorCtr="0"/>
          <a:p>
            <a:pPr lvl="0"/>
            <a:r>
              <a:rPr lang="zh-CN" altLang="en-US" dirty="0">
                <a:ea typeface="宋体" panose="02010600030101010101" pitchFamily="2" charset="-122"/>
              </a:rPr>
              <a:t>关键字不作为保留字的例子，如</a:t>
            </a:r>
            <a:r>
              <a:rPr lang="en-US" altLang="zh-CN" dirty="0">
                <a:ea typeface="宋体" panose="02010600030101010101" pitchFamily="2" charset="-122"/>
              </a:rPr>
              <a:t>PL/1</a:t>
            </a:r>
            <a:r>
              <a:rPr lang="zh-CN" altLang="en-US" dirty="0">
                <a:ea typeface="宋体" panose="02010600030101010101" pitchFamily="2" charset="-122"/>
              </a:rPr>
              <a:t>语言中 </a:t>
            </a:r>
            <a:r>
              <a:rPr lang="en-US" altLang="zh-CN" b="1" dirty="0">
                <a:solidFill>
                  <a:srgbClr val="063DE8"/>
                </a:solidFill>
                <a:latin typeface="宋体" panose="02010600030101010101" pitchFamily="2" charset="-122"/>
                <a:ea typeface="宋体" panose="02010600030101010101" pitchFamily="2" charset="-122"/>
              </a:rPr>
              <a:t>IF</a:t>
            </a:r>
            <a:r>
              <a:rPr lang="en-US" altLang="zh-CN" b="1" dirty="0">
                <a:latin typeface="宋体" panose="02010600030101010101" pitchFamily="2" charset="-122"/>
                <a:ea typeface="宋体" panose="02010600030101010101" pitchFamily="2" charset="-122"/>
              </a:rPr>
              <a:t> then </a:t>
            </a:r>
            <a:r>
              <a:rPr lang="en-US" altLang="zh-CN" b="1" dirty="0">
                <a:solidFill>
                  <a:srgbClr val="063DE8"/>
                </a:solidFill>
                <a:latin typeface="宋体" panose="02010600030101010101" pitchFamily="2" charset="-122"/>
                <a:ea typeface="宋体" panose="02010600030101010101" pitchFamily="2" charset="-122"/>
              </a:rPr>
              <a:t>THEN</a:t>
            </a:r>
            <a:r>
              <a:rPr lang="en-US" altLang="zh-CN" b="1" dirty="0">
                <a:latin typeface="宋体" panose="02010600030101010101" pitchFamily="2" charset="-122"/>
                <a:ea typeface="宋体" panose="02010600030101010101" pitchFamily="2" charset="-122"/>
              </a:rPr>
              <a:t> then = else； </a:t>
            </a:r>
            <a:r>
              <a:rPr lang="en-US" altLang="zh-CN" b="1" dirty="0">
                <a:solidFill>
                  <a:srgbClr val="063DE8"/>
                </a:solidFill>
                <a:latin typeface="宋体" panose="02010600030101010101" pitchFamily="2" charset="-122"/>
                <a:ea typeface="宋体" panose="02010600030101010101" pitchFamily="2" charset="-122"/>
              </a:rPr>
              <a:t>ELSE</a:t>
            </a:r>
            <a:r>
              <a:rPr lang="en-US" altLang="zh-CN" b="1" dirty="0">
                <a:latin typeface="宋体" panose="02010600030101010101" pitchFamily="2" charset="-122"/>
                <a:ea typeface="宋体" panose="02010600030101010101" pitchFamily="2" charset="-122"/>
              </a:rPr>
              <a:t> else = then；</a:t>
            </a:r>
            <a:endParaRPr lang="en-US" altLang="zh-CN" b="1" dirty="0">
              <a:latin typeface="宋体" panose="02010600030101010101" pitchFamily="2" charset="-122"/>
              <a:ea typeface="宋体" panose="02010600030101010101" pitchFamily="2" charset="-122"/>
            </a:endParaRPr>
          </a:p>
          <a:p>
            <a:pPr lvl="0"/>
            <a:endParaRPr lang="en-US" altLang="zh-CN" b="1" dirty="0">
              <a:latin typeface="宋体" panose="02010600030101010101" pitchFamily="2" charset="-122"/>
              <a:ea typeface="宋体" panose="02010600030101010101" pitchFamily="2" charset="-122"/>
            </a:endParaRPr>
          </a:p>
          <a:p>
            <a:pPr lvl="0"/>
            <a:endParaRPr lang="en-US" altLang="zh-CN" dirty="0">
              <a:latin typeface="宋体" panose="02010600030101010101" pitchFamily="2" charset="-122"/>
              <a:ea typeface="宋体" panose="02010600030101010101" pitchFamily="2" charset="-122"/>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22883" name="Rectangle 2"/>
          <p:cNvSpPr>
            <a:spLocks noGrp="1" noRot="1" noChangeAspect="1" noTextEdit="1"/>
          </p:cNvSpPr>
          <p:nvPr>
            <p:ph type="sldImg"/>
          </p:nvPr>
        </p:nvSpPr>
        <p:spPr/>
      </p:sp>
      <p:sp>
        <p:nvSpPr>
          <p:cNvPr id="122884" name="Rectangle 3"/>
          <p:cNvSpPr>
            <a:spLocks noGrp="1"/>
          </p:cNvSpPr>
          <p:nvPr>
            <p:ph type="body" idx="1"/>
          </p:nvPr>
        </p:nvSpPr>
        <p:spPr/>
        <p:txBody>
          <a:bodyPr wrap="square" lIns="91534" tIns="45768" rIns="91534" bIns="45768" anchor="t" anchorCtr="0"/>
          <a:p>
            <a:pPr lvl="0"/>
            <a:r>
              <a:rPr lang="en-US" altLang="zh-CN" dirty="0">
                <a:ea typeface="宋体" panose="02010600030101010101" pitchFamily="2" charset="-122"/>
              </a:rPr>
              <a:t>P59~62</a:t>
            </a:r>
            <a:r>
              <a:rPr lang="zh-CN" altLang="en-US" dirty="0">
                <a:ea typeface="宋体" panose="02010600030101010101" pitchFamily="2" charset="-122"/>
              </a:rPr>
              <a:t>的代码请同学们自己看即可，不熟悉</a:t>
            </a:r>
            <a:r>
              <a:rPr lang="en-US" altLang="zh-CN" dirty="0">
                <a:ea typeface="宋体" panose="02010600030101010101" pitchFamily="2" charset="-122"/>
              </a:rPr>
              <a:t>Java</a:t>
            </a:r>
            <a:r>
              <a:rPr lang="zh-CN" altLang="en-US" dirty="0">
                <a:ea typeface="宋体" panose="02010600030101010101" pitchFamily="2" charset="-122"/>
              </a:rPr>
              <a:t>的可以以之作为参考，用</a:t>
            </a:r>
            <a:r>
              <a:rPr lang="en-US" altLang="zh-CN" dirty="0">
                <a:ea typeface="宋体" panose="02010600030101010101" pitchFamily="2" charset="-122"/>
              </a:rPr>
              <a:t>C/C++</a:t>
            </a:r>
            <a:r>
              <a:rPr lang="zh-CN" altLang="en-US" dirty="0">
                <a:ea typeface="宋体" panose="02010600030101010101" pitchFamily="2" charset="-122"/>
              </a:rPr>
              <a:t> 实现</a:t>
            </a:r>
            <a:endParaRPr lang="zh-CN" altLang="en-US" dirty="0">
              <a:ea typeface="宋体" panose="02010600030101010101" pitchFamily="2" charset="-122"/>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28003" name="Rectangle 2"/>
          <p:cNvSpPr>
            <a:spLocks noGrp="1" noRot="1" noChangeAspect="1" noTextEdit="1"/>
          </p:cNvSpPr>
          <p:nvPr>
            <p:ph type="sldImg"/>
          </p:nvPr>
        </p:nvSpPr>
        <p:spPr/>
      </p:sp>
      <p:sp>
        <p:nvSpPr>
          <p:cNvPr id="128004" name="Rectangle 3"/>
          <p:cNvSpPr>
            <a:spLocks noGrp="1"/>
          </p:cNvSpPr>
          <p:nvPr>
            <p:ph type="body" idx="1"/>
          </p:nvPr>
        </p:nvSpPr>
        <p:spPr/>
        <p:txBody>
          <a:bodyPr wrap="square" lIns="91534" tIns="45768" rIns="91534" bIns="45768" anchor="t" anchorCtr="0"/>
          <a:p>
            <a:pPr lvl="0"/>
            <a:r>
              <a:rPr lang="zh-CN" altLang="en-US" dirty="0">
                <a:ea typeface="宋体" panose="02010600030101010101" pitchFamily="2" charset="-122"/>
              </a:rPr>
              <a:t>如何处理不同属性的符号</a:t>
            </a:r>
            <a:r>
              <a:rPr lang="en-US" altLang="zh-CN" dirty="0">
                <a:ea typeface="宋体" panose="02010600030101010101" pitchFamily="2" charset="-122"/>
              </a:rPr>
              <a:t>?</a:t>
            </a:r>
            <a:r>
              <a:rPr lang="zh-CN" altLang="en-US" dirty="0">
                <a:ea typeface="宋体" panose="02010600030101010101" pitchFamily="2" charset="-122"/>
              </a:rPr>
              <a:t>变量名、类型名等</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如何处理同名符号的不同出现，如作用于不同的变量名，等等</a:t>
            </a:r>
            <a:endParaRPr lang="zh-CN" altLang="en-US" dirty="0">
              <a:ea typeface="宋体" panose="02010600030101010101" pitchFamily="2" charset="-12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0051" name="Rectangle 2"/>
          <p:cNvSpPr>
            <a:spLocks noGrp="1" noRot="1" noChangeAspect="1" noTextEdit="1"/>
          </p:cNvSpPr>
          <p:nvPr>
            <p:ph type="sldImg"/>
          </p:nvPr>
        </p:nvSpPr>
        <p:spPr/>
      </p:sp>
      <p:sp>
        <p:nvSpPr>
          <p:cNvPr id="130052"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2099" name="Rectangle 2"/>
          <p:cNvSpPr>
            <a:spLocks noTextEdit="1"/>
          </p:cNvSpPr>
          <p:nvPr>
            <p:ph type="sldImg"/>
          </p:nvPr>
        </p:nvSpPr>
        <p:spPr/>
      </p:sp>
      <p:sp>
        <p:nvSpPr>
          <p:cNvPr id="132100"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4147" name="Rectangle 2"/>
          <p:cNvSpPr>
            <a:spLocks noTextEdit="1"/>
          </p:cNvSpPr>
          <p:nvPr>
            <p:ph type="sldImg"/>
          </p:nvPr>
        </p:nvSpPr>
        <p:spPr/>
      </p:sp>
      <p:sp>
        <p:nvSpPr>
          <p:cNvPr id="134148"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6195" name="Rectangle 2"/>
          <p:cNvSpPr>
            <a:spLocks noTextEdit="1"/>
          </p:cNvSpPr>
          <p:nvPr>
            <p:ph type="sldImg"/>
          </p:nvPr>
        </p:nvSpPr>
        <p:spPr/>
      </p:sp>
      <p:sp>
        <p:nvSpPr>
          <p:cNvPr id="136196"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8243" name="Rectangle 2"/>
          <p:cNvSpPr>
            <a:spLocks noTextEdit="1"/>
          </p:cNvSpPr>
          <p:nvPr>
            <p:ph type="sldImg"/>
          </p:nvPr>
        </p:nvSpPr>
        <p:spPr/>
      </p:sp>
      <p:sp>
        <p:nvSpPr>
          <p:cNvPr id="138244"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0291" name="Rectangle 2"/>
          <p:cNvSpPr>
            <a:spLocks noTextEdit="1"/>
          </p:cNvSpPr>
          <p:nvPr>
            <p:ph type="sldImg"/>
          </p:nvPr>
        </p:nvSpPr>
        <p:spPr/>
      </p:sp>
      <p:sp>
        <p:nvSpPr>
          <p:cNvPr id="140292"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2339" name="Rectangle 2"/>
          <p:cNvSpPr>
            <a:spLocks noGrp="1" noRot="1" noChangeAspect="1" noTextEdit="1"/>
          </p:cNvSpPr>
          <p:nvPr>
            <p:ph type="sldImg"/>
          </p:nvPr>
        </p:nvSpPr>
        <p:spPr/>
      </p:sp>
      <p:sp>
        <p:nvSpPr>
          <p:cNvPr id="142340" name="Rectangle 3"/>
          <p:cNvSpPr>
            <a:spLocks noGrp="1"/>
          </p:cNvSpPr>
          <p:nvPr>
            <p:ph type="body" idx="1"/>
          </p:nvPr>
        </p:nvSpPr>
        <p:spPr/>
        <p:txBody>
          <a:bodyPr wrap="square" lIns="91534" tIns="45768" rIns="91534" bIns="45768" anchor="t" anchorCtr="0"/>
          <a:p>
            <a:pPr lvl="0"/>
            <a:r>
              <a:rPr lang="zh-CN" altLang="en-US" dirty="0">
                <a:ea typeface="宋体" panose="02010600030101010101" pitchFamily="2" charset="-122"/>
              </a:rPr>
              <a:t>此处的查找可以实现对非局部名字的查找</a:t>
            </a:r>
            <a:endParaRPr lang="zh-CN" altLang="en-US" dirty="0">
              <a:ea typeface="宋体" panose="02010600030101010101" pitchFamily="2" charset="-122"/>
            </a:endParaRPr>
          </a:p>
          <a:p>
            <a:pPr lvl="0"/>
            <a:endParaRPr lang="zh-CN" altLang="en-US" dirty="0">
              <a:ea typeface="宋体" panose="02010600030101010101" pitchFamily="2" charset="-122"/>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5411" name="Rectangle 2"/>
          <p:cNvSpPr>
            <a:spLocks noGrp="1" noRot="1" noChangeAspect="1" noTextEdit="1"/>
          </p:cNvSpPr>
          <p:nvPr>
            <p:ph type="sldImg"/>
          </p:nvPr>
        </p:nvSpPr>
        <p:spPr/>
      </p:sp>
      <p:sp>
        <p:nvSpPr>
          <p:cNvPr id="145412"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8483" name="Rectangle 2"/>
          <p:cNvSpPr>
            <a:spLocks noGrp="1" noRot="1" noChangeAspect="1" noTextEdit="1"/>
          </p:cNvSpPr>
          <p:nvPr>
            <p:ph type="sldImg"/>
          </p:nvPr>
        </p:nvSpPr>
        <p:spPr/>
      </p:sp>
      <p:sp>
        <p:nvSpPr>
          <p:cNvPr id="148484"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1555" name="Rectangle 2"/>
          <p:cNvSpPr>
            <a:spLocks noGrp="1" noRot="1" noChangeAspect="1" noTextEdit="1"/>
          </p:cNvSpPr>
          <p:nvPr>
            <p:ph type="sldImg"/>
          </p:nvPr>
        </p:nvSpPr>
        <p:spPr/>
      </p:sp>
      <p:sp>
        <p:nvSpPr>
          <p:cNvPr id="151556"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幻灯片图像占位符 1"/>
          <p:cNvSpPr>
            <a:spLocks noGrp="1" noRot="1" noChangeAspect="1" noTextEdit="1"/>
          </p:cNvSpPr>
          <p:nvPr>
            <p:ph type="sldImg"/>
          </p:nvPr>
        </p:nvSpPr>
        <p:spPr/>
      </p:sp>
      <p:sp>
        <p:nvSpPr>
          <p:cNvPr id="153603" name="备注占位符 2"/>
          <p:cNvSpPr>
            <a:spLocks noGrp="1"/>
          </p:cNvSpPr>
          <p:nvPr>
            <p:ph type="body" idx="1"/>
          </p:nvPr>
        </p:nvSpPr>
        <p:spPr/>
        <p:txBody>
          <a:bodyPr wrap="square" lIns="91534" tIns="45768" rIns="91534" bIns="45768" anchor="t" anchorCtr="0"/>
          <a:p>
            <a:pPr lvl="0"/>
            <a:r>
              <a:rPr lang="zh-CN" altLang="en-US" dirty="0">
                <a:ea typeface="宋体" panose="02010600030101010101" pitchFamily="2" charset="-122"/>
              </a:rPr>
              <a:t>可以和学生讨论一下</a:t>
            </a:r>
            <a:r>
              <a:rPr lang="en-US" altLang="zh-CN" dirty="0">
                <a:ea typeface="宋体" panose="02010600030101010101" pitchFamily="2" charset="-122"/>
              </a:rPr>
              <a:t>if</a:t>
            </a:r>
            <a:r>
              <a:rPr lang="zh-CN" altLang="en-US" dirty="0">
                <a:ea typeface="宋体" panose="02010600030101010101" pitchFamily="2" charset="-122"/>
              </a:rPr>
              <a:t>语句和</a:t>
            </a:r>
            <a:r>
              <a:rPr lang="en-US" altLang="zh-CN" dirty="0">
                <a:ea typeface="宋体" panose="02010600030101010101" pitchFamily="2" charset="-122"/>
              </a:rPr>
              <a:t>while</a:t>
            </a:r>
            <a:r>
              <a:rPr lang="zh-CN" altLang="en-US" dirty="0">
                <a:ea typeface="宋体" panose="02010600030101010101" pitchFamily="2" charset="-122"/>
              </a:rPr>
              <a:t>语句的关系</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另外，如果翻译方案中</a:t>
            </a:r>
            <a:r>
              <a:rPr lang="en-US" altLang="zh-CN" dirty="0">
                <a:ea typeface="宋体" panose="02010600030101010101" pitchFamily="2" charset="-122"/>
              </a:rPr>
              <a:t>stmts-&gt;stmts</a:t>
            </a:r>
            <a:r>
              <a:rPr lang="zh-CN" altLang="en-US" dirty="0">
                <a:ea typeface="宋体" panose="02010600030101010101" pitchFamily="2" charset="-122"/>
              </a:rPr>
              <a:t>，</a:t>
            </a:r>
            <a:r>
              <a:rPr lang="en-US" altLang="zh-CN" dirty="0">
                <a:ea typeface="宋体" panose="02010600030101010101" pitchFamily="2" charset="-122"/>
              </a:rPr>
              <a:t>stmt</a:t>
            </a:r>
            <a:r>
              <a:rPr lang="zh-CN" altLang="en-US" dirty="0">
                <a:ea typeface="宋体" panose="02010600030101010101" pitchFamily="2" charset="-122"/>
              </a:rPr>
              <a:t>，改为</a:t>
            </a:r>
            <a:r>
              <a:rPr lang="en-US" altLang="zh-CN" dirty="0">
                <a:ea typeface="宋体" panose="02010600030101010101" pitchFamily="2" charset="-122"/>
              </a:rPr>
              <a:t>stmts-&gt;stmt</a:t>
            </a:r>
            <a:r>
              <a:rPr lang="zh-CN" altLang="en-US" dirty="0">
                <a:ea typeface="宋体" panose="02010600030101010101" pitchFamily="2" charset="-122"/>
              </a:rPr>
              <a:t>，</a:t>
            </a:r>
            <a:r>
              <a:rPr lang="en-US" altLang="zh-CN" dirty="0">
                <a:ea typeface="宋体" panose="02010600030101010101" pitchFamily="2" charset="-122"/>
              </a:rPr>
              <a:t>stmts</a:t>
            </a:r>
            <a:r>
              <a:rPr lang="zh-CN" altLang="en-US" dirty="0">
                <a:ea typeface="宋体" panose="02010600030101010101" pitchFamily="2" charset="-122"/>
              </a:rPr>
              <a:t>，会有什么效果？</a:t>
            </a:r>
            <a:endParaRPr lang="zh-CN" altLang="en-US" dirty="0">
              <a:ea typeface="宋体" panose="02010600030101010101" pitchFamily="2" charset="-122"/>
            </a:endParaRPr>
          </a:p>
        </p:txBody>
      </p:sp>
      <p:sp>
        <p:nvSpPr>
          <p:cNvPr id="153604" name="灯片编号占位符 3"/>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5651" name="Rectangle 2"/>
          <p:cNvSpPr>
            <a:spLocks noGrp="1" noRot="1" noChangeAspect="1" noTextEdit="1"/>
          </p:cNvSpPr>
          <p:nvPr>
            <p:ph type="sldImg"/>
          </p:nvPr>
        </p:nvSpPr>
        <p:spPr/>
      </p:sp>
      <p:sp>
        <p:nvSpPr>
          <p:cNvPr id="155652" name="Rectangle 3"/>
          <p:cNvSpPr>
            <a:spLocks noGrp="1"/>
          </p:cNvSpPr>
          <p:nvPr>
            <p:ph type="body" idx="1"/>
          </p:nvPr>
        </p:nvSpPr>
        <p:spPr/>
        <p:txBody>
          <a:bodyPr wrap="square" lIns="91534" tIns="45768" rIns="91534" bIns="45768" anchor="t" anchorCtr="0"/>
          <a:p>
            <a:pPr lvl="0"/>
            <a:r>
              <a:rPr lang="zh-CN" altLang="en-US" dirty="0">
                <a:ea typeface="宋体" panose="02010600030101010101" pitchFamily="2" charset="-122"/>
              </a:rPr>
              <a:t>目前的文法可以生成类似于</a:t>
            </a:r>
            <a:r>
              <a:rPr lang="en-US" altLang="zh-CN" dirty="0">
                <a:ea typeface="宋体" panose="02010600030101010101" pitchFamily="2" charset="-122"/>
              </a:rPr>
              <a:t>5+3=7</a:t>
            </a:r>
            <a:r>
              <a:rPr lang="zh-CN" altLang="en-US" dirty="0">
                <a:ea typeface="宋体" panose="02010600030101010101" pitchFamily="2" charset="-122"/>
              </a:rPr>
              <a:t>的语句吗？ </a:t>
            </a:r>
            <a:endParaRPr lang="en-US" altLang="zh-CN" dirty="0">
              <a:ea typeface="宋体" panose="02010600030101010101" pitchFamily="2" charset="-122"/>
            </a:endParaRPr>
          </a:p>
          <a:p>
            <a:pPr lvl="0"/>
            <a:r>
              <a:rPr lang="en-US" altLang="zh-CN" dirty="0">
                <a:ea typeface="宋体" panose="02010600030101010101" pitchFamily="2" charset="-122"/>
              </a:rPr>
              <a:t>	</a:t>
            </a:r>
            <a:r>
              <a:rPr lang="zh-CN" altLang="en-US" dirty="0">
                <a:ea typeface="宋体" panose="02010600030101010101" pitchFamily="2" charset="-122"/>
              </a:rPr>
              <a:t>如果能，合理吗？怎么规避？</a:t>
            </a:r>
            <a:endParaRPr lang="en-US" altLang="zh-CN" dirty="0">
              <a:ea typeface="宋体" panose="02010600030101010101" pitchFamily="2" charset="-122"/>
            </a:endParaRPr>
          </a:p>
          <a:p>
            <a:pPr lvl="0"/>
            <a:r>
              <a:rPr lang="en-US" altLang="zh-CN" dirty="0">
                <a:ea typeface="宋体" panose="02010600030101010101" pitchFamily="2" charset="-122"/>
              </a:rPr>
              <a:t>	</a:t>
            </a:r>
            <a:r>
              <a:rPr lang="zh-CN" altLang="en-US" dirty="0">
                <a:ea typeface="宋体" panose="02010600030101010101" pitchFamily="2" charset="-122"/>
              </a:rPr>
              <a:t>如果不能，为什么？</a:t>
            </a:r>
            <a:endParaRPr lang="zh-CN" altLang="en-US" dirty="0">
              <a:ea typeface="宋体" panose="02010600030101010101" pitchFamily="2" charset="-122"/>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7699" name="Rectangle 2"/>
          <p:cNvSpPr>
            <a:spLocks noGrp="1" noRot="1" noChangeAspect="1" noTextEdit="1"/>
          </p:cNvSpPr>
          <p:nvPr>
            <p:ph type="sldImg"/>
          </p:nvPr>
        </p:nvSpPr>
        <p:spPr/>
      </p:sp>
      <p:sp>
        <p:nvSpPr>
          <p:cNvPr id="157700"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9747" name="Rectangle 2"/>
          <p:cNvSpPr>
            <a:spLocks noGrp="1" noRot="1" noChangeAspect="1" noTextEdit="1"/>
          </p:cNvSpPr>
          <p:nvPr>
            <p:ph type="sldImg"/>
          </p:nvPr>
        </p:nvSpPr>
        <p:spPr/>
      </p:sp>
      <p:sp>
        <p:nvSpPr>
          <p:cNvPr id="159748"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61795" name="Rectangle 2"/>
          <p:cNvSpPr>
            <a:spLocks noGrp="1" noRot="1" noChangeAspect="1" noTextEdit="1"/>
          </p:cNvSpPr>
          <p:nvPr>
            <p:ph type="sldImg"/>
          </p:nvPr>
        </p:nvSpPr>
        <p:spPr/>
      </p:sp>
      <p:sp>
        <p:nvSpPr>
          <p:cNvPr id="161796" name="Rectangle 3"/>
          <p:cNvSpPr>
            <a:spLocks noGrp="1"/>
          </p:cNvSpPr>
          <p:nvPr>
            <p:ph type="body" idx="1"/>
          </p:nvPr>
        </p:nvSpPr>
        <p:spPr/>
        <p:txBody>
          <a:bodyPr wrap="square" lIns="91534" tIns="45768" rIns="91534" bIns="45768" anchor="t" anchorCtr="0"/>
          <a:p>
            <a:pPr lvl="0"/>
            <a:r>
              <a:rPr lang="zh-CN" altLang="en-US" dirty="0">
                <a:ea typeface="宋体" panose="02010600030101010101" pitchFamily="2" charset="-122"/>
              </a:rPr>
              <a:t>例子中赋值语句的翻译方案不允许强制类型转换（其实这样对于尽早发现错误可能更有力），如果语言允许强制类型转换（哪些情况可以进行强制类型转换是语言规范规定的）</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en-US" altLang="zh-CN" dirty="0">
                <a:ea typeface="宋体" panose="02010600030101010101" pitchFamily="2" charset="-122"/>
              </a:rPr>
              <a:t>If</a:t>
            </a:r>
            <a:r>
              <a:rPr lang="zh-CN" altLang="en-US" dirty="0">
                <a:ea typeface="宋体" panose="02010600030101010101" pitchFamily="2" charset="-122"/>
              </a:rPr>
              <a:t>语句和</a:t>
            </a:r>
            <a:r>
              <a:rPr lang="en-US" altLang="zh-CN" dirty="0">
                <a:ea typeface="宋体" panose="02010600030101010101" pitchFamily="2" charset="-122"/>
              </a:rPr>
              <a:t>while</a:t>
            </a:r>
            <a:r>
              <a:rPr lang="zh-CN" altLang="en-US" dirty="0">
                <a:ea typeface="宋体" panose="02010600030101010101" pitchFamily="2" charset="-122"/>
              </a:rPr>
              <a:t>语句作类型检查的工作差不多</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最后一个表达式的翻译方案中潜在是允许强制类型转换的，并且通过</a:t>
            </a:r>
            <a:r>
              <a:rPr lang="en-US" altLang="zh-CN" dirty="0">
                <a:ea typeface="宋体" panose="02010600030101010101" pitchFamily="2" charset="-122"/>
              </a:rPr>
              <a:t>op</a:t>
            </a:r>
            <a:r>
              <a:rPr lang="zh-CN" altLang="en-US" dirty="0">
                <a:ea typeface="宋体" panose="02010600030101010101" pitchFamily="2" charset="-122"/>
              </a:rPr>
              <a:t>的上下文来解决其重载问题</a:t>
            </a:r>
            <a:endParaRPr lang="zh-CN" altLang="en-US" dirty="0">
              <a:ea typeface="宋体" panose="02010600030101010101" pitchFamily="2" charset="-122"/>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63843" name="Rectangle 2"/>
          <p:cNvSpPr>
            <a:spLocks noGrp="1" noRot="1" noChangeAspect="1" noTextEdit="1"/>
          </p:cNvSpPr>
          <p:nvPr>
            <p:ph type="sldImg"/>
          </p:nvPr>
        </p:nvSpPr>
        <p:spPr/>
      </p:sp>
      <p:sp>
        <p:nvSpPr>
          <p:cNvPr id="163844"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65891" name="Rectangle 2"/>
          <p:cNvSpPr>
            <a:spLocks noGrp="1" noRot="1" noChangeAspect="1" noTextEdit="1"/>
          </p:cNvSpPr>
          <p:nvPr>
            <p:ph type="sldImg"/>
          </p:nvPr>
        </p:nvSpPr>
        <p:spPr/>
      </p:sp>
      <p:sp>
        <p:nvSpPr>
          <p:cNvPr id="165892"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67939" name="Rectangle 2"/>
          <p:cNvSpPr>
            <a:spLocks noGrp="1" noRot="1" noChangeAspect="1" noTextEdit="1"/>
          </p:cNvSpPr>
          <p:nvPr>
            <p:ph type="sldImg"/>
          </p:nvPr>
        </p:nvSpPr>
        <p:spPr/>
      </p:sp>
      <p:sp>
        <p:nvSpPr>
          <p:cNvPr id="167940"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69987" name="Rectangle 2"/>
          <p:cNvSpPr>
            <a:spLocks noGrp="1" noRot="1" noChangeAspect="1" noTextEdit="1"/>
          </p:cNvSpPr>
          <p:nvPr>
            <p:ph type="sldImg"/>
          </p:nvPr>
        </p:nvSpPr>
        <p:spPr/>
      </p:sp>
      <p:sp>
        <p:nvSpPr>
          <p:cNvPr id="169988" name="Rectangle 3"/>
          <p:cNvSpPr>
            <a:spLocks noGrp="1"/>
          </p:cNvSpPr>
          <p:nvPr>
            <p:ph type="body" idx="1"/>
          </p:nvPr>
        </p:nvSpPr>
        <p:spPr/>
        <p:txBody>
          <a:bodyPr wrap="square" lIns="91534" tIns="45768" rIns="91534" bIns="45768" anchor="t" anchorCtr="0"/>
          <a:p>
            <a:pPr lvl="0"/>
            <a:r>
              <a:rPr lang="zh-CN" altLang="en-US" dirty="0">
                <a:ea typeface="宋体" panose="02010600030101010101" pitchFamily="2" charset="-122"/>
              </a:rPr>
              <a:t>表达式的翻译有几方面的工作：</a:t>
            </a:r>
            <a:endParaRPr lang="en-US" altLang="zh-CN" dirty="0">
              <a:ea typeface="宋体" panose="02010600030101010101" pitchFamily="2" charset="-122"/>
            </a:endParaRPr>
          </a:p>
          <a:p>
            <a:pPr lvl="0"/>
            <a:r>
              <a:rPr lang="en-US" altLang="zh-CN" dirty="0">
                <a:ea typeface="宋体" panose="02010600030101010101" pitchFamily="2" charset="-122"/>
              </a:rPr>
              <a:t>1</a:t>
            </a:r>
            <a:r>
              <a:rPr lang="zh-CN" altLang="en-US" dirty="0">
                <a:ea typeface="宋体" panose="02010600030101010101" pitchFamily="2" charset="-122"/>
              </a:rPr>
              <a:t>）根据算符的语义以及运算对象翻译</a:t>
            </a:r>
            <a:endParaRPr lang="en-US" altLang="zh-CN" dirty="0">
              <a:ea typeface="宋体" panose="02010600030101010101" pitchFamily="2" charset="-122"/>
            </a:endParaRPr>
          </a:p>
          <a:p>
            <a:pPr lvl="0"/>
            <a:r>
              <a:rPr lang="en-US" altLang="zh-CN" dirty="0">
                <a:ea typeface="宋体" panose="02010600030101010101" pitchFamily="2" charset="-122"/>
              </a:rPr>
              <a:t>2</a:t>
            </a:r>
            <a:r>
              <a:rPr lang="zh-CN" altLang="en-US" dirty="0">
                <a:ea typeface="宋体" panose="02010600030101010101" pitchFamily="2" charset="-122"/>
              </a:rPr>
              <a:t>）对于非标量类型的变量（如数组）等确定其访问的存储单元</a:t>
            </a:r>
            <a:endParaRPr lang="en-US" altLang="zh-CN" dirty="0">
              <a:ea typeface="宋体" panose="02010600030101010101" pitchFamily="2" charset="-122"/>
            </a:endParaRPr>
          </a:p>
          <a:p>
            <a:pPr lvl="0"/>
            <a:r>
              <a:rPr lang="en-US" altLang="zh-CN" dirty="0">
                <a:ea typeface="宋体" panose="02010600030101010101" pitchFamily="2" charset="-122"/>
              </a:rPr>
              <a:t>3</a:t>
            </a:r>
            <a:r>
              <a:rPr lang="zh-CN" altLang="en-US" dirty="0">
                <a:ea typeface="宋体" panose="02010600030101010101" pitchFamily="2" charset="-122"/>
              </a:rPr>
              <a:t>）可否利用短路代码等形式简化表达式的执行等方式改进表达式的代码</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但是此处介绍的是一个简单的表达式文法的翻译</a:t>
            </a:r>
            <a:endParaRPr lang="zh-CN" altLang="en-US" dirty="0">
              <a:ea typeface="宋体" panose="02010600030101010101" pitchFamily="2" charset="-122"/>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2035" name="Rectangle 2"/>
          <p:cNvSpPr>
            <a:spLocks noGrp="1" noRot="1" noChangeAspect="1" noTextEdit="1"/>
          </p:cNvSpPr>
          <p:nvPr>
            <p:ph type="sldImg"/>
          </p:nvPr>
        </p:nvSpPr>
        <p:spPr/>
      </p:sp>
      <p:sp>
        <p:nvSpPr>
          <p:cNvPr id="172036"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4083" name="Rectangle 2"/>
          <p:cNvSpPr>
            <a:spLocks noGrp="1" noRot="1" noChangeAspect="1" noTextEdit="1"/>
          </p:cNvSpPr>
          <p:nvPr>
            <p:ph type="sldImg"/>
          </p:nvPr>
        </p:nvSpPr>
        <p:spPr/>
      </p:sp>
      <p:sp>
        <p:nvSpPr>
          <p:cNvPr id="174084"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7155" name="Rectangle 2"/>
          <p:cNvSpPr>
            <a:spLocks noGrp="1" noRot="1" noChangeAspect="1" noTextEdit="1"/>
          </p:cNvSpPr>
          <p:nvPr>
            <p:ph type="sldImg"/>
          </p:nvPr>
        </p:nvSpPr>
        <p:spPr/>
      </p:sp>
      <p:sp>
        <p:nvSpPr>
          <p:cNvPr id="177156" name="Rectangle 3"/>
          <p:cNvSpPr>
            <a:spLocks noGrp="1"/>
          </p:cNvSpPr>
          <p:nvPr>
            <p:ph type="body" idx="1"/>
          </p:nvPr>
        </p:nvSpPr>
        <p:spPr/>
        <p:txBody>
          <a:bodyPr wrap="square" lIns="91534" tIns="45768" rIns="91534" bIns="45768" anchor="t" anchorCtr="0"/>
          <a:p>
            <a:pPr lvl="0"/>
            <a:r>
              <a:rPr lang="zh-CN" altLang="en-US" dirty="0">
                <a:ea typeface="宋体" panose="02010600030101010101" pitchFamily="2" charset="-122"/>
              </a:rPr>
              <a:t>注意</a:t>
            </a:r>
            <a:r>
              <a:rPr lang="en-US" altLang="zh-CN" dirty="0">
                <a:ea typeface="宋体" panose="02010600030101010101" pitchFamily="2" charset="-122"/>
              </a:rPr>
              <a:t>rvalue</a:t>
            </a:r>
            <a:r>
              <a:rPr lang="zh-CN" altLang="en-US" dirty="0">
                <a:ea typeface="宋体" panose="02010600030101010101" pitchFamily="2" charset="-122"/>
              </a:rPr>
              <a:t>中函数调用的顺序与此例子中</a:t>
            </a:r>
            <a:r>
              <a:rPr lang="en-US" altLang="zh-CN" dirty="0">
                <a:ea typeface="宋体" panose="02010600030101010101" pitchFamily="2" charset="-122"/>
              </a:rPr>
              <a:t>t3</a:t>
            </a:r>
            <a:r>
              <a:rPr lang="zh-CN" altLang="en-US" dirty="0">
                <a:ea typeface="宋体" panose="02010600030101010101" pitchFamily="2" charset="-122"/>
              </a:rPr>
              <a:t>、</a:t>
            </a:r>
            <a:r>
              <a:rPr lang="en-US" altLang="zh-CN" dirty="0">
                <a:ea typeface="宋体" panose="02010600030101010101" pitchFamily="2" charset="-122"/>
              </a:rPr>
              <a:t>t2</a:t>
            </a:r>
            <a:r>
              <a:rPr lang="zh-CN" altLang="en-US" dirty="0">
                <a:ea typeface="宋体" panose="02010600030101010101" pitchFamily="2" charset="-122"/>
              </a:rPr>
              <a:t>、</a:t>
            </a:r>
            <a:r>
              <a:rPr lang="en-US" altLang="zh-CN" dirty="0">
                <a:ea typeface="宋体" panose="02010600030101010101" pitchFamily="2" charset="-122"/>
              </a:rPr>
              <a:t>t1</a:t>
            </a:r>
            <a:r>
              <a:rPr lang="zh-CN" altLang="en-US" dirty="0">
                <a:ea typeface="宋体" panose="02010600030101010101" pitchFamily="2" charset="-122"/>
              </a:rPr>
              <a:t>的初选顺序</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解释一下临时变量如何避免重名</a:t>
            </a:r>
            <a:endParaRPr lang="zh-CN" altLang="en-US" dirty="0">
              <a:ea typeface="宋体" panose="02010600030101010101" pitchFamily="2" charset="-122"/>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9203" name="Rectangle 2"/>
          <p:cNvSpPr>
            <a:spLocks noGrp="1" noRot="1" noChangeAspect="1" noTextEdit="1"/>
          </p:cNvSpPr>
          <p:nvPr>
            <p:ph type="sldImg"/>
          </p:nvPr>
        </p:nvSpPr>
        <p:spPr/>
      </p:sp>
      <p:sp>
        <p:nvSpPr>
          <p:cNvPr id="179204"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1251" name="Rectangle 2"/>
          <p:cNvSpPr>
            <a:spLocks noGrp="1" noRot="1" noChangeAspect="1" noTextEdit="1"/>
          </p:cNvSpPr>
          <p:nvPr>
            <p:ph type="sldImg"/>
          </p:nvPr>
        </p:nvSpPr>
        <p:spPr/>
      </p:sp>
      <p:sp>
        <p:nvSpPr>
          <p:cNvPr id="181252"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3299" name="Rectangle 2"/>
          <p:cNvSpPr>
            <a:spLocks noGrp="1" noRot="1" noChangeAspect="1" noTextEdit="1"/>
          </p:cNvSpPr>
          <p:nvPr>
            <p:ph type="sldImg"/>
          </p:nvPr>
        </p:nvSpPr>
        <p:spPr/>
      </p:sp>
      <p:sp>
        <p:nvSpPr>
          <p:cNvPr id="183300"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676400"/>
            <a:ext cx="3695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62500" y="1676400"/>
            <a:ext cx="3695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457200"/>
            <a:ext cx="1885950"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914400" y="457200"/>
            <a:ext cx="5505450" cy="57150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122" name="Rectangle 2"/>
          <p:cNvSpPr>
            <a:spLocks noGrp="1" noChangeArrowheads="1"/>
          </p:cNvSpPr>
          <p:nvPr>
            <p:ph type="dt" sz="half" idx="2"/>
          </p:nvPr>
        </p:nvSpPr>
        <p:spPr bwMode="auto">
          <a:xfrm>
            <a:off x="914400" y="6400800"/>
            <a:ext cx="1905000" cy="457200"/>
          </a:xfrm>
          <a:prstGeom prst="rect">
            <a:avLst/>
          </a:prstGeom>
          <a:noFill/>
          <a:ln>
            <a:noFill/>
          </a:ln>
          <a:effectLst/>
        </p:spPr>
        <p:txBody>
          <a:bodyPr vert="horz" wrap="none" lIns="92075" tIns="46038" rIns="92075" bIns="46038" numCol="1" anchor="ctr" anchorCtr="0" compatLnSpc="1"/>
          <a:lstStyle>
            <a:lvl1pPr>
              <a:defRPr sz="1400">
                <a:latin typeface="Times New Roman" panose="02020603050405020304" pitchFamily="18" charset="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3" name="Rectangle 3"/>
          <p:cNvSpPr>
            <a:spLocks noGrp="1" noChangeArrowheads="1"/>
          </p:cNvSpPr>
          <p:nvPr>
            <p:ph type="ftr" sz="quarter" idx="3"/>
          </p:nvPr>
        </p:nvSpPr>
        <p:spPr bwMode="auto">
          <a:xfrm>
            <a:off x="3124200" y="6400800"/>
            <a:ext cx="2895600" cy="457200"/>
          </a:xfrm>
          <a:prstGeom prst="rect">
            <a:avLst/>
          </a:prstGeom>
          <a:noFill/>
          <a:ln>
            <a:noFill/>
          </a:ln>
          <a:effectLst/>
        </p:spPr>
        <p:txBody>
          <a:bodyPr vert="horz" wrap="none" lIns="92075" tIns="46038" rIns="92075" bIns="46038" numCol="1" anchor="ctr" anchorCtr="0" compatLnSpc="1"/>
          <a:lstStyle>
            <a:lvl1pPr algn="ctr">
              <a:defRPr sz="1400">
                <a:latin typeface="Times New Roman" panose="02020603050405020304" pitchFamily="18" charset="0"/>
                <a:ea typeface="宋体" panose="02010600030101010101" pitchFamily="2"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4" name="Rectangle 4"/>
          <p:cNvSpPr>
            <a:spLocks noGrp="1" noChangeArrowheads="1"/>
          </p:cNvSpPr>
          <p:nvPr>
            <p:ph type="sldNum" sz="quarter" idx="4"/>
          </p:nvPr>
        </p:nvSpPr>
        <p:spPr bwMode="auto">
          <a:xfrm>
            <a:off x="6553200" y="6400800"/>
            <a:ext cx="1905000" cy="457200"/>
          </a:xfrm>
          <a:prstGeom prst="rect">
            <a:avLst/>
          </a:prstGeom>
          <a:noFill/>
          <a:ln>
            <a:noFill/>
          </a:ln>
          <a:effectLst/>
        </p:spPr>
        <p:txBody>
          <a:bodyPr vert="horz" wrap="none" lIns="92075" tIns="46038" rIns="92075" bIns="46038" numCol="1" anchor="ctr" anchorCtr="0" compatLnSpc="1"/>
          <a:lstStyle>
            <a:lvl1pPr algn="r">
              <a:defRPr sz="1400">
                <a:latin typeface="Times New Roman" panose="02020603050405020304" pitchFamily="18" charset="0"/>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p:cNvSpPr>
          <p:nvPr>
            <p:ph type="title"/>
          </p:nvPr>
        </p:nvSpPr>
        <p:spPr>
          <a:xfrm>
            <a:off x="914400" y="457200"/>
            <a:ext cx="7543800" cy="914400"/>
          </a:xfrm>
          <a:prstGeom prst="rect">
            <a:avLst/>
          </a:prstGeom>
          <a:noFill/>
          <a:ln w="9525">
            <a:noFill/>
          </a:ln>
        </p:spPr>
        <p:txBody>
          <a:bodyPr lIns="92075" tIns="46038" rIns="92075" bIns="46038" anchor="ctr" anchorCtr="0"/>
          <a:p>
            <a:pPr lvl="0"/>
            <a:r>
              <a:rPr lang="en-US" altLang="zh-CN" dirty="0"/>
              <a:t>Click to edit Master title style</a:t>
            </a:r>
            <a:endParaRPr lang="en-US" altLang="zh-CN" dirty="0"/>
          </a:p>
        </p:txBody>
      </p:sp>
      <p:sp>
        <p:nvSpPr>
          <p:cNvPr id="1030" name="Rectangle 6"/>
          <p:cNvSpPr>
            <a:spLocks noGrp="1"/>
          </p:cNvSpPr>
          <p:nvPr>
            <p:ph type="body" idx="1"/>
          </p:nvPr>
        </p:nvSpPr>
        <p:spPr>
          <a:xfrm>
            <a:off x="914400" y="1676400"/>
            <a:ext cx="7543800" cy="4495800"/>
          </a:xfrm>
          <a:prstGeom prst="rect">
            <a:avLst/>
          </a:prstGeom>
          <a:noFill/>
          <a:ln w="9525">
            <a:noFill/>
          </a:ln>
        </p:spPr>
        <p:txBody>
          <a:bodyPr lIns="92075" tIns="46038" rIns="92075" bIns="46038"/>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31" name="Rectangle 13"/>
          <p:cNvSpPr>
            <a:spLocks noChangeArrowheads="1"/>
          </p:cNvSpPr>
          <p:nvPr/>
        </p:nvSpPr>
        <p:spPr bwMode="auto">
          <a:xfrm>
            <a:off x="288925" y="425450"/>
            <a:ext cx="8574088" cy="1173163"/>
          </a:xfrm>
          <a:prstGeom prst="rect">
            <a:avLst/>
          </a:prstGeom>
          <a:noFill/>
          <a:ln>
            <a:noFill/>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2" name="Rectangle 14"/>
          <p:cNvSpPr>
            <a:spLocks noChangeArrowheads="1"/>
          </p:cNvSpPr>
          <p:nvPr/>
        </p:nvSpPr>
        <p:spPr bwMode="auto">
          <a:xfrm>
            <a:off x="4191000" y="6477000"/>
            <a:ext cx="390525" cy="304800"/>
          </a:xfrm>
          <a:prstGeom prst="rect">
            <a:avLst/>
          </a:prstGeom>
          <a:noFill/>
          <a:ln>
            <a:noFill/>
          </a:ln>
          <a:effectLst/>
        </p:spPr>
        <p:txBody>
          <a:bodyPr wrap="none" lIns="92075" tIns="46038" rIns="92075" bIns="46038">
            <a:spAutoFit/>
          </a:bodyPr>
          <a:p>
            <a:pPr lvl="0">
              <a:buNone/>
            </a:pPr>
            <a:fld id="{9A0DB2DC-4C9A-4742-B13C-FB6460FD3503}" type="slidenum">
              <a:rPr lang="zh-CN" altLang="en-US" sz="1400" dirty="0">
                <a:solidFill>
                  <a:schemeClr val="tx2"/>
                </a:solidFill>
                <a:latin typeface="Times New Roman" panose="02020603050405020304" pitchFamily="18" charset="0"/>
                <a:ea typeface="宋体" panose="02010600030101010101" pitchFamily="2" charset="-122"/>
              </a:rPr>
            </a:fld>
            <a:endParaRPr lang="zh-CN" altLang="en-US" sz="1400" dirty="0">
              <a:solidFill>
                <a:schemeClr val="tx2"/>
              </a:solidFill>
              <a:latin typeface="Arial" panose="020B0604020202020204" pitchFamily="34" charset="0"/>
              <a:ea typeface="宋体" panose="02010600030101010101" pitchFamily="2" charset="-122"/>
            </a:endParaRPr>
          </a:p>
        </p:txBody>
      </p:sp>
      <p:pic>
        <p:nvPicPr>
          <p:cNvPr id="1033" name="Picture 15" descr="ict1"/>
          <p:cNvPicPr>
            <a:picLocks noChangeAspect="1"/>
          </p:cNvPicPr>
          <p:nvPr/>
        </p:nvPicPr>
        <p:blipFill>
          <a:blip r:embed="rId12"/>
          <a:stretch>
            <a:fillRect/>
          </a:stretch>
        </p:blipFill>
        <p:spPr>
          <a:xfrm>
            <a:off x="152400" y="223838"/>
            <a:ext cx="3505200" cy="538162"/>
          </a:xfrm>
          <a:prstGeom prst="rect">
            <a:avLst/>
          </a:prstGeom>
          <a:noFill/>
          <a:ln w="9525">
            <a:noFill/>
          </a:ln>
        </p:spPr>
      </p:pic>
      <p:sp>
        <p:nvSpPr>
          <p:cNvPr id="1034" name="Rectangle 17"/>
          <p:cNvSpPr>
            <a:spLocks noChangeArrowheads="1"/>
          </p:cNvSpPr>
          <p:nvPr/>
        </p:nvSpPr>
        <p:spPr bwMode="gray">
          <a:xfrm>
            <a:off x="917575" y="1339850"/>
            <a:ext cx="8226425" cy="31750"/>
          </a:xfrm>
          <a:prstGeom prst="rect">
            <a:avLst/>
          </a:prstGeom>
          <a:gradFill rotWithShape="0">
            <a:gsLst>
              <a:gs pos="0">
                <a:schemeClr val="bg2"/>
              </a:gs>
              <a:gs pos="100000">
                <a:schemeClr val="bg1"/>
              </a:gs>
            </a:gsLst>
            <a:lin ang="0" scaled="1"/>
          </a:gradFill>
          <a:ln>
            <a:noFill/>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hf sldNum="0" hdr="0" ftr="0" dt="0"/>
  <p:txStyles>
    <p:titleStyle>
      <a:lvl1pPr algn="ctr" rtl="0" eaLnBrk="0" fontAlgn="base" hangingPunct="0">
        <a:spcBef>
          <a:spcPct val="0"/>
        </a:spcBef>
        <a:spcAft>
          <a:spcPct val="0"/>
        </a:spcAft>
        <a:defRPr sz="3200" b="1">
          <a:solidFill>
            <a:srgbClr val="063DE8"/>
          </a:solidFill>
          <a:latin typeface="+mj-lt"/>
          <a:ea typeface="+mj-ea"/>
          <a:cs typeface="+mj-cs"/>
        </a:defRPr>
      </a:lvl1pPr>
      <a:lvl2pPr algn="ctr" rtl="0" eaLnBrk="0" fontAlgn="base" hangingPunct="0">
        <a:spcBef>
          <a:spcPct val="0"/>
        </a:spcBef>
        <a:spcAft>
          <a:spcPct val="0"/>
        </a:spcAft>
        <a:defRPr sz="3200" b="1">
          <a:solidFill>
            <a:srgbClr val="063DE8"/>
          </a:solidFill>
          <a:latin typeface="Book Antiqua" panose="02040602050305030304" pitchFamily="18" charset="0"/>
        </a:defRPr>
      </a:lvl2pPr>
      <a:lvl3pPr algn="ctr" rtl="0" eaLnBrk="0" fontAlgn="base" hangingPunct="0">
        <a:spcBef>
          <a:spcPct val="0"/>
        </a:spcBef>
        <a:spcAft>
          <a:spcPct val="0"/>
        </a:spcAft>
        <a:defRPr sz="3200" b="1">
          <a:solidFill>
            <a:srgbClr val="063DE8"/>
          </a:solidFill>
          <a:latin typeface="Book Antiqua" panose="02040602050305030304" pitchFamily="18" charset="0"/>
        </a:defRPr>
      </a:lvl3pPr>
      <a:lvl4pPr algn="ctr" rtl="0" eaLnBrk="0" fontAlgn="base" hangingPunct="0">
        <a:spcBef>
          <a:spcPct val="0"/>
        </a:spcBef>
        <a:spcAft>
          <a:spcPct val="0"/>
        </a:spcAft>
        <a:defRPr sz="3200" b="1">
          <a:solidFill>
            <a:srgbClr val="063DE8"/>
          </a:solidFill>
          <a:latin typeface="Book Antiqua" panose="02040602050305030304" pitchFamily="18" charset="0"/>
        </a:defRPr>
      </a:lvl4pPr>
      <a:lvl5pPr algn="ctr" rtl="0" eaLnBrk="0" fontAlgn="base" hangingPunct="0">
        <a:spcBef>
          <a:spcPct val="0"/>
        </a:spcBef>
        <a:spcAft>
          <a:spcPct val="0"/>
        </a:spcAft>
        <a:defRPr sz="3200" b="1">
          <a:solidFill>
            <a:srgbClr val="063DE8"/>
          </a:solidFill>
          <a:latin typeface="Book Antiqua" panose="02040602050305030304" pitchFamily="18" charset="0"/>
        </a:defRPr>
      </a:lvl5pPr>
      <a:lvl6pPr marL="457200" algn="ctr" rtl="0" eaLnBrk="0" fontAlgn="base" hangingPunct="0">
        <a:spcBef>
          <a:spcPct val="0"/>
        </a:spcBef>
        <a:spcAft>
          <a:spcPct val="0"/>
        </a:spcAft>
        <a:defRPr sz="3200" b="1">
          <a:solidFill>
            <a:srgbClr val="063DE8"/>
          </a:solidFill>
          <a:latin typeface="Book Antiqua" panose="02040602050305030304" pitchFamily="18" charset="0"/>
        </a:defRPr>
      </a:lvl6pPr>
      <a:lvl7pPr marL="914400" algn="ctr" rtl="0" eaLnBrk="0" fontAlgn="base" hangingPunct="0">
        <a:spcBef>
          <a:spcPct val="0"/>
        </a:spcBef>
        <a:spcAft>
          <a:spcPct val="0"/>
        </a:spcAft>
        <a:defRPr sz="3200" b="1">
          <a:solidFill>
            <a:srgbClr val="063DE8"/>
          </a:solidFill>
          <a:latin typeface="Book Antiqua" panose="02040602050305030304" pitchFamily="18" charset="0"/>
        </a:defRPr>
      </a:lvl7pPr>
      <a:lvl8pPr marL="1371600" algn="ctr" rtl="0" eaLnBrk="0" fontAlgn="base" hangingPunct="0">
        <a:spcBef>
          <a:spcPct val="0"/>
        </a:spcBef>
        <a:spcAft>
          <a:spcPct val="0"/>
        </a:spcAft>
        <a:defRPr sz="3200" b="1">
          <a:solidFill>
            <a:srgbClr val="063DE8"/>
          </a:solidFill>
          <a:latin typeface="Book Antiqua" panose="02040602050305030304" pitchFamily="18" charset="0"/>
        </a:defRPr>
      </a:lvl8pPr>
      <a:lvl9pPr marL="1828800" algn="ctr" rtl="0" eaLnBrk="0" fontAlgn="base" hangingPunct="0">
        <a:spcBef>
          <a:spcPct val="0"/>
        </a:spcBef>
        <a:spcAft>
          <a:spcPct val="0"/>
        </a:spcAft>
        <a:defRPr sz="3200" b="1">
          <a:solidFill>
            <a:srgbClr val="063DE8"/>
          </a:solidFill>
          <a:latin typeface="Book Antiqua" panose="02040602050305030304" pitchFamily="18" charset="0"/>
        </a:defRPr>
      </a:lvl9pPr>
    </p:titleStyle>
    <p:body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emf"/></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3.e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8.wmf"/><Relationship Id="rId7" Type="http://schemas.openxmlformats.org/officeDocument/2006/relationships/oleObject" Target="../embeddings/oleObject4.bin"/><Relationship Id="rId6" Type="http://schemas.openxmlformats.org/officeDocument/2006/relationships/image" Target="../media/image7.wmf"/><Relationship Id="rId5" Type="http://schemas.openxmlformats.org/officeDocument/2006/relationships/oleObject" Target="../embeddings/oleObject3.bin"/><Relationship Id="rId4" Type="http://schemas.openxmlformats.org/officeDocument/2006/relationships/image" Target="../media/image6.wmf"/><Relationship Id="rId3" Type="http://schemas.openxmlformats.org/officeDocument/2006/relationships/oleObject" Target="../embeddings/oleObject2.bin"/><Relationship Id="rId2" Type="http://schemas.openxmlformats.org/officeDocument/2006/relationships/image" Target="../media/image5.wmf"/><Relationship Id="rId13" Type="http://schemas.openxmlformats.org/officeDocument/2006/relationships/notesSlide" Target="../notesSlides/notesSlide13.xml"/><Relationship Id="rId12" Type="http://schemas.openxmlformats.org/officeDocument/2006/relationships/vmlDrawing" Target="../drawings/vmlDrawing1.vml"/><Relationship Id="rId11" Type="http://schemas.openxmlformats.org/officeDocument/2006/relationships/slideLayout" Target="../slideLayouts/slideLayout2.xml"/><Relationship Id="rId10" Type="http://schemas.openxmlformats.org/officeDocument/2006/relationships/image" Target="../media/image9.w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9.wmf"/><Relationship Id="rId3" Type="http://schemas.openxmlformats.org/officeDocument/2006/relationships/oleObject" Target="../embeddings/oleObject7.bin"/><Relationship Id="rId2" Type="http://schemas.openxmlformats.org/officeDocument/2006/relationships/image" Target="../media/image10.wmf"/><Relationship Id="rId1" Type="http://schemas.openxmlformats.org/officeDocument/2006/relationships/oleObject" Target="../embeddings/oleObject6.bin"/></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12.emf"/><Relationship Id="rId3" Type="http://schemas.openxmlformats.org/officeDocument/2006/relationships/oleObject" Target="../embeddings/oleObject9.bin"/><Relationship Id="rId2" Type="http://schemas.openxmlformats.org/officeDocument/2006/relationships/image" Target="../media/image11.emf"/><Relationship Id="rId1" Type="http://schemas.openxmlformats.org/officeDocument/2006/relationships/oleObject" Target="../embeddings/oleObject8.bin"/></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13.e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14.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15.e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16.emf"/></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17.emf"/></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18.wmf"/></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19.wmf"/></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20.wmf"/></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image" Target="../media/image21.wmf"/></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image" Target="../media/image22.wmf"/></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image" Target="../media/image23.wmf"/></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image" Target="../media/image24.wmf"/></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image" Target="../media/image25.wmf"/></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7.xml"/><Relationship Id="rId1" Type="http://schemas.openxmlformats.org/officeDocument/2006/relationships/image" Target="../media/image26.wmf"/></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image" Target="../media/image28.wmf"/></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wmf"/></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wmf"/></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wmf"/></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5" Type="http://schemas.openxmlformats.org/officeDocument/2006/relationships/notesSlide" Target="../notesSlides/notesSlide65.xml"/><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35.wmf"/><Relationship Id="rId1" Type="http://schemas.openxmlformats.org/officeDocument/2006/relationships/oleObject" Target="../embeddings/oleObject10.bin"/></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wmf"/></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wmf"/></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7.xml"/><Relationship Id="rId1" Type="http://schemas.openxmlformats.org/officeDocument/2006/relationships/image" Target="../media/image39.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2.xml"/><Relationship Id="rId1" Type="http://schemas.openxmlformats.org/officeDocument/2006/relationships/image" Target="../media/image42.wmf"/></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4.wmf"/></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第二章 一个简单的语法制导翻译器</a:t>
            </a:r>
            <a:endParaRPr lang="en-US" altLang="zh-CN" dirty="0">
              <a:latin typeface="宋体" panose="02010600030101010101" pitchFamily="2" charset="-122"/>
              <a:ea typeface="宋体" panose="02010600030101010101" pitchFamily="2" charset="-122"/>
            </a:endParaRPr>
          </a:p>
        </p:txBody>
      </p:sp>
      <p:sp>
        <p:nvSpPr>
          <p:cNvPr id="4099" name="Rectangle 3"/>
          <p:cNvSpPr>
            <a:spLocks noGrp="1"/>
          </p:cNvSpPr>
          <p:nvPr>
            <p:ph idx="1"/>
          </p:nvPr>
        </p:nvSpPr>
        <p:spPr>
          <a:xfrm>
            <a:off x="990600" y="1600200"/>
            <a:ext cx="7391400" cy="4191000"/>
          </a:xfrm>
        </p:spPr>
        <p:txBody>
          <a:bodyPr vert="horz" wrap="square" lIns="92075" tIns="46038" rIns="92075" bIns="46038" anchor="t" anchorCtr="0"/>
          <a:p>
            <a:r>
              <a:rPr lang="zh-CN" altLang="en-US" sz="3200" b="1" dirty="0">
                <a:latin typeface="宋体" panose="02010600030101010101" pitchFamily="2" charset="-122"/>
                <a:ea typeface="宋体" panose="02010600030101010101" pitchFamily="2" charset="-122"/>
              </a:rPr>
              <a:t>引言</a:t>
            </a:r>
            <a:endParaRPr lang="zh-CN" altLang="en-US" sz="3200" b="1" dirty="0">
              <a:latin typeface="宋体" panose="02010600030101010101" pitchFamily="2" charset="-122"/>
              <a:ea typeface="宋体" panose="02010600030101010101" pitchFamily="2" charset="-122"/>
            </a:endParaRPr>
          </a:p>
          <a:p>
            <a:r>
              <a:rPr lang="zh-CN" altLang="en-US" sz="3200" b="1" dirty="0">
                <a:latin typeface="宋体" panose="02010600030101010101" pitchFamily="2" charset="-122"/>
                <a:ea typeface="宋体" panose="02010600030101010101" pitchFamily="2" charset="-122"/>
              </a:rPr>
              <a:t>语法定义</a:t>
            </a:r>
            <a:endParaRPr lang="zh-CN" altLang="en-US" sz="3200" b="1" dirty="0">
              <a:latin typeface="宋体" panose="02010600030101010101" pitchFamily="2" charset="-122"/>
              <a:ea typeface="宋体" panose="02010600030101010101" pitchFamily="2" charset="-122"/>
            </a:endParaRPr>
          </a:p>
          <a:p>
            <a:r>
              <a:rPr lang="zh-CN" altLang="en-US" sz="3200" b="1" dirty="0">
                <a:latin typeface="宋体" panose="02010600030101010101" pitchFamily="2" charset="-122"/>
                <a:ea typeface="宋体" panose="02010600030101010101" pitchFamily="2" charset="-122"/>
              </a:rPr>
              <a:t>语法制导翻译</a:t>
            </a:r>
            <a:endParaRPr lang="zh-CN" altLang="en-US" sz="3200" b="1" dirty="0">
              <a:latin typeface="宋体" panose="02010600030101010101" pitchFamily="2" charset="-122"/>
              <a:ea typeface="宋体" panose="02010600030101010101" pitchFamily="2" charset="-122"/>
            </a:endParaRPr>
          </a:p>
          <a:p>
            <a:r>
              <a:rPr lang="zh-CN" altLang="en-US" sz="3200" b="1" dirty="0">
                <a:latin typeface="宋体" panose="02010600030101010101" pitchFamily="2" charset="-122"/>
                <a:ea typeface="宋体" panose="02010600030101010101" pitchFamily="2" charset="-122"/>
              </a:rPr>
              <a:t>语法分析</a:t>
            </a:r>
            <a:endParaRPr lang="en-US" altLang="zh-CN" sz="3200" b="1" dirty="0">
              <a:latin typeface="宋体" panose="02010600030101010101" pitchFamily="2" charset="-122"/>
              <a:ea typeface="宋体" panose="02010600030101010101" pitchFamily="2" charset="-122"/>
            </a:endParaRPr>
          </a:p>
          <a:p>
            <a:r>
              <a:rPr lang="zh-CN" altLang="en-US" sz="3200" b="1" dirty="0">
                <a:latin typeface="宋体" panose="02010600030101010101" pitchFamily="2" charset="-122"/>
                <a:ea typeface="宋体" panose="02010600030101010101" pitchFamily="2" charset="-122"/>
              </a:rPr>
              <a:t>简单表达式的翻译器</a:t>
            </a:r>
            <a:endParaRPr lang="en-US" altLang="zh-CN" sz="3200" b="1" dirty="0">
              <a:latin typeface="宋体" panose="02010600030101010101" pitchFamily="2" charset="-122"/>
              <a:ea typeface="宋体" panose="02010600030101010101" pitchFamily="2" charset="-122"/>
            </a:endParaRPr>
          </a:p>
          <a:p>
            <a:r>
              <a:rPr lang="zh-CN" altLang="en-US" sz="3200" b="1" dirty="0">
                <a:latin typeface="宋体" panose="02010600030101010101" pitchFamily="2" charset="-122"/>
                <a:ea typeface="宋体" panose="02010600030101010101" pitchFamily="2" charset="-122"/>
              </a:rPr>
              <a:t>词法分析</a:t>
            </a:r>
            <a:endParaRPr lang="en-US" altLang="zh-CN" sz="3200" b="1" dirty="0">
              <a:latin typeface="宋体" panose="02010600030101010101" pitchFamily="2" charset="-122"/>
              <a:ea typeface="宋体" panose="02010600030101010101" pitchFamily="2" charset="-122"/>
            </a:endParaRPr>
          </a:p>
          <a:p>
            <a:r>
              <a:rPr lang="zh-CN" altLang="en-US" sz="3200" b="1" dirty="0">
                <a:latin typeface="宋体" panose="02010600030101010101" pitchFamily="2" charset="-122"/>
                <a:ea typeface="宋体" panose="02010600030101010101" pitchFamily="2" charset="-122"/>
              </a:rPr>
              <a:t>符号表</a:t>
            </a:r>
            <a:endParaRPr lang="en-US" altLang="zh-CN" sz="3200" b="1" dirty="0">
              <a:latin typeface="宋体" panose="02010600030101010101" pitchFamily="2" charset="-122"/>
              <a:ea typeface="宋体" panose="02010600030101010101" pitchFamily="2" charset="-122"/>
            </a:endParaRPr>
          </a:p>
          <a:p>
            <a:r>
              <a:rPr lang="zh-CN" altLang="en-US" sz="3200" b="1" dirty="0">
                <a:latin typeface="宋体" panose="02010600030101010101" pitchFamily="2" charset="-122"/>
                <a:ea typeface="宋体" panose="02010600030101010101" pitchFamily="2" charset="-122"/>
              </a:rPr>
              <a:t>生成中间代码</a:t>
            </a:r>
            <a:endParaRPr lang="zh-CN" altLang="en-US" sz="32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本章目的</a:t>
            </a:r>
            <a:endParaRPr lang="zh-CN" altLang="en-US" dirty="0">
              <a:latin typeface="宋体" panose="02010600030101010101" pitchFamily="2" charset="-122"/>
              <a:ea typeface="宋体" panose="02010600030101010101" pitchFamily="2" charset="-122"/>
            </a:endParaRPr>
          </a:p>
        </p:txBody>
      </p:sp>
      <p:sp>
        <p:nvSpPr>
          <p:cNvPr id="6147" name="Rectangle 3"/>
          <p:cNvSpPr>
            <a:spLocks noGrp="1"/>
          </p:cNvSpPr>
          <p:nvPr>
            <p:ph idx="1"/>
          </p:nvPr>
        </p:nvSpPr>
        <p:spPr>
          <a:xfrm>
            <a:off x="990600" y="1484313"/>
            <a:ext cx="7391400" cy="1470025"/>
          </a:xfrm>
        </p:spPr>
        <p:txBody>
          <a:bodyPr vert="horz" wrap="square" lIns="92075" tIns="46038" rIns="92075" bIns="46038" anchor="t" anchorCtr="0"/>
          <a:p>
            <a:pPr>
              <a:lnSpc>
                <a:spcPct val="90000"/>
              </a:lnSpc>
            </a:pPr>
            <a:r>
              <a:rPr lang="zh-CN" altLang="en-US" sz="2200" b="1" dirty="0">
                <a:latin typeface="宋体" panose="02010600030101010101" pitchFamily="2" charset="-122"/>
                <a:ea typeface="宋体" panose="02010600030101010101" pitchFamily="2" charset="-122"/>
              </a:rPr>
              <a:t>通过一个简单的翻译器说明编译器各个部分的功能</a:t>
            </a:r>
            <a:endParaRPr lang="en-US" altLang="zh-CN" sz="2200" b="1" dirty="0">
              <a:latin typeface="宋体" panose="02010600030101010101" pitchFamily="2" charset="-122"/>
              <a:ea typeface="宋体" panose="02010600030101010101" pitchFamily="2" charset="-122"/>
            </a:endParaRPr>
          </a:p>
          <a:p>
            <a:pPr lvl="1">
              <a:lnSpc>
                <a:spcPct val="90000"/>
              </a:lnSpc>
            </a:pPr>
            <a:r>
              <a:rPr lang="zh-CN" altLang="en-US" sz="2000" b="1" dirty="0">
                <a:latin typeface="宋体" panose="02010600030101010101" pitchFamily="2" charset="-122"/>
                <a:ea typeface="宋体" panose="02010600030101010101" pitchFamily="2" charset="-122"/>
              </a:rPr>
              <a:t>首先构建一个将中缀算术表达式变成一个后缀表达式的语法制导翻译器</a:t>
            </a:r>
            <a:endParaRPr lang="zh-CN" altLang="en-US" sz="2000" b="1" dirty="0">
              <a:latin typeface="宋体" panose="02010600030101010101" pitchFamily="2" charset="-122"/>
              <a:ea typeface="宋体" panose="02010600030101010101" pitchFamily="2" charset="-122"/>
            </a:endParaRPr>
          </a:p>
          <a:p>
            <a:pPr lvl="1">
              <a:lnSpc>
                <a:spcPct val="90000"/>
              </a:lnSpc>
            </a:pPr>
            <a:r>
              <a:rPr lang="zh-CN" altLang="en-US" sz="2000" b="1" dirty="0">
                <a:latin typeface="宋体" panose="02010600030101010101" pitchFamily="2" charset="-122"/>
                <a:ea typeface="宋体" panose="02010600030101010101" pitchFamily="2" charset="-122"/>
              </a:rPr>
              <a:t>扩展上述翻译器，使其可以实现下述的转换</a:t>
            </a:r>
            <a:endParaRPr lang="zh-CN" altLang="en-US" sz="2000" b="1" dirty="0">
              <a:latin typeface="宋体" panose="02010600030101010101" pitchFamily="2" charset="-122"/>
              <a:ea typeface="宋体" panose="02010600030101010101" pitchFamily="2" charset="-122"/>
            </a:endParaRPr>
          </a:p>
        </p:txBody>
      </p:sp>
      <p:pic>
        <p:nvPicPr>
          <p:cNvPr id="6148" name="图片 1"/>
          <p:cNvPicPr>
            <a:picLocks noChangeAspect="1"/>
          </p:cNvPicPr>
          <p:nvPr/>
        </p:nvPicPr>
        <p:blipFill>
          <a:blip r:embed="rId1"/>
          <a:stretch>
            <a:fillRect/>
          </a:stretch>
        </p:blipFill>
        <p:spPr>
          <a:xfrm>
            <a:off x="395288" y="2954338"/>
            <a:ext cx="8532812" cy="3598862"/>
          </a:xfrm>
          <a:prstGeom prst="rect">
            <a:avLst/>
          </a:prstGeom>
          <a:noFill/>
          <a:ln w="9525">
            <a:noFill/>
          </a:ln>
        </p:spPr>
      </p:pic>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引言（1）</a:t>
            </a:r>
            <a:endParaRPr lang="zh-CN" altLang="en-US" dirty="0">
              <a:latin typeface="宋体" panose="02010600030101010101" pitchFamily="2" charset="-122"/>
              <a:ea typeface="宋体" panose="02010600030101010101" pitchFamily="2" charset="-122"/>
            </a:endParaRPr>
          </a:p>
        </p:txBody>
      </p:sp>
      <p:sp>
        <p:nvSpPr>
          <p:cNvPr id="8195" name="Rectangle 3"/>
          <p:cNvSpPr>
            <a:spLocks noGrp="1"/>
          </p:cNvSpPr>
          <p:nvPr>
            <p:ph idx="1"/>
          </p:nvPr>
        </p:nvSpPr>
        <p:spPr>
          <a:xfrm>
            <a:off x="684213" y="1600200"/>
            <a:ext cx="7920037" cy="4724400"/>
          </a:xfrm>
        </p:spPr>
        <p:txBody>
          <a:bodyPr vert="horz" wrap="square" lIns="92075" tIns="46038" rIns="92075" bIns="46038" anchor="t" anchorCtr="0"/>
          <a:p>
            <a:r>
              <a:rPr lang="zh-CN" altLang="en-US" sz="2400" b="1" dirty="0">
                <a:latin typeface="宋体" panose="02010600030101010101" pitchFamily="2" charset="-122"/>
                <a:ea typeface="宋体" panose="02010600030101010101" pitchFamily="2" charset="-122"/>
              </a:rPr>
              <a:t>一个简单的前端模型</a:t>
            </a:r>
            <a:endParaRPr lang="zh-CN" altLang="en-US" sz="2400" b="1" dirty="0">
              <a:latin typeface="宋体" panose="02010600030101010101" pitchFamily="2" charset="-122"/>
              <a:ea typeface="宋体" panose="02010600030101010101" pitchFamily="2" charset="-122"/>
            </a:endParaRPr>
          </a:p>
          <a:p>
            <a:pPr lvl="1"/>
            <a:endParaRPr lang="en-US" altLang="zh-CN" sz="2000" b="1" dirty="0">
              <a:latin typeface="宋体" panose="02010600030101010101" pitchFamily="2" charset="-122"/>
              <a:ea typeface="宋体" panose="02010600030101010101" pitchFamily="2" charset="-122"/>
            </a:endParaRPr>
          </a:p>
          <a:p>
            <a:pPr lvl="1"/>
            <a:endParaRPr lang="en-US" altLang="zh-CN" sz="2000" b="1" dirty="0">
              <a:latin typeface="宋体" panose="02010600030101010101" pitchFamily="2" charset="-122"/>
              <a:ea typeface="宋体" panose="02010600030101010101" pitchFamily="2" charset="-122"/>
            </a:endParaRPr>
          </a:p>
          <a:p>
            <a:pPr lvl="1"/>
            <a:endParaRPr lang="en-US" altLang="zh-CN" sz="2000" b="1" dirty="0">
              <a:latin typeface="宋体" panose="02010600030101010101" pitchFamily="2" charset="-122"/>
              <a:ea typeface="宋体" panose="02010600030101010101" pitchFamily="2" charset="-122"/>
            </a:endParaRPr>
          </a:p>
          <a:p>
            <a:pPr lvl="1"/>
            <a:endParaRPr lang="en-US" altLang="zh-CN" sz="2000" b="1" dirty="0">
              <a:latin typeface="宋体" panose="02010600030101010101" pitchFamily="2" charset="-122"/>
              <a:ea typeface="宋体" panose="02010600030101010101" pitchFamily="2" charset="-122"/>
            </a:endParaRPr>
          </a:p>
          <a:p>
            <a:r>
              <a:rPr lang="zh-CN" altLang="en-US" sz="2400" b="1" dirty="0">
                <a:latin typeface="宋体" panose="02010600030101010101" pitchFamily="2" charset="-122"/>
                <a:ea typeface="宋体" panose="02010600030101010101" pitchFamily="2" charset="-122"/>
              </a:rPr>
              <a:t>语法（</a:t>
            </a:r>
            <a:r>
              <a:rPr lang="en-US" altLang="zh-CN" sz="2400" b="1" dirty="0">
                <a:latin typeface="宋体" panose="02010600030101010101" pitchFamily="2" charset="-122"/>
                <a:ea typeface="宋体" panose="02010600030101010101" pitchFamily="2" charset="-122"/>
              </a:rPr>
              <a:t>syntax</a:t>
            </a:r>
            <a:r>
              <a:rPr lang="zh-CN" altLang="en-US" sz="2400" b="1" dirty="0">
                <a:latin typeface="宋体" panose="02010600030101010101" pitchFamily="2" charset="-122"/>
                <a:ea typeface="宋体" panose="02010600030101010101" pitchFamily="2" charset="-122"/>
              </a:rPr>
              <a:t>）：是分析的基础</a:t>
            </a:r>
            <a:endParaRPr lang="en-US" altLang="zh-CN" sz="24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语法给出程序合乎规范的形式要求，而语义决定了程序的含义</a:t>
            </a:r>
            <a:endParaRPr lang="en-US" altLang="zh-CN"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本课程主要关心上下文无关文法，可以描述语言的文法，也可以指导程序的翻译过程</a:t>
            </a:r>
            <a:endParaRPr lang="en-US" altLang="zh-CN"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中缀形式</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后缀形式</a:t>
            </a:r>
            <a:endParaRPr lang="en-US" altLang="zh-CN" sz="20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后缀形式不用括号；便于用栈实现</a:t>
            </a:r>
            <a:endParaRPr lang="en-US" altLang="zh-CN" sz="18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本章利用这个转换简化语法分析的实现</a:t>
            </a:r>
            <a:endParaRPr lang="en-US" altLang="zh-CN" sz="18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词法分析：识别程序中的词法单元</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记号（</a:t>
            </a:r>
            <a:r>
              <a:rPr lang="en-US" altLang="zh-CN" sz="2000" b="1" dirty="0">
                <a:latin typeface="宋体" panose="02010600030101010101" pitchFamily="2" charset="-122"/>
                <a:ea typeface="宋体" panose="02010600030101010101" pitchFamily="2" charset="-122"/>
              </a:rPr>
              <a:t>token</a:t>
            </a:r>
            <a:r>
              <a:rPr lang="zh-CN" altLang="en-US" sz="2000" b="1" dirty="0">
                <a:latin typeface="宋体" panose="02010600030101010101" pitchFamily="2" charset="-122"/>
                <a:ea typeface="宋体" panose="02010600030101010101" pitchFamily="2" charset="-122"/>
              </a:rPr>
              <a:t>）</a:t>
            </a:r>
            <a:endParaRPr lang="en-US" altLang="zh-CN" sz="2000" b="1" dirty="0">
              <a:latin typeface="宋体" panose="02010600030101010101" pitchFamily="2" charset="-122"/>
              <a:ea typeface="宋体" panose="02010600030101010101" pitchFamily="2" charset="-122"/>
            </a:endParaRPr>
          </a:p>
        </p:txBody>
      </p:sp>
      <p:pic>
        <p:nvPicPr>
          <p:cNvPr id="8196" name="图片 1"/>
          <p:cNvPicPr>
            <a:picLocks noChangeAspect="1"/>
          </p:cNvPicPr>
          <p:nvPr/>
        </p:nvPicPr>
        <p:blipFill>
          <a:blip r:embed="rId1"/>
          <a:stretch>
            <a:fillRect/>
          </a:stretch>
        </p:blipFill>
        <p:spPr>
          <a:xfrm>
            <a:off x="1258888" y="2205038"/>
            <a:ext cx="5832475" cy="1223962"/>
          </a:xfrm>
          <a:prstGeom prst="rect">
            <a:avLst/>
          </a:prstGeom>
          <a:noFill/>
          <a:ln w="9525">
            <a:noFill/>
          </a:ln>
        </p:spPr>
      </p:pic>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引言（</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0243" name="Rectangle 3"/>
          <p:cNvSpPr>
            <a:spLocks noGrp="1"/>
          </p:cNvSpPr>
          <p:nvPr>
            <p:ph idx="1"/>
          </p:nvPr>
        </p:nvSpPr>
        <p:spPr>
          <a:xfrm>
            <a:off x="539750" y="1600200"/>
            <a:ext cx="4464050" cy="4724400"/>
          </a:xfrm>
        </p:spPr>
        <p:txBody>
          <a:bodyPr vert="horz" wrap="square" lIns="92075" tIns="46038" rIns="92075" bIns="46038" anchor="t" anchorCtr="0"/>
          <a:p>
            <a:pPr lvl="1"/>
            <a:r>
              <a:rPr lang="zh-CN" altLang="en-US" sz="2000" b="1" dirty="0">
                <a:latin typeface="宋体" panose="02010600030101010101" pitchFamily="2" charset="-122"/>
                <a:ea typeface="宋体" panose="02010600030101010101" pitchFamily="2" charset="-122"/>
              </a:rPr>
              <a:t>中间表示</a:t>
            </a:r>
            <a:endParaRPr lang="en-US" altLang="zh-CN" sz="20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语法树（</a:t>
            </a:r>
            <a:r>
              <a:rPr lang="en-US" altLang="zh-CN" sz="1800" b="1" dirty="0">
                <a:latin typeface="宋体" panose="02010600030101010101" pitchFamily="2" charset="-122"/>
                <a:ea typeface="宋体" panose="02010600030101010101" pitchFamily="2" charset="-122"/>
              </a:rPr>
              <a:t>syntax tree</a:t>
            </a:r>
            <a:r>
              <a:rPr lang="zh-CN" altLang="en-US" sz="1800" b="1" dirty="0">
                <a:latin typeface="宋体" panose="02010600030101010101" pitchFamily="2" charset="-122"/>
                <a:ea typeface="宋体" panose="02010600030101010101" pitchFamily="2" charset="-122"/>
              </a:rPr>
              <a:t>）或称为抽象语法树（</a:t>
            </a:r>
            <a:r>
              <a:rPr lang="en-US" altLang="zh-CN" sz="1800" b="1" dirty="0">
                <a:latin typeface="宋体" panose="02010600030101010101" pitchFamily="2" charset="-122"/>
                <a:ea typeface="宋体" panose="02010600030101010101" pitchFamily="2" charset="-122"/>
              </a:rPr>
              <a:t>AST</a:t>
            </a:r>
            <a:r>
              <a:rPr lang="zh-CN" altLang="en-US" sz="1800" b="1" dirty="0">
                <a:latin typeface="宋体" panose="02010600030101010101" pitchFamily="2" charset="-122"/>
                <a:ea typeface="宋体" panose="02010600030101010101" pitchFamily="2" charset="-122"/>
              </a:rPr>
              <a:t>）</a:t>
            </a:r>
            <a:endParaRPr lang="en-US" altLang="zh-CN" sz="18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表示了程序的层次语法结构</a:t>
            </a:r>
            <a:endParaRPr lang="en-US" altLang="zh-CN" sz="16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一般而言，树的左子树计算先于右子树实现</a:t>
            </a:r>
            <a:endParaRPr lang="en-US" altLang="zh-CN" sz="16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语法树是编译器最重要的数据结构，编译器的大部分工作是伴随着对</a:t>
            </a:r>
            <a:r>
              <a:rPr lang="en-US" altLang="zh-CN" sz="1600" b="1" dirty="0">
                <a:latin typeface="宋体" panose="02010600030101010101" pitchFamily="2" charset="-122"/>
                <a:ea typeface="宋体" panose="02010600030101010101" pitchFamily="2" charset="-122"/>
              </a:rPr>
              <a:t>AST</a:t>
            </a:r>
            <a:r>
              <a:rPr lang="zh-CN" altLang="en-US" sz="1600" b="1" dirty="0">
                <a:latin typeface="宋体" panose="02010600030101010101" pitchFamily="2" charset="-122"/>
                <a:ea typeface="宋体" panose="02010600030101010101" pitchFamily="2" charset="-122"/>
              </a:rPr>
              <a:t>的全部和部分的遍历而实施的</a:t>
            </a:r>
            <a:endParaRPr lang="en-US" altLang="zh-CN" sz="16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三地址代码</a:t>
            </a:r>
            <a:endParaRPr lang="en-US" altLang="zh-CN" sz="18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形式：</a:t>
            </a:r>
            <a:r>
              <a:rPr lang="en-US" altLang="zh-CN" sz="1600" b="1" dirty="0">
                <a:latin typeface="宋体" panose="02010600030101010101" pitchFamily="2" charset="-122"/>
                <a:ea typeface="宋体" panose="02010600030101010101" pitchFamily="2" charset="-122"/>
              </a:rPr>
              <a:t>x</a:t>
            </a:r>
            <a:r>
              <a:rPr lang="zh-CN" altLang="en-US" sz="1600" b="1" dirty="0">
                <a:latin typeface="宋体" panose="02010600030101010101" pitchFamily="2" charset="-122"/>
                <a:ea typeface="宋体" panose="02010600030101010101" pitchFamily="2" charset="-122"/>
              </a:rPr>
              <a:t> </a:t>
            </a:r>
            <a:r>
              <a:rPr lang="en-US" altLang="zh-CN" sz="1600" b="1" dirty="0">
                <a:latin typeface="宋体" panose="02010600030101010101" pitchFamily="2" charset="-122"/>
                <a:ea typeface="宋体" panose="02010600030101010101" pitchFamily="2" charset="-122"/>
              </a:rPr>
              <a:t>=</a:t>
            </a:r>
            <a:r>
              <a:rPr lang="zh-CN" altLang="en-US" sz="1600" b="1" dirty="0">
                <a:latin typeface="宋体" panose="02010600030101010101" pitchFamily="2" charset="-122"/>
                <a:ea typeface="宋体" panose="02010600030101010101" pitchFamily="2" charset="-122"/>
              </a:rPr>
              <a:t> </a:t>
            </a:r>
            <a:r>
              <a:rPr lang="en-US" altLang="zh-CN" sz="1600" b="1" dirty="0">
                <a:latin typeface="宋体" panose="02010600030101010101" pitchFamily="2" charset="-122"/>
                <a:ea typeface="宋体" panose="02010600030101010101" pitchFamily="2" charset="-122"/>
              </a:rPr>
              <a:t>y op z</a:t>
            </a:r>
            <a:endParaRPr lang="en-US" altLang="zh-CN" sz="16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有两个运算对象地址和一个存放结果的地址（“三地址”的由来）</a:t>
            </a:r>
            <a:endParaRPr lang="en-US" altLang="zh-CN" sz="16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最多有一个运算</a:t>
            </a:r>
            <a:endParaRPr lang="en-US" altLang="zh-CN" sz="1600" b="1" dirty="0">
              <a:latin typeface="宋体" panose="02010600030101010101" pitchFamily="2" charset="-122"/>
              <a:ea typeface="宋体" panose="02010600030101010101" pitchFamily="2" charset="-122"/>
            </a:endParaRPr>
          </a:p>
        </p:txBody>
      </p:sp>
      <p:pic>
        <p:nvPicPr>
          <p:cNvPr id="10244" name="图片 1"/>
          <p:cNvPicPr>
            <a:picLocks noChangeAspect="1"/>
          </p:cNvPicPr>
          <p:nvPr/>
        </p:nvPicPr>
        <p:blipFill>
          <a:blip r:embed="rId1"/>
          <a:stretch>
            <a:fillRect/>
          </a:stretch>
        </p:blipFill>
        <p:spPr>
          <a:xfrm>
            <a:off x="4973638" y="1663700"/>
            <a:ext cx="3883025" cy="4905375"/>
          </a:xfrm>
          <a:prstGeom prst="rect">
            <a:avLst/>
          </a:prstGeom>
          <a:noFill/>
          <a:ln w="9525">
            <a:noFill/>
          </a:ln>
        </p:spPr>
      </p:pic>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语法定义（1）</a:t>
            </a:r>
            <a:endParaRPr lang="zh-CN" altLang="en-US" dirty="0">
              <a:latin typeface="宋体" panose="02010600030101010101" pitchFamily="2" charset="-122"/>
              <a:ea typeface="宋体" panose="02010600030101010101" pitchFamily="2" charset="-122"/>
            </a:endParaRPr>
          </a:p>
        </p:txBody>
      </p:sp>
      <p:sp>
        <p:nvSpPr>
          <p:cNvPr id="12291" name="Rectangle 3"/>
          <p:cNvSpPr>
            <a:spLocks noGrp="1"/>
          </p:cNvSpPr>
          <p:nvPr>
            <p:ph idx="1"/>
          </p:nvPr>
        </p:nvSpPr>
        <p:spPr>
          <a:xfrm>
            <a:off x="990600" y="1600200"/>
            <a:ext cx="7391400" cy="4724400"/>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文法的直观形式：</a:t>
            </a:r>
            <a:endParaRPr lang="zh-CN" altLang="en-US"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直观上，语言是句子的集合，如何表示？</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句子的个数是有穷的，将所有的句子列出即可</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如果句子的个数不是有穷的，需要用规则刻画，如汉语：</a:t>
            </a:r>
            <a:endParaRPr lang="zh-CN" altLang="en-US" b="1" dirty="0">
              <a:latin typeface="宋体" panose="02010600030101010101" pitchFamily="2" charset="-122"/>
              <a:ea typeface="宋体" panose="02010600030101010101" pitchFamily="2" charset="-122"/>
            </a:endParaRPr>
          </a:p>
          <a:p>
            <a:pPr lvl="3">
              <a:buFont typeface="Wingdings" panose="05000000000000000000" pitchFamily="2" charset="2"/>
              <a:buNone/>
            </a:pPr>
            <a:r>
              <a:rPr lang="zh-CN" altLang="en-US" b="1" dirty="0">
                <a:latin typeface="宋体" panose="02010600030101010101" pitchFamily="2" charset="-122"/>
                <a:ea typeface="宋体" panose="02010600030101010101" pitchFamily="2" charset="-122"/>
              </a:rPr>
              <a:t>&lt;句子&gt; ::= &lt;主语&gt;&lt;谓语&gt;</a:t>
            </a:r>
            <a:endParaRPr lang="zh-CN" altLang="en-US" b="1" dirty="0">
              <a:latin typeface="宋体" panose="02010600030101010101" pitchFamily="2" charset="-122"/>
              <a:ea typeface="宋体" panose="02010600030101010101" pitchFamily="2" charset="-122"/>
            </a:endParaRPr>
          </a:p>
          <a:p>
            <a:pPr lvl="3">
              <a:buFont typeface="Wingdings" panose="05000000000000000000" pitchFamily="2" charset="2"/>
              <a:buNone/>
            </a:pPr>
            <a:r>
              <a:rPr lang="zh-CN" altLang="en-US" b="1" dirty="0">
                <a:latin typeface="宋体" panose="02010600030101010101" pitchFamily="2" charset="-122"/>
                <a:ea typeface="宋体" panose="02010600030101010101" pitchFamily="2" charset="-122"/>
              </a:rPr>
              <a:t>&lt;主语&gt; ::= &lt;名词&gt; | &lt;代词</a:t>
            </a:r>
            <a:r>
              <a:rPr lang="en-US" altLang="zh-CN" b="1" dirty="0">
                <a:latin typeface="宋体" panose="02010600030101010101" pitchFamily="2" charset="-122"/>
                <a:ea typeface="宋体" panose="02010600030101010101" pitchFamily="2" charset="-122"/>
              </a:rPr>
              <a:t>&gt;</a:t>
            </a:r>
            <a:endParaRPr lang="en-US" altLang="zh-CN" b="1" dirty="0">
              <a:latin typeface="宋体" panose="02010600030101010101" pitchFamily="2" charset="-122"/>
              <a:ea typeface="宋体" panose="02010600030101010101" pitchFamily="2" charset="-122"/>
            </a:endParaRPr>
          </a:p>
          <a:p>
            <a:pPr lvl="3">
              <a:buFont typeface="Wingdings" panose="05000000000000000000" pitchFamily="2" charset="2"/>
              <a:buNone/>
            </a:pPr>
            <a:r>
              <a:rPr lang="zh-CN" altLang="en-US" b="1" dirty="0">
                <a:latin typeface="宋体" panose="02010600030101010101" pitchFamily="2" charset="-122"/>
                <a:ea typeface="宋体" panose="02010600030101010101" pitchFamily="2" charset="-122"/>
              </a:rPr>
              <a:t>&lt;名词&gt; ::= 羊 | 马 | 牛 | 草</a:t>
            </a:r>
            <a:endParaRPr lang="en-US" altLang="zh-CN" b="1" dirty="0">
              <a:latin typeface="宋体" panose="02010600030101010101" pitchFamily="2" charset="-122"/>
              <a:ea typeface="宋体" panose="02010600030101010101" pitchFamily="2" charset="-122"/>
            </a:endParaRPr>
          </a:p>
          <a:p>
            <a:pPr lvl="3">
              <a:buFont typeface="Wingdings" panose="05000000000000000000" pitchFamily="2" charset="2"/>
              <a:buNone/>
            </a:pPr>
            <a:r>
              <a:rPr lang="zh-CN" altLang="en-US" b="1" dirty="0">
                <a:latin typeface="宋体" panose="02010600030101010101" pitchFamily="2" charset="-122"/>
                <a:ea typeface="宋体" panose="02010600030101010101" pitchFamily="2" charset="-122"/>
              </a:rPr>
              <a:t>&lt;代词&gt; ::= 我 | 你 | 他</a:t>
            </a:r>
            <a:endParaRPr lang="zh-CN" altLang="en-US" b="1" dirty="0">
              <a:latin typeface="宋体" panose="02010600030101010101" pitchFamily="2" charset="-122"/>
              <a:ea typeface="宋体" panose="02010600030101010101" pitchFamily="2" charset="-122"/>
            </a:endParaRPr>
          </a:p>
          <a:p>
            <a:pPr lvl="3">
              <a:buFont typeface="Wingdings" panose="05000000000000000000" pitchFamily="2" charset="2"/>
              <a:buNone/>
            </a:pPr>
            <a:r>
              <a:rPr lang="zh-CN" altLang="en-US" b="1" dirty="0">
                <a:latin typeface="宋体" panose="02010600030101010101" pitchFamily="2" charset="-122"/>
                <a:ea typeface="宋体" panose="02010600030101010101" pitchFamily="2" charset="-122"/>
              </a:rPr>
              <a:t>&lt;谓语&gt; ::= &lt;动词&gt;&lt;直接宾语</a:t>
            </a:r>
            <a:r>
              <a:rPr lang="en-US" altLang="zh-CN" b="1" dirty="0">
                <a:latin typeface="宋体" panose="02010600030101010101" pitchFamily="2" charset="-122"/>
                <a:ea typeface="宋体" panose="02010600030101010101" pitchFamily="2" charset="-122"/>
              </a:rPr>
              <a:t>&gt;</a:t>
            </a:r>
            <a:endParaRPr lang="en-US" altLang="zh-CN" b="1" dirty="0">
              <a:latin typeface="宋体" panose="02010600030101010101" pitchFamily="2" charset="-122"/>
              <a:ea typeface="宋体" panose="02010600030101010101" pitchFamily="2" charset="-122"/>
            </a:endParaRPr>
          </a:p>
          <a:p>
            <a:pPr lvl="3">
              <a:buFont typeface="Wingdings" panose="05000000000000000000" pitchFamily="2" charset="2"/>
              <a:buNone/>
            </a:pPr>
            <a:r>
              <a:rPr lang="zh-CN" altLang="en-US" b="1" dirty="0">
                <a:latin typeface="宋体" panose="02010600030101010101" pitchFamily="2" charset="-122"/>
                <a:ea typeface="宋体" panose="02010600030101010101" pitchFamily="2" charset="-122"/>
              </a:rPr>
              <a:t>&lt;动词&gt; ::= 吃 | 走 | 喂</a:t>
            </a:r>
            <a:endParaRPr lang="zh-CN" altLang="en-US" b="1" dirty="0">
              <a:latin typeface="宋体" panose="02010600030101010101" pitchFamily="2" charset="-122"/>
              <a:ea typeface="宋体" panose="02010600030101010101" pitchFamily="2" charset="-122"/>
            </a:endParaRPr>
          </a:p>
          <a:p>
            <a:pPr lvl="3">
              <a:buFont typeface="Wingdings" panose="05000000000000000000" pitchFamily="2" charset="2"/>
              <a:buNone/>
            </a:pPr>
            <a:r>
              <a:rPr lang="zh-CN" altLang="en-US" b="1" dirty="0">
                <a:latin typeface="宋体" panose="02010600030101010101" pitchFamily="2" charset="-122"/>
                <a:ea typeface="宋体" panose="02010600030101010101" pitchFamily="2" charset="-122"/>
              </a:rPr>
              <a:t>&lt;直接宾语&gt; ::= &lt;名词&gt; | &lt;代词</a:t>
            </a:r>
            <a:r>
              <a:rPr lang="en-US" altLang="zh-CN" b="1" dirty="0">
                <a:latin typeface="宋体" panose="02010600030101010101" pitchFamily="2" charset="-122"/>
                <a:ea typeface="宋体" panose="02010600030101010101" pitchFamily="2" charset="-122"/>
              </a:rPr>
              <a:t>&gt;</a:t>
            </a:r>
            <a:endParaRPr lang="en-US" altLang="zh-CN"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050"/>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语法定义（2）</a:t>
            </a:r>
            <a:endParaRPr lang="zh-CN" altLang="en-US" dirty="0">
              <a:latin typeface="宋体" panose="02010600030101010101" pitchFamily="2" charset="-122"/>
              <a:ea typeface="宋体" panose="02010600030101010101" pitchFamily="2" charset="-122"/>
            </a:endParaRPr>
          </a:p>
        </p:txBody>
      </p:sp>
      <p:sp>
        <p:nvSpPr>
          <p:cNvPr id="14339" name="Rectangle 2051"/>
          <p:cNvSpPr>
            <a:spLocks noGrp="1"/>
          </p:cNvSpPr>
          <p:nvPr>
            <p:ph idx="1"/>
          </p:nvPr>
        </p:nvSpPr>
        <p:spPr>
          <a:xfrm>
            <a:off x="755650" y="1600200"/>
            <a:ext cx="7848600" cy="4724400"/>
          </a:xfrm>
        </p:spPr>
        <p:txBody>
          <a:bodyPr vert="horz" wrap="square" lIns="92075" tIns="46038" rIns="92075" bIns="46038" anchor="t" anchorCtr="0"/>
          <a:p>
            <a:pPr lvl="2"/>
            <a:r>
              <a:rPr lang="zh-CN" altLang="en-US" b="1" dirty="0">
                <a:latin typeface="宋体" panose="02010600030101010101" pitchFamily="2" charset="-122"/>
                <a:ea typeface="宋体" panose="02010600030101010101" pitchFamily="2" charset="-122"/>
              </a:rPr>
              <a:t>一个句子的表示：羊吃草</a:t>
            </a:r>
            <a:endParaRPr lang="en-US" altLang="zh-CN" b="1" dirty="0">
              <a:latin typeface="宋体" panose="02010600030101010101" pitchFamily="2" charset="-122"/>
              <a:ea typeface="宋体" panose="02010600030101010101" pitchFamily="2" charset="-122"/>
            </a:endParaRPr>
          </a:p>
          <a:p>
            <a:pPr lvl="3">
              <a:lnSpc>
                <a:spcPct val="90000"/>
              </a:lnSpc>
              <a:buFont typeface="Wingdings" panose="05000000000000000000" pitchFamily="2" charset="2"/>
              <a:buNone/>
            </a:pPr>
            <a:r>
              <a:rPr lang="zh-CN" altLang="en-US" b="1" dirty="0">
                <a:latin typeface="宋体" panose="02010600030101010101" pitchFamily="2" charset="-122"/>
                <a:ea typeface="宋体" panose="02010600030101010101" pitchFamily="2" charset="-122"/>
              </a:rPr>
              <a:t>&lt;句子&gt; =&gt; &lt;主语&gt;&lt;谓语&gt;</a:t>
            </a:r>
            <a:endParaRPr lang="zh-CN" altLang="en-US" b="1" dirty="0">
              <a:latin typeface="宋体" panose="02010600030101010101" pitchFamily="2" charset="-122"/>
              <a:ea typeface="宋体" panose="02010600030101010101" pitchFamily="2" charset="-122"/>
            </a:endParaRPr>
          </a:p>
          <a:p>
            <a:pPr lvl="3">
              <a:lnSpc>
                <a:spcPct val="90000"/>
              </a:lnSpc>
              <a:buFont typeface="Wingdings" panose="05000000000000000000" pitchFamily="2" charset="2"/>
              <a:buNone/>
            </a:pPr>
            <a:r>
              <a:rPr lang="zh-CN" altLang="en-US" b="1" dirty="0">
                <a:latin typeface="宋体" panose="02010600030101010101" pitchFamily="2" charset="-122"/>
                <a:ea typeface="宋体" panose="02010600030101010101" pitchFamily="2" charset="-122"/>
              </a:rPr>
              <a:t>       =&gt; &lt;名词</a:t>
            </a:r>
            <a:r>
              <a:rPr lang="en-US" altLang="zh-CN" b="1" dirty="0">
                <a:latin typeface="宋体" panose="02010600030101010101" pitchFamily="2" charset="-122"/>
                <a:ea typeface="宋体" panose="02010600030101010101" pitchFamily="2" charset="-122"/>
              </a:rPr>
              <a:t>&gt;&lt;</a:t>
            </a:r>
            <a:r>
              <a:rPr lang="zh-CN" altLang="en-US" b="1" dirty="0">
                <a:latin typeface="宋体" panose="02010600030101010101" pitchFamily="2" charset="-122"/>
                <a:ea typeface="宋体" panose="02010600030101010101" pitchFamily="2" charset="-122"/>
              </a:rPr>
              <a:t>谓语&gt;</a:t>
            </a:r>
            <a:endParaRPr lang="zh-CN" altLang="en-US" b="1" dirty="0">
              <a:latin typeface="宋体" panose="02010600030101010101" pitchFamily="2" charset="-122"/>
              <a:ea typeface="宋体" panose="02010600030101010101" pitchFamily="2" charset="-122"/>
            </a:endParaRPr>
          </a:p>
          <a:p>
            <a:pPr lvl="3">
              <a:lnSpc>
                <a:spcPct val="90000"/>
              </a:lnSpc>
              <a:buFont typeface="Wingdings" panose="05000000000000000000" pitchFamily="2" charset="2"/>
              <a:buNone/>
            </a:pPr>
            <a:r>
              <a:rPr lang="zh-CN" altLang="en-US" b="1" dirty="0">
                <a:latin typeface="宋体" panose="02010600030101010101" pitchFamily="2" charset="-122"/>
                <a:ea typeface="宋体" panose="02010600030101010101" pitchFamily="2" charset="-122"/>
              </a:rPr>
              <a:t>       =&gt; 羊&lt;谓语&gt;</a:t>
            </a:r>
            <a:endParaRPr lang="zh-CN" altLang="en-US" b="1" dirty="0">
              <a:latin typeface="宋体" panose="02010600030101010101" pitchFamily="2" charset="-122"/>
              <a:ea typeface="宋体" panose="02010600030101010101" pitchFamily="2" charset="-122"/>
            </a:endParaRPr>
          </a:p>
          <a:p>
            <a:pPr lvl="3">
              <a:lnSpc>
                <a:spcPct val="90000"/>
              </a:lnSpc>
              <a:buFont typeface="Wingdings" panose="05000000000000000000" pitchFamily="2" charset="2"/>
              <a:buNone/>
            </a:pPr>
            <a:r>
              <a:rPr lang="en-US" altLang="zh-CN" b="1" dirty="0">
                <a:latin typeface="宋体" panose="02010600030101010101" pitchFamily="2" charset="-122"/>
                <a:ea typeface="宋体" panose="02010600030101010101" pitchFamily="2" charset="-122"/>
              </a:rPr>
              <a:t>       =&gt; </a:t>
            </a:r>
            <a:r>
              <a:rPr lang="zh-CN" altLang="en-US" b="1" dirty="0">
                <a:latin typeface="宋体" panose="02010600030101010101" pitchFamily="2" charset="-122"/>
                <a:ea typeface="宋体" panose="02010600030101010101" pitchFamily="2" charset="-122"/>
              </a:rPr>
              <a:t>羊&lt;动词&gt;&lt;直接宾语&gt;</a:t>
            </a:r>
            <a:endParaRPr lang="zh-CN" altLang="en-US" b="1" dirty="0">
              <a:latin typeface="宋体" panose="02010600030101010101" pitchFamily="2" charset="-122"/>
              <a:ea typeface="宋体" panose="02010600030101010101" pitchFamily="2" charset="-122"/>
            </a:endParaRPr>
          </a:p>
          <a:p>
            <a:pPr lvl="3">
              <a:lnSpc>
                <a:spcPct val="90000"/>
              </a:lnSpc>
              <a:buFont typeface="Wingdings" panose="05000000000000000000" pitchFamily="2" charset="2"/>
              <a:buNone/>
            </a:pPr>
            <a:r>
              <a:rPr lang="en-US" altLang="zh-CN" b="1" dirty="0">
                <a:latin typeface="宋体" panose="02010600030101010101" pitchFamily="2" charset="-122"/>
                <a:ea typeface="宋体" panose="02010600030101010101" pitchFamily="2" charset="-122"/>
              </a:rPr>
              <a:t>       =&gt; </a:t>
            </a:r>
            <a:r>
              <a:rPr lang="zh-CN" altLang="en-US" b="1" dirty="0">
                <a:latin typeface="宋体" panose="02010600030101010101" pitchFamily="2" charset="-122"/>
                <a:ea typeface="宋体" panose="02010600030101010101" pitchFamily="2" charset="-122"/>
              </a:rPr>
              <a:t>羊吃&lt;直接宾语&gt;</a:t>
            </a:r>
            <a:endParaRPr lang="zh-CN" altLang="en-US" b="1" dirty="0">
              <a:latin typeface="宋体" panose="02010600030101010101" pitchFamily="2" charset="-122"/>
              <a:ea typeface="宋体" panose="02010600030101010101" pitchFamily="2" charset="-122"/>
            </a:endParaRPr>
          </a:p>
          <a:p>
            <a:pPr lvl="3">
              <a:lnSpc>
                <a:spcPct val="90000"/>
              </a:lnSpc>
              <a:buFont typeface="Wingdings" panose="05000000000000000000" pitchFamily="2" charset="2"/>
              <a:buNone/>
            </a:pPr>
            <a:r>
              <a:rPr lang="en-US" altLang="zh-CN" b="1" dirty="0">
                <a:latin typeface="宋体" panose="02010600030101010101" pitchFamily="2" charset="-122"/>
                <a:ea typeface="宋体" panose="02010600030101010101" pitchFamily="2" charset="-122"/>
              </a:rPr>
              <a:t>       =&gt; </a:t>
            </a:r>
            <a:r>
              <a:rPr lang="zh-CN" altLang="en-US" b="1" dirty="0">
                <a:latin typeface="宋体" panose="02010600030101010101" pitchFamily="2" charset="-122"/>
                <a:ea typeface="宋体" panose="02010600030101010101" pitchFamily="2" charset="-122"/>
              </a:rPr>
              <a:t>羊吃&lt;名词&gt;</a:t>
            </a:r>
            <a:endParaRPr lang="zh-CN" altLang="en-US" b="1" dirty="0">
              <a:latin typeface="宋体" panose="02010600030101010101" pitchFamily="2" charset="-122"/>
              <a:ea typeface="宋体" panose="02010600030101010101" pitchFamily="2" charset="-122"/>
            </a:endParaRPr>
          </a:p>
          <a:p>
            <a:pPr lvl="3">
              <a:lnSpc>
                <a:spcPct val="90000"/>
              </a:lnSpc>
              <a:buFont typeface="Wingdings" panose="05000000000000000000" pitchFamily="2" charset="2"/>
              <a:buNone/>
            </a:pPr>
            <a:r>
              <a:rPr lang="en-US" altLang="zh-CN" b="1" dirty="0">
                <a:latin typeface="宋体" panose="02010600030101010101" pitchFamily="2" charset="-122"/>
                <a:ea typeface="宋体" panose="02010600030101010101" pitchFamily="2" charset="-122"/>
              </a:rPr>
              <a:t>       =&gt; </a:t>
            </a:r>
            <a:r>
              <a:rPr lang="zh-CN" altLang="en-US" b="1" dirty="0">
                <a:latin typeface="宋体" panose="02010600030101010101" pitchFamily="2" charset="-122"/>
                <a:ea typeface="宋体" panose="02010600030101010101" pitchFamily="2" charset="-122"/>
              </a:rPr>
              <a:t>羊吃草</a:t>
            </a:r>
            <a:endParaRPr lang="zh-CN" altLang="en-US"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利用上述的规则，可以生成很多句子：</a:t>
            </a:r>
            <a:r>
              <a:rPr lang="zh-CN" altLang="en-US" b="1" dirty="0">
                <a:ea typeface="宋体" panose="02010600030101010101" pitchFamily="2" charset="-122"/>
              </a:rPr>
              <a:t>“</a:t>
            </a:r>
            <a:r>
              <a:rPr lang="zh-CN" altLang="en-US" b="1" dirty="0">
                <a:latin typeface="宋体" panose="02010600030101010101" pitchFamily="2" charset="-122"/>
                <a:ea typeface="宋体" panose="02010600030101010101" pitchFamily="2" charset="-122"/>
              </a:rPr>
              <a:t>马吃草</a:t>
            </a:r>
            <a:r>
              <a:rPr lang="zh-CN" altLang="en-US" b="1" dirty="0">
                <a:ea typeface="宋体" panose="02010600030101010101" pitchFamily="2" charset="-122"/>
              </a:rPr>
              <a:t>”</a:t>
            </a:r>
            <a:r>
              <a:rPr lang="zh-CN" altLang="en-US" b="1" dirty="0">
                <a:latin typeface="宋体" panose="02010600030101010101" pitchFamily="2" charset="-122"/>
                <a:ea typeface="宋体" panose="02010600030101010101" pitchFamily="2" charset="-122"/>
              </a:rPr>
              <a:t>，</a:t>
            </a:r>
            <a:r>
              <a:rPr lang="zh-CN" altLang="en-US" b="1" dirty="0">
                <a:ea typeface="宋体" panose="02010600030101010101" pitchFamily="2" charset="-122"/>
              </a:rPr>
              <a:t>“</a:t>
            </a:r>
            <a:r>
              <a:rPr lang="zh-CN" altLang="en-US" b="1" dirty="0">
                <a:latin typeface="宋体" panose="02010600030101010101" pitchFamily="2" charset="-122"/>
                <a:ea typeface="宋体" panose="02010600030101010101" pitchFamily="2" charset="-122"/>
              </a:rPr>
              <a:t>他喂马</a:t>
            </a:r>
            <a:r>
              <a:rPr lang="zh-CN" altLang="en-US" b="1" dirty="0">
                <a:ea typeface="宋体" panose="02010600030101010101" pitchFamily="2" charset="-122"/>
              </a:rPr>
              <a:t>”</a:t>
            </a:r>
            <a:r>
              <a:rPr lang="zh-CN" altLang="en-US" b="1" dirty="0">
                <a:latin typeface="宋体" panose="02010600030101010101" pitchFamily="2" charset="-122"/>
                <a:ea typeface="宋体" panose="02010600030101010101" pitchFamily="2" charset="-122"/>
              </a:rPr>
              <a:t>等</a:t>
            </a:r>
            <a:endParaRPr lang="en-US" altLang="zh-CN" b="1" dirty="0">
              <a:latin typeface="宋体" panose="02010600030101010101" pitchFamily="2" charset="-122"/>
              <a:ea typeface="宋体" panose="02010600030101010101" pitchFamily="2" charset="-122"/>
            </a:endParaRPr>
          </a:p>
          <a:p>
            <a:pPr lvl="2"/>
            <a:r>
              <a:rPr lang="zh-CN" altLang="en-US" b="1" dirty="0">
                <a:ea typeface="宋体" panose="02010600030101010101" pitchFamily="2" charset="-122"/>
              </a:rPr>
              <a:t>“</a:t>
            </a:r>
            <a:r>
              <a:rPr lang="zh-CN" altLang="en-US" b="1" dirty="0">
                <a:latin typeface="宋体" panose="02010600030101010101" pitchFamily="2" charset="-122"/>
                <a:ea typeface="宋体" panose="02010600030101010101" pitchFamily="2" charset="-122"/>
              </a:rPr>
              <a:t>草吃羊</a:t>
            </a:r>
            <a:r>
              <a:rPr lang="zh-CN" altLang="en-US" b="1" dirty="0">
                <a:ea typeface="宋体" panose="02010600030101010101" pitchFamily="2" charset="-122"/>
              </a:rPr>
              <a:t>”</a:t>
            </a:r>
            <a:r>
              <a:rPr lang="zh-CN" altLang="en-US" b="1" dirty="0">
                <a:latin typeface="宋体" panose="02010600030101010101" pitchFamily="2" charset="-122"/>
                <a:ea typeface="宋体" panose="02010600030101010101" pitchFamily="2" charset="-122"/>
              </a:rPr>
              <a:t>也是上述规则生成的一个合法的句子，但它明显违背了常识，因此虽然在语法方面它是正确的，但在语义上它是错误的，这也是语法和语义关注内容的不同</a:t>
            </a:r>
            <a:endParaRPr lang="en-US" altLang="zh-CN"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语法定义（</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a:t>
            </a:r>
            <a:br>
              <a:rPr lang="en-US" altLang="zh-CN"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文法和语言的形式定义（</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6387" name="Rectangle 3"/>
          <p:cNvSpPr>
            <a:spLocks noGrp="1"/>
          </p:cNvSpPr>
          <p:nvPr>
            <p:ph idx="1"/>
          </p:nvPr>
        </p:nvSpPr>
        <p:spPr>
          <a:xfrm>
            <a:off x="990600" y="1600200"/>
            <a:ext cx="7391400" cy="4953000"/>
          </a:xfrm>
        </p:spPr>
        <p:txBody>
          <a:bodyPr vert="horz" wrap="square" lIns="92075" tIns="46038" rIns="92075" bIns="46038" anchor="t" anchorCtr="0"/>
          <a:p>
            <a:pPr>
              <a:lnSpc>
                <a:spcPct val="90000"/>
              </a:lnSpc>
            </a:pPr>
            <a:r>
              <a:rPr lang="zh-CN" altLang="en-US" b="1" dirty="0">
                <a:latin typeface="宋体" panose="02010600030101010101" pitchFamily="2" charset="-122"/>
                <a:ea typeface="宋体" panose="02010600030101010101" pitchFamily="2" charset="-122"/>
              </a:rPr>
              <a:t>符号和符号串：</a:t>
            </a:r>
            <a:endParaRPr lang="zh-CN" altLang="en-US" b="1" dirty="0">
              <a:latin typeface="宋体" panose="02010600030101010101" pitchFamily="2" charset="-122"/>
              <a:ea typeface="宋体" panose="02010600030101010101" pitchFamily="2" charset="-122"/>
            </a:endParaRPr>
          </a:p>
          <a:p>
            <a:pPr lvl="1">
              <a:lnSpc>
                <a:spcPct val="90000"/>
              </a:lnSpc>
            </a:pPr>
            <a:r>
              <a:rPr lang="zh-CN" altLang="en-US" b="1" dirty="0">
                <a:latin typeface="宋体" panose="02010600030101010101" pitchFamily="2" charset="-122"/>
                <a:ea typeface="宋体" panose="02010600030101010101" pitchFamily="2" charset="-122"/>
              </a:rPr>
              <a:t>字母表：是符号的有穷非空集合</a:t>
            </a:r>
            <a:endParaRPr lang="zh-CN" altLang="en-US"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字母表包含了语言中允许出现的一切符号</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不同的语言有不同的字母表</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字母表一般用大写字母或∑表示，如：</a:t>
            </a:r>
            <a:endParaRPr lang="zh-CN" altLang="en-US" b="1" dirty="0">
              <a:latin typeface="宋体" panose="02010600030101010101" pitchFamily="2" charset="-122"/>
              <a:ea typeface="宋体" panose="02010600030101010101" pitchFamily="2" charset="-122"/>
            </a:endParaRPr>
          </a:p>
          <a:p>
            <a:pPr lvl="3">
              <a:lnSpc>
                <a:spcPct val="90000"/>
              </a:lnSpc>
              <a:buFont typeface="Wingdings" panose="05000000000000000000" pitchFamily="2" charset="2"/>
              <a:buNone/>
            </a:pPr>
            <a:r>
              <a:rPr lang="en-US" altLang="zh-CN" b="1" dirty="0">
                <a:latin typeface="宋体" panose="02010600030101010101" pitchFamily="2" charset="-122"/>
                <a:ea typeface="宋体" panose="02010600030101010101" pitchFamily="2" charset="-122"/>
              </a:rPr>
              <a:t>A = {0 , 1}  </a:t>
            </a:r>
            <a:r>
              <a:rPr lang="zh-CN" altLang="en-US" b="1" dirty="0">
                <a:latin typeface="宋体" panose="02010600030101010101" pitchFamily="2" charset="-122"/>
                <a:ea typeface="宋体" panose="02010600030101010101" pitchFamily="2" charset="-122"/>
              </a:rPr>
              <a:t>或 ∑ = {</a:t>
            </a:r>
            <a:r>
              <a:rPr lang="en-US" altLang="zh-CN" b="1" dirty="0">
                <a:latin typeface="宋体" panose="02010600030101010101" pitchFamily="2" charset="-122"/>
                <a:ea typeface="宋体" panose="02010600030101010101" pitchFamily="2" charset="-122"/>
              </a:rPr>
              <a:t>a , b , c}</a:t>
            </a:r>
            <a:endParaRPr lang="en-US" altLang="zh-CN" b="1" dirty="0">
              <a:latin typeface="宋体" panose="02010600030101010101" pitchFamily="2" charset="-122"/>
              <a:ea typeface="宋体" panose="02010600030101010101" pitchFamily="2" charset="-122"/>
            </a:endParaRPr>
          </a:p>
          <a:p>
            <a:pPr lvl="1">
              <a:lnSpc>
                <a:spcPct val="90000"/>
              </a:lnSpc>
            </a:pPr>
            <a:r>
              <a:rPr lang="zh-CN" altLang="en-US" b="1" dirty="0">
                <a:latin typeface="宋体" panose="02010600030101010101" pitchFamily="2" charset="-122"/>
                <a:ea typeface="宋体" panose="02010600030101010101" pitchFamily="2" charset="-122"/>
              </a:rPr>
              <a:t>符号串：由字母表中的符号组成的有穷序列称为符号串，一般用小写字母</a:t>
            </a:r>
            <a:r>
              <a:rPr lang="en-US" altLang="zh-CN" b="1" dirty="0">
                <a:latin typeface="宋体" panose="02010600030101010101" pitchFamily="2" charset="-122"/>
                <a:ea typeface="宋体" panose="02010600030101010101" pitchFamily="2" charset="-122"/>
              </a:rPr>
              <a:t>x,y,z</a:t>
            </a:r>
            <a:r>
              <a:rPr lang="zh-CN" altLang="en-US" b="1" dirty="0">
                <a:latin typeface="宋体" panose="02010600030101010101" pitchFamily="2" charset="-122"/>
                <a:ea typeface="宋体" panose="02010600030101010101" pitchFamily="2" charset="-122"/>
              </a:rPr>
              <a:t>等表示</a:t>
            </a:r>
            <a:endParaRPr lang="zh-CN" altLang="en-US"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符号出现的次序是重要的</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允许空符号串的出现：</a:t>
            </a:r>
            <a:r>
              <a:rPr lang="en-US" altLang="zh-CN" b="1" dirty="0">
                <a:latin typeface="宋体" panose="02010600030101010101" pitchFamily="2" charset="-122"/>
                <a:ea typeface="宋体" panose="02010600030101010101" pitchFamily="2" charset="-122"/>
              </a:rPr>
              <a:t>ε</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符号串</a:t>
            </a:r>
            <a:r>
              <a:rPr lang="en-US" altLang="zh-CN" b="1" dirty="0">
                <a:latin typeface="宋体" panose="02010600030101010101" pitchFamily="2" charset="-122"/>
                <a:ea typeface="宋体" panose="02010600030101010101" pitchFamily="2" charset="-122"/>
              </a:rPr>
              <a:t>x</a:t>
            </a:r>
            <a:r>
              <a:rPr lang="zh-CN" altLang="en-US" b="1" dirty="0">
                <a:latin typeface="宋体" panose="02010600030101010101" pitchFamily="2" charset="-122"/>
                <a:ea typeface="宋体" panose="02010600030101010101" pitchFamily="2" charset="-122"/>
              </a:rPr>
              <a:t>的长度：|</a:t>
            </a:r>
            <a:r>
              <a:rPr lang="en-US" altLang="zh-CN" b="1" dirty="0">
                <a:latin typeface="宋体" panose="02010600030101010101" pitchFamily="2" charset="-122"/>
                <a:ea typeface="宋体" panose="02010600030101010101" pitchFamily="2" charset="-122"/>
              </a:rPr>
              <a:t>x|</a:t>
            </a:r>
            <a:r>
              <a:rPr lang="zh-CN" altLang="en-US" b="1" dirty="0">
                <a:latin typeface="宋体" panose="02010600030101010101" pitchFamily="2" charset="-122"/>
                <a:ea typeface="宋体" panose="02010600030101010101" pitchFamily="2" charset="-122"/>
              </a:rPr>
              <a:t>字符串中符号的个数，空符号串的长度为0</a:t>
            </a:r>
            <a:endParaRPr lang="en-US" altLang="zh-CN"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语法定义（</a:t>
            </a:r>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a:t>
            </a:r>
            <a:br>
              <a:rPr lang="en-US" altLang="zh-CN"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文法和语言的形式定义（2）</a:t>
            </a:r>
            <a:endParaRPr lang="zh-CN" altLang="en-US" dirty="0">
              <a:latin typeface="宋体" panose="02010600030101010101" pitchFamily="2" charset="-122"/>
              <a:ea typeface="宋体" panose="02010600030101010101" pitchFamily="2" charset="-122"/>
            </a:endParaRPr>
          </a:p>
        </p:txBody>
      </p:sp>
      <p:sp>
        <p:nvSpPr>
          <p:cNvPr id="14339" name="Rectangle 3"/>
          <p:cNvSpPr>
            <a:spLocks noGrp="1" noChangeArrowheads="1"/>
          </p:cNvSpPr>
          <p:nvPr>
            <p:ph idx="1"/>
          </p:nvPr>
        </p:nvSpPr>
        <p:spPr>
          <a:xfrm>
            <a:off x="0" y="1371600"/>
            <a:ext cx="9144000" cy="4953000"/>
          </a:xfrm>
        </p:spPr>
        <p:txBody>
          <a:bodyPr vert="horz" wrap="square" lIns="92075" tIns="46038" rIns="92075" bIns="46038" numCol="1" anchor="t" anchorCtr="0" compatLnSpc="1"/>
          <a:lstStyle/>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符号串的一些概念</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符号串的前缀和后缀：如果符号串</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 = </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xy</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称为</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的前缀， </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称为</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的后缀，其中</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均可能为空串</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均非空，则</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称为</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的真前缀，</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称为</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的真后缀</a:t>
            </a:r>
            <a:endPar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90000"/>
              </a:lnSpc>
              <a:spcBef>
                <a:spcPct val="20000"/>
              </a:spcBef>
              <a:spcAft>
                <a:spcPct val="0"/>
              </a:spcAft>
              <a:buClr>
                <a:srgbClr val="063DE8"/>
              </a:buClr>
              <a:buSzPct val="70000"/>
              <a:buFont typeface="Wingdings" panose="05000000000000000000" pitchFamily="2" charset="2"/>
              <a:buNone/>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如</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abc</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则</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ε</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、a、ab、abc</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都是</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的前缀，其中</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ab</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都是</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的真前缀；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c、bc、abc</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都是</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的后缀，其中</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c</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bc</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都是</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的真后缀</a:t>
            </a:r>
            <a:endPar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子串：删除该串的某个前缀和</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或某个后缀后得到的串，若子串非空，且不等于原串，则称为真子串</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71600" marR="0" lvl="3"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上例中，</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ε</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、a、b</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c</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ab</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bc</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abc</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都是子串，</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ε</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、abc</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不是真子串</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子序列：从串中删除</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0</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个或多个符号后得到的串，被删除的符号可能不相邻，如</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ac</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abcd</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的子序列</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符号串的运算：</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连结：若</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和</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是符号串，则连结</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xy</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是将</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加到</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后形成的串。</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是连结运算的恒等元素，</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 =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εx</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xε</a:t>
            </a:r>
            <a:endPar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符号串的幂运算：将连结看成是积运算</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1600" b="1" i="0" u="none" strike="noStrike" kern="0" cap="none" spc="0" normalizeH="0" baseline="30000" noProof="0" dirty="0">
                <a:ln>
                  <a:noFill/>
                </a:ln>
                <a:solidFill>
                  <a:schemeClr val="tx1"/>
                </a:solidFill>
                <a:effectLst/>
                <a:uLnTx/>
                <a:uFillTx/>
                <a:latin typeface="宋体" panose="02010600030101010101" pitchFamily="2" charset="-122"/>
                <a:ea typeface="宋体" panose="02010600030101010101" pitchFamily="2" charset="-122"/>
              </a:rPr>
              <a:t>0</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ε    </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对于任意的</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&gt;0</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有</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1600" b="1" i="0" u="none" strike="noStrike" kern="0" cap="none" spc="0" normalizeH="0" baseline="30000" noProof="0" dirty="0">
                <a:ln>
                  <a:noFill/>
                </a:ln>
                <a:solidFill>
                  <a:schemeClr val="tx1"/>
                </a:solidFill>
                <a:effectLst/>
                <a:uLnTx/>
                <a:uFillTx/>
                <a:latin typeface="宋体" panose="02010600030101010101" pitchFamily="2" charset="-122"/>
                <a:ea typeface="宋体" panose="02010600030101010101" pitchFamily="2" charset="-122"/>
              </a:rPr>
              <a:t>i</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x</a:t>
            </a:r>
            <a:r>
              <a:rPr kumimoji="0" lang="en-US" altLang="zh-CN" sz="1600" b="1" i="0" u="none" strike="noStrike" kern="0" cap="none" spc="0" normalizeH="0" baseline="30000" noProof="0" dirty="0">
                <a:ln>
                  <a:noFill/>
                </a:ln>
                <a:solidFill>
                  <a:schemeClr val="tx1"/>
                </a:solidFill>
                <a:effectLst/>
                <a:uLnTx/>
                <a:uFillTx/>
                <a:latin typeface="宋体" panose="02010600030101010101" pitchFamily="2" charset="-122"/>
                <a:ea typeface="宋体" panose="02010600030101010101" pitchFamily="2" charset="-122"/>
              </a:rPr>
              <a:t>i-1</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 =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abc</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x</a:t>
            </a:r>
            <a:r>
              <a:rPr kumimoji="0" lang="en-US" altLang="zh-CN" sz="1600" b="1" i="0" u="none" strike="noStrike" kern="0" cap="none" spc="0" normalizeH="0" baseline="30000" noProof="0" dirty="0">
                <a:ln>
                  <a:noFill/>
                </a:ln>
                <a:solidFill>
                  <a:schemeClr val="tx1"/>
                </a:solidFill>
                <a:effectLst/>
                <a:uLnTx/>
                <a:uFillTx/>
                <a:latin typeface="宋体" panose="02010600030101010101" pitchFamily="2" charset="-122"/>
                <a:ea typeface="宋体" panose="02010600030101010101" pitchFamily="2" charset="-122"/>
              </a:rPr>
              <a:t>3</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abcabcabc</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语法定义（</a:t>
            </a:r>
            <a:r>
              <a:rPr lang="en-US" altLang="zh-CN" dirty="0">
                <a:latin typeface="宋体" panose="02010600030101010101" pitchFamily="2" charset="-122"/>
                <a:ea typeface="宋体" panose="02010600030101010101" pitchFamily="2" charset="-122"/>
              </a:rPr>
              <a:t>5</a:t>
            </a:r>
            <a:r>
              <a:rPr lang="zh-CN" altLang="en-US" dirty="0">
                <a:latin typeface="宋体" panose="02010600030101010101" pitchFamily="2" charset="-122"/>
                <a:ea typeface="宋体" panose="02010600030101010101" pitchFamily="2" charset="-122"/>
              </a:rPr>
              <a:t>）</a:t>
            </a:r>
            <a:br>
              <a:rPr lang="en-US" altLang="zh-CN"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文法和语言的形式定义（3）</a:t>
            </a:r>
            <a:endParaRPr lang="zh-CN" altLang="en-US" dirty="0">
              <a:latin typeface="宋体" panose="02010600030101010101" pitchFamily="2" charset="-122"/>
              <a:ea typeface="宋体" panose="02010600030101010101" pitchFamily="2" charset="-122"/>
            </a:endParaRPr>
          </a:p>
        </p:txBody>
      </p:sp>
      <p:sp>
        <p:nvSpPr>
          <p:cNvPr id="20483" name="Rectangle 3"/>
          <p:cNvSpPr>
            <a:spLocks noGrp="1"/>
          </p:cNvSpPr>
          <p:nvPr>
            <p:ph idx="1"/>
          </p:nvPr>
        </p:nvSpPr>
        <p:spPr>
          <a:xfrm>
            <a:off x="762000" y="1371600"/>
            <a:ext cx="7696200" cy="4953000"/>
          </a:xfrm>
        </p:spPr>
        <p:txBody>
          <a:bodyPr vert="horz" wrap="square" lIns="92075" tIns="46038" rIns="92075" bIns="46038" anchor="t" anchorCtr="0"/>
          <a:p>
            <a:r>
              <a:rPr lang="zh-CN" altLang="en-US" sz="2400" b="1" dirty="0">
                <a:latin typeface="宋体" panose="02010600030101010101" pitchFamily="2" charset="-122"/>
                <a:ea typeface="宋体" panose="02010600030101010101" pitchFamily="2" charset="-122"/>
              </a:rPr>
              <a:t>符号串的集合：如集合</a:t>
            </a:r>
            <a:r>
              <a:rPr lang="en-US" altLang="zh-CN" sz="2400" b="1" dirty="0">
                <a:latin typeface="宋体" panose="02010600030101010101" pitchFamily="2" charset="-122"/>
                <a:ea typeface="宋体" panose="02010600030101010101" pitchFamily="2" charset="-122"/>
              </a:rPr>
              <a:t>A</a:t>
            </a:r>
            <a:r>
              <a:rPr lang="zh-CN" altLang="en-US" sz="2400" b="1" dirty="0">
                <a:latin typeface="宋体" panose="02010600030101010101" pitchFamily="2" charset="-122"/>
                <a:ea typeface="宋体" panose="02010600030101010101" pitchFamily="2" charset="-122"/>
              </a:rPr>
              <a:t>中的一切元素是某个字母表上的符号串，则称</a:t>
            </a:r>
            <a:r>
              <a:rPr lang="en-US" altLang="zh-CN" sz="2400" b="1" dirty="0">
                <a:latin typeface="宋体" panose="02010600030101010101" pitchFamily="2" charset="-122"/>
                <a:ea typeface="宋体" panose="02010600030101010101" pitchFamily="2" charset="-122"/>
              </a:rPr>
              <a:t>A</a:t>
            </a:r>
            <a:r>
              <a:rPr lang="zh-CN" altLang="en-US" sz="2400" b="1" dirty="0">
                <a:latin typeface="宋体" panose="02010600030101010101" pitchFamily="2" charset="-122"/>
                <a:ea typeface="宋体" panose="02010600030101010101" pitchFamily="2" charset="-122"/>
              </a:rPr>
              <a:t>为该字母表上的符号串的集合</a:t>
            </a:r>
            <a:endParaRPr lang="en-US" altLang="zh-CN" sz="24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两个符号串集合</a:t>
            </a:r>
            <a:r>
              <a:rPr lang="en-US" altLang="zh-CN" sz="2000" b="1" dirty="0">
                <a:latin typeface="宋体" panose="02010600030101010101" pitchFamily="2" charset="-122"/>
                <a:ea typeface="宋体" panose="02010600030101010101" pitchFamily="2" charset="-122"/>
              </a:rPr>
              <a:t>A</a:t>
            </a:r>
            <a:r>
              <a:rPr lang="zh-CN" altLang="en-US" sz="2000" b="1" dirty="0">
                <a:latin typeface="宋体" panose="02010600030101010101" pitchFamily="2" charset="-122"/>
                <a:ea typeface="宋体" panose="02010600030101010101" pitchFamily="2" charset="-122"/>
              </a:rPr>
              <a:t>和</a:t>
            </a:r>
            <a:r>
              <a:rPr lang="en-US" altLang="zh-CN" sz="2000" b="1" dirty="0">
                <a:latin typeface="宋体" panose="02010600030101010101" pitchFamily="2" charset="-122"/>
                <a:ea typeface="宋体" panose="02010600030101010101" pitchFamily="2" charset="-122"/>
              </a:rPr>
              <a:t>B</a:t>
            </a:r>
            <a:r>
              <a:rPr lang="zh-CN" altLang="en-US" sz="2000" b="1" dirty="0">
                <a:latin typeface="宋体" panose="02010600030101010101" pitchFamily="2" charset="-122"/>
                <a:ea typeface="宋体" panose="02010600030101010101" pitchFamily="2" charset="-122"/>
              </a:rPr>
              <a:t>的乘积：</a:t>
            </a:r>
            <a:r>
              <a:rPr lang="en-US" altLang="zh-CN" sz="2000" b="1" dirty="0">
                <a:latin typeface="宋体" panose="02010600030101010101" pitchFamily="2" charset="-122"/>
                <a:ea typeface="宋体" panose="02010600030101010101" pitchFamily="2" charset="-122"/>
              </a:rPr>
              <a:t>AB={xy|x∈A</a:t>
            </a:r>
            <a:r>
              <a:rPr lang="zh-CN" altLang="en-US" sz="2000" b="1" dirty="0">
                <a:latin typeface="宋体" panose="02010600030101010101" pitchFamily="2" charset="-122"/>
                <a:ea typeface="宋体" panose="02010600030101010101" pitchFamily="2" charset="-122"/>
              </a:rPr>
              <a:t>且</a:t>
            </a:r>
            <a:r>
              <a:rPr lang="en-US" altLang="zh-CN" sz="2000" b="1" dirty="0">
                <a:latin typeface="宋体" panose="02010600030101010101" pitchFamily="2" charset="-122"/>
                <a:ea typeface="宋体" panose="02010600030101010101" pitchFamily="2" charset="-122"/>
              </a:rPr>
              <a:t>y∈B}</a:t>
            </a:r>
            <a:endParaRPr lang="en-US" altLang="zh-CN" sz="2000" b="1" dirty="0">
              <a:latin typeface="宋体" panose="02010600030101010101" pitchFamily="2" charset="-122"/>
              <a:ea typeface="宋体" panose="02010600030101010101" pitchFamily="2" charset="-122"/>
            </a:endParaRPr>
          </a:p>
          <a:p>
            <a:pPr lvl="1"/>
            <a:r>
              <a:rPr lang="en-US" altLang="zh-CN" sz="2000" b="1" dirty="0">
                <a:latin typeface="宋体" panose="02010600030101010101" pitchFamily="2" charset="-122"/>
                <a:ea typeface="宋体" panose="02010600030101010101" pitchFamily="2" charset="-122"/>
              </a:rPr>
              <a:t>{ε}A = A{ε} = A</a:t>
            </a:r>
            <a:endParaRPr lang="en-US" altLang="zh-CN"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指定字母表∑，则∑</a:t>
            </a:r>
            <a:r>
              <a:rPr lang="zh-CN" altLang="en-US" sz="2000" b="1" baseline="30000"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表示∑上的所有有穷长的串的集合： ∑</a:t>
            </a:r>
            <a:r>
              <a:rPr lang="zh-CN" altLang="en-US" sz="2000" b="1" baseline="30000"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 = ∑</a:t>
            </a:r>
            <a:r>
              <a:rPr lang="zh-CN" altLang="en-US" sz="2000" b="1" baseline="30000" dirty="0">
                <a:latin typeface="宋体" panose="02010600030101010101" pitchFamily="2" charset="-122"/>
                <a:ea typeface="宋体" panose="02010600030101010101" pitchFamily="2" charset="-122"/>
              </a:rPr>
              <a:t>0</a:t>
            </a:r>
            <a:r>
              <a:rPr lang="zh-CN" altLang="en-US" sz="2000" b="1" dirty="0">
                <a:latin typeface="宋体" panose="02010600030101010101" pitchFamily="2" charset="-122"/>
                <a:ea typeface="宋体" panose="02010600030101010101" pitchFamily="2" charset="-122"/>
              </a:rPr>
              <a:t>∪∑</a:t>
            </a:r>
            <a:r>
              <a:rPr lang="zh-CN" altLang="en-US" sz="2000" b="1" baseline="30000" dirty="0">
                <a:latin typeface="宋体" panose="02010600030101010101" pitchFamily="2" charset="-122"/>
                <a:ea typeface="宋体" panose="02010600030101010101" pitchFamily="2" charset="-122"/>
              </a:rPr>
              <a:t>1</a:t>
            </a:r>
            <a:r>
              <a:rPr lang="zh-CN" altLang="en-US" sz="2000" b="1" dirty="0">
                <a:latin typeface="宋体" panose="02010600030101010101" pitchFamily="2" charset="-122"/>
                <a:ea typeface="宋体" panose="02010600030101010101" pitchFamily="2" charset="-122"/>
              </a:rPr>
              <a:t>∪∑</a:t>
            </a:r>
            <a:r>
              <a:rPr lang="zh-CN" altLang="en-US" sz="2000" b="1" baseline="30000" dirty="0">
                <a:latin typeface="宋体" panose="02010600030101010101" pitchFamily="2" charset="-122"/>
                <a:ea typeface="宋体" panose="02010600030101010101" pitchFamily="2" charset="-122"/>
              </a:rPr>
              <a:t>2 </a:t>
            </a:r>
            <a:r>
              <a:rPr lang="zh-CN" altLang="en-US" sz="2000" b="1" baseline="30000" dirty="0">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a:t>
            </a:r>
            <a:r>
              <a:rPr lang="en-US" altLang="zh-CN" sz="2000" b="1" baseline="30000" dirty="0">
                <a:latin typeface="宋体" panose="02010600030101010101" pitchFamily="2" charset="-122"/>
                <a:ea typeface="宋体" panose="02010600030101010101" pitchFamily="2" charset="-122"/>
              </a:rPr>
              <a:t>n </a:t>
            </a:r>
            <a:r>
              <a:rPr lang="en-US" altLang="zh-CN" sz="2000" b="1" baseline="30000" dirty="0">
                <a:ea typeface="宋体" panose="02010600030101010101" pitchFamily="2" charset="-122"/>
              </a:rPr>
              <a:t>…</a:t>
            </a:r>
            <a:endParaRPr lang="en-US" altLang="zh-CN" sz="2000" b="1" baseline="30000"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a:t>
            </a:r>
            <a:r>
              <a:rPr lang="zh-CN" altLang="en-US" sz="2000" b="1" baseline="30000"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称为集合</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的闭包， ∑</a:t>
            </a:r>
            <a:r>
              <a:rPr lang="zh-CN" altLang="en-US" sz="2000" b="1" baseline="30000"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称为集合</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的正闭包</a:t>
            </a:r>
            <a:endParaRPr lang="zh-CN" altLang="en-US" sz="2000" b="1" dirty="0">
              <a:latin typeface="宋体" panose="02010600030101010101" pitchFamily="2" charset="-122"/>
              <a:ea typeface="宋体" panose="02010600030101010101" pitchFamily="2" charset="-122"/>
            </a:endParaRPr>
          </a:p>
          <a:p>
            <a:pPr lvl="1">
              <a:buNone/>
            </a:pPr>
            <a:r>
              <a:rPr lang="en-US" altLang="zh-CN" sz="2000" b="1" dirty="0">
                <a:latin typeface="宋体" panose="02010600030101010101" pitchFamily="2" charset="-122"/>
                <a:ea typeface="宋体" panose="02010600030101010101" pitchFamily="2" charset="-122"/>
              </a:rPr>
              <a:t>	</a:t>
            </a:r>
            <a:r>
              <a:rPr lang="zh-CN" altLang="en-US" sz="2000" b="1" dirty="0">
                <a:latin typeface="宋体" panose="02010600030101010101" pitchFamily="2" charset="-122"/>
                <a:ea typeface="宋体" panose="02010600030101010101" pitchFamily="2" charset="-122"/>
              </a:rPr>
              <a:t>显然： ∑</a:t>
            </a:r>
            <a:r>
              <a:rPr lang="zh-CN" altLang="en-US" sz="2000" b="1" baseline="30000"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 ∑</a:t>
            </a:r>
            <a:r>
              <a:rPr lang="zh-CN" altLang="en-US" sz="2000" b="1" baseline="30000" dirty="0">
                <a:latin typeface="宋体" panose="02010600030101010101" pitchFamily="2" charset="-122"/>
                <a:ea typeface="宋体" panose="02010600030101010101" pitchFamily="2" charset="-122"/>
              </a:rPr>
              <a:t>0</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a:t>
            </a:r>
            <a:r>
              <a:rPr lang="en-US" altLang="zh-CN" sz="2000" b="1" baseline="30000"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a:t>
            </a:r>
            <a:r>
              <a:rPr lang="zh-CN" altLang="en-US" sz="2000" b="1" baseline="30000"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a:t>
            </a:r>
            <a:r>
              <a:rPr lang="en-US" altLang="zh-CN" sz="2000" b="1" baseline="30000"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a:t>
            </a:r>
            <a:r>
              <a:rPr lang="en-US" altLang="zh-CN" sz="2000" b="1" baseline="30000"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a:t>
            </a:r>
            <a:endParaRPr lang="en-US" altLang="zh-CN"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a:t>
            </a:r>
            <a:r>
              <a:rPr lang="zh-CN" altLang="en-US" sz="2000" b="1" baseline="30000"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具有可数的无穷数量的元素</a:t>
            </a:r>
            <a:endParaRPr lang="en-US" altLang="zh-CN" sz="2000" b="1" dirty="0">
              <a:latin typeface="宋体" panose="02010600030101010101" pitchFamily="2" charset="-122"/>
              <a:ea typeface="宋体" panose="02010600030101010101" pitchFamily="2" charset="-122"/>
            </a:endParaRPr>
          </a:p>
          <a:p>
            <a:r>
              <a:rPr lang="zh-CN" altLang="en-US" sz="2200" b="1" dirty="0">
                <a:latin typeface="宋体" panose="02010600030101010101" pitchFamily="2" charset="-122"/>
                <a:ea typeface="宋体" panose="02010600030101010101" pitchFamily="2" charset="-122"/>
              </a:rPr>
              <a:t>句子：在语言中，句子是给定字母表上一个符号串</a:t>
            </a:r>
            <a:endParaRPr lang="en-US" altLang="zh-CN" sz="22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根据上下文的语境，有时也称为“字”</a:t>
            </a:r>
            <a:endParaRPr lang="en-US" altLang="zh-CN" sz="2000" b="1" dirty="0">
              <a:latin typeface="宋体" panose="02010600030101010101" pitchFamily="2" charset="-122"/>
              <a:ea typeface="宋体" panose="02010600030101010101" pitchFamily="2" charset="-122"/>
            </a:endParaRPr>
          </a:p>
          <a:p>
            <a:r>
              <a:rPr lang="zh-CN" altLang="en-US" sz="2200" b="1" dirty="0">
                <a:latin typeface="宋体" panose="02010600030101010101" pitchFamily="2" charset="-122"/>
                <a:ea typeface="宋体" panose="02010600030101010101" pitchFamily="2" charset="-122"/>
              </a:rPr>
              <a:t>语言：在给定字母表上一个任意的可数的串集合</a:t>
            </a:r>
            <a:endParaRPr lang="en-US" altLang="zh-CN" sz="22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空集、</a:t>
            </a:r>
            <a:r>
              <a:rPr lang="en-US" altLang="zh-CN" sz="2000" b="1" dirty="0">
                <a:latin typeface="宋体" panose="02010600030101010101" pitchFamily="2" charset="-122"/>
                <a:ea typeface="宋体" panose="02010600030101010101" pitchFamily="2" charset="-122"/>
              </a:rPr>
              <a:t>{ε}</a:t>
            </a:r>
            <a:r>
              <a:rPr lang="zh-CN" altLang="en-US" sz="2000" b="1" dirty="0">
                <a:latin typeface="宋体" panose="02010600030101010101" pitchFamily="2" charset="-122"/>
                <a:ea typeface="宋体" panose="02010600030101010101" pitchFamily="2" charset="-122"/>
              </a:rPr>
              <a:t>、所有语法正确的</a:t>
            </a:r>
            <a:r>
              <a:rPr lang="en-US" altLang="zh-CN" sz="2000" b="1" dirty="0">
                <a:latin typeface="宋体" panose="02010600030101010101" pitchFamily="2" charset="-122"/>
                <a:ea typeface="宋体" panose="02010600030101010101" pitchFamily="2" charset="-122"/>
              </a:rPr>
              <a:t>C</a:t>
            </a:r>
            <a:r>
              <a:rPr lang="zh-CN" altLang="en-US" sz="2000" b="1" dirty="0">
                <a:latin typeface="宋体" panose="02010600030101010101" pitchFamily="2" charset="-122"/>
                <a:ea typeface="宋体" panose="02010600030101010101" pitchFamily="2" charset="-122"/>
              </a:rPr>
              <a:t>程序集合、所有语法正确的英语句子的集合等都是语言</a:t>
            </a:r>
            <a:endParaRPr lang="en-US" altLang="zh-CN" sz="20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语法定义（</a:t>
            </a:r>
            <a:r>
              <a:rPr lang="en-US" altLang="zh-CN" dirty="0">
                <a:latin typeface="宋体" panose="02010600030101010101" pitchFamily="2" charset="-122"/>
                <a:ea typeface="宋体" panose="02010600030101010101" pitchFamily="2" charset="-122"/>
              </a:rPr>
              <a:t>6</a:t>
            </a:r>
            <a:r>
              <a:rPr lang="zh-CN" altLang="en-US" dirty="0">
                <a:latin typeface="宋体" panose="02010600030101010101" pitchFamily="2" charset="-122"/>
                <a:ea typeface="宋体" panose="02010600030101010101" pitchFamily="2" charset="-122"/>
              </a:rPr>
              <a:t>）</a:t>
            </a:r>
            <a:br>
              <a:rPr lang="en-US" altLang="zh-CN"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文法和语言的形式定义（4）</a:t>
            </a:r>
            <a:endParaRPr lang="zh-CN" altLang="en-US" dirty="0">
              <a:latin typeface="宋体" panose="02010600030101010101" pitchFamily="2" charset="-122"/>
              <a:ea typeface="宋体" panose="02010600030101010101" pitchFamily="2" charset="-122"/>
            </a:endParaRPr>
          </a:p>
        </p:txBody>
      </p:sp>
      <p:sp>
        <p:nvSpPr>
          <p:cNvPr id="22531" name="Rectangle 4"/>
          <p:cNvSpPr>
            <a:spLocks noGrp="1"/>
          </p:cNvSpPr>
          <p:nvPr>
            <p:ph idx="1"/>
          </p:nvPr>
        </p:nvSpPr>
        <p:spPr>
          <a:xfrm>
            <a:off x="914400" y="1371600"/>
            <a:ext cx="7467600" cy="5257800"/>
          </a:xfrm>
        </p:spPr>
        <p:txBody>
          <a:bodyPr vert="horz" wrap="square" lIns="92075" tIns="46038" rIns="92075" bIns="46038" anchor="t" anchorCtr="0"/>
          <a:p>
            <a:r>
              <a:rPr lang="zh-CN" altLang="en-US" sz="2200" b="1" dirty="0">
                <a:latin typeface="宋体" panose="02010600030101010101" pitchFamily="2" charset="-122"/>
                <a:ea typeface="宋体" panose="02010600030101010101" pitchFamily="2" charset="-122"/>
              </a:rPr>
              <a:t>重写规则：也称为规则，产生式或生成式，是描述语言规范的重要概念</a:t>
            </a:r>
            <a:endParaRPr lang="en-US" altLang="zh-CN" sz="2200" b="1" dirty="0">
              <a:latin typeface="宋体" panose="02010600030101010101" pitchFamily="2" charset="-122"/>
              <a:ea typeface="宋体" panose="02010600030101010101" pitchFamily="2" charset="-122"/>
            </a:endParaRPr>
          </a:p>
          <a:p>
            <a:pPr lvl="1"/>
            <a:r>
              <a:rPr lang="zh-CN" altLang="en-US" sz="1800" b="1" dirty="0">
                <a:latin typeface="宋体" panose="02010600030101010101" pitchFamily="2" charset="-122"/>
                <a:ea typeface="宋体" panose="02010600030101010101" pitchFamily="2" charset="-122"/>
              </a:rPr>
              <a:t>重写规则是形如</a:t>
            </a:r>
            <a:r>
              <a:rPr lang="en-US" altLang="zh-CN" sz="1800" b="1" dirty="0">
                <a:latin typeface="宋体" panose="02010600030101010101" pitchFamily="2" charset="-122"/>
                <a:ea typeface="宋体" panose="02010600030101010101" pitchFamily="2" charset="-122"/>
              </a:rPr>
              <a:t>α→β</a:t>
            </a:r>
            <a:r>
              <a:rPr lang="zh-CN" altLang="en-US" sz="1800" b="1" dirty="0">
                <a:latin typeface="宋体" panose="02010600030101010101" pitchFamily="2" charset="-122"/>
                <a:ea typeface="宋体" panose="02010600030101010101" pitchFamily="2" charset="-122"/>
              </a:rPr>
              <a:t>或</a:t>
            </a:r>
            <a:r>
              <a:rPr lang="en-US" altLang="zh-CN" sz="1800" b="1" dirty="0">
                <a:latin typeface="宋体" panose="02010600030101010101" pitchFamily="2" charset="-122"/>
                <a:ea typeface="宋体" panose="02010600030101010101" pitchFamily="2" charset="-122"/>
              </a:rPr>
              <a:t>α</a:t>
            </a:r>
            <a:r>
              <a:rPr lang="zh-CN" altLang="en-US" sz="1400" b="1" dirty="0">
                <a:ea typeface="宋体" panose="02010600030101010101" pitchFamily="2" charset="-122"/>
                <a:sym typeface="Wingdings" panose="05000000000000000000" pitchFamily="2" charset="2"/>
              </a:rPr>
              <a:t>::=</a:t>
            </a:r>
            <a:r>
              <a:rPr lang="en-US" altLang="zh-CN" sz="1800" b="1" dirty="0">
                <a:latin typeface="宋体" panose="02010600030101010101" pitchFamily="2" charset="-122"/>
                <a:ea typeface="宋体" panose="02010600030101010101" pitchFamily="2" charset="-122"/>
              </a:rPr>
              <a:t>β</a:t>
            </a:r>
            <a:r>
              <a:rPr lang="zh-CN" altLang="en-US" sz="1800" b="1" dirty="0">
                <a:latin typeface="宋体" panose="02010600030101010101" pitchFamily="2" charset="-122"/>
                <a:ea typeface="宋体" panose="02010600030101010101" pitchFamily="2" charset="-122"/>
              </a:rPr>
              <a:t>的(</a:t>
            </a:r>
            <a:r>
              <a:rPr lang="en-US" altLang="zh-CN" sz="1800" b="1" dirty="0">
                <a:latin typeface="宋体" panose="02010600030101010101" pitchFamily="2" charset="-122"/>
                <a:ea typeface="宋体" panose="02010600030101010101" pitchFamily="2" charset="-122"/>
              </a:rPr>
              <a:t>α,β)</a:t>
            </a:r>
            <a:r>
              <a:rPr lang="zh-CN" altLang="en-US" sz="1800" b="1" dirty="0">
                <a:latin typeface="宋体" panose="02010600030101010101" pitchFamily="2" charset="-122"/>
                <a:ea typeface="宋体" panose="02010600030101010101" pitchFamily="2" charset="-122"/>
              </a:rPr>
              <a:t>有序对，其中</a:t>
            </a:r>
            <a:r>
              <a:rPr lang="en-US" altLang="zh-CN" sz="1800" b="1" dirty="0">
                <a:latin typeface="宋体" panose="02010600030101010101" pitchFamily="2" charset="-122"/>
                <a:ea typeface="宋体" panose="02010600030101010101" pitchFamily="2" charset="-122"/>
              </a:rPr>
              <a:t>α</a:t>
            </a:r>
            <a:r>
              <a:rPr lang="zh-CN" altLang="en-US" sz="1800" b="1" dirty="0">
                <a:latin typeface="宋体" panose="02010600030101010101" pitchFamily="2" charset="-122"/>
                <a:ea typeface="宋体" panose="02010600030101010101" pitchFamily="2" charset="-122"/>
              </a:rPr>
              <a:t>是某个字母表∑的正闭包∑</a:t>
            </a:r>
            <a:r>
              <a:rPr lang="zh-CN" altLang="en-US" sz="1800" b="1" baseline="30000" dirty="0">
                <a:latin typeface="宋体" panose="02010600030101010101" pitchFamily="2" charset="-122"/>
                <a:ea typeface="宋体" panose="02010600030101010101" pitchFamily="2" charset="-122"/>
              </a:rPr>
              <a:t>+</a:t>
            </a:r>
            <a:r>
              <a:rPr lang="zh-CN" altLang="en-US" sz="1800" b="1" dirty="0">
                <a:latin typeface="宋体" panose="02010600030101010101" pitchFamily="2" charset="-122"/>
                <a:ea typeface="宋体" panose="02010600030101010101" pitchFamily="2" charset="-122"/>
              </a:rPr>
              <a:t>中的一个符号串， </a:t>
            </a:r>
            <a:r>
              <a:rPr lang="en-US" altLang="zh-CN" sz="1800" b="1" dirty="0">
                <a:latin typeface="宋体" panose="02010600030101010101" pitchFamily="2" charset="-122"/>
                <a:ea typeface="宋体" panose="02010600030101010101" pitchFamily="2" charset="-122"/>
              </a:rPr>
              <a:t>β</a:t>
            </a:r>
            <a:r>
              <a:rPr lang="zh-CN" altLang="en-US" sz="1800" b="1" dirty="0">
                <a:latin typeface="宋体" panose="02010600030101010101" pitchFamily="2" charset="-122"/>
                <a:ea typeface="宋体" panose="02010600030101010101" pitchFamily="2" charset="-122"/>
              </a:rPr>
              <a:t>是∑</a:t>
            </a:r>
            <a:r>
              <a:rPr lang="zh-CN" altLang="en-US" sz="1800" b="1" baseline="30000" dirty="0">
                <a:latin typeface="宋体" panose="02010600030101010101" pitchFamily="2" charset="-122"/>
                <a:ea typeface="宋体" panose="02010600030101010101" pitchFamily="2" charset="-122"/>
              </a:rPr>
              <a:t>*</a:t>
            </a:r>
            <a:r>
              <a:rPr lang="zh-CN" altLang="en-US" sz="1800" b="1" dirty="0">
                <a:latin typeface="宋体" panose="02010600030101010101" pitchFamily="2" charset="-122"/>
                <a:ea typeface="宋体" panose="02010600030101010101" pitchFamily="2" charset="-122"/>
              </a:rPr>
              <a:t>中的一个符号串</a:t>
            </a:r>
            <a:endParaRPr lang="en-US" altLang="zh-CN" sz="1800" b="1" dirty="0">
              <a:latin typeface="宋体" panose="02010600030101010101" pitchFamily="2" charset="-122"/>
              <a:ea typeface="宋体" panose="02010600030101010101" pitchFamily="2" charset="-122"/>
            </a:endParaRPr>
          </a:p>
          <a:p>
            <a:pPr lvl="1"/>
            <a:r>
              <a:rPr lang="en-US" altLang="zh-CN" sz="2000" b="1" dirty="0">
                <a:latin typeface="宋体" panose="02010600030101010101" pitchFamily="2" charset="-122"/>
                <a:ea typeface="宋体" panose="02010600030101010101" pitchFamily="2" charset="-122"/>
              </a:rPr>
              <a:t>α</a:t>
            </a:r>
            <a:r>
              <a:rPr lang="zh-CN" altLang="en-US" sz="2000" b="1" dirty="0">
                <a:latin typeface="宋体" panose="02010600030101010101" pitchFamily="2" charset="-122"/>
                <a:ea typeface="宋体" panose="02010600030101010101" pitchFamily="2" charset="-122"/>
              </a:rPr>
              <a:t>称为规则的左部，</a:t>
            </a:r>
            <a:r>
              <a:rPr lang="en-US" altLang="zh-CN" sz="2000" b="1" dirty="0">
                <a:latin typeface="宋体" panose="02010600030101010101" pitchFamily="2" charset="-122"/>
                <a:ea typeface="宋体" panose="02010600030101010101" pitchFamily="2" charset="-122"/>
              </a:rPr>
              <a:t>β</a:t>
            </a:r>
            <a:r>
              <a:rPr lang="zh-CN" altLang="en-US" sz="2000" b="1" dirty="0">
                <a:latin typeface="宋体" panose="02010600030101010101" pitchFamily="2" charset="-122"/>
                <a:ea typeface="宋体" panose="02010600030101010101" pitchFamily="2" charset="-122"/>
              </a:rPr>
              <a:t>称为规则的右部</a:t>
            </a:r>
            <a:endParaRPr lang="zh-CN" altLang="en-US" sz="2000" b="1" dirty="0">
              <a:latin typeface="宋体" panose="02010600030101010101" pitchFamily="2" charset="-122"/>
              <a:ea typeface="宋体" panose="02010600030101010101" pitchFamily="2" charset="-122"/>
            </a:endParaRPr>
          </a:p>
          <a:p>
            <a:r>
              <a:rPr lang="zh-CN" altLang="en-US" sz="2200" b="1" dirty="0">
                <a:latin typeface="宋体" panose="02010600030101010101" pitchFamily="2" charset="-122"/>
                <a:ea typeface="宋体" panose="02010600030101010101" pitchFamily="2" charset="-122"/>
              </a:rPr>
              <a:t>文法：</a:t>
            </a:r>
            <a:endParaRPr lang="zh-CN" altLang="en-US" sz="22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文法</a:t>
            </a:r>
            <a:r>
              <a:rPr lang="en-US" altLang="zh-CN" sz="2000" b="1" dirty="0">
                <a:latin typeface="宋体" panose="02010600030101010101" pitchFamily="2" charset="-122"/>
                <a:ea typeface="宋体" panose="02010600030101010101" pitchFamily="2" charset="-122"/>
              </a:rPr>
              <a:t>G</a:t>
            </a:r>
            <a:r>
              <a:rPr lang="zh-CN" altLang="en-US" sz="2000" b="1" dirty="0">
                <a:latin typeface="宋体" panose="02010600030101010101" pitchFamily="2" charset="-122"/>
                <a:ea typeface="宋体" panose="02010600030101010101" pitchFamily="2" charset="-122"/>
              </a:rPr>
              <a:t>定义为四元组：(</a:t>
            </a:r>
            <a:r>
              <a:rPr lang="en-US" altLang="zh-CN" sz="2000" b="1" dirty="0">
                <a:latin typeface="宋体" panose="02010600030101010101" pitchFamily="2" charset="-122"/>
                <a:ea typeface="宋体" panose="02010600030101010101" pitchFamily="2" charset="-122"/>
              </a:rPr>
              <a:t>V</a:t>
            </a:r>
            <a:r>
              <a:rPr lang="en-US" altLang="zh-CN" sz="2000" b="1" baseline="-25000" dirty="0">
                <a:latin typeface="宋体" panose="02010600030101010101" pitchFamily="2" charset="-122"/>
                <a:ea typeface="宋体" panose="02010600030101010101" pitchFamily="2" charset="-122"/>
              </a:rPr>
              <a:t>N</a:t>
            </a:r>
            <a:r>
              <a:rPr lang="en-US" altLang="zh-CN" sz="2000" b="1" dirty="0">
                <a:latin typeface="宋体" panose="02010600030101010101" pitchFamily="2" charset="-122"/>
                <a:ea typeface="宋体" panose="02010600030101010101" pitchFamily="2" charset="-122"/>
              </a:rPr>
              <a:t>，V</a:t>
            </a:r>
            <a:r>
              <a:rPr lang="en-US" altLang="zh-CN" sz="2000" b="1" baseline="-25000" dirty="0">
                <a:latin typeface="宋体" panose="02010600030101010101" pitchFamily="2" charset="-122"/>
                <a:ea typeface="宋体" panose="02010600030101010101" pitchFamily="2" charset="-122"/>
              </a:rPr>
              <a:t>T</a:t>
            </a:r>
            <a:r>
              <a:rPr lang="en-US" altLang="zh-CN" sz="2000" b="1" dirty="0">
                <a:latin typeface="宋体" panose="02010600030101010101" pitchFamily="2" charset="-122"/>
                <a:ea typeface="宋体" panose="02010600030101010101" pitchFamily="2" charset="-122"/>
              </a:rPr>
              <a:t>，P，S)</a:t>
            </a:r>
            <a:endParaRPr lang="en-US" altLang="zh-CN" sz="2000" b="1" dirty="0">
              <a:latin typeface="宋体" panose="02010600030101010101" pitchFamily="2" charset="-122"/>
              <a:ea typeface="宋体" panose="02010600030101010101" pitchFamily="2" charset="-122"/>
            </a:endParaRPr>
          </a:p>
          <a:p>
            <a:pPr lvl="2"/>
            <a:r>
              <a:rPr lang="en-US" altLang="zh-CN" sz="1800" b="1" dirty="0">
                <a:latin typeface="宋体" panose="02010600030101010101" pitchFamily="2" charset="-122"/>
                <a:ea typeface="宋体" panose="02010600030101010101" pitchFamily="2" charset="-122"/>
              </a:rPr>
              <a:t>V</a:t>
            </a:r>
            <a:r>
              <a:rPr lang="en-US" altLang="zh-CN" sz="1800" b="1" baseline="-25000" dirty="0">
                <a:latin typeface="宋体" panose="02010600030101010101" pitchFamily="2" charset="-122"/>
                <a:ea typeface="宋体" panose="02010600030101010101" pitchFamily="2" charset="-122"/>
              </a:rPr>
              <a:t>N</a:t>
            </a:r>
            <a:r>
              <a:rPr lang="zh-CN" altLang="en-US" sz="1800" b="1" dirty="0">
                <a:latin typeface="宋体" panose="02010600030101010101" pitchFamily="2" charset="-122"/>
                <a:ea typeface="宋体" panose="02010600030101010101" pitchFamily="2" charset="-122"/>
              </a:rPr>
              <a:t>是非终结符号集合，</a:t>
            </a:r>
            <a:r>
              <a:rPr lang="en-US" altLang="zh-CN" sz="1800" b="1" dirty="0">
                <a:latin typeface="宋体" panose="02010600030101010101" pitchFamily="2" charset="-122"/>
                <a:ea typeface="宋体" panose="02010600030101010101" pitchFamily="2" charset="-122"/>
              </a:rPr>
              <a:t>V</a:t>
            </a:r>
            <a:r>
              <a:rPr lang="en-US" altLang="zh-CN" sz="1800" b="1" baseline="-25000" dirty="0">
                <a:latin typeface="宋体" panose="02010600030101010101" pitchFamily="2" charset="-122"/>
                <a:ea typeface="宋体" panose="02010600030101010101" pitchFamily="2" charset="-122"/>
              </a:rPr>
              <a:t>T</a:t>
            </a:r>
            <a:r>
              <a:rPr lang="zh-CN" altLang="en-US" sz="1800" b="1" dirty="0">
                <a:latin typeface="宋体" panose="02010600030101010101" pitchFamily="2" charset="-122"/>
                <a:ea typeface="宋体" panose="02010600030101010101" pitchFamily="2" charset="-122"/>
              </a:rPr>
              <a:t>是终结符号集合，</a:t>
            </a:r>
            <a:r>
              <a:rPr lang="en-US" altLang="zh-CN" sz="1800" b="1" dirty="0">
                <a:latin typeface="宋体" panose="02010600030101010101" pitchFamily="2" charset="-122"/>
                <a:ea typeface="宋体" panose="02010600030101010101" pitchFamily="2" charset="-122"/>
              </a:rPr>
              <a:t>P</a:t>
            </a:r>
            <a:r>
              <a:rPr lang="zh-CN" altLang="en-US" sz="1800" b="1" dirty="0">
                <a:latin typeface="宋体" panose="02010600030101010101" pitchFamily="2" charset="-122"/>
                <a:ea typeface="宋体" panose="02010600030101010101" pitchFamily="2" charset="-122"/>
              </a:rPr>
              <a:t>是产生式的集合，这三个集合是非空有穷集</a:t>
            </a:r>
            <a:endParaRPr lang="en-US" altLang="zh-CN" sz="1800" b="1" dirty="0">
              <a:latin typeface="宋体" panose="02010600030101010101" pitchFamily="2" charset="-122"/>
              <a:ea typeface="宋体" panose="02010600030101010101" pitchFamily="2" charset="-122"/>
            </a:endParaRPr>
          </a:p>
          <a:p>
            <a:pPr lvl="2"/>
            <a:r>
              <a:rPr lang="en-US" altLang="zh-CN" sz="2000" b="1" dirty="0">
                <a:latin typeface="宋体" panose="02010600030101010101" pitchFamily="2" charset="-122"/>
                <a:ea typeface="宋体" panose="02010600030101010101" pitchFamily="2" charset="-122"/>
              </a:rPr>
              <a:t>S</a:t>
            </a:r>
            <a:r>
              <a:rPr lang="zh-CN" altLang="en-US" sz="2000" b="1" dirty="0">
                <a:latin typeface="宋体" panose="02010600030101010101" pitchFamily="2" charset="-122"/>
                <a:ea typeface="宋体" panose="02010600030101010101" pitchFamily="2" charset="-122"/>
              </a:rPr>
              <a:t>是开始符号，也称为是识别符号</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是一个非终结符，至少在一个产生式作为左部出现</a:t>
            </a:r>
            <a:endParaRPr lang="en-US" altLang="zh-CN" sz="2000" b="1" dirty="0">
              <a:latin typeface="宋体" panose="02010600030101010101" pitchFamily="2" charset="-122"/>
              <a:ea typeface="宋体" panose="02010600030101010101" pitchFamily="2" charset="-122"/>
            </a:endParaRPr>
          </a:p>
          <a:p>
            <a:pPr lvl="2"/>
            <a:r>
              <a:rPr lang="en-US" altLang="zh-CN" sz="2000" b="1" dirty="0">
                <a:latin typeface="宋体" panose="02010600030101010101" pitchFamily="2" charset="-122"/>
                <a:ea typeface="宋体" panose="02010600030101010101" pitchFamily="2" charset="-122"/>
              </a:rPr>
              <a:t>V</a:t>
            </a:r>
            <a:r>
              <a:rPr lang="en-US" altLang="zh-CN" sz="2000" b="1" baseline="-25000" dirty="0">
                <a:latin typeface="宋体" panose="02010600030101010101" pitchFamily="2" charset="-122"/>
                <a:ea typeface="宋体" panose="02010600030101010101" pitchFamily="2" charset="-122"/>
              </a:rPr>
              <a:t>N</a:t>
            </a:r>
            <a:r>
              <a:rPr lang="en-US" altLang="zh-CN" sz="2000" b="1" dirty="0">
                <a:latin typeface="宋体" panose="02010600030101010101" pitchFamily="2" charset="-122"/>
                <a:ea typeface="宋体" panose="02010600030101010101" pitchFamily="2" charset="-122"/>
              </a:rPr>
              <a:t>∩V</a:t>
            </a:r>
            <a:r>
              <a:rPr lang="en-US" altLang="zh-CN" sz="2000" b="1" baseline="-25000" dirty="0">
                <a:latin typeface="宋体" panose="02010600030101010101" pitchFamily="2" charset="-122"/>
                <a:ea typeface="宋体" panose="02010600030101010101" pitchFamily="2" charset="-122"/>
              </a:rPr>
              <a:t>T</a:t>
            </a:r>
            <a:r>
              <a:rPr lang="en-US" altLang="zh-CN" sz="2000" b="1" dirty="0">
                <a:latin typeface="宋体" panose="02010600030101010101" pitchFamily="2" charset="-122"/>
                <a:ea typeface="宋体" panose="02010600030101010101" pitchFamily="2" charset="-122"/>
              </a:rPr>
              <a:t>=Φ</a:t>
            </a:r>
            <a:endParaRPr lang="en-US" altLang="zh-CN" sz="2000" b="1"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通常用</a:t>
            </a:r>
            <a:r>
              <a:rPr lang="en-US" altLang="zh-CN" sz="2000" b="1" dirty="0">
                <a:latin typeface="宋体" panose="02010600030101010101" pitchFamily="2" charset="-122"/>
                <a:ea typeface="宋体" panose="02010600030101010101" pitchFamily="2" charset="-122"/>
              </a:rPr>
              <a:t>V</a:t>
            </a:r>
            <a:r>
              <a:rPr lang="zh-CN" altLang="en-US" sz="2000" b="1" dirty="0">
                <a:latin typeface="宋体" panose="02010600030101010101" pitchFamily="2" charset="-122"/>
                <a:ea typeface="宋体" panose="02010600030101010101" pitchFamily="2" charset="-122"/>
              </a:rPr>
              <a:t>表示</a:t>
            </a:r>
            <a:r>
              <a:rPr lang="en-US" altLang="zh-CN" sz="2000" b="1" dirty="0">
                <a:latin typeface="宋体" panose="02010600030101010101" pitchFamily="2" charset="-122"/>
                <a:ea typeface="宋体" panose="02010600030101010101" pitchFamily="2" charset="-122"/>
              </a:rPr>
              <a:t>V</a:t>
            </a:r>
            <a:r>
              <a:rPr lang="en-US" altLang="zh-CN" sz="2000" b="1" baseline="-25000" dirty="0">
                <a:latin typeface="宋体" panose="02010600030101010101" pitchFamily="2" charset="-122"/>
                <a:ea typeface="宋体" panose="02010600030101010101" pitchFamily="2" charset="-122"/>
              </a:rPr>
              <a:t>N</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V</a:t>
            </a:r>
            <a:r>
              <a:rPr lang="en-US" altLang="zh-CN" sz="2000" b="1" baseline="-25000" dirty="0">
                <a:latin typeface="宋体" panose="02010600030101010101" pitchFamily="2" charset="-122"/>
                <a:ea typeface="宋体" panose="02010600030101010101" pitchFamily="2" charset="-122"/>
              </a:rPr>
              <a:t>T</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称为文法</a:t>
            </a:r>
            <a:r>
              <a:rPr lang="en-US" altLang="zh-CN" sz="2000" b="1" dirty="0">
                <a:latin typeface="宋体" panose="02010600030101010101" pitchFamily="2" charset="-122"/>
                <a:ea typeface="宋体" panose="02010600030101010101" pitchFamily="2" charset="-122"/>
              </a:rPr>
              <a:t>G</a:t>
            </a:r>
            <a:r>
              <a:rPr lang="zh-CN" altLang="en-US" sz="2000" b="1" dirty="0">
                <a:latin typeface="宋体" panose="02010600030101010101" pitchFamily="2" charset="-122"/>
                <a:ea typeface="宋体" panose="02010600030101010101" pitchFamily="2" charset="-122"/>
              </a:rPr>
              <a:t>的字母表或字汇表</a:t>
            </a:r>
            <a:endParaRPr lang="zh-CN" altLang="en-US" sz="20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语法定义（</a:t>
            </a:r>
            <a:r>
              <a:rPr lang="en-US" altLang="zh-CN" dirty="0">
                <a:latin typeface="宋体" panose="02010600030101010101" pitchFamily="2" charset="-122"/>
                <a:ea typeface="宋体" panose="02010600030101010101" pitchFamily="2" charset="-122"/>
              </a:rPr>
              <a:t>7</a:t>
            </a:r>
            <a:r>
              <a:rPr lang="zh-CN" altLang="en-US" dirty="0">
                <a:latin typeface="宋体" panose="02010600030101010101" pitchFamily="2" charset="-122"/>
                <a:ea typeface="宋体" panose="02010600030101010101" pitchFamily="2" charset="-122"/>
              </a:rPr>
              <a:t>）</a:t>
            </a:r>
            <a:br>
              <a:rPr lang="en-US" altLang="zh-CN"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文法和语言的形式定义（5）</a:t>
            </a:r>
            <a:endParaRPr lang="zh-CN" altLang="en-US" dirty="0">
              <a:latin typeface="宋体" panose="02010600030101010101" pitchFamily="2" charset="-122"/>
              <a:ea typeface="宋体" panose="02010600030101010101" pitchFamily="2" charset="-122"/>
            </a:endParaRPr>
          </a:p>
        </p:txBody>
      </p:sp>
      <p:sp>
        <p:nvSpPr>
          <p:cNvPr id="24579" name="Rectangle 3"/>
          <p:cNvSpPr>
            <a:spLocks noGrp="1"/>
          </p:cNvSpPr>
          <p:nvPr>
            <p:ph idx="1"/>
          </p:nvPr>
        </p:nvSpPr>
        <p:spPr>
          <a:xfrm>
            <a:off x="990600" y="1371600"/>
            <a:ext cx="7391400" cy="4648200"/>
          </a:xfrm>
        </p:spPr>
        <p:txBody>
          <a:bodyPr vert="horz" wrap="square" lIns="92075" tIns="46038" rIns="92075" bIns="46038" anchor="t" anchorCtr="0"/>
          <a:p>
            <a:pPr lvl="1"/>
            <a:r>
              <a:rPr lang="zh-CN" altLang="en-US" b="1" dirty="0">
                <a:latin typeface="宋体" panose="02010600030101010101" pitchFamily="2" charset="-122"/>
                <a:ea typeface="宋体" panose="02010600030101010101" pitchFamily="2" charset="-122"/>
              </a:rPr>
              <a:t>例：文法</a:t>
            </a:r>
            <a:r>
              <a:rPr lang="en-US" altLang="zh-CN" b="1" dirty="0">
                <a:latin typeface="宋体" panose="02010600030101010101" pitchFamily="2" charset="-122"/>
                <a:ea typeface="宋体" panose="02010600030101010101" pitchFamily="2" charset="-122"/>
              </a:rPr>
              <a:t>G1=</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V</a:t>
            </a:r>
            <a:r>
              <a:rPr lang="en-US" altLang="zh-CN" b="1" baseline="-25000" dirty="0">
                <a:latin typeface="宋体" panose="02010600030101010101" pitchFamily="2" charset="-122"/>
                <a:ea typeface="宋体" panose="02010600030101010101" pitchFamily="2" charset="-122"/>
              </a:rPr>
              <a:t>N</a:t>
            </a:r>
            <a:r>
              <a:rPr lang="en-US" altLang="zh-CN" b="1" dirty="0">
                <a:latin typeface="宋体" panose="02010600030101010101" pitchFamily="2" charset="-122"/>
                <a:ea typeface="宋体" panose="02010600030101010101" pitchFamily="2" charset="-122"/>
              </a:rPr>
              <a:t>，V</a:t>
            </a:r>
            <a:r>
              <a:rPr lang="en-US" altLang="zh-CN" b="1" baseline="-25000" dirty="0">
                <a:latin typeface="宋体" panose="02010600030101010101" pitchFamily="2" charset="-122"/>
                <a:ea typeface="宋体" panose="02010600030101010101" pitchFamily="2" charset="-122"/>
              </a:rPr>
              <a:t>T</a:t>
            </a:r>
            <a:r>
              <a:rPr lang="en-US" altLang="zh-CN" b="1" dirty="0">
                <a:latin typeface="宋体" panose="02010600030101010101" pitchFamily="2" charset="-122"/>
                <a:ea typeface="宋体" panose="02010600030101010101" pitchFamily="2" charset="-122"/>
              </a:rPr>
              <a:t>，P，S)，</a:t>
            </a:r>
            <a:r>
              <a:rPr lang="zh-CN" altLang="en-US" b="1" dirty="0">
                <a:latin typeface="宋体" panose="02010600030101010101" pitchFamily="2" charset="-122"/>
                <a:ea typeface="宋体" panose="02010600030101010101" pitchFamily="2" charset="-122"/>
              </a:rPr>
              <a:t>其中</a:t>
            </a:r>
            <a:r>
              <a:rPr lang="en-US" altLang="zh-CN" b="1" dirty="0">
                <a:latin typeface="宋体" panose="02010600030101010101" pitchFamily="2" charset="-122"/>
                <a:ea typeface="宋体" panose="02010600030101010101" pitchFamily="2" charset="-122"/>
              </a:rPr>
              <a:t>V</a:t>
            </a:r>
            <a:r>
              <a:rPr lang="en-US" altLang="zh-CN" b="1" baseline="-25000" dirty="0">
                <a:latin typeface="宋体" panose="02010600030101010101" pitchFamily="2" charset="-122"/>
                <a:ea typeface="宋体" panose="02010600030101010101" pitchFamily="2" charset="-122"/>
              </a:rPr>
              <a:t>N</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S}，V</a:t>
            </a:r>
            <a:r>
              <a:rPr lang="en-US" altLang="zh-CN" b="1" baseline="-25000" dirty="0">
                <a:latin typeface="宋体" panose="02010600030101010101" pitchFamily="2" charset="-122"/>
                <a:ea typeface="宋体" panose="02010600030101010101" pitchFamily="2" charset="-122"/>
              </a:rPr>
              <a:t>T</a:t>
            </a:r>
            <a:r>
              <a:rPr lang="zh-CN" altLang="en-US" b="1" dirty="0">
                <a:latin typeface="宋体" panose="02010600030101010101" pitchFamily="2" charset="-122"/>
                <a:ea typeface="宋体" panose="02010600030101010101" pitchFamily="2" charset="-122"/>
              </a:rPr>
              <a:t>={0，1}，</a:t>
            </a:r>
            <a:r>
              <a:rPr lang="en-US" altLang="zh-CN" b="1" dirty="0">
                <a:latin typeface="宋体" panose="02010600030101010101" pitchFamily="2" charset="-122"/>
                <a:ea typeface="宋体" panose="02010600030101010101" pitchFamily="2" charset="-122"/>
              </a:rPr>
              <a:t>P={0S1，01}</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文法</a:t>
            </a:r>
            <a:r>
              <a:rPr lang="en-US" altLang="zh-CN" b="1" dirty="0">
                <a:latin typeface="宋体" panose="02010600030101010101" pitchFamily="2" charset="-122"/>
                <a:ea typeface="宋体" panose="02010600030101010101" pitchFamily="2" charset="-122"/>
              </a:rPr>
              <a:t>G</a:t>
            </a:r>
            <a:r>
              <a:rPr lang="zh-CN" altLang="en-US" b="1" dirty="0">
                <a:latin typeface="宋体" panose="02010600030101010101" pitchFamily="2" charset="-122"/>
                <a:ea typeface="宋体" panose="02010600030101010101" pitchFamily="2" charset="-122"/>
              </a:rPr>
              <a:t>也可以写成</a:t>
            </a:r>
            <a:r>
              <a:rPr lang="en-US" altLang="zh-CN" b="1" dirty="0">
                <a:latin typeface="宋体" panose="02010600030101010101" pitchFamily="2" charset="-122"/>
                <a:ea typeface="宋体" panose="02010600030101010101" pitchFamily="2" charset="-122"/>
              </a:rPr>
              <a:t>G[S]</a:t>
            </a:r>
            <a:r>
              <a:rPr lang="zh-CN" altLang="en-US" b="1" dirty="0">
                <a:latin typeface="宋体" panose="02010600030101010101" pitchFamily="2" charset="-122"/>
                <a:ea typeface="宋体" panose="02010600030101010101" pitchFamily="2" charset="-122"/>
              </a:rPr>
              <a:t>，可以不必写成四元组的形式，而是只给出产生式，一般约定第一个产生式的左部是文法的开始符号</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如上例可以表示为：</a:t>
            </a:r>
            <a:endParaRPr lang="zh-CN" altLang="en-US" b="1" dirty="0">
              <a:latin typeface="宋体" panose="02010600030101010101" pitchFamily="2" charset="-122"/>
              <a:ea typeface="宋体" panose="02010600030101010101" pitchFamily="2" charset="-122"/>
            </a:endParaRPr>
          </a:p>
          <a:p>
            <a:pPr lvl="2">
              <a:buFont typeface="Wingdings" panose="05000000000000000000" pitchFamily="2" charset="2"/>
              <a:buNone/>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G1： S→0S1</a:t>
            </a:r>
            <a:endParaRPr lang="en-US" altLang="zh-CN" b="1" dirty="0">
              <a:latin typeface="宋体" panose="02010600030101010101" pitchFamily="2" charset="-122"/>
              <a:ea typeface="宋体" panose="02010600030101010101" pitchFamily="2" charset="-122"/>
            </a:endParaRPr>
          </a:p>
          <a:p>
            <a:pPr lvl="2">
              <a:buFont typeface="Wingdings" panose="05000000000000000000" pitchFamily="2" charset="2"/>
              <a:buNone/>
            </a:pPr>
            <a:r>
              <a:rPr lang="en-US" altLang="zh-CN" b="1" dirty="0">
                <a:latin typeface="宋体" panose="02010600030101010101" pitchFamily="2" charset="-122"/>
                <a:ea typeface="宋体" panose="02010600030101010101" pitchFamily="2" charset="-122"/>
              </a:rPr>
              <a:t>	    S→01</a:t>
            </a:r>
            <a:endParaRPr lang="en-US" altLang="zh-CN" b="1" dirty="0">
              <a:latin typeface="宋体" panose="02010600030101010101" pitchFamily="2" charset="-122"/>
              <a:ea typeface="宋体" panose="02010600030101010101" pitchFamily="2" charset="-122"/>
            </a:endParaRPr>
          </a:p>
          <a:p>
            <a:pPr lvl="2">
              <a:buFont typeface="Wingdings" panose="05000000000000000000" pitchFamily="2" charset="2"/>
              <a:buNone/>
            </a:pPr>
            <a:r>
              <a:rPr lang="zh-CN" altLang="en-US" b="1" dirty="0">
                <a:latin typeface="宋体" panose="02010600030101010101" pitchFamily="2" charset="-122"/>
                <a:ea typeface="宋体" panose="02010600030101010101" pitchFamily="2" charset="-122"/>
              </a:rPr>
              <a:t>或</a:t>
            </a:r>
            <a:r>
              <a:rPr lang="en-US" altLang="zh-CN" b="1" dirty="0">
                <a:latin typeface="宋体" panose="02010600030101010101" pitchFamily="2" charset="-122"/>
                <a:ea typeface="宋体" panose="02010600030101010101" pitchFamily="2" charset="-122"/>
              </a:rPr>
              <a:t>G1： S→0S1 | 01</a:t>
            </a:r>
            <a:endParaRPr lang="zh-CN" altLang="en-US"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语法定义（</a:t>
            </a:r>
            <a:r>
              <a:rPr lang="en-US" altLang="zh-CN" dirty="0">
                <a:latin typeface="宋体" panose="02010600030101010101" pitchFamily="2" charset="-122"/>
                <a:ea typeface="宋体" panose="02010600030101010101" pitchFamily="2" charset="-122"/>
              </a:rPr>
              <a:t>8</a:t>
            </a:r>
            <a:r>
              <a:rPr lang="zh-CN" altLang="en-US" dirty="0">
                <a:latin typeface="宋体" panose="02010600030101010101" pitchFamily="2" charset="-122"/>
                <a:ea typeface="宋体" panose="02010600030101010101" pitchFamily="2" charset="-122"/>
              </a:rPr>
              <a:t>）</a:t>
            </a:r>
            <a:br>
              <a:rPr lang="en-US" altLang="zh-CN"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文法和语言的形式定义（6）</a:t>
            </a:r>
            <a:endParaRPr lang="zh-CN" altLang="en-US" dirty="0">
              <a:latin typeface="宋体" panose="02010600030101010101" pitchFamily="2" charset="-122"/>
              <a:ea typeface="宋体" panose="02010600030101010101" pitchFamily="2" charset="-122"/>
            </a:endParaRPr>
          </a:p>
        </p:txBody>
      </p:sp>
      <p:sp>
        <p:nvSpPr>
          <p:cNvPr id="26627" name="Rectangle 3"/>
          <p:cNvSpPr>
            <a:spLocks noGrp="1"/>
          </p:cNvSpPr>
          <p:nvPr>
            <p:ph idx="1"/>
          </p:nvPr>
        </p:nvSpPr>
        <p:spPr>
          <a:xfrm>
            <a:off x="990600" y="1371600"/>
            <a:ext cx="7391400" cy="5257800"/>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推导：定义∑</a:t>
            </a:r>
            <a:r>
              <a:rPr lang="zh-CN" altLang="en-US" b="1" baseline="30000"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中的符号之间的关系</a:t>
            </a:r>
            <a:endParaRPr lang="en-US" altLang="zh-CN" sz="2800"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直接推导/直接归约：</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如果</a:t>
            </a:r>
            <a:r>
              <a:rPr lang="en-US" altLang="zh-CN" b="1" dirty="0">
                <a:latin typeface="宋体" panose="02010600030101010101" pitchFamily="2" charset="-122"/>
                <a:ea typeface="宋体" panose="02010600030101010101" pitchFamily="2" charset="-122"/>
              </a:rPr>
              <a:t>α→β</a:t>
            </a:r>
            <a:r>
              <a:rPr lang="zh-CN" altLang="en-US" b="1" dirty="0">
                <a:latin typeface="宋体" panose="02010600030101010101" pitchFamily="2" charset="-122"/>
                <a:ea typeface="宋体" panose="02010600030101010101" pitchFamily="2" charset="-122"/>
              </a:rPr>
              <a:t>是文法</a:t>
            </a:r>
            <a:r>
              <a:rPr lang="en-US" altLang="zh-CN" b="1" dirty="0">
                <a:latin typeface="宋体" panose="02010600030101010101" pitchFamily="2" charset="-122"/>
                <a:ea typeface="宋体" panose="02010600030101010101" pitchFamily="2" charset="-122"/>
              </a:rPr>
              <a:t>G</a:t>
            </a:r>
            <a:r>
              <a:rPr lang="zh-CN" altLang="en-US" b="1" dirty="0">
                <a:latin typeface="宋体" panose="02010600030101010101" pitchFamily="2" charset="-122"/>
                <a:ea typeface="宋体" panose="02010600030101010101" pitchFamily="2" charset="-122"/>
              </a:rPr>
              <a:t>的一个产生式，</a:t>
            </a:r>
            <a:r>
              <a:rPr lang="en-US" altLang="zh-CN" b="1" dirty="0">
                <a:latin typeface="宋体" panose="02010600030101010101" pitchFamily="2" charset="-122"/>
                <a:ea typeface="宋体" panose="02010600030101010101" pitchFamily="2" charset="-122"/>
              </a:rPr>
              <a:t>x</a:t>
            </a:r>
            <a:r>
              <a:rPr lang="zh-CN" altLang="en-US" b="1" dirty="0">
                <a:latin typeface="宋体" panose="02010600030101010101" pitchFamily="2" charset="-122"/>
                <a:ea typeface="宋体" panose="02010600030101010101" pitchFamily="2" charset="-122"/>
              </a:rPr>
              <a:t>和</a:t>
            </a:r>
            <a:r>
              <a:rPr lang="en-US" altLang="zh-CN" b="1" dirty="0">
                <a:latin typeface="宋体" panose="02010600030101010101" pitchFamily="2" charset="-122"/>
                <a:ea typeface="宋体" panose="02010600030101010101" pitchFamily="2" charset="-122"/>
              </a:rPr>
              <a:t>y</a:t>
            </a:r>
            <a:r>
              <a:rPr lang="zh-CN" altLang="en-US" b="1" dirty="0">
                <a:latin typeface="宋体" panose="02010600030101010101" pitchFamily="2" charset="-122"/>
                <a:ea typeface="宋体" panose="02010600030101010101" pitchFamily="2" charset="-122"/>
              </a:rPr>
              <a:t>是∑</a:t>
            </a:r>
            <a:r>
              <a:rPr lang="zh-CN" altLang="en-US" b="1" baseline="30000"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中的任意符号，若有符号</a:t>
            </a:r>
            <a:r>
              <a:rPr lang="en-US" altLang="zh-CN" b="1" dirty="0">
                <a:latin typeface="宋体" panose="02010600030101010101" pitchFamily="2" charset="-122"/>
                <a:ea typeface="宋体" panose="02010600030101010101" pitchFamily="2" charset="-122"/>
              </a:rPr>
              <a:t>v</a:t>
            </a:r>
            <a:r>
              <a:rPr lang="zh-CN" altLang="en-US" b="1" dirty="0">
                <a:latin typeface="宋体" panose="02010600030101010101" pitchFamily="2" charset="-122"/>
                <a:ea typeface="宋体" panose="02010600030101010101" pitchFamily="2" charset="-122"/>
              </a:rPr>
              <a:t>和</a:t>
            </a:r>
            <a:r>
              <a:rPr lang="en-US" altLang="zh-CN" b="1" dirty="0">
                <a:latin typeface="宋体" panose="02010600030101010101" pitchFamily="2" charset="-122"/>
                <a:ea typeface="宋体" panose="02010600030101010101" pitchFamily="2" charset="-122"/>
              </a:rPr>
              <a:t>w</a:t>
            </a:r>
            <a:r>
              <a:rPr lang="zh-CN" altLang="en-US" b="1" dirty="0">
                <a:latin typeface="宋体" panose="02010600030101010101" pitchFamily="2" charset="-122"/>
                <a:ea typeface="宋体" panose="02010600030101010101" pitchFamily="2" charset="-122"/>
              </a:rPr>
              <a:t>满足：</a:t>
            </a:r>
            <a:r>
              <a:rPr lang="en-US" altLang="zh-CN" b="1" dirty="0">
                <a:latin typeface="宋体" panose="02010600030101010101" pitchFamily="2" charset="-122"/>
                <a:ea typeface="宋体" panose="02010600030101010101" pitchFamily="2" charset="-122"/>
              </a:rPr>
              <a:t>v=xαy，w=xβy，</a:t>
            </a:r>
            <a:r>
              <a:rPr lang="zh-CN" altLang="en-US" b="1" dirty="0">
                <a:latin typeface="宋体" panose="02010600030101010101" pitchFamily="2" charset="-122"/>
                <a:ea typeface="宋体" panose="02010600030101010101" pitchFamily="2" charset="-122"/>
              </a:rPr>
              <a:t>则说</a:t>
            </a:r>
            <a:r>
              <a:rPr lang="en-US" altLang="zh-CN" b="1" dirty="0">
                <a:latin typeface="宋体" panose="02010600030101010101" pitchFamily="2" charset="-122"/>
                <a:ea typeface="宋体" panose="02010600030101010101" pitchFamily="2" charset="-122"/>
              </a:rPr>
              <a:t>v（</a:t>
            </a:r>
            <a:r>
              <a:rPr lang="zh-CN" altLang="en-US" b="1" dirty="0">
                <a:latin typeface="宋体" panose="02010600030101010101" pitchFamily="2" charset="-122"/>
                <a:ea typeface="宋体" panose="02010600030101010101" pitchFamily="2" charset="-122"/>
              </a:rPr>
              <a:t>应用产生式</a:t>
            </a:r>
            <a:r>
              <a:rPr lang="en-US" altLang="zh-CN" b="1" dirty="0">
                <a:latin typeface="宋体" panose="02010600030101010101" pitchFamily="2" charset="-122"/>
                <a:ea typeface="宋体" panose="02010600030101010101" pitchFamily="2" charset="-122"/>
              </a:rPr>
              <a:t>α→β</a:t>
            </a:r>
            <a:r>
              <a:rPr lang="zh-CN" altLang="en-US" b="1" dirty="0">
                <a:latin typeface="宋体" panose="02010600030101010101" pitchFamily="2" charset="-122"/>
                <a:ea typeface="宋体" panose="02010600030101010101" pitchFamily="2" charset="-122"/>
              </a:rPr>
              <a:t> ）直接产生</a:t>
            </a:r>
            <a:r>
              <a:rPr lang="en-US" altLang="zh-CN" b="1" dirty="0">
                <a:latin typeface="宋体" panose="02010600030101010101" pitchFamily="2" charset="-122"/>
                <a:ea typeface="宋体" panose="02010600030101010101" pitchFamily="2" charset="-122"/>
              </a:rPr>
              <a:t>w，</a:t>
            </a:r>
            <a:r>
              <a:rPr lang="zh-CN" altLang="en-US" b="1" dirty="0">
                <a:latin typeface="宋体" panose="02010600030101010101" pitchFamily="2" charset="-122"/>
                <a:ea typeface="宋体" panose="02010600030101010101" pitchFamily="2" charset="-122"/>
              </a:rPr>
              <a:t>或说：</a:t>
            </a:r>
            <a:r>
              <a:rPr lang="en-US" altLang="zh-CN" b="1" dirty="0">
                <a:latin typeface="宋体" panose="02010600030101010101" pitchFamily="2" charset="-122"/>
                <a:ea typeface="宋体" panose="02010600030101010101" pitchFamily="2" charset="-122"/>
              </a:rPr>
              <a:t>w</a:t>
            </a:r>
            <a:r>
              <a:rPr lang="zh-CN" altLang="en-US" b="1" dirty="0">
                <a:latin typeface="宋体" panose="02010600030101010101" pitchFamily="2" charset="-122"/>
                <a:ea typeface="宋体" panose="02010600030101010101" pitchFamily="2" charset="-122"/>
              </a:rPr>
              <a:t>是</a:t>
            </a:r>
            <a:r>
              <a:rPr lang="en-US" altLang="zh-CN" b="1" dirty="0">
                <a:latin typeface="宋体" panose="02010600030101010101" pitchFamily="2" charset="-122"/>
                <a:ea typeface="宋体" panose="02010600030101010101" pitchFamily="2" charset="-122"/>
              </a:rPr>
              <a:t>v</a:t>
            </a:r>
            <a:r>
              <a:rPr lang="zh-CN" altLang="en-US" b="1" dirty="0">
                <a:latin typeface="宋体" panose="02010600030101010101" pitchFamily="2" charset="-122"/>
                <a:ea typeface="宋体" panose="02010600030101010101" pitchFamily="2" charset="-122"/>
              </a:rPr>
              <a:t>的直接推导，而</a:t>
            </a:r>
            <a:r>
              <a:rPr lang="en-US" altLang="zh-CN" b="1" dirty="0">
                <a:latin typeface="宋体" panose="02010600030101010101" pitchFamily="2" charset="-122"/>
                <a:ea typeface="宋体" panose="02010600030101010101" pitchFamily="2" charset="-122"/>
              </a:rPr>
              <a:t>w</a:t>
            </a:r>
            <a:r>
              <a:rPr lang="zh-CN" altLang="en-US" b="1" dirty="0">
                <a:latin typeface="宋体" panose="02010600030101010101" pitchFamily="2" charset="-122"/>
                <a:ea typeface="宋体" panose="02010600030101010101" pitchFamily="2" charset="-122"/>
              </a:rPr>
              <a:t>直接归约到</a:t>
            </a:r>
            <a:r>
              <a:rPr lang="en-US" altLang="zh-CN" b="1" dirty="0">
                <a:latin typeface="宋体" panose="02010600030101010101" pitchFamily="2" charset="-122"/>
                <a:ea typeface="宋体" panose="02010600030101010101" pitchFamily="2" charset="-122"/>
              </a:rPr>
              <a:t>v，</a:t>
            </a:r>
            <a:r>
              <a:rPr lang="zh-CN" altLang="en-US" b="1" dirty="0">
                <a:latin typeface="宋体" panose="02010600030101010101" pitchFamily="2" charset="-122"/>
                <a:ea typeface="宋体" panose="02010600030101010101" pitchFamily="2" charset="-122"/>
              </a:rPr>
              <a:t>记作</a:t>
            </a:r>
            <a:r>
              <a:rPr lang="en-US" altLang="zh-CN" b="1" dirty="0">
                <a:latin typeface="宋体" panose="02010600030101010101" pitchFamily="2" charset="-122"/>
                <a:ea typeface="宋体" panose="02010600030101010101" pitchFamily="2" charset="-122"/>
              </a:rPr>
              <a:t>v=&gt;w</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以文法</a:t>
            </a:r>
            <a:r>
              <a:rPr lang="en-US" altLang="zh-CN" b="1" dirty="0">
                <a:latin typeface="宋体" panose="02010600030101010101" pitchFamily="2" charset="-122"/>
                <a:ea typeface="宋体" panose="02010600030101010101" pitchFamily="2" charset="-122"/>
              </a:rPr>
              <a:t>G1</a:t>
            </a:r>
            <a:r>
              <a:rPr lang="zh-CN" altLang="en-US" b="1" dirty="0">
                <a:latin typeface="宋体" panose="02010600030101010101" pitchFamily="2" charset="-122"/>
                <a:ea typeface="宋体" panose="02010600030101010101" pitchFamily="2" charset="-122"/>
              </a:rPr>
              <a:t>为例：</a:t>
            </a:r>
            <a:endParaRPr lang="zh-CN" altLang="en-US" b="1" dirty="0">
              <a:latin typeface="宋体" panose="02010600030101010101" pitchFamily="2" charset="-122"/>
              <a:ea typeface="宋体" panose="02010600030101010101" pitchFamily="2" charset="-122"/>
            </a:endParaRPr>
          </a:p>
          <a:p>
            <a:pPr lvl="2">
              <a:buFont typeface="Wingdings" panose="05000000000000000000" pitchFamily="2" charset="2"/>
              <a:buNone/>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v=0S1, w=0011, </a:t>
            </a:r>
            <a:r>
              <a:rPr lang="zh-CN" altLang="en-US" b="1" dirty="0">
                <a:latin typeface="宋体" panose="02010600030101010101" pitchFamily="2" charset="-122"/>
                <a:ea typeface="宋体" panose="02010600030101010101" pitchFamily="2" charset="-122"/>
              </a:rPr>
              <a:t>直接推导：0</a:t>
            </a:r>
            <a:r>
              <a:rPr lang="en-US" altLang="zh-CN" b="1" dirty="0">
                <a:latin typeface="宋体" panose="02010600030101010101" pitchFamily="2" charset="-122"/>
                <a:ea typeface="宋体" panose="02010600030101010101" pitchFamily="2" charset="-122"/>
              </a:rPr>
              <a:t>S1=&gt;0011,</a:t>
            </a:r>
            <a:r>
              <a:rPr lang="zh-CN" altLang="en-US" b="1" dirty="0">
                <a:latin typeface="宋体" panose="02010600030101010101" pitchFamily="2" charset="-122"/>
                <a:ea typeface="宋体" panose="02010600030101010101" pitchFamily="2" charset="-122"/>
              </a:rPr>
              <a:t>使用的规则是</a:t>
            </a:r>
            <a:r>
              <a:rPr lang="en-US" altLang="zh-CN" b="1" dirty="0">
                <a:latin typeface="宋体" panose="02010600030101010101" pitchFamily="2" charset="-122"/>
                <a:ea typeface="宋体" panose="02010600030101010101" pitchFamily="2" charset="-122"/>
              </a:rPr>
              <a:t>S→01, </a:t>
            </a:r>
            <a:r>
              <a:rPr lang="zh-CN" altLang="en-US" b="1" dirty="0">
                <a:latin typeface="宋体" panose="02010600030101010101" pitchFamily="2" charset="-122"/>
                <a:ea typeface="宋体" panose="02010600030101010101" pitchFamily="2" charset="-122"/>
              </a:rPr>
              <a:t>这里</a:t>
            </a:r>
            <a:r>
              <a:rPr lang="en-US" altLang="zh-CN" b="1" dirty="0">
                <a:latin typeface="宋体" panose="02010600030101010101" pitchFamily="2" charset="-122"/>
                <a:ea typeface="宋体" panose="02010600030101010101" pitchFamily="2" charset="-122"/>
              </a:rPr>
              <a:t>x=0, y=1</a:t>
            </a:r>
            <a:endParaRPr lang="en-US" altLang="zh-CN" b="1" dirty="0">
              <a:latin typeface="宋体" panose="02010600030101010101" pitchFamily="2" charset="-122"/>
              <a:ea typeface="宋体" panose="02010600030101010101" pitchFamily="2" charset="-122"/>
            </a:endParaRPr>
          </a:p>
          <a:p>
            <a:pPr lvl="2">
              <a:buFont typeface="Wingdings" panose="05000000000000000000" pitchFamily="2" charset="2"/>
              <a:buNone/>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v=S, w=0S1, </a:t>
            </a:r>
            <a:r>
              <a:rPr lang="zh-CN" altLang="en-US" b="1" dirty="0">
                <a:latin typeface="宋体" panose="02010600030101010101" pitchFamily="2" charset="-122"/>
                <a:ea typeface="宋体" panose="02010600030101010101" pitchFamily="2" charset="-122"/>
              </a:rPr>
              <a:t>直接推导：</a:t>
            </a:r>
            <a:r>
              <a:rPr lang="en-US" altLang="zh-CN" b="1" dirty="0">
                <a:latin typeface="宋体" panose="02010600030101010101" pitchFamily="2" charset="-122"/>
                <a:ea typeface="宋体" panose="02010600030101010101" pitchFamily="2" charset="-122"/>
              </a:rPr>
              <a:t>S=&gt;0S1,</a:t>
            </a:r>
            <a:r>
              <a:rPr lang="zh-CN" altLang="en-US" b="1" dirty="0">
                <a:latin typeface="宋体" panose="02010600030101010101" pitchFamily="2" charset="-122"/>
                <a:ea typeface="宋体" panose="02010600030101010101" pitchFamily="2" charset="-122"/>
              </a:rPr>
              <a:t>使用的规则是</a:t>
            </a:r>
            <a:r>
              <a:rPr lang="en-US" altLang="zh-CN" b="1" dirty="0">
                <a:latin typeface="宋体" panose="02010600030101010101" pitchFamily="2" charset="-122"/>
                <a:ea typeface="宋体" panose="02010600030101010101" pitchFamily="2" charset="-122"/>
              </a:rPr>
              <a:t>S→0S1, </a:t>
            </a:r>
            <a:r>
              <a:rPr lang="zh-CN" altLang="en-US" b="1" dirty="0">
                <a:latin typeface="宋体" panose="02010600030101010101" pitchFamily="2" charset="-122"/>
                <a:ea typeface="宋体" panose="02010600030101010101" pitchFamily="2" charset="-122"/>
              </a:rPr>
              <a:t>这里</a:t>
            </a:r>
            <a:r>
              <a:rPr lang="en-US" altLang="zh-CN" b="1" dirty="0">
                <a:latin typeface="宋体" panose="02010600030101010101" pitchFamily="2" charset="-122"/>
                <a:ea typeface="宋体" panose="02010600030101010101" pitchFamily="2" charset="-122"/>
              </a:rPr>
              <a:t>x=ε, y=ε</a:t>
            </a:r>
            <a:endParaRPr lang="en-US" altLang="zh-CN" b="1" dirty="0">
              <a:latin typeface="宋体" panose="02010600030101010101" pitchFamily="2" charset="-122"/>
              <a:ea typeface="宋体" panose="02010600030101010101" pitchFamily="2" charset="-122"/>
            </a:endParaRPr>
          </a:p>
          <a:p>
            <a:pPr lvl="2">
              <a:buFont typeface="Wingdings" panose="05000000000000000000" pitchFamily="2" charset="2"/>
              <a:buNone/>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v=0S1, w=00S11, </a:t>
            </a:r>
            <a:r>
              <a:rPr lang="zh-CN" altLang="en-US" b="1" dirty="0">
                <a:latin typeface="宋体" panose="02010600030101010101" pitchFamily="2" charset="-122"/>
                <a:ea typeface="宋体" panose="02010600030101010101" pitchFamily="2" charset="-122"/>
              </a:rPr>
              <a:t>直接推导：0</a:t>
            </a:r>
            <a:r>
              <a:rPr lang="en-US" altLang="zh-CN" b="1" dirty="0">
                <a:latin typeface="宋体" panose="02010600030101010101" pitchFamily="2" charset="-122"/>
                <a:ea typeface="宋体" panose="02010600030101010101" pitchFamily="2" charset="-122"/>
              </a:rPr>
              <a:t>S1=&gt;00S11,</a:t>
            </a:r>
            <a:r>
              <a:rPr lang="zh-CN" altLang="en-US" b="1" dirty="0">
                <a:latin typeface="宋体" panose="02010600030101010101" pitchFamily="2" charset="-122"/>
                <a:ea typeface="宋体" panose="02010600030101010101" pitchFamily="2" charset="-122"/>
              </a:rPr>
              <a:t>使用的规则是</a:t>
            </a:r>
            <a:r>
              <a:rPr lang="en-US" altLang="zh-CN" b="1" dirty="0">
                <a:latin typeface="宋体" panose="02010600030101010101" pitchFamily="2" charset="-122"/>
                <a:ea typeface="宋体" panose="02010600030101010101" pitchFamily="2" charset="-122"/>
              </a:rPr>
              <a:t>S→0S1, </a:t>
            </a:r>
            <a:r>
              <a:rPr lang="zh-CN" altLang="en-US" b="1" dirty="0">
                <a:latin typeface="宋体" panose="02010600030101010101" pitchFamily="2" charset="-122"/>
                <a:ea typeface="宋体" panose="02010600030101010101" pitchFamily="2" charset="-122"/>
              </a:rPr>
              <a:t>这里</a:t>
            </a:r>
            <a:r>
              <a:rPr lang="en-US" altLang="zh-CN" b="1" dirty="0">
                <a:latin typeface="宋体" panose="02010600030101010101" pitchFamily="2" charset="-122"/>
                <a:ea typeface="宋体" panose="02010600030101010101" pitchFamily="2" charset="-122"/>
              </a:rPr>
              <a:t>x=0, y=1</a:t>
            </a:r>
            <a:endParaRPr lang="en-US" altLang="zh-CN"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语法定义（</a:t>
            </a:r>
            <a:r>
              <a:rPr lang="en-US" altLang="zh-CN" dirty="0">
                <a:latin typeface="宋体" panose="02010600030101010101" pitchFamily="2" charset="-122"/>
                <a:ea typeface="宋体" panose="02010600030101010101" pitchFamily="2" charset="-122"/>
              </a:rPr>
              <a:t>9</a:t>
            </a:r>
            <a:r>
              <a:rPr lang="zh-CN" altLang="en-US" dirty="0">
                <a:latin typeface="宋体" panose="02010600030101010101" pitchFamily="2" charset="-122"/>
                <a:ea typeface="宋体" panose="02010600030101010101" pitchFamily="2" charset="-122"/>
              </a:rPr>
              <a:t>）</a:t>
            </a:r>
            <a:br>
              <a:rPr lang="en-US" altLang="zh-CN"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文法和语言的形式定义（7）</a:t>
            </a:r>
            <a:endParaRPr lang="zh-CN" altLang="en-US" dirty="0">
              <a:latin typeface="宋体" panose="02010600030101010101" pitchFamily="2" charset="-122"/>
              <a:ea typeface="宋体" panose="02010600030101010101" pitchFamily="2" charset="-122"/>
            </a:endParaRPr>
          </a:p>
        </p:txBody>
      </p:sp>
      <p:sp>
        <p:nvSpPr>
          <p:cNvPr id="28675" name="Rectangle 3"/>
          <p:cNvSpPr>
            <a:spLocks noGrp="1"/>
          </p:cNvSpPr>
          <p:nvPr>
            <p:ph idx="1"/>
          </p:nvPr>
        </p:nvSpPr>
        <p:spPr>
          <a:xfrm>
            <a:off x="990600" y="1371600"/>
            <a:ext cx="7391400" cy="5257800"/>
          </a:xfrm>
        </p:spPr>
        <p:txBody>
          <a:bodyPr vert="horz" wrap="square" lIns="92075" tIns="46038" rIns="92075" bIns="46038" anchor="t" anchorCtr="0"/>
          <a:p>
            <a:pPr lvl="1"/>
            <a:r>
              <a:rPr lang="zh-CN" altLang="en-US" b="1" dirty="0">
                <a:latin typeface="宋体" panose="02010600030101010101" pitchFamily="2" charset="-122"/>
                <a:ea typeface="宋体" panose="02010600030101010101" pitchFamily="2" charset="-122"/>
              </a:rPr>
              <a:t>长度为</a:t>
            </a:r>
            <a:r>
              <a:rPr lang="en-US" altLang="zh-CN" b="1" dirty="0">
                <a:latin typeface="宋体" panose="02010600030101010101" pitchFamily="2" charset="-122"/>
                <a:ea typeface="宋体" panose="02010600030101010101" pitchFamily="2" charset="-122"/>
              </a:rPr>
              <a:t>n</a:t>
            </a:r>
            <a:r>
              <a:rPr lang="zh-CN" altLang="en-US" b="1" dirty="0">
                <a:latin typeface="宋体" panose="02010600030101010101" pitchFamily="2" charset="-122"/>
                <a:ea typeface="宋体" panose="02010600030101010101" pitchFamily="2" charset="-122"/>
              </a:rPr>
              <a:t>的推导/归约：</a:t>
            </a:r>
            <a:endParaRPr lang="en-US" altLang="zh-CN" sz="2000"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如果存在直接推导的序列：</a:t>
            </a:r>
            <a:endParaRPr lang="zh-CN" altLang="en-US" b="1" dirty="0">
              <a:latin typeface="宋体" panose="02010600030101010101" pitchFamily="2" charset="-122"/>
              <a:ea typeface="宋体" panose="02010600030101010101" pitchFamily="2" charset="-122"/>
            </a:endParaRPr>
          </a:p>
          <a:p>
            <a:pPr lvl="2">
              <a:spcBef>
                <a:spcPct val="0"/>
              </a:spcBef>
              <a:buFont typeface="Wingdings" panose="05000000000000000000" pitchFamily="2" charset="2"/>
              <a:buNone/>
            </a:pPr>
            <a:r>
              <a:rPr lang="en-US" altLang="zh-CN" b="1" dirty="0">
                <a:latin typeface="宋体" panose="02010600030101010101" pitchFamily="2" charset="-122"/>
                <a:ea typeface="宋体" panose="02010600030101010101" pitchFamily="2" charset="-122"/>
              </a:rPr>
              <a:t>	v=w</a:t>
            </a:r>
            <a:r>
              <a:rPr lang="en-US" altLang="zh-CN" b="1" baseline="-25000" dirty="0">
                <a:latin typeface="宋体" panose="02010600030101010101" pitchFamily="2" charset="-122"/>
                <a:ea typeface="宋体" panose="02010600030101010101" pitchFamily="2" charset="-122"/>
              </a:rPr>
              <a:t>0</a:t>
            </a:r>
            <a:r>
              <a:rPr lang="en-US" altLang="zh-CN" b="1" dirty="0">
                <a:latin typeface="宋体" panose="02010600030101010101" pitchFamily="2" charset="-122"/>
                <a:ea typeface="宋体" panose="02010600030101010101" pitchFamily="2" charset="-122"/>
              </a:rPr>
              <a:t>=&gt;w</a:t>
            </a:r>
            <a:r>
              <a:rPr lang="en-US" altLang="zh-CN" b="1" baseline="-25000" dirty="0">
                <a:latin typeface="宋体" panose="02010600030101010101" pitchFamily="2" charset="-122"/>
                <a:ea typeface="宋体" panose="02010600030101010101" pitchFamily="2" charset="-122"/>
              </a:rPr>
              <a:t>1</a:t>
            </a:r>
            <a:r>
              <a:rPr lang="en-US" altLang="zh-CN" b="1" dirty="0">
                <a:latin typeface="宋体" panose="02010600030101010101" pitchFamily="2" charset="-122"/>
                <a:ea typeface="宋体" panose="02010600030101010101" pitchFamily="2" charset="-122"/>
              </a:rPr>
              <a:t>=&gt;w</a:t>
            </a:r>
            <a:r>
              <a:rPr lang="en-US" altLang="zh-CN" b="1" baseline="-25000" dirty="0">
                <a:latin typeface="宋体" panose="02010600030101010101" pitchFamily="2" charset="-122"/>
                <a:ea typeface="宋体" panose="02010600030101010101" pitchFamily="2" charset="-122"/>
              </a:rPr>
              <a:t>2</a:t>
            </a:r>
            <a:r>
              <a:rPr lang="en-US" altLang="zh-CN" b="1" dirty="0">
                <a:ea typeface="宋体" panose="02010600030101010101" pitchFamily="2" charset="-122"/>
              </a:rPr>
              <a:t>…</a:t>
            </a:r>
            <a:r>
              <a:rPr lang="en-US" altLang="zh-CN" b="1" dirty="0">
                <a:latin typeface="宋体" panose="02010600030101010101" pitchFamily="2" charset="-122"/>
                <a:ea typeface="宋体" panose="02010600030101010101" pitchFamily="2" charset="-122"/>
              </a:rPr>
              <a:t>=&gt;w</a:t>
            </a:r>
            <a:r>
              <a:rPr lang="en-US" altLang="zh-CN" b="1" baseline="-25000" dirty="0">
                <a:latin typeface="宋体" panose="02010600030101010101" pitchFamily="2" charset="-122"/>
                <a:ea typeface="宋体" panose="02010600030101010101" pitchFamily="2" charset="-122"/>
              </a:rPr>
              <a:t>n</a:t>
            </a:r>
            <a:r>
              <a:rPr lang="en-US" altLang="zh-CN" b="1" dirty="0">
                <a:latin typeface="宋体" panose="02010600030101010101" pitchFamily="2" charset="-122"/>
                <a:ea typeface="宋体" panose="02010600030101010101" pitchFamily="2" charset="-122"/>
              </a:rPr>
              <a:t>=w, （n&gt;0）</a:t>
            </a:r>
            <a:endParaRPr lang="en-US" altLang="zh-CN" b="1" dirty="0">
              <a:latin typeface="宋体" panose="02010600030101010101" pitchFamily="2" charset="-122"/>
              <a:ea typeface="宋体" panose="02010600030101010101" pitchFamily="2" charset="-122"/>
            </a:endParaRPr>
          </a:p>
          <a:p>
            <a:pPr lvl="2">
              <a:spcBef>
                <a:spcPct val="0"/>
              </a:spcBef>
              <a:buFont typeface="Wingdings" panose="05000000000000000000" pitchFamily="2" charset="2"/>
              <a:buNone/>
            </a:pP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则称</a:t>
            </a:r>
            <a:r>
              <a:rPr lang="en-US" altLang="zh-CN" b="1" dirty="0">
                <a:latin typeface="宋体" panose="02010600030101010101" pitchFamily="2" charset="-122"/>
                <a:ea typeface="宋体" panose="02010600030101010101" pitchFamily="2" charset="-122"/>
              </a:rPr>
              <a:t>v</a:t>
            </a:r>
            <a:r>
              <a:rPr lang="zh-CN" altLang="en-US" b="1" dirty="0">
                <a:latin typeface="宋体" panose="02010600030101010101" pitchFamily="2" charset="-122"/>
                <a:ea typeface="宋体" panose="02010600030101010101" pitchFamily="2" charset="-122"/>
              </a:rPr>
              <a:t>推导出（产生）</a:t>
            </a:r>
            <a:r>
              <a:rPr lang="en-US" altLang="zh-CN" b="1" dirty="0">
                <a:latin typeface="宋体" panose="02010600030101010101" pitchFamily="2" charset="-122"/>
                <a:ea typeface="宋体" panose="02010600030101010101" pitchFamily="2" charset="-122"/>
              </a:rPr>
              <a:t>w（</a:t>
            </a:r>
            <a:r>
              <a:rPr lang="zh-CN" altLang="en-US" b="1" dirty="0">
                <a:latin typeface="宋体" panose="02010600030101010101" pitchFamily="2" charset="-122"/>
                <a:ea typeface="宋体" panose="02010600030101010101" pitchFamily="2" charset="-122"/>
              </a:rPr>
              <a:t>推导长度为</a:t>
            </a:r>
            <a:r>
              <a:rPr lang="en-US" altLang="zh-CN" b="1" dirty="0">
                <a:latin typeface="宋体" panose="02010600030101010101" pitchFamily="2" charset="-122"/>
                <a:ea typeface="宋体" panose="02010600030101010101" pitchFamily="2" charset="-122"/>
              </a:rPr>
              <a:t>n），</a:t>
            </a:r>
            <a:r>
              <a:rPr lang="zh-CN" altLang="en-US" b="1" dirty="0">
                <a:latin typeface="宋体" panose="02010600030101010101" pitchFamily="2" charset="-122"/>
                <a:ea typeface="宋体" panose="02010600030101010101" pitchFamily="2" charset="-122"/>
              </a:rPr>
              <a:t>或称</a:t>
            </a:r>
            <a:r>
              <a:rPr lang="en-US" altLang="zh-CN" b="1" dirty="0">
                <a:latin typeface="宋体" panose="02010600030101010101" pitchFamily="2" charset="-122"/>
                <a:ea typeface="宋体" panose="02010600030101010101" pitchFamily="2" charset="-122"/>
              </a:rPr>
              <a:t>w</a:t>
            </a:r>
            <a:endParaRPr lang="en-US" altLang="zh-CN" b="1" dirty="0">
              <a:latin typeface="宋体" panose="02010600030101010101" pitchFamily="2" charset="-122"/>
              <a:ea typeface="宋体" panose="02010600030101010101" pitchFamily="2" charset="-122"/>
            </a:endParaRPr>
          </a:p>
          <a:p>
            <a:pPr lvl="2">
              <a:spcBef>
                <a:spcPct val="0"/>
              </a:spcBef>
              <a:buFont typeface="Wingdings" panose="05000000000000000000" pitchFamily="2" charset="2"/>
              <a:buNone/>
            </a:pPr>
            <a:r>
              <a:rPr lang="zh-CN" altLang="en-US" b="1" dirty="0">
                <a:latin typeface="宋体" panose="02010600030101010101" pitchFamily="2" charset="-122"/>
                <a:ea typeface="宋体" panose="02010600030101010101" pitchFamily="2" charset="-122"/>
              </a:rPr>
              <a:t>	</a:t>
            </a:r>
            <a:endParaRPr lang="zh-CN" altLang="en-US" b="1" dirty="0">
              <a:latin typeface="宋体" panose="02010600030101010101" pitchFamily="2" charset="-122"/>
              <a:ea typeface="宋体" panose="02010600030101010101" pitchFamily="2" charset="-122"/>
            </a:endParaRPr>
          </a:p>
          <a:p>
            <a:pPr lvl="2">
              <a:spcBef>
                <a:spcPct val="0"/>
              </a:spcBef>
              <a:buFont typeface="Wingdings" panose="05000000000000000000" pitchFamily="2" charset="2"/>
              <a:buNone/>
            </a:pPr>
            <a:r>
              <a:rPr lang="zh-CN" altLang="en-US" b="1" dirty="0">
                <a:latin typeface="宋体" panose="02010600030101010101" pitchFamily="2" charset="-122"/>
                <a:ea typeface="宋体" panose="02010600030101010101" pitchFamily="2" charset="-122"/>
              </a:rPr>
              <a:t>	归约到</a:t>
            </a:r>
            <a:r>
              <a:rPr lang="en-US" altLang="zh-CN" b="1" dirty="0">
                <a:latin typeface="宋体" panose="02010600030101010101" pitchFamily="2" charset="-122"/>
                <a:ea typeface="宋体" panose="02010600030101010101" pitchFamily="2" charset="-122"/>
              </a:rPr>
              <a:t>v，</a:t>
            </a:r>
            <a:r>
              <a:rPr lang="zh-CN" altLang="en-US" b="1" dirty="0">
                <a:latin typeface="宋体" panose="02010600030101010101" pitchFamily="2" charset="-122"/>
                <a:ea typeface="宋体" panose="02010600030101010101" pitchFamily="2" charset="-122"/>
              </a:rPr>
              <a:t>记作</a:t>
            </a:r>
            <a:endParaRPr lang="zh-CN" altLang="en-US" b="1" dirty="0">
              <a:latin typeface="宋体" panose="02010600030101010101" pitchFamily="2" charset="-122"/>
              <a:ea typeface="宋体" panose="02010600030101010101" pitchFamily="2" charset="-122"/>
            </a:endParaRPr>
          </a:p>
          <a:p>
            <a:pPr lvl="2">
              <a:spcBef>
                <a:spcPct val="0"/>
              </a:spcBef>
              <a:buFont typeface="Wingdings" panose="05000000000000000000" pitchFamily="2" charset="2"/>
              <a:buNone/>
            </a:pPr>
            <a:endParaRPr lang="en-US" altLang="zh-CN" b="1" dirty="0">
              <a:latin typeface="宋体" panose="02010600030101010101" pitchFamily="2" charset="-122"/>
              <a:ea typeface="宋体" panose="02010600030101010101" pitchFamily="2" charset="-122"/>
            </a:endParaRPr>
          </a:p>
          <a:p>
            <a:pPr lvl="2">
              <a:spcBef>
                <a:spcPct val="0"/>
              </a:spcBef>
              <a:buFont typeface="Wingdings" panose="05000000000000000000" pitchFamily="2" charset="2"/>
              <a:buNone/>
            </a:pP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若有      ，或</a:t>
            </a:r>
            <a:r>
              <a:rPr lang="en-US" altLang="zh-CN" b="1" dirty="0">
                <a:latin typeface="宋体" panose="02010600030101010101" pitchFamily="2" charset="-122"/>
                <a:ea typeface="宋体" panose="02010600030101010101" pitchFamily="2" charset="-122"/>
              </a:rPr>
              <a:t>v = w，</a:t>
            </a:r>
            <a:r>
              <a:rPr lang="zh-CN" altLang="en-US" b="1" dirty="0">
                <a:latin typeface="宋体" panose="02010600030101010101" pitchFamily="2" charset="-122"/>
                <a:ea typeface="宋体" panose="02010600030101010101" pitchFamily="2" charset="-122"/>
              </a:rPr>
              <a:t>则记作</a:t>
            </a:r>
            <a:endParaRPr lang="zh-CN" altLang="en-US"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句型：设</a:t>
            </a:r>
            <a:r>
              <a:rPr lang="en-US" altLang="zh-CN" b="1" dirty="0">
                <a:latin typeface="宋体" panose="02010600030101010101" pitchFamily="2" charset="-122"/>
                <a:ea typeface="宋体" panose="02010600030101010101" pitchFamily="2" charset="-122"/>
              </a:rPr>
              <a:t>G[S]</a:t>
            </a:r>
            <a:r>
              <a:rPr lang="zh-CN" altLang="en-US" b="1" dirty="0">
                <a:latin typeface="宋体" panose="02010600030101010101" pitchFamily="2" charset="-122"/>
                <a:ea typeface="宋体" panose="02010600030101010101" pitchFamily="2" charset="-122"/>
              </a:rPr>
              <a:t>是一个文法，如果符号串</a:t>
            </a:r>
            <a:r>
              <a:rPr lang="en-US" altLang="zh-CN" b="1" dirty="0">
                <a:latin typeface="宋体" panose="02010600030101010101" pitchFamily="2" charset="-122"/>
                <a:ea typeface="宋体" panose="02010600030101010101" pitchFamily="2" charset="-122"/>
              </a:rPr>
              <a:t>x</a:t>
            </a:r>
            <a:r>
              <a:rPr lang="zh-CN" altLang="en-US" b="1" dirty="0">
                <a:latin typeface="宋体" panose="02010600030101010101" pitchFamily="2" charset="-122"/>
                <a:ea typeface="宋体" panose="02010600030101010101" pitchFamily="2" charset="-122"/>
              </a:rPr>
              <a:t>是从开始符号</a:t>
            </a:r>
            <a:r>
              <a:rPr lang="en-US" altLang="zh-CN" b="1" dirty="0">
                <a:latin typeface="宋体" panose="02010600030101010101" pitchFamily="2" charset="-122"/>
                <a:ea typeface="宋体" panose="02010600030101010101" pitchFamily="2" charset="-122"/>
              </a:rPr>
              <a:t>S</a:t>
            </a:r>
            <a:r>
              <a:rPr lang="zh-CN" altLang="en-US" b="1" dirty="0">
                <a:latin typeface="宋体" panose="02010600030101010101" pitchFamily="2" charset="-122"/>
                <a:ea typeface="宋体" panose="02010600030101010101" pitchFamily="2" charset="-122"/>
              </a:rPr>
              <a:t>推导出来的，即有     ，则称</a:t>
            </a:r>
            <a:r>
              <a:rPr lang="en-US" altLang="zh-CN" b="1" dirty="0">
                <a:latin typeface="宋体" panose="02010600030101010101" pitchFamily="2" charset="-122"/>
                <a:ea typeface="宋体" panose="02010600030101010101" pitchFamily="2" charset="-122"/>
              </a:rPr>
              <a:t>x</a:t>
            </a:r>
            <a:r>
              <a:rPr lang="zh-CN" altLang="en-US" b="1" dirty="0">
                <a:latin typeface="宋体" panose="02010600030101010101" pitchFamily="2" charset="-122"/>
                <a:ea typeface="宋体" panose="02010600030101010101" pitchFamily="2" charset="-122"/>
              </a:rPr>
              <a:t>是文法</a:t>
            </a:r>
            <a:r>
              <a:rPr lang="en-US" altLang="zh-CN" b="1" dirty="0">
                <a:latin typeface="宋体" panose="02010600030101010101" pitchFamily="2" charset="-122"/>
                <a:ea typeface="宋体" panose="02010600030101010101" pitchFamily="2" charset="-122"/>
              </a:rPr>
              <a:t>G[S]</a:t>
            </a:r>
            <a:r>
              <a:rPr lang="zh-CN" altLang="en-US" b="1" dirty="0">
                <a:latin typeface="宋体" panose="02010600030101010101" pitchFamily="2" charset="-122"/>
                <a:ea typeface="宋体" panose="02010600030101010101" pitchFamily="2" charset="-122"/>
              </a:rPr>
              <a:t>的句型</a:t>
            </a:r>
            <a:endParaRPr lang="en-US" altLang="zh-CN" sz="2000"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句子：若推导出的符号串</a:t>
            </a:r>
            <a:r>
              <a:rPr lang="en-US" altLang="zh-CN" b="1" dirty="0">
                <a:latin typeface="宋体" panose="02010600030101010101" pitchFamily="2" charset="-122"/>
                <a:ea typeface="宋体" panose="02010600030101010101" pitchFamily="2" charset="-122"/>
              </a:rPr>
              <a:t>x</a:t>
            </a:r>
            <a:r>
              <a:rPr lang="zh-CN" altLang="en-US" b="1" dirty="0">
                <a:latin typeface="宋体" panose="02010600030101010101" pitchFamily="2" charset="-122"/>
                <a:ea typeface="宋体" panose="02010600030101010101" pitchFamily="2" charset="-122"/>
              </a:rPr>
              <a:t>仅由终结符号组成，即       则称</a:t>
            </a:r>
            <a:r>
              <a:rPr lang="en-US" altLang="zh-CN" b="1" dirty="0">
                <a:latin typeface="宋体" panose="02010600030101010101" pitchFamily="2" charset="-122"/>
                <a:ea typeface="宋体" panose="02010600030101010101" pitchFamily="2" charset="-122"/>
              </a:rPr>
              <a:t>x</a:t>
            </a:r>
            <a:r>
              <a:rPr lang="zh-CN" altLang="en-US" b="1" dirty="0">
                <a:latin typeface="宋体" panose="02010600030101010101" pitchFamily="2" charset="-122"/>
                <a:ea typeface="宋体" panose="02010600030101010101" pitchFamily="2" charset="-122"/>
              </a:rPr>
              <a:t>为</a:t>
            </a:r>
            <a:r>
              <a:rPr lang="en-US" altLang="zh-CN" b="1" dirty="0">
                <a:latin typeface="宋体" panose="02010600030101010101" pitchFamily="2" charset="-122"/>
                <a:ea typeface="宋体" panose="02010600030101010101" pitchFamily="2" charset="-122"/>
              </a:rPr>
              <a:t>G[S]</a:t>
            </a:r>
            <a:r>
              <a:rPr lang="zh-CN" altLang="en-US" b="1" dirty="0">
                <a:latin typeface="宋体" panose="02010600030101010101" pitchFamily="2" charset="-122"/>
                <a:ea typeface="宋体" panose="02010600030101010101" pitchFamily="2" charset="-122"/>
              </a:rPr>
              <a:t>的句子</a:t>
            </a:r>
            <a:endParaRPr lang="en-US" altLang="zh-CN" sz="2000" b="1" dirty="0">
              <a:latin typeface="宋体" panose="02010600030101010101" pitchFamily="2" charset="-122"/>
              <a:ea typeface="宋体" panose="02010600030101010101" pitchFamily="2" charset="-122"/>
            </a:endParaRPr>
          </a:p>
        </p:txBody>
      </p:sp>
      <p:graphicFrame>
        <p:nvGraphicFramePr>
          <p:cNvPr id="28676" name="Object 8"/>
          <p:cNvGraphicFramePr>
            <a:graphicFrameLocks noChangeAspect="1"/>
          </p:cNvGraphicFramePr>
          <p:nvPr/>
        </p:nvGraphicFramePr>
        <p:xfrm>
          <a:off x="4191000" y="2971800"/>
          <a:ext cx="838200" cy="673100"/>
        </p:xfrm>
        <a:graphic>
          <a:graphicData uri="http://schemas.openxmlformats.org/presentationml/2006/ole">
            <mc:AlternateContent xmlns:mc="http://schemas.openxmlformats.org/markup-compatibility/2006">
              <mc:Choice xmlns:v="urn:schemas-microsoft-com:vml" Requires="v">
                <p:oleObj spid="_x0000_s3078" name="" r:id="rId1" imgW="508000" imgH="406400" progId="Equation.3">
                  <p:embed/>
                </p:oleObj>
              </mc:Choice>
              <mc:Fallback>
                <p:oleObj name="" r:id="rId1" imgW="508000" imgH="406400" progId="Equation.3">
                  <p:embed/>
                  <p:pic>
                    <p:nvPicPr>
                      <p:cNvPr id="0" name="图片 3077"/>
                      <p:cNvPicPr/>
                      <p:nvPr/>
                    </p:nvPicPr>
                    <p:blipFill>
                      <a:blip r:embed="rId2"/>
                      <a:stretch>
                        <a:fillRect/>
                      </a:stretch>
                    </p:blipFill>
                    <p:spPr>
                      <a:xfrm>
                        <a:off x="4191000" y="2971800"/>
                        <a:ext cx="838200" cy="673100"/>
                      </a:xfrm>
                      <a:prstGeom prst="rect">
                        <a:avLst/>
                      </a:prstGeom>
                      <a:noFill/>
                      <a:ln w="38100">
                        <a:noFill/>
                        <a:miter/>
                      </a:ln>
                    </p:spPr>
                  </p:pic>
                </p:oleObj>
              </mc:Fallback>
            </mc:AlternateContent>
          </a:graphicData>
        </a:graphic>
      </p:graphicFrame>
      <p:graphicFrame>
        <p:nvGraphicFramePr>
          <p:cNvPr id="28677" name="Object 10"/>
          <p:cNvGraphicFramePr>
            <a:graphicFrameLocks noChangeAspect="1"/>
          </p:cNvGraphicFramePr>
          <p:nvPr/>
        </p:nvGraphicFramePr>
        <p:xfrm>
          <a:off x="2895600" y="3505200"/>
          <a:ext cx="838200" cy="673100"/>
        </p:xfrm>
        <a:graphic>
          <a:graphicData uri="http://schemas.openxmlformats.org/presentationml/2006/ole">
            <mc:AlternateContent xmlns:mc="http://schemas.openxmlformats.org/markup-compatibility/2006">
              <mc:Choice xmlns:v="urn:schemas-microsoft-com:vml" Requires="v">
                <p:oleObj spid="_x0000_s3080" name="" r:id="rId3" imgW="508000" imgH="406400" progId="Equation.3">
                  <p:embed/>
                </p:oleObj>
              </mc:Choice>
              <mc:Fallback>
                <p:oleObj name="" r:id="rId3" imgW="508000" imgH="406400" progId="Equation.3">
                  <p:embed/>
                  <p:pic>
                    <p:nvPicPr>
                      <p:cNvPr id="0" name="图片 3079"/>
                      <p:cNvPicPr/>
                      <p:nvPr/>
                    </p:nvPicPr>
                    <p:blipFill>
                      <a:blip r:embed="rId4"/>
                      <a:stretch>
                        <a:fillRect/>
                      </a:stretch>
                    </p:blipFill>
                    <p:spPr>
                      <a:xfrm>
                        <a:off x="2895600" y="3505200"/>
                        <a:ext cx="838200" cy="673100"/>
                      </a:xfrm>
                      <a:prstGeom prst="rect">
                        <a:avLst/>
                      </a:prstGeom>
                      <a:noFill/>
                      <a:ln w="38100">
                        <a:noFill/>
                        <a:miter/>
                      </a:ln>
                    </p:spPr>
                  </p:pic>
                </p:oleObj>
              </mc:Fallback>
            </mc:AlternateContent>
          </a:graphicData>
        </a:graphic>
      </p:graphicFrame>
      <p:graphicFrame>
        <p:nvGraphicFramePr>
          <p:cNvPr id="28678" name="Object 11"/>
          <p:cNvGraphicFramePr>
            <a:graphicFrameLocks noChangeAspect="1"/>
          </p:cNvGraphicFramePr>
          <p:nvPr/>
        </p:nvGraphicFramePr>
        <p:xfrm>
          <a:off x="6096000" y="3505200"/>
          <a:ext cx="838200" cy="673100"/>
        </p:xfrm>
        <a:graphic>
          <a:graphicData uri="http://schemas.openxmlformats.org/presentationml/2006/ole">
            <mc:AlternateContent xmlns:mc="http://schemas.openxmlformats.org/markup-compatibility/2006">
              <mc:Choice xmlns:v="urn:schemas-microsoft-com:vml" Requires="v">
                <p:oleObj spid="_x0000_s3081" name="" r:id="rId5" imgW="508000" imgH="406400" progId="Equation.3">
                  <p:embed/>
                </p:oleObj>
              </mc:Choice>
              <mc:Fallback>
                <p:oleObj name="" r:id="rId5" imgW="508000" imgH="406400" progId="Equation.3">
                  <p:embed/>
                  <p:pic>
                    <p:nvPicPr>
                      <p:cNvPr id="0" name="图片 3080"/>
                      <p:cNvPicPr/>
                      <p:nvPr/>
                    </p:nvPicPr>
                    <p:blipFill>
                      <a:blip r:embed="rId6"/>
                      <a:stretch>
                        <a:fillRect/>
                      </a:stretch>
                    </p:blipFill>
                    <p:spPr>
                      <a:xfrm>
                        <a:off x="6096000" y="3505200"/>
                        <a:ext cx="838200" cy="673100"/>
                      </a:xfrm>
                      <a:prstGeom prst="rect">
                        <a:avLst/>
                      </a:prstGeom>
                      <a:noFill/>
                      <a:ln w="38100">
                        <a:noFill/>
                        <a:miter/>
                      </a:ln>
                    </p:spPr>
                  </p:pic>
                </p:oleObj>
              </mc:Fallback>
            </mc:AlternateContent>
          </a:graphicData>
        </a:graphic>
      </p:graphicFrame>
      <p:graphicFrame>
        <p:nvGraphicFramePr>
          <p:cNvPr id="28679" name="Object 12"/>
          <p:cNvGraphicFramePr>
            <a:graphicFrameLocks noChangeAspect="1"/>
          </p:cNvGraphicFramePr>
          <p:nvPr/>
        </p:nvGraphicFramePr>
        <p:xfrm>
          <a:off x="5391150" y="4559300"/>
          <a:ext cx="704850" cy="533400"/>
        </p:xfrm>
        <a:graphic>
          <a:graphicData uri="http://schemas.openxmlformats.org/presentationml/2006/ole">
            <mc:AlternateContent xmlns:mc="http://schemas.openxmlformats.org/markup-compatibility/2006">
              <mc:Choice xmlns:v="urn:schemas-microsoft-com:vml" Requires="v">
                <p:oleObj spid="_x0000_s3079" name="" r:id="rId7" imgW="469900" imgH="406400" progId="Equation.3">
                  <p:embed/>
                </p:oleObj>
              </mc:Choice>
              <mc:Fallback>
                <p:oleObj name="" r:id="rId7" imgW="469900" imgH="406400" progId="Equation.3">
                  <p:embed/>
                  <p:pic>
                    <p:nvPicPr>
                      <p:cNvPr id="0" name="图片 3078"/>
                      <p:cNvPicPr/>
                      <p:nvPr/>
                    </p:nvPicPr>
                    <p:blipFill>
                      <a:blip r:embed="rId8"/>
                      <a:stretch>
                        <a:fillRect/>
                      </a:stretch>
                    </p:blipFill>
                    <p:spPr>
                      <a:xfrm>
                        <a:off x="5391150" y="4559300"/>
                        <a:ext cx="704850" cy="533400"/>
                      </a:xfrm>
                      <a:prstGeom prst="rect">
                        <a:avLst/>
                      </a:prstGeom>
                      <a:noFill/>
                      <a:ln w="38100">
                        <a:noFill/>
                        <a:miter/>
                      </a:ln>
                    </p:spPr>
                  </p:pic>
                </p:oleObj>
              </mc:Fallback>
            </mc:AlternateContent>
          </a:graphicData>
        </a:graphic>
      </p:graphicFrame>
      <p:graphicFrame>
        <p:nvGraphicFramePr>
          <p:cNvPr id="28680" name="Object 13"/>
          <p:cNvGraphicFramePr>
            <a:graphicFrameLocks noChangeAspect="1"/>
          </p:cNvGraphicFramePr>
          <p:nvPr/>
        </p:nvGraphicFramePr>
        <p:xfrm>
          <a:off x="2195513" y="5732463"/>
          <a:ext cx="887412" cy="650875"/>
        </p:xfrm>
        <a:graphic>
          <a:graphicData uri="http://schemas.openxmlformats.org/presentationml/2006/ole">
            <mc:AlternateContent xmlns:mc="http://schemas.openxmlformats.org/markup-compatibility/2006">
              <mc:Choice xmlns:v="urn:schemas-microsoft-com:vml" Requires="v">
                <p:oleObj spid="_x0000_s3082" name="" r:id="rId9" imgW="457200" imgH="279400" progId="Equation.3">
                  <p:embed/>
                </p:oleObj>
              </mc:Choice>
              <mc:Fallback>
                <p:oleObj name="" r:id="rId9" imgW="457200" imgH="279400" progId="Equation.3">
                  <p:embed/>
                  <p:pic>
                    <p:nvPicPr>
                      <p:cNvPr id="0" name="图片 3081"/>
                      <p:cNvPicPr/>
                      <p:nvPr/>
                    </p:nvPicPr>
                    <p:blipFill>
                      <a:blip r:embed="rId10"/>
                      <a:stretch>
                        <a:fillRect/>
                      </a:stretch>
                    </p:blipFill>
                    <p:spPr>
                      <a:xfrm>
                        <a:off x="2195513" y="5732463"/>
                        <a:ext cx="887412" cy="650875"/>
                      </a:xfrm>
                      <a:prstGeom prst="rect">
                        <a:avLst/>
                      </a:prstGeom>
                      <a:noFill/>
                      <a:ln w="38100">
                        <a:noFill/>
                        <a:miter/>
                      </a:ln>
                    </p:spPr>
                  </p:pic>
                </p:oleObj>
              </mc:Fallback>
            </mc:AlternateContent>
          </a:graphicData>
        </a:graphic>
      </p:graphicFrame>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语法定义（</a:t>
            </a:r>
            <a:r>
              <a:rPr lang="en-US" altLang="zh-CN" dirty="0">
                <a:latin typeface="宋体" panose="02010600030101010101" pitchFamily="2" charset="-122"/>
                <a:ea typeface="宋体" panose="02010600030101010101" pitchFamily="2" charset="-122"/>
              </a:rPr>
              <a:t>10</a:t>
            </a:r>
            <a:r>
              <a:rPr lang="zh-CN" altLang="en-US" dirty="0">
                <a:latin typeface="宋体" panose="02010600030101010101" pitchFamily="2" charset="-122"/>
                <a:ea typeface="宋体" panose="02010600030101010101" pitchFamily="2" charset="-122"/>
              </a:rPr>
              <a:t>）</a:t>
            </a:r>
            <a:br>
              <a:rPr lang="en-US" altLang="zh-CN"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文法和语言的形式定义（8）</a:t>
            </a:r>
            <a:endParaRPr lang="zh-CN" altLang="en-US" dirty="0">
              <a:latin typeface="宋体" panose="02010600030101010101" pitchFamily="2" charset="-122"/>
              <a:ea typeface="宋体" panose="02010600030101010101" pitchFamily="2" charset="-122"/>
            </a:endParaRPr>
          </a:p>
        </p:txBody>
      </p:sp>
      <p:sp>
        <p:nvSpPr>
          <p:cNvPr id="30723" name="Rectangle 3"/>
          <p:cNvSpPr>
            <a:spLocks noGrp="1"/>
          </p:cNvSpPr>
          <p:nvPr>
            <p:ph idx="1"/>
          </p:nvPr>
        </p:nvSpPr>
        <p:spPr>
          <a:xfrm>
            <a:off x="990600" y="1371600"/>
            <a:ext cx="7391400" cy="4953000"/>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语言：文法</a:t>
            </a:r>
            <a:r>
              <a:rPr lang="en-US" altLang="zh-CN" b="1" dirty="0">
                <a:latin typeface="宋体" panose="02010600030101010101" pitchFamily="2" charset="-122"/>
                <a:ea typeface="宋体" panose="02010600030101010101" pitchFamily="2" charset="-122"/>
              </a:rPr>
              <a:t>G</a:t>
            </a:r>
            <a:r>
              <a:rPr lang="zh-CN" altLang="en-US" b="1" dirty="0">
                <a:latin typeface="宋体" panose="02010600030101010101" pitchFamily="2" charset="-122"/>
                <a:ea typeface="宋体" panose="02010600030101010101" pitchFamily="2" charset="-122"/>
              </a:rPr>
              <a:t>产生的语言定义为集合{</a:t>
            </a:r>
            <a:r>
              <a:rPr lang="en-US" altLang="zh-CN" b="1" dirty="0">
                <a:latin typeface="宋体" panose="02010600030101010101" pitchFamily="2" charset="-122"/>
                <a:ea typeface="宋体" panose="02010600030101010101" pitchFamily="2" charset="-122"/>
              </a:rPr>
              <a:t>x|     ,</a:t>
            </a:r>
            <a:r>
              <a:rPr lang="zh-CN" altLang="en-US" b="1" dirty="0">
                <a:latin typeface="宋体" panose="02010600030101010101" pitchFamily="2" charset="-122"/>
                <a:ea typeface="宋体" panose="02010600030101010101" pitchFamily="2" charset="-122"/>
              </a:rPr>
              <a:t>其中</a:t>
            </a:r>
            <a:r>
              <a:rPr lang="en-US" altLang="zh-CN" b="1" dirty="0">
                <a:latin typeface="宋体" panose="02010600030101010101" pitchFamily="2" charset="-122"/>
                <a:ea typeface="宋体" panose="02010600030101010101" pitchFamily="2" charset="-122"/>
              </a:rPr>
              <a:t>S</a:t>
            </a:r>
            <a:r>
              <a:rPr lang="zh-CN" altLang="en-US" b="1" dirty="0">
                <a:latin typeface="宋体" panose="02010600030101010101" pitchFamily="2" charset="-122"/>
                <a:ea typeface="宋体" panose="02010600030101010101" pitchFamily="2" charset="-122"/>
              </a:rPr>
              <a:t>为文法开始符号，且      }，用</a:t>
            </a:r>
            <a:r>
              <a:rPr lang="en-US" altLang="zh-CN" b="1" dirty="0">
                <a:latin typeface="宋体" panose="02010600030101010101" pitchFamily="2" charset="-122"/>
                <a:ea typeface="宋体" panose="02010600030101010101" pitchFamily="2" charset="-122"/>
              </a:rPr>
              <a:t>L(G)</a:t>
            </a:r>
            <a:r>
              <a:rPr lang="zh-CN" altLang="en-US" b="1" dirty="0">
                <a:latin typeface="宋体" panose="02010600030101010101" pitchFamily="2" charset="-122"/>
                <a:ea typeface="宋体" panose="02010600030101010101" pitchFamily="2" charset="-122"/>
              </a:rPr>
              <a:t>表示该集合</a:t>
            </a:r>
            <a:endParaRPr lang="en-US" altLang="zh-CN" sz="2800"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文法</a:t>
            </a:r>
            <a:r>
              <a:rPr lang="en-US" altLang="zh-CN" b="1" dirty="0">
                <a:latin typeface="宋体" panose="02010600030101010101" pitchFamily="2" charset="-122"/>
                <a:ea typeface="宋体" panose="02010600030101010101" pitchFamily="2" charset="-122"/>
              </a:rPr>
              <a:t>G1</a:t>
            </a:r>
            <a:r>
              <a:rPr lang="zh-CN" altLang="en-US" b="1" dirty="0">
                <a:latin typeface="宋体" panose="02010600030101010101" pitchFamily="2" charset="-122"/>
                <a:ea typeface="宋体" panose="02010600030101010101" pitchFamily="2" charset="-122"/>
              </a:rPr>
              <a:t>产生的语言是</a:t>
            </a:r>
            <a:r>
              <a:rPr lang="en-US" altLang="zh-CN" b="1" dirty="0">
                <a:latin typeface="宋体" panose="02010600030101010101" pitchFamily="2" charset="-122"/>
                <a:ea typeface="宋体" panose="02010600030101010101" pitchFamily="2" charset="-122"/>
              </a:rPr>
              <a:t>L(G1)={O</a:t>
            </a:r>
            <a:r>
              <a:rPr lang="en-US" altLang="zh-CN" b="1" baseline="30000" dirty="0">
                <a:latin typeface="宋体" panose="02010600030101010101" pitchFamily="2" charset="-122"/>
                <a:ea typeface="宋体" panose="02010600030101010101" pitchFamily="2" charset="-122"/>
              </a:rPr>
              <a:t>n</a:t>
            </a:r>
            <a:r>
              <a:rPr lang="en-US" altLang="zh-CN" b="1" dirty="0">
                <a:latin typeface="宋体" panose="02010600030101010101" pitchFamily="2" charset="-122"/>
                <a:ea typeface="宋体" panose="02010600030101010101" pitchFamily="2" charset="-122"/>
              </a:rPr>
              <a:t>1</a:t>
            </a:r>
            <a:r>
              <a:rPr lang="en-US" altLang="zh-CN" b="1" baseline="30000" dirty="0">
                <a:latin typeface="宋体" panose="02010600030101010101" pitchFamily="2" charset="-122"/>
                <a:ea typeface="宋体" panose="02010600030101010101" pitchFamily="2" charset="-122"/>
              </a:rPr>
              <a:t>n</a:t>
            </a:r>
            <a:r>
              <a:rPr lang="en-US" altLang="zh-CN" b="1" dirty="0">
                <a:latin typeface="宋体" panose="02010600030101010101" pitchFamily="2" charset="-122"/>
                <a:ea typeface="宋体" panose="02010600030101010101" pitchFamily="2" charset="-122"/>
              </a:rPr>
              <a:t>|n&gt;=1}</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文法</a:t>
            </a:r>
            <a:r>
              <a:rPr lang="en-US" altLang="zh-CN" b="1" dirty="0">
                <a:latin typeface="宋体" panose="02010600030101010101" pitchFamily="2" charset="-122"/>
                <a:ea typeface="宋体" panose="02010600030101010101" pitchFamily="2" charset="-122"/>
              </a:rPr>
              <a:t>G2：S→aSBE|aBE</a:t>
            </a:r>
            <a:endParaRPr lang="en-US" altLang="zh-CN" b="1" dirty="0">
              <a:latin typeface="宋体" panose="02010600030101010101" pitchFamily="2" charset="-122"/>
              <a:ea typeface="宋体" panose="02010600030101010101" pitchFamily="2" charset="-122"/>
            </a:endParaRPr>
          </a:p>
          <a:p>
            <a:pPr lvl="1">
              <a:buNone/>
            </a:pPr>
            <a:r>
              <a:rPr lang="en-US" altLang="zh-CN" b="1" dirty="0">
                <a:latin typeface="宋体" panose="02010600030101010101" pitchFamily="2" charset="-122"/>
                <a:ea typeface="宋体" panose="02010600030101010101" pitchFamily="2" charset="-122"/>
              </a:rPr>
              <a:t>	        EB→BE</a:t>
            </a:r>
            <a:endParaRPr lang="en-US" altLang="zh-CN" b="1" dirty="0">
              <a:latin typeface="宋体" panose="02010600030101010101" pitchFamily="2" charset="-122"/>
              <a:ea typeface="宋体" panose="02010600030101010101" pitchFamily="2" charset="-122"/>
            </a:endParaRPr>
          </a:p>
          <a:p>
            <a:pPr lvl="1">
              <a:buNone/>
            </a:pPr>
            <a:r>
              <a:rPr lang="en-US" altLang="zh-CN" b="1" dirty="0">
                <a:latin typeface="宋体" panose="02010600030101010101" pitchFamily="2" charset="-122"/>
                <a:ea typeface="宋体" panose="02010600030101010101" pitchFamily="2" charset="-122"/>
              </a:rPr>
              <a:t>	        aB→ab</a:t>
            </a:r>
            <a:endParaRPr lang="en-US" altLang="zh-CN" b="1" dirty="0">
              <a:latin typeface="宋体" panose="02010600030101010101" pitchFamily="2" charset="-122"/>
              <a:ea typeface="宋体" panose="02010600030101010101" pitchFamily="2" charset="-122"/>
            </a:endParaRPr>
          </a:p>
          <a:p>
            <a:pPr lvl="1">
              <a:buNone/>
            </a:pPr>
            <a:r>
              <a:rPr lang="en-US" altLang="zh-CN" b="1" dirty="0">
                <a:latin typeface="宋体" panose="02010600030101010101" pitchFamily="2" charset="-122"/>
                <a:ea typeface="宋体" panose="02010600030101010101" pitchFamily="2" charset="-122"/>
              </a:rPr>
              <a:t>	        bB→bb</a:t>
            </a:r>
            <a:endParaRPr lang="en-US" altLang="zh-CN" b="1" dirty="0">
              <a:latin typeface="宋体" panose="02010600030101010101" pitchFamily="2" charset="-122"/>
              <a:ea typeface="宋体" panose="02010600030101010101" pitchFamily="2" charset="-122"/>
            </a:endParaRPr>
          </a:p>
          <a:p>
            <a:pPr lvl="1">
              <a:buNone/>
            </a:pPr>
            <a:r>
              <a:rPr lang="en-US" altLang="zh-CN" b="1" dirty="0">
                <a:latin typeface="宋体" panose="02010600030101010101" pitchFamily="2" charset="-122"/>
                <a:ea typeface="宋体" panose="02010600030101010101" pitchFamily="2" charset="-122"/>
              </a:rPr>
              <a:t>	        bE→bc</a:t>
            </a:r>
            <a:endParaRPr lang="en-US" altLang="zh-CN" b="1" dirty="0">
              <a:latin typeface="宋体" panose="02010600030101010101" pitchFamily="2" charset="-122"/>
              <a:ea typeface="宋体" panose="02010600030101010101" pitchFamily="2" charset="-122"/>
            </a:endParaRPr>
          </a:p>
          <a:p>
            <a:pPr lvl="1">
              <a:buNone/>
            </a:pPr>
            <a:r>
              <a:rPr lang="en-US" altLang="zh-CN" b="1" dirty="0">
                <a:latin typeface="宋体" panose="02010600030101010101" pitchFamily="2" charset="-122"/>
                <a:ea typeface="宋体" panose="02010600030101010101" pitchFamily="2" charset="-122"/>
              </a:rPr>
              <a:t>	        cE→cc</a:t>
            </a:r>
            <a:endParaRPr lang="en-US" altLang="zh-CN" b="1" dirty="0">
              <a:latin typeface="宋体" panose="02010600030101010101" pitchFamily="2" charset="-122"/>
              <a:ea typeface="宋体" panose="02010600030101010101" pitchFamily="2" charset="-122"/>
            </a:endParaRPr>
          </a:p>
          <a:p>
            <a:pPr lvl="1">
              <a:buNone/>
            </a:pPr>
            <a:r>
              <a:rPr lang="en-US" altLang="zh-CN" b="1" dirty="0">
                <a:latin typeface="宋体" panose="02010600030101010101" pitchFamily="2" charset="-122"/>
                <a:ea typeface="宋体" panose="02010600030101010101" pitchFamily="2" charset="-122"/>
              </a:rPr>
              <a:t>	L(G2)={a</a:t>
            </a:r>
            <a:r>
              <a:rPr lang="en-US" altLang="zh-CN" b="1" baseline="30000" dirty="0">
                <a:latin typeface="宋体" panose="02010600030101010101" pitchFamily="2" charset="-122"/>
                <a:ea typeface="宋体" panose="02010600030101010101" pitchFamily="2" charset="-122"/>
              </a:rPr>
              <a:t>n</a:t>
            </a:r>
            <a:r>
              <a:rPr lang="en-US" altLang="zh-CN" b="1" dirty="0">
                <a:latin typeface="宋体" panose="02010600030101010101" pitchFamily="2" charset="-122"/>
                <a:ea typeface="宋体" panose="02010600030101010101" pitchFamily="2" charset="-122"/>
              </a:rPr>
              <a:t>b</a:t>
            </a:r>
            <a:r>
              <a:rPr lang="en-US" altLang="zh-CN" b="1" baseline="30000" dirty="0">
                <a:latin typeface="宋体" panose="02010600030101010101" pitchFamily="2" charset="-122"/>
                <a:ea typeface="宋体" panose="02010600030101010101" pitchFamily="2" charset="-122"/>
              </a:rPr>
              <a:t>n</a:t>
            </a:r>
            <a:r>
              <a:rPr lang="en-US" altLang="zh-CN" b="1" dirty="0">
                <a:latin typeface="宋体" panose="02010600030101010101" pitchFamily="2" charset="-122"/>
                <a:ea typeface="宋体" panose="02010600030101010101" pitchFamily="2" charset="-122"/>
              </a:rPr>
              <a:t>c</a:t>
            </a:r>
            <a:r>
              <a:rPr lang="en-US" altLang="zh-CN" b="1" baseline="30000" dirty="0">
                <a:latin typeface="宋体" panose="02010600030101010101" pitchFamily="2" charset="-122"/>
                <a:ea typeface="宋体" panose="02010600030101010101" pitchFamily="2" charset="-122"/>
              </a:rPr>
              <a:t>n</a:t>
            </a:r>
            <a:r>
              <a:rPr lang="en-US" altLang="zh-CN" b="1" dirty="0">
                <a:latin typeface="宋体" panose="02010600030101010101" pitchFamily="2" charset="-122"/>
                <a:ea typeface="宋体" panose="02010600030101010101" pitchFamily="2" charset="-122"/>
              </a:rPr>
              <a:t>|n&gt;=1}</a:t>
            </a:r>
            <a:endParaRPr lang="en-US" altLang="zh-CN" b="1" dirty="0">
              <a:latin typeface="宋体" panose="02010600030101010101" pitchFamily="2" charset="-122"/>
              <a:ea typeface="宋体" panose="02010600030101010101" pitchFamily="2" charset="-122"/>
            </a:endParaRPr>
          </a:p>
        </p:txBody>
      </p:sp>
      <p:graphicFrame>
        <p:nvGraphicFramePr>
          <p:cNvPr id="30724" name="Object 12"/>
          <p:cNvGraphicFramePr>
            <a:graphicFrameLocks noChangeAspect="1"/>
          </p:cNvGraphicFramePr>
          <p:nvPr/>
        </p:nvGraphicFramePr>
        <p:xfrm>
          <a:off x="7086600" y="1219200"/>
          <a:ext cx="704850" cy="673100"/>
        </p:xfrm>
        <a:graphic>
          <a:graphicData uri="http://schemas.openxmlformats.org/presentationml/2006/ole">
            <mc:AlternateContent xmlns:mc="http://schemas.openxmlformats.org/markup-compatibility/2006">
              <mc:Choice xmlns:v="urn:schemas-microsoft-com:vml" Requires="v">
                <p:oleObj spid="_x0000_s3076" name="" r:id="rId1" imgW="469900" imgH="406400" progId="Equation.3">
                  <p:embed/>
                </p:oleObj>
              </mc:Choice>
              <mc:Fallback>
                <p:oleObj name="" r:id="rId1" imgW="469900" imgH="406400" progId="Equation.3">
                  <p:embed/>
                  <p:pic>
                    <p:nvPicPr>
                      <p:cNvPr id="0" name="图片 3075"/>
                      <p:cNvPicPr/>
                      <p:nvPr/>
                    </p:nvPicPr>
                    <p:blipFill>
                      <a:blip r:embed="rId2"/>
                      <a:stretch>
                        <a:fillRect/>
                      </a:stretch>
                    </p:blipFill>
                    <p:spPr>
                      <a:xfrm>
                        <a:off x="7086600" y="1219200"/>
                        <a:ext cx="704850" cy="673100"/>
                      </a:xfrm>
                      <a:prstGeom prst="rect">
                        <a:avLst/>
                      </a:prstGeom>
                      <a:noFill/>
                      <a:ln w="38100">
                        <a:noFill/>
                        <a:miter/>
                      </a:ln>
                    </p:spPr>
                  </p:pic>
                </p:oleObj>
              </mc:Fallback>
            </mc:AlternateContent>
          </a:graphicData>
        </a:graphic>
      </p:graphicFrame>
      <p:graphicFrame>
        <p:nvGraphicFramePr>
          <p:cNvPr id="30725" name="Object 13"/>
          <p:cNvGraphicFramePr>
            <a:graphicFrameLocks noChangeAspect="1"/>
          </p:cNvGraphicFramePr>
          <p:nvPr/>
        </p:nvGraphicFramePr>
        <p:xfrm>
          <a:off x="5334000" y="1676400"/>
          <a:ext cx="887413" cy="649288"/>
        </p:xfrm>
        <a:graphic>
          <a:graphicData uri="http://schemas.openxmlformats.org/presentationml/2006/ole">
            <mc:AlternateContent xmlns:mc="http://schemas.openxmlformats.org/markup-compatibility/2006">
              <mc:Choice xmlns:v="urn:schemas-microsoft-com:vml" Requires="v">
                <p:oleObj spid="_x0000_s3077" name="" r:id="rId3" imgW="457200" imgH="279400" progId="Equation.3">
                  <p:embed/>
                </p:oleObj>
              </mc:Choice>
              <mc:Fallback>
                <p:oleObj name="" r:id="rId3" imgW="457200" imgH="279400" progId="Equation.3">
                  <p:embed/>
                  <p:pic>
                    <p:nvPicPr>
                      <p:cNvPr id="0" name="图片 3076"/>
                      <p:cNvPicPr/>
                      <p:nvPr/>
                    </p:nvPicPr>
                    <p:blipFill>
                      <a:blip r:embed="rId4"/>
                      <a:stretch>
                        <a:fillRect/>
                      </a:stretch>
                    </p:blipFill>
                    <p:spPr>
                      <a:xfrm>
                        <a:off x="5334000" y="1676400"/>
                        <a:ext cx="887413" cy="649288"/>
                      </a:xfrm>
                      <a:prstGeom prst="rect">
                        <a:avLst/>
                      </a:prstGeom>
                      <a:noFill/>
                      <a:ln w="38100">
                        <a:noFill/>
                        <a:miter/>
                      </a:ln>
                    </p:spPr>
                  </p:pic>
                </p:oleObj>
              </mc:Fallback>
            </mc:AlternateContent>
          </a:graphicData>
        </a:graphic>
      </p:graphicFrame>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语法定义（</a:t>
            </a:r>
            <a:r>
              <a:rPr lang="en-US" altLang="zh-CN" dirty="0">
                <a:latin typeface="宋体" panose="02010600030101010101" pitchFamily="2" charset="-122"/>
                <a:ea typeface="宋体" panose="02010600030101010101" pitchFamily="2" charset="-122"/>
              </a:rPr>
              <a:t>11</a:t>
            </a:r>
            <a:r>
              <a:rPr lang="zh-CN" altLang="en-US" dirty="0">
                <a:latin typeface="宋体" panose="02010600030101010101" pitchFamily="2" charset="-122"/>
                <a:ea typeface="宋体" panose="02010600030101010101" pitchFamily="2" charset="-122"/>
              </a:rPr>
              <a:t>）</a:t>
            </a:r>
            <a:br>
              <a:rPr lang="en-US" altLang="zh-CN"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文法和语言的形式定义（9）</a:t>
            </a:r>
            <a:endParaRPr lang="zh-CN" altLang="en-US" dirty="0">
              <a:latin typeface="宋体" panose="02010600030101010101" pitchFamily="2" charset="-122"/>
              <a:ea typeface="宋体" panose="02010600030101010101" pitchFamily="2" charset="-122"/>
            </a:endParaRPr>
          </a:p>
        </p:txBody>
      </p:sp>
      <p:sp>
        <p:nvSpPr>
          <p:cNvPr id="32771" name="Rectangle 3"/>
          <p:cNvSpPr>
            <a:spLocks noGrp="1"/>
          </p:cNvSpPr>
          <p:nvPr>
            <p:ph idx="1"/>
          </p:nvPr>
        </p:nvSpPr>
        <p:spPr>
          <a:xfrm>
            <a:off x="990600" y="1371600"/>
            <a:ext cx="7391400" cy="4953000"/>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文法的等价：</a:t>
            </a:r>
            <a:endParaRPr lang="en-US" altLang="zh-CN" sz="2800"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如果</a:t>
            </a:r>
            <a:r>
              <a:rPr lang="en-US" altLang="zh-CN" b="1" dirty="0">
                <a:latin typeface="宋体" panose="02010600030101010101" pitchFamily="2" charset="-122"/>
                <a:ea typeface="宋体" panose="02010600030101010101" pitchFamily="2" charset="-122"/>
              </a:rPr>
              <a:t>L(G)=L(G</a:t>
            </a:r>
            <a:r>
              <a:rPr lang="en-US" altLang="zh-CN" b="1" dirty="0">
                <a:ea typeface="宋体" panose="02010600030101010101" pitchFamily="2" charset="-122"/>
              </a:rPr>
              <a:t>’</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则称文法</a:t>
            </a:r>
            <a:r>
              <a:rPr lang="en-US" altLang="zh-CN" b="1" dirty="0">
                <a:latin typeface="宋体" panose="02010600030101010101" pitchFamily="2" charset="-122"/>
                <a:ea typeface="宋体" panose="02010600030101010101" pitchFamily="2" charset="-122"/>
              </a:rPr>
              <a:t>G</a:t>
            </a:r>
            <a:r>
              <a:rPr lang="zh-CN" altLang="en-US" b="1" dirty="0">
                <a:latin typeface="宋体" panose="02010600030101010101" pitchFamily="2" charset="-122"/>
                <a:ea typeface="宋体" panose="02010600030101010101" pitchFamily="2" charset="-122"/>
              </a:rPr>
              <a:t>和</a:t>
            </a:r>
            <a:r>
              <a:rPr lang="en-US" altLang="zh-CN" b="1" dirty="0">
                <a:latin typeface="宋体" panose="02010600030101010101" pitchFamily="2" charset="-122"/>
                <a:ea typeface="宋体" panose="02010600030101010101" pitchFamily="2" charset="-122"/>
              </a:rPr>
              <a:t>G</a:t>
            </a:r>
            <a:r>
              <a:rPr lang="en-US" altLang="zh-CN" b="1" dirty="0">
                <a:ea typeface="宋体" panose="02010600030101010101" pitchFamily="2" charset="-122"/>
              </a:rPr>
              <a:t>’</a:t>
            </a:r>
            <a:r>
              <a:rPr lang="zh-CN" altLang="en-US" b="1" dirty="0">
                <a:latin typeface="宋体" panose="02010600030101010101" pitchFamily="2" charset="-122"/>
                <a:ea typeface="宋体" panose="02010600030101010101" pitchFamily="2" charset="-122"/>
              </a:rPr>
              <a:t>是等价的</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文法等价是指从两个文法得到的语言的句子在结构上是等价的，而含义上不一定等价</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文法</a:t>
            </a:r>
            <a:r>
              <a:rPr lang="en-US" altLang="zh-CN" b="1" dirty="0">
                <a:latin typeface="宋体" panose="02010600030101010101" pitchFamily="2" charset="-122"/>
                <a:ea typeface="宋体" panose="02010600030101010101" pitchFamily="2" charset="-122"/>
              </a:rPr>
              <a:t>G3：S→0R|01</a:t>
            </a:r>
            <a:endParaRPr lang="en-US" altLang="zh-CN" b="1" dirty="0">
              <a:latin typeface="宋体" panose="02010600030101010101" pitchFamily="2" charset="-122"/>
              <a:ea typeface="宋体" panose="02010600030101010101" pitchFamily="2" charset="-122"/>
            </a:endParaRPr>
          </a:p>
          <a:p>
            <a:pPr lvl="1">
              <a:buNone/>
            </a:pPr>
            <a:r>
              <a:rPr lang="en-US" altLang="zh-CN" b="1" dirty="0">
                <a:latin typeface="宋体" panose="02010600030101010101" pitchFamily="2" charset="-122"/>
                <a:ea typeface="宋体" panose="02010600030101010101" pitchFamily="2" charset="-122"/>
              </a:rPr>
              <a:t>	        R→S1</a:t>
            </a:r>
            <a:endParaRPr lang="en-US" altLang="zh-CN" b="1" dirty="0">
              <a:latin typeface="宋体" panose="02010600030101010101" pitchFamily="2" charset="-122"/>
              <a:ea typeface="宋体" panose="02010600030101010101" pitchFamily="2" charset="-122"/>
            </a:endParaRPr>
          </a:p>
          <a:p>
            <a:pPr lvl="1">
              <a:buNone/>
            </a:pPr>
            <a:r>
              <a:rPr lang="en-US" altLang="zh-CN" b="1" dirty="0">
                <a:latin typeface="宋体" panose="02010600030101010101" pitchFamily="2" charset="-122"/>
                <a:ea typeface="宋体" panose="02010600030101010101" pitchFamily="2" charset="-122"/>
              </a:rPr>
              <a:t>	L(G3)={0</a:t>
            </a:r>
            <a:r>
              <a:rPr lang="en-US" altLang="zh-CN" b="1" baseline="30000" dirty="0">
                <a:latin typeface="宋体" panose="02010600030101010101" pitchFamily="2" charset="-122"/>
                <a:ea typeface="宋体" panose="02010600030101010101" pitchFamily="2" charset="-122"/>
              </a:rPr>
              <a:t>n</a:t>
            </a:r>
            <a:r>
              <a:rPr lang="en-US" altLang="zh-CN" b="1" dirty="0">
                <a:latin typeface="宋体" panose="02010600030101010101" pitchFamily="2" charset="-122"/>
                <a:ea typeface="宋体" panose="02010600030101010101" pitchFamily="2" charset="-122"/>
              </a:rPr>
              <a:t>1</a:t>
            </a:r>
            <a:r>
              <a:rPr lang="en-US" altLang="zh-CN" b="1" baseline="30000" dirty="0">
                <a:latin typeface="宋体" panose="02010600030101010101" pitchFamily="2" charset="-122"/>
                <a:ea typeface="宋体" panose="02010600030101010101" pitchFamily="2" charset="-122"/>
              </a:rPr>
              <a:t>n</a:t>
            </a:r>
            <a:r>
              <a:rPr lang="en-US" altLang="zh-CN" b="1" dirty="0">
                <a:latin typeface="宋体" panose="02010600030101010101" pitchFamily="2" charset="-122"/>
                <a:ea typeface="宋体" panose="02010600030101010101" pitchFamily="2" charset="-122"/>
              </a:rPr>
              <a:t>|n&gt;=1}</a:t>
            </a:r>
            <a:endParaRPr lang="en-US" altLang="zh-CN" b="1" dirty="0">
              <a:latin typeface="宋体" panose="02010600030101010101" pitchFamily="2" charset="-122"/>
              <a:ea typeface="宋体" panose="02010600030101010101" pitchFamily="2" charset="-122"/>
            </a:endParaRPr>
          </a:p>
          <a:p>
            <a:pPr lvl="1">
              <a:buNone/>
            </a:pP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所以文法</a:t>
            </a:r>
            <a:r>
              <a:rPr lang="en-US" altLang="zh-CN" b="1" dirty="0">
                <a:latin typeface="宋体" panose="02010600030101010101" pitchFamily="2" charset="-122"/>
                <a:ea typeface="宋体" panose="02010600030101010101" pitchFamily="2" charset="-122"/>
              </a:rPr>
              <a:t>G1</a:t>
            </a:r>
            <a:r>
              <a:rPr lang="zh-CN" altLang="en-US" b="1" dirty="0">
                <a:latin typeface="宋体" panose="02010600030101010101" pitchFamily="2" charset="-122"/>
                <a:ea typeface="宋体" panose="02010600030101010101" pitchFamily="2" charset="-122"/>
              </a:rPr>
              <a:t>和</a:t>
            </a:r>
            <a:r>
              <a:rPr lang="en-US" altLang="zh-CN" b="1" dirty="0">
                <a:latin typeface="宋体" panose="02010600030101010101" pitchFamily="2" charset="-122"/>
                <a:ea typeface="宋体" panose="02010600030101010101" pitchFamily="2" charset="-122"/>
              </a:rPr>
              <a:t>G3</a:t>
            </a:r>
            <a:r>
              <a:rPr lang="zh-CN" altLang="en-US" b="1" dirty="0">
                <a:latin typeface="宋体" panose="02010600030101010101" pitchFamily="2" charset="-122"/>
                <a:ea typeface="宋体" panose="02010600030101010101" pitchFamily="2" charset="-122"/>
              </a:rPr>
              <a:t>是等价的</a:t>
            </a:r>
            <a:endParaRPr lang="zh-CN" altLang="en-US"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语法定义（</a:t>
            </a:r>
            <a:r>
              <a:rPr lang="en-US" altLang="zh-CN" dirty="0">
                <a:latin typeface="宋体" panose="02010600030101010101" pitchFamily="2" charset="-122"/>
                <a:ea typeface="宋体" panose="02010600030101010101" pitchFamily="2" charset="-122"/>
              </a:rPr>
              <a:t>12</a:t>
            </a:r>
            <a:r>
              <a:rPr lang="zh-CN" altLang="en-US" dirty="0">
                <a:latin typeface="宋体" panose="02010600030101010101" pitchFamily="2" charset="-122"/>
                <a:ea typeface="宋体" panose="02010600030101010101" pitchFamily="2" charset="-122"/>
              </a:rPr>
              <a:t>）</a:t>
            </a:r>
            <a:br>
              <a:rPr lang="en-US" altLang="zh-CN"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文法的分类：乔姆斯基语言族（1）</a:t>
            </a:r>
            <a:endParaRPr lang="zh-CN" altLang="en-US" dirty="0">
              <a:latin typeface="宋体" panose="02010600030101010101" pitchFamily="2" charset="-122"/>
              <a:ea typeface="宋体" panose="02010600030101010101" pitchFamily="2" charset="-122"/>
            </a:endParaRPr>
          </a:p>
        </p:txBody>
      </p:sp>
      <p:sp>
        <p:nvSpPr>
          <p:cNvPr id="34819" name="Rectangle 3"/>
          <p:cNvSpPr>
            <a:spLocks noGrp="1"/>
          </p:cNvSpPr>
          <p:nvPr>
            <p:ph idx="1"/>
          </p:nvPr>
        </p:nvSpPr>
        <p:spPr>
          <a:xfrm>
            <a:off x="827088" y="1371600"/>
            <a:ext cx="7554912" cy="4953000"/>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乔姆斯基形式语言理论：1956年建立，发展至今</a:t>
            </a:r>
            <a:endParaRPr lang="en-US" altLang="zh-CN" sz="2400"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0型文法：也称为短语结构文法，</a:t>
            </a:r>
            <a:r>
              <a:rPr lang="en-US" altLang="zh-CN" b="1" dirty="0">
                <a:latin typeface="宋体" panose="02010600030101010101" pitchFamily="2" charset="-122"/>
                <a:ea typeface="宋体" panose="02010600030101010101" pitchFamily="2" charset="-122"/>
              </a:rPr>
              <a:t>PSG</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定义：设</a:t>
            </a:r>
            <a:r>
              <a:rPr lang="en-US" altLang="zh-CN" b="1" dirty="0">
                <a:latin typeface="宋体" panose="02010600030101010101" pitchFamily="2" charset="-122"/>
                <a:ea typeface="宋体" panose="02010600030101010101" pitchFamily="2" charset="-122"/>
              </a:rPr>
              <a:t>G=(V</a:t>
            </a:r>
            <a:r>
              <a:rPr lang="en-US" altLang="zh-CN" b="1" baseline="-25000" dirty="0">
                <a:latin typeface="宋体" panose="02010600030101010101" pitchFamily="2" charset="-122"/>
                <a:ea typeface="宋体" panose="02010600030101010101" pitchFamily="2" charset="-122"/>
              </a:rPr>
              <a:t>N</a:t>
            </a:r>
            <a:r>
              <a:rPr lang="en-US" altLang="zh-CN" b="1" dirty="0">
                <a:latin typeface="宋体" panose="02010600030101010101" pitchFamily="2" charset="-122"/>
                <a:ea typeface="宋体" panose="02010600030101010101" pitchFamily="2" charset="-122"/>
              </a:rPr>
              <a:t>,V</a:t>
            </a:r>
            <a:r>
              <a:rPr lang="en-US" altLang="zh-CN" b="1" baseline="-25000" dirty="0">
                <a:latin typeface="宋体" panose="02010600030101010101" pitchFamily="2" charset="-122"/>
                <a:ea typeface="宋体" panose="02010600030101010101" pitchFamily="2" charset="-122"/>
              </a:rPr>
              <a:t>T</a:t>
            </a:r>
            <a:r>
              <a:rPr lang="en-US" altLang="zh-CN" b="1" dirty="0">
                <a:latin typeface="宋体" panose="02010600030101010101" pitchFamily="2" charset="-122"/>
                <a:ea typeface="宋体" panose="02010600030101010101" pitchFamily="2" charset="-122"/>
              </a:rPr>
              <a:t>,P,S)，</a:t>
            </a:r>
            <a:r>
              <a:rPr lang="zh-CN" altLang="en-US" b="1" dirty="0">
                <a:latin typeface="宋体" panose="02010600030101010101" pitchFamily="2" charset="-122"/>
                <a:ea typeface="宋体" panose="02010600030101010101" pitchFamily="2" charset="-122"/>
              </a:rPr>
              <a:t>如果它的每个产生式</a:t>
            </a:r>
            <a:r>
              <a:rPr lang="en-US" altLang="zh-CN" b="1" dirty="0">
                <a:latin typeface="宋体" panose="02010600030101010101" pitchFamily="2" charset="-122"/>
                <a:ea typeface="宋体" panose="02010600030101010101" pitchFamily="2" charset="-122"/>
              </a:rPr>
              <a:t>α→β</a:t>
            </a:r>
            <a:r>
              <a:rPr lang="zh-CN" altLang="en-US" b="1" dirty="0">
                <a:latin typeface="宋体" panose="02010600030101010101" pitchFamily="2" charset="-122"/>
                <a:ea typeface="宋体" panose="02010600030101010101" pitchFamily="2" charset="-122"/>
              </a:rPr>
              <a:t>是这样一种结构：</a:t>
            </a:r>
            <a:r>
              <a:rPr lang="en-US" altLang="zh-CN" b="1" dirty="0">
                <a:latin typeface="宋体" panose="02010600030101010101" pitchFamily="2" charset="-122"/>
                <a:ea typeface="宋体" panose="02010600030101010101" pitchFamily="2" charset="-122"/>
              </a:rPr>
              <a:t>α</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V</a:t>
            </a:r>
            <a:r>
              <a:rPr lang="en-US" altLang="zh-CN" b="1" baseline="-25000" dirty="0">
                <a:latin typeface="宋体" panose="02010600030101010101" pitchFamily="2" charset="-122"/>
                <a:ea typeface="宋体" panose="02010600030101010101" pitchFamily="2" charset="-122"/>
              </a:rPr>
              <a:t>N</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V</a:t>
            </a:r>
            <a:r>
              <a:rPr lang="en-US" altLang="zh-CN" b="1" baseline="-25000" dirty="0">
                <a:latin typeface="宋体" panose="02010600030101010101" pitchFamily="2" charset="-122"/>
                <a:ea typeface="宋体" panose="02010600030101010101" pitchFamily="2" charset="-122"/>
              </a:rPr>
              <a:t>T</a:t>
            </a:r>
            <a:r>
              <a:rPr lang="en-US" altLang="zh-CN" b="1" dirty="0">
                <a:latin typeface="宋体" panose="02010600030101010101" pitchFamily="2" charset="-122"/>
                <a:ea typeface="宋体" panose="02010600030101010101" pitchFamily="2" charset="-122"/>
              </a:rPr>
              <a:t>)</a:t>
            </a:r>
            <a:r>
              <a:rPr lang="en-US" altLang="zh-CN" b="1" baseline="30000"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且至少含有一个非终结符，而</a:t>
            </a:r>
            <a:r>
              <a:rPr lang="en-US" altLang="zh-CN" b="1" dirty="0">
                <a:latin typeface="宋体" panose="02010600030101010101" pitchFamily="2" charset="-122"/>
                <a:ea typeface="宋体" panose="02010600030101010101" pitchFamily="2" charset="-122"/>
              </a:rPr>
              <a:t>β</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V</a:t>
            </a:r>
            <a:r>
              <a:rPr lang="en-US" altLang="zh-CN" b="1" baseline="-25000" dirty="0">
                <a:latin typeface="宋体" panose="02010600030101010101" pitchFamily="2" charset="-122"/>
                <a:ea typeface="宋体" panose="02010600030101010101" pitchFamily="2" charset="-122"/>
              </a:rPr>
              <a:t>N</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V</a:t>
            </a:r>
            <a:r>
              <a:rPr lang="en-US" altLang="zh-CN" b="1" baseline="-25000" dirty="0">
                <a:latin typeface="宋体" panose="02010600030101010101" pitchFamily="2" charset="-122"/>
                <a:ea typeface="宋体" panose="02010600030101010101" pitchFamily="2" charset="-122"/>
              </a:rPr>
              <a:t>T</a:t>
            </a:r>
            <a:r>
              <a:rPr lang="en-US" altLang="zh-CN" b="1" dirty="0">
                <a:latin typeface="宋体" panose="02010600030101010101" pitchFamily="2" charset="-122"/>
                <a:ea typeface="宋体" panose="02010600030101010101" pitchFamily="2" charset="-122"/>
              </a:rPr>
              <a:t>)</a:t>
            </a:r>
            <a:r>
              <a:rPr lang="en-US" altLang="zh-CN" b="1" baseline="30000"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 ，则</a:t>
            </a:r>
            <a:r>
              <a:rPr lang="en-US" altLang="zh-CN" b="1" dirty="0">
                <a:latin typeface="宋体" panose="02010600030101010101" pitchFamily="2" charset="-122"/>
                <a:ea typeface="宋体" panose="02010600030101010101" pitchFamily="2" charset="-122"/>
              </a:rPr>
              <a:t>G</a:t>
            </a:r>
            <a:r>
              <a:rPr lang="zh-CN" altLang="en-US" b="1" dirty="0">
                <a:latin typeface="宋体" panose="02010600030101010101" pitchFamily="2" charset="-122"/>
                <a:ea typeface="宋体" panose="02010600030101010101" pitchFamily="2" charset="-122"/>
              </a:rPr>
              <a:t>是一个0型文法</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0型文法等价于图灵机，即任何0型语言都是递归可枚举的，而递归可枚举集必定是一个0型语言</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其它三类文法都是对0型文法产生式的形式作某些限制得到的</a:t>
            </a:r>
            <a:endParaRPr lang="zh-CN" altLang="en-US"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title"/>
          </p:nvPr>
        </p:nvSpPr>
        <p:spPr>
          <a:xfrm>
            <a:off x="1000125" y="503238"/>
            <a:ext cx="7543800" cy="914400"/>
          </a:xfrm>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语法定义（</a:t>
            </a:r>
            <a:r>
              <a:rPr lang="en-US" altLang="zh-CN" dirty="0">
                <a:latin typeface="宋体" panose="02010600030101010101" pitchFamily="2" charset="-122"/>
                <a:ea typeface="宋体" panose="02010600030101010101" pitchFamily="2" charset="-122"/>
              </a:rPr>
              <a:t>13</a:t>
            </a:r>
            <a:r>
              <a:rPr lang="zh-CN" altLang="en-US" dirty="0">
                <a:latin typeface="宋体" panose="02010600030101010101" pitchFamily="2" charset="-122"/>
                <a:ea typeface="宋体" panose="02010600030101010101" pitchFamily="2" charset="-122"/>
              </a:rPr>
              <a:t>）</a:t>
            </a:r>
            <a:br>
              <a:rPr lang="en-US" altLang="zh-CN"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文法的分类：乔姆斯基语言族（2）</a:t>
            </a:r>
            <a:endParaRPr lang="zh-CN" altLang="en-US" dirty="0">
              <a:latin typeface="宋体" panose="02010600030101010101" pitchFamily="2" charset="-122"/>
              <a:ea typeface="宋体" panose="02010600030101010101" pitchFamily="2" charset="-122"/>
            </a:endParaRPr>
          </a:p>
        </p:txBody>
      </p:sp>
      <p:sp>
        <p:nvSpPr>
          <p:cNvPr id="36867" name="Rectangle 3"/>
          <p:cNvSpPr>
            <a:spLocks noGrp="1"/>
          </p:cNvSpPr>
          <p:nvPr>
            <p:ph idx="1"/>
          </p:nvPr>
        </p:nvSpPr>
        <p:spPr>
          <a:xfrm>
            <a:off x="827088" y="1371600"/>
            <a:ext cx="7705725" cy="4953000"/>
          </a:xfrm>
        </p:spPr>
        <p:txBody>
          <a:bodyPr vert="horz" wrap="square" lIns="92075" tIns="46038" rIns="92075" bIns="46038" anchor="t" anchorCtr="0"/>
          <a:p>
            <a:pPr lvl="1"/>
            <a:r>
              <a:rPr lang="zh-CN" altLang="en-US" b="1" dirty="0">
                <a:latin typeface="宋体" panose="02010600030101010101" pitchFamily="2" charset="-122"/>
                <a:ea typeface="宋体" panose="02010600030101010101" pitchFamily="2" charset="-122"/>
              </a:rPr>
              <a:t>1型文法：也称为上下文有关文法，</a:t>
            </a:r>
            <a:r>
              <a:rPr lang="en-US" altLang="zh-CN" b="1" dirty="0">
                <a:latin typeface="宋体" panose="02010600030101010101" pitchFamily="2" charset="-122"/>
                <a:ea typeface="宋体" panose="02010600030101010101" pitchFamily="2" charset="-122"/>
              </a:rPr>
              <a:t>CSG</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定义：设</a:t>
            </a:r>
            <a:r>
              <a:rPr lang="en-US" altLang="zh-CN" b="1" dirty="0">
                <a:latin typeface="宋体" panose="02010600030101010101" pitchFamily="2" charset="-122"/>
                <a:ea typeface="宋体" panose="02010600030101010101" pitchFamily="2" charset="-122"/>
              </a:rPr>
              <a:t>G=(V</a:t>
            </a:r>
            <a:r>
              <a:rPr lang="en-US" altLang="zh-CN" b="1" baseline="-25000" dirty="0">
                <a:latin typeface="宋体" panose="02010600030101010101" pitchFamily="2" charset="-122"/>
                <a:ea typeface="宋体" panose="02010600030101010101" pitchFamily="2" charset="-122"/>
              </a:rPr>
              <a:t>N</a:t>
            </a:r>
            <a:r>
              <a:rPr lang="en-US" altLang="zh-CN" b="1" dirty="0">
                <a:latin typeface="宋体" panose="02010600030101010101" pitchFamily="2" charset="-122"/>
                <a:ea typeface="宋体" panose="02010600030101010101" pitchFamily="2" charset="-122"/>
              </a:rPr>
              <a:t>,V</a:t>
            </a:r>
            <a:r>
              <a:rPr lang="en-US" altLang="zh-CN" b="1" baseline="-25000" dirty="0">
                <a:latin typeface="宋体" panose="02010600030101010101" pitchFamily="2" charset="-122"/>
                <a:ea typeface="宋体" panose="02010600030101010101" pitchFamily="2" charset="-122"/>
              </a:rPr>
              <a:t>t</a:t>
            </a:r>
            <a:r>
              <a:rPr lang="en-US" altLang="zh-CN" b="1" dirty="0">
                <a:latin typeface="宋体" panose="02010600030101010101" pitchFamily="2" charset="-122"/>
                <a:ea typeface="宋体" panose="02010600030101010101" pitchFamily="2" charset="-122"/>
              </a:rPr>
              <a:t>,P,S)，</a:t>
            </a:r>
            <a:r>
              <a:rPr lang="zh-CN" altLang="en-US" b="1" dirty="0">
                <a:latin typeface="宋体" panose="02010600030101010101" pitchFamily="2" charset="-122"/>
                <a:ea typeface="宋体" panose="02010600030101010101" pitchFamily="2" charset="-122"/>
              </a:rPr>
              <a:t>如果它的每个产生式有如下形式：</a:t>
            </a:r>
            <a:r>
              <a:rPr lang="en-US" altLang="zh-CN" b="1" dirty="0">
                <a:latin typeface="宋体" panose="02010600030101010101" pitchFamily="2" charset="-122"/>
                <a:ea typeface="宋体" panose="02010600030101010101" pitchFamily="2" charset="-122"/>
              </a:rPr>
              <a:t>xAy→xβy，A</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V</a:t>
            </a:r>
            <a:r>
              <a:rPr lang="en-US" altLang="zh-CN" b="1" baseline="-25000" dirty="0">
                <a:latin typeface="宋体" panose="02010600030101010101" pitchFamily="2" charset="-122"/>
                <a:ea typeface="宋体" panose="02010600030101010101" pitchFamily="2" charset="-122"/>
              </a:rPr>
              <a:t>N</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β</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V</a:t>
            </a:r>
            <a:r>
              <a:rPr lang="en-US" altLang="zh-CN" b="1" baseline="-25000" dirty="0">
                <a:latin typeface="宋体" panose="02010600030101010101" pitchFamily="2" charset="-122"/>
                <a:ea typeface="宋体" panose="02010600030101010101" pitchFamily="2" charset="-122"/>
              </a:rPr>
              <a:t>N</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V</a:t>
            </a:r>
            <a:r>
              <a:rPr lang="en-US" altLang="zh-CN" b="1" baseline="-25000" dirty="0">
                <a:latin typeface="宋体" panose="02010600030101010101" pitchFamily="2" charset="-122"/>
                <a:ea typeface="宋体" panose="02010600030101010101" pitchFamily="2" charset="-122"/>
              </a:rPr>
              <a:t>T</a:t>
            </a:r>
            <a:r>
              <a:rPr lang="en-US" altLang="zh-CN" b="1" dirty="0">
                <a:latin typeface="宋体" panose="02010600030101010101" pitchFamily="2" charset="-122"/>
                <a:ea typeface="宋体" panose="02010600030101010101" pitchFamily="2" charset="-122"/>
              </a:rPr>
              <a:t>)</a:t>
            </a:r>
            <a:r>
              <a:rPr lang="en-US" altLang="zh-CN" b="1" baseline="30000"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x、y</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V</a:t>
            </a:r>
            <a:r>
              <a:rPr lang="en-US" altLang="zh-CN" b="1" baseline="-25000" dirty="0">
                <a:latin typeface="宋体" panose="02010600030101010101" pitchFamily="2" charset="-122"/>
                <a:ea typeface="宋体" panose="02010600030101010101" pitchFamily="2" charset="-122"/>
              </a:rPr>
              <a:t>N</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V</a:t>
            </a:r>
            <a:r>
              <a:rPr lang="en-US" altLang="zh-CN" b="1" baseline="-25000" dirty="0">
                <a:latin typeface="宋体" panose="02010600030101010101" pitchFamily="2" charset="-122"/>
                <a:ea typeface="宋体" panose="02010600030101010101" pitchFamily="2" charset="-122"/>
              </a:rPr>
              <a:t>T</a:t>
            </a:r>
            <a:r>
              <a:rPr lang="en-US" altLang="zh-CN" b="1" dirty="0">
                <a:latin typeface="宋体" panose="02010600030101010101" pitchFamily="2" charset="-122"/>
                <a:ea typeface="宋体" panose="02010600030101010101" pitchFamily="2" charset="-122"/>
              </a:rPr>
              <a:t>)</a:t>
            </a:r>
            <a:r>
              <a:rPr lang="en-US" altLang="zh-CN" b="1" baseline="30000"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，则</a:t>
            </a:r>
            <a:r>
              <a:rPr lang="en-US" altLang="zh-CN" b="1" dirty="0">
                <a:latin typeface="宋体" panose="02010600030101010101" pitchFamily="2" charset="-122"/>
                <a:ea typeface="宋体" panose="02010600030101010101" pitchFamily="2" charset="-122"/>
              </a:rPr>
              <a:t>G</a:t>
            </a:r>
            <a:r>
              <a:rPr lang="zh-CN" altLang="en-US" b="1" dirty="0">
                <a:latin typeface="宋体" panose="02010600030101010101" pitchFamily="2" charset="-122"/>
                <a:ea typeface="宋体" panose="02010600030101010101" pitchFamily="2" charset="-122"/>
              </a:rPr>
              <a:t>是一个1型文法</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另一种定义：设</a:t>
            </a:r>
            <a:r>
              <a:rPr lang="en-US" altLang="zh-CN" b="1" dirty="0">
                <a:latin typeface="宋体" panose="02010600030101010101" pitchFamily="2" charset="-122"/>
                <a:ea typeface="宋体" panose="02010600030101010101" pitchFamily="2" charset="-122"/>
              </a:rPr>
              <a:t>G=(V</a:t>
            </a:r>
            <a:r>
              <a:rPr lang="en-US" altLang="zh-CN" b="1" baseline="-25000" dirty="0">
                <a:latin typeface="宋体" panose="02010600030101010101" pitchFamily="2" charset="-122"/>
                <a:ea typeface="宋体" panose="02010600030101010101" pitchFamily="2" charset="-122"/>
              </a:rPr>
              <a:t>N</a:t>
            </a:r>
            <a:r>
              <a:rPr lang="en-US" altLang="zh-CN" b="1" dirty="0">
                <a:latin typeface="宋体" panose="02010600030101010101" pitchFamily="2" charset="-122"/>
                <a:ea typeface="宋体" panose="02010600030101010101" pitchFamily="2" charset="-122"/>
              </a:rPr>
              <a:t>,V</a:t>
            </a:r>
            <a:r>
              <a:rPr lang="en-US" altLang="zh-CN" b="1" baseline="-25000" dirty="0">
                <a:latin typeface="宋体" panose="02010600030101010101" pitchFamily="2" charset="-122"/>
                <a:ea typeface="宋体" panose="02010600030101010101" pitchFamily="2" charset="-122"/>
              </a:rPr>
              <a:t>t</a:t>
            </a:r>
            <a:r>
              <a:rPr lang="en-US" altLang="zh-CN" b="1" dirty="0">
                <a:latin typeface="宋体" panose="02010600030101010101" pitchFamily="2" charset="-122"/>
                <a:ea typeface="宋体" panose="02010600030101010101" pitchFamily="2" charset="-122"/>
              </a:rPr>
              <a:t>,P,S)，</a:t>
            </a:r>
            <a:r>
              <a:rPr lang="zh-CN" altLang="en-US" b="1" dirty="0">
                <a:latin typeface="宋体" panose="02010600030101010101" pitchFamily="2" charset="-122"/>
                <a:ea typeface="宋体" panose="02010600030101010101" pitchFamily="2" charset="-122"/>
              </a:rPr>
              <a:t>如果它的每个产生式</a:t>
            </a:r>
            <a:r>
              <a:rPr lang="en-US" altLang="zh-CN" b="1" dirty="0">
                <a:latin typeface="宋体" panose="02010600030101010101" pitchFamily="2" charset="-122"/>
                <a:ea typeface="宋体" panose="02010600030101010101" pitchFamily="2" charset="-122"/>
              </a:rPr>
              <a:t>α→β</a:t>
            </a:r>
            <a:r>
              <a:rPr lang="zh-CN" altLang="en-US" b="1" dirty="0">
                <a:latin typeface="宋体" panose="02010600030101010101" pitchFamily="2" charset="-122"/>
                <a:ea typeface="宋体" panose="02010600030101010101" pitchFamily="2" charset="-122"/>
              </a:rPr>
              <a:t>满足|</a:t>
            </a:r>
            <a:r>
              <a:rPr lang="en-US" altLang="zh-CN" b="1" dirty="0">
                <a:latin typeface="宋体" panose="02010600030101010101" pitchFamily="2" charset="-122"/>
                <a:ea typeface="宋体" panose="02010600030101010101" pitchFamily="2" charset="-122"/>
              </a:rPr>
              <a:t>β</a:t>
            </a:r>
            <a:r>
              <a:rPr lang="zh-CN" altLang="en-US" b="1" dirty="0">
                <a:latin typeface="宋体" panose="02010600030101010101" pitchFamily="2" charset="-122"/>
                <a:ea typeface="宋体" panose="02010600030101010101" pitchFamily="2" charset="-122"/>
              </a:rPr>
              <a:t>|&gt;=|</a:t>
            </a:r>
            <a:r>
              <a:rPr lang="en-US" altLang="zh-CN" b="1" dirty="0">
                <a:latin typeface="宋体" panose="02010600030101010101" pitchFamily="2" charset="-122"/>
                <a:ea typeface="宋体" panose="02010600030101010101" pitchFamily="2" charset="-122"/>
              </a:rPr>
              <a:t>α|，</a:t>
            </a:r>
            <a:r>
              <a:rPr lang="zh-CN" altLang="en-US" b="1" dirty="0">
                <a:latin typeface="宋体" panose="02010600030101010101" pitchFamily="2" charset="-122"/>
                <a:ea typeface="宋体" panose="02010600030101010101" pitchFamily="2" charset="-122"/>
              </a:rPr>
              <a:t>则</a:t>
            </a:r>
            <a:r>
              <a:rPr lang="en-US" altLang="zh-CN" b="1" dirty="0">
                <a:latin typeface="宋体" panose="02010600030101010101" pitchFamily="2" charset="-122"/>
                <a:ea typeface="宋体" panose="02010600030101010101" pitchFamily="2" charset="-122"/>
              </a:rPr>
              <a:t>G</a:t>
            </a:r>
            <a:r>
              <a:rPr lang="zh-CN" altLang="en-US" b="1" dirty="0">
                <a:latin typeface="宋体" panose="02010600030101010101" pitchFamily="2" charset="-122"/>
                <a:ea typeface="宋体" panose="02010600030101010101" pitchFamily="2" charset="-122"/>
              </a:rPr>
              <a:t>是一个1型文法；有时为了描述的方便，把产生式</a:t>
            </a:r>
            <a:r>
              <a:rPr lang="en-US" altLang="zh-CN" b="1" dirty="0">
                <a:latin typeface="宋体" panose="02010600030101010101" pitchFamily="2" charset="-122"/>
                <a:ea typeface="宋体" panose="02010600030101010101" pitchFamily="2" charset="-122"/>
              </a:rPr>
              <a:t>S→ε</a:t>
            </a:r>
            <a:r>
              <a:rPr lang="zh-CN" altLang="en-US" b="1" dirty="0">
                <a:latin typeface="宋体" panose="02010600030101010101" pitchFamily="2" charset="-122"/>
                <a:ea typeface="宋体" panose="02010600030101010101" pitchFamily="2" charset="-122"/>
              </a:rPr>
              <a:t>作为产生式的特例加入1型文法的产生式集合中</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1型文法等价于线性界限自动机（</a:t>
            </a:r>
            <a:r>
              <a:rPr lang="en-US" altLang="zh-CN" b="1" dirty="0">
                <a:latin typeface="宋体" panose="02010600030101010101" pitchFamily="2" charset="-122"/>
                <a:ea typeface="宋体" panose="02010600030101010101" pitchFamily="2" charset="-122"/>
              </a:rPr>
              <a:t>LBA）</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如果不考虑产生式</a:t>
            </a:r>
            <a:r>
              <a:rPr lang="en-US" altLang="zh-CN" b="1" dirty="0">
                <a:latin typeface="宋体" panose="02010600030101010101" pitchFamily="2" charset="-122"/>
                <a:ea typeface="宋体" panose="02010600030101010101" pitchFamily="2" charset="-122"/>
              </a:rPr>
              <a:t>S→ε，</a:t>
            </a:r>
            <a:r>
              <a:rPr lang="zh-CN" altLang="en-US" b="1" dirty="0">
                <a:latin typeface="宋体" panose="02010600030101010101" pitchFamily="2" charset="-122"/>
                <a:ea typeface="宋体" panose="02010600030101010101" pitchFamily="2" charset="-122"/>
              </a:rPr>
              <a:t>则因为每个产生式都保持符号串长度不变或增大，因此所有由开始符号导出的符号串的长度均不会减小</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1型文法对程序设计语言的应用来说一般太复杂了，难于应用</a:t>
            </a:r>
            <a:endParaRPr lang="zh-CN" altLang="en-US"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语法定义（</a:t>
            </a:r>
            <a:r>
              <a:rPr lang="en-US" altLang="zh-CN" dirty="0">
                <a:latin typeface="宋体" panose="02010600030101010101" pitchFamily="2" charset="-122"/>
                <a:ea typeface="宋体" panose="02010600030101010101" pitchFamily="2" charset="-122"/>
              </a:rPr>
              <a:t>14</a:t>
            </a:r>
            <a:r>
              <a:rPr lang="zh-CN" altLang="en-US" dirty="0">
                <a:latin typeface="宋体" panose="02010600030101010101" pitchFamily="2" charset="-122"/>
                <a:ea typeface="宋体" panose="02010600030101010101" pitchFamily="2" charset="-122"/>
              </a:rPr>
              <a:t>）</a:t>
            </a:r>
            <a:br>
              <a:rPr lang="en-US" altLang="zh-CN"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文法的分类：乔姆斯基语言族（3）</a:t>
            </a:r>
            <a:endParaRPr lang="zh-CN" altLang="en-US" dirty="0">
              <a:latin typeface="宋体" panose="02010600030101010101" pitchFamily="2" charset="-122"/>
              <a:ea typeface="宋体" panose="02010600030101010101" pitchFamily="2" charset="-122"/>
            </a:endParaRPr>
          </a:p>
        </p:txBody>
      </p:sp>
      <p:sp>
        <p:nvSpPr>
          <p:cNvPr id="38915" name="Rectangle 3"/>
          <p:cNvSpPr>
            <a:spLocks noGrp="1"/>
          </p:cNvSpPr>
          <p:nvPr>
            <p:ph idx="1"/>
          </p:nvPr>
        </p:nvSpPr>
        <p:spPr>
          <a:xfrm>
            <a:off x="990600" y="1371600"/>
            <a:ext cx="7391400" cy="4953000"/>
          </a:xfrm>
        </p:spPr>
        <p:txBody>
          <a:bodyPr vert="horz" wrap="square" lIns="92075" tIns="46038" rIns="92075" bIns="46038" anchor="t" anchorCtr="0"/>
          <a:p>
            <a:pPr lvl="2"/>
            <a:r>
              <a:rPr lang="zh-CN" altLang="en-US" b="1" dirty="0">
                <a:latin typeface="宋体" panose="02010600030101010101" pitchFamily="2" charset="-122"/>
                <a:ea typeface="宋体" panose="02010600030101010101" pitchFamily="2" charset="-122"/>
              </a:rPr>
              <a:t>1型文法产生的符号串可以表示</a:t>
            </a:r>
            <a:r>
              <a:rPr lang="en-US" altLang="zh-CN" b="1" dirty="0">
                <a:latin typeface="宋体" panose="02010600030101010101" pitchFamily="2" charset="-122"/>
                <a:ea typeface="宋体" panose="02010600030101010101" pitchFamily="2" charset="-122"/>
              </a:rPr>
              <a:t>3</a:t>
            </a:r>
            <a:r>
              <a:rPr lang="zh-CN" altLang="en-US" b="1" dirty="0">
                <a:latin typeface="宋体" panose="02010600030101010101" pitchFamily="2" charset="-122"/>
                <a:ea typeface="宋体" panose="02010600030101010101" pitchFamily="2" charset="-122"/>
              </a:rPr>
              <a:t>个符号在数量上的关联性</a:t>
            </a:r>
            <a:endParaRPr lang="en-US" altLang="zh-CN" sz="24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zh-CN" altLang="en-US" b="1" dirty="0">
                <a:latin typeface="宋体" panose="02010600030101010101" pitchFamily="2" charset="-122"/>
                <a:ea typeface="宋体" panose="02010600030101010101" pitchFamily="2" charset="-122"/>
              </a:rPr>
              <a:t>	如语言</a:t>
            </a:r>
            <a:r>
              <a:rPr lang="en-US" altLang="zh-CN" b="1" dirty="0">
                <a:latin typeface="宋体" panose="02010600030101010101" pitchFamily="2" charset="-122"/>
                <a:ea typeface="宋体" panose="02010600030101010101" pitchFamily="2" charset="-122"/>
              </a:rPr>
              <a:t>L={a</a:t>
            </a:r>
            <a:r>
              <a:rPr lang="en-US" altLang="zh-CN" b="1" baseline="30000" dirty="0">
                <a:latin typeface="宋体" panose="02010600030101010101" pitchFamily="2" charset="-122"/>
                <a:ea typeface="宋体" panose="02010600030101010101" pitchFamily="2" charset="-122"/>
              </a:rPr>
              <a:t>n</a:t>
            </a:r>
            <a:r>
              <a:rPr lang="en-US" altLang="zh-CN" b="1" dirty="0">
                <a:latin typeface="宋体" panose="02010600030101010101" pitchFamily="2" charset="-122"/>
                <a:ea typeface="宋体" panose="02010600030101010101" pitchFamily="2" charset="-122"/>
              </a:rPr>
              <a:t>b</a:t>
            </a:r>
            <a:r>
              <a:rPr lang="en-US" altLang="zh-CN" b="1" baseline="30000" dirty="0">
                <a:latin typeface="宋体" panose="02010600030101010101" pitchFamily="2" charset="-122"/>
                <a:ea typeface="宋体" panose="02010600030101010101" pitchFamily="2" charset="-122"/>
              </a:rPr>
              <a:t>n</a:t>
            </a:r>
            <a:r>
              <a:rPr lang="en-US" altLang="zh-CN" b="1" dirty="0">
                <a:latin typeface="宋体" panose="02010600030101010101" pitchFamily="2" charset="-122"/>
                <a:ea typeface="宋体" panose="02010600030101010101" pitchFamily="2" charset="-122"/>
              </a:rPr>
              <a:t>c</a:t>
            </a:r>
            <a:r>
              <a:rPr lang="en-US" altLang="zh-CN" b="1" baseline="30000" dirty="0">
                <a:latin typeface="宋体" panose="02010600030101010101" pitchFamily="2" charset="-122"/>
                <a:ea typeface="宋体" panose="02010600030101010101" pitchFamily="2" charset="-122"/>
              </a:rPr>
              <a:t>n</a:t>
            </a:r>
            <a:r>
              <a:rPr lang="en-US" altLang="zh-CN" b="1" dirty="0">
                <a:latin typeface="宋体" panose="02010600030101010101" pitchFamily="2" charset="-122"/>
                <a:ea typeface="宋体" panose="02010600030101010101" pitchFamily="2" charset="-122"/>
              </a:rPr>
              <a:t>,n&gt;=1}</a:t>
            </a:r>
            <a:r>
              <a:rPr lang="zh-CN" altLang="en-US" b="1" dirty="0">
                <a:latin typeface="宋体" panose="02010600030101010101" pitchFamily="2" charset="-122"/>
                <a:ea typeface="宋体" panose="02010600030101010101" pitchFamily="2" charset="-122"/>
              </a:rPr>
              <a:t>可以用1型文法表示：</a:t>
            </a:r>
            <a:endParaRPr lang="zh-CN" altLang="en-US"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S→aSBC | aBC</a:t>
            </a:r>
            <a:endParaRPr lang="en-US" altLang="zh-CN"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en-US" altLang="zh-CN" b="1" dirty="0">
                <a:latin typeface="宋体" panose="02010600030101010101" pitchFamily="2" charset="-122"/>
                <a:ea typeface="宋体" panose="02010600030101010101" pitchFamily="2" charset="-122"/>
              </a:rPr>
              <a:t>	CB→BC</a:t>
            </a:r>
            <a:endParaRPr lang="en-US" altLang="zh-CN"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en-US" altLang="zh-CN" b="1" dirty="0">
                <a:latin typeface="宋体" panose="02010600030101010101" pitchFamily="2" charset="-122"/>
                <a:ea typeface="宋体" panose="02010600030101010101" pitchFamily="2" charset="-122"/>
              </a:rPr>
              <a:t>	aB→ab</a:t>
            </a:r>
            <a:endParaRPr lang="en-US" altLang="zh-CN"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en-US" altLang="zh-CN" b="1" dirty="0">
                <a:latin typeface="宋体" panose="02010600030101010101" pitchFamily="2" charset="-122"/>
                <a:ea typeface="宋体" panose="02010600030101010101" pitchFamily="2" charset="-122"/>
              </a:rPr>
              <a:t>	bB→bb</a:t>
            </a:r>
            <a:endParaRPr lang="en-US" altLang="zh-CN"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en-US" altLang="zh-CN" b="1" dirty="0">
                <a:latin typeface="宋体" panose="02010600030101010101" pitchFamily="2" charset="-122"/>
                <a:ea typeface="宋体" panose="02010600030101010101" pitchFamily="2" charset="-122"/>
              </a:rPr>
              <a:t>	bC→bc</a:t>
            </a:r>
            <a:endParaRPr lang="en-US" altLang="zh-CN"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en-US" altLang="zh-CN" b="1" dirty="0">
                <a:latin typeface="宋体" panose="02010600030101010101" pitchFamily="2" charset="-122"/>
                <a:ea typeface="宋体" panose="02010600030101010101" pitchFamily="2" charset="-122"/>
              </a:rPr>
              <a:t>	cC→cc</a:t>
            </a:r>
            <a:endParaRPr lang="en-US" altLang="zh-CN"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语法定义（</a:t>
            </a:r>
            <a:r>
              <a:rPr lang="en-US" altLang="zh-CN" dirty="0">
                <a:latin typeface="宋体" panose="02010600030101010101" pitchFamily="2" charset="-122"/>
                <a:ea typeface="宋体" panose="02010600030101010101" pitchFamily="2" charset="-122"/>
              </a:rPr>
              <a:t>15</a:t>
            </a:r>
            <a:r>
              <a:rPr lang="zh-CN" altLang="en-US" dirty="0">
                <a:latin typeface="宋体" panose="02010600030101010101" pitchFamily="2" charset="-122"/>
                <a:ea typeface="宋体" panose="02010600030101010101" pitchFamily="2" charset="-122"/>
              </a:rPr>
              <a:t>）</a:t>
            </a:r>
            <a:br>
              <a:rPr lang="en-US" altLang="zh-CN"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文法的分类：乔姆斯基语言族（4）</a:t>
            </a:r>
            <a:endParaRPr lang="zh-CN" altLang="en-US" dirty="0">
              <a:latin typeface="宋体" panose="02010600030101010101" pitchFamily="2" charset="-122"/>
              <a:ea typeface="宋体" panose="02010600030101010101" pitchFamily="2" charset="-122"/>
            </a:endParaRPr>
          </a:p>
        </p:txBody>
      </p:sp>
      <p:sp>
        <p:nvSpPr>
          <p:cNvPr id="40963" name="Rectangle 3"/>
          <p:cNvSpPr>
            <a:spLocks noGrp="1"/>
          </p:cNvSpPr>
          <p:nvPr>
            <p:ph idx="1"/>
          </p:nvPr>
        </p:nvSpPr>
        <p:spPr>
          <a:xfrm>
            <a:off x="990600" y="1371600"/>
            <a:ext cx="7391400" cy="4953000"/>
          </a:xfrm>
        </p:spPr>
        <p:txBody>
          <a:bodyPr vert="horz" wrap="square" lIns="92075" tIns="46038" rIns="92075" bIns="46038" anchor="t" anchorCtr="0"/>
          <a:p>
            <a:pPr lvl="1"/>
            <a:r>
              <a:rPr lang="zh-CN" altLang="en-US" b="1" dirty="0">
                <a:latin typeface="宋体" panose="02010600030101010101" pitchFamily="2" charset="-122"/>
                <a:ea typeface="宋体" panose="02010600030101010101" pitchFamily="2" charset="-122"/>
              </a:rPr>
              <a:t>2型文法：也称为上下文无关文法，</a:t>
            </a:r>
            <a:r>
              <a:rPr lang="en-US" altLang="zh-CN" b="1" dirty="0">
                <a:latin typeface="宋体" panose="02010600030101010101" pitchFamily="2" charset="-122"/>
                <a:ea typeface="宋体" panose="02010600030101010101" pitchFamily="2" charset="-122"/>
              </a:rPr>
              <a:t>CFG</a:t>
            </a:r>
            <a:endParaRPr lang="en-US" altLang="zh-CN" sz="2600"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定义：设</a:t>
            </a:r>
            <a:r>
              <a:rPr lang="en-US" altLang="zh-CN" b="1" dirty="0">
                <a:latin typeface="宋体" panose="02010600030101010101" pitchFamily="2" charset="-122"/>
                <a:ea typeface="宋体" panose="02010600030101010101" pitchFamily="2" charset="-122"/>
              </a:rPr>
              <a:t>G=(V</a:t>
            </a:r>
            <a:r>
              <a:rPr lang="en-US" altLang="zh-CN" b="1" baseline="-25000" dirty="0">
                <a:latin typeface="宋体" panose="02010600030101010101" pitchFamily="2" charset="-122"/>
                <a:ea typeface="宋体" panose="02010600030101010101" pitchFamily="2" charset="-122"/>
              </a:rPr>
              <a:t>N</a:t>
            </a:r>
            <a:r>
              <a:rPr lang="en-US" altLang="zh-CN" b="1" dirty="0">
                <a:latin typeface="宋体" panose="02010600030101010101" pitchFamily="2" charset="-122"/>
                <a:ea typeface="宋体" panose="02010600030101010101" pitchFamily="2" charset="-122"/>
              </a:rPr>
              <a:t>,V</a:t>
            </a:r>
            <a:r>
              <a:rPr lang="en-US" altLang="zh-CN" b="1" baseline="-25000" dirty="0">
                <a:latin typeface="宋体" panose="02010600030101010101" pitchFamily="2" charset="-122"/>
                <a:ea typeface="宋体" panose="02010600030101010101" pitchFamily="2" charset="-122"/>
              </a:rPr>
              <a:t>t</a:t>
            </a:r>
            <a:r>
              <a:rPr lang="en-US" altLang="zh-CN" b="1" dirty="0">
                <a:latin typeface="宋体" panose="02010600030101010101" pitchFamily="2" charset="-122"/>
                <a:ea typeface="宋体" panose="02010600030101010101" pitchFamily="2" charset="-122"/>
              </a:rPr>
              <a:t>,P,S)，</a:t>
            </a:r>
            <a:r>
              <a:rPr lang="zh-CN" altLang="en-US" b="1" dirty="0">
                <a:latin typeface="宋体" panose="02010600030101010101" pitchFamily="2" charset="-122"/>
                <a:ea typeface="宋体" panose="02010600030101010101" pitchFamily="2" charset="-122"/>
              </a:rPr>
              <a:t>如果它的每个产生式有如下形式：</a:t>
            </a:r>
            <a:r>
              <a:rPr lang="en-US" altLang="zh-CN" b="1" dirty="0">
                <a:latin typeface="宋体" panose="02010600030101010101" pitchFamily="2" charset="-122"/>
                <a:ea typeface="宋体" panose="02010600030101010101" pitchFamily="2" charset="-122"/>
              </a:rPr>
              <a:t>A→β，A</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V</a:t>
            </a:r>
            <a:r>
              <a:rPr lang="en-US" altLang="zh-CN" b="1" baseline="-25000" dirty="0">
                <a:latin typeface="宋体" panose="02010600030101010101" pitchFamily="2" charset="-122"/>
                <a:ea typeface="宋体" panose="02010600030101010101" pitchFamily="2" charset="-122"/>
              </a:rPr>
              <a:t>N</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β</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V</a:t>
            </a:r>
            <a:r>
              <a:rPr lang="en-US" altLang="zh-CN" b="1" baseline="-25000" dirty="0">
                <a:latin typeface="宋体" panose="02010600030101010101" pitchFamily="2" charset="-122"/>
                <a:ea typeface="宋体" panose="02010600030101010101" pitchFamily="2" charset="-122"/>
              </a:rPr>
              <a:t>N</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V</a:t>
            </a:r>
            <a:r>
              <a:rPr lang="en-US" altLang="zh-CN" b="1" baseline="-25000" dirty="0">
                <a:latin typeface="宋体" panose="02010600030101010101" pitchFamily="2" charset="-122"/>
                <a:ea typeface="宋体" panose="02010600030101010101" pitchFamily="2" charset="-122"/>
              </a:rPr>
              <a:t>T</a:t>
            </a:r>
            <a:r>
              <a:rPr lang="en-US" altLang="zh-CN" b="1" dirty="0">
                <a:latin typeface="宋体" panose="02010600030101010101" pitchFamily="2" charset="-122"/>
                <a:ea typeface="宋体" panose="02010600030101010101" pitchFamily="2" charset="-122"/>
              </a:rPr>
              <a:t>)</a:t>
            </a:r>
            <a:r>
              <a:rPr lang="en-US" altLang="zh-CN" b="1" baseline="30000"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，则</a:t>
            </a:r>
            <a:r>
              <a:rPr lang="en-US" altLang="zh-CN" b="1" dirty="0">
                <a:latin typeface="宋体" panose="02010600030101010101" pitchFamily="2" charset="-122"/>
                <a:ea typeface="宋体" panose="02010600030101010101" pitchFamily="2" charset="-122"/>
              </a:rPr>
              <a:t>G</a:t>
            </a:r>
            <a:r>
              <a:rPr lang="zh-CN" altLang="en-US" b="1" dirty="0">
                <a:latin typeface="宋体" panose="02010600030101010101" pitchFamily="2" charset="-122"/>
                <a:ea typeface="宋体" panose="02010600030101010101" pitchFamily="2" charset="-122"/>
              </a:rPr>
              <a:t>是一个2型文法</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2型文法等价于下推自动机（</a:t>
            </a:r>
            <a:r>
              <a:rPr lang="en-US" altLang="zh-CN" b="1" dirty="0">
                <a:latin typeface="宋体" panose="02010600030101010101" pitchFamily="2" charset="-122"/>
                <a:ea typeface="宋体" panose="02010600030101010101" pitchFamily="2" charset="-122"/>
              </a:rPr>
              <a:t>PDA）</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2型文法的许多性质是可判定的（如能够生成任意符号串吗？语言是空的吗？等）</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可对两个项进行计算和比较，即对形如</a:t>
            </a:r>
            <a:r>
              <a:rPr lang="en-US" altLang="zh-CN" b="1" dirty="0">
                <a:latin typeface="宋体" panose="02010600030101010101" pitchFamily="2" charset="-122"/>
                <a:ea typeface="宋体" panose="02010600030101010101" pitchFamily="2" charset="-122"/>
              </a:rPr>
              <a:t>a</a:t>
            </a:r>
            <a:r>
              <a:rPr lang="en-US" altLang="zh-CN" b="1" baseline="30000" dirty="0">
                <a:latin typeface="宋体" panose="02010600030101010101" pitchFamily="2" charset="-122"/>
                <a:ea typeface="宋体" panose="02010600030101010101" pitchFamily="2" charset="-122"/>
              </a:rPr>
              <a:t>n</a:t>
            </a:r>
            <a:r>
              <a:rPr lang="en-US" altLang="zh-CN" b="1" dirty="0">
                <a:latin typeface="宋体" panose="02010600030101010101" pitchFamily="2" charset="-122"/>
                <a:ea typeface="宋体" panose="02010600030101010101" pitchFamily="2" charset="-122"/>
              </a:rPr>
              <a:t>cb</a:t>
            </a:r>
            <a:r>
              <a:rPr lang="en-US" altLang="zh-CN" b="1" baseline="30000" dirty="0">
                <a:latin typeface="宋体" panose="02010600030101010101" pitchFamily="2" charset="-122"/>
                <a:ea typeface="宋体" panose="02010600030101010101" pitchFamily="2" charset="-122"/>
              </a:rPr>
              <a:t>n</a:t>
            </a:r>
            <a:r>
              <a:rPr lang="zh-CN" altLang="en-US" b="1" dirty="0">
                <a:latin typeface="宋体" panose="02010600030101010101" pitchFamily="2" charset="-122"/>
                <a:ea typeface="宋体" panose="02010600030101010101" pitchFamily="2" charset="-122"/>
              </a:rPr>
              <a:t>的符号串可以进行描述</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2型文法可以用来自动形成程序的语法分析树</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2型文法也可以用</a:t>
            </a:r>
            <a:r>
              <a:rPr lang="en-US" altLang="zh-CN" b="1" dirty="0">
                <a:latin typeface="宋体" panose="02010600030101010101" pitchFamily="2" charset="-122"/>
                <a:ea typeface="宋体" panose="02010600030101010101" pitchFamily="2" charset="-122"/>
              </a:rPr>
              <a:t>BNF(Backus-Naur form,1960)</a:t>
            </a:r>
            <a:r>
              <a:rPr lang="zh-CN" altLang="en-US" b="1" dirty="0">
                <a:latin typeface="宋体" panose="02010600030101010101" pitchFamily="2" charset="-122"/>
                <a:ea typeface="宋体" panose="02010600030101010101" pitchFamily="2" charset="-122"/>
              </a:rPr>
              <a:t>表示或语法图表示</a:t>
            </a:r>
            <a:endParaRPr lang="zh-CN" altLang="en-US"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语法定义（</a:t>
            </a:r>
            <a:r>
              <a:rPr lang="en-US" altLang="zh-CN" dirty="0">
                <a:latin typeface="宋体" panose="02010600030101010101" pitchFamily="2" charset="-122"/>
                <a:ea typeface="宋体" panose="02010600030101010101" pitchFamily="2" charset="-122"/>
              </a:rPr>
              <a:t>16</a:t>
            </a:r>
            <a:r>
              <a:rPr lang="zh-CN" altLang="en-US" dirty="0">
                <a:latin typeface="宋体" panose="02010600030101010101" pitchFamily="2" charset="-122"/>
                <a:ea typeface="宋体" panose="02010600030101010101" pitchFamily="2" charset="-122"/>
              </a:rPr>
              <a:t>）</a:t>
            </a:r>
            <a:br>
              <a:rPr lang="en-US" altLang="zh-CN"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文法的分类：乔姆斯基语言族（5）</a:t>
            </a:r>
            <a:endParaRPr lang="zh-CN" altLang="en-US" dirty="0">
              <a:latin typeface="宋体" panose="02010600030101010101" pitchFamily="2" charset="-122"/>
              <a:ea typeface="宋体" panose="02010600030101010101" pitchFamily="2" charset="-122"/>
            </a:endParaRPr>
          </a:p>
        </p:txBody>
      </p:sp>
      <p:sp>
        <p:nvSpPr>
          <p:cNvPr id="43011" name="Rectangle 3"/>
          <p:cNvSpPr>
            <a:spLocks noGrp="1"/>
          </p:cNvSpPr>
          <p:nvPr>
            <p:ph idx="1"/>
          </p:nvPr>
        </p:nvSpPr>
        <p:spPr>
          <a:xfrm>
            <a:off x="990600" y="1371600"/>
            <a:ext cx="7467600" cy="4953000"/>
          </a:xfrm>
        </p:spPr>
        <p:txBody>
          <a:bodyPr vert="horz" wrap="square" lIns="92075" tIns="46038" rIns="92075" bIns="46038" anchor="t" anchorCtr="0"/>
          <a:p>
            <a:pPr lvl="1"/>
            <a:r>
              <a:rPr lang="zh-CN" altLang="en-US" b="1" dirty="0">
                <a:latin typeface="宋体" panose="02010600030101010101" pitchFamily="2" charset="-122"/>
                <a:ea typeface="宋体" panose="02010600030101010101" pitchFamily="2" charset="-122"/>
              </a:rPr>
              <a:t>3型文法：也称为正规文法、正则文法、线性文法，</a:t>
            </a:r>
            <a:r>
              <a:rPr lang="en-US" altLang="zh-CN" b="1" dirty="0">
                <a:latin typeface="宋体" panose="02010600030101010101" pitchFamily="2" charset="-122"/>
                <a:ea typeface="宋体" panose="02010600030101010101" pitchFamily="2" charset="-122"/>
              </a:rPr>
              <a:t>RG</a:t>
            </a:r>
            <a:endParaRPr lang="en-US" altLang="zh-CN" sz="2600"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定义：设</a:t>
            </a:r>
            <a:r>
              <a:rPr lang="en-US" altLang="zh-CN" b="1" dirty="0">
                <a:latin typeface="宋体" panose="02010600030101010101" pitchFamily="2" charset="-122"/>
                <a:ea typeface="宋体" panose="02010600030101010101" pitchFamily="2" charset="-122"/>
              </a:rPr>
              <a:t>G=(V</a:t>
            </a:r>
            <a:r>
              <a:rPr lang="en-US" altLang="zh-CN" b="1" baseline="-25000" dirty="0">
                <a:latin typeface="宋体" panose="02010600030101010101" pitchFamily="2" charset="-122"/>
                <a:ea typeface="宋体" panose="02010600030101010101" pitchFamily="2" charset="-122"/>
              </a:rPr>
              <a:t>N</a:t>
            </a:r>
            <a:r>
              <a:rPr lang="en-US" altLang="zh-CN" b="1" dirty="0">
                <a:latin typeface="宋体" panose="02010600030101010101" pitchFamily="2" charset="-122"/>
                <a:ea typeface="宋体" panose="02010600030101010101" pitchFamily="2" charset="-122"/>
              </a:rPr>
              <a:t>,V</a:t>
            </a:r>
            <a:r>
              <a:rPr lang="en-US" altLang="zh-CN" b="1" baseline="-25000" dirty="0">
                <a:latin typeface="宋体" panose="02010600030101010101" pitchFamily="2" charset="-122"/>
                <a:ea typeface="宋体" panose="02010600030101010101" pitchFamily="2" charset="-122"/>
              </a:rPr>
              <a:t>t</a:t>
            </a:r>
            <a:r>
              <a:rPr lang="en-US" altLang="zh-CN" b="1" dirty="0">
                <a:latin typeface="宋体" panose="02010600030101010101" pitchFamily="2" charset="-122"/>
                <a:ea typeface="宋体" panose="02010600030101010101" pitchFamily="2" charset="-122"/>
              </a:rPr>
              <a:t>,P,S)，</a:t>
            </a:r>
            <a:r>
              <a:rPr lang="zh-CN" altLang="en-US" b="1" dirty="0">
                <a:latin typeface="宋体" panose="02010600030101010101" pitchFamily="2" charset="-122"/>
                <a:ea typeface="宋体" panose="02010600030101010101" pitchFamily="2" charset="-122"/>
              </a:rPr>
              <a:t>如果它的每个产生式有如下形式：</a:t>
            </a:r>
            <a:r>
              <a:rPr lang="en-US" altLang="zh-CN" b="1" dirty="0">
                <a:latin typeface="宋体" panose="02010600030101010101" pitchFamily="2" charset="-122"/>
                <a:ea typeface="宋体" panose="02010600030101010101" pitchFamily="2" charset="-122"/>
              </a:rPr>
              <a:t>A→aB</a:t>
            </a:r>
            <a:r>
              <a:rPr lang="zh-CN" altLang="en-US" b="1" dirty="0">
                <a:latin typeface="宋体" panose="02010600030101010101" pitchFamily="2" charset="-122"/>
                <a:ea typeface="宋体" panose="02010600030101010101" pitchFamily="2" charset="-122"/>
              </a:rPr>
              <a:t>或</a:t>
            </a:r>
            <a:r>
              <a:rPr lang="en-US" altLang="zh-CN" b="1" dirty="0">
                <a:latin typeface="宋体" panose="02010600030101010101" pitchFamily="2" charset="-122"/>
                <a:ea typeface="宋体" panose="02010600030101010101" pitchFamily="2" charset="-122"/>
              </a:rPr>
              <a:t>A→a，</a:t>
            </a:r>
            <a:r>
              <a:rPr lang="zh-CN" altLang="en-US" b="1" dirty="0">
                <a:latin typeface="宋体" panose="02010600030101010101" pitchFamily="2" charset="-122"/>
                <a:ea typeface="宋体" panose="02010600030101010101" pitchFamily="2" charset="-122"/>
              </a:rPr>
              <a:t>其中</a:t>
            </a:r>
            <a:r>
              <a:rPr lang="en-US" altLang="zh-CN" b="1" dirty="0">
                <a:latin typeface="宋体" panose="02010600030101010101" pitchFamily="2" charset="-122"/>
                <a:ea typeface="宋体" panose="02010600030101010101" pitchFamily="2" charset="-122"/>
              </a:rPr>
              <a:t>A、B</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V</a:t>
            </a:r>
            <a:r>
              <a:rPr lang="en-US" altLang="zh-CN" b="1" baseline="-25000" dirty="0">
                <a:latin typeface="宋体" panose="02010600030101010101" pitchFamily="2" charset="-122"/>
                <a:ea typeface="宋体" panose="02010600030101010101" pitchFamily="2" charset="-122"/>
              </a:rPr>
              <a:t>N</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a</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V</a:t>
            </a:r>
            <a:r>
              <a:rPr lang="en-US" altLang="zh-CN" b="1" baseline="-25000" dirty="0">
                <a:latin typeface="宋体" panose="02010600030101010101" pitchFamily="2" charset="-122"/>
                <a:ea typeface="宋体" panose="02010600030101010101" pitchFamily="2" charset="-122"/>
              </a:rPr>
              <a:t>T</a:t>
            </a:r>
            <a:r>
              <a:rPr lang="zh-CN" altLang="en-US" b="1" dirty="0">
                <a:latin typeface="宋体" panose="02010600030101010101" pitchFamily="2" charset="-122"/>
                <a:ea typeface="宋体" panose="02010600030101010101" pitchFamily="2" charset="-122"/>
              </a:rPr>
              <a:t>，则</a:t>
            </a:r>
            <a:r>
              <a:rPr lang="en-US" altLang="zh-CN" b="1" dirty="0">
                <a:latin typeface="宋体" panose="02010600030101010101" pitchFamily="2" charset="-122"/>
                <a:ea typeface="宋体" panose="02010600030101010101" pitchFamily="2" charset="-122"/>
              </a:rPr>
              <a:t>G</a:t>
            </a:r>
            <a:r>
              <a:rPr lang="zh-CN" altLang="en-US" b="1" dirty="0">
                <a:latin typeface="宋体" panose="02010600030101010101" pitchFamily="2" charset="-122"/>
                <a:ea typeface="宋体" panose="02010600030101010101" pitchFamily="2" charset="-122"/>
              </a:rPr>
              <a:t>是一个3型文法</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3型文法等价于有穷状态自动机</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上述定义给出的定义是右线性文法，如果产生式的形式是： </a:t>
            </a:r>
            <a:r>
              <a:rPr lang="en-US" altLang="zh-CN" b="1" dirty="0">
                <a:latin typeface="宋体" panose="02010600030101010101" pitchFamily="2" charset="-122"/>
                <a:ea typeface="宋体" panose="02010600030101010101" pitchFamily="2" charset="-122"/>
              </a:rPr>
              <a:t>A→Ba</a:t>
            </a:r>
            <a:r>
              <a:rPr lang="zh-CN" altLang="en-US" b="1" dirty="0">
                <a:latin typeface="宋体" panose="02010600030101010101" pitchFamily="2" charset="-122"/>
                <a:ea typeface="宋体" panose="02010600030101010101" pitchFamily="2" charset="-122"/>
              </a:rPr>
              <a:t>或</a:t>
            </a:r>
            <a:r>
              <a:rPr lang="en-US" altLang="zh-CN" b="1" dirty="0">
                <a:latin typeface="宋体" panose="02010600030101010101" pitchFamily="2" charset="-122"/>
                <a:ea typeface="宋体" panose="02010600030101010101" pitchFamily="2" charset="-122"/>
              </a:rPr>
              <a:t>A→a，</a:t>
            </a:r>
            <a:r>
              <a:rPr lang="zh-CN" altLang="en-US" b="1" dirty="0">
                <a:latin typeface="宋体" panose="02010600030101010101" pitchFamily="2" charset="-122"/>
                <a:ea typeface="宋体" panose="02010600030101010101" pitchFamily="2" charset="-122"/>
              </a:rPr>
              <a:t>则称为左线性文法</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3型文法的许多性质是可判定的</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对于任意有限序列</a:t>
            </a:r>
            <a:r>
              <a:rPr lang="en-US" altLang="zh-CN" b="1" dirty="0">
                <a:latin typeface="宋体" panose="02010600030101010101" pitchFamily="2" charset="-122"/>
                <a:ea typeface="宋体" panose="02010600030101010101" pitchFamily="2" charset="-122"/>
              </a:rPr>
              <a:t>α</a:t>
            </a:r>
            <a:r>
              <a:rPr lang="zh-CN" altLang="en-US" b="1" dirty="0">
                <a:latin typeface="宋体" panose="02010600030101010101" pitchFamily="2" charset="-122"/>
                <a:ea typeface="宋体" panose="02010600030101010101" pitchFamily="2" charset="-122"/>
              </a:rPr>
              <a:t>和任意整数</a:t>
            </a:r>
            <a:r>
              <a:rPr lang="en-US" altLang="zh-CN" b="1" dirty="0">
                <a:latin typeface="宋体" panose="02010600030101010101" pitchFamily="2" charset="-122"/>
                <a:ea typeface="宋体" panose="02010600030101010101" pitchFamily="2" charset="-122"/>
              </a:rPr>
              <a:t>n，3</a:t>
            </a:r>
            <a:r>
              <a:rPr lang="zh-CN" altLang="en-US" b="1" dirty="0">
                <a:latin typeface="宋体" panose="02010600030101010101" pitchFamily="2" charset="-122"/>
                <a:ea typeface="宋体" panose="02010600030101010101" pitchFamily="2" charset="-122"/>
              </a:rPr>
              <a:t>型文法可以产生</a:t>
            </a:r>
            <a:r>
              <a:rPr lang="en-US" altLang="zh-CN" b="1" dirty="0">
                <a:latin typeface="宋体" panose="02010600030101010101" pitchFamily="2" charset="-122"/>
                <a:ea typeface="宋体" panose="02010600030101010101" pitchFamily="2" charset="-122"/>
              </a:rPr>
              <a:t>α</a:t>
            </a:r>
            <a:r>
              <a:rPr lang="en-US" altLang="zh-CN" b="1" baseline="30000" dirty="0">
                <a:latin typeface="宋体" panose="02010600030101010101" pitchFamily="2" charset="-122"/>
                <a:ea typeface="宋体" panose="02010600030101010101" pitchFamily="2" charset="-122"/>
              </a:rPr>
              <a:t>n</a:t>
            </a:r>
            <a:r>
              <a:rPr lang="zh-CN" altLang="en-US" b="1" dirty="0">
                <a:latin typeface="宋体" panose="02010600030101010101" pitchFamily="2" charset="-122"/>
                <a:ea typeface="宋体" panose="02010600030101010101" pitchFamily="2" charset="-122"/>
              </a:rPr>
              <a:t>种形式的符号串，即3型文法能识别有限长度的任何模式</a:t>
            </a:r>
            <a:endParaRPr lang="en-US" altLang="zh-CN" b="1" dirty="0">
              <a:latin typeface="宋体" panose="02010600030101010101" pitchFamily="2" charset="-122"/>
              <a:ea typeface="宋体" panose="02010600030101010101" pitchFamily="2" charset="-122"/>
            </a:endParaRPr>
          </a:p>
          <a:p>
            <a:pPr lvl="2"/>
            <a:r>
              <a:rPr lang="en-US" altLang="zh-CN" b="1" dirty="0">
                <a:latin typeface="宋体" panose="02010600030101010101" pitchFamily="2" charset="-122"/>
                <a:ea typeface="宋体" panose="02010600030101010101" pitchFamily="2" charset="-122"/>
              </a:rPr>
              <a:t>3</a:t>
            </a:r>
            <a:r>
              <a:rPr lang="zh-CN" altLang="en-US" b="1" dirty="0">
                <a:latin typeface="宋体" panose="02010600030101010101" pitchFamily="2" charset="-122"/>
                <a:ea typeface="宋体" panose="02010600030101010101" pitchFamily="2" charset="-122"/>
              </a:rPr>
              <a:t>型文法常用于编译器的词法分析程序的构造</a:t>
            </a:r>
            <a:endParaRPr lang="zh-CN" altLang="en-US"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语法定义（</a:t>
            </a:r>
            <a:r>
              <a:rPr lang="en-US" altLang="zh-CN" dirty="0">
                <a:latin typeface="宋体" panose="02010600030101010101" pitchFamily="2" charset="-122"/>
                <a:ea typeface="宋体" panose="02010600030101010101" pitchFamily="2" charset="-122"/>
              </a:rPr>
              <a:t>17</a:t>
            </a:r>
            <a:r>
              <a:rPr lang="zh-CN" altLang="en-US" dirty="0">
                <a:latin typeface="宋体" panose="02010600030101010101" pitchFamily="2" charset="-122"/>
                <a:ea typeface="宋体" panose="02010600030101010101" pitchFamily="2" charset="-122"/>
              </a:rPr>
              <a:t>）</a:t>
            </a:r>
            <a:br>
              <a:rPr lang="en-US" altLang="zh-CN"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文法的分类：乔姆斯基语言族（6）</a:t>
            </a:r>
            <a:endParaRPr lang="zh-CN" altLang="en-US" dirty="0">
              <a:latin typeface="宋体" panose="02010600030101010101" pitchFamily="2" charset="-122"/>
              <a:ea typeface="宋体" panose="02010600030101010101" pitchFamily="2" charset="-122"/>
            </a:endParaRPr>
          </a:p>
        </p:txBody>
      </p:sp>
      <p:sp>
        <p:nvSpPr>
          <p:cNvPr id="45059" name="Rectangle 3"/>
          <p:cNvSpPr>
            <a:spLocks noGrp="1"/>
          </p:cNvSpPr>
          <p:nvPr>
            <p:ph idx="1"/>
          </p:nvPr>
        </p:nvSpPr>
        <p:spPr>
          <a:xfrm>
            <a:off x="990600" y="1371600"/>
            <a:ext cx="7391400" cy="4953000"/>
          </a:xfrm>
        </p:spPr>
        <p:txBody>
          <a:bodyPr vert="horz" wrap="square" lIns="92075" tIns="46038" rIns="92075" bIns="46038" anchor="t" anchorCtr="0"/>
          <a:p>
            <a:pPr lvl="1"/>
            <a:r>
              <a:rPr lang="zh-CN" altLang="en-US" b="1" dirty="0">
                <a:latin typeface="宋体" panose="02010600030101010101" pitchFamily="2" charset="-122"/>
                <a:ea typeface="宋体" panose="02010600030101010101" pitchFamily="2" charset="-122"/>
              </a:rPr>
              <a:t>4种文法的描述能力：</a:t>
            </a:r>
            <a:endParaRPr lang="en-US" altLang="zh-CN" b="1"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0型文法的描述能力最强，依次减弱，3型文法描述能力最弱</a:t>
            </a:r>
            <a:endParaRPr lang="en-US" altLang="zh-CN" sz="2000" b="1"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但不意味着存在着3型语言一定是2型语言的真子集，而2型语言也不一定是1型语言的真子集，同样1型语言也不一定是0型语言的真子集，如下面3个语言：</a:t>
            </a:r>
            <a:endParaRPr lang="en-US" altLang="zh-CN" sz="20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L3={a</a:t>
            </a:r>
            <a:r>
              <a:rPr lang="en-US" altLang="zh-CN" sz="2000" b="1" baseline="30000" dirty="0">
                <a:latin typeface="宋体" panose="02010600030101010101" pitchFamily="2" charset="-122"/>
                <a:ea typeface="宋体" panose="02010600030101010101" pitchFamily="2" charset="-122"/>
              </a:rPr>
              <a:t>i</a:t>
            </a:r>
            <a:r>
              <a:rPr lang="en-US" altLang="zh-CN" sz="2000" b="1" dirty="0">
                <a:latin typeface="宋体" panose="02010600030101010101" pitchFamily="2" charset="-122"/>
                <a:ea typeface="宋体" panose="02010600030101010101" pitchFamily="2" charset="-122"/>
              </a:rPr>
              <a:t>b</a:t>
            </a:r>
            <a:r>
              <a:rPr lang="en-US" altLang="zh-CN" sz="2000" b="1" baseline="30000" dirty="0">
                <a:latin typeface="宋体" panose="02010600030101010101" pitchFamily="2" charset="-122"/>
                <a:ea typeface="宋体" panose="02010600030101010101" pitchFamily="2" charset="-122"/>
              </a:rPr>
              <a:t>j</a:t>
            </a:r>
            <a:r>
              <a:rPr lang="en-US" altLang="zh-CN" sz="2000" b="1" dirty="0">
                <a:latin typeface="宋体" panose="02010600030101010101" pitchFamily="2" charset="-122"/>
                <a:ea typeface="宋体" panose="02010600030101010101" pitchFamily="2" charset="-122"/>
              </a:rPr>
              <a:t>c</a:t>
            </a:r>
            <a:r>
              <a:rPr lang="en-US" altLang="zh-CN" sz="2000" b="1" baseline="30000" dirty="0">
                <a:latin typeface="宋体" panose="02010600030101010101" pitchFamily="2" charset="-122"/>
                <a:ea typeface="宋体" panose="02010600030101010101" pitchFamily="2" charset="-122"/>
              </a:rPr>
              <a:t>k</a:t>
            </a:r>
            <a:r>
              <a:rPr lang="en-US" altLang="zh-CN" sz="2000" b="1" dirty="0">
                <a:latin typeface="宋体" panose="02010600030101010101" pitchFamily="2" charset="-122"/>
                <a:ea typeface="宋体" panose="02010600030101010101" pitchFamily="2" charset="-122"/>
              </a:rPr>
              <a:t>|i,j,k&gt;=1}</a:t>
            </a:r>
            <a:r>
              <a:rPr lang="zh-CN" altLang="en-US" sz="2000" b="1" dirty="0">
                <a:latin typeface="宋体" panose="02010600030101010101" pitchFamily="2" charset="-122"/>
                <a:ea typeface="宋体" panose="02010600030101010101" pitchFamily="2" charset="-122"/>
              </a:rPr>
              <a:t>是3型语言，也是2、1、0型语言</a:t>
            </a:r>
            <a:endParaRPr lang="zh-CN" altLang="en-US" sz="20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L2={a</a:t>
            </a:r>
            <a:r>
              <a:rPr lang="en-US" altLang="zh-CN" sz="2000" b="1" baseline="30000" dirty="0">
                <a:latin typeface="宋体" panose="02010600030101010101" pitchFamily="2" charset="-122"/>
                <a:ea typeface="宋体" panose="02010600030101010101" pitchFamily="2" charset="-122"/>
              </a:rPr>
              <a:t>i</a:t>
            </a:r>
            <a:r>
              <a:rPr lang="en-US" altLang="zh-CN" sz="2000" b="1" dirty="0">
                <a:latin typeface="宋体" panose="02010600030101010101" pitchFamily="2" charset="-122"/>
                <a:ea typeface="宋体" panose="02010600030101010101" pitchFamily="2" charset="-122"/>
              </a:rPr>
              <a:t>b</a:t>
            </a:r>
            <a:r>
              <a:rPr lang="en-US" altLang="zh-CN" sz="2000" b="1" baseline="30000" dirty="0">
                <a:latin typeface="宋体" panose="02010600030101010101" pitchFamily="2" charset="-122"/>
                <a:ea typeface="宋体" panose="02010600030101010101" pitchFamily="2" charset="-122"/>
              </a:rPr>
              <a:t>j</a:t>
            </a:r>
            <a:r>
              <a:rPr lang="en-US" altLang="zh-CN" sz="2000" b="1" dirty="0">
                <a:latin typeface="宋体" panose="02010600030101010101" pitchFamily="2" charset="-122"/>
                <a:ea typeface="宋体" panose="02010600030101010101" pitchFamily="2" charset="-122"/>
              </a:rPr>
              <a:t>c</a:t>
            </a:r>
            <a:r>
              <a:rPr lang="en-US" altLang="zh-CN" sz="2000" b="1" baseline="30000" dirty="0">
                <a:latin typeface="宋体" panose="02010600030101010101" pitchFamily="2" charset="-122"/>
                <a:ea typeface="宋体" panose="02010600030101010101" pitchFamily="2" charset="-122"/>
              </a:rPr>
              <a:t>k</a:t>
            </a:r>
            <a:r>
              <a:rPr lang="en-US" altLang="zh-CN" sz="2000" b="1" dirty="0">
                <a:latin typeface="宋体" panose="02010600030101010101" pitchFamily="2" charset="-122"/>
                <a:ea typeface="宋体" panose="02010600030101010101" pitchFamily="2" charset="-122"/>
              </a:rPr>
              <a:t>|i,j,k&gt;=1,</a:t>
            </a:r>
            <a:r>
              <a:rPr lang="zh-CN" altLang="en-US" sz="2000" b="1" dirty="0">
                <a:latin typeface="宋体" panose="02010600030101010101" pitchFamily="2" charset="-122"/>
                <a:ea typeface="宋体" panose="02010600030101010101" pitchFamily="2" charset="-122"/>
              </a:rPr>
              <a:t>且</a:t>
            </a:r>
            <a:r>
              <a:rPr lang="en-US" altLang="zh-CN" sz="2000" b="1" dirty="0">
                <a:latin typeface="宋体" panose="02010600030101010101" pitchFamily="2" charset="-122"/>
                <a:ea typeface="宋体" panose="02010600030101010101" pitchFamily="2" charset="-122"/>
              </a:rPr>
              <a:t>i=j}</a:t>
            </a:r>
            <a:r>
              <a:rPr lang="zh-CN" altLang="en-US" sz="2000" b="1" dirty="0">
                <a:latin typeface="宋体" panose="02010600030101010101" pitchFamily="2" charset="-122"/>
                <a:ea typeface="宋体" panose="02010600030101010101" pitchFamily="2" charset="-122"/>
              </a:rPr>
              <a:t>不是3型语言，但是2型语言，也是1、0型语言</a:t>
            </a:r>
            <a:endParaRPr lang="zh-CN" altLang="en-US" sz="20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L1={a</a:t>
            </a:r>
            <a:r>
              <a:rPr lang="en-US" altLang="zh-CN" sz="2000" b="1" baseline="30000" dirty="0">
                <a:latin typeface="宋体" panose="02010600030101010101" pitchFamily="2" charset="-122"/>
                <a:ea typeface="宋体" panose="02010600030101010101" pitchFamily="2" charset="-122"/>
              </a:rPr>
              <a:t>i</a:t>
            </a:r>
            <a:r>
              <a:rPr lang="en-US" altLang="zh-CN" sz="2000" b="1" dirty="0">
                <a:latin typeface="宋体" panose="02010600030101010101" pitchFamily="2" charset="-122"/>
                <a:ea typeface="宋体" panose="02010600030101010101" pitchFamily="2" charset="-122"/>
              </a:rPr>
              <a:t>b</a:t>
            </a:r>
            <a:r>
              <a:rPr lang="en-US" altLang="zh-CN" sz="2000" b="1" baseline="30000" dirty="0">
                <a:latin typeface="宋体" panose="02010600030101010101" pitchFamily="2" charset="-122"/>
                <a:ea typeface="宋体" panose="02010600030101010101" pitchFamily="2" charset="-122"/>
              </a:rPr>
              <a:t>j</a:t>
            </a:r>
            <a:r>
              <a:rPr lang="en-US" altLang="zh-CN" sz="2000" b="1" dirty="0">
                <a:latin typeface="宋体" panose="02010600030101010101" pitchFamily="2" charset="-122"/>
                <a:ea typeface="宋体" panose="02010600030101010101" pitchFamily="2" charset="-122"/>
              </a:rPr>
              <a:t>c</a:t>
            </a:r>
            <a:r>
              <a:rPr lang="en-US" altLang="zh-CN" sz="2000" b="1" baseline="30000" dirty="0">
                <a:latin typeface="宋体" panose="02010600030101010101" pitchFamily="2" charset="-122"/>
                <a:ea typeface="宋体" panose="02010600030101010101" pitchFamily="2" charset="-122"/>
              </a:rPr>
              <a:t>k</a:t>
            </a:r>
            <a:r>
              <a:rPr lang="en-US" altLang="zh-CN" sz="2000" b="1" dirty="0">
                <a:latin typeface="宋体" panose="02010600030101010101" pitchFamily="2" charset="-122"/>
                <a:ea typeface="宋体" panose="02010600030101010101" pitchFamily="2" charset="-122"/>
              </a:rPr>
              <a:t>|i,j,k&gt;=1,</a:t>
            </a:r>
            <a:r>
              <a:rPr lang="zh-CN" altLang="en-US" sz="2000" b="1" dirty="0">
                <a:latin typeface="宋体" panose="02010600030101010101" pitchFamily="2" charset="-122"/>
                <a:ea typeface="宋体" panose="02010600030101010101" pitchFamily="2" charset="-122"/>
              </a:rPr>
              <a:t>且</a:t>
            </a:r>
            <a:r>
              <a:rPr lang="en-US" altLang="zh-CN" sz="2000" b="1" dirty="0">
                <a:latin typeface="宋体" panose="02010600030101010101" pitchFamily="2" charset="-122"/>
                <a:ea typeface="宋体" panose="02010600030101010101" pitchFamily="2" charset="-122"/>
              </a:rPr>
              <a:t>i=j=k}</a:t>
            </a:r>
            <a:r>
              <a:rPr lang="zh-CN" altLang="en-US" sz="2000" b="1" dirty="0">
                <a:latin typeface="宋体" panose="02010600030101010101" pitchFamily="2" charset="-122"/>
                <a:ea typeface="宋体" panose="02010600030101010101" pitchFamily="2" charset="-122"/>
              </a:rPr>
              <a:t>不是3、2型语言，但是1型语言，也是0型语言</a:t>
            </a:r>
            <a:endParaRPr lang="zh-CN" altLang="en-US" sz="20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None/>
            </a:pPr>
            <a:r>
              <a:rPr lang="zh-CN" altLang="en-US" sz="2000" b="1" dirty="0">
                <a:latin typeface="宋体" panose="02010600030101010101" pitchFamily="2" charset="-122"/>
                <a:ea typeface="宋体" panose="02010600030101010101" pitchFamily="2" charset="-122"/>
              </a:rPr>
              <a:t>	显然：</a:t>
            </a:r>
            <a:r>
              <a:rPr lang="en-US" altLang="zh-CN" sz="2000" b="1" dirty="0">
                <a:latin typeface="宋体" panose="02010600030101010101" pitchFamily="2" charset="-122"/>
                <a:ea typeface="宋体" panose="02010600030101010101" pitchFamily="2" charset="-122"/>
              </a:rPr>
              <a:t>L3 </a:t>
            </a:r>
            <a:r>
              <a:rPr lang="en-US" altLang="zh-CN" sz="2000" b="1" dirty="0">
                <a:latin typeface="宋体" panose="02010600030101010101" pitchFamily="2" charset="-122"/>
                <a:ea typeface="宋体" panose="02010600030101010101" pitchFamily="2" charset="-122"/>
                <a:sym typeface="Symbol" panose="05050102010706020507" pitchFamily="18" charset="2"/>
              </a:rPr>
              <a:t> </a:t>
            </a:r>
            <a:r>
              <a:rPr lang="en-US" altLang="zh-CN" sz="2000" b="1" dirty="0">
                <a:latin typeface="宋体" panose="02010600030101010101" pitchFamily="2" charset="-122"/>
                <a:ea typeface="宋体" panose="02010600030101010101" pitchFamily="2" charset="-122"/>
              </a:rPr>
              <a:t>L2 </a:t>
            </a:r>
            <a:r>
              <a:rPr lang="en-US" altLang="zh-CN" sz="2000" b="1" dirty="0">
                <a:latin typeface="宋体" panose="02010600030101010101" pitchFamily="2" charset="-122"/>
                <a:ea typeface="宋体" panose="02010600030101010101" pitchFamily="2" charset="-122"/>
                <a:sym typeface="Symbol" panose="05050102010706020507" pitchFamily="18" charset="2"/>
              </a:rPr>
              <a:t></a:t>
            </a:r>
            <a:r>
              <a:rPr lang="en-US" altLang="zh-CN" sz="2000" b="1" dirty="0">
                <a:latin typeface="宋体" panose="02010600030101010101" pitchFamily="2" charset="-122"/>
                <a:ea typeface="宋体" panose="02010600030101010101" pitchFamily="2" charset="-122"/>
              </a:rPr>
              <a:t> L1</a:t>
            </a:r>
            <a:endParaRPr lang="en-US" altLang="zh-CN" sz="2000" b="1" dirty="0">
              <a:latin typeface="宋体" panose="02010600030101010101" pitchFamily="2" charset="-122"/>
              <a:ea typeface="宋体" panose="02010600030101010101" pitchFamily="2" charset="-122"/>
            </a:endParaRPr>
          </a:p>
          <a:p>
            <a:pPr lvl="2">
              <a:buChar char="•"/>
            </a:pPr>
            <a:r>
              <a:rPr lang="zh-CN" altLang="en-US" sz="2000" b="1" dirty="0">
                <a:latin typeface="宋体" panose="02010600030101010101" pitchFamily="2" charset="-122"/>
                <a:ea typeface="宋体" panose="02010600030101010101" pitchFamily="2" charset="-122"/>
              </a:rPr>
              <a:t>0型语言类 </a:t>
            </a:r>
            <a:r>
              <a:rPr lang="en-US" altLang="zh-CN" sz="2000" b="1" dirty="0">
                <a:latin typeface="宋体" panose="02010600030101010101" pitchFamily="2" charset="-122"/>
                <a:ea typeface="宋体" panose="02010600030101010101" pitchFamily="2" charset="-122"/>
                <a:sym typeface="Symbol" panose="05050102010706020507" pitchFamily="18" charset="2"/>
              </a:rPr>
              <a:t> 1</a:t>
            </a:r>
            <a:r>
              <a:rPr lang="zh-CN" altLang="en-US" sz="2000" b="1" dirty="0">
                <a:latin typeface="宋体" panose="02010600030101010101" pitchFamily="2" charset="-122"/>
                <a:ea typeface="宋体" panose="02010600030101010101" pitchFamily="2" charset="-122"/>
                <a:sym typeface="Symbol" panose="05050102010706020507" pitchFamily="18" charset="2"/>
              </a:rPr>
              <a:t>型语言类 </a:t>
            </a:r>
            <a:r>
              <a:rPr lang="en-US" altLang="zh-CN" sz="2000" b="1" dirty="0">
                <a:latin typeface="宋体" panose="02010600030101010101" pitchFamily="2" charset="-122"/>
                <a:ea typeface="宋体" panose="02010600030101010101" pitchFamily="2" charset="-122"/>
                <a:sym typeface="Symbol" panose="05050102010706020507" pitchFamily="18" charset="2"/>
              </a:rPr>
              <a:t> 2</a:t>
            </a:r>
            <a:r>
              <a:rPr lang="zh-CN" altLang="en-US" sz="2000" b="1" dirty="0">
                <a:latin typeface="宋体" panose="02010600030101010101" pitchFamily="2" charset="-122"/>
                <a:ea typeface="宋体" panose="02010600030101010101" pitchFamily="2" charset="-122"/>
                <a:sym typeface="Symbol" panose="05050102010706020507" pitchFamily="18" charset="2"/>
              </a:rPr>
              <a:t>型语言类 </a:t>
            </a:r>
            <a:r>
              <a:rPr lang="en-US" altLang="zh-CN" sz="2000" b="1" dirty="0">
                <a:latin typeface="宋体" panose="02010600030101010101" pitchFamily="2" charset="-122"/>
                <a:ea typeface="宋体" panose="02010600030101010101" pitchFamily="2" charset="-122"/>
                <a:sym typeface="Symbol" panose="05050102010706020507" pitchFamily="18" charset="2"/>
              </a:rPr>
              <a:t> 3</a:t>
            </a:r>
            <a:r>
              <a:rPr lang="zh-CN" altLang="en-US" sz="2000" b="1" dirty="0">
                <a:latin typeface="宋体" panose="02010600030101010101" pitchFamily="2" charset="-122"/>
                <a:ea typeface="宋体" panose="02010600030101010101" pitchFamily="2" charset="-122"/>
                <a:sym typeface="Symbol" panose="05050102010706020507" pitchFamily="18" charset="2"/>
              </a:rPr>
              <a:t>型语言类</a:t>
            </a:r>
            <a:endParaRPr lang="en-US" altLang="zh-CN" sz="2000" b="1" dirty="0">
              <a:latin typeface="宋体" panose="02010600030101010101" pitchFamily="2" charset="-122"/>
              <a:ea typeface="宋体" panose="02010600030101010101" pitchFamily="2" charset="-122"/>
              <a:sym typeface="Symbol" panose="05050102010706020507" pitchFamily="18" charset="2"/>
            </a:endParaRPr>
          </a:p>
          <a:p>
            <a:pPr lvl="2">
              <a:buChar char="•"/>
            </a:pPr>
            <a:r>
              <a:rPr lang="zh-CN" altLang="en-US" sz="2000" b="1" dirty="0">
                <a:latin typeface="宋体" panose="02010600030101010101" pitchFamily="2" charset="-122"/>
                <a:ea typeface="宋体" panose="02010600030101010101" pitchFamily="2" charset="-122"/>
              </a:rPr>
              <a:t>对于一个非0型语言</a:t>
            </a:r>
            <a:r>
              <a:rPr lang="en-US" altLang="zh-CN" sz="2000" b="1" dirty="0">
                <a:latin typeface="宋体" panose="02010600030101010101" pitchFamily="2" charset="-122"/>
                <a:ea typeface="宋体" panose="02010600030101010101" pitchFamily="2" charset="-122"/>
              </a:rPr>
              <a:t>L，</a:t>
            </a:r>
            <a:r>
              <a:rPr lang="zh-CN" altLang="en-US" sz="2000" b="1" dirty="0">
                <a:latin typeface="宋体" panose="02010600030101010101" pitchFamily="2" charset="-122"/>
                <a:ea typeface="宋体" panose="02010600030101010101" pitchFamily="2" charset="-122"/>
              </a:rPr>
              <a:t>当从中删去或添加一个空串</a:t>
            </a:r>
            <a:r>
              <a:rPr lang="en-US" altLang="zh-CN" sz="2000" b="1" dirty="0">
                <a:latin typeface="宋体" panose="02010600030101010101" pitchFamily="2" charset="-122"/>
                <a:ea typeface="宋体" panose="02010600030101010101" pitchFamily="2" charset="-122"/>
              </a:rPr>
              <a:t>ε</a:t>
            </a:r>
            <a:r>
              <a:rPr lang="zh-CN" altLang="en-US" sz="2000" b="1" dirty="0">
                <a:latin typeface="宋体" panose="02010600030101010101" pitchFamily="2" charset="-122"/>
                <a:ea typeface="宋体" panose="02010600030101010101" pitchFamily="2" charset="-122"/>
              </a:rPr>
              <a:t>时并不改变其语言类</a:t>
            </a:r>
            <a:endParaRPr lang="zh-CN" altLang="en-US" sz="20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语法定义（</a:t>
            </a:r>
            <a:r>
              <a:rPr lang="en-US" altLang="zh-CN" dirty="0">
                <a:latin typeface="宋体" panose="02010600030101010101" pitchFamily="2" charset="-122"/>
                <a:ea typeface="宋体" panose="02010600030101010101" pitchFamily="2" charset="-122"/>
              </a:rPr>
              <a:t>18</a:t>
            </a:r>
            <a:r>
              <a:rPr lang="zh-CN" altLang="en-US" dirty="0">
                <a:latin typeface="宋体" panose="02010600030101010101" pitchFamily="2" charset="-122"/>
                <a:ea typeface="宋体" panose="02010600030101010101" pitchFamily="2" charset="-122"/>
              </a:rPr>
              <a:t>）</a:t>
            </a:r>
            <a:br>
              <a:rPr lang="en-US" altLang="zh-CN"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文法的分类：乔姆斯基语言族（7）</a:t>
            </a:r>
            <a:endParaRPr lang="zh-CN" altLang="en-US" dirty="0">
              <a:latin typeface="宋体" panose="02010600030101010101" pitchFamily="2" charset="-122"/>
              <a:ea typeface="宋体" panose="02010600030101010101" pitchFamily="2" charset="-122"/>
            </a:endParaRPr>
          </a:p>
        </p:txBody>
      </p:sp>
      <p:sp>
        <p:nvSpPr>
          <p:cNvPr id="4" name="Rectangle 3"/>
          <p:cNvSpPr txBox="1">
            <a:spLocks noChangeArrowheads="1"/>
          </p:cNvSpPr>
          <p:nvPr/>
        </p:nvSpPr>
        <p:spPr bwMode="auto">
          <a:xfrm>
            <a:off x="990600" y="1371600"/>
            <a:ext cx="7391400" cy="5486400"/>
          </a:xfrm>
          <a:prstGeom prst="rect">
            <a:avLst/>
          </a:prstGeom>
          <a:noFill/>
          <a:ln>
            <a:noFill/>
          </a:ln>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语言的运算：设</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L、L1</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与</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L2</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分别是定义在字母表∑、∑1与∑2上的语言，则</a:t>
            </a:r>
            <a:endPar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语言的并：</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L1∪L2={x|x∈L1,</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或</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x∈L2}</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语言的交：</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L1∩L2={x|x∈L1,</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且</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x∈L2}</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1143000" marR="0" lvl="2" indent="-228600" algn="l" defTabSz="914400" rtl="0" eaLnBrk="0" fontAlgn="base" latinLnBrk="0" hangingPunct="0">
              <a:lnSpc>
                <a:spcPct val="100000"/>
              </a:lnSpc>
              <a:spcBef>
                <a:spcPct val="0"/>
              </a:spcBef>
              <a:spcAft>
                <a:spcPct val="0"/>
              </a:spcAft>
              <a:buClr>
                <a:srgbClr val="063DE8"/>
              </a:buClr>
              <a:buSzPct val="125000"/>
              <a:buFont typeface="Wingdings" panose="05000000000000000000" pitchFamily="2" charset="2"/>
              <a:buNone/>
              <a:defRPr/>
            </a:pP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Symbol" panose="05050102010706020507" pitchFamily="18" charset="2"/>
              </a:rPr>
              <a:t>				</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1143000" marR="0" lvl="2" indent="-228600" algn="l" defTabSz="914400" rtl="0" eaLnBrk="0" fontAlgn="base" latinLnBrk="0" hangingPunct="0">
              <a:lnSpc>
                <a:spcPct val="100000"/>
              </a:lnSpc>
              <a:spcBef>
                <a:spcPct val="0"/>
              </a:spcBef>
              <a:spcAft>
                <a:spcPct val="0"/>
              </a:spcAft>
              <a:buClr>
                <a:srgbClr val="063DE8"/>
              </a:buClr>
              <a:buSzPct val="125000"/>
              <a:buFont typeface="Wingdings" panose="05000000000000000000" pitchFamily="2" charset="2"/>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语言的补：</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L={</a:t>
            </a:r>
            <a:r>
              <a:rPr kumimoji="0" lang="en-US" altLang="zh-CN" sz="22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x|x</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3000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且</a:t>
            </a:r>
            <a:r>
              <a:rPr kumimoji="0" lang="en-US" altLang="zh-CN" sz="22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x</a:t>
            </a:r>
            <a:r>
              <a:rPr kumimoji="0" lang="en-US" altLang="zh-CN" sz="22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sym typeface="Symbol" panose="05050102010706020507" pitchFamily="18" charset="2"/>
              </a:rPr>
              <a:t></a:t>
            </a:r>
            <a:r>
              <a:rPr kumimoji="0" lang="en-US" altLang="zh-CN" sz="22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L</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或</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L=</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3000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-L</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语言的积（连结）：</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L1L2={xy|x∈L1,</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且</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y∈L2}</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语言的幂：</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L</a:t>
            </a:r>
            <a:r>
              <a:rPr kumimoji="0" lang="en-US" altLang="zh-CN" sz="2200" b="1" i="0" u="none" strike="noStrike" kern="0" cap="none" spc="0" normalizeH="0" baseline="30000" noProof="0" dirty="0">
                <a:ln>
                  <a:noFill/>
                </a:ln>
                <a:solidFill>
                  <a:schemeClr val="tx1"/>
                </a:solidFill>
                <a:effectLst/>
                <a:uLnTx/>
                <a:uFillTx/>
                <a:latin typeface="宋体" panose="02010600030101010101" pitchFamily="2" charset="-122"/>
                <a:ea typeface="宋体" panose="02010600030101010101" pitchFamily="2" charset="-122"/>
                <a:cs typeface="+mn-cs"/>
              </a:rPr>
              <a:t>0</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ε</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}，L</a:t>
            </a:r>
            <a:r>
              <a:rPr kumimoji="0" lang="en-US" altLang="zh-CN" sz="2200" b="1" i="0" u="none" strike="noStrike" kern="0" cap="none" spc="0" normalizeH="0" baseline="30000" noProof="0" dirty="0">
                <a:ln>
                  <a:noFill/>
                </a:ln>
                <a:solidFill>
                  <a:schemeClr val="tx1"/>
                </a:solidFill>
                <a:effectLst/>
                <a:uLnTx/>
                <a:uFillTx/>
                <a:latin typeface="宋体" panose="02010600030101010101" pitchFamily="2" charset="-122"/>
                <a:ea typeface="宋体" panose="02010600030101010101" pitchFamily="2" charset="-122"/>
                <a:cs typeface="+mn-cs"/>
              </a:rPr>
              <a:t>n</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=L</a:t>
            </a:r>
            <a:r>
              <a:rPr kumimoji="0" lang="en-US" altLang="zh-CN" sz="2200" b="1" i="0" u="none" strike="noStrike" kern="0" cap="none" spc="0" normalizeH="0" baseline="30000" noProof="0" dirty="0">
                <a:ln>
                  <a:noFill/>
                </a:ln>
                <a:solidFill>
                  <a:schemeClr val="tx1"/>
                </a:solidFill>
                <a:effectLst/>
                <a:uLnTx/>
                <a:uFillTx/>
                <a:latin typeface="宋体" panose="02010600030101010101" pitchFamily="2" charset="-122"/>
                <a:ea typeface="宋体" panose="02010600030101010101" pitchFamily="2" charset="-122"/>
                <a:cs typeface="+mn-cs"/>
              </a:rPr>
              <a:t>n-1</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L（n&gt;=1）</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1143000" marR="0" lvl="2" indent="-228600" algn="l" defTabSz="914400" rtl="0" eaLnBrk="0" fontAlgn="base" latinLnBrk="0" hangingPunct="0">
              <a:lnSpc>
                <a:spcPct val="100000"/>
              </a:lnSpc>
              <a:spcBef>
                <a:spcPct val="40000"/>
              </a:spcBef>
              <a:spcAft>
                <a:spcPct val="0"/>
              </a:spcAft>
              <a:buClr>
                <a:srgbClr val="063DE8"/>
              </a:buClr>
              <a:buSzPct val="125000"/>
              <a:buFont typeface="Wingdings" panose="05000000000000000000" pitchFamily="2" charset="2"/>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语言的闭包：</a:t>
            </a:r>
            <a:endPar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1143000" marR="0" lvl="2" indent="-228600" algn="l" defTabSz="914400" rtl="0" eaLnBrk="0" fontAlgn="base" latinLnBrk="0" hangingPunct="0">
              <a:lnSpc>
                <a:spcPct val="100000"/>
              </a:lnSpc>
              <a:spcBef>
                <a:spcPct val="40000"/>
              </a:spcBef>
              <a:spcAft>
                <a:spcPct val="0"/>
              </a:spcAft>
              <a:buClr>
                <a:srgbClr val="063DE8"/>
              </a:buClr>
              <a:buSzPct val="125000"/>
              <a:buFont typeface="Wingdings" panose="05000000000000000000" pitchFamily="2" charset="2"/>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语言的正闭包：</a:t>
            </a:r>
            <a:endPar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1143000" marR="0" lvl="2" indent="-228600" algn="l" defTabSz="914400" rtl="0" eaLnBrk="0" fontAlgn="base" latinLnBrk="0" hangingPunct="0">
              <a:lnSpc>
                <a:spcPct val="100000"/>
              </a:lnSpc>
              <a:spcBef>
                <a:spcPct val="40000"/>
              </a:spcBef>
              <a:spcAft>
                <a:spcPct val="0"/>
              </a:spcAft>
              <a:buClr>
                <a:srgbClr val="063DE8"/>
              </a:buClr>
              <a:buSzPct val="125000"/>
              <a:buFont typeface="Wingdings" panose="05000000000000000000" pitchFamily="2" charset="2"/>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显然有：{</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ε</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L=L{ε}=L</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1143000" marR="0" lvl="2" indent="-228600" algn="l" defTabSz="914400" rtl="0" eaLnBrk="0" fontAlgn="base" latinLnBrk="0" hangingPunct="0">
              <a:lnSpc>
                <a:spcPct val="100000"/>
              </a:lnSpc>
              <a:spcBef>
                <a:spcPct val="0"/>
              </a:spcBef>
              <a:spcAft>
                <a:spcPct val="0"/>
              </a:spcAft>
              <a:buClr>
                <a:srgbClr val="063DE8"/>
              </a:buClr>
              <a:buSzPct val="125000"/>
              <a:buFont typeface="Wingdings" panose="05000000000000000000" pitchFamily="2" charset="2"/>
              <a:buNone/>
              <a:defRPr/>
            </a:pP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Φ∪L=L∪Φ=L, ΦL=LΦ=Φ</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1143000" marR="0" lvl="2" indent="-228600" algn="l" defTabSz="914400" rtl="0" eaLnBrk="0" fontAlgn="base" latinLnBrk="0" hangingPunct="0">
              <a:lnSpc>
                <a:spcPct val="100000"/>
              </a:lnSpc>
              <a:spcBef>
                <a:spcPct val="0"/>
              </a:spcBef>
              <a:spcAft>
                <a:spcPct val="0"/>
              </a:spcAft>
              <a:buClr>
                <a:srgbClr val="063DE8"/>
              </a:buClr>
              <a:buSzPct val="125000"/>
              <a:buFont typeface="Wingdings" panose="05000000000000000000" pitchFamily="2" charset="2"/>
              <a:buNone/>
              <a:defRPr/>
            </a:pP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L</a:t>
            </a:r>
            <a:r>
              <a:rPr kumimoji="0" lang="en-US" altLang="zh-CN" sz="2200" b="1" i="0" u="none" strike="noStrike" kern="0" cap="none" spc="0" normalizeH="0" baseline="3000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 LL</a:t>
            </a:r>
            <a:r>
              <a:rPr kumimoji="0" lang="en-US" altLang="zh-CN" sz="2200" b="1" i="0" u="none" strike="noStrike" kern="0" cap="none" spc="0" normalizeH="0" baseline="3000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 L</a:t>
            </a:r>
            <a:r>
              <a:rPr kumimoji="0" lang="en-US" altLang="zh-CN" sz="2200" b="1" i="0" u="none" strike="noStrike" kern="0" cap="none" spc="0" normalizeH="0" baseline="3000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L</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graphicFrame>
        <p:nvGraphicFramePr>
          <p:cNvPr id="47108" name="对象 9"/>
          <p:cNvGraphicFramePr>
            <a:graphicFrameLocks noChangeAspect="1"/>
          </p:cNvGraphicFramePr>
          <p:nvPr/>
        </p:nvGraphicFramePr>
        <p:xfrm>
          <a:off x="3800475" y="4535488"/>
          <a:ext cx="1058863" cy="549275"/>
        </p:xfrm>
        <a:graphic>
          <a:graphicData uri="http://schemas.openxmlformats.org/presentationml/2006/ole">
            <mc:AlternateContent xmlns:mc="http://schemas.openxmlformats.org/markup-compatibility/2006">
              <mc:Choice xmlns:v="urn:schemas-microsoft-com:vml" Requires="v">
                <p:oleObj spid="_x0000_s3083" name="" r:id="rId1" imgW="2286000" imgH="1193800" progId="Visio.Drawing.11">
                  <p:embed/>
                </p:oleObj>
              </mc:Choice>
              <mc:Fallback>
                <p:oleObj name="" r:id="rId1" imgW="2286000" imgH="1193800" progId="Visio.Drawing.11">
                  <p:embed/>
                  <p:pic>
                    <p:nvPicPr>
                      <p:cNvPr id="0" name="图片 3082"/>
                      <p:cNvPicPr/>
                      <p:nvPr/>
                    </p:nvPicPr>
                    <p:blipFill>
                      <a:blip r:embed="rId2"/>
                      <a:stretch>
                        <a:fillRect/>
                      </a:stretch>
                    </p:blipFill>
                    <p:spPr>
                      <a:xfrm>
                        <a:off x="3800475" y="4535488"/>
                        <a:ext cx="1058863" cy="549275"/>
                      </a:xfrm>
                      <a:prstGeom prst="rect">
                        <a:avLst/>
                      </a:prstGeom>
                      <a:noFill/>
                      <a:ln w="38100">
                        <a:noFill/>
                        <a:miter/>
                      </a:ln>
                    </p:spPr>
                  </p:pic>
                </p:oleObj>
              </mc:Fallback>
            </mc:AlternateContent>
          </a:graphicData>
        </a:graphic>
      </p:graphicFrame>
      <p:graphicFrame>
        <p:nvGraphicFramePr>
          <p:cNvPr id="47109" name="对象 11"/>
          <p:cNvGraphicFramePr>
            <a:graphicFrameLocks noChangeAspect="1"/>
          </p:cNvGraphicFramePr>
          <p:nvPr/>
        </p:nvGraphicFramePr>
        <p:xfrm>
          <a:off x="4089400" y="4967288"/>
          <a:ext cx="1058863" cy="549275"/>
        </p:xfrm>
        <a:graphic>
          <a:graphicData uri="http://schemas.openxmlformats.org/presentationml/2006/ole">
            <mc:AlternateContent xmlns:mc="http://schemas.openxmlformats.org/markup-compatibility/2006">
              <mc:Choice xmlns:v="urn:schemas-microsoft-com:vml" Requires="v">
                <p:oleObj spid="_x0000_s3084" name="" r:id="rId3" imgW="2286000" imgH="1193800" progId="Visio.Drawing.11">
                  <p:embed/>
                </p:oleObj>
              </mc:Choice>
              <mc:Fallback>
                <p:oleObj name="" r:id="rId3" imgW="2286000" imgH="1193800" progId="Visio.Drawing.11">
                  <p:embed/>
                  <p:pic>
                    <p:nvPicPr>
                      <p:cNvPr id="0" name="图片 3083"/>
                      <p:cNvPicPr/>
                      <p:nvPr/>
                    </p:nvPicPr>
                    <p:blipFill>
                      <a:blip r:embed="rId4"/>
                      <a:stretch>
                        <a:fillRect/>
                      </a:stretch>
                    </p:blipFill>
                    <p:spPr>
                      <a:xfrm>
                        <a:off x="4089400" y="4967288"/>
                        <a:ext cx="1058863" cy="549275"/>
                      </a:xfrm>
                      <a:prstGeom prst="rect">
                        <a:avLst/>
                      </a:prstGeom>
                      <a:noFill/>
                      <a:ln w="38100">
                        <a:noFill/>
                        <a:miter/>
                      </a:ln>
                    </p:spPr>
                  </p:pic>
                </p:oleObj>
              </mc:Fallback>
            </mc:AlternateContent>
          </a:graphicData>
        </a:graphic>
      </p:graphicFrame>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语法定义（</a:t>
            </a:r>
            <a:r>
              <a:rPr lang="en-US" altLang="zh-CN" dirty="0">
                <a:latin typeface="宋体" panose="02010600030101010101" pitchFamily="2" charset="-122"/>
                <a:ea typeface="宋体" panose="02010600030101010101" pitchFamily="2" charset="-122"/>
              </a:rPr>
              <a:t>19</a:t>
            </a:r>
            <a:r>
              <a:rPr lang="zh-CN" altLang="en-US" dirty="0">
                <a:latin typeface="宋体" panose="02010600030101010101" pitchFamily="2" charset="-122"/>
                <a:ea typeface="宋体" panose="02010600030101010101" pitchFamily="2" charset="-122"/>
              </a:rPr>
              <a:t>）</a:t>
            </a:r>
            <a:br>
              <a:rPr lang="en-US" altLang="zh-CN"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文法的分类：乔姆斯基语言族（8）</a:t>
            </a:r>
            <a:endParaRPr lang="zh-CN" altLang="en-US" dirty="0">
              <a:latin typeface="宋体" panose="02010600030101010101" pitchFamily="2" charset="-122"/>
              <a:ea typeface="宋体" panose="02010600030101010101" pitchFamily="2" charset="-122"/>
            </a:endParaRPr>
          </a:p>
        </p:txBody>
      </p:sp>
      <p:sp>
        <p:nvSpPr>
          <p:cNvPr id="49155" name="Rectangle 3"/>
          <p:cNvSpPr>
            <a:spLocks noGrp="1"/>
          </p:cNvSpPr>
          <p:nvPr>
            <p:ph idx="1"/>
          </p:nvPr>
        </p:nvSpPr>
        <p:spPr>
          <a:xfrm>
            <a:off x="990600" y="1371600"/>
            <a:ext cx="7391400" cy="4876800"/>
          </a:xfrm>
        </p:spPr>
        <p:txBody>
          <a:bodyPr vert="horz" wrap="square" lIns="92075" tIns="46038" rIns="92075" bIns="46038" anchor="t" anchorCtr="0"/>
          <a:p>
            <a:pPr lvl="1">
              <a:buNone/>
            </a:pPr>
            <a:r>
              <a:rPr lang="zh-CN" altLang="en-US" b="1" dirty="0">
                <a:ea typeface="宋体" panose="02010600030101010101" pitchFamily="2" charset="-122"/>
              </a:rPr>
              <a:t>例：令</a:t>
            </a:r>
            <a:r>
              <a:rPr lang="en-US" altLang="zh-CN" b="1" dirty="0">
                <a:ea typeface="宋体" panose="02010600030101010101" pitchFamily="2" charset="-122"/>
              </a:rPr>
              <a:t>L</a:t>
            </a:r>
            <a:r>
              <a:rPr lang="zh-CN" altLang="en-US" b="1" dirty="0">
                <a:ea typeface="宋体" panose="02010600030101010101" pitchFamily="2" charset="-122"/>
              </a:rPr>
              <a:t>表示集合{</a:t>
            </a:r>
            <a:r>
              <a:rPr lang="en-US" altLang="zh-CN" b="1" dirty="0">
                <a:ea typeface="宋体" panose="02010600030101010101" pitchFamily="2" charset="-122"/>
              </a:rPr>
              <a:t>A,B,…,Z,a,b,…,z}，D</a:t>
            </a:r>
            <a:r>
              <a:rPr lang="zh-CN" altLang="en-US" b="1" dirty="0">
                <a:ea typeface="宋体" panose="02010600030101010101" pitchFamily="2" charset="-122"/>
              </a:rPr>
              <a:t>表示集合{0,1,…,9}，则下面语言运算及结果：</a:t>
            </a:r>
            <a:endParaRPr lang="zh-CN" altLang="en-US" b="1" dirty="0">
              <a:ea typeface="宋体" panose="02010600030101010101" pitchFamily="2" charset="-122"/>
            </a:endParaRPr>
          </a:p>
          <a:p>
            <a:pPr lvl="2">
              <a:buFont typeface="Wingdings" panose="05000000000000000000" pitchFamily="2" charset="2"/>
              <a:buChar char="§"/>
            </a:pPr>
            <a:r>
              <a:rPr lang="en-US" altLang="zh-CN" b="1" dirty="0">
                <a:ea typeface="宋体" panose="02010600030101010101" pitchFamily="2" charset="-122"/>
              </a:rPr>
              <a:t>L∪D</a:t>
            </a:r>
            <a:r>
              <a:rPr lang="zh-CN" altLang="en-US" b="1" dirty="0">
                <a:ea typeface="宋体" panose="02010600030101010101" pitchFamily="2" charset="-122"/>
              </a:rPr>
              <a:t>是字母和数字的集合</a:t>
            </a:r>
            <a:endParaRPr lang="zh-CN" altLang="en-US" b="1" dirty="0">
              <a:ea typeface="宋体" panose="02010600030101010101" pitchFamily="2" charset="-122"/>
            </a:endParaRPr>
          </a:p>
          <a:p>
            <a:pPr lvl="2">
              <a:buFont typeface="Wingdings" panose="05000000000000000000" pitchFamily="2" charset="2"/>
              <a:buChar char="§"/>
            </a:pPr>
            <a:r>
              <a:rPr lang="en-US" altLang="zh-CN" b="1" dirty="0">
                <a:ea typeface="宋体" panose="02010600030101010101" pitchFamily="2" charset="-122"/>
              </a:rPr>
              <a:t>LD</a:t>
            </a:r>
            <a:r>
              <a:rPr lang="zh-CN" altLang="en-US" b="1" dirty="0">
                <a:ea typeface="宋体" panose="02010600030101010101" pitchFamily="2" charset="-122"/>
              </a:rPr>
              <a:t>是由一个字母后随一个数字的串集</a:t>
            </a:r>
            <a:endParaRPr lang="zh-CN" altLang="en-US" b="1" dirty="0">
              <a:ea typeface="宋体" panose="02010600030101010101" pitchFamily="2" charset="-122"/>
            </a:endParaRPr>
          </a:p>
          <a:p>
            <a:pPr lvl="2">
              <a:buFont typeface="Wingdings" panose="05000000000000000000" pitchFamily="2" charset="2"/>
              <a:buChar char="§"/>
            </a:pPr>
            <a:r>
              <a:rPr lang="en-US" altLang="zh-CN" b="1" dirty="0">
                <a:ea typeface="宋体" panose="02010600030101010101" pitchFamily="2" charset="-122"/>
              </a:rPr>
              <a:t>L</a:t>
            </a:r>
            <a:r>
              <a:rPr lang="en-US" altLang="zh-CN" b="1" baseline="30000" dirty="0">
                <a:ea typeface="宋体" panose="02010600030101010101" pitchFamily="2" charset="-122"/>
              </a:rPr>
              <a:t>4</a:t>
            </a:r>
            <a:r>
              <a:rPr lang="zh-CN" altLang="en-US" b="1" dirty="0">
                <a:ea typeface="宋体" panose="02010600030101010101" pitchFamily="2" charset="-122"/>
              </a:rPr>
              <a:t>是四个字母的串集</a:t>
            </a:r>
            <a:endParaRPr lang="zh-CN" altLang="en-US" b="1" dirty="0">
              <a:ea typeface="宋体" panose="02010600030101010101" pitchFamily="2" charset="-122"/>
            </a:endParaRPr>
          </a:p>
          <a:p>
            <a:pPr lvl="2">
              <a:buFont typeface="Wingdings" panose="05000000000000000000" pitchFamily="2" charset="2"/>
              <a:buChar char="§"/>
            </a:pPr>
            <a:r>
              <a:rPr lang="en-US" altLang="zh-CN" b="1" dirty="0">
                <a:ea typeface="宋体" panose="02010600030101010101" pitchFamily="2" charset="-122"/>
              </a:rPr>
              <a:t>L</a:t>
            </a:r>
            <a:r>
              <a:rPr lang="en-US" altLang="zh-CN" b="1" baseline="30000" dirty="0">
                <a:ea typeface="宋体" panose="02010600030101010101" pitchFamily="2" charset="-122"/>
              </a:rPr>
              <a:t>*</a:t>
            </a:r>
            <a:r>
              <a:rPr lang="zh-CN" altLang="en-US" b="1" dirty="0">
                <a:ea typeface="宋体" panose="02010600030101010101" pitchFamily="2" charset="-122"/>
              </a:rPr>
              <a:t>是所有字母串（包括</a:t>
            </a:r>
            <a:r>
              <a:rPr lang="en-US" altLang="zh-CN" b="1" dirty="0">
                <a:ea typeface="宋体" panose="02010600030101010101" pitchFamily="2" charset="-122"/>
              </a:rPr>
              <a:t>ε）</a:t>
            </a:r>
            <a:r>
              <a:rPr lang="zh-CN" altLang="en-US" b="1" dirty="0">
                <a:ea typeface="宋体" panose="02010600030101010101" pitchFamily="2" charset="-122"/>
              </a:rPr>
              <a:t>的集合</a:t>
            </a:r>
            <a:endParaRPr lang="zh-CN" altLang="en-US" b="1" dirty="0">
              <a:ea typeface="宋体" panose="02010600030101010101" pitchFamily="2" charset="-122"/>
            </a:endParaRPr>
          </a:p>
          <a:p>
            <a:pPr lvl="2">
              <a:buFont typeface="Wingdings" panose="05000000000000000000" pitchFamily="2" charset="2"/>
              <a:buChar char="§"/>
            </a:pPr>
            <a:r>
              <a:rPr lang="en-US" altLang="zh-CN" b="1" dirty="0">
                <a:ea typeface="宋体" panose="02010600030101010101" pitchFamily="2" charset="-122"/>
              </a:rPr>
              <a:t>L(L∪D)</a:t>
            </a:r>
            <a:r>
              <a:rPr lang="en-US" altLang="zh-CN" b="1" baseline="30000" dirty="0">
                <a:ea typeface="宋体" panose="02010600030101010101" pitchFamily="2" charset="-122"/>
              </a:rPr>
              <a:t>*</a:t>
            </a:r>
            <a:r>
              <a:rPr lang="zh-CN" altLang="en-US" b="1" dirty="0">
                <a:ea typeface="宋体" panose="02010600030101010101" pitchFamily="2" charset="-122"/>
              </a:rPr>
              <a:t>是以字母开头的所有字母数字串的集合</a:t>
            </a:r>
            <a:endParaRPr lang="zh-CN" altLang="en-US" b="1" dirty="0">
              <a:ea typeface="宋体" panose="02010600030101010101" pitchFamily="2" charset="-122"/>
            </a:endParaRPr>
          </a:p>
          <a:p>
            <a:pPr lvl="2">
              <a:buFont typeface="Wingdings" panose="05000000000000000000" pitchFamily="2" charset="2"/>
              <a:buChar char="§"/>
            </a:pPr>
            <a:r>
              <a:rPr lang="en-US" altLang="zh-CN" b="1" dirty="0">
                <a:ea typeface="宋体" panose="02010600030101010101" pitchFamily="2" charset="-122"/>
              </a:rPr>
              <a:t>D</a:t>
            </a:r>
            <a:r>
              <a:rPr lang="en-US" altLang="zh-CN" b="1" baseline="30000" dirty="0">
                <a:ea typeface="宋体" panose="02010600030101010101" pitchFamily="2" charset="-122"/>
              </a:rPr>
              <a:t>+</a:t>
            </a:r>
            <a:r>
              <a:rPr lang="zh-CN" altLang="en-US" b="1" dirty="0">
                <a:ea typeface="宋体" panose="02010600030101010101" pitchFamily="2" charset="-122"/>
              </a:rPr>
              <a:t>是一个或多个数字的串集</a:t>
            </a:r>
            <a:endParaRPr lang="zh-CN" altLang="en-US" b="1" dirty="0">
              <a:ea typeface="宋体" panose="02010600030101010101" pitchFamily="2" charset="-122"/>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语法定义（</a:t>
            </a:r>
            <a:r>
              <a:rPr lang="en-US" altLang="zh-CN" dirty="0">
                <a:latin typeface="宋体" panose="02010600030101010101" pitchFamily="2" charset="-122"/>
                <a:ea typeface="宋体" panose="02010600030101010101" pitchFamily="2" charset="-122"/>
              </a:rPr>
              <a:t>20</a:t>
            </a:r>
            <a:r>
              <a:rPr lang="zh-CN" altLang="en-US" dirty="0">
                <a:latin typeface="宋体" panose="02010600030101010101" pitchFamily="2" charset="-122"/>
                <a:ea typeface="宋体" panose="02010600030101010101" pitchFamily="2" charset="-122"/>
              </a:rPr>
              <a:t>）</a:t>
            </a:r>
            <a:br>
              <a:rPr lang="en-US" altLang="zh-CN"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文法的分类：乔姆斯基语言族（9）</a:t>
            </a:r>
            <a:endParaRPr lang="zh-CN" altLang="en-US" dirty="0">
              <a:latin typeface="宋体" panose="02010600030101010101" pitchFamily="2" charset="-122"/>
              <a:ea typeface="宋体" panose="02010600030101010101" pitchFamily="2" charset="-122"/>
            </a:endParaRPr>
          </a:p>
        </p:txBody>
      </p:sp>
      <p:sp>
        <p:nvSpPr>
          <p:cNvPr id="51203" name="Rectangle 11"/>
          <p:cNvSpPr>
            <a:spLocks noGrp="1"/>
          </p:cNvSpPr>
          <p:nvPr>
            <p:ph idx="1"/>
          </p:nvPr>
        </p:nvSpPr>
        <p:spPr>
          <a:xfrm>
            <a:off x="685800" y="1447800"/>
            <a:ext cx="7772400" cy="4953000"/>
          </a:xfrm>
        </p:spPr>
        <p:txBody>
          <a:bodyPr vert="horz" wrap="square" lIns="92075" tIns="46038" rIns="92075" bIns="46038" anchor="t" anchorCtr="0"/>
          <a:p>
            <a:pPr lvl="1"/>
            <a:r>
              <a:rPr lang="zh-CN" altLang="en-US" b="1" dirty="0">
                <a:latin typeface="宋体" panose="02010600030101010101" pitchFamily="2" charset="-122"/>
                <a:ea typeface="宋体" panose="02010600030101010101" pitchFamily="2" charset="-122"/>
              </a:rPr>
              <a:t>语言类对运算的封闭性：对于某个给定的语言类中的语言，如果进行某种运算后得到的新语言与原有语言有相同的语言类，则称该语言类对该运算是封闭的，否则称该语言类对该运算是不封闭的</a:t>
            </a:r>
            <a:endParaRPr lang="zh-CN" altLang="en-US"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各型语言对并、积和闭包运算是封闭的</a:t>
            </a:r>
            <a:endParaRPr lang="zh-CN" altLang="en-US"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2型语言对交运算是不封闭的：考虑</a:t>
            </a:r>
            <a:r>
              <a:rPr lang="en-US" altLang="zh-CN" b="1" dirty="0">
                <a:latin typeface="宋体" panose="02010600030101010101" pitchFamily="2" charset="-122"/>
                <a:ea typeface="宋体" panose="02010600030101010101" pitchFamily="2" charset="-122"/>
              </a:rPr>
              <a:t>L1={a</a:t>
            </a:r>
            <a:r>
              <a:rPr lang="en-US" altLang="zh-CN" b="1" baseline="30000" dirty="0">
                <a:latin typeface="宋体" panose="02010600030101010101" pitchFamily="2" charset="-122"/>
                <a:ea typeface="宋体" panose="02010600030101010101" pitchFamily="2" charset="-122"/>
              </a:rPr>
              <a:t>n</a:t>
            </a:r>
            <a:r>
              <a:rPr lang="en-US" altLang="zh-CN" b="1" dirty="0">
                <a:latin typeface="宋体" panose="02010600030101010101" pitchFamily="2" charset="-122"/>
                <a:ea typeface="宋体" panose="02010600030101010101" pitchFamily="2" charset="-122"/>
              </a:rPr>
              <a:t>b</a:t>
            </a:r>
            <a:r>
              <a:rPr lang="en-US" altLang="zh-CN" b="1" baseline="30000" dirty="0">
                <a:latin typeface="宋体" panose="02010600030101010101" pitchFamily="2" charset="-122"/>
                <a:ea typeface="宋体" panose="02010600030101010101" pitchFamily="2" charset="-122"/>
              </a:rPr>
              <a:t>n</a:t>
            </a:r>
            <a:r>
              <a:rPr lang="en-US" altLang="zh-CN" b="1" dirty="0">
                <a:latin typeface="宋体" panose="02010600030101010101" pitchFamily="2" charset="-122"/>
                <a:ea typeface="宋体" panose="02010600030101010101" pitchFamily="2" charset="-122"/>
              </a:rPr>
              <a:t>c</a:t>
            </a:r>
            <a:r>
              <a:rPr lang="en-US" altLang="zh-CN" b="1" baseline="30000" dirty="0">
                <a:latin typeface="宋体" panose="02010600030101010101" pitchFamily="2" charset="-122"/>
                <a:ea typeface="宋体" panose="02010600030101010101" pitchFamily="2" charset="-122"/>
              </a:rPr>
              <a:t>m</a:t>
            </a:r>
            <a:r>
              <a:rPr lang="en-US" altLang="zh-CN" b="1" dirty="0">
                <a:latin typeface="宋体" panose="02010600030101010101" pitchFamily="2" charset="-122"/>
                <a:ea typeface="宋体" panose="02010600030101010101" pitchFamily="2" charset="-122"/>
              </a:rPr>
              <a:t>|m,n&gt;=1}</a:t>
            </a:r>
            <a:r>
              <a:rPr lang="zh-CN" altLang="en-US" b="1" dirty="0">
                <a:latin typeface="宋体" panose="02010600030101010101" pitchFamily="2" charset="-122"/>
                <a:ea typeface="宋体" panose="02010600030101010101" pitchFamily="2" charset="-122"/>
              </a:rPr>
              <a:t>和</a:t>
            </a:r>
            <a:r>
              <a:rPr lang="en-US" altLang="zh-CN" b="1" dirty="0">
                <a:latin typeface="宋体" panose="02010600030101010101" pitchFamily="2" charset="-122"/>
                <a:ea typeface="宋体" panose="02010600030101010101" pitchFamily="2" charset="-122"/>
              </a:rPr>
              <a:t>L2={a</a:t>
            </a:r>
            <a:r>
              <a:rPr lang="en-US" altLang="zh-CN" b="1" baseline="30000" dirty="0">
                <a:latin typeface="宋体" panose="02010600030101010101" pitchFamily="2" charset="-122"/>
                <a:ea typeface="宋体" panose="02010600030101010101" pitchFamily="2" charset="-122"/>
              </a:rPr>
              <a:t>n</a:t>
            </a:r>
            <a:r>
              <a:rPr lang="en-US" altLang="zh-CN" b="1" dirty="0">
                <a:latin typeface="宋体" panose="02010600030101010101" pitchFamily="2" charset="-122"/>
                <a:ea typeface="宋体" panose="02010600030101010101" pitchFamily="2" charset="-122"/>
              </a:rPr>
              <a:t>b</a:t>
            </a:r>
            <a:r>
              <a:rPr lang="en-US" altLang="zh-CN" b="1" baseline="30000" dirty="0">
                <a:latin typeface="宋体" panose="02010600030101010101" pitchFamily="2" charset="-122"/>
                <a:ea typeface="宋体" panose="02010600030101010101" pitchFamily="2" charset="-122"/>
              </a:rPr>
              <a:t>m</a:t>
            </a:r>
            <a:r>
              <a:rPr lang="en-US" altLang="zh-CN" b="1" dirty="0">
                <a:latin typeface="宋体" panose="02010600030101010101" pitchFamily="2" charset="-122"/>
                <a:ea typeface="宋体" panose="02010600030101010101" pitchFamily="2" charset="-122"/>
              </a:rPr>
              <a:t>c</a:t>
            </a:r>
            <a:r>
              <a:rPr lang="en-US" altLang="zh-CN" b="1" baseline="30000" dirty="0">
                <a:latin typeface="宋体" panose="02010600030101010101" pitchFamily="2" charset="-122"/>
                <a:ea typeface="宋体" panose="02010600030101010101" pitchFamily="2" charset="-122"/>
              </a:rPr>
              <a:t>m</a:t>
            </a:r>
            <a:r>
              <a:rPr lang="en-US" altLang="zh-CN" b="1" dirty="0">
                <a:latin typeface="宋体" panose="02010600030101010101" pitchFamily="2" charset="-122"/>
                <a:ea typeface="宋体" panose="02010600030101010101" pitchFamily="2" charset="-122"/>
              </a:rPr>
              <a:t>|m,n&gt;=1}</a:t>
            </a:r>
            <a:endParaRPr lang="zh-CN" altLang="en-US" b="1" dirty="0">
              <a:latin typeface="宋体" panose="02010600030101010101" pitchFamily="2" charset="-122"/>
              <a:ea typeface="宋体" panose="02010600030101010101" pitchFamily="2" charset="-122"/>
            </a:endParaRPr>
          </a:p>
          <a:p>
            <a:pPr lvl="2">
              <a:spcBef>
                <a:spcPct val="40000"/>
              </a:spcBef>
              <a:spcAft>
                <a:spcPct val="40000"/>
              </a:spcAft>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2型语言对补运算是不封闭的：考虑</a:t>
            </a:r>
            <a:endParaRPr lang="en-US" altLang="zh-CN"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3型语言形成一个布尔代数，即对并、补与交运算均封闭</a:t>
            </a:r>
            <a:endParaRPr lang="zh-CN" altLang="en-US"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语法定义（</a:t>
            </a:r>
            <a:r>
              <a:rPr lang="en-US" altLang="zh-CN" dirty="0">
                <a:latin typeface="宋体" panose="02010600030101010101" pitchFamily="2" charset="-122"/>
                <a:ea typeface="宋体" panose="02010600030101010101" pitchFamily="2" charset="-122"/>
              </a:rPr>
              <a:t>21</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51203" name="Rectangle 11"/>
          <p:cNvSpPr>
            <a:spLocks noGrp="1" noChangeArrowheads="1"/>
          </p:cNvSpPr>
          <p:nvPr>
            <p:ph idx="1"/>
          </p:nvPr>
        </p:nvSpPr>
        <p:spPr>
          <a:xfrm>
            <a:off x="468313" y="1371600"/>
            <a:ext cx="8135938" cy="50292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文法和程序分析的关联</a:t>
            </a:r>
            <a:endPar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依据文法，从开始符号开始推导，得到的所有终结符号串的集合构成该文法定义的语言</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对于编译器的词法，可以用３型文法描述</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词法分析识别单词，其构成的单词在语法分析阶段成为终结符</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对于编译器的语法，可以用２型文法描述</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其构成的合法句子就是程序，语法分析就是从开始符号出发，推导得到特定句子的过程，也是构建语法树的过程</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例如</a:t>
            </a:r>
            <a:r>
              <a:rPr kumimoji="0" lang="en-US" altLang="zh-CN" sz="16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list</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-&gt; </a:t>
            </a:r>
            <a:r>
              <a:rPr kumimoji="0" lang="en-US" altLang="zh-CN" sz="16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list </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6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digit </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list - digit </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digit</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828800" marR="0" lvl="4"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digit</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-&gt; 0 | 1 | 2 | 3 | 4 | 5 | 6 | 7 | 8 | 9</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2057400" marR="0" lvl="4"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每个</a:t>
            </a:r>
            <a:r>
              <a:rPr kumimoji="0" lang="en-US" altLang="zh-CN" sz="16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list</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中，如果</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按照通常解释，上述文法就构成了一个简单的计算表达式的文法（但</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digit</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只能表示一位的数字），左结合</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2057400" marR="0" lvl="4"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600" b="1" i="0" u="none" strike="noStrike" kern="0" cap="none" spc="0" normalizeH="0" baseline="0" noProof="0">
                <a:ln>
                  <a:noFill/>
                </a:ln>
                <a:solidFill>
                  <a:schemeClr val="tx1"/>
                </a:solidFill>
                <a:effectLst/>
                <a:uLnTx/>
                <a:uFillTx/>
                <a:latin typeface="宋体" panose="02010600030101010101" pitchFamily="2" charset="-122"/>
                <a:ea typeface="宋体" panose="02010600030101010101" pitchFamily="2" charset="-122"/>
              </a:rPr>
              <a:t>该</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文法能够表明算符的左结合的特性吗？</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再看一个文法，描述参数表</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call</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-&gt; id ( </a:t>
            </a:r>
            <a:r>
              <a:rPr kumimoji="0" lang="en-US" altLang="zh-CN" sz="16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optparams</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71600" marR="0" lvl="3"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optparams</a:t>
            </a:r>
            <a:r>
              <a:rPr kumimoji="0" lang="en-US" altLang="zh-CN" sz="16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-&gt; </a:t>
            </a:r>
            <a:r>
              <a:rPr kumimoji="0" lang="en-US" altLang="zh-CN" sz="16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params</a:t>
            </a:r>
            <a:r>
              <a:rPr kumimoji="0" lang="en-US" altLang="zh-CN" sz="16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l-GR"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endPar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71600" marR="0" lvl="3"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4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params</a:t>
            </a:r>
            <a:r>
              <a:rPr kumimoji="0" lang="en-US" altLang="zh-CN" sz="14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-&gt; </a:t>
            </a:r>
            <a:r>
              <a:rPr kumimoji="0" lang="en-US" altLang="zh-CN" sz="14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params</a:t>
            </a:r>
            <a:r>
              <a:rPr kumimoji="0" lang="en-US" altLang="zh-CN" sz="14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4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param</a:t>
            </a:r>
            <a:r>
              <a:rPr kumimoji="0" lang="en-US" altLang="zh-CN" sz="14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4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param</a:t>
            </a:r>
            <a:endParaRPr kumimoji="0" lang="en-US" altLang="zh-CN" sz="14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71600" marR="0" lvl="3"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4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文法中的</a:t>
            </a:r>
            <a:r>
              <a:rPr kumimoji="0" lang="el-GR"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出现，表明参数表是可以为空的</a:t>
            </a:r>
            <a:endPar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71600" marR="0" lvl="3"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endPar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语法定义（</a:t>
            </a:r>
            <a:r>
              <a:rPr lang="en-US" altLang="zh-CN" dirty="0">
                <a:latin typeface="宋体" panose="02010600030101010101" pitchFamily="2" charset="-122"/>
                <a:ea typeface="宋体" panose="02010600030101010101" pitchFamily="2" charset="-122"/>
              </a:rPr>
              <a:t>22</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55299" name="Rectangle 11"/>
          <p:cNvSpPr>
            <a:spLocks noGrp="1"/>
          </p:cNvSpPr>
          <p:nvPr>
            <p:ph idx="1"/>
          </p:nvPr>
        </p:nvSpPr>
        <p:spPr>
          <a:xfrm>
            <a:off x="468313" y="1447800"/>
            <a:ext cx="8135937" cy="4953000"/>
          </a:xfrm>
        </p:spPr>
        <p:txBody>
          <a:bodyPr vert="horz" wrap="square" lIns="92075" tIns="46038" rIns="92075" bIns="46038" anchor="t" anchorCtr="0"/>
          <a:p>
            <a:r>
              <a:rPr lang="zh-CN" altLang="en-US" sz="2000" b="1" dirty="0">
                <a:latin typeface="宋体" panose="02010600030101010101" pitchFamily="2" charset="-122"/>
                <a:ea typeface="宋体" panose="02010600030101010101" pitchFamily="2" charset="-122"/>
              </a:rPr>
              <a:t>语法分析树</a:t>
            </a:r>
            <a:endParaRPr lang="zh-CN" altLang="en-US" sz="2000" b="1" dirty="0">
              <a:latin typeface="宋体" panose="02010600030101010101" pitchFamily="2" charset="-122"/>
              <a:ea typeface="宋体" panose="02010600030101010101" pitchFamily="2" charset="-122"/>
            </a:endParaRPr>
          </a:p>
          <a:p>
            <a:pPr lvl="1"/>
            <a:r>
              <a:rPr lang="zh-CN" altLang="en-US" sz="1800" b="1" dirty="0">
                <a:latin typeface="宋体" panose="02010600030101010101" pitchFamily="2" charset="-122"/>
                <a:ea typeface="宋体" panose="02010600030101010101" pitchFamily="2" charset="-122"/>
              </a:rPr>
              <a:t>用图形的方式展现了程序的语法结构，树的每个节点代表了一个文法符号</a:t>
            </a:r>
            <a:endParaRPr lang="en-US" altLang="zh-CN" sz="18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语法树的构建过程表征了语法分析的过程，</a:t>
            </a:r>
            <a:r>
              <a:rPr lang="zh-CN" altLang="en-US" sz="1800" b="1" dirty="0">
                <a:solidFill>
                  <a:srgbClr val="FF0000"/>
                </a:solidFill>
                <a:latin typeface="宋体" panose="02010600030101010101" pitchFamily="2" charset="-122"/>
                <a:ea typeface="宋体" panose="02010600030101010101" pitchFamily="2" charset="-122"/>
              </a:rPr>
              <a:t>语法树能吗？</a:t>
            </a:r>
            <a:endParaRPr lang="en-US" altLang="zh-CN" sz="1800" b="1" dirty="0">
              <a:solidFill>
                <a:srgbClr val="FF0000"/>
              </a:solidFill>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语法树可以有多个节点（</a:t>
            </a:r>
            <a:r>
              <a:rPr lang="en-US" altLang="zh-CN" sz="1800" b="1" dirty="0">
                <a:latin typeface="宋体" panose="02010600030101010101" pitchFamily="2" charset="-122"/>
                <a:ea typeface="宋体" panose="02010600030101010101" pitchFamily="2" charset="-122"/>
              </a:rPr>
              <a:t>node</a:t>
            </a:r>
            <a:r>
              <a:rPr lang="zh-CN" altLang="en-US" sz="1800" b="1" dirty="0">
                <a:latin typeface="宋体" panose="02010600030101010101" pitchFamily="2" charset="-122"/>
                <a:ea typeface="宋体" panose="02010600030101010101" pitchFamily="2" charset="-122"/>
              </a:rPr>
              <a:t>），但是只有一个根节点，其标号是文法的开始符号</a:t>
            </a:r>
            <a:endParaRPr lang="en-US" altLang="zh-CN" sz="18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每个叶子节点的符号是一个终结符号或者</a:t>
            </a:r>
            <a:r>
              <a:rPr lang="el-GR" altLang="zh-CN" sz="1800" b="1" dirty="0">
                <a:latin typeface="宋体" panose="02010600030101010101" pitchFamily="2" charset="-122"/>
                <a:ea typeface="宋体" panose="02010600030101010101" pitchFamily="2" charset="-122"/>
              </a:rPr>
              <a:t>ε</a:t>
            </a:r>
            <a:endParaRPr lang="en-US" altLang="zh-CN" sz="18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每个内部结点（非叶节点）的符号是一个非终结符号</a:t>
            </a:r>
            <a:endParaRPr lang="en-US" altLang="zh-CN" sz="18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以</a:t>
            </a:r>
            <a:r>
              <a:rPr lang="en-US" altLang="zh-CN" sz="1800" b="1" dirty="0">
                <a:latin typeface="宋体" panose="02010600030101010101" pitchFamily="2" charset="-122"/>
                <a:ea typeface="宋体" panose="02010600030101010101" pitchFamily="2" charset="-122"/>
              </a:rPr>
              <a:t>A</a:t>
            </a:r>
            <a:r>
              <a:rPr lang="zh-CN" altLang="en-US" sz="1800" b="1" dirty="0">
                <a:latin typeface="宋体" panose="02010600030101010101" pitchFamily="2" charset="-122"/>
                <a:ea typeface="宋体" panose="02010600030101010101" pitchFamily="2" charset="-122"/>
              </a:rPr>
              <a:t>为根节点，</a:t>
            </a:r>
            <a:r>
              <a:rPr lang="en-US" altLang="zh-CN" sz="1800" b="1" dirty="0">
                <a:latin typeface="宋体" panose="02010600030101010101" pitchFamily="2" charset="-122"/>
                <a:ea typeface="宋体" panose="02010600030101010101" pitchFamily="2" charset="-122"/>
              </a:rPr>
              <a:t>X</a:t>
            </a:r>
            <a:r>
              <a:rPr lang="en-US" altLang="zh-CN" sz="1800" b="1" baseline="-25000" dirty="0">
                <a:latin typeface="宋体" panose="02010600030101010101" pitchFamily="2" charset="-122"/>
                <a:ea typeface="宋体" panose="02010600030101010101" pitchFamily="2" charset="-122"/>
              </a:rPr>
              <a:t>1</a:t>
            </a:r>
            <a:r>
              <a:rPr lang="zh-CN" altLang="en-US" sz="1800" b="1" dirty="0">
                <a:latin typeface="宋体" panose="02010600030101010101" pitchFamily="2" charset="-122"/>
                <a:ea typeface="宋体" panose="02010600030101010101" pitchFamily="2" charset="-122"/>
              </a:rPr>
              <a:t>，</a:t>
            </a:r>
            <a:r>
              <a:rPr lang="en-US" altLang="zh-CN" sz="1800" b="1" dirty="0">
                <a:latin typeface="宋体" panose="02010600030101010101" pitchFamily="2" charset="-122"/>
                <a:ea typeface="宋体" panose="02010600030101010101" pitchFamily="2" charset="-122"/>
              </a:rPr>
              <a:t>…</a:t>
            </a:r>
            <a:r>
              <a:rPr lang="zh-CN" altLang="en-US" sz="1800" b="1" dirty="0">
                <a:latin typeface="宋体" panose="02010600030101010101" pitchFamily="2" charset="-122"/>
                <a:ea typeface="宋体" panose="02010600030101010101" pitchFamily="2" charset="-122"/>
              </a:rPr>
              <a:t>，</a:t>
            </a:r>
            <a:r>
              <a:rPr lang="en-US" altLang="zh-CN" sz="1800" b="1" dirty="0">
                <a:latin typeface="宋体" panose="02010600030101010101" pitchFamily="2" charset="-122"/>
                <a:ea typeface="宋体" panose="02010600030101010101" pitchFamily="2" charset="-122"/>
              </a:rPr>
              <a:t>X</a:t>
            </a:r>
            <a:r>
              <a:rPr lang="en-US" altLang="zh-CN" sz="1800" b="1" baseline="-25000" dirty="0">
                <a:latin typeface="宋体" panose="02010600030101010101" pitchFamily="2" charset="-122"/>
                <a:ea typeface="宋体" panose="02010600030101010101" pitchFamily="2" charset="-122"/>
              </a:rPr>
              <a:t>n</a:t>
            </a:r>
            <a:r>
              <a:rPr lang="zh-CN" altLang="en-US" sz="1800" b="1" dirty="0">
                <a:latin typeface="宋体" panose="02010600030101010101" pitchFamily="2" charset="-122"/>
                <a:ea typeface="宋体" panose="02010600030101010101" pitchFamily="2" charset="-122"/>
              </a:rPr>
              <a:t>为叶结点的子树对应了产生式</a:t>
            </a:r>
            <a:r>
              <a:rPr lang="en-US" altLang="zh-CN" sz="1800" b="1" dirty="0">
                <a:latin typeface="宋体" panose="02010600030101010101" pitchFamily="2" charset="-122"/>
                <a:ea typeface="宋体" panose="02010600030101010101" pitchFamily="2" charset="-122"/>
              </a:rPr>
              <a:t>A→X</a:t>
            </a:r>
            <a:r>
              <a:rPr lang="en-US" altLang="zh-CN" sz="1800" b="1" baseline="-25000" dirty="0">
                <a:latin typeface="宋体" panose="02010600030101010101" pitchFamily="2" charset="-122"/>
                <a:ea typeface="宋体" panose="02010600030101010101" pitchFamily="2" charset="-122"/>
              </a:rPr>
              <a:t>1</a:t>
            </a:r>
            <a:r>
              <a:rPr lang="en-US" altLang="zh-CN" sz="1800" b="1" dirty="0">
                <a:latin typeface="宋体" panose="02010600030101010101" pitchFamily="2" charset="-122"/>
                <a:ea typeface="宋体" panose="02010600030101010101" pitchFamily="2" charset="-122"/>
              </a:rPr>
              <a:t>……X</a:t>
            </a:r>
            <a:r>
              <a:rPr lang="en-US" altLang="zh-CN" sz="1800" b="1" baseline="-25000" dirty="0">
                <a:latin typeface="宋体" panose="02010600030101010101" pitchFamily="2" charset="-122"/>
                <a:ea typeface="宋体" panose="02010600030101010101" pitchFamily="2" charset="-122"/>
              </a:rPr>
              <a:t>n</a:t>
            </a:r>
            <a:endParaRPr lang="en-US" altLang="zh-CN" sz="1800" b="1" baseline="-25000"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如果</a:t>
            </a:r>
            <a:r>
              <a:rPr lang="en-US" altLang="zh-CN" sz="1800" b="1" dirty="0">
                <a:latin typeface="宋体" panose="02010600030101010101" pitchFamily="2" charset="-122"/>
                <a:ea typeface="宋体" panose="02010600030101010101" pitchFamily="2" charset="-122"/>
              </a:rPr>
              <a:t>A→</a:t>
            </a:r>
            <a:r>
              <a:rPr lang="el-GR" altLang="zh-CN" sz="1800" b="1" dirty="0">
                <a:latin typeface="宋体" panose="02010600030101010101" pitchFamily="2" charset="-122"/>
                <a:ea typeface="宋体" panose="02010600030101010101" pitchFamily="2" charset="-122"/>
              </a:rPr>
              <a:t>ε</a:t>
            </a:r>
            <a:r>
              <a:rPr lang="zh-CN" altLang="en-US" sz="1800" b="1" dirty="0">
                <a:latin typeface="宋体" panose="02010600030101010101" pitchFamily="2" charset="-122"/>
                <a:ea typeface="宋体" panose="02010600030101010101" pitchFamily="2" charset="-122"/>
              </a:rPr>
              <a:t>是文法的产生式，子树的形状？</a:t>
            </a:r>
            <a:endParaRPr lang="en-US" altLang="zh-CN" sz="18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几个关系</a:t>
            </a:r>
            <a:endParaRPr lang="en-US" altLang="zh-CN" sz="18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父子关系：二者间有一条边，父在子上方，非根节点只有一个父节点，非叶节点可以有一个或多个子节点</a:t>
            </a:r>
            <a:endParaRPr lang="en-US" altLang="zh-CN" sz="16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祖先与后代：特别要知道“节点自身是自身的祖先</a:t>
            </a:r>
            <a:r>
              <a:rPr lang="en-US" altLang="zh-CN" sz="1600" b="1" dirty="0">
                <a:latin typeface="宋体" panose="02010600030101010101" pitchFamily="2" charset="-122"/>
                <a:ea typeface="宋体" panose="02010600030101010101" pitchFamily="2" charset="-122"/>
              </a:rPr>
              <a:t>/</a:t>
            </a:r>
            <a:r>
              <a:rPr lang="zh-CN" altLang="en-US" sz="1600" b="1" dirty="0">
                <a:latin typeface="宋体" panose="02010600030101010101" pitchFamily="2" charset="-122"/>
                <a:ea typeface="宋体" panose="02010600030101010101" pitchFamily="2" charset="-122"/>
              </a:rPr>
              <a:t>后代节点”</a:t>
            </a:r>
            <a:endParaRPr lang="en-US" altLang="zh-CN" sz="16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兄弟：一个父节点的各个子节点，自左到右有序（这是与一般的树结构有差异的地方），对程序分析有意义</a:t>
            </a:r>
            <a:endParaRPr lang="en-US" altLang="zh-CN" sz="1600" b="1" dirty="0">
              <a:latin typeface="宋体" panose="02010600030101010101" pitchFamily="2" charset="-122"/>
              <a:ea typeface="宋体" panose="02010600030101010101" pitchFamily="2" charset="-122"/>
            </a:endParaRPr>
          </a:p>
          <a:p>
            <a:pPr lvl="3"/>
            <a:endParaRPr lang="en-US" altLang="zh-CN" sz="16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语法定义（</a:t>
            </a:r>
            <a:r>
              <a:rPr lang="en-US" altLang="zh-CN" dirty="0">
                <a:latin typeface="宋体" panose="02010600030101010101" pitchFamily="2" charset="-122"/>
                <a:ea typeface="宋体" panose="02010600030101010101" pitchFamily="2" charset="-122"/>
              </a:rPr>
              <a:t>23</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51203" name="Rectangle 11"/>
          <p:cNvSpPr>
            <a:spLocks noGrp="1" noChangeArrowheads="1"/>
          </p:cNvSpPr>
          <p:nvPr>
            <p:ph idx="1"/>
          </p:nvPr>
        </p:nvSpPr>
        <p:spPr>
          <a:xfrm>
            <a:off x="395288" y="1447800"/>
            <a:ext cx="5256213" cy="49530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P25</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页中的文法对应语法树的示例</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9</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5</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2</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推导过程</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1</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list </a:t>
            </a:r>
            <a:r>
              <a:rPr kumimoji="0" lang="en-US" altLang="zh-CN" sz="1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=&gt;</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list+digit</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=&gt;</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list+2</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=&gt;</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list-digt+2</a:t>
            </a:r>
            <a:endPar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=&gt;</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list-5+2</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=&gt;</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digit-5+2</a:t>
            </a:r>
            <a:r>
              <a:rPr kumimoji="0" lang="en-US" altLang="zh-CN" sz="1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 =&gt;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9-5+2</a:t>
            </a:r>
            <a:endPar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2</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list </a:t>
            </a:r>
            <a:r>
              <a:rPr kumimoji="0" lang="en-US" altLang="zh-CN" sz="1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=&gt;</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list+digit</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=&gt;</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list-digit+digit</a:t>
            </a:r>
            <a:endPar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=&gt;</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digit-digit+digit</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=&gt;</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9-digit+digit</a:t>
            </a:r>
            <a:endPar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=&gt;</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9-5+digit</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=&gt;</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9-5+2</a:t>
            </a:r>
            <a:endPar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上述两个推导，哪一个对应了右图的语法树？</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两个都是，</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是最右推导，</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2</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是最左推导</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自左向右将语法树的所有叶结点依次连接，就可以得到符合文法的一个句子</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如果将语法树中的一个子树完整去掉，则将剩余语法树的所有“叶”结点自左向右相连，就得到一个句型</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pic>
        <p:nvPicPr>
          <p:cNvPr id="57348" name="图片 1"/>
          <p:cNvPicPr>
            <a:picLocks noChangeAspect="1"/>
          </p:cNvPicPr>
          <p:nvPr/>
        </p:nvPicPr>
        <p:blipFill>
          <a:blip r:embed="rId1"/>
          <a:stretch>
            <a:fillRect/>
          </a:stretch>
        </p:blipFill>
        <p:spPr>
          <a:xfrm>
            <a:off x="5494338" y="1700213"/>
            <a:ext cx="3506787" cy="3938587"/>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3">
                                            <p:txEl>
                                              <p:charRg st="258" end="27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语法定义（</a:t>
            </a:r>
            <a:r>
              <a:rPr lang="en-US" altLang="zh-CN" dirty="0">
                <a:latin typeface="宋体" panose="02010600030101010101" pitchFamily="2" charset="-122"/>
                <a:ea typeface="宋体" panose="02010600030101010101" pitchFamily="2" charset="-122"/>
              </a:rPr>
              <a:t>24</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51203" name="Rectangle 11"/>
          <p:cNvSpPr>
            <a:spLocks noGrp="1" noChangeArrowheads="1"/>
          </p:cNvSpPr>
          <p:nvPr>
            <p:ph idx="1"/>
          </p:nvPr>
        </p:nvSpPr>
        <p:spPr>
          <a:xfrm>
            <a:off x="685800" y="1447800"/>
            <a:ext cx="7772400" cy="49530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二义性</a:t>
            </a:r>
            <a:endParaRPr kumimoji="0" lang="zh-CN" altLang="en-US"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如果一个文法，对于同一个终结符号串，存在两个或多个与之对应的语法树，则称该文法具有二义性</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注意：不是指有多个推导，因为即便只有一颗语法树，也可以有最左</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最右等推导</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不必所有的终结符号串都对应多棵语法树，只要有一个句子对应了多颗语法树，即为二义性文法</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二义性往往导致程序可能具有多种含义，使得编译器的工作难以顺利进行，所以要排除二义性</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如算符的优先顺序或结合性，</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if-then-else</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的匹配等</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2057400" marR="0" lvl="4"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对于文法：</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 → E + E | E - E | 0 | … | 9</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828800" marR="0" lvl="4"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对于句子“</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9-5+2</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”有两颗语法树，</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先于</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，或反之</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2057400" marR="0" lvl="4"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按照两颗语法树的计算结果是不同的</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2057400" marR="0" lvl="4"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如果将文法中的－换成＊，又如何？</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2057400" marR="0" lvl="4"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P25</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页的文法认为</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优先级相同，但算式是左结合的</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语法定义（</a:t>
            </a:r>
            <a:r>
              <a:rPr lang="en-US" altLang="zh-CN" dirty="0">
                <a:latin typeface="宋体" panose="02010600030101010101" pitchFamily="2" charset="-122"/>
                <a:ea typeface="宋体" panose="02010600030101010101" pitchFamily="2" charset="-122"/>
              </a:rPr>
              <a:t>25</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51203" name="Rectangle 11"/>
          <p:cNvSpPr>
            <a:spLocks noGrp="1" noChangeArrowheads="1"/>
          </p:cNvSpPr>
          <p:nvPr>
            <p:ph idx="1"/>
          </p:nvPr>
        </p:nvSpPr>
        <p:spPr>
          <a:xfrm>
            <a:off x="685800" y="1341438"/>
            <a:ext cx="7847013" cy="49530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算符的优先性和结合性</a:t>
            </a:r>
            <a:endParaRPr kumimoji="0" lang="zh-CN" altLang="en-US"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表征了一个算式的计算次序</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在数学上，可以通过“</a:t>
            </a:r>
            <a:r>
              <a:rPr kumimoji="0" lang="zh-CN" altLang="en-US"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”等改变计算次序</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结合性</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通常 </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等是左结合的，乘幂、赋值等是右结合的</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a=b=c</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，先完成</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b=c</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，再完成对</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的赋值</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P25</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页的文法（</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list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）解决了结合性的问题</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优先性</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通常*、</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优先于</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下述文法具有二义性，可以通过改写文法（见下页）指明算符优先性和结合性</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→E+E | E-E | E*E | E/E | ( E ) | digit</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语法定义（</a:t>
            </a:r>
            <a:r>
              <a:rPr lang="en-US" altLang="zh-CN" dirty="0">
                <a:latin typeface="宋体" panose="02010600030101010101" pitchFamily="2" charset="-122"/>
                <a:ea typeface="宋体" panose="02010600030101010101" pitchFamily="2" charset="-122"/>
              </a:rPr>
              <a:t>26</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51203" name="Rectangle 11"/>
          <p:cNvSpPr>
            <a:spLocks noGrp="1" noChangeArrowheads="1"/>
          </p:cNvSpPr>
          <p:nvPr>
            <p:ph idx="1"/>
          </p:nvPr>
        </p:nvSpPr>
        <p:spPr>
          <a:xfrm>
            <a:off x="685800" y="1447800"/>
            <a:ext cx="7772400" cy="4953000"/>
          </a:xfrm>
        </p:spPr>
        <p:txBody>
          <a:bodyPr vert="horz" wrap="square" lIns="92075" tIns="46038" rIns="92075" bIns="46038" numCol="1" anchor="t" anchorCtr="0" compatLnSpc="1"/>
          <a:lstStyle/>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改写的文法</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expr </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expr</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term | expr – term | term</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term → term * factor | term / factor | factor</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factor → digit | ( expr )</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expr</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产生式的形式决定了</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与</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同优先级，且左结合</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term</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的引入，决定了*和</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优先于</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与</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，而其产生式的形式决定了*和</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同优先级，且左结合</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上述方式可以推广到有</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n</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层算符优先级的文法中，引入</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n+1</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个非终结符，但该方法不一定适用于其他类别二义性文法的改写</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另一个例子</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stmt</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id</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expression</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endPar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if</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expresson</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 </a:t>
            </a:r>
            <a:r>
              <a:rPr kumimoji="0" lang="en-US" altLang="zh-CN" sz="14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stmt</a:t>
            </a:r>
            <a:endParaRPr kumimoji="0" lang="en-US" altLang="zh-CN" sz="14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if</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expresson</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 </a:t>
            </a:r>
            <a:r>
              <a:rPr kumimoji="0" lang="en-US" altLang="zh-CN" sz="14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stmt</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else </a:t>
            </a:r>
            <a:r>
              <a:rPr kumimoji="0" lang="en-US" altLang="zh-CN" sz="14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stmt</a:t>
            </a:r>
            <a:endParaRPr kumimoji="0" lang="en-US" altLang="zh-CN" sz="14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while (</a:t>
            </a:r>
            <a:r>
              <a:rPr kumimoji="0" lang="en-US" altLang="zh-CN" sz="14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expresson</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 </a:t>
            </a:r>
            <a:r>
              <a:rPr kumimoji="0" lang="en-US" altLang="zh-CN" sz="14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stmt</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endPar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do </a:t>
            </a:r>
            <a:r>
              <a:rPr kumimoji="0" lang="en-US" altLang="zh-CN" sz="14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stmt</a:t>
            </a:r>
            <a:r>
              <a:rPr kumimoji="0" lang="en-US" altLang="zh-CN" sz="14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while (</a:t>
            </a:r>
            <a:r>
              <a:rPr kumimoji="0" lang="en-US" altLang="zh-CN" sz="14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expresson</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endPar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stmts</a:t>
            </a:r>
            <a:r>
              <a:rPr kumimoji="0" lang="en-US" altLang="zh-CN" sz="14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endPar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stmts</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 </a:t>
            </a:r>
            <a:r>
              <a:rPr kumimoji="0" lang="en-US" altLang="zh-CN" sz="14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stmts</a:t>
            </a:r>
            <a:r>
              <a:rPr kumimoji="0" lang="en-US" altLang="zh-CN" sz="14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stmt</a:t>
            </a:r>
            <a:r>
              <a:rPr kumimoji="0" lang="en-US" altLang="zh-CN" sz="14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l-GR"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ε</a:t>
            </a:r>
            <a:endPar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本文法中，可以通过句子的第一个文法符号帮助识别句子</a:t>
            </a:r>
            <a:endPar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语法制导翻译（</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65539" name="Rectangle 11"/>
          <p:cNvSpPr>
            <a:spLocks noGrp="1"/>
          </p:cNvSpPr>
          <p:nvPr>
            <p:ph idx="1"/>
          </p:nvPr>
        </p:nvSpPr>
        <p:spPr>
          <a:xfrm>
            <a:off x="395288" y="1341438"/>
            <a:ext cx="8497887" cy="4953000"/>
          </a:xfrm>
        </p:spPr>
        <p:txBody>
          <a:bodyPr vert="horz" wrap="square" lIns="92075" tIns="46038" rIns="92075" bIns="46038" anchor="t" anchorCtr="0"/>
          <a:p>
            <a:r>
              <a:rPr lang="zh-CN" altLang="en-US" sz="2000" b="1" dirty="0">
                <a:latin typeface="宋体" panose="02010600030101010101" pitchFamily="2" charset="-122"/>
                <a:ea typeface="宋体" panose="02010600030101010101" pitchFamily="2" charset="-122"/>
              </a:rPr>
              <a:t>语法制导翻译是将语义动作与产生式关联的方式</a:t>
            </a:r>
            <a:endParaRPr lang="zh-CN" altLang="en-US" sz="2000" b="1" dirty="0">
              <a:latin typeface="宋体" panose="02010600030101010101" pitchFamily="2" charset="-122"/>
              <a:ea typeface="宋体" panose="02010600030101010101" pitchFamily="2" charset="-122"/>
            </a:endParaRPr>
          </a:p>
          <a:p>
            <a:pPr lvl="1"/>
            <a:r>
              <a:rPr lang="zh-CN" altLang="en-US" sz="1800" b="1" dirty="0">
                <a:latin typeface="宋体" panose="02010600030101010101" pitchFamily="2" charset="-122"/>
                <a:ea typeface="宋体" panose="02010600030101010101" pitchFamily="2" charset="-122"/>
              </a:rPr>
              <a:t>对于产生式</a:t>
            </a:r>
            <a:r>
              <a:rPr lang="en-US" altLang="zh-CN" sz="1800" b="1" i="1" dirty="0">
                <a:latin typeface="宋体" panose="02010600030101010101" pitchFamily="2" charset="-122"/>
                <a:ea typeface="宋体" panose="02010600030101010101" pitchFamily="2" charset="-122"/>
              </a:rPr>
              <a:t>expr</a:t>
            </a:r>
            <a:r>
              <a:rPr lang="zh-CN" altLang="en-US" sz="1800" b="1" dirty="0">
                <a:latin typeface="宋体" panose="02010600030101010101" pitchFamily="2" charset="-122"/>
                <a:ea typeface="宋体" panose="02010600030101010101" pitchFamily="2" charset="-122"/>
              </a:rPr>
              <a:t> → </a:t>
            </a:r>
            <a:r>
              <a:rPr lang="en-US" altLang="zh-CN" sz="1800" b="1" i="1" dirty="0">
                <a:latin typeface="宋体" panose="02010600030101010101" pitchFamily="2" charset="-122"/>
                <a:ea typeface="宋体" panose="02010600030101010101" pitchFamily="2" charset="-122"/>
              </a:rPr>
              <a:t>expr</a:t>
            </a:r>
            <a:r>
              <a:rPr lang="en-US" altLang="zh-CN" sz="1800" b="1" i="1" baseline="-25000" dirty="0">
                <a:latin typeface="宋体" panose="02010600030101010101" pitchFamily="2" charset="-122"/>
                <a:ea typeface="宋体" panose="02010600030101010101" pitchFamily="2" charset="-122"/>
              </a:rPr>
              <a:t>1</a:t>
            </a:r>
            <a:r>
              <a:rPr lang="zh-CN" altLang="en-US" sz="1800" b="1"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a:t>
            </a:r>
            <a:r>
              <a:rPr lang="zh-CN" altLang="en-US" sz="1800" b="1" dirty="0">
                <a:latin typeface="宋体" panose="02010600030101010101" pitchFamily="2" charset="-122"/>
                <a:ea typeface="宋体" panose="02010600030101010101" pitchFamily="2" charset="-122"/>
              </a:rPr>
              <a:t> </a:t>
            </a:r>
            <a:r>
              <a:rPr lang="en-US" altLang="zh-CN" sz="1800" b="1" i="1" dirty="0">
                <a:latin typeface="宋体" panose="02010600030101010101" pitchFamily="2" charset="-122"/>
                <a:ea typeface="宋体" panose="02010600030101010101" pitchFamily="2" charset="-122"/>
              </a:rPr>
              <a:t>term</a:t>
            </a:r>
            <a:r>
              <a:rPr lang="zh-CN" altLang="en-US" sz="1800" b="1" dirty="0">
                <a:latin typeface="宋体" panose="02010600030101010101" pitchFamily="2" charset="-122"/>
                <a:ea typeface="宋体" panose="02010600030101010101" pitchFamily="2" charset="-122"/>
              </a:rPr>
              <a:t> ，用下标区分两个</a:t>
            </a:r>
            <a:r>
              <a:rPr lang="en-US" altLang="zh-CN" sz="1800" b="1" dirty="0">
                <a:latin typeface="宋体" panose="02010600030101010101" pitchFamily="2" charset="-122"/>
                <a:ea typeface="宋体" panose="02010600030101010101" pitchFamily="2" charset="-122"/>
              </a:rPr>
              <a:t>expr</a:t>
            </a:r>
            <a:endParaRPr lang="en-US" altLang="zh-CN" sz="1800" b="1" dirty="0">
              <a:latin typeface="宋体" panose="02010600030101010101" pitchFamily="2" charset="-122"/>
              <a:ea typeface="宋体" panose="02010600030101010101" pitchFamily="2" charset="-122"/>
            </a:endParaRPr>
          </a:p>
          <a:p>
            <a:pPr lvl="1"/>
            <a:endParaRPr lang="en-US" altLang="zh-CN" sz="1800" b="1" dirty="0">
              <a:latin typeface="宋体" panose="02010600030101010101" pitchFamily="2" charset="-122"/>
              <a:ea typeface="宋体" panose="02010600030101010101" pitchFamily="2" charset="-122"/>
            </a:endParaRPr>
          </a:p>
          <a:p>
            <a:endParaRPr lang="en-US" altLang="zh-CN" sz="2000" b="1" dirty="0">
              <a:latin typeface="宋体" panose="02010600030101010101" pitchFamily="2" charset="-122"/>
              <a:ea typeface="宋体" panose="02010600030101010101" pitchFamily="2" charset="-122"/>
            </a:endParaRPr>
          </a:p>
          <a:p>
            <a:endParaRPr lang="en-US" altLang="zh-CN" sz="2000" b="1" dirty="0">
              <a:latin typeface="宋体" panose="02010600030101010101" pitchFamily="2" charset="-122"/>
              <a:ea typeface="宋体" panose="02010600030101010101" pitchFamily="2" charset="-122"/>
            </a:endParaRPr>
          </a:p>
          <a:p>
            <a:endParaRPr lang="en-US" altLang="zh-CN" sz="2000" b="1" dirty="0">
              <a:latin typeface="宋体" panose="02010600030101010101" pitchFamily="2" charset="-122"/>
              <a:ea typeface="宋体" panose="02010600030101010101" pitchFamily="2" charset="-122"/>
            </a:endParaRPr>
          </a:p>
          <a:p>
            <a:endParaRPr lang="en-US" altLang="zh-CN" sz="2000" b="1" dirty="0">
              <a:latin typeface="宋体" panose="02010600030101010101" pitchFamily="2" charset="-122"/>
              <a:ea typeface="宋体" panose="02010600030101010101" pitchFamily="2" charset="-122"/>
            </a:endParaRPr>
          </a:p>
          <a:p>
            <a:endParaRPr lang="en-US" altLang="zh-CN" sz="2000" b="1" dirty="0">
              <a:latin typeface="宋体" panose="02010600030101010101" pitchFamily="2" charset="-122"/>
              <a:ea typeface="宋体" panose="02010600030101010101" pitchFamily="2" charset="-122"/>
            </a:endParaRPr>
          </a:p>
          <a:p>
            <a:pPr lvl="4"/>
            <a:endParaRPr lang="en-US" altLang="zh-CN" sz="1200" b="1" dirty="0">
              <a:latin typeface="宋体" panose="02010600030101010101" pitchFamily="2" charset="-122"/>
              <a:ea typeface="宋体" panose="02010600030101010101" pitchFamily="2" charset="-122"/>
            </a:endParaRPr>
          </a:p>
          <a:p>
            <a:r>
              <a:rPr lang="zh-CN" altLang="en-US" sz="2000" b="1" dirty="0">
                <a:latin typeface="宋体" panose="02010600030101010101" pitchFamily="2" charset="-122"/>
                <a:ea typeface="宋体" panose="02010600030101010101" pitchFamily="2" charset="-122"/>
              </a:rPr>
              <a:t>属性：属性表示与程序构造相关的任意的量，如上述</a:t>
            </a:r>
            <a:r>
              <a:rPr lang="en-US" altLang="zh-CN" sz="2000" b="1" dirty="0">
                <a:latin typeface="宋体" panose="02010600030101010101" pitchFamily="2" charset="-122"/>
                <a:ea typeface="宋体" panose="02010600030101010101" pitchFamily="2" charset="-122"/>
              </a:rPr>
              <a:t>s</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v</a:t>
            </a:r>
            <a:r>
              <a:rPr lang="zh-CN" altLang="en-US" sz="2000" b="1" dirty="0">
                <a:latin typeface="宋体" panose="02010600030101010101" pitchFamily="2" charset="-122"/>
                <a:ea typeface="宋体" panose="02010600030101010101" pitchFamily="2" charset="-122"/>
              </a:rPr>
              <a:t>等</a:t>
            </a:r>
            <a:endParaRPr lang="en-US" altLang="zh-CN"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属性与文法符号相关联</a:t>
            </a:r>
            <a:endParaRPr lang="en-US" altLang="zh-CN"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每个文法符号可以有多个属性，可以用一个属性集合表示</a:t>
            </a:r>
            <a:endParaRPr lang="en-US" altLang="zh-CN" sz="2000" b="1" dirty="0">
              <a:latin typeface="宋体" panose="02010600030101010101" pitchFamily="2" charset="-122"/>
              <a:ea typeface="宋体" panose="02010600030101010101" pitchFamily="2" charset="-122"/>
            </a:endParaRPr>
          </a:p>
          <a:p>
            <a:r>
              <a:rPr lang="zh-CN" altLang="en-US" sz="2000" b="1" dirty="0">
                <a:latin typeface="宋体" panose="02010600030101010101" pitchFamily="2" charset="-122"/>
                <a:ea typeface="宋体" panose="02010600030101010101" pitchFamily="2" charset="-122"/>
              </a:rPr>
              <a:t>翻译方案：是将程序片段附加到一个文法的各个产生式上的表示方法</a:t>
            </a:r>
            <a:endParaRPr lang="en-US" altLang="zh-CN"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将这些程序片段按照语法分析的顺序组合，就是翻译结果</a:t>
            </a:r>
            <a:endParaRPr lang="en-US" altLang="zh-CN" sz="2000" b="1" dirty="0">
              <a:latin typeface="宋体" panose="02010600030101010101" pitchFamily="2" charset="-122"/>
              <a:ea typeface="宋体" panose="02010600030101010101" pitchFamily="2" charset="-122"/>
            </a:endParaRPr>
          </a:p>
        </p:txBody>
      </p:sp>
      <p:pic>
        <p:nvPicPr>
          <p:cNvPr id="65540" name="图片 1"/>
          <p:cNvPicPr>
            <a:picLocks noChangeAspect="1"/>
          </p:cNvPicPr>
          <p:nvPr/>
        </p:nvPicPr>
        <p:blipFill>
          <a:blip r:embed="rId1"/>
          <a:stretch>
            <a:fillRect/>
          </a:stretch>
        </p:blipFill>
        <p:spPr>
          <a:xfrm>
            <a:off x="933450" y="2133600"/>
            <a:ext cx="7096125" cy="2374900"/>
          </a:xfrm>
          <a:prstGeom prst="rect">
            <a:avLst/>
          </a:prstGeom>
          <a:noFill/>
          <a:ln w="9525">
            <a:noFill/>
          </a:ln>
        </p:spPr>
      </p:pic>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语法制导翻译（</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67587" name="Rectangle 11"/>
          <p:cNvSpPr>
            <a:spLocks noGrp="1"/>
          </p:cNvSpPr>
          <p:nvPr>
            <p:ph idx="1"/>
          </p:nvPr>
        </p:nvSpPr>
        <p:spPr>
          <a:xfrm>
            <a:off x="685800" y="1341438"/>
            <a:ext cx="7847013" cy="4953000"/>
          </a:xfrm>
        </p:spPr>
        <p:txBody>
          <a:bodyPr vert="horz" wrap="square" lIns="92075" tIns="46038" rIns="92075" bIns="46038" anchor="t" anchorCtr="0"/>
          <a:p>
            <a:r>
              <a:rPr lang="zh-CN" altLang="en-US" sz="2400" b="1" dirty="0">
                <a:latin typeface="宋体" panose="02010600030101010101" pitchFamily="2" charset="-122"/>
                <a:ea typeface="宋体" panose="02010600030101010101" pitchFamily="2" charset="-122"/>
              </a:rPr>
              <a:t>后缀表示</a:t>
            </a:r>
            <a:endParaRPr lang="zh-CN" altLang="en-US" sz="24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定义：</a:t>
            </a:r>
            <a:endParaRPr lang="en-US" altLang="zh-CN" sz="2000" b="1"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如果</a:t>
            </a:r>
            <a:r>
              <a:rPr lang="en-US" altLang="zh-CN" sz="2000" b="1" i="1" dirty="0">
                <a:latin typeface="宋体" panose="02010600030101010101" pitchFamily="2" charset="-122"/>
                <a:ea typeface="宋体" panose="02010600030101010101" pitchFamily="2" charset="-122"/>
              </a:rPr>
              <a:t>E</a:t>
            </a:r>
            <a:r>
              <a:rPr lang="zh-CN" altLang="en-US" sz="2000" b="1" dirty="0">
                <a:latin typeface="宋体" panose="02010600030101010101" pitchFamily="2" charset="-122"/>
                <a:ea typeface="宋体" panose="02010600030101010101" pitchFamily="2" charset="-122"/>
              </a:rPr>
              <a:t>是一个变量或常量，则</a:t>
            </a:r>
            <a:r>
              <a:rPr lang="en-US" altLang="zh-CN" sz="2000" b="1" dirty="0">
                <a:latin typeface="宋体" panose="02010600030101010101" pitchFamily="2" charset="-122"/>
                <a:ea typeface="宋体" panose="02010600030101010101" pitchFamily="2" charset="-122"/>
              </a:rPr>
              <a:t>E</a:t>
            </a:r>
            <a:r>
              <a:rPr lang="zh-CN" altLang="en-US" sz="2000" b="1" dirty="0">
                <a:latin typeface="宋体" panose="02010600030101010101" pitchFamily="2" charset="-122"/>
                <a:ea typeface="宋体" panose="02010600030101010101" pitchFamily="2" charset="-122"/>
              </a:rPr>
              <a:t>的后缀表示就是</a:t>
            </a:r>
            <a:r>
              <a:rPr lang="en-US" altLang="zh-CN" sz="2000" b="1" dirty="0">
                <a:latin typeface="宋体" panose="02010600030101010101" pitchFamily="2" charset="-122"/>
                <a:ea typeface="宋体" panose="02010600030101010101" pitchFamily="2" charset="-122"/>
              </a:rPr>
              <a:t>E</a:t>
            </a:r>
            <a:r>
              <a:rPr lang="zh-CN" altLang="en-US" sz="2000" b="1" dirty="0">
                <a:latin typeface="宋体" panose="02010600030101010101" pitchFamily="2" charset="-122"/>
                <a:ea typeface="宋体" panose="02010600030101010101" pitchFamily="2" charset="-122"/>
              </a:rPr>
              <a:t>本身</a:t>
            </a:r>
            <a:endParaRPr lang="en-US" altLang="zh-CN" sz="2000" b="1"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如果</a:t>
            </a:r>
            <a:r>
              <a:rPr lang="en-US" altLang="zh-CN" sz="2000" b="1" i="1" dirty="0">
                <a:latin typeface="宋体" panose="02010600030101010101" pitchFamily="2" charset="-122"/>
                <a:ea typeface="宋体" panose="02010600030101010101" pitchFamily="2" charset="-122"/>
              </a:rPr>
              <a:t>E</a:t>
            </a:r>
            <a:r>
              <a:rPr lang="zh-CN" altLang="en-US" sz="2000" b="1" dirty="0">
                <a:latin typeface="宋体" panose="02010600030101010101" pitchFamily="2" charset="-122"/>
                <a:ea typeface="宋体" panose="02010600030101010101" pitchFamily="2" charset="-122"/>
              </a:rPr>
              <a:t>是一个形如</a:t>
            </a:r>
            <a:r>
              <a:rPr lang="en-US" altLang="zh-CN" sz="2000" b="1" i="1" dirty="0">
                <a:latin typeface="宋体" panose="02010600030101010101" pitchFamily="2" charset="-122"/>
                <a:ea typeface="宋体" panose="02010600030101010101" pitchFamily="2" charset="-122"/>
              </a:rPr>
              <a:t>E</a:t>
            </a:r>
            <a:r>
              <a:rPr lang="en-US" altLang="zh-CN" sz="2000" b="1" i="1" baseline="-25000" dirty="0">
                <a:latin typeface="宋体" panose="02010600030101010101" pitchFamily="2" charset="-122"/>
                <a:ea typeface="宋体" panose="02010600030101010101" pitchFamily="2" charset="-122"/>
              </a:rPr>
              <a:t>1</a:t>
            </a: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op</a:t>
            </a:r>
            <a:r>
              <a:rPr lang="zh-CN" altLang="en-US" sz="2000" b="1" dirty="0">
                <a:latin typeface="宋体" panose="02010600030101010101" pitchFamily="2" charset="-122"/>
                <a:ea typeface="宋体" panose="02010600030101010101" pitchFamily="2" charset="-122"/>
              </a:rPr>
              <a:t> </a:t>
            </a:r>
            <a:r>
              <a:rPr lang="en-US" altLang="zh-CN" sz="2000" b="1" i="1" dirty="0">
                <a:latin typeface="宋体" panose="02010600030101010101" pitchFamily="2" charset="-122"/>
                <a:ea typeface="宋体" panose="02010600030101010101" pitchFamily="2" charset="-122"/>
              </a:rPr>
              <a:t>E</a:t>
            </a:r>
            <a:r>
              <a:rPr lang="en-US" altLang="zh-CN" sz="2000" b="1" i="1" baseline="-25000" dirty="0">
                <a:latin typeface="宋体" panose="02010600030101010101" pitchFamily="2" charset="-122"/>
                <a:ea typeface="宋体" panose="02010600030101010101" pitchFamily="2" charset="-122"/>
              </a:rPr>
              <a:t>2</a:t>
            </a:r>
            <a:r>
              <a:rPr lang="zh-CN" altLang="en-US" sz="2000" b="1" dirty="0">
                <a:latin typeface="宋体" panose="02010600030101010101" pitchFamily="2" charset="-122"/>
                <a:ea typeface="宋体" panose="02010600030101010101" pitchFamily="2" charset="-122"/>
              </a:rPr>
              <a:t>的表达式（</a:t>
            </a:r>
            <a:r>
              <a:rPr lang="en-US" altLang="zh-CN" sz="2000" b="1" dirty="0">
                <a:latin typeface="宋体" panose="02010600030101010101" pitchFamily="2" charset="-122"/>
                <a:ea typeface="宋体" panose="02010600030101010101" pitchFamily="2" charset="-122"/>
              </a:rPr>
              <a:t>op</a:t>
            </a:r>
            <a:r>
              <a:rPr lang="zh-CN" altLang="en-US" sz="2000" b="1" dirty="0">
                <a:latin typeface="宋体" panose="02010600030101010101" pitchFamily="2" charset="-122"/>
                <a:ea typeface="宋体" panose="02010600030101010101" pitchFamily="2" charset="-122"/>
              </a:rPr>
              <a:t>是二目算符），则其后缀表示是</a:t>
            </a:r>
            <a:r>
              <a:rPr lang="en-US" altLang="zh-CN" sz="2000" b="1" i="1" dirty="0">
                <a:latin typeface="宋体" panose="02010600030101010101" pitchFamily="2" charset="-122"/>
                <a:ea typeface="宋体" panose="02010600030101010101" pitchFamily="2" charset="-122"/>
              </a:rPr>
              <a:t>E</a:t>
            </a:r>
            <a:r>
              <a:rPr lang="en-US" altLang="zh-CN" sz="2000" b="1" i="1" baseline="-25000" dirty="0">
                <a:latin typeface="宋体" panose="02010600030101010101" pitchFamily="2" charset="-122"/>
                <a:ea typeface="宋体" panose="02010600030101010101" pitchFamily="2" charset="-122"/>
              </a:rPr>
              <a:t>1</a:t>
            </a:r>
            <a:r>
              <a:rPr lang="en-US" altLang="zh-CN" sz="2000" b="1" dirty="0">
                <a:latin typeface="宋体" panose="02010600030101010101" pitchFamily="2" charset="-122"/>
                <a:ea typeface="宋体" panose="02010600030101010101" pitchFamily="2" charset="-122"/>
              </a:rPr>
              <a:t>’</a:t>
            </a:r>
            <a:r>
              <a:rPr lang="en-US" altLang="zh-CN" sz="2000" b="1" i="1" dirty="0">
                <a:latin typeface="宋体" panose="02010600030101010101" pitchFamily="2" charset="-122"/>
                <a:ea typeface="宋体" panose="02010600030101010101" pitchFamily="2" charset="-122"/>
              </a:rPr>
              <a:t>E</a:t>
            </a:r>
            <a:r>
              <a:rPr lang="en-US" altLang="zh-CN" sz="2000" b="1" i="1" baseline="-25000" dirty="0">
                <a:latin typeface="宋体" panose="02010600030101010101" pitchFamily="2" charset="-122"/>
                <a:ea typeface="宋体" panose="02010600030101010101" pitchFamily="2" charset="-122"/>
              </a:rPr>
              <a:t>2</a:t>
            </a:r>
            <a:r>
              <a:rPr lang="en-US" altLang="zh-CN" sz="2000" b="1" dirty="0">
                <a:latin typeface="宋体" panose="02010600030101010101" pitchFamily="2" charset="-122"/>
                <a:ea typeface="宋体" panose="02010600030101010101" pitchFamily="2" charset="-122"/>
              </a:rPr>
              <a:t>’op</a:t>
            </a:r>
            <a:r>
              <a:rPr lang="zh-CN" altLang="en-US" sz="2000" b="1" dirty="0">
                <a:latin typeface="宋体" panose="02010600030101010101" pitchFamily="2" charset="-122"/>
                <a:ea typeface="宋体" panose="02010600030101010101" pitchFamily="2" charset="-122"/>
              </a:rPr>
              <a:t>，其中</a:t>
            </a:r>
            <a:r>
              <a:rPr lang="en-US" altLang="zh-CN" sz="2000" b="1" i="1" dirty="0">
                <a:latin typeface="宋体" panose="02010600030101010101" pitchFamily="2" charset="-122"/>
                <a:ea typeface="宋体" panose="02010600030101010101" pitchFamily="2" charset="-122"/>
              </a:rPr>
              <a:t>E</a:t>
            </a:r>
            <a:r>
              <a:rPr lang="en-US" altLang="zh-CN" sz="2000" b="1" i="1" baseline="-25000" dirty="0">
                <a:latin typeface="宋体" panose="02010600030101010101" pitchFamily="2" charset="-122"/>
                <a:ea typeface="宋体" panose="02010600030101010101" pitchFamily="2" charset="-122"/>
              </a:rPr>
              <a:t>1</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和</a:t>
            </a:r>
            <a:r>
              <a:rPr lang="en-US" altLang="zh-CN" sz="2000" b="1" i="1" dirty="0">
                <a:latin typeface="宋体" panose="02010600030101010101" pitchFamily="2" charset="-122"/>
                <a:ea typeface="宋体" panose="02010600030101010101" pitchFamily="2" charset="-122"/>
              </a:rPr>
              <a:t>E</a:t>
            </a:r>
            <a:r>
              <a:rPr lang="en-US" altLang="zh-CN" sz="2000" b="1" i="1" baseline="-25000" dirty="0">
                <a:latin typeface="宋体" panose="02010600030101010101" pitchFamily="2" charset="-122"/>
                <a:ea typeface="宋体" panose="02010600030101010101" pitchFamily="2" charset="-122"/>
              </a:rPr>
              <a:t>2</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分别是</a:t>
            </a:r>
            <a:r>
              <a:rPr lang="en-US" altLang="zh-CN" sz="2000" b="1" i="1" dirty="0">
                <a:latin typeface="宋体" panose="02010600030101010101" pitchFamily="2" charset="-122"/>
                <a:ea typeface="宋体" panose="02010600030101010101" pitchFamily="2" charset="-122"/>
              </a:rPr>
              <a:t>E</a:t>
            </a:r>
            <a:r>
              <a:rPr lang="en-US" altLang="zh-CN" sz="2000" b="1" i="1" baseline="-25000" dirty="0">
                <a:latin typeface="宋体" panose="02010600030101010101" pitchFamily="2" charset="-122"/>
                <a:ea typeface="宋体" panose="02010600030101010101" pitchFamily="2" charset="-122"/>
              </a:rPr>
              <a:t>1</a:t>
            </a:r>
            <a:r>
              <a:rPr lang="zh-CN" altLang="en-US" sz="2000" b="1" dirty="0">
                <a:latin typeface="宋体" panose="02010600030101010101" pitchFamily="2" charset="-122"/>
                <a:ea typeface="宋体" panose="02010600030101010101" pitchFamily="2" charset="-122"/>
              </a:rPr>
              <a:t>和</a:t>
            </a:r>
            <a:r>
              <a:rPr lang="en-US" altLang="zh-CN" sz="2000" b="1" i="1" dirty="0">
                <a:latin typeface="宋体" panose="02010600030101010101" pitchFamily="2" charset="-122"/>
                <a:ea typeface="宋体" panose="02010600030101010101" pitchFamily="2" charset="-122"/>
              </a:rPr>
              <a:t>E</a:t>
            </a:r>
            <a:r>
              <a:rPr lang="en-US" altLang="zh-CN" sz="2000" b="1" i="1" baseline="-25000" dirty="0">
                <a:latin typeface="宋体" panose="02010600030101010101" pitchFamily="2" charset="-122"/>
                <a:ea typeface="宋体" panose="02010600030101010101" pitchFamily="2" charset="-122"/>
              </a:rPr>
              <a:t>2</a:t>
            </a:r>
            <a:r>
              <a:rPr lang="zh-CN" altLang="en-US" sz="2000" b="1" dirty="0">
                <a:latin typeface="宋体" panose="02010600030101010101" pitchFamily="2" charset="-122"/>
                <a:ea typeface="宋体" panose="02010600030101010101" pitchFamily="2" charset="-122"/>
              </a:rPr>
              <a:t>的后缀表示</a:t>
            </a:r>
            <a:endParaRPr lang="en-US" altLang="zh-CN" sz="2000" b="1"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如果</a:t>
            </a:r>
            <a:r>
              <a:rPr lang="en-US" altLang="zh-CN" sz="2000" b="1" i="1" dirty="0">
                <a:latin typeface="宋体" panose="02010600030101010101" pitchFamily="2" charset="-122"/>
                <a:ea typeface="宋体" panose="02010600030101010101" pitchFamily="2" charset="-122"/>
              </a:rPr>
              <a:t>E</a:t>
            </a:r>
            <a:r>
              <a:rPr lang="zh-CN" altLang="en-US" sz="2000" b="1" dirty="0">
                <a:latin typeface="宋体" panose="02010600030101010101" pitchFamily="2" charset="-122"/>
                <a:ea typeface="宋体" panose="02010600030101010101" pitchFamily="2" charset="-122"/>
              </a:rPr>
              <a:t>是一个形如（</a:t>
            </a:r>
            <a:r>
              <a:rPr lang="en-US" altLang="zh-CN" sz="2000" b="1" i="1" dirty="0">
                <a:latin typeface="宋体" panose="02010600030101010101" pitchFamily="2" charset="-122"/>
                <a:ea typeface="宋体" panose="02010600030101010101" pitchFamily="2" charset="-122"/>
              </a:rPr>
              <a:t>E</a:t>
            </a:r>
            <a:r>
              <a:rPr lang="en-US" altLang="zh-CN" sz="2000" b="1" i="1" baseline="-25000" dirty="0">
                <a:latin typeface="宋体" panose="02010600030101010101" pitchFamily="2" charset="-122"/>
                <a:ea typeface="宋体" panose="02010600030101010101" pitchFamily="2" charset="-122"/>
              </a:rPr>
              <a:t>1 </a:t>
            </a:r>
            <a:r>
              <a:rPr lang="zh-CN" altLang="en-US" sz="2000" b="1" dirty="0">
                <a:latin typeface="宋体" panose="02010600030101010101" pitchFamily="2" charset="-122"/>
                <a:ea typeface="宋体" panose="02010600030101010101" pitchFamily="2" charset="-122"/>
              </a:rPr>
              <a:t>）的表达式，则其后缀表示就是</a:t>
            </a:r>
            <a:r>
              <a:rPr lang="en-US" altLang="zh-CN" sz="2000" b="1" i="1" dirty="0">
                <a:latin typeface="宋体" panose="02010600030101010101" pitchFamily="2" charset="-122"/>
                <a:ea typeface="宋体" panose="02010600030101010101" pitchFamily="2" charset="-122"/>
              </a:rPr>
              <a:t>E</a:t>
            </a:r>
            <a:r>
              <a:rPr lang="en-US" altLang="zh-CN" sz="2000" b="1" i="1" baseline="-25000" dirty="0">
                <a:latin typeface="宋体" panose="02010600030101010101" pitchFamily="2" charset="-122"/>
                <a:ea typeface="宋体" panose="02010600030101010101" pitchFamily="2" charset="-122"/>
              </a:rPr>
              <a:t>1</a:t>
            </a:r>
            <a:r>
              <a:rPr lang="zh-CN" altLang="en-US" sz="2000" b="1" dirty="0">
                <a:latin typeface="宋体" panose="02010600030101010101" pitchFamily="2" charset="-122"/>
                <a:ea typeface="宋体" panose="02010600030101010101" pitchFamily="2" charset="-122"/>
              </a:rPr>
              <a:t>的后缀表示</a:t>
            </a:r>
            <a:endParaRPr lang="en-US" altLang="zh-CN"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不用括号，便于用栈实现计算</a:t>
            </a:r>
            <a:endParaRPr lang="en-US" altLang="zh-CN" sz="2000" b="1"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从左向右扫描代码，遇到数值，则将数字压入栈，碰到一个算符，就根据算符的要求从栈顶取出对应数目的数值，完成相应的计算，把结果在压入栈</a:t>
            </a:r>
            <a:endParaRPr lang="en-US" altLang="zh-CN"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9</a:t>
            </a: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 （ </a:t>
            </a:r>
            <a:r>
              <a:rPr lang="en-US" altLang="zh-CN" sz="2000" b="1" dirty="0">
                <a:latin typeface="宋体" panose="02010600030101010101" pitchFamily="2" charset="-122"/>
                <a:ea typeface="宋体" panose="02010600030101010101" pitchFamily="2" charset="-122"/>
              </a:rPr>
              <a:t>5</a:t>
            </a: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2</a:t>
            </a:r>
            <a:r>
              <a:rPr lang="zh-CN" altLang="en-US" sz="2000" b="1" dirty="0">
                <a:latin typeface="宋体" panose="02010600030101010101" pitchFamily="2" charset="-122"/>
                <a:ea typeface="宋体" panose="02010600030101010101" pitchFamily="2" charset="-122"/>
              </a:rPr>
              <a:t> ））* </a:t>
            </a:r>
            <a:r>
              <a:rPr lang="en-US" altLang="zh-CN" sz="2000" b="1" dirty="0">
                <a:latin typeface="宋体" panose="02010600030101010101" pitchFamily="2" charset="-122"/>
                <a:ea typeface="宋体" panose="02010600030101010101" pitchFamily="2" charset="-122"/>
              </a:rPr>
              <a:t>3</a:t>
            </a:r>
            <a:r>
              <a:rPr lang="zh-CN" altLang="en-US" sz="2000" b="1" dirty="0">
                <a:latin typeface="宋体" panose="02010600030101010101" pitchFamily="2" charset="-122"/>
                <a:ea typeface="宋体" panose="02010600030101010101" pitchFamily="2" charset="-122"/>
              </a:rPr>
              <a:t>的后缀形式是什么？计算的过程？</a:t>
            </a:r>
            <a:endParaRPr lang="en-US" altLang="zh-CN"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在本章中，后缀表示作为语法制导翻译输出的代码格式</a:t>
            </a:r>
            <a:endParaRPr lang="en-US" altLang="zh-CN" sz="20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语法制导翻译（</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51203" name="Rectangle 11"/>
          <p:cNvSpPr>
            <a:spLocks noGrp="1" noChangeArrowheads="1"/>
          </p:cNvSpPr>
          <p:nvPr>
            <p:ph idx="1"/>
          </p:nvPr>
        </p:nvSpPr>
        <p:spPr>
          <a:xfrm>
            <a:off x="685800" y="1341438"/>
            <a:ext cx="7989888" cy="49530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属性如何计算？</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en-US" altLang="zh-CN" sz="20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Y</a:t>
            </a:r>
            <a:r>
              <a:rPr kumimoji="0" lang="en-US" altLang="zh-CN" sz="2000" b="1" i="0" u="none" strike="noStrike" kern="0" cap="none" spc="0" normalizeH="0" baseline="-25000" noProof="0" dirty="0" err="1">
                <a:ln>
                  <a:noFill/>
                </a:ln>
                <a:solidFill>
                  <a:schemeClr val="tx1"/>
                </a:solidFill>
                <a:effectLst/>
                <a:uLnTx/>
                <a:uFillTx/>
                <a:latin typeface="宋体" panose="02010600030101010101" pitchFamily="2" charset="-122"/>
                <a:ea typeface="宋体" panose="02010600030101010101" pitchFamily="2" charset="-122"/>
              </a:rPr>
              <a:t>n</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属性</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f ( t</a:t>
            </a:r>
            <a:r>
              <a:rPr kumimoji="0" lang="en-US" altLang="zh-CN" sz="20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 t</a:t>
            </a:r>
            <a:r>
              <a:rPr kumimoji="0" lang="en-US" altLang="zh-CN" sz="20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m</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属性的计算是有约束的</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语法制导定义指明了每个产生式与哪些语义规则相关联（语义规则计算与该产生式中符号关联的属性值）</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语义规则的计算也称为对语法树的注释，得到注释的语法树</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综合属性</a:t>
            </a:r>
            <a:endPar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定义：如果语法树上结点</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N</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的某个属性值是由</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N</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的子结点和</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或</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N</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自身的属性值确定，则称这个属性为综合属性</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前述的</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如果是</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的属性，</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t</a:t>
            </a:r>
            <a:r>
              <a:rPr kumimoji="0" lang="en-US" altLang="zh-CN" sz="18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 t</a:t>
            </a:r>
            <a:r>
              <a:rPr kumimoji="0" lang="en-US" altLang="zh-CN" sz="18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m</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en-US" altLang="zh-CN" sz="18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Y</a:t>
            </a:r>
            <a:r>
              <a:rPr kumimoji="0" lang="en-US" altLang="zh-CN" sz="1800" b="1" i="0" u="none" strike="noStrike" kern="0" cap="none" spc="0" normalizeH="0" baseline="-25000" noProof="0" dirty="0" err="1">
                <a:ln>
                  <a:noFill/>
                </a:ln>
                <a:solidFill>
                  <a:schemeClr val="tx1"/>
                </a:solidFill>
                <a:effectLst/>
                <a:uLnTx/>
                <a:uFillTx/>
                <a:latin typeface="宋体" panose="02010600030101010101" pitchFamily="2" charset="-122"/>
                <a:ea typeface="宋体" panose="02010600030101010101" pitchFamily="2" charset="-122"/>
              </a:rPr>
              <a:t>n</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或</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的属性，则</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s</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的综合属性</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综合属性可以伴随着对语法树的后根遍历完成</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继承属性：如果结点</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N</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的某个属性计算需要用到其兄弟结点或父节点的属性值，则称为继承属性</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语法制导翻译（</a:t>
            </a:r>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51203" name="Rectangle 11"/>
          <p:cNvSpPr>
            <a:spLocks noGrp="1" noChangeArrowheads="1"/>
          </p:cNvSpPr>
          <p:nvPr>
            <p:ph idx="1"/>
          </p:nvPr>
        </p:nvSpPr>
        <p:spPr>
          <a:xfrm>
            <a:off x="685800" y="1341438"/>
            <a:ext cx="7847013" cy="49530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一个例子</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2057400" marR="0" lvl="4" indent="-2286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1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828800" marR="0" lvl="4" indent="0" algn="l" defTabSz="914400" rtl="0" eaLnBrk="0" fontAlgn="base" latinLnBrk="0" hangingPunct="0">
              <a:lnSpc>
                <a:spcPct val="100000"/>
              </a:lnSpc>
              <a:spcBef>
                <a:spcPct val="20000"/>
              </a:spcBef>
              <a:spcAft>
                <a:spcPct val="0"/>
              </a:spcAft>
              <a:buClr>
                <a:srgbClr val="063DE8"/>
              </a:buClr>
              <a:buSzPct val="125000"/>
              <a:buFontTx/>
              <a:buNone/>
              <a:defRPr/>
            </a:pPr>
            <a:endParaRPr kumimoji="0" lang="en-US" altLang="zh-CN" sz="1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语义制导定义并未明确说明语义规则的计算次序，但是在本例中</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对语法树的一个后根遍历是一个合法的次序</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简单语法制导定义：只需要将产生式右部中各非终结符的翻译结果按照它们出现的次序连接，并在其中穿插一些附加的串（</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终结符），就可以得到产生式左部非终结符的翻译结果</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最终根结点的</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属性记录了翻译结果</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pic>
        <p:nvPicPr>
          <p:cNvPr id="71684" name="图片 1"/>
          <p:cNvPicPr>
            <a:picLocks noChangeAspect="1"/>
          </p:cNvPicPr>
          <p:nvPr/>
        </p:nvPicPr>
        <p:blipFill>
          <a:blip r:embed="rId1"/>
          <a:stretch>
            <a:fillRect/>
          </a:stretch>
        </p:blipFill>
        <p:spPr>
          <a:xfrm>
            <a:off x="107950" y="1628775"/>
            <a:ext cx="8929688" cy="2879725"/>
          </a:xfrm>
          <a:prstGeom prst="rect">
            <a:avLst/>
          </a:prstGeom>
          <a:noFill/>
          <a:ln w="9525">
            <a:noFill/>
          </a:ln>
        </p:spPr>
      </p:pic>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语法制导翻译（</a:t>
            </a:r>
            <a:r>
              <a:rPr lang="en-US" altLang="zh-CN" dirty="0">
                <a:latin typeface="宋体" panose="02010600030101010101" pitchFamily="2" charset="-122"/>
                <a:ea typeface="宋体" panose="02010600030101010101" pitchFamily="2" charset="-122"/>
              </a:rPr>
              <a:t>5</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73731" name="Rectangle 11"/>
          <p:cNvSpPr>
            <a:spLocks noGrp="1"/>
          </p:cNvSpPr>
          <p:nvPr>
            <p:ph idx="1"/>
          </p:nvPr>
        </p:nvSpPr>
        <p:spPr>
          <a:xfrm>
            <a:off x="685800" y="1341438"/>
            <a:ext cx="7847013" cy="4953000"/>
          </a:xfrm>
        </p:spPr>
        <p:txBody>
          <a:bodyPr vert="horz" wrap="square" lIns="92075" tIns="46038" rIns="92075" bIns="46038" anchor="t" anchorCtr="0"/>
          <a:p>
            <a:r>
              <a:rPr lang="zh-CN" altLang="en-US" sz="2400" b="1" dirty="0">
                <a:latin typeface="宋体" panose="02010600030101010101" pitchFamily="2" charset="-122"/>
                <a:ea typeface="宋体" panose="02010600030101010101" pitchFamily="2" charset="-122"/>
              </a:rPr>
              <a:t>树的遍历</a:t>
            </a:r>
            <a:endParaRPr lang="zh-CN" altLang="en-US" sz="24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从根结点开始，按照某个顺序访问树的各个结点</a:t>
            </a:r>
            <a:endParaRPr lang="en-US" altLang="zh-CN"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深度优先 </a:t>
            </a:r>
            <a:r>
              <a:rPr lang="en-US" altLang="zh-CN" sz="2000" b="1" dirty="0">
                <a:latin typeface="宋体" panose="02010600030101010101" pitchFamily="2" charset="-122"/>
                <a:ea typeface="宋体" panose="02010600030101010101" pitchFamily="2" charset="-122"/>
              </a:rPr>
              <a:t>vs</a:t>
            </a:r>
            <a:r>
              <a:rPr lang="zh-CN" altLang="en-US" sz="2000" b="1" dirty="0">
                <a:latin typeface="宋体" panose="02010600030101010101" pitchFamily="2" charset="-122"/>
                <a:ea typeface="宋体" panose="02010600030101010101" pitchFamily="2" charset="-122"/>
              </a:rPr>
              <a:t> 广度优先</a:t>
            </a:r>
            <a:endParaRPr lang="en-US" altLang="zh-CN"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深度优先的先序 </a:t>
            </a:r>
            <a:r>
              <a:rPr lang="en-US" altLang="zh-CN" sz="2000" b="1" dirty="0">
                <a:latin typeface="宋体" panose="02010600030101010101" pitchFamily="2" charset="-122"/>
                <a:ea typeface="宋体" panose="02010600030101010101" pitchFamily="2" charset="-122"/>
              </a:rPr>
              <a:t>vs</a:t>
            </a:r>
            <a:r>
              <a:rPr lang="zh-CN" altLang="en-US" sz="2000" b="1" dirty="0">
                <a:latin typeface="宋体" panose="02010600030101010101" pitchFamily="2" charset="-122"/>
                <a:ea typeface="宋体" panose="02010600030101010101" pitchFamily="2" charset="-122"/>
              </a:rPr>
              <a:t> 后序</a:t>
            </a:r>
            <a:endParaRPr lang="en-US" altLang="zh-CN" sz="20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可以按照任意次序访问某结点的子结点</a:t>
            </a:r>
            <a:endParaRPr lang="en-US" altLang="zh-CN" sz="18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语法制导定义未指明属性计算的次序，因此只要保证计算某个属性</a:t>
            </a:r>
            <a:r>
              <a:rPr lang="en-US" altLang="zh-CN" sz="2000" b="1" dirty="0">
                <a:latin typeface="宋体" panose="02010600030101010101" pitchFamily="2" charset="-122"/>
                <a:ea typeface="宋体" panose="02010600030101010101" pitchFamily="2" charset="-122"/>
              </a:rPr>
              <a:t>a</a:t>
            </a:r>
            <a:r>
              <a:rPr lang="zh-CN" altLang="en-US" sz="2000" b="1" dirty="0">
                <a:latin typeface="宋体" panose="02010600030101010101" pitchFamily="2" charset="-122"/>
                <a:ea typeface="宋体" panose="02010600030101010101" pitchFamily="2" charset="-122"/>
              </a:rPr>
              <a:t>的值时，其所依赖的属性都已计算完成即可</a:t>
            </a:r>
            <a:endParaRPr lang="en-US" altLang="zh-CN" sz="2000" b="1"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对于需要与语法分析同时完成的属性计算的计算次序选择受到了一定的约束</a:t>
            </a:r>
            <a:endParaRPr lang="en-US" altLang="zh-CN" sz="2000" b="1"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程序处理的自然顺序是从前向后扫描程序</a:t>
            </a:r>
            <a:endParaRPr lang="en-US" altLang="zh-CN" sz="2000" b="1"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语法分析时对产生式的处理是从左到右的</a:t>
            </a:r>
            <a:endParaRPr lang="en-US" altLang="zh-CN" sz="2000" b="1"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对应到语法树，也是从左向右同一父结点的各个子结点</a:t>
            </a:r>
            <a:endParaRPr lang="en-US" altLang="zh-CN"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综合属性可以按照深度优先后序遍历的顺序计算</a:t>
            </a:r>
            <a:endParaRPr lang="en-US" altLang="zh-CN" sz="2000" b="1"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自底向上的翻译</a:t>
            </a:r>
            <a:endParaRPr lang="en-US" altLang="zh-CN" sz="20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语法制导翻译（</a:t>
            </a:r>
            <a:r>
              <a:rPr lang="en-US" altLang="zh-CN" dirty="0">
                <a:latin typeface="宋体" panose="02010600030101010101" pitchFamily="2" charset="-122"/>
                <a:ea typeface="宋体" panose="02010600030101010101" pitchFamily="2" charset="-122"/>
              </a:rPr>
              <a:t>6</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51203" name="Rectangle 11"/>
          <p:cNvSpPr>
            <a:spLocks noGrp="1" noChangeArrowheads="1"/>
          </p:cNvSpPr>
          <p:nvPr>
            <p:ph idx="1"/>
          </p:nvPr>
        </p:nvSpPr>
        <p:spPr>
          <a:xfrm>
            <a:off x="395288" y="1341438"/>
            <a:ext cx="8353425" cy="49530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翻译方案</a:t>
            </a:r>
            <a:endParaRPr kumimoji="0" lang="zh-CN" altLang="en-US"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定义：</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在文法产生式中附加一些程序片段来描述翻译结果的方法</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显式地给出了语义动作（即上述的程序片段）的计算次序</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如下例，语义动作的位置决定了其执行的时刻</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71600" marR="0" lvl="3"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rest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term</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print ′+′} </a:t>
            </a:r>
            <a:r>
              <a:rPr kumimoji="0" lang="en-US" altLang="zh-CN" sz="20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rest</a:t>
            </a:r>
            <a:r>
              <a:rPr kumimoji="0" lang="en-US" altLang="zh-CN" sz="20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1</a:t>
            </a:r>
            <a:endParaRPr kumimoji="0" lang="en-US" altLang="zh-CN" sz="2000" b="1"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上例对应的扩充了语义动作结点的语法树</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扩充的结点用虚线与父结点相连</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遍历树过程中，对这个结点的第一次访问时完成相应动作</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pic>
        <p:nvPicPr>
          <p:cNvPr id="75780" name="图片 1"/>
          <p:cNvPicPr>
            <a:picLocks noChangeAspect="1"/>
          </p:cNvPicPr>
          <p:nvPr/>
        </p:nvPicPr>
        <p:blipFill>
          <a:blip r:embed="rId1"/>
          <a:stretch>
            <a:fillRect/>
          </a:stretch>
        </p:blipFill>
        <p:spPr>
          <a:xfrm>
            <a:off x="1862138" y="5084763"/>
            <a:ext cx="5419725" cy="1397000"/>
          </a:xfrm>
          <a:prstGeom prst="rect">
            <a:avLst/>
          </a:prstGeom>
          <a:noFill/>
          <a:ln w="9525">
            <a:noFill/>
          </a:ln>
        </p:spPr>
      </p:pic>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语法制导翻译（</a:t>
            </a:r>
            <a:r>
              <a:rPr lang="en-US" altLang="zh-CN" dirty="0">
                <a:latin typeface="宋体" panose="02010600030101010101" pitchFamily="2" charset="-122"/>
                <a:ea typeface="宋体" panose="02010600030101010101" pitchFamily="2" charset="-122"/>
              </a:rPr>
              <a:t>7</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77827" name="Rectangle 11"/>
          <p:cNvSpPr>
            <a:spLocks noGrp="1"/>
          </p:cNvSpPr>
          <p:nvPr>
            <p:ph idx="1"/>
          </p:nvPr>
        </p:nvSpPr>
        <p:spPr>
          <a:xfrm>
            <a:off x="395288" y="1341438"/>
            <a:ext cx="8424862" cy="4953000"/>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翻译方案的例子（针对</a:t>
            </a:r>
            <a:r>
              <a:rPr lang="en-US" altLang="zh-CN" b="1" dirty="0">
                <a:latin typeface="宋体" panose="02010600030101010101" pitchFamily="2" charset="-122"/>
                <a:ea typeface="宋体" panose="02010600030101010101" pitchFamily="2" charset="-122"/>
              </a:rPr>
              <a:t>P34</a:t>
            </a:r>
            <a:r>
              <a:rPr lang="zh-CN" altLang="en-US" b="1" dirty="0">
                <a:latin typeface="宋体" panose="02010600030101010101" pitchFamily="2" charset="-122"/>
                <a:ea typeface="宋体" panose="02010600030101010101" pitchFamily="2" charset="-122"/>
              </a:rPr>
              <a:t>页的文法）</a:t>
            </a:r>
            <a:endParaRPr lang="zh-CN" altLang="en-US" b="1" dirty="0">
              <a:latin typeface="宋体" panose="02010600030101010101" pitchFamily="2" charset="-122"/>
              <a:ea typeface="宋体" panose="02010600030101010101" pitchFamily="2" charset="-122"/>
            </a:endParaRPr>
          </a:p>
          <a:p>
            <a:pPr lvl="1"/>
            <a:endParaRPr lang="en-US" altLang="zh-CN" b="1" dirty="0">
              <a:latin typeface="宋体" panose="02010600030101010101" pitchFamily="2" charset="-122"/>
              <a:ea typeface="宋体" panose="02010600030101010101" pitchFamily="2" charset="-122"/>
            </a:endParaRPr>
          </a:p>
          <a:p>
            <a:pPr lvl="1"/>
            <a:endParaRPr lang="en-US" altLang="zh-CN" b="1" dirty="0">
              <a:latin typeface="宋体" panose="02010600030101010101" pitchFamily="2" charset="-122"/>
              <a:ea typeface="宋体" panose="02010600030101010101" pitchFamily="2" charset="-122"/>
            </a:endParaRPr>
          </a:p>
          <a:p>
            <a:pPr lvl="1"/>
            <a:endParaRPr lang="en-US" altLang="zh-CN" b="1" dirty="0">
              <a:latin typeface="宋体" panose="02010600030101010101" pitchFamily="2" charset="-122"/>
              <a:ea typeface="宋体" panose="02010600030101010101" pitchFamily="2" charset="-122"/>
            </a:endParaRPr>
          </a:p>
          <a:p>
            <a:pPr lvl="1"/>
            <a:endParaRPr lang="en-US" altLang="zh-CN" b="1" dirty="0">
              <a:latin typeface="宋体" panose="02010600030101010101" pitchFamily="2" charset="-122"/>
              <a:ea typeface="宋体" panose="02010600030101010101" pitchFamily="2" charset="-122"/>
            </a:endParaRPr>
          </a:p>
          <a:p>
            <a:pPr lvl="1"/>
            <a:endParaRPr lang="en-US" altLang="zh-CN" b="1" dirty="0">
              <a:latin typeface="宋体" panose="02010600030101010101" pitchFamily="2" charset="-122"/>
              <a:ea typeface="宋体" panose="02010600030101010101" pitchFamily="2" charset="-122"/>
            </a:endParaRPr>
          </a:p>
          <a:p>
            <a:pPr lvl="1"/>
            <a:endParaRPr lang="en-US" altLang="zh-CN" b="1" dirty="0">
              <a:latin typeface="宋体" panose="02010600030101010101" pitchFamily="2" charset="-122"/>
              <a:ea typeface="宋体" panose="02010600030101010101" pitchFamily="2" charset="-122"/>
            </a:endParaRPr>
          </a:p>
          <a:p>
            <a:pPr lvl="1"/>
            <a:endParaRPr lang="en-US" altLang="zh-CN" b="1" dirty="0">
              <a:latin typeface="宋体" panose="02010600030101010101" pitchFamily="2" charset="-122"/>
              <a:ea typeface="宋体" panose="02010600030101010101" pitchFamily="2" charset="-122"/>
            </a:endParaRPr>
          </a:p>
          <a:p>
            <a:pPr lvl="1"/>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对树的深度优先遍历（兄弟节点按照从左向右处理），完成相关的语义动作，就可以得到翻译结果</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注意与</a:t>
            </a:r>
            <a:r>
              <a:rPr lang="en-US" altLang="zh-CN" b="1" dirty="0">
                <a:latin typeface="宋体" panose="02010600030101010101" pitchFamily="2" charset="-122"/>
                <a:ea typeface="宋体" panose="02010600030101010101" pitchFamily="2" charset="-122"/>
              </a:rPr>
              <a:t>P34</a:t>
            </a:r>
            <a:r>
              <a:rPr lang="zh-CN" altLang="en-US" b="1" dirty="0">
                <a:latin typeface="宋体" panose="02010600030101010101" pitchFamily="2" charset="-122"/>
                <a:ea typeface="宋体" panose="02010600030101010101" pitchFamily="2" charset="-122"/>
              </a:rPr>
              <a:t>页方法的不同</a:t>
            </a:r>
            <a:endParaRPr lang="en-US" altLang="zh-CN" b="1" dirty="0">
              <a:latin typeface="宋体" panose="02010600030101010101" pitchFamily="2" charset="-122"/>
              <a:ea typeface="宋体" panose="02010600030101010101" pitchFamily="2" charset="-122"/>
            </a:endParaRPr>
          </a:p>
          <a:p>
            <a:pPr lvl="1"/>
            <a:endParaRPr lang="en-US" altLang="zh-CN" b="1" dirty="0">
              <a:latin typeface="宋体" panose="02010600030101010101" pitchFamily="2" charset="-122"/>
              <a:ea typeface="宋体" panose="02010600030101010101" pitchFamily="2" charset="-122"/>
            </a:endParaRPr>
          </a:p>
        </p:txBody>
      </p:sp>
      <p:pic>
        <p:nvPicPr>
          <p:cNvPr id="77828" name="图片 1"/>
          <p:cNvPicPr>
            <a:picLocks noChangeAspect="1"/>
          </p:cNvPicPr>
          <p:nvPr/>
        </p:nvPicPr>
        <p:blipFill>
          <a:blip r:embed="rId1"/>
          <a:stretch>
            <a:fillRect/>
          </a:stretch>
        </p:blipFill>
        <p:spPr>
          <a:xfrm>
            <a:off x="395288" y="1844675"/>
            <a:ext cx="8532812" cy="3562350"/>
          </a:xfrm>
          <a:prstGeom prst="rect">
            <a:avLst/>
          </a:prstGeom>
          <a:noFill/>
          <a:ln w="9525">
            <a:noFill/>
          </a:ln>
        </p:spPr>
      </p:pic>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语法分析（</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79875" name="Rectangle 11"/>
          <p:cNvSpPr>
            <a:spLocks noGrp="1"/>
          </p:cNvSpPr>
          <p:nvPr>
            <p:ph idx="1"/>
          </p:nvPr>
        </p:nvSpPr>
        <p:spPr>
          <a:xfrm>
            <a:off x="685800" y="1341438"/>
            <a:ext cx="7847013" cy="4953000"/>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语法分析是决定如何使用一个文法生成一个终结符号串的过程</a:t>
            </a:r>
            <a:endParaRPr lang="zh-CN" altLang="en-US"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对于程序设计，这个符号串就可以理解为程序</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这个过程可以想象成为语法分析树的构建过程</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分类</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自顶向下（</a:t>
            </a:r>
            <a:r>
              <a:rPr lang="en-US" altLang="zh-CN" b="1" dirty="0">
                <a:latin typeface="宋体" panose="02010600030101010101" pitchFamily="2" charset="-122"/>
                <a:ea typeface="宋体" panose="02010600030101010101" pitchFamily="2" charset="-122"/>
              </a:rPr>
              <a:t>top-down</a:t>
            </a:r>
            <a:r>
              <a:rPr lang="zh-CN" altLang="en-US" b="1" dirty="0">
                <a:latin typeface="宋体" panose="02010600030101010101" pitchFamily="2" charset="-122"/>
                <a:ea typeface="宋体" panose="02010600030101010101" pitchFamily="2" charset="-122"/>
              </a:rPr>
              <a:t>，自上而下）</a:t>
            </a:r>
            <a:endParaRPr lang="en-US" altLang="zh-CN" b="1" dirty="0">
              <a:latin typeface="宋体" panose="02010600030101010101" pitchFamily="2" charset="-122"/>
              <a:ea typeface="宋体" panose="02010600030101010101" pitchFamily="2" charset="-122"/>
            </a:endParaRPr>
          </a:p>
          <a:p>
            <a:pPr lvl="3"/>
            <a:r>
              <a:rPr lang="zh-CN" altLang="en-US" b="1" dirty="0">
                <a:latin typeface="宋体" panose="02010600030101010101" pitchFamily="2" charset="-122"/>
                <a:ea typeface="宋体" panose="02010600030101010101" pitchFamily="2" charset="-122"/>
              </a:rPr>
              <a:t>由根开始构造语法树</a:t>
            </a:r>
            <a:endParaRPr lang="en-US" altLang="zh-CN" b="1" dirty="0">
              <a:latin typeface="宋体" panose="02010600030101010101" pitchFamily="2" charset="-122"/>
              <a:ea typeface="宋体" panose="02010600030101010101" pitchFamily="2" charset="-122"/>
            </a:endParaRPr>
          </a:p>
          <a:p>
            <a:pPr lvl="3"/>
            <a:r>
              <a:rPr lang="zh-CN" altLang="en-US" b="1" dirty="0">
                <a:latin typeface="宋体" panose="02010600030101010101" pitchFamily="2" charset="-122"/>
                <a:ea typeface="宋体" panose="02010600030101010101" pitchFamily="2" charset="-122"/>
              </a:rPr>
              <a:t>典型的方法：递归下降、</a:t>
            </a:r>
            <a:r>
              <a:rPr lang="en-US" altLang="zh-CN" b="1" dirty="0">
                <a:latin typeface="宋体" panose="02010600030101010101" pitchFamily="2" charset="-122"/>
                <a:ea typeface="宋体" panose="02010600030101010101" pitchFamily="2" charset="-122"/>
              </a:rPr>
              <a:t>LL</a:t>
            </a:r>
            <a:r>
              <a:rPr lang="zh-CN" altLang="en-US" b="1" dirty="0">
                <a:latin typeface="宋体" panose="02010600030101010101" pitchFamily="2" charset="-122"/>
                <a:ea typeface="宋体" panose="02010600030101010101" pitchFamily="2" charset="-122"/>
              </a:rPr>
              <a:t>分析等</a:t>
            </a:r>
            <a:endParaRPr lang="en-US" altLang="zh-CN" b="1" dirty="0">
              <a:latin typeface="宋体" panose="02010600030101010101" pitchFamily="2" charset="-122"/>
              <a:ea typeface="宋体" panose="02010600030101010101" pitchFamily="2" charset="-122"/>
            </a:endParaRPr>
          </a:p>
          <a:p>
            <a:pPr lvl="3"/>
            <a:r>
              <a:rPr lang="zh-CN" altLang="en-US" b="1" dirty="0">
                <a:latin typeface="宋体" panose="02010600030101010101" pitchFamily="2" charset="-122"/>
                <a:ea typeface="宋体" panose="02010600030101010101" pitchFamily="2" charset="-122"/>
              </a:rPr>
              <a:t>构造简单，但要避免回溯、消除左递归、左因子等</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自底向上（</a:t>
            </a:r>
            <a:r>
              <a:rPr lang="en-US" altLang="zh-CN" b="1" dirty="0">
                <a:latin typeface="宋体" panose="02010600030101010101" pitchFamily="2" charset="-122"/>
                <a:ea typeface="宋体" panose="02010600030101010101" pitchFamily="2" charset="-122"/>
              </a:rPr>
              <a:t>bottom-up</a:t>
            </a:r>
            <a:r>
              <a:rPr lang="zh-CN" altLang="en-US" b="1" dirty="0">
                <a:latin typeface="宋体" panose="02010600030101010101" pitchFamily="2" charset="-122"/>
                <a:ea typeface="宋体" panose="02010600030101010101" pitchFamily="2" charset="-122"/>
              </a:rPr>
              <a:t>，自下而上）</a:t>
            </a:r>
            <a:endParaRPr lang="en-US" altLang="zh-CN" b="1" dirty="0">
              <a:latin typeface="宋体" panose="02010600030101010101" pitchFamily="2" charset="-122"/>
              <a:ea typeface="宋体" panose="02010600030101010101" pitchFamily="2" charset="-122"/>
            </a:endParaRPr>
          </a:p>
          <a:p>
            <a:pPr lvl="3"/>
            <a:r>
              <a:rPr lang="zh-CN" altLang="en-US" b="1" dirty="0">
                <a:latin typeface="宋体" panose="02010600030101010101" pitchFamily="2" charset="-122"/>
                <a:ea typeface="宋体" panose="02010600030101010101" pitchFamily="2" charset="-122"/>
              </a:rPr>
              <a:t>由叶结点开始构造树，最终到树根</a:t>
            </a:r>
            <a:endParaRPr lang="en-US" altLang="zh-CN" b="1" dirty="0">
              <a:latin typeface="宋体" panose="02010600030101010101" pitchFamily="2" charset="-122"/>
              <a:ea typeface="宋体" panose="02010600030101010101" pitchFamily="2" charset="-122"/>
            </a:endParaRPr>
          </a:p>
          <a:p>
            <a:pPr lvl="3"/>
            <a:r>
              <a:rPr lang="zh-CN" altLang="en-US" b="1" dirty="0">
                <a:latin typeface="宋体" panose="02010600030101010101" pitchFamily="2" charset="-122"/>
                <a:ea typeface="宋体" panose="02010600030101010101" pitchFamily="2" charset="-122"/>
              </a:rPr>
              <a:t>典型的方法：算符优先、</a:t>
            </a:r>
            <a:r>
              <a:rPr lang="en-US" altLang="zh-CN" b="1" dirty="0">
                <a:latin typeface="宋体" panose="02010600030101010101" pitchFamily="2" charset="-122"/>
                <a:ea typeface="宋体" panose="02010600030101010101" pitchFamily="2" charset="-122"/>
              </a:rPr>
              <a:t>LR</a:t>
            </a:r>
            <a:r>
              <a:rPr lang="zh-CN" altLang="en-US" b="1" dirty="0">
                <a:latin typeface="宋体" panose="02010600030101010101" pitchFamily="2" charset="-122"/>
                <a:ea typeface="宋体" panose="02010600030101010101" pitchFamily="2" charset="-122"/>
              </a:rPr>
              <a:t>分析等</a:t>
            </a:r>
            <a:endParaRPr lang="en-US" altLang="zh-CN" b="1" dirty="0">
              <a:latin typeface="宋体" panose="02010600030101010101" pitchFamily="2" charset="-122"/>
              <a:ea typeface="宋体" panose="02010600030101010101" pitchFamily="2" charset="-122"/>
            </a:endParaRPr>
          </a:p>
          <a:p>
            <a:pPr lvl="3"/>
            <a:r>
              <a:rPr lang="en-US" altLang="zh-CN" b="1" dirty="0">
                <a:latin typeface="宋体" panose="02010600030101010101" pitchFamily="2" charset="-122"/>
                <a:ea typeface="宋体" panose="02010600030101010101" pitchFamily="2" charset="-122"/>
              </a:rPr>
              <a:t>LR</a:t>
            </a:r>
            <a:r>
              <a:rPr lang="zh-CN" altLang="en-US" b="1" dirty="0">
                <a:latin typeface="宋体" panose="02010600030101010101" pitchFamily="2" charset="-122"/>
                <a:ea typeface="宋体" panose="02010600030101010101" pitchFamily="2" charset="-122"/>
              </a:rPr>
              <a:t>分析能力很强，可以分析更多的文法</a:t>
            </a:r>
            <a:endParaRPr lang="en-US" altLang="zh-CN" b="1" dirty="0">
              <a:latin typeface="宋体" panose="02010600030101010101" pitchFamily="2" charset="-122"/>
              <a:ea typeface="宋体" panose="02010600030101010101" pitchFamily="2" charset="-122"/>
            </a:endParaRPr>
          </a:p>
          <a:p>
            <a:pPr lvl="2"/>
            <a:endParaRPr lang="en-US" altLang="zh-CN"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语法分析（</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81923" name="Rectangle 11"/>
          <p:cNvSpPr>
            <a:spLocks noGrp="1"/>
          </p:cNvSpPr>
          <p:nvPr>
            <p:ph idx="1"/>
          </p:nvPr>
        </p:nvSpPr>
        <p:spPr>
          <a:xfrm>
            <a:off x="685800" y="1341438"/>
            <a:ext cx="7847013" cy="4953000"/>
          </a:xfrm>
        </p:spPr>
        <p:txBody>
          <a:bodyPr vert="horz" wrap="square" lIns="92075" tIns="46038" rIns="92075" bIns="46038" anchor="t" anchorCtr="0"/>
          <a:p>
            <a:r>
              <a:rPr lang="zh-CN" altLang="en-US" sz="2800" b="1" dirty="0">
                <a:latin typeface="宋体" panose="02010600030101010101" pitchFamily="2" charset="-122"/>
                <a:ea typeface="宋体" panose="02010600030101010101" pitchFamily="2" charset="-122"/>
              </a:rPr>
              <a:t>自顶向下的分析</a:t>
            </a:r>
            <a:endParaRPr lang="en-US" altLang="zh-CN" sz="2800"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不是所有的文法都适合采用自顶向下的方法</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分析流程</a:t>
            </a:r>
            <a:endParaRPr lang="en-US" altLang="zh-CN" b="1" dirty="0">
              <a:latin typeface="宋体" panose="02010600030101010101" pitchFamily="2" charset="-122"/>
              <a:ea typeface="宋体" panose="02010600030101010101" pitchFamily="2" charset="-122"/>
            </a:endParaRPr>
          </a:p>
          <a:p>
            <a:pPr lvl="2"/>
            <a:r>
              <a:rPr lang="zh-CN" altLang="en-US" sz="2400" b="1" dirty="0">
                <a:latin typeface="宋体" panose="02010600030101010101" pitchFamily="2" charset="-122"/>
                <a:ea typeface="宋体" panose="02010600030101010101" pitchFamily="2" charset="-122"/>
              </a:rPr>
              <a:t>从文法的开始符号构建语法分析树，开始符号是树根</a:t>
            </a:r>
            <a:endParaRPr lang="en-US" altLang="zh-CN" sz="2400" b="1" dirty="0">
              <a:latin typeface="宋体" panose="02010600030101010101" pitchFamily="2" charset="-122"/>
              <a:ea typeface="宋体" panose="02010600030101010101" pitchFamily="2" charset="-122"/>
            </a:endParaRPr>
          </a:p>
          <a:p>
            <a:pPr lvl="2"/>
            <a:r>
              <a:rPr lang="zh-CN" altLang="en-US" sz="2400" b="1" dirty="0">
                <a:latin typeface="宋体" panose="02010600030101010101" pitchFamily="2" charset="-122"/>
                <a:ea typeface="宋体" panose="02010600030101010101" pitchFamily="2" charset="-122"/>
              </a:rPr>
              <a:t>根据当前的语法树结点的标识</a:t>
            </a:r>
            <a:r>
              <a:rPr lang="en-US" altLang="zh-CN" sz="2400" b="1" dirty="0">
                <a:latin typeface="宋体" panose="02010600030101010101" pitchFamily="2" charset="-122"/>
                <a:ea typeface="宋体" panose="02010600030101010101" pitchFamily="2" charset="-122"/>
              </a:rPr>
              <a:t>A</a:t>
            </a:r>
            <a:r>
              <a:rPr lang="zh-CN" altLang="en-US" sz="2400" b="1" dirty="0">
                <a:latin typeface="宋体" panose="02010600030101010101" pitchFamily="2" charset="-122"/>
                <a:ea typeface="宋体" panose="02010600030101010101" pitchFamily="2" charset="-122"/>
              </a:rPr>
              <a:t>，选择其对应的一个产生式，构建以当前的结点为根的子树</a:t>
            </a:r>
            <a:endParaRPr lang="en-US" altLang="zh-CN" sz="2400" b="1" dirty="0">
              <a:latin typeface="宋体" panose="02010600030101010101" pitchFamily="2" charset="-122"/>
              <a:ea typeface="宋体" panose="02010600030101010101" pitchFamily="2" charset="-122"/>
            </a:endParaRPr>
          </a:p>
          <a:p>
            <a:pPr lvl="3"/>
            <a:r>
              <a:rPr lang="en-US" altLang="zh-CN" b="1" dirty="0">
                <a:latin typeface="宋体" panose="02010600030101010101" pitchFamily="2" charset="-122"/>
                <a:ea typeface="宋体" panose="02010600030101010101" pitchFamily="2" charset="-122"/>
              </a:rPr>
              <a:t>A</a:t>
            </a:r>
            <a:r>
              <a:rPr lang="zh-CN" altLang="en-US" b="1" dirty="0">
                <a:latin typeface="宋体" panose="02010600030101010101" pitchFamily="2" charset="-122"/>
                <a:ea typeface="宋体" panose="02010600030101010101" pitchFamily="2" charset="-122"/>
              </a:rPr>
              <a:t>是非终结符，它可能出现在多个产生式的左部</a:t>
            </a:r>
            <a:endParaRPr lang="en-US" altLang="zh-CN" b="1" dirty="0">
              <a:latin typeface="宋体" panose="02010600030101010101" pitchFamily="2" charset="-122"/>
              <a:ea typeface="宋体" panose="02010600030101010101" pitchFamily="2" charset="-122"/>
            </a:endParaRPr>
          </a:p>
          <a:p>
            <a:pPr lvl="3"/>
            <a:r>
              <a:rPr lang="zh-CN" altLang="en-US" b="1" dirty="0">
                <a:latin typeface="宋体" panose="02010600030101010101" pitchFamily="2" charset="-122"/>
                <a:ea typeface="宋体" panose="02010600030101010101" pitchFamily="2" charset="-122"/>
              </a:rPr>
              <a:t>各个子结点（从左向右）对应了产生式右部的各个文法符号</a:t>
            </a:r>
            <a:endParaRPr lang="en-US" altLang="zh-CN" b="1" dirty="0">
              <a:latin typeface="宋体" panose="02010600030101010101" pitchFamily="2" charset="-122"/>
              <a:ea typeface="宋体" panose="02010600030101010101" pitchFamily="2" charset="-122"/>
            </a:endParaRPr>
          </a:p>
          <a:p>
            <a:pPr lvl="3"/>
            <a:r>
              <a:rPr lang="zh-CN" altLang="en-US" b="1" dirty="0">
                <a:latin typeface="宋体" panose="02010600030101010101" pitchFamily="2" charset="-122"/>
                <a:ea typeface="宋体" panose="02010600030101010101" pitchFamily="2" charset="-122"/>
              </a:rPr>
              <a:t>产生式的选择，通常要根据语法分析程序看到的第一个尚未处理的终结符有关</a:t>
            </a:r>
            <a:endParaRPr lang="en-US" altLang="zh-CN"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语法分析（</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pic>
        <p:nvPicPr>
          <p:cNvPr id="83971" name="Picture 2"/>
          <p:cNvPicPr>
            <a:picLocks noChangeAspect="1"/>
          </p:cNvPicPr>
          <p:nvPr/>
        </p:nvPicPr>
        <p:blipFill>
          <a:blip r:embed="rId1"/>
          <a:stretch>
            <a:fillRect/>
          </a:stretch>
        </p:blipFill>
        <p:spPr>
          <a:xfrm>
            <a:off x="947738" y="1557338"/>
            <a:ext cx="6707187" cy="5002212"/>
          </a:xfrm>
          <a:prstGeom prst="rect">
            <a:avLst/>
          </a:prstGeom>
          <a:noFill/>
          <a:ln w="9525">
            <a:noFill/>
          </a:ln>
        </p:spPr>
      </p:pic>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语法分析（</a:t>
            </a:r>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pic>
        <p:nvPicPr>
          <p:cNvPr id="86019" name="Picture 2"/>
          <p:cNvPicPr>
            <a:picLocks noChangeAspect="1"/>
          </p:cNvPicPr>
          <p:nvPr/>
        </p:nvPicPr>
        <p:blipFill>
          <a:blip r:embed="rId1"/>
          <a:stretch>
            <a:fillRect/>
          </a:stretch>
        </p:blipFill>
        <p:spPr>
          <a:xfrm>
            <a:off x="1219200" y="1371600"/>
            <a:ext cx="6523355" cy="5800090"/>
          </a:xfrm>
          <a:prstGeom prst="rect">
            <a:avLst/>
          </a:prstGeom>
          <a:noFill/>
          <a:ln w="9525">
            <a:noFill/>
          </a:ln>
        </p:spPr>
      </p:pic>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语法分析（</a:t>
            </a:r>
            <a:r>
              <a:rPr lang="en-US" altLang="zh-CN" dirty="0">
                <a:latin typeface="宋体" panose="02010600030101010101" pitchFamily="2" charset="-122"/>
                <a:ea typeface="宋体" panose="02010600030101010101" pitchFamily="2" charset="-122"/>
              </a:rPr>
              <a:t>5</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88067" name="Rectangle 11"/>
          <p:cNvSpPr>
            <a:spLocks noGrp="1"/>
          </p:cNvSpPr>
          <p:nvPr>
            <p:ph idx="1"/>
          </p:nvPr>
        </p:nvSpPr>
        <p:spPr>
          <a:xfrm>
            <a:off x="685800" y="1341438"/>
            <a:ext cx="7847013" cy="4953000"/>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预测分析法</a:t>
            </a:r>
            <a:endParaRPr lang="zh-CN" altLang="en-US"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递归下降分析</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使用一组递归过程</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文法的每个非终结符对应一个过程，完成对这个文法符号的分析工作</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过程的调用序列隐式的定义了对应输入串的语法树</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预测分析是递归下降的简单形式</a:t>
            </a:r>
            <a:endParaRPr lang="en-US" altLang="zh-CN" b="1" dirty="0">
              <a:latin typeface="宋体" panose="02010600030101010101" pitchFamily="2" charset="-122"/>
              <a:ea typeface="宋体" panose="02010600030101010101" pitchFamily="2" charset="-122"/>
            </a:endParaRPr>
          </a:p>
          <a:p>
            <a:pPr lvl="3"/>
            <a:r>
              <a:rPr lang="zh-CN" altLang="en-US" b="1" dirty="0">
                <a:latin typeface="宋体" panose="02010600030101010101" pitchFamily="2" charset="-122"/>
                <a:ea typeface="宋体" panose="02010600030101010101" pitchFamily="2" charset="-122"/>
              </a:rPr>
              <a:t>可以根据向前看的符号无二义地决定语法分析的过程</a:t>
            </a:r>
            <a:endParaRPr lang="en-US" altLang="zh-CN" b="1" dirty="0">
              <a:latin typeface="宋体" panose="02010600030101010101" pitchFamily="2" charset="-122"/>
              <a:ea typeface="宋体" panose="02010600030101010101" pitchFamily="2" charset="-122"/>
            </a:endParaRPr>
          </a:p>
          <a:p>
            <a:pPr lvl="3"/>
            <a:r>
              <a:rPr lang="zh-CN" altLang="en-US" b="1" dirty="0">
                <a:latin typeface="宋体" panose="02010600030101010101" pitchFamily="2" charset="-122"/>
                <a:ea typeface="宋体" panose="02010600030101010101" pitchFamily="2" charset="-122"/>
              </a:rPr>
              <a:t>图</a:t>
            </a:r>
            <a:r>
              <a:rPr lang="en-US" altLang="zh-CN" b="1" dirty="0">
                <a:latin typeface="宋体" panose="02010600030101010101" pitchFamily="2" charset="-122"/>
                <a:ea typeface="宋体" panose="02010600030101010101" pitchFamily="2" charset="-122"/>
              </a:rPr>
              <a:t>2.16</a:t>
            </a:r>
            <a:r>
              <a:rPr lang="zh-CN" altLang="en-US" b="1" dirty="0">
                <a:latin typeface="宋体" panose="02010600030101010101" pitchFamily="2" charset="-122"/>
                <a:ea typeface="宋体" panose="02010600030101010101" pitchFamily="2" charset="-122"/>
              </a:rPr>
              <a:t>中文法对应的预测分析的代码如下页所示</a:t>
            </a:r>
            <a:endParaRPr lang="en-US" altLang="zh-CN" b="1" dirty="0">
              <a:latin typeface="宋体" panose="02010600030101010101" pitchFamily="2" charset="-122"/>
              <a:ea typeface="宋体" panose="02010600030101010101" pitchFamily="2" charset="-122"/>
            </a:endParaRPr>
          </a:p>
          <a:p>
            <a:pPr lvl="4"/>
            <a:r>
              <a:rPr lang="zh-CN" altLang="en-US" b="1" dirty="0">
                <a:latin typeface="宋体" panose="02010600030101010101" pitchFamily="2" charset="-122"/>
                <a:ea typeface="宋体" panose="02010600030101010101" pitchFamily="2" charset="-122"/>
              </a:rPr>
              <a:t>每个非终结符对应一个过程：</a:t>
            </a:r>
            <a:r>
              <a:rPr lang="en-US" altLang="zh-CN" b="1" dirty="0">
                <a:latin typeface="宋体" panose="02010600030101010101" pitchFamily="2" charset="-122"/>
                <a:ea typeface="宋体" panose="02010600030101010101" pitchFamily="2" charset="-122"/>
              </a:rPr>
              <a:t>stmt</a:t>
            </a:r>
            <a:r>
              <a:rPr lang="zh-CN" altLang="en-US" b="1" dirty="0">
                <a:latin typeface="宋体" panose="02010600030101010101" pitchFamily="2" charset="-122"/>
                <a:ea typeface="宋体" panose="02010600030101010101" pitchFamily="2" charset="-122"/>
              </a:rPr>
              <a:t>和</a:t>
            </a:r>
            <a:r>
              <a:rPr lang="en-US" altLang="zh-CN" b="1" dirty="0">
                <a:latin typeface="宋体" panose="02010600030101010101" pitchFamily="2" charset="-122"/>
                <a:ea typeface="宋体" panose="02010600030101010101" pitchFamily="2" charset="-122"/>
              </a:rPr>
              <a:t>optexpr</a:t>
            </a:r>
            <a:endParaRPr lang="en-US" altLang="zh-CN" b="1" dirty="0">
              <a:latin typeface="宋体" panose="02010600030101010101" pitchFamily="2" charset="-122"/>
              <a:ea typeface="宋体" panose="02010600030101010101" pitchFamily="2" charset="-122"/>
            </a:endParaRPr>
          </a:p>
          <a:p>
            <a:pPr lvl="4"/>
            <a:r>
              <a:rPr lang="zh-CN" altLang="en-US" b="1" dirty="0">
                <a:latin typeface="宋体" panose="02010600030101010101" pitchFamily="2" charset="-122"/>
                <a:ea typeface="宋体" panose="02010600030101010101" pitchFamily="2" charset="-122"/>
              </a:rPr>
              <a:t>增加一个过程</a:t>
            </a:r>
            <a:r>
              <a:rPr lang="en-US" altLang="zh-CN" b="1" dirty="0">
                <a:latin typeface="宋体" panose="02010600030101010101" pitchFamily="2" charset="-122"/>
                <a:ea typeface="宋体" panose="02010600030101010101" pitchFamily="2" charset="-122"/>
              </a:rPr>
              <a:t>match</a:t>
            </a:r>
            <a:r>
              <a:rPr lang="zh-CN" altLang="en-US" b="1" dirty="0">
                <a:latin typeface="宋体" panose="02010600030101010101" pitchFamily="2" charset="-122"/>
                <a:ea typeface="宋体" panose="02010600030101010101" pitchFamily="2" charset="-122"/>
              </a:rPr>
              <a:t>，判别正在构建的语法树当前结点的终结符号是否与向前看的符号匹配，如果匹配，则推进向前看符号；如果不匹配，要报错</a:t>
            </a:r>
            <a:endParaRPr lang="en-US" altLang="zh-CN"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a:spLocks noGrp="1"/>
          </p:cNvSpPr>
          <p:nvPr>
            <p:ph type="title"/>
          </p:nvPr>
        </p:nvSpPr>
        <p:spPr>
          <a:xfrm>
            <a:off x="914400" y="-26987"/>
            <a:ext cx="7543800" cy="914400"/>
          </a:xfrm>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语法分析（</a:t>
            </a:r>
            <a:r>
              <a:rPr lang="en-US" altLang="zh-CN" dirty="0">
                <a:latin typeface="宋体" panose="02010600030101010101" pitchFamily="2" charset="-122"/>
                <a:ea typeface="宋体" panose="02010600030101010101" pitchFamily="2" charset="-122"/>
              </a:rPr>
              <a:t>6</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pic>
        <p:nvPicPr>
          <p:cNvPr id="90115" name="Picture 2"/>
          <p:cNvPicPr>
            <a:picLocks noChangeAspect="1"/>
          </p:cNvPicPr>
          <p:nvPr/>
        </p:nvPicPr>
        <p:blipFill>
          <a:blip r:embed="rId1"/>
          <a:stretch>
            <a:fillRect/>
          </a:stretch>
        </p:blipFill>
        <p:spPr>
          <a:xfrm>
            <a:off x="1447800" y="887413"/>
            <a:ext cx="6002338" cy="5741987"/>
          </a:xfrm>
          <a:prstGeom prst="rect">
            <a:avLst/>
          </a:prstGeom>
          <a:noFill/>
          <a:ln w="9525">
            <a:noFill/>
          </a:ln>
        </p:spPr>
      </p:pic>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语法分析（</a:t>
            </a:r>
            <a:r>
              <a:rPr lang="en-US" altLang="zh-CN" dirty="0">
                <a:latin typeface="宋体" panose="02010600030101010101" pitchFamily="2" charset="-122"/>
                <a:ea typeface="宋体" panose="02010600030101010101" pitchFamily="2" charset="-122"/>
              </a:rPr>
              <a:t>7</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92163" name="Rectangle 11"/>
          <p:cNvSpPr>
            <a:spLocks noGrp="1"/>
          </p:cNvSpPr>
          <p:nvPr>
            <p:ph idx="1"/>
          </p:nvPr>
        </p:nvSpPr>
        <p:spPr>
          <a:xfrm>
            <a:off x="539750" y="1341438"/>
            <a:ext cx="8280400" cy="4953000"/>
          </a:xfrm>
        </p:spPr>
        <p:txBody>
          <a:bodyPr vert="horz" wrap="square" lIns="92075" tIns="46038" rIns="92075" bIns="46038" anchor="t" anchorCtr="0"/>
          <a:p>
            <a:r>
              <a:rPr lang="zh-CN" altLang="en-US" sz="2400" b="1" dirty="0">
                <a:latin typeface="宋体" panose="02010600030101010101" pitchFamily="2" charset="-122"/>
                <a:ea typeface="宋体" panose="02010600030101010101" pitchFamily="2" charset="-122"/>
              </a:rPr>
              <a:t>预测分析对图</a:t>
            </a:r>
            <a:r>
              <a:rPr lang="en-US" altLang="zh-CN" sz="2400" b="1" dirty="0">
                <a:latin typeface="宋体" panose="02010600030101010101" pitchFamily="2" charset="-122"/>
                <a:ea typeface="宋体" panose="02010600030101010101" pitchFamily="2" charset="-122"/>
              </a:rPr>
              <a:t>2-18</a:t>
            </a:r>
            <a:r>
              <a:rPr lang="zh-CN" altLang="en-US" sz="2400" b="1" dirty="0">
                <a:latin typeface="宋体" panose="02010600030101010101" pitchFamily="2" charset="-122"/>
                <a:ea typeface="宋体" panose="02010600030101010101" pitchFamily="2" charset="-122"/>
              </a:rPr>
              <a:t>所示例子的分析过程</a:t>
            </a:r>
            <a:endParaRPr lang="en-US" altLang="zh-CN" sz="2400" b="1" dirty="0">
              <a:latin typeface="宋体" panose="02010600030101010101" pitchFamily="2" charset="-122"/>
              <a:ea typeface="宋体" panose="02010600030101010101" pitchFamily="2" charset="-122"/>
            </a:endParaRPr>
          </a:p>
          <a:p>
            <a:r>
              <a:rPr lang="zh-CN" altLang="en-US" sz="2400" b="1" dirty="0">
                <a:latin typeface="宋体" panose="02010600030101010101" pitchFamily="2" charset="-122"/>
                <a:ea typeface="宋体" panose="02010600030101010101" pitchFamily="2" charset="-122"/>
              </a:rPr>
              <a:t>如果一个非终结符作为多个产生式的左部</a:t>
            </a:r>
            <a:endParaRPr lang="en-US" altLang="zh-CN" sz="24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根据向前看的符号区分，以选择合适的产生式，避免回溯</a:t>
            </a:r>
            <a:endParaRPr lang="en-US" altLang="zh-CN"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对于文法符号串</a:t>
            </a:r>
            <a:r>
              <a:rPr lang="el-GR" altLang="zh-CN" sz="2000" b="1" dirty="0">
                <a:latin typeface="宋体" panose="02010600030101010101" pitchFamily="2" charset="-122"/>
                <a:ea typeface="宋体" panose="02010600030101010101" pitchFamily="2" charset="-122"/>
              </a:rPr>
              <a:t>α</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FIRST</a:t>
            </a:r>
            <a:r>
              <a:rPr lang="zh-CN" altLang="en-US" sz="2000" b="1" dirty="0">
                <a:latin typeface="宋体" panose="02010600030101010101" pitchFamily="2" charset="-122"/>
                <a:ea typeface="宋体" panose="02010600030101010101" pitchFamily="2" charset="-122"/>
              </a:rPr>
              <a:t>（</a:t>
            </a:r>
            <a:r>
              <a:rPr lang="el-GR" altLang="zh-CN" sz="2000" b="1" dirty="0">
                <a:latin typeface="宋体" panose="02010600030101010101" pitchFamily="2" charset="-122"/>
                <a:ea typeface="宋体" panose="02010600030101010101" pitchFamily="2" charset="-122"/>
              </a:rPr>
              <a:t>α</a:t>
            </a:r>
            <a:r>
              <a:rPr lang="zh-CN" altLang="en-US" sz="2000" b="1" dirty="0">
                <a:latin typeface="宋体" panose="02010600030101010101" pitchFamily="2" charset="-122"/>
                <a:ea typeface="宋体" panose="02010600030101010101" pitchFamily="2" charset="-122"/>
              </a:rPr>
              <a:t>）是由</a:t>
            </a:r>
            <a:r>
              <a:rPr lang="el-GR" altLang="zh-CN" sz="2000" b="1" dirty="0">
                <a:latin typeface="宋体" panose="02010600030101010101" pitchFamily="2" charset="-122"/>
                <a:ea typeface="宋体" panose="02010600030101010101" pitchFamily="2" charset="-122"/>
              </a:rPr>
              <a:t>α</a:t>
            </a:r>
            <a:r>
              <a:rPr lang="zh-CN" altLang="en-US" sz="2000" b="1" dirty="0">
                <a:latin typeface="宋体" panose="02010600030101010101" pitchFamily="2" charset="-122"/>
                <a:ea typeface="宋体" panose="02010600030101010101" pitchFamily="2" charset="-122"/>
              </a:rPr>
              <a:t>生成的符号串（可能是多个）中第一个终结符构成的集合</a:t>
            </a:r>
            <a:endParaRPr lang="en-US" altLang="zh-CN" sz="2000" b="1"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例子</a:t>
            </a:r>
            <a:endParaRPr lang="en-US" altLang="zh-CN" sz="2000" b="1" dirty="0">
              <a:latin typeface="宋体" panose="02010600030101010101" pitchFamily="2" charset="-122"/>
              <a:ea typeface="宋体" panose="02010600030101010101" pitchFamily="2" charset="-122"/>
            </a:endParaRPr>
          </a:p>
          <a:p>
            <a:pPr lvl="3"/>
            <a:r>
              <a:rPr lang="en-US" altLang="zh-CN" sz="1800" b="1" dirty="0">
                <a:latin typeface="宋体" panose="02010600030101010101" pitchFamily="2" charset="-122"/>
                <a:ea typeface="宋体" panose="02010600030101010101" pitchFamily="2" charset="-122"/>
              </a:rPr>
              <a:t>FIRST</a:t>
            </a:r>
            <a:r>
              <a:rPr lang="zh-CN" altLang="en-US" sz="1800" b="1" dirty="0">
                <a:latin typeface="宋体" panose="02010600030101010101" pitchFamily="2" charset="-122"/>
                <a:ea typeface="宋体" panose="02010600030101010101" pitchFamily="2" charset="-122"/>
              </a:rPr>
              <a:t>（</a:t>
            </a:r>
            <a:r>
              <a:rPr lang="en-US" altLang="zh-CN" sz="1800" b="1" dirty="0">
                <a:latin typeface="宋体" panose="02010600030101010101" pitchFamily="2" charset="-122"/>
                <a:ea typeface="宋体" panose="02010600030101010101" pitchFamily="2" charset="-122"/>
              </a:rPr>
              <a:t>stmt</a:t>
            </a:r>
            <a:r>
              <a:rPr lang="zh-CN" altLang="en-US" sz="1800" b="1" dirty="0">
                <a:latin typeface="宋体" panose="02010600030101010101" pitchFamily="2" charset="-122"/>
                <a:ea typeface="宋体" panose="02010600030101010101" pitchFamily="2" charset="-122"/>
              </a:rPr>
              <a:t>）</a:t>
            </a:r>
            <a:r>
              <a:rPr lang="en-US" altLang="zh-CN" sz="1800" b="1" dirty="0">
                <a:latin typeface="宋体" panose="02010600030101010101" pitchFamily="2" charset="-122"/>
                <a:ea typeface="宋体" panose="02010600030101010101" pitchFamily="2" charset="-122"/>
              </a:rPr>
              <a:t>={</a:t>
            </a:r>
            <a:r>
              <a:rPr lang="zh-CN" altLang="en-US" sz="1800" b="1"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expr , if , for , other }</a:t>
            </a:r>
            <a:endParaRPr lang="en-US" altLang="zh-CN" sz="1800" b="1" dirty="0">
              <a:latin typeface="宋体" panose="02010600030101010101" pitchFamily="2" charset="-122"/>
              <a:ea typeface="宋体" panose="02010600030101010101" pitchFamily="2" charset="-122"/>
            </a:endParaRPr>
          </a:p>
          <a:p>
            <a:pPr lvl="3"/>
            <a:r>
              <a:rPr lang="en-US" altLang="zh-CN" sz="1800" b="1" dirty="0">
                <a:latin typeface="宋体" panose="02010600030101010101" pitchFamily="2" charset="-122"/>
                <a:ea typeface="宋体" panose="02010600030101010101" pitchFamily="2" charset="-122"/>
              </a:rPr>
              <a:t>FIRST</a:t>
            </a:r>
            <a:r>
              <a:rPr lang="zh-CN" altLang="en-US" sz="1800" b="1" dirty="0">
                <a:latin typeface="宋体" panose="02010600030101010101" pitchFamily="2" charset="-122"/>
                <a:ea typeface="宋体" panose="02010600030101010101" pitchFamily="2" charset="-122"/>
              </a:rPr>
              <a:t>（</a:t>
            </a:r>
            <a:r>
              <a:rPr lang="en-US" altLang="zh-CN" sz="1800" b="1" dirty="0">
                <a:latin typeface="宋体" panose="02010600030101010101" pitchFamily="2" charset="-122"/>
                <a:ea typeface="宋体" panose="02010600030101010101" pitchFamily="2" charset="-122"/>
              </a:rPr>
              <a:t>optexpr</a:t>
            </a:r>
            <a:r>
              <a:rPr lang="zh-CN" altLang="en-US" sz="1800" b="1" dirty="0">
                <a:latin typeface="宋体" panose="02010600030101010101" pitchFamily="2" charset="-122"/>
                <a:ea typeface="宋体" panose="02010600030101010101" pitchFamily="2" charset="-122"/>
              </a:rPr>
              <a:t>）</a:t>
            </a:r>
            <a:r>
              <a:rPr lang="en-US" altLang="zh-CN" sz="1800" b="1" dirty="0">
                <a:latin typeface="宋体" panose="02010600030101010101" pitchFamily="2" charset="-122"/>
                <a:ea typeface="宋体" panose="02010600030101010101" pitchFamily="2" charset="-122"/>
              </a:rPr>
              <a:t>=</a:t>
            </a:r>
            <a:r>
              <a:rPr lang="zh-CN" altLang="en-US" sz="1800" b="1"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a:t>
            </a:r>
            <a:r>
              <a:rPr lang="zh-CN" altLang="en-US" sz="1800" b="1"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expr</a:t>
            </a:r>
            <a:r>
              <a:rPr lang="zh-CN" altLang="en-US" sz="1800" b="1"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 </a:t>
            </a:r>
            <a:r>
              <a:rPr lang="el-GR" altLang="zh-CN" sz="1800" b="1" dirty="0">
                <a:latin typeface="宋体" panose="02010600030101010101" pitchFamily="2" charset="-122"/>
                <a:ea typeface="宋体" panose="02010600030101010101" pitchFamily="2" charset="-122"/>
              </a:rPr>
              <a:t>ε</a:t>
            </a:r>
            <a:r>
              <a:rPr lang="en-US" altLang="zh-CN" sz="1800" b="1" dirty="0">
                <a:latin typeface="宋体" panose="02010600030101010101" pitchFamily="2" charset="-122"/>
                <a:ea typeface="宋体" panose="02010600030101010101" pitchFamily="2" charset="-122"/>
              </a:rPr>
              <a:t>}</a:t>
            </a:r>
            <a:endParaRPr lang="zh-CN" altLang="en-US" sz="1800" b="1"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如果</a:t>
            </a:r>
            <a:r>
              <a:rPr lang="en-US" altLang="zh-CN" sz="2000" b="1" dirty="0">
                <a:latin typeface="宋体" panose="02010600030101010101" pitchFamily="2" charset="-122"/>
                <a:ea typeface="宋体" panose="02010600030101010101" pitchFamily="2" charset="-122"/>
              </a:rPr>
              <a:t>A→</a:t>
            </a:r>
            <a:r>
              <a:rPr lang="el-GR" altLang="zh-CN" sz="2000" b="1" dirty="0">
                <a:latin typeface="宋体" panose="02010600030101010101" pitchFamily="2" charset="-122"/>
                <a:ea typeface="宋体" panose="02010600030101010101" pitchFamily="2" charset="-122"/>
              </a:rPr>
              <a:t>α</a:t>
            </a:r>
            <a:r>
              <a:rPr lang="zh-CN" altLang="en-US" sz="2000" b="1" dirty="0">
                <a:latin typeface="宋体" panose="02010600030101010101" pitchFamily="2" charset="-122"/>
                <a:ea typeface="宋体" panose="02010600030101010101" pitchFamily="2" charset="-122"/>
              </a:rPr>
              <a:t>和</a:t>
            </a:r>
            <a:r>
              <a:rPr lang="en-US" altLang="zh-CN" sz="2000" b="1" dirty="0">
                <a:latin typeface="宋体" panose="02010600030101010101" pitchFamily="2" charset="-122"/>
                <a:ea typeface="宋体" panose="02010600030101010101" pitchFamily="2" charset="-122"/>
              </a:rPr>
              <a:t>A→</a:t>
            </a:r>
            <a:r>
              <a:rPr lang="el-GR" altLang="zh-CN" sz="2000" b="1" dirty="0">
                <a:latin typeface="宋体" panose="02010600030101010101" pitchFamily="2" charset="-122"/>
                <a:ea typeface="宋体" panose="02010600030101010101" pitchFamily="2" charset="-122"/>
              </a:rPr>
              <a:t>β</a:t>
            </a:r>
            <a:r>
              <a:rPr lang="zh-CN" altLang="en-US" sz="2000" b="1" dirty="0">
                <a:latin typeface="宋体" panose="02010600030101010101" pitchFamily="2" charset="-122"/>
                <a:ea typeface="宋体" panose="02010600030101010101" pitchFamily="2" charset="-122"/>
              </a:rPr>
              <a:t>两个产生式对应的</a:t>
            </a:r>
            <a:r>
              <a:rPr lang="en-US" altLang="zh-CN" sz="2000" b="1" dirty="0">
                <a:latin typeface="宋体" panose="02010600030101010101" pitchFamily="2" charset="-122"/>
                <a:ea typeface="宋体" panose="02010600030101010101" pitchFamily="2" charset="-122"/>
              </a:rPr>
              <a:t>FIRST(</a:t>
            </a:r>
            <a:r>
              <a:rPr lang="el-GR" altLang="zh-CN" sz="2000" b="1" dirty="0">
                <a:latin typeface="宋体" panose="02010600030101010101" pitchFamily="2" charset="-122"/>
                <a:ea typeface="宋体" panose="02010600030101010101" pitchFamily="2" charset="-122"/>
              </a:rPr>
              <a:t>α</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和</a:t>
            </a:r>
            <a:r>
              <a:rPr lang="en-US" altLang="zh-CN" sz="2000" b="1" dirty="0">
                <a:latin typeface="宋体" panose="02010600030101010101" pitchFamily="2" charset="-122"/>
                <a:ea typeface="宋体" panose="02010600030101010101" pitchFamily="2" charset="-122"/>
              </a:rPr>
              <a:t>FIRST(</a:t>
            </a:r>
            <a:r>
              <a:rPr lang="el-GR" altLang="zh-CN" sz="2000" b="1" dirty="0">
                <a:latin typeface="宋体" panose="02010600030101010101" pitchFamily="2" charset="-122"/>
                <a:ea typeface="宋体" panose="02010600030101010101" pitchFamily="2" charset="-122"/>
              </a:rPr>
              <a:t>β</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交集为空，则可以根据向前看的符号决定采用哪个产生式</a:t>
            </a:r>
            <a:endParaRPr lang="en-US" altLang="zh-CN"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何时采用</a:t>
            </a:r>
            <a:r>
              <a:rPr lang="el-GR" altLang="zh-CN" sz="2000" b="1" dirty="0">
                <a:latin typeface="宋体" panose="02010600030101010101" pitchFamily="2" charset="-122"/>
                <a:ea typeface="宋体" panose="02010600030101010101" pitchFamily="2" charset="-122"/>
              </a:rPr>
              <a:t>ε</a:t>
            </a:r>
            <a:r>
              <a:rPr lang="zh-CN" altLang="en-US" sz="2000" b="1" dirty="0">
                <a:latin typeface="宋体" panose="02010600030101010101" pitchFamily="2" charset="-122"/>
                <a:ea typeface="宋体" panose="02010600030101010101" pitchFamily="2" charset="-122"/>
              </a:rPr>
              <a:t>产生式</a:t>
            </a:r>
            <a:endParaRPr lang="en-US" altLang="zh-CN" sz="20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对于</a:t>
            </a:r>
            <a:r>
              <a:rPr lang="en-US" altLang="zh-CN" sz="1800" i="1" dirty="0">
                <a:latin typeface="宋体" panose="02010600030101010101" pitchFamily="2" charset="-122"/>
                <a:ea typeface="宋体" panose="02010600030101010101" pitchFamily="2" charset="-122"/>
              </a:rPr>
              <a:t>optexpr</a:t>
            </a:r>
            <a:r>
              <a:rPr lang="zh-CN" altLang="en-US" sz="1800" b="1" dirty="0">
                <a:latin typeface="宋体" panose="02010600030101010101" pitchFamily="2" charset="-122"/>
                <a:ea typeface="宋体" panose="02010600030101010101" pitchFamily="2" charset="-122"/>
              </a:rPr>
              <a:t>的产生式，从图</a:t>
            </a:r>
            <a:r>
              <a:rPr lang="en-US" altLang="zh-CN" sz="1800" b="1" dirty="0">
                <a:latin typeface="宋体" panose="02010600030101010101" pitchFamily="2" charset="-122"/>
                <a:ea typeface="宋体" panose="02010600030101010101" pitchFamily="2" charset="-122"/>
              </a:rPr>
              <a:t>2-19</a:t>
            </a:r>
            <a:r>
              <a:rPr lang="zh-CN" altLang="en-US" sz="1800" b="1" dirty="0">
                <a:latin typeface="宋体" panose="02010600030101010101" pitchFamily="2" charset="-122"/>
                <a:ea typeface="宋体" panose="02010600030101010101" pitchFamily="2" charset="-122"/>
              </a:rPr>
              <a:t>的</a:t>
            </a:r>
            <a:r>
              <a:rPr lang="en-US" altLang="zh-CN" sz="1800" i="1" dirty="0">
                <a:latin typeface="宋体" panose="02010600030101010101" pitchFamily="2" charset="-122"/>
                <a:ea typeface="宋体" panose="02010600030101010101" pitchFamily="2" charset="-122"/>
              </a:rPr>
              <a:t>optexpr</a:t>
            </a:r>
            <a:r>
              <a:rPr lang="zh-CN" altLang="en-US" sz="1800" b="1" dirty="0">
                <a:latin typeface="宋体" panose="02010600030101010101" pitchFamily="2" charset="-122"/>
                <a:ea typeface="宋体" panose="02010600030101010101" pitchFamily="2" charset="-122"/>
              </a:rPr>
              <a:t>过程看，</a:t>
            </a:r>
            <a:r>
              <a:rPr lang="en-US" altLang="zh-CN" sz="1800" i="1" dirty="0">
                <a:latin typeface="宋体" panose="02010600030101010101" pitchFamily="2" charset="-122"/>
                <a:ea typeface="宋体" panose="02010600030101010101" pitchFamily="2" charset="-122"/>
              </a:rPr>
              <a:t>optexpr </a:t>
            </a:r>
            <a:r>
              <a:rPr lang="en-US" altLang="zh-CN" sz="1800" b="1" dirty="0">
                <a:latin typeface="宋体" panose="02010600030101010101" pitchFamily="2" charset="-122"/>
                <a:ea typeface="宋体" panose="02010600030101010101" pitchFamily="2" charset="-122"/>
              </a:rPr>
              <a:t>→</a:t>
            </a:r>
            <a:r>
              <a:rPr lang="el-GR" altLang="zh-CN" sz="1800" b="1" dirty="0">
                <a:latin typeface="宋体" panose="02010600030101010101" pitchFamily="2" charset="-122"/>
                <a:ea typeface="宋体" panose="02010600030101010101" pitchFamily="2" charset="-122"/>
              </a:rPr>
              <a:t>ε</a:t>
            </a:r>
            <a:r>
              <a:rPr lang="zh-CN" altLang="en-US" sz="1800" b="1" dirty="0">
                <a:latin typeface="宋体" panose="02010600030101010101" pitchFamily="2" charset="-122"/>
                <a:ea typeface="宋体" panose="02010600030101010101" pitchFamily="2" charset="-122"/>
              </a:rPr>
              <a:t>是默认选择，当匹配</a:t>
            </a:r>
            <a:r>
              <a:rPr lang="en-US" altLang="zh-CN" sz="1800" i="1" dirty="0">
                <a:latin typeface="宋体" panose="02010600030101010101" pitchFamily="2" charset="-122"/>
                <a:ea typeface="宋体" panose="02010600030101010101" pitchFamily="2" charset="-122"/>
              </a:rPr>
              <a:t>optexpr </a:t>
            </a:r>
            <a:r>
              <a:rPr lang="en-US" altLang="zh-CN" sz="1800" b="1" dirty="0">
                <a:latin typeface="宋体" panose="02010600030101010101" pitchFamily="2" charset="-122"/>
                <a:ea typeface="宋体" panose="02010600030101010101" pitchFamily="2" charset="-122"/>
              </a:rPr>
              <a:t>→</a:t>
            </a:r>
            <a:r>
              <a:rPr lang="zh-CN" altLang="en-US" sz="1800" b="1"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expr</a:t>
            </a:r>
            <a:r>
              <a:rPr lang="zh-CN" altLang="en-US" sz="1800" b="1" dirty="0">
                <a:latin typeface="宋体" panose="02010600030101010101" pitchFamily="2" charset="-122"/>
                <a:ea typeface="宋体" panose="02010600030101010101" pitchFamily="2" charset="-122"/>
              </a:rPr>
              <a:t>不成功时采用</a:t>
            </a:r>
            <a:endParaRPr lang="en-US" altLang="zh-CN" sz="18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如果</a:t>
            </a:r>
            <a:r>
              <a:rPr lang="en-US" altLang="zh-CN" sz="1800" i="1" dirty="0">
                <a:latin typeface="宋体" panose="02010600030101010101" pitchFamily="2" charset="-122"/>
                <a:ea typeface="宋体" panose="02010600030101010101" pitchFamily="2" charset="-122"/>
              </a:rPr>
              <a:t>expr</a:t>
            </a:r>
            <a:r>
              <a:rPr lang="zh-CN" altLang="en-US" sz="1800" b="1" dirty="0">
                <a:latin typeface="宋体" panose="02010600030101010101" pitchFamily="2" charset="-122"/>
                <a:ea typeface="宋体" panose="02010600030101010101" pitchFamily="2" charset="-122"/>
              </a:rPr>
              <a:t>是一个非终结符，如何处理？</a:t>
            </a:r>
            <a:endParaRPr lang="en-US" altLang="zh-CN" sz="18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看</a:t>
            </a:r>
            <a:r>
              <a:rPr lang="en-US" altLang="zh-CN" sz="1600" b="1" dirty="0">
                <a:latin typeface="宋体" panose="02010600030101010101" pitchFamily="2" charset="-122"/>
                <a:ea typeface="宋体" panose="02010600030101010101" pitchFamily="2" charset="-122"/>
              </a:rPr>
              <a:t>FIRST(</a:t>
            </a:r>
            <a:r>
              <a:rPr lang="en-US" altLang="zh-CN" sz="1600" i="1" dirty="0">
                <a:latin typeface="宋体" panose="02010600030101010101" pitchFamily="2" charset="-122"/>
                <a:ea typeface="宋体" panose="02010600030101010101" pitchFamily="2" charset="-122"/>
              </a:rPr>
              <a:t>expr</a:t>
            </a:r>
            <a:r>
              <a:rPr lang="en-US" altLang="zh-CN" sz="1600" b="1" dirty="0">
                <a:latin typeface="宋体" panose="02010600030101010101" pitchFamily="2" charset="-122"/>
                <a:ea typeface="宋体" panose="02010600030101010101" pitchFamily="2" charset="-122"/>
              </a:rPr>
              <a:t>)</a:t>
            </a:r>
            <a:endParaRPr lang="en-US" altLang="zh-CN" sz="16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语法分析（</a:t>
            </a:r>
            <a:r>
              <a:rPr lang="en-US" altLang="zh-CN" dirty="0">
                <a:latin typeface="宋体" panose="02010600030101010101" pitchFamily="2" charset="-122"/>
                <a:ea typeface="宋体" panose="02010600030101010101" pitchFamily="2" charset="-122"/>
              </a:rPr>
              <a:t>8</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94211" name="Rectangle 11"/>
          <p:cNvSpPr>
            <a:spLocks noGrp="1"/>
          </p:cNvSpPr>
          <p:nvPr>
            <p:ph idx="1"/>
          </p:nvPr>
        </p:nvSpPr>
        <p:spPr>
          <a:xfrm>
            <a:off x="685800" y="1341438"/>
            <a:ext cx="7989888" cy="4953000"/>
          </a:xfrm>
        </p:spPr>
        <p:txBody>
          <a:bodyPr vert="horz" wrap="square" lIns="92075" tIns="46038" rIns="92075" bIns="46038" anchor="t" anchorCtr="0"/>
          <a:p>
            <a:r>
              <a:rPr lang="zh-CN" altLang="en-US" sz="2000" b="1" dirty="0">
                <a:latin typeface="宋体" panose="02010600030101010101" pitchFamily="2" charset="-122"/>
                <a:ea typeface="宋体" panose="02010600030101010101" pitchFamily="2" charset="-122"/>
              </a:rPr>
              <a:t>设计一个预测分析器</a:t>
            </a:r>
            <a:endParaRPr lang="zh-CN" altLang="en-US" sz="2000" b="1" dirty="0">
              <a:latin typeface="宋体" panose="02010600030101010101" pitchFamily="2" charset="-122"/>
              <a:ea typeface="宋体" panose="02010600030101010101" pitchFamily="2" charset="-122"/>
            </a:endParaRPr>
          </a:p>
          <a:p>
            <a:pPr lvl="1"/>
            <a:r>
              <a:rPr lang="zh-CN" altLang="en-US" sz="1800" b="1" dirty="0">
                <a:latin typeface="宋体" panose="02010600030101010101" pitchFamily="2" charset="-122"/>
                <a:ea typeface="宋体" panose="02010600030101010101" pitchFamily="2" charset="-122"/>
              </a:rPr>
              <a:t>各个产生式右部的</a:t>
            </a:r>
            <a:r>
              <a:rPr lang="en-US" altLang="zh-CN" sz="1800" b="1" dirty="0">
                <a:latin typeface="宋体" panose="02010600030101010101" pitchFamily="2" charset="-122"/>
                <a:ea typeface="宋体" panose="02010600030101010101" pitchFamily="2" charset="-122"/>
              </a:rPr>
              <a:t>FIRST</a:t>
            </a:r>
            <a:r>
              <a:rPr lang="zh-CN" altLang="en-US" sz="1800" b="1" dirty="0">
                <a:latin typeface="宋体" panose="02010600030101010101" pitchFamily="2" charset="-122"/>
                <a:ea typeface="宋体" panose="02010600030101010101" pitchFamily="2" charset="-122"/>
              </a:rPr>
              <a:t>集合互不相交</a:t>
            </a:r>
            <a:endParaRPr lang="en-US" altLang="zh-CN" sz="1800" b="1" dirty="0">
              <a:latin typeface="宋体" panose="02010600030101010101" pitchFamily="2" charset="-122"/>
              <a:ea typeface="宋体" panose="02010600030101010101" pitchFamily="2" charset="-122"/>
            </a:endParaRPr>
          </a:p>
          <a:p>
            <a:pPr lvl="1"/>
            <a:r>
              <a:rPr lang="zh-CN" altLang="en-US" sz="1800" b="1" dirty="0">
                <a:latin typeface="宋体" panose="02010600030101010101" pitchFamily="2" charset="-122"/>
                <a:ea typeface="宋体" panose="02010600030101010101" pitchFamily="2" charset="-122"/>
              </a:rPr>
              <a:t>对于非终结符</a:t>
            </a:r>
            <a:r>
              <a:rPr lang="en-US" altLang="zh-CN" sz="1800" b="1" dirty="0">
                <a:latin typeface="宋体" panose="02010600030101010101" pitchFamily="2" charset="-122"/>
                <a:ea typeface="宋体" panose="02010600030101010101" pitchFamily="2" charset="-122"/>
              </a:rPr>
              <a:t>A</a:t>
            </a:r>
            <a:r>
              <a:rPr lang="zh-CN" altLang="en-US" sz="1800" b="1" dirty="0">
                <a:latin typeface="宋体" panose="02010600030101010101" pitchFamily="2" charset="-122"/>
                <a:ea typeface="宋体" panose="02010600030101010101" pitchFamily="2" charset="-122"/>
              </a:rPr>
              <a:t>的处理过程</a:t>
            </a:r>
            <a:endParaRPr lang="en-US" altLang="zh-CN" sz="18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检查向前看符号，决定使用</a:t>
            </a:r>
            <a:r>
              <a:rPr lang="en-US" altLang="zh-CN" sz="1800" b="1" dirty="0">
                <a:latin typeface="宋体" panose="02010600030101010101" pitchFamily="2" charset="-122"/>
                <a:ea typeface="宋体" panose="02010600030101010101" pitchFamily="2" charset="-122"/>
              </a:rPr>
              <a:t>A</a:t>
            </a:r>
            <a:r>
              <a:rPr lang="zh-CN" altLang="en-US" sz="1800" b="1" dirty="0">
                <a:latin typeface="宋体" panose="02010600030101010101" pitchFamily="2" charset="-122"/>
                <a:ea typeface="宋体" panose="02010600030101010101" pitchFamily="2" charset="-122"/>
              </a:rPr>
              <a:t>的哪个产生式</a:t>
            </a:r>
            <a:endParaRPr lang="en-US" altLang="zh-CN" sz="18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如果向前看的符号在某个产生式</a:t>
            </a:r>
            <a:r>
              <a:rPr lang="en-US" altLang="zh-CN" sz="1600" b="1" dirty="0">
                <a:latin typeface="宋体" panose="02010600030101010101" pitchFamily="2" charset="-122"/>
                <a:ea typeface="宋体" panose="02010600030101010101" pitchFamily="2" charset="-122"/>
              </a:rPr>
              <a:t>A→</a:t>
            </a:r>
            <a:r>
              <a:rPr lang="el-GR" altLang="zh-CN" sz="1600" b="1" dirty="0">
                <a:latin typeface="宋体" panose="02010600030101010101" pitchFamily="2" charset="-122"/>
                <a:ea typeface="宋体" panose="02010600030101010101" pitchFamily="2" charset="-122"/>
              </a:rPr>
              <a:t>α</a:t>
            </a:r>
            <a:r>
              <a:rPr lang="zh-CN" altLang="en-US" sz="1600" b="1" dirty="0">
                <a:latin typeface="宋体" panose="02010600030101010101" pitchFamily="2" charset="-122"/>
                <a:ea typeface="宋体" panose="02010600030101010101" pitchFamily="2" charset="-122"/>
              </a:rPr>
              <a:t>右部的</a:t>
            </a:r>
            <a:r>
              <a:rPr lang="en-US" altLang="zh-CN" sz="1600" b="1" dirty="0">
                <a:latin typeface="宋体" panose="02010600030101010101" pitchFamily="2" charset="-122"/>
                <a:ea typeface="宋体" panose="02010600030101010101" pitchFamily="2" charset="-122"/>
              </a:rPr>
              <a:t>FIRST(</a:t>
            </a:r>
            <a:r>
              <a:rPr lang="el-GR" altLang="zh-CN" sz="1600" b="1" dirty="0">
                <a:latin typeface="宋体" panose="02010600030101010101" pitchFamily="2" charset="-122"/>
                <a:ea typeface="宋体" panose="02010600030101010101" pitchFamily="2" charset="-122"/>
              </a:rPr>
              <a:t>α</a:t>
            </a:r>
            <a:r>
              <a:rPr lang="en-US" altLang="zh-CN" sz="1600" b="1" dirty="0">
                <a:latin typeface="宋体" panose="02010600030101010101" pitchFamily="2" charset="-122"/>
                <a:ea typeface="宋体" panose="02010600030101010101" pitchFamily="2" charset="-122"/>
              </a:rPr>
              <a:t>)</a:t>
            </a:r>
            <a:r>
              <a:rPr lang="zh-CN" altLang="en-US" sz="1600" b="1" dirty="0">
                <a:latin typeface="宋体" panose="02010600030101010101" pitchFamily="2" charset="-122"/>
                <a:ea typeface="宋体" panose="02010600030101010101" pitchFamily="2" charset="-122"/>
              </a:rPr>
              <a:t>中，采用这个产生式</a:t>
            </a:r>
            <a:endParaRPr lang="en-US" altLang="zh-CN" sz="16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如果有</a:t>
            </a:r>
            <a:r>
              <a:rPr lang="en-US" altLang="zh-CN" sz="1600" b="1" dirty="0">
                <a:latin typeface="宋体" panose="02010600030101010101" pitchFamily="2" charset="-122"/>
                <a:ea typeface="宋体" panose="02010600030101010101" pitchFamily="2" charset="-122"/>
              </a:rPr>
              <a:t>A→</a:t>
            </a:r>
            <a:r>
              <a:rPr lang="el-GR" altLang="zh-CN" sz="1600" b="1" dirty="0">
                <a:latin typeface="宋体" panose="02010600030101010101" pitchFamily="2" charset="-122"/>
                <a:ea typeface="宋体" panose="02010600030101010101" pitchFamily="2" charset="-122"/>
              </a:rPr>
              <a:t>ε</a:t>
            </a:r>
            <a:r>
              <a:rPr lang="zh-CN" altLang="en-US" sz="1600" b="1" dirty="0">
                <a:latin typeface="宋体" panose="02010600030101010101" pitchFamily="2" charset="-122"/>
                <a:ea typeface="宋体" panose="02010600030101010101" pitchFamily="2" charset="-122"/>
              </a:rPr>
              <a:t>产生式，则只有向前看的符号不在以</a:t>
            </a:r>
            <a:r>
              <a:rPr lang="en-US" altLang="zh-CN" sz="1600" b="1" dirty="0">
                <a:latin typeface="宋体" panose="02010600030101010101" pitchFamily="2" charset="-122"/>
                <a:ea typeface="宋体" panose="02010600030101010101" pitchFamily="2" charset="-122"/>
              </a:rPr>
              <a:t>A</a:t>
            </a:r>
            <a:r>
              <a:rPr lang="zh-CN" altLang="en-US" sz="1600" b="1" dirty="0">
                <a:latin typeface="宋体" panose="02010600030101010101" pitchFamily="2" charset="-122"/>
                <a:ea typeface="宋体" panose="02010600030101010101" pitchFamily="2" charset="-122"/>
              </a:rPr>
              <a:t>为左部的任何产生式的右部的</a:t>
            </a:r>
            <a:r>
              <a:rPr lang="en-US" altLang="zh-CN" sz="1600" b="1" dirty="0">
                <a:latin typeface="宋体" panose="02010600030101010101" pitchFamily="2" charset="-122"/>
                <a:ea typeface="宋体" panose="02010600030101010101" pitchFamily="2" charset="-122"/>
              </a:rPr>
              <a:t>FIRST</a:t>
            </a:r>
            <a:r>
              <a:rPr lang="zh-CN" altLang="en-US" sz="1600" b="1" dirty="0">
                <a:latin typeface="宋体" panose="02010600030101010101" pitchFamily="2" charset="-122"/>
                <a:ea typeface="宋体" panose="02010600030101010101" pitchFamily="2" charset="-122"/>
              </a:rPr>
              <a:t>集合中时，才采用</a:t>
            </a:r>
            <a:endParaRPr lang="en-US" altLang="zh-CN" sz="16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在过程中模拟被选中产生式的右部，即依次“执行”右部的每个文法符号</a:t>
            </a:r>
            <a:endParaRPr lang="en-US" altLang="zh-CN" sz="18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对于非终结符，就是调用对应的过程</a:t>
            </a:r>
            <a:endParaRPr lang="en-US" altLang="zh-CN" sz="16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对于终结符，就是与向前看符号匹配，然后读入下一个输入符号</a:t>
            </a:r>
            <a:endParaRPr lang="en-US" altLang="zh-CN" sz="16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无法继续处理时，报错</a:t>
            </a:r>
            <a:endParaRPr lang="en-US" altLang="zh-CN" sz="18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找不到合适的产生式</a:t>
            </a:r>
            <a:endParaRPr lang="en-US" altLang="zh-CN" sz="16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当前结点的终结符与向前看符号不匹配</a:t>
            </a:r>
            <a:endParaRPr lang="en-US" altLang="zh-CN" sz="16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可以在预测分析中加入相关的语义动作，得到一个翻译器</a:t>
            </a:r>
            <a:endParaRPr lang="en-US" altLang="zh-CN" sz="2000" b="1" dirty="0">
              <a:latin typeface="宋体" panose="02010600030101010101" pitchFamily="2" charset="-122"/>
              <a:ea typeface="宋体" panose="02010600030101010101" pitchFamily="2" charset="-122"/>
            </a:endParaRPr>
          </a:p>
          <a:p>
            <a:pPr lvl="2"/>
            <a:endParaRPr lang="en-US" altLang="zh-CN"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语法分析（</a:t>
            </a:r>
            <a:r>
              <a:rPr lang="en-US" altLang="zh-CN" dirty="0">
                <a:latin typeface="宋体" panose="02010600030101010101" pitchFamily="2" charset="-122"/>
                <a:ea typeface="宋体" panose="02010600030101010101" pitchFamily="2" charset="-122"/>
              </a:rPr>
              <a:t>9</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96259" name="Rectangle 11"/>
          <p:cNvSpPr>
            <a:spLocks noGrp="1"/>
          </p:cNvSpPr>
          <p:nvPr>
            <p:ph idx="1"/>
          </p:nvPr>
        </p:nvSpPr>
        <p:spPr>
          <a:xfrm>
            <a:off x="685800" y="1341438"/>
            <a:ext cx="7847013" cy="4953000"/>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左递归</a:t>
            </a:r>
            <a:endParaRPr lang="zh-CN" altLang="en-US"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考虑如下产生式处理过程，会陷入无限循环</a:t>
            </a:r>
            <a:endParaRPr lang="en-US" altLang="zh-CN" b="1" dirty="0">
              <a:latin typeface="宋体" panose="02010600030101010101" pitchFamily="2" charset="-122"/>
              <a:ea typeface="宋体" panose="02010600030101010101" pitchFamily="2" charset="-122"/>
            </a:endParaRPr>
          </a:p>
          <a:p>
            <a:pPr marL="914400" lvl="2" indent="0">
              <a:buNone/>
            </a:pPr>
            <a:r>
              <a:rPr lang="en-US" altLang="zh-CN" i="1" dirty="0">
                <a:latin typeface="宋体" panose="02010600030101010101" pitchFamily="2" charset="-122"/>
                <a:ea typeface="宋体" panose="02010600030101010101" pitchFamily="2" charset="-122"/>
              </a:rPr>
              <a:t>expr</a:t>
            </a: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 </a:t>
            </a:r>
            <a:r>
              <a:rPr lang="en-US" altLang="zh-CN" sz="2400" i="1" dirty="0">
                <a:latin typeface="宋体" panose="02010600030101010101" pitchFamily="2" charset="-122"/>
                <a:ea typeface="宋体" panose="02010600030101010101" pitchFamily="2" charset="-122"/>
              </a:rPr>
              <a:t>expr</a:t>
            </a:r>
            <a:r>
              <a:rPr lang="en-US" altLang="zh-CN" sz="2400" b="1" dirty="0">
                <a:latin typeface="宋体" panose="02010600030101010101" pitchFamily="2" charset="-122"/>
                <a:ea typeface="宋体" panose="02010600030101010101" pitchFamily="2" charset="-122"/>
              </a:rPr>
              <a:t> + </a:t>
            </a:r>
            <a:r>
              <a:rPr lang="en-US" altLang="zh-CN" sz="2400" i="1" dirty="0">
                <a:latin typeface="宋体" panose="02010600030101010101" pitchFamily="2" charset="-122"/>
                <a:ea typeface="宋体" panose="02010600030101010101" pitchFamily="2" charset="-122"/>
              </a:rPr>
              <a:t>term</a:t>
            </a:r>
            <a:endParaRPr lang="en-US" altLang="zh-CN" sz="2400" i="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消除左递归的方法：变为右递归</a:t>
            </a:r>
            <a:endParaRPr lang="en-US" altLang="zh-CN" b="1" dirty="0">
              <a:latin typeface="宋体" panose="02010600030101010101" pitchFamily="2" charset="-122"/>
              <a:ea typeface="宋体" panose="02010600030101010101" pitchFamily="2" charset="-122"/>
            </a:endParaRPr>
          </a:p>
          <a:p>
            <a:pPr marL="914400" lvl="2" indent="0">
              <a:buNone/>
            </a:pPr>
            <a:r>
              <a:rPr lang="en-US" altLang="zh-CN" i="1" dirty="0">
                <a:latin typeface="宋体" panose="02010600030101010101" pitchFamily="2" charset="-122"/>
                <a:ea typeface="宋体" panose="02010600030101010101" pitchFamily="2" charset="-122"/>
              </a:rPr>
              <a:t>expr</a:t>
            </a:r>
            <a:r>
              <a:rPr lang="en-US" altLang="zh-CN" sz="2000" b="1" dirty="0">
                <a:latin typeface="宋体" panose="02010600030101010101" pitchFamily="2" charset="-122"/>
                <a:ea typeface="宋体" panose="02010600030101010101" pitchFamily="2" charset="-122"/>
              </a:rPr>
              <a:t> →</a:t>
            </a:r>
            <a:r>
              <a:rPr lang="zh-CN" altLang="en-US" sz="2000" b="1" dirty="0">
                <a:latin typeface="宋体" panose="02010600030101010101" pitchFamily="2" charset="-122"/>
                <a:ea typeface="宋体" panose="02010600030101010101" pitchFamily="2" charset="-122"/>
              </a:rPr>
              <a:t> </a:t>
            </a:r>
            <a:r>
              <a:rPr lang="en-US" altLang="zh-CN" sz="2000" i="1" dirty="0">
                <a:latin typeface="宋体" panose="02010600030101010101" pitchFamily="2" charset="-122"/>
                <a:ea typeface="宋体" panose="02010600030101010101" pitchFamily="2" charset="-122"/>
              </a:rPr>
              <a:t>term</a:t>
            </a:r>
            <a:r>
              <a:rPr lang="zh-CN" altLang="en-US" sz="2000" i="1" dirty="0">
                <a:latin typeface="宋体" panose="02010600030101010101" pitchFamily="2" charset="-122"/>
                <a:ea typeface="宋体" panose="02010600030101010101" pitchFamily="2" charset="-122"/>
              </a:rPr>
              <a:t> </a:t>
            </a:r>
            <a:r>
              <a:rPr lang="en-US" altLang="zh-CN" sz="2000" i="1" dirty="0">
                <a:latin typeface="宋体" panose="02010600030101010101" pitchFamily="2" charset="-122"/>
                <a:ea typeface="宋体" panose="02010600030101010101" pitchFamily="2" charset="-122"/>
              </a:rPr>
              <a:t>rest</a:t>
            </a:r>
            <a:endParaRPr lang="en-US" altLang="zh-CN" sz="2000" i="1" dirty="0">
              <a:latin typeface="宋体" panose="02010600030101010101" pitchFamily="2" charset="-122"/>
              <a:ea typeface="宋体" panose="02010600030101010101" pitchFamily="2" charset="-122"/>
            </a:endParaRPr>
          </a:p>
          <a:p>
            <a:pPr marL="914400" lvl="2" indent="0">
              <a:buNone/>
            </a:pPr>
            <a:r>
              <a:rPr lang="en-US" altLang="zh-CN" sz="2000" i="1" dirty="0">
                <a:latin typeface="宋体" panose="02010600030101010101" pitchFamily="2" charset="-122"/>
                <a:ea typeface="宋体" panose="02010600030101010101" pitchFamily="2" charset="-122"/>
              </a:rPr>
              <a:t>rest</a:t>
            </a:r>
            <a:r>
              <a:rPr lang="en-US" altLang="zh-CN" sz="2000" b="1" dirty="0">
                <a:latin typeface="宋体" panose="02010600030101010101" pitchFamily="2" charset="-122"/>
                <a:ea typeface="宋体" panose="02010600030101010101" pitchFamily="2" charset="-122"/>
              </a:rPr>
              <a:t> →</a:t>
            </a: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 </a:t>
            </a:r>
            <a:r>
              <a:rPr lang="en-US" altLang="zh-CN" sz="2000" i="1" dirty="0">
                <a:latin typeface="宋体" panose="02010600030101010101" pitchFamily="2" charset="-122"/>
                <a:ea typeface="宋体" panose="02010600030101010101" pitchFamily="2" charset="-122"/>
              </a:rPr>
              <a:t>term</a:t>
            </a:r>
            <a:r>
              <a:rPr lang="zh-CN" altLang="en-US" sz="2000" i="1" dirty="0">
                <a:latin typeface="宋体" panose="02010600030101010101" pitchFamily="2" charset="-122"/>
                <a:ea typeface="宋体" panose="02010600030101010101" pitchFamily="2" charset="-122"/>
              </a:rPr>
              <a:t> </a:t>
            </a:r>
            <a:r>
              <a:rPr lang="en-US" altLang="zh-CN" sz="2000" i="1" dirty="0">
                <a:latin typeface="宋体" panose="02010600030101010101" pitchFamily="2" charset="-122"/>
                <a:ea typeface="宋体" panose="02010600030101010101" pitchFamily="2" charset="-122"/>
              </a:rPr>
              <a:t>rest</a:t>
            </a:r>
            <a:r>
              <a:rPr lang="zh-CN" altLang="en-US" sz="2000" i="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a:t>
            </a:r>
            <a:r>
              <a:rPr lang="zh-CN" altLang="en-US" sz="2000" i="1" dirty="0">
                <a:latin typeface="宋体" panose="02010600030101010101" pitchFamily="2" charset="-122"/>
                <a:ea typeface="宋体" panose="02010600030101010101" pitchFamily="2" charset="-122"/>
              </a:rPr>
              <a:t> </a:t>
            </a:r>
            <a:r>
              <a:rPr lang="el-GR" altLang="zh-CN" sz="2000" b="1" dirty="0">
                <a:latin typeface="宋体" panose="02010600030101010101" pitchFamily="2" charset="-122"/>
                <a:ea typeface="宋体" panose="02010600030101010101" pitchFamily="2" charset="-122"/>
              </a:rPr>
              <a:t>ε</a:t>
            </a:r>
            <a:endParaRPr lang="en-US" altLang="zh-CN" sz="2000" i="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 一般的方法</a:t>
            </a:r>
            <a:endParaRPr lang="en-US" altLang="zh-CN" b="1" dirty="0">
              <a:latin typeface="宋体" panose="02010600030101010101" pitchFamily="2" charset="-122"/>
              <a:ea typeface="宋体" panose="02010600030101010101" pitchFamily="2" charset="-122"/>
            </a:endParaRPr>
          </a:p>
          <a:p>
            <a:pPr marL="914400" lvl="2" indent="0">
              <a:buNone/>
            </a:pPr>
            <a:r>
              <a:rPr lang="zh-CN" altLang="en-US" b="1" dirty="0">
                <a:latin typeface="宋体" panose="02010600030101010101" pitchFamily="2" charset="-122"/>
                <a:ea typeface="宋体" panose="02010600030101010101" pitchFamily="2" charset="-122"/>
              </a:rPr>
              <a:t>将 </a:t>
            </a:r>
            <a:r>
              <a:rPr lang="en-US" altLang="zh-CN" b="1" dirty="0">
                <a:latin typeface="宋体" panose="02010600030101010101" pitchFamily="2" charset="-122"/>
                <a:ea typeface="宋体" panose="02010600030101010101" pitchFamily="2" charset="-122"/>
              </a:rPr>
              <a:t>A →</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A</a:t>
            </a:r>
            <a:r>
              <a:rPr lang="el-GR" altLang="zh-CN" b="1" dirty="0">
                <a:latin typeface="宋体" panose="02010600030101010101" pitchFamily="2" charset="-122"/>
                <a:ea typeface="宋体" panose="02010600030101010101" pitchFamily="2" charset="-122"/>
              </a:rPr>
              <a:t>α</a:t>
            </a:r>
            <a:r>
              <a:rPr lang="en-US" altLang="zh-CN" b="1" dirty="0">
                <a:latin typeface="宋体" panose="02010600030101010101" pitchFamily="2" charset="-122"/>
                <a:ea typeface="宋体" panose="02010600030101010101" pitchFamily="2" charset="-122"/>
              </a:rPr>
              <a:t>|</a:t>
            </a:r>
            <a:r>
              <a:rPr lang="el-GR" altLang="zh-CN" b="1" dirty="0">
                <a:latin typeface="宋体" panose="02010600030101010101" pitchFamily="2" charset="-122"/>
                <a:ea typeface="宋体" panose="02010600030101010101" pitchFamily="2" charset="-122"/>
              </a:rPr>
              <a:t>β</a:t>
            </a:r>
            <a:endParaRPr lang="en-US" altLang="zh-CN" b="1" dirty="0">
              <a:latin typeface="宋体" panose="02010600030101010101" pitchFamily="2" charset="-122"/>
              <a:ea typeface="宋体" panose="02010600030101010101" pitchFamily="2" charset="-122"/>
            </a:endParaRPr>
          </a:p>
          <a:p>
            <a:pPr marL="914400" lvl="2" indent="0">
              <a:buNone/>
            </a:pPr>
            <a:r>
              <a:rPr lang="zh-CN" altLang="en-US" b="1" dirty="0">
                <a:latin typeface="宋体" panose="02010600030101010101" pitchFamily="2" charset="-122"/>
                <a:ea typeface="宋体" panose="02010600030101010101" pitchFamily="2" charset="-122"/>
              </a:rPr>
              <a:t>变为 </a:t>
            </a:r>
            <a:r>
              <a:rPr lang="en-US" altLang="zh-CN" b="1" dirty="0">
                <a:latin typeface="宋体" panose="02010600030101010101" pitchFamily="2" charset="-122"/>
                <a:ea typeface="宋体" panose="02010600030101010101" pitchFamily="2" charset="-122"/>
              </a:rPr>
              <a:t>A →</a:t>
            </a:r>
            <a:r>
              <a:rPr lang="zh-CN" altLang="en-US" b="1" dirty="0">
                <a:latin typeface="宋体" panose="02010600030101010101" pitchFamily="2" charset="-122"/>
                <a:ea typeface="宋体" panose="02010600030101010101" pitchFamily="2" charset="-122"/>
              </a:rPr>
              <a:t> </a:t>
            </a:r>
            <a:r>
              <a:rPr lang="el-GR" altLang="zh-CN" b="1" dirty="0">
                <a:latin typeface="宋体" panose="02010600030101010101" pitchFamily="2" charset="-122"/>
                <a:ea typeface="宋体" panose="02010600030101010101" pitchFamily="2" charset="-122"/>
              </a:rPr>
              <a:t>β</a:t>
            </a:r>
            <a:r>
              <a:rPr lang="en-US" altLang="zh-CN" b="1" dirty="0">
                <a:latin typeface="宋体" panose="02010600030101010101" pitchFamily="2" charset="-122"/>
                <a:ea typeface="宋体" panose="02010600030101010101" pitchFamily="2" charset="-122"/>
              </a:rPr>
              <a:t>R</a:t>
            </a:r>
            <a:endParaRPr lang="en-US" altLang="zh-CN" b="1" dirty="0">
              <a:latin typeface="宋体" panose="02010600030101010101" pitchFamily="2" charset="-122"/>
              <a:ea typeface="宋体" panose="02010600030101010101" pitchFamily="2" charset="-122"/>
            </a:endParaRPr>
          </a:p>
          <a:p>
            <a:pPr marL="914400" lvl="2" indent="0">
              <a:buNone/>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R</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 </a:t>
            </a:r>
            <a:r>
              <a:rPr lang="el-GR" altLang="zh-CN" b="1" dirty="0">
                <a:latin typeface="宋体" panose="02010600030101010101" pitchFamily="2" charset="-122"/>
                <a:ea typeface="宋体" panose="02010600030101010101" pitchFamily="2" charset="-122"/>
              </a:rPr>
              <a:t>α</a:t>
            </a:r>
            <a:r>
              <a:rPr lang="en-US" altLang="zh-CN" b="1" dirty="0">
                <a:latin typeface="宋体" panose="02010600030101010101" pitchFamily="2" charset="-122"/>
                <a:ea typeface="宋体" panose="02010600030101010101" pitchFamily="2" charset="-122"/>
              </a:rPr>
              <a:t>R</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a:t>
            </a:r>
            <a:r>
              <a:rPr lang="el-GR" altLang="zh-CN" sz="2400" b="1" dirty="0">
                <a:latin typeface="宋体" panose="02010600030101010101" pitchFamily="2" charset="-122"/>
                <a:ea typeface="宋体" panose="02010600030101010101" pitchFamily="2" charset="-122"/>
              </a:rPr>
              <a:t>ε</a:t>
            </a:r>
            <a:endParaRPr lang="en-US" altLang="zh-CN"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语法分析（</a:t>
            </a:r>
            <a:r>
              <a:rPr lang="en-US" altLang="zh-CN" dirty="0">
                <a:latin typeface="宋体" panose="02010600030101010101" pitchFamily="2" charset="-122"/>
                <a:ea typeface="宋体" panose="02010600030101010101" pitchFamily="2" charset="-122"/>
              </a:rPr>
              <a:t>10</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pic>
        <p:nvPicPr>
          <p:cNvPr id="98307" name="Picture 2"/>
          <p:cNvPicPr>
            <a:picLocks noChangeAspect="1"/>
          </p:cNvPicPr>
          <p:nvPr/>
        </p:nvPicPr>
        <p:blipFill>
          <a:blip r:embed="rId1"/>
          <a:stretch>
            <a:fillRect/>
          </a:stretch>
        </p:blipFill>
        <p:spPr>
          <a:xfrm>
            <a:off x="152400" y="1628775"/>
            <a:ext cx="8662988" cy="4249738"/>
          </a:xfrm>
          <a:prstGeom prst="rect">
            <a:avLst/>
          </a:prstGeom>
          <a:noFill/>
          <a:ln w="9525">
            <a:noFill/>
          </a:ln>
        </p:spPr>
      </p:pic>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简单表达式的翻译器（</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00355" name="Rectangle 11"/>
          <p:cNvSpPr>
            <a:spLocks noGrp="1"/>
          </p:cNvSpPr>
          <p:nvPr>
            <p:ph idx="1"/>
          </p:nvPr>
        </p:nvSpPr>
        <p:spPr>
          <a:xfrm>
            <a:off x="685800" y="1341438"/>
            <a:ext cx="7847013" cy="4953000"/>
          </a:xfrm>
        </p:spPr>
        <p:txBody>
          <a:bodyPr vert="horz" wrap="square" lIns="92075" tIns="46038" rIns="92075" bIns="46038" anchor="t" anchorCtr="0"/>
          <a:p>
            <a:r>
              <a:rPr lang="zh-CN" altLang="en-US" sz="2400" b="1" dirty="0">
                <a:latin typeface="宋体" panose="02010600030101010101" pitchFamily="2" charset="-122"/>
                <a:ea typeface="宋体" panose="02010600030101010101" pitchFamily="2" charset="-122"/>
              </a:rPr>
              <a:t>设计预测翻译器要避免左递归等情形的出现</a:t>
            </a:r>
            <a:endParaRPr lang="en-US" altLang="zh-CN" sz="2400" b="1" dirty="0">
              <a:latin typeface="宋体" panose="02010600030101010101" pitchFamily="2" charset="-122"/>
              <a:ea typeface="宋体" panose="02010600030101010101" pitchFamily="2" charset="-122"/>
            </a:endParaRPr>
          </a:p>
          <a:p>
            <a:pPr lvl="1"/>
            <a:r>
              <a:rPr lang="en-US" altLang="zh-CN" sz="2000" b="1" dirty="0">
                <a:latin typeface="宋体" panose="02010600030101010101" pitchFamily="2" charset="-122"/>
                <a:ea typeface="宋体" panose="02010600030101010101" pitchFamily="2" charset="-122"/>
              </a:rPr>
              <a:t>P37</a:t>
            </a:r>
            <a:r>
              <a:rPr lang="zh-CN" altLang="en-US" sz="2000" b="1" dirty="0">
                <a:latin typeface="宋体" panose="02010600030101010101" pitchFamily="2" charset="-122"/>
                <a:ea typeface="宋体" panose="02010600030101010101" pitchFamily="2" charset="-122"/>
              </a:rPr>
              <a:t>页的翻译方案易于理解，但含有左递归，不适合预测翻译器</a:t>
            </a:r>
            <a:endParaRPr lang="en-US" altLang="zh-CN" sz="2000" b="1" dirty="0">
              <a:latin typeface="宋体" panose="02010600030101010101" pitchFamily="2" charset="-122"/>
              <a:ea typeface="宋体" panose="02010600030101010101" pitchFamily="2" charset="-122"/>
            </a:endParaRPr>
          </a:p>
          <a:p>
            <a:r>
              <a:rPr lang="zh-CN" altLang="en-US" sz="2400" b="1" dirty="0">
                <a:latin typeface="宋体" panose="02010600030101010101" pitchFamily="2" charset="-122"/>
                <a:ea typeface="宋体" panose="02010600030101010101" pitchFamily="2" charset="-122"/>
              </a:rPr>
              <a:t>语法树的两种形式</a:t>
            </a:r>
            <a:endParaRPr lang="en-US" altLang="zh-CN" sz="24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语法分析树</a:t>
            </a:r>
            <a:endParaRPr lang="en-US" altLang="zh-CN" sz="2000" b="1"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内部结点是文法的非终结符，叶结点是终结符</a:t>
            </a:r>
            <a:endParaRPr lang="en-US" altLang="zh-CN" sz="2000" b="1"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所有的叶结点依次相连，就构成了对应的句子</a:t>
            </a:r>
            <a:endParaRPr lang="en-US" altLang="zh-CN" sz="2000" b="1"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结点数目多</a:t>
            </a:r>
            <a:endParaRPr lang="en-US" altLang="zh-CN"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抽象语法树（</a:t>
            </a:r>
            <a:r>
              <a:rPr lang="en-US" altLang="zh-CN" sz="2000" b="1" dirty="0">
                <a:latin typeface="宋体" panose="02010600030101010101" pitchFamily="2" charset="-122"/>
                <a:ea typeface="宋体" panose="02010600030101010101" pitchFamily="2" charset="-122"/>
              </a:rPr>
              <a:t>AST</a:t>
            </a:r>
            <a:r>
              <a:rPr lang="zh-CN" altLang="en-US" sz="2000" b="1" dirty="0">
                <a:latin typeface="宋体" panose="02010600030101010101" pitchFamily="2" charset="-122"/>
                <a:ea typeface="宋体" panose="02010600030101010101" pitchFamily="2" charset="-122"/>
              </a:rPr>
              <a:t>）</a:t>
            </a:r>
            <a:endParaRPr lang="en-US" altLang="zh-CN" sz="2000" b="1"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编译常用的数据结构，内部结点对应算符（如</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等），其子结点对应了这个算符的运算对象</a:t>
            </a:r>
            <a:endParaRPr lang="en-US" altLang="zh-CN" sz="2000" b="1"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没有形如</a:t>
            </a:r>
            <a:r>
              <a:rPr lang="en-US" altLang="zh-CN" sz="2000" b="1" dirty="0">
                <a:latin typeface="宋体" panose="02010600030101010101" pitchFamily="2" charset="-122"/>
                <a:ea typeface="宋体" panose="02010600030101010101" pitchFamily="2" charset="-122"/>
              </a:rPr>
              <a:t>expr→term</a:t>
            </a:r>
            <a:r>
              <a:rPr lang="zh-CN" altLang="en-US" sz="2000" b="1" dirty="0">
                <a:latin typeface="宋体" panose="02010600030101010101" pitchFamily="2" charset="-122"/>
                <a:ea typeface="宋体" panose="02010600030101010101" pitchFamily="2" charset="-122"/>
              </a:rPr>
              <a:t>的单产生式对应的结点，也没有</a:t>
            </a:r>
            <a:r>
              <a:rPr lang="el-GR" altLang="zh-CN" sz="2000" b="1" dirty="0">
                <a:latin typeface="宋体" panose="02010600030101010101" pitchFamily="2" charset="-122"/>
                <a:ea typeface="宋体" panose="02010600030101010101" pitchFamily="2" charset="-122"/>
              </a:rPr>
              <a:t>ε</a:t>
            </a:r>
            <a:r>
              <a:rPr lang="zh-CN" altLang="en-US" sz="2000" b="1" dirty="0">
                <a:latin typeface="宋体" panose="02010600030101010101" pitchFamily="2" charset="-122"/>
                <a:ea typeface="宋体" panose="02010600030101010101" pitchFamily="2" charset="-122"/>
              </a:rPr>
              <a:t>产生式对应的结点</a:t>
            </a:r>
            <a:endParaRPr lang="en-US" altLang="zh-CN" sz="2000" b="1"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结点数目少</a:t>
            </a:r>
            <a:endParaRPr lang="zh-CN" altLang="en-US" sz="20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简单表达式的翻译器（</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51203" name="Rectangle 11"/>
          <p:cNvSpPr>
            <a:spLocks noGrp="1" noChangeArrowheads="1"/>
          </p:cNvSpPr>
          <p:nvPr>
            <p:ph idx="1"/>
          </p:nvPr>
        </p:nvSpPr>
        <p:spPr>
          <a:xfrm>
            <a:off x="685800" y="1341438"/>
            <a:ext cx="7847013" cy="49530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调整翻译方案，消除左递归</a:t>
            </a:r>
            <a:endParaRPr kumimoji="0" lang="en-US" altLang="zh-CN"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P37</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页的翻译方案易于理解，但含有左递归，不适合预测翻译器</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消除左递归后，嵌入的语义动作的调整</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57150" marR="0" lvl="0" indent="0" algn="l" defTabSz="914400" rtl="0" eaLnBrk="0" fontAlgn="base" latinLnBrk="0" hangingPunct="0">
              <a:lnSpc>
                <a:spcPct val="100000"/>
              </a:lnSpc>
              <a:spcBef>
                <a:spcPct val="20000"/>
              </a:spcBef>
              <a:spcAft>
                <a:spcPct val="0"/>
              </a:spcAft>
              <a:buClr>
                <a:srgbClr val="063DE8"/>
              </a:buClr>
              <a:buSzPct val="125000"/>
              <a:buFontTx/>
              <a:buNone/>
              <a:defRPr/>
            </a:pP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5715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文法例子：</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5715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A→A</a:t>
            </a:r>
            <a:r>
              <a:rPr kumimoji="0" lang="el-GR"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α</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a:t>
            </a:r>
            <a:r>
              <a:rPr kumimoji="0" lang="el-GR"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β</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l-GR"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γ</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5715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消除左递归后：</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5715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a:t>
            </a:r>
            <a:r>
              <a:rPr kumimoji="0" lang="el-GR"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γ</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R</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5715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R→</a:t>
            </a:r>
            <a:r>
              <a:rPr kumimoji="0" lang="el-GR"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α</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R|</a:t>
            </a:r>
            <a:r>
              <a:rPr kumimoji="0" lang="el-GR"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β</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R|</a:t>
            </a:r>
            <a:r>
              <a:rPr kumimoji="0" lang="el-GR"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ε</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57150" marR="0" lvl="0" indent="0" algn="l" defTabSz="914400" rtl="0" eaLnBrk="0" fontAlgn="base" latinLnBrk="0" hangingPunct="0">
              <a:lnSpc>
                <a:spcPct val="100000"/>
              </a:lnSpc>
              <a:spcBef>
                <a:spcPct val="20000"/>
              </a:spcBef>
              <a:spcAft>
                <a:spcPct val="0"/>
              </a:spcAft>
              <a:buClr>
                <a:srgbClr val="063DE8"/>
              </a:buClr>
              <a:buSzPct val="125000"/>
              <a:buFontTx/>
              <a:buNone/>
              <a:defRPr/>
            </a:pP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5715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对照这个例子，右图是</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5715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消除左递归后的翻译方案</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5715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哪个文法符号与</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对应？</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5715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l-GR"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α</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l-GR"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β</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l-GR"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γ</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呢？</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pic>
        <p:nvPicPr>
          <p:cNvPr id="102404" name="Picture 2"/>
          <p:cNvPicPr>
            <a:picLocks noChangeAspect="1"/>
          </p:cNvPicPr>
          <p:nvPr/>
        </p:nvPicPr>
        <p:blipFill>
          <a:blip r:embed="rId1"/>
          <a:stretch>
            <a:fillRect/>
          </a:stretch>
        </p:blipFill>
        <p:spPr>
          <a:xfrm>
            <a:off x="3305175" y="3351213"/>
            <a:ext cx="5514975" cy="2814637"/>
          </a:xfrm>
          <a:prstGeom prst="rect">
            <a:avLst/>
          </a:prstGeom>
          <a:noFill/>
          <a:ln w="9525">
            <a:noFill/>
          </a:ln>
        </p:spPr>
      </p:pic>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简单表达式的翻译器（</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pic>
        <p:nvPicPr>
          <p:cNvPr id="104451" name="Picture 2"/>
          <p:cNvPicPr>
            <a:picLocks noChangeAspect="1"/>
          </p:cNvPicPr>
          <p:nvPr/>
        </p:nvPicPr>
        <p:blipFill>
          <a:blip r:embed="rId1"/>
          <a:stretch>
            <a:fillRect/>
          </a:stretch>
        </p:blipFill>
        <p:spPr>
          <a:xfrm>
            <a:off x="19050" y="1447800"/>
            <a:ext cx="9017000" cy="4141788"/>
          </a:xfrm>
          <a:prstGeom prst="rect">
            <a:avLst/>
          </a:prstGeom>
          <a:noFill/>
          <a:ln w="9525">
            <a:noFill/>
          </a:ln>
        </p:spPr>
      </p:pic>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简单表达式的翻译器（</a:t>
            </a:r>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06499" name="Rectangle 11"/>
          <p:cNvSpPr>
            <a:spLocks noGrp="1"/>
          </p:cNvSpPr>
          <p:nvPr>
            <p:ph idx="1"/>
          </p:nvPr>
        </p:nvSpPr>
        <p:spPr>
          <a:xfrm>
            <a:off x="685800" y="1341438"/>
            <a:ext cx="7847013" cy="4953000"/>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非终结符的过程</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改写后文法的三个非终结符对应的过程</a:t>
            </a:r>
            <a:endParaRPr lang="en-US" altLang="zh-CN" b="1" dirty="0">
              <a:latin typeface="宋体" panose="02010600030101010101" pitchFamily="2" charset="-122"/>
              <a:ea typeface="宋体" panose="02010600030101010101" pitchFamily="2" charset="-122"/>
            </a:endParaRPr>
          </a:p>
        </p:txBody>
      </p:sp>
      <p:pic>
        <p:nvPicPr>
          <p:cNvPr id="106500" name="Picture 2"/>
          <p:cNvPicPr>
            <a:picLocks noChangeAspect="1"/>
          </p:cNvPicPr>
          <p:nvPr/>
        </p:nvPicPr>
        <p:blipFill>
          <a:blip r:embed="rId1"/>
          <a:stretch>
            <a:fillRect/>
          </a:stretch>
        </p:blipFill>
        <p:spPr>
          <a:xfrm>
            <a:off x="1143000" y="2349500"/>
            <a:ext cx="7086600" cy="5080000"/>
          </a:xfrm>
          <a:prstGeom prst="rect">
            <a:avLst/>
          </a:prstGeom>
          <a:noFill/>
          <a:ln w="9525">
            <a:noFill/>
          </a:ln>
        </p:spPr>
      </p:pic>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简单表达式的翻译器（</a:t>
            </a:r>
            <a:r>
              <a:rPr lang="en-US" altLang="zh-CN" dirty="0">
                <a:latin typeface="宋体" panose="02010600030101010101" pitchFamily="2" charset="-122"/>
                <a:ea typeface="宋体" panose="02010600030101010101" pitchFamily="2" charset="-122"/>
              </a:rPr>
              <a:t>5</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08547" name="Rectangle 11"/>
          <p:cNvSpPr>
            <a:spLocks noGrp="1"/>
          </p:cNvSpPr>
          <p:nvPr>
            <p:ph idx="1"/>
          </p:nvPr>
        </p:nvSpPr>
        <p:spPr>
          <a:xfrm>
            <a:off x="685800" y="1341438"/>
            <a:ext cx="7847013" cy="4953000"/>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翻译器的简化</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把递归变为迭代，本例中只考虑尾递归的简单情形</a:t>
            </a:r>
            <a:endParaRPr lang="en-US" altLang="zh-CN" b="1" dirty="0">
              <a:latin typeface="宋体" panose="02010600030101010101" pitchFamily="2" charset="-122"/>
              <a:ea typeface="宋体" panose="02010600030101010101" pitchFamily="2" charset="-122"/>
            </a:endParaRPr>
          </a:p>
          <a:p>
            <a:pPr lvl="1"/>
            <a:endParaRPr lang="en-US" altLang="zh-CN" b="1" dirty="0">
              <a:latin typeface="宋体" panose="02010600030101010101" pitchFamily="2" charset="-122"/>
              <a:ea typeface="宋体" panose="02010600030101010101" pitchFamily="2" charset="-122"/>
            </a:endParaRPr>
          </a:p>
          <a:p>
            <a:pPr lvl="1"/>
            <a:endParaRPr lang="en-US" altLang="zh-CN" b="1" dirty="0">
              <a:latin typeface="宋体" panose="02010600030101010101" pitchFamily="2" charset="-122"/>
              <a:ea typeface="宋体" panose="02010600030101010101" pitchFamily="2" charset="-122"/>
            </a:endParaRPr>
          </a:p>
          <a:p>
            <a:pPr lvl="1"/>
            <a:endParaRPr lang="en-US" altLang="zh-CN" b="1" dirty="0">
              <a:latin typeface="宋体" panose="02010600030101010101" pitchFamily="2" charset="-122"/>
              <a:ea typeface="宋体" panose="02010600030101010101" pitchFamily="2" charset="-122"/>
            </a:endParaRPr>
          </a:p>
          <a:p>
            <a:pPr lvl="1"/>
            <a:endParaRPr lang="en-US" altLang="zh-CN" b="1" dirty="0">
              <a:latin typeface="宋体" panose="02010600030101010101" pitchFamily="2" charset="-122"/>
              <a:ea typeface="宋体" panose="02010600030101010101" pitchFamily="2" charset="-122"/>
            </a:endParaRPr>
          </a:p>
          <a:p>
            <a:pPr lvl="1"/>
            <a:endParaRPr lang="en-US" altLang="zh-CN" b="1" dirty="0">
              <a:latin typeface="宋体" panose="02010600030101010101" pitchFamily="2" charset="-122"/>
              <a:ea typeface="宋体" panose="02010600030101010101" pitchFamily="2" charset="-122"/>
            </a:endParaRPr>
          </a:p>
          <a:p>
            <a:pPr lvl="1"/>
            <a:endParaRPr lang="en-US" altLang="zh-CN" b="1" dirty="0">
              <a:latin typeface="宋体" panose="02010600030101010101" pitchFamily="2" charset="-122"/>
              <a:ea typeface="宋体" panose="02010600030101010101" pitchFamily="2" charset="-122"/>
            </a:endParaRPr>
          </a:p>
          <a:p>
            <a:pPr lvl="1"/>
            <a:endParaRPr lang="en-US" altLang="zh-CN" b="1" dirty="0">
              <a:latin typeface="宋体" panose="02010600030101010101" pitchFamily="2" charset="-122"/>
              <a:ea typeface="宋体" panose="02010600030101010101" pitchFamily="2" charset="-122"/>
            </a:endParaRPr>
          </a:p>
          <a:p>
            <a:pPr lvl="4"/>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在把</a:t>
            </a:r>
            <a:r>
              <a:rPr lang="en-US" altLang="zh-CN" b="1" dirty="0">
                <a:latin typeface="宋体" panose="02010600030101010101" pitchFamily="2" charset="-122"/>
                <a:ea typeface="宋体" panose="02010600030101010101" pitchFamily="2" charset="-122"/>
              </a:rPr>
              <a:t>rest</a:t>
            </a:r>
            <a:r>
              <a:rPr lang="zh-CN" altLang="en-US" b="1" dirty="0">
                <a:latin typeface="宋体" panose="02010600030101010101" pitchFamily="2" charset="-122"/>
                <a:ea typeface="宋体" panose="02010600030101010101" pitchFamily="2" charset="-122"/>
              </a:rPr>
              <a:t>的尾递归优化后，可以将其嵌入到过程</a:t>
            </a:r>
            <a:r>
              <a:rPr lang="en-US" altLang="zh-CN" b="1" dirty="0">
                <a:latin typeface="宋体" panose="02010600030101010101" pitchFamily="2" charset="-122"/>
                <a:ea typeface="宋体" panose="02010600030101010101" pitchFamily="2" charset="-122"/>
              </a:rPr>
              <a:t>expr</a:t>
            </a:r>
            <a:r>
              <a:rPr lang="zh-CN" altLang="en-US" b="1" dirty="0">
                <a:latin typeface="宋体" panose="02010600030101010101" pitchFamily="2" charset="-122"/>
                <a:ea typeface="宋体" panose="02010600030101010101" pitchFamily="2" charset="-122"/>
              </a:rPr>
              <a:t>中</a:t>
            </a:r>
            <a:endParaRPr lang="en-US" altLang="zh-CN" b="1" dirty="0">
              <a:latin typeface="宋体" panose="02010600030101010101" pitchFamily="2" charset="-122"/>
              <a:ea typeface="宋体" panose="02010600030101010101" pitchFamily="2" charset="-122"/>
            </a:endParaRPr>
          </a:p>
        </p:txBody>
      </p:sp>
      <p:pic>
        <p:nvPicPr>
          <p:cNvPr id="108548" name="Picture 2"/>
          <p:cNvPicPr>
            <a:picLocks noChangeAspect="1"/>
          </p:cNvPicPr>
          <p:nvPr/>
        </p:nvPicPr>
        <p:blipFill>
          <a:blip r:embed="rId1"/>
          <a:stretch>
            <a:fillRect/>
          </a:stretch>
        </p:blipFill>
        <p:spPr>
          <a:xfrm>
            <a:off x="1208088" y="2298700"/>
            <a:ext cx="6604000" cy="3362325"/>
          </a:xfrm>
          <a:prstGeom prst="rect">
            <a:avLst/>
          </a:prstGeom>
          <a:noFill/>
          <a:ln w="9525">
            <a:noFill/>
          </a:ln>
        </p:spPr>
      </p:pic>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0594" name="Picture 2"/>
          <p:cNvPicPr>
            <a:picLocks noChangeAspect="1"/>
          </p:cNvPicPr>
          <p:nvPr/>
        </p:nvPicPr>
        <p:blipFill>
          <a:blip r:embed="rId1"/>
          <a:stretch>
            <a:fillRect/>
          </a:stretch>
        </p:blipFill>
        <p:spPr>
          <a:xfrm>
            <a:off x="2209800" y="0"/>
            <a:ext cx="4786313" cy="6858000"/>
          </a:xfrm>
          <a:prstGeom prst="rect">
            <a:avLst/>
          </a:prstGeom>
          <a:noFill/>
          <a:ln w="9525">
            <a:noFill/>
          </a:ln>
        </p:spPr>
      </p:pic>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词法分析（</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12643" name="Rectangle 11"/>
          <p:cNvSpPr>
            <a:spLocks noGrp="1"/>
          </p:cNvSpPr>
          <p:nvPr>
            <p:ph idx="1"/>
          </p:nvPr>
        </p:nvSpPr>
        <p:spPr>
          <a:xfrm>
            <a:off x="685800" y="1341438"/>
            <a:ext cx="7847013" cy="4953000"/>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前述语法分析</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翻译器的输入终结符就是词法分析的输出</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词法分析附加了一些信息，例如行号等</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词法分析要处理空格、制表符、换行符、注释等</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本节要扩充</a:t>
            </a:r>
            <a:r>
              <a:rPr lang="en-US" altLang="zh-CN" b="1" dirty="0">
                <a:latin typeface="宋体" panose="02010600030101010101" pitchFamily="2" charset="-122"/>
                <a:ea typeface="宋体" panose="02010600030101010101" pitchFamily="2" charset="-122"/>
              </a:rPr>
              <a:t>P37</a:t>
            </a:r>
            <a:r>
              <a:rPr lang="zh-CN" altLang="en-US" b="1" dirty="0">
                <a:latin typeface="宋体" panose="02010600030101010101" pitchFamily="2" charset="-122"/>
                <a:ea typeface="宋体" panose="02010600030101010101" pitchFamily="2" charset="-122"/>
              </a:rPr>
              <a:t>的文法，使之可以处理乘除法、数字和标识符等</a:t>
            </a:r>
            <a:endParaRPr lang="en-US" altLang="zh-CN" b="1" dirty="0">
              <a:latin typeface="宋体" panose="02010600030101010101" pitchFamily="2" charset="-122"/>
              <a:ea typeface="宋体" panose="02010600030101010101" pitchFamily="2" charset="-122"/>
            </a:endParaRPr>
          </a:p>
        </p:txBody>
      </p:sp>
      <p:pic>
        <p:nvPicPr>
          <p:cNvPr id="112644" name="Picture 2"/>
          <p:cNvPicPr>
            <a:picLocks noChangeAspect="1"/>
          </p:cNvPicPr>
          <p:nvPr/>
        </p:nvPicPr>
        <p:blipFill>
          <a:blip r:embed="rId1"/>
          <a:stretch>
            <a:fillRect/>
          </a:stretch>
        </p:blipFill>
        <p:spPr>
          <a:xfrm>
            <a:off x="1187450" y="3960813"/>
            <a:ext cx="7023100" cy="2492375"/>
          </a:xfrm>
          <a:prstGeom prst="rect">
            <a:avLst/>
          </a:prstGeom>
          <a:noFill/>
          <a:ln w="9525">
            <a:noFill/>
          </a:ln>
        </p:spPr>
      </p:pic>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词法分析（</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pic>
        <p:nvPicPr>
          <p:cNvPr id="114691" name="Picture 2"/>
          <p:cNvPicPr>
            <a:picLocks noChangeAspect="1"/>
          </p:cNvPicPr>
          <p:nvPr/>
        </p:nvPicPr>
        <p:blipFill>
          <a:blip r:embed="rId1"/>
          <a:stretch>
            <a:fillRect/>
          </a:stretch>
        </p:blipFill>
        <p:spPr>
          <a:xfrm>
            <a:off x="884238" y="1557338"/>
            <a:ext cx="8208962" cy="2274887"/>
          </a:xfrm>
          <a:prstGeom prst="rect">
            <a:avLst/>
          </a:prstGeom>
          <a:noFill/>
          <a:ln w="9525">
            <a:noFill/>
          </a:ln>
        </p:spPr>
      </p:pic>
      <p:sp>
        <p:nvSpPr>
          <p:cNvPr id="114692" name="Rectangle 11"/>
          <p:cNvSpPr>
            <a:spLocks noGrp="1"/>
          </p:cNvSpPr>
          <p:nvPr>
            <p:ph idx="1"/>
          </p:nvPr>
        </p:nvSpPr>
        <p:spPr>
          <a:xfrm>
            <a:off x="685800" y="1341438"/>
            <a:ext cx="7847013" cy="4953000"/>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剔除空白和注释</a:t>
            </a:r>
            <a:endParaRPr lang="en-US" altLang="zh-CN" b="1" dirty="0">
              <a:latin typeface="宋体" panose="02010600030101010101" pitchFamily="2" charset="-122"/>
              <a:ea typeface="宋体" panose="02010600030101010101" pitchFamily="2" charset="-122"/>
            </a:endParaRPr>
          </a:p>
          <a:p>
            <a:endParaRPr lang="en-US" altLang="zh-CN" b="1" dirty="0">
              <a:latin typeface="宋体" panose="02010600030101010101" pitchFamily="2" charset="-122"/>
              <a:ea typeface="宋体" panose="02010600030101010101" pitchFamily="2" charset="-122"/>
            </a:endParaRPr>
          </a:p>
          <a:p>
            <a:endParaRPr lang="en-US" altLang="zh-CN" b="1" dirty="0">
              <a:latin typeface="宋体" panose="02010600030101010101" pitchFamily="2" charset="-122"/>
              <a:ea typeface="宋体" panose="02010600030101010101" pitchFamily="2" charset="-122"/>
            </a:endParaRPr>
          </a:p>
          <a:p>
            <a:endParaRPr lang="en-US" altLang="zh-CN" b="1" dirty="0">
              <a:latin typeface="宋体" panose="02010600030101010101" pitchFamily="2" charset="-122"/>
              <a:ea typeface="宋体" panose="02010600030101010101" pitchFamily="2" charset="-122"/>
            </a:endParaRPr>
          </a:p>
          <a:p>
            <a:endParaRPr lang="en-US" altLang="zh-CN" b="1" dirty="0">
              <a:latin typeface="宋体" panose="02010600030101010101" pitchFamily="2" charset="-122"/>
              <a:ea typeface="宋体" panose="02010600030101010101" pitchFamily="2" charset="-122"/>
            </a:endParaRPr>
          </a:p>
          <a:p>
            <a:r>
              <a:rPr lang="zh-CN" altLang="en-US" b="1" dirty="0">
                <a:latin typeface="宋体" panose="02010600030101010101" pitchFamily="2" charset="-122"/>
                <a:ea typeface="宋体" panose="02010600030101010101" pitchFamily="2" charset="-122"/>
              </a:rPr>
              <a:t>预读</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词法分析时，一般希望根据当前看到的输入符号决定后续动作，但并不总是成功，所以需要预读</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如</a:t>
            </a:r>
            <a:r>
              <a:rPr lang="en-US" altLang="zh-CN" b="1" dirty="0">
                <a:latin typeface="宋体" panose="02010600030101010101" pitchFamily="2" charset="-122"/>
                <a:ea typeface="宋体" panose="02010600030101010101" pitchFamily="2" charset="-122"/>
              </a:rPr>
              <a:t>&lt;</a:t>
            </a:r>
            <a:r>
              <a:rPr lang="zh-CN" altLang="en-US" b="1" dirty="0">
                <a:latin typeface="宋体" panose="02010600030101010101" pitchFamily="2" charset="-122"/>
                <a:ea typeface="宋体" panose="02010600030101010101" pitchFamily="2" charset="-122"/>
              </a:rPr>
              <a:t>之于</a:t>
            </a:r>
            <a:r>
              <a:rPr lang="en-US" altLang="zh-CN" b="1" dirty="0">
                <a:latin typeface="宋体" panose="02010600030101010101" pitchFamily="2" charset="-122"/>
                <a:ea typeface="宋体" panose="02010600030101010101" pitchFamily="2" charset="-122"/>
              </a:rPr>
              <a:t>&lt;&gt;</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&lt;=</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&gt;</a:t>
            </a:r>
            <a:r>
              <a:rPr lang="zh-CN" altLang="en-US" b="1" dirty="0">
                <a:latin typeface="宋体" panose="02010600030101010101" pitchFamily="2" charset="-122"/>
                <a:ea typeface="宋体" panose="02010600030101010101" pitchFamily="2" charset="-122"/>
              </a:rPr>
              <a:t>之于</a:t>
            </a:r>
            <a:r>
              <a:rPr lang="en-US" altLang="zh-CN" b="1" dirty="0">
                <a:latin typeface="宋体" panose="02010600030101010101" pitchFamily="2" charset="-122"/>
                <a:ea typeface="宋体" panose="02010600030101010101" pitchFamily="2" charset="-122"/>
              </a:rPr>
              <a:t>&gt;=</a:t>
            </a:r>
            <a:r>
              <a:rPr lang="zh-CN" altLang="en-US" b="1" dirty="0">
                <a:latin typeface="宋体" panose="02010600030101010101" pitchFamily="2" charset="-122"/>
                <a:ea typeface="宋体" panose="02010600030101010101" pitchFamily="2" charset="-122"/>
              </a:rPr>
              <a:t>等，仅根据第一个符号处理会引发错误</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引入缓冲区是一种处理方法，第三章会具体讨论</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一般再多看一个符号即可，所以可以多读一个就好</a:t>
            </a:r>
            <a:endParaRPr lang="en-US" altLang="zh-CN"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6738" name="Picture 2"/>
          <p:cNvPicPr>
            <a:picLocks noChangeAspect="1"/>
          </p:cNvPicPr>
          <p:nvPr/>
        </p:nvPicPr>
        <p:blipFill>
          <a:blip r:embed="rId1"/>
          <a:stretch>
            <a:fillRect/>
          </a:stretch>
        </p:blipFill>
        <p:spPr>
          <a:xfrm>
            <a:off x="549275" y="3213100"/>
            <a:ext cx="8274050" cy="2232025"/>
          </a:xfrm>
          <a:prstGeom prst="rect">
            <a:avLst/>
          </a:prstGeom>
          <a:noFill/>
          <a:ln w="9525">
            <a:noFill/>
          </a:ln>
        </p:spPr>
      </p:pic>
      <p:sp>
        <p:nvSpPr>
          <p:cNvPr id="116739"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词法分析（</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16740" name="Rectangle 11"/>
          <p:cNvSpPr>
            <a:spLocks noGrp="1"/>
          </p:cNvSpPr>
          <p:nvPr>
            <p:ph idx="1"/>
          </p:nvPr>
        </p:nvSpPr>
        <p:spPr>
          <a:xfrm>
            <a:off x="685800" y="1341438"/>
            <a:ext cx="7847013" cy="2016125"/>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常量</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常量的词法结果可以采用</a:t>
            </a:r>
            <a:r>
              <a:rPr lang="en-US" altLang="zh-CN" b="1" dirty="0">
                <a:latin typeface="宋体" panose="02010600030101010101" pitchFamily="2" charset="-122"/>
                <a:ea typeface="宋体" panose="02010600030101010101" pitchFamily="2" charset="-122"/>
              </a:rPr>
              <a:t>&lt;num</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 </a:t>
            </a:r>
            <a:r>
              <a:rPr lang="en-US" altLang="zh-CN" b="1" i="1" dirty="0">
                <a:latin typeface="宋体" panose="02010600030101010101" pitchFamily="2" charset="-122"/>
                <a:ea typeface="宋体" panose="02010600030101010101" pitchFamily="2" charset="-122"/>
              </a:rPr>
              <a:t>val</a:t>
            </a:r>
            <a:r>
              <a:rPr lang="en-US" altLang="zh-CN" b="1" dirty="0">
                <a:latin typeface="宋体" panose="02010600030101010101" pitchFamily="2" charset="-122"/>
                <a:ea typeface="宋体" panose="02010600030101010101" pitchFamily="2" charset="-122"/>
              </a:rPr>
              <a:t>&gt;,val</a:t>
            </a:r>
            <a:r>
              <a:rPr lang="zh-CN" altLang="en-US" b="1" dirty="0">
                <a:latin typeface="宋体" panose="02010600030101010101" pitchFamily="2" charset="-122"/>
                <a:ea typeface="宋体" panose="02010600030101010101" pitchFamily="2" charset="-122"/>
              </a:rPr>
              <a:t>为其值</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词法单元都用加“</a:t>
            </a:r>
            <a:r>
              <a:rPr lang="en-US" altLang="zh-CN" b="1" dirty="0">
                <a:latin typeface="宋体" panose="02010600030101010101" pitchFamily="2" charset="-122"/>
                <a:ea typeface="宋体" panose="02010600030101010101" pitchFamily="2" charset="-122"/>
              </a:rPr>
              <a:t>&lt;</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&gt;</a:t>
            </a:r>
            <a:r>
              <a:rPr lang="zh-CN" altLang="en-US" b="1" dirty="0">
                <a:latin typeface="宋体" panose="02010600030101010101" pitchFamily="2" charset="-122"/>
                <a:ea typeface="宋体" panose="02010600030101010101" pitchFamily="2" charset="-122"/>
              </a:rPr>
              <a:t>”的元组给出</a:t>
            </a:r>
            <a:endParaRPr lang="en-US" altLang="zh-CN" b="1" dirty="0">
              <a:latin typeface="宋体" panose="02010600030101010101" pitchFamily="2" charset="-122"/>
              <a:ea typeface="宋体" panose="02010600030101010101" pitchFamily="2" charset="-122"/>
            </a:endParaRPr>
          </a:p>
          <a:p>
            <a:pPr lvl="3"/>
            <a:r>
              <a:rPr lang="en-US" altLang="zh-CN" b="1" dirty="0">
                <a:latin typeface="宋体" panose="02010600030101010101" pitchFamily="2" charset="-122"/>
                <a:ea typeface="宋体" panose="02010600030101010101" pitchFamily="2" charset="-122"/>
              </a:rPr>
              <a:t>31+28+59</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&lt;num,31&gt;&lt;+,&gt;&lt;num,28&gt;&lt;+,&gt;&lt;num,59&gt;</a:t>
            </a:r>
            <a:endParaRPr lang="en-US" altLang="zh-CN"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词法分析（</a:t>
            </a:r>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18787" name="Rectangle 11"/>
          <p:cNvSpPr>
            <a:spLocks noGrp="1"/>
          </p:cNvSpPr>
          <p:nvPr>
            <p:ph idx="1"/>
          </p:nvPr>
        </p:nvSpPr>
        <p:spPr>
          <a:xfrm>
            <a:off x="685800" y="1341438"/>
            <a:ext cx="7847013" cy="4953000"/>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识别关键字和标识符</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关键字：多数语言中将某些固定的字符串作为某些构造的标识或标点符号，如</a:t>
            </a:r>
            <a:r>
              <a:rPr lang="en-US" altLang="zh-CN" b="1" dirty="0">
                <a:latin typeface="宋体" panose="02010600030101010101" pitchFamily="2" charset="-122"/>
                <a:ea typeface="宋体" panose="02010600030101010101" pitchFamily="2" charset="-122"/>
              </a:rPr>
              <a:t>for</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do</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if</a:t>
            </a:r>
            <a:r>
              <a:rPr lang="zh-CN" altLang="en-US" b="1" dirty="0">
                <a:latin typeface="宋体" panose="02010600030101010101" pitchFamily="2" charset="-122"/>
                <a:ea typeface="宋体" panose="02010600030101010101" pitchFamily="2" charset="-122"/>
              </a:rPr>
              <a:t>等</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有些语言，关键字不是保留字，可以被程序员当作变量名等使用，难以区分标识符和关键字，给词法分析带来问题</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标识符：词法分析识别的字符串，可用于变量、常量、函数等的命名，用</a:t>
            </a:r>
            <a:r>
              <a:rPr lang="en-US" altLang="zh-CN" b="1" dirty="0">
                <a:latin typeface="宋体" panose="02010600030101010101" pitchFamily="2" charset="-122"/>
                <a:ea typeface="宋体" panose="02010600030101010101" pitchFamily="2" charset="-122"/>
              </a:rPr>
              <a:t>id</a:t>
            </a:r>
            <a:r>
              <a:rPr lang="zh-CN" altLang="en-US" b="1" dirty="0">
                <a:latin typeface="宋体" panose="02010600030101010101" pitchFamily="2" charset="-122"/>
                <a:ea typeface="宋体" panose="02010600030101010101" pitchFamily="2" charset="-122"/>
              </a:rPr>
              <a:t>标识</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使用表保存字符串，并可以采用</a:t>
            </a:r>
            <a:r>
              <a:rPr lang="en-US" altLang="zh-CN" b="1" dirty="0">
                <a:latin typeface="宋体" panose="02010600030101010101" pitchFamily="2" charset="-122"/>
                <a:ea typeface="宋体" panose="02010600030101010101" pitchFamily="2" charset="-122"/>
              </a:rPr>
              <a:t>Hash</a:t>
            </a:r>
            <a:r>
              <a:rPr lang="zh-CN" altLang="en-US" b="1" dirty="0">
                <a:latin typeface="宋体" panose="02010600030101010101" pitchFamily="2" charset="-122"/>
                <a:ea typeface="宋体" panose="02010600030101010101" pitchFamily="2" charset="-122"/>
              </a:rPr>
              <a:t>表优化访问速度</a:t>
            </a:r>
            <a:endParaRPr lang="en-US" altLang="zh-CN" b="1" dirty="0">
              <a:latin typeface="宋体" panose="02010600030101010101" pitchFamily="2" charset="-122"/>
              <a:ea typeface="宋体" panose="02010600030101010101" pitchFamily="2" charset="-122"/>
            </a:endParaRPr>
          </a:p>
          <a:p>
            <a:pPr lvl="3"/>
            <a:r>
              <a:rPr lang="zh-CN" altLang="en-US" b="1" dirty="0">
                <a:latin typeface="宋体" panose="02010600030101010101" pitchFamily="2" charset="-122"/>
                <a:ea typeface="宋体" panose="02010600030101010101" pitchFamily="2" charset="-122"/>
              </a:rPr>
              <a:t>编译器的其它部分直接访问符号表，而不必关心字符串的具体表示，操作简便</a:t>
            </a:r>
            <a:endParaRPr lang="en-US" altLang="zh-CN" b="1" dirty="0">
              <a:latin typeface="宋体" panose="02010600030101010101" pitchFamily="2" charset="-122"/>
              <a:ea typeface="宋体" panose="02010600030101010101" pitchFamily="2" charset="-122"/>
            </a:endParaRPr>
          </a:p>
          <a:p>
            <a:pPr lvl="3"/>
            <a:r>
              <a:rPr lang="zh-CN" altLang="en-US" b="1" dirty="0">
                <a:latin typeface="宋体" panose="02010600030101010101" pitchFamily="2" charset="-122"/>
                <a:ea typeface="宋体" panose="02010600030101010101" pitchFamily="2" charset="-122"/>
              </a:rPr>
              <a:t>入表时先查询，避免同名标识符重复入表，这个特点的一个应用是避免重复声明</a:t>
            </a:r>
            <a:endParaRPr lang="en-US" altLang="zh-CN" b="1" dirty="0">
              <a:latin typeface="宋体" panose="02010600030101010101" pitchFamily="2" charset="-122"/>
              <a:ea typeface="宋体" panose="02010600030101010101" pitchFamily="2" charset="-122"/>
            </a:endParaRPr>
          </a:p>
          <a:p>
            <a:pPr lvl="3"/>
            <a:r>
              <a:rPr lang="zh-CN" altLang="en-US" b="1" dirty="0">
                <a:latin typeface="宋体" panose="02010600030101010101" pitchFamily="2" charset="-122"/>
                <a:ea typeface="宋体" panose="02010600030101010101" pitchFamily="2" charset="-122"/>
              </a:rPr>
              <a:t>保留字容易区别：建表之初可以将关键字入表</a:t>
            </a:r>
            <a:endParaRPr lang="en-US" altLang="zh-CN"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0834" name="Picture 2"/>
          <p:cNvPicPr>
            <a:picLocks noChangeAspect="1"/>
          </p:cNvPicPr>
          <p:nvPr/>
        </p:nvPicPr>
        <p:blipFill>
          <a:blip r:embed="rId1"/>
          <a:stretch>
            <a:fillRect/>
          </a:stretch>
        </p:blipFill>
        <p:spPr>
          <a:xfrm>
            <a:off x="0" y="1773238"/>
            <a:ext cx="8999538" cy="4784725"/>
          </a:xfrm>
          <a:prstGeom prst="rect">
            <a:avLst/>
          </a:prstGeom>
          <a:noFill/>
          <a:ln w="9525">
            <a:noFill/>
          </a:ln>
        </p:spPr>
      </p:pic>
      <p:sp>
        <p:nvSpPr>
          <p:cNvPr id="120835" name="文本框 1"/>
          <p:cNvSpPr txBox="1"/>
          <p:nvPr/>
        </p:nvSpPr>
        <p:spPr>
          <a:xfrm>
            <a:off x="468313" y="1412875"/>
            <a:ext cx="8207375"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zh-CN" altLang="en-US" sz="2400" dirty="0">
                <a:ea typeface="宋体" panose="02010600030101010101" pitchFamily="2" charset="-122"/>
              </a:rPr>
              <a:t>用</a:t>
            </a:r>
            <a:r>
              <a:rPr lang="en-US" altLang="zh-CN" sz="2400" i="1" dirty="0">
                <a:ea typeface="宋体" panose="02010600030101010101" pitchFamily="2" charset="-122"/>
              </a:rPr>
              <a:t>Hashtable</a:t>
            </a:r>
            <a:r>
              <a:rPr lang="zh-CN" altLang="en-US" sz="2400" i="1" dirty="0">
                <a:ea typeface="宋体" panose="02010600030101010101" pitchFamily="2" charset="-122"/>
              </a:rPr>
              <a:t> </a:t>
            </a:r>
            <a:r>
              <a:rPr lang="en-US" altLang="zh-CN" sz="2400" i="1" dirty="0">
                <a:ea typeface="宋体" panose="02010600030101010101" pitchFamily="2" charset="-122"/>
              </a:rPr>
              <a:t>words</a:t>
            </a:r>
            <a:r>
              <a:rPr lang="zh-CN" altLang="en-US" sz="2400" i="1" dirty="0">
                <a:ea typeface="宋体" panose="02010600030101010101" pitchFamily="2" charset="-122"/>
              </a:rPr>
              <a:t> </a:t>
            </a:r>
            <a:r>
              <a:rPr lang="en-US" altLang="zh-CN" sz="2400" dirty="0">
                <a:ea typeface="宋体" panose="02010600030101010101" pitchFamily="2" charset="-122"/>
              </a:rPr>
              <a:t>=</a:t>
            </a:r>
            <a:r>
              <a:rPr lang="zh-CN" altLang="en-US" sz="2400" dirty="0">
                <a:ea typeface="宋体" panose="02010600030101010101" pitchFamily="2" charset="-122"/>
              </a:rPr>
              <a:t> </a:t>
            </a:r>
            <a:r>
              <a:rPr lang="en-US" altLang="zh-CN" sz="2400" b="1" dirty="0">
                <a:ea typeface="宋体" panose="02010600030101010101" pitchFamily="2" charset="-122"/>
              </a:rPr>
              <a:t>new</a:t>
            </a:r>
            <a:r>
              <a:rPr lang="zh-CN" altLang="en-US" sz="2400" dirty="0">
                <a:ea typeface="宋体" panose="02010600030101010101" pitchFamily="2" charset="-122"/>
              </a:rPr>
              <a:t> </a:t>
            </a:r>
            <a:r>
              <a:rPr lang="en-US" altLang="zh-CN" sz="2400" i="1" dirty="0">
                <a:ea typeface="宋体" panose="02010600030101010101" pitchFamily="2" charset="-122"/>
              </a:rPr>
              <a:t>Hashtable</a:t>
            </a:r>
            <a:r>
              <a:rPr lang="en-US" altLang="zh-CN" sz="2400" dirty="0">
                <a:ea typeface="宋体" panose="02010600030101010101" pitchFamily="2" charset="-122"/>
              </a:rPr>
              <a:t>( );</a:t>
            </a:r>
            <a:r>
              <a:rPr lang="zh-CN" altLang="en-US" sz="2400" dirty="0">
                <a:ea typeface="宋体" panose="02010600030101010101" pitchFamily="2" charset="-122"/>
              </a:rPr>
              <a:t>申请一个表记录标识符</a:t>
            </a:r>
            <a:endParaRPr lang="zh-CN" altLang="en-US" sz="2400" dirty="0">
              <a:ea typeface="宋体" panose="02010600030101010101" pitchFamily="2" charset="-122"/>
            </a:endParaRPr>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词法分析（</a:t>
            </a:r>
            <a:r>
              <a:rPr lang="en-US" altLang="zh-CN" dirty="0">
                <a:latin typeface="宋体" panose="02010600030101010101" pitchFamily="2" charset="-122"/>
                <a:ea typeface="宋体" panose="02010600030101010101" pitchFamily="2" charset="-122"/>
              </a:rPr>
              <a:t>5</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21859" name="Rectangle 11"/>
          <p:cNvSpPr>
            <a:spLocks noGrp="1"/>
          </p:cNvSpPr>
          <p:nvPr>
            <p:ph idx="1"/>
          </p:nvPr>
        </p:nvSpPr>
        <p:spPr>
          <a:xfrm>
            <a:off x="685800" y="1341438"/>
            <a:ext cx="7847013" cy="3527425"/>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词法分析器</a:t>
            </a:r>
            <a:r>
              <a:rPr lang="en-US" altLang="zh-CN" b="1" dirty="0">
                <a:latin typeface="宋体" panose="02010600030101010101" pitchFamily="2" charset="-122"/>
                <a:ea typeface="宋体" panose="02010600030101010101" pitchFamily="2" charset="-122"/>
              </a:rPr>
              <a:t>scan</a:t>
            </a:r>
            <a:r>
              <a:rPr lang="zh-CN" altLang="en-US" b="1" dirty="0">
                <a:latin typeface="宋体" panose="02010600030101010101" pitchFamily="2" charset="-122"/>
                <a:ea typeface="宋体" panose="02010600030101010101" pitchFamily="2" charset="-122"/>
              </a:rPr>
              <a:t>伪代码如下</a:t>
            </a:r>
            <a:endParaRPr lang="en-US" altLang="zh-CN" b="1" dirty="0">
              <a:latin typeface="宋体" panose="02010600030101010101" pitchFamily="2" charset="-122"/>
              <a:ea typeface="宋体" panose="02010600030101010101" pitchFamily="2" charset="-122"/>
            </a:endParaRPr>
          </a:p>
          <a:p>
            <a:pPr marL="457200" lvl="1" indent="0">
              <a:buNone/>
            </a:pPr>
            <a:r>
              <a:rPr lang="en-US" altLang="zh-CN" sz="1800" b="1" dirty="0">
                <a:latin typeface="宋体" panose="02010600030101010101" pitchFamily="2" charset="-122"/>
                <a:ea typeface="宋体" panose="02010600030101010101" pitchFamily="2" charset="-122"/>
              </a:rPr>
              <a:t>Token</a:t>
            </a:r>
            <a:r>
              <a:rPr lang="zh-CN" altLang="en-US" sz="1800" b="1"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scan</a:t>
            </a:r>
            <a:r>
              <a:rPr lang="zh-CN" altLang="en-US" sz="1800" b="1" dirty="0">
                <a:latin typeface="宋体" panose="02010600030101010101" pitchFamily="2" charset="-122"/>
                <a:ea typeface="宋体" panose="02010600030101010101" pitchFamily="2" charset="-122"/>
              </a:rPr>
              <a:t>（）</a:t>
            </a:r>
            <a:r>
              <a:rPr lang="en-US" altLang="zh-CN" sz="1800" b="1" dirty="0">
                <a:latin typeface="宋体" panose="02010600030101010101" pitchFamily="2" charset="-122"/>
                <a:ea typeface="宋体" panose="02010600030101010101" pitchFamily="2" charset="-122"/>
              </a:rPr>
              <a:t>{</a:t>
            </a:r>
            <a:endParaRPr lang="en-US" altLang="zh-CN" sz="1800" b="1" dirty="0">
              <a:latin typeface="宋体" panose="02010600030101010101" pitchFamily="2" charset="-122"/>
              <a:ea typeface="宋体" panose="02010600030101010101" pitchFamily="2" charset="-122"/>
            </a:endParaRPr>
          </a:p>
          <a:p>
            <a:pPr marL="457200" lvl="1" indent="0">
              <a:buNone/>
            </a:pPr>
            <a:r>
              <a:rPr lang="en-US" altLang="zh-CN" sz="1800" b="1" dirty="0">
                <a:latin typeface="宋体" panose="02010600030101010101" pitchFamily="2" charset="-122"/>
                <a:ea typeface="宋体" panose="02010600030101010101" pitchFamily="2" charset="-122"/>
              </a:rPr>
              <a:t>	</a:t>
            </a:r>
            <a:r>
              <a:rPr lang="zh-CN" altLang="en-US" sz="1800" b="1" dirty="0">
                <a:latin typeface="宋体" panose="02010600030101010101" pitchFamily="2" charset="-122"/>
                <a:ea typeface="宋体" panose="02010600030101010101" pitchFamily="2" charset="-122"/>
              </a:rPr>
              <a:t>跳过空白字符，见</a:t>
            </a:r>
            <a:r>
              <a:rPr lang="en-US" altLang="zh-CN" sz="1800" b="1" dirty="0">
                <a:latin typeface="宋体" panose="02010600030101010101" pitchFamily="2" charset="-122"/>
                <a:ea typeface="宋体" panose="02010600030101010101" pitchFamily="2" charset="-122"/>
              </a:rPr>
              <a:t>2.6.1</a:t>
            </a:r>
            <a:r>
              <a:rPr lang="zh-CN" altLang="en-US" sz="1800" b="1" dirty="0">
                <a:latin typeface="宋体" panose="02010600030101010101" pitchFamily="2" charset="-122"/>
                <a:ea typeface="宋体" panose="02010600030101010101" pitchFamily="2" charset="-122"/>
              </a:rPr>
              <a:t>节（</a:t>
            </a:r>
            <a:r>
              <a:rPr lang="en-US" altLang="zh-CN" sz="1800" b="1" dirty="0">
                <a:latin typeface="宋体" panose="02010600030101010101" pitchFamily="2" charset="-122"/>
                <a:ea typeface="宋体" panose="02010600030101010101" pitchFamily="2" charset="-122"/>
              </a:rPr>
              <a:t>P55</a:t>
            </a:r>
            <a:r>
              <a:rPr lang="zh-CN" altLang="en-US" sz="1800" b="1" dirty="0">
                <a:latin typeface="宋体" panose="02010600030101010101" pitchFamily="2" charset="-122"/>
                <a:ea typeface="宋体" panose="02010600030101010101" pitchFamily="2" charset="-122"/>
              </a:rPr>
              <a:t>）；</a:t>
            </a:r>
            <a:endParaRPr lang="en-US" altLang="zh-CN" sz="1800" b="1" dirty="0">
              <a:latin typeface="宋体" panose="02010600030101010101" pitchFamily="2" charset="-122"/>
              <a:ea typeface="宋体" panose="02010600030101010101" pitchFamily="2" charset="-122"/>
            </a:endParaRPr>
          </a:p>
          <a:p>
            <a:pPr marL="457200" lvl="1" indent="0">
              <a:buNone/>
            </a:pPr>
            <a:r>
              <a:rPr lang="en-US" altLang="zh-CN" sz="1800" b="1" dirty="0">
                <a:latin typeface="宋体" panose="02010600030101010101" pitchFamily="2" charset="-122"/>
                <a:ea typeface="宋体" panose="02010600030101010101" pitchFamily="2" charset="-122"/>
              </a:rPr>
              <a:t>	</a:t>
            </a:r>
            <a:r>
              <a:rPr lang="zh-CN" altLang="en-US" sz="1800" b="1" dirty="0">
                <a:latin typeface="宋体" panose="02010600030101010101" pitchFamily="2" charset="-122"/>
                <a:ea typeface="宋体" panose="02010600030101010101" pitchFamily="2" charset="-122"/>
              </a:rPr>
              <a:t>处理数字，见</a:t>
            </a:r>
            <a:r>
              <a:rPr lang="en-US" altLang="zh-CN" sz="1800" b="1" dirty="0">
                <a:latin typeface="宋体" panose="02010600030101010101" pitchFamily="2" charset="-122"/>
                <a:ea typeface="宋体" panose="02010600030101010101" pitchFamily="2" charset="-122"/>
              </a:rPr>
              <a:t>2.6.3</a:t>
            </a:r>
            <a:r>
              <a:rPr lang="zh-CN" altLang="en-US" sz="1800" b="1" dirty="0">
                <a:latin typeface="宋体" panose="02010600030101010101" pitchFamily="2" charset="-122"/>
                <a:ea typeface="宋体" panose="02010600030101010101" pitchFamily="2" charset="-122"/>
              </a:rPr>
              <a:t>节（</a:t>
            </a:r>
            <a:r>
              <a:rPr lang="en-US" altLang="zh-CN" sz="1800" b="1" dirty="0">
                <a:latin typeface="宋体" panose="02010600030101010101" pitchFamily="2" charset="-122"/>
                <a:ea typeface="宋体" panose="02010600030101010101" pitchFamily="2" charset="-122"/>
              </a:rPr>
              <a:t>P56</a:t>
            </a:r>
            <a:r>
              <a:rPr lang="zh-CN" altLang="en-US" sz="1800" b="1" dirty="0">
                <a:latin typeface="宋体" panose="02010600030101010101" pitchFamily="2" charset="-122"/>
                <a:ea typeface="宋体" panose="02010600030101010101" pitchFamily="2" charset="-122"/>
              </a:rPr>
              <a:t>）；</a:t>
            </a:r>
            <a:endParaRPr lang="en-US" altLang="zh-CN" sz="1800" b="1" dirty="0">
              <a:latin typeface="宋体" panose="02010600030101010101" pitchFamily="2" charset="-122"/>
              <a:ea typeface="宋体" panose="02010600030101010101" pitchFamily="2" charset="-122"/>
            </a:endParaRPr>
          </a:p>
          <a:p>
            <a:pPr marL="457200" lvl="1" indent="0">
              <a:buNone/>
            </a:pPr>
            <a:r>
              <a:rPr lang="en-US" altLang="zh-CN" sz="1800" b="1" dirty="0">
                <a:latin typeface="宋体" panose="02010600030101010101" pitchFamily="2" charset="-122"/>
                <a:ea typeface="宋体" panose="02010600030101010101" pitchFamily="2" charset="-122"/>
              </a:rPr>
              <a:t>	</a:t>
            </a:r>
            <a:r>
              <a:rPr lang="zh-CN" altLang="en-US" sz="1800" b="1" dirty="0">
                <a:latin typeface="宋体" panose="02010600030101010101" pitchFamily="2" charset="-122"/>
                <a:ea typeface="宋体" panose="02010600030101010101" pitchFamily="2" charset="-122"/>
              </a:rPr>
              <a:t>处理保留字和标识符（</a:t>
            </a:r>
            <a:r>
              <a:rPr lang="en-US" altLang="zh-CN" sz="1800" b="1" dirty="0">
                <a:latin typeface="宋体" panose="02010600030101010101" pitchFamily="2" charset="-122"/>
                <a:ea typeface="宋体" panose="02010600030101010101" pitchFamily="2" charset="-122"/>
              </a:rPr>
              <a:t>P58</a:t>
            </a:r>
            <a:r>
              <a:rPr lang="zh-CN" altLang="en-US" sz="1800" b="1" dirty="0">
                <a:latin typeface="宋体" panose="02010600030101010101" pitchFamily="2" charset="-122"/>
                <a:ea typeface="宋体" panose="02010600030101010101" pitchFamily="2" charset="-122"/>
              </a:rPr>
              <a:t>），见</a:t>
            </a:r>
            <a:r>
              <a:rPr lang="en-US" altLang="zh-CN" sz="1800" b="1" dirty="0">
                <a:latin typeface="宋体" panose="02010600030101010101" pitchFamily="2" charset="-122"/>
                <a:ea typeface="宋体" panose="02010600030101010101" pitchFamily="2" charset="-122"/>
              </a:rPr>
              <a:t>2.6.4</a:t>
            </a:r>
            <a:r>
              <a:rPr lang="zh-CN" altLang="en-US" sz="1800" b="1" dirty="0">
                <a:latin typeface="宋体" panose="02010600030101010101" pitchFamily="2" charset="-122"/>
                <a:ea typeface="宋体" panose="02010600030101010101" pitchFamily="2" charset="-122"/>
              </a:rPr>
              <a:t>节；</a:t>
            </a:r>
            <a:endParaRPr lang="en-US" altLang="zh-CN" sz="1800" b="1" dirty="0">
              <a:latin typeface="宋体" panose="02010600030101010101" pitchFamily="2" charset="-122"/>
              <a:ea typeface="宋体" panose="02010600030101010101" pitchFamily="2" charset="-122"/>
            </a:endParaRPr>
          </a:p>
          <a:p>
            <a:pPr marL="457200" lvl="1" indent="0">
              <a:buNone/>
            </a:pPr>
            <a:r>
              <a:rPr lang="en-US" altLang="zh-CN" sz="1800" b="1" dirty="0">
                <a:latin typeface="宋体" panose="02010600030101010101" pitchFamily="2" charset="-122"/>
                <a:ea typeface="宋体" panose="02010600030101010101" pitchFamily="2" charset="-122"/>
              </a:rPr>
              <a:t>	/</a:t>
            </a:r>
            <a:r>
              <a:rPr lang="zh-CN" altLang="en-US" sz="1800" b="1" dirty="0">
                <a:latin typeface="宋体" panose="02010600030101010101" pitchFamily="2" charset="-122"/>
                <a:ea typeface="宋体" panose="02010600030101010101" pitchFamily="2" charset="-122"/>
              </a:rPr>
              <a:t>* 此时，已可将预读字符</a:t>
            </a:r>
            <a:r>
              <a:rPr lang="en-US" altLang="zh-CN" sz="1800" b="1" dirty="0">
                <a:latin typeface="宋体" panose="02010600030101010101" pitchFamily="2" charset="-122"/>
                <a:ea typeface="宋体" panose="02010600030101010101" pitchFamily="2" charset="-122"/>
              </a:rPr>
              <a:t>peek</a:t>
            </a:r>
            <a:r>
              <a:rPr lang="zh-CN" altLang="en-US" sz="1800" b="1" dirty="0">
                <a:latin typeface="宋体" panose="02010600030101010101" pitchFamily="2" charset="-122"/>
                <a:ea typeface="宋体" panose="02010600030101010101" pitchFamily="2" charset="-122"/>
              </a:rPr>
              <a:t>作为一个词法单元*</a:t>
            </a:r>
            <a:r>
              <a:rPr lang="en-US" altLang="zh-CN" sz="1800" b="1" dirty="0">
                <a:latin typeface="宋体" panose="02010600030101010101" pitchFamily="2" charset="-122"/>
                <a:ea typeface="宋体" panose="02010600030101010101" pitchFamily="2" charset="-122"/>
              </a:rPr>
              <a:t>/</a:t>
            </a:r>
            <a:endParaRPr lang="en-US" altLang="zh-CN" sz="1800" b="1" dirty="0">
              <a:latin typeface="宋体" panose="02010600030101010101" pitchFamily="2" charset="-122"/>
              <a:ea typeface="宋体" panose="02010600030101010101" pitchFamily="2" charset="-122"/>
            </a:endParaRPr>
          </a:p>
          <a:p>
            <a:pPr marL="457200" lvl="1" indent="0">
              <a:buNone/>
            </a:pPr>
            <a:r>
              <a:rPr lang="en-US" altLang="zh-CN" sz="1800" b="1" dirty="0">
                <a:latin typeface="宋体" panose="02010600030101010101" pitchFamily="2" charset="-122"/>
                <a:ea typeface="宋体" panose="02010600030101010101" pitchFamily="2" charset="-122"/>
              </a:rPr>
              <a:t>	</a:t>
            </a:r>
            <a:r>
              <a:rPr lang="en-US" altLang="zh-CN" sz="1800" i="1" dirty="0">
                <a:latin typeface="宋体" panose="02010600030101010101" pitchFamily="2" charset="-122"/>
                <a:ea typeface="宋体" panose="02010600030101010101" pitchFamily="2" charset="-122"/>
              </a:rPr>
              <a:t>Token</a:t>
            </a:r>
            <a:r>
              <a:rPr lang="en-US" altLang="zh-CN" sz="1800" b="1" dirty="0">
                <a:latin typeface="宋体" panose="02010600030101010101" pitchFamily="2" charset="-122"/>
                <a:ea typeface="宋体" panose="02010600030101010101" pitchFamily="2" charset="-122"/>
              </a:rPr>
              <a:t> </a:t>
            </a:r>
            <a:r>
              <a:rPr lang="en-US" altLang="zh-CN" sz="1800" i="1" dirty="0">
                <a:latin typeface="宋体" panose="02010600030101010101" pitchFamily="2" charset="-122"/>
                <a:ea typeface="宋体" panose="02010600030101010101" pitchFamily="2" charset="-122"/>
              </a:rPr>
              <a:t>t</a:t>
            </a:r>
            <a:r>
              <a:rPr lang="en-US" altLang="zh-CN" sz="1800" b="1" dirty="0">
                <a:latin typeface="宋体" panose="02010600030101010101" pitchFamily="2" charset="-122"/>
                <a:ea typeface="宋体" panose="02010600030101010101" pitchFamily="2" charset="-122"/>
              </a:rPr>
              <a:t> = new </a:t>
            </a:r>
            <a:r>
              <a:rPr lang="en-US" altLang="zh-CN" sz="1800" i="1" dirty="0">
                <a:latin typeface="宋体" panose="02010600030101010101" pitchFamily="2" charset="-122"/>
                <a:ea typeface="宋体" panose="02010600030101010101" pitchFamily="2" charset="-122"/>
              </a:rPr>
              <a:t>Token</a:t>
            </a:r>
            <a:r>
              <a:rPr lang="en-US" altLang="zh-CN" sz="1800" b="1" dirty="0">
                <a:latin typeface="宋体" panose="02010600030101010101" pitchFamily="2" charset="-122"/>
                <a:ea typeface="宋体" panose="02010600030101010101" pitchFamily="2" charset="-122"/>
              </a:rPr>
              <a:t>(</a:t>
            </a:r>
            <a:r>
              <a:rPr lang="en-US" altLang="zh-CN" sz="1800" i="1" dirty="0">
                <a:latin typeface="宋体" panose="02010600030101010101" pitchFamily="2" charset="-122"/>
                <a:ea typeface="宋体" panose="02010600030101010101" pitchFamily="2" charset="-122"/>
              </a:rPr>
              <a:t>peek</a:t>
            </a:r>
            <a:r>
              <a:rPr lang="en-US" altLang="zh-CN" sz="1800" b="1" dirty="0">
                <a:latin typeface="宋体" panose="02010600030101010101" pitchFamily="2" charset="-122"/>
                <a:ea typeface="宋体" panose="02010600030101010101" pitchFamily="2" charset="-122"/>
              </a:rPr>
              <a:t>);</a:t>
            </a:r>
            <a:endParaRPr lang="en-US" altLang="zh-CN" sz="1800" b="1" dirty="0">
              <a:latin typeface="宋体" panose="02010600030101010101" pitchFamily="2" charset="-122"/>
              <a:ea typeface="宋体" panose="02010600030101010101" pitchFamily="2" charset="-122"/>
            </a:endParaRPr>
          </a:p>
          <a:p>
            <a:pPr marL="457200" lvl="1" indent="0">
              <a:buNone/>
            </a:pPr>
            <a:r>
              <a:rPr lang="en-US" altLang="zh-CN" sz="1800" b="1" dirty="0">
                <a:latin typeface="宋体" panose="02010600030101010101" pitchFamily="2" charset="-122"/>
                <a:ea typeface="宋体" panose="02010600030101010101" pitchFamily="2" charset="-122"/>
              </a:rPr>
              <a:t>	</a:t>
            </a:r>
            <a:r>
              <a:rPr lang="en-US" altLang="zh-CN" sz="1800" i="1" dirty="0">
                <a:latin typeface="宋体" panose="02010600030101010101" pitchFamily="2" charset="-122"/>
                <a:ea typeface="宋体" panose="02010600030101010101" pitchFamily="2" charset="-122"/>
              </a:rPr>
              <a:t>peek</a:t>
            </a:r>
            <a:r>
              <a:rPr lang="en-US" altLang="zh-CN" sz="1800" b="1" dirty="0">
                <a:latin typeface="宋体" panose="02010600030101010101" pitchFamily="2" charset="-122"/>
                <a:ea typeface="宋体" panose="02010600030101010101" pitchFamily="2" charset="-122"/>
              </a:rPr>
              <a:t> = </a:t>
            </a:r>
            <a:r>
              <a:rPr lang="zh-CN" altLang="en-US" sz="1800" b="1" dirty="0">
                <a:latin typeface="宋体" panose="02010600030101010101" pitchFamily="2" charset="-122"/>
                <a:ea typeface="宋体" panose="02010600030101010101" pitchFamily="2" charset="-122"/>
              </a:rPr>
              <a:t>空白符；</a:t>
            </a:r>
            <a:r>
              <a:rPr lang="en-US" altLang="zh-CN" sz="1800" b="1" dirty="0">
                <a:latin typeface="宋体" panose="02010600030101010101" pitchFamily="2" charset="-122"/>
                <a:ea typeface="宋体" panose="02010600030101010101" pitchFamily="2" charset="-122"/>
              </a:rPr>
              <a:t>/</a:t>
            </a:r>
            <a:r>
              <a:rPr lang="zh-CN" altLang="en-US" sz="1800" b="1" dirty="0">
                <a:latin typeface="宋体" panose="02010600030101010101" pitchFamily="2" charset="-122"/>
                <a:ea typeface="宋体" panose="02010600030101010101" pitchFamily="2" charset="-122"/>
              </a:rPr>
              <a:t>*按照</a:t>
            </a:r>
            <a:r>
              <a:rPr lang="en-US" altLang="zh-CN" sz="1800" b="1" dirty="0">
                <a:latin typeface="宋体" panose="02010600030101010101" pitchFamily="2" charset="-122"/>
                <a:ea typeface="宋体" panose="02010600030101010101" pitchFamily="2" charset="-122"/>
              </a:rPr>
              <a:t>2.6.2</a:t>
            </a:r>
            <a:r>
              <a:rPr lang="zh-CN" altLang="en-US" sz="1800" b="1" dirty="0">
                <a:latin typeface="宋体" panose="02010600030101010101" pitchFamily="2" charset="-122"/>
                <a:ea typeface="宋体" panose="02010600030101010101" pitchFamily="2" charset="-122"/>
              </a:rPr>
              <a:t>节讨论的方法初始化*</a:t>
            </a:r>
            <a:r>
              <a:rPr lang="en-US" altLang="zh-CN" sz="1800" b="1" dirty="0">
                <a:latin typeface="宋体" panose="02010600030101010101" pitchFamily="2" charset="-122"/>
                <a:ea typeface="宋体" panose="02010600030101010101" pitchFamily="2" charset="-122"/>
              </a:rPr>
              <a:t>/</a:t>
            </a:r>
            <a:endParaRPr lang="en-US" altLang="zh-CN" sz="1800" b="1" dirty="0">
              <a:latin typeface="宋体" panose="02010600030101010101" pitchFamily="2" charset="-122"/>
              <a:ea typeface="宋体" panose="02010600030101010101" pitchFamily="2" charset="-122"/>
            </a:endParaRPr>
          </a:p>
          <a:p>
            <a:pPr marL="457200" lvl="1" indent="0">
              <a:buNone/>
            </a:pPr>
            <a:r>
              <a:rPr lang="en-US" altLang="zh-CN" sz="1800" b="1" dirty="0">
                <a:latin typeface="宋体" panose="02010600030101010101" pitchFamily="2" charset="-122"/>
                <a:ea typeface="宋体" panose="02010600030101010101" pitchFamily="2" charset="-122"/>
              </a:rPr>
              <a:t>	return </a:t>
            </a:r>
            <a:r>
              <a:rPr lang="en-US" altLang="zh-CN" sz="1800" i="1" dirty="0">
                <a:latin typeface="宋体" panose="02010600030101010101" pitchFamily="2" charset="-122"/>
                <a:ea typeface="宋体" panose="02010600030101010101" pitchFamily="2" charset="-122"/>
              </a:rPr>
              <a:t>t</a:t>
            </a:r>
            <a:r>
              <a:rPr lang="en-US" altLang="zh-CN" sz="1800" b="1" dirty="0">
                <a:latin typeface="宋体" panose="02010600030101010101" pitchFamily="2" charset="-122"/>
                <a:ea typeface="宋体" panose="02010600030101010101" pitchFamily="2" charset="-122"/>
              </a:rPr>
              <a:t>;</a:t>
            </a:r>
            <a:endParaRPr lang="en-US" altLang="zh-CN" sz="1800" b="1" dirty="0">
              <a:latin typeface="宋体" panose="02010600030101010101" pitchFamily="2" charset="-122"/>
              <a:ea typeface="宋体" panose="02010600030101010101" pitchFamily="2" charset="-122"/>
            </a:endParaRPr>
          </a:p>
          <a:p>
            <a:pPr marL="457200" lvl="1" indent="0">
              <a:buNone/>
            </a:pPr>
            <a:r>
              <a:rPr lang="en-US" altLang="zh-CN" sz="1800" b="1" dirty="0">
                <a:latin typeface="宋体" panose="02010600030101010101" pitchFamily="2" charset="-122"/>
                <a:ea typeface="宋体" panose="02010600030101010101" pitchFamily="2" charset="-122"/>
              </a:rPr>
              <a:t>}</a:t>
            </a:r>
            <a:endParaRPr lang="en-US" altLang="zh-CN" sz="1800" b="1" dirty="0">
              <a:latin typeface="宋体" panose="02010600030101010101" pitchFamily="2" charset="-122"/>
              <a:ea typeface="宋体" panose="02010600030101010101" pitchFamily="2" charset="-122"/>
            </a:endParaRPr>
          </a:p>
        </p:txBody>
      </p:sp>
      <p:pic>
        <p:nvPicPr>
          <p:cNvPr id="121860" name="Picture 2"/>
          <p:cNvPicPr>
            <a:picLocks noChangeAspect="1"/>
          </p:cNvPicPr>
          <p:nvPr/>
        </p:nvPicPr>
        <p:blipFill>
          <a:blip r:embed="rId1"/>
          <a:stretch>
            <a:fillRect/>
          </a:stretch>
        </p:blipFill>
        <p:spPr>
          <a:xfrm>
            <a:off x="1763713" y="4508500"/>
            <a:ext cx="5584825" cy="2017713"/>
          </a:xfrm>
          <a:prstGeom prst="rect">
            <a:avLst/>
          </a:prstGeom>
          <a:noFill/>
          <a:ln w="9525">
            <a:noFill/>
          </a:ln>
        </p:spPr>
      </p:pic>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3906" name="Picture 2"/>
          <p:cNvPicPr>
            <a:picLocks noChangeAspect="1"/>
          </p:cNvPicPr>
          <p:nvPr/>
        </p:nvPicPr>
        <p:blipFill>
          <a:blip r:embed="rId1"/>
          <a:stretch>
            <a:fillRect/>
          </a:stretch>
        </p:blipFill>
        <p:spPr>
          <a:xfrm>
            <a:off x="381000" y="685800"/>
            <a:ext cx="8510588" cy="5184775"/>
          </a:xfrm>
          <a:prstGeom prst="rect">
            <a:avLst/>
          </a:prstGeom>
          <a:noFill/>
          <a:ln w="9525">
            <a:noFill/>
          </a:ln>
        </p:spPr>
      </p:pic>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4930" name="Picture 2"/>
          <p:cNvPicPr>
            <a:picLocks noChangeAspect="1"/>
          </p:cNvPicPr>
          <p:nvPr/>
        </p:nvPicPr>
        <p:blipFill>
          <a:blip r:embed="rId1"/>
          <a:stretch>
            <a:fillRect/>
          </a:stretch>
        </p:blipFill>
        <p:spPr>
          <a:xfrm>
            <a:off x="762000" y="228600"/>
            <a:ext cx="7620000" cy="6213475"/>
          </a:xfrm>
          <a:prstGeom prst="rect">
            <a:avLst/>
          </a:prstGeom>
          <a:noFill/>
          <a:ln w="9525">
            <a:noFill/>
          </a:ln>
        </p:spPr>
      </p:pic>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5954" name="Picture 2"/>
          <p:cNvPicPr>
            <a:picLocks noChangeAspect="1"/>
          </p:cNvPicPr>
          <p:nvPr/>
        </p:nvPicPr>
        <p:blipFill>
          <a:blip r:embed="rId1"/>
          <a:stretch>
            <a:fillRect/>
          </a:stretch>
        </p:blipFill>
        <p:spPr>
          <a:xfrm>
            <a:off x="1447800" y="0"/>
            <a:ext cx="6229350" cy="6769100"/>
          </a:xfrm>
          <a:prstGeom prst="rect">
            <a:avLst/>
          </a:prstGeom>
          <a:noFill/>
          <a:ln w="9525">
            <a:noFill/>
          </a:ln>
        </p:spPr>
      </p:pic>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符号表（</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26979" name="Rectangle 11"/>
          <p:cNvSpPr>
            <a:spLocks noGrp="1"/>
          </p:cNvSpPr>
          <p:nvPr>
            <p:ph idx="1"/>
          </p:nvPr>
        </p:nvSpPr>
        <p:spPr>
          <a:xfrm>
            <a:off x="685800" y="1341438"/>
            <a:ext cx="7847013" cy="4953000"/>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定义：</a:t>
            </a:r>
            <a:endParaRPr lang="en-US" altLang="zh-CN" b="1" dirty="0">
              <a:latin typeface="宋体" panose="02010600030101010101" pitchFamily="2" charset="-122"/>
              <a:ea typeface="宋体" panose="02010600030101010101" pitchFamily="2" charset="-122"/>
            </a:endParaRPr>
          </a:p>
          <a:p>
            <a:pPr lvl="1"/>
            <a:r>
              <a:rPr lang="en-US" altLang="zh-CN" b="1" dirty="0">
                <a:latin typeface="宋体" panose="02010600030101010101" pitchFamily="2" charset="-122"/>
                <a:ea typeface="宋体" panose="02010600030101010101" pitchFamily="2" charset="-122"/>
              </a:rPr>
              <a:t>symbol table</a:t>
            </a:r>
            <a:r>
              <a:rPr lang="zh-CN" altLang="en-US" b="1" dirty="0">
                <a:latin typeface="宋体" panose="02010600030101010101" pitchFamily="2" charset="-122"/>
                <a:ea typeface="宋体" panose="02010600030101010101" pitchFamily="2" charset="-122"/>
              </a:rPr>
              <a:t>，用于保存有关源程序构造的各种信息的数据结构</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编译器的各个阶段都可能对符号表进行访问</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操作</a:t>
            </a:r>
            <a:endParaRPr lang="en-US" altLang="zh-CN" b="1" dirty="0">
              <a:latin typeface="宋体" panose="02010600030101010101" pitchFamily="2" charset="-122"/>
              <a:ea typeface="宋体" panose="02010600030101010101" pitchFamily="2" charset="-122"/>
            </a:endParaRPr>
          </a:p>
          <a:p>
            <a:pPr lvl="3"/>
            <a:r>
              <a:rPr lang="zh-CN" altLang="en-US" b="1" dirty="0">
                <a:latin typeface="宋体" panose="02010600030101010101" pitchFamily="2" charset="-122"/>
                <a:ea typeface="宋体" panose="02010600030101010101" pitchFamily="2" charset="-122"/>
              </a:rPr>
              <a:t>符号表不仅是在编译时刻有用，在程序的调试等阶段，符号表仍然有用</a:t>
            </a:r>
            <a:endParaRPr lang="en-US" altLang="zh-CN" b="1" dirty="0">
              <a:latin typeface="宋体" panose="02010600030101010101" pitchFamily="2" charset="-122"/>
              <a:ea typeface="宋体" panose="02010600030101010101" pitchFamily="2" charset="-122"/>
            </a:endParaRPr>
          </a:p>
          <a:p>
            <a:pPr lvl="3"/>
            <a:r>
              <a:rPr lang="zh-CN" altLang="en-US" b="1" dirty="0">
                <a:latin typeface="宋体" panose="02010600030101010101" pitchFamily="2" charset="-122"/>
                <a:ea typeface="宋体" panose="02010600030101010101" pitchFamily="2" charset="-122"/>
              </a:rPr>
              <a:t>词法分析可以为一个标识符建立符号表表项，但语法分析为其建立，可以更方便地确认是否需要建立新的表项，还是使用以前的表项</a:t>
            </a:r>
            <a:endParaRPr lang="en-US" altLang="zh-CN" b="1" dirty="0">
              <a:latin typeface="宋体" panose="02010600030101010101" pitchFamily="2" charset="-122"/>
              <a:ea typeface="宋体" panose="02010600030101010101" pitchFamily="2" charset="-122"/>
            </a:endParaRPr>
          </a:p>
          <a:p>
            <a:pPr lvl="4"/>
            <a:r>
              <a:rPr lang="zh-CN" altLang="en-US" b="1" dirty="0">
                <a:latin typeface="宋体" panose="02010600030101010101" pitchFamily="2" charset="-122"/>
                <a:ea typeface="宋体" panose="02010600030101010101" pitchFamily="2" charset="-122"/>
              </a:rPr>
              <a:t>有的语言允许对于一个名字的声明通过多个语句完成，因此符号表表项的建立可能需要多步</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作用域规则对符号表是有影响的</a:t>
            </a:r>
            <a:endParaRPr lang="en-US" altLang="zh-CN"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符号表（</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29027" name="Rectangle 11"/>
          <p:cNvSpPr>
            <a:spLocks noGrp="1"/>
          </p:cNvSpPr>
          <p:nvPr>
            <p:ph idx="1"/>
          </p:nvPr>
        </p:nvSpPr>
        <p:spPr>
          <a:xfrm>
            <a:off x="827088" y="1268413"/>
            <a:ext cx="7847012" cy="4953000"/>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为每个作用域设置一个符号表</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作用域是指一个或多个声明起作用的程序部分</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可以嵌套</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对标识符作用域的解释采用最近嵌套原则</a:t>
            </a:r>
            <a:endParaRPr lang="en-US" altLang="zh-CN" b="1" dirty="0">
              <a:latin typeface="宋体" panose="02010600030101010101" pitchFamily="2" charset="-122"/>
              <a:ea typeface="宋体" panose="02010600030101010101" pitchFamily="2" charset="-122"/>
            </a:endParaRPr>
          </a:p>
          <a:p>
            <a:pPr lvl="3"/>
            <a:r>
              <a:rPr lang="zh-CN" altLang="en-US" b="1" dirty="0">
                <a:latin typeface="宋体" panose="02010600030101010101" pitchFamily="2" charset="-122"/>
                <a:ea typeface="宋体" panose="02010600030101010101" pitchFamily="2" charset="-122"/>
              </a:rPr>
              <a:t>当一个作用域终结时，对标识符的解释可能发生变化</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在一些语言中，程序块就是一个作用域</a:t>
            </a:r>
            <a:endParaRPr lang="en-US" altLang="zh-CN" b="1" dirty="0">
              <a:latin typeface="宋体" panose="02010600030101010101" pitchFamily="2" charset="-122"/>
              <a:ea typeface="宋体" panose="02010600030101010101" pitchFamily="2" charset="-122"/>
            </a:endParaRPr>
          </a:p>
          <a:p>
            <a:pPr lvl="3"/>
            <a:r>
              <a:rPr lang="en-US" altLang="zh-CN" b="1" i="1" dirty="0">
                <a:latin typeface="宋体" panose="02010600030101010101" pitchFamily="2" charset="-122"/>
                <a:ea typeface="宋体" panose="02010600030101010101" pitchFamily="2" charset="-122"/>
              </a:rPr>
              <a:t>block</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 </a:t>
            </a:r>
            <a:r>
              <a:rPr lang="en-US" altLang="zh-CN" b="1" i="1" dirty="0">
                <a:latin typeface="宋体" panose="02010600030101010101" pitchFamily="2" charset="-122"/>
                <a:ea typeface="宋体" panose="02010600030101010101" pitchFamily="2" charset="-122"/>
              </a:rPr>
              <a:t>decls stmts </a:t>
            </a:r>
            <a:r>
              <a:rPr lang="en-US" altLang="zh-CN" b="1" dirty="0">
                <a:latin typeface="宋体" panose="02010600030101010101" pitchFamily="2" charset="-122"/>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为了满足作用域嵌套的情形，可以用符号表栈来实现对符号表的管理</a:t>
            </a:r>
            <a:endParaRPr lang="en-US" altLang="zh-CN" b="1" dirty="0">
              <a:latin typeface="宋体" panose="02010600030101010101" pitchFamily="2" charset="-122"/>
              <a:ea typeface="宋体" panose="02010600030101010101" pitchFamily="2" charset="-122"/>
            </a:endParaRPr>
          </a:p>
          <a:p>
            <a:pPr lvl="2"/>
            <a:endParaRPr lang="en-US" altLang="zh-CN"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Rectangle 5"/>
          <p:cNvSpPr>
            <a:spLocks noGrp="1"/>
          </p:cNvSpPr>
          <p:nvPr>
            <p:ph idx="1"/>
          </p:nvPr>
        </p:nvSpPr>
        <p:spPr>
          <a:xfrm>
            <a:off x="914400" y="457200"/>
            <a:ext cx="7543800" cy="5715000"/>
          </a:xfrm>
        </p:spPr>
        <p:txBody>
          <a:bodyPr vert="horz" wrap="square" lIns="92075" tIns="46038" rIns="92075" bIns="46038" anchor="t" anchorCtr="0"/>
          <a:p>
            <a:pPr lvl="3">
              <a:lnSpc>
                <a:spcPct val="90000"/>
              </a:lnSpc>
              <a:buFont typeface="Wingdings" panose="05000000000000000000" pitchFamily="2" charset="2"/>
              <a:buNone/>
            </a:pPr>
            <a:r>
              <a:rPr lang="en-US" altLang="zh-CN" sz="1400" b="1" dirty="0">
                <a:ea typeface="宋体" panose="02010600030101010101" pitchFamily="2" charset="-122"/>
              </a:rPr>
              <a:t>program e;</a:t>
            </a:r>
            <a:endParaRPr lang="en-US" altLang="zh-CN" sz="1400" b="1" dirty="0">
              <a:ea typeface="宋体" panose="02010600030101010101" pitchFamily="2" charset="-122"/>
            </a:endParaRPr>
          </a:p>
          <a:p>
            <a:pPr lvl="3">
              <a:lnSpc>
                <a:spcPct val="90000"/>
              </a:lnSpc>
              <a:buFont typeface="Wingdings" panose="05000000000000000000" pitchFamily="2" charset="2"/>
              <a:buNone/>
            </a:pPr>
            <a:r>
              <a:rPr lang="en-US" altLang="zh-CN" sz="1400" b="1" dirty="0">
                <a:ea typeface="宋体" panose="02010600030101010101" pitchFamily="2" charset="-122"/>
              </a:rPr>
              <a:t>	var a, b, c : integer;</a:t>
            </a:r>
            <a:endParaRPr lang="en-US" altLang="zh-CN" sz="1400" b="1" dirty="0">
              <a:ea typeface="宋体" panose="02010600030101010101" pitchFamily="2" charset="-122"/>
            </a:endParaRPr>
          </a:p>
          <a:p>
            <a:pPr lvl="3">
              <a:lnSpc>
                <a:spcPct val="90000"/>
              </a:lnSpc>
              <a:buFont typeface="Wingdings" panose="05000000000000000000" pitchFamily="2" charset="2"/>
              <a:buNone/>
            </a:pPr>
            <a:endParaRPr lang="en-US" altLang="zh-CN" sz="1400" b="1" dirty="0">
              <a:ea typeface="宋体" panose="02010600030101010101" pitchFamily="2" charset="-122"/>
            </a:endParaRPr>
          </a:p>
          <a:p>
            <a:pPr lvl="3">
              <a:lnSpc>
                <a:spcPct val="90000"/>
              </a:lnSpc>
              <a:buFont typeface="Wingdings" panose="05000000000000000000" pitchFamily="2" charset="2"/>
              <a:buNone/>
            </a:pPr>
            <a:r>
              <a:rPr lang="en-US" altLang="zh-CN" sz="1400" b="1" dirty="0">
                <a:ea typeface="宋体" panose="02010600030101010101" pitchFamily="2" charset="-122"/>
              </a:rPr>
              <a:t>	procedure f;</a:t>
            </a:r>
            <a:endParaRPr lang="en-US" altLang="zh-CN" sz="1400" b="1" dirty="0">
              <a:ea typeface="宋体" panose="02010600030101010101" pitchFamily="2" charset="-122"/>
            </a:endParaRPr>
          </a:p>
          <a:p>
            <a:pPr lvl="3">
              <a:lnSpc>
                <a:spcPct val="90000"/>
              </a:lnSpc>
              <a:buFont typeface="Wingdings" panose="05000000000000000000" pitchFamily="2" charset="2"/>
              <a:buNone/>
            </a:pPr>
            <a:r>
              <a:rPr lang="en-US" altLang="zh-CN" sz="1400" b="1" dirty="0">
                <a:ea typeface="宋体" panose="02010600030101010101" pitchFamily="2" charset="-122"/>
              </a:rPr>
              <a:t>		var a, b, c : integer;</a:t>
            </a:r>
            <a:endParaRPr lang="en-US" altLang="zh-CN" sz="1400" b="1" dirty="0">
              <a:ea typeface="宋体" panose="02010600030101010101" pitchFamily="2" charset="-122"/>
            </a:endParaRPr>
          </a:p>
          <a:p>
            <a:pPr lvl="3">
              <a:lnSpc>
                <a:spcPct val="90000"/>
              </a:lnSpc>
              <a:buFont typeface="Wingdings" panose="05000000000000000000" pitchFamily="2" charset="2"/>
              <a:buNone/>
            </a:pPr>
            <a:r>
              <a:rPr lang="en-US" altLang="zh-CN" sz="1400" b="1" dirty="0">
                <a:ea typeface="宋体" panose="02010600030101010101" pitchFamily="2" charset="-122"/>
              </a:rPr>
              <a:t>	begin	a := b + c	end;</a:t>
            </a:r>
            <a:endParaRPr lang="en-US" altLang="zh-CN" sz="1400" b="1" dirty="0">
              <a:ea typeface="宋体" panose="02010600030101010101" pitchFamily="2" charset="-122"/>
            </a:endParaRPr>
          </a:p>
          <a:p>
            <a:pPr lvl="3">
              <a:lnSpc>
                <a:spcPct val="90000"/>
              </a:lnSpc>
              <a:buFont typeface="Wingdings" panose="05000000000000000000" pitchFamily="2" charset="2"/>
              <a:buNone/>
            </a:pPr>
            <a:endParaRPr lang="en-US" altLang="zh-CN" sz="1400" b="1" dirty="0">
              <a:ea typeface="宋体" panose="02010600030101010101" pitchFamily="2" charset="-122"/>
            </a:endParaRPr>
          </a:p>
          <a:p>
            <a:pPr lvl="3">
              <a:lnSpc>
                <a:spcPct val="90000"/>
              </a:lnSpc>
              <a:buFont typeface="Wingdings" panose="05000000000000000000" pitchFamily="2" charset="2"/>
              <a:buNone/>
            </a:pPr>
            <a:r>
              <a:rPr lang="en-US" altLang="zh-CN" sz="1400" b="1" dirty="0">
                <a:ea typeface="宋体" panose="02010600030101010101" pitchFamily="2" charset="-122"/>
              </a:rPr>
              <a:t>	procedure g;</a:t>
            </a:r>
            <a:endParaRPr lang="en-US" altLang="zh-CN" sz="1400" b="1" dirty="0">
              <a:ea typeface="宋体" panose="02010600030101010101" pitchFamily="2" charset="-122"/>
            </a:endParaRPr>
          </a:p>
          <a:p>
            <a:pPr lvl="3">
              <a:lnSpc>
                <a:spcPct val="90000"/>
              </a:lnSpc>
              <a:buFont typeface="Wingdings" panose="05000000000000000000" pitchFamily="2" charset="2"/>
              <a:buNone/>
            </a:pPr>
            <a:r>
              <a:rPr lang="en-US" altLang="zh-CN" sz="1400" b="1" dirty="0">
                <a:ea typeface="宋体" panose="02010600030101010101" pitchFamily="2" charset="-122"/>
              </a:rPr>
              <a:t>		var a, b : integer;</a:t>
            </a:r>
            <a:endParaRPr lang="en-US" altLang="zh-CN" sz="1400" b="1" dirty="0">
              <a:ea typeface="宋体" panose="02010600030101010101" pitchFamily="2" charset="-122"/>
            </a:endParaRPr>
          </a:p>
          <a:p>
            <a:pPr lvl="3">
              <a:lnSpc>
                <a:spcPct val="90000"/>
              </a:lnSpc>
              <a:buFont typeface="Wingdings" panose="05000000000000000000" pitchFamily="2" charset="2"/>
              <a:buNone/>
            </a:pPr>
            <a:endParaRPr lang="en-US" altLang="zh-CN" sz="1400" b="1" dirty="0">
              <a:ea typeface="宋体" panose="02010600030101010101" pitchFamily="2" charset="-122"/>
            </a:endParaRPr>
          </a:p>
          <a:p>
            <a:pPr lvl="3">
              <a:lnSpc>
                <a:spcPct val="90000"/>
              </a:lnSpc>
              <a:buFont typeface="Wingdings" panose="05000000000000000000" pitchFamily="2" charset="2"/>
              <a:buNone/>
            </a:pPr>
            <a:r>
              <a:rPr lang="zh-CN" altLang="en-US" sz="1400" b="1" dirty="0">
                <a:ea typeface="宋体" panose="02010600030101010101" pitchFamily="2" charset="-122"/>
              </a:rPr>
              <a:t>		</a:t>
            </a:r>
            <a:r>
              <a:rPr lang="en-US" altLang="zh-CN" sz="1400" b="1" dirty="0">
                <a:ea typeface="宋体" panose="02010600030101010101" pitchFamily="2" charset="-122"/>
              </a:rPr>
              <a:t>procedure h;</a:t>
            </a:r>
            <a:endParaRPr lang="en-US" altLang="zh-CN" sz="1400" b="1" dirty="0">
              <a:ea typeface="宋体" panose="02010600030101010101" pitchFamily="2" charset="-122"/>
            </a:endParaRPr>
          </a:p>
          <a:p>
            <a:pPr lvl="3">
              <a:lnSpc>
                <a:spcPct val="90000"/>
              </a:lnSpc>
              <a:buFont typeface="Wingdings" panose="05000000000000000000" pitchFamily="2" charset="2"/>
              <a:buNone/>
            </a:pPr>
            <a:r>
              <a:rPr lang="en-US" altLang="zh-CN" sz="1400" b="1" dirty="0">
                <a:ea typeface="宋体" panose="02010600030101010101" pitchFamily="2" charset="-122"/>
              </a:rPr>
              <a:t>		    var c, d : integer;</a:t>
            </a:r>
            <a:endParaRPr lang="en-US" altLang="zh-CN" sz="1400" b="1" dirty="0">
              <a:ea typeface="宋体" panose="02010600030101010101" pitchFamily="2" charset="-122"/>
            </a:endParaRPr>
          </a:p>
          <a:p>
            <a:pPr lvl="3">
              <a:lnSpc>
                <a:spcPct val="90000"/>
              </a:lnSpc>
              <a:buFont typeface="Wingdings" panose="05000000000000000000" pitchFamily="2" charset="2"/>
              <a:buNone/>
            </a:pPr>
            <a:r>
              <a:rPr lang="en-US" altLang="zh-CN" sz="1400" b="1" dirty="0">
                <a:ea typeface="宋体" panose="02010600030101010101" pitchFamily="2" charset="-122"/>
              </a:rPr>
              <a:t>		begin	c := a + b	end;</a:t>
            </a:r>
            <a:endParaRPr lang="en-US" altLang="zh-CN" sz="1400" b="1" dirty="0">
              <a:ea typeface="宋体" panose="02010600030101010101" pitchFamily="2" charset="-122"/>
            </a:endParaRPr>
          </a:p>
          <a:p>
            <a:pPr lvl="3">
              <a:lnSpc>
                <a:spcPct val="90000"/>
              </a:lnSpc>
              <a:buFont typeface="Wingdings" panose="05000000000000000000" pitchFamily="2" charset="2"/>
              <a:buNone/>
            </a:pPr>
            <a:endParaRPr lang="en-US" altLang="zh-CN" sz="1400" b="1" dirty="0">
              <a:ea typeface="宋体" panose="02010600030101010101" pitchFamily="2" charset="-122"/>
            </a:endParaRPr>
          </a:p>
          <a:p>
            <a:pPr lvl="3">
              <a:lnSpc>
                <a:spcPct val="90000"/>
              </a:lnSpc>
              <a:buFont typeface="Wingdings" panose="05000000000000000000" pitchFamily="2" charset="2"/>
              <a:buNone/>
            </a:pPr>
            <a:r>
              <a:rPr lang="en-US" altLang="zh-CN" sz="1400" b="1" dirty="0">
                <a:ea typeface="宋体" panose="02010600030101010101" pitchFamily="2" charset="-122"/>
              </a:rPr>
              <a:t>		procedure i;</a:t>
            </a:r>
            <a:endParaRPr lang="en-US" altLang="zh-CN" sz="1400" b="1" dirty="0">
              <a:ea typeface="宋体" panose="02010600030101010101" pitchFamily="2" charset="-122"/>
            </a:endParaRPr>
          </a:p>
          <a:p>
            <a:pPr lvl="3">
              <a:lnSpc>
                <a:spcPct val="90000"/>
              </a:lnSpc>
              <a:buFont typeface="Wingdings" panose="05000000000000000000" pitchFamily="2" charset="2"/>
              <a:buNone/>
            </a:pPr>
            <a:r>
              <a:rPr lang="en-US" altLang="zh-CN" sz="1400" b="1" dirty="0">
                <a:ea typeface="宋体" panose="02010600030101010101" pitchFamily="2" charset="-122"/>
              </a:rPr>
              <a:t>		    var b, d : integer;</a:t>
            </a:r>
            <a:endParaRPr lang="en-US" altLang="zh-CN" sz="1400" b="1" dirty="0">
              <a:ea typeface="宋体" panose="02010600030101010101" pitchFamily="2" charset="-122"/>
            </a:endParaRPr>
          </a:p>
          <a:p>
            <a:pPr lvl="3">
              <a:lnSpc>
                <a:spcPct val="90000"/>
              </a:lnSpc>
              <a:buFont typeface="Wingdings" panose="05000000000000000000" pitchFamily="2" charset="2"/>
              <a:buNone/>
            </a:pPr>
            <a:r>
              <a:rPr lang="en-US" altLang="zh-CN" sz="1400" b="1" dirty="0">
                <a:ea typeface="宋体" panose="02010600030101010101" pitchFamily="2" charset="-122"/>
              </a:rPr>
              <a:t>		begin	b := a + c	end;</a:t>
            </a:r>
            <a:endParaRPr lang="en-US" altLang="zh-CN" sz="1400" b="1" dirty="0">
              <a:ea typeface="宋体" panose="02010600030101010101" pitchFamily="2" charset="-122"/>
            </a:endParaRPr>
          </a:p>
          <a:p>
            <a:pPr lvl="3">
              <a:lnSpc>
                <a:spcPct val="90000"/>
              </a:lnSpc>
              <a:buFont typeface="Wingdings" panose="05000000000000000000" pitchFamily="2" charset="2"/>
              <a:buNone/>
            </a:pPr>
            <a:endParaRPr lang="en-US" altLang="zh-CN" sz="1400" b="1" dirty="0">
              <a:ea typeface="宋体" panose="02010600030101010101" pitchFamily="2" charset="-122"/>
            </a:endParaRPr>
          </a:p>
          <a:p>
            <a:pPr lvl="3">
              <a:lnSpc>
                <a:spcPct val="90000"/>
              </a:lnSpc>
              <a:buFont typeface="Wingdings" panose="05000000000000000000" pitchFamily="2" charset="2"/>
              <a:buNone/>
            </a:pPr>
            <a:r>
              <a:rPr lang="en-US" altLang="zh-CN" sz="1400" b="1" dirty="0">
                <a:ea typeface="宋体" panose="02010600030101010101" pitchFamily="2" charset="-122"/>
              </a:rPr>
              <a:t>	begin	b := a + c	end;</a:t>
            </a:r>
            <a:endParaRPr lang="en-US" altLang="zh-CN" sz="1400" b="1" dirty="0">
              <a:ea typeface="宋体" panose="02010600030101010101" pitchFamily="2" charset="-122"/>
            </a:endParaRPr>
          </a:p>
          <a:p>
            <a:pPr lvl="3">
              <a:lnSpc>
                <a:spcPct val="90000"/>
              </a:lnSpc>
              <a:buFont typeface="Wingdings" panose="05000000000000000000" pitchFamily="2" charset="2"/>
              <a:buNone/>
            </a:pPr>
            <a:endParaRPr lang="en-US" altLang="zh-CN" sz="1400" b="1" dirty="0">
              <a:ea typeface="宋体" panose="02010600030101010101" pitchFamily="2" charset="-122"/>
            </a:endParaRPr>
          </a:p>
          <a:p>
            <a:pPr lvl="3">
              <a:lnSpc>
                <a:spcPct val="90000"/>
              </a:lnSpc>
              <a:buFont typeface="Wingdings" panose="05000000000000000000" pitchFamily="2" charset="2"/>
              <a:buNone/>
            </a:pPr>
            <a:r>
              <a:rPr lang="en-US" altLang="zh-CN" sz="1400" b="1" dirty="0">
                <a:ea typeface="宋体" panose="02010600030101010101" pitchFamily="2" charset="-122"/>
              </a:rPr>
              <a:t>	procedure j;</a:t>
            </a:r>
            <a:endParaRPr lang="en-US" altLang="zh-CN" sz="1400" b="1" dirty="0">
              <a:ea typeface="宋体" panose="02010600030101010101" pitchFamily="2" charset="-122"/>
            </a:endParaRPr>
          </a:p>
          <a:p>
            <a:pPr lvl="3">
              <a:lnSpc>
                <a:spcPct val="90000"/>
              </a:lnSpc>
              <a:buFont typeface="Wingdings" panose="05000000000000000000" pitchFamily="2" charset="2"/>
              <a:buNone/>
            </a:pPr>
            <a:r>
              <a:rPr lang="en-US" altLang="zh-CN" sz="1400" b="1" dirty="0">
                <a:ea typeface="宋体" panose="02010600030101010101" pitchFamily="2" charset="-122"/>
              </a:rPr>
              <a:t>		var b, d : integer;</a:t>
            </a:r>
            <a:endParaRPr lang="en-US" altLang="zh-CN" sz="1400" b="1" dirty="0">
              <a:ea typeface="宋体" panose="02010600030101010101" pitchFamily="2" charset="-122"/>
            </a:endParaRPr>
          </a:p>
          <a:p>
            <a:pPr lvl="3">
              <a:lnSpc>
                <a:spcPct val="90000"/>
              </a:lnSpc>
              <a:buFont typeface="Wingdings" panose="05000000000000000000" pitchFamily="2" charset="2"/>
              <a:buNone/>
            </a:pPr>
            <a:r>
              <a:rPr lang="en-US" altLang="zh-CN" sz="1400" b="1" dirty="0">
                <a:ea typeface="宋体" panose="02010600030101010101" pitchFamily="2" charset="-122"/>
              </a:rPr>
              <a:t>	begin	b := a + d	end;</a:t>
            </a:r>
            <a:endParaRPr lang="en-US" altLang="zh-CN" sz="1400" b="1" dirty="0">
              <a:ea typeface="宋体" panose="02010600030101010101" pitchFamily="2" charset="-122"/>
            </a:endParaRPr>
          </a:p>
          <a:p>
            <a:pPr lvl="3">
              <a:lnSpc>
                <a:spcPct val="90000"/>
              </a:lnSpc>
              <a:buFont typeface="Wingdings" panose="05000000000000000000" pitchFamily="2" charset="2"/>
              <a:buNone/>
            </a:pPr>
            <a:endParaRPr lang="en-US" altLang="zh-CN" sz="1400" b="1" dirty="0">
              <a:ea typeface="宋体" panose="02010600030101010101" pitchFamily="2" charset="-122"/>
            </a:endParaRPr>
          </a:p>
          <a:p>
            <a:pPr lvl="3">
              <a:lnSpc>
                <a:spcPct val="90000"/>
              </a:lnSpc>
              <a:buFont typeface="Wingdings" panose="05000000000000000000" pitchFamily="2" charset="2"/>
              <a:buNone/>
            </a:pPr>
            <a:r>
              <a:rPr lang="en-US" altLang="zh-CN" sz="1400" b="1" dirty="0">
                <a:ea typeface="宋体" panose="02010600030101010101" pitchFamily="2" charset="-122"/>
              </a:rPr>
              <a:t>begin		a := b + c	end.</a:t>
            </a:r>
            <a:endParaRPr lang="en-US" altLang="zh-CN" sz="1400" b="1" dirty="0">
              <a:ea typeface="宋体" panose="02010600030101010101" pitchFamily="2" charset="-122"/>
            </a:endParaRPr>
          </a:p>
        </p:txBody>
      </p:sp>
      <p:grpSp>
        <p:nvGrpSpPr>
          <p:cNvPr id="131075" name="Group 9"/>
          <p:cNvGrpSpPr/>
          <p:nvPr/>
        </p:nvGrpSpPr>
        <p:grpSpPr>
          <a:xfrm>
            <a:off x="2362200" y="1295400"/>
            <a:ext cx="152400" cy="457200"/>
            <a:chOff x="1488" y="816"/>
            <a:chExt cx="96" cy="288"/>
          </a:xfrm>
        </p:grpSpPr>
        <p:sp>
          <p:nvSpPr>
            <p:cNvPr id="131096" name="Line 6"/>
            <p:cNvSpPr/>
            <p:nvPr/>
          </p:nvSpPr>
          <p:spPr>
            <a:xfrm>
              <a:off x="1488" y="816"/>
              <a:ext cx="96" cy="0"/>
            </a:xfrm>
            <a:prstGeom prst="line">
              <a:avLst/>
            </a:prstGeom>
            <a:ln w="22225" cap="flat" cmpd="sng">
              <a:solidFill>
                <a:schemeClr val="tx1"/>
              </a:solidFill>
              <a:prstDash val="solid"/>
              <a:headEnd type="none" w="sm" len="sm"/>
              <a:tailEnd type="none" w="lg" len="med"/>
            </a:ln>
          </p:spPr>
        </p:sp>
        <p:sp>
          <p:nvSpPr>
            <p:cNvPr id="131097" name="Line 7"/>
            <p:cNvSpPr/>
            <p:nvPr/>
          </p:nvSpPr>
          <p:spPr>
            <a:xfrm>
              <a:off x="1488" y="816"/>
              <a:ext cx="0" cy="288"/>
            </a:xfrm>
            <a:prstGeom prst="line">
              <a:avLst/>
            </a:prstGeom>
            <a:ln w="22225" cap="flat" cmpd="sng">
              <a:solidFill>
                <a:schemeClr val="tx1"/>
              </a:solidFill>
              <a:prstDash val="solid"/>
              <a:headEnd type="none" w="sm" len="sm"/>
              <a:tailEnd type="none" w="lg" len="med"/>
            </a:ln>
          </p:spPr>
        </p:sp>
        <p:sp>
          <p:nvSpPr>
            <p:cNvPr id="131098" name="Line 8"/>
            <p:cNvSpPr/>
            <p:nvPr/>
          </p:nvSpPr>
          <p:spPr>
            <a:xfrm>
              <a:off x="1488" y="1104"/>
              <a:ext cx="96" cy="0"/>
            </a:xfrm>
            <a:prstGeom prst="line">
              <a:avLst/>
            </a:prstGeom>
            <a:ln w="22225" cap="flat" cmpd="sng">
              <a:solidFill>
                <a:schemeClr val="tx1"/>
              </a:solidFill>
              <a:prstDash val="solid"/>
              <a:headEnd type="none" w="sm" len="sm"/>
              <a:tailEnd type="none" w="lg" len="med"/>
            </a:ln>
          </p:spPr>
        </p:sp>
      </p:grpSp>
      <p:grpSp>
        <p:nvGrpSpPr>
          <p:cNvPr id="131076" name="Group 10"/>
          <p:cNvGrpSpPr/>
          <p:nvPr/>
        </p:nvGrpSpPr>
        <p:grpSpPr>
          <a:xfrm>
            <a:off x="2590800" y="2971800"/>
            <a:ext cx="152400" cy="457200"/>
            <a:chOff x="1488" y="816"/>
            <a:chExt cx="96" cy="288"/>
          </a:xfrm>
        </p:grpSpPr>
        <p:sp>
          <p:nvSpPr>
            <p:cNvPr id="131093" name="Line 11"/>
            <p:cNvSpPr/>
            <p:nvPr/>
          </p:nvSpPr>
          <p:spPr>
            <a:xfrm>
              <a:off x="1488" y="816"/>
              <a:ext cx="96" cy="0"/>
            </a:xfrm>
            <a:prstGeom prst="line">
              <a:avLst/>
            </a:prstGeom>
            <a:ln w="22225" cap="flat" cmpd="sng">
              <a:solidFill>
                <a:schemeClr val="tx1"/>
              </a:solidFill>
              <a:prstDash val="solid"/>
              <a:headEnd type="none" w="sm" len="sm"/>
              <a:tailEnd type="none" w="lg" len="med"/>
            </a:ln>
          </p:spPr>
        </p:sp>
        <p:sp>
          <p:nvSpPr>
            <p:cNvPr id="131094" name="Line 12"/>
            <p:cNvSpPr/>
            <p:nvPr/>
          </p:nvSpPr>
          <p:spPr>
            <a:xfrm>
              <a:off x="1488" y="816"/>
              <a:ext cx="0" cy="288"/>
            </a:xfrm>
            <a:prstGeom prst="line">
              <a:avLst/>
            </a:prstGeom>
            <a:ln w="22225" cap="flat" cmpd="sng">
              <a:solidFill>
                <a:schemeClr val="tx1"/>
              </a:solidFill>
              <a:prstDash val="solid"/>
              <a:headEnd type="none" w="sm" len="sm"/>
              <a:tailEnd type="none" w="lg" len="med"/>
            </a:ln>
          </p:spPr>
        </p:sp>
        <p:sp>
          <p:nvSpPr>
            <p:cNvPr id="131095" name="Line 13"/>
            <p:cNvSpPr/>
            <p:nvPr/>
          </p:nvSpPr>
          <p:spPr>
            <a:xfrm>
              <a:off x="1488" y="1104"/>
              <a:ext cx="96" cy="0"/>
            </a:xfrm>
            <a:prstGeom prst="line">
              <a:avLst/>
            </a:prstGeom>
            <a:ln w="22225" cap="flat" cmpd="sng">
              <a:solidFill>
                <a:schemeClr val="tx1"/>
              </a:solidFill>
              <a:prstDash val="solid"/>
              <a:headEnd type="none" w="sm" len="sm"/>
              <a:tailEnd type="none" w="lg" len="med"/>
            </a:ln>
          </p:spPr>
        </p:sp>
      </p:grpSp>
      <p:grpSp>
        <p:nvGrpSpPr>
          <p:cNvPr id="131077" name="Group 14"/>
          <p:cNvGrpSpPr/>
          <p:nvPr/>
        </p:nvGrpSpPr>
        <p:grpSpPr>
          <a:xfrm>
            <a:off x="2590800" y="3886200"/>
            <a:ext cx="152400" cy="457200"/>
            <a:chOff x="1488" y="816"/>
            <a:chExt cx="96" cy="288"/>
          </a:xfrm>
        </p:grpSpPr>
        <p:sp>
          <p:nvSpPr>
            <p:cNvPr id="131090" name="Line 15"/>
            <p:cNvSpPr/>
            <p:nvPr/>
          </p:nvSpPr>
          <p:spPr>
            <a:xfrm>
              <a:off x="1488" y="816"/>
              <a:ext cx="96" cy="0"/>
            </a:xfrm>
            <a:prstGeom prst="line">
              <a:avLst/>
            </a:prstGeom>
            <a:ln w="22225" cap="flat" cmpd="sng">
              <a:solidFill>
                <a:schemeClr val="tx1"/>
              </a:solidFill>
              <a:prstDash val="solid"/>
              <a:headEnd type="none" w="sm" len="sm"/>
              <a:tailEnd type="none" w="lg" len="med"/>
            </a:ln>
          </p:spPr>
        </p:sp>
        <p:sp>
          <p:nvSpPr>
            <p:cNvPr id="131091" name="Line 16"/>
            <p:cNvSpPr/>
            <p:nvPr/>
          </p:nvSpPr>
          <p:spPr>
            <a:xfrm>
              <a:off x="1488" y="816"/>
              <a:ext cx="0" cy="288"/>
            </a:xfrm>
            <a:prstGeom prst="line">
              <a:avLst/>
            </a:prstGeom>
            <a:ln w="22225" cap="flat" cmpd="sng">
              <a:solidFill>
                <a:schemeClr val="tx1"/>
              </a:solidFill>
              <a:prstDash val="solid"/>
              <a:headEnd type="none" w="sm" len="sm"/>
              <a:tailEnd type="none" w="lg" len="med"/>
            </a:ln>
          </p:spPr>
        </p:sp>
        <p:sp>
          <p:nvSpPr>
            <p:cNvPr id="131092" name="Line 17"/>
            <p:cNvSpPr/>
            <p:nvPr/>
          </p:nvSpPr>
          <p:spPr>
            <a:xfrm>
              <a:off x="1488" y="1104"/>
              <a:ext cx="96" cy="0"/>
            </a:xfrm>
            <a:prstGeom prst="line">
              <a:avLst/>
            </a:prstGeom>
            <a:ln w="22225" cap="flat" cmpd="sng">
              <a:solidFill>
                <a:schemeClr val="tx1"/>
              </a:solidFill>
              <a:prstDash val="solid"/>
              <a:headEnd type="none" w="sm" len="sm"/>
              <a:tailEnd type="none" w="lg" len="med"/>
            </a:ln>
          </p:spPr>
        </p:sp>
      </p:grpSp>
      <p:grpSp>
        <p:nvGrpSpPr>
          <p:cNvPr id="131078" name="Group 18"/>
          <p:cNvGrpSpPr/>
          <p:nvPr/>
        </p:nvGrpSpPr>
        <p:grpSpPr>
          <a:xfrm>
            <a:off x="2362200" y="2286000"/>
            <a:ext cx="152400" cy="2514600"/>
            <a:chOff x="1488" y="816"/>
            <a:chExt cx="96" cy="288"/>
          </a:xfrm>
        </p:grpSpPr>
        <p:sp>
          <p:nvSpPr>
            <p:cNvPr id="131087" name="Line 19"/>
            <p:cNvSpPr/>
            <p:nvPr/>
          </p:nvSpPr>
          <p:spPr>
            <a:xfrm>
              <a:off x="1488" y="816"/>
              <a:ext cx="96" cy="0"/>
            </a:xfrm>
            <a:prstGeom prst="line">
              <a:avLst/>
            </a:prstGeom>
            <a:ln w="22225" cap="flat" cmpd="sng">
              <a:solidFill>
                <a:schemeClr val="tx1"/>
              </a:solidFill>
              <a:prstDash val="solid"/>
              <a:headEnd type="none" w="sm" len="sm"/>
              <a:tailEnd type="none" w="lg" len="med"/>
            </a:ln>
          </p:spPr>
        </p:sp>
        <p:sp>
          <p:nvSpPr>
            <p:cNvPr id="131088" name="Line 20"/>
            <p:cNvSpPr/>
            <p:nvPr/>
          </p:nvSpPr>
          <p:spPr>
            <a:xfrm>
              <a:off x="1488" y="816"/>
              <a:ext cx="0" cy="288"/>
            </a:xfrm>
            <a:prstGeom prst="line">
              <a:avLst/>
            </a:prstGeom>
            <a:ln w="22225" cap="flat" cmpd="sng">
              <a:solidFill>
                <a:schemeClr val="tx1"/>
              </a:solidFill>
              <a:prstDash val="solid"/>
              <a:headEnd type="none" w="sm" len="sm"/>
              <a:tailEnd type="none" w="lg" len="med"/>
            </a:ln>
          </p:spPr>
        </p:sp>
        <p:sp>
          <p:nvSpPr>
            <p:cNvPr id="131089" name="Line 21"/>
            <p:cNvSpPr/>
            <p:nvPr/>
          </p:nvSpPr>
          <p:spPr>
            <a:xfrm>
              <a:off x="1488" y="1104"/>
              <a:ext cx="96" cy="0"/>
            </a:xfrm>
            <a:prstGeom prst="line">
              <a:avLst/>
            </a:prstGeom>
            <a:ln w="22225" cap="flat" cmpd="sng">
              <a:solidFill>
                <a:schemeClr val="tx1"/>
              </a:solidFill>
              <a:prstDash val="solid"/>
              <a:headEnd type="none" w="sm" len="sm"/>
              <a:tailEnd type="none" w="lg" len="med"/>
            </a:ln>
          </p:spPr>
        </p:sp>
      </p:grpSp>
      <p:grpSp>
        <p:nvGrpSpPr>
          <p:cNvPr id="131079" name="Group 22"/>
          <p:cNvGrpSpPr/>
          <p:nvPr/>
        </p:nvGrpSpPr>
        <p:grpSpPr>
          <a:xfrm>
            <a:off x="2362200" y="5334000"/>
            <a:ext cx="152400" cy="457200"/>
            <a:chOff x="1488" y="816"/>
            <a:chExt cx="96" cy="288"/>
          </a:xfrm>
        </p:grpSpPr>
        <p:sp>
          <p:nvSpPr>
            <p:cNvPr id="131084" name="Line 23"/>
            <p:cNvSpPr/>
            <p:nvPr/>
          </p:nvSpPr>
          <p:spPr>
            <a:xfrm>
              <a:off x="1488" y="816"/>
              <a:ext cx="96" cy="0"/>
            </a:xfrm>
            <a:prstGeom prst="line">
              <a:avLst/>
            </a:prstGeom>
            <a:ln w="22225" cap="flat" cmpd="sng">
              <a:solidFill>
                <a:schemeClr val="tx1"/>
              </a:solidFill>
              <a:prstDash val="solid"/>
              <a:headEnd type="none" w="sm" len="sm"/>
              <a:tailEnd type="none" w="lg" len="med"/>
            </a:ln>
          </p:spPr>
        </p:sp>
        <p:sp>
          <p:nvSpPr>
            <p:cNvPr id="131085" name="Line 24"/>
            <p:cNvSpPr/>
            <p:nvPr/>
          </p:nvSpPr>
          <p:spPr>
            <a:xfrm>
              <a:off x="1488" y="816"/>
              <a:ext cx="0" cy="288"/>
            </a:xfrm>
            <a:prstGeom prst="line">
              <a:avLst/>
            </a:prstGeom>
            <a:ln w="22225" cap="flat" cmpd="sng">
              <a:solidFill>
                <a:schemeClr val="tx1"/>
              </a:solidFill>
              <a:prstDash val="solid"/>
              <a:headEnd type="none" w="sm" len="sm"/>
              <a:tailEnd type="none" w="lg" len="med"/>
            </a:ln>
          </p:spPr>
        </p:sp>
        <p:sp>
          <p:nvSpPr>
            <p:cNvPr id="131086" name="Line 25"/>
            <p:cNvSpPr/>
            <p:nvPr/>
          </p:nvSpPr>
          <p:spPr>
            <a:xfrm>
              <a:off x="1488" y="1104"/>
              <a:ext cx="96" cy="0"/>
            </a:xfrm>
            <a:prstGeom prst="line">
              <a:avLst/>
            </a:prstGeom>
            <a:ln w="22225" cap="flat" cmpd="sng">
              <a:solidFill>
                <a:schemeClr val="tx1"/>
              </a:solidFill>
              <a:prstDash val="solid"/>
              <a:headEnd type="none" w="sm" len="sm"/>
              <a:tailEnd type="none" w="lg" len="med"/>
            </a:ln>
          </p:spPr>
        </p:sp>
      </p:grpSp>
      <p:grpSp>
        <p:nvGrpSpPr>
          <p:cNvPr id="131080" name="Group 26"/>
          <p:cNvGrpSpPr/>
          <p:nvPr/>
        </p:nvGrpSpPr>
        <p:grpSpPr>
          <a:xfrm>
            <a:off x="2057400" y="609600"/>
            <a:ext cx="228600" cy="5562600"/>
            <a:chOff x="1488" y="816"/>
            <a:chExt cx="96" cy="288"/>
          </a:xfrm>
        </p:grpSpPr>
        <p:sp>
          <p:nvSpPr>
            <p:cNvPr id="131081" name="Line 27"/>
            <p:cNvSpPr/>
            <p:nvPr/>
          </p:nvSpPr>
          <p:spPr>
            <a:xfrm>
              <a:off x="1488" y="816"/>
              <a:ext cx="96" cy="0"/>
            </a:xfrm>
            <a:prstGeom prst="line">
              <a:avLst/>
            </a:prstGeom>
            <a:ln w="22225" cap="flat" cmpd="sng">
              <a:solidFill>
                <a:schemeClr val="tx1"/>
              </a:solidFill>
              <a:prstDash val="solid"/>
              <a:headEnd type="none" w="sm" len="sm"/>
              <a:tailEnd type="none" w="lg" len="med"/>
            </a:ln>
          </p:spPr>
        </p:sp>
        <p:sp>
          <p:nvSpPr>
            <p:cNvPr id="131082" name="Line 28"/>
            <p:cNvSpPr/>
            <p:nvPr/>
          </p:nvSpPr>
          <p:spPr>
            <a:xfrm>
              <a:off x="1488" y="816"/>
              <a:ext cx="0" cy="288"/>
            </a:xfrm>
            <a:prstGeom prst="line">
              <a:avLst/>
            </a:prstGeom>
            <a:ln w="22225" cap="flat" cmpd="sng">
              <a:solidFill>
                <a:schemeClr val="tx1"/>
              </a:solidFill>
              <a:prstDash val="solid"/>
              <a:headEnd type="none" w="sm" len="sm"/>
              <a:tailEnd type="none" w="lg" len="med"/>
            </a:ln>
          </p:spPr>
        </p:sp>
        <p:sp>
          <p:nvSpPr>
            <p:cNvPr id="131083" name="Line 29"/>
            <p:cNvSpPr/>
            <p:nvPr/>
          </p:nvSpPr>
          <p:spPr>
            <a:xfrm>
              <a:off x="1488" y="1104"/>
              <a:ext cx="96" cy="0"/>
            </a:xfrm>
            <a:prstGeom prst="line">
              <a:avLst/>
            </a:prstGeom>
            <a:ln w="22225" cap="flat" cmpd="sng">
              <a:solidFill>
                <a:schemeClr val="tx1"/>
              </a:solidFill>
              <a:prstDash val="solid"/>
              <a:headEnd type="none" w="sm" len="sm"/>
              <a:tailEnd type="none" w="lg" len="med"/>
            </a:ln>
          </p:spPr>
        </p:sp>
      </p:grp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2"/>
          <p:cNvSpPr>
            <a:spLocks noGrp="1"/>
          </p:cNvSpPr>
          <p:nvPr>
            <p:ph idx="1"/>
          </p:nvPr>
        </p:nvSpPr>
        <p:spPr>
          <a:xfrm>
            <a:off x="914400" y="5638800"/>
            <a:ext cx="7543800" cy="533400"/>
          </a:xfrm>
        </p:spPr>
        <p:txBody>
          <a:bodyPr vert="horz" wrap="square" lIns="92075" tIns="46038" rIns="92075" bIns="46038" anchor="t" anchorCtr="0"/>
          <a:p>
            <a:pPr algn="ctr">
              <a:buNone/>
            </a:pPr>
            <a:r>
              <a:rPr lang="zh-CN" altLang="en-US" sz="2000" b="1" dirty="0">
                <a:ea typeface="宋体" panose="02010600030101010101" pitchFamily="2" charset="-122"/>
              </a:rPr>
              <a:t>上页例子的局部符号表的树</a:t>
            </a:r>
            <a:endParaRPr lang="zh-CN" altLang="en-US" sz="2000" b="1" dirty="0">
              <a:ea typeface="宋体" panose="02010600030101010101" pitchFamily="2" charset="-122"/>
            </a:endParaRPr>
          </a:p>
        </p:txBody>
      </p:sp>
      <p:grpSp>
        <p:nvGrpSpPr>
          <p:cNvPr id="133123" name="Group 32"/>
          <p:cNvGrpSpPr/>
          <p:nvPr/>
        </p:nvGrpSpPr>
        <p:grpSpPr>
          <a:xfrm>
            <a:off x="3810000" y="1219200"/>
            <a:ext cx="1150938" cy="942975"/>
            <a:chOff x="2390" y="919"/>
            <a:chExt cx="725" cy="594"/>
          </a:xfrm>
        </p:grpSpPr>
        <p:sp>
          <p:nvSpPr>
            <p:cNvPr id="133159" name="Text Box 27"/>
            <p:cNvSpPr txBox="1"/>
            <p:nvPr/>
          </p:nvSpPr>
          <p:spPr>
            <a:xfrm>
              <a:off x="2390" y="919"/>
              <a:ext cx="725" cy="594"/>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ea typeface="宋体" panose="02010600030101010101" pitchFamily="2" charset="-122"/>
                </a:rPr>
                <a:t>e( )’s symtab</a:t>
              </a:r>
              <a:endParaRPr lang="en-US" altLang="zh-CN" sz="1400" b="1" dirty="0">
                <a:ea typeface="宋体" panose="02010600030101010101" pitchFamily="2" charset="-122"/>
              </a:endParaRPr>
            </a:p>
            <a:p>
              <a:pPr marL="0" lvl="0" indent="0">
                <a:spcBef>
                  <a:spcPct val="0"/>
                </a:spcBef>
                <a:buClrTx/>
                <a:buSzTx/>
                <a:buNone/>
              </a:pPr>
              <a:r>
                <a:rPr lang="en-US" altLang="zh-CN" sz="1400" b="1" dirty="0">
                  <a:ea typeface="宋体" panose="02010600030101010101" pitchFamily="2" charset="-122"/>
                </a:rPr>
                <a:t>integer  a</a:t>
              </a:r>
              <a:endParaRPr lang="en-US" altLang="zh-CN" sz="1400" b="1" dirty="0">
                <a:ea typeface="宋体" panose="02010600030101010101" pitchFamily="2" charset="-122"/>
              </a:endParaRPr>
            </a:p>
            <a:p>
              <a:pPr marL="0" lvl="0" indent="0">
                <a:spcBef>
                  <a:spcPct val="0"/>
                </a:spcBef>
                <a:buClrTx/>
                <a:buSzTx/>
                <a:buNone/>
              </a:pPr>
              <a:r>
                <a:rPr lang="en-US" altLang="zh-CN" sz="1400" b="1" dirty="0">
                  <a:ea typeface="宋体" panose="02010600030101010101" pitchFamily="2" charset="-122"/>
                </a:rPr>
                <a:t>integer  b</a:t>
              </a:r>
              <a:endParaRPr lang="en-US" altLang="zh-CN" sz="1400" b="1" dirty="0">
                <a:ea typeface="宋体" panose="02010600030101010101" pitchFamily="2" charset="-122"/>
              </a:endParaRPr>
            </a:p>
            <a:p>
              <a:pPr marL="0" lvl="0" indent="0">
                <a:spcBef>
                  <a:spcPct val="0"/>
                </a:spcBef>
                <a:buClrTx/>
                <a:buSzTx/>
                <a:buNone/>
              </a:pPr>
              <a:r>
                <a:rPr lang="en-US" altLang="zh-CN" sz="1400" b="1" dirty="0">
                  <a:ea typeface="宋体" panose="02010600030101010101" pitchFamily="2" charset="-122"/>
                </a:rPr>
                <a:t>integer  c</a:t>
              </a:r>
              <a:endParaRPr lang="en-US" altLang="zh-CN" sz="1400" b="1" dirty="0">
                <a:ea typeface="宋体" panose="02010600030101010101" pitchFamily="2" charset="-122"/>
              </a:endParaRPr>
            </a:p>
          </p:txBody>
        </p:sp>
        <p:sp>
          <p:nvSpPr>
            <p:cNvPr id="133160" name="Line 28"/>
            <p:cNvSpPr/>
            <p:nvPr/>
          </p:nvSpPr>
          <p:spPr>
            <a:xfrm>
              <a:off x="2400" y="1104"/>
              <a:ext cx="0" cy="384"/>
            </a:xfrm>
            <a:prstGeom prst="line">
              <a:avLst/>
            </a:prstGeom>
            <a:ln w="22225" cap="flat" cmpd="sng">
              <a:solidFill>
                <a:schemeClr val="tx1"/>
              </a:solidFill>
              <a:prstDash val="solid"/>
              <a:headEnd type="none" w="sm" len="sm"/>
              <a:tailEnd type="none" w="lg" len="med"/>
            </a:ln>
          </p:spPr>
        </p:sp>
        <p:sp>
          <p:nvSpPr>
            <p:cNvPr id="133161" name="Line 29"/>
            <p:cNvSpPr/>
            <p:nvPr/>
          </p:nvSpPr>
          <p:spPr>
            <a:xfrm>
              <a:off x="3024" y="1104"/>
              <a:ext cx="0" cy="384"/>
            </a:xfrm>
            <a:prstGeom prst="line">
              <a:avLst/>
            </a:prstGeom>
            <a:ln w="22225" cap="flat" cmpd="sng">
              <a:solidFill>
                <a:schemeClr val="tx1"/>
              </a:solidFill>
              <a:prstDash val="solid"/>
              <a:headEnd type="none" w="sm" len="sm"/>
              <a:tailEnd type="none" w="lg" len="med"/>
            </a:ln>
          </p:spPr>
        </p:sp>
        <p:sp>
          <p:nvSpPr>
            <p:cNvPr id="133162" name="Line 30"/>
            <p:cNvSpPr/>
            <p:nvPr/>
          </p:nvSpPr>
          <p:spPr>
            <a:xfrm>
              <a:off x="2400" y="1104"/>
              <a:ext cx="624" cy="0"/>
            </a:xfrm>
            <a:prstGeom prst="line">
              <a:avLst/>
            </a:prstGeom>
            <a:ln w="22225" cap="flat" cmpd="sng">
              <a:solidFill>
                <a:schemeClr val="tx1"/>
              </a:solidFill>
              <a:prstDash val="solid"/>
              <a:headEnd type="none" w="sm" len="sm"/>
              <a:tailEnd type="none" w="lg" len="med"/>
            </a:ln>
          </p:spPr>
        </p:sp>
        <p:sp>
          <p:nvSpPr>
            <p:cNvPr id="133163" name="Line 31"/>
            <p:cNvSpPr/>
            <p:nvPr/>
          </p:nvSpPr>
          <p:spPr>
            <a:xfrm>
              <a:off x="2400" y="1488"/>
              <a:ext cx="624" cy="0"/>
            </a:xfrm>
            <a:prstGeom prst="line">
              <a:avLst/>
            </a:prstGeom>
            <a:ln w="22225" cap="flat" cmpd="sng">
              <a:solidFill>
                <a:schemeClr val="tx1"/>
              </a:solidFill>
              <a:prstDash val="solid"/>
              <a:headEnd type="none" w="sm" len="sm"/>
              <a:tailEnd type="none" w="lg" len="med"/>
            </a:ln>
          </p:spPr>
        </p:sp>
      </p:grpSp>
      <p:grpSp>
        <p:nvGrpSpPr>
          <p:cNvPr id="133124" name="Group 33"/>
          <p:cNvGrpSpPr/>
          <p:nvPr/>
        </p:nvGrpSpPr>
        <p:grpSpPr>
          <a:xfrm>
            <a:off x="1905000" y="2667000"/>
            <a:ext cx="1130300" cy="942975"/>
            <a:chOff x="2390" y="919"/>
            <a:chExt cx="712" cy="594"/>
          </a:xfrm>
        </p:grpSpPr>
        <p:sp>
          <p:nvSpPr>
            <p:cNvPr id="133154" name="Text Box 34"/>
            <p:cNvSpPr txBox="1"/>
            <p:nvPr/>
          </p:nvSpPr>
          <p:spPr>
            <a:xfrm>
              <a:off x="2390" y="919"/>
              <a:ext cx="712" cy="594"/>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ea typeface="宋体" panose="02010600030101010101" pitchFamily="2" charset="-122"/>
                </a:rPr>
                <a:t>f( )’s symtab</a:t>
              </a:r>
              <a:endParaRPr lang="en-US" altLang="zh-CN" sz="1400" b="1" dirty="0">
                <a:ea typeface="宋体" panose="02010600030101010101" pitchFamily="2" charset="-122"/>
              </a:endParaRPr>
            </a:p>
            <a:p>
              <a:pPr marL="0" lvl="0" indent="0">
                <a:spcBef>
                  <a:spcPct val="0"/>
                </a:spcBef>
                <a:buClrTx/>
                <a:buSzTx/>
                <a:buNone/>
              </a:pPr>
              <a:r>
                <a:rPr lang="en-US" altLang="zh-CN" sz="1400" b="1" dirty="0">
                  <a:ea typeface="宋体" panose="02010600030101010101" pitchFamily="2" charset="-122"/>
                </a:rPr>
                <a:t>integer  a</a:t>
              </a:r>
              <a:endParaRPr lang="en-US" altLang="zh-CN" sz="1400" b="1" dirty="0">
                <a:ea typeface="宋体" panose="02010600030101010101" pitchFamily="2" charset="-122"/>
              </a:endParaRPr>
            </a:p>
            <a:p>
              <a:pPr marL="0" lvl="0" indent="0">
                <a:spcBef>
                  <a:spcPct val="0"/>
                </a:spcBef>
                <a:buClrTx/>
                <a:buSzTx/>
                <a:buNone/>
              </a:pPr>
              <a:r>
                <a:rPr lang="en-US" altLang="zh-CN" sz="1400" b="1" dirty="0">
                  <a:ea typeface="宋体" panose="02010600030101010101" pitchFamily="2" charset="-122"/>
                </a:rPr>
                <a:t>integer  b</a:t>
              </a:r>
              <a:endParaRPr lang="en-US" altLang="zh-CN" sz="1400" b="1" dirty="0">
                <a:ea typeface="宋体" panose="02010600030101010101" pitchFamily="2" charset="-122"/>
              </a:endParaRPr>
            </a:p>
            <a:p>
              <a:pPr marL="0" lvl="0" indent="0">
                <a:spcBef>
                  <a:spcPct val="0"/>
                </a:spcBef>
                <a:buClrTx/>
                <a:buSzTx/>
                <a:buNone/>
              </a:pPr>
              <a:r>
                <a:rPr lang="en-US" altLang="zh-CN" sz="1400" b="1" dirty="0">
                  <a:ea typeface="宋体" panose="02010600030101010101" pitchFamily="2" charset="-122"/>
                </a:rPr>
                <a:t>integer  c</a:t>
              </a:r>
              <a:endParaRPr lang="en-US" altLang="zh-CN" sz="1400" b="1" dirty="0">
                <a:ea typeface="宋体" panose="02010600030101010101" pitchFamily="2" charset="-122"/>
              </a:endParaRPr>
            </a:p>
          </p:txBody>
        </p:sp>
        <p:sp>
          <p:nvSpPr>
            <p:cNvPr id="133155" name="Line 35"/>
            <p:cNvSpPr/>
            <p:nvPr/>
          </p:nvSpPr>
          <p:spPr>
            <a:xfrm>
              <a:off x="2400" y="1104"/>
              <a:ext cx="0" cy="384"/>
            </a:xfrm>
            <a:prstGeom prst="line">
              <a:avLst/>
            </a:prstGeom>
            <a:ln w="22225" cap="flat" cmpd="sng">
              <a:solidFill>
                <a:schemeClr val="tx1"/>
              </a:solidFill>
              <a:prstDash val="solid"/>
              <a:headEnd type="none" w="sm" len="sm"/>
              <a:tailEnd type="none" w="lg" len="med"/>
            </a:ln>
          </p:spPr>
        </p:sp>
        <p:sp>
          <p:nvSpPr>
            <p:cNvPr id="133156" name="Line 36"/>
            <p:cNvSpPr/>
            <p:nvPr/>
          </p:nvSpPr>
          <p:spPr>
            <a:xfrm>
              <a:off x="3024" y="1104"/>
              <a:ext cx="0" cy="384"/>
            </a:xfrm>
            <a:prstGeom prst="line">
              <a:avLst/>
            </a:prstGeom>
            <a:ln w="22225" cap="flat" cmpd="sng">
              <a:solidFill>
                <a:schemeClr val="tx1"/>
              </a:solidFill>
              <a:prstDash val="solid"/>
              <a:headEnd type="none" w="sm" len="sm"/>
              <a:tailEnd type="none" w="lg" len="med"/>
            </a:ln>
          </p:spPr>
        </p:sp>
        <p:sp>
          <p:nvSpPr>
            <p:cNvPr id="133157" name="Line 37"/>
            <p:cNvSpPr/>
            <p:nvPr/>
          </p:nvSpPr>
          <p:spPr>
            <a:xfrm>
              <a:off x="2400" y="1104"/>
              <a:ext cx="624" cy="0"/>
            </a:xfrm>
            <a:prstGeom prst="line">
              <a:avLst/>
            </a:prstGeom>
            <a:ln w="22225" cap="flat" cmpd="sng">
              <a:solidFill>
                <a:schemeClr val="tx1"/>
              </a:solidFill>
              <a:prstDash val="solid"/>
              <a:headEnd type="none" w="sm" len="sm"/>
              <a:tailEnd type="none" w="lg" len="med"/>
            </a:ln>
          </p:spPr>
        </p:sp>
        <p:sp>
          <p:nvSpPr>
            <p:cNvPr id="133158" name="Line 38"/>
            <p:cNvSpPr/>
            <p:nvPr/>
          </p:nvSpPr>
          <p:spPr>
            <a:xfrm>
              <a:off x="2400" y="1488"/>
              <a:ext cx="624" cy="0"/>
            </a:xfrm>
            <a:prstGeom prst="line">
              <a:avLst/>
            </a:prstGeom>
            <a:ln w="22225" cap="flat" cmpd="sng">
              <a:solidFill>
                <a:schemeClr val="tx1"/>
              </a:solidFill>
              <a:prstDash val="solid"/>
              <a:headEnd type="none" w="sm" len="sm"/>
              <a:tailEnd type="none" w="lg" len="med"/>
            </a:ln>
          </p:spPr>
        </p:sp>
      </p:grpSp>
      <p:grpSp>
        <p:nvGrpSpPr>
          <p:cNvPr id="133125" name="Group 39"/>
          <p:cNvGrpSpPr/>
          <p:nvPr/>
        </p:nvGrpSpPr>
        <p:grpSpPr>
          <a:xfrm>
            <a:off x="3810000" y="2667000"/>
            <a:ext cx="1160463" cy="903288"/>
            <a:chOff x="2390" y="919"/>
            <a:chExt cx="731" cy="569"/>
          </a:xfrm>
        </p:grpSpPr>
        <p:sp>
          <p:nvSpPr>
            <p:cNvPr id="133149" name="Text Box 40"/>
            <p:cNvSpPr txBox="1"/>
            <p:nvPr/>
          </p:nvSpPr>
          <p:spPr>
            <a:xfrm>
              <a:off x="2390" y="919"/>
              <a:ext cx="731" cy="527"/>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ea typeface="宋体" panose="02010600030101010101" pitchFamily="2" charset="-122"/>
                </a:rPr>
                <a:t>g( )’s symtab</a:t>
              </a:r>
              <a:endParaRPr lang="en-US" altLang="zh-CN" sz="1400" b="1" dirty="0">
                <a:ea typeface="宋体" panose="02010600030101010101" pitchFamily="2" charset="-122"/>
              </a:endParaRPr>
            </a:p>
            <a:p>
              <a:pPr marL="0" lvl="0" indent="0">
                <a:spcBef>
                  <a:spcPct val="50000"/>
                </a:spcBef>
                <a:buClrTx/>
                <a:buSzTx/>
                <a:buNone/>
              </a:pPr>
              <a:r>
                <a:rPr lang="en-US" altLang="zh-CN" sz="1400" b="1" dirty="0">
                  <a:ea typeface="宋体" panose="02010600030101010101" pitchFamily="2" charset="-122"/>
                </a:rPr>
                <a:t>integer  a</a:t>
              </a:r>
              <a:endParaRPr lang="en-US" altLang="zh-CN" sz="1400" b="1" dirty="0">
                <a:ea typeface="宋体" panose="02010600030101010101" pitchFamily="2" charset="-122"/>
              </a:endParaRPr>
            </a:p>
            <a:p>
              <a:pPr marL="0" lvl="0" indent="0">
                <a:spcBef>
                  <a:spcPct val="0"/>
                </a:spcBef>
                <a:buClrTx/>
                <a:buSzTx/>
                <a:buNone/>
              </a:pPr>
              <a:r>
                <a:rPr lang="en-US" altLang="zh-CN" sz="1400" b="1" dirty="0">
                  <a:ea typeface="宋体" panose="02010600030101010101" pitchFamily="2" charset="-122"/>
                </a:rPr>
                <a:t>integer  b</a:t>
              </a:r>
              <a:endParaRPr lang="en-US" altLang="zh-CN" sz="1400" b="1" dirty="0">
                <a:ea typeface="宋体" panose="02010600030101010101" pitchFamily="2" charset="-122"/>
              </a:endParaRPr>
            </a:p>
          </p:txBody>
        </p:sp>
        <p:sp>
          <p:nvSpPr>
            <p:cNvPr id="133150" name="Line 41"/>
            <p:cNvSpPr/>
            <p:nvPr/>
          </p:nvSpPr>
          <p:spPr>
            <a:xfrm>
              <a:off x="2400" y="1104"/>
              <a:ext cx="0" cy="384"/>
            </a:xfrm>
            <a:prstGeom prst="line">
              <a:avLst/>
            </a:prstGeom>
            <a:ln w="22225" cap="flat" cmpd="sng">
              <a:solidFill>
                <a:schemeClr val="tx1"/>
              </a:solidFill>
              <a:prstDash val="solid"/>
              <a:headEnd type="none" w="sm" len="sm"/>
              <a:tailEnd type="none" w="lg" len="med"/>
            </a:ln>
          </p:spPr>
        </p:sp>
        <p:sp>
          <p:nvSpPr>
            <p:cNvPr id="133151" name="Line 42"/>
            <p:cNvSpPr/>
            <p:nvPr/>
          </p:nvSpPr>
          <p:spPr>
            <a:xfrm>
              <a:off x="3024" y="1104"/>
              <a:ext cx="0" cy="384"/>
            </a:xfrm>
            <a:prstGeom prst="line">
              <a:avLst/>
            </a:prstGeom>
            <a:ln w="22225" cap="flat" cmpd="sng">
              <a:solidFill>
                <a:schemeClr val="tx1"/>
              </a:solidFill>
              <a:prstDash val="solid"/>
              <a:headEnd type="none" w="sm" len="sm"/>
              <a:tailEnd type="none" w="lg" len="med"/>
            </a:ln>
          </p:spPr>
        </p:sp>
        <p:sp>
          <p:nvSpPr>
            <p:cNvPr id="133152" name="Line 43"/>
            <p:cNvSpPr/>
            <p:nvPr/>
          </p:nvSpPr>
          <p:spPr>
            <a:xfrm>
              <a:off x="2400" y="1104"/>
              <a:ext cx="624" cy="0"/>
            </a:xfrm>
            <a:prstGeom prst="line">
              <a:avLst/>
            </a:prstGeom>
            <a:ln w="22225" cap="flat" cmpd="sng">
              <a:solidFill>
                <a:schemeClr val="tx1"/>
              </a:solidFill>
              <a:prstDash val="solid"/>
              <a:headEnd type="none" w="sm" len="sm"/>
              <a:tailEnd type="none" w="lg" len="med"/>
            </a:ln>
          </p:spPr>
        </p:sp>
        <p:sp>
          <p:nvSpPr>
            <p:cNvPr id="133153" name="Line 44"/>
            <p:cNvSpPr/>
            <p:nvPr/>
          </p:nvSpPr>
          <p:spPr>
            <a:xfrm>
              <a:off x="2400" y="1488"/>
              <a:ext cx="624" cy="0"/>
            </a:xfrm>
            <a:prstGeom prst="line">
              <a:avLst/>
            </a:prstGeom>
            <a:ln w="22225" cap="flat" cmpd="sng">
              <a:solidFill>
                <a:schemeClr val="tx1"/>
              </a:solidFill>
              <a:prstDash val="solid"/>
              <a:headEnd type="none" w="sm" len="sm"/>
              <a:tailEnd type="none" w="lg" len="med"/>
            </a:ln>
          </p:spPr>
        </p:sp>
      </p:grpSp>
      <p:grpSp>
        <p:nvGrpSpPr>
          <p:cNvPr id="133126" name="Group 45"/>
          <p:cNvGrpSpPr/>
          <p:nvPr/>
        </p:nvGrpSpPr>
        <p:grpSpPr>
          <a:xfrm>
            <a:off x="5791200" y="2667000"/>
            <a:ext cx="1130300" cy="903288"/>
            <a:chOff x="2390" y="919"/>
            <a:chExt cx="712" cy="569"/>
          </a:xfrm>
        </p:grpSpPr>
        <p:sp>
          <p:nvSpPr>
            <p:cNvPr id="133144" name="Text Box 46"/>
            <p:cNvSpPr txBox="1"/>
            <p:nvPr/>
          </p:nvSpPr>
          <p:spPr>
            <a:xfrm>
              <a:off x="2390" y="919"/>
              <a:ext cx="712" cy="527"/>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ea typeface="宋体" panose="02010600030101010101" pitchFamily="2" charset="-122"/>
                </a:rPr>
                <a:t>j( )’s symtab</a:t>
              </a:r>
              <a:endParaRPr lang="en-US" altLang="zh-CN" sz="1400" b="1" dirty="0">
                <a:ea typeface="宋体" panose="02010600030101010101" pitchFamily="2" charset="-122"/>
              </a:endParaRPr>
            </a:p>
            <a:p>
              <a:pPr marL="0" lvl="0" indent="0">
                <a:spcBef>
                  <a:spcPct val="50000"/>
                </a:spcBef>
                <a:buClrTx/>
                <a:buSzTx/>
                <a:buNone/>
              </a:pPr>
              <a:r>
                <a:rPr lang="en-US" altLang="zh-CN" sz="1400" b="1" dirty="0">
                  <a:ea typeface="宋体" panose="02010600030101010101" pitchFamily="2" charset="-122"/>
                </a:rPr>
                <a:t>integer  b</a:t>
              </a:r>
              <a:endParaRPr lang="en-US" altLang="zh-CN" sz="1400" b="1" dirty="0">
                <a:ea typeface="宋体" panose="02010600030101010101" pitchFamily="2" charset="-122"/>
              </a:endParaRPr>
            </a:p>
            <a:p>
              <a:pPr marL="0" lvl="0" indent="0">
                <a:spcBef>
                  <a:spcPct val="0"/>
                </a:spcBef>
                <a:buClrTx/>
                <a:buSzTx/>
                <a:buNone/>
              </a:pPr>
              <a:r>
                <a:rPr lang="en-US" altLang="zh-CN" sz="1400" b="1" dirty="0">
                  <a:ea typeface="宋体" panose="02010600030101010101" pitchFamily="2" charset="-122"/>
                </a:rPr>
                <a:t>integer  d</a:t>
              </a:r>
              <a:endParaRPr lang="en-US" altLang="zh-CN" sz="1400" b="1" dirty="0">
                <a:ea typeface="宋体" panose="02010600030101010101" pitchFamily="2" charset="-122"/>
              </a:endParaRPr>
            </a:p>
          </p:txBody>
        </p:sp>
        <p:sp>
          <p:nvSpPr>
            <p:cNvPr id="133145" name="Line 47"/>
            <p:cNvSpPr/>
            <p:nvPr/>
          </p:nvSpPr>
          <p:spPr>
            <a:xfrm>
              <a:off x="2400" y="1104"/>
              <a:ext cx="0" cy="384"/>
            </a:xfrm>
            <a:prstGeom prst="line">
              <a:avLst/>
            </a:prstGeom>
            <a:ln w="22225" cap="flat" cmpd="sng">
              <a:solidFill>
                <a:schemeClr val="tx1"/>
              </a:solidFill>
              <a:prstDash val="solid"/>
              <a:headEnd type="none" w="sm" len="sm"/>
              <a:tailEnd type="none" w="lg" len="med"/>
            </a:ln>
          </p:spPr>
        </p:sp>
        <p:sp>
          <p:nvSpPr>
            <p:cNvPr id="133146" name="Line 48"/>
            <p:cNvSpPr/>
            <p:nvPr/>
          </p:nvSpPr>
          <p:spPr>
            <a:xfrm>
              <a:off x="3024" y="1104"/>
              <a:ext cx="0" cy="384"/>
            </a:xfrm>
            <a:prstGeom prst="line">
              <a:avLst/>
            </a:prstGeom>
            <a:ln w="22225" cap="flat" cmpd="sng">
              <a:solidFill>
                <a:schemeClr val="tx1"/>
              </a:solidFill>
              <a:prstDash val="solid"/>
              <a:headEnd type="none" w="sm" len="sm"/>
              <a:tailEnd type="none" w="lg" len="med"/>
            </a:ln>
          </p:spPr>
        </p:sp>
        <p:sp>
          <p:nvSpPr>
            <p:cNvPr id="133147" name="Line 49"/>
            <p:cNvSpPr/>
            <p:nvPr/>
          </p:nvSpPr>
          <p:spPr>
            <a:xfrm>
              <a:off x="2400" y="1104"/>
              <a:ext cx="624" cy="0"/>
            </a:xfrm>
            <a:prstGeom prst="line">
              <a:avLst/>
            </a:prstGeom>
            <a:ln w="22225" cap="flat" cmpd="sng">
              <a:solidFill>
                <a:schemeClr val="tx1"/>
              </a:solidFill>
              <a:prstDash val="solid"/>
              <a:headEnd type="none" w="sm" len="sm"/>
              <a:tailEnd type="none" w="lg" len="med"/>
            </a:ln>
          </p:spPr>
        </p:sp>
        <p:sp>
          <p:nvSpPr>
            <p:cNvPr id="133148" name="Line 50"/>
            <p:cNvSpPr/>
            <p:nvPr/>
          </p:nvSpPr>
          <p:spPr>
            <a:xfrm>
              <a:off x="2400" y="1488"/>
              <a:ext cx="624" cy="0"/>
            </a:xfrm>
            <a:prstGeom prst="line">
              <a:avLst/>
            </a:prstGeom>
            <a:ln w="22225" cap="flat" cmpd="sng">
              <a:solidFill>
                <a:schemeClr val="tx1"/>
              </a:solidFill>
              <a:prstDash val="solid"/>
              <a:headEnd type="none" w="sm" len="sm"/>
              <a:tailEnd type="none" w="lg" len="med"/>
            </a:ln>
          </p:spPr>
        </p:sp>
      </p:grpSp>
      <p:grpSp>
        <p:nvGrpSpPr>
          <p:cNvPr id="133127" name="Group 63"/>
          <p:cNvGrpSpPr/>
          <p:nvPr/>
        </p:nvGrpSpPr>
        <p:grpSpPr>
          <a:xfrm>
            <a:off x="2895600" y="4343400"/>
            <a:ext cx="1169988" cy="903288"/>
            <a:chOff x="2390" y="919"/>
            <a:chExt cx="737" cy="569"/>
          </a:xfrm>
        </p:grpSpPr>
        <p:sp>
          <p:nvSpPr>
            <p:cNvPr id="133139" name="Text Box 64"/>
            <p:cNvSpPr txBox="1"/>
            <p:nvPr/>
          </p:nvSpPr>
          <p:spPr>
            <a:xfrm>
              <a:off x="2390" y="919"/>
              <a:ext cx="737" cy="527"/>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ea typeface="宋体" panose="02010600030101010101" pitchFamily="2" charset="-122"/>
                </a:rPr>
                <a:t>h( )’s symtab</a:t>
              </a:r>
              <a:endParaRPr lang="en-US" altLang="zh-CN" sz="1400" b="1" dirty="0">
                <a:ea typeface="宋体" panose="02010600030101010101" pitchFamily="2" charset="-122"/>
              </a:endParaRPr>
            </a:p>
            <a:p>
              <a:pPr marL="0" lvl="0" indent="0">
                <a:spcBef>
                  <a:spcPct val="50000"/>
                </a:spcBef>
                <a:buClrTx/>
                <a:buSzTx/>
                <a:buNone/>
              </a:pPr>
              <a:r>
                <a:rPr lang="en-US" altLang="zh-CN" sz="1400" b="1" dirty="0">
                  <a:ea typeface="宋体" panose="02010600030101010101" pitchFamily="2" charset="-122"/>
                </a:rPr>
                <a:t>integer  c</a:t>
              </a:r>
              <a:endParaRPr lang="en-US" altLang="zh-CN" sz="1400" b="1" dirty="0">
                <a:ea typeface="宋体" panose="02010600030101010101" pitchFamily="2" charset="-122"/>
              </a:endParaRPr>
            </a:p>
            <a:p>
              <a:pPr marL="0" lvl="0" indent="0">
                <a:spcBef>
                  <a:spcPct val="0"/>
                </a:spcBef>
                <a:buClrTx/>
                <a:buSzTx/>
                <a:buNone/>
              </a:pPr>
              <a:r>
                <a:rPr lang="en-US" altLang="zh-CN" sz="1400" b="1" dirty="0">
                  <a:ea typeface="宋体" panose="02010600030101010101" pitchFamily="2" charset="-122"/>
                </a:rPr>
                <a:t>integer  d</a:t>
              </a:r>
              <a:endParaRPr lang="en-US" altLang="zh-CN" sz="1400" b="1" dirty="0">
                <a:ea typeface="宋体" panose="02010600030101010101" pitchFamily="2" charset="-122"/>
              </a:endParaRPr>
            </a:p>
          </p:txBody>
        </p:sp>
        <p:sp>
          <p:nvSpPr>
            <p:cNvPr id="133140" name="Line 65"/>
            <p:cNvSpPr/>
            <p:nvPr/>
          </p:nvSpPr>
          <p:spPr>
            <a:xfrm>
              <a:off x="2400" y="1104"/>
              <a:ext cx="0" cy="384"/>
            </a:xfrm>
            <a:prstGeom prst="line">
              <a:avLst/>
            </a:prstGeom>
            <a:ln w="22225" cap="flat" cmpd="sng">
              <a:solidFill>
                <a:schemeClr val="tx1"/>
              </a:solidFill>
              <a:prstDash val="solid"/>
              <a:headEnd type="none" w="sm" len="sm"/>
              <a:tailEnd type="none" w="lg" len="med"/>
            </a:ln>
          </p:spPr>
        </p:sp>
        <p:sp>
          <p:nvSpPr>
            <p:cNvPr id="133141" name="Line 66"/>
            <p:cNvSpPr/>
            <p:nvPr/>
          </p:nvSpPr>
          <p:spPr>
            <a:xfrm>
              <a:off x="3024" y="1104"/>
              <a:ext cx="0" cy="384"/>
            </a:xfrm>
            <a:prstGeom prst="line">
              <a:avLst/>
            </a:prstGeom>
            <a:ln w="22225" cap="flat" cmpd="sng">
              <a:solidFill>
                <a:schemeClr val="tx1"/>
              </a:solidFill>
              <a:prstDash val="solid"/>
              <a:headEnd type="none" w="sm" len="sm"/>
              <a:tailEnd type="none" w="lg" len="med"/>
            </a:ln>
          </p:spPr>
        </p:sp>
        <p:sp>
          <p:nvSpPr>
            <p:cNvPr id="133142" name="Line 67"/>
            <p:cNvSpPr/>
            <p:nvPr/>
          </p:nvSpPr>
          <p:spPr>
            <a:xfrm>
              <a:off x="2400" y="1104"/>
              <a:ext cx="624" cy="0"/>
            </a:xfrm>
            <a:prstGeom prst="line">
              <a:avLst/>
            </a:prstGeom>
            <a:ln w="22225" cap="flat" cmpd="sng">
              <a:solidFill>
                <a:schemeClr val="tx1"/>
              </a:solidFill>
              <a:prstDash val="solid"/>
              <a:headEnd type="none" w="sm" len="sm"/>
              <a:tailEnd type="none" w="lg" len="med"/>
            </a:ln>
          </p:spPr>
        </p:sp>
        <p:sp>
          <p:nvSpPr>
            <p:cNvPr id="133143" name="Line 68"/>
            <p:cNvSpPr/>
            <p:nvPr/>
          </p:nvSpPr>
          <p:spPr>
            <a:xfrm>
              <a:off x="2400" y="1488"/>
              <a:ext cx="624" cy="0"/>
            </a:xfrm>
            <a:prstGeom prst="line">
              <a:avLst/>
            </a:prstGeom>
            <a:ln w="22225" cap="flat" cmpd="sng">
              <a:solidFill>
                <a:schemeClr val="tx1"/>
              </a:solidFill>
              <a:prstDash val="solid"/>
              <a:headEnd type="none" w="sm" len="sm"/>
              <a:tailEnd type="none" w="lg" len="med"/>
            </a:ln>
          </p:spPr>
        </p:sp>
      </p:grpSp>
      <p:grpSp>
        <p:nvGrpSpPr>
          <p:cNvPr id="133128" name="Group 69"/>
          <p:cNvGrpSpPr/>
          <p:nvPr/>
        </p:nvGrpSpPr>
        <p:grpSpPr>
          <a:xfrm>
            <a:off x="4876800" y="4343400"/>
            <a:ext cx="1120775" cy="903288"/>
            <a:chOff x="2390" y="919"/>
            <a:chExt cx="706" cy="569"/>
          </a:xfrm>
        </p:grpSpPr>
        <p:sp>
          <p:nvSpPr>
            <p:cNvPr id="133134" name="Text Box 70"/>
            <p:cNvSpPr txBox="1"/>
            <p:nvPr/>
          </p:nvSpPr>
          <p:spPr>
            <a:xfrm>
              <a:off x="2390" y="919"/>
              <a:ext cx="706" cy="527"/>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ea typeface="宋体" panose="02010600030101010101" pitchFamily="2" charset="-122"/>
                </a:rPr>
                <a:t>i( )’s symtab</a:t>
              </a:r>
              <a:endParaRPr lang="en-US" altLang="zh-CN" sz="1400" b="1" dirty="0">
                <a:ea typeface="宋体" panose="02010600030101010101" pitchFamily="2" charset="-122"/>
              </a:endParaRPr>
            </a:p>
            <a:p>
              <a:pPr marL="0" lvl="0" indent="0">
                <a:spcBef>
                  <a:spcPct val="50000"/>
                </a:spcBef>
                <a:buClrTx/>
                <a:buSzTx/>
                <a:buNone/>
              </a:pPr>
              <a:r>
                <a:rPr lang="en-US" altLang="zh-CN" sz="1400" b="1" dirty="0">
                  <a:ea typeface="宋体" panose="02010600030101010101" pitchFamily="2" charset="-122"/>
                </a:rPr>
                <a:t>integer  b</a:t>
              </a:r>
              <a:endParaRPr lang="en-US" altLang="zh-CN" sz="1400" b="1" dirty="0">
                <a:ea typeface="宋体" panose="02010600030101010101" pitchFamily="2" charset="-122"/>
              </a:endParaRPr>
            </a:p>
            <a:p>
              <a:pPr marL="0" lvl="0" indent="0">
                <a:spcBef>
                  <a:spcPct val="0"/>
                </a:spcBef>
                <a:buClrTx/>
                <a:buSzTx/>
                <a:buNone/>
              </a:pPr>
              <a:r>
                <a:rPr lang="en-US" altLang="zh-CN" sz="1400" b="1" dirty="0">
                  <a:ea typeface="宋体" panose="02010600030101010101" pitchFamily="2" charset="-122"/>
                </a:rPr>
                <a:t>integer  d</a:t>
              </a:r>
              <a:endParaRPr lang="en-US" altLang="zh-CN" sz="1400" b="1" dirty="0">
                <a:ea typeface="宋体" panose="02010600030101010101" pitchFamily="2" charset="-122"/>
              </a:endParaRPr>
            </a:p>
          </p:txBody>
        </p:sp>
        <p:sp>
          <p:nvSpPr>
            <p:cNvPr id="133135" name="Line 71"/>
            <p:cNvSpPr/>
            <p:nvPr/>
          </p:nvSpPr>
          <p:spPr>
            <a:xfrm>
              <a:off x="2400" y="1104"/>
              <a:ext cx="0" cy="384"/>
            </a:xfrm>
            <a:prstGeom prst="line">
              <a:avLst/>
            </a:prstGeom>
            <a:ln w="22225" cap="flat" cmpd="sng">
              <a:solidFill>
                <a:schemeClr val="tx1"/>
              </a:solidFill>
              <a:prstDash val="solid"/>
              <a:headEnd type="none" w="sm" len="sm"/>
              <a:tailEnd type="none" w="lg" len="med"/>
            </a:ln>
          </p:spPr>
        </p:sp>
        <p:sp>
          <p:nvSpPr>
            <p:cNvPr id="133136" name="Line 72"/>
            <p:cNvSpPr/>
            <p:nvPr/>
          </p:nvSpPr>
          <p:spPr>
            <a:xfrm>
              <a:off x="3024" y="1104"/>
              <a:ext cx="0" cy="384"/>
            </a:xfrm>
            <a:prstGeom prst="line">
              <a:avLst/>
            </a:prstGeom>
            <a:ln w="22225" cap="flat" cmpd="sng">
              <a:solidFill>
                <a:schemeClr val="tx1"/>
              </a:solidFill>
              <a:prstDash val="solid"/>
              <a:headEnd type="none" w="sm" len="sm"/>
              <a:tailEnd type="none" w="lg" len="med"/>
            </a:ln>
          </p:spPr>
        </p:sp>
        <p:sp>
          <p:nvSpPr>
            <p:cNvPr id="133137" name="Line 73"/>
            <p:cNvSpPr/>
            <p:nvPr/>
          </p:nvSpPr>
          <p:spPr>
            <a:xfrm>
              <a:off x="2400" y="1104"/>
              <a:ext cx="624" cy="0"/>
            </a:xfrm>
            <a:prstGeom prst="line">
              <a:avLst/>
            </a:prstGeom>
            <a:ln w="22225" cap="flat" cmpd="sng">
              <a:solidFill>
                <a:schemeClr val="tx1"/>
              </a:solidFill>
              <a:prstDash val="solid"/>
              <a:headEnd type="none" w="sm" len="sm"/>
              <a:tailEnd type="none" w="lg" len="med"/>
            </a:ln>
          </p:spPr>
        </p:sp>
        <p:sp>
          <p:nvSpPr>
            <p:cNvPr id="133138" name="Line 74"/>
            <p:cNvSpPr/>
            <p:nvPr/>
          </p:nvSpPr>
          <p:spPr>
            <a:xfrm>
              <a:off x="2400" y="1488"/>
              <a:ext cx="624" cy="0"/>
            </a:xfrm>
            <a:prstGeom prst="line">
              <a:avLst/>
            </a:prstGeom>
            <a:ln w="22225" cap="flat" cmpd="sng">
              <a:solidFill>
                <a:schemeClr val="tx1"/>
              </a:solidFill>
              <a:prstDash val="solid"/>
              <a:headEnd type="none" w="sm" len="sm"/>
              <a:tailEnd type="none" w="lg" len="med"/>
            </a:ln>
          </p:spPr>
        </p:sp>
      </p:grpSp>
      <p:sp>
        <p:nvSpPr>
          <p:cNvPr id="133129" name="Line 75"/>
          <p:cNvSpPr/>
          <p:nvPr/>
        </p:nvSpPr>
        <p:spPr>
          <a:xfrm flipH="1">
            <a:off x="2667000" y="2133600"/>
            <a:ext cx="1524000" cy="533400"/>
          </a:xfrm>
          <a:prstGeom prst="line">
            <a:avLst/>
          </a:prstGeom>
          <a:ln w="22225" cap="flat" cmpd="sng">
            <a:solidFill>
              <a:schemeClr val="tx1"/>
            </a:solidFill>
            <a:prstDash val="solid"/>
            <a:headEnd type="none" w="sm" len="sm"/>
            <a:tailEnd type="triangle" w="med" len="med"/>
          </a:ln>
        </p:spPr>
      </p:sp>
      <p:sp>
        <p:nvSpPr>
          <p:cNvPr id="133130" name="Line 76"/>
          <p:cNvSpPr/>
          <p:nvPr/>
        </p:nvSpPr>
        <p:spPr>
          <a:xfrm>
            <a:off x="4419600" y="2133600"/>
            <a:ext cx="1600200" cy="609600"/>
          </a:xfrm>
          <a:prstGeom prst="line">
            <a:avLst/>
          </a:prstGeom>
          <a:ln w="22225" cap="flat" cmpd="sng">
            <a:solidFill>
              <a:schemeClr val="tx1"/>
            </a:solidFill>
            <a:prstDash val="solid"/>
            <a:headEnd type="none" w="sm" len="sm"/>
            <a:tailEnd type="triangle" w="med" len="med"/>
          </a:ln>
        </p:spPr>
      </p:sp>
      <p:sp>
        <p:nvSpPr>
          <p:cNvPr id="133131" name="Line 77"/>
          <p:cNvSpPr/>
          <p:nvPr/>
        </p:nvSpPr>
        <p:spPr>
          <a:xfrm flipH="1">
            <a:off x="4267200" y="2133600"/>
            <a:ext cx="0" cy="533400"/>
          </a:xfrm>
          <a:prstGeom prst="line">
            <a:avLst/>
          </a:prstGeom>
          <a:ln w="22225" cap="flat" cmpd="sng">
            <a:solidFill>
              <a:schemeClr val="tx1"/>
            </a:solidFill>
            <a:prstDash val="solid"/>
            <a:headEnd type="none" w="sm" len="sm"/>
            <a:tailEnd type="triangle" w="med" len="med"/>
          </a:ln>
        </p:spPr>
      </p:sp>
      <p:sp>
        <p:nvSpPr>
          <p:cNvPr id="133132" name="Line 78"/>
          <p:cNvSpPr/>
          <p:nvPr/>
        </p:nvSpPr>
        <p:spPr>
          <a:xfrm flipH="1">
            <a:off x="3200400" y="3581400"/>
            <a:ext cx="1066800" cy="762000"/>
          </a:xfrm>
          <a:prstGeom prst="line">
            <a:avLst/>
          </a:prstGeom>
          <a:ln w="22225" cap="flat" cmpd="sng">
            <a:solidFill>
              <a:schemeClr val="tx1"/>
            </a:solidFill>
            <a:prstDash val="solid"/>
            <a:headEnd type="none" w="sm" len="sm"/>
            <a:tailEnd type="triangle" w="med" len="med"/>
          </a:ln>
        </p:spPr>
      </p:sp>
      <p:sp>
        <p:nvSpPr>
          <p:cNvPr id="133133" name="Line 79"/>
          <p:cNvSpPr/>
          <p:nvPr/>
        </p:nvSpPr>
        <p:spPr>
          <a:xfrm>
            <a:off x="4343400" y="3581400"/>
            <a:ext cx="838200" cy="762000"/>
          </a:xfrm>
          <a:prstGeom prst="line">
            <a:avLst/>
          </a:prstGeom>
          <a:ln w="22225" cap="flat" cmpd="sng">
            <a:solidFill>
              <a:schemeClr val="tx1"/>
            </a:solidFill>
            <a:prstDash val="solid"/>
            <a:headEnd type="none" w="sm" len="sm"/>
            <a:tailEnd type="triangle" w="med" len="med"/>
          </a:ln>
        </p:spPr>
      </p:sp>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Rectangle 2"/>
          <p:cNvSpPr>
            <a:spLocks noGrp="1"/>
          </p:cNvSpPr>
          <p:nvPr>
            <p:ph idx="1"/>
          </p:nvPr>
        </p:nvSpPr>
        <p:spPr>
          <a:xfrm>
            <a:off x="914400" y="1524000"/>
            <a:ext cx="7543800" cy="4648200"/>
          </a:xfrm>
        </p:spPr>
        <p:txBody>
          <a:bodyPr vert="horz" wrap="square" lIns="92075" tIns="46038" rIns="92075" bIns="46038" anchor="t" anchorCtr="0"/>
          <a:p>
            <a:pPr>
              <a:buNone/>
            </a:pPr>
            <a:r>
              <a:rPr lang="zh-CN" altLang="en-US" sz="2000" b="1" dirty="0">
                <a:ea typeface="宋体" panose="02010600030101010101" pitchFamily="2" charset="-122"/>
              </a:rPr>
              <a:t>被编译</a:t>
            </a:r>
            <a:endParaRPr lang="zh-CN" altLang="en-US" sz="2000" b="1" dirty="0">
              <a:ea typeface="宋体" panose="02010600030101010101" pitchFamily="2" charset="-122"/>
            </a:endParaRPr>
          </a:p>
          <a:p>
            <a:pPr>
              <a:buNone/>
            </a:pPr>
            <a:r>
              <a:rPr lang="zh-CN" altLang="en-US" sz="2000" b="1" dirty="0">
                <a:ea typeface="宋体" panose="02010600030101010101" pitchFamily="2" charset="-122"/>
              </a:rPr>
              <a:t>的过程	   </a:t>
            </a:r>
            <a:r>
              <a:rPr lang="en-US" altLang="zh-CN" sz="2000" b="1" dirty="0">
                <a:ea typeface="宋体" panose="02010600030101010101" pitchFamily="2" charset="-122"/>
              </a:rPr>
              <a:t>e( )         f( )         g( )         h( )         i( )         j( )         e( )</a:t>
            </a:r>
            <a:endParaRPr lang="en-US" altLang="zh-CN" sz="2000" b="1" dirty="0">
              <a:ea typeface="宋体" panose="02010600030101010101" pitchFamily="2" charset="-122"/>
            </a:endParaRPr>
          </a:p>
          <a:p>
            <a:pPr>
              <a:buNone/>
            </a:pPr>
            <a:endParaRPr lang="en-US" altLang="zh-CN" sz="2000" b="1" dirty="0">
              <a:ea typeface="宋体" panose="02010600030101010101" pitchFamily="2" charset="-122"/>
            </a:endParaRPr>
          </a:p>
          <a:p>
            <a:pPr>
              <a:buNone/>
            </a:pPr>
            <a:r>
              <a:rPr lang="zh-CN" altLang="en-US" sz="2000" b="1" dirty="0">
                <a:ea typeface="宋体" panose="02010600030101010101" pitchFamily="2" charset="-122"/>
              </a:rPr>
              <a:t>符号表</a:t>
            </a:r>
            <a:endParaRPr lang="zh-CN" altLang="en-US" sz="2000" b="1" dirty="0">
              <a:ea typeface="宋体" panose="02010600030101010101" pitchFamily="2" charset="-122"/>
            </a:endParaRPr>
          </a:p>
          <a:p>
            <a:pPr>
              <a:buNone/>
            </a:pPr>
            <a:r>
              <a:rPr lang="zh-CN" altLang="en-US" sz="2000" b="1" dirty="0">
                <a:ea typeface="宋体" panose="02010600030101010101" pitchFamily="2" charset="-122"/>
              </a:rPr>
              <a:t>的栈</a:t>
            </a:r>
            <a:endParaRPr lang="zh-CN" altLang="en-US" sz="2000" b="1" dirty="0">
              <a:ea typeface="宋体" panose="02010600030101010101" pitchFamily="2" charset="-122"/>
            </a:endParaRPr>
          </a:p>
          <a:p>
            <a:pPr>
              <a:buNone/>
            </a:pPr>
            <a:endParaRPr lang="zh-CN" altLang="en-US" sz="2000" b="1" dirty="0">
              <a:ea typeface="宋体" panose="02010600030101010101" pitchFamily="2" charset="-122"/>
            </a:endParaRPr>
          </a:p>
          <a:p>
            <a:pPr>
              <a:buNone/>
            </a:pPr>
            <a:endParaRPr lang="zh-CN" altLang="en-US" sz="2000" b="1" dirty="0">
              <a:ea typeface="宋体" panose="02010600030101010101" pitchFamily="2" charset="-122"/>
            </a:endParaRPr>
          </a:p>
          <a:p>
            <a:pPr>
              <a:buNone/>
            </a:pPr>
            <a:endParaRPr lang="zh-CN" altLang="en-US" sz="2000" b="1" dirty="0">
              <a:ea typeface="宋体" panose="02010600030101010101" pitchFamily="2" charset="-122"/>
            </a:endParaRPr>
          </a:p>
          <a:p>
            <a:pPr>
              <a:buNone/>
            </a:pPr>
            <a:r>
              <a:rPr lang="zh-CN" altLang="en-US" sz="2000" b="1" dirty="0">
                <a:ea typeface="宋体" panose="02010600030101010101" pitchFamily="2" charset="-122"/>
              </a:rPr>
              <a:t>	</a:t>
            </a:r>
            <a:endParaRPr lang="zh-CN" altLang="en-US" sz="2000" b="1" dirty="0">
              <a:ea typeface="宋体" panose="02010600030101010101" pitchFamily="2" charset="-122"/>
            </a:endParaRPr>
          </a:p>
          <a:p>
            <a:pPr>
              <a:buNone/>
            </a:pPr>
            <a:r>
              <a:rPr lang="zh-CN" altLang="en-US" sz="2000" b="1" dirty="0">
                <a:ea typeface="宋体" panose="02010600030101010101" pitchFamily="2" charset="-122"/>
              </a:rPr>
              <a:t>				编译时的符号表栈</a:t>
            </a:r>
            <a:endParaRPr lang="en-US" altLang="zh-CN" sz="2000" b="1" dirty="0">
              <a:ea typeface="宋体" panose="02010600030101010101" pitchFamily="2" charset="-122"/>
            </a:endParaRPr>
          </a:p>
        </p:txBody>
      </p:sp>
      <p:grpSp>
        <p:nvGrpSpPr>
          <p:cNvPr id="135171" name="Group 49"/>
          <p:cNvGrpSpPr/>
          <p:nvPr/>
        </p:nvGrpSpPr>
        <p:grpSpPr>
          <a:xfrm>
            <a:off x="2057400" y="3962400"/>
            <a:ext cx="528638" cy="396875"/>
            <a:chOff x="1430" y="2169"/>
            <a:chExt cx="333" cy="250"/>
          </a:xfrm>
        </p:grpSpPr>
        <p:sp>
          <p:nvSpPr>
            <p:cNvPr id="135250" name="Text Box 44"/>
            <p:cNvSpPr txBox="1"/>
            <p:nvPr/>
          </p:nvSpPr>
          <p:spPr>
            <a:xfrm>
              <a:off x="1430" y="2169"/>
              <a:ext cx="333" cy="2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2000" b="1" dirty="0">
                  <a:ea typeface="宋体" panose="02010600030101010101" pitchFamily="2" charset="-122"/>
                </a:rPr>
                <a:t>e( )</a:t>
              </a:r>
              <a:endParaRPr lang="en-US" altLang="zh-CN" sz="2000" b="1" dirty="0">
                <a:ea typeface="宋体" panose="02010600030101010101" pitchFamily="2" charset="-122"/>
              </a:endParaRPr>
            </a:p>
          </p:txBody>
        </p:sp>
        <p:sp>
          <p:nvSpPr>
            <p:cNvPr id="135251" name="Line 45"/>
            <p:cNvSpPr/>
            <p:nvPr/>
          </p:nvSpPr>
          <p:spPr>
            <a:xfrm>
              <a:off x="1440" y="2208"/>
              <a:ext cx="0" cy="192"/>
            </a:xfrm>
            <a:prstGeom prst="line">
              <a:avLst/>
            </a:prstGeom>
            <a:ln w="22225" cap="flat" cmpd="sng">
              <a:solidFill>
                <a:schemeClr val="tx1"/>
              </a:solidFill>
              <a:prstDash val="solid"/>
              <a:headEnd type="none" w="sm" len="sm"/>
              <a:tailEnd type="none" w="lg" len="med"/>
            </a:ln>
          </p:spPr>
        </p:sp>
        <p:sp>
          <p:nvSpPr>
            <p:cNvPr id="135252" name="Line 46"/>
            <p:cNvSpPr/>
            <p:nvPr/>
          </p:nvSpPr>
          <p:spPr>
            <a:xfrm>
              <a:off x="1728" y="2208"/>
              <a:ext cx="0" cy="192"/>
            </a:xfrm>
            <a:prstGeom prst="line">
              <a:avLst/>
            </a:prstGeom>
            <a:ln w="22225" cap="flat" cmpd="sng">
              <a:solidFill>
                <a:schemeClr val="tx1"/>
              </a:solidFill>
              <a:prstDash val="solid"/>
              <a:headEnd type="none" w="sm" len="sm"/>
              <a:tailEnd type="none" w="lg" len="med"/>
            </a:ln>
          </p:spPr>
        </p:sp>
        <p:sp>
          <p:nvSpPr>
            <p:cNvPr id="135253" name="Line 47"/>
            <p:cNvSpPr/>
            <p:nvPr/>
          </p:nvSpPr>
          <p:spPr>
            <a:xfrm>
              <a:off x="1440" y="2208"/>
              <a:ext cx="288" cy="0"/>
            </a:xfrm>
            <a:prstGeom prst="line">
              <a:avLst/>
            </a:prstGeom>
            <a:ln w="22225" cap="flat" cmpd="sng">
              <a:solidFill>
                <a:schemeClr val="tx1"/>
              </a:solidFill>
              <a:prstDash val="solid"/>
              <a:headEnd type="none" w="sm" len="sm"/>
              <a:tailEnd type="none" w="lg" len="med"/>
            </a:ln>
          </p:spPr>
        </p:sp>
        <p:sp>
          <p:nvSpPr>
            <p:cNvPr id="135254" name="Line 48"/>
            <p:cNvSpPr/>
            <p:nvPr/>
          </p:nvSpPr>
          <p:spPr>
            <a:xfrm>
              <a:off x="1440" y="2400"/>
              <a:ext cx="288" cy="0"/>
            </a:xfrm>
            <a:prstGeom prst="line">
              <a:avLst/>
            </a:prstGeom>
            <a:ln w="22225" cap="flat" cmpd="sng">
              <a:solidFill>
                <a:schemeClr val="tx1"/>
              </a:solidFill>
              <a:prstDash val="solid"/>
              <a:headEnd type="none" w="sm" len="sm"/>
              <a:tailEnd type="none" w="lg" len="med"/>
            </a:ln>
          </p:spPr>
        </p:sp>
      </p:grpSp>
      <p:grpSp>
        <p:nvGrpSpPr>
          <p:cNvPr id="135172" name="Group 51"/>
          <p:cNvGrpSpPr/>
          <p:nvPr/>
        </p:nvGrpSpPr>
        <p:grpSpPr>
          <a:xfrm>
            <a:off x="2895600" y="3962400"/>
            <a:ext cx="528638" cy="396875"/>
            <a:chOff x="1430" y="2169"/>
            <a:chExt cx="333" cy="250"/>
          </a:xfrm>
        </p:grpSpPr>
        <p:sp>
          <p:nvSpPr>
            <p:cNvPr id="135245" name="Text Box 52"/>
            <p:cNvSpPr txBox="1"/>
            <p:nvPr/>
          </p:nvSpPr>
          <p:spPr>
            <a:xfrm>
              <a:off x="1430" y="2169"/>
              <a:ext cx="333" cy="2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2000" b="1" dirty="0">
                  <a:ea typeface="宋体" panose="02010600030101010101" pitchFamily="2" charset="-122"/>
                </a:rPr>
                <a:t>e( )</a:t>
              </a:r>
              <a:endParaRPr lang="en-US" altLang="zh-CN" sz="2000" b="1" dirty="0">
                <a:ea typeface="宋体" panose="02010600030101010101" pitchFamily="2" charset="-122"/>
              </a:endParaRPr>
            </a:p>
          </p:txBody>
        </p:sp>
        <p:sp>
          <p:nvSpPr>
            <p:cNvPr id="135246" name="Line 53"/>
            <p:cNvSpPr/>
            <p:nvPr/>
          </p:nvSpPr>
          <p:spPr>
            <a:xfrm>
              <a:off x="1440" y="2208"/>
              <a:ext cx="0" cy="192"/>
            </a:xfrm>
            <a:prstGeom prst="line">
              <a:avLst/>
            </a:prstGeom>
            <a:ln w="22225" cap="flat" cmpd="sng">
              <a:solidFill>
                <a:schemeClr val="tx1"/>
              </a:solidFill>
              <a:prstDash val="solid"/>
              <a:headEnd type="none" w="sm" len="sm"/>
              <a:tailEnd type="none" w="lg" len="med"/>
            </a:ln>
          </p:spPr>
        </p:sp>
        <p:sp>
          <p:nvSpPr>
            <p:cNvPr id="135247" name="Line 54"/>
            <p:cNvSpPr/>
            <p:nvPr/>
          </p:nvSpPr>
          <p:spPr>
            <a:xfrm>
              <a:off x="1728" y="2208"/>
              <a:ext cx="0" cy="192"/>
            </a:xfrm>
            <a:prstGeom prst="line">
              <a:avLst/>
            </a:prstGeom>
            <a:ln w="22225" cap="flat" cmpd="sng">
              <a:solidFill>
                <a:schemeClr val="tx1"/>
              </a:solidFill>
              <a:prstDash val="solid"/>
              <a:headEnd type="none" w="sm" len="sm"/>
              <a:tailEnd type="none" w="lg" len="med"/>
            </a:ln>
          </p:spPr>
        </p:sp>
        <p:sp>
          <p:nvSpPr>
            <p:cNvPr id="135248" name="Line 55"/>
            <p:cNvSpPr/>
            <p:nvPr/>
          </p:nvSpPr>
          <p:spPr>
            <a:xfrm>
              <a:off x="1440" y="2208"/>
              <a:ext cx="288" cy="0"/>
            </a:xfrm>
            <a:prstGeom prst="line">
              <a:avLst/>
            </a:prstGeom>
            <a:ln w="22225" cap="flat" cmpd="sng">
              <a:solidFill>
                <a:schemeClr val="tx1"/>
              </a:solidFill>
              <a:prstDash val="solid"/>
              <a:headEnd type="none" w="sm" len="sm"/>
              <a:tailEnd type="none" w="lg" len="med"/>
            </a:ln>
          </p:spPr>
        </p:sp>
        <p:sp>
          <p:nvSpPr>
            <p:cNvPr id="135249" name="Line 56"/>
            <p:cNvSpPr/>
            <p:nvPr/>
          </p:nvSpPr>
          <p:spPr>
            <a:xfrm>
              <a:off x="1440" y="2400"/>
              <a:ext cx="288" cy="0"/>
            </a:xfrm>
            <a:prstGeom prst="line">
              <a:avLst/>
            </a:prstGeom>
            <a:ln w="22225" cap="flat" cmpd="sng">
              <a:solidFill>
                <a:schemeClr val="tx1"/>
              </a:solidFill>
              <a:prstDash val="solid"/>
              <a:headEnd type="none" w="sm" len="sm"/>
              <a:tailEnd type="none" w="lg" len="med"/>
            </a:ln>
          </p:spPr>
        </p:sp>
      </p:grpSp>
      <p:grpSp>
        <p:nvGrpSpPr>
          <p:cNvPr id="135173" name="Group 57"/>
          <p:cNvGrpSpPr/>
          <p:nvPr/>
        </p:nvGrpSpPr>
        <p:grpSpPr>
          <a:xfrm>
            <a:off x="3810000" y="3962400"/>
            <a:ext cx="528638" cy="396875"/>
            <a:chOff x="1430" y="2169"/>
            <a:chExt cx="333" cy="250"/>
          </a:xfrm>
        </p:grpSpPr>
        <p:sp>
          <p:nvSpPr>
            <p:cNvPr id="135240" name="Text Box 58"/>
            <p:cNvSpPr txBox="1"/>
            <p:nvPr/>
          </p:nvSpPr>
          <p:spPr>
            <a:xfrm>
              <a:off x="1430" y="2169"/>
              <a:ext cx="333" cy="2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2000" b="1" dirty="0">
                  <a:ea typeface="宋体" panose="02010600030101010101" pitchFamily="2" charset="-122"/>
                </a:rPr>
                <a:t>e( )</a:t>
              </a:r>
              <a:endParaRPr lang="en-US" altLang="zh-CN" sz="2000" b="1" dirty="0">
                <a:ea typeface="宋体" panose="02010600030101010101" pitchFamily="2" charset="-122"/>
              </a:endParaRPr>
            </a:p>
          </p:txBody>
        </p:sp>
        <p:sp>
          <p:nvSpPr>
            <p:cNvPr id="135241" name="Line 59"/>
            <p:cNvSpPr/>
            <p:nvPr/>
          </p:nvSpPr>
          <p:spPr>
            <a:xfrm>
              <a:off x="1440" y="2208"/>
              <a:ext cx="0" cy="192"/>
            </a:xfrm>
            <a:prstGeom prst="line">
              <a:avLst/>
            </a:prstGeom>
            <a:ln w="22225" cap="flat" cmpd="sng">
              <a:solidFill>
                <a:schemeClr val="tx1"/>
              </a:solidFill>
              <a:prstDash val="solid"/>
              <a:headEnd type="none" w="sm" len="sm"/>
              <a:tailEnd type="none" w="lg" len="med"/>
            </a:ln>
          </p:spPr>
        </p:sp>
        <p:sp>
          <p:nvSpPr>
            <p:cNvPr id="135242" name="Line 60"/>
            <p:cNvSpPr/>
            <p:nvPr/>
          </p:nvSpPr>
          <p:spPr>
            <a:xfrm>
              <a:off x="1728" y="2208"/>
              <a:ext cx="0" cy="192"/>
            </a:xfrm>
            <a:prstGeom prst="line">
              <a:avLst/>
            </a:prstGeom>
            <a:ln w="22225" cap="flat" cmpd="sng">
              <a:solidFill>
                <a:schemeClr val="tx1"/>
              </a:solidFill>
              <a:prstDash val="solid"/>
              <a:headEnd type="none" w="sm" len="sm"/>
              <a:tailEnd type="none" w="lg" len="med"/>
            </a:ln>
          </p:spPr>
        </p:sp>
        <p:sp>
          <p:nvSpPr>
            <p:cNvPr id="135243" name="Line 61"/>
            <p:cNvSpPr/>
            <p:nvPr/>
          </p:nvSpPr>
          <p:spPr>
            <a:xfrm>
              <a:off x="1440" y="2208"/>
              <a:ext cx="288" cy="0"/>
            </a:xfrm>
            <a:prstGeom prst="line">
              <a:avLst/>
            </a:prstGeom>
            <a:ln w="22225" cap="flat" cmpd="sng">
              <a:solidFill>
                <a:schemeClr val="tx1"/>
              </a:solidFill>
              <a:prstDash val="solid"/>
              <a:headEnd type="none" w="sm" len="sm"/>
              <a:tailEnd type="none" w="lg" len="med"/>
            </a:ln>
          </p:spPr>
        </p:sp>
        <p:sp>
          <p:nvSpPr>
            <p:cNvPr id="135244" name="Line 62"/>
            <p:cNvSpPr/>
            <p:nvPr/>
          </p:nvSpPr>
          <p:spPr>
            <a:xfrm>
              <a:off x="1440" y="2400"/>
              <a:ext cx="288" cy="0"/>
            </a:xfrm>
            <a:prstGeom prst="line">
              <a:avLst/>
            </a:prstGeom>
            <a:ln w="22225" cap="flat" cmpd="sng">
              <a:solidFill>
                <a:schemeClr val="tx1"/>
              </a:solidFill>
              <a:prstDash val="solid"/>
              <a:headEnd type="none" w="sm" len="sm"/>
              <a:tailEnd type="none" w="lg" len="med"/>
            </a:ln>
          </p:spPr>
        </p:sp>
      </p:grpSp>
      <p:grpSp>
        <p:nvGrpSpPr>
          <p:cNvPr id="135174" name="Group 63"/>
          <p:cNvGrpSpPr/>
          <p:nvPr/>
        </p:nvGrpSpPr>
        <p:grpSpPr>
          <a:xfrm>
            <a:off x="4800600" y="3962400"/>
            <a:ext cx="528638" cy="396875"/>
            <a:chOff x="1430" y="2169"/>
            <a:chExt cx="333" cy="250"/>
          </a:xfrm>
        </p:grpSpPr>
        <p:sp>
          <p:nvSpPr>
            <p:cNvPr id="135235" name="Text Box 64"/>
            <p:cNvSpPr txBox="1"/>
            <p:nvPr/>
          </p:nvSpPr>
          <p:spPr>
            <a:xfrm>
              <a:off x="1430" y="2169"/>
              <a:ext cx="333" cy="2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2000" b="1" dirty="0">
                  <a:ea typeface="宋体" panose="02010600030101010101" pitchFamily="2" charset="-122"/>
                </a:rPr>
                <a:t>e( )</a:t>
              </a:r>
              <a:endParaRPr lang="en-US" altLang="zh-CN" sz="2000" b="1" dirty="0">
                <a:ea typeface="宋体" panose="02010600030101010101" pitchFamily="2" charset="-122"/>
              </a:endParaRPr>
            </a:p>
          </p:txBody>
        </p:sp>
        <p:sp>
          <p:nvSpPr>
            <p:cNvPr id="135236" name="Line 65"/>
            <p:cNvSpPr/>
            <p:nvPr/>
          </p:nvSpPr>
          <p:spPr>
            <a:xfrm>
              <a:off x="1440" y="2208"/>
              <a:ext cx="0" cy="192"/>
            </a:xfrm>
            <a:prstGeom prst="line">
              <a:avLst/>
            </a:prstGeom>
            <a:ln w="22225" cap="flat" cmpd="sng">
              <a:solidFill>
                <a:schemeClr val="tx1"/>
              </a:solidFill>
              <a:prstDash val="solid"/>
              <a:headEnd type="none" w="sm" len="sm"/>
              <a:tailEnd type="none" w="lg" len="med"/>
            </a:ln>
          </p:spPr>
        </p:sp>
        <p:sp>
          <p:nvSpPr>
            <p:cNvPr id="135237" name="Line 66"/>
            <p:cNvSpPr/>
            <p:nvPr/>
          </p:nvSpPr>
          <p:spPr>
            <a:xfrm>
              <a:off x="1728" y="2208"/>
              <a:ext cx="0" cy="192"/>
            </a:xfrm>
            <a:prstGeom prst="line">
              <a:avLst/>
            </a:prstGeom>
            <a:ln w="22225" cap="flat" cmpd="sng">
              <a:solidFill>
                <a:schemeClr val="tx1"/>
              </a:solidFill>
              <a:prstDash val="solid"/>
              <a:headEnd type="none" w="sm" len="sm"/>
              <a:tailEnd type="none" w="lg" len="med"/>
            </a:ln>
          </p:spPr>
        </p:sp>
        <p:sp>
          <p:nvSpPr>
            <p:cNvPr id="135238" name="Line 67"/>
            <p:cNvSpPr/>
            <p:nvPr/>
          </p:nvSpPr>
          <p:spPr>
            <a:xfrm>
              <a:off x="1440" y="2208"/>
              <a:ext cx="288" cy="0"/>
            </a:xfrm>
            <a:prstGeom prst="line">
              <a:avLst/>
            </a:prstGeom>
            <a:ln w="22225" cap="flat" cmpd="sng">
              <a:solidFill>
                <a:schemeClr val="tx1"/>
              </a:solidFill>
              <a:prstDash val="solid"/>
              <a:headEnd type="none" w="sm" len="sm"/>
              <a:tailEnd type="none" w="lg" len="med"/>
            </a:ln>
          </p:spPr>
        </p:sp>
        <p:sp>
          <p:nvSpPr>
            <p:cNvPr id="135239" name="Line 68"/>
            <p:cNvSpPr/>
            <p:nvPr/>
          </p:nvSpPr>
          <p:spPr>
            <a:xfrm>
              <a:off x="1440" y="2400"/>
              <a:ext cx="288" cy="0"/>
            </a:xfrm>
            <a:prstGeom prst="line">
              <a:avLst/>
            </a:prstGeom>
            <a:ln w="22225" cap="flat" cmpd="sng">
              <a:solidFill>
                <a:schemeClr val="tx1"/>
              </a:solidFill>
              <a:prstDash val="solid"/>
              <a:headEnd type="none" w="sm" len="sm"/>
              <a:tailEnd type="none" w="lg" len="med"/>
            </a:ln>
          </p:spPr>
        </p:sp>
      </p:grpSp>
      <p:grpSp>
        <p:nvGrpSpPr>
          <p:cNvPr id="135175" name="Group 85"/>
          <p:cNvGrpSpPr/>
          <p:nvPr/>
        </p:nvGrpSpPr>
        <p:grpSpPr>
          <a:xfrm>
            <a:off x="5715000" y="3962400"/>
            <a:ext cx="528638" cy="396875"/>
            <a:chOff x="1430" y="2169"/>
            <a:chExt cx="333" cy="250"/>
          </a:xfrm>
        </p:grpSpPr>
        <p:sp>
          <p:nvSpPr>
            <p:cNvPr id="135230" name="Text Box 86"/>
            <p:cNvSpPr txBox="1"/>
            <p:nvPr/>
          </p:nvSpPr>
          <p:spPr>
            <a:xfrm>
              <a:off x="1430" y="2169"/>
              <a:ext cx="333" cy="2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2000" b="1" dirty="0">
                  <a:ea typeface="宋体" panose="02010600030101010101" pitchFamily="2" charset="-122"/>
                </a:rPr>
                <a:t>e( )</a:t>
              </a:r>
              <a:endParaRPr lang="en-US" altLang="zh-CN" sz="2000" b="1" dirty="0">
                <a:ea typeface="宋体" panose="02010600030101010101" pitchFamily="2" charset="-122"/>
              </a:endParaRPr>
            </a:p>
          </p:txBody>
        </p:sp>
        <p:sp>
          <p:nvSpPr>
            <p:cNvPr id="135231" name="Line 87"/>
            <p:cNvSpPr/>
            <p:nvPr/>
          </p:nvSpPr>
          <p:spPr>
            <a:xfrm>
              <a:off x="1440" y="2208"/>
              <a:ext cx="0" cy="192"/>
            </a:xfrm>
            <a:prstGeom prst="line">
              <a:avLst/>
            </a:prstGeom>
            <a:ln w="22225" cap="flat" cmpd="sng">
              <a:solidFill>
                <a:schemeClr val="tx1"/>
              </a:solidFill>
              <a:prstDash val="solid"/>
              <a:headEnd type="none" w="sm" len="sm"/>
              <a:tailEnd type="none" w="lg" len="med"/>
            </a:ln>
          </p:spPr>
        </p:sp>
        <p:sp>
          <p:nvSpPr>
            <p:cNvPr id="135232" name="Line 88"/>
            <p:cNvSpPr/>
            <p:nvPr/>
          </p:nvSpPr>
          <p:spPr>
            <a:xfrm>
              <a:off x="1728" y="2208"/>
              <a:ext cx="0" cy="192"/>
            </a:xfrm>
            <a:prstGeom prst="line">
              <a:avLst/>
            </a:prstGeom>
            <a:ln w="22225" cap="flat" cmpd="sng">
              <a:solidFill>
                <a:schemeClr val="tx1"/>
              </a:solidFill>
              <a:prstDash val="solid"/>
              <a:headEnd type="none" w="sm" len="sm"/>
              <a:tailEnd type="none" w="lg" len="med"/>
            </a:ln>
          </p:spPr>
        </p:sp>
        <p:sp>
          <p:nvSpPr>
            <p:cNvPr id="135233" name="Line 89"/>
            <p:cNvSpPr/>
            <p:nvPr/>
          </p:nvSpPr>
          <p:spPr>
            <a:xfrm>
              <a:off x="1440" y="2208"/>
              <a:ext cx="288" cy="0"/>
            </a:xfrm>
            <a:prstGeom prst="line">
              <a:avLst/>
            </a:prstGeom>
            <a:ln w="22225" cap="flat" cmpd="sng">
              <a:solidFill>
                <a:schemeClr val="tx1"/>
              </a:solidFill>
              <a:prstDash val="solid"/>
              <a:headEnd type="none" w="sm" len="sm"/>
              <a:tailEnd type="none" w="lg" len="med"/>
            </a:ln>
          </p:spPr>
        </p:sp>
        <p:sp>
          <p:nvSpPr>
            <p:cNvPr id="135234" name="Line 90"/>
            <p:cNvSpPr/>
            <p:nvPr/>
          </p:nvSpPr>
          <p:spPr>
            <a:xfrm>
              <a:off x="1440" y="2400"/>
              <a:ext cx="288" cy="0"/>
            </a:xfrm>
            <a:prstGeom prst="line">
              <a:avLst/>
            </a:prstGeom>
            <a:ln w="22225" cap="flat" cmpd="sng">
              <a:solidFill>
                <a:schemeClr val="tx1"/>
              </a:solidFill>
              <a:prstDash val="solid"/>
              <a:headEnd type="none" w="sm" len="sm"/>
              <a:tailEnd type="none" w="lg" len="med"/>
            </a:ln>
          </p:spPr>
        </p:sp>
      </p:grpSp>
      <p:grpSp>
        <p:nvGrpSpPr>
          <p:cNvPr id="135176" name="Group 91"/>
          <p:cNvGrpSpPr/>
          <p:nvPr/>
        </p:nvGrpSpPr>
        <p:grpSpPr>
          <a:xfrm>
            <a:off x="6553200" y="3962400"/>
            <a:ext cx="528638" cy="396875"/>
            <a:chOff x="1430" y="2169"/>
            <a:chExt cx="333" cy="250"/>
          </a:xfrm>
        </p:grpSpPr>
        <p:sp>
          <p:nvSpPr>
            <p:cNvPr id="135225" name="Text Box 92"/>
            <p:cNvSpPr txBox="1"/>
            <p:nvPr/>
          </p:nvSpPr>
          <p:spPr>
            <a:xfrm>
              <a:off x="1430" y="2169"/>
              <a:ext cx="333" cy="2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2000" b="1" dirty="0">
                  <a:ea typeface="宋体" panose="02010600030101010101" pitchFamily="2" charset="-122"/>
                </a:rPr>
                <a:t>e( )</a:t>
              </a:r>
              <a:endParaRPr lang="en-US" altLang="zh-CN" sz="2000" b="1" dirty="0">
                <a:ea typeface="宋体" panose="02010600030101010101" pitchFamily="2" charset="-122"/>
              </a:endParaRPr>
            </a:p>
          </p:txBody>
        </p:sp>
        <p:sp>
          <p:nvSpPr>
            <p:cNvPr id="135226" name="Line 93"/>
            <p:cNvSpPr/>
            <p:nvPr/>
          </p:nvSpPr>
          <p:spPr>
            <a:xfrm>
              <a:off x="1440" y="2208"/>
              <a:ext cx="0" cy="192"/>
            </a:xfrm>
            <a:prstGeom prst="line">
              <a:avLst/>
            </a:prstGeom>
            <a:ln w="22225" cap="flat" cmpd="sng">
              <a:solidFill>
                <a:schemeClr val="tx1"/>
              </a:solidFill>
              <a:prstDash val="solid"/>
              <a:headEnd type="none" w="sm" len="sm"/>
              <a:tailEnd type="none" w="lg" len="med"/>
            </a:ln>
          </p:spPr>
        </p:sp>
        <p:sp>
          <p:nvSpPr>
            <p:cNvPr id="135227" name="Line 94"/>
            <p:cNvSpPr/>
            <p:nvPr/>
          </p:nvSpPr>
          <p:spPr>
            <a:xfrm>
              <a:off x="1728" y="2208"/>
              <a:ext cx="0" cy="192"/>
            </a:xfrm>
            <a:prstGeom prst="line">
              <a:avLst/>
            </a:prstGeom>
            <a:ln w="22225" cap="flat" cmpd="sng">
              <a:solidFill>
                <a:schemeClr val="tx1"/>
              </a:solidFill>
              <a:prstDash val="solid"/>
              <a:headEnd type="none" w="sm" len="sm"/>
              <a:tailEnd type="none" w="lg" len="med"/>
            </a:ln>
          </p:spPr>
        </p:sp>
        <p:sp>
          <p:nvSpPr>
            <p:cNvPr id="135228" name="Line 95"/>
            <p:cNvSpPr/>
            <p:nvPr/>
          </p:nvSpPr>
          <p:spPr>
            <a:xfrm>
              <a:off x="1440" y="2208"/>
              <a:ext cx="288" cy="0"/>
            </a:xfrm>
            <a:prstGeom prst="line">
              <a:avLst/>
            </a:prstGeom>
            <a:ln w="22225" cap="flat" cmpd="sng">
              <a:solidFill>
                <a:schemeClr val="tx1"/>
              </a:solidFill>
              <a:prstDash val="solid"/>
              <a:headEnd type="none" w="sm" len="sm"/>
              <a:tailEnd type="none" w="lg" len="med"/>
            </a:ln>
          </p:spPr>
        </p:sp>
        <p:sp>
          <p:nvSpPr>
            <p:cNvPr id="135229" name="Line 96"/>
            <p:cNvSpPr/>
            <p:nvPr/>
          </p:nvSpPr>
          <p:spPr>
            <a:xfrm>
              <a:off x="1440" y="2400"/>
              <a:ext cx="288" cy="0"/>
            </a:xfrm>
            <a:prstGeom prst="line">
              <a:avLst/>
            </a:prstGeom>
            <a:ln w="22225" cap="flat" cmpd="sng">
              <a:solidFill>
                <a:schemeClr val="tx1"/>
              </a:solidFill>
              <a:prstDash val="solid"/>
              <a:headEnd type="none" w="sm" len="sm"/>
              <a:tailEnd type="none" w="lg" len="med"/>
            </a:ln>
          </p:spPr>
        </p:sp>
      </p:grpSp>
      <p:grpSp>
        <p:nvGrpSpPr>
          <p:cNvPr id="135177" name="Group 97"/>
          <p:cNvGrpSpPr/>
          <p:nvPr/>
        </p:nvGrpSpPr>
        <p:grpSpPr>
          <a:xfrm>
            <a:off x="7467600" y="3962400"/>
            <a:ext cx="528638" cy="396875"/>
            <a:chOff x="1430" y="2169"/>
            <a:chExt cx="333" cy="250"/>
          </a:xfrm>
        </p:grpSpPr>
        <p:sp>
          <p:nvSpPr>
            <p:cNvPr id="135220" name="Text Box 98"/>
            <p:cNvSpPr txBox="1"/>
            <p:nvPr/>
          </p:nvSpPr>
          <p:spPr>
            <a:xfrm>
              <a:off x="1430" y="2169"/>
              <a:ext cx="333" cy="2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2000" b="1" dirty="0">
                  <a:ea typeface="宋体" panose="02010600030101010101" pitchFamily="2" charset="-122"/>
                </a:rPr>
                <a:t>e( )</a:t>
              </a:r>
              <a:endParaRPr lang="en-US" altLang="zh-CN" sz="2000" b="1" dirty="0">
                <a:ea typeface="宋体" panose="02010600030101010101" pitchFamily="2" charset="-122"/>
              </a:endParaRPr>
            </a:p>
          </p:txBody>
        </p:sp>
        <p:sp>
          <p:nvSpPr>
            <p:cNvPr id="135221" name="Line 99"/>
            <p:cNvSpPr/>
            <p:nvPr/>
          </p:nvSpPr>
          <p:spPr>
            <a:xfrm>
              <a:off x="1440" y="2208"/>
              <a:ext cx="0" cy="192"/>
            </a:xfrm>
            <a:prstGeom prst="line">
              <a:avLst/>
            </a:prstGeom>
            <a:ln w="22225" cap="flat" cmpd="sng">
              <a:solidFill>
                <a:schemeClr val="tx1"/>
              </a:solidFill>
              <a:prstDash val="solid"/>
              <a:headEnd type="none" w="sm" len="sm"/>
              <a:tailEnd type="none" w="lg" len="med"/>
            </a:ln>
          </p:spPr>
        </p:sp>
        <p:sp>
          <p:nvSpPr>
            <p:cNvPr id="135222" name="Line 100"/>
            <p:cNvSpPr/>
            <p:nvPr/>
          </p:nvSpPr>
          <p:spPr>
            <a:xfrm>
              <a:off x="1728" y="2208"/>
              <a:ext cx="0" cy="192"/>
            </a:xfrm>
            <a:prstGeom prst="line">
              <a:avLst/>
            </a:prstGeom>
            <a:ln w="22225" cap="flat" cmpd="sng">
              <a:solidFill>
                <a:schemeClr val="tx1"/>
              </a:solidFill>
              <a:prstDash val="solid"/>
              <a:headEnd type="none" w="sm" len="sm"/>
              <a:tailEnd type="none" w="lg" len="med"/>
            </a:ln>
          </p:spPr>
        </p:sp>
        <p:sp>
          <p:nvSpPr>
            <p:cNvPr id="135223" name="Line 101"/>
            <p:cNvSpPr/>
            <p:nvPr/>
          </p:nvSpPr>
          <p:spPr>
            <a:xfrm>
              <a:off x="1440" y="2208"/>
              <a:ext cx="288" cy="0"/>
            </a:xfrm>
            <a:prstGeom prst="line">
              <a:avLst/>
            </a:prstGeom>
            <a:ln w="22225" cap="flat" cmpd="sng">
              <a:solidFill>
                <a:schemeClr val="tx1"/>
              </a:solidFill>
              <a:prstDash val="solid"/>
              <a:headEnd type="none" w="sm" len="sm"/>
              <a:tailEnd type="none" w="lg" len="med"/>
            </a:ln>
          </p:spPr>
        </p:sp>
        <p:sp>
          <p:nvSpPr>
            <p:cNvPr id="135224" name="Line 102"/>
            <p:cNvSpPr/>
            <p:nvPr/>
          </p:nvSpPr>
          <p:spPr>
            <a:xfrm>
              <a:off x="1440" y="2400"/>
              <a:ext cx="288" cy="0"/>
            </a:xfrm>
            <a:prstGeom prst="line">
              <a:avLst/>
            </a:prstGeom>
            <a:ln w="22225" cap="flat" cmpd="sng">
              <a:solidFill>
                <a:schemeClr val="tx1"/>
              </a:solidFill>
              <a:prstDash val="solid"/>
              <a:headEnd type="none" w="sm" len="sm"/>
              <a:tailEnd type="none" w="lg" len="med"/>
            </a:ln>
          </p:spPr>
        </p:sp>
      </p:grpSp>
      <p:grpSp>
        <p:nvGrpSpPr>
          <p:cNvPr id="135178" name="Group 109"/>
          <p:cNvGrpSpPr/>
          <p:nvPr/>
        </p:nvGrpSpPr>
        <p:grpSpPr>
          <a:xfrm>
            <a:off x="2895600" y="3429000"/>
            <a:ext cx="500063" cy="396875"/>
            <a:chOff x="1430" y="2169"/>
            <a:chExt cx="315" cy="250"/>
          </a:xfrm>
        </p:grpSpPr>
        <p:sp>
          <p:nvSpPr>
            <p:cNvPr id="135215" name="Text Box 110"/>
            <p:cNvSpPr txBox="1"/>
            <p:nvPr/>
          </p:nvSpPr>
          <p:spPr>
            <a:xfrm>
              <a:off x="1430" y="2169"/>
              <a:ext cx="315" cy="2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2000" b="1" dirty="0">
                  <a:ea typeface="宋体" panose="02010600030101010101" pitchFamily="2" charset="-122"/>
                </a:rPr>
                <a:t>f( )</a:t>
              </a:r>
              <a:endParaRPr lang="en-US" altLang="zh-CN" sz="2000" b="1" dirty="0">
                <a:ea typeface="宋体" panose="02010600030101010101" pitchFamily="2" charset="-122"/>
              </a:endParaRPr>
            </a:p>
          </p:txBody>
        </p:sp>
        <p:sp>
          <p:nvSpPr>
            <p:cNvPr id="135216" name="Line 111"/>
            <p:cNvSpPr/>
            <p:nvPr/>
          </p:nvSpPr>
          <p:spPr>
            <a:xfrm>
              <a:off x="1440" y="2208"/>
              <a:ext cx="0" cy="192"/>
            </a:xfrm>
            <a:prstGeom prst="line">
              <a:avLst/>
            </a:prstGeom>
            <a:ln w="22225" cap="flat" cmpd="sng">
              <a:solidFill>
                <a:schemeClr val="tx1"/>
              </a:solidFill>
              <a:prstDash val="solid"/>
              <a:headEnd type="none" w="sm" len="sm"/>
              <a:tailEnd type="none" w="lg" len="med"/>
            </a:ln>
          </p:spPr>
        </p:sp>
        <p:sp>
          <p:nvSpPr>
            <p:cNvPr id="135217" name="Line 112"/>
            <p:cNvSpPr/>
            <p:nvPr/>
          </p:nvSpPr>
          <p:spPr>
            <a:xfrm>
              <a:off x="1728" y="2208"/>
              <a:ext cx="0" cy="192"/>
            </a:xfrm>
            <a:prstGeom prst="line">
              <a:avLst/>
            </a:prstGeom>
            <a:ln w="22225" cap="flat" cmpd="sng">
              <a:solidFill>
                <a:schemeClr val="tx1"/>
              </a:solidFill>
              <a:prstDash val="solid"/>
              <a:headEnd type="none" w="sm" len="sm"/>
              <a:tailEnd type="none" w="lg" len="med"/>
            </a:ln>
          </p:spPr>
        </p:sp>
        <p:sp>
          <p:nvSpPr>
            <p:cNvPr id="135218" name="Line 113"/>
            <p:cNvSpPr/>
            <p:nvPr/>
          </p:nvSpPr>
          <p:spPr>
            <a:xfrm>
              <a:off x="1440" y="2208"/>
              <a:ext cx="288" cy="0"/>
            </a:xfrm>
            <a:prstGeom prst="line">
              <a:avLst/>
            </a:prstGeom>
            <a:ln w="22225" cap="flat" cmpd="sng">
              <a:solidFill>
                <a:schemeClr val="tx1"/>
              </a:solidFill>
              <a:prstDash val="solid"/>
              <a:headEnd type="none" w="sm" len="sm"/>
              <a:tailEnd type="none" w="lg" len="med"/>
            </a:ln>
          </p:spPr>
        </p:sp>
        <p:sp>
          <p:nvSpPr>
            <p:cNvPr id="135219" name="Line 114"/>
            <p:cNvSpPr/>
            <p:nvPr/>
          </p:nvSpPr>
          <p:spPr>
            <a:xfrm>
              <a:off x="1440" y="2400"/>
              <a:ext cx="288" cy="0"/>
            </a:xfrm>
            <a:prstGeom prst="line">
              <a:avLst/>
            </a:prstGeom>
            <a:ln w="22225" cap="flat" cmpd="sng">
              <a:solidFill>
                <a:schemeClr val="tx1"/>
              </a:solidFill>
              <a:prstDash val="solid"/>
              <a:headEnd type="none" w="sm" len="sm"/>
              <a:tailEnd type="none" w="lg" len="med"/>
            </a:ln>
          </p:spPr>
        </p:sp>
      </p:grpSp>
      <p:grpSp>
        <p:nvGrpSpPr>
          <p:cNvPr id="135179" name="Group 115"/>
          <p:cNvGrpSpPr/>
          <p:nvPr/>
        </p:nvGrpSpPr>
        <p:grpSpPr>
          <a:xfrm>
            <a:off x="3810000" y="3429000"/>
            <a:ext cx="542925" cy="396875"/>
            <a:chOff x="1430" y="2169"/>
            <a:chExt cx="342" cy="250"/>
          </a:xfrm>
        </p:grpSpPr>
        <p:sp>
          <p:nvSpPr>
            <p:cNvPr id="135210" name="Text Box 116"/>
            <p:cNvSpPr txBox="1"/>
            <p:nvPr/>
          </p:nvSpPr>
          <p:spPr>
            <a:xfrm>
              <a:off x="1430" y="2169"/>
              <a:ext cx="342" cy="2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2000" b="1" dirty="0">
                  <a:ea typeface="宋体" panose="02010600030101010101" pitchFamily="2" charset="-122"/>
                </a:rPr>
                <a:t>g( )</a:t>
              </a:r>
              <a:endParaRPr lang="en-US" altLang="zh-CN" sz="2000" b="1" dirty="0">
                <a:ea typeface="宋体" panose="02010600030101010101" pitchFamily="2" charset="-122"/>
              </a:endParaRPr>
            </a:p>
          </p:txBody>
        </p:sp>
        <p:sp>
          <p:nvSpPr>
            <p:cNvPr id="135211" name="Line 117"/>
            <p:cNvSpPr/>
            <p:nvPr/>
          </p:nvSpPr>
          <p:spPr>
            <a:xfrm>
              <a:off x="1440" y="2208"/>
              <a:ext cx="0" cy="192"/>
            </a:xfrm>
            <a:prstGeom prst="line">
              <a:avLst/>
            </a:prstGeom>
            <a:ln w="22225" cap="flat" cmpd="sng">
              <a:solidFill>
                <a:schemeClr val="tx1"/>
              </a:solidFill>
              <a:prstDash val="solid"/>
              <a:headEnd type="none" w="sm" len="sm"/>
              <a:tailEnd type="none" w="lg" len="med"/>
            </a:ln>
          </p:spPr>
        </p:sp>
        <p:sp>
          <p:nvSpPr>
            <p:cNvPr id="135212" name="Line 118"/>
            <p:cNvSpPr/>
            <p:nvPr/>
          </p:nvSpPr>
          <p:spPr>
            <a:xfrm>
              <a:off x="1728" y="2208"/>
              <a:ext cx="0" cy="192"/>
            </a:xfrm>
            <a:prstGeom prst="line">
              <a:avLst/>
            </a:prstGeom>
            <a:ln w="22225" cap="flat" cmpd="sng">
              <a:solidFill>
                <a:schemeClr val="tx1"/>
              </a:solidFill>
              <a:prstDash val="solid"/>
              <a:headEnd type="none" w="sm" len="sm"/>
              <a:tailEnd type="none" w="lg" len="med"/>
            </a:ln>
          </p:spPr>
        </p:sp>
        <p:sp>
          <p:nvSpPr>
            <p:cNvPr id="135213" name="Line 119"/>
            <p:cNvSpPr/>
            <p:nvPr/>
          </p:nvSpPr>
          <p:spPr>
            <a:xfrm>
              <a:off x="1440" y="2208"/>
              <a:ext cx="288" cy="0"/>
            </a:xfrm>
            <a:prstGeom prst="line">
              <a:avLst/>
            </a:prstGeom>
            <a:ln w="22225" cap="flat" cmpd="sng">
              <a:solidFill>
                <a:schemeClr val="tx1"/>
              </a:solidFill>
              <a:prstDash val="solid"/>
              <a:headEnd type="none" w="sm" len="sm"/>
              <a:tailEnd type="none" w="lg" len="med"/>
            </a:ln>
          </p:spPr>
        </p:sp>
        <p:sp>
          <p:nvSpPr>
            <p:cNvPr id="135214" name="Line 120"/>
            <p:cNvSpPr/>
            <p:nvPr/>
          </p:nvSpPr>
          <p:spPr>
            <a:xfrm>
              <a:off x="1440" y="2400"/>
              <a:ext cx="288" cy="0"/>
            </a:xfrm>
            <a:prstGeom prst="line">
              <a:avLst/>
            </a:prstGeom>
            <a:ln w="22225" cap="flat" cmpd="sng">
              <a:solidFill>
                <a:schemeClr val="tx1"/>
              </a:solidFill>
              <a:prstDash val="solid"/>
              <a:headEnd type="none" w="sm" len="sm"/>
              <a:tailEnd type="none" w="lg" len="med"/>
            </a:ln>
          </p:spPr>
        </p:sp>
      </p:grpSp>
      <p:grpSp>
        <p:nvGrpSpPr>
          <p:cNvPr id="135180" name="Group 121"/>
          <p:cNvGrpSpPr/>
          <p:nvPr/>
        </p:nvGrpSpPr>
        <p:grpSpPr>
          <a:xfrm>
            <a:off x="4800600" y="3429000"/>
            <a:ext cx="542925" cy="396875"/>
            <a:chOff x="1430" y="2169"/>
            <a:chExt cx="342" cy="250"/>
          </a:xfrm>
        </p:grpSpPr>
        <p:sp>
          <p:nvSpPr>
            <p:cNvPr id="135205" name="Text Box 122"/>
            <p:cNvSpPr txBox="1"/>
            <p:nvPr/>
          </p:nvSpPr>
          <p:spPr>
            <a:xfrm>
              <a:off x="1430" y="2169"/>
              <a:ext cx="342" cy="2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2000" b="1" dirty="0">
                  <a:ea typeface="宋体" panose="02010600030101010101" pitchFamily="2" charset="-122"/>
                </a:rPr>
                <a:t>g( )</a:t>
              </a:r>
              <a:endParaRPr lang="en-US" altLang="zh-CN" sz="2000" b="1" dirty="0">
                <a:ea typeface="宋体" panose="02010600030101010101" pitchFamily="2" charset="-122"/>
              </a:endParaRPr>
            </a:p>
          </p:txBody>
        </p:sp>
        <p:sp>
          <p:nvSpPr>
            <p:cNvPr id="135206" name="Line 123"/>
            <p:cNvSpPr/>
            <p:nvPr/>
          </p:nvSpPr>
          <p:spPr>
            <a:xfrm>
              <a:off x="1440" y="2208"/>
              <a:ext cx="0" cy="192"/>
            </a:xfrm>
            <a:prstGeom prst="line">
              <a:avLst/>
            </a:prstGeom>
            <a:ln w="22225" cap="flat" cmpd="sng">
              <a:solidFill>
                <a:schemeClr val="tx1"/>
              </a:solidFill>
              <a:prstDash val="solid"/>
              <a:headEnd type="none" w="sm" len="sm"/>
              <a:tailEnd type="none" w="lg" len="med"/>
            </a:ln>
          </p:spPr>
        </p:sp>
        <p:sp>
          <p:nvSpPr>
            <p:cNvPr id="135207" name="Line 124"/>
            <p:cNvSpPr/>
            <p:nvPr/>
          </p:nvSpPr>
          <p:spPr>
            <a:xfrm>
              <a:off x="1728" y="2208"/>
              <a:ext cx="0" cy="192"/>
            </a:xfrm>
            <a:prstGeom prst="line">
              <a:avLst/>
            </a:prstGeom>
            <a:ln w="22225" cap="flat" cmpd="sng">
              <a:solidFill>
                <a:schemeClr val="tx1"/>
              </a:solidFill>
              <a:prstDash val="solid"/>
              <a:headEnd type="none" w="sm" len="sm"/>
              <a:tailEnd type="none" w="lg" len="med"/>
            </a:ln>
          </p:spPr>
        </p:sp>
        <p:sp>
          <p:nvSpPr>
            <p:cNvPr id="135208" name="Line 125"/>
            <p:cNvSpPr/>
            <p:nvPr/>
          </p:nvSpPr>
          <p:spPr>
            <a:xfrm>
              <a:off x="1440" y="2208"/>
              <a:ext cx="288" cy="0"/>
            </a:xfrm>
            <a:prstGeom prst="line">
              <a:avLst/>
            </a:prstGeom>
            <a:ln w="22225" cap="flat" cmpd="sng">
              <a:solidFill>
                <a:schemeClr val="tx1"/>
              </a:solidFill>
              <a:prstDash val="solid"/>
              <a:headEnd type="none" w="sm" len="sm"/>
              <a:tailEnd type="none" w="lg" len="med"/>
            </a:ln>
          </p:spPr>
        </p:sp>
        <p:sp>
          <p:nvSpPr>
            <p:cNvPr id="135209" name="Line 126"/>
            <p:cNvSpPr/>
            <p:nvPr/>
          </p:nvSpPr>
          <p:spPr>
            <a:xfrm>
              <a:off x="1440" y="2400"/>
              <a:ext cx="288" cy="0"/>
            </a:xfrm>
            <a:prstGeom prst="line">
              <a:avLst/>
            </a:prstGeom>
            <a:ln w="22225" cap="flat" cmpd="sng">
              <a:solidFill>
                <a:schemeClr val="tx1"/>
              </a:solidFill>
              <a:prstDash val="solid"/>
              <a:headEnd type="none" w="sm" len="sm"/>
              <a:tailEnd type="none" w="lg" len="med"/>
            </a:ln>
          </p:spPr>
        </p:sp>
      </p:grpSp>
      <p:grpSp>
        <p:nvGrpSpPr>
          <p:cNvPr id="135181" name="Group 127"/>
          <p:cNvGrpSpPr/>
          <p:nvPr/>
        </p:nvGrpSpPr>
        <p:grpSpPr>
          <a:xfrm>
            <a:off x="5715000" y="3429000"/>
            <a:ext cx="542925" cy="396875"/>
            <a:chOff x="1430" y="2169"/>
            <a:chExt cx="342" cy="250"/>
          </a:xfrm>
        </p:grpSpPr>
        <p:sp>
          <p:nvSpPr>
            <p:cNvPr id="135200" name="Text Box 128"/>
            <p:cNvSpPr txBox="1"/>
            <p:nvPr/>
          </p:nvSpPr>
          <p:spPr>
            <a:xfrm>
              <a:off x="1430" y="2169"/>
              <a:ext cx="342" cy="2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2000" b="1" dirty="0">
                  <a:ea typeface="宋体" panose="02010600030101010101" pitchFamily="2" charset="-122"/>
                </a:rPr>
                <a:t>g( )</a:t>
              </a:r>
              <a:endParaRPr lang="en-US" altLang="zh-CN" sz="2000" b="1" dirty="0">
                <a:ea typeface="宋体" panose="02010600030101010101" pitchFamily="2" charset="-122"/>
              </a:endParaRPr>
            </a:p>
          </p:txBody>
        </p:sp>
        <p:sp>
          <p:nvSpPr>
            <p:cNvPr id="135201" name="Line 129"/>
            <p:cNvSpPr/>
            <p:nvPr/>
          </p:nvSpPr>
          <p:spPr>
            <a:xfrm>
              <a:off x="1440" y="2208"/>
              <a:ext cx="0" cy="192"/>
            </a:xfrm>
            <a:prstGeom prst="line">
              <a:avLst/>
            </a:prstGeom>
            <a:ln w="22225" cap="flat" cmpd="sng">
              <a:solidFill>
                <a:schemeClr val="tx1"/>
              </a:solidFill>
              <a:prstDash val="solid"/>
              <a:headEnd type="none" w="sm" len="sm"/>
              <a:tailEnd type="none" w="lg" len="med"/>
            </a:ln>
          </p:spPr>
        </p:sp>
        <p:sp>
          <p:nvSpPr>
            <p:cNvPr id="135202" name="Line 130"/>
            <p:cNvSpPr/>
            <p:nvPr/>
          </p:nvSpPr>
          <p:spPr>
            <a:xfrm>
              <a:off x="1728" y="2208"/>
              <a:ext cx="0" cy="192"/>
            </a:xfrm>
            <a:prstGeom prst="line">
              <a:avLst/>
            </a:prstGeom>
            <a:ln w="22225" cap="flat" cmpd="sng">
              <a:solidFill>
                <a:schemeClr val="tx1"/>
              </a:solidFill>
              <a:prstDash val="solid"/>
              <a:headEnd type="none" w="sm" len="sm"/>
              <a:tailEnd type="none" w="lg" len="med"/>
            </a:ln>
          </p:spPr>
        </p:sp>
        <p:sp>
          <p:nvSpPr>
            <p:cNvPr id="135203" name="Line 131"/>
            <p:cNvSpPr/>
            <p:nvPr/>
          </p:nvSpPr>
          <p:spPr>
            <a:xfrm>
              <a:off x="1440" y="2208"/>
              <a:ext cx="288" cy="0"/>
            </a:xfrm>
            <a:prstGeom prst="line">
              <a:avLst/>
            </a:prstGeom>
            <a:ln w="22225" cap="flat" cmpd="sng">
              <a:solidFill>
                <a:schemeClr val="tx1"/>
              </a:solidFill>
              <a:prstDash val="solid"/>
              <a:headEnd type="none" w="sm" len="sm"/>
              <a:tailEnd type="none" w="lg" len="med"/>
            </a:ln>
          </p:spPr>
        </p:sp>
        <p:sp>
          <p:nvSpPr>
            <p:cNvPr id="135204" name="Line 132"/>
            <p:cNvSpPr/>
            <p:nvPr/>
          </p:nvSpPr>
          <p:spPr>
            <a:xfrm>
              <a:off x="1440" y="2400"/>
              <a:ext cx="288" cy="0"/>
            </a:xfrm>
            <a:prstGeom prst="line">
              <a:avLst/>
            </a:prstGeom>
            <a:ln w="22225" cap="flat" cmpd="sng">
              <a:solidFill>
                <a:schemeClr val="tx1"/>
              </a:solidFill>
              <a:prstDash val="solid"/>
              <a:headEnd type="none" w="sm" len="sm"/>
              <a:tailEnd type="none" w="lg" len="med"/>
            </a:ln>
          </p:spPr>
        </p:sp>
      </p:grpSp>
      <p:grpSp>
        <p:nvGrpSpPr>
          <p:cNvPr id="135182" name="Group 133"/>
          <p:cNvGrpSpPr/>
          <p:nvPr/>
        </p:nvGrpSpPr>
        <p:grpSpPr>
          <a:xfrm>
            <a:off x="6553200" y="3429000"/>
            <a:ext cx="500063" cy="396875"/>
            <a:chOff x="1430" y="2169"/>
            <a:chExt cx="315" cy="250"/>
          </a:xfrm>
        </p:grpSpPr>
        <p:sp>
          <p:nvSpPr>
            <p:cNvPr id="135195" name="Text Box 134"/>
            <p:cNvSpPr txBox="1"/>
            <p:nvPr/>
          </p:nvSpPr>
          <p:spPr>
            <a:xfrm>
              <a:off x="1430" y="2169"/>
              <a:ext cx="315" cy="2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2000" b="1" dirty="0">
                  <a:ea typeface="宋体" panose="02010600030101010101" pitchFamily="2" charset="-122"/>
                </a:rPr>
                <a:t>j( )</a:t>
              </a:r>
              <a:endParaRPr lang="en-US" altLang="zh-CN" sz="2000" b="1" dirty="0">
                <a:ea typeface="宋体" panose="02010600030101010101" pitchFamily="2" charset="-122"/>
              </a:endParaRPr>
            </a:p>
          </p:txBody>
        </p:sp>
        <p:sp>
          <p:nvSpPr>
            <p:cNvPr id="135196" name="Line 135"/>
            <p:cNvSpPr/>
            <p:nvPr/>
          </p:nvSpPr>
          <p:spPr>
            <a:xfrm>
              <a:off x="1440" y="2208"/>
              <a:ext cx="0" cy="192"/>
            </a:xfrm>
            <a:prstGeom prst="line">
              <a:avLst/>
            </a:prstGeom>
            <a:ln w="22225" cap="flat" cmpd="sng">
              <a:solidFill>
                <a:schemeClr val="tx1"/>
              </a:solidFill>
              <a:prstDash val="solid"/>
              <a:headEnd type="none" w="sm" len="sm"/>
              <a:tailEnd type="none" w="lg" len="med"/>
            </a:ln>
          </p:spPr>
        </p:sp>
        <p:sp>
          <p:nvSpPr>
            <p:cNvPr id="135197" name="Line 136"/>
            <p:cNvSpPr/>
            <p:nvPr/>
          </p:nvSpPr>
          <p:spPr>
            <a:xfrm>
              <a:off x="1728" y="2208"/>
              <a:ext cx="0" cy="192"/>
            </a:xfrm>
            <a:prstGeom prst="line">
              <a:avLst/>
            </a:prstGeom>
            <a:ln w="22225" cap="flat" cmpd="sng">
              <a:solidFill>
                <a:schemeClr val="tx1"/>
              </a:solidFill>
              <a:prstDash val="solid"/>
              <a:headEnd type="none" w="sm" len="sm"/>
              <a:tailEnd type="none" w="lg" len="med"/>
            </a:ln>
          </p:spPr>
        </p:sp>
        <p:sp>
          <p:nvSpPr>
            <p:cNvPr id="135198" name="Line 137"/>
            <p:cNvSpPr/>
            <p:nvPr/>
          </p:nvSpPr>
          <p:spPr>
            <a:xfrm>
              <a:off x="1440" y="2208"/>
              <a:ext cx="288" cy="0"/>
            </a:xfrm>
            <a:prstGeom prst="line">
              <a:avLst/>
            </a:prstGeom>
            <a:ln w="22225" cap="flat" cmpd="sng">
              <a:solidFill>
                <a:schemeClr val="tx1"/>
              </a:solidFill>
              <a:prstDash val="solid"/>
              <a:headEnd type="none" w="sm" len="sm"/>
              <a:tailEnd type="none" w="lg" len="med"/>
            </a:ln>
          </p:spPr>
        </p:sp>
        <p:sp>
          <p:nvSpPr>
            <p:cNvPr id="135199" name="Line 138"/>
            <p:cNvSpPr/>
            <p:nvPr/>
          </p:nvSpPr>
          <p:spPr>
            <a:xfrm>
              <a:off x="1440" y="2400"/>
              <a:ext cx="288" cy="0"/>
            </a:xfrm>
            <a:prstGeom prst="line">
              <a:avLst/>
            </a:prstGeom>
            <a:ln w="22225" cap="flat" cmpd="sng">
              <a:solidFill>
                <a:schemeClr val="tx1"/>
              </a:solidFill>
              <a:prstDash val="solid"/>
              <a:headEnd type="none" w="sm" len="sm"/>
              <a:tailEnd type="none" w="lg" len="med"/>
            </a:ln>
          </p:spPr>
        </p:sp>
      </p:grpSp>
      <p:grpSp>
        <p:nvGrpSpPr>
          <p:cNvPr id="135183" name="Group 163"/>
          <p:cNvGrpSpPr/>
          <p:nvPr/>
        </p:nvGrpSpPr>
        <p:grpSpPr>
          <a:xfrm>
            <a:off x="4800600" y="2819400"/>
            <a:ext cx="557213" cy="396875"/>
            <a:chOff x="1430" y="2169"/>
            <a:chExt cx="351" cy="250"/>
          </a:xfrm>
        </p:grpSpPr>
        <p:sp>
          <p:nvSpPr>
            <p:cNvPr id="135190" name="Text Box 164"/>
            <p:cNvSpPr txBox="1"/>
            <p:nvPr/>
          </p:nvSpPr>
          <p:spPr>
            <a:xfrm>
              <a:off x="1430" y="2169"/>
              <a:ext cx="351" cy="2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2000" b="1" dirty="0">
                  <a:ea typeface="宋体" panose="02010600030101010101" pitchFamily="2" charset="-122"/>
                </a:rPr>
                <a:t>h( )</a:t>
              </a:r>
              <a:endParaRPr lang="en-US" altLang="zh-CN" sz="2000" b="1" dirty="0">
                <a:ea typeface="宋体" panose="02010600030101010101" pitchFamily="2" charset="-122"/>
              </a:endParaRPr>
            </a:p>
          </p:txBody>
        </p:sp>
        <p:sp>
          <p:nvSpPr>
            <p:cNvPr id="135191" name="Line 165"/>
            <p:cNvSpPr/>
            <p:nvPr/>
          </p:nvSpPr>
          <p:spPr>
            <a:xfrm>
              <a:off x="1440" y="2208"/>
              <a:ext cx="0" cy="192"/>
            </a:xfrm>
            <a:prstGeom prst="line">
              <a:avLst/>
            </a:prstGeom>
            <a:ln w="22225" cap="flat" cmpd="sng">
              <a:solidFill>
                <a:schemeClr val="tx1"/>
              </a:solidFill>
              <a:prstDash val="solid"/>
              <a:headEnd type="none" w="sm" len="sm"/>
              <a:tailEnd type="none" w="lg" len="med"/>
            </a:ln>
          </p:spPr>
        </p:sp>
        <p:sp>
          <p:nvSpPr>
            <p:cNvPr id="135192" name="Line 166"/>
            <p:cNvSpPr/>
            <p:nvPr/>
          </p:nvSpPr>
          <p:spPr>
            <a:xfrm>
              <a:off x="1728" y="2208"/>
              <a:ext cx="0" cy="192"/>
            </a:xfrm>
            <a:prstGeom prst="line">
              <a:avLst/>
            </a:prstGeom>
            <a:ln w="22225" cap="flat" cmpd="sng">
              <a:solidFill>
                <a:schemeClr val="tx1"/>
              </a:solidFill>
              <a:prstDash val="solid"/>
              <a:headEnd type="none" w="sm" len="sm"/>
              <a:tailEnd type="none" w="lg" len="med"/>
            </a:ln>
          </p:spPr>
        </p:sp>
        <p:sp>
          <p:nvSpPr>
            <p:cNvPr id="135193" name="Line 167"/>
            <p:cNvSpPr/>
            <p:nvPr/>
          </p:nvSpPr>
          <p:spPr>
            <a:xfrm>
              <a:off x="1440" y="2208"/>
              <a:ext cx="288" cy="0"/>
            </a:xfrm>
            <a:prstGeom prst="line">
              <a:avLst/>
            </a:prstGeom>
            <a:ln w="22225" cap="flat" cmpd="sng">
              <a:solidFill>
                <a:schemeClr val="tx1"/>
              </a:solidFill>
              <a:prstDash val="solid"/>
              <a:headEnd type="none" w="sm" len="sm"/>
              <a:tailEnd type="none" w="lg" len="med"/>
            </a:ln>
          </p:spPr>
        </p:sp>
        <p:sp>
          <p:nvSpPr>
            <p:cNvPr id="135194" name="Line 168"/>
            <p:cNvSpPr/>
            <p:nvPr/>
          </p:nvSpPr>
          <p:spPr>
            <a:xfrm>
              <a:off x="1440" y="2400"/>
              <a:ext cx="288" cy="0"/>
            </a:xfrm>
            <a:prstGeom prst="line">
              <a:avLst/>
            </a:prstGeom>
            <a:ln w="22225" cap="flat" cmpd="sng">
              <a:solidFill>
                <a:schemeClr val="tx1"/>
              </a:solidFill>
              <a:prstDash val="solid"/>
              <a:headEnd type="none" w="sm" len="sm"/>
              <a:tailEnd type="none" w="lg" len="med"/>
            </a:ln>
          </p:spPr>
        </p:sp>
      </p:grpSp>
      <p:grpSp>
        <p:nvGrpSpPr>
          <p:cNvPr id="135184" name="Group 169"/>
          <p:cNvGrpSpPr/>
          <p:nvPr/>
        </p:nvGrpSpPr>
        <p:grpSpPr>
          <a:xfrm>
            <a:off x="5715000" y="2819400"/>
            <a:ext cx="485775" cy="396875"/>
            <a:chOff x="1430" y="2169"/>
            <a:chExt cx="306" cy="250"/>
          </a:xfrm>
        </p:grpSpPr>
        <p:sp>
          <p:nvSpPr>
            <p:cNvPr id="135185" name="Text Box 170"/>
            <p:cNvSpPr txBox="1"/>
            <p:nvPr/>
          </p:nvSpPr>
          <p:spPr>
            <a:xfrm>
              <a:off x="1430" y="2169"/>
              <a:ext cx="306" cy="2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2000" b="1" dirty="0">
                  <a:ea typeface="宋体" panose="02010600030101010101" pitchFamily="2" charset="-122"/>
                </a:rPr>
                <a:t>i( )</a:t>
              </a:r>
              <a:endParaRPr lang="en-US" altLang="zh-CN" sz="2000" b="1" dirty="0">
                <a:ea typeface="宋体" panose="02010600030101010101" pitchFamily="2" charset="-122"/>
              </a:endParaRPr>
            </a:p>
          </p:txBody>
        </p:sp>
        <p:sp>
          <p:nvSpPr>
            <p:cNvPr id="135186" name="Line 171"/>
            <p:cNvSpPr/>
            <p:nvPr/>
          </p:nvSpPr>
          <p:spPr>
            <a:xfrm>
              <a:off x="1440" y="2208"/>
              <a:ext cx="0" cy="192"/>
            </a:xfrm>
            <a:prstGeom prst="line">
              <a:avLst/>
            </a:prstGeom>
            <a:ln w="22225" cap="flat" cmpd="sng">
              <a:solidFill>
                <a:schemeClr val="tx1"/>
              </a:solidFill>
              <a:prstDash val="solid"/>
              <a:headEnd type="none" w="sm" len="sm"/>
              <a:tailEnd type="none" w="lg" len="med"/>
            </a:ln>
          </p:spPr>
        </p:sp>
        <p:sp>
          <p:nvSpPr>
            <p:cNvPr id="135187" name="Line 172"/>
            <p:cNvSpPr/>
            <p:nvPr/>
          </p:nvSpPr>
          <p:spPr>
            <a:xfrm>
              <a:off x="1728" y="2208"/>
              <a:ext cx="0" cy="192"/>
            </a:xfrm>
            <a:prstGeom prst="line">
              <a:avLst/>
            </a:prstGeom>
            <a:ln w="22225" cap="flat" cmpd="sng">
              <a:solidFill>
                <a:schemeClr val="tx1"/>
              </a:solidFill>
              <a:prstDash val="solid"/>
              <a:headEnd type="none" w="sm" len="sm"/>
              <a:tailEnd type="none" w="lg" len="med"/>
            </a:ln>
          </p:spPr>
        </p:sp>
        <p:sp>
          <p:nvSpPr>
            <p:cNvPr id="135188" name="Line 173"/>
            <p:cNvSpPr/>
            <p:nvPr/>
          </p:nvSpPr>
          <p:spPr>
            <a:xfrm>
              <a:off x="1440" y="2208"/>
              <a:ext cx="288" cy="0"/>
            </a:xfrm>
            <a:prstGeom prst="line">
              <a:avLst/>
            </a:prstGeom>
            <a:ln w="22225" cap="flat" cmpd="sng">
              <a:solidFill>
                <a:schemeClr val="tx1"/>
              </a:solidFill>
              <a:prstDash val="solid"/>
              <a:headEnd type="none" w="sm" len="sm"/>
              <a:tailEnd type="none" w="lg" len="med"/>
            </a:ln>
          </p:spPr>
        </p:sp>
        <p:sp>
          <p:nvSpPr>
            <p:cNvPr id="135189" name="Line 174"/>
            <p:cNvSpPr/>
            <p:nvPr/>
          </p:nvSpPr>
          <p:spPr>
            <a:xfrm>
              <a:off x="1440" y="2400"/>
              <a:ext cx="288" cy="0"/>
            </a:xfrm>
            <a:prstGeom prst="line">
              <a:avLst/>
            </a:prstGeom>
            <a:ln w="22225" cap="flat" cmpd="sng">
              <a:solidFill>
                <a:schemeClr val="tx1"/>
              </a:solidFill>
              <a:prstDash val="solid"/>
              <a:headEnd type="none" w="sm" len="sm"/>
              <a:tailEnd type="none" w="lg" len="med"/>
            </a:ln>
          </p:spPr>
        </p:sp>
      </p:grpSp>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利用两个栈表示符号表的层次结构</a:t>
            </a:r>
            <a:endParaRPr lang="zh-CN" altLang="en-US" dirty="0">
              <a:latin typeface="Times New Roman" panose="02020603050405020304" pitchFamily="18" charset="0"/>
              <a:ea typeface="宋体" panose="02010600030101010101" pitchFamily="2" charset="-122"/>
            </a:endParaRPr>
          </a:p>
        </p:txBody>
      </p:sp>
      <p:sp>
        <p:nvSpPr>
          <p:cNvPr id="137219" name="Rectangle 3"/>
          <p:cNvSpPr>
            <a:spLocks noGrp="1"/>
          </p:cNvSpPr>
          <p:nvPr>
            <p:ph idx="1"/>
          </p:nvPr>
        </p:nvSpPr>
        <p:spPr>
          <a:xfrm>
            <a:off x="990600" y="1524000"/>
            <a:ext cx="7391400" cy="4724400"/>
          </a:xfrm>
        </p:spPr>
        <p:txBody>
          <a:bodyPr vert="horz" wrap="square" lIns="92075" tIns="46038" rIns="92075" bIns="46038" anchor="t" anchorCtr="0"/>
          <a:p>
            <a:pPr>
              <a:lnSpc>
                <a:spcPct val="90000"/>
              </a:lnSpc>
            </a:pPr>
            <a:r>
              <a:rPr lang="zh-CN" altLang="en-US" sz="2200" b="1" dirty="0">
                <a:ea typeface="宋体" panose="02010600030101010101" pitchFamily="2" charset="-122"/>
              </a:rPr>
              <a:t>结构：</a:t>
            </a:r>
            <a:endParaRPr lang="zh-CN" altLang="en-US" sz="2200" b="1" dirty="0">
              <a:ea typeface="宋体" panose="02010600030101010101" pitchFamily="2" charset="-122"/>
            </a:endParaRPr>
          </a:p>
          <a:p>
            <a:pPr lvl="1">
              <a:lnSpc>
                <a:spcPct val="90000"/>
              </a:lnSpc>
            </a:pPr>
            <a:r>
              <a:rPr lang="zh-CN" altLang="en-US" sz="2000" b="1" dirty="0">
                <a:ea typeface="宋体" panose="02010600030101010101" pitchFamily="2" charset="-122"/>
              </a:rPr>
              <a:t>一个栈存储所有的符号表表项：</a:t>
            </a:r>
            <a:r>
              <a:rPr lang="en-US" altLang="zh-CN" sz="2000" b="1" dirty="0">
                <a:ea typeface="宋体" panose="02010600030101010101" pitchFamily="2" charset="-122"/>
              </a:rPr>
              <a:t>symbol stack</a:t>
            </a:r>
            <a:endParaRPr lang="en-US" altLang="zh-CN" sz="2000" b="1" dirty="0">
              <a:ea typeface="宋体" panose="02010600030101010101" pitchFamily="2" charset="-122"/>
            </a:endParaRPr>
          </a:p>
          <a:p>
            <a:pPr lvl="1">
              <a:lnSpc>
                <a:spcPct val="90000"/>
              </a:lnSpc>
            </a:pPr>
            <a:r>
              <a:rPr lang="zh-CN" altLang="en-US" sz="2000" b="1" dirty="0">
                <a:ea typeface="宋体" panose="02010600030101010101" pitchFamily="2" charset="-122"/>
              </a:rPr>
              <a:t>一个栈存放指向当前局部符号表首地址的指针：</a:t>
            </a:r>
            <a:r>
              <a:rPr lang="en-US" altLang="zh-CN" sz="2000" b="1" dirty="0">
                <a:ea typeface="宋体" panose="02010600030101010101" pitchFamily="2" charset="-122"/>
              </a:rPr>
              <a:t>block stack</a:t>
            </a:r>
            <a:endParaRPr lang="en-US" altLang="zh-CN" sz="2000" b="1" dirty="0">
              <a:ea typeface="宋体" panose="02010600030101010101" pitchFamily="2" charset="-122"/>
            </a:endParaRPr>
          </a:p>
          <a:p>
            <a:pPr>
              <a:lnSpc>
                <a:spcPct val="90000"/>
              </a:lnSpc>
            </a:pPr>
            <a:r>
              <a:rPr lang="zh-CN" altLang="en-US" sz="2200" b="1" dirty="0">
                <a:ea typeface="宋体" panose="02010600030101010101" pitchFamily="2" charset="-122"/>
              </a:rPr>
              <a:t>操作</a:t>
            </a:r>
            <a:endParaRPr lang="zh-CN" altLang="en-US" sz="2200" b="1" dirty="0">
              <a:ea typeface="宋体" panose="02010600030101010101" pitchFamily="2" charset="-122"/>
            </a:endParaRPr>
          </a:p>
          <a:p>
            <a:pPr lvl="1">
              <a:lnSpc>
                <a:spcPct val="90000"/>
              </a:lnSpc>
            </a:pPr>
            <a:r>
              <a:rPr lang="zh-CN" altLang="en-US" sz="2000" b="1" dirty="0">
                <a:ea typeface="宋体" panose="02010600030101010101" pitchFamily="2" charset="-122"/>
              </a:rPr>
              <a:t>创建一个新的符号表</a:t>
            </a:r>
            <a:endParaRPr lang="zh-CN" altLang="en-US" sz="2000" b="1" dirty="0">
              <a:ea typeface="宋体" panose="02010600030101010101" pitchFamily="2" charset="-122"/>
            </a:endParaRPr>
          </a:p>
          <a:p>
            <a:pPr lvl="2">
              <a:lnSpc>
                <a:spcPct val="90000"/>
              </a:lnSpc>
            </a:pPr>
            <a:r>
              <a:rPr lang="zh-CN" altLang="en-US" sz="1800" b="1" dirty="0">
                <a:ea typeface="宋体" panose="02010600030101010101" pitchFamily="2" charset="-122"/>
              </a:rPr>
              <a:t>在</a:t>
            </a:r>
            <a:r>
              <a:rPr lang="en-US" altLang="zh-CN" sz="1800" b="1" dirty="0">
                <a:ea typeface="宋体" panose="02010600030101010101" pitchFamily="2" charset="-122"/>
              </a:rPr>
              <a:t>block stack</a:t>
            </a:r>
            <a:r>
              <a:rPr lang="zh-CN" altLang="en-US" sz="1800" b="1" dirty="0">
                <a:ea typeface="宋体" panose="02010600030101010101" pitchFamily="2" charset="-122"/>
              </a:rPr>
              <a:t>中压入一个新的项，指向新符号表的栈底</a:t>
            </a:r>
            <a:endParaRPr lang="zh-CN" altLang="en-US" sz="1800" b="1" dirty="0">
              <a:ea typeface="宋体" panose="02010600030101010101" pitchFamily="2" charset="-122"/>
            </a:endParaRPr>
          </a:p>
          <a:p>
            <a:pPr lvl="1">
              <a:lnSpc>
                <a:spcPct val="90000"/>
              </a:lnSpc>
            </a:pPr>
            <a:r>
              <a:rPr lang="zh-CN" altLang="en-US" sz="2000" b="1" dirty="0">
                <a:ea typeface="宋体" panose="02010600030101010101" pitchFamily="2" charset="-122"/>
              </a:rPr>
              <a:t>插入一个表项</a:t>
            </a:r>
            <a:endParaRPr lang="zh-CN" altLang="en-US" sz="2000" b="1" dirty="0">
              <a:ea typeface="宋体" panose="02010600030101010101" pitchFamily="2" charset="-122"/>
            </a:endParaRPr>
          </a:p>
          <a:p>
            <a:pPr lvl="2">
              <a:lnSpc>
                <a:spcPct val="90000"/>
              </a:lnSpc>
            </a:pPr>
            <a:r>
              <a:rPr lang="zh-CN" altLang="en-US" sz="1800" b="1" dirty="0">
                <a:ea typeface="宋体" panose="02010600030101010101" pitchFamily="2" charset="-122"/>
              </a:rPr>
              <a:t>在</a:t>
            </a:r>
            <a:r>
              <a:rPr lang="en-US" altLang="zh-CN" sz="1800" b="1" dirty="0">
                <a:ea typeface="宋体" panose="02010600030101010101" pitchFamily="2" charset="-122"/>
              </a:rPr>
              <a:t>symbol stack</a:t>
            </a:r>
            <a:r>
              <a:rPr lang="zh-CN" altLang="en-US" sz="1800" b="1" dirty="0">
                <a:ea typeface="宋体" panose="02010600030101010101" pitchFamily="2" charset="-122"/>
              </a:rPr>
              <a:t>栈顶增加一个新的项</a:t>
            </a:r>
            <a:endParaRPr lang="zh-CN" altLang="en-US" sz="1800" b="1" dirty="0">
              <a:ea typeface="宋体" panose="02010600030101010101" pitchFamily="2" charset="-122"/>
            </a:endParaRPr>
          </a:p>
          <a:p>
            <a:pPr lvl="2">
              <a:lnSpc>
                <a:spcPct val="90000"/>
              </a:lnSpc>
            </a:pPr>
            <a:r>
              <a:rPr lang="zh-CN" altLang="en-US" sz="1800" b="1" dirty="0">
                <a:ea typeface="宋体" panose="02010600030101010101" pitchFamily="2" charset="-122"/>
              </a:rPr>
              <a:t>该表项作为对应的</a:t>
            </a:r>
            <a:r>
              <a:rPr lang="en-US" altLang="zh-CN" sz="1800" b="1" dirty="0">
                <a:ea typeface="宋体" panose="02010600030101010101" pitchFamily="2" charset="-122"/>
              </a:rPr>
              <a:t>Hash</a:t>
            </a:r>
            <a:r>
              <a:rPr lang="zh-CN" altLang="en-US" sz="1800" b="1" dirty="0">
                <a:ea typeface="宋体" panose="02010600030101010101" pitchFamily="2" charset="-122"/>
              </a:rPr>
              <a:t>链的链头</a:t>
            </a:r>
            <a:endParaRPr lang="zh-CN" altLang="en-US" sz="1800" b="1" dirty="0">
              <a:ea typeface="宋体" panose="02010600030101010101" pitchFamily="2" charset="-122"/>
            </a:endParaRPr>
          </a:p>
          <a:p>
            <a:pPr lvl="1">
              <a:lnSpc>
                <a:spcPct val="90000"/>
              </a:lnSpc>
            </a:pPr>
            <a:r>
              <a:rPr lang="zh-CN" altLang="en-US" sz="2000" b="1" dirty="0">
                <a:ea typeface="宋体" panose="02010600030101010101" pitchFamily="2" charset="-122"/>
              </a:rPr>
              <a:t>查找一个表项</a:t>
            </a:r>
            <a:endParaRPr lang="zh-CN" altLang="en-US" sz="2000" b="1" dirty="0">
              <a:ea typeface="宋体" panose="02010600030101010101" pitchFamily="2" charset="-122"/>
            </a:endParaRPr>
          </a:p>
          <a:p>
            <a:pPr lvl="2">
              <a:lnSpc>
                <a:spcPct val="90000"/>
              </a:lnSpc>
            </a:pPr>
            <a:r>
              <a:rPr lang="zh-CN" altLang="en-US" sz="1800" b="1" dirty="0">
                <a:ea typeface="宋体" panose="02010600030101010101" pitchFamily="2" charset="-122"/>
              </a:rPr>
              <a:t>直接按</a:t>
            </a:r>
            <a:r>
              <a:rPr lang="en-US" altLang="zh-CN" sz="1800" b="1" dirty="0">
                <a:ea typeface="宋体" panose="02010600030101010101" pitchFamily="2" charset="-122"/>
              </a:rPr>
              <a:t>Hash</a:t>
            </a:r>
            <a:r>
              <a:rPr lang="zh-CN" altLang="en-US" sz="1800" b="1" dirty="0">
                <a:ea typeface="宋体" panose="02010600030101010101" pitchFamily="2" charset="-122"/>
              </a:rPr>
              <a:t>表查找即可，对应的</a:t>
            </a:r>
            <a:r>
              <a:rPr lang="en-US" altLang="zh-CN" sz="1800" b="1" dirty="0">
                <a:ea typeface="宋体" panose="02010600030101010101" pitchFamily="2" charset="-122"/>
              </a:rPr>
              <a:t>Hash</a:t>
            </a:r>
            <a:r>
              <a:rPr lang="zh-CN" altLang="en-US" sz="1800" b="1" dirty="0">
                <a:ea typeface="宋体" panose="02010600030101010101" pitchFamily="2" charset="-122"/>
              </a:rPr>
              <a:t>链的第一个同名项</a:t>
            </a:r>
            <a:endParaRPr lang="zh-CN" altLang="en-US" sz="1800" b="1" dirty="0">
              <a:ea typeface="宋体" panose="02010600030101010101" pitchFamily="2" charset="-122"/>
            </a:endParaRPr>
          </a:p>
          <a:p>
            <a:pPr lvl="1">
              <a:lnSpc>
                <a:spcPct val="90000"/>
              </a:lnSpc>
            </a:pPr>
            <a:r>
              <a:rPr lang="zh-CN" altLang="en-US" sz="2000" b="1" dirty="0">
                <a:ea typeface="宋体" panose="02010600030101010101" pitchFamily="2" charset="-122"/>
              </a:rPr>
              <a:t>删除一个符号表</a:t>
            </a:r>
            <a:endParaRPr lang="zh-CN" altLang="en-US" sz="2000" b="1" dirty="0">
              <a:ea typeface="宋体" panose="02010600030101010101" pitchFamily="2" charset="-122"/>
            </a:endParaRPr>
          </a:p>
          <a:p>
            <a:pPr lvl="2">
              <a:lnSpc>
                <a:spcPct val="90000"/>
              </a:lnSpc>
            </a:pPr>
            <a:r>
              <a:rPr lang="zh-CN" altLang="en-US" sz="1800" b="1" dirty="0">
                <a:ea typeface="宋体" panose="02010600030101010101" pitchFamily="2" charset="-122"/>
              </a:rPr>
              <a:t>将</a:t>
            </a:r>
            <a:r>
              <a:rPr lang="en-US" altLang="zh-CN" sz="1800" b="1" dirty="0">
                <a:ea typeface="宋体" panose="02010600030101010101" pitchFamily="2" charset="-122"/>
              </a:rPr>
              <a:t>symbol stack</a:t>
            </a:r>
            <a:r>
              <a:rPr lang="zh-CN" altLang="en-US" sz="1800" b="1" dirty="0">
                <a:ea typeface="宋体" panose="02010600030101010101" pitchFamily="2" charset="-122"/>
              </a:rPr>
              <a:t>栈位于该符号表的栈底以上的所有项弹出</a:t>
            </a:r>
            <a:endParaRPr lang="zh-CN" altLang="en-US" sz="1800" b="1" dirty="0">
              <a:ea typeface="宋体" panose="02010600030101010101" pitchFamily="2" charset="-122"/>
            </a:endParaRPr>
          </a:p>
          <a:p>
            <a:pPr lvl="2">
              <a:lnSpc>
                <a:spcPct val="90000"/>
              </a:lnSpc>
            </a:pPr>
            <a:r>
              <a:rPr lang="zh-CN" altLang="en-US" sz="1800" b="1" dirty="0">
                <a:ea typeface="宋体" panose="02010600030101010101" pitchFamily="2" charset="-122"/>
              </a:rPr>
              <a:t>更新</a:t>
            </a:r>
            <a:r>
              <a:rPr lang="en-US" altLang="zh-CN" sz="1800" b="1" dirty="0">
                <a:ea typeface="宋体" panose="02010600030101010101" pitchFamily="2" charset="-122"/>
              </a:rPr>
              <a:t>Hash</a:t>
            </a:r>
            <a:r>
              <a:rPr lang="zh-CN" altLang="en-US" sz="1800" b="1" dirty="0">
                <a:ea typeface="宋体" panose="02010600030101010101" pitchFamily="2" charset="-122"/>
              </a:rPr>
              <a:t>表</a:t>
            </a:r>
            <a:endParaRPr lang="zh-CN" altLang="en-US" sz="1800" b="1" dirty="0">
              <a:ea typeface="宋体" panose="02010600030101010101" pitchFamily="2" charset="-122"/>
            </a:endParaRPr>
          </a:p>
        </p:txBody>
      </p: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39266" name="Object 6"/>
          <p:cNvGraphicFramePr>
            <a:graphicFrameLocks noChangeAspect="1"/>
          </p:cNvGraphicFramePr>
          <p:nvPr/>
        </p:nvGraphicFramePr>
        <p:xfrm>
          <a:off x="1938338" y="647700"/>
          <a:ext cx="5267325" cy="5562600"/>
        </p:xfrm>
        <a:graphic>
          <a:graphicData uri="http://schemas.openxmlformats.org/presentationml/2006/ole">
            <mc:AlternateContent xmlns:mc="http://schemas.openxmlformats.org/markup-compatibility/2006">
              <mc:Choice xmlns:v="urn:schemas-microsoft-com:vml" Requires="v">
                <p:oleObj spid="_x0000_s3085" name="" r:id="rId1" imgW="6184265" imgH="6534785" progId="Visio.Drawing.4">
                  <p:embed/>
                </p:oleObj>
              </mc:Choice>
              <mc:Fallback>
                <p:oleObj name="" r:id="rId1" imgW="6184265" imgH="6534785" progId="Visio.Drawing.4">
                  <p:embed/>
                  <p:pic>
                    <p:nvPicPr>
                      <p:cNvPr id="0" name="图片 3084"/>
                      <p:cNvPicPr/>
                      <p:nvPr/>
                    </p:nvPicPr>
                    <p:blipFill>
                      <a:blip r:embed="rId2"/>
                      <a:stretch>
                        <a:fillRect/>
                      </a:stretch>
                    </p:blipFill>
                    <p:spPr>
                      <a:xfrm>
                        <a:off x="1938338" y="647700"/>
                        <a:ext cx="5267325" cy="5562600"/>
                      </a:xfrm>
                      <a:prstGeom prst="rect">
                        <a:avLst/>
                      </a:prstGeom>
                      <a:noFill/>
                      <a:ln w="38100">
                        <a:noFill/>
                        <a:miter/>
                      </a:ln>
                    </p:spPr>
                  </p:pic>
                </p:oleObj>
              </mc:Fallback>
            </mc:AlternateContent>
          </a:graphicData>
        </a:graphic>
      </p:graphicFrame>
      <p:sp>
        <p:nvSpPr>
          <p:cNvPr id="3" name="文本框 2"/>
          <p:cNvSpPr txBox="1"/>
          <p:nvPr/>
        </p:nvSpPr>
        <p:spPr>
          <a:xfrm>
            <a:off x="2195830" y="2132965"/>
            <a:ext cx="415290" cy="398780"/>
          </a:xfrm>
          <a:prstGeom prst="rect">
            <a:avLst/>
          </a:prstGeom>
          <a:noFill/>
        </p:spPr>
        <p:txBody>
          <a:bodyPr wrap="square" rtlCol="0">
            <a:spAutoFit/>
          </a:bodyPr>
          <a:p>
            <a:r>
              <a:rPr lang="en-US" altLang="zh-CN" sz="2000"/>
              <a:t>a</a:t>
            </a:r>
            <a:endParaRPr lang="en-US" altLang="zh-CN" sz="2000"/>
          </a:p>
        </p:txBody>
      </p:sp>
      <p:sp>
        <p:nvSpPr>
          <p:cNvPr id="4" name="文本框 3"/>
          <p:cNvSpPr txBox="1"/>
          <p:nvPr/>
        </p:nvSpPr>
        <p:spPr>
          <a:xfrm>
            <a:off x="2195830" y="1484630"/>
            <a:ext cx="415290" cy="398780"/>
          </a:xfrm>
          <a:prstGeom prst="rect">
            <a:avLst/>
          </a:prstGeom>
          <a:noFill/>
        </p:spPr>
        <p:txBody>
          <a:bodyPr wrap="square" rtlCol="0">
            <a:spAutoFit/>
          </a:bodyPr>
          <a:p>
            <a:r>
              <a:rPr lang="en-US" altLang="zh-CN" sz="2000"/>
              <a:t>b</a:t>
            </a:r>
            <a:endParaRPr lang="en-US" altLang="zh-CN" sz="2000"/>
          </a:p>
        </p:txBody>
      </p:sp>
      <p:sp>
        <p:nvSpPr>
          <p:cNvPr id="5" name="文本框 4"/>
          <p:cNvSpPr txBox="1"/>
          <p:nvPr/>
        </p:nvSpPr>
        <p:spPr>
          <a:xfrm>
            <a:off x="2195830" y="1844675"/>
            <a:ext cx="415290" cy="706755"/>
          </a:xfrm>
          <a:prstGeom prst="rect">
            <a:avLst/>
          </a:prstGeom>
          <a:noFill/>
        </p:spPr>
        <p:txBody>
          <a:bodyPr wrap="square" rtlCol="0">
            <a:spAutoFit/>
          </a:bodyPr>
          <a:p>
            <a:r>
              <a:rPr lang="en-US" altLang="zh-CN" sz="2000"/>
              <a:t>c</a:t>
            </a:r>
            <a:endParaRPr lang="en-US" altLang="zh-CN" sz="2000"/>
          </a:p>
          <a:p>
            <a:endParaRPr lang="en-US" altLang="zh-CN" sz="2000"/>
          </a:p>
        </p:txBody>
      </p:sp>
      <p:sp>
        <p:nvSpPr>
          <p:cNvPr id="6" name="任意多边形 5"/>
          <p:cNvSpPr/>
          <p:nvPr/>
        </p:nvSpPr>
        <p:spPr>
          <a:xfrm>
            <a:off x="2463800" y="1579880"/>
            <a:ext cx="2947670" cy="2581275"/>
          </a:xfrm>
          <a:custGeom>
            <a:avLst/>
            <a:gdLst>
              <a:gd name="connisteX0" fmla="*/ 0 w 2947866"/>
              <a:gd name="connsiteY0" fmla="*/ 223378 h 2581072"/>
              <a:gd name="connisteX1" fmla="*/ 76200 w 2947866"/>
              <a:gd name="connsiteY1" fmla="*/ 210678 h 2581072"/>
              <a:gd name="connisteX2" fmla="*/ 146050 w 2947866"/>
              <a:gd name="connsiteY2" fmla="*/ 185278 h 2581072"/>
              <a:gd name="connisteX3" fmla="*/ 241300 w 2947866"/>
              <a:gd name="connsiteY3" fmla="*/ 178928 h 2581072"/>
              <a:gd name="connisteX4" fmla="*/ 323850 w 2947866"/>
              <a:gd name="connsiteY4" fmla="*/ 166228 h 2581072"/>
              <a:gd name="connisteX5" fmla="*/ 400050 w 2947866"/>
              <a:gd name="connsiteY5" fmla="*/ 134478 h 2581072"/>
              <a:gd name="connisteX6" fmla="*/ 469900 w 2947866"/>
              <a:gd name="connsiteY6" fmla="*/ 83678 h 2581072"/>
              <a:gd name="connisteX7" fmla="*/ 539750 w 2947866"/>
              <a:gd name="connsiteY7" fmla="*/ 45578 h 2581072"/>
              <a:gd name="connisteX8" fmla="*/ 622300 w 2947866"/>
              <a:gd name="connsiteY8" fmla="*/ 32878 h 2581072"/>
              <a:gd name="connisteX9" fmla="*/ 698500 w 2947866"/>
              <a:gd name="connsiteY9" fmla="*/ 26528 h 2581072"/>
              <a:gd name="connisteX10" fmla="*/ 774700 w 2947866"/>
              <a:gd name="connsiteY10" fmla="*/ 26528 h 2581072"/>
              <a:gd name="connisteX11" fmla="*/ 844550 w 2947866"/>
              <a:gd name="connsiteY11" fmla="*/ 26528 h 2581072"/>
              <a:gd name="connisteX12" fmla="*/ 914400 w 2947866"/>
              <a:gd name="connsiteY12" fmla="*/ 26528 h 2581072"/>
              <a:gd name="connisteX13" fmla="*/ 984250 w 2947866"/>
              <a:gd name="connsiteY13" fmla="*/ 26528 h 2581072"/>
              <a:gd name="connisteX14" fmla="*/ 1060450 w 2947866"/>
              <a:gd name="connsiteY14" fmla="*/ 26528 h 2581072"/>
              <a:gd name="connisteX15" fmla="*/ 1136650 w 2947866"/>
              <a:gd name="connsiteY15" fmla="*/ 26528 h 2581072"/>
              <a:gd name="connisteX16" fmla="*/ 1212850 w 2947866"/>
              <a:gd name="connsiteY16" fmla="*/ 26528 h 2581072"/>
              <a:gd name="connisteX17" fmla="*/ 1282700 w 2947866"/>
              <a:gd name="connsiteY17" fmla="*/ 26528 h 2581072"/>
              <a:gd name="connisteX18" fmla="*/ 1352550 w 2947866"/>
              <a:gd name="connsiteY18" fmla="*/ 26528 h 2581072"/>
              <a:gd name="connisteX19" fmla="*/ 1422400 w 2947866"/>
              <a:gd name="connsiteY19" fmla="*/ 26528 h 2581072"/>
              <a:gd name="connisteX20" fmla="*/ 1498600 w 2947866"/>
              <a:gd name="connsiteY20" fmla="*/ 26528 h 2581072"/>
              <a:gd name="connisteX21" fmla="*/ 1574800 w 2947866"/>
              <a:gd name="connsiteY21" fmla="*/ 26528 h 2581072"/>
              <a:gd name="connisteX22" fmla="*/ 1644650 w 2947866"/>
              <a:gd name="connsiteY22" fmla="*/ 26528 h 2581072"/>
              <a:gd name="connisteX23" fmla="*/ 1720850 w 2947866"/>
              <a:gd name="connsiteY23" fmla="*/ 13828 h 2581072"/>
              <a:gd name="connisteX24" fmla="*/ 1797050 w 2947866"/>
              <a:gd name="connsiteY24" fmla="*/ 13828 h 2581072"/>
              <a:gd name="connisteX25" fmla="*/ 1866900 w 2947866"/>
              <a:gd name="connsiteY25" fmla="*/ 1128 h 2581072"/>
              <a:gd name="connisteX26" fmla="*/ 1936750 w 2947866"/>
              <a:gd name="connsiteY26" fmla="*/ 1128 h 2581072"/>
              <a:gd name="connisteX27" fmla="*/ 2019300 w 2947866"/>
              <a:gd name="connsiteY27" fmla="*/ 1128 h 2581072"/>
              <a:gd name="connisteX28" fmla="*/ 2089150 w 2947866"/>
              <a:gd name="connsiteY28" fmla="*/ 1128 h 2581072"/>
              <a:gd name="connisteX29" fmla="*/ 2165350 w 2947866"/>
              <a:gd name="connsiteY29" fmla="*/ 7478 h 2581072"/>
              <a:gd name="connisteX30" fmla="*/ 2235200 w 2947866"/>
              <a:gd name="connsiteY30" fmla="*/ 7478 h 2581072"/>
              <a:gd name="connisteX31" fmla="*/ 2305050 w 2947866"/>
              <a:gd name="connsiteY31" fmla="*/ 7478 h 2581072"/>
              <a:gd name="connisteX32" fmla="*/ 2374900 w 2947866"/>
              <a:gd name="connsiteY32" fmla="*/ 20178 h 2581072"/>
              <a:gd name="connisteX33" fmla="*/ 2444750 w 2947866"/>
              <a:gd name="connsiteY33" fmla="*/ 32878 h 2581072"/>
              <a:gd name="connisteX34" fmla="*/ 2520950 w 2947866"/>
              <a:gd name="connsiteY34" fmla="*/ 58278 h 2581072"/>
              <a:gd name="connisteX35" fmla="*/ 2590800 w 2947866"/>
              <a:gd name="connsiteY35" fmla="*/ 70978 h 2581072"/>
              <a:gd name="connisteX36" fmla="*/ 2660650 w 2947866"/>
              <a:gd name="connsiteY36" fmla="*/ 90028 h 2581072"/>
              <a:gd name="connisteX37" fmla="*/ 2730500 w 2947866"/>
              <a:gd name="connsiteY37" fmla="*/ 115428 h 2581072"/>
              <a:gd name="connisteX38" fmla="*/ 2813050 w 2947866"/>
              <a:gd name="connsiteY38" fmla="*/ 178928 h 2581072"/>
              <a:gd name="connisteX39" fmla="*/ 2863850 w 2947866"/>
              <a:gd name="connsiteY39" fmla="*/ 248778 h 2581072"/>
              <a:gd name="connisteX40" fmla="*/ 2895600 w 2947866"/>
              <a:gd name="connsiteY40" fmla="*/ 318628 h 2581072"/>
              <a:gd name="connisteX41" fmla="*/ 2908300 w 2947866"/>
              <a:gd name="connsiteY41" fmla="*/ 388478 h 2581072"/>
              <a:gd name="connisteX42" fmla="*/ 2933700 w 2947866"/>
              <a:gd name="connsiteY42" fmla="*/ 464678 h 2581072"/>
              <a:gd name="connisteX43" fmla="*/ 2946400 w 2947866"/>
              <a:gd name="connsiteY43" fmla="*/ 547228 h 2581072"/>
              <a:gd name="connisteX44" fmla="*/ 2946400 w 2947866"/>
              <a:gd name="connsiteY44" fmla="*/ 623428 h 2581072"/>
              <a:gd name="connisteX45" fmla="*/ 2940050 w 2947866"/>
              <a:gd name="connsiteY45" fmla="*/ 693278 h 2581072"/>
              <a:gd name="connisteX46" fmla="*/ 2914650 w 2947866"/>
              <a:gd name="connsiteY46" fmla="*/ 763128 h 2581072"/>
              <a:gd name="connisteX47" fmla="*/ 2901950 w 2947866"/>
              <a:gd name="connsiteY47" fmla="*/ 832978 h 2581072"/>
              <a:gd name="connisteX48" fmla="*/ 2863850 w 2947866"/>
              <a:gd name="connsiteY48" fmla="*/ 909178 h 2581072"/>
              <a:gd name="connisteX49" fmla="*/ 2838450 w 2947866"/>
              <a:gd name="connsiteY49" fmla="*/ 979028 h 2581072"/>
              <a:gd name="connisteX50" fmla="*/ 2794000 w 2947866"/>
              <a:gd name="connsiteY50" fmla="*/ 1055228 h 2581072"/>
              <a:gd name="connisteX51" fmla="*/ 2717800 w 2947866"/>
              <a:gd name="connsiteY51" fmla="*/ 1112378 h 2581072"/>
              <a:gd name="connisteX52" fmla="*/ 2641600 w 2947866"/>
              <a:gd name="connsiteY52" fmla="*/ 1163178 h 2581072"/>
              <a:gd name="connisteX53" fmla="*/ 2571750 w 2947866"/>
              <a:gd name="connsiteY53" fmla="*/ 1175878 h 2581072"/>
              <a:gd name="connisteX54" fmla="*/ 2495550 w 2947866"/>
              <a:gd name="connsiteY54" fmla="*/ 1175878 h 2581072"/>
              <a:gd name="connisteX55" fmla="*/ 2419350 w 2947866"/>
              <a:gd name="connsiteY55" fmla="*/ 1175878 h 2581072"/>
              <a:gd name="connisteX56" fmla="*/ 2343150 w 2947866"/>
              <a:gd name="connsiteY56" fmla="*/ 1169528 h 2581072"/>
              <a:gd name="connisteX57" fmla="*/ 2266950 w 2947866"/>
              <a:gd name="connsiteY57" fmla="*/ 1144128 h 2581072"/>
              <a:gd name="connisteX58" fmla="*/ 2190750 w 2947866"/>
              <a:gd name="connsiteY58" fmla="*/ 1118728 h 2581072"/>
              <a:gd name="connisteX59" fmla="*/ 2114550 w 2947866"/>
              <a:gd name="connsiteY59" fmla="*/ 1099678 h 2581072"/>
              <a:gd name="connisteX60" fmla="*/ 2038350 w 2947866"/>
              <a:gd name="connsiteY60" fmla="*/ 1086978 h 2581072"/>
              <a:gd name="connisteX61" fmla="*/ 2114550 w 2947866"/>
              <a:gd name="connsiteY61" fmla="*/ 1074278 h 2581072"/>
              <a:gd name="connisteX62" fmla="*/ 2197100 w 2947866"/>
              <a:gd name="connsiteY62" fmla="*/ 1074278 h 2581072"/>
              <a:gd name="connisteX63" fmla="*/ 2273300 w 2947866"/>
              <a:gd name="connsiteY63" fmla="*/ 1074278 h 2581072"/>
              <a:gd name="connisteX64" fmla="*/ 2343150 w 2947866"/>
              <a:gd name="connsiteY64" fmla="*/ 1074278 h 2581072"/>
              <a:gd name="connisteX65" fmla="*/ 2413000 w 2947866"/>
              <a:gd name="connsiteY65" fmla="*/ 1099678 h 2581072"/>
              <a:gd name="connisteX66" fmla="*/ 2489200 w 2947866"/>
              <a:gd name="connsiteY66" fmla="*/ 1125078 h 2581072"/>
              <a:gd name="connisteX67" fmla="*/ 2559050 w 2947866"/>
              <a:gd name="connsiteY67" fmla="*/ 1137778 h 2581072"/>
              <a:gd name="connisteX68" fmla="*/ 2635250 w 2947866"/>
              <a:gd name="connsiteY68" fmla="*/ 1188578 h 2581072"/>
              <a:gd name="connisteX69" fmla="*/ 2711450 w 2947866"/>
              <a:gd name="connsiteY69" fmla="*/ 1201278 h 2581072"/>
              <a:gd name="connisteX70" fmla="*/ 2787650 w 2947866"/>
              <a:gd name="connsiteY70" fmla="*/ 1239378 h 2581072"/>
              <a:gd name="connisteX71" fmla="*/ 2832100 w 2947866"/>
              <a:gd name="connsiteY71" fmla="*/ 1309228 h 2581072"/>
              <a:gd name="connisteX72" fmla="*/ 2889250 w 2947866"/>
              <a:gd name="connsiteY72" fmla="*/ 1385428 h 2581072"/>
              <a:gd name="connisteX73" fmla="*/ 2921000 w 2947866"/>
              <a:gd name="connsiteY73" fmla="*/ 1461628 h 2581072"/>
              <a:gd name="connisteX74" fmla="*/ 2927350 w 2947866"/>
              <a:gd name="connsiteY74" fmla="*/ 1531478 h 2581072"/>
              <a:gd name="connisteX75" fmla="*/ 2940050 w 2947866"/>
              <a:gd name="connsiteY75" fmla="*/ 1607678 h 2581072"/>
              <a:gd name="connisteX76" fmla="*/ 2940050 w 2947866"/>
              <a:gd name="connsiteY76" fmla="*/ 1677528 h 2581072"/>
              <a:gd name="connisteX77" fmla="*/ 2940050 w 2947866"/>
              <a:gd name="connsiteY77" fmla="*/ 1747378 h 2581072"/>
              <a:gd name="connisteX78" fmla="*/ 2940050 w 2947866"/>
              <a:gd name="connsiteY78" fmla="*/ 1823578 h 2581072"/>
              <a:gd name="connisteX79" fmla="*/ 2940050 w 2947866"/>
              <a:gd name="connsiteY79" fmla="*/ 1893428 h 2581072"/>
              <a:gd name="connisteX80" fmla="*/ 2940050 w 2947866"/>
              <a:gd name="connsiteY80" fmla="*/ 1975978 h 2581072"/>
              <a:gd name="connisteX81" fmla="*/ 2921000 w 2947866"/>
              <a:gd name="connsiteY81" fmla="*/ 2052178 h 2581072"/>
              <a:gd name="connisteX82" fmla="*/ 2895600 w 2947866"/>
              <a:gd name="connsiteY82" fmla="*/ 2122028 h 2581072"/>
              <a:gd name="connisteX83" fmla="*/ 2870200 w 2947866"/>
              <a:gd name="connsiteY83" fmla="*/ 2198228 h 2581072"/>
              <a:gd name="connisteX84" fmla="*/ 2851150 w 2947866"/>
              <a:gd name="connsiteY84" fmla="*/ 2268078 h 2581072"/>
              <a:gd name="connisteX85" fmla="*/ 2825750 w 2947866"/>
              <a:gd name="connsiteY85" fmla="*/ 2344278 h 2581072"/>
              <a:gd name="connisteX86" fmla="*/ 2800350 w 2947866"/>
              <a:gd name="connsiteY86" fmla="*/ 2414128 h 2581072"/>
              <a:gd name="connisteX87" fmla="*/ 2743200 w 2947866"/>
              <a:gd name="connsiteY87" fmla="*/ 2483978 h 2581072"/>
              <a:gd name="connisteX88" fmla="*/ 2667000 w 2947866"/>
              <a:gd name="connsiteY88" fmla="*/ 2509378 h 2581072"/>
              <a:gd name="connisteX89" fmla="*/ 2590800 w 2947866"/>
              <a:gd name="connsiteY89" fmla="*/ 2522078 h 2581072"/>
              <a:gd name="connisteX90" fmla="*/ 2514600 w 2947866"/>
              <a:gd name="connsiteY90" fmla="*/ 2534778 h 2581072"/>
              <a:gd name="connisteX91" fmla="*/ 2444750 w 2947866"/>
              <a:gd name="connsiteY91" fmla="*/ 2560178 h 2581072"/>
              <a:gd name="connisteX92" fmla="*/ 2368550 w 2947866"/>
              <a:gd name="connsiteY92" fmla="*/ 2579228 h 2581072"/>
              <a:gd name="connisteX93" fmla="*/ 2298700 w 2947866"/>
              <a:gd name="connsiteY93" fmla="*/ 2579228 h 258107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 ang="0">
                <a:pos x="connisteX75" y="connsiteY75"/>
              </a:cxn>
              <a:cxn ang="0">
                <a:pos x="connisteX76" y="connsiteY76"/>
              </a:cxn>
              <a:cxn ang="0">
                <a:pos x="connisteX77" y="connsiteY77"/>
              </a:cxn>
              <a:cxn ang="0">
                <a:pos x="connisteX78" y="connsiteY78"/>
              </a:cxn>
              <a:cxn ang="0">
                <a:pos x="connisteX79" y="connsiteY79"/>
              </a:cxn>
              <a:cxn ang="0">
                <a:pos x="connisteX80" y="connsiteY80"/>
              </a:cxn>
              <a:cxn ang="0">
                <a:pos x="connisteX81" y="connsiteY81"/>
              </a:cxn>
              <a:cxn ang="0">
                <a:pos x="connisteX82" y="connsiteY82"/>
              </a:cxn>
              <a:cxn ang="0">
                <a:pos x="connisteX83" y="connsiteY83"/>
              </a:cxn>
              <a:cxn ang="0">
                <a:pos x="connisteX84" y="connsiteY84"/>
              </a:cxn>
              <a:cxn ang="0">
                <a:pos x="connisteX85" y="connsiteY85"/>
              </a:cxn>
              <a:cxn ang="0">
                <a:pos x="connisteX86" y="connsiteY86"/>
              </a:cxn>
              <a:cxn ang="0">
                <a:pos x="connisteX87" y="connsiteY87"/>
              </a:cxn>
              <a:cxn ang="0">
                <a:pos x="connisteX88" y="connsiteY88"/>
              </a:cxn>
              <a:cxn ang="0">
                <a:pos x="connisteX89" y="connsiteY89"/>
              </a:cxn>
              <a:cxn ang="0">
                <a:pos x="connisteX90" y="connsiteY90"/>
              </a:cxn>
              <a:cxn ang="0">
                <a:pos x="connisteX91" y="connsiteY91"/>
              </a:cxn>
              <a:cxn ang="0">
                <a:pos x="connisteX92" y="connsiteY92"/>
              </a:cxn>
              <a:cxn ang="0">
                <a:pos x="connisteX93" y="connsiteY93"/>
              </a:cxn>
            </a:cxnLst>
            <a:rect l="l" t="t" r="r" b="b"/>
            <a:pathLst>
              <a:path w="2947866" h="2581072">
                <a:moveTo>
                  <a:pt x="0" y="223379"/>
                </a:moveTo>
                <a:cubicBezTo>
                  <a:pt x="13970" y="221474"/>
                  <a:pt x="46990" y="218299"/>
                  <a:pt x="76200" y="210679"/>
                </a:cubicBezTo>
                <a:cubicBezTo>
                  <a:pt x="105410" y="203059"/>
                  <a:pt x="113030" y="191629"/>
                  <a:pt x="146050" y="185279"/>
                </a:cubicBezTo>
                <a:cubicBezTo>
                  <a:pt x="179070" y="178929"/>
                  <a:pt x="205740" y="182739"/>
                  <a:pt x="241300" y="178929"/>
                </a:cubicBezTo>
                <a:cubicBezTo>
                  <a:pt x="276860" y="175119"/>
                  <a:pt x="292100" y="175119"/>
                  <a:pt x="323850" y="166229"/>
                </a:cubicBezTo>
                <a:cubicBezTo>
                  <a:pt x="355600" y="157339"/>
                  <a:pt x="370840" y="150989"/>
                  <a:pt x="400050" y="134479"/>
                </a:cubicBezTo>
                <a:cubicBezTo>
                  <a:pt x="429260" y="117969"/>
                  <a:pt x="441960" y="101459"/>
                  <a:pt x="469900" y="83679"/>
                </a:cubicBezTo>
                <a:cubicBezTo>
                  <a:pt x="497840" y="65899"/>
                  <a:pt x="509270" y="55739"/>
                  <a:pt x="539750" y="45579"/>
                </a:cubicBezTo>
                <a:cubicBezTo>
                  <a:pt x="570230" y="35419"/>
                  <a:pt x="590550" y="36689"/>
                  <a:pt x="622300" y="32879"/>
                </a:cubicBezTo>
                <a:cubicBezTo>
                  <a:pt x="654050" y="29069"/>
                  <a:pt x="668020" y="27799"/>
                  <a:pt x="698500" y="26529"/>
                </a:cubicBezTo>
                <a:cubicBezTo>
                  <a:pt x="728980" y="25259"/>
                  <a:pt x="745490" y="26529"/>
                  <a:pt x="774700" y="26529"/>
                </a:cubicBezTo>
                <a:cubicBezTo>
                  <a:pt x="803910" y="26529"/>
                  <a:pt x="816610" y="26529"/>
                  <a:pt x="844550" y="26529"/>
                </a:cubicBezTo>
                <a:cubicBezTo>
                  <a:pt x="872490" y="26529"/>
                  <a:pt x="886460" y="26529"/>
                  <a:pt x="914400" y="26529"/>
                </a:cubicBezTo>
                <a:cubicBezTo>
                  <a:pt x="942340" y="26529"/>
                  <a:pt x="955040" y="26529"/>
                  <a:pt x="984250" y="26529"/>
                </a:cubicBezTo>
                <a:cubicBezTo>
                  <a:pt x="1013460" y="26529"/>
                  <a:pt x="1029970" y="26529"/>
                  <a:pt x="1060450" y="26529"/>
                </a:cubicBezTo>
                <a:cubicBezTo>
                  <a:pt x="1090930" y="26529"/>
                  <a:pt x="1106170" y="26529"/>
                  <a:pt x="1136650" y="26529"/>
                </a:cubicBezTo>
                <a:cubicBezTo>
                  <a:pt x="1167130" y="26529"/>
                  <a:pt x="1183640" y="26529"/>
                  <a:pt x="1212850" y="26529"/>
                </a:cubicBezTo>
                <a:cubicBezTo>
                  <a:pt x="1242060" y="26529"/>
                  <a:pt x="1254760" y="26529"/>
                  <a:pt x="1282700" y="26529"/>
                </a:cubicBezTo>
                <a:cubicBezTo>
                  <a:pt x="1310640" y="26529"/>
                  <a:pt x="1324610" y="26529"/>
                  <a:pt x="1352550" y="26529"/>
                </a:cubicBezTo>
                <a:cubicBezTo>
                  <a:pt x="1380490" y="26529"/>
                  <a:pt x="1393190" y="26529"/>
                  <a:pt x="1422400" y="26529"/>
                </a:cubicBezTo>
                <a:cubicBezTo>
                  <a:pt x="1451610" y="26529"/>
                  <a:pt x="1468120" y="26529"/>
                  <a:pt x="1498600" y="26529"/>
                </a:cubicBezTo>
                <a:cubicBezTo>
                  <a:pt x="1529080" y="26529"/>
                  <a:pt x="1545590" y="26529"/>
                  <a:pt x="1574800" y="26529"/>
                </a:cubicBezTo>
                <a:cubicBezTo>
                  <a:pt x="1604010" y="26529"/>
                  <a:pt x="1615440" y="29069"/>
                  <a:pt x="1644650" y="26529"/>
                </a:cubicBezTo>
                <a:cubicBezTo>
                  <a:pt x="1673860" y="23989"/>
                  <a:pt x="1690370" y="16369"/>
                  <a:pt x="1720850" y="13829"/>
                </a:cubicBezTo>
                <a:cubicBezTo>
                  <a:pt x="1751330" y="11289"/>
                  <a:pt x="1767840" y="16369"/>
                  <a:pt x="1797050" y="13829"/>
                </a:cubicBezTo>
                <a:cubicBezTo>
                  <a:pt x="1826260" y="11289"/>
                  <a:pt x="1838960" y="3669"/>
                  <a:pt x="1866900" y="1129"/>
                </a:cubicBezTo>
                <a:cubicBezTo>
                  <a:pt x="1894840" y="-1411"/>
                  <a:pt x="1906270" y="1129"/>
                  <a:pt x="1936750" y="1129"/>
                </a:cubicBezTo>
                <a:cubicBezTo>
                  <a:pt x="1967230" y="1129"/>
                  <a:pt x="1988820" y="1129"/>
                  <a:pt x="2019300" y="1129"/>
                </a:cubicBezTo>
                <a:cubicBezTo>
                  <a:pt x="2049780" y="1129"/>
                  <a:pt x="2059940" y="-141"/>
                  <a:pt x="2089150" y="1129"/>
                </a:cubicBezTo>
                <a:cubicBezTo>
                  <a:pt x="2118360" y="2399"/>
                  <a:pt x="2136140" y="6209"/>
                  <a:pt x="2165350" y="7479"/>
                </a:cubicBezTo>
                <a:cubicBezTo>
                  <a:pt x="2194560" y="8749"/>
                  <a:pt x="2207260" y="7479"/>
                  <a:pt x="2235200" y="7479"/>
                </a:cubicBezTo>
                <a:cubicBezTo>
                  <a:pt x="2263140" y="7479"/>
                  <a:pt x="2277110" y="4939"/>
                  <a:pt x="2305050" y="7479"/>
                </a:cubicBezTo>
                <a:cubicBezTo>
                  <a:pt x="2332990" y="10019"/>
                  <a:pt x="2346960" y="15099"/>
                  <a:pt x="2374900" y="20179"/>
                </a:cubicBezTo>
                <a:cubicBezTo>
                  <a:pt x="2402840" y="25259"/>
                  <a:pt x="2415540" y="25259"/>
                  <a:pt x="2444750" y="32879"/>
                </a:cubicBezTo>
                <a:cubicBezTo>
                  <a:pt x="2473960" y="40499"/>
                  <a:pt x="2491740" y="50659"/>
                  <a:pt x="2520950" y="58279"/>
                </a:cubicBezTo>
                <a:cubicBezTo>
                  <a:pt x="2550160" y="65899"/>
                  <a:pt x="2562860" y="64629"/>
                  <a:pt x="2590800" y="70979"/>
                </a:cubicBezTo>
                <a:cubicBezTo>
                  <a:pt x="2618740" y="77329"/>
                  <a:pt x="2632710" y="81139"/>
                  <a:pt x="2660650" y="90029"/>
                </a:cubicBezTo>
                <a:cubicBezTo>
                  <a:pt x="2688590" y="98919"/>
                  <a:pt x="2700020" y="97649"/>
                  <a:pt x="2730500" y="115429"/>
                </a:cubicBezTo>
                <a:cubicBezTo>
                  <a:pt x="2760980" y="133209"/>
                  <a:pt x="2786380" y="152259"/>
                  <a:pt x="2813050" y="178929"/>
                </a:cubicBezTo>
                <a:cubicBezTo>
                  <a:pt x="2839720" y="205599"/>
                  <a:pt x="2847340" y="220839"/>
                  <a:pt x="2863850" y="248779"/>
                </a:cubicBezTo>
                <a:cubicBezTo>
                  <a:pt x="2880360" y="276719"/>
                  <a:pt x="2886710" y="290689"/>
                  <a:pt x="2895600" y="318629"/>
                </a:cubicBezTo>
                <a:cubicBezTo>
                  <a:pt x="2904490" y="346569"/>
                  <a:pt x="2900680" y="359269"/>
                  <a:pt x="2908300" y="388479"/>
                </a:cubicBezTo>
                <a:cubicBezTo>
                  <a:pt x="2915920" y="417689"/>
                  <a:pt x="2926080" y="432929"/>
                  <a:pt x="2933700" y="464679"/>
                </a:cubicBezTo>
                <a:cubicBezTo>
                  <a:pt x="2941320" y="496429"/>
                  <a:pt x="2943860" y="515479"/>
                  <a:pt x="2946400" y="547229"/>
                </a:cubicBezTo>
                <a:cubicBezTo>
                  <a:pt x="2948940" y="578979"/>
                  <a:pt x="2947670" y="594219"/>
                  <a:pt x="2946400" y="623429"/>
                </a:cubicBezTo>
                <a:cubicBezTo>
                  <a:pt x="2945130" y="652639"/>
                  <a:pt x="2946400" y="665339"/>
                  <a:pt x="2940050" y="693279"/>
                </a:cubicBezTo>
                <a:cubicBezTo>
                  <a:pt x="2933700" y="721219"/>
                  <a:pt x="2922270" y="735189"/>
                  <a:pt x="2914650" y="763129"/>
                </a:cubicBezTo>
                <a:cubicBezTo>
                  <a:pt x="2907030" y="791069"/>
                  <a:pt x="2912110" y="803769"/>
                  <a:pt x="2901950" y="832979"/>
                </a:cubicBezTo>
                <a:cubicBezTo>
                  <a:pt x="2891790" y="862189"/>
                  <a:pt x="2876550" y="879969"/>
                  <a:pt x="2863850" y="909179"/>
                </a:cubicBezTo>
                <a:cubicBezTo>
                  <a:pt x="2851150" y="938389"/>
                  <a:pt x="2852420" y="949819"/>
                  <a:pt x="2838450" y="979029"/>
                </a:cubicBezTo>
                <a:cubicBezTo>
                  <a:pt x="2824480" y="1008239"/>
                  <a:pt x="2818130" y="1028559"/>
                  <a:pt x="2794000" y="1055229"/>
                </a:cubicBezTo>
                <a:cubicBezTo>
                  <a:pt x="2769870" y="1081899"/>
                  <a:pt x="2748280" y="1090789"/>
                  <a:pt x="2717800" y="1112379"/>
                </a:cubicBezTo>
                <a:cubicBezTo>
                  <a:pt x="2687320" y="1133969"/>
                  <a:pt x="2670810" y="1150479"/>
                  <a:pt x="2641600" y="1163179"/>
                </a:cubicBezTo>
                <a:cubicBezTo>
                  <a:pt x="2612390" y="1175879"/>
                  <a:pt x="2600960" y="1173339"/>
                  <a:pt x="2571750" y="1175879"/>
                </a:cubicBezTo>
                <a:cubicBezTo>
                  <a:pt x="2542540" y="1178419"/>
                  <a:pt x="2526030" y="1175879"/>
                  <a:pt x="2495550" y="1175879"/>
                </a:cubicBezTo>
                <a:cubicBezTo>
                  <a:pt x="2465070" y="1175879"/>
                  <a:pt x="2449830" y="1177149"/>
                  <a:pt x="2419350" y="1175879"/>
                </a:cubicBezTo>
                <a:cubicBezTo>
                  <a:pt x="2388870" y="1174609"/>
                  <a:pt x="2373630" y="1175879"/>
                  <a:pt x="2343150" y="1169529"/>
                </a:cubicBezTo>
                <a:cubicBezTo>
                  <a:pt x="2312670" y="1163179"/>
                  <a:pt x="2297430" y="1154289"/>
                  <a:pt x="2266950" y="1144129"/>
                </a:cubicBezTo>
                <a:cubicBezTo>
                  <a:pt x="2236470" y="1133969"/>
                  <a:pt x="2221230" y="1127619"/>
                  <a:pt x="2190750" y="1118729"/>
                </a:cubicBezTo>
                <a:cubicBezTo>
                  <a:pt x="2160270" y="1109839"/>
                  <a:pt x="2145030" y="1106029"/>
                  <a:pt x="2114550" y="1099679"/>
                </a:cubicBezTo>
                <a:cubicBezTo>
                  <a:pt x="2084070" y="1093329"/>
                  <a:pt x="2038350" y="1092059"/>
                  <a:pt x="2038350" y="1086979"/>
                </a:cubicBezTo>
                <a:cubicBezTo>
                  <a:pt x="2038350" y="1081899"/>
                  <a:pt x="2082800" y="1076819"/>
                  <a:pt x="2114550" y="1074279"/>
                </a:cubicBezTo>
                <a:cubicBezTo>
                  <a:pt x="2146300" y="1071739"/>
                  <a:pt x="2165350" y="1074279"/>
                  <a:pt x="2197100" y="1074279"/>
                </a:cubicBezTo>
                <a:cubicBezTo>
                  <a:pt x="2228850" y="1074279"/>
                  <a:pt x="2244090" y="1074279"/>
                  <a:pt x="2273300" y="1074279"/>
                </a:cubicBezTo>
                <a:cubicBezTo>
                  <a:pt x="2302510" y="1074279"/>
                  <a:pt x="2315210" y="1069199"/>
                  <a:pt x="2343150" y="1074279"/>
                </a:cubicBezTo>
                <a:cubicBezTo>
                  <a:pt x="2371090" y="1079359"/>
                  <a:pt x="2383790" y="1089519"/>
                  <a:pt x="2413000" y="1099679"/>
                </a:cubicBezTo>
                <a:cubicBezTo>
                  <a:pt x="2442210" y="1109839"/>
                  <a:pt x="2459990" y="1117459"/>
                  <a:pt x="2489200" y="1125079"/>
                </a:cubicBezTo>
                <a:cubicBezTo>
                  <a:pt x="2518410" y="1132699"/>
                  <a:pt x="2529840" y="1125079"/>
                  <a:pt x="2559050" y="1137779"/>
                </a:cubicBezTo>
                <a:cubicBezTo>
                  <a:pt x="2588260" y="1150479"/>
                  <a:pt x="2604770" y="1175879"/>
                  <a:pt x="2635250" y="1188579"/>
                </a:cubicBezTo>
                <a:cubicBezTo>
                  <a:pt x="2665730" y="1201279"/>
                  <a:pt x="2680970" y="1191119"/>
                  <a:pt x="2711450" y="1201279"/>
                </a:cubicBezTo>
                <a:cubicBezTo>
                  <a:pt x="2741930" y="1211439"/>
                  <a:pt x="2763520" y="1217789"/>
                  <a:pt x="2787650" y="1239379"/>
                </a:cubicBezTo>
                <a:cubicBezTo>
                  <a:pt x="2811780" y="1260969"/>
                  <a:pt x="2811780" y="1280019"/>
                  <a:pt x="2832100" y="1309229"/>
                </a:cubicBezTo>
                <a:cubicBezTo>
                  <a:pt x="2852420" y="1338439"/>
                  <a:pt x="2871470" y="1354949"/>
                  <a:pt x="2889250" y="1385429"/>
                </a:cubicBezTo>
                <a:cubicBezTo>
                  <a:pt x="2907030" y="1415909"/>
                  <a:pt x="2913380" y="1432419"/>
                  <a:pt x="2921000" y="1461629"/>
                </a:cubicBezTo>
                <a:cubicBezTo>
                  <a:pt x="2928620" y="1490839"/>
                  <a:pt x="2923540" y="1502269"/>
                  <a:pt x="2927350" y="1531479"/>
                </a:cubicBezTo>
                <a:cubicBezTo>
                  <a:pt x="2931160" y="1560689"/>
                  <a:pt x="2937510" y="1578469"/>
                  <a:pt x="2940050" y="1607679"/>
                </a:cubicBezTo>
                <a:cubicBezTo>
                  <a:pt x="2942590" y="1636889"/>
                  <a:pt x="2940050" y="1649589"/>
                  <a:pt x="2940050" y="1677529"/>
                </a:cubicBezTo>
                <a:cubicBezTo>
                  <a:pt x="2940050" y="1705469"/>
                  <a:pt x="2940050" y="1718169"/>
                  <a:pt x="2940050" y="1747379"/>
                </a:cubicBezTo>
                <a:cubicBezTo>
                  <a:pt x="2940050" y="1776589"/>
                  <a:pt x="2940050" y="1794369"/>
                  <a:pt x="2940050" y="1823579"/>
                </a:cubicBezTo>
                <a:cubicBezTo>
                  <a:pt x="2940050" y="1852789"/>
                  <a:pt x="2940050" y="1862949"/>
                  <a:pt x="2940050" y="1893429"/>
                </a:cubicBezTo>
                <a:cubicBezTo>
                  <a:pt x="2940050" y="1923909"/>
                  <a:pt x="2943860" y="1944229"/>
                  <a:pt x="2940050" y="1975979"/>
                </a:cubicBezTo>
                <a:cubicBezTo>
                  <a:pt x="2936240" y="2007729"/>
                  <a:pt x="2929890" y="2022969"/>
                  <a:pt x="2921000" y="2052179"/>
                </a:cubicBezTo>
                <a:cubicBezTo>
                  <a:pt x="2912110" y="2081389"/>
                  <a:pt x="2905760" y="2092819"/>
                  <a:pt x="2895600" y="2122029"/>
                </a:cubicBezTo>
                <a:cubicBezTo>
                  <a:pt x="2885440" y="2151239"/>
                  <a:pt x="2879090" y="2169019"/>
                  <a:pt x="2870200" y="2198229"/>
                </a:cubicBezTo>
                <a:cubicBezTo>
                  <a:pt x="2861310" y="2227439"/>
                  <a:pt x="2860040" y="2238869"/>
                  <a:pt x="2851150" y="2268079"/>
                </a:cubicBezTo>
                <a:cubicBezTo>
                  <a:pt x="2842260" y="2297289"/>
                  <a:pt x="2835910" y="2315069"/>
                  <a:pt x="2825750" y="2344279"/>
                </a:cubicBezTo>
                <a:cubicBezTo>
                  <a:pt x="2815590" y="2373489"/>
                  <a:pt x="2816860" y="2386189"/>
                  <a:pt x="2800350" y="2414129"/>
                </a:cubicBezTo>
                <a:cubicBezTo>
                  <a:pt x="2783840" y="2442069"/>
                  <a:pt x="2769870" y="2464929"/>
                  <a:pt x="2743200" y="2483979"/>
                </a:cubicBezTo>
                <a:cubicBezTo>
                  <a:pt x="2716530" y="2503029"/>
                  <a:pt x="2697480" y="2501759"/>
                  <a:pt x="2667000" y="2509379"/>
                </a:cubicBezTo>
                <a:cubicBezTo>
                  <a:pt x="2636520" y="2516999"/>
                  <a:pt x="2621280" y="2516999"/>
                  <a:pt x="2590800" y="2522079"/>
                </a:cubicBezTo>
                <a:cubicBezTo>
                  <a:pt x="2560320" y="2527159"/>
                  <a:pt x="2543810" y="2527159"/>
                  <a:pt x="2514600" y="2534779"/>
                </a:cubicBezTo>
                <a:cubicBezTo>
                  <a:pt x="2485390" y="2542399"/>
                  <a:pt x="2473960" y="2551289"/>
                  <a:pt x="2444750" y="2560179"/>
                </a:cubicBezTo>
                <a:cubicBezTo>
                  <a:pt x="2415540" y="2569069"/>
                  <a:pt x="2397760" y="2575419"/>
                  <a:pt x="2368550" y="2579229"/>
                </a:cubicBezTo>
                <a:cubicBezTo>
                  <a:pt x="2339340" y="2583039"/>
                  <a:pt x="2311400" y="2579864"/>
                  <a:pt x="2298700" y="2579229"/>
                </a:cubicBezTo>
              </a:path>
            </a:pathLst>
          </a:custGeom>
          <a:ln>
            <a:headEnd type="none" w="sm" len="sm"/>
            <a:tailEnd type="triangle" w="lg" len="med"/>
          </a:ln>
        </p:spPr>
        <p:style>
          <a:lnRef idx="2">
            <a:schemeClr val="accent1"/>
          </a:lnRef>
          <a:fillRef idx="0">
            <a:srgbClr val="FFFFFF"/>
          </a:fillRef>
          <a:effectRef idx="0">
            <a:srgbClr val="FFFFFF"/>
          </a:effectRef>
          <a:fontRef idx="minor">
            <a:schemeClr val="tx1"/>
          </a:fontRef>
        </p:style>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en-US" altLang="zh-CN" sz="2400" b="0" i="0" u="none" strike="noStrike" cap="none" normalizeH="0" baseline="0" smtClean="0">
              <a:ln>
                <a:noFill/>
              </a:ln>
              <a:solidFill>
                <a:schemeClr val="tx1"/>
              </a:solidFill>
              <a:effectLst/>
              <a:latin typeface="Times New Roman" panose="02020603050405020304" pitchFamily="18" charset="0"/>
            </a:endParaRPr>
          </a:p>
        </p:txBody>
      </p:sp>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符号表（</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41315" name="Rectangle 11"/>
          <p:cNvSpPr>
            <a:spLocks noGrp="1"/>
          </p:cNvSpPr>
          <p:nvPr>
            <p:ph idx="1"/>
          </p:nvPr>
        </p:nvSpPr>
        <p:spPr>
          <a:xfrm>
            <a:off x="685800" y="1341438"/>
            <a:ext cx="7847013" cy="4953000"/>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符号表的操作</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创建一个符号表</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在下页的程序中，第</a:t>
            </a:r>
            <a:r>
              <a:rPr lang="en-US" altLang="zh-CN" b="1" dirty="0">
                <a:latin typeface="宋体" panose="02010600030101010101" pitchFamily="2" charset="-122"/>
                <a:ea typeface="宋体" panose="02010600030101010101" pitchFamily="2" charset="-122"/>
              </a:rPr>
              <a:t>6~8</a:t>
            </a:r>
            <a:r>
              <a:rPr lang="zh-CN" altLang="en-US" b="1" dirty="0">
                <a:latin typeface="宋体" panose="02010600030101010101" pitchFamily="2" charset="-122"/>
                <a:ea typeface="宋体" panose="02010600030101010101" pitchFamily="2" charset="-122"/>
              </a:rPr>
              <a:t>行是创建一个符号表，并通过参数</a:t>
            </a:r>
            <a:r>
              <a:rPr lang="en-US" altLang="zh-CN" b="1" dirty="0">
                <a:latin typeface="宋体" panose="02010600030101010101" pitchFamily="2" charset="-122"/>
                <a:ea typeface="宋体" panose="02010600030101010101" pitchFamily="2" charset="-122"/>
              </a:rPr>
              <a:t>p</a:t>
            </a:r>
            <a:r>
              <a:rPr lang="zh-CN" altLang="en-US" b="1" dirty="0">
                <a:latin typeface="宋体" panose="02010600030101010101" pitchFamily="2" charset="-122"/>
                <a:ea typeface="宋体" panose="02010600030101010101" pitchFamily="2" charset="-122"/>
              </a:rPr>
              <a:t>来实现符号表间的链接</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在当前表中加入一个新的条目（程序的</a:t>
            </a:r>
            <a:r>
              <a:rPr lang="en-US" altLang="zh-CN" b="1" dirty="0">
                <a:latin typeface="宋体" panose="02010600030101010101" pitchFamily="2" charset="-122"/>
                <a:ea typeface="宋体" panose="02010600030101010101" pitchFamily="2" charset="-122"/>
              </a:rPr>
              <a:t>9~11</a:t>
            </a:r>
            <a:r>
              <a:rPr lang="zh-CN" altLang="en-US" b="1" dirty="0">
                <a:latin typeface="宋体" panose="02010600030101010101" pitchFamily="2" charset="-122"/>
                <a:ea typeface="宋体" panose="02010600030101010101" pitchFamily="2" charset="-122"/>
              </a:rPr>
              <a:t>行）</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通过</a:t>
            </a:r>
            <a:r>
              <a:rPr lang="en-US" altLang="zh-CN" b="1" dirty="0">
                <a:latin typeface="宋体" panose="02010600030101010101" pitchFamily="2" charset="-122"/>
                <a:ea typeface="宋体" panose="02010600030101010101" pitchFamily="2" charset="-122"/>
              </a:rPr>
              <a:t>Hash</a:t>
            </a:r>
            <a:r>
              <a:rPr lang="zh-CN" altLang="en-US" b="1" dirty="0">
                <a:latin typeface="宋体" panose="02010600030101010101" pitchFamily="2" charset="-122"/>
                <a:ea typeface="宋体" panose="02010600030101010101" pitchFamily="2" charset="-122"/>
              </a:rPr>
              <a:t>表的方式比较快捷</a:t>
            </a:r>
            <a:endParaRPr lang="en-US" altLang="zh-CN" b="1" dirty="0">
              <a:latin typeface="宋体" panose="02010600030101010101" pitchFamily="2" charset="-122"/>
              <a:ea typeface="宋体" panose="02010600030101010101" pitchFamily="2" charset="-122"/>
            </a:endParaRPr>
          </a:p>
          <a:p>
            <a:pPr lvl="3"/>
            <a:r>
              <a:rPr lang="en-US" altLang="zh-CN" b="1" dirty="0">
                <a:latin typeface="宋体" panose="02010600030101010101" pitchFamily="2" charset="-122"/>
                <a:ea typeface="宋体" panose="02010600030101010101" pitchFamily="2" charset="-122"/>
              </a:rPr>
              <a:t>Hash</a:t>
            </a:r>
            <a:r>
              <a:rPr lang="zh-CN" altLang="en-US" b="1" dirty="0">
                <a:latin typeface="宋体" panose="02010600030101010101" pitchFamily="2" charset="-122"/>
                <a:ea typeface="宋体" panose="02010600030101010101" pitchFamily="2" charset="-122"/>
              </a:rPr>
              <a:t>函数的设计很重要</a:t>
            </a:r>
            <a:endParaRPr lang="en-US" altLang="zh-CN" b="1" dirty="0">
              <a:latin typeface="宋体" panose="02010600030101010101" pitchFamily="2" charset="-122"/>
              <a:ea typeface="宋体" panose="02010600030101010101" pitchFamily="2" charset="-122"/>
            </a:endParaRPr>
          </a:p>
          <a:p>
            <a:pPr lvl="4"/>
            <a:r>
              <a:rPr lang="zh-CN" altLang="en-US" b="1" dirty="0">
                <a:latin typeface="宋体" panose="02010600030101010101" pitchFamily="2" charset="-122"/>
                <a:ea typeface="宋体" panose="02010600030101010101" pitchFamily="2" charset="-122"/>
              </a:rPr>
              <a:t>避免过于稀疏，也要避免冲突项太多</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查找一个条目（程序的</a:t>
            </a:r>
            <a:r>
              <a:rPr lang="en-US" altLang="zh-CN" b="1" dirty="0">
                <a:latin typeface="宋体" panose="02010600030101010101" pitchFamily="2" charset="-122"/>
                <a:ea typeface="宋体" panose="02010600030101010101" pitchFamily="2" charset="-122"/>
              </a:rPr>
              <a:t>12~18</a:t>
            </a:r>
            <a:r>
              <a:rPr lang="zh-CN" altLang="en-US" b="1" dirty="0">
                <a:latin typeface="宋体" panose="02010600030101010101" pitchFamily="2" charset="-122"/>
                <a:ea typeface="宋体" panose="02010600030101010101" pitchFamily="2" charset="-122"/>
              </a:rPr>
              <a:t>行）</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根据标识符名字返回对应的条目（找到）或</a:t>
            </a:r>
            <a:r>
              <a:rPr lang="en-US" altLang="zh-CN" b="1" dirty="0">
                <a:latin typeface="宋体" panose="02010600030101010101" pitchFamily="2" charset="-122"/>
                <a:ea typeface="宋体" panose="02010600030101010101" pitchFamily="2" charset="-122"/>
              </a:rPr>
              <a:t>NULL</a:t>
            </a:r>
            <a:r>
              <a:rPr lang="zh-CN" altLang="en-US" b="1" dirty="0">
                <a:latin typeface="宋体" panose="02010600030101010101" pitchFamily="2" charset="-122"/>
                <a:ea typeface="宋体" panose="02010600030101010101" pitchFamily="2" charset="-122"/>
              </a:rPr>
              <a:t>（未找到）</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这样的机制能够实现“在同一作用域内，变量名不能重复声明”的规则吗？</a:t>
            </a:r>
            <a:endParaRPr lang="en-US" altLang="zh-CN"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3362" name="Picture 2"/>
          <p:cNvPicPr>
            <a:picLocks noChangeAspect="1"/>
          </p:cNvPicPr>
          <p:nvPr/>
        </p:nvPicPr>
        <p:blipFill>
          <a:blip r:embed="rId1"/>
          <a:stretch>
            <a:fillRect/>
          </a:stretch>
        </p:blipFill>
        <p:spPr>
          <a:xfrm>
            <a:off x="1066800" y="0"/>
            <a:ext cx="7016750" cy="6697663"/>
          </a:xfrm>
          <a:prstGeom prst="rect">
            <a:avLst/>
          </a:prstGeom>
          <a:noFill/>
          <a:ln w="9525">
            <a:noFill/>
          </a:ln>
        </p:spPr>
      </p:pic>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符号表（４）</a:t>
            </a:r>
            <a:endParaRPr lang="zh-CN" altLang="en-US" dirty="0">
              <a:latin typeface="宋体" panose="02010600030101010101" pitchFamily="2" charset="-122"/>
              <a:ea typeface="宋体" panose="02010600030101010101" pitchFamily="2" charset="-122"/>
            </a:endParaRPr>
          </a:p>
        </p:txBody>
      </p:sp>
      <p:sp>
        <p:nvSpPr>
          <p:cNvPr id="108547" name="Rectangle 11"/>
          <p:cNvSpPr>
            <a:spLocks noGrp="1" noChangeArrowheads="1"/>
          </p:cNvSpPr>
          <p:nvPr>
            <p:ph idx="1"/>
          </p:nvPr>
        </p:nvSpPr>
        <p:spPr>
          <a:xfrm>
            <a:off x="685800" y="1341438"/>
            <a:ext cx="7847013" cy="49530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符号表的使用</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在处理程序的声明部分时，把相关条目入表</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在处理程序的语句部分时，通过查找符号表，得到必要的信息</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下页给出使用符号表翻译带有语句块的语言的翻译方案</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将输入</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int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 char y; {bool y; x; y;} x; y;}</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滤掉声明部分，生成对各个名字出现时类型的解释</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x:int</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y:bool;} x:int; y:char;}</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第一个产生式的翻译初始化顶层符号表为</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null</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第二个产生式的翻译分两步</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在处理</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decls</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前，生成新的符号表（并链接）</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在程序块结束时，恢复外层程序块符号表</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如果这两个操作换成</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push</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pop</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，就实现了符号表栈</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第四个产生式（</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decl</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产生式）处理声明语句，将声明的变量入表，并标注其类型</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第七个产生式（</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factor</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产生式），此处是查表，打印出变量名和类型</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6434" name="Picture 2"/>
          <p:cNvPicPr>
            <a:picLocks noChangeAspect="1"/>
          </p:cNvPicPr>
          <p:nvPr/>
        </p:nvPicPr>
        <p:blipFill>
          <a:blip r:embed="rId1"/>
          <a:stretch>
            <a:fillRect/>
          </a:stretch>
        </p:blipFill>
        <p:spPr>
          <a:xfrm>
            <a:off x="1219200" y="0"/>
            <a:ext cx="6754813" cy="6705600"/>
          </a:xfrm>
          <a:prstGeom prst="rect">
            <a:avLst/>
          </a:prstGeom>
          <a:noFill/>
          <a:ln w="9525">
            <a:noFill/>
          </a:ln>
        </p:spPr>
      </p:pic>
    </p:spTree>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生成中间代码（</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47459" name="Rectangle 11"/>
          <p:cNvSpPr>
            <a:spLocks noGrp="1"/>
          </p:cNvSpPr>
          <p:nvPr>
            <p:ph idx="1"/>
          </p:nvPr>
        </p:nvSpPr>
        <p:spPr>
          <a:xfrm>
            <a:off x="685800" y="1341438"/>
            <a:ext cx="7847013" cy="4953000"/>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中间代码生成是编译前端的重要工作之一</a:t>
            </a:r>
            <a:endParaRPr lang="en-US" altLang="zh-CN"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两种中间表示形式</a:t>
            </a:r>
            <a:endParaRPr lang="en-US" altLang="zh-CN" sz="2000" b="1"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树：抽象语法树（</a:t>
            </a:r>
            <a:r>
              <a:rPr lang="en-US" altLang="zh-CN" sz="2000" b="1" dirty="0">
                <a:latin typeface="宋体" panose="02010600030101010101" pitchFamily="2" charset="-122"/>
                <a:ea typeface="宋体" panose="02010600030101010101" pitchFamily="2" charset="-122"/>
              </a:rPr>
              <a:t>AST</a:t>
            </a:r>
            <a:r>
              <a:rPr lang="zh-CN" altLang="en-US" sz="2000" b="1" dirty="0">
                <a:latin typeface="宋体" panose="02010600030101010101" pitchFamily="2" charset="-122"/>
                <a:ea typeface="宋体" panose="02010600030101010101" pitchFamily="2" charset="-122"/>
              </a:rPr>
              <a:t>）使用更多，分析树实用少</a:t>
            </a:r>
            <a:endParaRPr lang="en-US" altLang="zh-CN" sz="2000" b="1" dirty="0">
              <a:latin typeface="宋体" panose="02010600030101010101" pitchFamily="2" charset="-122"/>
              <a:ea typeface="宋体" panose="02010600030101010101" pitchFamily="2" charset="-122"/>
            </a:endParaRPr>
          </a:p>
          <a:p>
            <a:pPr lvl="3"/>
            <a:r>
              <a:rPr lang="zh-CN" altLang="en-US" sz="1800" b="1" dirty="0">
                <a:latin typeface="宋体" panose="02010600030101010101" pitchFamily="2" charset="-122"/>
                <a:ea typeface="宋体" panose="02010600030101010101" pitchFamily="2" charset="-122"/>
              </a:rPr>
              <a:t>在优化编译系统中，程序分析功能复杂、优化（特别是机器无关优化）多时，</a:t>
            </a:r>
            <a:r>
              <a:rPr lang="en-US" altLang="zh-CN" sz="1800" b="1" dirty="0">
                <a:latin typeface="宋体" panose="02010600030101010101" pitchFamily="2" charset="-122"/>
                <a:ea typeface="宋体" panose="02010600030101010101" pitchFamily="2" charset="-122"/>
              </a:rPr>
              <a:t>AST</a:t>
            </a:r>
            <a:r>
              <a:rPr lang="zh-CN" altLang="en-US" sz="1800" b="1" dirty="0">
                <a:latin typeface="宋体" panose="02010600030101010101" pitchFamily="2" charset="-122"/>
                <a:ea typeface="宋体" panose="02010600030101010101" pitchFamily="2" charset="-122"/>
              </a:rPr>
              <a:t>起到重要的作用</a:t>
            </a:r>
            <a:endParaRPr lang="en-US" altLang="zh-CN" sz="1800" b="1"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线性表示：三地址代码是常用形式，在编译器后端常见</a:t>
            </a:r>
            <a:endParaRPr lang="en-US" altLang="zh-CN"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在一些编译器中，前端分析的过程是按照树的形式进行的，但输出的是三地址代码</a:t>
            </a:r>
            <a:endParaRPr lang="en-US" altLang="zh-CN" sz="2000" b="1" dirty="0">
              <a:latin typeface="宋体" panose="02010600030101010101" pitchFamily="2" charset="-122"/>
              <a:ea typeface="宋体" panose="02010600030101010101" pitchFamily="2" charset="-122"/>
            </a:endParaRPr>
          </a:p>
          <a:p>
            <a:r>
              <a:rPr lang="zh-CN" altLang="en-US" sz="2400" b="1" dirty="0">
                <a:latin typeface="宋体" panose="02010600030101010101" pitchFamily="2" charset="-122"/>
                <a:ea typeface="宋体" panose="02010600030101010101" pitchFamily="2" charset="-122"/>
              </a:rPr>
              <a:t>静态检查也是前端的重要工作之一</a:t>
            </a:r>
            <a:endParaRPr lang="en-US" altLang="zh-CN" sz="24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在编译时刻完成，检查输入是否符合源语言的语法和语义约定</a:t>
            </a:r>
            <a:endParaRPr lang="en-US" altLang="zh-CN"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能够发现一些错误，如类型不匹配等</a:t>
            </a:r>
            <a:endParaRPr lang="en-US" altLang="zh-CN"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静态检查非常有用，但在很多场景中，单纯的静态检查是不能满足需求</a:t>
            </a:r>
            <a:endParaRPr lang="en-US" altLang="zh-CN" sz="20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9506" name="Picture 2"/>
          <p:cNvPicPr>
            <a:picLocks noChangeAspect="1"/>
          </p:cNvPicPr>
          <p:nvPr/>
        </p:nvPicPr>
        <p:blipFill>
          <a:blip r:embed="rId1"/>
          <a:stretch>
            <a:fillRect/>
          </a:stretch>
        </p:blipFill>
        <p:spPr>
          <a:xfrm>
            <a:off x="1600200" y="0"/>
            <a:ext cx="5710238" cy="6629400"/>
          </a:xfrm>
          <a:prstGeom prst="rect">
            <a:avLst/>
          </a:prstGeom>
          <a:noFill/>
          <a:ln w="9525">
            <a:noFill/>
          </a:ln>
        </p:spPr>
      </p:pic>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生成中间代码（</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50531" name="Rectangle 11"/>
          <p:cNvSpPr>
            <a:spLocks noGrp="1" noChangeArrowheads="1"/>
          </p:cNvSpPr>
          <p:nvPr>
            <p:ph idx="1"/>
          </p:nvPr>
        </p:nvSpPr>
        <p:spPr>
          <a:xfrm>
            <a:off x="685800" y="1341438"/>
            <a:ext cx="7847013" cy="49530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语句的抽象语法树</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为每种语句构造定义相应的算符</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本例中</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对于以关键字开头的构造</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就以关键字作为对应的算符，并定义同名的类（首字母大写）</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本例简单</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关键字足以区分不同的语句</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if</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没有</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else</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分支</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表达式不以关键字开头，定义算符</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eval</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和类</a:t>
            </a:r>
            <a:r>
              <a:rPr kumimoji="0" lang="en-US" altLang="zh-CN" sz="20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Eval</a:t>
            </a:r>
            <a:endParaRPr kumimoji="0" lang="en-US" altLang="zh-CN" sz="20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每个类的对象实例中，属性</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n</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标识了该对象表示的语言结构对应的抽象语法树的结点</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增加一个类</a:t>
            </a:r>
            <a:r>
              <a:rPr kumimoji="0" lang="en-US" altLang="zh-CN" sz="20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Seq</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，表示语句序列</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在抽象语法树中表示语句块</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如下的两条规则</a:t>
            </a:r>
            <a:endPar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8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stmt</a:t>
            </a:r>
            <a:r>
              <a:rPr kumimoji="0" lang="zh-CN" altLang="en-US"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block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18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stmt.n</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block.n</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block</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stmts</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18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block.n</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stmts.n</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52578" name="Picture 2"/>
          <p:cNvPicPr>
            <a:picLocks noChangeAspect="1"/>
          </p:cNvPicPr>
          <p:nvPr/>
        </p:nvPicPr>
        <p:blipFill>
          <a:blip r:embed="rId1"/>
          <a:stretch>
            <a:fillRect/>
          </a:stretch>
        </p:blipFill>
        <p:spPr>
          <a:xfrm>
            <a:off x="457200" y="838200"/>
            <a:ext cx="8229600" cy="4529138"/>
          </a:xfrm>
          <a:prstGeom prst="rect">
            <a:avLst/>
          </a:prstGeom>
          <a:noFill/>
          <a:ln w="9525">
            <a:noFill/>
          </a:ln>
        </p:spPr>
      </p:pic>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生成中间代码（</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54627" name="Rectangle 11"/>
          <p:cNvSpPr>
            <a:spLocks noGrp="1"/>
          </p:cNvSpPr>
          <p:nvPr>
            <p:ph idx="1"/>
          </p:nvPr>
        </p:nvSpPr>
        <p:spPr>
          <a:xfrm>
            <a:off x="179388" y="1371600"/>
            <a:ext cx="4679950" cy="4953000"/>
          </a:xfrm>
        </p:spPr>
        <p:txBody>
          <a:bodyPr vert="horz" wrap="square" lIns="92075" tIns="46038" rIns="92075" bIns="46038" anchor="t" anchorCtr="0"/>
          <a:p>
            <a:r>
              <a:rPr lang="zh-CN" altLang="en-US" sz="2000" b="1" dirty="0">
                <a:latin typeface="宋体" panose="02010600030101010101" pitchFamily="2" charset="-122"/>
                <a:ea typeface="宋体" panose="02010600030101010101" pitchFamily="2" charset="-122"/>
              </a:rPr>
              <a:t>表达式的语法树</a:t>
            </a:r>
            <a:endParaRPr lang="en-US" altLang="zh-CN" sz="2000" b="1" dirty="0">
              <a:latin typeface="宋体" panose="02010600030101010101" pitchFamily="2" charset="-122"/>
              <a:ea typeface="宋体" panose="02010600030101010101" pitchFamily="2" charset="-122"/>
            </a:endParaRPr>
          </a:p>
          <a:p>
            <a:pPr lvl="1"/>
            <a:r>
              <a:rPr lang="zh-CN" altLang="en-US" sz="1800" b="1" dirty="0">
                <a:latin typeface="宋体" panose="02010600030101010101" pitchFamily="2" charset="-122"/>
                <a:ea typeface="宋体" panose="02010600030101010101" pitchFamily="2" charset="-122"/>
              </a:rPr>
              <a:t>进一步扩充表达式文法，增加比较运算符，增加一个新的非终结符</a:t>
            </a:r>
            <a:r>
              <a:rPr lang="en-US" altLang="zh-CN" sz="1800" i="1" dirty="0">
                <a:latin typeface="宋体" panose="02010600030101010101" pitchFamily="2" charset="-122"/>
                <a:ea typeface="宋体" panose="02010600030101010101" pitchFamily="2" charset="-122"/>
              </a:rPr>
              <a:t>add</a:t>
            </a:r>
            <a:endParaRPr lang="en-US" altLang="zh-CN" sz="1800" i="1" dirty="0">
              <a:latin typeface="宋体" panose="02010600030101010101" pitchFamily="2" charset="-122"/>
              <a:ea typeface="宋体" panose="02010600030101010101" pitchFamily="2" charset="-122"/>
            </a:endParaRPr>
          </a:p>
          <a:p>
            <a:pPr lvl="1"/>
            <a:r>
              <a:rPr lang="zh-CN" altLang="en-US" sz="1800" b="1" dirty="0">
                <a:latin typeface="宋体" panose="02010600030101010101" pitchFamily="2" charset="-122"/>
                <a:ea typeface="宋体" panose="02010600030101010101" pitchFamily="2" charset="-122"/>
              </a:rPr>
              <a:t>将类似的算符归为一组，以减少实现时不同的子类</a:t>
            </a:r>
            <a:endParaRPr lang="en-US" altLang="zh-CN" sz="18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右图描述了这种分组</a:t>
            </a:r>
            <a:endParaRPr lang="en-US" altLang="zh-CN" sz="1800" b="1" dirty="0">
              <a:latin typeface="宋体" panose="02010600030101010101" pitchFamily="2" charset="-122"/>
              <a:ea typeface="宋体" panose="02010600030101010101" pitchFamily="2" charset="-122"/>
            </a:endParaRPr>
          </a:p>
          <a:p>
            <a:pPr lvl="1"/>
            <a:r>
              <a:rPr lang="zh-CN" altLang="en-US" sz="1800" b="1" dirty="0">
                <a:latin typeface="宋体" panose="02010600030101010101" pitchFamily="2" charset="-122"/>
                <a:ea typeface="宋体" panose="02010600030101010101" pitchFamily="2" charset="-122"/>
              </a:rPr>
              <a:t>图</a:t>
            </a:r>
            <a:r>
              <a:rPr lang="en-US" altLang="zh-CN" sz="1800" b="1" dirty="0">
                <a:latin typeface="宋体" panose="02010600030101010101" pitchFamily="2" charset="-122"/>
                <a:ea typeface="宋体" panose="02010600030101010101" pitchFamily="2" charset="-122"/>
              </a:rPr>
              <a:t>2.39</a:t>
            </a:r>
            <a:r>
              <a:rPr lang="zh-CN" altLang="en-US" sz="1800" b="1" dirty="0">
                <a:latin typeface="宋体" panose="02010600030101010101" pitchFamily="2" charset="-122"/>
                <a:ea typeface="宋体" panose="02010600030101010101" pitchFamily="2" charset="-122"/>
              </a:rPr>
              <a:t>的翻译方案只实现了部分算符的翻译</a:t>
            </a:r>
            <a:endParaRPr lang="en-US" altLang="zh-CN" sz="1800" b="1" dirty="0">
              <a:latin typeface="宋体" panose="02010600030101010101" pitchFamily="2" charset="-122"/>
              <a:ea typeface="宋体" panose="02010600030101010101" pitchFamily="2" charset="-122"/>
            </a:endParaRPr>
          </a:p>
          <a:p>
            <a:pPr lvl="1"/>
            <a:r>
              <a:rPr lang="zh-CN" altLang="en-US" sz="1800" b="1" dirty="0">
                <a:latin typeface="宋体" panose="02010600030101010101" pitchFamily="2" charset="-122"/>
                <a:ea typeface="宋体" panose="02010600030101010101" pitchFamily="2" charset="-122"/>
              </a:rPr>
              <a:t>在实际实现时，可以在算符对应的树结点增加域（或属性）来表示具体的算符是什么</a:t>
            </a:r>
            <a:endParaRPr lang="en-US" altLang="zh-CN" sz="18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算符的种类（决定结点的类型），如此处的</a:t>
            </a:r>
            <a:r>
              <a:rPr lang="en-US" altLang="zh-CN" sz="1800" i="1" dirty="0">
                <a:latin typeface="宋体" panose="02010600030101010101" pitchFamily="2" charset="-122"/>
                <a:ea typeface="宋体" panose="02010600030101010101" pitchFamily="2" charset="-122"/>
              </a:rPr>
              <a:t>Op</a:t>
            </a:r>
            <a:r>
              <a:rPr lang="zh-CN" altLang="en-US" sz="1800" b="1" dirty="0">
                <a:latin typeface="宋体" panose="02010600030101010101" pitchFamily="2" charset="-122"/>
                <a:ea typeface="宋体" panose="02010600030101010101" pitchFamily="2" charset="-122"/>
              </a:rPr>
              <a:t>等</a:t>
            </a:r>
            <a:endParaRPr lang="en-US" altLang="zh-CN" sz="18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增加算符标识，如把‘*’作为增加的属性，决定结点的翻译等</a:t>
            </a:r>
            <a:endParaRPr lang="en-US" altLang="zh-CN" sz="1800" b="1" dirty="0">
              <a:latin typeface="宋体" panose="02010600030101010101" pitchFamily="2" charset="-122"/>
              <a:ea typeface="宋体" panose="02010600030101010101" pitchFamily="2" charset="-122"/>
            </a:endParaRPr>
          </a:p>
        </p:txBody>
      </p:sp>
      <p:pic>
        <p:nvPicPr>
          <p:cNvPr id="154628" name="Picture 2"/>
          <p:cNvPicPr>
            <a:picLocks noChangeAspect="1"/>
          </p:cNvPicPr>
          <p:nvPr/>
        </p:nvPicPr>
        <p:blipFill>
          <a:blip r:embed="rId1"/>
          <a:stretch>
            <a:fillRect/>
          </a:stretch>
        </p:blipFill>
        <p:spPr>
          <a:xfrm>
            <a:off x="4859338" y="1495425"/>
            <a:ext cx="3963987" cy="4665663"/>
          </a:xfrm>
          <a:prstGeom prst="rect">
            <a:avLst/>
          </a:prstGeom>
          <a:noFill/>
          <a:ln w="9525">
            <a:noFill/>
          </a:ln>
        </p:spPr>
      </p:pic>
    </p:spTree>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生成中间代码（４）</a:t>
            </a:r>
            <a:endParaRPr lang="zh-CN" altLang="en-US" dirty="0">
              <a:latin typeface="宋体" panose="02010600030101010101" pitchFamily="2" charset="-122"/>
              <a:ea typeface="宋体" panose="02010600030101010101" pitchFamily="2" charset="-122"/>
            </a:endParaRPr>
          </a:p>
        </p:txBody>
      </p:sp>
      <p:sp>
        <p:nvSpPr>
          <p:cNvPr id="156675" name="Rectangle 11"/>
          <p:cNvSpPr>
            <a:spLocks noGrp="1"/>
          </p:cNvSpPr>
          <p:nvPr>
            <p:ph idx="1"/>
          </p:nvPr>
        </p:nvSpPr>
        <p:spPr>
          <a:xfrm>
            <a:off x="468313" y="1371600"/>
            <a:ext cx="8135937" cy="4953000"/>
          </a:xfrm>
        </p:spPr>
        <p:txBody>
          <a:bodyPr vert="horz" wrap="square" lIns="92075" tIns="46038" rIns="92075" bIns="46038" anchor="t" anchorCtr="0"/>
          <a:p>
            <a:r>
              <a:rPr lang="zh-CN" altLang="en-US" sz="2400" b="1" dirty="0">
                <a:latin typeface="宋体" panose="02010600030101010101" pitchFamily="2" charset="-122"/>
                <a:ea typeface="宋体" panose="02010600030101010101" pitchFamily="2" charset="-122"/>
              </a:rPr>
              <a:t>静态检查</a:t>
            </a:r>
            <a:endParaRPr lang="en-US" altLang="zh-CN" sz="24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在编译阶段完成的各种一致性检查，排除错误</a:t>
            </a:r>
            <a:endParaRPr lang="en-US" altLang="zh-CN" sz="2000" b="1"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语法检查，目前编译器能够发现的错误，多数是在语法分析阶段发现的</a:t>
            </a:r>
            <a:endParaRPr lang="en-US" altLang="zh-CN" sz="2000" b="1" dirty="0">
              <a:latin typeface="宋体" panose="02010600030101010101" pitchFamily="2" charset="-122"/>
              <a:ea typeface="宋体" panose="02010600030101010101" pitchFamily="2" charset="-122"/>
            </a:endParaRPr>
          </a:p>
          <a:p>
            <a:pPr lvl="3"/>
            <a:r>
              <a:rPr lang="zh-CN" altLang="en-US" sz="1800" b="1" dirty="0">
                <a:latin typeface="宋体" panose="02010600030101010101" pitchFamily="2" charset="-122"/>
                <a:ea typeface="宋体" panose="02010600030101010101" pitchFamily="2" charset="-122"/>
              </a:rPr>
              <a:t>有些错误是不符合语法的格式要求，如括号不配对、该出现运算对象的地方出现了运算符等，多数通过语法分析过程中的匹配（</a:t>
            </a:r>
            <a:r>
              <a:rPr lang="en-US" altLang="zh-CN" sz="1800" b="1" dirty="0">
                <a:latin typeface="宋体" panose="02010600030101010101" pitchFamily="2" charset="-122"/>
                <a:ea typeface="宋体" panose="02010600030101010101" pitchFamily="2" charset="-122"/>
              </a:rPr>
              <a:t>match</a:t>
            </a:r>
            <a:r>
              <a:rPr lang="zh-CN" altLang="en-US" sz="1800" b="1" dirty="0">
                <a:latin typeface="宋体" panose="02010600030101010101" pitchFamily="2" charset="-122"/>
                <a:ea typeface="宋体" panose="02010600030101010101" pitchFamily="2" charset="-122"/>
              </a:rPr>
              <a:t>）或归约过程发现错误</a:t>
            </a:r>
            <a:endParaRPr lang="en-US" altLang="zh-CN" sz="1800" b="1" dirty="0">
              <a:latin typeface="宋体" panose="02010600030101010101" pitchFamily="2" charset="-122"/>
              <a:ea typeface="宋体" panose="02010600030101010101" pitchFamily="2" charset="-122"/>
            </a:endParaRPr>
          </a:p>
          <a:p>
            <a:pPr lvl="3"/>
            <a:r>
              <a:rPr lang="zh-CN" altLang="en-US" sz="1800" b="1" dirty="0">
                <a:latin typeface="宋体" panose="02010600030101010101" pitchFamily="2" charset="-122"/>
                <a:ea typeface="宋体" panose="02010600030101010101" pitchFamily="2" charset="-122"/>
              </a:rPr>
              <a:t>有些错误是不符合语法规则的约束条件（这些可能是难以形式化描述，通常作为语法规则的约束条件出现，如</a:t>
            </a:r>
            <a:r>
              <a:rPr lang="en-US" altLang="zh-CN" sz="1800" b="1" dirty="0">
                <a:latin typeface="宋体" panose="02010600030101010101" pitchFamily="2" charset="-122"/>
                <a:ea typeface="宋体" panose="02010600030101010101" pitchFamily="2" charset="-122"/>
              </a:rPr>
              <a:t>break</a:t>
            </a:r>
            <a:r>
              <a:rPr lang="zh-CN" altLang="en-US" sz="1800" b="1" dirty="0">
                <a:latin typeface="宋体" panose="02010600030101010101" pitchFamily="2" charset="-122"/>
                <a:ea typeface="宋体" panose="02010600030101010101" pitchFamily="2" charset="-122"/>
              </a:rPr>
              <a:t>必须在循环等结构中、变量的先声明后使用等），这些是伴随语法分析过程，作为语义动作实现</a:t>
            </a:r>
            <a:endParaRPr lang="en-US" altLang="zh-CN" sz="1800" b="1" dirty="0">
              <a:latin typeface="宋体" panose="02010600030101010101" pitchFamily="2" charset="-122"/>
              <a:ea typeface="宋体" panose="02010600030101010101" pitchFamily="2" charset="-122"/>
            </a:endParaRPr>
          </a:p>
          <a:p>
            <a:pPr lvl="2"/>
            <a:r>
              <a:rPr lang="zh-CN" altLang="en-US" sz="2000" b="1" dirty="0">
                <a:latin typeface="宋体" panose="02010600030101010101" pitchFamily="2" charset="-122"/>
                <a:ea typeface="宋体" panose="02010600030101010101" pitchFamily="2" charset="-122"/>
              </a:rPr>
              <a:t>类型检查</a:t>
            </a:r>
            <a:endParaRPr lang="en-US" altLang="zh-CN" sz="2000" b="1" dirty="0">
              <a:latin typeface="宋体" panose="02010600030101010101" pitchFamily="2" charset="-122"/>
              <a:ea typeface="宋体" panose="02010600030101010101" pitchFamily="2" charset="-122"/>
            </a:endParaRPr>
          </a:p>
          <a:p>
            <a:pPr lvl="3"/>
            <a:r>
              <a:rPr lang="zh-CN" altLang="en-US" sz="1800" b="1" dirty="0">
                <a:latin typeface="宋体" panose="02010600030101010101" pitchFamily="2" charset="-122"/>
                <a:ea typeface="宋体" panose="02010600030101010101" pitchFamily="2" charset="-122"/>
              </a:rPr>
              <a:t>检查运算符与运算对象的类型是否匹配，不匹配要报错</a:t>
            </a:r>
            <a:endParaRPr lang="en-US" altLang="zh-CN" sz="1800" b="1" dirty="0">
              <a:latin typeface="宋体" panose="02010600030101010101" pitchFamily="2" charset="-122"/>
              <a:ea typeface="宋体" panose="02010600030101010101" pitchFamily="2" charset="-122"/>
            </a:endParaRPr>
          </a:p>
          <a:p>
            <a:pPr lvl="3"/>
            <a:r>
              <a:rPr lang="zh-CN" altLang="en-US" sz="1800" b="1" dirty="0">
                <a:latin typeface="宋体" panose="02010600030101010101" pitchFamily="2" charset="-122"/>
                <a:ea typeface="宋体" panose="02010600030101010101" pitchFamily="2" charset="-122"/>
              </a:rPr>
              <a:t>如果语言要求进行自动的类型转换，则编译器在检测到类型不匹配时，要进行插入自动的类型转换，如果没有合适的规则插入，再报错</a:t>
            </a:r>
            <a:endParaRPr lang="en-US" altLang="zh-CN" sz="1800" b="1" dirty="0">
              <a:latin typeface="宋体" panose="02010600030101010101" pitchFamily="2" charset="-122"/>
              <a:ea typeface="宋体" panose="02010600030101010101" pitchFamily="2" charset="-122"/>
            </a:endParaRPr>
          </a:p>
          <a:p>
            <a:pPr lvl="1"/>
            <a:endParaRPr lang="en-US" altLang="zh-CN"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生成中间代码（５）</a:t>
            </a:r>
            <a:endParaRPr lang="zh-CN" altLang="en-US" dirty="0">
              <a:latin typeface="宋体" panose="02010600030101010101" pitchFamily="2" charset="-122"/>
              <a:ea typeface="宋体" panose="02010600030101010101" pitchFamily="2" charset="-122"/>
            </a:endParaRPr>
          </a:p>
        </p:txBody>
      </p:sp>
      <p:sp>
        <p:nvSpPr>
          <p:cNvPr id="158723" name="Rectangle 11"/>
          <p:cNvSpPr>
            <a:spLocks noGrp="1"/>
          </p:cNvSpPr>
          <p:nvPr>
            <p:ph idx="1"/>
          </p:nvPr>
        </p:nvSpPr>
        <p:spPr>
          <a:xfrm>
            <a:off x="592138" y="1371600"/>
            <a:ext cx="8012112" cy="4953000"/>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左值和右值</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左值是指存储位置，而右值是指存放的值</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赋值号两侧都可以是表达式，但是赋值号左侧的表达式最终应该得到一个左值，而对于右侧的表达式，采用的则是其右值</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标识符，根据其出现位置的不同而被采用左值或右值</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常量（例如２）只有右值</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静态检查要保证左值、右值出现在恰当的位置</a:t>
            </a:r>
            <a:endParaRPr lang="en-US" altLang="zh-CN" b="1" dirty="0">
              <a:latin typeface="宋体" panose="02010600030101010101" pitchFamily="2" charset="-122"/>
              <a:ea typeface="宋体" panose="02010600030101010101" pitchFamily="2" charset="-122"/>
            </a:endParaRPr>
          </a:p>
          <a:p>
            <a:pPr lvl="1"/>
            <a:endParaRPr lang="en-US" altLang="zh-CN"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生成中间代码（６）</a:t>
            </a:r>
            <a:endParaRPr lang="zh-CN" altLang="en-US" dirty="0">
              <a:latin typeface="宋体" panose="02010600030101010101" pitchFamily="2" charset="-122"/>
              <a:ea typeface="宋体" panose="02010600030101010101" pitchFamily="2" charset="-122"/>
            </a:endParaRPr>
          </a:p>
        </p:txBody>
      </p:sp>
      <p:sp>
        <p:nvSpPr>
          <p:cNvPr id="158723" name="Rectangle 11"/>
          <p:cNvSpPr>
            <a:spLocks noGrp="1" noChangeArrowheads="1"/>
          </p:cNvSpPr>
          <p:nvPr>
            <p:ph idx="1"/>
          </p:nvPr>
        </p:nvSpPr>
        <p:spPr>
          <a:xfrm>
            <a:off x="592138" y="1371600"/>
            <a:ext cx="8156575" cy="49530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类型检查</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确保一个构造的类型符合上下文的期望</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if ( expr ) </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stmt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中，</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expr</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的值应该是</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boolean</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型的</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几个例子：注意强制类型转换和重载</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S→id</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E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S.type</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if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id.type</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E.type</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then void  else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type_error</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S→if</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E then S</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zh-CN" altLang="en-US" sz="1800" b="1" i="0" u="none" strike="noStrike" kern="0" cap="none" spc="0" normalizeH="0" baseline="-2500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S.type</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if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E.type</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boolean</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then S</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.type</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else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type_error</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E→E</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[E</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E.type</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if E</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.type = integer   and</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90000"/>
              </a:lnSpc>
              <a:spcBef>
                <a:spcPct val="20000"/>
              </a:spcBef>
              <a:spcAft>
                <a:spcPct val="0"/>
              </a:spcAft>
              <a:buClr>
                <a:srgbClr val="063DE8"/>
              </a:buClr>
              <a:buSzPct val="70000"/>
              <a:buFont typeface="Wingdings" panose="05000000000000000000"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E</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.type = array(</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s,t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then t</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90000"/>
              </a:lnSpc>
              <a:spcBef>
                <a:spcPct val="20000"/>
              </a:spcBef>
              <a:spcAft>
                <a:spcPct val="0"/>
              </a:spcAft>
              <a:buClr>
                <a:srgbClr val="063DE8"/>
              </a:buClr>
              <a:buSzPct val="70000"/>
              <a:buFont typeface="Wingdings" panose="05000000000000000000"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else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type_error</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E→E</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op E</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rPr>
              <a:t>2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1" u="none" strike="noStrike" kern="0" cap="none" spc="0" normalizeH="0" baseline="0" noProof="0" dirty="0" err="1">
                <a:ln>
                  <a:noFill/>
                </a:ln>
                <a:solidFill>
                  <a:schemeClr val="tx1"/>
                </a:solidFill>
                <a:effectLst/>
                <a:uLnTx/>
                <a:uFillTx/>
                <a:latin typeface="+mn-lt"/>
                <a:ea typeface="宋体" panose="02010600030101010101" pitchFamily="2" charset="-122"/>
              </a:rPr>
              <a:t>E.type</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if </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E</a:t>
            </a:r>
            <a:r>
              <a:rPr kumimoji="0" lang="en-US" altLang="zh-CN" sz="1800" b="1"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.type</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integer</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and </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E</a:t>
            </a:r>
            <a:r>
              <a:rPr kumimoji="0" lang="en-US" altLang="zh-CN" sz="1800" b="1" i="1"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.type</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integer</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then </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integer</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else if </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E</a:t>
            </a:r>
            <a:r>
              <a:rPr kumimoji="0" lang="en-US" altLang="zh-CN" sz="1800" b="1"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.type</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integer</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and </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E</a:t>
            </a:r>
            <a:r>
              <a:rPr kumimoji="0" lang="en-US" altLang="zh-CN" sz="1800" b="1" i="1"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.type</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real</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then </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real</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else if </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E</a:t>
            </a:r>
            <a:r>
              <a:rPr kumimoji="0" lang="en-US" altLang="zh-CN" sz="1800" b="1"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.type</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real</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and </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E</a:t>
            </a:r>
            <a:r>
              <a:rPr kumimoji="0" lang="en-US" altLang="zh-CN" sz="1800" b="1" i="1"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.type</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integer</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then </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real</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else if </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E</a:t>
            </a:r>
            <a:r>
              <a:rPr kumimoji="0" lang="en-US" altLang="zh-CN" sz="1800" b="1" i="1" u="none" strike="noStrike" kern="0" cap="none" spc="0" normalizeH="0" baseline="-25000" noProof="0" dirty="0">
                <a:ln>
                  <a:noFill/>
                </a:ln>
                <a:solidFill>
                  <a:schemeClr val="tx1"/>
                </a:solidFill>
                <a:effectLst/>
                <a:uLnTx/>
                <a:uFillTx/>
                <a:latin typeface="+mn-lt"/>
                <a:ea typeface="宋体" panose="02010600030101010101" pitchFamily="2" charset="-122"/>
              </a:rPr>
              <a:t>1</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.type</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real</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and </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E</a:t>
            </a:r>
            <a:r>
              <a:rPr kumimoji="0" lang="en-US" altLang="zh-CN" sz="1800" b="1" i="1" u="none" strike="noStrike" kern="0" cap="none" spc="0" normalizeH="0" baseline="-25000" noProof="0" dirty="0">
                <a:ln>
                  <a:noFill/>
                </a:ln>
                <a:solidFill>
                  <a:schemeClr val="tx1"/>
                </a:solidFill>
                <a:effectLst/>
                <a:uLnTx/>
                <a:uFillTx/>
                <a:latin typeface="+mn-lt"/>
                <a:ea typeface="宋体" panose="02010600030101010101" pitchFamily="2" charset="-122"/>
              </a:rPr>
              <a:t>2</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.type</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real</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then </a:t>
            </a:r>
            <a:r>
              <a:rPr kumimoji="0" lang="en-US" altLang="zh-CN" sz="1800" b="1" i="1" u="none" strike="noStrike" kern="0" cap="none" spc="0" normalizeH="0" baseline="0" noProof="0" dirty="0">
                <a:ln>
                  <a:noFill/>
                </a:ln>
                <a:solidFill>
                  <a:schemeClr val="tx1"/>
                </a:solidFill>
                <a:effectLst/>
                <a:uLnTx/>
                <a:uFillTx/>
                <a:latin typeface="+mn-lt"/>
                <a:ea typeface="宋体" panose="02010600030101010101" pitchFamily="2" charset="-122"/>
              </a:rPr>
              <a:t>real</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else </a:t>
            </a:r>
            <a:r>
              <a:rPr kumimoji="0" lang="en-US" altLang="zh-CN" sz="1800" b="1" i="1" u="none" strike="noStrike" kern="0" cap="none" spc="0" normalizeH="0" baseline="0" noProof="0" dirty="0" err="1">
                <a:ln>
                  <a:noFill/>
                </a:ln>
                <a:solidFill>
                  <a:schemeClr val="tx1"/>
                </a:solidFill>
                <a:effectLst/>
                <a:uLnTx/>
                <a:uFillTx/>
                <a:latin typeface="+mn-lt"/>
                <a:ea typeface="宋体" panose="02010600030101010101" pitchFamily="2" charset="-122"/>
              </a:rPr>
              <a:t>type_error</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生成中间代码（</a:t>
            </a:r>
            <a:r>
              <a:rPr lang="en-US" altLang="zh-CN" dirty="0">
                <a:latin typeface="宋体" panose="02010600030101010101" pitchFamily="2" charset="-122"/>
                <a:ea typeface="宋体" panose="02010600030101010101" pitchFamily="2" charset="-122"/>
              </a:rPr>
              <a:t>7</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62819" name="Rectangle 11"/>
          <p:cNvSpPr>
            <a:spLocks noGrp="1"/>
          </p:cNvSpPr>
          <p:nvPr>
            <p:ph idx="1"/>
          </p:nvPr>
        </p:nvSpPr>
        <p:spPr>
          <a:xfrm>
            <a:off x="592138" y="1371600"/>
            <a:ext cx="7847012" cy="4953000"/>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三地址代码</a:t>
            </a:r>
            <a:endParaRPr lang="en-US" altLang="zh-CN"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定义：三地址指令格式形如</a:t>
            </a:r>
            <a:r>
              <a:rPr lang="en-US" altLang="zh-CN" b="1" dirty="0">
                <a:latin typeface="宋体" panose="02010600030101010101" pitchFamily="2" charset="-122"/>
                <a:ea typeface="宋体" panose="02010600030101010101" pitchFamily="2" charset="-122"/>
              </a:rPr>
              <a:t>x</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 y op z</a:t>
            </a:r>
            <a:endParaRPr lang="en-US" altLang="zh-CN" b="1" dirty="0">
              <a:latin typeface="宋体" panose="02010600030101010101" pitchFamily="2" charset="-122"/>
              <a:ea typeface="宋体" panose="02010600030101010101" pitchFamily="2" charset="-122"/>
            </a:endParaRPr>
          </a:p>
          <a:p>
            <a:pPr lvl="2"/>
            <a:r>
              <a:rPr lang="en-US" altLang="zh-CN" b="1" dirty="0">
                <a:latin typeface="宋体" panose="02010600030101010101" pitchFamily="2" charset="-122"/>
                <a:ea typeface="宋体" panose="02010600030101010101" pitchFamily="2" charset="-122"/>
              </a:rPr>
              <a:t>Op</a:t>
            </a:r>
            <a:r>
              <a:rPr lang="zh-CN" altLang="en-US" b="1" dirty="0">
                <a:latin typeface="宋体" panose="02010600030101010101" pitchFamily="2" charset="-122"/>
                <a:ea typeface="宋体" panose="02010600030101010101" pitchFamily="2" charset="-122"/>
              </a:rPr>
              <a:t>是运算符，</a:t>
            </a:r>
            <a:r>
              <a:rPr lang="en-US" altLang="zh-CN" b="1" dirty="0">
                <a:latin typeface="宋体" panose="02010600030101010101" pitchFamily="2" charset="-122"/>
                <a:ea typeface="宋体" panose="02010600030101010101" pitchFamily="2" charset="-122"/>
              </a:rPr>
              <a:t>x</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y</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z</a:t>
            </a:r>
            <a:r>
              <a:rPr lang="zh-CN" altLang="en-US" b="1" dirty="0">
                <a:latin typeface="宋体" panose="02010600030101010101" pitchFamily="2" charset="-122"/>
                <a:ea typeface="宋体" panose="02010600030101010101" pitchFamily="2" charset="-122"/>
              </a:rPr>
              <a:t>可以是变量、常量、临时量等</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如果没有显式的转移指令，三地址代码将顺序执行</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有些操作要分解成多个三地址指令完成，如数组将由下面的两条指令处理（数组元素访问占用两个地址）</a:t>
            </a:r>
            <a:endParaRPr lang="en-US" altLang="zh-CN" b="1" dirty="0">
              <a:latin typeface="宋体" panose="02010600030101010101" pitchFamily="2" charset="-122"/>
              <a:ea typeface="宋体" panose="02010600030101010101" pitchFamily="2" charset="-122"/>
            </a:endParaRPr>
          </a:p>
          <a:p>
            <a:pPr marL="1371600" lvl="3" indent="0">
              <a:buNone/>
            </a:pPr>
            <a:r>
              <a:rPr lang="en-US" altLang="zh-CN" b="1" dirty="0">
                <a:latin typeface="宋体" panose="02010600030101010101" pitchFamily="2" charset="-122"/>
                <a:ea typeface="宋体" panose="02010600030101010101" pitchFamily="2" charset="-122"/>
              </a:rPr>
              <a:t>x[y] = z</a:t>
            </a:r>
            <a:endParaRPr lang="en-US" altLang="zh-CN" b="1" dirty="0">
              <a:latin typeface="宋体" panose="02010600030101010101" pitchFamily="2" charset="-122"/>
              <a:ea typeface="宋体" panose="02010600030101010101" pitchFamily="2" charset="-122"/>
            </a:endParaRPr>
          </a:p>
          <a:p>
            <a:pPr marL="1371600" lvl="3" indent="0">
              <a:buNone/>
            </a:pPr>
            <a:r>
              <a:rPr lang="en-US" altLang="zh-CN" b="1" dirty="0">
                <a:latin typeface="宋体" panose="02010600030101010101" pitchFamily="2" charset="-122"/>
                <a:ea typeface="宋体" panose="02010600030101010101" pitchFamily="2" charset="-122"/>
              </a:rPr>
              <a:t>x = y[z]</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转移指令如下</a:t>
            </a:r>
            <a:endParaRPr lang="en-US" altLang="zh-CN" b="1" dirty="0">
              <a:latin typeface="宋体" panose="02010600030101010101" pitchFamily="2" charset="-122"/>
              <a:ea typeface="宋体" panose="02010600030101010101" pitchFamily="2" charset="-122"/>
            </a:endParaRPr>
          </a:p>
          <a:p>
            <a:pPr marL="1371600" lvl="3" indent="0">
              <a:buNone/>
            </a:pPr>
            <a:r>
              <a:rPr lang="en-US" altLang="zh-CN" b="1" dirty="0">
                <a:latin typeface="宋体" panose="02010600030101010101" pitchFamily="2" charset="-122"/>
                <a:ea typeface="宋体" panose="02010600030101010101" pitchFamily="2" charset="-122"/>
              </a:rPr>
              <a:t>ifFalse</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x goto L	</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x</a:t>
            </a:r>
            <a:r>
              <a:rPr lang="zh-CN" altLang="en-US" b="1" dirty="0">
                <a:latin typeface="宋体" panose="02010600030101010101" pitchFamily="2" charset="-122"/>
                <a:ea typeface="宋体" panose="02010600030101010101" pitchFamily="2" charset="-122"/>
              </a:rPr>
              <a:t>为假，跳转到标号为</a:t>
            </a:r>
            <a:r>
              <a:rPr lang="en-US" altLang="zh-CN" b="1" dirty="0">
                <a:latin typeface="宋体" panose="02010600030101010101" pitchFamily="2" charset="-122"/>
                <a:ea typeface="宋体" panose="02010600030101010101" pitchFamily="2" charset="-122"/>
              </a:rPr>
              <a:t>L</a:t>
            </a:r>
            <a:r>
              <a:rPr lang="zh-CN" altLang="en-US" b="1" dirty="0">
                <a:latin typeface="宋体" panose="02010600030101010101" pitchFamily="2" charset="-122"/>
                <a:ea typeface="宋体" panose="02010600030101010101" pitchFamily="2" charset="-122"/>
              </a:rPr>
              <a:t>的指令</a:t>
            </a:r>
            <a:endParaRPr lang="en-US" altLang="zh-CN" b="1" dirty="0">
              <a:latin typeface="宋体" panose="02010600030101010101" pitchFamily="2" charset="-122"/>
              <a:ea typeface="宋体" panose="02010600030101010101" pitchFamily="2" charset="-122"/>
            </a:endParaRPr>
          </a:p>
          <a:p>
            <a:pPr marL="1371600" lvl="3" indent="0">
              <a:buNone/>
            </a:pPr>
            <a:r>
              <a:rPr lang="en-US" altLang="zh-CN" b="1" dirty="0">
                <a:latin typeface="宋体" panose="02010600030101010101" pitchFamily="2" charset="-122"/>
                <a:ea typeface="宋体" panose="02010600030101010101" pitchFamily="2" charset="-122"/>
              </a:rPr>
              <a:t>ifTrue</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x goto L	</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x</a:t>
            </a:r>
            <a:r>
              <a:rPr lang="zh-CN" altLang="en-US" b="1" dirty="0">
                <a:latin typeface="宋体" panose="02010600030101010101" pitchFamily="2" charset="-122"/>
                <a:ea typeface="宋体" panose="02010600030101010101" pitchFamily="2" charset="-122"/>
              </a:rPr>
              <a:t>为真，跳转到标号为</a:t>
            </a:r>
            <a:r>
              <a:rPr lang="en-US" altLang="zh-CN" b="1" dirty="0">
                <a:latin typeface="宋体" panose="02010600030101010101" pitchFamily="2" charset="-122"/>
                <a:ea typeface="宋体" panose="02010600030101010101" pitchFamily="2" charset="-122"/>
              </a:rPr>
              <a:t>L</a:t>
            </a:r>
            <a:r>
              <a:rPr lang="zh-CN" altLang="en-US" b="1" dirty="0">
                <a:latin typeface="宋体" panose="02010600030101010101" pitchFamily="2" charset="-122"/>
                <a:ea typeface="宋体" panose="02010600030101010101" pitchFamily="2" charset="-122"/>
              </a:rPr>
              <a:t>的指令</a:t>
            </a:r>
            <a:endParaRPr lang="en-US" altLang="zh-CN" b="1" dirty="0">
              <a:latin typeface="宋体" panose="02010600030101010101" pitchFamily="2" charset="-122"/>
              <a:ea typeface="宋体" panose="02010600030101010101" pitchFamily="2" charset="-122"/>
            </a:endParaRPr>
          </a:p>
          <a:p>
            <a:pPr marL="1371600" lvl="3" indent="0">
              <a:buNone/>
            </a:pPr>
            <a:r>
              <a:rPr lang="en-US" altLang="zh-CN" b="1" dirty="0">
                <a:latin typeface="宋体" panose="02010600030101010101" pitchFamily="2" charset="-122"/>
                <a:ea typeface="宋体" panose="02010600030101010101" pitchFamily="2" charset="-122"/>
              </a:rPr>
              <a:t>goto</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L		</a:t>
            </a:r>
            <a:r>
              <a:rPr lang="zh-CN" altLang="en-US" b="1" dirty="0">
                <a:latin typeface="宋体" panose="02010600030101010101" pitchFamily="2" charset="-122"/>
                <a:ea typeface="宋体" panose="02010600030101010101" pitchFamily="2" charset="-122"/>
              </a:rPr>
              <a:t>    无条件跳转到标号为</a:t>
            </a:r>
            <a:r>
              <a:rPr lang="en-US" altLang="zh-CN" b="1" dirty="0">
                <a:latin typeface="宋体" panose="02010600030101010101" pitchFamily="2" charset="-122"/>
                <a:ea typeface="宋体" panose="02010600030101010101" pitchFamily="2" charset="-122"/>
              </a:rPr>
              <a:t>L</a:t>
            </a:r>
            <a:r>
              <a:rPr lang="zh-CN" altLang="en-US" b="1" dirty="0">
                <a:latin typeface="宋体" panose="02010600030101010101" pitchFamily="2" charset="-122"/>
                <a:ea typeface="宋体" panose="02010600030101010101" pitchFamily="2" charset="-122"/>
              </a:rPr>
              <a:t>的指令</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复写指令： </a:t>
            </a:r>
            <a:r>
              <a:rPr lang="en-US" altLang="zh-CN" b="1" dirty="0">
                <a:latin typeface="宋体" panose="02010600030101010101" pitchFamily="2" charset="-122"/>
                <a:ea typeface="宋体" panose="02010600030101010101" pitchFamily="2" charset="-122"/>
              </a:rPr>
              <a:t>x</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y</a:t>
            </a:r>
            <a:endParaRPr lang="en-US" altLang="zh-CN"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生成中间代码（</a:t>
            </a:r>
            <a:r>
              <a:rPr lang="en-US" altLang="zh-CN" dirty="0">
                <a:latin typeface="宋体" panose="02010600030101010101" pitchFamily="2" charset="-122"/>
                <a:ea typeface="宋体" panose="02010600030101010101" pitchFamily="2" charset="-122"/>
              </a:rPr>
              <a:t>8</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58723" name="Rectangle 11"/>
          <p:cNvSpPr>
            <a:spLocks noGrp="1" noChangeArrowheads="1"/>
          </p:cNvSpPr>
          <p:nvPr>
            <p:ph idx="1"/>
          </p:nvPr>
        </p:nvSpPr>
        <p:spPr>
          <a:xfrm>
            <a:off x="592138" y="1371600"/>
            <a:ext cx="4916488" cy="49530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语句的翻译</a:t>
            </a:r>
            <a:endParaRPr kumimoji="0" lang="en-US" altLang="zh-CN"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一个问题是如何实现语句内部控制流的变化？</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 </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if</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2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expr</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then</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2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stmt</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翻译如右图所示，其中</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2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ifFalse</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2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2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goto</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2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after</a:t>
            </a:r>
            <a:endParaRPr kumimoji="0" lang="en-US" altLang="zh-CN" sz="22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zh-CN" altLang="en-US" sz="2200" b="1"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实现了控制流的变化</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下页给出了对应的函数</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en-US" altLang="zh-CN" sz="20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If</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构造函数扩建了语法树的结点，并为相关属性赋值，申请新的标号</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en-US" altLang="zh-CN" sz="20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gen</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函数生成三地址代码</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2057400" marR="0" lvl="4"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其中调用</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expr</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和</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stmt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对应的函数，完成相关翻译</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pic>
        <p:nvPicPr>
          <p:cNvPr id="164868" name="Picture 2"/>
          <p:cNvPicPr>
            <a:picLocks noChangeAspect="1"/>
          </p:cNvPicPr>
          <p:nvPr/>
        </p:nvPicPr>
        <p:blipFill>
          <a:blip r:embed="rId1"/>
          <a:stretch>
            <a:fillRect/>
          </a:stretch>
        </p:blipFill>
        <p:spPr>
          <a:xfrm>
            <a:off x="5584825" y="1806575"/>
            <a:ext cx="3019425" cy="4543425"/>
          </a:xfrm>
          <a:prstGeom prst="rect">
            <a:avLst/>
          </a:prstGeom>
          <a:noFill/>
          <a:ln w="9525">
            <a:noFill/>
          </a:ln>
        </p:spPr>
      </p:pic>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生成中间代码（</a:t>
            </a:r>
            <a:r>
              <a:rPr lang="en-US" altLang="zh-CN" dirty="0">
                <a:latin typeface="宋体" panose="02010600030101010101" pitchFamily="2" charset="-122"/>
                <a:ea typeface="宋体" panose="02010600030101010101" pitchFamily="2" charset="-122"/>
              </a:rPr>
              <a:t>9</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pic>
        <p:nvPicPr>
          <p:cNvPr id="166915" name="Picture 2"/>
          <p:cNvPicPr>
            <a:picLocks noChangeAspect="1"/>
          </p:cNvPicPr>
          <p:nvPr/>
        </p:nvPicPr>
        <p:blipFill>
          <a:blip r:embed="rId1"/>
          <a:stretch>
            <a:fillRect/>
          </a:stretch>
        </p:blipFill>
        <p:spPr>
          <a:xfrm>
            <a:off x="381000" y="1700213"/>
            <a:ext cx="8408988" cy="4064000"/>
          </a:xfrm>
          <a:prstGeom prst="rect">
            <a:avLst/>
          </a:prstGeom>
          <a:noFill/>
          <a:ln w="9525">
            <a:noFill/>
          </a:ln>
        </p:spPr>
      </p:pic>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生成中间代码（</a:t>
            </a:r>
            <a:r>
              <a:rPr lang="en-US" altLang="zh-CN" dirty="0">
                <a:latin typeface="宋体" panose="02010600030101010101" pitchFamily="2" charset="-122"/>
                <a:ea typeface="宋体" panose="02010600030101010101" pitchFamily="2" charset="-122"/>
              </a:rPr>
              <a:t>10</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58723" name="Rectangle 11"/>
          <p:cNvSpPr>
            <a:spLocks noGrp="1" noChangeArrowheads="1"/>
          </p:cNvSpPr>
          <p:nvPr>
            <p:ph idx="1"/>
          </p:nvPr>
        </p:nvSpPr>
        <p:spPr>
          <a:xfrm>
            <a:off x="592138" y="1371600"/>
            <a:ext cx="7847013" cy="49530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表达式的翻译</a:t>
            </a:r>
            <a:endParaRPr kumimoji="0" lang="en-US" altLang="zh-CN"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为语法树中的每个运算符结点生成一个三地址代码（简单化处理）</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翻译过程中可能引入临时变量，如翻译</a:t>
            </a:r>
            <a:r>
              <a:rPr kumimoji="0" lang="en-US" altLang="zh-CN" sz="24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i-j+k</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为</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t1</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j</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t2</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t1</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k</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数组访问</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y[z]</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，要求数组名</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必须是标识符，所以不会出现多维数组，但是可以出现</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a[a[n]]</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b[c[d[3</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m-k]]]</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等</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要注意区分左值和右值，引入</a:t>
            </a:r>
            <a:r>
              <a:rPr kumimoji="0" lang="en-US" altLang="zh-CN" sz="22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lvalue</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和</a:t>
            </a:r>
            <a:r>
              <a:rPr kumimoji="0" lang="en-US" altLang="zh-CN" sz="22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rvalue</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表示</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2</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翻译为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t1</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用的是右值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t2</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2</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t1</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a[j]=</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*4</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翻译为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t1</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4</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a[j] = t1	/* </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用的是左值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Tree>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生成中间代码（</a:t>
            </a:r>
            <a:r>
              <a:rPr lang="en-US" altLang="zh-CN" dirty="0">
                <a:latin typeface="宋体" panose="02010600030101010101" pitchFamily="2" charset="-122"/>
                <a:ea typeface="宋体" panose="02010600030101010101" pitchFamily="2" charset="-122"/>
              </a:rPr>
              <a:t>11</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58723" name="Rectangle 11"/>
          <p:cNvSpPr>
            <a:spLocks noGrp="1" noChangeArrowheads="1"/>
          </p:cNvSpPr>
          <p:nvPr>
            <p:ph idx="1"/>
          </p:nvPr>
        </p:nvSpPr>
        <p:spPr>
          <a:xfrm>
            <a:off x="592138" y="1371600"/>
            <a:ext cx="8083550" cy="2705100"/>
          </a:xfrm>
        </p:spPr>
        <p:txBody>
          <a:bodyPr vert="horz" wrap="square" lIns="92075" tIns="46038" rIns="92075" bIns="46038" numCol="1" anchor="t" anchorCtr="0" compatLnSpc="1"/>
          <a:lstStyle/>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对左值访问的处理</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对于数组访问</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y[z]</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，会生成一个表达式结点</a:t>
            </a:r>
            <a:r>
              <a:rPr kumimoji="0" lang="en-US" altLang="zh-CN" sz="20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Access</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0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y</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0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z</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对于</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，用其左值</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对于</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，在必要时调用</a:t>
            </a:r>
            <a:r>
              <a:rPr kumimoji="0" lang="en-US" altLang="zh-CN" sz="20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rvalue</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代码计算表达式</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的值</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注意下图中第</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4</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行的代码</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71600" marR="0" lvl="3" indent="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a[2</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k]	</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生成的代码是</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2</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k</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71600" marR="0" lvl="3" indent="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pic>
        <p:nvPicPr>
          <p:cNvPr id="171012" name="Picture 2"/>
          <p:cNvPicPr>
            <a:picLocks noChangeAspect="1"/>
          </p:cNvPicPr>
          <p:nvPr/>
        </p:nvPicPr>
        <p:blipFill>
          <a:blip r:embed="rId1"/>
          <a:stretch>
            <a:fillRect/>
          </a:stretch>
        </p:blipFill>
        <p:spPr>
          <a:xfrm>
            <a:off x="1062038" y="3948113"/>
            <a:ext cx="7470775" cy="2505075"/>
          </a:xfrm>
          <a:prstGeom prst="rect">
            <a:avLst/>
          </a:prstGeom>
          <a:noFill/>
          <a:ln w="9525">
            <a:noFill/>
          </a:ln>
        </p:spPr>
      </p:pic>
    </p:spTree>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生成中间代码（</a:t>
            </a:r>
            <a:r>
              <a:rPr lang="en-US" altLang="zh-CN" dirty="0">
                <a:latin typeface="宋体" panose="02010600030101010101" pitchFamily="2" charset="-122"/>
                <a:ea typeface="宋体" panose="02010600030101010101" pitchFamily="2" charset="-122"/>
              </a:rPr>
              <a:t>12</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58723" name="Rectangle 11"/>
          <p:cNvSpPr>
            <a:spLocks noGrp="1" noChangeArrowheads="1"/>
          </p:cNvSpPr>
          <p:nvPr>
            <p:ph idx="1"/>
          </p:nvPr>
        </p:nvSpPr>
        <p:spPr>
          <a:xfrm>
            <a:off x="468313" y="1371600"/>
            <a:ext cx="8351838" cy="4865688"/>
          </a:xfrm>
        </p:spPr>
        <p:txBody>
          <a:bodyPr vert="horz" wrap="square" lIns="92075" tIns="46038" rIns="92075" bIns="46038" numCol="1" anchor="t" anchorCtr="0" compatLnSpc="1"/>
          <a:lstStyle/>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对右值访问的处理</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下页的图给出了函数</a:t>
            </a:r>
            <a:r>
              <a:rPr kumimoji="0" lang="en-US" altLang="zh-CN" sz="18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rvalue</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，其生成相关的指令序列，并可能生成语法树的新的结点</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对于形如</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op</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的表达式</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，生成如下序列（伪码），并生成对应于标识符</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的结点</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828800" marR="0" lvl="4"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6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rvalue</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6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828800" marR="0" lvl="4"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6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rvalue</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6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828800" marR="0" lvl="4"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6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y’</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op</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对于数组访问</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2057400" marR="0" lvl="4"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调用</a:t>
            </a:r>
            <a:r>
              <a:rPr kumimoji="0" lang="en-US" altLang="zh-CN" sz="16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lvalue</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返回一个数组访问</a:t>
            </a:r>
            <a:r>
              <a:rPr kumimoji="0" lang="en-US" altLang="zh-CN" sz="16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6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，其中</a:t>
            </a:r>
            <a:r>
              <a:rPr kumimoji="0" lang="en-US" altLang="zh-CN" sz="16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保存了数组访问的偏移量，是个标识符</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2057400" marR="0" lvl="4"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创建临时变量</a:t>
            </a:r>
            <a:r>
              <a:rPr kumimoji="0" lang="en-US" altLang="zh-CN" sz="16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 </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，生成</a:t>
            </a:r>
            <a:r>
              <a:rPr kumimoji="0" lang="en-US" altLang="zh-CN" sz="16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6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格式的指令</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2057400" marR="0" lvl="4"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返回对应于</a:t>
            </a:r>
            <a:r>
              <a:rPr kumimoji="0" lang="en-US" altLang="zh-CN" sz="16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的结点</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对于</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8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的表达式</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2057400" marR="0" lvl="4"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计算</a:t>
            </a:r>
            <a:r>
              <a:rPr kumimoji="0" lang="en-US" altLang="zh-CN" sz="16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16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rvalue</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6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2057400" marR="0" lvl="4"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生成</a:t>
            </a:r>
            <a:r>
              <a:rPr kumimoji="0" lang="en-US" altLang="zh-CN" sz="16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lvalue</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6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6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z’</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形式的指令</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2057400" marR="0" lvl="4"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返回结点</a:t>
            </a:r>
            <a:r>
              <a:rPr kumimoji="0" lang="en-US" altLang="zh-CN" sz="16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Tree>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5106" name="Picture 2"/>
          <p:cNvPicPr>
            <a:picLocks noChangeAspect="1"/>
          </p:cNvPicPr>
          <p:nvPr/>
        </p:nvPicPr>
        <p:blipFill>
          <a:blip r:embed="rId1"/>
          <a:stretch>
            <a:fillRect/>
          </a:stretch>
        </p:blipFill>
        <p:spPr>
          <a:xfrm>
            <a:off x="914400" y="206375"/>
            <a:ext cx="7315200" cy="6499225"/>
          </a:xfrm>
          <a:prstGeom prst="rect">
            <a:avLst/>
          </a:prstGeom>
          <a:noFill/>
          <a:ln w="9525">
            <a:noFill/>
          </a:ln>
        </p:spPr>
      </p:pic>
    </p:spTree>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3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生成中间代码（</a:t>
            </a:r>
            <a:r>
              <a:rPr lang="en-US" altLang="zh-CN" dirty="0">
                <a:latin typeface="宋体" panose="02010600030101010101" pitchFamily="2" charset="-122"/>
                <a:ea typeface="宋体" panose="02010600030101010101" pitchFamily="2" charset="-122"/>
              </a:rPr>
              <a:t>13</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58723" name="Rectangle 11"/>
          <p:cNvSpPr>
            <a:spLocks noGrp="1" noChangeArrowheads="1"/>
          </p:cNvSpPr>
          <p:nvPr>
            <p:ph idx="1"/>
          </p:nvPr>
        </p:nvSpPr>
        <p:spPr>
          <a:xfrm>
            <a:off x="592138" y="1371600"/>
            <a:ext cx="7847013" cy="4953000"/>
          </a:xfrm>
        </p:spPr>
        <p:txBody>
          <a:bodyPr vert="horz" wrap="square" lIns="92075" tIns="46038" rIns="92075" bIns="46038" numCol="1" anchor="t" anchorCtr="0" compatLnSpc="1"/>
          <a:lstStyle/>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例子</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en-US" altLang="zh-CN" sz="22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2*a[j-k]</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514350" marR="0" lvl="1" indent="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生成：</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t3 = j – k</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t2 = a[t3]</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t1 = 2*t2</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en-US" altLang="zh-CN" sz="22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t1</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Tree>
  </p:cSld>
  <p:clrMapOvr>
    <a:masterClrMapping/>
  </p:clrMapOvr>
  <p:transition spd="slow"/>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生成中间代码（</a:t>
            </a:r>
            <a:r>
              <a:rPr lang="en-US" altLang="zh-CN" dirty="0">
                <a:latin typeface="宋体" panose="02010600030101010101" pitchFamily="2" charset="-122"/>
                <a:ea typeface="宋体" panose="02010600030101010101" pitchFamily="2" charset="-122"/>
              </a:rPr>
              <a:t>14</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81923" name="Rectangle 11"/>
          <p:cNvSpPr>
            <a:spLocks noGrp="1" noChangeArrowheads="1"/>
          </p:cNvSpPr>
          <p:nvPr>
            <p:ph idx="1"/>
          </p:nvPr>
        </p:nvSpPr>
        <p:spPr>
          <a:xfrm>
            <a:off x="685800" y="1341438"/>
            <a:ext cx="7847013" cy="49530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改进表达式的代码</a:t>
            </a:r>
            <a:endParaRPr kumimoji="0"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在优化阶段减少拷贝指令的数目</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a:t>
            </a: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没有其他的使用点，则可以将左侧的序列简化为右侧的序列</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14450" marR="0" lvl="3" indent="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+ 1			</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+ 1</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14450" marR="0" lvl="3" indent="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t</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通过某种回填技术减少拷贝指令</a:t>
            </a:r>
            <a:endPar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71600" marR="0" lvl="3" indent="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对于</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j</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k</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，暂时生成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null</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j</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k</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71600" marR="0" lvl="3" indent="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如果其后发现</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j</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k</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是一个赋值语句的右部，且左部是一个标量（可以简单理解为是非数组访问），例如</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，则直接生成 </a:t>
            </a:r>
            <a:r>
              <a:rPr kumimoji="0" lang="en-US" altLang="zh-CN" sz="20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j</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k</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根据上下文，减少指令的生成</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如果三地址赋值语句左部已经是一个数组元素，则右部只能是一个单地址的量</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Tree>
  </p:cSld>
  <p:clrMapOvr>
    <a:masterClrMapping/>
  </p:clrMapOvr>
  <p:transition spd="slow"/>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作业</a:t>
            </a:r>
            <a:endParaRPr lang="zh-CN" altLang="en-US" dirty="0">
              <a:latin typeface="宋体" panose="02010600030101010101" pitchFamily="2" charset="-122"/>
              <a:ea typeface="宋体" panose="02010600030101010101" pitchFamily="2" charset="-122"/>
            </a:endParaRPr>
          </a:p>
        </p:txBody>
      </p:sp>
      <p:sp>
        <p:nvSpPr>
          <p:cNvPr id="180227" name="Rectangle 11"/>
          <p:cNvSpPr>
            <a:spLocks noGrp="1"/>
          </p:cNvSpPr>
          <p:nvPr>
            <p:ph idx="1"/>
          </p:nvPr>
        </p:nvSpPr>
        <p:spPr>
          <a:xfrm>
            <a:off x="468313" y="1341438"/>
            <a:ext cx="8207375" cy="4953000"/>
          </a:xfrm>
        </p:spPr>
        <p:txBody>
          <a:bodyPr vert="horz" wrap="square" lIns="92075" tIns="46038" rIns="92075" bIns="46038" anchor="t" anchorCtr="0"/>
          <a:p>
            <a:r>
              <a:rPr lang="zh-CN" altLang="en-US" sz="2000" b="1" dirty="0">
                <a:latin typeface="宋体" panose="02010600030101010101" pitchFamily="2" charset="-122"/>
                <a:ea typeface="宋体" panose="02010600030101010101" pitchFamily="2" charset="-122"/>
              </a:rPr>
              <a:t>第一次作业</a:t>
            </a:r>
            <a:endParaRPr lang="en-US" altLang="zh-CN" sz="2000" b="1" dirty="0">
              <a:latin typeface="宋体" panose="02010600030101010101" pitchFamily="2" charset="-122"/>
              <a:ea typeface="宋体" panose="02010600030101010101" pitchFamily="2" charset="-122"/>
            </a:endParaRPr>
          </a:p>
          <a:p>
            <a:pPr lvl="1"/>
            <a:r>
              <a:rPr lang="en-US" altLang="zh-CN" sz="1800" b="1" dirty="0">
                <a:latin typeface="宋体" panose="02010600030101010101" pitchFamily="2" charset="-122"/>
                <a:ea typeface="宋体" panose="02010600030101010101" pitchFamily="2" charset="-122"/>
              </a:rPr>
              <a:t>2.2.1</a:t>
            </a:r>
            <a:r>
              <a:rPr lang="zh-CN" altLang="en-US" sz="1800" b="1" dirty="0">
                <a:latin typeface="宋体" panose="02010600030101010101" pitchFamily="2" charset="-122"/>
                <a:ea typeface="宋体" panose="02010600030101010101" pitchFamily="2" charset="-122"/>
              </a:rPr>
              <a:t>：考虑下面的上下文无关文法：</a:t>
            </a:r>
            <a:endParaRPr lang="en-US" altLang="zh-CN" sz="1800" b="1" dirty="0">
              <a:latin typeface="宋体" panose="02010600030101010101" pitchFamily="2" charset="-122"/>
              <a:ea typeface="宋体" panose="02010600030101010101" pitchFamily="2" charset="-122"/>
            </a:endParaRPr>
          </a:p>
          <a:p>
            <a:pPr marL="914400" lvl="2" indent="0">
              <a:buNone/>
            </a:pPr>
            <a:r>
              <a:rPr lang="en-US" altLang="zh-CN" sz="1800" b="1" dirty="0">
                <a:latin typeface="宋体" panose="02010600030101010101" pitchFamily="2" charset="-122"/>
                <a:ea typeface="宋体" panose="02010600030101010101" pitchFamily="2" charset="-122"/>
              </a:rPr>
              <a:t>S</a:t>
            </a:r>
            <a:r>
              <a:rPr lang="zh-CN" altLang="en-US" sz="1800" b="1" dirty="0">
                <a:latin typeface="宋体" panose="02010600030101010101" pitchFamily="2" charset="-122"/>
                <a:ea typeface="宋体" panose="02010600030101010101" pitchFamily="2" charset="-122"/>
              </a:rPr>
              <a:t>→</a:t>
            </a:r>
            <a:r>
              <a:rPr lang="en-US" altLang="zh-CN" sz="1800" b="1" dirty="0">
                <a:latin typeface="宋体" panose="02010600030101010101" pitchFamily="2" charset="-122"/>
                <a:ea typeface="宋体" panose="02010600030101010101" pitchFamily="2" charset="-122"/>
              </a:rPr>
              <a:t>S S + | S S * | a</a:t>
            </a:r>
            <a:endParaRPr lang="en-US" altLang="zh-CN" sz="1800" b="1" dirty="0">
              <a:latin typeface="宋体" panose="02010600030101010101" pitchFamily="2" charset="-122"/>
              <a:ea typeface="宋体" panose="02010600030101010101" pitchFamily="2" charset="-122"/>
            </a:endParaRPr>
          </a:p>
          <a:p>
            <a:pPr marL="914400" lvl="2" indent="0">
              <a:buNone/>
            </a:pPr>
            <a:r>
              <a:rPr lang="en-US" altLang="zh-CN" sz="1800" b="1" dirty="0">
                <a:latin typeface="宋体" panose="02010600030101010101" pitchFamily="2" charset="-122"/>
                <a:ea typeface="宋体" panose="02010600030101010101" pitchFamily="2" charset="-122"/>
              </a:rPr>
              <a:t>1) </a:t>
            </a:r>
            <a:r>
              <a:rPr lang="zh-CN" altLang="en-US" sz="1800" b="1" dirty="0">
                <a:latin typeface="宋体" panose="02010600030101010101" pitchFamily="2" charset="-122"/>
                <a:ea typeface="宋体" panose="02010600030101010101" pitchFamily="2" charset="-122"/>
              </a:rPr>
              <a:t>试说明如何使用文法生成串</a:t>
            </a:r>
            <a:r>
              <a:rPr lang="en-US" altLang="zh-CN" sz="1800" b="1" dirty="0">
                <a:latin typeface="宋体" panose="02010600030101010101" pitchFamily="2" charset="-122"/>
                <a:ea typeface="宋体" panose="02010600030101010101" pitchFamily="2" charset="-122"/>
              </a:rPr>
              <a:t>aa+a*</a:t>
            </a:r>
            <a:endParaRPr lang="en-US" altLang="zh-CN" sz="1800" b="1" dirty="0">
              <a:latin typeface="宋体" panose="02010600030101010101" pitchFamily="2" charset="-122"/>
              <a:ea typeface="宋体" panose="02010600030101010101" pitchFamily="2" charset="-122"/>
            </a:endParaRPr>
          </a:p>
          <a:p>
            <a:pPr marL="914400" lvl="2" indent="0">
              <a:buNone/>
            </a:pPr>
            <a:r>
              <a:rPr lang="en-US" altLang="zh-CN" sz="1800" b="1" dirty="0">
                <a:latin typeface="宋体" panose="02010600030101010101" pitchFamily="2" charset="-122"/>
                <a:ea typeface="宋体" panose="02010600030101010101" pitchFamily="2" charset="-122"/>
              </a:rPr>
              <a:t>2) </a:t>
            </a:r>
            <a:r>
              <a:rPr lang="zh-CN" altLang="en-US" sz="1800" b="1" dirty="0">
                <a:latin typeface="宋体" panose="02010600030101010101" pitchFamily="2" charset="-122"/>
                <a:ea typeface="宋体" panose="02010600030101010101" pitchFamily="2" charset="-122"/>
              </a:rPr>
              <a:t>试为这个串构造一颗语法分析树</a:t>
            </a:r>
            <a:endParaRPr lang="en-US" altLang="zh-CN" sz="1800" b="1" dirty="0">
              <a:latin typeface="宋体" panose="02010600030101010101" pitchFamily="2" charset="-122"/>
              <a:ea typeface="宋体" panose="02010600030101010101" pitchFamily="2" charset="-122"/>
            </a:endParaRPr>
          </a:p>
          <a:p>
            <a:pPr marL="914400" lvl="2" indent="0">
              <a:buNone/>
            </a:pPr>
            <a:r>
              <a:rPr lang="en-US" altLang="zh-CN" sz="1800" b="1" dirty="0">
                <a:latin typeface="宋体" panose="02010600030101010101" pitchFamily="2" charset="-122"/>
                <a:ea typeface="宋体" panose="02010600030101010101" pitchFamily="2" charset="-122"/>
              </a:rPr>
              <a:t>3</a:t>
            </a:r>
            <a:r>
              <a:rPr lang="zh-CN" altLang="en-US" sz="1800" b="1" dirty="0">
                <a:latin typeface="宋体" panose="02010600030101010101" pitchFamily="2" charset="-122"/>
                <a:ea typeface="宋体" panose="02010600030101010101" pitchFamily="2" charset="-122"/>
              </a:rPr>
              <a:t>）该文法生成的语言是什么？</a:t>
            </a:r>
            <a:endParaRPr lang="en-US" altLang="zh-CN" sz="1800" b="1" dirty="0">
              <a:latin typeface="宋体" panose="02010600030101010101" pitchFamily="2" charset="-122"/>
              <a:ea typeface="宋体" panose="02010600030101010101" pitchFamily="2" charset="-122"/>
            </a:endParaRPr>
          </a:p>
          <a:p>
            <a:pPr marL="914400" lvl="2" indent="0">
              <a:buNone/>
            </a:pPr>
            <a:r>
              <a:rPr lang="en-US" altLang="zh-CN" sz="1800" b="1" dirty="0">
                <a:latin typeface="宋体" panose="02010600030101010101" pitchFamily="2" charset="-122"/>
                <a:ea typeface="宋体" panose="02010600030101010101" pitchFamily="2" charset="-122"/>
              </a:rPr>
              <a:t>4</a:t>
            </a:r>
            <a:r>
              <a:rPr lang="zh-CN" altLang="en-US" sz="1800" b="1" dirty="0">
                <a:latin typeface="宋体" panose="02010600030101010101" pitchFamily="2" charset="-122"/>
                <a:ea typeface="宋体" panose="02010600030101010101" pitchFamily="2" charset="-122"/>
              </a:rPr>
              <a:t>）该文法具有二义性吗？为什么？</a:t>
            </a:r>
            <a:endParaRPr lang="en-US" altLang="zh-CN" sz="1800" b="1" dirty="0">
              <a:latin typeface="宋体" panose="02010600030101010101" pitchFamily="2" charset="-122"/>
              <a:ea typeface="宋体" panose="02010600030101010101" pitchFamily="2" charset="-122"/>
            </a:endParaRPr>
          </a:p>
          <a:p>
            <a:pPr lvl="1"/>
            <a:r>
              <a:rPr lang="en-US" altLang="zh-CN" sz="1800" b="1" dirty="0">
                <a:latin typeface="宋体" panose="02010600030101010101" pitchFamily="2" charset="-122"/>
                <a:ea typeface="宋体" panose="02010600030101010101" pitchFamily="2" charset="-122"/>
              </a:rPr>
              <a:t>2.2.5</a:t>
            </a:r>
            <a:endParaRPr lang="en-US" altLang="zh-CN" sz="1800" b="1" dirty="0">
              <a:latin typeface="宋体" panose="02010600030101010101" pitchFamily="2" charset="-122"/>
              <a:ea typeface="宋体" panose="02010600030101010101" pitchFamily="2" charset="-122"/>
            </a:endParaRPr>
          </a:p>
          <a:p>
            <a:pPr marL="914400" lvl="2" indent="0">
              <a:buNone/>
            </a:pPr>
            <a:r>
              <a:rPr lang="en-US" altLang="zh-CN" sz="1800" b="1" dirty="0">
                <a:latin typeface="宋体" panose="02010600030101010101" pitchFamily="2" charset="-122"/>
                <a:ea typeface="宋体" panose="02010600030101010101" pitchFamily="2" charset="-122"/>
              </a:rPr>
              <a:t>1</a:t>
            </a:r>
            <a:r>
              <a:rPr lang="zh-CN" altLang="en-US" sz="1800" b="1" dirty="0">
                <a:latin typeface="宋体" panose="02010600030101010101" pitchFamily="2" charset="-122"/>
                <a:ea typeface="宋体" panose="02010600030101010101" pitchFamily="2" charset="-122"/>
              </a:rPr>
              <a:t>）证明：用下面文法生成的所有二进制串的值都能被</a:t>
            </a:r>
            <a:r>
              <a:rPr lang="en-US" altLang="zh-CN" sz="1800" b="1" dirty="0">
                <a:latin typeface="宋体" panose="02010600030101010101" pitchFamily="2" charset="-122"/>
                <a:ea typeface="宋体" panose="02010600030101010101" pitchFamily="2" charset="-122"/>
              </a:rPr>
              <a:t>3</a:t>
            </a:r>
            <a:r>
              <a:rPr lang="zh-CN" altLang="en-US" sz="1800" b="1" dirty="0">
                <a:latin typeface="宋体" panose="02010600030101010101" pitchFamily="2" charset="-122"/>
                <a:ea typeface="宋体" panose="02010600030101010101" pitchFamily="2" charset="-122"/>
              </a:rPr>
              <a:t>整除（提示：对语法分析树的结点数目使用数学归纳法）</a:t>
            </a:r>
            <a:endParaRPr lang="en-US" altLang="zh-CN" sz="1800" b="1" dirty="0">
              <a:latin typeface="宋体" panose="02010600030101010101" pitchFamily="2" charset="-122"/>
              <a:ea typeface="宋体" panose="02010600030101010101" pitchFamily="2" charset="-122"/>
            </a:endParaRPr>
          </a:p>
          <a:p>
            <a:pPr marL="914400" lvl="2" indent="0">
              <a:buNone/>
            </a:pPr>
            <a:r>
              <a:rPr lang="en-US" altLang="zh-CN" sz="1800" b="1" dirty="0">
                <a:latin typeface="宋体" panose="02010600030101010101" pitchFamily="2" charset="-122"/>
                <a:ea typeface="宋体" panose="02010600030101010101" pitchFamily="2" charset="-122"/>
              </a:rPr>
              <a:t>num</a:t>
            </a:r>
            <a:r>
              <a:rPr lang="zh-CN" altLang="en-US" sz="1800" b="1" dirty="0">
                <a:latin typeface="宋体" panose="02010600030101010101" pitchFamily="2" charset="-122"/>
                <a:ea typeface="宋体" panose="02010600030101010101" pitchFamily="2" charset="-122"/>
              </a:rPr>
              <a:t>→</a:t>
            </a:r>
            <a:r>
              <a:rPr lang="en-US" altLang="zh-CN" sz="1800" b="1" dirty="0">
                <a:latin typeface="宋体" panose="02010600030101010101" pitchFamily="2" charset="-122"/>
                <a:ea typeface="宋体" panose="02010600030101010101" pitchFamily="2" charset="-122"/>
              </a:rPr>
              <a:t>11</a:t>
            </a:r>
            <a:r>
              <a:rPr lang="zh-CN" altLang="en-US" sz="1800" b="1"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a:t>
            </a:r>
            <a:r>
              <a:rPr lang="zh-CN" altLang="en-US" sz="1800" b="1"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1001</a:t>
            </a:r>
            <a:r>
              <a:rPr lang="zh-CN" altLang="en-US" sz="1800" b="1"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a:t>
            </a:r>
            <a:r>
              <a:rPr lang="zh-CN" altLang="en-US" sz="1800" b="1"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num</a:t>
            </a:r>
            <a:r>
              <a:rPr lang="zh-CN" altLang="en-US" sz="1800" b="1"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0</a:t>
            </a:r>
            <a:r>
              <a:rPr lang="zh-CN" altLang="en-US" sz="1800" b="1"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a:t>
            </a:r>
            <a:r>
              <a:rPr lang="zh-CN" altLang="en-US" sz="1800" b="1"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num</a:t>
            </a:r>
            <a:r>
              <a:rPr lang="zh-CN" altLang="en-US" sz="1800" b="1"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num</a:t>
            </a:r>
            <a:endParaRPr lang="en-US" altLang="zh-CN" sz="1800" b="1" dirty="0">
              <a:latin typeface="宋体" panose="02010600030101010101" pitchFamily="2" charset="-122"/>
              <a:ea typeface="宋体" panose="02010600030101010101" pitchFamily="2" charset="-122"/>
            </a:endParaRPr>
          </a:p>
          <a:p>
            <a:pPr marL="914400" lvl="2" indent="0">
              <a:buNone/>
            </a:pPr>
            <a:r>
              <a:rPr lang="en-US" altLang="zh-CN" sz="1800" b="1" dirty="0">
                <a:latin typeface="宋体" panose="02010600030101010101" pitchFamily="2" charset="-122"/>
                <a:ea typeface="宋体" panose="02010600030101010101" pitchFamily="2" charset="-122"/>
              </a:rPr>
              <a:t>2</a:t>
            </a:r>
            <a:r>
              <a:rPr lang="zh-CN" altLang="en-US" sz="1800" b="1" dirty="0">
                <a:latin typeface="宋体" panose="02010600030101010101" pitchFamily="2" charset="-122"/>
                <a:ea typeface="宋体" panose="02010600030101010101" pitchFamily="2" charset="-122"/>
              </a:rPr>
              <a:t>）上面的文法是否能够生成所有能被</a:t>
            </a:r>
            <a:r>
              <a:rPr lang="en-US" altLang="zh-CN" sz="1800" b="1" dirty="0">
                <a:latin typeface="宋体" panose="02010600030101010101" pitchFamily="2" charset="-122"/>
                <a:ea typeface="宋体" panose="02010600030101010101" pitchFamily="2" charset="-122"/>
              </a:rPr>
              <a:t>3</a:t>
            </a:r>
            <a:r>
              <a:rPr lang="zh-CN" altLang="en-US" sz="1800" b="1" dirty="0">
                <a:latin typeface="宋体" panose="02010600030101010101" pitchFamily="2" charset="-122"/>
                <a:ea typeface="宋体" panose="02010600030101010101" pitchFamily="2" charset="-122"/>
              </a:rPr>
              <a:t>整除的二进制串？</a:t>
            </a:r>
            <a:endParaRPr lang="en-US" altLang="zh-CN" sz="1800" b="1" dirty="0">
              <a:latin typeface="宋体" panose="02010600030101010101" pitchFamily="2" charset="-122"/>
              <a:ea typeface="宋体" panose="02010600030101010101" pitchFamily="2" charset="-122"/>
            </a:endParaRPr>
          </a:p>
          <a:p>
            <a:pPr lvl="1"/>
            <a:r>
              <a:rPr lang="en-US" altLang="zh-CN" sz="1800" b="1" dirty="0">
                <a:latin typeface="宋体" panose="02010600030101010101" pitchFamily="2" charset="-122"/>
                <a:ea typeface="宋体" panose="02010600030101010101" pitchFamily="2" charset="-122"/>
              </a:rPr>
              <a:t>2.3.1</a:t>
            </a:r>
            <a:r>
              <a:rPr lang="zh-CN" altLang="en-US" sz="1800" b="1" dirty="0">
                <a:latin typeface="宋体" panose="02010600030101010101" pitchFamily="2" charset="-122"/>
                <a:ea typeface="宋体" panose="02010600030101010101" pitchFamily="2" charset="-122"/>
              </a:rPr>
              <a:t>：构建一个语法制导翻译方案，该方案把算术表达式从中缀表示方式翻译为运算符在运算分量之前的前缀表示方式。例如，</a:t>
            </a:r>
            <a:r>
              <a:rPr lang="en-US" altLang="zh-CN" sz="1800" b="1" dirty="0">
                <a:latin typeface="宋体" panose="02010600030101010101" pitchFamily="2" charset="-122"/>
                <a:ea typeface="宋体" panose="02010600030101010101" pitchFamily="2" charset="-122"/>
              </a:rPr>
              <a:t>-xy</a:t>
            </a:r>
            <a:r>
              <a:rPr lang="zh-CN" altLang="en-US" sz="1800" b="1" dirty="0">
                <a:latin typeface="宋体" panose="02010600030101010101" pitchFamily="2" charset="-122"/>
                <a:ea typeface="宋体" panose="02010600030101010101" pitchFamily="2" charset="-122"/>
              </a:rPr>
              <a:t>是表达式</a:t>
            </a:r>
            <a:r>
              <a:rPr lang="en-US" altLang="zh-CN" sz="1800" b="1" dirty="0">
                <a:latin typeface="宋体" panose="02010600030101010101" pitchFamily="2" charset="-122"/>
                <a:ea typeface="宋体" panose="02010600030101010101" pitchFamily="2" charset="-122"/>
              </a:rPr>
              <a:t>x-y</a:t>
            </a:r>
            <a:r>
              <a:rPr lang="zh-CN" altLang="en-US" sz="1800" b="1" dirty="0">
                <a:latin typeface="宋体" panose="02010600030101010101" pitchFamily="2" charset="-122"/>
                <a:ea typeface="宋体" panose="02010600030101010101" pitchFamily="2" charset="-122"/>
              </a:rPr>
              <a:t>的前缀表示。给出输入</a:t>
            </a:r>
            <a:r>
              <a:rPr lang="en-US" altLang="zh-CN" sz="1800" b="1" dirty="0">
                <a:latin typeface="宋体" panose="02010600030101010101" pitchFamily="2" charset="-122"/>
                <a:ea typeface="宋体" panose="02010600030101010101" pitchFamily="2" charset="-122"/>
              </a:rPr>
              <a:t>9-5+2</a:t>
            </a:r>
            <a:r>
              <a:rPr lang="zh-CN" altLang="en-US" sz="1800" b="1" dirty="0">
                <a:latin typeface="宋体" panose="02010600030101010101" pitchFamily="2" charset="-122"/>
                <a:ea typeface="宋体" panose="02010600030101010101" pitchFamily="2" charset="-122"/>
              </a:rPr>
              <a:t>和</a:t>
            </a:r>
            <a:r>
              <a:rPr lang="en-US" altLang="zh-CN" sz="1800" b="1" dirty="0">
                <a:latin typeface="宋体" panose="02010600030101010101" pitchFamily="2" charset="-122"/>
                <a:ea typeface="宋体" panose="02010600030101010101" pitchFamily="2" charset="-122"/>
              </a:rPr>
              <a:t>9-5</a:t>
            </a:r>
            <a:r>
              <a:rPr lang="zh-CN" altLang="en-US" sz="1800" b="1" dirty="0">
                <a:latin typeface="宋体" panose="02010600030101010101" pitchFamily="2" charset="-122"/>
                <a:ea typeface="宋体" panose="02010600030101010101" pitchFamily="2" charset="-122"/>
              </a:rPr>
              <a:t>*</a:t>
            </a:r>
            <a:r>
              <a:rPr lang="en-US" altLang="zh-CN" sz="1800" b="1" dirty="0">
                <a:latin typeface="宋体" panose="02010600030101010101" pitchFamily="2" charset="-122"/>
                <a:ea typeface="宋体" panose="02010600030101010101" pitchFamily="2" charset="-122"/>
              </a:rPr>
              <a:t>2</a:t>
            </a:r>
            <a:r>
              <a:rPr lang="zh-CN" altLang="en-US" sz="1800" b="1" dirty="0">
                <a:latin typeface="宋体" panose="02010600030101010101" pitchFamily="2" charset="-122"/>
                <a:ea typeface="宋体" panose="02010600030101010101" pitchFamily="2" charset="-122"/>
              </a:rPr>
              <a:t>的注释分析树</a:t>
            </a:r>
            <a:endParaRPr lang="zh-CN" altLang="en-US" sz="18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作业</a:t>
            </a:r>
            <a:endParaRPr lang="zh-CN" altLang="en-US" dirty="0">
              <a:latin typeface="宋体" panose="02010600030101010101" pitchFamily="2" charset="-122"/>
              <a:ea typeface="宋体" panose="02010600030101010101" pitchFamily="2" charset="-122"/>
            </a:endParaRPr>
          </a:p>
        </p:txBody>
      </p:sp>
      <p:sp>
        <p:nvSpPr>
          <p:cNvPr id="180227" name="Rectangle 11"/>
          <p:cNvSpPr>
            <a:spLocks noGrp="1" noChangeArrowheads="1"/>
          </p:cNvSpPr>
          <p:nvPr>
            <p:ph idx="1"/>
          </p:nvPr>
        </p:nvSpPr>
        <p:spPr>
          <a:xfrm>
            <a:off x="395288" y="1341438"/>
            <a:ext cx="8353425" cy="49530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第二次作业</a:t>
            </a:r>
            <a:endParaRPr kumimoji="0" lang="en-US" altLang="zh-CN"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2.8.1</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C</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语言和</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Java</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语言中的</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for</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语句具有如下形式：</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4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for</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4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expr</a:t>
            </a:r>
            <a:r>
              <a:rPr kumimoji="0" lang="en-US" altLang="zh-CN" sz="2400" b="0"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24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expr</a:t>
            </a:r>
            <a:r>
              <a:rPr kumimoji="0" lang="en-US" altLang="zh-CN" sz="2400" b="0"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2</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24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expr</a:t>
            </a:r>
            <a:r>
              <a:rPr kumimoji="0" lang="en-US" altLang="zh-CN" sz="2400" b="0"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3</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24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stmt</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第一个表达式在循环之前执行，它通常被用来初始化循环下标。第二个表达式是一个测试，它在循环的每次迭代之前执行。如果这个表达式的结果变成</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0</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，就退出循环。循环本身可以被看作语句</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4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stmt</a:t>
            </a:r>
            <a:r>
              <a:rPr kumimoji="0" lang="zh-CN" altLang="en-US" sz="24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4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expr</a:t>
            </a:r>
            <a:r>
              <a:rPr kumimoji="0" lang="en-US" altLang="zh-CN" sz="2400" b="0"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3</a:t>
            </a:r>
            <a:r>
              <a:rPr kumimoji="0" lang="zh-CN" altLang="en-US" sz="2400" b="0"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。第三个表达式在每一次迭代的末尾执行，它通常用来使循环下标递增，故</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for</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语句的含义类似于</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4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expr</a:t>
            </a:r>
            <a:r>
              <a:rPr kumimoji="0" lang="en-US" altLang="zh-CN" sz="2400" b="0"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4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while</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24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expr</a:t>
            </a:r>
            <a:r>
              <a:rPr kumimoji="0" lang="en-US" altLang="zh-CN" sz="2400" b="0"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2</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400" b="0" i="1"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stmt</a:t>
            </a:r>
            <a:r>
              <a:rPr kumimoji="0" lang="zh-CN" altLang="en-US" sz="24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4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expr</a:t>
            </a:r>
            <a:r>
              <a:rPr kumimoji="0" lang="en-US" altLang="zh-CN" sz="2400" b="0"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3</a:t>
            </a:r>
            <a:r>
              <a:rPr kumimoji="0" lang="zh-CN" altLang="en-US" sz="2400" b="0" i="1"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仿照图</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2-43</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中的类</a:t>
            </a:r>
            <a:r>
              <a:rPr kumimoji="0" lang="en-US" altLang="zh-CN" sz="24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If</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，为</a:t>
            </a:r>
            <a:r>
              <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for</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语句定义一个类</a:t>
            </a:r>
            <a:r>
              <a:rPr kumimoji="0" lang="en-US" altLang="zh-CN" sz="2400" b="0" i="1"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For</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自己参考</a:t>
            </a:r>
            <a:r>
              <a:rPr kumimoji="0" lang="en-US" altLang="zh-CN"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2.9</a:t>
            </a:r>
            <a:r>
              <a:rPr kumimoji="0" lang="zh-CN" altLang="en-US"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节，复习总结第二章（不用交）</a:t>
            </a:r>
            <a:endParaRPr kumimoji="0" lang="en-US" altLang="zh-CN"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slow"/>
</p:sld>
</file>

<file path=ppt/theme/theme1.xml><?xml version="1.0" encoding="utf-8"?>
<a:theme xmlns:a="http://schemas.openxmlformats.org/drawingml/2006/main" name="ibm0325">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ibm0325">
      <a:majorFont>
        <a:latin typeface="Book Antiqua"/>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2225" cap="flat" cmpd="sng" algn="ctr">
          <a:solidFill>
            <a:schemeClr val="tx1"/>
          </a:solidFill>
          <a:prstDash val="solid"/>
          <a:round/>
          <a:headEnd type="none" w="sm" len="sm"/>
          <a:tailEnd type="triangle" w="lg"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noFill/>
        <a:ln w="22225" cap="flat" cmpd="sng" algn="ctr">
          <a:solidFill>
            <a:schemeClr val="tx1"/>
          </a:solidFill>
          <a:prstDash val="solid"/>
          <a:round/>
          <a:headEnd type="none" w="sm" len="sm"/>
          <a:tailEnd type="triangle" w="lg"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bm0325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bm0325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ibm0325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bm0325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bm0325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bm0325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ibm0325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E:\weldon\src\ipd_seminar\ibm0325.ppt</Template>
  <TotalTime>0</TotalTime>
  <Words>17499</Words>
  <Application>WPS 演示</Application>
  <PresentationFormat>全屏显示(4:3)</PresentationFormat>
  <Paragraphs>1037</Paragraphs>
  <Slides>92</Slides>
  <Notes>84</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10</vt:i4>
      </vt:variant>
      <vt:variant>
        <vt:lpstr>幻灯片标题</vt:lpstr>
      </vt:variant>
      <vt:variant>
        <vt:i4>92</vt:i4>
      </vt:variant>
    </vt:vector>
  </HeadingPairs>
  <TitlesOfParts>
    <vt:vector size="115" baseType="lpstr">
      <vt:lpstr>Arial</vt:lpstr>
      <vt:lpstr>宋体</vt:lpstr>
      <vt:lpstr>Wingdings</vt:lpstr>
      <vt:lpstr>Times New Roman</vt:lpstr>
      <vt:lpstr>Tahoma</vt:lpstr>
      <vt:lpstr>Book Antiqua</vt:lpstr>
      <vt:lpstr>Monotype Sorts</vt:lpstr>
      <vt:lpstr>Wingdings</vt:lpstr>
      <vt:lpstr>微软雅黑</vt:lpstr>
      <vt:lpstr>Arial Unicode MS</vt:lpstr>
      <vt:lpstr>Symbol</vt:lpstr>
      <vt:lpstr>Monotype Sorts</vt:lpstr>
      <vt:lpstr>ibm0325</vt:lpstr>
      <vt:lpstr>Equation.3</vt:lpstr>
      <vt:lpstr>Visio.Drawing.4</vt:lpstr>
      <vt:lpstr>Equation.3</vt:lpstr>
      <vt:lpstr>Equation.3</vt:lpstr>
      <vt:lpstr>Equation.3</vt:lpstr>
      <vt:lpstr>Equation.3</vt:lpstr>
      <vt:lpstr>Equation.3</vt:lpstr>
      <vt:lpstr>Equation.3</vt:lpstr>
      <vt:lpstr>Visio.Drawing.11</vt:lpstr>
      <vt:lpstr>Visio.Drawing.11</vt:lpstr>
      <vt:lpstr>第二章 一个简单的语法制导翻译器</vt:lpstr>
      <vt:lpstr>本章目的</vt:lpstr>
      <vt:lpstr>引言（1）</vt:lpstr>
      <vt:lpstr>引言（2）</vt:lpstr>
      <vt:lpstr>语法定义（1）</vt:lpstr>
      <vt:lpstr>语法定义（2）</vt:lpstr>
      <vt:lpstr>语法定义（3） ——文法和语言的形式定义（1）</vt:lpstr>
      <vt:lpstr>语法定义（4） ——文法和语言的形式定义（2）</vt:lpstr>
      <vt:lpstr>语法定义（5） ——文法和语言的形式定义（3）</vt:lpstr>
      <vt:lpstr>语法定义（6） ——文法和语言的形式定义（4）</vt:lpstr>
      <vt:lpstr>语法定义（7） ——文法和语言的形式定义（5）</vt:lpstr>
      <vt:lpstr>语法定义（8） ——文法和语言的形式定义（6）</vt:lpstr>
      <vt:lpstr>语法定义（9） ——文法和语言的形式定义（7）</vt:lpstr>
      <vt:lpstr>语法定义（10） ——文法和语言的形式定义（8）</vt:lpstr>
      <vt:lpstr>语法定义（11） ——文法和语言的形式定义（9）</vt:lpstr>
      <vt:lpstr>语法定义（12） ——文法的分类：乔姆斯基语言族（1）</vt:lpstr>
      <vt:lpstr>语法定义（13） ——文法的分类：乔姆斯基语言族（2）</vt:lpstr>
      <vt:lpstr>语法定义（14） ——文法的分类：乔姆斯基语言族（3）</vt:lpstr>
      <vt:lpstr>语法定义（15） ——文法的分类：乔姆斯基语言族（4）</vt:lpstr>
      <vt:lpstr>语法定义（16） ——文法的分类：乔姆斯基语言族（5）</vt:lpstr>
      <vt:lpstr>语法定义（17） ——文法的分类：乔姆斯基语言族（6）</vt:lpstr>
      <vt:lpstr>语法定义（18） ——文法的分类：乔姆斯基语言族（7）</vt:lpstr>
      <vt:lpstr>语法定义（19） ——文法的分类：乔姆斯基语言族（8）</vt:lpstr>
      <vt:lpstr>语法定义（20） ——文法的分类：乔姆斯基语言族（9）</vt:lpstr>
      <vt:lpstr>语法定义（21）</vt:lpstr>
      <vt:lpstr>语法定义（22）</vt:lpstr>
      <vt:lpstr>语法定义（23）</vt:lpstr>
      <vt:lpstr>语法定义（24）</vt:lpstr>
      <vt:lpstr>语法定义（25）</vt:lpstr>
      <vt:lpstr>语法定义（26）</vt:lpstr>
      <vt:lpstr>语法制导翻译（1）</vt:lpstr>
      <vt:lpstr>语法制导翻译（2）</vt:lpstr>
      <vt:lpstr>语法制导翻译（3）</vt:lpstr>
      <vt:lpstr>语法制导翻译（4）</vt:lpstr>
      <vt:lpstr>语法制导翻译（5）</vt:lpstr>
      <vt:lpstr>语法制导翻译（6）</vt:lpstr>
      <vt:lpstr>语法制导翻译（7）</vt:lpstr>
      <vt:lpstr>语法分析（1）</vt:lpstr>
      <vt:lpstr>语法分析（2）</vt:lpstr>
      <vt:lpstr>语法分析（3）</vt:lpstr>
      <vt:lpstr>语法分析（4）</vt:lpstr>
      <vt:lpstr>语法分析（5）</vt:lpstr>
      <vt:lpstr>语法分析（6）</vt:lpstr>
      <vt:lpstr>语法分析（7）</vt:lpstr>
      <vt:lpstr>语法分析（8）</vt:lpstr>
      <vt:lpstr>语法分析（9）</vt:lpstr>
      <vt:lpstr>语法分析（10）</vt:lpstr>
      <vt:lpstr>简单表达式的翻译器（1）</vt:lpstr>
      <vt:lpstr>简单表达式的翻译器（2）</vt:lpstr>
      <vt:lpstr>简单表达式的翻译器（3）</vt:lpstr>
      <vt:lpstr>简单表达式的翻译器（4）</vt:lpstr>
      <vt:lpstr>简单表达式的翻译器（5）</vt:lpstr>
      <vt:lpstr>PowerPoint 演示文稿</vt:lpstr>
      <vt:lpstr>词法分析（1）</vt:lpstr>
      <vt:lpstr>词法分析（2）</vt:lpstr>
      <vt:lpstr>词法分析（3）</vt:lpstr>
      <vt:lpstr>词法分析（4）</vt:lpstr>
      <vt:lpstr>PowerPoint 演示文稿</vt:lpstr>
      <vt:lpstr>词法分析（5）</vt:lpstr>
      <vt:lpstr>PowerPoint 演示文稿</vt:lpstr>
      <vt:lpstr>PowerPoint 演示文稿</vt:lpstr>
      <vt:lpstr>PowerPoint 演示文稿</vt:lpstr>
      <vt:lpstr>符号表（1）</vt:lpstr>
      <vt:lpstr>符号表（2）</vt:lpstr>
      <vt:lpstr>PowerPoint 演示文稿</vt:lpstr>
      <vt:lpstr>PowerPoint 演示文稿</vt:lpstr>
      <vt:lpstr>PowerPoint 演示文稿</vt:lpstr>
      <vt:lpstr>利用两个栈表示符号表的层次结构</vt:lpstr>
      <vt:lpstr>PowerPoint 演示文稿</vt:lpstr>
      <vt:lpstr>符号表（3）</vt:lpstr>
      <vt:lpstr>PowerPoint 演示文稿</vt:lpstr>
      <vt:lpstr>符号表（４）</vt:lpstr>
      <vt:lpstr>PowerPoint 演示文稿</vt:lpstr>
      <vt:lpstr>生成中间代码（1）</vt:lpstr>
      <vt:lpstr>PowerPoint 演示文稿</vt:lpstr>
      <vt:lpstr>生成中间代码（2）</vt:lpstr>
      <vt:lpstr>PowerPoint 演示文稿</vt:lpstr>
      <vt:lpstr>生成中间代码（3）</vt:lpstr>
      <vt:lpstr>生成中间代码（４）</vt:lpstr>
      <vt:lpstr>生成中间代码（５）</vt:lpstr>
      <vt:lpstr>生成中间代码（６）</vt:lpstr>
      <vt:lpstr>生成中间代码（7）</vt:lpstr>
      <vt:lpstr>生成中间代码（8）</vt:lpstr>
      <vt:lpstr>生成中间代码（9）</vt:lpstr>
      <vt:lpstr>生成中间代码（10）</vt:lpstr>
      <vt:lpstr>生成中间代码（11）</vt:lpstr>
      <vt:lpstr>生成中间代码（12）</vt:lpstr>
      <vt:lpstr>PowerPoint 演示文稿</vt:lpstr>
      <vt:lpstr>生成中间代码（13）</vt:lpstr>
      <vt:lpstr>生成中间代码（14）</vt:lpstr>
      <vt:lpstr>作业</vt:lpstr>
      <vt:lpstr>作业</vt:lpstr>
    </vt:vector>
  </TitlesOfParts>
  <Company>Micron Electronics,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Preferred Customer</dc:creator>
  <cp:lastModifiedBy>朱首赫</cp:lastModifiedBy>
  <cp:revision>803</cp:revision>
  <cp:lastPrinted>2000-08-04T00:01:00Z</cp:lastPrinted>
  <dcterms:created xsi:type="dcterms:W3CDTF">1999-10-09T18:48:00Z</dcterms:created>
  <dcterms:modified xsi:type="dcterms:W3CDTF">2026-03-12T03:00:04Z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B4E921EA0F74496F8FDC53112AB24631_12</vt:lpwstr>
  </property>
  <property fmtid="{D5CDD505-2E9C-101B-9397-08002B2CF9AE}" pid="3" name="KSOProductBuildVer">
    <vt:lpwstr>2052-12.1.0.23542</vt:lpwstr>
  </property>
</Properties>
</file>