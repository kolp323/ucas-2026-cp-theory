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00"/>
  </p:handoutMasterIdLst>
  <p:sldIdLst>
    <p:sldId id="329" r:id="rId3"/>
    <p:sldId id="351" r:id="rId5"/>
    <p:sldId id="352" r:id="rId6"/>
    <p:sldId id="354" r:id="rId7"/>
    <p:sldId id="381" r:id="rId8"/>
    <p:sldId id="443" r:id="rId9"/>
    <p:sldId id="355" r:id="rId10"/>
    <p:sldId id="386" r:id="rId11"/>
    <p:sldId id="357" r:id="rId12"/>
    <p:sldId id="445" r:id="rId13"/>
    <p:sldId id="446" r:id="rId14"/>
    <p:sldId id="447" r:id="rId15"/>
    <p:sldId id="448" r:id="rId16"/>
    <p:sldId id="449" r:id="rId17"/>
    <p:sldId id="450" r:id="rId18"/>
    <p:sldId id="451" r:id="rId19"/>
    <p:sldId id="358" r:id="rId20"/>
    <p:sldId id="359" r:id="rId21"/>
    <p:sldId id="383" r:id="rId22"/>
    <p:sldId id="384" r:id="rId23"/>
    <p:sldId id="385" r:id="rId24"/>
    <p:sldId id="360" r:id="rId25"/>
    <p:sldId id="395" r:id="rId26"/>
    <p:sldId id="389" r:id="rId27"/>
    <p:sldId id="396" r:id="rId28"/>
    <p:sldId id="390" r:id="rId29"/>
    <p:sldId id="393" r:id="rId30"/>
    <p:sldId id="391" r:id="rId31"/>
    <p:sldId id="394" r:id="rId32"/>
    <p:sldId id="392" r:id="rId33"/>
    <p:sldId id="399" r:id="rId34"/>
    <p:sldId id="400" r:id="rId35"/>
    <p:sldId id="455" r:id="rId36"/>
    <p:sldId id="456" r:id="rId37"/>
    <p:sldId id="457" r:id="rId38"/>
    <p:sldId id="458" r:id="rId39"/>
    <p:sldId id="459" r:id="rId40"/>
    <p:sldId id="460" r:id="rId41"/>
    <p:sldId id="402" r:id="rId42"/>
    <p:sldId id="461" r:id="rId43"/>
    <p:sldId id="462" r:id="rId44"/>
    <p:sldId id="404" r:id="rId45"/>
    <p:sldId id="405" r:id="rId46"/>
    <p:sldId id="407" r:id="rId47"/>
    <p:sldId id="406" r:id="rId48"/>
    <p:sldId id="409" r:id="rId49"/>
    <p:sldId id="408" r:id="rId50"/>
    <p:sldId id="411" r:id="rId51"/>
    <p:sldId id="410" r:id="rId52"/>
    <p:sldId id="412" r:id="rId53"/>
    <p:sldId id="413" r:id="rId54"/>
    <p:sldId id="414" r:id="rId55"/>
    <p:sldId id="418" r:id="rId56"/>
    <p:sldId id="419" r:id="rId57"/>
    <p:sldId id="415" r:id="rId58"/>
    <p:sldId id="417" r:id="rId59"/>
    <p:sldId id="416" r:id="rId60"/>
    <p:sldId id="420" r:id="rId61"/>
    <p:sldId id="421" r:id="rId62"/>
    <p:sldId id="423" r:id="rId63"/>
    <p:sldId id="424" r:id="rId64"/>
    <p:sldId id="425" r:id="rId65"/>
    <p:sldId id="464" r:id="rId66"/>
    <p:sldId id="465" r:id="rId67"/>
    <p:sldId id="466" r:id="rId68"/>
    <p:sldId id="467" r:id="rId69"/>
    <p:sldId id="426" r:id="rId70"/>
    <p:sldId id="422" r:id="rId71"/>
    <p:sldId id="428" r:id="rId72"/>
    <p:sldId id="429" r:id="rId73"/>
    <p:sldId id="430" r:id="rId74"/>
    <p:sldId id="427" r:id="rId75"/>
    <p:sldId id="431" r:id="rId76"/>
    <p:sldId id="468" r:id="rId77"/>
    <p:sldId id="432" r:id="rId78"/>
    <p:sldId id="433" r:id="rId79"/>
    <p:sldId id="434" r:id="rId80"/>
    <p:sldId id="435" r:id="rId81"/>
    <p:sldId id="436" r:id="rId82"/>
    <p:sldId id="437" r:id="rId83"/>
    <p:sldId id="438" r:id="rId84"/>
    <p:sldId id="469" r:id="rId85"/>
    <p:sldId id="470" r:id="rId86"/>
    <p:sldId id="471" r:id="rId87"/>
    <p:sldId id="472" r:id="rId88"/>
    <p:sldId id="473" r:id="rId89"/>
    <p:sldId id="474" r:id="rId90"/>
    <p:sldId id="475" r:id="rId91"/>
    <p:sldId id="476" r:id="rId92"/>
    <p:sldId id="477" r:id="rId93"/>
    <p:sldId id="478" r:id="rId94"/>
    <p:sldId id="479" r:id="rId95"/>
    <p:sldId id="480" r:id="rId96"/>
    <p:sldId id="481" r:id="rId97"/>
    <p:sldId id="439" r:id="rId98"/>
    <p:sldId id="463" r:id="rId99"/>
  </p:sldIdLst>
  <p:sldSz cx="9144000" cy="6858000" type="screen4x3"/>
  <p:notesSz cx="6708775" cy="9774555"/>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44" userDrawn="1">
          <p15:clr>
            <a:srgbClr val="A4A3A4"/>
          </p15:clr>
        </p15:guide>
        <p15:guide id="2" pos="57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 ja" initials="f" lastIdx="1" clrIdx="7"/>
  <p:cmAuthor id="4" name="ja f" initials="j"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FFFFCC"/>
    <a:srgbClr val="CCFFCC"/>
    <a:srgbClr val="FFCCFF"/>
    <a:srgbClr val="CCFFFF"/>
    <a:srgbClr val="CCECFF"/>
    <a:srgbClr val="66FF66"/>
    <a:srgbClr val="FFFF99"/>
    <a:srgbClr val="063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17"/>
    <p:restoredTop sz="67882"/>
  </p:normalViewPr>
  <p:slideViewPr>
    <p:cSldViewPr showGuides="1">
      <p:cViewPr varScale="1">
        <p:scale>
          <a:sx n="49" d="100"/>
          <a:sy n="49" d="100"/>
        </p:scale>
        <p:origin x="966" y="30"/>
      </p:cViewPr>
      <p:guideLst>
        <p:guide orient="horz" pos="144"/>
        <p:guide pos="575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20034"/>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4" Type="http://schemas.openxmlformats.org/officeDocument/2006/relationships/commentAuthors" Target="commentAuthors.xml"/><Relationship Id="rId103" Type="http://schemas.openxmlformats.org/officeDocument/2006/relationships/tableStyles" Target="tableStyles.xml"/><Relationship Id="rId102" Type="http://schemas.openxmlformats.org/officeDocument/2006/relationships/viewProps" Target="viewProps.xml"/><Relationship Id="rId101" Type="http://schemas.openxmlformats.org/officeDocument/2006/relationships/presProps" Target="presProps.xml"/><Relationship Id="rId100"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39.wmf"/><Relationship Id="rId7" Type="http://schemas.openxmlformats.org/officeDocument/2006/relationships/image" Target="../media/image38.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31426" name="Rectangle 2"/>
          <p:cNvSpPr>
            <a:spLocks noGrp="1" noChangeArrowheads="1"/>
          </p:cNvSpPr>
          <p:nvPr>
            <p:ph type="hdr" sz="quarter"/>
          </p:nvPr>
        </p:nvSpPr>
        <p:spPr bwMode="auto">
          <a:xfrm>
            <a:off x="0" y="0"/>
            <a:ext cx="2924175" cy="482600"/>
          </a:xfrm>
          <a:prstGeom prst="rect">
            <a:avLst/>
          </a:prstGeom>
          <a:noFill/>
          <a:ln>
            <a:noFill/>
          </a:ln>
          <a:effectLst/>
        </p:spPr>
        <p:txBody>
          <a:bodyPr vert="horz" wrap="square" lIns="90014" tIns="45007" rIns="90014" bIns="45007" numCol="1" anchor="t"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7" name="Rectangle 3"/>
          <p:cNvSpPr>
            <a:spLocks noGrp="1" noChangeArrowheads="1"/>
          </p:cNvSpPr>
          <p:nvPr>
            <p:ph type="dt" sz="quarter" idx="1"/>
          </p:nvPr>
        </p:nvSpPr>
        <p:spPr bwMode="auto">
          <a:xfrm>
            <a:off x="3802063" y="0"/>
            <a:ext cx="2925763" cy="482600"/>
          </a:xfrm>
          <a:prstGeom prst="rect">
            <a:avLst/>
          </a:prstGeom>
          <a:noFill/>
          <a:ln>
            <a:noFill/>
          </a:ln>
          <a:effectLst/>
        </p:spPr>
        <p:txBody>
          <a:bodyPr vert="horz" wrap="square" lIns="90014" tIns="45007" rIns="90014" bIns="45007" numCol="1" anchor="t" anchorCtr="0" compatLnSpc="1"/>
          <a:lstStyle>
            <a:lvl1pPr algn="r" defTabSz="900430">
              <a:defRPr sz="1200"/>
            </a:lvl1pPr>
          </a:lstStyle>
          <a:p>
            <a:pPr marL="0" marR="0" lvl="0" indent="0" algn="r"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8" name="Rectangle 4"/>
          <p:cNvSpPr>
            <a:spLocks noGrp="1" noChangeArrowheads="1"/>
          </p:cNvSpPr>
          <p:nvPr>
            <p:ph type="ftr" sz="quarter" idx="2"/>
          </p:nvPr>
        </p:nvSpPr>
        <p:spPr bwMode="auto">
          <a:xfrm>
            <a:off x="0" y="9307513"/>
            <a:ext cx="2924175" cy="482600"/>
          </a:xfrm>
          <a:prstGeom prst="rect">
            <a:avLst/>
          </a:prstGeom>
          <a:noFill/>
          <a:ln>
            <a:noFill/>
          </a:ln>
          <a:effectLst/>
        </p:spPr>
        <p:txBody>
          <a:bodyPr vert="horz" wrap="square" lIns="90014" tIns="45007" rIns="90014" bIns="45007" numCol="1" anchor="b" anchorCtr="0" compatLnSpc="1"/>
          <a:lstStyle>
            <a:lvl1pPr defTabSz="900430">
              <a:defRPr sz="1200"/>
            </a:lvl1pPr>
          </a:lstStyle>
          <a:p>
            <a:pPr marL="0" marR="0" lvl="0" indent="0" algn="l" defTabSz="90043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1429" name="Rectangle 5"/>
          <p:cNvSpPr>
            <a:spLocks noGrp="1" noChangeArrowheads="1"/>
          </p:cNvSpPr>
          <p:nvPr>
            <p:ph type="sldNum" sz="quarter" idx="3"/>
          </p:nvPr>
        </p:nvSpPr>
        <p:spPr bwMode="auto">
          <a:xfrm>
            <a:off x="3802063" y="9307513"/>
            <a:ext cx="2925763" cy="482600"/>
          </a:xfrm>
          <a:prstGeom prst="rect">
            <a:avLst/>
          </a:prstGeom>
          <a:noFill/>
          <a:ln>
            <a:noFill/>
          </a:ln>
          <a:effectLst/>
        </p:spPr>
        <p:txBody>
          <a:bodyPr vert="horz" wrap="square" lIns="90014" tIns="45007" rIns="90014" bIns="45007" numCol="1" anchor="b" anchorCtr="0" compatLnSpc="1"/>
          <a:p>
            <a:pPr lvl="0" algn="r" defTabSz="900430">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8370" name="Rectangle 2"/>
          <p:cNvSpPr>
            <a:spLocks noGrp="1" noChangeArrowheads="1"/>
          </p:cNvSpPr>
          <p:nvPr>
            <p:ph type="hdr" sz="quarter"/>
          </p:nvPr>
        </p:nvSpPr>
        <p:spPr bwMode="auto">
          <a:xfrm>
            <a:off x="0" y="0"/>
            <a:ext cx="2906713" cy="488950"/>
          </a:xfrm>
          <a:prstGeom prst="rect">
            <a:avLst/>
          </a:prstGeom>
          <a:noFill/>
          <a:ln>
            <a:noFill/>
          </a:ln>
          <a:effectLst/>
        </p:spPr>
        <p:txBody>
          <a:bodyPr vert="horz" wrap="square" lIns="91534" tIns="45768" rIns="91534" bIns="45768" numCol="1" anchor="t"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1" name="Rectangle 3"/>
          <p:cNvSpPr>
            <a:spLocks noGrp="1" noChangeArrowheads="1"/>
          </p:cNvSpPr>
          <p:nvPr>
            <p:ph type="dt" idx="1"/>
          </p:nvPr>
        </p:nvSpPr>
        <p:spPr bwMode="auto">
          <a:xfrm>
            <a:off x="3802063" y="0"/>
            <a:ext cx="2906713" cy="488950"/>
          </a:xfrm>
          <a:prstGeom prst="rect">
            <a:avLst/>
          </a:prstGeom>
          <a:noFill/>
          <a:ln>
            <a:noFill/>
          </a:ln>
          <a:effectLst/>
        </p:spPr>
        <p:txBody>
          <a:bodyPr vert="horz" wrap="square" lIns="91534" tIns="45768" rIns="91534" bIns="45768" numCol="1" anchor="t" anchorCtr="0" compatLnSpc="1"/>
          <a:lstStyle>
            <a:lvl1pPr algn="r" defTabSz="916305">
              <a:defRPr sz="1200"/>
            </a:lvl1pPr>
          </a:lstStyle>
          <a:p>
            <a:pPr marL="0" marR="0" lvl="0" indent="0" algn="r"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TextEdit="1"/>
          </p:cNvSpPr>
          <p:nvPr>
            <p:ph type="sldImg" idx="2"/>
          </p:nvPr>
        </p:nvSpPr>
        <p:spPr>
          <a:xfrm>
            <a:off x="911225" y="733425"/>
            <a:ext cx="4887913" cy="3665538"/>
          </a:xfrm>
          <a:prstGeom prst="rect">
            <a:avLst/>
          </a:prstGeom>
          <a:noFill/>
          <a:ln w="9525" cap="flat" cmpd="sng">
            <a:solidFill>
              <a:srgbClr val="000000"/>
            </a:solidFill>
            <a:prstDash val="solid"/>
            <a:miter/>
            <a:headEnd type="none" w="med" len="med"/>
            <a:tailEnd type="none" w="med" len="med"/>
          </a:ln>
        </p:spPr>
      </p:sp>
      <p:sp>
        <p:nvSpPr>
          <p:cNvPr id="58373" name="Rectangle 5"/>
          <p:cNvSpPr>
            <a:spLocks noGrp="1" noChangeArrowheads="1"/>
          </p:cNvSpPr>
          <p:nvPr>
            <p:ph type="body" sz="quarter" idx="3"/>
          </p:nvPr>
        </p:nvSpPr>
        <p:spPr bwMode="auto">
          <a:xfrm>
            <a:off x="893763" y="4641850"/>
            <a:ext cx="4921250" cy="4398963"/>
          </a:xfrm>
          <a:prstGeom prst="rect">
            <a:avLst/>
          </a:prstGeom>
          <a:noFill/>
          <a:ln>
            <a:noFill/>
          </a:ln>
          <a:effectLst/>
        </p:spPr>
        <p:txBody>
          <a:bodyPr vert="horz" wrap="square" lIns="91534" tIns="45768" rIns="91534" bIns="45768" numCol="1" anchor="t" anchorCtr="0" compatLnSpc="1"/>
          <a:lstStyle/>
          <a:p>
            <a:pPr marL="0" marR="0" lvl="0"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466725" marR="0" lvl="1"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935355" marR="0" lvl="2"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402080" marR="0" lvl="3"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a:p>
            <a:pPr marL="1870075" marR="0" lvl="4" indent="0" algn="l" defTabSz="955675"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4" name="Rectangle 6"/>
          <p:cNvSpPr>
            <a:spLocks noGrp="1" noChangeArrowheads="1"/>
          </p:cNvSpPr>
          <p:nvPr>
            <p:ph type="ftr" sz="quarter" idx="4"/>
          </p:nvPr>
        </p:nvSpPr>
        <p:spPr bwMode="auto">
          <a:xfrm>
            <a:off x="0" y="9285288"/>
            <a:ext cx="2906713" cy="488950"/>
          </a:xfrm>
          <a:prstGeom prst="rect">
            <a:avLst/>
          </a:prstGeom>
          <a:noFill/>
          <a:ln>
            <a:noFill/>
          </a:ln>
          <a:effectLst/>
        </p:spPr>
        <p:txBody>
          <a:bodyPr vert="horz" wrap="square" lIns="91534" tIns="45768" rIns="91534" bIns="45768" numCol="1" anchor="b" anchorCtr="0" compatLnSpc="1"/>
          <a:lstStyle>
            <a:lvl1pPr defTabSz="916305">
              <a:defRPr sz="1200"/>
            </a:lvl1pPr>
          </a:lstStyle>
          <a:p>
            <a:pPr marL="0" marR="0" lvl="0" indent="0" algn="l" defTabSz="91630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375" name="Rectangle 7"/>
          <p:cNvSpPr>
            <a:spLocks noGrp="1" noChangeArrowheads="1"/>
          </p:cNvSpPr>
          <p:nvPr>
            <p:ph type="sldNum" sz="quarter" idx="5"/>
          </p:nvPr>
        </p:nvSpPr>
        <p:spPr bwMode="auto">
          <a:xfrm>
            <a:off x="3802063" y="9285288"/>
            <a:ext cx="2906713" cy="488950"/>
          </a:xfrm>
          <a:prstGeom prst="rect">
            <a:avLst/>
          </a:prstGeom>
          <a:noFill/>
          <a:ln>
            <a:noFill/>
          </a:ln>
          <a:effectLst/>
        </p:spPr>
        <p:txBody>
          <a:bodyPr vert="horz" wrap="square" lIns="91534" tIns="45768" rIns="91534" bIns="45768" numCol="1" anchor="b" anchorCtr="0" compatLnSpc="1"/>
          <a:p>
            <a:pPr lvl="0" algn="r" defTabSz="916305">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3535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402080"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123" name="Rectangle 2"/>
          <p:cNvSpPr>
            <a:spLocks noTextEdit="1"/>
          </p:cNvSpPr>
          <p:nvPr>
            <p:ph type="sldImg"/>
          </p:nvPr>
        </p:nvSpPr>
        <p:spPr/>
      </p:sp>
      <p:sp>
        <p:nvSpPr>
          <p:cNvPr id="51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171" name="Rectangle 2"/>
          <p:cNvSpPr>
            <a:spLocks noTextEdit="1"/>
          </p:cNvSpPr>
          <p:nvPr>
            <p:ph type="sldImg"/>
          </p:nvPr>
        </p:nvSpPr>
        <p:spPr/>
      </p:sp>
      <p:sp>
        <p:nvSpPr>
          <p:cNvPr id="7172"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词法分析也可以分为两个阶段：</a:t>
            </a:r>
            <a:endParaRPr lang="en-US" altLang="zh-CN" dirty="0">
              <a:ea typeface="宋体" panose="02010600030101010101" pitchFamily="2" charset="-122"/>
            </a:endParaRPr>
          </a:p>
          <a:p>
            <a:pPr lvl="0"/>
            <a:r>
              <a:rPr lang="en-US" altLang="zh-CN" dirty="0">
                <a:ea typeface="宋体" panose="02010600030101010101" pitchFamily="2" charset="-122"/>
              </a:rPr>
              <a:t>1</a:t>
            </a:r>
            <a:r>
              <a:rPr lang="zh-CN" altLang="en-US" dirty="0">
                <a:ea typeface="宋体" panose="02010600030101010101" pitchFamily="2" charset="-122"/>
              </a:rPr>
              <a:t>） 扫描阶段：对一些不需要生成词法单元的符号进行简单处理，如删除注释、将连续的多个空格压缩成一个等</a:t>
            </a:r>
            <a:endParaRPr lang="en-US" altLang="zh-CN" dirty="0">
              <a:ea typeface="宋体" panose="02010600030101010101" pitchFamily="2" charset="-122"/>
            </a:endParaRPr>
          </a:p>
          <a:p>
            <a:pPr lvl="0"/>
            <a:r>
              <a:rPr lang="en-US" altLang="zh-CN" dirty="0">
                <a:ea typeface="宋体" panose="02010600030101010101" pitchFamily="2" charset="-122"/>
              </a:rPr>
              <a:t>2</a:t>
            </a:r>
            <a:r>
              <a:rPr lang="zh-CN" altLang="en-US" dirty="0">
                <a:ea typeface="宋体" panose="02010600030101010101" pitchFamily="2" charset="-122"/>
              </a:rPr>
              <a:t>）词法分析阶段：真正生成词法单元</a:t>
            </a:r>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9" name="Rectangle 2"/>
          <p:cNvSpPr>
            <a:spLocks noTextEdit="1"/>
          </p:cNvSpPr>
          <p:nvPr>
            <p:ph type="sldImg"/>
          </p:nvPr>
        </p:nvSpPr>
        <p:spPr/>
      </p:sp>
      <p:sp>
        <p:nvSpPr>
          <p:cNvPr id="9220"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第二点中改善编译器的效率，其实对于现在的优化编译器而言，词法分析器的一点效率改进，对这个编译器的开销影响不大</a:t>
            </a:r>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7" name="Rectangle 2"/>
          <p:cNvSpPr>
            <a:spLocks noTextEdit="1"/>
          </p:cNvSpPr>
          <p:nvPr>
            <p:ph type="sldImg"/>
          </p:nvPr>
        </p:nvSpPr>
        <p:spPr/>
      </p:sp>
      <p:sp>
        <p:nvSpPr>
          <p:cNvPr id="1126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315" name="Rectangle 2"/>
          <p:cNvSpPr>
            <a:spLocks noTextEdit="1"/>
          </p:cNvSpPr>
          <p:nvPr>
            <p:ph type="sldImg"/>
          </p:nvPr>
        </p:nvSpPr>
        <p:spPr/>
      </p:sp>
      <p:sp>
        <p:nvSpPr>
          <p:cNvPr id="133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387" name="Rectangle 2"/>
          <p:cNvSpPr>
            <a:spLocks noTextEdit="1"/>
          </p:cNvSpPr>
          <p:nvPr>
            <p:ph type="sldImg"/>
          </p:nvPr>
        </p:nvSpPr>
        <p:spPr/>
      </p:sp>
      <p:sp>
        <p:nvSpPr>
          <p:cNvPr id="1638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435" name="Rectangle 2"/>
          <p:cNvSpPr>
            <a:spLocks noTextEdit="1"/>
          </p:cNvSpPr>
          <p:nvPr>
            <p:ph type="sldImg"/>
          </p:nvPr>
        </p:nvSpPr>
        <p:spPr/>
      </p:sp>
      <p:sp>
        <p:nvSpPr>
          <p:cNvPr id="1843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0483" name="Rectangle 2"/>
          <p:cNvSpPr>
            <a:spLocks noTextEdit="1"/>
          </p:cNvSpPr>
          <p:nvPr>
            <p:ph type="sldImg"/>
          </p:nvPr>
        </p:nvSpPr>
        <p:spPr/>
      </p:sp>
      <p:sp>
        <p:nvSpPr>
          <p:cNvPr id="2048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2531" name="Rectangle 2"/>
          <p:cNvSpPr>
            <a:spLocks noTextEdit="1"/>
          </p:cNvSpPr>
          <p:nvPr>
            <p:ph type="sldImg"/>
          </p:nvPr>
        </p:nvSpPr>
        <p:spPr>
          <a:solidFill>
            <a:srgbClr val="FFFFFF">
              <a:alpha val="100000"/>
            </a:srgbClr>
          </a:solidFill>
        </p:spPr>
      </p:sp>
      <p:sp>
        <p:nvSpPr>
          <p:cNvPr id="2253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4579" name="Rectangle 2"/>
          <p:cNvSpPr>
            <a:spLocks noTextEdit="1"/>
          </p:cNvSpPr>
          <p:nvPr>
            <p:ph type="sldImg"/>
          </p:nvPr>
        </p:nvSpPr>
        <p:spPr>
          <a:solidFill>
            <a:srgbClr val="FFFFFF">
              <a:alpha val="100000"/>
            </a:srgbClr>
          </a:solidFill>
        </p:spPr>
      </p:sp>
      <p:sp>
        <p:nvSpPr>
          <p:cNvPr id="245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6627" name="Rectangle 2"/>
          <p:cNvSpPr>
            <a:spLocks noTextEdit="1"/>
          </p:cNvSpPr>
          <p:nvPr>
            <p:ph type="sldImg"/>
          </p:nvPr>
        </p:nvSpPr>
        <p:spPr>
          <a:solidFill>
            <a:srgbClr val="FFFFFF">
              <a:alpha val="100000"/>
            </a:srgbClr>
          </a:solidFill>
        </p:spPr>
      </p:sp>
      <p:sp>
        <p:nvSpPr>
          <p:cNvPr id="2662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29699" name="Rectangle 2"/>
          <p:cNvSpPr>
            <a:spLocks noGrp="1" noRot="1" noChangeAspect="1" noTextEdit="1"/>
          </p:cNvSpPr>
          <p:nvPr>
            <p:ph type="sldImg"/>
          </p:nvPr>
        </p:nvSpPr>
        <p:spPr/>
      </p:sp>
      <p:sp>
        <p:nvSpPr>
          <p:cNvPr id="29700"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1747" name="Rectangle 2"/>
          <p:cNvSpPr>
            <a:spLocks noGrp="1" noRot="1" noChangeAspect="1" noTextEdit="1"/>
          </p:cNvSpPr>
          <p:nvPr>
            <p:ph type="sldImg"/>
          </p:nvPr>
        </p:nvSpPr>
        <p:spPr/>
      </p:sp>
      <p:sp>
        <p:nvSpPr>
          <p:cNvPr id="31748"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3795" name="Rectangle 2"/>
          <p:cNvSpPr>
            <a:spLocks noGrp="1" noRot="1" noChangeAspect="1" noTextEdit="1"/>
          </p:cNvSpPr>
          <p:nvPr>
            <p:ph type="sldImg"/>
          </p:nvPr>
        </p:nvSpPr>
        <p:spPr/>
      </p:sp>
      <p:sp>
        <p:nvSpPr>
          <p:cNvPr id="33796" name="Rectangle 3"/>
          <p:cNvSpPr>
            <a:spLocks noGrp="1"/>
          </p:cNvSpPr>
          <p:nvPr>
            <p:ph type="body" idx="1"/>
          </p:nvPr>
        </p:nvSpPr>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5843" name="Rectangle 2"/>
          <p:cNvSpPr>
            <a:spLocks noTextEdit="1"/>
          </p:cNvSpPr>
          <p:nvPr>
            <p:ph type="sldImg"/>
          </p:nvPr>
        </p:nvSpPr>
        <p:spPr/>
      </p:sp>
      <p:sp>
        <p:nvSpPr>
          <p:cNvPr id="3584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7891" name="Rectangle 2"/>
          <p:cNvSpPr>
            <a:spLocks noTextEdit="1"/>
          </p:cNvSpPr>
          <p:nvPr>
            <p:ph type="sldImg"/>
          </p:nvPr>
        </p:nvSpPr>
        <p:spPr/>
      </p:sp>
      <p:sp>
        <p:nvSpPr>
          <p:cNvPr id="3789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39939" name="Rectangle 2"/>
          <p:cNvSpPr>
            <a:spLocks noTextEdit="1"/>
          </p:cNvSpPr>
          <p:nvPr>
            <p:ph type="sldImg"/>
          </p:nvPr>
        </p:nvSpPr>
        <p:spPr/>
      </p:sp>
      <p:sp>
        <p:nvSpPr>
          <p:cNvPr id="3994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1987" name="Rectangle 2"/>
          <p:cNvSpPr>
            <a:spLocks noTextEdit="1"/>
          </p:cNvSpPr>
          <p:nvPr>
            <p:ph type="sldImg"/>
          </p:nvPr>
        </p:nvSpPr>
        <p:spPr/>
      </p:sp>
      <p:sp>
        <p:nvSpPr>
          <p:cNvPr id="4198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4035" name="Rectangle 2"/>
          <p:cNvSpPr>
            <a:spLocks noTextEdit="1"/>
          </p:cNvSpPr>
          <p:nvPr>
            <p:ph type="sldImg"/>
          </p:nvPr>
        </p:nvSpPr>
        <p:spPr/>
      </p:sp>
      <p:sp>
        <p:nvSpPr>
          <p:cNvPr id="4403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6083" name="Rectangle 2"/>
          <p:cNvSpPr>
            <a:spLocks noTextEdit="1"/>
          </p:cNvSpPr>
          <p:nvPr>
            <p:ph type="sldImg"/>
          </p:nvPr>
        </p:nvSpPr>
        <p:spPr/>
      </p:sp>
      <p:sp>
        <p:nvSpPr>
          <p:cNvPr id="4608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48131" name="Rectangle 2"/>
          <p:cNvSpPr>
            <a:spLocks noTextEdit="1"/>
          </p:cNvSpPr>
          <p:nvPr>
            <p:ph type="sldImg"/>
          </p:nvPr>
        </p:nvSpPr>
        <p:spPr/>
      </p:sp>
      <p:sp>
        <p:nvSpPr>
          <p:cNvPr id="481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0179" name="Rectangle 2"/>
          <p:cNvSpPr>
            <a:spLocks noTextEdit="1"/>
          </p:cNvSpPr>
          <p:nvPr>
            <p:ph type="sldImg"/>
          </p:nvPr>
        </p:nvSpPr>
        <p:spPr/>
      </p:sp>
      <p:sp>
        <p:nvSpPr>
          <p:cNvPr id="5018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2227" name="Rectangle 2"/>
          <p:cNvSpPr>
            <a:spLocks noTextEdit="1"/>
          </p:cNvSpPr>
          <p:nvPr>
            <p:ph type="sldImg"/>
          </p:nvPr>
        </p:nvSpPr>
        <p:spPr/>
      </p:sp>
      <p:sp>
        <p:nvSpPr>
          <p:cNvPr id="52228"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4275" name="Rectangle 2"/>
          <p:cNvSpPr>
            <a:spLocks noTextEdit="1"/>
          </p:cNvSpPr>
          <p:nvPr>
            <p:ph type="sldImg"/>
          </p:nvPr>
        </p:nvSpPr>
        <p:spPr/>
      </p:sp>
      <p:sp>
        <p:nvSpPr>
          <p:cNvPr id="5427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6323" name="Rectangle 2"/>
          <p:cNvSpPr>
            <a:spLocks noTextEdit="1"/>
          </p:cNvSpPr>
          <p:nvPr>
            <p:ph type="sldImg"/>
          </p:nvPr>
        </p:nvSpPr>
        <p:spPr/>
      </p:sp>
      <p:sp>
        <p:nvSpPr>
          <p:cNvPr id="563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58371" name="Rectangle 2"/>
          <p:cNvSpPr>
            <a:spLocks noTextEdit="1"/>
          </p:cNvSpPr>
          <p:nvPr>
            <p:ph type="sldImg"/>
          </p:nvPr>
        </p:nvSpPr>
        <p:spPr/>
      </p:sp>
      <p:sp>
        <p:nvSpPr>
          <p:cNvPr id="5837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0419" name="Rectangle 2"/>
          <p:cNvSpPr>
            <a:spLocks noTextEdit="1"/>
          </p:cNvSpPr>
          <p:nvPr>
            <p:ph type="sldImg"/>
          </p:nvPr>
        </p:nvSpPr>
        <p:spPr/>
      </p:sp>
      <p:sp>
        <p:nvSpPr>
          <p:cNvPr id="60420"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2467" name="Rectangle 2"/>
          <p:cNvSpPr>
            <a:spLocks noTextEdit="1"/>
          </p:cNvSpPr>
          <p:nvPr>
            <p:ph type="sldImg"/>
          </p:nvPr>
        </p:nvSpPr>
        <p:spPr/>
      </p:sp>
      <p:sp>
        <p:nvSpPr>
          <p:cNvPr id="62468"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左侧是分支语句和条件表达式的简单文法，其中黑体的</a:t>
            </a:r>
            <a:r>
              <a:rPr lang="en-US" altLang="zh-CN" b="1" dirty="0">
                <a:ea typeface="宋体" panose="02010600030101010101" pitchFamily="2" charset="-122"/>
              </a:rPr>
              <a:t>if</a:t>
            </a:r>
            <a:r>
              <a:rPr lang="zh-CN" altLang="en-US" b="1" dirty="0">
                <a:ea typeface="宋体" panose="02010600030101010101" pitchFamily="2" charset="-122"/>
              </a:rPr>
              <a:t>、</a:t>
            </a:r>
            <a:r>
              <a:rPr lang="en-US" altLang="zh-CN" b="1" dirty="0">
                <a:ea typeface="宋体" panose="02010600030101010101" pitchFamily="2" charset="-122"/>
              </a:rPr>
              <a:t>then</a:t>
            </a:r>
            <a:r>
              <a:rPr lang="zh-CN" altLang="en-US" b="1" dirty="0">
                <a:ea typeface="宋体" panose="02010600030101010101" pitchFamily="2" charset="-122"/>
              </a:rPr>
              <a:t>、</a:t>
            </a:r>
            <a:r>
              <a:rPr lang="en-US" altLang="zh-CN" b="1" dirty="0">
                <a:ea typeface="宋体" panose="02010600030101010101" pitchFamily="2" charset="-122"/>
              </a:rPr>
              <a:t>else</a:t>
            </a:r>
            <a:r>
              <a:rPr lang="zh-CN" altLang="en-US" dirty="0">
                <a:ea typeface="宋体" panose="02010600030101010101" pitchFamily="2" charset="-122"/>
              </a:rPr>
              <a:t>等是词法单元，是关键字，也作为保留字处理，是文法的终结符号；而黑体的</a:t>
            </a:r>
            <a:r>
              <a:rPr lang="en-US" altLang="zh-CN" b="1" dirty="0">
                <a:ea typeface="宋体" panose="02010600030101010101" pitchFamily="2" charset="-122"/>
              </a:rPr>
              <a:t>relop</a:t>
            </a:r>
            <a:r>
              <a:rPr lang="zh-CN" altLang="en-US" b="1" dirty="0">
                <a:ea typeface="宋体" panose="02010600030101010101" pitchFamily="2" charset="-122"/>
              </a:rPr>
              <a:t>、</a:t>
            </a:r>
            <a:r>
              <a:rPr lang="en-US" altLang="zh-CN" b="1" dirty="0">
                <a:ea typeface="宋体" panose="02010600030101010101" pitchFamily="2" charset="-122"/>
              </a:rPr>
              <a:t>id</a:t>
            </a:r>
            <a:r>
              <a:rPr lang="zh-CN" altLang="en-US" b="1" dirty="0">
                <a:ea typeface="宋体" panose="02010600030101010101" pitchFamily="2" charset="-122"/>
              </a:rPr>
              <a:t>、</a:t>
            </a:r>
            <a:r>
              <a:rPr lang="en-US" altLang="zh-CN" b="1" dirty="0">
                <a:ea typeface="宋体" panose="02010600030101010101" pitchFamily="2" charset="-122"/>
              </a:rPr>
              <a:t>number</a:t>
            </a:r>
            <a:r>
              <a:rPr lang="zh-CN" altLang="en-US" dirty="0">
                <a:ea typeface="宋体" panose="02010600030101010101" pitchFamily="2" charset="-122"/>
              </a:rPr>
              <a:t>等也是词法单元，是文法的终结符号，其词法描述由右侧的模式（正则表示）给出</a:t>
            </a:r>
            <a:endParaRPr lang="zh-CN" altLang="en-US"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4515" name="Rectangle 2"/>
          <p:cNvSpPr>
            <a:spLocks noTextEdit="1"/>
          </p:cNvSpPr>
          <p:nvPr>
            <p:ph type="sldImg"/>
          </p:nvPr>
        </p:nvSpPr>
        <p:spPr/>
      </p:sp>
      <p:sp>
        <p:nvSpPr>
          <p:cNvPr id="6451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6563" name="Rectangle 2"/>
          <p:cNvSpPr>
            <a:spLocks noTextEdit="1"/>
          </p:cNvSpPr>
          <p:nvPr>
            <p:ph type="sldImg"/>
          </p:nvPr>
        </p:nvSpPr>
        <p:spPr/>
      </p:sp>
      <p:sp>
        <p:nvSpPr>
          <p:cNvPr id="6656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68611" name="Rectangle 2"/>
          <p:cNvSpPr>
            <a:spLocks noTextEdit="1"/>
          </p:cNvSpPr>
          <p:nvPr>
            <p:ph type="sldImg"/>
          </p:nvPr>
        </p:nvSpPr>
        <p:spPr/>
      </p:sp>
      <p:sp>
        <p:nvSpPr>
          <p:cNvPr id="6861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1683" name="Rectangle 2"/>
          <p:cNvSpPr>
            <a:spLocks noTextEdit="1"/>
          </p:cNvSpPr>
          <p:nvPr>
            <p:ph type="sldImg"/>
          </p:nvPr>
        </p:nvSpPr>
        <p:spPr/>
      </p:sp>
      <p:sp>
        <p:nvSpPr>
          <p:cNvPr id="7168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3731" name="Rectangle 2"/>
          <p:cNvSpPr>
            <a:spLocks noTextEdit="1"/>
          </p:cNvSpPr>
          <p:nvPr>
            <p:ph type="sldImg"/>
          </p:nvPr>
        </p:nvSpPr>
        <p:spPr/>
      </p:sp>
      <p:sp>
        <p:nvSpPr>
          <p:cNvPr id="7373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5779" name="Rectangle 2"/>
          <p:cNvSpPr>
            <a:spLocks noTextEdit="1"/>
          </p:cNvSpPr>
          <p:nvPr>
            <p:ph type="sldImg"/>
          </p:nvPr>
        </p:nvSpPr>
        <p:spPr/>
      </p:sp>
      <p:sp>
        <p:nvSpPr>
          <p:cNvPr id="75780" name="Rectangle 3"/>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提醒同学们注意如何实现</a:t>
            </a:r>
            <a:r>
              <a:rPr lang="zh-CN" altLang="en-US" b="1" dirty="0">
                <a:ea typeface="宋体" panose="02010600030101010101" pitchFamily="2" charset="-122"/>
              </a:rPr>
              <a:t>可选的小数部分</a:t>
            </a:r>
            <a:r>
              <a:rPr lang="zh-CN" altLang="en-US" dirty="0">
                <a:ea typeface="宋体" panose="02010600030101010101" pitchFamily="2" charset="-122"/>
              </a:rPr>
              <a:t>（由</a:t>
            </a:r>
            <a:r>
              <a:rPr lang="en-US" altLang="zh-CN" dirty="0">
                <a:ea typeface="宋体" panose="02010600030101010101" pitchFamily="2" charset="-122"/>
              </a:rPr>
              <a:t>13-〉16</a:t>
            </a:r>
            <a:r>
              <a:rPr lang="zh-CN" altLang="en-US" dirty="0">
                <a:ea typeface="宋体" panose="02010600030101010101" pitchFamily="2" charset="-122"/>
              </a:rPr>
              <a:t>的边（指数部分未省略）和</a:t>
            </a:r>
            <a:r>
              <a:rPr lang="en-US" altLang="zh-CN" dirty="0">
                <a:ea typeface="宋体" panose="02010600030101010101" pitchFamily="2" charset="-122"/>
              </a:rPr>
              <a:t>13-〉20</a:t>
            </a:r>
            <a:r>
              <a:rPr lang="zh-CN" altLang="en-US" dirty="0">
                <a:ea typeface="宋体" panose="02010600030101010101" pitchFamily="2" charset="-122"/>
              </a:rPr>
              <a:t>的边实现（指数部分也省略了））和</a:t>
            </a:r>
            <a:r>
              <a:rPr lang="zh-CN" altLang="en-US" b="1" dirty="0">
                <a:ea typeface="宋体" panose="02010600030101010101" pitchFamily="2" charset="-122"/>
              </a:rPr>
              <a:t>可选的指数部分</a:t>
            </a:r>
            <a:r>
              <a:rPr lang="zh-CN" altLang="en-US" dirty="0">
                <a:ea typeface="宋体" panose="02010600030101010101" pitchFamily="2" charset="-122"/>
              </a:rPr>
              <a:t>（</a:t>
            </a:r>
            <a:r>
              <a:rPr lang="en-US" altLang="zh-CN" dirty="0">
                <a:ea typeface="宋体" panose="02010600030101010101" pitchFamily="2" charset="-122"/>
              </a:rPr>
              <a:t>15-〉21</a:t>
            </a:r>
            <a:r>
              <a:rPr lang="zh-CN" altLang="en-US" dirty="0">
                <a:ea typeface="宋体" panose="02010600030101010101" pitchFamily="2" charset="-122"/>
              </a:rPr>
              <a:t>的边）</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几个终态上都标记了*，表明识别完成后，要回退一个字符</a:t>
            </a:r>
            <a:endParaRPr lang="en-US" altLang="zh-CN"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7827" name="Rectangle 2"/>
          <p:cNvSpPr>
            <a:spLocks noTextEdit="1"/>
          </p:cNvSpPr>
          <p:nvPr>
            <p:ph type="sldImg"/>
          </p:nvPr>
        </p:nvSpPr>
        <p:spPr/>
      </p:sp>
      <p:sp>
        <p:nvSpPr>
          <p:cNvPr id="77828" name="Rectangle 3"/>
          <p:cNvSpPr>
            <a:spLocks noGrp="1"/>
          </p:cNvSpPr>
          <p:nvPr>
            <p:ph type="body" idx="1"/>
          </p:nvPr>
        </p:nvSpPr>
        <p:spPr>
          <a:ln w="22225"/>
        </p:spPr>
        <p:txBody>
          <a:bodyPr wrap="square" lIns="91534" tIns="45768" rIns="91534" bIns="45768" anchor="t" anchorCtr="0"/>
          <a:p>
            <a:pPr lvl="0"/>
            <a:endParaRPr lang="en-US" altLang="zh-CN"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79875" name="Rectangle 2"/>
          <p:cNvSpPr>
            <a:spLocks noTextEdit="1"/>
          </p:cNvSpPr>
          <p:nvPr>
            <p:ph type="sldImg"/>
          </p:nvPr>
        </p:nvSpPr>
        <p:spPr/>
      </p:sp>
      <p:sp>
        <p:nvSpPr>
          <p:cNvPr id="79876"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1923" name="Rectangle 2"/>
          <p:cNvSpPr>
            <a:spLocks noTextEdit="1"/>
          </p:cNvSpPr>
          <p:nvPr>
            <p:ph type="sldImg"/>
          </p:nvPr>
        </p:nvSpPr>
        <p:spPr/>
      </p:sp>
      <p:sp>
        <p:nvSpPr>
          <p:cNvPr id="81924"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3971" name="Rectangle 2"/>
          <p:cNvSpPr>
            <a:spLocks noTextEdit="1"/>
          </p:cNvSpPr>
          <p:nvPr>
            <p:ph type="sldImg"/>
          </p:nvPr>
        </p:nvSpPr>
        <p:spPr/>
      </p:sp>
      <p:sp>
        <p:nvSpPr>
          <p:cNvPr id="83972" name="Rectangle 3"/>
          <p:cNvSpPr>
            <a:spLocks noGrp="1"/>
          </p:cNvSpPr>
          <p:nvPr>
            <p:ph type="body" idx="1"/>
          </p:nvPr>
        </p:nvSpPr>
        <p:spPr>
          <a:ln w="22225"/>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6019" name="Rectangle 2"/>
          <p:cNvSpPr>
            <a:spLocks noTextEdit="1"/>
          </p:cNvSpPr>
          <p:nvPr>
            <p:ph type="sldImg"/>
          </p:nvPr>
        </p:nvSpPr>
        <p:spPr>
          <a:solidFill>
            <a:srgbClr val="FFFFFF">
              <a:alpha val="100000"/>
            </a:srgbClr>
          </a:solidFill>
        </p:spPr>
      </p:sp>
      <p:sp>
        <p:nvSpPr>
          <p:cNvPr id="8602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88067" name="Rectangle 1026"/>
          <p:cNvSpPr>
            <a:spLocks noTextEdit="1"/>
          </p:cNvSpPr>
          <p:nvPr>
            <p:ph type="sldImg"/>
          </p:nvPr>
        </p:nvSpPr>
        <p:spPr>
          <a:solidFill>
            <a:srgbClr val="FFFFFF">
              <a:alpha val="100000"/>
            </a:srgbClr>
          </a:solidFill>
        </p:spPr>
      </p:sp>
      <p:sp>
        <p:nvSpPr>
          <p:cNvPr id="88068" name="Rectangle 1027"/>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此处的</a:t>
            </a:r>
            <a:r>
              <a:rPr lang="en-US" altLang="zh-CN" dirty="0">
                <a:ea typeface="宋体" panose="02010600030101010101" pitchFamily="2" charset="-122"/>
              </a:rPr>
              <a:t>NFA</a:t>
            </a:r>
            <a:r>
              <a:rPr lang="zh-CN" altLang="en-US" dirty="0">
                <a:ea typeface="宋体" panose="02010600030101010101" pitchFamily="2" charset="-122"/>
              </a:rPr>
              <a:t>与状态转换图的区别主要有二：</a:t>
            </a:r>
            <a:endParaRPr lang="en-US" altLang="zh-CN" dirty="0">
              <a:ea typeface="宋体" panose="02010600030101010101" pitchFamily="2" charset="-122"/>
            </a:endParaRPr>
          </a:p>
          <a:p>
            <a:pPr lvl="0"/>
            <a:r>
              <a:rPr lang="en-US" altLang="zh-CN" dirty="0">
                <a:ea typeface="宋体" panose="02010600030101010101" pitchFamily="2" charset="-122"/>
              </a:rPr>
              <a:t>1</a:t>
            </a:r>
            <a:r>
              <a:rPr lang="zh-CN" altLang="en-US" dirty="0">
                <a:ea typeface="宋体" panose="02010600030101010101" pitchFamily="2" charset="-122"/>
              </a:rPr>
              <a:t>）</a:t>
            </a:r>
            <a:r>
              <a:rPr lang="en-US" altLang="zh-CN" dirty="0">
                <a:ea typeface="宋体" panose="02010600030101010101" pitchFamily="2" charset="-122"/>
              </a:rPr>
              <a:t>NFA</a:t>
            </a:r>
            <a:r>
              <a:rPr lang="zh-CN" altLang="en-US" dirty="0">
                <a:ea typeface="宋体" panose="02010600030101010101" pitchFamily="2" charset="-122"/>
              </a:rPr>
              <a:t>允许一个状态的多条出边上标记相同的符号</a:t>
            </a:r>
            <a:endParaRPr lang="en-US" altLang="zh-CN" dirty="0">
              <a:ea typeface="宋体" panose="02010600030101010101" pitchFamily="2" charset="-122"/>
            </a:endParaRPr>
          </a:p>
          <a:p>
            <a:pPr lvl="0"/>
            <a:r>
              <a:rPr lang="en-US" altLang="zh-CN" dirty="0">
                <a:ea typeface="宋体" panose="02010600030101010101" pitchFamily="2" charset="-122"/>
              </a:rPr>
              <a:t>2</a:t>
            </a:r>
            <a:r>
              <a:rPr lang="zh-CN" altLang="en-US" dirty="0">
                <a:ea typeface="宋体" panose="02010600030101010101" pitchFamily="2" charset="-122"/>
              </a:rPr>
              <a:t>）</a:t>
            </a:r>
            <a:r>
              <a:rPr lang="en-US" altLang="zh-CN" dirty="0">
                <a:ea typeface="宋体" panose="02010600030101010101" pitchFamily="2" charset="-122"/>
              </a:rPr>
              <a:t>NFA</a:t>
            </a:r>
            <a:r>
              <a:rPr lang="zh-CN" altLang="en-US" dirty="0">
                <a:ea typeface="宋体" panose="02010600030101010101" pitchFamily="2" charset="-122"/>
              </a:rPr>
              <a:t>允许空串转移边的存在</a:t>
            </a:r>
            <a:endParaRPr lang="zh-CN" altLang="en-US" dirty="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0115" name="Rectangle 2"/>
          <p:cNvSpPr>
            <a:spLocks noTextEdit="1"/>
          </p:cNvSpPr>
          <p:nvPr>
            <p:ph type="sldImg"/>
          </p:nvPr>
        </p:nvSpPr>
        <p:spPr>
          <a:solidFill>
            <a:srgbClr val="FFFFFF">
              <a:alpha val="100000"/>
            </a:srgbClr>
          </a:solidFill>
        </p:spPr>
      </p:sp>
      <p:sp>
        <p:nvSpPr>
          <p:cNvPr id="901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2163" name="Rectangle 2"/>
          <p:cNvSpPr>
            <a:spLocks noTextEdit="1"/>
          </p:cNvSpPr>
          <p:nvPr>
            <p:ph type="sldImg"/>
          </p:nvPr>
        </p:nvSpPr>
        <p:spPr>
          <a:solidFill>
            <a:srgbClr val="FFFFFF">
              <a:alpha val="100000"/>
            </a:srgbClr>
          </a:solidFill>
        </p:spPr>
      </p:sp>
      <p:sp>
        <p:nvSpPr>
          <p:cNvPr id="921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4211" name="Rectangle 2"/>
          <p:cNvSpPr>
            <a:spLocks noTextEdit="1"/>
          </p:cNvSpPr>
          <p:nvPr>
            <p:ph type="sldImg"/>
          </p:nvPr>
        </p:nvSpPr>
        <p:spPr>
          <a:solidFill>
            <a:srgbClr val="FFFFFF">
              <a:alpha val="100000"/>
            </a:srgbClr>
          </a:solidFill>
        </p:spPr>
      </p:sp>
      <p:sp>
        <p:nvSpPr>
          <p:cNvPr id="942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6259" name="Rectangle 2"/>
          <p:cNvSpPr>
            <a:spLocks noTextEdit="1"/>
          </p:cNvSpPr>
          <p:nvPr>
            <p:ph type="sldImg"/>
          </p:nvPr>
        </p:nvSpPr>
        <p:spPr>
          <a:solidFill>
            <a:srgbClr val="FFFFFF">
              <a:alpha val="100000"/>
            </a:srgbClr>
          </a:solidFill>
        </p:spPr>
      </p:sp>
      <p:sp>
        <p:nvSpPr>
          <p:cNvPr id="962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可以提醒同学们考虑对于</a:t>
            </a:r>
            <a:r>
              <a:rPr lang="en-US" altLang="zh-CN" dirty="0">
                <a:ea typeface="宋体" panose="02010600030101010101" pitchFamily="2" charset="-122"/>
              </a:rPr>
              <a:t>P44</a:t>
            </a:r>
            <a:r>
              <a:rPr lang="zh-CN" altLang="en-US" dirty="0">
                <a:ea typeface="宋体" panose="02010600030101010101" pitchFamily="2" charset="-122"/>
              </a:rPr>
              <a:t>页的</a:t>
            </a:r>
            <a:r>
              <a:rPr lang="en-US" altLang="zh-CN" dirty="0">
                <a:ea typeface="宋体" panose="02010600030101010101" pitchFamily="2" charset="-122"/>
              </a:rPr>
              <a:t>NFA</a:t>
            </a:r>
            <a:r>
              <a:rPr lang="zh-CN" altLang="en-US" dirty="0">
                <a:ea typeface="宋体" panose="02010600030101010101" pitchFamily="2" charset="-122"/>
              </a:rPr>
              <a:t>，如何接受</a:t>
            </a:r>
            <a:r>
              <a:rPr lang="en-US" altLang="zh-CN" dirty="0">
                <a:ea typeface="宋体" panose="02010600030101010101" pitchFamily="2" charset="-122"/>
              </a:rPr>
              <a:t>abb</a:t>
            </a:r>
            <a:r>
              <a:rPr lang="zh-CN" altLang="en-US" dirty="0">
                <a:ea typeface="宋体" panose="02010600030101010101" pitchFamily="2" charset="-122"/>
              </a:rPr>
              <a:t>，</a:t>
            </a:r>
            <a:r>
              <a:rPr lang="en-US" altLang="zh-CN" dirty="0">
                <a:ea typeface="宋体" panose="02010600030101010101" pitchFamily="2" charset="-122"/>
              </a:rPr>
              <a:t>abababb</a:t>
            </a:r>
            <a:r>
              <a:rPr lang="zh-CN" altLang="en-US" dirty="0">
                <a:ea typeface="宋体" panose="02010600030101010101" pitchFamily="2" charset="-122"/>
              </a:rPr>
              <a:t>等的，并且思考是否接受</a:t>
            </a:r>
            <a:r>
              <a:rPr lang="en-US" altLang="zh-CN" dirty="0">
                <a:ea typeface="宋体" panose="02010600030101010101" pitchFamily="2" charset="-122"/>
              </a:rPr>
              <a:t>abab</a:t>
            </a:r>
            <a:r>
              <a:rPr lang="zh-CN" altLang="en-US" dirty="0">
                <a:ea typeface="宋体" panose="02010600030101010101" pitchFamily="2" charset="-122"/>
              </a:rPr>
              <a:t>？</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P44</a:t>
            </a:r>
            <a:r>
              <a:rPr lang="zh-CN" altLang="en-US" dirty="0">
                <a:ea typeface="宋体" panose="02010600030101010101" pitchFamily="2" charset="-122"/>
              </a:rPr>
              <a:t>页的</a:t>
            </a:r>
            <a:r>
              <a:rPr lang="en-US" altLang="zh-CN" dirty="0">
                <a:ea typeface="宋体" panose="02010600030101010101" pitchFamily="2" charset="-122"/>
              </a:rPr>
              <a:t>NFA</a:t>
            </a:r>
            <a:r>
              <a:rPr lang="zh-CN" altLang="en-US" dirty="0">
                <a:ea typeface="宋体" panose="02010600030101010101" pitchFamily="2" charset="-122"/>
              </a:rPr>
              <a:t>接受的语言是所有来自字母表</a:t>
            </a:r>
            <a:r>
              <a:rPr lang="en-US" altLang="zh-CN" dirty="0">
                <a:ea typeface="宋体" panose="02010600030101010101" pitchFamily="2" charset="-122"/>
              </a:rPr>
              <a:t>{a</a:t>
            </a:r>
            <a:r>
              <a:rPr lang="zh-CN" altLang="en-US" dirty="0">
                <a:ea typeface="宋体" panose="02010600030101010101" pitchFamily="2" charset="-122"/>
              </a:rPr>
              <a:t>，</a:t>
            </a:r>
            <a:r>
              <a:rPr lang="en-US" altLang="zh-CN" dirty="0">
                <a:ea typeface="宋体" panose="02010600030101010101" pitchFamily="2" charset="-122"/>
              </a:rPr>
              <a:t>b}</a:t>
            </a:r>
            <a:r>
              <a:rPr lang="zh-CN" altLang="en-US" dirty="0">
                <a:ea typeface="宋体" panose="02010600030101010101" pitchFamily="2" charset="-122"/>
              </a:rPr>
              <a:t>的以</a:t>
            </a:r>
            <a:r>
              <a:rPr lang="en-US" altLang="zh-CN" dirty="0">
                <a:ea typeface="宋体" panose="02010600030101010101" pitchFamily="2" charset="-122"/>
              </a:rPr>
              <a:t>abb</a:t>
            </a:r>
            <a:r>
              <a:rPr lang="zh-CN" altLang="en-US" dirty="0">
                <a:ea typeface="宋体" panose="02010600030101010101" pitchFamily="2" charset="-122"/>
              </a:rPr>
              <a:t>结尾的串的集合</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另外，</a:t>
            </a:r>
            <a:r>
              <a:rPr lang="en-US" altLang="zh-CN" dirty="0">
                <a:ea typeface="宋体" panose="02010600030101010101" pitchFamily="2" charset="-122"/>
              </a:rPr>
              <a:t>NFA</a:t>
            </a:r>
            <a:r>
              <a:rPr lang="zh-CN" altLang="en-US" dirty="0">
                <a:ea typeface="宋体" panose="02010600030101010101" pitchFamily="2" charset="-122"/>
              </a:rPr>
              <a:t>识别一个符号串</a:t>
            </a:r>
            <a:r>
              <a:rPr lang="en-US" altLang="zh-CN" dirty="0">
                <a:ea typeface="宋体" panose="02010600030101010101" pitchFamily="2" charset="-122"/>
              </a:rPr>
              <a:t>x</a:t>
            </a: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）可能存在多于一条路径识别</a:t>
            </a:r>
            <a:r>
              <a:rPr lang="en-US" altLang="zh-CN" dirty="0">
                <a:ea typeface="宋体" panose="02010600030101010101" pitchFamily="2" charset="-122"/>
              </a:rPr>
              <a:t>x</a:t>
            </a: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a:t>
            </a:r>
            <a:r>
              <a:rPr lang="en-US" altLang="zh-CN" dirty="0">
                <a:ea typeface="宋体" panose="02010600030101010101" pitchFamily="2" charset="-122"/>
              </a:rPr>
              <a:t>NFA</a:t>
            </a:r>
            <a:r>
              <a:rPr lang="zh-CN" altLang="en-US" dirty="0">
                <a:ea typeface="宋体" panose="02010600030101010101" pitchFamily="2" charset="-122"/>
              </a:rPr>
              <a:t>匹配了</a:t>
            </a:r>
            <a:r>
              <a:rPr lang="en-US" altLang="zh-CN" dirty="0">
                <a:ea typeface="宋体" panose="02010600030101010101" pitchFamily="2" charset="-122"/>
              </a:rPr>
              <a:t>x</a:t>
            </a:r>
            <a:r>
              <a:rPr lang="zh-CN" altLang="en-US" dirty="0">
                <a:ea typeface="宋体" panose="02010600030101010101" pitchFamily="2" charset="-122"/>
              </a:rPr>
              <a:t>中的某个前缀，也可能是暂时的成功，在后续的匹配中发现不能正常匹配时，需要回退选择新的路径，原因是每个状态可能有多条标记同样符号的转出边或</a:t>
            </a:r>
            <a:r>
              <a:rPr lang="en-US" altLang="zh-CN" dirty="0">
                <a:latin typeface="宋体" panose="02010600030101010101" pitchFamily="2" charset="-122"/>
                <a:ea typeface="宋体" panose="02010600030101010101" pitchFamily="2" charset="-122"/>
              </a:rPr>
              <a:t>ε</a:t>
            </a:r>
            <a:r>
              <a:rPr lang="zh-CN" altLang="en-US" dirty="0">
                <a:ea typeface="宋体" panose="02010600030101010101" pitchFamily="2" charset="-122"/>
              </a:rPr>
              <a:t>转换；</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b="1" dirty="0">
                <a:solidFill>
                  <a:srgbClr val="FF0000"/>
                </a:solidFill>
                <a:ea typeface="宋体" panose="02010600030101010101" pitchFamily="2" charset="-122"/>
              </a:rPr>
              <a:t>接受一个语言的</a:t>
            </a:r>
            <a:r>
              <a:rPr lang="en-US" altLang="zh-CN" b="1" dirty="0">
                <a:solidFill>
                  <a:srgbClr val="FF0000"/>
                </a:solidFill>
                <a:ea typeface="宋体" panose="02010600030101010101" pitchFamily="2" charset="-122"/>
              </a:rPr>
              <a:t>NFA</a:t>
            </a:r>
            <a:r>
              <a:rPr lang="zh-CN" altLang="en-US" b="1" dirty="0">
                <a:solidFill>
                  <a:srgbClr val="FF0000"/>
                </a:solidFill>
                <a:ea typeface="宋体" panose="02010600030101010101" pitchFamily="2" charset="-122"/>
              </a:rPr>
              <a:t>可能是不唯一的</a:t>
            </a:r>
            <a:endParaRPr lang="zh-CN" altLang="en-US" b="1" dirty="0">
              <a:solidFill>
                <a:srgbClr val="FF0000"/>
              </a:solidFill>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98307" name="Rectangle 2"/>
          <p:cNvSpPr>
            <a:spLocks noTextEdit="1"/>
          </p:cNvSpPr>
          <p:nvPr>
            <p:ph type="sldImg"/>
          </p:nvPr>
        </p:nvSpPr>
        <p:spPr>
          <a:solidFill>
            <a:srgbClr val="FFFFFF">
              <a:alpha val="100000"/>
            </a:srgbClr>
          </a:solidFill>
        </p:spPr>
      </p:sp>
      <p:sp>
        <p:nvSpPr>
          <p:cNvPr id="983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0355" name="Rectangle 2"/>
          <p:cNvSpPr>
            <a:spLocks noTextEdit="1"/>
          </p:cNvSpPr>
          <p:nvPr>
            <p:ph type="sldImg"/>
          </p:nvPr>
        </p:nvSpPr>
        <p:spPr>
          <a:solidFill>
            <a:srgbClr val="FFFFFF">
              <a:alpha val="100000"/>
            </a:srgbClr>
          </a:solidFill>
        </p:spPr>
      </p:sp>
      <p:sp>
        <p:nvSpPr>
          <p:cNvPr id="1003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词法分析用到的是</a:t>
            </a:r>
            <a:r>
              <a:rPr lang="en-US" altLang="zh-CN" dirty="0">
                <a:ea typeface="宋体" panose="02010600030101010101" pitchFamily="2" charset="-122"/>
              </a:rPr>
              <a:t>DFA</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b="1" dirty="0">
                <a:ea typeface="宋体" panose="02010600030101010101" pitchFamily="2" charset="-122"/>
              </a:rPr>
              <a:t>接受一个语言的</a:t>
            </a:r>
            <a:r>
              <a:rPr lang="en-US" altLang="zh-CN" b="1" dirty="0">
                <a:ea typeface="宋体" panose="02010600030101010101" pitchFamily="2" charset="-122"/>
              </a:rPr>
              <a:t>DFA</a:t>
            </a:r>
            <a:r>
              <a:rPr lang="zh-CN" altLang="en-US" b="1" dirty="0">
                <a:ea typeface="宋体" panose="02010600030101010101" pitchFamily="2" charset="-122"/>
              </a:rPr>
              <a:t>也可能是不唯一的</a:t>
            </a:r>
            <a:endParaRPr lang="zh-CN" altLang="en-US" b="1" dirty="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2403" name="Rectangle 2"/>
          <p:cNvSpPr>
            <a:spLocks noTextEdit="1"/>
          </p:cNvSpPr>
          <p:nvPr>
            <p:ph type="sldImg"/>
          </p:nvPr>
        </p:nvSpPr>
        <p:spPr>
          <a:solidFill>
            <a:srgbClr val="FFFFFF">
              <a:alpha val="100000"/>
            </a:srgbClr>
          </a:solidFill>
        </p:spPr>
      </p:sp>
      <p:sp>
        <p:nvSpPr>
          <p:cNvPr id="1024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4451" name="Rectangle 2"/>
          <p:cNvSpPr>
            <a:spLocks noTextEdit="1"/>
          </p:cNvSpPr>
          <p:nvPr>
            <p:ph type="sldImg"/>
          </p:nvPr>
        </p:nvSpPr>
        <p:spPr>
          <a:solidFill>
            <a:srgbClr val="FFFFFF">
              <a:alpha val="100000"/>
            </a:srgbClr>
          </a:solidFill>
        </p:spPr>
      </p:sp>
      <p:sp>
        <p:nvSpPr>
          <p:cNvPr id="1044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6499" name="Rectangle 2"/>
          <p:cNvSpPr>
            <a:spLocks noTextEdit="1"/>
          </p:cNvSpPr>
          <p:nvPr>
            <p:ph type="sldImg"/>
          </p:nvPr>
        </p:nvSpPr>
        <p:spPr>
          <a:solidFill>
            <a:srgbClr val="FFFFFF">
              <a:alpha val="100000"/>
            </a:srgbClr>
          </a:solidFill>
        </p:spPr>
      </p:sp>
      <p:sp>
        <p:nvSpPr>
          <p:cNvPr id="1065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08547" name="Rectangle 2"/>
          <p:cNvSpPr>
            <a:spLocks noTextEdit="1"/>
          </p:cNvSpPr>
          <p:nvPr>
            <p:ph type="sldImg"/>
          </p:nvPr>
        </p:nvSpPr>
        <p:spPr>
          <a:solidFill>
            <a:srgbClr val="FFFFFF">
              <a:alpha val="100000"/>
            </a:srgbClr>
          </a:solidFill>
        </p:spPr>
      </p:sp>
      <p:sp>
        <p:nvSpPr>
          <p:cNvPr id="1085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0595" name="Rectangle 2"/>
          <p:cNvSpPr>
            <a:spLocks noTextEdit="1"/>
          </p:cNvSpPr>
          <p:nvPr>
            <p:ph type="sldImg"/>
          </p:nvPr>
        </p:nvSpPr>
        <p:spPr>
          <a:solidFill>
            <a:srgbClr val="FFFFFF">
              <a:alpha val="100000"/>
            </a:srgbClr>
          </a:solidFill>
        </p:spPr>
      </p:sp>
      <p:sp>
        <p:nvSpPr>
          <p:cNvPr id="1105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2643" name="Rectangle 2"/>
          <p:cNvSpPr>
            <a:spLocks noTextEdit="1"/>
          </p:cNvSpPr>
          <p:nvPr>
            <p:ph type="sldImg"/>
          </p:nvPr>
        </p:nvSpPr>
        <p:spPr>
          <a:solidFill>
            <a:srgbClr val="FFFFFF">
              <a:alpha val="100000"/>
            </a:srgbClr>
          </a:solidFill>
        </p:spPr>
      </p:sp>
      <p:sp>
        <p:nvSpPr>
          <p:cNvPr id="1126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4691" name="Rectangle 2"/>
          <p:cNvSpPr>
            <a:spLocks noTextEdit="1"/>
          </p:cNvSpPr>
          <p:nvPr>
            <p:ph type="sldImg"/>
          </p:nvPr>
        </p:nvSpPr>
        <p:spPr>
          <a:solidFill>
            <a:srgbClr val="FFFFFF">
              <a:alpha val="100000"/>
            </a:srgbClr>
          </a:solidFill>
        </p:spPr>
      </p:sp>
      <p:sp>
        <p:nvSpPr>
          <p:cNvPr id="1146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6739" name="Rectangle 2"/>
          <p:cNvSpPr>
            <a:spLocks noTextEdit="1"/>
          </p:cNvSpPr>
          <p:nvPr>
            <p:ph type="sldImg"/>
          </p:nvPr>
        </p:nvSpPr>
        <p:spPr>
          <a:solidFill>
            <a:srgbClr val="FFFFFF">
              <a:alpha val="100000"/>
            </a:srgbClr>
          </a:solidFill>
        </p:spPr>
      </p:sp>
      <p:sp>
        <p:nvSpPr>
          <p:cNvPr id="1167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18787" name="Rectangle 2"/>
          <p:cNvSpPr>
            <a:spLocks noTextEdit="1"/>
          </p:cNvSpPr>
          <p:nvPr>
            <p:ph type="sldImg"/>
          </p:nvPr>
        </p:nvSpPr>
        <p:spPr>
          <a:solidFill>
            <a:srgbClr val="FFFFFF">
              <a:alpha val="100000"/>
            </a:srgbClr>
          </a:solidFill>
        </p:spPr>
      </p:sp>
      <p:sp>
        <p:nvSpPr>
          <p:cNvPr id="11878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0835" name="Rectangle 2"/>
          <p:cNvSpPr>
            <a:spLocks noTextEdit="1"/>
          </p:cNvSpPr>
          <p:nvPr>
            <p:ph type="sldImg"/>
          </p:nvPr>
        </p:nvSpPr>
        <p:spPr>
          <a:solidFill>
            <a:srgbClr val="FFFFFF">
              <a:alpha val="100000"/>
            </a:srgbClr>
          </a:solidFill>
        </p:spPr>
      </p:sp>
      <p:sp>
        <p:nvSpPr>
          <p:cNvPr id="12083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2883" name="Rectangle 2"/>
          <p:cNvSpPr>
            <a:spLocks noTextEdit="1"/>
          </p:cNvSpPr>
          <p:nvPr>
            <p:ph type="sldImg"/>
          </p:nvPr>
        </p:nvSpPr>
        <p:spPr>
          <a:solidFill>
            <a:srgbClr val="FFFFFF">
              <a:alpha val="100000"/>
            </a:srgbClr>
          </a:solidFill>
        </p:spPr>
      </p:sp>
      <p:sp>
        <p:nvSpPr>
          <p:cNvPr id="12288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4931" name="Rectangle 2"/>
          <p:cNvSpPr>
            <a:spLocks noTextEdit="1"/>
          </p:cNvSpPr>
          <p:nvPr>
            <p:ph type="sldImg"/>
          </p:nvPr>
        </p:nvSpPr>
        <p:spPr>
          <a:solidFill>
            <a:srgbClr val="FFFFFF">
              <a:alpha val="100000"/>
            </a:srgbClr>
          </a:solidFill>
        </p:spPr>
      </p:sp>
      <p:sp>
        <p:nvSpPr>
          <p:cNvPr id="12493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6979" name="Rectangle 2"/>
          <p:cNvSpPr>
            <a:spLocks noTextEdit="1"/>
          </p:cNvSpPr>
          <p:nvPr>
            <p:ph type="sldImg"/>
          </p:nvPr>
        </p:nvSpPr>
        <p:spPr>
          <a:solidFill>
            <a:srgbClr val="FFFFFF">
              <a:alpha val="100000"/>
            </a:srgbClr>
          </a:solidFill>
        </p:spPr>
      </p:sp>
      <p:sp>
        <p:nvSpPr>
          <p:cNvPr id="1269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29027" name="Rectangle 2"/>
          <p:cNvSpPr>
            <a:spLocks noTextEdit="1"/>
          </p:cNvSpPr>
          <p:nvPr>
            <p:ph type="sldImg"/>
          </p:nvPr>
        </p:nvSpPr>
        <p:spPr>
          <a:solidFill>
            <a:srgbClr val="FFFFFF">
              <a:alpha val="100000"/>
            </a:srgbClr>
          </a:solidFill>
        </p:spPr>
      </p:sp>
      <p:sp>
        <p:nvSpPr>
          <p:cNvPr id="12902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1075" name="Rectangle 2"/>
          <p:cNvSpPr>
            <a:spLocks noTextEdit="1"/>
          </p:cNvSpPr>
          <p:nvPr>
            <p:ph type="sldImg"/>
          </p:nvPr>
        </p:nvSpPr>
        <p:spPr>
          <a:solidFill>
            <a:srgbClr val="FFFFFF">
              <a:alpha val="100000"/>
            </a:srgbClr>
          </a:solidFill>
        </p:spPr>
      </p:sp>
      <p:sp>
        <p:nvSpPr>
          <p:cNvPr id="13107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这个实现中的一些思想可以用在涉及图搜索的很多算法中</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图</a:t>
            </a:r>
            <a:r>
              <a:rPr lang="en-US" altLang="zh-CN" dirty="0">
                <a:ea typeface="宋体" panose="02010600030101010101" pitchFamily="2" charset="-122"/>
              </a:rPr>
              <a:t>3-37</a:t>
            </a:r>
            <a:r>
              <a:rPr lang="zh-CN" altLang="en-US" dirty="0">
                <a:ea typeface="宋体" panose="02010600030101010101" pitchFamily="2" charset="-122"/>
              </a:rPr>
              <a:t>第一行的实现中</a:t>
            </a:r>
            <a:r>
              <a:rPr lang="zh-CN" altLang="en-US" b="1" dirty="0">
                <a:ea typeface="宋体" panose="02010600030101010101" pitchFamily="2" charset="-122"/>
              </a:rPr>
              <a:t>置</a:t>
            </a:r>
            <a:r>
              <a:rPr lang="en-US" altLang="zh-CN" i="1" dirty="0">
                <a:ea typeface="宋体" panose="02010600030101010101" pitchFamily="2" charset="-122"/>
              </a:rPr>
              <a:t>alreadyOn</a:t>
            </a:r>
            <a:r>
              <a:rPr lang="en-US" altLang="zh-CN" b="1" dirty="0">
                <a:ea typeface="宋体" panose="02010600030101010101" pitchFamily="2" charset="-122"/>
              </a:rPr>
              <a:t>[</a:t>
            </a:r>
            <a:r>
              <a:rPr lang="zh-CN" altLang="en-US" b="1" dirty="0">
                <a:ea typeface="宋体" panose="02010600030101010101" pitchFamily="2" charset="-122"/>
              </a:rPr>
              <a:t> </a:t>
            </a:r>
            <a:r>
              <a:rPr lang="en-US" altLang="zh-CN" b="1" dirty="0">
                <a:ea typeface="宋体" panose="02010600030101010101" pitchFamily="2" charset="-122"/>
              </a:rPr>
              <a:t>s</a:t>
            </a:r>
            <a:r>
              <a:rPr lang="zh-CN" altLang="en-US" b="1" dirty="0">
                <a:ea typeface="宋体" panose="02010600030101010101" pitchFamily="2" charset="-122"/>
              </a:rPr>
              <a:t> </a:t>
            </a:r>
            <a:r>
              <a:rPr lang="en-US" altLang="zh-CN" b="1" dirty="0">
                <a:ea typeface="宋体" panose="02010600030101010101" pitchFamily="2" charset="-122"/>
              </a:rPr>
              <a:t>]</a:t>
            </a:r>
            <a:r>
              <a:rPr lang="zh-CN" altLang="en-US" b="1" dirty="0">
                <a:ea typeface="宋体" panose="02010600030101010101" pitchFamily="2" charset="-122"/>
              </a:rPr>
              <a:t>为</a:t>
            </a:r>
            <a:r>
              <a:rPr lang="en-US" altLang="zh-CN" b="1" dirty="0">
                <a:ea typeface="宋体" panose="02010600030101010101" pitchFamily="2" charset="-122"/>
              </a:rPr>
              <a:t>TRUE</a:t>
            </a:r>
            <a:r>
              <a:rPr lang="zh-CN" altLang="en-US" b="1" dirty="0">
                <a:ea typeface="宋体" panose="02010600030101010101" pitchFamily="2" charset="-122"/>
              </a:rPr>
              <a:t>，实际上是借鉴</a:t>
            </a:r>
            <a:r>
              <a:rPr lang="en-US" altLang="zh-CN" i="1" dirty="0">
                <a:ea typeface="宋体" panose="02010600030101010101" pitchFamily="2" charset="-122"/>
              </a:rPr>
              <a:t>newStates</a:t>
            </a:r>
            <a:r>
              <a:rPr lang="zh-CN" altLang="en-US" dirty="0">
                <a:ea typeface="宋体" panose="02010600030101010101" pitchFamily="2" charset="-122"/>
              </a:rPr>
              <a:t>的实现，来实现</a:t>
            </a:r>
            <a:r>
              <a:rPr lang="en-US" altLang="zh-CN" i="1" dirty="0">
                <a:ea typeface="宋体" panose="02010600030101010101" pitchFamily="2" charset="-122"/>
              </a:rPr>
              <a:t>oldStates</a:t>
            </a:r>
            <a:r>
              <a:rPr lang="zh-CN" altLang="en-US" dirty="0">
                <a:ea typeface="宋体" panose="02010600030101010101" pitchFamily="2" charset="-122"/>
              </a:rPr>
              <a:t>的初始化，所以在程序开始时，</a:t>
            </a:r>
            <a:r>
              <a:rPr lang="en-US" altLang="zh-CN" i="1" dirty="0">
                <a:ea typeface="宋体" panose="02010600030101010101" pitchFamily="2" charset="-122"/>
              </a:rPr>
              <a:t>alreadyOn</a:t>
            </a:r>
            <a:r>
              <a:rPr lang="zh-CN" altLang="en-US" dirty="0">
                <a:ea typeface="宋体" panose="02010600030101010101" pitchFamily="2" charset="-122"/>
              </a:rPr>
              <a:t>不仅是指明那个状态在</a:t>
            </a:r>
            <a:r>
              <a:rPr lang="en-US" altLang="zh-CN" i="1" dirty="0">
                <a:ea typeface="宋体" panose="02010600030101010101" pitchFamily="2" charset="-122"/>
              </a:rPr>
              <a:t>newStates</a:t>
            </a:r>
            <a:r>
              <a:rPr lang="zh-CN" altLang="en-US" dirty="0">
                <a:ea typeface="宋体" panose="02010600030101010101" pitchFamily="2" charset="-122"/>
              </a:rPr>
              <a:t>中</a:t>
            </a:r>
            <a:endParaRPr lang="zh-CN" altLang="en-US" dirty="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3123" name="Rectangle 2"/>
          <p:cNvSpPr>
            <a:spLocks noTextEdit="1"/>
          </p:cNvSpPr>
          <p:nvPr>
            <p:ph type="sldImg"/>
          </p:nvPr>
        </p:nvSpPr>
        <p:spPr>
          <a:solidFill>
            <a:srgbClr val="FFFFFF">
              <a:alpha val="100000"/>
            </a:srgbClr>
          </a:solidFill>
        </p:spPr>
      </p:sp>
      <p:sp>
        <p:nvSpPr>
          <p:cNvPr id="13312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这个实现中的一些思想可以用在涉及图搜索的很多算法中</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图</a:t>
            </a:r>
            <a:r>
              <a:rPr lang="en-US" altLang="zh-CN" dirty="0">
                <a:ea typeface="宋体" panose="02010600030101010101" pitchFamily="2" charset="-122"/>
              </a:rPr>
              <a:t>3-37</a:t>
            </a:r>
            <a:r>
              <a:rPr lang="zh-CN" altLang="en-US" dirty="0">
                <a:ea typeface="宋体" panose="02010600030101010101" pitchFamily="2" charset="-122"/>
              </a:rPr>
              <a:t>第一行的实现中</a:t>
            </a:r>
            <a:r>
              <a:rPr lang="zh-CN" altLang="en-US" b="1" dirty="0">
                <a:ea typeface="宋体" panose="02010600030101010101" pitchFamily="2" charset="-122"/>
              </a:rPr>
              <a:t>置</a:t>
            </a:r>
            <a:r>
              <a:rPr lang="en-US" altLang="zh-CN" i="1" dirty="0">
                <a:ea typeface="宋体" panose="02010600030101010101" pitchFamily="2" charset="-122"/>
              </a:rPr>
              <a:t>alreadyOn</a:t>
            </a:r>
            <a:r>
              <a:rPr lang="en-US" altLang="zh-CN" b="1" dirty="0">
                <a:ea typeface="宋体" panose="02010600030101010101" pitchFamily="2" charset="-122"/>
              </a:rPr>
              <a:t>[</a:t>
            </a:r>
            <a:r>
              <a:rPr lang="zh-CN" altLang="en-US" b="1" dirty="0">
                <a:ea typeface="宋体" panose="02010600030101010101" pitchFamily="2" charset="-122"/>
              </a:rPr>
              <a:t> </a:t>
            </a:r>
            <a:r>
              <a:rPr lang="en-US" altLang="zh-CN" b="1" dirty="0">
                <a:ea typeface="宋体" panose="02010600030101010101" pitchFamily="2" charset="-122"/>
              </a:rPr>
              <a:t>s</a:t>
            </a:r>
            <a:r>
              <a:rPr lang="zh-CN" altLang="en-US" b="1" dirty="0">
                <a:ea typeface="宋体" panose="02010600030101010101" pitchFamily="2" charset="-122"/>
              </a:rPr>
              <a:t> </a:t>
            </a:r>
            <a:r>
              <a:rPr lang="en-US" altLang="zh-CN" b="1" dirty="0">
                <a:ea typeface="宋体" panose="02010600030101010101" pitchFamily="2" charset="-122"/>
              </a:rPr>
              <a:t>]</a:t>
            </a:r>
            <a:r>
              <a:rPr lang="zh-CN" altLang="en-US" b="1" dirty="0">
                <a:ea typeface="宋体" panose="02010600030101010101" pitchFamily="2" charset="-122"/>
              </a:rPr>
              <a:t>为</a:t>
            </a:r>
            <a:r>
              <a:rPr lang="en-US" altLang="zh-CN" b="1" dirty="0">
                <a:ea typeface="宋体" panose="02010600030101010101" pitchFamily="2" charset="-122"/>
              </a:rPr>
              <a:t>TRUE</a:t>
            </a:r>
            <a:r>
              <a:rPr lang="zh-CN" altLang="en-US" b="1" dirty="0">
                <a:ea typeface="宋体" panose="02010600030101010101" pitchFamily="2" charset="-122"/>
              </a:rPr>
              <a:t>，实际上是借鉴</a:t>
            </a:r>
            <a:r>
              <a:rPr lang="en-US" altLang="zh-CN" i="1" dirty="0">
                <a:ea typeface="宋体" panose="02010600030101010101" pitchFamily="2" charset="-122"/>
              </a:rPr>
              <a:t>newStates</a:t>
            </a:r>
            <a:r>
              <a:rPr lang="zh-CN" altLang="en-US" dirty="0">
                <a:ea typeface="宋体" panose="02010600030101010101" pitchFamily="2" charset="-122"/>
              </a:rPr>
              <a:t>的实现，来实现</a:t>
            </a:r>
            <a:r>
              <a:rPr lang="en-US" altLang="zh-CN" i="1" dirty="0">
                <a:ea typeface="宋体" panose="02010600030101010101" pitchFamily="2" charset="-122"/>
              </a:rPr>
              <a:t>oldStates</a:t>
            </a:r>
            <a:r>
              <a:rPr lang="zh-CN" altLang="en-US" dirty="0">
                <a:ea typeface="宋体" panose="02010600030101010101" pitchFamily="2" charset="-122"/>
              </a:rPr>
              <a:t>的初始化，所以在程序开始时，</a:t>
            </a:r>
            <a:r>
              <a:rPr lang="en-US" altLang="zh-CN" i="1" dirty="0">
                <a:ea typeface="宋体" panose="02010600030101010101" pitchFamily="2" charset="-122"/>
              </a:rPr>
              <a:t>alreadyOn</a:t>
            </a:r>
            <a:r>
              <a:rPr lang="zh-CN" altLang="en-US" dirty="0">
                <a:ea typeface="宋体" panose="02010600030101010101" pitchFamily="2" charset="-122"/>
              </a:rPr>
              <a:t>不仅是指明那个状态在</a:t>
            </a:r>
            <a:r>
              <a:rPr lang="en-US" altLang="zh-CN" i="1" dirty="0">
                <a:ea typeface="宋体" panose="02010600030101010101" pitchFamily="2" charset="-122"/>
              </a:rPr>
              <a:t>newStates</a:t>
            </a:r>
            <a:r>
              <a:rPr lang="zh-CN" altLang="en-US" dirty="0">
                <a:ea typeface="宋体" panose="02010600030101010101" pitchFamily="2" charset="-122"/>
              </a:rPr>
              <a:t>中</a:t>
            </a:r>
            <a:endParaRPr lang="zh-CN" altLang="en-US" dirty="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5171" name="Rectangle 2"/>
          <p:cNvSpPr>
            <a:spLocks noTextEdit="1"/>
          </p:cNvSpPr>
          <p:nvPr>
            <p:ph type="sldImg"/>
          </p:nvPr>
        </p:nvSpPr>
        <p:spPr>
          <a:solidFill>
            <a:srgbClr val="FFFFFF">
              <a:alpha val="100000"/>
            </a:srgbClr>
          </a:solidFill>
        </p:spPr>
      </p:sp>
      <p:sp>
        <p:nvSpPr>
          <p:cNvPr id="13517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这个实现中的一些思想可以用在涉及图搜索的很多算法中</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zh-CN" altLang="en-US" dirty="0">
                <a:ea typeface="宋体" panose="02010600030101010101" pitchFamily="2" charset="-122"/>
              </a:rPr>
              <a:t>图</a:t>
            </a:r>
            <a:r>
              <a:rPr lang="en-US" altLang="zh-CN" dirty="0">
                <a:ea typeface="宋体" panose="02010600030101010101" pitchFamily="2" charset="-122"/>
              </a:rPr>
              <a:t>3-37</a:t>
            </a:r>
            <a:r>
              <a:rPr lang="zh-CN" altLang="en-US" dirty="0">
                <a:ea typeface="宋体" panose="02010600030101010101" pitchFamily="2" charset="-122"/>
              </a:rPr>
              <a:t>第一行的实现中</a:t>
            </a:r>
            <a:r>
              <a:rPr lang="zh-CN" altLang="en-US" b="1" dirty="0">
                <a:ea typeface="宋体" panose="02010600030101010101" pitchFamily="2" charset="-122"/>
              </a:rPr>
              <a:t>置</a:t>
            </a:r>
            <a:r>
              <a:rPr lang="en-US" altLang="zh-CN" i="1" dirty="0">
                <a:ea typeface="宋体" panose="02010600030101010101" pitchFamily="2" charset="-122"/>
              </a:rPr>
              <a:t>alreadyOn</a:t>
            </a:r>
            <a:r>
              <a:rPr lang="en-US" altLang="zh-CN" b="1" dirty="0">
                <a:ea typeface="宋体" panose="02010600030101010101" pitchFamily="2" charset="-122"/>
              </a:rPr>
              <a:t>[</a:t>
            </a:r>
            <a:r>
              <a:rPr lang="zh-CN" altLang="en-US" b="1" dirty="0">
                <a:ea typeface="宋体" panose="02010600030101010101" pitchFamily="2" charset="-122"/>
              </a:rPr>
              <a:t> </a:t>
            </a:r>
            <a:r>
              <a:rPr lang="en-US" altLang="zh-CN" b="1" dirty="0">
                <a:ea typeface="宋体" panose="02010600030101010101" pitchFamily="2" charset="-122"/>
              </a:rPr>
              <a:t>s</a:t>
            </a:r>
            <a:r>
              <a:rPr lang="zh-CN" altLang="en-US" b="1" dirty="0">
                <a:ea typeface="宋体" panose="02010600030101010101" pitchFamily="2" charset="-122"/>
              </a:rPr>
              <a:t> </a:t>
            </a:r>
            <a:r>
              <a:rPr lang="en-US" altLang="zh-CN" b="1" dirty="0">
                <a:ea typeface="宋体" panose="02010600030101010101" pitchFamily="2" charset="-122"/>
              </a:rPr>
              <a:t>]</a:t>
            </a:r>
            <a:r>
              <a:rPr lang="zh-CN" altLang="en-US" b="1" dirty="0">
                <a:ea typeface="宋体" panose="02010600030101010101" pitchFamily="2" charset="-122"/>
              </a:rPr>
              <a:t>为</a:t>
            </a:r>
            <a:r>
              <a:rPr lang="en-US" altLang="zh-CN" b="1" dirty="0">
                <a:ea typeface="宋体" panose="02010600030101010101" pitchFamily="2" charset="-122"/>
              </a:rPr>
              <a:t>TRUE</a:t>
            </a:r>
            <a:r>
              <a:rPr lang="zh-CN" altLang="en-US" b="1" dirty="0">
                <a:ea typeface="宋体" panose="02010600030101010101" pitchFamily="2" charset="-122"/>
              </a:rPr>
              <a:t>，实际上是借鉴</a:t>
            </a:r>
            <a:r>
              <a:rPr lang="en-US" altLang="zh-CN" i="1" dirty="0">
                <a:ea typeface="宋体" panose="02010600030101010101" pitchFamily="2" charset="-122"/>
              </a:rPr>
              <a:t>newStates</a:t>
            </a:r>
            <a:r>
              <a:rPr lang="zh-CN" altLang="en-US" dirty="0">
                <a:ea typeface="宋体" panose="02010600030101010101" pitchFamily="2" charset="-122"/>
              </a:rPr>
              <a:t>的实现，来实现</a:t>
            </a:r>
            <a:r>
              <a:rPr lang="en-US" altLang="zh-CN" i="1" dirty="0">
                <a:ea typeface="宋体" panose="02010600030101010101" pitchFamily="2" charset="-122"/>
              </a:rPr>
              <a:t>oldStates</a:t>
            </a:r>
            <a:r>
              <a:rPr lang="zh-CN" altLang="en-US" dirty="0">
                <a:ea typeface="宋体" panose="02010600030101010101" pitchFamily="2" charset="-122"/>
              </a:rPr>
              <a:t>的初始化，所以在程序开始时，</a:t>
            </a:r>
            <a:r>
              <a:rPr lang="en-US" altLang="zh-CN" i="1" dirty="0">
                <a:ea typeface="宋体" panose="02010600030101010101" pitchFamily="2" charset="-122"/>
              </a:rPr>
              <a:t>alreadyOn</a:t>
            </a:r>
            <a:r>
              <a:rPr lang="zh-CN" altLang="en-US" dirty="0">
                <a:ea typeface="宋体" panose="02010600030101010101" pitchFamily="2" charset="-122"/>
              </a:rPr>
              <a:t>不仅是指明那个状态在</a:t>
            </a:r>
            <a:r>
              <a:rPr lang="en-US" altLang="zh-CN" i="1" dirty="0">
                <a:ea typeface="宋体" panose="02010600030101010101" pitchFamily="2" charset="-122"/>
              </a:rPr>
              <a:t>newStates</a:t>
            </a:r>
            <a:r>
              <a:rPr lang="zh-CN" altLang="en-US" dirty="0">
                <a:ea typeface="宋体" panose="02010600030101010101" pitchFamily="2" charset="-122"/>
              </a:rPr>
              <a:t>中</a:t>
            </a:r>
            <a:endParaRPr lang="zh-CN" altLang="en-US" dirty="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7219" name="Rectangle 2"/>
          <p:cNvSpPr>
            <a:spLocks noTextEdit="1"/>
          </p:cNvSpPr>
          <p:nvPr>
            <p:ph type="sldImg"/>
          </p:nvPr>
        </p:nvSpPr>
        <p:spPr>
          <a:solidFill>
            <a:srgbClr val="FFFFFF">
              <a:alpha val="100000"/>
            </a:srgbClr>
          </a:solidFill>
        </p:spPr>
      </p:sp>
      <p:sp>
        <p:nvSpPr>
          <p:cNvPr id="13722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39267" name="Rectangle 2"/>
          <p:cNvSpPr>
            <a:spLocks noTextEdit="1"/>
          </p:cNvSpPr>
          <p:nvPr>
            <p:ph type="sldImg"/>
          </p:nvPr>
        </p:nvSpPr>
        <p:spPr>
          <a:solidFill>
            <a:srgbClr val="FFFFFF">
              <a:alpha val="100000"/>
            </a:srgbClr>
          </a:solidFill>
        </p:spPr>
      </p:sp>
      <p:sp>
        <p:nvSpPr>
          <p:cNvPr id="13926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1315" name="Rectangle 2"/>
          <p:cNvSpPr>
            <a:spLocks noTextEdit="1"/>
          </p:cNvSpPr>
          <p:nvPr>
            <p:ph type="sldImg"/>
          </p:nvPr>
        </p:nvSpPr>
        <p:spPr>
          <a:solidFill>
            <a:srgbClr val="FFFFFF">
              <a:alpha val="100000"/>
            </a:srgbClr>
          </a:solidFill>
        </p:spPr>
      </p:sp>
      <p:sp>
        <p:nvSpPr>
          <p:cNvPr id="14131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3363" name="Rectangle 2"/>
          <p:cNvSpPr>
            <a:spLocks noTextEdit="1"/>
          </p:cNvSpPr>
          <p:nvPr>
            <p:ph type="sldImg"/>
          </p:nvPr>
        </p:nvSpPr>
        <p:spPr>
          <a:solidFill>
            <a:srgbClr val="FFFFFF">
              <a:alpha val="100000"/>
            </a:srgbClr>
          </a:solidFill>
        </p:spPr>
      </p:sp>
      <p:sp>
        <p:nvSpPr>
          <p:cNvPr id="14336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5411" name="Rectangle 2"/>
          <p:cNvSpPr>
            <a:spLocks noTextEdit="1"/>
          </p:cNvSpPr>
          <p:nvPr>
            <p:ph type="sldImg"/>
          </p:nvPr>
        </p:nvSpPr>
        <p:spPr>
          <a:solidFill>
            <a:srgbClr val="FFFFFF">
              <a:alpha val="100000"/>
            </a:srgbClr>
          </a:solidFill>
        </p:spPr>
      </p:sp>
      <p:sp>
        <p:nvSpPr>
          <p:cNvPr id="14541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7459" name="Rectangle 2"/>
          <p:cNvSpPr>
            <a:spLocks noTextEdit="1"/>
          </p:cNvSpPr>
          <p:nvPr>
            <p:ph type="sldImg"/>
          </p:nvPr>
        </p:nvSpPr>
        <p:spPr>
          <a:solidFill>
            <a:srgbClr val="FFFFFF">
              <a:alpha val="100000"/>
            </a:srgbClr>
          </a:solidFill>
        </p:spPr>
      </p:sp>
      <p:sp>
        <p:nvSpPr>
          <p:cNvPr id="14746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49507" name="Rectangle 2"/>
          <p:cNvSpPr>
            <a:spLocks noTextEdit="1"/>
          </p:cNvSpPr>
          <p:nvPr>
            <p:ph type="sldImg"/>
          </p:nvPr>
        </p:nvSpPr>
        <p:spPr>
          <a:solidFill>
            <a:srgbClr val="FFFFFF">
              <a:alpha val="100000"/>
            </a:srgbClr>
          </a:solidFill>
        </p:spPr>
      </p:sp>
      <p:sp>
        <p:nvSpPr>
          <p:cNvPr id="14950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1555" name="Rectangle 2"/>
          <p:cNvSpPr>
            <a:spLocks noTextEdit="1"/>
          </p:cNvSpPr>
          <p:nvPr>
            <p:ph type="sldImg"/>
          </p:nvPr>
        </p:nvSpPr>
        <p:spPr>
          <a:solidFill>
            <a:srgbClr val="FFFFFF">
              <a:alpha val="100000"/>
            </a:srgbClr>
          </a:solidFill>
        </p:spPr>
      </p:sp>
      <p:sp>
        <p:nvSpPr>
          <p:cNvPr id="15155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3603" name="Rectangle 2"/>
          <p:cNvSpPr>
            <a:spLocks noTextEdit="1"/>
          </p:cNvSpPr>
          <p:nvPr>
            <p:ph type="sldImg"/>
          </p:nvPr>
        </p:nvSpPr>
        <p:spPr>
          <a:solidFill>
            <a:srgbClr val="FFFFFF">
              <a:alpha val="100000"/>
            </a:srgbClr>
          </a:solidFill>
        </p:spPr>
      </p:sp>
      <p:sp>
        <p:nvSpPr>
          <p:cNvPr id="15360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el-GR" altLang="zh-CN" b="1" dirty="0">
                <a:ea typeface="宋体" panose="02010600030101010101" pitchFamily="2" charset="-122"/>
              </a:rPr>
              <a:t>Ε</a:t>
            </a:r>
            <a:r>
              <a:rPr lang="zh-CN" altLang="en-US" b="1" dirty="0">
                <a:ea typeface="宋体" panose="02010600030101010101" pitchFamily="2" charset="-122"/>
              </a:rPr>
              <a:t>可以区分终态和非终态</a:t>
            </a:r>
            <a:endParaRPr lang="zh-CN" altLang="en-US" dirty="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5651" name="Rectangle 2"/>
          <p:cNvSpPr>
            <a:spLocks noTextEdit="1"/>
          </p:cNvSpPr>
          <p:nvPr>
            <p:ph type="sldImg"/>
          </p:nvPr>
        </p:nvSpPr>
        <p:spPr>
          <a:solidFill>
            <a:srgbClr val="FFFFFF">
              <a:alpha val="100000"/>
            </a:srgbClr>
          </a:solidFill>
        </p:spPr>
      </p:sp>
      <p:sp>
        <p:nvSpPr>
          <p:cNvPr id="15565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7699" name="Rectangle 2"/>
          <p:cNvSpPr>
            <a:spLocks noTextEdit="1"/>
          </p:cNvSpPr>
          <p:nvPr>
            <p:ph type="sldImg"/>
          </p:nvPr>
        </p:nvSpPr>
        <p:spPr>
          <a:solidFill>
            <a:srgbClr val="FFFFFF">
              <a:alpha val="100000"/>
            </a:srgbClr>
          </a:solidFill>
        </p:spPr>
      </p:sp>
      <p:sp>
        <p:nvSpPr>
          <p:cNvPr id="15770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59747" name="Rectangle 2"/>
          <p:cNvSpPr>
            <a:spLocks noTextEdit="1"/>
          </p:cNvSpPr>
          <p:nvPr>
            <p:ph type="sldImg"/>
          </p:nvPr>
        </p:nvSpPr>
        <p:spPr>
          <a:solidFill>
            <a:srgbClr val="FFFFFF">
              <a:alpha val="100000"/>
            </a:srgbClr>
          </a:solidFill>
        </p:spPr>
      </p:sp>
      <p:sp>
        <p:nvSpPr>
          <p:cNvPr id="15974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1795" name="Rectangle 2"/>
          <p:cNvSpPr>
            <a:spLocks noTextEdit="1"/>
          </p:cNvSpPr>
          <p:nvPr>
            <p:ph type="sldImg"/>
          </p:nvPr>
        </p:nvSpPr>
        <p:spPr>
          <a:solidFill>
            <a:srgbClr val="FFFFFF">
              <a:alpha val="100000"/>
            </a:srgbClr>
          </a:solidFill>
        </p:spPr>
      </p:sp>
      <p:sp>
        <p:nvSpPr>
          <p:cNvPr id="16179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没有介绍课本上的</a:t>
            </a:r>
            <a:r>
              <a:rPr lang="en-US" altLang="zh-CN" dirty="0">
                <a:ea typeface="宋体" panose="02010600030101010101" pitchFamily="2" charset="-122"/>
              </a:rPr>
              <a:t>3.9.1~3.9.5</a:t>
            </a:r>
            <a:r>
              <a:rPr lang="zh-CN" altLang="en-US" dirty="0">
                <a:ea typeface="宋体" panose="02010600030101010101" pitchFamily="2" charset="-122"/>
              </a:rPr>
              <a:t>和</a:t>
            </a:r>
            <a:r>
              <a:rPr lang="en-US" altLang="zh-CN" dirty="0">
                <a:ea typeface="宋体" panose="02010600030101010101" pitchFamily="2" charset="-122"/>
              </a:rPr>
              <a:t>3.9.7</a:t>
            </a:r>
            <a:r>
              <a:rPr lang="zh-CN" altLang="en-US" dirty="0">
                <a:ea typeface="宋体" panose="02010600030101010101" pitchFamily="2" charset="-122"/>
              </a:rPr>
              <a:t>、</a:t>
            </a:r>
            <a:r>
              <a:rPr lang="en-US" altLang="zh-CN" dirty="0">
                <a:ea typeface="宋体" panose="02010600030101010101" pitchFamily="2" charset="-122"/>
              </a:rPr>
              <a:t>3.9.8</a:t>
            </a:r>
            <a:r>
              <a:rPr lang="zh-CN" altLang="en-US" dirty="0">
                <a:ea typeface="宋体" panose="02010600030101010101" pitchFamily="2" charset="-122"/>
              </a:rPr>
              <a:t>的内容，同学们感兴趣可以自学。</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3.9.1~3.9.5</a:t>
            </a:r>
            <a:r>
              <a:rPr lang="zh-CN" altLang="en-US" dirty="0">
                <a:ea typeface="宋体" panose="02010600030101010101" pitchFamily="2" charset="-122"/>
              </a:rPr>
              <a:t>介绍了一种由正则式直接构造</a:t>
            </a:r>
            <a:r>
              <a:rPr lang="en-US" altLang="zh-CN" dirty="0">
                <a:ea typeface="宋体" panose="02010600030101010101" pitchFamily="2" charset="-122"/>
              </a:rPr>
              <a:t>DFA</a:t>
            </a:r>
            <a:r>
              <a:rPr lang="zh-CN" altLang="en-US" dirty="0">
                <a:ea typeface="宋体" panose="02010600030101010101" pitchFamily="2" charset="-122"/>
              </a:rPr>
              <a:t>的方法，且其得到的</a:t>
            </a:r>
            <a:r>
              <a:rPr lang="en-US" altLang="zh-CN" dirty="0">
                <a:ea typeface="宋体" panose="02010600030101010101" pitchFamily="2" charset="-122"/>
              </a:rPr>
              <a:t>DFA</a:t>
            </a:r>
            <a:r>
              <a:rPr lang="zh-CN" altLang="en-US" dirty="0">
                <a:ea typeface="宋体" panose="02010600030101010101" pitchFamily="2" charset="-122"/>
              </a:rPr>
              <a:t>状态数要少于由</a:t>
            </a:r>
            <a:r>
              <a:rPr lang="en-US" altLang="zh-CN" dirty="0">
                <a:ea typeface="宋体" panose="02010600030101010101" pitchFamily="2" charset="-122"/>
              </a:rPr>
              <a:t>NFA</a:t>
            </a:r>
            <a:r>
              <a:rPr lang="zh-CN" altLang="en-US" dirty="0">
                <a:ea typeface="宋体" panose="02010600030101010101" pitchFamily="2" charset="-122"/>
              </a:rPr>
              <a:t>确定化得到的</a:t>
            </a:r>
            <a:r>
              <a:rPr lang="en-US" altLang="zh-CN" dirty="0">
                <a:ea typeface="宋体" panose="02010600030101010101" pitchFamily="2" charset="-122"/>
              </a:rPr>
              <a:t>DFA</a:t>
            </a:r>
            <a:r>
              <a:rPr lang="zh-CN" altLang="en-US" dirty="0">
                <a:ea typeface="宋体" panose="02010600030101010101" pitchFamily="2" charset="-122"/>
              </a:rPr>
              <a:t>的状态数目（但不会少于最简的</a:t>
            </a:r>
            <a:r>
              <a:rPr lang="en-US" altLang="zh-CN" dirty="0">
                <a:ea typeface="宋体" panose="02010600030101010101" pitchFamily="2" charset="-122"/>
              </a:rPr>
              <a:t>DFA</a:t>
            </a:r>
            <a:r>
              <a:rPr lang="zh-CN" altLang="en-US" dirty="0">
                <a:ea typeface="宋体" panose="02010600030101010101" pitchFamily="2" charset="-122"/>
              </a:rPr>
              <a:t>）</a:t>
            </a:r>
            <a:endParaRPr lang="en-US" altLang="zh-CN" dirty="0">
              <a:ea typeface="宋体" panose="02010600030101010101" pitchFamily="2" charset="-122"/>
            </a:endParaRPr>
          </a:p>
          <a:p>
            <a:pPr lvl="0"/>
            <a:endParaRPr lang="en-US" altLang="zh-CN" dirty="0">
              <a:ea typeface="宋体" panose="02010600030101010101" pitchFamily="2" charset="-122"/>
            </a:endParaRPr>
          </a:p>
          <a:p>
            <a:pPr lvl="0"/>
            <a:r>
              <a:rPr lang="en-US" altLang="zh-CN" dirty="0">
                <a:ea typeface="宋体" panose="02010600030101010101" pitchFamily="2" charset="-122"/>
              </a:rPr>
              <a:t>3.9.8</a:t>
            </a:r>
            <a:r>
              <a:rPr lang="zh-CN" altLang="en-US" dirty="0">
                <a:ea typeface="宋体" panose="02010600030101010101" pitchFamily="2" charset="-122"/>
              </a:rPr>
              <a:t>介绍了如何有效节省空间的问题，对于内存容量不大的机器，这个方法有一定意义，早期机器（一般内存容量都不大）的编译器中对各种表格的管理，也采取了利用静态数组保存链表等方法，以期在控制需求内存的大小、访问效率等方面得到改善</a:t>
            </a:r>
            <a:endParaRPr lang="zh-CN" altLang="en-US" dirty="0">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3843" name="Rectangle 2"/>
          <p:cNvSpPr>
            <a:spLocks noTextEdit="1"/>
          </p:cNvSpPr>
          <p:nvPr>
            <p:ph type="sldImg"/>
          </p:nvPr>
        </p:nvSpPr>
        <p:spPr>
          <a:solidFill>
            <a:srgbClr val="FFFFFF">
              <a:alpha val="100000"/>
            </a:srgbClr>
          </a:solidFill>
        </p:spPr>
      </p:sp>
      <p:sp>
        <p:nvSpPr>
          <p:cNvPr id="1638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在翻译规则部分，位置靠前的规则具有更高的优先权</a:t>
            </a:r>
            <a:endParaRPr lang="zh-CN" altLang="en-US" dirty="0">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65891" name="Rectangle 2"/>
          <p:cNvSpPr>
            <a:spLocks noTextEdit="1"/>
          </p:cNvSpPr>
          <p:nvPr>
            <p:ph type="sldImg"/>
          </p:nvPr>
        </p:nvSpPr>
        <p:spPr>
          <a:solidFill>
            <a:srgbClr val="FFFFFF">
              <a:alpha val="100000"/>
            </a:srgbClr>
          </a:solidFill>
        </p:spPr>
      </p:sp>
      <p:sp>
        <p:nvSpPr>
          <p:cNvPr id="1658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幻灯片图像占位符 1"/>
          <p:cNvSpPr>
            <a:spLocks noGrp="1" noRot="1" noChangeAspect="1" noTextEdit="1"/>
          </p:cNvSpPr>
          <p:nvPr>
            <p:ph type="sldImg"/>
          </p:nvPr>
        </p:nvSpPr>
        <p:spPr/>
      </p:sp>
      <p:sp>
        <p:nvSpPr>
          <p:cNvPr id="167939" name="备注占位符 2"/>
          <p:cNvSpPr>
            <a:spLocks noGrp="1"/>
          </p:cNvSpPr>
          <p:nvPr>
            <p:ph type="body" idx="1"/>
          </p:nvPr>
        </p:nvSpPr>
        <p:spPr>
          <a:ln w="22225"/>
        </p:spPr>
        <p:txBody>
          <a:bodyPr wrap="square" lIns="91534" tIns="45768" rIns="91534" bIns="45768" anchor="t" anchorCtr="0"/>
          <a:p>
            <a:pPr lvl="0"/>
            <a:r>
              <a:rPr lang="zh-CN" altLang="en-US" dirty="0">
                <a:ea typeface="宋体" panose="02010600030101010101" pitchFamily="2" charset="-122"/>
              </a:rPr>
              <a:t>代码中，</a:t>
            </a:r>
            <a:r>
              <a:rPr lang="en-US" altLang="zh-CN" dirty="0">
                <a:ea typeface="宋体" panose="02010600030101010101" pitchFamily="2" charset="-122"/>
              </a:rPr>
              <a:t>%{</a:t>
            </a:r>
            <a:r>
              <a:rPr lang="zh-CN" altLang="en-US" dirty="0">
                <a:ea typeface="宋体" panose="02010600030101010101" pitchFamily="2" charset="-122"/>
              </a:rPr>
              <a:t>  和  </a:t>
            </a:r>
            <a:r>
              <a:rPr lang="en-US" altLang="zh-CN" dirty="0">
                <a:ea typeface="宋体" panose="02010600030101010101" pitchFamily="2" charset="-122"/>
              </a:rPr>
              <a:t>%}</a:t>
            </a:r>
            <a:r>
              <a:rPr lang="zh-CN" altLang="en-US" dirty="0">
                <a:ea typeface="宋体" panose="02010600030101010101" pitchFamily="2" charset="-122"/>
              </a:rPr>
              <a:t>之间是给的内容被直接复制到</a:t>
            </a:r>
            <a:r>
              <a:rPr lang="en-US" altLang="zh-CN" dirty="0">
                <a:ea typeface="宋体" panose="02010600030101010101" pitchFamily="2" charset="-122"/>
              </a:rPr>
              <a:t>lex.yy.c</a:t>
            </a:r>
            <a:r>
              <a:rPr lang="zh-CN" altLang="en-US" dirty="0">
                <a:ea typeface="宋体" panose="02010600030101010101" pitchFamily="2" charset="-122"/>
              </a:rPr>
              <a:t>中，</a:t>
            </a:r>
            <a:endParaRPr lang="zh-CN" altLang="en-US" dirty="0">
              <a:ea typeface="宋体" panose="02010600030101010101" pitchFamily="2" charset="-122"/>
            </a:endParaRPr>
          </a:p>
        </p:txBody>
      </p:sp>
      <p:sp>
        <p:nvSpPr>
          <p:cNvPr id="167940"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幻灯片图像占位符 1"/>
          <p:cNvSpPr>
            <a:spLocks noGrp="1" noRot="1" noChangeAspect="1" noTextEdit="1"/>
          </p:cNvSpPr>
          <p:nvPr>
            <p:ph type="sldImg"/>
          </p:nvPr>
        </p:nvSpPr>
        <p:spPr/>
      </p:sp>
      <p:sp>
        <p:nvSpPr>
          <p:cNvPr id="169987" name="备注占位符 2"/>
          <p:cNvSpPr>
            <a:spLocks noGrp="1"/>
          </p:cNvSpPr>
          <p:nvPr>
            <p:ph type="body" idx="1"/>
          </p:nvPr>
        </p:nvSpPr>
        <p:spPr>
          <a:ln w="22225"/>
        </p:spPr>
        <p:txBody>
          <a:bodyPr wrap="square" lIns="91534" tIns="45768" rIns="91534" bIns="45768" anchor="t" anchorCtr="0"/>
          <a:p>
            <a:pPr marL="1333500" lvl="2" indent="-419100">
              <a:spcBef>
                <a:spcPct val="0"/>
              </a:spcBef>
              <a:buFont typeface="Wingdings" panose="05000000000000000000" pitchFamily="2" charset="2"/>
              <a:buChar char="•"/>
            </a:pPr>
            <a:r>
              <a:rPr lang="en-US" altLang="zh-CN" sz="1600" b="1" dirty="0">
                <a:ea typeface="宋体" panose="02010600030101010101" pitchFamily="2" charset="-122"/>
              </a:rPr>
              <a:t>install_id( ) {</a:t>
            </a:r>
            <a:endParaRPr lang="en-US" altLang="zh-CN" sz="1600" b="1" dirty="0">
              <a:ea typeface="宋体" panose="02010600030101010101" pitchFamily="2" charset="-122"/>
            </a:endParaRPr>
          </a:p>
          <a:p>
            <a:pPr marL="1333500" lvl="2" indent="-419100">
              <a:spcBef>
                <a:spcPct val="0"/>
              </a:spcBef>
              <a:buFont typeface="Wingdings" panose="05000000000000000000" pitchFamily="2" charset="2"/>
              <a:buChar char="•"/>
            </a:pPr>
            <a:r>
              <a:rPr lang="en-US" altLang="zh-CN" sz="1600" b="1" dirty="0">
                <a:ea typeface="宋体" panose="02010600030101010101" pitchFamily="2" charset="-122"/>
              </a:rPr>
              <a:t>	/* </a:t>
            </a:r>
            <a:r>
              <a:rPr lang="zh-CN" altLang="en-US" sz="1600" b="1" dirty="0">
                <a:ea typeface="宋体" panose="02010600030101010101" pitchFamily="2" charset="-122"/>
              </a:rPr>
              <a:t>把词法单元（词素）装入符号表并返回指针，</a:t>
            </a:r>
            <a:r>
              <a:rPr lang="en-US" altLang="zh-CN" sz="1600" b="1" dirty="0">
                <a:ea typeface="宋体" panose="02010600030101010101" pitchFamily="2" charset="-122"/>
              </a:rPr>
              <a:t>yytext</a:t>
            </a:r>
            <a:r>
              <a:rPr lang="zh-CN" altLang="en-US" sz="1600" b="1" dirty="0">
                <a:ea typeface="宋体" panose="02010600030101010101" pitchFamily="2" charset="-122"/>
              </a:rPr>
              <a:t>指向该单词的第一个字符</a:t>
            </a:r>
            <a:endParaRPr lang="zh-CN" altLang="en-US" sz="1600" b="1" dirty="0">
              <a:ea typeface="宋体" panose="02010600030101010101" pitchFamily="2" charset="-122"/>
            </a:endParaRPr>
          </a:p>
          <a:p>
            <a:pPr marL="1333500" lvl="2" indent="-419100">
              <a:spcBef>
                <a:spcPct val="0"/>
              </a:spcBef>
              <a:buFont typeface="Wingdings" panose="05000000000000000000" pitchFamily="2" charset="2"/>
              <a:buChar char="•"/>
            </a:pPr>
            <a:r>
              <a:rPr lang="zh-CN" altLang="en-US" sz="1600" b="1" dirty="0">
                <a:ea typeface="宋体" panose="02010600030101010101" pitchFamily="2" charset="-122"/>
              </a:rPr>
              <a:t>	    ，</a:t>
            </a:r>
            <a:r>
              <a:rPr lang="en-US" altLang="zh-CN" sz="1600" b="1" dirty="0">
                <a:ea typeface="宋体" panose="02010600030101010101" pitchFamily="2" charset="-122"/>
              </a:rPr>
              <a:t>yyleng</a:t>
            </a:r>
            <a:r>
              <a:rPr lang="zh-CN" altLang="en-US" sz="1600" b="1" dirty="0">
                <a:ea typeface="宋体" panose="02010600030101010101" pitchFamily="2" charset="-122"/>
              </a:rPr>
              <a:t>给出它的长度*/</a:t>
            </a:r>
            <a:endParaRPr lang="zh-CN" altLang="en-US" sz="1600" b="1" dirty="0">
              <a:ea typeface="宋体" panose="02010600030101010101" pitchFamily="2" charset="-122"/>
            </a:endParaRPr>
          </a:p>
          <a:p>
            <a:pPr marL="1333500" lvl="2" indent="-419100">
              <a:spcBef>
                <a:spcPct val="0"/>
              </a:spcBef>
              <a:buFont typeface="Wingdings" panose="05000000000000000000" pitchFamily="2" charset="2"/>
              <a:buChar char="•"/>
            </a:pPr>
            <a:r>
              <a:rPr lang="zh-CN" altLang="en-US" sz="1600" b="1" dirty="0">
                <a:ea typeface="宋体" panose="02010600030101010101" pitchFamily="2" charset="-122"/>
              </a:rPr>
              <a:t>}</a:t>
            </a:r>
            <a:endParaRPr lang="zh-CN" altLang="en-US" sz="1600" b="1" dirty="0">
              <a:ea typeface="宋体" panose="02010600030101010101" pitchFamily="2" charset="-122"/>
            </a:endParaRPr>
          </a:p>
          <a:p>
            <a:pPr marL="1333500" lvl="2" indent="-419100">
              <a:spcBef>
                <a:spcPct val="0"/>
              </a:spcBef>
              <a:buFont typeface="Wingdings" panose="05000000000000000000" pitchFamily="2" charset="2"/>
              <a:buChar char="•"/>
            </a:pPr>
            <a:endParaRPr lang="zh-CN" altLang="en-US" sz="1600" b="1" dirty="0">
              <a:ea typeface="宋体" panose="02010600030101010101" pitchFamily="2" charset="-122"/>
            </a:endParaRPr>
          </a:p>
          <a:p>
            <a:pPr marL="1333500" lvl="2" indent="-419100">
              <a:spcBef>
                <a:spcPct val="0"/>
              </a:spcBef>
              <a:buFont typeface="Wingdings" panose="05000000000000000000" pitchFamily="2" charset="2"/>
              <a:buChar char="•"/>
            </a:pPr>
            <a:r>
              <a:rPr lang="en-US" altLang="zh-CN" sz="1600" b="1" dirty="0">
                <a:ea typeface="宋体" panose="02010600030101010101" pitchFamily="2" charset="-122"/>
              </a:rPr>
              <a:t>install_num( ) {</a:t>
            </a:r>
            <a:endParaRPr lang="en-US" altLang="zh-CN" sz="1600" b="1" dirty="0">
              <a:ea typeface="宋体" panose="02010600030101010101" pitchFamily="2" charset="-122"/>
            </a:endParaRPr>
          </a:p>
          <a:p>
            <a:pPr marL="1333500" lvl="2" indent="-419100">
              <a:spcBef>
                <a:spcPct val="0"/>
              </a:spcBef>
              <a:buFont typeface="Wingdings" panose="05000000000000000000" pitchFamily="2" charset="2"/>
              <a:buChar char="•"/>
            </a:pPr>
            <a:r>
              <a:rPr lang="en-US" altLang="zh-CN" sz="1600" b="1" dirty="0">
                <a:ea typeface="宋体" panose="02010600030101010101" pitchFamily="2" charset="-122"/>
              </a:rPr>
              <a:t>	/* </a:t>
            </a:r>
            <a:r>
              <a:rPr lang="zh-CN" altLang="en-US" sz="1600" b="1" dirty="0">
                <a:ea typeface="宋体" panose="02010600030101010101" pitchFamily="2" charset="-122"/>
              </a:rPr>
              <a:t>类似上面的过程，但单词变为数 */</a:t>
            </a:r>
            <a:endParaRPr lang="zh-CN" altLang="en-US" sz="1600" b="1" dirty="0">
              <a:ea typeface="宋体" panose="02010600030101010101" pitchFamily="2" charset="-122"/>
            </a:endParaRPr>
          </a:p>
          <a:p>
            <a:pPr marL="1333500" lvl="2" indent="-419100">
              <a:spcBef>
                <a:spcPct val="0"/>
              </a:spcBef>
              <a:buFont typeface="Wingdings" panose="05000000000000000000" pitchFamily="2" charset="2"/>
              <a:buChar char="•"/>
            </a:pPr>
            <a:r>
              <a:rPr lang="zh-CN" altLang="en-US" sz="1600" b="1" dirty="0">
                <a:ea typeface="宋体" panose="02010600030101010101" pitchFamily="2" charset="-122"/>
              </a:rPr>
              <a:t>}</a:t>
            </a:r>
            <a:endParaRPr lang="zh-CN" altLang="en-US" sz="1600" b="1" dirty="0">
              <a:ea typeface="宋体" panose="02010600030101010101" pitchFamily="2" charset="-122"/>
            </a:endParaRPr>
          </a:p>
          <a:p>
            <a:pPr lvl="0">
              <a:buChar char="•"/>
            </a:pPr>
            <a:endParaRPr lang="zh-CN" altLang="en-US" dirty="0">
              <a:ea typeface="宋体" panose="02010600030101010101" pitchFamily="2" charset="-122"/>
            </a:endParaRPr>
          </a:p>
        </p:txBody>
      </p:sp>
      <p:sp>
        <p:nvSpPr>
          <p:cNvPr id="169988" name="灯片编号占位符 3"/>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2035" name="Rectangle 2"/>
          <p:cNvSpPr>
            <a:spLocks noTextEdit="1"/>
          </p:cNvSpPr>
          <p:nvPr>
            <p:ph type="sldImg"/>
          </p:nvPr>
        </p:nvSpPr>
        <p:spPr>
          <a:solidFill>
            <a:srgbClr val="FFFFFF">
              <a:alpha val="100000"/>
            </a:srgbClr>
          </a:solidFill>
        </p:spPr>
      </p:sp>
      <p:sp>
        <p:nvSpPr>
          <p:cNvPr id="17203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4083" name="Rectangle 2"/>
          <p:cNvSpPr>
            <a:spLocks noTextEdit="1"/>
          </p:cNvSpPr>
          <p:nvPr>
            <p:ph type="sldImg"/>
          </p:nvPr>
        </p:nvSpPr>
        <p:spPr>
          <a:solidFill>
            <a:srgbClr val="FFFFFF">
              <a:alpha val="100000"/>
            </a:srgbClr>
          </a:solidFill>
        </p:spPr>
      </p:sp>
      <p:sp>
        <p:nvSpPr>
          <p:cNvPr id="17408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在</a:t>
            </a:r>
            <a:r>
              <a:rPr lang="en-US" altLang="zh-CN" dirty="0">
                <a:ea typeface="宋体" panose="02010600030101010101" pitchFamily="2" charset="-122"/>
              </a:rPr>
              <a:t>if</a:t>
            </a:r>
            <a:r>
              <a:rPr lang="zh-CN" altLang="en-US" dirty="0">
                <a:ea typeface="宋体" panose="02010600030101010101" pitchFamily="2" charset="-122"/>
              </a:rPr>
              <a:t>等的识别中，</a:t>
            </a:r>
            <a:endParaRPr lang="en-US" altLang="zh-CN" dirty="0">
              <a:ea typeface="宋体" panose="02010600030101010101" pitchFamily="2" charset="-122"/>
            </a:endParaRPr>
          </a:p>
          <a:p>
            <a:pPr marL="1314450" lvl="2" indent="-457200"/>
            <a:r>
              <a:rPr lang="zh-CN" altLang="en-US" sz="2000" b="1" dirty="0">
                <a:ea typeface="宋体" panose="02010600030101010101" pitchFamily="2" charset="-122"/>
              </a:rPr>
              <a:t>如何与一般的标识符的识别区分？</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如果不满足“其后不是新的字母或数字”，则其只是某个标识符的前缀，而不是关键字</a:t>
            </a:r>
            <a:endParaRPr lang="en-US" altLang="zh-CN" sz="2000" b="1"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6131" name="Rectangle 2"/>
          <p:cNvSpPr>
            <a:spLocks noTextEdit="1"/>
          </p:cNvSpPr>
          <p:nvPr>
            <p:ph type="sldImg"/>
          </p:nvPr>
        </p:nvSpPr>
        <p:spPr>
          <a:solidFill>
            <a:srgbClr val="FFFFFF">
              <a:alpha val="100000"/>
            </a:srgbClr>
          </a:solidFill>
        </p:spPr>
      </p:sp>
      <p:sp>
        <p:nvSpPr>
          <p:cNvPr id="17613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78179" name="Rectangle 2"/>
          <p:cNvSpPr>
            <a:spLocks noTextEdit="1"/>
          </p:cNvSpPr>
          <p:nvPr>
            <p:ph type="sldImg"/>
          </p:nvPr>
        </p:nvSpPr>
        <p:spPr>
          <a:solidFill>
            <a:srgbClr val="FFFFFF">
              <a:alpha val="100000"/>
            </a:srgbClr>
          </a:solidFill>
        </p:spPr>
      </p:sp>
      <p:sp>
        <p:nvSpPr>
          <p:cNvPr id="17818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zh-CN" altLang="en-US" dirty="0">
                <a:ea typeface="宋体" panose="02010600030101010101" pitchFamily="2" charset="-122"/>
              </a:rPr>
              <a:t>在这个规则中，默认是不会出现空白符的，这个要求可以利用词法分析器对空白符的删除得到满足</a:t>
            </a:r>
            <a:endParaRPr lang="zh-CN" altLang="en-US" dirty="0">
              <a:ea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0227" name="Rectangle 2"/>
          <p:cNvSpPr>
            <a:spLocks noTextEdit="1"/>
          </p:cNvSpPr>
          <p:nvPr>
            <p:ph type="sldImg"/>
          </p:nvPr>
        </p:nvSpPr>
        <p:spPr>
          <a:solidFill>
            <a:srgbClr val="FFFFFF">
              <a:alpha val="100000"/>
            </a:srgbClr>
          </a:solidFill>
        </p:spPr>
      </p:sp>
      <p:sp>
        <p:nvSpPr>
          <p:cNvPr id="18022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2275" name="Rectangle 2"/>
          <p:cNvSpPr>
            <a:spLocks noTextEdit="1"/>
          </p:cNvSpPr>
          <p:nvPr>
            <p:ph type="sldImg"/>
          </p:nvPr>
        </p:nvSpPr>
        <p:spPr>
          <a:solidFill>
            <a:srgbClr val="FFFFFF">
              <a:alpha val="100000"/>
            </a:srgbClr>
          </a:solidFill>
        </p:spPr>
      </p:sp>
      <p:sp>
        <p:nvSpPr>
          <p:cNvPr id="182276"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4323" name="Rectangle 2"/>
          <p:cNvSpPr>
            <a:spLocks noTextEdit="1"/>
          </p:cNvSpPr>
          <p:nvPr>
            <p:ph type="sldImg"/>
          </p:nvPr>
        </p:nvSpPr>
        <p:spPr>
          <a:solidFill>
            <a:srgbClr val="FFFFFF">
              <a:alpha val="100000"/>
            </a:srgbClr>
          </a:solidFill>
        </p:spPr>
      </p:sp>
      <p:sp>
        <p:nvSpPr>
          <p:cNvPr id="18432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6371" name="Rectangle 2"/>
          <p:cNvSpPr>
            <a:spLocks noTextEdit="1"/>
          </p:cNvSpPr>
          <p:nvPr>
            <p:ph type="sldImg"/>
          </p:nvPr>
        </p:nvSpPr>
        <p:spPr>
          <a:solidFill>
            <a:srgbClr val="FFFFFF">
              <a:alpha val="100000"/>
            </a:srgbClr>
          </a:solidFill>
        </p:spPr>
      </p:sp>
      <p:sp>
        <p:nvSpPr>
          <p:cNvPr id="18637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89443" name="Rectangle 2"/>
          <p:cNvSpPr>
            <a:spLocks noTextEdit="1"/>
          </p:cNvSpPr>
          <p:nvPr>
            <p:ph type="sldImg"/>
          </p:nvPr>
        </p:nvSpPr>
        <p:spPr>
          <a:solidFill>
            <a:srgbClr val="FFFFFF">
              <a:alpha val="100000"/>
            </a:srgbClr>
          </a:solidFill>
        </p:spPr>
      </p:sp>
      <p:sp>
        <p:nvSpPr>
          <p:cNvPr id="189444"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1491" name="Rectangle 2"/>
          <p:cNvSpPr>
            <a:spLocks noTextEdit="1"/>
          </p:cNvSpPr>
          <p:nvPr>
            <p:ph type="sldImg"/>
          </p:nvPr>
        </p:nvSpPr>
        <p:spPr>
          <a:solidFill>
            <a:srgbClr val="FFFFFF">
              <a:alpha val="100000"/>
            </a:srgbClr>
          </a:solidFill>
        </p:spPr>
      </p:sp>
      <p:sp>
        <p:nvSpPr>
          <p:cNvPr id="191492"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r>
              <a:rPr lang="en-US" altLang="zh-CN" b="1" dirty="0">
                <a:ea typeface="宋体" panose="02010600030101010101" pitchFamily="2" charset="-122"/>
              </a:rPr>
              <a:t>Lex</a:t>
            </a:r>
            <a:r>
              <a:rPr lang="zh-CN" altLang="en-US" b="1" dirty="0">
                <a:ea typeface="宋体" panose="02010600030101010101" pitchFamily="2" charset="-122"/>
              </a:rPr>
              <a:t>模式</a:t>
            </a:r>
            <a:r>
              <a:rPr lang="en-US" altLang="zh-CN" i="1" dirty="0">
                <a:ea typeface="宋体" panose="02010600030101010101" pitchFamily="2" charset="-122"/>
              </a:rPr>
              <a:t>r</a:t>
            </a:r>
            <a:r>
              <a:rPr lang="en-US" altLang="zh-CN" i="1" baseline="-25000" dirty="0">
                <a:ea typeface="宋体" panose="02010600030101010101" pitchFamily="2" charset="-122"/>
              </a:rPr>
              <a:t>1</a:t>
            </a:r>
            <a:r>
              <a:rPr lang="en-US" altLang="zh-CN" b="1" dirty="0">
                <a:ea typeface="宋体" panose="02010600030101010101" pitchFamily="2" charset="-122"/>
              </a:rPr>
              <a:t>/</a:t>
            </a:r>
            <a:r>
              <a:rPr lang="en-US" altLang="zh-CN" i="1" dirty="0">
                <a:ea typeface="宋体" panose="02010600030101010101" pitchFamily="2" charset="-122"/>
              </a:rPr>
              <a:t>r</a:t>
            </a:r>
            <a:r>
              <a:rPr lang="en-US" altLang="zh-CN" i="1" baseline="-25000" dirty="0">
                <a:ea typeface="宋体" panose="02010600030101010101" pitchFamily="2" charset="-122"/>
              </a:rPr>
              <a:t>2</a:t>
            </a:r>
            <a:r>
              <a:rPr lang="zh-CN" altLang="en-US" b="1" dirty="0">
                <a:ea typeface="宋体" panose="02010600030101010101" pitchFamily="2" charset="-122"/>
              </a:rPr>
              <a:t>表示为了识别</a:t>
            </a:r>
            <a:r>
              <a:rPr lang="en-US" altLang="zh-CN" i="1" dirty="0">
                <a:ea typeface="宋体" panose="02010600030101010101" pitchFamily="2" charset="-122"/>
              </a:rPr>
              <a:t>r</a:t>
            </a:r>
            <a:r>
              <a:rPr lang="en-US" altLang="zh-CN" i="1" baseline="-25000" dirty="0">
                <a:ea typeface="宋体" panose="02010600030101010101" pitchFamily="2" charset="-122"/>
              </a:rPr>
              <a:t>1</a:t>
            </a:r>
            <a:r>
              <a:rPr lang="zh-CN" altLang="en-US" b="1" dirty="0">
                <a:ea typeface="宋体" panose="02010600030101010101" pitchFamily="2" charset="-122"/>
              </a:rPr>
              <a:t>，必须向前看到</a:t>
            </a:r>
            <a:r>
              <a:rPr lang="en-US" altLang="zh-CN" i="1" dirty="0">
                <a:ea typeface="宋体" panose="02010600030101010101" pitchFamily="2" charset="-122"/>
              </a:rPr>
              <a:t>r</a:t>
            </a:r>
            <a:r>
              <a:rPr lang="en-US" altLang="zh-CN" i="1" baseline="-25000" dirty="0">
                <a:ea typeface="宋体" panose="02010600030101010101" pitchFamily="2" charset="-122"/>
              </a:rPr>
              <a:t>2</a:t>
            </a:r>
            <a:r>
              <a:rPr lang="zh-CN" altLang="en-US" b="1" dirty="0">
                <a:ea typeface="宋体" panose="02010600030101010101" pitchFamily="2" charset="-122"/>
              </a:rPr>
              <a:t>，即只有</a:t>
            </a:r>
            <a:r>
              <a:rPr lang="en-US" altLang="zh-CN" i="1" dirty="0">
                <a:ea typeface="宋体" panose="02010600030101010101" pitchFamily="2" charset="-122"/>
              </a:rPr>
              <a:t>r</a:t>
            </a:r>
            <a:r>
              <a:rPr lang="en-US" altLang="zh-CN" i="1" baseline="-25000" dirty="0">
                <a:ea typeface="宋体" panose="02010600030101010101" pitchFamily="2" charset="-122"/>
              </a:rPr>
              <a:t>1</a:t>
            </a:r>
            <a:r>
              <a:rPr lang="zh-CN" altLang="en-US" b="1" dirty="0">
                <a:ea typeface="宋体" panose="02010600030101010101" pitchFamily="2" charset="-122"/>
              </a:rPr>
              <a:t>后的输入与附加模式</a:t>
            </a:r>
            <a:r>
              <a:rPr lang="en-US" altLang="zh-CN" i="1" dirty="0">
                <a:ea typeface="宋体" panose="02010600030101010101" pitchFamily="2" charset="-122"/>
              </a:rPr>
              <a:t>r</a:t>
            </a:r>
            <a:r>
              <a:rPr lang="en-US" altLang="zh-CN" i="1" baseline="-25000" dirty="0">
                <a:ea typeface="宋体" panose="02010600030101010101" pitchFamily="2" charset="-122"/>
              </a:rPr>
              <a:t>2</a:t>
            </a:r>
            <a:r>
              <a:rPr lang="zh-CN" altLang="en-US" b="1" dirty="0">
                <a:ea typeface="宋体" panose="02010600030101010101" pitchFamily="2" charset="-122"/>
              </a:rPr>
              <a:t>匹配，我们才能说识别了</a:t>
            </a:r>
            <a:r>
              <a:rPr lang="en-US" altLang="zh-CN" i="1" dirty="0">
                <a:ea typeface="宋体" panose="02010600030101010101" pitchFamily="2" charset="-122"/>
              </a:rPr>
              <a:t>r</a:t>
            </a:r>
            <a:r>
              <a:rPr lang="en-US" altLang="zh-CN" i="1" baseline="-25000" dirty="0">
                <a:ea typeface="宋体" panose="02010600030101010101" pitchFamily="2" charset="-122"/>
              </a:rPr>
              <a:t>1</a:t>
            </a:r>
            <a:r>
              <a:rPr lang="zh-CN" altLang="en-US" b="1" dirty="0">
                <a:ea typeface="宋体" panose="02010600030101010101" pitchFamily="2" charset="-122"/>
              </a:rPr>
              <a:t>，但是</a:t>
            </a:r>
            <a:r>
              <a:rPr lang="en-US" altLang="zh-CN" i="1" dirty="0">
                <a:ea typeface="宋体" panose="02010600030101010101" pitchFamily="2" charset="-122"/>
              </a:rPr>
              <a:t>r</a:t>
            </a:r>
            <a:r>
              <a:rPr lang="en-US" altLang="zh-CN" i="1" baseline="-25000" dirty="0">
                <a:ea typeface="宋体" panose="02010600030101010101" pitchFamily="2" charset="-122"/>
              </a:rPr>
              <a:t>2</a:t>
            </a:r>
            <a:r>
              <a:rPr lang="zh-CN" altLang="en-US" b="1" dirty="0">
                <a:ea typeface="宋体" panose="02010600030101010101" pitchFamily="2" charset="-122"/>
              </a:rPr>
              <a:t>不是</a:t>
            </a:r>
            <a:r>
              <a:rPr lang="en-US" altLang="zh-CN" i="1" dirty="0">
                <a:ea typeface="宋体" panose="02010600030101010101" pitchFamily="2" charset="-122"/>
              </a:rPr>
              <a:t>r</a:t>
            </a:r>
            <a:r>
              <a:rPr lang="en-US" altLang="zh-CN" i="1" baseline="-25000" dirty="0">
                <a:ea typeface="宋体" panose="02010600030101010101" pitchFamily="2" charset="-122"/>
              </a:rPr>
              <a:t>1</a:t>
            </a:r>
            <a:r>
              <a:rPr lang="zh-CN" altLang="en-US" b="1" dirty="0">
                <a:ea typeface="宋体" panose="02010600030101010101" pitchFamily="2" charset="-122"/>
              </a:rPr>
              <a:t>的一部分</a:t>
            </a:r>
            <a:endParaRPr lang="en-US" altLang="zh-CN" b="1" dirty="0">
              <a:ea typeface="宋体" panose="02010600030101010101" pitchFamily="2" charset="-122"/>
            </a:endParaRPr>
          </a:p>
          <a:p>
            <a:pPr lvl="0"/>
            <a:endParaRPr lang="en-US" altLang="zh-CN" b="1" dirty="0">
              <a:ea typeface="宋体" panose="02010600030101010101" pitchFamily="2" charset="-122"/>
            </a:endParaRPr>
          </a:p>
          <a:p>
            <a:pPr lvl="0"/>
            <a:r>
              <a:rPr lang="zh-CN" altLang="en-US" b="1" dirty="0">
                <a:ea typeface="宋体" panose="02010600030101010101" pitchFamily="2" charset="-122"/>
              </a:rPr>
              <a:t>如对于关键字</a:t>
            </a:r>
            <a:r>
              <a:rPr lang="en-US" altLang="zh-CN" b="1" dirty="0">
                <a:ea typeface="宋体" panose="02010600030101010101" pitchFamily="2" charset="-122"/>
              </a:rPr>
              <a:t>IF</a:t>
            </a:r>
            <a:r>
              <a:rPr lang="zh-CN" altLang="en-US" b="1" dirty="0">
                <a:ea typeface="宋体" panose="02010600030101010101" pitchFamily="2" charset="-122"/>
              </a:rPr>
              <a:t>，其后总是跟着一个左括号，然后是一些可能包含在括号中的文本（条件表达式），接着是一个右括号和一个字母，因此可以用下式表示：</a:t>
            </a:r>
            <a:endParaRPr lang="en-US" altLang="zh-CN" b="1" dirty="0">
              <a:ea typeface="宋体" panose="02010600030101010101" pitchFamily="2" charset="-122"/>
            </a:endParaRPr>
          </a:p>
          <a:p>
            <a:pPr lvl="0"/>
            <a:endParaRPr lang="en-US" altLang="zh-CN" b="1" dirty="0">
              <a:ea typeface="宋体" panose="02010600030101010101" pitchFamily="2" charset="-122"/>
            </a:endParaRPr>
          </a:p>
          <a:p>
            <a:pPr lvl="0"/>
            <a:r>
              <a:rPr lang="en-US" altLang="zh-CN" b="1" dirty="0">
                <a:ea typeface="宋体" panose="02010600030101010101" pitchFamily="2" charset="-122"/>
              </a:rPr>
              <a:t>IF</a:t>
            </a:r>
            <a:r>
              <a:rPr lang="zh-CN" altLang="en-US" b="1" dirty="0">
                <a:ea typeface="宋体" panose="02010600030101010101" pitchFamily="2" charset="-122"/>
              </a:rPr>
              <a:t> </a:t>
            </a:r>
            <a:r>
              <a:rPr lang="en-US" altLang="zh-CN" b="1" dirty="0">
                <a:ea typeface="宋体" panose="02010600030101010101" pitchFamily="2" charset="-122"/>
              </a:rPr>
              <a:t>/</a:t>
            </a:r>
            <a:r>
              <a:rPr lang="zh-CN" altLang="en-US" b="1" dirty="0">
                <a:ea typeface="宋体" panose="02010600030101010101" pitchFamily="2" charset="-122"/>
              </a:rPr>
              <a:t> </a:t>
            </a:r>
            <a:r>
              <a:rPr lang="en-US" altLang="zh-CN" b="1" dirty="0">
                <a:ea typeface="宋体" panose="02010600030101010101" pitchFamily="2" charset="-122"/>
              </a:rPr>
              <a:t>\( . * \) {letter}</a:t>
            </a:r>
            <a:endParaRPr lang="en-US" altLang="zh-CN" b="1" dirty="0">
              <a:ea typeface="宋体" panose="02010600030101010101" pitchFamily="2" charset="-122"/>
            </a:endParaRPr>
          </a:p>
          <a:p>
            <a:pPr lvl="0"/>
            <a:endParaRPr lang="en-US" altLang="zh-CN" b="1" dirty="0">
              <a:ea typeface="宋体" panose="02010600030101010101" pitchFamily="2" charset="-122"/>
            </a:endParaRPr>
          </a:p>
          <a:p>
            <a:pPr lvl="0"/>
            <a:r>
              <a:rPr lang="en-US" altLang="zh-CN" b="1" dirty="0">
                <a:ea typeface="宋体" panose="02010600030101010101" pitchFamily="2" charset="-122"/>
              </a:rPr>
              <a:t>\</a:t>
            </a:r>
            <a:r>
              <a:rPr lang="zh-CN" altLang="en-US" b="1" dirty="0">
                <a:ea typeface="宋体" panose="02010600030101010101" pitchFamily="2" charset="-122"/>
              </a:rPr>
              <a:t>表示后续的符号是正常正则式中的一个符号，而不是</a:t>
            </a:r>
            <a:r>
              <a:rPr lang="en-US" altLang="zh-CN" b="1" dirty="0">
                <a:ea typeface="宋体" panose="02010600030101010101" pitchFamily="2" charset="-122"/>
              </a:rPr>
              <a:t>lex</a:t>
            </a:r>
            <a:r>
              <a:rPr lang="zh-CN" altLang="en-US" b="1" dirty="0">
                <a:ea typeface="宋体" panose="02010600030101010101" pitchFamily="2" charset="-122"/>
              </a:rPr>
              <a:t>的元符号，</a:t>
            </a:r>
            <a:r>
              <a:rPr lang="en-US" altLang="zh-CN" b="1" dirty="0">
                <a:ea typeface="宋体" panose="02010600030101010101" pitchFamily="2" charset="-122"/>
              </a:rPr>
              <a:t>.</a:t>
            </a:r>
            <a:r>
              <a:rPr lang="zh-CN" altLang="en-US" b="1" dirty="0">
                <a:ea typeface="宋体" panose="02010600030101010101" pitchFamily="2" charset="-122"/>
              </a:rPr>
              <a:t>*表示与任何不包括换行符的字符串</a:t>
            </a:r>
            <a:endParaRPr lang="zh-CN" altLang="en-US" dirty="0">
              <a:ea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3539" name="Rectangle 2"/>
          <p:cNvSpPr>
            <a:spLocks noTextEdit="1"/>
          </p:cNvSpPr>
          <p:nvPr>
            <p:ph type="sldImg"/>
          </p:nvPr>
        </p:nvSpPr>
        <p:spPr>
          <a:solidFill>
            <a:srgbClr val="FFFFFF">
              <a:alpha val="100000"/>
            </a:srgbClr>
          </a:solidFill>
        </p:spPr>
      </p:sp>
      <p:sp>
        <p:nvSpPr>
          <p:cNvPr id="193540"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7"/>
          <p:cNvSpPr txBox="1">
            <a:spLocks noGrp="1"/>
          </p:cNvSpPr>
          <p:nvPr>
            <p:ph type="sldNum" sz="quarter"/>
          </p:nvPr>
        </p:nvSpPr>
        <p:spPr>
          <a:xfrm>
            <a:off x="3802063" y="9285288"/>
            <a:ext cx="2906712" cy="488950"/>
          </a:xfrm>
          <a:prstGeom prst="rect">
            <a:avLst/>
          </a:prstGeom>
          <a:noFill/>
          <a:ln w="22225">
            <a:noFill/>
          </a:ln>
        </p:spPr>
        <p:txBody>
          <a:bodyPr lIns="91534" tIns="45768" rIns="91534" bIns="45768" anchor="b" anchorCtr="0"/>
          <a:p>
            <a:pPr lvl="0" algn="r" defTabSz="916305"/>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
        <p:nvSpPr>
          <p:cNvPr id="195587" name="Rectangle 2"/>
          <p:cNvSpPr>
            <a:spLocks noTextEdit="1"/>
          </p:cNvSpPr>
          <p:nvPr>
            <p:ph type="sldImg"/>
          </p:nvPr>
        </p:nvSpPr>
        <p:spPr>
          <a:solidFill>
            <a:srgbClr val="FFFFFF">
              <a:alpha val="100000"/>
            </a:srgbClr>
          </a:solidFill>
        </p:spPr>
      </p:sp>
      <p:sp>
        <p:nvSpPr>
          <p:cNvPr id="195588" name="Rectangle 3"/>
          <p:cNvSpPr/>
          <p:nvPr>
            <p:ph type="body" idx="1"/>
          </p:nvPr>
        </p:nvSpPr>
        <p:spPr>
          <a:solidFill>
            <a:srgbClr val="FFFFFF">
              <a:alpha val="100000"/>
            </a:srgbClr>
          </a:solidFill>
          <a:ln w="22225">
            <a:solidFill>
              <a:srgbClr val="000000">
                <a:alpha val="100000"/>
              </a:srgbClr>
            </a:solidFill>
            <a:miter lim="800000"/>
            <a:headEnd w="sm" len="sm"/>
            <a:tailEnd w="lg"/>
          </a:ln>
        </p:spPr>
        <p:txBody>
          <a:bodyPr wrap="square" lIns="91534" tIns="45768" rIns="91534" bIns="45768"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62500" y="1676400"/>
            <a:ext cx="3695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63DE8"/>
              </a:buClr>
              <a:buSzPct val="125000"/>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457200"/>
            <a:ext cx="1885950"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457200"/>
            <a:ext cx="5505450" cy="5715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dt" sz="half" idx="2"/>
          </p:nvPr>
        </p:nvSpPr>
        <p:spPr bwMode="auto">
          <a:xfrm>
            <a:off x="914400" y="6400800"/>
            <a:ext cx="1905000" cy="457200"/>
          </a:xfrm>
          <a:prstGeom prst="rect">
            <a:avLst/>
          </a:prstGeom>
          <a:noFill/>
          <a:ln>
            <a:noFill/>
          </a:ln>
          <a:effectLst/>
        </p:spPr>
        <p:txBody>
          <a:bodyPr vert="horz" wrap="none" lIns="92075" tIns="46038" rIns="92075" bIns="46038" numCol="1" anchor="ctr" anchorCtr="0" compatLnSpc="1"/>
          <a:lstStyle>
            <a:lvl1pPr>
              <a:defRPr sz="140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ftr" sz="quarter" idx="3"/>
          </p:nvPr>
        </p:nvSpPr>
        <p:spPr bwMode="auto">
          <a:xfrm>
            <a:off x="3124200" y="6400800"/>
            <a:ext cx="2895600" cy="457200"/>
          </a:xfrm>
          <a:prstGeom prst="rect">
            <a:avLst/>
          </a:prstGeom>
          <a:noFill/>
          <a:ln>
            <a:noFill/>
          </a:ln>
          <a:effectLst/>
        </p:spPr>
        <p:txBody>
          <a:bodyPr vert="horz" wrap="none" lIns="92075" tIns="46038" rIns="92075" bIns="46038" numCol="1" anchor="ctr" anchorCtr="0" compatLnSpc="1"/>
          <a:lstStyle>
            <a:lvl1pPr algn="ctr">
              <a:defRPr sz="1400">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ChangeArrowheads="1"/>
          </p:cNvSpPr>
          <p:nvPr>
            <p:ph type="sldNum" sz="quarter" idx="4"/>
          </p:nvPr>
        </p:nvSpPr>
        <p:spPr bwMode="auto">
          <a:xfrm>
            <a:off x="6553200" y="6400800"/>
            <a:ext cx="1905000" cy="457200"/>
          </a:xfrm>
          <a:prstGeom prst="rect">
            <a:avLst/>
          </a:prstGeom>
          <a:noFill/>
          <a:ln>
            <a:noFill/>
          </a:ln>
          <a:effectLst/>
        </p:spPr>
        <p:txBody>
          <a:bodyPr vert="horz" wrap="none" lIns="92075" tIns="46038" rIns="92075" bIns="46038" numCol="1" anchor="ctr" anchorCtr="0" compatLnSpc="1"/>
          <a:lstStyle>
            <a:lvl1pPr algn="r">
              <a:defRPr sz="140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p:cNvSpPr>
          <p:nvPr>
            <p:ph type="title"/>
          </p:nvPr>
        </p:nvSpPr>
        <p:spPr>
          <a:xfrm>
            <a:off x="914400" y="457200"/>
            <a:ext cx="7543800" cy="914400"/>
          </a:xfrm>
          <a:prstGeom prst="rect">
            <a:avLst/>
          </a:prstGeom>
          <a:noFill/>
          <a:ln w="9525">
            <a:noFill/>
          </a:ln>
        </p:spPr>
        <p:txBody>
          <a:bodyPr lIns="92075" tIns="46038" rIns="92075" bIns="46038" anchor="ctr" anchorCtr="0"/>
          <a:p>
            <a:pPr lvl="0"/>
            <a:r>
              <a:rPr lang="en-US" altLang="zh-CN" dirty="0"/>
              <a:t>Click to edit Master title style</a:t>
            </a:r>
            <a:endParaRPr lang="en-US" altLang="zh-CN" dirty="0"/>
          </a:p>
        </p:txBody>
      </p:sp>
      <p:sp>
        <p:nvSpPr>
          <p:cNvPr id="1030" name="Rectangle 6"/>
          <p:cNvSpPr>
            <a:spLocks noGrp="1"/>
          </p:cNvSpPr>
          <p:nvPr>
            <p:ph type="body" idx="1"/>
          </p:nvPr>
        </p:nvSpPr>
        <p:spPr>
          <a:xfrm>
            <a:off x="914400" y="1676400"/>
            <a:ext cx="7543800" cy="4495800"/>
          </a:xfrm>
          <a:prstGeom prst="rect">
            <a:avLst/>
          </a:prstGeom>
          <a:noFill/>
          <a:ln w="9525">
            <a:noFill/>
          </a:ln>
        </p:spPr>
        <p:txBody>
          <a:bodyPr lIns="92075" tIns="46038" rIns="92075" bIns="46038"/>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1" name="Rectangle 13"/>
          <p:cNvSpPr>
            <a:spLocks noChangeArrowheads="1"/>
          </p:cNvSpPr>
          <p:nvPr/>
        </p:nvSpPr>
        <p:spPr bwMode="auto">
          <a:xfrm>
            <a:off x="288925" y="425450"/>
            <a:ext cx="8574088" cy="1173163"/>
          </a:xfrm>
          <a:prstGeom prst="rect">
            <a:avLst/>
          </a:prstGeom>
          <a:no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Rectangle 14"/>
          <p:cNvSpPr>
            <a:spLocks noChangeArrowheads="1"/>
          </p:cNvSpPr>
          <p:nvPr/>
        </p:nvSpPr>
        <p:spPr bwMode="auto">
          <a:xfrm>
            <a:off x="4191000" y="6477000"/>
            <a:ext cx="390525" cy="304800"/>
          </a:xfrm>
          <a:prstGeom prst="rect">
            <a:avLst/>
          </a:prstGeom>
          <a:noFill/>
          <a:ln>
            <a:noFill/>
          </a:ln>
          <a:effectLst/>
        </p:spPr>
        <p:txBody>
          <a:bodyPr wrap="none" lIns="92075" tIns="46038" rIns="92075" bIns="46038">
            <a:spAutoFit/>
          </a:bodyPr>
          <a:p>
            <a:pPr lvl="0">
              <a:buNone/>
            </a:pPr>
            <a:fld id="{9A0DB2DC-4C9A-4742-B13C-FB6460FD3503}" type="slidenum">
              <a:rPr lang="zh-CN" altLang="en-US" sz="1400" dirty="0">
                <a:solidFill>
                  <a:schemeClr val="tx2"/>
                </a:solidFill>
                <a:latin typeface="Times New Roman" panose="02020603050405020304" pitchFamily="18" charset="0"/>
                <a:ea typeface="宋体" panose="02010600030101010101" pitchFamily="2" charset="-122"/>
              </a:rPr>
            </a:fld>
            <a:endParaRPr lang="zh-CN" altLang="en-US" sz="1400" dirty="0">
              <a:solidFill>
                <a:schemeClr val="tx2"/>
              </a:solidFill>
              <a:latin typeface="Arial" panose="020B0604020202020204" pitchFamily="34" charset="0"/>
              <a:ea typeface="宋体" panose="02010600030101010101" pitchFamily="2" charset="-122"/>
            </a:endParaRPr>
          </a:p>
        </p:txBody>
      </p:sp>
      <p:pic>
        <p:nvPicPr>
          <p:cNvPr id="1033" name="Picture 15" descr="ict1"/>
          <p:cNvPicPr>
            <a:picLocks noChangeAspect="1"/>
          </p:cNvPicPr>
          <p:nvPr userDrawn="1"/>
        </p:nvPicPr>
        <p:blipFill>
          <a:blip r:embed="rId12"/>
          <a:stretch>
            <a:fillRect/>
          </a:stretch>
        </p:blipFill>
        <p:spPr>
          <a:xfrm>
            <a:off x="152400" y="223838"/>
            <a:ext cx="3505200" cy="538162"/>
          </a:xfrm>
          <a:prstGeom prst="rect">
            <a:avLst/>
          </a:prstGeom>
          <a:noFill/>
          <a:ln w="9525">
            <a:noFill/>
          </a:ln>
        </p:spPr>
      </p:pic>
      <p:sp>
        <p:nvSpPr>
          <p:cNvPr id="1034" name="Rectangle 17"/>
          <p:cNvSpPr>
            <a:spLocks noChangeArrowheads="1"/>
          </p:cNvSpPr>
          <p:nvPr/>
        </p:nvSpPr>
        <p:spPr bwMode="gray">
          <a:xfrm>
            <a:off x="917575" y="1339850"/>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ctr" rtl="0" eaLnBrk="0" fontAlgn="base" hangingPunct="0">
        <a:spcBef>
          <a:spcPct val="0"/>
        </a:spcBef>
        <a:spcAft>
          <a:spcPct val="0"/>
        </a:spcAft>
        <a:defRPr sz="3200" b="1">
          <a:solidFill>
            <a:srgbClr val="063DE8"/>
          </a:solidFill>
          <a:latin typeface="+mj-lt"/>
          <a:ea typeface="+mj-ea"/>
          <a:cs typeface="+mj-cs"/>
        </a:defRPr>
      </a:lvl1pPr>
      <a:lvl2pPr algn="ctr" rtl="0" eaLnBrk="0" fontAlgn="base" hangingPunct="0">
        <a:spcBef>
          <a:spcPct val="0"/>
        </a:spcBef>
        <a:spcAft>
          <a:spcPct val="0"/>
        </a:spcAft>
        <a:defRPr sz="3200" b="1">
          <a:solidFill>
            <a:srgbClr val="063DE8"/>
          </a:solidFill>
          <a:latin typeface="Book Antiqua" panose="02040602050305030304" pitchFamily="18" charset="0"/>
        </a:defRPr>
      </a:lvl2pPr>
      <a:lvl3pPr algn="ctr" rtl="0" eaLnBrk="0" fontAlgn="base" hangingPunct="0">
        <a:spcBef>
          <a:spcPct val="0"/>
        </a:spcBef>
        <a:spcAft>
          <a:spcPct val="0"/>
        </a:spcAft>
        <a:defRPr sz="3200" b="1">
          <a:solidFill>
            <a:srgbClr val="063DE8"/>
          </a:solidFill>
          <a:latin typeface="Book Antiqua" panose="02040602050305030304" pitchFamily="18" charset="0"/>
        </a:defRPr>
      </a:lvl3pPr>
      <a:lvl4pPr algn="ctr" rtl="0" eaLnBrk="0" fontAlgn="base" hangingPunct="0">
        <a:spcBef>
          <a:spcPct val="0"/>
        </a:spcBef>
        <a:spcAft>
          <a:spcPct val="0"/>
        </a:spcAft>
        <a:defRPr sz="3200" b="1">
          <a:solidFill>
            <a:srgbClr val="063DE8"/>
          </a:solidFill>
          <a:latin typeface="Book Antiqua" panose="02040602050305030304" pitchFamily="18" charset="0"/>
        </a:defRPr>
      </a:lvl4pPr>
      <a:lvl5pPr algn="ctr" rtl="0" eaLnBrk="0" fontAlgn="base" hangingPunct="0">
        <a:spcBef>
          <a:spcPct val="0"/>
        </a:spcBef>
        <a:spcAft>
          <a:spcPct val="0"/>
        </a:spcAft>
        <a:defRPr sz="3200" b="1">
          <a:solidFill>
            <a:srgbClr val="063DE8"/>
          </a:solidFill>
          <a:latin typeface="Book Antiqua" panose="02040602050305030304" pitchFamily="18" charset="0"/>
        </a:defRPr>
      </a:lvl5pPr>
      <a:lvl6pPr marL="457200" algn="ctr" rtl="0" eaLnBrk="0" fontAlgn="base" hangingPunct="0">
        <a:spcBef>
          <a:spcPct val="0"/>
        </a:spcBef>
        <a:spcAft>
          <a:spcPct val="0"/>
        </a:spcAft>
        <a:defRPr sz="3200" b="1">
          <a:solidFill>
            <a:srgbClr val="063DE8"/>
          </a:solidFill>
          <a:latin typeface="Book Antiqua" panose="02040602050305030304" pitchFamily="18" charset="0"/>
        </a:defRPr>
      </a:lvl6pPr>
      <a:lvl7pPr marL="914400" algn="ctr" rtl="0" eaLnBrk="0" fontAlgn="base" hangingPunct="0">
        <a:spcBef>
          <a:spcPct val="0"/>
        </a:spcBef>
        <a:spcAft>
          <a:spcPct val="0"/>
        </a:spcAft>
        <a:defRPr sz="3200" b="1">
          <a:solidFill>
            <a:srgbClr val="063DE8"/>
          </a:solidFill>
          <a:latin typeface="Book Antiqua" panose="02040602050305030304" pitchFamily="18" charset="0"/>
        </a:defRPr>
      </a:lvl7pPr>
      <a:lvl8pPr marL="1371600" algn="ctr" rtl="0" eaLnBrk="0" fontAlgn="base" hangingPunct="0">
        <a:spcBef>
          <a:spcPct val="0"/>
        </a:spcBef>
        <a:spcAft>
          <a:spcPct val="0"/>
        </a:spcAft>
        <a:defRPr sz="3200" b="1">
          <a:solidFill>
            <a:srgbClr val="063DE8"/>
          </a:solidFill>
          <a:latin typeface="Book Antiqua" panose="02040602050305030304" pitchFamily="18" charset="0"/>
        </a:defRPr>
      </a:lvl8pPr>
      <a:lvl9pPr marL="1828800" algn="ctr" rtl="0" eaLnBrk="0" fontAlgn="base" hangingPunct="0">
        <a:spcBef>
          <a:spcPct val="0"/>
        </a:spcBef>
        <a:spcAft>
          <a:spcPct val="0"/>
        </a:spcAft>
        <a:defRPr sz="3200" b="1">
          <a:solidFill>
            <a:srgbClr val="063DE8"/>
          </a:solidFill>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5.w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9.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w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1.w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image" Target="../media/image11.wmf"/></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14.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15.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6.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17.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2.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3.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4.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57.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5.bin"/></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6.bin"/></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59.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7.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24.wmf"/></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25.wmf"/></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7" Type="http://schemas.openxmlformats.org/officeDocument/2006/relationships/notesSlide" Target="../notesSlides/notesSlide65.xml"/><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27.wmf"/><Relationship Id="rId3" Type="http://schemas.openxmlformats.org/officeDocument/2006/relationships/oleObject" Target="../embeddings/oleObject9.bin"/><Relationship Id="rId2" Type="http://schemas.openxmlformats.org/officeDocument/2006/relationships/image" Target="../media/image26.wmf"/><Relationship Id="rId1" Type="http://schemas.openxmlformats.org/officeDocument/2006/relationships/oleObject" Target="../embeddings/oleObject8.bin"/></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66.xml"/><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8.wmf"/><Relationship Id="rId1" Type="http://schemas.openxmlformats.org/officeDocument/2006/relationships/oleObject" Target="../embeddings/oleObject10.bin"/></Relationships>
</file>

<file path=ppt/slides/_rels/slide70.xml.rels><?xml version="1.0" encoding="UTF-8" standalone="yes"?>
<Relationships xmlns="http://schemas.openxmlformats.org/package/2006/relationships"><Relationship Id="rId7" Type="http://schemas.openxmlformats.org/officeDocument/2006/relationships/notesSlide" Target="../notesSlides/notesSlide67.xml"/><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30.wmf"/><Relationship Id="rId3" Type="http://schemas.openxmlformats.org/officeDocument/2006/relationships/oleObject" Target="../embeddings/oleObject12.bin"/><Relationship Id="rId2" Type="http://schemas.openxmlformats.org/officeDocument/2006/relationships/image" Target="../media/image29.wmf"/><Relationship Id="rId1" Type="http://schemas.openxmlformats.org/officeDocument/2006/relationships/oleObject" Target="../embeddings/oleObject11.bin"/></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68.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13.bin"/></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image" Target="../media/image35.wmf"/><Relationship Id="rId7" Type="http://schemas.openxmlformats.org/officeDocument/2006/relationships/oleObject" Target="../embeddings/oleObject17.bin"/><Relationship Id="rId6" Type="http://schemas.openxmlformats.org/officeDocument/2006/relationships/image" Target="../media/image34.wmf"/><Relationship Id="rId5" Type="http://schemas.openxmlformats.org/officeDocument/2006/relationships/oleObject" Target="../embeddings/oleObject16.bin"/><Relationship Id="rId4" Type="http://schemas.openxmlformats.org/officeDocument/2006/relationships/image" Target="../media/image33.wmf"/><Relationship Id="rId3" Type="http://schemas.openxmlformats.org/officeDocument/2006/relationships/oleObject" Target="../embeddings/oleObject15.bin"/><Relationship Id="rId2" Type="http://schemas.openxmlformats.org/officeDocument/2006/relationships/image" Target="../media/image32.wmf"/><Relationship Id="rId19" Type="http://schemas.openxmlformats.org/officeDocument/2006/relationships/notesSlide" Target="../notesSlides/notesSlide70.xml"/><Relationship Id="rId18" Type="http://schemas.openxmlformats.org/officeDocument/2006/relationships/vmlDrawing" Target="../drawings/vmlDrawing12.vml"/><Relationship Id="rId17" Type="http://schemas.openxmlformats.org/officeDocument/2006/relationships/slideLayout" Target="../slideLayouts/slideLayout2.xml"/><Relationship Id="rId16" Type="http://schemas.openxmlformats.org/officeDocument/2006/relationships/image" Target="../media/image39.wmf"/><Relationship Id="rId15" Type="http://schemas.openxmlformats.org/officeDocument/2006/relationships/oleObject" Target="../embeddings/oleObject21.bin"/><Relationship Id="rId14" Type="http://schemas.openxmlformats.org/officeDocument/2006/relationships/image" Target="../media/image38.wmf"/><Relationship Id="rId13" Type="http://schemas.openxmlformats.org/officeDocument/2006/relationships/oleObject" Target="../embeddings/oleObject20.bin"/><Relationship Id="rId12" Type="http://schemas.openxmlformats.org/officeDocument/2006/relationships/image" Target="../media/image37.wmf"/><Relationship Id="rId11" Type="http://schemas.openxmlformats.org/officeDocument/2006/relationships/oleObject" Target="../embeddings/oleObject19.bin"/><Relationship Id="rId10" Type="http://schemas.openxmlformats.org/officeDocument/2006/relationships/image" Target="../media/image36.wmf"/><Relationship Id="rId1" Type="http://schemas.openxmlformats.org/officeDocument/2006/relationships/oleObject" Target="../embeddings/oleObject14.bin"/></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5" Type="http://schemas.openxmlformats.org/officeDocument/2006/relationships/notesSlide" Target="../notesSlides/notesSlide75.xml"/><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22.bin"/></Relationships>
</file>

<file path=ppt/slides/_rels/slide79.xml.rels><?xml version="1.0" encoding="UTF-8" standalone="yes"?>
<Relationships xmlns="http://schemas.openxmlformats.org/package/2006/relationships"><Relationship Id="rId7" Type="http://schemas.openxmlformats.org/officeDocument/2006/relationships/notesSlide" Target="../notesSlides/notesSlide76.xml"/><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41.wmf"/><Relationship Id="rId3" Type="http://schemas.openxmlformats.org/officeDocument/2006/relationships/oleObject" Target="../embeddings/oleObject24.bin"/><Relationship Id="rId2" Type="http://schemas.openxmlformats.org/officeDocument/2006/relationships/image" Target="../media/image40.wmf"/><Relationship Id="rId1" Type="http://schemas.openxmlformats.org/officeDocument/2006/relationships/oleObject" Target="../embeddings/oleObject23.bin"/></Relationships>
</file>

<file path=ppt/slides/_rels/slide80.xml.rels><?xml version="1.0" encoding="UTF-8" standalone="yes"?>
<Relationships xmlns="http://schemas.openxmlformats.org/package/2006/relationships"><Relationship Id="rId9" Type="http://schemas.openxmlformats.org/officeDocument/2006/relationships/notesSlide" Target="../notesSlides/notesSlide77.xml"/><Relationship Id="rId8" Type="http://schemas.openxmlformats.org/officeDocument/2006/relationships/vmlDrawing" Target="../drawings/vmlDrawing15.vml"/><Relationship Id="rId7"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27.bin"/><Relationship Id="rId4" Type="http://schemas.openxmlformats.org/officeDocument/2006/relationships/image" Target="../media/image43.wmf"/><Relationship Id="rId3" Type="http://schemas.openxmlformats.org/officeDocument/2006/relationships/oleObject" Target="../embeddings/oleObject26.bin"/><Relationship Id="rId2" Type="http://schemas.openxmlformats.org/officeDocument/2006/relationships/image" Target="../media/image42.wmf"/><Relationship Id="rId1" Type="http://schemas.openxmlformats.org/officeDocument/2006/relationships/oleObject" Target="../embeddings/oleObject25.bin"/></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7.xml"/><Relationship Id="rId1" Type="http://schemas.openxmlformats.org/officeDocument/2006/relationships/image" Target="../media/image45.wmf"/></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7.xml"/><Relationship Id="rId1" Type="http://schemas.openxmlformats.org/officeDocument/2006/relationships/image" Target="../media/image46.wmf"/></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image" Target="../media/image47.wmf"/></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image" Target="../media/image49.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image" Target="../media/image52.wmf"/></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xml"/><Relationship Id="rId1" Type="http://schemas.openxmlformats.org/officeDocument/2006/relationships/image" Target="../media/image53.wmf"/></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第三章 词法分析</a:t>
            </a:r>
            <a:endParaRPr lang="en-US" altLang="zh-CN" dirty="0">
              <a:latin typeface="宋体" panose="02010600030101010101" pitchFamily="2" charset="-122"/>
              <a:ea typeface="宋体" panose="02010600030101010101" pitchFamily="2" charset="-122"/>
            </a:endParaRPr>
          </a:p>
        </p:txBody>
      </p:sp>
      <p:sp>
        <p:nvSpPr>
          <p:cNvPr id="4099" name="Rectangle 3"/>
          <p:cNvSpPr>
            <a:spLocks noGrp="1"/>
          </p:cNvSpPr>
          <p:nvPr>
            <p:ph idx="1"/>
          </p:nvPr>
        </p:nvSpPr>
        <p:spPr>
          <a:xfrm>
            <a:off x="990600" y="1600200"/>
            <a:ext cx="7391400" cy="4191000"/>
          </a:xfrm>
        </p:spPr>
        <p:txBody>
          <a:bodyPr vert="horz" wrap="square" lIns="92075" tIns="46038" rIns="92075" bIns="46038" anchor="t" anchorCtr="0"/>
          <a:p>
            <a:r>
              <a:rPr lang="zh-CN" altLang="en-US" sz="2800" b="1" dirty="0">
                <a:latin typeface="宋体" panose="02010600030101010101" pitchFamily="2" charset="-122"/>
                <a:ea typeface="宋体" panose="02010600030101010101" pitchFamily="2" charset="-122"/>
              </a:rPr>
              <a:t>词法分析的作用</a:t>
            </a:r>
            <a:endParaRPr lang="zh-CN" altLang="en-US" sz="2800" b="1" dirty="0">
              <a:latin typeface="宋体" panose="02010600030101010101" pitchFamily="2" charset="-122"/>
              <a:ea typeface="宋体" panose="02010600030101010101" pitchFamily="2" charset="-122"/>
            </a:endParaRPr>
          </a:p>
          <a:p>
            <a:r>
              <a:rPr lang="zh-CN" altLang="en-US" sz="2800" b="1" dirty="0">
                <a:latin typeface="宋体" panose="02010600030101010101" pitchFamily="2" charset="-122"/>
                <a:ea typeface="宋体" panose="02010600030101010101" pitchFamily="2" charset="-122"/>
              </a:rPr>
              <a:t>记号的描述，正则式</a:t>
            </a:r>
            <a:endParaRPr lang="zh-CN" altLang="en-US" sz="2800" b="1" dirty="0">
              <a:latin typeface="宋体" panose="02010600030101010101" pitchFamily="2" charset="-122"/>
              <a:ea typeface="宋体" panose="02010600030101010101" pitchFamily="2" charset="-122"/>
            </a:endParaRPr>
          </a:p>
          <a:p>
            <a:r>
              <a:rPr lang="zh-CN" altLang="en-US" sz="2800" b="1" dirty="0">
                <a:latin typeface="宋体" panose="02010600030101010101" pitchFamily="2" charset="-122"/>
                <a:ea typeface="宋体" panose="02010600030101010101" pitchFamily="2" charset="-122"/>
              </a:rPr>
              <a:t>记号的识别</a:t>
            </a:r>
            <a:endParaRPr lang="zh-CN" altLang="en-US" sz="2800" b="1" dirty="0">
              <a:latin typeface="宋体" panose="02010600030101010101" pitchFamily="2" charset="-122"/>
              <a:ea typeface="宋体" panose="02010600030101010101" pitchFamily="2" charset="-122"/>
            </a:endParaRPr>
          </a:p>
          <a:p>
            <a:r>
              <a:rPr lang="zh-CN" altLang="en-US" sz="2800" b="1" dirty="0">
                <a:latin typeface="宋体" panose="02010600030101010101" pitchFamily="2" charset="-122"/>
                <a:ea typeface="宋体" panose="02010600030101010101" pitchFamily="2" charset="-122"/>
              </a:rPr>
              <a:t>有穷状态自动机</a:t>
            </a:r>
            <a:endParaRPr lang="zh-CN" altLang="en-US" sz="2800" b="1" dirty="0">
              <a:latin typeface="宋体" panose="02010600030101010101" pitchFamily="2" charset="-122"/>
              <a:ea typeface="宋体" panose="02010600030101010101" pitchFamily="2" charset="-122"/>
            </a:endParaRPr>
          </a:p>
          <a:p>
            <a:r>
              <a:rPr lang="zh-CN" altLang="en-US" sz="2800" b="1" dirty="0">
                <a:latin typeface="宋体" panose="02010600030101010101" pitchFamily="2" charset="-122"/>
                <a:ea typeface="宋体" panose="02010600030101010101" pitchFamily="2" charset="-122"/>
              </a:rPr>
              <a:t>正则式与有穷状态自动机的等价</a:t>
            </a:r>
            <a:endParaRPr lang="en-US" altLang="zh-CN" sz="2800" b="1" dirty="0">
              <a:latin typeface="宋体" panose="02010600030101010101" pitchFamily="2" charset="-122"/>
              <a:ea typeface="宋体" panose="02010600030101010101" pitchFamily="2" charset="-122"/>
            </a:endParaRPr>
          </a:p>
          <a:p>
            <a:r>
              <a:rPr lang="zh-CN" altLang="en-US" sz="2800" b="1" dirty="0">
                <a:latin typeface="宋体" panose="02010600030101010101" pitchFamily="2" charset="-122"/>
                <a:ea typeface="宋体" panose="02010600030101010101" pitchFamily="2" charset="-122"/>
              </a:rPr>
              <a:t>词法分析程序的自动生成工具</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词法分析的作用（1）</a:t>
            </a:r>
            <a:endParaRPr lang="zh-CN" altLang="en-US" dirty="0">
              <a:latin typeface="宋体" panose="02010600030101010101" pitchFamily="2" charset="-122"/>
              <a:ea typeface="宋体" panose="02010600030101010101" pitchFamily="2" charset="-122"/>
            </a:endParaRPr>
          </a:p>
        </p:txBody>
      </p:sp>
      <p:sp>
        <p:nvSpPr>
          <p:cNvPr id="6147" name="Rectangle 3"/>
          <p:cNvSpPr>
            <a:spLocks noGrp="1"/>
          </p:cNvSpPr>
          <p:nvPr>
            <p:ph idx="1"/>
          </p:nvPr>
        </p:nvSpPr>
        <p:spPr>
          <a:xfrm>
            <a:off x="990600" y="1600200"/>
            <a:ext cx="7391400" cy="4648200"/>
          </a:xfrm>
        </p:spPr>
        <p:txBody>
          <a:bodyPr vert="horz" wrap="square" lIns="92075" tIns="46038" rIns="92075" bIns="46038" anchor="t" anchorCtr="0"/>
          <a:p>
            <a:r>
              <a:rPr lang="zh-CN" altLang="en-US" sz="2800" b="1" dirty="0">
                <a:latin typeface="宋体" panose="02010600030101010101" pitchFamily="2" charset="-122"/>
                <a:ea typeface="宋体" panose="02010600030101010101" pitchFamily="2" charset="-122"/>
              </a:rPr>
              <a:t>编译器的第一阶段：</a:t>
            </a:r>
            <a:endParaRPr lang="zh-CN" altLang="en-US" sz="2800" b="1" dirty="0">
              <a:latin typeface="宋体" panose="02010600030101010101" pitchFamily="2" charset="-122"/>
              <a:ea typeface="宋体" panose="02010600030101010101" pitchFamily="2" charset="-122"/>
            </a:endParaRPr>
          </a:p>
          <a:p>
            <a:pPr lvl="1"/>
            <a:r>
              <a:rPr lang="zh-CN" altLang="en-US" b="1" dirty="0">
                <a:ea typeface="宋体" panose="02010600030101010101" pitchFamily="2" charset="-122"/>
              </a:rPr>
              <a:t>读输入的字符流，产生用于语法分析的词法单元</a:t>
            </a:r>
            <a:r>
              <a:rPr lang="en-US" altLang="zh-CN" b="1" dirty="0">
                <a:ea typeface="宋体" panose="02010600030101010101" pitchFamily="2" charset="-122"/>
              </a:rPr>
              <a:t>/</a:t>
            </a:r>
            <a:r>
              <a:rPr lang="zh-CN" altLang="en-US" b="1" dirty="0">
                <a:ea typeface="宋体" panose="02010600030101010101" pitchFamily="2" charset="-122"/>
              </a:rPr>
              <a:t>记号序列</a:t>
            </a:r>
            <a:endParaRPr lang="zh-CN" altLang="en-US" b="1" dirty="0">
              <a:ea typeface="宋体" panose="02010600030101010101" pitchFamily="2" charset="-122"/>
            </a:endParaRPr>
          </a:p>
          <a:p>
            <a:pPr lvl="1"/>
            <a:endParaRPr lang="zh-CN" altLang="en-US" b="1" dirty="0">
              <a:ea typeface="宋体" panose="02010600030101010101" pitchFamily="2" charset="-122"/>
            </a:endParaRPr>
          </a:p>
          <a:p>
            <a:pPr lvl="1"/>
            <a:endParaRPr lang="zh-CN" altLang="en-US" b="1" dirty="0">
              <a:ea typeface="宋体" panose="02010600030101010101" pitchFamily="2" charset="-122"/>
            </a:endParaRPr>
          </a:p>
          <a:p>
            <a:pPr lvl="1"/>
            <a:endParaRPr lang="zh-CN" altLang="en-US" b="1" dirty="0">
              <a:ea typeface="宋体" panose="02010600030101010101" pitchFamily="2" charset="-122"/>
            </a:endParaRPr>
          </a:p>
          <a:p>
            <a:pPr lvl="1"/>
            <a:endParaRPr lang="zh-CN" altLang="en-US" b="1" dirty="0">
              <a:ea typeface="宋体" panose="02010600030101010101" pitchFamily="2" charset="-122"/>
            </a:endParaRPr>
          </a:p>
          <a:p>
            <a:pPr lvl="1"/>
            <a:endParaRPr lang="zh-CN" altLang="en-US" b="1" dirty="0">
              <a:ea typeface="宋体" panose="02010600030101010101" pitchFamily="2" charset="-122"/>
            </a:endParaRPr>
          </a:p>
          <a:p>
            <a:pPr lvl="1"/>
            <a:r>
              <a:rPr lang="zh-CN" altLang="en-US" b="1" dirty="0">
                <a:ea typeface="宋体" panose="02010600030101010101" pitchFamily="2" charset="-122"/>
              </a:rPr>
              <a:t>完成和用户接口的一些任务：</a:t>
            </a:r>
            <a:endParaRPr lang="zh-CN" altLang="en-US" b="1" dirty="0">
              <a:ea typeface="宋体" panose="02010600030101010101" pitchFamily="2" charset="-122"/>
            </a:endParaRPr>
          </a:p>
          <a:p>
            <a:pPr lvl="2"/>
            <a:r>
              <a:rPr lang="zh-CN" altLang="en-US" b="1" dirty="0">
                <a:ea typeface="宋体" panose="02010600030101010101" pitchFamily="2" charset="-122"/>
              </a:rPr>
              <a:t>源程序行信息的记录，为报错提供支持</a:t>
            </a:r>
            <a:endParaRPr lang="zh-CN" altLang="en-US" b="1" dirty="0">
              <a:ea typeface="宋体" panose="02010600030101010101" pitchFamily="2" charset="-122"/>
            </a:endParaRPr>
          </a:p>
          <a:p>
            <a:pPr lvl="2"/>
            <a:r>
              <a:rPr lang="zh-CN" altLang="en-US" b="1" dirty="0">
                <a:ea typeface="宋体" panose="02010600030101010101" pitchFamily="2" charset="-122"/>
              </a:rPr>
              <a:t>注解、空白的剥离</a:t>
            </a:r>
            <a:endParaRPr lang="zh-CN" altLang="en-US" b="1" dirty="0">
              <a:ea typeface="宋体" panose="02010600030101010101" pitchFamily="2" charset="-122"/>
            </a:endParaRPr>
          </a:p>
          <a:p>
            <a:pPr lvl="2"/>
            <a:r>
              <a:rPr lang="zh-CN" altLang="en-US" b="1" dirty="0">
                <a:ea typeface="宋体" panose="02010600030101010101" pitchFamily="2" charset="-122"/>
              </a:rPr>
              <a:t>宏的预处理</a:t>
            </a:r>
            <a:endParaRPr lang="zh-CN" altLang="en-US" b="1" dirty="0">
              <a:ea typeface="宋体" panose="02010600030101010101" pitchFamily="2" charset="-122"/>
            </a:endParaRPr>
          </a:p>
        </p:txBody>
      </p:sp>
      <p:graphicFrame>
        <p:nvGraphicFramePr>
          <p:cNvPr id="6148" name="Object 4"/>
          <p:cNvGraphicFramePr>
            <a:graphicFrameLocks noChangeAspect="1"/>
          </p:cNvGraphicFramePr>
          <p:nvPr/>
        </p:nvGraphicFramePr>
        <p:xfrm>
          <a:off x="2057400" y="2963863"/>
          <a:ext cx="5562600" cy="1905000"/>
        </p:xfrm>
        <a:graphic>
          <a:graphicData uri="http://schemas.openxmlformats.org/presentationml/2006/ole">
            <mc:AlternateContent xmlns:mc="http://schemas.openxmlformats.org/markup-compatibility/2006">
              <mc:Choice xmlns:v="urn:schemas-microsoft-com:vml" Requires="v">
                <p:oleObj spid="_x0000_s3076" name="" r:id="rId1" imgW="11150600" imgH="4191000" progId="Visio.Drawing.11">
                  <p:embed/>
                </p:oleObj>
              </mc:Choice>
              <mc:Fallback>
                <p:oleObj name="" r:id="rId1" imgW="11150600" imgH="4191000" progId="Visio.Drawing.11">
                  <p:embed/>
                  <p:pic>
                    <p:nvPicPr>
                      <p:cNvPr id="0" name="图片 3075"/>
                      <p:cNvPicPr/>
                      <p:nvPr/>
                    </p:nvPicPr>
                    <p:blipFill>
                      <a:blip r:embed="rId2"/>
                      <a:stretch>
                        <a:fillRect/>
                      </a:stretch>
                    </p:blipFill>
                    <p:spPr>
                      <a:xfrm>
                        <a:off x="2057400" y="2963863"/>
                        <a:ext cx="5562600" cy="1905000"/>
                      </a:xfrm>
                      <a:prstGeom prst="rect">
                        <a:avLst/>
                      </a:prstGeom>
                      <a:noFill/>
                      <a:ln w="38100">
                        <a:noFill/>
                        <a:miter/>
                      </a:ln>
                    </p:spPr>
                  </p:pic>
                </p:oleObj>
              </mc:Fallback>
            </mc:AlternateContent>
          </a:graphicData>
        </a:graphic>
      </p:graphicFrame>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词法分析的作用（2）</a:t>
            </a:r>
            <a:endParaRPr lang="zh-CN" altLang="en-US" dirty="0">
              <a:latin typeface="宋体" panose="02010600030101010101" pitchFamily="2" charset="-122"/>
              <a:ea typeface="宋体" panose="02010600030101010101" pitchFamily="2" charset="-122"/>
            </a:endParaRPr>
          </a:p>
        </p:txBody>
      </p:sp>
      <p:sp>
        <p:nvSpPr>
          <p:cNvPr id="8195" name="Rectangle 3"/>
          <p:cNvSpPr>
            <a:spLocks noGrp="1"/>
          </p:cNvSpPr>
          <p:nvPr>
            <p:ph idx="1"/>
          </p:nvPr>
        </p:nvSpPr>
        <p:spPr>
          <a:xfrm>
            <a:off x="990600" y="1600200"/>
            <a:ext cx="7391400" cy="4191000"/>
          </a:xfrm>
        </p:spPr>
        <p:txBody>
          <a:bodyPr vert="horz" wrap="square" lIns="92075" tIns="46038" rIns="92075" bIns="46038" anchor="t" anchorCtr="0"/>
          <a:p>
            <a:pPr lvl="1"/>
            <a:r>
              <a:rPr lang="zh-CN" altLang="en-US" b="1" dirty="0">
                <a:ea typeface="宋体" panose="02010600030101010101" pitchFamily="2" charset="-122"/>
              </a:rPr>
              <a:t>分离词法分析的理由</a:t>
            </a:r>
            <a:endParaRPr lang="zh-CN" altLang="en-US" b="1" dirty="0">
              <a:ea typeface="宋体" panose="02010600030101010101" pitchFamily="2" charset="-122"/>
            </a:endParaRPr>
          </a:p>
          <a:p>
            <a:pPr lvl="2"/>
            <a:r>
              <a:rPr lang="zh-CN" altLang="en-US" b="1" dirty="0">
                <a:ea typeface="宋体" panose="02010600030101010101" pitchFamily="2" charset="-122"/>
              </a:rPr>
              <a:t>简化设计：</a:t>
            </a:r>
            <a:endParaRPr lang="zh-CN" altLang="en-US" b="1" dirty="0">
              <a:ea typeface="宋体" panose="02010600030101010101" pitchFamily="2" charset="-122"/>
            </a:endParaRPr>
          </a:p>
          <a:p>
            <a:pPr lvl="3"/>
            <a:r>
              <a:rPr lang="zh-CN" altLang="en-US" b="1" dirty="0">
                <a:ea typeface="宋体" panose="02010600030101010101" pitchFamily="2" charset="-122"/>
              </a:rPr>
              <a:t>分离词法分析和语法分析，可以简化语法分析的复杂性</a:t>
            </a:r>
            <a:endParaRPr lang="zh-CN" altLang="en-US" b="1" dirty="0">
              <a:ea typeface="宋体" panose="02010600030101010101" pitchFamily="2" charset="-122"/>
            </a:endParaRPr>
          </a:p>
          <a:p>
            <a:pPr lvl="3"/>
            <a:r>
              <a:rPr lang="zh-CN" altLang="en-US" b="1" dirty="0">
                <a:ea typeface="宋体" panose="02010600030101010101" pitchFamily="2" charset="-122"/>
              </a:rPr>
              <a:t>词法和语法规则的分离可以方便程序设计语言的设计</a:t>
            </a:r>
            <a:endParaRPr lang="zh-CN" altLang="en-US" b="1" dirty="0">
              <a:ea typeface="宋体" panose="02010600030101010101" pitchFamily="2" charset="-122"/>
            </a:endParaRPr>
          </a:p>
          <a:p>
            <a:pPr lvl="2"/>
            <a:r>
              <a:rPr lang="zh-CN" altLang="en-US" b="1" dirty="0">
                <a:ea typeface="宋体" panose="02010600030101010101" pitchFamily="2" charset="-122"/>
              </a:rPr>
              <a:t>利于设计高效的词法分析程序，也改善了编译器的效率</a:t>
            </a:r>
            <a:endParaRPr lang="zh-CN" altLang="en-US" b="1" dirty="0">
              <a:ea typeface="宋体" panose="02010600030101010101" pitchFamily="2" charset="-122"/>
            </a:endParaRPr>
          </a:p>
          <a:p>
            <a:pPr lvl="2"/>
            <a:r>
              <a:rPr lang="zh-CN" altLang="en-US" b="1" dirty="0">
                <a:ea typeface="宋体" panose="02010600030101010101" pitchFamily="2" charset="-122"/>
              </a:rPr>
              <a:t>增加编译器的可移植性：将输入字符集的特殊性和其它与设备有关的不规则性限制在词法分析程序中</a:t>
            </a:r>
            <a:endParaRPr lang="zh-CN" altLang="en-US" b="1" dirty="0">
              <a:ea typeface="宋体" panose="02010600030101010101" pitchFamily="2"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词法分析的作用（3）</a:t>
            </a:r>
            <a:endParaRPr lang="zh-CN" altLang="en-US" dirty="0">
              <a:latin typeface="宋体" panose="02010600030101010101" pitchFamily="2" charset="-122"/>
              <a:ea typeface="宋体" panose="02010600030101010101" pitchFamily="2" charset="-122"/>
            </a:endParaRPr>
          </a:p>
        </p:txBody>
      </p:sp>
      <p:sp>
        <p:nvSpPr>
          <p:cNvPr id="10243" name="Rectangle 3"/>
          <p:cNvSpPr>
            <a:spLocks noGrp="1"/>
          </p:cNvSpPr>
          <p:nvPr>
            <p:ph idx="1"/>
          </p:nvPr>
        </p:nvSpPr>
        <p:spPr>
          <a:xfrm>
            <a:off x="755650" y="1600200"/>
            <a:ext cx="7993063" cy="4800600"/>
          </a:xfrm>
        </p:spPr>
        <p:txBody>
          <a:bodyPr vert="horz" wrap="square" lIns="92075" tIns="46038" rIns="92075" bIns="46038" anchor="t" anchorCtr="0"/>
          <a:p>
            <a:pPr lvl="1"/>
            <a:r>
              <a:rPr lang="zh-CN" altLang="en-US" sz="2000" b="1" dirty="0">
                <a:ea typeface="宋体" panose="02010600030101010101" pitchFamily="2" charset="-122"/>
              </a:rPr>
              <a:t>基本概念：</a:t>
            </a:r>
            <a:endParaRPr lang="zh-CN" altLang="en-US" sz="2000" b="1" dirty="0">
              <a:ea typeface="宋体" panose="02010600030101010101" pitchFamily="2" charset="-122"/>
            </a:endParaRPr>
          </a:p>
          <a:p>
            <a:pPr lvl="2"/>
            <a:r>
              <a:rPr lang="zh-CN" altLang="en-US" sz="2000" b="1" dirty="0">
                <a:ea typeface="宋体" panose="02010600030101010101" pitchFamily="2" charset="-122"/>
              </a:rPr>
              <a:t>单词</a:t>
            </a:r>
            <a:r>
              <a:rPr lang="en-US" altLang="zh-CN" sz="2000" b="1" dirty="0">
                <a:ea typeface="宋体" panose="02010600030101010101" pitchFamily="2" charset="-122"/>
              </a:rPr>
              <a:t>/</a:t>
            </a:r>
            <a:r>
              <a:rPr lang="zh-CN" altLang="en-US" sz="2000" b="1" dirty="0">
                <a:ea typeface="宋体" panose="02010600030101010101" pitchFamily="2" charset="-122"/>
              </a:rPr>
              <a:t>词素：源程序中的字符序列，与某个词法单元</a:t>
            </a:r>
            <a:r>
              <a:rPr lang="en-US" altLang="zh-CN" sz="2000" b="1" dirty="0">
                <a:ea typeface="宋体" panose="02010600030101010101" pitchFamily="2" charset="-122"/>
              </a:rPr>
              <a:t>/</a:t>
            </a:r>
            <a:r>
              <a:rPr lang="zh-CN" altLang="en-US" sz="2000" b="1" dirty="0">
                <a:ea typeface="宋体" panose="02010600030101010101" pitchFamily="2" charset="-122"/>
              </a:rPr>
              <a:t>记号的模式匹配，并被词法分析器识别为该词法单元的一个实例</a:t>
            </a:r>
            <a:endParaRPr lang="zh-CN" altLang="en-US" sz="2000" b="1" dirty="0">
              <a:ea typeface="宋体" panose="02010600030101010101" pitchFamily="2" charset="-122"/>
            </a:endParaRPr>
          </a:p>
          <a:p>
            <a:pPr lvl="2"/>
            <a:r>
              <a:rPr lang="zh-CN" altLang="en-US" sz="2000" b="1" dirty="0">
                <a:ea typeface="宋体" panose="02010600030101010101" pitchFamily="2" charset="-122"/>
              </a:rPr>
              <a:t>模式：单词</a:t>
            </a:r>
            <a:r>
              <a:rPr lang="en-US" altLang="zh-CN" sz="2000" b="1" dirty="0">
                <a:ea typeface="宋体" panose="02010600030101010101" pitchFamily="2" charset="-122"/>
              </a:rPr>
              <a:t>/</a:t>
            </a:r>
            <a:r>
              <a:rPr lang="zh-CN" altLang="en-US" sz="2000" b="1" dirty="0">
                <a:ea typeface="宋体" panose="02010600030101010101" pitchFamily="2" charset="-122"/>
              </a:rPr>
              <a:t>词素的分类规则，描述了一个词法单元的单词可能具有的形式</a:t>
            </a:r>
            <a:endParaRPr lang="en-US" altLang="zh-CN" sz="2000" b="1" dirty="0">
              <a:ea typeface="宋体" panose="02010600030101010101" pitchFamily="2" charset="-122"/>
            </a:endParaRPr>
          </a:p>
          <a:p>
            <a:pPr lvl="3"/>
            <a:r>
              <a:rPr lang="zh-CN" altLang="en-US" sz="1800" b="1" dirty="0">
                <a:ea typeface="宋体" panose="02010600030101010101" pitchFamily="2" charset="-122"/>
              </a:rPr>
              <a:t>程序中的单词有很多，具有相同词法属性的单词归为一类</a:t>
            </a:r>
            <a:endParaRPr lang="zh-CN" altLang="en-US" sz="1800" b="1" dirty="0">
              <a:ea typeface="宋体" panose="02010600030101010101" pitchFamily="2" charset="-122"/>
            </a:endParaRPr>
          </a:p>
          <a:p>
            <a:pPr lvl="2"/>
            <a:r>
              <a:rPr lang="zh-CN" altLang="en-US" sz="2000" b="1" dirty="0">
                <a:ea typeface="宋体" panose="02010600030101010101" pitchFamily="2" charset="-122"/>
              </a:rPr>
              <a:t>词法单元</a:t>
            </a:r>
            <a:r>
              <a:rPr lang="en-US" altLang="zh-CN" sz="2000" b="1" dirty="0">
                <a:ea typeface="宋体" panose="02010600030101010101" pitchFamily="2" charset="-122"/>
              </a:rPr>
              <a:t>/</a:t>
            </a:r>
            <a:r>
              <a:rPr lang="zh-CN" altLang="en-US" sz="2000" b="1" dirty="0">
                <a:ea typeface="宋体" panose="02010600030101010101" pitchFamily="2" charset="-122"/>
              </a:rPr>
              <a:t>记号</a:t>
            </a:r>
            <a:r>
              <a:rPr lang="en-US" altLang="zh-CN" sz="2000" b="1" dirty="0">
                <a:ea typeface="宋体" panose="02010600030101010101" pitchFamily="2" charset="-122"/>
              </a:rPr>
              <a:t>token：</a:t>
            </a:r>
            <a:r>
              <a:rPr lang="zh-CN" altLang="en-US" sz="2000" b="1" dirty="0">
                <a:ea typeface="宋体" panose="02010600030101010101" pitchFamily="2" charset="-122"/>
              </a:rPr>
              <a:t>不同的单词类，包括一个词法单元名和一个可选的属性值组成</a:t>
            </a:r>
            <a:endParaRPr lang="zh-CN" altLang="en-US" sz="2000" b="1" dirty="0">
              <a:ea typeface="宋体" panose="02010600030101010101" pitchFamily="2" charset="-122"/>
            </a:endParaRPr>
          </a:p>
          <a:p>
            <a:pPr lvl="3"/>
            <a:r>
              <a:rPr lang="zh-CN" altLang="en-US" sz="1800" b="1" dirty="0">
                <a:ea typeface="宋体" panose="02010600030101010101" pitchFamily="2" charset="-122"/>
              </a:rPr>
              <a:t>记号是源语言语法的终结符</a:t>
            </a:r>
            <a:endParaRPr lang="zh-CN" altLang="en-US" sz="1800" b="1" dirty="0">
              <a:ea typeface="宋体" panose="02010600030101010101" pitchFamily="2" charset="-122"/>
            </a:endParaRPr>
          </a:p>
          <a:p>
            <a:pPr lvl="3"/>
            <a:r>
              <a:rPr lang="zh-CN" altLang="en-US" sz="1800" b="1" dirty="0">
                <a:ea typeface="宋体" panose="02010600030101010101" pitchFamily="2" charset="-122"/>
              </a:rPr>
              <a:t>通常，记号定义为枚举型：关键字、算符、标识符、常数、字符串、标点符号等</a:t>
            </a:r>
            <a:endParaRPr lang="zh-CN" altLang="en-US" sz="1800" b="1" dirty="0">
              <a:ea typeface="宋体" panose="02010600030101010101" pitchFamily="2" charset="-122"/>
            </a:endParaRPr>
          </a:p>
          <a:p>
            <a:pPr lvl="3"/>
            <a:r>
              <a:rPr lang="zh-CN" altLang="en-US" sz="1800" b="1" dirty="0">
                <a:ea typeface="宋体" panose="02010600030101010101" pitchFamily="2" charset="-122"/>
              </a:rPr>
              <a:t>对于某些程序设计语言，可能要求某些特定的结构出现在特定的位置，如</a:t>
            </a:r>
            <a:r>
              <a:rPr lang="en-US" altLang="zh-CN" sz="1800" b="1" dirty="0">
                <a:ea typeface="宋体" panose="02010600030101010101" pitchFamily="2" charset="-122"/>
              </a:rPr>
              <a:t>FORTRAN</a:t>
            </a:r>
            <a:r>
              <a:rPr lang="zh-CN" altLang="en-US" sz="1800" b="1" dirty="0">
                <a:ea typeface="宋体" panose="02010600030101010101" pitchFamily="2" charset="-122"/>
              </a:rPr>
              <a:t>语言的标号，因此单词对准对词法分析的正确性很重要，但现代语言一般采用自由格式，这类问题不重要了</a:t>
            </a:r>
            <a:endParaRPr lang="zh-CN" altLang="en-US" sz="1800" b="1" dirty="0">
              <a:ea typeface="宋体" panose="02010600030101010101" pitchFamily="2"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1026"/>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词法分析的作用（4）</a:t>
            </a:r>
            <a:endParaRPr lang="zh-CN" altLang="en-US" dirty="0">
              <a:latin typeface="宋体" panose="02010600030101010101" pitchFamily="2" charset="-122"/>
              <a:ea typeface="宋体" panose="02010600030101010101" pitchFamily="2" charset="-122"/>
            </a:endParaRPr>
          </a:p>
        </p:txBody>
      </p:sp>
      <p:sp>
        <p:nvSpPr>
          <p:cNvPr id="12291" name="Rectangle 1027"/>
          <p:cNvSpPr>
            <a:spLocks noGrp="1"/>
          </p:cNvSpPr>
          <p:nvPr>
            <p:ph idx="1"/>
          </p:nvPr>
        </p:nvSpPr>
        <p:spPr>
          <a:xfrm>
            <a:off x="609600" y="1524000"/>
            <a:ext cx="7848600" cy="4800600"/>
          </a:xfrm>
        </p:spPr>
        <p:txBody>
          <a:bodyPr vert="horz" wrap="square" lIns="92075" tIns="46038" rIns="92075" bIns="46038" anchor="t" anchorCtr="0"/>
          <a:p>
            <a:pPr lvl="3"/>
            <a:r>
              <a:rPr lang="zh-CN" altLang="en-US" b="1" dirty="0">
                <a:ea typeface="宋体" panose="02010600030101010101" pitchFamily="2" charset="-122"/>
              </a:rPr>
              <a:t>分隔符：决定了单词的分隔，一般以空白字符为分隔</a:t>
            </a:r>
            <a:r>
              <a:rPr lang="en-US" altLang="zh-CN" b="1" dirty="0">
                <a:ea typeface="宋体" panose="02010600030101010101" pitchFamily="2" charset="-122"/>
              </a:rPr>
              <a:t>,</a:t>
            </a:r>
            <a:r>
              <a:rPr lang="zh-CN" altLang="en-US" b="1" dirty="0">
                <a:ea typeface="宋体" panose="02010600030101010101" pitchFamily="2" charset="-122"/>
              </a:rPr>
              <a:t>但有些语言如</a:t>
            </a:r>
            <a:r>
              <a:rPr lang="en-US" altLang="zh-CN" b="1" dirty="0">
                <a:ea typeface="宋体" panose="02010600030101010101" pitchFamily="2" charset="-122"/>
              </a:rPr>
              <a:t>FORTRAN</a:t>
            </a:r>
            <a:r>
              <a:rPr lang="zh-CN" altLang="en-US" b="1" dirty="0">
                <a:ea typeface="宋体" panose="02010600030101010101" pitchFamily="2" charset="-122"/>
              </a:rPr>
              <a:t>语言，空白字符不是分隔符</a:t>
            </a:r>
            <a:endParaRPr lang="zh-CN" altLang="en-US" b="1" dirty="0">
              <a:ea typeface="宋体" panose="02010600030101010101" pitchFamily="2" charset="-122"/>
            </a:endParaRPr>
          </a:p>
          <a:p>
            <a:pPr marL="1828800" lvl="4" indent="0">
              <a:spcBef>
                <a:spcPts val="600"/>
              </a:spcBef>
              <a:spcAft>
                <a:spcPts val="600"/>
              </a:spcAft>
              <a:buNone/>
            </a:pPr>
            <a:r>
              <a:rPr lang="zh-CN" altLang="en-US" sz="2000" b="1" dirty="0">
                <a:ea typeface="宋体" panose="02010600030101010101" pitchFamily="2" charset="-122"/>
              </a:rPr>
              <a:t>如</a:t>
            </a:r>
            <a:r>
              <a:rPr lang="en-US" altLang="zh-CN" sz="2000" b="1" dirty="0">
                <a:ea typeface="宋体" panose="02010600030101010101" pitchFamily="2" charset="-122"/>
              </a:rPr>
              <a:t>DO 5 I = 1.25，</a:t>
            </a:r>
            <a:r>
              <a:rPr lang="zh-CN" altLang="en-US" sz="2000" b="1" dirty="0">
                <a:ea typeface="宋体" panose="02010600030101010101" pitchFamily="2" charset="-122"/>
              </a:rPr>
              <a:t>只有读入“.”时才能确认</a:t>
            </a:r>
            <a:r>
              <a:rPr lang="en-US" altLang="zh-CN" sz="2000" b="1" dirty="0">
                <a:ea typeface="宋体" panose="02010600030101010101" pitchFamily="2" charset="-122"/>
              </a:rPr>
              <a:t>DO5I</a:t>
            </a:r>
            <a:r>
              <a:rPr lang="zh-CN" altLang="en-US" sz="2000" b="1" dirty="0">
                <a:ea typeface="宋体" panose="02010600030101010101" pitchFamily="2" charset="-122"/>
              </a:rPr>
              <a:t>是一个标识符，而不是</a:t>
            </a:r>
            <a:r>
              <a:rPr lang="en-US" altLang="zh-CN" sz="2000" b="1" dirty="0">
                <a:ea typeface="宋体" panose="02010600030101010101" pitchFamily="2" charset="-122"/>
              </a:rPr>
              <a:t>DO</a:t>
            </a:r>
            <a:r>
              <a:rPr lang="zh-CN" altLang="en-US" sz="2000" b="1" dirty="0">
                <a:ea typeface="宋体" panose="02010600030101010101" pitchFamily="2" charset="-122"/>
              </a:rPr>
              <a:t>语句的一部分</a:t>
            </a:r>
            <a:endParaRPr lang="zh-CN" altLang="en-US" sz="2000" b="1" dirty="0">
              <a:ea typeface="宋体" panose="02010600030101010101" pitchFamily="2" charset="-122"/>
            </a:endParaRPr>
          </a:p>
          <a:p>
            <a:pPr lvl="3"/>
            <a:r>
              <a:rPr lang="zh-CN" altLang="en-US" b="1" dirty="0">
                <a:ea typeface="宋体" panose="02010600030101010101" pitchFamily="2" charset="-122"/>
              </a:rPr>
              <a:t>关键字是否为保留字：很多语言规定关键字是保留字</a:t>
            </a:r>
            <a:r>
              <a:rPr lang="en-US" altLang="zh-CN" b="1" dirty="0">
                <a:ea typeface="宋体" panose="02010600030101010101" pitchFamily="2" charset="-122"/>
              </a:rPr>
              <a:t>,</a:t>
            </a:r>
            <a:r>
              <a:rPr lang="zh-CN" altLang="en-US" b="1" dirty="0">
                <a:ea typeface="宋体" panose="02010600030101010101" pitchFamily="2" charset="-122"/>
              </a:rPr>
              <a:t>即其含义是预定义的，用户不能改变，词法分析较易实现；否则，词法分析程序必须区分是关键字还是用户自定义的标识符</a:t>
            </a:r>
            <a:endParaRPr lang="zh-CN" altLang="en-US" b="1" dirty="0">
              <a:ea typeface="宋体" panose="02010600030101010101" pitchFamily="2" charset="-122"/>
            </a:endParaRPr>
          </a:p>
          <a:p>
            <a:pPr marL="1828800" lvl="4" indent="0">
              <a:spcBef>
                <a:spcPts val="600"/>
              </a:spcBef>
              <a:spcAft>
                <a:spcPts val="600"/>
              </a:spcAft>
              <a:buNone/>
            </a:pPr>
            <a:r>
              <a:rPr lang="zh-CN" altLang="en-US" sz="2000" b="1" dirty="0">
                <a:ea typeface="宋体" panose="02010600030101010101" pitchFamily="2" charset="-122"/>
              </a:rPr>
              <a:t>如</a:t>
            </a:r>
            <a:r>
              <a:rPr lang="en-US" altLang="zh-CN" sz="2000" b="1" dirty="0">
                <a:ea typeface="宋体" panose="02010600030101010101" pitchFamily="2" charset="-122"/>
              </a:rPr>
              <a:t>PL/1</a:t>
            </a:r>
            <a:r>
              <a:rPr lang="zh-CN" altLang="en-US" sz="2000" b="1" dirty="0">
                <a:ea typeface="宋体" panose="02010600030101010101" pitchFamily="2" charset="-122"/>
              </a:rPr>
              <a:t>语言：</a:t>
            </a:r>
            <a:endParaRPr lang="zh-CN" altLang="en-US" sz="2000" b="1" dirty="0">
              <a:ea typeface="宋体" panose="02010600030101010101" pitchFamily="2" charset="-122"/>
            </a:endParaRPr>
          </a:p>
          <a:p>
            <a:pPr marL="1828800" lvl="4" indent="0">
              <a:spcBef>
                <a:spcPts val="600"/>
              </a:spcBef>
              <a:spcAft>
                <a:spcPts val="600"/>
              </a:spcAft>
              <a:buNone/>
            </a:pPr>
            <a:r>
              <a:rPr lang="en-US" altLang="zh-CN" b="1" i="1" dirty="0">
                <a:solidFill>
                  <a:srgbClr val="FF0000"/>
                </a:solidFill>
                <a:ea typeface="宋体" panose="02010600030101010101" pitchFamily="2" charset="-122"/>
              </a:rPr>
              <a:t>IF</a:t>
            </a:r>
            <a:r>
              <a:rPr lang="en-US" altLang="zh-CN" b="1" dirty="0">
                <a:ea typeface="宋体" panose="02010600030101010101" pitchFamily="2" charset="-122"/>
              </a:rPr>
              <a:t> THEN </a:t>
            </a:r>
            <a:r>
              <a:rPr lang="en-US" altLang="zh-CN" b="1" i="1" dirty="0">
                <a:solidFill>
                  <a:srgbClr val="FF0000"/>
                </a:solidFill>
                <a:ea typeface="宋体" panose="02010600030101010101" pitchFamily="2" charset="-122"/>
              </a:rPr>
              <a:t>THEN</a:t>
            </a:r>
            <a:r>
              <a:rPr lang="en-US" altLang="zh-CN" b="1" dirty="0">
                <a:ea typeface="宋体" panose="02010600030101010101" pitchFamily="2" charset="-122"/>
              </a:rPr>
              <a:t> THEN = ELSE； </a:t>
            </a:r>
            <a:r>
              <a:rPr lang="en-US" altLang="zh-CN" b="1" i="1" dirty="0">
                <a:solidFill>
                  <a:srgbClr val="FF0000"/>
                </a:solidFill>
                <a:ea typeface="宋体" panose="02010600030101010101" pitchFamily="2" charset="-122"/>
              </a:rPr>
              <a:t>ELSE</a:t>
            </a:r>
            <a:r>
              <a:rPr lang="en-US" altLang="zh-CN" b="1" dirty="0">
                <a:ea typeface="宋体" panose="02010600030101010101" pitchFamily="2" charset="-122"/>
              </a:rPr>
              <a:t> ELSE = THEN；</a:t>
            </a:r>
            <a:endParaRPr lang="en-US" altLang="zh-CN" b="1" dirty="0">
              <a:ea typeface="宋体" panose="02010600030101010101" pitchFamily="2"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8" name="Picture 2"/>
          <p:cNvPicPr>
            <a:picLocks noChangeAspect="1"/>
          </p:cNvPicPr>
          <p:nvPr/>
        </p:nvPicPr>
        <p:blipFill>
          <a:blip r:embed="rId1"/>
          <a:stretch>
            <a:fillRect/>
          </a:stretch>
        </p:blipFill>
        <p:spPr>
          <a:xfrm>
            <a:off x="0" y="2060575"/>
            <a:ext cx="9144000" cy="3781425"/>
          </a:xfrm>
          <a:prstGeom prst="rect">
            <a:avLst/>
          </a:prstGeom>
          <a:noFill/>
          <a:ln w="9525">
            <a:noFill/>
          </a:ln>
        </p:spPr>
      </p:pic>
      <p:sp>
        <p:nvSpPr>
          <p:cNvPr id="3" name="Rectangle 1026"/>
          <p:cNvSpPr txBox="1">
            <a:spLocks noChangeArrowheads="1"/>
          </p:cNvSpPr>
          <p:nvPr/>
        </p:nvSpPr>
        <p:spPr>
          <a:xfrm>
            <a:off x="914400" y="457200"/>
            <a:ext cx="7543800" cy="914400"/>
          </a:xfrm>
          <a:prstGeom prst="rect">
            <a:avLst/>
          </a:prstGeom>
          <a:noFill/>
        </p:spPr>
        <p:txBody>
          <a:bodyPr/>
          <a:lstStyle>
            <a:lvl1pPr algn="ctr" rtl="0" eaLnBrk="0" fontAlgn="base" hangingPunct="0">
              <a:spcBef>
                <a:spcPct val="0"/>
              </a:spcBef>
              <a:spcAft>
                <a:spcPct val="0"/>
              </a:spcAft>
              <a:defRPr sz="3200" b="1">
                <a:solidFill>
                  <a:srgbClr val="063DE8"/>
                </a:solidFill>
                <a:latin typeface="+mj-lt"/>
                <a:ea typeface="+mj-ea"/>
                <a:cs typeface="+mj-cs"/>
              </a:defRPr>
            </a:lvl1pPr>
            <a:lvl2pPr algn="ctr" rtl="0" eaLnBrk="0" fontAlgn="base" hangingPunct="0">
              <a:spcBef>
                <a:spcPct val="0"/>
              </a:spcBef>
              <a:spcAft>
                <a:spcPct val="0"/>
              </a:spcAft>
              <a:defRPr sz="3200" b="1">
                <a:solidFill>
                  <a:srgbClr val="063DE8"/>
                </a:solidFill>
                <a:latin typeface="Book Antiqua" panose="02040602050305030304" pitchFamily="18" charset="0"/>
              </a:defRPr>
            </a:lvl2pPr>
            <a:lvl3pPr algn="ctr" rtl="0" eaLnBrk="0" fontAlgn="base" hangingPunct="0">
              <a:spcBef>
                <a:spcPct val="0"/>
              </a:spcBef>
              <a:spcAft>
                <a:spcPct val="0"/>
              </a:spcAft>
              <a:defRPr sz="3200" b="1">
                <a:solidFill>
                  <a:srgbClr val="063DE8"/>
                </a:solidFill>
                <a:latin typeface="Book Antiqua" panose="02040602050305030304" pitchFamily="18" charset="0"/>
              </a:defRPr>
            </a:lvl3pPr>
            <a:lvl4pPr algn="ctr" rtl="0" eaLnBrk="0" fontAlgn="base" hangingPunct="0">
              <a:spcBef>
                <a:spcPct val="0"/>
              </a:spcBef>
              <a:spcAft>
                <a:spcPct val="0"/>
              </a:spcAft>
              <a:defRPr sz="3200" b="1">
                <a:solidFill>
                  <a:srgbClr val="063DE8"/>
                </a:solidFill>
                <a:latin typeface="Book Antiqua" panose="02040602050305030304" pitchFamily="18" charset="0"/>
              </a:defRPr>
            </a:lvl4pPr>
            <a:lvl5pPr algn="ctr" rtl="0" eaLnBrk="0" fontAlgn="base" hangingPunct="0">
              <a:spcBef>
                <a:spcPct val="0"/>
              </a:spcBef>
              <a:spcAft>
                <a:spcPct val="0"/>
              </a:spcAft>
              <a:defRPr sz="3200" b="1">
                <a:solidFill>
                  <a:srgbClr val="063DE8"/>
                </a:solidFill>
                <a:latin typeface="Book Antiqua" panose="02040602050305030304" pitchFamily="18" charset="0"/>
              </a:defRPr>
            </a:lvl5pPr>
            <a:lvl6pPr marL="457200" algn="ctr" rtl="0" eaLnBrk="0" fontAlgn="base" hangingPunct="0">
              <a:spcBef>
                <a:spcPct val="0"/>
              </a:spcBef>
              <a:spcAft>
                <a:spcPct val="0"/>
              </a:spcAft>
              <a:defRPr sz="3200" b="1">
                <a:solidFill>
                  <a:srgbClr val="063DE8"/>
                </a:solidFill>
                <a:latin typeface="Book Antiqua" panose="02040602050305030304" pitchFamily="18" charset="0"/>
              </a:defRPr>
            </a:lvl6pPr>
            <a:lvl7pPr marL="914400" algn="ctr" rtl="0" eaLnBrk="0" fontAlgn="base" hangingPunct="0">
              <a:spcBef>
                <a:spcPct val="0"/>
              </a:spcBef>
              <a:spcAft>
                <a:spcPct val="0"/>
              </a:spcAft>
              <a:defRPr sz="3200" b="1">
                <a:solidFill>
                  <a:srgbClr val="063DE8"/>
                </a:solidFill>
                <a:latin typeface="Book Antiqua" panose="02040602050305030304" pitchFamily="18" charset="0"/>
              </a:defRPr>
            </a:lvl7pPr>
            <a:lvl8pPr marL="1371600" algn="ctr" rtl="0" eaLnBrk="0" fontAlgn="base" hangingPunct="0">
              <a:spcBef>
                <a:spcPct val="0"/>
              </a:spcBef>
              <a:spcAft>
                <a:spcPct val="0"/>
              </a:spcAft>
              <a:defRPr sz="3200" b="1">
                <a:solidFill>
                  <a:srgbClr val="063DE8"/>
                </a:solidFill>
                <a:latin typeface="Book Antiqua" panose="02040602050305030304" pitchFamily="18" charset="0"/>
              </a:defRPr>
            </a:lvl8pPr>
            <a:lvl9pPr marL="1828800" algn="ctr" rtl="0" eaLnBrk="0" fontAlgn="base" hangingPunct="0">
              <a:spcBef>
                <a:spcPct val="0"/>
              </a:spcBef>
              <a:spcAft>
                <a:spcPct val="0"/>
              </a:spcAft>
              <a:defRPr sz="3200" b="1">
                <a:solidFill>
                  <a:srgbClr val="063DE8"/>
                </a:solidFill>
                <a:latin typeface="Book Antiqua" panose="02040602050305030304"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063DE8"/>
                </a:solidFill>
                <a:effectLst/>
                <a:uLnTx/>
                <a:uFillTx/>
                <a:latin typeface="宋体" panose="02010600030101010101" pitchFamily="2" charset="-122"/>
                <a:ea typeface="宋体" panose="02010600030101010101" pitchFamily="2" charset="-122"/>
                <a:cs typeface="+mj-cs"/>
              </a:rPr>
              <a:t>词法分析的作用（</a:t>
            </a:r>
            <a:r>
              <a:rPr kumimoji="0" lang="en-US" altLang="zh-CN" sz="3200" b="1" i="0" u="none" strike="noStrike" kern="0" cap="none" spc="0" normalizeH="0" baseline="0" noProof="0" dirty="0">
                <a:ln>
                  <a:noFill/>
                </a:ln>
                <a:solidFill>
                  <a:srgbClr val="063DE8"/>
                </a:solidFill>
                <a:effectLst/>
                <a:uLnTx/>
                <a:uFillTx/>
                <a:latin typeface="宋体" panose="02010600030101010101" pitchFamily="2" charset="-122"/>
                <a:ea typeface="宋体" panose="02010600030101010101" pitchFamily="2" charset="-122"/>
                <a:cs typeface="+mj-cs"/>
              </a:rPr>
              <a:t>5</a:t>
            </a:r>
            <a:r>
              <a:rPr kumimoji="0" lang="zh-CN" altLang="en-US" sz="3200" b="1" i="0" u="none" strike="noStrike" kern="0" cap="none" spc="0" normalizeH="0" baseline="0" noProof="0" dirty="0">
                <a:ln>
                  <a:noFill/>
                </a:ln>
                <a:solidFill>
                  <a:srgbClr val="063DE8"/>
                </a:solidFill>
                <a:effectLst/>
                <a:uLnTx/>
                <a:uFillTx/>
                <a:latin typeface="宋体" panose="02010600030101010101" pitchFamily="2" charset="-122"/>
                <a:ea typeface="宋体" panose="02010600030101010101" pitchFamily="2" charset="-122"/>
                <a:cs typeface="+mj-cs"/>
              </a:rPr>
              <a:t>）</a:t>
            </a:r>
            <a:endParaRPr kumimoji="0" lang="zh-CN" altLang="en-US" sz="3200" b="1" i="0" u="none" strike="noStrike" kern="0" cap="none" spc="0" normalizeH="0" baseline="0" noProof="0" dirty="0">
              <a:ln>
                <a:noFill/>
              </a:ln>
              <a:solidFill>
                <a:srgbClr val="063DE8"/>
              </a:solidFill>
              <a:effectLst/>
              <a:uLnTx/>
              <a:uFillTx/>
              <a:latin typeface="宋体" panose="02010600030101010101" pitchFamily="2" charset="-122"/>
              <a:ea typeface="宋体" panose="02010600030101010101" pitchFamily="2" charset="-122"/>
              <a:cs typeface="+mj-cs"/>
            </a:endParaRPr>
          </a:p>
        </p:txBody>
      </p:sp>
      <p:sp>
        <p:nvSpPr>
          <p:cNvPr id="6" name="Rectangle 3"/>
          <p:cNvSpPr txBox="1">
            <a:spLocks noChangeArrowheads="1"/>
          </p:cNvSpPr>
          <p:nvPr/>
        </p:nvSpPr>
        <p:spPr>
          <a:xfrm>
            <a:off x="990600" y="1600200"/>
            <a:ext cx="7391400" cy="4648200"/>
          </a:xfrm>
          <a:prstGeom prst="rect">
            <a:avLst/>
          </a:prstGeom>
          <a:noFill/>
        </p:spPr>
        <p:txBody>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vl6pPr marL="2514600" indent="-228600" algn="l" rtl="0" eaLnBrk="0" fontAlgn="base" hangingPunct="0">
              <a:spcBef>
                <a:spcPct val="20000"/>
              </a:spcBef>
              <a:spcAft>
                <a:spcPct val="0"/>
              </a:spcAft>
              <a:buClr>
                <a:srgbClr val="063DE8"/>
              </a:buClr>
              <a:buSzPct val="125000"/>
              <a:buChar char="•"/>
              <a:defRPr>
                <a:solidFill>
                  <a:schemeClr val="tx1"/>
                </a:solidFill>
                <a:latin typeface="+mn-lt"/>
              </a:defRPr>
            </a:lvl6pPr>
            <a:lvl7pPr marL="2971800" indent="-228600" algn="l" rtl="0" eaLnBrk="0" fontAlgn="base" hangingPunct="0">
              <a:spcBef>
                <a:spcPct val="20000"/>
              </a:spcBef>
              <a:spcAft>
                <a:spcPct val="0"/>
              </a:spcAft>
              <a:buClr>
                <a:srgbClr val="063DE8"/>
              </a:buClr>
              <a:buSzPct val="125000"/>
              <a:buChar char="•"/>
              <a:defRPr>
                <a:solidFill>
                  <a:schemeClr val="tx1"/>
                </a:solidFill>
                <a:latin typeface="+mn-lt"/>
              </a:defRPr>
            </a:lvl7pPr>
            <a:lvl8pPr marL="3429000" indent="-228600" algn="l" rtl="0" eaLnBrk="0" fontAlgn="base" hangingPunct="0">
              <a:spcBef>
                <a:spcPct val="20000"/>
              </a:spcBef>
              <a:spcAft>
                <a:spcPct val="0"/>
              </a:spcAft>
              <a:buClr>
                <a:srgbClr val="063DE8"/>
              </a:buClr>
              <a:buSzPct val="125000"/>
              <a:buChar char="•"/>
              <a:defRPr>
                <a:solidFill>
                  <a:schemeClr val="tx1"/>
                </a:solidFill>
                <a:latin typeface="+mn-lt"/>
              </a:defRPr>
            </a:lvl8pPr>
            <a:lvl9pPr marL="3886200" indent="-228600" algn="l" rtl="0" eaLnBrk="0" fontAlgn="base" hangingPunct="0">
              <a:spcBef>
                <a:spcPct val="20000"/>
              </a:spcBef>
              <a:spcAft>
                <a:spcPct val="0"/>
              </a:spcAft>
              <a:buClr>
                <a:srgbClr val="063DE8"/>
              </a:buClr>
              <a:buSzPct val="125000"/>
              <a:buChar char="•"/>
              <a:defRPr>
                <a:solidFill>
                  <a:schemeClr val="tx1"/>
                </a:solidFill>
                <a:latin typeface="+mn-lt"/>
              </a:defRPr>
            </a:lvl9pPr>
          </a:lstStyle>
          <a:p>
            <a:pPr marL="342900" marR="0" lvl="0" indent="-3429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词法单元</a:t>
            </a:r>
            <a:r>
              <a:rPr kumimoji="0"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记号</a:t>
            </a:r>
            <a:r>
              <a:rPr kumimoji="0"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,token)</a:t>
            </a:r>
            <a:r>
              <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的例子</a:t>
            </a:r>
            <a:endParaRPr kumimoji="0"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词法分析的作用（</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5363" name="Rectangle 3"/>
          <p:cNvSpPr>
            <a:spLocks noGrp="1"/>
          </p:cNvSpPr>
          <p:nvPr>
            <p:ph idx="1"/>
          </p:nvPr>
        </p:nvSpPr>
        <p:spPr>
          <a:xfrm>
            <a:off x="990600" y="1600200"/>
            <a:ext cx="7391400" cy="4572000"/>
          </a:xfrm>
        </p:spPr>
        <p:txBody>
          <a:bodyPr vert="horz" wrap="square" lIns="92075" tIns="46038" rIns="92075" bIns="46038" anchor="t" anchorCtr="0"/>
          <a:p>
            <a:r>
              <a:rPr lang="zh-CN" altLang="en-US" b="1" dirty="0">
                <a:ea typeface="宋体" panose="02010600030101010101" pitchFamily="2" charset="-122"/>
              </a:rPr>
              <a:t>词法单元</a:t>
            </a:r>
            <a:r>
              <a:rPr lang="en-US" altLang="zh-CN" b="1" dirty="0">
                <a:ea typeface="宋体" panose="02010600030101010101" pitchFamily="2" charset="-122"/>
              </a:rPr>
              <a:t>/</a:t>
            </a:r>
            <a:r>
              <a:rPr lang="zh-CN" altLang="en-US" b="1" dirty="0">
                <a:ea typeface="宋体" panose="02010600030101010101" pitchFamily="2" charset="-122"/>
              </a:rPr>
              <a:t>记号的属性：指记号的特性或特征，而属性的值则反映了特性或特征的值</a:t>
            </a:r>
            <a:endParaRPr lang="zh-CN" altLang="en-US" b="1" dirty="0">
              <a:ea typeface="宋体" panose="02010600030101010101" pitchFamily="2" charset="-122"/>
            </a:endParaRPr>
          </a:p>
          <a:p>
            <a:pPr lvl="1"/>
            <a:r>
              <a:rPr lang="zh-CN" altLang="en-US" b="1" dirty="0">
                <a:ea typeface="宋体" panose="02010600030101010101" pitchFamily="2" charset="-122"/>
              </a:rPr>
              <a:t>通常一个记号具有一个属性值</a:t>
            </a:r>
            <a:endParaRPr lang="zh-CN" altLang="en-US" b="1" dirty="0">
              <a:ea typeface="宋体" panose="02010600030101010101" pitchFamily="2" charset="-122"/>
            </a:endParaRPr>
          </a:p>
          <a:p>
            <a:pPr lvl="1"/>
            <a:r>
              <a:rPr lang="zh-CN" altLang="en-US" b="1" dirty="0">
                <a:ea typeface="宋体" panose="02010600030101010101" pitchFamily="2" charset="-122"/>
              </a:rPr>
              <a:t>如果一个模式能匹配不止一个单词，词法分析器必须为记号提供附加的信息，但有些记号不需要附加的属性值</a:t>
            </a:r>
            <a:endParaRPr lang="zh-CN" altLang="en-US" b="1" dirty="0">
              <a:ea typeface="宋体" panose="02010600030101010101" pitchFamily="2" charset="-122"/>
            </a:endParaRPr>
          </a:p>
          <a:p>
            <a:pPr lvl="1"/>
            <a:r>
              <a:rPr lang="zh-CN" altLang="en-US" b="1" dirty="0">
                <a:ea typeface="宋体" panose="02010600030101010101" pitchFamily="2" charset="-122"/>
              </a:rPr>
              <a:t>记号影响语法分析的决策，属性影响记号的翻译</a:t>
            </a:r>
            <a:endParaRPr lang="zh-CN" altLang="en-US" b="1" dirty="0">
              <a:ea typeface="宋体" panose="02010600030101010101" pitchFamily="2" charset="-122"/>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1026"/>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词法分析的作用（</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7411" name="Rectangle 1027"/>
          <p:cNvSpPr>
            <a:spLocks noGrp="1"/>
          </p:cNvSpPr>
          <p:nvPr>
            <p:ph idx="1"/>
          </p:nvPr>
        </p:nvSpPr>
        <p:spPr>
          <a:xfrm>
            <a:off x="990600" y="1600200"/>
            <a:ext cx="7391400" cy="4572000"/>
          </a:xfrm>
        </p:spPr>
        <p:txBody>
          <a:bodyPr vert="horz" wrap="square" lIns="92075" tIns="46038" rIns="92075" bIns="46038" anchor="t" anchorCtr="0"/>
          <a:p>
            <a:pPr lvl="2">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如</a:t>
            </a:r>
            <a:r>
              <a:rPr lang="en-US" altLang="zh-CN" sz="2400" b="1" dirty="0">
                <a:latin typeface="宋体" panose="02010600030101010101" pitchFamily="2" charset="-122"/>
                <a:ea typeface="宋体" panose="02010600030101010101" pitchFamily="2" charset="-122"/>
              </a:rPr>
              <a:t>FORTRAN</a:t>
            </a:r>
            <a:r>
              <a:rPr lang="zh-CN" altLang="en-US" sz="2400" b="1" dirty="0">
                <a:latin typeface="宋体" panose="02010600030101010101" pitchFamily="2" charset="-122"/>
                <a:ea typeface="宋体" panose="02010600030101010101" pitchFamily="2" charset="-122"/>
              </a:rPr>
              <a:t>语句：</a:t>
            </a:r>
            <a:r>
              <a:rPr lang="en-US" altLang="zh-CN" sz="2400" b="1" dirty="0">
                <a:latin typeface="宋体" panose="02010600030101010101" pitchFamily="2" charset="-122"/>
                <a:ea typeface="宋体" panose="02010600030101010101" pitchFamily="2" charset="-122"/>
              </a:rPr>
              <a:t>E = M * C ** 2</a:t>
            </a:r>
            <a:endParaRPr lang="en-US" altLang="zh-CN" sz="2400"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记号及属性值：用二元组依次表示</a:t>
            </a:r>
            <a:endParaRPr lang="zh-CN" altLang="en-US" sz="2400"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&lt;</a:t>
            </a:r>
            <a:r>
              <a:rPr lang="en-US" altLang="zh-CN" sz="2400" b="1" dirty="0">
                <a:latin typeface="宋体" panose="02010600030101010101" pitchFamily="2" charset="-122"/>
                <a:ea typeface="宋体" panose="02010600030101010101" pitchFamily="2" charset="-122"/>
              </a:rPr>
              <a:t>id，</a:t>
            </a:r>
            <a:r>
              <a:rPr lang="zh-CN" altLang="en-US" sz="2400" b="1" dirty="0">
                <a:latin typeface="宋体" panose="02010600030101010101" pitchFamily="2" charset="-122"/>
                <a:ea typeface="宋体" panose="02010600030101010101" pitchFamily="2" charset="-122"/>
              </a:rPr>
              <a:t>指向符号表中</a:t>
            </a:r>
            <a:r>
              <a:rPr lang="en-US" altLang="zh-CN" sz="2400" b="1" dirty="0">
                <a:latin typeface="宋体" panose="02010600030101010101" pitchFamily="2" charset="-122"/>
                <a:ea typeface="宋体" panose="02010600030101010101" pitchFamily="2" charset="-122"/>
              </a:rPr>
              <a:t>E</a:t>
            </a:r>
            <a:r>
              <a:rPr lang="zh-CN" altLang="en-US" sz="2400" b="1" dirty="0">
                <a:latin typeface="宋体" panose="02010600030101010101" pitchFamily="2" charset="-122"/>
                <a:ea typeface="宋体" panose="02010600030101010101" pitchFamily="2" charset="-122"/>
              </a:rPr>
              <a:t>条目的指针&gt;</a:t>
            </a:r>
            <a:endParaRPr lang="zh-CN" altLang="en-US" sz="2400"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&lt;</a:t>
            </a:r>
            <a:r>
              <a:rPr lang="en-US" altLang="zh-CN" sz="2400" b="1" dirty="0">
                <a:latin typeface="宋体" panose="02010600030101010101" pitchFamily="2" charset="-122"/>
                <a:ea typeface="宋体" panose="02010600030101010101" pitchFamily="2" charset="-122"/>
              </a:rPr>
              <a:t>assign_op，&gt;</a:t>
            </a:r>
            <a:endParaRPr lang="en-US" altLang="zh-CN" sz="2400"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&lt;</a:t>
            </a:r>
            <a:r>
              <a:rPr lang="en-US" altLang="zh-CN" sz="2400" b="1" dirty="0">
                <a:latin typeface="宋体" panose="02010600030101010101" pitchFamily="2" charset="-122"/>
                <a:ea typeface="宋体" panose="02010600030101010101" pitchFamily="2" charset="-122"/>
              </a:rPr>
              <a:t>id，</a:t>
            </a:r>
            <a:r>
              <a:rPr lang="zh-CN" altLang="en-US" sz="2400" b="1" dirty="0">
                <a:latin typeface="宋体" panose="02010600030101010101" pitchFamily="2" charset="-122"/>
                <a:ea typeface="宋体" panose="02010600030101010101" pitchFamily="2" charset="-122"/>
              </a:rPr>
              <a:t>指向符号表中</a:t>
            </a:r>
            <a:r>
              <a:rPr lang="en-US" altLang="zh-CN" sz="2400" b="1" dirty="0">
                <a:latin typeface="宋体" panose="02010600030101010101" pitchFamily="2" charset="-122"/>
                <a:ea typeface="宋体" panose="02010600030101010101" pitchFamily="2" charset="-122"/>
              </a:rPr>
              <a:t>M</a:t>
            </a:r>
            <a:r>
              <a:rPr lang="zh-CN" altLang="en-US" sz="2400" b="1" dirty="0">
                <a:latin typeface="宋体" panose="02010600030101010101" pitchFamily="2" charset="-122"/>
                <a:ea typeface="宋体" panose="02010600030101010101" pitchFamily="2" charset="-122"/>
              </a:rPr>
              <a:t>条目的指针</a:t>
            </a:r>
            <a:r>
              <a:rPr lang="en-US" altLang="zh-CN" sz="2400" b="1" dirty="0">
                <a:latin typeface="宋体" panose="02010600030101010101" pitchFamily="2" charset="-122"/>
                <a:ea typeface="宋体" panose="02010600030101010101" pitchFamily="2" charset="-122"/>
              </a:rPr>
              <a:t>&gt;</a:t>
            </a:r>
            <a:endParaRPr lang="en-US" altLang="zh-CN" sz="2400"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&lt;</a:t>
            </a:r>
            <a:r>
              <a:rPr lang="en-US" altLang="zh-CN" sz="2400" b="1" dirty="0">
                <a:latin typeface="宋体" panose="02010600030101010101" pitchFamily="2" charset="-122"/>
                <a:ea typeface="宋体" panose="02010600030101010101" pitchFamily="2" charset="-122"/>
              </a:rPr>
              <a:t>mult_op，&gt;</a:t>
            </a:r>
            <a:endParaRPr lang="en-US" altLang="zh-CN" sz="2400"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&lt;</a:t>
            </a:r>
            <a:r>
              <a:rPr lang="en-US" altLang="zh-CN" sz="2400" b="1" dirty="0">
                <a:latin typeface="宋体" panose="02010600030101010101" pitchFamily="2" charset="-122"/>
                <a:ea typeface="宋体" panose="02010600030101010101" pitchFamily="2" charset="-122"/>
              </a:rPr>
              <a:t>id，</a:t>
            </a:r>
            <a:r>
              <a:rPr lang="zh-CN" altLang="en-US" sz="2400" b="1" dirty="0">
                <a:latin typeface="宋体" panose="02010600030101010101" pitchFamily="2" charset="-122"/>
                <a:ea typeface="宋体" panose="02010600030101010101" pitchFamily="2" charset="-122"/>
              </a:rPr>
              <a:t>指向符号表中</a:t>
            </a:r>
            <a:r>
              <a:rPr lang="en-US" altLang="zh-CN" sz="2400" b="1" dirty="0">
                <a:latin typeface="宋体" panose="02010600030101010101" pitchFamily="2" charset="-122"/>
                <a:ea typeface="宋体" panose="02010600030101010101" pitchFamily="2" charset="-122"/>
              </a:rPr>
              <a:t>C</a:t>
            </a:r>
            <a:r>
              <a:rPr lang="zh-CN" altLang="en-US" sz="2400" b="1" dirty="0">
                <a:latin typeface="宋体" panose="02010600030101010101" pitchFamily="2" charset="-122"/>
                <a:ea typeface="宋体" panose="02010600030101010101" pitchFamily="2" charset="-122"/>
              </a:rPr>
              <a:t>条目的指针</a:t>
            </a:r>
            <a:r>
              <a:rPr lang="en-US" altLang="zh-CN" sz="2400" b="1" dirty="0">
                <a:latin typeface="宋体" panose="02010600030101010101" pitchFamily="2" charset="-122"/>
                <a:ea typeface="宋体" panose="02010600030101010101" pitchFamily="2" charset="-122"/>
              </a:rPr>
              <a:t>&gt;</a:t>
            </a:r>
            <a:endParaRPr lang="en-US" altLang="zh-CN" sz="2400"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&lt;</a:t>
            </a:r>
            <a:r>
              <a:rPr lang="en-US" altLang="zh-CN" sz="2400" b="1" dirty="0">
                <a:latin typeface="宋体" panose="02010600030101010101" pitchFamily="2" charset="-122"/>
                <a:ea typeface="宋体" panose="02010600030101010101" pitchFamily="2" charset="-122"/>
              </a:rPr>
              <a:t>exp_op,&gt;</a:t>
            </a:r>
            <a:endParaRPr lang="en-US" altLang="zh-CN" sz="2400" b="1" dirty="0">
              <a:latin typeface="宋体" panose="02010600030101010101" pitchFamily="2" charset="-122"/>
              <a:ea typeface="宋体" panose="02010600030101010101" pitchFamily="2" charset="-122"/>
            </a:endParaRPr>
          </a:p>
          <a:p>
            <a:pPr lvl="2">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&lt;</a:t>
            </a:r>
            <a:r>
              <a:rPr lang="en-US" altLang="zh-CN" sz="2400" b="1" dirty="0">
                <a:latin typeface="宋体" panose="02010600030101010101" pitchFamily="2" charset="-122"/>
                <a:ea typeface="宋体" panose="02010600030101010101" pitchFamily="2" charset="-122"/>
              </a:rPr>
              <a:t>num，</a:t>
            </a:r>
            <a:r>
              <a:rPr lang="zh-CN" altLang="en-US" sz="2400" b="1" dirty="0">
                <a:latin typeface="宋体" panose="02010600030101010101" pitchFamily="2" charset="-122"/>
                <a:ea typeface="宋体" panose="02010600030101010101" pitchFamily="2" charset="-122"/>
              </a:rPr>
              <a:t>整数值2&gt;</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词法分析的作用（</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9459" name="Rectangle 3"/>
          <p:cNvSpPr>
            <a:spLocks noGrp="1"/>
          </p:cNvSpPr>
          <p:nvPr>
            <p:ph idx="1"/>
          </p:nvPr>
        </p:nvSpPr>
        <p:spPr>
          <a:xfrm>
            <a:off x="990600" y="1371600"/>
            <a:ext cx="7391400" cy="5181600"/>
          </a:xfrm>
        </p:spPr>
        <p:txBody>
          <a:bodyPr vert="horz" wrap="square" lIns="92075" tIns="46038" rIns="92075" bIns="46038" anchor="t" anchorCtr="0"/>
          <a:p>
            <a:r>
              <a:rPr lang="zh-CN" altLang="en-US" b="1" dirty="0">
                <a:ea typeface="宋体" panose="02010600030101010101" pitchFamily="2" charset="-122"/>
              </a:rPr>
              <a:t>词法错误：</a:t>
            </a:r>
            <a:endParaRPr lang="zh-CN" altLang="en-US" b="1" dirty="0">
              <a:ea typeface="宋体" panose="02010600030101010101" pitchFamily="2" charset="-122"/>
            </a:endParaRPr>
          </a:p>
          <a:p>
            <a:pPr lvl="1"/>
            <a:r>
              <a:rPr lang="zh-CN" altLang="en-US" b="1" dirty="0">
                <a:ea typeface="宋体" panose="02010600030101010101" pitchFamily="2" charset="-122"/>
              </a:rPr>
              <a:t>词法分析基本无法检查出来错误</a:t>
            </a:r>
            <a:endParaRPr lang="zh-CN" altLang="en-US" b="1" dirty="0">
              <a:ea typeface="宋体" panose="02010600030101010101" pitchFamily="2" charset="-122"/>
            </a:endParaRPr>
          </a:p>
          <a:p>
            <a:pPr lvl="2"/>
            <a:r>
              <a:rPr lang="zh-CN" altLang="en-US" b="1" dirty="0">
                <a:ea typeface="宋体" panose="02010600030101010101" pitchFamily="2" charset="-122"/>
              </a:rPr>
              <a:t>但有时由于剩余输入的前缀不能和任何记号的模式匹配而使得词法分析器无法处理</a:t>
            </a:r>
            <a:endParaRPr lang="zh-CN" altLang="en-US" b="1" dirty="0">
              <a:ea typeface="宋体" panose="02010600030101010101" pitchFamily="2" charset="-122"/>
            </a:endParaRPr>
          </a:p>
          <a:p>
            <a:pPr lvl="1"/>
            <a:r>
              <a:rPr lang="zh-CN" altLang="en-US" b="1" dirty="0">
                <a:ea typeface="宋体" panose="02010600030101010101" pitchFamily="2" charset="-122"/>
              </a:rPr>
              <a:t>错误恢复策略：</a:t>
            </a:r>
            <a:endParaRPr lang="zh-CN" altLang="en-US" b="1" dirty="0">
              <a:ea typeface="宋体" panose="02010600030101010101" pitchFamily="2" charset="-122"/>
            </a:endParaRPr>
          </a:p>
          <a:p>
            <a:pPr lvl="2"/>
            <a:r>
              <a:rPr lang="zh-CN" altLang="en-US" b="1" dirty="0">
                <a:ea typeface="宋体" panose="02010600030101010101" pitchFamily="2" charset="-122"/>
              </a:rPr>
              <a:t>紧急方式：删掉剩余输入最前面的字符，直至发现一个正确的符</a:t>
            </a:r>
            <a:endParaRPr lang="zh-CN" altLang="en-US" b="1" dirty="0">
              <a:ea typeface="宋体" panose="02010600030101010101" pitchFamily="2" charset="-122"/>
            </a:endParaRPr>
          </a:p>
          <a:p>
            <a:pPr lvl="2"/>
            <a:r>
              <a:rPr lang="zh-CN" altLang="en-US" b="1" dirty="0">
                <a:ea typeface="宋体" panose="02010600030101010101" pitchFamily="2" charset="-122"/>
              </a:rPr>
              <a:t>考虑到大多数词法错误是输入错误，因此下列方法可能将错误进行修补，但不是总有效的</a:t>
            </a:r>
            <a:endParaRPr lang="zh-CN" altLang="en-US" b="1" dirty="0">
              <a:ea typeface="宋体" panose="02010600030101010101" pitchFamily="2" charset="-122"/>
            </a:endParaRPr>
          </a:p>
          <a:p>
            <a:pPr lvl="3"/>
            <a:r>
              <a:rPr lang="zh-CN" altLang="en-US" b="1" dirty="0">
                <a:ea typeface="宋体" panose="02010600030101010101" pitchFamily="2" charset="-122"/>
              </a:rPr>
              <a:t>删除一个多余的字符</a:t>
            </a:r>
            <a:endParaRPr lang="zh-CN" altLang="en-US" b="1" dirty="0">
              <a:ea typeface="宋体" panose="02010600030101010101" pitchFamily="2" charset="-122"/>
            </a:endParaRPr>
          </a:p>
          <a:p>
            <a:pPr lvl="3"/>
            <a:r>
              <a:rPr lang="zh-CN" altLang="en-US" b="1" dirty="0">
                <a:ea typeface="宋体" panose="02010600030101010101" pitchFamily="2" charset="-122"/>
              </a:rPr>
              <a:t>插入一个遗漏的字符</a:t>
            </a:r>
            <a:endParaRPr lang="zh-CN" altLang="en-US" b="1" dirty="0">
              <a:ea typeface="宋体" panose="02010600030101010101" pitchFamily="2" charset="-122"/>
            </a:endParaRPr>
          </a:p>
          <a:p>
            <a:pPr lvl="3"/>
            <a:r>
              <a:rPr lang="zh-CN" altLang="en-US" b="1" dirty="0">
                <a:ea typeface="宋体" panose="02010600030101010101" pitchFamily="2" charset="-122"/>
              </a:rPr>
              <a:t>用一个正确的字符代替一个不正确的字符</a:t>
            </a:r>
            <a:endParaRPr lang="zh-CN" altLang="en-US" b="1" dirty="0">
              <a:ea typeface="宋体" panose="02010600030101010101" pitchFamily="2" charset="-122"/>
            </a:endParaRPr>
          </a:p>
          <a:p>
            <a:pPr lvl="3"/>
            <a:r>
              <a:rPr lang="zh-CN" altLang="en-US" b="1" dirty="0">
                <a:ea typeface="宋体" panose="02010600030101010101" pitchFamily="2" charset="-122"/>
              </a:rPr>
              <a:t>交换两个相临的字符</a:t>
            </a:r>
            <a:endParaRPr lang="zh-CN" altLang="en-US" b="1" dirty="0">
              <a:ea typeface="宋体" panose="02010600030101010101" pitchFamily="2" charset="-122"/>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输入缓冲区（1）</a:t>
            </a:r>
            <a:endParaRPr lang="zh-CN" altLang="en-US" dirty="0">
              <a:latin typeface="宋体" panose="02010600030101010101" pitchFamily="2" charset="-122"/>
              <a:ea typeface="宋体" panose="02010600030101010101" pitchFamily="2" charset="-122"/>
            </a:endParaRPr>
          </a:p>
        </p:txBody>
      </p:sp>
      <p:sp>
        <p:nvSpPr>
          <p:cNvPr id="21507" name="Rectangle 3"/>
          <p:cNvSpPr>
            <a:spLocks noGrp="1"/>
          </p:cNvSpPr>
          <p:nvPr>
            <p:ph idx="1"/>
          </p:nvPr>
        </p:nvSpPr>
        <p:spPr>
          <a:xfrm>
            <a:off x="684213" y="1371600"/>
            <a:ext cx="7920037" cy="5181600"/>
          </a:xfrm>
        </p:spPr>
        <p:txBody>
          <a:bodyPr vert="horz" wrap="square" lIns="92075" tIns="46038" rIns="92075" bIns="46038" anchor="t" anchorCtr="0"/>
          <a:p>
            <a:r>
              <a:rPr lang="zh-CN" altLang="en-US" b="1" dirty="0">
                <a:ea typeface="宋体" panose="02010600030101010101" pitchFamily="2" charset="-122"/>
              </a:rPr>
              <a:t>输入缓冲：</a:t>
            </a:r>
            <a:endParaRPr lang="zh-CN" altLang="en-US" b="1" dirty="0">
              <a:ea typeface="宋体" panose="02010600030101010101" pitchFamily="2" charset="-122"/>
            </a:endParaRPr>
          </a:p>
          <a:p>
            <a:pPr lvl="1"/>
            <a:r>
              <a:rPr lang="zh-CN" altLang="en-US" b="1" dirty="0">
                <a:ea typeface="宋体" panose="02010600030101010101" pitchFamily="2" charset="-122"/>
              </a:rPr>
              <a:t>词法分析程序可能要向前看若干个字符，才能决定词素符号的确切性质</a:t>
            </a:r>
            <a:endParaRPr lang="zh-CN" altLang="en-US" b="1" dirty="0">
              <a:ea typeface="宋体" panose="02010600030101010101" pitchFamily="2" charset="-122"/>
            </a:endParaRPr>
          </a:p>
          <a:p>
            <a:pPr lvl="1"/>
            <a:r>
              <a:rPr lang="zh-CN" altLang="en-US" b="1" dirty="0">
                <a:ea typeface="宋体" panose="02010600030101010101" pitchFamily="2" charset="-122"/>
              </a:rPr>
              <a:t>缓冲区的选择：</a:t>
            </a:r>
            <a:endParaRPr lang="zh-CN" altLang="en-US" b="1" dirty="0">
              <a:ea typeface="宋体" panose="02010600030101010101" pitchFamily="2" charset="-122"/>
            </a:endParaRPr>
          </a:p>
          <a:p>
            <a:pPr lvl="2"/>
            <a:r>
              <a:rPr lang="zh-CN" altLang="en-US" b="1" dirty="0">
                <a:ea typeface="宋体" panose="02010600030101010101" pitchFamily="2" charset="-122"/>
              </a:rPr>
              <a:t>只用一个单独的缓冲区：</a:t>
            </a:r>
            <a:endParaRPr lang="zh-CN" altLang="en-US" b="1" dirty="0">
              <a:ea typeface="宋体" panose="02010600030101010101" pitchFamily="2" charset="-122"/>
            </a:endParaRPr>
          </a:p>
          <a:p>
            <a:pPr lvl="3"/>
            <a:r>
              <a:rPr lang="zh-CN" altLang="en-US" b="1" dirty="0">
                <a:ea typeface="宋体" panose="02010600030101010101" pitchFamily="2" charset="-122"/>
              </a:rPr>
              <a:t>无论缓冲区多大，都不能保证词素符号不会被缓冲区的边界截断</a:t>
            </a:r>
            <a:endParaRPr lang="zh-CN" altLang="en-US" b="1" dirty="0">
              <a:ea typeface="宋体" panose="02010600030101010101" pitchFamily="2" charset="-122"/>
            </a:endParaRPr>
          </a:p>
          <a:p>
            <a:pPr lvl="2"/>
            <a:r>
              <a:rPr lang="zh-CN" altLang="en-US" b="1" dirty="0">
                <a:ea typeface="宋体" panose="02010600030101010101" pitchFamily="2" charset="-122"/>
              </a:rPr>
              <a:t>缓冲区对：将一个缓冲区分为相同的两个部分</a:t>
            </a:r>
            <a:endParaRPr lang="zh-CN" altLang="en-US" b="1" dirty="0">
              <a:ea typeface="宋体" panose="02010600030101010101" pitchFamily="2" charset="-122"/>
            </a:endParaRPr>
          </a:p>
          <a:p>
            <a:pPr lvl="3"/>
            <a:r>
              <a:rPr lang="zh-CN" altLang="en-US" b="1" dirty="0">
                <a:ea typeface="宋体" panose="02010600030101010101" pitchFamily="2" charset="-122"/>
              </a:rPr>
              <a:t>每引用一次系统的读入命令，读入填满半个缓冲区的字符，若不足，用</a:t>
            </a:r>
            <a:r>
              <a:rPr lang="en-US" altLang="zh-CN" b="1" dirty="0">
                <a:ea typeface="宋体" panose="02010600030101010101" pitchFamily="2" charset="-122"/>
              </a:rPr>
              <a:t>eof</a:t>
            </a:r>
            <a:r>
              <a:rPr lang="zh-CN" altLang="en-US" b="1" dirty="0">
                <a:ea typeface="宋体" panose="02010600030101010101" pitchFamily="2" charset="-122"/>
              </a:rPr>
              <a:t>标志表明</a:t>
            </a:r>
            <a:endParaRPr lang="zh-CN" altLang="en-US" b="1" dirty="0">
              <a:ea typeface="宋体" panose="02010600030101010101" pitchFamily="2" charset="-122"/>
            </a:endParaRPr>
          </a:p>
          <a:p>
            <a:pPr lvl="3"/>
            <a:r>
              <a:rPr lang="zh-CN" altLang="en-US" b="1" dirty="0">
                <a:ea typeface="宋体" panose="02010600030101010101" pitchFamily="2" charset="-122"/>
              </a:rPr>
              <a:t>输入缓冲区保持两个指针：开始指针（</a:t>
            </a:r>
            <a:r>
              <a:rPr lang="en-US" altLang="zh-CN" b="1" dirty="0">
                <a:ea typeface="宋体" panose="02010600030101010101" pitchFamily="2" charset="-122"/>
              </a:rPr>
              <a:t>lexemeBegin</a:t>
            </a:r>
            <a:r>
              <a:rPr lang="zh-CN" altLang="en-US" b="1" dirty="0">
                <a:ea typeface="宋体" panose="02010600030101010101" pitchFamily="2" charset="-122"/>
              </a:rPr>
              <a:t>）和向前指针（</a:t>
            </a:r>
            <a:r>
              <a:rPr lang="en-US" altLang="zh-CN" b="1" dirty="0">
                <a:ea typeface="宋体" panose="02010600030101010101" pitchFamily="2" charset="-122"/>
              </a:rPr>
              <a:t>forward</a:t>
            </a:r>
            <a:r>
              <a:rPr lang="zh-CN" altLang="en-US" b="1" dirty="0">
                <a:ea typeface="宋体" panose="02010600030101010101" pitchFamily="2" charset="-122"/>
              </a:rPr>
              <a:t>）</a:t>
            </a:r>
            <a:endParaRPr lang="zh-CN" altLang="en-US" b="1" dirty="0">
              <a:ea typeface="宋体" panose="02010600030101010101" pitchFamily="2" charset="-122"/>
            </a:endParaRPr>
          </a:p>
          <a:p>
            <a:pPr lvl="3"/>
            <a:r>
              <a:rPr lang="zh-CN" altLang="en-US" b="1" dirty="0">
                <a:ea typeface="宋体" panose="02010600030101010101" pitchFamily="2" charset="-122"/>
              </a:rPr>
              <a:t>开始时，两个指针都指向下一个词素符号的第一个字符</a:t>
            </a:r>
            <a:endParaRPr lang="zh-CN" altLang="en-US" b="1" dirty="0">
              <a:ea typeface="宋体" panose="02010600030101010101" pitchFamily="2"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1026"/>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输入缓冲区（2）</a:t>
            </a:r>
            <a:endParaRPr lang="zh-CN" altLang="en-US" dirty="0">
              <a:latin typeface="宋体" panose="02010600030101010101" pitchFamily="2" charset="-122"/>
              <a:ea typeface="宋体" panose="02010600030101010101" pitchFamily="2" charset="-122"/>
            </a:endParaRPr>
          </a:p>
        </p:txBody>
      </p:sp>
      <p:sp>
        <p:nvSpPr>
          <p:cNvPr id="23555" name="Rectangle 1027"/>
          <p:cNvSpPr>
            <a:spLocks noGrp="1"/>
          </p:cNvSpPr>
          <p:nvPr>
            <p:ph idx="1"/>
          </p:nvPr>
        </p:nvSpPr>
        <p:spPr>
          <a:xfrm>
            <a:off x="755650" y="1600200"/>
            <a:ext cx="7626350" cy="4953000"/>
          </a:xfrm>
        </p:spPr>
        <p:txBody>
          <a:bodyPr vert="horz" wrap="square" lIns="92075" tIns="46038" rIns="92075" bIns="46038" anchor="t" anchorCtr="0"/>
          <a:p>
            <a:pPr lvl="3"/>
            <a:r>
              <a:rPr lang="zh-CN" altLang="en-US" b="1" dirty="0">
                <a:ea typeface="宋体" panose="02010600030101010101" pitchFamily="2" charset="-122"/>
              </a:rPr>
              <a:t>向前指针向前扫描，直至确定词素符号</a:t>
            </a:r>
            <a:endParaRPr lang="zh-CN" altLang="en-US" b="1" dirty="0">
              <a:ea typeface="宋体" panose="02010600030101010101" pitchFamily="2" charset="-122"/>
            </a:endParaRPr>
          </a:p>
          <a:p>
            <a:pPr lvl="3"/>
            <a:r>
              <a:rPr lang="zh-CN" altLang="en-US" b="1" dirty="0">
                <a:ea typeface="宋体" panose="02010600030101010101" pitchFamily="2" charset="-122"/>
              </a:rPr>
              <a:t>词素确定后，开始指针指向该词素的第一个字符，向前指针位于该词素符号的右端，词法分析器将这个词素返回给语法分析器</a:t>
            </a:r>
            <a:endParaRPr lang="zh-CN" altLang="en-US" b="1" dirty="0">
              <a:ea typeface="宋体" panose="02010600030101010101" pitchFamily="2" charset="-122"/>
            </a:endParaRPr>
          </a:p>
          <a:p>
            <a:pPr lvl="3"/>
            <a:r>
              <a:rPr lang="zh-CN" altLang="en-US" b="1" dirty="0">
                <a:ea typeface="宋体" panose="02010600030101010101" pitchFamily="2" charset="-122"/>
              </a:rPr>
              <a:t>当前的词素符号处理完成后，开始指针指向刚找到词素之后的第一个符号，向前指针向左移一个字符</a:t>
            </a:r>
            <a:endParaRPr lang="zh-CN" altLang="en-US" b="1" dirty="0">
              <a:ea typeface="宋体" panose="02010600030101010101" pitchFamily="2" charset="-122"/>
            </a:endParaRPr>
          </a:p>
          <a:p>
            <a:pPr lvl="3"/>
            <a:endParaRPr lang="zh-CN" altLang="en-US" b="1" dirty="0">
              <a:ea typeface="宋体" panose="02010600030101010101" pitchFamily="2" charset="-122"/>
            </a:endParaRPr>
          </a:p>
          <a:p>
            <a:pPr lvl="3"/>
            <a:endParaRPr lang="zh-CN" altLang="en-US" b="1" dirty="0">
              <a:ea typeface="宋体" panose="02010600030101010101" pitchFamily="2" charset="-122"/>
            </a:endParaRPr>
          </a:p>
          <a:p>
            <a:pPr lvl="3"/>
            <a:endParaRPr lang="zh-CN" altLang="en-US" b="1" dirty="0">
              <a:ea typeface="宋体" panose="02010600030101010101" pitchFamily="2" charset="-122"/>
            </a:endParaRPr>
          </a:p>
          <a:p>
            <a:pPr lvl="3"/>
            <a:endParaRPr lang="zh-CN" altLang="en-US" b="1" dirty="0">
              <a:ea typeface="宋体" panose="02010600030101010101" pitchFamily="2" charset="-122"/>
            </a:endParaRPr>
          </a:p>
          <a:p>
            <a:pPr lvl="3"/>
            <a:endParaRPr lang="en-US" altLang="zh-CN" b="1" dirty="0">
              <a:ea typeface="宋体" panose="02010600030101010101" pitchFamily="2" charset="-122"/>
            </a:endParaRPr>
          </a:p>
          <a:p>
            <a:pPr lvl="3"/>
            <a:r>
              <a:rPr lang="zh-CN" altLang="en-US" b="1" dirty="0">
                <a:ea typeface="宋体" panose="02010600030101010101" pitchFamily="2" charset="-122"/>
              </a:rPr>
              <a:t>向前指针到达缓冲区末尾时，更新缓冲区的一半</a:t>
            </a:r>
            <a:endParaRPr lang="zh-CN" altLang="en-US" b="1" dirty="0">
              <a:ea typeface="宋体" panose="02010600030101010101" pitchFamily="2" charset="-122"/>
            </a:endParaRPr>
          </a:p>
          <a:p>
            <a:pPr lvl="3"/>
            <a:r>
              <a:rPr lang="zh-CN" altLang="en-US" b="1" dirty="0">
                <a:ea typeface="宋体" panose="02010600030101010101" pitchFamily="2" charset="-122"/>
              </a:rPr>
              <a:t>单词符号的长度受到缓冲区的大小</a:t>
            </a:r>
            <a:endParaRPr lang="zh-CN" altLang="en-US" b="1" dirty="0">
              <a:ea typeface="宋体" panose="02010600030101010101" pitchFamily="2" charset="-122"/>
            </a:endParaRPr>
          </a:p>
        </p:txBody>
      </p:sp>
      <p:pic>
        <p:nvPicPr>
          <p:cNvPr id="23556" name="Picture 3"/>
          <p:cNvPicPr>
            <a:picLocks noChangeAspect="1"/>
          </p:cNvPicPr>
          <p:nvPr/>
        </p:nvPicPr>
        <p:blipFill>
          <a:blip r:embed="rId1"/>
          <a:stretch>
            <a:fillRect/>
          </a:stretch>
        </p:blipFill>
        <p:spPr>
          <a:xfrm>
            <a:off x="1331913" y="3644900"/>
            <a:ext cx="7415212" cy="1800225"/>
          </a:xfrm>
          <a:prstGeom prst="rect">
            <a:avLst/>
          </a:prstGeom>
          <a:noFill/>
          <a:ln w="9525">
            <a:noFill/>
          </a:ln>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1026"/>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输入缓冲区（2）</a:t>
            </a:r>
            <a:endParaRPr lang="zh-CN" altLang="en-US" dirty="0">
              <a:latin typeface="宋体" panose="02010600030101010101" pitchFamily="2" charset="-122"/>
              <a:ea typeface="宋体" panose="02010600030101010101" pitchFamily="2" charset="-122"/>
            </a:endParaRPr>
          </a:p>
        </p:txBody>
      </p:sp>
      <p:sp>
        <p:nvSpPr>
          <p:cNvPr id="25603" name="Rectangle 1027"/>
          <p:cNvSpPr>
            <a:spLocks noGrp="1"/>
          </p:cNvSpPr>
          <p:nvPr>
            <p:ph idx="1"/>
          </p:nvPr>
        </p:nvSpPr>
        <p:spPr>
          <a:xfrm>
            <a:off x="755650" y="1600200"/>
            <a:ext cx="7626350" cy="3413125"/>
          </a:xfrm>
        </p:spPr>
        <p:txBody>
          <a:bodyPr vert="horz" wrap="square" lIns="92075" tIns="46038" rIns="92075" bIns="46038" anchor="t" anchorCtr="0"/>
          <a:p>
            <a:pPr lvl="2"/>
            <a:r>
              <a:rPr lang="zh-CN" altLang="en-US" b="1" dirty="0">
                <a:ea typeface="宋体" panose="02010600030101010101" pitchFamily="2" charset="-122"/>
              </a:rPr>
              <a:t>哨兵标志</a:t>
            </a:r>
            <a:endParaRPr lang="zh-CN" altLang="en-US" b="1" dirty="0">
              <a:ea typeface="宋体" panose="02010600030101010101" pitchFamily="2" charset="-122"/>
            </a:endParaRPr>
          </a:p>
          <a:p>
            <a:pPr lvl="3"/>
            <a:r>
              <a:rPr lang="zh-CN" altLang="en-US" b="1" dirty="0">
                <a:ea typeface="宋体" panose="02010600030101010101" pitchFamily="2" charset="-122"/>
              </a:rPr>
              <a:t>采用缓冲区对，要在向前指针每次移动时，检测是否到达了缓冲区的末尾（若是，要加更新缓冲区），所以读入每个字符需要两次比较</a:t>
            </a:r>
            <a:endParaRPr lang="en-US" altLang="zh-CN" b="1" dirty="0">
              <a:ea typeface="宋体" panose="02010600030101010101" pitchFamily="2" charset="-122"/>
            </a:endParaRPr>
          </a:p>
          <a:p>
            <a:pPr lvl="4"/>
            <a:r>
              <a:rPr lang="zh-CN" altLang="en-US" b="1" dirty="0">
                <a:ea typeface="宋体" panose="02010600030101010101" pitchFamily="2" charset="-122"/>
              </a:rPr>
              <a:t>是否到末尾</a:t>
            </a:r>
            <a:endParaRPr lang="en-US" altLang="zh-CN" b="1" dirty="0">
              <a:ea typeface="宋体" panose="02010600030101010101" pitchFamily="2" charset="-122"/>
            </a:endParaRPr>
          </a:p>
          <a:p>
            <a:pPr lvl="4"/>
            <a:r>
              <a:rPr lang="zh-CN" altLang="en-US" b="1" dirty="0">
                <a:ea typeface="宋体" panose="02010600030101010101" pitchFamily="2" charset="-122"/>
              </a:rPr>
              <a:t>确定字符是什么</a:t>
            </a:r>
            <a:endParaRPr lang="zh-CN" altLang="en-US" b="1" dirty="0">
              <a:ea typeface="宋体" panose="02010600030101010101" pitchFamily="2" charset="-122"/>
            </a:endParaRPr>
          </a:p>
          <a:p>
            <a:pPr lvl="3"/>
            <a:r>
              <a:rPr lang="zh-CN" altLang="en-US" b="1" dirty="0">
                <a:ea typeface="宋体" panose="02010600030101010101" pitchFamily="2" charset="-122"/>
              </a:rPr>
              <a:t>扩展：在每个缓冲区尾加“</a:t>
            </a:r>
            <a:r>
              <a:rPr lang="en-US" altLang="zh-CN" b="1" dirty="0">
                <a:ea typeface="宋体" panose="02010600030101010101" pitchFamily="2" charset="-122"/>
              </a:rPr>
              <a:t>eof</a:t>
            </a:r>
            <a:r>
              <a:rPr lang="zh-CN" altLang="en-US" b="1" dirty="0">
                <a:ea typeface="宋体" panose="02010600030101010101" pitchFamily="2" charset="-122"/>
              </a:rPr>
              <a:t>”标志</a:t>
            </a:r>
            <a:endParaRPr lang="en-US" altLang="zh-CN" b="1" dirty="0">
              <a:ea typeface="宋体" panose="02010600030101010101" pitchFamily="2" charset="-122"/>
            </a:endParaRPr>
          </a:p>
          <a:p>
            <a:pPr lvl="4"/>
            <a:r>
              <a:rPr lang="zh-CN" altLang="en-US" b="1" dirty="0">
                <a:ea typeface="宋体" panose="02010600030101010101" pitchFamily="2" charset="-122"/>
              </a:rPr>
              <a:t>减少测试的次数，只有对</a:t>
            </a:r>
            <a:r>
              <a:rPr lang="en-US" altLang="zh-CN" b="1" dirty="0">
                <a:ea typeface="宋体" panose="02010600030101010101" pitchFamily="2" charset="-122"/>
              </a:rPr>
              <a:t>eof</a:t>
            </a:r>
            <a:r>
              <a:rPr lang="zh-CN" altLang="en-US" b="1" dirty="0">
                <a:ea typeface="宋体" panose="02010600030101010101" pitchFamily="2" charset="-122"/>
              </a:rPr>
              <a:t>需要多次测试</a:t>
            </a:r>
            <a:endParaRPr lang="en-US" altLang="zh-CN" b="1" dirty="0">
              <a:ea typeface="宋体" panose="02010600030101010101" pitchFamily="2" charset="-122"/>
            </a:endParaRPr>
          </a:p>
          <a:p>
            <a:pPr lvl="4"/>
            <a:r>
              <a:rPr lang="zh-CN" altLang="en-US" b="1" dirty="0">
                <a:ea typeface="宋体" panose="02010600030101010101" pitchFamily="2" charset="-122"/>
              </a:rPr>
              <a:t>在缓冲区末尾的</a:t>
            </a:r>
            <a:r>
              <a:rPr lang="en-US" altLang="zh-CN" b="1" dirty="0">
                <a:ea typeface="宋体" panose="02010600030101010101" pitchFamily="2" charset="-122"/>
              </a:rPr>
              <a:t>eof</a:t>
            </a:r>
            <a:r>
              <a:rPr lang="zh-CN" altLang="en-US" b="1" dirty="0">
                <a:ea typeface="宋体" panose="02010600030101010101" pitchFamily="2" charset="-122"/>
              </a:rPr>
              <a:t>标识缓冲区更新</a:t>
            </a:r>
            <a:endParaRPr lang="en-US" altLang="zh-CN" b="1" dirty="0">
              <a:ea typeface="宋体" panose="02010600030101010101" pitchFamily="2" charset="-122"/>
            </a:endParaRPr>
          </a:p>
          <a:p>
            <a:pPr lvl="4"/>
            <a:r>
              <a:rPr lang="zh-CN" altLang="en-US" b="1" dirty="0">
                <a:ea typeface="宋体" panose="02010600030101010101" pitchFamily="2" charset="-122"/>
              </a:rPr>
              <a:t>在非末尾的</a:t>
            </a:r>
            <a:r>
              <a:rPr lang="en-US" altLang="zh-CN" b="1" dirty="0">
                <a:ea typeface="宋体" panose="02010600030101010101" pitchFamily="2" charset="-122"/>
              </a:rPr>
              <a:t>eof</a:t>
            </a:r>
            <a:r>
              <a:rPr lang="zh-CN" altLang="en-US" b="1" dirty="0">
                <a:ea typeface="宋体" panose="02010600030101010101" pitchFamily="2" charset="-122"/>
              </a:rPr>
              <a:t>标识输入结束</a:t>
            </a:r>
            <a:endParaRPr lang="zh-CN" altLang="en-US" b="1" dirty="0">
              <a:ea typeface="宋体" panose="02010600030101010101" pitchFamily="2" charset="-122"/>
            </a:endParaRPr>
          </a:p>
        </p:txBody>
      </p:sp>
      <p:pic>
        <p:nvPicPr>
          <p:cNvPr id="25604" name="Picture 4"/>
          <p:cNvPicPr>
            <a:picLocks noChangeAspect="1"/>
          </p:cNvPicPr>
          <p:nvPr/>
        </p:nvPicPr>
        <p:blipFill>
          <a:blip r:embed="rId1"/>
          <a:stretch>
            <a:fillRect/>
          </a:stretch>
        </p:blipFill>
        <p:spPr>
          <a:xfrm>
            <a:off x="914400" y="4941888"/>
            <a:ext cx="7380288" cy="1739900"/>
          </a:xfrm>
          <a:prstGeom prst="rect">
            <a:avLst/>
          </a:prstGeom>
          <a:noFill/>
          <a:ln w="9525">
            <a:noFill/>
          </a:ln>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50" name="Picture 3"/>
          <p:cNvPicPr>
            <a:picLocks noChangeAspect="1"/>
          </p:cNvPicPr>
          <p:nvPr/>
        </p:nvPicPr>
        <p:blipFill>
          <a:blip r:embed="rId1"/>
          <a:stretch>
            <a:fillRect/>
          </a:stretch>
        </p:blipFill>
        <p:spPr>
          <a:xfrm>
            <a:off x="323850" y="476250"/>
            <a:ext cx="8604250" cy="6037263"/>
          </a:xfrm>
          <a:prstGeom prst="rect">
            <a:avLst/>
          </a:prstGeom>
          <a:noFill/>
          <a:ln w="9525">
            <a:noFill/>
          </a:ln>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回顾</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28675" name="Rectangle 3"/>
          <p:cNvSpPr>
            <a:spLocks noGrp="1"/>
          </p:cNvSpPr>
          <p:nvPr>
            <p:ph idx="1"/>
          </p:nvPr>
        </p:nvSpPr>
        <p:spPr>
          <a:xfrm>
            <a:off x="990600" y="1600200"/>
            <a:ext cx="7391400" cy="4953000"/>
          </a:xfrm>
        </p:spPr>
        <p:txBody>
          <a:bodyPr vert="horz" wrap="square" lIns="92075" tIns="46038" rIns="92075" bIns="46038" anchor="t" anchorCtr="0"/>
          <a:p>
            <a:pPr>
              <a:lnSpc>
                <a:spcPct val="90000"/>
              </a:lnSpc>
            </a:pPr>
            <a:r>
              <a:rPr lang="zh-CN" altLang="en-US" b="1" dirty="0">
                <a:latin typeface="宋体" panose="02010600030101010101" pitchFamily="2" charset="-122"/>
                <a:ea typeface="宋体" panose="02010600030101010101" pitchFamily="2" charset="-122"/>
              </a:rPr>
              <a:t>符号和符号串：</a:t>
            </a:r>
            <a:endParaRPr lang="zh-CN" altLang="en-US" b="1" dirty="0">
              <a:latin typeface="宋体" panose="02010600030101010101" pitchFamily="2" charset="-122"/>
              <a:ea typeface="宋体" panose="02010600030101010101" pitchFamily="2" charset="-122"/>
            </a:endParaRPr>
          </a:p>
          <a:p>
            <a:pPr lvl="1">
              <a:lnSpc>
                <a:spcPct val="90000"/>
              </a:lnSpc>
            </a:pPr>
            <a:r>
              <a:rPr lang="zh-CN" altLang="en-US" b="1" dirty="0">
                <a:latin typeface="宋体" panose="02010600030101010101" pitchFamily="2" charset="-122"/>
                <a:ea typeface="宋体" panose="02010600030101010101" pitchFamily="2" charset="-122"/>
              </a:rPr>
              <a:t>字母表：是符号的有穷非空集合</a:t>
            </a:r>
            <a:endParaRPr lang="zh-CN" altLang="en-US"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字母表包含了语言中允许出现的一切符号</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不同的语言有不同的字母表</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字母表一般用大写字母或∑表示，如：</a:t>
            </a:r>
            <a:endParaRPr lang="zh-CN" altLang="en-US"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None/>
            </a:pPr>
            <a:r>
              <a:rPr lang="en-US" altLang="zh-CN" b="1" dirty="0">
                <a:latin typeface="宋体" panose="02010600030101010101" pitchFamily="2" charset="-122"/>
                <a:ea typeface="宋体" panose="02010600030101010101" pitchFamily="2" charset="-122"/>
              </a:rPr>
              <a:t>A = {0 , 1}  </a:t>
            </a:r>
            <a:r>
              <a:rPr lang="zh-CN" altLang="en-US" b="1" dirty="0">
                <a:latin typeface="宋体" panose="02010600030101010101" pitchFamily="2" charset="-122"/>
                <a:ea typeface="宋体" panose="02010600030101010101" pitchFamily="2" charset="-122"/>
              </a:rPr>
              <a:t>或 ∑ = {</a:t>
            </a:r>
            <a:r>
              <a:rPr lang="en-US" altLang="zh-CN" b="1" dirty="0">
                <a:latin typeface="宋体" panose="02010600030101010101" pitchFamily="2" charset="-122"/>
                <a:ea typeface="宋体" panose="02010600030101010101" pitchFamily="2" charset="-122"/>
              </a:rPr>
              <a:t>a , b , c}</a:t>
            </a:r>
            <a:endParaRPr lang="en-US" altLang="zh-CN" b="1" dirty="0">
              <a:latin typeface="宋体" panose="02010600030101010101" pitchFamily="2" charset="-122"/>
              <a:ea typeface="宋体" panose="02010600030101010101" pitchFamily="2" charset="-122"/>
            </a:endParaRPr>
          </a:p>
          <a:p>
            <a:pPr lvl="1">
              <a:lnSpc>
                <a:spcPct val="90000"/>
              </a:lnSpc>
            </a:pPr>
            <a:r>
              <a:rPr lang="zh-CN" altLang="en-US" b="1" dirty="0">
                <a:latin typeface="宋体" panose="02010600030101010101" pitchFamily="2" charset="-122"/>
                <a:ea typeface="宋体" panose="02010600030101010101" pitchFamily="2" charset="-122"/>
              </a:rPr>
              <a:t>符号串：由字母表中的符号组成的有穷序列称为符号串，一般用小写字母</a:t>
            </a:r>
            <a:r>
              <a:rPr lang="en-US" altLang="zh-CN" b="1" dirty="0">
                <a:latin typeface="宋体" panose="02010600030101010101" pitchFamily="2" charset="-122"/>
                <a:ea typeface="宋体" panose="02010600030101010101" pitchFamily="2" charset="-122"/>
              </a:rPr>
              <a:t>x,y,z</a:t>
            </a:r>
            <a:r>
              <a:rPr lang="zh-CN" altLang="en-US" b="1" dirty="0">
                <a:latin typeface="宋体" panose="02010600030101010101" pitchFamily="2" charset="-122"/>
                <a:ea typeface="宋体" panose="02010600030101010101" pitchFamily="2" charset="-122"/>
              </a:rPr>
              <a:t>等表示</a:t>
            </a:r>
            <a:endParaRPr lang="zh-CN" altLang="en-US"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符号出现的次序是重要的</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允许空符号串的出现：</a:t>
            </a:r>
            <a:r>
              <a:rPr lang="en-US" altLang="zh-CN" b="1" dirty="0">
                <a:latin typeface="宋体" panose="02010600030101010101" pitchFamily="2" charset="-122"/>
                <a:ea typeface="宋体" panose="02010600030101010101" pitchFamily="2" charset="-122"/>
              </a:rPr>
              <a:t>ε</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符号串</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的长度：|</a:t>
            </a:r>
            <a:r>
              <a:rPr lang="en-US" altLang="zh-CN" b="1" dirty="0">
                <a:latin typeface="宋体" panose="02010600030101010101" pitchFamily="2" charset="-122"/>
                <a:ea typeface="宋体" panose="02010600030101010101" pitchFamily="2" charset="-122"/>
              </a:rPr>
              <a:t>x|</a:t>
            </a:r>
            <a:r>
              <a:rPr lang="zh-CN" altLang="en-US" b="1" dirty="0">
                <a:latin typeface="宋体" panose="02010600030101010101" pitchFamily="2" charset="-122"/>
                <a:ea typeface="宋体" panose="02010600030101010101" pitchFamily="2" charset="-122"/>
              </a:rPr>
              <a:t>字符串中符号的个数，空符号串的长度为0</a:t>
            </a:r>
            <a:endParaRPr lang="en-US" altLang="zh-CN" b="1" dirty="0">
              <a:latin typeface="宋体" panose="02010600030101010101" pitchFamily="2" charset="-122"/>
              <a:ea typeface="宋体" panose="02010600030101010101" pitchFamily="2" charset="-122"/>
            </a:endParaRPr>
          </a:p>
          <a:p>
            <a:pPr lvl="2"/>
            <a:r>
              <a:rPr lang="zh-CN" altLang="en-US" b="1" dirty="0">
                <a:latin typeface="宋体" panose="02010600030101010101" pitchFamily="2" charset="-122"/>
                <a:ea typeface="宋体" panose="02010600030101010101" pitchFamily="2" charset="-122"/>
              </a:rPr>
              <a:t>子符号串：非空符号串的若干相继的符号</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回顾</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文法和语言的形式定义（2）</a:t>
            </a:r>
            <a:endParaRPr lang="zh-CN" altLang="en-US" dirty="0">
              <a:latin typeface="宋体" panose="02010600030101010101" pitchFamily="2" charset="-122"/>
              <a:ea typeface="宋体" panose="02010600030101010101" pitchFamily="2" charset="-122"/>
            </a:endParaRPr>
          </a:p>
        </p:txBody>
      </p:sp>
      <p:sp>
        <p:nvSpPr>
          <p:cNvPr id="14339" name="Rectangle 3"/>
          <p:cNvSpPr>
            <a:spLocks noGrp="1" noChangeArrowheads="1"/>
          </p:cNvSpPr>
          <p:nvPr>
            <p:ph idx="1"/>
          </p:nvPr>
        </p:nvSpPr>
        <p:spPr>
          <a:xfrm>
            <a:off x="0" y="1371600"/>
            <a:ext cx="9144000" cy="4953000"/>
          </a:xfrm>
        </p:spPr>
        <p:txBody>
          <a:bodyPr vert="horz" wrap="square" lIns="92075" tIns="46038" rIns="92075" bIns="46038" numCol="1" anchor="t" anchorCtr="0" compatLnSpc="1"/>
          <a:lstStyle/>
          <a:p>
            <a:pPr marL="742950" marR="0" lvl="1" indent="-28575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符号串的一些概念</a:t>
            </a:r>
            <a:endPar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符号串的前缀和后缀：如果符号串</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 = </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xy</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称为</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的前缀， </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称为</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的后缀，其中</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均可能为空串</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如果</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均非空，则</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称为</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的真前缀，</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称为</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的真后缀</a:t>
            </a: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90000"/>
              </a:lnSpc>
              <a:spcBef>
                <a:spcPct val="20000"/>
              </a:spcBef>
              <a:spcAft>
                <a:spcPct val="0"/>
              </a:spcAft>
              <a:buClr>
                <a:srgbClr val="063DE8"/>
              </a:buClr>
              <a:buSzPct val="70000"/>
              <a:buFont typeface="Wingdings" panose="05000000000000000000" pitchFamily="2" charset="2"/>
              <a:buNone/>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如</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则</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、a、ab、abc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的前缀，其中</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ab</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的真前缀；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c、bc、abc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的后缀，其中</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z</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的真后缀</a:t>
            </a: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子串：删除该串的某个前缀和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或某个后缀后得到的串，若子串非空，且不等于原串，则称为真子串</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3716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上例中，</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ab</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都是子串，</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不是真子串</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子序列：从串中删除</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0</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个或多个符号后得到的串，被删除的符号可能不相邻，如</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ac</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abcd</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的子序列</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符号串的运算：</a:t>
            </a:r>
            <a:endParaRPr kumimoji="0" lang="en-US" altLang="zh-CN"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连结：若</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是符号串，则连结</a:t>
            </a:r>
            <a:r>
              <a:rPr kumimoji="0" lang="en-US" altLang="zh-CN" sz="1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xy</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是将</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y</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加到</a:t>
            </a:r>
            <a:r>
              <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后形成的串。</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ε</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是连结运算的恒等元素，</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εx</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xε</a:t>
            </a:r>
            <a:endPar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符号串的幂运算：将连结看成是积运算</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16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rPr>
              <a:t>0</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ε    </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对于任意的</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&gt;0</a:t>
            </a: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有</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r>
              <a:rPr kumimoji="0" lang="en-US" altLang="zh-CN" sz="16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rPr>
              <a:t>i</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x</a:t>
            </a:r>
            <a:r>
              <a:rPr kumimoji="0" lang="en-US" altLang="zh-CN" sz="16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rPr>
              <a:t>i-1</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a:t>
            </a:r>
            <a:endPar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1600200" marR="0" lvl="3" indent="-2286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如：</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x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x</a:t>
            </a:r>
            <a:r>
              <a:rPr kumimoji="0" lang="en-US" altLang="zh-CN" sz="1600" b="1" i="0" u="none" strike="noStrike" kern="0" cap="none" spc="0" normalizeH="0" baseline="30000" noProof="0" dirty="0">
                <a:ln>
                  <a:noFill/>
                </a:ln>
                <a:solidFill>
                  <a:schemeClr val="tx1"/>
                </a:solidFill>
                <a:effectLst/>
                <a:uLnTx/>
                <a:uFillTx/>
                <a:latin typeface="宋体" panose="02010600030101010101" pitchFamily="2" charset="-122"/>
                <a:ea typeface="宋体" panose="02010600030101010101" pitchFamily="2" charset="-122"/>
              </a:rPr>
              <a:t>3</a:t>
            </a:r>
            <a:r>
              <a:rPr kumimoji="0" lang="en-US" altLang="zh-CN" sz="1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 = </a:t>
            </a:r>
            <a:r>
              <a:rPr kumimoji="0" lang="en-US" altLang="zh-CN" sz="16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rPr>
              <a:t>abcabcabc</a:t>
            </a:r>
            <a:endParaRPr kumimoji="0"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回顾</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文法和语言的形式定义（3）</a:t>
            </a:r>
            <a:endParaRPr lang="zh-CN" altLang="en-US" dirty="0">
              <a:latin typeface="宋体" panose="02010600030101010101" pitchFamily="2" charset="-122"/>
              <a:ea typeface="宋体" panose="02010600030101010101" pitchFamily="2" charset="-122"/>
            </a:endParaRPr>
          </a:p>
        </p:txBody>
      </p:sp>
      <p:sp>
        <p:nvSpPr>
          <p:cNvPr id="32771" name="Rectangle 3"/>
          <p:cNvSpPr>
            <a:spLocks noGrp="1"/>
          </p:cNvSpPr>
          <p:nvPr>
            <p:ph idx="1"/>
          </p:nvPr>
        </p:nvSpPr>
        <p:spPr>
          <a:xfrm>
            <a:off x="762000" y="1371600"/>
            <a:ext cx="7696200" cy="49530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符号串的集合：如集合</a:t>
            </a:r>
            <a:r>
              <a:rPr lang="en-US" altLang="zh-CN" sz="2400" b="1" dirty="0">
                <a:latin typeface="宋体" panose="02010600030101010101" pitchFamily="2" charset="-122"/>
                <a:ea typeface="宋体" panose="02010600030101010101" pitchFamily="2" charset="-122"/>
              </a:rPr>
              <a:t>A</a:t>
            </a:r>
            <a:r>
              <a:rPr lang="zh-CN" altLang="en-US" sz="2400" b="1" dirty="0">
                <a:latin typeface="宋体" panose="02010600030101010101" pitchFamily="2" charset="-122"/>
                <a:ea typeface="宋体" panose="02010600030101010101" pitchFamily="2" charset="-122"/>
              </a:rPr>
              <a:t>中的一切元素是某个字母表上的符号串，则称</a:t>
            </a:r>
            <a:r>
              <a:rPr lang="en-US" altLang="zh-CN" sz="2400" b="1" dirty="0">
                <a:latin typeface="宋体" panose="02010600030101010101" pitchFamily="2" charset="-122"/>
                <a:ea typeface="宋体" panose="02010600030101010101" pitchFamily="2" charset="-122"/>
              </a:rPr>
              <a:t>A</a:t>
            </a:r>
            <a:r>
              <a:rPr lang="zh-CN" altLang="en-US" sz="2400" b="1" dirty="0">
                <a:latin typeface="宋体" panose="02010600030101010101" pitchFamily="2" charset="-122"/>
                <a:ea typeface="宋体" panose="02010600030101010101" pitchFamily="2" charset="-122"/>
              </a:rPr>
              <a:t>为该字母表上的符号串的集合</a:t>
            </a:r>
            <a:endParaRPr lang="en-US" altLang="zh-CN"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两个符号串集合</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和</a:t>
            </a:r>
            <a:r>
              <a:rPr lang="en-US" altLang="zh-CN" sz="2000" b="1" dirty="0">
                <a:latin typeface="宋体" panose="02010600030101010101" pitchFamily="2" charset="-122"/>
                <a:ea typeface="宋体" panose="02010600030101010101" pitchFamily="2" charset="-122"/>
              </a:rPr>
              <a:t>B</a:t>
            </a:r>
            <a:r>
              <a:rPr lang="zh-CN" altLang="en-US" sz="2000" b="1" dirty="0">
                <a:latin typeface="宋体" panose="02010600030101010101" pitchFamily="2" charset="-122"/>
                <a:ea typeface="宋体" panose="02010600030101010101" pitchFamily="2" charset="-122"/>
              </a:rPr>
              <a:t>的乘积：</a:t>
            </a:r>
            <a:r>
              <a:rPr lang="en-US" altLang="zh-CN" sz="2000" b="1" dirty="0">
                <a:latin typeface="宋体" panose="02010600030101010101" pitchFamily="2" charset="-122"/>
                <a:ea typeface="宋体" panose="02010600030101010101" pitchFamily="2" charset="-122"/>
              </a:rPr>
              <a:t>AB={xy|x∈A</a:t>
            </a:r>
            <a:r>
              <a:rPr lang="zh-CN" altLang="en-US" sz="2000" b="1" dirty="0">
                <a:latin typeface="宋体" panose="02010600030101010101" pitchFamily="2" charset="-122"/>
                <a:ea typeface="宋体" panose="02010600030101010101" pitchFamily="2" charset="-122"/>
              </a:rPr>
              <a:t>且</a:t>
            </a:r>
            <a:r>
              <a:rPr lang="en-US" altLang="zh-CN" sz="2000" b="1" dirty="0">
                <a:latin typeface="宋体" panose="02010600030101010101" pitchFamily="2" charset="-122"/>
                <a:ea typeface="宋体" panose="02010600030101010101" pitchFamily="2" charset="-122"/>
              </a:rPr>
              <a:t>y∈B}</a:t>
            </a:r>
            <a:endParaRPr lang="en-US" altLang="zh-CN" sz="2000" b="1" dirty="0">
              <a:latin typeface="宋体" panose="02010600030101010101" pitchFamily="2" charset="-122"/>
              <a:ea typeface="宋体" panose="02010600030101010101" pitchFamily="2" charset="-122"/>
            </a:endParaRPr>
          </a:p>
          <a:p>
            <a:pPr lvl="1"/>
            <a:r>
              <a:rPr lang="en-US" altLang="zh-CN" sz="2000" b="1" dirty="0">
                <a:latin typeface="宋体" panose="02010600030101010101" pitchFamily="2" charset="-122"/>
                <a:ea typeface="宋体" panose="02010600030101010101" pitchFamily="2" charset="-122"/>
              </a:rPr>
              <a:t>{ε}A = A{ε} = A</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指定字母表∑，则∑</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表示∑上的所有有穷长的串的集合： ∑</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 ∑</a:t>
            </a:r>
            <a:r>
              <a:rPr lang="zh-CN" altLang="en-US" sz="2000" b="1" baseline="30000" dirty="0">
                <a:latin typeface="宋体" panose="02010600030101010101" pitchFamily="2" charset="-122"/>
                <a:ea typeface="宋体" panose="02010600030101010101" pitchFamily="2" charset="-122"/>
              </a:rPr>
              <a:t>0</a:t>
            </a:r>
            <a:r>
              <a:rPr lang="zh-CN" altLang="en-US" sz="2000" b="1" dirty="0">
                <a:latin typeface="宋体" panose="02010600030101010101" pitchFamily="2" charset="-122"/>
                <a:ea typeface="宋体" panose="02010600030101010101" pitchFamily="2" charset="-122"/>
              </a:rPr>
              <a:t>∪∑</a:t>
            </a:r>
            <a:r>
              <a:rPr lang="zh-CN" altLang="en-US" sz="2000" b="1" baseline="30000"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a:t>
            </a:r>
            <a:r>
              <a:rPr lang="zh-CN" altLang="en-US" sz="2000" b="1" baseline="30000" dirty="0">
                <a:latin typeface="宋体" panose="02010600030101010101" pitchFamily="2" charset="-122"/>
                <a:ea typeface="宋体" panose="02010600030101010101" pitchFamily="2" charset="-122"/>
              </a:rPr>
              <a:t>2 </a:t>
            </a:r>
            <a:r>
              <a:rPr lang="zh-CN" altLang="en-US" sz="2000" b="1" baseline="30000" dirty="0">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a:t>
            </a:r>
            <a:r>
              <a:rPr lang="en-US" altLang="zh-CN" sz="2000" b="1" baseline="30000" dirty="0">
                <a:latin typeface="宋体" panose="02010600030101010101" pitchFamily="2" charset="-122"/>
                <a:ea typeface="宋体" panose="02010600030101010101" pitchFamily="2" charset="-122"/>
              </a:rPr>
              <a:t>n </a:t>
            </a:r>
            <a:r>
              <a:rPr lang="en-US" altLang="zh-CN" sz="2000" b="1" baseline="30000" dirty="0">
                <a:ea typeface="宋体" panose="02010600030101010101" pitchFamily="2" charset="-122"/>
              </a:rPr>
              <a:t>…</a:t>
            </a:r>
            <a:endParaRPr lang="en-US" altLang="zh-CN" sz="2000" b="1" baseline="30000"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称为集合</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的闭包， ∑</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称为集合</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的正闭包</a:t>
            </a:r>
            <a:endParaRPr lang="zh-CN" altLang="en-US" sz="2000" b="1" dirty="0">
              <a:latin typeface="宋体" panose="02010600030101010101" pitchFamily="2" charset="-122"/>
              <a:ea typeface="宋体" panose="02010600030101010101" pitchFamily="2" charset="-122"/>
            </a:endParaRPr>
          </a:p>
          <a:p>
            <a:pPr lvl="1">
              <a:buNone/>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显然： ∑</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a:t>
            </a:r>
            <a:r>
              <a:rPr lang="zh-CN" altLang="en-US" sz="2000" b="1" baseline="30000" dirty="0">
                <a:latin typeface="宋体" panose="02010600030101010101" pitchFamily="2" charset="-122"/>
                <a:ea typeface="宋体" panose="02010600030101010101" pitchFamily="2" charset="-122"/>
              </a:rPr>
              <a:t>0</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t>
            </a:r>
            <a:r>
              <a:rPr lang="en-US" altLang="zh-CN"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 ∑</a:t>
            </a:r>
            <a:r>
              <a:rPr lang="en-US" altLang="zh-CN" sz="2000" b="1" dirty="0">
                <a:latin typeface="宋体" panose="02010600030101010101" pitchFamily="2" charset="-122"/>
                <a:ea typeface="宋体" panose="02010600030101010101" pitchFamily="2" charset="-122"/>
              </a:rPr>
              <a:t>∑</a:t>
            </a:r>
            <a:r>
              <a:rPr lang="en-US" altLang="zh-CN" sz="2000" b="1" baseline="30000"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t>
            </a:r>
            <a:r>
              <a:rPr lang="en-US" altLang="zh-CN"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a:t>
            </a:r>
            <a:r>
              <a:rPr lang="zh-CN" altLang="en-US" sz="2000" b="1" baseline="30000"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具有可数的无穷数量的元素</a:t>
            </a:r>
            <a:endParaRPr lang="en-US" altLang="zh-CN" sz="2000" b="1" dirty="0">
              <a:latin typeface="宋体" panose="02010600030101010101" pitchFamily="2" charset="-122"/>
              <a:ea typeface="宋体" panose="02010600030101010101" pitchFamily="2" charset="-122"/>
            </a:endParaRPr>
          </a:p>
          <a:p>
            <a:r>
              <a:rPr lang="zh-CN" altLang="en-US" sz="2200" b="1" dirty="0">
                <a:latin typeface="宋体" panose="02010600030101010101" pitchFamily="2" charset="-122"/>
                <a:ea typeface="宋体" panose="02010600030101010101" pitchFamily="2" charset="-122"/>
              </a:rPr>
              <a:t>句子：在语言中，句子是给定字母表上一个符号串</a:t>
            </a:r>
            <a:endParaRPr lang="en-US" altLang="zh-CN" sz="22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根据上下文的语境，有时也称为“字”</a:t>
            </a:r>
            <a:endParaRPr lang="en-US" altLang="zh-CN" sz="2000" b="1" dirty="0">
              <a:latin typeface="宋体" panose="02010600030101010101" pitchFamily="2" charset="-122"/>
              <a:ea typeface="宋体" panose="02010600030101010101" pitchFamily="2" charset="-122"/>
            </a:endParaRPr>
          </a:p>
          <a:p>
            <a:r>
              <a:rPr lang="zh-CN" altLang="en-US" sz="2200" b="1" dirty="0">
                <a:latin typeface="宋体" panose="02010600030101010101" pitchFamily="2" charset="-122"/>
                <a:ea typeface="宋体" panose="02010600030101010101" pitchFamily="2" charset="-122"/>
              </a:rPr>
              <a:t>语言：在给定字母表上一个任意的可数的串集合</a:t>
            </a:r>
            <a:endParaRPr lang="en-US" altLang="zh-CN" sz="22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空集、</a:t>
            </a:r>
            <a:r>
              <a:rPr lang="en-US" altLang="zh-CN" sz="2000" b="1" dirty="0">
                <a:latin typeface="宋体" panose="02010600030101010101" pitchFamily="2" charset="-122"/>
                <a:ea typeface="宋体" panose="02010600030101010101" pitchFamily="2" charset="-122"/>
              </a:rPr>
              <a:t>{ε}</a:t>
            </a:r>
            <a:r>
              <a:rPr lang="zh-CN" altLang="en-US" sz="2000" b="1" dirty="0">
                <a:latin typeface="宋体" panose="02010600030101010101" pitchFamily="2" charset="-122"/>
                <a:ea typeface="宋体" panose="02010600030101010101" pitchFamily="2" charset="-122"/>
              </a:rPr>
              <a:t>、所有语法正确的</a:t>
            </a:r>
            <a:r>
              <a:rPr lang="en-US" altLang="zh-CN" sz="2000" b="1" dirty="0">
                <a:latin typeface="宋体" panose="02010600030101010101" pitchFamily="2" charset="-122"/>
                <a:ea typeface="宋体" panose="02010600030101010101" pitchFamily="2" charset="-122"/>
              </a:rPr>
              <a:t>C</a:t>
            </a:r>
            <a:r>
              <a:rPr lang="zh-CN" altLang="en-US" sz="2000" b="1" dirty="0">
                <a:latin typeface="宋体" panose="02010600030101010101" pitchFamily="2" charset="-122"/>
                <a:ea typeface="宋体" panose="02010600030101010101" pitchFamily="2" charset="-122"/>
              </a:rPr>
              <a:t>程序集合、所有语法正确的英语句子的集合等都是语言</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词法分析的理论基础</a:t>
            </a:r>
            <a:endParaRPr lang="zh-CN" altLang="en-US" dirty="0">
              <a:latin typeface="宋体" panose="02010600030101010101" pitchFamily="2" charset="-122"/>
              <a:ea typeface="宋体" panose="02010600030101010101" pitchFamily="2" charset="-122"/>
            </a:endParaRPr>
          </a:p>
        </p:txBody>
      </p:sp>
      <p:sp>
        <p:nvSpPr>
          <p:cNvPr id="34819" name="Rectangle 3"/>
          <p:cNvSpPr>
            <a:spLocks noGrp="1"/>
          </p:cNvSpPr>
          <p:nvPr>
            <p:ph idx="1"/>
          </p:nvPr>
        </p:nvSpPr>
        <p:spPr>
          <a:xfrm>
            <a:off x="990600" y="1600200"/>
            <a:ext cx="7391400" cy="42672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正则式</a:t>
            </a:r>
            <a:endParaRPr lang="zh-CN" altLang="en-US"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表示构成程序设计语言的词法结构的串格式的标准表示法</a:t>
            </a:r>
            <a:endParaRPr lang="zh-CN" altLang="en-US" b="1" dirty="0">
              <a:latin typeface="宋体" panose="02010600030101010101" pitchFamily="2" charset="-122"/>
              <a:ea typeface="宋体" panose="02010600030101010101" pitchFamily="2" charset="-122"/>
            </a:endParaRPr>
          </a:p>
          <a:p>
            <a:r>
              <a:rPr lang="zh-CN" altLang="en-US" b="1" dirty="0">
                <a:latin typeface="宋体" panose="02010600030101010101" pitchFamily="2" charset="-122"/>
                <a:ea typeface="宋体" panose="02010600030101010101" pitchFamily="2" charset="-122"/>
              </a:rPr>
              <a:t>有穷状态自动机</a:t>
            </a:r>
            <a:endParaRPr lang="zh-CN" altLang="en-US" b="1" dirty="0">
              <a:latin typeface="宋体" panose="02010600030101010101" pitchFamily="2" charset="-122"/>
              <a:ea typeface="宋体" panose="02010600030101010101" pitchFamily="2" charset="-122"/>
            </a:endParaRPr>
          </a:p>
          <a:p>
            <a:pPr lvl="1"/>
            <a:r>
              <a:rPr lang="zh-CN" altLang="en-US" b="1" dirty="0">
                <a:latin typeface="宋体" panose="02010600030101010101" pitchFamily="2" charset="-122"/>
                <a:ea typeface="宋体" panose="02010600030101010101" pitchFamily="2" charset="-122"/>
              </a:rPr>
              <a:t>对由正则表达式给出的串格式的识别算法</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正则式（1）</a:t>
            </a:r>
            <a:endParaRPr lang="zh-CN" altLang="en-US" dirty="0">
              <a:latin typeface="宋体" panose="02010600030101010101" pitchFamily="2" charset="-122"/>
              <a:ea typeface="宋体" panose="02010600030101010101" pitchFamily="2" charset="-122"/>
            </a:endParaRPr>
          </a:p>
        </p:txBody>
      </p:sp>
      <p:sp>
        <p:nvSpPr>
          <p:cNvPr id="36867" name="Rectangle 3"/>
          <p:cNvSpPr>
            <a:spLocks noGrp="1"/>
          </p:cNvSpPr>
          <p:nvPr>
            <p:ph idx="1"/>
          </p:nvPr>
        </p:nvSpPr>
        <p:spPr>
          <a:xfrm>
            <a:off x="990600" y="1371600"/>
            <a:ext cx="7391400" cy="50292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正则式：按照一组定义规则，由较简单的正则式构成的</a:t>
            </a:r>
            <a:endParaRPr lang="zh-CN" altLang="en-US"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正则式与3型文法是等价的</a:t>
            </a:r>
            <a:endParaRPr lang="zh-CN" altLang="en-US" sz="20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正则集：正则式表示的语言</a:t>
            </a:r>
            <a:endParaRPr lang="zh-CN" altLang="en-US"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构成规则：定义字母表∑上的正则式的规则</a:t>
            </a:r>
            <a:endParaRPr lang="zh-CN" altLang="en-US" sz="2400" b="1" dirty="0">
              <a:latin typeface="宋体" panose="02010600030101010101" pitchFamily="2" charset="-122"/>
              <a:ea typeface="宋体" panose="02010600030101010101" pitchFamily="2" charset="-122"/>
            </a:endParaRPr>
          </a:p>
          <a:p>
            <a:pPr lvl="1"/>
            <a:r>
              <a:rPr lang="en-US" altLang="zh-CN" sz="2000" b="1" dirty="0">
                <a:latin typeface="宋体" panose="02010600030101010101" pitchFamily="2" charset="-122"/>
                <a:ea typeface="宋体" panose="02010600030101010101" pitchFamily="2" charset="-122"/>
              </a:rPr>
              <a:t>ε</a:t>
            </a:r>
            <a:r>
              <a:rPr lang="zh-CN" altLang="en-US" sz="2000" b="1" dirty="0">
                <a:latin typeface="宋体" panose="02010600030101010101" pitchFamily="2" charset="-122"/>
                <a:ea typeface="宋体" panose="02010600030101010101" pitchFamily="2" charset="-122"/>
              </a:rPr>
              <a:t>是正则式，表示的语言是{</a:t>
            </a:r>
            <a:r>
              <a:rPr lang="en-US" altLang="zh-CN" sz="2000" b="1" dirty="0">
                <a:latin typeface="宋体" panose="02010600030101010101" pitchFamily="2" charset="-122"/>
                <a:ea typeface="宋体" panose="02010600030101010101" pitchFamily="2" charset="-122"/>
              </a:rPr>
              <a:t>ε</a:t>
            </a:r>
            <a:r>
              <a:rPr lang="zh-CN" altLang="en-US" sz="2000" b="1" dirty="0">
                <a:latin typeface="宋体" panose="02010600030101010101" pitchFamily="2" charset="-122"/>
                <a:ea typeface="宋体" panose="02010600030101010101" pitchFamily="2" charset="-122"/>
              </a:rPr>
              <a:t>}</a:t>
            </a:r>
            <a:endParaRPr lang="zh-CN" altLang="en-US"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如果</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是∑上的符号，则</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是正则式，表示{</a:t>
            </a:r>
            <a:r>
              <a:rPr lang="en-US" altLang="zh-CN" sz="2000" b="1" dirty="0">
                <a:latin typeface="宋体" panose="02010600030101010101" pitchFamily="2" charset="-122"/>
                <a:ea typeface="宋体" panose="02010600030101010101" pitchFamily="2" charset="-122"/>
              </a:rPr>
              <a:t>a}</a:t>
            </a:r>
            <a:endParaRPr lang="en-US" altLang="zh-CN" sz="20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如果</a:t>
            </a:r>
            <a:r>
              <a:rPr lang="en-US" altLang="zh-CN" sz="2000" b="1" dirty="0">
                <a:latin typeface="宋体" panose="02010600030101010101" pitchFamily="2" charset="-122"/>
                <a:ea typeface="宋体" panose="02010600030101010101" pitchFamily="2" charset="-122"/>
              </a:rPr>
              <a:t>r</a:t>
            </a:r>
            <a:r>
              <a:rPr lang="zh-CN" altLang="en-US" sz="2000" b="1" dirty="0">
                <a:latin typeface="宋体" panose="02010600030101010101" pitchFamily="2" charset="-122"/>
                <a:ea typeface="宋体" panose="02010600030101010101" pitchFamily="2" charset="-122"/>
              </a:rPr>
              <a:t>和</a:t>
            </a:r>
            <a:r>
              <a:rPr lang="en-US" altLang="zh-CN" sz="2000" b="1" dirty="0">
                <a:latin typeface="宋体" panose="02010600030101010101" pitchFamily="2" charset="-122"/>
                <a:ea typeface="宋体" panose="02010600030101010101" pitchFamily="2" charset="-122"/>
              </a:rPr>
              <a:t>s</a:t>
            </a:r>
            <a:r>
              <a:rPr lang="zh-CN" altLang="en-US" sz="2000" b="1" dirty="0">
                <a:latin typeface="宋体" panose="02010600030101010101" pitchFamily="2" charset="-122"/>
                <a:ea typeface="宋体" panose="02010600030101010101" pitchFamily="2" charset="-122"/>
              </a:rPr>
              <a:t>是正则式，分别表示语言</a:t>
            </a: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和</a:t>
            </a:r>
            <a:r>
              <a:rPr lang="en-US" altLang="zh-CN" sz="2000" b="1" dirty="0">
                <a:latin typeface="宋体" panose="02010600030101010101" pitchFamily="2" charset="-122"/>
                <a:ea typeface="宋体" panose="02010600030101010101" pitchFamily="2" charset="-122"/>
              </a:rPr>
              <a:t>L(s)，</a:t>
            </a:r>
            <a:r>
              <a:rPr lang="zh-CN" altLang="en-US" sz="2000" b="1" dirty="0">
                <a:latin typeface="宋体" panose="02010600030101010101" pitchFamily="2" charset="-122"/>
                <a:ea typeface="宋体" panose="02010600030101010101" pitchFamily="2" charset="-122"/>
              </a:rPr>
              <a:t>则：</a:t>
            </a:r>
            <a:endParaRPr lang="zh-CN" altLang="en-US" sz="2000" b="1" dirty="0">
              <a:latin typeface="宋体" panose="02010600030101010101" pitchFamily="2" charset="-122"/>
              <a:ea typeface="宋体" panose="02010600030101010101" pitchFamily="2" charset="-122"/>
            </a:endParaRPr>
          </a:p>
          <a:p>
            <a:pPr lvl="2"/>
            <a:r>
              <a:rPr lang="en-US" altLang="zh-CN" sz="2000" b="1" dirty="0">
                <a:ea typeface="宋体" panose="02010600030101010101" pitchFamily="2" charset="-122"/>
              </a:rPr>
              <a:t>r|s</a:t>
            </a:r>
            <a:r>
              <a:rPr lang="zh-CN" altLang="en-US" sz="2000" b="1" dirty="0">
                <a:ea typeface="宋体" panose="02010600030101010101" pitchFamily="2" charset="-122"/>
              </a:rPr>
              <a:t>是正则式，表示</a:t>
            </a:r>
            <a:r>
              <a:rPr lang="en-US" altLang="zh-CN" sz="2000" b="1" dirty="0">
                <a:ea typeface="宋体" panose="02010600030101010101" pitchFamily="2" charset="-122"/>
              </a:rPr>
              <a:t>L(r)</a:t>
            </a:r>
            <a:r>
              <a:rPr lang="zh-CN" altLang="en-US" sz="2000" b="1" dirty="0">
                <a:ea typeface="宋体" panose="02010600030101010101" pitchFamily="2" charset="-122"/>
              </a:rPr>
              <a:t>∪</a:t>
            </a:r>
            <a:r>
              <a:rPr lang="en-US" altLang="zh-CN" sz="2000" b="1" dirty="0">
                <a:ea typeface="宋体" panose="02010600030101010101" pitchFamily="2" charset="-122"/>
              </a:rPr>
              <a:t>L(s)</a:t>
            </a:r>
            <a:endParaRPr lang="en-US" altLang="zh-CN" sz="2000" b="1" dirty="0">
              <a:ea typeface="宋体" panose="02010600030101010101" pitchFamily="2" charset="-122"/>
            </a:endParaRPr>
          </a:p>
          <a:p>
            <a:pPr lvl="2"/>
            <a:r>
              <a:rPr lang="en-US" altLang="zh-CN" sz="2000" b="1" dirty="0">
                <a:ea typeface="宋体" panose="02010600030101010101" pitchFamily="2" charset="-122"/>
              </a:rPr>
              <a:t>rs</a:t>
            </a:r>
            <a:r>
              <a:rPr lang="zh-CN" altLang="en-US" sz="2000" b="1" dirty="0">
                <a:ea typeface="宋体" panose="02010600030101010101" pitchFamily="2" charset="-122"/>
              </a:rPr>
              <a:t>是正则式，表示</a:t>
            </a:r>
            <a:r>
              <a:rPr lang="en-US" altLang="zh-CN" sz="2000" b="1" dirty="0">
                <a:ea typeface="宋体" panose="02010600030101010101" pitchFamily="2" charset="-122"/>
              </a:rPr>
              <a:t>L(r)L(s)</a:t>
            </a:r>
            <a:endParaRPr lang="en-US" altLang="zh-CN" sz="2000" b="1" dirty="0">
              <a:ea typeface="宋体" panose="02010600030101010101" pitchFamily="2" charset="-122"/>
            </a:endParaRPr>
          </a:p>
          <a:p>
            <a:pPr lvl="2"/>
            <a:r>
              <a:rPr lang="en-US" altLang="zh-CN" sz="2000" b="1" dirty="0">
                <a:ea typeface="宋体" panose="02010600030101010101" pitchFamily="2" charset="-122"/>
              </a:rPr>
              <a:t>(r)</a:t>
            </a:r>
            <a:r>
              <a:rPr lang="zh-CN" altLang="en-US" sz="2000" b="1" dirty="0">
                <a:ea typeface="宋体" panose="02010600030101010101" pitchFamily="2" charset="-122"/>
              </a:rPr>
              <a:t>是正则式，表示</a:t>
            </a:r>
            <a:r>
              <a:rPr lang="en-US" altLang="zh-CN" sz="2000" b="1" dirty="0">
                <a:ea typeface="宋体" panose="02010600030101010101" pitchFamily="2" charset="-122"/>
              </a:rPr>
              <a:t>L(r)</a:t>
            </a:r>
            <a:endParaRPr lang="en-US" altLang="zh-CN" sz="2000" b="1" dirty="0">
              <a:ea typeface="宋体" panose="02010600030101010101" pitchFamily="2" charset="-122"/>
            </a:endParaRPr>
          </a:p>
          <a:p>
            <a:pPr lvl="2"/>
            <a:r>
              <a:rPr lang="en-US" altLang="zh-CN" sz="2000" b="1" dirty="0">
                <a:ea typeface="宋体" panose="02010600030101010101" pitchFamily="2" charset="-122"/>
              </a:rPr>
              <a:t>(r)</a:t>
            </a:r>
            <a:r>
              <a:rPr lang="en-US" altLang="zh-CN" sz="2000" b="1" baseline="30000" dirty="0">
                <a:ea typeface="宋体" panose="02010600030101010101" pitchFamily="2" charset="-122"/>
              </a:rPr>
              <a:t> *</a:t>
            </a:r>
            <a:r>
              <a:rPr lang="zh-CN" altLang="en-US" sz="2000" b="1" dirty="0">
                <a:ea typeface="宋体" panose="02010600030101010101" pitchFamily="2" charset="-122"/>
              </a:rPr>
              <a:t>是正则式，表示(</a:t>
            </a:r>
            <a:r>
              <a:rPr lang="en-US" altLang="zh-CN" sz="2000" b="1" dirty="0">
                <a:ea typeface="宋体" panose="02010600030101010101" pitchFamily="2" charset="-122"/>
              </a:rPr>
              <a:t>L(r))</a:t>
            </a:r>
            <a:r>
              <a:rPr lang="en-US" altLang="zh-CN" sz="2000" b="1" baseline="30000" dirty="0">
                <a:ea typeface="宋体" panose="02010600030101010101" pitchFamily="2" charset="-122"/>
              </a:rPr>
              <a:t> *</a:t>
            </a:r>
            <a:endParaRPr lang="en-US" altLang="zh-CN" sz="2000" b="1" dirty="0">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仅由有限次使用上述规则得到的表达式才是∑上的正则式</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正则式（2）</a:t>
            </a:r>
            <a:endParaRPr lang="zh-CN" altLang="en-US" dirty="0">
              <a:latin typeface="宋体" panose="02010600030101010101" pitchFamily="2" charset="-122"/>
              <a:ea typeface="宋体" panose="02010600030101010101" pitchFamily="2" charset="-122"/>
            </a:endParaRPr>
          </a:p>
        </p:txBody>
      </p:sp>
      <p:sp>
        <p:nvSpPr>
          <p:cNvPr id="38915" name="Rectangle 3"/>
          <p:cNvSpPr>
            <a:spLocks noGrp="1"/>
          </p:cNvSpPr>
          <p:nvPr>
            <p:ph idx="1"/>
          </p:nvPr>
        </p:nvSpPr>
        <p:spPr>
          <a:xfrm>
            <a:off x="990600" y="1600200"/>
            <a:ext cx="7391400" cy="4038600"/>
          </a:xfrm>
        </p:spPr>
        <p:txBody>
          <a:bodyPr vert="horz" wrap="square" lIns="92075" tIns="46038" rIns="92075" bIns="46038" anchor="t" anchorCtr="0"/>
          <a:p>
            <a:pPr lvl="1"/>
            <a:r>
              <a:rPr lang="zh-CN" altLang="en-US" b="1" dirty="0">
                <a:latin typeface="宋体" panose="02010600030101010101" pitchFamily="2" charset="-122"/>
                <a:ea typeface="宋体" panose="02010600030101010101" pitchFamily="2" charset="-122"/>
              </a:rPr>
              <a:t>构成规则的优先性</a:t>
            </a:r>
            <a:endParaRPr lang="zh-CN" altLang="en-US" b="1" dirty="0">
              <a:latin typeface="宋体" panose="02010600030101010101" pitchFamily="2" charset="-122"/>
              <a:ea typeface="宋体" panose="02010600030101010101" pitchFamily="2" charset="-122"/>
            </a:endParaRPr>
          </a:p>
          <a:p>
            <a:pPr lvl="2"/>
            <a:r>
              <a:rPr lang="zh-CN" altLang="en-US" sz="2400" b="1" dirty="0">
                <a:ea typeface="宋体" panose="02010600030101010101" pitchFamily="2" charset="-122"/>
              </a:rPr>
              <a:t>闭包运算(*)优先于连结运算</a:t>
            </a:r>
            <a:endParaRPr lang="zh-CN" altLang="en-US" sz="2400" b="1" dirty="0">
              <a:ea typeface="宋体" panose="02010600030101010101" pitchFamily="2" charset="-122"/>
            </a:endParaRPr>
          </a:p>
          <a:p>
            <a:pPr lvl="2"/>
            <a:r>
              <a:rPr lang="zh-CN" altLang="en-US" sz="2400" b="1" dirty="0">
                <a:ea typeface="宋体" panose="02010600030101010101" pitchFamily="2" charset="-122"/>
              </a:rPr>
              <a:t>连结运算优先于|</a:t>
            </a:r>
            <a:endParaRPr lang="en-US" altLang="zh-CN" sz="2400" b="1" dirty="0">
              <a:ea typeface="宋体" panose="02010600030101010101" pitchFamily="2" charset="-122"/>
            </a:endParaRPr>
          </a:p>
          <a:p>
            <a:pPr lvl="2"/>
            <a:r>
              <a:rPr lang="zh-CN" altLang="en-US" sz="2400" b="1" dirty="0">
                <a:ea typeface="宋体" panose="02010600030101010101" pitchFamily="2" charset="-122"/>
              </a:rPr>
              <a:t>这三种运算都是左结合的</a:t>
            </a:r>
            <a:endParaRPr lang="zh-CN" altLang="en-US" sz="2400" b="1" dirty="0">
              <a:ea typeface="宋体" panose="02010600030101010101" pitchFamily="2" charset="-122"/>
            </a:endParaRPr>
          </a:p>
          <a:p>
            <a:pPr lvl="2"/>
            <a:r>
              <a:rPr lang="zh-CN" altLang="en-US" sz="2400" b="1" dirty="0">
                <a:ea typeface="宋体" panose="02010600030101010101" pitchFamily="2" charset="-122"/>
              </a:rPr>
              <a:t>“( )”可以改变运算的次序</a:t>
            </a:r>
            <a:endParaRPr lang="zh-CN" altLang="en-US" sz="2400" b="1" dirty="0">
              <a:ea typeface="宋体" panose="02010600030101010101" pitchFamily="2" charset="-122"/>
            </a:endParaRPr>
          </a:p>
          <a:p>
            <a:pPr lvl="2">
              <a:buNone/>
            </a:pPr>
            <a:r>
              <a:rPr lang="zh-CN" altLang="en-US" sz="2400" b="1" dirty="0">
                <a:ea typeface="宋体" panose="02010600030101010101" pitchFamily="2" charset="-122"/>
              </a:rPr>
              <a:t>    有了上述优先性的定义，可以化简正则式：</a:t>
            </a:r>
            <a:endParaRPr lang="zh-CN" altLang="en-US" sz="2400" b="1" dirty="0">
              <a:ea typeface="宋体" panose="02010600030101010101" pitchFamily="2" charset="-122"/>
            </a:endParaRPr>
          </a:p>
          <a:p>
            <a:pPr lvl="2">
              <a:buNone/>
            </a:pPr>
            <a:r>
              <a:rPr lang="zh-CN" altLang="en-US" sz="2400" b="1" dirty="0">
                <a:ea typeface="宋体" panose="02010600030101010101" pitchFamily="2" charset="-122"/>
              </a:rPr>
              <a:t>	(</a:t>
            </a:r>
            <a:r>
              <a:rPr lang="en-US" altLang="zh-CN" sz="2400" b="1" dirty="0">
                <a:ea typeface="宋体" panose="02010600030101010101" pitchFamily="2" charset="-122"/>
              </a:rPr>
              <a:t>a)|((b)</a:t>
            </a:r>
            <a:r>
              <a:rPr lang="en-US" altLang="zh-CN" sz="2400" b="1" baseline="30000" dirty="0">
                <a:ea typeface="宋体" panose="02010600030101010101" pitchFamily="2" charset="-122"/>
              </a:rPr>
              <a:t> *</a:t>
            </a:r>
            <a:r>
              <a:rPr lang="en-US" altLang="zh-CN" sz="2400" b="1" dirty="0">
                <a:ea typeface="宋体" panose="02010600030101010101" pitchFamily="2" charset="-122"/>
              </a:rPr>
              <a:t>(c))</a:t>
            </a:r>
            <a:r>
              <a:rPr lang="zh-CN" altLang="en-US" sz="2400" b="1" dirty="0">
                <a:ea typeface="宋体" panose="02010600030101010101" pitchFamily="2" charset="-122"/>
              </a:rPr>
              <a:t>可以化简为</a:t>
            </a:r>
            <a:r>
              <a:rPr lang="en-US" altLang="zh-CN" sz="2400" b="1" dirty="0">
                <a:ea typeface="宋体" panose="02010600030101010101" pitchFamily="2" charset="-122"/>
              </a:rPr>
              <a:t>a|b</a:t>
            </a:r>
            <a:r>
              <a:rPr lang="en-US" altLang="zh-CN" sz="2400" b="1" baseline="30000" dirty="0">
                <a:ea typeface="宋体" panose="02010600030101010101" pitchFamily="2" charset="-122"/>
              </a:rPr>
              <a:t>*</a:t>
            </a:r>
            <a:r>
              <a:rPr lang="en-US" altLang="zh-CN" sz="2400" b="1" dirty="0">
                <a:ea typeface="宋体" panose="02010600030101010101" pitchFamily="2" charset="-122"/>
              </a:rPr>
              <a:t>c</a:t>
            </a:r>
            <a:endParaRPr lang="en-US" altLang="zh-CN" sz="2400" b="1" dirty="0">
              <a:ea typeface="宋体" panose="02010600030101010101" pitchFamily="2"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正则式（3）</a:t>
            </a:r>
            <a:endParaRPr lang="zh-CN" altLang="en-US" dirty="0">
              <a:latin typeface="宋体" panose="02010600030101010101" pitchFamily="2" charset="-122"/>
              <a:ea typeface="宋体" panose="02010600030101010101" pitchFamily="2" charset="-122"/>
            </a:endParaRPr>
          </a:p>
        </p:txBody>
      </p:sp>
      <p:sp>
        <p:nvSpPr>
          <p:cNvPr id="40963" name="Rectangle 3"/>
          <p:cNvSpPr>
            <a:spLocks noGrp="1"/>
          </p:cNvSpPr>
          <p:nvPr>
            <p:ph idx="1"/>
          </p:nvPr>
        </p:nvSpPr>
        <p:spPr>
          <a:xfrm>
            <a:off x="990600" y="1600200"/>
            <a:ext cx="7391400" cy="4038600"/>
          </a:xfrm>
        </p:spPr>
        <p:txBody>
          <a:bodyPr vert="horz" wrap="square" lIns="92075" tIns="46038" rIns="92075" bIns="46038" anchor="t" anchorCtr="0"/>
          <a:p>
            <a:pPr marL="914400" lvl="1" indent="-457200">
              <a:buNone/>
            </a:pPr>
            <a:r>
              <a:rPr lang="zh-CN" altLang="en-US" b="1" dirty="0">
                <a:latin typeface="宋体" panose="02010600030101010101" pitchFamily="2" charset="-122"/>
                <a:ea typeface="宋体" panose="02010600030101010101" pitchFamily="2" charset="-122"/>
              </a:rPr>
              <a:t>例1：令∑={</a:t>
            </a:r>
            <a:r>
              <a:rPr lang="en-US" altLang="zh-CN" b="1" dirty="0">
                <a:latin typeface="宋体" panose="02010600030101010101" pitchFamily="2" charset="-122"/>
                <a:ea typeface="宋体" panose="02010600030101010101" pitchFamily="2" charset="-122"/>
              </a:rPr>
              <a:t>a , b}，</a:t>
            </a:r>
            <a:r>
              <a:rPr lang="zh-CN" altLang="en-US" b="1" dirty="0">
                <a:latin typeface="宋体" panose="02010600030101010101" pitchFamily="2" charset="-122"/>
                <a:ea typeface="宋体" panose="02010600030101010101" pitchFamily="2" charset="-122"/>
              </a:rPr>
              <a:t>则：</a:t>
            </a:r>
            <a:endParaRPr lang="zh-CN" altLang="en-US" b="1" dirty="0">
              <a:latin typeface="宋体" panose="02010600030101010101" pitchFamily="2" charset="-122"/>
              <a:ea typeface="宋体" panose="02010600030101010101" pitchFamily="2" charset="-122"/>
            </a:endParaRPr>
          </a:p>
          <a:p>
            <a:pPr marL="1333500" lvl="2" indent="-419100">
              <a:buSzPct val="90000"/>
              <a:buFont typeface="Wingdings" panose="05000000000000000000" pitchFamily="2" charset="2"/>
              <a:buAutoNum type="arabicParenR"/>
            </a:pPr>
            <a:r>
              <a:rPr lang="zh-CN" altLang="en-US" b="1" dirty="0">
                <a:latin typeface="宋体" panose="02010600030101010101" pitchFamily="2" charset="-122"/>
                <a:ea typeface="宋体" panose="02010600030101010101" pitchFamily="2" charset="-122"/>
              </a:rPr>
              <a:t>正则式</a:t>
            </a:r>
            <a:r>
              <a:rPr lang="en-US" altLang="zh-CN" b="1" dirty="0">
                <a:latin typeface="宋体" panose="02010600030101010101" pitchFamily="2" charset="-122"/>
                <a:ea typeface="宋体" panose="02010600030101010101" pitchFamily="2" charset="-122"/>
              </a:rPr>
              <a:t>a|b</a:t>
            </a:r>
            <a:r>
              <a:rPr lang="zh-CN" altLang="en-US" b="1" dirty="0">
                <a:latin typeface="宋体" panose="02010600030101010101" pitchFamily="2" charset="-122"/>
                <a:ea typeface="宋体" panose="02010600030101010101" pitchFamily="2" charset="-122"/>
              </a:rPr>
              <a:t>表示集合{</a:t>
            </a:r>
            <a:r>
              <a:rPr lang="en-US" altLang="zh-CN" b="1" dirty="0">
                <a:latin typeface="宋体" panose="02010600030101010101" pitchFamily="2" charset="-122"/>
                <a:ea typeface="宋体" panose="02010600030101010101" pitchFamily="2" charset="-122"/>
              </a:rPr>
              <a:t>a,b}</a:t>
            </a:r>
            <a:endParaRPr lang="en-US" altLang="zh-CN" b="1" dirty="0">
              <a:latin typeface="宋体" panose="02010600030101010101" pitchFamily="2" charset="-122"/>
              <a:ea typeface="宋体" panose="02010600030101010101" pitchFamily="2" charset="-122"/>
            </a:endParaRPr>
          </a:p>
          <a:p>
            <a:pPr marL="1333500" lvl="2" indent="-419100">
              <a:buSzPct val="90000"/>
              <a:buFont typeface="Wingdings" panose="05000000000000000000" pitchFamily="2" charset="2"/>
              <a:buAutoNum type="arabicParenR"/>
            </a:pPr>
            <a:r>
              <a:rPr lang="zh-CN" altLang="en-US" b="1" dirty="0">
                <a:latin typeface="宋体" panose="02010600030101010101" pitchFamily="2" charset="-122"/>
                <a:ea typeface="宋体" panose="02010600030101010101" pitchFamily="2" charset="-122"/>
              </a:rPr>
              <a:t>正则式(</a:t>
            </a:r>
            <a:r>
              <a:rPr lang="en-US" altLang="zh-CN" b="1" dirty="0">
                <a:latin typeface="宋体" panose="02010600030101010101" pitchFamily="2" charset="-122"/>
                <a:ea typeface="宋体" panose="02010600030101010101" pitchFamily="2" charset="-122"/>
              </a:rPr>
              <a:t>a|b)(a|b)</a:t>
            </a:r>
            <a:r>
              <a:rPr lang="zh-CN" altLang="en-US" b="1" dirty="0">
                <a:latin typeface="宋体" panose="02010600030101010101" pitchFamily="2" charset="-122"/>
                <a:ea typeface="宋体" panose="02010600030101010101" pitchFamily="2" charset="-122"/>
              </a:rPr>
              <a:t>表示集合{</a:t>
            </a:r>
            <a:r>
              <a:rPr lang="en-US" altLang="zh-CN" b="1" dirty="0">
                <a:latin typeface="宋体" panose="02010600030101010101" pitchFamily="2" charset="-122"/>
                <a:ea typeface="宋体" panose="02010600030101010101" pitchFamily="2" charset="-122"/>
              </a:rPr>
              <a:t>aa,ab,ba,bb}，</a:t>
            </a:r>
            <a:r>
              <a:rPr lang="zh-CN" altLang="en-US" b="1" dirty="0">
                <a:latin typeface="宋体" panose="02010600030101010101" pitchFamily="2" charset="-122"/>
                <a:ea typeface="宋体" panose="02010600030101010101" pitchFamily="2" charset="-122"/>
              </a:rPr>
              <a:t>这个集合也可以由正则式</a:t>
            </a:r>
            <a:r>
              <a:rPr lang="en-US" altLang="zh-CN" b="1" dirty="0">
                <a:latin typeface="宋体" panose="02010600030101010101" pitchFamily="2" charset="-122"/>
                <a:ea typeface="宋体" panose="02010600030101010101" pitchFamily="2" charset="-122"/>
              </a:rPr>
              <a:t>aa|ab|ba|bb</a:t>
            </a:r>
            <a:r>
              <a:rPr lang="zh-CN" altLang="en-US" b="1" dirty="0">
                <a:latin typeface="宋体" panose="02010600030101010101" pitchFamily="2" charset="-122"/>
                <a:ea typeface="宋体" panose="02010600030101010101" pitchFamily="2" charset="-122"/>
              </a:rPr>
              <a:t>表示</a:t>
            </a:r>
            <a:endParaRPr lang="zh-CN" altLang="en-US" b="1" dirty="0">
              <a:latin typeface="宋体" panose="02010600030101010101" pitchFamily="2" charset="-122"/>
              <a:ea typeface="宋体" panose="02010600030101010101" pitchFamily="2" charset="-122"/>
            </a:endParaRPr>
          </a:p>
          <a:p>
            <a:pPr marL="1333500" lvl="2" indent="-419100">
              <a:buSzPct val="90000"/>
              <a:buFont typeface="Wingdings" panose="05000000000000000000" pitchFamily="2" charset="2"/>
              <a:buAutoNum type="arabicParenR"/>
            </a:pPr>
            <a:r>
              <a:rPr lang="zh-CN" altLang="en-US" b="1" dirty="0">
                <a:latin typeface="宋体" panose="02010600030101010101" pitchFamily="2" charset="-122"/>
                <a:ea typeface="宋体" panose="02010600030101010101" pitchFamily="2" charset="-122"/>
              </a:rPr>
              <a:t>正则式</a:t>
            </a:r>
            <a:r>
              <a:rPr lang="en-US" altLang="zh-CN" b="1" dirty="0">
                <a:latin typeface="宋体" panose="02010600030101010101" pitchFamily="2" charset="-122"/>
                <a:ea typeface="宋体" panose="02010600030101010101" pitchFamily="2" charset="-122"/>
              </a:rPr>
              <a:t>a</a:t>
            </a:r>
            <a:r>
              <a:rPr lang="en-US" altLang="zh-CN"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表示零个或多个</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的所有串的集合</a:t>
            </a:r>
            <a:endParaRPr lang="zh-CN" altLang="en-US" b="1" dirty="0">
              <a:latin typeface="宋体" panose="02010600030101010101" pitchFamily="2" charset="-122"/>
              <a:ea typeface="宋体" panose="02010600030101010101" pitchFamily="2" charset="-122"/>
            </a:endParaRPr>
          </a:p>
          <a:p>
            <a:pPr marL="1333500" lvl="2" indent="-419100">
              <a:buSzPct val="90000"/>
              <a:buFont typeface="Wingdings" panose="05000000000000000000" pitchFamily="2" charset="2"/>
              <a:buAutoNum type="arabicParenR"/>
            </a:pPr>
            <a:r>
              <a:rPr lang="zh-CN" altLang="en-US" b="1" dirty="0">
                <a:latin typeface="宋体" panose="02010600030101010101" pitchFamily="2" charset="-122"/>
                <a:ea typeface="宋体" panose="02010600030101010101" pitchFamily="2" charset="-122"/>
              </a:rPr>
              <a:t>正则式（</a:t>
            </a:r>
            <a:r>
              <a:rPr lang="en-US" altLang="zh-CN" b="1" dirty="0">
                <a:latin typeface="宋体" panose="02010600030101010101" pitchFamily="2" charset="-122"/>
                <a:ea typeface="宋体" panose="02010600030101010101" pitchFamily="2" charset="-122"/>
              </a:rPr>
              <a:t>a|b)</a:t>
            </a:r>
            <a:r>
              <a:rPr lang="en-US" altLang="zh-CN"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表示零个或多个</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或</a:t>
            </a:r>
            <a:r>
              <a:rPr lang="en-US" altLang="zh-CN" b="1" dirty="0">
                <a:latin typeface="宋体" panose="02010600030101010101" pitchFamily="2" charset="-122"/>
                <a:ea typeface="宋体" panose="02010600030101010101" pitchFamily="2" charset="-122"/>
              </a:rPr>
              <a:t>b</a:t>
            </a:r>
            <a:r>
              <a:rPr lang="zh-CN" altLang="en-US" b="1" dirty="0">
                <a:latin typeface="宋体" panose="02010600030101010101" pitchFamily="2" charset="-122"/>
                <a:ea typeface="宋体" panose="02010600030101010101" pitchFamily="2" charset="-122"/>
              </a:rPr>
              <a:t>的所有串的集合，这个集合也可以由正则式（</a:t>
            </a:r>
            <a:r>
              <a:rPr lang="en-US" altLang="zh-CN" b="1" dirty="0">
                <a:latin typeface="宋体" panose="02010600030101010101" pitchFamily="2" charset="-122"/>
                <a:ea typeface="宋体" panose="02010600030101010101" pitchFamily="2" charset="-122"/>
              </a:rPr>
              <a:t>a</a:t>
            </a:r>
            <a:r>
              <a:rPr lang="en-US" altLang="zh-CN" b="1" baseline="30000"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|b</a:t>
            </a:r>
            <a:r>
              <a:rPr lang="en-US" altLang="zh-CN" b="1" baseline="30000"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a:t>
            </a:r>
            <a:r>
              <a:rPr lang="en-US" altLang="zh-CN" b="1" baseline="30000"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表示</a:t>
            </a:r>
            <a:endParaRPr lang="zh-CN" altLang="en-US" b="1" dirty="0">
              <a:latin typeface="宋体" panose="02010600030101010101" pitchFamily="2" charset="-122"/>
              <a:ea typeface="宋体" panose="02010600030101010101" pitchFamily="2" charset="-122"/>
            </a:endParaRPr>
          </a:p>
          <a:p>
            <a:pPr marL="1333500" lvl="2" indent="-419100">
              <a:buSzPct val="90000"/>
              <a:buFont typeface="Wingdings" panose="05000000000000000000" pitchFamily="2" charset="2"/>
              <a:buAutoNum type="arabicParenR"/>
            </a:pPr>
            <a:r>
              <a:rPr lang="zh-CN" altLang="en-US" b="1" dirty="0">
                <a:latin typeface="宋体" panose="02010600030101010101" pitchFamily="2" charset="-122"/>
                <a:ea typeface="宋体" panose="02010600030101010101" pitchFamily="2" charset="-122"/>
              </a:rPr>
              <a:t>正则式</a:t>
            </a:r>
            <a:r>
              <a:rPr lang="en-US" altLang="zh-CN" b="1" dirty="0">
                <a:latin typeface="宋体" panose="02010600030101010101" pitchFamily="2" charset="-122"/>
                <a:ea typeface="宋体" panose="02010600030101010101" pitchFamily="2" charset="-122"/>
              </a:rPr>
              <a:t>a|a</a:t>
            </a:r>
            <a:r>
              <a:rPr lang="en-US" altLang="zh-CN" b="1" baseline="30000"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b</a:t>
            </a:r>
            <a:r>
              <a:rPr lang="zh-CN" altLang="en-US" b="1" dirty="0">
                <a:latin typeface="宋体" panose="02010600030101010101" pitchFamily="2" charset="-122"/>
                <a:ea typeface="宋体" panose="02010600030101010101" pitchFamily="2" charset="-122"/>
              </a:rPr>
              <a:t>表示串</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和零个或多个</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后随一个</a:t>
            </a:r>
            <a:r>
              <a:rPr lang="en-US" altLang="zh-CN" b="1" dirty="0">
                <a:latin typeface="宋体" panose="02010600030101010101" pitchFamily="2" charset="-122"/>
                <a:ea typeface="宋体" panose="02010600030101010101" pitchFamily="2" charset="-122"/>
              </a:rPr>
              <a:t>b</a:t>
            </a:r>
            <a:r>
              <a:rPr lang="zh-CN" altLang="en-US" b="1" dirty="0">
                <a:latin typeface="宋体" panose="02010600030101010101" pitchFamily="2" charset="-122"/>
                <a:ea typeface="宋体" panose="02010600030101010101" pitchFamily="2" charset="-122"/>
              </a:rPr>
              <a:t>的所有串的集合</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正则式（4）</a:t>
            </a:r>
            <a:endParaRPr lang="zh-CN" altLang="en-US" dirty="0">
              <a:latin typeface="宋体" panose="02010600030101010101" pitchFamily="2" charset="-122"/>
              <a:ea typeface="宋体" panose="02010600030101010101" pitchFamily="2" charset="-122"/>
            </a:endParaRPr>
          </a:p>
        </p:txBody>
      </p:sp>
      <p:sp>
        <p:nvSpPr>
          <p:cNvPr id="43011" name="Rectangle 3"/>
          <p:cNvSpPr>
            <a:spLocks noGrp="1"/>
          </p:cNvSpPr>
          <p:nvPr>
            <p:ph idx="1"/>
          </p:nvPr>
        </p:nvSpPr>
        <p:spPr>
          <a:xfrm>
            <a:off x="990600" y="1371600"/>
            <a:ext cx="7391400" cy="49530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正则式的等价：</a:t>
            </a:r>
            <a:endParaRPr lang="zh-CN" altLang="en-US" sz="2400" b="1" dirty="0">
              <a:latin typeface="宋体" panose="02010600030101010101" pitchFamily="2" charset="-122"/>
              <a:ea typeface="宋体" panose="02010600030101010101" pitchFamily="2" charset="-122"/>
            </a:endParaRPr>
          </a:p>
          <a:p>
            <a:pPr lvl="1"/>
            <a:r>
              <a:rPr lang="zh-CN" altLang="en-US" sz="2000" b="1" dirty="0">
                <a:latin typeface="宋体" panose="02010600030101010101" pitchFamily="2" charset="-122"/>
                <a:ea typeface="宋体" panose="02010600030101010101" pitchFamily="2" charset="-122"/>
              </a:rPr>
              <a:t>	如果两个正则式表示同样的语言，则这两个正则式等价</a:t>
            </a:r>
            <a:endParaRPr lang="en-US" altLang="zh-CN" sz="20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正则式的代数性质：</a:t>
            </a:r>
            <a:endParaRPr lang="zh-CN" altLang="en-US" sz="2400" b="1" dirty="0">
              <a:latin typeface="宋体" panose="02010600030101010101" pitchFamily="2" charset="-122"/>
              <a:ea typeface="宋体" panose="02010600030101010101" pitchFamily="2" charset="-122"/>
            </a:endParaRPr>
          </a:p>
          <a:p>
            <a:pPr marL="914400" lvl="2" indent="0">
              <a:buNone/>
            </a:pPr>
            <a:r>
              <a:rPr lang="zh-CN" altLang="en-US" sz="2100" b="1" dirty="0">
                <a:ea typeface="宋体" panose="02010600030101010101" pitchFamily="2" charset="-122"/>
              </a:rPr>
              <a:t>	公    理			描	述</a:t>
            </a:r>
            <a:endParaRPr lang="zh-CN" altLang="en-US" sz="2100" b="1" dirty="0">
              <a:ea typeface="宋体" panose="02010600030101010101" pitchFamily="2" charset="-122"/>
            </a:endParaRPr>
          </a:p>
          <a:p>
            <a:pPr marL="914400" lvl="2" indent="0">
              <a:buNone/>
            </a:pPr>
            <a:r>
              <a:rPr lang="en-US" altLang="zh-CN" sz="2100" b="1" dirty="0">
                <a:ea typeface="宋体" panose="02010600030101010101" pitchFamily="2" charset="-122"/>
              </a:rPr>
              <a:t>r|s = s|r		   	    |</a:t>
            </a:r>
            <a:r>
              <a:rPr lang="zh-CN" altLang="en-US" sz="2100" b="1" dirty="0">
                <a:ea typeface="宋体" panose="02010600030101010101" pitchFamily="2" charset="-122"/>
              </a:rPr>
              <a:t>是可交换的</a:t>
            </a:r>
            <a:endParaRPr lang="zh-CN" altLang="en-US" sz="2100" b="1" dirty="0">
              <a:ea typeface="宋体" panose="02010600030101010101" pitchFamily="2" charset="-122"/>
            </a:endParaRPr>
          </a:p>
          <a:p>
            <a:pPr marL="914400" lvl="2" indent="0">
              <a:buNone/>
            </a:pPr>
            <a:r>
              <a:rPr lang="en-US" altLang="zh-CN" sz="2100" b="1" dirty="0">
                <a:ea typeface="宋体" panose="02010600030101010101" pitchFamily="2" charset="-122"/>
              </a:rPr>
              <a:t>r|(s|t) = (r|s)|t	   	    |</a:t>
            </a:r>
            <a:r>
              <a:rPr lang="zh-CN" altLang="en-US" sz="2100" b="1" dirty="0">
                <a:ea typeface="宋体" panose="02010600030101010101" pitchFamily="2" charset="-122"/>
              </a:rPr>
              <a:t>是可结合的</a:t>
            </a:r>
            <a:endParaRPr lang="zh-CN" altLang="en-US" sz="2100" b="1" dirty="0">
              <a:ea typeface="宋体" panose="02010600030101010101" pitchFamily="2" charset="-122"/>
            </a:endParaRPr>
          </a:p>
          <a:p>
            <a:pPr marL="914400" lvl="2" indent="0">
              <a:buNone/>
            </a:pPr>
            <a:r>
              <a:rPr lang="zh-CN" altLang="en-US" sz="2100" b="1" dirty="0">
                <a:ea typeface="宋体" panose="02010600030101010101" pitchFamily="2" charset="-122"/>
              </a:rPr>
              <a:t>(</a:t>
            </a:r>
            <a:r>
              <a:rPr lang="en-US" altLang="zh-CN" sz="2100" b="1" dirty="0">
                <a:ea typeface="宋体" panose="02010600030101010101" pitchFamily="2" charset="-122"/>
              </a:rPr>
              <a:t>rs)t = r(st)	 	    </a:t>
            </a:r>
            <a:r>
              <a:rPr lang="zh-CN" altLang="en-US" sz="2100" b="1" dirty="0">
                <a:ea typeface="宋体" panose="02010600030101010101" pitchFamily="2" charset="-122"/>
              </a:rPr>
              <a:t>连结是可结合的</a:t>
            </a:r>
            <a:endParaRPr lang="zh-CN" altLang="en-US" sz="2100" b="1" dirty="0">
              <a:ea typeface="宋体" panose="02010600030101010101" pitchFamily="2" charset="-122"/>
            </a:endParaRPr>
          </a:p>
          <a:p>
            <a:pPr marL="914400" lvl="2" indent="0">
              <a:buNone/>
            </a:pPr>
            <a:r>
              <a:rPr lang="en-US" altLang="zh-CN" sz="2100" b="1" dirty="0">
                <a:ea typeface="宋体" panose="02010600030101010101" pitchFamily="2" charset="-122"/>
              </a:rPr>
              <a:t>r(s|t) = rs|rt		    </a:t>
            </a:r>
            <a:r>
              <a:rPr lang="zh-CN" altLang="en-US" sz="2100" b="1" dirty="0">
                <a:ea typeface="宋体" panose="02010600030101010101" pitchFamily="2" charset="-122"/>
              </a:rPr>
              <a:t>连结对|可分配</a:t>
            </a:r>
            <a:endParaRPr lang="zh-CN" altLang="en-US" sz="2100" b="1" dirty="0">
              <a:ea typeface="宋体" panose="02010600030101010101" pitchFamily="2" charset="-122"/>
            </a:endParaRPr>
          </a:p>
          <a:p>
            <a:pPr marL="914400" lvl="2" indent="0">
              <a:buNone/>
            </a:pPr>
            <a:r>
              <a:rPr lang="zh-CN" altLang="en-US" sz="2100" b="1" dirty="0">
                <a:ea typeface="宋体" panose="02010600030101010101" pitchFamily="2" charset="-122"/>
              </a:rPr>
              <a:t>(</a:t>
            </a:r>
            <a:r>
              <a:rPr lang="en-US" altLang="zh-CN" sz="2100" b="1" dirty="0">
                <a:ea typeface="宋体" panose="02010600030101010101" pitchFamily="2" charset="-122"/>
              </a:rPr>
              <a:t>s|t)r = sr|tr</a:t>
            </a:r>
            <a:endParaRPr lang="en-US" altLang="zh-CN" sz="2100" b="1" dirty="0">
              <a:ea typeface="宋体" panose="02010600030101010101" pitchFamily="2" charset="-122"/>
            </a:endParaRPr>
          </a:p>
          <a:p>
            <a:pPr marL="914400" lvl="2" indent="0">
              <a:buNone/>
            </a:pPr>
            <a:r>
              <a:rPr lang="en-US" altLang="zh-CN" sz="2100" b="1" dirty="0">
                <a:ea typeface="宋体" panose="02010600030101010101" pitchFamily="2" charset="-122"/>
              </a:rPr>
              <a:t>εr = r			    ε</a:t>
            </a:r>
            <a:r>
              <a:rPr lang="zh-CN" altLang="en-US" sz="2100" b="1" dirty="0">
                <a:ea typeface="宋体" panose="02010600030101010101" pitchFamily="2" charset="-122"/>
              </a:rPr>
              <a:t>是连结的恒等元素</a:t>
            </a:r>
            <a:endParaRPr lang="zh-CN" altLang="en-US" sz="2100" b="1" dirty="0">
              <a:ea typeface="宋体" panose="02010600030101010101" pitchFamily="2" charset="-122"/>
            </a:endParaRPr>
          </a:p>
          <a:p>
            <a:pPr marL="914400" lvl="2" indent="0">
              <a:buNone/>
            </a:pPr>
            <a:r>
              <a:rPr lang="en-US" altLang="zh-CN" sz="2100" b="1" dirty="0">
                <a:ea typeface="宋体" panose="02010600030101010101" pitchFamily="2" charset="-122"/>
              </a:rPr>
              <a:t>rε = r</a:t>
            </a:r>
            <a:endParaRPr lang="en-US" altLang="zh-CN" sz="2100" b="1" dirty="0">
              <a:ea typeface="宋体" panose="02010600030101010101" pitchFamily="2" charset="-122"/>
            </a:endParaRPr>
          </a:p>
          <a:p>
            <a:pPr marL="914400" lvl="2" indent="0">
              <a:buNone/>
            </a:pPr>
            <a:r>
              <a:rPr lang="en-US" altLang="zh-CN" sz="2100" b="1" dirty="0">
                <a:ea typeface="宋体" panose="02010600030101010101" pitchFamily="2" charset="-122"/>
              </a:rPr>
              <a:t>r</a:t>
            </a:r>
            <a:r>
              <a:rPr lang="en-US" altLang="zh-CN" sz="2100" b="1" baseline="30000" dirty="0">
                <a:ea typeface="宋体" panose="02010600030101010101" pitchFamily="2" charset="-122"/>
              </a:rPr>
              <a:t>*</a:t>
            </a:r>
            <a:r>
              <a:rPr lang="en-US" altLang="zh-CN" sz="2100" b="1" dirty="0">
                <a:ea typeface="宋体" panose="02010600030101010101" pitchFamily="2" charset="-122"/>
              </a:rPr>
              <a:t> = (r|ε)</a:t>
            </a:r>
            <a:r>
              <a:rPr lang="en-US" altLang="zh-CN" sz="2400" b="1" baseline="30000" dirty="0">
                <a:ea typeface="宋体" panose="02010600030101010101" pitchFamily="2" charset="-122"/>
              </a:rPr>
              <a:t> *</a:t>
            </a:r>
            <a:r>
              <a:rPr lang="en-US" altLang="zh-CN" sz="2100" b="1" dirty="0">
                <a:ea typeface="宋体" panose="02010600030101010101" pitchFamily="2" charset="-122"/>
              </a:rPr>
              <a:t>		    *</a:t>
            </a:r>
            <a:r>
              <a:rPr lang="zh-CN" altLang="en-US" sz="2100" b="1" dirty="0">
                <a:ea typeface="宋体" panose="02010600030101010101" pitchFamily="2" charset="-122"/>
              </a:rPr>
              <a:t>和</a:t>
            </a:r>
            <a:r>
              <a:rPr lang="en-US" altLang="zh-CN" sz="2100" b="1" dirty="0">
                <a:ea typeface="宋体" panose="02010600030101010101" pitchFamily="2" charset="-122"/>
              </a:rPr>
              <a:t>ε</a:t>
            </a:r>
            <a:r>
              <a:rPr lang="zh-CN" altLang="en-US" sz="2100" b="1" dirty="0">
                <a:ea typeface="宋体" panose="02010600030101010101" pitchFamily="2" charset="-122"/>
              </a:rPr>
              <a:t>间的关系</a:t>
            </a:r>
            <a:endParaRPr lang="zh-CN" altLang="en-US" sz="2100" b="1" dirty="0">
              <a:ea typeface="宋体" panose="02010600030101010101" pitchFamily="2" charset="-122"/>
            </a:endParaRPr>
          </a:p>
          <a:p>
            <a:pPr marL="914400" lvl="2" indent="0">
              <a:buNone/>
            </a:pPr>
            <a:r>
              <a:rPr lang="en-US" altLang="zh-CN" sz="2100" b="1" dirty="0">
                <a:ea typeface="宋体" panose="02010600030101010101" pitchFamily="2" charset="-122"/>
              </a:rPr>
              <a:t>r</a:t>
            </a:r>
            <a:r>
              <a:rPr lang="en-US" altLang="zh-CN" sz="2400" b="1" baseline="30000" dirty="0">
                <a:ea typeface="宋体" panose="02010600030101010101" pitchFamily="2" charset="-122"/>
              </a:rPr>
              <a:t>**</a:t>
            </a:r>
            <a:r>
              <a:rPr lang="en-US" altLang="zh-CN" sz="2100" b="1" dirty="0">
                <a:ea typeface="宋体" panose="02010600030101010101" pitchFamily="2" charset="-122"/>
              </a:rPr>
              <a:t>= r</a:t>
            </a:r>
            <a:r>
              <a:rPr lang="en-US" altLang="zh-CN" sz="2400" b="1" baseline="30000" dirty="0">
                <a:ea typeface="宋体" panose="02010600030101010101" pitchFamily="2" charset="-122"/>
              </a:rPr>
              <a:t>*</a:t>
            </a:r>
            <a:r>
              <a:rPr lang="en-US" altLang="zh-CN" sz="2100" b="1" dirty="0">
                <a:ea typeface="宋体" panose="02010600030101010101" pitchFamily="2" charset="-122"/>
              </a:rPr>
              <a:t>			    *</a:t>
            </a:r>
            <a:r>
              <a:rPr lang="zh-CN" altLang="en-US" sz="2100" b="1" dirty="0">
                <a:ea typeface="宋体" panose="02010600030101010101" pitchFamily="2" charset="-122"/>
              </a:rPr>
              <a:t>是幂等的</a:t>
            </a:r>
            <a:endParaRPr lang="zh-CN" altLang="en-US" sz="2100" b="1" dirty="0">
              <a:ea typeface="宋体" panose="02010600030101010101" pitchFamily="2" charset="-122"/>
            </a:endParaRPr>
          </a:p>
        </p:txBody>
      </p:sp>
      <p:sp>
        <p:nvSpPr>
          <p:cNvPr id="43012" name="Line 4"/>
          <p:cNvSpPr/>
          <p:nvPr/>
        </p:nvSpPr>
        <p:spPr>
          <a:xfrm>
            <a:off x="1905000" y="2590800"/>
            <a:ext cx="5791200" cy="0"/>
          </a:xfrm>
          <a:prstGeom prst="line">
            <a:avLst/>
          </a:prstGeom>
          <a:ln w="28575" cap="flat" cmpd="sng">
            <a:solidFill>
              <a:schemeClr val="tx1"/>
            </a:solidFill>
            <a:prstDash val="solid"/>
            <a:headEnd type="none" w="sm" len="sm"/>
            <a:tailEnd type="none" w="lg" len="med"/>
          </a:ln>
        </p:spPr>
      </p:sp>
      <p:sp>
        <p:nvSpPr>
          <p:cNvPr id="43013" name="Line 5"/>
          <p:cNvSpPr/>
          <p:nvPr/>
        </p:nvSpPr>
        <p:spPr>
          <a:xfrm>
            <a:off x="1905000" y="2971800"/>
            <a:ext cx="5791200" cy="0"/>
          </a:xfrm>
          <a:prstGeom prst="line">
            <a:avLst/>
          </a:prstGeom>
          <a:ln w="22225" cap="flat" cmpd="sng">
            <a:solidFill>
              <a:schemeClr val="tx1"/>
            </a:solidFill>
            <a:prstDash val="solid"/>
            <a:headEnd type="none" w="sm" len="sm"/>
            <a:tailEnd type="none" w="lg" len="med"/>
          </a:ln>
        </p:spPr>
      </p:sp>
      <p:sp>
        <p:nvSpPr>
          <p:cNvPr id="43014" name="Line 6"/>
          <p:cNvSpPr/>
          <p:nvPr/>
        </p:nvSpPr>
        <p:spPr>
          <a:xfrm>
            <a:off x="1905000" y="3352800"/>
            <a:ext cx="5791200" cy="0"/>
          </a:xfrm>
          <a:prstGeom prst="line">
            <a:avLst/>
          </a:prstGeom>
          <a:ln w="22225" cap="flat" cmpd="sng">
            <a:solidFill>
              <a:schemeClr val="tx1"/>
            </a:solidFill>
            <a:prstDash val="solid"/>
            <a:headEnd type="none" w="sm" len="sm"/>
            <a:tailEnd type="none" w="lg" len="med"/>
          </a:ln>
        </p:spPr>
      </p:sp>
      <p:sp>
        <p:nvSpPr>
          <p:cNvPr id="43015" name="Line 7"/>
          <p:cNvSpPr/>
          <p:nvPr/>
        </p:nvSpPr>
        <p:spPr>
          <a:xfrm>
            <a:off x="1905000" y="3733800"/>
            <a:ext cx="5791200" cy="0"/>
          </a:xfrm>
          <a:prstGeom prst="line">
            <a:avLst/>
          </a:prstGeom>
          <a:ln w="22225" cap="flat" cmpd="sng">
            <a:solidFill>
              <a:schemeClr val="tx1"/>
            </a:solidFill>
            <a:prstDash val="solid"/>
            <a:headEnd type="none" w="sm" len="sm"/>
            <a:tailEnd type="none" w="lg" len="med"/>
          </a:ln>
        </p:spPr>
      </p:sp>
      <p:sp>
        <p:nvSpPr>
          <p:cNvPr id="43016" name="Line 8"/>
          <p:cNvSpPr/>
          <p:nvPr/>
        </p:nvSpPr>
        <p:spPr>
          <a:xfrm>
            <a:off x="1981200" y="4114800"/>
            <a:ext cx="5791200" cy="0"/>
          </a:xfrm>
          <a:prstGeom prst="line">
            <a:avLst/>
          </a:prstGeom>
          <a:ln w="22225" cap="flat" cmpd="sng">
            <a:solidFill>
              <a:schemeClr val="tx1"/>
            </a:solidFill>
            <a:prstDash val="solid"/>
            <a:headEnd type="none" w="sm" len="sm"/>
            <a:tailEnd type="none" w="lg" len="med"/>
          </a:ln>
        </p:spPr>
      </p:sp>
      <p:sp>
        <p:nvSpPr>
          <p:cNvPr id="43017" name="Line 9"/>
          <p:cNvSpPr/>
          <p:nvPr/>
        </p:nvSpPr>
        <p:spPr>
          <a:xfrm>
            <a:off x="1905000" y="4876800"/>
            <a:ext cx="5791200" cy="0"/>
          </a:xfrm>
          <a:prstGeom prst="line">
            <a:avLst/>
          </a:prstGeom>
          <a:ln w="22225" cap="flat" cmpd="sng">
            <a:solidFill>
              <a:schemeClr val="tx1"/>
            </a:solidFill>
            <a:prstDash val="solid"/>
            <a:headEnd type="none" w="sm" len="sm"/>
            <a:tailEnd type="none" w="lg" len="med"/>
          </a:ln>
        </p:spPr>
      </p:sp>
      <p:sp>
        <p:nvSpPr>
          <p:cNvPr id="43018" name="Line 10"/>
          <p:cNvSpPr/>
          <p:nvPr/>
        </p:nvSpPr>
        <p:spPr>
          <a:xfrm>
            <a:off x="1905000" y="5638800"/>
            <a:ext cx="5791200" cy="0"/>
          </a:xfrm>
          <a:prstGeom prst="line">
            <a:avLst/>
          </a:prstGeom>
          <a:ln w="22225" cap="flat" cmpd="sng">
            <a:solidFill>
              <a:schemeClr val="tx1"/>
            </a:solidFill>
            <a:prstDash val="solid"/>
            <a:headEnd type="none" w="sm" len="sm"/>
            <a:tailEnd type="none" w="lg" len="med"/>
          </a:ln>
        </p:spPr>
      </p:sp>
      <p:sp>
        <p:nvSpPr>
          <p:cNvPr id="43019" name="Line 11"/>
          <p:cNvSpPr/>
          <p:nvPr/>
        </p:nvSpPr>
        <p:spPr>
          <a:xfrm>
            <a:off x="1905000" y="6019800"/>
            <a:ext cx="5791200" cy="0"/>
          </a:xfrm>
          <a:prstGeom prst="line">
            <a:avLst/>
          </a:prstGeom>
          <a:ln w="22225" cap="flat" cmpd="sng">
            <a:solidFill>
              <a:schemeClr val="tx1"/>
            </a:solidFill>
            <a:prstDash val="solid"/>
            <a:headEnd type="none" w="sm" len="sm"/>
            <a:tailEnd type="none" w="lg" len="med"/>
          </a:ln>
        </p:spPr>
      </p:sp>
      <p:sp>
        <p:nvSpPr>
          <p:cNvPr id="43020" name="Line 12"/>
          <p:cNvSpPr/>
          <p:nvPr/>
        </p:nvSpPr>
        <p:spPr>
          <a:xfrm>
            <a:off x="1905000" y="6477000"/>
            <a:ext cx="5791200" cy="0"/>
          </a:xfrm>
          <a:prstGeom prst="line">
            <a:avLst/>
          </a:prstGeom>
          <a:ln w="28575" cap="flat" cmpd="sng">
            <a:solidFill>
              <a:schemeClr val="tx1"/>
            </a:solidFill>
            <a:prstDash val="solid"/>
            <a:headEnd type="none" w="sm" len="sm"/>
            <a:tailEnd type="none" w="lg" len="med"/>
          </a:ln>
        </p:spPr>
      </p:sp>
      <p:sp>
        <p:nvSpPr>
          <p:cNvPr id="43021" name="Line 13"/>
          <p:cNvSpPr/>
          <p:nvPr/>
        </p:nvSpPr>
        <p:spPr>
          <a:xfrm>
            <a:off x="4572000" y="2590800"/>
            <a:ext cx="0" cy="3886200"/>
          </a:xfrm>
          <a:prstGeom prst="line">
            <a:avLst/>
          </a:prstGeom>
          <a:ln w="22225" cap="flat" cmpd="sng">
            <a:solidFill>
              <a:schemeClr val="tx1"/>
            </a:solidFill>
            <a:prstDash val="solid"/>
            <a:headEnd type="none" w="sm" len="sm"/>
            <a:tailEnd type="none" w="lg" len="med"/>
          </a:ln>
        </p:spPr>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正则式（5）</a:t>
            </a:r>
            <a:endParaRPr lang="zh-CN" altLang="en-US" dirty="0">
              <a:latin typeface="宋体" panose="02010600030101010101" pitchFamily="2" charset="-122"/>
              <a:ea typeface="宋体" panose="02010600030101010101" pitchFamily="2" charset="-122"/>
            </a:endParaRPr>
          </a:p>
        </p:txBody>
      </p:sp>
      <p:sp>
        <p:nvSpPr>
          <p:cNvPr id="45059" name="Rectangle 3"/>
          <p:cNvSpPr>
            <a:spLocks noGrp="1"/>
          </p:cNvSpPr>
          <p:nvPr>
            <p:ph idx="1"/>
          </p:nvPr>
        </p:nvSpPr>
        <p:spPr>
          <a:xfrm>
            <a:off x="609600" y="1524000"/>
            <a:ext cx="7772400" cy="4572000"/>
          </a:xfrm>
        </p:spPr>
        <p:txBody>
          <a:bodyPr vert="horz" wrap="square" lIns="92075" tIns="46038" rIns="92075" bIns="46038" anchor="t" anchorCtr="0"/>
          <a:p>
            <a:r>
              <a:rPr lang="zh-CN" altLang="en-US" b="1" dirty="0">
                <a:ea typeface="宋体" panose="02010600030101010101" pitchFamily="2" charset="-122"/>
              </a:rPr>
              <a:t>正则定义</a:t>
            </a:r>
            <a:endParaRPr lang="zh-CN" altLang="en-US" b="1" dirty="0">
              <a:ea typeface="宋体" panose="02010600030101010101" pitchFamily="2" charset="-122"/>
            </a:endParaRPr>
          </a:p>
          <a:p>
            <a:pPr lvl="1"/>
            <a:r>
              <a:rPr lang="zh-CN" altLang="en-US" b="1" dirty="0">
                <a:ea typeface="宋体" panose="02010600030101010101" pitchFamily="2" charset="-122"/>
              </a:rPr>
              <a:t>为什么引入正则定义：</a:t>
            </a:r>
            <a:endParaRPr lang="zh-CN" altLang="en-US" b="1" dirty="0">
              <a:ea typeface="宋体" panose="02010600030101010101" pitchFamily="2" charset="-122"/>
            </a:endParaRPr>
          </a:p>
          <a:p>
            <a:pPr lvl="2"/>
            <a:r>
              <a:rPr lang="zh-CN" altLang="en-US" b="1" dirty="0">
                <a:ea typeface="宋体" panose="02010600030101010101" pitchFamily="2" charset="-122"/>
              </a:rPr>
              <a:t>正则式描述单词符号简洁、直观</a:t>
            </a:r>
            <a:endParaRPr lang="zh-CN" altLang="en-US" b="1" dirty="0">
              <a:ea typeface="宋体" panose="02010600030101010101" pitchFamily="2" charset="-122"/>
            </a:endParaRPr>
          </a:p>
          <a:p>
            <a:pPr lvl="2">
              <a:buNone/>
            </a:pPr>
            <a:r>
              <a:rPr lang="zh-CN" altLang="en-US" b="1" dirty="0">
                <a:ea typeface="宋体" panose="02010600030101010101" pitchFamily="2" charset="-122"/>
              </a:rPr>
              <a:t>	</a:t>
            </a:r>
            <a:r>
              <a:rPr lang="en-US" altLang="zh-CN" b="1" dirty="0">
                <a:ea typeface="宋体" panose="02010600030101010101" pitchFamily="2" charset="-122"/>
              </a:rPr>
              <a:t>a(0|1|a)</a:t>
            </a:r>
            <a:r>
              <a:rPr lang="en-US" altLang="zh-CN" sz="2400" b="1" baseline="30000" dirty="0">
                <a:ea typeface="宋体" panose="02010600030101010101" pitchFamily="2" charset="-122"/>
              </a:rPr>
              <a:t> *</a:t>
            </a:r>
            <a:endParaRPr lang="en-US" altLang="zh-CN" b="1" dirty="0">
              <a:ea typeface="宋体" panose="02010600030101010101" pitchFamily="2" charset="-122"/>
            </a:endParaRPr>
          </a:p>
          <a:p>
            <a:pPr lvl="2"/>
            <a:r>
              <a:rPr lang="zh-CN" altLang="en-US" b="1" dirty="0">
                <a:ea typeface="宋体" panose="02010600030101010101" pitchFamily="2" charset="-122"/>
              </a:rPr>
              <a:t>正则文法描述单词易于识别</a:t>
            </a:r>
            <a:endParaRPr lang="zh-CN" altLang="en-US" b="1" dirty="0">
              <a:ea typeface="宋体" panose="02010600030101010101" pitchFamily="2" charset="-122"/>
            </a:endParaRPr>
          </a:p>
          <a:p>
            <a:pPr lvl="2">
              <a:buNone/>
            </a:pPr>
            <a:r>
              <a:rPr lang="zh-CN" altLang="en-US" b="1" dirty="0">
                <a:ea typeface="宋体" panose="02010600030101010101" pitchFamily="2" charset="-122"/>
              </a:rPr>
              <a:t>	</a:t>
            </a:r>
            <a:r>
              <a:rPr lang="en-US" altLang="zh-CN" b="1" dirty="0">
                <a:ea typeface="宋体" panose="02010600030101010101" pitchFamily="2" charset="-122"/>
              </a:rPr>
              <a:t>S→a|aR</a:t>
            </a:r>
            <a:endParaRPr lang="en-US" altLang="zh-CN" b="1" dirty="0">
              <a:ea typeface="宋体" panose="02010600030101010101" pitchFamily="2" charset="-122"/>
            </a:endParaRPr>
          </a:p>
          <a:p>
            <a:pPr lvl="2">
              <a:buNone/>
            </a:pPr>
            <a:r>
              <a:rPr lang="en-US" altLang="zh-CN" b="1" dirty="0">
                <a:ea typeface="宋体" panose="02010600030101010101" pitchFamily="2" charset="-122"/>
              </a:rPr>
              <a:t>	R→0|1|a|0R|1R|aR</a:t>
            </a:r>
            <a:endParaRPr lang="en-US" altLang="zh-CN" b="1" dirty="0">
              <a:ea typeface="宋体" panose="02010600030101010101" pitchFamily="2" charset="-122"/>
            </a:endParaRPr>
          </a:p>
          <a:p>
            <a:pPr lvl="2"/>
            <a:r>
              <a:rPr lang="zh-CN" altLang="en-US" b="1" dirty="0">
                <a:ea typeface="宋体" panose="02010600030101010101" pitchFamily="2" charset="-122"/>
              </a:rPr>
              <a:t>所以可以先给出正则式的定义，再根据需要转化为正则文法,正则定义为此提供了条件</a:t>
            </a:r>
            <a:endParaRPr lang="en-US" altLang="zh-CN" b="1" dirty="0">
              <a:ea typeface="宋体" panose="02010600030101010101" pitchFamily="2" charset="-122"/>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1026"/>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正则式（6）</a:t>
            </a:r>
            <a:endParaRPr lang="zh-CN" altLang="en-US" dirty="0">
              <a:latin typeface="宋体" panose="02010600030101010101" pitchFamily="2" charset="-122"/>
              <a:ea typeface="宋体" panose="02010600030101010101" pitchFamily="2" charset="-122"/>
            </a:endParaRPr>
          </a:p>
        </p:txBody>
      </p:sp>
      <p:sp>
        <p:nvSpPr>
          <p:cNvPr id="47107" name="Rectangle 1027"/>
          <p:cNvSpPr>
            <a:spLocks noGrp="1"/>
          </p:cNvSpPr>
          <p:nvPr>
            <p:ph idx="1"/>
          </p:nvPr>
        </p:nvSpPr>
        <p:spPr>
          <a:xfrm>
            <a:off x="755650" y="1524000"/>
            <a:ext cx="7561263" cy="4572000"/>
          </a:xfrm>
        </p:spPr>
        <p:txBody>
          <a:bodyPr vert="horz" wrap="square" lIns="92075" tIns="46038" rIns="92075" bIns="46038" anchor="t" anchorCtr="0"/>
          <a:p>
            <a:r>
              <a:rPr lang="zh-CN" altLang="en-US" b="1" dirty="0">
                <a:ea typeface="宋体" panose="02010600030101010101" pitchFamily="2" charset="-122"/>
              </a:rPr>
              <a:t>正则式的命名：为了表示方便，并进一步定义正则式</a:t>
            </a:r>
            <a:endParaRPr lang="zh-CN" altLang="en-US" b="1" dirty="0">
              <a:ea typeface="宋体" panose="02010600030101010101" pitchFamily="2" charset="-122"/>
            </a:endParaRPr>
          </a:p>
          <a:p>
            <a:pPr lvl="1"/>
            <a:r>
              <a:rPr lang="zh-CN" altLang="en-US" b="1" dirty="0">
                <a:ea typeface="宋体" panose="02010600030101010101" pitchFamily="2" charset="-122"/>
              </a:rPr>
              <a:t>如果有</a:t>
            </a:r>
            <a:r>
              <a:rPr lang="en-US" altLang="zh-CN" i="1" dirty="0">
                <a:ea typeface="宋体" panose="02010600030101010101" pitchFamily="2" charset="-122"/>
              </a:rPr>
              <a:t>digit</a:t>
            </a:r>
            <a:r>
              <a:rPr lang="en-US" altLang="zh-CN" b="1" dirty="0">
                <a:ea typeface="宋体" panose="02010600030101010101" pitchFamily="2" charset="-122"/>
              </a:rPr>
              <a:t>→0|1|2|…|9，</a:t>
            </a:r>
            <a:r>
              <a:rPr lang="zh-CN" altLang="en-US" b="1" dirty="0">
                <a:ea typeface="宋体" panose="02010600030101010101" pitchFamily="2" charset="-122"/>
              </a:rPr>
              <a:t>则正则式</a:t>
            </a:r>
            <a:r>
              <a:rPr lang="en-US" altLang="zh-CN" i="1" dirty="0">
                <a:ea typeface="宋体" panose="02010600030101010101" pitchFamily="2" charset="-122"/>
              </a:rPr>
              <a:t>digit digit</a:t>
            </a:r>
            <a:r>
              <a:rPr lang="en-US" altLang="zh-CN" b="1" baseline="30000" dirty="0">
                <a:ea typeface="宋体" panose="02010600030101010101" pitchFamily="2" charset="-122"/>
              </a:rPr>
              <a:t>*</a:t>
            </a:r>
            <a:r>
              <a:rPr lang="zh-CN" altLang="en-US" b="1" dirty="0">
                <a:ea typeface="宋体" panose="02010600030101010101" pitchFamily="2" charset="-122"/>
              </a:rPr>
              <a:t>与正则式(</a:t>
            </a:r>
            <a:r>
              <a:rPr lang="en-US" altLang="zh-CN" b="1" dirty="0">
                <a:ea typeface="宋体" panose="02010600030101010101" pitchFamily="2" charset="-122"/>
              </a:rPr>
              <a:t>0|1|2|…|9)(0|1|2|…|9)</a:t>
            </a:r>
            <a:r>
              <a:rPr lang="en-US" altLang="zh-CN" b="1" baseline="30000" dirty="0">
                <a:ea typeface="宋体" panose="02010600030101010101" pitchFamily="2" charset="-122"/>
              </a:rPr>
              <a:t> *</a:t>
            </a:r>
            <a:r>
              <a:rPr lang="zh-CN" altLang="en-US" b="1" dirty="0">
                <a:ea typeface="宋体" panose="02010600030101010101" pitchFamily="2" charset="-122"/>
              </a:rPr>
              <a:t>是等价的，都表示的是一个或多个数字的序列</a:t>
            </a:r>
            <a:endParaRPr lang="zh-CN" altLang="en-US" b="1" dirty="0">
              <a:ea typeface="宋体" panose="02010600030101010101" pitchFamily="2" charset="-122"/>
            </a:endParaRPr>
          </a:p>
          <a:p>
            <a:pPr lvl="1"/>
            <a:r>
              <a:rPr lang="en-US" altLang="zh-CN" i="1" dirty="0">
                <a:ea typeface="宋体" panose="02010600030101010101" pitchFamily="2" charset="-122"/>
              </a:rPr>
              <a:t>digit</a:t>
            </a:r>
            <a:r>
              <a:rPr lang="en-US" altLang="zh-CN" b="1" dirty="0">
                <a:ea typeface="宋体" panose="02010600030101010101" pitchFamily="2" charset="-122"/>
              </a:rPr>
              <a:t>→0|1|2|…|9</a:t>
            </a:r>
            <a:r>
              <a:rPr lang="zh-CN" altLang="en-US" b="1" dirty="0">
                <a:ea typeface="宋体" panose="02010600030101010101" pitchFamily="2" charset="-122"/>
              </a:rPr>
              <a:t>是对一个名字的定义</a:t>
            </a:r>
            <a:endParaRPr lang="zh-CN" altLang="en-US" b="1" dirty="0">
              <a:ea typeface="宋体" panose="02010600030101010101" pitchFamily="2" charset="-122"/>
            </a:endParaRPr>
          </a:p>
          <a:p>
            <a:pPr lvl="1"/>
            <a:r>
              <a:rPr lang="zh-CN" altLang="en-US" b="1" dirty="0">
                <a:ea typeface="宋体" panose="02010600030101010101" pitchFamily="2" charset="-122"/>
              </a:rPr>
              <a:t>这个名字本身是一个元符号，它可以出现在其它名字的定义中，但不能出现在对自身的定义中，也就是不能有递归</a:t>
            </a:r>
            <a:endParaRPr lang="zh-CN" altLang="en-US" b="1" dirty="0">
              <a:ea typeface="宋体" panose="02010600030101010101" pitchFamily="2"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正则式（7）</a:t>
            </a:r>
            <a:endParaRPr lang="zh-CN" altLang="en-US" dirty="0">
              <a:latin typeface="宋体" panose="02010600030101010101" pitchFamily="2" charset="-122"/>
              <a:ea typeface="宋体" panose="02010600030101010101" pitchFamily="2" charset="-122"/>
            </a:endParaRPr>
          </a:p>
        </p:txBody>
      </p:sp>
      <p:sp>
        <p:nvSpPr>
          <p:cNvPr id="49155" name="Rectangle 3"/>
          <p:cNvSpPr>
            <a:spLocks noGrp="1"/>
          </p:cNvSpPr>
          <p:nvPr>
            <p:ph idx="1"/>
          </p:nvPr>
        </p:nvSpPr>
        <p:spPr>
          <a:xfrm>
            <a:off x="684213" y="1600200"/>
            <a:ext cx="8135937" cy="4876800"/>
          </a:xfrm>
        </p:spPr>
        <p:txBody>
          <a:bodyPr vert="horz" wrap="square" lIns="92075" tIns="46038" rIns="92075" bIns="46038" anchor="t" anchorCtr="0"/>
          <a:p>
            <a:r>
              <a:rPr lang="zh-CN" altLang="en-US" sz="2400" b="1" dirty="0">
                <a:ea typeface="宋体" panose="02010600030101010101" pitchFamily="2" charset="-122"/>
              </a:rPr>
              <a:t>正则定义：如果∑是基本符号的字母表，则正则定义的形式为如下的序列</a:t>
            </a:r>
            <a:endParaRPr lang="en-US" altLang="zh-CN" sz="2400" b="1" dirty="0">
              <a:ea typeface="宋体" panose="02010600030101010101" pitchFamily="2" charset="-122"/>
            </a:endParaRPr>
          </a:p>
          <a:p>
            <a:pPr marL="457200" lvl="1" indent="0">
              <a:buNone/>
            </a:pPr>
            <a:r>
              <a:rPr lang="en-US" altLang="zh-CN" sz="2000" i="1" dirty="0">
                <a:ea typeface="宋体" panose="02010600030101010101" pitchFamily="2" charset="-122"/>
              </a:rPr>
              <a:t>	d</a:t>
            </a:r>
            <a:r>
              <a:rPr lang="en-US" altLang="zh-CN" sz="2000" i="1" baseline="-25000" dirty="0">
                <a:ea typeface="宋体" panose="02010600030101010101" pitchFamily="2" charset="-122"/>
              </a:rPr>
              <a:t>1</a:t>
            </a:r>
            <a:r>
              <a:rPr lang="en-US" altLang="zh-CN" sz="2000" i="1" dirty="0">
                <a:ea typeface="宋体" panose="02010600030101010101" pitchFamily="2" charset="-122"/>
              </a:rPr>
              <a:t>→r</a:t>
            </a:r>
            <a:r>
              <a:rPr lang="en-US" altLang="zh-CN" sz="2000" i="1" baseline="-25000" dirty="0">
                <a:ea typeface="宋体" panose="02010600030101010101" pitchFamily="2" charset="-122"/>
              </a:rPr>
              <a:t>1</a:t>
            </a:r>
            <a:endParaRPr lang="en-US" altLang="zh-CN" sz="2000" i="1" dirty="0">
              <a:ea typeface="宋体" panose="02010600030101010101" pitchFamily="2" charset="-122"/>
            </a:endParaRPr>
          </a:p>
          <a:p>
            <a:pPr marL="457200" lvl="1" indent="0">
              <a:buNone/>
            </a:pPr>
            <a:r>
              <a:rPr lang="en-US" altLang="zh-CN" sz="2000" i="1" dirty="0">
                <a:ea typeface="宋体" panose="02010600030101010101" pitchFamily="2" charset="-122"/>
              </a:rPr>
              <a:t>	d</a:t>
            </a:r>
            <a:r>
              <a:rPr lang="en-US" altLang="zh-CN" sz="2000" i="1" baseline="-25000" dirty="0">
                <a:ea typeface="宋体" panose="02010600030101010101" pitchFamily="2" charset="-122"/>
              </a:rPr>
              <a:t>2</a:t>
            </a:r>
            <a:r>
              <a:rPr lang="en-US" altLang="zh-CN" sz="2000" i="1" dirty="0">
                <a:ea typeface="宋体" panose="02010600030101010101" pitchFamily="2" charset="-122"/>
              </a:rPr>
              <a:t>→r</a:t>
            </a:r>
            <a:r>
              <a:rPr lang="en-US" altLang="zh-CN" sz="2000" i="1" baseline="-25000" dirty="0">
                <a:ea typeface="宋体" panose="02010600030101010101" pitchFamily="2" charset="-122"/>
              </a:rPr>
              <a:t>2</a:t>
            </a:r>
            <a:endParaRPr lang="en-US" altLang="zh-CN" sz="2000" i="1" dirty="0">
              <a:ea typeface="宋体" panose="02010600030101010101" pitchFamily="2" charset="-122"/>
            </a:endParaRPr>
          </a:p>
          <a:p>
            <a:pPr marL="457200" lvl="1" indent="0">
              <a:buNone/>
            </a:pPr>
            <a:r>
              <a:rPr lang="en-US" altLang="zh-CN" sz="2000" i="1" dirty="0">
                <a:ea typeface="宋体" panose="02010600030101010101" pitchFamily="2" charset="-122"/>
              </a:rPr>
              <a:t>	…</a:t>
            </a:r>
            <a:endParaRPr lang="en-US" altLang="zh-CN" sz="2000" i="1" dirty="0">
              <a:ea typeface="宋体" panose="02010600030101010101" pitchFamily="2" charset="-122"/>
            </a:endParaRPr>
          </a:p>
          <a:p>
            <a:pPr marL="457200" lvl="1" indent="0">
              <a:buNone/>
            </a:pPr>
            <a:r>
              <a:rPr lang="en-US" altLang="zh-CN" sz="2000" i="1" dirty="0">
                <a:ea typeface="宋体" panose="02010600030101010101" pitchFamily="2" charset="-122"/>
              </a:rPr>
              <a:t>	d</a:t>
            </a:r>
            <a:r>
              <a:rPr lang="en-US" altLang="zh-CN" sz="2000" i="1" baseline="-25000" dirty="0">
                <a:ea typeface="宋体" panose="02010600030101010101" pitchFamily="2" charset="-122"/>
              </a:rPr>
              <a:t>n</a:t>
            </a:r>
            <a:r>
              <a:rPr lang="en-US" altLang="zh-CN" sz="2000" i="1" dirty="0">
                <a:ea typeface="宋体" panose="02010600030101010101" pitchFamily="2" charset="-122"/>
              </a:rPr>
              <a:t>→r</a:t>
            </a:r>
            <a:r>
              <a:rPr lang="en-US" altLang="zh-CN" sz="2000" i="1" baseline="-25000" dirty="0">
                <a:ea typeface="宋体" panose="02010600030101010101" pitchFamily="2" charset="-122"/>
              </a:rPr>
              <a:t>n</a:t>
            </a:r>
            <a:endParaRPr lang="en-US" altLang="zh-CN" sz="2000" i="1" dirty="0">
              <a:ea typeface="宋体" panose="02010600030101010101" pitchFamily="2" charset="-122"/>
            </a:endParaRPr>
          </a:p>
          <a:p>
            <a:pPr marL="457200" lvl="1" indent="0">
              <a:buNone/>
            </a:pPr>
            <a:r>
              <a:rPr lang="zh-CN" altLang="en-US" sz="2000" b="1" dirty="0">
                <a:ea typeface="宋体" panose="02010600030101010101" pitchFamily="2" charset="-122"/>
              </a:rPr>
              <a:t>	各个</a:t>
            </a:r>
            <a:r>
              <a:rPr lang="en-US" altLang="zh-CN" sz="2000" i="1" dirty="0">
                <a:ea typeface="宋体" panose="02010600030101010101" pitchFamily="2" charset="-122"/>
              </a:rPr>
              <a:t>d</a:t>
            </a:r>
            <a:r>
              <a:rPr lang="en-US" altLang="zh-CN" sz="2000" i="1" baseline="-25000" dirty="0">
                <a:ea typeface="宋体" panose="02010600030101010101" pitchFamily="2" charset="-122"/>
              </a:rPr>
              <a:t>i</a:t>
            </a:r>
            <a:r>
              <a:rPr lang="zh-CN" altLang="en-US" sz="2000" b="1" dirty="0">
                <a:ea typeface="宋体" panose="02010600030101010101" pitchFamily="2" charset="-122"/>
              </a:rPr>
              <a:t>的名字不同，且每个</a:t>
            </a:r>
            <a:r>
              <a:rPr lang="en-US" altLang="zh-CN" sz="2000" i="1" dirty="0">
                <a:ea typeface="宋体" panose="02010600030101010101" pitchFamily="2" charset="-122"/>
              </a:rPr>
              <a:t>r</a:t>
            </a:r>
            <a:r>
              <a:rPr lang="en-US" altLang="zh-CN" sz="2000" i="1" baseline="-25000" dirty="0">
                <a:ea typeface="宋体" panose="02010600030101010101" pitchFamily="2" charset="-122"/>
              </a:rPr>
              <a:t>i</a:t>
            </a:r>
            <a:r>
              <a:rPr lang="zh-CN" altLang="en-US" sz="2000" b="1" dirty="0">
                <a:ea typeface="宋体" panose="02010600030101010101" pitchFamily="2" charset="-122"/>
              </a:rPr>
              <a:t>是∑∪{</a:t>
            </a:r>
            <a:r>
              <a:rPr lang="en-US" altLang="zh-CN" sz="2000" i="1" dirty="0">
                <a:ea typeface="宋体" panose="02010600030101010101" pitchFamily="2" charset="-122"/>
              </a:rPr>
              <a:t>d</a:t>
            </a:r>
            <a:r>
              <a:rPr lang="en-US" altLang="zh-CN" sz="2000" i="1" baseline="-25000" dirty="0">
                <a:ea typeface="宋体" panose="02010600030101010101" pitchFamily="2" charset="-122"/>
              </a:rPr>
              <a:t>1</a:t>
            </a:r>
            <a:r>
              <a:rPr lang="zh-CN" altLang="en-US" sz="2000" i="1" dirty="0">
                <a:ea typeface="宋体" panose="02010600030101010101" pitchFamily="2" charset="-122"/>
              </a:rPr>
              <a:t>,</a:t>
            </a:r>
            <a:r>
              <a:rPr lang="en-US" altLang="zh-CN" sz="2000" i="1" dirty="0">
                <a:ea typeface="宋体" panose="02010600030101010101" pitchFamily="2" charset="-122"/>
              </a:rPr>
              <a:t>d</a:t>
            </a:r>
            <a:r>
              <a:rPr lang="en-US" altLang="zh-CN" sz="2000" i="1" baseline="-25000" dirty="0">
                <a:ea typeface="宋体" panose="02010600030101010101" pitchFamily="2" charset="-122"/>
              </a:rPr>
              <a:t>2</a:t>
            </a:r>
            <a:r>
              <a:rPr lang="zh-CN" altLang="en-US" sz="2000" i="1" dirty="0">
                <a:ea typeface="宋体" panose="02010600030101010101" pitchFamily="2" charset="-122"/>
              </a:rPr>
              <a:t>,…,</a:t>
            </a:r>
            <a:r>
              <a:rPr lang="en-US" altLang="zh-CN" sz="2000" i="1" dirty="0">
                <a:ea typeface="宋体" panose="02010600030101010101" pitchFamily="2" charset="-122"/>
              </a:rPr>
              <a:t>d</a:t>
            </a:r>
            <a:r>
              <a:rPr lang="en-US" altLang="zh-CN" sz="2000" i="1" baseline="-25000" dirty="0">
                <a:ea typeface="宋体" panose="02010600030101010101" pitchFamily="2" charset="-122"/>
              </a:rPr>
              <a:t>i-1</a:t>
            </a:r>
            <a:r>
              <a:rPr lang="zh-CN" altLang="en-US" sz="2000" b="1" dirty="0">
                <a:ea typeface="宋体" panose="02010600030101010101" pitchFamily="2" charset="-122"/>
              </a:rPr>
              <a:t>}上的正则式。</a:t>
            </a:r>
            <a:endParaRPr lang="zh-CN" altLang="en-US" sz="2000" b="1" dirty="0">
              <a:ea typeface="宋体" panose="02010600030101010101" pitchFamily="2" charset="-122"/>
            </a:endParaRPr>
          </a:p>
          <a:p>
            <a:r>
              <a:rPr lang="zh-CN" altLang="en-US" sz="2400" b="1" dirty="0">
                <a:ea typeface="宋体" panose="02010600030101010101" pitchFamily="2" charset="-122"/>
              </a:rPr>
              <a:t>正则定义与正则文法的产生式是两个不同概念：</a:t>
            </a:r>
            <a:endParaRPr lang="zh-CN" altLang="en-US" sz="2400" b="1" dirty="0">
              <a:ea typeface="宋体" panose="02010600030101010101" pitchFamily="2" charset="-122"/>
            </a:endParaRPr>
          </a:p>
          <a:p>
            <a:pPr marL="457200" lvl="1" indent="0"/>
            <a:r>
              <a:rPr lang="zh-CN" altLang="en-US" sz="2000" b="1" dirty="0">
                <a:ea typeface="宋体" panose="02010600030101010101" pitchFamily="2" charset="-122"/>
              </a:rPr>
              <a:t>正则定义的左端是一个名字，右端是一个正则式</a:t>
            </a:r>
            <a:endParaRPr lang="zh-CN" altLang="en-US" sz="2000" b="1" dirty="0">
              <a:ea typeface="宋体" panose="02010600030101010101" pitchFamily="2" charset="-122"/>
            </a:endParaRPr>
          </a:p>
          <a:p>
            <a:pPr marL="457200" lvl="1" indent="0"/>
            <a:r>
              <a:rPr lang="zh-CN" altLang="en-US" sz="2000" b="1" dirty="0">
                <a:ea typeface="宋体" panose="02010600030101010101" pitchFamily="2" charset="-122"/>
              </a:rPr>
              <a:t>正则文法的产生式左端是文法的一个非终结符，而右端是一个符合特定形式的文法符号串</a:t>
            </a:r>
            <a:endParaRPr lang="zh-CN" altLang="en-US" sz="2000" b="1" dirty="0">
              <a:ea typeface="宋体" panose="02010600030101010101" pitchFamily="2" charset="-122"/>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1026"/>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正则式（8）</a:t>
            </a:r>
            <a:endParaRPr lang="zh-CN" altLang="en-US" dirty="0">
              <a:latin typeface="宋体" panose="02010600030101010101" pitchFamily="2" charset="-122"/>
              <a:ea typeface="宋体" panose="02010600030101010101" pitchFamily="2" charset="-122"/>
            </a:endParaRPr>
          </a:p>
        </p:txBody>
      </p:sp>
      <p:sp>
        <p:nvSpPr>
          <p:cNvPr id="51203" name="Rectangle 1027"/>
          <p:cNvSpPr>
            <a:spLocks noGrp="1"/>
          </p:cNvSpPr>
          <p:nvPr>
            <p:ph idx="1"/>
          </p:nvPr>
        </p:nvSpPr>
        <p:spPr>
          <a:xfrm>
            <a:off x="762000" y="1600200"/>
            <a:ext cx="7772400" cy="4876800"/>
          </a:xfrm>
        </p:spPr>
        <p:txBody>
          <a:bodyPr vert="horz" wrap="square" lIns="92075" tIns="46038" rIns="92075" bIns="46038" anchor="t" anchorCtr="0"/>
          <a:p>
            <a:pPr lvl="2">
              <a:buNone/>
            </a:pPr>
            <a:r>
              <a:rPr lang="zh-CN" altLang="en-US" b="1" dirty="0">
                <a:latin typeface="宋体" panose="02010600030101010101" pitchFamily="2" charset="-122"/>
                <a:ea typeface="宋体" panose="02010600030101010101" pitchFamily="2" charset="-122"/>
              </a:rPr>
              <a:t>例2：</a:t>
            </a:r>
            <a:r>
              <a:rPr lang="en-US" altLang="zh-CN" b="1" dirty="0">
                <a:latin typeface="宋体" panose="02010600030101010101" pitchFamily="2" charset="-122"/>
                <a:ea typeface="宋体" panose="02010600030101010101" pitchFamily="2" charset="-122"/>
              </a:rPr>
              <a:t>C</a:t>
            </a:r>
            <a:r>
              <a:rPr lang="zh-CN" altLang="en-US" b="1" dirty="0">
                <a:latin typeface="宋体" panose="02010600030101010101" pitchFamily="2" charset="-122"/>
                <a:ea typeface="宋体" panose="02010600030101010101" pitchFamily="2" charset="-122"/>
              </a:rPr>
              <a:t>语言的标识符集合是以字母开头的字母数字串集合</a:t>
            </a:r>
            <a:endParaRPr lang="zh-CN" altLang="en-US" b="1" dirty="0">
              <a:latin typeface="宋体" panose="02010600030101010101" pitchFamily="2" charset="-122"/>
              <a:ea typeface="宋体" panose="02010600030101010101" pitchFamily="2" charset="-122"/>
            </a:endParaRPr>
          </a:p>
          <a:p>
            <a:pPr lvl="2">
              <a:buNone/>
            </a:pPr>
            <a:r>
              <a:rPr lang="zh-CN" altLang="en-US" b="1" dirty="0">
                <a:latin typeface="宋体" panose="02010600030101010101" pitchFamily="2" charset="-122"/>
                <a:ea typeface="宋体" panose="02010600030101010101" pitchFamily="2" charset="-122"/>
              </a:rPr>
              <a:t>	</a:t>
            </a:r>
            <a:r>
              <a:rPr lang="en-US" altLang="zh-CN" i="1" dirty="0">
                <a:latin typeface="黑体" panose="02010609060101010101" pitchFamily="49" charset="-122"/>
                <a:ea typeface="黑体" panose="02010609060101010101" pitchFamily="49" charset="-122"/>
              </a:rPr>
              <a:t>letter</a:t>
            </a:r>
            <a:r>
              <a:rPr lang="en-US" altLang="zh-CN" i="1" dirty="0">
                <a:latin typeface="宋体" panose="02010600030101010101" pitchFamily="2" charset="-122"/>
                <a:ea typeface="宋体" panose="02010600030101010101" pitchFamily="2" charset="-122"/>
              </a:rPr>
              <a:t>_</a:t>
            </a:r>
            <a:r>
              <a:rPr lang="en-US" altLang="zh-CN" b="1" dirty="0">
                <a:latin typeface="宋体" panose="02010600030101010101" pitchFamily="2" charset="-122"/>
                <a:ea typeface="宋体" panose="02010600030101010101" pitchFamily="2" charset="-122"/>
              </a:rPr>
              <a:t>→A|B|</a:t>
            </a:r>
            <a:r>
              <a:rPr lang="en-US" altLang="zh-CN" b="1" dirty="0">
                <a:ea typeface="宋体" panose="02010600030101010101" pitchFamily="2" charset="-122"/>
              </a:rPr>
              <a:t>…</a:t>
            </a:r>
            <a:r>
              <a:rPr lang="en-US" altLang="zh-CN" b="1" dirty="0">
                <a:latin typeface="宋体" panose="02010600030101010101" pitchFamily="2" charset="-122"/>
                <a:ea typeface="宋体" panose="02010600030101010101" pitchFamily="2" charset="-122"/>
              </a:rPr>
              <a:t>|Z|a|b|</a:t>
            </a:r>
            <a:r>
              <a:rPr lang="en-US" altLang="zh-CN" b="1" dirty="0">
                <a:ea typeface="宋体" panose="02010600030101010101" pitchFamily="2" charset="-122"/>
              </a:rPr>
              <a:t>…</a:t>
            </a:r>
            <a:r>
              <a:rPr lang="en-US" altLang="zh-CN" b="1" dirty="0">
                <a:latin typeface="宋体" panose="02010600030101010101" pitchFamily="2" charset="-122"/>
                <a:ea typeface="宋体" panose="02010600030101010101" pitchFamily="2" charset="-122"/>
              </a:rPr>
              <a:t>|z|_</a:t>
            </a:r>
            <a:endParaRPr lang="en-US" altLang="zh-CN" b="1" dirty="0">
              <a:latin typeface="宋体" panose="02010600030101010101" pitchFamily="2" charset="-122"/>
              <a:ea typeface="宋体" panose="02010600030101010101" pitchFamily="2" charset="-122"/>
            </a:endParaRPr>
          </a:p>
          <a:p>
            <a:pPr lvl="2">
              <a:buNone/>
            </a:pPr>
            <a:r>
              <a:rPr lang="en-US" altLang="zh-CN" b="1" dirty="0">
                <a:latin typeface="宋体" panose="02010600030101010101" pitchFamily="2" charset="-122"/>
                <a:ea typeface="宋体" panose="02010600030101010101" pitchFamily="2" charset="-122"/>
              </a:rPr>
              <a:t>	</a:t>
            </a:r>
            <a:r>
              <a:rPr lang="en-US" altLang="zh-CN" i="1" dirty="0">
                <a:latin typeface="黑体" panose="02010609060101010101" pitchFamily="49" charset="-122"/>
                <a:ea typeface="黑体" panose="02010609060101010101" pitchFamily="49" charset="-122"/>
              </a:rPr>
              <a:t>digit</a:t>
            </a:r>
            <a:r>
              <a:rPr lang="en-US" altLang="zh-CN" b="1" dirty="0">
                <a:latin typeface="宋体" panose="02010600030101010101" pitchFamily="2" charset="-122"/>
                <a:ea typeface="宋体" panose="02010600030101010101" pitchFamily="2" charset="-122"/>
              </a:rPr>
              <a:t>→0|1|</a:t>
            </a:r>
            <a:r>
              <a:rPr lang="en-US" altLang="zh-CN" b="1" dirty="0">
                <a:ea typeface="宋体" panose="02010600030101010101" pitchFamily="2" charset="-122"/>
              </a:rPr>
              <a:t>…</a:t>
            </a:r>
            <a:r>
              <a:rPr lang="en-US" altLang="zh-CN" b="1" dirty="0">
                <a:latin typeface="宋体" panose="02010600030101010101" pitchFamily="2" charset="-122"/>
                <a:ea typeface="宋体" panose="02010600030101010101" pitchFamily="2" charset="-122"/>
              </a:rPr>
              <a:t>|9</a:t>
            </a:r>
            <a:endParaRPr lang="en-US" altLang="zh-CN" b="1" dirty="0">
              <a:latin typeface="宋体" panose="02010600030101010101" pitchFamily="2" charset="-122"/>
              <a:ea typeface="宋体" panose="02010600030101010101" pitchFamily="2" charset="-122"/>
            </a:endParaRPr>
          </a:p>
          <a:p>
            <a:pPr lvl="2">
              <a:buNone/>
            </a:pPr>
            <a:r>
              <a:rPr lang="en-US" altLang="zh-CN" b="1" dirty="0">
                <a:latin typeface="宋体" panose="02010600030101010101" pitchFamily="2" charset="-122"/>
                <a:ea typeface="宋体" panose="02010600030101010101" pitchFamily="2" charset="-122"/>
              </a:rPr>
              <a:t>	</a:t>
            </a:r>
            <a:r>
              <a:rPr lang="en-US" altLang="zh-CN" i="1" dirty="0">
                <a:latin typeface="黑体" panose="02010609060101010101" pitchFamily="49" charset="-122"/>
                <a:ea typeface="黑体" panose="02010609060101010101" pitchFamily="49" charset="-122"/>
              </a:rPr>
              <a:t>id</a:t>
            </a:r>
            <a:r>
              <a:rPr lang="en-US" altLang="zh-CN" b="1" dirty="0">
                <a:latin typeface="宋体" panose="02010600030101010101" pitchFamily="2" charset="-122"/>
                <a:ea typeface="宋体" panose="02010600030101010101" pitchFamily="2" charset="-122"/>
              </a:rPr>
              <a:t>→</a:t>
            </a:r>
            <a:r>
              <a:rPr lang="en-US" altLang="zh-CN" i="1" dirty="0">
                <a:latin typeface="黑体" panose="02010609060101010101" pitchFamily="49" charset="-122"/>
                <a:ea typeface="黑体" panose="02010609060101010101" pitchFamily="49" charset="-122"/>
              </a:rPr>
              <a:t>letter_</a:t>
            </a:r>
            <a:r>
              <a:rPr lang="en-US" altLang="zh-CN" b="1" dirty="0">
                <a:latin typeface="宋体" panose="02010600030101010101" pitchFamily="2" charset="-122"/>
                <a:ea typeface="宋体" panose="02010600030101010101" pitchFamily="2" charset="-122"/>
              </a:rPr>
              <a:t>(</a:t>
            </a:r>
            <a:r>
              <a:rPr lang="en-US" altLang="zh-CN" i="1" dirty="0">
                <a:latin typeface="黑体" panose="02010609060101010101" pitchFamily="49" charset="-122"/>
                <a:ea typeface="黑体" panose="02010609060101010101" pitchFamily="49" charset="-122"/>
              </a:rPr>
              <a:t>letter_</a:t>
            </a:r>
            <a:r>
              <a:rPr lang="en-US" altLang="zh-CN" b="1" dirty="0">
                <a:latin typeface="宋体" panose="02010600030101010101" pitchFamily="2" charset="-122"/>
                <a:ea typeface="宋体" panose="02010600030101010101" pitchFamily="2" charset="-122"/>
              </a:rPr>
              <a:t>|</a:t>
            </a:r>
            <a:r>
              <a:rPr lang="en-US" altLang="zh-CN" i="1" dirty="0">
                <a:latin typeface="黑体" panose="02010609060101010101" pitchFamily="49" charset="-122"/>
                <a:ea typeface="黑体" panose="02010609060101010101" pitchFamily="49" charset="-122"/>
              </a:rPr>
              <a:t>digit</a:t>
            </a:r>
            <a:r>
              <a:rPr lang="en-US" altLang="zh-CN" b="1" dirty="0">
                <a:latin typeface="宋体" panose="02010600030101010101" pitchFamily="2" charset="-122"/>
                <a:ea typeface="宋体" panose="02010600030101010101" pitchFamily="2" charset="-122"/>
              </a:rPr>
              <a:t>)</a:t>
            </a:r>
            <a:r>
              <a:rPr lang="en-US" altLang="zh-CN" sz="2400" b="1" baseline="30000" dirty="0">
                <a:ea typeface="宋体" panose="02010600030101010101" pitchFamily="2" charset="-122"/>
              </a:rPr>
              <a:t>*</a:t>
            </a:r>
            <a:endParaRPr lang="en-US" altLang="zh-CN" b="1" baseline="30000"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正则式（9）</a:t>
            </a:r>
            <a:endParaRPr lang="zh-CN" altLang="en-US" dirty="0">
              <a:latin typeface="宋体" panose="02010600030101010101" pitchFamily="2" charset="-122"/>
              <a:ea typeface="宋体" panose="02010600030101010101" pitchFamily="2" charset="-122"/>
            </a:endParaRPr>
          </a:p>
        </p:txBody>
      </p:sp>
      <p:sp>
        <p:nvSpPr>
          <p:cNvPr id="53251" name="Rectangle 3"/>
          <p:cNvSpPr>
            <a:spLocks noGrp="1"/>
          </p:cNvSpPr>
          <p:nvPr>
            <p:ph idx="1"/>
          </p:nvPr>
        </p:nvSpPr>
        <p:spPr>
          <a:xfrm>
            <a:off x="914400" y="1600200"/>
            <a:ext cx="7467600" cy="4419600"/>
          </a:xfrm>
        </p:spPr>
        <p:txBody>
          <a:bodyPr vert="horz" wrap="square" lIns="92075" tIns="46038" rIns="92075" bIns="46038" anchor="t" anchorCtr="0"/>
          <a:p>
            <a:pP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例3：</a:t>
            </a:r>
            <a:r>
              <a:rPr lang="en-US" altLang="zh-CN" sz="2200" b="1" dirty="0">
                <a:latin typeface="宋体" panose="02010600030101010101" pitchFamily="2" charset="-122"/>
                <a:ea typeface="宋体" panose="02010600030101010101" pitchFamily="2" charset="-122"/>
              </a:rPr>
              <a:t>Pascal</a:t>
            </a:r>
            <a:r>
              <a:rPr lang="zh-CN" altLang="en-US" sz="2200" b="1" dirty="0">
                <a:latin typeface="宋体" panose="02010600030101010101" pitchFamily="2" charset="-122"/>
                <a:ea typeface="宋体" panose="02010600030101010101" pitchFamily="2" charset="-122"/>
              </a:rPr>
              <a:t>语言中的无符号数的定义</a:t>
            </a:r>
            <a:endParaRPr lang="zh-CN" altLang="en-US" sz="2200" b="1" dirty="0">
              <a:latin typeface="宋体" panose="02010600030101010101" pitchFamily="2" charset="-122"/>
              <a:ea typeface="宋体" panose="02010600030101010101" pitchFamily="2" charset="-122"/>
            </a:endParaRPr>
          </a:p>
          <a:p>
            <a:pP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digit</a:t>
            </a:r>
            <a:r>
              <a:rPr lang="en-US" altLang="zh-CN" sz="2200" b="1" dirty="0">
                <a:latin typeface="黑体" panose="02010609060101010101" pitchFamily="49" charset="-122"/>
                <a:ea typeface="黑体" panose="02010609060101010101" pitchFamily="49" charset="-122"/>
              </a:rPr>
              <a:t> </a:t>
            </a:r>
            <a:r>
              <a:rPr lang="en-US" altLang="zh-CN" sz="2200" b="1" dirty="0">
                <a:latin typeface="宋体" panose="02010600030101010101" pitchFamily="2" charset="-122"/>
                <a:ea typeface="宋体" panose="02010600030101010101" pitchFamily="2" charset="-122"/>
              </a:rPr>
              <a:t>→0|1|</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|9</a:t>
            </a:r>
            <a:endParaRPr lang="en-US" altLang="zh-CN" sz="2200" b="1" dirty="0">
              <a:latin typeface="宋体" panose="02010600030101010101" pitchFamily="2" charset="-122"/>
              <a:ea typeface="宋体" panose="02010600030101010101" pitchFamily="2" charset="-122"/>
            </a:endParaRPr>
          </a:p>
          <a:p>
            <a:pP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digits</a:t>
            </a:r>
            <a:r>
              <a:rPr lang="en-US" altLang="zh-CN" sz="2200" b="1" dirty="0">
                <a:latin typeface="黑体" panose="02010609060101010101" pitchFamily="49" charset="-122"/>
                <a:ea typeface="黑体" panose="02010609060101010101" pitchFamily="49" charset="-122"/>
              </a:rPr>
              <a:t> </a:t>
            </a:r>
            <a:r>
              <a:rPr lang="en-US" altLang="zh-CN" sz="2200" b="1" dirty="0">
                <a:latin typeface="宋体" panose="02010600030101010101" pitchFamily="2" charset="-122"/>
                <a:ea typeface="宋体" panose="02010600030101010101" pitchFamily="2" charset="-122"/>
              </a:rPr>
              <a:t>→</a:t>
            </a:r>
            <a:r>
              <a:rPr lang="en-US" altLang="zh-CN" sz="2200" i="1" dirty="0">
                <a:latin typeface="黑体" panose="02010609060101010101" pitchFamily="49" charset="-122"/>
                <a:ea typeface="黑体" panose="02010609060101010101" pitchFamily="49" charset="-122"/>
              </a:rPr>
              <a:t>digit digit</a:t>
            </a:r>
            <a:r>
              <a:rPr lang="en-US" altLang="zh-CN" sz="2200" b="1" baseline="30000" dirty="0">
                <a:latin typeface="宋体" panose="02010600030101010101" pitchFamily="2" charset="-122"/>
                <a:ea typeface="宋体" panose="02010600030101010101" pitchFamily="2" charset="-122"/>
              </a:rPr>
              <a:t>*</a:t>
            </a:r>
            <a:endParaRPr lang="en-US" altLang="zh-CN" sz="2200" b="1" baseline="30000" dirty="0">
              <a:latin typeface="宋体" panose="02010600030101010101" pitchFamily="2" charset="-122"/>
              <a:ea typeface="宋体" panose="02010600030101010101" pitchFamily="2" charset="-122"/>
            </a:endParaRPr>
          </a:p>
          <a:p>
            <a:pPr>
              <a:buFont typeface="Wingdings" panose="05000000000000000000" pitchFamily="2" charset="2"/>
              <a:buNone/>
            </a:pPr>
            <a:r>
              <a:rPr lang="en-US" altLang="zh-CN" sz="2200" b="1" baseline="30000"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optional_fraction </a:t>
            </a:r>
            <a:r>
              <a:rPr lang="en-US" altLang="zh-CN" sz="2200" b="1" dirty="0">
                <a:latin typeface="宋体" panose="02010600030101010101" pitchFamily="2" charset="-122"/>
                <a:ea typeface="宋体" panose="02010600030101010101" pitchFamily="2" charset="-122"/>
              </a:rPr>
              <a:t>→.</a:t>
            </a:r>
            <a:r>
              <a:rPr lang="en-US" altLang="zh-CN" sz="2200" i="1" dirty="0">
                <a:latin typeface="黑体" panose="02010609060101010101" pitchFamily="49" charset="-122"/>
                <a:ea typeface="黑体" panose="02010609060101010101" pitchFamily="49" charset="-122"/>
              </a:rPr>
              <a:t>digits</a:t>
            </a:r>
            <a:r>
              <a:rPr lang="en-US" altLang="zh-CN" sz="2200" b="1" dirty="0">
                <a:latin typeface="宋体" panose="02010600030101010101" pitchFamily="2" charset="-122"/>
                <a:ea typeface="宋体" panose="02010600030101010101" pitchFamily="2" charset="-122"/>
              </a:rPr>
              <a:t>|</a:t>
            </a:r>
            <a:r>
              <a:rPr lang="en-US" altLang="zh-CN" sz="2200" i="1" dirty="0">
                <a:latin typeface="黑体" panose="02010609060101010101" pitchFamily="49" charset="-122"/>
                <a:ea typeface="黑体" panose="02010609060101010101" pitchFamily="49" charset="-122"/>
              </a:rPr>
              <a:t>ε</a:t>
            </a:r>
            <a:endParaRPr lang="en-US" altLang="zh-CN" sz="2200" i="1" dirty="0">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200" b="1" baseline="30000"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optional_exponent </a:t>
            </a:r>
            <a:r>
              <a:rPr lang="en-US" altLang="zh-CN" sz="2200" b="1" dirty="0">
                <a:latin typeface="宋体" panose="02010600030101010101" pitchFamily="2" charset="-122"/>
                <a:ea typeface="宋体" panose="02010600030101010101" pitchFamily="2" charset="-122"/>
              </a:rPr>
              <a:t>→(E(+|-|</a:t>
            </a:r>
            <a:r>
              <a:rPr lang="en-US" altLang="zh-CN" sz="2200" i="1" dirty="0">
                <a:latin typeface="黑体" panose="02010609060101010101" pitchFamily="49" charset="-122"/>
                <a:ea typeface="黑体" panose="02010609060101010101" pitchFamily="49" charset="-122"/>
              </a:rPr>
              <a:t>ε</a:t>
            </a:r>
            <a:r>
              <a:rPr lang="en-US" altLang="zh-CN" sz="2200" b="1" dirty="0">
                <a:latin typeface="宋体" panose="02010600030101010101" pitchFamily="2" charset="-122"/>
                <a:ea typeface="宋体" panose="02010600030101010101" pitchFamily="2" charset="-122"/>
              </a:rPr>
              <a:t>)</a:t>
            </a:r>
            <a:r>
              <a:rPr lang="en-US" altLang="zh-CN" sz="2200" i="1" dirty="0">
                <a:latin typeface="黑体" panose="02010609060101010101" pitchFamily="49" charset="-122"/>
                <a:ea typeface="黑体" panose="02010609060101010101" pitchFamily="49" charset="-122"/>
              </a:rPr>
              <a:t>digits</a:t>
            </a:r>
            <a:r>
              <a:rPr lang="en-US" altLang="zh-CN" sz="2200" b="1" dirty="0">
                <a:latin typeface="宋体" panose="02010600030101010101" pitchFamily="2" charset="-122"/>
                <a:ea typeface="宋体" panose="02010600030101010101" pitchFamily="2" charset="-122"/>
              </a:rPr>
              <a:t>)|</a:t>
            </a:r>
            <a:r>
              <a:rPr lang="en-US" altLang="zh-CN" sz="2200" i="1" dirty="0">
                <a:latin typeface="黑体" panose="02010609060101010101" pitchFamily="49" charset="-122"/>
                <a:ea typeface="黑体" panose="02010609060101010101" pitchFamily="49" charset="-122"/>
              </a:rPr>
              <a:t>ε</a:t>
            </a:r>
            <a:endParaRPr lang="en-US" altLang="zh-CN" sz="2200" i="1" dirty="0">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200" b="1" baseline="30000"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num</a:t>
            </a:r>
            <a:r>
              <a:rPr lang="en-US" altLang="zh-CN" sz="2200" b="1"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digits optional_fraction optional_exponent</a:t>
            </a:r>
            <a:endParaRPr lang="en-US" altLang="zh-CN" sz="2200" i="1" dirty="0">
              <a:latin typeface="黑体" panose="02010609060101010101" pitchFamily="49" charset="-122"/>
              <a:ea typeface="黑体" panose="02010609060101010101" pitchFamily="49" charset="-122"/>
            </a:endParaRPr>
          </a:p>
          <a:p>
            <a:pPr>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endParaRPr>
          </a:p>
          <a:p>
            <a:pPr>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在上例中，可以合法的表示5280、29.235、6.23</a:t>
            </a:r>
            <a:r>
              <a:rPr lang="en-US" altLang="zh-CN" sz="2200" b="1" dirty="0">
                <a:latin typeface="宋体" panose="02010600030101010101" pitchFamily="2" charset="-122"/>
                <a:ea typeface="宋体" panose="02010600030101010101" pitchFamily="2" charset="-122"/>
              </a:rPr>
              <a:t>E4、12.234E-12、1.0</a:t>
            </a:r>
            <a:endParaRPr lang="en-US" altLang="zh-CN" sz="2200" b="1" dirty="0">
              <a:latin typeface="宋体" panose="02010600030101010101" pitchFamily="2" charset="-122"/>
              <a:ea typeface="宋体" panose="02010600030101010101" pitchFamily="2" charset="-122"/>
            </a:endParaRPr>
          </a:p>
          <a:p>
            <a:pPr>
              <a:buFont typeface="Wingdings" panose="05000000000000000000" pitchFamily="2" charset="2"/>
              <a:buNone/>
            </a:pPr>
            <a:r>
              <a:rPr lang="en-US" altLang="zh-CN" sz="2200" b="1"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但不能合法表示1.</a:t>
            </a:r>
            <a:endParaRPr lang="zh-CN" altLang="en-US" sz="22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3074"/>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正则式（10）</a:t>
            </a:r>
            <a:endParaRPr lang="zh-CN" altLang="en-US" dirty="0">
              <a:latin typeface="宋体" panose="02010600030101010101" pitchFamily="2" charset="-122"/>
              <a:ea typeface="宋体" panose="02010600030101010101" pitchFamily="2" charset="-122"/>
            </a:endParaRPr>
          </a:p>
        </p:txBody>
      </p:sp>
      <p:sp>
        <p:nvSpPr>
          <p:cNvPr id="55299" name="Rectangle 3075"/>
          <p:cNvSpPr>
            <a:spLocks noGrp="1"/>
          </p:cNvSpPr>
          <p:nvPr>
            <p:ph idx="1"/>
          </p:nvPr>
        </p:nvSpPr>
        <p:spPr>
          <a:xfrm>
            <a:off x="990600" y="1600200"/>
            <a:ext cx="7391400" cy="4343400"/>
          </a:xfrm>
        </p:spPr>
        <p:txBody>
          <a:bodyPr vert="horz" wrap="square" lIns="92075" tIns="46038" rIns="92075" bIns="46038" anchor="t" anchorCtr="0"/>
          <a:p>
            <a:pPr lvl="1"/>
            <a:r>
              <a:rPr lang="zh-CN" altLang="en-US" sz="2000" b="1" dirty="0">
                <a:ea typeface="宋体" panose="02010600030101010101" pitchFamily="2" charset="-122"/>
              </a:rPr>
              <a:t>表示的缩写：某些频繁出现的结构可以简便表示</a:t>
            </a:r>
            <a:endParaRPr lang="zh-CN" altLang="en-US" sz="2000" b="1" dirty="0">
              <a:ea typeface="宋体" panose="02010600030101010101" pitchFamily="2" charset="-122"/>
            </a:endParaRPr>
          </a:p>
          <a:p>
            <a:pPr lvl="2"/>
            <a:r>
              <a:rPr lang="zh-CN" altLang="en-US" b="1" dirty="0">
                <a:ea typeface="宋体" panose="02010600030101010101" pitchFamily="2" charset="-122"/>
              </a:rPr>
              <a:t>一个或多个实例：一元后缀算符+</a:t>
            </a:r>
            <a:endParaRPr lang="zh-CN" altLang="en-US" b="1" dirty="0">
              <a:ea typeface="宋体" panose="02010600030101010101" pitchFamily="2" charset="-122"/>
            </a:endParaRPr>
          </a:p>
          <a:p>
            <a:pPr lvl="3"/>
            <a:r>
              <a:rPr lang="zh-CN" altLang="en-US" b="1" dirty="0">
                <a:ea typeface="宋体" panose="02010600030101010101" pitchFamily="2" charset="-122"/>
              </a:rPr>
              <a:t>如果</a:t>
            </a:r>
            <a:r>
              <a:rPr lang="en-US" altLang="zh-CN" b="1" dirty="0">
                <a:ea typeface="宋体" panose="02010600030101010101" pitchFamily="2" charset="-122"/>
              </a:rPr>
              <a:t>r</a:t>
            </a:r>
            <a:r>
              <a:rPr lang="zh-CN" altLang="en-US" b="1" dirty="0">
                <a:ea typeface="宋体" panose="02010600030101010101" pitchFamily="2" charset="-122"/>
              </a:rPr>
              <a:t>是表示语言</a:t>
            </a:r>
            <a:r>
              <a:rPr lang="en-US" altLang="zh-CN" b="1" dirty="0">
                <a:ea typeface="宋体" panose="02010600030101010101" pitchFamily="2" charset="-122"/>
              </a:rPr>
              <a:t>L(r)</a:t>
            </a:r>
            <a:r>
              <a:rPr lang="zh-CN" altLang="en-US" b="1" dirty="0">
                <a:ea typeface="宋体" panose="02010600030101010101" pitchFamily="2" charset="-122"/>
              </a:rPr>
              <a:t>的正则式，则是</a:t>
            </a:r>
            <a:r>
              <a:rPr lang="en-US" altLang="zh-CN" b="1" dirty="0">
                <a:ea typeface="宋体" panose="02010600030101010101" pitchFamily="2" charset="-122"/>
              </a:rPr>
              <a:t>r</a:t>
            </a:r>
            <a:r>
              <a:rPr lang="en-US" altLang="zh-CN" b="1" baseline="30000" dirty="0">
                <a:ea typeface="宋体" panose="02010600030101010101" pitchFamily="2" charset="-122"/>
              </a:rPr>
              <a:t>+</a:t>
            </a:r>
            <a:r>
              <a:rPr lang="zh-CN" altLang="en-US" b="1" dirty="0">
                <a:ea typeface="宋体" panose="02010600030101010101" pitchFamily="2" charset="-122"/>
              </a:rPr>
              <a:t>表示语言(</a:t>
            </a:r>
            <a:r>
              <a:rPr lang="en-US" altLang="zh-CN" b="1" dirty="0">
                <a:ea typeface="宋体" panose="02010600030101010101" pitchFamily="2" charset="-122"/>
              </a:rPr>
              <a:t>L(r))</a:t>
            </a:r>
            <a:r>
              <a:rPr lang="en-US" altLang="zh-CN" b="1" baseline="30000" dirty="0">
                <a:ea typeface="宋体" panose="02010600030101010101" pitchFamily="2" charset="-122"/>
              </a:rPr>
              <a:t> +</a:t>
            </a:r>
            <a:r>
              <a:rPr lang="zh-CN" altLang="en-US" b="1" dirty="0">
                <a:ea typeface="宋体" panose="02010600030101010101" pitchFamily="2" charset="-122"/>
              </a:rPr>
              <a:t>的正则式</a:t>
            </a:r>
            <a:endParaRPr lang="zh-CN" altLang="en-US" b="1" dirty="0">
              <a:ea typeface="宋体" panose="02010600030101010101" pitchFamily="2" charset="-122"/>
            </a:endParaRPr>
          </a:p>
          <a:p>
            <a:pPr lvl="3"/>
            <a:r>
              <a:rPr lang="zh-CN" altLang="en-US" b="1" dirty="0">
                <a:ea typeface="宋体" panose="02010600030101010101" pitchFamily="2" charset="-122"/>
              </a:rPr>
              <a:t>(0|1)</a:t>
            </a:r>
            <a:r>
              <a:rPr lang="en-US" altLang="zh-CN" b="1" baseline="30000" dirty="0">
                <a:ea typeface="宋体" panose="02010600030101010101" pitchFamily="2" charset="-122"/>
              </a:rPr>
              <a:t> +</a:t>
            </a:r>
            <a:r>
              <a:rPr lang="zh-CN" altLang="en-US" b="1" dirty="0">
                <a:ea typeface="宋体" panose="02010600030101010101" pitchFamily="2" charset="-122"/>
              </a:rPr>
              <a:t>是二进制数的正则式</a:t>
            </a:r>
            <a:endParaRPr lang="zh-CN" altLang="en-US" b="1" dirty="0">
              <a:ea typeface="宋体" panose="02010600030101010101" pitchFamily="2" charset="-122"/>
            </a:endParaRPr>
          </a:p>
          <a:p>
            <a:pPr lvl="3"/>
            <a:r>
              <a:rPr lang="zh-CN" altLang="en-US" b="1" dirty="0">
                <a:ea typeface="宋体" panose="02010600030101010101" pitchFamily="2" charset="-122"/>
              </a:rPr>
              <a:t>+和*有同样的优先级和结合性</a:t>
            </a:r>
            <a:endParaRPr lang="zh-CN" altLang="en-US" b="1" dirty="0">
              <a:ea typeface="宋体" panose="02010600030101010101" pitchFamily="2" charset="-122"/>
            </a:endParaRPr>
          </a:p>
          <a:p>
            <a:pPr lvl="3"/>
            <a:r>
              <a:rPr lang="en-US" altLang="zh-CN" b="1" dirty="0">
                <a:ea typeface="宋体" panose="02010600030101010101" pitchFamily="2" charset="-122"/>
              </a:rPr>
              <a:t>r</a:t>
            </a:r>
            <a:r>
              <a:rPr lang="en-US" altLang="zh-CN" b="1" baseline="30000" dirty="0">
                <a:ea typeface="宋体" panose="02010600030101010101" pitchFamily="2" charset="-122"/>
              </a:rPr>
              <a:t>*</a:t>
            </a:r>
            <a:r>
              <a:rPr lang="en-US" altLang="zh-CN" b="1" dirty="0">
                <a:ea typeface="宋体" panose="02010600030101010101" pitchFamily="2" charset="-122"/>
              </a:rPr>
              <a:t>=r</a:t>
            </a:r>
            <a:r>
              <a:rPr lang="en-US" altLang="zh-CN" b="1" baseline="30000" dirty="0">
                <a:ea typeface="宋体" panose="02010600030101010101" pitchFamily="2" charset="-122"/>
              </a:rPr>
              <a:t>+</a:t>
            </a:r>
            <a:r>
              <a:rPr lang="en-US" altLang="zh-CN" b="1" dirty="0">
                <a:ea typeface="宋体" panose="02010600030101010101" pitchFamily="2" charset="-122"/>
              </a:rPr>
              <a:t>|ε， r</a:t>
            </a:r>
            <a:r>
              <a:rPr lang="en-US" altLang="zh-CN" b="1" baseline="30000" dirty="0">
                <a:ea typeface="宋体" panose="02010600030101010101" pitchFamily="2" charset="-122"/>
              </a:rPr>
              <a:t>+</a:t>
            </a:r>
            <a:r>
              <a:rPr lang="en-US" altLang="zh-CN" b="1" dirty="0">
                <a:ea typeface="宋体" panose="02010600030101010101" pitchFamily="2" charset="-122"/>
              </a:rPr>
              <a:t>=rr</a:t>
            </a:r>
            <a:r>
              <a:rPr lang="en-US" altLang="zh-CN" b="1" baseline="30000" dirty="0">
                <a:ea typeface="宋体" panose="02010600030101010101" pitchFamily="2" charset="-122"/>
              </a:rPr>
              <a:t>*</a:t>
            </a:r>
            <a:endParaRPr lang="en-US" altLang="zh-CN" b="1" dirty="0">
              <a:ea typeface="宋体" panose="02010600030101010101" pitchFamily="2" charset="-122"/>
            </a:endParaRPr>
          </a:p>
          <a:p>
            <a:pPr lvl="2"/>
            <a:r>
              <a:rPr lang="zh-CN" altLang="en-US" b="1" dirty="0">
                <a:ea typeface="宋体" panose="02010600030101010101" pitchFamily="2" charset="-122"/>
              </a:rPr>
              <a:t>零个或一个实例：一元后缀算符？</a:t>
            </a:r>
            <a:endParaRPr lang="zh-CN" altLang="en-US" b="1" dirty="0">
              <a:ea typeface="宋体" panose="02010600030101010101" pitchFamily="2" charset="-122"/>
            </a:endParaRPr>
          </a:p>
          <a:p>
            <a:pPr lvl="3"/>
            <a:r>
              <a:rPr lang="en-US" altLang="zh-CN" b="1" dirty="0">
                <a:ea typeface="宋体" panose="02010600030101010101" pitchFamily="2" charset="-122"/>
              </a:rPr>
              <a:t>r</a:t>
            </a:r>
            <a:r>
              <a:rPr lang="zh-CN" altLang="en-US" b="1" dirty="0">
                <a:ea typeface="宋体" panose="02010600030101010101" pitchFamily="2" charset="-122"/>
              </a:rPr>
              <a:t>?是</a:t>
            </a:r>
            <a:r>
              <a:rPr lang="en-US" altLang="zh-CN" b="1" dirty="0">
                <a:ea typeface="宋体" panose="02010600030101010101" pitchFamily="2" charset="-122"/>
              </a:rPr>
              <a:t>r</a:t>
            </a:r>
            <a:r>
              <a:rPr lang="zh-CN" altLang="en-US" b="1" dirty="0">
                <a:ea typeface="宋体" panose="02010600030101010101" pitchFamily="2" charset="-122"/>
              </a:rPr>
              <a:t>|</a:t>
            </a:r>
            <a:r>
              <a:rPr lang="en-US" altLang="zh-CN" b="1" dirty="0">
                <a:ea typeface="宋体" panose="02010600030101010101" pitchFamily="2" charset="-122"/>
              </a:rPr>
              <a:t>ε</a:t>
            </a:r>
            <a:r>
              <a:rPr lang="zh-CN" altLang="en-US" b="1" dirty="0">
                <a:ea typeface="宋体" panose="02010600030101010101" pitchFamily="2" charset="-122"/>
              </a:rPr>
              <a:t>的缩写</a:t>
            </a:r>
            <a:endParaRPr lang="zh-CN" altLang="en-US" b="1" dirty="0">
              <a:ea typeface="宋体" panose="02010600030101010101" pitchFamily="2" charset="-122"/>
            </a:endParaRPr>
          </a:p>
          <a:p>
            <a:pPr lvl="3"/>
            <a:r>
              <a:rPr lang="zh-CN" altLang="en-US" b="1" dirty="0">
                <a:ea typeface="宋体" panose="02010600030101010101" pitchFamily="2" charset="-122"/>
              </a:rPr>
              <a:t>对于正则式</a:t>
            </a:r>
            <a:r>
              <a:rPr lang="en-US" altLang="zh-CN" b="1" dirty="0">
                <a:ea typeface="宋体" panose="02010600030101010101" pitchFamily="2" charset="-122"/>
              </a:rPr>
              <a:t>r</a:t>
            </a:r>
            <a:r>
              <a:rPr lang="zh-CN" altLang="en-US" b="1" dirty="0">
                <a:ea typeface="宋体" panose="02010600030101010101" pitchFamily="2" charset="-122"/>
              </a:rPr>
              <a:t>，</a:t>
            </a:r>
            <a:r>
              <a:rPr lang="en-US" altLang="zh-CN" b="1" dirty="0">
                <a:ea typeface="宋体" panose="02010600030101010101" pitchFamily="2" charset="-122"/>
              </a:rPr>
              <a:t>r</a:t>
            </a:r>
            <a:r>
              <a:rPr lang="zh-CN" altLang="en-US" b="1" dirty="0">
                <a:ea typeface="宋体" panose="02010600030101010101" pitchFamily="2" charset="-122"/>
              </a:rPr>
              <a:t>?表示语言</a:t>
            </a:r>
            <a:r>
              <a:rPr lang="en-US" altLang="zh-CN" b="1" dirty="0">
                <a:ea typeface="宋体" panose="02010600030101010101" pitchFamily="2" charset="-122"/>
              </a:rPr>
              <a:t>L(r)</a:t>
            </a:r>
            <a:r>
              <a:rPr lang="zh-CN" altLang="en-US" b="1" dirty="0">
                <a:ea typeface="宋体" panose="02010600030101010101" pitchFamily="2" charset="-122"/>
              </a:rPr>
              <a:t>|{</a:t>
            </a:r>
            <a:r>
              <a:rPr lang="en-US" altLang="zh-CN" b="1" dirty="0">
                <a:ea typeface="宋体" panose="02010600030101010101" pitchFamily="2" charset="-122"/>
              </a:rPr>
              <a:t>ε}</a:t>
            </a:r>
            <a:endParaRPr lang="zh-CN" altLang="en-US" b="1" dirty="0">
              <a:ea typeface="宋体" panose="02010600030101010101" pitchFamily="2" charset="-122"/>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正则式（11）</a:t>
            </a:r>
            <a:endParaRPr lang="zh-CN" altLang="en-US" dirty="0">
              <a:latin typeface="宋体" panose="02010600030101010101" pitchFamily="2" charset="-122"/>
              <a:ea typeface="宋体" panose="02010600030101010101" pitchFamily="2" charset="-122"/>
            </a:endParaRPr>
          </a:p>
        </p:txBody>
      </p:sp>
      <p:sp>
        <p:nvSpPr>
          <p:cNvPr id="57347" name="Rectangle 3"/>
          <p:cNvSpPr>
            <a:spLocks noGrp="1"/>
          </p:cNvSpPr>
          <p:nvPr>
            <p:ph idx="1"/>
          </p:nvPr>
        </p:nvSpPr>
        <p:spPr>
          <a:xfrm>
            <a:off x="990600" y="1600200"/>
            <a:ext cx="7391400" cy="4343400"/>
          </a:xfrm>
        </p:spPr>
        <p:txBody>
          <a:bodyPr vert="horz" wrap="square" lIns="92075" tIns="46038" rIns="92075" bIns="46038" anchor="t" anchorCtr="0"/>
          <a:p>
            <a:pP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用+和？重写例3</a:t>
            </a:r>
            <a:endParaRPr lang="zh-CN" altLang="en-US" sz="2200" b="1" dirty="0">
              <a:latin typeface="宋体" panose="02010600030101010101" pitchFamily="2" charset="-122"/>
              <a:ea typeface="宋体" panose="02010600030101010101" pitchFamily="2" charset="-122"/>
            </a:endParaRPr>
          </a:p>
          <a:p>
            <a:pP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digit</a:t>
            </a:r>
            <a:r>
              <a:rPr lang="en-US" altLang="zh-CN" sz="2200" b="1" dirty="0">
                <a:latin typeface="黑体" panose="02010609060101010101" pitchFamily="49" charset="-122"/>
                <a:ea typeface="黑体" panose="02010609060101010101" pitchFamily="49" charset="-122"/>
              </a:rPr>
              <a:t> </a:t>
            </a:r>
            <a:r>
              <a:rPr lang="en-US" altLang="zh-CN" sz="2200" b="1" dirty="0">
                <a:latin typeface="宋体" panose="02010600030101010101" pitchFamily="2" charset="-122"/>
                <a:ea typeface="宋体" panose="02010600030101010101" pitchFamily="2" charset="-122"/>
              </a:rPr>
              <a:t>→ 0|1|</a:t>
            </a:r>
            <a:r>
              <a:rPr lang="en-US" altLang="zh-CN" sz="2200" b="1" dirty="0">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|9</a:t>
            </a:r>
            <a:endParaRPr lang="en-US" altLang="zh-CN" sz="2200" b="1" dirty="0">
              <a:latin typeface="宋体" panose="02010600030101010101" pitchFamily="2" charset="-122"/>
              <a:ea typeface="宋体" panose="02010600030101010101" pitchFamily="2" charset="-122"/>
            </a:endParaRPr>
          </a:p>
          <a:p>
            <a:pP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digits</a:t>
            </a:r>
            <a:r>
              <a:rPr lang="en-US" altLang="zh-CN" sz="2200" b="1" dirty="0">
                <a:latin typeface="黑体" panose="02010609060101010101" pitchFamily="49" charset="-122"/>
                <a:ea typeface="黑体" panose="02010609060101010101" pitchFamily="49" charset="-122"/>
              </a:rPr>
              <a:t> </a:t>
            </a:r>
            <a:r>
              <a:rPr lang="en-US" altLang="zh-CN" sz="2200" b="1" dirty="0">
                <a:latin typeface="宋体" panose="02010600030101010101" pitchFamily="2" charset="-122"/>
                <a:ea typeface="宋体" panose="02010600030101010101" pitchFamily="2" charset="-122"/>
              </a:rPr>
              <a:t>→</a:t>
            </a:r>
            <a:r>
              <a:rPr lang="en-US" altLang="zh-CN" sz="2200" b="1" dirty="0">
                <a:latin typeface="黑体" panose="02010609060101010101" pitchFamily="49" charset="-122"/>
                <a:ea typeface="黑体" panose="02010609060101010101" pitchFamily="49" charset="-122"/>
              </a:rPr>
              <a:t> </a:t>
            </a:r>
            <a:r>
              <a:rPr lang="en-US" altLang="zh-CN" sz="2200" i="1" dirty="0">
                <a:latin typeface="黑体" panose="02010609060101010101" pitchFamily="49" charset="-122"/>
                <a:ea typeface="黑体" panose="02010609060101010101" pitchFamily="49" charset="-122"/>
              </a:rPr>
              <a:t>digit</a:t>
            </a:r>
            <a:r>
              <a:rPr lang="en-US" altLang="zh-CN" sz="2200" i="1" baseline="30000" dirty="0">
                <a:latin typeface="黑体" panose="02010609060101010101" pitchFamily="49" charset="-122"/>
                <a:ea typeface="黑体" panose="02010609060101010101" pitchFamily="49" charset="-122"/>
              </a:rPr>
              <a:t>+</a:t>
            </a:r>
            <a:endParaRPr lang="en-US" altLang="zh-CN" sz="2200" i="1" baseline="30000" dirty="0">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200" b="1" baseline="30000"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optional_fraction </a:t>
            </a:r>
            <a:r>
              <a:rPr lang="en-US" altLang="zh-CN" sz="2200" b="1" dirty="0">
                <a:latin typeface="宋体" panose="02010600030101010101" pitchFamily="2" charset="-122"/>
                <a:ea typeface="宋体" panose="02010600030101010101" pitchFamily="2" charset="-122"/>
              </a:rPr>
              <a:t>→(.</a:t>
            </a:r>
            <a:r>
              <a:rPr lang="en-US" altLang="zh-CN" sz="2200" i="1" dirty="0">
                <a:latin typeface="黑体" panose="02010609060101010101" pitchFamily="49" charset="-122"/>
                <a:ea typeface="黑体" panose="02010609060101010101" pitchFamily="49" charset="-122"/>
              </a:rPr>
              <a:t>digits</a:t>
            </a:r>
            <a:r>
              <a:rPr lang="en-US" altLang="zh-CN" sz="2200" b="1" dirty="0">
                <a:latin typeface="宋体" panose="02010600030101010101" pitchFamily="2" charset="-122"/>
                <a:ea typeface="宋体" panose="02010600030101010101" pitchFamily="2" charset="-122"/>
              </a:rPr>
              <a:t>)?</a:t>
            </a:r>
            <a:endParaRPr lang="en-US" altLang="zh-CN" sz="2200" b="1" baseline="30000" dirty="0">
              <a:latin typeface="宋体" panose="02010600030101010101" pitchFamily="2" charset="-122"/>
              <a:ea typeface="宋体" panose="02010600030101010101" pitchFamily="2" charset="-122"/>
            </a:endParaRPr>
          </a:p>
          <a:p>
            <a:pPr>
              <a:buFont typeface="Wingdings" panose="05000000000000000000" pitchFamily="2" charset="2"/>
              <a:buNone/>
            </a:pPr>
            <a:r>
              <a:rPr lang="en-US" altLang="zh-CN" sz="2200" b="1" baseline="30000"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optional_exponent </a:t>
            </a:r>
            <a:r>
              <a:rPr lang="en-US" altLang="zh-CN" sz="2200" b="1" dirty="0">
                <a:latin typeface="宋体" panose="02010600030101010101" pitchFamily="2" charset="-122"/>
                <a:ea typeface="宋体" panose="02010600030101010101" pitchFamily="2" charset="-122"/>
              </a:rPr>
              <a:t>→(E(+|-)?</a:t>
            </a:r>
            <a:r>
              <a:rPr lang="en-US" altLang="zh-CN" sz="2200" i="1" dirty="0">
                <a:latin typeface="黑体" panose="02010609060101010101" pitchFamily="49" charset="-122"/>
                <a:ea typeface="黑体" panose="02010609060101010101" pitchFamily="49" charset="-122"/>
              </a:rPr>
              <a:t>digits</a:t>
            </a:r>
            <a:r>
              <a:rPr lang="en-US" altLang="zh-CN" sz="2200" b="1" dirty="0">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a:p>
            <a:pPr>
              <a:buFont typeface="Wingdings" panose="05000000000000000000" pitchFamily="2" charset="2"/>
              <a:buNone/>
            </a:pPr>
            <a:r>
              <a:rPr lang="en-US" altLang="zh-CN" sz="2200" b="1" baseline="30000"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num</a:t>
            </a:r>
            <a:r>
              <a:rPr lang="en-US" altLang="zh-CN" sz="2200" b="1"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digits</a:t>
            </a:r>
            <a:r>
              <a:rPr lang="en-US" altLang="zh-CN" sz="2200" b="1" dirty="0">
                <a:latin typeface="宋体" panose="02010600030101010101" pitchFamily="2" charset="-122"/>
                <a:ea typeface="宋体" panose="02010600030101010101" pitchFamily="2" charset="-122"/>
              </a:rPr>
              <a:t> </a:t>
            </a:r>
            <a:r>
              <a:rPr lang="en-US" altLang="zh-CN" sz="2200" i="1" dirty="0">
                <a:latin typeface="黑体" panose="02010609060101010101" pitchFamily="49" charset="-122"/>
                <a:ea typeface="黑体" panose="02010609060101010101" pitchFamily="49" charset="-122"/>
              </a:rPr>
              <a:t>optional_fraction optional_exponent</a:t>
            </a:r>
            <a:endParaRPr lang="en-US" altLang="zh-CN" sz="2200" i="1" dirty="0">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正则式（12）</a:t>
            </a:r>
            <a:endParaRPr lang="zh-CN" altLang="en-US" dirty="0">
              <a:latin typeface="宋体" panose="02010600030101010101" pitchFamily="2" charset="-122"/>
              <a:ea typeface="宋体" panose="02010600030101010101" pitchFamily="2" charset="-122"/>
            </a:endParaRPr>
          </a:p>
        </p:txBody>
      </p:sp>
      <p:sp>
        <p:nvSpPr>
          <p:cNvPr id="59395" name="Rectangle 3"/>
          <p:cNvSpPr>
            <a:spLocks noGrp="1"/>
          </p:cNvSpPr>
          <p:nvPr>
            <p:ph idx="1"/>
          </p:nvPr>
        </p:nvSpPr>
        <p:spPr>
          <a:xfrm>
            <a:off x="990600" y="1600200"/>
            <a:ext cx="7391400" cy="4343400"/>
          </a:xfrm>
        </p:spPr>
        <p:txBody>
          <a:bodyPr vert="horz" wrap="square" lIns="92075" tIns="46038" rIns="92075" bIns="46038" anchor="t" anchorCtr="0"/>
          <a:p>
            <a:pPr lvl="2"/>
            <a:r>
              <a:rPr lang="zh-CN" altLang="en-US" b="1" dirty="0">
                <a:ea typeface="宋体" panose="02010600030101010101" pitchFamily="2" charset="-122"/>
              </a:rPr>
              <a:t>字符组：</a:t>
            </a:r>
            <a:endParaRPr lang="zh-CN" altLang="en-US" b="1" dirty="0">
              <a:ea typeface="宋体" panose="02010600030101010101" pitchFamily="2" charset="-122"/>
            </a:endParaRPr>
          </a:p>
          <a:p>
            <a:pPr lvl="3"/>
            <a:r>
              <a:rPr lang="zh-CN" altLang="en-US" b="1" dirty="0">
                <a:ea typeface="宋体" panose="02010600030101010101" pitchFamily="2" charset="-122"/>
              </a:rPr>
              <a:t>[</a:t>
            </a:r>
            <a:r>
              <a:rPr lang="en-US" altLang="zh-CN" b="1" dirty="0">
                <a:ea typeface="宋体" panose="02010600030101010101" pitchFamily="2" charset="-122"/>
              </a:rPr>
              <a:t>abc]</a:t>
            </a:r>
            <a:r>
              <a:rPr lang="zh-CN" altLang="en-US" b="1" dirty="0">
                <a:ea typeface="宋体" panose="02010600030101010101" pitchFamily="2" charset="-122"/>
              </a:rPr>
              <a:t>表示正则式</a:t>
            </a:r>
            <a:r>
              <a:rPr lang="en-US" altLang="zh-CN" b="1" dirty="0">
                <a:ea typeface="宋体" panose="02010600030101010101" pitchFamily="2" charset="-122"/>
              </a:rPr>
              <a:t>a|b|c，</a:t>
            </a:r>
            <a:endParaRPr lang="en-US" altLang="zh-CN" b="1" dirty="0">
              <a:ea typeface="宋体" panose="02010600030101010101" pitchFamily="2" charset="-122"/>
            </a:endParaRPr>
          </a:p>
          <a:p>
            <a:pPr lvl="3"/>
            <a:r>
              <a:rPr lang="zh-CN" altLang="en-US" b="1" dirty="0">
                <a:ea typeface="宋体" panose="02010600030101010101" pitchFamily="2" charset="-122"/>
              </a:rPr>
              <a:t>[</a:t>
            </a:r>
            <a:r>
              <a:rPr lang="en-US" altLang="zh-CN" b="1" dirty="0">
                <a:ea typeface="宋体" panose="02010600030101010101" pitchFamily="2" charset="-122"/>
              </a:rPr>
              <a:t>a-z]</a:t>
            </a:r>
            <a:r>
              <a:rPr lang="zh-CN" altLang="en-US" b="1" dirty="0">
                <a:ea typeface="宋体" panose="02010600030101010101" pitchFamily="2" charset="-122"/>
              </a:rPr>
              <a:t>表示正则式</a:t>
            </a:r>
            <a:r>
              <a:rPr lang="en-US" altLang="zh-CN" b="1" dirty="0">
                <a:ea typeface="宋体" panose="02010600030101010101" pitchFamily="2" charset="-122"/>
              </a:rPr>
              <a:t>a|b|…|z</a:t>
            </a:r>
            <a:endParaRPr lang="en-US" altLang="zh-CN" b="1" dirty="0">
              <a:ea typeface="宋体" panose="02010600030101010101" pitchFamily="2" charset="-122"/>
            </a:endParaRPr>
          </a:p>
          <a:p>
            <a:pPr lvl="3"/>
            <a:r>
              <a:rPr lang="en-US" altLang="zh-CN" b="1" dirty="0">
                <a:ea typeface="宋体" panose="02010600030101010101" pitchFamily="2" charset="-122"/>
              </a:rPr>
              <a:t>Pascal</a:t>
            </a:r>
            <a:r>
              <a:rPr lang="zh-CN" altLang="en-US" b="1" dirty="0">
                <a:ea typeface="宋体" panose="02010600030101010101" pitchFamily="2" charset="-122"/>
              </a:rPr>
              <a:t>的标识符可以用如下的正则式表示</a:t>
            </a:r>
            <a:endParaRPr lang="zh-CN" altLang="en-US" b="1" dirty="0">
              <a:ea typeface="宋体" panose="02010600030101010101" pitchFamily="2" charset="-122"/>
            </a:endParaRPr>
          </a:p>
          <a:p>
            <a:pPr lvl="3">
              <a:buNone/>
            </a:pPr>
            <a:r>
              <a:rPr lang="zh-CN" altLang="en-US" b="1" dirty="0">
                <a:ea typeface="宋体" panose="02010600030101010101" pitchFamily="2" charset="-122"/>
              </a:rPr>
              <a:t>		[</a:t>
            </a:r>
            <a:r>
              <a:rPr lang="en-US" altLang="zh-CN" b="1" dirty="0">
                <a:ea typeface="宋体" panose="02010600030101010101" pitchFamily="2" charset="-122"/>
              </a:rPr>
              <a:t>A-Za-z][A-Za-z0-9]</a:t>
            </a:r>
            <a:r>
              <a:rPr lang="en-US" altLang="zh-CN" b="1" baseline="30000" dirty="0">
                <a:ea typeface="宋体" panose="02010600030101010101" pitchFamily="2" charset="-122"/>
              </a:rPr>
              <a:t> *</a:t>
            </a:r>
            <a:endParaRPr lang="en-US" altLang="zh-CN" b="1" dirty="0">
              <a:ea typeface="宋体" panose="02010600030101010101" pitchFamily="2" charset="-122"/>
            </a:endParaRPr>
          </a:p>
          <a:p>
            <a:r>
              <a:rPr lang="zh-CN" altLang="en-US" b="1" dirty="0">
                <a:ea typeface="宋体" panose="02010600030101010101" pitchFamily="2" charset="-122"/>
              </a:rPr>
              <a:t>非正则集：</a:t>
            </a:r>
            <a:endParaRPr lang="zh-CN" altLang="en-US" b="1" dirty="0">
              <a:ea typeface="宋体" panose="02010600030101010101" pitchFamily="2" charset="-122"/>
            </a:endParaRPr>
          </a:p>
          <a:p>
            <a:pPr lvl="1"/>
            <a:r>
              <a:rPr lang="zh-CN" altLang="en-US" sz="2000" b="1" dirty="0">
                <a:ea typeface="宋体" panose="02010600030101010101" pitchFamily="2" charset="-122"/>
              </a:rPr>
              <a:t>正则式的描述能力相当于3型文法，只能表示给定结构的固定数目的重复或没有指定数目的重复</a:t>
            </a:r>
            <a:endParaRPr lang="zh-CN" altLang="en-US" sz="2000" b="1" dirty="0">
              <a:ea typeface="宋体" panose="02010600030101010101" pitchFamily="2" charset="-122"/>
            </a:endParaRPr>
          </a:p>
          <a:p>
            <a:pPr lvl="1"/>
            <a:r>
              <a:rPr lang="zh-CN" altLang="en-US" sz="2000" b="1" dirty="0">
                <a:ea typeface="宋体" panose="02010600030101010101" pitchFamily="2" charset="-122"/>
              </a:rPr>
              <a:t>不能描述配对或嵌套的结构，也不能描述重复串</a:t>
            </a:r>
            <a:endParaRPr lang="zh-CN" altLang="en-US" sz="2000" b="1" dirty="0">
              <a:ea typeface="宋体" panose="02010600030101010101" pitchFamily="2" charset="-122"/>
            </a:endParaRPr>
          </a:p>
          <a:p>
            <a:pPr lvl="1">
              <a:buNone/>
            </a:pPr>
            <a:r>
              <a:rPr lang="zh-CN" altLang="en-US" sz="2000" b="1" dirty="0">
                <a:ea typeface="宋体" panose="02010600030101010101" pitchFamily="2" charset="-122"/>
              </a:rPr>
              <a:t>	{</a:t>
            </a:r>
            <a:r>
              <a:rPr lang="en-US" altLang="zh-CN" sz="2000" b="1" dirty="0">
                <a:ea typeface="宋体" panose="02010600030101010101" pitchFamily="2" charset="-122"/>
              </a:rPr>
              <a:t>wcw|w</a:t>
            </a:r>
            <a:r>
              <a:rPr lang="zh-CN" altLang="en-US" sz="2000" b="1" dirty="0">
                <a:ea typeface="宋体" panose="02010600030101010101" pitchFamily="2" charset="-122"/>
              </a:rPr>
              <a:t>是</a:t>
            </a:r>
            <a:r>
              <a:rPr lang="en-US" altLang="zh-CN" sz="2000" b="1" dirty="0">
                <a:ea typeface="宋体" panose="02010600030101010101" pitchFamily="2" charset="-122"/>
              </a:rPr>
              <a:t>a</a:t>
            </a:r>
            <a:r>
              <a:rPr lang="zh-CN" altLang="en-US" sz="2000" b="1" dirty="0">
                <a:ea typeface="宋体" panose="02010600030101010101" pitchFamily="2" charset="-122"/>
              </a:rPr>
              <a:t>和</a:t>
            </a:r>
            <a:r>
              <a:rPr lang="en-US" altLang="zh-CN" sz="2000" b="1" dirty="0">
                <a:ea typeface="宋体" panose="02010600030101010101" pitchFamily="2" charset="-122"/>
              </a:rPr>
              <a:t>b</a:t>
            </a:r>
            <a:r>
              <a:rPr lang="zh-CN" altLang="en-US" sz="2000" b="1" dirty="0">
                <a:ea typeface="宋体" panose="02010600030101010101" pitchFamily="2" charset="-122"/>
              </a:rPr>
              <a:t>的串}</a:t>
            </a:r>
            <a:endParaRPr lang="zh-CN" altLang="en-US" sz="2000" b="1" dirty="0">
              <a:ea typeface="宋体" panose="02010600030101010101" pitchFamily="2" charset="-12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词法单元的识别（1）</a:t>
            </a:r>
            <a:endParaRPr lang="zh-CN" altLang="en-US" dirty="0">
              <a:latin typeface="宋体" panose="02010600030101010101" pitchFamily="2" charset="-122"/>
              <a:ea typeface="宋体" panose="02010600030101010101" pitchFamily="2" charset="-122"/>
            </a:endParaRPr>
          </a:p>
        </p:txBody>
      </p:sp>
      <p:sp>
        <p:nvSpPr>
          <p:cNvPr id="61443" name="Rectangle 3"/>
          <p:cNvSpPr>
            <a:spLocks noGrp="1"/>
          </p:cNvSpPr>
          <p:nvPr>
            <p:ph idx="1"/>
          </p:nvPr>
        </p:nvSpPr>
        <p:spPr>
          <a:xfrm>
            <a:off x="990600" y="1600200"/>
            <a:ext cx="7391400" cy="533400"/>
          </a:xfrm>
        </p:spPr>
        <p:txBody>
          <a:bodyPr vert="horz" wrap="square" lIns="92075" tIns="46038" rIns="92075" bIns="46038" anchor="t" anchorCtr="0"/>
          <a:p>
            <a:r>
              <a:rPr lang="zh-CN" altLang="en-US" b="1" dirty="0">
                <a:latin typeface="宋体" panose="02010600030101010101" pitchFamily="2" charset="-122"/>
                <a:ea typeface="宋体" panose="02010600030101010101" pitchFamily="2" charset="-122"/>
              </a:rPr>
              <a:t>文法的例子</a:t>
            </a:r>
            <a:endParaRPr lang="zh-CN" altLang="en-US" b="1" dirty="0">
              <a:latin typeface="宋体" panose="02010600030101010101" pitchFamily="2" charset="-122"/>
              <a:ea typeface="宋体" panose="02010600030101010101" pitchFamily="2" charset="-122"/>
            </a:endParaRPr>
          </a:p>
        </p:txBody>
      </p:sp>
      <p:pic>
        <p:nvPicPr>
          <p:cNvPr id="61444" name="Picture 2"/>
          <p:cNvPicPr>
            <a:picLocks noChangeAspect="1"/>
          </p:cNvPicPr>
          <p:nvPr/>
        </p:nvPicPr>
        <p:blipFill>
          <a:blip r:embed="rId1"/>
          <a:stretch>
            <a:fillRect/>
          </a:stretch>
        </p:blipFill>
        <p:spPr>
          <a:xfrm>
            <a:off x="395288" y="2160588"/>
            <a:ext cx="3600450" cy="3657600"/>
          </a:xfrm>
          <a:prstGeom prst="rect">
            <a:avLst/>
          </a:prstGeom>
          <a:noFill/>
          <a:ln w="9525">
            <a:noFill/>
          </a:ln>
        </p:spPr>
      </p:pic>
      <p:pic>
        <p:nvPicPr>
          <p:cNvPr id="61445" name="Picture 2"/>
          <p:cNvPicPr>
            <a:picLocks noChangeAspect="1"/>
          </p:cNvPicPr>
          <p:nvPr/>
        </p:nvPicPr>
        <p:blipFill>
          <a:blip r:embed="rId2"/>
          <a:stretch>
            <a:fillRect/>
          </a:stretch>
        </p:blipFill>
        <p:spPr>
          <a:xfrm>
            <a:off x="4140200" y="1606550"/>
            <a:ext cx="4683125" cy="4606925"/>
          </a:xfrm>
          <a:prstGeom prst="rect">
            <a:avLst/>
          </a:prstGeom>
          <a:noFill/>
          <a:ln w="9525">
            <a:noFill/>
          </a:ln>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词法单元的识别（2）</a:t>
            </a:r>
            <a:endParaRPr lang="zh-CN" altLang="en-US" dirty="0">
              <a:latin typeface="宋体" panose="02010600030101010101" pitchFamily="2" charset="-122"/>
              <a:ea typeface="宋体" panose="02010600030101010101" pitchFamily="2" charset="-122"/>
            </a:endParaRPr>
          </a:p>
        </p:txBody>
      </p:sp>
      <p:sp>
        <p:nvSpPr>
          <p:cNvPr id="63491" name="Rectangle 3"/>
          <p:cNvSpPr>
            <a:spLocks noGrp="1"/>
          </p:cNvSpPr>
          <p:nvPr>
            <p:ph idx="1"/>
          </p:nvPr>
        </p:nvSpPr>
        <p:spPr>
          <a:xfrm>
            <a:off x="609600" y="1600200"/>
            <a:ext cx="7772400" cy="46482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空白符（词法单元）的处理</a:t>
            </a:r>
            <a:endParaRPr lang="en-US" altLang="zh-CN" sz="2400" b="1" dirty="0">
              <a:latin typeface="宋体" panose="02010600030101010101" pitchFamily="2" charset="-122"/>
              <a:ea typeface="宋体" panose="02010600030101010101" pitchFamily="2" charset="-122"/>
            </a:endParaRPr>
          </a:p>
          <a:p>
            <a:pPr lvl="1"/>
            <a:r>
              <a:rPr lang="zh-CN" altLang="en-US" sz="2200" b="1" dirty="0">
                <a:latin typeface="宋体" panose="02010600030101010101" pitchFamily="2" charset="-122"/>
                <a:ea typeface="宋体" panose="02010600030101010101" pitchFamily="2" charset="-122"/>
              </a:rPr>
              <a:t>描述</a:t>
            </a:r>
            <a:endParaRPr lang="zh-CN" altLang="en-US" sz="2200" b="1" dirty="0">
              <a:latin typeface="宋体" panose="02010600030101010101" pitchFamily="2" charset="-122"/>
              <a:ea typeface="宋体" panose="02010600030101010101" pitchFamily="2" charset="-122"/>
            </a:endParaRPr>
          </a:p>
          <a:p>
            <a:pPr>
              <a:buFont typeface="Wingdings" panose="05000000000000000000" pitchFamily="2" charset="2"/>
              <a:buNone/>
            </a:pPr>
            <a:r>
              <a:rPr lang="en-US" altLang="zh-CN" sz="2200" b="1" baseline="30000" dirty="0">
                <a:latin typeface="宋体" panose="02010600030101010101" pitchFamily="2" charset="-122"/>
                <a:ea typeface="宋体" panose="02010600030101010101" pitchFamily="2" charset="-122"/>
              </a:rPr>
              <a:t>		</a:t>
            </a:r>
            <a:r>
              <a:rPr lang="en-US" altLang="zh-CN" sz="2200" i="1" dirty="0">
                <a:latin typeface="宋体" panose="02010600030101010101" pitchFamily="2" charset="-122"/>
                <a:ea typeface="宋体" panose="02010600030101010101" pitchFamily="2" charset="-122"/>
              </a:rPr>
              <a:t>ws</a:t>
            </a:r>
            <a:r>
              <a:rPr lang="en-US" altLang="zh-CN" sz="2200" b="1" dirty="0">
                <a:latin typeface="宋体" panose="02010600030101010101" pitchFamily="2" charset="-122"/>
                <a:ea typeface="宋体" panose="02010600030101010101" pitchFamily="2" charset="-122"/>
              </a:rPr>
              <a:t> →</a:t>
            </a:r>
            <a:r>
              <a:rPr lang="zh-CN" altLang="en-US" sz="2200" b="1" dirty="0">
                <a:latin typeface="黑体" panose="02010609060101010101" pitchFamily="49" charset="-122"/>
                <a:ea typeface="黑体" panose="02010609060101010101" pitchFamily="49" charset="-122"/>
              </a:rPr>
              <a:t> </a:t>
            </a:r>
            <a:r>
              <a:rPr lang="en-US" altLang="zh-CN" sz="2200" b="1" dirty="0">
                <a:latin typeface="黑体" panose="02010609060101010101" pitchFamily="49" charset="-122"/>
                <a:ea typeface="黑体" panose="02010609060101010101" pitchFamily="49" charset="-122"/>
              </a:rPr>
              <a:t>( blank | tab | newline )</a:t>
            </a:r>
            <a:r>
              <a:rPr lang="en-US" altLang="zh-CN" sz="3600" b="1" baseline="30000" dirty="0">
                <a:latin typeface="黑体" panose="02010609060101010101" pitchFamily="49" charset="-122"/>
                <a:ea typeface="黑体" panose="02010609060101010101" pitchFamily="49" charset="-122"/>
              </a:rPr>
              <a:t>+</a:t>
            </a:r>
            <a:endParaRPr lang="en-US" altLang="zh-CN" sz="2200" b="1" baseline="30000" dirty="0">
              <a:latin typeface="黑体" panose="02010609060101010101" pitchFamily="49" charset="-122"/>
              <a:ea typeface="黑体" panose="02010609060101010101" pitchFamily="49" charset="-122"/>
            </a:endParaRPr>
          </a:p>
          <a:p>
            <a:pPr lvl="1"/>
            <a:r>
              <a:rPr lang="zh-CN" altLang="en-US" sz="2200" b="1" dirty="0">
                <a:latin typeface="宋体" panose="02010600030101010101" pitchFamily="2" charset="-122"/>
                <a:ea typeface="宋体" panose="02010600030101010101" pitchFamily="2" charset="-122"/>
              </a:rPr>
              <a:t>识别后，并不返回给语法分析器</a:t>
            </a:r>
            <a:endParaRPr lang="en-US" altLang="zh-CN" sz="22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词法单元的模式和属性</a:t>
            </a:r>
            <a:endParaRPr lang="zh-CN" altLang="en-US" sz="2400" b="1" dirty="0">
              <a:latin typeface="宋体" panose="02010600030101010101" pitchFamily="2" charset="-122"/>
              <a:ea typeface="宋体" panose="02010600030101010101" pitchFamily="2" charset="-122"/>
            </a:endParaRPr>
          </a:p>
        </p:txBody>
      </p:sp>
      <p:pic>
        <p:nvPicPr>
          <p:cNvPr id="63492" name="Picture 2"/>
          <p:cNvPicPr>
            <a:picLocks noChangeAspect="1"/>
          </p:cNvPicPr>
          <p:nvPr/>
        </p:nvPicPr>
        <p:blipFill>
          <a:blip r:embed="rId1"/>
          <a:stretch>
            <a:fillRect/>
          </a:stretch>
        </p:blipFill>
        <p:spPr>
          <a:xfrm>
            <a:off x="1042988" y="3733800"/>
            <a:ext cx="6943725" cy="2847975"/>
          </a:xfrm>
          <a:prstGeom prst="rect">
            <a:avLst/>
          </a:prstGeom>
          <a:noFill/>
          <a:ln w="9525">
            <a:noFill/>
          </a:ln>
        </p:spPr>
      </p:pic>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词法单元的识别（3）</a:t>
            </a:r>
            <a:endParaRPr lang="zh-CN" altLang="en-US" dirty="0">
              <a:latin typeface="宋体" panose="02010600030101010101" pitchFamily="2" charset="-122"/>
              <a:ea typeface="宋体" panose="02010600030101010101" pitchFamily="2" charset="-122"/>
            </a:endParaRPr>
          </a:p>
        </p:txBody>
      </p:sp>
      <p:sp>
        <p:nvSpPr>
          <p:cNvPr id="65539" name="Rectangle 3"/>
          <p:cNvSpPr>
            <a:spLocks noGrp="1"/>
          </p:cNvSpPr>
          <p:nvPr>
            <p:ph idx="1"/>
          </p:nvPr>
        </p:nvSpPr>
        <p:spPr>
          <a:xfrm>
            <a:off x="609600" y="1412875"/>
            <a:ext cx="7994650" cy="4648200"/>
          </a:xfrm>
        </p:spPr>
        <p:txBody>
          <a:bodyPr vert="horz" wrap="square" lIns="92075" tIns="46038" rIns="92075" bIns="46038" anchor="t" anchorCtr="0"/>
          <a:p>
            <a:r>
              <a:rPr lang="zh-CN" altLang="en-US" sz="2400" b="1" dirty="0">
                <a:latin typeface="宋体" panose="02010600030101010101" pitchFamily="2" charset="-122"/>
                <a:ea typeface="宋体" panose="02010600030101010101" pitchFamily="2" charset="-122"/>
              </a:rPr>
              <a:t>状态转换图</a:t>
            </a:r>
            <a:endParaRPr lang="zh-CN" altLang="en-US" sz="2400" b="1" dirty="0">
              <a:latin typeface="宋体" panose="02010600030101010101" pitchFamily="2" charset="-122"/>
              <a:ea typeface="宋体" panose="02010600030101010101" pitchFamily="2" charset="-122"/>
            </a:endParaRPr>
          </a:p>
          <a:p>
            <a:pPr lvl="1"/>
            <a:r>
              <a:rPr lang="zh-CN" altLang="en-US" b="1" dirty="0">
                <a:ea typeface="宋体" panose="02010600030101010101" pitchFamily="2" charset="-122"/>
              </a:rPr>
              <a:t>状态</a:t>
            </a:r>
            <a:endParaRPr lang="zh-CN" altLang="en-US" b="1" dirty="0">
              <a:ea typeface="宋体" panose="02010600030101010101" pitchFamily="2" charset="-122"/>
            </a:endParaRPr>
          </a:p>
          <a:p>
            <a:pPr lvl="2"/>
            <a:r>
              <a:rPr lang="zh-CN" altLang="en-US" sz="2000" b="1" dirty="0">
                <a:ea typeface="宋体" panose="02010600030101010101" pitchFamily="2" charset="-122"/>
              </a:rPr>
              <a:t>代表了词法分析的词法单元的匹配过程中的一个瞬态</a:t>
            </a:r>
            <a:endParaRPr lang="en-US" altLang="zh-CN" sz="2000" b="1" dirty="0">
              <a:ea typeface="宋体" panose="02010600030101010101" pitchFamily="2" charset="-122"/>
            </a:endParaRPr>
          </a:p>
          <a:p>
            <a:pPr lvl="3"/>
            <a:r>
              <a:rPr lang="zh-CN" altLang="en-US" sz="1800" b="1" dirty="0">
                <a:ea typeface="宋体" panose="02010600030101010101" pitchFamily="2" charset="-122"/>
              </a:rPr>
              <a:t>可以看作是从词素首字符（</a:t>
            </a:r>
            <a:r>
              <a:rPr lang="en-US" altLang="zh-CN" sz="1800" i="1" dirty="0">
                <a:ea typeface="宋体" panose="02010600030101010101" pitchFamily="2" charset="-122"/>
              </a:rPr>
              <a:t>lexemebegin</a:t>
            </a:r>
            <a:r>
              <a:rPr lang="zh-CN" altLang="en-US" sz="1800" b="1" dirty="0">
                <a:ea typeface="宋体" panose="02010600030101010101" pitchFamily="2" charset="-122"/>
              </a:rPr>
              <a:t>指针指向的字符）到当前读头（</a:t>
            </a:r>
            <a:r>
              <a:rPr lang="en-US" altLang="zh-CN" sz="1800" i="1" dirty="0">
                <a:ea typeface="宋体" panose="02010600030101010101" pitchFamily="2" charset="-122"/>
              </a:rPr>
              <a:t>forward</a:t>
            </a:r>
            <a:r>
              <a:rPr lang="zh-CN" altLang="en-US" sz="1800" b="1" dirty="0">
                <a:ea typeface="宋体" panose="02010600030101010101" pitchFamily="2" charset="-122"/>
              </a:rPr>
              <a:t>）指向的字符间的字符序列的一个概括，包括了词法分析需要的各种信息</a:t>
            </a:r>
            <a:endParaRPr lang="en-US" altLang="zh-CN" sz="1800" b="1" dirty="0">
              <a:ea typeface="宋体" panose="02010600030101010101" pitchFamily="2" charset="-122"/>
            </a:endParaRPr>
          </a:p>
          <a:p>
            <a:pPr lvl="3"/>
            <a:r>
              <a:rPr lang="zh-CN" altLang="en-US" sz="1800" b="1" dirty="0">
                <a:ea typeface="宋体" panose="02010600030101010101" pitchFamily="2" charset="-122"/>
              </a:rPr>
              <a:t>用单圈</a:t>
            </a:r>
            <a:r>
              <a:rPr lang="en-US" altLang="zh-CN" sz="1800" b="1" dirty="0">
                <a:ea typeface="宋体" panose="02010600030101010101" pitchFamily="2" charset="-122"/>
              </a:rPr>
              <a:t>/</a:t>
            </a:r>
            <a:r>
              <a:rPr lang="zh-CN" altLang="en-US" sz="1800" b="1" dirty="0">
                <a:ea typeface="宋体" panose="02010600030101010101" pitchFamily="2" charset="-122"/>
              </a:rPr>
              <a:t>结点表示，单圈中的符号是对该状态的命名</a:t>
            </a:r>
            <a:endParaRPr lang="zh-CN" altLang="en-US" sz="1800" b="1" dirty="0">
              <a:ea typeface="宋体" panose="02010600030101010101" pitchFamily="2" charset="-122"/>
            </a:endParaRPr>
          </a:p>
          <a:p>
            <a:pPr lvl="2"/>
            <a:r>
              <a:rPr lang="zh-CN" altLang="en-US" sz="2000" b="1" dirty="0">
                <a:ea typeface="宋体" panose="02010600030101010101" pitchFamily="2" charset="-122"/>
              </a:rPr>
              <a:t>表示识别了一个完整的词素的状态称为终态</a:t>
            </a:r>
            <a:endParaRPr lang="en-US" altLang="zh-CN" sz="2000" b="1" dirty="0">
              <a:ea typeface="宋体" panose="02010600030101010101" pitchFamily="2" charset="-122"/>
            </a:endParaRPr>
          </a:p>
          <a:p>
            <a:pPr lvl="3"/>
            <a:r>
              <a:rPr lang="zh-CN" altLang="en-US" sz="1800" b="1" dirty="0">
                <a:ea typeface="宋体" panose="02010600030101010101" pitchFamily="2" charset="-122"/>
              </a:rPr>
              <a:t>用双圈表示</a:t>
            </a:r>
            <a:endParaRPr lang="en-US" altLang="zh-CN" sz="1800" b="1" dirty="0">
              <a:ea typeface="宋体" panose="02010600030101010101" pitchFamily="2" charset="-122"/>
            </a:endParaRPr>
          </a:p>
          <a:p>
            <a:pPr lvl="3"/>
            <a:r>
              <a:rPr lang="zh-CN" altLang="en-US" sz="1800" b="1" dirty="0">
                <a:ea typeface="宋体" panose="02010600030101010101" pitchFamily="2" charset="-122"/>
              </a:rPr>
              <a:t>可以在该状态上增加经词法分析结构反馈给语法分析的动作</a:t>
            </a:r>
            <a:endParaRPr lang="en-US" altLang="zh-CN" sz="1800" b="1" dirty="0">
              <a:ea typeface="宋体" panose="02010600030101010101" pitchFamily="2" charset="-122"/>
            </a:endParaRPr>
          </a:p>
          <a:p>
            <a:pPr lvl="3"/>
            <a:r>
              <a:rPr lang="zh-CN" altLang="en-US" sz="1800" b="1" dirty="0">
                <a:ea typeface="宋体" panose="02010600030101010101" pitchFamily="2" charset="-122"/>
              </a:rPr>
              <a:t>如果识别完成后，需要</a:t>
            </a:r>
            <a:r>
              <a:rPr lang="en-US" altLang="zh-CN" sz="1800" i="1" dirty="0">
                <a:ea typeface="宋体" panose="02010600030101010101" pitchFamily="2" charset="-122"/>
              </a:rPr>
              <a:t>forward</a:t>
            </a:r>
            <a:r>
              <a:rPr lang="zh-CN" altLang="en-US" sz="1800" b="1" dirty="0">
                <a:ea typeface="宋体" panose="02010600030101010101" pitchFamily="2" charset="-122"/>
              </a:rPr>
              <a:t>回退一个位置，则在状态上标*</a:t>
            </a:r>
            <a:endParaRPr lang="en-US" altLang="zh-CN" sz="1800" b="1" dirty="0">
              <a:ea typeface="宋体" panose="02010600030101010101" pitchFamily="2" charset="-122"/>
            </a:endParaRPr>
          </a:p>
          <a:p>
            <a:pPr lvl="4"/>
            <a:r>
              <a:rPr lang="zh-CN" altLang="en-US" sz="1600" b="1" dirty="0">
                <a:ea typeface="宋体" panose="02010600030101010101" pitchFamily="2" charset="-122"/>
              </a:rPr>
              <a:t>如需要回退多个位置，则可标多个*，但暂不考虑这种情况</a:t>
            </a:r>
            <a:endParaRPr lang="zh-CN" altLang="en-US" sz="1600" b="1" dirty="0">
              <a:ea typeface="宋体" panose="02010600030101010101" pitchFamily="2" charset="-122"/>
            </a:endParaRPr>
          </a:p>
          <a:p>
            <a:pPr lvl="2"/>
            <a:r>
              <a:rPr lang="zh-CN" altLang="en-US" sz="2000" b="1" dirty="0">
                <a:ea typeface="宋体" panose="02010600030101010101" pitchFamily="2" charset="-122"/>
              </a:rPr>
              <a:t>初始状态</a:t>
            </a:r>
            <a:r>
              <a:rPr lang="en-US" altLang="zh-CN" sz="2000" b="1" dirty="0">
                <a:ea typeface="宋体" panose="02010600030101010101" pitchFamily="2" charset="-122"/>
              </a:rPr>
              <a:t>/</a:t>
            </a:r>
            <a:r>
              <a:rPr lang="zh-CN" altLang="en-US" sz="2000" b="1" dirty="0">
                <a:ea typeface="宋体" panose="02010600030101010101" pitchFamily="2" charset="-122"/>
              </a:rPr>
              <a:t>开始状态：在读入任何输入符号（开始分析该词法单元）前，状态转换图所处的状态</a:t>
            </a:r>
            <a:endParaRPr lang="en-US" altLang="zh-CN" sz="2000" b="1" dirty="0">
              <a:ea typeface="宋体" panose="02010600030101010101" pitchFamily="2" charset="-122"/>
            </a:endParaRPr>
          </a:p>
          <a:p>
            <a:pPr lvl="3"/>
            <a:r>
              <a:rPr lang="zh-CN" altLang="en-US" sz="1800" b="1" dirty="0">
                <a:ea typeface="宋体" panose="02010600030101010101" pitchFamily="2" charset="-122"/>
              </a:rPr>
              <a:t>用标号为“</a:t>
            </a:r>
            <a:r>
              <a:rPr lang="en-US" altLang="zh-CN" sz="1800" b="1" dirty="0">
                <a:ea typeface="宋体" panose="02010600030101010101" pitchFamily="2" charset="-122"/>
              </a:rPr>
              <a:t>start</a:t>
            </a:r>
            <a:r>
              <a:rPr lang="zh-CN" altLang="en-US" sz="1800" b="1" dirty="0">
                <a:ea typeface="宋体" panose="02010600030101010101" pitchFamily="2" charset="-122"/>
              </a:rPr>
              <a:t>”的边指明</a:t>
            </a:r>
            <a:endParaRPr lang="en-US" altLang="zh-CN" sz="1800" b="1" dirty="0">
              <a:ea typeface="宋体" panose="02010600030101010101" pitchFamily="2"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67587" name="Rectangle 3"/>
          <p:cNvSpPr>
            <a:spLocks noGrp="1"/>
          </p:cNvSpPr>
          <p:nvPr>
            <p:ph idx="1"/>
          </p:nvPr>
        </p:nvSpPr>
        <p:spPr>
          <a:xfrm>
            <a:off x="609600" y="1600200"/>
            <a:ext cx="7848600" cy="4648200"/>
          </a:xfrm>
        </p:spPr>
        <p:txBody>
          <a:bodyPr vert="horz" wrap="square" lIns="92075" tIns="46038" rIns="92075" bIns="46038" anchor="t" anchorCtr="0"/>
          <a:p>
            <a:pPr lvl="1"/>
            <a:r>
              <a:rPr lang="zh-CN" altLang="en-US" b="1" dirty="0">
                <a:ea typeface="宋体" panose="02010600030101010101" pitchFamily="2" charset="-122"/>
              </a:rPr>
              <a:t>边</a:t>
            </a:r>
            <a:endParaRPr lang="zh-CN" altLang="en-US" b="1" dirty="0">
              <a:ea typeface="宋体" panose="02010600030101010101" pitchFamily="2" charset="-122"/>
            </a:endParaRPr>
          </a:p>
          <a:p>
            <a:pPr lvl="2"/>
            <a:r>
              <a:rPr lang="zh-CN" altLang="en-US" sz="2000" b="1" dirty="0">
                <a:ea typeface="宋体" panose="02010600030101010101" pitchFamily="2" charset="-122"/>
              </a:rPr>
              <a:t>从一个状态（例如</a:t>
            </a:r>
            <a:r>
              <a:rPr lang="en-US" altLang="zh-CN" sz="2000" b="1" dirty="0">
                <a:ea typeface="宋体" panose="02010600030101010101" pitchFamily="2" charset="-122"/>
              </a:rPr>
              <a:t>s</a:t>
            </a:r>
            <a:r>
              <a:rPr lang="zh-CN" altLang="en-US" sz="2000" b="1" dirty="0">
                <a:ea typeface="宋体" panose="02010600030101010101" pitchFamily="2" charset="-122"/>
              </a:rPr>
              <a:t>）指向另一个状态（例如</a:t>
            </a:r>
            <a:r>
              <a:rPr lang="en-US" altLang="zh-CN" sz="2000" b="1" dirty="0">
                <a:ea typeface="宋体" panose="02010600030101010101" pitchFamily="2" charset="-122"/>
              </a:rPr>
              <a:t>t</a:t>
            </a:r>
            <a:r>
              <a:rPr lang="zh-CN" altLang="en-US" sz="2000" b="1" dirty="0">
                <a:ea typeface="宋体" panose="02010600030101010101" pitchFamily="2" charset="-122"/>
              </a:rPr>
              <a:t>）</a:t>
            </a:r>
            <a:endParaRPr lang="en-US" altLang="zh-CN" sz="2000" b="1" dirty="0">
              <a:ea typeface="宋体" panose="02010600030101010101" pitchFamily="2" charset="-122"/>
            </a:endParaRPr>
          </a:p>
          <a:p>
            <a:pPr lvl="3"/>
            <a:r>
              <a:rPr lang="zh-CN" altLang="en-US" sz="1800" b="1" dirty="0">
                <a:ea typeface="宋体" panose="02010600030101010101" pitchFamily="2" charset="-122"/>
              </a:rPr>
              <a:t>每条边上可以标一个或多个符号</a:t>
            </a:r>
            <a:endParaRPr lang="en-US" altLang="zh-CN" sz="1800" b="1" dirty="0">
              <a:ea typeface="宋体" panose="02010600030101010101" pitchFamily="2" charset="-122"/>
            </a:endParaRPr>
          </a:p>
          <a:p>
            <a:pPr lvl="3"/>
            <a:r>
              <a:rPr lang="zh-CN" altLang="en-US" sz="1800" b="1" dirty="0">
                <a:ea typeface="宋体" panose="02010600030101010101" pitchFamily="2" charset="-122"/>
              </a:rPr>
              <a:t>表明识别程序在处于状态</a:t>
            </a:r>
            <a:r>
              <a:rPr lang="en-US" altLang="zh-CN" sz="1800" b="1" dirty="0">
                <a:ea typeface="宋体" panose="02010600030101010101" pitchFamily="2" charset="-122"/>
              </a:rPr>
              <a:t>s</a:t>
            </a:r>
            <a:r>
              <a:rPr lang="zh-CN" altLang="en-US" sz="1800" b="1" dirty="0">
                <a:ea typeface="宋体" panose="02010600030101010101" pitchFamily="2" charset="-122"/>
              </a:rPr>
              <a:t>时，从输入缓冲读入了边上标注的符号时，识别程序记录下这串符号，并把控制转移到状态</a:t>
            </a:r>
            <a:r>
              <a:rPr lang="en-US" altLang="zh-CN" sz="1800" b="1" dirty="0">
                <a:ea typeface="宋体" panose="02010600030101010101" pitchFamily="2" charset="-122"/>
              </a:rPr>
              <a:t>t</a:t>
            </a:r>
            <a:endParaRPr lang="en-US" altLang="zh-CN" sz="1800" b="1" dirty="0">
              <a:ea typeface="宋体" panose="02010600030101010101" pitchFamily="2" charset="-122"/>
            </a:endParaRPr>
          </a:p>
          <a:p>
            <a:pPr lvl="3"/>
            <a:r>
              <a:rPr lang="zh-CN" altLang="en-US" sz="1800" b="1" dirty="0">
                <a:ea typeface="宋体" panose="02010600030101010101" pitchFamily="2" charset="-122"/>
              </a:rPr>
              <a:t>暂时假定识别的过程是确定的</a:t>
            </a:r>
            <a:endParaRPr lang="en-US" altLang="zh-CN" sz="1800" b="1" dirty="0">
              <a:ea typeface="宋体" panose="02010600030101010101" pitchFamily="2" charset="-122"/>
            </a:endParaRPr>
          </a:p>
          <a:p>
            <a:pPr lvl="4"/>
            <a:r>
              <a:rPr lang="zh-CN" altLang="en-US" sz="1600" b="1" dirty="0">
                <a:ea typeface="宋体" panose="02010600030101010101" pitchFamily="2" charset="-122"/>
              </a:rPr>
              <a:t>当每个状态对于同样的符号，至多只有</a:t>
            </a:r>
            <a:r>
              <a:rPr lang="en-US" altLang="zh-CN" sz="1600" b="1" dirty="0">
                <a:ea typeface="宋体" panose="02010600030101010101" pitchFamily="2" charset="-122"/>
              </a:rPr>
              <a:t>1</a:t>
            </a:r>
            <a:r>
              <a:rPr lang="zh-CN" altLang="en-US" sz="1600" b="1" dirty="0">
                <a:ea typeface="宋体" panose="02010600030101010101" pitchFamily="2" charset="-122"/>
              </a:rPr>
              <a:t>条标注为该符号的转出边时（暂不考虑</a:t>
            </a:r>
            <a:r>
              <a:rPr lang="en-US" altLang="zh-CN" sz="1600" i="1" dirty="0">
                <a:latin typeface="黑体" panose="02010609060101010101" pitchFamily="49" charset="-122"/>
                <a:ea typeface="黑体" panose="02010609060101010101" pitchFamily="49" charset="-122"/>
              </a:rPr>
              <a:t>ε</a:t>
            </a:r>
            <a:r>
              <a:rPr lang="zh-CN" altLang="en-US" sz="1600" b="1" dirty="0">
                <a:ea typeface="宋体" panose="02010600030101010101" pitchFamily="2" charset="-122"/>
              </a:rPr>
              <a:t>）</a:t>
            </a:r>
            <a:endParaRPr lang="en-US" altLang="zh-CN" sz="1600" b="1" dirty="0">
              <a:ea typeface="宋体" panose="02010600030101010101" pitchFamily="2" charset="-122"/>
            </a:endParaRPr>
          </a:p>
          <a:p>
            <a:pPr lvl="4"/>
            <a:r>
              <a:rPr lang="zh-CN" altLang="en-US" sz="1600" b="1" dirty="0">
                <a:ea typeface="宋体" panose="02010600030101010101" pitchFamily="2" charset="-122"/>
              </a:rPr>
              <a:t>识别程序处于某个状态时，总能根据当前看到的输入缓冲区的符号，确定地完成下述某一动作：</a:t>
            </a:r>
            <a:endParaRPr lang="en-US" altLang="zh-CN" sz="1600" b="1" dirty="0">
              <a:ea typeface="宋体" panose="02010600030101010101" pitchFamily="2" charset="-122"/>
            </a:endParaRPr>
          </a:p>
          <a:p>
            <a:pPr lvl="4">
              <a:buNone/>
            </a:pPr>
            <a:r>
              <a:rPr lang="zh-CN" altLang="en-US" sz="1600" b="1" dirty="0">
                <a:ea typeface="宋体" panose="02010600030101010101" pitchFamily="2" charset="-122"/>
              </a:rPr>
              <a:t>      </a:t>
            </a:r>
            <a:r>
              <a:rPr lang="en-US" altLang="zh-CN" sz="1600" b="1" dirty="0">
                <a:ea typeface="宋体" panose="02010600030101010101" pitchFamily="2" charset="-122"/>
              </a:rPr>
              <a:t>1</a:t>
            </a:r>
            <a:r>
              <a:rPr lang="zh-CN" altLang="en-US" sz="1600" b="1" dirty="0">
                <a:ea typeface="宋体" panose="02010600030101010101" pitchFamily="2" charset="-122"/>
              </a:rPr>
              <a:t>）有匹配的转出边，唯一地确定要转移到的状态；</a:t>
            </a:r>
            <a:endParaRPr lang="en-US" altLang="zh-CN" sz="1600" b="1" dirty="0">
              <a:ea typeface="宋体" panose="02010600030101010101" pitchFamily="2" charset="-122"/>
            </a:endParaRPr>
          </a:p>
          <a:p>
            <a:pPr lvl="4">
              <a:buNone/>
            </a:pPr>
            <a:r>
              <a:rPr lang="zh-CN" altLang="en-US" sz="1600" b="1" dirty="0">
                <a:ea typeface="宋体" panose="02010600030101010101" pitchFamily="2" charset="-122"/>
              </a:rPr>
              <a:t>      </a:t>
            </a:r>
            <a:r>
              <a:rPr lang="en-US" altLang="zh-CN" sz="1600" b="1" dirty="0">
                <a:ea typeface="宋体" panose="02010600030101010101" pitchFamily="2" charset="-122"/>
              </a:rPr>
              <a:t>2</a:t>
            </a:r>
            <a:r>
              <a:rPr lang="zh-CN" altLang="en-US" sz="1600" b="1" dirty="0">
                <a:ea typeface="宋体" panose="02010600030101010101" pitchFamily="2" charset="-122"/>
              </a:rPr>
              <a:t>）没有匹配的转出边，且当前状态是终态，宣布成功</a:t>
            </a:r>
            <a:endParaRPr lang="en-US" altLang="zh-CN" sz="1600" b="1" dirty="0">
              <a:ea typeface="宋体" panose="02010600030101010101" pitchFamily="2" charset="-122"/>
            </a:endParaRPr>
          </a:p>
          <a:p>
            <a:pPr lvl="4">
              <a:buNone/>
            </a:pPr>
            <a:r>
              <a:rPr lang="zh-CN" altLang="en-US" sz="1600" b="1" dirty="0">
                <a:ea typeface="宋体" panose="02010600030101010101" pitchFamily="2" charset="-122"/>
              </a:rPr>
              <a:t>      </a:t>
            </a:r>
            <a:r>
              <a:rPr lang="en-US" altLang="zh-CN" sz="1600" b="1" dirty="0">
                <a:ea typeface="宋体" panose="02010600030101010101" pitchFamily="2" charset="-122"/>
              </a:rPr>
              <a:t>3</a:t>
            </a:r>
            <a:r>
              <a:rPr lang="zh-CN" altLang="en-US" sz="1600" b="1" dirty="0">
                <a:ea typeface="宋体" panose="02010600030101010101" pitchFamily="2" charset="-122"/>
              </a:rPr>
              <a:t>）否则，报错</a:t>
            </a:r>
            <a:endParaRPr lang="en-US" altLang="zh-CN" sz="1600" b="1" dirty="0">
              <a:ea typeface="宋体" panose="02010600030101010101" pitchFamily="2" charset="-122"/>
            </a:endParaRPr>
          </a:p>
          <a:p>
            <a:pPr lvl="4"/>
            <a:r>
              <a:rPr lang="zh-CN" altLang="en-US" sz="1600" b="1" dirty="0">
                <a:ea typeface="宋体" panose="02010600030101010101" pitchFamily="2" charset="-122"/>
              </a:rPr>
              <a:t>如果终态有转出边，识别还是确定的吗</a:t>
            </a:r>
            <a:r>
              <a:rPr lang="en-US" altLang="zh-CN" sz="1600" b="1" dirty="0">
                <a:ea typeface="宋体" panose="02010600030101010101" pitchFamily="2" charset="-122"/>
              </a:rPr>
              <a:t>?</a:t>
            </a:r>
            <a:endParaRPr lang="en-US" altLang="zh-CN" sz="1600" b="1" dirty="0">
              <a:ea typeface="宋体" panose="02010600030101010101" pitchFamily="2" charset="-122"/>
            </a:endParaRPr>
          </a:p>
          <a:p>
            <a:pPr lvl="4"/>
            <a:r>
              <a:rPr lang="zh-CN" altLang="en-US" sz="1600" b="1" dirty="0">
                <a:ea typeface="宋体" panose="02010600030101010101" pitchFamily="2" charset="-122"/>
              </a:rPr>
              <a:t>如果一个状态的转出边中有多条边标记的符号相同呢？</a:t>
            </a:r>
            <a:endParaRPr lang="en-US" altLang="zh-CN" sz="1600" b="1" dirty="0">
              <a:ea typeface="宋体" panose="02010600030101010101" pitchFamily="2" charset="-122"/>
            </a:endParaRPr>
          </a:p>
          <a:p>
            <a:pPr lvl="4"/>
            <a:r>
              <a:rPr lang="zh-CN" altLang="en-US" sz="1600" b="1" dirty="0">
                <a:ea typeface="宋体" panose="02010600030101010101" pitchFamily="2" charset="-122"/>
              </a:rPr>
              <a:t>如果有标记为的</a:t>
            </a:r>
            <a:r>
              <a:rPr lang="en-US" altLang="zh-CN" sz="1600" i="1" dirty="0">
                <a:latin typeface="黑体" panose="02010609060101010101" pitchFamily="49" charset="-122"/>
                <a:ea typeface="黑体" panose="02010609060101010101" pitchFamily="49" charset="-122"/>
              </a:rPr>
              <a:t>ε</a:t>
            </a:r>
            <a:r>
              <a:rPr lang="zh-CN" altLang="en-US" sz="1600" b="1" dirty="0">
                <a:ea typeface="宋体" panose="02010600030101010101" pitchFamily="2" charset="-122"/>
              </a:rPr>
              <a:t>边呢？</a:t>
            </a:r>
            <a:endParaRPr lang="en-US" altLang="zh-CN" b="1" dirty="0">
              <a:ea typeface="宋体" panose="02010600030101010101" pitchFamily="2" charset="-12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9634" name="Picture 2"/>
          <p:cNvPicPr>
            <a:picLocks noChangeAspect="1"/>
          </p:cNvPicPr>
          <p:nvPr/>
        </p:nvPicPr>
        <p:blipFill>
          <a:blip r:embed="rId1"/>
          <a:stretch>
            <a:fillRect/>
          </a:stretch>
        </p:blipFill>
        <p:spPr>
          <a:xfrm>
            <a:off x="107950" y="152400"/>
            <a:ext cx="8310563" cy="6276975"/>
          </a:xfrm>
          <a:prstGeom prst="rect">
            <a:avLst/>
          </a:prstGeom>
          <a:noFill/>
          <a:ln w="9525">
            <a:noFill/>
          </a:ln>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0659" name="Rectangle 3"/>
          <p:cNvSpPr>
            <a:spLocks noGrp="1"/>
          </p:cNvSpPr>
          <p:nvPr>
            <p:ph idx="1"/>
          </p:nvPr>
        </p:nvSpPr>
        <p:spPr>
          <a:xfrm>
            <a:off x="609600" y="1600200"/>
            <a:ext cx="7994650" cy="3268663"/>
          </a:xfrm>
        </p:spPr>
        <p:txBody>
          <a:bodyPr vert="horz" wrap="square" lIns="92075" tIns="46038" rIns="92075" bIns="46038" anchor="t" anchorCtr="0"/>
          <a:p>
            <a:r>
              <a:rPr lang="zh-CN" altLang="en-US" sz="2800" b="1" dirty="0">
                <a:latin typeface="宋体" panose="02010600030101010101" pitchFamily="2" charset="-122"/>
                <a:ea typeface="宋体" panose="02010600030101010101" pitchFamily="2" charset="-122"/>
              </a:rPr>
              <a:t>保留字和标识符的识别</a:t>
            </a:r>
            <a:endParaRPr lang="zh-CN" altLang="en-US" sz="2400" b="1" dirty="0">
              <a:latin typeface="宋体" panose="02010600030101010101" pitchFamily="2" charset="-122"/>
              <a:ea typeface="宋体" panose="02010600030101010101" pitchFamily="2" charset="-122"/>
            </a:endParaRPr>
          </a:p>
          <a:p>
            <a:pPr lvl="1"/>
            <a:r>
              <a:rPr lang="zh-CN" altLang="en-US" b="1" dirty="0">
                <a:ea typeface="宋体" panose="02010600030101010101" pitchFamily="2" charset="-122"/>
              </a:rPr>
              <a:t>保留字和标识符采取同样的方式识别（方式一）</a:t>
            </a:r>
            <a:endParaRPr lang="zh-CN" altLang="en-US" b="1" dirty="0">
              <a:ea typeface="宋体" panose="02010600030101010101" pitchFamily="2" charset="-122"/>
            </a:endParaRPr>
          </a:p>
          <a:p>
            <a:pPr lvl="2"/>
            <a:r>
              <a:rPr lang="zh-CN" altLang="en-US" sz="2000" b="1" dirty="0">
                <a:ea typeface="宋体" panose="02010600030101010101" pitchFamily="2" charset="-122"/>
              </a:rPr>
              <a:t>如下图，保留字和标识符识别的状态转换图相同</a:t>
            </a:r>
            <a:endParaRPr lang="en-US" altLang="zh-CN" sz="2000" b="1" dirty="0">
              <a:ea typeface="宋体" panose="02010600030101010101" pitchFamily="2" charset="-122"/>
            </a:endParaRPr>
          </a:p>
          <a:p>
            <a:pPr lvl="2"/>
            <a:r>
              <a:rPr lang="zh-CN" altLang="en-US" sz="2000" b="1" dirty="0">
                <a:ea typeface="宋体" panose="02010600030101010101" pitchFamily="2" charset="-122"/>
              </a:rPr>
              <a:t>如何识别保留字？</a:t>
            </a:r>
            <a:endParaRPr lang="en-US" altLang="zh-CN" sz="2000" b="1" dirty="0">
              <a:ea typeface="宋体" panose="02010600030101010101" pitchFamily="2" charset="-122"/>
            </a:endParaRPr>
          </a:p>
          <a:p>
            <a:pPr lvl="3"/>
            <a:r>
              <a:rPr lang="zh-CN" altLang="en-US" sz="1800" b="1" dirty="0">
                <a:ea typeface="宋体" panose="02010600030101010101" pitchFamily="2" charset="-122"/>
              </a:rPr>
              <a:t>初始化时，将保留字填入符号表，并作标记</a:t>
            </a:r>
            <a:endParaRPr lang="en-US" altLang="zh-CN" sz="1800" b="1" dirty="0">
              <a:ea typeface="宋体" panose="02010600030101010101" pitchFamily="2" charset="-122"/>
            </a:endParaRPr>
          </a:p>
          <a:p>
            <a:pPr lvl="3"/>
            <a:r>
              <a:rPr lang="zh-CN" altLang="en-US" sz="1800" b="1" dirty="0">
                <a:ea typeface="宋体" panose="02010600030101010101" pitchFamily="2" charset="-122"/>
              </a:rPr>
              <a:t>转换图识别后，要查符号表</a:t>
            </a:r>
            <a:endParaRPr lang="en-US" altLang="zh-CN" sz="1800" b="1" dirty="0">
              <a:ea typeface="宋体" panose="02010600030101010101" pitchFamily="2" charset="-122"/>
            </a:endParaRPr>
          </a:p>
          <a:p>
            <a:pPr lvl="4"/>
            <a:r>
              <a:rPr lang="zh-CN" altLang="en-US" sz="1600" b="1" dirty="0">
                <a:ea typeface="宋体" panose="02010600030101010101" pitchFamily="2" charset="-122"/>
              </a:rPr>
              <a:t>若发现该符号是一个保留字（前面已入表，并作了标记），则返回代表这个保留字的特定词法单元</a:t>
            </a:r>
            <a:endParaRPr lang="en-US" altLang="zh-CN" sz="1600" b="1" dirty="0">
              <a:ea typeface="宋体" panose="02010600030101010101" pitchFamily="2" charset="-122"/>
            </a:endParaRPr>
          </a:p>
          <a:p>
            <a:pPr lvl="4"/>
            <a:r>
              <a:rPr lang="zh-CN" altLang="en-US" sz="1600" b="1" dirty="0">
                <a:ea typeface="宋体" panose="02010600030101010101" pitchFamily="2" charset="-122"/>
              </a:rPr>
              <a:t>若非保留字，将其加入符号表，并返回</a:t>
            </a:r>
            <a:r>
              <a:rPr lang="en-US" altLang="zh-CN" sz="1600" b="1" dirty="0">
                <a:ea typeface="宋体" panose="02010600030101010101" pitchFamily="2" charset="-122"/>
              </a:rPr>
              <a:t>&lt;id</a:t>
            </a:r>
            <a:r>
              <a:rPr lang="zh-CN" altLang="en-US" sz="1600" b="1" dirty="0">
                <a:ea typeface="宋体" panose="02010600030101010101" pitchFamily="2" charset="-122"/>
              </a:rPr>
              <a:t>，符号表项指针</a:t>
            </a:r>
            <a:r>
              <a:rPr lang="en-US" altLang="zh-CN" sz="1600" b="1" dirty="0">
                <a:ea typeface="宋体" panose="02010600030101010101" pitchFamily="2" charset="-122"/>
              </a:rPr>
              <a:t>&gt;</a:t>
            </a:r>
            <a:endParaRPr lang="en-US" altLang="zh-CN" sz="1600" b="1" dirty="0">
              <a:ea typeface="宋体" panose="02010600030101010101" pitchFamily="2" charset="-122"/>
            </a:endParaRPr>
          </a:p>
        </p:txBody>
      </p:sp>
      <p:pic>
        <p:nvPicPr>
          <p:cNvPr id="70660" name="Picture 2"/>
          <p:cNvPicPr>
            <a:picLocks noChangeAspect="1"/>
          </p:cNvPicPr>
          <p:nvPr/>
        </p:nvPicPr>
        <p:blipFill>
          <a:blip r:embed="rId1"/>
          <a:stretch>
            <a:fillRect/>
          </a:stretch>
        </p:blipFill>
        <p:spPr>
          <a:xfrm>
            <a:off x="450850" y="4754563"/>
            <a:ext cx="8153400" cy="2103437"/>
          </a:xfrm>
          <a:prstGeom prst="rect">
            <a:avLst/>
          </a:prstGeom>
          <a:noFill/>
          <a:ln w="9525">
            <a:noFill/>
          </a:ln>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a:t>
            </a:r>
            <a:r>
              <a:rPr lang="en-US" altLang="zh-CN" dirty="0">
                <a:latin typeface="宋体" panose="02010600030101010101" pitchFamily="2" charset="-122"/>
                <a:ea typeface="宋体" panose="02010600030101010101" pitchFamily="2" charset="-122"/>
              </a:rPr>
              <a:t>6</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2707" name="Rectangle 3"/>
          <p:cNvSpPr>
            <a:spLocks noGrp="1"/>
          </p:cNvSpPr>
          <p:nvPr>
            <p:ph idx="1"/>
          </p:nvPr>
        </p:nvSpPr>
        <p:spPr>
          <a:xfrm>
            <a:off x="609600" y="1600200"/>
            <a:ext cx="7994650" cy="3124200"/>
          </a:xfrm>
        </p:spPr>
        <p:txBody>
          <a:bodyPr vert="horz" wrap="square" lIns="92075" tIns="46038" rIns="92075" bIns="46038" anchor="t" anchorCtr="0"/>
          <a:p>
            <a:pPr lvl="1"/>
            <a:r>
              <a:rPr lang="zh-CN" altLang="en-US" b="1" dirty="0">
                <a:ea typeface="宋体" panose="02010600030101010101" pitchFamily="2" charset="-122"/>
              </a:rPr>
              <a:t>为每个关键字建立单独的状态转换图（方式二）</a:t>
            </a:r>
            <a:endParaRPr lang="zh-CN" altLang="en-US" b="1" dirty="0">
              <a:ea typeface="宋体" panose="02010600030101010101" pitchFamily="2" charset="-122"/>
            </a:endParaRPr>
          </a:p>
          <a:p>
            <a:pPr lvl="2"/>
            <a:r>
              <a:rPr lang="zh-CN" altLang="en-US" sz="2000" b="1" dirty="0">
                <a:ea typeface="宋体" panose="02010600030101010101" pitchFamily="2" charset="-122"/>
              </a:rPr>
              <a:t>当只看到部分输入时，如何正确区分关键字的识别与一般标识符的识别？如</a:t>
            </a:r>
            <a:r>
              <a:rPr lang="en-US" altLang="zh-CN" sz="2000" i="1" dirty="0">
                <a:ea typeface="宋体" panose="02010600030101010101" pitchFamily="2" charset="-122"/>
              </a:rPr>
              <a:t>then</a:t>
            </a:r>
            <a:r>
              <a:rPr lang="zh-CN" altLang="en-US" sz="2000" b="1" dirty="0">
                <a:ea typeface="宋体" panose="02010600030101010101" pitchFamily="2" charset="-122"/>
              </a:rPr>
              <a:t>和</a:t>
            </a:r>
            <a:r>
              <a:rPr lang="en-US" altLang="zh-CN" sz="2000" b="1" dirty="0">
                <a:ea typeface="宋体" panose="02010600030101010101" pitchFamily="2" charset="-122"/>
              </a:rPr>
              <a:t>them</a:t>
            </a:r>
            <a:endParaRPr lang="en-US" altLang="zh-CN" sz="2000" b="1" dirty="0">
              <a:ea typeface="宋体" panose="02010600030101010101" pitchFamily="2" charset="-122"/>
            </a:endParaRPr>
          </a:p>
          <a:p>
            <a:pPr lvl="3"/>
            <a:r>
              <a:rPr lang="zh-CN" altLang="en-US" sz="1800" b="1" dirty="0">
                <a:ea typeface="宋体" panose="02010600030101010101" pitchFamily="2" charset="-122"/>
              </a:rPr>
              <a:t>设定词法单元间的优先级，在上述情况优先尝试识别关键字</a:t>
            </a:r>
            <a:endParaRPr lang="en-US" altLang="zh-CN" sz="1800" b="1" dirty="0">
              <a:ea typeface="宋体" panose="02010600030101010101" pitchFamily="2" charset="-122"/>
            </a:endParaRPr>
          </a:p>
          <a:p>
            <a:pPr lvl="2"/>
            <a:r>
              <a:rPr lang="zh-CN" altLang="en-US" sz="2000" b="1" dirty="0">
                <a:ea typeface="宋体" panose="02010600030101010101" pitchFamily="2" charset="-122"/>
              </a:rPr>
              <a:t>下图给出了识别关键字</a:t>
            </a:r>
            <a:r>
              <a:rPr lang="en-US" altLang="zh-CN" sz="2000" i="1" dirty="0">
                <a:ea typeface="宋体" panose="02010600030101010101" pitchFamily="2" charset="-122"/>
              </a:rPr>
              <a:t>then</a:t>
            </a:r>
            <a:r>
              <a:rPr lang="zh-CN" altLang="en-US" sz="2000" b="1" dirty="0">
                <a:ea typeface="宋体" panose="02010600030101010101" pitchFamily="2" charset="-122"/>
              </a:rPr>
              <a:t>的一个例子</a:t>
            </a:r>
            <a:endParaRPr lang="en-US" altLang="zh-CN" sz="2000" b="1" dirty="0">
              <a:ea typeface="宋体" panose="02010600030101010101" pitchFamily="2" charset="-122"/>
            </a:endParaRPr>
          </a:p>
          <a:p>
            <a:pPr lvl="3"/>
            <a:r>
              <a:rPr lang="zh-CN" altLang="en-US" sz="1800" b="1" dirty="0">
                <a:ea typeface="宋体" panose="02010600030101010101" pitchFamily="2" charset="-122"/>
              </a:rPr>
              <a:t>本书不采用此方法（单独构建转换图），所以未给状态编号</a:t>
            </a:r>
            <a:endParaRPr lang="en-US" altLang="zh-CN" sz="1800" b="1" dirty="0">
              <a:ea typeface="宋体" panose="02010600030101010101" pitchFamily="2" charset="-122"/>
            </a:endParaRPr>
          </a:p>
          <a:p>
            <a:pPr lvl="2"/>
            <a:r>
              <a:rPr lang="en-US" altLang="zh-CN" sz="2000" b="1" dirty="0">
                <a:ea typeface="宋体" panose="02010600030101010101" pitchFamily="2" charset="-122"/>
              </a:rPr>
              <a:t>nonlet/dig</a:t>
            </a:r>
            <a:r>
              <a:rPr lang="zh-CN" altLang="en-US" sz="2000" b="1" dirty="0">
                <a:ea typeface="宋体" panose="02010600030101010101" pitchFamily="2" charset="-122"/>
              </a:rPr>
              <a:t>（指非字母、非数字），保证识别的保留字完整无误，例如不会是</a:t>
            </a:r>
            <a:r>
              <a:rPr lang="en-US" altLang="zh-CN" sz="2000" b="1" dirty="0">
                <a:ea typeface="宋体" panose="02010600030101010101" pitchFamily="2" charset="-122"/>
              </a:rPr>
              <a:t>thenext</a:t>
            </a:r>
            <a:endParaRPr lang="en-US" altLang="zh-CN" sz="2000" b="1" dirty="0">
              <a:ea typeface="宋体" panose="02010600030101010101" pitchFamily="2" charset="-122"/>
            </a:endParaRPr>
          </a:p>
        </p:txBody>
      </p:sp>
      <p:pic>
        <p:nvPicPr>
          <p:cNvPr id="72708" name="Picture 3"/>
          <p:cNvPicPr>
            <a:picLocks noChangeAspect="1"/>
          </p:cNvPicPr>
          <p:nvPr/>
        </p:nvPicPr>
        <p:blipFill>
          <a:blip r:embed="rId1"/>
          <a:stretch>
            <a:fillRect/>
          </a:stretch>
        </p:blipFill>
        <p:spPr>
          <a:xfrm>
            <a:off x="404813" y="4724400"/>
            <a:ext cx="8405812" cy="1546225"/>
          </a:xfrm>
          <a:prstGeom prst="rect">
            <a:avLst/>
          </a:prstGeom>
          <a:noFill/>
          <a:ln w="9525">
            <a:noFill/>
          </a:ln>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4755" name="Rectangle 3"/>
          <p:cNvSpPr>
            <a:spLocks noGrp="1"/>
          </p:cNvSpPr>
          <p:nvPr>
            <p:ph idx="1"/>
          </p:nvPr>
        </p:nvSpPr>
        <p:spPr>
          <a:xfrm>
            <a:off x="609600" y="1600200"/>
            <a:ext cx="7994650" cy="4852988"/>
          </a:xfrm>
        </p:spPr>
        <p:txBody>
          <a:bodyPr vert="horz" wrap="square" lIns="92075" tIns="46038" rIns="92075" bIns="46038" anchor="t" anchorCtr="0"/>
          <a:p>
            <a:r>
              <a:rPr lang="zh-CN" altLang="en-US" sz="2800" b="1" dirty="0">
                <a:latin typeface="宋体" panose="02010600030101010101" pitchFamily="2" charset="-122"/>
                <a:ea typeface="宋体" panose="02010600030101010101" pitchFamily="2" charset="-122"/>
              </a:rPr>
              <a:t>完成词法单元识别的例子</a:t>
            </a:r>
            <a:endParaRPr lang="zh-CN" altLang="en-US" sz="2400" b="1" dirty="0">
              <a:latin typeface="宋体" panose="02010600030101010101" pitchFamily="2" charset="-122"/>
              <a:ea typeface="宋体" panose="02010600030101010101" pitchFamily="2" charset="-122"/>
            </a:endParaRPr>
          </a:p>
          <a:p>
            <a:pPr lvl="1"/>
            <a:r>
              <a:rPr lang="zh-CN" altLang="en-US" b="1" dirty="0">
                <a:ea typeface="宋体" panose="02010600030101010101" pitchFamily="2" charset="-122"/>
              </a:rPr>
              <a:t>下图给出了识别标识符的状态转换图</a:t>
            </a:r>
            <a:endParaRPr lang="en-US" altLang="zh-CN" b="1" dirty="0">
              <a:ea typeface="宋体" panose="02010600030101010101" pitchFamily="2" charset="-122"/>
            </a:endParaRPr>
          </a:p>
          <a:p>
            <a:pPr lvl="1"/>
            <a:endParaRPr lang="en-US" altLang="zh-CN" b="1" dirty="0">
              <a:ea typeface="宋体" panose="02010600030101010101" pitchFamily="2" charset="-122"/>
            </a:endParaRPr>
          </a:p>
          <a:p>
            <a:pPr lvl="1"/>
            <a:endParaRPr lang="en-US" altLang="zh-CN" b="1" dirty="0">
              <a:ea typeface="宋体" panose="02010600030101010101" pitchFamily="2" charset="-122"/>
            </a:endParaRPr>
          </a:p>
          <a:p>
            <a:pPr lvl="1"/>
            <a:endParaRPr lang="en-US" altLang="zh-CN" b="1" dirty="0">
              <a:ea typeface="宋体" panose="02010600030101010101" pitchFamily="2" charset="-122"/>
            </a:endParaRPr>
          </a:p>
          <a:p>
            <a:pPr lvl="1"/>
            <a:r>
              <a:rPr lang="zh-CN" altLang="en-US" b="1" dirty="0">
                <a:ea typeface="宋体" panose="02010600030101010101" pitchFamily="2" charset="-122"/>
              </a:rPr>
              <a:t>下图给出了识别词法单元</a:t>
            </a:r>
            <a:r>
              <a:rPr lang="en-US" altLang="zh-CN" b="1" dirty="0">
                <a:ea typeface="宋体" panose="02010600030101010101" pitchFamily="2" charset="-122"/>
              </a:rPr>
              <a:t>number</a:t>
            </a:r>
            <a:r>
              <a:rPr lang="zh-CN" altLang="en-US" b="1" dirty="0">
                <a:ea typeface="宋体" panose="02010600030101010101" pitchFamily="2" charset="-122"/>
              </a:rPr>
              <a:t>的状态转换图</a:t>
            </a:r>
            <a:endParaRPr lang="zh-CN" altLang="en-US" b="1" dirty="0">
              <a:ea typeface="宋体" panose="02010600030101010101" pitchFamily="2" charset="-122"/>
            </a:endParaRPr>
          </a:p>
        </p:txBody>
      </p:sp>
      <p:pic>
        <p:nvPicPr>
          <p:cNvPr id="74756" name="Picture 2"/>
          <p:cNvPicPr>
            <a:picLocks noChangeAspect="1"/>
          </p:cNvPicPr>
          <p:nvPr/>
        </p:nvPicPr>
        <p:blipFill>
          <a:blip r:embed="rId1"/>
          <a:stretch>
            <a:fillRect/>
          </a:stretch>
        </p:blipFill>
        <p:spPr>
          <a:xfrm>
            <a:off x="914400" y="2492375"/>
            <a:ext cx="7505700" cy="1441450"/>
          </a:xfrm>
          <a:prstGeom prst="rect">
            <a:avLst/>
          </a:prstGeom>
          <a:noFill/>
          <a:ln w="9525">
            <a:noFill/>
          </a:ln>
        </p:spPr>
      </p:pic>
      <p:pic>
        <p:nvPicPr>
          <p:cNvPr id="74757" name="Picture 2"/>
          <p:cNvPicPr>
            <a:picLocks noChangeAspect="1"/>
          </p:cNvPicPr>
          <p:nvPr/>
        </p:nvPicPr>
        <p:blipFill>
          <a:blip r:embed="rId2"/>
          <a:stretch>
            <a:fillRect/>
          </a:stretch>
        </p:blipFill>
        <p:spPr>
          <a:xfrm>
            <a:off x="708025" y="4335463"/>
            <a:ext cx="7956550" cy="2522537"/>
          </a:xfrm>
          <a:prstGeom prst="rect">
            <a:avLst/>
          </a:prstGeom>
          <a:noFill/>
          <a:ln w="9525">
            <a:noFill/>
          </a:ln>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6803" name="Rectangle 3"/>
          <p:cNvSpPr>
            <a:spLocks noGrp="1"/>
          </p:cNvSpPr>
          <p:nvPr>
            <p:ph idx="1"/>
          </p:nvPr>
        </p:nvSpPr>
        <p:spPr>
          <a:xfrm>
            <a:off x="609600" y="1600200"/>
            <a:ext cx="7994650" cy="4852988"/>
          </a:xfrm>
        </p:spPr>
        <p:txBody>
          <a:bodyPr vert="horz" wrap="square" lIns="92075" tIns="46038" rIns="92075" bIns="46038" anchor="t" anchorCtr="0"/>
          <a:p>
            <a:pPr lvl="1"/>
            <a:r>
              <a:rPr lang="zh-CN" altLang="en-US" b="1" dirty="0">
                <a:ea typeface="宋体" panose="02010600030101010101" pitchFamily="2" charset="-122"/>
              </a:rPr>
              <a:t>下图给出了识别空白符（</a:t>
            </a:r>
            <a:r>
              <a:rPr lang="en-US" altLang="zh-CN" b="1" dirty="0">
                <a:ea typeface="宋体" panose="02010600030101010101" pitchFamily="2" charset="-122"/>
              </a:rPr>
              <a:t>whitespace</a:t>
            </a:r>
            <a:r>
              <a:rPr lang="zh-CN" altLang="en-US" b="1" dirty="0">
                <a:ea typeface="宋体" panose="02010600030101010101" pitchFamily="2" charset="-122"/>
              </a:rPr>
              <a:t>）的状态转换图</a:t>
            </a:r>
            <a:endParaRPr lang="en-US" altLang="zh-CN" b="1" dirty="0">
              <a:ea typeface="宋体" panose="02010600030101010101" pitchFamily="2" charset="-122"/>
            </a:endParaRPr>
          </a:p>
          <a:p>
            <a:pPr lvl="2"/>
            <a:r>
              <a:rPr lang="zh-CN" altLang="en-US" b="1" dirty="0">
                <a:ea typeface="宋体" panose="02010600030101010101" pitchFamily="2" charset="-122"/>
              </a:rPr>
              <a:t>空白符用</a:t>
            </a:r>
            <a:r>
              <a:rPr lang="en-US" altLang="zh-CN" b="1" dirty="0">
                <a:ea typeface="宋体" panose="02010600030101010101" pitchFamily="2" charset="-122"/>
              </a:rPr>
              <a:t>delim</a:t>
            </a:r>
            <a:r>
              <a:rPr lang="zh-CN" altLang="en-US" b="1" dirty="0">
                <a:ea typeface="宋体" panose="02010600030101010101" pitchFamily="2" charset="-122"/>
              </a:rPr>
              <a:t>表示</a:t>
            </a:r>
            <a:endParaRPr lang="en-US" altLang="zh-CN" b="1" dirty="0">
              <a:ea typeface="宋体" panose="02010600030101010101" pitchFamily="2" charset="-122"/>
            </a:endParaRPr>
          </a:p>
          <a:p>
            <a:pPr lvl="2"/>
            <a:r>
              <a:rPr lang="zh-CN" altLang="en-US" b="1" dirty="0">
                <a:ea typeface="宋体" panose="02010600030101010101" pitchFamily="2" charset="-122"/>
              </a:rPr>
              <a:t>如空格、制表符、换行符等</a:t>
            </a:r>
            <a:endParaRPr lang="en-US" altLang="zh-CN" b="1" dirty="0">
              <a:ea typeface="宋体" panose="02010600030101010101" pitchFamily="2" charset="-122"/>
            </a:endParaRPr>
          </a:p>
          <a:p>
            <a:pPr lvl="2"/>
            <a:r>
              <a:rPr lang="zh-CN" altLang="en-US" b="1" dirty="0">
                <a:ea typeface="宋体" panose="02010600030101010101" pitchFamily="2" charset="-122"/>
              </a:rPr>
              <a:t>空白符被识别后，一般不向语法分析程序反馈，而是开始新的词法单元的识别</a:t>
            </a:r>
            <a:endParaRPr lang="en-US" altLang="zh-CN" b="1" dirty="0">
              <a:ea typeface="宋体" panose="02010600030101010101" pitchFamily="2" charset="-122"/>
            </a:endParaRPr>
          </a:p>
        </p:txBody>
      </p:sp>
      <p:pic>
        <p:nvPicPr>
          <p:cNvPr id="76804" name="Picture 3"/>
          <p:cNvPicPr>
            <a:picLocks noChangeAspect="1"/>
          </p:cNvPicPr>
          <p:nvPr/>
        </p:nvPicPr>
        <p:blipFill>
          <a:blip r:embed="rId1"/>
          <a:stretch>
            <a:fillRect/>
          </a:stretch>
        </p:blipFill>
        <p:spPr>
          <a:xfrm>
            <a:off x="1019175" y="4022725"/>
            <a:ext cx="7175500" cy="2278063"/>
          </a:xfrm>
          <a:prstGeom prst="rect">
            <a:avLst/>
          </a:prstGeom>
          <a:noFill/>
          <a:ln w="9525">
            <a:noFill/>
          </a:ln>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1026"/>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a:t>
            </a:r>
            <a:r>
              <a:rPr lang="en-US" altLang="zh-CN" dirty="0">
                <a:latin typeface="宋体" panose="02010600030101010101" pitchFamily="2" charset="-122"/>
                <a:ea typeface="宋体" panose="02010600030101010101" pitchFamily="2" charset="-122"/>
              </a:rPr>
              <a:t>9</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78851" name="Rectangle 1027"/>
          <p:cNvSpPr>
            <a:spLocks noGrp="1"/>
          </p:cNvSpPr>
          <p:nvPr>
            <p:ph idx="1"/>
          </p:nvPr>
        </p:nvSpPr>
        <p:spPr>
          <a:xfrm>
            <a:off x="609600" y="1600200"/>
            <a:ext cx="7772400" cy="4648200"/>
          </a:xfrm>
        </p:spPr>
        <p:txBody>
          <a:bodyPr vert="horz" wrap="square" lIns="92075" tIns="46038" rIns="92075" bIns="46038" anchor="t" anchorCtr="0"/>
          <a:p>
            <a:r>
              <a:rPr lang="zh-CN" altLang="en-US" b="1" dirty="0">
                <a:ea typeface="宋体" panose="02010600030101010101" pitchFamily="2" charset="-122"/>
              </a:rPr>
              <a:t>词法单元的识别</a:t>
            </a:r>
            <a:endParaRPr lang="zh-CN" altLang="en-US" b="1" dirty="0">
              <a:ea typeface="宋体" panose="02010600030101010101" pitchFamily="2" charset="-122"/>
            </a:endParaRPr>
          </a:p>
          <a:p>
            <a:pPr lvl="1"/>
            <a:r>
              <a:rPr lang="zh-CN" altLang="en-US" b="1" dirty="0">
                <a:ea typeface="宋体" panose="02010600030101010101" pitchFamily="2" charset="-122"/>
              </a:rPr>
              <a:t>状态转换图的实现</a:t>
            </a:r>
            <a:endParaRPr lang="zh-CN" altLang="en-US" b="1" dirty="0">
              <a:ea typeface="宋体" panose="02010600030101010101" pitchFamily="2" charset="-122"/>
            </a:endParaRPr>
          </a:p>
          <a:p>
            <a:pPr lvl="2"/>
            <a:r>
              <a:rPr lang="zh-CN" altLang="en-US" b="1" dirty="0">
                <a:ea typeface="宋体" panose="02010600030101010101" pitchFamily="2" charset="-122"/>
              </a:rPr>
              <a:t>每个状态可以通过一小段程序实现</a:t>
            </a:r>
            <a:endParaRPr lang="zh-CN" altLang="en-US" b="1" dirty="0">
              <a:ea typeface="宋体" panose="02010600030101010101" pitchFamily="2" charset="-122"/>
            </a:endParaRPr>
          </a:p>
          <a:p>
            <a:pPr lvl="3"/>
            <a:r>
              <a:rPr lang="zh-CN" altLang="en-US" b="1" dirty="0">
                <a:ea typeface="宋体" panose="02010600030101010101" pitchFamily="2" charset="-122"/>
              </a:rPr>
              <a:t>如果当前的状态是终态，返回符号相关信息</a:t>
            </a:r>
            <a:endParaRPr lang="zh-CN" altLang="en-US" b="1" dirty="0">
              <a:ea typeface="宋体" panose="02010600030101010101" pitchFamily="2" charset="-122"/>
            </a:endParaRPr>
          </a:p>
          <a:p>
            <a:pPr lvl="3"/>
            <a:r>
              <a:rPr lang="zh-CN" altLang="en-US" b="1" dirty="0">
                <a:ea typeface="宋体" panose="02010600030101010101" pitchFamily="2" charset="-122"/>
              </a:rPr>
              <a:t>如果有边离开该状态，则读入一个字符，并根据这个字符选择后续的状态，并将控制转交那个状态</a:t>
            </a:r>
            <a:endParaRPr lang="zh-CN" altLang="en-US" b="1" dirty="0">
              <a:ea typeface="宋体" panose="02010600030101010101" pitchFamily="2" charset="-122"/>
            </a:endParaRPr>
          </a:p>
          <a:p>
            <a:pPr lvl="3"/>
            <a:r>
              <a:rPr lang="zh-CN" altLang="en-US" b="1" dirty="0">
                <a:ea typeface="宋体" panose="02010600030101010101" pitchFamily="2" charset="-122"/>
              </a:rPr>
              <a:t>如果出边没有匹配的字符，且该状态不是终态，则调用失败子程序，把输入指针撤回到开始指针的地方，启动对下一个转换图的记号的搜索</a:t>
            </a:r>
            <a:endParaRPr lang="zh-CN" altLang="en-US" b="1" dirty="0">
              <a:ea typeface="宋体" panose="02010600030101010101" pitchFamily="2" charset="-122"/>
            </a:endParaRPr>
          </a:p>
          <a:p>
            <a:pPr lvl="3"/>
            <a:r>
              <a:rPr lang="zh-CN" altLang="en-US" b="1" dirty="0">
                <a:ea typeface="宋体" panose="02010600030101010101" pitchFamily="2" charset="-122"/>
              </a:rPr>
              <a:t>如果不存在下一个转换图，则调用错误恢复子程序</a:t>
            </a:r>
            <a:endParaRPr lang="zh-CN" altLang="en-US" b="1" dirty="0">
              <a:ea typeface="宋体" panose="02010600030101010101" pitchFamily="2" charset="-122"/>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1026"/>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a:t>
            </a:r>
            <a:r>
              <a:rPr lang="en-US" altLang="zh-CN" dirty="0">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0899" name="Rectangle 1027"/>
          <p:cNvSpPr>
            <a:spLocks noGrp="1"/>
          </p:cNvSpPr>
          <p:nvPr>
            <p:ph idx="1"/>
          </p:nvPr>
        </p:nvSpPr>
        <p:spPr>
          <a:xfrm>
            <a:off x="468313" y="1371600"/>
            <a:ext cx="7772400" cy="4648200"/>
          </a:xfrm>
        </p:spPr>
        <p:txBody>
          <a:bodyPr vert="horz" wrap="square" lIns="92075" tIns="46038" rIns="92075" bIns="46038" anchor="t" anchorCtr="0"/>
          <a:p>
            <a:pPr lvl="1"/>
            <a:r>
              <a:rPr lang="zh-CN" altLang="en-US" b="1" dirty="0">
                <a:ea typeface="宋体" panose="02010600030101010101" pitchFamily="2" charset="-122"/>
              </a:rPr>
              <a:t>下图给出了</a:t>
            </a:r>
            <a:r>
              <a:rPr lang="en-US" altLang="zh-CN" b="1" dirty="0">
                <a:ea typeface="宋体" panose="02010600030101010101" pitchFamily="2" charset="-122"/>
              </a:rPr>
              <a:t>relop</a:t>
            </a:r>
            <a:r>
              <a:rPr lang="zh-CN" altLang="en-US" b="1" dirty="0">
                <a:ea typeface="宋体" panose="02010600030101010101" pitchFamily="2" charset="-122"/>
              </a:rPr>
              <a:t>转换图（</a:t>
            </a:r>
            <a:r>
              <a:rPr lang="en-US" altLang="zh-CN" b="1" dirty="0">
                <a:ea typeface="宋体" panose="02010600030101010101" pitchFamily="2" charset="-122"/>
              </a:rPr>
              <a:t>P34</a:t>
            </a:r>
            <a:r>
              <a:rPr lang="zh-CN" altLang="en-US" b="1" dirty="0">
                <a:ea typeface="宋体" panose="02010600030101010101" pitchFamily="2" charset="-122"/>
              </a:rPr>
              <a:t>页图）的概要实现</a:t>
            </a:r>
            <a:endParaRPr lang="zh-CN" altLang="en-US" b="1" dirty="0">
              <a:ea typeface="宋体" panose="02010600030101010101" pitchFamily="2" charset="-122"/>
            </a:endParaRPr>
          </a:p>
        </p:txBody>
      </p:sp>
      <p:pic>
        <p:nvPicPr>
          <p:cNvPr id="80900" name="Picture 2"/>
          <p:cNvPicPr>
            <a:picLocks noChangeAspect="1"/>
          </p:cNvPicPr>
          <p:nvPr/>
        </p:nvPicPr>
        <p:blipFill>
          <a:blip r:embed="rId1"/>
          <a:stretch>
            <a:fillRect/>
          </a:stretch>
        </p:blipFill>
        <p:spPr>
          <a:xfrm>
            <a:off x="1547813" y="1844675"/>
            <a:ext cx="6230937" cy="5013325"/>
          </a:xfrm>
          <a:prstGeom prst="rect">
            <a:avLst/>
          </a:prstGeom>
          <a:noFill/>
          <a:ln w="9525">
            <a:noFill/>
          </a:ln>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1026"/>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词法单元的识别（</a:t>
            </a:r>
            <a:r>
              <a:rPr lang="en-US" altLang="zh-CN" dirty="0">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82947" name="Rectangle 1027"/>
          <p:cNvSpPr>
            <a:spLocks noGrp="1"/>
          </p:cNvSpPr>
          <p:nvPr>
            <p:ph idx="1"/>
          </p:nvPr>
        </p:nvSpPr>
        <p:spPr>
          <a:xfrm>
            <a:off x="609600" y="1600200"/>
            <a:ext cx="7772400" cy="4648200"/>
          </a:xfrm>
        </p:spPr>
        <p:txBody>
          <a:bodyPr vert="horz" wrap="square" lIns="92075" tIns="46038" rIns="92075" bIns="46038" anchor="t" anchorCtr="0"/>
          <a:p>
            <a:pPr lvl="1"/>
            <a:r>
              <a:rPr lang="zh-CN" altLang="en-US" b="1" dirty="0">
                <a:ea typeface="宋体" panose="02010600030101010101" pitchFamily="2" charset="-122"/>
              </a:rPr>
              <a:t>多个状态转换图的合成，构造完成的词法分析程序</a:t>
            </a:r>
            <a:endParaRPr lang="zh-CN" altLang="en-US" b="1" dirty="0">
              <a:ea typeface="宋体" panose="02010600030101010101" pitchFamily="2" charset="-122"/>
            </a:endParaRPr>
          </a:p>
          <a:p>
            <a:pPr lvl="2"/>
            <a:r>
              <a:rPr lang="zh-CN" altLang="en-US" b="1" dirty="0">
                <a:ea typeface="宋体" panose="02010600030101010101" pitchFamily="2" charset="-122"/>
              </a:rPr>
              <a:t>词法分析程序</a:t>
            </a:r>
            <a:r>
              <a:rPr lang="zh-CN" altLang="en-US" b="1" dirty="0">
                <a:solidFill>
                  <a:srgbClr val="FF0000"/>
                </a:solidFill>
                <a:latin typeface="Arial Black" panose="020B0A04020102020204" pitchFamily="34" charset="0"/>
                <a:ea typeface="宋体" panose="02010600030101010101" pitchFamily="2" charset="-122"/>
              </a:rPr>
              <a:t>顺序</a:t>
            </a:r>
            <a:r>
              <a:rPr lang="zh-CN" altLang="en-US" b="1" dirty="0">
                <a:ea typeface="宋体" panose="02010600030101010101" pitchFamily="2" charset="-122"/>
              </a:rPr>
              <a:t>尝试各个状态转换图</a:t>
            </a:r>
            <a:endParaRPr lang="zh-CN" altLang="en-US" b="1" dirty="0">
              <a:ea typeface="宋体" panose="02010600030101010101" pitchFamily="2" charset="-122"/>
            </a:endParaRPr>
          </a:p>
          <a:p>
            <a:pPr lvl="3"/>
            <a:r>
              <a:rPr lang="zh-CN" altLang="en-US" b="1" dirty="0">
                <a:ea typeface="宋体" panose="02010600030101010101" pitchFamily="2" charset="-122"/>
              </a:rPr>
              <a:t>某个转换图不能成功识别，启动下一个转换图识别时，要重置</a:t>
            </a:r>
            <a:r>
              <a:rPr lang="en-US" altLang="zh-CN" i="1" dirty="0">
                <a:ea typeface="宋体" panose="02010600030101010101" pitchFamily="2" charset="-122"/>
              </a:rPr>
              <a:t>forward</a:t>
            </a:r>
            <a:r>
              <a:rPr lang="zh-CN" altLang="en-US" b="1" dirty="0">
                <a:ea typeface="宋体" panose="02010600030101010101" pitchFamily="2" charset="-122"/>
              </a:rPr>
              <a:t>指针</a:t>
            </a:r>
            <a:endParaRPr lang="zh-CN" altLang="en-US" b="1" dirty="0">
              <a:ea typeface="宋体" panose="02010600030101010101" pitchFamily="2" charset="-122"/>
            </a:endParaRPr>
          </a:p>
          <a:p>
            <a:pPr lvl="4"/>
            <a:r>
              <a:rPr lang="zh-CN" altLang="en-US" b="1" dirty="0">
                <a:ea typeface="宋体" panose="02010600030101010101" pitchFamily="2" charset="-122"/>
              </a:rPr>
              <a:t>对于为每个保留字单独构建转换图的方法，这个方式易于自然地实现保留字和标识符的识别</a:t>
            </a:r>
            <a:endParaRPr lang="zh-CN" altLang="en-US" b="1" dirty="0">
              <a:ea typeface="宋体" panose="02010600030101010101" pitchFamily="2" charset="-122"/>
            </a:endParaRPr>
          </a:p>
          <a:p>
            <a:pPr lvl="2"/>
            <a:r>
              <a:rPr lang="zh-CN" altLang="en-US" b="1" dirty="0">
                <a:solidFill>
                  <a:srgbClr val="FF0000"/>
                </a:solidFill>
                <a:latin typeface="Arial Black" panose="020B0A04020102020204" pitchFamily="34" charset="0"/>
                <a:ea typeface="宋体" panose="02010600030101010101" pitchFamily="2" charset="-122"/>
              </a:rPr>
              <a:t>并行运行</a:t>
            </a:r>
            <a:r>
              <a:rPr lang="zh-CN" altLang="en-US" b="1" dirty="0">
                <a:ea typeface="宋体" panose="02010600030101010101" pitchFamily="2" charset="-122"/>
              </a:rPr>
              <a:t>各个状态转换图</a:t>
            </a:r>
            <a:endParaRPr lang="zh-CN" altLang="en-US" b="1" dirty="0">
              <a:ea typeface="宋体" panose="02010600030101010101" pitchFamily="2" charset="-122"/>
            </a:endParaRPr>
          </a:p>
          <a:p>
            <a:pPr lvl="3"/>
            <a:r>
              <a:rPr lang="zh-CN" altLang="en-US" b="1" dirty="0">
                <a:ea typeface="宋体" panose="02010600030101010101" pitchFamily="2" charset="-122"/>
              </a:rPr>
              <a:t>对于</a:t>
            </a:r>
            <a:r>
              <a:rPr lang="en-US" altLang="zh-CN" b="1" dirty="0">
                <a:ea typeface="宋体" panose="02010600030101010101" pitchFamily="2" charset="-122"/>
              </a:rPr>
              <a:t>&gt;</a:t>
            </a:r>
            <a:r>
              <a:rPr lang="zh-CN" altLang="en-US" b="1" dirty="0">
                <a:ea typeface="宋体" panose="02010600030101010101" pitchFamily="2" charset="-122"/>
              </a:rPr>
              <a:t>和</a:t>
            </a:r>
            <a:r>
              <a:rPr lang="en-US" altLang="zh-CN" b="1" dirty="0">
                <a:ea typeface="宋体" panose="02010600030101010101" pitchFamily="2" charset="-122"/>
              </a:rPr>
              <a:t>&gt;=</a:t>
            </a:r>
            <a:r>
              <a:rPr lang="zh-CN" altLang="en-US" b="1" dirty="0">
                <a:ea typeface="宋体" panose="02010600030101010101" pitchFamily="2" charset="-122"/>
              </a:rPr>
              <a:t>，或</a:t>
            </a:r>
            <a:r>
              <a:rPr lang="en-US" altLang="zh-CN" i="1" dirty="0">
                <a:ea typeface="宋体" panose="02010600030101010101" pitchFamily="2" charset="-122"/>
              </a:rPr>
              <a:t>then</a:t>
            </a:r>
            <a:r>
              <a:rPr lang="zh-CN" altLang="en-US" b="1" dirty="0">
                <a:ea typeface="宋体" panose="02010600030101010101" pitchFamily="2" charset="-122"/>
              </a:rPr>
              <a:t>和</a:t>
            </a:r>
            <a:r>
              <a:rPr lang="en-US" altLang="zh-CN" b="1" dirty="0">
                <a:ea typeface="宋体" panose="02010600030101010101" pitchFamily="2" charset="-122"/>
              </a:rPr>
              <a:t>thenext</a:t>
            </a:r>
            <a:r>
              <a:rPr lang="zh-CN" altLang="en-US" b="1" dirty="0">
                <a:ea typeface="宋体" panose="02010600030101010101" pitchFamily="2" charset="-122"/>
              </a:rPr>
              <a:t>等，一个匹配成功时，另一个还在分析</a:t>
            </a:r>
            <a:endParaRPr lang="en-US" altLang="zh-CN" b="1" dirty="0">
              <a:ea typeface="宋体" panose="02010600030101010101" pitchFamily="2" charset="-122"/>
            </a:endParaRPr>
          </a:p>
          <a:p>
            <a:pPr lvl="4"/>
            <a:r>
              <a:rPr lang="zh-CN" altLang="en-US" b="1" dirty="0">
                <a:ea typeface="宋体" panose="02010600030101010101" pitchFamily="2" charset="-122"/>
              </a:rPr>
              <a:t>可采用最长子串方式，取更长的串，因此前述例子分别识别</a:t>
            </a:r>
            <a:r>
              <a:rPr lang="en-US" altLang="zh-CN" b="1" dirty="0">
                <a:ea typeface="宋体" panose="02010600030101010101" pitchFamily="2" charset="-122"/>
              </a:rPr>
              <a:t>&gt;=</a:t>
            </a:r>
            <a:r>
              <a:rPr lang="zh-CN" altLang="en-US" b="1" dirty="0">
                <a:ea typeface="宋体" panose="02010600030101010101" pitchFamily="2" charset="-122"/>
              </a:rPr>
              <a:t>和</a:t>
            </a:r>
            <a:r>
              <a:rPr lang="en-US" altLang="zh-CN" b="1" dirty="0">
                <a:ea typeface="宋体" panose="02010600030101010101" pitchFamily="2" charset="-122"/>
              </a:rPr>
              <a:t>thenext</a:t>
            </a:r>
            <a:endParaRPr lang="en-US" altLang="zh-CN" b="1" dirty="0">
              <a:ea typeface="宋体" panose="02010600030101010101" pitchFamily="2" charset="-122"/>
            </a:endParaRPr>
          </a:p>
          <a:p>
            <a:pPr lvl="2"/>
            <a:r>
              <a:rPr lang="zh-CN" altLang="en-US" b="1" dirty="0">
                <a:ea typeface="宋体" panose="02010600030101010101" pitchFamily="2" charset="-122"/>
              </a:rPr>
              <a:t>将转换图</a:t>
            </a:r>
            <a:r>
              <a:rPr lang="zh-CN" altLang="en-US" b="1" dirty="0">
                <a:solidFill>
                  <a:srgbClr val="FF0000"/>
                </a:solidFill>
                <a:latin typeface="Arial Black" panose="020B0A04020102020204" pitchFamily="34" charset="0"/>
                <a:ea typeface="宋体" panose="02010600030101010101" pitchFamily="2" charset="-122"/>
              </a:rPr>
              <a:t>合并</a:t>
            </a:r>
            <a:r>
              <a:rPr lang="zh-CN" altLang="en-US" b="1" dirty="0">
                <a:ea typeface="宋体" panose="02010600030101010101" pitchFamily="2" charset="-122"/>
              </a:rPr>
              <a:t>成一个图</a:t>
            </a:r>
            <a:endParaRPr lang="en-US" altLang="zh-CN" b="1" dirty="0">
              <a:ea typeface="宋体" panose="02010600030101010101" pitchFamily="2" charset="-122"/>
            </a:endParaRPr>
          </a:p>
          <a:p>
            <a:pPr lvl="3"/>
            <a:r>
              <a:rPr lang="zh-CN" altLang="en-US" b="1" dirty="0">
                <a:ea typeface="宋体" panose="02010600030101010101" pitchFamily="2" charset="-122"/>
              </a:rPr>
              <a:t>识别时，优先识别更长的串</a:t>
            </a:r>
            <a:endParaRPr lang="en-US" altLang="zh-CN" b="1" dirty="0">
              <a:ea typeface="宋体" panose="02010600030101010101" pitchFamily="2" charset="-122"/>
            </a:endParaRPr>
          </a:p>
          <a:p>
            <a:pPr lvl="3"/>
            <a:r>
              <a:rPr lang="zh-CN" altLang="en-US" b="1" dirty="0">
                <a:ea typeface="宋体" panose="02010600030101010101" pitchFamily="2" charset="-122"/>
              </a:rPr>
              <a:t>要小心处理合并可能带来的不确定性等各种情况</a:t>
            </a:r>
            <a:endParaRPr lang="zh-CN" altLang="en-US" b="1" dirty="0">
              <a:ea typeface="宋体" panose="02010600030101010101" pitchFamily="2" charset="-122"/>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a:t>
            </a:r>
            <a:endParaRPr lang="zh-CN" altLang="en-US" dirty="0">
              <a:latin typeface="宋体" panose="02010600030101010101" pitchFamily="2" charset="-122"/>
              <a:ea typeface="宋体" panose="02010600030101010101" pitchFamily="2" charset="-122"/>
            </a:endParaRPr>
          </a:p>
        </p:txBody>
      </p:sp>
      <p:sp>
        <p:nvSpPr>
          <p:cNvPr id="84995" name="Rectangle 3"/>
          <p:cNvSpPr>
            <a:spLocks noGrp="1"/>
          </p:cNvSpPr>
          <p:nvPr>
            <p:ph idx="1"/>
          </p:nvPr>
        </p:nvSpPr>
        <p:spPr>
          <a:xfrm>
            <a:off x="990600" y="1600200"/>
            <a:ext cx="7391400" cy="4953000"/>
          </a:xfrm>
        </p:spPr>
        <p:txBody>
          <a:bodyPr vert="horz" wrap="square" lIns="92075" tIns="46038" rIns="92075" bIns="46038" anchor="t" anchorCtr="0"/>
          <a:p>
            <a:r>
              <a:rPr lang="zh-CN" altLang="en-US" b="1" dirty="0">
                <a:ea typeface="宋体" panose="02010600030101010101" pitchFamily="2" charset="-122"/>
              </a:rPr>
              <a:t>有穷状态自动机：</a:t>
            </a:r>
            <a:endParaRPr lang="zh-CN" altLang="en-US" b="1" dirty="0">
              <a:ea typeface="宋体" panose="02010600030101010101" pitchFamily="2" charset="-122"/>
            </a:endParaRPr>
          </a:p>
          <a:p>
            <a:pPr lvl="1"/>
            <a:r>
              <a:rPr lang="zh-CN" altLang="en-US" b="1" dirty="0">
                <a:ea typeface="宋体" panose="02010600030101010101" pitchFamily="2" charset="-122"/>
              </a:rPr>
              <a:t>是更一般的转换图，最早可追溯到1943年</a:t>
            </a:r>
            <a:r>
              <a:rPr lang="en-US" altLang="zh-CN" b="1" dirty="0">
                <a:ea typeface="宋体" panose="02010600030101010101" pitchFamily="2" charset="-122"/>
              </a:rPr>
              <a:t>McCulloch</a:t>
            </a:r>
            <a:r>
              <a:rPr lang="zh-CN" altLang="en-US" b="1" dirty="0">
                <a:ea typeface="宋体" panose="02010600030101010101" pitchFamily="2" charset="-122"/>
              </a:rPr>
              <a:t>和</a:t>
            </a:r>
            <a:r>
              <a:rPr lang="en-US" altLang="zh-CN" b="1" dirty="0">
                <a:ea typeface="宋体" panose="02010600030101010101" pitchFamily="2" charset="-122"/>
              </a:rPr>
              <a:t>Pitts</a:t>
            </a:r>
            <a:r>
              <a:rPr lang="zh-CN" altLang="en-US" b="1" dirty="0">
                <a:ea typeface="宋体" panose="02010600030101010101" pitchFamily="2" charset="-122"/>
              </a:rPr>
              <a:t>的工作</a:t>
            </a:r>
            <a:endParaRPr lang="zh-CN" altLang="en-US" b="1" dirty="0">
              <a:ea typeface="宋体" panose="02010600030101010101" pitchFamily="2" charset="-122"/>
            </a:endParaRPr>
          </a:p>
          <a:p>
            <a:pPr lvl="1"/>
            <a:r>
              <a:rPr lang="zh-CN" altLang="en-US" b="1" dirty="0">
                <a:ea typeface="宋体" panose="02010600030101010101" pitchFamily="2" charset="-122"/>
              </a:rPr>
              <a:t>其输入/输出是离散的</a:t>
            </a:r>
            <a:endParaRPr lang="zh-CN" altLang="en-US" b="1" dirty="0">
              <a:ea typeface="宋体" panose="02010600030101010101" pitchFamily="2" charset="-122"/>
            </a:endParaRPr>
          </a:p>
          <a:p>
            <a:pPr lvl="1"/>
            <a:r>
              <a:rPr lang="zh-CN" altLang="en-US" b="1" dirty="0">
                <a:ea typeface="宋体" panose="02010600030101010101" pitchFamily="2" charset="-122"/>
              </a:rPr>
              <a:t>系统包含有限个内部状态</a:t>
            </a:r>
            <a:endParaRPr lang="zh-CN" altLang="en-US" b="1" dirty="0">
              <a:ea typeface="宋体" panose="02010600030101010101" pitchFamily="2" charset="-122"/>
            </a:endParaRPr>
          </a:p>
          <a:p>
            <a:pPr lvl="1"/>
            <a:r>
              <a:rPr lang="zh-CN" altLang="en-US" b="1" dirty="0">
                <a:ea typeface="宋体" panose="02010600030101010101" pitchFamily="2" charset="-122"/>
              </a:rPr>
              <a:t>系统的当前状态概括了有关过去输入的信息（但不是包含所有过去的信息）</a:t>
            </a:r>
            <a:r>
              <a:rPr lang="en-US" altLang="zh-CN" b="1" dirty="0">
                <a:ea typeface="宋体" panose="02010600030101010101" pitchFamily="2" charset="-122"/>
              </a:rPr>
              <a:t>，</a:t>
            </a:r>
            <a:r>
              <a:rPr lang="zh-CN" altLang="en-US" b="1" dirty="0">
                <a:ea typeface="宋体" panose="02010600030101010101" pitchFamily="2" charset="-122"/>
              </a:rPr>
              <a:t>这些信息对于在后来的输入上确定系统的行为是必需的</a:t>
            </a:r>
            <a:endParaRPr lang="zh-CN" altLang="en-US" b="1" dirty="0">
              <a:ea typeface="宋体" panose="02010600030101010101" pitchFamily="2" charset="-122"/>
            </a:endParaRPr>
          </a:p>
          <a:p>
            <a:pPr lvl="1"/>
            <a:r>
              <a:rPr lang="zh-CN" altLang="en-US" b="1" dirty="0">
                <a:ea typeface="宋体" panose="02010600030101010101" pitchFamily="2" charset="-122"/>
              </a:rPr>
              <a:t>分为确定的有穷状态自动机和非确定的有穷状态自动机两类</a:t>
            </a:r>
            <a:endParaRPr lang="zh-CN" altLang="en-US" b="1" dirty="0">
              <a:ea typeface="宋体" panose="02010600030101010101" pitchFamily="2" charset="-122"/>
            </a:endParaRPr>
          </a:p>
          <a:p>
            <a:pPr lvl="1"/>
            <a:r>
              <a:rPr lang="zh-CN" altLang="en-US" b="1" dirty="0">
                <a:ea typeface="宋体" panose="02010600030101010101" pitchFamily="2" charset="-122"/>
              </a:rPr>
              <a:t>正则式、正则文法、有穷状态自动机的描述能力是一样的</a:t>
            </a:r>
            <a:endParaRPr lang="zh-CN" altLang="en-US" b="1" dirty="0">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有穷状态自动机（2）</a:t>
            </a:r>
            <a:endParaRPr lang="zh-CN" altLang="en-US" dirty="0">
              <a:latin typeface="宋体" panose="02010600030101010101" pitchFamily="2" charset="-122"/>
              <a:ea typeface="宋体" panose="02010600030101010101" pitchFamily="2" charset="-122"/>
            </a:endParaRPr>
          </a:p>
        </p:txBody>
      </p:sp>
      <p:sp>
        <p:nvSpPr>
          <p:cNvPr id="87043" name="Rectangle 3"/>
          <p:cNvSpPr>
            <a:spLocks noGrp="1"/>
          </p:cNvSpPr>
          <p:nvPr>
            <p:ph idx="1"/>
          </p:nvPr>
        </p:nvSpPr>
        <p:spPr>
          <a:xfrm>
            <a:off x="990600" y="1600200"/>
            <a:ext cx="7391400" cy="4495800"/>
          </a:xfrm>
        </p:spPr>
        <p:txBody>
          <a:bodyPr vert="horz" wrap="square" lIns="92075" tIns="46038" rIns="92075" bIns="46038" anchor="t" anchorCtr="0"/>
          <a:p>
            <a:pPr marL="495300" indent="-495300"/>
            <a:r>
              <a:rPr lang="zh-CN" altLang="en-US" b="1" dirty="0">
                <a:ea typeface="宋体" panose="02010600030101010101" pitchFamily="2" charset="-122"/>
              </a:rPr>
              <a:t>不确定的有穷状态自动机(</a:t>
            </a:r>
            <a:r>
              <a:rPr lang="en-US" altLang="zh-CN" b="1" dirty="0">
                <a:ea typeface="宋体" panose="02010600030101010101" pitchFamily="2" charset="-122"/>
              </a:rPr>
              <a:t>NFA)：</a:t>
            </a:r>
            <a:endParaRPr lang="en-US" altLang="zh-CN" b="1" dirty="0">
              <a:ea typeface="宋体" panose="02010600030101010101" pitchFamily="2" charset="-122"/>
            </a:endParaRPr>
          </a:p>
          <a:p>
            <a:pPr marL="914400" lvl="1" indent="-457200"/>
            <a:r>
              <a:rPr lang="zh-CN" altLang="en-US" b="1" dirty="0">
                <a:ea typeface="宋体" panose="02010600030101010101" pitchFamily="2" charset="-122"/>
              </a:rPr>
              <a:t>定义：</a:t>
            </a:r>
            <a:endParaRPr lang="zh-CN" altLang="en-US" b="1" dirty="0">
              <a:ea typeface="宋体" panose="02010600030101010101" pitchFamily="2" charset="-122"/>
            </a:endParaRPr>
          </a:p>
          <a:p>
            <a:pPr marL="1333500" lvl="2" indent="-419100">
              <a:buNone/>
            </a:pPr>
            <a:r>
              <a:rPr lang="zh-CN" altLang="en-US" b="1" dirty="0">
                <a:ea typeface="宋体" panose="02010600030101010101" pitchFamily="2" charset="-122"/>
              </a:rPr>
              <a:t>	一个</a:t>
            </a:r>
            <a:r>
              <a:rPr lang="en-US" altLang="zh-CN" b="1" dirty="0">
                <a:ea typeface="宋体" panose="02010600030101010101" pitchFamily="2" charset="-122"/>
              </a:rPr>
              <a:t>NFA M</a:t>
            </a:r>
            <a:r>
              <a:rPr lang="zh-CN" altLang="en-US" b="1" dirty="0">
                <a:ea typeface="宋体" panose="02010600030101010101" pitchFamily="2" charset="-122"/>
              </a:rPr>
              <a:t>是一个五元式</a:t>
            </a:r>
            <a:r>
              <a:rPr lang="en-US" altLang="zh-CN" b="1" dirty="0">
                <a:ea typeface="宋体" panose="02010600030101010101" pitchFamily="2" charset="-122"/>
              </a:rPr>
              <a:t>M = (S, ∑, δ, s</a:t>
            </a:r>
            <a:r>
              <a:rPr lang="en-US" altLang="zh-CN" b="1" baseline="-25000" dirty="0">
                <a:ea typeface="宋体" panose="02010600030101010101" pitchFamily="2" charset="-122"/>
              </a:rPr>
              <a:t>0</a:t>
            </a:r>
            <a:r>
              <a:rPr lang="en-US" altLang="zh-CN" b="1" dirty="0">
                <a:ea typeface="宋体" panose="02010600030101010101" pitchFamily="2" charset="-122"/>
              </a:rPr>
              <a:t>, F)，</a:t>
            </a:r>
            <a:r>
              <a:rPr lang="zh-CN" altLang="en-US" b="1" dirty="0">
                <a:ea typeface="宋体" panose="02010600030101010101" pitchFamily="2" charset="-122"/>
              </a:rPr>
              <a:t>其中</a:t>
            </a:r>
            <a:endParaRPr lang="zh-CN" altLang="en-US" b="1" dirty="0">
              <a:ea typeface="宋体" panose="02010600030101010101" pitchFamily="2" charset="-122"/>
            </a:endParaRPr>
          </a:p>
          <a:p>
            <a:pPr marL="1333500" lvl="2" indent="-419100">
              <a:buSzPct val="90000"/>
              <a:buFontTx/>
              <a:buAutoNum type="arabicParenR"/>
            </a:pPr>
            <a:r>
              <a:rPr lang="en-US" altLang="zh-CN" b="1" dirty="0">
                <a:ea typeface="宋体" panose="02010600030101010101" pitchFamily="2" charset="-122"/>
              </a:rPr>
              <a:t>S</a:t>
            </a:r>
            <a:r>
              <a:rPr lang="zh-CN" altLang="en-US" b="1" dirty="0">
                <a:ea typeface="宋体" panose="02010600030101010101" pitchFamily="2" charset="-122"/>
              </a:rPr>
              <a:t>是一个有限的状态集合</a:t>
            </a:r>
            <a:endParaRPr lang="zh-CN" altLang="en-US" b="1" dirty="0">
              <a:ea typeface="宋体" panose="02010600030101010101" pitchFamily="2" charset="-122"/>
            </a:endParaRPr>
          </a:p>
          <a:p>
            <a:pPr marL="1333500" lvl="2" indent="-419100">
              <a:buSzPct val="90000"/>
              <a:buFontTx/>
              <a:buAutoNum type="arabicParenR"/>
            </a:pPr>
            <a:r>
              <a:rPr lang="en-US" altLang="zh-CN" b="1" dirty="0">
                <a:ea typeface="宋体" panose="02010600030101010101" pitchFamily="2" charset="-122"/>
              </a:rPr>
              <a:t>∑</a:t>
            </a:r>
            <a:r>
              <a:rPr lang="zh-CN" altLang="en-US" b="1" dirty="0">
                <a:ea typeface="宋体" panose="02010600030101010101" pitchFamily="2" charset="-122"/>
              </a:rPr>
              <a:t>是一个有限的输入符号的字母表</a:t>
            </a:r>
            <a:endParaRPr lang="zh-CN" altLang="en-US" b="1" dirty="0">
              <a:ea typeface="宋体" panose="02010600030101010101" pitchFamily="2" charset="-122"/>
            </a:endParaRPr>
          </a:p>
          <a:p>
            <a:pPr marL="1333500" lvl="2" indent="-419100">
              <a:buSzPct val="90000"/>
              <a:buFontTx/>
              <a:buAutoNum type="arabicParenR"/>
            </a:pPr>
            <a:r>
              <a:rPr lang="en-US" altLang="zh-CN" b="1" dirty="0">
                <a:ea typeface="宋体" panose="02010600030101010101" pitchFamily="2" charset="-122"/>
              </a:rPr>
              <a:t>s</a:t>
            </a:r>
            <a:r>
              <a:rPr lang="en-US" altLang="zh-CN" b="1" baseline="-25000" dirty="0">
                <a:ea typeface="宋体" panose="02010600030101010101" pitchFamily="2" charset="-122"/>
              </a:rPr>
              <a:t>0</a:t>
            </a:r>
            <a:r>
              <a:rPr lang="zh-CN" altLang="en-US" b="1" dirty="0">
                <a:ea typeface="宋体" panose="02010600030101010101" pitchFamily="2" charset="-122"/>
              </a:rPr>
              <a:t>是</a:t>
            </a:r>
            <a:r>
              <a:rPr lang="en-US" altLang="zh-CN" b="1" dirty="0">
                <a:ea typeface="宋体" panose="02010600030101010101" pitchFamily="2" charset="-122"/>
              </a:rPr>
              <a:t>S</a:t>
            </a:r>
            <a:r>
              <a:rPr lang="zh-CN" altLang="en-US" b="1" dirty="0">
                <a:ea typeface="宋体" panose="02010600030101010101" pitchFamily="2" charset="-122"/>
              </a:rPr>
              <a:t>的一个元素，为开始状态，它是唯一的</a:t>
            </a:r>
            <a:endParaRPr lang="zh-CN" altLang="en-US" b="1" dirty="0">
              <a:ea typeface="宋体" panose="02010600030101010101" pitchFamily="2" charset="-122"/>
            </a:endParaRPr>
          </a:p>
          <a:p>
            <a:pPr marL="1333500" lvl="2" indent="-419100">
              <a:buSzPct val="90000"/>
              <a:buFontTx/>
              <a:buAutoNum type="arabicParenR"/>
            </a:pPr>
            <a:r>
              <a:rPr lang="zh-CN" altLang="en-US" b="1" dirty="0">
                <a:ea typeface="宋体" panose="02010600030101010101" pitchFamily="2" charset="-122"/>
              </a:rPr>
              <a:t>状态集合</a:t>
            </a:r>
            <a:r>
              <a:rPr lang="en-US" altLang="zh-CN" b="1" dirty="0">
                <a:ea typeface="宋体" panose="02010600030101010101" pitchFamily="2" charset="-122"/>
              </a:rPr>
              <a:t>F</a:t>
            </a:r>
            <a:r>
              <a:rPr lang="zh-CN" altLang="en-US" b="1" dirty="0">
                <a:ea typeface="宋体" panose="02010600030101010101" pitchFamily="2" charset="-122"/>
              </a:rPr>
              <a:t>是接受（或终止）状态的集合，它是</a:t>
            </a:r>
            <a:r>
              <a:rPr lang="en-US" altLang="zh-CN" b="1" dirty="0">
                <a:ea typeface="宋体" panose="02010600030101010101" pitchFamily="2" charset="-122"/>
              </a:rPr>
              <a:t>S</a:t>
            </a:r>
            <a:r>
              <a:rPr lang="zh-CN" altLang="en-US" b="1" dirty="0">
                <a:ea typeface="宋体" panose="02010600030101010101" pitchFamily="2" charset="-122"/>
              </a:rPr>
              <a:t>的子集</a:t>
            </a:r>
            <a:endParaRPr lang="zh-CN" altLang="en-US" b="1" dirty="0">
              <a:ea typeface="宋体" panose="02010600030101010101" pitchFamily="2" charset="-122"/>
            </a:endParaRPr>
          </a:p>
          <a:p>
            <a:pPr marL="1333500" lvl="2" indent="-419100">
              <a:buSzPct val="90000"/>
              <a:buFontTx/>
              <a:buAutoNum type="arabicParenR"/>
            </a:pPr>
            <a:r>
              <a:rPr lang="en-US" altLang="zh-CN" b="1" dirty="0">
                <a:ea typeface="宋体" panose="02010600030101010101" pitchFamily="2" charset="-122"/>
              </a:rPr>
              <a:t>δ</a:t>
            </a:r>
            <a:r>
              <a:rPr lang="zh-CN" altLang="en-US" b="1" dirty="0">
                <a:ea typeface="宋体" panose="02010600030101010101" pitchFamily="2" charset="-122"/>
              </a:rPr>
              <a:t>是转换函数：</a:t>
            </a:r>
            <a:r>
              <a:rPr lang="en-US" altLang="zh-CN" b="1" dirty="0">
                <a:ea typeface="宋体" panose="02010600030101010101" pitchFamily="2" charset="-122"/>
              </a:rPr>
              <a:t>S×{ ∑</a:t>
            </a:r>
            <a:r>
              <a:rPr lang="zh-CN" altLang="en-US" b="1" dirty="0">
                <a:ea typeface="宋体" panose="02010600030101010101" pitchFamily="2" charset="-122"/>
              </a:rPr>
              <a:t>∪</a:t>
            </a:r>
            <a:r>
              <a:rPr lang="en-US" altLang="zh-CN" b="1" dirty="0">
                <a:ea typeface="宋体" panose="02010600030101010101" pitchFamily="2" charset="-122"/>
              </a:rPr>
              <a:t>{ ε } }→2</a:t>
            </a:r>
            <a:r>
              <a:rPr lang="en-US" altLang="zh-CN" b="1" baseline="30000" dirty="0">
                <a:ea typeface="宋体" panose="02010600030101010101" pitchFamily="2" charset="-122"/>
              </a:rPr>
              <a:t>S</a:t>
            </a:r>
            <a:r>
              <a:rPr lang="en-US" altLang="zh-CN" b="1" dirty="0">
                <a:ea typeface="宋体" panose="02010600030101010101" pitchFamily="2" charset="-122"/>
              </a:rPr>
              <a:t>，</a:t>
            </a:r>
            <a:r>
              <a:rPr lang="zh-CN" altLang="en-US" b="1" dirty="0">
                <a:ea typeface="宋体" panose="02010600030101010101" pitchFamily="2" charset="-122"/>
              </a:rPr>
              <a:t>也是一个集合，</a:t>
            </a:r>
            <a:r>
              <a:rPr lang="en-US" altLang="zh-CN" b="1" dirty="0">
                <a:ea typeface="宋体" panose="02010600030101010101" pitchFamily="2" charset="-122"/>
              </a:rPr>
              <a:t>2</a:t>
            </a:r>
            <a:r>
              <a:rPr lang="en-US" altLang="zh-CN" b="1" baseline="30000" dirty="0">
                <a:ea typeface="宋体" panose="02010600030101010101" pitchFamily="2" charset="-122"/>
              </a:rPr>
              <a:t>S</a:t>
            </a:r>
            <a:r>
              <a:rPr lang="zh-CN" altLang="en-US" b="1" dirty="0">
                <a:ea typeface="宋体" panose="02010600030101010101" pitchFamily="2" charset="-122"/>
              </a:rPr>
              <a:t>表示</a:t>
            </a:r>
            <a:r>
              <a:rPr lang="en-US" altLang="zh-CN" b="1" dirty="0">
                <a:ea typeface="宋体" panose="02010600030101010101" pitchFamily="2" charset="-122"/>
              </a:rPr>
              <a:t>S</a:t>
            </a:r>
            <a:r>
              <a:rPr lang="zh-CN" altLang="en-US" b="1" dirty="0">
                <a:ea typeface="宋体" panose="02010600030101010101" pitchFamily="2" charset="-122"/>
              </a:rPr>
              <a:t>的幂集合</a:t>
            </a:r>
            <a:endParaRPr lang="zh-CN" altLang="en-US" b="1" dirty="0">
              <a:ea typeface="宋体" panose="02010600030101010101" pitchFamily="2" charset="-12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有穷状态自动机（3）</a:t>
            </a:r>
            <a:endParaRPr lang="zh-CN" altLang="en-US" dirty="0">
              <a:latin typeface="宋体" panose="02010600030101010101" pitchFamily="2" charset="-122"/>
              <a:ea typeface="宋体" panose="02010600030101010101" pitchFamily="2" charset="-122"/>
            </a:endParaRPr>
          </a:p>
        </p:txBody>
      </p:sp>
      <p:sp>
        <p:nvSpPr>
          <p:cNvPr id="89091" name="Rectangle 3"/>
          <p:cNvSpPr>
            <a:spLocks noGrp="1"/>
          </p:cNvSpPr>
          <p:nvPr>
            <p:ph idx="1"/>
          </p:nvPr>
        </p:nvSpPr>
        <p:spPr>
          <a:xfrm>
            <a:off x="990600" y="1600200"/>
            <a:ext cx="7391400" cy="4495800"/>
          </a:xfrm>
        </p:spPr>
        <p:txBody>
          <a:bodyPr vert="horz" wrap="square" lIns="92075" tIns="46038" rIns="92075" bIns="46038" anchor="t" anchorCtr="0"/>
          <a:p>
            <a:pPr marL="914400" lvl="1" indent="-457200">
              <a:buNone/>
            </a:pPr>
            <a:r>
              <a:rPr lang="zh-CN" altLang="en-US" b="1" dirty="0">
                <a:ea typeface="宋体" panose="02010600030101010101" pitchFamily="2" charset="-122"/>
              </a:rPr>
              <a:t>例：识别语言(</a:t>
            </a:r>
            <a:r>
              <a:rPr lang="en-US" altLang="zh-CN" b="1" dirty="0">
                <a:ea typeface="宋体" panose="02010600030101010101" pitchFamily="2" charset="-122"/>
              </a:rPr>
              <a:t>a|b)</a:t>
            </a:r>
            <a:r>
              <a:rPr lang="en-US" altLang="zh-CN" b="1" baseline="30000" dirty="0">
                <a:ea typeface="宋体" panose="02010600030101010101" pitchFamily="2" charset="-122"/>
              </a:rPr>
              <a:t>*</a:t>
            </a:r>
            <a:r>
              <a:rPr lang="en-US" altLang="zh-CN" b="1" dirty="0">
                <a:ea typeface="宋体" panose="02010600030101010101" pitchFamily="2" charset="-122"/>
              </a:rPr>
              <a:t>abb</a:t>
            </a:r>
            <a:r>
              <a:rPr lang="zh-CN" altLang="en-US" b="1" dirty="0">
                <a:ea typeface="宋体" panose="02010600030101010101" pitchFamily="2" charset="-122"/>
              </a:rPr>
              <a:t>的</a:t>
            </a:r>
            <a:r>
              <a:rPr lang="en-US" altLang="zh-CN" b="1" dirty="0">
                <a:ea typeface="宋体" panose="02010600030101010101" pitchFamily="2" charset="-122"/>
              </a:rPr>
              <a:t>NFA</a:t>
            </a:r>
            <a:r>
              <a:rPr lang="zh-CN" altLang="en-US" b="1" dirty="0">
                <a:ea typeface="宋体" panose="02010600030101010101" pitchFamily="2" charset="-122"/>
              </a:rPr>
              <a:t>如下图：</a:t>
            </a:r>
            <a:endParaRPr lang="zh-CN" altLang="en-US" b="1" dirty="0">
              <a:ea typeface="宋体" panose="02010600030101010101" pitchFamily="2" charset="-122"/>
            </a:endParaRPr>
          </a:p>
          <a:p>
            <a:pPr marL="914400" lvl="1" indent="-457200">
              <a:buNone/>
            </a:pPr>
            <a:endParaRPr lang="zh-CN" altLang="en-US" b="1" dirty="0">
              <a:ea typeface="宋体" panose="02010600030101010101" pitchFamily="2" charset="-122"/>
            </a:endParaRPr>
          </a:p>
          <a:p>
            <a:pPr marL="914400" lvl="1" indent="-457200">
              <a:buNone/>
            </a:pPr>
            <a:endParaRPr lang="zh-CN" altLang="en-US" b="1" dirty="0">
              <a:ea typeface="宋体" panose="02010600030101010101" pitchFamily="2" charset="-122"/>
            </a:endParaRPr>
          </a:p>
          <a:p>
            <a:pPr marL="914400" lvl="1" indent="-457200">
              <a:buNone/>
            </a:pPr>
            <a:endParaRPr lang="zh-CN" altLang="en-US" b="1" dirty="0">
              <a:ea typeface="宋体" panose="02010600030101010101" pitchFamily="2" charset="-122"/>
            </a:endParaRPr>
          </a:p>
          <a:p>
            <a:pPr marL="914400" lvl="1" indent="-457200">
              <a:buNone/>
            </a:pPr>
            <a:endParaRPr lang="zh-CN" altLang="en-US" b="1" dirty="0">
              <a:ea typeface="宋体" panose="02010600030101010101" pitchFamily="2" charset="-122"/>
            </a:endParaRPr>
          </a:p>
          <a:p>
            <a:pPr marL="914400" lvl="1" indent="-457200">
              <a:buNone/>
            </a:pPr>
            <a:endParaRPr lang="zh-CN" altLang="en-US" b="1" dirty="0">
              <a:ea typeface="宋体" panose="02010600030101010101" pitchFamily="2" charset="-122"/>
            </a:endParaRPr>
          </a:p>
          <a:p>
            <a:pPr marL="914400" lvl="1" indent="-457200">
              <a:buNone/>
            </a:pPr>
            <a:endParaRPr lang="zh-CN" altLang="en-US" b="1" dirty="0">
              <a:ea typeface="宋体" panose="02010600030101010101" pitchFamily="2" charset="-122"/>
            </a:endParaRPr>
          </a:p>
          <a:p>
            <a:pPr marL="914400" lvl="1" indent="-457200">
              <a:buNone/>
            </a:pPr>
            <a:r>
              <a:rPr lang="zh-CN" altLang="en-US" b="1" dirty="0">
                <a:ea typeface="宋体" panose="02010600030101010101" pitchFamily="2" charset="-122"/>
              </a:rPr>
              <a:t>	其中</a:t>
            </a:r>
            <a:r>
              <a:rPr lang="en-US" altLang="zh-CN" b="1" dirty="0">
                <a:ea typeface="宋体" panose="02010600030101010101" pitchFamily="2" charset="-122"/>
              </a:rPr>
              <a:t>S={ 0，1，2，3 }，∑={ a，b }，s</a:t>
            </a:r>
            <a:r>
              <a:rPr lang="en-US" altLang="zh-CN" b="1" baseline="-25000" dirty="0">
                <a:ea typeface="宋体" panose="02010600030101010101" pitchFamily="2" charset="-122"/>
              </a:rPr>
              <a:t>0</a:t>
            </a:r>
            <a:r>
              <a:rPr lang="zh-CN" altLang="en-US" b="1" dirty="0">
                <a:ea typeface="宋体" panose="02010600030101010101" pitchFamily="2" charset="-122"/>
              </a:rPr>
              <a:t>是0，</a:t>
            </a:r>
            <a:endParaRPr lang="zh-CN" altLang="en-US" b="1" dirty="0">
              <a:ea typeface="宋体" panose="02010600030101010101" pitchFamily="2" charset="-122"/>
            </a:endParaRPr>
          </a:p>
          <a:p>
            <a:pPr marL="914400" lvl="1" indent="-457200">
              <a:buNone/>
            </a:pPr>
            <a:r>
              <a:rPr lang="en-US" altLang="zh-CN" b="1" dirty="0">
                <a:ea typeface="宋体" panose="02010600030101010101" pitchFamily="2" charset="-122"/>
              </a:rPr>
              <a:t>	F={ 3 }，</a:t>
            </a:r>
            <a:r>
              <a:rPr lang="zh-CN" altLang="en-US" b="1" dirty="0">
                <a:ea typeface="宋体" panose="02010600030101010101" pitchFamily="2" charset="-122"/>
              </a:rPr>
              <a:t>在图中，接受状态用双圈表示，开始状态一般用一个箭头指示</a:t>
            </a:r>
            <a:endParaRPr lang="zh-CN" altLang="en-US" b="1" dirty="0">
              <a:ea typeface="宋体" panose="02010600030101010101" pitchFamily="2" charset="-122"/>
            </a:endParaRPr>
          </a:p>
        </p:txBody>
      </p:sp>
      <p:pic>
        <p:nvPicPr>
          <p:cNvPr id="89092" name="Picture 2"/>
          <p:cNvPicPr>
            <a:picLocks noChangeAspect="1"/>
          </p:cNvPicPr>
          <p:nvPr/>
        </p:nvPicPr>
        <p:blipFill>
          <a:blip r:embed="rId1"/>
          <a:stretch>
            <a:fillRect/>
          </a:stretch>
        </p:blipFill>
        <p:spPr>
          <a:xfrm>
            <a:off x="1692275" y="2060575"/>
            <a:ext cx="6245225" cy="2620963"/>
          </a:xfrm>
          <a:prstGeom prst="rect">
            <a:avLst/>
          </a:prstGeom>
          <a:noFill/>
          <a:ln w="9525">
            <a:noFill/>
          </a:ln>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有穷状态自动机（4）</a:t>
            </a:r>
            <a:endParaRPr lang="zh-CN" altLang="en-US" dirty="0">
              <a:latin typeface="宋体" panose="02010600030101010101" pitchFamily="2" charset="-122"/>
              <a:ea typeface="宋体" panose="02010600030101010101" pitchFamily="2" charset="-122"/>
            </a:endParaRPr>
          </a:p>
        </p:txBody>
      </p:sp>
      <p:sp>
        <p:nvSpPr>
          <p:cNvPr id="91139" name="Rectangle 3"/>
          <p:cNvSpPr>
            <a:spLocks noGrp="1"/>
          </p:cNvSpPr>
          <p:nvPr>
            <p:ph idx="1"/>
          </p:nvPr>
        </p:nvSpPr>
        <p:spPr>
          <a:xfrm>
            <a:off x="990600" y="1600200"/>
            <a:ext cx="7391400" cy="4648200"/>
          </a:xfrm>
        </p:spPr>
        <p:txBody>
          <a:bodyPr vert="horz" wrap="square" lIns="92075" tIns="46038" rIns="92075" bIns="46038" anchor="t" anchorCtr="0"/>
          <a:p>
            <a:pPr lvl="1"/>
            <a:r>
              <a:rPr lang="zh-CN" altLang="en-US" b="1" dirty="0">
                <a:ea typeface="宋体" panose="02010600030101010101" pitchFamily="2" charset="-122"/>
              </a:rPr>
              <a:t>转换函数的表示：</a:t>
            </a:r>
            <a:endParaRPr lang="zh-CN" altLang="en-US" b="1" dirty="0">
              <a:ea typeface="宋体" panose="02010600030101010101" pitchFamily="2" charset="-122"/>
            </a:endParaRPr>
          </a:p>
          <a:p>
            <a:pPr lvl="2"/>
            <a:r>
              <a:rPr lang="zh-CN" altLang="en-US" b="1" dirty="0">
                <a:ea typeface="宋体" panose="02010600030101010101" pitchFamily="2" charset="-122"/>
              </a:rPr>
              <a:t>函数集合的表示： </a:t>
            </a:r>
            <a:r>
              <a:rPr lang="en-US" altLang="zh-CN" b="1" dirty="0">
                <a:ea typeface="宋体" panose="02010600030101010101" pitchFamily="2" charset="-122"/>
              </a:rPr>
              <a:t>δ</a:t>
            </a:r>
            <a:r>
              <a:rPr lang="zh-CN" altLang="en-US" b="1" dirty="0">
                <a:ea typeface="宋体" panose="02010600030101010101" pitchFamily="2" charset="-122"/>
              </a:rPr>
              <a:t>：</a:t>
            </a:r>
            <a:r>
              <a:rPr lang="en-US" altLang="zh-CN" b="1" dirty="0">
                <a:ea typeface="宋体" panose="02010600030101010101" pitchFamily="2" charset="-122"/>
              </a:rPr>
              <a:t>S× { ∑</a:t>
            </a:r>
            <a:r>
              <a:rPr lang="zh-CN" altLang="en-US" b="1" dirty="0">
                <a:ea typeface="宋体" panose="02010600030101010101" pitchFamily="2" charset="-122"/>
              </a:rPr>
              <a:t>∪</a:t>
            </a:r>
            <a:r>
              <a:rPr lang="en-US" altLang="zh-CN" b="1" dirty="0">
                <a:ea typeface="宋体" panose="02010600030101010101" pitchFamily="2" charset="-122"/>
              </a:rPr>
              <a:t>{ ε } } →2</a:t>
            </a:r>
            <a:r>
              <a:rPr lang="en-US" altLang="zh-CN" b="1" baseline="30000" dirty="0">
                <a:ea typeface="宋体" panose="02010600030101010101" pitchFamily="2" charset="-122"/>
              </a:rPr>
              <a:t>S</a:t>
            </a:r>
            <a:endParaRPr lang="en-US" altLang="zh-CN" b="1" baseline="30000" dirty="0">
              <a:ea typeface="宋体" panose="02010600030101010101" pitchFamily="2" charset="-122"/>
            </a:endParaRPr>
          </a:p>
          <a:p>
            <a:pPr lvl="3"/>
            <a:r>
              <a:rPr lang="zh-CN" altLang="en-US" b="1" dirty="0">
                <a:ea typeface="宋体" panose="02010600030101010101" pitchFamily="2" charset="-122"/>
              </a:rPr>
              <a:t>是由状态和输入符号的二元组映射到状态的集合，如</a:t>
            </a:r>
            <a:r>
              <a:rPr lang="en-US" altLang="zh-CN" b="1" dirty="0">
                <a:ea typeface="宋体" panose="02010600030101010101" pitchFamily="2" charset="-122"/>
              </a:rPr>
              <a:t>δ(q , a) = {q’，…}</a:t>
            </a:r>
            <a:endParaRPr lang="en-US" altLang="zh-CN" b="1" dirty="0">
              <a:ea typeface="宋体" panose="02010600030101010101" pitchFamily="2" charset="-122"/>
            </a:endParaRPr>
          </a:p>
          <a:p>
            <a:pPr lvl="3"/>
            <a:r>
              <a:rPr lang="zh-CN" altLang="en-US" b="1" dirty="0">
                <a:ea typeface="宋体" panose="02010600030101010101" pitchFamily="2" charset="-122"/>
              </a:rPr>
              <a:t>如果有</a:t>
            </a:r>
            <a:r>
              <a:rPr lang="en-US" altLang="zh-CN" b="1" dirty="0">
                <a:ea typeface="宋体" panose="02010600030101010101" pitchFamily="2" charset="-122"/>
              </a:rPr>
              <a:t>δ(q , a) = {q’，…}，</a:t>
            </a:r>
            <a:r>
              <a:rPr lang="zh-CN" altLang="en-US" b="1" dirty="0">
                <a:ea typeface="宋体" panose="02010600030101010101" pitchFamily="2" charset="-122"/>
              </a:rPr>
              <a:t>表示如果当前状态是</a:t>
            </a:r>
            <a:r>
              <a:rPr lang="en-US" altLang="zh-CN" b="1" dirty="0">
                <a:ea typeface="宋体" panose="02010600030101010101" pitchFamily="2" charset="-122"/>
              </a:rPr>
              <a:t>q，</a:t>
            </a:r>
            <a:r>
              <a:rPr lang="zh-CN" altLang="en-US" b="1" dirty="0">
                <a:ea typeface="宋体" panose="02010600030101010101" pitchFamily="2" charset="-122"/>
              </a:rPr>
              <a:t>输入符号是</a:t>
            </a:r>
            <a:r>
              <a:rPr lang="en-US" altLang="zh-CN" b="1" dirty="0">
                <a:ea typeface="宋体" panose="02010600030101010101" pitchFamily="2" charset="-122"/>
              </a:rPr>
              <a:t>a，</a:t>
            </a:r>
            <a:r>
              <a:rPr lang="zh-CN" altLang="en-US" b="1" dirty="0">
                <a:ea typeface="宋体" panose="02010600030101010101" pitchFamily="2" charset="-122"/>
              </a:rPr>
              <a:t>在转换后的状态是一个集合{</a:t>
            </a:r>
            <a:r>
              <a:rPr lang="en-US" altLang="zh-CN" b="1" dirty="0">
                <a:ea typeface="宋体" panose="02010600030101010101" pitchFamily="2" charset="-122"/>
              </a:rPr>
              <a:t>q’，…</a:t>
            </a:r>
            <a:r>
              <a:rPr lang="zh-CN" altLang="en-US" b="1" dirty="0">
                <a:ea typeface="宋体" panose="02010600030101010101" pitchFamily="2" charset="-122"/>
              </a:rPr>
              <a:t>}</a:t>
            </a:r>
            <a:endParaRPr lang="zh-CN" altLang="en-US" b="1" dirty="0">
              <a:ea typeface="宋体" panose="02010600030101010101" pitchFamily="2" charset="-122"/>
            </a:endParaRPr>
          </a:p>
          <a:p>
            <a:pPr lvl="3"/>
            <a:r>
              <a:rPr lang="zh-CN" altLang="en-US" b="1" dirty="0">
                <a:ea typeface="宋体" panose="02010600030101010101" pitchFamily="2" charset="-122"/>
              </a:rPr>
              <a:t>在转换图中的表示是状态</a:t>
            </a:r>
            <a:r>
              <a:rPr lang="en-US" altLang="zh-CN" b="1" dirty="0">
                <a:ea typeface="宋体" panose="02010600030101010101" pitchFamily="2" charset="-122"/>
              </a:rPr>
              <a:t>q</a:t>
            </a:r>
            <a:r>
              <a:rPr lang="zh-CN" altLang="en-US" b="1" dirty="0">
                <a:ea typeface="宋体" panose="02010600030101010101" pitchFamily="2" charset="-122"/>
              </a:rPr>
              <a:t>到集合{</a:t>
            </a:r>
            <a:r>
              <a:rPr lang="en-US" altLang="zh-CN" b="1" dirty="0">
                <a:ea typeface="宋体" panose="02010600030101010101" pitchFamily="2" charset="-122"/>
              </a:rPr>
              <a:t>q’, …</a:t>
            </a:r>
            <a:r>
              <a:rPr lang="zh-CN" altLang="en-US" b="1" dirty="0">
                <a:ea typeface="宋体" panose="02010600030101010101" pitchFamily="2" charset="-122"/>
              </a:rPr>
              <a:t>}中的每个状态间有一条有向边，边上的标记是</a:t>
            </a:r>
            <a:r>
              <a:rPr lang="en-US" altLang="zh-CN" b="1" dirty="0">
                <a:ea typeface="宋体" panose="02010600030101010101" pitchFamily="2" charset="-122"/>
              </a:rPr>
              <a:t>a</a:t>
            </a:r>
            <a:endParaRPr lang="en-US" altLang="zh-CN" b="1" dirty="0">
              <a:ea typeface="宋体" panose="02010600030101010101" pitchFamily="2" charset="-122"/>
            </a:endParaRPr>
          </a:p>
          <a:p>
            <a:pPr lvl="2">
              <a:buNone/>
            </a:pPr>
            <a:r>
              <a:rPr lang="zh-CN" altLang="en-US" b="1" dirty="0">
                <a:ea typeface="宋体" panose="02010600030101010101" pitchFamily="2" charset="-122"/>
              </a:rPr>
              <a:t>	</a:t>
            </a:r>
            <a:r>
              <a:rPr lang="zh-CN" altLang="en-US" sz="2000" b="1" dirty="0">
                <a:ea typeface="宋体" panose="02010600030101010101" pitchFamily="2" charset="-122"/>
              </a:rPr>
              <a:t>上页的自动机的转换函数：</a:t>
            </a:r>
            <a:endParaRPr lang="zh-CN" altLang="en-US" sz="2000" b="1" dirty="0">
              <a:ea typeface="宋体" panose="02010600030101010101" pitchFamily="2" charset="-122"/>
            </a:endParaRPr>
          </a:p>
          <a:p>
            <a:pPr lvl="2">
              <a:buNone/>
            </a:pPr>
            <a:r>
              <a:rPr lang="zh-CN" altLang="en-US" sz="2000" b="1" dirty="0">
                <a:ea typeface="宋体" panose="02010600030101010101" pitchFamily="2" charset="-122"/>
              </a:rPr>
              <a:t>		 </a:t>
            </a:r>
            <a:r>
              <a:rPr lang="en-US" altLang="zh-CN" sz="2000" b="1" dirty="0">
                <a:ea typeface="宋体" panose="02010600030101010101" pitchFamily="2" charset="-122"/>
              </a:rPr>
              <a:t>δ(0 , a) = { 0 , 1 }， δ(0 , b) = { 0 }</a:t>
            </a:r>
            <a:endParaRPr lang="zh-CN" altLang="en-US" sz="2000" b="1" dirty="0">
              <a:ea typeface="宋体" panose="02010600030101010101" pitchFamily="2" charset="-122"/>
            </a:endParaRPr>
          </a:p>
          <a:p>
            <a:pPr lvl="2">
              <a:buNone/>
            </a:pPr>
            <a:r>
              <a:rPr lang="zh-CN" altLang="en-US" sz="2000" b="1" dirty="0">
                <a:ea typeface="宋体" panose="02010600030101010101" pitchFamily="2" charset="-122"/>
              </a:rPr>
              <a:t>		 </a:t>
            </a:r>
            <a:r>
              <a:rPr lang="en-US" altLang="zh-CN" sz="2000" b="1" dirty="0">
                <a:ea typeface="宋体" panose="02010600030101010101" pitchFamily="2" charset="-122"/>
              </a:rPr>
              <a:t>δ(1 , b) = { 2 }， δ(2 , b) = { 3 }</a:t>
            </a:r>
            <a:endParaRPr lang="zh-CN" altLang="en-US" sz="2000" b="1" dirty="0">
              <a:ea typeface="宋体" panose="02010600030101010101" pitchFamily="2" charset="-122"/>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有穷状态自动机（5）</a:t>
            </a:r>
            <a:endParaRPr lang="zh-CN" altLang="en-US" dirty="0">
              <a:latin typeface="宋体" panose="02010600030101010101" pitchFamily="2" charset="-122"/>
              <a:ea typeface="宋体" panose="02010600030101010101" pitchFamily="2" charset="-122"/>
            </a:endParaRPr>
          </a:p>
        </p:txBody>
      </p:sp>
      <p:sp>
        <p:nvSpPr>
          <p:cNvPr id="93187" name="Rectangle 3"/>
          <p:cNvSpPr>
            <a:spLocks noGrp="1"/>
          </p:cNvSpPr>
          <p:nvPr>
            <p:ph idx="1"/>
          </p:nvPr>
        </p:nvSpPr>
        <p:spPr>
          <a:xfrm>
            <a:off x="990600" y="1371600"/>
            <a:ext cx="7391400" cy="4953000"/>
          </a:xfrm>
        </p:spPr>
        <p:txBody>
          <a:bodyPr vert="horz" wrap="square" lIns="92075" tIns="46038" rIns="92075" bIns="46038" anchor="t" anchorCtr="0"/>
          <a:p>
            <a:pPr lvl="2">
              <a:buFont typeface="Wingdings" panose="05000000000000000000" pitchFamily="2" charset="2"/>
              <a:buChar char="§"/>
            </a:pPr>
            <a:r>
              <a:rPr lang="zh-CN" altLang="en-US" b="1" dirty="0">
                <a:latin typeface="宋体" panose="02010600030101010101" pitchFamily="2" charset="-122"/>
                <a:ea typeface="宋体" panose="02010600030101010101" pitchFamily="2" charset="-122"/>
              </a:rPr>
              <a:t>转换表：二维数组</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Char char="v"/>
            </a:pPr>
            <a:r>
              <a:rPr lang="zh-CN" altLang="en-US" b="1" dirty="0">
                <a:latin typeface="宋体" panose="02010600030101010101" pitchFamily="2" charset="-122"/>
                <a:ea typeface="宋体" panose="02010600030101010101" pitchFamily="2" charset="-122"/>
              </a:rPr>
              <a:t>每个输入符号（如果需要，可以包括</a:t>
            </a:r>
            <a:r>
              <a:rPr lang="en-US" altLang="zh-CN" b="1" dirty="0">
                <a:latin typeface="宋体" panose="02010600030101010101" pitchFamily="2" charset="-122"/>
                <a:ea typeface="宋体" panose="02010600030101010101" pitchFamily="2" charset="-122"/>
              </a:rPr>
              <a:t>ε）</a:t>
            </a:r>
            <a:r>
              <a:rPr lang="zh-CN" altLang="en-US" b="1" dirty="0">
                <a:latin typeface="宋体" panose="02010600030101010101" pitchFamily="2" charset="-122"/>
                <a:ea typeface="宋体" panose="02010600030101010101" pitchFamily="2" charset="-122"/>
              </a:rPr>
              <a:t>占一列</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Char char="v"/>
            </a:pPr>
            <a:r>
              <a:rPr lang="zh-CN" altLang="en-US" b="1" dirty="0">
                <a:latin typeface="宋体" panose="02010600030101010101" pitchFamily="2" charset="-122"/>
                <a:ea typeface="宋体" panose="02010600030101010101" pitchFamily="2" charset="-122"/>
              </a:rPr>
              <a:t>每个状态占一行</a:t>
            </a:r>
            <a:endParaRPr lang="zh-CN" altLang="en-US" b="1" dirty="0">
              <a:latin typeface="宋体" panose="02010600030101010101" pitchFamily="2" charset="-122"/>
              <a:ea typeface="宋体" panose="02010600030101010101" pitchFamily="2" charset="-122"/>
            </a:endParaRPr>
          </a:p>
          <a:p>
            <a:pPr lvl="3">
              <a:buFont typeface="Wingdings" panose="05000000000000000000" pitchFamily="2" charset="2"/>
              <a:buChar char="v"/>
            </a:pPr>
            <a:r>
              <a:rPr lang="zh-CN" altLang="en-US" b="1" dirty="0">
                <a:latin typeface="宋体" panose="02010600030101010101" pitchFamily="2" charset="-122"/>
                <a:ea typeface="宋体" panose="02010600030101010101" pitchFamily="2" charset="-122"/>
              </a:rPr>
              <a:t>表中状态</a:t>
            </a:r>
            <a:r>
              <a:rPr lang="en-US" altLang="zh-CN" b="1" dirty="0">
                <a:latin typeface="宋体" panose="02010600030101010101" pitchFamily="2" charset="-122"/>
                <a:ea typeface="宋体" panose="02010600030101010101" pitchFamily="2" charset="-122"/>
              </a:rPr>
              <a:t>q</a:t>
            </a:r>
            <a:r>
              <a:rPr lang="zh-CN" altLang="en-US" b="1" dirty="0">
                <a:latin typeface="宋体" panose="02010600030101010101" pitchFamily="2" charset="-122"/>
                <a:ea typeface="宋体" panose="02010600030101010101" pitchFamily="2" charset="-122"/>
              </a:rPr>
              <a:t>的行和输入符号</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的列交叉点的内容是在状态</a:t>
            </a:r>
            <a:r>
              <a:rPr lang="en-US" altLang="zh-CN" b="1" dirty="0">
                <a:latin typeface="宋体" panose="02010600030101010101" pitchFamily="2" charset="-122"/>
                <a:ea typeface="宋体" panose="02010600030101010101" pitchFamily="2" charset="-122"/>
              </a:rPr>
              <a:t>q、</a:t>
            </a:r>
            <a:r>
              <a:rPr lang="zh-CN" altLang="en-US" b="1" dirty="0">
                <a:latin typeface="宋体" panose="02010600030101010101" pitchFamily="2" charset="-122"/>
                <a:ea typeface="宋体" panose="02010600030101010101" pitchFamily="2" charset="-122"/>
              </a:rPr>
              <a:t>输入符号</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时，所能达到的状态的集合</a:t>
            </a:r>
            <a:endParaRPr lang="en-US" altLang="zh-CN" b="1" dirty="0">
              <a:latin typeface="宋体" panose="02010600030101010101" pitchFamily="2" charset="-122"/>
              <a:ea typeface="宋体" panose="02010600030101010101" pitchFamily="2" charset="-122"/>
            </a:endParaRPr>
          </a:p>
          <a:p>
            <a:pPr lvl="3">
              <a:lnSpc>
                <a:spcPct val="90000"/>
              </a:lnSpc>
              <a:buFont typeface="Wingdings" panose="05000000000000000000" pitchFamily="2" charset="2"/>
              <a:buChar char="v"/>
            </a:pPr>
            <a:r>
              <a:rPr lang="zh-CN" altLang="en-US" b="1" dirty="0">
                <a:ea typeface="宋体" panose="02010600030101010101" pitchFamily="2" charset="-122"/>
              </a:rPr>
              <a:t>转换表的优点是可以快速查找状态转换</a:t>
            </a:r>
            <a:endParaRPr lang="zh-CN" altLang="en-US" b="1" dirty="0">
              <a:ea typeface="宋体" panose="02010600030101010101" pitchFamily="2" charset="-122"/>
            </a:endParaRPr>
          </a:p>
          <a:p>
            <a:pPr lvl="3">
              <a:lnSpc>
                <a:spcPct val="90000"/>
              </a:lnSpc>
              <a:buFont typeface="Wingdings" panose="05000000000000000000" pitchFamily="2" charset="2"/>
              <a:buChar char="v"/>
            </a:pPr>
            <a:r>
              <a:rPr lang="zh-CN" altLang="en-US" b="1" dirty="0">
                <a:ea typeface="宋体" panose="02010600030101010101" pitchFamily="2" charset="-122"/>
              </a:rPr>
              <a:t>转换表的缺点是浪费空间，实现时可以采用稀疏矩阵表示</a:t>
            </a:r>
            <a:endParaRPr lang="zh-CN" altLang="en-US" b="1" dirty="0">
              <a:latin typeface="宋体" panose="02010600030101010101" pitchFamily="2" charset="-122"/>
              <a:ea typeface="宋体" panose="02010600030101010101" pitchFamily="2" charset="-122"/>
            </a:endParaRPr>
          </a:p>
        </p:txBody>
      </p:sp>
      <p:pic>
        <p:nvPicPr>
          <p:cNvPr id="93188" name="Picture 3"/>
          <p:cNvPicPr>
            <a:picLocks noChangeAspect="1"/>
          </p:cNvPicPr>
          <p:nvPr/>
        </p:nvPicPr>
        <p:blipFill>
          <a:blip r:embed="rId1"/>
          <a:stretch>
            <a:fillRect/>
          </a:stretch>
        </p:blipFill>
        <p:spPr>
          <a:xfrm>
            <a:off x="1217613" y="4221163"/>
            <a:ext cx="6937375" cy="2636837"/>
          </a:xfrm>
          <a:prstGeom prst="rect">
            <a:avLst/>
          </a:prstGeom>
          <a:noFill/>
          <a:ln w="9525">
            <a:noFill/>
          </a:ln>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有穷状态自动机（6）</a:t>
            </a:r>
            <a:endParaRPr lang="zh-CN" altLang="en-US" dirty="0">
              <a:latin typeface="宋体" panose="02010600030101010101" pitchFamily="2" charset="-122"/>
              <a:ea typeface="宋体" panose="02010600030101010101" pitchFamily="2" charset="-122"/>
            </a:endParaRPr>
          </a:p>
        </p:txBody>
      </p:sp>
      <p:sp>
        <p:nvSpPr>
          <p:cNvPr id="95235" name="Rectangle 3"/>
          <p:cNvSpPr>
            <a:spLocks noGrp="1"/>
          </p:cNvSpPr>
          <p:nvPr>
            <p:ph idx="1"/>
          </p:nvPr>
        </p:nvSpPr>
        <p:spPr>
          <a:xfrm>
            <a:off x="990600" y="1371600"/>
            <a:ext cx="7391400" cy="4876800"/>
          </a:xfrm>
        </p:spPr>
        <p:txBody>
          <a:bodyPr vert="horz" wrap="square" lIns="92075" tIns="46038" rIns="92075" bIns="46038" anchor="t" anchorCtr="0"/>
          <a:p>
            <a:r>
              <a:rPr lang="en-US" altLang="zh-CN" b="1" dirty="0">
                <a:ea typeface="宋体" panose="02010600030101010101" pitchFamily="2" charset="-122"/>
              </a:rPr>
              <a:t>NFA</a:t>
            </a:r>
            <a:r>
              <a:rPr lang="zh-CN" altLang="en-US" b="1" dirty="0">
                <a:ea typeface="宋体" panose="02010600030101010101" pitchFamily="2" charset="-122"/>
              </a:rPr>
              <a:t>接受的语言：</a:t>
            </a:r>
            <a:endParaRPr lang="zh-CN" altLang="en-US" b="1" dirty="0">
              <a:ea typeface="宋体" panose="02010600030101010101" pitchFamily="2" charset="-122"/>
            </a:endParaRPr>
          </a:p>
          <a:p>
            <a:pPr lvl="1"/>
            <a:r>
              <a:rPr lang="en-US" altLang="zh-CN" b="1" dirty="0">
                <a:ea typeface="宋体" panose="02010600030101010101" pitchFamily="2" charset="-122"/>
              </a:rPr>
              <a:t>NFA</a:t>
            </a:r>
            <a:r>
              <a:rPr lang="zh-CN" altLang="en-US" b="1" dirty="0">
                <a:ea typeface="宋体" panose="02010600030101010101" pitchFamily="2" charset="-122"/>
              </a:rPr>
              <a:t>接受的串：</a:t>
            </a:r>
            <a:r>
              <a:rPr lang="en-US" altLang="zh-CN" b="1" dirty="0">
                <a:ea typeface="宋体" panose="02010600030101010101" pitchFamily="2" charset="-122"/>
              </a:rPr>
              <a:t>NFA</a:t>
            </a:r>
            <a:r>
              <a:rPr lang="zh-CN" altLang="en-US" b="1" dirty="0">
                <a:ea typeface="宋体" panose="02010600030101010101" pitchFamily="2" charset="-122"/>
              </a:rPr>
              <a:t>接受输入串</a:t>
            </a:r>
            <a:r>
              <a:rPr lang="en-US" altLang="zh-CN" b="1" dirty="0">
                <a:ea typeface="宋体" panose="02010600030101010101" pitchFamily="2" charset="-122"/>
              </a:rPr>
              <a:t>x</a:t>
            </a:r>
            <a:r>
              <a:rPr lang="zh-CN" altLang="en-US" b="1" dirty="0">
                <a:ea typeface="宋体" panose="02010600030101010101" pitchFamily="2" charset="-122"/>
              </a:rPr>
              <a:t>的充分必要条件是存在从开始状态到某个接受状态的路径，使沿着该路径的边的标记拼成</a:t>
            </a:r>
            <a:r>
              <a:rPr lang="en-US" altLang="zh-CN" b="1" dirty="0">
                <a:ea typeface="宋体" panose="02010600030101010101" pitchFamily="2" charset="-122"/>
              </a:rPr>
              <a:t>x，</a:t>
            </a:r>
            <a:endParaRPr lang="en-US" altLang="zh-CN" b="1" dirty="0">
              <a:ea typeface="宋体" panose="02010600030101010101" pitchFamily="2" charset="-122"/>
            </a:endParaRPr>
          </a:p>
          <a:p>
            <a:pPr lvl="1"/>
            <a:r>
              <a:rPr lang="en-US" altLang="zh-CN" b="1" dirty="0">
                <a:ea typeface="宋体" panose="02010600030101010101" pitchFamily="2" charset="-122"/>
              </a:rPr>
              <a:t>NFA</a:t>
            </a:r>
            <a:r>
              <a:rPr lang="zh-CN" altLang="en-US" b="1" dirty="0">
                <a:ea typeface="宋体" panose="02010600030101010101" pitchFamily="2" charset="-122"/>
              </a:rPr>
              <a:t>接受一个输入串的路径不都是唯一的</a:t>
            </a:r>
            <a:endParaRPr lang="zh-CN" altLang="en-US" b="1" dirty="0">
              <a:ea typeface="宋体" panose="02010600030101010101" pitchFamily="2" charset="-122"/>
            </a:endParaRPr>
          </a:p>
          <a:p>
            <a:pPr lvl="1"/>
            <a:r>
              <a:rPr lang="zh-CN" altLang="en-US" b="1" dirty="0">
                <a:ea typeface="宋体" panose="02010600030101010101" pitchFamily="2" charset="-122"/>
              </a:rPr>
              <a:t>由</a:t>
            </a:r>
            <a:r>
              <a:rPr lang="en-US" altLang="zh-CN" b="1" dirty="0">
                <a:ea typeface="宋体" panose="02010600030101010101" pitchFamily="2" charset="-122"/>
              </a:rPr>
              <a:t>NFA</a:t>
            </a:r>
            <a:r>
              <a:rPr lang="zh-CN" altLang="en-US" b="1" dirty="0">
                <a:ea typeface="宋体" panose="02010600030101010101" pitchFamily="2" charset="-122"/>
              </a:rPr>
              <a:t>定义的语言是它接受的输入串的集合</a:t>
            </a:r>
            <a:endParaRPr lang="zh-CN" altLang="en-US" b="1" dirty="0">
              <a:ea typeface="宋体" panose="02010600030101010101" pitchFamily="2" charset="-122"/>
            </a:endParaRPr>
          </a:p>
          <a:p>
            <a:r>
              <a:rPr lang="zh-CN" altLang="en-US" b="1" dirty="0">
                <a:ea typeface="宋体" panose="02010600030101010101" pitchFamily="2" charset="-122"/>
              </a:rPr>
              <a:t>有时，考虑到</a:t>
            </a:r>
            <a:r>
              <a:rPr lang="en-US" altLang="zh-CN" b="1" dirty="0">
                <a:ea typeface="宋体" panose="02010600030101010101" pitchFamily="2" charset="-122"/>
              </a:rPr>
              <a:t>NFA</a:t>
            </a:r>
            <a:r>
              <a:rPr lang="zh-CN" altLang="en-US" b="1" dirty="0">
                <a:ea typeface="宋体" panose="02010600030101010101" pitchFamily="2" charset="-122"/>
              </a:rPr>
              <a:t>中是否有</a:t>
            </a:r>
            <a:r>
              <a:rPr lang="en-US" altLang="zh-CN" b="1" dirty="0">
                <a:ea typeface="宋体" panose="02010600030101010101" pitchFamily="2" charset="-122"/>
              </a:rPr>
              <a:t>ε</a:t>
            </a:r>
            <a:r>
              <a:rPr lang="zh-CN" altLang="en-US" b="1" dirty="0">
                <a:ea typeface="宋体" panose="02010600030101010101" pitchFamily="2" charset="-122"/>
              </a:rPr>
              <a:t>转换，从而将</a:t>
            </a:r>
            <a:r>
              <a:rPr lang="en-US" altLang="zh-CN" b="1" dirty="0">
                <a:ea typeface="宋体" panose="02010600030101010101" pitchFamily="2" charset="-122"/>
              </a:rPr>
              <a:t>NFA</a:t>
            </a:r>
            <a:r>
              <a:rPr lang="zh-CN" altLang="en-US" b="1" dirty="0">
                <a:ea typeface="宋体" panose="02010600030101010101" pitchFamily="2" charset="-122"/>
              </a:rPr>
              <a:t>细分为两类：具有</a:t>
            </a:r>
            <a:r>
              <a:rPr lang="en-US" altLang="zh-CN" b="1" dirty="0">
                <a:ea typeface="宋体" panose="02010600030101010101" pitchFamily="2" charset="-122"/>
              </a:rPr>
              <a:t>ε</a:t>
            </a:r>
            <a:r>
              <a:rPr lang="zh-CN" altLang="en-US" b="1" dirty="0">
                <a:ea typeface="宋体" panose="02010600030101010101" pitchFamily="2" charset="-122"/>
              </a:rPr>
              <a:t>转换的</a:t>
            </a:r>
            <a:r>
              <a:rPr lang="en-US" altLang="zh-CN" b="1" dirty="0">
                <a:ea typeface="宋体" panose="02010600030101010101" pitchFamily="2" charset="-122"/>
              </a:rPr>
              <a:t>NFA，</a:t>
            </a:r>
            <a:r>
              <a:rPr lang="zh-CN" altLang="en-US" b="1" dirty="0">
                <a:ea typeface="宋体" panose="02010600030101010101" pitchFamily="2" charset="-122"/>
              </a:rPr>
              <a:t>和不具有</a:t>
            </a:r>
            <a:r>
              <a:rPr lang="en-US" altLang="zh-CN" b="1" dirty="0">
                <a:ea typeface="宋体" panose="02010600030101010101" pitchFamily="2" charset="-122"/>
              </a:rPr>
              <a:t>ε</a:t>
            </a:r>
            <a:r>
              <a:rPr lang="zh-CN" altLang="en-US" b="1" dirty="0">
                <a:ea typeface="宋体" panose="02010600030101010101" pitchFamily="2" charset="-122"/>
              </a:rPr>
              <a:t>转换的</a:t>
            </a:r>
            <a:r>
              <a:rPr lang="en-US" altLang="zh-CN" b="1" dirty="0">
                <a:ea typeface="宋体" panose="02010600030101010101" pitchFamily="2" charset="-122"/>
              </a:rPr>
              <a:t>NFA</a:t>
            </a:r>
            <a:endParaRPr lang="en-US" altLang="zh-CN" b="1" dirty="0">
              <a:ea typeface="宋体" panose="02010600030101010101" pitchFamily="2" charset="-122"/>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有穷状态自动机（7）</a:t>
            </a:r>
            <a:endParaRPr lang="zh-CN" altLang="en-US" dirty="0">
              <a:latin typeface="宋体" panose="02010600030101010101" pitchFamily="2" charset="-122"/>
              <a:ea typeface="宋体" panose="02010600030101010101" pitchFamily="2" charset="-122"/>
            </a:endParaRPr>
          </a:p>
        </p:txBody>
      </p:sp>
      <p:graphicFrame>
        <p:nvGraphicFramePr>
          <p:cNvPr id="97283" name="Object 6"/>
          <p:cNvGraphicFramePr>
            <a:graphicFrameLocks noChangeAspect="1"/>
          </p:cNvGraphicFramePr>
          <p:nvPr/>
        </p:nvGraphicFramePr>
        <p:xfrm>
          <a:off x="2057400" y="1600200"/>
          <a:ext cx="4495800" cy="3997325"/>
        </p:xfrm>
        <a:graphic>
          <a:graphicData uri="http://schemas.openxmlformats.org/presentationml/2006/ole">
            <mc:AlternateContent xmlns:mc="http://schemas.openxmlformats.org/markup-compatibility/2006">
              <mc:Choice xmlns:v="urn:schemas-microsoft-com:vml" Requires="v">
                <p:oleObj spid="_x0000_s3076" name="" r:id="rId1" imgW="2854960" imgH="2880360" progId="Visio.Drawing.4">
                  <p:embed/>
                </p:oleObj>
              </mc:Choice>
              <mc:Fallback>
                <p:oleObj name="" r:id="rId1" imgW="2854960" imgH="2880360" progId="Visio.Drawing.4">
                  <p:embed/>
                  <p:pic>
                    <p:nvPicPr>
                      <p:cNvPr id="0" name="图片 3075"/>
                      <p:cNvPicPr/>
                      <p:nvPr/>
                    </p:nvPicPr>
                    <p:blipFill>
                      <a:blip r:embed="rId2"/>
                      <a:stretch>
                        <a:fillRect/>
                      </a:stretch>
                    </p:blipFill>
                    <p:spPr>
                      <a:xfrm>
                        <a:off x="2057400" y="1600200"/>
                        <a:ext cx="4495800" cy="3997325"/>
                      </a:xfrm>
                      <a:prstGeom prst="rect">
                        <a:avLst/>
                      </a:prstGeom>
                      <a:noFill/>
                      <a:ln w="38100">
                        <a:noFill/>
                        <a:miter/>
                      </a:ln>
                    </p:spPr>
                  </p:pic>
                </p:oleObj>
              </mc:Fallback>
            </mc:AlternateContent>
          </a:graphicData>
        </a:graphic>
      </p:graphicFrame>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有穷状态自动机（8）</a:t>
            </a:r>
            <a:endParaRPr lang="zh-CN" altLang="en-US" dirty="0">
              <a:latin typeface="宋体" panose="02010600030101010101" pitchFamily="2" charset="-122"/>
              <a:ea typeface="宋体" panose="02010600030101010101" pitchFamily="2" charset="-122"/>
            </a:endParaRPr>
          </a:p>
        </p:txBody>
      </p:sp>
      <p:sp>
        <p:nvSpPr>
          <p:cNvPr id="99331" name="Rectangle 3"/>
          <p:cNvSpPr>
            <a:spLocks noGrp="1"/>
          </p:cNvSpPr>
          <p:nvPr>
            <p:ph idx="1"/>
          </p:nvPr>
        </p:nvSpPr>
        <p:spPr>
          <a:xfrm>
            <a:off x="990600" y="1600200"/>
            <a:ext cx="7391400" cy="4648200"/>
          </a:xfrm>
        </p:spPr>
        <p:txBody>
          <a:bodyPr vert="horz" wrap="square" lIns="92075" tIns="46038" rIns="92075" bIns="46038" anchor="t" anchorCtr="0"/>
          <a:p>
            <a:r>
              <a:rPr lang="zh-CN" altLang="en-US" b="1" dirty="0">
                <a:ea typeface="宋体" panose="02010600030101010101" pitchFamily="2" charset="-122"/>
              </a:rPr>
              <a:t>确定的有穷状态自动机（</a:t>
            </a:r>
            <a:r>
              <a:rPr lang="en-US" altLang="zh-CN" b="1" dirty="0">
                <a:ea typeface="宋体" panose="02010600030101010101" pitchFamily="2" charset="-122"/>
              </a:rPr>
              <a:t>DFA）：</a:t>
            </a:r>
            <a:endParaRPr lang="en-US" altLang="zh-CN" b="1" dirty="0">
              <a:ea typeface="宋体" panose="02010600030101010101" pitchFamily="2" charset="-122"/>
            </a:endParaRPr>
          </a:p>
          <a:p>
            <a:pPr lvl="1"/>
            <a:r>
              <a:rPr lang="zh-CN" altLang="en-US" b="1" dirty="0">
                <a:ea typeface="宋体" panose="02010600030101010101" pitchFamily="2" charset="-122"/>
              </a:rPr>
              <a:t>定义：是</a:t>
            </a:r>
            <a:r>
              <a:rPr lang="en-US" altLang="zh-CN" b="1" dirty="0">
                <a:ea typeface="宋体" panose="02010600030101010101" pitchFamily="2" charset="-122"/>
              </a:rPr>
              <a:t>NFA</a:t>
            </a:r>
            <a:r>
              <a:rPr lang="zh-CN" altLang="en-US" b="1" dirty="0">
                <a:ea typeface="宋体" panose="02010600030101010101" pitchFamily="2" charset="-122"/>
              </a:rPr>
              <a:t>的特殊情况，其中：</a:t>
            </a:r>
            <a:endParaRPr lang="zh-CN" altLang="en-US" b="1" dirty="0">
              <a:ea typeface="宋体" panose="02010600030101010101" pitchFamily="2" charset="-122"/>
            </a:endParaRPr>
          </a:p>
          <a:p>
            <a:pPr marL="1371600" lvl="2" indent="-457200">
              <a:buFontTx/>
              <a:buAutoNum type="circleNumDbPlain"/>
            </a:pPr>
            <a:r>
              <a:rPr lang="zh-CN" altLang="en-US" b="1" dirty="0">
                <a:ea typeface="宋体" panose="02010600030101010101" pitchFamily="2" charset="-122"/>
              </a:rPr>
              <a:t>没有一个状态有</a:t>
            </a:r>
            <a:r>
              <a:rPr lang="en-US" altLang="zh-CN" b="1" dirty="0">
                <a:ea typeface="宋体" panose="02010600030101010101" pitchFamily="2" charset="-122"/>
              </a:rPr>
              <a:t>ε</a:t>
            </a:r>
            <a:r>
              <a:rPr lang="zh-CN" altLang="en-US" b="1" dirty="0">
                <a:ea typeface="宋体" panose="02010600030101010101" pitchFamily="2" charset="-122"/>
              </a:rPr>
              <a:t>转换</a:t>
            </a:r>
            <a:endParaRPr lang="zh-CN" altLang="en-US" b="1" dirty="0">
              <a:ea typeface="宋体" panose="02010600030101010101" pitchFamily="2" charset="-122"/>
            </a:endParaRPr>
          </a:p>
          <a:p>
            <a:pPr marL="1371600" lvl="2" indent="-457200">
              <a:buFontTx/>
              <a:buAutoNum type="circleNumDbPlain"/>
            </a:pPr>
            <a:r>
              <a:rPr lang="zh-CN" altLang="en-US" b="1" dirty="0">
                <a:ea typeface="宋体" panose="02010600030101010101" pitchFamily="2" charset="-122"/>
              </a:rPr>
              <a:t>对每个状态</a:t>
            </a:r>
            <a:r>
              <a:rPr lang="en-US" altLang="zh-CN" b="1" dirty="0">
                <a:ea typeface="宋体" panose="02010600030101010101" pitchFamily="2" charset="-122"/>
              </a:rPr>
              <a:t>s</a:t>
            </a:r>
            <a:r>
              <a:rPr lang="zh-CN" altLang="en-US" b="1" dirty="0">
                <a:ea typeface="宋体" panose="02010600030101010101" pitchFamily="2" charset="-122"/>
              </a:rPr>
              <a:t>和输入符号</a:t>
            </a:r>
            <a:r>
              <a:rPr lang="en-US" altLang="zh-CN" b="1" dirty="0">
                <a:ea typeface="宋体" panose="02010600030101010101" pitchFamily="2" charset="-122"/>
              </a:rPr>
              <a:t>a，</a:t>
            </a:r>
            <a:r>
              <a:rPr lang="zh-CN" altLang="en-US" b="1" dirty="0">
                <a:ea typeface="宋体" panose="02010600030101010101" pitchFamily="2" charset="-122"/>
              </a:rPr>
              <a:t>最多只有一条标记为</a:t>
            </a:r>
            <a:r>
              <a:rPr lang="en-US" altLang="zh-CN" b="1" dirty="0">
                <a:ea typeface="宋体" panose="02010600030101010101" pitchFamily="2" charset="-122"/>
              </a:rPr>
              <a:t>a</a:t>
            </a:r>
            <a:r>
              <a:rPr lang="zh-CN" altLang="en-US" b="1" dirty="0">
                <a:ea typeface="宋体" panose="02010600030101010101" pitchFamily="2" charset="-122"/>
              </a:rPr>
              <a:t>的有向边离开</a:t>
            </a:r>
            <a:r>
              <a:rPr lang="en-US" altLang="zh-CN" b="1" dirty="0">
                <a:ea typeface="宋体" panose="02010600030101010101" pitchFamily="2" charset="-122"/>
              </a:rPr>
              <a:t>s</a:t>
            </a:r>
            <a:endParaRPr lang="zh-CN" altLang="en-US" b="1" dirty="0">
              <a:ea typeface="宋体" panose="02010600030101010101" pitchFamily="2" charset="-122"/>
            </a:endParaRPr>
          </a:p>
          <a:p>
            <a:pPr marL="1371600" lvl="2" indent="-457200">
              <a:buNone/>
            </a:pPr>
            <a:r>
              <a:rPr lang="zh-CN" altLang="en-US" b="1" dirty="0">
                <a:ea typeface="宋体" panose="02010600030101010101" pitchFamily="2" charset="-122"/>
              </a:rPr>
              <a:t>	即有</a:t>
            </a:r>
            <a:r>
              <a:rPr lang="en-US" altLang="zh-CN" b="1" dirty="0">
                <a:ea typeface="宋体" panose="02010600030101010101" pitchFamily="2" charset="-122"/>
              </a:rPr>
              <a:t>δ</a:t>
            </a:r>
            <a:r>
              <a:rPr lang="zh-CN" altLang="en-US" b="1" dirty="0">
                <a:ea typeface="宋体" panose="02010600030101010101" pitchFamily="2" charset="-122"/>
              </a:rPr>
              <a:t>：</a:t>
            </a:r>
            <a:r>
              <a:rPr lang="en-US" altLang="zh-CN" b="1" dirty="0">
                <a:ea typeface="宋体" panose="02010600030101010101" pitchFamily="2" charset="-122"/>
              </a:rPr>
              <a:t>S×∑ →S</a:t>
            </a:r>
            <a:endParaRPr lang="zh-CN" altLang="en-US" b="1" dirty="0">
              <a:ea typeface="宋体" panose="02010600030101010101" pitchFamily="2" charset="-122"/>
            </a:endParaRPr>
          </a:p>
          <a:p>
            <a:pPr lvl="1"/>
            <a:r>
              <a:rPr lang="zh-CN" altLang="en-US" b="1" dirty="0">
                <a:ea typeface="宋体" panose="02010600030101010101" pitchFamily="2" charset="-122"/>
              </a:rPr>
              <a:t>确定性：</a:t>
            </a:r>
            <a:endParaRPr lang="zh-CN" altLang="en-US" b="1" dirty="0">
              <a:ea typeface="宋体" panose="02010600030101010101" pitchFamily="2" charset="-122"/>
            </a:endParaRPr>
          </a:p>
          <a:p>
            <a:pPr marL="1371600" lvl="2" indent="-457200"/>
            <a:r>
              <a:rPr lang="en-US" altLang="zh-CN" b="1" dirty="0">
                <a:ea typeface="宋体" panose="02010600030101010101" pitchFamily="2" charset="-122"/>
              </a:rPr>
              <a:t>DFA</a:t>
            </a:r>
            <a:r>
              <a:rPr lang="zh-CN" altLang="en-US" b="1" dirty="0">
                <a:ea typeface="宋体" panose="02010600030101010101" pitchFamily="2" charset="-122"/>
              </a:rPr>
              <a:t>从任何状态出发，对于任何输入符号，最多只有一个转换</a:t>
            </a:r>
            <a:endParaRPr lang="zh-CN" altLang="en-US" b="1" dirty="0">
              <a:ea typeface="宋体" panose="02010600030101010101" pitchFamily="2" charset="-122"/>
            </a:endParaRPr>
          </a:p>
          <a:p>
            <a:pPr marL="1371600" lvl="2" indent="-457200"/>
            <a:r>
              <a:rPr lang="zh-CN" altLang="en-US" b="1" dirty="0">
                <a:ea typeface="宋体" panose="02010600030101010101" pitchFamily="2" charset="-122"/>
              </a:rPr>
              <a:t>对于一个</a:t>
            </a:r>
            <a:r>
              <a:rPr lang="en-US" altLang="zh-CN" b="1" dirty="0">
                <a:ea typeface="宋体" panose="02010600030101010101" pitchFamily="2" charset="-122"/>
              </a:rPr>
              <a:t>DFA</a:t>
            </a:r>
            <a:r>
              <a:rPr lang="zh-CN" altLang="en-US" b="1" dirty="0">
                <a:ea typeface="宋体" panose="02010600030101010101" pitchFamily="2" charset="-122"/>
              </a:rPr>
              <a:t>接受的输入串，从开始状态起，最多只有一条到达终态的路径可由这个串标记</a:t>
            </a:r>
            <a:endParaRPr lang="zh-CN" altLang="en-US" b="1" dirty="0">
              <a:ea typeface="宋体" panose="02010600030101010101" pitchFamily="2"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有穷状态自动机（9）</a:t>
            </a:r>
            <a:endParaRPr lang="zh-CN" altLang="en-US" dirty="0">
              <a:latin typeface="宋体" panose="02010600030101010101" pitchFamily="2" charset="-122"/>
              <a:ea typeface="宋体" panose="02010600030101010101" pitchFamily="2" charset="-122"/>
            </a:endParaRPr>
          </a:p>
        </p:txBody>
      </p:sp>
      <p:sp>
        <p:nvSpPr>
          <p:cNvPr id="101379" name="Rectangle 3"/>
          <p:cNvSpPr>
            <a:spLocks noGrp="1"/>
          </p:cNvSpPr>
          <p:nvPr>
            <p:ph idx="1"/>
          </p:nvPr>
        </p:nvSpPr>
        <p:spPr>
          <a:xfrm>
            <a:off x="990600" y="1371600"/>
            <a:ext cx="7391400" cy="5105400"/>
          </a:xfrm>
        </p:spPr>
        <p:txBody>
          <a:bodyPr vert="horz" wrap="square" lIns="92075" tIns="46038" rIns="92075" bIns="46038" anchor="t" anchorCtr="0"/>
          <a:p>
            <a:pPr marL="914400" lvl="1" indent="-457200"/>
            <a:r>
              <a:rPr lang="en-US" altLang="zh-CN" b="1" dirty="0">
                <a:ea typeface="宋体" panose="02010600030101010101" pitchFamily="2" charset="-122"/>
              </a:rPr>
              <a:t>DFA</a:t>
            </a:r>
            <a:r>
              <a:rPr lang="zh-CN" altLang="en-US" b="1" dirty="0">
                <a:ea typeface="宋体" panose="02010600030101010101" pitchFamily="2" charset="-122"/>
              </a:rPr>
              <a:t>的模拟：</a:t>
            </a:r>
            <a:endParaRPr lang="zh-CN" altLang="en-US" b="1" dirty="0">
              <a:ea typeface="宋体" panose="02010600030101010101" pitchFamily="2" charset="-122"/>
            </a:endParaRPr>
          </a:p>
          <a:p>
            <a:pPr marL="914400" lvl="1" indent="-457200">
              <a:buNone/>
            </a:pPr>
            <a:r>
              <a:rPr lang="zh-CN" altLang="en-US" sz="2000" b="1" dirty="0">
                <a:ea typeface="宋体" panose="02010600030101010101" pitchFamily="2" charset="-122"/>
              </a:rPr>
              <a:t>输入：输入串</a:t>
            </a:r>
            <a:r>
              <a:rPr lang="en-US" altLang="zh-CN" sz="2000" b="1" dirty="0">
                <a:ea typeface="宋体" panose="02010600030101010101" pitchFamily="2" charset="-122"/>
              </a:rPr>
              <a:t>x，</a:t>
            </a:r>
            <a:r>
              <a:rPr lang="zh-CN" altLang="en-US" sz="2000" b="1" dirty="0">
                <a:ea typeface="宋体" panose="02010600030101010101" pitchFamily="2" charset="-122"/>
              </a:rPr>
              <a:t>由文件结束符</a:t>
            </a:r>
            <a:r>
              <a:rPr lang="en-US" altLang="zh-CN" sz="2000" b="1" dirty="0">
                <a:ea typeface="宋体" panose="02010600030101010101" pitchFamily="2" charset="-122"/>
              </a:rPr>
              <a:t>eof</a:t>
            </a:r>
            <a:r>
              <a:rPr lang="zh-CN" altLang="en-US" sz="2000" b="1" dirty="0">
                <a:ea typeface="宋体" panose="02010600030101010101" pitchFamily="2" charset="-122"/>
              </a:rPr>
              <a:t>结尾；</a:t>
            </a:r>
            <a:r>
              <a:rPr lang="en-US" altLang="zh-CN" sz="2000" b="1" dirty="0">
                <a:ea typeface="宋体" panose="02010600030101010101" pitchFamily="2" charset="-122"/>
              </a:rPr>
              <a:t>DFA D，</a:t>
            </a:r>
            <a:r>
              <a:rPr lang="zh-CN" altLang="en-US" sz="2000" b="1" dirty="0">
                <a:ea typeface="宋体" panose="02010600030101010101" pitchFamily="2" charset="-122"/>
              </a:rPr>
              <a:t>开始状态</a:t>
            </a:r>
            <a:r>
              <a:rPr lang="en-US" altLang="zh-CN" sz="2000" b="1" dirty="0">
                <a:ea typeface="宋体" panose="02010600030101010101" pitchFamily="2" charset="-122"/>
              </a:rPr>
              <a:t>s</a:t>
            </a:r>
            <a:r>
              <a:rPr lang="en-US" altLang="zh-CN" sz="2000" b="1" baseline="-25000" dirty="0">
                <a:ea typeface="宋体" panose="02010600030101010101" pitchFamily="2" charset="-122"/>
              </a:rPr>
              <a:t>0</a:t>
            </a:r>
            <a:r>
              <a:rPr lang="en-US" altLang="zh-CN" sz="2000" b="1" dirty="0">
                <a:ea typeface="宋体" panose="02010600030101010101" pitchFamily="2" charset="-122"/>
              </a:rPr>
              <a:t>，</a:t>
            </a:r>
            <a:r>
              <a:rPr lang="zh-CN" altLang="en-US" sz="2000" b="1" dirty="0">
                <a:ea typeface="宋体" panose="02010600030101010101" pitchFamily="2" charset="-122"/>
              </a:rPr>
              <a:t>接受状态集合</a:t>
            </a:r>
            <a:r>
              <a:rPr lang="en-US" altLang="zh-CN" sz="2000" b="1" dirty="0">
                <a:ea typeface="宋体" panose="02010600030101010101" pitchFamily="2" charset="-122"/>
              </a:rPr>
              <a:t>F</a:t>
            </a:r>
            <a:r>
              <a:rPr lang="zh-CN" altLang="en-US" sz="2000" b="1" dirty="0">
                <a:ea typeface="宋体" panose="02010600030101010101" pitchFamily="2" charset="-122"/>
              </a:rPr>
              <a:t>，转换函数为</a:t>
            </a:r>
            <a:r>
              <a:rPr lang="en-US" altLang="zh-CN" sz="2000" b="1" dirty="0">
                <a:ea typeface="宋体" panose="02010600030101010101" pitchFamily="2" charset="-122"/>
              </a:rPr>
              <a:t>move</a:t>
            </a:r>
            <a:endParaRPr lang="en-US" altLang="zh-CN" sz="2000" b="1" dirty="0">
              <a:ea typeface="宋体" panose="02010600030101010101" pitchFamily="2" charset="-122"/>
            </a:endParaRPr>
          </a:p>
          <a:p>
            <a:pPr marL="914400" lvl="1" indent="-457200">
              <a:buNone/>
            </a:pPr>
            <a:r>
              <a:rPr lang="zh-CN" altLang="en-US" sz="2000" b="1" dirty="0">
                <a:ea typeface="宋体" panose="02010600030101010101" pitchFamily="2" charset="-122"/>
              </a:rPr>
              <a:t>输出：如果</a:t>
            </a:r>
            <a:r>
              <a:rPr lang="en-US" altLang="zh-CN" sz="2000" b="1" dirty="0">
                <a:ea typeface="宋体" panose="02010600030101010101" pitchFamily="2" charset="-122"/>
              </a:rPr>
              <a:t>D</a:t>
            </a:r>
            <a:r>
              <a:rPr lang="zh-CN" altLang="en-US" sz="2000" b="1" dirty="0">
                <a:ea typeface="宋体" panose="02010600030101010101" pitchFamily="2" charset="-122"/>
              </a:rPr>
              <a:t>接受</a:t>
            </a:r>
            <a:r>
              <a:rPr lang="en-US" altLang="zh-CN" sz="2000" b="1" dirty="0">
                <a:ea typeface="宋体" panose="02010600030101010101" pitchFamily="2" charset="-122"/>
              </a:rPr>
              <a:t>x，</a:t>
            </a:r>
            <a:r>
              <a:rPr lang="zh-CN" altLang="en-US" sz="2000" b="1" dirty="0">
                <a:ea typeface="宋体" panose="02010600030101010101" pitchFamily="2" charset="-122"/>
              </a:rPr>
              <a:t>则回答“</a:t>
            </a:r>
            <a:r>
              <a:rPr lang="en-US" altLang="zh-CN" sz="2000" b="1" dirty="0">
                <a:ea typeface="宋体" panose="02010600030101010101" pitchFamily="2" charset="-122"/>
              </a:rPr>
              <a:t>yes”，</a:t>
            </a:r>
            <a:r>
              <a:rPr lang="zh-CN" altLang="en-US" sz="2000" b="1" dirty="0">
                <a:ea typeface="宋体" panose="02010600030101010101" pitchFamily="2" charset="-122"/>
              </a:rPr>
              <a:t>否则回答“</a:t>
            </a:r>
            <a:r>
              <a:rPr lang="en-US" altLang="zh-CN" sz="2000" b="1" dirty="0">
                <a:ea typeface="宋体" panose="02010600030101010101" pitchFamily="2" charset="-122"/>
              </a:rPr>
              <a:t>no”</a:t>
            </a:r>
            <a:endParaRPr lang="en-US" altLang="zh-CN" sz="2000" b="1" dirty="0">
              <a:ea typeface="宋体" panose="02010600030101010101" pitchFamily="2" charset="-122"/>
            </a:endParaRPr>
          </a:p>
          <a:p>
            <a:pPr marL="914400" lvl="1" indent="-457200">
              <a:buNone/>
            </a:pPr>
            <a:r>
              <a:rPr lang="zh-CN" altLang="en-US" sz="2000" b="1" dirty="0">
                <a:ea typeface="宋体" panose="02010600030101010101" pitchFamily="2" charset="-122"/>
              </a:rPr>
              <a:t>方法：将下述算法施加于串</a:t>
            </a:r>
            <a:r>
              <a:rPr lang="en-US" altLang="zh-CN" sz="2000" b="1" dirty="0">
                <a:ea typeface="宋体" panose="02010600030101010101" pitchFamily="2" charset="-122"/>
              </a:rPr>
              <a:t>x，</a:t>
            </a:r>
            <a:r>
              <a:rPr lang="zh-CN" altLang="en-US" sz="2000" b="1" dirty="0">
                <a:ea typeface="宋体" panose="02010600030101010101" pitchFamily="2" charset="-122"/>
              </a:rPr>
              <a:t>其中用函数</a:t>
            </a:r>
            <a:r>
              <a:rPr lang="en-US" altLang="zh-CN" sz="2000" b="1" dirty="0">
                <a:ea typeface="宋体" panose="02010600030101010101" pitchFamily="2" charset="-122"/>
              </a:rPr>
              <a:t>move( s , c )</a:t>
            </a:r>
            <a:r>
              <a:rPr lang="zh-CN" altLang="en-US" sz="2000" b="1" dirty="0">
                <a:ea typeface="宋体" panose="02010600030101010101" pitchFamily="2" charset="-122"/>
              </a:rPr>
              <a:t>代替</a:t>
            </a:r>
            <a:r>
              <a:rPr lang="en-US" altLang="zh-CN" sz="2000" b="1" dirty="0">
                <a:ea typeface="宋体" panose="02010600030101010101" pitchFamily="2" charset="-122"/>
              </a:rPr>
              <a:t>δ(s , c) ，</a:t>
            </a:r>
            <a:r>
              <a:rPr lang="zh-CN" altLang="en-US" sz="2000" b="1" dirty="0">
                <a:ea typeface="宋体" panose="02010600030101010101" pitchFamily="2" charset="-122"/>
              </a:rPr>
              <a:t>函数</a:t>
            </a:r>
            <a:r>
              <a:rPr lang="en-US" altLang="zh-CN" sz="2000" b="1" dirty="0">
                <a:ea typeface="宋体" panose="02010600030101010101" pitchFamily="2" charset="-122"/>
              </a:rPr>
              <a:t>nextchar</a:t>
            </a:r>
            <a:r>
              <a:rPr lang="zh-CN" altLang="en-US" sz="2000" b="1" dirty="0">
                <a:ea typeface="宋体" panose="02010600030101010101" pitchFamily="2" charset="-122"/>
              </a:rPr>
              <a:t>返回输入串</a:t>
            </a:r>
            <a:r>
              <a:rPr lang="en-US" altLang="zh-CN" sz="2000" b="1" dirty="0">
                <a:ea typeface="宋体" panose="02010600030101010101" pitchFamily="2" charset="-122"/>
              </a:rPr>
              <a:t>x</a:t>
            </a:r>
            <a:r>
              <a:rPr lang="zh-CN" altLang="en-US" sz="2000" b="1" dirty="0">
                <a:ea typeface="宋体" panose="02010600030101010101" pitchFamily="2" charset="-122"/>
              </a:rPr>
              <a:t>的下一个字符</a:t>
            </a:r>
            <a:endParaRPr lang="zh-CN" altLang="en-US" sz="2000" b="1" dirty="0">
              <a:ea typeface="宋体" panose="02010600030101010101" pitchFamily="2" charset="-122"/>
            </a:endParaRPr>
          </a:p>
          <a:p>
            <a:pPr marL="914400" lvl="1" indent="-457200">
              <a:spcBef>
                <a:spcPct val="0"/>
              </a:spcBef>
              <a:buNone/>
            </a:pPr>
            <a:r>
              <a:rPr lang="zh-CN" altLang="en-US" sz="2000" b="1" dirty="0">
                <a:ea typeface="宋体" panose="02010600030101010101" pitchFamily="2" charset="-122"/>
              </a:rPr>
              <a:t>		</a:t>
            </a:r>
            <a:r>
              <a:rPr lang="en-US" altLang="zh-CN" sz="2000" b="1" dirty="0">
                <a:ea typeface="宋体" panose="02010600030101010101" pitchFamily="2" charset="-122"/>
              </a:rPr>
              <a:t>s := s</a:t>
            </a:r>
            <a:r>
              <a:rPr lang="en-US" altLang="zh-CN" sz="2000" b="1" baseline="-25000" dirty="0">
                <a:ea typeface="宋体" panose="02010600030101010101" pitchFamily="2" charset="-122"/>
              </a:rPr>
              <a:t>0 </a:t>
            </a:r>
            <a:r>
              <a:rPr lang="en-US" altLang="zh-CN" sz="2000" b="1" dirty="0">
                <a:ea typeface="宋体" panose="02010600030101010101" pitchFamily="2" charset="-122"/>
              </a:rPr>
              <a:t>;</a:t>
            </a:r>
            <a:endParaRPr lang="en-US" altLang="zh-CN" sz="2000" b="1" dirty="0">
              <a:ea typeface="宋体" panose="02010600030101010101" pitchFamily="2" charset="-122"/>
            </a:endParaRPr>
          </a:p>
          <a:p>
            <a:pPr marL="914400" lvl="1" indent="-457200">
              <a:spcBef>
                <a:spcPct val="0"/>
              </a:spcBef>
              <a:buNone/>
            </a:pPr>
            <a:r>
              <a:rPr lang="en-US" altLang="zh-CN" sz="2000" b="1" dirty="0">
                <a:ea typeface="宋体" panose="02010600030101010101" pitchFamily="2" charset="-122"/>
              </a:rPr>
              <a:t>		c := nextChar(</a:t>
            </a:r>
            <a:r>
              <a:rPr lang="zh-CN" altLang="en-US" sz="2000" b="1" dirty="0">
                <a:ea typeface="宋体" panose="02010600030101010101" pitchFamily="2" charset="-122"/>
              </a:rPr>
              <a:t> </a:t>
            </a:r>
            <a:r>
              <a:rPr lang="en-US" altLang="zh-CN" sz="2000" b="1" dirty="0">
                <a:ea typeface="宋体" panose="02010600030101010101" pitchFamily="2" charset="-122"/>
              </a:rPr>
              <a:t>);</a:t>
            </a:r>
            <a:endParaRPr lang="en-US" altLang="zh-CN" sz="2000" b="1" dirty="0">
              <a:ea typeface="宋体" panose="02010600030101010101" pitchFamily="2" charset="-122"/>
            </a:endParaRPr>
          </a:p>
          <a:p>
            <a:pPr marL="914400" lvl="1" indent="-457200">
              <a:spcBef>
                <a:spcPct val="0"/>
              </a:spcBef>
              <a:buNone/>
            </a:pPr>
            <a:r>
              <a:rPr lang="en-US" altLang="zh-CN" sz="2000" b="1" dirty="0">
                <a:ea typeface="宋体" panose="02010600030101010101" pitchFamily="2" charset="-122"/>
              </a:rPr>
              <a:t>		while ( c != eof ) {</a:t>
            </a:r>
            <a:endParaRPr lang="en-US" altLang="zh-CN" sz="2000" b="1" dirty="0">
              <a:ea typeface="宋体" panose="02010600030101010101" pitchFamily="2" charset="-122"/>
            </a:endParaRPr>
          </a:p>
          <a:p>
            <a:pPr marL="914400" lvl="1" indent="-457200">
              <a:spcBef>
                <a:spcPct val="0"/>
              </a:spcBef>
              <a:buNone/>
            </a:pPr>
            <a:r>
              <a:rPr lang="en-US" altLang="zh-CN" sz="2000" b="1" dirty="0">
                <a:ea typeface="宋体" panose="02010600030101010101" pitchFamily="2" charset="-122"/>
              </a:rPr>
              <a:t>		    s := move( s , c )</a:t>
            </a:r>
            <a:endParaRPr lang="en-US" altLang="zh-CN" sz="2000" b="1" dirty="0">
              <a:ea typeface="宋体" panose="02010600030101010101" pitchFamily="2" charset="-122"/>
            </a:endParaRPr>
          </a:p>
          <a:p>
            <a:pPr marL="914400" lvl="1" indent="-457200">
              <a:spcBef>
                <a:spcPct val="0"/>
              </a:spcBef>
              <a:buNone/>
            </a:pPr>
            <a:r>
              <a:rPr lang="en-US" altLang="zh-CN" sz="2000" b="1" dirty="0">
                <a:ea typeface="宋体" panose="02010600030101010101" pitchFamily="2" charset="-122"/>
              </a:rPr>
              <a:t>		    c := nextChar( );</a:t>
            </a:r>
            <a:endParaRPr lang="en-US" altLang="zh-CN" sz="2000" b="1" dirty="0">
              <a:ea typeface="宋体" panose="02010600030101010101" pitchFamily="2" charset="-122"/>
            </a:endParaRPr>
          </a:p>
          <a:p>
            <a:pPr marL="914400" lvl="1" indent="-457200">
              <a:spcBef>
                <a:spcPct val="0"/>
              </a:spcBef>
              <a:buNone/>
            </a:pPr>
            <a:r>
              <a:rPr lang="en-US" altLang="zh-CN" sz="2000" b="1" dirty="0">
                <a:ea typeface="宋体" panose="02010600030101010101" pitchFamily="2" charset="-122"/>
              </a:rPr>
              <a:t>		}</a:t>
            </a:r>
            <a:endParaRPr lang="en-US" altLang="zh-CN" sz="2000" b="1" dirty="0">
              <a:ea typeface="宋体" panose="02010600030101010101" pitchFamily="2" charset="-122"/>
            </a:endParaRPr>
          </a:p>
          <a:p>
            <a:pPr marL="914400" lvl="1" indent="-457200">
              <a:spcBef>
                <a:spcPct val="0"/>
              </a:spcBef>
              <a:buNone/>
            </a:pPr>
            <a:r>
              <a:rPr lang="en-US" altLang="zh-CN" sz="2000" b="1" dirty="0">
                <a:ea typeface="宋体" panose="02010600030101010101" pitchFamily="2" charset="-122"/>
              </a:rPr>
              <a:t>		if s ∈ F then</a:t>
            </a:r>
            <a:endParaRPr lang="en-US" altLang="zh-CN" sz="2000" b="1" dirty="0">
              <a:ea typeface="宋体" panose="02010600030101010101" pitchFamily="2" charset="-122"/>
            </a:endParaRPr>
          </a:p>
          <a:p>
            <a:pPr marL="914400" lvl="1" indent="-457200">
              <a:spcBef>
                <a:spcPct val="0"/>
              </a:spcBef>
              <a:buNone/>
            </a:pPr>
            <a:r>
              <a:rPr lang="en-US" altLang="zh-CN" sz="2000" b="1" dirty="0">
                <a:ea typeface="宋体" panose="02010600030101010101" pitchFamily="2" charset="-122"/>
              </a:rPr>
              <a:t>		    return “yes”</a:t>
            </a:r>
            <a:endParaRPr lang="en-US" altLang="zh-CN" sz="2000" b="1" dirty="0">
              <a:ea typeface="宋体" panose="02010600030101010101" pitchFamily="2" charset="-122"/>
            </a:endParaRPr>
          </a:p>
          <a:p>
            <a:pPr marL="914400" lvl="1" indent="-457200">
              <a:spcBef>
                <a:spcPct val="0"/>
              </a:spcBef>
              <a:buNone/>
            </a:pPr>
            <a:r>
              <a:rPr lang="en-US" altLang="zh-CN" sz="2000" b="1" dirty="0">
                <a:ea typeface="宋体" panose="02010600030101010101" pitchFamily="2" charset="-122"/>
              </a:rPr>
              <a:t>		else return “no”</a:t>
            </a:r>
            <a:endParaRPr lang="en-US" altLang="zh-CN" sz="2000" b="1" dirty="0">
              <a:ea typeface="宋体" panose="02010600030101010101" pitchFamily="2" charset="-122"/>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有穷状态自动机（10）</a:t>
            </a:r>
            <a:endParaRPr lang="zh-CN" altLang="en-US" dirty="0">
              <a:latin typeface="宋体" panose="02010600030101010101" pitchFamily="2" charset="-122"/>
              <a:ea typeface="宋体" panose="02010600030101010101" pitchFamily="2" charset="-122"/>
            </a:endParaRPr>
          </a:p>
        </p:txBody>
      </p:sp>
      <p:graphicFrame>
        <p:nvGraphicFramePr>
          <p:cNvPr id="103427" name="Object 6"/>
          <p:cNvGraphicFramePr>
            <a:graphicFrameLocks noChangeAspect="1"/>
          </p:cNvGraphicFramePr>
          <p:nvPr/>
        </p:nvGraphicFramePr>
        <p:xfrm>
          <a:off x="1600200" y="1752600"/>
          <a:ext cx="5791200" cy="3521075"/>
        </p:xfrm>
        <a:graphic>
          <a:graphicData uri="http://schemas.openxmlformats.org/presentationml/2006/ole">
            <mc:AlternateContent xmlns:mc="http://schemas.openxmlformats.org/markup-compatibility/2006">
              <mc:Choice xmlns:v="urn:schemas-microsoft-com:vml" Requires="v">
                <p:oleObj spid="_x0000_s3077" name="" r:id="rId1" imgW="3718560" imgH="1830070" progId="Visio.Drawing.6">
                  <p:embed/>
                </p:oleObj>
              </mc:Choice>
              <mc:Fallback>
                <p:oleObj name="" r:id="rId1" imgW="3718560" imgH="1830070" progId="Visio.Drawing.6">
                  <p:embed/>
                  <p:pic>
                    <p:nvPicPr>
                      <p:cNvPr id="0" name="图片 3076"/>
                      <p:cNvPicPr/>
                      <p:nvPr/>
                    </p:nvPicPr>
                    <p:blipFill>
                      <a:blip r:embed="rId2"/>
                      <a:stretch>
                        <a:fillRect/>
                      </a:stretch>
                    </p:blipFill>
                    <p:spPr>
                      <a:xfrm>
                        <a:off x="1600200" y="1752600"/>
                        <a:ext cx="5791200" cy="3521075"/>
                      </a:xfrm>
                      <a:prstGeom prst="rect">
                        <a:avLst/>
                      </a:prstGeom>
                      <a:noFill/>
                      <a:ln w="38100">
                        <a:noFill/>
                        <a:miter/>
                      </a:ln>
                    </p:spPr>
                  </p:pic>
                </p:oleObj>
              </mc:Fallback>
            </mc:AlternateContent>
          </a:graphicData>
        </a:graphic>
      </p:graphicFrame>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有穷状态自动机（11）</a:t>
            </a:r>
            <a:endParaRPr lang="zh-CN" altLang="en-US" dirty="0">
              <a:latin typeface="宋体" panose="02010600030101010101" pitchFamily="2" charset="-122"/>
              <a:ea typeface="宋体" panose="02010600030101010101" pitchFamily="2" charset="-122"/>
            </a:endParaRPr>
          </a:p>
        </p:txBody>
      </p:sp>
      <p:sp>
        <p:nvSpPr>
          <p:cNvPr id="98307" name="Rectangle 3"/>
          <p:cNvSpPr>
            <a:spLocks noGrp="1" noChangeArrowheads="1"/>
          </p:cNvSpPr>
          <p:nvPr>
            <p:ph idx="1"/>
          </p:nvPr>
        </p:nvSpPr>
        <p:spPr>
          <a:xfrm>
            <a:off x="755650" y="1371600"/>
            <a:ext cx="7848600" cy="45720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有穷状态自动机的等价性：</a:t>
            </a:r>
            <a:endPar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设</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是两个有穷状态自动机，如果二者接受相同的语言，即</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rPr>
              <a:t>L(M) = L(M’)，</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则称这两个有穷状态自动机</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rPr>
              <a:t>M’</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是等价的</a:t>
            </a:r>
            <a:endPar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rPr>
              <a:t>存在有判定两个有穷状态自动机是否等价的算法</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514350" marR="0" lvl="0"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NFA</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到</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DFA</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的转换</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NFA</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面临的问题</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有</a:t>
            </a:r>
            <a:r>
              <a:rPr kumimoji="0" lang="en-US" altLang="zh-CN" sz="22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ε</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rPr>
              <a:t>转换，某些状态间的转换不需要读入字符</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314450" marR="0" lvl="2"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同一状态可能对应多条有相同标记符号的转出边，转向不同的状态</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endParaRPr>
          </a:p>
          <a:p>
            <a:pPr marL="914400" marR="0" lvl="1" indent="-457200" algn="l" defTabSz="914400" rtl="0" eaLnBrk="0" fontAlgn="base" latinLnBrk="0" hangingPunct="0">
              <a:lnSpc>
                <a:spcPct val="90000"/>
              </a:lnSpc>
              <a:spcBef>
                <a:spcPct val="20000"/>
              </a:spcBef>
              <a:spcAft>
                <a:spcPct val="0"/>
              </a:spcAft>
              <a:buClr>
                <a:srgbClr val="063DE8"/>
              </a:buClr>
              <a:buSzPct val="70000"/>
              <a:buFont typeface="Monotype Sorts" pitchFamily="2" charset="2"/>
              <a:buChar char="ä"/>
              <a:defRPr/>
            </a:pP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NFA</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的一个状态集合与</a:t>
            </a:r>
            <a:r>
              <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DFA</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的一个状态存在映射关系？</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有穷状态自动机（12）</a:t>
            </a:r>
            <a:endParaRPr lang="zh-CN" altLang="en-US" dirty="0">
              <a:latin typeface="宋体" panose="02010600030101010101" pitchFamily="2" charset="-122"/>
              <a:ea typeface="宋体" panose="02010600030101010101" pitchFamily="2" charset="-122"/>
            </a:endParaRPr>
          </a:p>
        </p:txBody>
      </p:sp>
      <p:sp>
        <p:nvSpPr>
          <p:cNvPr id="107523" name="Rectangle 3"/>
          <p:cNvSpPr>
            <a:spLocks noGrp="1"/>
          </p:cNvSpPr>
          <p:nvPr>
            <p:ph idx="1"/>
          </p:nvPr>
        </p:nvSpPr>
        <p:spPr>
          <a:xfrm>
            <a:off x="755650" y="1524000"/>
            <a:ext cx="7920038" cy="4724400"/>
          </a:xfrm>
        </p:spPr>
        <p:txBody>
          <a:bodyPr vert="horz" wrap="square" lIns="92075" tIns="46038" rIns="92075" bIns="46038" anchor="t" anchorCtr="0"/>
          <a:p>
            <a:r>
              <a:rPr lang="en-US" altLang="zh-CN" b="1" dirty="0">
                <a:ea typeface="宋体" panose="02010600030101010101" pitchFamily="2" charset="-122"/>
              </a:rPr>
              <a:t>NFA</a:t>
            </a:r>
            <a:r>
              <a:rPr lang="zh-CN" altLang="en-US" b="1" dirty="0">
                <a:ea typeface="宋体" panose="02010600030101010101" pitchFamily="2" charset="-122"/>
              </a:rPr>
              <a:t>到</a:t>
            </a:r>
            <a:r>
              <a:rPr lang="en-US" altLang="zh-CN" b="1" dirty="0">
                <a:ea typeface="宋体" panose="02010600030101010101" pitchFamily="2" charset="-122"/>
              </a:rPr>
              <a:t>DFA</a:t>
            </a:r>
            <a:r>
              <a:rPr lang="zh-CN" altLang="en-US" b="1" dirty="0">
                <a:ea typeface="宋体" panose="02010600030101010101" pitchFamily="2" charset="-122"/>
              </a:rPr>
              <a:t>的变换：子集构造法</a:t>
            </a:r>
            <a:endParaRPr lang="zh-CN" altLang="en-US" b="1" dirty="0">
              <a:ea typeface="宋体" panose="02010600030101010101" pitchFamily="2" charset="-122"/>
            </a:endParaRPr>
          </a:p>
          <a:p>
            <a:pPr lvl="1"/>
            <a:r>
              <a:rPr lang="en-US" altLang="zh-CN" b="1" dirty="0">
                <a:ea typeface="宋体" panose="02010600030101010101" pitchFamily="2" charset="-122"/>
              </a:rPr>
              <a:t>ε</a:t>
            </a:r>
            <a:r>
              <a:rPr lang="zh-CN" altLang="en-US" b="1" dirty="0">
                <a:ea typeface="宋体" panose="02010600030101010101" pitchFamily="2" charset="-122"/>
              </a:rPr>
              <a:t>闭包（</a:t>
            </a:r>
            <a:r>
              <a:rPr lang="en-US" altLang="zh-CN" b="1" dirty="0">
                <a:ea typeface="宋体" panose="02010600030101010101" pitchFamily="2" charset="-122"/>
              </a:rPr>
              <a:t>ε</a:t>
            </a:r>
            <a:r>
              <a:rPr lang="zh-CN" altLang="en-US" b="1" dirty="0">
                <a:ea typeface="宋体" panose="02010600030101010101" pitchFamily="2" charset="-122"/>
              </a:rPr>
              <a:t>-</a:t>
            </a:r>
            <a:r>
              <a:rPr lang="en-US" altLang="zh-CN" b="1" dirty="0">
                <a:ea typeface="宋体" panose="02010600030101010101" pitchFamily="2" charset="-122"/>
              </a:rPr>
              <a:t>closure）：</a:t>
            </a:r>
            <a:endParaRPr lang="en-US" altLang="zh-CN" b="1" dirty="0">
              <a:ea typeface="宋体" panose="02010600030101010101" pitchFamily="2" charset="-122"/>
            </a:endParaRPr>
          </a:p>
          <a:p>
            <a:pPr lvl="2"/>
            <a:r>
              <a:rPr lang="zh-CN" altLang="en-US" b="1" dirty="0">
                <a:ea typeface="宋体" panose="02010600030101010101" pitchFamily="2" charset="-122"/>
              </a:rPr>
              <a:t>关于状态</a:t>
            </a:r>
            <a:r>
              <a:rPr lang="en-US" altLang="zh-CN" b="1" dirty="0">
                <a:ea typeface="宋体" panose="02010600030101010101" pitchFamily="2" charset="-122"/>
              </a:rPr>
              <a:t>s</a:t>
            </a:r>
            <a:r>
              <a:rPr lang="zh-CN" altLang="en-US" b="1" dirty="0">
                <a:ea typeface="宋体" panose="02010600030101010101" pitchFamily="2" charset="-122"/>
              </a:rPr>
              <a:t>的</a:t>
            </a:r>
            <a:r>
              <a:rPr lang="en-US" altLang="zh-CN" b="1" dirty="0">
                <a:ea typeface="宋体" panose="02010600030101010101" pitchFamily="2" charset="-122"/>
              </a:rPr>
              <a:t>ε</a:t>
            </a:r>
            <a:r>
              <a:rPr lang="zh-CN" altLang="en-US" b="1" dirty="0">
                <a:ea typeface="宋体" panose="02010600030101010101" pitchFamily="2" charset="-122"/>
              </a:rPr>
              <a:t>闭包：</a:t>
            </a:r>
            <a:endParaRPr lang="zh-CN" altLang="en-US" b="1" dirty="0">
              <a:ea typeface="宋体" panose="02010600030101010101" pitchFamily="2" charset="-122"/>
            </a:endParaRPr>
          </a:p>
          <a:p>
            <a:pPr lvl="3"/>
            <a:r>
              <a:rPr lang="zh-CN" altLang="en-US" b="1" dirty="0">
                <a:ea typeface="宋体" panose="02010600030101010101" pitchFamily="2" charset="-122"/>
              </a:rPr>
              <a:t>定义：从</a:t>
            </a:r>
            <a:r>
              <a:rPr lang="en-US" altLang="zh-CN" b="1" dirty="0">
                <a:ea typeface="宋体" panose="02010600030101010101" pitchFamily="2" charset="-122"/>
              </a:rPr>
              <a:t>NFA</a:t>
            </a:r>
            <a:r>
              <a:rPr lang="zh-CN" altLang="en-US" b="1" dirty="0">
                <a:ea typeface="宋体" panose="02010600030101010101" pitchFamily="2" charset="-122"/>
              </a:rPr>
              <a:t>的状态</a:t>
            </a:r>
            <a:r>
              <a:rPr lang="en-US" altLang="zh-CN" b="1" dirty="0">
                <a:ea typeface="宋体" panose="02010600030101010101" pitchFamily="2" charset="-122"/>
              </a:rPr>
              <a:t>s</a:t>
            </a:r>
            <a:r>
              <a:rPr lang="zh-CN" altLang="en-US" b="1" dirty="0">
                <a:ea typeface="宋体" panose="02010600030101010101" pitchFamily="2" charset="-122"/>
              </a:rPr>
              <a:t>出发，只用</a:t>
            </a:r>
            <a:r>
              <a:rPr lang="en-US" altLang="zh-CN" b="1" dirty="0">
                <a:ea typeface="宋体" panose="02010600030101010101" pitchFamily="2" charset="-122"/>
              </a:rPr>
              <a:t>ε</a:t>
            </a:r>
            <a:r>
              <a:rPr lang="zh-CN" altLang="en-US" b="1" dirty="0">
                <a:ea typeface="宋体" panose="02010600030101010101" pitchFamily="2" charset="-122"/>
              </a:rPr>
              <a:t>转换能达到的</a:t>
            </a:r>
            <a:r>
              <a:rPr lang="en-US" altLang="zh-CN" b="1" dirty="0">
                <a:ea typeface="宋体" panose="02010600030101010101" pitchFamily="2" charset="-122"/>
              </a:rPr>
              <a:t>NFA</a:t>
            </a:r>
            <a:r>
              <a:rPr lang="zh-CN" altLang="en-US" b="1" dirty="0">
                <a:ea typeface="宋体" panose="02010600030101010101" pitchFamily="2" charset="-122"/>
              </a:rPr>
              <a:t>的状态集合</a:t>
            </a:r>
            <a:endParaRPr lang="zh-CN" altLang="en-US" b="1" dirty="0">
              <a:ea typeface="宋体" panose="02010600030101010101" pitchFamily="2" charset="-122"/>
            </a:endParaRPr>
          </a:p>
          <a:p>
            <a:pPr lvl="3"/>
            <a:r>
              <a:rPr lang="zh-CN" altLang="en-US" b="1" dirty="0">
                <a:ea typeface="宋体" panose="02010600030101010101" pitchFamily="2" charset="-122"/>
              </a:rPr>
              <a:t>在求得只用</a:t>
            </a:r>
            <a:r>
              <a:rPr lang="en-US" altLang="zh-CN" b="1" dirty="0">
                <a:ea typeface="宋体" panose="02010600030101010101" pitchFamily="2" charset="-122"/>
              </a:rPr>
              <a:t>ε</a:t>
            </a:r>
            <a:r>
              <a:rPr lang="zh-CN" altLang="en-US" b="1" dirty="0">
                <a:ea typeface="宋体" panose="02010600030101010101" pitchFamily="2" charset="-122"/>
              </a:rPr>
              <a:t>转换能达到的状态时，</a:t>
            </a:r>
            <a:r>
              <a:rPr lang="en-US" altLang="zh-CN" b="1" dirty="0">
                <a:ea typeface="宋体" panose="02010600030101010101" pitchFamily="2" charset="-122"/>
              </a:rPr>
              <a:t>ε</a:t>
            </a:r>
            <a:r>
              <a:rPr lang="zh-CN" altLang="en-US" b="1" dirty="0">
                <a:ea typeface="宋体" panose="02010600030101010101" pitchFamily="2" charset="-122"/>
              </a:rPr>
              <a:t>转换可连续多次使用，成为只含有</a:t>
            </a:r>
            <a:r>
              <a:rPr lang="en-US" altLang="zh-CN" b="1" dirty="0">
                <a:ea typeface="宋体" panose="02010600030101010101" pitchFamily="2" charset="-122"/>
              </a:rPr>
              <a:t>ε</a:t>
            </a:r>
            <a:r>
              <a:rPr lang="zh-CN" altLang="en-US" b="1" dirty="0">
                <a:ea typeface="宋体" panose="02010600030101010101" pitchFamily="2" charset="-122"/>
              </a:rPr>
              <a:t>标记的路径</a:t>
            </a:r>
            <a:endParaRPr lang="zh-CN" altLang="en-US" b="1" dirty="0">
              <a:ea typeface="宋体" panose="02010600030101010101" pitchFamily="2" charset="-122"/>
            </a:endParaRPr>
          </a:p>
          <a:p>
            <a:pPr lvl="3"/>
            <a:r>
              <a:rPr lang="zh-CN" altLang="en-US" b="1" dirty="0">
                <a:ea typeface="宋体" panose="02010600030101010101" pitchFamily="2" charset="-122"/>
              </a:rPr>
              <a:t>由于路径可以没有边，所以状态</a:t>
            </a:r>
            <a:r>
              <a:rPr lang="en-US" altLang="zh-CN" b="1" dirty="0">
                <a:ea typeface="宋体" panose="02010600030101010101" pitchFamily="2" charset="-122"/>
              </a:rPr>
              <a:t>s</a:t>
            </a:r>
            <a:r>
              <a:rPr lang="zh-CN" altLang="en-US" b="1" dirty="0">
                <a:ea typeface="宋体" panose="02010600030101010101" pitchFamily="2" charset="-122"/>
              </a:rPr>
              <a:t>也是它的</a:t>
            </a:r>
            <a:r>
              <a:rPr lang="en-US" altLang="zh-CN" b="1" dirty="0">
                <a:ea typeface="宋体" panose="02010600030101010101" pitchFamily="2" charset="-122"/>
              </a:rPr>
              <a:t>ε</a:t>
            </a:r>
            <a:r>
              <a:rPr lang="zh-CN" altLang="en-US" b="1" dirty="0">
                <a:ea typeface="宋体" panose="02010600030101010101" pitchFamily="2" charset="-122"/>
              </a:rPr>
              <a:t>闭包的元素</a:t>
            </a:r>
            <a:endParaRPr lang="zh-CN" altLang="en-US" b="1" dirty="0">
              <a:ea typeface="宋体" panose="02010600030101010101" pitchFamily="2" charset="-122"/>
            </a:endParaRPr>
          </a:p>
          <a:p>
            <a:pPr lvl="3"/>
            <a:r>
              <a:rPr lang="en-US" altLang="zh-CN" b="1" dirty="0">
                <a:ea typeface="宋体" panose="02010600030101010101" pitchFamily="2" charset="-122"/>
              </a:rPr>
              <a:t>NFA</a:t>
            </a:r>
            <a:r>
              <a:rPr lang="zh-CN" altLang="en-US" b="1" dirty="0">
                <a:ea typeface="宋体" panose="02010600030101010101" pitchFamily="2" charset="-122"/>
              </a:rPr>
              <a:t>在读入第一个输入符号前，它可处于集合</a:t>
            </a:r>
            <a:r>
              <a:rPr lang="en-US" altLang="zh-CN" b="1" dirty="0">
                <a:ea typeface="宋体" panose="02010600030101010101" pitchFamily="2" charset="-122"/>
              </a:rPr>
              <a:t>ε</a:t>
            </a:r>
            <a:r>
              <a:rPr lang="zh-CN" altLang="en-US" b="1" dirty="0">
                <a:ea typeface="宋体" panose="02010600030101010101" pitchFamily="2" charset="-122"/>
              </a:rPr>
              <a:t>闭包(</a:t>
            </a:r>
            <a:r>
              <a:rPr lang="en-US" altLang="zh-CN" b="1" dirty="0">
                <a:ea typeface="宋体" panose="02010600030101010101" pitchFamily="2" charset="-122"/>
              </a:rPr>
              <a:t>s0)</a:t>
            </a:r>
            <a:r>
              <a:rPr lang="zh-CN" altLang="en-US" b="1" dirty="0">
                <a:ea typeface="宋体" panose="02010600030101010101" pitchFamily="2" charset="-122"/>
              </a:rPr>
              <a:t>的任何状态</a:t>
            </a:r>
            <a:endParaRPr lang="zh-CN" altLang="en-US" b="1" dirty="0">
              <a:ea typeface="宋体" panose="02010600030101010101" pitchFamily="2" charset="-122"/>
            </a:endParaRPr>
          </a:p>
          <a:p>
            <a:pPr lvl="2"/>
            <a:r>
              <a:rPr lang="zh-CN" altLang="en-US" b="1" dirty="0">
                <a:ea typeface="宋体" panose="02010600030101010101" pitchFamily="2" charset="-122"/>
              </a:rPr>
              <a:t>关于状态集合</a:t>
            </a:r>
            <a:r>
              <a:rPr lang="en-US" altLang="zh-CN" b="1" dirty="0">
                <a:ea typeface="宋体" panose="02010600030101010101" pitchFamily="2" charset="-122"/>
              </a:rPr>
              <a:t>T</a:t>
            </a:r>
            <a:r>
              <a:rPr lang="zh-CN" altLang="en-US" b="1" dirty="0">
                <a:ea typeface="宋体" panose="02010600030101010101" pitchFamily="2" charset="-122"/>
              </a:rPr>
              <a:t>的</a:t>
            </a:r>
            <a:r>
              <a:rPr lang="en-US" altLang="zh-CN" b="1" dirty="0">
                <a:ea typeface="宋体" panose="02010600030101010101" pitchFamily="2" charset="-122"/>
              </a:rPr>
              <a:t>ε</a:t>
            </a:r>
            <a:r>
              <a:rPr lang="zh-CN" altLang="en-US" b="1" dirty="0">
                <a:ea typeface="宋体" panose="02010600030101010101" pitchFamily="2" charset="-122"/>
              </a:rPr>
              <a:t>闭包：</a:t>
            </a:r>
            <a:endParaRPr lang="zh-CN" altLang="en-US" b="1" dirty="0">
              <a:ea typeface="宋体" panose="02010600030101010101" pitchFamily="2" charset="-122"/>
            </a:endParaRPr>
          </a:p>
          <a:p>
            <a:pPr lvl="3"/>
            <a:r>
              <a:rPr lang="zh-CN" altLang="en-US" b="1" dirty="0">
                <a:ea typeface="宋体" panose="02010600030101010101" pitchFamily="2" charset="-122"/>
              </a:rPr>
              <a:t>定义：从</a:t>
            </a:r>
            <a:r>
              <a:rPr lang="en-US" altLang="zh-CN" b="1" dirty="0">
                <a:ea typeface="宋体" panose="02010600030101010101" pitchFamily="2" charset="-122"/>
              </a:rPr>
              <a:t>NFA</a:t>
            </a:r>
            <a:r>
              <a:rPr lang="zh-CN" altLang="en-US" b="1" dirty="0">
                <a:ea typeface="宋体" panose="02010600030101010101" pitchFamily="2" charset="-122"/>
              </a:rPr>
              <a:t>的任何一个状态</a:t>
            </a:r>
            <a:r>
              <a:rPr lang="en-US" altLang="zh-CN" b="1" dirty="0">
                <a:ea typeface="宋体" panose="02010600030101010101" pitchFamily="2" charset="-122"/>
              </a:rPr>
              <a:t>s∈T</a:t>
            </a:r>
            <a:r>
              <a:rPr lang="zh-CN" altLang="en-US" b="1" dirty="0">
                <a:ea typeface="宋体" panose="02010600030101010101" pitchFamily="2" charset="-122"/>
              </a:rPr>
              <a:t>出发，只用</a:t>
            </a:r>
            <a:r>
              <a:rPr lang="en-US" altLang="zh-CN" b="1" dirty="0">
                <a:ea typeface="宋体" panose="02010600030101010101" pitchFamily="2" charset="-122"/>
              </a:rPr>
              <a:t>ε</a:t>
            </a:r>
            <a:r>
              <a:rPr lang="zh-CN" altLang="en-US" b="1" dirty="0">
                <a:ea typeface="宋体" panose="02010600030101010101" pitchFamily="2" charset="-122"/>
              </a:rPr>
              <a:t>转换能达到的</a:t>
            </a:r>
            <a:r>
              <a:rPr lang="en-US" altLang="zh-CN" b="1" dirty="0">
                <a:ea typeface="宋体" panose="02010600030101010101" pitchFamily="2" charset="-122"/>
              </a:rPr>
              <a:t>NFA</a:t>
            </a:r>
            <a:r>
              <a:rPr lang="zh-CN" altLang="en-US" b="1" dirty="0">
                <a:ea typeface="宋体" panose="02010600030101010101" pitchFamily="2" charset="-122"/>
              </a:rPr>
              <a:t>的状态集合</a:t>
            </a:r>
            <a:endParaRPr lang="zh-CN" altLang="en-US" b="1" dirty="0">
              <a:ea typeface="宋体" panose="02010600030101010101" pitchFamily="2" charset="-122"/>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有穷状态自动机（13）</a:t>
            </a:r>
            <a:endParaRPr lang="zh-CN" altLang="en-US" dirty="0">
              <a:latin typeface="宋体" panose="02010600030101010101" pitchFamily="2" charset="-122"/>
              <a:ea typeface="宋体" panose="02010600030101010101" pitchFamily="2" charset="-122"/>
            </a:endParaRPr>
          </a:p>
        </p:txBody>
      </p:sp>
      <p:sp>
        <p:nvSpPr>
          <p:cNvPr id="109571" name="Rectangle 3"/>
          <p:cNvSpPr>
            <a:spLocks noGrp="1"/>
          </p:cNvSpPr>
          <p:nvPr>
            <p:ph idx="1"/>
          </p:nvPr>
        </p:nvSpPr>
        <p:spPr>
          <a:xfrm>
            <a:off x="990600" y="1371600"/>
            <a:ext cx="7391400" cy="4648200"/>
          </a:xfrm>
        </p:spPr>
        <p:txBody>
          <a:bodyPr vert="horz" wrap="square" lIns="92075" tIns="46038" rIns="92075" bIns="46038" anchor="t" anchorCtr="0"/>
          <a:p>
            <a:pPr lvl="2"/>
            <a:r>
              <a:rPr lang="zh-CN" altLang="en-US" b="1" dirty="0">
                <a:ea typeface="宋体" panose="02010600030101010101" pitchFamily="2" charset="-122"/>
              </a:rPr>
              <a:t>转换函数的</a:t>
            </a:r>
            <a:r>
              <a:rPr lang="en-US" altLang="zh-CN" b="1" dirty="0">
                <a:ea typeface="宋体" panose="02010600030101010101" pitchFamily="2" charset="-122"/>
              </a:rPr>
              <a:t>ε</a:t>
            </a:r>
            <a:r>
              <a:rPr lang="zh-CN" altLang="en-US" b="1" dirty="0">
                <a:ea typeface="宋体" panose="02010600030101010101" pitchFamily="2" charset="-122"/>
              </a:rPr>
              <a:t>闭包：</a:t>
            </a:r>
            <a:endParaRPr lang="zh-CN" altLang="en-US" b="1" dirty="0">
              <a:ea typeface="宋体" panose="02010600030101010101" pitchFamily="2" charset="-122"/>
            </a:endParaRPr>
          </a:p>
          <a:p>
            <a:pPr lvl="3"/>
            <a:r>
              <a:rPr lang="zh-CN" altLang="en-US" b="1" dirty="0">
                <a:ea typeface="宋体" panose="02010600030101010101" pitchFamily="2" charset="-122"/>
              </a:rPr>
              <a:t>对</a:t>
            </a:r>
            <a:r>
              <a:rPr lang="en-US" altLang="zh-CN" b="1" dirty="0">
                <a:ea typeface="宋体" panose="02010600030101010101" pitchFamily="2" charset="-122"/>
              </a:rPr>
              <a:t>NFA</a:t>
            </a:r>
            <a:r>
              <a:rPr lang="zh-CN" altLang="en-US" b="1" dirty="0">
                <a:ea typeface="宋体" panose="02010600030101010101" pitchFamily="2" charset="-122"/>
              </a:rPr>
              <a:t>转换函数的扩充：</a:t>
            </a:r>
            <a:r>
              <a:rPr lang="en-US" altLang="zh-CN" b="1" dirty="0">
                <a:ea typeface="宋体" panose="02010600030101010101" pitchFamily="2" charset="-122"/>
              </a:rPr>
              <a:t>δ：2</a:t>
            </a:r>
            <a:r>
              <a:rPr lang="en-US" altLang="zh-CN" b="1" baseline="30000" dirty="0">
                <a:ea typeface="宋体" panose="02010600030101010101" pitchFamily="2" charset="-122"/>
              </a:rPr>
              <a:t>S</a:t>
            </a:r>
            <a:r>
              <a:rPr lang="en-US" altLang="zh-CN" b="1" dirty="0">
                <a:ea typeface="宋体" panose="02010600030101010101" pitchFamily="2" charset="-122"/>
              </a:rPr>
              <a:t>×∑→2</a:t>
            </a:r>
            <a:r>
              <a:rPr lang="en-US" altLang="zh-CN" b="1" baseline="30000" dirty="0">
                <a:ea typeface="宋体" panose="02010600030101010101" pitchFamily="2" charset="-122"/>
              </a:rPr>
              <a:t>S</a:t>
            </a:r>
            <a:endParaRPr lang="en-US" altLang="zh-CN" dirty="0">
              <a:ea typeface="宋体" panose="02010600030101010101" pitchFamily="2" charset="-122"/>
            </a:endParaRPr>
          </a:p>
          <a:p>
            <a:pPr lvl="3">
              <a:buNone/>
            </a:pPr>
            <a:r>
              <a:rPr lang="zh-CN" altLang="en-US" b="1" dirty="0">
                <a:ea typeface="宋体" panose="02010600030101010101" pitchFamily="2" charset="-122"/>
              </a:rPr>
              <a:t>	</a:t>
            </a:r>
            <a:r>
              <a:rPr lang="en-US" altLang="zh-CN" b="1" dirty="0">
                <a:ea typeface="宋体" panose="02010600030101010101" pitchFamily="2" charset="-122"/>
              </a:rPr>
              <a:t>δ(T , a)</a:t>
            </a:r>
            <a:r>
              <a:rPr lang="zh-CN" altLang="en-US" b="1" dirty="0">
                <a:ea typeface="宋体" panose="02010600030101010101" pitchFamily="2" charset="-122"/>
              </a:rPr>
              <a:t>表示从</a:t>
            </a:r>
            <a:r>
              <a:rPr lang="en-US" altLang="zh-CN" b="1" dirty="0">
                <a:ea typeface="宋体" panose="02010600030101010101" pitchFamily="2" charset="-122"/>
              </a:rPr>
              <a:t>NFA</a:t>
            </a:r>
            <a:r>
              <a:rPr lang="zh-CN" altLang="en-US" b="1" dirty="0">
                <a:ea typeface="宋体" panose="02010600030101010101" pitchFamily="2" charset="-122"/>
              </a:rPr>
              <a:t>的某个状态</a:t>
            </a:r>
            <a:r>
              <a:rPr lang="en-US" altLang="zh-CN" b="1" dirty="0">
                <a:ea typeface="宋体" panose="02010600030101010101" pitchFamily="2" charset="-122"/>
              </a:rPr>
              <a:t>s∈T</a:t>
            </a:r>
            <a:r>
              <a:rPr lang="zh-CN" altLang="en-US" b="1" dirty="0">
                <a:ea typeface="宋体" panose="02010600030101010101" pitchFamily="2" charset="-122"/>
              </a:rPr>
              <a:t>出发，经输入符号</a:t>
            </a:r>
            <a:r>
              <a:rPr lang="en-US" altLang="zh-CN" b="1" dirty="0">
                <a:ea typeface="宋体" panose="02010600030101010101" pitchFamily="2" charset="-122"/>
              </a:rPr>
              <a:t>a</a:t>
            </a:r>
            <a:r>
              <a:rPr lang="zh-CN" altLang="en-US" b="1" dirty="0">
                <a:ea typeface="宋体" panose="02010600030101010101" pitchFamily="2" charset="-122"/>
              </a:rPr>
              <a:t>转换能达到的</a:t>
            </a:r>
            <a:r>
              <a:rPr lang="en-US" altLang="zh-CN" b="1" dirty="0">
                <a:ea typeface="宋体" panose="02010600030101010101" pitchFamily="2" charset="-122"/>
              </a:rPr>
              <a:t>NFA</a:t>
            </a:r>
            <a:r>
              <a:rPr lang="zh-CN" altLang="en-US" b="1" dirty="0">
                <a:ea typeface="宋体" panose="02010600030101010101" pitchFamily="2" charset="-122"/>
              </a:rPr>
              <a:t>状态的集合</a:t>
            </a:r>
            <a:endParaRPr lang="zh-CN" altLang="en-US" b="1" dirty="0">
              <a:ea typeface="宋体" panose="02010600030101010101" pitchFamily="2" charset="-122"/>
            </a:endParaRPr>
          </a:p>
          <a:p>
            <a:pPr lvl="3"/>
            <a:r>
              <a:rPr lang="zh-CN" altLang="en-US" b="1" dirty="0">
                <a:ea typeface="宋体" panose="02010600030101010101" pitchFamily="2" charset="-122"/>
              </a:rPr>
              <a:t>它表明了：当</a:t>
            </a:r>
            <a:r>
              <a:rPr lang="en-US" altLang="zh-CN" b="1" dirty="0">
                <a:ea typeface="宋体" panose="02010600030101010101" pitchFamily="2" charset="-122"/>
              </a:rPr>
              <a:t>T</a:t>
            </a:r>
            <a:r>
              <a:rPr lang="zh-CN" altLang="en-US" b="1" dirty="0">
                <a:ea typeface="宋体" panose="02010600030101010101" pitchFamily="2" charset="-122"/>
              </a:rPr>
              <a:t>中的状态都是从</a:t>
            </a:r>
            <a:r>
              <a:rPr lang="en-US" altLang="zh-CN" b="1" dirty="0">
                <a:ea typeface="宋体" panose="02010600030101010101" pitchFamily="2" charset="-122"/>
              </a:rPr>
              <a:t>NFA</a:t>
            </a:r>
            <a:r>
              <a:rPr lang="zh-CN" altLang="en-US" b="1" dirty="0">
                <a:ea typeface="宋体" panose="02010600030101010101" pitchFamily="2" charset="-122"/>
              </a:rPr>
              <a:t>的开始状态面临给定输入串可达的，令</a:t>
            </a:r>
            <a:r>
              <a:rPr lang="en-US" altLang="zh-CN" b="1" dirty="0">
                <a:ea typeface="宋体" panose="02010600030101010101" pitchFamily="2" charset="-122"/>
              </a:rPr>
              <a:t>a</a:t>
            </a:r>
            <a:r>
              <a:rPr lang="zh-CN" altLang="en-US" b="1" dirty="0">
                <a:ea typeface="宋体" panose="02010600030101010101" pitchFamily="2" charset="-122"/>
              </a:rPr>
              <a:t>是下一个输入符号，</a:t>
            </a:r>
            <a:r>
              <a:rPr lang="en-US" altLang="zh-CN" b="1" dirty="0">
                <a:ea typeface="宋体" panose="02010600030101010101" pitchFamily="2" charset="-122"/>
              </a:rPr>
              <a:t>NFA</a:t>
            </a:r>
            <a:r>
              <a:rPr lang="zh-CN" altLang="en-US" b="1" dirty="0">
                <a:ea typeface="宋体" panose="02010600030101010101" pitchFamily="2" charset="-122"/>
              </a:rPr>
              <a:t>读入</a:t>
            </a:r>
            <a:r>
              <a:rPr lang="en-US" altLang="zh-CN" b="1" dirty="0">
                <a:ea typeface="宋体" panose="02010600030101010101" pitchFamily="2" charset="-122"/>
              </a:rPr>
              <a:t>a</a:t>
            </a:r>
            <a:r>
              <a:rPr lang="zh-CN" altLang="en-US" b="1" dirty="0">
                <a:ea typeface="宋体" panose="02010600030101010101" pitchFamily="2" charset="-122"/>
              </a:rPr>
              <a:t>后可以移动到集合</a:t>
            </a:r>
            <a:r>
              <a:rPr lang="en-US" altLang="zh-CN" b="1" dirty="0">
                <a:ea typeface="宋体" panose="02010600030101010101" pitchFamily="2" charset="-122"/>
              </a:rPr>
              <a:t>δ(T , a)</a:t>
            </a:r>
            <a:r>
              <a:rPr lang="zh-CN" altLang="en-US" b="1" dirty="0">
                <a:ea typeface="宋体" panose="02010600030101010101" pitchFamily="2" charset="-122"/>
              </a:rPr>
              <a:t>中的任何状态</a:t>
            </a:r>
            <a:endParaRPr lang="zh-CN" altLang="en-US" b="1" dirty="0">
              <a:ea typeface="宋体" panose="02010600030101010101" pitchFamily="2" charset="-122"/>
            </a:endParaRPr>
          </a:p>
          <a:p>
            <a:pPr lvl="3"/>
            <a:r>
              <a:rPr lang="en-US" altLang="zh-CN" b="1" dirty="0">
                <a:ea typeface="宋体" panose="02010600030101010101" pitchFamily="2" charset="-122"/>
              </a:rPr>
              <a:t>ε</a:t>
            </a:r>
            <a:r>
              <a:rPr lang="zh-CN" altLang="en-US" b="1" dirty="0">
                <a:ea typeface="宋体" panose="02010600030101010101" pitchFamily="2" charset="-122"/>
              </a:rPr>
              <a:t>闭包(</a:t>
            </a:r>
            <a:r>
              <a:rPr lang="en-US" altLang="zh-CN" b="1" dirty="0">
                <a:ea typeface="宋体" panose="02010600030101010101" pitchFamily="2" charset="-122"/>
              </a:rPr>
              <a:t>δ(T , a)</a:t>
            </a:r>
            <a:r>
              <a:rPr lang="zh-CN" altLang="en-US" b="1" dirty="0">
                <a:ea typeface="宋体" panose="02010600030101010101" pitchFamily="2" charset="-122"/>
              </a:rPr>
              <a:t>)：是集合</a:t>
            </a:r>
            <a:r>
              <a:rPr lang="en-US" altLang="zh-CN" b="1" dirty="0">
                <a:ea typeface="宋体" panose="02010600030101010101" pitchFamily="2" charset="-122"/>
              </a:rPr>
              <a:t>δ(T , a)</a:t>
            </a:r>
            <a:r>
              <a:rPr lang="zh-CN" altLang="en-US" b="1" dirty="0">
                <a:ea typeface="宋体" panose="02010600030101010101" pitchFamily="2" charset="-122"/>
              </a:rPr>
              <a:t>中的任何一个状态经</a:t>
            </a:r>
            <a:r>
              <a:rPr lang="en-US" altLang="zh-CN" b="1" dirty="0">
                <a:ea typeface="宋体" panose="02010600030101010101" pitchFamily="2" charset="-122"/>
              </a:rPr>
              <a:t>ε</a:t>
            </a:r>
            <a:r>
              <a:rPr lang="zh-CN" altLang="en-US" b="1" dirty="0">
                <a:ea typeface="宋体" panose="02010600030101010101" pitchFamily="2" charset="-122"/>
              </a:rPr>
              <a:t>转换后能达到的</a:t>
            </a:r>
            <a:r>
              <a:rPr lang="en-US" altLang="zh-CN" b="1" dirty="0">
                <a:ea typeface="宋体" panose="02010600030101010101" pitchFamily="2" charset="-122"/>
              </a:rPr>
              <a:t>NFA</a:t>
            </a:r>
            <a:r>
              <a:rPr lang="zh-CN" altLang="en-US" b="1" dirty="0">
                <a:ea typeface="宋体" panose="02010600030101010101" pitchFamily="2" charset="-122"/>
              </a:rPr>
              <a:t>状态集</a:t>
            </a:r>
            <a:endParaRPr lang="zh-CN" altLang="en-US" b="1" dirty="0">
              <a:ea typeface="宋体" panose="02010600030101010101" pitchFamily="2" charset="-122"/>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有穷状态自动机（14）</a:t>
            </a:r>
            <a:endParaRPr lang="zh-CN" altLang="en-US" dirty="0">
              <a:latin typeface="宋体" panose="02010600030101010101" pitchFamily="2" charset="-122"/>
              <a:ea typeface="宋体" panose="02010600030101010101" pitchFamily="2" charset="-122"/>
            </a:endParaRPr>
          </a:p>
        </p:txBody>
      </p:sp>
      <p:sp>
        <p:nvSpPr>
          <p:cNvPr id="111619" name="Rectangle 3"/>
          <p:cNvSpPr>
            <a:spLocks noGrp="1"/>
          </p:cNvSpPr>
          <p:nvPr>
            <p:ph idx="1"/>
          </p:nvPr>
        </p:nvSpPr>
        <p:spPr>
          <a:xfrm>
            <a:off x="990600" y="1371600"/>
            <a:ext cx="7391400" cy="5105400"/>
          </a:xfrm>
        </p:spPr>
        <p:txBody>
          <a:bodyPr vert="horz" wrap="square" lIns="92075" tIns="46038" rIns="92075" bIns="46038" anchor="t" anchorCtr="0"/>
          <a:p>
            <a:pPr marL="1333500" lvl="2" indent="-419100">
              <a:buFont typeface="Wingdings" panose="05000000000000000000" pitchFamily="2" charset="2"/>
              <a:buChar char="§"/>
            </a:pPr>
            <a:r>
              <a:rPr lang="zh-CN" altLang="en-US" b="1" dirty="0">
                <a:ea typeface="宋体" panose="02010600030101010101" pitchFamily="2" charset="-122"/>
              </a:rPr>
              <a:t>关于状态集合</a:t>
            </a:r>
            <a:r>
              <a:rPr lang="en-US" altLang="zh-CN" b="1" dirty="0">
                <a:ea typeface="宋体" panose="02010600030101010101" pitchFamily="2" charset="-122"/>
              </a:rPr>
              <a:t>T</a:t>
            </a:r>
            <a:r>
              <a:rPr lang="zh-CN" altLang="en-US" b="1" dirty="0">
                <a:ea typeface="宋体" panose="02010600030101010101" pitchFamily="2" charset="-122"/>
              </a:rPr>
              <a:t>的</a:t>
            </a:r>
            <a:r>
              <a:rPr lang="en-US" altLang="zh-CN" b="1" dirty="0">
                <a:ea typeface="宋体" panose="02010600030101010101" pitchFamily="2" charset="-122"/>
              </a:rPr>
              <a:t>ε</a:t>
            </a:r>
            <a:r>
              <a:rPr lang="zh-CN" altLang="en-US" b="1" dirty="0">
                <a:ea typeface="宋体" panose="02010600030101010101" pitchFamily="2" charset="-122"/>
              </a:rPr>
              <a:t>闭包的计算</a:t>
            </a:r>
            <a:endParaRPr lang="zh-CN" altLang="en-US" b="1" dirty="0">
              <a:ea typeface="宋体" panose="02010600030101010101" pitchFamily="2" charset="-122"/>
            </a:endParaRPr>
          </a:p>
          <a:p>
            <a:pPr marL="1333500" lvl="2" indent="-419100">
              <a:buFont typeface="Wingdings" panose="05000000000000000000" pitchFamily="2" charset="2"/>
              <a:buNone/>
            </a:pPr>
            <a:r>
              <a:rPr lang="en-US" altLang="zh-CN" b="1" dirty="0">
                <a:ea typeface="宋体" panose="02010600030101010101" pitchFamily="2" charset="-122"/>
              </a:rPr>
              <a:t>	</a:t>
            </a:r>
            <a:r>
              <a:rPr lang="zh-CN" altLang="en-US" b="1" dirty="0">
                <a:ea typeface="宋体" panose="02010600030101010101" pitchFamily="2" charset="-122"/>
              </a:rPr>
              <a:t>把</a:t>
            </a:r>
            <a:r>
              <a:rPr lang="en-US" altLang="zh-CN" b="1" dirty="0">
                <a:ea typeface="宋体" panose="02010600030101010101" pitchFamily="2" charset="-122"/>
              </a:rPr>
              <a:t>T</a:t>
            </a:r>
            <a:r>
              <a:rPr lang="zh-CN" altLang="en-US" b="1" dirty="0">
                <a:ea typeface="宋体" panose="02010600030101010101" pitchFamily="2" charset="-122"/>
              </a:rPr>
              <a:t>的所有状态压入栈</a:t>
            </a:r>
            <a:endParaRPr lang="zh-CN" altLang="en-US" b="1" dirty="0">
              <a:ea typeface="宋体" panose="02010600030101010101" pitchFamily="2" charset="-122"/>
            </a:endParaRPr>
          </a:p>
          <a:p>
            <a:pPr marL="1333500" lvl="2" indent="-419100">
              <a:spcBef>
                <a:spcPct val="0"/>
              </a:spcBef>
              <a:buFont typeface="Wingdings" panose="05000000000000000000" pitchFamily="2" charset="2"/>
              <a:buNone/>
            </a:pPr>
            <a:r>
              <a:rPr lang="zh-CN" altLang="en-US" b="1" dirty="0">
                <a:ea typeface="宋体" panose="02010600030101010101" pitchFamily="2" charset="-122"/>
              </a:rPr>
              <a:t>	 </a:t>
            </a:r>
            <a:r>
              <a:rPr lang="en-US" altLang="zh-CN" b="1" dirty="0">
                <a:ea typeface="宋体" panose="02010600030101010101" pitchFamily="2" charset="-122"/>
              </a:rPr>
              <a:t>ε</a:t>
            </a:r>
            <a:r>
              <a:rPr lang="zh-CN" altLang="en-US" b="1" dirty="0">
                <a:ea typeface="宋体" panose="02010600030101010101" pitchFamily="2" charset="-122"/>
              </a:rPr>
              <a:t>闭包( </a:t>
            </a:r>
            <a:r>
              <a:rPr lang="en-US" altLang="zh-CN" b="1" dirty="0">
                <a:ea typeface="宋体" panose="02010600030101010101" pitchFamily="2" charset="-122"/>
              </a:rPr>
              <a:t>T )</a:t>
            </a:r>
            <a:r>
              <a:rPr lang="zh-CN" altLang="en-US" b="1" dirty="0">
                <a:ea typeface="宋体" panose="02010600030101010101" pitchFamily="2" charset="-122"/>
              </a:rPr>
              <a:t>的初值置为</a:t>
            </a:r>
            <a:r>
              <a:rPr lang="en-US" altLang="zh-CN" b="1" dirty="0">
                <a:ea typeface="宋体" panose="02010600030101010101" pitchFamily="2" charset="-122"/>
              </a:rPr>
              <a:t>T</a:t>
            </a:r>
            <a:endParaRPr lang="en-US" altLang="zh-CN" b="1" dirty="0">
              <a:ea typeface="宋体" panose="02010600030101010101" pitchFamily="2" charset="-122"/>
            </a:endParaRPr>
          </a:p>
          <a:p>
            <a:pPr marL="1333500" lvl="2" indent="-419100">
              <a:spcBef>
                <a:spcPct val="0"/>
              </a:spcBef>
              <a:buFont typeface="Wingdings" panose="05000000000000000000" pitchFamily="2" charset="2"/>
              <a:buNone/>
            </a:pPr>
            <a:r>
              <a:rPr lang="en-US" altLang="zh-CN" b="1" dirty="0">
                <a:ea typeface="宋体" panose="02010600030101010101" pitchFamily="2" charset="-122"/>
              </a:rPr>
              <a:t>	while </a:t>
            </a:r>
            <a:r>
              <a:rPr lang="zh-CN" altLang="en-US" b="1" dirty="0">
                <a:ea typeface="宋体" panose="02010600030101010101" pitchFamily="2" charset="-122"/>
              </a:rPr>
              <a:t>栈非空 </a:t>
            </a:r>
            <a:r>
              <a:rPr lang="en-US" altLang="zh-CN" b="1" dirty="0">
                <a:ea typeface="宋体" panose="02010600030101010101" pitchFamily="2" charset="-122"/>
              </a:rPr>
              <a:t>do begin</a:t>
            </a:r>
            <a:endParaRPr lang="en-US" altLang="zh-CN" b="1" dirty="0">
              <a:ea typeface="宋体" panose="02010600030101010101" pitchFamily="2" charset="-122"/>
            </a:endParaRPr>
          </a:p>
          <a:p>
            <a:pPr marL="1333500" lvl="2" indent="-419100">
              <a:spcBef>
                <a:spcPct val="0"/>
              </a:spcBef>
              <a:buFont typeface="Wingdings" panose="05000000000000000000" pitchFamily="2" charset="2"/>
              <a:buNone/>
            </a:pPr>
            <a:r>
              <a:rPr lang="en-US" altLang="zh-CN" b="1" dirty="0">
                <a:ea typeface="宋体" panose="02010600030101010101" pitchFamily="2" charset="-122"/>
              </a:rPr>
              <a:t>	    </a:t>
            </a:r>
            <a:r>
              <a:rPr lang="zh-CN" altLang="en-US" b="1" dirty="0">
                <a:ea typeface="宋体" panose="02010600030101010101" pitchFamily="2" charset="-122"/>
              </a:rPr>
              <a:t>把栈顶元素</a:t>
            </a:r>
            <a:r>
              <a:rPr lang="en-US" altLang="zh-CN" b="1" dirty="0">
                <a:ea typeface="宋体" panose="02010600030101010101" pitchFamily="2" charset="-122"/>
              </a:rPr>
              <a:t>t</a:t>
            </a:r>
            <a:r>
              <a:rPr lang="zh-CN" altLang="en-US" b="1" dirty="0">
                <a:ea typeface="宋体" panose="02010600030101010101" pitchFamily="2" charset="-122"/>
              </a:rPr>
              <a:t>弹出栈</a:t>
            </a:r>
            <a:endParaRPr lang="zh-CN" altLang="en-US" b="1" dirty="0">
              <a:ea typeface="宋体" panose="02010600030101010101" pitchFamily="2" charset="-122"/>
            </a:endParaRPr>
          </a:p>
          <a:p>
            <a:pPr marL="1333500" lvl="2" indent="-419100">
              <a:spcBef>
                <a:spcPct val="0"/>
              </a:spcBef>
              <a:buFont typeface="Wingdings" panose="05000000000000000000" pitchFamily="2" charset="2"/>
              <a:buNone/>
            </a:pPr>
            <a:r>
              <a:rPr lang="zh-CN" altLang="en-US" b="1" dirty="0">
                <a:ea typeface="宋体" panose="02010600030101010101" pitchFamily="2" charset="-122"/>
              </a:rPr>
              <a:t>	    </a:t>
            </a:r>
            <a:r>
              <a:rPr lang="en-US" altLang="zh-CN" b="1" dirty="0">
                <a:ea typeface="宋体" panose="02010600030101010101" pitchFamily="2" charset="-122"/>
              </a:rPr>
              <a:t>for </a:t>
            </a:r>
            <a:r>
              <a:rPr lang="zh-CN" altLang="en-US" b="1" dirty="0">
                <a:ea typeface="宋体" panose="02010600030101010101" pitchFamily="2" charset="-122"/>
              </a:rPr>
              <a:t>从</a:t>
            </a:r>
            <a:r>
              <a:rPr lang="en-US" altLang="zh-CN" b="1" dirty="0">
                <a:ea typeface="宋体" panose="02010600030101010101" pitchFamily="2" charset="-122"/>
              </a:rPr>
              <a:t>t</a:t>
            </a:r>
            <a:r>
              <a:rPr lang="zh-CN" altLang="en-US" b="1" dirty="0">
                <a:ea typeface="宋体" panose="02010600030101010101" pitchFamily="2" charset="-122"/>
              </a:rPr>
              <a:t>到</a:t>
            </a:r>
            <a:r>
              <a:rPr lang="en-US" altLang="zh-CN" b="1" dirty="0">
                <a:ea typeface="宋体" panose="02010600030101010101" pitchFamily="2" charset="-122"/>
              </a:rPr>
              <a:t>u</a:t>
            </a:r>
            <a:r>
              <a:rPr lang="zh-CN" altLang="en-US" b="1" dirty="0">
                <a:ea typeface="宋体" panose="02010600030101010101" pitchFamily="2" charset="-122"/>
              </a:rPr>
              <a:t>且标记为</a:t>
            </a:r>
            <a:r>
              <a:rPr lang="en-US" altLang="zh-CN" b="1" dirty="0">
                <a:ea typeface="宋体" panose="02010600030101010101" pitchFamily="2" charset="-122"/>
              </a:rPr>
              <a:t>ε</a:t>
            </a:r>
            <a:r>
              <a:rPr lang="zh-CN" altLang="en-US" b="1" dirty="0">
                <a:ea typeface="宋体" panose="02010600030101010101" pitchFamily="2" charset="-122"/>
              </a:rPr>
              <a:t>的每个状态</a:t>
            </a:r>
            <a:r>
              <a:rPr lang="en-US" altLang="zh-CN" b="1" dirty="0">
                <a:ea typeface="宋体" panose="02010600030101010101" pitchFamily="2" charset="-122"/>
              </a:rPr>
              <a:t>u do</a:t>
            </a:r>
            <a:endParaRPr lang="en-US" altLang="zh-CN" b="1" dirty="0">
              <a:ea typeface="宋体" panose="02010600030101010101" pitchFamily="2" charset="-122"/>
            </a:endParaRPr>
          </a:p>
          <a:p>
            <a:pPr marL="1333500" lvl="2" indent="-419100">
              <a:spcBef>
                <a:spcPct val="0"/>
              </a:spcBef>
              <a:buFont typeface="Wingdings" panose="05000000000000000000" pitchFamily="2" charset="2"/>
              <a:buNone/>
            </a:pPr>
            <a:r>
              <a:rPr lang="en-US" altLang="zh-CN" b="1" dirty="0">
                <a:ea typeface="宋体" panose="02010600030101010101" pitchFamily="2" charset="-122"/>
              </a:rPr>
              <a:t>	        if u</a:t>
            </a:r>
            <a:r>
              <a:rPr lang="zh-CN" altLang="en-US" b="1" dirty="0">
                <a:ea typeface="宋体" panose="02010600030101010101" pitchFamily="2" charset="-122"/>
              </a:rPr>
              <a:t>不在</a:t>
            </a:r>
            <a:r>
              <a:rPr lang="en-US" altLang="zh-CN" b="1" dirty="0">
                <a:ea typeface="宋体" panose="02010600030101010101" pitchFamily="2" charset="-122"/>
              </a:rPr>
              <a:t>ε</a:t>
            </a:r>
            <a:r>
              <a:rPr lang="zh-CN" altLang="en-US" b="1" dirty="0">
                <a:ea typeface="宋体" panose="02010600030101010101" pitchFamily="2" charset="-122"/>
              </a:rPr>
              <a:t>闭包( </a:t>
            </a:r>
            <a:r>
              <a:rPr lang="en-US" altLang="zh-CN" b="1" dirty="0">
                <a:ea typeface="宋体" panose="02010600030101010101" pitchFamily="2" charset="-122"/>
              </a:rPr>
              <a:t>T )</a:t>
            </a:r>
            <a:r>
              <a:rPr lang="zh-CN" altLang="en-US" b="1" dirty="0">
                <a:ea typeface="宋体" panose="02010600030101010101" pitchFamily="2" charset="-122"/>
              </a:rPr>
              <a:t>中 </a:t>
            </a:r>
            <a:r>
              <a:rPr lang="en-US" altLang="zh-CN" b="1" dirty="0">
                <a:ea typeface="宋体" panose="02010600030101010101" pitchFamily="2" charset="-122"/>
              </a:rPr>
              <a:t>then</a:t>
            </a:r>
            <a:endParaRPr lang="en-US" altLang="zh-CN" b="1" dirty="0">
              <a:ea typeface="宋体" panose="02010600030101010101" pitchFamily="2" charset="-122"/>
            </a:endParaRPr>
          </a:p>
          <a:p>
            <a:pPr marL="1333500" lvl="2" indent="-419100">
              <a:spcBef>
                <a:spcPct val="0"/>
              </a:spcBef>
              <a:buFont typeface="Wingdings" panose="05000000000000000000" pitchFamily="2" charset="2"/>
              <a:buNone/>
            </a:pPr>
            <a:r>
              <a:rPr lang="en-US" altLang="zh-CN" b="1" dirty="0">
                <a:ea typeface="宋体" panose="02010600030101010101" pitchFamily="2" charset="-122"/>
              </a:rPr>
              <a:t>	            </a:t>
            </a:r>
            <a:r>
              <a:rPr lang="zh-CN" altLang="en-US" b="1" dirty="0">
                <a:ea typeface="宋体" panose="02010600030101010101" pitchFamily="2" charset="-122"/>
              </a:rPr>
              <a:t>把</a:t>
            </a:r>
            <a:r>
              <a:rPr lang="en-US" altLang="zh-CN" b="1" dirty="0">
                <a:ea typeface="宋体" panose="02010600030101010101" pitchFamily="2" charset="-122"/>
              </a:rPr>
              <a:t>u</a:t>
            </a:r>
            <a:r>
              <a:rPr lang="zh-CN" altLang="en-US" b="1" dirty="0">
                <a:ea typeface="宋体" panose="02010600030101010101" pitchFamily="2" charset="-122"/>
              </a:rPr>
              <a:t>加入</a:t>
            </a:r>
            <a:r>
              <a:rPr lang="en-US" altLang="zh-CN" b="1" dirty="0">
                <a:ea typeface="宋体" panose="02010600030101010101" pitchFamily="2" charset="-122"/>
              </a:rPr>
              <a:t>ε</a:t>
            </a:r>
            <a:r>
              <a:rPr lang="zh-CN" altLang="en-US" b="1" dirty="0">
                <a:ea typeface="宋体" panose="02010600030101010101" pitchFamily="2" charset="-122"/>
              </a:rPr>
              <a:t>闭包( </a:t>
            </a:r>
            <a:r>
              <a:rPr lang="en-US" altLang="zh-CN" b="1" dirty="0">
                <a:ea typeface="宋体" panose="02010600030101010101" pitchFamily="2" charset="-122"/>
              </a:rPr>
              <a:t>T )</a:t>
            </a:r>
            <a:endParaRPr lang="en-US" altLang="zh-CN" b="1" dirty="0">
              <a:ea typeface="宋体" panose="02010600030101010101" pitchFamily="2" charset="-122"/>
            </a:endParaRPr>
          </a:p>
          <a:p>
            <a:pPr marL="1333500" lvl="2" indent="-419100">
              <a:spcBef>
                <a:spcPct val="0"/>
              </a:spcBef>
              <a:buFont typeface="Wingdings" panose="05000000000000000000" pitchFamily="2" charset="2"/>
              <a:buNone/>
            </a:pPr>
            <a:r>
              <a:rPr lang="en-US" altLang="zh-CN" b="1" dirty="0">
                <a:ea typeface="宋体" panose="02010600030101010101" pitchFamily="2" charset="-122"/>
              </a:rPr>
              <a:t>	            </a:t>
            </a:r>
            <a:r>
              <a:rPr lang="zh-CN" altLang="en-US" b="1" dirty="0">
                <a:ea typeface="宋体" panose="02010600030101010101" pitchFamily="2" charset="-122"/>
              </a:rPr>
              <a:t>把</a:t>
            </a:r>
            <a:r>
              <a:rPr lang="en-US" altLang="zh-CN" b="1" dirty="0">
                <a:ea typeface="宋体" panose="02010600030101010101" pitchFamily="2" charset="-122"/>
              </a:rPr>
              <a:t>u</a:t>
            </a:r>
            <a:r>
              <a:rPr lang="zh-CN" altLang="en-US" b="1" dirty="0">
                <a:ea typeface="宋体" panose="02010600030101010101" pitchFamily="2" charset="-122"/>
              </a:rPr>
              <a:t>压入栈</a:t>
            </a:r>
            <a:endParaRPr lang="zh-CN" altLang="en-US" b="1" dirty="0">
              <a:ea typeface="宋体" panose="02010600030101010101" pitchFamily="2" charset="-122"/>
            </a:endParaRPr>
          </a:p>
          <a:p>
            <a:pPr marL="1333500" lvl="2" indent="-419100">
              <a:spcBef>
                <a:spcPct val="0"/>
              </a:spcBef>
              <a:buFont typeface="Wingdings" panose="05000000000000000000" pitchFamily="2" charset="2"/>
              <a:buNone/>
            </a:pPr>
            <a:r>
              <a:rPr lang="zh-CN" altLang="en-US" b="1" dirty="0">
                <a:ea typeface="宋体" panose="02010600030101010101" pitchFamily="2" charset="-122"/>
              </a:rPr>
              <a:t>	        </a:t>
            </a:r>
            <a:r>
              <a:rPr lang="en-US" altLang="zh-CN" b="1" dirty="0">
                <a:ea typeface="宋体" panose="02010600030101010101" pitchFamily="2" charset="-122"/>
              </a:rPr>
              <a:t>endif</a:t>
            </a:r>
            <a:endParaRPr lang="en-US" altLang="zh-CN" b="1" dirty="0">
              <a:ea typeface="宋体" panose="02010600030101010101" pitchFamily="2" charset="-122"/>
            </a:endParaRPr>
          </a:p>
          <a:p>
            <a:pPr marL="1333500" lvl="2" indent="-419100">
              <a:spcBef>
                <a:spcPct val="0"/>
              </a:spcBef>
              <a:buFont typeface="Wingdings" panose="05000000000000000000" pitchFamily="2" charset="2"/>
              <a:buNone/>
            </a:pPr>
            <a:r>
              <a:rPr lang="en-US" altLang="zh-CN" b="1" dirty="0">
                <a:ea typeface="宋体" panose="02010600030101010101" pitchFamily="2" charset="-122"/>
              </a:rPr>
              <a:t>           endfor</a:t>
            </a:r>
            <a:endParaRPr lang="en-US" altLang="zh-CN" b="1" dirty="0">
              <a:ea typeface="宋体" panose="02010600030101010101" pitchFamily="2" charset="-122"/>
            </a:endParaRPr>
          </a:p>
          <a:p>
            <a:pPr marL="1333500" lvl="2" indent="-419100">
              <a:spcBef>
                <a:spcPct val="0"/>
              </a:spcBef>
              <a:buFont typeface="Wingdings" panose="05000000000000000000" pitchFamily="2" charset="2"/>
              <a:buNone/>
            </a:pPr>
            <a:r>
              <a:rPr lang="en-US" altLang="zh-CN" b="1" dirty="0">
                <a:ea typeface="宋体" panose="02010600030101010101" pitchFamily="2" charset="-122"/>
              </a:rPr>
              <a:t>	endwhile</a:t>
            </a:r>
            <a:endParaRPr lang="en-US" altLang="zh-CN" b="1" dirty="0">
              <a:ea typeface="宋体" panose="02010600030101010101" pitchFamily="2" charset="-122"/>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有穷状态自动机（15）</a:t>
            </a:r>
            <a:endParaRPr lang="zh-CN" altLang="en-US" dirty="0">
              <a:latin typeface="宋体" panose="02010600030101010101" pitchFamily="2" charset="-122"/>
              <a:ea typeface="宋体" panose="02010600030101010101" pitchFamily="2" charset="-122"/>
            </a:endParaRPr>
          </a:p>
        </p:txBody>
      </p:sp>
      <p:sp>
        <p:nvSpPr>
          <p:cNvPr id="113667" name="Rectangle 3"/>
          <p:cNvSpPr>
            <a:spLocks noGrp="1"/>
          </p:cNvSpPr>
          <p:nvPr>
            <p:ph idx="1"/>
          </p:nvPr>
        </p:nvSpPr>
        <p:spPr>
          <a:xfrm>
            <a:off x="990600" y="1371600"/>
            <a:ext cx="7391400" cy="4572000"/>
          </a:xfrm>
        </p:spPr>
        <p:txBody>
          <a:bodyPr vert="horz" wrap="square" lIns="92075" tIns="46038" rIns="92075" bIns="46038" anchor="t" anchorCtr="0"/>
          <a:p>
            <a:pPr marL="495300" indent="-495300">
              <a:spcBef>
                <a:spcPct val="0"/>
              </a:spcBef>
              <a:buFont typeface="Wingdings" panose="05000000000000000000" pitchFamily="2" charset="2"/>
              <a:buNone/>
            </a:pPr>
            <a:r>
              <a:rPr lang="zh-CN" altLang="en-US" b="1" dirty="0">
                <a:ea typeface="宋体" panose="02010600030101010101" pitchFamily="2" charset="-122"/>
              </a:rPr>
              <a:t>下图是接受语言(</a:t>
            </a:r>
            <a:r>
              <a:rPr lang="en-US" altLang="zh-CN" b="1" dirty="0">
                <a:ea typeface="宋体" panose="02010600030101010101" pitchFamily="2" charset="-122"/>
              </a:rPr>
              <a:t>a|b)</a:t>
            </a:r>
            <a:r>
              <a:rPr lang="en-US" altLang="zh-CN" b="1" baseline="30000" dirty="0">
                <a:ea typeface="宋体" panose="02010600030101010101" pitchFamily="2" charset="-122"/>
              </a:rPr>
              <a:t>*</a:t>
            </a:r>
            <a:r>
              <a:rPr lang="en-US" altLang="zh-CN" b="1" dirty="0">
                <a:ea typeface="宋体" panose="02010600030101010101" pitchFamily="2" charset="-122"/>
              </a:rPr>
              <a:t>abb，</a:t>
            </a:r>
            <a:r>
              <a:rPr lang="zh-CN" altLang="en-US" b="1" dirty="0">
                <a:ea typeface="宋体" panose="02010600030101010101" pitchFamily="2" charset="-122"/>
              </a:rPr>
              <a:t>则有：</a:t>
            </a:r>
            <a:endParaRPr lang="zh-CN" altLang="en-US" b="1" dirty="0">
              <a:ea typeface="宋体" panose="02010600030101010101" pitchFamily="2" charset="-122"/>
            </a:endParaRPr>
          </a:p>
          <a:p>
            <a:pPr marL="495300" indent="-495300">
              <a:spcBef>
                <a:spcPct val="0"/>
              </a:spcBef>
              <a:buFont typeface="Wingdings" panose="05000000000000000000" pitchFamily="2" charset="2"/>
              <a:buNone/>
            </a:pPr>
            <a:r>
              <a:rPr lang="en-US" altLang="zh-CN" b="1" dirty="0">
                <a:ea typeface="宋体" panose="02010600030101010101" pitchFamily="2" charset="-122"/>
              </a:rPr>
              <a:t>ε</a:t>
            </a:r>
            <a:r>
              <a:rPr lang="zh-CN" altLang="en-US" b="1" dirty="0">
                <a:ea typeface="宋体" panose="02010600030101010101" pitchFamily="2" charset="-122"/>
              </a:rPr>
              <a:t>闭包( </a:t>
            </a:r>
            <a:r>
              <a:rPr lang="en-US" altLang="zh-CN" b="1" dirty="0">
                <a:ea typeface="宋体" panose="02010600030101010101" pitchFamily="2" charset="-122"/>
              </a:rPr>
              <a:t>0 )</a:t>
            </a:r>
            <a:r>
              <a:rPr lang="zh-CN" altLang="en-US" b="1" dirty="0">
                <a:ea typeface="宋体" panose="02010600030101010101" pitchFamily="2" charset="-122"/>
              </a:rPr>
              <a:t>是集合</a:t>
            </a:r>
            <a:r>
              <a:rPr lang="en-US" altLang="zh-CN" b="1" dirty="0">
                <a:ea typeface="宋体" panose="02010600030101010101" pitchFamily="2" charset="-122"/>
              </a:rPr>
              <a:t>A = {0, 1, 2, 4, 7}</a:t>
            </a:r>
            <a:endParaRPr lang="en-US" altLang="zh-CN" b="1" dirty="0">
              <a:ea typeface="宋体" panose="02010600030101010101" pitchFamily="2" charset="-122"/>
            </a:endParaRPr>
          </a:p>
          <a:p>
            <a:pPr marL="495300" indent="-495300">
              <a:spcBef>
                <a:spcPct val="0"/>
              </a:spcBef>
              <a:buFont typeface="Wingdings" panose="05000000000000000000" pitchFamily="2" charset="2"/>
              <a:buNone/>
            </a:pPr>
            <a:r>
              <a:rPr lang="en-US" altLang="zh-CN" b="1" dirty="0">
                <a:ea typeface="宋体" panose="02010600030101010101" pitchFamily="2" charset="-122"/>
              </a:rPr>
              <a:t>ε</a:t>
            </a:r>
            <a:r>
              <a:rPr lang="zh-CN" altLang="en-US" b="1" dirty="0">
                <a:ea typeface="宋体" panose="02010600030101010101" pitchFamily="2" charset="-122"/>
              </a:rPr>
              <a:t>闭包(</a:t>
            </a:r>
            <a:r>
              <a:rPr lang="en-US" altLang="zh-CN" b="1" dirty="0">
                <a:ea typeface="宋体" panose="02010600030101010101" pitchFamily="2" charset="-122"/>
              </a:rPr>
              <a:t>δ(A , a)) = ε</a:t>
            </a:r>
            <a:r>
              <a:rPr lang="zh-CN" altLang="en-US" b="1" dirty="0">
                <a:ea typeface="宋体" panose="02010600030101010101" pitchFamily="2" charset="-122"/>
              </a:rPr>
              <a:t>闭包({3 , 8}) = {1, 2, 3, 4, 6, 7, 8}</a:t>
            </a:r>
            <a:endParaRPr lang="en-US" altLang="zh-CN" b="1" dirty="0">
              <a:ea typeface="宋体" panose="02010600030101010101" pitchFamily="2" charset="-122"/>
            </a:endParaRPr>
          </a:p>
        </p:txBody>
      </p:sp>
      <p:graphicFrame>
        <p:nvGraphicFramePr>
          <p:cNvPr id="113668" name="Object 4"/>
          <p:cNvGraphicFramePr>
            <a:graphicFrameLocks noChangeAspect="1"/>
          </p:cNvGraphicFramePr>
          <p:nvPr/>
        </p:nvGraphicFramePr>
        <p:xfrm>
          <a:off x="838200" y="3048000"/>
          <a:ext cx="7315200" cy="2971800"/>
        </p:xfrm>
        <a:graphic>
          <a:graphicData uri="http://schemas.openxmlformats.org/presentationml/2006/ole">
            <mc:AlternateContent xmlns:mc="http://schemas.openxmlformats.org/markup-compatibility/2006">
              <mc:Choice xmlns:v="urn:schemas-microsoft-com:vml" Requires="v">
                <p:oleObj spid="_x0000_s3078" name="" r:id="rId1" imgW="6786880" imgH="2758440" progId="Visio.Drawing.4">
                  <p:embed/>
                </p:oleObj>
              </mc:Choice>
              <mc:Fallback>
                <p:oleObj name="" r:id="rId1" imgW="6786880" imgH="2758440" progId="Visio.Drawing.4">
                  <p:embed/>
                  <p:pic>
                    <p:nvPicPr>
                      <p:cNvPr id="0" name="图片 3077"/>
                      <p:cNvPicPr/>
                      <p:nvPr/>
                    </p:nvPicPr>
                    <p:blipFill>
                      <a:blip r:embed="rId2"/>
                      <a:stretch>
                        <a:fillRect/>
                      </a:stretch>
                    </p:blipFill>
                    <p:spPr>
                      <a:xfrm>
                        <a:off x="838200" y="3048000"/>
                        <a:ext cx="7315200" cy="2971800"/>
                      </a:xfrm>
                      <a:prstGeom prst="rect">
                        <a:avLst/>
                      </a:prstGeom>
                      <a:noFill/>
                      <a:ln w="38100">
                        <a:noFill/>
                        <a:miter/>
                      </a:ln>
                    </p:spPr>
                  </p:pic>
                </p:oleObj>
              </mc:Fallback>
            </mc:AlternateContent>
          </a:graphicData>
        </a:graphic>
      </p:graphicFrame>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有穷状态自动机（16）</a:t>
            </a:r>
            <a:endParaRPr lang="zh-CN" altLang="en-US" dirty="0">
              <a:latin typeface="宋体" panose="02010600030101010101" pitchFamily="2" charset="-122"/>
              <a:ea typeface="宋体" panose="02010600030101010101" pitchFamily="2" charset="-122"/>
            </a:endParaRPr>
          </a:p>
        </p:txBody>
      </p:sp>
      <p:sp>
        <p:nvSpPr>
          <p:cNvPr id="115715" name="Rectangle 3"/>
          <p:cNvSpPr>
            <a:spLocks noGrp="1"/>
          </p:cNvSpPr>
          <p:nvPr>
            <p:ph idx="1"/>
          </p:nvPr>
        </p:nvSpPr>
        <p:spPr>
          <a:xfrm>
            <a:off x="990600" y="1371600"/>
            <a:ext cx="7613650" cy="5105400"/>
          </a:xfrm>
        </p:spPr>
        <p:txBody>
          <a:bodyPr vert="horz" wrap="square" lIns="92075" tIns="46038" rIns="92075" bIns="46038" anchor="t" anchorCtr="0"/>
          <a:p>
            <a:pPr marL="914400" lvl="1" indent="-457200"/>
            <a:r>
              <a:rPr lang="en-US" altLang="zh-CN" b="1" dirty="0">
                <a:ea typeface="宋体" panose="02010600030101010101" pitchFamily="2" charset="-122"/>
              </a:rPr>
              <a:t>NFA</a:t>
            </a:r>
            <a:r>
              <a:rPr lang="zh-CN" altLang="en-US" b="1" dirty="0">
                <a:ea typeface="宋体" panose="02010600030101010101" pitchFamily="2" charset="-122"/>
              </a:rPr>
              <a:t>到</a:t>
            </a:r>
            <a:r>
              <a:rPr lang="en-US" altLang="zh-CN" b="1" dirty="0">
                <a:ea typeface="宋体" panose="02010600030101010101" pitchFamily="2" charset="-122"/>
              </a:rPr>
              <a:t>DFA</a:t>
            </a:r>
            <a:r>
              <a:rPr lang="zh-CN" altLang="en-US" b="1" dirty="0">
                <a:ea typeface="宋体" panose="02010600030101010101" pitchFamily="2" charset="-122"/>
              </a:rPr>
              <a:t>转换的基本思想：</a:t>
            </a:r>
            <a:endParaRPr lang="zh-CN" altLang="en-US" b="1" dirty="0">
              <a:ea typeface="宋体" panose="02010600030101010101" pitchFamily="2" charset="-122"/>
            </a:endParaRPr>
          </a:p>
          <a:p>
            <a:pPr marL="1314450" lvl="2" indent="-457200">
              <a:lnSpc>
                <a:spcPct val="90000"/>
              </a:lnSpc>
            </a:pPr>
            <a:r>
              <a:rPr lang="en-US" altLang="zh-CN" b="1" dirty="0">
                <a:latin typeface="宋体" panose="02010600030101010101" pitchFamily="2" charset="-122"/>
                <a:ea typeface="宋体" panose="02010600030101010101" pitchFamily="2" charset="-122"/>
              </a:rPr>
              <a:t>DFA</a:t>
            </a:r>
            <a:r>
              <a:rPr lang="zh-CN" altLang="en-US" b="1" dirty="0">
                <a:latin typeface="宋体" panose="02010600030101010101" pitchFamily="2" charset="-122"/>
                <a:ea typeface="宋体" panose="02010600030101010101" pitchFamily="2" charset="-122"/>
              </a:rPr>
              <a:t>转换表中每个条目只有一个状态，而</a:t>
            </a:r>
            <a:r>
              <a:rPr lang="en-US" altLang="zh-CN" b="1" dirty="0">
                <a:latin typeface="宋体" panose="02010600030101010101" pitchFamily="2" charset="-122"/>
                <a:ea typeface="宋体" panose="02010600030101010101" pitchFamily="2" charset="-122"/>
              </a:rPr>
              <a:t>NFA</a:t>
            </a:r>
            <a:r>
              <a:rPr lang="zh-CN" altLang="en-US" b="1" dirty="0">
                <a:latin typeface="宋体" panose="02010600030101010101" pitchFamily="2" charset="-122"/>
                <a:ea typeface="宋体" panose="02010600030101010101" pitchFamily="2" charset="-122"/>
              </a:rPr>
              <a:t>转换表中，每个条目是一个状态集合，因此</a:t>
            </a:r>
            <a:r>
              <a:rPr lang="en-US" altLang="zh-CN" b="1" dirty="0">
                <a:latin typeface="宋体" panose="02010600030101010101" pitchFamily="2" charset="-122"/>
                <a:ea typeface="宋体" panose="02010600030101010101" pitchFamily="2" charset="-122"/>
              </a:rPr>
              <a:t>NFA</a:t>
            </a:r>
            <a:r>
              <a:rPr lang="zh-CN" altLang="en-US" b="1" dirty="0">
                <a:latin typeface="宋体" panose="02010600030101010101" pitchFamily="2" charset="-122"/>
                <a:ea typeface="宋体" panose="02010600030101010101" pitchFamily="2" charset="-122"/>
              </a:rPr>
              <a:t>到</a:t>
            </a:r>
            <a:r>
              <a:rPr lang="en-US" altLang="zh-CN" b="1" dirty="0">
                <a:latin typeface="宋体" panose="02010600030101010101" pitchFamily="2" charset="-122"/>
                <a:ea typeface="宋体" panose="02010600030101010101" pitchFamily="2" charset="-122"/>
              </a:rPr>
              <a:t>DFA</a:t>
            </a:r>
            <a:r>
              <a:rPr lang="zh-CN" altLang="en-US" b="1" dirty="0">
                <a:latin typeface="宋体" panose="02010600030101010101" pitchFamily="2" charset="-122"/>
                <a:ea typeface="宋体" panose="02010600030101010101" pitchFamily="2" charset="-122"/>
              </a:rPr>
              <a:t>的转换就是构造一个</a:t>
            </a:r>
            <a:r>
              <a:rPr lang="en-US" altLang="zh-CN" b="1" dirty="0">
                <a:latin typeface="宋体" panose="02010600030101010101" pitchFamily="2" charset="-122"/>
                <a:ea typeface="宋体" panose="02010600030101010101" pitchFamily="2" charset="-122"/>
              </a:rPr>
              <a:t>DFA，</a:t>
            </a:r>
            <a:r>
              <a:rPr lang="zh-CN" altLang="en-US" b="1" dirty="0">
                <a:latin typeface="宋体" panose="02010600030101010101" pitchFamily="2" charset="-122"/>
                <a:ea typeface="宋体" panose="02010600030101010101" pitchFamily="2" charset="-122"/>
              </a:rPr>
              <a:t>使它的每个状态代表</a:t>
            </a:r>
            <a:r>
              <a:rPr lang="en-US" altLang="zh-CN" b="1" dirty="0">
                <a:latin typeface="宋体" panose="02010600030101010101" pitchFamily="2" charset="-122"/>
                <a:ea typeface="宋体" panose="02010600030101010101" pitchFamily="2" charset="-122"/>
              </a:rPr>
              <a:t>NFA</a:t>
            </a:r>
            <a:r>
              <a:rPr lang="zh-CN" altLang="en-US" b="1" dirty="0">
                <a:latin typeface="宋体" panose="02010600030101010101" pitchFamily="2" charset="-122"/>
                <a:ea typeface="宋体" panose="02010600030101010101" pitchFamily="2" charset="-122"/>
              </a:rPr>
              <a:t>的状态集合</a:t>
            </a:r>
            <a:endParaRPr lang="zh-CN" altLang="en-US" b="1" dirty="0">
              <a:latin typeface="宋体" panose="02010600030101010101" pitchFamily="2" charset="-122"/>
              <a:ea typeface="宋体" panose="02010600030101010101" pitchFamily="2" charset="-122"/>
            </a:endParaRPr>
          </a:p>
          <a:p>
            <a:pPr lvl="3"/>
            <a:r>
              <a:rPr lang="en-US" altLang="zh-CN" b="1" dirty="0">
                <a:ea typeface="宋体" panose="02010600030101010101" pitchFamily="2" charset="-122"/>
              </a:rPr>
              <a:t>DFA</a:t>
            </a:r>
            <a:r>
              <a:rPr lang="zh-CN" altLang="en-US" b="1" dirty="0">
                <a:ea typeface="宋体" panose="02010600030101010101" pitchFamily="2" charset="-122"/>
              </a:rPr>
              <a:t>用它的状态记录</a:t>
            </a:r>
            <a:r>
              <a:rPr lang="en-US" altLang="zh-CN" b="1" dirty="0">
                <a:ea typeface="宋体" panose="02010600030101010101" pitchFamily="2" charset="-122"/>
              </a:rPr>
              <a:t>NFA</a:t>
            </a:r>
            <a:r>
              <a:rPr lang="zh-CN" altLang="en-US" b="1" dirty="0">
                <a:ea typeface="宋体" panose="02010600030101010101" pitchFamily="2" charset="-122"/>
              </a:rPr>
              <a:t>在读输入符号后到达的所有状态</a:t>
            </a:r>
            <a:endParaRPr lang="zh-CN" altLang="en-US" b="1" dirty="0">
              <a:ea typeface="宋体" panose="02010600030101010101" pitchFamily="2" charset="-122"/>
            </a:endParaRPr>
          </a:p>
          <a:p>
            <a:pPr lvl="3"/>
            <a:r>
              <a:rPr lang="zh-CN" altLang="en-US" b="1" dirty="0">
                <a:ea typeface="宋体" panose="02010600030101010101" pitchFamily="2" charset="-122"/>
              </a:rPr>
              <a:t>在读了输入</a:t>
            </a:r>
            <a:r>
              <a:rPr lang="en-US" altLang="zh-CN" b="1" dirty="0">
                <a:ea typeface="宋体" panose="02010600030101010101" pitchFamily="2" charset="-122"/>
              </a:rPr>
              <a:t>a</a:t>
            </a:r>
            <a:r>
              <a:rPr lang="en-US" altLang="zh-CN" b="1" baseline="-25000" dirty="0">
                <a:ea typeface="宋体" panose="02010600030101010101" pitchFamily="2" charset="-122"/>
              </a:rPr>
              <a:t>1</a:t>
            </a:r>
            <a:r>
              <a:rPr lang="en-US" altLang="zh-CN" b="1" dirty="0">
                <a:ea typeface="宋体" panose="02010600030101010101" pitchFamily="2" charset="-122"/>
              </a:rPr>
              <a:t>a</a:t>
            </a:r>
            <a:r>
              <a:rPr lang="en-US" altLang="zh-CN" b="1" baseline="-25000" dirty="0">
                <a:ea typeface="宋体" panose="02010600030101010101" pitchFamily="2" charset="-122"/>
              </a:rPr>
              <a:t>2</a:t>
            </a:r>
            <a:r>
              <a:rPr lang="en-US" altLang="zh-CN" b="1" dirty="0">
                <a:ea typeface="宋体" panose="02010600030101010101" pitchFamily="2" charset="-122"/>
              </a:rPr>
              <a:t>…a</a:t>
            </a:r>
            <a:r>
              <a:rPr lang="en-US" altLang="zh-CN" b="1" baseline="-25000" dirty="0">
                <a:ea typeface="宋体" panose="02010600030101010101" pitchFamily="2" charset="-122"/>
              </a:rPr>
              <a:t>n</a:t>
            </a:r>
            <a:r>
              <a:rPr lang="zh-CN" altLang="en-US" b="1" dirty="0">
                <a:ea typeface="宋体" panose="02010600030101010101" pitchFamily="2" charset="-122"/>
              </a:rPr>
              <a:t>后，</a:t>
            </a:r>
            <a:r>
              <a:rPr lang="en-US" altLang="zh-CN" b="1" dirty="0">
                <a:ea typeface="宋体" panose="02010600030101010101" pitchFamily="2" charset="-122"/>
              </a:rPr>
              <a:t>DFA</a:t>
            </a:r>
            <a:r>
              <a:rPr lang="zh-CN" altLang="en-US" b="1" dirty="0">
                <a:ea typeface="宋体" panose="02010600030101010101" pitchFamily="2" charset="-122"/>
              </a:rPr>
              <a:t>到达一个代表</a:t>
            </a:r>
            <a:r>
              <a:rPr lang="en-US" altLang="zh-CN" b="1" dirty="0">
                <a:ea typeface="宋体" panose="02010600030101010101" pitchFamily="2" charset="-122"/>
              </a:rPr>
              <a:t>NFA</a:t>
            </a:r>
            <a:r>
              <a:rPr lang="zh-CN" altLang="en-US" b="1" dirty="0">
                <a:ea typeface="宋体" panose="02010600030101010101" pitchFamily="2" charset="-122"/>
              </a:rPr>
              <a:t>的状态子集</a:t>
            </a:r>
            <a:r>
              <a:rPr lang="en-US" altLang="zh-CN" b="1" dirty="0">
                <a:ea typeface="宋体" panose="02010600030101010101" pitchFamily="2" charset="-122"/>
              </a:rPr>
              <a:t>T</a:t>
            </a:r>
            <a:r>
              <a:rPr lang="zh-CN" altLang="en-US" b="1" dirty="0">
                <a:ea typeface="宋体" panose="02010600030101010101" pitchFamily="2" charset="-122"/>
              </a:rPr>
              <a:t>的状态，这个子集</a:t>
            </a:r>
            <a:r>
              <a:rPr lang="en-US" altLang="zh-CN" b="1" dirty="0">
                <a:ea typeface="宋体" panose="02010600030101010101" pitchFamily="2" charset="-122"/>
              </a:rPr>
              <a:t>T</a:t>
            </a:r>
            <a:r>
              <a:rPr lang="zh-CN" altLang="en-US" b="1" dirty="0">
                <a:ea typeface="宋体" panose="02010600030101010101" pitchFamily="2" charset="-122"/>
              </a:rPr>
              <a:t>是从</a:t>
            </a:r>
            <a:r>
              <a:rPr lang="en-US" altLang="zh-CN" b="1" dirty="0">
                <a:ea typeface="宋体" panose="02010600030101010101" pitchFamily="2" charset="-122"/>
              </a:rPr>
              <a:t>NFA</a:t>
            </a:r>
            <a:r>
              <a:rPr lang="zh-CN" altLang="en-US" b="1" dirty="0">
                <a:ea typeface="宋体" panose="02010600030101010101" pitchFamily="2" charset="-122"/>
              </a:rPr>
              <a:t>的开始状态沿着标记为</a:t>
            </a:r>
            <a:r>
              <a:rPr lang="en-US" altLang="zh-CN" b="1" dirty="0">
                <a:ea typeface="宋体" panose="02010600030101010101" pitchFamily="2" charset="-122"/>
              </a:rPr>
              <a:t>a</a:t>
            </a:r>
            <a:r>
              <a:rPr lang="en-US" altLang="zh-CN" b="1" baseline="-25000" dirty="0">
                <a:ea typeface="宋体" panose="02010600030101010101" pitchFamily="2" charset="-122"/>
              </a:rPr>
              <a:t>1</a:t>
            </a:r>
            <a:r>
              <a:rPr lang="en-US" altLang="zh-CN" b="1" dirty="0">
                <a:ea typeface="宋体" panose="02010600030101010101" pitchFamily="2" charset="-122"/>
              </a:rPr>
              <a:t>a</a:t>
            </a:r>
            <a:r>
              <a:rPr lang="en-US" altLang="zh-CN" b="1" baseline="-25000" dirty="0">
                <a:ea typeface="宋体" panose="02010600030101010101" pitchFamily="2" charset="-122"/>
              </a:rPr>
              <a:t>2</a:t>
            </a:r>
            <a:r>
              <a:rPr lang="en-US" altLang="zh-CN" b="1" dirty="0">
                <a:ea typeface="宋体" panose="02010600030101010101" pitchFamily="2" charset="-122"/>
              </a:rPr>
              <a:t>…a</a:t>
            </a:r>
            <a:r>
              <a:rPr lang="en-US" altLang="zh-CN" b="1" baseline="-25000" dirty="0">
                <a:ea typeface="宋体" panose="02010600030101010101" pitchFamily="2" charset="-122"/>
              </a:rPr>
              <a:t>n</a:t>
            </a:r>
            <a:r>
              <a:rPr lang="zh-CN" altLang="en-US" b="1" dirty="0">
                <a:ea typeface="宋体" panose="02010600030101010101" pitchFamily="2" charset="-122"/>
              </a:rPr>
              <a:t>的路径能到达的所有状态的集合（特别地，包含</a:t>
            </a:r>
            <a:r>
              <a:rPr lang="en-US" altLang="zh-CN" b="1" dirty="0">
                <a:ea typeface="宋体" panose="02010600030101010101" pitchFamily="2" charset="-122"/>
              </a:rPr>
              <a:t>ε</a:t>
            </a:r>
            <a:r>
              <a:rPr lang="zh-CN" altLang="en-US" b="1" dirty="0">
                <a:ea typeface="宋体" panose="02010600030101010101" pitchFamily="2" charset="-122"/>
              </a:rPr>
              <a:t>转换）</a:t>
            </a:r>
            <a:endParaRPr lang="zh-CN" altLang="en-US" b="1" dirty="0">
              <a:ea typeface="宋体" panose="02010600030101010101" pitchFamily="2" charset="-122"/>
            </a:endParaRPr>
          </a:p>
          <a:p>
            <a:pPr marL="1314450" lvl="2" indent="-457200">
              <a:lnSpc>
                <a:spcPct val="90000"/>
              </a:lnSpc>
            </a:pPr>
            <a:r>
              <a:rPr lang="zh-CN" altLang="en-US" b="1" dirty="0">
                <a:latin typeface="宋体" panose="02010600030101010101" pitchFamily="2" charset="-122"/>
                <a:ea typeface="宋体" panose="02010600030101010101" pitchFamily="2" charset="-122"/>
              </a:rPr>
              <a:t>由于</a:t>
            </a:r>
            <a:r>
              <a:rPr lang="en-US" altLang="zh-CN" b="1" dirty="0">
                <a:latin typeface="宋体" panose="02010600030101010101" pitchFamily="2" charset="-122"/>
                <a:ea typeface="宋体" panose="02010600030101010101" pitchFamily="2" charset="-122"/>
              </a:rPr>
              <a:t>NFA</a:t>
            </a:r>
            <a:r>
              <a:rPr lang="zh-CN" altLang="en-US" b="1" dirty="0">
                <a:latin typeface="宋体" panose="02010600030101010101" pitchFamily="2" charset="-122"/>
                <a:ea typeface="宋体" panose="02010600030101010101" pitchFamily="2" charset="-122"/>
              </a:rPr>
              <a:t>转换函数的值域是其状态集合的幂集合，因此在最坏的情况下，构造出来的</a:t>
            </a:r>
            <a:r>
              <a:rPr lang="en-US" altLang="zh-CN" b="1" dirty="0">
                <a:latin typeface="宋体" panose="02010600030101010101" pitchFamily="2" charset="-122"/>
                <a:ea typeface="宋体" panose="02010600030101010101" pitchFamily="2" charset="-122"/>
              </a:rPr>
              <a:t>DFA</a:t>
            </a:r>
            <a:r>
              <a:rPr lang="zh-CN" altLang="en-US" b="1" dirty="0">
                <a:latin typeface="宋体" panose="02010600030101010101" pitchFamily="2" charset="-122"/>
                <a:ea typeface="宋体" panose="02010600030101010101" pitchFamily="2" charset="-122"/>
              </a:rPr>
              <a:t>的状态数和</a:t>
            </a:r>
            <a:r>
              <a:rPr lang="en-US" altLang="zh-CN" b="1" dirty="0">
                <a:latin typeface="宋体" panose="02010600030101010101" pitchFamily="2" charset="-122"/>
                <a:ea typeface="宋体" panose="02010600030101010101" pitchFamily="2" charset="-122"/>
              </a:rPr>
              <a:t>NFA</a:t>
            </a:r>
            <a:r>
              <a:rPr lang="zh-CN" altLang="en-US" b="1" dirty="0">
                <a:latin typeface="宋体" panose="02010600030101010101" pitchFamily="2" charset="-122"/>
                <a:ea typeface="宋体" panose="02010600030101010101" pitchFamily="2" charset="-122"/>
              </a:rPr>
              <a:t>的状态数成指数变化，但实际上很少发生</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有穷状态自动机（17）</a:t>
            </a:r>
            <a:endParaRPr lang="zh-CN" altLang="en-US" dirty="0">
              <a:latin typeface="宋体" panose="02010600030101010101" pitchFamily="2" charset="-122"/>
              <a:ea typeface="宋体" panose="02010600030101010101" pitchFamily="2" charset="-122"/>
            </a:endParaRPr>
          </a:p>
        </p:txBody>
      </p:sp>
      <p:sp>
        <p:nvSpPr>
          <p:cNvPr id="117763" name="Rectangle 3"/>
          <p:cNvSpPr>
            <a:spLocks noGrp="1"/>
          </p:cNvSpPr>
          <p:nvPr>
            <p:ph idx="1"/>
          </p:nvPr>
        </p:nvSpPr>
        <p:spPr>
          <a:xfrm>
            <a:off x="685800" y="1371600"/>
            <a:ext cx="7924800" cy="5257800"/>
          </a:xfrm>
        </p:spPr>
        <p:txBody>
          <a:bodyPr vert="horz" wrap="square" lIns="92075" tIns="46038" rIns="92075" bIns="46038" anchor="t" anchorCtr="0"/>
          <a:p>
            <a:pPr marL="914400" lvl="1" indent="-457200">
              <a:lnSpc>
                <a:spcPct val="90000"/>
              </a:lnSpc>
            </a:pPr>
            <a:r>
              <a:rPr lang="zh-CN" altLang="en-US" b="1" dirty="0">
                <a:ea typeface="宋体" panose="02010600030101010101" pitchFamily="2" charset="-122"/>
              </a:rPr>
              <a:t>子集构造法：从</a:t>
            </a:r>
            <a:r>
              <a:rPr lang="en-US" altLang="zh-CN" b="1" dirty="0">
                <a:ea typeface="宋体" panose="02010600030101010101" pitchFamily="2" charset="-122"/>
              </a:rPr>
              <a:t>NFA</a:t>
            </a:r>
            <a:r>
              <a:rPr lang="zh-CN" altLang="en-US" b="1" dirty="0">
                <a:ea typeface="宋体" panose="02010600030101010101" pitchFamily="2" charset="-122"/>
              </a:rPr>
              <a:t>构造</a:t>
            </a:r>
            <a:r>
              <a:rPr lang="en-US" altLang="zh-CN" b="1" dirty="0">
                <a:ea typeface="宋体" panose="02010600030101010101" pitchFamily="2" charset="-122"/>
              </a:rPr>
              <a:t>DFA</a:t>
            </a:r>
            <a:endParaRPr lang="en-US" altLang="zh-CN" b="1" dirty="0">
              <a:ea typeface="宋体" panose="02010600030101010101" pitchFamily="2" charset="-122"/>
            </a:endParaRPr>
          </a:p>
          <a:p>
            <a:pPr marL="1333500" lvl="2" indent="-419100">
              <a:lnSpc>
                <a:spcPct val="90000"/>
              </a:lnSpc>
              <a:buFont typeface="Wingdings" panose="05000000000000000000" pitchFamily="2" charset="2"/>
              <a:buNone/>
            </a:pPr>
            <a:r>
              <a:rPr lang="zh-CN" altLang="en-US" b="1" dirty="0">
                <a:ea typeface="宋体" panose="02010600030101010101" pitchFamily="2" charset="-122"/>
              </a:rPr>
              <a:t>	输入： 一个</a:t>
            </a:r>
            <a:r>
              <a:rPr lang="en-US" altLang="zh-CN" b="1" dirty="0">
                <a:ea typeface="宋体" panose="02010600030101010101" pitchFamily="2" charset="-122"/>
              </a:rPr>
              <a:t>NFA N，</a:t>
            </a:r>
            <a:r>
              <a:rPr lang="zh-CN" altLang="en-US" b="1" dirty="0">
                <a:ea typeface="宋体" panose="02010600030101010101" pitchFamily="2" charset="-122"/>
              </a:rPr>
              <a:t>开始符号</a:t>
            </a:r>
            <a:r>
              <a:rPr lang="en-US" altLang="zh-CN" b="1" dirty="0">
                <a:ea typeface="宋体" panose="02010600030101010101" pitchFamily="2" charset="-122"/>
              </a:rPr>
              <a:t>s</a:t>
            </a:r>
            <a:r>
              <a:rPr lang="en-US" altLang="zh-CN" b="1" baseline="-25000" dirty="0">
                <a:ea typeface="宋体" panose="02010600030101010101" pitchFamily="2" charset="-122"/>
              </a:rPr>
              <a:t>0</a:t>
            </a:r>
            <a:r>
              <a:rPr lang="zh-CN" altLang="en-US" b="1" dirty="0">
                <a:ea typeface="宋体" panose="02010600030101010101" pitchFamily="2" charset="-122"/>
              </a:rPr>
              <a:t> </a:t>
            </a:r>
            <a:endParaRPr lang="zh-CN" altLang="en-US" b="1" dirty="0">
              <a:ea typeface="宋体" panose="02010600030101010101" pitchFamily="2" charset="-122"/>
            </a:endParaRPr>
          </a:p>
          <a:p>
            <a:pPr marL="1333500" lvl="2" indent="-419100">
              <a:lnSpc>
                <a:spcPct val="90000"/>
              </a:lnSpc>
              <a:buFont typeface="Wingdings" panose="05000000000000000000" pitchFamily="2" charset="2"/>
              <a:buNone/>
            </a:pPr>
            <a:r>
              <a:rPr lang="en-US" altLang="zh-CN" b="1" dirty="0">
                <a:ea typeface="宋体" panose="02010600030101010101" pitchFamily="2" charset="-122"/>
              </a:rPr>
              <a:t>	</a:t>
            </a:r>
            <a:r>
              <a:rPr lang="zh-CN" altLang="en-US" b="1" dirty="0">
                <a:ea typeface="宋体" panose="02010600030101010101" pitchFamily="2" charset="-122"/>
              </a:rPr>
              <a:t>输出：一个接受同样语言的</a:t>
            </a:r>
            <a:r>
              <a:rPr lang="en-US" altLang="zh-CN" b="1" dirty="0">
                <a:ea typeface="宋体" panose="02010600030101010101" pitchFamily="2" charset="-122"/>
              </a:rPr>
              <a:t>DFA D,</a:t>
            </a:r>
            <a:r>
              <a:rPr lang="zh-CN" altLang="en-US" b="1" dirty="0">
                <a:ea typeface="宋体" panose="02010600030101010101" pitchFamily="2" charset="-122"/>
              </a:rPr>
              <a:t>状态集合</a:t>
            </a:r>
            <a:r>
              <a:rPr lang="en-US" altLang="zh-CN" b="1" dirty="0">
                <a:ea typeface="宋体" panose="02010600030101010101" pitchFamily="2" charset="-122"/>
              </a:rPr>
              <a:t>Dstates,	     </a:t>
            </a:r>
            <a:r>
              <a:rPr lang="zh-CN" altLang="en-US" b="1" dirty="0">
                <a:ea typeface="宋体" panose="02010600030101010101" pitchFamily="2" charset="-122"/>
              </a:rPr>
              <a:t>转换表</a:t>
            </a:r>
            <a:r>
              <a:rPr lang="en-US" altLang="zh-CN" b="1" dirty="0">
                <a:ea typeface="宋体" panose="02010600030101010101" pitchFamily="2" charset="-122"/>
              </a:rPr>
              <a:t>Dtran</a:t>
            </a:r>
            <a:endParaRPr lang="en-US" altLang="zh-CN" b="1" dirty="0">
              <a:ea typeface="宋体" panose="02010600030101010101" pitchFamily="2" charset="-122"/>
            </a:endParaRPr>
          </a:p>
          <a:p>
            <a:pPr marL="1333500" lvl="2" indent="-419100">
              <a:lnSpc>
                <a:spcPct val="90000"/>
              </a:lnSpc>
              <a:buFont typeface="Wingdings" panose="05000000000000000000" pitchFamily="2" charset="2"/>
              <a:buNone/>
            </a:pPr>
            <a:r>
              <a:rPr lang="en-US" altLang="zh-CN" b="1" dirty="0">
                <a:ea typeface="宋体" panose="02010600030101010101" pitchFamily="2" charset="-122"/>
              </a:rPr>
              <a:t>	</a:t>
            </a:r>
            <a:r>
              <a:rPr lang="zh-CN" altLang="en-US" b="1" dirty="0">
                <a:ea typeface="宋体" panose="02010600030101010101" pitchFamily="2" charset="-122"/>
              </a:rPr>
              <a:t>算法：</a:t>
            </a:r>
            <a:endParaRPr lang="zh-CN" altLang="en-US"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zh-CN" altLang="en-US" b="1" dirty="0">
                <a:ea typeface="宋体" panose="02010600030101010101" pitchFamily="2" charset="-122"/>
              </a:rPr>
              <a:t>		 </a:t>
            </a:r>
            <a:r>
              <a:rPr lang="en-US" altLang="zh-CN" b="1" dirty="0">
                <a:ea typeface="宋体" panose="02010600030101010101" pitchFamily="2" charset="-122"/>
              </a:rPr>
              <a:t>ε</a:t>
            </a:r>
            <a:r>
              <a:rPr lang="zh-CN" altLang="en-US" b="1" dirty="0">
                <a:ea typeface="宋体" panose="02010600030101010101" pitchFamily="2" charset="-122"/>
              </a:rPr>
              <a:t>闭包(</a:t>
            </a:r>
            <a:r>
              <a:rPr lang="en-US" altLang="zh-CN" b="1" dirty="0">
                <a:ea typeface="宋体" panose="02010600030101010101" pitchFamily="2" charset="-122"/>
              </a:rPr>
              <a:t>s</a:t>
            </a:r>
            <a:r>
              <a:rPr lang="en-US" altLang="zh-CN" b="1" baseline="-25000" dirty="0">
                <a:ea typeface="宋体" panose="02010600030101010101" pitchFamily="2" charset="-122"/>
              </a:rPr>
              <a:t>0</a:t>
            </a:r>
            <a:r>
              <a:rPr lang="en-US" altLang="zh-CN" b="1" dirty="0">
                <a:ea typeface="宋体" panose="02010600030101010101" pitchFamily="2" charset="-122"/>
              </a:rPr>
              <a:t>)</a:t>
            </a:r>
            <a:r>
              <a:rPr lang="zh-CN" altLang="en-US" b="1" dirty="0">
                <a:ea typeface="宋体" panose="02010600030101010101" pitchFamily="2" charset="-122"/>
              </a:rPr>
              <a:t>是</a:t>
            </a:r>
            <a:r>
              <a:rPr lang="en-US" altLang="zh-CN" b="1" dirty="0">
                <a:ea typeface="宋体" panose="02010600030101010101" pitchFamily="2" charset="-122"/>
              </a:rPr>
              <a:t>Dstates</a:t>
            </a:r>
            <a:r>
              <a:rPr lang="zh-CN" altLang="en-US" b="1" dirty="0">
                <a:ea typeface="宋体" panose="02010600030101010101" pitchFamily="2" charset="-122"/>
              </a:rPr>
              <a:t>仅有的状态，且尚未标记</a:t>
            </a:r>
            <a:endParaRPr lang="zh-CN" altLang="en-US"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zh-CN" altLang="en-US" b="1" dirty="0">
                <a:ea typeface="宋体" panose="02010600030101010101" pitchFamily="2" charset="-122"/>
              </a:rPr>
              <a:t>		</a:t>
            </a:r>
            <a:r>
              <a:rPr lang="en-US" altLang="zh-CN" b="1" dirty="0">
                <a:ea typeface="宋体" panose="02010600030101010101" pitchFamily="2" charset="-122"/>
              </a:rPr>
              <a:t>while Dstates</a:t>
            </a:r>
            <a:r>
              <a:rPr lang="zh-CN" altLang="en-US" b="1" dirty="0">
                <a:ea typeface="宋体" panose="02010600030101010101" pitchFamily="2" charset="-122"/>
              </a:rPr>
              <a:t>有尚未标记的状态</a:t>
            </a:r>
            <a:r>
              <a:rPr lang="en-US" altLang="zh-CN" b="1" dirty="0">
                <a:ea typeface="宋体" panose="02010600030101010101" pitchFamily="2" charset="-122"/>
              </a:rPr>
              <a:t>T do begin</a:t>
            </a:r>
            <a:endParaRPr lang="en-US" altLang="zh-CN"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en-US" altLang="zh-CN" b="1" dirty="0">
                <a:ea typeface="宋体" panose="02010600030101010101" pitchFamily="2" charset="-122"/>
              </a:rPr>
              <a:t>		    </a:t>
            </a:r>
            <a:r>
              <a:rPr lang="zh-CN" altLang="en-US" b="1" dirty="0">
                <a:ea typeface="宋体" panose="02010600030101010101" pitchFamily="2" charset="-122"/>
              </a:rPr>
              <a:t>标记</a:t>
            </a:r>
            <a:r>
              <a:rPr lang="en-US" altLang="zh-CN" b="1" dirty="0">
                <a:ea typeface="宋体" panose="02010600030101010101" pitchFamily="2" charset="-122"/>
              </a:rPr>
              <a:t>T</a:t>
            </a:r>
            <a:endParaRPr lang="en-US" altLang="zh-CN"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en-US" altLang="zh-CN" b="1" dirty="0">
                <a:ea typeface="宋体" panose="02010600030101010101" pitchFamily="2" charset="-122"/>
              </a:rPr>
              <a:t>		    for </a:t>
            </a:r>
            <a:r>
              <a:rPr lang="zh-CN" altLang="en-US" b="1" dirty="0">
                <a:ea typeface="宋体" panose="02010600030101010101" pitchFamily="2" charset="-122"/>
              </a:rPr>
              <a:t>每个输入符号</a:t>
            </a:r>
            <a:r>
              <a:rPr lang="en-US" altLang="zh-CN" b="1" dirty="0">
                <a:ea typeface="宋体" panose="02010600030101010101" pitchFamily="2" charset="-122"/>
              </a:rPr>
              <a:t>a do begin</a:t>
            </a:r>
            <a:endParaRPr lang="en-US" altLang="zh-CN"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en-US" altLang="zh-CN" b="1" dirty="0">
                <a:ea typeface="宋体" panose="02010600030101010101" pitchFamily="2" charset="-122"/>
              </a:rPr>
              <a:t>		        U := ε</a:t>
            </a:r>
            <a:r>
              <a:rPr lang="zh-CN" altLang="en-US" b="1" dirty="0">
                <a:ea typeface="宋体" panose="02010600030101010101" pitchFamily="2" charset="-122"/>
              </a:rPr>
              <a:t>闭包(</a:t>
            </a:r>
            <a:r>
              <a:rPr lang="en-US" altLang="zh-CN" b="1" dirty="0">
                <a:ea typeface="宋体" panose="02010600030101010101" pitchFamily="2" charset="-122"/>
              </a:rPr>
              <a:t>δ(T , a))</a:t>
            </a:r>
            <a:endParaRPr lang="en-US" altLang="zh-CN"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en-US" altLang="zh-CN" b="1" dirty="0">
                <a:ea typeface="宋体" panose="02010600030101010101" pitchFamily="2" charset="-122"/>
              </a:rPr>
              <a:t>		        if U </a:t>
            </a:r>
            <a:r>
              <a:rPr lang="zh-CN" altLang="en-US" b="1" dirty="0">
                <a:ea typeface="宋体" panose="02010600030101010101" pitchFamily="2" charset="-122"/>
              </a:rPr>
              <a:t>不在</a:t>
            </a:r>
            <a:r>
              <a:rPr lang="en-US" altLang="zh-CN" b="1" dirty="0">
                <a:ea typeface="宋体" panose="02010600030101010101" pitchFamily="2" charset="-122"/>
              </a:rPr>
              <a:t>Dstates</a:t>
            </a:r>
            <a:r>
              <a:rPr lang="zh-CN" altLang="en-US" b="1" dirty="0">
                <a:ea typeface="宋体" panose="02010600030101010101" pitchFamily="2" charset="-122"/>
              </a:rPr>
              <a:t>中 </a:t>
            </a:r>
            <a:r>
              <a:rPr lang="en-US" altLang="zh-CN" b="1" dirty="0">
                <a:ea typeface="宋体" panose="02010600030101010101" pitchFamily="2" charset="-122"/>
              </a:rPr>
              <a:t>then</a:t>
            </a:r>
            <a:endParaRPr lang="en-US" altLang="zh-CN"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en-US" altLang="zh-CN" b="1" dirty="0">
                <a:ea typeface="宋体" panose="02010600030101010101" pitchFamily="2" charset="-122"/>
              </a:rPr>
              <a:t>		            </a:t>
            </a:r>
            <a:r>
              <a:rPr lang="zh-CN" altLang="en-US" b="1" dirty="0">
                <a:ea typeface="宋体" panose="02010600030101010101" pitchFamily="2" charset="-122"/>
              </a:rPr>
              <a:t>把</a:t>
            </a:r>
            <a:r>
              <a:rPr lang="en-US" altLang="zh-CN" b="1" dirty="0">
                <a:ea typeface="宋体" panose="02010600030101010101" pitchFamily="2" charset="-122"/>
              </a:rPr>
              <a:t>U</a:t>
            </a:r>
            <a:r>
              <a:rPr lang="zh-CN" altLang="en-US" b="1" dirty="0">
                <a:ea typeface="宋体" panose="02010600030101010101" pitchFamily="2" charset="-122"/>
              </a:rPr>
              <a:t>作为尚未标记的状态加入</a:t>
            </a:r>
            <a:r>
              <a:rPr lang="en-US" altLang="zh-CN" b="1" dirty="0">
                <a:ea typeface="宋体" panose="02010600030101010101" pitchFamily="2" charset="-122"/>
              </a:rPr>
              <a:t>Dstates</a:t>
            </a:r>
            <a:r>
              <a:rPr lang="zh-CN" altLang="en-US" b="1" dirty="0">
                <a:ea typeface="宋体" panose="02010600030101010101" pitchFamily="2" charset="-122"/>
              </a:rPr>
              <a:t>中</a:t>
            </a:r>
            <a:endParaRPr lang="zh-CN" altLang="en-US"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zh-CN" altLang="en-US" b="1" dirty="0">
                <a:ea typeface="宋体" panose="02010600030101010101" pitchFamily="2" charset="-122"/>
              </a:rPr>
              <a:t>		        </a:t>
            </a:r>
            <a:r>
              <a:rPr lang="en-US" altLang="zh-CN" b="1" dirty="0">
                <a:ea typeface="宋体" panose="02010600030101010101" pitchFamily="2" charset="-122"/>
              </a:rPr>
              <a:t>endif</a:t>
            </a:r>
            <a:endParaRPr lang="en-US" altLang="zh-CN"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en-US" altLang="zh-CN" b="1" dirty="0">
                <a:ea typeface="宋体" panose="02010600030101010101" pitchFamily="2" charset="-122"/>
              </a:rPr>
              <a:t>		        Dtran[ T , a ] := U</a:t>
            </a:r>
            <a:endParaRPr lang="en-US" altLang="zh-CN"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en-US" altLang="zh-CN" b="1" dirty="0">
                <a:ea typeface="宋体" panose="02010600030101010101" pitchFamily="2" charset="-122"/>
              </a:rPr>
              <a:t>		    endfor</a:t>
            </a:r>
            <a:endParaRPr lang="en-US" altLang="zh-CN" b="1" dirty="0">
              <a:ea typeface="宋体" panose="02010600030101010101" pitchFamily="2" charset="-122"/>
            </a:endParaRPr>
          </a:p>
          <a:p>
            <a:pPr marL="1333500" lvl="2" indent="-419100">
              <a:lnSpc>
                <a:spcPct val="90000"/>
              </a:lnSpc>
              <a:spcBef>
                <a:spcPct val="0"/>
              </a:spcBef>
              <a:buFont typeface="Wingdings" panose="05000000000000000000" pitchFamily="2" charset="2"/>
              <a:buNone/>
            </a:pPr>
            <a:r>
              <a:rPr lang="en-US" altLang="zh-CN" b="1" dirty="0">
                <a:ea typeface="宋体" panose="02010600030101010101" pitchFamily="2" charset="-122"/>
              </a:rPr>
              <a:t>		endwhile</a:t>
            </a:r>
            <a:endParaRPr lang="en-US" altLang="zh-CN" b="1" dirty="0">
              <a:ea typeface="宋体" panose="02010600030101010101" pitchFamily="2" charset="-122"/>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有穷状态自动机（18）</a:t>
            </a:r>
            <a:endParaRPr lang="zh-CN" altLang="en-US" dirty="0">
              <a:latin typeface="宋体" panose="02010600030101010101" pitchFamily="2" charset="-122"/>
              <a:ea typeface="宋体" panose="02010600030101010101" pitchFamily="2" charset="-122"/>
            </a:endParaRPr>
          </a:p>
        </p:txBody>
      </p:sp>
      <p:sp>
        <p:nvSpPr>
          <p:cNvPr id="119811" name="Rectangle 3"/>
          <p:cNvSpPr>
            <a:spLocks noGrp="1"/>
          </p:cNvSpPr>
          <p:nvPr>
            <p:ph idx="1"/>
          </p:nvPr>
        </p:nvSpPr>
        <p:spPr>
          <a:xfrm>
            <a:off x="990600" y="1371600"/>
            <a:ext cx="7391400" cy="4953000"/>
          </a:xfrm>
        </p:spPr>
        <p:txBody>
          <a:bodyPr vert="horz" wrap="square" lIns="92075" tIns="46038" rIns="92075" bIns="46038" anchor="t" anchorCtr="0"/>
          <a:p>
            <a:pPr marL="1314450" lvl="2" indent="-457200">
              <a:lnSpc>
                <a:spcPct val="90000"/>
              </a:lnSpc>
            </a:pPr>
            <a:r>
              <a:rPr lang="en-US" altLang="zh-CN" sz="2000" b="1" dirty="0">
                <a:latin typeface="宋体" panose="02010600030101010101" pitchFamily="2" charset="-122"/>
                <a:ea typeface="宋体" panose="02010600030101010101" pitchFamily="2" charset="-122"/>
              </a:rPr>
              <a:t>D</a:t>
            </a:r>
            <a:r>
              <a:rPr lang="zh-CN" altLang="en-US" sz="2000" b="1" dirty="0">
                <a:latin typeface="宋体" panose="02010600030101010101" pitchFamily="2" charset="-122"/>
                <a:ea typeface="宋体" panose="02010600030101010101" pitchFamily="2" charset="-122"/>
              </a:rPr>
              <a:t>的转换表</a:t>
            </a:r>
            <a:r>
              <a:rPr lang="en-US" altLang="zh-CN" sz="2000" b="1" dirty="0">
                <a:latin typeface="宋体" panose="02010600030101010101" pitchFamily="2" charset="-122"/>
                <a:ea typeface="宋体" panose="02010600030101010101" pitchFamily="2" charset="-122"/>
              </a:rPr>
              <a:t>Dtran</a:t>
            </a:r>
            <a:r>
              <a:rPr lang="zh-CN" altLang="en-US" sz="2000" b="1" dirty="0">
                <a:latin typeface="宋体" panose="02010600030101010101" pitchFamily="2" charset="-122"/>
                <a:ea typeface="宋体" panose="02010600030101010101" pitchFamily="2" charset="-122"/>
              </a:rPr>
              <a:t>中的每个状态都是</a:t>
            </a:r>
            <a:r>
              <a:rPr lang="en-US" altLang="zh-CN" sz="2000" b="1" dirty="0">
                <a:latin typeface="宋体" panose="02010600030101010101" pitchFamily="2" charset="-122"/>
                <a:ea typeface="宋体" panose="02010600030101010101" pitchFamily="2" charset="-122"/>
              </a:rPr>
              <a:t>N</a:t>
            </a:r>
            <a:r>
              <a:rPr lang="zh-CN" altLang="en-US" sz="2000" b="1" dirty="0">
                <a:latin typeface="宋体" panose="02010600030101010101" pitchFamily="2" charset="-122"/>
                <a:ea typeface="宋体" panose="02010600030101010101" pitchFamily="2" charset="-122"/>
              </a:rPr>
              <a:t>的状态的集合，它是</a:t>
            </a:r>
            <a:r>
              <a:rPr lang="en-US" altLang="zh-CN" sz="2000" b="1" dirty="0">
                <a:latin typeface="宋体" panose="02010600030101010101" pitchFamily="2" charset="-122"/>
                <a:ea typeface="宋体" panose="02010600030101010101" pitchFamily="2" charset="-122"/>
              </a:rPr>
              <a:t>N</a:t>
            </a:r>
            <a:r>
              <a:rPr lang="zh-CN" altLang="en-US" sz="2000" b="1" dirty="0">
                <a:latin typeface="宋体" panose="02010600030101010101" pitchFamily="2" charset="-122"/>
                <a:ea typeface="宋体" panose="02010600030101010101" pitchFamily="2" charset="-122"/>
              </a:rPr>
              <a:t>读了某个输入符号序列后所能到达的全部状态，包括所有</a:t>
            </a:r>
            <a:r>
              <a:rPr lang="en-US" altLang="zh-CN" sz="2000" b="1" dirty="0">
                <a:latin typeface="宋体" panose="02010600030101010101" pitchFamily="2" charset="-122"/>
                <a:ea typeface="宋体" panose="02010600030101010101" pitchFamily="2" charset="-122"/>
              </a:rPr>
              <a:t>ε</a:t>
            </a:r>
            <a:r>
              <a:rPr lang="zh-CN" altLang="en-US" sz="2000" b="1" dirty="0">
                <a:latin typeface="宋体" panose="02010600030101010101" pitchFamily="2" charset="-122"/>
                <a:ea typeface="宋体" panose="02010600030101010101" pitchFamily="2" charset="-122"/>
              </a:rPr>
              <a:t>的转换</a:t>
            </a:r>
            <a:endParaRPr lang="zh-CN" altLang="en-US" sz="2000" b="1" dirty="0">
              <a:latin typeface="宋体" panose="02010600030101010101" pitchFamily="2" charset="-122"/>
              <a:ea typeface="宋体" panose="02010600030101010101" pitchFamily="2" charset="-122"/>
            </a:endParaRPr>
          </a:p>
          <a:p>
            <a:pPr marL="1314450" lvl="2" indent="-457200">
              <a:lnSpc>
                <a:spcPct val="90000"/>
              </a:lnSpc>
            </a:pPr>
            <a:r>
              <a:rPr lang="en-US" altLang="zh-CN" sz="2000" b="1" dirty="0">
                <a:latin typeface="宋体" panose="02010600030101010101" pitchFamily="2" charset="-122"/>
                <a:ea typeface="宋体" panose="02010600030101010101" pitchFamily="2" charset="-122"/>
              </a:rPr>
              <a:t>D</a:t>
            </a:r>
            <a:r>
              <a:rPr lang="zh-CN" altLang="en-US" sz="2000" b="1" dirty="0">
                <a:latin typeface="宋体" panose="02010600030101010101" pitchFamily="2" charset="-122"/>
                <a:ea typeface="宋体" panose="02010600030101010101" pitchFamily="2" charset="-122"/>
              </a:rPr>
              <a:t>并行地模拟</a:t>
            </a:r>
            <a:r>
              <a:rPr lang="en-US" altLang="zh-CN" sz="2000" b="1" dirty="0">
                <a:latin typeface="宋体" panose="02010600030101010101" pitchFamily="2" charset="-122"/>
                <a:ea typeface="宋体" panose="02010600030101010101" pitchFamily="2" charset="-122"/>
              </a:rPr>
              <a:t>N</a:t>
            </a:r>
            <a:r>
              <a:rPr lang="zh-CN" altLang="en-US" sz="2000" b="1" dirty="0">
                <a:latin typeface="宋体" panose="02010600030101010101" pitchFamily="2" charset="-122"/>
                <a:ea typeface="宋体" panose="02010600030101010101" pitchFamily="2" charset="-122"/>
              </a:rPr>
              <a:t>面对输入串的所有可能的移动</a:t>
            </a:r>
            <a:endParaRPr lang="zh-CN" altLang="en-US" sz="2000" b="1" dirty="0">
              <a:latin typeface="宋体" panose="02010600030101010101" pitchFamily="2" charset="-122"/>
              <a:ea typeface="宋体" panose="02010600030101010101" pitchFamily="2" charset="-122"/>
            </a:endParaRPr>
          </a:p>
          <a:p>
            <a:pPr marL="1314450" lvl="2" indent="-457200">
              <a:lnSpc>
                <a:spcPct val="90000"/>
              </a:lnSpc>
            </a:pPr>
            <a:r>
              <a:rPr lang="en-US" altLang="zh-CN" sz="2000" b="1" dirty="0">
                <a:latin typeface="宋体" panose="02010600030101010101" pitchFamily="2" charset="-122"/>
                <a:ea typeface="宋体" panose="02010600030101010101" pitchFamily="2" charset="-122"/>
              </a:rPr>
              <a:t>D</a:t>
            </a:r>
            <a:r>
              <a:rPr lang="zh-CN" altLang="en-US" sz="2000" b="1" dirty="0">
                <a:latin typeface="宋体" panose="02010600030101010101" pitchFamily="2" charset="-122"/>
                <a:ea typeface="宋体" panose="02010600030101010101" pitchFamily="2" charset="-122"/>
              </a:rPr>
              <a:t>的开始状态： </a:t>
            </a:r>
            <a:r>
              <a:rPr lang="en-US" altLang="zh-CN" sz="2000" b="1" dirty="0">
                <a:latin typeface="宋体" panose="02010600030101010101" pitchFamily="2" charset="-122"/>
                <a:ea typeface="宋体" panose="02010600030101010101" pitchFamily="2" charset="-122"/>
              </a:rPr>
              <a:t>ε</a:t>
            </a:r>
            <a:r>
              <a:rPr lang="zh-CN" altLang="en-US" sz="2000" b="1" dirty="0">
                <a:latin typeface="宋体" panose="02010600030101010101" pitchFamily="2" charset="-122"/>
                <a:ea typeface="宋体" panose="02010600030101010101" pitchFamily="2" charset="-122"/>
              </a:rPr>
              <a:t>闭包(</a:t>
            </a:r>
            <a:r>
              <a:rPr lang="en-US" altLang="zh-CN" sz="2000" b="1" dirty="0">
                <a:latin typeface="宋体" panose="02010600030101010101" pitchFamily="2" charset="-122"/>
                <a:ea typeface="宋体" panose="02010600030101010101" pitchFamily="2" charset="-122"/>
              </a:rPr>
              <a:t>s0)</a:t>
            </a:r>
            <a:r>
              <a:rPr lang="zh-CN" altLang="en-US" sz="2000" b="1" dirty="0">
                <a:latin typeface="宋体" panose="02010600030101010101" pitchFamily="2" charset="-122"/>
                <a:ea typeface="宋体" panose="02010600030101010101" pitchFamily="2" charset="-122"/>
              </a:rPr>
              <a:t>对应的</a:t>
            </a:r>
            <a:r>
              <a:rPr lang="en-US" altLang="zh-CN" sz="2000" b="1" dirty="0">
                <a:latin typeface="宋体" panose="02010600030101010101" pitchFamily="2" charset="-122"/>
                <a:ea typeface="宋体" panose="02010600030101010101" pitchFamily="2" charset="-122"/>
              </a:rPr>
              <a:t>D</a:t>
            </a:r>
            <a:r>
              <a:rPr lang="zh-CN" altLang="en-US" sz="2000" b="1" dirty="0">
                <a:latin typeface="宋体" panose="02010600030101010101" pitchFamily="2" charset="-122"/>
                <a:ea typeface="宋体" panose="02010600030101010101" pitchFamily="2" charset="-122"/>
              </a:rPr>
              <a:t>的状态</a:t>
            </a:r>
            <a:endParaRPr lang="zh-CN" altLang="en-US" sz="2000" b="1" dirty="0">
              <a:latin typeface="宋体" panose="02010600030101010101" pitchFamily="2" charset="-122"/>
              <a:ea typeface="宋体" panose="02010600030101010101" pitchFamily="2" charset="-122"/>
            </a:endParaRPr>
          </a:p>
          <a:p>
            <a:pPr marL="1314450" lvl="2" indent="-457200">
              <a:lnSpc>
                <a:spcPct val="90000"/>
              </a:lnSpc>
            </a:pPr>
            <a:r>
              <a:rPr lang="en-US" altLang="zh-CN" sz="2000" b="1" dirty="0">
                <a:latin typeface="宋体" panose="02010600030101010101" pitchFamily="2" charset="-122"/>
                <a:ea typeface="宋体" panose="02010600030101010101" pitchFamily="2" charset="-122"/>
              </a:rPr>
              <a:t>D</a:t>
            </a:r>
            <a:r>
              <a:rPr lang="zh-CN" altLang="en-US" sz="2000" b="1" dirty="0">
                <a:latin typeface="宋体" panose="02010600030101010101" pitchFamily="2" charset="-122"/>
                <a:ea typeface="宋体" panose="02010600030101010101" pitchFamily="2" charset="-122"/>
              </a:rPr>
              <a:t>的接受状态的确定：如果</a:t>
            </a:r>
            <a:r>
              <a:rPr lang="en-US" altLang="zh-CN" sz="2000" b="1" dirty="0">
                <a:latin typeface="宋体" panose="02010600030101010101" pitchFamily="2" charset="-122"/>
                <a:ea typeface="宋体" panose="02010600030101010101" pitchFamily="2" charset="-122"/>
              </a:rPr>
              <a:t>D</a:t>
            </a:r>
            <a:r>
              <a:rPr lang="zh-CN" altLang="en-US" sz="2000" b="1" dirty="0">
                <a:latin typeface="宋体" panose="02010600030101010101" pitchFamily="2" charset="-122"/>
                <a:ea typeface="宋体" panose="02010600030101010101" pitchFamily="2" charset="-122"/>
              </a:rPr>
              <a:t>的状态是至少包含一个接受状态的</a:t>
            </a:r>
            <a:r>
              <a:rPr lang="en-US" altLang="zh-CN" sz="2000" b="1" dirty="0">
                <a:latin typeface="宋体" panose="02010600030101010101" pitchFamily="2" charset="-122"/>
                <a:ea typeface="宋体" panose="02010600030101010101" pitchFamily="2" charset="-122"/>
              </a:rPr>
              <a:t>N</a:t>
            </a:r>
            <a:r>
              <a:rPr lang="zh-CN" altLang="en-US" sz="2000" b="1" dirty="0">
                <a:latin typeface="宋体" panose="02010600030101010101" pitchFamily="2" charset="-122"/>
                <a:ea typeface="宋体" panose="02010600030101010101" pitchFamily="2" charset="-122"/>
              </a:rPr>
              <a:t>的状态集，则它是</a:t>
            </a:r>
            <a:r>
              <a:rPr lang="en-US" altLang="zh-CN" sz="2000" b="1" dirty="0">
                <a:latin typeface="宋体" panose="02010600030101010101" pitchFamily="2" charset="-122"/>
                <a:ea typeface="宋体" panose="02010600030101010101" pitchFamily="2" charset="-122"/>
              </a:rPr>
              <a:t>D</a:t>
            </a:r>
            <a:r>
              <a:rPr lang="zh-CN" altLang="en-US" sz="2000" b="1" dirty="0">
                <a:latin typeface="宋体" panose="02010600030101010101" pitchFamily="2" charset="-122"/>
                <a:ea typeface="宋体" panose="02010600030101010101" pitchFamily="2" charset="-122"/>
              </a:rPr>
              <a:t>的一个接受状态</a:t>
            </a:r>
            <a:endParaRPr lang="zh-CN" altLang="en-US" sz="2000" b="1" dirty="0">
              <a:latin typeface="宋体" panose="02010600030101010101" pitchFamily="2" charset="-122"/>
              <a:ea typeface="宋体" panose="02010600030101010101" pitchFamily="2" charset="-122"/>
            </a:endParaRPr>
          </a:p>
          <a:p>
            <a:r>
              <a:rPr lang="en-US" altLang="zh-CN" sz="2400" b="1" dirty="0">
                <a:ea typeface="宋体" panose="02010600030101010101" pitchFamily="2" charset="-122"/>
              </a:rPr>
              <a:t>NFA</a:t>
            </a:r>
            <a:r>
              <a:rPr lang="zh-CN" altLang="en-US" sz="2400" b="1" dirty="0">
                <a:ea typeface="宋体" panose="02010600030101010101" pitchFamily="2" charset="-122"/>
              </a:rPr>
              <a:t>与</a:t>
            </a:r>
            <a:r>
              <a:rPr lang="en-US" altLang="zh-CN" sz="2400" b="1" dirty="0">
                <a:ea typeface="宋体" panose="02010600030101010101" pitchFamily="2" charset="-122"/>
              </a:rPr>
              <a:t>DFA</a:t>
            </a:r>
            <a:r>
              <a:rPr lang="zh-CN" altLang="en-US" sz="2400" b="1" dirty="0">
                <a:ea typeface="宋体" panose="02010600030101010101" pitchFamily="2" charset="-122"/>
              </a:rPr>
              <a:t>的等价性：</a:t>
            </a:r>
            <a:endParaRPr lang="zh-CN" altLang="en-US" sz="2400" b="1" dirty="0">
              <a:ea typeface="宋体" panose="02010600030101010101" pitchFamily="2" charset="-122"/>
            </a:endParaRPr>
          </a:p>
          <a:p>
            <a:pPr marL="914400" lvl="1" indent="-457200"/>
            <a:r>
              <a:rPr lang="zh-CN" altLang="en-US" sz="2200" b="1" dirty="0">
                <a:ea typeface="宋体" panose="02010600030101010101" pitchFamily="2" charset="-122"/>
              </a:rPr>
              <a:t>对于任意一个</a:t>
            </a:r>
            <a:r>
              <a:rPr lang="en-US" altLang="zh-CN" sz="2200" b="1" dirty="0">
                <a:ea typeface="宋体" panose="02010600030101010101" pitchFamily="2" charset="-122"/>
              </a:rPr>
              <a:t>DFA，</a:t>
            </a:r>
            <a:r>
              <a:rPr lang="zh-CN" altLang="en-US" sz="2200" b="1" dirty="0">
                <a:ea typeface="宋体" panose="02010600030101010101" pitchFamily="2" charset="-122"/>
              </a:rPr>
              <a:t>由于它本身是一个特殊的</a:t>
            </a:r>
            <a:r>
              <a:rPr lang="en-US" altLang="zh-CN" sz="2200" b="1" dirty="0">
                <a:ea typeface="宋体" panose="02010600030101010101" pitchFamily="2" charset="-122"/>
              </a:rPr>
              <a:t>NFA，</a:t>
            </a:r>
            <a:r>
              <a:rPr lang="zh-CN" altLang="en-US" sz="2200" b="1" dirty="0">
                <a:ea typeface="宋体" panose="02010600030101010101" pitchFamily="2" charset="-122"/>
              </a:rPr>
              <a:t>所以必然存在一个</a:t>
            </a:r>
            <a:r>
              <a:rPr lang="en-US" altLang="zh-CN" sz="2200" b="1" dirty="0">
                <a:ea typeface="宋体" panose="02010600030101010101" pitchFamily="2" charset="-122"/>
              </a:rPr>
              <a:t>NFA，</a:t>
            </a:r>
            <a:r>
              <a:rPr lang="zh-CN" altLang="en-US" sz="2200" b="1" dirty="0">
                <a:ea typeface="宋体" panose="02010600030101010101" pitchFamily="2" charset="-122"/>
              </a:rPr>
              <a:t>它接受的语言是这个</a:t>
            </a:r>
            <a:r>
              <a:rPr lang="en-US" altLang="zh-CN" sz="2200" b="1" dirty="0">
                <a:ea typeface="宋体" panose="02010600030101010101" pitchFamily="2" charset="-122"/>
              </a:rPr>
              <a:t>DFA</a:t>
            </a:r>
            <a:r>
              <a:rPr lang="zh-CN" altLang="en-US" sz="2200" b="1" dirty="0">
                <a:ea typeface="宋体" panose="02010600030101010101" pitchFamily="2" charset="-122"/>
              </a:rPr>
              <a:t>接受的语言</a:t>
            </a:r>
            <a:endParaRPr lang="zh-CN" altLang="en-US" sz="2200" b="1" dirty="0">
              <a:ea typeface="宋体" panose="02010600030101010101" pitchFamily="2" charset="-122"/>
            </a:endParaRPr>
          </a:p>
          <a:p>
            <a:pPr marL="914400" lvl="1" indent="-457200"/>
            <a:r>
              <a:rPr lang="zh-CN" altLang="en-US" sz="2200" b="1" dirty="0">
                <a:ea typeface="宋体" panose="02010600030101010101" pitchFamily="2" charset="-122"/>
              </a:rPr>
              <a:t>对于任意一个</a:t>
            </a:r>
            <a:r>
              <a:rPr lang="en-US" altLang="zh-CN" sz="2200" b="1" dirty="0">
                <a:ea typeface="宋体" panose="02010600030101010101" pitchFamily="2" charset="-122"/>
              </a:rPr>
              <a:t>NFA，</a:t>
            </a:r>
            <a:r>
              <a:rPr lang="zh-CN" altLang="en-US" sz="2200" b="1" dirty="0">
                <a:ea typeface="宋体" panose="02010600030101010101" pitchFamily="2" charset="-122"/>
              </a:rPr>
              <a:t>按照上述子集构造法构造一个</a:t>
            </a:r>
            <a:r>
              <a:rPr lang="en-US" altLang="zh-CN" sz="2200" b="1" dirty="0">
                <a:ea typeface="宋体" panose="02010600030101010101" pitchFamily="2" charset="-122"/>
              </a:rPr>
              <a:t>DFA，</a:t>
            </a:r>
            <a:r>
              <a:rPr lang="zh-CN" altLang="en-US" sz="2200" b="1" dirty="0">
                <a:ea typeface="宋体" panose="02010600030101010101" pitchFamily="2" charset="-122"/>
              </a:rPr>
              <a:t>使得</a:t>
            </a:r>
            <a:r>
              <a:rPr lang="en-US" altLang="zh-CN" sz="2200" b="1" dirty="0">
                <a:ea typeface="宋体" panose="02010600030101010101" pitchFamily="2" charset="-122"/>
              </a:rPr>
              <a:t>DFA</a:t>
            </a:r>
            <a:r>
              <a:rPr lang="zh-CN" altLang="en-US" sz="2200" b="1" dirty="0">
                <a:ea typeface="宋体" panose="02010600030101010101" pitchFamily="2" charset="-122"/>
              </a:rPr>
              <a:t>接受的语言是</a:t>
            </a:r>
            <a:r>
              <a:rPr lang="en-US" altLang="zh-CN" sz="2200" b="1" dirty="0">
                <a:ea typeface="宋体" panose="02010600030101010101" pitchFamily="2" charset="-122"/>
              </a:rPr>
              <a:t>NFA</a:t>
            </a:r>
            <a:r>
              <a:rPr lang="zh-CN" altLang="en-US" sz="2200" b="1" dirty="0">
                <a:ea typeface="宋体" panose="02010600030101010101" pitchFamily="2" charset="-122"/>
              </a:rPr>
              <a:t>接受的语言</a:t>
            </a:r>
            <a:endParaRPr lang="zh-CN" altLang="en-US" sz="2200" b="1" dirty="0">
              <a:ea typeface="宋体" panose="02010600030101010101" pitchFamily="2" charset="-122"/>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有穷状态自动机（19）</a:t>
            </a:r>
            <a:endParaRPr lang="zh-CN" altLang="en-US" dirty="0">
              <a:latin typeface="宋体" panose="02010600030101010101" pitchFamily="2" charset="-122"/>
              <a:ea typeface="宋体" panose="02010600030101010101" pitchFamily="2" charset="-122"/>
            </a:endParaRPr>
          </a:p>
        </p:txBody>
      </p:sp>
      <p:sp>
        <p:nvSpPr>
          <p:cNvPr id="595971" name="Rectangle 3"/>
          <p:cNvSpPr>
            <a:spLocks noGrp="1"/>
          </p:cNvSpPr>
          <p:nvPr>
            <p:ph idx="1"/>
          </p:nvPr>
        </p:nvSpPr>
        <p:spPr>
          <a:xfrm>
            <a:off x="990600" y="1295400"/>
            <a:ext cx="7391400" cy="5334000"/>
          </a:xfrm>
        </p:spPr>
        <p:txBody>
          <a:bodyPr vert="horz" wrap="square" lIns="92075" tIns="46038" rIns="92075" bIns="46038" anchor="t" anchorCtr="0"/>
          <a:p>
            <a:pPr marL="495300" indent="-495300">
              <a:lnSpc>
                <a:spcPct val="90000"/>
              </a:lnSpc>
              <a:spcBef>
                <a:spcPct val="0"/>
              </a:spcBef>
              <a:buFont typeface="Wingdings" panose="05000000000000000000" pitchFamily="2" charset="2"/>
              <a:buNone/>
            </a:pPr>
            <a:endParaRPr lang="zh-CN" altLang="en-US" b="1" dirty="0">
              <a:ea typeface="宋体" panose="02010600030101010101" pitchFamily="2" charset="-122"/>
            </a:endParaRPr>
          </a:p>
          <a:p>
            <a:pPr marL="495300" indent="-495300">
              <a:lnSpc>
                <a:spcPct val="90000"/>
              </a:lnSpc>
              <a:spcBef>
                <a:spcPct val="0"/>
              </a:spcBef>
              <a:buFont typeface="Wingdings" panose="05000000000000000000" pitchFamily="2" charset="2"/>
              <a:buNone/>
            </a:pPr>
            <a:endParaRPr lang="zh-CN" altLang="en-US" b="1" dirty="0">
              <a:ea typeface="宋体" panose="02010600030101010101" pitchFamily="2" charset="-122"/>
            </a:endParaRPr>
          </a:p>
          <a:p>
            <a:pPr marL="495300" indent="-495300">
              <a:lnSpc>
                <a:spcPct val="90000"/>
              </a:lnSpc>
              <a:spcBef>
                <a:spcPct val="0"/>
              </a:spcBef>
              <a:buFont typeface="Wingdings" panose="05000000000000000000" pitchFamily="2" charset="2"/>
              <a:buNone/>
            </a:pPr>
            <a:endParaRPr lang="zh-CN" altLang="en-US" b="1" dirty="0">
              <a:ea typeface="宋体" panose="02010600030101010101" pitchFamily="2" charset="-122"/>
            </a:endParaRPr>
          </a:p>
          <a:p>
            <a:pPr marL="495300" indent="-495300">
              <a:lnSpc>
                <a:spcPct val="90000"/>
              </a:lnSpc>
              <a:spcBef>
                <a:spcPct val="0"/>
              </a:spcBef>
              <a:buFont typeface="Wingdings" panose="05000000000000000000" pitchFamily="2" charset="2"/>
              <a:buNone/>
            </a:pPr>
            <a:endParaRPr lang="zh-CN" altLang="en-US" b="1" dirty="0">
              <a:ea typeface="宋体" panose="02010600030101010101" pitchFamily="2" charset="-122"/>
            </a:endParaRPr>
          </a:p>
          <a:p>
            <a:pPr marL="495300" indent="-495300">
              <a:lnSpc>
                <a:spcPct val="90000"/>
              </a:lnSpc>
              <a:spcBef>
                <a:spcPct val="0"/>
              </a:spcBef>
              <a:buFont typeface="Wingdings" panose="05000000000000000000" pitchFamily="2" charset="2"/>
              <a:buNone/>
            </a:pPr>
            <a:endParaRPr lang="zh-CN" altLang="en-US" b="1" dirty="0">
              <a:ea typeface="宋体" panose="02010600030101010101" pitchFamily="2" charset="-122"/>
            </a:endParaRPr>
          </a:p>
          <a:p>
            <a:pPr marL="495300" indent="-495300">
              <a:lnSpc>
                <a:spcPct val="90000"/>
              </a:lnSpc>
              <a:spcBef>
                <a:spcPct val="0"/>
              </a:spcBef>
              <a:buFont typeface="Wingdings" panose="05000000000000000000" pitchFamily="2" charset="2"/>
              <a:buNone/>
            </a:pPr>
            <a:endParaRPr lang="zh-CN" altLang="en-US" b="1" dirty="0">
              <a:ea typeface="宋体" panose="02010600030101010101" pitchFamily="2" charset="-122"/>
            </a:endParaRPr>
          </a:p>
          <a:p>
            <a:pPr marL="495300" indent="-495300">
              <a:lnSpc>
                <a:spcPct val="90000"/>
              </a:lnSpc>
              <a:spcBef>
                <a:spcPct val="0"/>
              </a:spcBef>
              <a:buFont typeface="Wingdings" panose="05000000000000000000" pitchFamily="2" charset="2"/>
              <a:buNone/>
            </a:pPr>
            <a:endParaRPr lang="zh-CN" altLang="en-US"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en-US" altLang="zh-CN" sz="2000" b="1" dirty="0">
                <a:ea typeface="宋体" panose="02010600030101010101" pitchFamily="2" charset="-122"/>
              </a:rPr>
              <a:t>ε</a:t>
            </a:r>
            <a:r>
              <a:rPr lang="zh-CN" altLang="en-US" sz="2000" b="1" dirty="0">
                <a:ea typeface="宋体" panose="02010600030101010101" pitchFamily="2" charset="-122"/>
              </a:rPr>
              <a:t>闭包( </a:t>
            </a:r>
            <a:r>
              <a:rPr lang="en-US" altLang="zh-CN" sz="2000" b="1" dirty="0">
                <a:ea typeface="宋体" panose="02010600030101010101" pitchFamily="2" charset="-122"/>
              </a:rPr>
              <a:t>0 )</a:t>
            </a:r>
            <a:r>
              <a:rPr lang="zh-CN" altLang="en-US" sz="2000" b="1" dirty="0">
                <a:ea typeface="宋体" panose="02010600030101010101" pitchFamily="2" charset="-122"/>
              </a:rPr>
              <a:t>是集合</a:t>
            </a:r>
            <a:r>
              <a:rPr lang="en-US" altLang="zh-CN" sz="2000" b="1" dirty="0">
                <a:ea typeface="宋体" panose="02010600030101010101" pitchFamily="2" charset="-122"/>
              </a:rPr>
              <a:t>A = {0, 1, 2, 4, 7}</a:t>
            </a:r>
            <a:endParaRPr lang="en-US" altLang="zh-CN" sz="2000"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en-US" altLang="zh-CN" sz="2000" b="1" dirty="0">
                <a:ea typeface="宋体" panose="02010600030101010101" pitchFamily="2" charset="-122"/>
              </a:rPr>
              <a:t>ε</a:t>
            </a:r>
            <a:r>
              <a:rPr lang="zh-CN" altLang="en-US" sz="2000" b="1" dirty="0">
                <a:ea typeface="宋体" panose="02010600030101010101" pitchFamily="2" charset="-122"/>
              </a:rPr>
              <a:t>闭包(</a:t>
            </a:r>
            <a:r>
              <a:rPr lang="en-US" altLang="zh-CN" sz="2000" b="1" dirty="0">
                <a:ea typeface="宋体" panose="02010600030101010101" pitchFamily="2" charset="-122"/>
              </a:rPr>
              <a:t>δ(A , a))</a:t>
            </a:r>
            <a:r>
              <a:rPr lang="zh-CN" altLang="en-US" sz="2000" b="1" dirty="0">
                <a:ea typeface="宋体" panose="02010600030101010101" pitchFamily="2" charset="-122"/>
              </a:rPr>
              <a:t>是集合</a:t>
            </a:r>
            <a:r>
              <a:rPr lang="en-US" altLang="zh-CN" sz="2000" b="1" dirty="0">
                <a:ea typeface="宋体" panose="02010600030101010101" pitchFamily="2" charset="-122"/>
              </a:rPr>
              <a:t>B = ε</a:t>
            </a:r>
            <a:r>
              <a:rPr lang="zh-CN" altLang="en-US" sz="2000" b="1" dirty="0">
                <a:ea typeface="宋体" panose="02010600030101010101" pitchFamily="2" charset="-122"/>
              </a:rPr>
              <a:t>闭包({3 , 8}) = {1, 2, 3, 4, 6, 7, 8}</a:t>
            </a:r>
            <a:endParaRPr lang="zh-CN" altLang="en-US" sz="2000"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en-US" altLang="zh-CN" sz="2000" b="1" dirty="0">
                <a:ea typeface="宋体" panose="02010600030101010101" pitchFamily="2" charset="-122"/>
              </a:rPr>
              <a:t>ε</a:t>
            </a:r>
            <a:r>
              <a:rPr lang="zh-CN" altLang="en-US" sz="2000" b="1" dirty="0">
                <a:ea typeface="宋体" panose="02010600030101010101" pitchFamily="2" charset="-122"/>
              </a:rPr>
              <a:t>闭包(</a:t>
            </a:r>
            <a:r>
              <a:rPr lang="en-US" altLang="zh-CN" sz="2000" b="1" dirty="0">
                <a:ea typeface="宋体" panose="02010600030101010101" pitchFamily="2" charset="-122"/>
              </a:rPr>
              <a:t>δ(A , b))</a:t>
            </a:r>
            <a:r>
              <a:rPr lang="zh-CN" altLang="en-US" sz="2000" b="1" dirty="0">
                <a:ea typeface="宋体" panose="02010600030101010101" pitchFamily="2" charset="-122"/>
              </a:rPr>
              <a:t>是集合</a:t>
            </a:r>
            <a:r>
              <a:rPr lang="en-US" altLang="zh-CN" sz="2000" b="1" dirty="0">
                <a:ea typeface="宋体" panose="02010600030101010101" pitchFamily="2" charset="-122"/>
              </a:rPr>
              <a:t>C = ε</a:t>
            </a:r>
            <a:r>
              <a:rPr lang="zh-CN" altLang="en-US" sz="2000" b="1" dirty="0">
                <a:ea typeface="宋体" panose="02010600030101010101" pitchFamily="2" charset="-122"/>
              </a:rPr>
              <a:t>闭包({5}) = {1, 2, 4, 5, 6, 7}</a:t>
            </a:r>
            <a:endParaRPr lang="zh-CN" altLang="en-US" sz="2000"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en-US" altLang="zh-CN" sz="2000" b="1" dirty="0">
                <a:ea typeface="宋体" panose="02010600030101010101" pitchFamily="2" charset="-122"/>
              </a:rPr>
              <a:t>ε</a:t>
            </a:r>
            <a:r>
              <a:rPr lang="zh-CN" altLang="en-US" sz="2000" b="1" dirty="0">
                <a:ea typeface="宋体" panose="02010600030101010101" pitchFamily="2" charset="-122"/>
              </a:rPr>
              <a:t>闭包(</a:t>
            </a:r>
            <a:r>
              <a:rPr lang="en-US" altLang="zh-CN" sz="2000" b="1" dirty="0">
                <a:ea typeface="宋体" panose="02010600030101010101" pitchFamily="2" charset="-122"/>
              </a:rPr>
              <a:t>δ(B , a))</a:t>
            </a:r>
            <a:r>
              <a:rPr lang="zh-CN" altLang="en-US" sz="2000" b="1" dirty="0">
                <a:ea typeface="宋体" panose="02010600030101010101" pitchFamily="2" charset="-122"/>
              </a:rPr>
              <a:t>就是集合</a:t>
            </a:r>
            <a:r>
              <a:rPr lang="en-US" altLang="zh-CN" sz="2000" b="1" dirty="0">
                <a:ea typeface="宋体" panose="02010600030101010101" pitchFamily="2" charset="-122"/>
              </a:rPr>
              <a:t>B</a:t>
            </a:r>
            <a:endParaRPr lang="en-US" altLang="zh-CN" sz="2000"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en-US" altLang="zh-CN" sz="2000" b="1" dirty="0">
                <a:ea typeface="宋体" panose="02010600030101010101" pitchFamily="2" charset="-122"/>
              </a:rPr>
              <a:t>ε</a:t>
            </a:r>
            <a:r>
              <a:rPr lang="zh-CN" altLang="en-US" sz="2000" b="1" dirty="0">
                <a:ea typeface="宋体" panose="02010600030101010101" pitchFamily="2" charset="-122"/>
              </a:rPr>
              <a:t>闭包(</a:t>
            </a:r>
            <a:r>
              <a:rPr lang="en-US" altLang="zh-CN" sz="2000" b="1" dirty="0">
                <a:ea typeface="宋体" panose="02010600030101010101" pitchFamily="2" charset="-122"/>
              </a:rPr>
              <a:t>δ(B , b))</a:t>
            </a:r>
            <a:r>
              <a:rPr lang="zh-CN" altLang="en-US" sz="2000" b="1" dirty="0">
                <a:ea typeface="宋体" panose="02010600030101010101" pitchFamily="2" charset="-122"/>
              </a:rPr>
              <a:t>是集合</a:t>
            </a:r>
            <a:r>
              <a:rPr lang="en-US" altLang="zh-CN" sz="2000" b="1" dirty="0">
                <a:ea typeface="宋体" panose="02010600030101010101" pitchFamily="2" charset="-122"/>
              </a:rPr>
              <a:t>D = ε</a:t>
            </a:r>
            <a:r>
              <a:rPr lang="zh-CN" altLang="en-US" sz="2000" b="1" dirty="0">
                <a:ea typeface="宋体" panose="02010600030101010101" pitchFamily="2" charset="-122"/>
              </a:rPr>
              <a:t>闭包({5 , 9}) = {1, 2, 4, 5, 6, 7, 9</a:t>
            </a:r>
            <a:r>
              <a:rPr lang="en-US" altLang="zh-CN" sz="2000" b="1" dirty="0">
                <a:ea typeface="宋体" panose="02010600030101010101" pitchFamily="2" charset="-122"/>
              </a:rPr>
              <a:t>}</a:t>
            </a:r>
            <a:endParaRPr lang="en-US" altLang="zh-CN" sz="2000"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en-US" altLang="zh-CN" sz="2000" b="1" dirty="0">
                <a:ea typeface="宋体" panose="02010600030101010101" pitchFamily="2" charset="-122"/>
              </a:rPr>
              <a:t>ε</a:t>
            </a:r>
            <a:r>
              <a:rPr lang="zh-CN" altLang="en-US" sz="2000" b="1" dirty="0">
                <a:ea typeface="宋体" panose="02010600030101010101" pitchFamily="2" charset="-122"/>
              </a:rPr>
              <a:t>闭包(</a:t>
            </a:r>
            <a:r>
              <a:rPr lang="en-US" altLang="zh-CN" sz="2000" b="1" dirty="0">
                <a:ea typeface="宋体" panose="02010600030101010101" pitchFamily="2" charset="-122"/>
              </a:rPr>
              <a:t>δ(C , a))</a:t>
            </a:r>
            <a:r>
              <a:rPr lang="zh-CN" altLang="en-US" sz="2000" b="1" dirty="0">
                <a:ea typeface="宋体" panose="02010600030101010101" pitchFamily="2" charset="-122"/>
              </a:rPr>
              <a:t>就是集合</a:t>
            </a:r>
            <a:r>
              <a:rPr lang="en-US" altLang="zh-CN" sz="2000" b="1" dirty="0">
                <a:ea typeface="宋体" panose="02010600030101010101" pitchFamily="2" charset="-122"/>
              </a:rPr>
              <a:t>B， ε</a:t>
            </a:r>
            <a:r>
              <a:rPr lang="zh-CN" altLang="en-US" sz="2000" b="1" dirty="0">
                <a:ea typeface="宋体" panose="02010600030101010101" pitchFamily="2" charset="-122"/>
              </a:rPr>
              <a:t>闭包(</a:t>
            </a:r>
            <a:r>
              <a:rPr lang="en-US" altLang="zh-CN" sz="2000" b="1" dirty="0">
                <a:ea typeface="宋体" panose="02010600030101010101" pitchFamily="2" charset="-122"/>
              </a:rPr>
              <a:t>δ(C , b))</a:t>
            </a:r>
            <a:r>
              <a:rPr lang="zh-CN" altLang="en-US" sz="2000" b="1" dirty="0">
                <a:ea typeface="宋体" panose="02010600030101010101" pitchFamily="2" charset="-122"/>
              </a:rPr>
              <a:t>就是集合</a:t>
            </a:r>
            <a:r>
              <a:rPr lang="en-US" altLang="zh-CN" sz="2000" b="1" dirty="0">
                <a:ea typeface="宋体" panose="02010600030101010101" pitchFamily="2" charset="-122"/>
              </a:rPr>
              <a:t>C</a:t>
            </a:r>
            <a:endParaRPr lang="en-US" altLang="zh-CN" sz="2000"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en-US" altLang="zh-CN" sz="2000" b="1" dirty="0">
                <a:ea typeface="宋体" panose="02010600030101010101" pitchFamily="2" charset="-122"/>
              </a:rPr>
              <a:t>ε</a:t>
            </a:r>
            <a:r>
              <a:rPr lang="zh-CN" altLang="en-US" sz="2000" b="1" dirty="0">
                <a:ea typeface="宋体" panose="02010600030101010101" pitchFamily="2" charset="-122"/>
              </a:rPr>
              <a:t>闭包(</a:t>
            </a:r>
            <a:r>
              <a:rPr lang="en-US" altLang="zh-CN" sz="2000" b="1" dirty="0">
                <a:ea typeface="宋体" panose="02010600030101010101" pitchFamily="2" charset="-122"/>
              </a:rPr>
              <a:t>δ(D , a))</a:t>
            </a:r>
            <a:r>
              <a:rPr lang="zh-CN" altLang="en-US" sz="2000" b="1" dirty="0">
                <a:ea typeface="宋体" panose="02010600030101010101" pitchFamily="2" charset="-122"/>
              </a:rPr>
              <a:t>就是集合</a:t>
            </a:r>
            <a:r>
              <a:rPr lang="en-US" altLang="zh-CN" sz="2000" b="1" dirty="0">
                <a:ea typeface="宋体" panose="02010600030101010101" pitchFamily="2" charset="-122"/>
              </a:rPr>
              <a:t>B</a:t>
            </a:r>
            <a:endParaRPr lang="en-US" altLang="zh-CN" sz="2000"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en-US" altLang="zh-CN" sz="2000" b="1" dirty="0">
                <a:ea typeface="宋体" panose="02010600030101010101" pitchFamily="2" charset="-122"/>
              </a:rPr>
              <a:t>ε</a:t>
            </a:r>
            <a:r>
              <a:rPr lang="zh-CN" altLang="en-US" sz="2000" b="1" dirty="0">
                <a:ea typeface="宋体" panose="02010600030101010101" pitchFamily="2" charset="-122"/>
              </a:rPr>
              <a:t>闭包(</a:t>
            </a:r>
            <a:r>
              <a:rPr lang="en-US" altLang="zh-CN" sz="2000" b="1" dirty="0">
                <a:ea typeface="宋体" panose="02010600030101010101" pitchFamily="2" charset="-122"/>
              </a:rPr>
              <a:t>δ(D , b))</a:t>
            </a:r>
            <a:r>
              <a:rPr lang="zh-CN" altLang="en-US" sz="2000" b="1" dirty="0">
                <a:ea typeface="宋体" panose="02010600030101010101" pitchFamily="2" charset="-122"/>
              </a:rPr>
              <a:t>是集合</a:t>
            </a:r>
            <a:r>
              <a:rPr lang="en-US" altLang="zh-CN" sz="2000" b="1" dirty="0">
                <a:ea typeface="宋体" panose="02010600030101010101" pitchFamily="2" charset="-122"/>
              </a:rPr>
              <a:t>E = ε</a:t>
            </a:r>
            <a:r>
              <a:rPr lang="zh-CN" altLang="en-US" sz="2000" b="1" dirty="0">
                <a:ea typeface="宋体" panose="02010600030101010101" pitchFamily="2" charset="-122"/>
              </a:rPr>
              <a:t>闭包({5 , 10}) = {1, 2, 4, 5, 6, 7, 10}</a:t>
            </a:r>
            <a:endParaRPr lang="zh-CN" altLang="en-US" sz="2000"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en-US" altLang="zh-CN" sz="2000" b="1" dirty="0">
                <a:ea typeface="宋体" panose="02010600030101010101" pitchFamily="2" charset="-122"/>
              </a:rPr>
              <a:t>ε</a:t>
            </a:r>
            <a:r>
              <a:rPr lang="zh-CN" altLang="en-US" sz="2000" b="1" dirty="0">
                <a:ea typeface="宋体" panose="02010600030101010101" pitchFamily="2" charset="-122"/>
              </a:rPr>
              <a:t>闭包(</a:t>
            </a:r>
            <a:r>
              <a:rPr lang="en-US" altLang="zh-CN" sz="2000" b="1" dirty="0">
                <a:ea typeface="宋体" panose="02010600030101010101" pitchFamily="2" charset="-122"/>
              </a:rPr>
              <a:t>δ(E , a))</a:t>
            </a:r>
            <a:r>
              <a:rPr lang="zh-CN" altLang="en-US" sz="2000" b="1" dirty="0">
                <a:ea typeface="宋体" panose="02010600030101010101" pitchFamily="2" charset="-122"/>
              </a:rPr>
              <a:t>就是集合</a:t>
            </a:r>
            <a:r>
              <a:rPr lang="en-US" altLang="zh-CN" sz="2000" b="1" dirty="0">
                <a:ea typeface="宋体" panose="02010600030101010101" pitchFamily="2" charset="-122"/>
              </a:rPr>
              <a:t>B， ε</a:t>
            </a:r>
            <a:r>
              <a:rPr lang="zh-CN" altLang="en-US" sz="2000" b="1" dirty="0">
                <a:ea typeface="宋体" panose="02010600030101010101" pitchFamily="2" charset="-122"/>
              </a:rPr>
              <a:t>闭包(</a:t>
            </a:r>
            <a:r>
              <a:rPr lang="en-US" altLang="zh-CN" sz="2000" b="1" dirty="0">
                <a:ea typeface="宋体" panose="02010600030101010101" pitchFamily="2" charset="-122"/>
              </a:rPr>
              <a:t>δ(E , b))</a:t>
            </a:r>
            <a:r>
              <a:rPr lang="zh-CN" altLang="en-US" sz="2000" b="1" dirty="0">
                <a:ea typeface="宋体" panose="02010600030101010101" pitchFamily="2" charset="-122"/>
              </a:rPr>
              <a:t>就是集合</a:t>
            </a:r>
            <a:r>
              <a:rPr lang="en-US" altLang="zh-CN" sz="2000" b="1" dirty="0">
                <a:ea typeface="宋体" panose="02010600030101010101" pitchFamily="2" charset="-122"/>
              </a:rPr>
              <a:t>C</a:t>
            </a:r>
            <a:endParaRPr lang="en-US" altLang="zh-CN" sz="2000" b="1" dirty="0">
              <a:ea typeface="宋体" panose="02010600030101010101" pitchFamily="2" charset="-122"/>
            </a:endParaRPr>
          </a:p>
        </p:txBody>
      </p:sp>
      <p:graphicFrame>
        <p:nvGraphicFramePr>
          <p:cNvPr id="121860" name="Object 4"/>
          <p:cNvGraphicFramePr>
            <a:graphicFrameLocks noChangeAspect="1"/>
          </p:cNvGraphicFramePr>
          <p:nvPr/>
        </p:nvGraphicFramePr>
        <p:xfrm>
          <a:off x="914400" y="1219200"/>
          <a:ext cx="7086600" cy="2657475"/>
        </p:xfrm>
        <a:graphic>
          <a:graphicData uri="http://schemas.openxmlformats.org/presentationml/2006/ole">
            <mc:AlternateContent xmlns:mc="http://schemas.openxmlformats.org/markup-compatibility/2006">
              <mc:Choice xmlns:v="urn:schemas-microsoft-com:vml" Requires="v">
                <p:oleObj spid="_x0000_s3079" name="" r:id="rId1" imgW="6786880" imgH="2758440" progId="Visio.Drawing.4">
                  <p:embed/>
                </p:oleObj>
              </mc:Choice>
              <mc:Fallback>
                <p:oleObj name="" r:id="rId1" imgW="6786880" imgH="2758440" progId="Visio.Drawing.4">
                  <p:embed/>
                  <p:pic>
                    <p:nvPicPr>
                      <p:cNvPr id="0" name="图片 3078"/>
                      <p:cNvPicPr/>
                      <p:nvPr/>
                    </p:nvPicPr>
                    <p:blipFill>
                      <a:blip r:embed="rId2"/>
                      <a:stretch>
                        <a:fillRect/>
                      </a:stretch>
                    </p:blipFill>
                    <p:spPr>
                      <a:xfrm>
                        <a:off x="914400" y="1219200"/>
                        <a:ext cx="7086600" cy="2657475"/>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5971">
                                            <p:txEl>
                                              <p:charRg st="7" end="38"/>
                                            </p:txEl>
                                          </p:spTgt>
                                        </p:tgtEl>
                                        <p:attrNameLst>
                                          <p:attrName>style.visibility</p:attrName>
                                        </p:attrNameLst>
                                      </p:cBhvr>
                                      <p:to>
                                        <p:strVal val="visible"/>
                                      </p:to>
                                    </p:set>
                                    <p:anim calcmode="lin" valueType="num">
                                      <p:cBhvr additive="base">
                                        <p:cTn id="7" dur="500" fill="hold"/>
                                        <p:tgtEl>
                                          <p:spTgt spid="595971">
                                            <p:txEl>
                                              <p:charRg st="7" end="38"/>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5971">
                                            <p:txEl>
                                              <p:charRg st="7" end="3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95971">
                                            <p:txEl>
                                              <p:charRg st="38" end="95"/>
                                            </p:txEl>
                                          </p:spTgt>
                                        </p:tgtEl>
                                        <p:attrNameLst>
                                          <p:attrName>style.visibility</p:attrName>
                                        </p:attrNameLst>
                                      </p:cBhvr>
                                      <p:to>
                                        <p:strVal val="visible"/>
                                      </p:to>
                                    </p:set>
                                    <p:anim calcmode="lin" valueType="num">
                                      <p:cBhvr additive="base">
                                        <p:cTn id="13" dur="500" fill="hold"/>
                                        <p:tgtEl>
                                          <p:spTgt spid="595971">
                                            <p:txEl>
                                              <p:charRg st="38" end="95"/>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95971">
                                            <p:txEl>
                                              <p:charRg st="38" end="95"/>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95971">
                                            <p:txEl>
                                              <p:charRg st="95" end="145"/>
                                            </p:txEl>
                                          </p:spTgt>
                                        </p:tgtEl>
                                        <p:attrNameLst>
                                          <p:attrName>style.visibility</p:attrName>
                                        </p:attrNameLst>
                                      </p:cBhvr>
                                      <p:to>
                                        <p:strVal val="visible"/>
                                      </p:to>
                                    </p:set>
                                    <p:anim calcmode="lin" valueType="num">
                                      <p:cBhvr additive="base">
                                        <p:cTn id="19" dur="500" fill="hold"/>
                                        <p:tgtEl>
                                          <p:spTgt spid="595971">
                                            <p:txEl>
                                              <p:charRg st="95" end="14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95971">
                                            <p:txEl>
                                              <p:charRg st="95" end="145"/>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95971">
                                            <p:txEl>
                                              <p:charRg st="145" end="164"/>
                                            </p:txEl>
                                          </p:spTgt>
                                        </p:tgtEl>
                                        <p:attrNameLst>
                                          <p:attrName>style.visibility</p:attrName>
                                        </p:attrNameLst>
                                      </p:cBhvr>
                                      <p:to>
                                        <p:strVal val="visible"/>
                                      </p:to>
                                    </p:set>
                                    <p:anim calcmode="lin" valueType="num">
                                      <p:cBhvr additive="base">
                                        <p:cTn id="25" dur="500" fill="hold"/>
                                        <p:tgtEl>
                                          <p:spTgt spid="595971">
                                            <p:txEl>
                                              <p:charRg st="145" end="16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95971">
                                            <p:txEl>
                                              <p:charRg st="145" end="16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95971">
                                            <p:txEl>
                                              <p:charRg st="164" end="221"/>
                                            </p:txEl>
                                          </p:spTgt>
                                        </p:tgtEl>
                                        <p:attrNameLst>
                                          <p:attrName>style.visibility</p:attrName>
                                        </p:attrNameLst>
                                      </p:cBhvr>
                                      <p:to>
                                        <p:strVal val="visible"/>
                                      </p:to>
                                    </p:set>
                                    <p:anim calcmode="lin" valueType="num">
                                      <p:cBhvr additive="base">
                                        <p:cTn id="31" dur="500" fill="hold"/>
                                        <p:tgtEl>
                                          <p:spTgt spid="595971">
                                            <p:txEl>
                                              <p:charRg st="164" end="22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95971">
                                            <p:txEl>
                                              <p:charRg st="164" end="221"/>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95971">
                                            <p:txEl>
                                              <p:charRg st="221" end="260"/>
                                            </p:txEl>
                                          </p:spTgt>
                                        </p:tgtEl>
                                        <p:attrNameLst>
                                          <p:attrName>style.visibility</p:attrName>
                                        </p:attrNameLst>
                                      </p:cBhvr>
                                      <p:to>
                                        <p:strVal val="visible"/>
                                      </p:to>
                                    </p:set>
                                    <p:anim calcmode="lin" valueType="num">
                                      <p:cBhvr additive="base">
                                        <p:cTn id="37" dur="500" fill="hold"/>
                                        <p:tgtEl>
                                          <p:spTgt spid="595971">
                                            <p:txEl>
                                              <p:charRg st="221" end="260"/>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95971">
                                            <p:txEl>
                                              <p:charRg st="221" end="260"/>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95971">
                                            <p:txEl>
                                              <p:charRg st="260" end="279"/>
                                            </p:txEl>
                                          </p:spTgt>
                                        </p:tgtEl>
                                        <p:attrNameLst>
                                          <p:attrName>style.visibility</p:attrName>
                                        </p:attrNameLst>
                                      </p:cBhvr>
                                      <p:to>
                                        <p:strVal val="visible"/>
                                      </p:to>
                                    </p:set>
                                    <p:anim calcmode="lin" valueType="num">
                                      <p:cBhvr additive="base">
                                        <p:cTn id="43" dur="500" fill="hold"/>
                                        <p:tgtEl>
                                          <p:spTgt spid="595971">
                                            <p:txEl>
                                              <p:charRg st="260" end="279"/>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95971">
                                            <p:txEl>
                                              <p:charRg st="260" end="279"/>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95971">
                                            <p:txEl>
                                              <p:charRg st="279" end="338"/>
                                            </p:txEl>
                                          </p:spTgt>
                                        </p:tgtEl>
                                        <p:attrNameLst>
                                          <p:attrName>style.visibility</p:attrName>
                                        </p:attrNameLst>
                                      </p:cBhvr>
                                      <p:to>
                                        <p:strVal val="visible"/>
                                      </p:to>
                                    </p:set>
                                    <p:anim calcmode="lin" valueType="num">
                                      <p:cBhvr additive="base">
                                        <p:cTn id="49" dur="500" fill="hold"/>
                                        <p:tgtEl>
                                          <p:spTgt spid="595971">
                                            <p:txEl>
                                              <p:charRg st="279" end="33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595971">
                                            <p:txEl>
                                              <p:charRg st="279" end="338"/>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95971">
                                            <p:txEl>
                                              <p:charRg st="338" end="377"/>
                                            </p:txEl>
                                          </p:spTgt>
                                        </p:tgtEl>
                                        <p:attrNameLst>
                                          <p:attrName>style.visibility</p:attrName>
                                        </p:attrNameLst>
                                      </p:cBhvr>
                                      <p:to>
                                        <p:strVal val="visible"/>
                                      </p:to>
                                    </p:set>
                                    <p:anim calcmode="lin" valueType="num">
                                      <p:cBhvr additive="base">
                                        <p:cTn id="55" dur="500" fill="hold"/>
                                        <p:tgtEl>
                                          <p:spTgt spid="595971">
                                            <p:txEl>
                                              <p:charRg st="338" end="377"/>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595971">
                                            <p:txEl>
                                              <p:charRg st="338" end="37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有穷状态自动机（20）</a:t>
            </a:r>
            <a:endParaRPr lang="zh-CN" altLang="en-US" dirty="0">
              <a:latin typeface="宋体" panose="02010600030101010101" pitchFamily="2" charset="-122"/>
              <a:ea typeface="宋体" panose="02010600030101010101" pitchFamily="2" charset="-122"/>
            </a:endParaRPr>
          </a:p>
        </p:txBody>
      </p:sp>
      <p:sp>
        <p:nvSpPr>
          <p:cNvPr id="123907" name="Rectangle 3"/>
          <p:cNvSpPr>
            <a:spLocks noGrp="1"/>
          </p:cNvSpPr>
          <p:nvPr>
            <p:ph idx="1"/>
          </p:nvPr>
        </p:nvSpPr>
        <p:spPr>
          <a:xfrm>
            <a:off x="990600" y="1295400"/>
            <a:ext cx="7391400" cy="4876800"/>
          </a:xfrm>
        </p:spPr>
        <p:txBody>
          <a:bodyPr vert="horz" wrap="square" lIns="92075" tIns="46038" rIns="92075" bIns="46038" anchor="t" anchorCtr="0"/>
          <a:p>
            <a:pPr marL="1333500" lvl="2" indent="-419100">
              <a:spcBef>
                <a:spcPct val="0"/>
              </a:spcBef>
              <a:buFont typeface="Wingdings" panose="05000000000000000000" pitchFamily="2" charset="2"/>
              <a:buChar char="§"/>
            </a:pPr>
            <a:r>
              <a:rPr lang="zh-CN" altLang="en-US" b="1" dirty="0">
                <a:ea typeface="宋体" panose="02010600030101010101" pitchFamily="2" charset="-122"/>
              </a:rPr>
              <a:t>开始状态是</a:t>
            </a:r>
            <a:r>
              <a:rPr lang="en-US" altLang="zh-CN" b="1" dirty="0">
                <a:ea typeface="宋体" panose="02010600030101010101" pitchFamily="2" charset="-122"/>
              </a:rPr>
              <a:t>A</a:t>
            </a:r>
            <a:endParaRPr lang="en-US" altLang="zh-CN" b="1" dirty="0">
              <a:ea typeface="宋体" panose="02010600030101010101" pitchFamily="2" charset="-122"/>
            </a:endParaRPr>
          </a:p>
          <a:p>
            <a:pPr marL="1333500" lvl="2" indent="-419100">
              <a:spcBef>
                <a:spcPct val="0"/>
              </a:spcBef>
              <a:buFont typeface="Wingdings" panose="05000000000000000000" pitchFamily="2" charset="2"/>
              <a:buChar char="§"/>
            </a:pPr>
            <a:r>
              <a:rPr lang="zh-CN" altLang="en-US" b="1" dirty="0">
                <a:ea typeface="宋体" panose="02010600030101010101" pitchFamily="2" charset="-122"/>
              </a:rPr>
              <a:t>接受状态是</a:t>
            </a:r>
            <a:r>
              <a:rPr lang="en-US" altLang="zh-CN" b="1" dirty="0">
                <a:ea typeface="宋体" panose="02010600030101010101" pitchFamily="2" charset="-122"/>
              </a:rPr>
              <a:t>E</a:t>
            </a:r>
            <a:endParaRPr lang="en-US" altLang="zh-CN" b="1" dirty="0">
              <a:ea typeface="宋体" panose="02010600030101010101" pitchFamily="2" charset="-122"/>
            </a:endParaRPr>
          </a:p>
          <a:p>
            <a:pPr marL="1333500" lvl="2" indent="-419100">
              <a:spcBef>
                <a:spcPct val="0"/>
              </a:spcBef>
              <a:buFont typeface="Wingdings" panose="05000000000000000000" pitchFamily="2" charset="2"/>
              <a:buChar char="§"/>
            </a:pPr>
            <a:r>
              <a:rPr lang="en-US" altLang="zh-CN" b="1" dirty="0">
                <a:ea typeface="宋体" panose="02010600030101010101" pitchFamily="2" charset="-122"/>
              </a:rPr>
              <a:t>DFA</a:t>
            </a:r>
            <a:r>
              <a:rPr lang="zh-CN" altLang="en-US" b="1" dirty="0">
                <a:ea typeface="宋体" panose="02010600030101010101" pitchFamily="2" charset="-122"/>
              </a:rPr>
              <a:t>的转换表</a:t>
            </a:r>
            <a:endParaRPr lang="zh-CN" altLang="en-US" b="1" dirty="0">
              <a:ea typeface="宋体" panose="02010600030101010101" pitchFamily="2" charset="-122"/>
            </a:endParaRPr>
          </a:p>
        </p:txBody>
      </p:sp>
      <p:graphicFrame>
        <p:nvGraphicFramePr>
          <p:cNvPr id="123908" name="Object 5"/>
          <p:cNvGraphicFramePr>
            <a:graphicFrameLocks noChangeAspect="1"/>
          </p:cNvGraphicFramePr>
          <p:nvPr/>
        </p:nvGraphicFramePr>
        <p:xfrm>
          <a:off x="2514600" y="2514600"/>
          <a:ext cx="3276600" cy="2590800"/>
        </p:xfrm>
        <a:graphic>
          <a:graphicData uri="http://schemas.openxmlformats.org/presentationml/2006/ole">
            <mc:AlternateContent xmlns:mc="http://schemas.openxmlformats.org/markup-compatibility/2006">
              <mc:Choice xmlns:v="urn:schemas-microsoft-com:vml" Requires="v">
                <p:oleObj spid="_x0000_s3080" name="" r:id="rId1" imgW="2611120" imgH="2428240" progId="Visio.Drawing.4">
                  <p:embed/>
                </p:oleObj>
              </mc:Choice>
              <mc:Fallback>
                <p:oleObj name="" r:id="rId1" imgW="2611120" imgH="2428240" progId="Visio.Drawing.4">
                  <p:embed/>
                  <p:pic>
                    <p:nvPicPr>
                      <p:cNvPr id="0" name="图片 3079"/>
                      <p:cNvPicPr/>
                      <p:nvPr/>
                    </p:nvPicPr>
                    <p:blipFill>
                      <a:blip r:embed="rId2"/>
                      <a:stretch>
                        <a:fillRect/>
                      </a:stretch>
                    </p:blipFill>
                    <p:spPr>
                      <a:xfrm>
                        <a:off x="2514600" y="2514600"/>
                        <a:ext cx="3276600" cy="2590800"/>
                      </a:xfrm>
                      <a:prstGeom prst="rect">
                        <a:avLst/>
                      </a:prstGeom>
                      <a:noFill/>
                      <a:ln w="38100">
                        <a:noFill/>
                        <a:miter/>
                      </a:ln>
                    </p:spPr>
                  </p:pic>
                </p:oleObj>
              </mc:Fallback>
            </mc:AlternateContent>
          </a:graphicData>
        </a:graphic>
      </p:graphicFrame>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有穷状态自动机（21）</a:t>
            </a:r>
            <a:endParaRPr lang="zh-CN" altLang="en-US" dirty="0">
              <a:latin typeface="宋体" panose="02010600030101010101" pitchFamily="2" charset="-122"/>
              <a:ea typeface="宋体" panose="02010600030101010101" pitchFamily="2" charset="-122"/>
            </a:endParaRPr>
          </a:p>
        </p:txBody>
      </p:sp>
      <p:sp>
        <p:nvSpPr>
          <p:cNvPr id="125955" name="Rectangle 3"/>
          <p:cNvSpPr>
            <a:spLocks noGrp="1"/>
          </p:cNvSpPr>
          <p:nvPr>
            <p:ph idx="1"/>
          </p:nvPr>
        </p:nvSpPr>
        <p:spPr>
          <a:xfrm>
            <a:off x="990600" y="1600200"/>
            <a:ext cx="7391400" cy="4572000"/>
          </a:xfrm>
        </p:spPr>
        <p:txBody>
          <a:bodyPr vert="horz" wrap="square" lIns="92075" tIns="46038" rIns="92075" bIns="46038" anchor="t" anchorCtr="0"/>
          <a:p>
            <a:pPr marL="1333500" lvl="2" indent="-419100">
              <a:spcBef>
                <a:spcPct val="0"/>
              </a:spcBef>
              <a:buFont typeface="Wingdings" panose="05000000000000000000" pitchFamily="2" charset="2"/>
              <a:buChar char="§"/>
            </a:pPr>
            <a:r>
              <a:rPr lang="zh-CN" altLang="en-US" b="1" dirty="0">
                <a:ea typeface="宋体" panose="02010600030101010101" pitchFamily="2" charset="-122"/>
              </a:rPr>
              <a:t>下图是构造出来的</a:t>
            </a:r>
            <a:r>
              <a:rPr lang="en-US" altLang="zh-CN" b="1" dirty="0">
                <a:ea typeface="宋体" panose="02010600030101010101" pitchFamily="2" charset="-122"/>
              </a:rPr>
              <a:t>DFA，</a:t>
            </a:r>
            <a:r>
              <a:rPr lang="zh-CN" altLang="en-US" b="1" dirty="0">
                <a:ea typeface="宋体" panose="02010600030101010101" pitchFamily="2" charset="-122"/>
              </a:rPr>
              <a:t>它的最小化将在后面介绍</a:t>
            </a:r>
            <a:endParaRPr lang="zh-CN" altLang="en-US" b="1" dirty="0">
              <a:ea typeface="宋体" panose="02010600030101010101" pitchFamily="2" charset="-122"/>
            </a:endParaRPr>
          </a:p>
        </p:txBody>
      </p:sp>
      <p:graphicFrame>
        <p:nvGraphicFramePr>
          <p:cNvPr id="125956" name="Object 6"/>
          <p:cNvGraphicFramePr>
            <a:graphicFrameLocks noChangeAspect="1"/>
          </p:cNvGraphicFramePr>
          <p:nvPr/>
        </p:nvGraphicFramePr>
        <p:xfrm>
          <a:off x="2667000" y="2438400"/>
          <a:ext cx="4114800" cy="2905125"/>
        </p:xfrm>
        <a:graphic>
          <a:graphicData uri="http://schemas.openxmlformats.org/presentationml/2006/ole">
            <mc:AlternateContent xmlns:mc="http://schemas.openxmlformats.org/markup-compatibility/2006">
              <mc:Choice xmlns:v="urn:schemas-microsoft-com:vml" Requires="v">
                <p:oleObj spid="_x0000_s3081" name="" r:id="rId1" imgW="3185160" imgH="2250440" progId="Visio.Drawing.4">
                  <p:embed/>
                </p:oleObj>
              </mc:Choice>
              <mc:Fallback>
                <p:oleObj name="" r:id="rId1" imgW="3185160" imgH="2250440" progId="Visio.Drawing.4">
                  <p:embed/>
                  <p:pic>
                    <p:nvPicPr>
                      <p:cNvPr id="0" name="图片 3080"/>
                      <p:cNvPicPr/>
                      <p:nvPr/>
                    </p:nvPicPr>
                    <p:blipFill>
                      <a:blip r:embed="rId2"/>
                      <a:stretch>
                        <a:fillRect/>
                      </a:stretch>
                    </p:blipFill>
                    <p:spPr>
                      <a:xfrm>
                        <a:off x="2667000" y="2438400"/>
                        <a:ext cx="4114800" cy="2905125"/>
                      </a:xfrm>
                      <a:prstGeom prst="rect">
                        <a:avLst/>
                      </a:prstGeom>
                      <a:noFill/>
                      <a:ln w="38100">
                        <a:noFill/>
                        <a:miter/>
                      </a:ln>
                    </p:spPr>
                  </p:pic>
                </p:oleObj>
              </mc:Fallback>
            </mc:AlternateContent>
          </a:graphicData>
        </a:graphic>
      </p:graphicFrame>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noChangeArrowheads="1"/>
          </p:cNvSpPr>
          <p:nvPr>
            <p:ph type="title"/>
          </p:nvPr>
        </p:nvSpPr>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63DE8"/>
                </a:solidFill>
                <a:effectLst/>
                <a:uLnTx/>
                <a:uFillTx/>
                <a:latin typeface="+mn-lt"/>
                <a:ea typeface="宋体" panose="02010600030101010101" pitchFamily="2" charset="-122"/>
                <a:cs typeface="+mj-cs"/>
              </a:rPr>
              <a:t>NFA</a:t>
            </a:r>
            <a:r>
              <a:rPr kumimoji="0" lang="zh-CN" altLang="en-US" sz="3200" b="1" i="0" u="none" strike="noStrike" kern="0" cap="none" spc="0" normalizeH="0" baseline="0" noProof="0" dirty="0">
                <a:ln>
                  <a:noFill/>
                </a:ln>
                <a:solidFill>
                  <a:srgbClr val="063DE8"/>
                </a:solidFill>
                <a:effectLst/>
                <a:uLnTx/>
                <a:uFillTx/>
                <a:latin typeface="宋体" panose="02010600030101010101" pitchFamily="2" charset="-122"/>
                <a:ea typeface="宋体" panose="02010600030101010101" pitchFamily="2" charset="-122"/>
                <a:cs typeface="+mj-cs"/>
              </a:rPr>
              <a:t>的模拟</a:t>
            </a:r>
            <a:endParaRPr kumimoji="0" lang="zh-CN" altLang="en-US" sz="3200" b="1" i="0" u="none" strike="noStrike" kern="0" cap="none" spc="0" normalizeH="0" baseline="0" noProof="0" dirty="0">
              <a:ln>
                <a:noFill/>
              </a:ln>
              <a:solidFill>
                <a:srgbClr val="063DE8"/>
              </a:solidFill>
              <a:effectLst/>
              <a:uLnTx/>
              <a:uFillTx/>
              <a:latin typeface="宋体" panose="02010600030101010101" pitchFamily="2" charset="-122"/>
              <a:ea typeface="宋体" panose="02010600030101010101" pitchFamily="2" charset="-122"/>
              <a:cs typeface="+mj-cs"/>
            </a:endParaRPr>
          </a:p>
        </p:txBody>
      </p:sp>
      <p:sp>
        <p:nvSpPr>
          <p:cNvPr id="120835" name="Rectangle 3"/>
          <p:cNvSpPr>
            <a:spLocks noGrp="1" noChangeArrowheads="1"/>
          </p:cNvSpPr>
          <p:nvPr>
            <p:ph idx="1"/>
          </p:nvPr>
        </p:nvSpPr>
        <p:spPr>
          <a:xfrm>
            <a:off x="990600" y="1371600"/>
            <a:ext cx="7391400" cy="48006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由于</a:t>
            </a:r>
            <a:r>
              <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NFA</a:t>
            </a: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中转换函数的特点，模拟时要考虑状态集合</a:t>
            </a:r>
            <a:endParaRPr kumimoji="0" lang="en-US" altLang="zh-CN"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何时识别成功？最终指向的状态集合中有终结状态</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对于一些文本编辑程序有用</a:t>
            </a:r>
            <a:endParaRPr kumimoji="0" lang="zh-CN" altLang="en-US" sz="2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914400" marR="0" lvl="1" indent="-4572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可以根据输入，</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on-the-fly</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地构造</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5720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pic>
        <p:nvPicPr>
          <p:cNvPr id="128004" name="Picture 2"/>
          <p:cNvPicPr>
            <a:picLocks noChangeAspect="1"/>
          </p:cNvPicPr>
          <p:nvPr/>
        </p:nvPicPr>
        <p:blipFill>
          <a:blip r:embed="rId1"/>
          <a:stretch>
            <a:fillRect/>
          </a:stretch>
        </p:blipFill>
        <p:spPr>
          <a:xfrm>
            <a:off x="1547813" y="2852738"/>
            <a:ext cx="5927725" cy="3463925"/>
          </a:xfrm>
          <a:prstGeom prst="rect">
            <a:avLst/>
          </a:prstGeom>
          <a:noFill/>
          <a:ln w="9525">
            <a:noFill/>
          </a:ln>
        </p:spPr>
      </p:pic>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NFA</a:t>
            </a:r>
            <a:r>
              <a:rPr lang="zh-CN" altLang="en-US" dirty="0">
                <a:latin typeface="宋体" panose="02010600030101010101" pitchFamily="2" charset="-122"/>
                <a:ea typeface="宋体" panose="02010600030101010101" pitchFamily="2" charset="-122"/>
              </a:rPr>
              <a:t>模拟的效率（</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30051" name="Rectangle 3"/>
          <p:cNvSpPr>
            <a:spLocks noGrp="1"/>
          </p:cNvSpPr>
          <p:nvPr>
            <p:ph idx="1"/>
          </p:nvPr>
        </p:nvSpPr>
        <p:spPr>
          <a:xfrm>
            <a:off x="827088" y="1557338"/>
            <a:ext cx="7631112" cy="4614862"/>
          </a:xfrm>
        </p:spPr>
        <p:txBody>
          <a:bodyPr vert="horz" wrap="square" lIns="92075" tIns="46038" rIns="92075" bIns="46038" anchor="t" anchorCtr="0"/>
          <a:p>
            <a:pPr marL="495300" indent="-495300"/>
            <a:r>
              <a:rPr lang="zh-CN" altLang="en-US" sz="2400" b="1" dirty="0">
                <a:ea typeface="宋体" panose="02010600030101010101" pitchFamily="2" charset="-122"/>
              </a:rPr>
              <a:t>图</a:t>
            </a:r>
            <a:r>
              <a:rPr lang="en-US" altLang="zh-CN" sz="2400" b="1" dirty="0">
                <a:ea typeface="宋体" panose="02010600030101010101" pitchFamily="2" charset="-122"/>
              </a:rPr>
              <a:t>3-37</a:t>
            </a:r>
            <a:r>
              <a:rPr lang="zh-CN" altLang="en-US" sz="2400" b="1" dirty="0">
                <a:ea typeface="宋体" panose="02010600030101010101" pitchFamily="2" charset="-122"/>
              </a:rPr>
              <a:t>算法的高效实现</a:t>
            </a:r>
            <a:endParaRPr lang="zh-CN" altLang="en-US" sz="2400" b="1" dirty="0">
              <a:ea typeface="宋体" panose="02010600030101010101" pitchFamily="2" charset="-122"/>
            </a:endParaRPr>
          </a:p>
          <a:p>
            <a:pPr marL="914400" lvl="1" indent="-457200"/>
            <a:r>
              <a:rPr lang="zh-CN" altLang="en-US" b="1" dirty="0">
                <a:ea typeface="宋体" panose="02010600030101010101" pitchFamily="2" charset="-122"/>
              </a:rPr>
              <a:t>数据结构</a:t>
            </a:r>
            <a:endParaRPr lang="en-US" altLang="zh-CN" b="1" dirty="0">
              <a:ea typeface="宋体" panose="02010600030101010101" pitchFamily="2" charset="-122"/>
            </a:endParaRPr>
          </a:p>
          <a:p>
            <a:pPr marL="1314450" lvl="2" indent="-457200"/>
            <a:r>
              <a:rPr lang="zh-CN" altLang="en-US" sz="2000" b="1" dirty="0">
                <a:ea typeface="宋体" panose="02010600030101010101" pitchFamily="2" charset="-122"/>
              </a:rPr>
              <a:t>两个栈：</a:t>
            </a:r>
            <a:r>
              <a:rPr lang="en-US" altLang="zh-CN" sz="2000" i="1" dirty="0">
                <a:ea typeface="宋体" panose="02010600030101010101" pitchFamily="2" charset="-122"/>
              </a:rPr>
              <a:t>oldStates</a:t>
            </a:r>
            <a:r>
              <a:rPr lang="zh-CN" altLang="en-US" sz="2000" b="1" dirty="0">
                <a:ea typeface="宋体" panose="02010600030101010101" pitchFamily="2" charset="-122"/>
              </a:rPr>
              <a:t>（存放当前状态集合）和</a:t>
            </a:r>
            <a:r>
              <a:rPr lang="en-US" altLang="zh-CN" sz="2000" i="1" dirty="0">
                <a:ea typeface="宋体" panose="02010600030101010101" pitchFamily="2" charset="-122"/>
              </a:rPr>
              <a:t>newStates</a:t>
            </a:r>
            <a:r>
              <a:rPr lang="zh-CN" altLang="en-US" sz="2000" b="1" dirty="0">
                <a:ea typeface="宋体" panose="02010600030101010101" pitchFamily="2" charset="-122"/>
              </a:rPr>
              <a:t> （存放转换函数实施后，</a:t>
            </a:r>
            <a:r>
              <a:rPr lang="en-US" altLang="zh-CN" sz="2000" b="1" dirty="0">
                <a:ea typeface="宋体" panose="02010600030101010101" pitchFamily="2" charset="-122"/>
              </a:rPr>
              <a:t>NFA</a:t>
            </a:r>
            <a:r>
              <a:rPr lang="zh-CN" altLang="en-US" sz="2000" b="1" dirty="0">
                <a:ea typeface="宋体" panose="02010600030101010101" pitchFamily="2" charset="-122"/>
              </a:rPr>
              <a:t>抵达的状态集合）</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以</a:t>
            </a:r>
            <a:r>
              <a:rPr lang="en-US" altLang="zh-CN" sz="2000" b="1" dirty="0">
                <a:ea typeface="宋体" panose="02010600030101010101" pitchFamily="2" charset="-122"/>
              </a:rPr>
              <a:t>NFA</a:t>
            </a:r>
            <a:r>
              <a:rPr lang="zh-CN" altLang="en-US" sz="2000" b="1" dirty="0">
                <a:ea typeface="宋体" panose="02010600030101010101" pitchFamily="2" charset="-122"/>
              </a:rPr>
              <a:t>状态为下标的布尔数组</a:t>
            </a:r>
            <a:r>
              <a:rPr lang="en-US" altLang="zh-CN" sz="2000" i="1" dirty="0">
                <a:ea typeface="宋体" panose="02010600030101010101" pitchFamily="2" charset="-122"/>
              </a:rPr>
              <a:t>alreadyOn</a:t>
            </a:r>
            <a:r>
              <a:rPr lang="zh-CN" altLang="en-US" sz="2000" b="1" dirty="0">
                <a:ea typeface="宋体" panose="02010600030101010101" pitchFamily="2" charset="-122"/>
              </a:rPr>
              <a:t>，指明哪个状态已在</a:t>
            </a:r>
            <a:r>
              <a:rPr lang="en-US" altLang="zh-CN" sz="2000" i="1" dirty="0">
                <a:ea typeface="宋体" panose="02010600030101010101" pitchFamily="2" charset="-122"/>
              </a:rPr>
              <a:t>newStates</a:t>
            </a:r>
            <a:r>
              <a:rPr lang="zh-CN" altLang="en-US" sz="2000" b="1" dirty="0">
                <a:ea typeface="宋体" panose="02010600030101010101" pitchFamily="2" charset="-122"/>
              </a:rPr>
              <a:t>中</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二维数组</a:t>
            </a:r>
            <a:r>
              <a:rPr lang="en-US" altLang="zh-CN" sz="2000" i="1" dirty="0">
                <a:ea typeface="宋体" panose="02010600030101010101" pitchFamily="2" charset="-122"/>
              </a:rPr>
              <a:t>move</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i="1" dirty="0">
                <a:ea typeface="宋体" panose="02010600030101010101" pitchFamily="2" charset="-122"/>
              </a:rPr>
              <a:t>s , a </a:t>
            </a:r>
            <a:r>
              <a:rPr lang="en-US" altLang="zh-CN" sz="2000" b="1" dirty="0">
                <a:ea typeface="宋体" panose="02010600030101010101" pitchFamily="2" charset="-122"/>
              </a:rPr>
              <a:t>]</a:t>
            </a:r>
            <a:r>
              <a:rPr lang="zh-CN" altLang="en-US" sz="2000" b="1" dirty="0">
                <a:ea typeface="宋体" panose="02010600030101010101" pitchFamily="2" charset="-122"/>
              </a:rPr>
              <a:t>，</a:t>
            </a:r>
            <a:r>
              <a:rPr lang="en-US" altLang="zh-CN" sz="2000" b="1" dirty="0">
                <a:ea typeface="宋体" panose="02010600030101010101" pitchFamily="2" charset="-122"/>
              </a:rPr>
              <a:t>NFA</a:t>
            </a:r>
            <a:r>
              <a:rPr lang="zh-CN" altLang="en-US" sz="2000" b="1" dirty="0">
                <a:ea typeface="宋体" panose="02010600030101010101" pitchFamily="2" charset="-122"/>
              </a:rPr>
              <a:t>的转换表</a:t>
            </a:r>
            <a:endParaRPr lang="en-US" altLang="zh-CN" sz="2000" b="1" dirty="0">
              <a:ea typeface="宋体" panose="02010600030101010101" pitchFamily="2" charset="-122"/>
            </a:endParaRPr>
          </a:p>
          <a:p>
            <a:pPr marL="914400" lvl="1" indent="-457200"/>
            <a:r>
              <a:rPr lang="zh-CN" altLang="en-US" b="1" dirty="0">
                <a:ea typeface="宋体" panose="02010600030101010101" pitchFamily="2" charset="-122"/>
              </a:rPr>
              <a:t>图</a:t>
            </a:r>
            <a:r>
              <a:rPr lang="en-US" altLang="zh-CN" b="1" dirty="0">
                <a:ea typeface="宋体" panose="02010600030101010101" pitchFamily="2" charset="-122"/>
              </a:rPr>
              <a:t>3-37</a:t>
            </a:r>
            <a:r>
              <a:rPr lang="zh-CN" altLang="en-US" b="1" dirty="0">
                <a:ea typeface="宋体" panose="02010600030101010101" pitchFamily="2" charset="-122"/>
              </a:rPr>
              <a:t>第一行的实现</a:t>
            </a:r>
            <a:endParaRPr lang="en-US" altLang="zh-CN" b="1" dirty="0">
              <a:ea typeface="宋体" panose="02010600030101010101" pitchFamily="2" charset="-122"/>
            </a:endParaRPr>
          </a:p>
          <a:p>
            <a:pPr marL="1314450" lvl="2" indent="-457200"/>
            <a:r>
              <a:rPr lang="zh-CN" altLang="en-US" sz="2000" b="1" dirty="0">
                <a:ea typeface="宋体" panose="02010600030101010101" pitchFamily="2" charset="-122"/>
              </a:rPr>
              <a:t>将</a:t>
            </a:r>
            <a:r>
              <a:rPr lang="en-US" altLang="zh-CN" sz="2000" i="1" dirty="0">
                <a:ea typeface="宋体" panose="02010600030101010101" pitchFamily="2" charset="-122"/>
              </a:rPr>
              <a:t>alreadyOn</a:t>
            </a:r>
            <a:r>
              <a:rPr lang="zh-CN" altLang="en-US" sz="2000" b="1" dirty="0">
                <a:ea typeface="宋体" panose="02010600030101010101" pitchFamily="2" charset="-122"/>
              </a:rPr>
              <a:t>初始化为所有元素为</a:t>
            </a:r>
            <a:r>
              <a:rPr lang="en-US" altLang="zh-CN" sz="2000" b="1" dirty="0">
                <a:ea typeface="宋体" panose="02010600030101010101" pitchFamily="2" charset="-122"/>
              </a:rPr>
              <a:t>FALSE</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对于</a:t>
            </a:r>
            <a:r>
              <a:rPr lang="en-US" altLang="zh-CN" sz="2000" i="1" dirty="0">
                <a:ea typeface="宋体" panose="02010600030101010101" pitchFamily="2" charset="-122"/>
              </a:rPr>
              <a:t>ε-closure</a:t>
            </a:r>
            <a:r>
              <a:rPr lang="en-US" altLang="zh-CN" sz="2000" b="1" dirty="0">
                <a:ea typeface="宋体" panose="02010600030101010101" pitchFamily="2" charset="-122"/>
              </a:rPr>
              <a:t>( s</a:t>
            </a:r>
            <a:r>
              <a:rPr lang="en-US" altLang="zh-CN" sz="2000" b="1" baseline="-25000" dirty="0">
                <a:ea typeface="宋体" panose="02010600030101010101" pitchFamily="2" charset="-122"/>
              </a:rPr>
              <a:t>0 </a:t>
            </a:r>
            <a:r>
              <a:rPr lang="en-US" altLang="zh-CN" sz="2000" b="1" dirty="0">
                <a:ea typeface="宋体" panose="02010600030101010101" pitchFamily="2" charset="-122"/>
              </a:rPr>
              <a:t>)</a:t>
            </a:r>
            <a:r>
              <a:rPr lang="zh-CN" altLang="en-US" sz="2000" b="1" dirty="0">
                <a:ea typeface="宋体" panose="02010600030101010101" pitchFamily="2" charset="-122"/>
              </a:rPr>
              <a:t>中的每个状态</a:t>
            </a:r>
            <a:r>
              <a:rPr lang="en-US" altLang="zh-CN" sz="2000" b="1" dirty="0">
                <a:ea typeface="宋体" panose="02010600030101010101" pitchFamily="2" charset="-122"/>
              </a:rPr>
              <a:t>s</a:t>
            </a:r>
            <a:r>
              <a:rPr lang="zh-CN" altLang="en-US" sz="2000" b="1" dirty="0">
                <a:ea typeface="宋体" panose="02010600030101010101" pitchFamily="2" charset="-122"/>
              </a:rPr>
              <a:t>，将</a:t>
            </a:r>
            <a:r>
              <a:rPr lang="en-US" altLang="zh-CN" sz="2000" b="1" dirty="0">
                <a:ea typeface="宋体" panose="02010600030101010101" pitchFamily="2" charset="-122"/>
              </a:rPr>
              <a:t>s</a:t>
            </a:r>
            <a:r>
              <a:rPr lang="zh-CN" altLang="en-US" sz="2000" b="1" dirty="0">
                <a:ea typeface="宋体" panose="02010600030101010101" pitchFamily="2" charset="-122"/>
              </a:rPr>
              <a:t>压入</a:t>
            </a:r>
            <a:r>
              <a:rPr lang="en-US" altLang="zh-CN" sz="2000" i="1" dirty="0">
                <a:ea typeface="宋体" panose="02010600030101010101" pitchFamily="2" charset="-122"/>
              </a:rPr>
              <a:t>oldStates</a:t>
            </a:r>
            <a:r>
              <a:rPr lang="zh-CN" altLang="en-US" sz="2000" b="1" dirty="0">
                <a:ea typeface="宋体" panose="02010600030101010101" pitchFamily="2" charset="-122"/>
              </a:rPr>
              <a:t>中，并置</a:t>
            </a:r>
            <a:r>
              <a:rPr lang="en-US" altLang="zh-CN" sz="2000" i="1" dirty="0">
                <a:ea typeface="宋体" panose="02010600030101010101" pitchFamily="2" charset="-122"/>
              </a:rPr>
              <a:t>alreadyOn</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s</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为</a:t>
            </a:r>
            <a:r>
              <a:rPr lang="en-US" altLang="zh-CN" sz="2000" b="1" dirty="0">
                <a:ea typeface="宋体" panose="02010600030101010101" pitchFamily="2" charset="-122"/>
              </a:rPr>
              <a:t>TRUE</a:t>
            </a:r>
            <a:endParaRPr lang="en-US" altLang="zh-CN" sz="2000" b="1" dirty="0">
              <a:ea typeface="宋体" panose="02010600030101010101" pitchFamily="2" charset="-122"/>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NFA</a:t>
            </a:r>
            <a:r>
              <a:rPr lang="zh-CN" altLang="en-US" dirty="0">
                <a:latin typeface="宋体" panose="02010600030101010101" pitchFamily="2" charset="-122"/>
                <a:ea typeface="宋体" panose="02010600030101010101" pitchFamily="2" charset="-122"/>
              </a:rPr>
              <a:t>模拟的效率（</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32099" name="Rectangle 3"/>
          <p:cNvSpPr>
            <a:spLocks noGrp="1"/>
          </p:cNvSpPr>
          <p:nvPr>
            <p:ph idx="1"/>
          </p:nvPr>
        </p:nvSpPr>
        <p:spPr>
          <a:xfrm>
            <a:off x="990600" y="1484313"/>
            <a:ext cx="7391400" cy="4687887"/>
          </a:xfrm>
        </p:spPr>
        <p:txBody>
          <a:bodyPr vert="horz" wrap="square" lIns="92075" tIns="46038" rIns="92075" bIns="46038" anchor="t" anchorCtr="0"/>
          <a:p>
            <a:pPr marL="914400" lvl="1" indent="-457200"/>
            <a:r>
              <a:rPr lang="en-US" altLang="zh-CN" sz="2000" i="1" dirty="0">
                <a:ea typeface="宋体" panose="02010600030101010101" pitchFamily="2" charset="-122"/>
              </a:rPr>
              <a:t>newStates</a:t>
            </a:r>
            <a:r>
              <a:rPr lang="zh-CN" altLang="en-US" sz="2000" b="1" dirty="0">
                <a:ea typeface="宋体" panose="02010600030101010101" pitchFamily="2" charset="-122"/>
              </a:rPr>
              <a:t>的更新实现</a:t>
            </a:r>
            <a:endParaRPr lang="en-US" altLang="zh-CN" sz="2000" b="1" dirty="0">
              <a:ea typeface="宋体" panose="02010600030101010101" pitchFamily="2" charset="-122"/>
            </a:endParaRPr>
          </a:p>
          <a:p>
            <a:pPr marL="1314450" lvl="2" indent="-457200"/>
            <a:r>
              <a:rPr lang="zh-CN" altLang="en-US" sz="1800" b="1" dirty="0">
                <a:ea typeface="宋体" panose="02010600030101010101" pitchFamily="2" charset="-122"/>
              </a:rPr>
              <a:t>如下图</a:t>
            </a:r>
            <a:endParaRPr lang="en-US" altLang="zh-CN" sz="1800" b="1" dirty="0">
              <a:ea typeface="宋体" panose="02010600030101010101" pitchFamily="2" charset="-122"/>
            </a:endParaRPr>
          </a:p>
          <a:p>
            <a:pPr marL="1314450" lvl="2" indent="-457200"/>
            <a:r>
              <a:rPr lang="en-US" altLang="zh-CN" sz="1800" i="1" dirty="0">
                <a:ea typeface="宋体" panose="02010600030101010101" pitchFamily="2" charset="-122"/>
              </a:rPr>
              <a:t>oldStates</a:t>
            </a:r>
            <a:r>
              <a:rPr lang="zh-CN" altLang="en-US" sz="1800" b="1" dirty="0">
                <a:ea typeface="宋体" panose="02010600030101010101" pitchFamily="2" charset="-122"/>
              </a:rPr>
              <a:t>的初始化也可以借鉴这个实现</a:t>
            </a:r>
            <a:endParaRPr lang="en-US" altLang="zh-CN" sz="1800" b="1" dirty="0">
              <a:ea typeface="宋体" panose="02010600030101010101" pitchFamily="2" charset="-122"/>
            </a:endParaRPr>
          </a:p>
          <a:p>
            <a:pPr marL="1314450" lvl="2" indent="-457200"/>
            <a:endParaRPr lang="en-US" altLang="zh-CN" sz="1800" b="1" dirty="0">
              <a:ea typeface="宋体" panose="02010600030101010101" pitchFamily="2" charset="-122"/>
            </a:endParaRPr>
          </a:p>
        </p:txBody>
      </p:sp>
      <p:pic>
        <p:nvPicPr>
          <p:cNvPr id="132100" name="Picture 2"/>
          <p:cNvPicPr>
            <a:picLocks noChangeAspect="1"/>
          </p:cNvPicPr>
          <p:nvPr/>
        </p:nvPicPr>
        <p:blipFill>
          <a:blip r:embed="rId1"/>
          <a:stretch>
            <a:fillRect/>
          </a:stretch>
        </p:blipFill>
        <p:spPr>
          <a:xfrm>
            <a:off x="49213" y="2781300"/>
            <a:ext cx="9094787" cy="3190875"/>
          </a:xfrm>
          <a:prstGeom prst="rect">
            <a:avLst/>
          </a:prstGeom>
          <a:noFill/>
          <a:ln w="9525">
            <a:noFill/>
          </a:ln>
        </p:spPr>
      </p:pic>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2"/>
          <p:cNvSpPr>
            <a:spLocks noGrp="1"/>
          </p:cNvSpPr>
          <p:nvPr>
            <p:ph type="title"/>
          </p:nvPr>
        </p:nvSpPr>
        <p:spPr/>
        <p:txBody>
          <a:bodyPr vert="horz" wrap="square" lIns="92075" tIns="46038" rIns="92075" bIns="46038" anchor="ctr" anchorCtr="0"/>
          <a:p>
            <a:r>
              <a:rPr lang="en-US" altLang="zh-CN" dirty="0">
                <a:ea typeface="宋体" panose="02010600030101010101" pitchFamily="2" charset="-122"/>
              </a:rPr>
              <a:t>NFA</a:t>
            </a:r>
            <a:r>
              <a:rPr lang="zh-CN" altLang="en-US" dirty="0">
                <a:latin typeface="宋体" panose="02010600030101010101" pitchFamily="2" charset="-122"/>
                <a:ea typeface="宋体" panose="02010600030101010101" pitchFamily="2" charset="-122"/>
              </a:rPr>
              <a:t>模拟的效率（</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134147" name="Rectangle 3"/>
          <p:cNvSpPr>
            <a:spLocks noGrp="1"/>
          </p:cNvSpPr>
          <p:nvPr>
            <p:ph idx="1"/>
          </p:nvPr>
        </p:nvSpPr>
        <p:spPr>
          <a:xfrm>
            <a:off x="250825" y="1557338"/>
            <a:ext cx="3889375" cy="4614862"/>
          </a:xfrm>
        </p:spPr>
        <p:txBody>
          <a:bodyPr vert="horz" wrap="square" lIns="92075" tIns="46038" rIns="92075" bIns="46038" anchor="t" anchorCtr="0"/>
          <a:p>
            <a:pPr marL="914400" lvl="1" indent="-457200"/>
            <a:r>
              <a:rPr lang="zh-CN" altLang="en-US" b="1" dirty="0">
                <a:ea typeface="宋体" panose="02010600030101010101" pitchFamily="2" charset="-122"/>
              </a:rPr>
              <a:t>图</a:t>
            </a:r>
            <a:r>
              <a:rPr lang="en-US" altLang="zh-CN" b="1" dirty="0">
                <a:ea typeface="宋体" panose="02010600030101010101" pitchFamily="2" charset="-122"/>
              </a:rPr>
              <a:t>3-37</a:t>
            </a:r>
            <a:r>
              <a:rPr lang="zh-CN" altLang="en-US" b="1" dirty="0">
                <a:ea typeface="宋体" panose="02010600030101010101" pitchFamily="2" charset="-122"/>
              </a:rPr>
              <a:t>第四行的实现</a:t>
            </a:r>
            <a:endParaRPr lang="en-US" altLang="zh-CN" b="1" dirty="0">
              <a:ea typeface="宋体" panose="02010600030101010101" pitchFamily="2" charset="-122"/>
            </a:endParaRPr>
          </a:p>
          <a:p>
            <a:pPr marL="1314450" lvl="2" indent="-457200"/>
            <a:r>
              <a:rPr lang="zh-CN" altLang="en-US" sz="2000" b="1" dirty="0">
                <a:ea typeface="宋体" panose="02010600030101010101" pitchFamily="2" charset="-122"/>
              </a:rPr>
              <a:t>在第一个循环中</a:t>
            </a:r>
            <a:endParaRPr lang="en-US" altLang="zh-CN" sz="2000" b="1" dirty="0">
              <a:ea typeface="宋体" panose="02010600030101010101" pitchFamily="2" charset="-122"/>
            </a:endParaRPr>
          </a:p>
          <a:p>
            <a:pPr marL="1771650" lvl="3" indent="-457200"/>
            <a:r>
              <a:rPr lang="zh-CN" altLang="en-US" sz="1800" b="1" dirty="0">
                <a:ea typeface="宋体" panose="02010600030101010101" pitchFamily="2" charset="-122"/>
              </a:rPr>
              <a:t>首先是实现对</a:t>
            </a:r>
            <a:r>
              <a:rPr lang="en-US" altLang="zh-CN" sz="1800" b="1" dirty="0">
                <a:ea typeface="宋体" panose="02010600030101010101" pitchFamily="2" charset="-122"/>
              </a:rPr>
              <a:t>move[s,c]</a:t>
            </a:r>
            <a:r>
              <a:rPr lang="zh-CN" altLang="en-US" sz="1800" b="1" dirty="0">
                <a:ea typeface="宋体" panose="02010600030101010101" pitchFamily="2" charset="-122"/>
              </a:rPr>
              <a:t>中每个状态的转换</a:t>
            </a:r>
            <a:endParaRPr lang="en-US" altLang="zh-CN" sz="1800" b="1" dirty="0">
              <a:ea typeface="宋体" panose="02010600030101010101" pitchFamily="2" charset="-122"/>
            </a:endParaRPr>
          </a:p>
          <a:p>
            <a:pPr marL="1771650" lvl="3" indent="-457200"/>
            <a:r>
              <a:rPr lang="zh-CN" altLang="en-US" sz="1800" b="1" dirty="0">
                <a:ea typeface="宋体" panose="02010600030101010101" pitchFamily="2" charset="-122"/>
              </a:rPr>
              <a:t>其次求</a:t>
            </a:r>
            <a:r>
              <a:rPr lang="en-US" altLang="zh-CN" sz="1800" b="1" dirty="0">
                <a:latin typeface="宋体" panose="02010600030101010101" pitchFamily="2" charset="-122"/>
                <a:ea typeface="宋体" panose="02010600030101010101" pitchFamily="2" charset="-122"/>
              </a:rPr>
              <a:t>ε</a:t>
            </a:r>
            <a:r>
              <a:rPr lang="zh-CN" altLang="en-US" sz="1800" b="1" dirty="0">
                <a:ea typeface="宋体" panose="02010600030101010101" pitchFamily="2" charset="-122"/>
              </a:rPr>
              <a:t>闭包（在</a:t>
            </a:r>
            <a:r>
              <a:rPr lang="en-US" altLang="zh-CN" sz="1800" b="1" dirty="0">
                <a:ea typeface="宋体" panose="02010600030101010101" pitchFamily="2" charset="-122"/>
              </a:rPr>
              <a:t>addstate</a:t>
            </a:r>
            <a:r>
              <a:rPr lang="zh-CN" altLang="en-US" sz="1800" b="1" dirty="0">
                <a:ea typeface="宋体" panose="02010600030101010101" pitchFamily="2" charset="-122"/>
              </a:rPr>
              <a:t>中实现）</a:t>
            </a:r>
            <a:endParaRPr lang="en-US" altLang="zh-CN" sz="1800" b="1" dirty="0">
              <a:ea typeface="宋体" panose="02010600030101010101" pitchFamily="2" charset="-122"/>
            </a:endParaRPr>
          </a:p>
          <a:p>
            <a:pPr marL="914400" lvl="1" indent="-457200"/>
            <a:r>
              <a:rPr lang="zh-CN" altLang="en-US" sz="2200" b="1" dirty="0">
                <a:ea typeface="宋体" panose="02010600030101010101" pitchFamily="2" charset="-122"/>
              </a:rPr>
              <a:t>本实现的复杂度</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假设</a:t>
            </a:r>
            <a:r>
              <a:rPr lang="en-US" altLang="zh-CN" sz="2000" b="1" dirty="0">
                <a:ea typeface="宋体" panose="02010600030101010101" pitchFamily="2" charset="-122"/>
              </a:rPr>
              <a:t>NFA</a:t>
            </a:r>
            <a:r>
              <a:rPr lang="zh-CN" altLang="en-US" sz="2000" b="1" dirty="0">
                <a:ea typeface="宋体" panose="02010600030101010101" pitchFamily="2" charset="-122"/>
              </a:rPr>
              <a:t>有</a:t>
            </a:r>
            <a:r>
              <a:rPr lang="en-US" altLang="zh-CN" sz="2000" b="1" dirty="0">
                <a:ea typeface="宋体" panose="02010600030101010101" pitchFamily="2" charset="-122"/>
              </a:rPr>
              <a:t>n</a:t>
            </a:r>
            <a:r>
              <a:rPr lang="zh-CN" altLang="en-US" sz="2000" b="1" dirty="0">
                <a:ea typeface="宋体" panose="02010600030101010101" pitchFamily="2" charset="-122"/>
              </a:rPr>
              <a:t>个状态，</a:t>
            </a:r>
            <a:r>
              <a:rPr lang="en-US" altLang="zh-CN" sz="2000" b="1" dirty="0">
                <a:ea typeface="宋体" panose="02010600030101010101" pitchFamily="2" charset="-122"/>
              </a:rPr>
              <a:t>m</a:t>
            </a:r>
            <a:r>
              <a:rPr lang="zh-CN" altLang="en-US" sz="2000" b="1" dirty="0">
                <a:ea typeface="宋体" panose="02010600030101010101" pitchFamily="2" charset="-122"/>
              </a:rPr>
              <a:t>个转换，输入长度为</a:t>
            </a:r>
            <a:r>
              <a:rPr lang="en-US" altLang="zh-CN" sz="2000" b="1" dirty="0">
                <a:ea typeface="宋体" panose="02010600030101010101" pitchFamily="2" charset="-122"/>
              </a:rPr>
              <a:t>k</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复杂度为</a:t>
            </a:r>
            <a:r>
              <a:rPr lang="en-US" altLang="zh-CN" sz="2000" b="1" i="1" dirty="0">
                <a:ea typeface="宋体" panose="02010600030101010101" pitchFamily="2" charset="-122"/>
              </a:rPr>
              <a:t>O(k(n+m))</a:t>
            </a:r>
            <a:endParaRPr lang="en-US" altLang="zh-CN" sz="2000" b="1" i="1" dirty="0">
              <a:ea typeface="宋体" panose="02010600030101010101" pitchFamily="2" charset="-122"/>
            </a:endParaRPr>
          </a:p>
        </p:txBody>
      </p:sp>
      <p:pic>
        <p:nvPicPr>
          <p:cNvPr id="134148" name="Picture 2"/>
          <p:cNvPicPr>
            <a:picLocks noChangeAspect="1"/>
          </p:cNvPicPr>
          <p:nvPr/>
        </p:nvPicPr>
        <p:blipFill>
          <a:blip r:embed="rId1"/>
          <a:stretch>
            <a:fillRect/>
          </a:stretch>
        </p:blipFill>
        <p:spPr>
          <a:xfrm>
            <a:off x="3995738" y="1533525"/>
            <a:ext cx="4670425" cy="4616450"/>
          </a:xfrm>
          <a:prstGeom prst="rect">
            <a:avLst/>
          </a:prstGeom>
          <a:noFill/>
          <a:ln w="9525">
            <a:noFill/>
          </a:ln>
        </p:spPr>
      </p:pic>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正则式与有穷状态自动机的等价（1）</a:t>
            </a:r>
            <a:endParaRPr lang="zh-CN" altLang="en-US" dirty="0">
              <a:latin typeface="宋体" panose="02010600030101010101" pitchFamily="2" charset="-122"/>
              <a:ea typeface="宋体" panose="02010600030101010101" pitchFamily="2" charset="-122"/>
            </a:endParaRPr>
          </a:p>
        </p:txBody>
      </p:sp>
      <p:sp>
        <p:nvSpPr>
          <p:cNvPr id="136195" name="Rectangle 3"/>
          <p:cNvSpPr>
            <a:spLocks noGrp="1"/>
          </p:cNvSpPr>
          <p:nvPr>
            <p:ph idx="1"/>
          </p:nvPr>
        </p:nvSpPr>
        <p:spPr>
          <a:xfrm>
            <a:off x="990600" y="1371600"/>
            <a:ext cx="7542213" cy="4800600"/>
          </a:xfrm>
        </p:spPr>
        <p:txBody>
          <a:bodyPr vert="horz" wrap="square" lIns="92075" tIns="46038" rIns="92075" bIns="46038" anchor="t" anchorCtr="0"/>
          <a:p>
            <a:pPr marL="495300" indent="-495300"/>
            <a:r>
              <a:rPr lang="zh-CN" altLang="en-US" sz="2200" b="1" dirty="0">
                <a:ea typeface="宋体" panose="02010600030101010101" pitchFamily="2" charset="-122"/>
              </a:rPr>
              <a:t>正则式与</a:t>
            </a:r>
            <a:r>
              <a:rPr lang="en-US" altLang="zh-CN" sz="2200" b="1" dirty="0">
                <a:ea typeface="宋体" panose="02010600030101010101" pitchFamily="2" charset="-122"/>
              </a:rPr>
              <a:t>FA</a:t>
            </a:r>
            <a:r>
              <a:rPr lang="zh-CN" altLang="en-US" sz="2200" b="1" dirty="0">
                <a:ea typeface="宋体" panose="02010600030101010101" pitchFamily="2" charset="-122"/>
              </a:rPr>
              <a:t>的等价性：</a:t>
            </a:r>
            <a:endParaRPr lang="zh-CN" altLang="en-US" sz="2200" b="1" dirty="0">
              <a:ea typeface="宋体" panose="02010600030101010101" pitchFamily="2" charset="-122"/>
            </a:endParaRPr>
          </a:p>
          <a:p>
            <a:pPr marL="914400" lvl="1" indent="-457200"/>
            <a:r>
              <a:rPr lang="zh-CN" altLang="en-US" sz="2000" b="1" dirty="0">
                <a:ea typeface="宋体" panose="02010600030101010101" pitchFamily="2" charset="-122"/>
              </a:rPr>
              <a:t>对于任意一个正则式</a:t>
            </a:r>
            <a:r>
              <a:rPr lang="en-US" altLang="zh-CN" sz="2000" b="1" dirty="0">
                <a:ea typeface="宋体" panose="02010600030101010101" pitchFamily="2" charset="-122"/>
              </a:rPr>
              <a:t>r，</a:t>
            </a:r>
            <a:r>
              <a:rPr lang="zh-CN" altLang="en-US" sz="2000" b="1" dirty="0">
                <a:ea typeface="宋体" panose="02010600030101010101" pitchFamily="2" charset="-122"/>
              </a:rPr>
              <a:t>存在一个</a:t>
            </a:r>
            <a:r>
              <a:rPr lang="en-US" altLang="zh-CN" sz="2000" b="1" dirty="0">
                <a:ea typeface="宋体" panose="02010600030101010101" pitchFamily="2" charset="-122"/>
              </a:rPr>
              <a:t>NFA N，</a:t>
            </a:r>
            <a:r>
              <a:rPr lang="zh-CN" altLang="en-US" sz="2000" b="1" dirty="0">
                <a:ea typeface="宋体" panose="02010600030101010101" pitchFamily="2" charset="-122"/>
              </a:rPr>
              <a:t>使得</a:t>
            </a:r>
            <a:r>
              <a:rPr lang="en-US" altLang="zh-CN" sz="2000" b="1" dirty="0">
                <a:ea typeface="宋体" panose="02010600030101010101" pitchFamily="2" charset="-122"/>
              </a:rPr>
              <a:t>L(N) = L(r)</a:t>
            </a:r>
            <a:endParaRPr lang="en-US" altLang="zh-CN" sz="2000" b="1" dirty="0">
              <a:ea typeface="宋体" panose="02010600030101010101" pitchFamily="2" charset="-122"/>
            </a:endParaRPr>
          </a:p>
          <a:p>
            <a:pPr marL="914400" lvl="1" indent="-457200"/>
            <a:r>
              <a:rPr lang="zh-CN" altLang="en-US" sz="2000" b="1" dirty="0">
                <a:ea typeface="宋体" panose="02010600030101010101" pitchFamily="2" charset="-122"/>
              </a:rPr>
              <a:t>若语言</a:t>
            </a:r>
            <a:r>
              <a:rPr lang="en-US" altLang="zh-CN" sz="2000" b="1" dirty="0">
                <a:ea typeface="宋体" panose="02010600030101010101" pitchFamily="2" charset="-122"/>
              </a:rPr>
              <a:t>L</a:t>
            </a:r>
            <a:r>
              <a:rPr lang="zh-CN" altLang="en-US" sz="2000" b="1" dirty="0">
                <a:ea typeface="宋体" panose="02010600030101010101" pitchFamily="2" charset="-122"/>
              </a:rPr>
              <a:t>被一个</a:t>
            </a:r>
            <a:r>
              <a:rPr lang="en-US" altLang="zh-CN" sz="2000" b="1" dirty="0">
                <a:ea typeface="宋体" panose="02010600030101010101" pitchFamily="2" charset="-122"/>
              </a:rPr>
              <a:t>DFA</a:t>
            </a:r>
            <a:r>
              <a:rPr lang="zh-CN" altLang="en-US" sz="2000" b="1" dirty="0">
                <a:ea typeface="宋体" panose="02010600030101010101" pitchFamily="2" charset="-122"/>
              </a:rPr>
              <a:t>接受，则存在一个正则式</a:t>
            </a:r>
            <a:r>
              <a:rPr lang="en-US" altLang="zh-CN" sz="2000" b="1" dirty="0">
                <a:ea typeface="宋体" panose="02010600030101010101" pitchFamily="2" charset="-122"/>
              </a:rPr>
              <a:t>r，</a:t>
            </a:r>
            <a:r>
              <a:rPr lang="zh-CN" altLang="en-US" sz="2000" b="1" dirty="0">
                <a:ea typeface="宋体" panose="02010600030101010101" pitchFamily="2" charset="-122"/>
              </a:rPr>
              <a:t>使得</a:t>
            </a:r>
            <a:r>
              <a:rPr lang="en-US" altLang="zh-CN" sz="2000" b="1" dirty="0">
                <a:ea typeface="宋体" panose="02010600030101010101" pitchFamily="2" charset="-122"/>
              </a:rPr>
              <a:t>L = L(r)</a:t>
            </a:r>
            <a:endParaRPr lang="en-US" altLang="zh-CN" sz="2000" b="1" dirty="0">
              <a:ea typeface="宋体" panose="02010600030101010101" pitchFamily="2" charset="-122"/>
            </a:endParaRPr>
          </a:p>
          <a:p>
            <a:pPr marL="495300" indent="-495300"/>
            <a:r>
              <a:rPr lang="zh-CN" altLang="en-US" sz="2200" b="1" dirty="0">
                <a:ea typeface="宋体" panose="02010600030101010101" pitchFamily="2" charset="-122"/>
              </a:rPr>
              <a:t>从正则式到</a:t>
            </a:r>
            <a:r>
              <a:rPr lang="en-US" altLang="zh-CN" sz="2200" b="1" dirty="0">
                <a:ea typeface="宋体" panose="02010600030101010101" pitchFamily="2" charset="-122"/>
              </a:rPr>
              <a:t>NFA：</a:t>
            </a:r>
            <a:r>
              <a:rPr lang="zh-CN" altLang="en-US" sz="2200" b="1" dirty="0">
                <a:ea typeface="宋体" panose="02010600030101010101" pitchFamily="2" charset="-122"/>
              </a:rPr>
              <a:t>构造算法</a:t>
            </a:r>
            <a:r>
              <a:rPr lang="en-US" altLang="zh-CN" sz="2200" b="1" dirty="0">
                <a:ea typeface="宋体" panose="02010600030101010101" pitchFamily="2" charset="-122"/>
              </a:rPr>
              <a:t>Thompson</a:t>
            </a:r>
            <a:r>
              <a:rPr lang="zh-CN" altLang="en-US" sz="2200" b="1" dirty="0">
                <a:ea typeface="宋体" panose="02010600030101010101" pitchFamily="2" charset="-122"/>
              </a:rPr>
              <a:t>算法</a:t>
            </a:r>
            <a:endParaRPr lang="zh-CN" altLang="en-US" sz="2200" b="1" dirty="0">
              <a:ea typeface="宋体" panose="02010600030101010101" pitchFamily="2" charset="-122"/>
            </a:endParaRPr>
          </a:p>
          <a:p>
            <a:pPr marL="914400" lvl="1" indent="-457200"/>
            <a:r>
              <a:rPr lang="zh-CN" altLang="en-US" sz="2000" b="1" dirty="0">
                <a:ea typeface="宋体" panose="02010600030101010101" pitchFamily="2" charset="-122"/>
              </a:rPr>
              <a:t>从简单到复杂逐步根据正则式的语法构造出对应的自动机</a:t>
            </a:r>
            <a:endParaRPr lang="zh-CN" altLang="en-US" sz="2000" b="1" dirty="0">
              <a:ea typeface="宋体" panose="02010600030101010101" pitchFamily="2" charset="-122"/>
            </a:endParaRPr>
          </a:p>
          <a:p>
            <a:pPr marL="914400" lvl="1" indent="-457200"/>
            <a:r>
              <a:rPr lang="zh-CN" altLang="en-US" sz="2000" b="1" dirty="0">
                <a:ea typeface="宋体" panose="02010600030101010101" pitchFamily="2" charset="-122"/>
              </a:rPr>
              <a:t>首先构造识别</a:t>
            </a:r>
            <a:r>
              <a:rPr lang="en-US" altLang="zh-CN" sz="2000" b="1" dirty="0">
                <a:ea typeface="宋体" panose="02010600030101010101" pitchFamily="2" charset="-122"/>
              </a:rPr>
              <a:t>ε</a:t>
            </a:r>
            <a:r>
              <a:rPr lang="zh-CN" altLang="en-US" sz="2000" b="1" dirty="0">
                <a:ea typeface="宋体" panose="02010600030101010101" pitchFamily="2" charset="-122"/>
              </a:rPr>
              <a:t>和字母表中任何符号的自动机</a:t>
            </a:r>
            <a:endParaRPr lang="zh-CN" altLang="en-US" sz="2000" b="1" dirty="0">
              <a:ea typeface="宋体" panose="02010600030101010101" pitchFamily="2" charset="-122"/>
            </a:endParaRPr>
          </a:p>
          <a:p>
            <a:pPr marL="914400" lvl="1" indent="-457200"/>
            <a:r>
              <a:rPr lang="zh-CN" altLang="en-US" sz="2000" b="1" dirty="0">
                <a:ea typeface="宋体" panose="02010600030101010101" pitchFamily="2" charset="-122"/>
              </a:rPr>
              <a:t>然后构造分别含一个选择、并置和闭包算符的正则式对应的</a:t>
            </a:r>
            <a:r>
              <a:rPr lang="en-US" altLang="zh-CN" sz="2000" b="1" dirty="0">
                <a:ea typeface="宋体" panose="02010600030101010101" pitchFamily="2" charset="-122"/>
              </a:rPr>
              <a:t>NFA</a:t>
            </a:r>
            <a:endParaRPr lang="en-US" altLang="zh-CN" sz="2000" b="1" dirty="0">
              <a:ea typeface="宋体" panose="02010600030101010101" pitchFamily="2" charset="-122"/>
            </a:endParaRPr>
          </a:p>
          <a:p>
            <a:pPr marL="914400" lvl="1" indent="-457200"/>
            <a:r>
              <a:rPr lang="zh-CN" altLang="en-US" sz="2000" b="1" dirty="0">
                <a:ea typeface="宋体" panose="02010600030101010101" pitchFamily="2" charset="-122"/>
              </a:rPr>
              <a:t>在构造过程中，每步最多引入两个新的状态，</a:t>
            </a:r>
            <a:r>
              <a:rPr lang="en-US" altLang="zh-CN" sz="2000" b="1" dirty="0">
                <a:ea typeface="宋体" panose="02010600030101010101" pitchFamily="2" charset="-122"/>
              </a:rPr>
              <a:t>NFA</a:t>
            </a:r>
            <a:r>
              <a:rPr lang="zh-CN" altLang="en-US" sz="2000" b="1" dirty="0">
                <a:ea typeface="宋体" panose="02010600030101010101" pitchFamily="2" charset="-122"/>
              </a:rPr>
              <a:t>最终的状态数最多是正则式中符号和算符数的两倍</a:t>
            </a:r>
            <a:endParaRPr lang="zh-CN" altLang="en-US" sz="2000" b="1" dirty="0">
              <a:ea typeface="宋体" panose="02010600030101010101" pitchFamily="2" charset="-122"/>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正则式与有穷状态自动机的等价（2）</a:t>
            </a:r>
            <a:endParaRPr lang="zh-CN" altLang="en-US" dirty="0">
              <a:latin typeface="宋体" panose="02010600030101010101" pitchFamily="2" charset="-122"/>
              <a:ea typeface="宋体" panose="02010600030101010101" pitchFamily="2" charset="-122"/>
            </a:endParaRPr>
          </a:p>
        </p:txBody>
      </p:sp>
      <p:sp>
        <p:nvSpPr>
          <p:cNvPr id="138243" name="Rectangle 3"/>
          <p:cNvSpPr>
            <a:spLocks noGrp="1"/>
          </p:cNvSpPr>
          <p:nvPr>
            <p:ph idx="1"/>
          </p:nvPr>
        </p:nvSpPr>
        <p:spPr>
          <a:xfrm>
            <a:off x="990600" y="1371600"/>
            <a:ext cx="7391400" cy="4800600"/>
          </a:xfrm>
        </p:spPr>
        <p:txBody>
          <a:bodyPr vert="horz" wrap="square" lIns="92075" tIns="46038" rIns="92075" bIns="46038" anchor="t" anchorCtr="0"/>
          <a:p>
            <a:pPr marL="536575" indent="-536575">
              <a:spcBef>
                <a:spcPct val="0"/>
              </a:spcBef>
              <a:buNone/>
            </a:pPr>
            <a:r>
              <a:rPr lang="zh-CN" altLang="en-US" sz="2000" b="1" dirty="0">
                <a:ea typeface="宋体" panose="02010600030101010101" pitchFamily="2" charset="-122"/>
              </a:rPr>
              <a:t>输入：字母表∑上的正则式</a:t>
            </a:r>
            <a:endParaRPr lang="zh-CN" altLang="en-US" sz="2000" b="1" dirty="0">
              <a:ea typeface="宋体" panose="02010600030101010101" pitchFamily="2" charset="-122"/>
            </a:endParaRPr>
          </a:p>
          <a:p>
            <a:pPr marL="536575" indent="-536575">
              <a:spcBef>
                <a:spcPct val="0"/>
              </a:spcBef>
              <a:buNone/>
            </a:pPr>
            <a:r>
              <a:rPr lang="zh-CN" altLang="en-US" sz="2000" b="1" dirty="0">
                <a:ea typeface="宋体" panose="02010600030101010101" pitchFamily="2" charset="-122"/>
              </a:rPr>
              <a:t>输出：接受</a:t>
            </a:r>
            <a:r>
              <a:rPr lang="en-US" altLang="zh-CN" sz="2000" b="1" dirty="0">
                <a:ea typeface="宋体" panose="02010600030101010101" pitchFamily="2" charset="-122"/>
              </a:rPr>
              <a:t>L(r) </a:t>
            </a:r>
            <a:r>
              <a:rPr lang="zh-CN" altLang="en-US" sz="2000" b="1" dirty="0">
                <a:ea typeface="宋体" panose="02010600030101010101" pitchFamily="2" charset="-122"/>
              </a:rPr>
              <a:t>的</a:t>
            </a:r>
            <a:r>
              <a:rPr lang="en-US" altLang="zh-CN" sz="2000" b="1" dirty="0">
                <a:ea typeface="宋体" panose="02010600030101010101" pitchFamily="2" charset="-122"/>
              </a:rPr>
              <a:t>NFA N</a:t>
            </a:r>
            <a:endParaRPr lang="en-US" altLang="zh-CN" sz="2000" b="1" dirty="0">
              <a:ea typeface="宋体" panose="02010600030101010101" pitchFamily="2" charset="-122"/>
            </a:endParaRPr>
          </a:p>
          <a:p>
            <a:pPr marL="536575" indent="-536575">
              <a:spcBef>
                <a:spcPct val="0"/>
              </a:spcBef>
              <a:buNone/>
            </a:pPr>
            <a:r>
              <a:rPr lang="zh-CN" altLang="en-US" sz="2000" b="1" dirty="0">
                <a:ea typeface="宋体" panose="02010600030101010101" pitchFamily="2" charset="-122"/>
              </a:rPr>
              <a:t>方法：</a:t>
            </a:r>
            <a:r>
              <a:rPr lang="en-US" altLang="zh-CN" sz="2000" b="1" dirty="0">
                <a:ea typeface="宋体" panose="02010600030101010101" pitchFamily="2" charset="-122"/>
              </a:rPr>
              <a:t>Thompson</a:t>
            </a:r>
            <a:r>
              <a:rPr lang="zh-CN" altLang="en-US" sz="2000" b="1" dirty="0">
                <a:ea typeface="宋体" panose="02010600030101010101" pitchFamily="2" charset="-122"/>
              </a:rPr>
              <a:t>构造</a:t>
            </a:r>
            <a:endParaRPr lang="zh-CN" altLang="en-US" sz="2000" b="1" dirty="0">
              <a:ea typeface="宋体" panose="02010600030101010101" pitchFamily="2" charset="-122"/>
            </a:endParaRPr>
          </a:p>
          <a:p>
            <a:pPr marL="952500" lvl="1" indent="-495300">
              <a:spcBef>
                <a:spcPct val="0"/>
              </a:spcBef>
              <a:buFontTx/>
              <a:buAutoNum type="arabicParenR"/>
            </a:pPr>
            <a:r>
              <a:rPr lang="zh-CN" altLang="en-US" sz="1800" b="1" dirty="0">
                <a:ea typeface="宋体" panose="02010600030101010101" pitchFamily="2" charset="-122"/>
              </a:rPr>
              <a:t>将</a:t>
            </a:r>
            <a:r>
              <a:rPr lang="en-US" altLang="zh-CN" sz="1800" b="1" dirty="0">
                <a:ea typeface="宋体" panose="02010600030101010101" pitchFamily="2" charset="-122"/>
              </a:rPr>
              <a:t>r</a:t>
            </a:r>
            <a:r>
              <a:rPr lang="zh-CN" altLang="en-US" sz="1800" b="1" dirty="0">
                <a:ea typeface="宋体" panose="02010600030101010101" pitchFamily="2" charset="-122"/>
              </a:rPr>
              <a:t>分解为子表达式，对</a:t>
            </a:r>
            <a:r>
              <a:rPr lang="en-US" altLang="zh-CN" sz="1800" b="1" dirty="0">
                <a:ea typeface="宋体" panose="02010600030101010101" pitchFamily="2" charset="-122"/>
              </a:rPr>
              <a:t>r</a:t>
            </a:r>
            <a:r>
              <a:rPr lang="zh-CN" altLang="en-US" sz="1800" b="1" dirty="0">
                <a:ea typeface="宋体" panose="02010600030101010101" pitchFamily="2" charset="-122"/>
              </a:rPr>
              <a:t>中的每个基本符号（</a:t>
            </a:r>
            <a:r>
              <a:rPr lang="en-US" altLang="zh-CN" sz="1800" b="1" dirty="0">
                <a:ea typeface="宋体" panose="02010600030101010101" pitchFamily="2" charset="-122"/>
              </a:rPr>
              <a:t>ε</a:t>
            </a:r>
            <a:r>
              <a:rPr lang="zh-CN" altLang="en-US" sz="1800" b="1" dirty="0">
                <a:ea typeface="宋体" panose="02010600030101010101" pitchFamily="2" charset="-122"/>
              </a:rPr>
              <a:t>和字母表中任何符号）构造</a:t>
            </a:r>
            <a:r>
              <a:rPr lang="en-US" altLang="zh-CN" sz="1800" b="1" dirty="0">
                <a:ea typeface="宋体" panose="02010600030101010101" pitchFamily="2" charset="-122"/>
              </a:rPr>
              <a:t>NFA：</a:t>
            </a:r>
            <a:r>
              <a:rPr lang="zh-CN" altLang="en-US" sz="1800" b="1" dirty="0">
                <a:ea typeface="宋体" panose="02010600030101010101" pitchFamily="2" charset="-122"/>
              </a:rPr>
              <a:t>此时</a:t>
            </a:r>
            <a:r>
              <a:rPr lang="en-US" altLang="zh-CN" sz="1800" b="1" dirty="0">
                <a:ea typeface="宋体" panose="02010600030101010101" pitchFamily="2" charset="-122"/>
              </a:rPr>
              <a:t>r</a:t>
            </a:r>
            <a:r>
              <a:rPr lang="zh-CN" altLang="en-US" sz="1800" b="1" dirty="0">
                <a:ea typeface="宋体" panose="02010600030101010101" pitchFamily="2" charset="-122"/>
              </a:rPr>
              <a:t>含有0个算符</a:t>
            </a:r>
            <a:endParaRPr lang="zh-CN" altLang="en-US" sz="1800" b="1" dirty="0">
              <a:ea typeface="宋体" panose="02010600030101010101" pitchFamily="2" charset="-122"/>
            </a:endParaRPr>
          </a:p>
          <a:p>
            <a:pPr marL="1333500" lvl="2" indent="-419100">
              <a:spcBef>
                <a:spcPct val="0"/>
              </a:spcBef>
              <a:buFontTx/>
              <a:buAutoNum type="romanLcPeriod"/>
            </a:pPr>
            <a:r>
              <a:rPr lang="zh-CN" altLang="en-US" sz="1800" b="1" dirty="0">
                <a:ea typeface="宋体" panose="02010600030101010101" pitchFamily="2" charset="-122"/>
              </a:rPr>
              <a:t>对于</a:t>
            </a:r>
            <a:r>
              <a:rPr lang="en-US" altLang="zh-CN" sz="1800" b="1" dirty="0">
                <a:ea typeface="宋体" panose="02010600030101010101" pitchFamily="2" charset="-122"/>
              </a:rPr>
              <a:t>ε，</a:t>
            </a:r>
            <a:r>
              <a:rPr lang="zh-CN" altLang="en-US" sz="1800" b="1" dirty="0">
                <a:ea typeface="宋体" panose="02010600030101010101" pitchFamily="2" charset="-122"/>
              </a:rPr>
              <a:t>如下构造</a:t>
            </a:r>
            <a:r>
              <a:rPr lang="en-US" altLang="zh-CN" sz="1800" b="1" dirty="0">
                <a:ea typeface="宋体" panose="02010600030101010101" pitchFamily="2" charset="-122"/>
              </a:rPr>
              <a:t>NFA，i</a:t>
            </a:r>
            <a:r>
              <a:rPr lang="zh-CN" altLang="en-US" sz="1800" b="1" dirty="0">
                <a:ea typeface="宋体" panose="02010600030101010101" pitchFamily="2" charset="-122"/>
              </a:rPr>
              <a:t>是新的开始状态，</a:t>
            </a:r>
            <a:r>
              <a:rPr lang="en-US" altLang="zh-CN" sz="1800" b="1" dirty="0">
                <a:ea typeface="宋体" panose="02010600030101010101" pitchFamily="2" charset="-122"/>
              </a:rPr>
              <a:t>f</a:t>
            </a:r>
            <a:r>
              <a:rPr lang="zh-CN" altLang="en-US" sz="1800" b="1" dirty="0">
                <a:ea typeface="宋体" panose="02010600030101010101" pitchFamily="2" charset="-122"/>
              </a:rPr>
              <a:t>是新的接受状态，这个</a:t>
            </a:r>
            <a:r>
              <a:rPr lang="en-US" altLang="zh-CN" sz="1800" b="1" dirty="0">
                <a:ea typeface="宋体" panose="02010600030101010101" pitchFamily="2" charset="-122"/>
              </a:rPr>
              <a:t>NFA</a:t>
            </a:r>
            <a:r>
              <a:rPr lang="zh-CN" altLang="en-US" sz="1800" b="1" dirty="0">
                <a:ea typeface="宋体" panose="02010600030101010101" pitchFamily="2" charset="-122"/>
              </a:rPr>
              <a:t>识别{</a:t>
            </a:r>
            <a:r>
              <a:rPr lang="en-US" altLang="zh-CN" sz="1800" b="1" dirty="0">
                <a:ea typeface="宋体" panose="02010600030101010101" pitchFamily="2" charset="-122"/>
              </a:rPr>
              <a:t>ε}</a:t>
            </a:r>
            <a:endParaRPr lang="en-US" altLang="zh-CN" sz="1800" b="1" dirty="0">
              <a:ea typeface="宋体" panose="02010600030101010101" pitchFamily="2" charset="-122"/>
            </a:endParaRPr>
          </a:p>
          <a:p>
            <a:pPr marL="1333500" lvl="2" indent="-419100">
              <a:spcBef>
                <a:spcPct val="0"/>
              </a:spcBef>
              <a:buNone/>
            </a:pPr>
            <a:endParaRPr lang="zh-CN" altLang="en-US" sz="1800" b="1" dirty="0">
              <a:ea typeface="宋体" panose="02010600030101010101" pitchFamily="2" charset="-122"/>
            </a:endParaRPr>
          </a:p>
          <a:p>
            <a:pPr marL="1333500" lvl="2" indent="-419100">
              <a:spcBef>
                <a:spcPct val="0"/>
              </a:spcBef>
              <a:buNone/>
            </a:pPr>
            <a:endParaRPr lang="zh-CN" altLang="en-US" sz="1800" b="1" dirty="0">
              <a:ea typeface="宋体" panose="02010600030101010101" pitchFamily="2" charset="-122"/>
            </a:endParaRPr>
          </a:p>
          <a:p>
            <a:pPr marL="1333500" lvl="2" indent="-419100">
              <a:spcBef>
                <a:spcPct val="0"/>
              </a:spcBef>
              <a:buNone/>
            </a:pPr>
            <a:endParaRPr lang="zh-CN" altLang="en-US" sz="1800" b="1" dirty="0">
              <a:ea typeface="宋体" panose="02010600030101010101" pitchFamily="2" charset="-122"/>
            </a:endParaRPr>
          </a:p>
          <a:p>
            <a:pPr marL="1333500" lvl="2" indent="-419100">
              <a:spcBef>
                <a:spcPct val="0"/>
              </a:spcBef>
              <a:buFontTx/>
              <a:buAutoNum type="romanLcPeriod" startAt="2"/>
            </a:pPr>
            <a:r>
              <a:rPr lang="zh-CN" altLang="en-US" sz="1800" b="1" dirty="0">
                <a:ea typeface="宋体" panose="02010600030101010101" pitchFamily="2" charset="-122"/>
              </a:rPr>
              <a:t>对于字母表中的每个符号</a:t>
            </a:r>
            <a:r>
              <a:rPr lang="en-US" altLang="zh-CN" sz="1800" b="1" dirty="0">
                <a:ea typeface="宋体" panose="02010600030101010101" pitchFamily="2" charset="-122"/>
              </a:rPr>
              <a:t>a，</a:t>
            </a:r>
            <a:r>
              <a:rPr lang="zh-CN" altLang="en-US" sz="1800" b="1" dirty="0">
                <a:ea typeface="宋体" panose="02010600030101010101" pitchFamily="2" charset="-122"/>
              </a:rPr>
              <a:t>构造</a:t>
            </a:r>
            <a:r>
              <a:rPr lang="en-US" altLang="zh-CN" sz="1800" b="1" dirty="0">
                <a:ea typeface="宋体" panose="02010600030101010101" pitchFamily="2" charset="-122"/>
              </a:rPr>
              <a:t>NFA，i,f</a:t>
            </a:r>
            <a:r>
              <a:rPr lang="zh-CN" altLang="en-US" sz="1800" b="1" dirty="0">
                <a:ea typeface="宋体" panose="02010600030101010101" pitchFamily="2" charset="-122"/>
              </a:rPr>
              <a:t>的解释同上，这个</a:t>
            </a:r>
            <a:r>
              <a:rPr lang="en-US" altLang="zh-CN" sz="1800" b="1" dirty="0">
                <a:ea typeface="宋体" panose="02010600030101010101" pitchFamily="2" charset="-122"/>
              </a:rPr>
              <a:t>NFA</a:t>
            </a:r>
            <a:r>
              <a:rPr lang="zh-CN" altLang="en-US" sz="1800" b="1" dirty="0">
                <a:ea typeface="宋体" panose="02010600030101010101" pitchFamily="2" charset="-122"/>
              </a:rPr>
              <a:t>识别{</a:t>
            </a:r>
            <a:r>
              <a:rPr lang="en-US" altLang="zh-CN" sz="1800" b="1" dirty="0">
                <a:ea typeface="宋体" panose="02010600030101010101" pitchFamily="2" charset="-122"/>
              </a:rPr>
              <a:t>a}</a:t>
            </a:r>
            <a:endParaRPr lang="en-US" altLang="zh-CN" sz="1800" b="1" dirty="0">
              <a:ea typeface="宋体" panose="02010600030101010101" pitchFamily="2" charset="-122"/>
            </a:endParaRPr>
          </a:p>
        </p:txBody>
      </p:sp>
      <p:graphicFrame>
        <p:nvGraphicFramePr>
          <p:cNvPr id="138244" name="Object 4"/>
          <p:cNvGraphicFramePr>
            <a:graphicFrameLocks noChangeAspect="1"/>
          </p:cNvGraphicFramePr>
          <p:nvPr/>
        </p:nvGraphicFramePr>
        <p:xfrm>
          <a:off x="3276600" y="3505200"/>
          <a:ext cx="2022475" cy="539750"/>
        </p:xfrm>
        <a:graphic>
          <a:graphicData uri="http://schemas.openxmlformats.org/presentationml/2006/ole">
            <mc:AlternateContent xmlns:mc="http://schemas.openxmlformats.org/markup-compatibility/2006">
              <mc:Choice xmlns:v="urn:schemas-microsoft-com:vml" Requires="v">
                <p:oleObj spid="_x0000_s3087" name="" r:id="rId1" imgW="2021205" imgH="540385" progId="Visio.Drawing.6">
                  <p:embed/>
                </p:oleObj>
              </mc:Choice>
              <mc:Fallback>
                <p:oleObj name="" r:id="rId1" imgW="2021205" imgH="540385" progId="Visio.Drawing.6">
                  <p:embed/>
                  <p:pic>
                    <p:nvPicPr>
                      <p:cNvPr id="0" name="图片 3086"/>
                      <p:cNvPicPr/>
                      <p:nvPr/>
                    </p:nvPicPr>
                    <p:blipFill>
                      <a:blip r:embed="rId2"/>
                      <a:stretch>
                        <a:fillRect/>
                      </a:stretch>
                    </p:blipFill>
                    <p:spPr>
                      <a:xfrm>
                        <a:off x="3276600" y="3505200"/>
                        <a:ext cx="2022475" cy="539750"/>
                      </a:xfrm>
                      <a:prstGeom prst="rect">
                        <a:avLst/>
                      </a:prstGeom>
                      <a:noFill/>
                      <a:ln w="38100">
                        <a:noFill/>
                        <a:miter/>
                      </a:ln>
                    </p:spPr>
                  </p:pic>
                </p:oleObj>
              </mc:Fallback>
            </mc:AlternateContent>
          </a:graphicData>
        </a:graphic>
      </p:graphicFrame>
      <p:graphicFrame>
        <p:nvGraphicFramePr>
          <p:cNvPr id="138245" name="Object 5"/>
          <p:cNvGraphicFramePr>
            <a:graphicFrameLocks noChangeAspect="1"/>
          </p:cNvGraphicFramePr>
          <p:nvPr/>
        </p:nvGraphicFramePr>
        <p:xfrm>
          <a:off x="3352800" y="4953000"/>
          <a:ext cx="2022475" cy="539750"/>
        </p:xfrm>
        <a:graphic>
          <a:graphicData uri="http://schemas.openxmlformats.org/presentationml/2006/ole">
            <mc:AlternateContent xmlns:mc="http://schemas.openxmlformats.org/markup-compatibility/2006">
              <mc:Choice xmlns:v="urn:schemas-microsoft-com:vml" Requires="v">
                <p:oleObj spid="_x0000_s3088" name="" r:id="rId3" imgW="2021205" imgH="540385" progId="Visio.Drawing.6">
                  <p:embed/>
                </p:oleObj>
              </mc:Choice>
              <mc:Fallback>
                <p:oleObj name="" r:id="rId3" imgW="2021205" imgH="540385" progId="Visio.Drawing.6">
                  <p:embed/>
                  <p:pic>
                    <p:nvPicPr>
                      <p:cNvPr id="0" name="图片 3087"/>
                      <p:cNvPicPr/>
                      <p:nvPr/>
                    </p:nvPicPr>
                    <p:blipFill>
                      <a:blip r:embed="rId4"/>
                      <a:stretch>
                        <a:fillRect/>
                      </a:stretch>
                    </p:blipFill>
                    <p:spPr>
                      <a:xfrm>
                        <a:off x="3352800" y="4953000"/>
                        <a:ext cx="2022475" cy="539750"/>
                      </a:xfrm>
                      <a:prstGeom prst="rect">
                        <a:avLst/>
                      </a:prstGeom>
                      <a:noFill/>
                      <a:ln w="38100">
                        <a:noFill/>
                        <a:miter/>
                      </a:ln>
                    </p:spPr>
                  </p:pic>
                </p:oleObj>
              </mc:Fallback>
            </mc:AlternateContent>
          </a:graphicData>
        </a:graphic>
      </p:graphicFrame>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正则式与有穷状态自动机的等价（3）</a:t>
            </a:r>
            <a:endParaRPr lang="zh-CN" altLang="en-US" dirty="0">
              <a:latin typeface="宋体" panose="02010600030101010101" pitchFamily="2" charset="-122"/>
              <a:ea typeface="宋体" panose="02010600030101010101" pitchFamily="2" charset="-122"/>
            </a:endParaRPr>
          </a:p>
        </p:txBody>
      </p:sp>
      <p:sp>
        <p:nvSpPr>
          <p:cNvPr id="140291" name="Rectangle 3"/>
          <p:cNvSpPr>
            <a:spLocks noGrp="1"/>
          </p:cNvSpPr>
          <p:nvPr>
            <p:ph idx="1"/>
          </p:nvPr>
        </p:nvSpPr>
        <p:spPr>
          <a:xfrm>
            <a:off x="990600" y="1371600"/>
            <a:ext cx="7391400" cy="4800600"/>
          </a:xfrm>
        </p:spPr>
        <p:txBody>
          <a:bodyPr vert="horz" wrap="square" lIns="92075" tIns="46038" rIns="92075" bIns="46038" anchor="t" anchorCtr="0"/>
          <a:p>
            <a:pPr marL="952500" lvl="1" indent="-495300">
              <a:spcBef>
                <a:spcPct val="0"/>
              </a:spcBef>
              <a:buFontTx/>
              <a:buAutoNum type="arabicParenR" startAt="2"/>
            </a:pPr>
            <a:r>
              <a:rPr lang="zh-CN" altLang="en-US" sz="1800" b="1" dirty="0">
                <a:ea typeface="宋体" panose="02010600030101010101" pitchFamily="2" charset="-122"/>
              </a:rPr>
              <a:t>如果</a:t>
            </a:r>
            <a:r>
              <a:rPr lang="en-US" altLang="zh-CN" sz="1800" b="1" dirty="0">
                <a:ea typeface="宋体" panose="02010600030101010101" pitchFamily="2" charset="-122"/>
              </a:rPr>
              <a:t>N(s)</a:t>
            </a:r>
            <a:r>
              <a:rPr lang="zh-CN" altLang="en-US" sz="1800" b="1" dirty="0">
                <a:ea typeface="宋体" panose="02010600030101010101" pitchFamily="2" charset="-122"/>
              </a:rPr>
              <a:t>和</a:t>
            </a:r>
            <a:r>
              <a:rPr lang="en-US" altLang="zh-CN" sz="1800" b="1" dirty="0">
                <a:ea typeface="宋体" panose="02010600030101010101" pitchFamily="2" charset="-122"/>
              </a:rPr>
              <a:t>N(t)</a:t>
            </a:r>
            <a:r>
              <a:rPr lang="zh-CN" altLang="en-US" sz="1800" b="1" dirty="0">
                <a:ea typeface="宋体" panose="02010600030101010101" pitchFamily="2" charset="-122"/>
              </a:rPr>
              <a:t>是正则式</a:t>
            </a:r>
            <a:r>
              <a:rPr lang="en-US" altLang="zh-CN" sz="1800" b="1" dirty="0">
                <a:ea typeface="宋体" panose="02010600030101010101" pitchFamily="2" charset="-122"/>
              </a:rPr>
              <a:t>s</a:t>
            </a:r>
            <a:r>
              <a:rPr lang="zh-CN" altLang="en-US" sz="1800" b="1" dirty="0">
                <a:ea typeface="宋体" panose="02010600030101010101" pitchFamily="2" charset="-122"/>
              </a:rPr>
              <a:t>和</a:t>
            </a:r>
            <a:r>
              <a:rPr lang="en-US" altLang="zh-CN" sz="1800" b="1" dirty="0">
                <a:ea typeface="宋体" panose="02010600030101010101" pitchFamily="2" charset="-122"/>
              </a:rPr>
              <a:t>t</a:t>
            </a:r>
            <a:r>
              <a:rPr lang="zh-CN" altLang="en-US" sz="1800" b="1" dirty="0">
                <a:ea typeface="宋体" panose="02010600030101010101" pitchFamily="2" charset="-122"/>
              </a:rPr>
              <a:t>的</a:t>
            </a:r>
            <a:r>
              <a:rPr lang="en-US" altLang="zh-CN" sz="1800" b="1" dirty="0">
                <a:ea typeface="宋体" panose="02010600030101010101" pitchFamily="2" charset="-122"/>
              </a:rPr>
              <a:t>NFA，</a:t>
            </a:r>
            <a:r>
              <a:rPr lang="zh-CN" altLang="en-US" sz="1800" b="1" dirty="0">
                <a:ea typeface="宋体" panose="02010600030101010101" pitchFamily="2" charset="-122"/>
              </a:rPr>
              <a:t>则二者的运算对应的</a:t>
            </a:r>
            <a:r>
              <a:rPr lang="en-US" altLang="zh-CN" sz="1800" b="1" dirty="0">
                <a:ea typeface="宋体" panose="02010600030101010101" pitchFamily="2" charset="-122"/>
              </a:rPr>
              <a:t>NFA</a:t>
            </a:r>
            <a:r>
              <a:rPr lang="zh-CN" altLang="en-US" sz="1800" b="1" dirty="0">
                <a:ea typeface="宋体" panose="02010600030101010101" pitchFamily="2" charset="-122"/>
              </a:rPr>
              <a:t>是：此时已经假设</a:t>
            </a:r>
            <a:r>
              <a:rPr lang="en-US" altLang="zh-CN" sz="1800" b="1" dirty="0">
                <a:ea typeface="宋体" panose="02010600030101010101" pitchFamily="2" charset="-122"/>
              </a:rPr>
              <a:t>r</a:t>
            </a:r>
            <a:r>
              <a:rPr lang="zh-CN" altLang="en-US" sz="1800" b="1" dirty="0">
                <a:ea typeface="宋体" panose="02010600030101010101" pitchFamily="2" charset="-122"/>
              </a:rPr>
              <a:t>中包含的算符少于</a:t>
            </a:r>
            <a:r>
              <a:rPr lang="en-US" altLang="zh-CN" sz="1800" b="1" dirty="0">
                <a:ea typeface="宋体" panose="02010600030101010101" pitchFamily="2" charset="-122"/>
              </a:rPr>
              <a:t>n</a:t>
            </a:r>
            <a:r>
              <a:rPr lang="zh-CN" altLang="en-US" sz="1800" b="1" dirty="0">
                <a:ea typeface="宋体" panose="02010600030101010101" pitchFamily="2" charset="-122"/>
              </a:rPr>
              <a:t>个时命题（ </a:t>
            </a:r>
            <a:r>
              <a:rPr lang="en-US" altLang="zh-CN" sz="1800" b="1" dirty="0">
                <a:ea typeface="宋体" panose="02010600030101010101" pitchFamily="2" charset="-122"/>
              </a:rPr>
              <a:t>L(N) = L(r)）</a:t>
            </a:r>
            <a:r>
              <a:rPr lang="zh-CN" altLang="en-US" sz="1800" b="1" dirty="0">
                <a:ea typeface="宋体" panose="02010600030101010101" pitchFamily="2" charset="-122"/>
              </a:rPr>
              <a:t>成立，求证算符个数为</a:t>
            </a:r>
            <a:r>
              <a:rPr lang="en-US" altLang="zh-CN" sz="1800" b="1" dirty="0">
                <a:ea typeface="宋体" panose="02010600030101010101" pitchFamily="2" charset="-122"/>
              </a:rPr>
              <a:t>n</a:t>
            </a:r>
            <a:r>
              <a:rPr lang="zh-CN" altLang="en-US" sz="1800" b="1" dirty="0">
                <a:ea typeface="宋体" panose="02010600030101010101" pitchFamily="2" charset="-122"/>
              </a:rPr>
              <a:t>时，命题成立</a:t>
            </a:r>
            <a:endParaRPr lang="zh-CN" altLang="en-US" sz="1800" b="1" dirty="0">
              <a:ea typeface="宋体" panose="02010600030101010101" pitchFamily="2" charset="-122"/>
            </a:endParaRPr>
          </a:p>
          <a:p>
            <a:pPr marL="1368425" lvl="2" indent="-454025">
              <a:spcBef>
                <a:spcPct val="0"/>
              </a:spcBef>
              <a:buFontTx/>
              <a:buAutoNum type="romanLcPeriod"/>
            </a:pPr>
            <a:r>
              <a:rPr lang="zh-CN" altLang="en-US" sz="1800" b="1" dirty="0">
                <a:ea typeface="宋体" panose="02010600030101010101" pitchFamily="2" charset="-122"/>
              </a:rPr>
              <a:t>对于正则式 </a:t>
            </a:r>
            <a:r>
              <a:rPr lang="en-US" altLang="zh-CN" b="1" dirty="0">
                <a:ea typeface="宋体" panose="02010600030101010101" pitchFamily="2" charset="-122"/>
              </a:rPr>
              <a:t>s | t</a:t>
            </a:r>
            <a:r>
              <a:rPr lang="en-US" altLang="zh-CN" sz="1800" b="1" dirty="0">
                <a:ea typeface="宋体" panose="02010600030101010101" pitchFamily="2" charset="-122"/>
              </a:rPr>
              <a:t>，</a:t>
            </a:r>
            <a:r>
              <a:rPr lang="zh-CN" altLang="en-US" sz="1800" b="1" dirty="0">
                <a:ea typeface="宋体" panose="02010600030101010101" pitchFamily="2" charset="-122"/>
              </a:rPr>
              <a:t>如下构造</a:t>
            </a:r>
            <a:r>
              <a:rPr lang="en-US" altLang="zh-CN" sz="1800" b="1" dirty="0">
                <a:ea typeface="宋体" panose="02010600030101010101" pitchFamily="2" charset="-122"/>
              </a:rPr>
              <a:t>NFA N(s|t)，i</a:t>
            </a:r>
            <a:r>
              <a:rPr lang="zh-CN" altLang="en-US" sz="1800" b="1" dirty="0">
                <a:ea typeface="宋体" panose="02010600030101010101" pitchFamily="2" charset="-122"/>
              </a:rPr>
              <a:t>是新的开始状态，</a:t>
            </a:r>
            <a:r>
              <a:rPr lang="en-US" altLang="zh-CN" sz="1800" b="1" dirty="0">
                <a:ea typeface="宋体" panose="02010600030101010101" pitchFamily="2" charset="-122"/>
              </a:rPr>
              <a:t>f</a:t>
            </a:r>
            <a:r>
              <a:rPr lang="zh-CN" altLang="en-US" sz="1800" b="1" dirty="0">
                <a:ea typeface="宋体" panose="02010600030101010101" pitchFamily="2" charset="-122"/>
              </a:rPr>
              <a:t>是新的接受状态，但</a:t>
            </a:r>
            <a:r>
              <a:rPr lang="en-US" altLang="zh-CN" sz="1800" b="1" dirty="0">
                <a:ea typeface="宋体" panose="02010600030101010101" pitchFamily="2" charset="-122"/>
              </a:rPr>
              <a:t>N(s)</a:t>
            </a:r>
            <a:r>
              <a:rPr lang="zh-CN" altLang="en-US" sz="1800" b="1" dirty="0">
                <a:ea typeface="宋体" panose="02010600030101010101" pitchFamily="2" charset="-122"/>
              </a:rPr>
              <a:t>和</a:t>
            </a:r>
            <a:r>
              <a:rPr lang="en-US" altLang="zh-CN" sz="1800" b="1" dirty="0">
                <a:ea typeface="宋体" panose="02010600030101010101" pitchFamily="2" charset="-122"/>
              </a:rPr>
              <a:t>N(t)</a:t>
            </a:r>
            <a:r>
              <a:rPr lang="zh-CN" altLang="en-US" sz="1800" b="1" dirty="0">
                <a:ea typeface="宋体" panose="02010600030101010101" pitchFamily="2" charset="-122"/>
              </a:rPr>
              <a:t>的开始和接受状态不是</a:t>
            </a:r>
            <a:r>
              <a:rPr lang="en-US" altLang="zh-CN" sz="1800" b="1" dirty="0">
                <a:ea typeface="宋体" panose="02010600030101010101" pitchFamily="2" charset="-122"/>
              </a:rPr>
              <a:t>N(s|t)</a:t>
            </a:r>
            <a:r>
              <a:rPr lang="zh-CN" altLang="en-US" sz="1800" b="1" dirty="0">
                <a:ea typeface="宋体" panose="02010600030101010101" pitchFamily="2" charset="-122"/>
              </a:rPr>
              <a:t>的开始和接受状态。这个</a:t>
            </a:r>
            <a:r>
              <a:rPr lang="en-US" altLang="zh-CN" sz="1800" b="1" dirty="0">
                <a:ea typeface="宋体" panose="02010600030101010101" pitchFamily="2" charset="-122"/>
              </a:rPr>
              <a:t>NFA</a:t>
            </a:r>
            <a:r>
              <a:rPr lang="zh-CN" altLang="en-US" sz="1800" b="1" dirty="0">
                <a:ea typeface="宋体" panose="02010600030101010101" pitchFamily="2" charset="-122"/>
              </a:rPr>
              <a:t>识别</a:t>
            </a:r>
            <a:r>
              <a:rPr lang="en-US" altLang="zh-CN" sz="1800" b="1" dirty="0">
                <a:ea typeface="宋体" panose="02010600030101010101" pitchFamily="2" charset="-122"/>
              </a:rPr>
              <a:t>L(s)</a:t>
            </a:r>
            <a:r>
              <a:rPr lang="en-US" altLang="zh-CN" sz="1800" b="1" dirty="0">
                <a:latin typeface="宋体" panose="02010600030101010101" pitchFamily="2" charset="-122"/>
                <a:ea typeface="宋体" panose="02010600030101010101" pitchFamily="2" charset="-122"/>
              </a:rPr>
              <a:t>∪</a:t>
            </a:r>
            <a:r>
              <a:rPr lang="en-US" altLang="zh-CN" sz="1800" b="1" dirty="0">
                <a:ea typeface="宋体" panose="02010600030101010101" pitchFamily="2" charset="-122"/>
              </a:rPr>
              <a:t>L(t)</a:t>
            </a:r>
            <a:endParaRPr lang="zh-CN" altLang="en-US" sz="1800" b="1" dirty="0">
              <a:ea typeface="宋体" panose="02010600030101010101" pitchFamily="2" charset="-122"/>
            </a:endParaRPr>
          </a:p>
        </p:txBody>
      </p:sp>
      <p:graphicFrame>
        <p:nvGraphicFramePr>
          <p:cNvPr id="140292" name="Object 6"/>
          <p:cNvGraphicFramePr>
            <a:graphicFrameLocks noChangeAspect="1"/>
          </p:cNvGraphicFramePr>
          <p:nvPr/>
        </p:nvGraphicFramePr>
        <p:xfrm>
          <a:off x="2667000" y="3200400"/>
          <a:ext cx="4267200" cy="2286000"/>
        </p:xfrm>
        <a:graphic>
          <a:graphicData uri="http://schemas.openxmlformats.org/presentationml/2006/ole">
            <mc:AlternateContent xmlns:mc="http://schemas.openxmlformats.org/markup-compatibility/2006">
              <mc:Choice xmlns:v="urn:schemas-microsoft-com:vml" Requires="v">
                <p:oleObj spid="_x0000_s3083" name="" r:id="rId1" imgW="3843655" imgH="2795270" progId="Visio.Drawing.6">
                  <p:embed/>
                </p:oleObj>
              </mc:Choice>
              <mc:Fallback>
                <p:oleObj name="" r:id="rId1" imgW="3843655" imgH="2795270" progId="Visio.Drawing.6">
                  <p:embed/>
                  <p:pic>
                    <p:nvPicPr>
                      <p:cNvPr id="0" name="图片 3082"/>
                      <p:cNvPicPr/>
                      <p:nvPr/>
                    </p:nvPicPr>
                    <p:blipFill>
                      <a:blip r:embed="rId2"/>
                      <a:stretch>
                        <a:fillRect/>
                      </a:stretch>
                    </p:blipFill>
                    <p:spPr>
                      <a:xfrm>
                        <a:off x="2667000" y="3200400"/>
                        <a:ext cx="4267200" cy="2286000"/>
                      </a:xfrm>
                      <a:prstGeom prst="rect">
                        <a:avLst/>
                      </a:prstGeom>
                      <a:noFill/>
                      <a:ln w="38100">
                        <a:noFill/>
                        <a:miter/>
                      </a:ln>
                    </p:spPr>
                  </p:pic>
                </p:oleObj>
              </mc:Fallback>
            </mc:AlternateContent>
          </a:graphicData>
        </a:graphic>
      </p:graphicFrame>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正则式与有穷状态自动机的等价（4）</a:t>
            </a:r>
            <a:endParaRPr lang="zh-CN" altLang="en-US" dirty="0">
              <a:latin typeface="宋体" panose="02010600030101010101" pitchFamily="2" charset="-122"/>
              <a:ea typeface="宋体" panose="02010600030101010101" pitchFamily="2" charset="-122"/>
            </a:endParaRPr>
          </a:p>
        </p:txBody>
      </p:sp>
      <p:sp>
        <p:nvSpPr>
          <p:cNvPr id="142339" name="Rectangle 3"/>
          <p:cNvSpPr>
            <a:spLocks noGrp="1"/>
          </p:cNvSpPr>
          <p:nvPr>
            <p:ph idx="1"/>
          </p:nvPr>
        </p:nvSpPr>
        <p:spPr>
          <a:xfrm>
            <a:off x="990600" y="1371600"/>
            <a:ext cx="7391400" cy="4800600"/>
          </a:xfrm>
        </p:spPr>
        <p:txBody>
          <a:bodyPr vert="horz" wrap="square" lIns="92075" tIns="46038" rIns="92075" bIns="46038" anchor="t" anchorCtr="0"/>
          <a:p>
            <a:pPr marL="1368425" lvl="2" indent="-454025">
              <a:spcBef>
                <a:spcPct val="0"/>
              </a:spcBef>
              <a:buFontTx/>
              <a:buAutoNum type="romanLcPeriod" startAt="2"/>
            </a:pPr>
            <a:r>
              <a:rPr lang="zh-CN" altLang="en-US" sz="1800" b="1" dirty="0">
                <a:ea typeface="宋体" panose="02010600030101010101" pitchFamily="2" charset="-122"/>
              </a:rPr>
              <a:t>对于正则式 </a:t>
            </a:r>
            <a:r>
              <a:rPr lang="en-US" altLang="zh-CN" sz="2400" b="1" dirty="0">
                <a:ea typeface="宋体" panose="02010600030101010101" pitchFamily="2" charset="-122"/>
              </a:rPr>
              <a:t>st</a:t>
            </a:r>
            <a:r>
              <a:rPr lang="en-US" altLang="zh-CN" sz="1800" b="1" dirty="0">
                <a:ea typeface="宋体" panose="02010600030101010101" pitchFamily="2" charset="-122"/>
              </a:rPr>
              <a:t>，</a:t>
            </a:r>
            <a:r>
              <a:rPr lang="zh-CN" altLang="en-US" sz="1800" b="1" dirty="0">
                <a:ea typeface="宋体" panose="02010600030101010101" pitchFamily="2" charset="-122"/>
              </a:rPr>
              <a:t>如下构造</a:t>
            </a:r>
            <a:r>
              <a:rPr lang="en-US" altLang="zh-CN" sz="1800" b="1" dirty="0">
                <a:ea typeface="宋体" panose="02010600030101010101" pitchFamily="2" charset="-122"/>
              </a:rPr>
              <a:t>NFA N(st)，N(s)</a:t>
            </a:r>
            <a:r>
              <a:rPr lang="zh-CN" altLang="en-US" sz="1800" b="1" dirty="0">
                <a:ea typeface="宋体" panose="02010600030101010101" pitchFamily="2" charset="-122"/>
              </a:rPr>
              <a:t>的开始状态成为</a:t>
            </a:r>
            <a:r>
              <a:rPr lang="en-US" altLang="zh-CN" sz="1800" b="1" dirty="0">
                <a:ea typeface="宋体" panose="02010600030101010101" pitchFamily="2" charset="-122"/>
              </a:rPr>
              <a:t>N(st)</a:t>
            </a:r>
            <a:r>
              <a:rPr lang="zh-CN" altLang="en-US" sz="1800" b="1" dirty="0">
                <a:ea typeface="宋体" panose="02010600030101010101" pitchFamily="2" charset="-122"/>
              </a:rPr>
              <a:t> 的开始状态，</a:t>
            </a:r>
            <a:r>
              <a:rPr lang="en-US" altLang="zh-CN" sz="1800" b="1" dirty="0">
                <a:ea typeface="宋体" panose="02010600030101010101" pitchFamily="2" charset="-122"/>
              </a:rPr>
              <a:t>N(t)</a:t>
            </a:r>
            <a:r>
              <a:rPr lang="zh-CN" altLang="en-US" sz="1800" b="1" dirty="0">
                <a:ea typeface="宋体" panose="02010600030101010101" pitchFamily="2" charset="-122"/>
              </a:rPr>
              <a:t>的接受状态成为</a:t>
            </a:r>
            <a:r>
              <a:rPr lang="en-US" altLang="zh-CN" sz="1800" b="1" dirty="0">
                <a:ea typeface="宋体" panose="02010600030101010101" pitchFamily="2" charset="-122"/>
              </a:rPr>
              <a:t>N(st)</a:t>
            </a:r>
            <a:r>
              <a:rPr lang="zh-CN" altLang="en-US" sz="1800" b="1" dirty="0">
                <a:ea typeface="宋体" panose="02010600030101010101" pitchFamily="2" charset="-122"/>
              </a:rPr>
              <a:t> 的接受状态，</a:t>
            </a:r>
            <a:r>
              <a:rPr lang="en-US" altLang="zh-CN" sz="1800" b="1" dirty="0">
                <a:ea typeface="宋体" panose="02010600030101010101" pitchFamily="2" charset="-122"/>
              </a:rPr>
              <a:t>N(s)</a:t>
            </a:r>
            <a:r>
              <a:rPr lang="zh-CN" altLang="en-US" sz="1800" b="1" dirty="0">
                <a:ea typeface="宋体" panose="02010600030101010101" pitchFamily="2" charset="-122"/>
              </a:rPr>
              <a:t>的接受状态和</a:t>
            </a:r>
            <a:r>
              <a:rPr lang="en-US" altLang="zh-CN" sz="1800" b="1" dirty="0">
                <a:ea typeface="宋体" panose="02010600030101010101" pitchFamily="2" charset="-122"/>
              </a:rPr>
              <a:t>N(t)</a:t>
            </a:r>
            <a:r>
              <a:rPr lang="zh-CN" altLang="en-US" sz="1800" b="1" dirty="0">
                <a:ea typeface="宋体" panose="02010600030101010101" pitchFamily="2" charset="-122"/>
              </a:rPr>
              <a:t>的开始状态合并，但不是</a:t>
            </a:r>
            <a:r>
              <a:rPr lang="en-US" altLang="zh-CN" sz="1800" b="1" dirty="0">
                <a:ea typeface="宋体" panose="02010600030101010101" pitchFamily="2" charset="-122"/>
              </a:rPr>
              <a:t>N(st)</a:t>
            </a:r>
            <a:r>
              <a:rPr lang="zh-CN" altLang="en-US" sz="1800" b="1" dirty="0">
                <a:ea typeface="宋体" panose="02010600030101010101" pitchFamily="2" charset="-122"/>
              </a:rPr>
              <a:t>的开始和接受状态，合并是指从</a:t>
            </a:r>
            <a:r>
              <a:rPr lang="en-US" altLang="zh-CN" sz="1800" b="1" dirty="0">
                <a:ea typeface="宋体" panose="02010600030101010101" pitchFamily="2" charset="-122"/>
              </a:rPr>
              <a:t>N(t)</a:t>
            </a:r>
            <a:r>
              <a:rPr lang="zh-CN" altLang="en-US" sz="1800" b="1" dirty="0">
                <a:ea typeface="宋体" panose="02010600030101010101" pitchFamily="2" charset="-122"/>
              </a:rPr>
              <a:t>的开始状态的所有转换成为从</a:t>
            </a:r>
            <a:r>
              <a:rPr lang="en-US" altLang="zh-CN" sz="1800" b="1" dirty="0">
                <a:ea typeface="宋体" panose="02010600030101010101" pitchFamily="2" charset="-122"/>
              </a:rPr>
              <a:t>N(s)</a:t>
            </a:r>
            <a:r>
              <a:rPr lang="zh-CN" altLang="en-US" sz="1800" b="1" dirty="0">
                <a:ea typeface="宋体" panose="02010600030101010101" pitchFamily="2" charset="-122"/>
              </a:rPr>
              <a:t>的接受状态的转换。这个</a:t>
            </a:r>
            <a:r>
              <a:rPr lang="en-US" altLang="zh-CN" sz="1800" b="1" dirty="0">
                <a:ea typeface="宋体" panose="02010600030101010101" pitchFamily="2" charset="-122"/>
              </a:rPr>
              <a:t>NFA</a:t>
            </a:r>
            <a:r>
              <a:rPr lang="zh-CN" altLang="en-US" sz="1800" b="1" dirty="0">
                <a:ea typeface="宋体" panose="02010600030101010101" pitchFamily="2" charset="-122"/>
              </a:rPr>
              <a:t>识别</a:t>
            </a:r>
            <a:r>
              <a:rPr lang="en-US" altLang="zh-CN" sz="1800" b="1" dirty="0">
                <a:ea typeface="宋体" panose="02010600030101010101" pitchFamily="2" charset="-122"/>
              </a:rPr>
              <a:t>L(s)L(t)</a:t>
            </a: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r>
              <a:rPr lang="en-US" altLang="zh-CN" sz="1800" b="1" dirty="0">
                <a:ea typeface="宋体" panose="02010600030101010101" pitchFamily="2" charset="-122"/>
              </a:rPr>
              <a:t>	</a:t>
            </a:r>
            <a:r>
              <a:rPr lang="zh-CN" altLang="en-US" sz="1800" b="1" dirty="0">
                <a:ea typeface="宋体" panose="02010600030101010101" pitchFamily="2" charset="-122"/>
              </a:rPr>
              <a:t>上述构造的一个等价形式是：</a:t>
            </a:r>
            <a:endParaRPr lang="zh-CN" altLang="en-US" sz="1800" b="1" dirty="0">
              <a:ea typeface="宋体" panose="02010600030101010101" pitchFamily="2" charset="-122"/>
            </a:endParaRPr>
          </a:p>
        </p:txBody>
      </p:sp>
      <p:graphicFrame>
        <p:nvGraphicFramePr>
          <p:cNvPr id="142340" name="Object 5"/>
          <p:cNvGraphicFramePr>
            <a:graphicFrameLocks noChangeAspect="1"/>
          </p:cNvGraphicFramePr>
          <p:nvPr/>
        </p:nvGraphicFramePr>
        <p:xfrm>
          <a:off x="2667000" y="3048000"/>
          <a:ext cx="4562475" cy="960438"/>
        </p:xfrm>
        <a:graphic>
          <a:graphicData uri="http://schemas.openxmlformats.org/presentationml/2006/ole">
            <mc:AlternateContent xmlns:mc="http://schemas.openxmlformats.org/markup-compatibility/2006">
              <mc:Choice xmlns:v="urn:schemas-microsoft-com:vml" Requires="v">
                <p:oleObj spid="_x0000_s3086" name="" r:id="rId1" imgW="4561205" imgH="964565" progId="Visio.Drawing.6">
                  <p:embed/>
                </p:oleObj>
              </mc:Choice>
              <mc:Fallback>
                <p:oleObj name="" r:id="rId1" imgW="4561205" imgH="964565" progId="Visio.Drawing.6">
                  <p:embed/>
                  <p:pic>
                    <p:nvPicPr>
                      <p:cNvPr id="0" name="图片 3085"/>
                      <p:cNvPicPr/>
                      <p:nvPr/>
                    </p:nvPicPr>
                    <p:blipFill>
                      <a:blip r:embed="rId2"/>
                      <a:stretch>
                        <a:fillRect/>
                      </a:stretch>
                    </p:blipFill>
                    <p:spPr>
                      <a:xfrm>
                        <a:off x="2667000" y="3048000"/>
                        <a:ext cx="4562475" cy="960438"/>
                      </a:xfrm>
                      <a:prstGeom prst="rect">
                        <a:avLst/>
                      </a:prstGeom>
                      <a:noFill/>
                      <a:ln w="38100">
                        <a:noFill/>
                        <a:miter/>
                      </a:ln>
                    </p:spPr>
                  </p:pic>
                </p:oleObj>
              </mc:Fallback>
            </mc:AlternateContent>
          </a:graphicData>
        </a:graphic>
      </p:graphicFrame>
      <p:graphicFrame>
        <p:nvGraphicFramePr>
          <p:cNvPr id="142341" name="Object 6"/>
          <p:cNvGraphicFramePr>
            <a:graphicFrameLocks noChangeAspect="1"/>
          </p:cNvGraphicFramePr>
          <p:nvPr/>
        </p:nvGraphicFramePr>
        <p:xfrm>
          <a:off x="2743200" y="4800600"/>
          <a:ext cx="5021263" cy="960438"/>
        </p:xfrm>
        <a:graphic>
          <a:graphicData uri="http://schemas.openxmlformats.org/presentationml/2006/ole">
            <mc:AlternateContent xmlns:mc="http://schemas.openxmlformats.org/markup-compatibility/2006">
              <mc:Choice xmlns:v="urn:schemas-microsoft-com:vml" Requires="v">
                <p:oleObj spid="_x0000_s3084" name="" r:id="rId3" imgW="5019040" imgH="964565" progId="Visio.Drawing.6">
                  <p:embed/>
                </p:oleObj>
              </mc:Choice>
              <mc:Fallback>
                <p:oleObj name="" r:id="rId3" imgW="5019040" imgH="964565" progId="Visio.Drawing.6">
                  <p:embed/>
                  <p:pic>
                    <p:nvPicPr>
                      <p:cNvPr id="0" name="图片 3083"/>
                      <p:cNvPicPr/>
                      <p:nvPr/>
                    </p:nvPicPr>
                    <p:blipFill>
                      <a:blip r:embed="rId4"/>
                      <a:stretch>
                        <a:fillRect/>
                      </a:stretch>
                    </p:blipFill>
                    <p:spPr>
                      <a:xfrm>
                        <a:off x="2743200" y="4800600"/>
                        <a:ext cx="5021263" cy="960438"/>
                      </a:xfrm>
                      <a:prstGeom prst="rect">
                        <a:avLst/>
                      </a:prstGeom>
                      <a:noFill/>
                      <a:ln w="38100">
                        <a:noFill/>
                        <a:miter/>
                      </a:ln>
                    </p:spPr>
                  </p:pic>
                </p:oleObj>
              </mc:Fallback>
            </mc:AlternateContent>
          </a:graphicData>
        </a:graphic>
      </p:graphicFrame>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正则式与有穷状态自动机的等价（5）</a:t>
            </a:r>
            <a:endParaRPr lang="zh-CN" altLang="en-US" dirty="0">
              <a:latin typeface="宋体" panose="02010600030101010101" pitchFamily="2" charset="-122"/>
              <a:ea typeface="宋体" panose="02010600030101010101" pitchFamily="2" charset="-122"/>
            </a:endParaRPr>
          </a:p>
        </p:txBody>
      </p:sp>
      <p:sp>
        <p:nvSpPr>
          <p:cNvPr id="144387" name="Rectangle 3"/>
          <p:cNvSpPr>
            <a:spLocks noGrp="1"/>
          </p:cNvSpPr>
          <p:nvPr>
            <p:ph idx="1"/>
          </p:nvPr>
        </p:nvSpPr>
        <p:spPr>
          <a:xfrm>
            <a:off x="990600" y="1371600"/>
            <a:ext cx="7391400" cy="4800600"/>
          </a:xfrm>
        </p:spPr>
        <p:txBody>
          <a:bodyPr vert="horz" wrap="square" lIns="92075" tIns="46038" rIns="92075" bIns="46038" anchor="t" anchorCtr="0"/>
          <a:p>
            <a:pPr marL="1368425" lvl="2" indent="-454025">
              <a:spcBef>
                <a:spcPct val="0"/>
              </a:spcBef>
              <a:buFontTx/>
              <a:buAutoNum type="romanLcPeriod" startAt="3"/>
            </a:pPr>
            <a:r>
              <a:rPr lang="zh-CN" altLang="en-US" sz="1800" b="1" dirty="0">
                <a:ea typeface="宋体" panose="02010600030101010101" pitchFamily="2" charset="-122"/>
              </a:rPr>
              <a:t>对于正则式 </a:t>
            </a:r>
            <a:r>
              <a:rPr lang="en-US" altLang="zh-CN" b="1" dirty="0">
                <a:ea typeface="宋体" panose="02010600030101010101" pitchFamily="2" charset="-122"/>
              </a:rPr>
              <a:t>s</a:t>
            </a:r>
            <a:r>
              <a:rPr lang="en-US" altLang="zh-CN" b="1" baseline="30000" dirty="0">
                <a:ea typeface="宋体" panose="02010600030101010101" pitchFamily="2" charset="-122"/>
              </a:rPr>
              <a:t>*</a:t>
            </a:r>
            <a:r>
              <a:rPr lang="en-US" altLang="zh-CN" sz="1800" b="1" dirty="0">
                <a:ea typeface="宋体" panose="02010600030101010101" pitchFamily="2" charset="-122"/>
              </a:rPr>
              <a:t>，</a:t>
            </a:r>
            <a:r>
              <a:rPr lang="zh-CN" altLang="en-US" sz="1800" b="1" dirty="0">
                <a:ea typeface="宋体" panose="02010600030101010101" pitchFamily="2" charset="-122"/>
              </a:rPr>
              <a:t>如下构造</a:t>
            </a:r>
            <a:r>
              <a:rPr lang="en-US" altLang="zh-CN" sz="1800" b="1" dirty="0">
                <a:ea typeface="宋体" panose="02010600030101010101" pitchFamily="2" charset="-122"/>
              </a:rPr>
              <a:t>NFA N(</a:t>
            </a:r>
            <a:r>
              <a:rPr lang="en-US" altLang="zh-CN" b="1" dirty="0">
                <a:ea typeface="宋体" panose="02010600030101010101" pitchFamily="2" charset="-122"/>
              </a:rPr>
              <a:t>s</a:t>
            </a:r>
            <a:r>
              <a:rPr lang="en-US" altLang="zh-CN" b="1" baseline="30000" dirty="0">
                <a:ea typeface="宋体" panose="02010600030101010101" pitchFamily="2" charset="-122"/>
              </a:rPr>
              <a:t>*</a:t>
            </a:r>
            <a:r>
              <a:rPr lang="en-US" altLang="zh-CN" sz="1800" b="1" dirty="0">
                <a:ea typeface="宋体" panose="02010600030101010101" pitchFamily="2" charset="-122"/>
              </a:rPr>
              <a:t>)，i</a:t>
            </a:r>
            <a:r>
              <a:rPr lang="zh-CN" altLang="en-US" sz="1800" b="1" dirty="0">
                <a:ea typeface="宋体" panose="02010600030101010101" pitchFamily="2" charset="-122"/>
              </a:rPr>
              <a:t>和</a:t>
            </a:r>
            <a:r>
              <a:rPr lang="en-US" altLang="zh-CN" sz="1800" b="1" dirty="0">
                <a:ea typeface="宋体" panose="02010600030101010101" pitchFamily="2" charset="-122"/>
              </a:rPr>
              <a:t>f</a:t>
            </a:r>
            <a:r>
              <a:rPr lang="zh-CN" altLang="en-US" sz="1800" b="1" dirty="0">
                <a:ea typeface="宋体" panose="02010600030101010101" pitchFamily="2" charset="-122"/>
              </a:rPr>
              <a:t>是新的开始和接受状态。这个</a:t>
            </a:r>
            <a:r>
              <a:rPr lang="en-US" altLang="zh-CN" sz="1800" b="1" dirty="0">
                <a:ea typeface="宋体" panose="02010600030101010101" pitchFamily="2" charset="-122"/>
              </a:rPr>
              <a:t>NFA</a:t>
            </a:r>
            <a:r>
              <a:rPr lang="zh-CN" altLang="en-US" sz="1800" b="1" dirty="0">
                <a:ea typeface="宋体" panose="02010600030101010101" pitchFamily="2" charset="-122"/>
              </a:rPr>
              <a:t>识别(</a:t>
            </a:r>
            <a:r>
              <a:rPr lang="en-US" altLang="zh-CN" sz="1800" b="1" dirty="0">
                <a:ea typeface="宋体" panose="02010600030101010101" pitchFamily="2" charset="-122"/>
              </a:rPr>
              <a:t>L(s))</a:t>
            </a:r>
            <a:r>
              <a:rPr lang="en-US" altLang="zh-CN" sz="1800" b="1" baseline="30000" dirty="0">
                <a:ea typeface="宋体" panose="02010600030101010101" pitchFamily="2" charset="-122"/>
              </a:rPr>
              <a:t> *</a:t>
            </a: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endParaRPr lang="en-US" altLang="zh-CN" sz="1800" b="1" dirty="0">
              <a:ea typeface="宋体" panose="02010600030101010101" pitchFamily="2" charset="-122"/>
            </a:endParaRPr>
          </a:p>
          <a:p>
            <a:pPr marL="1368425" lvl="2" indent="-454025">
              <a:spcBef>
                <a:spcPct val="0"/>
              </a:spcBef>
              <a:buNone/>
            </a:pPr>
            <a:endParaRPr lang="zh-CN" altLang="en-US" sz="1800" b="1" dirty="0">
              <a:ea typeface="宋体" panose="02010600030101010101" pitchFamily="2" charset="-122"/>
            </a:endParaRPr>
          </a:p>
          <a:p>
            <a:pPr marL="1368425" lvl="2" indent="-454025">
              <a:spcBef>
                <a:spcPct val="0"/>
              </a:spcBef>
              <a:buNone/>
            </a:pPr>
            <a:endParaRPr lang="zh-CN" altLang="en-US" sz="1800" b="1" dirty="0">
              <a:ea typeface="宋体" panose="02010600030101010101" pitchFamily="2" charset="-122"/>
            </a:endParaRPr>
          </a:p>
          <a:p>
            <a:pPr marL="1368425" lvl="2" indent="-454025">
              <a:spcBef>
                <a:spcPct val="0"/>
              </a:spcBef>
              <a:buNone/>
            </a:pPr>
            <a:endParaRPr lang="zh-CN" altLang="en-US" sz="1800" b="1" dirty="0">
              <a:ea typeface="宋体" panose="02010600030101010101" pitchFamily="2" charset="-122"/>
            </a:endParaRPr>
          </a:p>
          <a:p>
            <a:pPr marL="1368425" lvl="2" indent="-454025">
              <a:spcBef>
                <a:spcPct val="0"/>
              </a:spcBef>
              <a:buFontTx/>
              <a:buAutoNum type="romanLcPeriod" startAt="4"/>
            </a:pPr>
            <a:r>
              <a:rPr lang="zh-CN" altLang="en-US" sz="1800" b="1" dirty="0">
                <a:ea typeface="宋体" panose="02010600030101010101" pitchFamily="2" charset="-122"/>
              </a:rPr>
              <a:t>对于正则式</a:t>
            </a:r>
            <a:r>
              <a:rPr lang="zh-CN" altLang="en-US" b="1" dirty="0">
                <a:ea typeface="宋体" panose="02010600030101010101" pitchFamily="2" charset="-122"/>
              </a:rPr>
              <a:t>(</a:t>
            </a:r>
            <a:r>
              <a:rPr lang="en-US" altLang="zh-CN" b="1" dirty="0">
                <a:ea typeface="宋体" panose="02010600030101010101" pitchFamily="2" charset="-122"/>
              </a:rPr>
              <a:t>s)</a:t>
            </a:r>
            <a:r>
              <a:rPr lang="en-US" altLang="zh-CN" sz="1800" b="1" dirty="0">
                <a:ea typeface="宋体" panose="02010600030101010101" pitchFamily="2" charset="-122"/>
              </a:rPr>
              <a:t>，</a:t>
            </a:r>
            <a:r>
              <a:rPr lang="zh-CN" altLang="en-US" sz="1800" b="1" dirty="0">
                <a:ea typeface="宋体" panose="02010600030101010101" pitchFamily="2" charset="-122"/>
              </a:rPr>
              <a:t>使</a:t>
            </a:r>
            <a:r>
              <a:rPr lang="en-US" altLang="zh-CN" sz="1800" b="1" dirty="0">
                <a:ea typeface="宋体" panose="02010600030101010101" pitchFamily="2" charset="-122"/>
              </a:rPr>
              <a:t>NFA N(</a:t>
            </a:r>
            <a:r>
              <a:rPr lang="en-US" altLang="zh-CN" b="1" dirty="0">
                <a:ea typeface="宋体" panose="02010600030101010101" pitchFamily="2" charset="-122"/>
              </a:rPr>
              <a:t>s</a:t>
            </a:r>
            <a:r>
              <a:rPr lang="en-US" altLang="zh-CN" sz="1800" b="1" dirty="0">
                <a:ea typeface="宋体" panose="02010600030101010101" pitchFamily="2" charset="-122"/>
              </a:rPr>
              <a:t>)</a:t>
            </a:r>
            <a:r>
              <a:rPr lang="zh-CN" altLang="en-US" sz="1800" b="1" dirty="0">
                <a:ea typeface="宋体" panose="02010600030101010101" pitchFamily="2" charset="-122"/>
              </a:rPr>
              <a:t>本身作为它的</a:t>
            </a:r>
            <a:r>
              <a:rPr lang="en-US" altLang="zh-CN" sz="1800" b="1" dirty="0">
                <a:ea typeface="宋体" panose="02010600030101010101" pitchFamily="2" charset="-122"/>
              </a:rPr>
              <a:t>NFA</a:t>
            </a:r>
            <a:endParaRPr lang="zh-CN" altLang="en-US" sz="1800" b="1" dirty="0">
              <a:ea typeface="宋体" panose="02010600030101010101" pitchFamily="2" charset="-122"/>
            </a:endParaRPr>
          </a:p>
          <a:p>
            <a:pPr marL="1368425" lvl="2" indent="-454025">
              <a:spcBef>
                <a:spcPct val="0"/>
              </a:spcBef>
              <a:buFontTx/>
              <a:buAutoNum type="romanLcPeriod" startAt="4"/>
            </a:pPr>
            <a:endParaRPr lang="zh-CN" altLang="en-US" sz="1800" b="1" dirty="0">
              <a:ea typeface="宋体" panose="02010600030101010101" pitchFamily="2" charset="-122"/>
            </a:endParaRPr>
          </a:p>
        </p:txBody>
      </p:sp>
      <p:graphicFrame>
        <p:nvGraphicFramePr>
          <p:cNvPr id="144388" name="Object 6"/>
          <p:cNvGraphicFramePr>
            <a:graphicFrameLocks noChangeAspect="1"/>
          </p:cNvGraphicFramePr>
          <p:nvPr/>
        </p:nvGraphicFramePr>
        <p:xfrm>
          <a:off x="1981200" y="2133600"/>
          <a:ext cx="4765675" cy="2224088"/>
        </p:xfrm>
        <a:graphic>
          <a:graphicData uri="http://schemas.openxmlformats.org/presentationml/2006/ole">
            <mc:AlternateContent xmlns:mc="http://schemas.openxmlformats.org/markup-compatibility/2006">
              <mc:Choice xmlns:v="urn:schemas-microsoft-com:vml" Requires="v">
                <p:oleObj spid="_x0000_s3085" name="" r:id="rId1" imgW="4756150" imgH="2228215" progId="Visio.Drawing.6">
                  <p:embed/>
                </p:oleObj>
              </mc:Choice>
              <mc:Fallback>
                <p:oleObj name="" r:id="rId1" imgW="4756150" imgH="2228215" progId="Visio.Drawing.6">
                  <p:embed/>
                  <p:pic>
                    <p:nvPicPr>
                      <p:cNvPr id="0" name="图片 3084"/>
                      <p:cNvPicPr/>
                      <p:nvPr/>
                    </p:nvPicPr>
                    <p:blipFill>
                      <a:blip r:embed="rId2"/>
                      <a:stretch>
                        <a:fillRect/>
                      </a:stretch>
                    </p:blipFill>
                    <p:spPr>
                      <a:xfrm>
                        <a:off x="1981200" y="2133600"/>
                        <a:ext cx="4765675" cy="2224088"/>
                      </a:xfrm>
                      <a:prstGeom prst="rect">
                        <a:avLst/>
                      </a:prstGeom>
                      <a:noFill/>
                      <a:ln w="38100">
                        <a:noFill/>
                        <a:miter/>
                      </a:ln>
                    </p:spPr>
                  </p:pic>
                </p:oleObj>
              </mc:Fallback>
            </mc:AlternateContent>
          </a:graphicData>
        </a:graphic>
      </p:graphicFrame>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正则式与有穷状态自动机的等价（6）</a:t>
            </a:r>
            <a:endParaRPr lang="zh-CN" altLang="en-US" dirty="0">
              <a:latin typeface="宋体" panose="02010600030101010101" pitchFamily="2" charset="-122"/>
              <a:ea typeface="宋体" panose="02010600030101010101" pitchFamily="2" charset="-122"/>
            </a:endParaRPr>
          </a:p>
        </p:txBody>
      </p:sp>
      <p:sp>
        <p:nvSpPr>
          <p:cNvPr id="146435" name="Rectangle 3"/>
          <p:cNvSpPr>
            <a:spLocks noGrp="1"/>
          </p:cNvSpPr>
          <p:nvPr>
            <p:ph idx="1"/>
          </p:nvPr>
        </p:nvSpPr>
        <p:spPr>
          <a:xfrm>
            <a:off x="990600" y="1371600"/>
            <a:ext cx="7391400" cy="4800600"/>
          </a:xfrm>
        </p:spPr>
        <p:txBody>
          <a:bodyPr vert="horz" wrap="square" lIns="92075" tIns="46038" rIns="92075" bIns="46038" anchor="t" anchorCtr="0"/>
          <a:p>
            <a:pPr marL="914400" lvl="1" indent="-457200"/>
            <a:r>
              <a:rPr lang="zh-CN" altLang="en-US" sz="2000" b="1" dirty="0">
                <a:ea typeface="宋体" panose="02010600030101010101" pitchFamily="2" charset="-122"/>
              </a:rPr>
              <a:t>上述方法构造的</a:t>
            </a:r>
            <a:r>
              <a:rPr lang="en-US" altLang="zh-CN" sz="2000" b="1" dirty="0">
                <a:ea typeface="宋体" panose="02010600030101010101" pitchFamily="2" charset="-122"/>
              </a:rPr>
              <a:t>NFA</a:t>
            </a:r>
            <a:r>
              <a:rPr lang="zh-CN" altLang="en-US" sz="2000" b="1" dirty="0">
                <a:ea typeface="宋体" panose="02010600030101010101" pitchFamily="2" charset="-122"/>
              </a:rPr>
              <a:t>具有如下的性质：</a:t>
            </a:r>
            <a:endParaRPr lang="zh-CN" altLang="en-US" sz="2000" b="1" dirty="0">
              <a:ea typeface="宋体" panose="02010600030101010101" pitchFamily="2" charset="-122"/>
            </a:endParaRPr>
          </a:p>
          <a:p>
            <a:pPr marL="1333500" lvl="2" indent="-419100">
              <a:buSzTx/>
              <a:buFontTx/>
              <a:buAutoNum type="arabicParenR"/>
            </a:pPr>
            <a:r>
              <a:rPr lang="en-US" altLang="zh-CN" sz="2000" b="1" dirty="0">
                <a:ea typeface="宋体" panose="02010600030101010101" pitchFamily="2" charset="-122"/>
              </a:rPr>
              <a:t>N(r)</a:t>
            </a:r>
            <a:r>
              <a:rPr lang="zh-CN" altLang="en-US" sz="2000" b="1" dirty="0">
                <a:ea typeface="宋体" panose="02010600030101010101" pitchFamily="2" charset="-122"/>
              </a:rPr>
              <a:t>的状态数最多是</a:t>
            </a:r>
            <a:r>
              <a:rPr lang="en-US" altLang="zh-CN" sz="2000" b="1" dirty="0">
                <a:ea typeface="宋体" panose="02010600030101010101" pitchFamily="2" charset="-122"/>
              </a:rPr>
              <a:t>r</a:t>
            </a:r>
            <a:r>
              <a:rPr lang="zh-CN" altLang="en-US" sz="2000" b="1" dirty="0">
                <a:ea typeface="宋体" panose="02010600030101010101" pitchFamily="2" charset="-122"/>
              </a:rPr>
              <a:t>中符号和算符个数的两倍</a:t>
            </a:r>
            <a:endParaRPr lang="zh-CN" altLang="en-US" sz="2000" b="1" dirty="0">
              <a:ea typeface="宋体" panose="02010600030101010101" pitchFamily="2" charset="-122"/>
            </a:endParaRPr>
          </a:p>
          <a:p>
            <a:pPr marL="1333500" lvl="2" indent="-419100">
              <a:buSzTx/>
              <a:buFontTx/>
              <a:buAutoNum type="arabicParenR"/>
            </a:pPr>
            <a:r>
              <a:rPr lang="en-US" altLang="zh-CN" sz="2000" b="1" dirty="0">
                <a:ea typeface="宋体" panose="02010600030101010101" pitchFamily="2" charset="-122"/>
              </a:rPr>
              <a:t>N(r)</a:t>
            </a:r>
            <a:r>
              <a:rPr lang="zh-CN" altLang="en-US" sz="2000" b="1" dirty="0">
                <a:ea typeface="宋体" panose="02010600030101010101" pitchFamily="2" charset="-122"/>
              </a:rPr>
              <a:t>只有一个开始状态和一个接受状态，接受状态没有向外的转换</a:t>
            </a:r>
            <a:endParaRPr lang="zh-CN" altLang="en-US" sz="2000" b="1" dirty="0">
              <a:ea typeface="宋体" panose="02010600030101010101" pitchFamily="2" charset="-122"/>
            </a:endParaRPr>
          </a:p>
          <a:p>
            <a:pPr marL="1333500" lvl="2" indent="-419100">
              <a:buSzTx/>
              <a:buFontTx/>
              <a:buAutoNum type="arabicParenR"/>
            </a:pPr>
            <a:r>
              <a:rPr lang="en-US" altLang="zh-CN" sz="2000" b="1" dirty="0">
                <a:ea typeface="宋体" panose="02010600030101010101" pitchFamily="2" charset="-122"/>
              </a:rPr>
              <a:t>N(r)</a:t>
            </a:r>
            <a:r>
              <a:rPr lang="zh-CN" altLang="en-US" sz="2000" b="1" dirty="0">
                <a:ea typeface="宋体" panose="02010600030101010101" pitchFamily="2" charset="-122"/>
              </a:rPr>
              <a:t>的每个非接受状态有一个用字母表中的符号标记的向外的转换，或者最多有两个向外的</a:t>
            </a:r>
            <a:r>
              <a:rPr lang="en-US" altLang="zh-CN" sz="2000" b="1" dirty="0">
                <a:ea typeface="宋体" panose="02010600030101010101" pitchFamily="2" charset="-122"/>
              </a:rPr>
              <a:t>ε</a:t>
            </a:r>
            <a:r>
              <a:rPr lang="zh-CN" altLang="en-US" sz="2000" b="1" dirty="0">
                <a:ea typeface="宋体" panose="02010600030101010101" pitchFamily="2" charset="-122"/>
              </a:rPr>
              <a:t>转换</a:t>
            </a:r>
            <a:endParaRPr lang="en-US" altLang="zh-CN" sz="2000" b="1" dirty="0">
              <a:ea typeface="宋体" panose="02010600030101010101" pitchFamily="2" charset="-122"/>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正则式与有穷状态自动机的等价（7）</a:t>
            </a:r>
            <a:endParaRPr lang="zh-CN" altLang="en-US" dirty="0">
              <a:latin typeface="宋体" panose="02010600030101010101" pitchFamily="2" charset="-122"/>
              <a:ea typeface="宋体" panose="02010600030101010101" pitchFamily="2" charset="-122"/>
            </a:endParaRPr>
          </a:p>
        </p:txBody>
      </p:sp>
      <p:graphicFrame>
        <p:nvGraphicFramePr>
          <p:cNvPr id="148483" name="Object 10"/>
          <p:cNvGraphicFramePr>
            <a:graphicFrameLocks noChangeAspect="1"/>
          </p:cNvGraphicFramePr>
          <p:nvPr/>
        </p:nvGraphicFramePr>
        <p:xfrm>
          <a:off x="762000" y="1295400"/>
          <a:ext cx="3343275" cy="3048000"/>
        </p:xfrm>
        <a:graphic>
          <a:graphicData uri="http://schemas.openxmlformats.org/presentationml/2006/ole">
            <mc:AlternateContent xmlns:mc="http://schemas.openxmlformats.org/markup-compatibility/2006">
              <mc:Choice xmlns:v="urn:schemas-microsoft-com:vml" Requires="v">
                <p:oleObj spid="_x0000_s3096" name="" r:id="rId1" imgW="3336290" imgH="3913505" progId="Visio.Drawing.6">
                  <p:embed/>
                </p:oleObj>
              </mc:Choice>
              <mc:Fallback>
                <p:oleObj name="" r:id="rId1" imgW="3336290" imgH="3913505" progId="Visio.Drawing.6">
                  <p:embed/>
                  <p:pic>
                    <p:nvPicPr>
                      <p:cNvPr id="0" name="图片 3095"/>
                      <p:cNvPicPr/>
                      <p:nvPr/>
                    </p:nvPicPr>
                    <p:blipFill>
                      <a:blip r:embed="rId2"/>
                      <a:stretch>
                        <a:fillRect/>
                      </a:stretch>
                    </p:blipFill>
                    <p:spPr>
                      <a:xfrm>
                        <a:off x="762000" y="1295400"/>
                        <a:ext cx="3343275" cy="3048000"/>
                      </a:xfrm>
                      <a:prstGeom prst="rect">
                        <a:avLst/>
                      </a:prstGeom>
                      <a:noFill/>
                      <a:ln w="38100">
                        <a:noFill/>
                        <a:miter/>
                      </a:ln>
                    </p:spPr>
                  </p:pic>
                </p:oleObj>
              </mc:Fallback>
            </mc:AlternateContent>
          </a:graphicData>
        </a:graphic>
      </p:graphicFrame>
      <p:graphicFrame>
        <p:nvGraphicFramePr>
          <p:cNvPr id="612359" name="Object 7"/>
          <p:cNvGraphicFramePr>
            <a:graphicFrameLocks noChangeAspect="1"/>
          </p:cNvGraphicFramePr>
          <p:nvPr/>
        </p:nvGraphicFramePr>
        <p:xfrm>
          <a:off x="3376613" y="4165600"/>
          <a:ext cx="1089025" cy="496888"/>
        </p:xfrm>
        <a:graphic>
          <a:graphicData uri="http://schemas.openxmlformats.org/presentationml/2006/ole">
            <mc:AlternateContent xmlns:mc="http://schemas.openxmlformats.org/markup-compatibility/2006">
              <mc:Choice xmlns:v="urn:schemas-microsoft-com:vml" Requires="v">
                <p:oleObj spid="_x0000_s3090" name="" r:id="rId3" imgW="1430655" imgH="540385" progId="Visio.Drawing.6">
                  <p:embed/>
                </p:oleObj>
              </mc:Choice>
              <mc:Fallback>
                <p:oleObj name="" r:id="rId3" imgW="1430655" imgH="540385" progId="Visio.Drawing.6">
                  <p:embed/>
                  <p:pic>
                    <p:nvPicPr>
                      <p:cNvPr id="0" name="图片 3089"/>
                      <p:cNvPicPr/>
                      <p:nvPr/>
                    </p:nvPicPr>
                    <p:blipFill>
                      <a:blip r:embed="rId4"/>
                      <a:stretch>
                        <a:fillRect/>
                      </a:stretch>
                    </p:blipFill>
                    <p:spPr>
                      <a:xfrm>
                        <a:off x="3376613" y="4165600"/>
                        <a:ext cx="1089025" cy="496888"/>
                      </a:xfrm>
                      <a:prstGeom prst="rect">
                        <a:avLst/>
                      </a:prstGeom>
                      <a:noFill/>
                      <a:ln w="38100">
                        <a:noFill/>
                        <a:miter/>
                      </a:ln>
                    </p:spPr>
                  </p:pic>
                </p:oleObj>
              </mc:Fallback>
            </mc:AlternateContent>
          </a:graphicData>
        </a:graphic>
      </p:graphicFrame>
      <p:graphicFrame>
        <p:nvGraphicFramePr>
          <p:cNvPr id="612360" name="Object 8"/>
          <p:cNvGraphicFramePr>
            <a:graphicFrameLocks noChangeAspect="1"/>
          </p:cNvGraphicFramePr>
          <p:nvPr/>
        </p:nvGraphicFramePr>
        <p:xfrm>
          <a:off x="3376613" y="4968875"/>
          <a:ext cx="1089025" cy="496888"/>
        </p:xfrm>
        <a:graphic>
          <a:graphicData uri="http://schemas.openxmlformats.org/presentationml/2006/ole">
            <mc:AlternateContent xmlns:mc="http://schemas.openxmlformats.org/markup-compatibility/2006">
              <mc:Choice xmlns:v="urn:schemas-microsoft-com:vml" Requires="v">
                <p:oleObj spid="_x0000_s3092" name="" r:id="rId5" imgW="1430655" imgH="540385" progId="Visio.Drawing.6">
                  <p:embed/>
                </p:oleObj>
              </mc:Choice>
              <mc:Fallback>
                <p:oleObj name="" r:id="rId5" imgW="1430655" imgH="540385" progId="Visio.Drawing.6">
                  <p:embed/>
                  <p:pic>
                    <p:nvPicPr>
                      <p:cNvPr id="0" name="图片 3091"/>
                      <p:cNvPicPr/>
                      <p:nvPr/>
                    </p:nvPicPr>
                    <p:blipFill>
                      <a:blip r:embed="rId6"/>
                      <a:stretch>
                        <a:fillRect/>
                      </a:stretch>
                    </p:blipFill>
                    <p:spPr>
                      <a:xfrm>
                        <a:off x="3376613" y="4968875"/>
                        <a:ext cx="1089025" cy="496888"/>
                      </a:xfrm>
                      <a:prstGeom prst="rect">
                        <a:avLst/>
                      </a:prstGeom>
                      <a:noFill/>
                      <a:ln w="38100">
                        <a:noFill/>
                        <a:miter/>
                      </a:ln>
                    </p:spPr>
                  </p:pic>
                </p:oleObj>
              </mc:Fallback>
            </mc:AlternateContent>
          </a:graphicData>
        </a:graphic>
      </p:graphicFrame>
      <p:graphicFrame>
        <p:nvGraphicFramePr>
          <p:cNvPr id="612361" name="Object 9"/>
          <p:cNvGraphicFramePr>
            <a:graphicFrameLocks noChangeAspect="1"/>
          </p:cNvGraphicFramePr>
          <p:nvPr/>
        </p:nvGraphicFramePr>
        <p:xfrm>
          <a:off x="2652713" y="4238625"/>
          <a:ext cx="2482850" cy="1104900"/>
        </p:xfrm>
        <a:graphic>
          <a:graphicData uri="http://schemas.openxmlformats.org/presentationml/2006/ole">
            <mc:AlternateContent xmlns:mc="http://schemas.openxmlformats.org/markup-compatibility/2006">
              <mc:Choice xmlns:v="urn:schemas-microsoft-com:vml" Requires="v">
                <p:oleObj spid="_x0000_s3095" name="" r:id="rId7" imgW="3259455" imgH="1202690" progId="Visio.Drawing.6">
                  <p:embed/>
                </p:oleObj>
              </mc:Choice>
              <mc:Fallback>
                <p:oleObj name="" r:id="rId7" imgW="3259455" imgH="1202690" progId="Visio.Drawing.6">
                  <p:embed/>
                  <p:pic>
                    <p:nvPicPr>
                      <p:cNvPr id="0" name="图片 3094"/>
                      <p:cNvPicPr/>
                      <p:nvPr/>
                    </p:nvPicPr>
                    <p:blipFill>
                      <a:blip r:embed="rId8"/>
                      <a:stretch>
                        <a:fillRect/>
                      </a:stretch>
                    </p:blipFill>
                    <p:spPr>
                      <a:xfrm>
                        <a:off x="2652713" y="4238625"/>
                        <a:ext cx="2482850" cy="1104900"/>
                      </a:xfrm>
                      <a:prstGeom prst="rect">
                        <a:avLst/>
                      </a:prstGeom>
                      <a:noFill/>
                      <a:ln w="38100">
                        <a:noFill/>
                        <a:miter/>
                      </a:ln>
                    </p:spPr>
                  </p:pic>
                </p:oleObj>
              </mc:Fallback>
            </mc:AlternateContent>
          </a:graphicData>
        </a:graphic>
      </p:graphicFrame>
      <p:graphicFrame>
        <p:nvGraphicFramePr>
          <p:cNvPr id="612363" name="Object 11"/>
          <p:cNvGraphicFramePr>
            <a:graphicFrameLocks noChangeAspect="1"/>
          </p:cNvGraphicFramePr>
          <p:nvPr/>
        </p:nvGraphicFramePr>
        <p:xfrm>
          <a:off x="1930400" y="3581400"/>
          <a:ext cx="3873500" cy="2286000"/>
        </p:xfrm>
        <a:graphic>
          <a:graphicData uri="http://schemas.openxmlformats.org/presentationml/2006/ole">
            <mc:AlternateContent xmlns:mc="http://schemas.openxmlformats.org/markup-compatibility/2006">
              <mc:Choice xmlns:v="urn:schemas-microsoft-com:vml" Requires="v">
                <p:oleObj spid="_x0000_s3093" name="" r:id="rId9" imgW="5078095" imgH="2482850" progId="Visio.Drawing.6">
                  <p:embed/>
                </p:oleObj>
              </mc:Choice>
              <mc:Fallback>
                <p:oleObj name="" r:id="rId9" imgW="5078095" imgH="2482850" progId="Visio.Drawing.6">
                  <p:embed/>
                  <p:pic>
                    <p:nvPicPr>
                      <p:cNvPr id="0" name="图片 3092"/>
                      <p:cNvPicPr/>
                      <p:nvPr/>
                    </p:nvPicPr>
                    <p:blipFill>
                      <a:blip r:embed="rId10"/>
                      <a:stretch>
                        <a:fillRect/>
                      </a:stretch>
                    </p:blipFill>
                    <p:spPr>
                      <a:xfrm>
                        <a:off x="1930400" y="3581400"/>
                        <a:ext cx="3873500" cy="2286000"/>
                      </a:xfrm>
                      <a:prstGeom prst="rect">
                        <a:avLst/>
                      </a:prstGeom>
                      <a:noFill/>
                      <a:ln w="38100">
                        <a:noFill/>
                        <a:miter/>
                      </a:ln>
                    </p:spPr>
                  </p:pic>
                </p:oleObj>
              </mc:Fallback>
            </mc:AlternateContent>
          </a:graphicData>
        </a:graphic>
      </p:graphicFrame>
      <p:graphicFrame>
        <p:nvGraphicFramePr>
          <p:cNvPr id="612364" name="Object 12"/>
          <p:cNvGraphicFramePr>
            <a:graphicFrameLocks noChangeAspect="1"/>
          </p:cNvGraphicFramePr>
          <p:nvPr/>
        </p:nvGraphicFramePr>
        <p:xfrm>
          <a:off x="5638800" y="4495800"/>
          <a:ext cx="842963" cy="496888"/>
        </p:xfrm>
        <a:graphic>
          <a:graphicData uri="http://schemas.openxmlformats.org/presentationml/2006/ole">
            <mc:AlternateContent xmlns:mc="http://schemas.openxmlformats.org/markup-compatibility/2006">
              <mc:Choice xmlns:v="urn:schemas-microsoft-com:vml" Requires="v">
                <p:oleObj spid="_x0000_s3094" name="" r:id="rId11" imgW="1106805" imgH="540385" progId="Visio.Drawing.6">
                  <p:embed/>
                </p:oleObj>
              </mc:Choice>
              <mc:Fallback>
                <p:oleObj name="" r:id="rId11" imgW="1106805" imgH="540385" progId="Visio.Drawing.6">
                  <p:embed/>
                  <p:pic>
                    <p:nvPicPr>
                      <p:cNvPr id="0" name="图片 3093"/>
                      <p:cNvPicPr/>
                      <p:nvPr/>
                    </p:nvPicPr>
                    <p:blipFill>
                      <a:blip r:embed="rId12"/>
                      <a:stretch>
                        <a:fillRect/>
                      </a:stretch>
                    </p:blipFill>
                    <p:spPr>
                      <a:xfrm>
                        <a:off x="5638800" y="4495800"/>
                        <a:ext cx="842963" cy="496888"/>
                      </a:xfrm>
                      <a:prstGeom prst="rect">
                        <a:avLst/>
                      </a:prstGeom>
                      <a:noFill/>
                      <a:ln w="38100">
                        <a:noFill/>
                        <a:miter/>
                      </a:ln>
                    </p:spPr>
                  </p:pic>
                </p:oleObj>
              </mc:Fallback>
            </mc:AlternateContent>
          </a:graphicData>
        </a:graphic>
      </p:graphicFrame>
      <p:graphicFrame>
        <p:nvGraphicFramePr>
          <p:cNvPr id="612365" name="Object 13"/>
          <p:cNvGraphicFramePr>
            <a:graphicFrameLocks noChangeAspect="1"/>
          </p:cNvGraphicFramePr>
          <p:nvPr/>
        </p:nvGraphicFramePr>
        <p:xfrm>
          <a:off x="6324600" y="4495800"/>
          <a:ext cx="842963" cy="496888"/>
        </p:xfrm>
        <a:graphic>
          <a:graphicData uri="http://schemas.openxmlformats.org/presentationml/2006/ole">
            <mc:AlternateContent xmlns:mc="http://schemas.openxmlformats.org/markup-compatibility/2006">
              <mc:Choice xmlns:v="urn:schemas-microsoft-com:vml" Requires="v">
                <p:oleObj spid="_x0000_s3089" name="" r:id="rId13" imgW="1106805" imgH="540385" progId="Visio.Drawing.6">
                  <p:embed/>
                </p:oleObj>
              </mc:Choice>
              <mc:Fallback>
                <p:oleObj name="" r:id="rId13" imgW="1106805" imgH="540385" progId="Visio.Drawing.6">
                  <p:embed/>
                  <p:pic>
                    <p:nvPicPr>
                      <p:cNvPr id="0" name="图片 3088"/>
                      <p:cNvPicPr/>
                      <p:nvPr/>
                    </p:nvPicPr>
                    <p:blipFill>
                      <a:blip r:embed="rId14"/>
                      <a:stretch>
                        <a:fillRect/>
                      </a:stretch>
                    </p:blipFill>
                    <p:spPr>
                      <a:xfrm>
                        <a:off x="6324600" y="4495800"/>
                        <a:ext cx="842963" cy="496888"/>
                      </a:xfrm>
                      <a:prstGeom prst="rect">
                        <a:avLst/>
                      </a:prstGeom>
                      <a:noFill/>
                      <a:ln w="38100">
                        <a:noFill/>
                        <a:miter/>
                      </a:ln>
                    </p:spPr>
                  </p:pic>
                </p:oleObj>
              </mc:Fallback>
            </mc:AlternateContent>
          </a:graphicData>
        </a:graphic>
      </p:graphicFrame>
      <p:graphicFrame>
        <p:nvGraphicFramePr>
          <p:cNvPr id="612369" name="Object 17"/>
          <p:cNvGraphicFramePr>
            <a:graphicFrameLocks noChangeAspect="1"/>
          </p:cNvGraphicFramePr>
          <p:nvPr/>
        </p:nvGraphicFramePr>
        <p:xfrm>
          <a:off x="1447800" y="4495800"/>
          <a:ext cx="6400800" cy="527050"/>
        </p:xfrm>
        <a:graphic>
          <a:graphicData uri="http://schemas.openxmlformats.org/presentationml/2006/ole">
            <mc:AlternateContent xmlns:mc="http://schemas.openxmlformats.org/markup-compatibility/2006">
              <mc:Choice xmlns:v="urn:schemas-microsoft-com:vml" Requires="v">
                <p:oleObj spid="_x0000_s3091" name="" r:id="rId15" imgW="8420735" imgH="528320" progId="Visio.Drawing.6">
                  <p:embed/>
                </p:oleObj>
              </mc:Choice>
              <mc:Fallback>
                <p:oleObj name="" r:id="rId15" imgW="8420735" imgH="528320" progId="Visio.Drawing.6">
                  <p:embed/>
                  <p:pic>
                    <p:nvPicPr>
                      <p:cNvPr id="0" name="图片 3090"/>
                      <p:cNvPicPr/>
                      <p:nvPr/>
                    </p:nvPicPr>
                    <p:blipFill>
                      <a:blip r:embed="rId16"/>
                      <a:stretch>
                        <a:fillRect/>
                      </a:stretch>
                    </p:blipFill>
                    <p:spPr>
                      <a:xfrm>
                        <a:off x="1447800" y="4495800"/>
                        <a:ext cx="6400800" cy="527050"/>
                      </a:xfrm>
                      <a:prstGeom prst="rect">
                        <a:avLst/>
                      </a:prstGeom>
                      <a:noFill/>
                      <a:ln w="38100">
                        <a:noFill/>
                        <a:miter/>
                      </a:ln>
                    </p:spPr>
                  </p:pic>
                </p:oleObj>
              </mc:Fallback>
            </mc:AlternateContent>
          </a:graphicData>
        </a:graphic>
      </p:graphicFrame>
      <p:sp>
        <p:nvSpPr>
          <p:cNvPr id="148491" name="Rectangle 18"/>
          <p:cNvSpPr/>
          <p:nvPr/>
        </p:nvSpPr>
        <p:spPr>
          <a:xfrm>
            <a:off x="3657600" y="1524000"/>
            <a:ext cx="4437063" cy="366713"/>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457200" lvl="1" indent="0">
              <a:lnSpc>
                <a:spcPct val="90000"/>
              </a:lnSpc>
              <a:buNone/>
            </a:pPr>
            <a:r>
              <a:rPr lang="zh-CN" altLang="en-US" sz="2000" b="1" dirty="0">
                <a:ea typeface="宋体" panose="02010600030101010101" pitchFamily="2" charset="-122"/>
              </a:rPr>
              <a:t>例：构造正则式</a:t>
            </a:r>
            <a:r>
              <a:rPr lang="en-US" altLang="zh-CN" sz="2000" b="1" dirty="0">
                <a:ea typeface="宋体" panose="02010600030101010101" pitchFamily="2" charset="-122"/>
              </a:rPr>
              <a:t>r=(a|b)</a:t>
            </a:r>
            <a:r>
              <a:rPr lang="en-US" altLang="zh-CN" sz="2000" b="1" baseline="30000" dirty="0">
                <a:ea typeface="宋体" panose="02010600030101010101" pitchFamily="2" charset="-122"/>
              </a:rPr>
              <a:t> *</a:t>
            </a:r>
            <a:r>
              <a:rPr lang="en-US" altLang="zh-CN" sz="2000" b="1" dirty="0">
                <a:ea typeface="宋体" panose="02010600030101010101" pitchFamily="2" charset="-122"/>
              </a:rPr>
              <a:t>abb</a:t>
            </a:r>
            <a:r>
              <a:rPr lang="zh-CN" altLang="en-US" sz="2000" b="1" dirty="0">
                <a:ea typeface="宋体" panose="02010600030101010101" pitchFamily="2" charset="-122"/>
              </a:rPr>
              <a:t>的</a:t>
            </a:r>
            <a:r>
              <a:rPr lang="en-US" altLang="zh-CN" sz="2000" b="1" dirty="0">
                <a:ea typeface="宋体" panose="02010600030101010101" pitchFamily="2" charset="-122"/>
              </a:rPr>
              <a:t>N(r)</a:t>
            </a:r>
            <a:endParaRPr lang="en-US" altLang="zh-CN" sz="2000" b="1"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2359"/>
                                        </p:tgtEl>
                                        <p:attrNameLst>
                                          <p:attrName>style.visibility</p:attrName>
                                        </p:attrNameLst>
                                      </p:cBhvr>
                                      <p:to>
                                        <p:strVal val="visible"/>
                                      </p:to>
                                    </p:set>
                                    <p:animEffect transition="in" filter="blinds(horizontal)">
                                      <p:cBhvr>
                                        <p:cTn id="7" dur="500"/>
                                        <p:tgtEl>
                                          <p:spTgt spid="6123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2360"/>
                                        </p:tgtEl>
                                        <p:attrNameLst>
                                          <p:attrName>style.visibility</p:attrName>
                                        </p:attrNameLst>
                                      </p:cBhvr>
                                      <p:to>
                                        <p:strVal val="visible"/>
                                      </p:to>
                                    </p:set>
                                    <p:animEffect transition="in" filter="blinds(horizontal)">
                                      <p:cBhvr>
                                        <p:cTn id="12" dur="500"/>
                                        <p:tgtEl>
                                          <p:spTgt spid="61236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2361"/>
                                        </p:tgtEl>
                                        <p:attrNameLst>
                                          <p:attrName>style.visibility</p:attrName>
                                        </p:attrNameLst>
                                      </p:cBhvr>
                                      <p:to>
                                        <p:strVal val="visible"/>
                                      </p:to>
                                    </p:set>
                                    <p:animEffect transition="in" filter="blinds(horizontal)">
                                      <p:cBhvr>
                                        <p:cTn id="17" dur="500"/>
                                        <p:tgtEl>
                                          <p:spTgt spid="61236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12363"/>
                                        </p:tgtEl>
                                        <p:attrNameLst>
                                          <p:attrName>style.visibility</p:attrName>
                                        </p:attrNameLst>
                                      </p:cBhvr>
                                      <p:to>
                                        <p:strVal val="visible"/>
                                      </p:to>
                                    </p:set>
                                    <p:animEffect transition="in" filter="blinds(horizontal)">
                                      <p:cBhvr>
                                        <p:cTn id="22" dur="500"/>
                                        <p:tgtEl>
                                          <p:spTgt spid="61236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2364"/>
                                        </p:tgtEl>
                                        <p:attrNameLst>
                                          <p:attrName>style.visibility</p:attrName>
                                        </p:attrNameLst>
                                      </p:cBhvr>
                                      <p:to>
                                        <p:strVal val="visible"/>
                                      </p:to>
                                    </p:set>
                                    <p:animEffect transition="in" filter="blinds(horizontal)">
                                      <p:cBhvr>
                                        <p:cTn id="27" dur="500"/>
                                        <p:tgtEl>
                                          <p:spTgt spid="61236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12365"/>
                                        </p:tgtEl>
                                        <p:attrNameLst>
                                          <p:attrName>style.visibility</p:attrName>
                                        </p:attrNameLst>
                                      </p:cBhvr>
                                      <p:to>
                                        <p:strVal val="visible"/>
                                      </p:to>
                                    </p:set>
                                    <p:animEffect transition="in" filter="blinds(horizontal)">
                                      <p:cBhvr>
                                        <p:cTn id="32" dur="500"/>
                                        <p:tgtEl>
                                          <p:spTgt spid="61236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12369"/>
                                        </p:tgtEl>
                                        <p:attrNameLst>
                                          <p:attrName>style.visibility</p:attrName>
                                        </p:attrNameLst>
                                      </p:cBhvr>
                                      <p:to>
                                        <p:strVal val="visible"/>
                                      </p:to>
                                    </p:set>
                                    <p:animEffect transition="in" filter="blinds(horizontal)">
                                      <p:cBhvr>
                                        <p:cTn id="37" dur="500"/>
                                        <p:tgtEl>
                                          <p:spTgt spid="612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type="title"/>
          </p:nvPr>
        </p:nvSpPr>
        <p:spPr/>
        <p:txBody>
          <a:bodyPr vert="horz" wrap="square" lIns="92075" tIns="46038" rIns="92075" bIns="46038" anchor="ctr" anchorCtr="0"/>
          <a:p>
            <a:r>
              <a:rPr lang="zh-CN" altLang="en-US" dirty="0">
                <a:latin typeface="宋体" panose="02010600030101010101" pitchFamily="2" charset="-122"/>
                <a:ea typeface="宋体" panose="02010600030101010101" pitchFamily="2" charset="-122"/>
              </a:rPr>
              <a:t>关于字符串处理算法效率的讨论</a:t>
            </a:r>
            <a:endParaRPr lang="zh-CN" altLang="en-US" dirty="0">
              <a:latin typeface="宋体" panose="02010600030101010101" pitchFamily="2" charset="-122"/>
              <a:ea typeface="宋体" panose="02010600030101010101" pitchFamily="2" charset="-122"/>
            </a:endParaRPr>
          </a:p>
        </p:txBody>
      </p:sp>
      <p:sp>
        <p:nvSpPr>
          <p:cNvPr id="98307" name="Rectangle 3"/>
          <p:cNvSpPr>
            <a:spLocks noGrp="1" noChangeArrowheads="1"/>
          </p:cNvSpPr>
          <p:nvPr>
            <p:ph idx="1"/>
          </p:nvPr>
        </p:nvSpPr>
        <p:spPr>
          <a:xfrm>
            <a:off x="755650" y="1371600"/>
            <a:ext cx="7848600" cy="45720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DFA</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模拟（算法</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3.18</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）可以在</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O(|x|)</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的时间内处理字符串</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endPar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14350" marR="0" lvl="0" indent="-4572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NFA</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模拟（</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3.7.3</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节，</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PPT</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的第</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66</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页）说明其处理串</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的时间开销与</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|x|</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和该</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NFA</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转换图的大小的乘积成正比</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514350" marR="0" lvl="0"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DFA</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的模拟更快，但其转换图可能更大（可能呈指数增长（子集构造法的最坏情况）），可能影响存储效率，进而影响性能</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endParaRPr>
          </a:p>
          <a:p>
            <a:pPr marL="514350" marR="0" lvl="0" indent="-457200" algn="l" defTabSz="914400" rtl="0" eaLnBrk="0" fontAlgn="base" latinLnBrk="0" hangingPunct="0">
              <a:lnSpc>
                <a:spcPct val="90000"/>
              </a:lnSpc>
              <a:spcBef>
                <a:spcPct val="20000"/>
              </a:spcBef>
              <a:spcAft>
                <a:spcPct val="0"/>
              </a:spcAft>
              <a:buClr>
                <a:srgbClr val="063DE8"/>
              </a:buClr>
              <a:buSzPct val="125000"/>
              <a:buFontTx/>
              <a:buChar char="•"/>
              <a:defRPr/>
            </a:pP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详细讨论见</a:t>
            </a:r>
            <a:r>
              <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3.7.5</a:t>
            </a:r>
            <a:r>
              <a:rPr kumimoji="0" lang="zh-CN" altLang="en-US" sz="26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rPr>
              <a:t>节</a:t>
            </a:r>
            <a:endParaRPr kumimoji="0" lang="en-US" altLang="zh-CN" sz="2600" b="1" i="0" u="none" strike="noStrike" kern="0" cap="none" spc="0" normalizeH="0" baseline="0" noProof="0" dirty="0">
              <a:ln>
                <a:noFill/>
              </a:ln>
              <a:solidFill>
                <a:schemeClr val="tx1"/>
              </a:solidFill>
              <a:effectLst/>
              <a:uLnTx/>
              <a:uFillTx/>
              <a:latin typeface="+mn-lt"/>
              <a:ea typeface="宋体" panose="02010600030101010101" pitchFamily="2" charset="-122"/>
              <a:cs typeface="Times New Roman" panose="02020603050405020304" pitchFamily="18" charset="0"/>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DFA</a:t>
            </a:r>
            <a:r>
              <a:rPr lang="zh-CN" altLang="en-US" dirty="0">
                <a:latin typeface="Times New Roman" panose="02020603050405020304" pitchFamily="18" charset="0"/>
                <a:ea typeface="宋体" panose="02010600030101010101" pitchFamily="2" charset="-122"/>
              </a:rPr>
              <a:t>的化简（1）</a:t>
            </a:r>
            <a:endParaRPr lang="zh-CN" altLang="en-US" dirty="0">
              <a:latin typeface="Times New Roman" panose="02020603050405020304" pitchFamily="18" charset="0"/>
              <a:ea typeface="宋体" panose="02010600030101010101" pitchFamily="2" charset="-122"/>
            </a:endParaRPr>
          </a:p>
        </p:txBody>
      </p:sp>
      <p:sp>
        <p:nvSpPr>
          <p:cNvPr id="152579" name="Rectangle 3"/>
          <p:cNvSpPr>
            <a:spLocks noGrp="1"/>
          </p:cNvSpPr>
          <p:nvPr>
            <p:ph idx="1"/>
          </p:nvPr>
        </p:nvSpPr>
        <p:spPr>
          <a:xfrm>
            <a:off x="990600" y="1371600"/>
            <a:ext cx="7391400" cy="4800600"/>
          </a:xfrm>
        </p:spPr>
        <p:txBody>
          <a:bodyPr vert="horz" wrap="square" lIns="92075" tIns="46038" rIns="92075" bIns="46038" anchor="t" anchorCtr="0"/>
          <a:p>
            <a:pPr marL="495300" indent="-495300"/>
            <a:r>
              <a:rPr lang="zh-CN" altLang="en-US" sz="2200" b="1" dirty="0">
                <a:ea typeface="宋体" panose="02010600030101010101" pitchFamily="2" charset="-122"/>
              </a:rPr>
              <a:t>每一个正则集都可以由一个状态数最少的</a:t>
            </a:r>
            <a:r>
              <a:rPr lang="en-US" altLang="zh-CN" sz="2200" b="1" dirty="0">
                <a:ea typeface="宋体" panose="02010600030101010101" pitchFamily="2" charset="-122"/>
              </a:rPr>
              <a:t>DFA</a:t>
            </a:r>
            <a:r>
              <a:rPr lang="zh-CN" altLang="en-US" sz="2200" b="1" dirty="0">
                <a:ea typeface="宋体" panose="02010600030101010101" pitchFamily="2" charset="-122"/>
              </a:rPr>
              <a:t>识别，且这个</a:t>
            </a:r>
            <a:r>
              <a:rPr lang="en-US" altLang="zh-CN" sz="2200" b="1" dirty="0">
                <a:ea typeface="宋体" panose="02010600030101010101" pitchFamily="2" charset="-122"/>
              </a:rPr>
              <a:t>DFA</a:t>
            </a:r>
            <a:r>
              <a:rPr lang="zh-CN" altLang="en-US" sz="2200" b="1" dirty="0">
                <a:ea typeface="宋体" panose="02010600030101010101" pitchFamily="2" charset="-122"/>
              </a:rPr>
              <a:t>是唯一的（状态名不同的同构情况除外）</a:t>
            </a:r>
            <a:endParaRPr lang="zh-CN" altLang="en-US" sz="2200" b="1" dirty="0">
              <a:ea typeface="宋体" panose="02010600030101010101" pitchFamily="2" charset="-122"/>
            </a:endParaRPr>
          </a:p>
          <a:p>
            <a:pPr marL="495300" indent="-495300"/>
            <a:r>
              <a:rPr lang="en-US" altLang="zh-CN" sz="2200" b="1" dirty="0">
                <a:ea typeface="宋体" panose="02010600030101010101" pitchFamily="2" charset="-122"/>
              </a:rPr>
              <a:t>DFA</a:t>
            </a:r>
            <a:r>
              <a:rPr lang="zh-CN" altLang="en-US" sz="2200" b="1" dirty="0">
                <a:ea typeface="宋体" panose="02010600030101010101" pitchFamily="2" charset="-122"/>
              </a:rPr>
              <a:t>的化简：</a:t>
            </a:r>
            <a:endParaRPr lang="zh-CN" altLang="en-US" sz="2200" b="1" dirty="0">
              <a:ea typeface="宋体" panose="02010600030101010101" pitchFamily="2" charset="-122"/>
            </a:endParaRPr>
          </a:p>
          <a:p>
            <a:pPr marL="914400" lvl="1" indent="-457200"/>
            <a:r>
              <a:rPr lang="zh-CN" altLang="en-US" sz="2000" b="1" dirty="0">
                <a:ea typeface="宋体" panose="02010600030101010101" pitchFamily="2" charset="-122"/>
              </a:rPr>
              <a:t>基本假设：</a:t>
            </a:r>
            <a:r>
              <a:rPr lang="en-US" altLang="zh-CN" sz="2000" b="1" dirty="0">
                <a:ea typeface="宋体" panose="02010600030101010101" pitchFamily="2" charset="-122"/>
              </a:rPr>
              <a:t>DFA M，</a:t>
            </a:r>
            <a:r>
              <a:rPr lang="zh-CN" altLang="en-US" sz="2000" b="1" dirty="0">
                <a:ea typeface="宋体" panose="02010600030101010101" pitchFamily="2" charset="-122"/>
              </a:rPr>
              <a:t>状态集合</a:t>
            </a:r>
            <a:r>
              <a:rPr lang="en-US" altLang="zh-CN" sz="2000" b="1" dirty="0">
                <a:ea typeface="宋体" panose="02010600030101010101" pitchFamily="2" charset="-122"/>
              </a:rPr>
              <a:t>S，</a:t>
            </a:r>
            <a:r>
              <a:rPr lang="zh-CN" altLang="en-US" sz="2000" b="1" dirty="0">
                <a:ea typeface="宋体" panose="02010600030101010101" pitchFamily="2" charset="-122"/>
              </a:rPr>
              <a:t>输入符号表∑</a:t>
            </a:r>
            <a:endParaRPr lang="zh-CN" altLang="en-US" sz="2000" b="1" dirty="0">
              <a:ea typeface="宋体" panose="02010600030101010101" pitchFamily="2" charset="-122"/>
            </a:endParaRPr>
          </a:p>
          <a:p>
            <a:pPr lvl="2"/>
            <a:r>
              <a:rPr lang="zh-CN" altLang="en-US" sz="1800" b="1" dirty="0">
                <a:ea typeface="宋体" panose="02010600030101010101" pitchFamily="2" charset="-122"/>
              </a:rPr>
              <a:t>假定每个状态对每个输入符号都有转换</a:t>
            </a:r>
            <a:endParaRPr lang="zh-CN" altLang="en-US" sz="1800" b="1" dirty="0">
              <a:ea typeface="宋体" panose="02010600030101010101" pitchFamily="2" charset="-122"/>
            </a:endParaRPr>
          </a:p>
          <a:p>
            <a:pPr lvl="2"/>
            <a:r>
              <a:rPr lang="zh-CN" altLang="en-US" sz="1800" b="1" dirty="0">
                <a:ea typeface="宋体" panose="02010600030101010101" pitchFamily="2" charset="-122"/>
              </a:rPr>
              <a:t>如果不是这样，引入一个“死状态”</a:t>
            </a:r>
            <a:r>
              <a:rPr lang="en-US" altLang="zh-CN" sz="1800" b="1" dirty="0">
                <a:ea typeface="宋体" panose="02010600030101010101" pitchFamily="2" charset="-122"/>
              </a:rPr>
              <a:t>d，d</a:t>
            </a:r>
            <a:r>
              <a:rPr lang="zh-CN" altLang="en-US" sz="1800" b="1" dirty="0">
                <a:ea typeface="宋体" panose="02010600030101010101" pitchFamily="2" charset="-122"/>
              </a:rPr>
              <a:t>对所有输入符号都转换到</a:t>
            </a:r>
            <a:r>
              <a:rPr lang="en-US" altLang="zh-CN" sz="1800" b="1" dirty="0">
                <a:ea typeface="宋体" panose="02010600030101010101" pitchFamily="2" charset="-122"/>
              </a:rPr>
              <a:t>d，</a:t>
            </a:r>
            <a:r>
              <a:rPr lang="zh-CN" altLang="en-US" sz="1800" b="1" dirty="0">
                <a:ea typeface="宋体" panose="02010600030101010101" pitchFamily="2" charset="-122"/>
              </a:rPr>
              <a:t>如果状态</a:t>
            </a:r>
            <a:r>
              <a:rPr lang="en-US" altLang="zh-CN" sz="1800" b="1" dirty="0">
                <a:ea typeface="宋体" panose="02010600030101010101" pitchFamily="2" charset="-122"/>
              </a:rPr>
              <a:t>s</a:t>
            </a:r>
            <a:r>
              <a:rPr lang="zh-CN" altLang="en-US" sz="1800" b="1" dirty="0">
                <a:ea typeface="宋体" panose="02010600030101010101" pitchFamily="2" charset="-122"/>
              </a:rPr>
              <a:t>对符号</a:t>
            </a:r>
            <a:r>
              <a:rPr lang="en-US" altLang="zh-CN" sz="1800" b="1" dirty="0">
                <a:ea typeface="宋体" panose="02010600030101010101" pitchFamily="2" charset="-122"/>
              </a:rPr>
              <a:t>a</a:t>
            </a:r>
            <a:r>
              <a:rPr lang="zh-CN" altLang="en-US" sz="1800" b="1" dirty="0">
                <a:ea typeface="宋体" panose="02010600030101010101" pitchFamily="2" charset="-122"/>
              </a:rPr>
              <a:t>没有转换，则加上从</a:t>
            </a:r>
            <a:r>
              <a:rPr lang="en-US" altLang="zh-CN" sz="1800" b="1" dirty="0">
                <a:ea typeface="宋体" panose="02010600030101010101" pitchFamily="2" charset="-122"/>
              </a:rPr>
              <a:t>s</a:t>
            </a:r>
            <a:r>
              <a:rPr lang="zh-CN" altLang="en-US" sz="1800" b="1" dirty="0">
                <a:ea typeface="宋体" panose="02010600030101010101" pitchFamily="2" charset="-122"/>
              </a:rPr>
              <a:t>到</a:t>
            </a:r>
            <a:r>
              <a:rPr lang="en-US" altLang="zh-CN" sz="1800" b="1" dirty="0">
                <a:ea typeface="宋体" panose="02010600030101010101" pitchFamily="2" charset="-122"/>
              </a:rPr>
              <a:t>d</a:t>
            </a:r>
            <a:r>
              <a:rPr lang="zh-CN" altLang="en-US" sz="1800" b="1" dirty="0">
                <a:ea typeface="宋体" panose="02010600030101010101" pitchFamily="2" charset="-122"/>
              </a:rPr>
              <a:t>的</a:t>
            </a:r>
            <a:r>
              <a:rPr lang="en-US" altLang="zh-CN" sz="1800" b="1" dirty="0">
                <a:ea typeface="宋体" panose="02010600030101010101" pitchFamily="2" charset="-122"/>
              </a:rPr>
              <a:t>a</a:t>
            </a:r>
            <a:r>
              <a:rPr lang="zh-CN" altLang="en-US" sz="1800" b="1" dirty="0">
                <a:ea typeface="宋体" panose="02010600030101010101" pitchFamily="2" charset="-122"/>
              </a:rPr>
              <a:t>转换</a:t>
            </a:r>
            <a:endParaRPr lang="zh-CN" altLang="en-US" sz="1800" b="1" dirty="0">
              <a:ea typeface="宋体" panose="02010600030101010101" pitchFamily="2" charset="-122"/>
            </a:endParaRPr>
          </a:p>
          <a:p>
            <a:pPr marL="914400" lvl="1" indent="-457200"/>
            <a:r>
              <a:rPr lang="zh-CN" altLang="en-US" sz="2000" b="1" dirty="0">
                <a:ea typeface="宋体" panose="02010600030101010101" pitchFamily="2" charset="-122"/>
              </a:rPr>
              <a:t>串</a:t>
            </a:r>
            <a:r>
              <a:rPr lang="en-US" altLang="zh-CN" sz="2000" b="1" dirty="0">
                <a:ea typeface="宋体" panose="02010600030101010101" pitchFamily="2" charset="-122"/>
              </a:rPr>
              <a:t>w</a:t>
            </a:r>
            <a:r>
              <a:rPr lang="zh-CN" altLang="en-US" sz="2000" b="1" dirty="0">
                <a:ea typeface="宋体" panose="02010600030101010101" pitchFamily="2" charset="-122"/>
              </a:rPr>
              <a:t>区别状态</a:t>
            </a:r>
            <a:r>
              <a:rPr lang="en-US" altLang="zh-CN" sz="2000" b="1" dirty="0">
                <a:ea typeface="宋体" panose="02010600030101010101" pitchFamily="2" charset="-122"/>
              </a:rPr>
              <a:t>s</a:t>
            </a:r>
            <a:r>
              <a:rPr lang="zh-CN" altLang="en-US" sz="2000" b="1" dirty="0">
                <a:ea typeface="宋体" panose="02010600030101010101" pitchFamily="2" charset="-122"/>
              </a:rPr>
              <a:t>和</a:t>
            </a:r>
            <a:r>
              <a:rPr lang="en-US" altLang="zh-CN" sz="2000" b="1" dirty="0">
                <a:ea typeface="宋体" panose="02010600030101010101" pitchFamily="2" charset="-122"/>
              </a:rPr>
              <a:t>t：</a:t>
            </a:r>
            <a:endParaRPr lang="en-US" altLang="zh-CN" sz="2000" b="1" dirty="0">
              <a:ea typeface="宋体" panose="02010600030101010101" pitchFamily="2" charset="-122"/>
            </a:endParaRPr>
          </a:p>
          <a:p>
            <a:pPr lvl="2"/>
            <a:r>
              <a:rPr lang="zh-CN" altLang="en-US" sz="1800" b="1" dirty="0">
                <a:ea typeface="宋体" panose="02010600030101010101" pitchFamily="2" charset="-122"/>
              </a:rPr>
              <a:t>指如果</a:t>
            </a:r>
            <a:r>
              <a:rPr lang="en-US" altLang="zh-CN" sz="1800" b="1" dirty="0">
                <a:ea typeface="宋体" panose="02010600030101010101" pitchFamily="2" charset="-122"/>
              </a:rPr>
              <a:t>DFA M</a:t>
            </a:r>
            <a:r>
              <a:rPr lang="zh-CN" altLang="en-US" sz="1800" b="1" dirty="0">
                <a:ea typeface="宋体" panose="02010600030101010101" pitchFamily="2" charset="-122"/>
              </a:rPr>
              <a:t>从状态</a:t>
            </a:r>
            <a:r>
              <a:rPr lang="en-US" altLang="zh-CN" sz="1800" b="1" dirty="0">
                <a:ea typeface="宋体" panose="02010600030101010101" pitchFamily="2" charset="-122"/>
              </a:rPr>
              <a:t>s</a:t>
            </a:r>
            <a:r>
              <a:rPr lang="zh-CN" altLang="en-US" sz="1800" b="1" dirty="0">
                <a:ea typeface="宋体" panose="02010600030101010101" pitchFamily="2" charset="-122"/>
              </a:rPr>
              <a:t>出发，面临输入串</a:t>
            </a:r>
            <a:r>
              <a:rPr lang="en-US" altLang="zh-CN" sz="1800" b="1" dirty="0">
                <a:ea typeface="宋体" panose="02010600030101010101" pitchFamily="2" charset="-122"/>
              </a:rPr>
              <a:t>w，</a:t>
            </a:r>
            <a:r>
              <a:rPr lang="zh-CN" altLang="en-US" sz="1800" b="1" dirty="0">
                <a:ea typeface="宋体" panose="02010600030101010101" pitchFamily="2" charset="-122"/>
              </a:rPr>
              <a:t>最后停在某个接受状态，但是从</a:t>
            </a:r>
            <a:r>
              <a:rPr lang="en-US" altLang="zh-CN" sz="1800" b="1" dirty="0">
                <a:ea typeface="宋体" panose="02010600030101010101" pitchFamily="2" charset="-122"/>
              </a:rPr>
              <a:t>t</a:t>
            </a:r>
            <a:r>
              <a:rPr lang="zh-CN" altLang="en-US" sz="1800" b="1" dirty="0">
                <a:ea typeface="宋体" panose="02010600030101010101" pitchFamily="2" charset="-122"/>
              </a:rPr>
              <a:t>出发，面对同样的输入，停在一个非接受状态，或者反过来</a:t>
            </a:r>
            <a:endParaRPr lang="zh-CN" altLang="en-US" sz="1800" b="1" dirty="0">
              <a:ea typeface="宋体" panose="02010600030101010101" pitchFamily="2" charset="-122"/>
            </a:endParaRPr>
          </a:p>
          <a:p>
            <a:pPr lvl="2"/>
            <a:r>
              <a:rPr lang="zh-CN" altLang="en-US" sz="1800" b="1" dirty="0">
                <a:ea typeface="宋体" panose="02010600030101010101" pitchFamily="2" charset="-122"/>
              </a:rPr>
              <a:t>如幻灯片</a:t>
            </a:r>
            <a:r>
              <a:rPr lang="en-US" altLang="zh-CN" sz="1800" b="1" dirty="0">
                <a:ea typeface="宋体" panose="02010600030101010101" pitchFamily="2" charset="-122"/>
              </a:rPr>
              <a:t>62</a:t>
            </a:r>
            <a:r>
              <a:rPr lang="zh-CN" altLang="en-US" sz="1800" b="1" dirty="0">
                <a:ea typeface="宋体" panose="02010600030101010101" pitchFamily="2" charset="-122"/>
              </a:rPr>
              <a:t>中（即识别（</a:t>
            </a:r>
            <a:r>
              <a:rPr lang="en-US" altLang="zh-CN" sz="1800" b="1" dirty="0">
                <a:ea typeface="宋体" panose="02010600030101010101" pitchFamily="2" charset="-122"/>
              </a:rPr>
              <a:t>a|b)</a:t>
            </a:r>
            <a:r>
              <a:rPr lang="en-US" altLang="zh-CN" sz="1800" b="1" baseline="30000" dirty="0">
                <a:ea typeface="宋体" panose="02010600030101010101" pitchFamily="2" charset="-122"/>
              </a:rPr>
              <a:t> *</a:t>
            </a:r>
            <a:r>
              <a:rPr lang="en-US" altLang="zh-CN" sz="1800" b="1" dirty="0">
                <a:ea typeface="宋体" panose="02010600030101010101" pitchFamily="2" charset="-122"/>
              </a:rPr>
              <a:t>abb</a:t>
            </a:r>
            <a:r>
              <a:rPr lang="zh-CN" altLang="en-US" sz="1800" b="1" dirty="0">
                <a:ea typeface="宋体" panose="02010600030101010101" pitchFamily="2" charset="-122"/>
              </a:rPr>
              <a:t>的</a:t>
            </a:r>
            <a:r>
              <a:rPr lang="en-US" altLang="zh-CN" sz="1800" b="1" dirty="0">
                <a:ea typeface="宋体" panose="02010600030101010101" pitchFamily="2" charset="-122"/>
              </a:rPr>
              <a:t>DFA</a:t>
            </a:r>
            <a:r>
              <a:rPr lang="zh-CN" altLang="en-US" sz="1800" b="1" dirty="0">
                <a:ea typeface="宋体" panose="02010600030101010101" pitchFamily="2" charset="-122"/>
              </a:rPr>
              <a:t>），</a:t>
            </a:r>
            <a:r>
              <a:rPr lang="en-US" altLang="zh-CN" sz="1800" b="1" dirty="0">
                <a:ea typeface="宋体" panose="02010600030101010101" pitchFamily="2" charset="-122"/>
              </a:rPr>
              <a:t>A</a:t>
            </a:r>
            <a:r>
              <a:rPr lang="zh-CN" altLang="en-US" sz="1800" b="1" dirty="0">
                <a:ea typeface="宋体" panose="02010600030101010101" pitchFamily="2" charset="-122"/>
              </a:rPr>
              <a:t>和</a:t>
            </a:r>
            <a:r>
              <a:rPr lang="en-US" altLang="zh-CN" sz="1800" b="1" dirty="0">
                <a:ea typeface="宋体" panose="02010600030101010101" pitchFamily="2" charset="-122"/>
              </a:rPr>
              <a:t>B</a:t>
            </a:r>
            <a:r>
              <a:rPr lang="zh-CN" altLang="en-US" sz="1800" b="1" dirty="0">
                <a:ea typeface="宋体" panose="02010600030101010101" pitchFamily="2" charset="-122"/>
              </a:rPr>
              <a:t>由输入</a:t>
            </a:r>
            <a:r>
              <a:rPr lang="en-US" altLang="zh-CN" sz="1800" b="1" dirty="0">
                <a:ea typeface="宋体" panose="02010600030101010101" pitchFamily="2" charset="-122"/>
              </a:rPr>
              <a:t>bb</a:t>
            </a:r>
            <a:r>
              <a:rPr lang="zh-CN" altLang="en-US" sz="1800" b="1" dirty="0">
                <a:ea typeface="宋体" panose="02010600030101010101" pitchFamily="2" charset="-122"/>
              </a:rPr>
              <a:t>区别，因为对于输入</a:t>
            </a:r>
            <a:r>
              <a:rPr lang="en-US" altLang="zh-CN" sz="1800" b="1" dirty="0">
                <a:ea typeface="宋体" panose="02010600030101010101" pitchFamily="2" charset="-122"/>
              </a:rPr>
              <a:t>bb，A</a:t>
            </a:r>
            <a:r>
              <a:rPr lang="zh-CN" altLang="en-US" sz="1800" b="1" dirty="0">
                <a:ea typeface="宋体" panose="02010600030101010101" pitchFamily="2" charset="-122"/>
              </a:rPr>
              <a:t>到达非接受状态</a:t>
            </a:r>
            <a:r>
              <a:rPr lang="en-US" altLang="zh-CN" sz="1800" b="1" dirty="0">
                <a:ea typeface="宋体" panose="02010600030101010101" pitchFamily="2" charset="-122"/>
              </a:rPr>
              <a:t>C，</a:t>
            </a:r>
            <a:r>
              <a:rPr lang="zh-CN" altLang="en-US" sz="1800" b="1" dirty="0">
                <a:ea typeface="宋体" panose="02010600030101010101" pitchFamily="2" charset="-122"/>
              </a:rPr>
              <a:t>而</a:t>
            </a:r>
            <a:r>
              <a:rPr lang="en-US" altLang="zh-CN" sz="1800" b="1" dirty="0">
                <a:ea typeface="宋体" panose="02010600030101010101" pitchFamily="2" charset="-122"/>
              </a:rPr>
              <a:t>B</a:t>
            </a:r>
            <a:r>
              <a:rPr lang="zh-CN" altLang="en-US" sz="1800" b="1" dirty="0">
                <a:ea typeface="宋体" panose="02010600030101010101" pitchFamily="2" charset="-122"/>
              </a:rPr>
              <a:t>对同样的输入到达接受状态</a:t>
            </a:r>
            <a:r>
              <a:rPr lang="en-US" altLang="zh-CN" sz="1800" b="1" dirty="0">
                <a:ea typeface="宋体" panose="02010600030101010101" pitchFamily="2" charset="-122"/>
              </a:rPr>
              <a:t>E</a:t>
            </a:r>
            <a:endParaRPr lang="en-US" altLang="zh-CN" sz="1800" b="1" dirty="0">
              <a:ea typeface="宋体" panose="02010600030101010101" pitchFamily="2" charset="-122"/>
            </a:endParaRP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DFA</a:t>
            </a:r>
            <a:r>
              <a:rPr lang="zh-CN" altLang="en-US" dirty="0">
                <a:latin typeface="Times New Roman" panose="02020603050405020304" pitchFamily="18" charset="0"/>
                <a:ea typeface="宋体" panose="02010600030101010101" pitchFamily="2" charset="-122"/>
              </a:rPr>
              <a:t>的化简（2）</a:t>
            </a:r>
            <a:endParaRPr lang="zh-CN" altLang="en-US" dirty="0">
              <a:latin typeface="Times New Roman" panose="02020603050405020304" pitchFamily="18" charset="0"/>
              <a:ea typeface="宋体" panose="02010600030101010101" pitchFamily="2" charset="-122"/>
            </a:endParaRPr>
          </a:p>
        </p:txBody>
      </p:sp>
      <p:sp>
        <p:nvSpPr>
          <p:cNvPr id="154627" name="Rectangle 3"/>
          <p:cNvSpPr>
            <a:spLocks noGrp="1"/>
          </p:cNvSpPr>
          <p:nvPr>
            <p:ph idx="1"/>
          </p:nvPr>
        </p:nvSpPr>
        <p:spPr>
          <a:xfrm>
            <a:off x="990600" y="1371600"/>
            <a:ext cx="7391400" cy="4800600"/>
          </a:xfrm>
        </p:spPr>
        <p:txBody>
          <a:bodyPr vert="horz" wrap="square" lIns="92075" tIns="46038" rIns="92075" bIns="46038" anchor="t" anchorCtr="0"/>
          <a:p>
            <a:pPr marL="914400" lvl="1" indent="-457200"/>
            <a:r>
              <a:rPr lang="zh-CN" altLang="en-US" sz="2000" b="1" dirty="0">
                <a:ea typeface="宋体" panose="02010600030101010101" pitchFamily="2" charset="-122"/>
              </a:rPr>
              <a:t>化简的基本思路：</a:t>
            </a:r>
            <a:endParaRPr lang="zh-CN" altLang="en-US" sz="2000" b="1" dirty="0">
              <a:ea typeface="宋体" panose="02010600030101010101" pitchFamily="2" charset="-122"/>
            </a:endParaRPr>
          </a:p>
          <a:p>
            <a:pPr lvl="2"/>
            <a:r>
              <a:rPr lang="zh-CN" altLang="en-US" sz="1800" b="1" dirty="0">
                <a:ea typeface="宋体" panose="02010600030101010101" pitchFamily="2" charset="-122"/>
              </a:rPr>
              <a:t>将</a:t>
            </a:r>
            <a:r>
              <a:rPr lang="en-US" altLang="zh-CN" sz="1800" b="1" dirty="0">
                <a:ea typeface="宋体" panose="02010600030101010101" pitchFamily="2" charset="-122"/>
              </a:rPr>
              <a:t>DFA</a:t>
            </a:r>
            <a:r>
              <a:rPr lang="zh-CN" altLang="en-US" sz="1800" b="1" dirty="0">
                <a:ea typeface="宋体" panose="02010600030101010101" pitchFamily="2" charset="-122"/>
              </a:rPr>
              <a:t>的状态分成一些不相交的子集</a:t>
            </a:r>
            <a:endParaRPr lang="zh-CN" altLang="en-US" sz="1800" b="1" dirty="0">
              <a:ea typeface="宋体" panose="02010600030101010101" pitchFamily="2" charset="-122"/>
            </a:endParaRPr>
          </a:p>
          <a:p>
            <a:pPr lvl="2"/>
            <a:r>
              <a:rPr lang="zh-CN" altLang="en-US" sz="1800" b="1" dirty="0">
                <a:ea typeface="宋体" panose="02010600030101010101" pitchFamily="2" charset="-122"/>
              </a:rPr>
              <a:t>每个子集中的状态是不可区别的，而不同的子集的状态是可区别的</a:t>
            </a:r>
            <a:endParaRPr lang="zh-CN" altLang="en-US" sz="1800" b="1" dirty="0">
              <a:ea typeface="宋体" panose="02010600030101010101" pitchFamily="2" charset="-122"/>
            </a:endParaRPr>
          </a:p>
          <a:p>
            <a:pPr lvl="2"/>
            <a:r>
              <a:rPr lang="zh-CN" altLang="en-US" sz="1800" b="1" dirty="0">
                <a:ea typeface="宋体" panose="02010600030101010101" pitchFamily="2" charset="-122"/>
              </a:rPr>
              <a:t>每个子集合并成一个状态</a:t>
            </a:r>
            <a:endParaRPr lang="zh-CN" altLang="en-US" sz="1800" b="1" dirty="0">
              <a:ea typeface="宋体" panose="02010600030101010101" pitchFamily="2" charset="-122"/>
            </a:endParaRPr>
          </a:p>
          <a:p>
            <a:pPr lvl="2"/>
            <a:r>
              <a:rPr lang="zh-CN" altLang="en-US" sz="1800" b="1" dirty="0">
                <a:ea typeface="宋体" panose="02010600030101010101" pitchFamily="2" charset="-122"/>
              </a:rPr>
              <a:t>基本的步骤：</a:t>
            </a:r>
            <a:endParaRPr lang="zh-CN" altLang="en-US" sz="1800" b="1" dirty="0">
              <a:ea typeface="宋体" panose="02010600030101010101" pitchFamily="2" charset="-122"/>
            </a:endParaRPr>
          </a:p>
          <a:p>
            <a:pPr lvl="3"/>
            <a:r>
              <a:rPr lang="zh-CN" altLang="en-US" sz="1800" b="1" dirty="0">
                <a:ea typeface="宋体" panose="02010600030101010101" pitchFamily="2" charset="-122"/>
              </a:rPr>
              <a:t>首先是将所有状态划分为接受状态组和非接受状态组</a:t>
            </a:r>
            <a:endParaRPr lang="zh-CN" altLang="en-US" sz="1800" b="1" dirty="0">
              <a:ea typeface="宋体" panose="02010600030101010101" pitchFamily="2" charset="-122"/>
            </a:endParaRPr>
          </a:p>
          <a:p>
            <a:pPr lvl="3"/>
            <a:r>
              <a:rPr lang="zh-CN" altLang="en-US" sz="1800" b="1" dirty="0">
                <a:ea typeface="宋体" panose="02010600030101010101" pitchFamily="2" charset="-122"/>
              </a:rPr>
              <a:t>取某个状态组，检查其中的状态是否面对某些输入是可区别的，如果是可区别的，则将这个状态组化分成两个或多个状态组</a:t>
            </a:r>
            <a:endParaRPr lang="zh-CN" altLang="en-US" sz="1800" b="1" dirty="0">
              <a:ea typeface="宋体" panose="02010600030101010101" pitchFamily="2" charset="-122"/>
            </a:endParaRPr>
          </a:p>
          <a:p>
            <a:pPr lvl="3"/>
            <a:r>
              <a:rPr lang="zh-CN" altLang="en-US" sz="1800" b="1" dirty="0">
                <a:ea typeface="宋体" panose="02010600030101010101" pitchFamily="2" charset="-122"/>
              </a:rPr>
              <a:t>重复上述步骤，直至不再有新的状态组出现</a:t>
            </a:r>
            <a:endParaRPr lang="zh-CN" altLang="en-US" sz="1800" b="1" dirty="0">
              <a:ea typeface="宋体" panose="02010600030101010101" pitchFamily="2" charset="-122"/>
            </a:endParaRPr>
          </a:p>
          <a:p>
            <a:pPr lvl="3"/>
            <a:r>
              <a:rPr lang="zh-CN" altLang="en-US" sz="1800" b="1" dirty="0">
                <a:ea typeface="宋体" panose="02010600030101010101" pitchFamily="2" charset="-122"/>
              </a:rPr>
              <a:t>由上述步骤构造得到的最终的状态组，如果两个状态仍然留在同一个状态组中，则它们对任意的输入都是不可区别的</a:t>
            </a:r>
            <a:endParaRPr lang="zh-CN" altLang="en-US" sz="1800" b="1" dirty="0">
              <a:ea typeface="宋体" panose="02010600030101010101" pitchFamily="2" charset="-122"/>
            </a:endParaRPr>
          </a:p>
          <a:p>
            <a:pPr lvl="3"/>
            <a:r>
              <a:rPr lang="zh-CN" altLang="en-US" sz="1800" b="1" dirty="0">
                <a:ea typeface="宋体" panose="02010600030101010101" pitchFamily="2" charset="-122"/>
              </a:rPr>
              <a:t>对于最终的状态组，每个组分别以一个状态代表，去掉死状态和从开始状态不可达的状态，则上述的</a:t>
            </a:r>
            <a:r>
              <a:rPr lang="en-US" altLang="zh-CN" sz="1800" b="1" dirty="0">
                <a:ea typeface="宋体" panose="02010600030101010101" pitchFamily="2" charset="-122"/>
              </a:rPr>
              <a:t>DFA</a:t>
            </a:r>
            <a:r>
              <a:rPr lang="zh-CN" altLang="en-US" sz="1800" b="1" dirty="0">
                <a:ea typeface="宋体" panose="02010600030101010101" pitchFamily="2" charset="-122"/>
              </a:rPr>
              <a:t>是接受同样语言的状态数最少的</a:t>
            </a:r>
            <a:r>
              <a:rPr lang="en-US" altLang="zh-CN" sz="1800" b="1" dirty="0">
                <a:ea typeface="宋体" panose="02010600030101010101" pitchFamily="2" charset="-122"/>
              </a:rPr>
              <a:t>DFA</a:t>
            </a:r>
            <a:endParaRPr lang="en-US" altLang="zh-CN" sz="1800" b="1" dirty="0">
              <a:ea typeface="宋体" panose="02010600030101010101" pitchFamily="2" charset="-122"/>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DFA</a:t>
            </a:r>
            <a:r>
              <a:rPr lang="zh-CN" altLang="en-US" dirty="0">
                <a:latin typeface="Times New Roman" panose="02020603050405020304" pitchFamily="18" charset="0"/>
                <a:ea typeface="宋体" panose="02010600030101010101" pitchFamily="2" charset="-122"/>
              </a:rPr>
              <a:t>的化简（3）</a:t>
            </a:r>
            <a:endParaRPr lang="zh-CN" altLang="en-US" dirty="0">
              <a:latin typeface="Times New Roman" panose="02020603050405020304" pitchFamily="18" charset="0"/>
              <a:ea typeface="宋体" panose="02010600030101010101" pitchFamily="2" charset="-122"/>
            </a:endParaRPr>
          </a:p>
        </p:txBody>
      </p:sp>
      <p:sp>
        <p:nvSpPr>
          <p:cNvPr id="156675" name="Rectangle 3"/>
          <p:cNvSpPr>
            <a:spLocks noGrp="1"/>
          </p:cNvSpPr>
          <p:nvPr>
            <p:ph idx="1"/>
          </p:nvPr>
        </p:nvSpPr>
        <p:spPr>
          <a:xfrm>
            <a:off x="762000" y="1371600"/>
            <a:ext cx="7924800" cy="5105400"/>
          </a:xfrm>
        </p:spPr>
        <p:txBody>
          <a:bodyPr vert="horz" wrap="square" lIns="92075" tIns="46038" rIns="92075" bIns="46038" anchor="t" anchorCtr="0"/>
          <a:p>
            <a:pPr marL="495300" indent="-495300">
              <a:lnSpc>
                <a:spcPct val="90000"/>
              </a:lnSpc>
              <a:spcBef>
                <a:spcPct val="0"/>
              </a:spcBef>
              <a:buFont typeface="Wingdings" panose="05000000000000000000" pitchFamily="2" charset="2"/>
              <a:buNone/>
            </a:pPr>
            <a:r>
              <a:rPr lang="zh-CN" altLang="en-US" sz="2000" b="1" dirty="0">
                <a:ea typeface="宋体" panose="02010600030101010101" pitchFamily="2" charset="-122"/>
              </a:rPr>
              <a:t>输入：一个</a:t>
            </a:r>
            <a:r>
              <a:rPr lang="en-US" altLang="zh-CN" sz="2000" b="1" dirty="0">
                <a:ea typeface="宋体" panose="02010600030101010101" pitchFamily="2" charset="-122"/>
              </a:rPr>
              <a:t>DFA M，</a:t>
            </a:r>
            <a:r>
              <a:rPr lang="zh-CN" altLang="en-US" sz="2000" b="1" dirty="0">
                <a:ea typeface="宋体" panose="02010600030101010101" pitchFamily="2" charset="-122"/>
              </a:rPr>
              <a:t>它的状态集合</a:t>
            </a:r>
            <a:r>
              <a:rPr lang="en-US" altLang="zh-CN" sz="2000" b="1" dirty="0">
                <a:ea typeface="宋体" panose="02010600030101010101" pitchFamily="2" charset="-122"/>
              </a:rPr>
              <a:t>S，</a:t>
            </a:r>
            <a:r>
              <a:rPr lang="zh-CN" altLang="en-US" sz="2000" b="1" dirty="0">
                <a:ea typeface="宋体" panose="02010600030101010101" pitchFamily="2" charset="-122"/>
              </a:rPr>
              <a:t>输入符号集合为</a:t>
            </a:r>
            <a:r>
              <a:rPr lang="zh-CN" altLang="en-US" sz="2000" b="1" dirty="0">
                <a:latin typeface="宋体" panose="02010600030101010101" pitchFamily="2" charset="-122"/>
                <a:ea typeface="宋体" panose="02010600030101010101" pitchFamily="2" charset="-122"/>
              </a:rPr>
              <a:t>∑，转换函数</a:t>
            </a:r>
            <a:r>
              <a:rPr lang="en-US" altLang="zh-CN" sz="2000" b="1" dirty="0">
                <a:ea typeface="宋体" panose="02010600030101010101" pitchFamily="2" charset="-122"/>
              </a:rPr>
              <a:t>δ</a:t>
            </a:r>
            <a:r>
              <a:rPr lang="zh-CN" altLang="en-US" sz="2000" b="1" dirty="0">
                <a:ea typeface="宋体" panose="02010600030101010101" pitchFamily="2" charset="-122"/>
              </a:rPr>
              <a:t>：</a:t>
            </a:r>
            <a:r>
              <a:rPr lang="en-US" altLang="zh-CN" sz="2000" b="1" dirty="0">
                <a:ea typeface="宋体" panose="02010600030101010101" pitchFamily="2" charset="-122"/>
              </a:rPr>
              <a:t>S×∑ →S，</a:t>
            </a:r>
            <a:r>
              <a:rPr lang="zh-CN" altLang="en-US" sz="2000" b="1" dirty="0">
                <a:ea typeface="宋体" panose="02010600030101010101" pitchFamily="2" charset="-122"/>
              </a:rPr>
              <a:t>开始状态</a:t>
            </a:r>
            <a:r>
              <a:rPr lang="en-US" altLang="zh-CN" sz="2000" b="1" dirty="0">
                <a:ea typeface="宋体" panose="02010600030101010101" pitchFamily="2" charset="-122"/>
              </a:rPr>
              <a:t>s</a:t>
            </a:r>
            <a:r>
              <a:rPr lang="en-US" altLang="zh-CN" sz="2000" b="1" baseline="-25000" dirty="0">
                <a:ea typeface="宋体" panose="02010600030101010101" pitchFamily="2" charset="-122"/>
              </a:rPr>
              <a:t>0</a:t>
            </a:r>
            <a:r>
              <a:rPr lang="en-US" altLang="zh-CN" sz="2000" b="1" dirty="0">
                <a:ea typeface="宋体" panose="02010600030101010101" pitchFamily="2" charset="-122"/>
              </a:rPr>
              <a:t>，</a:t>
            </a:r>
            <a:r>
              <a:rPr lang="zh-CN" altLang="en-US" sz="2000" b="1" dirty="0">
                <a:ea typeface="宋体" panose="02010600030101010101" pitchFamily="2" charset="-122"/>
              </a:rPr>
              <a:t>接受状态集合</a:t>
            </a:r>
            <a:r>
              <a:rPr lang="en-US" altLang="zh-CN" sz="2000" b="1" dirty="0">
                <a:ea typeface="宋体" panose="02010600030101010101" pitchFamily="2" charset="-122"/>
              </a:rPr>
              <a:t>F</a:t>
            </a:r>
            <a:endParaRPr lang="en-US" altLang="zh-CN" sz="2000"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zh-CN" altLang="en-US" sz="2000" b="1" dirty="0">
                <a:ea typeface="宋体" panose="02010600030101010101" pitchFamily="2" charset="-122"/>
              </a:rPr>
              <a:t>输出：一个</a:t>
            </a:r>
            <a:r>
              <a:rPr lang="en-US" altLang="zh-CN" sz="2000" b="1" dirty="0">
                <a:ea typeface="宋体" panose="02010600030101010101" pitchFamily="2" charset="-122"/>
              </a:rPr>
              <a:t>DFA M’，</a:t>
            </a:r>
            <a:r>
              <a:rPr lang="zh-CN" altLang="en-US" sz="2000" b="1" dirty="0">
                <a:ea typeface="宋体" panose="02010600030101010101" pitchFamily="2" charset="-122"/>
              </a:rPr>
              <a:t>它和</a:t>
            </a:r>
            <a:r>
              <a:rPr lang="en-US" altLang="zh-CN" sz="2000" b="1" dirty="0">
                <a:ea typeface="宋体" panose="02010600030101010101" pitchFamily="2" charset="-122"/>
              </a:rPr>
              <a:t>M</a:t>
            </a:r>
            <a:r>
              <a:rPr lang="zh-CN" altLang="en-US" sz="2000" b="1" dirty="0">
                <a:ea typeface="宋体" panose="02010600030101010101" pitchFamily="2" charset="-122"/>
              </a:rPr>
              <a:t>接受同样的语言，且状态数最少</a:t>
            </a:r>
            <a:endParaRPr lang="zh-CN" altLang="en-US" sz="2000" b="1" dirty="0">
              <a:ea typeface="宋体" panose="02010600030101010101" pitchFamily="2" charset="-122"/>
            </a:endParaRPr>
          </a:p>
          <a:p>
            <a:pPr marL="495300" indent="-495300">
              <a:lnSpc>
                <a:spcPct val="90000"/>
              </a:lnSpc>
              <a:spcBef>
                <a:spcPct val="0"/>
              </a:spcBef>
              <a:buFont typeface="Wingdings" panose="05000000000000000000" pitchFamily="2" charset="2"/>
              <a:buNone/>
            </a:pPr>
            <a:r>
              <a:rPr lang="zh-CN" altLang="en-US" sz="2000" b="1" dirty="0">
                <a:ea typeface="宋体" panose="02010600030101010101" pitchFamily="2" charset="-122"/>
              </a:rPr>
              <a:t>方法：</a:t>
            </a:r>
            <a:endParaRPr lang="zh-CN" altLang="en-US" sz="2000" b="1" dirty="0">
              <a:ea typeface="宋体" panose="02010600030101010101" pitchFamily="2" charset="-122"/>
            </a:endParaRPr>
          </a:p>
          <a:p>
            <a:pPr marL="914400" lvl="1" indent="-457200">
              <a:lnSpc>
                <a:spcPct val="90000"/>
              </a:lnSpc>
              <a:spcBef>
                <a:spcPct val="0"/>
              </a:spcBef>
              <a:buFont typeface="Wingdings" panose="05000000000000000000" pitchFamily="2" charset="2"/>
              <a:buAutoNum type="arabicParenR"/>
            </a:pPr>
            <a:r>
              <a:rPr lang="zh-CN" altLang="en-US" sz="1800" b="1" dirty="0">
                <a:ea typeface="宋体" panose="02010600030101010101" pitchFamily="2" charset="-122"/>
              </a:rPr>
              <a:t>构造状态集合的初始划分</a:t>
            </a:r>
            <a:r>
              <a:rPr lang="en-US" altLang="zh-CN" sz="1800" b="1" dirty="0">
                <a:latin typeface="宋体" panose="02010600030101010101" pitchFamily="2" charset="-122"/>
                <a:ea typeface="宋体" panose="02010600030101010101" pitchFamily="2" charset="-122"/>
              </a:rPr>
              <a:t>Π</a:t>
            </a:r>
            <a:r>
              <a:rPr lang="en-US" altLang="zh-CN" sz="1800" b="1" dirty="0">
                <a:ea typeface="宋体" panose="02010600030101010101" pitchFamily="2" charset="-122"/>
              </a:rPr>
              <a:t>：</a:t>
            </a:r>
            <a:r>
              <a:rPr lang="zh-CN" altLang="en-US" sz="1800" b="1" dirty="0">
                <a:ea typeface="宋体" panose="02010600030101010101" pitchFamily="2" charset="-122"/>
              </a:rPr>
              <a:t>分成两组，接受状态组</a:t>
            </a:r>
            <a:r>
              <a:rPr lang="en-US" altLang="zh-CN" sz="1800" b="1" dirty="0">
                <a:ea typeface="宋体" panose="02010600030101010101" pitchFamily="2" charset="-122"/>
              </a:rPr>
              <a:t>F</a:t>
            </a:r>
            <a:r>
              <a:rPr lang="zh-CN" altLang="en-US" sz="1800" b="1" dirty="0">
                <a:ea typeface="宋体" panose="02010600030101010101" pitchFamily="2" charset="-122"/>
              </a:rPr>
              <a:t>和非接受状态组</a:t>
            </a:r>
            <a:r>
              <a:rPr lang="en-US" altLang="zh-CN" sz="1800" b="1" dirty="0">
                <a:ea typeface="宋体" panose="02010600030101010101" pitchFamily="2" charset="-122"/>
              </a:rPr>
              <a:t>S-F</a:t>
            </a:r>
            <a:endParaRPr lang="en-US" altLang="zh-CN" sz="1800" b="1" dirty="0">
              <a:ea typeface="宋体" panose="02010600030101010101" pitchFamily="2" charset="-122"/>
            </a:endParaRPr>
          </a:p>
          <a:p>
            <a:pPr marL="914400" lvl="1" indent="-457200">
              <a:lnSpc>
                <a:spcPct val="90000"/>
              </a:lnSpc>
              <a:spcBef>
                <a:spcPct val="0"/>
              </a:spcBef>
              <a:buFont typeface="Wingdings" panose="05000000000000000000" pitchFamily="2" charset="2"/>
              <a:buAutoNum type="arabicParenR"/>
            </a:pPr>
            <a:r>
              <a:rPr lang="zh-CN" altLang="en-US" sz="1800" b="1" dirty="0">
                <a:ea typeface="宋体" panose="02010600030101010101" pitchFamily="2" charset="-122"/>
              </a:rPr>
              <a:t>应用下面的过程对</a:t>
            </a:r>
            <a:r>
              <a:rPr lang="en-US" altLang="zh-CN" sz="1800" b="1" dirty="0">
                <a:latin typeface="宋体" panose="02010600030101010101" pitchFamily="2" charset="-122"/>
                <a:ea typeface="宋体" panose="02010600030101010101" pitchFamily="2" charset="-122"/>
              </a:rPr>
              <a:t>Π</a:t>
            </a:r>
            <a:r>
              <a:rPr lang="zh-CN" altLang="en-US" sz="1800" b="1" dirty="0">
                <a:ea typeface="宋体" panose="02010600030101010101" pitchFamily="2" charset="-122"/>
              </a:rPr>
              <a:t>构造新的划分</a:t>
            </a:r>
            <a:r>
              <a:rPr lang="en-US" altLang="zh-CN" sz="1800" b="1" dirty="0">
                <a:latin typeface="宋体" panose="02010600030101010101" pitchFamily="2" charset="-122"/>
                <a:ea typeface="宋体" panose="02010600030101010101" pitchFamily="2" charset="-122"/>
              </a:rPr>
              <a:t>Π</a:t>
            </a:r>
            <a:r>
              <a:rPr lang="en-US" altLang="zh-CN" sz="1800" b="1" baseline="-25000" dirty="0">
                <a:ea typeface="宋体" panose="02010600030101010101" pitchFamily="2" charset="-122"/>
              </a:rPr>
              <a:t>new</a:t>
            </a:r>
            <a:r>
              <a:rPr lang="en-US" altLang="zh-CN" sz="1800" b="1" dirty="0">
                <a:ea typeface="宋体" panose="02010600030101010101" pitchFamily="2" charset="-122"/>
              </a:rPr>
              <a:t>：</a:t>
            </a:r>
            <a:endParaRPr lang="en-US" altLang="zh-CN" sz="1800" b="1" dirty="0">
              <a:ea typeface="宋体" panose="02010600030101010101" pitchFamily="2" charset="-122"/>
            </a:endParaRPr>
          </a:p>
          <a:p>
            <a:pPr marL="914400" lvl="1" indent="-457200">
              <a:lnSpc>
                <a:spcPct val="90000"/>
              </a:lnSpc>
              <a:spcBef>
                <a:spcPct val="0"/>
              </a:spcBef>
              <a:buFont typeface="Wingdings" panose="05000000000000000000" pitchFamily="2" charset="2"/>
              <a:buNone/>
            </a:pPr>
            <a:r>
              <a:rPr lang="zh-CN" altLang="en-US" sz="1800" b="1" dirty="0">
                <a:ea typeface="宋体" panose="02010600030101010101" pitchFamily="2" charset="-122"/>
              </a:rPr>
              <a:t>	</a:t>
            </a:r>
            <a:r>
              <a:rPr lang="en-US" altLang="zh-CN" sz="1800" b="1" dirty="0">
                <a:ea typeface="宋体" panose="02010600030101010101" pitchFamily="2" charset="-122"/>
              </a:rPr>
              <a:t>for Π</a:t>
            </a:r>
            <a:r>
              <a:rPr lang="zh-CN" altLang="en-US" sz="1800" b="1" dirty="0">
                <a:ea typeface="宋体" panose="02010600030101010101" pitchFamily="2" charset="-122"/>
              </a:rPr>
              <a:t>中的每个组</a:t>
            </a:r>
            <a:r>
              <a:rPr lang="en-US" altLang="zh-CN" sz="1800" b="1" dirty="0">
                <a:ea typeface="宋体" panose="02010600030101010101" pitchFamily="2" charset="-122"/>
              </a:rPr>
              <a:t>G do begin</a:t>
            </a:r>
            <a:endParaRPr lang="en-US" altLang="zh-CN" sz="1800" b="1" dirty="0">
              <a:ea typeface="宋体" panose="02010600030101010101" pitchFamily="2" charset="-122"/>
            </a:endParaRPr>
          </a:p>
          <a:p>
            <a:pPr marL="914400" lvl="1" indent="-457200">
              <a:lnSpc>
                <a:spcPct val="90000"/>
              </a:lnSpc>
              <a:spcBef>
                <a:spcPct val="0"/>
              </a:spcBef>
              <a:buFont typeface="Wingdings" panose="05000000000000000000" pitchFamily="2" charset="2"/>
              <a:buNone/>
            </a:pPr>
            <a:r>
              <a:rPr lang="en-US" altLang="zh-CN" sz="1800" b="1" dirty="0">
                <a:ea typeface="宋体" panose="02010600030101010101" pitchFamily="2" charset="-122"/>
              </a:rPr>
              <a:t>	    </a:t>
            </a:r>
            <a:r>
              <a:rPr lang="zh-CN" altLang="en-US" sz="1800" b="1" dirty="0">
                <a:ea typeface="宋体" panose="02010600030101010101" pitchFamily="2" charset="-122"/>
              </a:rPr>
              <a:t>把</a:t>
            </a:r>
            <a:r>
              <a:rPr lang="en-US" altLang="zh-CN" sz="1800" b="1" dirty="0">
                <a:ea typeface="宋体" panose="02010600030101010101" pitchFamily="2" charset="-122"/>
              </a:rPr>
              <a:t>G</a:t>
            </a:r>
            <a:r>
              <a:rPr lang="zh-CN" altLang="en-US" sz="1800" b="1" dirty="0">
                <a:ea typeface="宋体" panose="02010600030101010101" pitchFamily="2" charset="-122"/>
              </a:rPr>
              <a:t>划分成小组，</a:t>
            </a:r>
            <a:r>
              <a:rPr lang="en-US" altLang="zh-CN" sz="1800" b="1" dirty="0">
                <a:ea typeface="宋体" panose="02010600030101010101" pitchFamily="2" charset="-122"/>
              </a:rPr>
              <a:t>G</a:t>
            </a:r>
            <a:r>
              <a:rPr lang="zh-CN" altLang="en-US" sz="1800" b="1" dirty="0">
                <a:ea typeface="宋体" panose="02010600030101010101" pitchFamily="2" charset="-122"/>
              </a:rPr>
              <a:t>的两个状态</a:t>
            </a:r>
            <a:r>
              <a:rPr lang="en-US" altLang="zh-CN" sz="1800" b="1" dirty="0">
                <a:ea typeface="宋体" panose="02010600030101010101" pitchFamily="2" charset="-122"/>
              </a:rPr>
              <a:t>s</a:t>
            </a:r>
            <a:r>
              <a:rPr lang="zh-CN" altLang="en-US" sz="1800" b="1" dirty="0">
                <a:ea typeface="宋体" panose="02010600030101010101" pitchFamily="2" charset="-122"/>
              </a:rPr>
              <a:t>和</a:t>
            </a:r>
            <a:r>
              <a:rPr lang="en-US" altLang="zh-CN" sz="1800" b="1" dirty="0">
                <a:ea typeface="宋体" panose="02010600030101010101" pitchFamily="2" charset="-122"/>
              </a:rPr>
              <a:t>t</a:t>
            </a:r>
            <a:r>
              <a:rPr lang="zh-CN" altLang="en-US" sz="1800" b="1" dirty="0">
                <a:ea typeface="宋体" panose="02010600030101010101" pitchFamily="2" charset="-122"/>
              </a:rPr>
              <a:t>在同一小组中，当且仅当</a:t>
            </a:r>
            <a:endParaRPr lang="zh-CN" altLang="en-US" sz="1800" b="1" dirty="0">
              <a:ea typeface="宋体" panose="02010600030101010101" pitchFamily="2" charset="-122"/>
            </a:endParaRPr>
          </a:p>
          <a:p>
            <a:pPr marL="914400" lvl="1" indent="-457200">
              <a:lnSpc>
                <a:spcPct val="90000"/>
              </a:lnSpc>
              <a:spcBef>
                <a:spcPct val="0"/>
              </a:spcBef>
              <a:buFont typeface="Wingdings" panose="05000000000000000000" pitchFamily="2" charset="2"/>
              <a:buNone/>
            </a:pPr>
            <a:r>
              <a:rPr lang="zh-CN" altLang="en-US" sz="1800" b="1" dirty="0">
                <a:ea typeface="宋体" panose="02010600030101010101" pitchFamily="2" charset="-122"/>
              </a:rPr>
              <a:t>	    对任意输入符号</a:t>
            </a:r>
            <a:r>
              <a:rPr lang="en-US" altLang="zh-CN" sz="1800" b="1" dirty="0">
                <a:ea typeface="宋体" panose="02010600030101010101" pitchFamily="2" charset="-122"/>
              </a:rPr>
              <a:t>a，s</a:t>
            </a:r>
            <a:r>
              <a:rPr lang="zh-CN" altLang="en-US" sz="1800" b="1" dirty="0">
                <a:ea typeface="宋体" panose="02010600030101010101" pitchFamily="2" charset="-122"/>
              </a:rPr>
              <a:t>和</a:t>
            </a:r>
            <a:r>
              <a:rPr lang="en-US" altLang="zh-CN" sz="1800" b="1" dirty="0">
                <a:ea typeface="宋体" panose="02010600030101010101" pitchFamily="2" charset="-122"/>
              </a:rPr>
              <a:t>t</a:t>
            </a:r>
            <a:r>
              <a:rPr lang="zh-CN" altLang="en-US" sz="1800" b="1" dirty="0">
                <a:ea typeface="宋体" panose="02010600030101010101" pitchFamily="2" charset="-122"/>
              </a:rPr>
              <a:t>的</a:t>
            </a:r>
            <a:r>
              <a:rPr lang="en-US" altLang="zh-CN" sz="1800" b="1" dirty="0">
                <a:ea typeface="宋体" panose="02010600030101010101" pitchFamily="2" charset="-122"/>
              </a:rPr>
              <a:t>a</a:t>
            </a:r>
            <a:r>
              <a:rPr lang="zh-CN" altLang="en-US" sz="1800" b="1" dirty="0">
                <a:ea typeface="宋体" panose="02010600030101010101" pitchFamily="2" charset="-122"/>
              </a:rPr>
              <a:t>转换都在</a:t>
            </a:r>
            <a:r>
              <a:rPr lang="en-US" altLang="zh-CN" sz="1800" b="1" dirty="0">
                <a:latin typeface="宋体" panose="02010600030101010101" pitchFamily="2" charset="-122"/>
                <a:ea typeface="宋体" panose="02010600030101010101" pitchFamily="2" charset="-122"/>
              </a:rPr>
              <a:t>Π</a:t>
            </a:r>
            <a:r>
              <a:rPr lang="zh-CN" altLang="en-US" sz="1800" b="1" dirty="0">
                <a:latin typeface="宋体" panose="02010600030101010101" pitchFamily="2" charset="-122"/>
                <a:ea typeface="宋体" panose="02010600030101010101" pitchFamily="2" charset="-122"/>
              </a:rPr>
              <a:t>的同一组中；</a:t>
            </a:r>
            <a:endParaRPr lang="zh-CN" altLang="en-US" sz="1800" b="1" dirty="0">
              <a:latin typeface="宋体" panose="02010600030101010101" pitchFamily="2" charset="-122"/>
              <a:ea typeface="宋体" panose="02010600030101010101" pitchFamily="2" charset="-122"/>
            </a:endParaRPr>
          </a:p>
          <a:p>
            <a:pPr marL="914400" lvl="1" indent="-457200">
              <a:lnSpc>
                <a:spcPct val="90000"/>
              </a:lnSpc>
              <a:spcBef>
                <a:spcPct val="0"/>
              </a:spcBef>
              <a:buFont typeface="Wingdings" panose="05000000000000000000" pitchFamily="2" charset="2"/>
              <a:buNone/>
            </a:pPr>
            <a:r>
              <a:rPr lang="zh-CN" altLang="en-US" sz="1800" b="1" dirty="0">
                <a:ea typeface="宋体" panose="02010600030101010101" pitchFamily="2" charset="-122"/>
              </a:rPr>
              <a:t>	    在</a:t>
            </a:r>
            <a:r>
              <a:rPr lang="en-US" altLang="zh-CN" sz="1800" b="1" dirty="0">
                <a:latin typeface="宋体" panose="02010600030101010101" pitchFamily="2" charset="-122"/>
                <a:ea typeface="宋体" panose="02010600030101010101" pitchFamily="2" charset="-122"/>
              </a:rPr>
              <a:t>Π</a:t>
            </a:r>
            <a:r>
              <a:rPr lang="en-US" altLang="zh-CN" sz="1800" b="1" baseline="-25000" dirty="0">
                <a:ea typeface="宋体" panose="02010600030101010101" pitchFamily="2" charset="-122"/>
              </a:rPr>
              <a:t>new</a:t>
            </a:r>
            <a:r>
              <a:rPr lang="zh-CN" altLang="en-US" sz="1800" b="1" dirty="0">
                <a:ea typeface="宋体" panose="02010600030101010101" pitchFamily="2" charset="-122"/>
              </a:rPr>
              <a:t>中，用</a:t>
            </a:r>
            <a:r>
              <a:rPr lang="en-US" altLang="zh-CN" sz="1800" b="1" dirty="0">
                <a:ea typeface="宋体" panose="02010600030101010101" pitchFamily="2" charset="-122"/>
              </a:rPr>
              <a:t>G</a:t>
            </a:r>
            <a:r>
              <a:rPr lang="zh-CN" altLang="en-US" sz="1800" b="1" dirty="0">
                <a:ea typeface="宋体" panose="02010600030101010101" pitchFamily="2" charset="-122"/>
              </a:rPr>
              <a:t>的划分代替</a:t>
            </a:r>
            <a:r>
              <a:rPr lang="en-US" altLang="zh-CN" sz="1800" b="1" dirty="0">
                <a:ea typeface="宋体" panose="02010600030101010101" pitchFamily="2" charset="-122"/>
              </a:rPr>
              <a:t>G；</a:t>
            </a:r>
            <a:endParaRPr lang="en-US" altLang="zh-CN" sz="1800" b="1" dirty="0">
              <a:ea typeface="宋体" panose="02010600030101010101" pitchFamily="2" charset="-122"/>
            </a:endParaRPr>
          </a:p>
          <a:p>
            <a:pPr marL="914400" lvl="1" indent="-457200">
              <a:lnSpc>
                <a:spcPct val="90000"/>
              </a:lnSpc>
              <a:spcBef>
                <a:spcPct val="0"/>
              </a:spcBef>
              <a:buFont typeface="Wingdings" panose="05000000000000000000" pitchFamily="2" charset="2"/>
              <a:buNone/>
            </a:pPr>
            <a:r>
              <a:rPr lang="en-US" altLang="zh-CN" sz="1800" b="1" dirty="0">
                <a:ea typeface="宋体" panose="02010600030101010101" pitchFamily="2" charset="-122"/>
              </a:rPr>
              <a:t>	endfor</a:t>
            </a:r>
            <a:endParaRPr lang="zh-CN" altLang="en-US" sz="1800" b="1" dirty="0">
              <a:latin typeface="宋体" panose="02010600030101010101" pitchFamily="2" charset="-122"/>
              <a:ea typeface="宋体" panose="02010600030101010101" pitchFamily="2" charset="-122"/>
            </a:endParaRPr>
          </a:p>
          <a:p>
            <a:pPr marL="914400" lvl="1" indent="-457200">
              <a:lnSpc>
                <a:spcPct val="90000"/>
              </a:lnSpc>
              <a:spcBef>
                <a:spcPct val="0"/>
              </a:spcBef>
              <a:buFont typeface="Wingdings" panose="05000000000000000000" pitchFamily="2" charset="2"/>
              <a:buAutoNum type="arabicParenR" startAt="3"/>
            </a:pPr>
            <a:r>
              <a:rPr lang="zh-CN" altLang="en-US" sz="1800" b="1" dirty="0">
                <a:ea typeface="宋体" panose="02010600030101010101" pitchFamily="2" charset="-122"/>
              </a:rPr>
              <a:t>如果</a:t>
            </a:r>
            <a:r>
              <a:rPr lang="en-US" altLang="zh-CN" sz="1800" b="1" dirty="0">
                <a:latin typeface="宋体" panose="02010600030101010101" pitchFamily="2" charset="-122"/>
                <a:ea typeface="宋体" panose="02010600030101010101" pitchFamily="2" charset="-122"/>
              </a:rPr>
              <a:t>Π</a:t>
            </a:r>
            <a:r>
              <a:rPr lang="en-US" altLang="zh-CN" sz="1800" b="1" baseline="-25000" dirty="0">
                <a:ea typeface="宋体" panose="02010600030101010101" pitchFamily="2" charset="-122"/>
              </a:rPr>
              <a:t>new</a:t>
            </a:r>
            <a:r>
              <a:rPr lang="zh-CN" altLang="en-US" sz="1800" b="1" dirty="0">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Π</a:t>
            </a:r>
            <a:r>
              <a:rPr lang="en-US" altLang="zh-CN" sz="1800" b="1" dirty="0">
                <a:ea typeface="宋体" panose="02010600030101010101" pitchFamily="2" charset="-122"/>
              </a:rPr>
              <a:t> </a:t>
            </a:r>
            <a:r>
              <a:rPr lang="zh-CN" altLang="en-US" sz="1800" b="1" dirty="0">
                <a:ea typeface="宋体" panose="02010600030101010101" pitchFamily="2" charset="-122"/>
              </a:rPr>
              <a:t>，让</a:t>
            </a:r>
            <a:r>
              <a:rPr lang="en-US" altLang="zh-CN" sz="1800" b="1" dirty="0">
                <a:latin typeface="宋体" panose="02010600030101010101" pitchFamily="2" charset="-122"/>
                <a:ea typeface="宋体" panose="02010600030101010101" pitchFamily="2" charset="-122"/>
              </a:rPr>
              <a:t>Π</a:t>
            </a:r>
            <a:r>
              <a:rPr lang="en-US" altLang="zh-CN" sz="1800" b="1" baseline="-25000" dirty="0">
                <a:ea typeface="宋体" panose="02010600030101010101" pitchFamily="2" charset="-122"/>
              </a:rPr>
              <a:t>final</a:t>
            </a:r>
            <a:r>
              <a:rPr lang="zh-CN" altLang="en-US" sz="1800" b="1" dirty="0">
                <a:ea typeface="宋体" panose="02010600030101010101" pitchFamily="2" charset="-122"/>
              </a:rPr>
              <a:t>:= </a:t>
            </a:r>
            <a:r>
              <a:rPr lang="en-US" altLang="zh-CN" sz="1800" b="1" dirty="0">
                <a:latin typeface="宋体" panose="02010600030101010101" pitchFamily="2" charset="-122"/>
                <a:ea typeface="宋体" panose="02010600030101010101" pitchFamily="2" charset="-122"/>
              </a:rPr>
              <a:t>Π</a:t>
            </a:r>
            <a:r>
              <a:rPr lang="en-US" altLang="zh-CN" sz="1800" b="1" dirty="0">
                <a:ea typeface="宋体" panose="02010600030101010101" pitchFamily="2" charset="-122"/>
              </a:rPr>
              <a:t> </a:t>
            </a:r>
            <a:r>
              <a:rPr lang="zh-CN" altLang="en-US" sz="1800" b="1" dirty="0">
                <a:ea typeface="宋体" panose="02010600030101010101" pitchFamily="2" charset="-122"/>
              </a:rPr>
              <a:t>，再执行步骤4)；否则，令</a:t>
            </a:r>
            <a:r>
              <a:rPr lang="en-US" altLang="zh-CN" sz="1800" b="1" dirty="0">
                <a:latin typeface="宋体" panose="02010600030101010101" pitchFamily="2" charset="-122"/>
                <a:ea typeface="宋体" panose="02010600030101010101" pitchFamily="2" charset="-122"/>
              </a:rPr>
              <a:t>Π</a:t>
            </a:r>
            <a:r>
              <a:rPr lang="zh-CN" altLang="en-US" sz="1800" b="1" dirty="0">
                <a:ea typeface="宋体" panose="02010600030101010101" pitchFamily="2" charset="-122"/>
              </a:rPr>
              <a:t> := </a:t>
            </a:r>
            <a:r>
              <a:rPr lang="en-US" altLang="zh-CN" sz="1800" b="1" dirty="0">
                <a:latin typeface="宋体" panose="02010600030101010101" pitchFamily="2" charset="-122"/>
                <a:ea typeface="宋体" panose="02010600030101010101" pitchFamily="2" charset="-122"/>
              </a:rPr>
              <a:t>Π</a:t>
            </a:r>
            <a:r>
              <a:rPr lang="en-US" altLang="zh-CN" sz="1800" b="1" baseline="-25000" dirty="0">
                <a:ea typeface="宋体" panose="02010600030101010101" pitchFamily="2" charset="-122"/>
              </a:rPr>
              <a:t>new</a:t>
            </a:r>
            <a:r>
              <a:rPr lang="en-US" altLang="zh-CN" sz="1800" b="1" dirty="0">
                <a:ea typeface="宋体" panose="02010600030101010101" pitchFamily="2" charset="-122"/>
              </a:rPr>
              <a:t>，</a:t>
            </a:r>
            <a:r>
              <a:rPr lang="zh-CN" altLang="en-US" sz="1800" b="1" dirty="0">
                <a:ea typeface="宋体" panose="02010600030101010101" pitchFamily="2" charset="-122"/>
              </a:rPr>
              <a:t>转步骤2)</a:t>
            </a:r>
            <a:endParaRPr lang="zh-CN" altLang="en-US" sz="1800" b="1" dirty="0">
              <a:ea typeface="宋体" panose="02010600030101010101" pitchFamily="2" charset="-122"/>
            </a:endParaRPr>
          </a:p>
          <a:p>
            <a:pPr marL="914400" lvl="1" indent="-457200">
              <a:lnSpc>
                <a:spcPct val="90000"/>
              </a:lnSpc>
              <a:spcBef>
                <a:spcPct val="0"/>
              </a:spcBef>
              <a:buFont typeface="Wingdings" panose="05000000000000000000" pitchFamily="2" charset="2"/>
              <a:buAutoNum type="arabicParenR" startAt="3"/>
            </a:pPr>
            <a:r>
              <a:rPr lang="zh-CN" altLang="en-US" sz="1800" b="1" dirty="0">
                <a:ea typeface="宋体" panose="02010600030101010101" pitchFamily="2" charset="-122"/>
              </a:rPr>
              <a:t>在</a:t>
            </a:r>
            <a:r>
              <a:rPr lang="en-US" altLang="zh-CN" sz="1800" b="1" dirty="0">
                <a:latin typeface="宋体" panose="02010600030101010101" pitchFamily="2" charset="-122"/>
                <a:ea typeface="宋体" panose="02010600030101010101" pitchFamily="2" charset="-122"/>
              </a:rPr>
              <a:t>Π</a:t>
            </a:r>
            <a:r>
              <a:rPr lang="en-US" altLang="zh-CN" sz="1800" b="1" baseline="-25000" dirty="0">
                <a:ea typeface="宋体" panose="02010600030101010101" pitchFamily="2" charset="-122"/>
              </a:rPr>
              <a:t>final</a:t>
            </a:r>
            <a:r>
              <a:rPr lang="zh-CN" altLang="en-US" sz="1800" b="1" dirty="0">
                <a:ea typeface="宋体" panose="02010600030101010101" pitchFamily="2" charset="-122"/>
              </a:rPr>
              <a:t>的每个状态组中选一个状态代表它，它对应了这个组中所有状态的转换。包含</a:t>
            </a:r>
            <a:r>
              <a:rPr lang="en-US" altLang="zh-CN" sz="1800" b="1" dirty="0">
                <a:ea typeface="宋体" panose="02010600030101010101" pitchFamily="2" charset="-122"/>
              </a:rPr>
              <a:t>s</a:t>
            </a:r>
            <a:r>
              <a:rPr lang="en-US" altLang="zh-CN" sz="1800" b="1" baseline="-25000" dirty="0">
                <a:ea typeface="宋体" panose="02010600030101010101" pitchFamily="2" charset="-122"/>
              </a:rPr>
              <a:t>0</a:t>
            </a:r>
            <a:r>
              <a:rPr lang="zh-CN" altLang="en-US" sz="1800" b="1" dirty="0">
                <a:ea typeface="宋体" panose="02010600030101010101" pitchFamily="2" charset="-122"/>
              </a:rPr>
              <a:t>的状态组的代表是</a:t>
            </a:r>
            <a:r>
              <a:rPr lang="en-US" altLang="zh-CN" sz="1800" b="1" dirty="0">
                <a:ea typeface="宋体" panose="02010600030101010101" pitchFamily="2" charset="-122"/>
              </a:rPr>
              <a:t>M’</a:t>
            </a:r>
            <a:r>
              <a:rPr lang="zh-CN" altLang="en-US" sz="1800" b="1" dirty="0">
                <a:ea typeface="宋体" panose="02010600030101010101" pitchFamily="2" charset="-122"/>
              </a:rPr>
              <a:t>的开始状态，</a:t>
            </a:r>
            <a:r>
              <a:rPr lang="en-US" altLang="zh-CN" sz="1800" b="1" dirty="0">
                <a:ea typeface="宋体" panose="02010600030101010101" pitchFamily="2" charset="-122"/>
              </a:rPr>
              <a:t>M’</a:t>
            </a:r>
            <a:r>
              <a:rPr lang="zh-CN" altLang="en-US" sz="1800" b="1" dirty="0">
                <a:ea typeface="宋体" panose="02010600030101010101" pitchFamily="2" charset="-122"/>
              </a:rPr>
              <a:t>的接受状态是那些原先从属于</a:t>
            </a:r>
            <a:r>
              <a:rPr lang="en-US" altLang="zh-CN" sz="1800" b="1" dirty="0">
                <a:ea typeface="宋体" panose="02010600030101010101" pitchFamily="2" charset="-122"/>
              </a:rPr>
              <a:t>F</a:t>
            </a:r>
            <a:r>
              <a:rPr lang="zh-CN" altLang="en-US" sz="1800" b="1" dirty="0">
                <a:ea typeface="宋体" panose="02010600030101010101" pitchFamily="2" charset="-122"/>
              </a:rPr>
              <a:t>集合的代表，</a:t>
            </a:r>
            <a:r>
              <a:rPr lang="en-US" altLang="zh-CN" sz="1800" b="1" dirty="0">
                <a:latin typeface="宋体" panose="02010600030101010101" pitchFamily="2" charset="-122"/>
                <a:ea typeface="宋体" panose="02010600030101010101" pitchFamily="2" charset="-122"/>
              </a:rPr>
              <a:t>Π</a:t>
            </a:r>
            <a:r>
              <a:rPr lang="en-US" altLang="zh-CN" sz="1800" b="1" baseline="-25000" dirty="0">
                <a:ea typeface="宋体" panose="02010600030101010101" pitchFamily="2" charset="-122"/>
              </a:rPr>
              <a:t>final</a:t>
            </a:r>
            <a:r>
              <a:rPr lang="zh-CN" altLang="en-US" sz="1800" b="1" dirty="0">
                <a:ea typeface="宋体" panose="02010600030101010101" pitchFamily="2" charset="-122"/>
              </a:rPr>
              <a:t>的每个状态组或者仅含</a:t>
            </a:r>
            <a:r>
              <a:rPr lang="en-US" altLang="zh-CN" sz="1800" b="1" dirty="0">
                <a:ea typeface="宋体" panose="02010600030101010101" pitchFamily="2" charset="-122"/>
              </a:rPr>
              <a:t>F</a:t>
            </a:r>
            <a:r>
              <a:rPr lang="zh-CN" altLang="en-US" sz="1800" b="1" dirty="0">
                <a:ea typeface="宋体" panose="02010600030101010101" pitchFamily="2" charset="-122"/>
              </a:rPr>
              <a:t>中的状态，或者不含</a:t>
            </a:r>
            <a:r>
              <a:rPr lang="en-US" altLang="zh-CN" sz="1800" b="1" dirty="0">
                <a:ea typeface="宋体" panose="02010600030101010101" pitchFamily="2" charset="-122"/>
              </a:rPr>
              <a:t>F</a:t>
            </a:r>
            <a:r>
              <a:rPr lang="zh-CN" altLang="en-US" sz="1800" b="1" dirty="0">
                <a:ea typeface="宋体" panose="02010600030101010101" pitchFamily="2" charset="-122"/>
              </a:rPr>
              <a:t>中的状态</a:t>
            </a:r>
            <a:endParaRPr lang="zh-CN" altLang="en-US" sz="1800" b="1" dirty="0">
              <a:ea typeface="宋体" panose="02010600030101010101" pitchFamily="2" charset="-122"/>
            </a:endParaRPr>
          </a:p>
          <a:p>
            <a:pPr marL="914400" lvl="1" indent="-457200">
              <a:lnSpc>
                <a:spcPct val="90000"/>
              </a:lnSpc>
              <a:spcBef>
                <a:spcPct val="0"/>
              </a:spcBef>
              <a:buFont typeface="Wingdings" panose="05000000000000000000" pitchFamily="2" charset="2"/>
              <a:buAutoNum type="arabicParenR" startAt="3"/>
            </a:pPr>
            <a:r>
              <a:rPr lang="zh-CN" altLang="en-US" sz="1800" b="1" dirty="0">
                <a:ea typeface="宋体" panose="02010600030101010101" pitchFamily="2" charset="-122"/>
              </a:rPr>
              <a:t>删除死状态和不可达的状态，与之相关的转换置为无定义</a:t>
            </a:r>
            <a:endParaRPr lang="zh-CN" altLang="en-US" sz="1800" b="1" dirty="0">
              <a:ea typeface="宋体" panose="02010600030101010101" pitchFamily="2" charset="-122"/>
            </a:endParaRP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DFA</a:t>
            </a:r>
            <a:r>
              <a:rPr lang="zh-CN" altLang="en-US" dirty="0">
                <a:latin typeface="Times New Roman" panose="02020603050405020304" pitchFamily="18" charset="0"/>
                <a:ea typeface="宋体" panose="02010600030101010101" pitchFamily="2" charset="-122"/>
              </a:rPr>
              <a:t>的化简（4）</a:t>
            </a:r>
            <a:endParaRPr lang="zh-CN" altLang="en-US" dirty="0">
              <a:latin typeface="Times New Roman" panose="02020603050405020304" pitchFamily="18" charset="0"/>
              <a:ea typeface="宋体" panose="02010600030101010101" pitchFamily="2" charset="-122"/>
            </a:endParaRPr>
          </a:p>
        </p:txBody>
      </p:sp>
      <p:sp>
        <p:nvSpPr>
          <p:cNvPr id="620547" name="Rectangle 3"/>
          <p:cNvSpPr>
            <a:spLocks noGrp="1"/>
          </p:cNvSpPr>
          <p:nvPr>
            <p:ph idx="1"/>
          </p:nvPr>
        </p:nvSpPr>
        <p:spPr>
          <a:xfrm>
            <a:off x="990600" y="1371600"/>
            <a:ext cx="7391400" cy="4800600"/>
          </a:xfrm>
        </p:spPr>
        <p:txBody>
          <a:bodyPr vert="horz" wrap="square" lIns="92075" tIns="46038" rIns="92075" bIns="46038" anchor="t" anchorCtr="0"/>
          <a:p>
            <a:pPr marL="0" indent="0">
              <a:buFont typeface="Wingdings" panose="05000000000000000000" pitchFamily="2" charset="2"/>
              <a:buNone/>
            </a:pPr>
            <a:endParaRPr lang="zh-CN" altLang="en-US" sz="1800" b="1" dirty="0">
              <a:ea typeface="宋体" panose="02010600030101010101" pitchFamily="2" charset="-122"/>
            </a:endParaRPr>
          </a:p>
          <a:p>
            <a:pPr marL="0" indent="0">
              <a:buFont typeface="Wingdings" panose="05000000000000000000" pitchFamily="2" charset="2"/>
              <a:buNone/>
            </a:pPr>
            <a:endParaRPr lang="zh-CN" altLang="en-US" sz="1800" b="1" dirty="0">
              <a:ea typeface="宋体" panose="02010600030101010101" pitchFamily="2" charset="-122"/>
            </a:endParaRPr>
          </a:p>
          <a:p>
            <a:pPr marL="0" indent="0">
              <a:buFont typeface="Wingdings" panose="05000000000000000000" pitchFamily="2" charset="2"/>
              <a:buNone/>
            </a:pPr>
            <a:endParaRPr lang="zh-CN" altLang="en-US" sz="1800" b="1" dirty="0">
              <a:ea typeface="宋体" panose="02010600030101010101" pitchFamily="2" charset="-122"/>
            </a:endParaRPr>
          </a:p>
          <a:p>
            <a:pPr marL="0" indent="0">
              <a:buFont typeface="Wingdings" panose="05000000000000000000" pitchFamily="2" charset="2"/>
              <a:buNone/>
            </a:pPr>
            <a:endParaRPr lang="zh-CN" altLang="en-US" sz="1800" b="1" dirty="0">
              <a:ea typeface="宋体" panose="02010600030101010101" pitchFamily="2" charset="-122"/>
            </a:endParaRPr>
          </a:p>
          <a:p>
            <a:pPr marL="0" indent="0">
              <a:buFont typeface="Wingdings" panose="05000000000000000000" pitchFamily="2" charset="2"/>
              <a:buNone/>
            </a:pPr>
            <a:endParaRPr lang="zh-CN" altLang="en-US" sz="1800" b="1" dirty="0">
              <a:ea typeface="宋体" panose="02010600030101010101" pitchFamily="2" charset="-122"/>
            </a:endParaRPr>
          </a:p>
          <a:p>
            <a:pPr marL="0" indent="0">
              <a:buFont typeface="Wingdings" panose="05000000000000000000" pitchFamily="2" charset="2"/>
              <a:buNone/>
            </a:pPr>
            <a:endParaRPr lang="zh-CN" altLang="en-US" sz="1800" b="1" dirty="0">
              <a:ea typeface="宋体" panose="02010600030101010101" pitchFamily="2" charset="-122"/>
            </a:endParaRPr>
          </a:p>
          <a:p>
            <a:pPr marL="0" indent="0">
              <a:buFont typeface="Wingdings" panose="05000000000000000000" pitchFamily="2" charset="2"/>
              <a:buNone/>
            </a:pPr>
            <a:endParaRPr lang="zh-CN" altLang="en-US" sz="1800" b="1" dirty="0">
              <a:ea typeface="宋体" panose="02010600030101010101" pitchFamily="2" charset="-122"/>
            </a:endParaRPr>
          </a:p>
          <a:p>
            <a:pPr marL="0" indent="0">
              <a:buFont typeface="Wingdings" panose="05000000000000000000" pitchFamily="2" charset="2"/>
              <a:buNone/>
            </a:pPr>
            <a:endParaRPr lang="zh-CN" altLang="en-US" sz="1800" b="1" dirty="0">
              <a:ea typeface="宋体" panose="02010600030101010101" pitchFamily="2" charset="-122"/>
            </a:endParaRPr>
          </a:p>
          <a:p>
            <a:pPr marL="0" indent="0">
              <a:spcBef>
                <a:spcPct val="0"/>
              </a:spcBef>
              <a:buFont typeface="Wingdings" panose="05000000000000000000" pitchFamily="2" charset="2"/>
              <a:buNone/>
            </a:pPr>
            <a:r>
              <a:rPr lang="zh-CN" altLang="en-US" sz="1800" b="1" dirty="0">
                <a:ea typeface="宋体" panose="02010600030101010101" pitchFamily="2" charset="-122"/>
              </a:rPr>
              <a:t>开始： </a:t>
            </a:r>
            <a:r>
              <a:rPr lang="en-US" altLang="zh-CN" sz="1800" b="1" dirty="0">
                <a:latin typeface="宋体" panose="02010600030101010101" pitchFamily="2" charset="-122"/>
                <a:ea typeface="宋体" panose="02010600030101010101" pitchFamily="2" charset="-122"/>
              </a:rPr>
              <a:t>Π</a:t>
            </a:r>
            <a:r>
              <a:rPr lang="zh-CN" altLang="en-US" sz="1800" b="1" dirty="0">
                <a:latin typeface="宋体" panose="02010600030101010101" pitchFamily="2" charset="-122"/>
                <a:ea typeface="宋体" panose="02010600030101010101" pitchFamily="2" charset="-122"/>
              </a:rPr>
              <a:t>中</a:t>
            </a:r>
            <a:r>
              <a:rPr lang="zh-CN" altLang="en-US" sz="1800" b="1" dirty="0">
                <a:ea typeface="宋体" panose="02010600030101010101" pitchFamily="2" charset="-122"/>
              </a:rPr>
              <a:t>只有两个组：接受状态组{</a:t>
            </a:r>
            <a:r>
              <a:rPr lang="en-US" altLang="zh-CN" sz="1800" b="1" dirty="0">
                <a:ea typeface="宋体" panose="02010600030101010101" pitchFamily="2" charset="-122"/>
              </a:rPr>
              <a:t>E}</a:t>
            </a:r>
            <a:r>
              <a:rPr lang="zh-CN" altLang="en-US" sz="1800" b="1" dirty="0">
                <a:ea typeface="宋体" panose="02010600030101010101" pitchFamily="2" charset="-122"/>
              </a:rPr>
              <a:t>和非接受状态组{</a:t>
            </a:r>
            <a:r>
              <a:rPr lang="en-US" altLang="zh-CN" sz="1800" b="1" dirty="0">
                <a:ea typeface="宋体" panose="02010600030101010101" pitchFamily="2" charset="-122"/>
              </a:rPr>
              <a:t>A B C D}</a:t>
            </a:r>
            <a:endParaRPr lang="en-US" altLang="zh-CN" sz="1800" b="1" dirty="0">
              <a:ea typeface="宋体" panose="02010600030101010101" pitchFamily="2" charset="-122"/>
            </a:endParaRPr>
          </a:p>
          <a:p>
            <a:pPr marL="0" indent="0">
              <a:spcBef>
                <a:spcPct val="0"/>
              </a:spcBef>
              <a:buFont typeface="Wingdings" panose="05000000000000000000" pitchFamily="2" charset="2"/>
              <a:buNone/>
            </a:pPr>
            <a:r>
              <a:rPr lang="zh-CN" altLang="en-US" sz="1800" b="1" dirty="0">
                <a:ea typeface="宋体" panose="02010600030101010101" pitchFamily="2" charset="-122"/>
              </a:rPr>
              <a:t>考虑{</a:t>
            </a:r>
            <a:r>
              <a:rPr lang="en-US" altLang="zh-CN" sz="1800" b="1" dirty="0">
                <a:ea typeface="宋体" panose="02010600030101010101" pitchFamily="2" charset="-122"/>
              </a:rPr>
              <a:t>E}，</a:t>
            </a:r>
            <a:r>
              <a:rPr lang="zh-CN" altLang="en-US" sz="1800" b="1" dirty="0">
                <a:ea typeface="宋体" panose="02010600030101010101" pitchFamily="2" charset="-122"/>
              </a:rPr>
              <a:t>由于其中只有一个状态，不可分，所以</a:t>
            </a:r>
            <a:r>
              <a:rPr lang="en-US" altLang="zh-CN" sz="2000" b="1" dirty="0">
                <a:latin typeface="宋体" panose="02010600030101010101" pitchFamily="2" charset="-122"/>
                <a:ea typeface="宋体" panose="02010600030101010101" pitchFamily="2" charset="-122"/>
              </a:rPr>
              <a:t>Π</a:t>
            </a:r>
            <a:r>
              <a:rPr lang="zh-CN" altLang="en-US" sz="2000" b="1" dirty="0">
                <a:latin typeface="宋体" panose="02010600030101010101" pitchFamily="2" charset="-122"/>
                <a:ea typeface="宋体" panose="02010600030101010101" pitchFamily="2" charset="-122"/>
              </a:rPr>
              <a:t>中</a:t>
            </a:r>
            <a:r>
              <a:rPr lang="zh-CN" altLang="en-US" sz="1800" b="1" dirty="0">
                <a:ea typeface="宋体" panose="02010600030101010101" pitchFamily="2" charset="-122"/>
              </a:rPr>
              <a:t>维持两个组</a:t>
            </a:r>
            <a:endParaRPr lang="zh-CN" altLang="en-US" sz="1800" b="1" dirty="0">
              <a:ea typeface="宋体" panose="02010600030101010101" pitchFamily="2" charset="-122"/>
            </a:endParaRPr>
          </a:p>
          <a:p>
            <a:pPr marL="0" indent="0">
              <a:spcBef>
                <a:spcPct val="0"/>
              </a:spcBef>
              <a:buFont typeface="Wingdings" panose="05000000000000000000" pitchFamily="2" charset="2"/>
              <a:buNone/>
            </a:pPr>
            <a:r>
              <a:rPr lang="zh-CN" altLang="en-US" sz="1800" b="1" dirty="0">
                <a:ea typeface="宋体" panose="02010600030101010101" pitchFamily="2" charset="-122"/>
              </a:rPr>
              <a:t>考虑{</a:t>
            </a:r>
            <a:r>
              <a:rPr lang="en-US" altLang="zh-CN" sz="1800" b="1" dirty="0">
                <a:ea typeface="宋体" panose="02010600030101010101" pitchFamily="2" charset="-122"/>
              </a:rPr>
              <a:t>A B C D}，</a:t>
            </a:r>
            <a:r>
              <a:rPr lang="zh-CN" altLang="en-US" sz="1800" b="1" dirty="0">
                <a:ea typeface="宋体" panose="02010600030101010101" pitchFamily="2" charset="-122"/>
              </a:rPr>
              <a:t>对输入</a:t>
            </a:r>
            <a:r>
              <a:rPr lang="en-US" altLang="zh-CN" sz="1800" b="1" dirty="0">
                <a:ea typeface="宋体" panose="02010600030101010101" pitchFamily="2" charset="-122"/>
              </a:rPr>
              <a:t>a，</a:t>
            </a:r>
            <a:r>
              <a:rPr lang="zh-CN" altLang="en-US" sz="1800" b="1" dirty="0">
                <a:ea typeface="宋体" panose="02010600030101010101" pitchFamily="2" charset="-122"/>
              </a:rPr>
              <a:t>都转换到</a:t>
            </a:r>
            <a:r>
              <a:rPr lang="en-US" altLang="zh-CN" sz="1800" b="1" dirty="0">
                <a:ea typeface="宋体" panose="02010600030101010101" pitchFamily="2" charset="-122"/>
              </a:rPr>
              <a:t>B；</a:t>
            </a:r>
            <a:r>
              <a:rPr lang="zh-CN" altLang="en-US" sz="1800" b="1" dirty="0">
                <a:ea typeface="宋体" panose="02010600030101010101" pitchFamily="2" charset="-122"/>
              </a:rPr>
              <a:t>对输入</a:t>
            </a:r>
            <a:r>
              <a:rPr lang="en-US" altLang="zh-CN" sz="1800" b="1" dirty="0">
                <a:ea typeface="宋体" panose="02010600030101010101" pitchFamily="2" charset="-122"/>
              </a:rPr>
              <a:t>b，</a:t>
            </a:r>
            <a:r>
              <a:rPr lang="zh-CN" altLang="en-US" sz="1800" b="1" dirty="0">
                <a:ea typeface="宋体" panose="02010600030101010101" pitchFamily="2" charset="-122"/>
              </a:rPr>
              <a:t>分成了{</a:t>
            </a:r>
            <a:r>
              <a:rPr lang="en-US" altLang="zh-CN" sz="1800" b="1" dirty="0">
                <a:ea typeface="宋体" panose="02010600030101010101" pitchFamily="2" charset="-122"/>
              </a:rPr>
              <a:t>A B C}</a:t>
            </a:r>
            <a:r>
              <a:rPr lang="zh-CN" altLang="en-US" sz="1800" b="1" dirty="0">
                <a:ea typeface="宋体" panose="02010600030101010101" pitchFamily="2" charset="-122"/>
              </a:rPr>
              <a:t>和{</a:t>
            </a:r>
            <a:r>
              <a:rPr lang="en-US" altLang="zh-CN" sz="1800" b="1" dirty="0">
                <a:ea typeface="宋体" panose="02010600030101010101" pitchFamily="2" charset="-122"/>
              </a:rPr>
              <a:t>D}，</a:t>
            </a:r>
            <a:r>
              <a:rPr lang="zh-CN" altLang="en-US" sz="1800" b="1" dirty="0">
                <a:ea typeface="宋体" panose="02010600030101010101" pitchFamily="2" charset="-122"/>
              </a:rPr>
              <a:t>此时</a:t>
            </a:r>
            <a:r>
              <a:rPr lang="en-US" altLang="zh-CN" sz="2000" b="1" dirty="0">
                <a:latin typeface="宋体" panose="02010600030101010101" pitchFamily="2" charset="-122"/>
                <a:ea typeface="宋体" panose="02010600030101010101" pitchFamily="2" charset="-122"/>
              </a:rPr>
              <a:t>Π</a:t>
            </a:r>
            <a:r>
              <a:rPr lang="zh-CN" altLang="en-US" sz="2000" b="1" dirty="0">
                <a:latin typeface="宋体" panose="02010600030101010101" pitchFamily="2" charset="-122"/>
                <a:ea typeface="宋体" panose="02010600030101010101" pitchFamily="2" charset="-122"/>
              </a:rPr>
              <a:t>中由三个</a:t>
            </a:r>
            <a:r>
              <a:rPr lang="zh-CN" altLang="en-US" sz="2000" b="1" dirty="0">
                <a:ea typeface="宋体" panose="02010600030101010101" pitchFamily="2" charset="-122"/>
              </a:rPr>
              <a:t>组：{</a:t>
            </a:r>
            <a:r>
              <a:rPr lang="en-US" altLang="zh-CN" sz="2000" b="1" dirty="0">
                <a:ea typeface="宋体" panose="02010600030101010101" pitchFamily="2" charset="-122"/>
              </a:rPr>
              <a:t>A B C}、{D}</a:t>
            </a:r>
            <a:r>
              <a:rPr lang="zh-CN" altLang="en-US" sz="2000" b="1" dirty="0">
                <a:ea typeface="宋体" panose="02010600030101010101" pitchFamily="2" charset="-122"/>
              </a:rPr>
              <a:t>和{</a:t>
            </a:r>
            <a:r>
              <a:rPr lang="en-US" altLang="zh-CN" sz="2000" b="1" dirty="0">
                <a:ea typeface="宋体" panose="02010600030101010101" pitchFamily="2" charset="-122"/>
              </a:rPr>
              <a:t>E}</a:t>
            </a:r>
            <a:endParaRPr lang="en-US" altLang="zh-CN" sz="2000" b="1" dirty="0">
              <a:ea typeface="宋体" panose="02010600030101010101" pitchFamily="2" charset="-122"/>
            </a:endParaRPr>
          </a:p>
          <a:p>
            <a:pPr marL="0" indent="0">
              <a:spcBef>
                <a:spcPct val="0"/>
              </a:spcBef>
              <a:buFont typeface="Wingdings" panose="05000000000000000000" pitchFamily="2" charset="2"/>
              <a:buNone/>
            </a:pPr>
            <a:r>
              <a:rPr lang="zh-CN" altLang="en-US" sz="2000" b="1" dirty="0">
                <a:ea typeface="宋体" panose="02010600030101010101" pitchFamily="2" charset="-122"/>
              </a:rPr>
              <a:t>同样，由于输入符号</a:t>
            </a:r>
            <a:r>
              <a:rPr lang="en-US" altLang="zh-CN" sz="2000" b="1" dirty="0">
                <a:ea typeface="宋体" panose="02010600030101010101" pitchFamily="2" charset="-122"/>
              </a:rPr>
              <a:t>b，{A B C}</a:t>
            </a:r>
            <a:r>
              <a:rPr lang="zh-CN" altLang="en-US" sz="2000" b="1" dirty="0">
                <a:ea typeface="宋体" panose="02010600030101010101" pitchFamily="2" charset="-122"/>
              </a:rPr>
              <a:t>被划分成了{</a:t>
            </a:r>
            <a:r>
              <a:rPr lang="en-US" altLang="zh-CN" sz="2000" b="1" dirty="0">
                <a:ea typeface="宋体" panose="02010600030101010101" pitchFamily="2" charset="-122"/>
              </a:rPr>
              <a:t>A C}</a:t>
            </a:r>
            <a:r>
              <a:rPr lang="zh-CN" altLang="en-US" sz="2000" b="1" dirty="0">
                <a:ea typeface="宋体" panose="02010600030101010101" pitchFamily="2" charset="-122"/>
              </a:rPr>
              <a:t>和{</a:t>
            </a:r>
            <a:r>
              <a:rPr lang="en-US" altLang="zh-CN" sz="2000" b="1" dirty="0">
                <a:ea typeface="宋体" panose="02010600030101010101" pitchFamily="2" charset="-122"/>
              </a:rPr>
              <a:t>B}，</a:t>
            </a:r>
            <a:r>
              <a:rPr lang="zh-CN" altLang="en-US" sz="2000" b="1" dirty="0">
                <a:ea typeface="宋体" panose="02010600030101010101" pitchFamily="2" charset="-122"/>
              </a:rPr>
              <a:t>此时</a:t>
            </a:r>
            <a:r>
              <a:rPr lang="en-US" altLang="zh-CN" sz="2000" b="1" dirty="0">
                <a:latin typeface="宋体" panose="02010600030101010101" pitchFamily="2" charset="-122"/>
                <a:ea typeface="宋体" panose="02010600030101010101" pitchFamily="2" charset="-122"/>
              </a:rPr>
              <a:t>Π</a:t>
            </a:r>
            <a:r>
              <a:rPr lang="zh-CN" altLang="en-US" sz="2000" b="1" dirty="0">
                <a:latin typeface="宋体" panose="02010600030101010101" pitchFamily="2" charset="-122"/>
                <a:ea typeface="宋体" panose="02010600030101010101" pitchFamily="2" charset="-122"/>
              </a:rPr>
              <a:t>中由四个</a:t>
            </a:r>
            <a:r>
              <a:rPr lang="zh-CN" altLang="en-US" sz="2000" b="1" dirty="0">
                <a:ea typeface="宋体" panose="02010600030101010101" pitchFamily="2" charset="-122"/>
              </a:rPr>
              <a:t>组：{</a:t>
            </a:r>
            <a:r>
              <a:rPr lang="en-US" altLang="zh-CN" sz="2000" b="1" dirty="0">
                <a:ea typeface="宋体" panose="02010600030101010101" pitchFamily="2" charset="-122"/>
              </a:rPr>
              <a:t>A C}、{B}、{D}</a:t>
            </a:r>
            <a:r>
              <a:rPr lang="zh-CN" altLang="en-US" sz="2000" b="1" dirty="0">
                <a:ea typeface="宋体" panose="02010600030101010101" pitchFamily="2" charset="-122"/>
              </a:rPr>
              <a:t>和{</a:t>
            </a:r>
            <a:r>
              <a:rPr lang="en-US" altLang="zh-CN" sz="2000" b="1" dirty="0">
                <a:ea typeface="宋体" panose="02010600030101010101" pitchFamily="2" charset="-122"/>
              </a:rPr>
              <a:t>E}</a:t>
            </a:r>
            <a:endParaRPr lang="en-US" altLang="zh-CN" sz="2000" b="1" dirty="0">
              <a:ea typeface="宋体" panose="02010600030101010101" pitchFamily="2" charset="-122"/>
            </a:endParaRPr>
          </a:p>
          <a:p>
            <a:pPr marL="0" indent="0">
              <a:spcBef>
                <a:spcPct val="0"/>
              </a:spcBef>
              <a:buFont typeface="Wingdings" panose="05000000000000000000" pitchFamily="2" charset="2"/>
              <a:buNone/>
            </a:pPr>
            <a:r>
              <a:rPr lang="zh-CN" altLang="en-US" sz="2000" b="1" dirty="0">
                <a:ea typeface="宋体" panose="02010600030101010101" pitchFamily="2" charset="-122"/>
              </a:rPr>
              <a:t>{</a:t>
            </a:r>
            <a:r>
              <a:rPr lang="en-US" altLang="zh-CN" sz="2000" b="1" dirty="0">
                <a:ea typeface="宋体" panose="02010600030101010101" pitchFamily="2" charset="-122"/>
              </a:rPr>
              <a:t>A C}</a:t>
            </a:r>
            <a:r>
              <a:rPr lang="zh-CN" altLang="en-US" sz="2000" b="1" dirty="0">
                <a:ea typeface="宋体" panose="02010600030101010101" pitchFamily="2" charset="-122"/>
              </a:rPr>
              <a:t>不再可分</a:t>
            </a:r>
            <a:endParaRPr lang="zh-CN" altLang="en-US" sz="2000" b="1" dirty="0">
              <a:ea typeface="宋体" panose="02010600030101010101" pitchFamily="2" charset="-122"/>
            </a:endParaRPr>
          </a:p>
        </p:txBody>
      </p:sp>
      <p:graphicFrame>
        <p:nvGraphicFramePr>
          <p:cNvPr id="158724" name="Object 4"/>
          <p:cNvGraphicFramePr>
            <a:graphicFrameLocks noChangeAspect="1"/>
          </p:cNvGraphicFramePr>
          <p:nvPr/>
        </p:nvGraphicFramePr>
        <p:xfrm>
          <a:off x="1828800" y="1371600"/>
          <a:ext cx="3429000" cy="2420938"/>
        </p:xfrm>
        <a:graphic>
          <a:graphicData uri="http://schemas.openxmlformats.org/presentationml/2006/ole">
            <mc:AlternateContent xmlns:mc="http://schemas.openxmlformats.org/markup-compatibility/2006">
              <mc:Choice xmlns:v="urn:schemas-microsoft-com:vml" Requires="v">
                <p:oleObj spid="_x0000_s3082" name="" r:id="rId1" imgW="3185160" imgH="2250440" progId="Visio.Drawing.4">
                  <p:embed/>
                </p:oleObj>
              </mc:Choice>
              <mc:Fallback>
                <p:oleObj name="" r:id="rId1" imgW="3185160" imgH="2250440" progId="Visio.Drawing.4">
                  <p:embed/>
                  <p:pic>
                    <p:nvPicPr>
                      <p:cNvPr id="0" name="图片 3081"/>
                      <p:cNvPicPr/>
                      <p:nvPr/>
                    </p:nvPicPr>
                    <p:blipFill>
                      <a:blip r:embed="rId2"/>
                      <a:stretch>
                        <a:fillRect/>
                      </a:stretch>
                    </p:blipFill>
                    <p:spPr>
                      <a:xfrm>
                        <a:off x="1828800" y="1371600"/>
                        <a:ext cx="3429000" cy="2420938"/>
                      </a:xfrm>
                      <a:prstGeom prst="rect">
                        <a:avLst/>
                      </a:prstGeom>
                      <a:noFill/>
                      <a:ln w="38100">
                        <a:noFill/>
                        <a:miter/>
                      </a:ln>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0547">
                                            <p:txEl>
                                              <p:charRg st="8" end="45"/>
                                            </p:txEl>
                                          </p:spTgt>
                                        </p:tgtEl>
                                        <p:attrNameLst>
                                          <p:attrName>style.visibility</p:attrName>
                                        </p:attrNameLst>
                                      </p:cBhvr>
                                      <p:to>
                                        <p:strVal val="visible"/>
                                      </p:to>
                                    </p:set>
                                    <p:anim calcmode="lin" valueType="num">
                                      <p:cBhvr additive="base">
                                        <p:cTn id="7" dur="500" fill="hold"/>
                                        <p:tgtEl>
                                          <p:spTgt spid="620547">
                                            <p:txEl>
                                              <p:charRg st="8" end="4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20547">
                                            <p:txEl>
                                              <p:charRg st="8" end="4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20547">
                                            <p:txEl>
                                              <p:charRg st="45" end="76"/>
                                            </p:txEl>
                                          </p:spTgt>
                                        </p:tgtEl>
                                        <p:attrNameLst>
                                          <p:attrName>style.visibility</p:attrName>
                                        </p:attrNameLst>
                                      </p:cBhvr>
                                      <p:to>
                                        <p:strVal val="visible"/>
                                      </p:to>
                                    </p:set>
                                    <p:anim calcmode="lin" valueType="num">
                                      <p:cBhvr additive="base">
                                        <p:cTn id="13" dur="500" fill="hold"/>
                                        <p:tgtEl>
                                          <p:spTgt spid="620547">
                                            <p:txEl>
                                              <p:charRg st="45" end="76"/>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20547">
                                            <p:txEl>
                                              <p:charRg st="45" end="76"/>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0547">
                                            <p:txEl>
                                              <p:charRg st="76" end="144"/>
                                            </p:txEl>
                                          </p:spTgt>
                                        </p:tgtEl>
                                        <p:attrNameLst>
                                          <p:attrName>style.visibility</p:attrName>
                                        </p:attrNameLst>
                                      </p:cBhvr>
                                      <p:to>
                                        <p:strVal val="visible"/>
                                      </p:to>
                                    </p:set>
                                    <p:anim calcmode="lin" valueType="num">
                                      <p:cBhvr additive="base">
                                        <p:cTn id="19" dur="500" fill="hold"/>
                                        <p:tgtEl>
                                          <p:spTgt spid="620547">
                                            <p:txEl>
                                              <p:charRg st="76" end="14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20547">
                                            <p:txEl>
                                              <p:charRg st="76" end="14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20547">
                                            <p:txEl>
                                              <p:charRg st="144" end="204"/>
                                            </p:txEl>
                                          </p:spTgt>
                                        </p:tgtEl>
                                        <p:attrNameLst>
                                          <p:attrName>style.visibility</p:attrName>
                                        </p:attrNameLst>
                                      </p:cBhvr>
                                      <p:to>
                                        <p:strVal val="visible"/>
                                      </p:to>
                                    </p:set>
                                    <p:anim calcmode="lin" valueType="num">
                                      <p:cBhvr additive="base">
                                        <p:cTn id="25" dur="500" fill="hold"/>
                                        <p:tgtEl>
                                          <p:spTgt spid="620547">
                                            <p:txEl>
                                              <p:charRg st="144" end="20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20547">
                                            <p:txEl>
                                              <p:charRg st="144" end="20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20547">
                                            <p:txEl>
                                              <p:charRg st="204" end="214"/>
                                            </p:txEl>
                                          </p:spTgt>
                                        </p:tgtEl>
                                        <p:attrNameLst>
                                          <p:attrName>style.visibility</p:attrName>
                                        </p:attrNameLst>
                                      </p:cBhvr>
                                      <p:to>
                                        <p:strVal val="visible"/>
                                      </p:to>
                                    </p:set>
                                    <p:anim calcmode="lin" valueType="num">
                                      <p:cBhvr additive="base">
                                        <p:cTn id="31" dur="500" fill="hold"/>
                                        <p:tgtEl>
                                          <p:spTgt spid="620547">
                                            <p:txEl>
                                              <p:charRg st="204" end="21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20547">
                                            <p:txEl>
                                              <p:charRg st="204" end="21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547"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p:cNvSpPr>
          <p:nvPr>
            <p:ph type="title"/>
          </p:nvPr>
        </p:nvSpPr>
        <p:spPr/>
        <p:txBody>
          <a:bodyPr vert="horz" wrap="square" lIns="92075" tIns="46038" rIns="92075" bIns="46038" anchor="ctr" anchorCtr="0"/>
          <a:p>
            <a:r>
              <a:rPr lang="en-US" altLang="zh-CN" dirty="0">
                <a:latin typeface="Times New Roman" panose="02020603050405020304" pitchFamily="18" charset="0"/>
                <a:ea typeface="宋体" panose="02010600030101010101" pitchFamily="2" charset="-122"/>
              </a:rPr>
              <a:t>DFA</a:t>
            </a:r>
            <a:r>
              <a:rPr lang="zh-CN" altLang="en-US" dirty="0">
                <a:latin typeface="Times New Roman" panose="02020603050405020304" pitchFamily="18" charset="0"/>
                <a:ea typeface="宋体" panose="02010600030101010101" pitchFamily="2" charset="-122"/>
              </a:rPr>
              <a:t>的化简（5）</a:t>
            </a:r>
            <a:endParaRPr lang="zh-CN" altLang="en-US" dirty="0">
              <a:latin typeface="Times New Roman" panose="02020603050405020304" pitchFamily="18" charset="0"/>
              <a:ea typeface="宋体" panose="02010600030101010101" pitchFamily="2" charset="-122"/>
            </a:endParaRPr>
          </a:p>
        </p:txBody>
      </p:sp>
      <p:sp>
        <p:nvSpPr>
          <p:cNvPr id="160771" name="Rectangle 3"/>
          <p:cNvSpPr>
            <a:spLocks noGrp="1"/>
          </p:cNvSpPr>
          <p:nvPr>
            <p:ph idx="1"/>
          </p:nvPr>
        </p:nvSpPr>
        <p:spPr>
          <a:xfrm>
            <a:off x="990600" y="1371600"/>
            <a:ext cx="7391400" cy="4800600"/>
          </a:xfrm>
        </p:spPr>
        <p:txBody>
          <a:bodyPr vert="horz" wrap="square" lIns="92075" tIns="46038" rIns="92075" bIns="46038" anchor="t" anchorCtr="0"/>
          <a:p>
            <a:pPr marL="495300" indent="-495300">
              <a:spcBef>
                <a:spcPct val="0"/>
              </a:spcBef>
              <a:buNone/>
            </a:pPr>
            <a:r>
              <a:rPr lang="zh-CN" altLang="en-US" sz="2000" b="1" dirty="0">
                <a:ea typeface="宋体" panose="02010600030101010101" pitchFamily="2" charset="-122"/>
              </a:rPr>
              <a:t>选择</a:t>
            </a:r>
            <a:r>
              <a:rPr lang="en-US" altLang="zh-CN" sz="2000" b="1" dirty="0">
                <a:ea typeface="宋体" panose="02010600030101010101" pitchFamily="2" charset="-122"/>
              </a:rPr>
              <a:t>A、B、D</a:t>
            </a:r>
            <a:r>
              <a:rPr lang="zh-CN" altLang="en-US" sz="2000" b="1" dirty="0">
                <a:ea typeface="宋体" panose="02010600030101010101" pitchFamily="2" charset="-122"/>
              </a:rPr>
              <a:t>和</a:t>
            </a:r>
            <a:r>
              <a:rPr lang="en-US" altLang="zh-CN" sz="2000" b="1" dirty="0">
                <a:ea typeface="宋体" panose="02010600030101010101" pitchFamily="2" charset="-122"/>
              </a:rPr>
              <a:t>E</a:t>
            </a:r>
            <a:r>
              <a:rPr lang="zh-CN" altLang="en-US" sz="2000" b="1" dirty="0">
                <a:ea typeface="宋体" panose="02010600030101010101" pitchFamily="2" charset="-122"/>
              </a:rPr>
              <a:t>作为各个状态组的代表</a:t>
            </a:r>
            <a:endParaRPr lang="zh-CN" altLang="en-US" sz="2000" b="1" dirty="0">
              <a:ea typeface="宋体" panose="02010600030101010101" pitchFamily="2" charset="-122"/>
            </a:endParaRPr>
          </a:p>
          <a:p>
            <a:pPr marL="495300" indent="-495300">
              <a:spcBef>
                <a:spcPct val="0"/>
              </a:spcBef>
              <a:buNone/>
            </a:pPr>
            <a:r>
              <a:rPr lang="zh-CN" altLang="en-US" sz="2000" b="1" dirty="0">
                <a:ea typeface="宋体" panose="02010600030101010101" pitchFamily="2" charset="-122"/>
              </a:rPr>
              <a:t>化简后的自动机的开始状态是</a:t>
            </a:r>
            <a:r>
              <a:rPr lang="en-US" altLang="zh-CN" sz="2000" b="1" dirty="0">
                <a:ea typeface="宋体" panose="02010600030101010101" pitchFamily="2" charset="-122"/>
              </a:rPr>
              <a:t>A，</a:t>
            </a:r>
            <a:r>
              <a:rPr lang="zh-CN" altLang="en-US" sz="2000" b="1" dirty="0">
                <a:ea typeface="宋体" panose="02010600030101010101" pitchFamily="2" charset="-122"/>
              </a:rPr>
              <a:t>接受状态是</a:t>
            </a:r>
            <a:r>
              <a:rPr lang="en-US" altLang="zh-CN" sz="2000" b="1" dirty="0">
                <a:ea typeface="宋体" panose="02010600030101010101" pitchFamily="2" charset="-122"/>
              </a:rPr>
              <a:t>E，</a:t>
            </a:r>
            <a:r>
              <a:rPr lang="zh-CN" altLang="en-US" sz="2000" b="1" dirty="0">
                <a:ea typeface="宋体" panose="02010600030101010101" pitchFamily="2" charset="-122"/>
              </a:rPr>
              <a:t>转换表如下：</a:t>
            </a:r>
            <a:endParaRPr lang="zh-CN" altLang="en-US" sz="2000" b="1" dirty="0">
              <a:ea typeface="宋体" panose="02010600030101010101" pitchFamily="2" charset="-122"/>
            </a:endParaRPr>
          </a:p>
        </p:txBody>
      </p:sp>
      <p:graphicFrame>
        <p:nvGraphicFramePr>
          <p:cNvPr id="160772" name="Object 4"/>
          <p:cNvGraphicFramePr>
            <a:graphicFrameLocks noChangeAspect="1"/>
          </p:cNvGraphicFramePr>
          <p:nvPr/>
        </p:nvGraphicFramePr>
        <p:xfrm>
          <a:off x="1219200" y="2819400"/>
          <a:ext cx="2971800" cy="2349500"/>
        </p:xfrm>
        <a:graphic>
          <a:graphicData uri="http://schemas.openxmlformats.org/presentationml/2006/ole">
            <mc:AlternateContent xmlns:mc="http://schemas.openxmlformats.org/markup-compatibility/2006">
              <mc:Choice xmlns:v="urn:schemas-microsoft-com:vml" Requires="v">
                <p:oleObj spid="_x0000_s3100" name="" r:id="rId1" imgW="2604770" imgH="2433955" progId="Visio.Drawing.6">
                  <p:embed/>
                </p:oleObj>
              </mc:Choice>
              <mc:Fallback>
                <p:oleObj name="" r:id="rId1" imgW="2604770" imgH="2433955" progId="Visio.Drawing.6">
                  <p:embed/>
                  <p:pic>
                    <p:nvPicPr>
                      <p:cNvPr id="0" name="图片 3099"/>
                      <p:cNvPicPr/>
                      <p:nvPr/>
                    </p:nvPicPr>
                    <p:blipFill>
                      <a:blip r:embed="rId2"/>
                      <a:stretch>
                        <a:fillRect/>
                      </a:stretch>
                    </p:blipFill>
                    <p:spPr>
                      <a:xfrm>
                        <a:off x="1219200" y="2819400"/>
                        <a:ext cx="2971800" cy="2349500"/>
                      </a:xfrm>
                      <a:prstGeom prst="rect">
                        <a:avLst/>
                      </a:prstGeom>
                      <a:noFill/>
                      <a:ln w="38100">
                        <a:noFill/>
                        <a:miter/>
                      </a:ln>
                    </p:spPr>
                  </p:pic>
                </p:oleObj>
              </mc:Fallback>
            </mc:AlternateContent>
          </a:graphicData>
        </a:graphic>
      </p:graphicFrame>
      <p:graphicFrame>
        <p:nvGraphicFramePr>
          <p:cNvPr id="160773" name="Object 5"/>
          <p:cNvGraphicFramePr>
            <a:graphicFrameLocks noChangeAspect="1"/>
          </p:cNvGraphicFramePr>
          <p:nvPr/>
        </p:nvGraphicFramePr>
        <p:xfrm>
          <a:off x="4572000" y="2438400"/>
          <a:ext cx="3429000" cy="2420938"/>
        </p:xfrm>
        <a:graphic>
          <a:graphicData uri="http://schemas.openxmlformats.org/presentationml/2006/ole">
            <mc:AlternateContent xmlns:mc="http://schemas.openxmlformats.org/markup-compatibility/2006">
              <mc:Choice xmlns:v="urn:schemas-microsoft-com:vml" Requires="v">
                <p:oleObj spid="_x0000_s3098" name="" r:id="rId3" imgW="3178810" imgH="2254250" progId="Visio.Drawing.6">
                  <p:embed/>
                </p:oleObj>
              </mc:Choice>
              <mc:Fallback>
                <p:oleObj name="" r:id="rId3" imgW="3178810" imgH="2254250" progId="Visio.Drawing.6">
                  <p:embed/>
                  <p:pic>
                    <p:nvPicPr>
                      <p:cNvPr id="0" name="图片 3097"/>
                      <p:cNvPicPr/>
                      <p:nvPr/>
                    </p:nvPicPr>
                    <p:blipFill>
                      <a:blip r:embed="rId4"/>
                      <a:stretch>
                        <a:fillRect/>
                      </a:stretch>
                    </p:blipFill>
                    <p:spPr>
                      <a:xfrm>
                        <a:off x="4572000" y="2438400"/>
                        <a:ext cx="3429000" cy="2420938"/>
                      </a:xfrm>
                      <a:prstGeom prst="rect">
                        <a:avLst/>
                      </a:prstGeom>
                      <a:noFill/>
                      <a:ln w="38100">
                        <a:noFill/>
                        <a:miter/>
                      </a:ln>
                    </p:spPr>
                  </p:pic>
                </p:oleObj>
              </mc:Fallback>
            </mc:AlternateContent>
          </a:graphicData>
        </a:graphic>
      </p:graphicFrame>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词法分析程序的自动生成工具（1）</a:t>
            </a:r>
            <a:endParaRPr lang="zh-CN" altLang="en-US" dirty="0">
              <a:latin typeface="Times New Roman" panose="02020603050405020304" pitchFamily="18" charset="0"/>
              <a:ea typeface="宋体" panose="02010600030101010101" pitchFamily="2" charset="-122"/>
            </a:endParaRPr>
          </a:p>
        </p:txBody>
      </p:sp>
      <p:sp>
        <p:nvSpPr>
          <p:cNvPr id="162819" name="Rectangle 3"/>
          <p:cNvSpPr>
            <a:spLocks noGrp="1"/>
          </p:cNvSpPr>
          <p:nvPr>
            <p:ph idx="1"/>
          </p:nvPr>
        </p:nvSpPr>
        <p:spPr>
          <a:xfrm>
            <a:off x="990600" y="1371600"/>
            <a:ext cx="7391400" cy="5029200"/>
          </a:xfrm>
        </p:spPr>
        <p:txBody>
          <a:bodyPr vert="horz" wrap="square" lIns="92075" tIns="46038" rIns="92075" bIns="46038" anchor="t" anchorCtr="0"/>
          <a:p>
            <a:pPr marL="495300" indent="-495300">
              <a:lnSpc>
                <a:spcPct val="90000"/>
              </a:lnSpc>
            </a:pPr>
            <a:r>
              <a:rPr lang="en-US" altLang="zh-CN" sz="2200" b="1" dirty="0">
                <a:ea typeface="宋体" panose="02010600030101010101" pitchFamily="2" charset="-122"/>
              </a:rPr>
              <a:t>Lex</a:t>
            </a:r>
            <a:r>
              <a:rPr lang="zh-CN" altLang="en-US" sz="2200" b="1" dirty="0">
                <a:ea typeface="宋体" panose="02010600030101010101" pitchFamily="2" charset="-122"/>
              </a:rPr>
              <a:t>的简介：</a:t>
            </a:r>
            <a:endParaRPr lang="zh-CN" altLang="en-US" sz="2200" b="1" dirty="0">
              <a:ea typeface="宋体" panose="02010600030101010101" pitchFamily="2" charset="-122"/>
            </a:endParaRPr>
          </a:p>
          <a:p>
            <a:pPr marL="914400" lvl="1" indent="-457200">
              <a:lnSpc>
                <a:spcPct val="90000"/>
              </a:lnSpc>
            </a:pPr>
            <a:r>
              <a:rPr lang="zh-CN" altLang="en-US" sz="2000" b="1" dirty="0">
                <a:ea typeface="宋体" panose="02010600030101010101" pitchFamily="2" charset="-122"/>
              </a:rPr>
              <a:t>工作方式：</a:t>
            </a:r>
            <a:endParaRPr lang="zh-CN" altLang="en-US" sz="2000" b="1" dirty="0">
              <a:ea typeface="宋体" panose="02010600030101010101" pitchFamily="2" charset="-122"/>
            </a:endParaRPr>
          </a:p>
          <a:p>
            <a:pPr marL="914400" lvl="1" indent="-457200">
              <a:lnSpc>
                <a:spcPct val="90000"/>
              </a:lnSpc>
              <a:buNone/>
            </a:pPr>
            <a:endParaRPr lang="zh-CN" altLang="en-US" sz="2000" b="1" dirty="0">
              <a:ea typeface="宋体" panose="02010600030101010101" pitchFamily="2" charset="-122"/>
            </a:endParaRPr>
          </a:p>
          <a:p>
            <a:pPr marL="914400" lvl="1" indent="-457200">
              <a:lnSpc>
                <a:spcPct val="90000"/>
              </a:lnSpc>
              <a:buNone/>
            </a:pPr>
            <a:endParaRPr lang="zh-CN" altLang="en-US" sz="2000" b="1" dirty="0">
              <a:ea typeface="宋体" panose="02010600030101010101" pitchFamily="2" charset="-122"/>
            </a:endParaRPr>
          </a:p>
          <a:p>
            <a:pPr marL="914400" lvl="1" indent="-457200">
              <a:lnSpc>
                <a:spcPct val="90000"/>
              </a:lnSpc>
              <a:buNone/>
            </a:pPr>
            <a:endParaRPr lang="zh-CN" altLang="en-US" sz="2000" b="1" dirty="0">
              <a:ea typeface="宋体" panose="02010600030101010101" pitchFamily="2" charset="-122"/>
            </a:endParaRPr>
          </a:p>
          <a:p>
            <a:pPr marL="914400" lvl="1" indent="-457200">
              <a:lnSpc>
                <a:spcPct val="90000"/>
              </a:lnSpc>
              <a:buNone/>
            </a:pPr>
            <a:endParaRPr lang="zh-CN" altLang="en-US" sz="2000" b="1" dirty="0">
              <a:ea typeface="宋体" panose="02010600030101010101" pitchFamily="2" charset="-122"/>
            </a:endParaRPr>
          </a:p>
          <a:p>
            <a:pPr marL="914400" lvl="1" indent="-457200">
              <a:lnSpc>
                <a:spcPct val="90000"/>
              </a:lnSpc>
              <a:buNone/>
            </a:pPr>
            <a:endParaRPr lang="zh-CN" altLang="en-US" sz="2000" b="1" dirty="0">
              <a:ea typeface="宋体" panose="02010600030101010101" pitchFamily="2" charset="-122"/>
            </a:endParaRPr>
          </a:p>
          <a:p>
            <a:pPr marL="914400" lvl="1" indent="-457200">
              <a:lnSpc>
                <a:spcPct val="90000"/>
              </a:lnSpc>
            </a:pPr>
            <a:r>
              <a:rPr lang="en-US" altLang="zh-CN" sz="2000" b="1" dirty="0">
                <a:ea typeface="宋体" panose="02010600030101010101" pitchFamily="2" charset="-122"/>
              </a:rPr>
              <a:t>Lex</a:t>
            </a:r>
            <a:r>
              <a:rPr lang="zh-CN" altLang="en-US" sz="2000" b="1" dirty="0">
                <a:ea typeface="宋体" panose="02010600030101010101" pitchFamily="2" charset="-122"/>
              </a:rPr>
              <a:t>程序的构成：3个部分，中间以%%分割</a:t>
            </a:r>
            <a:endParaRPr lang="zh-CN" altLang="en-US" sz="2000" b="1" dirty="0">
              <a:ea typeface="宋体" panose="02010600030101010101" pitchFamily="2" charset="-122"/>
            </a:endParaRPr>
          </a:p>
          <a:p>
            <a:pPr marL="914400" lvl="2" indent="0">
              <a:lnSpc>
                <a:spcPct val="90000"/>
              </a:lnSpc>
              <a:buNone/>
            </a:pPr>
            <a:r>
              <a:rPr lang="zh-CN" altLang="en-US" sz="1800" b="1" dirty="0">
                <a:ea typeface="宋体" panose="02010600030101010101" pitchFamily="2" charset="-122"/>
              </a:rPr>
              <a:t>声明：变量、明示常量（表示一个常数的标识符，如词法单元</a:t>
            </a:r>
            <a:r>
              <a:rPr lang="en-US" altLang="zh-CN" sz="1800" b="1" dirty="0">
                <a:ea typeface="宋体" panose="02010600030101010101" pitchFamily="2" charset="-122"/>
              </a:rPr>
              <a:t>	</a:t>
            </a:r>
            <a:r>
              <a:rPr lang="zh-CN" altLang="en-US" sz="1800" b="1" dirty="0">
                <a:ea typeface="宋体" panose="02010600030101010101" pitchFamily="2" charset="-122"/>
              </a:rPr>
              <a:t>的名字）的声明，正则定义</a:t>
            </a:r>
            <a:endParaRPr lang="zh-CN" altLang="en-US" sz="1800" b="1" dirty="0">
              <a:ea typeface="宋体" panose="02010600030101010101" pitchFamily="2" charset="-122"/>
            </a:endParaRPr>
          </a:p>
          <a:p>
            <a:pPr marL="914400" lvl="2" indent="0">
              <a:lnSpc>
                <a:spcPct val="90000"/>
              </a:lnSpc>
              <a:buNone/>
            </a:pPr>
            <a:r>
              <a:rPr lang="zh-CN" altLang="en-US" sz="1800" b="1" dirty="0">
                <a:ea typeface="宋体" panose="02010600030101010101" pitchFamily="2" charset="-122"/>
              </a:rPr>
              <a:t>%%</a:t>
            </a:r>
            <a:endParaRPr lang="en-US" altLang="zh-CN" sz="1800" b="1" dirty="0">
              <a:ea typeface="宋体" panose="02010600030101010101" pitchFamily="2" charset="-122"/>
            </a:endParaRPr>
          </a:p>
          <a:p>
            <a:pPr marL="914400" lvl="2" indent="0">
              <a:lnSpc>
                <a:spcPct val="90000"/>
              </a:lnSpc>
              <a:buNone/>
            </a:pPr>
            <a:r>
              <a:rPr lang="zh-CN" altLang="en-US" sz="1800" b="1" dirty="0">
                <a:ea typeface="宋体" panose="02010600030101010101" pitchFamily="2" charset="-122"/>
              </a:rPr>
              <a:t>转换规则：形式如下，其中</a:t>
            </a:r>
            <a:r>
              <a:rPr lang="en-US" altLang="zh-CN" sz="1800" b="1" dirty="0">
                <a:ea typeface="宋体" panose="02010600030101010101" pitchFamily="2" charset="-122"/>
              </a:rPr>
              <a:t>p</a:t>
            </a:r>
            <a:r>
              <a:rPr lang="en-US" altLang="zh-CN" sz="1800" b="1" baseline="-25000" dirty="0">
                <a:ea typeface="宋体" panose="02010600030101010101" pitchFamily="2" charset="-122"/>
              </a:rPr>
              <a:t>i</a:t>
            </a:r>
            <a:r>
              <a:rPr lang="zh-CN" altLang="en-US" sz="1800" b="1" dirty="0">
                <a:ea typeface="宋体" panose="02010600030101010101" pitchFamily="2" charset="-122"/>
              </a:rPr>
              <a:t>是正则式</a:t>
            </a:r>
            <a:endParaRPr lang="en-US" altLang="zh-CN" sz="1800" b="1" dirty="0">
              <a:ea typeface="宋体" panose="02010600030101010101" pitchFamily="2" charset="-122"/>
            </a:endParaRPr>
          </a:p>
          <a:p>
            <a:pPr marL="914400" lvl="2" indent="0">
              <a:lnSpc>
                <a:spcPct val="90000"/>
              </a:lnSpc>
              <a:buNone/>
            </a:pPr>
            <a:r>
              <a:rPr lang="en-US" altLang="zh-CN" sz="1400" b="1" dirty="0">
                <a:ea typeface="宋体" panose="02010600030101010101" pitchFamily="2" charset="-122"/>
              </a:rPr>
              <a:t>p</a:t>
            </a:r>
            <a:r>
              <a:rPr lang="en-US" altLang="zh-CN" sz="1400" b="1" baseline="-25000" dirty="0">
                <a:ea typeface="宋体" panose="02010600030101010101" pitchFamily="2" charset="-122"/>
              </a:rPr>
              <a:t>1</a:t>
            </a:r>
            <a:r>
              <a:rPr lang="zh-CN" altLang="en-US" sz="1400" b="1" dirty="0">
                <a:ea typeface="宋体" panose="02010600030101010101" pitchFamily="2" charset="-122"/>
              </a:rPr>
              <a:t> 	{ 动作1 }</a:t>
            </a:r>
            <a:endParaRPr lang="en-US" altLang="zh-CN" sz="1400" b="1" dirty="0">
              <a:ea typeface="宋体" panose="02010600030101010101" pitchFamily="2" charset="-122"/>
            </a:endParaRPr>
          </a:p>
          <a:p>
            <a:pPr marL="914400" lvl="2" indent="0">
              <a:lnSpc>
                <a:spcPct val="90000"/>
              </a:lnSpc>
              <a:buNone/>
            </a:pPr>
            <a:r>
              <a:rPr lang="en-US" altLang="zh-CN" sz="1400" b="1" dirty="0">
                <a:ea typeface="宋体" panose="02010600030101010101" pitchFamily="2" charset="-122"/>
              </a:rPr>
              <a:t>p</a:t>
            </a:r>
            <a:r>
              <a:rPr lang="en-US" altLang="zh-CN" sz="1400" b="1" baseline="-25000" dirty="0">
                <a:ea typeface="宋体" panose="02010600030101010101" pitchFamily="2" charset="-122"/>
              </a:rPr>
              <a:t>2</a:t>
            </a:r>
            <a:r>
              <a:rPr lang="zh-CN" altLang="en-US" sz="1400" b="1" dirty="0">
                <a:ea typeface="宋体" panose="02010600030101010101" pitchFamily="2" charset="-122"/>
              </a:rPr>
              <a:t> 	{ 动作2 }</a:t>
            </a:r>
            <a:endParaRPr lang="en-US" altLang="zh-CN" sz="1400" b="1" dirty="0">
              <a:ea typeface="宋体" panose="02010600030101010101" pitchFamily="2" charset="-122"/>
            </a:endParaRPr>
          </a:p>
          <a:p>
            <a:pPr marL="914400" lvl="2" indent="0">
              <a:lnSpc>
                <a:spcPct val="90000"/>
              </a:lnSpc>
              <a:buNone/>
            </a:pPr>
            <a:r>
              <a:rPr lang="zh-CN" altLang="en-US" sz="1400" b="1" dirty="0">
                <a:ea typeface="宋体" panose="02010600030101010101" pitchFamily="2" charset="-122"/>
              </a:rPr>
              <a:t>… …</a:t>
            </a:r>
            <a:endParaRPr lang="zh-CN" altLang="en-US" sz="1400" b="1" dirty="0">
              <a:ea typeface="宋体" panose="02010600030101010101" pitchFamily="2" charset="-122"/>
            </a:endParaRPr>
          </a:p>
          <a:p>
            <a:pPr marL="914400" lvl="2" indent="0">
              <a:lnSpc>
                <a:spcPct val="90000"/>
              </a:lnSpc>
              <a:buNone/>
            </a:pPr>
            <a:r>
              <a:rPr lang="zh-CN" altLang="en-US" sz="1800" b="1" dirty="0">
                <a:ea typeface="宋体" panose="02010600030101010101" pitchFamily="2" charset="-122"/>
              </a:rPr>
              <a:t>%%</a:t>
            </a:r>
            <a:endParaRPr lang="en-US" altLang="zh-CN" sz="1800" b="1" dirty="0">
              <a:ea typeface="宋体" panose="02010600030101010101" pitchFamily="2" charset="-122"/>
            </a:endParaRPr>
          </a:p>
          <a:p>
            <a:pPr marL="914400" lvl="2" indent="0">
              <a:lnSpc>
                <a:spcPct val="90000"/>
              </a:lnSpc>
              <a:buNone/>
            </a:pPr>
            <a:r>
              <a:rPr lang="zh-CN" altLang="en-US" sz="1800" b="1" dirty="0">
                <a:ea typeface="宋体" panose="02010600030101010101" pitchFamily="2" charset="-122"/>
              </a:rPr>
              <a:t>辅助过程</a:t>
            </a:r>
            <a:endParaRPr lang="zh-CN" altLang="en-US" b="1" dirty="0">
              <a:ea typeface="宋体" panose="02010600030101010101" pitchFamily="2" charset="-122"/>
            </a:endParaRPr>
          </a:p>
        </p:txBody>
      </p:sp>
      <p:graphicFrame>
        <p:nvGraphicFramePr>
          <p:cNvPr id="162820" name="Object 4"/>
          <p:cNvGraphicFramePr>
            <a:graphicFrameLocks noChangeAspect="1"/>
          </p:cNvGraphicFramePr>
          <p:nvPr/>
        </p:nvGraphicFramePr>
        <p:xfrm>
          <a:off x="2514600" y="1989138"/>
          <a:ext cx="3581400" cy="635000"/>
        </p:xfrm>
        <a:graphic>
          <a:graphicData uri="http://schemas.openxmlformats.org/presentationml/2006/ole">
            <mc:AlternateContent xmlns:mc="http://schemas.openxmlformats.org/markup-compatibility/2006">
              <mc:Choice xmlns:v="urn:schemas-microsoft-com:vml" Requires="v">
                <p:oleObj spid="_x0000_s3099" name="" r:id="rId1" imgW="3341370" imgH="593725" progId="Visio.Drawing.6">
                  <p:embed/>
                </p:oleObj>
              </mc:Choice>
              <mc:Fallback>
                <p:oleObj name="" r:id="rId1" imgW="3341370" imgH="593725" progId="Visio.Drawing.6">
                  <p:embed/>
                  <p:pic>
                    <p:nvPicPr>
                      <p:cNvPr id="0" name="图片 3098"/>
                      <p:cNvPicPr/>
                      <p:nvPr/>
                    </p:nvPicPr>
                    <p:blipFill>
                      <a:blip r:embed="rId2"/>
                      <a:stretch>
                        <a:fillRect/>
                      </a:stretch>
                    </p:blipFill>
                    <p:spPr>
                      <a:xfrm>
                        <a:off x="2514600" y="1989138"/>
                        <a:ext cx="3581400" cy="635000"/>
                      </a:xfrm>
                      <a:prstGeom prst="rect">
                        <a:avLst/>
                      </a:prstGeom>
                      <a:noFill/>
                      <a:ln w="38100">
                        <a:noFill/>
                        <a:miter/>
                      </a:ln>
                    </p:spPr>
                  </p:pic>
                </p:oleObj>
              </mc:Fallback>
            </mc:AlternateContent>
          </a:graphicData>
        </a:graphic>
      </p:graphicFrame>
      <p:graphicFrame>
        <p:nvGraphicFramePr>
          <p:cNvPr id="162821" name="Object 5"/>
          <p:cNvGraphicFramePr>
            <a:graphicFrameLocks noChangeAspect="1"/>
          </p:cNvGraphicFramePr>
          <p:nvPr/>
        </p:nvGraphicFramePr>
        <p:xfrm>
          <a:off x="2209800" y="2636838"/>
          <a:ext cx="3505200" cy="569912"/>
        </p:xfrm>
        <a:graphic>
          <a:graphicData uri="http://schemas.openxmlformats.org/presentationml/2006/ole">
            <mc:AlternateContent xmlns:mc="http://schemas.openxmlformats.org/markup-compatibility/2006">
              <mc:Choice xmlns:v="urn:schemas-microsoft-com:vml" Requires="v">
                <p:oleObj spid="_x0000_s3101" name="" r:id="rId3" imgW="3170555" imgH="517525" progId="Visio.Drawing.6">
                  <p:embed/>
                </p:oleObj>
              </mc:Choice>
              <mc:Fallback>
                <p:oleObj name="" r:id="rId3" imgW="3170555" imgH="517525" progId="Visio.Drawing.6">
                  <p:embed/>
                  <p:pic>
                    <p:nvPicPr>
                      <p:cNvPr id="0" name="图片 3100"/>
                      <p:cNvPicPr/>
                      <p:nvPr/>
                    </p:nvPicPr>
                    <p:blipFill>
                      <a:blip r:embed="rId4"/>
                      <a:stretch>
                        <a:fillRect/>
                      </a:stretch>
                    </p:blipFill>
                    <p:spPr>
                      <a:xfrm>
                        <a:off x="2209800" y="2636838"/>
                        <a:ext cx="3505200" cy="569912"/>
                      </a:xfrm>
                      <a:prstGeom prst="rect">
                        <a:avLst/>
                      </a:prstGeom>
                      <a:noFill/>
                      <a:ln w="38100">
                        <a:noFill/>
                        <a:miter/>
                      </a:ln>
                    </p:spPr>
                  </p:pic>
                </p:oleObj>
              </mc:Fallback>
            </mc:AlternateContent>
          </a:graphicData>
        </a:graphic>
      </p:graphicFrame>
      <p:graphicFrame>
        <p:nvGraphicFramePr>
          <p:cNvPr id="162822" name="Object 6"/>
          <p:cNvGraphicFramePr>
            <a:graphicFrameLocks noChangeAspect="1"/>
          </p:cNvGraphicFramePr>
          <p:nvPr/>
        </p:nvGraphicFramePr>
        <p:xfrm>
          <a:off x="2514600" y="3233738"/>
          <a:ext cx="3352800" cy="555625"/>
        </p:xfrm>
        <a:graphic>
          <a:graphicData uri="http://schemas.openxmlformats.org/presentationml/2006/ole">
            <mc:AlternateContent xmlns:mc="http://schemas.openxmlformats.org/markup-compatibility/2006">
              <mc:Choice xmlns:v="urn:schemas-microsoft-com:vml" Requires="v">
                <p:oleObj spid="_x0000_s3097" name="" r:id="rId5" imgW="3114040" imgH="517525" progId="Visio.Drawing.6">
                  <p:embed/>
                </p:oleObj>
              </mc:Choice>
              <mc:Fallback>
                <p:oleObj name="" r:id="rId5" imgW="3114040" imgH="517525" progId="Visio.Drawing.6">
                  <p:embed/>
                  <p:pic>
                    <p:nvPicPr>
                      <p:cNvPr id="0" name="图片 3096"/>
                      <p:cNvPicPr/>
                      <p:nvPr/>
                    </p:nvPicPr>
                    <p:blipFill>
                      <a:blip r:embed="rId6"/>
                      <a:stretch>
                        <a:fillRect/>
                      </a:stretch>
                    </p:blipFill>
                    <p:spPr>
                      <a:xfrm>
                        <a:off x="2514600" y="3233738"/>
                        <a:ext cx="3352800" cy="555625"/>
                      </a:xfrm>
                      <a:prstGeom prst="rect">
                        <a:avLst/>
                      </a:prstGeom>
                      <a:noFill/>
                      <a:ln w="38100">
                        <a:noFill/>
                        <a:miter/>
                      </a:ln>
                    </p:spPr>
                  </p:pic>
                </p:oleObj>
              </mc:Fallback>
            </mc:AlternateContent>
          </a:graphicData>
        </a:graphic>
      </p:graphicFrame>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词法分析程序的自动生成工具（2）</a:t>
            </a:r>
            <a:endParaRPr lang="zh-CN" altLang="en-US" dirty="0">
              <a:latin typeface="Times New Roman" panose="02020603050405020304" pitchFamily="18" charset="0"/>
              <a:ea typeface="宋体" panose="02010600030101010101" pitchFamily="2" charset="-122"/>
            </a:endParaRPr>
          </a:p>
        </p:txBody>
      </p:sp>
      <p:sp>
        <p:nvSpPr>
          <p:cNvPr id="164867" name="Rectangle 3"/>
          <p:cNvSpPr>
            <a:spLocks noGrp="1"/>
          </p:cNvSpPr>
          <p:nvPr>
            <p:ph idx="1"/>
          </p:nvPr>
        </p:nvSpPr>
        <p:spPr>
          <a:xfrm>
            <a:off x="990600" y="1371600"/>
            <a:ext cx="7543800" cy="4800600"/>
          </a:xfrm>
        </p:spPr>
        <p:txBody>
          <a:bodyPr vert="horz" wrap="square" lIns="92075" tIns="46038" rIns="92075" bIns="46038" anchor="t" anchorCtr="0"/>
          <a:p>
            <a:pPr marL="914400" lvl="1" indent="-457200"/>
            <a:r>
              <a:rPr lang="zh-CN" altLang="en-US" b="1" dirty="0">
                <a:ea typeface="宋体" panose="02010600030101010101" pitchFamily="2" charset="-122"/>
              </a:rPr>
              <a:t>由</a:t>
            </a:r>
            <a:r>
              <a:rPr lang="en-US" altLang="zh-CN" b="1" dirty="0">
                <a:ea typeface="宋体" panose="02010600030101010101" pitchFamily="2" charset="-122"/>
              </a:rPr>
              <a:t>Lex</a:t>
            </a:r>
            <a:r>
              <a:rPr lang="zh-CN" altLang="en-US" b="1" dirty="0">
                <a:ea typeface="宋体" panose="02010600030101010101" pitchFamily="2" charset="-122"/>
              </a:rPr>
              <a:t>建立的词法分析器和语法分析器的联系：</a:t>
            </a:r>
            <a:endParaRPr lang="zh-CN" altLang="en-US" b="1" dirty="0">
              <a:ea typeface="宋体" panose="02010600030101010101" pitchFamily="2" charset="-122"/>
            </a:endParaRPr>
          </a:p>
          <a:p>
            <a:pPr lvl="2"/>
            <a:r>
              <a:rPr lang="zh-CN" altLang="en-US" sz="2000" b="1" dirty="0">
                <a:ea typeface="宋体" panose="02010600030101010101" pitchFamily="2" charset="-122"/>
              </a:rPr>
              <a:t>词法分析器被语法分析器激活</a:t>
            </a:r>
            <a:endParaRPr lang="zh-CN" altLang="en-US" sz="2000" b="1" dirty="0">
              <a:ea typeface="宋体" panose="02010600030101010101" pitchFamily="2" charset="-122"/>
            </a:endParaRPr>
          </a:p>
          <a:p>
            <a:pPr lvl="2"/>
            <a:r>
              <a:rPr lang="zh-CN" altLang="en-US" sz="2000" b="1" dirty="0">
                <a:ea typeface="宋体" panose="02010600030101010101" pitchFamily="2" charset="-122"/>
              </a:rPr>
              <a:t>词法分析器每次总是试图发现与正则式匹配的最长前缀，然后执行对应的动作，典型的动作是将控制返回语法分析器</a:t>
            </a:r>
            <a:endParaRPr lang="zh-CN" altLang="en-US" sz="2000" b="1" dirty="0">
              <a:ea typeface="宋体" panose="02010600030101010101" pitchFamily="2" charset="-122"/>
            </a:endParaRPr>
          </a:p>
          <a:p>
            <a:pPr lvl="2"/>
            <a:r>
              <a:rPr lang="zh-CN" altLang="en-US" sz="2000" b="1" dirty="0">
                <a:ea typeface="宋体" panose="02010600030101010101" pitchFamily="2" charset="-122"/>
              </a:rPr>
              <a:t>如果这个动作不返回控制，词法分析器将继续寻找下面的单词，直到由一个动作引起控制的返回语法分析器</a:t>
            </a:r>
            <a:endParaRPr lang="zh-CN" altLang="en-US" sz="2000" b="1" dirty="0">
              <a:ea typeface="宋体" panose="02010600030101010101" pitchFamily="2" charset="-122"/>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6914" name="Picture 2"/>
          <p:cNvPicPr>
            <a:picLocks noChangeAspect="1"/>
          </p:cNvPicPr>
          <p:nvPr/>
        </p:nvPicPr>
        <p:blipFill>
          <a:blip r:embed="rId1"/>
          <a:stretch>
            <a:fillRect/>
          </a:stretch>
        </p:blipFill>
        <p:spPr>
          <a:xfrm>
            <a:off x="1905000" y="0"/>
            <a:ext cx="5934075" cy="6629400"/>
          </a:xfrm>
          <a:prstGeom prst="rect">
            <a:avLst/>
          </a:prstGeom>
          <a:noFill/>
          <a:ln w="9525">
            <a:noFill/>
          </a:ln>
        </p:spPr>
      </p:pic>
      <p:sp>
        <p:nvSpPr>
          <p:cNvPr id="166915" name="Text Box 3"/>
          <p:cNvSpPr txBox="1"/>
          <p:nvPr/>
        </p:nvSpPr>
        <p:spPr>
          <a:xfrm>
            <a:off x="7772400" y="6477000"/>
            <a:ext cx="13716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63DE8"/>
              </a:buClr>
              <a:buSzPct val="125000"/>
              <a:buChar char="•"/>
              <a:defRPr sz="2600">
                <a:solidFill>
                  <a:schemeClr val="tx1"/>
                </a:solidFill>
                <a:latin typeface="+mn-lt"/>
                <a:ea typeface="+mn-ea"/>
                <a:cs typeface="+mn-cs"/>
              </a:defRPr>
            </a:lvl1pPr>
            <a:lvl2pPr marL="742950" indent="-285750" algn="l" rtl="0" eaLnBrk="0" fontAlgn="base" hangingPunct="0">
              <a:spcBef>
                <a:spcPct val="20000"/>
              </a:spcBef>
              <a:spcAft>
                <a:spcPct val="0"/>
              </a:spcAft>
              <a:buClr>
                <a:srgbClr val="063DE8"/>
              </a:buClr>
              <a:buSzPct val="70000"/>
              <a:buFont typeface="Monotype Sorts" pitchFamily="2" charset="2"/>
              <a:buChar char="ä"/>
              <a:defRPr sz="2400">
                <a:solidFill>
                  <a:schemeClr val="tx1"/>
                </a:solidFill>
                <a:latin typeface="+mn-lt"/>
              </a:defRPr>
            </a:lvl2pPr>
            <a:lvl3pPr marL="1143000" indent="-228600" algn="l" rtl="0" eaLnBrk="0" fontAlgn="base" hangingPunct="0">
              <a:spcBef>
                <a:spcPct val="20000"/>
              </a:spcBef>
              <a:spcAft>
                <a:spcPct val="0"/>
              </a:spcAft>
              <a:buClr>
                <a:srgbClr val="063DE8"/>
              </a:buClr>
              <a:buSzPct val="125000"/>
              <a:buChar char="•"/>
              <a:defRPr sz="2200">
                <a:solidFill>
                  <a:schemeClr val="tx1"/>
                </a:solidFill>
                <a:latin typeface="+mn-lt"/>
              </a:defRPr>
            </a:lvl3pPr>
            <a:lvl4pPr marL="1600200" indent="-228600" algn="l" rtl="0" eaLnBrk="0" fontAlgn="base" hangingPunct="0">
              <a:spcBef>
                <a:spcPct val="20000"/>
              </a:spcBef>
              <a:spcAft>
                <a:spcPct val="0"/>
              </a:spcAft>
              <a:buClr>
                <a:srgbClr val="063DE8"/>
              </a:buClr>
              <a:buSzPct val="70000"/>
              <a:buFont typeface="Monotype Sorts" pitchFamily="2" charset="2"/>
              <a:buChar char="ä"/>
              <a:defRPr sz="2000">
                <a:solidFill>
                  <a:schemeClr val="tx1"/>
                </a:solidFill>
                <a:latin typeface="+mn-lt"/>
              </a:defRPr>
            </a:lvl4pPr>
            <a:lvl5pPr marL="2057400" indent="-228600" algn="l" rtl="0" eaLnBrk="0" fontAlgn="base" hangingPunct="0">
              <a:spcBef>
                <a:spcPct val="20000"/>
              </a:spcBef>
              <a:spcAft>
                <a:spcPct val="0"/>
              </a:spcAft>
              <a:buClr>
                <a:srgbClr val="063DE8"/>
              </a:buClr>
              <a:buSzPct val="125000"/>
              <a:buChar char="•"/>
              <a:defRPr>
                <a:solidFill>
                  <a:schemeClr val="tx1"/>
                </a:solidFill>
                <a:latin typeface="+mn-lt"/>
              </a:defRPr>
            </a:lvl5pPr>
          </a:lstStyle>
          <a:p>
            <a:pPr marL="0" lvl="0" indent="0">
              <a:spcBef>
                <a:spcPct val="50000"/>
              </a:spcBef>
              <a:buClrTx/>
              <a:buSzTx/>
              <a:buNone/>
            </a:pPr>
            <a:r>
              <a:rPr lang="en-US" altLang="zh-CN" sz="2400" dirty="0">
                <a:ea typeface="宋体" panose="02010600030101010101" pitchFamily="2" charset="-122"/>
              </a:rPr>
              <a:t>Cont…</a:t>
            </a:r>
            <a:endParaRPr lang="en-US" altLang="zh-CN" sz="2400" dirty="0">
              <a:ea typeface="宋体" panose="02010600030101010101" pitchFamily="2" charset="-122"/>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8962" name="Picture 2"/>
          <p:cNvPicPr>
            <a:picLocks noChangeAspect="1"/>
          </p:cNvPicPr>
          <p:nvPr/>
        </p:nvPicPr>
        <p:blipFill>
          <a:blip r:embed="rId1"/>
          <a:stretch>
            <a:fillRect/>
          </a:stretch>
        </p:blipFill>
        <p:spPr>
          <a:xfrm>
            <a:off x="685800" y="914400"/>
            <a:ext cx="7926388" cy="4645025"/>
          </a:xfrm>
          <a:prstGeom prst="rect">
            <a:avLst/>
          </a:prstGeom>
          <a:noFill/>
          <a:ln w="9525">
            <a:noFill/>
          </a:ln>
        </p:spPr>
      </p:pic>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词法分析程序的自动生成工具（</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71011" name="Rectangle 3"/>
          <p:cNvSpPr>
            <a:spLocks noGrp="1"/>
          </p:cNvSpPr>
          <p:nvPr>
            <p:ph idx="1"/>
          </p:nvPr>
        </p:nvSpPr>
        <p:spPr>
          <a:xfrm>
            <a:off x="755650" y="1371600"/>
            <a:ext cx="7848600" cy="4800600"/>
          </a:xfrm>
        </p:spPr>
        <p:txBody>
          <a:bodyPr vert="horz" wrap="square" lIns="92075" tIns="46038" rIns="92075" bIns="46038" anchor="t" anchorCtr="0"/>
          <a:p>
            <a:pPr marL="514350" indent="-457200"/>
            <a:r>
              <a:rPr lang="zh-CN" altLang="en-US" sz="2400" b="1" dirty="0">
                <a:ea typeface="宋体" panose="02010600030101010101" pitchFamily="2" charset="-122"/>
              </a:rPr>
              <a:t>第一部分（声明）的解读</a:t>
            </a:r>
            <a:endParaRPr lang="en-US" altLang="zh-CN" sz="2400" b="1" dirty="0">
              <a:ea typeface="宋体" panose="02010600030101010101" pitchFamily="2" charset="-122"/>
            </a:endParaRPr>
          </a:p>
          <a:p>
            <a:pPr marL="914400" lvl="1" indent="-457200"/>
            <a:r>
              <a:rPr lang="en-US" altLang="zh-CN" sz="2200" b="1" dirty="0">
                <a:ea typeface="宋体" panose="02010600030101010101" pitchFamily="2" charset="-122"/>
              </a:rPr>
              <a:t>%{</a:t>
            </a:r>
            <a:r>
              <a:rPr lang="zh-CN" altLang="en-US" sz="2200" b="1" dirty="0">
                <a:ea typeface="宋体" panose="02010600030101010101" pitchFamily="2" charset="-122"/>
              </a:rPr>
              <a:t>  和  </a:t>
            </a:r>
            <a:r>
              <a:rPr lang="en-US" altLang="zh-CN" sz="2200" b="1" dirty="0">
                <a:ea typeface="宋体" panose="02010600030101010101" pitchFamily="2" charset="-122"/>
              </a:rPr>
              <a:t>%}</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内容是给明示常量赋予唯一的整数值，如将</a:t>
            </a:r>
            <a:r>
              <a:rPr lang="en-US" altLang="zh-CN" sz="2000" b="1" dirty="0">
                <a:ea typeface="宋体" panose="02010600030101010101" pitchFamily="2" charset="-122"/>
              </a:rPr>
              <a:t>LT</a:t>
            </a:r>
            <a:r>
              <a:rPr lang="zh-CN" altLang="en-US" sz="2000" b="1" dirty="0">
                <a:ea typeface="宋体" panose="02010600030101010101" pitchFamily="2" charset="-122"/>
              </a:rPr>
              <a:t>定值为</a:t>
            </a:r>
            <a:r>
              <a:rPr lang="en-US" altLang="zh-CN" sz="2000" b="1" dirty="0">
                <a:ea typeface="宋体" panose="02010600030101010101" pitchFamily="2" charset="-122"/>
              </a:rPr>
              <a:t>1</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如果</a:t>
            </a:r>
            <a:r>
              <a:rPr lang="en-US" altLang="zh-CN" sz="2000" b="1" dirty="0">
                <a:ea typeface="宋体" panose="02010600030101010101" pitchFamily="2" charset="-122"/>
              </a:rPr>
              <a:t>Lex</a:t>
            </a:r>
            <a:r>
              <a:rPr lang="zh-CN" altLang="en-US" sz="2000" b="1" dirty="0">
                <a:ea typeface="宋体" panose="02010600030101010101" pitchFamily="2" charset="-122"/>
              </a:rPr>
              <a:t>和</a:t>
            </a:r>
            <a:r>
              <a:rPr lang="en-US" altLang="zh-CN" sz="2000" b="1" dirty="0">
                <a:ea typeface="宋体" panose="02010600030101010101" pitchFamily="2" charset="-122"/>
              </a:rPr>
              <a:t>Yacc</a:t>
            </a:r>
            <a:r>
              <a:rPr lang="zh-CN" altLang="en-US" sz="2000" b="1" dirty="0">
                <a:ea typeface="宋体" panose="02010600030101010101" pitchFamily="2" charset="-122"/>
              </a:rPr>
              <a:t>一起应用，则这些值通常由</a:t>
            </a:r>
            <a:r>
              <a:rPr lang="en-US" altLang="zh-CN" sz="2000" b="1" dirty="0">
                <a:ea typeface="宋体" panose="02010600030101010101" pitchFamily="2" charset="-122"/>
              </a:rPr>
              <a:t>Yacc</a:t>
            </a:r>
            <a:r>
              <a:rPr lang="zh-CN" altLang="en-US" sz="2000" b="1" dirty="0">
                <a:ea typeface="宋体" panose="02010600030101010101" pitchFamily="2" charset="-122"/>
              </a:rPr>
              <a:t>定义</a:t>
            </a:r>
            <a:endParaRPr lang="en-US" altLang="zh-CN" sz="2000" b="1" dirty="0">
              <a:ea typeface="宋体" panose="02010600030101010101" pitchFamily="2" charset="-122"/>
            </a:endParaRPr>
          </a:p>
          <a:p>
            <a:pPr marL="1314450" lvl="2" indent="-457200"/>
            <a:r>
              <a:rPr lang="en-US" altLang="zh-CN" sz="1800" b="1" dirty="0">
                <a:ea typeface="宋体" panose="02010600030101010101" pitchFamily="2" charset="-122"/>
              </a:rPr>
              <a:t>%{</a:t>
            </a:r>
            <a:r>
              <a:rPr lang="zh-CN" altLang="en-US" sz="1800" b="1" dirty="0">
                <a:ea typeface="宋体" panose="02010600030101010101" pitchFamily="2" charset="-122"/>
              </a:rPr>
              <a:t>  和  </a:t>
            </a:r>
            <a:r>
              <a:rPr lang="en-US" altLang="zh-CN" sz="1800" b="1" dirty="0">
                <a:ea typeface="宋体" panose="02010600030101010101" pitchFamily="2" charset="-122"/>
              </a:rPr>
              <a:t>%}</a:t>
            </a:r>
            <a:r>
              <a:rPr lang="zh-CN" altLang="en-US" sz="1800" b="1" dirty="0">
                <a:ea typeface="宋体" panose="02010600030101010101" pitchFamily="2" charset="-122"/>
              </a:rPr>
              <a:t>之间</a:t>
            </a:r>
            <a:r>
              <a:rPr lang="zh-CN" altLang="en-US" sz="2000" b="1" dirty="0">
                <a:ea typeface="宋体" panose="02010600030101010101" pitchFamily="2" charset="-122"/>
              </a:rPr>
              <a:t>的内容被直接复制到</a:t>
            </a:r>
            <a:r>
              <a:rPr lang="en-US" altLang="zh-CN" sz="2000" b="1" dirty="0">
                <a:ea typeface="宋体" panose="02010600030101010101" pitchFamily="2" charset="-122"/>
              </a:rPr>
              <a:t>lex.yy.c</a:t>
            </a:r>
            <a:r>
              <a:rPr lang="zh-CN" altLang="en-US" sz="2000" b="1" dirty="0">
                <a:ea typeface="宋体" panose="02010600030101010101" pitchFamily="2" charset="-122"/>
              </a:rPr>
              <a:t>中</a:t>
            </a:r>
            <a:endParaRPr lang="en-US" altLang="zh-CN" sz="2000" b="1" dirty="0">
              <a:ea typeface="宋体" panose="02010600030101010101" pitchFamily="2" charset="-122"/>
            </a:endParaRPr>
          </a:p>
          <a:p>
            <a:pPr marL="914400" lvl="1" indent="-457200"/>
            <a:r>
              <a:rPr lang="zh-CN" altLang="en-US" sz="2200" b="1" dirty="0">
                <a:ea typeface="宋体" panose="02010600030101010101" pitchFamily="2" charset="-122"/>
              </a:rPr>
              <a:t>正则定义</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给出了模式的定义，其中用到了缩写符号</a:t>
            </a:r>
            <a:endParaRPr lang="en-US" altLang="zh-CN" sz="2000" b="1" dirty="0">
              <a:ea typeface="宋体" panose="02010600030101010101" pitchFamily="2" charset="-122"/>
            </a:endParaRPr>
          </a:p>
          <a:p>
            <a:pPr marL="1314450" lvl="2" indent="-457200"/>
            <a:r>
              <a:rPr lang="en-US" altLang="zh-CN" sz="2000" b="1" dirty="0">
                <a:ea typeface="宋体" panose="02010600030101010101" pitchFamily="2" charset="-122"/>
              </a:rPr>
              <a:t>id</a:t>
            </a:r>
            <a:r>
              <a:rPr lang="zh-CN" altLang="en-US" sz="2000" b="1" dirty="0">
                <a:ea typeface="宋体" panose="02010600030101010101" pitchFamily="2" charset="-122"/>
              </a:rPr>
              <a:t>和</a:t>
            </a:r>
            <a:r>
              <a:rPr lang="en-US" altLang="zh-CN" sz="2000" b="1" dirty="0">
                <a:ea typeface="宋体" panose="02010600030101010101" pitchFamily="2" charset="-122"/>
              </a:rPr>
              <a:t>number</a:t>
            </a:r>
            <a:r>
              <a:rPr lang="zh-CN" altLang="en-US" sz="2000" b="1" dirty="0">
                <a:ea typeface="宋体" panose="02010600030101010101" pitchFamily="2" charset="-122"/>
              </a:rPr>
              <a:t>定义中用到的“</a:t>
            </a:r>
            <a:r>
              <a:rPr lang="en-US" altLang="zh-CN" sz="2000" b="1" dirty="0">
                <a:ea typeface="宋体" panose="02010600030101010101" pitchFamily="2" charset="-122"/>
              </a:rPr>
              <a:t>(</a:t>
            </a:r>
            <a:r>
              <a:rPr lang="zh-CN" altLang="en-US" sz="2000" b="1" dirty="0">
                <a:ea typeface="宋体" panose="02010600030101010101" pitchFamily="2" charset="-122"/>
              </a:rPr>
              <a:t>”和“</a:t>
            </a:r>
            <a:r>
              <a:rPr lang="en-US" altLang="zh-CN" sz="2000" b="1" dirty="0">
                <a:ea typeface="宋体" panose="02010600030101010101" pitchFamily="2" charset="-122"/>
              </a:rPr>
              <a:t>)</a:t>
            </a:r>
            <a:r>
              <a:rPr lang="zh-CN" altLang="en-US" sz="2000" b="1" dirty="0">
                <a:ea typeface="宋体" panose="02010600030101010101" pitchFamily="2" charset="-122"/>
              </a:rPr>
              <a:t>”是</a:t>
            </a:r>
            <a:r>
              <a:rPr lang="en-US" altLang="zh-CN" sz="2000" b="1" dirty="0">
                <a:ea typeface="宋体" panose="02010600030101010101" pitchFamily="2" charset="-122"/>
              </a:rPr>
              <a:t>Lex</a:t>
            </a:r>
            <a:r>
              <a:rPr lang="zh-CN" altLang="en-US" sz="2000" b="1" dirty="0">
                <a:ea typeface="宋体" panose="02010600030101010101" pitchFamily="2" charset="-122"/>
              </a:rPr>
              <a:t>的元符号，以示正则式的分组，此处的“</a:t>
            </a:r>
            <a:r>
              <a:rPr lang="en-US" altLang="zh-CN" sz="2000" b="1" dirty="0">
                <a:ea typeface="宋体" panose="02010600030101010101" pitchFamily="2" charset="-122"/>
              </a:rPr>
              <a:t>(</a:t>
            </a:r>
            <a:r>
              <a:rPr lang="zh-CN" altLang="en-US" sz="2000" b="1" dirty="0">
                <a:ea typeface="宋体" panose="02010600030101010101" pitchFamily="2" charset="-122"/>
              </a:rPr>
              <a:t>”和“</a:t>
            </a:r>
            <a:r>
              <a:rPr lang="en-US" altLang="zh-CN" sz="2000" b="1" dirty="0">
                <a:ea typeface="宋体" panose="02010600030101010101" pitchFamily="2" charset="-122"/>
              </a:rPr>
              <a:t>)</a:t>
            </a:r>
            <a:r>
              <a:rPr lang="zh-CN" altLang="en-US" sz="2000" b="1" dirty="0">
                <a:ea typeface="宋体" panose="02010600030101010101" pitchFamily="2" charset="-122"/>
              </a:rPr>
              <a:t>”不会出现在单词中</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如果在正则式的模式定义需要用到与元符号形式相同的符号，则在这个符号之前增加“</a:t>
            </a:r>
            <a:r>
              <a:rPr lang="en-US" altLang="zh-CN" sz="2000" b="1" dirty="0">
                <a:ea typeface="宋体" panose="02010600030101010101" pitchFamily="2" charset="-122"/>
              </a:rPr>
              <a:t>\</a:t>
            </a:r>
            <a:r>
              <a:rPr lang="zh-CN" altLang="en-US" sz="2000" b="1" dirty="0">
                <a:ea typeface="宋体" panose="02010600030101010101" pitchFamily="2" charset="-122"/>
              </a:rPr>
              <a:t>”，如</a:t>
            </a:r>
            <a:r>
              <a:rPr lang="en-US" altLang="zh-CN" sz="2000" b="1" dirty="0">
                <a:ea typeface="宋体" panose="02010600030101010101" pitchFamily="2" charset="-122"/>
              </a:rPr>
              <a:t>number</a:t>
            </a:r>
            <a:r>
              <a:rPr lang="zh-CN" altLang="en-US" sz="2000" b="1" dirty="0">
                <a:ea typeface="宋体" panose="02010600030101010101" pitchFamily="2" charset="-122"/>
              </a:rPr>
              <a:t>定义中的“</a:t>
            </a:r>
            <a:r>
              <a:rPr lang="en-US" altLang="zh-CN" sz="2000" b="1" dirty="0">
                <a:ea typeface="宋体" panose="02010600030101010101" pitchFamily="2" charset="-122"/>
              </a:rPr>
              <a:t>.</a:t>
            </a:r>
            <a:r>
              <a:rPr lang="zh-CN" altLang="en-US" sz="2000" b="1" dirty="0">
                <a:ea typeface="宋体" panose="02010600030101010101" pitchFamily="2" charset="-122"/>
              </a:rPr>
              <a:t>”</a:t>
            </a:r>
            <a:endParaRPr lang="zh-CN" altLang="en-US" sz="2000" b="1" dirty="0">
              <a:ea typeface="宋体" panose="02010600030101010101" pitchFamily="2" charset="-122"/>
            </a:endParaRPr>
          </a:p>
          <a:p>
            <a:pPr marL="514350" indent="-457200"/>
            <a:endParaRPr lang="zh-CN" altLang="en-US" sz="2200" b="1" dirty="0">
              <a:ea typeface="宋体" panose="02010600030101010101" pitchFamily="2" charset="-122"/>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词法分析程序的自动生成工具（</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73059" name="Rectangle 3"/>
          <p:cNvSpPr>
            <a:spLocks noGrp="1"/>
          </p:cNvSpPr>
          <p:nvPr>
            <p:ph idx="1"/>
          </p:nvPr>
        </p:nvSpPr>
        <p:spPr>
          <a:xfrm>
            <a:off x="395288" y="1371600"/>
            <a:ext cx="8424862" cy="4800600"/>
          </a:xfrm>
        </p:spPr>
        <p:txBody>
          <a:bodyPr vert="horz" wrap="square" lIns="92075" tIns="46038" rIns="92075" bIns="46038" anchor="t" anchorCtr="0"/>
          <a:p>
            <a:pPr marL="514350" indent="-457200"/>
            <a:r>
              <a:rPr lang="zh-CN" altLang="en-US" sz="2400" b="1" dirty="0">
                <a:ea typeface="宋体" panose="02010600030101010101" pitchFamily="2" charset="-122"/>
              </a:rPr>
              <a:t>第二部分（转换规则）的解读</a:t>
            </a:r>
            <a:endParaRPr lang="en-US" altLang="zh-CN" sz="2400" b="1" dirty="0">
              <a:ea typeface="宋体" panose="02010600030101010101" pitchFamily="2" charset="-122"/>
            </a:endParaRPr>
          </a:p>
          <a:p>
            <a:pPr marL="914400" lvl="1" indent="-457200"/>
            <a:r>
              <a:rPr lang="en-US" altLang="zh-CN" sz="2200" b="1" dirty="0">
                <a:ea typeface="宋体" panose="02010600030101010101" pitchFamily="2" charset="-122"/>
              </a:rPr>
              <a:t>{ws}</a:t>
            </a:r>
            <a:r>
              <a:rPr lang="zh-CN" altLang="en-US" sz="2200" b="1" dirty="0">
                <a:ea typeface="宋体" panose="02010600030101010101" pitchFamily="2" charset="-122"/>
              </a:rPr>
              <a:t>：识别出空白符，不返回给语法分析，继续识别下一个</a:t>
            </a:r>
            <a:endParaRPr lang="en-US" altLang="zh-CN" sz="2200" b="1" dirty="0">
              <a:ea typeface="宋体" panose="02010600030101010101" pitchFamily="2" charset="-122"/>
            </a:endParaRPr>
          </a:p>
          <a:p>
            <a:pPr marL="914400" lvl="1" indent="-457200"/>
            <a:r>
              <a:rPr lang="en-US" altLang="zh-CN" sz="2200" b="1" dirty="0">
                <a:ea typeface="宋体" panose="02010600030101010101" pitchFamily="2" charset="-122"/>
              </a:rPr>
              <a:t>if</a:t>
            </a:r>
            <a:r>
              <a:rPr lang="zh-CN" altLang="en-US" sz="2200" b="1" dirty="0">
                <a:ea typeface="宋体" panose="02010600030101010101" pitchFamily="2" charset="-122"/>
              </a:rPr>
              <a:t>、</a:t>
            </a:r>
            <a:r>
              <a:rPr lang="en-US" altLang="zh-CN" sz="2200" b="1" dirty="0">
                <a:ea typeface="宋体" panose="02010600030101010101" pitchFamily="2" charset="-122"/>
              </a:rPr>
              <a:t>then</a:t>
            </a:r>
            <a:r>
              <a:rPr lang="zh-CN" altLang="en-US" sz="2200" b="1" dirty="0">
                <a:ea typeface="宋体" panose="02010600030101010101" pitchFamily="2" charset="-122"/>
              </a:rPr>
              <a:t>、</a:t>
            </a:r>
            <a:r>
              <a:rPr lang="en-US" altLang="zh-CN" sz="2200" b="1" dirty="0">
                <a:ea typeface="宋体" panose="02010600030101010101" pitchFamily="2" charset="-122"/>
              </a:rPr>
              <a:t>else</a:t>
            </a:r>
            <a:r>
              <a:rPr lang="zh-CN" altLang="en-US" sz="2200" b="1" dirty="0">
                <a:ea typeface="宋体" panose="02010600030101010101" pitchFamily="2" charset="-122"/>
              </a:rPr>
              <a:t>等：当输入中出现对应的完整符号串，且其后不是新的字母或数字，则识别出这个关键字，并将明示常量中定义的相关值返回给语法分析</a:t>
            </a:r>
            <a:endParaRPr lang="en-US" altLang="zh-CN" sz="2200" b="1" dirty="0">
              <a:ea typeface="宋体" panose="02010600030101010101" pitchFamily="2" charset="-122"/>
            </a:endParaRPr>
          </a:p>
          <a:p>
            <a:pPr marL="914400" lvl="1" indent="-457200"/>
            <a:r>
              <a:rPr lang="en-US" altLang="zh-CN" sz="2200" b="1" dirty="0">
                <a:ea typeface="宋体" panose="02010600030101010101" pitchFamily="2" charset="-122"/>
              </a:rPr>
              <a:t>{id}</a:t>
            </a:r>
            <a:r>
              <a:rPr lang="zh-CN" altLang="en-US" sz="2200" b="1" dirty="0">
                <a:ea typeface="宋体" panose="02010600030101010101" pitchFamily="2" charset="-122"/>
              </a:rPr>
              <a:t>：识别出一个标识符，</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调用</a:t>
            </a:r>
            <a:r>
              <a:rPr lang="en-US" altLang="zh-CN" sz="2000" b="1" dirty="0">
                <a:ea typeface="宋体" panose="02010600030101010101" pitchFamily="2" charset="-122"/>
              </a:rPr>
              <a:t>installID(</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将找到的词素放入符号表</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该函数返回一个指向符号表的指针（全局量</a:t>
            </a:r>
            <a:r>
              <a:rPr lang="en-US" altLang="zh-CN" sz="2000" b="1" dirty="0">
                <a:ea typeface="宋体" panose="02010600030101010101" pitchFamily="2" charset="-122"/>
              </a:rPr>
              <a:t>yylval</a:t>
            </a:r>
            <a:r>
              <a:rPr lang="zh-CN" altLang="en-US" sz="2000" b="1" dirty="0">
                <a:ea typeface="宋体" panose="02010600030101010101" pitchFamily="2" charset="-122"/>
              </a:rPr>
              <a:t>保存），以供后续处理使用，在该函数中使用如下两个由词法分析器赋值的变量</a:t>
            </a:r>
            <a:endParaRPr lang="en-US" altLang="zh-CN" sz="2000" b="1" dirty="0">
              <a:ea typeface="宋体" panose="02010600030101010101" pitchFamily="2" charset="-122"/>
            </a:endParaRPr>
          </a:p>
          <a:p>
            <a:pPr marL="1771650" lvl="3" indent="-457200"/>
            <a:r>
              <a:rPr lang="en-US" altLang="zh-CN" sz="1800" b="1" dirty="0">
                <a:ea typeface="宋体" panose="02010600030101010101" pitchFamily="2" charset="-122"/>
              </a:rPr>
              <a:t>yytext</a:t>
            </a:r>
            <a:r>
              <a:rPr lang="zh-CN" altLang="en-US" sz="1800" b="1" dirty="0">
                <a:ea typeface="宋体" panose="02010600030101010101" pitchFamily="2" charset="-122"/>
              </a:rPr>
              <a:t>，指向词素起始位置的指针，类似于</a:t>
            </a:r>
            <a:r>
              <a:rPr lang="en-US" altLang="zh-CN" sz="1800" b="1" dirty="0">
                <a:ea typeface="宋体" panose="02010600030101010101" pitchFamily="2" charset="-122"/>
              </a:rPr>
              <a:t>lexemeBegin</a:t>
            </a:r>
            <a:endParaRPr lang="en-US" altLang="zh-CN" sz="1800" b="1" dirty="0">
              <a:ea typeface="宋体" panose="02010600030101010101" pitchFamily="2" charset="-122"/>
            </a:endParaRPr>
          </a:p>
          <a:p>
            <a:pPr marL="1771650" lvl="3" indent="-457200"/>
            <a:r>
              <a:rPr lang="en-US" altLang="zh-CN" sz="1800" b="1" dirty="0">
                <a:ea typeface="宋体" panose="02010600030101010101" pitchFamily="2" charset="-122"/>
              </a:rPr>
              <a:t>yyleng</a:t>
            </a:r>
            <a:r>
              <a:rPr lang="zh-CN" altLang="en-US" sz="1800" b="1" dirty="0">
                <a:ea typeface="宋体" panose="02010600030101010101" pitchFamily="2" charset="-122"/>
              </a:rPr>
              <a:t>，存放刚识别的词素的长度</a:t>
            </a:r>
            <a:endParaRPr lang="en-US" altLang="zh-CN" sz="1800" b="1" dirty="0">
              <a:ea typeface="宋体" panose="02010600030101010101" pitchFamily="2" charset="-122"/>
            </a:endParaRPr>
          </a:p>
          <a:p>
            <a:pPr marL="1314450" lvl="2" indent="-457200"/>
            <a:r>
              <a:rPr lang="zh-CN" altLang="en-US" sz="2000" b="1" dirty="0">
                <a:ea typeface="宋体" panose="02010600030101010101" pitchFamily="2" charset="-122"/>
              </a:rPr>
              <a:t>将词法单元名</a:t>
            </a:r>
            <a:r>
              <a:rPr lang="en-US" altLang="zh-CN" sz="2000" b="1" dirty="0">
                <a:ea typeface="宋体" panose="02010600030101010101" pitchFamily="2" charset="-122"/>
              </a:rPr>
              <a:t>ID</a:t>
            </a:r>
            <a:r>
              <a:rPr lang="zh-CN" altLang="en-US" sz="2000" b="1" dirty="0">
                <a:ea typeface="宋体" panose="02010600030101010101" pitchFamily="2" charset="-122"/>
              </a:rPr>
              <a:t>返回到语法分析器</a:t>
            </a:r>
            <a:endParaRPr lang="en-US" altLang="zh-CN" sz="2000" b="1" dirty="0">
              <a:ea typeface="宋体" panose="02010600030101010101" pitchFamily="2" charset="-122"/>
            </a:endParaRPr>
          </a:p>
          <a:p>
            <a:pPr marL="914400" lvl="1" indent="-457200"/>
            <a:r>
              <a:rPr lang="en-US" altLang="zh-CN" sz="2200" b="1" dirty="0">
                <a:ea typeface="宋体" panose="02010600030101010101" pitchFamily="2" charset="-122"/>
              </a:rPr>
              <a:t>{number}</a:t>
            </a:r>
            <a:r>
              <a:rPr lang="zh-CN" altLang="en-US" sz="2200" b="1" dirty="0">
                <a:ea typeface="宋体" panose="02010600030101010101" pitchFamily="2" charset="-122"/>
              </a:rPr>
              <a:t>的识别与</a:t>
            </a:r>
            <a:r>
              <a:rPr lang="en-US" altLang="zh-CN" sz="2200" b="1" dirty="0">
                <a:ea typeface="宋体" panose="02010600030101010101" pitchFamily="2" charset="-122"/>
              </a:rPr>
              <a:t>{id}</a:t>
            </a:r>
            <a:r>
              <a:rPr lang="zh-CN" altLang="en-US" sz="2200" b="1" dirty="0">
                <a:ea typeface="宋体" panose="02010600030101010101" pitchFamily="2" charset="-122"/>
              </a:rPr>
              <a:t>类似</a:t>
            </a:r>
            <a:endParaRPr lang="zh-CN" altLang="en-US" sz="2200" b="1" dirty="0">
              <a:ea typeface="宋体" panose="02010600030101010101" pitchFamily="2" charset="-122"/>
            </a:endParaRPr>
          </a:p>
          <a:p>
            <a:pPr marL="514350" indent="-457200"/>
            <a:endParaRPr lang="zh-CN" altLang="en-US" sz="2200" b="1" dirty="0">
              <a:ea typeface="宋体" panose="02010600030101010101" pitchFamily="2" charset="-122"/>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词法分析程序的自动生成工具（</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75107" name="Rectangle 3"/>
          <p:cNvSpPr>
            <a:spLocks noGrp="1"/>
          </p:cNvSpPr>
          <p:nvPr>
            <p:ph idx="1"/>
          </p:nvPr>
        </p:nvSpPr>
        <p:spPr>
          <a:xfrm>
            <a:off x="755650" y="1371600"/>
            <a:ext cx="7848600" cy="4800600"/>
          </a:xfrm>
        </p:spPr>
        <p:txBody>
          <a:bodyPr vert="horz" wrap="square" lIns="92075" tIns="46038" rIns="92075" bIns="46038" anchor="t" anchorCtr="0"/>
          <a:p>
            <a:pPr marL="514350" indent="-457200"/>
            <a:r>
              <a:rPr lang="zh-CN" altLang="en-US" sz="2400" b="1" dirty="0">
                <a:ea typeface="宋体" panose="02010600030101010101" pitchFamily="2" charset="-122"/>
              </a:rPr>
              <a:t>第三部分（辅助过程）的解读</a:t>
            </a:r>
            <a:endParaRPr lang="en-US" altLang="zh-CN" sz="2400" b="1" dirty="0">
              <a:ea typeface="宋体" panose="02010600030101010101" pitchFamily="2" charset="-122"/>
            </a:endParaRPr>
          </a:p>
          <a:p>
            <a:pPr marL="914400" lvl="1" indent="-457200"/>
            <a:r>
              <a:rPr lang="en-US" altLang="zh-CN" sz="2200" b="1" dirty="0">
                <a:ea typeface="宋体" panose="02010600030101010101" pitchFamily="2" charset="-122"/>
              </a:rPr>
              <a:t>installID</a:t>
            </a:r>
            <a:r>
              <a:rPr lang="zh-CN" altLang="en-US" sz="2200" b="1" dirty="0">
                <a:ea typeface="宋体" panose="02010600030101010101" pitchFamily="2" charset="-122"/>
              </a:rPr>
              <a:t>和</a:t>
            </a:r>
            <a:r>
              <a:rPr lang="en-US" altLang="zh-CN" sz="2200" b="1" dirty="0">
                <a:ea typeface="宋体" panose="02010600030101010101" pitchFamily="2" charset="-122"/>
              </a:rPr>
              <a:t>installNum</a:t>
            </a:r>
            <a:r>
              <a:rPr lang="zh-CN" altLang="en-US" sz="2200" b="1" dirty="0">
                <a:ea typeface="宋体" panose="02010600030101010101" pitchFamily="2" charset="-122"/>
              </a:rPr>
              <a:t>给出第二部分中用到的对应函数的代码，这些代码被直接复制到文件</a:t>
            </a:r>
            <a:r>
              <a:rPr lang="en-US" altLang="zh-CN" sz="2200" b="1" dirty="0">
                <a:ea typeface="宋体" panose="02010600030101010101" pitchFamily="2" charset="-122"/>
              </a:rPr>
              <a:t>lex.yy.c</a:t>
            </a:r>
            <a:r>
              <a:rPr lang="zh-CN" altLang="en-US" sz="2200" b="1" dirty="0">
                <a:ea typeface="宋体" panose="02010600030101010101" pitchFamily="2" charset="-122"/>
              </a:rPr>
              <a:t>中</a:t>
            </a:r>
            <a:endParaRPr lang="en-US" altLang="zh-CN" sz="2200" b="1" dirty="0">
              <a:ea typeface="宋体" panose="02010600030101010101" pitchFamily="2" charset="-122"/>
            </a:endParaRPr>
          </a:p>
          <a:p>
            <a:pPr marL="514350" indent="-457200"/>
            <a:r>
              <a:rPr lang="zh-CN" altLang="en-US" sz="2200" b="1" dirty="0">
                <a:ea typeface="宋体" panose="02010600030101010101" pitchFamily="2" charset="-122"/>
              </a:rPr>
              <a:t>冲突的解决</a:t>
            </a:r>
            <a:endParaRPr lang="en-US" altLang="zh-CN" sz="2200" b="1" dirty="0">
              <a:ea typeface="宋体" panose="02010600030101010101" pitchFamily="2" charset="-122"/>
            </a:endParaRPr>
          </a:p>
          <a:p>
            <a:pPr marL="914400" lvl="1" indent="-457200"/>
            <a:r>
              <a:rPr lang="zh-CN" altLang="en-US" sz="2000" b="1" dirty="0">
                <a:ea typeface="宋体" panose="02010600030101010101" pitchFamily="2" charset="-122"/>
              </a:rPr>
              <a:t>冲突是指对于某个前缀，有多个模式与之匹配，如关键字</a:t>
            </a:r>
            <a:r>
              <a:rPr lang="en-US" altLang="zh-CN" sz="2000" b="1" dirty="0">
                <a:ea typeface="宋体" panose="02010600030101010101" pitchFamily="2" charset="-122"/>
              </a:rPr>
              <a:t>if</a:t>
            </a:r>
            <a:r>
              <a:rPr lang="zh-CN" altLang="en-US" sz="2000" b="1" dirty="0">
                <a:ea typeface="宋体" panose="02010600030101010101" pitchFamily="2" charset="-122"/>
              </a:rPr>
              <a:t>等和标识符</a:t>
            </a:r>
            <a:endParaRPr lang="en-US" altLang="zh-CN" sz="2000" b="1" dirty="0">
              <a:ea typeface="宋体" panose="02010600030101010101" pitchFamily="2" charset="-122"/>
            </a:endParaRPr>
          </a:p>
          <a:p>
            <a:pPr marL="914400" lvl="1" indent="-457200"/>
            <a:r>
              <a:rPr lang="zh-CN" altLang="en-US" sz="2000" b="1" dirty="0">
                <a:ea typeface="宋体" panose="02010600030101010101" pitchFamily="2" charset="-122"/>
              </a:rPr>
              <a:t>解决方式</a:t>
            </a:r>
            <a:endParaRPr lang="en-US" altLang="zh-CN" sz="2000" b="1" dirty="0">
              <a:ea typeface="宋体" panose="02010600030101010101" pitchFamily="2" charset="-122"/>
            </a:endParaRPr>
          </a:p>
          <a:p>
            <a:pPr marL="1314450" lvl="2" indent="-457200"/>
            <a:r>
              <a:rPr lang="zh-CN" altLang="en-US" sz="1800" b="1" dirty="0">
                <a:ea typeface="宋体" panose="02010600030101010101" pitchFamily="2" charset="-122"/>
              </a:rPr>
              <a:t>总是选择最长的前缀（最长子串原理）</a:t>
            </a:r>
            <a:endParaRPr lang="en-US" altLang="zh-CN" sz="1800" b="1" dirty="0">
              <a:ea typeface="宋体" panose="02010600030101010101" pitchFamily="2" charset="-122"/>
            </a:endParaRPr>
          </a:p>
          <a:p>
            <a:pPr marL="1314450" lvl="2" indent="-457200"/>
            <a:r>
              <a:rPr lang="zh-CN" altLang="en-US" sz="1800" b="1" dirty="0">
                <a:ea typeface="宋体" panose="02010600030101010101" pitchFamily="2" charset="-122"/>
              </a:rPr>
              <a:t>如果最长的可能前缀与多个模式匹配，总是选择在</a:t>
            </a:r>
            <a:r>
              <a:rPr lang="en-US" altLang="zh-CN" sz="1800" b="1" dirty="0">
                <a:ea typeface="宋体" panose="02010600030101010101" pitchFamily="2" charset="-122"/>
              </a:rPr>
              <a:t>Lex</a:t>
            </a:r>
            <a:r>
              <a:rPr lang="zh-CN" altLang="en-US" sz="1800" b="1" dirty="0">
                <a:ea typeface="宋体" panose="02010600030101010101" pitchFamily="2" charset="-122"/>
              </a:rPr>
              <a:t>程序中先被列出的模式</a:t>
            </a:r>
            <a:endParaRPr lang="en-US" altLang="zh-CN" sz="1800" b="1" dirty="0">
              <a:ea typeface="宋体" panose="02010600030101010101" pitchFamily="2" charset="-122"/>
            </a:endParaRPr>
          </a:p>
          <a:p>
            <a:pPr marL="1771650" lvl="3" indent="-457200"/>
            <a:r>
              <a:rPr lang="zh-CN" altLang="en-US" sz="1600" b="1" dirty="0">
                <a:ea typeface="宋体" panose="02010600030101010101" pitchFamily="2" charset="-122"/>
              </a:rPr>
              <a:t>由此解决关键字与标识符的冲突</a:t>
            </a:r>
            <a:endParaRPr lang="zh-CN" altLang="en-US" sz="1600" b="1" dirty="0">
              <a:ea typeface="宋体" panose="02010600030101010101" pitchFamily="2" charset="-122"/>
            </a:endParaRP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词法分析程序的自动生成工具（</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77155" name="Rectangle 3"/>
          <p:cNvSpPr>
            <a:spLocks noGrp="1"/>
          </p:cNvSpPr>
          <p:nvPr>
            <p:ph idx="1"/>
          </p:nvPr>
        </p:nvSpPr>
        <p:spPr>
          <a:xfrm>
            <a:off x="611188" y="1371600"/>
            <a:ext cx="7993062" cy="4800600"/>
          </a:xfrm>
        </p:spPr>
        <p:txBody>
          <a:bodyPr vert="horz" wrap="square" lIns="92075" tIns="46038" rIns="92075" bIns="46038" anchor="t" anchorCtr="0"/>
          <a:p>
            <a:pPr marL="514350" indent="-457200"/>
            <a:r>
              <a:rPr lang="zh-CN" altLang="en-US" sz="2400" b="1" dirty="0">
                <a:ea typeface="宋体" panose="02010600030101010101" pitchFamily="2" charset="-122"/>
              </a:rPr>
              <a:t>向前看运算符</a:t>
            </a:r>
            <a:endParaRPr lang="en-US" altLang="zh-CN" sz="2400" b="1" dirty="0">
              <a:ea typeface="宋体" panose="02010600030101010101" pitchFamily="2" charset="-122"/>
            </a:endParaRPr>
          </a:p>
          <a:p>
            <a:pPr marL="914400" lvl="1" indent="-457200"/>
            <a:r>
              <a:rPr lang="zh-CN" altLang="en-US" sz="2200" b="1" dirty="0">
                <a:ea typeface="宋体" panose="02010600030101010101" pitchFamily="2" charset="-122"/>
              </a:rPr>
              <a:t>有些语言中，某些模式的识别要看其后续字符序列是否满足某些格式规定，如下述</a:t>
            </a:r>
            <a:r>
              <a:rPr lang="en-US" altLang="zh-CN" sz="2200" b="1" dirty="0">
                <a:ea typeface="宋体" panose="02010600030101010101" pitchFamily="2" charset="-122"/>
              </a:rPr>
              <a:t>Fortran</a:t>
            </a:r>
            <a:r>
              <a:rPr lang="zh-CN" altLang="en-US" sz="2200" b="1" dirty="0">
                <a:ea typeface="宋体" panose="02010600030101010101" pitchFamily="2" charset="-122"/>
              </a:rPr>
              <a:t>例子对</a:t>
            </a:r>
            <a:r>
              <a:rPr lang="en-US" altLang="zh-CN" sz="2200" b="1" dirty="0">
                <a:ea typeface="宋体" panose="02010600030101010101" pitchFamily="2" charset="-122"/>
              </a:rPr>
              <a:t>IF</a:t>
            </a:r>
            <a:r>
              <a:rPr lang="zh-CN" altLang="en-US" sz="2200" b="1" dirty="0">
                <a:ea typeface="宋体" panose="02010600030101010101" pitchFamily="2" charset="-122"/>
              </a:rPr>
              <a:t>的不同解读</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a:t>
            </a:r>
            <a:r>
              <a:rPr lang="en-US" altLang="zh-CN" sz="2000" b="1" dirty="0">
                <a:ea typeface="宋体" panose="02010600030101010101" pitchFamily="2" charset="-122"/>
              </a:rPr>
              <a:t>IF (A&lt;(B+C)*D) THEN …</a:t>
            </a:r>
            <a:r>
              <a:rPr lang="zh-CN" altLang="en-US" sz="2000" b="1" dirty="0">
                <a:ea typeface="宋体" panose="02010600030101010101" pitchFamily="2" charset="-122"/>
              </a:rPr>
              <a:t>”中的</a:t>
            </a:r>
            <a:r>
              <a:rPr lang="en-US" altLang="zh-CN" sz="2000" b="1" dirty="0">
                <a:ea typeface="宋体" panose="02010600030101010101" pitchFamily="2" charset="-122"/>
              </a:rPr>
              <a:t>if</a:t>
            </a:r>
            <a:r>
              <a:rPr lang="zh-CN" altLang="en-US" sz="2000" b="1" dirty="0">
                <a:ea typeface="宋体" panose="02010600030101010101" pitchFamily="2" charset="-122"/>
              </a:rPr>
              <a:t>是分支语句的字头“</a:t>
            </a:r>
            <a:r>
              <a:rPr lang="en-US" altLang="zh-CN" sz="2000" b="1" dirty="0">
                <a:ea typeface="宋体" panose="02010600030101010101" pitchFamily="2" charset="-122"/>
              </a:rPr>
              <a:t>IF</a:t>
            </a:r>
            <a:r>
              <a:rPr lang="zh-CN" altLang="en-US" sz="2000" b="1" dirty="0">
                <a:ea typeface="宋体" panose="02010600030101010101" pitchFamily="2" charset="-122"/>
              </a:rPr>
              <a:t>”</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a:t>
            </a:r>
            <a:r>
              <a:rPr lang="en-US" altLang="zh-CN" sz="2000" b="1" dirty="0">
                <a:ea typeface="宋体" panose="02010600030101010101" pitchFamily="2" charset="-122"/>
              </a:rPr>
              <a:t>IF ( I ,</a:t>
            </a:r>
            <a:r>
              <a:rPr lang="zh-CN" altLang="en-US" sz="2000" b="1" dirty="0">
                <a:ea typeface="宋体" panose="02010600030101010101" pitchFamily="2" charset="-122"/>
              </a:rPr>
              <a:t> </a:t>
            </a:r>
            <a:r>
              <a:rPr lang="en-US" altLang="zh-CN" sz="2000" b="1" dirty="0">
                <a:ea typeface="宋体" panose="02010600030101010101" pitchFamily="2" charset="-122"/>
              </a:rPr>
              <a:t>J )</a:t>
            </a:r>
            <a:r>
              <a:rPr lang="zh-CN" altLang="en-US" sz="2000" b="1" dirty="0">
                <a:ea typeface="宋体" panose="02010600030101010101" pitchFamily="2" charset="-122"/>
              </a:rPr>
              <a:t> </a:t>
            </a:r>
            <a:r>
              <a:rPr lang="en-US" altLang="zh-CN" sz="2000" b="1" dirty="0">
                <a:ea typeface="宋体" panose="02010600030101010101" pitchFamily="2" charset="-122"/>
              </a:rPr>
              <a:t>=</a:t>
            </a:r>
            <a:r>
              <a:rPr lang="zh-CN" altLang="en-US" sz="2000" b="1" dirty="0">
                <a:ea typeface="宋体" panose="02010600030101010101" pitchFamily="2" charset="-122"/>
              </a:rPr>
              <a:t> </a:t>
            </a:r>
            <a:r>
              <a:rPr lang="en-US" altLang="zh-CN" sz="2000" b="1" dirty="0">
                <a:ea typeface="宋体" panose="02010600030101010101" pitchFamily="2" charset="-122"/>
              </a:rPr>
              <a:t>3</a:t>
            </a:r>
            <a:r>
              <a:rPr lang="zh-CN" altLang="en-US" sz="2000" b="1" dirty="0">
                <a:ea typeface="宋体" panose="02010600030101010101" pitchFamily="2" charset="-122"/>
              </a:rPr>
              <a:t>”中的</a:t>
            </a:r>
            <a:r>
              <a:rPr lang="en-US" altLang="zh-CN" sz="2000" b="1" dirty="0">
                <a:ea typeface="宋体" panose="02010600030101010101" pitchFamily="2" charset="-122"/>
              </a:rPr>
              <a:t>IF</a:t>
            </a:r>
            <a:r>
              <a:rPr lang="zh-CN" altLang="en-US" sz="2000" b="1" dirty="0">
                <a:ea typeface="宋体" panose="02010600030101010101" pitchFamily="2" charset="-122"/>
              </a:rPr>
              <a:t>是一个标识符</a:t>
            </a:r>
            <a:endParaRPr lang="en-US" altLang="zh-CN" sz="2000" b="1" dirty="0">
              <a:ea typeface="宋体" panose="02010600030101010101" pitchFamily="2" charset="-122"/>
            </a:endParaRPr>
          </a:p>
          <a:p>
            <a:pPr marL="914400" lvl="1" indent="-457200"/>
            <a:r>
              <a:rPr lang="zh-CN" altLang="en-US" sz="2200" b="1" dirty="0">
                <a:ea typeface="宋体" panose="02010600030101010101" pitchFamily="2" charset="-122"/>
              </a:rPr>
              <a:t>扩展模式</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引入“</a:t>
            </a:r>
            <a:r>
              <a:rPr lang="en-US" altLang="zh-CN" sz="2000" b="1" dirty="0">
                <a:ea typeface="宋体" panose="02010600030101010101" pitchFamily="2" charset="-122"/>
              </a:rPr>
              <a:t>/</a:t>
            </a:r>
            <a:r>
              <a:rPr lang="zh-CN" altLang="en-US" sz="2000" b="1" dirty="0">
                <a:ea typeface="宋体" panose="02010600030101010101" pitchFamily="2" charset="-122"/>
              </a:rPr>
              <a:t>”，其前面描述的要识别的词素的模式，其后面描述的附加的模式</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识别关键字</a:t>
            </a:r>
            <a:r>
              <a:rPr lang="en-US" altLang="zh-CN" sz="2000" b="1" dirty="0">
                <a:ea typeface="宋体" panose="02010600030101010101" pitchFamily="2" charset="-122"/>
              </a:rPr>
              <a:t>if</a:t>
            </a:r>
            <a:r>
              <a:rPr lang="zh-CN" altLang="en-US" sz="2000" b="1" dirty="0">
                <a:ea typeface="宋体" panose="02010600030101010101" pitchFamily="2" charset="-122"/>
              </a:rPr>
              <a:t>的</a:t>
            </a:r>
            <a:r>
              <a:rPr lang="en-US" altLang="zh-CN" sz="2000" b="1" dirty="0">
                <a:ea typeface="宋体" panose="02010600030101010101" pitchFamily="2" charset="-122"/>
              </a:rPr>
              <a:t>Lex</a:t>
            </a:r>
            <a:r>
              <a:rPr lang="zh-CN" altLang="en-US" sz="2000" b="1" dirty="0">
                <a:ea typeface="宋体" panose="02010600030101010101" pitchFamily="2" charset="-122"/>
              </a:rPr>
              <a:t>规则：</a:t>
            </a:r>
            <a:r>
              <a:rPr lang="en-US" altLang="zh-CN" sz="2000" b="1" dirty="0">
                <a:ea typeface="宋体" panose="02010600030101010101" pitchFamily="2" charset="-122"/>
              </a:rPr>
              <a:t>IF / \ ( . * \ ) { letter }</a:t>
            </a:r>
            <a:endParaRPr lang="en-US" altLang="zh-CN" sz="2000" b="1" dirty="0">
              <a:ea typeface="宋体" panose="02010600030101010101" pitchFamily="2" charset="-122"/>
            </a:endParaRPr>
          </a:p>
          <a:p>
            <a:pPr marL="1771650" lvl="3" indent="-457200"/>
            <a:r>
              <a:rPr lang="zh-CN" altLang="en-US" sz="1800" b="1" dirty="0">
                <a:ea typeface="宋体" panose="02010600030101010101" pitchFamily="2" charset="-122"/>
              </a:rPr>
              <a:t>由于“</a:t>
            </a:r>
            <a:r>
              <a:rPr lang="en-US" altLang="zh-CN" sz="1800" b="1" dirty="0">
                <a:ea typeface="宋体" panose="02010600030101010101" pitchFamily="2" charset="-122"/>
              </a:rPr>
              <a:t>(</a:t>
            </a:r>
            <a:r>
              <a:rPr lang="zh-CN" altLang="en-US" sz="1800" b="1" dirty="0">
                <a:ea typeface="宋体" panose="02010600030101010101" pitchFamily="2" charset="-122"/>
              </a:rPr>
              <a:t>”和“</a:t>
            </a:r>
            <a:r>
              <a:rPr lang="en-US" altLang="zh-CN" sz="1800" b="1" dirty="0">
                <a:ea typeface="宋体" panose="02010600030101010101" pitchFamily="2" charset="-122"/>
              </a:rPr>
              <a:t>)</a:t>
            </a:r>
            <a:r>
              <a:rPr lang="zh-CN" altLang="en-US" sz="1800" b="1" dirty="0">
                <a:ea typeface="宋体" panose="02010600030101010101" pitchFamily="2" charset="-122"/>
              </a:rPr>
              <a:t>”与</a:t>
            </a:r>
            <a:r>
              <a:rPr lang="en-US" altLang="zh-CN" sz="1800" b="1" dirty="0">
                <a:ea typeface="宋体" panose="02010600030101010101" pitchFamily="2" charset="-122"/>
              </a:rPr>
              <a:t>Lex</a:t>
            </a:r>
            <a:r>
              <a:rPr lang="zh-CN" altLang="en-US" sz="1800" b="1" dirty="0">
                <a:ea typeface="宋体" panose="02010600030101010101" pitchFamily="2" charset="-122"/>
              </a:rPr>
              <a:t>的元符号形式相同，因此用“</a:t>
            </a:r>
            <a:r>
              <a:rPr lang="en-US" altLang="zh-CN" sz="1800" b="1" dirty="0">
                <a:ea typeface="宋体" panose="02010600030101010101" pitchFamily="2" charset="-122"/>
              </a:rPr>
              <a:t>\</a:t>
            </a:r>
            <a:r>
              <a:rPr lang="zh-CN" altLang="en-US" sz="1800" b="1" dirty="0">
                <a:ea typeface="宋体" panose="02010600030101010101" pitchFamily="2" charset="-122"/>
              </a:rPr>
              <a:t>”表示此处的“</a:t>
            </a:r>
            <a:r>
              <a:rPr lang="en-US" altLang="zh-CN" sz="1800" b="1" dirty="0">
                <a:ea typeface="宋体" panose="02010600030101010101" pitchFamily="2" charset="-122"/>
              </a:rPr>
              <a:t>(</a:t>
            </a:r>
            <a:r>
              <a:rPr lang="zh-CN" altLang="en-US" sz="1800" b="1" dirty="0">
                <a:ea typeface="宋体" panose="02010600030101010101" pitchFamily="2" charset="-122"/>
              </a:rPr>
              <a:t>”和“</a:t>
            </a:r>
            <a:r>
              <a:rPr lang="en-US" altLang="zh-CN" sz="1800" b="1" dirty="0">
                <a:ea typeface="宋体" panose="02010600030101010101" pitchFamily="2" charset="-122"/>
              </a:rPr>
              <a:t>)</a:t>
            </a:r>
            <a:r>
              <a:rPr lang="zh-CN" altLang="en-US" sz="1800" b="1" dirty="0">
                <a:ea typeface="宋体" panose="02010600030101010101" pitchFamily="2" charset="-122"/>
              </a:rPr>
              <a:t>”采用的是其本义</a:t>
            </a:r>
            <a:endParaRPr lang="en-US" altLang="zh-CN" sz="1800" b="1" dirty="0">
              <a:ea typeface="宋体" panose="02010600030101010101" pitchFamily="2" charset="-122"/>
            </a:endParaRPr>
          </a:p>
          <a:p>
            <a:pPr marL="1771650" lvl="3" indent="-457200"/>
            <a:r>
              <a:rPr lang="zh-CN" altLang="en-US" sz="1800" b="1" dirty="0">
                <a:ea typeface="宋体" panose="02010600030101010101" pitchFamily="2" charset="-122"/>
              </a:rPr>
              <a:t>“</a:t>
            </a:r>
            <a:r>
              <a:rPr lang="en-US" altLang="zh-CN" sz="1800" b="1" dirty="0">
                <a:ea typeface="宋体" panose="02010600030101010101" pitchFamily="2" charset="-122"/>
              </a:rPr>
              <a:t>. *</a:t>
            </a:r>
            <a:r>
              <a:rPr lang="zh-CN" altLang="en-US" sz="1800" b="1" dirty="0">
                <a:ea typeface="宋体" panose="02010600030101010101" pitchFamily="2" charset="-122"/>
              </a:rPr>
              <a:t>”表示“任何不包含换行符的字符串”</a:t>
            </a:r>
            <a:endParaRPr lang="en-US" altLang="zh-CN" sz="1800" b="1" dirty="0">
              <a:ea typeface="宋体" panose="02010600030101010101" pitchFamily="2" charset="-122"/>
            </a:endParaRPr>
          </a:p>
          <a:p>
            <a:pPr marL="1771650" lvl="3" indent="-457200"/>
            <a:r>
              <a:rPr lang="en-US" altLang="zh-CN" sz="1800" b="1" dirty="0">
                <a:ea typeface="宋体" panose="02010600030101010101" pitchFamily="2" charset="-122"/>
              </a:rPr>
              <a:t>{letter}</a:t>
            </a:r>
            <a:r>
              <a:rPr lang="zh-CN" altLang="en-US" sz="1800" b="1" dirty="0">
                <a:ea typeface="宋体" panose="02010600030101010101" pitchFamily="2" charset="-122"/>
              </a:rPr>
              <a:t>表示字母</a:t>
            </a:r>
            <a:endParaRPr lang="en-US" altLang="zh-CN" sz="1800" b="1" dirty="0">
              <a:ea typeface="宋体" panose="02010600030101010101" pitchFamily="2" charset="-122"/>
            </a:endParaRPr>
          </a:p>
          <a:p>
            <a:pPr marL="1771650" lvl="3" indent="-457200"/>
            <a:r>
              <a:rPr lang="zh-CN" altLang="en-US" sz="1800" b="1" dirty="0">
                <a:ea typeface="宋体" panose="02010600030101010101" pitchFamily="2" charset="-122"/>
              </a:rPr>
              <a:t>该规则可以正确识别前述的分支语句的字头“</a:t>
            </a:r>
            <a:r>
              <a:rPr lang="en-US" altLang="zh-CN" sz="1800" b="1" dirty="0">
                <a:ea typeface="宋体" panose="02010600030101010101" pitchFamily="2" charset="-122"/>
              </a:rPr>
              <a:t>IF</a:t>
            </a:r>
            <a:r>
              <a:rPr lang="zh-CN" altLang="en-US" sz="1800" b="1" dirty="0">
                <a:ea typeface="宋体" panose="02010600030101010101" pitchFamily="2" charset="-122"/>
              </a:rPr>
              <a:t>”</a:t>
            </a:r>
            <a:endParaRPr lang="en-US" altLang="zh-CN" sz="1800" b="1" dirty="0">
              <a:ea typeface="宋体" panose="02010600030101010101" pitchFamily="2" charset="-122"/>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词法分析器生成工具的设计（</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pic>
        <p:nvPicPr>
          <p:cNvPr id="179203" name="Picture 2"/>
          <p:cNvPicPr>
            <a:picLocks noChangeAspect="1"/>
          </p:cNvPicPr>
          <p:nvPr/>
        </p:nvPicPr>
        <p:blipFill>
          <a:blip r:embed="rId1"/>
          <a:stretch>
            <a:fillRect/>
          </a:stretch>
        </p:blipFill>
        <p:spPr>
          <a:xfrm>
            <a:off x="4932363" y="1628775"/>
            <a:ext cx="3810000" cy="4635500"/>
          </a:xfrm>
          <a:prstGeom prst="rect">
            <a:avLst/>
          </a:prstGeom>
          <a:noFill/>
          <a:ln w="9525">
            <a:noFill/>
          </a:ln>
        </p:spPr>
      </p:pic>
      <p:sp>
        <p:nvSpPr>
          <p:cNvPr id="179204" name="Rectangle 3"/>
          <p:cNvSpPr>
            <a:spLocks noGrp="1"/>
          </p:cNvSpPr>
          <p:nvPr>
            <p:ph idx="1"/>
          </p:nvPr>
        </p:nvSpPr>
        <p:spPr>
          <a:xfrm>
            <a:off x="468313" y="1371600"/>
            <a:ext cx="4751387" cy="4505325"/>
          </a:xfrm>
        </p:spPr>
        <p:txBody>
          <a:bodyPr vert="horz" wrap="square" lIns="92075" tIns="46038" rIns="92075" bIns="46038" anchor="t" anchorCtr="0"/>
          <a:p>
            <a:pPr marL="514350" indent="-457200"/>
            <a:r>
              <a:rPr lang="zh-CN" altLang="en-US" sz="2400" b="1" dirty="0">
                <a:ea typeface="宋体" panose="02010600030101010101" pitchFamily="2" charset="-122"/>
              </a:rPr>
              <a:t>词法分析器生成工具的结构</a:t>
            </a:r>
            <a:endParaRPr lang="en-US" altLang="zh-CN" sz="2400" b="1" dirty="0">
              <a:ea typeface="宋体" panose="02010600030101010101" pitchFamily="2" charset="-122"/>
            </a:endParaRPr>
          </a:p>
          <a:p>
            <a:pPr marL="914400" lvl="1" indent="-457200"/>
            <a:r>
              <a:rPr lang="zh-CN" altLang="en-US" sz="2200" b="1" dirty="0">
                <a:ea typeface="宋体" panose="02010600030101010101" pitchFamily="2" charset="-122"/>
              </a:rPr>
              <a:t>右图给出了</a:t>
            </a:r>
            <a:r>
              <a:rPr lang="en-US" altLang="zh-CN" sz="2200" b="1" dirty="0">
                <a:ea typeface="宋体" panose="02010600030101010101" pitchFamily="2" charset="-122"/>
              </a:rPr>
              <a:t>Lex</a:t>
            </a:r>
            <a:r>
              <a:rPr lang="zh-CN" altLang="en-US" sz="2200" b="1" dirty="0">
                <a:ea typeface="宋体" panose="02010600030101010101" pitchFamily="2" charset="-122"/>
              </a:rPr>
              <a:t>的结构</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模拟自动机的程序</a:t>
            </a:r>
            <a:endParaRPr lang="en-US" altLang="zh-CN" sz="2000" b="1" dirty="0">
              <a:ea typeface="宋体" panose="02010600030101010101" pitchFamily="2" charset="-122"/>
            </a:endParaRPr>
          </a:p>
          <a:p>
            <a:pPr marL="1771650" lvl="3" indent="-457200"/>
            <a:r>
              <a:rPr lang="zh-CN" altLang="en-US" sz="1800" b="1" dirty="0">
                <a:ea typeface="宋体" panose="02010600030101010101" pitchFamily="2" charset="-122"/>
              </a:rPr>
              <a:t>可以是</a:t>
            </a:r>
            <a:r>
              <a:rPr lang="en-US" altLang="zh-CN" sz="1800" b="1" dirty="0">
                <a:ea typeface="宋体" panose="02010600030101010101" pitchFamily="2" charset="-122"/>
              </a:rPr>
              <a:t>NFA</a:t>
            </a:r>
            <a:endParaRPr lang="en-US" altLang="zh-CN" sz="1800" b="1" dirty="0">
              <a:ea typeface="宋体" panose="02010600030101010101" pitchFamily="2" charset="-122"/>
            </a:endParaRPr>
          </a:p>
          <a:p>
            <a:pPr marL="1771650" lvl="3" indent="-457200"/>
            <a:r>
              <a:rPr lang="zh-CN" altLang="en-US" sz="1800" b="1" dirty="0">
                <a:ea typeface="宋体" panose="02010600030101010101" pitchFamily="2" charset="-122"/>
              </a:rPr>
              <a:t>也可以是</a:t>
            </a:r>
            <a:r>
              <a:rPr lang="en-US" altLang="zh-CN" sz="1800" b="1" dirty="0">
                <a:ea typeface="宋体" panose="02010600030101010101" pitchFamily="2" charset="-122"/>
              </a:rPr>
              <a:t>DFA</a:t>
            </a:r>
            <a:r>
              <a:rPr lang="zh-CN" altLang="en-US" sz="1800" b="1" dirty="0">
                <a:ea typeface="宋体" panose="02010600030101010101" pitchFamily="2" charset="-122"/>
              </a:rPr>
              <a:t>（</a:t>
            </a:r>
            <a:r>
              <a:rPr lang="en-US" altLang="zh-CN" sz="1800" b="1" dirty="0">
                <a:ea typeface="宋体" panose="02010600030101010101" pitchFamily="2" charset="-122"/>
              </a:rPr>
              <a:t>Lex</a:t>
            </a:r>
            <a:r>
              <a:rPr lang="zh-CN" altLang="en-US" sz="1800" b="1" dirty="0">
                <a:ea typeface="宋体" panose="02010600030101010101" pitchFamily="2" charset="-122"/>
              </a:rPr>
              <a:t>的实现方法）</a:t>
            </a:r>
            <a:endParaRPr lang="en-US" altLang="zh-CN" sz="1800" b="1" dirty="0">
              <a:ea typeface="宋体" panose="02010600030101010101" pitchFamily="2" charset="-122"/>
            </a:endParaRPr>
          </a:p>
          <a:p>
            <a:pPr marL="1314450" lvl="2" indent="-457200"/>
            <a:r>
              <a:rPr lang="zh-CN" altLang="en-US" sz="2000" b="1" dirty="0">
                <a:ea typeface="宋体" panose="02010600030101010101" pitchFamily="2" charset="-122"/>
              </a:rPr>
              <a:t>表示自动机的一个转换表</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由</a:t>
            </a:r>
            <a:r>
              <a:rPr lang="en-US" altLang="zh-CN" sz="2000" b="1" dirty="0">
                <a:ea typeface="宋体" panose="02010600030101010101" pitchFamily="2" charset="-122"/>
              </a:rPr>
              <a:t>Lex</a:t>
            </a:r>
            <a:r>
              <a:rPr lang="zh-CN" altLang="en-US" sz="2000" b="1" dirty="0">
                <a:ea typeface="宋体" panose="02010600030101010101" pitchFamily="2" charset="-122"/>
              </a:rPr>
              <a:t>编译器从</a:t>
            </a:r>
            <a:r>
              <a:rPr lang="en-US" altLang="zh-CN" sz="2000" b="1" dirty="0">
                <a:ea typeface="宋体" panose="02010600030101010101" pitchFamily="2" charset="-122"/>
              </a:rPr>
              <a:t>Lex</a:t>
            </a:r>
            <a:r>
              <a:rPr lang="zh-CN" altLang="en-US" sz="2000" b="1" dirty="0">
                <a:ea typeface="宋体" panose="02010600030101010101" pitchFamily="2" charset="-122"/>
              </a:rPr>
              <a:t>程序直接拷贝到输出文件的函数（见</a:t>
            </a:r>
            <a:r>
              <a:rPr lang="en-US" altLang="zh-CN" sz="2000" b="1" dirty="0">
                <a:ea typeface="宋体" panose="02010600030101010101" pitchFamily="2" charset="-122"/>
              </a:rPr>
              <a:t>PPT</a:t>
            </a:r>
            <a:r>
              <a:rPr lang="zh-CN" altLang="en-US" sz="2000" b="1" dirty="0">
                <a:ea typeface="宋体" panose="02010600030101010101" pitchFamily="2" charset="-122"/>
              </a:rPr>
              <a:t>第</a:t>
            </a:r>
            <a:r>
              <a:rPr lang="en-US" altLang="zh-CN" sz="2000" b="1" dirty="0">
                <a:ea typeface="宋体" panose="02010600030101010101" pitchFamily="2" charset="-122"/>
              </a:rPr>
              <a:t>81~86</a:t>
            </a:r>
            <a:r>
              <a:rPr lang="zh-CN" altLang="en-US" sz="2000" b="1" dirty="0">
                <a:ea typeface="宋体" panose="02010600030101010101" pitchFamily="2" charset="-122"/>
              </a:rPr>
              <a:t>页的介绍）</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输入程序定义的动作</a:t>
            </a:r>
            <a:endParaRPr lang="en-US" altLang="zh-CN" sz="2000" b="1" dirty="0">
              <a:ea typeface="宋体" panose="02010600030101010101" pitchFamily="2" charset="-122"/>
            </a:endParaRPr>
          </a:p>
          <a:p>
            <a:pPr marL="1771650" lvl="3" indent="-457200"/>
            <a:r>
              <a:rPr lang="zh-CN" altLang="en-US" sz="1800" b="1" dirty="0">
                <a:ea typeface="宋体" panose="02010600030101010101" pitchFamily="2" charset="-122"/>
              </a:rPr>
              <a:t>动作是代码片段，根据需要给自动机模拟器调用</a:t>
            </a:r>
            <a:endParaRPr lang="en-US" altLang="zh-CN" sz="1800" b="1" dirty="0">
              <a:ea typeface="宋体" panose="02010600030101010101" pitchFamily="2" charset="-122"/>
            </a:endParaRP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词法分析器生成工具的设计（</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81251" name="Rectangle 3"/>
          <p:cNvSpPr>
            <a:spLocks noGrp="1"/>
          </p:cNvSpPr>
          <p:nvPr>
            <p:ph idx="1"/>
          </p:nvPr>
        </p:nvSpPr>
        <p:spPr>
          <a:xfrm>
            <a:off x="611188" y="1371600"/>
            <a:ext cx="8208962" cy="4800600"/>
          </a:xfrm>
        </p:spPr>
        <p:txBody>
          <a:bodyPr vert="horz" wrap="square" lIns="92075" tIns="46038" rIns="92075" bIns="46038" anchor="t" anchorCtr="0"/>
          <a:p>
            <a:pPr marL="514350" indent="-457200"/>
            <a:r>
              <a:rPr lang="zh-CN" altLang="en-US" sz="2400" b="1" dirty="0">
                <a:ea typeface="宋体" panose="02010600030101010101" pitchFamily="2" charset="-122"/>
              </a:rPr>
              <a:t>例子</a:t>
            </a:r>
            <a:endParaRPr lang="en-US" altLang="zh-CN" sz="2400" b="1" dirty="0">
              <a:ea typeface="宋体" panose="02010600030101010101" pitchFamily="2" charset="-122"/>
            </a:endParaRPr>
          </a:p>
          <a:p>
            <a:pPr marL="457200" lvl="1" indent="0">
              <a:buNone/>
            </a:pPr>
            <a:r>
              <a:rPr lang="en-US" altLang="zh-CN" sz="2000" b="1" dirty="0">
                <a:ea typeface="宋体" panose="02010600030101010101" pitchFamily="2" charset="-122"/>
              </a:rPr>
              <a:t>a		{</a:t>
            </a:r>
            <a:r>
              <a:rPr lang="zh-CN" altLang="en-US" sz="2000" b="1" dirty="0">
                <a:ea typeface="宋体" panose="02010600030101010101" pitchFamily="2" charset="-122"/>
              </a:rPr>
              <a:t> 模式</a:t>
            </a:r>
            <a:r>
              <a:rPr lang="en-US" altLang="zh-CN" sz="2000" b="1" i="1" dirty="0">
                <a:ea typeface="宋体" panose="02010600030101010101" pitchFamily="2" charset="-122"/>
              </a:rPr>
              <a:t>p</a:t>
            </a:r>
            <a:r>
              <a:rPr lang="en-US" altLang="zh-CN" sz="2000" b="1" i="1" baseline="-25000" dirty="0">
                <a:ea typeface="宋体" panose="02010600030101010101" pitchFamily="2" charset="-122"/>
              </a:rPr>
              <a:t>1</a:t>
            </a:r>
            <a:r>
              <a:rPr lang="zh-CN" altLang="en-US" sz="2000" b="1" dirty="0">
                <a:ea typeface="宋体" panose="02010600030101010101" pitchFamily="2" charset="-122"/>
              </a:rPr>
              <a:t>的动作</a:t>
            </a:r>
            <a:r>
              <a:rPr lang="en-US" altLang="zh-CN" sz="2000" b="1" i="1" dirty="0">
                <a:ea typeface="宋体" panose="02010600030101010101" pitchFamily="2" charset="-122"/>
              </a:rPr>
              <a:t>A</a:t>
            </a:r>
            <a:r>
              <a:rPr lang="en-US" altLang="zh-CN" sz="2000" b="1" i="1" baseline="-25000" dirty="0">
                <a:ea typeface="宋体" panose="02010600030101010101" pitchFamily="2" charset="-122"/>
              </a:rPr>
              <a:t>1</a:t>
            </a:r>
            <a:r>
              <a:rPr lang="en-US" altLang="zh-CN" sz="2000" b="1" dirty="0">
                <a:ea typeface="宋体" panose="02010600030101010101" pitchFamily="2" charset="-122"/>
              </a:rPr>
              <a:t>}</a:t>
            </a:r>
            <a:endParaRPr lang="en-US" altLang="zh-CN" sz="2000" b="1" dirty="0">
              <a:ea typeface="宋体" panose="02010600030101010101" pitchFamily="2" charset="-122"/>
            </a:endParaRPr>
          </a:p>
          <a:p>
            <a:pPr marL="457200" lvl="1" indent="0">
              <a:buNone/>
            </a:pPr>
            <a:r>
              <a:rPr lang="en-US" altLang="zh-CN" sz="2000" b="1" dirty="0">
                <a:ea typeface="宋体" panose="02010600030101010101" pitchFamily="2" charset="-122"/>
              </a:rPr>
              <a:t>abb		{</a:t>
            </a:r>
            <a:r>
              <a:rPr lang="zh-CN" altLang="en-US" sz="2000" b="1" dirty="0">
                <a:ea typeface="宋体" panose="02010600030101010101" pitchFamily="2" charset="-122"/>
              </a:rPr>
              <a:t> 模式</a:t>
            </a:r>
            <a:r>
              <a:rPr lang="en-US" altLang="zh-CN" sz="2000" b="1" i="1" dirty="0">
                <a:ea typeface="宋体" panose="02010600030101010101" pitchFamily="2" charset="-122"/>
              </a:rPr>
              <a:t>p</a:t>
            </a:r>
            <a:r>
              <a:rPr lang="en-US" altLang="zh-CN" sz="2000" b="1" i="1" baseline="-25000" dirty="0">
                <a:ea typeface="宋体" panose="02010600030101010101" pitchFamily="2" charset="-122"/>
              </a:rPr>
              <a:t>2</a:t>
            </a:r>
            <a:r>
              <a:rPr lang="zh-CN" altLang="en-US" sz="2000" b="1" dirty="0">
                <a:ea typeface="宋体" panose="02010600030101010101" pitchFamily="2" charset="-122"/>
              </a:rPr>
              <a:t>的动作</a:t>
            </a:r>
            <a:r>
              <a:rPr lang="en-US" altLang="zh-CN" sz="2000" b="1" i="1" dirty="0">
                <a:ea typeface="宋体" panose="02010600030101010101" pitchFamily="2" charset="-122"/>
              </a:rPr>
              <a:t>A</a:t>
            </a:r>
            <a:r>
              <a:rPr lang="en-US" altLang="zh-CN" sz="2000" b="1" i="1" baseline="-25000" dirty="0">
                <a:ea typeface="宋体" panose="02010600030101010101" pitchFamily="2" charset="-122"/>
              </a:rPr>
              <a:t>2</a:t>
            </a:r>
            <a:r>
              <a:rPr lang="en-US" altLang="zh-CN" sz="2000" b="1" dirty="0">
                <a:ea typeface="宋体" panose="02010600030101010101" pitchFamily="2" charset="-122"/>
              </a:rPr>
              <a:t>}</a:t>
            </a:r>
            <a:endParaRPr lang="en-US" altLang="zh-CN" sz="2000" b="1" dirty="0">
              <a:ea typeface="宋体" panose="02010600030101010101" pitchFamily="2" charset="-122"/>
            </a:endParaRPr>
          </a:p>
          <a:p>
            <a:pPr marL="457200" lvl="1" indent="0">
              <a:buNone/>
            </a:pPr>
            <a:r>
              <a:rPr lang="en-US" altLang="zh-CN" sz="2000" b="1" dirty="0">
                <a:ea typeface="宋体" panose="02010600030101010101" pitchFamily="2" charset="-122"/>
              </a:rPr>
              <a:t>a</a:t>
            </a:r>
            <a:r>
              <a:rPr lang="zh-CN" altLang="en-US" sz="2000" b="1" baseline="30000" dirty="0">
                <a:ea typeface="宋体" panose="02010600030101010101" pitchFamily="2" charset="-122"/>
              </a:rPr>
              <a:t>*</a:t>
            </a:r>
            <a:r>
              <a:rPr lang="en-US" altLang="zh-CN" sz="2000" b="1" dirty="0">
                <a:ea typeface="宋体" panose="02010600030101010101" pitchFamily="2" charset="-122"/>
              </a:rPr>
              <a:t>b</a:t>
            </a:r>
            <a:r>
              <a:rPr lang="en-US" altLang="zh-CN" sz="2000" b="1" baseline="30000" dirty="0">
                <a:ea typeface="宋体" panose="02010600030101010101" pitchFamily="2" charset="-122"/>
              </a:rPr>
              <a:t>+</a:t>
            </a:r>
            <a:r>
              <a:rPr lang="en-US" altLang="zh-CN" sz="2000" b="1" dirty="0">
                <a:ea typeface="宋体" panose="02010600030101010101" pitchFamily="2" charset="-122"/>
              </a:rPr>
              <a:t>		{</a:t>
            </a:r>
            <a:r>
              <a:rPr lang="zh-CN" altLang="en-US" sz="2000" b="1" dirty="0">
                <a:ea typeface="宋体" panose="02010600030101010101" pitchFamily="2" charset="-122"/>
              </a:rPr>
              <a:t> 模式</a:t>
            </a:r>
            <a:r>
              <a:rPr lang="en-US" altLang="zh-CN" sz="2000" b="1" i="1" dirty="0">
                <a:ea typeface="宋体" panose="02010600030101010101" pitchFamily="2" charset="-122"/>
              </a:rPr>
              <a:t>p</a:t>
            </a:r>
            <a:r>
              <a:rPr lang="en-US" altLang="zh-CN" sz="2000" b="1" i="1" baseline="-25000" dirty="0">
                <a:ea typeface="宋体" panose="02010600030101010101" pitchFamily="2" charset="-122"/>
              </a:rPr>
              <a:t>3</a:t>
            </a:r>
            <a:r>
              <a:rPr lang="zh-CN" altLang="en-US" sz="2000" b="1" dirty="0">
                <a:ea typeface="宋体" panose="02010600030101010101" pitchFamily="2" charset="-122"/>
              </a:rPr>
              <a:t>的动作</a:t>
            </a:r>
            <a:r>
              <a:rPr lang="en-US" altLang="zh-CN" sz="2000" b="1" i="1" dirty="0">
                <a:ea typeface="宋体" panose="02010600030101010101" pitchFamily="2" charset="-122"/>
              </a:rPr>
              <a:t>A</a:t>
            </a:r>
            <a:r>
              <a:rPr lang="en-US" altLang="zh-CN" sz="2000" b="1" i="1" baseline="-25000" dirty="0">
                <a:ea typeface="宋体" panose="02010600030101010101" pitchFamily="2" charset="-122"/>
              </a:rPr>
              <a:t>3</a:t>
            </a:r>
            <a:r>
              <a:rPr lang="en-US" altLang="zh-CN" sz="2000" b="1" dirty="0">
                <a:ea typeface="宋体" panose="02010600030101010101" pitchFamily="2" charset="-122"/>
              </a:rPr>
              <a:t>}</a:t>
            </a:r>
            <a:endParaRPr lang="en-US" altLang="zh-CN" sz="2000" b="1" dirty="0">
              <a:ea typeface="宋体" panose="02010600030101010101" pitchFamily="2" charset="-122"/>
            </a:endParaRPr>
          </a:p>
          <a:p>
            <a:pPr marL="457200" lvl="1" indent="0"/>
            <a:r>
              <a:rPr lang="zh-CN" altLang="en-US" sz="2200" b="1" dirty="0">
                <a:ea typeface="宋体" panose="02010600030101010101" pitchFamily="2" charset="-122"/>
              </a:rPr>
              <a:t>分别针对上述</a:t>
            </a:r>
            <a:r>
              <a:rPr lang="en-US" altLang="zh-CN" sz="2200" b="1" dirty="0">
                <a:ea typeface="宋体" panose="02010600030101010101" pitchFamily="2" charset="-122"/>
              </a:rPr>
              <a:t>3</a:t>
            </a:r>
            <a:r>
              <a:rPr lang="zh-CN" altLang="en-US" sz="2200" b="1" dirty="0">
                <a:ea typeface="宋体" panose="02010600030101010101" pitchFamily="2" charset="-122"/>
              </a:rPr>
              <a:t>个模式构建各自的</a:t>
            </a:r>
            <a:r>
              <a:rPr lang="en-US" altLang="zh-CN" sz="2200" b="1" dirty="0">
                <a:ea typeface="宋体" panose="02010600030101010101" pitchFamily="2" charset="-122"/>
              </a:rPr>
              <a:t>NFA</a:t>
            </a:r>
            <a:r>
              <a:rPr lang="zh-CN" altLang="en-US" sz="2200" b="1" dirty="0">
                <a:ea typeface="宋体" panose="02010600030101010101" pitchFamily="2" charset="-122"/>
              </a:rPr>
              <a:t>，然后通过</a:t>
            </a:r>
            <a:r>
              <a:rPr lang="el-GR" altLang="zh-CN" b="1" dirty="0">
                <a:ea typeface="宋体" panose="02010600030101010101" pitchFamily="2" charset="-122"/>
              </a:rPr>
              <a:t>ε</a:t>
            </a:r>
            <a:r>
              <a:rPr lang="zh-CN" altLang="en-US" b="1" dirty="0">
                <a:ea typeface="宋体" panose="02010600030101010101" pitchFamily="2" charset="-122"/>
              </a:rPr>
              <a:t>转换，组合成一个</a:t>
            </a:r>
            <a:r>
              <a:rPr lang="en-US" altLang="zh-CN" b="1" dirty="0">
                <a:ea typeface="宋体" panose="02010600030101010101" pitchFamily="2" charset="-122"/>
              </a:rPr>
              <a:t>NFA</a:t>
            </a:r>
            <a:r>
              <a:rPr lang="zh-CN" altLang="en-US" b="1" dirty="0">
                <a:ea typeface="宋体" panose="02010600030101010101" pitchFamily="2" charset="-122"/>
              </a:rPr>
              <a:t>，示意图如下</a:t>
            </a:r>
            <a:endParaRPr lang="en-US" altLang="zh-CN" sz="2200" b="1" dirty="0">
              <a:ea typeface="宋体" panose="02010600030101010101" pitchFamily="2" charset="-122"/>
            </a:endParaRPr>
          </a:p>
        </p:txBody>
      </p:sp>
      <p:pic>
        <p:nvPicPr>
          <p:cNvPr id="181252" name="Picture 2"/>
          <p:cNvPicPr>
            <a:picLocks noChangeAspect="1"/>
          </p:cNvPicPr>
          <p:nvPr/>
        </p:nvPicPr>
        <p:blipFill>
          <a:blip r:embed="rId1"/>
          <a:stretch>
            <a:fillRect/>
          </a:stretch>
        </p:blipFill>
        <p:spPr>
          <a:xfrm>
            <a:off x="528638" y="3860800"/>
            <a:ext cx="8086725" cy="2655888"/>
          </a:xfrm>
          <a:prstGeom prst="rect">
            <a:avLst/>
          </a:prstGeom>
          <a:noFill/>
          <a:ln w="9525">
            <a:noFill/>
          </a:ln>
        </p:spPr>
      </p:pic>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词法分析器生成工具的设计（</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83299" name="Rectangle 3"/>
          <p:cNvSpPr>
            <a:spLocks noGrp="1"/>
          </p:cNvSpPr>
          <p:nvPr>
            <p:ph idx="1"/>
          </p:nvPr>
        </p:nvSpPr>
        <p:spPr>
          <a:xfrm>
            <a:off x="611188" y="1371600"/>
            <a:ext cx="8208962" cy="4800600"/>
          </a:xfrm>
        </p:spPr>
        <p:txBody>
          <a:bodyPr vert="horz" wrap="square" lIns="92075" tIns="46038" rIns="92075" bIns="46038" anchor="t" anchorCtr="0"/>
          <a:p>
            <a:pPr marL="514350" indent="-457200"/>
            <a:r>
              <a:rPr lang="zh-CN" altLang="en-US" sz="2400" b="1" dirty="0">
                <a:ea typeface="宋体" panose="02010600030101010101" pitchFamily="2" charset="-122"/>
              </a:rPr>
              <a:t>前述例子的实践</a:t>
            </a:r>
            <a:endParaRPr lang="en-US" altLang="zh-CN" sz="2400" b="1" dirty="0">
              <a:ea typeface="宋体" panose="02010600030101010101" pitchFamily="2" charset="-122"/>
            </a:endParaRPr>
          </a:p>
        </p:txBody>
      </p:sp>
      <p:pic>
        <p:nvPicPr>
          <p:cNvPr id="183300" name="Picture 2"/>
          <p:cNvPicPr>
            <a:picLocks noChangeAspect="1"/>
          </p:cNvPicPr>
          <p:nvPr/>
        </p:nvPicPr>
        <p:blipFill>
          <a:blip r:embed="rId1"/>
          <a:stretch>
            <a:fillRect/>
          </a:stretch>
        </p:blipFill>
        <p:spPr>
          <a:xfrm>
            <a:off x="179388" y="1844675"/>
            <a:ext cx="4032250" cy="4598988"/>
          </a:xfrm>
          <a:prstGeom prst="rect">
            <a:avLst/>
          </a:prstGeom>
          <a:noFill/>
          <a:ln w="9525">
            <a:noFill/>
          </a:ln>
        </p:spPr>
      </p:pic>
      <p:pic>
        <p:nvPicPr>
          <p:cNvPr id="183301" name="Picture 2"/>
          <p:cNvPicPr>
            <a:picLocks noChangeAspect="1"/>
          </p:cNvPicPr>
          <p:nvPr/>
        </p:nvPicPr>
        <p:blipFill>
          <a:blip r:embed="rId2"/>
          <a:stretch>
            <a:fillRect/>
          </a:stretch>
        </p:blipFill>
        <p:spPr>
          <a:xfrm>
            <a:off x="4211638" y="1968500"/>
            <a:ext cx="4932362" cy="4351338"/>
          </a:xfrm>
          <a:prstGeom prst="rect">
            <a:avLst/>
          </a:prstGeom>
          <a:noFill/>
          <a:ln w="9525">
            <a:noFill/>
          </a:ln>
        </p:spPr>
      </p:pic>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词法分析器生成工具的设计（</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85347" name="Rectangle 3"/>
          <p:cNvSpPr>
            <a:spLocks noGrp="1"/>
          </p:cNvSpPr>
          <p:nvPr>
            <p:ph idx="1"/>
          </p:nvPr>
        </p:nvSpPr>
        <p:spPr>
          <a:xfrm>
            <a:off x="468313" y="1371600"/>
            <a:ext cx="8135937" cy="4800600"/>
          </a:xfrm>
        </p:spPr>
        <p:txBody>
          <a:bodyPr vert="horz" wrap="square" lIns="92075" tIns="46038" rIns="92075" bIns="46038" anchor="t" anchorCtr="0"/>
          <a:p>
            <a:pPr marL="514350" indent="-457200"/>
            <a:r>
              <a:rPr lang="zh-CN" altLang="en-US" sz="2400" b="1" dirty="0">
                <a:ea typeface="宋体" panose="02010600030101010101" pitchFamily="2" charset="-122"/>
              </a:rPr>
              <a:t>基于</a:t>
            </a:r>
            <a:r>
              <a:rPr lang="en-US" altLang="zh-CN" sz="2400" b="1" dirty="0">
                <a:ea typeface="宋体" panose="02010600030101010101" pitchFamily="2" charset="-122"/>
              </a:rPr>
              <a:t>NFA</a:t>
            </a:r>
            <a:r>
              <a:rPr lang="zh-CN" altLang="en-US" sz="2400" b="1" dirty="0">
                <a:ea typeface="宋体" panose="02010600030101010101" pitchFamily="2" charset="-122"/>
              </a:rPr>
              <a:t>的模式匹配</a:t>
            </a:r>
            <a:endParaRPr lang="en-US" altLang="zh-CN" sz="2400" b="1" dirty="0">
              <a:ea typeface="宋体" panose="02010600030101010101" pitchFamily="2" charset="-122"/>
            </a:endParaRPr>
          </a:p>
          <a:p>
            <a:pPr marL="914400" lvl="1" indent="-457200"/>
            <a:r>
              <a:rPr lang="zh-CN" altLang="en-US" sz="2200" b="1" dirty="0">
                <a:ea typeface="宋体" panose="02010600030101010101" pitchFamily="2" charset="-122"/>
              </a:rPr>
              <a:t>从</a:t>
            </a:r>
            <a:r>
              <a:rPr lang="en-US" altLang="zh-CN" sz="2200" i="1" dirty="0">
                <a:ea typeface="宋体" panose="02010600030101010101" pitchFamily="2" charset="-122"/>
              </a:rPr>
              <a:t>lexemeBegin</a:t>
            </a:r>
            <a:r>
              <a:rPr lang="zh-CN" altLang="en-US" sz="2200" b="1" dirty="0">
                <a:ea typeface="宋体" panose="02010600030101010101" pitchFamily="2" charset="-122"/>
              </a:rPr>
              <a:t>指针位置读输入</a:t>
            </a:r>
            <a:endParaRPr lang="en-US" altLang="zh-CN" sz="2000" b="1" dirty="0">
              <a:ea typeface="宋体" panose="02010600030101010101" pitchFamily="2" charset="-122"/>
            </a:endParaRPr>
          </a:p>
          <a:p>
            <a:pPr marL="914400" lvl="1" indent="-457200"/>
            <a:r>
              <a:rPr lang="zh-CN" altLang="en-US" sz="2200" b="1" dirty="0">
                <a:ea typeface="宋体" panose="02010600030101010101" pitchFamily="2" charset="-122"/>
              </a:rPr>
              <a:t>向前移动</a:t>
            </a:r>
            <a:r>
              <a:rPr lang="en-US" altLang="zh-CN" sz="2200" i="1" dirty="0">
                <a:ea typeface="宋体" panose="02010600030101010101" pitchFamily="2" charset="-122"/>
              </a:rPr>
              <a:t>forward</a:t>
            </a:r>
            <a:r>
              <a:rPr lang="zh-CN" altLang="en-US" sz="2200" b="1" dirty="0">
                <a:ea typeface="宋体" panose="02010600030101010101" pitchFamily="2" charset="-122"/>
              </a:rPr>
              <a:t>指针时，根据算法</a:t>
            </a:r>
            <a:r>
              <a:rPr lang="en-US" altLang="zh-CN" sz="2200" b="1" dirty="0">
                <a:ea typeface="宋体" panose="02010600030101010101" pitchFamily="2" charset="-122"/>
              </a:rPr>
              <a:t>3.22</a:t>
            </a:r>
            <a:r>
              <a:rPr lang="zh-CN" altLang="en-US" sz="2200" b="1" dirty="0">
                <a:ea typeface="宋体" panose="02010600030101010101" pitchFamily="2" charset="-122"/>
              </a:rPr>
              <a:t>（</a:t>
            </a:r>
            <a:r>
              <a:rPr lang="en-US" altLang="zh-CN" sz="2200" b="1" dirty="0">
                <a:ea typeface="宋体" panose="02010600030101010101" pitchFamily="2" charset="-122"/>
              </a:rPr>
              <a:t>PPT</a:t>
            </a:r>
            <a:r>
              <a:rPr lang="zh-CN" altLang="en-US" sz="2200" b="1" dirty="0">
                <a:ea typeface="宋体" panose="02010600030101010101" pitchFamily="2" charset="-122"/>
              </a:rPr>
              <a:t>第</a:t>
            </a:r>
            <a:r>
              <a:rPr lang="en-US" altLang="zh-CN" sz="2200" b="1" dirty="0">
                <a:ea typeface="宋体" panose="02010600030101010101" pitchFamily="2" charset="-122"/>
              </a:rPr>
              <a:t>63</a:t>
            </a:r>
            <a:r>
              <a:rPr lang="zh-CN" altLang="en-US" sz="2200" b="1" dirty="0">
                <a:ea typeface="宋体" panose="02010600030101010101" pitchFamily="2" charset="-122"/>
              </a:rPr>
              <a:t>页的图</a:t>
            </a:r>
            <a:r>
              <a:rPr lang="en-US" altLang="zh-CN" sz="2200" b="1" dirty="0">
                <a:ea typeface="宋体" panose="02010600030101010101" pitchFamily="2" charset="-122"/>
              </a:rPr>
              <a:t>3-37</a:t>
            </a:r>
            <a:r>
              <a:rPr lang="zh-CN" altLang="en-US" sz="2200" b="1" dirty="0">
                <a:ea typeface="宋体" panose="02010600030101010101" pitchFamily="2" charset="-122"/>
              </a:rPr>
              <a:t>是其实现的伪码）计算当前状态集合</a:t>
            </a:r>
            <a:endParaRPr lang="en-US" altLang="zh-CN" sz="2200" b="1" dirty="0">
              <a:ea typeface="宋体" panose="02010600030101010101" pitchFamily="2" charset="-122"/>
            </a:endParaRPr>
          </a:p>
          <a:p>
            <a:pPr marL="914400" lvl="1" indent="-457200"/>
            <a:r>
              <a:rPr lang="zh-CN" altLang="en-US" sz="2200" b="1" dirty="0">
                <a:ea typeface="宋体" panose="02010600030101010101" pitchFamily="2" charset="-122"/>
              </a:rPr>
              <a:t>最终会达到一个没有后续状态的输入点</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此时已没有</a:t>
            </a:r>
            <a:r>
              <a:rPr lang="en-US" altLang="zh-CN" sz="2000" b="1" dirty="0">
                <a:ea typeface="宋体" panose="02010600030101010101" pitchFamily="2" charset="-122"/>
              </a:rPr>
              <a:t>NFA</a:t>
            </a:r>
            <a:r>
              <a:rPr lang="zh-CN" altLang="en-US" sz="2000" b="1" dirty="0">
                <a:ea typeface="宋体" panose="02010600030101010101" pitchFamily="2" charset="-122"/>
              </a:rPr>
              <a:t>可以推进到某个接受状态的输入了</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需要从当前的最后状态回退，寻找包含一个或多个接受状态的集合，此时识别路径上的串就是识别出的当前输入中可以匹配的最长子串</a:t>
            </a:r>
            <a:endParaRPr lang="en-US" altLang="zh-CN" sz="2000" b="1" dirty="0">
              <a:ea typeface="宋体" panose="02010600030101010101" pitchFamily="2" charset="-122"/>
            </a:endParaRPr>
          </a:p>
          <a:p>
            <a:pPr marL="1771650" lvl="3" indent="-457200"/>
            <a:r>
              <a:rPr lang="zh-CN" altLang="en-US" sz="1800" b="1" dirty="0">
                <a:ea typeface="宋体" panose="02010600030101010101" pitchFamily="2" charset="-122"/>
              </a:rPr>
              <a:t>如果有多个接受状态，根据</a:t>
            </a:r>
            <a:r>
              <a:rPr lang="en-US" altLang="zh-CN" sz="1800" b="1" dirty="0">
                <a:ea typeface="宋体" panose="02010600030101010101" pitchFamily="2" charset="-122"/>
              </a:rPr>
              <a:t>Lex</a:t>
            </a:r>
            <a:r>
              <a:rPr lang="zh-CN" altLang="en-US" sz="1800" b="1" dirty="0">
                <a:ea typeface="宋体" panose="02010600030101010101" pitchFamily="2" charset="-122"/>
              </a:rPr>
              <a:t>指明的优先序确定匹配的模式</a:t>
            </a:r>
            <a:endParaRPr lang="en-US" altLang="zh-CN" sz="1800" b="1" dirty="0">
              <a:ea typeface="宋体" panose="02010600030101010101" pitchFamily="2" charset="-122"/>
            </a:endParaRPr>
          </a:p>
          <a:p>
            <a:pPr marL="1314450" lvl="2" indent="-457200"/>
            <a:r>
              <a:rPr lang="zh-CN" altLang="en-US" sz="2000" b="1" dirty="0">
                <a:ea typeface="宋体" panose="02010600030101010101" pitchFamily="2" charset="-122"/>
              </a:rPr>
              <a:t>调整</a:t>
            </a:r>
            <a:r>
              <a:rPr lang="en-US" altLang="zh-CN" sz="2000" i="1" dirty="0">
                <a:ea typeface="宋体" panose="02010600030101010101" pitchFamily="2" charset="-122"/>
              </a:rPr>
              <a:t>forward</a:t>
            </a:r>
            <a:r>
              <a:rPr lang="zh-CN" altLang="en-US" sz="2000" b="1" dirty="0">
                <a:ea typeface="宋体" panose="02010600030101010101" pitchFamily="2" charset="-122"/>
              </a:rPr>
              <a:t>指针至词素末尾，并执行与该模式关联的动作</a:t>
            </a:r>
            <a:endParaRPr lang="en-US" altLang="zh-CN" sz="2000" b="1" dirty="0">
              <a:ea typeface="宋体" panose="02010600030101010101" pitchFamily="2" charset="-122"/>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7394" name="Picture 2"/>
          <p:cNvPicPr>
            <a:picLocks noChangeAspect="1"/>
          </p:cNvPicPr>
          <p:nvPr/>
        </p:nvPicPr>
        <p:blipFill>
          <a:blip r:embed="rId1"/>
          <a:stretch>
            <a:fillRect/>
          </a:stretch>
        </p:blipFill>
        <p:spPr>
          <a:xfrm>
            <a:off x="0" y="1676400"/>
            <a:ext cx="8991600" cy="2757488"/>
          </a:xfrm>
          <a:prstGeom prst="rect">
            <a:avLst/>
          </a:prstGeom>
          <a:noFill/>
          <a:ln w="9525">
            <a:noFill/>
          </a:ln>
        </p:spPr>
      </p:pic>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词法分析器生成工具的设计（</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88419" name="Rectangle 3"/>
          <p:cNvSpPr>
            <a:spLocks noGrp="1"/>
          </p:cNvSpPr>
          <p:nvPr>
            <p:ph idx="1"/>
          </p:nvPr>
        </p:nvSpPr>
        <p:spPr>
          <a:xfrm>
            <a:off x="468313" y="1371600"/>
            <a:ext cx="8135937" cy="4800600"/>
          </a:xfrm>
        </p:spPr>
        <p:txBody>
          <a:bodyPr vert="horz" wrap="square" lIns="92075" tIns="46038" rIns="92075" bIns="46038" anchor="t" anchorCtr="0"/>
          <a:p>
            <a:pPr marL="514350" indent="-457200"/>
            <a:r>
              <a:rPr lang="zh-CN" altLang="en-US" sz="2400" b="1" dirty="0">
                <a:ea typeface="宋体" panose="02010600030101010101" pitchFamily="2" charset="-122"/>
              </a:rPr>
              <a:t>词法分析器使用的</a:t>
            </a:r>
            <a:r>
              <a:rPr lang="en-US" altLang="zh-CN" sz="2400" b="1" dirty="0">
                <a:ea typeface="宋体" panose="02010600030101010101" pitchFamily="2" charset="-122"/>
              </a:rPr>
              <a:t>DFA</a:t>
            </a:r>
            <a:endParaRPr lang="en-US" altLang="zh-CN" sz="2400" b="1" dirty="0">
              <a:ea typeface="宋体" panose="02010600030101010101" pitchFamily="2" charset="-122"/>
            </a:endParaRPr>
          </a:p>
          <a:p>
            <a:pPr marL="914400" lvl="1" indent="-457200"/>
            <a:r>
              <a:rPr lang="zh-CN" altLang="en-US" sz="2200" b="1" dirty="0">
                <a:ea typeface="宋体" panose="02010600030101010101" pitchFamily="2" charset="-122"/>
              </a:rPr>
              <a:t>利用子集构造法将</a:t>
            </a:r>
            <a:r>
              <a:rPr lang="en-US" altLang="zh-CN" sz="2200" b="1" dirty="0">
                <a:ea typeface="宋体" panose="02010600030101010101" pitchFamily="2" charset="-122"/>
              </a:rPr>
              <a:t>NFA</a:t>
            </a:r>
            <a:r>
              <a:rPr lang="zh-CN" altLang="en-US" sz="2200" b="1" dirty="0">
                <a:ea typeface="宋体" panose="02010600030101010101" pitchFamily="2" charset="-122"/>
              </a:rPr>
              <a:t>转换为</a:t>
            </a:r>
            <a:r>
              <a:rPr lang="en-US" altLang="zh-CN" sz="2200" b="1" dirty="0">
                <a:ea typeface="宋体" panose="02010600030101010101" pitchFamily="2" charset="-122"/>
              </a:rPr>
              <a:t>DFA</a:t>
            </a:r>
            <a:endParaRPr lang="en-US" altLang="zh-CN" sz="2000" b="1" dirty="0">
              <a:ea typeface="宋体" panose="02010600030101010101" pitchFamily="2" charset="-122"/>
            </a:endParaRPr>
          </a:p>
          <a:p>
            <a:pPr marL="914400" lvl="1" indent="-457200"/>
            <a:r>
              <a:rPr lang="zh-CN" altLang="en-US" sz="2200" b="1" dirty="0">
                <a:ea typeface="宋体" panose="02010600030101010101" pitchFamily="2" charset="-122"/>
              </a:rPr>
              <a:t>匹配的方法与</a:t>
            </a:r>
            <a:r>
              <a:rPr lang="en-US" altLang="zh-CN" sz="2200" b="1" dirty="0">
                <a:ea typeface="宋体" panose="02010600030101010101" pitchFamily="2" charset="-122"/>
              </a:rPr>
              <a:t>NFA</a:t>
            </a:r>
            <a:r>
              <a:rPr lang="zh-CN" altLang="en-US" sz="2200" b="1" dirty="0">
                <a:ea typeface="宋体" panose="02010600030101010101" pitchFamily="2" charset="-122"/>
              </a:rPr>
              <a:t>类似，但</a:t>
            </a:r>
            <a:r>
              <a:rPr lang="en-US" altLang="zh-CN" sz="2200" b="1" dirty="0">
                <a:ea typeface="宋体" panose="02010600030101010101" pitchFamily="2" charset="-122"/>
              </a:rPr>
              <a:t>DFA</a:t>
            </a:r>
            <a:r>
              <a:rPr lang="zh-CN" altLang="en-US" sz="2200" b="1" dirty="0">
                <a:ea typeface="宋体" panose="02010600030101010101" pitchFamily="2" charset="-122"/>
              </a:rPr>
              <a:t>的每次都是移动到一个</a:t>
            </a:r>
            <a:r>
              <a:rPr lang="en-US" altLang="zh-CN" sz="2200" b="1" dirty="0">
                <a:ea typeface="宋体" panose="02010600030101010101" pitchFamily="2" charset="-122"/>
              </a:rPr>
              <a:t>DFA</a:t>
            </a:r>
            <a:r>
              <a:rPr lang="zh-CN" altLang="en-US" sz="2200" b="1" dirty="0">
                <a:ea typeface="宋体" panose="02010600030101010101" pitchFamily="2" charset="-122"/>
              </a:rPr>
              <a:t>状态，而不是一个状态集合</a:t>
            </a:r>
            <a:endParaRPr lang="en-US" altLang="zh-CN" sz="2200" b="1" dirty="0">
              <a:ea typeface="宋体" panose="02010600030101010101" pitchFamily="2" charset="-122"/>
            </a:endParaRPr>
          </a:p>
          <a:p>
            <a:pPr marL="914400" lvl="1" indent="-457200"/>
            <a:r>
              <a:rPr lang="zh-CN" altLang="en-US" sz="2200" b="1" dirty="0">
                <a:ea typeface="宋体" panose="02010600030101010101" pitchFamily="2" charset="-122"/>
              </a:rPr>
              <a:t>最终会达到一个没有后续状态的输入点</a:t>
            </a:r>
            <a:endParaRPr lang="en-US" altLang="zh-CN" sz="2200" b="1" dirty="0">
              <a:ea typeface="宋体" panose="02010600030101010101" pitchFamily="2" charset="-122"/>
            </a:endParaRPr>
          </a:p>
          <a:p>
            <a:pPr marL="1314450" lvl="2" indent="-457200"/>
            <a:r>
              <a:rPr lang="zh-CN" altLang="en-US" sz="2000" b="1" dirty="0">
                <a:ea typeface="宋体" panose="02010600030101010101" pitchFamily="2" charset="-122"/>
              </a:rPr>
              <a:t>需要从当前的最后状态回退，寻找接受状态</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调整</a:t>
            </a:r>
            <a:r>
              <a:rPr lang="en-US" altLang="zh-CN" sz="2000" i="1" dirty="0">
                <a:ea typeface="宋体" panose="02010600030101010101" pitchFamily="2" charset="-122"/>
              </a:rPr>
              <a:t>forward</a:t>
            </a:r>
            <a:r>
              <a:rPr lang="zh-CN" altLang="en-US" sz="2000" b="1" dirty="0">
                <a:ea typeface="宋体" panose="02010600030101010101" pitchFamily="2" charset="-122"/>
              </a:rPr>
              <a:t>指针至词素末尾，并执行与该模式关联的动作</a:t>
            </a:r>
            <a:endParaRPr lang="en-US" altLang="zh-CN" sz="2000" b="1" dirty="0">
              <a:ea typeface="宋体" panose="02010600030101010101" pitchFamily="2" charset="-122"/>
            </a:endParaRPr>
          </a:p>
        </p:txBody>
      </p:sp>
      <p:pic>
        <p:nvPicPr>
          <p:cNvPr id="188420" name="Picture 2"/>
          <p:cNvPicPr>
            <a:picLocks noChangeAspect="1"/>
          </p:cNvPicPr>
          <p:nvPr/>
        </p:nvPicPr>
        <p:blipFill>
          <a:blip r:embed="rId1"/>
          <a:stretch>
            <a:fillRect/>
          </a:stretch>
        </p:blipFill>
        <p:spPr>
          <a:xfrm>
            <a:off x="179388" y="4149725"/>
            <a:ext cx="8763000" cy="2679700"/>
          </a:xfrm>
          <a:prstGeom prst="rect">
            <a:avLst/>
          </a:prstGeom>
          <a:noFill/>
          <a:ln w="9525">
            <a:noFill/>
          </a:ln>
        </p:spPr>
      </p:pic>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词法分析器生成工具的设计（</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90467" name="Rectangle 3"/>
          <p:cNvSpPr>
            <a:spLocks noGrp="1"/>
          </p:cNvSpPr>
          <p:nvPr>
            <p:ph idx="1"/>
          </p:nvPr>
        </p:nvSpPr>
        <p:spPr>
          <a:xfrm>
            <a:off x="468313" y="1371600"/>
            <a:ext cx="8135937" cy="4800600"/>
          </a:xfrm>
        </p:spPr>
        <p:txBody>
          <a:bodyPr vert="horz" wrap="square" lIns="92075" tIns="46038" rIns="92075" bIns="46038" anchor="t" anchorCtr="0"/>
          <a:p>
            <a:pPr marL="514350" indent="-457200"/>
            <a:r>
              <a:rPr lang="zh-CN" altLang="en-US" sz="2800" b="1" dirty="0">
                <a:ea typeface="宋体" panose="02010600030101010101" pitchFamily="2" charset="-122"/>
              </a:rPr>
              <a:t>实现向前看运算符</a:t>
            </a:r>
            <a:endParaRPr lang="en-US" altLang="zh-CN" sz="2800" b="1" dirty="0">
              <a:ea typeface="宋体" panose="02010600030101010101" pitchFamily="2" charset="-122"/>
            </a:endParaRPr>
          </a:p>
          <a:p>
            <a:pPr marL="914400" lvl="1" indent="-457200"/>
            <a:r>
              <a:rPr lang="en-US" altLang="zh-CN" b="1" dirty="0">
                <a:ea typeface="宋体" panose="02010600030101010101" pitchFamily="2" charset="-122"/>
              </a:rPr>
              <a:t>Lex</a:t>
            </a:r>
            <a:r>
              <a:rPr lang="zh-CN" altLang="en-US" b="1" dirty="0">
                <a:ea typeface="宋体" panose="02010600030101010101" pitchFamily="2" charset="-122"/>
              </a:rPr>
              <a:t>模式</a:t>
            </a:r>
            <a:r>
              <a:rPr lang="en-US" altLang="zh-CN" i="1" dirty="0">
                <a:ea typeface="宋体" panose="02010600030101010101" pitchFamily="2" charset="-122"/>
              </a:rPr>
              <a:t>r</a:t>
            </a:r>
            <a:r>
              <a:rPr lang="en-US" altLang="zh-CN" i="1" baseline="-25000" dirty="0">
                <a:ea typeface="宋体" panose="02010600030101010101" pitchFamily="2" charset="-122"/>
              </a:rPr>
              <a:t>1</a:t>
            </a:r>
            <a:r>
              <a:rPr lang="en-US" altLang="zh-CN" b="1" dirty="0">
                <a:ea typeface="宋体" panose="02010600030101010101" pitchFamily="2" charset="-122"/>
              </a:rPr>
              <a:t>/</a:t>
            </a:r>
            <a:r>
              <a:rPr lang="en-US" altLang="zh-CN" i="1" dirty="0">
                <a:ea typeface="宋体" panose="02010600030101010101" pitchFamily="2" charset="-122"/>
              </a:rPr>
              <a:t>r</a:t>
            </a:r>
            <a:r>
              <a:rPr lang="en-US" altLang="zh-CN" i="1" baseline="-25000" dirty="0">
                <a:ea typeface="宋体" panose="02010600030101010101" pitchFamily="2" charset="-122"/>
              </a:rPr>
              <a:t>2</a:t>
            </a:r>
            <a:r>
              <a:rPr lang="zh-CN" altLang="en-US" b="1" dirty="0">
                <a:ea typeface="宋体" panose="02010600030101010101" pitchFamily="2" charset="-122"/>
              </a:rPr>
              <a:t>中向前看符号“</a:t>
            </a:r>
            <a:r>
              <a:rPr lang="en-US" altLang="zh-CN" b="1" dirty="0">
                <a:ea typeface="宋体" panose="02010600030101010101" pitchFamily="2" charset="-122"/>
              </a:rPr>
              <a:t>/</a:t>
            </a:r>
            <a:r>
              <a:rPr lang="zh-CN" altLang="en-US" b="1" dirty="0">
                <a:ea typeface="宋体" panose="02010600030101010101" pitchFamily="2" charset="-122"/>
              </a:rPr>
              <a:t>”是必要的</a:t>
            </a:r>
            <a:endParaRPr lang="en-US" altLang="zh-CN" b="1" dirty="0">
              <a:ea typeface="宋体" panose="02010600030101010101" pitchFamily="2" charset="-122"/>
            </a:endParaRPr>
          </a:p>
          <a:p>
            <a:pPr marL="914400" lvl="1" indent="-457200"/>
            <a:r>
              <a:rPr lang="en-US" altLang="zh-CN" b="1" dirty="0">
                <a:ea typeface="宋体" panose="02010600030101010101" pitchFamily="2" charset="-122"/>
              </a:rPr>
              <a:t>NFA</a:t>
            </a:r>
            <a:r>
              <a:rPr lang="zh-CN" altLang="en-US" b="1" dirty="0">
                <a:ea typeface="宋体" panose="02010600030101010101" pitchFamily="2" charset="-122"/>
              </a:rPr>
              <a:t>对向前看运算符的实现</a:t>
            </a:r>
            <a:endParaRPr lang="en-US" altLang="zh-CN" b="1" dirty="0">
              <a:ea typeface="宋体" panose="02010600030101010101" pitchFamily="2" charset="-122"/>
            </a:endParaRPr>
          </a:p>
          <a:p>
            <a:pPr marL="1314450" lvl="2" indent="-457200"/>
            <a:r>
              <a:rPr lang="zh-CN" altLang="en-US" sz="2000" b="1" dirty="0">
                <a:ea typeface="宋体" panose="02010600030101010101" pitchFamily="2" charset="-122"/>
              </a:rPr>
              <a:t>将“</a:t>
            </a:r>
            <a:r>
              <a:rPr lang="en-US" altLang="zh-CN" sz="2000" b="1" dirty="0">
                <a:ea typeface="宋体" panose="02010600030101010101" pitchFamily="2" charset="-122"/>
              </a:rPr>
              <a:t>/</a:t>
            </a:r>
            <a:r>
              <a:rPr lang="zh-CN" altLang="en-US" sz="2000" b="1" dirty="0">
                <a:ea typeface="宋体" panose="02010600030101010101" pitchFamily="2" charset="-122"/>
              </a:rPr>
              <a:t>”看成是“</a:t>
            </a:r>
            <a:r>
              <a:rPr lang="el-GR" altLang="zh-CN" sz="2000" b="1" dirty="0">
                <a:ea typeface="宋体" panose="02010600030101010101" pitchFamily="2" charset="-122"/>
              </a:rPr>
              <a:t>ε</a:t>
            </a:r>
            <a:r>
              <a:rPr lang="zh-CN" altLang="en-US" sz="2000" b="1" dirty="0">
                <a:ea typeface="宋体" panose="02010600030101010101" pitchFamily="2" charset="-122"/>
              </a:rPr>
              <a:t>”</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在输入缓冲区中发现一个前缀</a:t>
            </a:r>
            <a:r>
              <a:rPr lang="en-US" altLang="zh-CN" sz="2000" b="1" dirty="0">
                <a:ea typeface="宋体" panose="02010600030101010101" pitchFamily="2" charset="-122"/>
              </a:rPr>
              <a:t>xy</a:t>
            </a:r>
            <a:r>
              <a:rPr lang="zh-CN" altLang="en-US" sz="2000" b="1" dirty="0">
                <a:ea typeface="宋体" panose="02010600030101010101" pitchFamily="2" charset="-122"/>
              </a:rPr>
              <a:t>与上述正则式匹配</a:t>
            </a:r>
            <a:endParaRPr lang="en-US" altLang="zh-CN" sz="2000" b="1" dirty="0">
              <a:ea typeface="宋体" panose="02010600030101010101" pitchFamily="2" charset="-122"/>
            </a:endParaRPr>
          </a:p>
          <a:p>
            <a:pPr marL="1314450" lvl="2" indent="-457200"/>
            <a:r>
              <a:rPr lang="zh-CN" altLang="en-US" sz="2000" b="1" dirty="0">
                <a:ea typeface="宋体" panose="02010600030101010101" pitchFamily="2" charset="-122"/>
              </a:rPr>
              <a:t>如何确定</a:t>
            </a:r>
            <a:r>
              <a:rPr lang="en-US" altLang="zh-CN" sz="2000" i="1" dirty="0">
                <a:ea typeface="宋体" panose="02010600030101010101" pitchFamily="2" charset="-122"/>
              </a:rPr>
              <a:t>r</a:t>
            </a:r>
            <a:r>
              <a:rPr lang="en-US" altLang="zh-CN" sz="2000" i="1" baseline="-25000" dirty="0">
                <a:ea typeface="宋体" panose="02010600030101010101" pitchFamily="2" charset="-122"/>
              </a:rPr>
              <a:t>1</a:t>
            </a:r>
            <a:r>
              <a:rPr lang="zh-CN" altLang="en-US" sz="2000" b="1" dirty="0">
                <a:ea typeface="宋体" panose="02010600030101010101" pitchFamily="2" charset="-122"/>
              </a:rPr>
              <a:t>匹配的词素末尾状态</a:t>
            </a:r>
            <a:r>
              <a:rPr lang="en-US" altLang="zh-CN" sz="2000" b="1" dirty="0">
                <a:ea typeface="宋体" panose="02010600030101010101" pitchFamily="2" charset="-122"/>
              </a:rPr>
              <a:t>s</a:t>
            </a:r>
            <a:r>
              <a:rPr lang="zh-CN" altLang="en-US" sz="2000" b="1" dirty="0">
                <a:ea typeface="宋体" panose="02010600030101010101" pitchFamily="2" charset="-122"/>
              </a:rPr>
              <a:t>？</a:t>
            </a:r>
            <a:endParaRPr lang="en-US" altLang="zh-CN" sz="2000" b="1" dirty="0">
              <a:ea typeface="宋体" panose="02010600030101010101" pitchFamily="2" charset="-122"/>
            </a:endParaRPr>
          </a:p>
          <a:p>
            <a:pPr marL="1771650" lvl="3" indent="-457200">
              <a:buFontTx/>
              <a:buAutoNum type="circleNumDbPlain"/>
            </a:pPr>
            <a:r>
              <a:rPr lang="en-US" altLang="zh-CN" sz="1800" b="1" dirty="0">
                <a:ea typeface="宋体" panose="02010600030101010101" pitchFamily="2" charset="-122"/>
              </a:rPr>
              <a:t>s</a:t>
            </a:r>
            <a:r>
              <a:rPr lang="zh-CN" altLang="en-US" sz="1800" b="1" dirty="0">
                <a:ea typeface="宋体" panose="02010600030101010101" pitchFamily="2" charset="-122"/>
              </a:rPr>
              <a:t>在（假想的）“</a:t>
            </a:r>
            <a:r>
              <a:rPr lang="en-US" altLang="zh-CN" sz="1800" b="1" dirty="0">
                <a:ea typeface="宋体" panose="02010600030101010101" pitchFamily="2" charset="-122"/>
              </a:rPr>
              <a:t>/</a:t>
            </a:r>
            <a:r>
              <a:rPr lang="zh-CN" altLang="en-US" sz="1800" b="1" dirty="0">
                <a:ea typeface="宋体" panose="02010600030101010101" pitchFamily="2" charset="-122"/>
              </a:rPr>
              <a:t>”上有一个</a:t>
            </a:r>
            <a:r>
              <a:rPr lang="el-GR" altLang="zh-CN" sz="1800" b="1" dirty="0">
                <a:ea typeface="宋体" panose="02010600030101010101" pitchFamily="2" charset="-122"/>
              </a:rPr>
              <a:t>ε</a:t>
            </a:r>
            <a:r>
              <a:rPr lang="zh-CN" altLang="en-US" sz="1800" b="1" dirty="0">
                <a:ea typeface="宋体" panose="02010600030101010101" pitchFamily="2" charset="-122"/>
              </a:rPr>
              <a:t>转换</a:t>
            </a:r>
            <a:endParaRPr lang="en-US" altLang="zh-CN" sz="1800" b="1" dirty="0">
              <a:ea typeface="宋体" panose="02010600030101010101" pitchFamily="2" charset="-122"/>
            </a:endParaRPr>
          </a:p>
          <a:p>
            <a:pPr marL="1771650" lvl="3" indent="-457200">
              <a:buFontTx/>
              <a:buAutoNum type="circleNumDbPlain"/>
            </a:pPr>
            <a:r>
              <a:rPr lang="zh-CN" altLang="en-US" sz="1800" b="1" dirty="0">
                <a:ea typeface="宋体" panose="02010600030101010101" pitchFamily="2" charset="-122"/>
              </a:rPr>
              <a:t>有一条从</a:t>
            </a:r>
            <a:r>
              <a:rPr lang="en-US" altLang="zh-CN" sz="1800" b="1" dirty="0">
                <a:ea typeface="宋体" panose="02010600030101010101" pitchFamily="2" charset="-122"/>
              </a:rPr>
              <a:t>NFA</a:t>
            </a:r>
            <a:r>
              <a:rPr lang="zh-CN" altLang="en-US" sz="1800" b="1" dirty="0">
                <a:ea typeface="宋体" panose="02010600030101010101" pitchFamily="2" charset="-122"/>
              </a:rPr>
              <a:t>的开始状态到状态</a:t>
            </a:r>
            <a:r>
              <a:rPr lang="en-US" altLang="zh-CN" sz="1800" b="1" dirty="0">
                <a:ea typeface="宋体" panose="02010600030101010101" pitchFamily="2" charset="-122"/>
              </a:rPr>
              <a:t>s</a:t>
            </a:r>
            <a:r>
              <a:rPr lang="zh-CN" altLang="en-US" sz="1800" b="1" dirty="0">
                <a:ea typeface="宋体" panose="02010600030101010101" pitchFamily="2" charset="-122"/>
              </a:rPr>
              <a:t>的路径，其上标号序列为</a:t>
            </a:r>
            <a:r>
              <a:rPr lang="en-US" altLang="zh-CN" sz="1800" b="1" dirty="0">
                <a:ea typeface="宋体" panose="02010600030101010101" pitchFamily="2" charset="-122"/>
              </a:rPr>
              <a:t>x</a:t>
            </a:r>
            <a:endParaRPr lang="en-US" altLang="zh-CN" sz="1800" b="1" dirty="0">
              <a:ea typeface="宋体" panose="02010600030101010101" pitchFamily="2" charset="-122"/>
            </a:endParaRPr>
          </a:p>
          <a:p>
            <a:pPr marL="1771650" lvl="3" indent="-457200">
              <a:buFontTx/>
              <a:buAutoNum type="circleNumDbPlain"/>
            </a:pPr>
            <a:r>
              <a:rPr lang="zh-CN" altLang="en-US" sz="1800" b="1" dirty="0">
                <a:ea typeface="宋体" panose="02010600030101010101" pitchFamily="2" charset="-122"/>
              </a:rPr>
              <a:t>有一条从</a:t>
            </a:r>
            <a:r>
              <a:rPr lang="en-US" altLang="zh-CN" sz="1800" b="1" dirty="0">
                <a:ea typeface="宋体" panose="02010600030101010101" pitchFamily="2" charset="-122"/>
              </a:rPr>
              <a:t>s</a:t>
            </a:r>
            <a:r>
              <a:rPr lang="zh-CN" altLang="en-US" sz="1800" b="1" dirty="0">
                <a:ea typeface="宋体" panose="02010600030101010101" pitchFamily="2" charset="-122"/>
              </a:rPr>
              <a:t>到</a:t>
            </a:r>
            <a:r>
              <a:rPr lang="en-US" altLang="zh-CN" sz="1800" b="1" dirty="0">
                <a:ea typeface="宋体" panose="02010600030101010101" pitchFamily="2" charset="-122"/>
              </a:rPr>
              <a:t>NFA</a:t>
            </a:r>
            <a:r>
              <a:rPr lang="zh-CN" altLang="en-US" sz="1800" b="1" dirty="0">
                <a:ea typeface="宋体" panose="02010600030101010101" pitchFamily="2" charset="-122"/>
              </a:rPr>
              <a:t>的某个接受状态的路径，其上标号序列为</a:t>
            </a:r>
            <a:r>
              <a:rPr lang="en-US" altLang="zh-CN" sz="1800" b="1" dirty="0">
                <a:ea typeface="宋体" panose="02010600030101010101" pitchFamily="2" charset="-122"/>
              </a:rPr>
              <a:t>y</a:t>
            </a:r>
            <a:endParaRPr lang="en-US" altLang="zh-CN" sz="1800" b="1" dirty="0">
              <a:ea typeface="宋体" panose="02010600030101010101" pitchFamily="2" charset="-122"/>
            </a:endParaRPr>
          </a:p>
          <a:p>
            <a:pPr marL="1771650" lvl="3" indent="-457200">
              <a:buFontTx/>
              <a:buAutoNum type="circleNumDbPlain"/>
            </a:pPr>
            <a:r>
              <a:rPr lang="zh-CN" altLang="en-US" sz="1800" b="1" dirty="0">
                <a:ea typeface="宋体" panose="02010600030101010101" pitchFamily="2" charset="-122"/>
              </a:rPr>
              <a:t>在所有满足前述条件</a:t>
            </a:r>
            <a:r>
              <a:rPr lang="en-US" altLang="zh-CN" sz="1800" b="1" dirty="0">
                <a:ea typeface="宋体" panose="02010600030101010101" pitchFamily="2" charset="-122"/>
              </a:rPr>
              <a:t>1~3</a:t>
            </a:r>
            <a:r>
              <a:rPr lang="zh-CN" altLang="en-US" sz="1800" b="1" dirty="0">
                <a:ea typeface="宋体" panose="02010600030101010101" pitchFamily="2" charset="-122"/>
              </a:rPr>
              <a:t>的</a:t>
            </a:r>
            <a:r>
              <a:rPr lang="en-US" altLang="zh-CN" sz="1800" b="1" dirty="0">
                <a:ea typeface="宋体" panose="02010600030101010101" pitchFamily="2" charset="-122"/>
              </a:rPr>
              <a:t>xy</a:t>
            </a:r>
            <a:r>
              <a:rPr lang="zh-CN" altLang="en-US" sz="1800" b="1" dirty="0">
                <a:ea typeface="宋体" panose="02010600030101010101" pitchFamily="2" charset="-122"/>
              </a:rPr>
              <a:t>中，</a:t>
            </a:r>
            <a:r>
              <a:rPr lang="en-US" altLang="zh-CN" sz="1800" b="1" dirty="0">
                <a:ea typeface="宋体" panose="02010600030101010101" pitchFamily="2" charset="-122"/>
              </a:rPr>
              <a:t>x</a:t>
            </a:r>
            <a:r>
              <a:rPr lang="zh-CN" altLang="en-US" sz="1800" b="1" dirty="0">
                <a:ea typeface="宋体" panose="02010600030101010101" pitchFamily="2" charset="-122"/>
              </a:rPr>
              <a:t>尽可能长</a:t>
            </a:r>
            <a:endParaRPr lang="en-US" altLang="zh-CN" sz="1800" b="1" dirty="0">
              <a:ea typeface="宋体" panose="02010600030101010101" pitchFamily="2" charset="-122"/>
            </a:endParaRPr>
          </a:p>
          <a:p>
            <a:pPr marL="1314450" lvl="2" indent="-457200"/>
            <a:r>
              <a:rPr lang="zh-CN" altLang="en-US" sz="2000" b="1" dirty="0">
                <a:ea typeface="宋体" panose="02010600030101010101" pitchFamily="2" charset="-122"/>
              </a:rPr>
              <a:t>如果在前述的状态</a:t>
            </a:r>
            <a:r>
              <a:rPr lang="en-US" altLang="zh-CN" sz="2000" b="1" dirty="0">
                <a:ea typeface="宋体" panose="02010600030101010101" pitchFamily="2" charset="-122"/>
              </a:rPr>
              <a:t>s</a:t>
            </a:r>
            <a:r>
              <a:rPr lang="zh-CN" altLang="en-US" sz="2000" b="1" dirty="0">
                <a:ea typeface="宋体" panose="02010600030101010101" pitchFamily="2" charset="-122"/>
              </a:rPr>
              <a:t>上有多个</a:t>
            </a:r>
            <a:r>
              <a:rPr lang="el-GR" altLang="zh-CN" sz="2000" b="1" dirty="0">
                <a:ea typeface="宋体" panose="02010600030101010101" pitchFamily="2" charset="-122"/>
              </a:rPr>
              <a:t>ε</a:t>
            </a:r>
            <a:r>
              <a:rPr lang="zh-CN" altLang="en-US" sz="2000" b="1" dirty="0">
                <a:ea typeface="宋体" panose="02010600030101010101" pitchFamily="2" charset="-122"/>
              </a:rPr>
              <a:t>转换，问题困难很多</a:t>
            </a:r>
            <a:endParaRPr lang="en-US" altLang="zh-CN" sz="2000" b="1" dirty="0">
              <a:ea typeface="宋体" panose="02010600030101010101" pitchFamily="2" charset="-122"/>
            </a:endParaRPr>
          </a:p>
        </p:txBody>
      </p:sp>
      <p:pic>
        <p:nvPicPr>
          <p:cNvPr id="190468" name="Picture 2"/>
          <p:cNvPicPr>
            <a:picLocks noChangeAspect="1"/>
          </p:cNvPicPr>
          <p:nvPr/>
        </p:nvPicPr>
        <p:blipFill>
          <a:blip r:embed="rId1"/>
          <a:stretch>
            <a:fillRect/>
          </a:stretch>
        </p:blipFill>
        <p:spPr>
          <a:xfrm>
            <a:off x="0" y="5589588"/>
            <a:ext cx="9144000" cy="1268412"/>
          </a:xfrm>
          <a:prstGeom prst="rect">
            <a:avLst/>
          </a:prstGeom>
          <a:noFill/>
          <a:ln w="9525">
            <a:noFill/>
          </a:ln>
        </p:spPr>
      </p:pic>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作业</a:t>
            </a:r>
            <a:endParaRPr lang="zh-CN" altLang="en-US" dirty="0">
              <a:latin typeface="Times New Roman" panose="02020603050405020304" pitchFamily="18" charset="0"/>
              <a:ea typeface="宋体" panose="02010600030101010101" pitchFamily="2" charset="-122"/>
            </a:endParaRPr>
          </a:p>
        </p:txBody>
      </p:sp>
      <p:sp>
        <p:nvSpPr>
          <p:cNvPr id="142339" name="Rectangle 3"/>
          <p:cNvSpPr>
            <a:spLocks noGrp="1" noChangeArrowheads="1"/>
          </p:cNvSpPr>
          <p:nvPr>
            <p:ph idx="1"/>
          </p:nvPr>
        </p:nvSpPr>
        <p:spPr>
          <a:xfrm>
            <a:off x="539750" y="1371600"/>
            <a:ext cx="8064500" cy="5029200"/>
          </a:xfrm>
        </p:spPr>
        <p:txBody>
          <a:bodyPr vert="horz" wrap="square" lIns="92075" tIns="46038" rIns="92075" bIns="46038" numCol="1" anchor="t" anchorCtr="0" compatLnSpc="1"/>
          <a:lstStyle/>
          <a:p>
            <a:pPr marL="495300" marR="0" lvl="0" indent="-495300" algn="l" defTabSz="914400" rtl="0" eaLnBrk="0" fontAlgn="base" latinLnBrk="0" hangingPunct="0">
              <a:lnSpc>
                <a:spcPct val="100000"/>
              </a:lnSpc>
              <a:spcBef>
                <a:spcPct val="20000"/>
              </a:spcBef>
              <a:spcAft>
                <a:spcPct val="0"/>
              </a:spcAft>
              <a:buClr>
                <a:srgbClr val="063DE8"/>
              </a:buClr>
              <a:buSzPct val="125000"/>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rPr>
              <a:t>第一次</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3.1.1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：根据</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3.1.2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节中的讨论，将下面的</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C++</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程序</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573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float	</a:t>
            </a:r>
            <a:r>
              <a:rPr kumimoji="0" lang="en-US" altLang="zh-CN" sz="1800" b="1" i="0" u="none" strike="noStrike" kern="0" cap="none" spc="0" normalizeH="0" baseline="0" noProof="0" dirty="0" err="1">
                <a:ln>
                  <a:noFill/>
                </a:ln>
                <a:solidFill>
                  <a:schemeClr val="tx1"/>
                </a:solidFill>
                <a:effectLst/>
                <a:uLnTx/>
                <a:uFillTx/>
                <a:latin typeface="+mn-lt"/>
                <a:ea typeface="宋体" panose="02010600030101010101" pitchFamily="2" charset="-122"/>
              </a:rPr>
              <a:t>limiteSquare</a:t>
            </a: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(x) { float x;</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573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 returns x-squared, but never more than 100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573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	return (x&lt;=-10.0 || x&gt;=10.0) ? 100:x*x;</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1257300" marR="0" lvl="3"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zh-CN" altLang="en-US" sz="18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18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400050" marR="0" lvl="1" indent="0" algn="l" defTabSz="914400" rtl="0" eaLnBrk="0" fontAlgn="base" latinLnBrk="0" hangingPunct="0">
              <a:lnSpc>
                <a:spcPct val="100000"/>
              </a:lnSpc>
              <a:spcBef>
                <a:spcPct val="20000"/>
              </a:spcBef>
              <a:spcAft>
                <a:spcPct val="0"/>
              </a:spcAft>
              <a:buClr>
                <a:srgbClr val="063DE8"/>
              </a:buClr>
              <a:buSzPct val="70000"/>
              <a:buFont typeface="Monotype Sorts" pitchFamily="2" charset="2"/>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划分成正确的词素序列。那些词素应该有相关联的词法值？应该具有什么值？</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3.3.2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：试描述下列正则表达式定义的语言（仅</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2</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5</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a|b</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3000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	2) ((</a:t>
            </a:r>
            <a:r>
              <a:rPr kumimoji="0" lang="el-GR"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ε</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|a)b</a:t>
            </a:r>
            <a:r>
              <a:rPr kumimoji="0" lang="en-US" altLang="zh-CN" sz="2000" b="1" i="0" u="none" strike="noStrike" kern="0" cap="none" spc="0" normalizeH="0" baseline="3000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30000" noProof="0" dirty="0">
                <a:ln>
                  <a:noFill/>
                </a:ln>
                <a:solidFill>
                  <a:schemeClr val="tx1"/>
                </a:solidFill>
                <a:effectLst/>
                <a:uLnTx/>
                <a:uFillTx/>
                <a:latin typeface="+mn-lt"/>
                <a:ea typeface="宋体" panose="02010600030101010101" pitchFamily="2" charset="-122"/>
              </a:rPr>
              <a:t> *</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5)(</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aa|bb</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3000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ab|ba</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aa|bb</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3000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ab|ba</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aa|bb</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30000" noProof="0" dirty="0">
                <a:ln>
                  <a:noFill/>
                </a:ln>
                <a:solidFill>
                  <a:schemeClr val="tx1"/>
                </a:solidFill>
                <a:effectLst/>
                <a:uLnTx/>
                <a:uFillTx/>
                <a:latin typeface="+mn-lt"/>
                <a:ea typeface="宋体" panose="02010600030101010101" pitchFamily="2" charset="-122"/>
              </a:rPr>
              <a:t> *</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30000" noProof="0" dirty="0">
                <a:ln>
                  <a:noFill/>
                </a:ln>
                <a:solidFill>
                  <a:schemeClr val="tx1"/>
                </a:solidFill>
                <a:effectLst/>
                <a:uLnTx/>
                <a:uFillTx/>
                <a:latin typeface="+mn-lt"/>
                <a:ea typeface="宋体" panose="02010600030101010101" pitchFamily="2" charset="-122"/>
              </a:rPr>
              <a:t> *</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95350" marR="0" lvl="1" indent="-495300" algn="l" defTabSz="914400" rtl="0" eaLnBrk="0" fontAlgn="base" latinLnBrk="0" hangingPunct="0">
              <a:lnSpc>
                <a:spcPct val="100000"/>
              </a:lnSpc>
              <a:spcBef>
                <a:spcPct val="20000"/>
              </a:spcBef>
              <a:spcAft>
                <a:spcPct val="0"/>
              </a:spcAft>
              <a:buClr>
                <a:srgbClr val="063DE8"/>
              </a:buClr>
              <a:buSzPct val="70000"/>
              <a:buFont typeface="Monotype Sorts" pitchFamily="2" charset="2"/>
              <a:buChar char="ä"/>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3.3.5</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：试写出下列语言的正则定义（仅</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8</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9</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1)</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包含</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5</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个元音的所有小写字母串，这些串中的元音按顺序出现</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8)</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所有由</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组成且不含子串</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abb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的串</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a:p>
            <a:pPr marL="800100" marR="0" lvl="2" indent="0" algn="l" defTabSz="914400" rtl="0" eaLnBrk="0" fontAlgn="base" latinLnBrk="0" hangingPunct="0">
              <a:lnSpc>
                <a:spcPct val="100000"/>
              </a:lnSpc>
              <a:spcBef>
                <a:spcPct val="20000"/>
              </a:spcBef>
              <a:spcAft>
                <a:spcPct val="0"/>
              </a:spcAft>
              <a:buClr>
                <a:srgbClr val="063DE8"/>
              </a:buClr>
              <a:buSzPct val="125000"/>
              <a:buFontTx/>
              <a:buNone/>
              <a:defRPr/>
            </a:pP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9)</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 所有由</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a</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和</a:t>
            </a:r>
            <a:r>
              <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rPr>
              <a:t>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组成且不含子序列</a:t>
            </a:r>
            <a:r>
              <a:rPr kumimoji="0" lang="en-US" altLang="zh-CN" sz="2000" b="1" i="0" u="none" strike="noStrike" kern="0" cap="none" spc="0" normalizeH="0" baseline="0" noProof="0" dirty="0" err="1">
                <a:ln>
                  <a:noFill/>
                </a:ln>
                <a:solidFill>
                  <a:schemeClr val="tx1"/>
                </a:solidFill>
                <a:effectLst/>
                <a:uLnTx/>
                <a:uFillTx/>
                <a:latin typeface="+mn-lt"/>
                <a:ea typeface="宋体" panose="02010600030101010101" pitchFamily="2" charset="-122"/>
              </a:rPr>
              <a:t>abb</a:t>
            </a:r>
            <a:r>
              <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rPr>
              <a:t>的串</a:t>
            </a:r>
            <a:endParaRPr kumimoji="0" lang="en-US" altLang="zh-CN" sz="2000" b="1" i="0" u="none" strike="noStrike" kern="0" cap="none" spc="0" normalizeH="0" baseline="0" noProof="0" dirty="0">
              <a:ln>
                <a:noFill/>
              </a:ln>
              <a:solidFill>
                <a:schemeClr val="tx1"/>
              </a:solidFill>
              <a:effectLst/>
              <a:uLnTx/>
              <a:uFillTx/>
              <a:latin typeface="+mn-lt"/>
              <a:ea typeface="宋体" panose="02010600030101010101" pitchFamily="2" charset="-122"/>
            </a:endParaRP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p:cNvSpPr>
          <p:nvPr>
            <p:ph type="title"/>
          </p:nvPr>
        </p:nvSpPr>
        <p:spPr/>
        <p:txBody>
          <a:bodyPr vert="horz" wrap="square" lIns="92075" tIns="46038" rIns="92075" bIns="46038" anchor="ctr" anchorCtr="0"/>
          <a:p>
            <a:r>
              <a:rPr lang="zh-CN" altLang="en-US" dirty="0">
                <a:latin typeface="Times New Roman" panose="02020603050405020304" pitchFamily="18" charset="0"/>
                <a:ea typeface="宋体" panose="02010600030101010101" pitchFamily="2" charset="-122"/>
              </a:rPr>
              <a:t>作业</a:t>
            </a:r>
            <a:endParaRPr lang="zh-CN" altLang="en-US" dirty="0">
              <a:latin typeface="Times New Roman" panose="02020603050405020304" pitchFamily="18" charset="0"/>
              <a:ea typeface="宋体" panose="02010600030101010101" pitchFamily="2" charset="-122"/>
            </a:endParaRPr>
          </a:p>
        </p:txBody>
      </p:sp>
      <p:sp>
        <p:nvSpPr>
          <p:cNvPr id="194563" name="Rectangle 3"/>
          <p:cNvSpPr>
            <a:spLocks noGrp="1"/>
          </p:cNvSpPr>
          <p:nvPr>
            <p:ph idx="1"/>
          </p:nvPr>
        </p:nvSpPr>
        <p:spPr>
          <a:xfrm>
            <a:off x="539750" y="1371600"/>
            <a:ext cx="8064500" cy="5029200"/>
          </a:xfrm>
        </p:spPr>
        <p:txBody>
          <a:bodyPr vert="horz" wrap="square" lIns="92075" tIns="46038" rIns="92075" bIns="46038" anchor="t" anchorCtr="0"/>
          <a:p>
            <a:pPr marL="495300" indent="-495300"/>
            <a:r>
              <a:rPr lang="zh-CN" altLang="en-US" sz="2400" b="1" dirty="0">
                <a:ea typeface="宋体" panose="02010600030101010101" pitchFamily="2" charset="-122"/>
              </a:rPr>
              <a:t>第二次</a:t>
            </a:r>
            <a:endParaRPr lang="en-US" altLang="zh-CN" sz="2400" b="1" dirty="0">
              <a:ea typeface="宋体" panose="02010600030101010101" pitchFamily="2" charset="-122"/>
            </a:endParaRPr>
          </a:p>
          <a:p>
            <a:pPr lvl="1" indent="-342900"/>
            <a:r>
              <a:rPr lang="zh-CN" altLang="en-US" sz="2000" b="1" dirty="0">
                <a:ea typeface="宋体" panose="02010600030101010101" pitchFamily="2" charset="-122"/>
              </a:rPr>
              <a:t>为下面的语言设计一个</a:t>
            </a:r>
            <a:r>
              <a:rPr lang="en-US" altLang="zh-CN" sz="2000" b="1" dirty="0">
                <a:ea typeface="宋体" panose="02010600030101010101" pitchFamily="2" charset="-122"/>
              </a:rPr>
              <a:t>DFA</a:t>
            </a:r>
            <a:r>
              <a:rPr lang="zh-CN" altLang="en-US" sz="2000" b="1" dirty="0">
                <a:ea typeface="宋体" panose="02010600030101010101" pitchFamily="2" charset="-122"/>
              </a:rPr>
              <a:t>或</a:t>
            </a:r>
            <a:r>
              <a:rPr lang="en-US" altLang="zh-CN" sz="2000" b="1" dirty="0">
                <a:ea typeface="宋体" panose="02010600030101010101" pitchFamily="2" charset="-122"/>
              </a:rPr>
              <a:t>NFA</a:t>
            </a:r>
            <a:endParaRPr lang="en-US" altLang="zh-CN" sz="2000" b="1" dirty="0">
              <a:ea typeface="宋体" panose="02010600030101010101" pitchFamily="2" charset="-122"/>
            </a:endParaRPr>
          </a:p>
          <a:p>
            <a:pPr marL="800100" lvl="2" indent="0">
              <a:buNone/>
            </a:pPr>
            <a:r>
              <a:rPr lang="en-US" altLang="zh-CN" sz="2000" b="1" dirty="0">
                <a:ea typeface="宋体" panose="02010600030101010101" pitchFamily="2" charset="-122"/>
              </a:rPr>
              <a:t>1)</a:t>
            </a:r>
            <a:r>
              <a:rPr lang="zh-CN" altLang="en-US" sz="2000" b="1" dirty="0">
                <a:ea typeface="宋体" panose="02010600030101010101" pitchFamily="2" charset="-122"/>
              </a:rPr>
              <a:t> 包含</a:t>
            </a:r>
            <a:r>
              <a:rPr lang="en-US" altLang="zh-CN" sz="2000" b="1" dirty="0">
                <a:ea typeface="宋体" panose="02010600030101010101" pitchFamily="2" charset="-122"/>
              </a:rPr>
              <a:t>5</a:t>
            </a:r>
            <a:r>
              <a:rPr lang="zh-CN" altLang="en-US" sz="2000" b="1" dirty="0">
                <a:ea typeface="宋体" panose="02010600030101010101" pitchFamily="2" charset="-122"/>
              </a:rPr>
              <a:t>个元音的所有小写字母串，这些串中的元音按顺序出现</a:t>
            </a:r>
            <a:endParaRPr lang="en-US" altLang="zh-CN" sz="2000" b="1" dirty="0">
              <a:ea typeface="宋体" panose="02010600030101010101" pitchFamily="2" charset="-122"/>
            </a:endParaRPr>
          </a:p>
          <a:p>
            <a:pPr marL="800100" lvl="2" indent="0">
              <a:buNone/>
            </a:pPr>
            <a:r>
              <a:rPr lang="en-US" altLang="zh-CN" sz="2000" b="1" dirty="0">
                <a:ea typeface="宋体" panose="02010600030101010101" pitchFamily="2" charset="-122"/>
              </a:rPr>
              <a:t>2)</a:t>
            </a:r>
            <a:r>
              <a:rPr lang="zh-CN" altLang="en-US" sz="2000" b="1" dirty="0">
                <a:ea typeface="宋体" panose="02010600030101010101" pitchFamily="2" charset="-122"/>
              </a:rPr>
              <a:t> 所有由</a:t>
            </a:r>
            <a:r>
              <a:rPr lang="en-US" altLang="zh-CN" sz="2000" b="1" dirty="0">
                <a:ea typeface="宋体" panose="02010600030101010101" pitchFamily="2" charset="-122"/>
              </a:rPr>
              <a:t>a</a:t>
            </a:r>
            <a:r>
              <a:rPr lang="zh-CN" altLang="en-US" sz="2000" b="1" dirty="0">
                <a:ea typeface="宋体" panose="02010600030101010101" pitchFamily="2" charset="-122"/>
              </a:rPr>
              <a:t>和</a:t>
            </a:r>
            <a:r>
              <a:rPr lang="en-US" altLang="zh-CN" sz="2000" b="1" dirty="0">
                <a:ea typeface="宋体" panose="02010600030101010101" pitchFamily="2" charset="-122"/>
              </a:rPr>
              <a:t>b</a:t>
            </a:r>
            <a:r>
              <a:rPr lang="zh-CN" altLang="en-US" sz="2000" b="1" dirty="0">
                <a:ea typeface="宋体" panose="02010600030101010101" pitchFamily="2" charset="-122"/>
              </a:rPr>
              <a:t>组成且不含子串</a:t>
            </a:r>
            <a:r>
              <a:rPr lang="en-US" altLang="zh-CN" sz="2000" b="1" dirty="0">
                <a:ea typeface="宋体" panose="02010600030101010101" pitchFamily="2" charset="-122"/>
              </a:rPr>
              <a:t>abb</a:t>
            </a:r>
            <a:r>
              <a:rPr lang="zh-CN" altLang="en-US" sz="2000" b="1" dirty="0">
                <a:ea typeface="宋体" panose="02010600030101010101" pitchFamily="2" charset="-122"/>
              </a:rPr>
              <a:t>的串</a:t>
            </a:r>
            <a:endParaRPr lang="en-US" altLang="zh-CN" sz="2000" b="1" dirty="0">
              <a:ea typeface="宋体" panose="02010600030101010101" pitchFamily="2" charset="-122"/>
            </a:endParaRPr>
          </a:p>
          <a:p>
            <a:pPr lvl="1" indent="-342900"/>
            <a:r>
              <a:rPr lang="zh-CN" altLang="en-US" sz="2000" b="1" dirty="0">
                <a:ea typeface="宋体" panose="02010600030101010101" pitchFamily="2" charset="-122"/>
              </a:rPr>
              <a:t>用算法</a:t>
            </a:r>
            <a:r>
              <a:rPr lang="en-US" altLang="zh-CN" sz="2000" b="1" dirty="0">
                <a:ea typeface="宋体" panose="02010600030101010101" pitchFamily="2" charset="-122"/>
              </a:rPr>
              <a:t>3.22</a:t>
            </a:r>
            <a:r>
              <a:rPr lang="zh-CN" altLang="en-US" sz="2000" b="1" dirty="0">
                <a:ea typeface="宋体" panose="02010600030101010101" pitchFamily="2" charset="-122"/>
              </a:rPr>
              <a:t>模拟图</a:t>
            </a:r>
            <a:r>
              <a:rPr lang="en-US" altLang="zh-CN" sz="2000" b="1" dirty="0">
                <a:ea typeface="宋体" panose="02010600030101010101" pitchFamily="2" charset="-122"/>
              </a:rPr>
              <a:t>3-29</a:t>
            </a:r>
            <a:r>
              <a:rPr lang="zh-CN" altLang="en-US" sz="2000" b="1" dirty="0">
                <a:ea typeface="宋体" panose="02010600030101010101" pitchFamily="2" charset="-122"/>
              </a:rPr>
              <a:t>中的</a:t>
            </a:r>
            <a:r>
              <a:rPr lang="en-US" altLang="zh-CN" sz="2000" b="1" dirty="0">
                <a:ea typeface="宋体" panose="02010600030101010101" pitchFamily="2" charset="-122"/>
              </a:rPr>
              <a:t>NFA</a:t>
            </a:r>
            <a:r>
              <a:rPr lang="zh-CN" altLang="en-US" sz="2000" b="1" dirty="0">
                <a:ea typeface="宋体" panose="02010600030101010101" pitchFamily="2" charset="-122"/>
              </a:rPr>
              <a:t>在处理输入</a:t>
            </a:r>
            <a:r>
              <a:rPr lang="en-US" altLang="zh-CN" sz="2000" b="1" dirty="0">
                <a:ea typeface="宋体" panose="02010600030101010101" pitchFamily="2" charset="-122"/>
              </a:rPr>
              <a:t>aabb</a:t>
            </a:r>
            <a:r>
              <a:rPr lang="zh-CN" altLang="en-US" sz="2000" b="1" dirty="0">
                <a:ea typeface="宋体" panose="02010600030101010101" pitchFamily="2" charset="-122"/>
              </a:rPr>
              <a:t>时的过程</a:t>
            </a:r>
            <a:endParaRPr lang="en-US" altLang="zh-CN" sz="2000" b="1" dirty="0">
              <a:ea typeface="宋体" panose="02010600030101010101" pitchFamily="2" charset="-122"/>
            </a:endParaRPr>
          </a:p>
          <a:p>
            <a:pPr lvl="1" indent="-342900"/>
            <a:r>
              <a:rPr lang="zh-CN" altLang="en-US" sz="2000" b="1" dirty="0">
                <a:ea typeface="宋体" panose="02010600030101010101" pitchFamily="2" charset="-122"/>
              </a:rPr>
              <a:t>使用算法</a:t>
            </a:r>
            <a:r>
              <a:rPr lang="en-US" altLang="zh-CN" sz="2000" b="1" dirty="0">
                <a:ea typeface="宋体" panose="02010600030101010101" pitchFamily="2" charset="-122"/>
              </a:rPr>
              <a:t>3.23</a:t>
            </a:r>
            <a:r>
              <a:rPr lang="zh-CN" altLang="en-US" sz="2000" b="1" dirty="0">
                <a:ea typeface="宋体" panose="02010600030101010101" pitchFamily="2" charset="-122"/>
              </a:rPr>
              <a:t>和</a:t>
            </a:r>
            <a:r>
              <a:rPr lang="en-US" altLang="zh-CN" sz="2000" b="1" dirty="0">
                <a:ea typeface="宋体" panose="02010600030101010101" pitchFamily="2" charset="-122"/>
              </a:rPr>
              <a:t>3.20</a:t>
            </a:r>
            <a:r>
              <a:rPr lang="zh-CN" altLang="en-US" sz="2000" b="1" dirty="0">
                <a:ea typeface="宋体" panose="02010600030101010101" pitchFamily="2" charset="-122"/>
              </a:rPr>
              <a:t>将下述正则表达式转换为</a:t>
            </a:r>
            <a:r>
              <a:rPr lang="en-US" altLang="zh-CN" sz="2000" b="1" dirty="0">
                <a:ea typeface="宋体" panose="02010600030101010101" pitchFamily="2" charset="-122"/>
              </a:rPr>
              <a:t>DFA</a:t>
            </a:r>
            <a:r>
              <a:rPr lang="zh-CN" altLang="en-US" sz="2000" b="1" dirty="0">
                <a:ea typeface="宋体" panose="02010600030101010101" pitchFamily="2" charset="-122"/>
              </a:rPr>
              <a:t>，并尝试化简该</a:t>
            </a:r>
            <a:r>
              <a:rPr lang="en-US" altLang="zh-CN" sz="2000" b="1" dirty="0">
                <a:ea typeface="宋体" panose="02010600030101010101" pitchFamily="2" charset="-122"/>
              </a:rPr>
              <a:t>DFA</a:t>
            </a:r>
            <a:endParaRPr lang="en-US" altLang="zh-CN" sz="2000" b="1" dirty="0">
              <a:ea typeface="宋体" panose="02010600030101010101" pitchFamily="2" charset="-122"/>
            </a:endParaRPr>
          </a:p>
          <a:p>
            <a:pPr marL="800100" lvl="2" indent="0">
              <a:buNone/>
            </a:pPr>
            <a:r>
              <a:rPr lang="en-US" altLang="zh-CN" sz="2000" b="1" dirty="0">
                <a:ea typeface="宋体" panose="02010600030101010101" pitchFamily="2" charset="-122"/>
              </a:rPr>
              <a:t>1) ((</a:t>
            </a:r>
            <a:r>
              <a:rPr lang="el-GR" altLang="zh-CN" sz="2000" b="1" dirty="0">
                <a:ea typeface="宋体" panose="02010600030101010101" pitchFamily="2" charset="-122"/>
              </a:rPr>
              <a:t>ε</a:t>
            </a:r>
            <a:r>
              <a:rPr lang="en-US" altLang="zh-CN" sz="2000" b="1" dirty="0">
                <a:ea typeface="宋体" panose="02010600030101010101" pitchFamily="2" charset="-122"/>
              </a:rPr>
              <a:t> | a)b</a:t>
            </a:r>
            <a:r>
              <a:rPr lang="en-US" altLang="zh-CN" sz="2000" b="1" baseline="30000" dirty="0">
                <a:ea typeface="宋体" panose="02010600030101010101" pitchFamily="2" charset="-122"/>
              </a:rPr>
              <a:t>*</a:t>
            </a:r>
            <a:r>
              <a:rPr lang="en-US" altLang="zh-CN" sz="2000" b="1" dirty="0">
                <a:ea typeface="宋体" panose="02010600030101010101" pitchFamily="2" charset="-122"/>
              </a:rPr>
              <a:t>)</a:t>
            </a:r>
            <a:r>
              <a:rPr lang="en-US" altLang="zh-CN" sz="2000" b="1" baseline="30000" dirty="0">
                <a:ea typeface="宋体" panose="02010600030101010101" pitchFamily="2" charset="-122"/>
              </a:rPr>
              <a:t> *</a:t>
            </a:r>
            <a:endParaRPr lang="en-US" altLang="zh-CN" sz="2000" b="1" dirty="0">
              <a:ea typeface="宋体" panose="02010600030101010101" pitchFamily="2" charset="-122"/>
            </a:endParaRPr>
          </a:p>
          <a:p>
            <a:pPr marL="800100" lvl="2" indent="0">
              <a:buNone/>
            </a:pPr>
            <a:r>
              <a:rPr lang="en-US" altLang="zh-CN" sz="2000" b="1" dirty="0">
                <a:ea typeface="宋体" panose="02010600030101010101" pitchFamily="2" charset="-122"/>
              </a:rPr>
              <a:t>2) ( a | b )</a:t>
            </a:r>
            <a:r>
              <a:rPr lang="en-US" altLang="zh-CN" sz="2000" b="1" baseline="30000" dirty="0">
                <a:ea typeface="宋体" panose="02010600030101010101" pitchFamily="2" charset="-122"/>
              </a:rPr>
              <a:t> *</a:t>
            </a:r>
            <a:r>
              <a:rPr lang="en-US" altLang="zh-CN" sz="2000" b="1" dirty="0">
                <a:ea typeface="宋体" panose="02010600030101010101" pitchFamily="2" charset="-122"/>
              </a:rPr>
              <a:t>abb(a | b )</a:t>
            </a:r>
            <a:r>
              <a:rPr lang="en-US" altLang="zh-CN" sz="2000" b="1" baseline="30000" dirty="0">
                <a:ea typeface="宋体" panose="02010600030101010101" pitchFamily="2" charset="-122"/>
              </a:rPr>
              <a:t> *</a:t>
            </a:r>
            <a:endParaRPr lang="en-US" altLang="zh-CN" sz="2000" b="1" dirty="0">
              <a:ea typeface="宋体" panose="02010600030101010101" pitchFamily="2" charset="-122"/>
            </a:endParaRPr>
          </a:p>
        </p:txBody>
      </p:sp>
    </p:spTree>
  </p:cSld>
  <p:clrMapOvr>
    <a:masterClrMapping/>
  </p:clrMapOvr>
  <p:transition spd="slow"/>
</p:sld>
</file>

<file path=ppt/theme/theme1.xml><?xml version="1.0" encoding="utf-8"?>
<a:theme xmlns:a="http://schemas.openxmlformats.org/drawingml/2006/main" name="ibm0325">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ibm0325">
      <a:majorFont>
        <a:latin typeface="Book Antiqu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22225" cap="flat" cmpd="sng" algn="ctr">
          <a:solidFill>
            <a:schemeClr val="tx1"/>
          </a:solidFill>
          <a:prstDash val="solid"/>
          <a:round/>
          <a:headEnd type="none" w="sm" len="sm"/>
          <a:tailEnd type="triangle" w="lg"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bm0325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bm0325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bm0325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bm0325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bm0325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bm0325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bm0325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E:\weldon\src\ipd_seminar\ibm0325.ppt</Template>
  <TotalTime>0</TotalTime>
  <Words>16474</Words>
  <Application>WPS 演示</Application>
  <PresentationFormat>全屏显示(4:3)</PresentationFormat>
  <Paragraphs>954</Paragraphs>
  <Slides>96</Slides>
  <Notes>92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27</vt:i4>
      </vt:variant>
      <vt:variant>
        <vt:lpstr>幻灯片标题</vt:lpstr>
      </vt:variant>
      <vt:variant>
        <vt:i4>96</vt:i4>
      </vt:variant>
    </vt:vector>
  </HeadingPairs>
  <TitlesOfParts>
    <vt:vector size="136" baseType="lpstr">
      <vt:lpstr>Arial</vt:lpstr>
      <vt:lpstr>宋体</vt:lpstr>
      <vt:lpstr>Wingdings</vt:lpstr>
      <vt:lpstr>Times New Roman</vt:lpstr>
      <vt:lpstr>Tahoma</vt:lpstr>
      <vt:lpstr>Book Antiqua</vt:lpstr>
      <vt:lpstr>Monotype Sorts</vt:lpstr>
      <vt:lpstr>Wingdings</vt:lpstr>
      <vt:lpstr>微软雅黑</vt:lpstr>
      <vt:lpstr>Arial Unicode MS</vt:lpstr>
      <vt:lpstr>黑体</vt:lpstr>
      <vt:lpstr>Arial Black</vt:lpstr>
      <vt:lpstr>ibm0325</vt:lpstr>
      <vt:lpstr>Visio.Drawing.11</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Visio.Drawing.4</vt:lpstr>
      <vt:lpstr>Visio.Drawing.6</vt:lpstr>
      <vt:lpstr>Visio.Drawing.6</vt:lpstr>
      <vt:lpstr>Visio.Drawing.4</vt:lpstr>
      <vt:lpstr>Visio.Drawing.6</vt:lpstr>
      <vt:lpstr>Visio.Drawing.6</vt:lpstr>
      <vt:lpstr>Visio.Drawing.6</vt:lpstr>
      <vt:lpstr>Visio.Drawing.6</vt:lpstr>
      <vt:lpstr>Visio.Drawing.6</vt:lpstr>
      <vt:lpstr>Visio.Drawing.6</vt:lpstr>
      <vt:lpstr>Visio.Drawing.4</vt:lpstr>
      <vt:lpstr>Visio.Drawing.4</vt:lpstr>
      <vt:lpstr>Visio.Drawing.4</vt:lpstr>
      <vt:lpstr>Visio.Drawing.4</vt:lpstr>
      <vt:lpstr>Visio.Drawing.6</vt:lpstr>
      <vt:lpstr>Visio.Drawing.6</vt:lpstr>
      <vt:lpstr>第三章 词法分析</vt:lpstr>
      <vt:lpstr>词法分析的作用（1）</vt:lpstr>
      <vt:lpstr>词法分析的作用（2）</vt:lpstr>
      <vt:lpstr>词法分析的作用（3）</vt:lpstr>
      <vt:lpstr>词法分析的作用（4）</vt:lpstr>
      <vt:lpstr>PowerPoint 演示文稿</vt:lpstr>
      <vt:lpstr>词法分析的作用（6）</vt:lpstr>
      <vt:lpstr>词法分析的作用（7）</vt:lpstr>
      <vt:lpstr>词法分析的作用（8）</vt:lpstr>
      <vt:lpstr>输入缓冲区（1）</vt:lpstr>
      <vt:lpstr>输入缓冲区（2）</vt:lpstr>
      <vt:lpstr>输入缓冲区（2）</vt:lpstr>
      <vt:lpstr>PowerPoint 演示文稿</vt:lpstr>
      <vt:lpstr>回顾 ——文法和语言的形式定义（1）</vt:lpstr>
      <vt:lpstr>回顾 ——文法和语言的形式定义（2）</vt:lpstr>
      <vt:lpstr>回顾 ——文法和语言的形式定义（3）</vt:lpstr>
      <vt:lpstr>词法分析的理论基础</vt:lpstr>
      <vt:lpstr>正则式（1）</vt:lpstr>
      <vt:lpstr>正则式（2）</vt:lpstr>
      <vt:lpstr>正则式（3）</vt:lpstr>
      <vt:lpstr>正则式（4）</vt:lpstr>
      <vt:lpstr>正则式（5）</vt:lpstr>
      <vt:lpstr>正则式（6）</vt:lpstr>
      <vt:lpstr>正则式（7）</vt:lpstr>
      <vt:lpstr>正则式（8）</vt:lpstr>
      <vt:lpstr>正则式（9）</vt:lpstr>
      <vt:lpstr>正则式（10）</vt:lpstr>
      <vt:lpstr>正则式（11）</vt:lpstr>
      <vt:lpstr>正则式（12）</vt:lpstr>
      <vt:lpstr>词法单元的识别（1）</vt:lpstr>
      <vt:lpstr>词法单元的识别（2）</vt:lpstr>
      <vt:lpstr>词法单元的识别（3）</vt:lpstr>
      <vt:lpstr>词法单元的识别（4）</vt:lpstr>
      <vt:lpstr>PowerPoint 演示文稿</vt:lpstr>
      <vt:lpstr>词法单元的识别（5）</vt:lpstr>
      <vt:lpstr>词法单元的识别（6）</vt:lpstr>
      <vt:lpstr>词法单元的识别（7）</vt:lpstr>
      <vt:lpstr>词法单元的识别（8）</vt:lpstr>
      <vt:lpstr>词法单元的识别（9）</vt:lpstr>
      <vt:lpstr>词法单元的识别（10）</vt:lpstr>
      <vt:lpstr>词法单元的识别（10）</vt:lpstr>
      <vt:lpstr>有穷状态自动机（1）</vt:lpstr>
      <vt:lpstr>有穷状态自动机（2）</vt:lpstr>
      <vt:lpstr>有穷状态自动机（3）</vt:lpstr>
      <vt:lpstr>有穷状态自动机（4）</vt:lpstr>
      <vt:lpstr>有穷状态自动机（5）</vt:lpstr>
      <vt:lpstr>有穷状态自动机（6）</vt:lpstr>
      <vt:lpstr>有穷状态自动机（7）</vt:lpstr>
      <vt:lpstr>有穷状态自动机（8）</vt:lpstr>
      <vt:lpstr>有穷状态自动机（9）</vt:lpstr>
      <vt:lpstr>有穷状态自动机（10）</vt:lpstr>
      <vt:lpstr>有穷状态自动机（11）</vt:lpstr>
      <vt:lpstr>有穷状态自动机（12）</vt:lpstr>
      <vt:lpstr>有穷状态自动机（13）</vt:lpstr>
      <vt:lpstr>有穷状态自动机（14）</vt:lpstr>
      <vt:lpstr>有穷状态自动机（15）</vt:lpstr>
      <vt:lpstr>有穷状态自动机（16）</vt:lpstr>
      <vt:lpstr>有穷状态自动机（17）</vt:lpstr>
      <vt:lpstr>有穷状态自动机（18）</vt:lpstr>
      <vt:lpstr>有穷状态自动机（19）</vt:lpstr>
      <vt:lpstr>有穷状态自动机（20）</vt:lpstr>
      <vt:lpstr>有穷状态自动机（21）</vt:lpstr>
      <vt:lpstr>NFA的模拟</vt:lpstr>
      <vt:lpstr>NFA模拟的效率（1）</vt:lpstr>
      <vt:lpstr>NFA模拟的效率（2）</vt:lpstr>
      <vt:lpstr>NFA模拟的效率（3）</vt:lpstr>
      <vt:lpstr>正则式与有穷状态自动机的等价（1）</vt:lpstr>
      <vt:lpstr>正则式与有穷状态自动机的等价（2）</vt:lpstr>
      <vt:lpstr>正则式与有穷状态自动机的等价（3）</vt:lpstr>
      <vt:lpstr>正则式与有穷状态自动机的等价（4）</vt:lpstr>
      <vt:lpstr>正则式与有穷状态自动机的等价（5）</vt:lpstr>
      <vt:lpstr>正则式与有穷状态自动机的等价（6）</vt:lpstr>
      <vt:lpstr>正则式与有穷状态自动机的等价（7）</vt:lpstr>
      <vt:lpstr>关于字符串处理算法效率的讨论</vt:lpstr>
      <vt:lpstr>DFA的化简（1）</vt:lpstr>
      <vt:lpstr>DFA的化简（2）</vt:lpstr>
      <vt:lpstr>DFA的化简（3）</vt:lpstr>
      <vt:lpstr>DFA的化简（4）</vt:lpstr>
      <vt:lpstr>DFA的化简（5）</vt:lpstr>
      <vt:lpstr>词法分析程序的自动生成工具（1）</vt:lpstr>
      <vt:lpstr>词法分析程序的自动生成工具（2）</vt:lpstr>
      <vt:lpstr>PowerPoint 演示文稿</vt:lpstr>
      <vt:lpstr>PowerPoint 演示文稿</vt:lpstr>
      <vt:lpstr>词法分析程序的自动生成工具（3）</vt:lpstr>
      <vt:lpstr>词法分析程序的自动生成工具（4）</vt:lpstr>
      <vt:lpstr>词法分析程序的自动生成工具（5）</vt:lpstr>
      <vt:lpstr>词法分析程序的自动生成工具（6）</vt:lpstr>
      <vt:lpstr>词法分析器生成工具的设计（1）</vt:lpstr>
      <vt:lpstr>词法分析器生成工具的设计（2）</vt:lpstr>
      <vt:lpstr>词法分析器生成工具的设计（3）</vt:lpstr>
      <vt:lpstr>词法分析器生成工具的设计（4）</vt:lpstr>
      <vt:lpstr>PowerPoint 演示文稿</vt:lpstr>
      <vt:lpstr>词法分析器生成工具的设计（5）</vt:lpstr>
      <vt:lpstr>词法分析器生成工具的设计（6）</vt:lpstr>
      <vt:lpstr>作业</vt:lpstr>
      <vt:lpstr>作业</vt:lpstr>
    </vt:vector>
  </TitlesOfParts>
  <Company>Micron Electronics,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Preferred Customer</dc:creator>
  <cp:lastModifiedBy>朱首赫</cp:lastModifiedBy>
  <cp:revision>520</cp:revision>
  <cp:lastPrinted>2000-08-04T00:01:00Z</cp:lastPrinted>
  <dcterms:created xsi:type="dcterms:W3CDTF">1999-10-09T18:48:00Z</dcterms:created>
  <dcterms:modified xsi:type="dcterms:W3CDTF">2026-03-19T03:52:46Z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25BDA77D70F546818B3BA473801EFA02_13</vt:lpwstr>
  </property>
  <property fmtid="{D5CDD505-2E9C-101B-9397-08002B2CF9AE}" pid="3" name="KSOProductBuildVer">
    <vt:lpwstr>2052-12.1.0.23542</vt:lpwstr>
  </property>
</Properties>
</file>