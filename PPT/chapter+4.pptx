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65"/>
  </p:handoutMasterIdLst>
  <p:sldIdLst>
    <p:sldId id="482" r:id="rId3"/>
    <p:sldId id="603" r:id="rId5"/>
    <p:sldId id="692" r:id="rId6"/>
    <p:sldId id="484" r:id="rId7"/>
    <p:sldId id="485" r:id="rId8"/>
    <p:sldId id="487" r:id="rId9"/>
    <p:sldId id="488" r:id="rId10"/>
    <p:sldId id="489" r:id="rId11"/>
    <p:sldId id="634" r:id="rId12"/>
    <p:sldId id="604" r:id="rId13"/>
    <p:sldId id="490" r:id="rId14"/>
    <p:sldId id="605" r:id="rId15"/>
    <p:sldId id="491" r:id="rId16"/>
    <p:sldId id="492" r:id="rId17"/>
    <p:sldId id="606" r:id="rId18"/>
    <p:sldId id="607" r:id="rId19"/>
    <p:sldId id="608" r:id="rId20"/>
    <p:sldId id="609" r:id="rId21"/>
    <p:sldId id="630" r:id="rId22"/>
    <p:sldId id="611" r:id="rId23"/>
    <p:sldId id="613" r:id="rId24"/>
    <p:sldId id="614" r:id="rId25"/>
    <p:sldId id="497" r:id="rId26"/>
    <p:sldId id="498" r:id="rId27"/>
    <p:sldId id="499" r:id="rId28"/>
    <p:sldId id="500" r:id="rId29"/>
    <p:sldId id="501" r:id="rId30"/>
    <p:sldId id="502" r:id="rId31"/>
    <p:sldId id="503" r:id="rId32"/>
    <p:sldId id="504" r:id="rId33"/>
    <p:sldId id="505" r:id="rId34"/>
    <p:sldId id="506" r:id="rId35"/>
    <p:sldId id="507" r:id="rId36"/>
    <p:sldId id="508" r:id="rId37"/>
    <p:sldId id="510" r:id="rId38"/>
    <p:sldId id="633" r:id="rId39"/>
    <p:sldId id="511" r:id="rId40"/>
    <p:sldId id="512" r:id="rId41"/>
    <p:sldId id="616" r:id="rId42"/>
    <p:sldId id="615" r:id="rId43"/>
    <p:sldId id="617" r:id="rId44"/>
    <p:sldId id="513" r:id="rId45"/>
    <p:sldId id="514" r:id="rId46"/>
    <p:sldId id="515" r:id="rId47"/>
    <p:sldId id="517" r:id="rId48"/>
    <p:sldId id="518" r:id="rId49"/>
    <p:sldId id="618" r:id="rId50"/>
    <p:sldId id="619" r:id="rId51"/>
    <p:sldId id="620" r:id="rId52"/>
    <p:sldId id="622" r:id="rId53"/>
    <p:sldId id="624" r:id="rId54"/>
    <p:sldId id="625" r:id="rId55"/>
    <p:sldId id="623" r:id="rId56"/>
    <p:sldId id="519" r:id="rId57"/>
    <p:sldId id="522" r:id="rId58"/>
    <p:sldId id="524" r:id="rId59"/>
    <p:sldId id="626" r:id="rId60"/>
    <p:sldId id="627" r:id="rId61"/>
    <p:sldId id="628" r:id="rId62"/>
    <p:sldId id="523" r:id="rId63"/>
    <p:sldId id="629" r:id="rId64"/>
    <p:sldId id="527" r:id="rId65"/>
    <p:sldId id="631" r:id="rId66"/>
    <p:sldId id="531" r:id="rId67"/>
    <p:sldId id="532" r:id="rId68"/>
    <p:sldId id="533" r:id="rId69"/>
    <p:sldId id="534" r:id="rId70"/>
    <p:sldId id="535" r:id="rId71"/>
    <p:sldId id="536" r:id="rId72"/>
    <p:sldId id="537" r:id="rId73"/>
    <p:sldId id="602" r:id="rId74"/>
    <p:sldId id="543" r:id="rId75"/>
    <p:sldId id="544" r:id="rId76"/>
    <p:sldId id="545" r:id="rId77"/>
    <p:sldId id="546" r:id="rId78"/>
    <p:sldId id="547" r:id="rId79"/>
    <p:sldId id="548" r:id="rId80"/>
    <p:sldId id="638" r:id="rId81"/>
    <p:sldId id="644" r:id="rId82"/>
    <p:sldId id="640" r:id="rId83"/>
    <p:sldId id="641" r:id="rId84"/>
    <p:sldId id="642" r:id="rId85"/>
    <p:sldId id="639" r:id="rId86"/>
    <p:sldId id="643" r:id="rId87"/>
    <p:sldId id="551" r:id="rId88"/>
    <p:sldId id="645" r:id="rId89"/>
    <p:sldId id="635" r:id="rId90"/>
    <p:sldId id="552" r:id="rId91"/>
    <p:sldId id="553" r:id="rId92"/>
    <p:sldId id="563" r:id="rId93"/>
    <p:sldId id="647" r:id="rId94"/>
    <p:sldId id="648" r:id="rId95"/>
    <p:sldId id="651" r:id="rId96"/>
    <p:sldId id="652" r:id="rId97"/>
    <p:sldId id="649" r:id="rId98"/>
    <p:sldId id="650" r:id="rId99"/>
    <p:sldId id="653" r:id="rId100"/>
    <p:sldId id="654" r:id="rId101"/>
    <p:sldId id="659" r:id="rId102"/>
    <p:sldId id="660" r:id="rId103"/>
    <p:sldId id="661" r:id="rId104"/>
    <p:sldId id="662" r:id="rId105"/>
    <p:sldId id="663" r:id="rId106"/>
    <p:sldId id="554" r:id="rId107"/>
    <p:sldId id="555" r:id="rId108"/>
    <p:sldId id="556" r:id="rId109"/>
    <p:sldId id="557" r:id="rId110"/>
    <p:sldId id="558" r:id="rId111"/>
    <p:sldId id="559" r:id="rId112"/>
    <p:sldId id="560" r:id="rId113"/>
    <p:sldId id="664" r:id="rId114"/>
    <p:sldId id="561" r:id="rId115"/>
    <p:sldId id="562" r:id="rId116"/>
    <p:sldId id="571" r:id="rId117"/>
    <p:sldId id="576" r:id="rId118"/>
    <p:sldId id="577" r:id="rId119"/>
    <p:sldId id="666" r:id="rId120"/>
    <p:sldId id="667" r:id="rId121"/>
    <p:sldId id="665" r:id="rId122"/>
    <p:sldId id="578" r:id="rId123"/>
    <p:sldId id="579" r:id="rId124"/>
    <p:sldId id="580" r:id="rId125"/>
    <p:sldId id="668" r:id="rId126"/>
    <p:sldId id="671" r:id="rId127"/>
    <p:sldId id="583" r:id="rId128"/>
    <p:sldId id="584" r:id="rId129"/>
    <p:sldId id="672" r:id="rId130"/>
    <p:sldId id="674" r:id="rId131"/>
    <p:sldId id="587" r:id="rId132"/>
    <p:sldId id="675" r:id="rId133"/>
    <p:sldId id="673" r:id="rId134"/>
    <p:sldId id="589" r:id="rId135"/>
    <p:sldId id="677" r:id="rId136"/>
    <p:sldId id="678" r:id="rId137"/>
    <p:sldId id="679" r:id="rId138"/>
    <p:sldId id="680" r:id="rId139"/>
    <p:sldId id="681" r:id="rId140"/>
    <p:sldId id="682" r:id="rId141"/>
    <p:sldId id="683" r:id="rId142"/>
    <p:sldId id="684" r:id="rId143"/>
    <p:sldId id="685" r:id="rId144"/>
    <p:sldId id="636" r:id="rId145"/>
    <p:sldId id="590" r:id="rId146"/>
    <p:sldId id="591" r:id="rId147"/>
    <p:sldId id="592" r:id="rId148"/>
    <p:sldId id="593" r:id="rId149"/>
    <p:sldId id="594" r:id="rId150"/>
    <p:sldId id="676" r:id="rId151"/>
    <p:sldId id="637" r:id="rId152"/>
    <p:sldId id="595" r:id="rId153"/>
    <p:sldId id="686" r:id="rId154"/>
    <p:sldId id="687" r:id="rId155"/>
    <p:sldId id="688" r:id="rId156"/>
    <p:sldId id="598" r:id="rId157"/>
    <p:sldId id="689" r:id="rId158"/>
    <p:sldId id="690" r:id="rId159"/>
    <p:sldId id="599" r:id="rId160"/>
    <p:sldId id="691" r:id="rId161"/>
    <p:sldId id="612" r:id="rId162"/>
    <p:sldId id="632" r:id="rId163"/>
    <p:sldId id="646" r:id="rId164"/>
  </p:sldIdLst>
  <p:sldSz cx="9144000" cy="6858000" type="screen4x3"/>
  <p:notesSz cx="6708775" cy="9774555"/>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44" userDrawn="1">
          <p15:clr>
            <a:srgbClr val="A4A3A4"/>
          </p15:clr>
        </p15:guide>
        <p15:guide id="2" pos="575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 ja" initials="f" lastIdx="13" clrIdx="4"/>
  <p:cmAuthor id="3" name="f" initials="f" lastIdx="2" clrIdx="1"/>
  <p:cmAuthor id="4" name="ja f" initials="j" lastIdx="3"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FFCC"/>
    <a:srgbClr val="CCFFCC"/>
    <a:srgbClr val="FFCCFF"/>
    <a:srgbClr val="CCFFFF"/>
    <a:srgbClr val="CCECFF"/>
    <a:srgbClr val="66FF66"/>
    <a:srgbClr val="FFFF99"/>
    <a:srgbClr val="063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8965"/>
    <p:restoredTop sz="67840"/>
  </p:normalViewPr>
  <p:slideViewPr>
    <p:cSldViewPr showGuides="1">
      <p:cViewPr varScale="1">
        <p:scale>
          <a:sx n="75" d="100"/>
          <a:sy n="75" d="100"/>
        </p:scale>
        <p:origin x="1668" y="36"/>
      </p:cViewPr>
      <p:guideLst>
        <p:guide orient="horz" pos="144"/>
        <p:guide pos="5759"/>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100" d="100"/>
        <a:sy n="100" d="100"/>
      </p:scale>
      <p:origin x="0" y="20034"/>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9" Type="http://schemas.openxmlformats.org/officeDocument/2006/relationships/commentAuthors" Target="commentAuthors.xml"/><Relationship Id="rId168" Type="http://schemas.openxmlformats.org/officeDocument/2006/relationships/tableStyles" Target="tableStyles.xml"/><Relationship Id="rId167" Type="http://schemas.openxmlformats.org/officeDocument/2006/relationships/viewProps" Target="viewProps.xml"/><Relationship Id="rId166" Type="http://schemas.openxmlformats.org/officeDocument/2006/relationships/presProps" Target="presProps.xml"/><Relationship Id="rId165" Type="http://schemas.openxmlformats.org/officeDocument/2006/relationships/handoutMaster" Target="handoutMasters/handoutMaster1.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image" Target="../media/image2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44.wmf"/><Relationship Id="rId4" Type="http://schemas.openxmlformats.org/officeDocument/2006/relationships/image" Target="../media/image48.wmf"/><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75.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31426" name="Rectangle 2"/>
          <p:cNvSpPr>
            <a:spLocks noGrp="1" noChangeArrowheads="1"/>
          </p:cNvSpPr>
          <p:nvPr>
            <p:ph type="hdr" sz="quarter"/>
          </p:nvPr>
        </p:nvSpPr>
        <p:spPr bwMode="auto">
          <a:xfrm>
            <a:off x="0" y="0"/>
            <a:ext cx="2924175" cy="482600"/>
          </a:xfrm>
          <a:prstGeom prst="rect">
            <a:avLst/>
          </a:prstGeom>
          <a:noFill/>
          <a:ln>
            <a:noFill/>
          </a:ln>
          <a:effectLst/>
        </p:spPr>
        <p:txBody>
          <a:bodyPr vert="horz" wrap="square" lIns="90014" tIns="45007" rIns="90014" bIns="45007" numCol="1" anchor="t" anchorCtr="0" compatLnSpc="1"/>
          <a:lstStyle>
            <a:lvl1pPr defTabSz="900430">
              <a:defRPr sz="1200"/>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7" name="Rectangle 3"/>
          <p:cNvSpPr>
            <a:spLocks noGrp="1" noChangeArrowheads="1"/>
          </p:cNvSpPr>
          <p:nvPr>
            <p:ph type="dt" sz="quarter" idx="1"/>
          </p:nvPr>
        </p:nvSpPr>
        <p:spPr bwMode="auto">
          <a:xfrm>
            <a:off x="3802063" y="0"/>
            <a:ext cx="2925763" cy="482600"/>
          </a:xfrm>
          <a:prstGeom prst="rect">
            <a:avLst/>
          </a:prstGeom>
          <a:noFill/>
          <a:ln>
            <a:noFill/>
          </a:ln>
          <a:effectLst/>
        </p:spPr>
        <p:txBody>
          <a:bodyPr vert="horz" wrap="square" lIns="90014" tIns="45007" rIns="90014" bIns="45007" numCol="1" anchor="t" anchorCtr="0" compatLnSpc="1"/>
          <a:lstStyle>
            <a:lvl1pPr algn="r" defTabSz="900430">
              <a:defRPr sz="1200"/>
            </a:lvl1pPr>
          </a:lstStyle>
          <a:p>
            <a:pPr marL="0" marR="0" lvl="0" indent="0" algn="r"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8" name="Rectangle 4"/>
          <p:cNvSpPr>
            <a:spLocks noGrp="1" noChangeArrowheads="1"/>
          </p:cNvSpPr>
          <p:nvPr>
            <p:ph type="ftr" sz="quarter" idx="2"/>
          </p:nvPr>
        </p:nvSpPr>
        <p:spPr bwMode="auto">
          <a:xfrm>
            <a:off x="0" y="9307513"/>
            <a:ext cx="2924175" cy="482600"/>
          </a:xfrm>
          <a:prstGeom prst="rect">
            <a:avLst/>
          </a:prstGeom>
          <a:noFill/>
          <a:ln>
            <a:noFill/>
          </a:ln>
          <a:effectLst/>
        </p:spPr>
        <p:txBody>
          <a:bodyPr vert="horz" wrap="square" lIns="90014" tIns="45007" rIns="90014" bIns="45007" numCol="1" anchor="b" anchorCtr="0" compatLnSpc="1"/>
          <a:lstStyle>
            <a:lvl1pPr defTabSz="900430">
              <a:defRPr sz="1200"/>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9" name="Rectangle 5"/>
          <p:cNvSpPr>
            <a:spLocks noGrp="1" noChangeArrowheads="1"/>
          </p:cNvSpPr>
          <p:nvPr>
            <p:ph type="sldNum" sz="quarter" idx="3"/>
          </p:nvPr>
        </p:nvSpPr>
        <p:spPr bwMode="auto">
          <a:xfrm>
            <a:off x="3802063" y="9307513"/>
            <a:ext cx="2925763" cy="482600"/>
          </a:xfrm>
          <a:prstGeom prst="rect">
            <a:avLst/>
          </a:prstGeom>
          <a:noFill/>
          <a:ln>
            <a:noFill/>
          </a:ln>
          <a:effectLst/>
        </p:spPr>
        <p:txBody>
          <a:bodyPr vert="horz" wrap="square" lIns="90014" tIns="45007" rIns="90014" bIns="45007" numCol="1" anchor="b" anchorCtr="0" compatLnSpc="1"/>
          <a:p>
            <a:pPr lvl="0" algn="r" defTabSz="900430">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8370" name="Rectangle 2"/>
          <p:cNvSpPr>
            <a:spLocks noGrp="1" noChangeArrowheads="1"/>
          </p:cNvSpPr>
          <p:nvPr>
            <p:ph type="hdr" sz="quarter"/>
          </p:nvPr>
        </p:nvSpPr>
        <p:spPr bwMode="auto">
          <a:xfrm>
            <a:off x="0" y="0"/>
            <a:ext cx="2906713" cy="488950"/>
          </a:xfrm>
          <a:prstGeom prst="rect">
            <a:avLst/>
          </a:prstGeom>
          <a:noFill/>
          <a:ln>
            <a:noFill/>
          </a:ln>
          <a:effectLst/>
        </p:spPr>
        <p:txBody>
          <a:bodyPr vert="horz" wrap="square" lIns="91534" tIns="45768" rIns="91534" bIns="45768" numCol="1" anchor="t" anchorCtr="0" compatLnSpc="1"/>
          <a:lstStyle>
            <a:lvl1pPr defTabSz="916305">
              <a:defRPr sz="1200"/>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1" name="Rectangle 3"/>
          <p:cNvSpPr>
            <a:spLocks noGrp="1" noChangeArrowheads="1"/>
          </p:cNvSpPr>
          <p:nvPr>
            <p:ph type="dt" idx="1"/>
          </p:nvPr>
        </p:nvSpPr>
        <p:spPr bwMode="auto">
          <a:xfrm>
            <a:off x="3802063" y="0"/>
            <a:ext cx="2906713" cy="488950"/>
          </a:xfrm>
          <a:prstGeom prst="rect">
            <a:avLst/>
          </a:prstGeom>
          <a:noFill/>
          <a:ln>
            <a:noFill/>
          </a:ln>
          <a:effectLst/>
        </p:spPr>
        <p:txBody>
          <a:bodyPr vert="horz" wrap="square" lIns="91534" tIns="45768" rIns="91534" bIns="45768" numCol="1" anchor="t" anchorCtr="0" compatLnSpc="1"/>
          <a:lstStyle>
            <a:lvl1pPr algn="r" defTabSz="916305">
              <a:defRPr sz="1200"/>
            </a:lvl1pPr>
          </a:lstStyle>
          <a:p>
            <a:pPr marL="0" marR="0" lvl="0" indent="0" algn="r"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2" name="Rectangle 4"/>
          <p:cNvSpPr>
            <a:spLocks noGrp="1" noRot="1" noChangeAspect="1" noTextEdit="1"/>
          </p:cNvSpPr>
          <p:nvPr>
            <p:ph type="sldImg" idx="2"/>
          </p:nvPr>
        </p:nvSpPr>
        <p:spPr>
          <a:xfrm>
            <a:off x="911225" y="733425"/>
            <a:ext cx="4887913" cy="3665538"/>
          </a:xfrm>
          <a:prstGeom prst="rect">
            <a:avLst/>
          </a:prstGeom>
          <a:noFill/>
          <a:ln w="9525" cap="flat" cmpd="sng">
            <a:solidFill>
              <a:srgbClr val="000000"/>
            </a:solidFill>
            <a:prstDash val="solid"/>
            <a:miter/>
            <a:headEnd type="none" w="med" len="med"/>
            <a:tailEnd type="none" w="med" len="med"/>
          </a:ln>
        </p:spPr>
      </p:sp>
      <p:sp>
        <p:nvSpPr>
          <p:cNvPr id="58373" name="Rectangle 5"/>
          <p:cNvSpPr>
            <a:spLocks noGrp="1" noChangeArrowheads="1"/>
          </p:cNvSpPr>
          <p:nvPr>
            <p:ph type="body" sz="quarter" idx="3"/>
          </p:nvPr>
        </p:nvSpPr>
        <p:spPr bwMode="auto">
          <a:xfrm>
            <a:off x="893763" y="4641850"/>
            <a:ext cx="4921250" cy="4398963"/>
          </a:xfrm>
          <a:prstGeom prst="rect">
            <a:avLst/>
          </a:prstGeom>
          <a:noFill/>
          <a:ln>
            <a:noFill/>
          </a:ln>
          <a:effectLst/>
        </p:spPr>
        <p:txBody>
          <a:bodyPr vert="horz" wrap="square" lIns="91534" tIns="45768" rIns="91534" bIns="45768" numCol="1" anchor="t" anchorCtr="0" compatLnSpc="1"/>
          <a:lstStyle/>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66725" marR="0" lvl="1"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35355" marR="0" lvl="2"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402080" marR="0" lvl="3"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70075" marR="0" lvl="4"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4" name="Rectangle 6"/>
          <p:cNvSpPr>
            <a:spLocks noGrp="1" noChangeArrowheads="1"/>
          </p:cNvSpPr>
          <p:nvPr>
            <p:ph type="ftr" sz="quarter" idx="4"/>
          </p:nvPr>
        </p:nvSpPr>
        <p:spPr bwMode="auto">
          <a:xfrm>
            <a:off x="0" y="9285288"/>
            <a:ext cx="2906713" cy="488950"/>
          </a:xfrm>
          <a:prstGeom prst="rect">
            <a:avLst/>
          </a:prstGeom>
          <a:noFill/>
          <a:ln>
            <a:noFill/>
          </a:ln>
          <a:effectLst/>
        </p:spPr>
        <p:txBody>
          <a:bodyPr vert="horz" wrap="square" lIns="91534" tIns="45768" rIns="91534" bIns="45768" numCol="1" anchor="b" anchorCtr="0" compatLnSpc="1"/>
          <a:lstStyle>
            <a:lvl1pPr defTabSz="916305">
              <a:defRPr sz="1200"/>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5" name="Rectangle 7"/>
          <p:cNvSpPr>
            <a:spLocks noGrp="1" noChangeArrowheads="1"/>
          </p:cNvSpPr>
          <p:nvPr>
            <p:ph type="sldNum" sz="quarter" idx="5"/>
          </p:nvPr>
        </p:nvSpPr>
        <p:spPr bwMode="auto">
          <a:xfrm>
            <a:off x="3802063" y="9285288"/>
            <a:ext cx="2906713" cy="488950"/>
          </a:xfrm>
          <a:prstGeom prst="rect">
            <a:avLst/>
          </a:prstGeom>
          <a:noFill/>
          <a:ln>
            <a:noFill/>
          </a:ln>
          <a:effectLst/>
        </p:spPr>
        <p:txBody>
          <a:bodyPr vert="horz" wrap="square" lIns="91534" tIns="45768" rIns="91534" bIns="45768" numCol="1" anchor="b" anchorCtr="0" compatLnSpc="1"/>
          <a:p>
            <a:pPr lvl="0" algn="r" defTabSz="916305">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6672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3535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402080"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7007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123" name="Rectangle 2"/>
          <p:cNvSpPr>
            <a:spLocks noGrp="1" noRot="1" noChangeAspect="1" noTextEdit="1"/>
          </p:cNvSpPr>
          <p:nvPr>
            <p:ph type="sldImg"/>
          </p:nvPr>
        </p:nvSpPr>
        <p:spPr/>
      </p:sp>
      <p:sp>
        <p:nvSpPr>
          <p:cNvPr id="512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171" name="Rectangle 2"/>
          <p:cNvSpPr>
            <a:spLocks noGrp="1" noRot="1" noChangeAspect="1" noTextEdit="1"/>
          </p:cNvSpPr>
          <p:nvPr>
            <p:ph type="sldImg"/>
          </p:nvPr>
        </p:nvSpPr>
        <p:spPr/>
      </p:sp>
      <p:sp>
        <p:nvSpPr>
          <p:cNvPr id="7172" name="Rectangle 3"/>
          <p:cNvSpPr>
            <a:spLocks noGrp="1"/>
          </p:cNvSpPr>
          <p:nvPr>
            <p:ph type="body" idx="1"/>
          </p:nvPr>
        </p:nvSpPr>
        <p:spPr>
          <a:ln w="22225"/>
        </p:spPr>
        <p:txBody>
          <a:bodyPr wrap="square" lIns="91534" tIns="45768" rIns="91534" bIns="45768" anchor="t" anchorCtr="0"/>
          <a:p>
            <a:pPr lvl="0"/>
            <a:r>
              <a:rPr lang="en-US" altLang="zh-CN" dirty="0">
                <a:ea typeface="宋体" panose="02010600030101010101" pitchFamily="2" charset="-122"/>
              </a:rPr>
              <a:t>1. </a:t>
            </a:r>
            <a:r>
              <a:rPr lang="zh-CN" altLang="zh-CN" dirty="0">
                <a:ea typeface="宋体" panose="02010600030101010101" pitchFamily="2" charset="-122"/>
              </a:rPr>
              <a:t>语法分析可以分为三类：通用的、自顶向下的和自底向上的，通用的语法分析方法（如</a:t>
            </a:r>
            <a:r>
              <a:rPr lang="en-US" altLang="zh-CN" dirty="0">
                <a:ea typeface="宋体" panose="02010600030101010101" pitchFamily="2" charset="-122"/>
              </a:rPr>
              <a:t>Cocke-Younger-Kasami</a:t>
            </a:r>
            <a:r>
              <a:rPr lang="zh-CN" altLang="zh-CN" dirty="0">
                <a:ea typeface="宋体" panose="02010600030101010101" pitchFamily="2" charset="-122"/>
              </a:rPr>
              <a:t>算法和</a:t>
            </a:r>
            <a:r>
              <a:rPr lang="en-US" altLang="zh-CN" dirty="0">
                <a:ea typeface="宋体" panose="02010600030101010101" pitchFamily="2" charset="-122"/>
              </a:rPr>
              <a:t>Earley</a:t>
            </a:r>
            <a:r>
              <a:rPr lang="zh-CN" altLang="zh-CN" dirty="0">
                <a:ea typeface="宋体" panose="02010600030101010101" pitchFamily="2" charset="-122"/>
              </a:rPr>
              <a:t>算法）可以处理任意文法，但效率低下。本课介绍后两类分析方法</a:t>
            </a:r>
            <a:endParaRPr lang="zh-CN" altLang="zh-CN" dirty="0">
              <a:ea typeface="宋体" panose="02010600030101010101" pitchFamily="2" charset="-122"/>
            </a:endParaRPr>
          </a:p>
          <a:p>
            <a:pPr lvl="0"/>
            <a:r>
              <a:rPr lang="en-US" altLang="zh-CN" dirty="0">
                <a:ea typeface="宋体" panose="02010600030101010101" pitchFamily="2" charset="-122"/>
              </a:rPr>
              <a:t>2. </a:t>
            </a:r>
            <a:r>
              <a:rPr lang="zh-CN" altLang="zh-CN" dirty="0">
                <a:ea typeface="宋体" panose="02010600030101010101" pitchFamily="2" charset="-122"/>
              </a:rPr>
              <a:t>自顶向下和自底向上的方法都只能处理某些文法子类，</a:t>
            </a:r>
            <a:r>
              <a:rPr lang="en-US" altLang="zh-CN" dirty="0">
                <a:ea typeface="宋体" panose="02010600030101010101" pitchFamily="2" charset="-122"/>
              </a:rPr>
              <a:t>LL</a:t>
            </a:r>
            <a:r>
              <a:rPr lang="zh-CN" altLang="zh-CN" dirty="0">
                <a:ea typeface="宋体" panose="02010600030101010101" pitchFamily="2" charset="-122"/>
              </a:rPr>
              <a:t>文法可以手工构造（复杂程度尚可接受），而</a:t>
            </a:r>
            <a:r>
              <a:rPr lang="en-US" altLang="zh-CN" dirty="0">
                <a:ea typeface="宋体" panose="02010600030101010101" pitchFamily="2" charset="-122"/>
              </a:rPr>
              <a:t>LR</a:t>
            </a:r>
            <a:r>
              <a:rPr lang="zh-CN" altLang="zh-CN" dirty="0">
                <a:ea typeface="宋体" panose="02010600030101010101" pitchFamily="2" charset="-122"/>
              </a:rPr>
              <a:t>文法基本上使用工具构造</a:t>
            </a:r>
            <a:endParaRPr lang="zh-CN" altLang="zh-CN" dirty="0">
              <a:ea typeface="宋体" panose="02010600030101010101" pitchFamily="2" charset="-122"/>
            </a:endParaRPr>
          </a:p>
          <a:p>
            <a:pPr lvl="0"/>
            <a:r>
              <a:rPr lang="en-US" altLang="zh-CN" dirty="0">
                <a:ea typeface="宋体" panose="02010600030101010101" pitchFamily="2" charset="-122"/>
              </a:rPr>
              <a:t>3. </a:t>
            </a:r>
            <a:r>
              <a:rPr lang="zh-CN" altLang="zh-CN" dirty="0">
                <a:ea typeface="宋体" panose="02010600030101010101" pitchFamily="2" charset="-122"/>
              </a:rPr>
              <a:t>语法分析可以和前端的一些工作一起完成</a:t>
            </a:r>
            <a:endParaRPr lang="zh-CN" altLang="zh-CN" dirty="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219" name="Rectangle 2"/>
          <p:cNvSpPr>
            <a:spLocks noGrp="1" noRot="1" noChangeAspect="1" noTextEdit="1"/>
          </p:cNvSpPr>
          <p:nvPr>
            <p:ph type="sldImg"/>
          </p:nvPr>
        </p:nvSpPr>
        <p:spPr/>
      </p:sp>
      <p:sp>
        <p:nvSpPr>
          <p:cNvPr id="922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267" name="Rectangle 2"/>
          <p:cNvSpPr>
            <a:spLocks noGrp="1" noRot="1" noChangeAspect="1" noTextEdit="1"/>
          </p:cNvSpPr>
          <p:nvPr>
            <p:ph type="sldImg"/>
          </p:nvPr>
        </p:nvSpPr>
        <p:spPr/>
      </p:sp>
      <p:sp>
        <p:nvSpPr>
          <p:cNvPr id="1126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315" name="Rectangle 2"/>
          <p:cNvSpPr>
            <a:spLocks noGrp="1" noRot="1" noChangeAspect="1" noTextEdit="1"/>
          </p:cNvSpPr>
          <p:nvPr>
            <p:ph type="sldImg"/>
          </p:nvPr>
        </p:nvSpPr>
        <p:spPr/>
      </p:sp>
      <p:sp>
        <p:nvSpPr>
          <p:cNvPr id="1331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363" name="Rectangle 2"/>
          <p:cNvSpPr>
            <a:spLocks noGrp="1" noRot="1" noChangeAspect="1" noTextEdit="1"/>
          </p:cNvSpPr>
          <p:nvPr>
            <p:ph type="sldImg"/>
          </p:nvPr>
        </p:nvSpPr>
        <p:spPr/>
      </p:sp>
      <p:sp>
        <p:nvSpPr>
          <p:cNvPr id="153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411" name="Rectangle 2"/>
          <p:cNvSpPr>
            <a:spLocks noGrp="1" noRot="1" noChangeAspect="1" noTextEdit="1"/>
          </p:cNvSpPr>
          <p:nvPr>
            <p:ph type="sldImg"/>
          </p:nvPr>
        </p:nvSpPr>
        <p:spPr/>
      </p:sp>
      <p:sp>
        <p:nvSpPr>
          <p:cNvPr id="174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459" name="Rectangle 2"/>
          <p:cNvSpPr>
            <a:spLocks noGrp="1" noRot="1" noChangeAspect="1" noTextEdit="1"/>
          </p:cNvSpPr>
          <p:nvPr>
            <p:ph type="sldImg"/>
          </p:nvPr>
        </p:nvSpPr>
        <p:spPr/>
      </p:sp>
      <p:sp>
        <p:nvSpPr>
          <p:cNvPr id="194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507" name="Rectangle 2"/>
          <p:cNvSpPr>
            <a:spLocks noGrp="1" noRot="1" noChangeAspect="1" noTextEdit="1"/>
          </p:cNvSpPr>
          <p:nvPr>
            <p:ph type="sldImg"/>
          </p:nvPr>
        </p:nvSpPr>
        <p:spPr/>
      </p:sp>
      <p:sp>
        <p:nvSpPr>
          <p:cNvPr id="2150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555" name="Rectangle 2"/>
          <p:cNvSpPr>
            <a:spLocks noGrp="1" noRot="1" noChangeAspect="1" noTextEdit="1"/>
          </p:cNvSpPr>
          <p:nvPr>
            <p:ph type="sldImg"/>
          </p:nvPr>
        </p:nvSpPr>
        <p:spPr/>
      </p:sp>
      <p:sp>
        <p:nvSpPr>
          <p:cNvPr id="23556" name="Rectangle 3"/>
          <p:cNvSpPr>
            <a:spLocks noGrp="1" noChangeArrowheads="1"/>
          </p:cNvSpPr>
          <p:nvPr>
            <p:ph type="body" idx="1"/>
          </p:nvPr>
        </p:nvSpPr>
        <p:spPr/>
        <p:txBody>
          <a:bodyPr wrap="square" lIns="91534" tIns="45768" rIns="91534" bIns="45768" numCol="1" anchor="t" anchorCtr="0" compatLnSpc="1"/>
          <a:lstStyle/>
          <a:p>
            <a:pPr marL="0" marR="0" lvl="0" indent="0" algn="l" defTabSz="955675"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课本上对符号作了一些约定</a:t>
            </a:r>
            <a:endPar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）终结符：</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）在字母表中排在前面的小写字母，如</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b</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c</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等；</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b</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）运算符，如</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、*等；</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c</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）标点符号；</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d</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）数字</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0</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9</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e</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）黑体字符串，如</a:t>
            </a:r>
            <a:r>
              <a:rPr kumimoji="0" lang="en-US" altLang="zh-CN" sz="1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id</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if</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等</a:t>
            </a:r>
            <a:endPar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2</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）非终结符：</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）在字母表中排在前面的大写字母，如</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B</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C</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等；</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b</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）字母</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S</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，一般表示开始符号；</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c</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）小写、斜体的名字，如</a:t>
            </a:r>
            <a:r>
              <a:rPr kumimoji="0" lang="en-US" altLang="zh-CN" sz="12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expr</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stmt</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等；</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d</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）讨论程序设计语言的构造时，大写字母可以表示代表程序结构的非终结符，如表达式文法中的</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E</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T</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F</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等</a:t>
            </a:r>
            <a:endPar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3</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）在字母表中排在后面的大写字母，如</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X</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Y</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Z</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等，表示文法符号，包括终结符和非终结符</a:t>
            </a:r>
            <a:endPar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4</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）在字母表中排在后面的小写字母，如</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u</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v</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z</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等，表示终结符号串</a:t>
            </a:r>
            <a:endPar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5</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）小写的希腊字母表示文法符号串</a:t>
            </a:r>
            <a:endPar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6</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）文法第一个产生式的左部文法符号是开始符号，除非另有说明</a:t>
            </a:r>
            <a:endPar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endPar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endPar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1200" b="0" i="0" u="none" strike="noStrike" kern="1200" cap="none" spc="0" normalizeH="0" baseline="0" noProof="0" dirty="0">
                <a:ln>
                  <a:noFill/>
                </a:ln>
                <a:solidFill>
                  <a:schemeClr val="tx1"/>
                </a:solidFill>
                <a:effectLst/>
                <a:uLnTx/>
                <a:uFillTx/>
                <a:latin typeface="+mn-ea"/>
                <a:ea typeface="+mn-ea"/>
                <a:cs typeface="+mn-cs"/>
              </a:rPr>
              <a:t>可以用</a:t>
            </a:r>
            <a:r>
              <a:rPr kumimoji="0" lang="en-US" altLang="zh-CN" sz="1200" b="0" i="0" u="none" strike="noStrike" kern="1200" cap="none" spc="0" normalizeH="0" baseline="0" noProof="0" dirty="0">
                <a:ln>
                  <a:noFill/>
                </a:ln>
                <a:solidFill>
                  <a:schemeClr val="tx1"/>
                </a:solidFill>
                <a:effectLst/>
                <a:uLnTx/>
                <a:uFillTx/>
                <a:latin typeface="+mn-ea"/>
                <a:ea typeface="+mn-ea"/>
                <a:cs typeface="+mn-cs"/>
              </a:rPr>
              <a:t>::=</a:t>
            </a:r>
            <a:r>
              <a:rPr kumimoji="0" lang="zh-CN" altLang="en-US" sz="1200" b="0" i="0" u="none" strike="noStrike" kern="1200" cap="none" spc="0" normalizeH="0" baseline="0" noProof="0" dirty="0">
                <a:ln>
                  <a:noFill/>
                </a:ln>
                <a:solidFill>
                  <a:schemeClr val="tx1"/>
                </a:solidFill>
                <a:effectLst/>
                <a:uLnTx/>
                <a:uFillTx/>
                <a:latin typeface="+mn-ea"/>
                <a:ea typeface="+mn-ea"/>
                <a:cs typeface="+mn-cs"/>
              </a:rPr>
              <a:t>代替</a:t>
            </a:r>
            <a:endParaRPr kumimoji="0" lang="en-US" altLang="zh-CN" sz="12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603" name="Rectangle 2"/>
          <p:cNvSpPr>
            <a:spLocks noGrp="1" noRot="1" noChangeAspect="1" noTextEdit="1"/>
          </p:cNvSpPr>
          <p:nvPr>
            <p:ph type="sldImg"/>
          </p:nvPr>
        </p:nvSpPr>
        <p:spPr/>
      </p:sp>
      <p:sp>
        <p:nvSpPr>
          <p:cNvPr id="2560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651" name="Rectangle 2"/>
          <p:cNvSpPr>
            <a:spLocks noGrp="1" noRot="1" noChangeAspect="1" noTextEdit="1"/>
          </p:cNvSpPr>
          <p:nvPr>
            <p:ph type="sldImg"/>
          </p:nvPr>
        </p:nvSpPr>
        <p:spPr/>
      </p:sp>
      <p:sp>
        <p:nvSpPr>
          <p:cNvPr id="2765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699" name="Rectangle 2"/>
          <p:cNvSpPr>
            <a:spLocks noGrp="1" noRot="1" noChangeAspect="1" noTextEdit="1"/>
          </p:cNvSpPr>
          <p:nvPr>
            <p:ph type="sldImg"/>
          </p:nvPr>
        </p:nvSpPr>
        <p:spPr/>
      </p:sp>
      <p:sp>
        <p:nvSpPr>
          <p:cNvPr id="2970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747" name="Rectangle 2"/>
          <p:cNvSpPr>
            <a:spLocks noGrp="1" noRot="1" noChangeAspect="1" noTextEdit="1"/>
          </p:cNvSpPr>
          <p:nvPr>
            <p:ph type="sldImg"/>
          </p:nvPr>
        </p:nvSpPr>
        <p:spPr/>
      </p:sp>
      <p:sp>
        <p:nvSpPr>
          <p:cNvPr id="3174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795" name="Rectangle 2"/>
          <p:cNvSpPr>
            <a:spLocks noGrp="1" noRot="1" noChangeAspect="1" noTextEdit="1"/>
          </p:cNvSpPr>
          <p:nvPr>
            <p:ph type="sldImg"/>
          </p:nvPr>
        </p:nvSpPr>
        <p:spPr/>
      </p:sp>
      <p:sp>
        <p:nvSpPr>
          <p:cNvPr id="3379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
        <p:nvSpPr>
          <p:cNvPr id="35844"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7891" name="Rectangle 2"/>
          <p:cNvSpPr>
            <a:spLocks noGrp="1" noRot="1" noChangeAspect="1" noTextEdit="1"/>
          </p:cNvSpPr>
          <p:nvPr>
            <p:ph type="sldImg"/>
          </p:nvPr>
        </p:nvSpPr>
        <p:spPr/>
      </p:sp>
      <p:sp>
        <p:nvSpPr>
          <p:cNvPr id="3789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9939" name="Rectangle 2"/>
          <p:cNvSpPr>
            <a:spLocks noGrp="1" noRot="1" noChangeAspect="1" noTextEdit="1"/>
          </p:cNvSpPr>
          <p:nvPr>
            <p:ph type="sldImg"/>
          </p:nvPr>
        </p:nvSpPr>
        <p:spPr/>
      </p:sp>
      <p:sp>
        <p:nvSpPr>
          <p:cNvPr id="3994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1987" name="Rectangle 2"/>
          <p:cNvSpPr>
            <a:spLocks noGrp="1" noRot="1" noChangeAspect="1" noTextEdit="1"/>
          </p:cNvSpPr>
          <p:nvPr>
            <p:ph type="sldImg"/>
          </p:nvPr>
        </p:nvSpPr>
        <p:spPr/>
      </p:sp>
      <p:sp>
        <p:nvSpPr>
          <p:cNvPr id="41988" name="Rectangle 3"/>
          <p:cNvSpPr>
            <a:spLocks noGrp="1"/>
          </p:cNvSpPr>
          <p:nvPr>
            <p:ph type="body" idx="1"/>
          </p:nvPr>
        </p:nvSpPr>
        <p:spPr>
          <a:ln w="22225"/>
        </p:spPr>
        <p:txBody>
          <a:bodyPr wrap="square" lIns="91534" tIns="45768" rIns="91534" bIns="45768" anchor="t" anchorCtr="0"/>
          <a:p>
            <a:pPr lvl="0"/>
            <a:r>
              <a:rPr lang="en-US" altLang="zh-CN" dirty="0">
                <a:ea typeface="宋体" panose="02010600030101010101" pitchFamily="2" charset="-122"/>
              </a:rPr>
              <a:t>x</a:t>
            </a:r>
            <a:r>
              <a:rPr lang="zh-CN" altLang="en-US" dirty="0">
                <a:ea typeface="宋体" panose="02010600030101010101" pitchFamily="2" charset="-122"/>
              </a:rPr>
              <a:t>和</a:t>
            </a:r>
            <a:r>
              <a:rPr lang="en-US" altLang="zh-CN" dirty="0">
                <a:ea typeface="宋体" panose="02010600030101010101" pitchFamily="2" charset="-122"/>
              </a:rPr>
              <a:t>y</a:t>
            </a:r>
            <a:r>
              <a:rPr lang="zh-CN" altLang="en-US" dirty="0">
                <a:ea typeface="宋体" panose="02010600030101010101" pitchFamily="2" charset="-122"/>
              </a:rPr>
              <a:t>都是句子，</a:t>
            </a:r>
            <a:r>
              <a:rPr lang="en-US" altLang="zh-CN" dirty="0">
                <a:ea typeface="宋体" panose="02010600030101010101" pitchFamily="2" charset="-122"/>
              </a:rPr>
              <a:t>(x)y</a:t>
            </a:r>
            <a:r>
              <a:rPr lang="zh-CN" altLang="en-US" dirty="0">
                <a:ea typeface="宋体" panose="02010600030101010101" pitchFamily="2" charset="-122"/>
              </a:rPr>
              <a:t>也是句子</a:t>
            </a:r>
            <a:endParaRPr lang="zh-CN" altLang="en-US" dirty="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4035" name="Rectangle 2"/>
          <p:cNvSpPr>
            <a:spLocks noGrp="1" noRot="1" noChangeAspect="1" noTextEdit="1"/>
          </p:cNvSpPr>
          <p:nvPr>
            <p:ph type="sldImg"/>
          </p:nvPr>
        </p:nvSpPr>
        <p:spPr/>
      </p:sp>
      <p:sp>
        <p:nvSpPr>
          <p:cNvPr id="44036"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正则式（</a:t>
            </a:r>
            <a:r>
              <a:rPr lang="en-US" altLang="zh-CN" dirty="0">
                <a:ea typeface="宋体" panose="02010600030101010101" pitchFamily="2" charset="-122"/>
              </a:rPr>
              <a:t>a|b</a:t>
            </a:r>
            <a:r>
              <a:rPr lang="zh-CN" altLang="en-US" dirty="0">
                <a:ea typeface="宋体" panose="02010600030101010101" pitchFamily="2" charset="-122"/>
              </a:rPr>
              <a:t>）*</a:t>
            </a:r>
            <a:r>
              <a:rPr lang="en-US" altLang="zh-CN" dirty="0">
                <a:ea typeface="宋体" panose="02010600030101010101" pitchFamily="2" charset="-122"/>
              </a:rPr>
              <a:t>abb</a:t>
            </a:r>
            <a:r>
              <a:rPr lang="zh-CN" altLang="en-US" dirty="0">
                <a:ea typeface="宋体" panose="02010600030101010101" pitchFamily="2" charset="-122"/>
              </a:rPr>
              <a:t>对应的</a:t>
            </a:r>
            <a:r>
              <a:rPr lang="en-US" altLang="zh-CN" dirty="0">
                <a:ea typeface="宋体" panose="02010600030101010101" pitchFamily="2" charset="-122"/>
              </a:rPr>
              <a:t>NFA</a:t>
            </a:r>
            <a:r>
              <a:rPr lang="zh-CN" altLang="en-US" dirty="0">
                <a:ea typeface="宋体" panose="02010600030101010101" pitchFamily="2" charset="-122"/>
              </a:rPr>
              <a:t>，可以转换成如下的文法：</a:t>
            </a:r>
            <a:endParaRPr lang="en-US" altLang="zh-CN" dirty="0">
              <a:ea typeface="宋体" panose="02010600030101010101" pitchFamily="2" charset="-122"/>
            </a:endParaRPr>
          </a:p>
          <a:p>
            <a:pPr lvl="0"/>
            <a:r>
              <a:rPr lang="en-US" altLang="zh-CN" b="1" dirty="0">
                <a:ea typeface="宋体" panose="02010600030101010101" pitchFamily="2" charset="-122"/>
              </a:rPr>
              <a:t>A</a:t>
            </a:r>
            <a:r>
              <a:rPr lang="en-US" altLang="zh-CN" b="1" baseline="-25000" dirty="0">
                <a:ea typeface="宋体" panose="02010600030101010101" pitchFamily="2" charset="-122"/>
              </a:rPr>
              <a:t>0 </a:t>
            </a:r>
            <a:r>
              <a:rPr lang="en-US" altLang="zh-CN" b="1" dirty="0">
                <a:latin typeface="宋体" panose="02010600030101010101" pitchFamily="2" charset="-122"/>
                <a:ea typeface="宋体" panose="02010600030101010101" pitchFamily="2" charset="-122"/>
              </a:rPr>
              <a:t>→a</a:t>
            </a:r>
            <a:r>
              <a:rPr lang="en-US" altLang="zh-CN" b="1" dirty="0">
                <a:ea typeface="宋体" panose="02010600030101010101" pitchFamily="2" charset="-122"/>
              </a:rPr>
              <a:t>A</a:t>
            </a:r>
            <a:r>
              <a:rPr lang="en-US" altLang="zh-CN" b="1" baseline="-25000" dirty="0">
                <a:ea typeface="宋体" panose="02010600030101010101" pitchFamily="2" charset="-122"/>
              </a:rPr>
              <a:t>0</a:t>
            </a:r>
            <a:r>
              <a:rPr lang="en-US" altLang="zh-CN" b="1" dirty="0">
                <a:latin typeface="宋体" panose="02010600030101010101" pitchFamily="2" charset="-122"/>
                <a:ea typeface="宋体" panose="02010600030101010101" pitchFamily="2" charset="-122"/>
              </a:rPr>
              <a:t>|b</a:t>
            </a:r>
            <a:r>
              <a:rPr lang="en-US" altLang="zh-CN" b="1" dirty="0">
                <a:ea typeface="宋体" panose="02010600030101010101" pitchFamily="2" charset="-122"/>
              </a:rPr>
              <a:t>A</a:t>
            </a:r>
            <a:r>
              <a:rPr lang="en-US" altLang="zh-CN" b="1" baseline="-25000" dirty="0">
                <a:ea typeface="宋体" panose="02010600030101010101" pitchFamily="2" charset="-122"/>
              </a:rPr>
              <a:t>0</a:t>
            </a:r>
            <a:r>
              <a:rPr lang="en-US" altLang="zh-CN" b="1" dirty="0">
                <a:latin typeface="宋体" panose="02010600030101010101" pitchFamily="2" charset="-122"/>
                <a:ea typeface="宋体" panose="02010600030101010101" pitchFamily="2" charset="-122"/>
              </a:rPr>
              <a:t>|a</a:t>
            </a:r>
            <a:r>
              <a:rPr lang="en-US" altLang="zh-CN" b="1" dirty="0">
                <a:ea typeface="宋体" panose="02010600030101010101" pitchFamily="2" charset="-122"/>
              </a:rPr>
              <a:t>A</a:t>
            </a:r>
            <a:r>
              <a:rPr lang="en-US" altLang="zh-CN" b="1" baseline="-25000" dirty="0">
                <a:ea typeface="宋体" panose="02010600030101010101" pitchFamily="2" charset="-122"/>
              </a:rPr>
              <a:t>1</a:t>
            </a:r>
            <a:endParaRPr lang="en-US" altLang="zh-CN" b="1" dirty="0">
              <a:latin typeface="宋体" panose="02010600030101010101" pitchFamily="2" charset="-122"/>
              <a:ea typeface="宋体" panose="02010600030101010101" pitchFamily="2" charset="-122"/>
            </a:endParaRPr>
          </a:p>
          <a:p>
            <a:pPr lvl="0"/>
            <a:r>
              <a:rPr lang="en-US" altLang="zh-CN" b="1" dirty="0">
                <a:ea typeface="宋体" panose="02010600030101010101" pitchFamily="2" charset="-122"/>
              </a:rPr>
              <a:t>A</a:t>
            </a:r>
            <a:r>
              <a:rPr lang="en-US" altLang="zh-CN" b="1" baseline="-25000" dirty="0">
                <a:ea typeface="宋体" panose="02010600030101010101" pitchFamily="2" charset="-122"/>
              </a:rPr>
              <a:t>1 </a:t>
            </a:r>
            <a:r>
              <a:rPr lang="en-US" altLang="zh-CN" b="1" dirty="0">
                <a:latin typeface="宋体" panose="02010600030101010101" pitchFamily="2" charset="-122"/>
                <a:ea typeface="宋体" panose="02010600030101010101" pitchFamily="2" charset="-122"/>
              </a:rPr>
              <a:t>→b</a:t>
            </a:r>
            <a:r>
              <a:rPr lang="en-US" altLang="zh-CN" b="1" dirty="0">
                <a:ea typeface="宋体" panose="02010600030101010101" pitchFamily="2" charset="-122"/>
              </a:rPr>
              <a:t>A</a:t>
            </a:r>
            <a:r>
              <a:rPr lang="en-US" altLang="zh-CN" b="1" baseline="-25000" dirty="0">
                <a:ea typeface="宋体" panose="02010600030101010101" pitchFamily="2" charset="-122"/>
              </a:rPr>
              <a:t>2</a:t>
            </a:r>
            <a:endParaRPr lang="en-US" altLang="zh-CN" b="1" dirty="0">
              <a:latin typeface="宋体" panose="02010600030101010101" pitchFamily="2" charset="-122"/>
              <a:ea typeface="宋体" panose="02010600030101010101" pitchFamily="2" charset="-122"/>
            </a:endParaRPr>
          </a:p>
          <a:p>
            <a:pPr lvl="0"/>
            <a:r>
              <a:rPr lang="en-US" altLang="zh-CN" b="1" dirty="0">
                <a:ea typeface="宋体" panose="02010600030101010101" pitchFamily="2" charset="-122"/>
              </a:rPr>
              <a:t>A</a:t>
            </a:r>
            <a:r>
              <a:rPr lang="en-US" altLang="zh-CN" b="1" baseline="-25000" dirty="0">
                <a:ea typeface="宋体" panose="02010600030101010101" pitchFamily="2" charset="-122"/>
              </a:rPr>
              <a:t>2 </a:t>
            </a:r>
            <a:r>
              <a:rPr lang="en-US" altLang="zh-CN" b="1" dirty="0">
                <a:latin typeface="宋体" panose="02010600030101010101" pitchFamily="2" charset="-122"/>
                <a:ea typeface="宋体" panose="02010600030101010101" pitchFamily="2" charset="-122"/>
              </a:rPr>
              <a:t>→b</a:t>
            </a:r>
            <a:r>
              <a:rPr lang="en-US" altLang="zh-CN" b="1" dirty="0">
                <a:ea typeface="宋体" panose="02010600030101010101" pitchFamily="2" charset="-122"/>
              </a:rPr>
              <a:t>A</a:t>
            </a:r>
            <a:r>
              <a:rPr lang="en-US" altLang="zh-CN" b="1" baseline="-25000" dirty="0">
                <a:ea typeface="宋体" panose="02010600030101010101" pitchFamily="2" charset="-122"/>
              </a:rPr>
              <a:t>3</a:t>
            </a:r>
            <a:endParaRPr lang="en-US" altLang="zh-CN" b="1" dirty="0">
              <a:latin typeface="宋体" panose="02010600030101010101" pitchFamily="2" charset="-122"/>
              <a:ea typeface="宋体" panose="02010600030101010101" pitchFamily="2" charset="-122"/>
            </a:endParaRPr>
          </a:p>
          <a:p>
            <a:pPr lvl="0"/>
            <a:r>
              <a:rPr lang="en-US" altLang="zh-CN" b="1" dirty="0">
                <a:ea typeface="宋体" panose="02010600030101010101" pitchFamily="2" charset="-122"/>
              </a:rPr>
              <a:t>A</a:t>
            </a:r>
            <a:r>
              <a:rPr lang="en-US" altLang="zh-CN" b="1" baseline="-25000" dirty="0">
                <a:ea typeface="宋体" panose="02010600030101010101" pitchFamily="2" charset="-122"/>
              </a:rPr>
              <a:t>3 </a:t>
            </a:r>
            <a:r>
              <a:rPr lang="en-US" altLang="zh-CN" b="1" dirty="0">
                <a:latin typeface="宋体" panose="02010600030101010101" pitchFamily="2" charset="-122"/>
                <a:ea typeface="宋体" panose="02010600030101010101" pitchFamily="2" charset="-122"/>
              </a:rPr>
              <a:t>→</a:t>
            </a:r>
            <a:r>
              <a:rPr lang="el-GR" altLang="zh-CN" b="1" dirty="0">
                <a:latin typeface="宋体" panose="02010600030101010101" pitchFamily="2" charset="-122"/>
                <a:ea typeface="宋体" panose="02010600030101010101" pitchFamily="2" charset="-122"/>
              </a:rPr>
              <a:t>ε</a:t>
            </a:r>
            <a:endParaRPr lang="en-US" altLang="zh-CN" b="1" dirty="0">
              <a:latin typeface="宋体" panose="02010600030101010101" pitchFamily="2" charset="-122"/>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6083" name="Rectangle 2"/>
          <p:cNvSpPr>
            <a:spLocks noGrp="1" noRot="1" noChangeAspect="1" noTextEdit="1"/>
          </p:cNvSpPr>
          <p:nvPr>
            <p:ph type="sldImg"/>
          </p:nvPr>
        </p:nvSpPr>
        <p:spPr/>
      </p:sp>
      <p:sp>
        <p:nvSpPr>
          <p:cNvPr id="4608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8131" name="Rectangle 2"/>
          <p:cNvSpPr>
            <a:spLocks noGrp="1" noRot="1" noChangeAspect="1" noTextEdit="1"/>
          </p:cNvSpPr>
          <p:nvPr>
            <p:ph type="sldImg"/>
          </p:nvPr>
        </p:nvSpPr>
        <p:spPr/>
      </p:sp>
      <p:sp>
        <p:nvSpPr>
          <p:cNvPr id="4813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0179" name="Rectangle 2"/>
          <p:cNvSpPr>
            <a:spLocks noGrp="1" noRot="1" noChangeAspect="1" noTextEdit="1"/>
          </p:cNvSpPr>
          <p:nvPr>
            <p:ph type="sldImg"/>
          </p:nvPr>
        </p:nvSpPr>
        <p:spPr/>
      </p:sp>
      <p:sp>
        <p:nvSpPr>
          <p:cNvPr id="5018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2227" name="Rectangle 2"/>
          <p:cNvSpPr>
            <a:spLocks noGrp="1" noRot="1" noChangeAspect="1" noTextEdit="1"/>
          </p:cNvSpPr>
          <p:nvPr>
            <p:ph type="sldImg"/>
          </p:nvPr>
        </p:nvSpPr>
        <p:spPr/>
      </p:sp>
      <p:sp>
        <p:nvSpPr>
          <p:cNvPr id="5222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4275" name="Rectangle 2"/>
          <p:cNvSpPr>
            <a:spLocks noGrp="1" noRot="1" noChangeAspect="1" noTextEdit="1"/>
          </p:cNvSpPr>
          <p:nvPr>
            <p:ph type="sldImg"/>
          </p:nvPr>
        </p:nvSpPr>
        <p:spPr/>
      </p:sp>
      <p:sp>
        <p:nvSpPr>
          <p:cNvPr id="5427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6323" name="Rectangle 2"/>
          <p:cNvSpPr>
            <a:spLocks noGrp="1" noRot="1" noChangeAspect="1" noTextEdit="1"/>
          </p:cNvSpPr>
          <p:nvPr>
            <p:ph type="sldImg"/>
          </p:nvPr>
        </p:nvSpPr>
        <p:spPr/>
      </p:sp>
      <p:sp>
        <p:nvSpPr>
          <p:cNvPr id="5632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8371" name="Rectangle 2"/>
          <p:cNvSpPr>
            <a:spLocks noGrp="1" noRot="1" noChangeAspect="1" noTextEdit="1"/>
          </p:cNvSpPr>
          <p:nvPr>
            <p:ph type="sldImg"/>
          </p:nvPr>
        </p:nvSpPr>
        <p:spPr/>
      </p:sp>
      <p:sp>
        <p:nvSpPr>
          <p:cNvPr id="5837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0419" name="Rectangle 2"/>
          <p:cNvSpPr>
            <a:spLocks noGrp="1" noRot="1" noChangeAspect="1" noTextEdit="1"/>
          </p:cNvSpPr>
          <p:nvPr>
            <p:ph type="sldImg"/>
          </p:nvPr>
        </p:nvSpPr>
        <p:spPr>
          <a:solidFill>
            <a:srgbClr val="FFFFFF">
              <a:alpha val="100000"/>
            </a:srgbClr>
          </a:solidFill>
        </p:spPr>
      </p:sp>
      <p:sp>
        <p:nvSpPr>
          <p:cNvPr id="6042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2467" name="Rectangle 2"/>
          <p:cNvSpPr>
            <a:spLocks noGrp="1" noRot="1" noChangeAspect="1" noTextEdit="1"/>
          </p:cNvSpPr>
          <p:nvPr>
            <p:ph type="sldImg"/>
          </p:nvPr>
        </p:nvSpPr>
        <p:spPr>
          <a:solidFill>
            <a:srgbClr val="FFFFFF">
              <a:alpha val="100000"/>
            </a:srgbClr>
          </a:solidFill>
        </p:spPr>
      </p:sp>
      <p:sp>
        <p:nvSpPr>
          <p:cNvPr id="6246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4515" name="Rectangle 2"/>
          <p:cNvSpPr>
            <a:spLocks noGrp="1" noRot="1" noChangeAspect="1" noTextEdit="1"/>
          </p:cNvSpPr>
          <p:nvPr>
            <p:ph type="sldImg"/>
          </p:nvPr>
        </p:nvSpPr>
        <p:spPr>
          <a:solidFill>
            <a:srgbClr val="FFFFFF">
              <a:alpha val="100000"/>
            </a:srgbClr>
          </a:solidFill>
        </p:spPr>
      </p:sp>
      <p:sp>
        <p:nvSpPr>
          <p:cNvPr id="6451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6563" name="Rectangle 2"/>
          <p:cNvSpPr>
            <a:spLocks noGrp="1" noRot="1" noChangeAspect="1" noTextEdit="1"/>
          </p:cNvSpPr>
          <p:nvPr>
            <p:ph type="sldImg"/>
          </p:nvPr>
        </p:nvSpPr>
        <p:spPr>
          <a:solidFill>
            <a:srgbClr val="FFFFFF">
              <a:alpha val="100000"/>
            </a:srgbClr>
          </a:solidFill>
        </p:spPr>
      </p:sp>
      <p:sp>
        <p:nvSpPr>
          <p:cNvPr id="6656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自顶向下的分析，譬如</a:t>
            </a:r>
            <a:r>
              <a:rPr lang="en-US" altLang="zh-CN" dirty="0">
                <a:ea typeface="宋体" panose="02010600030101010101" pitchFamily="2" charset="-122"/>
              </a:rPr>
              <a:t>LL(1)</a:t>
            </a:r>
            <a:r>
              <a:rPr lang="zh-CN" altLang="en-US" dirty="0">
                <a:ea typeface="宋体" panose="02010600030101010101" pitchFamily="2" charset="-122"/>
              </a:rPr>
              <a:t>分析，要避免</a:t>
            </a:r>
            <a:r>
              <a:rPr lang="en-US" altLang="zh-CN" dirty="0">
                <a:ea typeface="宋体" panose="02010600030101010101" pitchFamily="2" charset="-122"/>
              </a:rPr>
              <a:t>1</a:t>
            </a:r>
            <a:r>
              <a:rPr lang="zh-CN" altLang="en-US" dirty="0">
                <a:ea typeface="宋体" panose="02010600030101010101" pitchFamily="2" charset="-122"/>
              </a:rPr>
              <a:t>。文法的左递归 </a:t>
            </a:r>
            <a:r>
              <a:rPr lang="en-US" altLang="zh-CN" dirty="0">
                <a:ea typeface="宋体" panose="02010600030101010101" pitchFamily="2" charset="-122"/>
              </a:rPr>
              <a:t>2</a:t>
            </a:r>
            <a:r>
              <a:rPr lang="zh-CN" altLang="en-US" dirty="0">
                <a:ea typeface="宋体" panose="02010600030101010101" pitchFamily="2" charset="-122"/>
              </a:rPr>
              <a:t>。 回溯         当然还有其它的一些问题，但是我们目前首要要解决的是这两个问题。</a:t>
            </a:r>
            <a:endParaRPr lang="zh-CN" altLang="en-US" dirty="0">
              <a:ea typeface="宋体" panose="02010600030101010101" pitchFamily="2" charset="-122"/>
            </a:endParaRPr>
          </a:p>
          <a:p>
            <a:pPr lvl="0"/>
            <a:r>
              <a:rPr lang="zh-CN" altLang="en-US" dirty="0">
                <a:ea typeface="宋体" panose="02010600030101010101" pitchFamily="2" charset="-122"/>
              </a:rPr>
              <a:t>								</a:t>
            </a:r>
            <a:r>
              <a:rPr lang="en-US" altLang="zh-CN" dirty="0">
                <a:ea typeface="宋体" panose="02010600030101010101" pitchFamily="2" charset="-122"/>
              </a:rPr>
              <a:t>1</a:t>
            </a:r>
            <a:r>
              <a:rPr lang="zh-CN" altLang="en-US" dirty="0">
                <a:ea typeface="宋体" panose="02010600030101010101" pitchFamily="2" charset="-122"/>
              </a:rPr>
              <a:t>。 是消除左递归    </a:t>
            </a:r>
            <a:r>
              <a:rPr lang="en-US" altLang="zh-CN" dirty="0">
                <a:ea typeface="宋体" panose="02010600030101010101" pitchFamily="2" charset="-122"/>
              </a:rPr>
              <a:t>2</a:t>
            </a:r>
            <a:r>
              <a:rPr lang="zh-CN" altLang="en-US" dirty="0">
                <a:ea typeface="宋体" panose="02010600030101010101" pitchFamily="2" charset="-122"/>
              </a:rPr>
              <a:t>。 是消除左公因子</a:t>
            </a:r>
            <a:endParaRPr lang="zh-CN" altLang="en-US"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8611" name="Rectangle 2"/>
          <p:cNvSpPr>
            <a:spLocks noGrp="1" noRot="1" noChangeAspect="1" noTextEdit="1"/>
          </p:cNvSpPr>
          <p:nvPr>
            <p:ph type="sldImg"/>
          </p:nvPr>
        </p:nvSpPr>
        <p:spPr>
          <a:solidFill>
            <a:srgbClr val="FFFFFF">
              <a:alpha val="100000"/>
            </a:srgbClr>
          </a:solidFill>
        </p:spPr>
      </p:sp>
      <p:sp>
        <p:nvSpPr>
          <p:cNvPr id="6861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0659" name="Rectangle 2"/>
          <p:cNvSpPr>
            <a:spLocks noGrp="1" noRot="1" noChangeAspect="1" noTextEdit="1"/>
          </p:cNvSpPr>
          <p:nvPr>
            <p:ph type="sldImg"/>
          </p:nvPr>
        </p:nvSpPr>
        <p:spPr>
          <a:solidFill>
            <a:srgbClr val="FFFFFF">
              <a:alpha val="100000"/>
            </a:srgbClr>
          </a:solidFill>
        </p:spPr>
      </p:sp>
      <p:sp>
        <p:nvSpPr>
          <p:cNvPr id="7066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2707" name="Rectangle 2"/>
          <p:cNvSpPr>
            <a:spLocks noGrp="1" noRot="1" noChangeAspect="1" noTextEdit="1"/>
          </p:cNvSpPr>
          <p:nvPr>
            <p:ph type="sldImg"/>
          </p:nvPr>
        </p:nvSpPr>
        <p:spPr>
          <a:solidFill>
            <a:srgbClr val="FFFFFF">
              <a:alpha val="100000"/>
            </a:srgbClr>
          </a:solidFill>
        </p:spPr>
      </p:sp>
      <p:sp>
        <p:nvSpPr>
          <p:cNvPr id="7270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4755" name="Rectangle 2"/>
          <p:cNvSpPr>
            <a:spLocks noGrp="1" noRot="1" noChangeAspect="1" noTextEdit="1"/>
          </p:cNvSpPr>
          <p:nvPr>
            <p:ph type="sldImg"/>
          </p:nvPr>
        </p:nvSpPr>
        <p:spPr>
          <a:solidFill>
            <a:srgbClr val="FFFFFF">
              <a:alpha val="100000"/>
            </a:srgbClr>
          </a:solidFill>
        </p:spPr>
      </p:sp>
      <p:sp>
        <p:nvSpPr>
          <p:cNvPr id="7475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6803" name="Rectangle 2"/>
          <p:cNvSpPr>
            <a:spLocks noGrp="1" noRot="1" noChangeAspect="1" noTextEdit="1"/>
          </p:cNvSpPr>
          <p:nvPr>
            <p:ph type="sldImg"/>
          </p:nvPr>
        </p:nvSpPr>
        <p:spPr/>
      </p:sp>
      <p:sp>
        <p:nvSpPr>
          <p:cNvPr id="7680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8851" name="Rectangle 2"/>
          <p:cNvSpPr>
            <a:spLocks noGrp="1" noRot="1" noChangeAspect="1" noTextEdit="1"/>
          </p:cNvSpPr>
          <p:nvPr>
            <p:ph type="sldImg"/>
          </p:nvPr>
        </p:nvSpPr>
        <p:spPr>
          <a:solidFill>
            <a:srgbClr val="FFFFFF">
              <a:alpha val="100000"/>
            </a:srgbClr>
          </a:solidFill>
        </p:spPr>
      </p:sp>
      <p:sp>
        <p:nvSpPr>
          <p:cNvPr id="7885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0899" name="Rectangle 2"/>
          <p:cNvSpPr>
            <a:spLocks noGrp="1" noRot="1" noChangeAspect="1" noTextEdit="1"/>
          </p:cNvSpPr>
          <p:nvPr>
            <p:ph type="sldImg"/>
          </p:nvPr>
        </p:nvSpPr>
        <p:spPr>
          <a:solidFill>
            <a:srgbClr val="FFFFFF">
              <a:alpha val="100000"/>
            </a:srgbClr>
          </a:solidFill>
        </p:spPr>
      </p:sp>
      <p:sp>
        <p:nvSpPr>
          <p:cNvPr id="8090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类似的还有</a:t>
            </a:r>
            <a:r>
              <a:rPr lang="en-US" altLang="zh-CN" dirty="0">
                <a:ea typeface="宋体" panose="02010600030101010101" pitchFamily="2" charset="-122"/>
              </a:rPr>
              <a:t>T’</a:t>
            </a:r>
            <a:r>
              <a:rPr lang="zh-CN" altLang="en-US" dirty="0">
                <a:ea typeface="宋体" panose="02010600030101010101" pitchFamily="2" charset="-122"/>
              </a:rPr>
              <a:t>的选择，同样可以通过</a:t>
            </a:r>
            <a:r>
              <a:rPr lang="en-US" altLang="zh-CN" dirty="0">
                <a:ea typeface="宋体" panose="02010600030101010101" pitchFamily="2" charset="-122"/>
              </a:rPr>
              <a:t>First</a:t>
            </a:r>
            <a:r>
              <a:rPr lang="zh-CN" altLang="en-US" dirty="0">
                <a:ea typeface="宋体" panose="02010600030101010101" pitchFamily="2" charset="-122"/>
              </a:rPr>
              <a:t>集合和</a:t>
            </a:r>
            <a:r>
              <a:rPr lang="en-US" altLang="zh-CN" dirty="0">
                <a:ea typeface="宋体" panose="02010600030101010101" pitchFamily="2" charset="-122"/>
              </a:rPr>
              <a:t>Follow</a:t>
            </a:r>
            <a:r>
              <a:rPr lang="zh-CN" altLang="en-US" dirty="0">
                <a:ea typeface="宋体" panose="02010600030101010101" pitchFamily="2" charset="-122"/>
              </a:rPr>
              <a:t>集合确定</a:t>
            </a:r>
            <a:endParaRPr lang="zh-CN" altLang="en-US" dirty="0">
              <a:ea typeface="宋体" panose="02010600030101010101" pitchFamily="2" charset="-122"/>
            </a:endParaRPr>
          </a:p>
        </p:txBody>
      </p:sp>
      <p:sp>
        <p:nvSpPr>
          <p:cNvPr id="82948"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4995" name="Rectangle 2"/>
          <p:cNvSpPr>
            <a:spLocks noGrp="1" noRot="1" noChangeAspect="1" noTextEdit="1"/>
          </p:cNvSpPr>
          <p:nvPr>
            <p:ph type="sldImg"/>
          </p:nvPr>
        </p:nvSpPr>
        <p:spPr>
          <a:solidFill>
            <a:srgbClr val="FFFFFF">
              <a:alpha val="100000"/>
            </a:srgbClr>
          </a:solidFill>
        </p:spPr>
      </p:sp>
      <p:sp>
        <p:nvSpPr>
          <p:cNvPr id="8499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修改算法支持回溯，需要做两方面的修改：</a:t>
            </a:r>
            <a:endParaRPr lang="en-US" altLang="zh-CN" dirty="0">
              <a:ea typeface="宋体" panose="02010600030101010101" pitchFamily="2" charset="-122"/>
            </a:endParaRPr>
          </a:p>
          <a:p>
            <a:pPr lvl="0"/>
            <a:r>
              <a:rPr lang="en-US" altLang="zh-CN" dirty="0">
                <a:ea typeface="宋体" panose="02010600030101010101" pitchFamily="2" charset="-122"/>
              </a:rPr>
              <a:t>1</a:t>
            </a:r>
            <a:r>
              <a:rPr lang="zh-CN" altLang="en-US" dirty="0">
                <a:ea typeface="宋体" panose="02010600030101010101" pitchFamily="2" charset="-122"/>
              </a:rPr>
              <a:t>）算法的第一行对</a:t>
            </a:r>
            <a:r>
              <a:rPr lang="en-US" altLang="zh-CN" dirty="0">
                <a:ea typeface="宋体" panose="02010600030101010101" pitchFamily="2" charset="-122"/>
              </a:rPr>
              <a:t>A</a:t>
            </a:r>
            <a:r>
              <a:rPr lang="zh-CN" altLang="en-US" dirty="0">
                <a:ea typeface="宋体" panose="02010600030101010101" pitchFamily="2" charset="-122"/>
              </a:rPr>
              <a:t>的产生式的选择，要按照一定的顺序（可以由编译器构造者确定）逐个尝试以</a:t>
            </a:r>
            <a:r>
              <a:rPr lang="en-US" altLang="zh-CN" dirty="0">
                <a:ea typeface="宋体" panose="02010600030101010101" pitchFamily="2" charset="-122"/>
              </a:rPr>
              <a:t>A</a:t>
            </a:r>
            <a:r>
              <a:rPr lang="zh-CN" altLang="en-US" dirty="0">
                <a:ea typeface="宋体" panose="02010600030101010101" pitchFamily="2" charset="-122"/>
              </a:rPr>
              <a:t>为左部的产生式候选</a:t>
            </a:r>
            <a:endParaRPr lang="en-US" altLang="zh-CN" dirty="0">
              <a:ea typeface="宋体" panose="02010600030101010101" pitchFamily="2" charset="-122"/>
            </a:endParaRPr>
          </a:p>
          <a:p>
            <a:pPr lvl="0"/>
            <a:r>
              <a:rPr lang="en-US" altLang="zh-CN" dirty="0">
                <a:ea typeface="宋体" panose="02010600030101010101" pitchFamily="2" charset="-122"/>
              </a:rPr>
              <a:t>2</a:t>
            </a:r>
            <a:r>
              <a:rPr lang="zh-CN" altLang="en-US" dirty="0">
                <a:ea typeface="宋体" panose="02010600030101010101" pitchFamily="2" charset="-122"/>
              </a:rPr>
              <a:t>）第七行，当</a:t>
            </a:r>
            <a:r>
              <a:rPr lang="en-US" altLang="zh-CN" dirty="0">
                <a:ea typeface="宋体" panose="02010600030101010101" pitchFamily="2" charset="-122"/>
              </a:rPr>
              <a:t>A</a:t>
            </a:r>
            <a:r>
              <a:rPr lang="zh-CN" altLang="en-US" dirty="0">
                <a:ea typeface="宋体" panose="02010600030101010101" pitchFamily="2" charset="-122"/>
              </a:rPr>
              <a:t>的某个选择的产生式不能成功匹配时，不是直接申明分析失败，而是返回算法第一行，重新尝试一个新的产生式候选，为了保证这种情况可以顺利实施，需要输入指针恢复到这个产生式对应的输入的开始位置，可能需要一个局部量保存这个指针位置</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只有当以</a:t>
            </a:r>
            <a:r>
              <a:rPr lang="en-US" altLang="zh-CN" dirty="0">
                <a:ea typeface="宋体" panose="02010600030101010101" pitchFamily="2" charset="-122"/>
              </a:rPr>
              <a:t>A</a:t>
            </a:r>
            <a:r>
              <a:rPr lang="zh-CN" altLang="en-US" dirty="0">
                <a:ea typeface="宋体" panose="02010600030101010101" pitchFamily="2" charset="-122"/>
              </a:rPr>
              <a:t>为左部的所有的候选产生式都尝试，且不成功时，才能说分析失败，此时需要注意，仅仅是一个非终结符的分析失败还不能直接报告分析失败，而是要尝试了尽可能多的推导路径，都不成功，才能报告发现输入错误，因为</a:t>
            </a:r>
            <a:r>
              <a:rPr lang="en-US" altLang="zh-CN" dirty="0">
                <a:ea typeface="宋体" panose="02010600030101010101" pitchFamily="2" charset="-122"/>
              </a:rPr>
              <a:t>S=&gt;…=&gt;xBy=&gt;x</a:t>
            </a:r>
            <a:r>
              <a:rPr lang="el-GR" altLang="zh-CN" dirty="0">
                <a:ea typeface="宋体" panose="02010600030101010101" pitchFamily="2" charset="-122"/>
              </a:rPr>
              <a:t>α</a:t>
            </a:r>
            <a:r>
              <a:rPr lang="en-US" altLang="zh-CN" dirty="0">
                <a:ea typeface="宋体" panose="02010600030101010101" pitchFamily="2" charset="-122"/>
              </a:rPr>
              <a:t>A</a:t>
            </a:r>
            <a:r>
              <a:rPr lang="el-GR" altLang="zh-CN" dirty="0">
                <a:ea typeface="宋体" panose="02010600030101010101" pitchFamily="2" charset="-122"/>
              </a:rPr>
              <a:t>β</a:t>
            </a:r>
            <a:r>
              <a:rPr lang="en-US" altLang="zh-CN" dirty="0">
                <a:ea typeface="宋体" panose="02010600030101010101" pitchFamily="2" charset="-122"/>
              </a:rPr>
              <a:t>y=&gt;x</a:t>
            </a:r>
            <a:r>
              <a:rPr lang="el-GR" altLang="zh-CN" dirty="0">
                <a:ea typeface="宋体" panose="02010600030101010101" pitchFamily="2" charset="-122"/>
              </a:rPr>
              <a:t>α</a:t>
            </a:r>
            <a:r>
              <a:rPr lang="en-US" altLang="zh-CN" sz="1800" b="1" dirty="0">
                <a:solidFill>
                  <a:srgbClr val="FF0000"/>
                </a:solidFill>
                <a:ea typeface="宋体" panose="02010600030101010101" pitchFamily="2" charset="-122"/>
              </a:rPr>
              <a:t>?</a:t>
            </a:r>
            <a:r>
              <a:rPr lang="el-GR" altLang="zh-CN" dirty="0">
                <a:ea typeface="宋体" panose="02010600030101010101" pitchFamily="2" charset="-122"/>
              </a:rPr>
              <a:t>β</a:t>
            </a:r>
            <a:r>
              <a:rPr lang="en-US" altLang="zh-CN" dirty="0">
                <a:ea typeface="宋体" panose="02010600030101010101" pitchFamily="2" charset="-122"/>
              </a:rPr>
              <a:t>y</a:t>
            </a:r>
            <a:r>
              <a:rPr lang="zh-CN" altLang="en-US" dirty="0">
                <a:ea typeface="宋体" panose="02010600030101010101" pitchFamily="2" charset="-122"/>
              </a:rPr>
              <a:t>，此时对</a:t>
            </a:r>
            <a:r>
              <a:rPr lang="en-US" altLang="zh-CN" dirty="0">
                <a:ea typeface="宋体" panose="02010600030101010101" pitchFamily="2" charset="-122"/>
              </a:rPr>
              <a:t>A</a:t>
            </a:r>
            <a:r>
              <a:rPr lang="zh-CN" altLang="en-US" dirty="0">
                <a:ea typeface="宋体" panose="02010600030101010101" pitchFamily="2" charset="-122"/>
              </a:rPr>
              <a:t>的所有尝试失败后，说明可能选择</a:t>
            </a:r>
            <a:r>
              <a:rPr lang="en-US" altLang="zh-CN" dirty="0">
                <a:ea typeface="宋体" panose="02010600030101010101" pitchFamily="2" charset="-122"/>
              </a:rPr>
              <a:t>B</a:t>
            </a:r>
            <a:r>
              <a:rPr lang="en-US" altLang="zh-CN" b="1" dirty="0">
                <a:ea typeface="宋体" panose="02010600030101010101" pitchFamily="2" charset="-122"/>
              </a:rPr>
              <a:t>→</a:t>
            </a:r>
            <a:r>
              <a:rPr lang="el-GR" altLang="zh-CN" dirty="0">
                <a:ea typeface="宋体" panose="02010600030101010101" pitchFamily="2" charset="-122"/>
              </a:rPr>
              <a:t>α</a:t>
            </a:r>
            <a:r>
              <a:rPr lang="en-US" altLang="zh-CN" dirty="0">
                <a:ea typeface="宋体" panose="02010600030101010101" pitchFamily="2" charset="-122"/>
              </a:rPr>
              <a:t>A</a:t>
            </a:r>
            <a:r>
              <a:rPr lang="el-GR" altLang="zh-CN" dirty="0">
                <a:ea typeface="宋体" panose="02010600030101010101" pitchFamily="2" charset="-122"/>
              </a:rPr>
              <a:t>β</a:t>
            </a:r>
            <a:r>
              <a:rPr lang="zh-CN" altLang="en-US" dirty="0">
                <a:ea typeface="宋体" panose="02010600030101010101" pitchFamily="2" charset="-122"/>
              </a:rPr>
              <a:t>这个产生式未必合适，可能需要尝试新的</a:t>
            </a:r>
            <a:r>
              <a:rPr lang="en-US" altLang="zh-CN" dirty="0">
                <a:ea typeface="宋体" panose="02010600030101010101" pitchFamily="2" charset="-122"/>
              </a:rPr>
              <a:t>B</a:t>
            </a:r>
            <a:r>
              <a:rPr lang="zh-CN" altLang="en-US" dirty="0">
                <a:ea typeface="宋体" panose="02010600030101010101" pitchFamily="2" charset="-122"/>
              </a:rPr>
              <a:t>的产生式，只有穷尽了这些选择都不成功，才能说无法找到一个合适的推导序列，报告失败</a:t>
            </a:r>
            <a:endParaRPr lang="zh-CN" altLang="en-US"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7043" name="Rectangle 2"/>
          <p:cNvSpPr>
            <a:spLocks noGrp="1" noRot="1" noChangeAspect="1" noTextEdit="1"/>
          </p:cNvSpPr>
          <p:nvPr>
            <p:ph type="sldImg"/>
          </p:nvPr>
        </p:nvSpPr>
        <p:spPr>
          <a:solidFill>
            <a:srgbClr val="FFFFFF">
              <a:alpha val="100000"/>
            </a:srgbClr>
          </a:solidFill>
        </p:spPr>
      </p:sp>
      <p:sp>
        <p:nvSpPr>
          <p:cNvPr id="8704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9091" name="Rectangle 2"/>
          <p:cNvSpPr>
            <a:spLocks noGrp="1" noRot="1" noChangeAspect="1" noTextEdit="1"/>
          </p:cNvSpPr>
          <p:nvPr>
            <p:ph type="sldImg"/>
          </p:nvPr>
        </p:nvSpPr>
        <p:spPr>
          <a:solidFill>
            <a:srgbClr val="FFFFFF">
              <a:alpha val="100000"/>
            </a:srgbClr>
          </a:solidFill>
        </p:spPr>
      </p:sp>
      <p:sp>
        <p:nvSpPr>
          <p:cNvPr id="8909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1139" name="Rectangle 2"/>
          <p:cNvSpPr>
            <a:spLocks noGrp="1" noRot="1" noChangeAspect="1" noTextEdit="1"/>
          </p:cNvSpPr>
          <p:nvPr>
            <p:ph type="sldImg"/>
          </p:nvPr>
        </p:nvSpPr>
        <p:spPr>
          <a:solidFill>
            <a:srgbClr val="FFFFFF">
              <a:alpha val="100000"/>
            </a:srgbClr>
          </a:solidFill>
        </p:spPr>
      </p:sp>
      <p:sp>
        <p:nvSpPr>
          <p:cNvPr id="9114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3187" name="Rectangle 2"/>
          <p:cNvSpPr>
            <a:spLocks noGrp="1" noRot="1" noChangeAspect="1" noTextEdit="1"/>
          </p:cNvSpPr>
          <p:nvPr>
            <p:ph type="sldImg"/>
          </p:nvPr>
        </p:nvSpPr>
        <p:spPr>
          <a:solidFill>
            <a:srgbClr val="FFFFFF">
              <a:alpha val="100000"/>
            </a:srgbClr>
          </a:solidFill>
        </p:spPr>
      </p:sp>
      <p:sp>
        <p:nvSpPr>
          <p:cNvPr id="9318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5235" name="Rectangle 2"/>
          <p:cNvSpPr>
            <a:spLocks noGrp="1" noRot="1" noChangeAspect="1" noTextEdit="1"/>
          </p:cNvSpPr>
          <p:nvPr>
            <p:ph type="sldImg"/>
          </p:nvPr>
        </p:nvSpPr>
        <p:spPr>
          <a:solidFill>
            <a:srgbClr val="FFFFFF">
              <a:alpha val="100000"/>
            </a:srgbClr>
          </a:solidFill>
        </p:spPr>
      </p:sp>
      <p:sp>
        <p:nvSpPr>
          <p:cNvPr id="9523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对</a:t>
            </a:r>
            <a:r>
              <a:rPr lang="en-US" altLang="zh-CN" dirty="0">
                <a:ea typeface="宋体" panose="02010600030101010101" pitchFamily="2" charset="-122"/>
              </a:rPr>
              <a:t>A</a:t>
            </a:r>
            <a:r>
              <a:rPr lang="zh-CN" altLang="en-US" dirty="0">
                <a:ea typeface="宋体" panose="02010600030101010101" pitchFamily="2" charset="-122"/>
              </a:rPr>
              <a:t>的产生式的选择用到了</a:t>
            </a:r>
            <a:r>
              <a:rPr lang="en-US" altLang="zh-CN" dirty="0">
                <a:ea typeface="宋体" panose="02010600030101010101" pitchFamily="2" charset="-122"/>
              </a:rPr>
              <a:t>Follow</a:t>
            </a:r>
            <a:r>
              <a:rPr lang="zh-CN" altLang="en-US" dirty="0">
                <a:ea typeface="宋体" panose="02010600030101010101" pitchFamily="2" charset="-122"/>
              </a:rPr>
              <a:t>集合</a:t>
            </a:r>
            <a:endParaRPr lang="zh-CN" altLang="en-US" dirty="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7283" name="Rectangle 2"/>
          <p:cNvSpPr>
            <a:spLocks noGrp="1" noRot="1" noChangeAspect="1" noTextEdit="1"/>
          </p:cNvSpPr>
          <p:nvPr>
            <p:ph type="sldImg"/>
          </p:nvPr>
        </p:nvSpPr>
        <p:spPr>
          <a:solidFill>
            <a:srgbClr val="FFFFFF">
              <a:alpha val="100000"/>
            </a:srgbClr>
          </a:solidFill>
        </p:spPr>
      </p:sp>
      <p:sp>
        <p:nvSpPr>
          <p:cNvPr id="9728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9331" name="Rectangle 2"/>
          <p:cNvSpPr>
            <a:spLocks noGrp="1" noRot="1" noChangeAspect="1" noTextEdit="1"/>
          </p:cNvSpPr>
          <p:nvPr>
            <p:ph type="sldImg"/>
          </p:nvPr>
        </p:nvSpPr>
        <p:spPr>
          <a:solidFill>
            <a:srgbClr val="FFFFFF">
              <a:alpha val="100000"/>
            </a:srgbClr>
          </a:solidFill>
        </p:spPr>
      </p:sp>
      <p:sp>
        <p:nvSpPr>
          <p:cNvPr id="9933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1379" name="Rectangle 2"/>
          <p:cNvSpPr>
            <a:spLocks noGrp="1" noRot="1" noChangeAspect="1" noTextEdit="1"/>
          </p:cNvSpPr>
          <p:nvPr>
            <p:ph type="sldImg"/>
          </p:nvPr>
        </p:nvSpPr>
        <p:spPr>
          <a:solidFill>
            <a:srgbClr val="FFFFFF">
              <a:alpha val="100000"/>
            </a:srgbClr>
          </a:solidFill>
        </p:spPr>
      </p:sp>
      <p:sp>
        <p:nvSpPr>
          <p:cNvPr id="10138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3427" name="Rectangle 2"/>
          <p:cNvSpPr>
            <a:spLocks noGrp="1" noRot="1" noChangeAspect="1" noTextEdit="1"/>
          </p:cNvSpPr>
          <p:nvPr>
            <p:ph type="sldImg"/>
          </p:nvPr>
        </p:nvSpPr>
        <p:spPr>
          <a:solidFill>
            <a:srgbClr val="FFFFFF">
              <a:alpha val="100000"/>
            </a:srgbClr>
          </a:solidFill>
        </p:spPr>
      </p:sp>
      <p:sp>
        <p:nvSpPr>
          <p:cNvPr id="10342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5475" name="Rectangle 2"/>
          <p:cNvSpPr>
            <a:spLocks noGrp="1" noRot="1" noChangeAspect="1" noTextEdit="1"/>
          </p:cNvSpPr>
          <p:nvPr>
            <p:ph type="sldImg"/>
          </p:nvPr>
        </p:nvSpPr>
        <p:spPr>
          <a:solidFill>
            <a:srgbClr val="FFFFFF">
              <a:alpha val="100000"/>
            </a:srgbClr>
          </a:solidFill>
        </p:spPr>
      </p:sp>
      <p:sp>
        <p:nvSpPr>
          <p:cNvPr id="10547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7523" name="Rectangle 2"/>
          <p:cNvSpPr>
            <a:spLocks noGrp="1" noRot="1" noChangeAspect="1" noTextEdit="1"/>
          </p:cNvSpPr>
          <p:nvPr>
            <p:ph type="sldImg"/>
          </p:nvPr>
        </p:nvSpPr>
        <p:spPr>
          <a:solidFill>
            <a:srgbClr val="FFFFFF">
              <a:alpha val="100000"/>
            </a:srgbClr>
          </a:solidFill>
        </p:spPr>
      </p:sp>
      <p:sp>
        <p:nvSpPr>
          <p:cNvPr id="10752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9571" name="Rectangle 2"/>
          <p:cNvSpPr>
            <a:spLocks noGrp="1" noRot="1" noChangeAspect="1" noTextEdit="1"/>
          </p:cNvSpPr>
          <p:nvPr>
            <p:ph type="sldImg"/>
          </p:nvPr>
        </p:nvSpPr>
        <p:spPr>
          <a:solidFill>
            <a:srgbClr val="FFFFFF">
              <a:alpha val="100000"/>
            </a:srgbClr>
          </a:solidFill>
        </p:spPr>
      </p:sp>
      <p:sp>
        <p:nvSpPr>
          <p:cNvPr id="10957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1619" name="Rectangle 2"/>
          <p:cNvSpPr>
            <a:spLocks noGrp="1" noRot="1" noChangeAspect="1" noTextEdit="1"/>
          </p:cNvSpPr>
          <p:nvPr>
            <p:ph type="sldImg"/>
          </p:nvPr>
        </p:nvSpPr>
        <p:spPr>
          <a:solidFill>
            <a:srgbClr val="FFFFFF">
              <a:alpha val="100000"/>
            </a:srgbClr>
          </a:solidFill>
        </p:spPr>
      </p:sp>
      <p:sp>
        <p:nvSpPr>
          <p:cNvPr id="11162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3667" name="Rectangle 2"/>
          <p:cNvSpPr>
            <a:spLocks noGrp="1" noRot="1" noChangeAspect="1" noTextEdit="1"/>
          </p:cNvSpPr>
          <p:nvPr>
            <p:ph type="sldImg"/>
          </p:nvPr>
        </p:nvSpPr>
        <p:spPr>
          <a:solidFill>
            <a:srgbClr val="FFFFFF">
              <a:alpha val="100000"/>
            </a:srgbClr>
          </a:solidFill>
        </p:spPr>
      </p:sp>
      <p:sp>
        <p:nvSpPr>
          <p:cNvPr id="11366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5715" name="Rectangle 2"/>
          <p:cNvSpPr>
            <a:spLocks noGrp="1" noRot="1" noChangeAspect="1" noTextEdit="1"/>
          </p:cNvSpPr>
          <p:nvPr>
            <p:ph type="sldImg"/>
          </p:nvPr>
        </p:nvSpPr>
        <p:spPr>
          <a:solidFill>
            <a:srgbClr val="FFFFFF">
              <a:alpha val="100000"/>
            </a:srgbClr>
          </a:solidFill>
        </p:spPr>
      </p:sp>
      <p:sp>
        <p:nvSpPr>
          <p:cNvPr id="11571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7763" name="Rectangle 2"/>
          <p:cNvSpPr>
            <a:spLocks noGrp="1" noRot="1" noChangeAspect="1" noTextEdit="1"/>
          </p:cNvSpPr>
          <p:nvPr>
            <p:ph type="sldImg"/>
          </p:nvPr>
        </p:nvSpPr>
        <p:spPr>
          <a:solidFill>
            <a:srgbClr val="FFFFFF">
              <a:alpha val="100000"/>
            </a:srgbClr>
          </a:solidFill>
        </p:spPr>
      </p:sp>
      <p:sp>
        <p:nvSpPr>
          <p:cNvPr id="11776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9811" name="Rectangle 2"/>
          <p:cNvSpPr>
            <a:spLocks noGrp="1" noRot="1" noChangeAspect="1" noTextEdit="1"/>
          </p:cNvSpPr>
          <p:nvPr>
            <p:ph type="sldImg"/>
          </p:nvPr>
        </p:nvSpPr>
        <p:spPr>
          <a:solidFill>
            <a:srgbClr val="FFFFFF">
              <a:alpha val="100000"/>
            </a:srgbClr>
          </a:solidFill>
        </p:spPr>
      </p:sp>
      <p:sp>
        <p:nvSpPr>
          <p:cNvPr id="105476" name="Rectangle 3"/>
          <p:cNvSpPr>
            <a:spLocks noGrp="1" noChangeArrowheads="1"/>
          </p:cNvSpPr>
          <p:nvPr>
            <p:ph type="body" idx="1"/>
          </p:nvPr>
        </p:nvSpPr>
        <p:spPr>
          <a:solidFill>
            <a:srgbClr val="FFFFFF"/>
          </a:solidFill>
          <a:ln w="22225">
            <a:solidFill>
              <a:srgbClr val="000000"/>
            </a:solidFill>
            <a:miter lim="800000"/>
            <a:headEnd w="sm" len="sm"/>
            <a:tailEnd w="lg"/>
          </a:ln>
        </p:spPr>
        <p:txBody>
          <a:bodyPr wrap="square" lIns="91534" tIns="45768" rIns="91534" bIns="45768" numCol="1" anchor="t" anchorCtr="0" compatLnSpc="1"/>
          <a:lstStyle/>
          <a:p>
            <a:pPr marL="0" marR="0" lvl="0" indent="0" algn="l" defTabSz="955675"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参加</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ppt</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的第</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47</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页：</a:t>
            </a:r>
            <a:endPar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无二义性表达式文法</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1333500" marR="0" lvl="2" indent="-419100" algn="l" defTabSz="955675" rtl="0" eaLnBrk="0" fontAlgn="base" latinLnBrk="0" hangingPunct="0">
              <a:lnSpc>
                <a:spcPct val="100000"/>
              </a:lnSpc>
              <a:spcBef>
                <a:spcPct val="3000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E→TE</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1333500" marR="0" lvl="2" indent="-419100" algn="l" defTabSz="955675" rtl="0" eaLnBrk="0" fontAlgn="base" latinLnBrk="0" hangingPunct="0">
              <a:lnSpc>
                <a:spcPct val="100000"/>
              </a:lnSpc>
              <a:spcBef>
                <a:spcPct val="3000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E</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2000" b="1" i="0" u="none" strike="noStrike" kern="1200" cap="none" spc="0" normalizeH="0" baseline="0" noProof="0" dirty="0" err="1">
                <a:ln>
                  <a:noFill/>
                </a:ln>
                <a:solidFill>
                  <a:schemeClr val="tx1"/>
                </a:solidFill>
                <a:effectLst/>
                <a:uLnTx/>
                <a:uFillTx/>
                <a:latin typeface="宋体" panose="02010600030101010101" pitchFamily="2" charset="-122"/>
                <a:ea typeface="+mn-ea"/>
                <a:cs typeface="+mn-cs"/>
              </a:rPr>
              <a:t>TE</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err="1">
                <a:ln>
                  <a:noFill/>
                </a:ln>
                <a:solidFill>
                  <a:schemeClr val="tx1"/>
                </a:solidFill>
                <a:effectLst/>
                <a:uLnTx/>
                <a:uFillTx/>
                <a:latin typeface="宋体" panose="02010600030101010101" pitchFamily="2" charset="-122"/>
                <a:ea typeface="+mn-ea"/>
                <a:cs typeface="+mn-cs"/>
              </a:rPr>
              <a:t>|</a:t>
            </a:r>
            <a:r>
              <a:rPr kumimoji="0" lang="en-US" altLang="zh-CN" sz="2000" b="1" i="0" u="none" strike="noStrike" kern="1200" cap="none" spc="0" normalizeH="0" baseline="0" noProof="0" dirty="0" err="1">
                <a:ln>
                  <a:noFill/>
                </a:ln>
                <a:solidFill>
                  <a:schemeClr val="tx1"/>
                </a:solidFill>
                <a:effectLst/>
                <a:uLnTx/>
                <a:uFillTx/>
                <a:latin typeface="宋体" panose="02010600030101010101" pitchFamily="2" charset="-122"/>
                <a:ea typeface="+mn-ea"/>
                <a:cs typeface="Times New Roman" panose="02020603050405020304" pitchFamily="18" charset="0"/>
              </a:rPr>
              <a:t>ε</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1333500" marR="0" lvl="2" indent="-419100" algn="l" defTabSz="955675" rtl="0" eaLnBrk="0" fontAlgn="base" latinLnBrk="0" hangingPunct="0">
              <a:lnSpc>
                <a:spcPct val="100000"/>
              </a:lnSpc>
              <a:spcBef>
                <a:spcPct val="3000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T→FT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1333500" marR="0" lvl="2" indent="-419100" algn="l" defTabSz="955675" rtl="0" eaLnBrk="0" fontAlgn="base" latinLnBrk="0" hangingPunct="0">
              <a:lnSpc>
                <a:spcPct val="100000"/>
              </a:lnSpc>
              <a:spcBef>
                <a:spcPct val="3000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2000" b="1" i="0" u="none" strike="noStrike" kern="1200" cap="none" spc="0" normalizeH="0" baseline="0" noProof="0" dirty="0" err="1">
                <a:ln>
                  <a:noFill/>
                </a:ln>
                <a:solidFill>
                  <a:schemeClr val="tx1"/>
                </a:solidFill>
                <a:effectLst/>
                <a:uLnTx/>
                <a:uFillTx/>
                <a:latin typeface="宋体" panose="02010600030101010101" pitchFamily="2" charset="-122"/>
                <a:ea typeface="+mn-ea"/>
                <a:cs typeface="+mn-cs"/>
              </a:rPr>
              <a:t>FT</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err="1">
                <a:ln>
                  <a:noFill/>
                </a:ln>
                <a:solidFill>
                  <a:schemeClr val="tx1"/>
                </a:solidFill>
                <a:effectLst/>
                <a:uLnTx/>
                <a:uFillTx/>
                <a:latin typeface="宋体" panose="02010600030101010101" pitchFamily="2" charset="-122"/>
                <a:ea typeface="+mn-ea"/>
                <a:cs typeface="+mn-cs"/>
              </a:rPr>
              <a:t>|ε</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1333500" marR="0" lvl="2" indent="-419100" algn="l" defTabSz="955675" rtl="0" eaLnBrk="0" fontAlgn="base" latinLnBrk="0" hangingPunct="0">
              <a:lnSpc>
                <a:spcPct val="100000"/>
              </a:lnSpc>
              <a:spcBef>
                <a:spcPct val="3000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F→(E)|id</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则：</a:t>
            </a:r>
            <a:endPar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FIRST(E) = FIRST(T) = FIRST(F) = { ( ，id }</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FIRST(E</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 { + , ε }</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FIRST(T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 { * , ε }</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FOLLOW(E) = FOLLOW(E</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 { ) , $ }</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FOLLOW(T) = FOLLOW(T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 { + , ) , $ }</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FOLLOW(F) = { + , * , ) , $ }</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1859" name="Rectangle 2"/>
          <p:cNvSpPr>
            <a:spLocks noGrp="1" noRot="1" noChangeAspect="1" noTextEdit="1"/>
          </p:cNvSpPr>
          <p:nvPr>
            <p:ph type="sldImg"/>
          </p:nvPr>
        </p:nvSpPr>
        <p:spPr>
          <a:solidFill>
            <a:srgbClr val="FFFFFF">
              <a:alpha val="100000"/>
            </a:srgbClr>
          </a:solidFill>
        </p:spPr>
      </p:sp>
      <p:sp>
        <p:nvSpPr>
          <p:cNvPr id="12186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3907" name="Rectangle 2"/>
          <p:cNvSpPr>
            <a:spLocks noGrp="1" noRot="1" noChangeAspect="1" noTextEdit="1"/>
          </p:cNvSpPr>
          <p:nvPr>
            <p:ph type="sldImg"/>
          </p:nvPr>
        </p:nvSpPr>
        <p:spPr>
          <a:solidFill>
            <a:srgbClr val="FFFFFF">
              <a:alpha val="100000"/>
            </a:srgbClr>
          </a:solidFill>
        </p:spPr>
      </p:sp>
      <p:sp>
        <p:nvSpPr>
          <p:cNvPr id="12390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5955" name="Rectangle 2"/>
          <p:cNvSpPr>
            <a:spLocks noGrp="1" noRot="1" noChangeAspect="1" noTextEdit="1"/>
          </p:cNvSpPr>
          <p:nvPr>
            <p:ph type="sldImg"/>
          </p:nvPr>
        </p:nvSpPr>
        <p:spPr>
          <a:solidFill>
            <a:srgbClr val="FFFFFF">
              <a:alpha val="100000"/>
            </a:srgbClr>
          </a:solidFill>
        </p:spPr>
      </p:sp>
      <p:sp>
        <p:nvSpPr>
          <p:cNvPr id="12595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幻灯片图像占位符 1"/>
          <p:cNvSpPr>
            <a:spLocks noGrp="1" noRot="1" noChangeAspect="1" noTextEdit="1"/>
          </p:cNvSpPr>
          <p:nvPr>
            <p:ph type="sldImg"/>
          </p:nvPr>
        </p:nvSpPr>
        <p:spPr/>
      </p:sp>
      <p:sp>
        <p:nvSpPr>
          <p:cNvPr id="128003" name="备注占位符 2"/>
          <p:cNvSpPr>
            <a:spLocks noGrp="1"/>
          </p:cNvSpPr>
          <p:nvPr>
            <p:ph type="body" idx="1"/>
          </p:nvPr>
        </p:nvSpPr>
        <p:spPr>
          <a:ln w="22225"/>
        </p:spPr>
        <p:txBody>
          <a:bodyPr wrap="square" lIns="91534" tIns="45768" rIns="91534" bIns="45768" anchor="t" anchorCtr="0"/>
          <a:p>
            <a:pPr marL="495300" lvl="0" indent="-495300">
              <a:spcBef>
                <a:spcPct val="0"/>
              </a:spcBef>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输入：输入串</a:t>
            </a:r>
            <a:r>
              <a:rPr lang="en-US" altLang="zh-CN" b="1" dirty="0">
                <a:latin typeface="宋体" panose="02010600030101010101" pitchFamily="2" charset="-122"/>
                <a:ea typeface="宋体" panose="02010600030101010101" pitchFamily="2" charset="-122"/>
              </a:rPr>
              <a:t>ω</a:t>
            </a:r>
            <a:r>
              <a:rPr lang="zh-CN" altLang="en-US" b="1" dirty="0">
                <a:latin typeface="宋体" panose="02010600030101010101" pitchFamily="2" charset="-122"/>
                <a:ea typeface="宋体" panose="02010600030101010101" pitchFamily="2" charset="-122"/>
              </a:rPr>
              <a:t>和文法</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的分析表</a:t>
            </a:r>
            <a:r>
              <a:rPr lang="en-US" altLang="zh-CN" b="1" dirty="0">
                <a:latin typeface="宋体" panose="02010600030101010101" pitchFamily="2" charset="-122"/>
                <a:ea typeface="宋体" panose="02010600030101010101" pitchFamily="2" charset="-122"/>
              </a:rPr>
              <a:t>M</a:t>
            </a:r>
            <a:endParaRPr lang="en-US" altLang="zh-CN"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方法：初始，分析器的格局是$</a:t>
            </a:r>
            <a:r>
              <a:rPr lang="en-US" altLang="zh-CN" b="1" dirty="0">
                <a:latin typeface="宋体" panose="02010600030101010101" pitchFamily="2" charset="-122"/>
                <a:ea typeface="宋体" panose="02010600030101010101" pitchFamily="2" charset="-122"/>
              </a:rPr>
              <a:t>S</a:t>
            </a:r>
            <a:r>
              <a:rPr lang="zh-CN" altLang="en-US" b="1" dirty="0">
                <a:latin typeface="宋体" panose="02010600030101010101" pitchFamily="2" charset="-122"/>
                <a:ea typeface="宋体" panose="02010600030101010101" pitchFamily="2" charset="-122"/>
              </a:rPr>
              <a:t>在栈里，</a:t>
            </a:r>
            <a:r>
              <a:rPr lang="en-US" altLang="zh-CN" b="1" dirty="0">
                <a:latin typeface="宋体" panose="02010600030101010101" pitchFamily="2" charset="-122"/>
                <a:ea typeface="宋体" panose="02010600030101010101" pitchFamily="2" charset="-122"/>
              </a:rPr>
              <a:t>S</a:t>
            </a:r>
            <a:r>
              <a:rPr lang="zh-CN" altLang="en-US" b="1" dirty="0">
                <a:latin typeface="宋体" panose="02010600030101010101" pitchFamily="2" charset="-122"/>
                <a:ea typeface="宋体" panose="02010600030101010101" pitchFamily="2" charset="-122"/>
              </a:rPr>
              <a:t>在栈顶；</a:t>
            </a:r>
            <a:r>
              <a:rPr lang="en-US" altLang="zh-CN" b="1" dirty="0">
                <a:latin typeface="宋体" panose="02010600030101010101" pitchFamily="2" charset="-122"/>
                <a:ea typeface="宋体" panose="02010600030101010101" pitchFamily="2" charset="-122"/>
              </a:rPr>
              <a:t>ω$</a:t>
            </a:r>
            <a:r>
              <a:rPr lang="zh-CN" altLang="en-US" b="1" dirty="0">
                <a:latin typeface="宋体" panose="02010600030101010101" pitchFamily="2" charset="-122"/>
                <a:ea typeface="宋体" panose="02010600030101010101" pitchFamily="2" charset="-122"/>
              </a:rPr>
              <a:t>在输入缓冲区，分析程序如下：</a:t>
            </a:r>
            <a:endParaRPr lang="zh-CN" altLang="en-US"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	令</a:t>
            </a:r>
            <a:r>
              <a:rPr lang="en-US" altLang="zh-CN" b="1" i="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是</a:t>
            </a:r>
            <a:r>
              <a:rPr lang="en-US" altLang="zh-CN" b="1" dirty="0">
                <a:latin typeface="宋体" panose="02010600030101010101" pitchFamily="2" charset="-122"/>
                <a:ea typeface="宋体" panose="02010600030101010101" pitchFamily="2" charset="-122"/>
              </a:rPr>
              <a:t>ω</a:t>
            </a:r>
            <a:r>
              <a:rPr lang="zh-CN" altLang="en-US" b="1" dirty="0">
                <a:latin typeface="宋体" panose="02010600030101010101" pitchFamily="2" charset="-122"/>
                <a:ea typeface="宋体" panose="02010600030101010101" pitchFamily="2" charset="-122"/>
              </a:rPr>
              <a:t>的第一个符号；</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 此时，输入指针</a:t>
            </a:r>
            <a:r>
              <a:rPr lang="en-US" altLang="zh-CN" b="1" dirty="0">
                <a:latin typeface="宋体" panose="02010600030101010101" pitchFamily="2" charset="-122"/>
                <a:ea typeface="宋体" panose="02010600030101010101" pitchFamily="2" charset="-122"/>
              </a:rPr>
              <a:t>ip</a:t>
            </a:r>
            <a:r>
              <a:rPr lang="zh-CN" altLang="en-US" b="1" dirty="0">
                <a:latin typeface="宋体" panose="02010600030101010101" pitchFamily="2" charset="-122"/>
                <a:ea typeface="宋体" panose="02010600030101010101" pitchFamily="2" charset="-122"/>
              </a:rPr>
              <a:t>指向字符</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令</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是栈顶的文法符号；</a:t>
            </a:r>
            <a:endParaRPr lang="zh-CN" altLang="en-US"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while</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 分析栈不能为空 *</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en-US" altLang="zh-CN" b="1" dirty="0">
                <a:latin typeface="宋体" panose="02010600030101010101" pitchFamily="2" charset="-122"/>
                <a:ea typeface="宋体" panose="02010600030101010101" pitchFamily="2" charset="-122"/>
              </a:rPr>
              <a:t>		if </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X=ip</a:t>
            </a:r>
            <a:r>
              <a:rPr lang="zh-CN" altLang="en-US" b="1" dirty="0">
                <a:latin typeface="宋体" panose="02010600030101010101" pitchFamily="2" charset="-122"/>
                <a:ea typeface="宋体" panose="02010600030101010101" pitchFamily="2" charset="-122"/>
              </a:rPr>
              <a:t>指向的符号</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 执行栈的弹出操作（弹出</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），将</a:t>
            </a:r>
            <a:r>
              <a:rPr lang="en-US" altLang="zh-CN" b="1" dirty="0">
                <a:latin typeface="宋体" panose="02010600030101010101" pitchFamily="2" charset="-122"/>
                <a:ea typeface="宋体" panose="02010600030101010101" pitchFamily="2" charset="-122"/>
              </a:rPr>
              <a:t>ip</a:t>
            </a:r>
            <a:r>
              <a:rPr lang="zh-CN" altLang="en-US" b="1" dirty="0">
                <a:latin typeface="宋体" panose="02010600030101010101" pitchFamily="2" charset="-122"/>
                <a:ea typeface="宋体" panose="02010600030101010101" pitchFamily="2" charset="-122"/>
              </a:rPr>
              <a:t>向前移动一个位置；</a:t>
            </a:r>
            <a:endParaRPr lang="en-US" altLang="zh-CN"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else</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if </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是一个终结符号）</a:t>
            </a:r>
            <a:r>
              <a:rPr lang="en-US" altLang="zh-CN" b="1" dirty="0">
                <a:latin typeface="宋体" panose="02010600030101010101" pitchFamily="2" charset="-122"/>
                <a:ea typeface="宋体" panose="02010600030101010101" pitchFamily="2" charset="-122"/>
              </a:rPr>
              <a:t> error</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是终结符，但是与当前输入指针指向的</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不同，报错*</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else</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if </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M[X，a]</a:t>
            </a:r>
            <a:r>
              <a:rPr lang="zh-CN" altLang="en-US" b="1" dirty="0">
                <a:latin typeface="宋体" panose="02010600030101010101" pitchFamily="2" charset="-122"/>
                <a:ea typeface="宋体" panose="02010600030101010101" pitchFamily="2" charset="-122"/>
              </a:rPr>
              <a:t>是空条目）</a:t>
            </a:r>
            <a:r>
              <a:rPr lang="en-US" altLang="zh-CN" b="1" dirty="0">
                <a:latin typeface="宋体" panose="02010600030101010101" pitchFamily="2" charset="-122"/>
                <a:ea typeface="宋体" panose="02010600030101010101" pitchFamily="2" charset="-122"/>
              </a:rPr>
              <a:t> error</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  按照构建分析表的约定，空条目即为出现错误，此时，</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必为非终结符*</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else</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if </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M[X，a]=X→Y</a:t>
            </a:r>
            <a:r>
              <a:rPr lang="en-US" altLang="zh-CN" b="1" baseline="-25000" dirty="0">
                <a:latin typeface="宋体" panose="02010600030101010101" pitchFamily="2" charset="-122"/>
                <a:ea typeface="宋体" panose="02010600030101010101" pitchFamily="2" charset="-122"/>
              </a:rPr>
              <a:t>1</a:t>
            </a:r>
            <a:r>
              <a:rPr lang="en-US" altLang="zh-CN" b="1" dirty="0">
                <a:latin typeface="宋体" panose="02010600030101010101" pitchFamily="2" charset="-122"/>
                <a:ea typeface="宋体" panose="02010600030101010101" pitchFamily="2" charset="-122"/>
              </a:rPr>
              <a:t>Y</a:t>
            </a:r>
            <a:r>
              <a:rPr lang="en-US" altLang="zh-CN" b="1" baseline="-25000" dirty="0">
                <a:latin typeface="宋体" panose="02010600030101010101" pitchFamily="2" charset="-122"/>
                <a:ea typeface="宋体" panose="02010600030101010101" pitchFamily="2" charset="-122"/>
              </a:rPr>
              <a:t>2</a:t>
            </a:r>
            <a:r>
              <a:rPr lang="en-US" altLang="zh-CN" b="1" dirty="0">
                <a:ea typeface="宋体" panose="02010600030101010101" pitchFamily="2" charset="-122"/>
              </a:rPr>
              <a:t>…</a:t>
            </a:r>
            <a:r>
              <a:rPr lang="en-US" altLang="zh-CN" b="1" dirty="0">
                <a:latin typeface="宋体" panose="02010600030101010101" pitchFamily="2" charset="-122"/>
                <a:ea typeface="宋体" panose="02010600030101010101" pitchFamily="2" charset="-122"/>
              </a:rPr>
              <a:t>Y</a:t>
            </a:r>
            <a:r>
              <a:rPr lang="en-US" altLang="zh-CN" b="1" baseline="-25000" dirty="0">
                <a:latin typeface="宋体" panose="02010600030101010101" pitchFamily="2" charset="-122"/>
                <a:ea typeface="宋体" panose="02010600030101010101" pitchFamily="2" charset="-122"/>
              </a:rPr>
              <a:t>k</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  执行到此代码行时，</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必为非终结符*</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输出产生式</a:t>
            </a:r>
            <a:r>
              <a:rPr lang="en-US" altLang="zh-CN" b="1" dirty="0">
                <a:latin typeface="宋体" panose="02010600030101010101" pitchFamily="2" charset="-122"/>
                <a:ea typeface="宋体" panose="02010600030101010101" pitchFamily="2" charset="-122"/>
              </a:rPr>
              <a:t>X→Y</a:t>
            </a:r>
            <a:r>
              <a:rPr lang="en-US" altLang="zh-CN" b="1" baseline="-25000" dirty="0">
                <a:latin typeface="宋体" panose="02010600030101010101" pitchFamily="2" charset="-122"/>
                <a:ea typeface="宋体" panose="02010600030101010101" pitchFamily="2" charset="-122"/>
              </a:rPr>
              <a:t>1</a:t>
            </a:r>
            <a:r>
              <a:rPr lang="en-US" altLang="zh-CN" b="1" dirty="0">
                <a:latin typeface="宋体" panose="02010600030101010101" pitchFamily="2" charset="-122"/>
                <a:ea typeface="宋体" panose="02010600030101010101" pitchFamily="2" charset="-122"/>
              </a:rPr>
              <a:t>Y</a:t>
            </a:r>
            <a:r>
              <a:rPr lang="en-US" altLang="zh-CN" b="1" baseline="-25000" dirty="0">
                <a:latin typeface="宋体" panose="02010600030101010101" pitchFamily="2" charset="-122"/>
                <a:ea typeface="宋体" panose="02010600030101010101" pitchFamily="2" charset="-122"/>
              </a:rPr>
              <a:t>2</a:t>
            </a:r>
            <a:r>
              <a:rPr lang="en-US" altLang="zh-CN" b="1" dirty="0">
                <a:ea typeface="宋体" panose="02010600030101010101" pitchFamily="2" charset="-122"/>
              </a:rPr>
              <a:t>…</a:t>
            </a:r>
            <a:r>
              <a:rPr lang="en-US" altLang="zh-CN" b="1" dirty="0">
                <a:latin typeface="宋体" panose="02010600030101010101" pitchFamily="2" charset="-122"/>
                <a:ea typeface="宋体" panose="02010600030101010101" pitchFamily="2" charset="-122"/>
              </a:rPr>
              <a:t>Y</a:t>
            </a:r>
            <a:r>
              <a:rPr lang="en-US" altLang="zh-CN" b="1" baseline="-25000" dirty="0">
                <a:latin typeface="宋体" panose="02010600030101010101" pitchFamily="2" charset="-122"/>
                <a:ea typeface="宋体" panose="02010600030101010101" pitchFamily="2" charset="-122"/>
              </a:rPr>
              <a:t>k</a:t>
            </a:r>
            <a:endParaRPr lang="zh-CN" altLang="en-US"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从栈中弹出</a:t>
            </a:r>
            <a:r>
              <a:rPr lang="en-US" altLang="zh-CN" b="1" dirty="0">
                <a:latin typeface="宋体" panose="02010600030101010101" pitchFamily="2" charset="-122"/>
                <a:ea typeface="宋体" panose="02010600030101010101" pitchFamily="2" charset="-122"/>
              </a:rPr>
              <a:t>X；</a:t>
            </a:r>
            <a:endParaRPr lang="en-US" altLang="zh-CN"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把</a:t>
            </a:r>
            <a:r>
              <a:rPr lang="en-US" altLang="zh-CN" b="1" dirty="0">
                <a:latin typeface="宋体" panose="02010600030101010101" pitchFamily="2" charset="-122"/>
                <a:ea typeface="宋体" panose="02010600030101010101" pitchFamily="2" charset="-122"/>
              </a:rPr>
              <a:t>Y</a:t>
            </a:r>
            <a:r>
              <a:rPr lang="en-US" altLang="zh-CN" b="1" baseline="-25000" dirty="0">
                <a:latin typeface="宋体" panose="02010600030101010101" pitchFamily="2" charset="-122"/>
                <a:ea typeface="宋体" panose="02010600030101010101" pitchFamily="2" charset="-122"/>
              </a:rPr>
              <a:t>k</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Y</a:t>
            </a:r>
            <a:r>
              <a:rPr lang="en-US" altLang="zh-CN" b="1" baseline="-25000" dirty="0">
                <a:latin typeface="宋体" panose="02010600030101010101" pitchFamily="2" charset="-122"/>
                <a:ea typeface="宋体" panose="02010600030101010101" pitchFamily="2" charset="-122"/>
              </a:rPr>
              <a:t>k-1</a:t>
            </a:r>
            <a:r>
              <a:rPr lang="en-US" altLang="zh-CN" b="1" dirty="0">
                <a:latin typeface="宋体" panose="02010600030101010101" pitchFamily="2" charset="-122"/>
                <a:ea typeface="宋体" panose="02010600030101010101" pitchFamily="2" charset="-122"/>
              </a:rPr>
              <a:t>，</a:t>
            </a:r>
            <a:r>
              <a:rPr lang="en-US" altLang="zh-CN" b="1" dirty="0">
                <a:ea typeface="宋体" panose="02010600030101010101" pitchFamily="2" charset="-122"/>
              </a:rPr>
              <a:t>…</a:t>
            </a:r>
            <a:r>
              <a:rPr lang="en-US" altLang="zh-CN" b="1" dirty="0">
                <a:latin typeface="宋体" panose="02010600030101010101" pitchFamily="2" charset="-122"/>
                <a:ea typeface="宋体" panose="02010600030101010101" pitchFamily="2" charset="-122"/>
              </a:rPr>
              <a:t> Y</a:t>
            </a:r>
            <a:r>
              <a:rPr lang="en-US" altLang="zh-CN" b="1" baseline="-25000"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压入栈，</a:t>
            </a:r>
            <a:r>
              <a:rPr lang="en-US" altLang="zh-CN" b="1" dirty="0">
                <a:latin typeface="宋体" panose="02010600030101010101" pitchFamily="2" charset="-122"/>
                <a:ea typeface="宋体" panose="02010600030101010101" pitchFamily="2" charset="-122"/>
              </a:rPr>
              <a:t>Y</a:t>
            </a:r>
            <a:r>
              <a:rPr lang="en-US" altLang="zh-CN" b="1" baseline="-25000"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在栈顶;</a:t>
            </a:r>
            <a:endParaRPr lang="zh-CN" altLang="en-US"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令 </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栈顶符号；</a:t>
            </a:r>
            <a:endParaRPr lang="en-US" altLang="zh-CN" b="1" dirty="0">
              <a:latin typeface="宋体" panose="02010600030101010101" pitchFamily="2" charset="-122"/>
              <a:ea typeface="宋体" panose="02010600030101010101" pitchFamily="2" charset="-122"/>
            </a:endParaRPr>
          </a:p>
          <a:p>
            <a:pPr marL="495300" lvl="0" indent="-495300">
              <a:spcBef>
                <a:spcPct val="0"/>
              </a:spcBef>
              <a:buFont typeface="Wingdings" panose="05000000000000000000" pitchFamily="2" charset="2"/>
              <a:buChar char="•"/>
            </a:pPr>
            <a:r>
              <a:rPr lang="en-US" altLang="zh-CN" b="1" dirty="0">
                <a:latin typeface="宋体" panose="02010600030101010101" pitchFamily="2" charset="-122"/>
                <a:ea typeface="宋体" panose="02010600030101010101" pitchFamily="2" charset="-122"/>
              </a:rPr>
              <a:t>	}</a:t>
            </a:r>
            <a:endParaRPr lang="zh-CN" altLang="en-US" dirty="0">
              <a:ea typeface="宋体" panose="02010600030101010101" pitchFamily="2" charset="-122"/>
            </a:endParaRPr>
          </a:p>
        </p:txBody>
      </p:sp>
      <p:sp>
        <p:nvSpPr>
          <p:cNvPr id="128004"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0051" name="Rectangle 2"/>
          <p:cNvSpPr>
            <a:spLocks noGrp="1" noRot="1" noChangeAspect="1" noTextEdit="1"/>
          </p:cNvSpPr>
          <p:nvPr>
            <p:ph type="sldImg"/>
          </p:nvPr>
        </p:nvSpPr>
        <p:spPr>
          <a:solidFill>
            <a:srgbClr val="FFFFFF">
              <a:alpha val="100000"/>
            </a:srgbClr>
          </a:solidFill>
        </p:spPr>
      </p:sp>
      <p:sp>
        <p:nvSpPr>
          <p:cNvPr id="105476" name="Rectangle 3"/>
          <p:cNvSpPr>
            <a:spLocks noGrp="1" noChangeArrowheads="1"/>
          </p:cNvSpPr>
          <p:nvPr>
            <p:ph type="body" idx="1"/>
          </p:nvPr>
        </p:nvSpPr>
        <p:spPr>
          <a:solidFill>
            <a:srgbClr val="FFFFFF"/>
          </a:solidFill>
          <a:ln w="22225">
            <a:solidFill>
              <a:srgbClr val="000000"/>
            </a:solidFill>
            <a:miter lim="800000"/>
            <a:headEnd w="sm" len="sm"/>
            <a:tailEnd w="lg"/>
          </a:ln>
        </p:spPr>
        <p:txBody>
          <a:bodyPr wrap="square" lIns="91534" tIns="45768" rIns="91534" bIns="45768" numCol="1" anchor="t" anchorCtr="0" compatLnSpc="1"/>
          <a:lstStyle/>
          <a:p>
            <a:pPr marL="0" marR="0" lvl="0" indent="0" algn="l" defTabSz="955675"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参加</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ppt</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的第</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47</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页：</a:t>
            </a:r>
            <a:endParaRPr kumimoji="0" lang="en-US" altLang="zh-CN"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无二义性表达式文法</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1333500" marR="0" lvl="2" indent="-419100" algn="l" defTabSz="955675" rtl="0" eaLnBrk="0" fontAlgn="base" latinLnBrk="0" hangingPunct="0">
              <a:lnSpc>
                <a:spcPct val="100000"/>
              </a:lnSpc>
              <a:spcBef>
                <a:spcPct val="3000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E→TE</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1333500" marR="0" lvl="2" indent="-419100" algn="l" defTabSz="955675" rtl="0" eaLnBrk="0" fontAlgn="base" latinLnBrk="0" hangingPunct="0">
              <a:lnSpc>
                <a:spcPct val="100000"/>
              </a:lnSpc>
              <a:spcBef>
                <a:spcPct val="3000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E</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2000" b="1" i="0" u="none" strike="noStrike" kern="1200" cap="none" spc="0" normalizeH="0" baseline="0" noProof="0" dirty="0" err="1">
                <a:ln>
                  <a:noFill/>
                </a:ln>
                <a:solidFill>
                  <a:schemeClr val="tx1"/>
                </a:solidFill>
                <a:effectLst/>
                <a:uLnTx/>
                <a:uFillTx/>
                <a:latin typeface="宋体" panose="02010600030101010101" pitchFamily="2" charset="-122"/>
                <a:ea typeface="+mn-ea"/>
                <a:cs typeface="+mn-cs"/>
              </a:rPr>
              <a:t>TE</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err="1">
                <a:ln>
                  <a:noFill/>
                </a:ln>
                <a:solidFill>
                  <a:schemeClr val="tx1"/>
                </a:solidFill>
                <a:effectLst/>
                <a:uLnTx/>
                <a:uFillTx/>
                <a:latin typeface="宋体" panose="02010600030101010101" pitchFamily="2" charset="-122"/>
                <a:ea typeface="+mn-ea"/>
                <a:cs typeface="+mn-cs"/>
              </a:rPr>
              <a:t>|</a:t>
            </a:r>
            <a:r>
              <a:rPr kumimoji="0" lang="en-US" altLang="zh-CN" sz="2000" b="1" i="0" u="none" strike="noStrike" kern="1200" cap="none" spc="0" normalizeH="0" baseline="0" noProof="0" dirty="0" err="1">
                <a:ln>
                  <a:noFill/>
                </a:ln>
                <a:solidFill>
                  <a:schemeClr val="tx1"/>
                </a:solidFill>
                <a:effectLst/>
                <a:uLnTx/>
                <a:uFillTx/>
                <a:latin typeface="宋体" panose="02010600030101010101" pitchFamily="2" charset="-122"/>
                <a:ea typeface="+mn-ea"/>
                <a:cs typeface="Times New Roman" panose="02020603050405020304" pitchFamily="18" charset="0"/>
              </a:rPr>
              <a:t>ε</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1333500" marR="0" lvl="2" indent="-419100" algn="l" defTabSz="955675" rtl="0" eaLnBrk="0" fontAlgn="base" latinLnBrk="0" hangingPunct="0">
              <a:lnSpc>
                <a:spcPct val="100000"/>
              </a:lnSpc>
              <a:spcBef>
                <a:spcPct val="3000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T→FT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1333500" marR="0" lvl="2" indent="-419100" algn="l" defTabSz="955675" rtl="0" eaLnBrk="0" fontAlgn="base" latinLnBrk="0" hangingPunct="0">
              <a:lnSpc>
                <a:spcPct val="100000"/>
              </a:lnSpc>
              <a:spcBef>
                <a:spcPct val="3000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2000" b="1" i="0" u="none" strike="noStrike" kern="1200" cap="none" spc="0" normalizeH="0" baseline="0" noProof="0" dirty="0" err="1">
                <a:ln>
                  <a:noFill/>
                </a:ln>
                <a:solidFill>
                  <a:schemeClr val="tx1"/>
                </a:solidFill>
                <a:effectLst/>
                <a:uLnTx/>
                <a:uFillTx/>
                <a:latin typeface="宋体" panose="02010600030101010101" pitchFamily="2" charset="-122"/>
                <a:ea typeface="+mn-ea"/>
                <a:cs typeface="+mn-cs"/>
              </a:rPr>
              <a:t>FT</a:t>
            </a: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err="1">
                <a:ln>
                  <a:noFill/>
                </a:ln>
                <a:solidFill>
                  <a:schemeClr val="tx1"/>
                </a:solidFill>
                <a:effectLst/>
                <a:uLnTx/>
                <a:uFillTx/>
                <a:latin typeface="宋体" panose="02010600030101010101" pitchFamily="2" charset="-122"/>
                <a:ea typeface="+mn-ea"/>
                <a:cs typeface="+mn-cs"/>
              </a:rPr>
              <a:t>|ε</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1333500" marR="0" lvl="2" indent="-419100" algn="l" defTabSz="955675" rtl="0" eaLnBrk="0" fontAlgn="base" latinLnBrk="0" hangingPunct="0">
              <a:lnSpc>
                <a:spcPct val="100000"/>
              </a:lnSpc>
              <a:spcBef>
                <a:spcPct val="3000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F→(E)|id</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则：</a:t>
            </a:r>
            <a:endPar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FIRST(E) = FIRST(T) = FIRST(F) = { ( ，id }</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FIRST(E</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 { + , ε }</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FIRST(T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 { * , ε }</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FOLLOW(E) = FOLLOW(E</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 { ) , $ }</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FOLLOW(T) = FOLLOW(T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 { + , ) , $ }</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495300" marR="0" lvl="0" indent="-495300" algn="l" defTabSz="955675"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FOLLOW(F) = { + , * , ) , $ }</a:t>
            </a:r>
            <a:endPar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幻灯片图像占位符 1"/>
          <p:cNvSpPr>
            <a:spLocks noGrp="1" noRot="1" noChangeAspect="1" noTextEdit="1"/>
          </p:cNvSpPr>
          <p:nvPr>
            <p:ph type="sldImg"/>
          </p:nvPr>
        </p:nvSpPr>
        <p:spPr/>
      </p:sp>
      <p:sp>
        <p:nvSpPr>
          <p:cNvPr id="132099" name="备注占位符 2"/>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构造了最左推导序列：</a:t>
            </a:r>
            <a:r>
              <a:rPr lang="en-US" altLang="zh-CN" dirty="0">
                <a:ea typeface="宋体" panose="02010600030101010101" pitchFamily="2" charset="-122"/>
              </a:rPr>
              <a:t>E=&gt;TE’=&gt;FT’E’=&gt;idT’E’=&gt;idE’=&gt;id+TE’=&gt;…</a:t>
            </a:r>
            <a:endParaRPr lang="zh-CN" altLang="en-US" dirty="0">
              <a:ea typeface="宋体" panose="02010600030101010101" pitchFamily="2" charset="-122"/>
            </a:endParaRPr>
          </a:p>
        </p:txBody>
      </p:sp>
      <p:sp>
        <p:nvSpPr>
          <p:cNvPr id="132100"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4147" name="Rectangle 2"/>
          <p:cNvSpPr>
            <a:spLocks noGrp="1" noRot="1" noChangeAspect="1" noTextEdit="1"/>
          </p:cNvSpPr>
          <p:nvPr>
            <p:ph type="sldImg"/>
          </p:nvPr>
        </p:nvSpPr>
        <p:spPr>
          <a:solidFill>
            <a:srgbClr val="FFFFFF">
              <a:alpha val="100000"/>
            </a:srgbClr>
          </a:solidFill>
        </p:spPr>
      </p:sp>
      <p:sp>
        <p:nvSpPr>
          <p:cNvPr id="13414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6195" name="Rectangle 2"/>
          <p:cNvSpPr>
            <a:spLocks noGrp="1" noRot="1" noChangeAspect="1" noTextEdit="1"/>
          </p:cNvSpPr>
          <p:nvPr>
            <p:ph type="sldImg"/>
          </p:nvPr>
        </p:nvSpPr>
        <p:spPr>
          <a:solidFill>
            <a:srgbClr val="FFFFFF">
              <a:alpha val="100000"/>
            </a:srgbClr>
          </a:solidFill>
        </p:spPr>
      </p:sp>
      <p:sp>
        <p:nvSpPr>
          <p:cNvPr id="13619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方式</a:t>
            </a:r>
            <a:r>
              <a:rPr lang="en-US" altLang="zh-CN" dirty="0">
                <a:ea typeface="宋体" panose="02010600030101010101" pitchFamily="2" charset="-122"/>
              </a:rPr>
              <a:t>1</a:t>
            </a:r>
            <a:r>
              <a:rPr lang="zh-CN" altLang="en-US" dirty="0">
                <a:ea typeface="宋体" panose="02010600030101010101" pitchFamily="2" charset="-122"/>
              </a:rPr>
              <a:t>意味着编译器认为当前的输入不能与</a:t>
            </a:r>
            <a:r>
              <a:rPr lang="en-US" altLang="zh-CN" dirty="0">
                <a:ea typeface="宋体" panose="02010600030101010101" pitchFamily="2" charset="-122"/>
              </a:rPr>
              <a:t>A</a:t>
            </a:r>
            <a:r>
              <a:rPr lang="zh-CN" altLang="en-US" dirty="0">
                <a:ea typeface="宋体" panose="02010600030101010101" pitchFamily="2" charset="-122"/>
              </a:rPr>
              <a:t>推出的终结符号串匹配，因此跳过这一段输入，直至</a:t>
            </a:r>
            <a:r>
              <a:rPr lang="en-US" altLang="zh-CN" dirty="0">
                <a:ea typeface="宋体" panose="02010600030101010101" pitchFamily="2" charset="-122"/>
              </a:rPr>
              <a:t>Follow</a:t>
            </a:r>
            <a:r>
              <a:rPr lang="zh-CN" altLang="en-US" dirty="0">
                <a:ea typeface="宋体" panose="02010600030101010101" pitchFamily="2" charset="-122"/>
              </a:rPr>
              <a:t>（</a:t>
            </a:r>
            <a:r>
              <a:rPr lang="en-US" altLang="zh-CN" dirty="0">
                <a:ea typeface="宋体" panose="02010600030101010101" pitchFamily="2" charset="-122"/>
              </a:rPr>
              <a:t>A</a:t>
            </a:r>
            <a:r>
              <a:rPr lang="zh-CN" altLang="en-US" dirty="0">
                <a:ea typeface="宋体" panose="02010600030101010101" pitchFamily="2" charset="-122"/>
              </a:rPr>
              <a:t>）的出现，隐式地认为更改了这串输入符号，使之与</a:t>
            </a:r>
            <a:r>
              <a:rPr lang="en-US" altLang="zh-CN" dirty="0">
                <a:ea typeface="宋体" panose="02010600030101010101" pitchFamily="2" charset="-122"/>
              </a:rPr>
              <a:t>A</a:t>
            </a:r>
            <a:r>
              <a:rPr lang="zh-CN" altLang="en-US" dirty="0">
                <a:ea typeface="宋体" panose="02010600030101010101" pitchFamily="2" charset="-122"/>
              </a:rPr>
              <a:t>推出的终结符号串匹配，此时把</a:t>
            </a:r>
            <a:r>
              <a:rPr lang="en-US" altLang="zh-CN" dirty="0">
                <a:ea typeface="宋体" panose="02010600030101010101" pitchFamily="2" charset="-122"/>
              </a:rPr>
              <a:t>A</a:t>
            </a:r>
            <a:r>
              <a:rPr lang="zh-CN" altLang="en-US" dirty="0">
                <a:ea typeface="宋体" panose="02010600030101010101" pitchFamily="2" charset="-122"/>
              </a:rPr>
              <a:t>弹出栈，继续后续的分析</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方式</a:t>
            </a:r>
            <a:r>
              <a:rPr lang="en-US" altLang="zh-CN" dirty="0">
                <a:ea typeface="宋体" panose="02010600030101010101" pitchFamily="2" charset="-122"/>
              </a:rPr>
              <a:t>2</a:t>
            </a:r>
            <a:r>
              <a:rPr lang="zh-CN" altLang="en-US" dirty="0">
                <a:ea typeface="宋体" panose="02010600030101010101" pitchFamily="2" charset="-122"/>
              </a:rPr>
              <a:t>意味着高层语法结构的结束自然代表低层语法结构的结束，如语句的结束自然意味着这个语句中的表达式一定也结束了</a:t>
            </a:r>
            <a:endParaRPr lang="zh-CN" altLang="en-US" dirty="0">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8243" name="Rectangle 2"/>
          <p:cNvSpPr>
            <a:spLocks noGrp="1" noRot="1" noChangeAspect="1" noTextEdit="1"/>
          </p:cNvSpPr>
          <p:nvPr>
            <p:ph type="sldImg"/>
          </p:nvPr>
        </p:nvSpPr>
        <p:spPr>
          <a:solidFill>
            <a:srgbClr val="FFFFFF">
              <a:alpha val="100000"/>
            </a:srgbClr>
          </a:solidFill>
        </p:spPr>
      </p:sp>
      <p:sp>
        <p:nvSpPr>
          <p:cNvPr id="13824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方式</a:t>
            </a:r>
            <a:r>
              <a:rPr lang="en-US" altLang="zh-CN" dirty="0">
                <a:ea typeface="宋体" panose="02010600030101010101" pitchFamily="2" charset="-122"/>
              </a:rPr>
              <a:t>3</a:t>
            </a:r>
            <a:r>
              <a:rPr lang="zh-CN" altLang="en-US" dirty="0">
                <a:ea typeface="宋体" panose="02010600030101010101" pitchFamily="2" charset="-122"/>
              </a:rPr>
              <a:t>意味着编译器认为输入缓冲中多了一串符号，将之去掉后，开始新的分析</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0291" name="Rectangle 2"/>
          <p:cNvSpPr>
            <a:spLocks noGrp="1" noRot="1" noChangeAspect="1" noTextEdit="1"/>
          </p:cNvSpPr>
          <p:nvPr>
            <p:ph type="sldImg"/>
          </p:nvPr>
        </p:nvSpPr>
        <p:spPr>
          <a:solidFill>
            <a:srgbClr val="FFFFFF">
              <a:alpha val="100000"/>
            </a:srgbClr>
          </a:solidFill>
        </p:spPr>
      </p:sp>
      <p:sp>
        <p:nvSpPr>
          <p:cNvPr id="14029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2339" name="Rectangle 2"/>
          <p:cNvSpPr>
            <a:spLocks noGrp="1" noRot="1" noChangeAspect="1" noTextEdit="1"/>
          </p:cNvSpPr>
          <p:nvPr>
            <p:ph type="sldImg"/>
          </p:nvPr>
        </p:nvSpPr>
        <p:spPr>
          <a:solidFill>
            <a:srgbClr val="FFFFFF">
              <a:alpha val="100000"/>
            </a:srgbClr>
          </a:solidFill>
        </p:spPr>
      </p:sp>
      <p:sp>
        <p:nvSpPr>
          <p:cNvPr id="14234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4387" name="Rectangle 2"/>
          <p:cNvSpPr>
            <a:spLocks noGrp="1" noRot="1" noChangeAspect="1" noTextEdit="1"/>
          </p:cNvSpPr>
          <p:nvPr>
            <p:ph type="sldImg"/>
          </p:nvPr>
        </p:nvSpPr>
        <p:spPr>
          <a:solidFill>
            <a:srgbClr val="FFFFFF">
              <a:alpha val="100000"/>
            </a:srgbClr>
          </a:solidFill>
        </p:spPr>
      </p:sp>
      <p:sp>
        <p:nvSpPr>
          <p:cNvPr id="14438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6435" name="Rectangle 2"/>
          <p:cNvSpPr>
            <a:spLocks noGrp="1" noRot="1" noChangeAspect="1" noTextEdit="1"/>
          </p:cNvSpPr>
          <p:nvPr>
            <p:ph type="sldImg"/>
          </p:nvPr>
        </p:nvSpPr>
        <p:spPr>
          <a:solidFill>
            <a:srgbClr val="FFFFFF">
              <a:alpha val="100000"/>
            </a:srgbClr>
          </a:solidFill>
        </p:spPr>
      </p:sp>
      <p:sp>
        <p:nvSpPr>
          <p:cNvPr id="14643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8483" name="Rectangle 2"/>
          <p:cNvSpPr>
            <a:spLocks noGrp="1" noRot="1" noChangeAspect="1" noTextEdit="1"/>
          </p:cNvSpPr>
          <p:nvPr>
            <p:ph type="sldImg"/>
          </p:nvPr>
        </p:nvSpPr>
        <p:spPr/>
      </p:sp>
      <p:sp>
        <p:nvSpPr>
          <p:cNvPr id="14848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0531" name="Rectangle 2"/>
          <p:cNvSpPr>
            <a:spLocks noGrp="1" noRot="1" noChangeAspect="1" noTextEdit="1"/>
          </p:cNvSpPr>
          <p:nvPr>
            <p:ph type="sldImg"/>
          </p:nvPr>
        </p:nvSpPr>
        <p:spPr/>
      </p:sp>
      <p:sp>
        <p:nvSpPr>
          <p:cNvPr id="15053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2579" name="Rectangle 2"/>
          <p:cNvSpPr>
            <a:spLocks noGrp="1" noRot="1" noChangeAspect="1" noTextEdit="1"/>
          </p:cNvSpPr>
          <p:nvPr>
            <p:ph type="sldImg"/>
          </p:nvPr>
        </p:nvSpPr>
        <p:spPr/>
      </p:sp>
      <p:sp>
        <p:nvSpPr>
          <p:cNvPr id="15258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4627" name="Rectangle 2"/>
          <p:cNvSpPr>
            <a:spLocks noGrp="1" noRot="1" noChangeAspect="1" noTextEdit="1"/>
          </p:cNvSpPr>
          <p:nvPr>
            <p:ph type="sldImg"/>
          </p:nvPr>
        </p:nvSpPr>
        <p:spPr/>
      </p:sp>
      <p:sp>
        <p:nvSpPr>
          <p:cNvPr id="15462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6675" name="Rectangle 2"/>
          <p:cNvSpPr>
            <a:spLocks noGrp="1" noRot="1" noChangeAspect="1" noTextEdit="1"/>
          </p:cNvSpPr>
          <p:nvPr>
            <p:ph type="sldImg"/>
          </p:nvPr>
        </p:nvSpPr>
        <p:spPr/>
      </p:sp>
      <p:sp>
        <p:nvSpPr>
          <p:cNvPr id="15667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8723" name="Rectangle 2"/>
          <p:cNvSpPr>
            <a:spLocks noGrp="1" noRot="1" noChangeAspect="1" noTextEdit="1"/>
          </p:cNvSpPr>
          <p:nvPr>
            <p:ph type="sldImg"/>
          </p:nvPr>
        </p:nvSpPr>
        <p:spPr/>
      </p:sp>
      <p:sp>
        <p:nvSpPr>
          <p:cNvPr id="15872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0771" name="Rectangle 2"/>
          <p:cNvSpPr>
            <a:spLocks noGrp="1" noRot="1" noChangeAspect="1" noTextEdit="1"/>
          </p:cNvSpPr>
          <p:nvPr>
            <p:ph type="sldImg"/>
          </p:nvPr>
        </p:nvSpPr>
        <p:spPr/>
      </p:sp>
      <p:sp>
        <p:nvSpPr>
          <p:cNvPr id="16077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2819" name="Rectangle 2"/>
          <p:cNvSpPr>
            <a:spLocks noGrp="1" noRot="1" noChangeAspect="1" noTextEdit="1"/>
          </p:cNvSpPr>
          <p:nvPr>
            <p:ph type="sldImg"/>
          </p:nvPr>
        </p:nvSpPr>
        <p:spPr/>
      </p:sp>
      <p:sp>
        <p:nvSpPr>
          <p:cNvPr id="162820"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移进</a:t>
            </a:r>
            <a:r>
              <a:rPr lang="en-US" altLang="zh-CN" dirty="0">
                <a:ea typeface="宋体" panose="02010600030101010101" pitchFamily="2" charset="-122"/>
              </a:rPr>
              <a:t>-</a:t>
            </a:r>
            <a:r>
              <a:rPr lang="zh-CN" altLang="en-US" dirty="0">
                <a:ea typeface="宋体" panose="02010600030101010101" pitchFamily="2" charset="-122"/>
              </a:rPr>
              <a:t>归约分析器的一个格局：是指分析器通过前面的移进或归约操作，已经将输入的已见的前缀归结成一个文法符号串放在了栈里，符号串的头在栈底，尾在栈顶，下面将根据输入的向前看符号确定下一步的动作。并且，栈里的文法符号串与输入缓冲中待分析的输入串拼接在一起，刚好构成了一个右句型</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要对文法扩展的一个重要原因是确保当开始符号出现在栈里时，分析器可以确定知道是否应该结束分析</a:t>
            </a:r>
            <a:endParaRPr lang="zh-CN" altLang="en-US" dirty="0">
              <a:ea typeface="宋体" panose="02010600030101010101"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4867" name="Rectangle 2"/>
          <p:cNvSpPr>
            <a:spLocks noGrp="1" noRot="1" noChangeAspect="1" noTextEdit="1"/>
          </p:cNvSpPr>
          <p:nvPr>
            <p:ph type="sldImg"/>
          </p:nvPr>
        </p:nvSpPr>
        <p:spPr/>
      </p:sp>
      <p:sp>
        <p:nvSpPr>
          <p:cNvPr id="16486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6915" name="Rectangle 2"/>
          <p:cNvSpPr>
            <a:spLocks noGrp="1" noRot="1" noChangeAspect="1" noTextEdit="1"/>
          </p:cNvSpPr>
          <p:nvPr>
            <p:ph type="sldImg"/>
          </p:nvPr>
        </p:nvSpPr>
        <p:spPr/>
      </p:sp>
      <p:sp>
        <p:nvSpPr>
          <p:cNvPr id="16691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8963" name="Rectangle 2"/>
          <p:cNvSpPr>
            <a:spLocks noGrp="1" noRot="1" noChangeAspect="1" noTextEdit="1"/>
          </p:cNvSpPr>
          <p:nvPr>
            <p:ph type="sldImg"/>
          </p:nvPr>
        </p:nvSpPr>
        <p:spPr/>
      </p:sp>
      <p:sp>
        <p:nvSpPr>
          <p:cNvPr id="1689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1011" name="Rectangle 2"/>
          <p:cNvSpPr>
            <a:spLocks noGrp="1" noRot="1" noChangeAspect="1" noTextEdit="1"/>
          </p:cNvSpPr>
          <p:nvPr>
            <p:ph type="sldImg"/>
          </p:nvPr>
        </p:nvSpPr>
        <p:spPr/>
      </p:sp>
      <p:sp>
        <p:nvSpPr>
          <p:cNvPr id="1710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3059" name="Rectangle 2"/>
          <p:cNvSpPr>
            <a:spLocks noGrp="1" noRot="1" noChangeAspect="1" noTextEdit="1"/>
          </p:cNvSpPr>
          <p:nvPr>
            <p:ph type="sldImg"/>
          </p:nvPr>
        </p:nvSpPr>
        <p:spPr/>
      </p:sp>
      <p:sp>
        <p:nvSpPr>
          <p:cNvPr id="1730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幻灯片图像占位符 1"/>
          <p:cNvSpPr>
            <a:spLocks noGrp="1" noRot="1" noChangeAspect="1" noTextEdit="1"/>
          </p:cNvSpPr>
          <p:nvPr>
            <p:ph type="sldImg"/>
          </p:nvPr>
        </p:nvSpPr>
        <p:spPr/>
      </p:sp>
      <p:sp>
        <p:nvSpPr>
          <p:cNvPr id="175107" name="备注占位符 2"/>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课本上的例子，</a:t>
            </a:r>
            <a:r>
              <a:rPr lang="en-US" altLang="zh-CN" dirty="0">
                <a:ea typeface="宋体" panose="02010600030101010101" pitchFamily="2" charset="-122"/>
              </a:rPr>
              <a:t>4.25</a:t>
            </a:r>
            <a:r>
              <a:rPr lang="zh-CN" altLang="en-US" dirty="0">
                <a:ea typeface="宋体" panose="02010600030101010101" pitchFamily="2" charset="-122"/>
              </a:rPr>
              <a:t>给出了表达式文法自底向上分析过程的示意，</a:t>
            </a:r>
            <a:r>
              <a:rPr lang="en-US" altLang="zh-CN" dirty="0">
                <a:ea typeface="宋体" panose="02010600030101010101" pitchFamily="2" charset="-122"/>
              </a:rPr>
              <a:t>4.26</a:t>
            </a:r>
            <a:r>
              <a:rPr lang="zh-CN" altLang="en-US" dirty="0">
                <a:ea typeface="宋体" panose="02010600030101010101" pitchFamily="2" charset="-122"/>
              </a:rPr>
              <a:t>给出了上述移进</a:t>
            </a:r>
            <a:r>
              <a:rPr lang="en-US" altLang="zh-CN" dirty="0">
                <a:ea typeface="宋体" panose="02010600030101010101" pitchFamily="2" charset="-122"/>
              </a:rPr>
              <a:t>-</a:t>
            </a:r>
            <a:r>
              <a:rPr lang="zh-CN" altLang="en-US" dirty="0">
                <a:ea typeface="宋体" panose="02010600030101010101" pitchFamily="2" charset="-122"/>
              </a:rPr>
              <a:t>归约分析过程中各步的句柄，</a:t>
            </a:r>
            <a:r>
              <a:rPr lang="en-US" altLang="zh-CN" dirty="0">
                <a:ea typeface="宋体" panose="02010600030101010101" pitchFamily="2" charset="-122"/>
              </a:rPr>
              <a:t>4.28</a:t>
            </a:r>
            <a:r>
              <a:rPr lang="zh-CN" altLang="en-US" dirty="0">
                <a:ea typeface="宋体" panose="02010600030101010101" pitchFamily="2" charset="-122"/>
              </a:rPr>
              <a:t>给出了对于表达式文法的一个移进</a:t>
            </a:r>
            <a:r>
              <a:rPr lang="en-US" altLang="zh-CN" dirty="0">
                <a:ea typeface="宋体" panose="02010600030101010101" pitchFamily="2" charset="-122"/>
              </a:rPr>
              <a:t>-</a:t>
            </a:r>
            <a:r>
              <a:rPr lang="zh-CN" altLang="en-US" dirty="0">
                <a:ea typeface="宋体" panose="02010600030101010101" pitchFamily="2" charset="-122"/>
              </a:rPr>
              <a:t>归约分析器在分析“</a:t>
            </a:r>
            <a:r>
              <a:rPr lang="en-US" altLang="zh-CN" dirty="0">
                <a:ea typeface="宋体" panose="02010600030101010101" pitchFamily="2" charset="-122"/>
              </a:rPr>
              <a:t>id</a:t>
            </a:r>
            <a:r>
              <a:rPr lang="zh-CN" altLang="en-US" dirty="0">
                <a:ea typeface="宋体" panose="02010600030101010101" pitchFamily="2" charset="-122"/>
              </a:rPr>
              <a:t>*</a:t>
            </a:r>
            <a:r>
              <a:rPr lang="en-US" altLang="zh-CN" dirty="0">
                <a:ea typeface="宋体" panose="02010600030101010101" pitchFamily="2" charset="-122"/>
              </a:rPr>
              <a:t>id</a:t>
            </a:r>
            <a:r>
              <a:rPr lang="zh-CN" altLang="en-US" dirty="0">
                <a:ea typeface="宋体" panose="02010600030101010101" pitchFamily="2" charset="-122"/>
              </a:rPr>
              <a:t>”时经历的格局</a:t>
            </a:r>
            <a:endParaRPr lang="zh-CN" altLang="en-US" dirty="0">
              <a:ea typeface="宋体" panose="02010600030101010101" pitchFamily="2" charset="-122"/>
            </a:endParaRPr>
          </a:p>
        </p:txBody>
      </p:sp>
      <p:sp>
        <p:nvSpPr>
          <p:cNvPr id="175108"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7155" name="Rectangle 2"/>
          <p:cNvSpPr>
            <a:spLocks noGrp="1" noRot="1" noChangeAspect="1" noTextEdit="1"/>
          </p:cNvSpPr>
          <p:nvPr>
            <p:ph type="sldImg"/>
          </p:nvPr>
        </p:nvSpPr>
        <p:spPr/>
      </p:sp>
      <p:sp>
        <p:nvSpPr>
          <p:cNvPr id="17715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9203" name="Rectangle 2"/>
          <p:cNvSpPr>
            <a:spLocks noGrp="1" noRot="1" noChangeAspect="1" noTextEdit="1"/>
          </p:cNvSpPr>
          <p:nvPr>
            <p:ph type="sldImg"/>
          </p:nvPr>
        </p:nvSpPr>
        <p:spPr/>
      </p:sp>
      <p:sp>
        <p:nvSpPr>
          <p:cNvPr id="17920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1251" name="Rectangle 2"/>
          <p:cNvSpPr>
            <a:spLocks noGrp="1" noRot="1" noChangeAspect="1" noTextEdit="1"/>
          </p:cNvSpPr>
          <p:nvPr>
            <p:ph type="sldImg"/>
          </p:nvPr>
        </p:nvSpPr>
        <p:spPr/>
      </p:sp>
      <p:sp>
        <p:nvSpPr>
          <p:cNvPr id="18125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3299" name="Rectangle 2"/>
          <p:cNvSpPr>
            <a:spLocks noGrp="1" noRot="1" noChangeAspect="1" noTextEdit="1"/>
          </p:cNvSpPr>
          <p:nvPr>
            <p:ph type="sldImg"/>
          </p:nvPr>
        </p:nvSpPr>
        <p:spPr/>
      </p:sp>
      <p:sp>
        <p:nvSpPr>
          <p:cNvPr id="18330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5347" name="Rectangle 2"/>
          <p:cNvSpPr>
            <a:spLocks noGrp="1" noRot="1" noChangeAspect="1" noTextEdit="1"/>
          </p:cNvSpPr>
          <p:nvPr>
            <p:ph type="sldImg"/>
          </p:nvPr>
        </p:nvSpPr>
        <p:spPr/>
      </p:sp>
      <p:sp>
        <p:nvSpPr>
          <p:cNvPr id="185348"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此处可以简单介绍一下</a:t>
            </a:r>
            <a:r>
              <a:rPr lang="en-US" altLang="zh-CN" dirty="0">
                <a:ea typeface="宋体" panose="02010600030101010101" pitchFamily="2" charset="-122"/>
              </a:rPr>
              <a:t>LL</a:t>
            </a:r>
            <a:r>
              <a:rPr lang="zh-CN" altLang="en-US" dirty="0">
                <a:ea typeface="宋体" panose="02010600030101010101" pitchFamily="2" charset="-122"/>
              </a:rPr>
              <a:t>分析和</a:t>
            </a:r>
            <a:r>
              <a:rPr lang="en-US" altLang="zh-CN" dirty="0">
                <a:ea typeface="宋体" panose="02010600030101010101" pitchFamily="2" charset="-122"/>
              </a:rPr>
              <a:t>LR</a:t>
            </a:r>
            <a:r>
              <a:rPr lang="zh-CN" altLang="en-US" dirty="0">
                <a:ea typeface="宋体" panose="02010600030101010101" pitchFamily="2" charset="-122"/>
              </a:rPr>
              <a:t>分析的区别 </a:t>
            </a:r>
            <a:r>
              <a:rPr lang="en-US" altLang="zh-CN" dirty="0">
                <a:ea typeface="宋体" panose="02010600030101010101" pitchFamily="2" charset="-122"/>
              </a:rPr>
              <a:t>LL</a:t>
            </a:r>
            <a:r>
              <a:rPr lang="zh-CN" altLang="en-US" dirty="0">
                <a:ea typeface="宋体" panose="02010600030101010101" pitchFamily="2" charset="-122"/>
              </a:rPr>
              <a:t>（</a:t>
            </a:r>
            <a:r>
              <a:rPr lang="en-US" altLang="zh-CN" dirty="0">
                <a:ea typeface="宋体" panose="02010600030101010101" pitchFamily="2" charset="-122"/>
              </a:rPr>
              <a:t>k</a:t>
            </a:r>
            <a:r>
              <a:rPr lang="zh-CN" altLang="en-US" dirty="0">
                <a:ea typeface="宋体" panose="02010600030101010101" pitchFamily="2" charset="-122"/>
              </a:rPr>
              <a:t>）是看到了产生式右部产生的前</a:t>
            </a:r>
            <a:r>
              <a:rPr lang="en-US" altLang="zh-CN" dirty="0">
                <a:ea typeface="宋体" panose="02010600030101010101" pitchFamily="2" charset="-122"/>
              </a:rPr>
              <a:t>k</a:t>
            </a:r>
            <a:r>
              <a:rPr lang="zh-CN" altLang="en-US" dirty="0">
                <a:ea typeface="宋体" panose="02010600030101010101" pitchFamily="2" charset="-122"/>
              </a:rPr>
              <a:t>个终结符，做了进一步分析的决定，而</a:t>
            </a:r>
            <a:r>
              <a:rPr lang="en-US" altLang="zh-CN" dirty="0">
                <a:ea typeface="宋体" panose="02010600030101010101" pitchFamily="2" charset="-122"/>
              </a:rPr>
              <a:t>LR</a:t>
            </a:r>
            <a:r>
              <a:rPr lang="zh-CN" altLang="en-US" dirty="0">
                <a:ea typeface="宋体" panose="02010600030101010101" pitchFamily="2" charset="-122"/>
              </a:rPr>
              <a:t>（</a:t>
            </a:r>
            <a:r>
              <a:rPr lang="en-US" altLang="zh-CN" dirty="0">
                <a:ea typeface="宋体" panose="02010600030101010101" pitchFamily="2" charset="-122"/>
              </a:rPr>
              <a:t>k</a:t>
            </a:r>
            <a:r>
              <a:rPr lang="zh-CN" altLang="en-US" dirty="0">
                <a:ea typeface="宋体" panose="02010600030101010101" pitchFamily="2" charset="-122"/>
              </a:rPr>
              <a:t>）是看到了完整的句柄，并进一步看到了紧跟在句柄之后的前</a:t>
            </a:r>
            <a:r>
              <a:rPr lang="en-US" altLang="zh-CN" dirty="0">
                <a:ea typeface="宋体" panose="02010600030101010101" pitchFamily="2" charset="-122"/>
              </a:rPr>
              <a:t>k</a:t>
            </a:r>
            <a:r>
              <a:rPr lang="zh-CN" altLang="en-US" dirty="0">
                <a:ea typeface="宋体" panose="02010600030101010101" pitchFamily="2" charset="-122"/>
              </a:rPr>
              <a:t>个终结符，才作决定，因此</a:t>
            </a:r>
            <a:r>
              <a:rPr lang="en-US" altLang="zh-CN" dirty="0">
                <a:ea typeface="宋体" panose="02010600030101010101" pitchFamily="2" charset="-122"/>
              </a:rPr>
              <a:t>LR</a:t>
            </a:r>
            <a:r>
              <a:rPr lang="zh-CN" altLang="en-US" dirty="0">
                <a:ea typeface="宋体" panose="02010600030101010101" pitchFamily="2" charset="-122"/>
              </a:rPr>
              <a:t>能力更好一些</a:t>
            </a:r>
            <a:endParaRPr lang="zh-CN" altLang="en-US" dirty="0">
              <a:ea typeface="宋体" panose="02010600030101010101" pitchFamily="2" charset="-122"/>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7395" name="Rectangle 2"/>
          <p:cNvSpPr>
            <a:spLocks noGrp="1" noRot="1" noChangeAspect="1" noTextEdit="1"/>
          </p:cNvSpPr>
          <p:nvPr>
            <p:ph type="sldImg"/>
          </p:nvPr>
        </p:nvSpPr>
        <p:spPr>
          <a:solidFill>
            <a:srgbClr val="FFFFFF">
              <a:alpha val="100000"/>
            </a:srgbClr>
          </a:solidFill>
        </p:spPr>
      </p:sp>
      <p:sp>
        <p:nvSpPr>
          <p:cNvPr id="18739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9443" name="Rectangle 2"/>
          <p:cNvSpPr>
            <a:spLocks noGrp="1" noRot="1" noChangeAspect="1" noTextEdit="1"/>
          </p:cNvSpPr>
          <p:nvPr>
            <p:ph type="sldImg"/>
          </p:nvPr>
        </p:nvSpPr>
        <p:spPr>
          <a:solidFill>
            <a:srgbClr val="FFFFFF">
              <a:alpha val="100000"/>
            </a:srgbClr>
          </a:solidFill>
        </p:spPr>
      </p:sp>
      <p:sp>
        <p:nvSpPr>
          <p:cNvPr id="18944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1491" name="Rectangle 2"/>
          <p:cNvSpPr>
            <a:spLocks noGrp="1" noRot="1" noChangeAspect="1" noTextEdit="1"/>
          </p:cNvSpPr>
          <p:nvPr>
            <p:ph type="sldImg"/>
          </p:nvPr>
        </p:nvSpPr>
        <p:spPr>
          <a:solidFill>
            <a:srgbClr val="FFFFFF">
              <a:alpha val="100000"/>
            </a:srgbClr>
          </a:solidFill>
        </p:spPr>
      </p:sp>
      <p:sp>
        <p:nvSpPr>
          <p:cNvPr id="19149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有些文法可以不用增广（当文法的开始符号出现在栈中时，可以明确知道分析成功），本书中的文法是需要增广的，为了保险起见，可以对文法都进行增广，方法就是增加一个新的文法开始符号，这个符号只对应了一个产生式，就是产生出原来的开始符号</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在给出了</a:t>
            </a:r>
            <a:r>
              <a:rPr lang="en-US" altLang="zh-CN" dirty="0">
                <a:ea typeface="宋体" panose="02010600030101010101" pitchFamily="2" charset="-122"/>
              </a:rPr>
              <a:t>LR</a:t>
            </a:r>
            <a:r>
              <a:rPr lang="zh-CN" altLang="en-US" dirty="0">
                <a:ea typeface="宋体" panose="02010600030101010101" pitchFamily="2" charset="-122"/>
              </a:rPr>
              <a:t>（</a:t>
            </a:r>
            <a:r>
              <a:rPr lang="en-US" altLang="zh-CN" dirty="0">
                <a:ea typeface="宋体" panose="02010600030101010101" pitchFamily="2" charset="-122"/>
              </a:rPr>
              <a:t>0</a:t>
            </a:r>
            <a:r>
              <a:rPr lang="zh-CN" altLang="en-US" dirty="0">
                <a:ea typeface="宋体" panose="02010600030101010101" pitchFamily="2" charset="-122"/>
              </a:rPr>
              <a:t>）项目后，可以构造识别这些项目的</a:t>
            </a:r>
            <a:r>
              <a:rPr lang="en-US" altLang="zh-CN" dirty="0">
                <a:ea typeface="宋体" panose="02010600030101010101" pitchFamily="2" charset="-122"/>
              </a:rPr>
              <a:t>NFA</a:t>
            </a:r>
            <a:endParaRPr lang="zh-CN" altLang="en-US" dirty="0">
              <a:ea typeface="宋体" panose="02010600030101010101" pitchFamily="2" charset="-122"/>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3539" name="Rectangle 2"/>
          <p:cNvSpPr>
            <a:spLocks noGrp="1" noRot="1" noChangeAspect="1" noTextEdit="1"/>
          </p:cNvSpPr>
          <p:nvPr>
            <p:ph type="sldImg"/>
          </p:nvPr>
        </p:nvSpPr>
        <p:spPr>
          <a:solidFill>
            <a:srgbClr val="FFFFFF">
              <a:alpha val="100000"/>
            </a:srgbClr>
          </a:solidFill>
        </p:spPr>
      </p:sp>
      <p:sp>
        <p:nvSpPr>
          <p:cNvPr id="19354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5587" name="Rectangle 2"/>
          <p:cNvSpPr>
            <a:spLocks noGrp="1" noRot="1" noChangeAspect="1" noTextEdit="1"/>
          </p:cNvSpPr>
          <p:nvPr>
            <p:ph type="sldImg"/>
          </p:nvPr>
        </p:nvSpPr>
        <p:spPr>
          <a:solidFill>
            <a:srgbClr val="FFFFFF">
              <a:alpha val="100000"/>
            </a:srgbClr>
          </a:solidFill>
        </p:spPr>
      </p:sp>
      <p:sp>
        <p:nvSpPr>
          <p:cNvPr id="19558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7635" name="Rectangle 2"/>
          <p:cNvSpPr>
            <a:spLocks noGrp="1" noRot="1" noChangeAspect="1" noTextEdit="1"/>
          </p:cNvSpPr>
          <p:nvPr>
            <p:ph type="sldImg"/>
          </p:nvPr>
        </p:nvSpPr>
        <p:spPr>
          <a:solidFill>
            <a:srgbClr val="FFFFFF">
              <a:alpha val="100000"/>
            </a:srgbClr>
          </a:solidFill>
        </p:spPr>
      </p:sp>
      <p:sp>
        <p:nvSpPr>
          <p:cNvPr id="19763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9683" name="Rectangle 2"/>
          <p:cNvSpPr>
            <a:spLocks noGrp="1" noRot="1" noChangeAspect="1" noTextEdit="1"/>
          </p:cNvSpPr>
          <p:nvPr>
            <p:ph type="sldImg"/>
          </p:nvPr>
        </p:nvSpPr>
        <p:spPr>
          <a:solidFill>
            <a:srgbClr val="FFFFFF">
              <a:alpha val="100000"/>
            </a:srgbClr>
          </a:solidFill>
        </p:spPr>
      </p:sp>
      <p:sp>
        <p:nvSpPr>
          <p:cNvPr id="19968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此处的</a:t>
            </a:r>
            <a:r>
              <a:rPr lang="en-US" altLang="zh-CN" dirty="0">
                <a:ea typeface="宋体" panose="02010600030101010101" pitchFamily="2" charset="-122"/>
              </a:rPr>
              <a:t>DFA</a:t>
            </a:r>
            <a:r>
              <a:rPr lang="zh-CN" altLang="en-US" dirty="0">
                <a:ea typeface="宋体" panose="02010600030101010101" pitchFamily="2" charset="-122"/>
              </a:rPr>
              <a:t>的状态可以用上一章介绍的方法得到，也可以用下页的方法得到</a:t>
            </a:r>
            <a:endParaRPr lang="zh-CN" altLang="en-US" dirty="0">
              <a:ea typeface="宋体" panose="02010600030101010101" pitchFamily="2" charset="-122"/>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1731" name="Rectangle 2"/>
          <p:cNvSpPr>
            <a:spLocks noGrp="1" noRot="1" noChangeAspect="1" noTextEdit="1"/>
          </p:cNvSpPr>
          <p:nvPr>
            <p:ph type="sldImg"/>
          </p:nvPr>
        </p:nvSpPr>
        <p:spPr>
          <a:solidFill>
            <a:srgbClr val="FFFFFF">
              <a:alpha val="100000"/>
            </a:srgbClr>
          </a:solidFill>
        </p:spPr>
      </p:sp>
      <p:sp>
        <p:nvSpPr>
          <p:cNvPr id="20173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b="1" dirty="0">
              <a:ea typeface="宋体" panose="02010600030101010101" pitchFamily="2" charset="-122"/>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3779" name="Rectangle 2"/>
          <p:cNvSpPr>
            <a:spLocks noGrp="1" noRot="1" noChangeAspect="1" noTextEdit="1"/>
          </p:cNvSpPr>
          <p:nvPr>
            <p:ph type="sldImg"/>
          </p:nvPr>
        </p:nvSpPr>
        <p:spPr>
          <a:solidFill>
            <a:srgbClr val="FFFFFF">
              <a:alpha val="100000"/>
            </a:srgbClr>
          </a:solidFill>
        </p:spPr>
      </p:sp>
      <p:sp>
        <p:nvSpPr>
          <p:cNvPr id="20378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sz="4000" b="1" dirty="0">
                <a:ea typeface="宋体" panose="02010600030101010101" pitchFamily="2" charset="-122"/>
              </a:rPr>
              <a:t>在项目分类的意义第二项中：可以只用核心项目表示一个项目集，从而减少存储空间</a:t>
            </a:r>
            <a:endParaRPr lang="zh-CN" altLang="en-US" sz="4000" b="1" dirty="0">
              <a:ea typeface="宋体" panose="02010600030101010101" pitchFamily="2" charset="-122"/>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5827" name="Rectangle 2"/>
          <p:cNvSpPr>
            <a:spLocks noGrp="1" noRot="1" noChangeAspect="1" noTextEdit="1"/>
          </p:cNvSpPr>
          <p:nvPr>
            <p:ph type="sldImg"/>
          </p:nvPr>
        </p:nvSpPr>
        <p:spPr>
          <a:solidFill>
            <a:srgbClr val="FFFFFF">
              <a:alpha val="100000"/>
            </a:srgbClr>
          </a:solidFill>
        </p:spPr>
      </p:sp>
      <p:sp>
        <p:nvSpPr>
          <p:cNvPr id="20582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sz="4000" b="1" dirty="0">
              <a:ea typeface="宋体" panose="02010600030101010101" pitchFamily="2" charset="-122"/>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7875" name="Rectangle 2"/>
          <p:cNvSpPr>
            <a:spLocks noGrp="1" noRot="1" noChangeAspect="1" noTextEdit="1"/>
          </p:cNvSpPr>
          <p:nvPr>
            <p:ph type="sldImg"/>
          </p:nvPr>
        </p:nvSpPr>
        <p:spPr>
          <a:solidFill>
            <a:srgbClr val="FFFFFF">
              <a:alpha val="100000"/>
            </a:srgbClr>
          </a:solidFill>
        </p:spPr>
      </p:sp>
      <p:sp>
        <p:nvSpPr>
          <p:cNvPr id="20787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9923" name="Rectangle 2"/>
          <p:cNvSpPr>
            <a:spLocks noGrp="1" noRot="1" noChangeAspect="1" noTextEdit="1"/>
          </p:cNvSpPr>
          <p:nvPr>
            <p:ph type="sldImg"/>
          </p:nvPr>
        </p:nvSpPr>
        <p:spPr>
          <a:solidFill>
            <a:srgbClr val="FFFFFF">
              <a:alpha val="100000"/>
            </a:srgbClr>
          </a:solidFill>
        </p:spPr>
      </p:sp>
      <p:sp>
        <p:nvSpPr>
          <p:cNvPr id="20992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幻灯片图像占位符 1"/>
          <p:cNvSpPr>
            <a:spLocks noGrp="1" noRot="1" noChangeAspect="1" noTextEdit="1"/>
          </p:cNvSpPr>
          <p:nvPr>
            <p:ph type="sldImg"/>
          </p:nvPr>
        </p:nvSpPr>
        <p:spPr/>
      </p:sp>
      <p:sp>
        <p:nvSpPr>
          <p:cNvPr id="211971" name="备注占位符 2"/>
          <p:cNvSpPr>
            <a:spLocks noGrp="1"/>
          </p:cNvSpPr>
          <p:nvPr>
            <p:ph type="body" idx="1"/>
          </p:nvPr>
        </p:nvSpPr>
        <p:spPr>
          <a:ln w="22225"/>
        </p:spPr>
        <p:txBody>
          <a:bodyPr wrap="square" lIns="91534" tIns="45768" rIns="91534" bIns="45768" anchor="t" anchorCtr="0"/>
          <a:p>
            <a:pPr lvl="0"/>
            <a:r>
              <a:rPr lang="en-US" altLang="zh-CN" b="1" dirty="0">
                <a:ea typeface="宋体" panose="02010600030101010101" pitchFamily="2" charset="-122"/>
              </a:rPr>
              <a:t>LR(0)</a:t>
            </a:r>
            <a:r>
              <a:rPr lang="zh-CN" altLang="en-US" b="1" dirty="0">
                <a:ea typeface="宋体" panose="02010600030101010101" pitchFamily="2" charset="-122"/>
              </a:rPr>
              <a:t>文法：每个项目集不存在下述情况：</a:t>
            </a:r>
            <a:endParaRPr lang="zh-CN" altLang="en-US" b="1" dirty="0">
              <a:ea typeface="宋体" panose="02010600030101010101" pitchFamily="2" charset="-122"/>
            </a:endParaRPr>
          </a:p>
          <a:p>
            <a:pPr lvl="0"/>
            <a:r>
              <a:rPr lang="zh-CN" altLang="en-US" b="1" dirty="0">
                <a:ea typeface="宋体" panose="02010600030101010101" pitchFamily="2" charset="-122"/>
              </a:rPr>
              <a:t>	</a:t>
            </a:r>
            <a:r>
              <a:rPr lang="en-US" altLang="zh-CN" b="1" dirty="0">
                <a:ea typeface="宋体" panose="02010600030101010101" pitchFamily="2" charset="-122"/>
              </a:rPr>
              <a:t>1</a:t>
            </a:r>
            <a:r>
              <a:rPr lang="zh-CN" altLang="en-US" b="1" dirty="0">
                <a:ea typeface="宋体" panose="02010600030101010101" pitchFamily="2" charset="-122"/>
              </a:rPr>
              <a:t>。 即含移进项目，又含归约项目</a:t>
            </a:r>
            <a:endParaRPr lang="zh-CN" altLang="en-US" b="1" dirty="0">
              <a:ea typeface="宋体" panose="02010600030101010101" pitchFamily="2" charset="-122"/>
            </a:endParaRPr>
          </a:p>
          <a:p>
            <a:pPr lvl="0"/>
            <a:r>
              <a:rPr lang="zh-CN" altLang="en-US" b="1" dirty="0">
                <a:ea typeface="宋体" panose="02010600030101010101" pitchFamily="2" charset="-122"/>
              </a:rPr>
              <a:t>	</a:t>
            </a:r>
            <a:r>
              <a:rPr lang="en-US" altLang="zh-CN" b="1" dirty="0">
                <a:ea typeface="宋体" panose="02010600030101010101" pitchFamily="2" charset="-122"/>
              </a:rPr>
              <a:t>2</a:t>
            </a:r>
            <a:r>
              <a:rPr lang="zh-CN" altLang="en-US" b="1" dirty="0">
                <a:ea typeface="宋体" panose="02010600030101010101" pitchFamily="2" charset="-122"/>
              </a:rPr>
              <a:t>。 含有多个归约项目</a:t>
            </a:r>
            <a:endParaRPr lang="zh-CN" altLang="en-US" b="1" dirty="0">
              <a:ea typeface="宋体" panose="02010600030101010101" pitchFamily="2" charset="-122"/>
            </a:endParaRPr>
          </a:p>
          <a:p>
            <a:pPr lvl="0"/>
            <a:endParaRPr lang="zh-CN" altLang="en-US" b="1" dirty="0">
              <a:ea typeface="宋体" panose="02010600030101010101" pitchFamily="2" charset="-122"/>
            </a:endParaRPr>
          </a:p>
          <a:p>
            <a:pPr lvl="0"/>
            <a:r>
              <a:rPr lang="zh-CN" altLang="en-US" b="1" dirty="0">
                <a:ea typeface="宋体" panose="02010600030101010101" pitchFamily="2" charset="-122"/>
              </a:rPr>
              <a:t>总之，就是不含有任何冲突项目，但是识别的文法非常简单，算术表达式文法都不是</a:t>
            </a:r>
            <a:r>
              <a:rPr lang="en-US" altLang="zh-CN" b="1" dirty="0">
                <a:ea typeface="宋体" panose="02010600030101010101" pitchFamily="2" charset="-122"/>
              </a:rPr>
              <a:t>LR</a:t>
            </a:r>
            <a:r>
              <a:rPr lang="zh-CN" altLang="en-US" b="1" dirty="0">
                <a:ea typeface="宋体" panose="02010600030101010101" pitchFamily="2" charset="-122"/>
              </a:rPr>
              <a:t>（</a:t>
            </a:r>
            <a:r>
              <a:rPr lang="en-US" altLang="zh-CN" b="1" dirty="0">
                <a:ea typeface="宋体" panose="02010600030101010101" pitchFamily="2" charset="-122"/>
              </a:rPr>
              <a:t>0</a:t>
            </a:r>
            <a:r>
              <a:rPr lang="zh-CN" altLang="en-US" b="1" dirty="0">
                <a:ea typeface="宋体" panose="02010600030101010101" pitchFamily="2" charset="-122"/>
              </a:rPr>
              <a:t>）的</a:t>
            </a:r>
            <a:endParaRPr lang="en-US" altLang="zh-CN" b="1" dirty="0">
              <a:ea typeface="宋体" panose="02010600030101010101" pitchFamily="2" charset="-122"/>
            </a:endParaRPr>
          </a:p>
          <a:p>
            <a:pPr lvl="0"/>
            <a:endParaRPr lang="en-US" altLang="zh-CN" b="1" dirty="0">
              <a:ea typeface="宋体" panose="02010600030101010101" pitchFamily="2" charset="-122"/>
            </a:endParaRPr>
          </a:p>
          <a:p>
            <a:pPr lvl="0"/>
            <a:r>
              <a:rPr lang="zh-CN" altLang="en-US" b="1" dirty="0">
                <a:ea typeface="宋体" panose="02010600030101010101" pitchFamily="2" charset="-122"/>
              </a:rPr>
              <a:t>构造</a:t>
            </a:r>
            <a:endParaRPr lang="zh-CN" altLang="en-US" b="1" dirty="0">
              <a:ea typeface="宋体" panose="02010600030101010101" pitchFamily="2" charset="-122"/>
            </a:endParaRPr>
          </a:p>
          <a:p>
            <a:pPr lvl="0"/>
            <a:endParaRPr lang="zh-CN" altLang="en-US" b="1" dirty="0">
              <a:ea typeface="宋体" panose="02010600030101010101" pitchFamily="2" charset="-122"/>
            </a:endParaRPr>
          </a:p>
          <a:p>
            <a:pPr lvl="0"/>
            <a:endParaRPr lang="zh-CN" altLang="en-US" dirty="0">
              <a:ea typeface="宋体" panose="02010600030101010101" pitchFamily="2" charset="-122"/>
            </a:endParaRPr>
          </a:p>
        </p:txBody>
      </p:sp>
      <p:sp>
        <p:nvSpPr>
          <p:cNvPr id="211972"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4019" name="Rectangle 2"/>
          <p:cNvSpPr>
            <a:spLocks noGrp="1" noRot="1" noChangeAspect="1" noTextEdit="1"/>
          </p:cNvSpPr>
          <p:nvPr>
            <p:ph type="sldImg"/>
          </p:nvPr>
        </p:nvSpPr>
        <p:spPr>
          <a:solidFill>
            <a:srgbClr val="FFFFFF">
              <a:alpha val="100000"/>
            </a:srgbClr>
          </a:solidFill>
        </p:spPr>
      </p:sp>
      <p:sp>
        <p:nvSpPr>
          <p:cNvPr id="21402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b="1" dirty="0">
              <a:ea typeface="宋体" panose="02010600030101010101" pitchFamily="2" charset="-122"/>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6067" name="Rectangle 2"/>
          <p:cNvSpPr>
            <a:spLocks noGrp="1" noRot="1" noChangeAspect="1" noTextEdit="1"/>
          </p:cNvSpPr>
          <p:nvPr>
            <p:ph type="sldImg"/>
          </p:nvPr>
        </p:nvSpPr>
        <p:spPr/>
      </p:sp>
      <p:sp>
        <p:nvSpPr>
          <p:cNvPr id="216068"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课本上在栈里只出现状态符号，而省略了文法符号，是因为文法符号和状态符号是配对出现的，每个状态符号都只能一个文法符号相关联，但是反之不然，一个文法符号可以和多个状态符号关联（文法符号在栈里不同的出现，由于其上下文的差异，关联的状态也是不同的）</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b="1" i="1" dirty="0">
                <a:ea typeface="宋体" panose="02010600030101010101" pitchFamily="2" charset="-122"/>
              </a:rPr>
              <a:t>有的教科书上，栈里显式地出现文法符号，形成形如</a:t>
            </a:r>
            <a:r>
              <a:rPr lang="en-US" altLang="zh-CN" b="1" i="1" dirty="0">
                <a:ea typeface="宋体" panose="02010600030101010101" pitchFamily="2" charset="-122"/>
              </a:rPr>
              <a:t>s</a:t>
            </a:r>
            <a:r>
              <a:rPr lang="en-US" altLang="zh-CN" b="1" i="1" baseline="-25000" dirty="0">
                <a:ea typeface="宋体" panose="02010600030101010101" pitchFamily="2" charset="-122"/>
              </a:rPr>
              <a:t>0</a:t>
            </a:r>
            <a:r>
              <a:rPr lang="en-US" altLang="zh-CN" b="1" i="1" dirty="0">
                <a:ea typeface="宋体" panose="02010600030101010101" pitchFamily="2" charset="-122"/>
              </a:rPr>
              <a:t>X</a:t>
            </a:r>
            <a:r>
              <a:rPr lang="en-US" altLang="zh-CN" b="1" i="1" baseline="-25000" dirty="0">
                <a:ea typeface="宋体" panose="02010600030101010101" pitchFamily="2" charset="-122"/>
              </a:rPr>
              <a:t>1</a:t>
            </a:r>
            <a:r>
              <a:rPr lang="en-US" altLang="zh-CN" b="1" i="1" dirty="0">
                <a:ea typeface="宋体" panose="02010600030101010101" pitchFamily="2" charset="-122"/>
              </a:rPr>
              <a:t>s</a:t>
            </a:r>
            <a:r>
              <a:rPr lang="en-US" altLang="zh-CN" b="1" i="1" baseline="-25000" dirty="0">
                <a:ea typeface="宋体" panose="02010600030101010101" pitchFamily="2" charset="-122"/>
              </a:rPr>
              <a:t>1</a:t>
            </a:r>
            <a:r>
              <a:rPr lang="en-US" altLang="zh-CN" b="1" i="1" dirty="0">
                <a:ea typeface="宋体" panose="02010600030101010101" pitchFamily="2" charset="-122"/>
              </a:rPr>
              <a:t>…X</a:t>
            </a:r>
            <a:r>
              <a:rPr lang="en-US" altLang="zh-CN" b="1" i="1" baseline="-25000" dirty="0">
                <a:ea typeface="宋体" panose="02010600030101010101" pitchFamily="2" charset="-122"/>
              </a:rPr>
              <a:t>m</a:t>
            </a:r>
            <a:r>
              <a:rPr lang="en-US" altLang="zh-CN" b="1" i="1" dirty="0">
                <a:ea typeface="宋体" panose="02010600030101010101" pitchFamily="2" charset="-122"/>
              </a:rPr>
              <a:t>s</a:t>
            </a:r>
            <a:r>
              <a:rPr lang="en-US" altLang="zh-CN" b="1" i="1" baseline="-25000" dirty="0">
                <a:ea typeface="宋体" panose="02010600030101010101" pitchFamily="2" charset="-122"/>
              </a:rPr>
              <a:t>m</a:t>
            </a:r>
            <a:r>
              <a:rPr lang="zh-CN" altLang="en-US" b="1" i="1" dirty="0">
                <a:ea typeface="宋体" panose="02010600030101010101" pitchFamily="2" charset="-122"/>
              </a:rPr>
              <a:t>的符号串，其中</a:t>
            </a:r>
            <a:r>
              <a:rPr lang="en-US" altLang="zh-CN" b="1" i="1" dirty="0">
                <a:ea typeface="宋体" panose="02010600030101010101" pitchFamily="2" charset="-122"/>
              </a:rPr>
              <a:t>X</a:t>
            </a:r>
            <a:r>
              <a:rPr lang="en-US" altLang="zh-CN" b="1" i="1" baseline="-25000" dirty="0">
                <a:ea typeface="宋体" panose="02010600030101010101" pitchFamily="2" charset="-122"/>
              </a:rPr>
              <a:t>i</a:t>
            </a:r>
            <a:r>
              <a:rPr lang="zh-CN" altLang="en-US" b="1" dirty="0">
                <a:ea typeface="宋体" panose="02010600030101010101" pitchFamily="2" charset="-122"/>
              </a:rPr>
              <a:t>是</a:t>
            </a:r>
            <a:r>
              <a:rPr lang="zh-CN" altLang="en-US" b="1" dirty="0">
                <a:solidFill>
                  <a:srgbClr val="063DE8"/>
                </a:solidFill>
                <a:ea typeface="宋体" panose="02010600030101010101" pitchFamily="2" charset="-122"/>
              </a:rPr>
              <a:t>文法</a:t>
            </a:r>
            <a:r>
              <a:rPr lang="zh-CN" altLang="en-US" b="1" dirty="0">
                <a:ea typeface="宋体" panose="02010600030101010101" pitchFamily="2" charset="-122"/>
              </a:rPr>
              <a:t>符号，</a:t>
            </a:r>
            <a:endParaRPr lang="en-US" altLang="zh-CN" dirty="0">
              <a:ea typeface="宋体" panose="02010600030101010101" pitchFamily="2" charset="-122"/>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8115" name="Rectangle 2"/>
          <p:cNvSpPr>
            <a:spLocks noGrp="1" noRot="1" noChangeAspect="1" noTextEdit="1"/>
          </p:cNvSpPr>
          <p:nvPr>
            <p:ph type="sldImg"/>
          </p:nvPr>
        </p:nvSpPr>
        <p:spPr/>
      </p:sp>
      <p:sp>
        <p:nvSpPr>
          <p:cNvPr id="21811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0163" name="Rectangle 2"/>
          <p:cNvSpPr>
            <a:spLocks noGrp="1" noRot="1" noChangeAspect="1" noTextEdit="1"/>
          </p:cNvSpPr>
          <p:nvPr>
            <p:ph type="sldImg"/>
          </p:nvPr>
        </p:nvSpPr>
        <p:spPr/>
      </p:sp>
      <p:sp>
        <p:nvSpPr>
          <p:cNvPr id="2201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2211" name="Rectangle 2"/>
          <p:cNvSpPr>
            <a:spLocks noGrp="1" noRot="1" noChangeAspect="1" noTextEdit="1"/>
          </p:cNvSpPr>
          <p:nvPr>
            <p:ph type="sldImg"/>
          </p:nvPr>
        </p:nvSpPr>
        <p:spPr/>
      </p:sp>
      <p:sp>
        <p:nvSpPr>
          <p:cNvPr id="2222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4259" name="Rectangle 2"/>
          <p:cNvSpPr>
            <a:spLocks noGrp="1" noRot="1" noChangeAspect="1" noTextEdit="1"/>
          </p:cNvSpPr>
          <p:nvPr>
            <p:ph type="sldImg"/>
          </p:nvPr>
        </p:nvSpPr>
        <p:spPr/>
      </p:sp>
      <p:sp>
        <p:nvSpPr>
          <p:cNvPr id="2242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6307" name="Rectangle 2"/>
          <p:cNvSpPr>
            <a:spLocks noGrp="1" noRot="1" noChangeAspect="1" noTextEdit="1"/>
          </p:cNvSpPr>
          <p:nvPr>
            <p:ph type="sldImg"/>
          </p:nvPr>
        </p:nvSpPr>
        <p:spPr/>
      </p:sp>
      <p:sp>
        <p:nvSpPr>
          <p:cNvPr id="22630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8355" name="Rectangle 2"/>
          <p:cNvSpPr>
            <a:spLocks noGrp="1" noRot="1" noChangeAspect="1" noTextEdit="1"/>
          </p:cNvSpPr>
          <p:nvPr>
            <p:ph type="sldImg"/>
          </p:nvPr>
        </p:nvSpPr>
        <p:spPr>
          <a:solidFill>
            <a:srgbClr val="FFFFFF">
              <a:alpha val="100000"/>
            </a:srgbClr>
          </a:solidFill>
        </p:spPr>
      </p:sp>
      <p:sp>
        <p:nvSpPr>
          <p:cNvPr id="22835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回忆</a:t>
            </a:r>
            <a:r>
              <a:rPr lang="en-US" altLang="zh-CN" dirty="0">
                <a:ea typeface="宋体" panose="02010600030101010101" pitchFamily="2" charset="-122"/>
              </a:rPr>
              <a:t>102</a:t>
            </a:r>
            <a:r>
              <a:rPr lang="zh-CN" altLang="en-US" dirty="0">
                <a:ea typeface="宋体" panose="02010600030101010101" pitchFamily="2" charset="-122"/>
              </a:rPr>
              <a:t>页的图</a:t>
            </a:r>
            <a:r>
              <a:rPr lang="en-US" altLang="zh-CN" dirty="0">
                <a:ea typeface="宋体" panose="02010600030101010101" pitchFamily="2" charset="-122"/>
              </a:rPr>
              <a:t>4-31</a:t>
            </a:r>
            <a:r>
              <a:rPr lang="zh-CN" altLang="en-US" dirty="0">
                <a:ea typeface="宋体" panose="02010600030101010101" pitchFamily="2" charset="-122"/>
              </a:rPr>
              <a:t>，在下一页重复帖了图</a:t>
            </a:r>
            <a:r>
              <a:rPr lang="en-US" altLang="zh-CN" dirty="0">
                <a:ea typeface="宋体" panose="02010600030101010101" pitchFamily="2" charset="-122"/>
              </a:rPr>
              <a:t>4-31</a:t>
            </a:r>
            <a:r>
              <a:rPr lang="zh-CN" altLang="en-US" dirty="0">
                <a:ea typeface="宋体" panose="02010600030101010101" pitchFamily="2" charset="-122"/>
              </a:rPr>
              <a:t>，</a:t>
            </a:r>
            <a:r>
              <a:rPr lang="en-US" altLang="zh-CN" dirty="0">
                <a:ea typeface="宋体" panose="02010600030101010101" pitchFamily="2" charset="-122"/>
              </a:rPr>
              <a:t>LR</a:t>
            </a:r>
            <a:r>
              <a:rPr lang="zh-CN" altLang="en-US" dirty="0">
                <a:ea typeface="宋体" panose="02010600030101010101" pitchFamily="2" charset="-122"/>
              </a:rPr>
              <a:t>（</a:t>
            </a:r>
            <a:r>
              <a:rPr lang="en-US" altLang="zh-CN" dirty="0">
                <a:ea typeface="宋体" panose="02010600030101010101" pitchFamily="2" charset="-122"/>
              </a:rPr>
              <a:t>0</a:t>
            </a:r>
            <a:r>
              <a:rPr lang="zh-CN" altLang="en-US" dirty="0">
                <a:ea typeface="宋体" panose="02010600030101010101" pitchFamily="2" charset="-122"/>
              </a:rPr>
              <a:t>）和</a:t>
            </a:r>
            <a:r>
              <a:rPr lang="en-US" altLang="zh-CN" dirty="0">
                <a:ea typeface="宋体" panose="02010600030101010101" pitchFamily="2" charset="-122"/>
              </a:rPr>
              <a:t>SLR</a:t>
            </a: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）的自动机是相同的，分析表的行、列数是一样的，差异是对于归约项目的应用上面，</a:t>
            </a:r>
            <a:r>
              <a:rPr lang="en-US" altLang="zh-CN" dirty="0">
                <a:ea typeface="宋体" panose="02010600030101010101" pitchFamily="2" charset="-122"/>
              </a:rPr>
              <a:t>LR</a:t>
            </a:r>
            <a:r>
              <a:rPr lang="zh-CN" altLang="en-US" dirty="0">
                <a:ea typeface="宋体" panose="02010600030101010101" pitchFamily="2" charset="-122"/>
              </a:rPr>
              <a:t>（</a:t>
            </a:r>
            <a:r>
              <a:rPr lang="en-US" altLang="zh-CN" dirty="0">
                <a:ea typeface="宋体" panose="02010600030101010101" pitchFamily="2" charset="-122"/>
              </a:rPr>
              <a:t>0</a:t>
            </a:r>
            <a:r>
              <a:rPr lang="zh-CN" altLang="en-US" dirty="0">
                <a:ea typeface="宋体" panose="02010600030101010101" pitchFamily="2" charset="-122"/>
              </a:rPr>
              <a:t>）是对于所有的输入符号都归约，而</a:t>
            </a:r>
            <a:r>
              <a:rPr lang="en-US" altLang="zh-CN" dirty="0">
                <a:ea typeface="宋体" panose="02010600030101010101" pitchFamily="2" charset="-122"/>
              </a:rPr>
              <a:t>SLR</a:t>
            </a: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）要根据产生式左部非终结符的</a:t>
            </a:r>
            <a:r>
              <a:rPr lang="en-US" altLang="zh-CN" dirty="0">
                <a:ea typeface="宋体" panose="02010600030101010101" pitchFamily="2" charset="-122"/>
              </a:rPr>
              <a:t>FOLLOW</a:t>
            </a:r>
            <a:r>
              <a:rPr lang="zh-CN" altLang="en-US" dirty="0">
                <a:ea typeface="宋体" panose="02010600030101010101" pitchFamily="2" charset="-122"/>
              </a:rPr>
              <a:t>集合，来确定在面临哪些符号是进行归约，所以对于很多文法，构造的</a:t>
            </a:r>
            <a:r>
              <a:rPr lang="en-US" altLang="zh-CN" dirty="0">
                <a:ea typeface="宋体" panose="02010600030101010101" pitchFamily="2" charset="-122"/>
              </a:rPr>
              <a:t>LR</a:t>
            </a:r>
            <a:r>
              <a:rPr lang="zh-CN" altLang="en-US" dirty="0">
                <a:ea typeface="宋体" panose="02010600030101010101" pitchFamily="2" charset="-122"/>
              </a:rPr>
              <a:t>（</a:t>
            </a:r>
            <a:r>
              <a:rPr lang="en-US" altLang="zh-CN" dirty="0">
                <a:ea typeface="宋体" panose="02010600030101010101" pitchFamily="2" charset="-122"/>
              </a:rPr>
              <a:t>0</a:t>
            </a:r>
            <a:r>
              <a:rPr lang="zh-CN" altLang="en-US" dirty="0">
                <a:ea typeface="宋体" panose="02010600030101010101" pitchFamily="2" charset="-122"/>
              </a:rPr>
              <a:t>）分析表会有多重定义（冲突）的情况</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1427" name="Rectangle 2"/>
          <p:cNvSpPr>
            <a:spLocks noGrp="1" noRot="1" noChangeAspect="1" noTextEdit="1"/>
          </p:cNvSpPr>
          <p:nvPr>
            <p:ph type="sldImg"/>
          </p:nvPr>
        </p:nvSpPr>
        <p:spPr>
          <a:solidFill>
            <a:srgbClr val="FFFFFF">
              <a:alpha val="100000"/>
            </a:srgbClr>
          </a:solidFill>
        </p:spPr>
      </p:sp>
      <p:sp>
        <p:nvSpPr>
          <p:cNvPr id="23142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表达式文法</a:t>
            </a:r>
            <a:r>
              <a:rPr lang="en-US" altLang="zh-CN" dirty="0">
                <a:ea typeface="宋体" panose="02010600030101010101" pitchFamily="2" charset="-122"/>
              </a:rPr>
              <a:t>SLR</a:t>
            </a:r>
            <a:r>
              <a:rPr lang="zh-CN" altLang="en-US" dirty="0">
                <a:ea typeface="宋体" panose="02010600030101010101" pitchFamily="2" charset="-122"/>
              </a:rPr>
              <a:t>分析器对句子</a:t>
            </a:r>
            <a:r>
              <a:rPr lang="en-US" altLang="zh-CN" dirty="0">
                <a:ea typeface="宋体" panose="02010600030101010101" pitchFamily="2" charset="-122"/>
              </a:rPr>
              <a:t>id</a:t>
            </a:r>
            <a:r>
              <a:rPr lang="zh-CN" altLang="en-US" dirty="0">
                <a:ea typeface="宋体" panose="02010600030101010101" pitchFamily="2" charset="-122"/>
              </a:rPr>
              <a:t>*</a:t>
            </a:r>
            <a:r>
              <a:rPr lang="en-US" altLang="zh-CN" dirty="0">
                <a:ea typeface="宋体" panose="02010600030101010101" pitchFamily="2" charset="-122"/>
              </a:rPr>
              <a:t>id+id</a:t>
            </a:r>
            <a:r>
              <a:rPr lang="zh-CN" altLang="en-US" dirty="0">
                <a:ea typeface="宋体" panose="02010600030101010101" pitchFamily="2" charset="-122"/>
              </a:rPr>
              <a:t>的分析过程</a:t>
            </a:r>
            <a:endParaRPr lang="zh-CN" altLang="en-US" dirty="0">
              <a:ea typeface="宋体" panose="02010600030101010101" pitchFamily="2" charset="-122"/>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3475" name="Rectangle 2"/>
          <p:cNvSpPr>
            <a:spLocks noGrp="1" noRot="1" noChangeAspect="1" noTextEdit="1"/>
          </p:cNvSpPr>
          <p:nvPr>
            <p:ph type="sldImg"/>
          </p:nvPr>
        </p:nvSpPr>
        <p:spPr>
          <a:solidFill>
            <a:srgbClr val="FFFFFF">
              <a:alpha val="100000"/>
            </a:srgbClr>
          </a:solidFill>
        </p:spPr>
      </p:sp>
      <p:sp>
        <p:nvSpPr>
          <p:cNvPr id="23347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5523" name="Rectangle 2"/>
          <p:cNvSpPr>
            <a:spLocks noGrp="1" noRot="1" noChangeAspect="1" noTextEdit="1"/>
          </p:cNvSpPr>
          <p:nvPr>
            <p:ph type="sldImg"/>
          </p:nvPr>
        </p:nvSpPr>
        <p:spPr>
          <a:solidFill>
            <a:srgbClr val="FFFFFF">
              <a:alpha val="100000"/>
            </a:srgbClr>
          </a:solidFill>
        </p:spPr>
      </p:sp>
      <p:sp>
        <p:nvSpPr>
          <p:cNvPr id="23552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设面临输入符号</a:t>
            </a:r>
            <a:r>
              <a:rPr lang="en-US" altLang="zh-CN" dirty="0">
                <a:ea typeface="宋体" panose="02010600030101010101" pitchFamily="2" charset="-122"/>
              </a:rPr>
              <a:t>a</a:t>
            </a:r>
            <a:r>
              <a:rPr lang="zh-CN" altLang="en-US" dirty="0">
                <a:ea typeface="宋体" panose="02010600030101010101" pitchFamily="2" charset="-122"/>
              </a:rPr>
              <a:t>，</a:t>
            </a:r>
            <a:endParaRPr lang="zh-CN" altLang="en-US" dirty="0">
              <a:ea typeface="宋体" panose="02010600030101010101" pitchFamily="2" charset="-122"/>
            </a:endParaRPr>
          </a:p>
          <a:p>
            <a:pPr lvl="0"/>
            <a:r>
              <a:rPr lang="zh-CN" altLang="en-US" dirty="0">
                <a:ea typeface="宋体" panose="02010600030101010101" pitchFamily="2" charset="-122"/>
              </a:rPr>
              <a:t>	</a:t>
            </a:r>
            <a:r>
              <a:rPr lang="en-US" altLang="zh-CN" dirty="0">
                <a:ea typeface="宋体" panose="02010600030101010101" pitchFamily="2" charset="-122"/>
              </a:rPr>
              <a:t>1)	</a:t>
            </a:r>
            <a:r>
              <a:rPr lang="zh-CN" altLang="en-US" dirty="0">
                <a:ea typeface="宋体" panose="02010600030101010101" pitchFamily="2" charset="-122"/>
              </a:rPr>
              <a:t>若</a:t>
            </a:r>
            <a:r>
              <a:rPr lang="en-US" altLang="zh-CN" dirty="0">
                <a:ea typeface="宋体" panose="02010600030101010101" pitchFamily="2" charset="-122"/>
              </a:rPr>
              <a:t>a = b</a:t>
            </a:r>
            <a:r>
              <a:rPr lang="zh-CN" altLang="en-US" dirty="0">
                <a:ea typeface="宋体" panose="02010600030101010101" pitchFamily="2" charset="-122"/>
              </a:rPr>
              <a:t>， 则移进，对应第一个项目</a:t>
            </a:r>
            <a:endParaRPr lang="zh-CN" altLang="en-US" dirty="0">
              <a:ea typeface="宋体" panose="02010600030101010101" pitchFamily="2" charset="-122"/>
            </a:endParaRPr>
          </a:p>
          <a:p>
            <a:pPr lvl="0"/>
            <a:r>
              <a:rPr lang="zh-CN" altLang="en-US" dirty="0">
                <a:ea typeface="宋体" panose="02010600030101010101" pitchFamily="2" charset="-122"/>
              </a:rPr>
              <a:t>	</a:t>
            </a:r>
            <a:r>
              <a:rPr lang="en-US" altLang="zh-CN" dirty="0">
                <a:ea typeface="宋体" panose="02010600030101010101" pitchFamily="2" charset="-122"/>
              </a:rPr>
              <a:t>2)	</a:t>
            </a:r>
            <a:r>
              <a:rPr lang="zh-CN" altLang="en-US" dirty="0">
                <a:ea typeface="宋体" panose="02010600030101010101" pitchFamily="2" charset="-122"/>
              </a:rPr>
              <a:t>若</a:t>
            </a:r>
            <a:r>
              <a:rPr lang="en-US" altLang="zh-CN" dirty="0">
                <a:ea typeface="宋体" panose="02010600030101010101" pitchFamily="2" charset="-122"/>
              </a:rPr>
              <a:t>a </a:t>
            </a:r>
            <a:r>
              <a:rPr lang="en-US" altLang="zh-CN" dirty="0">
                <a:latin typeface="宋体" panose="02010600030101010101" pitchFamily="2" charset="-122"/>
                <a:ea typeface="宋体" panose="02010600030101010101" pitchFamily="2" charset="-122"/>
              </a:rPr>
              <a:t>∈</a:t>
            </a:r>
            <a:r>
              <a:rPr lang="en-US" altLang="zh-CN" dirty="0">
                <a:ea typeface="宋体" panose="02010600030101010101" pitchFamily="2" charset="-122"/>
              </a:rPr>
              <a:t> FOLLOW(A)</a:t>
            </a:r>
            <a:r>
              <a:rPr lang="zh-CN" altLang="en-US" dirty="0">
                <a:ea typeface="宋体" panose="02010600030101010101" pitchFamily="2" charset="-122"/>
              </a:rPr>
              <a:t>， 则归约，对应第二个项目</a:t>
            </a:r>
            <a:endParaRPr lang="zh-CN" altLang="en-US" dirty="0">
              <a:ea typeface="宋体" panose="02010600030101010101" pitchFamily="2" charset="-122"/>
            </a:endParaRPr>
          </a:p>
          <a:p>
            <a:pPr lvl="0"/>
            <a:r>
              <a:rPr lang="zh-CN" altLang="en-US" dirty="0">
                <a:ea typeface="宋体" panose="02010600030101010101" pitchFamily="2" charset="-122"/>
              </a:rPr>
              <a:t>	</a:t>
            </a:r>
            <a:r>
              <a:rPr lang="en-US" altLang="zh-CN" dirty="0">
                <a:ea typeface="宋体" panose="02010600030101010101" pitchFamily="2" charset="-122"/>
              </a:rPr>
              <a:t>3)	</a:t>
            </a:r>
            <a:r>
              <a:rPr lang="zh-CN" altLang="en-US" dirty="0">
                <a:ea typeface="宋体" panose="02010600030101010101" pitchFamily="2" charset="-122"/>
              </a:rPr>
              <a:t>若</a:t>
            </a:r>
            <a:r>
              <a:rPr lang="en-US" altLang="zh-CN" dirty="0">
                <a:ea typeface="宋体" panose="02010600030101010101" pitchFamily="2" charset="-122"/>
              </a:rPr>
              <a:t>a </a:t>
            </a:r>
            <a:r>
              <a:rPr lang="en-US" altLang="zh-CN" dirty="0">
                <a:latin typeface="宋体" panose="02010600030101010101" pitchFamily="2" charset="-122"/>
                <a:ea typeface="宋体" panose="02010600030101010101" pitchFamily="2" charset="-122"/>
              </a:rPr>
              <a:t>∈</a:t>
            </a:r>
            <a:r>
              <a:rPr lang="en-US" altLang="zh-CN" dirty="0">
                <a:ea typeface="宋体" panose="02010600030101010101" pitchFamily="2" charset="-122"/>
              </a:rPr>
              <a:t> FOLLOW(B)</a:t>
            </a:r>
            <a:r>
              <a:rPr lang="zh-CN" altLang="en-US" dirty="0">
                <a:ea typeface="宋体" panose="02010600030101010101" pitchFamily="2" charset="-122"/>
              </a:rPr>
              <a:t>， 则归约，对应第三个项目</a:t>
            </a:r>
            <a:endParaRPr lang="zh-CN" altLang="en-US" dirty="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7571" name="Rectangle 2"/>
          <p:cNvSpPr>
            <a:spLocks noGrp="1" noRot="1" noChangeAspect="1" noTextEdit="1"/>
          </p:cNvSpPr>
          <p:nvPr>
            <p:ph type="sldImg"/>
          </p:nvPr>
        </p:nvSpPr>
        <p:spPr>
          <a:solidFill>
            <a:srgbClr val="FFFFFF">
              <a:alpha val="100000"/>
            </a:srgbClr>
          </a:solidFill>
        </p:spPr>
      </p:sp>
      <p:sp>
        <p:nvSpPr>
          <p:cNvPr id="23757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9619" name="Rectangle 2"/>
          <p:cNvSpPr>
            <a:spLocks noGrp="1" noRot="1" noChangeAspect="1" noTextEdit="1"/>
          </p:cNvSpPr>
          <p:nvPr>
            <p:ph type="sldImg"/>
          </p:nvPr>
        </p:nvSpPr>
        <p:spPr>
          <a:solidFill>
            <a:srgbClr val="FFFFFF">
              <a:alpha val="100000"/>
            </a:srgbClr>
          </a:solidFill>
        </p:spPr>
      </p:sp>
      <p:sp>
        <p:nvSpPr>
          <p:cNvPr id="23962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如果只写</a:t>
            </a:r>
            <a:r>
              <a:rPr lang="en-US" altLang="zh-CN" dirty="0">
                <a:ea typeface="宋体" panose="02010600030101010101" pitchFamily="2" charset="-122"/>
              </a:rPr>
              <a:t>SLR</a:t>
            </a:r>
            <a:r>
              <a:rPr lang="zh-CN" altLang="en-US" dirty="0">
                <a:ea typeface="宋体" panose="02010600030101010101" pitchFamily="2" charset="-122"/>
              </a:rPr>
              <a:t>，意味着</a:t>
            </a:r>
            <a:r>
              <a:rPr lang="en-US" altLang="zh-CN" dirty="0">
                <a:ea typeface="宋体" panose="02010600030101010101" pitchFamily="2" charset="-122"/>
              </a:rPr>
              <a:t>SLR</a:t>
            </a: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a:t>
            </a:r>
            <a:endParaRPr lang="zh-CN" altLang="en-US" dirty="0">
              <a:ea typeface="宋体" panose="02010600030101010101" pitchFamily="2" charset="-122"/>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1667" name="Rectangle 2"/>
          <p:cNvSpPr>
            <a:spLocks noGrp="1" noRot="1" noChangeAspect="1" noTextEdit="1"/>
          </p:cNvSpPr>
          <p:nvPr>
            <p:ph type="sldImg"/>
          </p:nvPr>
        </p:nvSpPr>
        <p:spPr>
          <a:solidFill>
            <a:srgbClr val="FFFFFF">
              <a:alpha val="100000"/>
            </a:srgbClr>
          </a:solidFill>
        </p:spPr>
      </p:sp>
      <p:sp>
        <p:nvSpPr>
          <p:cNvPr id="24166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en-US" altLang="zh-CN" dirty="0">
                <a:ea typeface="宋体" panose="02010600030101010101" pitchFamily="2" charset="-122"/>
              </a:rPr>
              <a:t>SLR</a:t>
            </a:r>
            <a:r>
              <a:rPr lang="zh-CN" altLang="en-US" dirty="0">
                <a:ea typeface="宋体" panose="02010600030101010101" pitchFamily="2" charset="-122"/>
              </a:rPr>
              <a:t>是在</a:t>
            </a:r>
            <a:r>
              <a:rPr lang="en-US" altLang="zh-CN" dirty="0">
                <a:ea typeface="宋体" panose="02010600030101010101" pitchFamily="2" charset="-122"/>
              </a:rPr>
              <a:t>LR</a:t>
            </a:r>
            <a:r>
              <a:rPr lang="zh-CN" altLang="en-US" dirty="0">
                <a:ea typeface="宋体" panose="02010600030101010101" pitchFamily="2" charset="-122"/>
              </a:rPr>
              <a:t>（</a:t>
            </a:r>
            <a:r>
              <a:rPr lang="en-US" altLang="zh-CN" dirty="0">
                <a:ea typeface="宋体" panose="02010600030101010101" pitchFamily="2" charset="-122"/>
              </a:rPr>
              <a:t>0</a:t>
            </a:r>
            <a:r>
              <a:rPr lang="zh-CN" altLang="en-US" dirty="0">
                <a:ea typeface="宋体" panose="02010600030101010101" pitchFamily="2" charset="-122"/>
              </a:rPr>
              <a:t>）的基础上构建，在有了</a:t>
            </a:r>
            <a:r>
              <a:rPr lang="en-US" altLang="zh-CN" dirty="0">
                <a:ea typeface="宋体" panose="02010600030101010101" pitchFamily="2" charset="-122"/>
              </a:rPr>
              <a:t>LR</a:t>
            </a:r>
            <a:r>
              <a:rPr lang="zh-CN" altLang="en-US" dirty="0">
                <a:ea typeface="宋体" panose="02010600030101010101" pitchFamily="2" charset="-122"/>
              </a:rPr>
              <a:t>（</a:t>
            </a:r>
            <a:r>
              <a:rPr lang="en-US" altLang="zh-CN" dirty="0">
                <a:ea typeface="宋体" panose="02010600030101010101" pitchFamily="2" charset="-122"/>
              </a:rPr>
              <a:t>0</a:t>
            </a:r>
            <a:r>
              <a:rPr lang="zh-CN" altLang="en-US" dirty="0">
                <a:ea typeface="宋体" panose="02010600030101010101" pitchFamily="2" charset="-122"/>
              </a:rPr>
              <a:t>）自动机后再考虑向前看的符号，时机晚了，应该更早地考虑向前看的符号，就是后面的规范</a:t>
            </a:r>
            <a:r>
              <a:rPr lang="en-US" altLang="zh-CN" dirty="0">
                <a:ea typeface="宋体" panose="02010600030101010101" pitchFamily="2" charset="-122"/>
              </a:rPr>
              <a:t>LR</a:t>
            </a:r>
            <a:r>
              <a:rPr lang="zh-CN" altLang="en-US" dirty="0">
                <a:ea typeface="宋体" panose="02010600030101010101" pitchFamily="2" charset="-122"/>
              </a:rPr>
              <a:t>分析和</a:t>
            </a:r>
            <a:r>
              <a:rPr lang="en-US" altLang="zh-CN" dirty="0">
                <a:ea typeface="宋体" panose="02010600030101010101" pitchFamily="2" charset="-122"/>
              </a:rPr>
              <a:t>LALR</a:t>
            </a:r>
            <a:r>
              <a:rPr lang="zh-CN" altLang="en-US" dirty="0">
                <a:ea typeface="宋体" panose="02010600030101010101" pitchFamily="2" charset="-122"/>
              </a:rPr>
              <a:t>分析</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有些文法是</a:t>
            </a:r>
            <a:r>
              <a:rPr lang="en-US" altLang="zh-CN" dirty="0">
                <a:ea typeface="宋体" panose="02010600030101010101" pitchFamily="2" charset="-122"/>
              </a:rPr>
              <a:t>LL</a:t>
            </a: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）的，不是</a:t>
            </a:r>
            <a:r>
              <a:rPr lang="en-US" altLang="zh-CN" dirty="0">
                <a:ea typeface="宋体" panose="02010600030101010101" pitchFamily="2" charset="-122"/>
              </a:rPr>
              <a:t>SLR</a:t>
            </a: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）的，如课本练习</a:t>
            </a:r>
            <a:r>
              <a:rPr lang="en-US" altLang="zh-CN" dirty="0">
                <a:ea typeface="宋体" panose="02010600030101010101" pitchFamily="2" charset="-122"/>
              </a:rPr>
              <a:t>4.6.5</a:t>
            </a:r>
            <a:endParaRPr lang="zh-CN" altLang="en-US" dirty="0">
              <a:ea typeface="宋体" panose="02010600030101010101" pitchFamily="2" charset="-122"/>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4739" name="Rectangle 2"/>
          <p:cNvSpPr>
            <a:spLocks noGrp="1" noRot="1" noChangeAspect="1" noTextEdit="1"/>
          </p:cNvSpPr>
          <p:nvPr>
            <p:ph type="sldImg"/>
          </p:nvPr>
        </p:nvSpPr>
        <p:spPr>
          <a:solidFill>
            <a:srgbClr val="FFFFFF">
              <a:alpha val="100000"/>
            </a:srgbClr>
          </a:solidFill>
        </p:spPr>
      </p:sp>
      <p:sp>
        <p:nvSpPr>
          <p:cNvPr id="24474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本页解释为什么可以使用</a:t>
            </a:r>
            <a:r>
              <a:rPr lang="en-US" altLang="zh-CN" dirty="0">
                <a:ea typeface="宋体" panose="02010600030101010101" pitchFamily="2" charset="-122"/>
              </a:rPr>
              <a:t>LR(0)</a:t>
            </a:r>
            <a:r>
              <a:rPr lang="zh-CN" altLang="en-US" dirty="0">
                <a:ea typeface="宋体" panose="02010600030101010101" pitchFamily="2" charset="-122"/>
              </a:rPr>
              <a:t>自动机做出移入</a:t>
            </a:r>
            <a:r>
              <a:rPr lang="en-US" altLang="zh-CN" dirty="0">
                <a:ea typeface="宋体" panose="02010600030101010101" pitchFamily="2" charset="-122"/>
              </a:rPr>
              <a:t>-</a:t>
            </a:r>
            <a:r>
              <a:rPr lang="zh-CN" altLang="en-US" dirty="0">
                <a:ea typeface="宋体" panose="02010600030101010101" pitchFamily="2" charset="-122"/>
              </a:rPr>
              <a:t>归约决定</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解决冲突的其他方法包括利用二义性文法等</a:t>
            </a:r>
            <a:endParaRPr lang="zh-CN" altLang="en-US" dirty="0">
              <a:ea typeface="宋体" panose="02010600030101010101" pitchFamily="2" charset="-122"/>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6787" name="Rectangle 2"/>
          <p:cNvSpPr>
            <a:spLocks noGrp="1" noRot="1" noChangeAspect="1" noTextEdit="1"/>
          </p:cNvSpPr>
          <p:nvPr>
            <p:ph type="sldImg"/>
          </p:nvPr>
        </p:nvSpPr>
        <p:spPr>
          <a:solidFill>
            <a:srgbClr val="FFFFFF">
              <a:alpha val="100000"/>
            </a:srgbClr>
          </a:solidFill>
        </p:spPr>
      </p:sp>
      <p:sp>
        <p:nvSpPr>
          <p:cNvPr id="24678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88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8835" name="Rectangle 2"/>
          <p:cNvSpPr>
            <a:spLocks noGrp="1" noRot="1" noChangeAspect="1" noTextEdit="1"/>
          </p:cNvSpPr>
          <p:nvPr>
            <p:ph type="sldImg"/>
          </p:nvPr>
        </p:nvSpPr>
        <p:spPr>
          <a:solidFill>
            <a:srgbClr val="FFFFFF">
              <a:alpha val="100000"/>
            </a:srgbClr>
          </a:solidFill>
        </p:spPr>
      </p:sp>
      <p:sp>
        <p:nvSpPr>
          <p:cNvPr id="24883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08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0883" name="Rectangle 2"/>
          <p:cNvSpPr>
            <a:spLocks noGrp="1" noRot="1" noChangeAspect="1" noTextEdit="1"/>
          </p:cNvSpPr>
          <p:nvPr>
            <p:ph type="sldImg"/>
          </p:nvPr>
        </p:nvSpPr>
        <p:spPr>
          <a:solidFill>
            <a:srgbClr val="FFFFFF">
              <a:alpha val="100000"/>
            </a:srgbClr>
          </a:solidFill>
        </p:spPr>
      </p:sp>
      <p:sp>
        <p:nvSpPr>
          <p:cNvPr id="25088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2930" name="幻灯片图像占位符 1"/>
          <p:cNvSpPr>
            <a:spLocks noGrp="1" noRot="1" noChangeAspect="1" noTextEdit="1"/>
          </p:cNvSpPr>
          <p:nvPr>
            <p:ph type="sldImg"/>
          </p:nvPr>
        </p:nvSpPr>
        <p:spPr/>
      </p:sp>
      <p:sp>
        <p:nvSpPr>
          <p:cNvPr id="252931" name="备注占位符 2"/>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本页给出了</a:t>
            </a:r>
            <a:r>
              <a:rPr lang="en-US" altLang="zh-CN" dirty="0">
                <a:ea typeface="宋体" panose="02010600030101010101" pitchFamily="2" charset="-122"/>
              </a:rPr>
              <a:t>LR(1)</a:t>
            </a:r>
            <a:r>
              <a:rPr lang="zh-CN" altLang="en-US" dirty="0">
                <a:ea typeface="宋体" panose="02010600030101010101" pitchFamily="2" charset="-122"/>
              </a:rPr>
              <a:t>项目集族构造方法：</a:t>
            </a:r>
            <a:endParaRPr lang="en-US" altLang="zh-CN" dirty="0">
              <a:ea typeface="宋体" panose="02010600030101010101" pitchFamily="2" charset="-122"/>
            </a:endParaRPr>
          </a:p>
          <a:p>
            <a:pPr lvl="0"/>
            <a:r>
              <a:rPr lang="zh-CN" altLang="en-US" dirty="0">
                <a:ea typeface="宋体" panose="02010600030101010101" pitchFamily="2" charset="-122"/>
              </a:rPr>
              <a:t>输入是增广的文法</a:t>
            </a:r>
            <a:r>
              <a:rPr lang="en-US" altLang="zh-CN" dirty="0">
                <a:ea typeface="宋体" panose="02010600030101010101" pitchFamily="2" charset="-122"/>
              </a:rPr>
              <a:t>G’</a:t>
            </a:r>
            <a:endParaRPr lang="en-US" altLang="zh-CN" dirty="0">
              <a:ea typeface="宋体" panose="02010600030101010101" pitchFamily="2" charset="-122"/>
            </a:endParaRPr>
          </a:p>
          <a:p>
            <a:pPr lvl="0"/>
            <a:r>
              <a:rPr lang="zh-CN" altLang="en-US" dirty="0">
                <a:ea typeface="宋体" panose="02010600030101010101" pitchFamily="2" charset="-122"/>
              </a:rPr>
              <a:t>输出是</a:t>
            </a:r>
            <a:r>
              <a:rPr lang="en-US" altLang="zh-CN" dirty="0">
                <a:ea typeface="宋体" panose="02010600030101010101" pitchFamily="2" charset="-122"/>
              </a:rPr>
              <a:t>LR(1)</a:t>
            </a:r>
            <a:r>
              <a:rPr lang="zh-CN" altLang="en-US" dirty="0">
                <a:ea typeface="宋体" panose="02010600030101010101" pitchFamily="2" charset="-122"/>
              </a:rPr>
              <a:t>项目集族</a:t>
            </a:r>
            <a:endParaRPr lang="zh-CN" altLang="en-US" dirty="0">
              <a:ea typeface="宋体" panose="02010600030101010101" pitchFamily="2" charset="-122"/>
            </a:endParaRPr>
          </a:p>
        </p:txBody>
      </p:sp>
      <p:sp>
        <p:nvSpPr>
          <p:cNvPr id="252932"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49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4979" name="Rectangle 2"/>
          <p:cNvSpPr>
            <a:spLocks noGrp="1" noRot="1" noChangeAspect="1" noTextEdit="1"/>
          </p:cNvSpPr>
          <p:nvPr>
            <p:ph type="sldImg"/>
          </p:nvPr>
        </p:nvSpPr>
        <p:spPr>
          <a:solidFill>
            <a:srgbClr val="FFFFFF">
              <a:alpha val="100000"/>
            </a:srgbClr>
          </a:solidFill>
        </p:spPr>
      </p:sp>
      <p:sp>
        <p:nvSpPr>
          <p:cNvPr id="25498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70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7027" name="Rectangle 2"/>
          <p:cNvSpPr>
            <a:spLocks noGrp="1" noRot="1" noChangeAspect="1" noTextEdit="1"/>
          </p:cNvSpPr>
          <p:nvPr>
            <p:ph type="sldImg"/>
          </p:nvPr>
        </p:nvSpPr>
        <p:spPr>
          <a:solidFill>
            <a:srgbClr val="FFFFFF">
              <a:alpha val="100000"/>
            </a:srgbClr>
          </a:solidFill>
        </p:spPr>
      </p:sp>
      <p:sp>
        <p:nvSpPr>
          <p:cNvPr id="25702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90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9075" name="Rectangle 2"/>
          <p:cNvSpPr>
            <a:spLocks noGrp="1" noRot="1" noChangeAspect="1" noTextEdit="1"/>
          </p:cNvSpPr>
          <p:nvPr>
            <p:ph type="sldImg"/>
          </p:nvPr>
        </p:nvSpPr>
        <p:spPr>
          <a:solidFill>
            <a:srgbClr val="FFFFFF">
              <a:alpha val="100000"/>
            </a:srgbClr>
          </a:solidFill>
        </p:spPr>
      </p:sp>
      <p:sp>
        <p:nvSpPr>
          <p:cNvPr id="25907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21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2147" name="Rectangle 2"/>
          <p:cNvSpPr>
            <a:spLocks noGrp="1" noRot="1" noChangeAspect="1" noTextEdit="1"/>
          </p:cNvSpPr>
          <p:nvPr>
            <p:ph type="sldImg"/>
          </p:nvPr>
        </p:nvSpPr>
        <p:spPr>
          <a:solidFill>
            <a:srgbClr val="FFFFFF">
              <a:alpha val="100000"/>
            </a:srgbClr>
          </a:solidFill>
        </p:spPr>
      </p:sp>
      <p:sp>
        <p:nvSpPr>
          <p:cNvPr id="26214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41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4195" name="Rectangle 2"/>
          <p:cNvSpPr>
            <a:spLocks noGrp="1" noRot="1" noChangeAspect="1" noTextEdit="1"/>
          </p:cNvSpPr>
          <p:nvPr>
            <p:ph type="sldImg"/>
          </p:nvPr>
        </p:nvSpPr>
        <p:spPr>
          <a:solidFill>
            <a:srgbClr val="FFFFFF">
              <a:alpha val="100000"/>
            </a:srgbClr>
          </a:solidFill>
        </p:spPr>
      </p:sp>
      <p:sp>
        <p:nvSpPr>
          <p:cNvPr id="26419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6243" name="Rectangle 2"/>
          <p:cNvSpPr>
            <a:spLocks noGrp="1" noRot="1" noChangeAspect="1" noTextEdit="1"/>
          </p:cNvSpPr>
          <p:nvPr>
            <p:ph type="sldImg"/>
          </p:nvPr>
        </p:nvSpPr>
        <p:spPr>
          <a:solidFill>
            <a:srgbClr val="FFFFFF">
              <a:alpha val="100000"/>
            </a:srgbClr>
          </a:solidFill>
        </p:spPr>
      </p:sp>
      <p:sp>
        <p:nvSpPr>
          <p:cNvPr id="26624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82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8291" name="Rectangle 2"/>
          <p:cNvSpPr>
            <a:spLocks noGrp="1" noRot="1" noChangeAspect="1" noTextEdit="1"/>
          </p:cNvSpPr>
          <p:nvPr>
            <p:ph type="sldImg"/>
          </p:nvPr>
        </p:nvSpPr>
        <p:spPr>
          <a:solidFill>
            <a:srgbClr val="FFFFFF">
              <a:alpha val="100000"/>
            </a:srgbClr>
          </a:solidFill>
        </p:spPr>
      </p:sp>
      <p:sp>
        <p:nvSpPr>
          <p:cNvPr id="26829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03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0339" name="Rectangle 2"/>
          <p:cNvSpPr>
            <a:spLocks noGrp="1" noRot="1" noChangeAspect="1" noTextEdit="1"/>
          </p:cNvSpPr>
          <p:nvPr>
            <p:ph type="sldImg"/>
          </p:nvPr>
        </p:nvSpPr>
        <p:spPr>
          <a:solidFill>
            <a:srgbClr val="FFFFFF">
              <a:alpha val="100000"/>
            </a:srgbClr>
          </a:solidFill>
        </p:spPr>
      </p:sp>
      <p:sp>
        <p:nvSpPr>
          <p:cNvPr id="27034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23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2387" name="Rectangle 2"/>
          <p:cNvSpPr>
            <a:spLocks noGrp="1" noRot="1" noChangeAspect="1" noTextEdit="1"/>
          </p:cNvSpPr>
          <p:nvPr>
            <p:ph type="sldImg"/>
          </p:nvPr>
        </p:nvSpPr>
        <p:spPr>
          <a:solidFill>
            <a:srgbClr val="FFFFFF">
              <a:alpha val="100000"/>
            </a:srgbClr>
          </a:solidFill>
        </p:spPr>
      </p:sp>
      <p:sp>
        <p:nvSpPr>
          <p:cNvPr id="27238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44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4435" name="Rectangle 2"/>
          <p:cNvSpPr>
            <a:spLocks noGrp="1" noRot="1" noChangeAspect="1" noTextEdit="1"/>
          </p:cNvSpPr>
          <p:nvPr>
            <p:ph type="sldImg"/>
          </p:nvPr>
        </p:nvSpPr>
        <p:spPr>
          <a:solidFill>
            <a:srgbClr val="FFFFFF">
              <a:alpha val="100000"/>
            </a:srgbClr>
          </a:solidFill>
        </p:spPr>
      </p:sp>
      <p:sp>
        <p:nvSpPr>
          <p:cNvPr id="27443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6483" name="Rectangle 2"/>
          <p:cNvSpPr>
            <a:spLocks noGrp="1" noRot="1" noChangeAspect="1" noTextEdit="1"/>
          </p:cNvSpPr>
          <p:nvPr>
            <p:ph type="sldImg"/>
          </p:nvPr>
        </p:nvSpPr>
        <p:spPr>
          <a:solidFill>
            <a:srgbClr val="FFFFFF">
              <a:alpha val="100000"/>
            </a:srgbClr>
          </a:solidFill>
        </p:spPr>
      </p:sp>
      <p:sp>
        <p:nvSpPr>
          <p:cNvPr id="27648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85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8531" name="Rectangle 2"/>
          <p:cNvSpPr>
            <a:spLocks noGrp="1" noRot="1" noChangeAspect="1" noTextEdit="1"/>
          </p:cNvSpPr>
          <p:nvPr>
            <p:ph type="sldImg"/>
          </p:nvPr>
        </p:nvSpPr>
        <p:spPr>
          <a:solidFill>
            <a:srgbClr val="FFFFFF">
              <a:alpha val="100000"/>
            </a:srgbClr>
          </a:solidFill>
        </p:spPr>
      </p:sp>
      <p:sp>
        <p:nvSpPr>
          <p:cNvPr id="27853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05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0579" name="Rectangle 2"/>
          <p:cNvSpPr>
            <a:spLocks noGrp="1" noRot="1" noChangeAspect="1" noTextEdit="1"/>
          </p:cNvSpPr>
          <p:nvPr>
            <p:ph type="sldImg"/>
          </p:nvPr>
        </p:nvSpPr>
        <p:spPr>
          <a:solidFill>
            <a:srgbClr val="FFFFFF">
              <a:alpha val="100000"/>
            </a:srgbClr>
          </a:solidFill>
        </p:spPr>
      </p:sp>
      <p:sp>
        <p:nvSpPr>
          <p:cNvPr id="28058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2627" name="Rectangle 2"/>
          <p:cNvSpPr>
            <a:spLocks noGrp="1" noRot="1" noChangeAspect="1" noTextEdit="1"/>
          </p:cNvSpPr>
          <p:nvPr>
            <p:ph type="sldImg"/>
          </p:nvPr>
        </p:nvSpPr>
        <p:spPr>
          <a:solidFill>
            <a:srgbClr val="FFFFFF">
              <a:alpha val="100000"/>
            </a:srgbClr>
          </a:solidFill>
        </p:spPr>
      </p:sp>
      <p:sp>
        <p:nvSpPr>
          <p:cNvPr id="28262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46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4675" name="Rectangle 2"/>
          <p:cNvSpPr>
            <a:spLocks noGrp="1" noRot="1" noChangeAspect="1" noTextEdit="1"/>
          </p:cNvSpPr>
          <p:nvPr>
            <p:ph type="sldImg"/>
          </p:nvPr>
        </p:nvSpPr>
        <p:spPr>
          <a:solidFill>
            <a:srgbClr val="FFFFFF">
              <a:alpha val="100000"/>
            </a:srgbClr>
          </a:solidFill>
        </p:spPr>
      </p:sp>
      <p:sp>
        <p:nvSpPr>
          <p:cNvPr id="28467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6723" name="Rectangle 2"/>
          <p:cNvSpPr>
            <a:spLocks noGrp="1" noRot="1" noChangeAspect="1" noTextEdit="1"/>
          </p:cNvSpPr>
          <p:nvPr>
            <p:ph type="sldImg"/>
          </p:nvPr>
        </p:nvSpPr>
        <p:spPr>
          <a:solidFill>
            <a:srgbClr val="FFFFFF">
              <a:alpha val="100000"/>
            </a:srgbClr>
          </a:solidFill>
        </p:spPr>
      </p:sp>
      <p:sp>
        <p:nvSpPr>
          <p:cNvPr id="28672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87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8771" name="Rectangle 2"/>
          <p:cNvSpPr>
            <a:spLocks noGrp="1" noRot="1" noChangeAspect="1" noTextEdit="1"/>
          </p:cNvSpPr>
          <p:nvPr>
            <p:ph type="sldImg"/>
          </p:nvPr>
        </p:nvSpPr>
        <p:spPr>
          <a:solidFill>
            <a:srgbClr val="FFFFFF">
              <a:alpha val="100000"/>
            </a:srgbClr>
          </a:solidFill>
        </p:spPr>
      </p:sp>
      <p:sp>
        <p:nvSpPr>
          <p:cNvPr id="28877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感兴趣的同学，可以自学</a:t>
            </a:r>
            <a:r>
              <a:rPr lang="en-US" altLang="zh-CN" dirty="0">
                <a:ea typeface="宋体" panose="02010600030101010101" pitchFamily="2" charset="-122"/>
              </a:rPr>
              <a:t>4.7.6</a:t>
            </a:r>
            <a:endParaRPr lang="zh-CN" altLang="en-US" dirty="0">
              <a:ea typeface="宋体" panose="02010600030101010101" pitchFamily="2" charset="-122"/>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08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0819" name="Rectangle 2"/>
          <p:cNvSpPr>
            <a:spLocks noGrp="1" noRot="1" noChangeAspect="1" noTextEdit="1"/>
          </p:cNvSpPr>
          <p:nvPr>
            <p:ph type="sldImg"/>
          </p:nvPr>
        </p:nvSpPr>
        <p:spPr/>
      </p:sp>
      <p:sp>
        <p:nvSpPr>
          <p:cNvPr id="29082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28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2867" name="Rectangle 2"/>
          <p:cNvSpPr>
            <a:spLocks noGrp="1" noRot="1" noChangeAspect="1" noTextEdit="1"/>
          </p:cNvSpPr>
          <p:nvPr>
            <p:ph type="sldImg"/>
          </p:nvPr>
        </p:nvSpPr>
        <p:spPr>
          <a:solidFill>
            <a:srgbClr val="FFFFFF">
              <a:alpha val="100000"/>
            </a:srgbClr>
          </a:solidFill>
        </p:spPr>
      </p:sp>
      <p:sp>
        <p:nvSpPr>
          <p:cNvPr id="29286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49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4915" name="Rectangle 2"/>
          <p:cNvSpPr>
            <a:spLocks noGrp="1" noRot="1" noChangeAspect="1" noTextEdit="1"/>
          </p:cNvSpPr>
          <p:nvPr>
            <p:ph type="sldImg"/>
          </p:nvPr>
        </p:nvSpPr>
        <p:spPr>
          <a:solidFill>
            <a:srgbClr val="FFFFFF">
              <a:alpha val="100000"/>
            </a:srgbClr>
          </a:solidFill>
        </p:spPr>
      </p:sp>
      <p:sp>
        <p:nvSpPr>
          <p:cNvPr id="29491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6963" name="Rectangle 2"/>
          <p:cNvSpPr>
            <a:spLocks noGrp="1" noRot="1" noChangeAspect="1" noTextEdit="1"/>
          </p:cNvSpPr>
          <p:nvPr>
            <p:ph type="sldImg"/>
          </p:nvPr>
        </p:nvSpPr>
        <p:spPr>
          <a:solidFill>
            <a:srgbClr val="FFFFFF">
              <a:alpha val="100000"/>
            </a:srgbClr>
          </a:solidFill>
        </p:spPr>
      </p:sp>
      <p:sp>
        <p:nvSpPr>
          <p:cNvPr id="29696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90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9011" name="Rectangle 2"/>
          <p:cNvSpPr>
            <a:spLocks noGrp="1" noRot="1" noChangeAspect="1" noTextEdit="1"/>
          </p:cNvSpPr>
          <p:nvPr>
            <p:ph type="sldImg"/>
          </p:nvPr>
        </p:nvSpPr>
        <p:spPr>
          <a:solidFill>
            <a:srgbClr val="FFFFFF">
              <a:alpha val="100000"/>
            </a:srgbClr>
          </a:solidFill>
        </p:spPr>
      </p:sp>
      <p:sp>
        <p:nvSpPr>
          <p:cNvPr id="29901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10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1059" name="Rectangle 2"/>
          <p:cNvSpPr>
            <a:spLocks noGrp="1" noRot="1" noChangeAspect="1" noTextEdit="1"/>
          </p:cNvSpPr>
          <p:nvPr>
            <p:ph type="sldImg"/>
          </p:nvPr>
        </p:nvSpPr>
        <p:spPr>
          <a:solidFill>
            <a:srgbClr val="FFFFFF">
              <a:alpha val="100000"/>
            </a:srgbClr>
          </a:solidFill>
        </p:spPr>
      </p:sp>
      <p:sp>
        <p:nvSpPr>
          <p:cNvPr id="30106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41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4131" name="Rectangle 2"/>
          <p:cNvSpPr>
            <a:spLocks noGrp="1" noRot="1" noChangeAspect="1" noTextEdit="1"/>
          </p:cNvSpPr>
          <p:nvPr>
            <p:ph type="sldImg"/>
          </p:nvPr>
        </p:nvSpPr>
        <p:spPr/>
      </p:sp>
      <p:sp>
        <p:nvSpPr>
          <p:cNvPr id="30413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61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6179" name="Rectangle 2"/>
          <p:cNvSpPr>
            <a:spLocks noGrp="1" noRot="1" noChangeAspect="1" noTextEdit="1"/>
          </p:cNvSpPr>
          <p:nvPr>
            <p:ph type="sldImg"/>
          </p:nvPr>
        </p:nvSpPr>
        <p:spPr>
          <a:solidFill>
            <a:srgbClr val="FFFFFF">
              <a:alpha val="100000"/>
            </a:srgbClr>
          </a:solidFill>
        </p:spPr>
      </p:sp>
      <p:sp>
        <p:nvSpPr>
          <p:cNvPr id="30618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82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8227" name="Rectangle 2"/>
          <p:cNvSpPr>
            <a:spLocks noGrp="1" noRot="1" noChangeAspect="1" noTextEdit="1"/>
          </p:cNvSpPr>
          <p:nvPr>
            <p:ph type="sldImg"/>
          </p:nvPr>
        </p:nvSpPr>
        <p:spPr>
          <a:solidFill>
            <a:srgbClr val="FFFFFF">
              <a:alpha val="100000"/>
            </a:srgbClr>
          </a:solidFill>
        </p:spPr>
      </p:sp>
      <p:sp>
        <p:nvSpPr>
          <p:cNvPr id="30822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12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1299" name="Rectangle 2"/>
          <p:cNvSpPr>
            <a:spLocks noGrp="1" noRot="1" noChangeAspect="1" noTextEdit="1"/>
          </p:cNvSpPr>
          <p:nvPr>
            <p:ph type="sldImg"/>
          </p:nvPr>
        </p:nvSpPr>
        <p:spPr>
          <a:solidFill>
            <a:srgbClr val="FFFFFF">
              <a:alpha val="100000"/>
            </a:srgbClr>
          </a:solidFill>
        </p:spPr>
      </p:sp>
      <p:sp>
        <p:nvSpPr>
          <p:cNvPr id="31130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33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3347" name="Rectangle 2"/>
          <p:cNvSpPr>
            <a:spLocks noGrp="1" noRot="1" noChangeAspect="1" noTextEdit="1"/>
          </p:cNvSpPr>
          <p:nvPr>
            <p:ph type="sldImg"/>
          </p:nvPr>
        </p:nvSpPr>
        <p:spPr>
          <a:solidFill>
            <a:srgbClr val="FFFFFF">
              <a:alpha val="100000"/>
            </a:srgbClr>
          </a:solidFill>
        </p:spPr>
      </p:sp>
      <p:sp>
        <p:nvSpPr>
          <p:cNvPr id="31334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7443" name="Rectangle 2"/>
          <p:cNvSpPr>
            <a:spLocks noGrp="1" noRot="1" noChangeAspect="1" noTextEdit="1"/>
          </p:cNvSpPr>
          <p:nvPr>
            <p:ph type="sldImg"/>
          </p:nvPr>
        </p:nvSpPr>
        <p:spPr>
          <a:solidFill>
            <a:srgbClr val="FFFFFF">
              <a:alpha val="100000"/>
            </a:srgbClr>
          </a:solidFill>
        </p:spPr>
      </p:sp>
      <p:sp>
        <p:nvSpPr>
          <p:cNvPr id="31744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9490" name="幻灯片图像占位符 1"/>
          <p:cNvSpPr>
            <a:spLocks noGrp="1" noRot="1" noChangeAspect="1" noTextEdit="1"/>
          </p:cNvSpPr>
          <p:nvPr>
            <p:ph type="sldImg"/>
          </p:nvPr>
        </p:nvSpPr>
        <p:spPr/>
      </p:sp>
      <p:sp>
        <p:nvSpPr>
          <p:cNvPr id="319491" name="备注占位符 2"/>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添加了错误处理产生式，对应的动作是要求用户重新输入</a:t>
            </a:r>
            <a:endParaRPr lang="zh-CN" altLang="en-US" dirty="0">
              <a:ea typeface="宋体" panose="02010600030101010101" pitchFamily="2" charset="-122"/>
            </a:endParaRPr>
          </a:p>
        </p:txBody>
      </p:sp>
      <p:sp>
        <p:nvSpPr>
          <p:cNvPr id="319492"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15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1539" name="Rectangle 2"/>
          <p:cNvSpPr>
            <a:spLocks noGrp="1" noRot="1" noChangeAspect="1" noTextEdit="1"/>
          </p:cNvSpPr>
          <p:nvPr>
            <p:ph type="sldImg"/>
          </p:nvPr>
        </p:nvSpPr>
        <p:spPr>
          <a:solidFill>
            <a:srgbClr val="FFFFFF">
              <a:alpha val="100000"/>
            </a:srgbClr>
          </a:solidFill>
        </p:spPr>
      </p:sp>
      <p:sp>
        <p:nvSpPr>
          <p:cNvPr id="32154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35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3587" name="Rectangle 2"/>
          <p:cNvSpPr>
            <a:spLocks noGrp="1" noRot="1" noChangeAspect="1" noTextEdit="1"/>
          </p:cNvSpPr>
          <p:nvPr>
            <p:ph type="sldImg"/>
          </p:nvPr>
        </p:nvSpPr>
        <p:spPr>
          <a:solidFill>
            <a:srgbClr val="FFFFFF">
              <a:alpha val="100000"/>
            </a:srgbClr>
          </a:solidFill>
        </p:spPr>
      </p:sp>
      <p:sp>
        <p:nvSpPr>
          <p:cNvPr id="32358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56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5635" name="Rectangle 2"/>
          <p:cNvSpPr>
            <a:spLocks noGrp="1" noRot="1" noChangeAspect="1" noTextEdit="1"/>
          </p:cNvSpPr>
          <p:nvPr>
            <p:ph type="sldImg"/>
          </p:nvPr>
        </p:nvSpPr>
        <p:spPr>
          <a:solidFill>
            <a:srgbClr val="FFFFFF">
              <a:alpha val="100000"/>
            </a:srgbClr>
          </a:solidFill>
        </p:spPr>
      </p:sp>
      <p:sp>
        <p:nvSpPr>
          <p:cNvPr id="32563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457200"/>
            <a:ext cx="188595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14400" y="457200"/>
            <a:ext cx="550545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dt" sz="half" idx="2"/>
          </p:nvPr>
        </p:nvSpPr>
        <p:spPr bwMode="auto">
          <a:xfrm>
            <a:off x="914400" y="6400800"/>
            <a:ext cx="1905000" cy="457200"/>
          </a:xfrm>
          <a:prstGeom prst="rect">
            <a:avLst/>
          </a:prstGeom>
          <a:noFill/>
          <a:ln>
            <a:noFill/>
          </a:ln>
          <a:effectLst/>
        </p:spPr>
        <p:txBody>
          <a:bodyPr vert="horz" wrap="none" lIns="92075" tIns="46038" rIns="92075" bIns="46038" numCol="1" anchor="ctr" anchorCtr="0" compatLnSpc="1"/>
          <a:lstStyle>
            <a:lvl1pPr>
              <a:defRPr sz="140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Rectangle 3"/>
          <p:cNvSpPr>
            <a:spLocks noGrp="1" noChangeArrowheads="1"/>
          </p:cNvSpPr>
          <p:nvPr>
            <p:ph type="ftr" sz="quarter" idx="3"/>
          </p:nvPr>
        </p:nvSpPr>
        <p:spPr bwMode="auto">
          <a:xfrm>
            <a:off x="3124200" y="6400800"/>
            <a:ext cx="2895600" cy="457200"/>
          </a:xfrm>
          <a:prstGeom prst="rect">
            <a:avLst/>
          </a:prstGeom>
          <a:noFill/>
          <a:ln>
            <a:noFill/>
          </a:ln>
          <a:effectLst/>
        </p:spPr>
        <p:txBody>
          <a:bodyPr vert="horz" wrap="none" lIns="92075" tIns="46038" rIns="92075" bIns="46038" numCol="1" anchor="ctr" anchorCtr="0" compatLnSpc="1"/>
          <a:lstStyle>
            <a:lvl1pPr algn="ctr">
              <a:defRPr sz="1400">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ChangeArrowheads="1"/>
          </p:cNvSpPr>
          <p:nvPr>
            <p:ph type="sldNum" sz="quarter" idx="4"/>
          </p:nvPr>
        </p:nvSpPr>
        <p:spPr bwMode="auto">
          <a:xfrm>
            <a:off x="6553200" y="6400800"/>
            <a:ext cx="1905000" cy="457200"/>
          </a:xfrm>
          <a:prstGeom prst="rect">
            <a:avLst/>
          </a:prstGeom>
          <a:noFill/>
          <a:ln>
            <a:noFill/>
          </a:ln>
          <a:effectLst/>
        </p:spPr>
        <p:txBody>
          <a:bodyPr vert="horz" wrap="none" lIns="92075" tIns="46038" rIns="92075" bIns="46038" numCol="1" anchor="ctr" anchorCtr="0" compatLnSpc="1"/>
          <a:lstStyle>
            <a:lvl1pPr algn="r">
              <a:defRPr sz="140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p:cNvSpPr>
          <p:nvPr>
            <p:ph type="title"/>
          </p:nvPr>
        </p:nvSpPr>
        <p:spPr>
          <a:xfrm>
            <a:off x="914400" y="457200"/>
            <a:ext cx="7543800" cy="914400"/>
          </a:xfrm>
          <a:prstGeom prst="rect">
            <a:avLst/>
          </a:prstGeom>
          <a:noFill/>
          <a:ln w="9525">
            <a:noFill/>
          </a:ln>
        </p:spPr>
        <p:txBody>
          <a:bodyPr lIns="92075" tIns="46038" rIns="92075" bIns="46038" anchor="ctr" anchorCtr="0"/>
          <a:p>
            <a:pPr lvl="0"/>
            <a:r>
              <a:rPr lang="en-US" altLang="zh-CN" dirty="0"/>
              <a:t>Click to edit Master title style</a:t>
            </a:r>
            <a:endParaRPr lang="en-US" altLang="zh-CN" dirty="0"/>
          </a:p>
        </p:txBody>
      </p:sp>
      <p:sp>
        <p:nvSpPr>
          <p:cNvPr id="1030" name="Rectangle 6"/>
          <p:cNvSpPr>
            <a:spLocks noGrp="1"/>
          </p:cNvSpPr>
          <p:nvPr>
            <p:ph type="body" idx="1"/>
          </p:nvPr>
        </p:nvSpPr>
        <p:spPr>
          <a:xfrm>
            <a:off x="914400" y="1676400"/>
            <a:ext cx="7543800" cy="4495800"/>
          </a:xfrm>
          <a:prstGeom prst="rect">
            <a:avLst/>
          </a:prstGeom>
          <a:noFill/>
          <a:ln w="9525">
            <a:noFill/>
          </a:ln>
        </p:spPr>
        <p:txBody>
          <a:bodyPr lIns="92075" tIns="46038" rIns="92075" bIns="46038"/>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1" name="Rectangle 13"/>
          <p:cNvSpPr>
            <a:spLocks noChangeArrowheads="1"/>
          </p:cNvSpPr>
          <p:nvPr/>
        </p:nvSpPr>
        <p:spPr bwMode="auto">
          <a:xfrm>
            <a:off x="288925" y="425450"/>
            <a:ext cx="8574088" cy="1173163"/>
          </a:xfrm>
          <a:prstGeom prst="rect">
            <a:avLst/>
          </a:prstGeom>
          <a:no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Rectangle 14"/>
          <p:cNvSpPr>
            <a:spLocks noChangeArrowheads="1"/>
          </p:cNvSpPr>
          <p:nvPr/>
        </p:nvSpPr>
        <p:spPr bwMode="auto">
          <a:xfrm>
            <a:off x="4191000" y="6477000"/>
            <a:ext cx="390525" cy="304800"/>
          </a:xfrm>
          <a:prstGeom prst="rect">
            <a:avLst/>
          </a:prstGeom>
          <a:noFill/>
          <a:ln>
            <a:noFill/>
          </a:ln>
          <a:effectLst/>
        </p:spPr>
        <p:txBody>
          <a:bodyPr wrap="none" lIns="92075" tIns="46038" rIns="92075" bIns="46038">
            <a:spAutoFit/>
          </a:bodyPr>
          <a:p>
            <a:pPr lvl="0">
              <a:buNone/>
            </a:pPr>
            <a:fld id="{9A0DB2DC-4C9A-4742-B13C-FB6460FD3503}" type="slidenum">
              <a:rPr lang="zh-CN" altLang="en-US" sz="1400" dirty="0">
                <a:solidFill>
                  <a:schemeClr val="tx2"/>
                </a:solidFill>
                <a:latin typeface="Times New Roman" panose="02020603050405020304" pitchFamily="18" charset="0"/>
                <a:ea typeface="宋体" panose="02010600030101010101" pitchFamily="2" charset="-122"/>
              </a:rPr>
            </a:fld>
            <a:endParaRPr lang="zh-CN" altLang="en-US" sz="1400" dirty="0">
              <a:solidFill>
                <a:schemeClr val="tx2"/>
              </a:solidFill>
              <a:latin typeface="Arial" panose="020B0604020202020204" pitchFamily="34" charset="0"/>
              <a:ea typeface="宋体" panose="02010600030101010101" pitchFamily="2" charset="-122"/>
            </a:endParaRPr>
          </a:p>
        </p:txBody>
      </p:sp>
      <p:pic>
        <p:nvPicPr>
          <p:cNvPr id="1033" name="Picture 15" descr="ict1"/>
          <p:cNvPicPr>
            <a:picLocks noChangeAspect="1"/>
          </p:cNvPicPr>
          <p:nvPr userDrawn="1"/>
        </p:nvPicPr>
        <p:blipFill>
          <a:blip r:embed="rId12"/>
          <a:stretch>
            <a:fillRect/>
          </a:stretch>
        </p:blipFill>
        <p:spPr>
          <a:xfrm>
            <a:off x="152400" y="223838"/>
            <a:ext cx="3505200" cy="538162"/>
          </a:xfrm>
          <a:prstGeom prst="rect">
            <a:avLst/>
          </a:prstGeom>
          <a:noFill/>
          <a:ln w="9525">
            <a:noFill/>
          </a:ln>
        </p:spPr>
      </p:pic>
      <p:sp>
        <p:nvSpPr>
          <p:cNvPr id="1034" name="Rectangle 17"/>
          <p:cNvSpPr>
            <a:spLocks noChangeArrowheads="1"/>
          </p:cNvSpPr>
          <p:nvPr/>
        </p:nvSpPr>
        <p:spPr bwMode="gray">
          <a:xfrm>
            <a:off x="917575" y="1339850"/>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sldNum="0" hdr="0" ftr="0" dt="0"/>
  <p:txStyles>
    <p:titleStyle>
      <a:lvl1pPr algn="ctr" rtl="0" eaLnBrk="0" fontAlgn="base" hangingPunct="0">
        <a:spcBef>
          <a:spcPct val="0"/>
        </a:spcBef>
        <a:spcAft>
          <a:spcPct val="0"/>
        </a:spcAft>
        <a:defRPr sz="3200" b="1">
          <a:solidFill>
            <a:srgbClr val="063DE8"/>
          </a:solidFill>
          <a:latin typeface="+mj-lt"/>
          <a:ea typeface="+mj-ea"/>
          <a:cs typeface="+mj-cs"/>
        </a:defRPr>
      </a:lvl1pPr>
      <a:lvl2pPr algn="ctr" rtl="0" eaLnBrk="0" fontAlgn="base" hangingPunct="0">
        <a:spcBef>
          <a:spcPct val="0"/>
        </a:spcBef>
        <a:spcAft>
          <a:spcPct val="0"/>
        </a:spcAft>
        <a:defRPr sz="3200" b="1">
          <a:solidFill>
            <a:srgbClr val="063DE8"/>
          </a:solidFill>
          <a:latin typeface="Book Antiqua" panose="02040602050305030304" pitchFamily="18" charset="0"/>
        </a:defRPr>
      </a:lvl2pPr>
      <a:lvl3pPr algn="ctr" rtl="0" eaLnBrk="0" fontAlgn="base" hangingPunct="0">
        <a:spcBef>
          <a:spcPct val="0"/>
        </a:spcBef>
        <a:spcAft>
          <a:spcPct val="0"/>
        </a:spcAft>
        <a:defRPr sz="3200" b="1">
          <a:solidFill>
            <a:srgbClr val="063DE8"/>
          </a:solidFill>
          <a:latin typeface="Book Antiqua" panose="02040602050305030304" pitchFamily="18" charset="0"/>
        </a:defRPr>
      </a:lvl3pPr>
      <a:lvl4pPr algn="ctr" rtl="0" eaLnBrk="0" fontAlgn="base" hangingPunct="0">
        <a:spcBef>
          <a:spcPct val="0"/>
        </a:spcBef>
        <a:spcAft>
          <a:spcPct val="0"/>
        </a:spcAft>
        <a:defRPr sz="3200" b="1">
          <a:solidFill>
            <a:srgbClr val="063DE8"/>
          </a:solidFill>
          <a:latin typeface="Book Antiqua" panose="02040602050305030304" pitchFamily="18" charset="0"/>
        </a:defRPr>
      </a:lvl4pPr>
      <a:lvl5pPr algn="ctr" rtl="0" eaLnBrk="0" fontAlgn="base" hangingPunct="0">
        <a:spcBef>
          <a:spcPct val="0"/>
        </a:spcBef>
        <a:spcAft>
          <a:spcPct val="0"/>
        </a:spcAft>
        <a:defRPr sz="3200" b="1">
          <a:solidFill>
            <a:srgbClr val="063DE8"/>
          </a:solidFill>
          <a:latin typeface="Book Antiqua" panose="02040602050305030304" pitchFamily="18" charset="0"/>
        </a:defRPr>
      </a:lvl5pPr>
      <a:lvl6pPr marL="457200" algn="ctr" rtl="0" eaLnBrk="0" fontAlgn="base" hangingPunct="0">
        <a:spcBef>
          <a:spcPct val="0"/>
        </a:spcBef>
        <a:spcAft>
          <a:spcPct val="0"/>
        </a:spcAft>
        <a:defRPr sz="3200" b="1">
          <a:solidFill>
            <a:srgbClr val="063DE8"/>
          </a:solidFill>
          <a:latin typeface="Book Antiqua" panose="02040602050305030304" pitchFamily="18" charset="0"/>
        </a:defRPr>
      </a:lvl6pPr>
      <a:lvl7pPr marL="914400" algn="ctr" rtl="0" eaLnBrk="0" fontAlgn="base" hangingPunct="0">
        <a:spcBef>
          <a:spcPct val="0"/>
        </a:spcBef>
        <a:spcAft>
          <a:spcPct val="0"/>
        </a:spcAft>
        <a:defRPr sz="3200" b="1">
          <a:solidFill>
            <a:srgbClr val="063DE8"/>
          </a:solidFill>
          <a:latin typeface="Book Antiqua" panose="02040602050305030304" pitchFamily="18" charset="0"/>
        </a:defRPr>
      </a:lvl7pPr>
      <a:lvl8pPr marL="1371600" algn="ctr" rtl="0" eaLnBrk="0" fontAlgn="base" hangingPunct="0">
        <a:spcBef>
          <a:spcPct val="0"/>
        </a:spcBef>
        <a:spcAft>
          <a:spcPct val="0"/>
        </a:spcAft>
        <a:defRPr sz="3200" b="1">
          <a:solidFill>
            <a:srgbClr val="063DE8"/>
          </a:solidFill>
          <a:latin typeface="Book Antiqua" panose="02040602050305030304" pitchFamily="18" charset="0"/>
        </a:defRPr>
      </a:lvl8pPr>
      <a:lvl9pPr marL="1828800" algn="ctr" rtl="0" eaLnBrk="0" fontAlgn="base" hangingPunct="0">
        <a:spcBef>
          <a:spcPct val="0"/>
        </a:spcBef>
        <a:spcAft>
          <a:spcPct val="0"/>
        </a:spcAft>
        <a:defRPr sz="3200" b="1">
          <a:solidFill>
            <a:srgbClr val="063DE8"/>
          </a:solidFill>
          <a:latin typeface="Book Antiqua" panose="02040602050305030304" pitchFamily="18" charset="0"/>
        </a:defRPr>
      </a:lvl9pPr>
    </p:titleStyle>
    <p:body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3.wmf"/></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oleObject" Target="../embeddings/oleObject7.bin"/><Relationship Id="rId7" Type="http://schemas.openxmlformats.org/officeDocument/2006/relationships/oleObject" Target="../embeddings/oleObject6.bin"/><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image" Target="../media/image5.wmf"/><Relationship Id="rId3" Type="http://schemas.openxmlformats.org/officeDocument/2006/relationships/oleObject" Target="../embeddings/oleObject3.bin"/><Relationship Id="rId2" Type="http://schemas.openxmlformats.org/officeDocument/2006/relationships/image" Target="../media/image4.wmf"/><Relationship Id="rId11" Type="http://schemas.openxmlformats.org/officeDocument/2006/relationships/notesSlide" Target="../notesSlides/notesSlide11.xml"/><Relationship Id="rId10" Type="http://schemas.openxmlformats.org/officeDocument/2006/relationships/vmlDrawing" Target="../drawings/vmlDrawing2.vml"/><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10.emf"/><Relationship Id="rId7" Type="http://schemas.openxmlformats.org/officeDocument/2006/relationships/oleObject" Target="../embeddings/oleObject12.bin"/><Relationship Id="rId6" Type="http://schemas.openxmlformats.org/officeDocument/2006/relationships/image" Target="../media/image9.emf"/><Relationship Id="rId5" Type="http://schemas.openxmlformats.org/officeDocument/2006/relationships/oleObject" Target="../embeddings/oleObject11.bin"/><Relationship Id="rId4" Type="http://schemas.openxmlformats.org/officeDocument/2006/relationships/image" Target="../media/image8.emf"/><Relationship Id="rId3" Type="http://schemas.openxmlformats.org/officeDocument/2006/relationships/oleObject" Target="../embeddings/oleObject10.bin"/><Relationship Id="rId2" Type="http://schemas.openxmlformats.org/officeDocument/2006/relationships/image" Target="../media/image7.emf"/><Relationship Id="rId15" Type="http://schemas.openxmlformats.org/officeDocument/2006/relationships/notesSlide" Target="../notesSlides/notesSlide14.xml"/><Relationship Id="rId14" Type="http://schemas.openxmlformats.org/officeDocument/2006/relationships/vmlDrawing" Target="../drawings/vmlDrawing4.vml"/><Relationship Id="rId13" Type="http://schemas.openxmlformats.org/officeDocument/2006/relationships/slideLayout" Target="../slideLayouts/slideLayout2.xml"/><Relationship Id="rId12" Type="http://schemas.openxmlformats.org/officeDocument/2006/relationships/image" Target="../media/image12.emf"/><Relationship Id="rId11" Type="http://schemas.openxmlformats.org/officeDocument/2006/relationships/oleObject" Target="../embeddings/oleObject14.bin"/><Relationship Id="rId10" Type="http://schemas.openxmlformats.org/officeDocument/2006/relationships/image" Target="../media/image11.emf"/><Relationship Id="rId1" Type="http://schemas.openxmlformats.org/officeDocument/2006/relationships/oleObject" Target="../embeddings/oleObject9.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13.w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4.wmf"/></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15.bin"/></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16.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17.bin"/></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19.emf"/><Relationship Id="rId3" Type="http://schemas.openxmlformats.org/officeDocument/2006/relationships/oleObject" Target="../embeddings/oleObject19.bin"/><Relationship Id="rId2" Type="http://schemas.openxmlformats.org/officeDocument/2006/relationships/image" Target="../media/image18.emf"/><Relationship Id="rId1" Type="http://schemas.openxmlformats.org/officeDocument/2006/relationships/oleObject" Target="../embeddings/oleObject18.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0.emf"/><Relationship Id="rId1" Type="http://schemas.openxmlformats.org/officeDocument/2006/relationships/oleObject" Target="../embeddings/oleObject20.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21.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22.wmf"/><Relationship Id="rId1" Type="http://schemas.openxmlformats.org/officeDocument/2006/relationships/oleObject" Target="../embeddings/oleObject22.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23.wmf"/></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1.xml.rels><?xml version="1.0" encoding="UTF-8" standalone="yes"?>
<Relationships xmlns="http://schemas.openxmlformats.org/package/2006/relationships"><Relationship Id="rId9" Type="http://schemas.openxmlformats.org/officeDocument/2006/relationships/notesSlide" Target="../notesSlides/notesSlide41.xml"/><Relationship Id="rId8" Type="http://schemas.openxmlformats.org/officeDocument/2006/relationships/vmlDrawing" Target="../drawings/vmlDrawing12.vml"/><Relationship Id="rId7" Type="http://schemas.openxmlformats.org/officeDocument/2006/relationships/slideLayout" Target="../slideLayouts/slideLayout2.xml"/><Relationship Id="rId6" Type="http://schemas.openxmlformats.org/officeDocument/2006/relationships/image" Target="../media/image28.emf"/><Relationship Id="rId5" Type="http://schemas.openxmlformats.org/officeDocument/2006/relationships/oleObject" Target="../embeddings/oleObject25.bin"/><Relationship Id="rId4" Type="http://schemas.openxmlformats.org/officeDocument/2006/relationships/image" Target="../media/image27.emf"/><Relationship Id="rId3" Type="http://schemas.openxmlformats.org/officeDocument/2006/relationships/oleObject" Target="../embeddings/oleObject24.bin"/><Relationship Id="rId2" Type="http://schemas.openxmlformats.org/officeDocument/2006/relationships/image" Target="../media/image26.emf"/><Relationship Id="rId1" Type="http://schemas.openxmlformats.org/officeDocument/2006/relationships/oleObject" Target="../embeddings/oleObject23.bin"/></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29.wmf"/><Relationship Id="rId1" Type="http://schemas.openxmlformats.org/officeDocument/2006/relationships/oleObject" Target="../embeddings/oleObject26.bin"/></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30.emf"/><Relationship Id="rId1" Type="http://schemas.openxmlformats.org/officeDocument/2006/relationships/oleObject" Target="../embeddings/oleObject27.bin"/></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31.emf"/><Relationship Id="rId1" Type="http://schemas.openxmlformats.org/officeDocument/2006/relationships/oleObject" Target="../embeddings/oleObject28.bin"/></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32.emf"/><Relationship Id="rId1" Type="http://schemas.openxmlformats.org/officeDocument/2006/relationships/oleObject" Target="../embeddings/oleObject29.bin"/></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33.wmf"/><Relationship Id="rId1" Type="http://schemas.openxmlformats.org/officeDocument/2006/relationships/oleObject" Target="../embeddings/oleObject30.bin"/></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vmlDrawing" Target="../drawings/vmlDrawing18.vml"/><Relationship Id="rId4" Type="http://schemas.openxmlformats.org/officeDocument/2006/relationships/slideLayout" Target="../slideLayouts/slideLayout2.xml"/><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oleObject" Target="../embeddings/oleObject31.bin"/></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37.w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39.wmf"/></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59.xml"/><Relationship Id="rId5" Type="http://schemas.openxmlformats.org/officeDocument/2006/relationships/vmlDrawing" Target="../drawings/vmlDrawing19.vml"/><Relationship Id="rId4" Type="http://schemas.openxmlformats.org/officeDocument/2006/relationships/slideLayout" Target="../slideLayouts/slideLayout2.xml"/><Relationship Id="rId3" Type="http://schemas.openxmlformats.org/officeDocument/2006/relationships/image" Target="../media/image37.wmf"/><Relationship Id="rId2" Type="http://schemas.openxmlformats.org/officeDocument/2006/relationships/image" Target="../media/image40.wmf"/><Relationship Id="rId1" Type="http://schemas.openxmlformats.org/officeDocument/2006/relationships/oleObject" Target="../embeddings/oleObject32.bin"/></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7.xml"/><Relationship Id="rId1" Type="http://schemas.openxmlformats.org/officeDocument/2006/relationships/image" Target="../media/image41.wmf"/></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image" Target="../media/image42.w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5" Type="http://schemas.openxmlformats.org/officeDocument/2006/relationships/notesSlide" Target="../notesSlides/notesSlide67.xml"/><Relationship Id="rId4" Type="http://schemas.openxmlformats.org/officeDocument/2006/relationships/vmlDrawing" Target="../drawings/vmlDrawing20.vml"/><Relationship Id="rId3" Type="http://schemas.openxmlformats.org/officeDocument/2006/relationships/slideLayout" Target="../slideLayouts/slideLayout2.xml"/><Relationship Id="rId2" Type="http://schemas.openxmlformats.org/officeDocument/2006/relationships/image" Target="../media/image43.emf"/><Relationship Id="rId1" Type="http://schemas.openxmlformats.org/officeDocument/2006/relationships/oleObject" Target="../embeddings/oleObject33.bin"/></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5" Type="http://schemas.openxmlformats.org/officeDocument/2006/relationships/notesSlide" Target="../notesSlides/notesSlide72.xml"/><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44.wmf"/><Relationship Id="rId1" Type="http://schemas.openxmlformats.org/officeDocument/2006/relationships/oleObject" Target="../embeddings/oleObject34.bin"/></Relationships>
</file>

<file path=ppt/slides/_rels/slide73.xml.rels><?xml version="1.0" encoding="UTF-8" standalone="yes"?>
<Relationships xmlns="http://schemas.openxmlformats.org/package/2006/relationships"><Relationship Id="rId9" Type="http://schemas.openxmlformats.org/officeDocument/2006/relationships/oleObject" Target="../embeddings/oleObject39.bin"/><Relationship Id="rId8" Type="http://schemas.openxmlformats.org/officeDocument/2006/relationships/image" Target="../media/image48.wmf"/><Relationship Id="rId7" Type="http://schemas.openxmlformats.org/officeDocument/2006/relationships/oleObject" Target="../embeddings/oleObject38.bin"/><Relationship Id="rId6" Type="http://schemas.openxmlformats.org/officeDocument/2006/relationships/image" Target="../media/image47.wmf"/><Relationship Id="rId5" Type="http://schemas.openxmlformats.org/officeDocument/2006/relationships/oleObject" Target="../embeddings/oleObject37.bin"/><Relationship Id="rId4" Type="http://schemas.openxmlformats.org/officeDocument/2006/relationships/image" Target="../media/image46.wmf"/><Relationship Id="rId3" Type="http://schemas.openxmlformats.org/officeDocument/2006/relationships/oleObject" Target="../embeddings/oleObject36.bin"/><Relationship Id="rId2" Type="http://schemas.openxmlformats.org/officeDocument/2006/relationships/image" Target="../media/image45.wmf"/><Relationship Id="rId13" Type="http://schemas.openxmlformats.org/officeDocument/2006/relationships/notesSlide" Target="../notesSlides/notesSlide73.xml"/><Relationship Id="rId12" Type="http://schemas.openxmlformats.org/officeDocument/2006/relationships/vmlDrawing" Target="../drawings/vmlDrawing22.vml"/><Relationship Id="rId11" Type="http://schemas.openxmlformats.org/officeDocument/2006/relationships/slideLayout" Target="../slideLayouts/slideLayout2.xml"/><Relationship Id="rId10" Type="http://schemas.openxmlformats.org/officeDocument/2006/relationships/image" Target="../media/image44.wmf"/><Relationship Id="rId1" Type="http://schemas.openxmlformats.org/officeDocument/2006/relationships/oleObject" Target="../embeddings/oleObject35.bin"/></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74.xml"/><Relationship Id="rId4" Type="http://schemas.openxmlformats.org/officeDocument/2006/relationships/vmlDrawing" Target="../drawings/vmlDrawing23.vml"/><Relationship Id="rId3" Type="http://schemas.openxmlformats.org/officeDocument/2006/relationships/slideLayout" Target="../slideLayouts/slideLayout2.xml"/><Relationship Id="rId2" Type="http://schemas.openxmlformats.org/officeDocument/2006/relationships/image" Target="../media/image49.wmf"/><Relationship Id="rId1" Type="http://schemas.openxmlformats.org/officeDocument/2006/relationships/oleObject" Target="../embeddings/oleObject40.bin"/></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5" Type="http://schemas.openxmlformats.org/officeDocument/2006/relationships/notesSlide" Target="../notesSlides/notesSlide76.xml"/><Relationship Id="rId4" Type="http://schemas.openxmlformats.org/officeDocument/2006/relationships/vmlDrawing" Target="../drawings/vmlDrawing24.vml"/><Relationship Id="rId3" Type="http://schemas.openxmlformats.org/officeDocument/2006/relationships/slideLayout" Target="../slideLayouts/slideLayout2.xml"/><Relationship Id="rId2" Type="http://schemas.openxmlformats.org/officeDocument/2006/relationships/image" Target="../media/image50.wmf"/><Relationship Id="rId1" Type="http://schemas.openxmlformats.org/officeDocument/2006/relationships/oleObject" Target="../embeddings/oleObject41.bin"/></Relationships>
</file>

<file path=ppt/slides/_rels/slide77.xml.rels><?xml version="1.0" encoding="UTF-8" standalone="yes"?>
<Relationships xmlns="http://schemas.openxmlformats.org/package/2006/relationships"><Relationship Id="rId5" Type="http://schemas.openxmlformats.org/officeDocument/2006/relationships/notesSlide" Target="../notesSlides/notesSlide77.xml"/><Relationship Id="rId4" Type="http://schemas.openxmlformats.org/officeDocument/2006/relationships/vmlDrawing" Target="../drawings/vmlDrawing25.vml"/><Relationship Id="rId3" Type="http://schemas.openxmlformats.org/officeDocument/2006/relationships/slideLayout" Target="../slideLayouts/slideLayout2.xml"/><Relationship Id="rId2" Type="http://schemas.openxmlformats.org/officeDocument/2006/relationships/image" Target="../media/image51.wmf"/><Relationship Id="rId1" Type="http://schemas.openxmlformats.org/officeDocument/2006/relationships/oleObject" Target="../embeddings/oleObject42.bin"/></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image" Target="../media/image52.wmf"/></Relationships>
</file>

<file path=ppt/slides/_rels/slide81.xml.rels><?xml version="1.0" encoding="UTF-8" standalone="yes"?>
<Relationships xmlns="http://schemas.openxmlformats.org/package/2006/relationships"><Relationship Id="rId5" Type="http://schemas.openxmlformats.org/officeDocument/2006/relationships/notesSlide" Target="../notesSlides/notesSlide81.xml"/><Relationship Id="rId4" Type="http://schemas.openxmlformats.org/officeDocument/2006/relationships/vmlDrawing" Target="../drawings/vmlDrawing26.vml"/><Relationship Id="rId3" Type="http://schemas.openxmlformats.org/officeDocument/2006/relationships/slideLayout" Target="../slideLayouts/slideLayout2.xml"/><Relationship Id="rId2" Type="http://schemas.openxmlformats.org/officeDocument/2006/relationships/image" Target="../media/image53.wmf"/><Relationship Id="rId1" Type="http://schemas.openxmlformats.org/officeDocument/2006/relationships/oleObject" Target="../embeddings/oleObject43.bin"/></Relationships>
</file>

<file path=ppt/slides/_rels/slide82.xml.rels><?xml version="1.0" encoding="UTF-8" standalone="yes"?>
<Relationships xmlns="http://schemas.openxmlformats.org/package/2006/relationships"><Relationship Id="rId5" Type="http://schemas.openxmlformats.org/officeDocument/2006/relationships/notesSlide" Target="../notesSlides/notesSlide82.xml"/><Relationship Id="rId4" Type="http://schemas.openxmlformats.org/officeDocument/2006/relationships/vmlDrawing" Target="../drawings/vmlDrawing27.vml"/><Relationship Id="rId3" Type="http://schemas.openxmlformats.org/officeDocument/2006/relationships/slideLayout" Target="../slideLayouts/slideLayout2.xml"/><Relationship Id="rId2" Type="http://schemas.openxmlformats.org/officeDocument/2006/relationships/image" Target="../media/image54.wmf"/><Relationship Id="rId1" Type="http://schemas.openxmlformats.org/officeDocument/2006/relationships/oleObject" Target="../embeddings/oleObject44.bin"/></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5" Type="http://schemas.openxmlformats.org/officeDocument/2006/relationships/notesSlide" Target="../notesSlides/notesSlide84.xml"/><Relationship Id="rId4" Type="http://schemas.openxmlformats.org/officeDocument/2006/relationships/slideLayout" Target="../slideLayouts/slideLayout7.xml"/><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wmf"/></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5" Type="http://schemas.openxmlformats.org/officeDocument/2006/relationships/notesSlide" Target="../notesSlides/notesSlide95.xml"/><Relationship Id="rId4" Type="http://schemas.openxmlformats.org/officeDocument/2006/relationships/vmlDrawing" Target="../drawings/vmlDrawing28.vml"/><Relationship Id="rId3" Type="http://schemas.openxmlformats.org/officeDocument/2006/relationships/slideLayout" Target="../slideLayouts/slideLayout2.xml"/><Relationship Id="rId2" Type="http://schemas.openxmlformats.org/officeDocument/2006/relationships/image" Target="../media/image59.wmf"/><Relationship Id="rId1" Type="http://schemas.openxmlformats.org/officeDocument/2006/relationships/oleObject" Target="../embeddings/oleObject45.bin"/></Relationships>
</file>

<file path=ppt/slides/_rels/slide96.xml.rels><?xml version="1.0" encoding="UTF-8" standalone="yes"?>
<Relationships xmlns="http://schemas.openxmlformats.org/package/2006/relationships"><Relationship Id="rId5" Type="http://schemas.openxmlformats.org/officeDocument/2006/relationships/notesSlide" Target="../notesSlides/notesSlide96.xml"/><Relationship Id="rId4" Type="http://schemas.openxmlformats.org/officeDocument/2006/relationships/vmlDrawing" Target="../drawings/vmlDrawing29.vml"/><Relationship Id="rId3" Type="http://schemas.openxmlformats.org/officeDocument/2006/relationships/slideLayout" Target="../slideLayouts/slideLayout2.xml"/><Relationship Id="rId2" Type="http://schemas.openxmlformats.org/officeDocument/2006/relationships/image" Target="../media/image60.wmf"/><Relationship Id="rId1" Type="http://schemas.openxmlformats.org/officeDocument/2006/relationships/oleObject" Target="../embeddings/oleObject46.bin"/></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2.xml"/><Relationship Id="rId1" Type="http://schemas.openxmlformats.org/officeDocument/2006/relationships/image" Target="../media/image61.wmf"/></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7.xml"/><Relationship Id="rId1" Type="http://schemas.openxmlformats.org/officeDocument/2006/relationships/image" Target="../media/image62.wmf"/></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2.xml"/><Relationship Id="rId1" Type="http://schemas.openxmlformats.org/officeDocument/2006/relationships/image" Target="../media/image63.wmf"/></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image" Target="../media/image65.wmf"/></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2.wmf"/></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image" Target="../media/image66.wmf"/></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7.png"/></Relationships>
</file>

<file path=ppt/slides/_rels/slide119.xml.rels><?xml version="1.0" encoding="UTF-8" standalone="yes"?>
<Relationships xmlns="http://schemas.openxmlformats.org/package/2006/relationships"><Relationship Id="rId5" Type="http://schemas.openxmlformats.org/officeDocument/2006/relationships/notesSlide" Target="../notesSlides/notesSlide117.xml"/><Relationship Id="rId4" Type="http://schemas.openxmlformats.org/officeDocument/2006/relationships/vmlDrawing" Target="../drawings/vmlDrawing30.vml"/><Relationship Id="rId3" Type="http://schemas.openxmlformats.org/officeDocument/2006/relationships/slideLayout" Target="../slideLayouts/slideLayout2.xml"/><Relationship Id="rId2" Type="http://schemas.openxmlformats.org/officeDocument/2006/relationships/image" Target="../media/image68.wmf"/><Relationship Id="rId1" Type="http://schemas.openxmlformats.org/officeDocument/2006/relationships/oleObject" Target="../embeddings/oleObject47.bin"/></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9" Type="http://schemas.openxmlformats.org/officeDocument/2006/relationships/notesSlide" Target="../notesSlides/notesSlide119.xml"/><Relationship Id="rId8" Type="http://schemas.openxmlformats.org/officeDocument/2006/relationships/vmlDrawing" Target="../drawings/vmlDrawing31.vml"/><Relationship Id="rId7" Type="http://schemas.openxmlformats.org/officeDocument/2006/relationships/slideLayout" Target="../slideLayouts/slideLayout2.xml"/><Relationship Id="rId6" Type="http://schemas.openxmlformats.org/officeDocument/2006/relationships/image" Target="../media/image71.wmf"/><Relationship Id="rId5" Type="http://schemas.openxmlformats.org/officeDocument/2006/relationships/oleObject" Target="../embeddings/oleObject50.bin"/><Relationship Id="rId4" Type="http://schemas.openxmlformats.org/officeDocument/2006/relationships/image" Target="../media/image70.wmf"/><Relationship Id="rId3" Type="http://schemas.openxmlformats.org/officeDocument/2006/relationships/oleObject" Target="../embeddings/oleObject49.bin"/><Relationship Id="rId2" Type="http://schemas.openxmlformats.org/officeDocument/2006/relationships/image" Target="../media/image69.wmf"/><Relationship Id="rId1" Type="http://schemas.openxmlformats.org/officeDocument/2006/relationships/oleObject" Target="../embeddings/oleObject48.bin"/></Relationships>
</file>

<file path=ppt/slides/_rels/slide122.xml.rels><?xml version="1.0" encoding="UTF-8" standalone="yes"?>
<Relationships xmlns="http://schemas.openxmlformats.org/package/2006/relationships"><Relationship Id="rId7" Type="http://schemas.openxmlformats.org/officeDocument/2006/relationships/notesSlide" Target="../notesSlides/notesSlide120.xml"/><Relationship Id="rId6" Type="http://schemas.openxmlformats.org/officeDocument/2006/relationships/vmlDrawing" Target="../drawings/vmlDrawing32.vml"/><Relationship Id="rId5" Type="http://schemas.openxmlformats.org/officeDocument/2006/relationships/slideLayout" Target="../slideLayouts/slideLayout2.xml"/><Relationship Id="rId4" Type="http://schemas.openxmlformats.org/officeDocument/2006/relationships/image" Target="../media/image73.wmf"/><Relationship Id="rId3" Type="http://schemas.openxmlformats.org/officeDocument/2006/relationships/oleObject" Target="../embeddings/oleObject52.bin"/><Relationship Id="rId2" Type="http://schemas.openxmlformats.org/officeDocument/2006/relationships/image" Target="../media/image72.wmf"/><Relationship Id="rId1" Type="http://schemas.openxmlformats.org/officeDocument/2006/relationships/oleObject" Target="../embeddings/oleObject51.bin"/></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7.xml"/><Relationship Id="rId1" Type="http://schemas.openxmlformats.org/officeDocument/2006/relationships/image" Target="../media/image74.png"/></Relationships>
</file>

<file path=ppt/slides/_rels/slide124.xml.rels><?xml version="1.0" encoding="UTF-8" standalone="yes"?>
<Relationships xmlns="http://schemas.openxmlformats.org/package/2006/relationships"><Relationship Id="rId5" Type="http://schemas.openxmlformats.org/officeDocument/2006/relationships/notesSlide" Target="../notesSlides/notesSlide122.xml"/><Relationship Id="rId4" Type="http://schemas.openxmlformats.org/officeDocument/2006/relationships/vmlDrawing" Target="../drawings/vmlDrawing33.vml"/><Relationship Id="rId3" Type="http://schemas.openxmlformats.org/officeDocument/2006/relationships/slideLayout" Target="../slideLayouts/slideLayout2.xml"/><Relationship Id="rId2" Type="http://schemas.openxmlformats.org/officeDocument/2006/relationships/image" Target="../media/image75.emf"/><Relationship Id="rId1" Type="http://schemas.openxmlformats.org/officeDocument/2006/relationships/oleObject" Target="../embeddings/oleObject53.bin"/></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6.wmf"/></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5" Type="http://schemas.openxmlformats.org/officeDocument/2006/relationships/notesSlide" Target="../notesSlides/notesSlide129.xml"/><Relationship Id="rId4" Type="http://schemas.openxmlformats.org/officeDocument/2006/relationships/vmlDrawing" Target="../drawings/vmlDrawing34.vml"/><Relationship Id="rId3" Type="http://schemas.openxmlformats.org/officeDocument/2006/relationships/slideLayout" Target="../slideLayouts/slideLayout2.xml"/><Relationship Id="rId2" Type="http://schemas.openxmlformats.org/officeDocument/2006/relationships/image" Target="../media/image77.wmf"/><Relationship Id="rId1" Type="http://schemas.openxmlformats.org/officeDocument/2006/relationships/oleObject" Target="../embeddings/oleObject54.bin"/></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2.xml"/><Relationship Id="rId1" Type="http://schemas.openxmlformats.org/officeDocument/2006/relationships/image" Target="../media/image78.wmf"/></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34.xml"/><Relationship Id="rId2" Type="http://schemas.openxmlformats.org/officeDocument/2006/relationships/slideLayout" Target="../slideLayouts/slideLayout2.xml"/><Relationship Id="rId1" Type="http://schemas.openxmlformats.org/officeDocument/2006/relationships/image" Target="../media/image79.wmf"/></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37.xml"/><Relationship Id="rId2" Type="http://schemas.openxmlformats.org/officeDocument/2006/relationships/slideLayout" Target="../slideLayouts/slideLayout2.xml"/><Relationship Id="rId1" Type="http://schemas.openxmlformats.org/officeDocument/2006/relationships/image" Target="../media/image80.wmf"/></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2.xml"/><Relationship Id="rId1" Type="http://schemas.openxmlformats.org/officeDocument/2006/relationships/image" Target="../media/image81.wmf"/></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5" Type="http://schemas.openxmlformats.org/officeDocument/2006/relationships/notesSlide" Target="../notesSlides/notesSlide143.xml"/><Relationship Id="rId4" Type="http://schemas.openxmlformats.org/officeDocument/2006/relationships/vmlDrawing" Target="../drawings/vmlDrawing35.vml"/><Relationship Id="rId3" Type="http://schemas.openxmlformats.org/officeDocument/2006/relationships/slideLayout" Target="../slideLayouts/slideLayout2.xml"/><Relationship Id="rId2" Type="http://schemas.openxmlformats.org/officeDocument/2006/relationships/image" Target="../media/image82.wmf"/><Relationship Id="rId1" Type="http://schemas.openxmlformats.org/officeDocument/2006/relationships/oleObject" Target="../embeddings/oleObject55.bin"/></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3.png"/></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9" Type="http://schemas.openxmlformats.org/officeDocument/2006/relationships/notesSlide" Target="../notesSlides/notesSlide146.xml"/><Relationship Id="rId8" Type="http://schemas.openxmlformats.org/officeDocument/2006/relationships/vmlDrawing" Target="../drawings/vmlDrawing36.vml"/><Relationship Id="rId7" Type="http://schemas.openxmlformats.org/officeDocument/2006/relationships/slideLayout" Target="../slideLayouts/slideLayout2.xml"/><Relationship Id="rId6" Type="http://schemas.openxmlformats.org/officeDocument/2006/relationships/image" Target="../media/image86.wmf"/><Relationship Id="rId5" Type="http://schemas.openxmlformats.org/officeDocument/2006/relationships/oleObject" Target="../embeddings/oleObject58.bin"/><Relationship Id="rId4" Type="http://schemas.openxmlformats.org/officeDocument/2006/relationships/image" Target="../media/image85.wmf"/><Relationship Id="rId3" Type="http://schemas.openxmlformats.org/officeDocument/2006/relationships/oleObject" Target="../embeddings/oleObject57.bin"/><Relationship Id="rId2" Type="http://schemas.openxmlformats.org/officeDocument/2006/relationships/image" Target="../media/image84.wmf"/><Relationship Id="rId1" Type="http://schemas.openxmlformats.org/officeDocument/2006/relationships/oleObject" Target="../embeddings/oleObject56.bin"/></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7.wmf"/></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8.wmf"/></Relationships>
</file>

<file path=ppt/slides/_rels/slide1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9.wmf"/></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notesSlide" Target="../notesSlides/notesSlide151.xml"/><Relationship Id="rId2" Type="http://schemas.openxmlformats.org/officeDocument/2006/relationships/slideLayout" Target="../slideLayouts/slideLayout7.xml"/><Relationship Id="rId1" Type="http://schemas.openxmlformats.org/officeDocument/2006/relationships/image" Target="../media/image90.wmf"/></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第四章 语法分析</a:t>
            </a:r>
            <a:endParaRPr lang="en-US" altLang="zh-CN" dirty="0">
              <a:latin typeface="宋体" panose="02010600030101010101" pitchFamily="2" charset="-122"/>
              <a:ea typeface="宋体" panose="02010600030101010101" pitchFamily="2" charset="-122"/>
            </a:endParaRPr>
          </a:p>
        </p:txBody>
      </p:sp>
      <p:sp>
        <p:nvSpPr>
          <p:cNvPr id="4099" name="Rectangle 3"/>
          <p:cNvSpPr>
            <a:spLocks noGrp="1"/>
          </p:cNvSpPr>
          <p:nvPr>
            <p:ph idx="1"/>
          </p:nvPr>
        </p:nvSpPr>
        <p:spPr>
          <a:xfrm>
            <a:off x="990600" y="1600200"/>
            <a:ext cx="7391400" cy="4191000"/>
          </a:xfrm>
        </p:spPr>
        <p:txBody>
          <a:bodyPr vert="horz" wrap="square" lIns="92075" tIns="46038" rIns="92075" bIns="46038" anchor="t" anchorCtr="0"/>
          <a:p>
            <a:r>
              <a:rPr lang="zh-CN" altLang="en-US" sz="3200" b="1" dirty="0">
                <a:solidFill>
                  <a:srgbClr val="FF0000"/>
                </a:solidFill>
                <a:ea typeface="宋体" panose="02010600030101010101" pitchFamily="2" charset="-122"/>
              </a:rPr>
              <a:t>引言</a:t>
            </a:r>
            <a:r>
              <a:rPr lang="en-US" altLang="zh-CN" sz="3200" b="1" dirty="0">
                <a:solidFill>
                  <a:srgbClr val="FF0000"/>
                </a:solidFill>
                <a:ea typeface="宋体" panose="02010600030101010101" pitchFamily="2" charset="-122"/>
              </a:rPr>
              <a:t>—</a:t>
            </a:r>
            <a:r>
              <a:rPr lang="zh-CN" altLang="en-US" sz="3200" b="1" dirty="0">
                <a:solidFill>
                  <a:srgbClr val="FF0000"/>
                </a:solidFill>
                <a:ea typeface="宋体" panose="02010600030101010101" pitchFamily="2" charset="-122"/>
              </a:rPr>
              <a:t>分析器的作用及错误处理等</a:t>
            </a:r>
            <a:endParaRPr lang="zh-CN" altLang="en-US" sz="3200" b="1" dirty="0">
              <a:solidFill>
                <a:srgbClr val="FF0000"/>
              </a:solidFill>
              <a:ea typeface="宋体" panose="02010600030101010101" pitchFamily="2" charset="-122"/>
            </a:endParaRPr>
          </a:p>
          <a:p>
            <a:r>
              <a:rPr lang="zh-CN" altLang="en-US" sz="3200" b="1" dirty="0">
                <a:ea typeface="宋体" panose="02010600030101010101" pitchFamily="2" charset="-122"/>
              </a:rPr>
              <a:t>上下文无关文法的分析及改造</a:t>
            </a:r>
            <a:endParaRPr lang="zh-CN" altLang="en-US" sz="3200" b="1" dirty="0">
              <a:ea typeface="宋体" panose="02010600030101010101" pitchFamily="2" charset="-122"/>
            </a:endParaRPr>
          </a:p>
          <a:p>
            <a:r>
              <a:rPr lang="zh-CN" altLang="en-US" sz="3200" b="1" dirty="0">
                <a:ea typeface="宋体" panose="02010600030101010101" pitchFamily="2" charset="-122"/>
              </a:rPr>
              <a:t>自顶向下的分析</a:t>
            </a:r>
            <a:endParaRPr lang="zh-CN" altLang="en-US" sz="3200" b="1" dirty="0">
              <a:ea typeface="宋体" panose="02010600030101010101" pitchFamily="2" charset="-122"/>
            </a:endParaRPr>
          </a:p>
          <a:p>
            <a:r>
              <a:rPr lang="zh-CN" altLang="en-US" sz="3200" b="1" dirty="0">
                <a:ea typeface="宋体" panose="02010600030101010101" pitchFamily="2" charset="-122"/>
              </a:rPr>
              <a:t>自底向上的分析</a:t>
            </a:r>
            <a:endParaRPr lang="zh-CN" altLang="en-US" sz="3200" b="1" dirty="0">
              <a:ea typeface="宋体" panose="02010600030101010101" pitchFamily="2" charset="-122"/>
            </a:endParaRPr>
          </a:p>
          <a:p>
            <a:r>
              <a:rPr lang="en-US" altLang="zh-CN" sz="3200" b="1" dirty="0">
                <a:ea typeface="宋体" panose="02010600030101010101" pitchFamily="2" charset="-122"/>
              </a:rPr>
              <a:t>LR</a:t>
            </a:r>
            <a:r>
              <a:rPr lang="zh-CN" altLang="en-US" sz="3200" b="1" dirty="0">
                <a:ea typeface="宋体" panose="02010600030101010101" pitchFamily="2" charset="-122"/>
              </a:rPr>
              <a:t>分析器</a:t>
            </a:r>
            <a:endParaRPr lang="zh-CN" altLang="en-US" sz="3200" b="1" dirty="0">
              <a:ea typeface="宋体" panose="02010600030101010101" pitchFamily="2" charset="-122"/>
            </a:endParaRPr>
          </a:p>
          <a:p>
            <a:r>
              <a:rPr lang="zh-CN" altLang="en-US" sz="3200" b="1" dirty="0">
                <a:ea typeface="宋体" panose="02010600030101010101" pitchFamily="2" charset="-122"/>
              </a:rPr>
              <a:t>二义文法的应用和自底向上分析的错误处理</a:t>
            </a:r>
            <a:endParaRPr lang="en-US" altLang="zh-CN" sz="3200" b="1" dirty="0">
              <a:ea typeface="宋体" panose="02010600030101010101" pitchFamily="2" charset="-122"/>
            </a:endParaRPr>
          </a:p>
          <a:p>
            <a:r>
              <a:rPr lang="zh-CN" altLang="en-US" sz="3200" b="1" dirty="0">
                <a:ea typeface="宋体" panose="02010600030101010101" pitchFamily="2" charset="-122"/>
              </a:rPr>
              <a:t>语法分析器生成工具</a:t>
            </a:r>
            <a:endParaRPr lang="zh-CN" altLang="en-US" b="1" dirty="0">
              <a:ea typeface="宋体" panose="02010600030101010101"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分析器的作用（</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 name="Rectangle 3"/>
          <p:cNvSpPr txBox="1">
            <a:spLocks noChangeArrowheads="1"/>
          </p:cNvSpPr>
          <p:nvPr/>
        </p:nvSpPr>
        <p:spPr bwMode="auto">
          <a:xfrm>
            <a:off x="990600" y="1600200"/>
            <a:ext cx="7391400" cy="48768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a:ln>
                  <a:noFill/>
                </a:ln>
                <a:solidFill>
                  <a:schemeClr val="tx1"/>
                </a:solidFill>
                <a:effectLst/>
                <a:uLnTx/>
                <a:uFillTx/>
                <a:latin typeface="+mn-lt"/>
                <a:ea typeface="宋体" panose="02010600030101010101" pitchFamily="2" charset="-122"/>
                <a:cs typeface="+mn-cs"/>
              </a:rPr>
              <a:t>分析器在编译器的位置</a:t>
            </a:r>
            <a:endParaRPr kumimoji="0" lang="zh-CN" altLang="en-US" sz="2600" b="1"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rPr>
              <a:t>接收词法分析器输出的记号串，检查是否合乎语法</a:t>
            </a:r>
            <a:endPar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rPr>
              <a:t>报告语法错误，并恢复语法错误，从而可以继续分析</a:t>
            </a:r>
            <a:endPar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rPr>
              <a:t>输出是分析树的某种形式</a:t>
            </a:r>
            <a:endPar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rPr>
              <a:t>分析时其它的任务：将各种记号的信息收入符号表、类型检查和其它语义检查、中间代码的生成，这些放在“前端的其它部分”完成</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graphicFrame>
        <p:nvGraphicFramePr>
          <p:cNvPr id="6148" name="Object 6"/>
          <p:cNvGraphicFramePr>
            <a:graphicFrameLocks noChangeAspect="1"/>
          </p:cNvGraphicFramePr>
          <p:nvPr/>
        </p:nvGraphicFramePr>
        <p:xfrm>
          <a:off x="1042988" y="2057400"/>
          <a:ext cx="7339012" cy="1987550"/>
        </p:xfrm>
        <a:graphic>
          <a:graphicData uri="http://schemas.openxmlformats.org/presentationml/2006/ole">
            <mc:AlternateContent xmlns:mc="http://schemas.openxmlformats.org/markup-compatibility/2006">
              <mc:Choice xmlns:v="urn:schemas-microsoft-com:vml" Requires="v">
                <p:oleObj spid="_x0000_s3076" name="" r:id="rId1" imgW="8788400" imgH="2197100" progId="Visio.Drawing.11">
                  <p:embed/>
                </p:oleObj>
              </mc:Choice>
              <mc:Fallback>
                <p:oleObj name="" r:id="rId1" imgW="8788400" imgH="2197100" progId="Visio.Drawing.11">
                  <p:embed/>
                  <p:pic>
                    <p:nvPicPr>
                      <p:cNvPr id="0" name="图片 3075"/>
                      <p:cNvPicPr/>
                      <p:nvPr/>
                    </p:nvPicPr>
                    <p:blipFill>
                      <a:blip r:embed="rId2"/>
                      <a:stretch>
                        <a:fillRect/>
                      </a:stretch>
                    </p:blipFill>
                    <p:spPr>
                      <a:xfrm>
                        <a:off x="1042988" y="2057400"/>
                        <a:ext cx="7339012" cy="1987550"/>
                      </a:xfrm>
                      <a:prstGeom prst="rect">
                        <a:avLst/>
                      </a:prstGeom>
                      <a:noFill/>
                      <a:ln w="38100">
                        <a:noFill/>
                        <a:miter/>
                      </a:ln>
                    </p:spPr>
                  </p:pic>
                </p:oleObj>
              </mc:Fallback>
            </mc:AlternateContent>
          </a:graphicData>
        </a:graphic>
      </p:graphicFrame>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分析器的作用（</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195" name="Rectangle 3"/>
          <p:cNvSpPr>
            <a:spLocks noGrp="1"/>
          </p:cNvSpPr>
          <p:nvPr>
            <p:ph idx="1"/>
          </p:nvPr>
        </p:nvSpPr>
        <p:spPr>
          <a:xfrm>
            <a:off x="755650" y="1600200"/>
            <a:ext cx="7848600" cy="1397000"/>
          </a:xfrm>
        </p:spPr>
        <p:txBody>
          <a:bodyPr vert="horz" wrap="square" lIns="92075" tIns="46038" rIns="92075" bIns="46038" anchor="t" anchorCtr="0"/>
          <a:p>
            <a:r>
              <a:rPr lang="zh-CN" altLang="en-US" b="1" dirty="0">
                <a:ea typeface="宋体" panose="02010600030101010101" pitchFamily="2" charset="-122"/>
              </a:rPr>
              <a:t>代表性的文法：本章主要关注表达式文法</a:t>
            </a:r>
            <a:endParaRPr lang="zh-CN" altLang="en-US" b="1" dirty="0">
              <a:ea typeface="宋体" panose="02010600030101010101" pitchFamily="2" charset="-122"/>
            </a:endParaRPr>
          </a:p>
          <a:p>
            <a:pPr lvl="1"/>
            <a:r>
              <a:rPr lang="zh-CN" altLang="en-US" b="1" dirty="0">
                <a:ea typeface="宋体" panose="02010600030101010101" pitchFamily="2" charset="-122"/>
              </a:rPr>
              <a:t>表达式文法的简单形式如下，有二义性（文法</a:t>
            </a:r>
            <a:r>
              <a:rPr lang="en-US" altLang="zh-CN" b="1" dirty="0">
                <a:ea typeface="宋体" panose="02010600030101010101" pitchFamily="2" charset="-122"/>
              </a:rPr>
              <a:t>4.3</a:t>
            </a:r>
            <a:r>
              <a:rPr lang="zh-CN" altLang="en-US" b="1" dirty="0">
                <a:ea typeface="宋体" panose="02010600030101010101" pitchFamily="2" charset="-122"/>
              </a:rPr>
              <a:t>）</a:t>
            </a:r>
            <a:endParaRPr lang="zh-CN" altLang="en-US" b="1" dirty="0">
              <a:ea typeface="宋体" panose="02010600030101010101" pitchFamily="2" charset="-122"/>
            </a:endParaRPr>
          </a:p>
          <a:p>
            <a:pPr marL="914400" lvl="2" indent="0">
              <a:buNone/>
            </a:pPr>
            <a:r>
              <a:rPr lang="en-US" altLang="zh-CN" b="1" dirty="0">
                <a:ea typeface="宋体" panose="02010600030101010101" pitchFamily="2" charset="-122"/>
              </a:rPr>
              <a:t>E</a:t>
            </a:r>
            <a:r>
              <a:rPr lang="zh-CN" altLang="en-US" b="1" dirty="0">
                <a:ea typeface="宋体" panose="02010600030101010101" pitchFamily="2" charset="-122"/>
              </a:rPr>
              <a:t> </a:t>
            </a:r>
            <a:r>
              <a:rPr lang="en-US" altLang="zh-CN" b="1" dirty="0">
                <a:ea typeface="宋体" panose="02010600030101010101" pitchFamily="2" charset="-122"/>
              </a:rPr>
              <a:t>→ E + E | E * E | ( E ) | id</a:t>
            </a:r>
            <a:endParaRPr lang="zh-CN" altLang="en-US" b="1" dirty="0">
              <a:ea typeface="宋体" panose="02010600030101010101" pitchFamily="2" charset="-122"/>
            </a:endParaRPr>
          </a:p>
        </p:txBody>
      </p:sp>
      <p:sp>
        <p:nvSpPr>
          <p:cNvPr id="8196" name="文本框 2"/>
          <p:cNvSpPr txBox="1"/>
          <p:nvPr/>
        </p:nvSpPr>
        <p:spPr>
          <a:xfrm>
            <a:off x="641350" y="3357563"/>
            <a:ext cx="3570288" cy="3167062"/>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342900" lvl="0" indent="-342900"/>
            <a:r>
              <a:rPr lang="zh-CN" altLang="en-US" b="1" dirty="0">
                <a:ea typeface="宋体" panose="02010600030101010101" pitchFamily="2" charset="-122"/>
              </a:rPr>
              <a:t>明确了算符优先级和结合性的表达式文法（文法</a:t>
            </a:r>
            <a:r>
              <a:rPr lang="en-US" altLang="zh-CN" b="1" dirty="0">
                <a:ea typeface="宋体" panose="02010600030101010101" pitchFamily="2" charset="-122"/>
              </a:rPr>
              <a:t>4.1</a:t>
            </a:r>
            <a:r>
              <a:rPr lang="zh-CN" altLang="en-US" b="1" dirty="0">
                <a:ea typeface="宋体" panose="02010600030101010101" pitchFamily="2" charset="-122"/>
              </a:rPr>
              <a:t>）</a:t>
            </a:r>
            <a:endParaRPr lang="en-US" altLang="zh-CN" b="1" dirty="0">
              <a:ea typeface="宋体" panose="02010600030101010101" pitchFamily="2" charset="-122"/>
            </a:endParaRPr>
          </a:p>
          <a:p>
            <a:pPr marL="457200" lvl="1" indent="0">
              <a:buNone/>
            </a:pPr>
            <a:r>
              <a:rPr lang="en-US" altLang="zh-CN" b="1" dirty="0">
                <a:ea typeface="宋体" panose="02010600030101010101" pitchFamily="2" charset="-122"/>
              </a:rPr>
              <a:t>E</a:t>
            </a:r>
            <a:r>
              <a:rPr lang="zh-CN" altLang="en-US" b="1" dirty="0">
                <a:ea typeface="宋体" panose="02010600030101010101" pitchFamily="2" charset="-122"/>
              </a:rPr>
              <a:t> </a:t>
            </a:r>
            <a:r>
              <a:rPr lang="en-US" altLang="zh-CN" b="1" dirty="0">
                <a:ea typeface="宋体" panose="02010600030101010101" pitchFamily="2" charset="-122"/>
              </a:rPr>
              <a:t>→ E + T</a:t>
            </a:r>
            <a:r>
              <a:rPr lang="zh-CN" altLang="en-US" b="1" dirty="0">
                <a:ea typeface="宋体" panose="02010600030101010101" pitchFamily="2" charset="-122"/>
              </a:rPr>
              <a:t> </a:t>
            </a:r>
            <a:r>
              <a:rPr lang="en-US" altLang="zh-CN" b="1" dirty="0">
                <a:ea typeface="宋体" panose="02010600030101010101" pitchFamily="2" charset="-122"/>
              </a:rPr>
              <a:t>|</a:t>
            </a:r>
            <a:r>
              <a:rPr lang="zh-CN" altLang="en-US" b="1" dirty="0">
                <a:ea typeface="宋体" panose="02010600030101010101" pitchFamily="2" charset="-122"/>
              </a:rPr>
              <a:t> </a:t>
            </a:r>
            <a:r>
              <a:rPr lang="en-US" altLang="zh-CN" b="1" dirty="0">
                <a:ea typeface="宋体" panose="02010600030101010101" pitchFamily="2" charset="-122"/>
              </a:rPr>
              <a:t>T</a:t>
            </a:r>
            <a:endParaRPr lang="en-US" altLang="zh-CN" b="1" dirty="0">
              <a:ea typeface="宋体" panose="02010600030101010101" pitchFamily="2" charset="-122"/>
            </a:endParaRPr>
          </a:p>
          <a:p>
            <a:pPr marL="457200" lvl="1" indent="0">
              <a:buNone/>
            </a:pPr>
            <a:r>
              <a:rPr lang="en-US" altLang="zh-CN" b="1" dirty="0">
                <a:ea typeface="宋体" panose="02010600030101010101" pitchFamily="2" charset="-122"/>
              </a:rPr>
              <a:t>T</a:t>
            </a:r>
            <a:r>
              <a:rPr lang="zh-CN" altLang="en-US" b="1" dirty="0">
                <a:ea typeface="宋体" panose="02010600030101010101" pitchFamily="2" charset="-122"/>
              </a:rPr>
              <a:t> </a:t>
            </a:r>
            <a:r>
              <a:rPr lang="en-US" altLang="zh-CN" b="1" dirty="0">
                <a:ea typeface="宋体" panose="02010600030101010101" pitchFamily="2" charset="-122"/>
              </a:rPr>
              <a:t>→ T * F</a:t>
            </a:r>
            <a:r>
              <a:rPr lang="zh-CN" altLang="en-US" b="1" dirty="0">
                <a:ea typeface="宋体" panose="02010600030101010101" pitchFamily="2" charset="-122"/>
              </a:rPr>
              <a:t> </a:t>
            </a:r>
            <a:r>
              <a:rPr lang="en-US" altLang="zh-CN" b="1" dirty="0">
                <a:ea typeface="宋体" panose="02010600030101010101" pitchFamily="2" charset="-122"/>
              </a:rPr>
              <a:t>|</a:t>
            </a:r>
            <a:r>
              <a:rPr lang="zh-CN" altLang="en-US" b="1" dirty="0">
                <a:ea typeface="宋体" panose="02010600030101010101" pitchFamily="2" charset="-122"/>
              </a:rPr>
              <a:t> </a:t>
            </a:r>
            <a:r>
              <a:rPr lang="en-US" altLang="zh-CN" b="1" dirty="0">
                <a:ea typeface="宋体" panose="02010600030101010101" pitchFamily="2" charset="-122"/>
              </a:rPr>
              <a:t>F</a:t>
            </a:r>
            <a:endParaRPr lang="zh-CN" altLang="en-US" b="1" dirty="0">
              <a:ea typeface="宋体" panose="02010600030101010101" pitchFamily="2" charset="-122"/>
            </a:endParaRPr>
          </a:p>
          <a:p>
            <a:pPr marL="457200" lvl="1" indent="0">
              <a:buNone/>
            </a:pPr>
            <a:r>
              <a:rPr lang="en-US" altLang="zh-CN" b="1" dirty="0">
                <a:ea typeface="宋体" panose="02010600030101010101" pitchFamily="2" charset="-122"/>
              </a:rPr>
              <a:t>F</a:t>
            </a:r>
            <a:r>
              <a:rPr lang="zh-CN" altLang="en-US" b="1" dirty="0">
                <a:ea typeface="宋体" panose="02010600030101010101" pitchFamily="2" charset="-122"/>
              </a:rPr>
              <a:t> </a:t>
            </a:r>
            <a:r>
              <a:rPr lang="en-US" altLang="zh-CN" b="1" dirty="0">
                <a:ea typeface="宋体" panose="02010600030101010101" pitchFamily="2" charset="-122"/>
              </a:rPr>
              <a:t>→ ( E )</a:t>
            </a:r>
            <a:r>
              <a:rPr lang="zh-CN" altLang="en-US" b="1" dirty="0">
                <a:ea typeface="宋体" panose="02010600030101010101" pitchFamily="2" charset="-122"/>
              </a:rPr>
              <a:t> </a:t>
            </a:r>
            <a:r>
              <a:rPr lang="en-US" altLang="zh-CN" b="1" dirty="0">
                <a:ea typeface="宋体" panose="02010600030101010101" pitchFamily="2" charset="-122"/>
              </a:rPr>
              <a:t>|</a:t>
            </a:r>
            <a:r>
              <a:rPr lang="zh-CN" altLang="en-US" b="1" dirty="0">
                <a:ea typeface="宋体" panose="02010600030101010101" pitchFamily="2" charset="-122"/>
              </a:rPr>
              <a:t> </a:t>
            </a:r>
            <a:r>
              <a:rPr lang="en-US" altLang="zh-CN" b="1" dirty="0">
                <a:ea typeface="宋体" panose="02010600030101010101" pitchFamily="2" charset="-122"/>
              </a:rPr>
              <a:t>id</a:t>
            </a:r>
            <a:endParaRPr lang="zh-CN" altLang="en-US" b="1" dirty="0">
              <a:ea typeface="宋体" panose="02010600030101010101" pitchFamily="2" charset="-122"/>
            </a:endParaRPr>
          </a:p>
          <a:p>
            <a:pPr marL="457200" lvl="1" indent="0">
              <a:buNone/>
            </a:pPr>
            <a:endParaRPr lang="zh-CN" altLang="en-US" b="1" dirty="0">
              <a:ea typeface="宋体" panose="02010600030101010101" pitchFamily="2" charset="-122"/>
            </a:endParaRPr>
          </a:p>
        </p:txBody>
      </p:sp>
      <p:sp>
        <p:nvSpPr>
          <p:cNvPr id="8197" name="文本框 5"/>
          <p:cNvSpPr txBox="1"/>
          <p:nvPr/>
        </p:nvSpPr>
        <p:spPr>
          <a:xfrm>
            <a:off x="4745038" y="3284538"/>
            <a:ext cx="3571875" cy="316865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342900" lvl="0" indent="-342900"/>
            <a:r>
              <a:rPr lang="zh-CN" altLang="en-US" b="1" dirty="0">
                <a:ea typeface="宋体" panose="02010600030101010101" pitchFamily="2" charset="-122"/>
              </a:rPr>
              <a:t>进一步消除了左递归的表达式文法（文法</a:t>
            </a:r>
            <a:r>
              <a:rPr lang="en-US" altLang="zh-CN" b="1" dirty="0">
                <a:ea typeface="宋体" panose="02010600030101010101" pitchFamily="2" charset="-122"/>
              </a:rPr>
              <a:t>4.2</a:t>
            </a:r>
            <a:r>
              <a:rPr lang="zh-CN" altLang="en-US" b="1" dirty="0">
                <a:ea typeface="宋体" panose="02010600030101010101" pitchFamily="2" charset="-122"/>
              </a:rPr>
              <a:t>）</a:t>
            </a:r>
            <a:endParaRPr lang="en-US" altLang="zh-CN" b="1" dirty="0">
              <a:ea typeface="宋体" panose="02010600030101010101" pitchFamily="2" charset="-122"/>
            </a:endParaRPr>
          </a:p>
          <a:p>
            <a:pPr marL="457200" lvl="1" indent="0">
              <a:buNone/>
            </a:pPr>
            <a:r>
              <a:rPr lang="en-US" altLang="zh-CN" b="1" dirty="0">
                <a:ea typeface="宋体" panose="02010600030101010101" pitchFamily="2" charset="-122"/>
              </a:rPr>
              <a:t>E </a:t>
            </a:r>
            <a:r>
              <a:rPr lang="zh-CN" altLang="en-US" b="1" dirty="0">
                <a:ea typeface="宋体" panose="02010600030101010101" pitchFamily="2" charset="-122"/>
              </a:rPr>
              <a:t> </a:t>
            </a:r>
            <a:r>
              <a:rPr lang="en-US" altLang="zh-CN" b="1" dirty="0">
                <a:ea typeface="宋体" panose="02010600030101010101" pitchFamily="2" charset="-122"/>
              </a:rPr>
              <a:t>→ TE’</a:t>
            </a:r>
            <a:endParaRPr lang="en-US" altLang="zh-CN" b="1" dirty="0">
              <a:ea typeface="宋体" panose="02010600030101010101" pitchFamily="2" charset="-122"/>
            </a:endParaRPr>
          </a:p>
          <a:p>
            <a:pPr marL="457200" lvl="1" indent="0">
              <a:buNone/>
            </a:pPr>
            <a:r>
              <a:rPr lang="en-US" altLang="zh-CN" b="1" dirty="0">
                <a:ea typeface="宋体" panose="02010600030101010101" pitchFamily="2" charset="-122"/>
              </a:rPr>
              <a:t>E’</a:t>
            </a:r>
            <a:r>
              <a:rPr lang="zh-CN" altLang="en-US" b="1" dirty="0">
                <a:ea typeface="宋体" panose="02010600030101010101" pitchFamily="2" charset="-122"/>
              </a:rPr>
              <a:t> </a:t>
            </a:r>
            <a:r>
              <a:rPr lang="en-US" altLang="zh-CN" b="1" dirty="0">
                <a:ea typeface="宋体" panose="02010600030101010101" pitchFamily="2" charset="-122"/>
              </a:rPr>
              <a:t>→ + T E’ | </a:t>
            </a:r>
            <a:r>
              <a:rPr lang="el-GR" altLang="zh-CN" b="1" dirty="0">
                <a:ea typeface="宋体" panose="02010600030101010101" pitchFamily="2" charset="-122"/>
              </a:rPr>
              <a:t>ε</a:t>
            </a:r>
            <a:endParaRPr lang="en-US" altLang="zh-CN" b="1" dirty="0">
              <a:ea typeface="宋体" panose="02010600030101010101" pitchFamily="2" charset="-122"/>
            </a:endParaRPr>
          </a:p>
          <a:p>
            <a:pPr marL="457200" lvl="1" indent="0">
              <a:buNone/>
            </a:pPr>
            <a:r>
              <a:rPr lang="en-US" altLang="zh-CN" b="1" dirty="0">
                <a:ea typeface="宋体" panose="02010600030101010101" pitchFamily="2" charset="-122"/>
              </a:rPr>
              <a:t>T</a:t>
            </a:r>
            <a:r>
              <a:rPr lang="zh-CN" altLang="en-US" b="1" dirty="0">
                <a:ea typeface="宋体" panose="02010600030101010101" pitchFamily="2" charset="-122"/>
              </a:rPr>
              <a:t> </a:t>
            </a:r>
            <a:r>
              <a:rPr lang="en-US" altLang="zh-CN" b="1" dirty="0">
                <a:ea typeface="宋体" panose="02010600030101010101" pitchFamily="2" charset="-122"/>
              </a:rPr>
              <a:t>→ FT’</a:t>
            </a:r>
            <a:endParaRPr lang="zh-CN" altLang="en-US" b="1" dirty="0">
              <a:ea typeface="宋体" panose="02010600030101010101" pitchFamily="2" charset="-122"/>
            </a:endParaRPr>
          </a:p>
          <a:p>
            <a:pPr marL="457200" lvl="1" indent="0">
              <a:buNone/>
            </a:pPr>
            <a:r>
              <a:rPr lang="en-US" altLang="zh-CN" b="1" dirty="0">
                <a:ea typeface="宋体" panose="02010600030101010101" pitchFamily="2" charset="-122"/>
              </a:rPr>
              <a:t>T’</a:t>
            </a:r>
            <a:r>
              <a:rPr lang="zh-CN" altLang="en-US" b="1" dirty="0">
                <a:ea typeface="宋体" panose="02010600030101010101" pitchFamily="2" charset="-122"/>
              </a:rPr>
              <a:t> </a:t>
            </a:r>
            <a:r>
              <a:rPr lang="en-US" altLang="zh-CN" b="1" dirty="0">
                <a:ea typeface="宋体" panose="02010600030101010101" pitchFamily="2" charset="-122"/>
              </a:rPr>
              <a:t>→ * F T’ | </a:t>
            </a:r>
            <a:r>
              <a:rPr lang="el-GR" altLang="zh-CN" b="1" dirty="0">
                <a:ea typeface="宋体" panose="02010600030101010101" pitchFamily="2" charset="-122"/>
              </a:rPr>
              <a:t>ε</a:t>
            </a:r>
            <a:endParaRPr lang="en-US" altLang="zh-CN" b="1" dirty="0">
              <a:ea typeface="宋体" panose="02010600030101010101" pitchFamily="2" charset="-122"/>
            </a:endParaRPr>
          </a:p>
          <a:p>
            <a:pPr marL="457200" lvl="1" indent="0">
              <a:buNone/>
            </a:pPr>
            <a:r>
              <a:rPr lang="en-US" altLang="zh-CN" b="1" dirty="0">
                <a:ea typeface="宋体" panose="02010600030101010101" pitchFamily="2" charset="-122"/>
              </a:rPr>
              <a:t>F</a:t>
            </a:r>
            <a:r>
              <a:rPr lang="zh-CN" altLang="en-US" b="1" dirty="0">
                <a:ea typeface="宋体" panose="02010600030101010101" pitchFamily="2" charset="-122"/>
              </a:rPr>
              <a:t> </a:t>
            </a:r>
            <a:r>
              <a:rPr lang="en-US" altLang="zh-CN" b="1" dirty="0">
                <a:ea typeface="宋体" panose="02010600030101010101" pitchFamily="2" charset="-122"/>
              </a:rPr>
              <a:t>→ ( E )</a:t>
            </a:r>
            <a:r>
              <a:rPr lang="zh-CN" altLang="en-US" b="1" dirty="0">
                <a:ea typeface="宋体" panose="02010600030101010101" pitchFamily="2" charset="-122"/>
              </a:rPr>
              <a:t> </a:t>
            </a:r>
            <a:r>
              <a:rPr lang="en-US" altLang="zh-CN" b="1" dirty="0">
                <a:ea typeface="宋体" panose="02010600030101010101" pitchFamily="2" charset="-122"/>
              </a:rPr>
              <a:t>|</a:t>
            </a:r>
            <a:r>
              <a:rPr lang="zh-CN" altLang="en-US" b="1" dirty="0">
                <a:ea typeface="宋体" panose="02010600030101010101" pitchFamily="2" charset="-122"/>
              </a:rPr>
              <a:t> </a:t>
            </a:r>
            <a:r>
              <a:rPr lang="en-US" altLang="zh-CN" b="1" dirty="0">
                <a:ea typeface="宋体" panose="02010600030101010101" pitchFamily="2" charset="-122"/>
              </a:rPr>
              <a:t>id</a:t>
            </a:r>
            <a:endParaRPr lang="zh-CN" altLang="en-US" b="1" dirty="0">
              <a:ea typeface="宋体" panose="02010600030101010101" pitchFamily="2" charset="-122"/>
            </a:endParaRPr>
          </a:p>
          <a:p>
            <a:pPr marL="457200" lvl="1" indent="0">
              <a:buNone/>
            </a:pPr>
            <a:endParaRPr lang="zh-CN" altLang="en-US" b="1" dirty="0">
              <a:ea typeface="宋体" panose="02010600030101010101" pitchFamily="2" charset="-122"/>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分析器的作用（</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0243" name="Rectangle 3"/>
          <p:cNvSpPr>
            <a:spLocks noGrp="1"/>
          </p:cNvSpPr>
          <p:nvPr>
            <p:ph idx="1"/>
          </p:nvPr>
        </p:nvSpPr>
        <p:spPr>
          <a:xfrm>
            <a:off x="755650" y="1600200"/>
            <a:ext cx="7848600" cy="4648200"/>
          </a:xfrm>
        </p:spPr>
        <p:txBody>
          <a:bodyPr vert="horz" wrap="square" lIns="92075" tIns="46038" rIns="92075" bIns="46038" anchor="t" anchorCtr="0"/>
          <a:p>
            <a:r>
              <a:rPr lang="zh-CN" altLang="en-US" b="1" dirty="0">
                <a:ea typeface="宋体" panose="02010600030101010101" pitchFamily="2" charset="-122"/>
              </a:rPr>
              <a:t>语法错误的处理</a:t>
            </a:r>
            <a:endParaRPr lang="zh-CN" altLang="en-US" b="1" dirty="0">
              <a:ea typeface="宋体" panose="02010600030101010101" pitchFamily="2" charset="-122"/>
            </a:endParaRPr>
          </a:p>
          <a:p>
            <a:pPr lvl="1"/>
            <a:r>
              <a:rPr lang="zh-CN" altLang="en-US" b="1" dirty="0">
                <a:ea typeface="宋体" panose="02010600030101010101" pitchFamily="2" charset="-122"/>
              </a:rPr>
              <a:t>从编译器的设计就开始计划出错处理</a:t>
            </a:r>
            <a:endParaRPr lang="zh-CN" altLang="en-US" b="1" dirty="0">
              <a:ea typeface="宋体" panose="02010600030101010101" pitchFamily="2" charset="-122"/>
            </a:endParaRPr>
          </a:p>
          <a:p>
            <a:pPr lvl="1"/>
            <a:r>
              <a:rPr lang="zh-CN" altLang="en-US" b="1" dirty="0">
                <a:ea typeface="宋体" panose="02010600030101010101" pitchFamily="2" charset="-122"/>
              </a:rPr>
              <a:t>错误性质</a:t>
            </a:r>
            <a:endParaRPr lang="zh-CN" altLang="en-US" b="1" dirty="0">
              <a:ea typeface="宋体" panose="02010600030101010101" pitchFamily="2" charset="-122"/>
            </a:endParaRPr>
          </a:p>
          <a:p>
            <a:pPr lvl="2"/>
            <a:r>
              <a:rPr lang="zh-CN" altLang="en-US" b="1" dirty="0">
                <a:ea typeface="宋体" panose="02010600030101010101" pitchFamily="2" charset="-122"/>
              </a:rPr>
              <a:t>词法错误：如标识符、关键字或算符的拼写错误等</a:t>
            </a:r>
            <a:endParaRPr lang="zh-CN" altLang="en-US" b="1" dirty="0">
              <a:ea typeface="宋体" panose="02010600030101010101" pitchFamily="2" charset="-122"/>
            </a:endParaRPr>
          </a:p>
          <a:p>
            <a:pPr lvl="2"/>
            <a:r>
              <a:rPr lang="zh-CN" altLang="en-US" b="1" dirty="0">
                <a:ea typeface="宋体" panose="02010600030101010101" pitchFamily="2" charset="-122"/>
              </a:rPr>
              <a:t>语法错误：如算术表达式的括号不配对等</a:t>
            </a:r>
            <a:endParaRPr lang="zh-CN" altLang="en-US" b="1" dirty="0">
              <a:ea typeface="宋体" panose="02010600030101010101" pitchFamily="2" charset="-122"/>
            </a:endParaRPr>
          </a:p>
          <a:p>
            <a:pPr lvl="3"/>
            <a:r>
              <a:rPr lang="zh-CN" altLang="en-US" b="1" dirty="0">
                <a:ea typeface="宋体" panose="02010600030101010101" pitchFamily="2" charset="-122"/>
              </a:rPr>
              <a:t>大多数错误的诊断和恢复在语法阶段完成</a:t>
            </a:r>
            <a:endParaRPr lang="zh-CN" altLang="en-US" b="1" dirty="0">
              <a:ea typeface="宋体" panose="02010600030101010101" pitchFamily="2" charset="-122"/>
            </a:endParaRPr>
          </a:p>
          <a:p>
            <a:pPr lvl="3"/>
            <a:r>
              <a:rPr lang="zh-CN" altLang="en-US" b="1" dirty="0">
                <a:ea typeface="宋体" panose="02010600030101010101" pitchFamily="2" charset="-122"/>
              </a:rPr>
              <a:t>现代分析方法能以非常有效的方法诊断语法错误</a:t>
            </a:r>
            <a:endParaRPr lang="zh-CN" altLang="en-US" b="1" dirty="0">
              <a:ea typeface="宋体" panose="02010600030101010101" pitchFamily="2" charset="-122"/>
            </a:endParaRPr>
          </a:p>
          <a:p>
            <a:pPr lvl="2"/>
            <a:r>
              <a:rPr lang="zh-CN" altLang="en-US" b="1" dirty="0">
                <a:ea typeface="宋体" panose="02010600030101010101" pitchFamily="2" charset="-122"/>
              </a:rPr>
              <a:t>语义错误：如算符作用于不相容的运算对象等</a:t>
            </a:r>
            <a:endParaRPr lang="zh-CN" altLang="en-US" b="1" dirty="0">
              <a:ea typeface="宋体" panose="02010600030101010101" pitchFamily="2" charset="-122"/>
            </a:endParaRPr>
          </a:p>
          <a:p>
            <a:pPr lvl="2"/>
            <a:r>
              <a:rPr lang="zh-CN" altLang="en-US" b="1" dirty="0">
                <a:ea typeface="宋体" panose="02010600030101010101" pitchFamily="2" charset="-122"/>
              </a:rPr>
              <a:t>逻辑错误：如把“</a:t>
            </a:r>
            <a:r>
              <a:rPr lang="en-US" altLang="zh-CN" b="1" dirty="0">
                <a:ea typeface="宋体" panose="02010600030101010101" pitchFamily="2" charset="-122"/>
              </a:rPr>
              <a:t>==</a:t>
            </a:r>
            <a:r>
              <a:rPr lang="zh-CN" altLang="en-US" b="1" dirty="0">
                <a:ea typeface="宋体" panose="02010600030101010101" pitchFamily="2" charset="-122"/>
              </a:rPr>
              <a:t>”写成了“</a:t>
            </a:r>
            <a:r>
              <a:rPr lang="en-US" altLang="zh-CN" b="1" dirty="0">
                <a:ea typeface="宋体" panose="02010600030101010101" pitchFamily="2" charset="-122"/>
              </a:rPr>
              <a:t>=</a:t>
            </a:r>
            <a:r>
              <a:rPr lang="zh-CN" altLang="en-US" b="1" dirty="0">
                <a:ea typeface="宋体" panose="02010600030101010101" pitchFamily="2" charset="-122"/>
              </a:rPr>
              <a:t>”，或者死循环等</a:t>
            </a:r>
            <a:endParaRPr lang="zh-CN" altLang="en-US" b="1" dirty="0">
              <a:ea typeface="宋体" panose="02010600030101010101" pitchFamily="2"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分析器的作用（</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2291" name="Rectangle 3"/>
          <p:cNvSpPr>
            <a:spLocks noGrp="1"/>
          </p:cNvSpPr>
          <p:nvPr>
            <p:ph idx="1"/>
          </p:nvPr>
        </p:nvSpPr>
        <p:spPr>
          <a:xfrm>
            <a:off x="990600" y="1600200"/>
            <a:ext cx="7391400" cy="4343400"/>
          </a:xfrm>
        </p:spPr>
        <p:txBody>
          <a:bodyPr vert="horz" wrap="square" lIns="92075" tIns="46038" rIns="92075" bIns="46038" anchor="t" anchorCtr="0"/>
          <a:p>
            <a:pPr lvl="1"/>
            <a:r>
              <a:rPr lang="zh-CN" altLang="en-US" b="1" dirty="0">
                <a:ea typeface="宋体" panose="02010600030101010101" pitchFamily="2" charset="-122"/>
              </a:rPr>
              <a:t>语法分析器出错处理的基本目标：</a:t>
            </a:r>
            <a:endParaRPr lang="zh-CN" altLang="en-US" b="1" dirty="0">
              <a:ea typeface="宋体" panose="02010600030101010101" pitchFamily="2" charset="-122"/>
            </a:endParaRPr>
          </a:p>
          <a:p>
            <a:pPr lvl="2"/>
            <a:r>
              <a:rPr lang="zh-CN" altLang="en-US" b="1" dirty="0">
                <a:ea typeface="宋体" panose="02010600030101010101" pitchFamily="2" charset="-122"/>
              </a:rPr>
              <a:t>清楚而准确地报告错误的出现</a:t>
            </a:r>
            <a:endParaRPr lang="zh-CN" altLang="en-US" b="1" dirty="0">
              <a:ea typeface="宋体" panose="02010600030101010101" pitchFamily="2" charset="-122"/>
            </a:endParaRPr>
          </a:p>
          <a:p>
            <a:pPr lvl="3"/>
            <a:r>
              <a:rPr lang="zh-CN" altLang="en-US" b="1" dirty="0">
                <a:ea typeface="宋体" panose="02010600030101010101" pitchFamily="2" charset="-122"/>
              </a:rPr>
              <a:t>错误的实际位置可能远远先于其发现的位置，如</a:t>
            </a:r>
            <a:r>
              <a:rPr lang="en-US" altLang="zh-CN" b="1" dirty="0">
                <a:ea typeface="宋体" panose="02010600030101010101" pitchFamily="2" charset="-122"/>
              </a:rPr>
              <a:t>C</a:t>
            </a:r>
            <a:r>
              <a:rPr lang="zh-CN" altLang="en-US" b="1" dirty="0">
                <a:ea typeface="宋体" panose="02010600030101010101" pitchFamily="2" charset="-122"/>
              </a:rPr>
              <a:t>语言中的“</a:t>
            </a:r>
            <a:r>
              <a:rPr lang="en-US" altLang="zh-CN" b="1" dirty="0">
                <a:ea typeface="宋体" panose="02010600030101010101" pitchFamily="2" charset="-122"/>
              </a:rPr>
              <a:t>{   }”</a:t>
            </a:r>
            <a:r>
              <a:rPr lang="zh-CN" altLang="en-US" b="1" dirty="0">
                <a:ea typeface="宋体" panose="02010600030101010101" pitchFamily="2" charset="-122"/>
              </a:rPr>
              <a:t>不匹配</a:t>
            </a:r>
            <a:endParaRPr lang="zh-CN" altLang="en-US" b="1" dirty="0">
              <a:ea typeface="宋体" panose="02010600030101010101" pitchFamily="2" charset="-122"/>
            </a:endParaRPr>
          </a:p>
          <a:p>
            <a:pPr lvl="2"/>
            <a:r>
              <a:rPr lang="zh-CN" altLang="en-US" b="1" dirty="0">
                <a:ea typeface="宋体" panose="02010600030101010101" pitchFamily="2" charset="-122"/>
              </a:rPr>
              <a:t>迅速地从每个错误中恢复出来，以便诊断后面的错误</a:t>
            </a:r>
            <a:endParaRPr lang="zh-CN" altLang="en-US" b="1" dirty="0">
              <a:ea typeface="宋体" panose="02010600030101010101" pitchFamily="2" charset="-122"/>
            </a:endParaRPr>
          </a:p>
          <a:p>
            <a:pPr lvl="2"/>
            <a:r>
              <a:rPr lang="zh-CN" altLang="en-US" b="1" dirty="0">
                <a:ea typeface="宋体" panose="02010600030101010101" pitchFamily="2" charset="-122"/>
              </a:rPr>
              <a:t>保证正确程序的处理速度</a:t>
            </a:r>
            <a:endParaRPr lang="zh-CN" altLang="en-US" b="1" dirty="0">
              <a:ea typeface="宋体" panose="02010600030101010101" pitchFamily="2"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分析器的作用（5）</a:t>
            </a:r>
            <a:endParaRPr lang="zh-CN" altLang="en-US" dirty="0">
              <a:latin typeface="宋体" panose="02010600030101010101" pitchFamily="2" charset="-122"/>
              <a:ea typeface="宋体" panose="02010600030101010101" pitchFamily="2" charset="-122"/>
            </a:endParaRPr>
          </a:p>
        </p:txBody>
      </p:sp>
      <p:sp>
        <p:nvSpPr>
          <p:cNvPr id="14339" name="Rectangle 3"/>
          <p:cNvSpPr>
            <a:spLocks noGrp="1"/>
          </p:cNvSpPr>
          <p:nvPr>
            <p:ph idx="1"/>
          </p:nvPr>
        </p:nvSpPr>
        <p:spPr>
          <a:xfrm>
            <a:off x="990600" y="1600200"/>
            <a:ext cx="7391400" cy="4648200"/>
          </a:xfrm>
        </p:spPr>
        <p:txBody>
          <a:bodyPr vert="horz" wrap="square" lIns="92075" tIns="46038" rIns="92075" bIns="46038" anchor="t" anchorCtr="0"/>
          <a:p>
            <a:pPr lvl="1"/>
            <a:r>
              <a:rPr lang="zh-CN" altLang="en-US" b="1" dirty="0">
                <a:ea typeface="宋体" panose="02010600030101010101" pitchFamily="2" charset="-122"/>
              </a:rPr>
              <a:t>错误的报告</a:t>
            </a:r>
            <a:endParaRPr lang="zh-CN" altLang="en-US" b="1" dirty="0">
              <a:ea typeface="宋体" panose="02010600030101010101" pitchFamily="2" charset="-122"/>
            </a:endParaRPr>
          </a:p>
          <a:p>
            <a:pPr lvl="2"/>
            <a:r>
              <a:rPr lang="zh-CN" altLang="en-US" sz="2000" b="1" dirty="0">
                <a:ea typeface="宋体" panose="02010600030101010101" pitchFamily="2" charset="-122"/>
              </a:rPr>
              <a:t>位置</a:t>
            </a:r>
            <a:endParaRPr lang="zh-CN" altLang="en-US" sz="2000" b="1" dirty="0">
              <a:ea typeface="宋体" panose="02010600030101010101" pitchFamily="2" charset="-122"/>
            </a:endParaRPr>
          </a:p>
          <a:p>
            <a:pPr lvl="2"/>
            <a:r>
              <a:rPr lang="zh-CN" altLang="en-US" sz="2000" b="1" dirty="0">
                <a:ea typeface="宋体" panose="02010600030101010101" pitchFamily="2" charset="-122"/>
              </a:rPr>
              <a:t>错误的提示信息</a:t>
            </a:r>
            <a:endParaRPr lang="zh-CN" altLang="en-US" sz="2000" b="1" dirty="0">
              <a:ea typeface="宋体" panose="02010600030101010101" pitchFamily="2" charset="-122"/>
            </a:endParaRPr>
          </a:p>
          <a:p>
            <a:pPr lvl="1"/>
            <a:r>
              <a:rPr lang="zh-CN" altLang="en-US" b="1" dirty="0">
                <a:ea typeface="宋体" panose="02010600030101010101" pitchFamily="2" charset="-122"/>
              </a:rPr>
              <a:t>错误恢复的问题</a:t>
            </a:r>
            <a:endParaRPr lang="zh-CN" altLang="en-US" b="1" dirty="0">
              <a:ea typeface="宋体" panose="02010600030101010101" pitchFamily="2" charset="-122"/>
            </a:endParaRPr>
          </a:p>
          <a:p>
            <a:pPr lvl="2"/>
            <a:r>
              <a:rPr lang="zh-CN" altLang="en-US" sz="2000" b="1" dirty="0">
                <a:ea typeface="宋体" panose="02010600030101010101" pitchFamily="2" charset="-122"/>
              </a:rPr>
              <a:t>继续报告更多的错误</a:t>
            </a:r>
            <a:endParaRPr lang="zh-CN" altLang="en-US" sz="2000" b="1" dirty="0">
              <a:ea typeface="宋体" panose="02010600030101010101" pitchFamily="2" charset="-122"/>
            </a:endParaRPr>
          </a:p>
          <a:p>
            <a:pPr lvl="3"/>
            <a:r>
              <a:rPr lang="zh-CN" altLang="en-US" sz="1800" b="1" dirty="0">
                <a:ea typeface="宋体" panose="02010600030101010101" pitchFamily="2" charset="-122"/>
              </a:rPr>
              <a:t>使编译器恢复到某一状态，继续分析</a:t>
            </a:r>
            <a:endParaRPr lang="zh-CN" altLang="en-US" sz="1800" b="1" dirty="0">
              <a:ea typeface="宋体" panose="02010600030101010101" pitchFamily="2" charset="-122"/>
            </a:endParaRPr>
          </a:p>
          <a:p>
            <a:pPr lvl="2"/>
            <a:r>
              <a:rPr lang="zh-CN" altLang="en-US" sz="2000" b="1" dirty="0">
                <a:ea typeface="宋体" panose="02010600030101010101" pitchFamily="2" charset="-122"/>
              </a:rPr>
              <a:t>伪错误</a:t>
            </a:r>
            <a:endParaRPr lang="zh-CN" altLang="en-US" sz="2000" b="1" dirty="0">
              <a:ea typeface="宋体" panose="02010600030101010101" pitchFamily="2" charset="-122"/>
            </a:endParaRPr>
          </a:p>
          <a:p>
            <a:pPr lvl="3"/>
            <a:r>
              <a:rPr lang="zh-CN" altLang="en-US" sz="1800" b="1" dirty="0">
                <a:ea typeface="宋体" panose="02010600030101010101" pitchFamily="2" charset="-122"/>
              </a:rPr>
              <a:t>抑制过于接近的错误，但作用有限</a:t>
            </a:r>
            <a:endParaRPr lang="zh-CN" altLang="en-US" sz="1800" b="1" dirty="0">
              <a:ea typeface="宋体" panose="02010600030101010101" pitchFamily="2"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分析器的作用（6）</a:t>
            </a:r>
            <a:endParaRPr lang="zh-CN" altLang="en-US" dirty="0">
              <a:latin typeface="宋体" panose="02010600030101010101" pitchFamily="2" charset="-122"/>
              <a:ea typeface="宋体" panose="02010600030101010101" pitchFamily="2" charset="-122"/>
            </a:endParaRPr>
          </a:p>
        </p:txBody>
      </p:sp>
      <p:sp>
        <p:nvSpPr>
          <p:cNvPr id="16387" name="Rectangle 3"/>
          <p:cNvSpPr>
            <a:spLocks noGrp="1"/>
          </p:cNvSpPr>
          <p:nvPr>
            <p:ph idx="1"/>
          </p:nvPr>
        </p:nvSpPr>
        <p:spPr>
          <a:xfrm>
            <a:off x="990600" y="1371600"/>
            <a:ext cx="7391400" cy="4876800"/>
          </a:xfrm>
        </p:spPr>
        <p:txBody>
          <a:bodyPr vert="horz" wrap="square" lIns="92075" tIns="46038" rIns="92075" bIns="46038" anchor="t" anchorCtr="0"/>
          <a:p>
            <a:pPr lvl="1"/>
            <a:r>
              <a:rPr lang="zh-CN" altLang="en-US" sz="2800" b="1" dirty="0">
                <a:ea typeface="宋体" panose="02010600030101010101" pitchFamily="2" charset="-122"/>
              </a:rPr>
              <a:t>错误恢复策略</a:t>
            </a:r>
            <a:endParaRPr lang="zh-CN" altLang="en-US" sz="2800" b="1" dirty="0">
              <a:ea typeface="宋体" panose="02010600030101010101" pitchFamily="2" charset="-122"/>
            </a:endParaRPr>
          </a:p>
          <a:p>
            <a:pPr lvl="2"/>
            <a:r>
              <a:rPr lang="zh-CN" altLang="en-US" sz="2400" b="1" dirty="0">
                <a:ea typeface="宋体" panose="02010600030101010101" pitchFamily="2" charset="-122"/>
              </a:rPr>
              <a:t>紧急方式（恐慌模式）的恢复</a:t>
            </a:r>
            <a:endParaRPr lang="zh-CN" altLang="en-US" sz="2400" b="1" dirty="0">
              <a:ea typeface="宋体" panose="02010600030101010101" pitchFamily="2" charset="-122"/>
            </a:endParaRPr>
          </a:p>
          <a:p>
            <a:pPr lvl="3"/>
            <a:r>
              <a:rPr lang="zh-CN" altLang="en-US" b="1" dirty="0">
                <a:ea typeface="宋体" panose="02010600030101010101" pitchFamily="2" charset="-122"/>
              </a:rPr>
              <a:t>每次抛弃一个输入符号，直至输入符号属于某个指定的同步记号集合为止。同步符号一般是界限符，如“；”或“</a:t>
            </a:r>
            <a:r>
              <a:rPr lang="en-US" altLang="zh-CN" b="1" dirty="0">
                <a:ea typeface="宋体" panose="02010600030101010101" pitchFamily="2" charset="-122"/>
              </a:rPr>
              <a:t>}</a:t>
            </a:r>
            <a:r>
              <a:rPr lang="zh-CN" altLang="en-US" b="1" dirty="0">
                <a:ea typeface="宋体" panose="02010600030101010101" pitchFamily="2" charset="-122"/>
              </a:rPr>
              <a:t>”等</a:t>
            </a:r>
            <a:endParaRPr lang="en-US" altLang="zh-CN" b="1" dirty="0">
              <a:ea typeface="宋体" panose="02010600030101010101" pitchFamily="2" charset="-122"/>
            </a:endParaRPr>
          </a:p>
          <a:p>
            <a:pPr lvl="3"/>
            <a:r>
              <a:rPr lang="zh-CN" altLang="en-US" b="1" dirty="0">
                <a:ea typeface="宋体" panose="02010600030101010101" pitchFamily="2" charset="-122"/>
              </a:rPr>
              <a:t>简单，被跳过部分的错误被忽略，但是</a:t>
            </a:r>
            <a:r>
              <a:rPr lang="zh-CN" altLang="en-US" b="1" dirty="0">
                <a:solidFill>
                  <a:srgbClr val="FF0000"/>
                </a:solidFill>
                <a:ea typeface="宋体" panose="02010600030101010101" pitchFamily="2" charset="-122"/>
              </a:rPr>
              <a:t>不会陷入死循环</a:t>
            </a:r>
            <a:endParaRPr lang="zh-CN" altLang="en-US" b="1" dirty="0">
              <a:solidFill>
                <a:srgbClr val="FF0000"/>
              </a:solidFill>
              <a:ea typeface="宋体" panose="02010600030101010101" pitchFamily="2" charset="-122"/>
            </a:endParaRPr>
          </a:p>
          <a:p>
            <a:pPr lvl="2"/>
            <a:r>
              <a:rPr lang="zh-CN" altLang="en-US" sz="2400" b="1" dirty="0">
                <a:ea typeface="宋体" panose="02010600030101010101" pitchFamily="2" charset="-122"/>
              </a:rPr>
              <a:t>短语层次的恢复：</a:t>
            </a:r>
            <a:endParaRPr lang="zh-CN" altLang="en-US" sz="2400" b="1" dirty="0">
              <a:ea typeface="宋体" panose="02010600030101010101" pitchFamily="2" charset="-122"/>
            </a:endParaRPr>
          </a:p>
          <a:p>
            <a:pPr lvl="3"/>
            <a:r>
              <a:rPr lang="zh-CN" altLang="en-US" b="1" dirty="0">
                <a:ea typeface="宋体" panose="02010600030101010101" pitchFamily="2" charset="-122"/>
              </a:rPr>
              <a:t>对剩余输入进行局部纠正，用可以使分析器继续分析的输入串代替剩余输入的前缀</a:t>
            </a:r>
            <a:endParaRPr lang="zh-CN" altLang="en-US" b="1" dirty="0">
              <a:ea typeface="宋体" panose="02010600030101010101" pitchFamily="2" charset="-122"/>
            </a:endParaRPr>
          </a:p>
          <a:p>
            <a:pPr lvl="3"/>
            <a:r>
              <a:rPr lang="zh-CN" altLang="en-US" b="1" dirty="0">
                <a:ea typeface="宋体" panose="02010600030101010101" pitchFamily="2" charset="-122"/>
              </a:rPr>
              <a:t>典型的是用分号代替逗号、删除多余的分号等</a:t>
            </a:r>
            <a:endParaRPr lang="zh-CN" altLang="en-US" b="1" dirty="0">
              <a:ea typeface="宋体" panose="02010600030101010101" pitchFamily="2" charset="-122"/>
            </a:endParaRPr>
          </a:p>
          <a:p>
            <a:pPr lvl="3"/>
            <a:r>
              <a:rPr lang="zh-CN" altLang="en-US" b="1" dirty="0">
                <a:ea typeface="宋体" panose="02010600030101010101" pitchFamily="2" charset="-122"/>
              </a:rPr>
              <a:t>很难应付实际错误出现在诊断点前的情况</a:t>
            </a:r>
            <a:endParaRPr lang="zh-CN" altLang="en-US" b="1" dirty="0">
              <a:ea typeface="宋体" panose="02010600030101010101" pitchFamily="2" charset="-122"/>
            </a:endParaRPr>
          </a:p>
          <a:p>
            <a:pPr lvl="3"/>
            <a:r>
              <a:rPr lang="zh-CN" altLang="en-US" b="1" dirty="0">
                <a:ea typeface="宋体" panose="02010600030101010101" pitchFamily="2" charset="-122"/>
              </a:rPr>
              <a:t>但要仔细选择替换的串，以免引起死循环</a:t>
            </a:r>
            <a:endParaRPr lang="zh-CN" altLang="en-US" b="1" dirty="0">
              <a:ea typeface="宋体" panose="02010600030101010101" pitchFamily="2" charset="-122"/>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分析器的作用（7）</a:t>
            </a:r>
            <a:endParaRPr lang="zh-CN" altLang="en-US" dirty="0">
              <a:latin typeface="宋体" panose="02010600030101010101" pitchFamily="2" charset="-122"/>
              <a:ea typeface="宋体" panose="02010600030101010101" pitchFamily="2" charset="-122"/>
            </a:endParaRPr>
          </a:p>
        </p:txBody>
      </p:sp>
      <p:sp>
        <p:nvSpPr>
          <p:cNvPr id="18435" name="Rectangle 3"/>
          <p:cNvSpPr>
            <a:spLocks noGrp="1"/>
          </p:cNvSpPr>
          <p:nvPr>
            <p:ph idx="1"/>
          </p:nvPr>
        </p:nvSpPr>
        <p:spPr>
          <a:xfrm>
            <a:off x="990600" y="1600200"/>
            <a:ext cx="7391400" cy="4648200"/>
          </a:xfrm>
        </p:spPr>
        <p:txBody>
          <a:bodyPr vert="horz" wrap="square" lIns="92075" tIns="46038" rIns="92075" bIns="46038" anchor="t" anchorCtr="0"/>
          <a:p>
            <a:pPr lvl="2"/>
            <a:r>
              <a:rPr lang="zh-CN" altLang="en-US" sz="2400" b="1" dirty="0">
                <a:ea typeface="宋体" panose="02010600030101010101" pitchFamily="2" charset="-122"/>
              </a:rPr>
              <a:t>出错产生式</a:t>
            </a:r>
            <a:endParaRPr lang="zh-CN" altLang="en-US" sz="2400" b="1" dirty="0">
              <a:ea typeface="宋体" panose="02010600030101010101" pitchFamily="2" charset="-122"/>
            </a:endParaRPr>
          </a:p>
          <a:p>
            <a:pPr lvl="3"/>
            <a:r>
              <a:rPr lang="zh-CN" altLang="en-US" b="1" dirty="0">
                <a:ea typeface="宋体" panose="02010600030101010101" pitchFamily="2" charset="-122"/>
              </a:rPr>
              <a:t>根据经常出现的错误，构造产生错误结构的产生式，产生式的被匹配，意味着错误的出现，从而可以给出适当的错误信息</a:t>
            </a:r>
            <a:endParaRPr lang="zh-CN" altLang="en-US" b="1" dirty="0">
              <a:ea typeface="宋体" panose="02010600030101010101" pitchFamily="2" charset="-122"/>
            </a:endParaRPr>
          </a:p>
          <a:p>
            <a:pPr lvl="2"/>
            <a:r>
              <a:rPr lang="zh-CN" altLang="en-US" sz="2400" b="1" dirty="0">
                <a:ea typeface="宋体" panose="02010600030101010101" pitchFamily="2" charset="-122"/>
              </a:rPr>
              <a:t>全局纠正</a:t>
            </a:r>
            <a:endParaRPr lang="zh-CN" altLang="en-US" sz="2400" b="1" dirty="0">
              <a:ea typeface="宋体" panose="02010600030101010101" pitchFamily="2" charset="-122"/>
            </a:endParaRPr>
          </a:p>
          <a:p>
            <a:pPr lvl="3"/>
            <a:r>
              <a:rPr lang="zh-CN" altLang="en-US" b="1" dirty="0">
                <a:ea typeface="宋体" panose="02010600030101010101" pitchFamily="2" charset="-122"/>
              </a:rPr>
              <a:t>理想的编译器：处理不正确的输入串时，作尽可能少的修改</a:t>
            </a:r>
            <a:endParaRPr lang="zh-CN" altLang="en-US" b="1" dirty="0">
              <a:ea typeface="宋体" panose="02010600030101010101" pitchFamily="2" charset="-122"/>
            </a:endParaRPr>
          </a:p>
          <a:p>
            <a:pPr lvl="3"/>
            <a:r>
              <a:rPr lang="zh-CN" altLang="en-US" b="1" dirty="0">
                <a:ea typeface="宋体" panose="02010600030101010101" pitchFamily="2" charset="-122"/>
              </a:rPr>
              <a:t>算法的开销太大</a:t>
            </a:r>
            <a:endParaRPr lang="zh-CN" altLang="en-US" b="1" dirty="0">
              <a:ea typeface="宋体" panose="02010600030101010101" pitchFamily="2" charset="-122"/>
            </a:endParaRPr>
          </a:p>
          <a:p>
            <a:pPr lvl="3"/>
            <a:r>
              <a:rPr lang="zh-CN" altLang="en-US" b="1" dirty="0">
                <a:ea typeface="宋体" panose="02010600030101010101" pitchFamily="2" charset="-122"/>
              </a:rPr>
              <a:t>提供了评价错误恢复技术的标准</a:t>
            </a:r>
            <a:endParaRPr lang="zh-CN" altLang="en-US" b="1" dirty="0">
              <a:ea typeface="宋体" panose="02010600030101010101" pitchFamily="2" charset="-122"/>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第四章 语法分析</a:t>
            </a:r>
            <a:endParaRPr lang="en-US" altLang="zh-CN" dirty="0">
              <a:latin typeface="宋体" panose="02010600030101010101" pitchFamily="2" charset="-122"/>
              <a:ea typeface="宋体" panose="02010600030101010101" pitchFamily="2" charset="-122"/>
            </a:endParaRPr>
          </a:p>
        </p:txBody>
      </p:sp>
      <p:sp>
        <p:nvSpPr>
          <p:cNvPr id="20483" name="Rectangle 3"/>
          <p:cNvSpPr>
            <a:spLocks noGrp="1"/>
          </p:cNvSpPr>
          <p:nvPr>
            <p:ph idx="1"/>
          </p:nvPr>
        </p:nvSpPr>
        <p:spPr>
          <a:xfrm>
            <a:off x="990600" y="1600200"/>
            <a:ext cx="7391400" cy="4191000"/>
          </a:xfrm>
        </p:spPr>
        <p:txBody>
          <a:bodyPr vert="horz" wrap="square" lIns="92075" tIns="46038" rIns="92075" bIns="46038" anchor="t" anchorCtr="0"/>
          <a:p>
            <a:r>
              <a:rPr lang="zh-CN" altLang="en-US" sz="3200" b="1" dirty="0">
                <a:ea typeface="宋体" panose="02010600030101010101" pitchFamily="2" charset="-122"/>
              </a:rPr>
              <a:t>引言</a:t>
            </a:r>
            <a:r>
              <a:rPr lang="en-US" altLang="zh-CN" sz="3200" b="1" dirty="0">
                <a:ea typeface="宋体" panose="02010600030101010101" pitchFamily="2" charset="-122"/>
              </a:rPr>
              <a:t>—</a:t>
            </a:r>
            <a:r>
              <a:rPr lang="zh-CN" altLang="en-US" sz="3200" b="1" dirty="0">
                <a:ea typeface="宋体" panose="02010600030101010101" pitchFamily="2" charset="-122"/>
              </a:rPr>
              <a:t>分析器的作用及错误处理等</a:t>
            </a:r>
            <a:endParaRPr lang="zh-CN" altLang="en-US" sz="3200" b="1" dirty="0">
              <a:ea typeface="宋体" panose="02010600030101010101" pitchFamily="2" charset="-122"/>
            </a:endParaRPr>
          </a:p>
          <a:p>
            <a:r>
              <a:rPr lang="zh-CN" altLang="en-US" sz="3200" b="1" dirty="0">
                <a:solidFill>
                  <a:srgbClr val="FF0000"/>
                </a:solidFill>
                <a:ea typeface="宋体" panose="02010600030101010101" pitchFamily="2" charset="-122"/>
              </a:rPr>
              <a:t>上下文无关文法的分析及改造</a:t>
            </a:r>
            <a:endParaRPr lang="zh-CN" altLang="en-US" sz="3200" b="1" dirty="0">
              <a:solidFill>
                <a:srgbClr val="FF0000"/>
              </a:solidFill>
              <a:ea typeface="宋体" panose="02010600030101010101" pitchFamily="2" charset="-122"/>
            </a:endParaRPr>
          </a:p>
          <a:p>
            <a:r>
              <a:rPr lang="zh-CN" altLang="en-US" sz="3200" b="1" dirty="0">
                <a:ea typeface="宋体" panose="02010600030101010101" pitchFamily="2" charset="-122"/>
              </a:rPr>
              <a:t>自顶向下的分析</a:t>
            </a:r>
            <a:endParaRPr lang="zh-CN" altLang="en-US" sz="3200" b="1" dirty="0">
              <a:ea typeface="宋体" panose="02010600030101010101" pitchFamily="2" charset="-122"/>
            </a:endParaRPr>
          </a:p>
          <a:p>
            <a:r>
              <a:rPr lang="zh-CN" altLang="en-US" sz="3200" b="1" dirty="0">
                <a:ea typeface="宋体" panose="02010600030101010101" pitchFamily="2" charset="-122"/>
              </a:rPr>
              <a:t>自底向上的分析</a:t>
            </a:r>
            <a:endParaRPr lang="zh-CN" altLang="en-US" sz="3200" b="1" dirty="0">
              <a:ea typeface="宋体" panose="02010600030101010101" pitchFamily="2" charset="-122"/>
            </a:endParaRPr>
          </a:p>
          <a:p>
            <a:r>
              <a:rPr lang="en-US" altLang="zh-CN" sz="3200" b="1" dirty="0">
                <a:ea typeface="宋体" panose="02010600030101010101" pitchFamily="2" charset="-122"/>
              </a:rPr>
              <a:t>LR</a:t>
            </a:r>
            <a:r>
              <a:rPr lang="zh-CN" altLang="en-US" sz="3200" b="1" dirty="0">
                <a:ea typeface="宋体" panose="02010600030101010101" pitchFamily="2" charset="-122"/>
              </a:rPr>
              <a:t>分析器</a:t>
            </a:r>
            <a:endParaRPr lang="zh-CN" altLang="en-US" sz="3200" b="1" dirty="0">
              <a:ea typeface="宋体" panose="02010600030101010101" pitchFamily="2" charset="-122"/>
            </a:endParaRPr>
          </a:p>
          <a:p>
            <a:r>
              <a:rPr lang="zh-CN" altLang="en-US" sz="3200" b="1" dirty="0">
                <a:ea typeface="宋体" panose="02010600030101010101" pitchFamily="2" charset="-122"/>
              </a:rPr>
              <a:t>二义文法的应用和自底向上分析的错误处理</a:t>
            </a:r>
            <a:endParaRPr lang="en-US" altLang="zh-CN" sz="3200" b="1" dirty="0">
              <a:ea typeface="宋体" panose="02010600030101010101" pitchFamily="2" charset="-122"/>
            </a:endParaRPr>
          </a:p>
          <a:p>
            <a:r>
              <a:rPr lang="zh-CN" altLang="en-US" sz="3200" b="1" dirty="0">
                <a:ea typeface="宋体" panose="02010600030101010101" pitchFamily="2" charset="-122"/>
              </a:rPr>
              <a:t>语法分析器生成工具</a:t>
            </a:r>
            <a:endParaRPr lang="zh-CN" altLang="en-US" b="1" dirty="0">
              <a:ea typeface="宋体" panose="02010600030101010101" pitchFamily="2"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上下文无关文法的分析（1）</a:t>
            </a:r>
            <a:endParaRPr lang="zh-CN" altLang="en-US" dirty="0">
              <a:latin typeface="宋体" panose="02010600030101010101" pitchFamily="2" charset="-122"/>
              <a:ea typeface="宋体" panose="02010600030101010101" pitchFamily="2" charset="-122"/>
            </a:endParaRPr>
          </a:p>
        </p:txBody>
      </p:sp>
      <p:sp>
        <p:nvSpPr>
          <p:cNvPr id="22531" name="Rectangle 3"/>
          <p:cNvSpPr>
            <a:spLocks noGrp="1"/>
          </p:cNvSpPr>
          <p:nvPr>
            <p:ph idx="1"/>
          </p:nvPr>
        </p:nvSpPr>
        <p:spPr>
          <a:xfrm>
            <a:off x="990600" y="1600200"/>
            <a:ext cx="7391400" cy="1684338"/>
          </a:xfrm>
        </p:spPr>
        <p:txBody>
          <a:bodyPr vert="horz" wrap="square" lIns="92075" tIns="46038" rIns="92075" bIns="46038" anchor="t" anchorCtr="0"/>
          <a:p>
            <a:r>
              <a:rPr lang="zh-CN" altLang="en-US" sz="2800" b="1" dirty="0">
                <a:ea typeface="宋体" panose="02010600030101010101" pitchFamily="2" charset="-122"/>
              </a:rPr>
              <a:t>上下文无关文法的相关概念</a:t>
            </a:r>
            <a:endParaRPr lang="zh-CN" altLang="en-US" sz="2800" b="1" dirty="0">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设</a:t>
            </a:r>
            <a:r>
              <a:rPr lang="en-US" altLang="zh-CN" b="1" dirty="0">
                <a:latin typeface="宋体" panose="02010600030101010101" pitchFamily="2" charset="-122"/>
                <a:ea typeface="宋体" panose="02010600030101010101" pitchFamily="2" charset="-122"/>
              </a:rPr>
              <a:t>G=(V</a:t>
            </a:r>
            <a:r>
              <a:rPr lang="en-US" altLang="zh-CN" b="1" baseline="-25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en-US" altLang="zh-CN" b="1" dirty="0">
                <a:latin typeface="宋体" panose="02010600030101010101" pitchFamily="2" charset="-122"/>
                <a:ea typeface="宋体" panose="02010600030101010101" pitchFamily="2" charset="-122"/>
              </a:rPr>
              <a:t>,P,S)，</a:t>
            </a:r>
            <a:r>
              <a:rPr lang="zh-CN" altLang="en-US" b="1" dirty="0">
                <a:latin typeface="宋体" panose="02010600030101010101" pitchFamily="2" charset="-122"/>
                <a:ea typeface="宋体" panose="02010600030101010101" pitchFamily="2" charset="-122"/>
              </a:rPr>
              <a:t>如果它的每个产生式有如下形式：</a:t>
            </a:r>
            <a:r>
              <a:rPr lang="en-US" altLang="zh-CN" b="1" dirty="0">
                <a:latin typeface="宋体" panose="02010600030101010101" pitchFamily="2" charset="-122"/>
                <a:ea typeface="宋体" panose="02010600030101010101" pitchFamily="2" charset="-122"/>
              </a:rPr>
              <a:t>A→β，A</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β</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en-US" altLang="zh-CN" b="1" dirty="0">
                <a:latin typeface="宋体" panose="02010600030101010101" pitchFamily="2" charset="-122"/>
                <a:ea typeface="宋体" panose="02010600030101010101" pitchFamily="2" charset="-122"/>
              </a:rPr>
              <a:t>)</a:t>
            </a:r>
            <a:r>
              <a:rPr lang="en-US" altLang="zh-CN" b="1" baseline="30000"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，则</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是一个上下文无关文法（</a:t>
            </a:r>
            <a:r>
              <a:rPr lang="en-US" altLang="zh-CN" b="1" dirty="0">
                <a:latin typeface="宋体" panose="02010600030101010101" pitchFamily="2" charset="-122"/>
                <a:ea typeface="宋体" panose="02010600030101010101" pitchFamily="2" charset="-122"/>
              </a:rPr>
              <a:t>CFG</a:t>
            </a:r>
            <a:r>
              <a:rPr lang="zh-CN" altLang="en-US" b="1" dirty="0">
                <a:latin typeface="宋体" panose="02010600030101010101" pitchFamily="2" charset="-122"/>
                <a:ea typeface="宋体" panose="02010600030101010101" pitchFamily="2" charset="-122"/>
              </a:rPr>
              <a:t>，或称</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型文法）</a:t>
            </a:r>
            <a:endParaRPr lang="zh-CN" altLang="en-US" b="1" dirty="0">
              <a:ea typeface="宋体" panose="02010600030101010101" pitchFamily="2" charset="-122"/>
            </a:endParaRPr>
          </a:p>
        </p:txBody>
      </p:sp>
      <p:pic>
        <p:nvPicPr>
          <p:cNvPr id="22532" name="Picture 2"/>
          <p:cNvPicPr>
            <a:picLocks noChangeAspect="1"/>
          </p:cNvPicPr>
          <p:nvPr/>
        </p:nvPicPr>
        <p:blipFill>
          <a:blip r:embed="rId1"/>
          <a:stretch>
            <a:fillRect/>
          </a:stretch>
        </p:blipFill>
        <p:spPr>
          <a:xfrm>
            <a:off x="179388" y="3357563"/>
            <a:ext cx="5329237" cy="3384550"/>
          </a:xfrm>
          <a:prstGeom prst="rect">
            <a:avLst/>
          </a:prstGeom>
          <a:noFill/>
          <a:ln w="9525">
            <a:noFill/>
          </a:ln>
        </p:spPr>
      </p:pic>
      <p:sp>
        <p:nvSpPr>
          <p:cNvPr id="22533" name="文本框 1"/>
          <p:cNvSpPr txBox="1">
            <a:spLocks noChangeArrowheads="1"/>
          </p:cNvSpPr>
          <p:nvPr/>
        </p:nvSpPr>
        <p:spPr bwMode="auto">
          <a:xfrm>
            <a:off x="5216525" y="3360738"/>
            <a:ext cx="3532188" cy="1938338"/>
          </a:xfrm>
          <a:prstGeom prst="rect">
            <a:avLst/>
          </a:prstGeom>
          <a:noFill/>
          <a:ln>
            <a:noFill/>
          </a:ln>
        </p:spPr>
        <p:txBody>
          <a:bodyPr>
            <a:spAutoFit/>
          </a:bodyPr>
          <a:lstStyle>
            <a:lvl1pPr>
              <a:spcBef>
                <a:spcPct val="20000"/>
              </a:spcBef>
              <a:buClr>
                <a:srgbClr val="063DE8"/>
              </a:buClr>
              <a:buSzPct val="125000"/>
              <a:buChar char="•"/>
              <a:defRPr sz="26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pitchFamily="2" charset="2"/>
              <a:buChar char="ä"/>
              <a:defRPr sz="2400">
                <a:solidFill>
                  <a:schemeClr val="tx1"/>
                </a:solidFill>
                <a:latin typeface="Times New Roman" panose="02020603050405020304" pitchFamily="18" charset="0"/>
              </a:defRPr>
            </a:lvl2pPr>
            <a:lvl3pPr marL="1143000" indent="-228600">
              <a:spcBef>
                <a:spcPct val="20000"/>
              </a:spcBef>
              <a:buClr>
                <a:srgbClr val="063DE8"/>
              </a:buClr>
              <a:buSzPct val="125000"/>
              <a:buChar char="•"/>
              <a:defRPr sz="22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pitchFamily="2" charset="2"/>
              <a:buChar char="ä"/>
              <a:defRPr sz="2000">
                <a:solidFill>
                  <a:schemeClr val="tx1"/>
                </a:solidFill>
                <a:latin typeface="Times New Roman" panose="02020603050405020304" pitchFamily="18" charset="0"/>
              </a:defRPr>
            </a:lvl4pPr>
            <a:lvl5pPr marL="2057400" indent="-228600">
              <a:spcBef>
                <a:spcPct val="20000"/>
              </a:spcBef>
              <a:buClr>
                <a:srgbClr val="063DE8"/>
              </a:buClr>
              <a:buSzPct val="1250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应用对符号的约定简化左侧文法</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E→E</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E</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T</a:t>
            </a:r>
            <a:endPar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T→T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1200" cap="none" spc="0" normalizeH="0" baseline="0" noProof="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F</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F</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F</a:t>
            </a:r>
            <a:endPar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F→</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E</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id</a:t>
            </a:r>
            <a:endPar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上下文无关文法的分析（</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24579" name="内容占位符 3"/>
          <p:cNvSpPr>
            <a:spLocks noGrp="1"/>
          </p:cNvSpPr>
          <p:nvPr>
            <p:ph idx="1"/>
          </p:nvPr>
        </p:nvSpPr>
        <p:spPr>
          <a:xfrm>
            <a:off x="684213" y="1268413"/>
            <a:ext cx="7920037" cy="4903787"/>
          </a:xfrm>
        </p:spPr>
        <p:txBody>
          <a:bodyPr vert="horz" wrap="square" lIns="92075" tIns="46038" rIns="92075" bIns="46038" anchor="t" anchorCtr="0"/>
          <a:p>
            <a:r>
              <a:rPr lang="zh-CN" altLang="en-US" sz="2400" b="1" dirty="0">
                <a:ea typeface="宋体" panose="02010600030101010101" pitchFamily="2" charset="-122"/>
              </a:rPr>
              <a:t>上下文无关文法的推导</a:t>
            </a:r>
            <a:endParaRPr lang="zh-CN" altLang="en-US" sz="2400" b="1" dirty="0">
              <a:ea typeface="宋体" panose="02010600030101010101" pitchFamily="2" charset="-122"/>
            </a:endParaRPr>
          </a:p>
          <a:p>
            <a:pPr lvl="1"/>
            <a:r>
              <a:rPr lang="zh-CN" altLang="en-US" sz="2200" b="1" dirty="0">
                <a:ea typeface="宋体" panose="02010600030101010101" pitchFamily="2" charset="-122"/>
              </a:rPr>
              <a:t>描述了利用上下文无关文法构造语法分析树过程的方法</a:t>
            </a:r>
            <a:endParaRPr lang="en-US" altLang="zh-CN" sz="2200" b="1" dirty="0">
              <a:ea typeface="宋体" panose="02010600030101010101" pitchFamily="2" charset="-122"/>
            </a:endParaRPr>
          </a:p>
          <a:p>
            <a:pPr lvl="1"/>
            <a:r>
              <a:rPr lang="zh-CN" altLang="en-US" sz="2200" b="1" dirty="0">
                <a:latin typeface="宋体" panose="02010600030101010101" pitchFamily="2" charset="-122"/>
                <a:ea typeface="宋体" panose="02010600030101010101" pitchFamily="2" charset="-122"/>
              </a:rPr>
              <a:t>若</a:t>
            </a:r>
            <a:r>
              <a:rPr lang="en-US" altLang="zh-CN" sz="2200" b="1" dirty="0">
                <a:latin typeface="宋体" panose="02010600030101010101" pitchFamily="2" charset="-122"/>
                <a:ea typeface="宋体" panose="02010600030101010101" pitchFamily="2" charset="-122"/>
              </a:rPr>
              <a:t>A→β</a:t>
            </a:r>
            <a:r>
              <a:rPr lang="zh-CN" altLang="en-US" sz="2200" b="1" dirty="0">
                <a:latin typeface="宋体" panose="02010600030101010101" pitchFamily="2" charset="-122"/>
                <a:ea typeface="宋体" panose="02010600030101010101" pitchFamily="2" charset="-122"/>
              </a:rPr>
              <a:t>是文法</a:t>
            </a:r>
            <a:r>
              <a:rPr lang="en-US" altLang="zh-CN" sz="2200" b="1" dirty="0">
                <a:latin typeface="宋体" panose="02010600030101010101" pitchFamily="2" charset="-122"/>
                <a:ea typeface="宋体" panose="02010600030101010101" pitchFamily="2" charset="-122"/>
              </a:rPr>
              <a:t>G</a:t>
            </a:r>
            <a:r>
              <a:rPr lang="zh-CN" altLang="en-US" sz="2200" b="1" dirty="0">
                <a:latin typeface="宋体" panose="02010600030101010101" pitchFamily="2" charset="-122"/>
                <a:ea typeface="宋体" panose="02010600030101010101" pitchFamily="2" charset="-122"/>
              </a:rPr>
              <a:t>的一个产生式，</a:t>
            </a:r>
            <a:r>
              <a:rPr lang="en-US" altLang="zh-CN" sz="2200" b="1" dirty="0">
                <a:latin typeface="宋体" panose="02010600030101010101" pitchFamily="2" charset="-122"/>
                <a:ea typeface="宋体" panose="02010600030101010101" pitchFamily="2" charset="-122"/>
              </a:rPr>
              <a:t>x</a:t>
            </a:r>
            <a:r>
              <a:rPr lang="zh-CN" altLang="en-US" sz="2200" b="1" dirty="0">
                <a:latin typeface="宋体" panose="02010600030101010101" pitchFamily="2" charset="-122"/>
                <a:ea typeface="宋体" panose="02010600030101010101" pitchFamily="2" charset="-122"/>
              </a:rPr>
              <a:t>和</a:t>
            </a:r>
            <a:r>
              <a:rPr lang="en-US" altLang="zh-CN" sz="2200" b="1" dirty="0">
                <a:latin typeface="宋体" panose="02010600030101010101" pitchFamily="2" charset="-122"/>
                <a:ea typeface="宋体" panose="02010600030101010101" pitchFamily="2" charset="-122"/>
              </a:rPr>
              <a:t>y</a:t>
            </a:r>
            <a:r>
              <a:rPr lang="zh-CN" altLang="en-US" sz="2200" b="1" dirty="0">
                <a:latin typeface="宋体" panose="02010600030101010101" pitchFamily="2" charset="-122"/>
                <a:ea typeface="宋体" panose="02010600030101010101" pitchFamily="2" charset="-122"/>
              </a:rPr>
              <a:t>是任意的文法符号串，若有符号</a:t>
            </a:r>
            <a:r>
              <a:rPr lang="en-US" altLang="zh-CN" sz="2200" b="1" dirty="0">
                <a:latin typeface="宋体" panose="02010600030101010101" pitchFamily="2" charset="-122"/>
                <a:ea typeface="宋体" panose="02010600030101010101" pitchFamily="2" charset="-122"/>
              </a:rPr>
              <a:t>v</a:t>
            </a:r>
            <a:r>
              <a:rPr lang="zh-CN" altLang="en-US" sz="2200" b="1" dirty="0">
                <a:latin typeface="宋体" panose="02010600030101010101" pitchFamily="2" charset="-122"/>
                <a:ea typeface="宋体" panose="02010600030101010101" pitchFamily="2" charset="-122"/>
              </a:rPr>
              <a:t>和</a:t>
            </a:r>
            <a:r>
              <a:rPr lang="en-US" altLang="zh-CN" sz="2200" b="1" dirty="0">
                <a:latin typeface="宋体" panose="02010600030101010101" pitchFamily="2" charset="-122"/>
                <a:ea typeface="宋体" panose="02010600030101010101" pitchFamily="2" charset="-122"/>
              </a:rPr>
              <a:t>w</a:t>
            </a:r>
            <a:r>
              <a:rPr lang="zh-CN" altLang="en-US" sz="2200" b="1" dirty="0">
                <a:latin typeface="宋体" panose="02010600030101010101" pitchFamily="2" charset="-122"/>
                <a:ea typeface="宋体" panose="02010600030101010101" pitchFamily="2" charset="-122"/>
              </a:rPr>
              <a:t>满足：</a:t>
            </a:r>
            <a:r>
              <a:rPr lang="en-US" altLang="zh-CN" sz="2200" b="1" dirty="0">
                <a:latin typeface="宋体" panose="02010600030101010101" pitchFamily="2" charset="-122"/>
                <a:ea typeface="宋体" panose="02010600030101010101" pitchFamily="2" charset="-122"/>
              </a:rPr>
              <a:t>v=xAy，w=xβy，</a:t>
            </a:r>
            <a:r>
              <a:rPr lang="zh-CN" altLang="en-US" sz="2200" b="1" dirty="0">
                <a:latin typeface="宋体" panose="02010600030101010101" pitchFamily="2" charset="-122"/>
                <a:ea typeface="宋体" panose="02010600030101010101" pitchFamily="2" charset="-122"/>
              </a:rPr>
              <a:t>则称</a:t>
            </a:r>
            <a:r>
              <a:rPr lang="en-US" altLang="zh-CN" sz="2200" b="1" dirty="0">
                <a:solidFill>
                  <a:srgbClr val="FF0000"/>
                </a:solidFill>
                <a:latin typeface="宋体" panose="02010600030101010101" pitchFamily="2" charset="-122"/>
                <a:ea typeface="宋体" panose="02010600030101010101" pitchFamily="2" charset="-122"/>
              </a:rPr>
              <a:t>v（</a:t>
            </a:r>
            <a:r>
              <a:rPr lang="zh-CN" altLang="en-US" sz="2200" b="1" dirty="0">
                <a:solidFill>
                  <a:srgbClr val="FF0000"/>
                </a:solidFill>
                <a:latin typeface="宋体" panose="02010600030101010101" pitchFamily="2" charset="-122"/>
                <a:ea typeface="宋体" panose="02010600030101010101" pitchFamily="2" charset="-122"/>
              </a:rPr>
              <a:t>应用产生式</a:t>
            </a:r>
            <a:r>
              <a:rPr lang="en-US" altLang="zh-CN" sz="2200" b="1" dirty="0">
                <a:solidFill>
                  <a:srgbClr val="FF0000"/>
                </a:solidFill>
                <a:latin typeface="宋体" panose="02010600030101010101" pitchFamily="2" charset="-122"/>
                <a:ea typeface="宋体" panose="02010600030101010101" pitchFamily="2" charset="-122"/>
              </a:rPr>
              <a:t>A→β</a:t>
            </a:r>
            <a:r>
              <a:rPr lang="zh-CN" altLang="en-US" sz="2200" b="1" dirty="0">
                <a:solidFill>
                  <a:srgbClr val="FF0000"/>
                </a:solidFill>
                <a:latin typeface="宋体" panose="02010600030101010101" pitchFamily="2" charset="-122"/>
                <a:ea typeface="宋体" panose="02010600030101010101" pitchFamily="2" charset="-122"/>
              </a:rPr>
              <a:t> ）直接产生</a:t>
            </a:r>
            <a:r>
              <a:rPr lang="en-US" altLang="zh-CN" sz="2200" b="1" dirty="0">
                <a:solidFill>
                  <a:srgbClr val="FF0000"/>
                </a:solidFill>
                <a:latin typeface="宋体" panose="02010600030101010101" pitchFamily="2" charset="-122"/>
                <a:ea typeface="宋体" panose="02010600030101010101" pitchFamily="2" charset="-122"/>
              </a:rPr>
              <a:t>w</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或者：</a:t>
            </a:r>
            <a:r>
              <a:rPr lang="en-US" altLang="zh-CN" sz="2200" b="1" dirty="0">
                <a:solidFill>
                  <a:srgbClr val="FF0000"/>
                </a:solidFill>
                <a:latin typeface="宋体" panose="02010600030101010101" pitchFamily="2" charset="-122"/>
                <a:ea typeface="宋体" panose="02010600030101010101" pitchFamily="2" charset="-122"/>
              </a:rPr>
              <a:t>w</a:t>
            </a:r>
            <a:r>
              <a:rPr lang="zh-CN" altLang="en-US" sz="2200" b="1" dirty="0">
                <a:solidFill>
                  <a:srgbClr val="FF0000"/>
                </a:solidFill>
                <a:latin typeface="宋体" panose="02010600030101010101" pitchFamily="2" charset="-122"/>
                <a:ea typeface="宋体" panose="02010600030101010101" pitchFamily="2" charset="-122"/>
              </a:rPr>
              <a:t>是</a:t>
            </a:r>
            <a:r>
              <a:rPr lang="en-US" altLang="zh-CN" sz="2200" b="1" dirty="0">
                <a:solidFill>
                  <a:srgbClr val="FF0000"/>
                </a:solidFill>
                <a:latin typeface="宋体" panose="02010600030101010101" pitchFamily="2" charset="-122"/>
                <a:ea typeface="宋体" panose="02010600030101010101" pitchFamily="2" charset="-122"/>
              </a:rPr>
              <a:t>v</a:t>
            </a:r>
            <a:r>
              <a:rPr lang="zh-CN" altLang="en-US" sz="2200" b="1" dirty="0">
                <a:solidFill>
                  <a:srgbClr val="FF0000"/>
                </a:solidFill>
                <a:latin typeface="宋体" panose="02010600030101010101" pitchFamily="2" charset="-122"/>
                <a:ea typeface="宋体" panose="02010600030101010101" pitchFamily="2" charset="-122"/>
              </a:rPr>
              <a:t>的直接推导</a:t>
            </a:r>
            <a:r>
              <a:rPr lang="zh-CN" altLang="en-US" sz="2200" b="1" dirty="0">
                <a:latin typeface="宋体" panose="02010600030101010101" pitchFamily="2" charset="-122"/>
                <a:ea typeface="宋体" panose="02010600030101010101" pitchFamily="2" charset="-122"/>
              </a:rPr>
              <a:t>，而</a:t>
            </a:r>
            <a:r>
              <a:rPr lang="en-US" altLang="zh-CN" sz="2200" b="1" dirty="0">
                <a:solidFill>
                  <a:srgbClr val="FF0000"/>
                </a:solidFill>
                <a:latin typeface="宋体" panose="02010600030101010101" pitchFamily="2" charset="-122"/>
                <a:ea typeface="宋体" panose="02010600030101010101" pitchFamily="2" charset="-122"/>
              </a:rPr>
              <a:t>w</a:t>
            </a:r>
            <a:r>
              <a:rPr lang="zh-CN" altLang="en-US" sz="2200" b="1" dirty="0">
                <a:solidFill>
                  <a:srgbClr val="FF0000"/>
                </a:solidFill>
                <a:latin typeface="宋体" panose="02010600030101010101" pitchFamily="2" charset="-122"/>
                <a:ea typeface="宋体" panose="02010600030101010101" pitchFamily="2" charset="-122"/>
              </a:rPr>
              <a:t>直接归约到</a:t>
            </a:r>
            <a:r>
              <a:rPr lang="en-US" altLang="zh-CN" sz="2200" b="1" dirty="0">
                <a:solidFill>
                  <a:srgbClr val="FF0000"/>
                </a:solidFill>
                <a:latin typeface="宋体" panose="02010600030101010101" pitchFamily="2" charset="-122"/>
                <a:ea typeface="宋体" panose="02010600030101010101" pitchFamily="2" charset="-122"/>
              </a:rPr>
              <a:t>v</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记作</a:t>
            </a:r>
            <a:r>
              <a:rPr lang="en-US" altLang="zh-CN" sz="2200" b="1" dirty="0">
                <a:latin typeface="宋体" panose="02010600030101010101" pitchFamily="2" charset="-122"/>
                <a:ea typeface="宋体" panose="02010600030101010101" pitchFamily="2" charset="-122"/>
              </a:rPr>
              <a:t>v</a:t>
            </a:r>
            <a:r>
              <a:rPr lang="zh-CN" altLang="en-US" dirty="0">
                <a:ea typeface="宋体" panose="02010600030101010101" pitchFamily="2" charset="-122"/>
              </a:rPr>
              <a:t> ⇒ </a:t>
            </a:r>
            <a:r>
              <a:rPr lang="en-US" altLang="zh-CN" sz="2200" b="1" dirty="0">
                <a:latin typeface="宋体" panose="02010600030101010101" pitchFamily="2" charset="-122"/>
                <a:ea typeface="宋体" panose="02010600030101010101" pitchFamily="2" charset="-122"/>
              </a:rPr>
              <a:t>w</a:t>
            </a:r>
            <a:endParaRPr lang="en-US" altLang="zh-CN" sz="22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每一步推导过程中要做两个选择</a:t>
            </a:r>
            <a:endParaRPr lang="en-US" altLang="zh-CN" sz="2000" b="1" dirty="0">
              <a:latin typeface="宋体" panose="02010600030101010101" pitchFamily="2" charset="-122"/>
              <a:ea typeface="宋体" panose="02010600030101010101" pitchFamily="2" charset="-122"/>
            </a:endParaRPr>
          </a:p>
          <a:p>
            <a:pPr lvl="3"/>
            <a:r>
              <a:rPr lang="zh-CN" altLang="en-US" sz="1800" b="1" dirty="0">
                <a:latin typeface="宋体" panose="02010600030101010101" pitchFamily="2" charset="-122"/>
                <a:ea typeface="宋体" panose="02010600030101010101" pitchFamily="2" charset="-122"/>
              </a:rPr>
              <a:t>替换哪个非终结符？</a:t>
            </a:r>
            <a:endParaRPr lang="en-US" altLang="zh-CN" sz="1800" b="1" dirty="0">
              <a:latin typeface="宋体" panose="02010600030101010101" pitchFamily="2" charset="-122"/>
              <a:ea typeface="宋体" panose="02010600030101010101" pitchFamily="2" charset="-122"/>
            </a:endParaRPr>
          </a:p>
          <a:p>
            <a:pPr lvl="3"/>
            <a:r>
              <a:rPr lang="zh-CN" altLang="en-US" sz="1800" b="1" dirty="0">
                <a:latin typeface="宋体" panose="02010600030101010101" pitchFamily="2" charset="-122"/>
                <a:ea typeface="宋体" panose="02010600030101010101" pitchFamily="2" charset="-122"/>
              </a:rPr>
              <a:t>选择哪个以被选中的非终结符为左部的产生式？</a:t>
            </a:r>
            <a:endParaRPr lang="en-US" altLang="zh-CN" sz="1800" b="1" dirty="0">
              <a:latin typeface="宋体" panose="02010600030101010101" pitchFamily="2" charset="-122"/>
              <a:ea typeface="宋体" panose="02010600030101010101" pitchFamily="2" charset="-122"/>
            </a:endParaRPr>
          </a:p>
          <a:p>
            <a:pPr lvl="1"/>
            <a:r>
              <a:rPr lang="zh-CN" altLang="en-US" sz="2200" b="1" dirty="0">
                <a:latin typeface="宋体" panose="02010600030101010101" pitchFamily="2" charset="-122"/>
                <a:ea typeface="宋体" panose="02010600030101010101" pitchFamily="2" charset="-122"/>
              </a:rPr>
              <a:t>推导序列：下述规则定义  及其性质，</a:t>
            </a:r>
            <a:r>
              <a:rPr lang="zh-CN" altLang="zh-CN" sz="2200" dirty="0">
                <a:ea typeface="宋体" panose="02010600030101010101" pitchFamily="2" charset="-122"/>
              </a:rPr>
              <a:t> </a:t>
            </a:r>
            <a:r>
              <a:rPr lang="en-US" altLang="zh-CN" sz="2200" dirty="0">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的定义类似</a:t>
            </a:r>
            <a:endParaRPr lang="en-US" altLang="zh-CN" sz="22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如果存在推导序列</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1</a:t>
            </a:r>
            <a:r>
              <a:rPr lang="zh-CN" altLang="en-US" sz="2000" dirty="0">
                <a:ea typeface="宋体" panose="02010600030101010101" pitchFamily="2" charset="-122"/>
              </a:rPr>
              <a:t> ⇒ </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2</a:t>
            </a:r>
            <a:r>
              <a:rPr lang="en-US" altLang="zh-CN" sz="2000" b="1" dirty="0">
                <a:latin typeface="宋体" panose="02010600030101010101" pitchFamily="2" charset="-122"/>
                <a:ea typeface="宋体" panose="02010600030101010101" pitchFamily="2" charset="-122"/>
              </a:rPr>
              <a:t>…</a:t>
            </a:r>
            <a:r>
              <a:rPr lang="zh-CN" altLang="en-US" sz="2000" dirty="0">
                <a:ea typeface="宋体" panose="02010600030101010101" pitchFamily="2" charset="-122"/>
              </a:rPr>
              <a:t> ⇒ </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n</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则称</a:t>
            </a:r>
            <a:r>
              <a:rPr lang="en-US" altLang="zh-CN" sz="2000" b="1" dirty="0">
                <a:latin typeface="宋体" panose="02010600030101010101" pitchFamily="2" charset="-122"/>
                <a:ea typeface="宋体" panose="02010600030101010101" pitchFamily="2" charset="-122"/>
              </a:rPr>
              <a:t>α</a:t>
            </a:r>
            <a:r>
              <a:rPr lang="zh-CN" altLang="en-US" sz="2000" baseline="-25000" dirty="0">
                <a:latin typeface="宋体" panose="02010600030101010101" pitchFamily="2" charset="-122"/>
                <a:ea typeface="宋体" panose="02010600030101010101" pitchFamily="2" charset="-122"/>
              </a:rPr>
              <a:t>１</a:t>
            </a:r>
            <a:r>
              <a:rPr lang="zh-CN" altLang="en-US" sz="2000" b="1" dirty="0">
                <a:latin typeface="宋体" panose="02010600030101010101" pitchFamily="2" charset="-122"/>
                <a:ea typeface="宋体" panose="02010600030101010101" pitchFamily="2" charset="-122"/>
              </a:rPr>
              <a:t>经零步或多步推导出</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n </a:t>
            </a:r>
            <a:r>
              <a:rPr lang="zh-CN" altLang="en-US" sz="2000" b="1" dirty="0">
                <a:latin typeface="宋体" panose="02010600030101010101" pitchFamily="2" charset="-122"/>
                <a:ea typeface="宋体" panose="02010600030101010101" pitchFamily="2" charset="-122"/>
              </a:rPr>
              <a:t>，记为</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1   </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n</a:t>
            </a:r>
            <a:endParaRPr lang="en-US" altLang="zh-CN" sz="2000" b="1" baseline="-25000"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对于任意的文法符号串</a:t>
            </a:r>
            <a:r>
              <a:rPr lang="en-US" altLang="zh-CN" sz="2000" b="1" dirty="0">
                <a:latin typeface="宋体" panose="02010600030101010101" pitchFamily="2" charset="-122"/>
                <a:ea typeface="宋体" panose="02010600030101010101" pitchFamily="2" charset="-122"/>
              </a:rPr>
              <a:t>α</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α  α</a:t>
            </a:r>
            <a:endParaRPr lang="en-US" altLang="zh-CN" sz="2000" b="1" baseline="-25000"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如果</a:t>
            </a:r>
            <a:r>
              <a:rPr lang="en-US" altLang="zh-CN" sz="2000" b="1" dirty="0">
                <a:latin typeface="宋体" panose="02010600030101010101" pitchFamily="2" charset="-122"/>
                <a:ea typeface="宋体" panose="02010600030101010101" pitchFamily="2" charset="-122"/>
              </a:rPr>
              <a:t>α  β</a:t>
            </a:r>
            <a:r>
              <a:rPr lang="zh-CN" altLang="en-US" sz="2000" b="1" dirty="0">
                <a:latin typeface="宋体" panose="02010600030101010101" pitchFamily="2" charset="-122"/>
                <a:ea typeface="宋体" panose="02010600030101010101" pitchFamily="2" charset="-122"/>
              </a:rPr>
              <a:t>且</a:t>
            </a:r>
            <a:r>
              <a:rPr lang="en-US" altLang="zh-CN" sz="2000" b="1" dirty="0">
                <a:latin typeface="宋体" panose="02010600030101010101" pitchFamily="2" charset="-122"/>
                <a:ea typeface="宋体" panose="02010600030101010101" pitchFamily="2" charset="-122"/>
              </a:rPr>
              <a:t>β</a:t>
            </a:r>
            <a:r>
              <a:rPr lang="zh-CN" altLang="en-US" sz="2000" dirty="0">
                <a:ea typeface="宋体" panose="02010600030101010101" pitchFamily="2" charset="-122"/>
              </a:rPr>
              <a:t> ⇒ </a:t>
            </a:r>
            <a:r>
              <a:rPr lang="el-GR" altLang="zh-CN" sz="2000" b="1" dirty="0">
                <a:latin typeface="宋体" panose="02010600030101010101" pitchFamily="2" charset="-122"/>
                <a:ea typeface="宋体" panose="02010600030101010101" pitchFamily="2" charset="-122"/>
              </a:rPr>
              <a:t>γ</a:t>
            </a:r>
            <a:r>
              <a:rPr lang="zh-CN" altLang="en-US" sz="2000" b="1" dirty="0">
                <a:latin typeface="宋体" panose="02010600030101010101" pitchFamily="2" charset="-122"/>
                <a:ea typeface="宋体" panose="02010600030101010101" pitchFamily="2" charset="-122"/>
              </a:rPr>
              <a:t>，则</a:t>
            </a:r>
            <a:r>
              <a:rPr lang="en-US" altLang="zh-CN" sz="2000" b="1" dirty="0">
                <a:latin typeface="宋体" panose="02010600030101010101" pitchFamily="2" charset="-122"/>
                <a:ea typeface="宋体" panose="02010600030101010101" pitchFamily="2" charset="-122"/>
              </a:rPr>
              <a:t>α  </a:t>
            </a:r>
            <a:r>
              <a:rPr lang="el-GR" altLang="zh-CN" sz="2000" b="1" dirty="0">
                <a:latin typeface="宋体" panose="02010600030101010101" pitchFamily="2" charset="-122"/>
                <a:ea typeface="宋体" panose="02010600030101010101" pitchFamily="2" charset="-122"/>
              </a:rPr>
              <a:t>γ</a:t>
            </a:r>
            <a:endParaRPr lang="en-US" altLang="zh-CN" sz="2000" b="1" dirty="0">
              <a:latin typeface="宋体" panose="02010600030101010101" pitchFamily="2" charset="-122"/>
              <a:ea typeface="宋体" panose="02010600030101010101" pitchFamily="2" charset="-122"/>
            </a:endParaRPr>
          </a:p>
        </p:txBody>
      </p:sp>
      <p:graphicFrame>
        <p:nvGraphicFramePr>
          <p:cNvPr id="24580" name="Object 4"/>
          <p:cNvGraphicFramePr>
            <a:graphicFrameLocks noChangeAspect="1"/>
          </p:cNvGraphicFramePr>
          <p:nvPr/>
        </p:nvGraphicFramePr>
        <p:xfrm>
          <a:off x="4643438" y="4581525"/>
          <a:ext cx="322262" cy="412750"/>
        </p:xfrm>
        <a:graphic>
          <a:graphicData uri="http://schemas.openxmlformats.org/presentationml/2006/ole">
            <mc:AlternateContent xmlns:mc="http://schemas.openxmlformats.org/markup-compatibility/2006">
              <mc:Choice xmlns:v="urn:schemas-microsoft-com:vml" Requires="v">
                <p:oleObj spid="_x0000_s3077" name="" r:id="rId1" imgW="190500" imgH="304800" progId="Equation.3">
                  <p:embed/>
                </p:oleObj>
              </mc:Choice>
              <mc:Fallback>
                <p:oleObj name="" r:id="rId1" imgW="190500" imgH="304800" progId="Equation.3">
                  <p:embed/>
                  <p:pic>
                    <p:nvPicPr>
                      <p:cNvPr id="0" name="图片 3076"/>
                      <p:cNvPicPr/>
                      <p:nvPr/>
                    </p:nvPicPr>
                    <p:blipFill>
                      <a:blip r:embed="rId2"/>
                      <a:stretch>
                        <a:fillRect/>
                      </a:stretch>
                    </p:blipFill>
                    <p:spPr>
                      <a:xfrm>
                        <a:off x="4643438" y="4581525"/>
                        <a:ext cx="322262" cy="412750"/>
                      </a:xfrm>
                      <a:prstGeom prst="rect">
                        <a:avLst/>
                      </a:prstGeom>
                      <a:noFill/>
                      <a:ln w="38100">
                        <a:noFill/>
                        <a:miter/>
                      </a:ln>
                    </p:spPr>
                  </p:pic>
                </p:oleObj>
              </mc:Fallback>
            </mc:AlternateContent>
          </a:graphicData>
        </a:graphic>
      </p:graphicFrame>
      <p:graphicFrame>
        <p:nvGraphicFramePr>
          <p:cNvPr id="24581" name="Object 4"/>
          <p:cNvGraphicFramePr>
            <a:graphicFrameLocks noChangeAspect="1"/>
          </p:cNvGraphicFramePr>
          <p:nvPr/>
        </p:nvGraphicFramePr>
        <p:xfrm>
          <a:off x="6194425" y="4578350"/>
          <a:ext cx="322263" cy="363538"/>
        </p:xfrm>
        <a:graphic>
          <a:graphicData uri="http://schemas.openxmlformats.org/presentationml/2006/ole">
            <mc:AlternateContent xmlns:mc="http://schemas.openxmlformats.org/markup-compatibility/2006">
              <mc:Choice xmlns:v="urn:schemas-microsoft-com:vml" Requires="v">
                <p:oleObj spid="_x0000_s3080" name="" r:id="rId3" imgW="190500" imgH="304800" progId="Equation.3">
                  <p:embed/>
                </p:oleObj>
              </mc:Choice>
              <mc:Fallback>
                <p:oleObj name="" r:id="rId3" imgW="190500" imgH="304800" progId="Equation.3">
                  <p:embed/>
                  <p:pic>
                    <p:nvPicPr>
                      <p:cNvPr id="0" name="图片 3079"/>
                      <p:cNvPicPr/>
                      <p:nvPr/>
                    </p:nvPicPr>
                    <p:blipFill>
                      <a:blip r:embed="rId4"/>
                      <a:stretch>
                        <a:fillRect/>
                      </a:stretch>
                    </p:blipFill>
                    <p:spPr>
                      <a:xfrm>
                        <a:off x="6194425" y="4578350"/>
                        <a:ext cx="322263" cy="363538"/>
                      </a:xfrm>
                      <a:prstGeom prst="rect">
                        <a:avLst/>
                      </a:prstGeom>
                      <a:noFill/>
                      <a:ln w="38100">
                        <a:noFill/>
                        <a:miter/>
                      </a:ln>
                    </p:spPr>
                  </p:pic>
                </p:oleObj>
              </mc:Fallback>
            </mc:AlternateContent>
          </a:graphicData>
        </a:graphic>
      </p:graphicFrame>
      <p:graphicFrame>
        <p:nvGraphicFramePr>
          <p:cNvPr id="24582" name="Object 4"/>
          <p:cNvGraphicFramePr>
            <a:graphicFrameLocks noChangeAspect="1"/>
          </p:cNvGraphicFramePr>
          <p:nvPr/>
        </p:nvGraphicFramePr>
        <p:xfrm>
          <a:off x="4537075" y="5229225"/>
          <a:ext cx="322263" cy="412750"/>
        </p:xfrm>
        <a:graphic>
          <a:graphicData uri="http://schemas.openxmlformats.org/presentationml/2006/ole">
            <mc:AlternateContent xmlns:mc="http://schemas.openxmlformats.org/markup-compatibility/2006">
              <mc:Choice xmlns:v="urn:schemas-microsoft-com:vml" Requires="v">
                <p:oleObj spid="_x0000_s3078" name="" r:id="rId5" imgW="190500" imgH="304800" progId="Equation.3">
                  <p:embed/>
                </p:oleObj>
              </mc:Choice>
              <mc:Fallback>
                <p:oleObj name="" r:id="rId5" imgW="190500" imgH="304800" progId="Equation.3">
                  <p:embed/>
                  <p:pic>
                    <p:nvPicPr>
                      <p:cNvPr id="0" name="图片 3077"/>
                      <p:cNvPicPr/>
                      <p:nvPr/>
                    </p:nvPicPr>
                    <p:blipFill>
                      <a:blip r:embed="rId2"/>
                      <a:stretch>
                        <a:fillRect/>
                      </a:stretch>
                    </p:blipFill>
                    <p:spPr>
                      <a:xfrm>
                        <a:off x="4537075" y="5229225"/>
                        <a:ext cx="322263" cy="412750"/>
                      </a:xfrm>
                      <a:prstGeom prst="rect">
                        <a:avLst/>
                      </a:prstGeom>
                      <a:noFill/>
                      <a:ln w="38100">
                        <a:noFill/>
                        <a:miter/>
                      </a:ln>
                    </p:spPr>
                  </p:pic>
                </p:oleObj>
              </mc:Fallback>
            </mc:AlternateContent>
          </a:graphicData>
        </a:graphic>
      </p:graphicFrame>
      <p:graphicFrame>
        <p:nvGraphicFramePr>
          <p:cNvPr id="24583" name="Object 4"/>
          <p:cNvGraphicFramePr>
            <a:graphicFrameLocks noChangeAspect="1"/>
          </p:cNvGraphicFramePr>
          <p:nvPr/>
        </p:nvGraphicFramePr>
        <p:xfrm>
          <a:off x="5257800" y="5589588"/>
          <a:ext cx="322263" cy="412750"/>
        </p:xfrm>
        <a:graphic>
          <a:graphicData uri="http://schemas.openxmlformats.org/presentationml/2006/ole">
            <mc:AlternateContent xmlns:mc="http://schemas.openxmlformats.org/markup-compatibility/2006">
              <mc:Choice xmlns:v="urn:schemas-microsoft-com:vml" Requires="v">
                <p:oleObj spid="_x0000_s3082" name="" r:id="rId6" imgW="190500" imgH="304800" progId="Equation.3">
                  <p:embed/>
                </p:oleObj>
              </mc:Choice>
              <mc:Fallback>
                <p:oleObj name="" r:id="rId6" imgW="190500" imgH="304800" progId="Equation.3">
                  <p:embed/>
                  <p:pic>
                    <p:nvPicPr>
                      <p:cNvPr id="0" name="图片 3081"/>
                      <p:cNvPicPr/>
                      <p:nvPr/>
                    </p:nvPicPr>
                    <p:blipFill>
                      <a:blip r:embed="rId2"/>
                      <a:stretch>
                        <a:fillRect/>
                      </a:stretch>
                    </p:blipFill>
                    <p:spPr>
                      <a:xfrm>
                        <a:off x="5257800" y="5589588"/>
                        <a:ext cx="322263" cy="412750"/>
                      </a:xfrm>
                      <a:prstGeom prst="rect">
                        <a:avLst/>
                      </a:prstGeom>
                      <a:noFill/>
                      <a:ln w="38100">
                        <a:noFill/>
                        <a:miter/>
                      </a:ln>
                    </p:spPr>
                  </p:pic>
                </p:oleObj>
              </mc:Fallback>
            </mc:AlternateContent>
          </a:graphicData>
        </a:graphic>
      </p:graphicFrame>
      <p:graphicFrame>
        <p:nvGraphicFramePr>
          <p:cNvPr id="24584" name="Object 4"/>
          <p:cNvGraphicFramePr>
            <a:graphicFrameLocks noChangeAspect="1"/>
          </p:cNvGraphicFramePr>
          <p:nvPr/>
        </p:nvGraphicFramePr>
        <p:xfrm>
          <a:off x="2700338" y="5969000"/>
          <a:ext cx="322262" cy="412750"/>
        </p:xfrm>
        <a:graphic>
          <a:graphicData uri="http://schemas.openxmlformats.org/presentationml/2006/ole">
            <mc:AlternateContent xmlns:mc="http://schemas.openxmlformats.org/markup-compatibility/2006">
              <mc:Choice xmlns:v="urn:schemas-microsoft-com:vml" Requires="v">
                <p:oleObj spid="_x0000_s3081" name="" r:id="rId7" imgW="190500" imgH="304800" progId="Equation.3">
                  <p:embed/>
                </p:oleObj>
              </mc:Choice>
              <mc:Fallback>
                <p:oleObj name="" r:id="rId7" imgW="190500" imgH="304800" progId="Equation.3">
                  <p:embed/>
                  <p:pic>
                    <p:nvPicPr>
                      <p:cNvPr id="0" name="图片 3080"/>
                      <p:cNvPicPr/>
                      <p:nvPr/>
                    </p:nvPicPr>
                    <p:blipFill>
                      <a:blip r:embed="rId2"/>
                      <a:stretch>
                        <a:fillRect/>
                      </a:stretch>
                    </p:blipFill>
                    <p:spPr>
                      <a:xfrm>
                        <a:off x="2700338" y="5969000"/>
                        <a:ext cx="322262" cy="412750"/>
                      </a:xfrm>
                      <a:prstGeom prst="rect">
                        <a:avLst/>
                      </a:prstGeom>
                      <a:noFill/>
                      <a:ln w="38100">
                        <a:noFill/>
                        <a:miter/>
                      </a:ln>
                    </p:spPr>
                  </p:pic>
                </p:oleObj>
              </mc:Fallback>
            </mc:AlternateContent>
          </a:graphicData>
        </a:graphic>
      </p:graphicFrame>
      <p:graphicFrame>
        <p:nvGraphicFramePr>
          <p:cNvPr id="24585" name="Object 4"/>
          <p:cNvGraphicFramePr>
            <a:graphicFrameLocks noChangeAspect="1"/>
          </p:cNvGraphicFramePr>
          <p:nvPr/>
        </p:nvGraphicFramePr>
        <p:xfrm>
          <a:off x="5076825" y="5969000"/>
          <a:ext cx="322263" cy="412750"/>
        </p:xfrm>
        <a:graphic>
          <a:graphicData uri="http://schemas.openxmlformats.org/presentationml/2006/ole">
            <mc:AlternateContent xmlns:mc="http://schemas.openxmlformats.org/markup-compatibility/2006">
              <mc:Choice xmlns:v="urn:schemas-microsoft-com:vml" Requires="v">
                <p:oleObj spid="_x0000_s3079" name="" r:id="rId8" imgW="190500" imgH="304800" progId="Equation.3">
                  <p:embed/>
                </p:oleObj>
              </mc:Choice>
              <mc:Fallback>
                <p:oleObj name="" r:id="rId8" imgW="190500" imgH="304800" progId="Equation.3">
                  <p:embed/>
                  <p:pic>
                    <p:nvPicPr>
                      <p:cNvPr id="0" name="图片 3078"/>
                      <p:cNvPicPr/>
                      <p:nvPr/>
                    </p:nvPicPr>
                    <p:blipFill>
                      <a:blip r:embed="rId2"/>
                      <a:stretch>
                        <a:fillRect/>
                      </a:stretch>
                    </p:blipFill>
                    <p:spPr>
                      <a:xfrm>
                        <a:off x="5076825" y="5969000"/>
                        <a:ext cx="322263" cy="412750"/>
                      </a:xfrm>
                      <a:prstGeom prst="rect">
                        <a:avLst/>
                      </a:prstGeom>
                      <a:noFill/>
                      <a:ln w="38100">
                        <a:noFill/>
                        <a:miter/>
                      </a:ln>
                    </p:spPr>
                  </p:pic>
                </p:oleObj>
              </mc:Fallback>
            </mc:AlternateContent>
          </a:graphicData>
        </a:graphic>
      </p:graphicFrame>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上下文无关文法的分析（３）</a:t>
            </a:r>
            <a:endParaRPr lang="zh-CN" altLang="en-US" dirty="0">
              <a:latin typeface="宋体" panose="02010600030101010101" pitchFamily="2" charset="-122"/>
              <a:ea typeface="宋体" panose="02010600030101010101" pitchFamily="2" charset="-122"/>
            </a:endParaRPr>
          </a:p>
        </p:txBody>
      </p:sp>
      <p:sp>
        <p:nvSpPr>
          <p:cNvPr id="26627" name="Rectangle 3"/>
          <p:cNvSpPr>
            <a:spLocks noGrp="1"/>
          </p:cNvSpPr>
          <p:nvPr>
            <p:ph idx="1"/>
          </p:nvPr>
        </p:nvSpPr>
        <p:spPr>
          <a:xfrm>
            <a:off x="395288" y="1600200"/>
            <a:ext cx="7986712" cy="4648200"/>
          </a:xfrm>
        </p:spPr>
        <p:txBody>
          <a:bodyPr vert="horz" wrap="square" lIns="92075" tIns="46038" rIns="92075" bIns="46038" anchor="t" anchorCtr="0"/>
          <a:p>
            <a:pPr lvl="1"/>
            <a:r>
              <a:rPr lang="zh-CN" altLang="en-US" sz="2800" b="1" dirty="0">
                <a:ea typeface="宋体" panose="02010600030101010101" pitchFamily="2" charset="-122"/>
              </a:rPr>
              <a:t>最右（左）推导：</a:t>
            </a:r>
            <a:endParaRPr lang="zh-CN" altLang="en-US" sz="2800" b="1" dirty="0">
              <a:ea typeface="宋体" panose="02010600030101010101" pitchFamily="2" charset="-122"/>
            </a:endParaRPr>
          </a:p>
          <a:p>
            <a:pPr lvl="2"/>
            <a:r>
              <a:rPr lang="zh-CN" altLang="en-US" sz="2800" b="1" dirty="0">
                <a:ea typeface="宋体" panose="02010600030101010101" pitchFamily="2" charset="-122"/>
              </a:rPr>
              <a:t>推导的每一步都是替代最右（左）边非终结符的推导</a:t>
            </a:r>
            <a:endParaRPr lang="zh-CN" altLang="en-US" sz="2800" b="1" dirty="0">
              <a:ea typeface="宋体" panose="02010600030101010101" pitchFamily="2" charset="-122"/>
            </a:endParaRPr>
          </a:p>
          <a:p>
            <a:pPr lvl="2">
              <a:buNone/>
            </a:pPr>
            <a:r>
              <a:rPr lang="zh-CN" altLang="en-US" sz="2400" b="1" dirty="0">
                <a:ea typeface="宋体" panose="02010600030101010101" pitchFamily="2" charset="-122"/>
              </a:rPr>
              <a:t>    对于算术表达式文法：</a:t>
            </a:r>
            <a:endParaRPr lang="zh-CN" altLang="en-US" sz="2400" b="1" dirty="0">
              <a:ea typeface="宋体" panose="02010600030101010101" pitchFamily="2" charset="-122"/>
            </a:endParaRPr>
          </a:p>
          <a:p>
            <a:pPr lvl="2">
              <a:buNone/>
            </a:pPr>
            <a:r>
              <a:rPr lang="zh-CN" altLang="en-US" sz="2400" b="1" dirty="0">
                <a:ea typeface="宋体" panose="02010600030101010101" pitchFamily="2" charset="-122"/>
              </a:rPr>
              <a:t>	</a:t>
            </a:r>
            <a:r>
              <a:rPr lang="en-US" altLang="zh-CN" sz="2400" b="1" dirty="0">
                <a:ea typeface="宋体" panose="02010600030101010101" pitchFamily="2" charset="-122"/>
              </a:rPr>
              <a:t>E→ E + E | E * E | ( E ) | -E | id</a:t>
            </a:r>
            <a:endParaRPr lang="en-US" altLang="zh-CN" sz="2400" b="1" dirty="0">
              <a:ea typeface="宋体" panose="02010600030101010101" pitchFamily="2" charset="-122"/>
            </a:endParaRPr>
          </a:p>
          <a:p>
            <a:pPr lvl="2">
              <a:buNone/>
            </a:pPr>
            <a:r>
              <a:rPr lang="zh-CN" altLang="en-US" sz="2400" b="1" dirty="0">
                <a:ea typeface="宋体" panose="02010600030101010101" pitchFamily="2" charset="-122"/>
              </a:rPr>
              <a:t>    对于串-(</a:t>
            </a:r>
            <a:r>
              <a:rPr lang="en-US" altLang="zh-CN" sz="2400" b="1" dirty="0">
                <a:ea typeface="宋体" panose="02010600030101010101" pitchFamily="2" charset="-122"/>
              </a:rPr>
              <a:t>id + id)，</a:t>
            </a:r>
            <a:r>
              <a:rPr lang="zh-CN" altLang="en-US" sz="2400" b="1" dirty="0">
                <a:ea typeface="宋体" panose="02010600030101010101" pitchFamily="2" charset="-122"/>
              </a:rPr>
              <a:t>它是上述文法的句子：</a:t>
            </a:r>
            <a:endParaRPr lang="zh-CN" altLang="en-US" sz="2400" b="1" dirty="0">
              <a:ea typeface="宋体" panose="02010600030101010101" pitchFamily="2" charset="-122"/>
            </a:endParaRPr>
          </a:p>
          <a:p>
            <a:pPr lvl="2">
              <a:buNone/>
            </a:pPr>
            <a:r>
              <a:rPr lang="zh-CN" altLang="en-US" sz="2400" b="1" dirty="0">
                <a:ea typeface="宋体" panose="02010600030101010101" pitchFamily="2" charset="-122"/>
              </a:rPr>
              <a:t>    最右推导：</a:t>
            </a:r>
            <a:endParaRPr lang="zh-CN" altLang="en-US" sz="2400" b="1" dirty="0">
              <a:ea typeface="宋体" panose="02010600030101010101" pitchFamily="2" charset="-122"/>
            </a:endParaRPr>
          </a:p>
          <a:p>
            <a:pPr lvl="2">
              <a:buNone/>
            </a:pPr>
            <a:r>
              <a:rPr lang="zh-CN" altLang="en-US" sz="2400" b="1" dirty="0">
                <a:ea typeface="宋体" panose="02010600030101010101" pitchFamily="2" charset="-122"/>
              </a:rPr>
              <a:t>    最左推导：</a:t>
            </a:r>
            <a:endParaRPr lang="zh-CN" altLang="en-US" sz="2400" b="1" dirty="0">
              <a:ea typeface="宋体" panose="02010600030101010101" pitchFamily="2" charset="-122"/>
            </a:endParaRPr>
          </a:p>
          <a:p>
            <a:pPr lvl="2"/>
            <a:r>
              <a:rPr lang="zh-CN" altLang="en-US" sz="2800" b="1" dirty="0">
                <a:ea typeface="宋体" panose="02010600030101010101" pitchFamily="2" charset="-122"/>
              </a:rPr>
              <a:t>最右推导也称为规范推导</a:t>
            </a:r>
            <a:endParaRPr lang="zh-CN" altLang="en-US" sz="2400" b="1" dirty="0">
              <a:ea typeface="宋体" panose="02010600030101010101" pitchFamily="2" charset="-122"/>
            </a:endParaRPr>
          </a:p>
        </p:txBody>
      </p:sp>
      <p:graphicFrame>
        <p:nvGraphicFramePr>
          <p:cNvPr id="26628" name="Object 4"/>
          <p:cNvGraphicFramePr>
            <a:graphicFrameLocks noChangeAspect="1"/>
          </p:cNvGraphicFramePr>
          <p:nvPr/>
        </p:nvGraphicFramePr>
        <p:xfrm>
          <a:off x="3132138" y="4437063"/>
          <a:ext cx="5483225" cy="792162"/>
        </p:xfrm>
        <a:graphic>
          <a:graphicData uri="http://schemas.openxmlformats.org/presentationml/2006/ole">
            <mc:AlternateContent xmlns:mc="http://schemas.openxmlformats.org/markup-compatibility/2006">
              <mc:Choice xmlns:v="urn:schemas-microsoft-com:vml" Requires="v">
                <p:oleObj spid="_x0000_s3076" name="" r:id="rId1" imgW="3251200" imgH="584200" progId="Equation.3">
                  <p:embed/>
                </p:oleObj>
              </mc:Choice>
              <mc:Fallback>
                <p:oleObj name="" r:id="rId1" imgW="3251200" imgH="584200" progId="Equation.3">
                  <p:embed/>
                  <p:pic>
                    <p:nvPicPr>
                      <p:cNvPr id="0" name="图片 3075"/>
                      <p:cNvPicPr/>
                      <p:nvPr/>
                    </p:nvPicPr>
                    <p:blipFill>
                      <a:blip r:embed="rId2"/>
                      <a:stretch>
                        <a:fillRect/>
                      </a:stretch>
                    </p:blipFill>
                    <p:spPr>
                      <a:xfrm>
                        <a:off x="3132138" y="4437063"/>
                        <a:ext cx="5483225" cy="792162"/>
                      </a:xfrm>
                      <a:prstGeom prst="rect">
                        <a:avLst/>
                      </a:prstGeom>
                      <a:noFill/>
                      <a:ln w="38100">
                        <a:noFill/>
                        <a:miter/>
                      </a:ln>
                    </p:spPr>
                  </p:pic>
                </p:oleObj>
              </mc:Fallback>
            </mc:AlternateContent>
          </a:graphicData>
        </a:graphic>
      </p:graphicFrame>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上下文无关文法的分析（４）</a:t>
            </a:r>
            <a:endParaRPr lang="zh-CN" altLang="en-US" dirty="0">
              <a:latin typeface="宋体" panose="02010600030101010101" pitchFamily="2" charset="-122"/>
              <a:ea typeface="宋体" panose="02010600030101010101" pitchFamily="2" charset="-122"/>
            </a:endParaRPr>
          </a:p>
        </p:txBody>
      </p:sp>
      <p:sp>
        <p:nvSpPr>
          <p:cNvPr id="28675" name="Rectangle 3"/>
          <p:cNvSpPr>
            <a:spLocks noGrp="1"/>
          </p:cNvSpPr>
          <p:nvPr>
            <p:ph idx="1"/>
          </p:nvPr>
        </p:nvSpPr>
        <p:spPr>
          <a:xfrm>
            <a:off x="990600" y="1600200"/>
            <a:ext cx="7391400" cy="4648200"/>
          </a:xfrm>
        </p:spPr>
        <p:txBody>
          <a:bodyPr vert="horz" wrap="square" lIns="92075" tIns="46038" rIns="92075" bIns="46038" anchor="t" anchorCtr="0"/>
          <a:p>
            <a:pPr lvl="1"/>
            <a:r>
              <a:rPr lang="zh-CN" altLang="en-US" b="1" dirty="0">
                <a:ea typeface="宋体" panose="02010600030101010101" pitchFamily="2" charset="-122"/>
              </a:rPr>
              <a:t>最右（左）推导的性质：</a:t>
            </a:r>
            <a:endParaRPr lang="zh-CN" altLang="en-US" b="1" dirty="0">
              <a:ea typeface="宋体" panose="02010600030101010101" pitchFamily="2" charset="-122"/>
            </a:endParaRPr>
          </a:p>
          <a:p>
            <a:pPr lvl="2"/>
            <a:r>
              <a:rPr lang="zh-CN" altLang="en-US" sz="2400" b="1" dirty="0">
                <a:ea typeface="宋体" panose="02010600030101010101" pitchFamily="2" charset="-122"/>
              </a:rPr>
              <a:t>如果每步推导可以写成</a:t>
            </a:r>
            <a:r>
              <a:rPr lang="en-US" altLang="zh-CN" sz="2400" b="1" dirty="0">
                <a:ea typeface="宋体" panose="02010600030101010101" pitchFamily="2" charset="-122"/>
              </a:rPr>
              <a:t>ωAγ=&gt;ωδγ，</a:t>
            </a:r>
            <a:r>
              <a:rPr lang="zh-CN" altLang="en-US" sz="2400" b="1" dirty="0">
                <a:ea typeface="宋体" panose="02010600030101010101" pitchFamily="2" charset="-122"/>
              </a:rPr>
              <a:t>其中</a:t>
            </a:r>
            <a:r>
              <a:rPr lang="en-US" altLang="zh-CN" sz="2400" b="1" dirty="0">
                <a:ea typeface="宋体" panose="02010600030101010101" pitchFamily="2" charset="-122"/>
              </a:rPr>
              <a:t>A→δ</a:t>
            </a:r>
            <a:r>
              <a:rPr lang="zh-CN" altLang="en-US" sz="2400" b="1" dirty="0">
                <a:ea typeface="宋体" panose="02010600030101010101" pitchFamily="2" charset="-122"/>
              </a:rPr>
              <a:t>是应用的产生式，则：</a:t>
            </a:r>
            <a:endParaRPr lang="zh-CN" altLang="en-US" sz="2400" b="1" dirty="0">
              <a:ea typeface="宋体" panose="02010600030101010101" pitchFamily="2" charset="-122"/>
            </a:endParaRPr>
          </a:p>
          <a:p>
            <a:pPr lvl="3"/>
            <a:r>
              <a:rPr lang="zh-CN" altLang="en-US" b="1" dirty="0">
                <a:ea typeface="宋体" panose="02010600030101010101" pitchFamily="2" charset="-122"/>
              </a:rPr>
              <a:t>如果上述推导是最右推导，则</a:t>
            </a:r>
            <a:r>
              <a:rPr lang="en-US" altLang="zh-CN" b="1" dirty="0">
                <a:ea typeface="宋体" panose="02010600030101010101" pitchFamily="2" charset="-122"/>
              </a:rPr>
              <a:t>ω</a:t>
            </a:r>
            <a:r>
              <a:rPr lang="zh-CN" altLang="en-US" b="1" dirty="0">
                <a:ea typeface="宋体" panose="02010600030101010101" pitchFamily="2" charset="-122"/>
              </a:rPr>
              <a:t>是文法的符号串，而</a:t>
            </a:r>
            <a:r>
              <a:rPr lang="en-US" altLang="zh-CN" b="1" dirty="0">
                <a:ea typeface="宋体" panose="02010600030101010101" pitchFamily="2" charset="-122"/>
              </a:rPr>
              <a:t>γ</a:t>
            </a:r>
            <a:r>
              <a:rPr lang="zh-CN" altLang="en-US" b="1" dirty="0">
                <a:ea typeface="宋体" panose="02010600030101010101" pitchFamily="2" charset="-122"/>
              </a:rPr>
              <a:t>只含有终结符号</a:t>
            </a:r>
            <a:endParaRPr lang="zh-CN" altLang="en-US" b="1" dirty="0">
              <a:ea typeface="宋体" panose="02010600030101010101" pitchFamily="2" charset="-122"/>
            </a:endParaRPr>
          </a:p>
          <a:p>
            <a:pPr lvl="3"/>
            <a:r>
              <a:rPr lang="zh-CN" altLang="en-US" b="1" dirty="0">
                <a:ea typeface="宋体" panose="02010600030101010101" pitchFamily="2" charset="-122"/>
              </a:rPr>
              <a:t>如果上述推导是最左推导，则</a:t>
            </a:r>
            <a:r>
              <a:rPr lang="en-US" altLang="zh-CN" b="1" dirty="0">
                <a:ea typeface="宋体" panose="02010600030101010101" pitchFamily="2" charset="-122"/>
              </a:rPr>
              <a:t>γ</a:t>
            </a:r>
            <a:r>
              <a:rPr lang="zh-CN" altLang="en-US" b="1" dirty="0">
                <a:ea typeface="宋体" panose="02010600030101010101" pitchFamily="2" charset="-122"/>
              </a:rPr>
              <a:t>是文法的符号串，而</a:t>
            </a:r>
            <a:r>
              <a:rPr lang="en-US" altLang="zh-CN" b="1" dirty="0">
                <a:ea typeface="宋体" panose="02010600030101010101" pitchFamily="2" charset="-122"/>
              </a:rPr>
              <a:t>ω</a:t>
            </a:r>
            <a:r>
              <a:rPr lang="zh-CN" altLang="en-US" b="1" dirty="0">
                <a:ea typeface="宋体" panose="02010600030101010101" pitchFamily="2" charset="-122"/>
              </a:rPr>
              <a:t>只含有终结符号</a:t>
            </a:r>
            <a:endParaRPr lang="zh-CN" altLang="en-US" b="1" dirty="0">
              <a:ea typeface="宋体" panose="02010600030101010101" pitchFamily="2" charset="-122"/>
            </a:endParaRPr>
          </a:p>
          <a:p>
            <a:pPr lvl="1"/>
            <a:r>
              <a:rPr lang="zh-CN" altLang="en-US" b="1" dirty="0">
                <a:ea typeface="宋体" panose="02010600030101010101" pitchFamily="2" charset="-122"/>
              </a:rPr>
              <a:t>最右（左）句型：</a:t>
            </a:r>
            <a:endParaRPr lang="zh-CN" altLang="en-US" b="1" dirty="0">
              <a:ea typeface="宋体" panose="02010600030101010101" pitchFamily="2" charset="-122"/>
            </a:endParaRPr>
          </a:p>
          <a:p>
            <a:pPr lvl="2"/>
            <a:r>
              <a:rPr lang="zh-CN" altLang="en-US" sz="2400" b="1" dirty="0">
                <a:ea typeface="宋体" panose="02010600030101010101" pitchFamily="2" charset="-122"/>
              </a:rPr>
              <a:t>如果一个句型是有文法的开始符号通过最右（左）推导得到的，则称这个句形是该文法的最右（左）句型</a:t>
            </a:r>
            <a:endParaRPr lang="zh-CN" altLang="en-US" sz="2400" b="1" dirty="0">
              <a:ea typeface="宋体" panose="02010600030101010101" pitchFamily="2" charset="-122"/>
            </a:endParaRPr>
          </a:p>
          <a:p>
            <a:pPr lvl="2"/>
            <a:r>
              <a:rPr lang="zh-CN" altLang="en-US" sz="2400" b="1" dirty="0">
                <a:ea typeface="宋体" panose="02010600030101010101" pitchFamily="2" charset="-122"/>
              </a:rPr>
              <a:t>由规范推导得到的句型称为规范句型</a:t>
            </a:r>
            <a:endParaRPr lang="zh-CN" altLang="en-US" sz="2400" b="1" dirty="0">
              <a:ea typeface="宋体" panose="02010600030101010101" pitchFamily="2" charset="-122"/>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上下文无关文法的分析（５）</a:t>
            </a:r>
            <a:endParaRPr lang="zh-CN" altLang="en-US" dirty="0">
              <a:latin typeface="宋体" panose="02010600030101010101" pitchFamily="2" charset="-122"/>
              <a:ea typeface="宋体" panose="02010600030101010101" pitchFamily="2" charset="-122"/>
            </a:endParaRPr>
          </a:p>
        </p:txBody>
      </p:sp>
      <p:sp>
        <p:nvSpPr>
          <p:cNvPr id="30723" name="Rectangle 3"/>
          <p:cNvSpPr>
            <a:spLocks noGrp="1"/>
          </p:cNvSpPr>
          <p:nvPr>
            <p:ph idx="1"/>
          </p:nvPr>
        </p:nvSpPr>
        <p:spPr>
          <a:xfrm>
            <a:off x="990600" y="1600200"/>
            <a:ext cx="7391400" cy="4648200"/>
          </a:xfrm>
        </p:spPr>
        <p:txBody>
          <a:bodyPr vert="horz" wrap="square" lIns="92075" tIns="46038" rIns="92075" bIns="46038" anchor="t" anchorCtr="0"/>
          <a:p>
            <a:r>
              <a:rPr lang="zh-CN" altLang="en-US" b="1" dirty="0">
                <a:ea typeface="宋体" panose="02010600030101010101" pitchFamily="2" charset="-122"/>
              </a:rPr>
              <a:t>分析树和推导的关系</a:t>
            </a:r>
            <a:endParaRPr lang="zh-CN" altLang="en-US" b="1" dirty="0">
              <a:ea typeface="宋体" panose="02010600030101010101" pitchFamily="2" charset="-122"/>
            </a:endParaRPr>
          </a:p>
          <a:p>
            <a:pPr lvl="1"/>
            <a:r>
              <a:rPr lang="zh-CN" altLang="en-US" b="1" dirty="0">
                <a:ea typeface="宋体" panose="02010600030101010101" pitchFamily="2" charset="-122"/>
              </a:rPr>
              <a:t>分析树每个内部节点都是非终结符</a:t>
            </a:r>
            <a:endParaRPr lang="zh-CN" altLang="en-US" b="1" dirty="0">
              <a:ea typeface="宋体" panose="02010600030101010101" pitchFamily="2" charset="-122"/>
            </a:endParaRPr>
          </a:p>
          <a:p>
            <a:pPr lvl="1"/>
            <a:r>
              <a:rPr lang="zh-CN" altLang="en-US" b="1" dirty="0">
                <a:ea typeface="宋体" panose="02010600030101010101" pitchFamily="2" charset="-122"/>
              </a:rPr>
              <a:t>子节点的标记</a:t>
            </a:r>
            <a:endParaRPr lang="zh-CN" altLang="en-US" b="1" dirty="0">
              <a:ea typeface="宋体" panose="02010600030101010101" pitchFamily="2" charset="-122"/>
            </a:endParaRPr>
          </a:p>
          <a:p>
            <a:pPr lvl="2"/>
            <a:r>
              <a:rPr lang="zh-CN" altLang="en-US" b="1" dirty="0">
                <a:ea typeface="宋体" panose="02010600030101010101" pitchFamily="2" charset="-122"/>
              </a:rPr>
              <a:t>对于串-(</a:t>
            </a:r>
            <a:r>
              <a:rPr lang="en-US" altLang="zh-CN" b="1" dirty="0">
                <a:ea typeface="宋体" panose="02010600030101010101" pitchFamily="2" charset="-122"/>
              </a:rPr>
              <a:t>id + id)，</a:t>
            </a:r>
            <a:r>
              <a:rPr lang="zh-CN" altLang="en-US" b="1" dirty="0">
                <a:ea typeface="宋体" panose="02010600030101010101" pitchFamily="2" charset="-122"/>
              </a:rPr>
              <a:t>它的最右推导构造分析树：</a:t>
            </a:r>
            <a:endParaRPr lang="en-US" altLang="zh-CN" b="1" dirty="0">
              <a:ea typeface="宋体" panose="02010600030101010101" pitchFamily="2" charset="-122"/>
            </a:endParaRPr>
          </a:p>
          <a:p>
            <a:pPr lvl="2"/>
            <a:endParaRPr lang="en-US" altLang="zh-CN" sz="2400" b="1" dirty="0">
              <a:ea typeface="宋体" panose="02010600030101010101" pitchFamily="2" charset="-122"/>
            </a:endParaRPr>
          </a:p>
          <a:p>
            <a:pPr lvl="2"/>
            <a:endParaRPr lang="en-US" altLang="zh-CN" sz="2400" b="1" dirty="0">
              <a:ea typeface="宋体" panose="02010600030101010101" pitchFamily="2" charset="-122"/>
            </a:endParaRPr>
          </a:p>
          <a:p>
            <a:pPr lvl="2"/>
            <a:endParaRPr lang="en-US" altLang="zh-CN" sz="2400" b="1" dirty="0">
              <a:ea typeface="宋体" panose="02010600030101010101" pitchFamily="2" charset="-122"/>
            </a:endParaRPr>
          </a:p>
          <a:p>
            <a:pPr lvl="2"/>
            <a:endParaRPr lang="en-US" altLang="zh-CN" sz="2400" b="1" dirty="0">
              <a:ea typeface="宋体" panose="02010600030101010101" pitchFamily="2" charset="-122"/>
            </a:endParaRPr>
          </a:p>
          <a:p>
            <a:pPr lvl="2"/>
            <a:endParaRPr lang="en-US" altLang="zh-CN" sz="2400" b="1" dirty="0">
              <a:ea typeface="宋体" panose="02010600030101010101" pitchFamily="2" charset="-122"/>
            </a:endParaRPr>
          </a:p>
          <a:p>
            <a:pPr lvl="1"/>
            <a:r>
              <a:rPr lang="zh-CN" altLang="en-US" b="1" dirty="0">
                <a:ea typeface="宋体" panose="02010600030101010101" pitchFamily="2" charset="-122"/>
              </a:rPr>
              <a:t>分析树不能表示推导的过程</a:t>
            </a:r>
            <a:endParaRPr lang="zh-CN" altLang="en-US" b="1" dirty="0">
              <a:ea typeface="宋体" panose="02010600030101010101" pitchFamily="2" charset="-122"/>
            </a:endParaRPr>
          </a:p>
          <a:p>
            <a:pPr lvl="1"/>
            <a:r>
              <a:rPr lang="zh-CN" altLang="en-US" b="1" dirty="0">
                <a:ea typeface="宋体" panose="02010600030101010101" pitchFamily="2" charset="-122"/>
              </a:rPr>
              <a:t>每个分析树对应的最右推导和最左推导都唯一</a:t>
            </a:r>
            <a:endParaRPr lang="zh-CN" altLang="en-US" b="1" dirty="0">
              <a:ea typeface="宋体" panose="02010600030101010101" pitchFamily="2" charset="-122"/>
            </a:endParaRPr>
          </a:p>
          <a:p>
            <a:pPr lvl="1"/>
            <a:endParaRPr lang="zh-CN" altLang="en-US" sz="2600" b="1" dirty="0">
              <a:ea typeface="宋体" panose="02010600030101010101" pitchFamily="2" charset="-122"/>
            </a:endParaRPr>
          </a:p>
        </p:txBody>
      </p:sp>
      <p:grpSp>
        <p:nvGrpSpPr>
          <p:cNvPr id="30724" name="组合 1"/>
          <p:cNvGrpSpPr/>
          <p:nvPr/>
        </p:nvGrpSpPr>
        <p:grpSpPr>
          <a:xfrm>
            <a:off x="3810000" y="3429000"/>
            <a:ext cx="1449388" cy="2087563"/>
            <a:chOff x="3810000" y="3429000"/>
            <a:chExt cx="1449388" cy="2492375"/>
          </a:xfrm>
        </p:grpSpPr>
        <p:graphicFrame>
          <p:nvGraphicFramePr>
            <p:cNvPr id="30725" name="Object 4"/>
            <p:cNvGraphicFramePr>
              <a:graphicFrameLocks noChangeAspect="1"/>
            </p:cNvGraphicFramePr>
            <p:nvPr/>
          </p:nvGraphicFramePr>
          <p:xfrm>
            <a:off x="4191000" y="3429000"/>
            <a:ext cx="425450" cy="319088"/>
          </p:xfrm>
          <a:graphic>
            <a:graphicData uri="http://schemas.openxmlformats.org/presentationml/2006/ole">
              <mc:AlternateContent xmlns:mc="http://schemas.openxmlformats.org/markup-compatibility/2006">
                <mc:Choice xmlns:v="urn:schemas-microsoft-com:vml" Requires="v">
                  <p:oleObj spid="_x0000_s3084" name="" r:id="rId1" imgW="584200" imgH="444500" progId="Visio.Drawing.11">
                    <p:embed/>
                  </p:oleObj>
                </mc:Choice>
                <mc:Fallback>
                  <p:oleObj name="" r:id="rId1" imgW="584200" imgH="444500" progId="Visio.Drawing.11">
                    <p:embed/>
                    <p:pic>
                      <p:nvPicPr>
                        <p:cNvPr id="0" name="图片 3083"/>
                        <p:cNvPicPr/>
                        <p:nvPr/>
                      </p:nvPicPr>
                      <p:blipFill>
                        <a:blip r:embed="rId2"/>
                        <a:stretch>
                          <a:fillRect/>
                        </a:stretch>
                      </p:blipFill>
                      <p:spPr>
                        <a:xfrm>
                          <a:off x="4191000" y="3429000"/>
                          <a:ext cx="425450" cy="319088"/>
                        </a:xfrm>
                        <a:prstGeom prst="rect">
                          <a:avLst/>
                        </a:prstGeom>
                        <a:noFill/>
                        <a:ln w="38100">
                          <a:noFill/>
                          <a:miter/>
                        </a:ln>
                      </p:spPr>
                    </p:pic>
                  </p:oleObj>
                </mc:Fallback>
              </mc:AlternateContent>
            </a:graphicData>
          </a:graphic>
        </p:graphicFrame>
        <p:graphicFrame>
          <p:nvGraphicFramePr>
            <p:cNvPr id="30726" name="Object 5"/>
            <p:cNvGraphicFramePr>
              <a:graphicFrameLocks noChangeAspect="1"/>
            </p:cNvGraphicFramePr>
            <p:nvPr/>
          </p:nvGraphicFramePr>
          <p:xfrm>
            <a:off x="3810000" y="3733800"/>
            <a:ext cx="1144588" cy="565150"/>
          </p:xfrm>
          <a:graphic>
            <a:graphicData uri="http://schemas.openxmlformats.org/presentationml/2006/ole">
              <mc:AlternateContent xmlns:mc="http://schemas.openxmlformats.org/markup-compatibility/2006">
                <mc:Choice xmlns:v="urn:schemas-microsoft-com:vml" Requires="v">
                  <p:oleObj spid="_x0000_s3083" name="" r:id="rId3" imgW="1536700" imgH="762000" progId="Visio.Drawing.11">
                    <p:embed/>
                  </p:oleObj>
                </mc:Choice>
                <mc:Fallback>
                  <p:oleObj name="" r:id="rId3" imgW="1536700" imgH="762000" progId="Visio.Drawing.11">
                    <p:embed/>
                    <p:pic>
                      <p:nvPicPr>
                        <p:cNvPr id="0" name="图片 3082"/>
                        <p:cNvPicPr/>
                        <p:nvPr/>
                      </p:nvPicPr>
                      <p:blipFill>
                        <a:blip r:embed="rId4"/>
                        <a:stretch>
                          <a:fillRect/>
                        </a:stretch>
                      </p:blipFill>
                      <p:spPr>
                        <a:xfrm>
                          <a:off x="3810000" y="3733800"/>
                          <a:ext cx="1144588" cy="565150"/>
                        </a:xfrm>
                        <a:prstGeom prst="rect">
                          <a:avLst/>
                        </a:prstGeom>
                        <a:noFill/>
                        <a:ln w="38100">
                          <a:noFill/>
                          <a:miter/>
                        </a:ln>
                      </p:spPr>
                    </p:pic>
                  </p:oleObj>
                </mc:Fallback>
              </mc:AlternateContent>
            </a:graphicData>
          </a:graphic>
        </p:graphicFrame>
        <p:graphicFrame>
          <p:nvGraphicFramePr>
            <p:cNvPr id="30727" name="Object 6"/>
            <p:cNvGraphicFramePr>
              <a:graphicFrameLocks noChangeAspect="1"/>
            </p:cNvGraphicFramePr>
            <p:nvPr/>
          </p:nvGraphicFramePr>
          <p:xfrm>
            <a:off x="4114800" y="4267200"/>
            <a:ext cx="1144588" cy="582613"/>
          </p:xfrm>
          <a:graphic>
            <a:graphicData uri="http://schemas.openxmlformats.org/presentationml/2006/ole">
              <mc:AlternateContent xmlns:mc="http://schemas.openxmlformats.org/markup-compatibility/2006">
                <mc:Choice xmlns:v="urn:schemas-microsoft-com:vml" Requires="v">
                  <p:oleObj spid="_x0000_s3088" name="" r:id="rId5" imgW="1536700" imgH="787400" progId="Visio.Drawing.11">
                    <p:embed/>
                  </p:oleObj>
                </mc:Choice>
                <mc:Fallback>
                  <p:oleObj name="" r:id="rId5" imgW="1536700" imgH="787400" progId="Visio.Drawing.11">
                    <p:embed/>
                    <p:pic>
                      <p:nvPicPr>
                        <p:cNvPr id="0" name="图片 3087"/>
                        <p:cNvPicPr/>
                        <p:nvPr/>
                      </p:nvPicPr>
                      <p:blipFill>
                        <a:blip r:embed="rId6"/>
                        <a:stretch>
                          <a:fillRect/>
                        </a:stretch>
                      </p:blipFill>
                      <p:spPr>
                        <a:xfrm>
                          <a:off x="4114800" y="4267200"/>
                          <a:ext cx="1144588" cy="582613"/>
                        </a:xfrm>
                        <a:prstGeom prst="rect">
                          <a:avLst/>
                        </a:prstGeom>
                        <a:noFill/>
                        <a:ln w="38100">
                          <a:noFill/>
                          <a:miter/>
                        </a:ln>
                      </p:spPr>
                    </p:pic>
                  </p:oleObj>
                </mc:Fallback>
              </mc:AlternateContent>
            </a:graphicData>
          </a:graphic>
        </p:graphicFrame>
        <p:graphicFrame>
          <p:nvGraphicFramePr>
            <p:cNvPr id="30728" name="Object 7"/>
            <p:cNvGraphicFramePr>
              <a:graphicFrameLocks noChangeAspect="1"/>
            </p:cNvGraphicFramePr>
            <p:nvPr/>
          </p:nvGraphicFramePr>
          <p:xfrm>
            <a:off x="4114800" y="4876800"/>
            <a:ext cx="1144588" cy="582613"/>
          </p:xfrm>
          <a:graphic>
            <a:graphicData uri="http://schemas.openxmlformats.org/presentationml/2006/ole">
              <mc:AlternateContent xmlns:mc="http://schemas.openxmlformats.org/markup-compatibility/2006">
                <mc:Choice xmlns:v="urn:schemas-microsoft-com:vml" Requires="v">
                  <p:oleObj spid="_x0000_s3086" name="" r:id="rId7" imgW="1536700" imgH="787400" progId="Visio.Drawing.11">
                    <p:embed/>
                  </p:oleObj>
                </mc:Choice>
                <mc:Fallback>
                  <p:oleObj name="" r:id="rId7" imgW="1536700" imgH="787400" progId="Visio.Drawing.11">
                    <p:embed/>
                    <p:pic>
                      <p:nvPicPr>
                        <p:cNvPr id="0" name="图片 3085"/>
                        <p:cNvPicPr/>
                        <p:nvPr/>
                      </p:nvPicPr>
                      <p:blipFill>
                        <a:blip r:embed="rId8"/>
                        <a:stretch>
                          <a:fillRect/>
                        </a:stretch>
                      </p:blipFill>
                      <p:spPr>
                        <a:xfrm>
                          <a:off x="4114800" y="4876800"/>
                          <a:ext cx="1144588" cy="582613"/>
                        </a:xfrm>
                        <a:prstGeom prst="rect">
                          <a:avLst/>
                        </a:prstGeom>
                        <a:noFill/>
                        <a:ln w="38100">
                          <a:noFill/>
                          <a:miter/>
                        </a:ln>
                      </p:spPr>
                    </p:pic>
                  </p:oleObj>
                </mc:Fallback>
              </mc:AlternateContent>
            </a:graphicData>
          </a:graphic>
        </p:graphicFrame>
        <p:graphicFrame>
          <p:nvGraphicFramePr>
            <p:cNvPr id="30729" name="Object 8"/>
            <p:cNvGraphicFramePr>
              <a:graphicFrameLocks noChangeAspect="1"/>
            </p:cNvGraphicFramePr>
            <p:nvPr/>
          </p:nvGraphicFramePr>
          <p:xfrm>
            <a:off x="4800600" y="5410200"/>
            <a:ext cx="425450" cy="511175"/>
          </p:xfrm>
          <a:graphic>
            <a:graphicData uri="http://schemas.openxmlformats.org/presentationml/2006/ole">
              <mc:AlternateContent xmlns:mc="http://schemas.openxmlformats.org/markup-compatibility/2006">
                <mc:Choice xmlns:v="urn:schemas-microsoft-com:vml" Requires="v">
                  <p:oleObj spid="_x0000_s3089" name="" r:id="rId9" imgW="584200" imgH="698500" progId="Visio.Drawing.11">
                    <p:embed/>
                  </p:oleObj>
                </mc:Choice>
                <mc:Fallback>
                  <p:oleObj name="" r:id="rId9" imgW="584200" imgH="698500" progId="Visio.Drawing.11">
                    <p:embed/>
                    <p:pic>
                      <p:nvPicPr>
                        <p:cNvPr id="0" name="图片 3088"/>
                        <p:cNvPicPr/>
                        <p:nvPr/>
                      </p:nvPicPr>
                      <p:blipFill>
                        <a:blip r:embed="rId10"/>
                        <a:stretch>
                          <a:fillRect/>
                        </a:stretch>
                      </p:blipFill>
                      <p:spPr>
                        <a:xfrm>
                          <a:off x="4800600" y="5410200"/>
                          <a:ext cx="425450" cy="511175"/>
                        </a:xfrm>
                        <a:prstGeom prst="rect">
                          <a:avLst/>
                        </a:prstGeom>
                        <a:noFill/>
                        <a:ln w="38100">
                          <a:noFill/>
                          <a:miter/>
                        </a:ln>
                      </p:spPr>
                    </p:pic>
                  </p:oleObj>
                </mc:Fallback>
              </mc:AlternateContent>
            </a:graphicData>
          </a:graphic>
        </p:graphicFrame>
        <p:graphicFrame>
          <p:nvGraphicFramePr>
            <p:cNvPr id="30730" name="Object 9"/>
            <p:cNvGraphicFramePr>
              <a:graphicFrameLocks noChangeAspect="1"/>
            </p:cNvGraphicFramePr>
            <p:nvPr/>
          </p:nvGraphicFramePr>
          <p:xfrm>
            <a:off x="4114800" y="5410200"/>
            <a:ext cx="425450" cy="511175"/>
          </p:xfrm>
          <a:graphic>
            <a:graphicData uri="http://schemas.openxmlformats.org/presentationml/2006/ole">
              <mc:AlternateContent xmlns:mc="http://schemas.openxmlformats.org/markup-compatibility/2006">
                <mc:Choice xmlns:v="urn:schemas-microsoft-com:vml" Requires="v">
                  <p:oleObj spid="_x0000_s3085" name="" r:id="rId11" imgW="584200" imgH="698500" progId="Visio.Drawing.11">
                    <p:embed/>
                  </p:oleObj>
                </mc:Choice>
                <mc:Fallback>
                  <p:oleObj name="" r:id="rId11" imgW="584200" imgH="698500" progId="Visio.Drawing.11">
                    <p:embed/>
                    <p:pic>
                      <p:nvPicPr>
                        <p:cNvPr id="0" name="图片 3084"/>
                        <p:cNvPicPr/>
                        <p:nvPr/>
                      </p:nvPicPr>
                      <p:blipFill>
                        <a:blip r:embed="rId12"/>
                        <a:stretch>
                          <a:fillRect/>
                        </a:stretch>
                      </p:blipFill>
                      <p:spPr>
                        <a:xfrm>
                          <a:off x="4114800" y="5410200"/>
                          <a:ext cx="425450" cy="511175"/>
                        </a:xfrm>
                        <a:prstGeom prst="rect">
                          <a:avLst/>
                        </a:prstGeom>
                        <a:noFill/>
                        <a:ln w="38100">
                          <a:noFill/>
                          <a:miter/>
                        </a:ln>
                      </p:spPr>
                    </p:pic>
                  </p:oleObj>
                </mc:Fallback>
              </mc:AlternateContent>
            </a:graphicData>
          </a:graphic>
        </p:graphicFrame>
      </p:gr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上下文无关文法的分析（６）</a:t>
            </a:r>
            <a:endParaRPr lang="zh-CN" altLang="en-US" dirty="0">
              <a:latin typeface="宋体" panose="02010600030101010101" pitchFamily="2" charset="-122"/>
              <a:ea typeface="宋体" panose="02010600030101010101" pitchFamily="2" charset="-122"/>
            </a:endParaRPr>
          </a:p>
        </p:txBody>
      </p:sp>
      <p:sp>
        <p:nvSpPr>
          <p:cNvPr id="32771" name="Rectangle 3"/>
          <p:cNvSpPr>
            <a:spLocks noGrp="1"/>
          </p:cNvSpPr>
          <p:nvPr>
            <p:ph idx="1"/>
          </p:nvPr>
        </p:nvSpPr>
        <p:spPr>
          <a:xfrm>
            <a:off x="755650" y="1371600"/>
            <a:ext cx="7702550" cy="4833938"/>
          </a:xfrm>
        </p:spPr>
        <p:txBody>
          <a:bodyPr vert="horz" wrap="square" lIns="92075" tIns="46038" rIns="92075" bIns="46038" anchor="t" anchorCtr="0"/>
          <a:p>
            <a:r>
              <a:rPr lang="zh-CN" altLang="en-US" sz="2400" b="1" dirty="0">
                <a:ea typeface="宋体" panose="02010600030101010101" pitchFamily="2" charset="-122"/>
              </a:rPr>
              <a:t>用归纳法说明分析树和推导的关系</a:t>
            </a:r>
            <a:endParaRPr lang="zh-CN" altLang="en-US" sz="2400" b="1" dirty="0">
              <a:ea typeface="宋体" panose="02010600030101010101" pitchFamily="2" charset="-122"/>
            </a:endParaRPr>
          </a:p>
          <a:p>
            <a:pPr lvl="1"/>
            <a:r>
              <a:rPr lang="zh-CN" altLang="en-US" sz="2000" b="1" dirty="0">
                <a:ea typeface="宋体" panose="02010600030101010101" pitchFamily="2" charset="-122"/>
              </a:rPr>
              <a:t>考虑</a:t>
            </a:r>
            <a:r>
              <a:rPr lang="en-US" altLang="zh-CN" sz="2000" b="1" dirty="0">
                <a:ea typeface="宋体" panose="02010600030101010101" pitchFamily="2" charset="-122"/>
              </a:rPr>
              <a:t>A=</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1</a:t>
            </a:r>
            <a:r>
              <a:rPr lang="zh-CN" altLang="en-US" sz="2000" dirty="0">
                <a:ea typeface="宋体" panose="02010600030101010101" pitchFamily="2" charset="-122"/>
              </a:rPr>
              <a:t> ⇒ </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2</a:t>
            </a:r>
            <a:r>
              <a:rPr lang="en-US" altLang="zh-CN" sz="2000" b="1" dirty="0">
                <a:latin typeface="宋体" panose="02010600030101010101" pitchFamily="2" charset="-122"/>
                <a:ea typeface="宋体" panose="02010600030101010101" pitchFamily="2" charset="-122"/>
              </a:rPr>
              <a:t>…</a:t>
            </a:r>
            <a:r>
              <a:rPr lang="zh-CN" altLang="en-US" sz="2000" dirty="0">
                <a:ea typeface="宋体" panose="02010600030101010101" pitchFamily="2" charset="-122"/>
              </a:rPr>
              <a:t> ⇒ </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n</a:t>
            </a:r>
            <a:endParaRPr lang="zh-CN" altLang="en-US" sz="2000" b="1" dirty="0">
              <a:ea typeface="宋体" panose="02010600030101010101" pitchFamily="2" charset="-122"/>
            </a:endParaRPr>
          </a:p>
          <a:p>
            <a:pPr lvl="2"/>
            <a:r>
              <a:rPr lang="zh-CN" altLang="en-US" sz="2000" b="1" dirty="0">
                <a:ea typeface="宋体" panose="02010600030101010101" pitchFamily="2" charset="-122"/>
              </a:rPr>
              <a:t>对每个句型</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i</a:t>
            </a:r>
            <a:r>
              <a:rPr lang="zh-CN" altLang="en-US" sz="2000" b="1" dirty="0">
                <a:ea typeface="宋体" panose="02010600030101010101" pitchFamily="2" charset="-122"/>
              </a:rPr>
              <a:t>，可以构造一个与之对应的分析树</a:t>
            </a:r>
            <a:endParaRPr lang="zh-CN" altLang="en-US" sz="2000" b="1" dirty="0">
              <a:ea typeface="宋体" panose="02010600030101010101" pitchFamily="2" charset="-122"/>
            </a:endParaRPr>
          </a:p>
          <a:p>
            <a:pPr lvl="1"/>
            <a:r>
              <a:rPr lang="zh-CN" altLang="en-US" sz="2000" b="1" dirty="0">
                <a:ea typeface="宋体" panose="02010600030101010101" pitchFamily="2" charset="-122"/>
              </a:rPr>
              <a:t>基础：</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1 </a:t>
            </a:r>
            <a:r>
              <a:rPr lang="en-US" altLang="zh-CN" sz="2000" b="1" dirty="0">
                <a:ea typeface="宋体" panose="02010600030101010101" pitchFamily="2" charset="-122"/>
              </a:rPr>
              <a:t>=A</a:t>
            </a:r>
            <a:r>
              <a:rPr lang="zh-CN" altLang="en-US" sz="2000" b="1" dirty="0">
                <a:ea typeface="宋体" panose="02010600030101010101" pitchFamily="2" charset="-122"/>
              </a:rPr>
              <a:t>的语法树就是标号为</a:t>
            </a:r>
            <a:r>
              <a:rPr lang="en-US" altLang="zh-CN" sz="2000" b="1" dirty="0">
                <a:ea typeface="宋体" panose="02010600030101010101" pitchFamily="2" charset="-122"/>
              </a:rPr>
              <a:t>A</a:t>
            </a:r>
            <a:r>
              <a:rPr lang="zh-CN" altLang="en-US" sz="2000" b="1" dirty="0">
                <a:ea typeface="宋体" panose="02010600030101010101" pitchFamily="2" charset="-122"/>
              </a:rPr>
              <a:t>的单个节点</a:t>
            </a:r>
            <a:endParaRPr lang="en-US" altLang="zh-CN" sz="2000" b="1" dirty="0">
              <a:ea typeface="宋体" panose="02010600030101010101" pitchFamily="2" charset="-122"/>
            </a:endParaRPr>
          </a:p>
          <a:p>
            <a:pPr lvl="1"/>
            <a:r>
              <a:rPr lang="zh-CN" altLang="en-US" sz="2000" b="1" dirty="0">
                <a:ea typeface="宋体" panose="02010600030101010101" pitchFamily="2" charset="-122"/>
              </a:rPr>
              <a:t>归纳步骤：</a:t>
            </a:r>
            <a:endParaRPr lang="en-US" altLang="zh-CN" sz="2000" b="1" dirty="0">
              <a:ea typeface="宋体" panose="02010600030101010101" pitchFamily="2" charset="-122"/>
            </a:endParaRPr>
          </a:p>
          <a:p>
            <a:pPr lvl="2"/>
            <a:r>
              <a:rPr lang="zh-CN" altLang="en-US" sz="2000" b="1" dirty="0">
                <a:ea typeface="宋体" panose="02010600030101010101" pitchFamily="2" charset="-122"/>
              </a:rPr>
              <a:t>如果已经构造了</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i-1</a:t>
            </a:r>
            <a:r>
              <a:rPr lang="en-US" altLang="zh-CN" sz="2000" b="1" dirty="0">
                <a:ea typeface="宋体" panose="02010600030101010101" pitchFamily="2" charset="-122"/>
              </a:rPr>
              <a:t>=</a:t>
            </a:r>
            <a:r>
              <a:rPr lang="en-US" altLang="zh-CN" sz="2000" b="1" i="1" dirty="0">
                <a:ea typeface="宋体" panose="02010600030101010101" pitchFamily="2" charset="-122"/>
              </a:rPr>
              <a:t>X</a:t>
            </a:r>
            <a:r>
              <a:rPr lang="en-US" altLang="zh-CN" sz="2000" b="1" i="1" baseline="-25000" dirty="0">
                <a:latin typeface="宋体" panose="02010600030101010101" pitchFamily="2" charset="-122"/>
                <a:ea typeface="宋体" panose="02010600030101010101" pitchFamily="2" charset="-122"/>
              </a:rPr>
              <a:t>1</a:t>
            </a:r>
            <a:r>
              <a:rPr lang="en-US" altLang="zh-CN" sz="2000" b="1" i="1" dirty="0">
                <a:ea typeface="宋体" panose="02010600030101010101" pitchFamily="2" charset="-122"/>
              </a:rPr>
              <a:t>X</a:t>
            </a:r>
            <a:r>
              <a:rPr lang="en-US" altLang="zh-CN" sz="2000" b="1" i="1" baseline="-25000" dirty="0">
                <a:latin typeface="宋体" panose="02010600030101010101" pitchFamily="2" charset="-122"/>
                <a:ea typeface="宋体" panose="02010600030101010101" pitchFamily="2" charset="-122"/>
              </a:rPr>
              <a:t>2</a:t>
            </a:r>
            <a:r>
              <a:rPr lang="en-US" altLang="zh-CN" sz="2000" b="1" i="1" dirty="0">
                <a:ea typeface="宋体" panose="02010600030101010101" pitchFamily="2" charset="-122"/>
              </a:rPr>
              <a:t>…X</a:t>
            </a:r>
            <a:r>
              <a:rPr lang="en-US" altLang="zh-CN" sz="2000" b="1" i="1" baseline="-25000" dirty="0">
                <a:latin typeface="宋体" panose="02010600030101010101" pitchFamily="2" charset="-122"/>
                <a:ea typeface="宋体" panose="02010600030101010101" pitchFamily="2" charset="-122"/>
              </a:rPr>
              <a:t>k</a:t>
            </a:r>
            <a:r>
              <a:rPr lang="zh-CN" altLang="en-US" sz="2000" b="1" dirty="0">
                <a:ea typeface="宋体" panose="02010600030101010101" pitchFamily="2" charset="-122"/>
              </a:rPr>
              <a:t>的语法分析树，每个</a:t>
            </a:r>
            <a:r>
              <a:rPr lang="en-US" altLang="zh-CN" sz="2000" b="1" i="1" dirty="0">
                <a:ea typeface="宋体" panose="02010600030101010101" pitchFamily="2" charset="-122"/>
              </a:rPr>
              <a:t>X</a:t>
            </a:r>
            <a:r>
              <a:rPr lang="en-US" altLang="zh-CN" sz="2000" b="1" i="1" baseline="-25000" dirty="0">
                <a:latin typeface="宋体" panose="02010600030101010101" pitchFamily="2" charset="-122"/>
                <a:ea typeface="宋体" panose="02010600030101010101" pitchFamily="2" charset="-122"/>
              </a:rPr>
              <a:t>i</a:t>
            </a:r>
            <a:r>
              <a:rPr lang="zh-CN" altLang="en-US" sz="2000" b="1" dirty="0">
                <a:ea typeface="宋体" panose="02010600030101010101" pitchFamily="2" charset="-122"/>
              </a:rPr>
              <a:t>都是一个文法符号（包括终结符和非终结符）</a:t>
            </a:r>
            <a:endParaRPr lang="en-US" altLang="zh-CN" sz="2000" b="1" dirty="0">
              <a:ea typeface="宋体" panose="02010600030101010101" pitchFamily="2" charset="-122"/>
            </a:endParaRPr>
          </a:p>
          <a:p>
            <a:pPr lvl="2"/>
            <a:r>
              <a:rPr lang="zh-CN" altLang="en-US" sz="2000" b="1" dirty="0">
                <a:ea typeface="宋体" panose="02010600030101010101" pitchFamily="2" charset="-122"/>
              </a:rPr>
              <a:t>假设</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i</a:t>
            </a:r>
            <a:r>
              <a:rPr lang="zh-CN" altLang="en-US" sz="2000" b="1" dirty="0">
                <a:ea typeface="宋体" panose="02010600030101010101" pitchFamily="2" charset="-122"/>
              </a:rPr>
              <a:t>是将</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i-1</a:t>
            </a:r>
            <a:r>
              <a:rPr lang="zh-CN" altLang="en-US" sz="2000" b="1" dirty="0">
                <a:ea typeface="宋体" panose="02010600030101010101" pitchFamily="2" charset="-122"/>
              </a:rPr>
              <a:t>中的某个非终结符</a:t>
            </a:r>
            <a:r>
              <a:rPr lang="en-US" altLang="zh-CN" sz="2000" b="1" i="1" dirty="0">
                <a:ea typeface="宋体" panose="02010600030101010101" pitchFamily="2" charset="-122"/>
              </a:rPr>
              <a:t>X</a:t>
            </a:r>
            <a:r>
              <a:rPr lang="en-US" altLang="zh-CN" sz="2000" b="1" i="1" baseline="-25000" dirty="0">
                <a:latin typeface="宋体" panose="02010600030101010101" pitchFamily="2" charset="-122"/>
                <a:ea typeface="宋体" panose="02010600030101010101" pitchFamily="2" charset="-122"/>
              </a:rPr>
              <a:t>j</a:t>
            </a:r>
            <a:r>
              <a:rPr lang="zh-CN" altLang="en-US" sz="2000" b="1" dirty="0">
                <a:ea typeface="宋体" panose="02010600030101010101" pitchFamily="2" charset="-122"/>
              </a:rPr>
              <a:t>替换</a:t>
            </a:r>
            <a:r>
              <a:rPr lang="el-GR" altLang="zh-CN" sz="2000" b="1" dirty="0">
                <a:ea typeface="宋体" panose="02010600030101010101" pitchFamily="2" charset="-122"/>
              </a:rPr>
              <a:t>β</a:t>
            </a:r>
            <a:r>
              <a:rPr lang="en-US" altLang="zh-CN" sz="2000" b="1" dirty="0">
                <a:ea typeface="宋体" panose="02010600030101010101" pitchFamily="2" charset="-122"/>
              </a:rPr>
              <a:t>=</a:t>
            </a:r>
            <a:r>
              <a:rPr lang="en-US" altLang="zh-CN" sz="2000" b="1" i="1" dirty="0">
                <a:ea typeface="宋体" panose="02010600030101010101" pitchFamily="2" charset="-122"/>
              </a:rPr>
              <a:t>Y</a:t>
            </a:r>
            <a:r>
              <a:rPr lang="en-US" altLang="zh-CN" sz="2000" b="1" i="1" baseline="-25000" dirty="0">
                <a:latin typeface="宋体" panose="02010600030101010101" pitchFamily="2" charset="-122"/>
                <a:ea typeface="宋体" panose="02010600030101010101" pitchFamily="2" charset="-122"/>
              </a:rPr>
              <a:t>1</a:t>
            </a:r>
            <a:r>
              <a:rPr lang="en-US" altLang="zh-CN" sz="2000" b="1" i="1" dirty="0">
                <a:ea typeface="宋体" panose="02010600030101010101" pitchFamily="2" charset="-122"/>
              </a:rPr>
              <a:t>Y</a:t>
            </a:r>
            <a:r>
              <a:rPr lang="en-US" altLang="zh-CN" sz="2000" b="1" i="1" baseline="-25000" dirty="0">
                <a:latin typeface="宋体" panose="02010600030101010101" pitchFamily="2" charset="-122"/>
                <a:ea typeface="宋体" panose="02010600030101010101" pitchFamily="2" charset="-122"/>
              </a:rPr>
              <a:t>2</a:t>
            </a:r>
            <a:r>
              <a:rPr lang="en-US" altLang="zh-CN" sz="2000" b="1" i="1" dirty="0">
                <a:ea typeface="宋体" panose="02010600030101010101" pitchFamily="2" charset="-122"/>
              </a:rPr>
              <a:t>…Y</a:t>
            </a:r>
            <a:r>
              <a:rPr lang="en-US" altLang="zh-CN" sz="2000" b="1" i="1" baseline="-25000" dirty="0">
                <a:latin typeface="宋体" panose="02010600030101010101" pitchFamily="2" charset="-122"/>
                <a:ea typeface="宋体" panose="02010600030101010101" pitchFamily="2" charset="-122"/>
              </a:rPr>
              <a:t>m</a:t>
            </a:r>
            <a:r>
              <a:rPr lang="zh-CN" altLang="en-US" sz="2000" b="1" dirty="0">
                <a:ea typeface="宋体" panose="02010600030101010101" pitchFamily="2" charset="-122"/>
              </a:rPr>
              <a:t>后而得到的句型</a:t>
            </a:r>
            <a:endParaRPr lang="en-US" altLang="zh-CN" sz="2000" b="1" dirty="0">
              <a:ea typeface="宋体" panose="02010600030101010101" pitchFamily="2" charset="-122"/>
            </a:endParaRPr>
          </a:p>
          <a:p>
            <a:pPr lvl="3"/>
            <a:r>
              <a:rPr lang="zh-CN" altLang="en-US" sz="1800" b="1" dirty="0">
                <a:ea typeface="宋体" panose="02010600030101010101" pitchFamily="2" charset="-122"/>
              </a:rPr>
              <a:t>即对句型</a:t>
            </a:r>
            <a:r>
              <a:rPr lang="en-US" altLang="zh-CN" sz="1800" b="1" dirty="0">
                <a:latin typeface="宋体" panose="02010600030101010101" pitchFamily="2" charset="-122"/>
                <a:ea typeface="宋体" panose="02010600030101010101" pitchFamily="2" charset="-122"/>
              </a:rPr>
              <a:t>α</a:t>
            </a:r>
            <a:r>
              <a:rPr lang="en-US" altLang="zh-CN" sz="1800" b="1" baseline="-25000" dirty="0">
                <a:latin typeface="宋体" panose="02010600030101010101" pitchFamily="2" charset="-122"/>
                <a:ea typeface="宋体" panose="02010600030101010101" pitchFamily="2" charset="-122"/>
              </a:rPr>
              <a:t>i-1</a:t>
            </a:r>
            <a:r>
              <a:rPr lang="zh-CN" altLang="en-US" sz="1800" b="1" dirty="0">
                <a:ea typeface="宋体" panose="02010600030101010101" pitchFamily="2" charset="-122"/>
              </a:rPr>
              <a:t>应用产生式</a:t>
            </a:r>
            <a:r>
              <a:rPr lang="en-US" altLang="zh-CN" sz="1800" b="1" i="1" dirty="0">
                <a:ea typeface="宋体" panose="02010600030101010101" pitchFamily="2" charset="-122"/>
              </a:rPr>
              <a:t>X</a:t>
            </a:r>
            <a:r>
              <a:rPr lang="en-US" altLang="zh-CN" sz="1800" b="1" i="1" baseline="-25000" dirty="0">
                <a:latin typeface="宋体" panose="02010600030101010101" pitchFamily="2" charset="-122"/>
                <a:ea typeface="宋体" panose="02010600030101010101" pitchFamily="2" charset="-122"/>
              </a:rPr>
              <a:t>j </a:t>
            </a:r>
            <a:r>
              <a:rPr lang="zh-CN" altLang="en-US" sz="1800" b="1" dirty="0">
                <a:ea typeface="宋体" panose="02010600030101010101" pitchFamily="2" charset="-122"/>
              </a:rPr>
              <a:t>→</a:t>
            </a:r>
            <a:r>
              <a:rPr lang="el-GR" altLang="zh-CN" sz="1800" b="1" dirty="0">
                <a:ea typeface="宋体" panose="02010600030101010101" pitchFamily="2" charset="-122"/>
              </a:rPr>
              <a:t> β </a:t>
            </a:r>
            <a:r>
              <a:rPr lang="zh-CN" altLang="en-US" sz="1800" b="1" dirty="0">
                <a:ea typeface="宋体" panose="02010600030101010101" pitchFamily="2" charset="-122"/>
              </a:rPr>
              <a:t>，推导得到下一个句型</a:t>
            </a:r>
            <a:r>
              <a:rPr lang="en-US" altLang="zh-CN" sz="1800" b="1" dirty="0">
                <a:latin typeface="宋体" panose="02010600030101010101" pitchFamily="2" charset="-122"/>
                <a:ea typeface="宋体" panose="02010600030101010101" pitchFamily="2" charset="-122"/>
              </a:rPr>
              <a:t>α</a:t>
            </a:r>
            <a:r>
              <a:rPr lang="en-US" altLang="zh-CN" sz="1800" b="1" baseline="-25000" dirty="0">
                <a:latin typeface="宋体" panose="02010600030101010101" pitchFamily="2" charset="-122"/>
                <a:ea typeface="宋体" panose="02010600030101010101" pitchFamily="2" charset="-122"/>
              </a:rPr>
              <a:t>i</a:t>
            </a:r>
            <a:r>
              <a:rPr lang="en-US" altLang="zh-CN" sz="1800" b="1" dirty="0">
                <a:ea typeface="宋体" panose="02010600030101010101" pitchFamily="2" charset="-122"/>
              </a:rPr>
              <a:t>=</a:t>
            </a:r>
            <a:r>
              <a:rPr lang="en-US" altLang="zh-CN" sz="1800" b="1" i="1" dirty="0">
                <a:ea typeface="宋体" panose="02010600030101010101" pitchFamily="2" charset="-122"/>
              </a:rPr>
              <a:t>X</a:t>
            </a:r>
            <a:r>
              <a:rPr lang="en-US" altLang="zh-CN" sz="1800" b="1" i="1" baseline="-25000" dirty="0">
                <a:latin typeface="宋体" panose="02010600030101010101" pitchFamily="2" charset="-122"/>
                <a:ea typeface="宋体" panose="02010600030101010101" pitchFamily="2" charset="-122"/>
              </a:rPr>
              <a:t>1</a:t>
            </a:r>
            <a:r>
              <a:rPr lang="en-US" altLang="zh-CN" sz="1800" b="1" i="1" dirty="0">
                <a:ea typeface="宋体" panose="02010600030101010101" pitchFamily="2" charset="-122"/>
              </a:rPr>
              <a:t>X</a:t>
            </a:r>
            <a:r>
              <a:rPr lang="en-US" altLang="zh-CN" sz="1800" b="1" i="1" baseline="-25000" dirty="0">
                <a:latin typeface="宋体" panose="02010600030101010101" pitchFamily="2" charset="-122"/>
                <a:ea typeface="宋体" panose="02010600030101010101" pitchFamily="2" charset="-122"/>
              </a:rPr>
              <a:t>2</a:t>
            </a:r>
            <a:r>
              <a:rPr lang="en-US" altLang="zh-CN" sz="1800" b="1" i="1" dirty="0">
                <a:ea typeface="宋体" panose="02010600030101010101" pitchFamily="2" charset="-122"/>
              </a:rPr>
              <a:t>… X</a:t>
            </a:r>
            <a:r>
              <a:rPr lang="en-US" altLang="zh-CN" sz="1800" b="1" i="1" baseline="-25000" dirty="0">
                <a:latin typeface="宋体" panose="02010600030101010101" pitchFamily="2" charset="-122"/>
                <a:ea typeface="宋体" panose="02010600030101010101" pitchFamily="2" charset="-122"/>
              </a:rPr>
              <a:t>j-1</a:t>
            </a:r>
            <a:r>
              <a:rPr lang="el-GR" altLang="zh-CN" sz="1800" b="1" dirty="0">
                <a:ea typeface="宋体" panose="02010600030101010101" pitchFamily="2" charset="-122"/>
              </a:rPr>
              <a:t>β</a:t>
            </a:r>
            <a:r>
              <a:rPr lang="en-US" altLang="zh-CN" sz="1800" b="1" i="1" dirty="0">
                <a:ea typeface="宋体" panose="02010600030101010101" pitchFamily="2" charset="-122"/>
              </a:rPr>
              <a:t>X</a:t>
            </a:r>
            <a:r>
              <a:rPr lang="en-US" altLang="zh-CN" sz="1800" b="1" i="1" baseline="-25000" dirty="0">
                <a:latin typeface="宋体" panose="02010600030101010101" pitchFamily="2" charset="-122"/>
                <a:ea typeface="宋体" panose="02010600030101010101" pitchFamily="2" charset="-122"/>
              </a:rPr>
              <a:t>j+1</a:t>
            </a:r>
            <a:r>
              <a:rPr lang="en-US" altLang="zh-CN" sz="1800" b="1" dirty="0">
                <a:ea typeface="宋体" panose="02010600030101010101" pitchFamily="2" charset="-122"/>
              </a:rPr>
              <a:t>…</a:t>
            </a:r>
            <a:r>
              <a:rPr lang="en-US" altLang="zh-CN" sz="1800" b="1" i="1" dirty="0">
                <a:ea typeface="宋体" panose="02010600030101010101" pitchFamily="2" charset="-122"/>
              </a:rPr>
              <a:t>X</a:t>
            </a:r>
            <a:r>
              <a:rPr lang="en-US" altLang="zh-CN" sz="1800" b="1" i="1" baseline="-25000" dirty="0">
                <a:latin typeface="宋体" panose="02010600030101010101" pitchFamily="2" charset="-122"/>
                <a:ea typeface="宋体" panose="02010600030101010101" pitchFamily="2" charset="-122"/>
              </a:rPr>
              <a:t>k</a:t>
            </a:r>
            <a:endParaRPr lang="en-US" altLang="zh-CN" sz="1800" b="1" dirty="0">
              <a:ea typeface="宋体" panose="02010600030101010101" pitchFamily="2" charset="-122"/>
            </a:endParaRPr>
          </a:p>
          <a:p>
            <a:pPr lvl="3"/>
            <a:r>
              <a:rPr lang="zh-CN" altLang="en-US" sz="1800" b="1" dirty="0">
                <a:ea typeface="宋体" panose="02010600030101010101" pitchFamily="2" charset="-122"/>
              </a:rPr>
              <a:t>在分析树上表现为：针对</a:t>
            </a:r>
            <a:r>
              <a:rPr lang="en-US" altLang="zh-CN" sz="1800" b="1" dirty="0">
                <a:latin typeface="宋体" panose="02010600030101010101" pitchFamily="2" charset="-122"/>
                <a:ea typeface="宋体" panose="02010600030101010101" pitchFamily="2" charset="-122"/>
              </a:rPr>
              <a:t>α</a:t>
            </a:r>
            <a:r>
              <a:rPr lang="en-US" altLang="zh-CN" sz="1800" b="1" baseline="-25000" dirty="0">
                <a:latin typeface="宋体" panose="02010600030101010101" pitchFamily="2" charset="-122"/>
                <a:ea typeface="宋体" panose="02010600030101010101" pitchFamily="2" charset="-122"/>
              </a:rPr>
              <a:t>i-1</a:t>
            </a:r>
            <a:r>
              <a:rPr lang="zh-CN" altLang="en-US" sz="1800" b="1" dirty="0">
                <a:ea typeface="宋体" panose="02010600030101010101" pitchFamily="2" charset="-122"/>
              </a:rPr>
              <a:t>对应的分析树的边缘，左起第</a:t>
            </a:r>
            <a:r>
              <a:rPr lang="en-US" altLang="zh-CN" sz="1800" b="1" dirty="0">
                <a:ea typeface="宋体" panose="02010600030101010101" pitchFamily="2" charset="-122"/>
              </a:rPr>
              <a:t>j</a:t>
            </a:r>
            <a:r>
              <a:rPr lang="zh-CN" altLang="en-US" sz="1800" b="1" dirty="0">
                <a:ea typeface="宋体" panose="02010600030101010101" pitchFamily="2" charset="-122"/>
              </a:rPr>
              <a:t>个非</a:t>
            </a:r>
            <a:r>
              <a:rPr lang="el-GR" altLang="zh-CN" sz="1800" b="1" dirty="0">
                <a:ea typeface="宋体" panose="02010600030101010101" pitchFamily="2" charset="-122"/>
              </a:rPr>
              <a:t>ε</a:t>
            </a:r>
            <a:r>
              <a:rPr lang="zh-CN" altLang="en-US" sz="1800" b="1" dirty="0">
                <a:ea typeface="宋体" panose="02010600030101010101" pitchFamily="2" charset="-122"/>
              </a:rPr>
              <a:t>结点（即结点</a:t>
            </a:r>
            <a:r>
              <a:rPr lang="en-US" altLang="zh-CN" sz="1800" b="1" i="1" dirty="0">
                <a:ea typeface="宋体" panose="02010600030101010101" pitchFamily="2" charset="-122"/>
              </a:rPr>
              <a:t>X</a:t>
            </a:r>
            <a:r>
              <a:rPr lang="en-US" altLang="zh-CN" sz="1800" b="1" i="1" baseline="-25000" dirty="0">
                <a:latin typeface="宋体" panose="02010600030101010101" pitchFamily="2" charset="-122"/>
                <a:ea typeface="宋体" panose="02010600030101010101" pitchFamily="2" charset="-122"/>
              </a:rPr>
              <a:t>j </a:t>
            </a:r>
            <a:r>
              <a:rPr lang="zh-CN" altLang="en-US" sz="1800" b="1" dirty="0">
                <a:ea typeface="宋体" panose="02010600030101010101" pitchFamily="2" charset="-122"/>
              </a:rPr>
              <a:t>），以之为新子树的根，增加</a:t>
            </a:r>
            <a:r>
              <a:rPr lang="en-US" altLang="zh-CN" sz="1800" b="1" dirty="0">
                <a:ea typeface="宋体" panose="02010600030101010101" pitchFamily="2" charset="-122"/>
              </a:rPr>
              <a:t>m</a:t>
            </a:r>
            <a:r>
              <a:rPr lang="zh-CN" altLang="en-US" sz="1800" b="1" dirty="0">
                <a:ea typeface="宋体" panose="02010600030101010101" pitchFamily="2" charset="-122"/>
              </a:rPr>
              <a:t>个子结点（依次为符号串</a:t>
            </a:r>
            <a:r>
              <a:rPr lang="en-US" altLang="zh-CN" sz="1800" b="1" i="1" dirty="0">
                <a:ea typeface="宋体" panose="02010600030101010101" pitchFamily="2" charset="-122"/>
              </a:rPr>
              <a:t>Y</a:t>
            </a:r>
            <a:r>
              <a:rPr lang="en-US" altLang="zh-CN" sz="1800" b="1" i="1" baseline="-25000" dirty="0">
                <a:latin typeface="宋体" panose="02010600030101010101" pitchFamily="2" charset="-122"/>
                <a:ea typeface="宋体" panose="02010600030101010101" pitchFamily="2" charset="-122"/>
              </a:rPr>
              <a:t>1</a:t>
            </a:r>
            <a:r>
              <a:rPr lang="en-US" altLang="zh-CN" sz="1800" b="1" i="1" dirty="0">
                <a:ea typeface="宋体" panose="02010600030101010101" pitchFamily="2" charset="-122"/>
              </a:rPr>
              <a:t>Y</a:t>
            </a:r>
            <a:r>
              <a:rPr lang="en-US" altLang="zh-CN" sz="1800" b="1" i="1" baseline="-25000" dirty="0">
                <a:latin typeface="宋体" panose="02010600030101010101" pitchFamily="2" charset="-122"/>
                <a:ea typeface="宋体" panose="02010600030101010101" pitchFamily="2" charset="-122"/>
              </a:rPr>
              <a:t>2</a:t>
            </a:r>
            <a:r>
              <a:rPr lang="en-US" altLang="zh-CN" sz="1800" b="1" i="1" dirty="0">
                <a:ea typeface="宋体" panose="02010600030101010101" pitchFamily="2" charset="-122"/>
              </a:rPr>
              <a:t>…Y</a:t>
            </a:r>
            <a:r>
              <a:rPr lang="en-US" altLang="zh-CN" sz="1800" b="1" i="1" baseline="-25000" dirty="0">
                <a:latin typeface="宋体" panose="02010600030101010101" pitchFamily="2" charset="-122"/>
                <a:ea typeface="宋体" panose="02010600030101010101" pitchFamily="2" charset="-122"/>
              </a:rPr>
              <a:t>m </a:t>
            </a:r>
            <a:r>
              <a:rPr lang="zh-CN" altLang="en-US" sz="1800" b="1" dirty="0">
                <a:ea typeface="宋体" panose="02010600030101010101" pitchFamily="2" charset="-122"/>
              </a:rPr>
              <a:t>）</a:t>
            </a:r>
            <a:endParaRPr lang="en-US" altLang="zh-CN" sz="1800" b="1" dirty="0">
              <a:ea typeface="宋体" panose="02010600030101010101" pitchFamily="2" charset="-122"/>
            </a:endParaRPr>
          </a:p>
          <a:p>
            <a:pPr lvl="3"/>
            <a:r>
              <a:rPr lang="zh-CN" altLang="en-US" sz="1800" b="1" dirty="0">
                <a:ea typeface="宋体" panose="02010600030101010101" pitchFamily="2" charset="-122"/>
              </a:rPr>
              <a:t>若</a:t>
            </a:r>
            <a:r>
              <a:rPr lang="en-US" altLang="zh-CN" sz="1800" b="1" dirty="0">
                <a:ea typeface="宋体" panose="02010600030101010101" pitchFamily="2" charset="-122"/>
              </a:rPr>
              <a:t>m=0</a:t>
            </a:r>
            <a:r>
              <a:rPr lang="zh-CN" altLang="en-US" sz="1800" b="1" dirty="0">
                <a:ea typeface="宋体" panose="02010600030101010101" pitchFamily="2" charset="-122"/>
              </a:rPr>
              <a:t>（即</a:t>
            </a:r>
            <a:r>
              <a:rPr lang="el-GR" altLang="zh-CN" sz="1800" b="1" dirty="0">
                <a:ea typeface="宋体" panose="02010600030101010101" pitchFamily="2" charset="-122"/>
              </a:rPr>
              <a:t>β </a:t>
            </a:r>
            <a:r>
              <a:rPr lang="en-US" altLang="zh-CN" sz="1800" b="1" dirty="0">
                <a:ea typeface="宋体" panose="02010600030101010101" pitchFamily="2" charset="-122"/>
              </a:rPr>
              <a:t>=</a:t>
            </a:r>
            <a:r>
              <a:rPr lang="el-GR" altLang="zh-CN" sz="1800" b="1" dirty="0">
                <a:ea typeface="宋体" panose="02010600030101010101" pitchFamily="2" charset="-122"/>
              </a:rPr>
              <a:t> ε </a:t>
            </a:r>
            <a:r>
              <a:rPr lang="zh-CN" altLang="en-US" sz="1800" b="1" dirty="0">
                <a:ea typeface="宋体" panose="02010600030101010101" pitchFamily="2" charset="-122"/>
              </a:rPr>
              <a:t>），则给第</a:t>
            </a:r>
            <a:r>
              <a:rPr lang="en-US" altLang="zh-CN" sz="1800" b="1" dirty="0">
                <a:ea typeface="宋体" panose="02010600030101010101" pitchFamily="2" charset="-122"/>
              </a:rPr>
              <a:t>j</a:t>
            </a:r>
            <a:r>
              <a:rPr lang="zh-CN" altLang="en-US" sz="1800" b="1" dirty="0">
                <a:ea typeface="宋体" panose="02010600030101010101" pitchFamily="2" charset="-122"/>
              </a:rPr>
              <a:t>个结点增加标记为</a:t>
            </a:r>
            <a:r>
              <a:rPr lang="el-GR" altLang="zh-CN" sz="1800" b="1" dirty="0">
                <a:ea typeface="宋体" panose="02010600030101010101" pitchFamily="2" charset="-122"/>
              </a:rPr>
              <a:t>ε</a:t>
            </a:r>
            <a:r>
              <a:rPr lang="zh-CN" altLang="en-US" sz="1800" b="1" dirty="0">
                <a:ea typeface="宋体" panose="02010600030101010101" pitchFamily="2" charset="-122"/>
              </a:rPr>
              <a:t>的子结点</a:t>
            </a:r>
            <a:endParaRPr lang="en-US" altLang="zh-CN" sz="1800" b="1" dirty="0">
              <a:ea typeface="宋体" panose="02010600030101010101" pitchFamily="2" charset="-122"/>
            </a:endParaRPr>
          </a:p>
          <a:p>
            <a:pPr lvl="3"/>
            <a:endParaRPr lang="en-US" altLang="zh-CN" sz="1800" b="1" dirty="0">
              <a:ea typeface="宋体" panose="02010600030101010101" pitchFamily="2" charset="-122"/>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818" name="Picture 2"/>
          <p:cNvPicPr>
            <a:picLocks noChangeAspect="1"/>
          </p:cNvPicPr>
          <p:nvPr/>
        </p:nvPicPr>
        <p:blipFill>
          <a:blip r:embed="rId1"/>
          <a:stretch>
            <a:fillRect/>
          </a:stretch>
        </p:blipFill>
        <p:spPr>
          <a:xfrm>
            <a:off x="152400" y="762000"/>
            <a:ext cx="8458200" cy="5065713"/>
          </a:xfrm>
          <a:prstGeom prst="rect">
            <a:avLst/>
          </a:prstGeom>
          <a:noFill/>
          <a:ln w="9525">
            <a:noFill/>
          </a:ln>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上下文无关文法的分析（</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28675" name="Rectangle 3"/>
          <p:cNvSpPr>
            <a:spLocks noGrp="1" noChangeArrowheads="1"/>
          </p:cNvSpPr>
          <p:nvPr>
            <p:ph idx="1"/>
          </p:nvPr>
        </p:nvSpPr>
        <p:spPr>
          <a:xfrm>
            <a:off x="827088" y="1371600"/>
            <a:ext cx="7848600"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二义性：对于文法</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4.3</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（见</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PPT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第</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页）</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对于句子</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id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id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id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有两个不同的最左推导</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=&gt; E + E			 E</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=&gt; E * E</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=&gt;  id + E			    =&gt; E + E * E</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=&gt;  id + E</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E			    =&gt; id + E * E</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=&gt;  id + id</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E		    =&gt; id + id * E</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=&gt;  id + id</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id		    =&gt; id + id * id</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对应了两颗不同的分析树</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大部分分析器希望分析的文法是没有二义性的</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二义性文法在某些情形下有便利性，但需要有消除二义性的机制</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36868" name="Picture 2"/>
          <p:cNvPicPr>
            <a:picLocks noChangeAspect="1"/>
          </p:cNvPicPr>
          <p:nvPr/>
        </p:nvPicPr>
        <p:blipFill>
          <a:blip r:embed="rId1"/>
          <a:stretch>
            <a:fillRect/>
          </a:stretch>
        </p:blipFill>
        <p:spPr>
          <a:xfrm>
            <a:off x="249238" y="3978275"/>
            <a:ext cx="8643937" cy="1898650"/>
          </a:xfrm>
          <a:prstGeom prst="rect">
            <a:avLst/>
          </a:prstGeom>
          <a:noFill/>
          <a:ln w="9525">
            <a:noFill/>
          </a:ln>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上下文无关文法的分析（</a:t>
            </a:r>
            <a:r>
              <a:rPr lang="en-US" altLang="zh-CN" dirty="0">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28675" name="Rectangle 3"/>
          <p:cNvSpPr>
            <a:spLocks noGrp="1" noChangeArrowheads="1"/>
          </p:cNvSpPr>
          <p:nvPr>
            <p:ph idx="1"/>
          </p:nvPr>
        </p:nvSpPr>
        <p:spPr>
          <a:xfrm>
            <a:off x="468313" y="1371600"/>
            <a:ext cx="8207375"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验证文法生成的语言</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验证文法</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 ( S ) S | </a:t>
            </a:r>
            <a:r>
              <a:rPr kumimoji="0" lang="el-GR"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ε</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生成的语言为具有配对括号的串</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由文法推导得到的句子都是这个语言的句子</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对推导步骤数</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进行归纳</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基础：</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n=1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，只能推导得到一个句子空串</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ε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，括号是配对的</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归纳步骤：</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假设步数少于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的推导得到的句子都是配对括号的串</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考虑恰巧有</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步的最左推导，其形式必然如下</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从</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到</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的推导都少于</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n</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步，因此</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对应的符号串括号都配对</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因此</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是括号配对的符号串</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graphicFrame>
        <p:nvGraphicFramePr>
          <p:cNvPr id="38916" name="Object 4"/>
          <p:cNvGraphicFramePr>
            <a:graphicFrameLocks noChangeAspect="1"/>
          </p:cNvGraphicFramePr>
          <p:nvPr/>
        </p:nvGraphicFramePr>
        <p:xfrm>
          <a:off x="3492500" y="4765675"/>
          <a:ext cx="2698750" cy="534988"/>
        </p:xfrm>
        <a:graphic>
          <a:graphicData uri="http://schemas.openxmlformats.org/presentationml/2006/ole">
            <mc:AlternateContent xmlns:mc="http://schemas.openxmlformats.org/markup-compatibility/2006">
              <mc:Choice xmlns:v="urn:schemas-microsoft-com:vml" Requires="v">
                <p:oleObj spid="_x0000_s3087" name="" r:id="rId1" imgW="1600200" imgH="393700" progId="Equation.3">
                  <p:embed/>
                </p:oleObj>
              </mc:Choice>
              <mc:Fallback>
                <p:oleObj name="" r:id="rId1" imgW="1600200" imgH="393700" progId="Equation.3">
                  <p:embed/>
                  <p:pic>
                    <p:nvPicPr>
                      <p:cNvPr id="0" name="图片 3086"/>
                      <p:cNvPicPr/>
                      <p:nvPr/>
                    </p:nvPicPr>
                    <p:blipFill>
                      <a:blip r:embed="rId2"/>
                      <a:stretch>
                        <a:fillRect/>
                      </a:stretch>
                    </p:blipFill>
                    <p:spPr>
                      <a:xfrm>
                        <a:off x="3492500" y="4765675"/>
                        <a:ext cx="2698750" cy="534988"/>
                      </a:xfrm>
                      <a:prstGeom prst="rect">
                        <a:avLst/>
                      </a:prstGeom>
                      <a:noFill/>
                      <a:ln w="38100">
                        <a:noFill/>
                        <a:miter/>
                      </a:ln>
                    </p:spPr>
                  </p:pic>
                </p:oleObj>
              </mc:Fallback>
            </mc:AlternateContent>
          </a:graphicData>
        </a:graphic>
      </p:graphicFrame>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上下文无关文法的分析（</a:t>
            </a:r>
            <a:r>
              <a:rPr lang="en-US" altLang="zh-CN" dirty="0">
                <a:latin typeface="宋体" panose="02010600030101010101" pitchFamily="2" charset="-122"/>
                <a:ea typeface="宋体" panose="02010600030101010101" pitchFamily="2" charset="-122"/>
              </a:rPr>
              <a:t>9</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28675" name="Rectangle 3"/>
          <p:cNvSpPr>
            <a:spLocks noGrp="1" noChangeArrowheads="1"/>
          </p:cNvSpPr>
          <p:nvPr>
            <p:ph idx="1"/>
          </p:nvPr>
        </p:nvSpPr>
        <p:spPr>
          <a:xfrm>
            <a:off x="468313" y="1371600"/>
            <a:ext cx="8207375" cy="4876800"/>
          </a:xfrm>
        </p:spPr>
        <p:txBody>
          <a:bodyPr vert="horz" wrap="square" lIns="92075" tIns="46038" rIns="92075" bIns="46038" numCol="1" anchor="t" anchorCtr="0" compatLnSpc="1"/>
          <a:lstStyle/>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这个语言的句子（配对的括号串）都可以由这个文法推导得到</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对符号串的长度进行归纳，注意到串的长度是偶数</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基础：</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串的长度是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，该串必然是</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，是括号配对的，且可由</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推导得到</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归纳步骤：</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假设每个长度小于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2n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的配对括号串都可以从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推导得到</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考虑长度为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2n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n≥1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）的配对括号串</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ω</a:t>
            </a: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l-GR"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ω</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必然以左括号开头，令</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是</a:t>
            </a:r>
            <a:r>
              <a:rPr kumimoji="0" lang="el-GR"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ω</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的最短的、括号配对的非空前缀，则</a:t>
            </a:r>
            <a:r>
              <a:rPr kumimoji="0" lang="el-GR"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ω</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可以写成</a:t>
            </a:r>
            <a:r>
              <a:rPr kumimoji="0" lang="el-GR"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ω</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=(x)y</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，其中</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都是括号配对的</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因为</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的长度都少于</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2n</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，根据假设，</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都可以从</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推导得到，此时得到下面的推导：</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828800" marR="0" lvl="4"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因此</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ω</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可以从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推导得到</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graphicFrame>
        <p:nvGraphicFramePr>
          <p:cNvPr id="40964" name="Object 4"/>
          <p:cNvGraphicFramePr>
            <a:graphicFrameLocks noChangeAspect="1"/>
          </p:cNvGraphicFramePr>
          <p:nvPr/>
        </p:nvGraphicFramePr>
        <p:xfrm>
          <a:off x="3132138" y="5756275"/>
          <a:ext cx="2698750" cy="552450"/>
        </p:xfrm>
        <a:graphic>
          <a:graphicData uri="http://schemas.openxmlformats.org/presentationml/2006/ole">
            <mc:AlternateContent xmlns:mc="http://schemas.openxmlformats.org/markup-compatibility/2006">
              <mc:Choice xmlns:v="urn:schemas-microsoft-com:vml" Requires="v">
                <p:oleObj spid="_x0000_s3090" name="" r:id="rId1" imgW="1600200" imgH="406400" progId="Equation.3">
                  <p:embed/>
                </p:oleObj>
              </mc:Choice>
              <mc:Fallback>
                <p:oleObj name="" r:id="rId1" imgW="1600200" imgH="406400" progId="Equation.3">
                  <p:embed/>
                  <p:pic>
                    <p:nvPicPr>
                      <p:cNvPr id="0" name="图片 3089"/>
                      <p:cNvPicPr/>
                      <p:nvPr/>
                    </p:nvPicPr>
                    <p:blipFill>
                      <a:blip r:embed="rId2"/>
                      <a:stretch>
                        <a:fillRect/>
                      </a:stretch>
                    </p:blipFill>
                    <p:spPr>
                      <a:xfrm>
                        <a:off x="3132138" y="5756275"/>
                        <a:ext cx="2698750" cy="552450"/>
                      </a:xfrm>
                      <a:prstGeom prst="rect">
                        <a:avLst/>
                      </a:prstGeom>
                      <a:noFill/>
                      <a:ln w="38100">
                        <a:noFill/>
                        <a:miter/>
                      </a:ln>
                    </p:spPr>
                  </p:pic>
                </p:oleObj>
              </mc:Fallback>
            </mc:AlternateContent>
          </a:graphicData>
        </a:graphic>
      </p:graphicFrame>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上下文无关文法的分析（</a:t>
            </a:r>
            <a:r>
              <a:rPr lang="en-US" altLang="zh-CN" dirty="0">
                <a:latin typeface="宋体" panose="02010600030101010101" pitchFamily="2" charset="-122"/>
                <a:ea typeface="宋体" panose="02010600030101010101" pitchFamily="2" charset="-122"/>
              </a:rPr>
              <a:t>10</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43011" name="Rectangle 3"/>
          <p:cNvSpPr>
            <a:spLocks noGrp="1"/>
          </p:cNvSpPr>
          <p:nvPr>
            <p:ph idx="1"/>
          </p:nvPr>
        </p:nvSpPr>
        <p:spPr>
          <a:xfrm>
            <a:off x="468313" y="1371600"/>
            <a:ext cx="8280400" cy="4876800"/>
          </a:xfrm>
        </p:spPr>
        <p:txBody>
          <a:bodyPr vert="horz" wrap="square" lIns="92075" tIns="46038" rIns="92075" bIns="46038" anchor="t" anchorCtr="0"/>
          <a:p>
            <a:r>
              <a:rPr lang="zh-CN" altLang="en-US" b="1" dirty="0">
                <a:ea typeface="宋体" panose="02010600030101010101" pitchFamily="2" charset="-122"/>
              </a:rPr>
              <a:t>上下文无关文法和正则表达式</a:t>
            </a:r>
            <a:endParaRPr lang="en-US" altLang="zh-CN" b="1" dirty="0">
              <a:ea typeface="宋体" panose="02010600030101010101" pitchFamily="2" charset="-122"/>
            </a:endParaRPr>
          </a:p>
          <a:p>
            <a:pPr lvl="1"/>
            <a:r>
              <a:rPr lang="en-US" altLang="zh-CN" b="1" dirty="0">
                <a:ea typeface="宋体" panose="02010600030101010101" pitchFamily="2" charset="-122"/>
              </a:rPr>
              <a:t>2</a:t>
            </a:r>
            <a:r>
              <a:rPr lang="zh-CN" altLang="en-US" b="1" dirty="0">
                <a:ea typeface="宋体" panose="02010600030101010101" pitchFamily="2" charset="-122"/>
              </a:rPr>
              <a:t>型文法（上下文无关文法）描述能力强于</a:t>
            </a:r>
            <a:r>
              <a:rPr lang="en-US" altLang="zh-CN" b="1" dirty="0">
                <a:ea typeface="宋体" panose="02010600030101010101" pitchFamily="2" charset="-122"/>
              </a:rPr>
              <a:t>3</a:t>
            </a:r>
            <a:r>
              <a:rPr lang="zh-CN" altLang="en-US" b="1" dirty="0">
                <a:ea typeface="宋体" panose="02010600030101010101" pitchFamily="2" charset="-122"/>
              </a:rPr>
              <a:t>型文法（正则表达式与</a:t>
            </a:r>
            <a:r>
              <a:rPr lang="en-US" altLang="zh-CN" b="1" dirty="0">
                <a:ea typeface="宋体" panose="02010600030101010101" pitchFamily="2" charset="-122"/>
              </a:rPr>
              <a:t>3</a:t>
            </a:r>
            <a:r>
              <a:rPr lang="zh-CN" altLang="en-US" b="1" dirty="0">
                <a:ea typeface="宋体" panose="02010600030101010101" pitchFamily="2" charset="-122"/>
              </a:rPr>
              <a:t>型文法等价）</a:t>
            </a:r>
            <a:endParaRPr lang="en-US" altLang="zh-CN" b="1" dirty="0">
              <a:ea typeface="宋体" panose="02010600030101010101" pitchFamily="2" charset="-122"/>
            </a:endParaRPr>
          </a:p>
          <a:p>
            <a:pPr lvl="2"/>
            <a:r>
              <a:rPr lang="zh-CN" altLang="en-US" b="1" dirty="0">
                <a:ea typeface="宋体" panose="02010600030101010101" pitchFamily="2" charset="-122"/>
              </a:rPr>
              <a:t>任何一个</a:t>
            </a:r>
            <a:r>
              <a:rPr lang="en-US" altLang="zh-CN" b="1" dirty="0">
                <a:ea typeface="宋体" panose="02010600030101010101" pitchFamily="2" charset="-122"/>
              </a:rPr>
              <a:t>3</a:t>
            </a:r>
            <a:r>
              <a:rPr lang="zh-CN" altLang="en-US" b="1" dirty="0">
                <a:ea typeface="宋体" panose="02010600030101010101" pitchFamily="2" charset="-122"/>
              </a:rPr>
              <a:t>型文法都是</a:t>
            </a:r>
            <a:r>
              <a:rPr lang="en-US" altLang="zh-CN" b="1" dirty="0">
                <a:ea typeface="宋体" panose="02010600030101010101" pitchFamily="2" charset="-122"/>
              </a:rPr>
              <a:t>2</a:t>
            </a:r>
            <a:r>
              <a:rPr lang="zh-CN" altLang="en-US" b="1" dirty="0">
                <a:ea typeface="宋体" panose="02010600030101010101" pitchFamily="2" charset="-122"/>
              </a:rPr>
              <a:t>型文法，反之不然，如语言</a:t>
            </a:r>
            <a:r>
              <a:rPr lang="en-US" altLang="zh-CN" b="1" dirty="0">
                <a:ea typeface="宋体" panose="02010600030101010101" pitchFamily="2" charset="-122"/>
              </a:rPr>
              <a:t>L={a</a:t>
            </a:r>
            <a:r>
              <a:rPr lang="en-US" altLang="zh-CN" b="1" baseline="30000" dirty="0">
                <a:ea typeface="宋体" panose="02010600030101010101" pitchFamily="2" charset="-122"/>
              </a:rPr>
              <a:t>n</a:t>
            </a:r>
            <a:r>
              <a:rPr lang="en-US" altLang="zh-CN" b="1" dirty="0">
                <a:ea typeface="宋体" panose="02010600030101010101" pitchFamily="2" charset="-122"/>
              </a:rPr>
              <a:t>b</a:t>
            </a:r>
            <a:r>
              <a:rPr lang="en-US" altLang="zh-CN" b="1" baseline="30000" dirty="0">
                <a:ea typeface="宋体" panose="02010600030101010101" pitchFamily="2" charset="-122"/>
              </a:rPr>
              <a:t>n</a:t>
            </a:r>
            <a:r>
              <a:rPr lang="en-US" altLang="zh-CN" b="1" dirty="0">
                <a:ea typeface="宋体" panose="02010600030101010101" pitchFamily="2" charset="-122"/>
              </a:rPr>
              <a:t>|n≥1}</a:t>
            </a:r>
            <a:r>
              <a:rPr lang="zh-CN" altLang="en-US" b="1" dirty="0">
                <a:ea typeface="宋体" panose="02010600030101010101" pitchFamily="2" charset="-122"/>
              </a:rPr>
              <a:t>可用</a:t>
            </a:r>
            <a:r>
              <a:rPr lang="en-US" altLang="zh-CN" b="1" dirty="0">
                <a:ea typeface="宋体" panose="02010600030101010101" pitchFamily="2" charset="-122"/>
              </a:rPr>
              <a:t>2</a:t>
            </a:r>
            <a:r>
              <a:rPr lang="zh-CN" altLang="en-US" b="1" dirty="0">
                <a:ea typeface="宋体" panose="02010600030101010101" pitchFamily="2" charset="-122"/>
              </a:rPr>
              <a:t>型文法描述，但不能用</a:t>
            </a:r>
            <a:r>
              <a:rPr lang="en-US" altLang="zh-CN" b="1" dirty="0">
                <a:ea typeface="宋体" panose="02010600030101010101" pitchFamily="2" charset="-122"/>
              </a:rPr>
              <a:t>3</a:t>
            </a:r>
            <a:r>
              <a:rPr lang="zh-CN" altLang="en-US" b="1" dirty="0">
                <a:ea typeface="宋体" panose="02010600030101010101" pitchFamily="2" charset="-122"/>
              </a:rPr>
              <a:t>型文法或</a:t>
            </a:r>
            <a:r>
              <a:rPr lang="en-US" altLang="zh-CN" b="1" dirty="0">
                <a:ea typeface="宋体" panose="02010600030101010101" pitchFamily="2" charset="-122"/>
              </a:rPr>
              <a:t>FA</a:t>
            </a:r>
            <a:r>
              <a:rPr lang="zh-CN" altLang="en-US" b="1" dirty="0">
                <a:ea typeface="宋体" panose="02010600030101010101" pitchFamily="2" charset="-122"/>
              </a:rPr>
              <a:t>表达（证明参见课本）</a:t>
            </a:r>
            <a:endParaRPr lang="en-US" altLang="zh-CN" b="1" dirty="0">
              <a:ea typeface="宋体" panose="02010600030101010101" pitchFamily="2" charset="-122"/>
            </a:endParaRPr>
          </a:p>
          <a:p>
            <a:r>
              <a:rPr lang="zh-CN" altLang="en-US" b="1" dirty="0">
                <a:ea typeface="宋体" panose="02010600030101010101" pitchFamily="2" charset="-122"/>
              </a:rPr>
              <a:t>由</a:t>
            </a:r>
            <a:r>
              <a:rPr lang="en-US" altLang="zh-CN" b="1" dirty="0">
                <a:ea typeface="宋体" panose="02010600030101010101" pitchFamily="2" charset="-122"/>
              </a:rPr>
              <a:t>NFA</a:t>
            </a:r>
            <a:r>
              <a:rPr lang="zh-CN" altLang="en-US" b="1" dirty="0">
                <a:ea typeface="宋体" panose="02010600030101010101" pitchFamily="2" charset="-122"/>
              </a:rPr>
              <a:t>得到识别同样语言的文法</a:t>
            </a:r>
            <a:endParaRPr lang="en-US" altLang="zh-CN" b="1" dirty="0">
              <a:ea typeface="宋体" panose="02010600030101010101" pitchFamily="2" charset="-122"/>
            </a:endParaRPr>
          </a:p>
          <a:p>
            <a:pPr lvl="1"/>
            <a:r>
              <a:rPr lang="zh-CN" altLang="en-US" b="1" dirty="0">
                <a:ea typeface="宋体" panose="02010600030101010101" pitchFamily="2" charset="-122"/>
              </a:rPr>
              <a:t>将文法的非终结符</a:t>
            </a:r>
            <a:r>
              <a:rPr lang="en-US" altLang="zh-CN" b="1" dirty="0">
                <a:ea typeface="宋体" panose="02010600030101010101" pitchFamily="2" charset="-122"/>
              </a:rPr>
              <a:t>A</a:t>
            </a:r>
            <a:r>
              <a:rPr lang="en-US" altLang="zh-CN" b="1" baseline="-25000" dirty="0">
                <a:ea typeface="宋体" panose="02010600030101010101" pitchFamily="2" charset="-122"/>
              </a:rPr>
              <a:t>i</a:t>
            </a:r>
            <a:r>
              <a:rPr lang="zh-CN" altLang="en-US" b="1" dirty="0">
                <a:ea typeface="宋体" panose="02010600030101010101" pitchFamily="2" charset="-122"/>
              </a:rPr>
              <a:t>与</a:t>
            </a:r>
            <a:r>
              <a:rPr lang="en-US" altLang="zh-CN" b="1" dirty="0">
                <a:ea typeface="宋体" panose="02010600030101010101" pitchFamily="2" charset="-122"/>
              </a:rPr>
              <a:t>NFA</a:t>
            </a:r>
            <a:r>
              <a:rPr lang="zh-CN" altLang="en-US" b="1" dirty="0">
                <a:ea typeface="宋体" panose="02010600030101010101" pitchFamily="2" charset="-122"/>
              </a:rPr>
              <a:t>的状态</a:t>
            </a:r>
            <a:r>
              <a:rPr lang="en-US" altLang="zh-CN" b="1" dirty="0">
                <a:ea typeface="宋体" panose="02010600030101010101" pitchFamily="2" charset="-122"/>
              </a:rPr>
              <a:t>i</a:t>
            </a:r>
            <a:r>
              <a:rPr lang="zh-CN" altLang="en-US" b="1" dirty="0">
                <a:ea typeface="宋体" panose="02010600030101010101" pitchFamily="2" charset="-122"/>
              </a:rPr>
              <a:t>对应</a:t>
            </a:r>
            <a:endParaRPr lang="en-US" altLang="zh-CN" b="1" dirty="0">
              <a:ea typeface="宋体" panose="02010600030101010101" pitchFamily="2" charset="-122"/>
            </a:endParaRPr>
          </a:p>
          <a:p>
            <a:pPr lvl="1"/>
            <a:r>
              <a:rPr lang="zh-CN" altLang="en-US" b="1" dirty="0">
                <a:ea typeface="宋体" panose="02010600030101010101" pitchFamily="2" charset="-122"/>
              </a:rPr>
              <a:t>如果有</a:t>
            </a:r>
            <a:r>
              <a:rPr lang="en-US" altLang="zh-CN" b="1" dirty="0">
                <a:ea typeface="宋体" panose="02010600030101010101" pitchFamily="2" charset="-122"/>
              </a:rPr>
              <a:t>NFA</a:t>
            </a:r>
            <a:r>
              <a:rPr lang="zh-CN" altLang="en-US" b="1" dirty="0">
                <a:ea typeface="宋体" panose="02010600030101010101" pitchFamily="2" charset="-122"/>
              </a:rPr>
              <a:t>的状态</a:t>
            </a:r>
            <a:r>
              <a:rPr lang="en-US" altLang="zh-CN" b="1" dirty="0">
                <a:ea typeface="宋体" panose="02010600030101010101" pitchFamily="2" charset="-122"/>
              </a:rPr>
              <a:t>i</a:t>
            </a:r>
            <a:r>
              <a:rPr lang="zh-CN" altLang="en-US" b="1" dirty="0">
                <a:ea typeface="宋体" panose="02010600030101010101" pitchFamily="2" charset="-122"/>
              </a:rPr>
              <a:t>到状态</a:t>
            </a:r>
            <a:r>
              <a:rPr lang="en-US" altLang="zh-CN" b="1" dirty="0">
                <a:ea typeface="宋体" panose="02010600030101010101" pitchFamily="2" charset="-122"/>
              </a:rPr>
              <a:t>j</a:t>
            </a:r>
            <a:r>
              <a:rPr lang="zh-CN" altLang="en-US" b="1" dirty="0">
                <a:ea typeface="宋体" panose="02010600030101010101" pitchFamily="2" charset="-122"/>
              </a:rPr>
              <a:t>间有标记为</a:t>
            </a:r>
            <a:r>
              <a:rPr lang="en-US" altLang="zh-CN" b="1" dirty="0">
                <a:ea typeface="宋体" panose="02010600030101010101" pitchFamily="2" charset="-122"/>
              </a:rPr>
              <a:t>a</a:t>
            </a:r>
            <a:r>
              <a:rPr lang="zh-CN" altLang="en-US" b="1" dirty="0">
                <a:ea typeface="宋体" panose="02010600030101010101" pitchFamily="2" charset="-122"/>
              </a:rPr>
              <a:t>的转换边，则有文法产生式</a:t>
            </a:r>
            <a:r>
              <a:rPr lang="en-US" altLang="zh-CN" b="1" dirty="0">
                <a:ea typeface="宋体" panose="02010600030101010101" pitchFamily="2" charset="-122"/>
              </a:rPr>
              <a:t>A</a:t>
            </a:r>
            <a:r>
              <a:rPr lang="en-US" altLang="zh-CN" b="1" baseline="-25000" dirty="0">
                <a:ea typeface="宋体" panose="02010600030101010101" pitchFamily="2" charset="-122"/>
              </a:rPr>
              <a:t>i </a:t>
            </a:r>
            <a:r>
              <a:rPr lang="en-US" altLang="zh-CN" b="1" dirty="0">
                <a:latin typeface="宋体" panose="02010600030101010101" pitchFamily="2" charset="-122"/>
                <a:ea typeface="宋体" panose="02010600030101010101" pitchFamily="2" charset="-122"/>
              </a:rPr>
              <a:t>→a</a:t>
            </a:r>
            <a:r>
              <a:rPr lang="en-US" altLang="zh-CN" b="1" dirty="0">
                <a:ea typeface="宋体" panose="02010600030101010101" pitchFamily="2" charset="-122"/>
              </a:rPr>
              <a:t>A</a:t>
            </a:r>
            <a:r>
              <a:rPr lang="en-US" altLang="zh-CN" b="1" baseline="-25000" dirty="0">
                <a:ea typeface="宋体" panose="02010600030101010101" pitchFamily="2" charset="-122"/>
              </a:rPr>
              <a:t>j</a:t>
            </a:r>
            <a:r>
              <a:rPr lang="zh-CN" altLang="en-US" b="1" dirty="0">
                <a:ea typeface="宋体" panose="02010600030101010101" pitchFamily="2" charset="-122"/>
              </a:rPr>
              <a:t>，</a:t>
            </a:r>
            <a:r>
              <a:rPr lang="zh-CN" altLang="en-US" b="1" dirty="0">
                <a:latin typeface="宋体" panose="02010600030101010101" pitchFamily="2" charset="-122"/>
                <a:ea typeface="宋体" panose="02010600030101010101" pitchFamily="2" charset="-122"/>
              </a:rPr>
              <a:t>若</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是</a:t>
            </a:r>
            <a:r>
              <a:rPr lang="el-GR" altLang="zh-CN" b="1" dirty="0">
                <a:latin typeface="宋体" panose="02010600030101010101" pitchFamily="2" charset="-122"/>
                <a:ea typeface="宋体" panose="02010600030101010101" pitchFamily="2" charset="-122"/>
              </a:rPr>
              <a:t>ε</a:t>
            </a:r>
            <a:r>
              <a:rPr lang="zh-CN" altLang="en-US" b="1" dirty="0">
                <a:latin typeface="宋体" panose="02010600030101010101" pitchFamily="2" charset="-122"/>
                <a:ea typeface="宋体" panose="02010600030101010101" pitchFamily="2" charset="-122"/>
              </a:rPr>
              <a:t>，则有</a:t>
            </a:r>
            <a:r>
              <a:rPr lang="en-US" altLang="zh-CN" b="1" dirty="0">
                <a:ea typeface="宋体" panose="02010600030101010101" pitchFamily="2" charset="-122"/>
              </a:rPr>
              <a:t>A</a:t>
            </a:r>
            <a:r>
              <a:rPr lang="en-US" altLang="zh-CN" b="1" baseline="-25000" dirty="0">
                <a:ea typeface="宋体" panose="02010600030101010101" pitchFamily="2" charset="-122"/>
              </a:rPr>
              <a:t>i </a:t>
            </a:r>
            <a:r>
              <a:rPr lang="en-US" altLang="zh-CN" b="1" dirty="0">
                <a:latin typeface="宋体" panose="02010600030101010101" pitchFamily="2" charset="-122"/>
                <a:ea typeface="宋体" panose="02010600030101010101" pitchFamily="2" charset="-122"/>
              </a:rPr>
              <a:t>→</a:t>
            </a:r>
            <a:r>
              <a:rPr lang="en-US" altLang="zh-CN" b="1" dirty="0">
                <a:ea typeface="宋体" panose="02010600030101010101" pitchFamily="2" charset="-122"/>
              </a:rPr>
              <a:t>A</a:t>
            </a:r>
            <a:r>
              <a:rPr lang="en-US" altLang="zh-CN" b="1" baseline="-25000" dirty="0">
                <a:ea typeface="宋体" panose="02010600030101010101" pitchFamily="2" charset="-122"/>
              </a:rPr>
              <a:t>j</a:t>
            </a:r>
            <a:endParaRPr lang="en-US" altLang="zh-CN" b="1" dirty="0">
              <a:ea typeface="宋体" panose="02010600030101010101" pitchFamily="2" charset="-122"/>
            </a:endParaRPr>
          </a:p>
          <a:p>
            <a:pPr lvl="1"/>
            <a:r>
              <a:rPr lang="zh-CN" altLang="en-US" b="1" dirty="0">
                <a:ea typeface="宋体" panose="02010600030101010101" pitchFamily="2" charset="-122"/>
              </a:rPr>
              <a:t>如果</a:t>
            </a:r>
            <a:r>
              <a:rPr lang="en-US" altLang="zh-CN" b="1" dirty="0">
                <a:ea typeface="宋体" panose="02010600030101010101" pitchFamily="2" charset="-122"/>
              </a:rPr>
              <a:t>i</a:t>
            </a:r>
            <a:r>
              <a:rPr lang="zh-CN" altLang="en-US" b="1" dirty="0">
                <a:ea typeface="宋体" panose="02010600030101010101" pitchFamily="2" charset="-122"/>
              </a:rPr>
              <a:t>是一个接受状态，则加入产生式</a:t>
            </a:r>
            <a:r>
              <a:rPr lang="en-US" altLang="zh-CN" b="1" dirty="0">
                <a:ea typeface="宋体" panose="02010600030101010101" pitchFamily="2" charset="-122"/>
              </a:rPr>
              <a:t>A</a:t>
            </a:r>
            <a:r>
              <a:rPr lang="en-US" altLang="zh-CN" b="1" baseline="-25000" dirty="0">
                <a:ea typeface="宋体" panose="02010600030101010101" pitchFamily="2" charset="-122"/>
              </a:rPr>
              <a:t>i </a:t>
            </a:r>
            <a:r>
              <a:rPr lang="en-US" altLang="zh-CN" b="1" dirty="0">
                <a:latin typeface="宋体" panose="02010600030101010101" pitchFamily="2" charset="-122"/>
                <a:ea typeface="宋体" panose="02010600030101010101" pitchFamily="2" charset="-122"/>
              </a:rPr>
              <a:t>→</a:t>
            </a:r>
            <a:r>
              <a:rPr lang="el-GR" altLang="zh-CN" b="1" dirty="0">
                <a:latin typeface="宋体" panose="02010600030101010101" pitchFamily="2" charset="-122"/>
                <a:ea typeface="宋体" panose="02010600030101010101" pitchFamily="2" charset="-122"/>
              </a:rPr>
              <a:t>ε</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如果</a:t>
            </a:r>
            <a:r>
              <a:rPr lang="en-US" altLang="zh-CN" b="1" dirty="0">
                <a:ea typeface="宋体" panose="02010600030101010101" pitchFamily="2" charset="-122"/>
              </a:rPr>
              <a:t>i</a:t>
            </a:r>
            <a:r>
              <a:rPr lang="zh-CN" altLang="en-US" b="1" dirty="0">
                <a:latin typeface="宋体" panose="02010600030101010101" pitchFamily="2" charset="-122"/>
                <a:ea typeface="宋体" panose="02010600030101010101" pitchFamily="2" charset="-122"/>
              </a:rPr>
              <a:t>是自动机的开始状态，则令</a:t>
            </a:r>
            <a:r>
              <a:rPr lang="en-US" altLang="zh-CN" b="1" dirty="0">
                <a:ea typeface="宋体" panose="02010600030101010101" pitchFamily="2" charset="-122"/>
              </a:rPr>
              <a:t>A</a:t>
            </a:r>
            <a:r>
              <a:rPr lang="en-US" altLang="zh-CN" b="1" baseline="-25000" dirty="0">
                <a:ea typeface="宋体" panose="02010600030101010101" pitchFamily="2" charset="-122"/>
              </a:rPr>
              <a:t>i</a:t>
            </a:r>
            <a:r>
              <a:rPr lang="zh-CN" altLang="en-US" b="1" dirty="0">
                <a:latin typeface="宋体" panose="02010600030101010101" pitchFamily="2" charset="-122"/>
                <a:ea typeface="宋体" panose="02010600030101010101" pitchFamily="2" charset="-122"/>
              </a:rPr>
              <a:t>是所得文法的开始符号</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设计文法（１）</a:t>
            </a:r>
            <a:endParaRPr lang="zh-CN" altLang="en-US" dirty="0">
              <a:latin typeface="宋体" panose="02010600030101010101" pitchFamily="2" charset="-122"/>
              <a:ea typeface="宋体" panose="02010600030101010101" pitchFamily="2" charset="-122"/>
            </a:endParaRPr>
          </a:p>
        </p:txBody>
      </p:sp>
      <p:sp>
        <p:nvSpPr>
          <p:cNvPr id="45059" name="Rectangle 3"/>
          <p:cNvSpPr>
            <a:spLocks noGrp="1"/>
          </p:cNvSpPr>
          <p:nvPr>
            <p:ph idx="1"/>
          </p:nvPr>
        </p:nvSpPr>
        <p:spPr>
          <a:xfrm>
            <a:off x="755650" y="1371600"/>
            <a:ext cx="8064500" cy="4876800"/>
          </a:xfrm>
        </p:spPr>
        <p:txBody>
          <a:bodyPr vert="horz" wrap="square" lIns="92075" tIns="46038" rIns="92075" bIns="46038" anchor="t" anchorCtr="0"/>
          <a:p>
            <a:r>
              <a:rPr lang="zh-CN" altLang="en-US" sz="2800" b="1" dirty="0">
                <a:ea typeface="宋体" panose="02010600030101010101" pitchFamily="2" charset="-122"/>
              </a:rPr>
              <a:t>上下文无关文法可以描述程序设计语言的大部分语法</a:t>
            </a:r>
            <a:endParaRPr lang="zh-CN" altLang="en-US" sz="2800" b="1" dirty="0">
              <a:ea typeface="宋体" panose="02010600030101010101" pitchFamily="2" charset="-122"/>
            </a:endParaRPr>
          </a:p>
          <a:p>
            <a:pPr lvl="1"/>
            <a:r>
              <a:rPr lang="zh-CN" altLang="en-US" b="1" dirty="0">
                <a:ea typeface="宋体" panose="02010600030101010101" pitchFamily="2" charset="-122"/>
              </a:rPr>
              <a:t>考虑到一些分析器的限制，可能需要对文法进行改写</a:t>
            </a:r>
            <a:endParaRPr lang="en-US" altLang="zh-CN" b="1" dirty="0">
              <a:ea typeface="宋体" panose="02010600030101010101" pitchFamily="2" charset="-122"/>
            </a:endParaRPr>
          </a:p>
          <a:p>
            <a:pPr lvl="2"/>
            <a:r>
              <a:rPr lang="zh-CN" altLang="en-US" b="1" dirty="0">
                <a:ea typeface="宋体" panose="02010600030101010101" pitchFamily="2" charset="-122"/>
              </a:rPr>
              <a:t>去除二义性</a:t>
            </a:r>
            <a:endParaRPr lang="en-US" altLang="zh-CN" b="1" dirty="0">
              <a:ea typeface="宋体" panose="02010600030101010101" pitchFamily="2" charset="-122"/>
            </a:endParaRPr>
          </a:p>
          <a:p>
            <a:pPr lvl="2"/>
            <a:r>
              <a:rPr lang="zh-CN" altLang="en-US" b="1" dirty="0">
                <a:ea typeface="宋体" panose="02010600030101010101" pitchFamily="2" charset="-122"/>
              </a:rPr>
              <a:t>提取左公因子</a:t>
            </a:r>
            <a:endParaRPr lang="en-US" altLang="zh-CN" b="1" dirty="0">
              <a:ea typeface="宋体" panose="02010600030101010101" pitchFamily="2" charset="-122"/>
            </a:endParaRPr>
          </a:p>
          <a:p>
            <a:pPr lvl="2"/>
            <a:r>
              <a:rPr lang="zh-CN" altLang="en-US" b="1" dirty="0">
                <a:ea typeface="宋体" panose="02010600030101010101" pitchFamily="2" charset="-122"/>
              </a:rPr>
              <a:t>消除左递归</a:t>
            </a:r>
            <a:endParaRPr lang="zh-CN" altLang="en-US" b="1" dirty="0">
              <a:ea typeface="宋体" panose="02010600030101010101" pitchFamily="2" charset="-122"/>
            </a:endParaRPr>
          </a:p>
          <a:p>
            <a:pPr lvl="1">
              <a:lnSpc>
                <a:spcPct val="90000"/>
              </a:lnSpc>
            </a:pPr>
            <a:r>
              <a:rPr lang="zh-CN" altLang="en-US" b="1" dirty="0">
                <a:ea typeface="宋体" panose="02010600030101010101" pitchFamily="2" charset="-122"/>
              </a:rPr>
              <a:t>有些语言的约定，需要</a:t>
            </a:r>
            <a:r>
              <a:rPr lang="zh-CN" altLang="en-US" b="1" dirty="0">
                <a:latin typeface="宋体" panose="02010600030101010101" pitchFamily="2" charset="-122"/>
                <a:ea typeface="宋体" panose="02010600030101010101" pitchFamily="2" charset="-122"/>
              </a:rPr>
              <a:t>在分析器的其它部分完成</a:t>
            </a:r>
            <a:endParaRPr lang="zh-CN" altLang="en-US"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变量的先声明，后使用</a:t>
            </a:r>
            <a:endParaRPr lang="zh-CN" altLang="en-US"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函数调用的参数结合</a:t>
            </a:r>
            <a:endParaRPr lang="zh-CN" altLang="en-US"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b="1" dirty="0">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sp>
        <p:nvSpPr>
          <p:cNvPr id="2" name="文本框 1"/>
          <p:cNvSpPr txBox="1"/>
          <p:nvPr/>
        </p:nvSpPr>
        <p:spPr>
          <a:xfrm>
            <a:off x="3060700" y="7143750"/>
            <a:ext cx="3048000" cy="460375"/>
          </a:xfrm>
          <a:prstGeom prst="rect">
            <a:avLst/>
          </a:prstGeom>
          <a:noFill/>
        </p:spPr>
        <p:txBody>
          <a:bodyPr wrap="square" rtlCol="0">
            <a:spAutoFit/>
          </a:bodyPr>
          <a:p>
            <a:endParaRPr lang="zh-CN" altLang="en-US"/>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设计文法（２）</a:t>
            </a:r>
            <a:endParaRPr lang="zh-CN" altLang="en-US" dirty="0">
              <a:latin typeface="宋体" panose="02010600030101010101" pitchFamily="2" charset="-122"/>
              <a:ea typeface="宋体" panose="02010600030101010101" pitchFamily="2" charset="-122"/>
            </a:endParaRPr>
          </a:p>
        </p:txBody>
      </p:sp>
      <p:sp>
        <p:nvSpPr>
          <p:cNvPr id="30723" name="Rectangle 3"/>
          <p:cNvSpPr>
            <a:spLocks noGrp="1" noChangeArrowheads="1"/>
          </p:cNvSpPr>
          <p:nvPr>
            <p:ph idx="1"/>
          </p:nvPr>
        </p:nvSpPr>
        <p:spPr>
          <a:xfrm>
            <a:off x="755650" y="1371600"/>
            <a:ext cx="8064500"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词法分析和语法分析</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将语言的语法结构分成词法和语法两个部分，便于模块化</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词法规则简单，用正则表达式表示更加简洁、易于理解，构造的词法分析器效率高</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上下文无关文法适合描述复杂的语言结构，如嵌套结构、对称的括号等</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文法的分解</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将源语言的文法</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分解为若干个子文法：</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G0,G1,…,</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Gn</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文法</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G1,…,</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Gn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分别描述语言的标识符、常数、运算符、界符等基本符号（单词符号），是词法</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文法</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借助基本符号来描述语言结构的文法，是语法</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词法的符号作为终结符出现在文法</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endPar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49155" name="Rectangle 3"/>
          <p:cNvSpPr>
            <a:spLocks noGrp="1"/>
          </p:cNvSpPr>
          <p:nvPr>
            <p:ph idx="1"/>
          </p:nvPr>
        </p:nvSpPr>
        <p:spPr>
          <a:xfrm>
            <a:off x="827088" y="1600200"/>
            <a:ext cx="7554912" cy="4724400"/>
          </a:xfrm>
        </p:spPr>
        <p:txBody>
          <a:bodyPr vert="horz" wrap="square" lIns="92075" tIns="46038" rIns="92075" bIns="46038" anchor="t" anchorCtr="0"/>
          <a:p>
            <a:r>
              <a:rPr lang="zh-CN" altLang="en-US" sz="2800" b="1" dirty="0">
                <a:ea typeface="宋体" panose="02010600030101010101" pitchFamily="2" charset="-122"/>
              </a:rPr>
              <a:t>二义性的消除</a:t>
            </a:r>
            <a:endParaRPr lang="en-US" altLang="zh-CN" sz="2800" b="1" dirty="0">
              <a:ea typeface="宋体" panose="02010600030101010101" pitchFamily="2" charset="-122"/>
            </a:endParaRPr>
          </a:p>
          <a:p>
            <a:pPr lvl="1"/>
            <a:r>
              <a:rPr lang="zh-CN" altLang="en-US" sz="2600" b="1" dirty="0">
                <a:ea typeface="宋体" panose="02010600030101010101" pitchFamily="2" charset="-122"/>
              </a:rPr>
              <a:t>悬空</a:t>
            </a:r>
            <a:r>
              <a:rPr lang="en-US" altLang="zh-CN" sz="2600" b="1" dirty="0">
                <a:ea typeface="宋体" panose="02010600030101010101" pitchFamily="2" charset="-122"/>
              </a:rPr>
              <a:t>else</a:t>
            </a:r>
            <a:r>
              <a:rPr lang="zh-CN" altLang="en-US" sz="2600" b="1" dirty="0">
                <a:ea typeface="宋体" panose="02010600030101010101" pitchFamily="2" charset="-122"/>
              </a:rPr>
              <a:t>二义性的处理</a:t>
            </a:r>
            <a:endParaRPr lang="zh-CN" altLang="en-US" sz="2600" b="1" dirty="0">
              <a:ea typeface="宋体" panose="02010600030101010101" pitchFamily="2" charset="-122"/>
            </a:endParaRPr>
          </a:p>
          <a:p>
            <a:pPr lvl="3">
              <a:buNone/>
            </a:pPr>
            <a:r>
              <a:rPr lang="en-US" altLang="zh-CN" sz="2200" b="1" dirty="0">
                <a:ea typeface="宋体" panose="02010600030101010101" pitchFamily="2" charset="-122"/>
              </a:rPr>
              <a:t>stmt→ if expr then stmt</a:t>
            </a:r>
            <a:endParaRPr lang="en-US" altLang="zh-CN" sz="2200" b="1" dirty="0">
              <a:ea typeface="宋体" panose="02010600030101010101" pitchFamily="2" charset="-122"/>
            </a:endParaRPr>
          </a:p>
          <a:p>
            <a:pPr lvl="3">
              <a:buNone/>
            </a:pPr>
            <a:r>
              <a:rPr lang="en-US" altLang="zh-CN" sz="2200" b="1" dirty="0">
                <a:ea typeface="宋体" panose="02010600030101010101" pitchFamily="2" charset="-122"/>
              </a:rPr>
              <a:t>		   | if expr then stmt else stmt</a:t>
            </a:r>
            <a:endParaRPr lang="en-US" altLang="zh-CN" sz="2200" b="1" dirty="0">
              <a:ea typeface="宋体" panose="02010600030101010101" pitchFamily="2" charset="-122"/>
            </a:endParaRPr>
          </a:p>
          <a:p>
            <a:pPr lvl="3">
              <a:buNone/>
            </a:pPr>
            <a:r>
              <a:rPr lang="en-US" altLang="zh-CN" sz="2200" b="1" dirty="0">
                <a:ea typeface="宋体" panose="02010600030101010101" pitchFamily="2" charset="-122"/>
              </a:rPr>
              <a:t>		   | other</a:t>
            </a:r>
            <a:endParaRPr lang="en-US" altLang="zh-CN" sz="2200" b="1" dirty="0">
              <a:ea typeface="宋体" panose="02010600030101010101" pitchFamily="2" charset="-122"/>
            </a:endParaRPr>
          </a:p>
          <a:p>
            <a:pPr lvl="3">
              <a:buNone/>
            </a:pPr>
            <a:r>
              <a:rPr lang="en-US" altLang="zh-CN" sz="2200" b="1" dirty="0">
                <a:ea typeface="宋体" panose="02010600030101010101" pitchFamily="2" charset="-122"/>
              </a:rPr>
              <a:t>other</a:t>
            </a:r>
            <a:r>
              <a:rPr lang="zh-CN" altLang="en-US" sz="2200" b="1" dirty="0">
                <a:ea typeface="宋体" panose="02010600030101010101" pitchFamily="2" charset="-122"/>
              </a:rPr>
              <a:t>表示其它的语句</a:t>
            </a:r>
            <a:endParaRPr lang="en-US" altLang="zh-CN" sz="2200" b="1" dirty="0">
              <a:ea typeface="宋体" panose="02010600030101010101" pitchFamily="2" charset="-122"/>
            </a:endParaRPr>
          </a:p>
          <a:p>
            <a:pPr lvl="2"/>
            <a:r>
              <a:rPr lang="zh-CN" altLang="en-US" sz="2400" b="1" dirty="0">
                <a:ea typeface="宋体" panose="02010600030101010101" pitchFamily="2" charset="-122"/>
              </a:rPr>
              <a:t>如果每个</a:t>
            </a:r>
            <a:r>
              <a:rPr lang="en-US" altLang="zh-CN" sz="2400" b="1" dirty="0">
                <a:ea typeface="宋体" panose="02010600030101010101" pitchFamily="2" charset="-122"/>
              </a:rPr>
              <a:t>stmt</a:t>
            </a:r>
            <a:r>
              <a:rPr lang="zh-CN" altLang="en-US" sz="2400" b="1" dirty="0">
                <a:ea typeface="宋体" panose="02010600030101010101" pitchFamily="2" charset="-122"/>
              </a:rPr>
              <a:t>都是完整的</a:t>
            </a:r>
            <a:r>
              <a:rPr lang="en-US" altLang="zh-CN" sz="2400" b="1" dirty="0">
                <a:ea typeface="宋体" panose="02010600030101010101" pitchFamily="2" charset="-122"/>
              </a:rPr>
              <a:t>if-then-else</a:t>
            </a:r>
            <a:r>
              <a:rPr lang="zh-CN" altLang="en-US" sz="2400" b="1" dirty="0">
                <a:ea typeface="宋体" panose="02010600030101010101" pitchFamily="2" charset="-122"/>
              </a:rPr>
              <a:t>格式，或其他的语句，则分析树不会有多棵</a:t>
            </a:r>
            <a:endParaRPr lang="en-US" altLang="zh-CN" sz="2400" b="1" dirty="0">
              <a:ea typeface="宋体" panose="02010600030101010101" pitchFamily="2" charset="-122"/>
            </a:endParaRPr>
          </a:p>
          <a:p>
            <a:pPr lvl="3"/>
            <a:r>
              <a:rPr lang="zh-CN" altLang="en-US" sz="2200" b="1" dirty="0">
                <a:ea typeface="宋体" panose="02010600030101010101" pitchFamily="2" charset="-122"/>
              </a:rPr>
              <a:t>如</a:t>
            </a:r>
            <a:r>
              <a:rPr lang="en-US" altLang="zh-CN" sz="2200" b="1" dirty="0">
                <a:ea typeface="宋体" panose="02010600030101010101" pitchFamily="2" charset="-122"/>
              </a:rPr>
              <a:t>if</a:t>
            </a:r>
            <a:r>
              <a:rPr lang="zh-CN" altLang="en-US" sz="2200" b="1" dirty="0">
                <a:ea typeface="宋体" panose="02010600030101010101" pitchFamily="2" charset="-122"/>
              </a:rPr>
              <a:t> </a:t>
            </a:r>
            <a:r>
              <a:rPr lang="en-US" altLang="zh-CN" sz="2200" b="1" i="1" dirty="0">
                <a:ea typeface="宋体" panose="02010600030101010101" pitchFamily="2" charset="-122"/>
              </a:rPr>
              <a:t>E</a:t>
            </a:r>
            <a:r>
              <a:rPr lang="en-US" altLang="zh-CN" sz="2200" b="1" i="1" baseline="-25000" dirty="0">
                <a:ea typeface="宋体" panose="02010600030101010101" pitchFamily="2" charset="-122"/>
              </a:rPr>
              <a:t>1</a:t>
            </a:r>
            <a:r>
              <a:rPr lang="zh-CN" altLang="en-US" sz="2200" b="1" dirty="0">
                <a:ea typeface="宋体" panose="02010600030101010101" pitchFamily="2" charset="-122"/>
              </a:rPr>
              <a:t> </a:t>
            </a:r>
            <a:r>
              <a:rPr lang="en-US" altLang="zh-CN" sz="2200" b="1" dirty="0">
                <a:ea typeface="宋体" panose="02010600030101010101" pitchFamily="2" charset="-122"/>
              </a:rPr>
              <a:t>then </a:t>
            </a:r>
            <a:r>
              <a:rPr lang="en-US" altLang="zh-CN" sz="2200" b="1" i="1" dirty="0">
                <a:ea typeface="宋体" panose="02010600030101010101" pitchFamily="2" charset="-122"/>
              </a:rPr>
              <a:t>S</a:t>
            </a:r>
            <a:r>
              <a:rPr lang="en-US" altLang="zh-CN" sz="2200" b="1" i="1" baseline="-25000" dirty="0">
                <a:ea typeface="宋体" panose="02010600030101010101" pitchFamily="2" charset="-122"/>
              </a:rPr>
              <a:t>1 </a:t>
            </a:r>
            <a:r>
              <a:rPr lang="en-US" altLang="zh-CN" sz="2200" b="1" dirty="0">
                <a:ea typeface="宋体" panose="02010600030101010101" pitchFamily="2" charset="-122"/>
              </a:rPr>
              <a:t>else if </a:t>
            </a:r>
            <a:r>
              <a:rPr lang="en-US" altLang="zh-CN" sz="2200" b="1" i="1" dirty="0">
                <a:ea typeface="宋体" panose="02010600030101010101" pitchFamily="2" charset="-122"/>
              </a:rPr>
              <a:t>E</a:t>
            </a:r>
            <a:r>
              <a:rPr lang="en-US" altLang="zh-CN" sz="2200" b="1" i="1" baseline="-25000" dirty="0">
                <a:ea typeface="宋体" panose="02010600030101010101" pitchFamily="2" charset="-122"/>
              </a:rPr>
              <a:t>2 </a:t>
            </a:r>
            <a:r>
              <a:rPr lang="en-US" altLang="zh-CN" sz="2200" b="1" dirty="0">
                <a:ea typeface="宋体" panose="02010600030101010101" pitchFamily="2" charset="-122"/>
              </a:rPr>
              <a:t>then </a:t>
            </a:r>
            <a:r>
              <a:rPr lang="en-US" altLang="zh-CN" sz="2200" b="1" i="1" dirty="0">
                <a:ea typeface="宋体" panose="02010600030101010101" pitchFamily="2" charset="-122"/>
              </a:rPr>
              <a:t>S</a:t>
            </a:r>
            <a:r>
              <a:rPr lang="en-US" altLang="zh-CN" sz="2200" b="1" i="1" baseline="-25000" dirty="0">
                <a:ea typeface="宋体" panose="02010600030101010101" pitchFamily="2" charset="-122"/>
              </a:rPr>
              <a:t>2  </a:t>
            </a:r>
            <a:r>
              <a:rPr lang="en-US" altLang="zh-CN" sz="2200" b="1" dirty="0">
                <a:ea typeface="宋体" panose="02010600030101010101" pitchFamily="2" charset="-122"/>
              </a:rPr>
              <a:t>else</a:t>
            </a:r>
            <a:r>
              <a:rPr lang="en-US" altLang="zh-CN" sz="2200" b="1" i="1" dirty="0">
                <a:ea typeface="宋体" panose="02010600030101010101" pitchFamily="2" charset="-122"/>
              </a:rPr>
              <a:t> S</a:t>
            </a:r>
            <a:r>
              <a:rPr lang="en-US" altLang="zh-CN" sz="2200" b="1" i="1" baseline="-25000" dirty="0">
                <a:ea typeface="宋体" panose="02010600030101010101" pitchFamily="2" charset="-122"/>
              </a:rPr>
              <a:t>3</a:t>
            </a:r>
            <a:endParaRPr lang="en-US" altLang="zh-CN" sz="2200" b="1" dirty="0">
              <a:ea typeface="宋体" panose="02010600030101010101" pitchFamily="2" charset="-122"/>
            </a:endParaRPr>
          </a:p>
          <a:p>
            <a:pPr lvl="2"/>
            <a:r>
              <a:rPr lang="zh-CN" altLang="en-US" sz="2400" b="1" dirty="0">
                <a:ea typeface="宋体" panose="02010600030101010101" pitchFamily="2" charset="-122"/>
              </a:rPr>
              <a:t>不满足上述条件，分析树可能有多棵</a:t>
            </a:r>
            <a:endParaRPr lang="zh-CN" altLang="en-US" sz="2400" b="1" dirty="0">
              <a:ea typeface="宋体" panose="02010600030101010101" pitchFamily="2" charset="-12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graphicFrame>
        <p:nvGraphicFramePr>
          <p:cNvPr id="51203" name="Object 5"/>
          <p:cNvGraphicFramePr>
            <a:graphicFrameLocks noChangeAspect="1"/>
          </p:cNvGraphicFramePr>
          <p:nvPr/>
        </p:nvGraphicFramePr>
        <p:xfrm>
          <a:off x="1524000" y="1600200"/>
          <a:ext cx="6858000" cy="4267200"/>
        </p:xfrm>
        <a:graphic>
          <a:graphicData uri="http://schemas.openxmlformats.org/presentationml/2006/ole">
            <mc:AlternateContent xmlns:mc="http://schemas.openxmlformats.org/markup-compatibility/2006">
              <mc:Choice xmlns:v="urn:schemas-microsoft-com:vml" Requires="v">
                <p:oleObj spid="_x0000_s3094" name="" r:id="rId1" imgW="8255000" imgH="4368800" progId="Visio.Drawing.11">
                  <p:embed/>
                </p:oleObj>
              </mc:Choice>
              <mc:Fallback>
                <p:oleObj name="" r:id="rId1" imgW="8255000" imgH="4368800" progId="Visio.Drawing.11">
                  <p:embed/>
                  <p:pic>
                    <p:nvPicPr>
                      <p:cNvPr id="0" name="图片 3093"/>
                      <p:cNvPicPr/>
                      <p:nvPr/>
                    </p:nvPicPr>
                    <p:blipFill>
                      <a:blip r:embed="rId2"/>
                      <a:stretch>
                        <a:fillRect/>
                      </a:stretch>
                    </p:blipFill>
                    <p:spPr>
                      <a:xfrm>
                        <a:off x="1524000" y="1600200"/>
                        <a:ext cx="6858000" cy="4267200"/>
                      </a:xfrm>
                      <a:prstGeom prst="rect">
                        <a:avLst/>
                      </a:prstGeom>
                      <a:noFill/>
                      <a:ln w="38100">
                        <a:noFill/>
                        <a:miter/>
                      </a:ln>
                    </p:spPr>
                  </p:pic>
                </p:oleObj>
              </mc:Fallback>
            </mc:AlternateContent>
          </a:graphicData>
        </a:graphic>
      </p:graphicFrame>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3251" name="Rectangle 3"/>
          <p:cNvSpPr>
            <a:spLocks noGrp="1"/>
          </p:cNvSpPr>
          <p:nvPr>
            <p:ph idx="1"/>
          </p:nvPr>
        </p:nvSpPr>
        <p:spPr>
          <a:xfrm>
            <a:off x="990600" y="1600200"/>
            <a:ext cx="7391400" cy="4724400"/>
          </a:xfrm>
        </p:spPr>
        <p:txBody>
          <a:bodyPr vert="horz" wrap="square" lIns="92075" tIns="46038" rIns="92075" bIns="46038" anchor="t" anchorCtr="0"/>
          <a:p>
            <a:pPr lvl="4">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if </a:t>
            </a:r>
            <a:r>
              <a:rPr lang="en-US" altLang="zh-CN" sz="2000" i="1" dirty="0">
                <a:latin typeface="宋体" panose="02010600030101010101" pitchFamily="2" charset="-122"/>
                <a:ea typeface="宋体" panose="02010600030101010101" pitchFamily="2" charset="-122"/>
              </a:rPr>
              <a:t>E</a:t>
            </a:r>
            <a:r>
              <a:rPr lang="en-US" altLang="zh-CN" sz="2000" i="1" baseline="-25000" dirty="0">
                <a:latin typeface="宋体" panose="02010600030101010101" pitchFamily="2" charset="-122"/>
                <a:ea typeface="宋体" panose="02010600030101010101" pitchFamily="2" charset="-122"/>
              </a:rPr>
              <a:t>1</a:t>
            </a:r>
            <a:r>
              <a:rPr lang="en-US" altLang="zh-CN" sz="2000" b="1" dirty="0">
                <a:latin typeface="宋体" panose="02010600030101010101" pitchFamily="2" charset="-122"/>
                <a:ea typeface="宋体" panose="02010600030101010101" pitchFamily="2" charset="-122"/>
              </a:rPr>
              <a:t> then if </a:t>
            </a:r>
            <a:r>
              <a:rPr lang="en-US" altLang="zh-CN" sz="2000" i="1" dirty="0">
                <a:latin typeface="宋体" panose="02010600030101010101" pitchFamily="2" charset="-122"/>
                <a:ea typeface="宋体" panose="02010600030101010101" pitchFamily="2" charset="-122"/>
              </a:rPr>
              <a:t>E</a:t>
            </a:r>
            <a:r>
              <a:rPr lang="en-US" altLang="zh-CN" sz="2000" i="1" baseline="-25000" dirty="0">
                <a:latin typeface="宋体" panose="02010600030101010101" pitchFamily="2" charset="-122"/>
                <a:ea typeface="宋体" panose="02010600030101010101" pitchFamily="2" charset="-122"/>
              </a:rPr>
              <a:t>2</a:t>
            </a:r>
            <a:r>
              <a:rPr lang="en-US" altLang="zh-CN" sz="2000" b="1" dirty="0">
                <a:latin typeface="宋体" panose="02010600030101010101" pitchFamily="2" charset="-122"/>
                <a:ea typeface="宋体" panose="02010600030101010101" pitchFamily="2" charset="-122"/>
              </a:rPr>
              <a:t> then </a:t>
            </a:r>
            <a:r>
              <a:rPr lang="en-US" altLang="zh-CN" sz="2000" i="1" dirty="0">
                <a:latin typeface="宋体" panose="02010600030101010101" pitchFamily="2" charset="-122"/>
                <a:ea typeface="宋体" panose="02010600030101010101" pitchFamily="2" charset="-122"/>
              </a:rPr>
              <a:t>S</a:t>
            </a:r>
            <a:r>
              <a:rPr lang="en-US" altLang="zh-CN" sz="2000" i="1" baseline="-25000" dirty="0">
                <a:latin typeface="宋体" panose="02010600030101010101" pitchFamily="2" charset="-122"/>
                <a:ea typeface="宋体" panose="02010600030101010101" pitchFamily="2" charset="-122"/>
              </a:rPr>
              <a:t>1</a:t>
            </a:r>
            <a:r>
              <a:rPr lang="en-US" altLang="zh-CN" sz="2000" b="1" dirty="0">
                <a:latin typeface="宋体" panose="02010600030101010101" pitchFamily="2" charset="-122"/>
                <a:ea typeface="宋体" panose="02010600030101010101" pitchFamily="2" charset="-122"/>
              </a:rPr>
              <a:t> else </a:t>
            </a:r>
            <a:r>
              <a:rPr lang="en-US" altLang="zh-CN" sz="2000" i="1" dirty="0">
                <a:latin typeface="宋体" panose="02010600030101010101" pitchFamily="2" charset="-122"/>
                <a:ea typeface="宋体" panose="02010600030101010101" pitchFamily="2" charset="-122"/>
              </a:rPr>
              <a:t>S</a:t>
            </a:r>
            <a:r>
              <a:rPr lang="en-US" altLang="zh-CN" sz="2000" i="1" baseline="-25000" dirty="0">
                <a:latin typeface="宋体" panose="02010600030101010101" pitchFamily="2" charset="-122"/>
                <a:ea typeface="宋体" panose="02010600030101010101" pitchFamily="2" charset="-122"/>
              </a:rPr>
              <a:t>2</a:t>
            </a:r>
            <a:endParaRPr lang="en-US" altLang="zh-CN" sz="2000" i="1" baseline="-25000" dirty="0">
              <a:latin typeface="宋体" panose="02010600030101010101" pitchFamily="2" charset="-122"/>
              <a:ea typeface="宋体" panose="02010600030101010101" pitchFamily="2" charset="-122"/>
            </a:endParaRPr>
          </a:p>
        </p:txBody>
      </p:sp>
      <p:graphicFrame>
        <p:nvGraphicFramePr>
          <p:cNvPr id="53252" name="Object 4"/>
          <p:cNvGraphicFramePr>
            <a:graphicFrameLocks noChangeAspect="1"/>
          </p:cNvGraphicFramePr>
          <p:nvPr/>
        </p:nvGraphicFramePr>
        <p:xfrm>
          <a:off x="990600" y="2362200"/>
          <a:ext cx="3505200" cy="3429000"/>
        </p:xfrm>
        <a:graphic>
          <a:graphicData uri="http://schemas.openxmlformats.org/presentationml/2006/ole">
            <mc:AlternateContent xmlns:mc="http://schemas.openxmlformats.org/markup-compatibility/2006">
              <mc:Choice xmlns:v="urn:schemas-microsoft-com:vml" Requires="v">
                <p:oleObj spid="_x0000_s3093" name="" r:id="rId1" imgW="6096000" imgH="3632200" progId="Visio.Drawing.11">
                  <p:embed/>
                </p:oleObj>
              </mc:Choice>
              <mc:Fallback>
                <p:oleObj name="" r:id="rId1" imgW="6096000" imgH="3632200" progId="Visio.Drawing.11">
                  <p:embed/>
                  <p:pic>
                    <p:nvPicPr>
                      <p:cNvPr id="0" name="图片 3092"/>
                      <p:cNvPicPr/>
                      <p:nvPr/>
                    </p:nvPicPr>
                    <p:blipFill>
                      <a:blip r:embed="rId2"/>
                      <a:stretch>
                        <a:fillRect/>
                      </a:stretch>
                    </p:blipFill>
                    <p:spPr>
                      <a:xfrm>
                        <a:off x="990600" y="2362200"/>
                        <a:ext cx="3505200" cy="3429000"/>
                      </a:xfrm>
                      <a:prstGeom prst="rect">
                        <a:avLst/>
                      </a:prstGeom>
                      <a:noFill/>
                      <a:ln w="38100">
                        <a:noFill/>
                        <a:miter/>
                      </a:ln>
                    </p:spPr>
                  </p:pic>
                </p:oleObj>
              </mc:Fallback>
            </mc:AlternateContent>
          </a:graphicData>
        </a:graphic>
      </p:graphicFrame>
      <p:graphicFrame>
        <p:nvGraphicFramePr>
          <p:cNvPr id="53253" name="Object 5"/>
          <p:cNvGraphicFramePr>
            <a:graphicFrameLocks noChangeAspect="1"/>
          </p:cNvGraphicFramePr>
          <p:nvPr/>
        </p:nvGraphicFramePr>
        <p:xfrm>
          <a:off x="4724400" y="2438400"/>
          <a:ext cx="3810000" cy="3352800"/>
        </p:xfrm>
        <a:graphic>
          <a:graphicData uri="http://schemas.openxmlformats.org/presentationml/2006/ole">
            <mc:AlternateContent xmlns:mc="http://schemas.openxmlformats.org/markup-compatibility/2006">
              <mc:Choice xmlns:v="urn:schemas-microsoft-com:vml" Requires="v">
                <p:oleObj spid="_x0000_s3091" name="" r:id="rId3" imgW="5613400" imgH="3657600" progId="Visio.Drawing.11">
                  <p:embed/>
                </p:oleObj>
              </mc:Choice>
              <mc:Fallback>
                <p:oleObj name="" r:id="rId3" imgW="5613400" imgH="3657600" progId="Visio.Drawing.11">
                  <p:embed/>
                  <p:pic>
                    <p:nvPicPr>
                      <p:cNvPr id="0" name="图片 3090"/>
                      <p:cNvPicPr/>
                      <p:nvPr/>
                    </p:nvPicPr>
                    <p:blipFill>
                      <a:blip r:embed="rId4"/>
                      <a:stretch>
                        <a:fillRect/>
                      </a:stretch>
                    </p:blipFill>
                    <p:spPr>
                      <a:xfrm>
                        <a:off x="4724400" y="2438400"/>
                        <a:ext cx="3810000" cy="3352800"/>
                      </a:xfrm>
                      <a:prstGeom prst="rect">
                        <a:avLst/>
                      </a:prstGeom>
                      <a:noFill/>
                      <a:ln w="38100">
                        <a:noFill/>
                        <a:miter/>
                      </a:ln>
                    </p:spPr>
                  </p:pic>
                </p:oleObj>
              </mc:Fallback>
            </mc:AlternateContent>
          </a:graphicData>
        </a:graphic>
      </p:graphicFrame>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a:t>
            </a:r>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5299" name="Rectangle 3"/>
          <p:cNvSpPr>
            <a:spLocks noGrp="1"/>
          </p:cNvSpPr>
          <p:nvPr>
            <p:ph idx="1"/>
          </p:nvPr>
        </p:nvSpPr>
        <p:spPr>
          <a:xfrm>
            <a:off x="304800" y="1600200"/>
            <a:ext cx="8610600" cy="4724400"/>
          </a:xfrm>
        </p:spPr>
        <p:txBody>
          <a:bodyPr vert="horz" wrap="square" lIns="92075" tIns="46038" rIns="92075" bIns="46038" anchor="t" anchorCtr="0"/>
          <a:p>
            <a:pPr lvl="1"/>
            <a:r>
              <a:rPr lang="zh-CN" altLang="en-US" sz="2600" b="1" dirty="0">
                <a:ea typeface="宋体" panose="02010600030101010101" pitchFamily="2" charset="-122"/>
              </a:rPr>
              <a:t>这个文法可以如下进行改写</a:t>
            </a:r>
            <a:r>
              <a:rPr lang="en-US" altLang="zh-CN" sz="2600" b="1" dirty="0">
                <a:ea typeface="宋体" panose="02010600030101010101" pitchFamily="2" charset="-122"/>
              </a:rPr>
              <a:t>：</a:t>
            </a:r>
            <a:r>
              <a:rPr lang="zh-CN" altLang="en-US" sz="2600" b="1" dirty="0">
                <a:ea typeface="宋体" panose="02010600030101010101" pitchFamily="2" charset="-122"/>
              </a:rPr>
              <a:t>使得每个</a:t>
            </a:r>
            <a:r>
              <a:rPr lang="en-US" altLang="zh-CN" sz="2600" b="1" dirty="0">
                <a:ea typeface="宋体" panose="02010600030101010101" pitchFamily="2" charset="-122"/>
              </a:rPr>
              <a:t>else</a:t>
            </a:r>
            <a:r>
              <a:rPr lang="zh-CN" altLang="en-US" sz="2600" b="1" dirty="0">
                <a:ea typeface="宋体" panose="02010600030101010101" pitchFamily="2" charset="-122"/>
              </a:rPr>
              <a:t>与前面最近的还没有配对的</a:t>
            </a:r>
            <a:r>
              <a:rPr lang="en-US" altLang="zh-CN" sz="2600" b="1" dirty="0">
                <a:ea typeface="宋体" panose="02010600030101010101" pitchFamily="2" charset="-122"/>
              </a:rPr>
              <a:t>then</a:t>
            </a:r>
            <a:r>
              <a:rPr lang="zh-CN" altLang="en-US" sz="2600" b="1" dirty="0">
                <a:ea typeface="宋体" panose="02010600030101010101" pitchFamily="2" charset="-122"/>
              </a:rPr>
              <a:t>相配对，但实际中较少采用这个文法</a:t>
            </a:r>
            <a:endParaRPr lang="zh-CN" altLang="en-US" sz="2600" b="1" dirty="0">
              <a:ea typeface="宋体" panose="02010600030101010101" pitchFamily="2" charset="-122"/>
            </a:endParaRPr>
          </a:p>
          <a:p>
            <a:pPr lvl="1">
              <a:buFont typeface="Wingdings" panose="05000000000000000000" pitchFamily="2" charset="2"/>
              <a:buNone/>
            </a:pPr>
            <a:r>
              <a:rPr lang="en-US" altLang="zh-CN" sz="2000" i="1" dirty="0">
                <a:latin typeface="宋体" panose="02010600030101010101" pitchFamily="2" charset="-122"/>
                <a:ea typeface="宋体" panose="02010600030101010101" pitchFamily="2" charset="-122"/>
              </a:rPr>
              <a:t>stmt</a:t>
            </a:r>
            <a:r>
              <a:rPr lang="en-US" altLang="zh-CN" sz="2000" b="1"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matched_stmt </a:t>
            </a:r>
            <a:r>
              <a:rPr lang="en-US" altLang="zh-CN" sz="2000" b="1" dirty="0">
                <a:latin typeface="宋体" panose="02010600030101010101" pitchFamily="2" charset="-122"/>
                <a:ea typeface="宋体" panose="02010600030101010101" pitchFamily="2" charset="-122"/>
              </a:rPr>
              <a:t>|</a:t>
            </a:r>
            <a:r>
              <a:rPr lang="en-US" altLang="zh-CN" sz="2000" i="1" dirty="0">
                <a:latin typeface="宋体" panose="02010600030101010101" pitchFamily="2" charset="-122"/>
                <a:ea typeface="宋体" panose="02010600030101010101" pitchFamily="2" charset="-122"/>
              </a:rPr>
              <a:t> open_stmt</a:t>
            </a:r>
            <a:endParaRPr lang="en-US" altLang="zh-CN" sz="2000" i="1" dirty="0">
              <a:latin typeface="宋体" panose="02010600030101010101" pitchFamily="2" charset="-122"/>
              <a:ea typeface="宋体" panose="02010600030101010101" pitchFamily="2" charset="-122"/>
            </a:endParaRPr>
          </a:p>
          <a:p>
            <a:pPr lvl="1">
              <a:buFont typeface="Wingdings" panose="05000000000000000000" pitchFamily="2" charset="2"/>
              <a:buNone/>
            </a:pPr>
            <a:r>
              <a:rPr lang="en-US" altLang="zh-CN" sz="2000" i="1" dirty="0">
                <a:latin typeface="宋体" panose="02010600030101010101" pitchFamily="2" charset="-122"/>
                <a:ea typeface="宋体" panose="02010600030101010101" pitchFamily="2" charset="-122"/>
              </a:rPr>
              <a:t>matched_stmt</a:t>
            </a:r>
            <a:r>
              <a:rPr lang="en-US" altLang="zh-CN" sz="2000" b="1" dirty="0">
                <a:latin typeface="宋体" panose="02010600030101010101" pitchFamily="2" charset="-122"/>
                <a:ea typeface="宋体" panose="02010600030101010101" pitchFamily="2" charset="-122"/>
              </a:rPr>
              <a:t>→ if </a:t>
            </a:r>
            <a:r>
              <a:rPr lang="en-US" altLang="zh-CN" sz="2000" i="1" dirty="0">
                <a:latin typeface="宋体" panose="02010600030101010101" pitchFamily="2" charset="-122"/>
                <a:ea typeface="宋体" panose="02010600030101010101" pitchFamily="2" charset="-122"/>
              </a:rPr>
              <a:t>expr</a:t>
            </a:r>
            <a:r>
              <a:rPr lang="en-US" altLang="zh-CN" sz="2000" b="1" dirty="0">
                <a:latin typeface="宋体" panose="02010600030101010101" pitchFamily="2" charset="-122"/>
                <a:ea typeface="宋体" panose="02010600030101010101" pitchFamily="2" charset="-122"/>
              </a:rPr>
              <a:t> then </a:t>
            </a:r>
            <a:r>
              <a:rPr lang="en-US" altLang="zh-CN" sz="2000" i="1" dirty="0">
                <a:latin typeface="宋体" panose="02010600030101010101" pitchFamily="2" charset="-122"/>
                <a:ea typeface="宋体" panose="02010600030101010101" pitchFamily="2" charset="-122"/>
              </a:rPr>
              <a:t>matched_stmt</a:t>
            </a:r>
            <a:r>
              <a:rPr lang="en-US" altLang="zh-CN" sz="2000" b="1" dirty="0">
                <a:latin typeface="宋体" panose="02010600030101010101" pitchFamily="2" charset="-122"/>
                <a:ea typeface="宋体" panose="02010600030101010101" pitchFamily="2" charset="-122"/>
              </a:rPr>
              <a:t> else </a:t>
            </a:r>
            <a:r>
              <a:rPr lang="en-US" altLang="zh-CN" sz="2000" i="1" dirty="0">
                <a:latin typeface="宋体" panose="02010600030101010101" pitchFamily="2" charset="-122"/>
                <a:ea typeface="宋体" panose="02010600030101010101" pitchFamily="2" charset="-122"/>
              </a:rPr>
              <a:t>matched_stmt</a:t>
            </a:r>
            <a:endParaRPr lang="en-US" altLang="zh-CN" sz="2000" i="1" dirty="0">
              <a:latin typeface="宋体" panose="02010600030101010101" pitchFamily="2" charset="-122"/>
              <a:ea typeface="宋体" panose="02010600030101010101" pitchFamily="2" charset="-122"/>
            </a:endParaRPr>
          </a:p>
          <a:p>
            <a:pPr lvl="1">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			    | other</a:t>
            </a:r>
            <a:endParaRPr lang="en-US" altLang="zh-CN" sz="2000" b="1" dirty="0">
              <a:latin typeface="宋体" panose="02010600030101010101" pitchFamily="2" charset="-122"/>
              <a:ea typeface="宋体" panose="02010600030101010101" pitchFamily="2" charset="-122"/>
            </a:endParaRPr>
          </a:p>
          <a:p>
            <a:pPr lvl="1">
              <a:buFont typeface="Wingdings" panose="05000000000000000000" pitchFamily="2" charset="2"/>
              <a:buNone/>
            </a:pPr>
            <a:r>
              <a:rPr lang="en-US" altLang="zh-CN" sz="2000" i="1" dirty="0">
                <a:latin typeface="宋体" panose="02010600030101010101" pitchFamily="2" charset="-122"/>
                <a:ea typeface="宋体" panose="02010600030101010101" pitchFamily="2" charset="-122"/>
              </a:rPr>
              <a:t>open_stmt</a:t>
            </a:r>
            <a:r>
              <a:rPr lang="en-US" altLang="zh-CN" sz="2000" b="1" dirty="0">
                <a:latin typeface="宋体" panose="02010600030101010101" pitchFamily="2" charset="-122"/>
                <a:ea typeface="宋体" panose="02010600030101010101" pitchFamily="2" charset="-122"/>
              </a:rPr>
              <a:t>→ if </a:t>
            </a:r>
            <a:r>
              <a:rPr lang="en-US" altLang="zh-CN" sz="2000" i="1" dirty="0">
                <a:latin typeface="宋体" panose="02010600030101010101" pitchFamily="2" charset="-122"/>
                <a:ea typeface="宋体" panose="02010600030101010101" pitchFamily="2" charset="-122"/>
              </a:rPr>
              <a:t>expr</a:t>
            </a:r>
            <a:r>
              <a:rPr lang="en-US" altLang="zh-CN" sz="2000" b="1" dirty="0">
                <a:latin typeface="宋体" panose="02010600030101010101" pitchFamily="2" charset="-122"/>
                <a:ea typeface="宋体" panose="02010600030101010101" pitchFamily="2" charset="-122"/>
              </a:rPr>
              <a:t> then </a:t>
            </a:r>
            <a:r>
              <a:rPr lang="en-US" altLang="zh-CN" sz="2000" i="1" dirty="0">
                <a:latin typeface="宋体" panose="02010600030101010101" pitchFamily="2" charset="-122"/>
                <a:ea typeface="宋体" panose="02010600030101010101" pitchFamily="2" charset="-122"/>
              </a:rPr>
              <a:t>stmt</a:t>
            </a:r>
            <a:endParaRPr lang="en-US" altLang="zh-CN" sz="2000" i="1" dirty="0">
              <a:latin typeface="宋体" panose="02010600030101010101" pitchFamily="2" charset="-122"/>
              <a:ea typeface="宋体" panose="02010600030101010101" pitchFamily="2" charset="-122"/>
            </a:endParaRPr>
          </a:p>
          <a:p>
            <a:pPr lvl="1">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			    | if </a:t>
            </a:r>
            <a:r>
              <a:rPr lang="en-US" altLang="zh-CN" sz="2000" i="1" dirty="0">
                <a:latin typeface="宋体" panose="02010600030101010101" pitchFamily="2" charset="-122"/>
                <a:ea typeface="宋体" panose="02010600030101010101" pitchFamily="2" charset="-122"/>
              </a:rPr>
              <a:t>expr</a:t>
            </a:r>
            <a:r>
              <a:rPr lang="en-US" altLang="zh-CN" sz="2000" b="1" dirty="0">
                <a:latin typeface="宋体" panose="02010600030101010101" pitchFamily="2" charset="-122"/>
                <a:ea typeface="宋体" panose="02010600030101010101" pitchFamily="2" charset="-122"/>
              </a:rPr>
              <a:t> then </a:t>
            </a:r>
            <a:r>
              <a:rPr lang="en-US" altLang="zh-CN" sz="2000" i="1" dirty="0">
                <a:latin typeface="宋体" panose="02010600030101010101" pitchFamily="2" charset="-122"/>
                <a:ea typeface="宋体" panose="02010600030101010101" pitchFamily="2" charset="-122"/>
              </a:rPr>
              <a:t>matched_stmt</a:t>
            </a:r>
            <a:r>
              <a:rPr lang="en-US" altLang="zh-CN" sz="2000" b="1" dirty="0">
                <a:latin typeface="宋体" panose="02010600030101010101" pitchFamily="2" charset="-122"/>
                <a:ea typeface="宋体" panose="02010600030101010101" pitchFamily="2" charset="-122"/>
              </a:rPr>
              <a:t> else </a:t>
            </a:r>
            <a:r>
              <a:rPr lang="en-US" altLang="zh-CN" sz="2000" i="1" dirty="0">
                <a:latin typeface="宋体" panose="02010600030101010101" pitchFamily="2" charset="-122"/>
                <a:ea typeface="宋体" panose="02010600030101010101" pitchFamily="2" charset="-122"/>
              </a:rPr>
              <a:t>open_stm</a:t>
            </a:r>
            <a:r>
              <a:rPr lang="zh-CN" altLang="en-US" b="1" i="1" dirty="0">
                <a:ea typeface="宋体" panose="02010600030101010101" pitchFamily="2" charset="-122"/>
              </a:rPr>
              <a:t>	</a:t>
            </a:r>
            <a:endParaRPr lang="zh-CN" altLang="en-US" sz="2200" b="1" i="1" dirty="0">
              <a:ea typeface="宋体" panose="02010600030101010101" pitchFamily="2" charset="-122"/>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7347" name="Rectangle 3"/>
          <p:cNvSpPr>
            <a:spLocks noGrp="1"/>
          </p:cNvSpPr>
          <p:nvPr>
            <p:ph idx="1"/>
          </p:nvPr>
        </p:nvSpPr>
        <p:spPr>
          <a:xfrm>
            <a:off x="838200" y="1600200"/>
            <a:ext cx="7620000" cy="4724400"/>
          </a:xfrm>
        </p:spPr>
        <p:txBody>
          <a:bodyPr vert="horz" wrap="square" lIns="92075" tIns="46038" rIns="92075" bIns="46038" anchor="t" anchorCtr="0"/>
          <a:p>
            <a:pPr lvl="3">
              <a:buFont typeface="Wingdings" panose="05000000000000000000" pitchFamily="2" charset="2"/>
              <a:buNone/>
            </a:pPr>
            <a:r>
              <a:rPr lang="zh-CN" altLang="en-US" b="1" dirty="0">
                <a:latin typeface="宋体" panose="02010600030101010101" pitchFamily="2" charset="-122"/>
                <a:ea typeface="宋体" panose="02010600030101010101" pitchFamily="2" charset="-122"/>
              </a:rPr>
              <a:t>	将上述改写后，</a:t>
            </a:r>
            <a:r>
              <a:rPr lang="en-US" altLang="zh-CN" b="1" dirty="0">
                <a:latin typeface="宋体" panose="02010600030101010101" pitchFamily="2" charset="-122"/>
                <a:ea typeface="宋体" panose="02010600030101010101" pitchFamily="2" charset="-122"/>
              </a:rPr>
              <a:t>if </a:t>
            </a:r>
            <a:r>
              <a:rPr lang="en-US" altLang="zh-CN" i="1" dirty="0">
                <a:latin typeface="宋体" panose="02010600030101010101" pitchFamily="2" charset="-122"/>
                <a:ea typeface="宋体" panose="02010600030101010101" pitchFamily="2" charset="-122"/>
              </a:rPr>
              <a:t>E</a:t>
            </a:r>
            <a:r>
              <a:rPr lang="en-US" altLang="zh-CN" i="1" baseline="-25000" dirty="0">
                <a:latin typeface="宋体" panose="02010600030101010101" pitchFamily="2" charset="-122"/>
                <a:ea typeface="宋体" panose="02010600030101010101" pitchFamily="2" charset="-122"/>
              </a:rPr>
              <a:t>1</a:t>
            </a:r>
            <a:r>
              <a:rPr lang="en-US" altLang="zh-CN" b="1" dirty="0">
                <a:latin typeface="宋体" panose="02010600030101010101" pitchFamily="2" charset="-122"/>
                <a:ea typeface="宋体" panose="02010600030101010101" pitchFamily="2" charset="-122"/>
              </a:rPr>
              <a:t> then if </a:t>
            </a:r>
            <a:r>
              <a:rPr lang="en-US" altLang="zh-CN" i="1" dirty="0">
                <a:latin typeface="宋体" panose="02010600030101010101" pitchFamily="2" charset="-122"/>
                <a:ea typeface="宋体" panose="02010600030101010101" pitchFamily="2" charset="-122"/>
              </a:rPr>
              <a:t>E</a:t>
            </a:r>
            <a:r>
              <a:rPr lang="en-US" altLang="zh-CN" i="1" baseline="-25000" dirty="0">
                <a:latin typeface="宋体" panose="02010600030101010101" pitchFamily="2" charset="-122"/>
                <a:ea typeface="宋体" panose="02010600030101010101" pitchFamily="2" charset="-122"/>
              </a:rPr>
              <a:t>2</a:t>
            </a:r>
            <a:r>
              <a:rPr lang="en-US" altLang="zh-CN" b="1" dirty="0">
                <a:latin typeface="宋体" panose="02010600030101010101" pitchFamily="2" charset="-122"/>
                <a:ea typeface="宋体" panose="02010600030101010101" pitchFamily="2" charset="-122"/>
              </a:rPr>
              <a:t> then </a:t>
            </a:r>
            <a:r>
              <a:rPr lang="en-US" altLang="zh-CN" i="1" dirty="0">
                <a:latin typeface="宋体" panose="02010600030101010101" pitchFamily="2" charset="-122"/>
                <a:ea typeface="宋体" panose="02010600030101010101" pitchFamily="2" charset="-122"/>
              </a:rPr>
              <a:t>S</a:t>
            </a:r>
            <a:r>
              <a:rPr lang="en-US" altLang="zh-CN" i="1" baseline="-25000" dirty="0">
                <a:latin typeface="宋体" panose="02010600030101010101" pitchFamily="2" charset="-122"/>
                <a:ea typeface="宋体" panose="02010600030101010101" pitchFamily="2" charset="-122"/>
              </a:rPr>
              <a:t>1</a:t>
            </a:r>
            <a:r>
              <a:rPr lang="en-US" altLang="zh-CN" b="1" dirty="0">
                <a:latin typeface="宋体" panose="02010600030101010101" pitchFamily="2" charset="-122"/>
                <a:ea typeface="宋体" panose="02010600030101010101" pitchFamily="2" charset="-122"/>
              </a:rPr>
              <a:t> else </a:t>
            </a:r>
            <a:r>
              <a:rPr lang="en-US" altLang="zh-CN" i="1" dirty="0">
                <a:latin typeface="宋体" panose="02010600030101010101" pitchFamily="2" charset="-122"/>
                <a:ea typeface="宋体" panose="02010600030101010101" pitchFamily="2" charset="-122"/>
              </a:rPr>
              <a:t>S</a:t>
            </a:r>
            <a:r>
              <a:rPr lang="en-US" altLang="zh-CN" i="1" baseline="-25000"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只对应一种分析树</a:t>
            </a:r>
            <a:endParaRPr lang="zh-CN" altLang="en-US" b="1" dirty="0">
              <a:latin typeface="宋体" panose="02010600030101010101" pitchFamily="2" charset="-122"/>
              <a:ea typeface="宋体" panose="02010600030101010101" pitchFamily="2" charset="-122"/>
            </a:endParaRPr>
          </a:p>
        </p:txBody>
      </p:sp>
      <p:graphicFrame>
        <p:nvGraphicFramePr>
          <p:cNvPr id="57348" name="Object 4"/>
          <p:cNvGraphicFramePr>
            <a:graphicFrameLocks noChangeAspect="1"/>
          </p:cNvGraphicFramePr>
          <p:nvPr/>
        </p:nvGraphicFramePr>
        <p:xfrm>
          <a:off x="2438400" y="2362200"/>
          <a:ext cx="4419600" cy="3829050"/>
        </p:xfrm>
        <a:graphic>
          <a:graphicData uri="http://schemas.openxmlformats.org/presentationml/2006/ole">
            <mc:AlternateContent xmlns:mc="http://schemas.openxmlformats.org/markup-compatibility/2006">
              <mc:Choice xmlns:v="urn:schemas-microsoft-com:vml" Requires="v">
                <p:oleObj spid="_x0000_s3092" name="" r:id="rId1" imgW="5854700" imgH="5080000" progId="Visio.Drawing.11">
                  <p:embed/>
                </p:oleObj>
              </mc:Choice>
              <mc:Fallback>
                <p:oleObj name="" r:id="rId1" imgW="5854700" imgH="5080000" progId="Visio.Drawing.11">
                  <p:embed/>
                  <p:pic>
                    <p:nvPicPr>
                      <p:cNvPr id="0" name="图片 3091"/>
                      <p:cNvPicPr/>
                      <p:nvPr/>
                    </p:nvPicPr>
                    <p:blipFill>
                      <a:blip r:embed="rId2"/>
                      <a:stretch>
                        <a:fillRect/>
                      </a:stretch>
                    </p:blipFill>
                    <p:spPr>
                      <a:xfrm>
                        <a:off x="2438400" y="2362200"/>
                        <a:ext cx="4419600" cy="3829050"/>
                      </a:xfrm>
                      <a:prstGeom prst="rect">
                        <a:avLst/>
                      </a:prstGeom>
                      <a:noFill/>
                      <a:ln w="38100">
                        <a:noFill/>
                        <a:miter/>
                      </a:ln>
                    </p:spPr>
                  </p:pic>
                </p:oleObj>
              </mc:Fallback>
            </mc:AlternateContent>
          </a:graphicData>
        </a:graphic>
      </p:graphicFrame>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a:t>
            </a:r>
            <a:r>
              <a:rPr lang="en-US" altLang="zh-CN" dirty="0">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9395" name="Rectangle 3"/>
          <p:cNvSpPr>
            <a:spLocks noGrp="1"/>
          </p:cNvSpPr>
          <p:nvPr>
            <p:ph idx="1"/>
          </p:nvPr>
        </p:nvSpPr>
        <p:spPr>
          <a:xfrm>
            <a:off x="990600" y="1600200"/>
            <a:ext cx="7391400" cy="4648200"/>
          </a:xfrm>
        </p:spPr>
        <p:txBody>
          <a:bodyPr vert="horz" wrap="square" lIns="92075" tIns="46038" rIns="92075" bIns="46038" anchor="t" anchorCtr="0"/>
          <a:p>
            <a:pPr lvl="1"/>
            <a:r>
              <a:rPr lang="zh-CN" altLang="en-US" sz="2800" b="1" dirty="0">
                <a:ea typeface="宋体" panose="02010600030101010101" pitchFamily="2" charset="-122"/>
              </a:rPr>
              <a:t>上述文法虽然消除了二义性，但增加了文法的复杂性，而分析方法可以方便地按照遵循最近嵌套规则的方法来配置，从而可以解决上述的二义性</a:t>
            </a:r>
            <a:endParaRPr lang="zh-CN" altLang="en-US" sz="2800" b="1" dirty="0">
              <a:ea typeface="宋体" panose="02010600030101010101" pitchFamily="2" charset="-122"/>
            </a:endParaRPr>
          </a:p>
          <a:p>
            <a:pPr lvl="1"/>
            <a:r>
              <a:rPr lang="zh-CN" altLang="en-US" sz="2800" b="1" dirty="0">
                <a:ea typeface="宋体" panose="02010600030101010101" pitchFamily="2" charset="-122"/>
              </a:rPr>
              <a:t>解决悬挂</a:t>
            </a:r>
            <a:r>
              <a:rPr lang="en-US" altLang="zh-CN" sz="2800" b="1" dirty="0">
                <a:ea typeface="宋体" panose="02010600030101010101" pitchFamily="2" charset="-122"/>
              </a:rPr>
              <a:t>else</a:t>
            </a:r>
            <a:r>
              <a:rPr lang="zh-CN" altLang="en-US" sz="2800" b="1" dirty="0">
                <a:ea typeface="宋体" panose="02010600030101010101" pitchFamily="2" charset="-122"/>
              </a:rPr>
              <a:t>问题的其它方法：</a:t>
            </a:r>
            <a:endParaRPr lang="zh-CN" altLang="en-US" sz="2800" b="1" dirty="0">
              <a:ea typeface="宋体" panose="02010600030101010101" pitchFamily="2" charset="-122"/>
            </a:endParaRPr>
          </a:p>
          <a:p>
            <a:pPr lvl="1">
              <a:buFont typeface="Book Antiqua" panose="02040602050305030304" pitchFamily="18" charset="0"/>
              <a:buAutoNum type="arabicPeriod"/>
            </a:pPr>
            <a:r>
              <a:rPr lang="zh-CN" altLang="en-US" sz="2800" b="1" dirty="0">
                <a:ea typeface="宋体" panose="02010600030101010101" pitchFamily="2" charset="-122"/>
              </a:rPr>
              <a:t>必须出现</a:t>
            </a:r>
            <a:r>
              <a:rPr lang="en-US" altLang="zh-CN" sz="2800" b="1" dirty="0">
                <a:ea typeface="宋体" panose="02010600030101010101" pitchFamily="2" charset="-122"/>
              </a:rPr>
              <a:t>else</a:t>
            </a:r>
            <a:r>
              <a:rPr lang="zh-CN" altLang="en-US" sz="2800" b="1" dirty="0">
                <a:ea typeface="宋体" panose="02010600030101010101" pitchFamily="2" charset="-122"/>
              </a:rPr>
              <a:t>部分</a:t>
            </a:r>
            <a:endParaRPr lang="zh-CN" altLang="en-US" sz="2800" b="1" dirty="0">
              <a:ea typeface="宋体" panose="02010600030101010101" pitchFamily="2" charset="-122"/>
            </a:endParaRPr>
          </a:p>
          <a:p>
            <a:pPr lvl="1">
              <a:buFont typeface="Book Antiqua" panose="02040602050305030304" pitchFamily="18" charset="0"/>
              <a:buAutoNum type="arabicPeriod"/>
            </a:pPr>
            <a:r>
              <a:rPr lang="zh-CN" altLang="en-US" sz="2800" b="1" dirty="0">
                <a:ea typeface="宋体" panose="02010600030101010101" pitchFamily="2" charset="-122"/>
              </a:rPr>
              <a:t>使用关键字标明一个条件语句的终结（</a:t>
            </a:r>
            <a:r>
              <a:rPr lang="en-US" altLang="zh-CN" sz="2800" b="1" dirty="0">
                <a:ea typeface="宋体" panose="02010600030101010101" pitchFamily="2" charset="-122"/>
              </a:rPr>
              <a:t>bracketing keyword）</a:t>
            </a:r>
            <a:endParaRPr lang="en-US" altLang="zh-CN" sz="2800" b="1" dirty="0">
              <a:ea typeface="宋体" panose="02010600030101010101" pitchFamily="2" charset="-12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a:t>
            </a:r>
            <a:r>
              <a:rPr lang="en-US" altLang="zh-CN" dirty="0">
                <a:latin typeface="宋体" panose="02010600030101010101" pitchFamily="2" charset="-122"/>
                <a:ea typeface="宋体" panose="02010600030101010101" pitchFamily="2" charset="-122"/>
              </a:rPr>
              <a:t>9</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61443" name="Rectangle 3"/>
          <p:cNvSpPr>
            <a:spLocks noGrp="1"/>
          </p:cNvSpPr>
          <p:nvPr>
            <p:ph idx="1"/>
          </p:nvPr>
        </p:nvSpPr>
        <p:spPr>
          <a:xfrm>
            <a:off x="990600" y="1600200"/>
            <a:ext cx="7391400" cy="4648200"/>
          </a:xfrm>
        </p:spPr>
        <p:txBody>
          <a:bodyPr vert="horz" wrap="square" lIns="92075" tIns="46038" rIns="92075" bIns="46038" anchor="t" anchorCtr="0"/>
          <a:p>
            <a:pPr marL="495300" indent="-495300">
              <a:lnSpc>
                <a:spcPct val="90000"/>
              </a:lnSpc>
              <a:buFont typeface="Wingdings" panose="05000000000000000000" pitchFamily="2" charset="2"/>
              <a:buNone/>
            </a:pPr>
            <a:r>
              <a:rPr lang="zh-CN" altLang="en-US" sz="1800" b="1" dirty="0">
                <a:latin typeface="宋体" panose="02010600030101010101" pitchFamily="2" charset="-122"/>
                <a:ea typeface="宋体" panose="02010600030101010101" pitchFamily="2" charset="-122"/>
              </a:rPr>
              <a:t>	</a:t>
            </a:r>
            <a:r>
              <a:rPr lang="en-US" altLang="zh-CN" sz="1800" i="1" dirty="0">
                <a:latin typeface="宋体" panose="02010600030101010101" pitchFamily="2" charset="-122"/>
                <a:ea typeface="宋体" panose="02010600030101010101" pitchFamily="2" charset="-122"/>
              </a:rPr>
              <a:t>if_stmt</a:t>
            </a:r>
            <a:r>
              <a:rPr lang="en-US" altLang="zh-CN" sz="1800" b="1" dirty="0">
                <a:latin typeface="宋体" panose="02010600030101010101" pitchFamily="2" charset="-122"/>
                <a:ea typeface="宋体" panose="02010600030101010101" pitchFamily="2" charset="-122"/>
              </a:rPr>
              <a:t>→ if </a:t>
            </a:r>
            <a:r>
              <a:rPr lang="en-US" altLang="zh-CN" sz="1800" i="1" dirty="0">
                <a:latin typeface="宋体" panose="02010600030101010101" pitchFamily="2" charset="-122"/>
                <a:ea typeface="宋体" panose="02010600030101010101" pitchFamily="2" charset="-122"/>
              </a:rPr>
              <a:t>expr</a:t>
            </a:r>
            <a:r>
              <a:rPr lang="en-US" altLang="zh-CN" sz="1800" b="1" dirty="0">
                <a:latin typeface="宋体" panose="02010600030101010101" pitchFamily="2" charset="-122"/>
                <a:ea typeface="宋体" panose="02010600030101010101" pitchFamily="2" charset="-122"/>
              </a:rPr>
              <a:t> then </a:t>
            </a:r>
            <a:r>
              <a:rPr lang="en-US" altLang="zh-CN" sz="1800" i="1" dirty="0">
                <a:latin typeface="宋体" panose="02010600030101010101" pitchFamily="2" charset="-122"/>
                <a:ea typeface="宋体" panose="02010600030101010101" pitchFamily="2" charset="-122"/>
              </a:rPr>
              <a:t>statement_sequence</a:t>
            </a:r>
            <a:r>
              <a:rPr lang="en-US" altLang="zh-CN" sz="1800" b="1" dirty="0">
                <a:latin typeface="宋体" panose="02010600030101010101" pitchFamily="2" charset="-122"/>
                <a:ea typeface="宋体" panose="02010600030101010101" pitchFamily="2" charset="-122"/>
              </a:rPr>
              <a:t> endif</a:t>
            </a:r>
            <a:endParaRPr lang="en-US" altLang="zh-CN"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en-US" altLang="zh-CN" sz="1800" b="1" dirty="0">
                <a:latin typeface="宋体" panose="02010600030101010101" pitchFamily="2" charset="-122"/>
                <a:ea typeface="宋体" panose="02010600030101010101" pitchFamily="2" charset="-122"/>
              </a:rPr>
              <a:t>		      | if</a:t>
            </a:r>
            <a:r>
              <a:rPr lang="en-US" altLang="zh-CN" sz="1800" i="1" dirty="0">
                <a:latin typeface="宋体" panose="02010600030101010101" pitchFamily="2" charset="-122"/>
                <a:ea typeface="宋体" panose="02010600030101010101" pitchFamily="2" charset="-122"/>
              </a:rPr>
              <a:t>expr</a:t>
            </a:r>
            <a:r>
              <a:rPr lang="en-US" altLang="zh-CN" sz="1800" b="1" dirty="0">
                <a:latin typeface="宋体" panose="02010600030101010101" pitchFamily="2" charset="-122"/>
                <a:ea typeface="宋体" panose="02010600030101010101" pitchFamily="2" charset="-122"/>
              </a:rPr>
              <a:t> then </a:t>
            </a:r>
            <a:r>
              <a:rPr lang="en-US" altLang="zh-CN" sz="1800" i="1" dirty="0">
                <a:latin typeface="宋体" panose="02010600030101010101" pitchFamily="2" charset="-122"/>
                <a:ea typeface="宋体" panose="02010600030101010101" pitchFamily="2" charset="-122"/>
              </a:rPr>
              <a:t>statement_sequence</a:t>
            </a:r>
            <a:r>
              <a:rPr lang="en-US" altLang="zh-CN" sz="1800" b="1" dirty="0">
                <a:latin typeface="宋体" panose="02010600030101010101" pitchFamily="2" charset="-122"/>
                <a:ea typeface="宋体" panose="02010600030101010101" pitchFamily="2" charset="-122"/>
              </a:rPr>
              <a:t> </a:t>
            </a:r>
            <a:endParaRPr lang="en-US" altLang="zh-CN"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en-US" altLang="zh-CN" sz="1800" b="1" dirty="0">
                <a:latin typeface="宋体" panose="02010600030101010101" pitchFamily="2" charset="-122"/>
                <a:ea typeface="宋体" panose="02010600030101010101" pitchFamily="2" charset="-122"/>
              </a:rPr>
              <a:t>			  else </a:t>
            </a:r>
            <a:r>
              <a:rPr lang="en-US" altLang="zh-CN" sz="1800" i="1" dirty="0">
                <a:latin typeface="宋体" panose="02010600030101010101" pitchFamily="2" charset="-122"/>
                <a:ea typeface="宋体" panose="02010600030101010101" pitchFamily="2" charset="-122"/>
              </a:rPr>
              <a:t>statement_sequence</a:t>
            </a:r>
            <a:r>
              <a:rPr lang="en-US" altLang="zh-CN" sz="1800" b="1" dirty="0">
                <a:latin typeface="宋体" panose="02010600030101010101" pitchFamily="2" charset="-122"/>
                <a:ea typeface="宋体" panose="02010600030101010101" pitchFamily="2" charset="-122"/>
              </a:rPr>
              <a:t> endif</a:t>
            </a:r>
            <a:endParaRPr lang="en-US" altLang="zh-CN"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zh-CN" altLang="en-US" sz="1800" b="1" dirty="0">
                <a:latin typeface="宋体" panose="02010600030101010101" pitchFamily="2" charset="-122"/>
                <a:ea typeface="宋体" panose="02010600030101010101" pitchFamily="2" charset="-122"/>
              </a:rPr>
              <a:t>两个例子：</a:t>
            </a:r>
            <a:endParaRPr lang="zh-CN" altLang="en-US"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en-US" altLang="zh-CN" sz="1800" b="1" dirty="0">
                <a:latin typeface="宋体" panose="02010600030101010101" pitchFamily="2" charset="-122"/>
                <a:ea typeface="宋体" panose="02010600030101010101" pitchFamily="2" charset="-122"/>
              </a:rPr>
              <a:t>if x&lt;&gt;0 then</a:t>
            </a:r>
            <a:endParaRPr lang="en-US" altLang="zh-CN"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en-US" altLang="zh-CN" sz="1800" b="1" dirty="0">
                <a:latin typeface="宋体" panose="02010600030101010101" pitchFamily="2" charset="-122"/>
                <a:ea typeface="宋体" panose="02010600030101010101" pitchFamily="2" charset="-122"/>
              </a:rPr>
              <a:t>  if y=1/x then ok = true</a:t>
            </a:r>
            <a:endParaRPr lang="en-US" altLang="zh-CN"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en-US" altLang="zh-CN" sz="1800" b="1" dirty="0">
                <a:latin typeface="宋体" panose="02010600030101010101" pitchFamily="2" charset="-122"/>
                <a:ea typeface="宋体" panose="02010600030101010101" pitchFamily="2" charset="-122"/>
              </a:rPr>
              <a:t>  else z = 1/x</a:t>
            </a:r>
            <a:endParaRPr lang="en-US" altLang="zh-CN"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en-US" altLang="zh-CN" sz="1800" b="1" dirty="0">
                <a:latin typeface="宋体" panose="02010600030101010101" pitchFamily="2" charset="-122"/>
                <a:ea typeface="宋体" panose="02010600030101010101" pitchFamily="2" charset="-122"/>
              </a:rPr>
              <a:t>  endif</a:t>
            </a:r>
            <a:endParaRPr lang="en-US" altLang="zh-CN"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en-US" altLang="zh-CN" sz="1800" b="1" dirty="0">
                <a:latin typeface="宋体" panose="02010600030101010101" pitchFamily="2" charset="-122"/>
                <a:ea typeface="宋体" panose="02010600030101010101" pitchFamily="2" charset="-122"/>
              </a:rPr>
              <a:t>endif</a:t>
            </a:r>
            <a:endParaRPr lang="en-US" altLang="zh-CN"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zh-CN" altLang="en-US" sz="1800" b="1" dirty="0">
                <a:latin typeface="宋体" panose="02010600030101010101" pitchFamily="2" charset="-122"/>
                <a:ea typeface="宋体" panose="02010600030101010101" pitchFamily="2" charset="-122"/>
              </a:rPr>
              <a:t>和</a:t>
            </a:r>
            <a:endParaRPr lang="zh-CN" altLang="en-US"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en-US" altLang="zh-CN" sz="1800" b="1" dirty="0">
                <a:latin typeface="宋体" panose="02010600030101010101" pitchFamily="2" charset="-122"/>
                <a:ea typeface="宋体" panose="02010600030101010101" pitchFamily="2" charset="-122"/>
              </a:rPr>
              <a:t>if x&lt;&gt;0 then</a:t>
            </a:r>
            <a:endParaRPr lang="en-US" altLang="zh-CN"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en-US" altLang="zh-CN" sz="1800" b="1" dirty="0">
                <a:latin typeface="宋体" panose="02010600030101010101" pitchFamily="2" charset="-122"/>
                <a:ea typeface="宋体" panose="02010600030101010101" pitchFamily="2" charset="-122"/>
              </a:rPr>
              <a:t>  if y=1/x then ok = true</a:t>
            </a:r>
            <a:endParaRPr lang="en-US" altLang="zh-CN"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en-US" altLang="zh-CN" sz="1800" b="1" dirty="0">
                <a:latin typeface="宋体" panose="02010600030101010101" pitchFamily="2" charset="-122"/>
                <a:ea typeface="宋体" panose="02010600030101010101" pitchFamily="2" charset="-122"/>
              </a:rPr>
              <a:t>  endif</a:t>
            </a:r>
            <a:endParaRPr lang="en-US" altLang="zh-CN"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en-US" altLang="zh-CN" sz="1800" b="1" dirty="0">
                <a:latin typeface="宋体" panose="02010600030101010101" pitchFamily="2" charset="-122"/>
                <a:ea typeface="宋体" panose="02010600030101010101" pitchFamily="2" charset="-122"/>
              </a:rPr>
              <a:t>else z = 1/x</a:t>
            </a:r>
            <a:endParaRPr lang="en-US" altLang="zh-CN" sz="1800" b="1" dirty="0">
              <a:latin typeface="宋体" panose="02010600030101010101" pitchFamily="2" charset="-122"/>
              <a:ea typeface="宋体" panose="02010600030101010101" pitchFamily="2" charset="-122"/>
            </a:endParaRPr>
          </a:p>
          <a:p>
            <a:pPr marL="495300" indent="-495300">
              <a:lnSpc>
                <a:spcPct val="90000"/>
              </a:lnSpc>
              <a:buFont typeface="Wingdings" panose="05000000000000000000" pitchFamily="2" charset="2"/>
              <a:buNone/>
            </a:pPr>
            <a:r>
              <a:rPr lang="en-US" altLang="zh-CN" sz="1800" b="1" dirty="0">
                <a:latin typeface="宋体" panose="02010600030101010101" pitchFamily="2" charset="-122"/>
                <a:ea typeface="宋体" panose="02010600030101010101" pitchFamily="2" charset="-122"/>
              </a:rPr>
              <a:t>endif</a:t>
            </a:r>
            <a:endParaRPr lang="zh-CN" altLang="en-US" sz="18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设计文法（１</a:t>
            </a:r>
            <a:r>
              <a:rPr lang="en-US" altLang="zh-CN" dirty="0">
                <a:latin typeface="宋体" panose="02010600030101010101" pitchFamily="2" charset="-122"/>
                <a:ea typeface="宋体" panose="02010600030101010101" pitchFamily="2" charset="-122"/>
              </a:rPr>
              <a:t>0</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63491" name="Rectangle 3"/>
          <p:cNvSpPr>
            <a:spLocks noGrp="1"/>
          </p:cNvSpPr>
          <p:nvPr>
            <p:ph idx="1"/>
          </p:nvPr>
        </p:nvSpPr>
        <p:spPr>
          <a:xfrm>
            <a:off x="990600" y="1600200"/>
            <a:ext cx="7391400" cy="4648200"/>
          </a:xfrm>
        </p:spPr>
        <p:txBody>
          <a:bodyPr vert="horz" wrap="square" lIns="92075" tIns="46038" rIns="92075" bIns="46038" anchor="t" anchorCtr="0"/>
          <a:p>
            <a:pPr lvl="2"/>
            <a:r>
              <a:rPr lang="zh-CN" altLang="en-US" sz="2400" b="1" dirty="0">
                <a:ea typeface="宋体" panose="02010600030101010101" pitchFamily="2" charset="-122"/>
              </a:rPr>
              <a:t>无关紧要的二义性</a:t>
            </a:r>
            <a:endParaRPr lang="zh-CN" altLang="en-US" sz="2400" b="1" dirty="0">
              <a:ea typeface="宋体" panose="02010600030101010101" pitchFamily="2" charset="-122"/>
            </a:endParaRPr>
          </a:p>
          <a:p>
            <a:pPr marL="1371600" lvl="3" indent="0">
              <a:buNone/>
            </a:pPr>
            <a:r>
              <a:rPr lang="zh-CN" altLang="en-US" sz="2200" b="1" dirty="0">
                <a:ea typeface="宋体" panose="02010600030101010101" pitchFamily="2" charset="-122"/>
              </a:rPr>
              <a:t>有些文法虽然存在二义性，但由于相结合的语义不必依赖于使用的是哪种消除二义性的规则，可以将这样的二义性称为无关紧要的二义性(</a:t>
            </a:r>
            <a:r>
              <a:rPr lang="en-US" altLang="zh-CN" sz="2200" b="1" dirty="0">
                <a:ea typeface="宋体" panose="02010600030101010101" pitchFamily="2" charset="-122"/>
              </a:rPr>
              <a:t>inessential ambiguity)</a:t>
            </a:r>
            <a:endParaRPr lang="en-US" altLang="zh-CN" sz="2200" b="1" dirty="0">
              <a:ea typeface="宋体" panose="02010600030101010101" pitchFamily="2" charset="-122"/>
            </a:endParaRPr>
          </a:p>
          <a:p>
            <a:pPr lvl="2">
              <a:buNone/>
            </a:pPr>
            <a:r>
              <a:rPr lang="en-US" altLang="zh-CN" sz="2400" b="1" dirty="0">
                <a:ea typeface="宋体" panose="02010600030101010101" pitchFamily="2" charset="-122"/>
              </a:rPr>
              <a:t>	</a:t>
            </a:r>
            <a:r>
              <a:rPr lang="zh-CN" altLang="en-US" b="1" dirty="0">
                <a:ea typeface="宋体" panose="02010600030101010101" pitchFamily="2" charset="-122"/>
              </a:rPr>
              <a:t>如算术加法</a:t>
            </a:r>
            <a:r>
              <a:rPr lang="zh-CN" altLang="en-US" b="1" dirty="0">
                <a:ea typeface="宋体" panose="02010600030101010101" pitchFamily="2" charset="-122"/>
                <a:sym typeface="Wingdings" panose="05000000000000000000" pitchFamily="2" charset="2"/>
              </a:rPr>
              <a:t>: (</a:t>
            </a:r>
            <a:r>
              <a:rPr lang="en-US" altLang="zh-CN" b="1" dirty="0">
                <a:ea typeface="宋体" panose="02010600030101010101" pitchFamily="2" charset="-122"/>
                <a:sym typeface="Wingdings" panose="05000000000000000000" pitchFamily="2" charset="2"/>
              </a:rPr>
              <a:t>a+b)+c = a+(b+c)</a:t>
            </a:r>
            <a:endParaRPr lang="en-US" altLang="zh-CN" b="1" dirty="0">
              <a:ea typeface="宋体" panose="02010600030101010101" pitchFamily="2" charset="-122"/>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设计文法（１</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65539" name="Rectangle 3"/>
          <p:cNvSpPr>
            <a:spLocks noGrp="1"/>
          </p:cNvSpPr>
          <p:nvPr>
            <p:ph idx="1"/>
          </p:nvPr>
        </p:nvSpPr>
        <p:spPr>
          <a:xfrm>
            <a:off x="684213" y="1371600"/>
            <a:ext cx="7920037" cy="5181600"/>
          </a:xfrm>
        </p:spPr>
        <p:txBody>
          <a:bodyPr vert="horz" wrap="square" lIns="92075" tIns="46038" rIns="92075" bIns="46038" anchor="t" anchorCtr="0"/>
          <a:p>
            <a:r>
              <a:rPr lang="zh-CN" altLang="en-US" sz="2200" b="1" dirty="0">
                <a:ea typeface="宋体" panose="02010600030101010101" pitchFamily="2" charset="-122"/>
              </a:rPr>
              <a:t>左递归的消除</a:t>
            </a:r>
            <a:endParaRPr lang="zh-CN" altLang="en-US" sz="2200" b="1" dirty="0">
              <a:ea typeface="宋体" panose="02010600030101010101" pitchFamily="2" charset="-122"/>
            </a:endParaRPr>
          </a:p>
          <a:p>
            <a:pPr lvl="1"/>
            <a:r>
              <a:rPr lang="zh-CN" altLang="en-US" sz="2200" b="1" dirty="0">
                <a:ea typeface="宋体" panose="02010600030101010101" pitchFamily="2" charset="-122"/>
              </a:rPr>
              <a:t>一个文法是左递归的，如果它有非终结符</a:t>
            </a:r>
            <a:r>
              <a:rPr lang="en-US" altLang="zh-CN" sz="2200" b="1" dirty="0">
                <a:ea typeface="宋体" panose="02010600030101010101" pitchFamily="2" charset="-122"/>
              </a:rPr>
              <a:t>A，</a:t>
            </a:r>
            <a:r>
              <a:rPr lang="zh-CN" altLang="en-US" sz="2200" b="1" dirty="0">
                <a:ea typeface="宋体" panose="02010600030101010101" pitchFamily="2" charset="-122"/>
              </a:rPr>
              <a:t>对某个串</a:t>
            </a:r>
            <a:endParaRPr lang="zh-CN" altLang="en-US" sz="2200" b="1" dirty="0">
              <a:ea typeface="宋体" panose="02010600030101010101" pitchFamily="2" charset="-122"/>
            </a:endParaRPr>
          </a:p>
          <a:p>
            <a:pPr lvl="1">
              <a:buNone/>
            </a:pPr>
            <a:r>
              <a:rPr lang="en-US" altLang="zh-CN" sz="2200" b="1" dirty="0">
                <a:ea typeface="宋体" panose="02010600030101010101" pitchFamily="2" charset="-122"/>
              </a:rPr>
              <a:t>    α，</a:t>
            </a:r>
            <a:r>
              <a:rPr lang="zh-CN" altLang="en-US" sz="2200" b="1" dirty="0">
                <a:ea typeface="宋体" panose="02010600030101010101" pitchFamily="2" charset="-122"/>
              </a:rPr>
              <a:t>存在着推导</a:t>
            </a:r>
            <a:endParaRPr lang="zh-CN" altLang="en-US" sz="2200" b="1" dirty="0">
              <a:ea typeface="宋体" panose="02010600030101010101" pitchFamily="2" charset="-122"/>
            </a:endParaRPr>
          </a:p>
          <a:p>
            <a:pPr lvl="1"/>
            <a:r>
              <a:rPr lang="zh-CN" altLang="en-US" sz="2200" b="1" dirty="0">
                <a:ea typeface="宋体" panose="02010600030101010101" pitchFamily="2" charset="-122"/>
              </a:rPr>
              <a:t>自顶向下的方法不能处理左递归的文法</a:t>
            </a:r>
            <a:endParaRPr lang="zh-CN" altLang="en-US" sz="2200" b="1" dirty="0">
              <a:ea typeface="宋体" panose="02010600030101010101" pitchFamily="2" charset="-122"/>
            </a:endParaRPr>
          </a:p>
          <a:p>
            <a:pPr lvl="1"/>
            <a:r>
              <a:rPr lang="zh-CN" altLang="en-US" sz="2200" b="1" dirty="0">
                <a:ea typeface="宋体" panose="02010600030101010101" pitchFamily="2" charset="-122"/>
              </a:rPr>
              <a:t>对于左递归的产生式：</a:t>
            </a:r>
            <a:r>
              <a:rPr lang="en-US" altLang="zh-CN" sz="2200" b="1" dirty="0">
                <a:ea typeface="宋体" panose="02010600030101010101" pitchFamily="2" charset="-122"/>
              </a:rPr>
              <a:t>A→Aα|β，</a:t>
            </a:r>
            <a:r>
              <a:rPr lang="zh-CN" altLang="en-US" sz="2200" b="1" dirty="0">
                <a:ea typeface="宋体" panose="02010600030101010101" pitchFamily="2" charset="-122"/>
              </a:rPr>
              <a:t>可以用非左递归的产生式代替：</a:t>
            </a:r>
            <a:endParaRPr lang="zh-CN" altLang="en-US" sz="2200" b="1" dirty="0">
              <a:ea typeface="宋体" panose="02010600030101010101" pitchFamily="2" charset="-122"/>
            </a:endParaRPr>
          </a:p>
          <a:p>
            <a:pPr lvl="1">
              <a:buNone/>
            </a:pPr>
            <a:r>
              <a:rPr lang="zh-CN" altLang="en-US" sz="2200" b="1" dirty="0">
                <a:ea typeface="宋体" panose="02010600030101010101" pitchFamily="2" charset="-122"/>
              </a:rPr>
              <a:t>	 </a:t>
            </a:r>
            <a:r>
              <a:rPr lang="en-US" altLang="zh-CN" sz="2200" b="1" dirty="0">
                <a:ea typeface="宋体" panose="02010600030101010101" pitchFamily="2" charset="-122"/>
              </a:rPr>
              <a:t>A→βA’</a:t>
            </a:r>
            <a:endParaRPr lang="en-US" altLang="zh-CN" sz="2200" b="1" dirty="0">
              <a:ea typeface="宋体" panose="02010600030101010101" pitchFamily="2" charset="-122"/>
            </a:endParaRPr>
          </a:p>
          <a:p>
            <a:pPr lvl="1">
              <a:buNone/>
            </a:pPr>
            <a:r>
              <a:rPr lang="zh-CN" altLang="en-US" sz="2200" b="1" dirty="0">
                <a:ea typeface="宋体" panose="02010600030101010101" pitchFamily="2" charset="-122"/>
              </a:rPr>
              <a:t>	 </a:t>
            </a:r>
            <a:r>
              <a:rPr lang="en-US" altLang="zh-CN" sz="2200" b="1" dirty="0">
                <a:ea typeface="宋体" panose="02010600030101010101" pitchFamily="2" charset="-122"/>
              </a:rPr>
              <a:t>A’→αA’|ε</a:t>
            </a:r>
            <a:endParaRPr lang="en-US" altLang="zh-CN" sz="2200" b="1" dirty="0">
              <a:ea typeface="宋体" panose="02010600030101010101" pitchFamily="2" charset="-122"/>
            </a:endParaRPr>
          </a:p>
          <a:p>
            <a:pPr lvl="1"/>
            <a:r>
              <a:rPr lang="zh-CN" altLang="en-US" sz="2200" b="1" dirty="0">
                <a:ea typeface="宋体" panose="02010600030101010101" pitchFamily="2" charset="-122"/>
              </a:rPr>
              <a:t>左递归的分类</a:t>
            </a:r>
            <a:endParaRPr lang="zh-CN" altLang="en-US" sz="2200" b="1" dirty="0">
              <a:ea typeface="宋体" panose="02010600030101010101" pitchFamily="2" charset="-122"/>
            </a:endParaRPr>
          </a:p>
          <a:p>
            <a:pPr lvl="2"/>
            <a:r>
              <a:rPr lang="zh-CN" altLang="en-US" b="1" dirty="0">
                <a:ea typeface="宋体" panose="02010600030101010101" pitchFamily="2" charset="-122"/>
              </a:rPr>
              <a:t>直接见诸于产生式的左递归称为直接左递归</a:t>
            </a:r>
            <a:endParaRPr lang="zh-CN" altLang="en-US" b="1" dirty="0">
              <a:ea typeface="宋体" panose="02010600030101010101" pitchFamily="2" charset="-122"/>
            </a:endParaRPr>
          </a:p>
          <a:p>
            <a:pPr lvl="2"/>
            <a:r>
              <a:rPr lang="zh-CN" altLang="en-US" b="1" dirty="0">
                <a:ea typeface="宋体" panose="02010600030101010101" pitchFamily="2" charset="-122"/>
              </a:rPr>
              <a:t>一般的左递归：如文法</a:t>
            </a:r>
            <a:endParaRPr lang="zh-CN" altLang="en-US" b="1" dirty="0">
              <a:ea typeface="宋体" panose="02010600030101010101" pitchFamily="2" charset="-122"/>
            </a:endParaRPr>
          </a:p>
          <a:p>
            <a:pPr lvl="2">
              <a:buNone/>
            </a:pPr>
            <a:r>
              <a:rPr lang="zh-CN" altLang="en-US" b="1" dirty="0">
                <a:ea typeface="宋体" panose="02010600030101010101" pitchFamily="2" charset="-122"/>
              </a:rPr>
              <a:t>	</a:t>
            </a:r>
            <a:r>
              <a:rPr lang="en-US" altLang="zh-CN" b="1" dirty="0">
                <a:ea typeface="宋体" panose="02010600030101010101" pitchFamily="2" charset="-122"/>
              </a:rPr>
              <a:t>S→Aa|b</a:t>
            </a:r>
            <a:endParaRPr lang="en-US" altLang="zh-CN" b="1" dirty="0">
              <a:ea typeface="宋体" panose="02010600030101010101" pitchFamily="2" charset="-122"/>
            </a:endParaRPr>
          </a:p>
          <a:p>
            <a:pPr lvl="2">
              <a:buNone/>
            </a:pPr>
            <a:r>
              <a:rPr lang="en-US" altLang="zh-CN" b="1" dirty="0">
                <a:ea typeface="宋体" panose="02010600030101010101" pitchFamily="2" charset="-122"/>
              </a:rPr>
              <a:t>	A→Ac|Sd|ε</a:t>
            </a:r>
            <a:endParaRPr lang="en-US" altLang="zh-CN" sz="2400" b="1" dirty="0">
              <a:ea typeface="宋体" panose="02010600030101010101" pitchFamily="2" charset="-122"/>
            </a:endParaRPr>
          </a:p>
        </p:txBody>
      </p:sp>
      <p:graphicFrame>
        <p:nvGraphicFramePr>
          <p:cNvPr id="65540" name="Object 4"/>
          <p:cNvGraphicFramePr>
            <a:graphicFrameLocks noChangeAspect="1"/>
          </p:cNvGraphicFramePr>
          <p:nvPr/>
        </p:nvGraphicFramePr>
        <p:xfrm>
          <a:off x="3492500" y="2133600"/>
          <a:ext cx="792163" cy="503238"/>
        </p:xfrm>
        <a:graphic>
          <a:graphicData uri="http://schemas.openxmlformats.org/presentationml/2006/ole">
            <mc:AlternateContent xmlns:mc="http://schemas.openxmlformats.org/markup-compatibility/2006">
              <mc:Choice xmlns:v="urn:schemas-microsoft-com:vml" Requires="v">
                <p:oleObj spid="_x0000_s3104" name="" r:id="rId1" imgW="596900" imgH="368300" progId="Equation.3">
                  <p:embed/>
                </p:oleObj>
              </mc:Choice>
              <mc:Fallback>
                <p:oleObj name="" r:id="rId1" imgW="596900" imgH="368300" progId="Equation.3">
                  <p:embed/>
                  <p:pic>
                    <p:nvPicPr>
                      <p:cNvPr id="0" name="图片 3103"/>
                      <p:cNvPicPr/>
                      <p:nvPr/>
                    </p:nvPicPr>
                    <p:blipFill>
                      <a:blip r:embed="rId2"/>
                      <a:stretch>
                        <a:fillRect/>
                      </a:stretch>
                    </p:blipFill>
                    <p:spPr>
                      <a:xfrm>
                        <a:off x="3492500" y="2133600"/>
                        <a:ext cx="792163" cy="503238"/>
                      </a:xfrm>
                      <a:prstGeom prst="rect">
                        <a:avLst/>
                      </a:prstGeom>
                      <a:noFill/>
                      <a:ln w="38100">
                        <a:noFill/>
                        <a:miter/>
                      </a:ln>
                    </p:spPr>
                  </p:pic>
                </p:oleObj>
              </mc:Fallback>
            </mc:AlternateContent>
          </a:graphicData>
        </a:graphic>
      </p:graphicFrame>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设计文法（１</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67587" name="Rectangle 3"/>
          <p:cNvSpPr>
            <a:spLocks noGrp="1"/>
          </p:cNvSpPr>
          <p:nvPr>
            <p:ph idx="1"/>
          </p:nvPr>
        </p:nvSpPr>
        <p:spPr>
          <a:xfrm>
            <a:off x="990600" y="1600200"/>
            <a:ext cx="7391400" cy="4800600"/>
          </a:xfrm>
        </p:spPr>
        <p:txBody>
          <a:bodyPr vert="horz" wrap="square" lIns="92075" tIns="46038" rIns="92075" bIns="46038" anchor="t" anchorCtr="0"/>
          <a:p>
            <a:pPr lvl="2"/>
            <a:r>
              <a:rPr lang="zh-CN" altLang="en-US" sz="2000" b="1" dirty="0">
                <a:latin typeface="宋体" panose="02010600030101010101" pitchFamily="2" charset="-122"/>
                <a:ea typeface="宋体" panose="02010600030101010101" pitchFamily="2" charset="-122"/>
              </a:rPr>
              <a:t>直接左递归的消除</a:t>
            </a:r>
            <a:endParaRPr lang="zh-CN" altLang="en-US" sz="2000" b="1" dirty="0">
              <a:ea typeface="宋体" panose="02010600030101010101" pitchFamily="2" charset="-122"/>
            </a:endParaRPr>
          </a:p>
          <a:p>
            <a:pPr lvl="2">
              <a:lnSpc>
                <a:spcPct val="90000"/>
              </a:lnSpc>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如果</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的所有产生式可以如下表示</a:t>
            </a:r>
            <a:endParaRPr lang="zh-CN" altLang="en-US"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A→Aα</a:t>
            </a:r>
            <a:r>
              <a:rPr lang="en-US" altLang="zh-CN" sz="2000" b="1" baseline="-25000" dirty="0">
                <a:latin typeface="宋体" panose="02010600030101010101" pitchFamily="2" charset="-122"/>
                <a:ea typeface="宋体" panose="02010600030101010101" pitchFamily="2" charset="-122"/>
              </a:rPr>
              <a:t>1</a:t>
            </a:r>
            <a:r>
              <a:rPr lang="en-US" altLang="zh-CN" sz="2000" b="1" dirty="0">
                <a:latin typeface="宋体" panose="02010600030101010101" pitchFamily="2" charset="-122"/>
                <a:ea typeface="宋体" panose="02010600030101010101" pitchFamily="2" charset="-122"/>
              </a:rPr>
              <a:t>|Aα</a:t>
            </a:r>
            <a:r>
              <a:rPr lang="en-US" altLang="zh-CN" sz="2000" b="1" baseline="-25000" dirty="0">
                <a:latin typeface="宋体" panose="02010600030101010101" pitchFamily="2" charset="-122"/>
                <a:ea typeface="宋体" panose="02010600030101010101" pitchFamily="2" charset="-122"/>
              </a:rPr>
              <a:t>2</a:t>
            </a:r>
            <a:r>
              <a:rPr lang="en-US" altLang="zh-CN" sz="2000" b="1" dirty="0">
                <a:latin typeface="宋体" panose="02010600030101010101" pitchFamily="2" charset="-122"/>
                <a:ea typeface="宋体" panose="02010600030101010101" pitchFamily="2" charset="-122"/>
              </a:rPr>
              <a:t>|</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|Aα</a:t>
            </a:r>
            <a:r>
              <a:rPr lang="en-US" altLang="zh-CN" sz="2000" b="1" baseline="-25000" dirty="0">
                <a:latin typeface="宋体" panose="02010600030101010101" pitchFamily="2" charset="-122"/>
                <a:ea typeface="宋体" panose="02010600030101010101" pitchFamily="2" charset="-122"/>
              </a:rPr>
              <a:t>m</a:t>
            </a:r>
            <a:r>
              <a:rPr lang="en-US" altLang="zh-CN" sz="2000" b="1" dirty="0">
                <a:latin typeface="宋体" panose="02010600030101010101" pitchFamily="2" charset="-122"/>
                <a:ea typeface="宋体" panose="02010600030101010101" pitchFamily="2" charset="-122"/>
              </a:rPr>
              <a:t>|β</a:t>
            </a:r>
            <a:r>
              <a:rPr lang="en-US" altLang="zh-CN" sz="2000" b="1" baseline="-25000" dirty="0">
                <a:latin typeface="宋体" panose="02010600030101010101" pitchFamily="2" charset="-122"/>
                <a:ea typeface="宋体" panose="02010600030101010101" pitchFamily="2" charset="-122"/>
              </a:rPr>
              <a:t>1</a:t>
            </a:r>
            <a:r>
              <a:rPr lang="en-US" altLang="zh-CN" sz="2000" b="1" dirty="0">
                <a:latin typeface="宋体" panose="02010600030101010101" pitchFamily="2" charset="-122"/>
                <a:ea typeface="宋体" panose="02010600030101010101" pitchFamily="2" charset="-122"/>
              </a:rPr>
              <a:t>|β</a:t>
            </a:r>
            <a:r>
              <a:rPr lang="en-US" altLang="zh-CN" sz="2000" b="1" baseline="-25000" dirty="0">
                <a:latin typeface="宋体" panose="02010600030101010101" pitchFamily="2" charset="-122"/>
                <a:ea typeface="宋体" panose="02010600030101010101" pitchFamily="2" charset="-122"/>
              </a:rPr>
              <a:t>1</a:t>
            </a:r>
            <a:r>
              <a:rPr lang="en-US" altLang="zh-CN" sz="2000" b="1" dirty="0">
                <a:latin typeface="宋体" panose="02010600030101010101" pitchFamily="2" charset="-122"/>
                <a:ea typeface="宋体" panose="02010600030101010101" pitchFamily="2" charset="-122"/>
              </a:rPr>
              <a:t>|</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|β</a:t>
            </a:r>
            <a:r>
              <a:rPr lang="en-US" altLang="zh-CN" sz="2000" b="1" baseline="-25000" dirty="0">
                <a:latin typeface="宋体" panose="02010600030101010101" pitchFamily="2" charset="-122"/>
                <a:ea typeface="宋体" panose="02010600030101010101" pitchFamily="2" charset="-122"/>
              </a:rPr>
              <a:t>n</a:t>
            </a:r>
            <a:endParaRPr lang="zh-CN" altLang="en-US"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其中</a:t>
            </a:r>
            <a:r>
              <a:rPr lang="en-US" altLang="zh-CN" sz="2000" b="1" dirty="0">
                <a:latin typeface="宋体" panose="02010600030101010101" pitchFamily="2" charset="-122"/>
                <a:ea typeface="宋体" panose="02010600030101010101" pitchFamily="2" charset="-122"/>
              </a:rPr>
              <a:t>β</a:t>
            </a:r>
            <a:r>
              <a:rPr lang="en-US" altLang="zh-CN" sz="2000" b="1" baseline="-25000" dirty="0">
                <a:latin typeface="宋体" panose="02010600030101010101" pitchFamily="2" charset="-122"/>
                <a:ea typeface="宋体" panose="02010600030101010101" pitchFamily="2" charset="-122"/>
              </a:rPr>
              <a:t>i</a:t>
            </a:r>
            <a:r>
              <a:rPr lang="zh-CN" altLang="en-US" sz="2000" b="1" dirty="0">
                <a:latin typeface="宋体" panose="02010600030101010101" pitchFamily="2" charset="-122"/>
                <a:ea typeface="宋体" panose="02010600030101010101" pitchFamily="2" charset="-122"/>
              </a:rPr>
              <a:t>都不以</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开始，</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i</a:t>
            </a:r>
            <a:r>
              <a:rPr lang="zh-CN" altLang="en-US" sz="2000" b="1" dirty="0">
                <a:latin typeface="宋体" panose="02010600030101010101" pitchFamily="2" charset="-122"/>
                <a:ea typeface="宋体" panose="02010600030101010101" pitchFamily="2" charset="-122"/>
              </a:rPr>
              <a:t>都是非空的，如下变换可以消除直接左递归</a:t>
            </a:r>
            <a:endParaRPr lang="zh-CN" altLang="en-US"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A→β</a:t>
            </a:r>
            <a:r>
              <a:rPr lang="en-US" altLang="zh-CN" sz="2000" b="1" baseline="-25000" dirty="0">
                <a:latin typeface="宋体" panose="02010600030101010101" pitchFamily="2" charset="-122"/>
                <a:ea typeface="宋体" panose="02010600030101010101" pitchFamily="2" charset="-122"/>
              </a:rPr>
              <a:t>1</a:t>
            </a:r>
            <a:r>
              <a:rPr lang="en-US" altLang="zh-CN" sz="2000" b="1" dirty="0">
                <a:latin typeface="宋体" panose="02010600030101010101" pitchFamily="2" charset="-122"/>
                <a:ea typeface="宋体" panose="02010600030101010101" pitchFamily="2" charset="-122"/>
              </a:rPr>
              <a:t>A</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|β</a:t>
            </a:r>
            <a:r>
              <a:rPr lang="en-US" altLang="zh-CN" sz="2000" b="1" baseline="-25000" dirty="0">
                <a:latin typeface="宋体" panose="02010600030101010101" pitchFamily="2" charset="-122"/>
                <a:ea typeface="宋体" panose="02010600030101010101" pitchFamily="2" charset="-122"/>
              </a:rPr>
              <a:t>2</a:t>
            </a:r>
            <a:r>
              <a:rPr lang="en-US" altLang="zh-CN" sz="2000" b="1" dirty="0">
                <a:latin typeface="宋体" panose="02010600030101010101" pitchFamily="2" charset="-122"/>
                <a:ea typeface="宋体" panose="02010600030101010101" pitchFamily="2" charset="-122"/>
              </a:rPr>
              <a:t>A</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 β</a:t>
            </a:r>
            <a:r>
              <a:rPr lang="en-US" altLang="zh-CN" sz="2000" b="1" baseline="-25000" dirty="0">
                <a:latin typeface="宋体" panose="02010600030101010101" pitchFamily="2" charset="-122"/>
                <a:ea typeface="宋体" panose="02010600030101010101" pitchFamily="2" charset="-122"/>
              </a:rPr>
              <a:t>n</a:t>
            </a:r>
            <a:r>
              <a:rPr lang="en-US" altLang="zh-CN" sz="2000" b="1" dirty="0">
                <a:latin typeface="宋体" panose="02010600030101010101" pitchFamily="2" charset="-122"/>
                <a:ea typeface="宋体" panose="02010600030101010101" pitchFamily="2" charset="-122"/>
              </a:rPr>
              <a:t>A</a:t>
            </a:r>
            <a:r>
              <a:rPr lang="en-US" altLang="zh-CN" sz="2000" b="1" dirty="0">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A</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1</a:t>
            </a:r>
            <a:r>
              <a:rPr lang="en-US" altLang="zh-CN" sz="2000" b="1" dirty="0">
                <a:latin typeface="宋体" panose="02010600030101010101" pitchFamily="2" charset="-122"/>
                <a:ea typeface="宋体" panose="02010600030101010101" pitchFamily="2" charset="-122"/>
              </a:rPr>
              <a:t>A</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2</a:t>
            </a:r>
            <a:r>
              <a:rPr lang="en-US" altLang="zh-CN" sz="2000" b="1" dirty="0">
                <a:latin typeface="宋体" panose="02010600030101010101" pitchFamily="2" charset="-122"/>
                <a:ea typeface="宋体" panose="02010600030101010101" pitchFamily="2" charset="-122"/>
              </a:rPr>
              <a:t>A</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|α</a:t>
            </a:r>
            <a:r>
              <a:rPr lang="en-US" altLang="zh-CN" sz="2000" b="1" baseline="-25000" dirty="0">
                <a:latin typeface="宋体" panose="02010600030101010101" pitchFamily="2" charset="-122"/>
                <a:ea typeface="宋体" panose="02010600030101010101" pitchFamily="2" charset="-122"/>
              </a:rPr>
              <a:t>m</a:t>
            </a:r>
            <a:r>
              <a:rPr lang="en-US" altLang="zh-CN" sz="2000" b="1" dirty="0">
                <a:latin typeface="宋体" panose="02010600030101010101" pitchFamily="2" charset="-122"/>
                <a:ea typeface="宋体" panose="02010600030101010101" pitchFamily="2" charset="-122"/>
              </a:rPr>
              <a:t>A</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|ε</a:t>
            </a:r>
            <a:endParaRPr lang="en-US" altLang="zh-CN"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例：表达式文法的左递归的消除</a:t>
            </a:r>
            <a:endParaRPr lang="zh-CN" altLang="en-US"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E→E+T|T		E→TE</a:t>
            </a:r>
            <a:r>
              <a:rPr lang="en-US" altLang="zh-CN" sz="2000" b="1" dirty="0">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T→T*F|F		E</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→+TE</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|ε</a:t>
            </a:r>
            <a:endParaRPr lang="en-US" altLang="zh-CN"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F→(E)|id		T→FT</a:t>
            </a:r>
            <a:r>
              <a:rPr lang="en-US" altLang="zh-CN" sz="2000" b="1" dirty="0">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				T</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→*FT</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|ε</a:t>
            </a:r>
            <a:endParaRPr lang="en-US" altLang="zh-CN"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				F→(E)|id</a:t>
            </a:r>
            <a:endParaRPr lang="en-US" altLang="zh-CN"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设计文法（１</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69635" name="Rectangle 3"/>
          <p:cNvSpPr>
            <a:spLocks noGrp="1"/>
          </p:cNvSpPr>
          <p:nvPr>
            <p:ph idx="1"/>
          </p:nvPr>
        </p:nvSpPr>
        <p:spPr>
          <a:xfrm>
            <a:off x="990600" y="1600200"/>
            <a:ext cx="7391400" cy="4724400"/>
          </a:xfrm>
        </p:spPr>
        <p:txBody>
          <a:bodyPr vert="horz" wrap="square" lIns="92075" tIns="46038" rIns="92075" bIns="46038" anchor="t" anchorCtr="0"/>
          <a:p>
            <a:pPr lvl="2"/>
            <a:r>
              <a:rPr lang="zh-CN" altLang="en-US" sz="2400" b="1" dirty="0">
                <a:latin typeface="宋体" panose="02010600030101010101" pitchFamily="2" charset="-122"/>
                <a:ea typeface="宋体" panose="02010600030101010101" pitchFamily="2" charset="-122"/>
              </a:rPr>
              <a:t>一般左递归的消除的例子</a:t>
            </a:r>
            <a:endParaRPr lang="zh-CN" altLang="en-US" sz="2400" b="1" dirty="0">
              <a:ea typeface="宋体" panose="02010600030101010101" pitchFamily="2" charset="-122"/>
            </a:endParaRPr>
          </a:p>
          <a:p>
            <a:pPr lvl="3">
              <a:buFont typeface="Wingdings" panose="05000000000000000000" pitchFamily="2" charset="2"/>
              <a:buNone/>
            </a:pPr>
            <a:r>
              <a:rPr lang="en-US" altLang="zh-CN" sz="2200" b="1" dirty="0">
                <a:latin typeface="宋体" panose="02010600030101010101" pitchFamily="2" charset="-122"/>
                <a:ea typeface="宋体" panose="02010600030101010101" pitchFamily="2" charset="-122"/>
              </a:rPr>
              <a:t>	S→Aa|b</a:t>
            </a:r>
            <a:endParaRPr lang="en-US" altLang="zh-CN" sz="2200"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en-US" altLang="zh-CN" sz="2200" b="1" dirty="0">
                <a:latin typeface="宋体" panose="02010600030101010101" pitchFamily="2" charset="-122"/>
                <a:ea typeface="宋体" panose="02010600030101010101" pitchFamily="2" charset="-122"/>
              </a:rPr>
              <a:t>	A→Ac|Sd|ε</a:t>
            </a:r>
            <a:endParaRPr lang="en-US" altLang="zh-CN" sz="2200"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首先，用</a:t>
            </a:r>
            <a:r>
              <a:rPr lang="en-US" altLang="zh-CN" sz="2200" b="1" dirty="0">
                <a:latin typeface="宋体" panose="02010600030101010101" pitchFamily="2" charset="-122"/>
                <a:ea typeface="宋体" panose="02010600030101010101" pitchFamily="2" charset="-122"/>
              </a:rPr>
              <a:t>S</a:t>
            </a:r>
            <a:r>
              <a:rPr lang="zh-CN" altLang="en-US" sz="2200" b="1" dirty="0">
                <a:latin typeface="宋体" panose="02010600030101010101" pitchFamily="2" charset="-122"/>
                <a:ea typeface="宋体" panose="02010600030101010101" pitchFamily="2" charset="-122"/>
              </a:rPr>
              <a:t>的产生式替换</a:t>
            </a:r>
            <a:r>
              <a:rPr lang="en-US" altLang="zh-CN" sz="2200" b="1" dirty="0">
                <a:latin typeface="宋体" panose="02010600030101010101" pitchFamily="2" charset="-122"/>
                <a:ea typeface="宋体" panose="02010600030101010101" pitchFamily="2" charset="-122"/>
              </a:rPr>
              <a:t>A→Sd</a:t>
            </a:r>
            <a:r>
              <a:rPr lang="zh-CN" altLang="en-US" sz="2200" b="1" dirty="0">
                <a:latin typeface="宋体" panose="02010600030101010101" pitchFamily="2" charset="-122"/>
                <a:ea typeface="宋体" panose="02010600030101010101" pitchFamily="2" charset="-122"/>
              </a:rPr>
              <a:t>中的</a:t>
            </a:r>
            <a:r>
              <a:rPr lang="en-US" altLang="zh-CN" sz="2200" b="1" dirty="0">
                <a:latin typeface="宋体" panose="02010600030101010101" pitchFamily="2" charset="-122"/>
                <a:ea typeface="宋体" panose="02010600030101010101" pitchFamily="2" charset="-122"/>
              </a:rPr>
              <a:t>S，</a:t>
            </a:r>
            <a:r>
              <a:rPr lang="zh-CN" altLang="en-US" sz="2200" b="1" dirty="0">
                <a:latin typeface="宋体" panose="02010600030101010101" pitchFamily="2" charset="-122"/>
                <a:ea typeface="宋体" panose="02010600030101010101" pitchFamily="2" charset="-122"/>
              </a:rPr>
              <a:t>得到：</a:t>
            </a:r>
            <a:endParaRPr lang="zh-CN" altLang="en-US" sz="2200"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en-US" altLang="zh-CN" sz="2200" b="1" dirty="0">
                <a:latin typeface="宋体" panose="02010600030101010101" pitchFamily="2" charset="-122"/>
                <a:ea typeface="宋体" panose="02010600030101010101" pitchFamily="2" charset="-122"/>
              </a:rPr>
              <a:t>	S→Aa|b</a:t>
            </a:r>
            <a:endParaRPr lang="en-US" altLang="zh-CN" sz="2200"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en-US" altLang="zh-CN" sz="2200" b="1" dirty="0">
                <a:latin typeface="宋体" panose="02010600030101010101" pitchFamily="2" charset="-122"/>
                <a:ea typeface="宋体" panose="02010600030101010101" pitchFamily="2" charset="-122"/>
              </a:rPr>
              <a:t>	A→Ac|Aad|bd|ε</a:t>
            </a:r>
            <a:endParaRPr lang="en-US" altLang="zh-CN" sz="2200"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消除这个文法中的直接左递归，得到</a:t>
            </a:r>
            <a:endParaRPr lang="zh-CN" altLang="en-US" sz="2200"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en-US" altLang="zh-CN" sz="2200" b="1" dirty="0">
                <a:latin typeface="宋体" panose="02010600030101010101" pitchFamily="2" charset="-122"/>
                <a:ea typeface="宋体" panose="02010600030101010101" pitchFamily="2" charset="-122"/>
              </a:rPr>
              <a:t>	S→Aa|b</a:t>
            </a:r>
            <a:endParaRPr lang="en-US" altLang="zh-CN" sz="2200"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en-US" altLang="zh-CN" sz="2200" b="1" dirty="0">
                <a:latin typeface="宋体" panose="02010600030101010101" pitchFamily="2" charset="-122"/>
                <a:ea typeface="宋体" panose="02010600030101010101" pitchFamily="2" charset="-122"/>
              </a:rPr>
              <a:t>	A→bdA</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|A</a:t>
            </a:r>
            <a:r>
              <a:rPr lang="en-US" altLang="zh-CN" sz="2200" b="1" dirty="0">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en-US" altLang="zh-CN" sz="2200" b="1" dirty="0">
                <a:latin typeface="宋体" panose="02010600030101010101" pitchFamily="2" charset="-122"/>
                <a:ea typeface="宋体" panose="02010600030101010101" pitchFamily="2" charset="-122"/>
              </a:rPr>
              <a:t>	A</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→cA</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|adA</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|ε</a:t>
            </a:r>
            <a:endParaRPr lang="en-US" altLang="zh-CN" sz="22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设计文法（１</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7347" name="Rectangle 3"/>
          <p:cNvSpPr>
            <a:spLocks noGrp="1" noChangeArrowheads="1"/>
          </p:cNvSpPr>
          <p:nvPr>
            <p:ph idx="1"/>
          </p:nvPr>
        </p:nvSpPr>
        <p:spPr>
          <a:xfrm>
            <a:off x="990600" y="1600200"/>
            <a:ext cx="7391400" cy="4724400"/>
          </a:xfrm>
        </p:spPr>
        <p:txBody>
          <a:bodyPr vert="horz" wrap="square" lIns="92075" tIns="46038" rIns="92075" bIns="46038" numCol="1" anchor="t" anchorCtr="0" compatLnSpc="1"/>
          <a:lstStyle/>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一般左递归的消除的算法： (算法</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4</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19</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 typeface="Wingdings" panose="05000000000000000000" pitchFamily="2" charset="2"/>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如果文法不含回路（形如     的推导），也不含有以</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ε</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为右部的产生式，则下面算法可以消除左递归</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714500" marR="0" lvl="3" indent="-342900" algn="l" defTabSz="914400" rtl="0" eaLnBrk="0" fontAlgn="base" latinLnBrk="0" hangingPunct="0">
              <a:lnSpc>
                <a:spcPct val="90000"/>
              </a:lnSpc>
              <a:spcBef>
                <a:spcPct val="20000"/>
              </a:spcBef>
              <a:spcAft>
                <a:spcPct val="0"/>
              </a:spcAft>
              <a:buClr>
                <a:srgbClr val="063DE8"/>
              </a:buClr>
              <a:buSzPct val="70000"/>
              <a:buFont typeface="+mj-lt"/>
              <a:buAutoNum type="arabicPeriod"/>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把文法</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的所有非终结符按任一种顺序排列成</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n</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按此顺序执行</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for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1 to n {</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for j = 1 to i-1 {</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把形如</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j</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γ</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的规则改写成:</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δ</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γ|δ</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γ|</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δ</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k</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γ</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其中</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j</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→δ</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|δ</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δ</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k</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是关于</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j</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的所有产生式</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消除关于</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i</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的直接左递归</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714500" marR="0" lvl="3" indent="-342900" algn="l" defTabSz="914400" rtl="0" eaLnBrk="0" fontAlgn="base" latinLnBrk="0" hangingPunct="0">
              <a:lnSpc>
                <a:spcPct val="90000"/>
              </a:lnSpc>
              <a:spcBef>
                <a:spcPct val="20000"/>
              </a:spcBef>
              <a:spcAft>
                <a:spcPct val="0"/>
              </a:spcAft>
              <a:buClr>
                <a:srgbClr val="063DE8"/>
              </a:buClr>
              <a:buSzPct val="70000"/>
              <a:buFont typeface="+mj-lt"/>
              <a:buAutoNum type="arabicPeriod" startAt="2"/>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化简由</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得到的文法：除去从开始符号无法达到的非终结符的产生式</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graphicFrame>
        <p:nvGraphicFramePr>
          <p:cNvPr id="71684" name="Object 4"/>
          <p:cNvGraphicFramePr>
            <a:graphicFrameLocks noChangeAspect="1"/>
          </p:cNvGraphicFramePr>
          <p:nvPr/>
        </p:nvGraphicFramePr>
        <p:xfrm>
          <a:off x="5016500" y="1890713"/>
          <a:ext cx="419100" cy="314325"/>
        </p:xfrm>
        <a:graphic>
          <a:graphicData uri="http://schemas.openxmlformats.org/presentationml/2006/ole">
            <mc:AlternateContent xmlns:mc="http://schemas.openxmlformats.org/markup-compatibility/2006">
              <mc:Choice xmlns:v="urn:schemas-microsoft-com:vml" Requires="v">
                <p:oleObj spid="_x0000_s3105" name="" r:id="rId1" imgW="508000" imgH="368300" progId="Equation.3">
                  <p:embed/>
                </p:oleObj>
              </mc:Choice>
              <mc:Fallback>
                <p:oleObj name="" r:id="rId1" imgW="508000" imgH="368300" progId="Equation.3">
                  <p:embed/>
                  <p:pic>
                    <p:nvPicPr>
                      <p:cNvPr id="0" name="图片 3104"/>
                      <p:cNvPicPr/>
                      <p:nvPr/>
                    </p:nvPicPr>
                    <p:blipFill>
                      <a:blip r:embed="rId2"/>
                      <a:stretch>
                        <a:fillRect/>
                      </a:stretch>
                    </p:blipFill>
                    <p:spPr>
                      <a:xfrm>
                        <a:off x="5016500" y="1890713"/>
                        <a:ext cx="419100" cy="314325"/>
                      </a:xfrm>
                      <a:prstGeom prst="rect">
                        <a:avLst/>
                      </a:prstGeom>
                      <a:noFill/>
                      <a:ln w="38100">
                        <a:noFill/>
                        <a:miter/>
                      </a:ln>
                    </p:spPr>
                  </p:pic>
                </p:oleObj>
              </mc:Fallback>
            </mc:AlternateContent>
          </a:graphicData>
        </a:graphic>
      </p:graphicFrame>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设计文法（１</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3731" name="Rectangle 3"/>
          <p:cNvSpPr>
            <a:spLocks noGrp="1"/>
          </p:cNvSpPr>
          <p:nvPr>
            <p:ph idx="1"/>
          </p:nvPr>
        </p:nvSpPr>
        <p:spPr>
          <a:xfrm>
            <a:off x="684213" y="1600200"/>
            <a:ext cx="7848600" cy="46482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提取左公因子</a:t>
            </a:r>
            <a:endParaRPr lang="en-US" altLang="zh-CN" sz="2400" b="1" dirty="0">
              <a:ea typeface="宋体" panose="02010600030101010101" pitchFamily="2" charset="-122"/>
            </a:endParaRPr>
          </a:p>
          <a:p>
            <a:pPr lvl="1"/>
            <a:r>
              <a:rPr lang="zh-CN" altLang="en-US" sz="2200" b="1" dirty="0">
                <a:latin typeface="宋体" panose="02010600030101010101" pitchFamily="2" charset="-122"/>
                <a:ea typeface="宋体" panose="02010600030101010101" pitchFamily="2" charset="-122"/>
              </a:rPr>
              <a:t>当不清楚应该用两个选择的哪一个来替换非终结符</a:t>
            </a:r>
            <a:r>
              <a:rPr lang="en-US" altLang="zh-CN" sz="2200" b="1" dirty="0">
                <a:latin typeface="宋体" panose="02010600030101010101" pitchFamily="2" charset="-122"/>
                <a:ea typeface="宋体" panose="02010600030101010101" pitchFamily="2" charset="-122"/>
              </a:rPr>
              <a:t>A</a:t>
            </a:r>
            <a:r>
              <a:rPr lang="zh-CN" altLang="en-US" sz="2200" b="1" dirty="0">
                <a:latin typeface="宋体" panose="02010600030101010101" pitchFamily="2" charset="-122"/>
                <a:ea typeface="宋体" panose="02010600030101010101" pitchFamily="2" charset="-122"/>
              </a:rPr>
              <a:t>时，可以重写</a:t>
            </a:r>
            <a:r>
              <a:rPr lang="en-US" altLang="zh-CN" sz="2200" b="1" dirty="0">
                <a:latin typeface="宋体" panose="02010600030101010101" pitchFamily="2" charset="-122"/>
                <a:ea typeface="宋体" panose="02010600030101010101" pitchFamily="2" charset="-122"/>
              </a:rPr>
              <a:t>A</a:t>
            </a:r>
            <a:r>
              <a:rPr lang="zh-CN" altLang="en-US" sz="2200" b="1" dirty="0">
                <a:latin typeface="宋体" panose="02010600030101010101" pitchFamily="2" charset="-122"/>
                <a:ea typeface="宋体" panose="02010600030101010101" pitchFamily="2" charset="-122"/>
              </a:rPr>
              <a:t>的产生式来推迟决定，直至看见足够多的输入，能正确决定所需为止</a:t>
            </a:r>
            <a:endParaRPr lang="en-US" altLang="zh-CN" sz="2200" b="1" dirty="0">
              <a:latin typeface="宋体" panose="02010600030101010101" pitchFamily="2" charset="-122"/>
              <a:ea typeface="宋体" panose="02010600030101010101" pitchFamily="2" charset="-122"/>
            </a:endParaRPr>
          </a:p>
          <a:p>
            <a:pPr lvl="1"/>
            <a:r>
              <a:rPr lang="zh-CN" altLang="en-US" sz="2200" b="1" dirty="0">
                <a:latin typeface="宋体" panose="02010600030101010101" pitchFamily="2" charset="-122"/>
                <a:ea typeface="宋体" panose="02010600030101010101" pitchFamily="2" charset="-122"/>
              </a:rPr>
              <a:t>用于产生适合预测分析的文法</a:t>
            </a:r>
            <a:endParaRPr lang="en-US" altLang="zh-CN" sz="2200" b="1" dirty="0">
              <a:latin typeface="宋体" panose="02010600030101010101" pitchFamily="2" charset="-122"/>
              <a:ea typeface="宋体" panose="02010600030101010101" pitchFamily="2" charset="-122"/>
            </a:endParaRPr>
          </a:p>
          <a:p>
            <a:pPr lvl="1"/>
            <a:r>
              <a:rPr lang="zh-CN" altLang="en-US" sz="2200" b="1" dirty="0">
                <a:latin typeface="宋体" panose="02010600030101010101" pitchFamily="2" charset="-122"/>
                <a:ea typeface="宋体" panose="02010600030101010101" pitchFamily="2" charset="-122"/>
              </a:rPr>
              <a:t>算法</a:t>
            </a:r>
            <a:r>
              <a:rPr lang="en-US" altLang="zh-CN" sz="2200" b="1" dirty="0">
                <a:latin typeface="宋体" panose="02010600030101010101" pitchFamily="2" charset="-122"/>
                <a:ea typeface="宋体" panose="02010600030101010101" pitchFamily="2" charset="-122"/>
              </a:rPr>
              <a:t>4.21</a:t>
            </a:r>
            <a:r>
              <a:rPr lang="zh-CN" altLang="en-US" sz="2200" b="1" dirty="0">
                <a:latin typeface="宋体" panose="02010600030101010101" pitchFamily="2" charset="-122"/>
                <a:ea typeface="宋体" panose="02010600030101010101" pitchFamily="2" charset="-122"/>
              </a:rPr>
              <a:t>：输入文法</a:t>
            </a:r>
            <a:r>
              <a:rPr lang="en-US" altLang="zh-CN" sz="2200" b="1" dirty="0">
                <a:latin typeface="宋体" panose="02010600030101010101" pitchFamily="2" charset="-122"/>
                <a:ea typeface="宋体" panose="02010600030101010101" pitchFamily="2" charset="-122"/>
              </a:rPr>
              <a:t>G</a:t>
            </a:r>
            <a:endParaRPr lang="zh-CN" altLang="en-US" sz="22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对于每个非终结符</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，如果其所有产生式形如</a:t>
            </a:r>
            <a:r>
              <a:rPr lang="en-US" altLang="zh-CN" sz="2000" b="1" dirty="0">
                <a:latin typeface="宋体" panose="02010600030101010101" pitchFamily="2" charset="-122"/>
                <a:ea typeface="宋体" panose="02010600030101010101" pitchFamily="2" charset="-122"/>
              </a:rPr>
              <a:t>A→αβ</a:t>
            </a:r>
            <a:r>
              <a:rPr lang="en-US" altLang="zh-CN" sz="2000" b="1" baseline="-25000" dirty="0">
                <a:latin typeface="宋体" panose="02010600030101010101" pitchFamily="2" charset="-122"/>
                <a:ea typeface="宋体" panose="02010600030101010101" pitchFamily="2" charset="-122"/>
              </a:rPr>
              <a:t>1</a:t>
            </a:r>
            <a:r>
              <a:rPr lang="en-US" altLang="zh-CN" sz="2000" b="1" dirty="0">
                <a:latin typeface="宋体" panose="02010600030101010101" pitchFamily="2" charset="-122"/>
                <a:ea typeface="宋体" panose="02010600030101010101" pitchFamily="2" charset="-122"/>
              </a:rPr>
              <a:t>|αβ</a:t>
            </a:r>
            <a:r>
              <a:rPr lang="en-US" altLang="zh-CN" sz="2000" b="1" baseline="-25000" dirty="0">
                <a:latin typeface="宋体" panose="02010600030101010101" pitchFamily="2" charset="-122"/>
                <a:ea typeface="宋体" panose="02010600030101010101" pitchFamily="2" charset="-122"/>
              </a:rPr>
              <a:t>2</a:t>
            </a:r>
            <a:r>
              <a:rPr lang="en-US" altLang="zh-CN" sz="2000" b="1" dirty="0">
                <a:latin typeface="宋体" panose="02010600030101010101" pitchFamily="2" charset="-122"/>
                <a:ea typeface="宋体" panose="02010600030101010101" pitchFamily="2" charset="-122"/>
              </a:rPr>
              <a:t>…|αβ</a:t>
            </a:r>
            <a:r>
              <a:rPr lang="en-US" altLang="zh-CN" sz="2000" b="1" baseline="-25000" dirty="0">
                <a:latin typeface="宋体" panose="02010600030101010101" pitchFamily="2" charset="-122"/>
                <a:ea typeface="宋体" panose="02010600030101010101" pitchFamily="2" charset="-122"/>
              </a:rPr>
              <a:t>n</a:t>
            </a:r>
            <a:r>
              <a:rPr lang="en-US" altLang="zh-CN" sz="2000" b="1" dirty="0">
                <a:latin typeface="宋体" panose="02010600030101010101" pitchFamily="2" charset="-122"/>
                <a:ea typeface="宋体" panose="02010600030101010101" pitchFamily="2" charset="-122"/>
              </a:rPr>
              <a:t>|</a:t>
            </a:r>
            <a:r>
              <a:rPr lang="el-GR" altLang="zh-CN" sz="2000" b="1" dirty="0">
                <a:latin typeface="宋体" panose="02010600030101010101" pitchFamily="2" charset="-122"/>
                <a:ea typeface="宋体" panose="02010600030101010101" pitchFamily="2" charset="-122"/>
              </a:rPr>
              <a:t>γ</a:t>
            </a:r>
            <a:r>
              <a:rPr lang="zh-CN" altLang="en-US" sz="2000" b="1" dirty="0">
                <a:latin typeface="宋体" panose="02010600030101010101" pitchFamily="2" charset="-122"/>
                <a:ea typeface="宋体" panose="02010600030101010101" pitchFamily="2" charset="-122"/>
              </a:rPr>
              <a:t>，则用下面的产生式替换</a:t>
            </a:r>
            <a:endParaRPr lang="zh-CN" altLang="en-US"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A→αA</a:t>
            </a:r>
            <a:r>
              <a:rPr lang="en-US" altLang="zh-CN" sz="2000" b="1" dirty="0">
                <a:ea typeface="宋体" panose="02010600030101010101" pitchFamily="2" charset="-122"/>
              </a:rPr>
              <a:t>’|</a:t>
            </a:r>
            <a:r>
              <a:rPr lang="el-GR" altLang="zh-CN" sz="2000" b="1" dirty="0">
                <a:latin typeface="宋体" panose="02010600030101010101" pitchFamily="2" charset="-122"/>
                <a:ea typeface="宋体" panose="02010600030101010101" pitchFamily="2" charset="-122"/>
              </a:rPr>
              <a:t> γ</a:t>
            </a:r>
            <a:endParaRPr lang="en-US" altLang="zh-CN"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		 A</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→β</a:t>
            </a:r>
            <a:r>
              <a:rPr lang="en-US" altLang="zh-CN" sz="2000" b="1" baseline="-25000" dirty="0">
                <a:latin typeface="宋体" panose="02010600030101010101" pitchFamily="2" charset="-122"/>
                <a:ea typeface="宋体" panose="02010600030101010101" pitchFamily="2" charset="-122"/>
              </a:rPr>
              <a:t>1</a:t>
            </a:r>
            <a:r>
              <a:rPr lang="en-US" altLang="zh-CN" sz="2000" b="1" dirty="0">
                <a:latin typeface="宋体" panose="02010600030101010101" pitchFamily="2" charset="-122"/>
                <a:ea typeface="宋体" panose="02010600030101010101" pitchFamily="2" charset="-122"/>
              </a:rPr>
              <a:t> | β</a:t>
            </a:r>
            <a:r>
              <a:rPr lang="en-US" altLang="zh-CN" sz="2000" b="1" baseline="-25000" dirty="0">
                <a:latin typeface="宋体" panose="02010600030101010101" pitchFamily="2" charset="-122"/>
                <a:ea typeface="宋体" panose="02010600030101010101" pitchFamily="2" charset="-122"/>
              </a:rPr>
              <a:t>2</a:t>
            </a:r>
            <a:r>
              <a:rPr lang="en-US" altLang="zh-CN" sz="2000" b="1" dirty="0">
                <a:latin typeface="宋体" panose="02010600030101010101" pitchFamily="2" charset="-122"/>
                <a:ea typeface="宋体" panose="02010600030101010101" pitchFamily="2" charset="-122"/>
              </a:rPr>
              <a:t> …|β</a:t>
            </a:r>
            <a:r>
              <a:rPr lang="en-US" altLang="zh-CN" sz="2000" b="1" baseline="-25000" dirty="0">
                <a:latin typeface="宋体" panose="02010600030101010101" pitchFamily="2" charset="-122"/>
                <a:ea typeface="宋体" panose="02010600030101010101" pitchFamily="2" charset="-122"/>
              </a:rPr>
              <a:t>n</a:t>
            </a:r>
            <a:endParaRPr lang="en-US" altLang="zh-CN" sz="2000" b="1" baseline="-25000" dirty="0">
              <a:latin typeface="宋体" panose="02010600030101010101" pitchFamily="2" charset="-122"/>
              <a:ea typeface="宋体" panose="02010600030101010101" pitchFamily="2" charset="-122"/>
            </a:endParaRPr>
          </a:p>
          <a:p>
            <a:pPr lvl="1">
              <a:lnSpc>
                <a:spcPct val="90000"/>
              </a:lnSpc>
              <a:buFont typeface="Monotype Sorts" pitchFamily="2" charset="2"/>
              <a:buChar char="ä"/>
            </a:pPr>
            <a:r>
              <a:rPr lang="zh-CN" altLang="en-US" sz="2200" b="1" dirty="0">
                <a:latin typeface="宋体" panose="02010600030101010101" pitchFamily="2" charset="-122"/>
                <a:ea typeface="宋体" panose="02010600030101010101" pitchFamily="2" charset="-122"/>
              </a:rPr>
              <a:t>例子：对于简写的文法（悬空的</a:t>
            </a:r>
            <a:r>
              <a:rPr lang="en-US" altLang="zh-CN" sz="2200" b="1" dirty="0">
                <a:latin typeface="宋体" panose="02010600030101010101" pitchFamily="2" charset="-122"/>
                <a:ea typeface="宋体" panose="02010600030101010101" pitchFamily="2" charset="-122"/>
              </a:rPr>
              <a:t>else），</a:t>
            </a:r>
            <a:r>
              <a:rPr lang="zh-CN" altLang="en-US" sz="2200" b="1" dirty="0">
                <a:latin typeface="宋体" panose="02010600030101010101" pitchFamily="2" charset="-122"/>
                <a:ea typeface="宋体" panose="02010600030101010101" pitchFamily="2" charset="-122"/>
              </a:rPr>
              <a:t>提取左公因子</a:t>
            </a:r>
            <a:endParaRPr lang="zh-CN" altLang="en-US" sz="22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S</a:t>
            </a:r>
            <a:r>
              <a:rPr lang="en-US" altLang="zh-CN" sz="2000" b="1" dirty="0">
                <a:latin typeface="宋体" panose="02010600030101010101" pitchFamily="2" charset="-122"/>
                <a:ea typeface="宋体" panose="02010600030101010101" pitchFamily="2" charset="-122"/>
              </a:rPr>
              <a:t>→i</a:t>
            </a:r>
            <a:r>
              <a:rPr lang="en-US" altLang="zh-CN" sz="2000" i="1" dirty="0">
                <a:latin typeface="宋体" panose="02010600030101010101" pitchFamily="2" charset="-122"/>
                <a:ea typeface="宋体" panose="02010600030101010101" pitchFamily="2" charset="-122"/>
              </a:rPr>
              <a:t>E</a:t>
            </a:r>
            <a:r>
              <a:rPr lang="en-US" altLang="zh-CN" sz="2000" b="1" dirty="0">
                <a:latin typeface="宋体" panose="02010600030101010101" pitchFamily="2" charset="-122"/>
                <a:ea typeface="宋体" panose="02010600030101010101" pitchFamily="2" charset="-122"/>
              </a:rPr>
              <a:t>t</a:t>
            </a:r>
            <a:r>
              <a:rPr lang="en-US" altLang="zh-CN" sz="2000" i="1" dirty="0">
                <a:latin typeface="宋体" panose="02010600030101010101" pitchFamily="2" charset="-122"/>
                <a:ea typeface="宋体" panose="02010600030101010101" pitchFamily="2" charset="-122"/>
              </a:rPr>
              <a:t>S</a:t>
            </a:r>
            <a:r>
              <a:rPr lang="en-US" altLang="zh-CN" sz="2000" b="1" dirty="0">
                <a:latin typeface="宋体" panose="02010600030101010101" pitchFamily="2" charset="-122"/>
                <a:ea typeface="宋体" panose="02010600030101010101" pitchFamily="2" charset="-122"/>
              </a:rPr>
              <a:t> | i</a:t>
            </a:r>
            <a:r>
              <a:rPr lang="en-US" altLang="zh-CN" sz="2000" i="1" dirty="0">
                <a:latin typeface="宋体" panose="02010600030101010101" pitchFamily="2" charset="-122"/>
                <a:ea typeface="宋体" panose="02010600030101010101" pitchFamily="2" charset="-122"/>
              </a:rPr>
              <a:t>E</a:t>
            </a:r>
            <a:r>
              <a:rPr lang="en-US" altLang="zh-CN" sz="2000" b="1" dirty="0">
                <a:latin typeface="宋体" panose="02010600030101010101" pitchFamily="2" charset="-122"/>
                <a:ea typeface="宋体" panose="02010600030101010101" pitchFamily="2" charset="-122"/>
              </a:rPr>
              <a:t>t</a:t>
            </a:r>
            <a:r>
              <a:rPr lang="en-US" altLang="zh-CN" sz="2000" i="1" dirty="0">
                <a:latin typeface="宋体" panose="02010600030101010101" pitchFamily="2" charset="-122"/>
                <a:ea typeface="宋体" panose="02010600030101010101" pitchFamily="2" charset="-122"/>
              </a:rPr>
              <a:t>S</a:t>
            </a:r>
            <a:r>
              <a:rPr lang="en-US" altLang="zh-CN" sz="2000" b="1" dirty="0">
                <a:latin typeface="宋体" panose="02010600030101010101" pitchFamily="2" charset="-122"/>
                <a:ea typeface="宋体" panose="02010600030101010101" pitchFamily="2" charset="-122"/>
              </a:rPr>
              <a:t>e</a:t>
            </a:r>
            <a:r>
              <a:rPr lang="en-US" altLang="zh-CN" sz="2000" i="1" dirty="0">
                <a:latin typeface="宋体" panose="02010600030101010101" pitchFamily="2" charset="-122"/>
                <a:ea typeface="宋体" panose="02010600030101010101" pitchFamily="2" charset="-122"/>
              </a:rPr>
              <a:t>S</a:t>
            </a:r>
            <a:r>
              <a:rPr lang="en-US" altLang="zh-CN" sz="2000" b="1" dirty="0">
                <a:latin typeface="宋体" panose="02010600030101010101" pitchFamily="2" charset="-122"/>
                <a:ea typeface="宋体" panose="02010600030101010101" pitchFamily="2" charset="-122"/>
              </a:rPr>
              <a:t> | a	</a:t>
            </a:r>
            <a:r>
              <a:rPr lang="en-US" altLang="zh-CN" sz="2000" i="1" dirty="0">
                <a:latin typeface="宋体" panose="02010600030101010101" pitchFamily="2" charset="-122"/>
                <a:ea typeface="宋体" panose="02010600030101010101" pitchFamily="2" charset="-122"/>
              </a:rPr>
              <a:t>S</a:t>
            </a:r>
            <a:r>
              <a:rPr lang="en-US" altLang="zh-CN" sz="2000" b="1" dirty="0">
                <a:latin typeface="宋体" panose="02010600030101010101" pitchFamily="2" charset="-122"/>
                <a:ea typeface="宋体" panose="02010600030101010101" pitchFamily="2" charset="-122"/>
              </a:rPr>
              <a:t>→i</a:t>
            </a:r>
            <a:r>
              <a:rPr lang="en-US" altLang="zh-CN" sz="2000" i="1" dirty="0">
                <a:latin typeface="宋体" panose="02010600030101010101" pitchFamily="2" charset="-122"/>
                <a:ea typeface="宋体" panose="02010600030101010101" pitchFamily="2" charset="-122"/>
              </a:rPr>
              <a:t>E</a:t>
            </a:r>
            <a:r>
              <a:rPr lang="en-US" altLang="zh-CN" sz="2000" b="1" dirty="0">
                <a:latin typeface="宋体" panose="02010600030101010101" pitchFamily="2" charset="-122"/>
                <a:ea typeface="宋体" panose="02010600030101010101" pitchFamily="2" charset="-122"/>
              </a:rPr>
              <a:t>t</a:t>
            </a:r>
            <a:r>
              <a:rPr lang="en-US" altLang="zh-CN" sz="2000" i="1" dirty="0">
                <a:latin typeface="宋体" panose="02010600030101010101" pitchFamily="2" charset="-122"/>
                <a:ea typeface="宋体" panose="02010600030101010101" pitchFamily="2" charset="-122"/>
              </a:rPr>
              <a:t>SS</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|a</a:t>
            </a:r>
            <a:endParaRPr lang="en-US" altLang="zh-CN"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E</a:t>
            </a:r>
            <a:r>
              <a:rPr lang="en-US" altLang="zh-CN" sz="2000" b="1" dirty="0">
                <a:latin typeface="宋体" panose="02010600030101010101" pitchFamily="2" charset="-122"/>
                <a:ea typeface="宋体" panose="02010600030101010101" pitchFamily="2" charset="-122"/>
              </a:rPr>
              <a:t>→b				</a:t>
            </a:r>
            <a:r>
              <a:rPr lang="en-US" altLang="zh-CN" sz="2000" i="1" dirty="0">
                <a:latin typeface="宋体" panose="02010600030101010101" pitchFamily="2" charset="-122"/>
                <a:ea typeface="宋体" panose="02010600030101010101" pitchFamily="2" charset="-122"/>
              </a:rPr>
              <a:t>S</a:t>
            </a:r>
            <a:r>
              <a:rPr lang="en-US" altLang="zh-CN" sz="2000" i="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→e</a:t>
            </a:r>
            <a:r>
              <a:rPr lang="en-US" altLang="zh-CN" sz="2000" i="1" dirty="0">
                <a:latin typeface="宋体" panose="02010600030101010101" pitchFamily="2" charset="-122"/>
                <a:ea typeface="宋体" panose="02010600030101010101" pitchFamily="2" charset="-122"/>
              </a:rPr>
              <a:t>S</a:t>
            </a:r>
            <a:r>
              <a:rPr lang="en-US" altLang="zh-CN" sz="2000"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ε</a:t>
            </a:r>
            <a:endParaRPr lang="en-US" altLang="zh-CN"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b="1"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E</a:t>
            </a:r>
            <a:r>
              <a:rPr lang="en-US" altLang="zh-CN" sz="2000" b="1" dirty="0">
                <a:latin typeface="宋体" panose="02010600030101010101" pitchFamily="2" charset="-122"/>
                <a:ea typeface="宋体" panose="02010600030101010101" pitchFamily="2" charset="-122"/>
              </a:rPr>
              <a:t>→b</a:t>
            </a:r>
            <a:endParaRPr lang="en-US" altLang="zh-CN"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第四章 语法分析</a:t>
            </a:r>
            <a:endParaRPr lang="en-US" altLang="zh-CN" dirty="0">
              <a:latin typeface="宋体" panose="02010600030101010101" pitchFamily="2" charset="-122"/>
              <a:ea typeface="宋体" panose="02010600030101010101" pitchFamily="2" charset="-122"/>
            </a:endParaRPr>
          </a:p>
        </p:txBody>
      </p:sp>
      <p:sp>
        <p:nvSpPr>
          <p:cNvPr id="75779" name="Rectangle 3"/>
          <p:cNvSpPr>
            <a:spLocks noGrp="1"/>
          </p:cNvSpPr>
          <p:nvPr>
            <p:ph idx="1"/>
          </p:nvPr>
        </p:nvSpPr>
        <p:spPr>
          <a:xfrm>
            <a:off x="990600" y="1600200"/>
            <a:ext cx="7391400" cy="4191000"/>
          </a:xfrm>
        </p:spPr>
        <p:txBody>
          <a:bodyPr vert="horz" wrap="square" lIns="92075" tIns="46038" rIns="92075" bIns="46038" anchor="t" anchorCtr="0"/>
          <a:p>
            <a:r>
              <a:rPr lang="zh-CN" altLang="en-US" sz="3200" b="1" dirty="0">
                <a:ea typeface="宋体" panose="02010600030101010101" pitchFamily="2" charset="-122"/>
              </a:rPr>
              <a:t>引言</a:t>
            </a:r>
            <a:r>
              <a:rPr lang="en-US" altLang="zh-CN" sz="3200" b="1" dirty="0">
                <a:ea typeface="宋体" panose="02010600030101010101" pitchFamily="2" charset="-122"/>
              </a:rPr>
              <a:t>—</a:t>
            </a:r>
            <a:r>
              <a:rPr lang="zh-CN" altLang="en-US" sz="3200" b="1" dirty="0">
                <a:ea typeface="宋体" panose="02010600030101010101" pitchFamily="2" charset="-122"/>
              </a:rPr>
              <a:t>分析器的作用及错误处理等</a:t>
            </a:r>
            <a:endParaRPr lang="zh-CN" altLang="en-US" sz="3200" b="1" dirty="0">
              <a:ea typeface="宋体" panose="02010600030101010101" pitchFamily="2" charset="-122"/>
            </a:endParaRPr>
          </a:p>
          <a:p>
            <a:r>
              <a:rPr lang="zh-CN" altLang="en-US" sz="3200" b="1" dirty="0">
                <a:ea typeface="宋体" panose="02010600030101010101" pitchFamily="2" charset="-122"/>
              </a:rPr>
              <a:t>上下文无关文法的分析及改造</a:t>
            </a:r>
            <a:endParaRPr lang="zh-CN" altLang="en-US" sz="3200" b="1" dirty="0">
              <a:ea typeface="宋体" panose="02010600030101010101" pitchFamily="2" charset="-122"/>
            </a:endParaRPr>
          </a:p>
          <a:p>
            <a:r>
              <a:rPr lang="zh-CN" altLang="en-US" sz="3200" b="1" dirty="0">
                <a:solidFill>
                  <a:srgbClr val="FF0000"/>
                </a:solidFill>
                <a:ea typeface="宋体" panose="02010600030101010101" pitchFamily="2" charset="-122"/>
              </a:rPr>
              <a:t>自顶向下的分析</a:t>
            </a:r>
            <a:endParaRPr lang="zh-CN" altLang="en-US" sz="3200" b="1" dirty="0">
              <a:solidFill>
                <a:srgbClr val="FF0000"/>
              </a:solidFill>
              <a:ea typeface="宋体" panose="02010600030101010101" pitchFamily="2" charset="-122"/>
            </a:endParaRPr>
          </a:p>
          <a:p>
            <a:r>
              <a:rPr lang="zh-CN" altLang="en-US" sz="3200" b="1" dirty="0">
                <a:ea typeface="宋体" panose="02010600030101010101" pitchFamily="2" charset="-122"/>
              </a:rPr>
              <a:t>自底向上的分析</a:t>
            </a:r>
            <a:endParaRPr lang="zh-CN" altLang="en-US" sz="3200" b="1" dirty="0">
              <a:ea typeface="宋体" panose="02010600030101010101" pitchFamily="2" charset="-122"/>
            </a:endParaRPr>
          </a:p>
          <a:p>
            <a:r>
              <a:rPr lang="en-US" altLang="zh-CN" sz="3200" b="1" dirty="0">
                <a:ea typeface="宋体" panose="02010600030101010101" pitchFamily="2" charset="-122"/>
              </a:rPr>
              <a:t>LR</a:t>
            </a:r>
            <a:r>
              <a:rPr lang="zh-CN" altLang="en-US" sz="3200" b="1" dirty="0">
                <a:ea typeface="宋体" panose="02010600030101010101" pitchFamily="2" charset="-122"/>
              </a:rPr>
              <a:t>分析器</a:t>
            </a:r>
            <a:endParaRPr lang="zh-CN" altLang="en-US" sz="3200" b="1" dirty="0">
              <a:ea typeface="宋体" panose="02010600030101010101" pitchFamily="2" charset="-122"/>
            </a:endParaRPr>
          </a:p>
          <a:p>
            <a:r>
              <a:rPr lang="zh-CN" altLang="en-US" sz="3200" b="1" dirty="0">
                <a:ea typeface="宋体" panose="02010600030101010101" pitchFamily="2" charset="-122"/>
              </a:rPr>
              <a:t>二义文法的应用和自底向上分析的错误处理</a:t>
            </a:r>
            <a:endParaRPr lang="en-US" altLang="zh-CN" sz="3200" b="1" dirty="0">
              <a:ea typeface="宋体" panose="02010600030101010101" pitchFamily="2" charset="-122"/>
            </a:endParaRPr>
          </a:p>
          <a:p>
            <a:r>
              <a:rPr lang="zh-CN" altLang="en-US" sz="3200" b="1" dirty="0">
                <a:ea typeface="宋体" panose="02010600030101010101" pitchFamily="2" charset="-122"/>
              </a:rPr>
              <a:t>语法分析器生成工具</a:t>
            </a:r>
            <a:endParaRPr lang="zh-CN" altLang="en-US" b="1" dirty="0">
              <a:ea typeface="宋体" panose="02010600030101010101" pitchFamily="2" charset="-122"/>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a:t>
            </a:r>
            <a:endParaRPr lang="zh-CN" altLang="en-US" dirty="0">
              <a:latin typeface="宋体" panose="02010600030101010101" pitchFamily="2" charset="-122"/>
              <a:ea typeface="宋体" panose="02010600030101010101" pitchFamily="2" charset="-122"/>
            </a:endParaRPr>
          </a:p>
        </p:txBody>
      </p:sp>
      <p:sp>
        <p:nvSpPr>
          <p:cNvPr id="77827" name="Rectangle 3"/>
          <p:cNvSpPr>
            <a:spLocks noGrp="1"/>
          </p:cNvSpPr>
          <p:nvPr>
            <p:ph idx="1"/>
          </p:nvPr>
        </p:nvSpPr>
        <p:spPr>
          <a:xfrm>
            <a:off x="990600" y="1600200"/>
            <a:ext cx="7391400" cy="4419600"/>
          </a:xfrm>
        </p:spPr>
        <p:txBody>
          <a:bodyPr vert="horz" wrap="square" lIns="92075" tIns="46038" rIns="92075" bIns="46038" anchor="t" anchorCtr="0"/>
          <a:p>
            <a:r>
              <a:rPr lang="zh-CN" altLang="en-US" sz="3600" b="1" dirty="0">
                <a:latin typeface="宋体" panose="02010600030101010101" pitchFamily="2" charset="-122"/>
                <a:ea typeface="宋体" panose="02010600030101010101" pitchFamily="2" charset="-122"/>
              </a:rPr>
              <a:t>基本概念和构造无回溯自顶向下分析器的方法</a:t>
            </a:r>
            <a:endParaRPr lang="en-US" altLang="zh-CN" sz="3600" b="1" dirty="0">
              <a:latin typeface="宋体" panose="02010600030101010101" pitchFamily="2" charset="-122"/>
              <a:ea typeface="宋体" panose="02010600030101010101" pitchFamily="2" charset="-122"/>
            </a:endParaRPr>
          </a:p>
          <a:p>
            <a:endParaRPr lang="en-US" altLang="zh-CN" sz="3600" b="1" dirty="0">
              <a:latin typeface="宋体" panose="02010600030101010101" pitchFamily="2" charset="-122"/>
              <a:ea typeface="宋体" panose="02010600030101010101" pitchFamily="2" charset="-122"/>
            </a:endParaRPr>
          </a:p>
          <a:p>
            <a:r>
              <a:rPr lang="en-US" altLang="zh-CN" sz="3600" b="1" dirty="0">
                <a:latin typeface="宋体" panose="02010600030101010101" pitchFamily="2" charset="-122"/>
                <a:ea typeface="宋体" panose="02010600030101010101" pitchFamily="2" charset="-122"/>
              </a:rPr>
              <a:t>LL（1）</a:t>
            </a:r>
            <a:r>
              <a:rPr lang="zh-CN" altLang="en-US" sz="3600" b="1" dirty="0">
                <a:latin typeface="宋体" panose="02010600030101010101" pitchFamily="2" charset="-122"/>
                <a:ea typeface="宋体" panose="02010600030101010101" pitchFamily="2" charset="-122"/>
              </a:rPr>
              <a:t>文法和非递归的预测分析</a:t>
            </a:r>
            <a:endParaRPr lang="en-US" altLang="zh-CN" sz="3600" b="1" dirty="0">
              <a:latin typeface="宋体" panose="02010600030101010101" pitchFamily="2" charset="-122"/>
              <a:ea typeface="宋体" panose="02010600030101010101" pitchFamily="2" charset="-122"/>
            </a:endParaRPr>
          </a:p>
          <a:p>
            <a:endParaRPr lang="en-US" altLang="zh-CN" sz="3600" b="1" dirty="0">
              <a:latin typeface="宋体" panose="02010600030101010101" pitchFamily="2" charset="-122"/>
              <a:ea typeface="宋体" panose="02010600030101010101" pitchFamily="2" charset="-122"/>
            </a:endParaRPr>
          </a:p>
          <a:p>
            <a:r>
              <a:rPr lang="zh-CN" altLang="en-US" sz="3600" b="1" dirty="0">
                <a:latin typeface="宋体" panose="02010600030101010101" pitchFamily="2" charset="-122"/>
                <a:ea typeface="宋体" panose="02010600030101010101" pitchFamily="2" charset="-122"/>
              </a:rPr>
              <a:t>自顶向下分析的错误恢复</a:t>
            </a:r>
            <a:endParaRPr lang="zh-CN" altLang="en-US" sz="36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自顶向下分析（1）</a:t>
            </a:r>
            <a:endParaRPr lang="zh-CN" altLang="en-US" dirty="0">
              <a:latin typeface="宋体" panose="02010600030101010101" pitchFamily="2" charset="-122"/>
              <a:ea typeface="宋体" panose="02010600030101010101" pitchFamily="2" charset="-122"/>
            </a:endParaRPr>
          </a:p>
        </p:txBody>
      </p:sp>
      <p:sp>
        <p:nvSpPr>
          <p:cNvPr id="79875" name="Rectangle 3"/>
          <p:cNvSpPr>
            <a:spLocks noGrp="1"/>
          </p:cNvSpPr>
          <p:nvPr>
            <p:ph idx="1"/>
          </p:nvPr>
        </p:nvSpPr>
        <p:spPr>
          <a:xfrm>
            <a:off x="990600" y="1484313"/>
            <a:ext cx="7391400" cy="4419600"/>
          </a:xfrm>
        </p:spPr>
        <p:txBody>
          <a:bodyPr vert="horz" wrap="square" lIns="92075" tIns="46038" rIns="92075" bIns="46038" anchor="t" anchorCtr="0"/>
          <a:p>
            <a:r>
              <a:rPr lang="zh-CN" altLang="en-US" sz="2200" b="1" dirty="0">
                <a:latin typeface="宋体" panose="02010600030101010101" pitchFamily="2" charset="-122"/>
                <a:ea typeface="宋体" panose="02010600030101010101" pitchFamily="2" charset="-122"/>
              </a:rPr>
              <a:t>自顶向下分析的一般方法</a:t>
            </a:r>
            <a:endParaRPr lang="zh-CN" altLang="en-US" sz="22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对任何输入串，试图用一切可能的方法，从文法开始符号出发，按照先根次序</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自上而下、从左到右地</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为输入串建立分析树，即为输入串寻找最左推导。这是一个试探过程</a:t>
            </a:r>
            <a:endParaRPr lang="zh-CN" altLang="en-US"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关键问题是对一个非终结符应采用那个产生式推进推导</a:t>
            </a:r>
            <a:r>
              <a:rPr lang="en-US" altLang="zh-CN"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r>
              <a:rPr lang="zh-CN" altLang="en-US" sz="2200" b="1" dirty="0">
                <a:latin typeface="宋体" panose="02010600030101010101" pitchFamily="2" charset="-122"/>
                <a:ea typeface="宋体" panose="02010600030101010101" pitchFamily="2" charset="-122"/>
              </a:rPr>
              <a:t>例子：表达式文法（</a:t>
            </a:r>
            <a:r>
              <a:rPr lang="en-US" altLang="zh-CN" sz="2200" b="1" dirty="0">
                <a:latin typeface="宋体" panose="02010600030101010101" pitchFamily="2" charset="-122"/>
                <a:ea typeface="宋体" panose="02010600030101010101" pitchFamily="2" charset="-122"/>
              </a:rPr>
              <a:t>4.28</a:t>
            </a:r>
            <a:r>
              <a:rPr lang="zh-CN" altLang="en-US" sz="2200" b="1" dirty="0">
                <a:latin typeface="宋体" panose="02010600030101010101" pitchFamily="2" charset="-122"/>
                <a:ea typeface="宋体" panose="02010600030101010101" pitchFamily="2" charset="-122"/>
              </a:rPr>
              <a:t>），已提取左公因子，消除了左递归，下页是构建</a:t>
            </a:r>
            <a:r>
              <a:rPr lang="en-US" altLang="zh-CN" sz="2200" b="1" dirty="0">
                <a:latin typeface="宋体" panose="02010600030101010101" pitchFamily="2" charset="-122"/>
                <a:ea typeface="宋体" panose="02010600030101010101" pitchFamily="2" charset="-122"/>
              </a:rPr>
              <a:t>id+id</a:t>
            </a:r>
            <a:r>
              <a:rPr lang="zh-CN" altLang="en-US" sz="2200" b="1" dirty="0">
                <a:latin typeface="宋体" panose="02010600030101010101" pitchFamily="2" charset="-122"/>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id</a:t>
            </a:r>
            <a:r>
              <a:rPr lang="zh-CN" altLang="en-US" sz="2200" b="1" dirty="0">
                <a:latin typeface="宋体" panose="02010600030101010101" pitchFamily="2" charset="-122"/>
                <a:ea typeface="宋体" panose="02010600030101010101" pitchFamily="2" charset="-122"/>
              </a:rPr>
              <a:t>的过程，注意两次对</a:t>
            </a:r>
            <a:r>
              <a:rPr lang="en-US" altLang="zh-CN" sz="2200" b="1" dirty="0">
                <a:latin typeface="宋体" panose="02010600030101010101" pitchFamily="2" charset="-122"/>
                <a:ea typeface="宋体" panose="02010600030101010101" pitchFamily="2" charset="-122"/>
              </a:rPr>
              <a:t>E’</a:t>
            </a:r>
            <a:r>
              <a:rPr lang="zh-CN" altLang="en-US" sz="2200" b="1" dirty="0">
                <a:latin typeface="宋体" panose="02010600030101010101" pitchFamily="2" charset="-122"/>
                <a:ea typeface="宋体" panose="02010600030101010101" pitchFamily="2" charset="-122"/>
              </a:rPr>
              <a:t>应用产生式的选择</a:t>
            </a:r>
            <a:endParaRPr lang="en-US" altLang="zh-CN" sz="2200" b="1" dirty="0">
              <a:latin typeface="宋体" panose="02010600030101010101" pitchFamily="2" charset="-122"/>
              <a:ea typeface="宋体" panose="02010600030101010101" pitchFamily="2" charset="-122"/>
            </a:endParaRPr>
          </a:p>
          <a:p>
            <a:pPr lvl="2">
              <a:buNone/>
            </a:pPr>
            <a:r>
              <a:rPr lang="en-US" altLang="zh-CN" b="1" dirty="0">
                <a:ea typeface="宋体" panose="02010600030101010101" pitchFamily="2" charset="-122"/>
              </a:rPr>
              <a:t>E </a:t>
            </a:r>
            <a:r>
              <a:rPr lang="zh-CN" altLang="en-US" b="1" dirty="0">
                <a:ea typeface="宋体" panose="02010600030101010101" pitchFamily="2" charset="-122"/>
              </a:rPr>
              <a:t> </a:t>
            </a:r>
            <a:r>
              <a:rPr lang="en-US" altLang="zh-CN" b="1" dirty="0">
                <a:ea typeface="宋体" panose="02010600030101010101" pitchFamily="2" charset="-122"/>
              </a:rPr>
              <a:t>→ TE’</a:t>
            </a:r>
            <a:endParaRPr lang="en-US" altLang="zh-CN" b="1" dirty="0">
              <a:ea typeface="宋体" panose="02010600030101010101" pitchFamily="2" charset="-122"/>
            </a:endParaRPr>
          </a:p>
          <a:p>
            <a:pPr lvl="2">
              <a:buNone/>
            </a:pPr>
            <a:r>
              <a:rPr lang="en-US" altLang="zh-CN" b="1" dirty="0">
                <a:ea typeface="宋体" panose="02010600030101010101" pitchFamily="2" charset="-122"/>
              </a:rPr>
              <a:t>E’</a:t>
            </a:r>
            <a:r>
              <a:rPr lang="zh-CN" altLang="en-US" b="1" dirty="0">
                <a:ea typeface="宋体" panose="02010600030101010101" pitchFamily="2" charset="-122"/>
              </a:rPr>
              <a:t> </a:t>
            </a:r>
            <a:r>
              <a:rPr lang="en-US" altLang="zh-CN" b="1" dirty="0">
                <a:ea typeface="宋体" panose="02010600030101010101" pitchFamily="2" charset="-122"/>
              </a:rPr>
              <a:t>→ + T E’ | </a:t>
            </a:r>
            <a:r>
              <a:rPr lang="el-GR" altLang="zh-CN" b="1" dirty="0">
                <a:ea typeface="宋体" panose="02010600030101010101" pitchFamily="2" charset="-122"/>
              </a:rPr>
              <a:t>ε</a:t>
            </a:r>
            <a:endParaRPr lang="en-US" altLang="zh-CN" b="1" dirty="0">
              <a:ea typeface="宋体" panose="02010600030101010101" pitchFamily="2" charset="-122"/>
            </a:endParaRPr>
          </a:p>
          <a:p>
            <a:pPr lvl="2">
              <a:buNone/>
            </a:pPr>
            <a:r>
              <a:rPr lang="en-US" altLang="zh-CN" b="1" dirty="0">
                <a:ea typeface="宋体" panose="02010600030101010101" pitchFamily="2" charset="-122"/>
              </a:rPr>
              <a:t>T</a:t>
            </a:r>
            <a:r>
              <a:rPr lang="zh-CN" altLang="en-US" b="1" dirty="0">
                <a:ea typeface="宋体" panose="02010600030101010101" pitchFamily="2" charset="-122"/>
              </a:rPr>
              <a:t> </a:t>
            </a:r>
            <a:r>
              <a:rPr lang="en-US" altLang="zh-CN" b="1" dirty="0">
                <a:ea typeface="宋体" panose="02010600030101010101" pitchFamily="2" charset="-122"/>
              </a:rPr>
              <a:t>→ FT’</a:t>
            </a:r>
            <a:endParaRPr lang="zh-CN" altLang="en-US" b="1" dirty="0">
              <a:ea typeface="宋体" panose="02010600030101010101" pitchFamily="2" charset="-122"/>
            </a:endParaRPr>
          </a:p>
          <a:p>
            <a:pPr lvl="2">
              <a:buNone/>
            </a:pPr>
            <a:r>
              <a:rPr lang="en-US" altLang="zh-CN" b="1" dirty="0">
                <a:ea typeface="宋体" panose="02010600030101010101" pitchFamily="2" charset="-122"/>
              </a:rPr>
              <a:t>T’</a:t>
            </a:r>
            <a:r>
              <a:rPr lang="zh-CN" altLang="en-US" b="1" dirty="0">
                <a:ea typeface="宋体" panose="02010600030101010101" pitchFamily="2" charset="-122"/>
              </a:rPr>
              <a:t> </a:t>
            </a:r>
            <a:r>
              <a:rPr lang="en-US" altLang="zh-CN" b="1" dirty="0">
                <a:ea typeface="宋体" panose="02010600030101010101" pitchFamily="2" charset="-122"/>
              </a:rPr>
              <a:t>→ * F T’ | </a:t>
            </a:r>
            <a:r>
              <a:rPr lang="el-GR" altLang="zh-CN" b="1" dirty="0">
                <a:ea typeface="宋体" panose="02010600030101010101" pitchFamily="2" charset="-122"/>
              </a:rPr>
              <a:t>ε</a:t>
            </a:r>
            <a:endParaRPr lang="en-US" altLang="zh-CN" b="1" dirty="0">
              <a:ea typeface="宋体" panose="02010600030101010101" pitchFamily="2" charset="-122"/>
            </a:endParaRPr>
          </a:p>
          <a:p>
            <a:pPr lvl="2">
              <a:buNone/>
            </a:pPr>
            <a:r>
              <a:rPr lang="en-US" altLang="zh-CN" b="1" dirty="0">
                <a:ea typeface="宋体" panose="02010600030101010101" pitchFamily="2" charset="-122"/>
              </a:rPr>
              <a:t>F</a:t>
            </a:r>
            <a:r>
              <a:rPr lang="zh-CN" altLang="en-US" b="1" dirty="0">
                <a:ea typeface="宋体" panose="02010600030101010101" pitchFamily="2" charset="-122"/>
              </a:rPr>
              <a:t> </a:t>
            </a:r>
            <a:r>
              <a:rPr lang="en-US" altLang="zh-CN" b="1" dirty="0">
                <a:ea typeface="宋体" panose="02010600030101010101" pitchFamily="2" charset="-122"/>
              </a:rPr>
              <a:t>→ ( E )</a:t>
            </a:r>
            <a:r>
              <a:rPr lang="zh-CN" altLang="en-US" b="1" dirty="0">
                <a:ea typeface="宋体" panose="02010600030101010101" pitchFamily="2" charset="-122"/>
              </a:rPr>
              <a:t> </a:t>
            </a:r>
            <a:r>
              <a:rPr lang="en-US" altLang="zh-CN" b="1" dirty="0">
                <a:ea typeface="宋体" panose="02010600030101010101" pitchFamily="2" charset="-122"/>
              </a:rPr>
              <a:t>|</a:t>
            </a:r>
            <a:r>
              <a:rPr lang="zh-CN" altLang="en-US" b="1" dirty="0">
                <a:ea typeface="宋体" panose="02010600030101010101" pitchFamily="2" charset="-122"/>
              </a:rPr>
              <a:t> </a:t>
            </a:r>
            <a:r>
              <a:rPr lang="en-US" altLang="zh-CN" b="1" dirty="0">
                <a:ea typeface="宋体" panose="02010600030101010101" pitchFamily="2" charset="-122"/>
              </a:rPr>
              <a:t>id</a:t>
            </a:r>
            <a:endParaRPr lang="zh-CN" altLang="en-US" b="1" dirty="0">
              <a:ea typeface="宋体" panose="02010600030101010101" pitchFamily="2" charset="-122"/>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22" name="Picture 2"/>
          <p:cNvPicPr>
            <a:picLocks noChangeAspect="1"/>
          </p:cNvPicPr>
          <p:nvPr/>
        </p:nvPicPr>
        <p:blipFill>
          <a:blip r:embed="rId1"/>
          <a:stretch>
            <a:fillRect/>
          </a:stretch>
        </p:blipFill>
        <p:spPr>
          <a:xfrm>
            <a:off x="107950" y="115888"/>
            <a:ext cx="7010400" cy="6477000"/>
          </a:xfrm>
          <a:prstGeom prst="rect">
            <a:avLst/>
          </a:prstGeom>
          <a:noFill/>
          <a:ln w="9525">
            <a:noFill/>
          </a:ln>
        </p:spPr>
      </p:pic>
      <p:sp>
        <p:nvSpPr>
          <p:cNvPr id="81923" name="椭圆 1"/>
          <p:cNvSpPr/>
          <p:nvPr/>
        </p:nvSpPr>
        <p:spPr>
          <a:xfrm>
            <a:off x="6084888" y="404813"/>
            <a:ext cx="863600" cy="1008062"/>
          </a:xfrm>
          <a:prstGeom prst="ellipse">
            <a:avLst/>
          </a:prstGeom>
          <a:noFill/>
          <a:ln w="22225" cap="flat" cmpd="sng">
            <a:solidFill>
              <a:srgbClr val="FF0000"/>
            </a:solidFill>
            <a:prstDash val="solid"/>
            <a:headEnd type="none" w="sm" len="sm"/>
            <a:tailEnd type="triangle" w="lg"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81924" name="椭圆 3"/>
          <p:cNvSpPr/>
          <p:nvPr/>
        </p:nvSpPr>
        <p:spPr>
          <a:xfrm>
            <a:off x="6588125" y="4652963"/>
            <a:ext cx="431800" cy="792162"/>
          </a:xfrm>
          <a:prstGeom prst="ellipse">
            <a:avLst/>
          </a:prstGeom>
          <a:noFill/>
          <a:ln w="22225" cap="flat" cmpd="sng">
            <a:solidFill>
              <a:srgbClr val="FF0000"/>
            </a:solidFill>
            <a:prstDash val="solid"/>
            <a:headEnd type="none" w="sm" len="sm"/>
            <a:tailEnd type="triangle" w="lg"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81925" name="文本框 2"/>
          <p:cNvSpPr txBox="1"/>
          <p:nvPr/>
        </p:nvSpPr>
        <p:spPr>
          <a:xfrm>
            <a:off x="7019925" y="260350"/>
            <a:ext cx="1873250"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1800" dirty="0">
                <a:ea typeface="宋体" panose="02010600030101010101" pitchFamily="2" charset="-122"/>
              </a:rPr>
              <a:t>第一次选择时，向前看的符号是“</a:t>
            </a:r>
            <a:r>
              <a:rPr lang="en-US" altLang="zh-CN" sz="1800" dirty="0">
                <a:ea typeface="宋体" panose="02010600030101010101" pitchFamily="2" charset="-122"/>
              </a:rPr>
              <a:t>+</a:t>
            </a:r>
            <a:r>
              <a:rPr lang="zh-CN" altLang="en-US" sz="1800" dirty="0">
                <a:ea typeface="宋体" panose="02010600030101010101" pitchFamily="2" charset="-122"/>
              </a:rPr>
              <a:t>”，所以选择了</a:t>
            </a:r>
            <a:r>
              <a:rPr lang="en-US" altLang="zh-CN" sz="1800" b="1" dirty="0">
                <a:ea typeface="宋体" panose="02010600030101010101" pitchFamily="2" charset="-122"/>
              </a:rPr>
              <a:t>E’</a:t>
            </a:r>
            <a:r>
              <a:rPr lang="zh-CN" altLang="en-US" sz="1800" b="1" dirty="0">
                <a:ea typeface="宋体" panose="02010600030101010101" pitchFamily="2" charset="-122"/>
              </a:rPr>
              <a:t> </a:t>
            </a:r>
            <a:r>
              <a:rPr lang="en-US" altLang="zh-CN" sz="1800" b="1" dirty="0">
                <a:ea typeface="宋体" panose="02010600030101010101" pitchFamily="2" charset="-122"/>
              </a:rPr>
              <a:t>→ + T E’ </a:t>
            </a:r>
            <a:endParaRPr lang="en-US" altLang="zh-CN" sz="1800" b="1" dirty="0">
              <a:ea typeface="宋体" panose="02010600030101010101" pitchFamily="2" charset="-122"/>
            </a:endParaRPr>
          </a:p>
        </p:txBody>
      </p:sp>
      <p:sp>
        <p:nvSpPr>
          <p:cNvPr id="81926" name="文本框 5"/>
          <p:cNvSpPr txBox="1"/>
          <p:nvPr/>
        </p:nvSpPr>
        <p:spPr>
          <a:xfrm>
            <a:off x="7092950" y="4437063"/>
            <a:ext cx="1871663"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1800" dirty="0">
                <a:ea typeface="宋体" panose="02010600030101010101" pitchFamily="2" charset="-122"/>
              </a:rPr>
              <a:t>第二次选择时，向前看的符号是输入结束符，所以选择了</a:t>
            </a:r>
            <a:r>
              <a:rPr lang="en-US" altLang="zh-CN" sz="1800" b="1" dirty="0">
                <a:ea typeface="宋体" panose="02010600030101010101" pitchFamily="2" charset="-122"/>
              </a:rPr>
              <a:t>E’</a:t>
            </a:r>
            <a:r>
              <a:rPr lang="zh-CN" altLang="en-US" sz="1800" b="1" dirty="0">
                <a:ea typeface="宋体" panose="02010600030101010101" pitchFamily="2" charset="-122"/>
              </a:rPr>
              <a:t> </a:t>
            </a:r>
            <a:r>
              <a:rPr lang="en-US" altLang="zh-CN" sz="1800" b="1" dirty="0">
                <a:ea typeface="宋体" panose="02010600030101010101" pitchFamily="2" charset="-122"/>
              </a:rPr>
              <a:t>→ </a:t>
            </a:r>
            <a:r>
              <a:rPr lang="el-GR" altLang="zh-CN" sz="1800" b="1" dirty="0">
                <a:ea typeface="宋体" panose="02010600030101010101" pitchFamily="2" charset="-122"/>
              </a:rPr>
              <a:t>ε</a:t>
            </a:r>
            <a:endParaRPr lang="en-US" altLang="zh-CN" sz="1800" b="1" dirty="0">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2915920" y="-2219325"/>
            <a:ext cx="2076450" cy="2219325"/>
          </a:xfrm>
          <a:prstGeom prst="rect">
            <a:avLst/>
          </a:prstGeom>
        </p:spPr>
      </p:pic>
      <p:sp>
        <p:nvSpPr>
          <p:cNvPr id="3" name="文本框 2"/>
          <p:cNvSpPr txBox="1"/>
          <p:nvPr/>
        </p:nvSpPr>
        <p:spPr>
          <a:xfrm>
            <a:off x="5147945" y="-1467485"/>
            <a:ext cx="4572000" cy="429895"/>
          </a:xfrm>
          <a:prstGeom prst="rect">
            <a:avLst/>
          </a:prstGeom>
          <a:noFill/>
        </p:spPr>
        <p:txBody>
          <a:bodyPr wrap="square" rtlCol="0" anchor="t">
            <a:spAutoFit/>
          </a:bodyPr>
          <a:p>
            <a:r>
              <a:rPr lang="en-US" altLang="zh-CN" sz="2200" b="1" dirty="0">
                <a:latin typeface="宋体" panose="02010600030101010101" pitchFamily="2" charset="-122"/>
                <a:ea typeface="宋体" panose="02010600030101010101" pitchFamily="2" charset="-122"/>
                <a:sym typeface="+mn-ea"/>
              </a:rPr>
              <a:t>id+id</a:t>
            </a:r>
            <a:r>
              <a:rPr lang="zh-CN" altLang="en-US" sz="2200" b="1" dirty="0">
                <a:latin typeface="宋体" panose="02010600030101010101" pitchFamily="2" charset="-122"/>
                <a:ea typeface="宋体" panose="02010600030101010101" pitchFamily="2" charset="-122"/>
                <a:sym typeface="+mn-ea"/>
              </a:rPr>
              <a:t>*</a:t>
            </a:r>
            <a:r>
              <a:rPr lang="en-US" altLang="zh-CN" sz="2200" b="1" dirty="0">
                <a:latin typeface="宋体" panose="02010600030101010101" pitchFamily="2" charset="-122"/>
                <a:ea typeface="宋体" panose="02010600030101010101" pitchFamily="2" charset="-122"/>
                <a:sym typeface="+mn-ea"/>
              </a:rPr>
              <a:t>id </a:t>
            </a:r>
            <a:r>
              <a:rPr lang="en-US" altLang="zh-CN" sz="2200" b="1" dirty="0">
                <a:latin typeface="宋体" panose="02010600030101010101" pitchFamily="2" charset="-122"/>
                <a:ea typeface="宋体" panose="02010600030101010101" pitchFamily="2" charset="-122"/>
                <a:sym typeface="+mn-ea"/>
              </a:rPr>
              <a:t>EOF</a:t>
            </a:r>
            <a:endParaRPr lang="en-US" altLang="zh-CN" sz="2200" b="1" dirty="0">
              <a:latin typeface="宋体" panose="02010600030101010101" pitchFamily="2" charset="-122"/>
              <a:ea typeface="宋体" panose="02010600030101010101" pitchFamily="2" charset="-122"/>
              <a:sym typeface="+mn-ea"/>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3731" name="Rectangle 3"/>
          <p:cNvSpPr>
            <a:spLocks noGrp="1" noChangeArrowheads="1"/>
          </p:cNvSpPr>
          <p:nvPr>
            <p:ph idx="1"/>
          </p:nvPr>
        </p:nvSpPr>
        <p:spPr>
          <a:xfrm>
            <a:off x="990600" y="1371600"/>
            <a:ext cx="7391400" cy="46482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递归下降的语法分析</a:t>
            </a:r>
            <a:endPar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可以执行一组递归的过程来处理输入，每个过程联系到文法的一个非终结符，称为递归下降分析</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程序的执行从文法开始符号对应的过程开始</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如果分析流程刚好扫瞄了整个输入串，则分析成功完成</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下图给出了示意代码，但未说明如何选择</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适用的产生式</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可能需要回溯，要修改上图代码，效率受影响</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pic>
        <p:nvPicPr>
          <p:cNvPr id="83972" name="Picture 2"/>
          <p:cNvPicPr>
            <a:picLocks noChangeAspect="1"/>
          </p:cNvPicPr>
          <p:nvPr/>
        </p:nvPicPr>
        <p:blipFill>
          <a:blip r:embed="rId1"/>
          <a:stretch>
            <a:fillRect/>
          </a:stretch>
        </p:blipFill>
        <p:spPr>
          <a:xfrm>
            <a:off x="0" y="3444875"/>
            <a:ext cx="8789988" cy="2686050"/>
          </a:xfrm>
          <a:prstGeom prst="rect">
            <a:avLst/>
          </a:prstGeom>
          <a:noFill/>
          <a:ln w="9525">
            <a:noFill/>
          </a:ln>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6019" name="Rectangle 3"/>
          <p:cNvSpPr>
            <a:spLocks noGrp="1"/>
          </p:cNvSpPr>
          <p:nvPr>
            <p:ph idx="1"/>
          </p:nvPr>
        </p:nvSpPr>
        <p:spPr>
          <a:xfrm>
            <a:off x="990600" y="1600200"/>
            <a:ext cx="7391400" cy="4419600"/>
          </a:xfrm>
        </p:spPr>
        <p:txBody>
          <a:bodyPr vert="horz" wrap="square" lIns="92075" tIns="46038" rIns="92075" bIns="46038" anchor="t" anchorCtr="0"/>
          <a:p>
            <a:pPr lvl="1">
              <a:buNone/>
            </a:pPr>
            <a:r>
              <a:rPr lang="zh-CN" altLang="en-US" sz="2000" b="1" dirty="0">
                <a:latin typeface="宋体" panose="02010600030101010101" pitchFamily="2" charset="-122"/>
                <a:ea typeface="宋体" panose="02010600030101010101" pitchFamily="2" charset="-122"/>
              </a:rPr>
              <a:t>	对于如下文法和输入串</a:t>
            </a:r>
            <a:r>
              <a:rPr lang="en-US" altLang="zh-CN" sz="2000" b="1" dirty="0">
                <a:latin typeface="宋体" panose="02010600030101010101" pitchFamily="2" charset="-122"/>
                <a:ea typeface="宋体" panose="02010600030101010101" pitchFamily="2" charset="-122"/>
              </a:rPr>
              <a:t>cad，</a:t>
            </a:r>
            <a:r>
              <a:rPr lang="zh-CN" altLang="en-US" sz="2000" b="1" dirty="0">
                <a:latin typeface="宋体" panose="02010600030101010101" pitchFamily="2" charset="-122"/>
                <a:ea typeface="宋体" panose="02010600030101010101" pitchFamily="2" charset="-122"/>
              </a:rPr>
              <a:t>自顶向下的分析树建立</a:t>
            </a:r>
            <a:endParaRPr lang="zh-CN" altLang="en-US" sz="2000" b="1" dirty="0">
              <a:latin typeface="宋体" panose="02010600030101010101" pitchFamily="2" charset="-122"/>
              <a:ea typeface="宋体" panose="02010600030101010101" pitchFamily="2" charset="-122"/>
            </a:endParaRPr>
          </a:p>
          <a:p>
            <a:pPr lvl="1">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S→cAd</a:t>
            </a:r>
            <a:endParaRPr lang="en-US" altLang="zh-CN" sz="2000" b="1" dirty="0">
              <a:latin typeface="宋体" panose="02010600030101010101" pitchFamily="2" charset="-122"/>
              <a:ea typeface="宋体" panose="02010600030101010101" pitchFamily="2" charset="-122"/>
            </a:endParaRPr>
          </a:p>
          <a:p>
            <a:pPr lvl="1">
              <a:buNone/>
            </a:pPr>
            <a:r>
              <a:rPr lang="en-US" altLang="zh-CN" sz="2000" b="1" dirty="0">
                <a:latin typeface="宋体" panose="02010600030101010101" pitchFamily="2" charset="-122"/>
                <a:ea typeface="宋体" panose="02010600030101010101" pitchFamily="2" charset="-122"/>
              </a:rPr>
              <a:t>		A</a:t>
            </a:r>
            <a:r>
              <a:rPr lang="en-US" altLang="zh-CN" sz="2200" b="1" dirty="0">
                <a:latin typeface="宋体" panose="02010600030101010101" pitchFamily="2" charset="-122"/>
                <a:ea typeface="宋体" panose="02010600030101010101" pitchFamily="2" charset="-122"/>
              </a:rPr>
              <a:t>→ab|a</a:t>
            </a:r>
            <a:endParaRPr lang="en-US" altLang="zh-CN" sz="2200" b="1" dirty="0">
              <a:latin typeface="宋体" panose="02010600030101010101" pitchFamily="2" charset="-122"/>
              <a:ea typeface="宋体" panose="02010600030101010101" pitchFamily="2" charset="-122"/>
            </a:endParaRPr>
          </a:p>
        </p:txBody>
      </p:sp>
      <p:graphicFrame>
        <p:nvGraphicFramePr>
          <p:cNvPr id="665604" name="Object 4"/>
          <p:cNvGraphicFramePr>
            <a:graphicFrameLocks noChangeAspect="1"/>
          </p:cNvGraphicFramePr>
          <p:nvPr/>
        </p:nvGraphicFramePr>
        <p:xfrm>
          <a:off x="1676400" y="3073400"/>
          <a:ext cx="1504950" cy="862013"/>
        </p:xfrm>
        <a:graphic>
          <a:graphicData uri="http://schemas.openxmlformats.org/presentationml/2006/ole">
            <mc:AlternateContent xmlns:mc="http://schemas.openxmlformats.org/markup-compatibility/2006">
              <mc:Choice xmlns:v="urn:schemas-microsoft-com:vml" Requires="v">
                <p:oleObj spid="_x0000_s3095" name="" r:id="rId1" imgW="2019300" imgH="1168400" progId="Visio.Drawing.11">
                  <p:embed/>
                </p:oleObj>
              </mc:Choice>
              <mc:Fallback>
                <p:oleObj name="" r:id="rId1" imgW="2019300" imgH="1168400" progId="Visio.Drawing.11">
                  <p:embed/>
                  <p:pic>
                    <p:nvPicPr>
                      <p:cNvPr id="0" name="图片 3094"/>
                      <p:cNvPicPr/>
                      <p:nvPr/>
                    </p:nvPicPr>
                    <p:blipFill>
                      <a:blip r:embed="rId2"/>
                      <a:stretch>
                        <a:fillRect/>
                      </a:stretch>
                    </p:blipFill>
                    <p:spPr>
                      <a:xfrm>
                        <a:off x="1676400" y="3073400"/>
                        <a:ext cx="1504950" cy="862013"/>
                      </a:xfrm>
                      <a:prstGeom prst="rect">
                        <a:avLst/>
                      </a:prstGeom>
                      <a:noFill/>
                      <a:ln w="38100">
                        <a:noFill/>
                        <a:miter/>
                      </a:ln>
                    </p:spPr>
                  </p:pic>
                </p:oleObj>
              </mc:Fallback>
            </mc:AlternateContent>
          </a:graphicData>
        </a:graphic>
      </p:graphicFrame>
      <p:graphicFrame>
        <p:nvGraphicFramePr>
          <p:cNvPr id="665605" name="Object 5"/>
          <p:cNvGraphicFramePr>
            <a:graphicFrameLocks noChangeAspect="1"/>
          </p:cNvGraphicFramePr>
          <p:nvPr/>
        </p:nvGraphicFramePr>
        <p:xfrm>
          <a:off x="3429000" y="2997200"/>
          <a:ext cx="1973263" cy="1401763"/>
        </p:xfrm>
        <a:graphic>
          <a:graphicData uri="http://schemas.openxmlformats.org/presentationml/2006/ole">
            <mc:AlternateContent xmlns:mc="http://schemas.openxmlformats.org/markup-compatibility/2006">
              <mc:Choice xmlns:v="urn:schemas-microsoft-com:vml" Requires="v">
                <p:oleObj spid="_x0000_s3097" name="" r:id="rId3" imgW="2641600" imgH="1879600" progId="Visio.Drawing.11">
                  <p:embed/>
                </p:oleObj>
              </mc:Choice>
              <mc:Fallback>
                <p:oleObj name="" r:id="rId3" imgW="2641600" imgH="1879600" progId="Visio.Drawing.11">
                  <p:embed/>
                  <p:pic>
                    <p:nvPicPr>
                      <p:cNvPr id="0" name="图片 3096"/>
                      <p:cNvPicPr/>
                      <p:nvPr/>
                    </p:nvPicPr>
                    <p:blipFill>
                      <a:blip r:embed="rId4"/>
                      <a:stretch>
                        <a:fillRect/>
                      </a:stretch>
                    </p:blipFill>
                    <p:spPr>
                      <a:xfrm>
                        <a:off x="3429000" y="2997200"/>
                        <a:ext cx="1973263" cy="1401763"/>
                      </a:xfrm>
                      <a:prstGeom prst="rect">
                        <a:avLst/>
                      </a:prstGeom>
                      <a:noFill/>
                      <a:ln w="38100">
                        <a:noFill/>
                        <a:miter/>
                      </a:ln>
                    </p:spPr>
                  </p:pic>
                </p:oleObj>
              </mc:Fallback>
            </mc:AlternateContent>
          </a:graphicData>
        </a:graphic>
      </p:graphicFrame>
      <p:graphicFrame>
        <p:nvGraphicFramePr>
          <p:cNvPr id="665606" name="Object 6"/>
          <p:cNvGraphicFramePr>
            <a:graphicFrameLocks noChangeAspect="1"/>
          </p:cNvGraphicFramePr>
          <p:nvPr/>
        </p:nvGraphicFramePr>
        <p:xfrm>
          <a:off x="5715000" y="2997200"/>
          <a:ext cx="1973263" cy="1382713"/>
        </p:xfrm>
        <a:graphic>
          <a:graphicData uri="http://schemas.openxmlformats.org/presentationml/2006/ole">
            <mc:AlternateContent xmlns:mc="http://schemas.openxmlformats.org/markup-compatibility/2006">
              <mc:Choice xmlns:v="urn:schemas-microsoft-com:vml" Requires="v">
                <p:oleObj spid="_x0000_s3098" name="" r:id="rId5" imgW="2641600" imgH="1854200" progId="Visio.Drawing.11">
                  <p:embed/>
                </p:oleObj>
              </mc:Choice>
              <mc:Fallback>
                <p:oleObj name="" r:id="rId5" imgW="2641600" imgH="1854200" progId="Visio.Drawing.11">
                  <p:embed/>
                  <p:pic>
                    <p:nvPicPr>
                      <p:cNvPr id="0" name="图片 3097"/>
                      <p:cNvPicPr/>
                      <p:nvPr/>
                    </p:nvPicPr>
                    <p:blipFill>
                      <a:blip r:embed="rId6"/>
                      <a:stretch>
                        <a:fillRect/>
                      </a:stretch>
                    </p:blipFill>
                    <p:spPr>
                      <a:xfrm>
                        <a:off x="5715000" y="2997200"/>
                        <a:ext cx="1973263" cy="1382713"/>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65604"/>
                                        </p:tgtEl>
                                        <p:attrNameLst>
                                          <p:attrName>style.visibility</p:attrName>
                                        </p:attrNameLst>
                                      </p:cBhvr>
                                      <p:to>
                                        <p:strVal val="visible"/>
                                      </p:to>
                                    </p:set>
                                    <p:anim calcmode="lin" valueType="num">
                                      <p:cBhvr additive="base">
                                        <p:cTn id="7" dur="500" fill="hold"/>
                                        <p:tgtEl>
                                          <p:spTgt spid="665604"/>
                                        </p:tgtEl>
                                        <p:attrNameLst>
                                          <p:attrName>ppt_x</p:attrName>
                                        </p:attrNameLst>
                                      </p:cBhvr>
                                      <p:tavLst>
                                        <p:tav tm="0">
                                          <p:val>
                                            <p:strVal val="0-#ppt_w/2"/>
                                          </p:val>
                                        </p:tav>
                                        <p:tav tm="100000">
                                          <p:val>
                                            <p:strVal val="#ppt_x"/>
                                          </p:val>
                                        </p:tav>
                                      </p:tavLst>
                                    </p:anim>
                                    <p:anim calcmode="lin" valueType="num">
                                      <p:cBhvr additive="base">
                                        <p:cTn id="8" dur="500" fill="hold"/>
                                        <p:tgtEl>
                                          <p:spTgt spid="66560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65605"/>
                                        </p:tgtEl>
                                        <p:attrNameLst>
                                          <p:attrName>style.visibility</p:attrName>
                                        </p:attrNameLst>
                                      </p:cBhvr>
                                      <p:to>
                                        <p:strVal val="visible"/>
                                      </p:to>
                                    </p:set>
                                    <p:anim calcmode="lin" valueType="num">
                                      <p:cBhvr additive="base">
                                        <p:cTn id="13" dur="500" fill="hold"/>
                                        <p:tgtEl>
                                          <p:spTgt spid="665605"/>
                                        </p:tgtEl>
                                        <p:attrNameLst>
                                          <p:attrName>ppt_x</p:attrName>
                                        </p:attrNameLst>
                                      </p:cBhvr>
                                      <p:tavLst>
                                        <p:tav tm="0">
                                          <p:val>
                                            <p:strVal val="0-#ppt_w/2"/>
                                          </p:val>
                                        </p:tav>
                                        <p:tav tm="100000">
                                          <p:val>
                                            <p:strVal val="#ppt_x"/>
                                          </p:val>
                                        </p:tav>
                                      </p:tavLst>
                                    </p:anim>
                                    <p:anim calcmode="lin" valueType="num">
                                      <p:cBhvr additive="base">
                                        <p:cTn id="14" dur="500" fill="hold"/>
                                        <p:tgtEl>
                                          <p:spTgt spid="66560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65606"/>
                                        </p:tgtEl>
                                        <p:attrNameLst>
                                          <p:attrName>style.visibility</p:attrName>
                                        </p:attrNameLst>
                                      </p:cBhvr>
                                      <p:to>
                                        <p:strVal val="visible"/>
                                      </p:to>
                                    </p:set>
                                    <p:anim calcmode="lin" valueType="num">
                                      <p:cBhvr additive="base">
                                        <p:cTn id="19" dur="500" fill="hold"/>
                                        <p:tgtEl>
                                          <p:spTgt spid="665606"/>
                                        </p:tgtEl>
                                        <p:attrNameLst>
                                          <p:attrName>ppt_x</p:attrName>
                                        </p:attrNameLst>
                                      </p:cBhvr>
                                      <p:tavLst>
                                        <p:tav tm="0">
                                          <p:val>
                                            <p:strVal val="0-#ppt_w/2"/>
                                          </p:val>
                                        </p:tav>
                                        <p:tav tm="100000">
                                          <p:val>
                                            <p:strVal val="#ppt_x"/>
                                          </p:val>
                                        </p:tav>
                                      </p:tavLst>
                                    </p:anim>
                                    <p:anim calcmode="lin" valueType="num">
                                      <p:cBhvr additive="base">
                                        <p:cTn id="20" dur="500" fill="hold"/>
                                        <p:tgtEl>
                                          <p:spTgt spid="6656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8067" name="Rectangle 3"/>
          <p:cNvSpPr>
            <a:spLocks noGrp="1"/>
          </p:cNvSpPr>
          <p:nvPr>
            <p:ph idx="1"/>
          </p:nvPr>
        </p:nvSpPr>
        <p:spPr>
          <a:xfrm>
            <a:off x="990600" y="1371600"/>
            <a:ext cx="7391400" cy="45720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一般的自顶向下分析存在的问题：</a:t>
            </a:r>
            <a:endParaRPr lang="en-US" altLang="zh-CN" sz="2400" b="1" dirty="0">
              <a:latin typeface="宋体" panose="02010600030101010101" pitchFamily="2" charset="-122"/>
              <a:ea typeface="宋体" panose="02010600030101010101" pitchFamily="2" charset="-122"/>
            </a:endParaRPr>
          </a:p>
          <a:p>
            <a:pPr lvl="1"/>
            <a:r>
              <a:rPr lang="zh-CN" altLang="en-US" sz="2200" b="1" dirty="0">
                <a:latin typeface="宋体" panose="02010600030101010101" pitchFamily="2" charset="-122"/>
                <a:ea typeface="宋体" panose="02010600030101010101" pitchFamily="2" charset="-122"/>
              </a:rPr>
              <a:t>如果文法存在左递归(      )，则使自顶向下的分析过程陷入无限循环</a:t>
            </a:r>
            <a:endParaRPr lang="en-US" altLang="zh-CN" sz="2200" b="1" dirty="0">
              <a:latin typeface="宋体" panose="02010600030101010101" pitchFamily="2" charset="-122"/>
              <a:ea typeface="宋体" panose="02010600030101010101" pitchFamily="2" charset="-122"/>
            </a:endParaRPr>
          </a:p>
          <a:p>
            <a:pPr lvl="1"/>
            <a:r>
              <a:rPr lang="zh-CN" altLang="en-US" sz="2200" b="1" dirty="0">
                <a:latin typeface="宋体" panose="02010600030101010101" pitchFamily="2" charset="-122"/>
                <a:ea typeface="宋体" panose="02010600030101010101" pitchFamily="2" charset="-122"/>
              </a:rPr>
              <a:t>当非终结符用某个选择匹配成功时，这种成功可能是暂时的。由于这种虚假现象的存在，需要回溯技术</a:t>
            </a:r>
            <a:endParaRPr lang="en-US" altLang="zh-CN" sz="2200" b="1" dirty="0">
              <a:latin typeface="宋体" panose="02010600030101010101" pitchFamily="2" charset="-122"/>
              <a:ea typeface="宋体" panose="02010600030101010101" pitchFamily="2" charset="-122"/>
            </a:endParaRPr>
          </a:p>
          <a:p>
            <a:pPr lvl="1"/>
            <a:r>
              <a:rPr lang="zh-CN" altLang="en-US" sz="2200" b="1" dirty="0">
                <a:latin typeface="宋体" panose="02010600030101010101" pitchFamily="2" charset="-122"/>
                <a:ea typeface="宋体" panose="02010600030101010101" pitchFamily="2" charset="-122"/>
              </a:rPr>
              <a:t>由于回溯，需要把已做的一些语义工作推倒重来，费时费力，所以最好设法消除回溯</a:t>
            </a:r>
            <a:endParaRPr lang="en-US" altLang="zh-CN" sz="2200" b="1" dirty="0">
              <a:latin typeface="宋体" panose="02010600030101010101" pitchFamily="2" charset="-122"/>
              <a:ea typeface="宋体" panose="02010600030101010101" pitchFamily="2" charset="-122"/>
            </a:endParaRPr>
          </a:p>
          <a:p>
            <a:pPr lvl="1"/>
            <a:r>
              <a:rPr lang="zh-CN" altLang="en-US" sz="2200" b="1" dirty="0">
                <a:latin typeface="宋体" panose="02010600030101010101" pitchFamily="2" charset="-122"/>
                <a:ea typeface="宋体" panose="02010600030101010101" pitchFamily="2" charset="-122"/>
              </a:rPr>
              <a:t>当最终报告分析不成功时，难以知道输入串出错的确切位置</a:t>
            </a:r>
            <a:endParaRPr lang="en-US" altLang="zh-CN" sz="2200" b="1" dirty="0">
              <a:latin typeface="宋体" panose="02010600030101010101" pitchFamily="2" charset="-122"/>
              <a:ea typeface="宋体" panose="02010600030101010101" pitchFamily="2" charset="-122"/>
            </a:endParaRPr>
          </a:p>
          <a:p>
            <a:pPr lvl="1"/>
            <a:r>
              <a:rPr lang="zh-CN" altLang="en-US" sz="2200" b="1" dirty="0">
                <a:latin typeface="宋体" panose="02010600030101010101" pitchFamily="2" charset="-122"/>
                <a:ea typeface="宋体" panose="02010600030101010101" pitchFamily="2" charset="-122"/>
              </a:rPr>
              <a:t>带回溯的自顶向下分析是一种穷举搜索，代价极高，只有理论意义，实践价值不大</a:t>
            </a:r>
            <a:endParaRPr lang="zh-CN" altLang="en-US" sz="2200" b="1" dirty="0">
              <a:latin typeface="宋体" panose="02010600030101010101" pitchFamily="2" charset="-122"/>
              <a:ea typeface="宋体" panose="02010600030101010101" pitchFamily="2" charset="-122"/>
            </a:endParaRPr>
          </a:p>
        </p:txBody>
      </p:sp>
      <p:graphicFrame>
        <p:nvGraphicFramePr>
          <p:cNvPr id="88068" name="Object 4"/>
          <p:cNvGraphicFramePr>
            <a:graphicFrameLocks noChangeAspect="1"/>
          </p:cNvGraphicFramePr>
          <p:nvPr/>
        </p:nvGraphicFramePr>
        <p:xfrm>
          <a:off x="4572000" y="1716088"/>
          <a:ext cx="827088" cy="434975"/>
        </p:xfrm>
        <a:graphic>
          <a:graphicData uri="http://schemas.openxmlformats.org/presentationml/2006/ole">
            <mc:AlternateContent xmlns:mc="http://schemas.openxmlformats.org/markup-compatibility/2006">
              <mc:Choice xmlns:v="urn:schemas-microsoft-com:vml" Requires="v">
                <p:oleObj spid="_x0000_s3096" name="" r:id="rId1" imgW="622300" imgH="368300" progId="Equation.3">
                  <p:embed/>
                </p:oleObj>
              </mc:Choice>
              <mc:Fallback>
                <p:oleObj name="" r:id="rId1" imgW="622300" imgH="368300" progId="Equation.3">
                  <p:embed/>
                  <p:pic>
                    <p:nvPicPr>
                      <p:cNvPr id="0" name="图片 3095"/>
                      <p:cNvPicPr/>
                      <p:nvPr/>
                    </p:nvPicPr>
                    <p:blipFill>
                      <a:blip r:embed="rId2"/>
                      <a:stretch>
                        <a:fillRect/>
                      </a:stretch>
                    </p:blipFill>
                    <p:spPr>
                      <a:xfrm>
                        <a:off x="4572000" y="1716088"/>
                        <a:ext cx="827088" cy="434975"/>
                      </a:xfrm>
                      <a:prstGeom prst="rect">
                        <a:avLst/>
                      </a:prstGeom>
                      <a:noFill/>
                      <a:ln w="38100">
                        <a:noFill/>
                        <a:miter/>
                      </a:ln>
                    </p:spPr>
                  </p:pic>
                </p:oleObj>
              </mc:Fallback>
            </mc:AlternateContent>
          </a:graphicData>
        </a:graphic>
      </p:graphicFrame>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7827" name="Rectangle 3"/>
          <p:cNvSpPr>
            <a:spLocks noGrp="1" noChangeArrowheads="1"/>
          </p:cNvSpPr>
          <p:nvPr>
            <p:ph idx="1"/>
          </p:nvPr>
        </p:nvSpPr>
        <p:spPr>
          <a:xfrm>
            <a:off x="990600" y="1371600"/>
            <a:ext cx="7391400" cy="46482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确定的递归下降分析举例</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对于文法</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G1[S]：	</a:t>
            </a:r>
            <a:r>
              <a:rPr kumimoji="0" lang="en-US" altLang="zh-CN" sz="22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S→pA</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22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qB</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0"/>
              </a:spcBef>
              <a:spcAft>
                <a:spcPct val="0"/>
              </a:spcAft>
              <a:buClr>
                <a:srgbClr val="063DE8"/>
              </a:buClr>
              <a:buSzPct val="70000"/>
              <a:buFont typeface="Monotype Sorts"/>
              <a:buNone/>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2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A→cAd</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0"/>
              </a:spcBef>
              <a:spcAft>
                <a:spcPct val="0"/>
              </a:spcAft>
              <a:buClr>
                <a:srgbClr val="063DE8"/>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对输入串</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pccadd</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自顶向下的推导过程是：</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0"/>
              </a:spcBef>
              <a:spcAft>
                <a:spcPct val="0"/>
              </a:spcAft>
              <a:buClr>
                <a:srgbClr val="063DE8"/>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 =&gt;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pA</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=&gt;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pcAd</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=&gt;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pccAdd</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=&gt;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pccadd</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对应的分析树：</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None/>
              <a:defRPr/>
            </a:pP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None/>
              <a:defRPr/>
            </a:pP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None/>
              <a:defRPr/>
            </a:pP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文法</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的特点：</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AutoNum type="arabicParen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每个产生式的右部都由终结符号开始</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AutoNum type="arabicParen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如果两个产生式的左部相同，则它们的右部由不同的终结符号开始</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显然，</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在推导过程中可以根据当前的输入符号唯一地选择哪个产生式继续推导</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Char char="v"/>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graphicFrame>
        <p:nvGraphicFramePr>
          <p:cNvPr id="90116" name="Object 8"/>
          <p:cNvGraphicFramePr>
            <a:graphicFrameLocks noChangeAspect="1"/>
          </p:cNvGraphicFramePr>
          <p:nvPr/>
        </p:nvGraphicFramePr>
        <p:xfrm>
          <a:off x="3708400" y="3214688"/>
          <a:ext cx="4924425" cy="1943100"/>
        </p:xfrm>
        <a:graphic>
          <a:graphicData uri="http://schemas.openxmlformats.org/presentationml/2006/ole">
            <mc:AlternateContent xmlns:mc="http://schemas.openxmlformats.org/markup-compatibility/2006">
              <mc:Choice xmlns:v="urn:schemas-microsoft-com:vml" Requires="v">
                <p:oleObj spid="_x0000_s3100" name="" r:id="rId1" imgW="6578600" imgH="3302000" progId="Visio.Drawing.11">
                  <p:embed/>
                </p:oleObj>
              </mc:Choice>
              <mc:Fallback>
                <p:oleObj name="" r:id="rId1" imgW="6578600" imgH="3302000" progId="Visio.Drawing.11">
                  <p:embed/>
                  <p:pic>
                    <p:nvPicPr>
                      <p:cNvPr id="0" name="图片 3099"/>
                      <p:cNvPicPr/>
                      <p:nvPr/>
                    </p:nvPicPr>
                    <p:blipFill>
                      <a:blip r:embed="rId2"/>
                      <a:stretch>
                        <a:fillRect/>
                      </a:stretch>
                    </p:blipFill>
                    <p:spPr>
                      <a:xfrm>
                        <a:off x="3708400" y="3214688"/>
                        <a:ext cx="4924425" cy="1943100"/>
                      </a:xfrm>
                      <a:prstGeom prst="rect">
                        <a:avLst/>
                      </a:prstGeom>
                      <a:noFill/>
                      <a:ln w="38100">
                        <a:noFill/>
                        <a:miter/>
                      </a:ln>
                    </p:spPr>
                  </p:pic>
                </p:oleObj>
              </mc:Fallback>
            </mc:AlternateContent>
          </a:graphicData>
        </a:graphic>
      </p:graphicFrame>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a:t>
            </a:r>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1683" name="Rectangle 3"/>
          <p:cNvSpPr>
            <a:spLocks noGrp="1" noChangeArrowheads="1"/>
          </p:cNvSpPr>
          <p:nvPr>
            <p:ph idx="1"/>
          </p:nvPr>
        </p:nvSpPr>
        <p:spPr>
          <a:xfrm>
            <a:off x="990600" y="1371600"/>
            <a:ext cx="7391400" cy="5029200"/>
          </a:xfrm>
        </p:spPr>
        <p:txBody>
          <a:bodyPr vert="horz" wrap="square" lIns="92075" tIns="46038" rIns="92075" bIns="46038" numCol="1" anchor="t" anchorCtr="0" compatLnSpc="1"/>
          <a:lstStyle/>
          <a:p>
            <a:pPr marL="914400" marR="0" lvl="2" indent="0" algn="l" defTabSz="914400" rtl="0" eaLnBrk="0" fontAlgn="base" latinLnBrk="0" hangingPunct="0">
              <a:lnSpc>
                <a:spcPct val="90000"/>
              </a:lnSpc>
              <a:spcBef>
                <a:spcPct val="0"/>
              </a:spcBef>
              <a:spcAft>
                <a:spcPct val="0"/>
              </a:spcAft>
              <a:buClr>
                <a:srgbClr val="063DE8"/>
              </a:buClr>
              <a:buSzPct val="70000"/>
              <a:buFontTx/>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对于文法</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G2[S]：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S→Ap</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Bq</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0"/>
              </a:spcBef>
              <a:spcAft>
                <a:spcPct val="0"/>
              </a:spcAft>
              <a:buClr>
                <a:srgbClr val="063DE8"/>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A→a</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cA</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0"/>
              </a:spcBef>
              <a:spcAft>
                <a:spcPct val="0"/>
              </a:spcAft>
              <a:buClr>
                <a:srgbClr val="063DE8"/>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B→b</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dB</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0"/>
              </a:spcBef>
              <a:spcAft>
                <a:spcPct val="0"/>
              </a:spcAft>
              <a:buClr>
                <a:srgbClr val="063DE8"/>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对输入串</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ccap</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自顶向下的推导过程是：</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0"/>
              </a:spcBef>
              <a:spcAft>
                <a:spcPct val="0"/>
              </a:spcAft>
              <a:buClr>
                <a:srgbClr val="063DE8"/>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 =&gt;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Ap</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=&gt;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cAp</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=&gt;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ccAp</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=&gt;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ccap</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0"/>
              </a:spcBef>
              <a:spcAft>
                <a:spcPct val="0"/>
              </a:spcAft>
              <a:buClr>
                <a:srgbClr val="063DE8"/>
              </a:buClr>
              <a:buSzPct val="70000"/>
              <a:buFontTx/>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对应的分析树：</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0"/>
              </a:spcBef>
              <a:spcAft>
                <a:spcPct val="0"/>
              </a:spcAft>
              <a:buClr>
                <a:srgbClr val="063DE8"/>
              </a:buClr>
              <a:buSzPct val="70000"/>
              <a:buFont typeface="Wingdings" panose="05000000000000000000" pitchFamily="2" charset="2"/>
              <a:buNone/>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0"/>
              </a:spcBef>
              <a:spcAft>
                <a:spcPct val="0"/>
              </a:spcAft>
              <a:buClr>
                <a:srgbClr val="063DE8"/>
              </a:buClr>
              <a:buSzPct val="70000"/>
              <a:buFont typeface="Wingdings" panose="05000000000000000000" pitchFamily="2" charset="2"/>
              <a:buNone/>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0"/>
              </a:spcBef>
              <a:spcAft>
                <a:spcPct val="0"/>
              </a:spcAft>
              <a:buClr>
                <a:srgbClr val="063DE8"/>
              </a:buClr>
              <a:buSzPct val="70000"/>
              <a:buFont typeface="Wingdings" panose="05000000000000000000" pitchFamily="2" charset="2"/>
              <a:buNone/>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0"/>
              </a:spcBef>
              <a:spcAft>
                <a:spcPct val="0"/>
              </a:spcAft>
              <a:buClr>
                <a:srgbClr val="063DE8"/>
              </a:buClr>
              <a:buSzPct val="70000"/>
              <a:buFont typeface="Wingdings" panose="05000000000000000000" pitchFamily="2" charset="2"/>
              <a:buNone/>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文法</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G2</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的特点：</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AutoNum type="arabicParen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每个产生式的右部不全是由终结符号开始</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AutoNum type="arabicParen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如果两个产生式的左部相同，则它们的右部由不同的终结符号或非终结符号开始</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AutoNum type="arabicParen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文法中没有</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ε</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产生式</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虽然不象</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那样直观，</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G2</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在推导过程中仍然可以根据当前的输入符号唯一地选择哪个产生式继续推导</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0"/>
              </a:spcBef>
              <a:spcAft>
                <a:spcPct val="0"/>
              </a:spcAft>
              <a:buClr>
                <a:srgbClr val="063DE8"/>
              </a:buClr>
              <a:buSzPct val="70000"/>
              <a:buFont typeface="Wingdings" panose="05000000000000000000" pitchFamily="2" charset="2"/>
              <a:buNone/>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0"/>
              </a:spcBef>
              <a:spcAft>
                <a:spcPct val="0"/>
              </a:spcAft>
              <a:buClr>
                <a:srgbClr val="063DE8"/>
              </a:buClr>
              <a:buSzPct val="70000"/>
              <a:buFont typeface="Wingdings" panose="05000000000000000000" pitchFamily="2" charset="2"/>
              <a:buNone/>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graphicFrame>
        <p:nvGraphicFramePr>
          <p:cNvPr id="92164" name="Object 4"/>
          <p:cNvGraphicFramePr>
            <a:graphicFrameLocks noChangeAspect="1"/>
          </p:cNvGraphicFramePr>
          <p:nvPr/>
        </p:nvGraphicFramePr>
        <p:xfrm>
          <a:off x="3895725" y="2852738"/>
          <a:ext cx="4205288" cy="2174875"/>
        </p:xfrm>
        <a:graphic>
          <a:graphicData uri="http://schemas.openxmlformats.org/presentationml/2006/ole">
            <mc:AlternateContent xmlns:mc="http://schemas.openxmlformats.org/markup-compatibility/2006">
              <mc:Choice xmlns:v="urn:schemas-microsoft-com:vml" Requires="v">
                <p:oleObj spid="_x0000_s3103" name="" r:id="rId1" imgW="5613400" imgH="3302000" progId="Visio.Drawing.11">
                  <p:embed/>
                </p:oleObj>
              </mc:Choice>
              <mc:Fallback>
                <p:oleObj name="" r:id="rId1" imgW="5613400" imgH="3302000" progId="Visio.Drawing.11">
                  <p:embed/>
                  <p:pic>
                    <p:nvPicPr>
                      <p:cNvPr id="0" name="图片 3102"/>
                      <p:cNvPicPr/>
                      <p:nvPr/>
                    </p:nvPicPr>
                    <p:blipFill>
                      <a:blip r:embed="rId2"/>
                      <a:stretch>
                        <a:fillRect/>
                      </a:stretch>
                    </p:blipFill>
                    <p:spPr>
                      <a:xfrm>
                        <a:off x="3895725" y="2852738"/>
                        <a:ext cx="4205288" cy="2174875"/>
                      </a:xfrm>
                      <a:prstGeom prst="rect">
                        <a:avLst/>
                      </a:prstGeom>
                      <a:noFill/>
                      <a:ln w="38100">
                        <a:noFill/>
                        <a:miter/>
                      </a:ln>
                    </p:spPr>
                  </p:pic>
                </p:oleObj>
              </mc:Fallback>
            </mc:AlternateContent>
          </a:graphicData>
        </a:graphic>
      </p:graphicFrame>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自顶向下分析（6）</a:t>
            </a:r>
            <a:endParaRPr lang="zh-CN" altLang="en-US" dirty="0">
              <a:latin typeface="宋体" panose="02010600030101010101" pitchFamily="2" charset="-122"/>
              <a:ea typeface="宋体" panose="02010600030101010101" pitchFamily="2" charset="-122"/>
            </a:endParaRPr>
          </a:p>
        </p:txBody>
      </p:sp>
      <p:sp>
        <p:nvSpPr>
          <p:cNvPr id="75779" name="Rectangle 3"/>
          <p:cNvSpPr>
            <a:spLocks noGrp="1" noChangeArrowheads="1"/>
          </p:cNvSpPr>
          <p:nvPr>
            <p:ph idx="1"/>
          </p:nvPr>
        </p:nvSpPr>
        <p:spPr>
          <a:xfrm>
            <a:off x="990600" y="1600200"/>
            <a:ext cx="7391400" cy="4419600"/>
          </a:xfrm>
        </p:spPr>
        <p:txBody>
          <a:bodyPr vert="horz" wrap="square" lIns="92075" tIns="46038" rIns="92075" bIns="46038" numCol="1" anchor="t" anchorCtr="0" compatLnSpc="1"/>
          <a:lstStyle/>
          <a:p>
            <a:pPr marL="914400" marR="0" lvl="2" indent="0" algn="l" defTabSz="914400" rtl="0" eaLnBrk="0" fontAlgn="base" latinLnBrk="0" hangingPunct="0">
              <a:lnSpc>
                <a:spcPct val="100000"/>
              </a:lnSpc>
              <a:spcBef>
                <a:spcPct val="0"/>
              </a:spcBef>
              <a:spcAft>
                <a:spcPct val="0"/>
              </a:spcAft>
              <a:buClr>
                <a:srgbClr val="063DE8"/>
              </a:buClr>
              <a:buSzPct val="70000"/>
              <a:buFontTx/>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对于文法</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G3[S]：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S→aA</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0"/>
              </a:spcBef>
              <a:spcAft>
                <a:spcPct val="0"/>
              </a:spcAft>
              <a:buClr>
                <a:srgbClr val="063DE8"/>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S→d</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0"/>
              </a:spcBef>
              <a:spcAft>
                <a:spcPct val="0"/>
              </a:spcAft>
              <a:buClr>
                <a:srgbClr val="063DE8"/>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A→bAS</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0"/>
              </a:spcBef>
              <a:spcAft>
                <a:spcPct val="0"/>
              </a:spcAft>
              <a:buClr>
                <a:srgbClr val="063DE8"/>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22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ε</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0"/>
              </a:spcBef>
              <a:spcAft>
                <a:spcPct val="0"/>
              </a:spcAft>
              <a:buClr>
                <a:srgbClr val="063DE8"/>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对输入串</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abd</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自顶向下的推导过程是：</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0"/>
              </a:spcBef>
              <a:spcAft>
                <a:spcPct val="0"/>
              </a:spcAft>
              <a:buClr>
                <a:srgbClr val="063DE8"/>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 =&gt;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aA</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=&gt;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abAS</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=&gt;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abS</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=&gt;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abd</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对应的分析树：</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graphicFrame>
        <p:nvGraphicFramePr>
          <p:cNvPr id="94212" name="Object 5"/>
          <p:cNvGraphicFramePr>
            <a:graphicFrameLocks noChangeAspect="1"/>
          </p:cNvGraphicFramePr>
          <p:nvPr/>
        </p:nvGraphicFramePr>
        <p:xfrm>
          <a:off x="1981200" y="3962400"/>
          <a:ext cx="5465763" cy="1941513"/>
        </p:xfrm>
        <a:graphic>
          <a:graphicData uri="http://schemas.openxmlformats.org/presentationml/2006/ole">
            <mc:AlternateContent xmlns:mc="http://schemas.openxmlformats.org/markup-compatibility/2006">
              <mc:Choice xmlns:v="urn:schemas-microsoft-com:vml" Requires="v">
                <p:oleObj spid="_x0000_s3099" name="" r:id="rId1" imgW="7302500" imgH="2603500" progId="Visio.Drawing.11">
                  <p:embed/>
                </p:oleObj>
              </mc:Choice>
              <mc:Fallback>
                <p:oleObj name="" r:id="rId1" imgW="7302500" imgH="2603500" progId="Visio.Drawing.11">
                  <p:embed/>
                  <p:pic>
                    <p:nvPicPr>
                      <p:cNvPr id="0" name="图片 3098"/>
                      <p:cNvPicPr/>
                      <p:nvPr/>
                    </p:nvPicPr>
                    <p:blipFill>
                      <a:blip r:embed="rId2"/>
                      <a:stretch>
                        <a:fillRect/>
                      </a:stretch>
                    </p:blipFill>
                    <p:spPr>
                      <a:xfrm>
                        <a:off x="1981200" y="3962400"/>
                        <a:ext cx="5465763" cy="1941513"/>
                      </a:xfrm>
                      <a:prstGeom prst="rect">
                        <a:avLst/>
                      </a:prstGeom>
                      <a:noFill/>
                      <a:ln w="38100">
                        <a:noFill/>
                        <a:miter/>
                      </a:ln>
                    </p:spPr>
                  </p:pic>
                </p:oleObj>
              </mc:Fallback>
            </mc:AlternateContent>
          </a:graphicData>
        </a:graphic>
      </p:graphicFrame>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自顶向下分析（7）</a:t>
            </a:r>
            <a:endParaRPr lang="zh-CN" altLang="en-US" dirty="0">
              <a:latin typeface="宋体" panose="02010600030101010101" pitchFamily="2" charset="-122"/>
              <a:ea typeface="宋体" panose="02010600030101010101" pitchFamily="2" charset="-122"/>
            </a:endParaRPr>
          </a:p>
        </p:txBody>
      </p:sp>
      <p:sp>
        <p:nvSpPr>
          <p:cNvPr id="77827" name="Rectangle 3"/>
          <p:cNvSpPr>
            <a:spLocks noGrp="1" noChangeArrowheads="1"/>
          </p:cNvSpPr>
          <p:nvPr>
            <p:ph idx="1"/>
          </p:nvPr>
        </p:nvSpPr>
        <p:spPr>
          <a:xfrm>
            <a:off x="990600" y="1371600"/>
            <a:ext cx="7391400"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不需要回溯的条件：对文法的任何非终结符，当要去匹配输入串时，它能够根据所面临的输入符号准确地指派它的一个选择去执行任务，并且这个选择的工作结果应是确信无疑的</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FIRST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集：令文法</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G</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是不含左递归的文法，对</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G</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的非终结符的候选</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α</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定义它的开始符号（终结首符）集合：</a:t>
            </a:r>
            <a:endPar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933450" marR="0" lvl="1" indent="-4191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Char char="§"/>
              <a:defRPr/>
            </a:pPr>
            <a:endPar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特别地，如果</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可以推导出</a:t>
            </a:r>
            <a:r>
              <a:rPr kumimoji="0" lang="el-GR"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，则</a:t>
            </a:r>
            <a:r>
              <a:rPr kumimoji="0" lang="el-GR"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也是</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FIRST(α)</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的元素</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如果非终结符</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的任意两个选择的开始符号集满足</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FIRST(α</a:t>
            </a:r>
            <a:r>
              <a:rPr kumimoji="0" lang="en-US" altLang="zh-CN" sz="22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)∩FIRST(α</a:t>
            </a:r>
            <a:r>
              <a:rPr kumimoji="0" lang="en-US" altLang="zh-CN" sz="22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j</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2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Φ</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且空串不是关于</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的所有开始符号集的元素，则</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可以根据所面临的第一个输入符号，准确地指派一个选择去去执行任务，这个选择是那个开始符号集含</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参考文法</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G1</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的例子</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graphicFrame>
        <p:nvGraphicFramePr>
          <p:cNvPr id="96260" name="Object 5"/>
          <p:cNvGraphicFramePr>
            <a:graphicFrameLocks noChangeAspect="1"/>
          </p:cNvGraphicFramePr>
          <p:nvPr/>
        </p:nvGraphicFramePr>
        <p:xfrm>
          <a:off x="2627313" y="3536950"/>
          <a:ext cx="3598862" cy="539750"/>
        </p:xfrm>
        <a:graphic>
          <a:graphicData uri="http://schemas.openxmlformats.org/presentationml/2006/ole">
            <mc:AlternateContent xmlns:mc="http://schemas.openxmlformats.org/markup-compatibility/2006">
              <mc:Choice xmlns:v="urn:schemas-microsoft-com:vml" Requires="v">
                <p:oleObj spid="_x0000_s3101" name="" r:id="rId1" imgW="2260600" imgH="393700" progId="Equation.3">
                  <p:embed/>
                </p:oleObj>
              </mc:Choice>
              <mc:Fallback>
                <p:oleObj name="" r:id="rId1" imgW="2260600" imgH="393700" progId="Equation.3">
                  <p:embed/>
                  <p:pic>
                    <p:nvPicPr>
                      <p:cNvPr id="0" name="图片 3100"/>
                      <p:cNvPicPr/>
                      <p:nvPr/>
                    </p:nvPicPr>
                    <p:blipFill>
                      <a:blip r:embed="rId2"/>
                      <a:stretch>
                        <a:fillRect/>
                      </a:stretch>
                    </p:blipFill>
                    <p:spPr>
                      <a:xfrm>
                        <a:off x="2627313" y="3536950"/>
                        <a:ext cx="3598862" cy="539750"/>
                      </a:xfrm>
                      <a:prstGeom prst="rect">
                        <a:avLst/>
                      </a:prstGeom>
                      <a:noFill/>
                      <a:ln w="38100">
                        <a:noFill/>
                        <a:miter/>
                      </a:ln>
                    </p:spPr>
                  </p:pic>
                </p:oleObj>
              </mc:Fallback>
            </mc:AlternateContent>
          </a:graphicData>
        </a:graphic>
      </p:graphicFrame>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自顶向下分析（7）</a:t>
            </a:r>
            <a:endParaRPr lang="zh-CN" altLang="en-US" dirty="0">
              <a:latin typeface="宋体" panose="02010600030101010101" pitchFamily="2" charset="-122"/>
              <a:ea typeface="宋体" panose="02010600030101010101" pitchFamily="2" charset="-122"/>
            </a:endParaRPr>
          </a:p>
        </p:txBody>
      </p:sp>
      <p:sp>
        <p:nvSpPr>
          <p:cNvPr id="98307" name="Rectangle 3"/>
          <p:cNvSpPr>
            <a:spLocks noGrp="1"/>
          </p:cNvSpPr>
          <p:nvPr>
            <p:ph idx="1"/>
          </p:nvPr>
        </p:nvSpPr>
        <p:spPr>
          <a:xfrm>
            <a:off x="990600" y="1371600"/>
            <a:ext cx="7391400" cy="4876800"/>
          </a:xfrm>
        </p:spPr>
        <p:txBody>
          <a:bodyPr vert="horz" wrap="square" lIns="92075" tIns="46038" rIns="92075" bIns="46038" anchor="t" anchorCtr="0"/>
          <a:p>
            <a:r>
              <a:rPr lang="en-US" altLang="zh-CN" sz="2200" b="1" dirty="0">
                <a:latin typeface="宋体" panose="02010600030101010101" pitchFamily="2" charset="-122"/>
                <a:ea typeface="宋体" panose="02010600030101010101" pitchFamily="2" charset="-122"/>
              </a:rPr>
              <a:t>FOLLOW</a:t>
            </a:r>
            <a:r>
              <a:rPr lang="zh-CN" altLang="en-US" sz="2200" b="1" dirty="0">
                <a:latin typeface="宋体" panose="02010600030101010101" pitchFamily="2" charset="-122"/>
                <a:ea typeface="宋体" panose="02010600030101010101" pitchFamily="2" charset="-122"/>
              </a:rPr>
              <a:t>集：对文法</a:t>
            </a:r>
            <a:r>
              <a:rPr lang="en-US" altLang="zh-CN" sz="2200" b="1" dirty="0">
                <a:latin typeface="宋体" panose="02010600030101010101" pitchFamily="2" charset="-122"/>
                <a:ea typeface="宋体" panose="02010600030101010101" pitchFamily="2" charset="-122"/>
              </a:rPr>
              <a:t>G</a:t>
            </a:r>
            <a:r>
              <a:rPr lang="zh-CN" altLang="en-US" sz="2200" b="1" dirty="0">
                <a:latin typeface="宋体" panose="02010600030101010101" pitchFamily="2" charset="-122"/>
                <a:ea typeface="宋体" panose="02010600030101010101" pitchFamily="2" charset="-122"/>
              </a:rPr>
              <a:t>的任何非终结符</a:t>
            </a:r>
            <a:r>
              <a:rPr lang="en-US" altLang="zh-CN" sz="2200" b="1" dirty="0">
                <a:latin typeface="宋体" panose="02010600030101010101" pitchFamily="2" charset="-122"/>
                <a:ea typeface="宋体" panose="02010600030101010101" pitchFamily="2" charset="-122"/>
              </a:rPr>
              <a:t>A，</a:t>
            </a:r>
            <a:r>
              <a:rPr lang="zh-CN" altLang="en-US" sz="2200" b="1" dirty="0">
                <a:latin typeface="宋体" panose="02010600030101010101" pitchFamily="2" charset="-122"/>
                <a:ea typeface="宋体" panose="02010600030101010101" pitchFamily="2" charset="-122"/>
              </a:rPr>
              <a:t>定义它的后继符号集合：</a:t>
            </a:r>
            <a:endParaRPr lang="en-US" altLang="zh-CN" sz="20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特别地，如果</a:t>
            </a:r>
            <a:r>
              <a:rPr lang="en-US" altLang="zh-CN" sz="1800" b="1" dirty="0">
                <a:latin typeface="宋体" panose="02010600030101010101" pitchFamily="2" charset="-122"/>
                <a:ea typeface="宋体" panose="02010600030101010101" pitchFamily="2" charset="-122"/>
              </a:rPr>
              <a:t>A</a:t>
            </a:r>
            <a:r>
              <a:rPr lang="zh-CN" altLang="en-US" sz="1800" b="1" dirty="0">
                <a:latin typeface="宋体" panose="02010600030101010101" pitchFamily="2" charset="-122"/>
                <a:ea typeface="宋体" panose="02010600030101010101" pitchFamily="2" charset="-122"/>
              </a:rPr>
              <a:t>可以是某个句型的最右符号，则$（表示输入结束的符号）也是</a:t>
            </a:r>
            <a:r>
              <a:rPr lang="en-US" altLang="zh-CN" sz="1800" b="1" dirty="0">
                <a:latin typeface="宋体" panose="02010600030101010101" pitchFamily="2" charset="-122"/>
                <a:ea typeface="宋体" panose="02010600030101010101" pitchFamily="2" charset="-122"/>
              </a:rPr>
              <a:t>FOLLOW(A)</a:t>
            </a:r>
            <a:r>
              <a:rPr lang="zh-CN" altLang="en-US" sz="1800" b="1" dirty="0">
                <a:latin typeface="宋体" panose="02010600030101010101" pitchFamily="2" charset="-122"/>
                <a:ea typeface="宋体" panose="02010600030101010101" pitchFamily="2" charset="-122"/>
              </a:rPr>
              <a:t>的元素</a:t>
            </a:r>
            <a:endParaRPr lang="en-US" altLang="zh-CN" sz="1800" b="1" dirty="0">
              <a:latin typeface="宋体" panose="02010600030101010101" pitchFamily="2" charset="-122"/>
              <a:ea typeface="宋体" panose="02010600030101010101" pitchFamily="2" charset="-122"/>
            </a:endParaRPr>
          </a:p>
          <a:p>
            <a:pPr lvl="1"/>
            <a:r>
              <a:rPr lang="en-US" altLang="zh-CN" sz="2000" b="1" dirty="0">
                <a:latin typeface="宋体" panose="02010600030101010101" pitchFamily="2" charset="-122"/>
                <a:ea typeface="宋体" panose="02010600030101010101" pitchFamily="2" charset="-122"/>
              </a:rPr>
              <a:t>FOLLOW(A)</a:t>
            </a:r>
            <a:r>
              <a:rPr lang="zh-CN" altLang="en-US" sz="2000" b="1" dirty="0">
                <a:latin typeface="宋体" panose="02010600030101010101" pitchFamily="2" charset="-122"/>
                <a:ea typeface="宋体" panose="02010600030101010101" pitchFamily="2" charset="-122"/>
              </a:rPr>
              <a:t>集合是所有句型中出现在紧接</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之后的终结符号或$所组成的集合</a:t>
            </a:r>
            <a:endParaRPr lang="en-US" altLang="zh-CN" sz="2000" b="1" dirty="0">
              <a:latin typeface="宋体" panose="02010600030101010101" pitchFamily="2" charset="-122"/>
              <a:ea typeface="宋体" panose="02010600030101010101" pitchFamily="2" charset="-122"/>
            </a:endParaRPr>
          </a:p>
          <a:p>
            <a:r>
              <a:rPr lang="en-US" altLang="zh-CN" sz="2400" b="1" dirty="0">
                <a:latin typeface="宋体" panose="02010600030101010101" pitchFamily="2" charset="-122"/>
                <a:ea typeface="宋体" panose="02010600030101010101" pitchFamily="2" charset="-122"/>
              </a:rPr>
              <a:t>FIRST</a:t>
            </a:r>
            <a:r>
              <a:rPr lang="zh-CN" altLang="en-US" sz="2400" b="1" dirty="0">
                <a:latin typeface="宋体" panose="02010600030101010101" pitchFamily="2" charset="-122"/>
                <a:ea typeface="宋体" panose="02010600030101010101" pitchFamily="2" charset="-122"/>
              </a:rPr>
              <a:t>和</a:t>
            </a:r>
            <a:r>
              <a:rPr lang="en-US" altLang="zh-CN" sz="2400" b="1" dirty="0">
                <a:latin typeface="宋体" panose="02010600030101010101" pitchFamily="2" charset="-122"/>
                <a:ea typeface="宋体" panose="02010600030101010101" pitchFamily="2" charset="-122"/>
              </a:rPr>
              <a:t>FOLLOW</a:t>
            </a:r>
            <a:r>
              <a:rPr lang="zh-CN" altLang="en-US" sz="2400" b="1" dirty="0">
                <a:latin typeface="宋体" panose="02010600030101010101" pitchFamily="2" charset="-122"/>
                <a:ea typeface="宋体" panose="02010600030101010101" pitchFamily="2" charset="-122"/>
              </a:rPr>
              <a:t>字符在语法树中位置的示意图</a:t>
            </a:r>
            <a:endParaRPr lang="zh-CN" altLang="en-US" sz="2400" b="1" dirty="0">
              <a:ea typeface="宋体" panose="02010600030101010101" pitchFamily="2" charset="-122"/>
            </a:endParaRPr>
          </a:p>
        </p:txBody>
      </p:sp>
      <p:graphicFrame>
        <p:nvGraphicFramePr>
          <p:cNvPr id="98308" name="Object 4"/>
          <p:cNvGraphicFramePr>
            <a:graphicFrameLocks noChangeAspect="1"/>
          </p:cNvGraphicFramePr>
          <p:nvPr/>
        </p:nvGraphicFramePr>
        <p:xfrm>
          <a:off x="2484438" y="1693863"/>
          <a:ext cx="3167062" cy="511175"/>
        </p:xfrm>
        <a:graphic>
          <a:graphicData uri="http://schemas.openxmlformats.org/presentationml/2006/ole">
            <mc:AlternateContent xmlns:mc="http://schemas.openxmlformats.org/markup-compatibility/2006">
              <mc:Choice xmlns:v="urn:schemas-microsoft-com:vml" Requires="v">
                <p:oleObj spid="_x0000_s3102" name="" r:id="rId1" imgW="2768600" imgH="457200" progId="Equation.3">
                  <p:embed/>
                </p:oleObj>
              </mc:Choice>
              <mc:Fallback>
                <p:oleObj name="" r:id="rId1" imgW="2768600" imgH="457200" progId="Equation.3">
                  <p:embed/>
                  <p:pic>
                    <p:nvPicPr>
                      <p:cNvPr id="0" name="图片 3101"/>
                      <p:cNvPicPr/>
                      <p:nvPr/>
                    </p:nvPicPr>
                    <p:blipFill>
                      <a:blip r:embed="rId2"/>
                      <a:stretch>
                        <a:fillRect/>
                      </a:stretch>
                    </p:blipFill>
                    <p:spPr>
                      <a:xfrm>
                        <a:off x="2484438" y="1693863"/>
                        <a:ext cx="3167062" cy="511175"/>
                      </a:xfrm>
                      <a:prstGeom prst="rect">
                        <a:avLst/>
                      </a:prstGeom>
                      <a:noFill/>
                      <a:ln w="38100">
                        <a:noFill/>
                        <a:miter/>
                      </a:ln>
                    </p:spPr>
                  </p:pic>
                </p:oleObj>
              </mc:Fallback>
            </mc:AlternateContent>
          </a:graphicData>
        </a:graphic>
      </p:graphicFrame>
      <p:pic>
        <p:nvPicPr>
          <p:cNvPr id="98309" name="Picture 3"/>
          <p:cNvPicPr>
            <a:picLocks noChangeAspect="1"/>
          </p:cNvPicPr>
          <p:nvPr/>
        </p:nvPicPr>
        <p:blipFill>
          <a:blip r:embed="rId3"/>
          <a:stretch>
            <a:fillRect/>
          </a:stretch>
        </p:blipFill>
        <p:spPr>
          <a:xfrm>
            <a:off x="304800" y="3933825"/>
            <a:ext cx="8413750" cy="2611438"/>
          </a:xfrm>
          <a:prstGeom prst="rect">
            <a:avLst/>
          </a:prstGeom>
          <a:noFill/>
          <a:ln w="9525">
            <a:noFill/>
          </a:ln>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a:t>
            </a:r>
            <a:r>
              <a:rPr lang="en-US" altLang="zh-CN" dirty="0">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7827" name="Rectangle 3"/>
          <p:cNvSpPr>
            <a:spLocks noGrp="1" noChangeArrowheads="1"/>
          </p:cNvSpPr>
          <p:nvPr>
            <p:ph idx="1"/>
          </p:nvPr>
        </p:nvSpPr>
        <p:spPr>
          <a:xfrm>
            <a:off x="395288" y="1371600"/>
            <a:ext cx="8424863"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FIRST</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集合的计算</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对于一个文法符号</a:t>
            </a:r>
            <a:r>
              <a:rPr kumimoji="0" lang="en-US" altLang="zh-CN" sz="22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endParaRPr kumimoji="0" lang="en-US" altLang="zh-CN" sz="22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2" indent="-457200" algn="l" defTabSz="914400" rtl="0" eaLnBrk="0" fontAlgn="base" latinLnBrk="0" hangingPunct="0">
              <a:lnSpc>
                <a:spcPct val="10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是一个终结符，则</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2" indent="-457200" algn="l" defTabSz="914400" rtl="0" eaLnBrk="0" fontAlgn="base" latinLnBrk="0" hangingPunct="0">
              <a:lnSpc>
                <a:spcPct val="10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是一个非终结符，且</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2000" b="1" i="1"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k</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是一个产生式，</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k≥1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，依次考察</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2000" b="1" i="1"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k</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 </a:t>
            </a:r>
            <a:endPar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endParaRPr>
          </a:p>
          <a:p>
            <a:pPr marL="1828800" marR="0" lvl="3" indent="-457200" algn="l" defTabSz="914400" rtl="0" eaLnBrk="0" fontAlgn="base" latinLnBrk="0" hangingPunct="0">
              <a:lnSpc>
                <a:spcPct val="100000"/>
              </a:lnSpc>
              <a:spcBef>
                <a:spcPct val="20000"/>
              </a:spcBef>
              <a:spcAft>
                <a:spcPct val="0"/>
              </a:spcAft>
              <a:buClr>
                <a:srgbClr val="063DE8"/>
              </a:buClr>
              <a:buSzPct val="70000"/>
              <a:buFont typeface="+mj-lt"/>
              <a:buAutoNum type="romanUcPeriod"/>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18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8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中，且</a:t>
            </a:r>
            <a:r>
              <a:rPr kumimoji="0" lang="el-GR"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在所有的</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18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8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FIRST(</a:t>
            </a:r>
            <a:r>
              <a:rPr kumimoji="0" lang="en-US" altLang="zh-CN" sz="18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8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FIRST(</a:t>
            </a:r>
            <a:r>
              <a:rPr kumimoji="0" lang="en-US" altLang="zh-CN" sz="18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8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i-1</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中，则把</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加入</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18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828800" marR="0" lvl="3" indent="-457200" algn="l" defTabSz="914400" rtl="0" eaLnBrk="0" fontAlgn="base" latinLnBrk="0" hangingPunct="0">
              <a:lnSpc>
                <a:spcPct val="100000"/>
              </a:lnSpc>
              <a:spcBef>
                <a:spcPct val="20000"/>
              </a:spcBef>
              <a:spcAft>
                <a:spcPct val="0"/>
              </a:spcAft>
              <a:buClr>
                <a:srgbClr val="063DE8"/>
              </a:buClr>
              <a:buSzPct val="70000"/>
              <a:buFont typeface="+mj-lt"/>
              <a:buAutoNum type="romanUcPeriod"/>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l-GR"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在所有的</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18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8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=1,2,…,k</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，则把</a:t>
            </a:r>
            <a:r>
              <a:rPr kumimoji="0" lang="el-GR"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加入</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18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2" indent="-457200" algn="l" defTabSz="914400" rtl="0" eaLnBrk="0" fontAlgn="base" latinLnBrk="0" hangingPunct="0">
              <a:lnSpc>
                <a:spcPct val="100000"/>
              </a:lnSpc>
              <a:spcBef>
                <a:spcPct val="20000"/>
              </a:spcBef>
              <a:spcAft>
                <a:spcPct val="0"/>
              </a:spcAft>
              <a:buClr>
                <a:srgbClr val="063DE8"/>
              </a:buClr>
              <a:buSzPct val="125000"/>
              <a:buFont typeface="+mj-lt"/>
              <a:buAutoNum type="circleNumDbPlain"/>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是一个产生式，则把</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加入</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对于一个文法符号串</a:t>
            </a:r>
            <a:r>
              <a:rPr kumimoji="0" lang="en-US" altLang="zh-CN" sz="22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2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22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2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22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2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200" b="1" i="1"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n</a:t>
            </a:r>
            <a:endPar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向</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n</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中加入</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集合里所有非</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符号</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中，则再向</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n</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中加入</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集合里所有非</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符号，以此类推</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如果对于所有的</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都是</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的元素，则把</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加入到</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n</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a:t>
            </a:r>
            <a:r>
              <a:rPr lang="en-US" altLang="zh-CN" dirty="0">
                <a:latin typeface="宋体" panose="02010600030101010101" pitchFamily="2" charset="-122"/>
                <a:ea typeface="宋体" panose="02010600030101010101" pitchFamily="2" charset="-122"/>
              </a:rPr>
              <a:t>9</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7827" name="Rectangle 3"/>
          <p:cNvSpPr>
            <a:spLocks noGrp="1" noChangeArrowheads="1"/>
          </p:cNvSpPr>
          <p:nvPr>
            <p:ph idx="1"/>
          </p:nvPr>
        </p:nvSpPr>
        <p:spPr>
          <a:xfrm>
            <a:off x="395288" y="1371600"/>
            <a:ext cx="8424863"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FOLLOW</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集合的计算：</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对于一个非终结符号</a:t>
            </a:r>
            <a:r>
              <a:rPr kumimoji="0" lang="en-US" altLang="zh-CN" sz="22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a:t>
            </a:r>
            <a:endParaRPr kumimoji="0" lang="en-US" altLang="zh-CN" sz="22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371600" marR="0" lvl="2" indent="-457200" algn="l" defTabSz="914400" rtl="0" eaLnBrk="0" fontAlgn="base" latinLnBrk="0" hangingPunct="0">
              <a:lnSpc>
                <a:spcPct val="10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将</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加入</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FOLLOW(</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中，其中</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是开始符号，</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是输入结束符号</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2" indent="-457200" algn="l" defTabSz="914400" rtl="0" eaLnBrk="0" fontAlgn="base" latinLnBrk="0" hangingPunct="0">
              <a:lnSpc>
                <a:spcPct val="10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如果存在一个产生式</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l-GR"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a:t>
            </a:r>
            <a:r>
              <a:rPr kumimoji="0" lang="el-GR"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β</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，则</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l-GR"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β</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中除</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之外的所有符号都在</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FOLLOW(</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2" indent="-457200" algn="l" defTabSz="914400" rtl="0" eaLnBrk="0" fontAlgn="base" latinLnBrk="0" hangingPunct="0">
              <a:lnSpc>
                <a:spcPct val="10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如果存在一个产生式</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l-GR"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，或存在产生式</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l-GR"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a:t>
            </a:r>
            <a:r>
              <a:rPr kumimoji="0" lang="el-GR"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β</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且</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t>
            </a:r>
            <a:r>
              <a:rPr kumimoji="0" lang="el-GR"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β</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中，则</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FOLLOW(</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的所有符号都在</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FOLLOW(</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828800" marR="0" lvl="4"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重复应用上面的规则，直至没有新的终结符号加入任意的</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FOLLOW</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集合中为止</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自顶向下分析（1</a:t>
            </a:r>
            <a:r>
              <a:rPr lang="en-US" altLang="zh-CN" dirty="0">
                <a:latin typeface="宋体" panose="02010600030101010101" pitchFamily="2" charset="-122"/>
                <a:ea typeface="宋体" panose="02010600030101010101" pitchFamily="2" charset="-122"/>
              </a:rPr>
              <a:t>0</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04451" name="Rectangle 3"/>
          <p:cNvSpPr>
            <a:spLocks noGrp="1"/>
          </p:cNvSpPr>
          <p:nvPr>
            <p:ph idx="1"/>
          </p:nvPr>
        </p:nvSpPr>
        <p:spPr>
          <a:xfrm>
            <a:off x="914400" y="1295400"/>
            <a:ext cx="7239000" cy="5105400"/>
          </a:xfrm>
        </p:spPr>
        <p:txBody>
          <a:bodyPr vert="horz" wrap="square" lIns="92075" tIns="46038" rIns="92075" bIns="46038" anchor="t" anchorCtr="0"/>
          <a:p>
            <a:pPr marL="495300" indent="-495300">
              <a:spcBef>
                <a:spcPct val="0"/>
              </a:spcBef>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无二义性表达式文法</a:t>
            </a:r>
            <a:r>
              <a:rPr lang="en-US" altLang="zh-CN"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marL="1333500" lvl="2" indent="-419100">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E→TE</a:t>
            </a:r>
            <a:r>
              <a:rPr lang="en-US" altLang="zh-CN" sz="2000" b="1" dirty="0">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marL="1333500" lvl="2" indent="-419100">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E</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→+TE</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|ε</a:t>
            </a:r>
            <a:endParaRPr lang="en-US" altLang="zh-CN" sz="2000" b="1" dirty="0">
              <a:latin typeface="宋体" panose="02010600030101010101" pitchFamily="2" charset="-122"/>
              <a:ea typeface="宋体" panose="02010600030101010101" pitchFamily="2" charset="-122"/>
            </a:endParaRPr>
          </a:p>
          <a:p>
            <a:pPr marL="1333500" lvl="2" indent="-419100">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T→FT</a:t>
            </a:r>
            <a:r>
              <a:rPr lang="en-US" altLang="zh-CN" sz="2000" b="1" dirty="0">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marL="1333500" lvl="2" indent="-419100">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T</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→*FT</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|ε</a:t>
            </a:r>
            <a:endParaRPr lang="en-US" altLang="zh-CN" sz="2000" b="1" dirty="0">
              <a:latin typeface="宋体" panose="02010600030101010101" pitchFamily="2" charset="-122"/>
              <a:ea typeface="宋体" panose="02010600030101010101" pitchFamily="2" charset="-122"/>
            </a:endParaRPr>
          </a:p>
          <a:p>
            <a:pPr marL="1333500" lvl="2" indent="-419100">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F→(E)|id</a:t>
            </a: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则：</a:t>
            </a:r>
            <a:endParaRPr lang="zh-CN" altLang="en-US"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FIRST(E) = FIRST(T) = FIRST(F) = { ( ，id }</a:t>
            </a: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		FIRST(E</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 = { + , ε }</a:t>
            </a: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		FIRST(T</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 = { * , ε }</a:t>
            </a: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		FOLLOW(E) = FOLLOW(E</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 = { ) , $ }</a:t>
            </a: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		FOLLOW(T) = FOLLOW(T</a:t>
            </a:r>
            <a:r>
              <a:rPr lang="en-US" altLang="zh-CN" sz="2000" b="1" dirty="0">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 = { + , ) , $ }</a:t>
            </a: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		FOLLOW(F) = { + , * , ) , $ }</a:t>
            </a:r>
            <a:endParaRPr lang="en-US" altLang="zh-CN"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a:t>
            </a:r>
            <a:r>
              <a:rPr lang="en-US" altLang="zh-CN" dirty="0">
                <a:latin typeface="宋体" panose="02010600030101010101" pitchFamily="2" charset="-122"/>
                <a:ea typeface="宋体" panose="02010600030101010101" pitchFamily="2" charset="-122"/>
              </a:rPr>
              <a:t>11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9875" name="Rectangle 3"/>
          <p:cNvSpPr>
            <a:spLocks noGrp="1" noChangeArrowheads="1"/>
          </p:cNvSpPr>
          <p:nvPr>
            <p:ph idx="1"/>
          </p:nvPr>
        </p:nvSpPr>
        <p:spPr>
          <a:xfrm>
            <a:off x="323850" y="1371600"/>
            <a:ext cx="8569325"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预测分析器的转换图</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首先消除左递归、提取左公因子</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然后，对每个非终结符</a:t>
            </a:r>
            <a:r>
              <a:rPr kumimoji="0" lang="en-US" altLang="zh-CN" sz="24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2" indent="-457200" algn="l" defTabSz="914400" rtl="0" eaLnBrk="0" fontAlgn="base" latinLnBrk="0" hangingPunct="0">
              <a:lnSpc>
                <a:spcPct val="10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创建一个初始状态和一个结束（返回）状态</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2" indent="-457200" algn="l" defTabSz="914400" rtl="0" eaLnBrk="0" fontAlgn="base" latinLnBrk="0" hangingPunct="0">
              <a:lnSpc>
                <a:spcPct val="10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对于每个产生式</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n</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，创建一个从初始状态到结束状态的路径，路径中各条边的标号依次为</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zh-CN" altLang="en-US"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 </a:t>
            </a:r>
            <a:r>
              <a:rPr kumimoji="0" lang="zh-CN" altLang="en-US"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2000" b="1" i="1"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n</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；特别是，如果</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，则路径上只有一条标号为</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的边</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预测分析器的转换图与词法分析器的转换图的不同</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8572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预测分析器的转换图对每个非终结符都有一个图</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图中边的标号可以是词法单元，也可以是非终结符号</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573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如果是词法单元，意味着该词法单元是下一个输入符号时，分析器要执行这个转换</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573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如果是标号为非终结符号</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的转换，则对</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的过程执行一次调用</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a:t>
            </a:r>
            <a:r>
              <a:rPr lang="en-US" altLang="zh-CN" dirty="0">
                <a:latin typeface="宋体" panose="02010600030101010101" pitchFamily="2" charset="-122"/>
                <a:ea typeface="宋体" panose="02010600030101010101" pitchFamily="2" charset="-122"/>
              </a:rPr>
              <a:t>12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08547" name="Rectangle 3"/>
          <p:cNvSpPr>
            <a:spLocks noGrp="1"/>
          </p:cNvSpPr>
          <p:nvPr>
            <p:ph idx="1"/>
          </p:nvPr>
        </p:nvSpPr>
        <p:spPr>
          <a:xfrm>
            <a:off x="323850" y="1371600"/>
            <a:ext cx="8569325" cy="48768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预测分析器的转换图的例子</a:t>
            </a:r>
            <a:endParaRPr lang="en-US" altLang="zh-CN" b="1" dirty="0">
              <a:latin typeface="宋体" panose="02010600030101010101" pitchFamily="2" charset="-122"/>
              <a:ea typeface="宋体" panose="02010600030101010101" pitchFamily="2" charset="-122"/>
            </a:endParaRPr>
          </a:p>
          <a:p>
            <a:endParaRPr lang="en-US" altLang="zh-CN" sz="2400" b="1" dirty="0">
              <a:latin typeface="宋体" panose="02010600030101010101" pitchFamily="2" charset="-122"/>
              <a:ea typeface="宋体" panose="02010600030101010101" pitchFamily="2" charset="-122"/>
            </a:endParaRPr>
          </a:p>
          <a:p>
            <a:endParaRPr lang="en-US" altLang="zh-CN" sz="2400" b="1" dirty="0">
              <a:latin typeface="宋体" panose="02010600030101010101" pitchFamily="2" charset="-122"/>
              <a:ea typeface="宋体" panose="02010600030101010101" pitchFamily="2" charset="-122"/>
            </a:endParaRPr>
          </a:p>
          <a:p>
            <a:endParaRPr lang="en-US" altLang="zh-CN" sz="2400" b="1" dirty="0">
              <a:latin typeface="宋体" panose="02010600030101010101" pitchFamily="2" charset="-122"/>
              <a:ea typeface="宋体" panose="02010600030101010101" pitchFamily="2" charset="-122"/>
            </a:endParaRPr>
          </a:p>
          <a:p>
            <a:endParaRPr lang="en-US" altLang="zh-CN" sz="2400" b="1" dirty="0">
              <a:latin typeface="宋体" panose="02010600030101010101" pitchFamily="2" charset="-122"/>
              <a:ea typeface="宋体" panose="02010600030101010101" pitchFamily="2" charset="-122"/>
            </a:endParaRPr>
          </a:p>
          <a:p>
            <a:endParaRPr lang="en-US" altLang="zh-CN" sz="2400" b="1" dirty="0">
              <a:latin typeface="宋体" panose="02010600030101010101" pitchFamily="2" charset="-122"/>
              <a:ea typeface="宋体" panose="02010600030101010101" pitchFamily="2" charset="-122"/>
            </a:endParaRPr>
          </a:p>
          <a:p>
            <a:endParaRPr lang="en-US" altLang="zh-CN" sz="2400" b="1" dirty="0">
              <a:latin typeface="宋体" panose="02010600030101010101" pitchFamily="2" charset="-122"/>
              <a:ea typeface="宋体" panose="02010600030101010101" pitchFamily="2" charset="-122"/>
            </a:endParaRPr>
          </a:p>
          <a:p>
            <a:r>
              <a:rPr lang="zh-CN" altLang="en-US" sz="2400" b="1" dirty="0">
                <a:ea typeface="宋体" panose="02010600030101010101" pitchFamily="2" charset="-122"/>
              </a:rPr>
              <a:t>上图中</a:t>
            </a:r>
            <a:endParaRPr lang="en-US" altLang="zh-CN" sz="2400" b="1" dirty="0">
              <a:ea typeface="宋体" panose="02010600030101010101" pitchFamily="2" charset="-122"/>
            </a:endParaRPr>
          </a:p>
          <a:p>
            <a:pPr lvl="1"/>
            <a:r>
              <a:rPr lang="en-US" altLang="zh-CN" sz="2200" b="1" dirty="0">
                <a:ea typeface="宋体" panose="02010600030101010101" pitchFamily="2" charset="-122"/>
              </a:rPr>
              <a:t>(a)</a:t>
            </a:r>
            <a:r>
              <a:rPr lang="zh-CN" altLang="en-US" sz="2200" b="1" dirty="0">
                <a:ea typeface="宋体" panose="02010600030101010101" pitchFamily="2" charset="-122"/>
              </a:rPr>
              <a:t>描述了无二义表达式文法中对</a:t>
            </a:r>
            <a:r>
              <a:rPr lang="en-US" altLang="zh-CN" sz="2200" b="1" dirty="0">
                <a:ea typeface="宋体" panose="02010600030101010101" pitchFamily="2" charset="-122"/>
              </a:rPr>
              <a:t>E</a:t>
            </a:r>
            <a:r>
              <a:rPr lang="zh-CN" altLang="en-US" sz="2200" b="1" dirty="0">
                <a:ea typeface="宋体" panose="02010600030101010101" pitchFamily="2" charset="-122"/>
              </a:rPr>
              <a:t>和</a:t>
            </a:r>
            <a:r>
              <a:rPr lang="en-US" altLang="zh-CN" sz="2200" b="1" dirty="0">
                <a:ea typeface="宋体" panose="02010600030101010101" pitchFamily="2" charset="-122"/>
              </a:rPr>
              <a:t>E’</a:t>
            </a:r>
            <a:r>
              <a:rPr lang="zh-CN" altLang="en-US" sz="2200" b="1" dirty="0">
                <a:ea typeface="宋体" panose="02010600030101010101" pitchFamily="2" charset="-122"/>
              </a:rPr>
              <a:t>预测分析的转换图</a:t>
            </a:r>
            <a:endParaRPr lang="en-US" altLang="zh-CN" sz="2200" b="1" dirty="0">
              <a:ea typeface="宋体" panose="02010600030101010101" pitchFamily="2" charset="-122"/>
            </a:endParaRPr>
          </a:p>
          <a:p>
            <a:pPr lvl="1"/>
            <a:r>
              <a:rPr lang="en-US" altLang="zh-CN" sz="2200" b="1" dirty="0">
                <a:ea typeface="宋体" panose="02010600030101010101" pitchFamily="2" charset="-122"/>
              </a:rPr>
              <a:t>(b)</a:t>
            </a:r>
            <a:r>
              <a:rPr lang="zh-CN" altLang="en-US" sz="2200" b="1" dirty="0">
                <a:ea typeface="宋体" panose="02010600030101010101" pitchFamily="2" charset="-122"/>
              </a:rPr>
              <a:t>描述了优化后的形式，消除尾递归，整合成一个图，可以正常识别</a:t>
            </a:r>
            <a:r>
              <a:rPr lang="en-US" altLang="zh-CN" sz="2200" b="1" dirty="0">
                <a:ea typeface="宋体" panose="02010600030101010101" pitchFamily="2" charset="-122"/>
              </a:rPr>
              <a:t>T+T+</a:t>
            </a:r>
            <a:r>
              <a:rPr lang="en-US" altLang="zh-CN" b="1" i="1" dirty="0">
                <a:latin typeface="宋体" panose="02010600030101010101" pitchFamily="2" charset="-122"/>
                <a:ea typeface="宋体" panose="02010600030101010101" pitchFamily="2" charset="-122"/>
              </a:rPr>
              <a:t>… </a:t>
            </a:r>
            <a:r>
              <a:rPr lang="en-US" altLang="zh-CN" sz="2200" b="1" dirty="0">
                <a:ea typeface="宋体" panose="02010600030101010101" pitchFamily="2" charset="-122"/>
              </a:rPr>
              <a:t>+T</a:t>
            </a:r>
            <a:r>
              <a:rPr lang="zh-CN" altLang="en-US" sz="2200" b="1" dirty="0">
                <a:ea typeface="宋体" panose="02010600030101010101" pitchFamily="2" charset="-122"/>
              </a:rPr>
              <a:t>的串</a:t>
            </a:r>
            <a:endParaRPr lang="zh-CN" altLang="en-US" sz="2200" b="1" dirty="0">
              <a:ea typeface="宋体" panose="02010600030101010101" pitchFamily="2" charset="-122"/>
            </a:endParaRPr>
          </a:p>
        </p:txBody>
      </p:sp>
      <p:pic>
        <p:nvPicPr>
          <p:cNvPr id="108548" name="Picture 2"/>
          <p:cNvPicPr>
            <a:picLocks noChangeAspect="1"/>
          </p:cNvPicPr>
          <p:nvPr/>
        </p:nvPicPr>
        <p:blipFill>
          <a:blip r:embed="rId1"/>
          <a:stretch>
            <a:fillRect/>
          </a:stretch>
        </p:blipFill>
        <p:spPr>
          <a:xfrm>
            <a:off x="539750" y="1844675"/>
            <a:ext cx="7791450" cy="2657475"/>
          </a:xfrm>
          <a:prstGeom prst="rect">
            <a:avLst/>
          </a:prstGeom>
          <a:noFill/>
          <a:ln w="9525">
            <a:noFill/>
          </a:ln>
        </p:spPr>
      </p:pic>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自顶向下分析（1</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02403" name="Rectangle 3"/>
          <p:cNvSpPr>
            <a:spLocks noGrp="1" noChangeArrowheads="1"/>
          </p:cNvSpPr>
          <p:nvPr>
            <p:ph idx="1"/>
          </p:nvPr>
        </p:nvSpPr>
        <p:spPr>
          <a:xfrm>
            <a:off x="539750" y="1371600"/>
            <a:ext cx="8135938" cy="50292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LL(1)</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文法：可描述大部分程序设计语言构造，无需回溯</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定义：一个文法</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如果是</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LL(1)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的，当且仅当</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的任何两个产生式</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α|β</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满足下面的条件：</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FIRST(α)∩FIRST(β)</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是空集，因此</a:t>
            </a:r>
            <a:r>
              <a:rPr kumimoji="0" lang="el-GR"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不可能同时属于两个集合</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若</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β</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可以推导得到</a:t>
            </a:r>
            <a:r>
              <a:rPr kumimoji="0" lang="el-GR"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，则</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FIRST(α)∩FOLLOW(A)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是空集，反之亦然</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LL(1)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的解释：第一个</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表示从左向右扫描输入，第二个</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表示产生最左推导，１表示每一步只需向前看一个输入符号即可确定语法分析动作</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LL(1)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文法的性质</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不是二义的</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不含左递归</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不回溯</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因此，若需将非</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LL(1)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文法变换为</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LL(1)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文法的方法，要去除文法的二义性（无法确保实现）、消除左递归、提取左公因子</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不是所有的文法都可以变换为</a:t>
            </a:r>
            <a:r>
              <a:rPr kumimoji="0" lang="en-US" altLang="zh-CN"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LL(1)</a:t>
            </a:r>
            <a:r>
              <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文法的</a:t>
            </a:r>
            <a:endPar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a:t>
            </a:r>
            <a:r>
              <a:rPr lang="en-US" altLang="zh-CN" dirty="0">
                <a:latin typeface="宋体" panose="02010600030101010101" pitchFamily="2" charset="-122"/>
                <a:ea typeface="宋体" panose="02010600030101010101" pitchFamily="2" charset="-122"/>
              </a:rPr>
              <a:t>14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9875" name="Rectangle 3"/>
          <p:cNvSpPr>
            <a:spLocks noGrp="1" noChangeArrowheads="1"/>
          </p:cNvSpPr>
          <p:nvPr>
            <p:ph idx="1"/>
          </p:nvPr>
        </p:nvSpPr>
        <p:spPr>
          <a:xfrm>
            <a:off x="990600" y="1371600"/>
            <a:ext cx="7391400"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LL(1)</a:t>
            </a: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文法和预测分析器：</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LL(1)</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文法，只要根据当前输入符号，就可以为当前正在处理的非终结符唯一确定适合的产生式，易于构造预测分析器</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关于控制流的各个语言构造带有不同的关键字，符合</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LL(1)</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的约定</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下述文法中，</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if</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while</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的存在使得产生式的选择可以根据输入符号唯一确定：</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if</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a:t>
            </a:r>
            <a:r>
              <a:rPr kumimoji="0" lang="en-US" altLang="zh-CN" sz="20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else</a:t>
            </a:r>
            <a:r>
              <a:rPr kumimoji="0" lang="en-US" altLang="zh-CN" sz="20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a:t>
            </a:r>
            <a:endParaRPr kumimoji="0" lang="en-US" altLang="zh-CN" sz="20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while</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stmt_list</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0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自顶向下分析（1</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14691" name="Rectangle 3"/>
          <p:cNvSpPr>
            <a:spLocks noGrp="1"/>
          </p:cNvSpPr>
          <p:nvPr>
            <p:ph idx="1"/>
          </p:nvPr>
        </p:nvSpPr>
        <p:spPr>
          <a:xfrm>
            <a:off x="990600" y="1371600"/>
            <a:ext cx="7391400" cy="48768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非递归的预测分析：</a:t>
            </a:r>
            <a:endParaRPr lang="zh-CN" altLang="en-US" sz="2400" b="1" dirty="0">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显式地维持一个状态栈，而不是隐式地通过递归调用</a:t>
            </a:r>
            <a:endParaRPr lang="zh-CN" altLang="en-US" sz="2600" b="1" dirty="0">
              <a:ea typeface="宋体" panose="02010600030101010101" pitchFamily="2" charset="-122"/>
            </a:endParaRPr>
          </a:p>
        </p:txBody>
      </p:sp>
      <p:pic>
        <p:nvPicPr>
          <p:cNvPr id="114692" name="Picture 2"/>
          <p:cNvPicPr>
            <a:picLocks noChangeAspect="1"/>
          </p:cNvPicPr>
          <p:nvPr/>
        </p:nvPicPr>
        <p:blipFill>
          <a:blip r:embed="rId1"/>
          <a:stretch>
            <a:fillRect/>
          </a:stretch>
        </p:blipFill>
        <p:spPr>
          <a:xfrm>
            <a:off x="1258888" y="2708275"/>
            <a:ext cx="6959600" cy="3600450"/>
          </a:xfrm>
          <a:prstGeom prst="rect">
            <a:avLst/>
          </a:prstGeom>
          <a:noFill/>
          <a:ln w="9525">
            <a:noFill/>
          </a:ln>
        </p:spPr>
      </p:pic>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p:cNvSpPr>
            <a:spLocks noGrp="1"/>
          </p:cNvSpPr>
          <p:nvPr>
            <p:ph type="title"/>
          </p:nvPr>
        </p:nvSpPr>
        <p:spPr>
          <a:xfrm>
            <a:off x="914400" y="404813"/>
            <a:ext cx="7543800" cy="914400"/>
          </a:xfrm>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自顶向下分析（1</a:t>
            </a:r>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16739" name="Rectangle 3"/>
          <p:cNvSpPr>
            <a:spLocks noGrp="1"/>
          </p:cNvSpPr>
          <p:nvPr>
            <p:ph idx="1"/>
          </p:nvPr>
        </p:nvSpPr>
        <p:spPr>
          <a:xfrm>
            <a:off x="323850" y="1524000"/>
            <a:ext cx="8569325" cy="48768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预测分析表的构造：算法</a:t>
            </a:r>
            <a:r>
              <a:rPr lang="en-US" altLang="zh-CN" sz="2400" b="1" dirty="0">
                <a:latin typeface="宋体" panose="02010600030101010101" pitchFamily="2" charset="-122"/>
                <a:ea typeface="宋体" panose="02010600030101010101" pitchFamily="2" charset="-122"/>
              </a:rPr>
              <a:t>4</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31</a:t>
            </a:r>
            <a:endParaRPr lang="zh-CN" altLang="en-US" sz="2400" b="1" dirty="0">
              <a:ea typeface="宋体" panose="02010600030101010101" pitchFamily="2" charset="-122"/>
            </a:endParaRPr>
          </a:p>
          <a:p>
            <a:pPr>
              <a:lnSpc>
                <a:spcPct val="80000"/>
              </a:lnSpc>
              <a:buNone/>
            </a:pP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输入：文法</a:t>
            </a:r>
            <a:r>
              <a:rPr lang="en-US" altLang="zh-CN" sz="2000" b="1" dirty="0">
                <a:latin typeface="宋体" panose="02010600030101010101" pitchFamily="2" charset="-122"/>
                <a:ea typeface="宋体" panose="02010600030101010101" pitchFamily="2" charset="-122"/>
              </a:rPr>
              <a:t>G</a:t>
            </a:r>
            <a:endParaRPr lang="en-US" altLang="zh-CN" sz="2000" b="1" dirty="0">
              <a:latin typeface="宋体" panose="02010600030101010101" pitchFamily="2" charset="-122"/>
              <a:ea typeface="宋体" panose="02010600030101010101" pitchFamily="2" charset="-122"/>
            </a:endParaRPr>
          </a:p>
          <a:p>
            <a:pPr>
              <a:lnSpc>
                <a:spcPct val="80000"/>
              </a:lnSpc>
              <a:buNone/>
            </a:pPr>
            <a:r>
              <a:rPr lang="zh-CN" altLang="en-US" sz="2000" b="1" dirty="0">
                <a:latin typeface="宋体" panose="02010600030101010101" pitchFamily="2" charset="-122"/>
                <a:ea typeface="宋体" panose="02010600030101010101" pitchFamily="2" charset="-122"/>
              </a:rPr>
              <a:t>	输出：预测分析表</a:t>
            </a:r>
            <a:r>
              <a:rPr lang="en-US" altLang="zh-CN" sz="2000" b="1" dirty="0">
                <a:latin typeface="宋体" panose="02010600030101010101" pitchFamily="2" charset="-122"/>
                <a:ea typeface="宋体" panose="02010600030101010101" pitchFamily="2" charset="-122"/>
              </a:rPr>
              <a:t>M</a:t>
            </a:r>
            <a:endParaRPr lang="en-US" altLang="zh-CN" sz="2000" b="1" dirty="0">
              <a:latin typeface="宋体" panose="02010600030101010101" pitchFamily="2" charset="-122"/>
              <a:ea typeface="宋体" panose="02010600030101010101" pitchFamily="2" charset="-122"/>
            </a:endParaRPr>
          </a:p>
          <a:p>
            <a:pPr>
              <a:lnSpc>
                <a:spcPct val="80000"/>
              </a:lnSpc>
              <a:buNone/>
            </a:pPr>
            <a:r>
              <a:rPr lang="zh-CN" altLang="en-US" sz="2000" b="1" dirty="0">
                <a:latin typeface="宋体" panose="02010600030101010101" pitchFamily="2" charset="-122"/>
                <a:ea typeface="宋体" panose="02010600030101010101" pitchFamily="2" charset="-122"/>
              </a:rPr>
              <a:t>	方法：对文法</a:t>
            </a:r>
            <a:r>
              <a:rPr lang="en-US" altLang="zh-CN" sz="2000" b="1" dirty="0">
                <a:latin typeface="宋体" panose="02010600030101010101" pitchFamily="2" charset="-122"/>
                <a:ea typeface="宋体" panose="02010600030101010101" pitchFamily="2" charset="-122"/>
              </a:rPr>
              <a:t>G</a:t>
            </a:r>
            <a:r>
              <a:rPr lang="zh-CN" altLang="en-US" sz="2000" b="1" dirty="0">
                <a:latin typeface="宋体" panose="02010600030101010101" pitchFamily="2" charset="-122"/>
                <a:ea typeface="宋体" panose="02010600030101010101" pitchFamily="2" charset="-122"/>
              </a:rPr>
              <a:t>的每个产生式</a:t>
            </a:r>
            <a:r>
              <a:rPr lang="en-US" altLang="zh-CN" sz="2000" b="1" dirty="0">
                <a:latin typeface="宋体" panose="02010600030101010101" pitchFamily="2" charset="-122"/>
                <a:ea typeface="宋体" panose="02010600030101010101" pitchFamily="2" charset="-122"/>
              </a:rPr>
              <a:t>A→α，</a:t>
            </a:r>
            <a:r>
              <a:rPr lang="zh-CN" altLang="en-US" sz="2000" b="1" dirty="0">
                <a:latin typeface="宋体" panose="02010600030101010101" pitchFamily="2" charset="-122"/>
                <a:ea typeface="宋体" panose="02010600030101010101" pitchFamily="2" charset="-122"/>
              </a:rPr>
              <a:t>进行如下处理：</a:t>
            </a:r>
            <a:endParaRPr lang="zh-CN" altLang="en-US" sz="2000" b="1" dirty="0">
              <a:latin typeface="宋体" panose="02010600030101010101" pitchFamily="2" charset="-122"/>
              <a:ea typeface="宋体" panose="02010600030101010101" pitchFamily="2" charset="-122"/>
            </a:endParaRPr>
          </a:p>
          <a:p>
            <a:pPr>
              <a:lnSpc>
                <a:spcPct val="80000"/>
              </a:lnSpc>
              <a:buNone/>
            </a:pPr>
            <a:r>
              <a:rPr lang="en-US" altLang="zh-CN" sz="2000" b="1" dirty="0">
                <a:latin typeface="宋体" panose="02010600030101010101" pitchFamily="2" charset="-122"/>
                <a:ea typeface="宋体" panose="02010600030101010101" pitchFamily="2" charset="-122"/>
              </a:rPr>
              <a:t>	      1）</a:t>
            </a:r>
            <a:r>
              <a:rPr lang="zh-CN" altLang="en-US" sz="2000" b="1" dirty="0">
                <a:latin typeface="宋体" panose="02010600030101010101" pitchFamily="2" charset="-122"/>
                <a:ea typeface="宋体" panose="02010600030101010101" pitchFamily="2" charset="-122"/>
              </a:rPr>
              <a:t>对</a:t>
            </a:r>
            <a:r>
              <a:rPr lang="en-US" altLang="zh-CN" sz="2000" b="1" dirty="0">
                <a:latin typeface="宋体" panose="02010600030101010101" pitchFamily="2" charset="-122"/>
                <a:ea typeface="宋体" panose="02010600030101010101" pitchFamily="2" charset="-122"/>
              </a:rPr>
              <a:t>FIRST(α)</a:t>
            </a:r>
            <a:r>
              <a:rPr lang="zh-CN" altLang="en-US" sz="2000" b="1" dirty="0">
                <a:latin typeface="宋体" panose="02010600030101010101" pitchFamily="2" charset="-122"/>
                <a:ea typeface="宋体" panose="02010600030101010101" pitchFamily="2" charset="-122"/>
              </a:rPr>
              <a:t>的每个终结符</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把</a:t>
            </a:r>
            <a:r>
              <a:rPr lang="en-US" altLang="zh-CN" sz="2000" b="1" dirty="0">
                <a:latin typeface="宋体" panose="02010600030101010101" pitchFamily="2" charset="-122"/>
                <a:ea typeface="宋体" panose="02010600030101010101" pitchFamily="2" charset="-122"/>
              </a:rPr>
              <a:t>A→α</a:t>
            </a:r>
            <a:r>
              <a:rPr lang="zh-CN" altLang="en-US" sz="2000" b="1" dirty="0">
                <a:latin typeface="宋体" panose="02010600030101010101" pitchFamily="2" charset="-122"/>
                <a:ea typeface="宋体" panose="02010600030101010101" pitchFamily="2" charset="-122"/>
              </a:rPr>
              <a:t>加入到</a:t>
            </a:r>
            <a:r>
              <a:rPr lang="en-US" altLang="zh-CN" sz="2000" b="1" dirty="0">
                <a:latin typeface="宋体" panose="02010600030101010101" pitchFamily="2" charset="-122"/>
                <a:ea typeface="宋体" panose="02010600030101010101" pitchFamily="2" charset="-122"/>
              </a:rPr>
              <a:t>M[A，a]</a:t>
            </a:r>
            <a:r>
              <a:rPr lang="zh-CN" altLang="en-US" sz="2000" b="1" dirty="0">
                <a:latin typeface="宋体" panose="02010600030101010101" pitchFamily="2" charset="-122"/>
                <a:ea typeface="宋体" panose="02010600030101010101" pitchFamily="2" charset="-122"/>
              </a:rPr>
              <a:t>中</a:t>
            </a:r>
            <a:endParaRPr lang="zh-CN" altLang="en-US" sz="2000" b="1" dirty="0">
              <a:latin typeface="宋体" panose="02010600030101010101" pitchFamily="2" charset="-122"/>
              <a:ea typeface="宋体" panose="02010600030101010101" pitchFamily="2" charset="-122"/>
            </a:endParaRPr>
          </a:p>
          <a:p>
            <a:pPr>
              <a:lnSpc>
                <a:spcPct val="80000"/>
              </a:lnSpc>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）如果</a:t>
            </a:r>
            <a:r>
              <a:rPr lang="en-US" altLang="zh-CN" sz="2200" b="1" dirty="0">
                <a:latin typeface="宋体" panose="02010600030101010101" pitchFamily="2" charset="-122"/>
                <a:ea typeface="宋体" panose="02010600030101010101" pitchFamily="2" charset="-122"/>
              </a:rPr>
              <a:t>ε</a:t>
            </a:r>
            <a:r>
              <a:rPr lang="zh-CN" altLang="en-US" sz="2000" b="1" dirty="0">
                <a:latin typeface="宋体" panose="02010600030101010101" pitchFamily="2" charset="-122"/>
                <a:ea typeface="宋体" panose="02010600030101010101" pitchFamily="2" charset="-122"/>
              </a:rPr>
              <a:t>在</a:t>
            </a:r>
            <a:r>
              <a:rPr lang="en-US" altLang="zh-CN" sz="2000" b="1" dirty="0">
                <a:latin typeface="宋体" panose="02010600030101010101" pitchFamily="2" charset="-122"/>
                <a:ea typeface="宋体" panose="02010600030101010101" pitchFamily="2" charset="-122"/>
              </a:rPr>
              <a:t>FIRST(α)</a:t>
            </a:r>
            <a:r>
              <a:rPr lang="zh-CN" altLang="en-US" sz="2000" b="1" dirty="0">
                <a:latin typeface="宋体" panose="02010600030101010101" pitchFamily="2" charset="-122"/>
                <a:ea typeface="宋体" panose="02010600030101010101" pitchFamily="2" charset="-122"/>
              </a:rPr>
              <a:t>中，对</a:t>
            </a:r>
            <a:r>
              <a:rPr lang="en-US" altLang="zh-CN" sz="2000" b="1" dirty="0">
                <a:latin typeface="宋体" panose="02010600030101010101" pitchFamily="2" charset="-122"/>
                <a:ea typeface="宋体" panose="02010600030101010101" pitchFamily="2" charset="-122"/>
              </a:rPr>
              <a:t>FOLLOW(A)</a:t>
            </a:r>
            <a:r>
              <a:rPr lang="zh-CN" altLang="en-US" sz="2000" b="1" dirty="0">
                <a:latin typeface="宋体" panose="02010600030101010101" pitchFamily="2" charset="-122"/>
                <a:ea typeface="宋体" panose="02010600030101010101" pitchFamily="2" charset="-122"/>
              </a:rPr>
              <a:t>的每个终结符</a:t>
            </a:r>
            <a:r>
              <a:rPr lang="en-US" altLang="zh-CN" sz="2000" b="1" dirty="0">
                <a:latin typeface="宋体" panose="02010600030101010101" pitchFamily="2" charset="-122"/>
                <a:ea typeface="宋体" panose="02010600030101010101" pitchFamily="2" charset="-122"/>
              </a:rPr>
              <a:t>b(</a:t>
            </a:r>
            <a:r>
              <a:rPr lang="zh-CN" altLang="en-US" sz="2000" b="1" dirty="0">
                <a:latin typeface="宋体" panose="02010600030101010101" pitchFamily="2" charset="-122"/>
                <a:ea typeface="宋体" panose="02010600030101010101" pitchFamily="2" charset="-122"/>
              </a:rPr>
              <a:t>含</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把</a:t>
            </a:r>
            <a:r>
              <a:rPr lang="en-US" altLang="zh-CN" sz="2000" b="1" dirty="0">
                <a:latin typeface="宋体" panose="02010600030101010101" pitchFamily="2" charset="-122"/>
                <a:ea typeface="宋体" panose="02010600030101010101" pitchFamily="2" charset="-122"/>
              </a:rPr>
              <a:t>A→α</a:t>
            </a:r>
            <a:r>
              <a:rPr lang="zh-CN" altLang="en-US" sz="2000" b="1" dirty="0">
                <a:latin typeface="宋体" panose="02010600030101010101" pitchFamily="2" charset="-122"/>
                <a:ea typeface="宋体" panose="02010600030101010101" pitchFamily="2" charset="-122"/>
              </a:rPr>
              <a:t>加入到</a:t>
            </a:r>
            <a:r>
              <a:rPr lang="en-US" altLang="zh-CN" sz="2000" b="1" dirty="0">
                <a:latin typeface="宋体" panose="02010600030101010101" pitchFamily="2" charset="-122"/>
                <a:ea typeface="宋体" panose="02010600030101010101" pitchFamily="2" charset="-122"/>
              </a:rPr>
              <a:t>M[A，b]</a:t>
            </a:r>
            <a:r>
              <a:rPr lang="zh-CN" altLang="en-US" sz="2000" b="1" dirty="0">
                <a:latin typeface="宋体" panose="02010600030101010101" pitchFamily="2" charset="-122"/>
                <a:ea typeface="宋体" panose="02010600030101010101" pitchFamily="2" charset="-122"/>
              </a:rPr>
              <a:t>中</a:t>
            </a:r>
            <a:endParaRPr lang="zh-CN" altLang="en-US" sz="2000" b="1" dirty="0">
              <a:latin typeface="宋体" panose="02010600030101010101" pitchFamily="2" charset="-122"/>
              <a:ea typeface="宋体" panose="02010600030101010101" pitchFamily="2" charset="-122"/>
            </a:endParaRPr>
          </a:p>
          <a:p>
            <a:pPr>
              <a:lnSpc>
                <a:spcPct val="80000"/>
              </a:lnSpc>
              <a:buNone/>
            </a:pPr>
            <a:r>
              <a:rPr lang="zh-CN" altLang="en-US" sz="2000" b="1" dirty="0">
                <a:latin typeface="宋体" panose="02010600030101010101" pitchFamily="2" charset="-122"/>
                <a:ea typeface="宋体" panose="02010600030101010101" pitchFamily="2" charset="-122"/>
              </a:rPr>
              <a:t>	      </a:t>
            </a:r>
            <a:endParaRPr lang="en-US" altLang="zh-CN" sz="2000" b="1" dirty="0">
              <a:latin typeface="宋体" panose="02010600030101010101" pitchFamily="2" charset="-122"/>
              <a:ea typeface="宋体" panose="02010600030101010101" pitchFamily="2" charset="-122"/>
            </a:endParaRPr>
          </a:p>
          <a:p>
            <a:pPr>
              <a:lnSpc>
                <a:spcPct val="80000"/>
              </a:lnSpc>
              <a:buNone/>
            </a:pP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   在完成上述操作后，如果</a:t>
            </a:r>
            <a:r>
              <a:rPr lang="en-US" altLang="zh-CN" sz="2000" b="1" dirty="0">
                <a:latin typeface="宋体" panose="02010600030101010101" pitchFamily="2" charset="-122"/>
                <a:ea typeface="宋体" panose="02010600030101010101" pitchFamily="2" charset="-122"/>
              </a:rPr>
              <a:t>M[A</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中没有产生式，则将其置</a:t>
            </a: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为</a:t>
            </a:r>
            <a:r>
              <a:rPr lang="en-US" altLang="zh-CN" sz="2000" b="1" dirty="0">
                <a:latin typeface="宋体" panose="02010600030101010101" pitchFamily="2" charset="-122"/>
                <a:ea typeface="宋体" panose="02010600030101010101" pitchFamily="2" charset="-122"/>
              </a:rPr>
              <a:t>error</a:t>
            </a:r>
            <a:r>
              <a:rPr lang="zh-CN" altLang="en-US" sz="2000" b="1" dirty="0">
                <a:latin typeface="宋体" panose="02010600030101010101" pitchFamily="2" charset="-122"/>
                <a:ea typeface="宋体" panose="02010600030101010101" pitchFamily="2" charset="-122"/>
              </a:rPr>
              <a:t>（意为语法错误，通常用空条目表示）</a:t>
            </a:r>
            <a:endParaRPr lang="en-US" altLang="zh-CN" sz="2000" b="1" dirty="0">
              <a:latin typeface="宋体" panose="02010600030101010101" pitchFamily="2" charset="-122"/>
              <a:ea typeface="宋体" panose="02010600030101010101" pitchFamily="2" charset="-122"/>
            </a:endParaRPr>
          </a:p>
          <a:p>
            <a:r>
              <a:rPr lang="zh-CN" altLang="en-US" sz="2400" b="1" dirty="0">
                <a:ea typeface="宋体" panose="02010600030101010101" pitchFamily="2" charset="-122"/>
              </a:rPr>
              <a:t>本算法适用于任何文法</a:t>
            </a:r>
            <a:r>
              <a:rPr lang="en-US" altLang="zh-CN" sz="2400" b="1" dirty="0">
                <a:ea typeface="宋体" panose="02010600030101010101" pitchFamily="2" charset="-122"/>
              </a:rPr>
              <a:t>G</a:t>
            </a:r>
            <a:r>
              <a:rPr lang="zh-CN" altLang="en-US" sz="2400" b="1" dirty="0">
                <a:ea typeface="宋体" panose="02010600030101010101" pitchFamily="2" charset="-122"/>
              </a:rPr>
              <a:t>，以生成对应的分析表</a:t>
            </a:r>
            <a:r>
              <a:rPr lang="en-US" altLang="zh-CN" sz="2400" b="1" dirty="0">
                <a:ea typeface="宋体" panose="02010600030101010101" pitchFamily="2" charset="-122"/>
              </a:rPr>
              <a:t>M</a:t>
            </a:r>
            <a:endParaRPr lang="en-US" altLang="zh-CN" sz="2400" b="1" dirty="0">
              <a:ea typeface="宋体" panose="02010600030101010101" pitchFamily="2" charset="-122"/>
            </a:endParaRPr>
          </a:p>
          <a:p>
            <a:pPr lvl="1"/>
            <a:r>
              <a:rPr lang="zh-CN" altLang="en-US" b="1" dirty="0">
                <a:ea typeface="宋体" panose="02010600030101010101" pitchFamily="2" charset="-122"/>
              </a:rPr>
              <a:t>对于</a:t>
            </a:r>
            <a:r>
              <a:rPr lang="en-US" altLang="zh-CN" b="1" dirty="0">
                <a:ea typeface="宋体" panose="02010600030101010101" pitchFamily="2" charset="-122"/>
              </a:rPr>
              <a:t>LL(1)</a:t>
            </a:r>
            <a:r>
              <a:rPr lang="zh-CN" altLang="en-US" b="1" dirty="0">
                <a:ea typeface="宋体" panose="02010600030101010101" pitchFamily="2" charset="-122"/>
              </a:rPr>
              <a:t>文法，</a:t>
            </a:r>
            <a:r>
              <a:rPr lang="en-US" altLang="zh-CN" b="1" dirty="0">
                <a:ea typeface="宋体" panose="02010600030101010101" pitchFamily="2" charset="-122"/>
              </a:rPr>
              <a:t>M</a:t>
            </a:r>
            <a:r>
              <a:rPr lang="zh-CN" altLang="en-US" b="1" dirty="0">
                <a:ea typeface="宋体" panose="02010600030101010101" pitchFamily="2" charset="-122"/>
              </a:rPr>
              <a:t>的每个条目都唯一指定了一个产生式</a:t>
            </a:r>
            <a:r>
              <a:rPr lang="en-US" altLang="zh-CN" b="1" dirty="0">
                <a:ea typeface="宋体" panose="02010600030101010101" pitchFamily="2" charset="-122"/>
              </a:rPr>
              <a:t>,</a:t>
            </a:r>
            <a:r>
              <a:rPr lang="zh-CN" altLang="en-US" b="1" dirty="0">
                <a:ea typeface="宋体" panose="02010600030101010101" pitchFamily="2" charset="-122"/>
              </a:rPr>
              <a:t>或标明是一个语法错误</a:t>
            </a:r>
            <a:endParaRPr lang="en-US" altLang="zh-CN" b="1" dirty="0">
              <a:ea typeface="宋体" panose="02010600030101010101" pitchFamily="2" charset="-122"/>
            </a:endParaRPr>
          </a:p>
          <a:p>
            <a:pPr lvl="1"/>
            <a:r>
              <a:rPr lang="zh-CN" altLang="en-US" b="1" dirty="0">
                <a:ea typeface="宋体" panose="02010600030101010101" pitchFamily="2" charset="-122"/>
              </a:rPr>
              <a:t>如果</a:t>
            </a:r>
            <a:r>
              <a:rPr lang="en-US" altLang="zh-CN" b="1" dirty="0">
                <a:ea typeface="宋体" panose="02010600030101010101" pitchFamily="2" charset="-122"/>
              </a:rPr>
              <a:t>M</a:t>
            </a:r>
            <a:r>
              <a:rPr lang="zh-CN" altLang="en-US" b="1" dirty="0">
                <a:ea typeface="宋体" panose="02010600030101010101" pitchFamily="2" charset="-122"/>
              </a:rPr>
              <a:t>中出现了多重定义的条目，则该文法不是</a:t>
            </a:r>
            <a:r>
              <a:rPr lang="en-US" altLang="zh-CN" b="1" dirty="0">
                <a:ea typeface="宋体" panose="02010600030101010101" pitchFamily="2" charset="-122"/>
              </a:rPr>
              <a:t>LL(1)</a:t>
            </a:r>
            <a:r>
              <a:rPr lang="zh-CN" altLang="en-US" b="1" dirty="0">
                <a:ea typeface="宋体" panose="02010600030101010101" pitchFamily="2" charset="-122"/>
              </a:rPr>
              <a:t>的</a:t>
            </a:r>
            <a:endParaRPr lang="en-US" altLang="zh-CN" b="1" dirty="0">
              <a:ea typeface="宋体" panose="02010600030101010101" pitchFamily="2" charset="-122"/>
            </a:endParaRPr>
          </a:p>
          <a:p>
            <a:pPr lvl="2"/>
            <a:r>
              <a:rPr lang="zh-CN" altLang="en-US" b="1" dirty="0">
                <a:ea typeface="宋体" panose="02010600030101010101" pitchFamily="2" charset="-122"/>
              </a:rPr>
              <a:t>不是所有的文法都可以找到等价的</a:t>
            </a:r>
            <a:r>
              <a:rPr lang="en-US" altLang="zh-CN" b="1" dirty="0">
                <a:ea typeface="宋体" panose="02010600030101010101" pitchFamily="2" charset="-122"/>
              </a:rPr>
              <a:t>LL(1)</a:t>
            </a:r>
            <a:r>
              <a:rPr lang="zh-CN" altLang="en-US" b="1" dirty="0">
                <a:ea typeface="宋体" panose="02010600030101010101" pitchFamily="2" charset="-122"/>
              </a:rPr>
              <a:t>文法的</a:t>
            </a:r>
            <a:endParaRPr lang="zh-CN" altLang="en-US" b="1" dirty="0">
              <a:ea typeface="宋体" panose="02010600030101010101" pitchFamily="2" charset="-122"/>
            </a:endParaRP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自顶向下分析（1</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18787" name="Rectangle 3"/>
          <p:cNvSpPr>
            <a:spLocks noGrp="1"/>
          </p:cNvSpPr>
          <p:nvPr>
            <p:ph idx="1"/>
          </p:nvPr>
        </p:nvSpPr>
        <p:spPr>
          <a:xfrm>
            <a:off x="914400" y="1295400"/>
            <a:ext cx="7239000" cy="5105400"/>
          </a:xfrm>
        </p:spPr>
        <p:txBody>
          <a:bodyPr vert="horz" wrap="square" lIns="92075" tIns="46038" rIns="92075" bIns="46038" anchor="t" anchorCtr="0"/>
          <a:p>
            <a:pPr marL="495300" indent="-495300">
              <a:spcBef>
                <a:spcPct val="0"/>
              </a:spcBef>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例</a:t>
            </a:r>
            <a:r>
              <a:rPr lang="en-US" altLang="zh-CN" sz="2000" b="1" dirty="0">
                <a:latin typeface="宋体" panose="02010600030101010101" pitchFamily="2" charset="-122"/>
                <a:ea typeface="宋体" panose="02010600030101010101" pitchFamily="2" charset="-122"/>
              </a:rPr>
              <a:t>4.32</a:t>
            </a:r>
            <a:r>
              <a:rPr lang="zh-CN" altLang="en-US" sz="2000" b="1" dirty="0">
                <a:latin typeface="宋体" panose="02010600030101010101" pitchFamily="2" charset="-122"/>
                <a:ea typeface="宋体" panose="02010600030101010101" pitchFamily="2" charset="-122"/>
              </a:rPr>
              <a:t>：无二义性表达式文法的预测分析</a:t>
            </a:r>
            <a:endParaRPr lang="zh-CN" altLang="en-US"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构造的分析表</a:t>
            </a:r>
            <a:r>
              <a:rPr lang="en-US" altLang="zh-CN" sz="2000" b="1" dirty="0">
                <a:latin typeface="宋体" panose="02010600030101010101" pitchFamily="2" charset="-122"/>
                <a:ea typeface="宋体" panose="02010600030101010101" pitchFamily="2" charset="-122"/>
              </a:rPr>
              <a:t>M</a:t>
            </a: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p:txBody>
      </p:sp>
      <p:pic>
        <p:nvPicPr>
          <p:cNvPr id="118788" name="Picture 7"/>
          <p:cNvPicPr>
            <a:picLocks noChangeAspect="1"/>
          </p:cNvPicPr>
          <p:nvPr/>
        </p:nvPicPr>
        <p:blipFill>
          <a:blip r:embed="rId1"/>
          <a:stretch>
            <a:fillRect/>
          </a:stretch>
        </p:blipFill>
        <p:spPr>
          <a:xfrm>
            <a:off x="1384300" y="2060575"/>
            <a:ext cx="6305550" cy="2505075"/>
          </a:xfrm>
          <a:prstGeom prst="rect">
            <a:avLst/>
          </a:prstGeom>
          <a:noFill/>
          <a:ln w="22225">
            <a:noFill/>
          </a:ln>
        </p:spPr>
      </p:pic>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自顶向下分析（18）</a:t>
            </a:r>
            <a:endParaRPr lang="zh-CN" altLang="en-US" dirty="0">
              <a:latin typeface="宋体" panose="02010600030101010101" pitchFamily="2" charset="-122"/>
              <a:ea typeface="宋体" panose="02010600030101010101" pitchFamily="2" charset="-122"/>
            </a:endParaRPr>
          </a:p>
        </p:txBody>
      </p:sp>
      <p:sp>
        <p:nvSpPr>
          <p:cNvPr id="120835" name="Rectangle 9"/>
          <p:cNvSpPr>
            <a:spLocks noGrp="1"/>
          </p:cNvSpPr>
          <p:nvPr>
            <p:ph idx="1"/>
          </p:nvPr>
        </p:nvSpPr>
        <p:spPr>
          <a:xfrm>
            <a:off x="609600" y="1524000"/>
            <a:ext cx="7994650" cy="4876800"/>
          </a:xfrm>
        </p:spPr>
        <p:txBody>
          <a:bodyPr vert="horz" wrap="square" lIns="92075" tIns="46038" rIns="92075" bIns="46038" anchor="t" anchorCtr="0"/>
          <a:p>
            <a:pPr marL="495300" indent="-495300">
              <a:spcBef>
                <a:spcPct val="0"/>
              </a:spcBef>
            </a:pPr>
            <a:r>
              <a:rPr lang="zh-CN" altLang="en-US" sz="2200" b="1" dirty="0">
                <a:latin typeface="宋体" panose="02010600030101010101" pitchFamily="2" charset="-122"/>
                <a:ea typeface="宋体" panose="02010600030101010101" pitchFamily="2" charset="-122"/>
              </a:rPr>
              <a:t>如果</a:t>
            </a:r>
            <a:r>
              <a:rPr lang="en-US" altLang="zh-CN" sz="2200" b="1" dirty="0">
                <a:latin typeface="宋体" panose="02010600030101010101" pitchFamily="2" charset="-122"/>
                <a:ea typeface="宋体" panose="02010600030101010101" pitchFamily="2" charset="-122"/>
              </a:rPr>
              <a:t>G</a:t>
            </a:r>
            <a:r>
              <a:rPr lang="zh-CN" altLang="en-US" sz="2200" b="1" dirty="0">
                <a:latin typeface="宋体" panose="02010600030101010101" pitchFamily="2" charset="-122"/>
                <a:ea typeface="宋体" panose="02010600030101010101" pitchFamily="2" charset="-122"/>
              </a:rPr>
              <a:t>是左递归或二义的，则</a:t>
            </a:r>
            <a:r>
              <a:rPr lang="en-US" altLang="zh-CN" sz="2200" b="1" dirty="0">
                <a:latin typeface="宋体" panose="02010600030101010101" pitchFamily="2" charset="-122"/>
                <a:ea typeface="宋体" panose="02010600030101010101" pitchFamily="2" charset="-122"/>
              </a:rPr>
              <a:t>M</a:t>
            </a:r>
            <a:r>
              <a:rPr lang="zh-CN" altLang="en-US" sz="2200" b="1" dirty="0">
                <a:latin typeface="宋体" panose="02010600030101010101" pitchFamily="2" charset="-122"/>
                <a:ea typeface="宋体" panose="02010600030101010101" pitchFamily="2" charset="-122"/>
              </a:rPr>
              <a:t>至少有一个多重定义的条目</a:t>
            </a:r>
            <a:endParaRPr lang="zh-CN" altLang="en-US" sz="2200" b="1" dirty="0">
              <a:latin typeface="宋体" panose="02010600030101010101" pitchFamily="2" charset="-122"/>
              <a:ea typeface="宋体" panose="02010600030101010101" pitchFamily="2" charset="-122"/>
            </a:endParaRPr>
          </a:p>
          <a:p>
            <a:pPr marL="933450" lvl="1" indent="-419100">
              <a:spcBef>
                <a:spcPct val="0"/>
              </a:spcBef>
              <a:buNone/>
            </a:pPr>
            <a:r>
              <a:rPr lang="zh-CN" altLang="en-US" sz="2200" b="1" dirty="0">
                <a:latin typeface="宋体" panose="02010600030101010101" pitchFamily="2" charset="-122"/>
                <a:ea typeface="宋体" panose="02010600030101010101" pitchFamily="2" charset="-122"/>
              </a:rPr>
              <a:t>对于如下述文法解决悬空</a:t>
            </a:r>
            <a:r>
              <a:rPr lang="en-US" altLang="zh-CN" sz="2200" b="1" dirty="0">
                <a:latin typeface="宋体" panose="02010600030101010101" pitchFamily="2" charset="-122"/>
                <a:ea typeface="宋体" panose="02010600030101010101" pitchFamily="2" charset="-122"/>
              </a:rPr>
              <a:t>else</a:t>
            </a:r>
            <a:r>
              <a:rPr lang="zh-CN" altLang="en-US" sz="2200" b="1" dirty="0">
                <a:latin typeface="宋体" panose="02010600030101010101" pitchFamily="2" charset="-122"/>
                <a:ea typeface="宋体" panose="02010600030101010101" pitchFamily="2" charset="-122"/>
              </a:rPr>
              <a:t>问题，对应的分析表</a:t>
            </a:r>
            <a:r>
              <a:rPr lang="en-US" altLang="zh-CN" sz="2200" b="1" dirty="0">
                <a:latin typeface="宋体" panose="02010600030101010101" pitchFamily="2" charset="-122"/>
                <a:ea typeface="宋体" panose="02010600030101010101" pitchFamily="2" charset="-122"/>
              </a:rPr>
              <a:t>M</a:t>
            </a:r>
            <a:r>
              <a:rPr lang="zh-CN" altLang="en-US" sz="2200" b="1" dirty="0">
                <a:latin typeface="宋体" panose="02010600030101010101" pitchFamily="2" charset="-122"/>
                <a:ea typeface="宋体" panose="02010600030101010101" pitchFamily="2" charset="-122"/>
              </a:rPr>
              <a:t>如下：</a:t>
            </a:r>
            <a:endParaRPr lang="zh-CN" altLang="en-US" sz="2200" b="1" dirty="0">
              <a:latin typeface="宋体" panose="02010600030101010101" pitchFamily="2" charset="-122"/>
              <a:ea typeface="宋体" panose="02010600030101010101" pitchFamily="2" charset="-122"/>
            </a:endParaRPr>
          </a:p>
          <a:p>
            <a:pPr marL="933450" lvl="1" indent="-419100">
              <a:spcBef>
                <a:spcPct val="0"/>
              </a:spcBef>
              <a:buNone/>
            </a:pPr>
            <a:r>
              <a:rPr lang="en-US" altLang="zh-CN" sz="2200" i="1" dirty="0">
                <a:latin typeface="宋体" panose="02010600030101010101" pitchFamily="2" charset="-122"/>
                <a:ea typeface="宋体" panose="02010600030101010101" pitchFamily="2" charset="-122"/>
              </a:rPr>
              <a:t>S</a:t>
            </a:r>
            <a:r>
              <a:rPr lang="en-US" altLang="zh-CN" sz="2200" b="1" dirty="0">
                <a:latin typeface="宋体" panose="02010600030101010101" pitchFamily="2" charset="-122"/>
                <a:ea typeface="宋体" panose="02010600030101010101" pitchFamily="2" charset="-122"/>
              </a:rPr>
              <a:t>→i</a:t>
            </a:r>
            <a:r>
              <a:rPr lang="en-US" altLang="zh-CN" sz="2200" i="1" dirty="0">
                <a:latin typeface="宋体" panose="02010600030101010101" pitchFamily="2" charset="-122"/>
                <a:ea typeface="宋体" panose="02010600030101010101" pitchFamily="2" charset="-122"/>
              </a:rPr>
              <a:t>E</a:t>
            </a:r>
            <a:r>
              <a:rPr lang="en-US" altLang="zh-CN" sz="2200" b="1" dirty="0">
                <a:latin typeface="宋体" panose="02010600030101010101" pitchFamily="2" charset="-122"/>
                <a:ea typeface="宋体" panose="02010600030101010101" pitchFamily="2" charset="-122"/>
              </a:rPr>
              <a:t>t</a:t>
            </a:r>
            <a:r>
              <a:rPr lang="en-US" altLang="zh-CN" sz="2200" i="1" dirty="0">
                <a:latin typeface="宋体" panose="02010600030101010101" pitchFamily="2" charset="-122"/>
                <a:ea typeface="宋体" panose="02010600030101010101" pitchFamily="2" charset="-122"/>
              </a:rPr>
              <a:t>SS</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|a</a:t>
            </a:r>
            <a:endParaRPr lang="en-US" altLang="zh-CN" sz="2200" b="1" dirty="0">
              <a:latin typeface="宋体" panose="02010600030101010101" pitchFamily="2" charset="-122"/>
              <a:ea typeface="宋体" panose="02010600030101010101" pitchFamily="2" charset="-122"/>
            </a:endParaRPr>
          </a:p>
          <a:p>
            <a:pPr marL="933450" lvl="1" indent="-419100">
              <a:spcBef>
                <a:spcPct val="0"/>
              </a:spcBef>
              <a:buNone/>
            </a:pPr>
            <a:r>
              <a:rPr lang="en-US" altLang="zh-CN" sz="2200" i="1" dirty="0">
                <a:latin typeface="宋体" panose="02010600030101010101" pitchFamily="2" charset="-122"/>
                <a:ea typeface="宋体" panose="02010600030101010101" pitchFamily="2" charset="-122"/>
              </a:rPr>
              <a:t>S</a:t>
            </a:r>
            <a:r>
              <a:rPr lang="en-US" altLang="zh-CN" sz="2200" i="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→e</a:t>
            </a:r>
            <a:r>
              <a:rPr lang="en-US" altLang="zh-CN" sz="2200" i="1" dirty="0">
                <a:latin typeface="宋体" panose="02010600030101010101" pitchFamily="2" charset="-122"/>
                <a:ea typeface="宋体" panose="02010600030101010101" pitchFamily="2" charset="-122"/>
              </a:rPr>
              <a:t>S</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|ε</a:t>
            </a:r>
            <a:endParaRPr lang="en-US" altLang="zh-CN" sz="2200" b="1" dirty="0">
              <a:latin typeface="宋体" panose="02010600030101010101" pitchFamily="2" charset="-122"/>
              <a:ea typeface="宋体" panose="02010600030101010101" pitchFamily="2" charset="-122"/>
            </a:endParaRPr>
          </a:p>
          <a:p>
            <a:pPr marL="933450" lvl="1" indent="-419100">
              <a:spcBef>
                <a:spcPct val="0"/>
              </a:spcBef>
              <a:buNone/>
            </a:pPr>
            <a:r>
              <a:rPr lang="en-US" altLang="zh-CN" sz="2200" i="1" dirty="0">
                <a:latin typeface="宋体" panose="02010600030101010101" pitchFamily="2" charset="-122"/>
                <a:ea typeface="宋体" panose="02010600030101010101" pitchFamily="2" charset="-122"/>
              </a:rPr>
              <a:t>E</a:t>
            </a:r>
            <a:r>
              <a:rPr lang="en-US" altLang="zh-CN" sz="2200" b="1" dirty="0">
                <a:latin typeface="宋体" panose="02010600030101010101" pitchFamily="2" charset="-122"/>
                <a:ea typeface="宋体" panose="02010600030101010101" pitchFamily="2" charset="-122"/>
              </a:rPr>
              <a:t>→b</a:t>
            </a:r>
            <a:endParaRPr lang="en-US" altLang="zh-CN" sz="2200" b="1" dirty="0">
              <a:latin typeface="宋体" panose="02010600030101010101" pitchFamily="2" charset="-122"/>
              <a:ea typeface="宋体" panose="02010600030101010101" pitchFamily="2" charset="-122"/>
            </a:endParaRPr>
          </a:p>
        </p:txBody>
      </p:sp>
      <p:pic>
        <p:nvPicPr>
          <p:cNvPr id="120836" name="Picture 2"/>
          <p:cNvPicPr>
            <a:picLocks noChangeAspect="1"/>
          </p:cNvPicPr>
          <p:nvPr/>
        </p:nvPicPr>
        <p:blipFill>
          <a:blip r:embed="rId1"/>
          <a:stretch>
            <a:fillRect/>
          </a:stretch>
        </p:blipFill>
        <p:spPr>
          <a:xfrm>
            <a:off x="609600" y="3213100"/>
            <a:ext cx="8559800" cy="3233738"/>
          </a:xfrm>
          <a:prstGeom prst="rect">
            <a:avLst/>
          </a:prstGeom>
          <a:noFill/>
          <a:ln w="9525">
            <a:noFill/>
          </a:ln>
        </p:spPr>
      </p:pic>
      <p:sp>
        <p:nvSpPr>
          <p:cNvPr id="120837" name="椭圆 1"/>
          <p:cNvSpPr/>
          <p:nvPr/>
        </p:nvSpPr>
        <p:spPr>
          <a:xfrm>
            <a:off x="4211638" y="4437063"/>
            <a:ext cx="1223962" cy="936625"/>
          </a:xfrm>
          <a:prstGeom prst="ellipse">
            <a:avLst/>
          </a:prstGeom>
          <a:noFill/>
          <a:ln w="22225" cap="flat" cmpd="sng">
            <a:solidFill>
              <a:srgbClr val="FF0000"/>
            </a:solidFill>
            <a:prstDash val="solid"/>
            <a:headEnd type="none" w="sm" len="sm"/>
            <a:tailEnd type="triangle" w="lg"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自顶向下分析（1</a:t>
            </a:r>
            <a:r>
              <a:rPr lang="en-US" altLang="zh-CN" dirty="0">
                <a:latin typeface="宋体" panose="02010600030101010101" pitchFamily="2" charset="-122"/>
                <a:ea typeface="宋体" panose="02010600030101010101" pitchFamily="2" charset="-122"/>
              </a:rPr>
              <a:t>9</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22883" name="Rectangle 3"/>
          <p:cNvSpPr>
            <a:spLocks noGrp="1"/>
          </p:cNvSpPr>
          <p:nvPr>
            <p:ph idx="1"/>
          </p:nvPr>
        </p:nvSpPr>
        <p:spPr>
          <a:xfrm>
            <a:off x="539750" y="1371600"/>
            <a:ext cx="8208963" cy="48768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非递归的预测分析：</a:t>
            </a:r>
            <a:endParaRPr lang="zh-CN" altLang="en-US" sz="2400" b="1" dirty="0">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显式地维持一个状态栈，而不是隐式地通过递归调用</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模拟的是最左推导的过程</a:t>
            </a:r>
            <a:endParaRPr lang="en-US" altLang="zh-CN" b="1" dirty="0">
              <a:latin typeface="宋体" panose="02010600030101010101" pitchFamily="2" charset="-122"/>
              <a:ea typeface="宋体" panose="02010600030101010101" pitchFamily="2" charset="-122"/>
            </a:endParaRPr>
          </a:p>
          <a:p>
            <a:pPr lvl="1"/>
            <a:r>
              <a:rPr lang="zh-CN" altLang="en-US" sz="2600" b="1" dirty="0">
                <a:ea typeface="宋体" panose="02010600030101010101" pitchFamily="2" charset="-122"/>
              </a:rPr>
              <a:t>如果</a:t>
            </a:r>
            <a:r>
              <a:rPr lang="el-GR" altLang="zh-CN" sz="2600" b="1" dirty="0">
                <a:ea typeface="宋体" panose="02010600030101010101" pitchFamily="2" charset="-122"/>
              </a:rPr>
              <a:t>ω</a:t>
            </a:r>
            <a:r>
              <a:rPr lang="zh-CN" altLang="en-US" sz="2600" b="1" dirty="0">
                <a:ea typeface="宋体" panose="02010600030101010101" pitchFamily="2" charset="-122"/>
              </a:rPr>
              <a:t>是至今为止已经匹配完成的输入部分，则栈中保存的文法符号序列</a:t>
            </a:r>
            <a:r>
              <a:rPr lang="el-GR" altLang="zh-CN" sz="2600" b="1" dirty="0">
                <a:ea typeface="宋体" panose="02010600030101010101" pitchFamily="2" charset="-122"/>
              </a:rPr>
              <a:t>α</a:t>
            </a:r>
            <a:r>
              <a:rPr lang="zh-CN" altLang="en-US" sz="2600" b="1" dirty="0">
                <a:ea typeface="宋体" panose="02010600030101010101" pitchFamily="2" charset="-122"/>
              </a:rPr>
              <a:t>满足：</a:t>
            </a:r>
            <a:r>
              <a:rPr lang="en-US" altLang="zh-CN" sz="2600" b="1" dirty="0">
                <a:ea typeface="宋体" panose="02010600030101010101" pitchFamily="2" charset="-122"/>
              </a:rPr>
              <a:t>S</a:t>
            </a:r>
            <a:r>
              <a:rPr lang="el-GR" altLang="zh-CN" sz="2600" b="1" dirty="0">
                <a:ea typeface="宋体" panose="02010600030101010101" pitchFamily="2" charset="-122"/>
              </a:rPr>
              <a:t> </a:t>
            </a:r>
            <a:r>
              <a:rPr lang="en-US" altLang="zh-CN" sz="2600" b="1" dirty="0">
                <a:ea typeface="宋体" panose="02010600030101010101" pitchFamily="2" charset="-122"/>
              </a:rPr>
              <a:t>   </a:t>
            </a:r>
            <a:r>
              <a:rPr lang="el-GR" altLang="zh-CN" sz="2600" b="1" dirty="0">
                <a:ea typeface="宋体" panose="02010600030101010101" pitchFamily="2" charset="-122"/>
              </a:rPr>
              <a:t>ωα</a:t>
            </a:r>
            <a:endParaRPr lang="zh-CN" altLang="en-US" sz="2600" b="1" dirty="0">
              <a:ea typeface="宋体" panose="02010600030101010101" pitchFamily="2" charset="-122"/>
            </a:endParaRPr>
          </a:p>
        </p:txBody>
      </p:sp>
      <p:graphicFrame>
        <p:nvGraphicFramePr>
          <p:cNvPr id="122884" name="Object 4"/>
          <p:cNvGraphicFramePr>
            <a:graphicFrameLocks noChangeAspect="1"/>
          </p:cNvGraphicFramePr>
          <p:nvPr/>
        </p:nvGraphicFramePr>
        <p:xfrm>
          <a:off x="6084888" y="3017838"/>
          <a:ext cx="358775" cy="600075"/>
        </p:xfrm>
        <a:graphic>
          <a:graphicData uri="http://schemas.openxmlformats.org/presentationml/2006/ole">
            <mc:AlternateContent xmlns:mc="http://schemas.openxmlformats.org/markup-compatibility/2006">
              <mc:Choice xmlns:v="urn:schemas-microsoft-com:vml" Requires="v">
                <p:oleObj spid="_x0000_s3106" name="" r:id="rId1" imgW="190500" imgH="393700" progId="Equation.3">
                  <p:embed/>
                </p:oleObj>
              </mc:Choice>
              <mc:Fallback>
                <p:oleObj name="" r:id="rId1" imgW="190500" imgH="393700" progId="Equation.3">
                  <p:embed/>
                  <p:pic>
                    <p:nvPicPr>
                      <p:cNvPr id="0" name="图片 3105"/>
                      <p:cNvPicPr/>
                      <p:nvPr/>
                    </p:nvPicPr>
                    <p:blipFill>
                      <a:blip r:embed="rId2"/>
                      <a:stretch>
                        <a:fillRect/>
                      </a:stretch>
                    </p:blipFill>
                    <p:spPr>
                      <a:xfrm>
                        <a:off x="6084888" y="3017838"/>
                        <a:ext cx="358775" cy="600075"/>
                      </a:xfrm>
                      <a:prstGeom prst="rect">
                        <a:avLst/>
                      </a:prstGeom>
                      <a:noFill/>
                      <a:ln w="38100">
                        <a:noFill/>
                        <a:miter/>
                      </a:ln>
                    </p:spPr>
                  </p:pic>
                </p:oleObj>
              </mc:Fallback>
            </mc:AlternateContent>
          </a:graphicData>
        </a:graphic>
      </p:graphicFrame>
      <p:pic>
        <p:nvPicPr>
          <p:cNvPr id="122885" name="Picture 2"/>
          <p:cNvPicPr>
            <a:picLocks noChangeAspect="1"/>
          </p:cNvPicPr>
          <p:nvPr/>
        </p:nvPicPr>
        <p:blipFill>
          <a:blip r:embed="rId3"/>
          <a:stretch>
            <a:fillRect/>
          </a:stretch>
        </p:blipFill>
        <p:spPr>
          <a:xfrm>
            <a:off x="1548130" y="3618230"/>
            <a:ext cx="6048375" cy="3639185"/>
          </a:xfrm>
          <a:prstGeom prst="rect">
            <a:avLst/>
          </a:prstGeom>
          <a:noFill/>
          <a:ln w="9525">
            <a:noFill/>
          </a:ln>
        </p:spPr>
      </p:pic>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a:t>
            </a:r>
            <a:r>
              <a:rPr lang="en-US" altLang="zh-CN" dirty="0">
                <a:latin typeface="宋体" panose="02010600030101010101" pitchFamily="2" charset="-122"/>
                <a:ea typeface="宋体" panose="02010600030101010101" pitchFamily="2" charset="-122"/>
              </a:rPr>
              <a:t>20</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8067" name="Rectangle 3"/>
          <p:cNvSpPr>
            <a:spLocks noGrp="1" noChangeArrowheads="1"/>
          </p:cNvSpPr>
          <p:nvPr>
            <p:ph idx="1"/>
          </p:nvPr>
        </p:nvSpPr>
        <p:spPr>
          <a:xfrm>
            <a:off x="609600" y="1295400"/>
            <a:ext cx="7772400" cy="51054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表驱动的预测分析器包括：</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输入缓冲区：要分析的输入串，以$作为结束的标记</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栈：存放文法的符号串，栈底符号是$，分析开始时，栈中只含有文法的开始符号，它在$的上面</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分析表：是一个两维的数组</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M[</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A，a</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是非终结符，</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是终结符或$</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输出流</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514350" marR="0" lvl="1"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预测分析器的工作过程：</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下页的图</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4.20</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给出的算法</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4.34</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与下述过程一致），如果分析成果，则给出一个最左推导</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根据栈顶当前的符号</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和输入符号</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决定分析器的动作：</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895350" marR="0" lvl="1" indent="-3810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AutoNum type="arabicParen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分析器宣告分析完全成功而停机</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895350" marR="0" lvl="1" indent="-3810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AutoNum type="arabicParen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分析器弹出栈顶符号</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推进输入指针，指向下一个符号</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895350" marR="0" lvl="1" indent="-3810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AutoNum type="arabicParen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是终结符但不是</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则报告出错，调用错误恢复例程</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895350" marR="0" lvl="1" indent="-3810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AutoNum type="arabicParen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是非终结符，程序访问分析表</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M，</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若</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M[</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X，a</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的产生式，则将</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弹出栈，将对应的产生式的右部依倒序压入栈，</a:t>
            </a:r>
            <a:r>
              <a:rPr kumimoji="0" lang="zh-CN" altLang="en-US" sz="1800" b="1" i="0" u="none" strike="noStrike" kern="0" cap="none" spc="0" normalizeH="0" baseline="0" noProof="0" dirty="0">
                <a:ln>
                  <a:noFill/>
                </a:ln>
                <a:solidFill>
                  <a:srgbClr val="063DE8"/>
                </a:solidFill>
                <a:effectLst/>
                <a:uLnTx/>
                <a:uFillTx/>
                <a:latin typeface="宋体" panose="02010600030101010101" pitchFamily="2" charset="-122"/>
                <a:ea typeface="宋体" panose="02010600030101010101" pitchFamily="2" charset="-122"/>
              </a:rPr>
              <a:t>同时做相应的动作，如作为输出，打印所用的产生式，或执行其它代码等</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M[</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A，a</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指示出错，分析器调用错误恢复例程</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6978" name="Picture 2"/>
          <p:cNvPicPr>
            <a:picLocks noChangeAspect="1"/>
          </p:cNvPicPr>
          <p:nvPr/>
        </p:nvPicPr>
        <p:blipFill>
          <a:blip r:embed="rId1"/>
          <a:stretch>
            <a:fillRect/>
          </a:stretch>
        </p:blipFill>
        <p:spPr>
          <a:xfrm>
            <a:off x="107950" y="188913"/>
            <a:ext cx="8837613" cy="5726112"/>
          </a:xfrm>
          <a:prstGeom prst="rect">
            <a:avLst/>
          </a:prstGeom>
          <a:noFill/>
          <a:ln w="9525">
            <a:noFill/>
          </a:ln>
        </p:spPr>
      </p:pic>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a:t>
            </a:r>
            <a:r>
              <a:rPr lang="en-US" altLang="zh-CN" dirty="0">
                <a:latin typeface="宋体" panose="02010600030101010101" pitchFamily="2" charset="-122"/>
                <a:ea typeface="宋体" panose="02010600030101010101" pitchFamily="2" charset="-122"/>
              </a:rPr>
              <a:t>21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29027" name="Rectangle 3"/>
          <p:cNvSpPr>
            <a:spLocks noGrp="1"/>
          </p:cNvSpPr>
          <p:nvPr>
            <p:ph idx="1"/>
          </p:nvPr>
        </p:nvSpPr>
        <p:spPr>
          <a:xfrm>
            <a:off x="914400" y="1295400"/>
            <a:ext cx="7239000" cy="5105400"/>
          </a:xfrm>
        </p:spPr>
        <p:txBody>
          <a:bodyPr vert="horz" wrap="square" lIns="92075" tIns="46038" rIns="92075" bIns="46038" anchor="t" anchorCtr="0"/>
          <a:p>
            <a:pPr marL="495300" indent="-495300">
              <a:spcBef>
                <a:spcPct val="0"/>
              </a:spcBef>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例：无二义性表达式文法的预测分析</a:t>
            </a:r>
            <a:endParaRPr lang="zh-CN" altLang="en-US"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根据</a:t>
            </a:r>
            <a:r>
              <a:rPr lang="en-US" altLang="zh-CN" sz="2000" b="1" dirty="0">
                <a:latin typeface="宋体" panose="02010600030101010101" pitchFamily="2" charset="-122"/>
                <a:ea typeface="宋体" panose="02010600030101010101" pitchFamily="2" charset="-122"/>
              </a:rPr>
              <a:t>ppt</a:t>
            </a:r>
            <a:r>
              <a:rPr lang="zh-CN" altLang="en-US" sz="2000" b="1" dirty="0">
                <a:latin typeface="宋体" panose="02010600030101010101" pitchFamily="2" charset="-122"/>
                <a:ea typeface="宋体" panose="02010600030101010101" pitchFamily="2" charset="-122"/>
              </a:rPr>
              <a:t>第</a:t>
            </a:r>
            <a:r>
              <a:rPr lang="en-US" altLang="zh-CN" sz="2000" b="1" dirty="0">
                <a:latin typeface="宋体" panose="02010600030101010101" pitchFamily="2" charset="-122"/>
                <a:ea typeface="宋体" panose="02010600030101010101" pitchFamily="2" charset="-122"/>
              </a:rPr>
              <a:t>54</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55</a:t>
            </a:r>
            <a:r>
              <a:rPr lang="zh-CN" altLang="en-US" sz="2000" b="1" dirty="0">
                <a:latin typeface="宋体" panose="02010600030101010101" pitchFamily="2" charset="-122"/>
                <a:ea typeface="宋体" panose="02010600030101010101" pitchFamily="2" charset="-122"/>
              </a:rPr>
              <a:t>页构造的分析表</a:t>
            </a:r>
            <a:r>
              <a:rPr lang="en-US" altLang="zh-CN" sz="2000" b="1" dirty="0">
                <a:latin typeface="宋体" panose="02010600030101010101" pitchFamily="2" charset="-122"/>
                <a:ea typeface="宋体" panose="02010600030101010101" pitchFamily="2" charset="-122"/>
              </a:rPr>
              <a:t>M</a:t>
            </a: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endParaRPr lang="en-US" altLang="zh-CN" sz="20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如果输入串是</a:t>
            </a:r>
            <a:r>
              <a:rPr lang="en-US" altLang="zh-CN" sz="2000" b="1" dirty="0">
                <a:latin typeface="宋体" panose="02010600030101010101" pitchFamily="2" charset="-122"/>
                <a:ea typeface="宋体" panose="02010600030101010101" pitchFamily="2" charset="-122"/>
              </a:rPr>
              <a:t>id+id*id，</a:t>
            </a:r>
            <a:r>
              <a:rPr lang="zh-CN" altLang="en-US" sz="2000" b="1" dirty="0">
                <a:latin typeface="宋体" panose="02010600030101010101" pitchFamily="2" charset="-122"/>
                <a:ea typeface="宋体" panose="02010600030101010101" pitchFamily="2" charset="-122"/>
              </a:rPr>
              <a:t>分析过程中各部分的变化如下图所示，输入指针指在输入串最左边的符号上，分析器跟踪的是输入的最左推导，已扫描过的符号加上栈中的文法符号（从顶到底），构成最左推导的句型</a:t>
            </a:r>
            <a:endParaRPr lang="zh-CN" altLang="en-US" sz="2000" b="1" dirty="0">
              <a:latin typeface="宋体" panose="02010600030101010101" pitchFamily="2" charset="-122"/>
              <a:ea typeface="宋体" panose="02010600030101010101" pitchFamily="2" charset="-122"/>
            </a:endParaRPr>
          </a:p>
        </p:txBody>
      </p:sp>
      <p:pic>
        <p:nvPicPr>
          <p:cNvPr id="129028" name="Picture 7"/>
          <p:cNvPicPr>
            <a:picLocks noChangeAspect="1"/>
          </p:cNvPicPr>
          <p:nvPr/>
        </p:nvPicPr>
        <p:blipFill>
          <a:blip r:embed="rId1"/>
          <a:stretch>
            <a:fillRect/>
          </a:stretch>
        </p:blipFill>
        <p:spPr>
          <a:xfrm>
            <a:off x="1384300" y="2060575"/>
            <a:ext cx="6305550" cy="2505075"/>
          </a:xfrm>
          <a:prstGeom prst="rect">
            <a:avLst/>
          </a:prstGeom>
          <a:noFill/>
          <a:ln w="22225">
            <a:noFill/>
          </a:ln>
        </p:spPr>
      </p:pic>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1074" name="Picture 2"/>
          <p:cNvPicPr>
            <a:picLocks noChangeAspect="1"/>
          </p:cNvPicPr>
          <p:nvPr/>
        </p:nvPicPr>
        <p:blipFill>
          <a:blip r:embed="rId1"/>
          <a:stretch>
            <a:fillRect/>
          </a:stretch>
        </p:blipFill>
        <p:spPr>
          <a:xfrm>
            <a:off x="762000" y="228600"/>
            <a:ext cx="7573963" cy="6299200"/>
          </a:xfrm>
          <a:prstGeom prst="rect">
            <a:avLst/>
          </a:prstGeom>
          <a:noFill/>
          <a:ln w="9525">
            <a:noFill/>
          </a:ln>
        </p:spPr>
      </p:pic>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自顶向下分析（2</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12643" name="Rectangle 3"/>
          <p:cNvSpPr>
            <a:spLocks noGrp="1" noChangeArrowheads="1"/>
          </p:cNvSpPr>
          <p:nvPr>
            <p:ph idx="1"/>
          </p:nvPr>
        </p:nvSpPr>
        <p:spPr>
          <a:xfrm>
            <a:off x="755650" y="1524000"/>
            <a:ext cx="7561263" cy="47244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预测分析的错误恢复</a:t>
            </a:r>
            <a:endPar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非递归预测分析器的栈使得分析器希望和剩余输入匹配的终结符变得明显</a:t>
            </a:r>
            <a:endPar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当栈顶的终结符和下一个输入符号不匹配，或者栈顶是非终结符</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输入符号是</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而</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M[</a:t>
            </a:r>
            <a:r>
              <a:rPr kumimoji="0" lang="en-US" altLang="zh-CN" sz="24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A，a</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是空白时，预测分析器即发现一个错误</a:t>
            </a:r>
            <a:endPar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514350" marR="0" lvl="0"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恐慌模式（紧急方式的错误恢复策略）</a:t>
            </a:r>
            <a:endParaRPr kumimoji="0" lang="en-US" altLang="zh-CN"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跳过一些输入符号，直到期望的同步记号中的一个出现为止</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效果依赖于同步记号集合的选择</a:t>
            </a:r>
            <a:endPar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自顶向下分析（2</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35171" name="Rectangle 3"/>
          <p:cNvSpPr>
            <a:spLocks noGrp="1"/>
          </p:cNvSpPr>
          <p:nvPr>
            <p:ph idx="1"/>
          </p:nvPr>
        </p:nvSpPr>
        <p:spPr>
          <a:xfrm>
            <a:off x="838200" y="1524000"/>
            <a:ext cx="7405688" cy="4724400"/>
          </a:xfrm>
        </p:spPr>
        <p:txBody>
          <a:bodyPr vert="horz" wrap="square" lIns="92075" tIns="46038" rIns="92075" bIns="46038" anchor="t" anchorCtr="0"/>
          <a:p>
            <a:pPr marL="514350" indent="-457200"/>
            <a:r>
              <a:rPr lang="zh-CN" altLang="en-US" b="1" dirty="0">
                <a:latin typeface="宋体" panose="02010600030101010101" pitchFamily="2" charset="-122"/>
                <a:ea typeface="宋体" panose="02010600030101010101" pitchFamily="2" charset="-122"/>
              </a:rPr>
              <a:t>同步记号的选择</a:t>
            </a:r>
            <a:endParaRPr lang="zh-CN" altLang="en-US" b="1" dirty="0">
              <a:latin typeface="宋体" panose="02010600030101010101" pitchFamily="2" charset="-122"/>
              <a:ea typeface="宋体" panose="02010600030101010101" pitchFamily="2" charset="-122"/>
            </a:endParaRPr>
          </a:p>
          <a:p>
            <a:pPr marL="971550" lvl="1" indent="-457200">
              <a:lnSpc>
                <a:spcPct val="90000"/>
              </a:lnSpc>
              <a:buSzTx/>
              <a:buFont typeface="Book Antiqua" panose="02040602050305030304" pitchFamily="18" charset="0"/>
              <a:buAutoNum type="arabicPeriod"/>
            </a:pPr>
            <a:r>
              <a:rPr lang="zh-CN" altLang="en-US" b="1" dirty="0">
                <a:latin typeface="宋体" panose="02010600030101010101" pitchFamily="2" charset="-122"/>
                <a:ea typeface="宋体" panose="02010600030101010101" pitchFamily="2" charset="-122"/>
              </a:rPr>
              <a:t>首先，将</a:t>
            </a:r>
            <a:r>
              <a:rPr lang="en-US" altLang="zh-CN" b="1" dirty="0">
                <a:latin typeface="宋体" panose="02010600030101010101" pitchFamily="2" charset="-122"/>
                <a:ea typeface="宋体" panose="02010600030101010101" pitchFamily="2" charset="-122"/>
              </a:rPr>
              <a:t>FOLLOW(A)</a:t>
            </a:r>
            <a:r>
              <a:rPr lang="zh-CN" altLang="en-US" b="1" dirty="0">
                <a:latin typeface="宋体" panose="02010600030101010101" pitchFamily="2" charset="-122"/>
                <a:ea typeface="宋体" panose="02010600030101010101" pitchFamily="2" charset="-122"/>
              </a:rPr>
              <a:t>的所有符号放入非终结符</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的同步记号集合，如果跳过一些记号，直到看到</a:t>
            </a:r>
            <a:r>
              <a:rPr lang="en-US" altLang="zh-CN" b="1" dirty="0">
                <a:latin typeface="宋体" panose="02010600030101010101" pitchFamily="2" charset="-122"/>
                <a:ea typeface="宋体" panose="02010600030101010101" pitchFamily="2" charset="-122"/>
              </a:rPr>
              <a:t>FOLLOW(A)</a:t>
            </a:r>
            <a:r>
              <a:rPr lang="zh-CN" altLang="en-US" b="1" dirty="0">
                <a:latin typeface="宋体" panose="02010600030101010101" pitchFamily="2" charset="-122"/>
                <a:ea typeface="宋体" panose="02010600030101010101" pitchFamily="2" charset="-122"/>
              </a:rPr>
              <a:t>中的元素时，再把</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弹出栈，分析一般可以继续下去</a:t>
            </a:r>
            <a:endParaRPr lang="zh-CN" altLang="en-US" b="1" dirty="0">
              <a:latin typeface="宋体" panose="02010600030101010101" pitchFamily="2" charset="-122"/>
              <a:ea typeface="宋体" panose="02010600030101010101" pitchFamily="2" charset="-122"/>
            </a:endParaRPr>
          </a:p>
          <a:p>
            <a:pPr marL="971550" lvl="1" indent="-457200">
              <a:lnSpc>
                <a:spcPct val="90000"/>
              </a:lnSpc>
              <a:buSzTx/>
              <a:buFont typeface="Book Antiqua" panose="02040602050305030304" pitchFamily="18" charset="0"/>
              <a:buAutoNum type="arabicPeriod"/>
            </a:pPr>
            <a:r>
              <a:rPr lang="zh-CN" altLang="en-US" b="1" dirty="0">
                <a:latin typeface="宋体" panose="02010600030101010101" pitchFamily="2" charset="-122"/>
                <a:ea typeface="宋体" panose="02010600030101010101" pitchFamily="2" charset="-122"/>
              </a:rPr>
              <a:t>把高层结构的开始符号加到低层结构的同步集合中，例如将语句开始的关键字加入产生表达式非终结符的同步集合中</a:t>
            </a:r>
            <a:endParaRPr lang="zh-CN" altLang="en-US" b="1" dirty="0">
              <a:latin typeface="宋体" panose="02010600030101010101" pitchFamily="2" charset="-122"/>
              <a:ea typeface="宋体" panose="02010600030101010101" pitchFamily="2" charset="-122"/>
            </a:endParaRPr>
          </a:p>
          <a:p>
            <a:pPr marL="1295400" lvl="2" indent="-381000">
              <a:lnSpc>
                <a:spcPct val="90000"/>
              </a:lnSpc>
              <a:buSzTx/>
              <a:buNone/>
            </a:pPr>
            <a:r>
              <a:rPr lang="zh-CN" altLang="en-US" sz="2000"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例如</a:t>
            </a:r>
            <a:r>
              <a:rPr lang="en-US" altLang="zh-CN" b="1" dirty="0">
                <a:latin typeface="宋体" panose="02010600030101010101" pitchFamily="2" charset="-122"/>
                <a:ea typeface="宋体" panose="02010600030101010101" pitchFamily="2" charset="-122"/>
              </a:rPr>
              <a:t>C</a:t>
            </a:r>
            <a:r>
              <a:rPr lang="zh-CN" altLang="en-US" b="1" dirty="0">
                <a:latin typeface="宋体" panose="02010600030101010101" pitchFamily="2" charset="-122"/>
                <a:ea typeface="宋体" panose="02010600030101010101" pitchFamily="2" charset="-122"/>
              </a:rPr>
              <a:t>语言中的分号，用于终止一个语句，则语句开始的关键字很可能不出现在产生表达式的非终结符的</a:t>
            </a:r>
            <a:r>
              <a:rPr lang="en-US" altLang="zh-CN" b="1" dirty="0">
                <a:latin typeface="宋体" panose="02010600030101010101" pitchFamily="2" charset="-122"/>
                <a:ea typeface="宋体" panose="02010600030101010101" pitchFamily="2" charset="-122"/>
              </a:rPr>
              <a:t>FOLLOW</a:t>
            </a:r>
            <a:r>
              <a:rPr lang="zh-CN" altLang="en-US" b="1" dirty="0">
                <a:latin typeface="宋体" panose="02010600030101010101" pitchFamily="2" charset="-122"/>
                <a:ea typeface="宋体" panose="02010600030101010101" pitchFamily="2" charset="-122"/>
              </a:rPr>
              <a:t>集合中，赋值语句后分号的遗漏会引起下一个语句的开始关键字被跳过</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自顶向下分析（2</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16739" name="Rectangle 3"/>
          <p:cNvSpPr>
            <a:spLocks noGrp="1" noChangeArrowheads="1"/>
          </p:cNvSpPr>
          <p:nvPr>
            <p:ph idx="1"/>
          </p:nvPr>
        </p:nvSpPr>
        <p:spPr>
          <a:xfrm>
            <a:off x="838200" y="1524000"/>
            <a:ext cx="7315200" cy="4724400"/>
          </a:xfrm>
        </p:spPr>
        <p:txBody>
          <a:bodyPr vert="horz" wrap="square" lIns="92075" tIns="46038" rIns="92075" bIns="46038" numCol="1" anchor="t" anchorCtr="0" compatLnSpc="1"/>
          <a:lstStyle/>
          <a:p>
            <a:pPr marL="971550" marR="0" lvl="1" indent="-457200" algn="l" defTabSz="914400" rtl="0" eaLnBrk="0" fontAlgn="base" latinLnBrk="0" hangingPunct="0">
              <a:lnSpc>
                <a:spcPct val="90000"/>
              </a:lnSpc>
              <a:spcBef>
                <a:spcPct val="20000"/>
              </a:spcBef>
              <a:spcAft>
                <a:spcPct val="0"/>
              </a:spcAft>
              <a:buClr>
                <a:srgbClr val="063DE8"/>
              </a:buClr>
              <a:buSzTx/>
              <a:buFont typeface="+mj-lt"/>
              <a:buAutoNum type="arabicPeriod" startAt="3"/>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把</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的符号加入</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的同步集合</a:t>
            </a:r>
            <a:endPar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200150" marR="0" lvl="2"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FIRST(A)</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的符号出现在输入中，则恢复关于</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的分析是可能的</a:t>
            </a:r>
            <a:endPar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71550" marR="0" lvl="1" indent="-457200" algn="l" defTabSz="914400" rtl="0" eaLnBrk="0" fontAlgn="base" latinLnBrk="0" hangingPunct="0">
              <a:lnSpc>
                <a:spcPct val="90000"/>
              </a:lnSpc>
              <a:spcBef>
                <a:spcPct val="20000"/>
              </a:spcBef>
              <a:spcAft>
                <a:spcPct val="0"/>
              </a:spcAft>
              <a:buClr>
                <a:srgbClr val="063DE8"/>
              </a:buClr>
              <a:buSzTx/>
              <a:buFont typeface="+mj-lt"/>
              <a:buAutoNum type="arabicPeriod" startAt="3"/>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如果非终结符可以产生空串，若出错时栈顶是这样的非终结符，则可使用产生空串的产生式</a:t>
            </a:r>
            <a:endPar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这样会延迟错误的发现，但不会遗漏</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好处是可以减少恢复要考虑的非终结符</a:t>
            </a:r>
            <a:endPar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71550" marR="0" lvl="1" indent="-457200" algn="l" defTabSz="914400" rtl="0" eaLnBrk="0" fontAlgn="base" latinLnBrk="0" hangingPunct="0">
              <a:lnSpc>
                <a:spcPct val="90000"/>
              </a:lnSpc>
              <a:spcBef>
                <a:spcPct val="20000"/>
              </a:spcBef>
              <a:spcAft>
                <a:spcPct val="0"/>
              </a:spcAft>
              <a:buClr>
                <a:srgbClr val="063DE8"/>
              </a:buClr>
              <a:buSzTx/>
              <a:buFont typeface="+mj-lt"/>
              <a:buAutoNum type="arabicPeriod" startAt="3"/>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如果终结符在栈顶而不能匹配，简单的方法是弹出此终结符</a:t>
            </a:r>
            <a:endPar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给出提示信息，说明插入了此符号，然后继续分析</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等于把所有其它的记号作为此记号的同步集合</a:t>
            </a:r>
            <a:endPar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自顶向下分析（2</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39267" name="Rectangle 3"/>
          <p:cNvSpPr>
            <a:spLocks noGrp="1"/>
          </p:cNvSpPr>
          <p:nvPr>
            <p:ph idx="1"/>
          </p:nvPr>
        </p:nvSpPr>
        <p:spPr>
          <a:xfrm>
            <a:off x="838200" y="1524000"/>
            <a:ext cx="7315200" cy="4953000"/>
          </a:xfrm>
        </p:spPr>
        <p:txBody>
          <a:bodyPr vert="horz" wrap="square" lIns="92075" tIns="46038" rIns="92075" bIns="46038" anchor="t" anchorCtr="0"/>
          <a:p>
            <a:pPr marL="495300" indent="-495300">
              <a:buSzTx/>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例：对于文法</a:t>
            </a:r>
            <a:r>
              <a:rPr lang="en-US" altLang="zh-CN" sz="2000" b="1" dirty="0">
                <a:latin typeface="宋体" panose="02010600030101010101" pitchFamily="2" charset="-122"/>
                <a:ea typeface="宋体" panose="02010600030101010101" pitchFamily="2" charset="-122"/>
              </a:rPr>
              <a:t>4.28，</a:t>
            </a:r>
            <a:r>
              <a:rPr lang="zh-CN" altLang="en-US" sz="2000" b="1" dirty="0">
                <a:latin typeface="宋体" panose="02010600030101010101" pitchFamily="2" charset="-122"/>
                <a:ea typeface="宋体" panose="02010600030101010101" pitchFamily="2" charset="-122"/>
              </a:rPr>
              <a:t>使用</a:t>
            </a:r>
            <a:r>
              <a:rPr lang="en-US" altLang="zh-CN" sz="2000" b="1" dirty="0">
                <a:latin typeface="宋体" panose="02010600030101010101" pitchFamily="2" charset="-122"/>
                <a:ea typeface="宋体" panose="02010600030101010101" pitchFamily="2" charset="-122"/>
              </a:rPr>
              <a:t>FOLLOW</a:t>
            </a:r>
            <a:r>
              <a:rPr lang="zh-CN" altLang="en-US" sz="2000" b="1" dirty="0">
                <a:latin typeface="宋体" panose="02010600030101010101" pitchFamily="2" charset="-122"/>
                <a:ea typeface="宋体" panose="02010600030101010101" pitchFamily="2" charset="-122"/>
              </a:rPr>
              <a:t>和</a:t>
            </a:r>
            <a:r>
              <a:rPr lang="en-US" altLang="zh-CN" sz="2000" b="1" dirty="0">
                <a:latin typeface="宋体" panose="02010600030101010101" pitchFamily="2" charset="-122"/>
                <a:ea typeface="宋体" panose="02010600030101010101" pitchFamily="2" charset="-122"/>
              </a:rPr>
              <a:t>FIRST</a:t>
            </a:r>
            <a:r>
              <a:rPr lang="zh-CN" altLang="en-US" sz="2000" b="1" dirty="0">
                <a:latin typeface="宋体" panose="02010600030101010101" pitchFamily="2" charset="-122"/>
                <a:ea typeface="宋体" panose="02010600030101010101" pitchFamily="2" charset="-122"/>
              </a:rPr>
              <a:t>符号作为同步记号，用</a:t>
            </a:r>
            <a:r>
              <a:rPr lang="en-US" altLang="zh-CN" sz="2000" b="1" dirty="0">
                <a:latin typeface="宋体" panose="02010600030101010101" pitchFamily="2" charset="-122"/>
                <a:ea typeface="宋体" panose="02010600030101010101" pitchFamily="2" charset="-122"/>
              </a:rPr>
              <a:t>synch</a:t>
            </a:r>
            <a:r>
              <a:rPr lang="zh-CN" altLang="en-US" sz="2000" b="1" dirty="0">
                <a:latin typeface="宋体" panose="02010600030101010101" pitchFamily="2" charset="-122"/>
                <a:ea typeface="宋体" panose="02010600030101010101" pitchFamily="2" charset="-122"/>
              </a:rPr>
              <a:t>来指示从非终结符的</a:t>
            </a:r>
            <a:r>
              <a:rPr lang="en-US" altLang="zh-CN" sz="2000" b="1" dirty="0">
                <a:latin typeface="宋体" panose="02010600030101010101" pitchFamily="2" charset="-122"/>
                <a:ea typeface="宋体" panose="02010600030101010101" pitchFamily="2" charset="-122"/>
              </a:rPr>
              <a:t>FOLLOW</a:t>
            </a:r>
            <a:r>
              <a:rPr lang="zh-CN" altLang="en-US" sz="2000" b="1" dirty="0">
                <a:latin typeface="宋体" panose="02010600030101010101" pitchFamily="2" charset="-122"/>
                <a:ea typeface="宋体" panose="02010600030101010101" pitchFamily="2" charset="-122"/>
              </a:rPr>
              <a:t>集合得到的同步记号</a:t>
            </a:r>
            <a:endParaRPr lang="zh-CN" altLang="en-US" sz="2000" b="1" dirty="0">
              <a:latin typeface="宋体" panose="02010600030101010101" pitchFamily="2" charset="-122"/>
              <a:ea typeface="宋体" panose="02010600030101010101" pitchFamily="2" charset="-122"/>
            </a:endParaRPr>
          </a:p>
          <a:p>
            <a:pPr marL="495300" indent="-495300">
              <a:buSzTx/>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加有同步记号的分析表</a:t>
            </a:r>
            <a:endParaRPr lang="zh-CN" altLang="en-US" sz="2000" b="1" dirty="0">
              <a:latin typeface="宋体" panose="02010600030101010101" pitchFamily="2" charset="-122"/>
              <a:ea typeface="宋体" panose="02010600030101010101" pitchFamily="2" charset="-122"/>
            </a:endParaRPr>
          </a:p>
          <a:p>
            <a:pPr marL="495300" indent="-495300">
              <a:buSzTx/>
              <a:buFont typeface="Wingdings" panose="05000000000000000000" pitchFamily="2" charset="2"/>
              <a:buNone/>
            </a:pPr>
            <a:endParaRPr lang="zh-CN" altLang="en-US" sz="2000" b="1" dirty="0">
              <a:latin typeface="宋体" panose="02010600030101010101" pitchFamily="2" charset="-122"/>
              <a:ea typeface="宋体" panose="02010600030101010101" pitchFamily="2" charset="-122"/>
            </a:endParaRPr>
          </a:p>
          <a:p>
            <a:pPr marL="495300" indent="-495300">
              <a:buSzTx/>
              <a:buFont typeface="Wingdings" panose="05000000000000000000" pitchFamily="2" charset="2"/>
              <a:buNone/>
            </a:pPr>
            <a:endParaRPr lang="zh-CN" altLang="en-US" sz="2000" b="1" dirty="0">
              <a:latin typeface="宋体" panose="02010600030101010101" pitchFamily="2" charset="-122"/>
              <a:ea typeface="宋体" panose="02010600030101010101" pitchFamily="2" charset="-122"/>
            </a:endParaRPr>
          </a:p>
          <a:p>
            <a:pPr marL="495300" indent="-495300">
              <a:buSzTx/>
              <a:buFont typeface="Wingdings" panose="05000000000000000000" pitchFamily="2" charset="2"/>
              <a:buNone/>
            </a:pPr>
            <a:endParaRPr lang="zh-CN" altLang="en-US" sz="2000" b="1" dirty="0">
              <a:latin typeface="宋体" panose="02010600030101010101" pitchFamily="2" charset="-122"/>
              <a:ea typeface="宋体" panose="02010600030101010101" pitchFamily="2" charset="-122"/>
            </a:endParaRPr>
          </a:p>
          <a:p>
            <a:pPr marL="495300" indent="-495300">
              <a:buSzTx/>
              <a:buFont typeface="Wingdings" panose="05000000000000000000" pitchFamily="2" charset="2"/>
              <a:buNone/>
            </a:pPr>
            <a:endParaRPr lang="zh-CN" altLang="en-US" sz="2000" b="1" dirty="0">
              <a:latin typeface="宋体" panose="02010600030101010101" pitchFamily="2" charset="-122"/>
              <a:ea typeface="宋体" panose="02010600030101010101" pitchFamily="2" charset="-122"/>
            </a:endParaRPr>
          </a:p>
          <a:p>
            <a:pPr marL="495300" indent="-495300">
              <a:buSzTx/>
              <a:buFont typeface="Wingdings" panose="05000000000000000000" pitchFamily="2" charset="2"/>
              <a:buNone/>
            </a:pPr>
            <a:endParaRPr lang="zh-CN" altLang="en-US" sz="2000" b="1" dirty="0">
              <a:latin typeface="宋体" panose="02010600030101010101" pitchFamily="2" charset="-122"/>
              <a:ea typeface="宋体" panose="02010600030101010101" pitchFamily="2" charset="-122"/>
            </a:endParaRPr>
          </a:p>
          <a:p>
            <a:pPr marL="495300" indent="-495300">
              <a:buSzTx/>
              <a:buFont typeface="Wingdings" panose="05000000000000000000" pitchFamily="2" charset="2"/>
              <a:buNone/>
            </a:pPr>
            <a:endParaRPr lang="zh-CN" altLang="en-US" sz="2000" b="1" dirty="0">
              <a:latin typeface="宋体" panose="02010600030101010101" pitchFamily="2" charset="-122"/>
              <a:ea typeface="宋体" panose="02010600030101010101" pitchFamily="2" charset="-122"/>
            </a:endParaRPr>
          </a:p>
          <a:p>
            <a:pPr marL="495300" indent="-495300">
              <a:buSzTx/>
              <a:buFont typeface="Wingdings" panose="05000000000000000000" pitchFamily="2" charset="2"/>
              <a:buNone/>
            </a:pPr>
            <a:endParaRPr lang="zh-CN" altLang="en-US" sz="2000" b="1" dirty="0">
              <a:latin typeface="宋体" panose="02010600030101010101" pitchFamily="2" charset="-122"/>
              <a:ea typeface="宋体" panose="02010600030101010101" pitchFamily="2" charset="-122"/>
            </a:endParaRPr>
          </a:p>
          <a:p>
            <a:pPr marL="495300" indent="-495300">
              <a:buSzTx/>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这个分析表的使用过程如下：如果分析器查找条目</a:t>
            </a:r>
            <a:r>
              <a:rPr lang="en-US" altLang="zh-CN" sz="2000" b="1" dirty="0">
                <a:latin typeface="宋体" panose="02010600030101010101" pitchFamily="2" charset="-122"/>
                <a:ea typeface="宋体" panose="02010600030101010101" pitchFamily="2" charset="-122"/>
              </a:rPr>
              <a:t>M[A，a]</a:t>
            </a:r>
            <a:r>
              <a:rPr lang="zh-CN" altLang="en-US" sz="2000" b="1" dirty="0">
                <a:latin typeface="宋体" panose="02010600030101010101" pitchFamily="2" charset="-122"/>
                <a:ea typeface="宋体" panose="02010600030101010101" pitchFamily="2" charset="-122"/>
              </a:rPr>
              <a:t>并发现它是空的，则跳过输入符号</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如果条目是</a:t>
            </a:r>
            <a:r>
              <a:rPr lang="en-US" altLang="zh-CN" sz="2000" b="1" dirty="0">
                <a:latin typeface="宋体" panose="02010600030101010101" pitchFamily="2" charset="-122"/>
                <a:ea typeface="宋体" panose="02010600030101010101" pitchFamily="2" charset="-122"/>
              </a:rPr>
              <a:t>synch，</a:t>
            </a:r>
            <a:r>
              <a:rPr lang="zh-CN" altLang="en-US" sz="2000" b="1" dirty="0">
                <a:latin typeface="宋体" panose="02010600030101010101" pitchFamily="2" charset="-122"/>
                <a:ea typeface="宋体" panose="02010600030101010101" pitchFamily="2" charset="-122"/>
              </a:rPr>
              <a:t>则调用同步过程并把栈顶的非终结符弹出，恢复分析；如果栈顶的记号不匹配输入符号，则从栈顶弹出这个记号</a:t>
            </a:r>
            <a:endParaRPr lang="zh-CN" altLang="en-US" sz="2000" b="1" dirty="0">
              <a:latin typeface="宋体" panose="02010600030101010101" pitchFamily="2" charset="-122"/>
              <a:ea typeface="宋体" panose="02010600030101010101" pitchFamily="2" charset="-122"/>
            </a:endParaRPr>
          </a:p>
        </p:txBody>
      </p:sp>
      <p:graphicFrame>
        <p:nvGraphicFramePr>
          <p:cNvPr id="139268" name="Object 4"/>
          <p:cNvGraphicFramePr>
            <a:graphicFrameLocks noChangeAspect="1"/>
          </p:cNvGraphicFramePr>
          <p:nvPr/>
        </p:nvGraphicFramePr>
        <p:xfrm>
          <a:off x="1371600" y="2667000"/>
          <a:ext cx="6210300" cy="2428875"/>
        </p:xfrm>
        <a:graphic>
          <a:graphicData uri="http://schemas.openxmlformats.org/presentationml/2006/ole">
            <mc:AlternateContent xmlns:mc="http://schemas.openxmlformats.org/markup-compatibility/2006">
              <mc:Choice xmlns:v="urn:schemas-microsoft-com:vml" Requires="v">
                <p:oleObj spid="_x0000_s3107" name="" r:id="rId1" imgW="8293100" imgH="3251200" progId="Visio.Drawing.11">
                  <p:embed/>
                </p:oleObj>
              </mc:Choice>
              <mc:Fallback>
                <p:oleObj name="" r:id="rId1" imgW="8293100" imgH="3251200" progId="Visio.Drawing.11">
                  <p:embed/>
                  <p:pic>
                    <p:nvPicPr>
                      <p:cNvPr id="0" name="图片 3106"/>
                      <p:cNvPicPr/>
                      <p:nvPr/>
                    </p:nvPicPr>
                    <p:blipFill>
                      <a:blip r:embed="rId2"/>
                      <a:stretch>
                        <a:fillRect/>
                      </a:stretch>
                    </p:blipFill>
                    <p:spPr>
                      <a:xfrm>
                        <a:off x="1371600" y="2667000"/>
                        <a:ext cx="6210300" cy="2428875"/>
                      </a:xfrm>
                      <a:prstGeom prst="rect">
                        <a:avLst/>
                      </a:prstGeom>
                      <a:noFill/>
                      <a:ln w="38100">
                        <a:noFill/>
                        <a:miter/>
                      </a:ln>
                    </p:spPr>
                  </p:pic>
                </p:oleObj>
              </mc:Fallback>
            </mc:AlternateContent>
          </a:graphicData>
        </a:graphic>
      </p:graphicFrame>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自顶向下分析（2</a:t>
            </a:r>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41315" name="Rectangle 3"/>
          <p:cNvSpPr>
            <a:spLocks noGrp="1"/>
          </p:cNvSpPr>
          <p:nvPr>
            <p:ph idx="1"/>
          </p:nvPr>
        </p:nvSpPr>
        <p:spPr>
          <a:xfrm>
            <a:off x="838200" y="1524000"/>
            <a:ext cx="7315200" cy="4953000"/>
          </a:xfrm>
        </p:spPr>
        <p:txBody>
          <a:bodyPr vert="horz" wrap="square" lIns="92075" tIns="46038" rIns="92075" bIns="46038" anchor="t" anchorCtr="0"/>
          <a:p>
            <a:pPr marL="495300" indent="-495300">
              <a:buSzTx/>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例：对于无二义性</a:t>
            </a:r>
            <a:r>
              <a:rPr lang="en-US" altLang="zh-CN" sz="2200" b="1" dirty="0">
                <a:latin typeface="宋体" panose="02010600030101010101" pitchFamily="2" charset="-122"/>
                <a:ea typeface="宋体" panose="02010600030101010101" pitchFamily="2" charset="-122"/>
              </a:rPr>
              <a:t>G4，</a:t>
            </a:r>
            <a:r>
              <a:rPr lang="zh-CN" altLang="en-US" sz="2200" b="1" dirty="0">
                <a:latin typeface="宋体" panose="02010600030101010101" pitchFamily="2" charset="-122"/>
                <a:ea typeface="宋体" panose="02010600030101010101" pitchFamily="2" charset="-122"/>
              </a:rPr>
              <a:t>带有同步记号的分析表，面临错误输入+</a:t>
            </a:r>
            <a:r>
              <a:rPr lang="en-US" altLang="zh-CN" sz="2200" b="1" dirty="0">
                <a:latin typeface="宋体" panose="02010600030101010101" pitchFamily="2" charset="-122"/>
                <a:ea typeface="宋体" panose="02010600030101010101" pitchFamily="2" charset="-122"/>
              </a:rPr>
              <a:t>id*+id</a:t>
            </a:r>
            <a:r>
              <a:rPr lang="zh-CN" altLang="en-US" sz="2200" b="1" dirty="0">
                <a:latin typeface="宋体" panose="02010600030101010101" pitchFamily="2" charset="-122"/>
                <a:ea typeface="宋体" panose="02010600030101010101" pitchFamily="2" charset="-122"/>
              </a:rPr>
              <a:t>的分析过程如下</a:t>
            </a:r>
            <a:endParaRPr lang="zh-CN" altLang="en-US" sz="2200" b="1" dirty="0">
              <a:latin typeface="宋体" panose="02010600030101010101" pitchFamily="2" charset="-122"/>
              <a:ea typeface="宋体" panose="02010600030101010101" pitchFamily="2" charset="-122"/>
            </a:endParaRPr>
          </a:p>
          <a:p>
            <a:pPr marL="495300" indent="-495300">
              <a:buSzTx/>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endParaRPr>
          </a:p>
          <a:p>
            <a:pPr marL="495300" indent="-495300">
              <a:spcBef>
                <a:spcPct val="0"/>
              </a:spcBef>
              <a:spcAft>
                <a:spcPct val="20000"/>
              </a:spcAft>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栈			输   入	   输   出</a:t>
            </a:r>
            <a:endParaRPr lang="zh-CN" altLang="en-US"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			+id*+id$	   </a:t>
            </a:r>
            <a:r>
              <a:rPr lang="zh-CN" altLang="en-US" sz="2200" b="1" dirty="0">
                <a:latin typeface="宋体" panose="02010600030101010101" pitchFamily="2" charset="-122"/>
                <a:ea typeface="宋体" panose="02010600030101010101" pitchFamily="2" charset="-122"/>
              </a:rPr>
              <a:t>出错，跳过+</a:t>
            </a:r>
            <a:endParaRPr lang="zh-CN" altLang="en-US"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			 id*+id$	   id</a:t>
            </a:r>
            <a:r>
              <a:rPr lang="zh-CN" altLang="en-US" sz="2200" b="1" dirty="0">
                <a:latin typeface="宋体" panose="02010600030101010101" pitchFamily="2" charset="-122"/>
                <a:ea typeface="宋体" panose="02010600030101010101" pitchFamily="2" charset="-122"/>
              </a:rPr>
              <a:t>属于</a:t>
            </a:r>
            <a:r>
              <a:rPr lang="en-US" altLang="zh-CN" sz="2200" b="1" dirty="0">
                <a:latin typeface="宋体" panose="02010600030101010101" pitchFamily="2" charset="-122"/>
                <a:ea typeface="宋体" panose="02010600030101010101" pitchFamily="2" charset="-122"/>
              </a:rPr>
              <a:t>FIRST(E)</a:t>
            </a:r>
            <a:endParaRPr lang="en-US" altLang="zh-CN"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T		 id*+id$	   E→TE</a:t>
            </a:r>
            <a:r>
              <a:rPr lang="en-US" altLang="zh-CN" sz="2200" b="1" dirty="0">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T</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F		 id*+id$	   T→FT</a:t>
            </a:r>
            <a:r>
              <a:rPr lang="en-US" altLang="zh-CN" sz="2200" b="1" dirty="0">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T</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id		 id*+id$	   F→id</a:t>
            </a:r>
            <a:endParaRPr lang="en-US" altLang="zh-CN"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T</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 		   *+id$</a:t>
            </a:r>
            <a:endParaRPr lang="en-US" altLang="zh-CN" sz="2200" b="1" dirty="0">
              <a:latin typeface="宋体" panose="02010600030101010101" pitchFamily="2" charset="-122"/>
              <a:ea typeface="宋体" panose="02010600030101010101" pitchFamily="2" charset="-122"/>
            </a:endParaRPr>
          </a:p>
        </p:txBody>
      </p:sp>
      <p:sp>
        <p:nvSpPr>
          <p:cNvPr id="141316" name="Line 5"/>
          <p:cNvSpPr/>
          <p:nvPr/>
        </p:nvSpPr>
        <p:spPr>
          <a:xfrm>
            <a:off x="1219200" y="2514600"/>
            <a:ext cx="6629400" cy="0"/>
          </a:xfrm>
          <a:prstGeom prst="line">
            <a:avLst/>
          </a:prstGeom>
          <a:ln w="38100" cap="flat" cmpd="sng">
            <a:solidFill>
              <a:schemeClr val="tx1"/>
            </a:solidFill>
            <a:prstDash val="solid"/>
            <a:headEnd type="none" w="sm" len="sm"/>
            <a:tailEnd type="none" w="lg" len="med"/>
          </a:ln>
        </p:spPr>
      </p:sp>
      <p:sp>
        <p:nvSpPr>
          <p:cNvPr id="141317" name="Line 6"/>
          <p:cNvSpPr/>
          <p:nvPr/>
        </p:nvSpPr>
        <p:spPr>
          <a:xfrm>
            <a:off x="1143000" y="3048000"/>
            <a:ext cx="6705600" cy="0"/>
          </a:xfrm>
          <a:prstGeom prst="line">
            <a:avLst/>
          </a:prstGeom>
          <a:ln w="22225" cap="flat" cmpd="sng">
            <a:solidFill>
              <a:schemeClr val="tx1"/>
            </a:solidFill>
            <a:prstDash val="solid"/>
            <a:headEnd type="none" w="sm" len="sm"/>
            <a:tailEnd type="none" w="lg" len="med"/>
          </a:ln>
        </p:spPr>
      </p:sp>
      <p:sp>
        <p:nvSpPr>
          <p:cNvPr id="141318" name="Line 7"/>
          <p:cNvSpPr/>
          <p:nvPr/>
        </p:nvSpPr>
        <p:spPr>
          <a:xfrm>
            <a:off x="2971800" y="2514600"/>
            <a:ext cx="0" cy="2743200"/>
          </a:xfrm>
          <a:prstGeom prst="line">
            <a:avLst/>
          </a:prstGeom>
          <a:ln w="22225" cap="flat" cmpd="sng">
            <a:solidFill>
              <a:schemeClr val="tx1"/>
            </a:solidFill>
            <a:prstDash val="solid"/>
            <a:headEnd type="none" w="sm" len="sm"/>
            <a:tailEnd type="none" w="lg" len="med"/>
          </a:ln>
        </p:spPr>
      </p:sp>
      <p:sp>
        <p:nvSpPr>
          <p:cNvPr id="141319" name="Line 8"/>
          <p:cNvSpPr/>
          <p:nvPr/>
        </p:nvSpPr>
        <p:spPr>
          <a:xfrm>
            <a:off x="5486400" y="2514600"/>
            <a:ext cx="0" cy="2743200"/>
          </a:xfrm>
          <a:prstGeom prst="line">
            <a:avLst/>
          </a:prstGeom>
          <a:ln w="22225" cap="flat" cmpd="sng">
            <a:solidFill>
              <a:schemeClr val="tx1"/>
            </a:solidFill>
            <a:prstDash val="solid"/>
            <a:headEnd type="none" w="sm" len="sm"/>
            <a:tailEnd type="none" w="lg" len="med"/>
          </a:ln>
        </p:spPr>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自顶向下分析（2</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43363" name="Rectangle 3"/>
          <p:cNvSpPr>
            <a:spLocks noGrp="1"/>
          </p:cNvSpPr>
          <p:nvPr>
            <p:ph idx="1"/>
          </p:nvPr>
        </p:nvSpPr>
        <p:spPr>
          <a:xfrm>
            <a:off x="533400" y="1524000"/>
            <a:ext cx="7924800" cy="4953000"/>
          </a:xfrm>
        </p:spPr>
        <p:txBody>
          <a:bodyPr vert="horz" wrap="square" lIns="92075" tIns="46038" rIns="92075" bIns="46038" anchor="t" anchorCtr="0"/>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T</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F*		   *+id$	   T</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→*FT</a:t>
            </a:r>
            <a:r>
              <a:rPr lang="en-US" altLang="zh-CN" sz="2200" b="1" dirty="0">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T</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F		    +id$	   </a:t>
            </a:r>
            <a:r>
              <a:rPr lang="zh-CN" altLang="en-US" sz="2200" b="1" dirty="0">
                <a:latin typeface="宋体" panose="02010600030101010101" pitchFamily="2" charset="-122"/>
                <a:ea typeface="宋体" panose="02010600030101010101" pitchFamily="2" charset="-122"/>
              </a:rPr>
              <a:t>出错，</a:t>
            </a:r>
            <a:r>
              <a:rPr lang="en-US" altLang="zh-CN" sz="2200" b="1" dirty="0">
                <a:latin typeface="宋体" panose="02010600030101010101" pitchFamily="2" charset="-122"/>
                <a:ea typeface="宋体" panose="02010600030101010101" pitchFamily="2" charset="-122"/>
              </a:rPr>
              <a:t>M[F，+]=synch</a:t>
            </a:r>
            <a:endParaRPr lang="en-US" altLang="zh-CN"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T</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		    +id$	   F</a:t>
            </a:r>
            <a:r>
              <a:rPr lang="zh-CN" altLang="en-US" sz="2200" b="1" dirty="0">
                <a:latin typeface="宋体" panose="02010600030101010101" pitchFamily="2" charset="-122"/>
                <a:ea typeface="宋体" panose="02010600030101010101" pitchFamily="2" charset="-122"/>
              </a:rPr>
              <a:t>被弹出</a:t>
            </a:r>
            <a:endParaRPr lang="zh-CN" altLang="en-US"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			    +id$	   T</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→ε</a:t>
            </a:r>
            <a:endParaRPr lang="en-US" altLang="zh-CN"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T+		    +id$	   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→+TE</a:t>
            </a:r>
            <a:r>
              <a:rPr lang="en-US" altLang="zh-CN" sz="2200" b="1" dirty="0">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T		     id$</a:t>
            </a:r>
            <a:endParaRPr lang="en-US" altLang="zh-CN"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T</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F		     id$	   T→FT</a:t>
            </a:r>
            <a:r>
              <a:rPr lang="en-US" altLang="zh-CN" sz="2200" b="1" dirty="0">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T</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id		     id$	   F→id</a:t>
            </a:r>
            <a:endParaRPr lang="en-US" altLang="zh-CN"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T</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		       $</a:t>
            </a:r>
            <a:endParaRPr lang="en-US" altLang="zh-CN"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			       $	   T</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→ε</a:t>
            </a:r>
            <a:endParaRPr lang="en-US" altLang="zh-CN" sz="2200" b="1" dirty="0">
              <a:latin typeface="宋体" panose="02010600030101010101" pitchFamily="2" charset="-122"/>
              <a:ea typeface="宋体" panose="02010600030101010101" pitchFamily="2" charset="-122"/>
            </a:endParaRPr>
          </a:p>
          <a:p>
            <a:pPr marL="495300" indent="-495300">
              <a:spcBef>
                <a:spcPct val="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			       $	   E</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→ε</a:t>
            </a:r>
            <a:endParaRPr lang="en-US" altLang="zh-CN" sz="2200" b="1" dirty="0">
              <a:latin typeface="宋体" panose="02010600030101010101" pitchFamily="2" charset="-122"/>
              <a:ea typeface="宋体" panose="02010600030101010101" pitchFamily="2" charset="-122"/>
            </a:endParaRPr>
          </a:p>
        </p:txBody>
      </p:sp>
      <p:sp>
        <p:nvSpPr>
          <p:cNvPr id="143364" name="Line 4"/>
          <p:cNvSpPr/>
          <p:nvPr/>
        </p:nvSpPr>
        <p:spPr>
          <a:xfrm>
            <a:off x="990600" y="5486400"/>
            <a:ext cx="7315200" cy="0"/>
          </a:xfrm>
          <a:prstGeom prst="line">
            <a:avLst/>
          </a:prstGeom>
          <a:ln w="38100" cap="flat" cmpd="sng">
            <a:solidFill>
              <a:schemeClr val="tx1"/>
            </a:solidFill>
            <a:prstDash val="solid"/>
            <a:headEnd type="none" w="sm" len="sm"/>
            <a:tailEnd type="none" w="lg" len="med"/>
          </a:ln>
        </p:spPr>
      </p:sp>
      <p:sp>
        <p:nvSpPr>
          <p:cNvPr id="143365" name="Line 5"/>
          <p:cNvSpPr/>
          <p:nvPr/>
        </p:nvSpPr>
        <p:spPr>
          <a:xfrm>
            <a:off x="2819400" y="1600200"/>
            <a:ext cx="0" cy="3886200"/>
          </a:xfrm>
          <a:prstGeom prst="line">
            <a:avLst/>
          </a:prstGeom>
          <a:ln w="22225" cap="flat" cmpd="sng">
            <a:solidFill>
              <a:schemeClr val="tx1"/>
            </a:solidFill>
            <a:prstDash val="solid"/>
            <a:headEnd type="none" w="sm" len="sm"/>
            <a:tailEnd type="none" w="lg" len="med"/>
          </a:ln>
        </p:spPr>
      </p:sp>
      <p:sp>
        <p:nvSpPr>
          <p:cNvPr id="143366" name="Line 6"/>
          <p:cNvSpPr/>
          <p:nvPr/>
        </p:nvSpPr>
        <p:spPr>
          <a:xfrm>
            <a:off x="5105400" y="1600200"/>
            <a:ext cx="0" cy="3886200"/>
          </a:xfrm>
          <a:prstGeom prst="line">
            <a:avLst/>
          </a:prstGeom>
          <a:ln w="22225" cap="flat" cmpd="sng">
            <a:solidFill>
              <a:schemeClr val="tx1"/>
            </a:solidFill>
            <a:prstDash val="solid"/>
            <a:headEnd type="none" w="sm" len="sm"/>
            <a:tailEnd type="none" w="lg" len="med"/>
          </a:ln>
        </p:spPr>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自顶向下分析（2</a:t>
            </a:r>
            <a:r>
              <a:rPr lang="en-US" altLang="zh-CN" dirty="0">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45411" name="Rectangle 3"/>
          <p:cNvSpPr>
            <a:spLocks noGrp="1"/>
          </p:cNvSpPr>
          <p:nvPr>
            <p:ph idx="1"/>
          </p:nvPr>
        </p:nvSpPr>
        <p:spPr>
          <a:xfrm>
            <a:off x="838200" y="1371600"/>
            <a:ext cx="7315200" cy="4876800"/>
          </a:xfrm>
        </p:spPr>
        <p:txBody>
          <a:bodyPr vert="horz" wrap="square" lIns="92075" tIns="46038" rIns="92075" bIns="46038" anchor="t" anchorCtr="0"/>
          <a:p>
            <a:pPr marL="514350" indent="-457200"/>
            <a:r>
              <a:rPr lang="zh-CN" altLang="en-US" b="1" dirty="0">
                <a:latin typeface="宋体" panose="02010600030101010101" pitchFamily="2" charset="-122"/>
                <a:ea typeface="宋体" panose="02010600030101010101" pitchFamily="2" charset="-122"/>
              </a:rPr>
              <a:t>错误信息由编译器的设计者提供</a:t>
            </a:r>
            <a:endParaRPr lang="zh-CN" altLang="en-US" b="1" dirty="0">
              <a:latin typeface="宋体" panose="02010600030101010101" pitchFamily="2" charset="-122"/>
              <a:ea typeface="宋体" panose="02010600030101010101" pitchFamily="2" charset="-122"/>
            </a:endParaRPr>
          </a:p>
          <a:p>
            <a:pPr marL="514350" indent="-457200"/>
            <a:r>
              <a:rPr lang="zh-CN" altLang="en-US" b="1" dirty="0">
                <a:latin typeface="宋体" panose="02010600030101010101" pitchFamily="2" charset="-122"/>
                <a:ea typeface="宋体" panose="02010600030101010101" pitchFamily="2" charset="-122"/>
              </a:rPr>
              <a:t>短语级恢复：</a:t>
            </a:r>
            <a:endParaRPr lang="zh-CN" altLang="en-US" b="1" dirty="0">
              <a:latin typeface="宋体" panose="02010600030101010101" pitchFamily="2" charset="-122"/>
              <a:ea typeface="宋体" panose="02010600030101010101" pitchFamily="2" charset="-122"/>
            </a:endParaRPr>
          </a:p>
          <a:p>
            <a:pPr marL="914400" lvl="1" indent="-457200"/>
            <a:r>
              <a:rPr lang="zh-CN" altLang="en-US" b="1" dirty="0">
                <a:latin typeface="宋体" panose="02010600030101010101" pitchFamily="2" charset="-122"/>
                <a:ea typeface="宋体" panose="02010600030101010101" pitchFamily="2" charset="-122"/>
              </a:rPr>
              <a:t>用出错例程的指针填满预测分析表的空白条目来实现</a:t>
            </a:r>
            <a:endParaRPr lang="zh-CN" altLang="en-US" b="1" dirty="0">
              <a:latin typeface="宋体" panose="02010600030101010101" pitchFamily="2" charset="-122"/>
              <a:ea typeface="宋体" panose="02010600030101010101" pitchFamily="2" charset="-122"/>
            </a:endParaRPr>
          </a:p>
          <a:p>
            <a:pPr marL="914400" lvl="1" indent="-457200"/>
            <a:r>
              <a:rPr lang="zh-CN" altLang="en-US" b="1" dirty="0">
                <a:latin typeface="宋体" panose="02010600030101010101" pitchFamily="2" charset="-122"/>
                <a:ea typeface="宋体" panose="02010600030101010101" pitchFamily="2" charset="-122"/>
              </a:rPr>
              <a:t>这些例程可能修改、插入或删除输入符号并给出适当的出错信息，也可以弹出栈中的符号</a:t>
            </a:r>
            <a:endParaRPr lang="zh-CN" altLang="en-US" b="1" dirty="0">
              <a:latin typeface="宋体" panose="02010600030101010101" pitchFamily="2" charset="-122"/>
              <a:ea typeface="宋体" panose="02010600030101010101" pitchFamily="2" charset="-122"/>
            </a:endParaRPr>
          </a:p>
          <a:p>
            <a:pPr marL="914400" lvl="1" indent="-457200"/>
            <a:r>
              <a:rPr lang="zh-CN" altLang="en-US" b="1" dirty="0">
                <a:latin typeface="宋体" panose="02010600030101010101" pitchFamily="2" charset="-122"/>
                <a:ea typeface="宋体" panose="02010600030101010101" pitchFamily="2" charset="-122"/>
              </a:rPr>
              <a:t>不允许替换栈顶符号或将新符号压入栈顶</a:t>
            </a:r>
            <a:endParaRPr lang="en-US" altLang="zh-CN" b="1" dirty="0">
              <a:latin typeface="宋体" panose="02010600030101010101" pitchFamily="2" charset="-122"/>
              <a:ea typeface="宋体" panose="02010600030101010101" pitchFamily="2" charset="-122"/>
            </a:endParaRPr>
          </a:p>
          <a:p>
            <a:pPr marL="1314450" lvl="2" indent="-457200"/>
            <a:r>
              <a:rPr lang="zh-CN" altLang="en-US" b="1" dirty="0">
                <a:latin typeface="宋体" panose="02010600030101010101" pitchFamily="2" charset="-122"/>
                <a:ea typeface="宋体" panose="02010600030101010101" pitchFamily="2" charset="-122"/>
              </a:rPr>
              <a:t>因为这使得分析器执行的步骤不对应语言中任何句子的推导</a:t>
            </a:r>
            <a:endParaRPr lang="en-US" altLang="zh-CN" b="1" dirty="0">
              <a:latin typeface="宋体" panose="02010600030101010101" pitchFamily="2" charset="-122"/>
              <a:ea typeface="宋体" panose="02010600030101010101" pitchFamily="2" charset="-122"/>
            </a:endParaRPr>
          </a:p>
          <a:p>
            <a:pPr marL="1314450" lvl="2" indent="-457200"/>
            <a:r>
              <a:rPr lang="zh-CN" altLang="en-US" b="1" dirty="0">
                <a:latin typeface="宋体" panose="02010600030101010101" pitchFamily="2" charset="-122"/>
                <a:ea typeface="宋体" panose="02010600030101010101" pitchFamily="2" charset="-122"/>
              </a:rPr>
              <a:t>必须保证分析器不会陷入无限循环</a:t>
            </a:r>
            <a:endParaRPr lang="en-US" altLang="zh-CN" b="1" dirty="0">
              <a:latin typeface="宋体" panose="02010600030101010101" pitchFamily="2" charset="-122"/>
              <a:ea typeface="宋体" panose="02010600030101010101" pitchFamily="2" charset="-122"/>
            </a:endParaRPr>
          </a:p>
          <a:p>
            <a:pPr marL="914400" lvl="1" indent="-457200"/>
            <a:r>
              <a:rPr lang="zh-CN" altLang="en-US" b="1" dirty="0">
                <a:latin typeface="宋体" panose="02010600030101010101" pitchFamily="2" charset="-122"/>
                <a:ea typeface="宋体" panose="02010600030101010101" pitchFamily="2" charset="-122"/>
              </a:rPr>
              <a:t>避免出现无限循环的方法：</a:t>
            </a:r>
            <a:endParaRPr lang="zh-CN" altLang="en-US" b="1" dirty="0">
              <a:latin typeface="宋体" panose="02010600030101010101" pitchFamily="2" charset="-122"/>
              <a:ea typeface="宋体" panose="02010600030101010101" pitchFamily="2" charset="-122"/>
            </a:endParaRPr>
          </a:p>
          <a:p>
            <a:pPr marL="1314450" lvl="2" indent="-457200"/>
            <a:r>
              <a:rPr lang="zh-CN" altLang="en-US" b="1" dirty="0">
                <a:latin typeface="宋体" panose="02010600030101010101" pitchFamily="2" charset="-122"/>
                <a:ea typeface="宋体" panose="02010600030101010101" pitchFamily="2" charset="-122"/>
              </a:rPr>
              <a:t>确认所有恢复动作最终会使剩余输入串缩短</a:t>
            </a:r>
            <a:endParaRPr lang="zh-CN" altLang="en-US" b="1" dirty="0">
              <a:latin typeface="宋体" panose="02010600030101010101" pitchFamily="2" charset="-122"/>
              <a:ea typeface="宋体" panose="02010600030101010101" pitchFamily="2" charset="-122"/>
            </a:endParaRPr>
          </a:p>
          <a:p>
            <a:pPr marL="1314450" lvl="2" indent="-457200"/>
            <a:r>
              <a:rPr lang="zh-CN" altLang="en-US" b="1" dirty="0">
                <a:latin typeface="宋体" panose="02010600030101010101" pitchFamily="2" charset="-122"/>
                <a:ea typeface="宋体" panose="02010600030101010101" pitchFamily="2" charset="-122"/>
              </a:rPr>
              <a:t>如果到了输入的末端，则使栈缩短</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第四章 语法分析</a:t>
            </a:r>
            <a:endParaRPr lang="en-US" altLang="zh-CN" dirty="0">
              <a:latin typeface="宋体" panose="02010600030101010101" pitchFamily="2" charset="-122"/>
              <a:ea typeface="宋体" panose="02010600030101010101" pitchFamily="2" charset="-122"/>
            </a:endParaRPr>
          </a:p>
        </p:txBody>
      </p:sp>
      <p:sp>
        <p:nvSpPr>
          <p:cNvPr id="147459" name="Rectangle 3"/>
          <p:cNvSpPr>
            <a:spLocks noGrp="1"/>
          </p:cNvSpPr>
          <p:nvPr>
            <p:ph idx="1"/>
          </p:nvPr>
        </p:nvSpPr>
        <p:spPr>
          <a:xfrm>
            <a:off x="990600" y="1600200"/>
            <a:ext cx="7391400" cy="4191000"/>
          </a:xfrm>
        </p:spPr>
        <p:txBody>
          <a:bodyPr vert="horz" wrap="square" lIns="92075" tIns="46038" rIns="92075" bIns="46038" anchor="t" anchorCtr="0"/>
          <a:p>
            <a:r>
              <a:rPr lang="zh-CN" altLang="en-US" sz="3200" b="1" dirty="0">
                <a:ea typeface="宋体" panose="02010600030101010101" pitchFamily="2" charset="-122"/>
              </a:rPr>
              <a:t>引言</a:t>
            </a:r>
            <a:r>
              <a:rPr lang="en-US" altLang="zh-CN" sz="3200" b="1" dirty="0">
                <a:ea typeface="宋体" panose="02010600030101010101" pitchFamily="2" charset="-122"/>
              </a:rPr>
              <a:t>—</a:t>
            </a:r>
            <a:r>
              <a:rPr lang="zh-CN" altLang="en-US" sz="3200" b="1" dirty="0">
                <a:ea typeface="宋体" panose="02010600030101010101" pitchFamily="2" charset="-122"/>
              </a:rPr>
              <a:t>分析器的作用及错误处理等</a:t>
            </a:r>
            <a:endParaRPr lang="zh-CN" altLang="en-US" sz="3200" b="1" dirty="0">
              <a:ea typeface="宋体" panose="02010600030101010101" pitchFamily="2" charset="-122"/>
            </a:endParaRPr>
          </a:p>
          <a:p>
            <a:r>
              <a:rPr lang="zh-CN" altLang="en-US" sz="3200" b="1" dirty="0">
                <a:ea typeface="宋体" panose="02010600030101010101" pitchFamily="2" charset="-122"/>
              </a:rPr>
              <a:t>上下文无关文法的分析及改造</a:t>
            </a:r>
            <a:endParaRPr lang="zh-CN" altLang="en-US" sz="3200" b="1" dirty="0">
              <a:ea typeface="宋体" panose="02010600030101010101" pitchFamily="2" charset="-122"/>
            </a:endParaRPr>
          </a:p>
          <a:p>
            <a:r>
              <a:rPr lang="zh-CN" altLang="en-US" sz="3200" b="1" dirty="0">
                <a:ea typeface="宋体" panose="02010600030101010101" pitchFamily="2" charset="-122"/>
              </a:rPr>
              <a:t>自顶向下的分析</a:t>
            </a:r>
            <a:endParaRPr lang="zh-CN" altLang="en-US" sz="3200" b="1" dirty="0">
              <a:ea typeface="宋体" panose="02010600030101010101" pitchFamily="2" charset="-122"/>
            </a:endParaRPr>
          </a:p>
          <a:p>
            <a:r>
              <a:rPr lang="zh-CN" altLang="en-US" sz="3200" b="1" dirty="0">
                <a:solidFill>
                  <a:srgbClr val="FF0000"/>
                </a:solidFill>
                <a:ea typeface="宋体" panose="02010600030101010101" pitchFamily="2" charset="-122"/>
              </a:rPr>
              <a:t>自底向上的分析</a:t>
            </a:r>
            <a:endParaRPr lang="zh-CN" altLang="en-US" sz="3200" b="1" dirty="0">
              <a:solidFill>
                <a:srgbClr val="FF0000"/>
              </a:solidFill>
              <a:ea typeface="宋体" panose="02010600030101010101" pitchFamily="2" charset="-122"/>
            </a:endParaRPr>
          </a:p>
          <a:p>
            <a:r>
              <a:rPr lang="en-US" altLang="zh-CN" sz="3200" b="1" dirty="0">
                <a:ea typeface="宋体" panose="02010600030101010101" pitchFamily="2" charset="-122"/>
              </a:rPr>
              <a:t>LR</a:t>
            </a:r>
            <a:r>
              <a:rPr lang="zh-CN" altLang="en-US" sz="3200" b="1" dirty="0">
                <a:ea typeface="宋体" panose="02010600030101010101" pitchFamily="2" charset="-122"/>
              </a:rPr>
              <a:t>分析器</a:t>
            </a:r>
            <a:endParaRPr lang="zh-CN" altLang="en-US" sz="3200" b="1" dirty="0">
              <a:ea typeface="宋体" panose="02010600030101010101" pitchFamily="2" charset="-122"/>
            </a:endParaRPr>
          </a:p>
          <a:p>
            <a:r>
              <a:rPr lang="zh-CN" altLang="en-US" sz="3200" b="1" dirty="0">
                <a:ea typeface="宋体" panose="02010600030101010101" pitchFamily="2" charset="-122"/>
              </a:rPr>
              <a:t>二义文法的应用和自底向上分析的错误处理</a:t>
            </a:r>
            <a:endParaRPr lang="en-US" altLang="zh-CN" sz="3200" b="1" dirty="0">
              <a:ea typeface="宋体" panose="02010600030101010101" pitchFamily="2" charset="-122"/>
            </a:endParaRPr>
          </a:p>
          <a:p>
            <a:r>
              <a:rPr lang="zh-CN" altLang="en-US" sz="3200" b="1" dirty="0">
                <a:ea typeface="宋体" panose="02010600030101010101" pitchFamily="2" charset="-122"/>
              </a:rPr>
              <a:t>语法分析器生成工具</a:t>
            </a:r>
            <a:endParaRPr lang="zh-CN" altLang="en-US" b="1" dirty="0">
              <a:ea typeface="宋体" panose="02010600030101010101" pitchFamily="2" charset="-122"/>
            </a:endParaRP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49507" name="Rectangle 3"/>
          <p:cNvSpPr>
            <a:spLocks noGrp="1"/>
          </p:cNvSpPr>
          <p:nvPr>
            <p:ph idx="1"/>
          </p:nvPr>
        </p:nvSpPr>
        <p:spPr>
          <a:xfrm>
            <a:off x="990600" y="1524000"/>
            <a:ext cx="7391400" cy="4800600"/>
          </a:xfrm>
        </p:spPr>
        <p:txBody>
          <a:bodyPr vert="horz" wrap="square" lIns="92075" tIns="46038" rIns="92075" bIns="46038" anchor="t" anchorCtr="0"/>
          <a:p>
            <a:r>
              <a:rPr lang="zh-CN" altLang="en-US" b="1" dirty="0">
                <a:ea typeface="宋体" panose="02010600030101010101" pitchFamily="2" charset="-122"/>
              </a:rPr>
              <a:t>自底向上分析举例</a:t>
            </a:r>
            <a:endParaRPr lang="zh-CN" altLang="en-US" b="1" dirty="0">
              <a:ea typeface="宋体" panose="02010600030101010101" pitchFamily="2" charset="-122"/>
            </a:endParaRPr>
          </a:p>
          <a:p>
            <a:pPr lvl="1"/>
            <a:r>
              <a:rPr lang="zh-CN" altLang="en-US" b="1" dirty="0">
                <a:ea typeface="宋体" panose="02010600030101010101" pitchFamily="2" charset="-122"/>
              </a:rPr>
              <a:t>为输入串构造分析树是叶节点开始的，直至逆序得到根节点</a:t>
            </a:r>
            <a:endParaRPr lang="zh-CN" altLang="en-US" b="1" dirty="0">
              <a:ea typeface="宋体" panose="02010600030101010101" pitchFamily="2" charset="-122"/>
            </a:endParaRPr>
          </a:p>
          <a:p>
            <a:pPr lvl="2">
              <a:spcBef>
                <a:spcPct val="0"/>
              </a:spcBef>
              <a:buNone/>
            </a:pPr>
            <a:r>
              <a:rPr lang="zh-CN" altLang="en-US" sz="2000" b="1" dirty="0">
                <a:ea typeface="宋体" panose="02010600030101010101" pitchFamily="2" charset="-122"/>
              </a:rPr>
              <a:t>文法：</a:t>
            </a:r>
            <a:endParaRPr lang="zh-CN" altLang="en-US" sz="2000" b="1" dirty="0">
              <a:ea typeface="宋体" panose="02010600030101010101" pitchFamily="2" charset="-122"/>
            </a:endParaRPr>
          </a:p>
          <a:p>
            <a:pPr lvl="2">
              <a:spcBef>
                <a:spcPct val="0"/>
              </a:spcBef>
              <a:buNone/>
            </a:pPr>
            <a:r>
              <a:rPr lang="en-US" altLang="zh-CN" sz="2000" b="1" dirty="0">
                <a:ea typeface="宋体" panose="02010600030101010101" pitchFamily="2" charset="-122"/>
              </a:rPr>
              <a:t>	S→aABe</a:t>
            </a:r>
            <a:endParaRPr lang="en-US" altLang="zh-CN" sz="2000" b="1" dirty="0">
              <a:ea typeface="宋体" panose="02010600030101010101" pitchFamily="2" charset="-122"/>
            </a:endParaRPr>
          </a:p>
          <a:p>
            <a:pPr lvl="2">
              <a:spcBef>
                <a:spcPct val="0"/>
              </a:spcBef>
              <a:buNone/>
            </a:pPr>
            <a:r>
              <a:rPr lang="en-US" altLang="zh-CN" sz="2000" b="1" dirty="0">
                <a:ea typeface="宋体" panose="02010600030101010101" pitchFamily="2" charset="-122"/>
              </a:rPr>
              <a:t>	A→Abc | b</a:t>
            </a:r>
            <a:endParaRPr lang="en-US" altLang="zh-CN" sz="2000" b="1" dirty="0">
              <a:ea typeface="宋体" panose="02010600030101010101" pitchFamily="2" charset="-122"/>
            </a:endParaRPr>
          </a:p>
          <a:p>
            <a:pPr lvl="2">
              <a:spcBef>
                <a:spcPct val="0"/>
              </a:spcBef>
              <a:buNone/>
            </a:pPr>
            <a:r>
              <a:rPr lang="en-US" altLang="zh-CN" sz="2000" b="1" dirty="0">
                <a:ea typeface="宋体" panose="02010600030101010101" pitchFamily="2" charset="-122"/>
              </a:rPr>
              <a:t>	B→d</a:t>
            </a:r>
            <a:endParaRPr lang="en-US" altLang="zh-CN" sz="2000" b="1" dirty="0">
              <a:ea typeface="宋体" panose="02010600030101010101" pitchFamily="2" charset="-122"/>
            </a:endParaRPr>
          </a:p>
          <a:p>
            <a:pPr lvl="2">
              <a:spcBef>
                <a:spcPct val="0"/>
              </a:spcBef>
              <a:buNone/>
            </a:pPr>
            <a:r>
              <a:rPr lang="zh-CN" altLang="en-US" sz="2000" b="1" dirty="0">
                <a:ea typeface="宋体" panose="02010600030101010101" pitchFamily="2" charset="-122"/>
              </a:rPr>
              <a:t>句子</a:t>
            </a:r>
            <a:r>
              <a:rPr lang="en-US" altLang="zh-CN" sz="2000" b="1" dirty="0">
                <a:ea typeface="宋体" panose="02010600030101010101" pitchFamily="2" charset="-122"/>
              </a:rPr>
              <a:t>abbcde</a:t>
            </a:r>
            <a:r>
              <a:rPr lang="zh-CN" altLang="en-US" sz="2000" b="1" dirty="0">
                <a:ea typeface="宋体" panose="02010600030101010101" pitchFamily="2" charset="-122"/>
              </a:rPr>
              <a:t>的归约过程：</a:t>
            </a:r>
            <a:endParaRPr lang="zh-CN" altLang="en-US" sz="2000" b="1" dirty="0">
              <a:ea typeface="宋体" panose="02010600030101010101" pitchFamily="2" charset="-122"/>
            </a:endParaRPr>
          </a:p>
          <a:p>
            <a:pPr lvl="2">
              <a:spcBef>
                <a:spcPct val="0"/>
              </a:spcBef>
              <a:buNone/>
            </a:pPr>
            <a:r>
              <a:rPr lang="zh-CN" altLang="en-US" sz="2000" b="1" dirty="0">
                <a:ea typeface="宋体" panose="02010600030101010101" pitchFamily="2" charset="-122"/>
              </a:rPr>
              <a:t>	</a:t>
            </a:r>
            <a:r>
              <a:rPr lang="en-US" altLang="zh-CN" sz="2000" b="1" dirty="0">
                <a:ea typeface="宋体" panose="02010600030101010101" pitchFamily="2" charset="-122"/>
              </a:rPr>
              <a:t>abbcde</a:t>
            </a:r>
            <a:endParaRPr lang="en-US" altLang="zh-CN" sz="2000" b="1" dirty="0">
              <a:ea typeface="宋体" panose="02010600030101010101" pitchFamily="2" charset="-122"/>
            </a:endParaRPr>
          </a:p>
          <a:p>
            <a:pPr lvl="2">
              <a:spcBef>
                <a:spcPct val="0"/>
              </a:spcBef>
              <a:buNone/>
            </a:pPr>
            <a:r>
              <a:rPr lang="en-US" altLang="zh-CN" sz="2000" b="1" dirty="0">
                <a:ea typeface="宋体" panose="02010600030101010101" pitchFamily="2" charset="-122"/>
              </a:rPr>
              <a:t>	aAbcde</a:t>
            </a:r>
            <a:endParaRPr lang="en-US" altLang="zh-CN" sz="2000" b="1" dirty="0">
              <a:ea typeface="宋体" panose="02010600030101010101" pitchFamily="2" charset="-122"/>
            </a:endParaRPr>
          </a:p>
          <a:p>
            <a:pPr lvl="2">
              <a:spcBef>
                <a:spcPct val="0"/>
              </a:spcBef>
              <a:buNone/>
            </a:pPr>
            <a:r>
              <a:rPr lang="en-US" altLang="zh-CN" sz="2000" b="1" dirty="0">
                <a:ea typeface="宋体" panose="02010600030101010101" pitchFamily="2" charset="-122"/>
              </a:rPr>
              <a:t>	aAde</a:t>
            </a:r>
            <a:endParaRPr lang="en-US" altLang="zh-CN" sz="2000" b="1" dirty="0">
              <a:ea typeface="宋体" panose="02010600030101010101" pitchFamily="2" charset="-122"/>
            </a:endParaRPr>
          </a:p>
          <a:p>
            <a:pPr lvl="2">
              <a:spcBef>
                <a:spcPct val="0"/>
              </a:spcBef>
              <a:buNone/>
            </a:pPr>
            <a:r>
              <a:rPr lang="en-US" altLang="zh-CN" sz="2000" b="1" dirty="0">
                <a:ea typeface="宋体" panose="02010600030101010101" pitchFamily="2" charset="-122"/>
              </a:rPr>
              <a:t>	aABe</a:t>
            </a:r>
            <a:endParaRPr lang="en-US" altLang="zh-CN" sz="2000" b="1" dirty="0">
              <a:ea typeface="宋体" panose="02010600030101010101" pitchFamily="2" charset="-122"/>
            </a:endParaRPr>
          </a:p>
          <a:p>
            <a:pPr lvl="2">
              <a:spcBef>
                <a:spcPct val="0"/>
              </a:spcBef>
              <a:buNone/>
            </a:pPr>
            <a:r>
              <a:rPr lang="en-US" altLang="zh-CN" sz="2000" b="1" dirty="0">
                <a:ea typeface="宋体" panose="02010600030101010101" pitchFamily="2" charset="-122"/>
              </a:rPr>
              <a:t>	S</a:t>
            </a:r>
            <a:endParaRPr lang="en-US" altLang="zh-CN" sz="2000" b="1" dirty="0">
              <a:ea typeface="宋体" panose="02010600030101010101" pitchFamily="2" charset="-122"/>
            </a:endParaRPr>
          </a:p>
          <a:p>
            <a:pPr lvl="2">
              <a:spcBef>
                <a:spcPct val="0"/>
              </a:spcBef>
              <a:buNone/>
            </a:pPr>
            <a:r>
              <a:rPr lang="zh-CN" altLang="en-US" sz="2000" b="1" dirty="0">
                <a:ea typeface="宋体" panose="02010600030101010101" pitchFamily="2" charset="-122"/>
              </a:rPr>
              <a:t>对应的最右推导：</a:t>
            </a:r>
            <a:endParaRPr lang="zh-CN" altLang="en-US" sz="2000" b="1" dirty="0">
              <a:ea typeface="宋体" panose="02010600030101010101" pitchFamily="2" charset="-122"/>
            </a:endParaRPr>
          </a:p>
        </p:txBody>
      </p:sp>
      <p:graphicFrame>
        <p:nvGraphicFramePr>
          <p:cNvPr id="149508" name="Object 4"/>
          <p:cNvGraphicFramePr>
            <a:graphicFrameLocks noChangeAspect="1"/>
          </p:cNvGraphicFramePr>
          <p:nvPr/>
        </p:nvGraphicFramePr>
        <p:xfrm>
          <a:off x="3962400" y="5791200"/>
          <a:ext cx="4114800" cy="465138"/>
        </p:xfrm>
        <a:graphic>
          <a:graphicData uri="http://schemas.openxmlformats.org/presentationml/2006/ole">
            <mc:AlternateContent xmlns:mc="http://schemas.openxmlformats.org/markup-compatibility/2006">
              <mc:Choice xmlns:v="urn:schemas-microsoft-com:vml" Requires="v">
                <p:oleObj spid="_x0000_s3118" name="" r:id="rId1" imgW="2489200" imgH="279400" progId="Equation.3">
                  <p:embed/>
                </p:oleObj>
              </mc:Choice>
              <mc:Fallback>
                <p:oleObj name="" r:id="rId1" imgW="2489200" imgH="279400" progId="Equation.3">
                  <p:embed/>
                  <p:pic>
                    <p:nvPicPr>
                      <p:cNvPr id="0" name="图片 3117"/>
                      <p:cNvPicPr/>
                      <p:nvPr/>
                    </p:nvPicPr>
                    <p:blipFill>
                      <a:blip r:embed="rId2"/>
                      <a:stretch>
                        <a:fillRect/>
                      </a:stretch>
                    </p:blipFill>
                    <p:spPr>
                      <a:xfrm>
                        <a:off x="3962400" y="5791200"/>
                        <a:ext cx="4114800" cy="465138"/>
                      </a:xfrm>
                      <a:prstGeom prst="rect">
                        <a:avLst/>
                      </a:prstGeom>
                      <a:noFill/>
                      <a:ln w="38100">
                        <a:noFill/>
                        <a:miter/>
                      </a:ln>
                    </p:spPr>
                  </p:pic>
                </p:oleObj>
              </mc:Fallback>
            </mc:AlternateContent>
          </a:graphicData>
        </a:graphic>
      </p:graphicFrame>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aphicFrame>
        <p:nvGraphicFramePr>
          <p:cNvPr id="729095" name="Object 7"/>
          <p:cNvGraphicFramePr>
            <a:graphicFrameLocks noChangeAspect="1"/>
          </p:cNvGraphicFramePr>
          <p:nvPr/>
        </p:nvGraphicFramePr>
        <p:xfrm>
          <a:off x="1905000" y="3811588"/>
          <a:ext cx="4800600" cy="1309687"/>
        </p:xfrm>
        <a:graphic>
          <a:graphicData uri="http://schemas.openxmlformats.org/presentationml/2006/ole">
            <mc:AlternateContent xmlns:mc="http://schemas.openxmlformats.org/markup-compatibility/2006">
              <mc:Choice xmlns:v="urn:schemas-microsoft-com:vml" Requires="v">
                <p:oleObj spid="_x0000_s3119" name="" r:id="rId1" imgW="4023360" imgH="863600" progId="Visio.Drawing.4">
                  <p:embed/>
                </p:oleObj>
              </mc:Choice>
              <mc:Fallback>
                <p:oleObj name="" r:id="rId1" imgW="4023360" imgH="863600" progId="Visio.Drawing.4">
                  <p:embed/>
                  <p:pic>
                    <p:nvPicPr>
                      <p:cNvPr id="0" name="图片 3118"/>
                      <p:cNvPicPr/>
                      <p:nvPr/>
                    </p:nvPicPr>
                    <p:blipFill>
                      <a:blip r:embed="rId2"/>
                      <a:stretch>
                        <a:fillRect/>
                      </a:stretch>
                    </p:blipFill>
                    <p:spPr>
                      <a:xfrm>
                        <a:off x="1905000" y="3811588"/>
                        <a:ext cx="4800600" cy="1309687"/>
                      </a:xfrm>
                      <a:prstGeom prst="rect">
                        <a:avLst/>
                      </a:prstGeom>
                      <a:noFill/>
                      <a:ln w="38100">
                        <a:noFill/>
                        <a:miter/>
                      </a:ln>
                    </p:spPr>
                  </p:pic>
                </p:oleObj>
              </mc:Fallback>
            </mc:AlternateContent>
          </a:graphicData>
        </a:graphic>
      </p:graphicFrame>
      <p:graphicFrame>
        <p:nvGraphicFramePr>
          <p:cNvPr id="729099" name="Object 11"/>
          <p:cNvGraphicFramePr>
            <a:graphicFrameLocks noChangeAspect="1"/>
          </p:cNvGraphicFramePr>
          <p:nvPr/>
        </p:nvGraphicFramePr>
        <p:xfrm>
          <a:off x="2995613" y="3001963"/>
          <a:ext cx="1824037" cy="1785937"/>
        </p:xfrm>
        <a:graphic>
          <a:graphicData uri="http://schemas.openxmlformats.org/presentationml/2006/ole">
            <mc:AlternateContent xmlns:mc="http://schemas.openxmlformats.org/markup-compatibility/2006">
              <mc:Choice xmlns:v="urn:schemas-microsoft-com:vml" Requires="v">
                <p:oleObj spid="_x0000_s3120" name="" r:id="rId3" imgW="1529080" imgH="1178560" progId="Visio.Drawing.4">
                  <p:embed/>
                </p:oleObj>
              </mc:Choice>
              <mc:Fallback>
                <p:oleObj name="" r:id="rId3" imgW="1529080" imgH="1178560" progId="Visio.Drawing.4">
                  <p:embed/>
                  <p:pic>
                    <p:nvPicPr>
                      <p:cNvPr id="0" name="图片 3119"/>
                      <p:cNvPicPr/>
                      <p:nvPr/>
                    </p:nvPicPr>
                    <p:blipFill>
                      <a:blip r:embed="rId4"/>
                      <a:stretch>
                        <a:fillRect/>
                      </a:stretch>
                    </p:blipFill>
                    <p:spPr>
                      <a:xfrm>
                        <a:off x="2995613" y="3001963"/>
                        <a:ext cx="1824037" cy="1785937"/>
                      </a:xfrm>
                      <a:prstGeom prst="rect">
                        <a:avLst/>
                      </a:prstGeom>
                      <a:noFill/>
                      <a:ln w="38100">
                        <a:noFill/>
                        <a:miter/>
                      </a:ln>
                    </p:spPr>
                  </p:pic>
                </p:oleObj>
              </mc:Fallback>
            </mc:AlternateContent>
          </a:graphicData>
        </a:graphic>
      </p:graphicFrame>
      <p:graphicFrame>
        <p:nvGraphicFramePr>
          <p:cNvPr id="729100" name="Object 12"/>
          <p:cNvGraphicFramePr>
            <a:graphicFrameLocks noChangeAspect="1"/>
          </p:cNvGraphicFramePr>
          <p:nvPr/>
        </p:nvGraphicFramePr>
        <p:xfrm>
          <a:off x="5357813" y="3811588"/>
          <a:ext cx="508000" cy="996950"/>
        </p:xfrm>
        <a:graphic>
          <a:graphicData uri="http://schemas.openxmlformats.org/presentationml/2006/ole">
            <mc:AlternateContent xmlns:mc="http://schemas.openxmlformats.org/markup-compatibility/2006">
              <mc:Choice xmlns:v="urn:schemas-microsoft-com:vml" Requires="v">
                <p:oleObj spid="_x0000_s3115" name="" r:id="rId5" imgW="426720" imgH="655320" progId="Visio.Drawing.4">
                  <p:embed/>
                </p:oleObj>
              </mc:Choice>
              <mc:Fallback>
                <p:oleObj name="" r:id="rId5" imgW="426720" imgH="655320" progId="Visio.Drawing.4">
                  <p:embed/>
                  <p:pic>
                    <p:nvPicPr>
                      <p:cNvPr id="0" name="图片 3114"/>
                      <p:cNvPicPr/>
                      <p:nvPr/>
                    </p:nvPicPr>
                    <p:blipFill>
                      <a:blip r:embed="rId6"/>
                      <a:stretch>
                        <a:fillRect/>
                      </a:stretch>
                    </p:blipFill>
                    <p:spPr>
                      <a:xfrm>
                        <a:off x="5357813" y="3811588"/>
                        <a:ext cx="508000" cy="996950"/>
                      </a:xfrm>
                      <a:prstGeom prst="rect">
                        <a:avLst/>
                      </a:prstGeom>
                      <a:noFill/>
                      <a:ln w="38100">
                        <a:noFill/>
                        <a:miter/>
                      </a:ln>
                    </p:spPr>
                  </p:pic>
                </p:oleObj>
              </mc:Fallback>
            </mc:AlternateContent>
          </a:graphicData>
        </a:graphic>
      </p:graphicFrame>
      <p:graphicFrame>
        <p:nvGraphicFramePr>
          <p:cNvPr id="729101" name="Object 13"/>
          <p:cNvGraphicFramePr>
            <a:graphicFrameLocks noChangeAspect="1"/>
          </p:cNvGraphicFramePr>
          <p:nvPr/>
        </p:nvGraphicFramePr>
        <p:xfrm>
          <a:off x="2178050" y="1844675"/>
          <a:ext cx="4398963" cy="2881313"/>
        </p:xfrm>
        <a:graphic>
          <a:graphicData uri="http://schemas.openxmlformats.org/presentationml/2006/ole">
            <mc:AlternateContent xmlns:mc="http://schemas.openxmlformats.org/markup-compatibility/2006">
              <mc:Choice xmlns:v="urn:schemas-microsoft-com:vml" Requires="v">
                <p:oleObj spid="_x0000_s3116" name="" r:id="rId7" imgW="3688080" imgH="1894840" progId="Visio.Drawing.4">
                  <p:embed/>
                </p:oleObj>
              </mc:Choice>
              <mc:Fallback>
                <p:oleObj name="" r:id="rId7" imgW="3688080" imgH="1894840" progId="Visio.Drawing.4">
                  <p:embed/>
                  <p:pic>
                    <p:nvPicPr>
                      <p:cNvPr id="0" name="图片 3115"/>
                      <p:cNvPicPr/>
                      <p:nvPr/>
                    </p:nvPicPr>
                    <p:blipFill>
                      <a:blip r:embed="rId8"/>
                      <a:stretch>
                        <a:fillRect/>
                      </a:stretch>
                    </p:blipFill>
                    <p:spPr>
                      <a:xfrm>
                        <a:off x="2178050" y="1844675"/>
                        <a:ext cx="4398963" cy="2881313"/>
                      </a:xfrm>
                      <a:prstGeom prst="rect">
                        <a:avLst/>
                      </a:prstGeom>
                      <a:noFill/>
                      <a:ln w="38100">
                        <a:noFill/>
                        <a:miter/>
                      </a:ln>
                    </p:spPr>
                  </p:pic>
                </p:oleObj>
              </mc:Fallback>
            </mc:AlternateContent>
          </a:graphicData>
        </a:graphic>
      </p:graphicFrame>
      <p:graphicFrame>
        <p:nvGraphicFramePr>
          <p:cNvPr id="151559" name="Object 15"/>
          <p:cNvGraphicFramePr>
            <a:graphicFrameLocks noGrp="1" noChangeAspect="1"/>
          </p:cNvGraphicFramePr>
          <p:nvPr>
            <p:ph idx="1"/>
          </p:nvPr>
        </p:nvGraphicFramePr>
        <p:xfrm>
          <a:off x="1258888" y="1268413"/>
          <a:ext cx="6481762" cy="727075"/>
        </p:xfrm>
        <a:graphic>
          <a:graphicData uri="http://schemas.openxmlformats.org/presentationml/2006/ole">
            <mc:AlternateContent xmlns:mc="http://schemas.openxmlformats.org/markup-compatibility/2006">
              <mc:Choice xmlns:v="urn:schemas-microsoft-com:vml" Requires="v">
                <p:oleObj spid="_x0000_s3117" name="" r:id="rId9" imgW="2489200" imgH="279400" progId="Equation.3">
                  <p:embed/>
                </p:oleObj>
              </mc:Choice>
              <mc:Fallback>
                <p:oleObj name="" r:id="rId9" imgW="2489200" imgH="279400" progId="Equation.3">
                  <p:embed/>
                  <p:pic>
                    <p:nvPicPr>
                      <p:cNvPr id="0" name="图片 3116"/>
                      <p:cNvPicPr/>
                      <p:nvPr/>
                    </p:nvPicPr>
                    <p:blipFill>
                      <a:blip r:embed="rId10"/>
                      <a:srcRect/>
                      <a:stretch>
                        <a:fillRect/>
                      </a:stretch>
                    </p:blipFill>
                    <p:spPr>
                      <a:xfrm>
                        <a:off x="1258888" y="1268413"/>
                        <a:ext cx="6481762" cy="727075"/>
                      </a:xfrm>
                      <a:prstGeom prst="rect">
                        <a:avLst/>
                      </a:prstGeom>
                      <a:noFill/>
                      <a:ln w="38100">
                        <a:miter/>
                      </a:ln>
                    </p:spPr>
                  </p:pic>
                </p:oleObj>
              </mc:Fallback>
            </mc:AlternateContent>
          </a:graphicData>
        </a:graphic>
      </p:graphicFrame>
      <p:sp>
        <p:nvSpPr>
          <p:cNvPr id="2" name="文本框 1"/>
          <p:cNvSpPr txBox="1"/>
          <p:nvPr/>
        </p:nvSpPr>
        <p:spPr>
          <a:xfrm>
            <a:off x="755650" y="5013325"/>
            <a:ext cx="7920038" cy="1643063"/>
          </a:xfrm>
          <a:prstGeom prst="rect">
            <a:avLst/>
          </a:prstGeom>
          <a:noFill/>
        </p:spPr>
        <p:txBody>
          <a:bodyPr>
            <a:spAutoFit/>
          </a:bodyPr>
          <a:lstStyle/>
          <a:p>
            <a:pPr marL="342900" marR="0" indent="-342900" defTabSz="914400">
              <a:spcBef>
                <a:spcPct val="20000"/>
              </a:spcBef>
              <a:buClr>
                <a:srgbClr val="063DE8"/>
              </a:buClr>
              <a:buSzPct val="125000"/>
              <a:buFont typeface="Arial" panose="020B0604020202020204" pitchFamily="34" charset="0"/>
              <a:buChar char="•"/>
              <a:defRPr/>
            </a:pPr>
            <a:r>
              <a:rPr kumimoji="0" lang="zh-CN" altLang="en-US" b="1" kern="1200" cap="none" spc="0" normalizeH="0" baseline="0" noProof="0" dirty="0">
                <a:latin typeface="+mn-lt"/>
                <a:ea typeface="宋体" panose="02010600030101010101" pitchFamily="2" charset="-122"/>
                <a:cs typeface="+mn-cs"/>
              </a:rPr>
              <a:t>自底向上分析可以看作是把一个输入串</a:t>
            </a:r>
            <a:r>
              <a:rPr kumimoji="0" lang="el-GR" altLang="zh-CN" b="1" kern="1200" cap="none" spc="0" normalizeH="0" baseline="0" noProof="0" dirty="0">
                <a:latin typeface="+mn-lt"/>
                <a:ea typeface="宋体" panose="02010600030101010101" pitchFamily="2" charset="-122"/>
                <a:cs typeface="+mn-cs"/>
              </a:rPr>
              <a:t>ω</a:t>
            </a:r>
            <a:r>
              <a:rPr kumimoji="0" lang="zh-CN" altLang="en-US" b="1" kern="1200" cap="none" spc="0" normalizeH="0" baseline="0" noProof="0" dirty="0">
                <a:latin typeface="+mn-lt"/>
                <a:ea typeface="宋体" panose="02010600030101010101" pitchFamily="2" charset="-122"/>
                <a:cs typeface="+mn-cs"/>
              </a:rPr>
              <a:t>“归约”成文法的开始符号的过程</a:t>
            </a:r>
            <a:endParaRPr kumimoji="0" lang="en-US" altLang="zh-CN" b="1" kern="1200" cap="none" spc="0" normalizeH="0" baseline="0" noProof="0" dirty="0">
              <a:latin typeface="+mn-lt"/>
              <a:ea typeface="宋体" panose="02010600030101010101" pitchFamily="2" charset="-122"/>
              <a:cs typeface="+mn-cs"/>
            </a:endParaRPr>
          </a:p>
          <a:p>
            <a:pPr marL="342900" marR="0" indent="-342900" defTabSz="914400">
              <a:spcBef>
                <a:spcPct val="20000"/>
              </a:spcBef>
              <a:buClr>
                <a:srgbClr val="063DE8"/>
              </a:buClr>
              <a:buSzPct val="125000"/>
              <a:buFont typeface="Arial" panose="020B0604020202020204" pitchFamily="34" charset="0"/>
              <a:buChar char="•"/>
              <a:defRPr/>
            </a:pPr>
            <a:r>
              <a:rPr kumimoji="0" lang="zh-CN" altLang="en-US" b="1" kern="1200" cap="none" spc="0" normalizeH="0" baseline="0" noProof="0" dirty="0">
                <a:latin typeface="+mn-lt"/>
                <a:ea typeface="宋体" panose="02010600030101010101" pitchFamily="2" charset="-122"/>
                <a:cs typeface="+mn-cs"/>
              </a:rPr>
              <a:t>一个核心问题是选择文法符号串的哪一个子串（包括位置）进行归约？</a:t>
            </a:r>
            <a:endParaRPr kumimoji="0" lang="zh-CN" altLang="en-US" b="1" kern="1200" cap="none" spc="0" normalizeH="0" baseline="0" noProof="0" dirty="0">
              <a:latin typeface="+mn-lt"/>
              <a:ea typeface="宋体" panose="02010600030101010101" pitchFamily="2"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9095"/>
                                        </p:tgtEl>
                                        <p:attrNameLst>
                                          <p:attrName>style.visibility</p:attrName>
                                        </p:attrNameLst>
                                      </p:cBhvr>
                                      <p:to>
                                        <p:strVal val="visible"/>
                                      </p:to>
                                    </p:set>
                                    <p:animEffect transition="in" filter="blinds(horizontal)">
                                      <p:cBhvr>
                                        <p:cTn id="7" dur="500"/>
                                        <p:tgtEl>
                                          <p:spTgt spid="72909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29099"/>
                                        </p:tgtEl>
                                        <p:attrNameLst>
                                          <p:attrName>style.visibility</p:attrName>
                                        </p:attrNameLst>
                                      </p:cBhvr>
                                      <p:to>
                                        <p:strVal val="visible"/>
                                      </p:to>
                                    </p:set>
                                    <p:animEffect transition="in" filter="blinds(horizontal)">
                                      <p:cBhvr>
                                        <p:cTn id="12" dur="500"/>
                                        <p:tgtEl>
                                          <p:spTgt spid="72909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29100"/>
                                        </p:tgtEl>
                                        <p:attrNameLst>
                                          <p:attrName>style.visibility</p:attrName>
                                        </p:attrNameLst>
                                      </p:cBhvr>
                                      <p:to>
                                        <p:strVal val="visible"/>
                                      </p:to>
                                    </p:set>
                                    <p:animEffect transition="in" filter="blinds(horizontal)">
                                      <p:cBhvr>
                                        <p:cTn id="17" dur="500"/>
                                        <p:tgtEl>
                                          <p:spTgt spid="72910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29101"/>
                                        </p:tgtEl>
                                        <p:attrNameLst>
                                          <p:attrName>style.visibility</p:attrName>
                                        </p:attrNameLst>
                                      </p:cBhvr>
                                      <p:to>
                                        <p:strVal val="visible"/>
                                      </p:to>
                                    </p:set>
                                    <p:animEffect transition="in" filter="blinds(horizontal)">
                                      <p:cBhvr>
                                        <p:cTn id="22" dur="500"/>
                                        <p:tgtEl>
                                          <p:spTgt spid="729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53603" name="Rectangle 3"/>
          <p:cNvSpPr>
            <a:spLocks noGrp="1"/>
          </p:cNvSpPr>
          <p:nvPr>
            <p:ph idx="1"/>
          </p:nvPr>
        </p:nvSpPr>
        <p:spPr>
          <a:xfrm>
            <a:off x="990600" y="1524000"/>
            <a:ext cx="7391400" cy="4800600"/>
          </a:xfrm>
        </p:spPr>
        <p:txBody>
          <a:bodyPr vert="horz" wrap="square" lIns="92075" tIns="46038" rIns="92075" bIns="46038" anchor="t" anchorCtr="0"/>
          <a:p>
            <a:pPr>
              <a:lnSpc>
                <a:spcPct val="90000"/>
              </a:lnSpc>
            </a:pPr>
            <a:r>
              <a:rPr lang="zh-CN" altLang="en-US" b="1" dirty="0">
                <a:ea typeface="宋体" panose="02010600030101010101" pitchFamily="2" charset="-122"/>
              </a:rPr>
              <a:t>句柄</a:t>
            </a:r>
            <a:endParaRPr lang="zh-CN" altLang="en-US" b="1" dirty="0">
              <a:ea typeface="宋体" panose="02010600030101010101" pitchFamily="2" charset="-122"/>
            </a:endParaRPr>
          </a:p>
          <a:p>
            <a:pPr lvl="1">
              <a:lnSpc>
                <a:spcPct val="90000"/>
              </a:lnSpc>
            </a:pPr>
            <a:r>
              <a:rPr lang="zh-CN" altLang="en-US" b="1" dirty="0">
                <a:ea typeface="宋体" panose="02010600030101010101" pitchFamily="2" charset="-122"/>
              </a:rPr>
              <a:t>定义：</a:t>
            </a:r>
            <a:endParaRPr lang="zh-CN" altLang="en-US" b="1" dirty="0">
              <a:ea typeface="宋体" panose="02010600030101010101" pitchFamily="2" charset="-122"/>
            </a:endParaRPr>
          </a:p>
          <a:p>
            <a:pPr lvl="1">
              <a:lnSpc>
                <a:spcPct val="90000"/>
              </a:lnSpc>
              <a:buNone/>
            </a:pPr>
            <a:r>
              <a:rPr lang="zh-CN" altLang="en-US" b="1" dirty="0">
                <a:ea typeface="宋体" panose="02010600030101010101" pitchFamily="2" charset="-122"/>
              </a:rPr>
              <a:t>	</a:t>
            </a:r>
            <a:r>
              <a:rPr lang="zh-CN" altLang="en-US" sz="2000" b="1" dirty="0">
                <a:ea typeface="宋体" panose="02010600030101010101" pitchFamily="2" charset="-122"/>
              </a:rPr>
              <a:t>右句型(最右推导可得到的句型)</a:t>
            </a:r>
            <a:r>
              <a:rPr lang="en-US" altLang="zh-CN" sz="2000" b="1" dirty="0">
                <a:ea typeface="宋体" panose="02010600030101010101" pitchFamily="2" charset="-122"/>
              </a:rPr>
              <a:t>γ</a:t>
            </a:r>
            <a:r>
              <a:rPr lang="zh-CN" altLang="en-US" sz="2000" b="1" dirty="0">
                <a:ea typeface="宋体" panose="02010600030101010101" pitchFamily="2" charset="-122"/>
              </a:rPr>
              <a:t>的</a:t>
            </a:r>
            <a:r>
              <a:rPr lang="zh-CN" altLang="en-US" sz="2000" b="1" dirty="0">
                <a:solidFill>
                  <a:srgbClr val="063DE8"/>
                </a:solidFill>
                <a:ea typeface="宋体" panose="02010600030101010101" pitchFamily="2" charset="-122"/>
              </a:rPr>
              <a:t>句柄</a:t>
            </a:r>
            <a:r>
              <a:rPr lang="zh-CN" altLang="en-US" sz="2000" b="1" dirty="0">
                <a:ea typeface="宋体" panose="02010600030101010101" pitchFamily="2" charset="-122"/>
              </a:rPr>
              <a:t>是一个产生式</a:t>
            </a:r>
            <a:r>
              <a:rPr lang="en-US" altLang="zh-CN" sz="2000" b="1" dirty="0">
                <a:ea typeface="宋体" panose="02010600030101010101" pitchFamily="2" charset="-122"/>
              </a:rPr>
              <a:t>A→β</a:t>
            </a:r>
            <a:r>
              <a:rPr lang="zh-CN" altLang="en-US" sz="2000" b="1" dirty="0">
                <a:ea typeface="宋体" panose="02010600030101010101" pitchFamily="2" charset="-122"/>
              </a:rPr>
              <a:t>以及</a:t>
            </a:r>
            <a:r>
              <a:rPr lang="en-US" altLang="zh-CN" sz="2000" b="1" dirty="0">
                <a:ea typeface="宋体" panose="02010600030101010101" pitchFamily="2" charset="-122"/>
              </a:rPr>
              <a:t>γ</a:t>
            </a:r>
            <a:r>
              <a:rPr lang="zh-CN" altLang="en-US" sz="2000" b="1" dirty="0">
                <a:ea typeface="宋体" panose="02010600030101010101" pitchFamily="2" charset="-122"/>
              </a:rPr>
              <a:t>中的一个位置，在这个位置可找到串</a:t>
            </a:r>
            <a:r>
              <a:rPr lang="en-US" altLang="zh-CN" sz="2000" b="1" dirty="0">
                <a:ea typeface="宋体" panose="02010600030101010101" pitchFamily="2" charset="-122"/>
              </a:rPr>
              <a:t>β，</a:t>
            </a:r>
            <a:r>
              <a:rPr lang="zh-CN" altLang="en-US" sz="2000" b="1" dirty="0">
                <a:ea typeface="宋体" panose="02010600030101010101" pitchFamily="2" charset="-122"/>
              </a:rPr>
              <a:t>用</a:t>
            </a:r>
            <a:r>
              <a:rPr lang="en-US" altLang="zh-CN" sz="2000" b="1" dirty="0">
                <a:ea typeface="宋体" panose="02010600030101010101" pitchFamily="2" charset="-122"/>
              </a:rPr>
              <a:t>A</a:t>
            </a:r>
            <a:r>
              <a:rPr lang="zh-CN" altLang="en-US" sz="2000" b="1" dirty="0">
                <a:ea typeface="宋体" panose="02010600030101010101" pitchFamily="2" charset="-122"/>
              </a:rPr>
              <a:t>代替</a:t>
            </a:r>
            <a:r>
              <a:rPr lang="en-US" altLang="zh-CN" sz="2000" b="1" dirty="0">
                <a:ea typeface="宋体" panose="02010600030101010101" pitchFamily="2" charset="-122"/>
              </a:rPr>
              <a:t>β</a:t>
            </a:r>
            <a:r>
              <a:rPr lang="zh-CN" altLang="en-US" sz="2000" b="1" dirty="0">
                <a:ea typeface="宋体" panose="02010600030101010101" pitchFamily="2" charset="-122"/>
              </a:rPr>
              <a:t>得到最右推导的前一个右句型。即如果有如下的最右推导序列</a:t>
            </a:r>
            <a:endParaRPr lang="zh-CN" altLang="en-US" sz="2000" b="1" dirty="0">
              <a:ea typeface="宋体" panose="02010600030101010101" pitchFamily="2" charset="-122"/>
            </a:endParaRPr>
          </a:p>
          <a:p>
            <a:pPr lvl="1">
              <a:lnSpc>
                <a:spcPct val="90000"/>
              </a:lnSpc>
              <a:buNone/>
            </a:pPr>
            <a:r>
              <a:rPr lang="zh-CN" altLang="en-US" sz="2000" b="1" dirty="0">
                <a:ea typeface="宋体" panose="02010600030101010101" pitchFamily="2" charset="-122"/>
              </a:rPr>
              <a:t>		</a:t>
            </a:r>
            <a:endParaRPr lang="zh-CN" altLang="en-US" sz="2000" b="1" dirty="0">
              <a:ea typeface="宋体" panose="02010600030101010101" pitchFamily="2" charset="-122"/>
            </a:endParaRPr>
          </a:p>
          <a:p>
            <a:pPr lvl="1">
              <a:lnSpc>
                <a:spcPct val="90000"/>
              </a:lnSpc>
              <a:buNone/>
            </a:pPr>
            <a:r>
              <a:rPr lang="zh-CN" altLang="en-US" sz="2000" b="1" dirty="0">
                <a:ea typeface="宋体" panose="02010600030101010101" pitchFamily="2" charset="-122"/>
              </a:rPr>
              <a:t>	则在</a:t>
            </a:r>
            <a:r>
              <a:rPr lang="en-US" altLang="zh-CN" sz="2000" b="1" dirty="0">
                <a:ea typeface="宋体" panose="02010600030101010101" pitchFamily="2" charset="-122"/>
              </a:rPr>
              <a:t>α</a:t>
            </a:r>
            <a:r>
              <a:rPr lang="zh-CN" altLang="en-US" sz="2000" b="1" dirty="0">
                <a:ea typeface="宋体" panose="02010600030101010101" pitchFamily="2" charset="-122"/>
              </a:rPr>
              <a:t>后的</a:t>
            </a:r>
            <a:r>
              <a:rPr lang="en-US" altLang="zh-CN" sz="2000" b="1" dirty="0">
                <a:ea typeface="宋体" panose="02010600030101010101" pitchFamily="2" charset="-122"/>
              </a:rPr>
              <a:t>A→β</a:t>
            </a:r>
            <a:r>
              <a:rPr lang="zh-CN" altLang="en-US" sz="2000" b="1" dirty="0">
                <a:ea typeface="宋体" panose="02010600030101010101" pitchFamily="2" charset="-122"/>
              </a:rPr>
              <a:t>是</a:t>
            </a:r>
            <a:r>
              <a:rPr lang="en-US" altLang="zh-CN" sz="2000" b="1" dirty="0">
                <a:ea typeface="宋体" panose="02010600030101010101" pitchFamily="2" charset="-122"/>
              </a:rPr>
              <a:t>αβω</a:t>
            </a:r>
            <a:r>
              <a:rPr lang="zh-CN" altLang="en-US" sz="2000" b="1" dirty="0">
                <a:ea typeface="宋体" panose="02010600030101010101" pitchFamily="2" charset="-122"/>
              </a:rPr>
              <a:t>的句柄。</a:t>
            </a:r>
            <a:endParaRPr lang="zh-CN" altLang="en-US" sz="2000" b="1" dirty="0">
              <a:ea typeface="宋体" panose="02010600030101010101" pitchFamily="2" charset="-122"/>
            </a:endParaRPr>
          </a:p>
          <a:p>
            <a:pPr lvl="1">
              <a:lnSpc>
                <a:spcPct val="90000"/>
              </a:lnSpc>
            </a:pPr>
            <a:r>
              <a:rPr lang="zh-CN" altLang="en-US" b="1" dirty="0">
                <a:ea typeface="宋体" panose="02010600030101010101" pitchFamily="2" charset="-122"/>
              </a:rPr>
              <a:t>非形式的说法：</a:t>
            </a:r>
            <a:endParaRPr lang="zh-CN" altLang="en-US" b="1" dirty="0">
              <a:ea typeface="宋体" panose="02010600030101010101" pitchFamily="2" charset="-122"/>
            </a:endParaRPr>
          </a:p>
          <a:p>
            <a:pPr lvl="1">
              <a:lnSpc>
                <a:spcPct val="90000"/>
              </a:lnSpc>
              <a:buNone/>
            </a:pPr>
            <a:r>
              <a:rPr lang="zh-CN" altLang="en-US" sz="2000" b="1" dirty="0">
                <a:ea typeface="宋体" panose="02010600030101010101" pitchFamily="2" charset="-122"/>
              </a:rPr>
              <a:t>	一个串的句柄是和一个产生式右部匹配的子串，并且，把它归约成该产生式左部的非终结符代表了最右推导逆过程的一步</a:t>
            </a:r>
            <a:endParaRPr lang="zh-CN" altLang="en-US" sz="2000" b="1" dirty="0">
              <a:ea typeface="宋体" panose="02010600030101010101" pitchFamily="2" charset="-122"/>
            </a:endParaRPr>
          </a:p>
          <a:p>
            <a:pPr lvl="1">
              <a:lnSpc>
                <a:spcPct val="90000"/>
              </a:lnSpc>
            </a:pPr>
            <a:r>
              <a:rPr lang="zh-CN" altLang="en-US" b="1" dirty="0">
                <a:ea typeface="宋体" panose="02010600030101010101" pitchFamily="2" charset="-122"/>
              </a:rPr>
              <a:t>唯一性：</a:t>
            </a:r>
            <a:endParaRPr lang="zh-CN" altLang="en-US" b="1" dirty="0">
              <a:ea typeface="宋体" panose="02010600030101010101" pitchFamily="2" charset="-122"/>
            </a:endParaRPr>
          </a:p>
          <a:p>
            <a:pPr lvl="1">
              <a:lnSpc>
                <a:spcPct val="90000"/>
              </a:lnSpc>
              <a:buNone/>
            </a:pPr>
            <a:r>
              <a:rPr lang="zh-CN" altLang="en-US" sz="2000" b="1" dirty="0">
                <a:ea typeface="宋体" panose="02010600030101010101" pitchFamily="2" charset="-122"/>
              </a:rPr>
              <a:t>	文法无二义时，句柄是唯一的；否则，句柄不一定唯一</a:t>
            </a:r>
            <a:endParaRPr lang="zh-CN" altLang="en-US" sz="2000" b="1" dirty="0">
              <a:ea typeface="宋体" panose="02010600030101010101" pitchFamily="2" charset="-122"/>
            </a:endParaRPr>
          </a:p>
        </p:txBody>
      </p:sp>
      <p:graphicFrame>
        <p:nvGraphicFramePr>
          <p:cNvPr id="153604" name="Object 5"/>
          <p:cNvGraphicFramePr>
            <a:graphicFrameLocks noChangeAspect="1"/>
          </p:cNvGraphicFramePr>
          <p:nvPr/>
        </p:nvGraphicFramePr>
        <p:xfrm>
          <a:off x="3048000" y="3200400"/>
          <a:ext cx="1784350" cy="614363"/>
        </p:xfrm>
        <a:graphic>
          <a:graphicData uri="http://schemas.openxmlformats.org/presentationml/2006/ole">
            <mc:AlternateContent xmlns:mc="http://schemas.openxmlformats.org/markup-compatibility/2006">
              <mc:Choice xmlns:v="urn:schemas-microsoft-com:vml" Requires="v">
                <p:oleObj spid="_x0000_s3110" name="" r:id="rId1" imgW="1079500" imgH="368300" progId="Equation.3">
                  <p:embed/>
                </p:oleObj>
              </mc:Choice>
              <mc:Fallback>
                <p:oleObj name="" r:id="rId1" imgW="1079500" imgH="368300" progId="Equation.3">
                  <p:embed/>
                  <p:pic>
                    <p:nvPicPr>
                      <p:cNvPr id="0" name="图片 3109"/>
                      <p:cNvPicPr/>
                      <p:nvPr/>
                    </p:nvPicPr>
                    <p:blipFill>
                      <a:blip r:embed="rId2"/>
                      <a:stretch>
                        <a:fillRect/>
                      </a:stretch>
                    </p:blipFill>
                    <p:spPr>
                      <a:xfrm>
                        <a:off x="3048000" y="3200400"/>
                        <a:ext cx="1784350" cy="614363"/>
                      </a:xfrm>
                      <a:prstGeom prst="rect">
                        <a:avLst/>
                      </a:prstGeom>
                      <a:noFill/>
                      <a:ln w="38100">
                        <a:noFill/>
                        <a:miter/>
                      </a:ln>
                    </p:spPr>
                  </p:pic>
                </p:oleObj>
              </mc:Fallback>
            </mc:AlternateContent>
          </a:graphicData>
        </a:graphic>
      </p:graphicFrame>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55651" name="Rectangle 3"/>
          <p:cNvSpPr>
            <a:spLocks noGrp="1"/>
          </p:cNvSpPr>
          <p:nvPr>
            <p:ph idx="1"/>
          </p:nvPr>
        </p:nvSpPr>
        <p:spPr>
          <a:xfrm>
            <a:off x="990600" y="1524000"/>
            <a:ext cx="7391400" cy="4800600"/>
          </a:xfrm>
        </p:spPr>
        <p:txBody>
          <a:bodyPr vert="horz" wrap="square" lIns="92075" tIns="46038" rIns="92075" bIns="46038" anchor="t" anchorCtr="0"/>
          <a:p>
            <a:pPr lvl="1">
              <a:lnSpc>
                <a:spcPct val="90000"/>
              </a:lnSpc>
            </a:pPr>
            <a:r>
              <a:rPr lang="zh-CN" altLang="en-US" b="1" dirty="0">
                <a:ea typeface="宋体" panose="02010600030101010101" pitchFamily="2" charset="-122"/>
              </a:rPr>
              <a:t>上例中的句柄</a:t>
            </a:r>
            <a:endParaRPr lang="zh-CN" altLang="en-US" b="1" dirty="0">
              <a:ea typeface="宋体" panose="02010600030101010101" pitchFamily="2" charset="-122"/>
            </a:endParaRPr>
          </a:p>
          <a:p>
            <a:pPr lvl="1">
              <a:lnSpc>
                <a:spcPct val="90000"/>
              </a:lnSpc>
              <a:buNone/>
            </a:pPr>
            <a:r>
              <a:rPr lang="zh-CN" altLang="en-US" b="1" dirty="0">
                <a:ea typeface="宋体" panose="02010600030101010101" pitchFamily="2" charset="-122"/>
              </a:rPr>
              <a:t>	</a:t>
            </a:r>
            <a:r>
              <a:rPr lang="en-US" altLang="zh-CN" sz="2000" b="1" dirty="0">
                <a:ea typeface="宋体" panose="02010600030101010101" pitchFamily="2" charset="-122"/>
              </a:rPr>
              <a:t>A→b</a:t>
            </a:r>
            <a:r>
              <a:rPr lang="zh-CN" altLang="en-US" sz="2000" b="1" dirty="0">
                <a:ea typeface="宋体" panose="02010600030101010101" pitchFamily="2" charset="-122"/>
              </a:rPr>
              <a:t>是右句型</a:t>
            </a:r>
            <a:r>
              <a:rPr lang="en-US" altLang="zh-CN" sz="2000" b="1" dirty="0">
                <a:ea typeface="宋体" panose="02010600030101010101" pitchFamily="2" charset="-122"/>
              </a:rPr>
              <a:t>abbcde</a:t>
            </a:r>
            <a:r>
              <a:rPr lang="zh-CN" altLang="en-US" sz="2000" b="1" dirty="0">
                <a:ea typeface="宋体" panose="02010600030101010101" pitchFamily="2" charset="-122"/>
              </a:rPr>
              <a:t>的句柄，它的位置？</a:t>
            </a:r>
            <a:endParaRPr lang="en-US" altLang="zh-CN" sz="2000" b="1" dirty="0">
              <a:ea typeface="宋体" panose="02010600030101010101" pitchFamily="2" charset="-122"/>
            </a:endParaRPr>
          </a:p>
          <a:p>
            <a:pPr lvl="1">
              <a:lnSpc>
                <a:spcPct val="90000"/>
              </a:lnSpc>
              <a:buNone/>
            </a:pPr>
            <a:r>
              <a:rPr lang="en-US" altLang="zh-CN" sz="2000" b="1" dirty="0">
                <a:ea typeface="宋体" panose="02010600030101010101" pitchFamily="2" charset="-122"/>
              </a:rPr>
              <a:t>		    </a:t>
            </a:r>
            <a:r>
              <a:rPr lang="zh-CN" altLang="en-US" sz="2000" b="1" dirty="0">
                <a:solidFill>
                  <a:srgbClr val="FF0000"/>
                </a:solidFill>
                <a:ea typeface="宋体" panose="02010600030101010101" pitchFamily="2" charset="-122"/>
              </a:rPr>
              <a:t>第一个</a:t>
            </a:r>
            <a:r>
              <a:rPr lang="en-US" altLang="zh-CN" sz="2000" b="1" dirty="0">
                <a:solidFill>
                  <a:srgbClr val="FF0000"/>
                </a:solidFill>
                <a:ea typeface="宋体" panose="02010600030101010101" pitchFamily="2" charset="-122"/>
              </a:rPr>
              <a:t>b</a:t>
            </a:r>
            <a:endParaRPr lang="zh-CN" altLang="en-US" sz="2000" b="1" dirty="0">
              <a:solidFill>
                <a:srgbClr val="FF0000"/>
              </a:solidFill>
              <a:ea typeface="宋体" panose="02010600030101010101" pitchFamily="2" charset="-122"/>
            </a:endParaRPr>
          </a:p>
          <a:p>
            <a:pPr lvl="1">
              <a:lnSpc>
                <a:spcPct val="90000"/>
              </a:lnSpc>
              <a:buNone/>
            </a:pPr>
            <a:r>
              <a:rPr lang="zh-CN" altLang="en-US" sz="2000" b="1" dirty="0">
                <a:ea typeface="宋体" panose="02010600030101010101" pitchFamily="2" charset="-122"/>
              </a:rPr>
              <a:t>	</a:t>
            </a:r>
            <a:r>
              <a:rPr lang="en-US" altLang="zh-CN" sz="2000" b="1" dirty="0">
                <a:ea typeface="宋体" panose="02010600030101010101" pitchFamily="2" charset="-122"/>
              </a:rPr>
              <a:t>A→Abc</a:t>
            </a:r>
            <a:r>
              <a:rPr lang="zh-CN" altLang="en-US" sz="2000" b="1" dirty="0">
                <a:ea typeface="宋体" panose="02010600030101010101" pitchFamily="2" charset="-122"/>
              </a:rPr>
              <a:t>是右句型</a:t>
            </a:r>
            <a:r>
              <a:rPr lang="en-US" altLang="zh-CN" sz="2000" b="1" dirty="0">
                <a:ea typeface="宋体" panose="02010600030101010101" pitchFamily="2" charset="-122"/>
              </a:rPr>
              <a:t>aAbcde</a:t>
            </a:r>
            <a:r>
              <a:rPr lang="zh-CN" altLang="en-US" sz="2000" b="1" dirty="0">
                <a:ea typeface="宋体" panose="02010600030101010101" pitchFamily="2" charset="-122"/>
              </a:rPr>
              <a:t>的句柄，它的位置？</a:t>
            </a:r>
            <a:endParaRPr lang="zh-CN" altLang="en-US" sz="2000" b="1" dirty="0">
              <a:ea typeface="宋体" panose="02010600030101010101" pitchFamily="2" charset="-122"/>
            </a:endParaRPr>
          </a:p>
          <a:p>
            <a:pPr lvl="1">
              <a:lnSpc>
                <a:spcPct val="90000"/>
              </a:lnSpc>
            </a:pPr>
            <a:r>
              <a:rPr lang="zh-CN" altLang="en-US" b="1" dirty="0">
                <a:ea typeface="宋体" panose="02010600030101010101" pitchFamily="2" charset="-122"/>
              </a:rPr>
              <a:t>简称：</a:t>
            </a:r>
            <a:endParaRPr lang="zh-CN" altLang="en-US" b="1" dirty="0">
              <a:ea typeface="宋体" panose="02010600030101010101" pitchFamily="2" charset="-122"/>
            </a:endParaRPr>
          </a:p>
          <a:p>
            <a:pPr lvl="1">
              <a:lnSpc>
                <a:spcPct val="90000"/>
              </a:lnSpc>
              <a:buNone/>
            </a:pPr>
            <a:r>
              <a:rPr lang="zh-CN" altLang="en-US" sz="2000" b="1" dirty="0">
                <a:ea typeface="宋体" panose="02010600030101010101" pitchFamily="2" charset="-122"/>
              </a:rPr>
              <a:t>	如果清楚地知道句柄的位置和应用的产生式的话，可以直接说子串</a:t>
            </a:r>
            <a:r>
              <a:rPr lang="en-US" altLang="zh-CN" sz="2000" b="1" dirty="0">
                <a:ea typeface="宋体" panose="02010600030101010101" pitchFamily="2" charset="-122"/>
              </a:rPr>
              <a:t>β</a:t>
            </a:r>
            <a:r>
              <a:rPr lang="zh-CN" altLang="en-US" sz="2000" b="1" dirty="0">
                <a:ea typeface="宋体" panose="02010600030101010101" pitchFamily="2" charset="-122"/>
              </a:rPr>
              <a:t>是</a:t>
            </a:r>
            <a:r>
              <a:rPr lang="en-US" altLang="zh-CN" sz="2000" b="1" dirty="0">
                <a:ea typeface="宋体" panose="02010600030101010101" pitchFamily="2" charset="-122"/>
              </a:rPr>
              <a:t>αβω</a:t>
            </a:r>
            <a:r>
              <a:rPr lang="zh-CN" altLang="en-US" sz="2000" b="1" dirty="0">
                <a:ea typeface="宋体" panose="02010600030101010101" pitchFamily="2" charset="-122"/>
              </a:rPr>
              <a:t>的句柄</a:t>
            </a:r>
            <a:endParaRPr lang="zh-CN" altLang="en-US" sz="2000" b="1" dirty="0">
              <a:ea typeface="宋体" panose="02010600030101010101" pitchFamily="2" charset="-122"/>
            </a:endParaRPr>
          </a:p>
          <a:p>
            <a:pPr lvl="1">
              <a:lnSpc>
                <a:spcPct val="90000"/>
              </a:lnSpc>
            </a:pPr>
            <a:r>
              <a:rPr lang="zh-CN" altLang="en-US" b="1" dirty="0">
                <a:ea typeface="宋体" panose="02010600030101010101" pitchFamily="2" charset="-122"/>
              </a:rPr>
              <a:t>作用：</a:t>
            </a:r>
            <a:endParaRPr lang="en-US" altLang="zh-CN" b="1" dirty="0">
              <a:ea typeface="宋体" panose="02010600030101010101" pitchFamily="2" charset="-122"/>
            </a:endParaRPr>
          </a:p>
          <a:p>
            <a:pPr lvl="2">
              <a:lnSpc>
                <a:spcPct val="90000"/>
              </a:lnSpc>
            </a:pPr>
            <a:r>
              <a:rPr lang="zh-CN" altLang="en-US" sz="2000" b="1" dirty="0">
                <a:ea typeface="宋体" panose="02010600030101010101" pitchFamily="2" charset="-122"/>
              </a:rPr>
              <a:t>移进-归约分析器将终结符号从输入移进到栈中，直到它能执行一个归约得到下一个右句型</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判断分析中下一个句柄是移进-归约分析器的主要任务</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句柄总是为它的产生式构成一个完整的右部，而这个产生式是下一步归约中应用的产生式，而且归约发生时，句柄的最右边的位置与栈的顶部对应</a:t>
            </a:r>
            <a:endParaRPr lang="zh-CN" altLang="en-US" sz="2000" b="1"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5651">
                                            <p:txEl>
                                              <p:charRg st="31" end="42"/>
                                            </p:txEl>
                                          </p:spTgt>
                                        </p:tgtEl>
                                        <p:attrNameLst>
                                          <p:attrName>style.visibility</p:attrName>
                                        </p:attrNameLst>
                                      </p:cBhvr>
                                      <p:to>
                                        <p:strVal val="visible"/>
                                      </p:to>
                                    </p:set>
                                    <p:anim calcmode="lin" valueType="num">
                                      <p:cBhvr additive="base">
                                        <p:cTn id="7" dur="500" fill="hold"/>
                                        <p:tgtEl>
                                          <p:spTgt spid="155651">
                                            <p:txEl>
                                              <p:charRg st="31" end="4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5651">
                                            <p:txEl>
                                              <p:charRg st="31" end="4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57699" name="Rectangle 3"/>
          <p:cNvSpPr>
            <a:spLocks noGrp="1"/>
          </p:cNvSpPr>
          <p:nvPr>
            <p:ph idx="1"/>
          </p:nvPr>
        </p:nvSpPr>
        <p:spPr>
          <a:xfrm>
            <a:off x="990600" y="1524000"/>
            <a:ext cx="7391400" cy="5029200"/>
          </a:xfrm>
        </p:spPr>
        <p:txBody>
          <a:bodyPr vert="horz" wrap="square" lIns="92075" tIns="46038" rIns="92075" bIns="46038" anchor="t" anchorCtr="0"/>
          <a:p>
            <a:pPr lvl="1">
              <a:spcBef>
                <a:spcPct val="0"/>
              </a:spcBef>
            </a:pPr>
            <a:r>
              <a:rPr lang="zh-CN" altLang="en-US" sz="2000" b="1" dirty="0">
                <a:ea typeface="宋体" panose="02010600030101010101" pitchFamily="2" charset="-122"/>
              </a:rPr>
              <a:t>句柄代表了最左边的由一个内部节点和它所有的下一代组成的子树</a:t>
            </a:r>
            <a:endParaRPr lang="zh-CN" altLang="en-US" sz="2000" b="1" dirty="0">
              <a:ea typeface="宋体" panose="02010600030101010101" pitchFamily="2" charset="-122"/>
            </a:endParaRPr>
          </a:p>
          <a:p>
            <a:pPr lvl="1">
              <a:spcBef>
                <a:spcPct val="0"/>
              </a:spcBef>
            </a:pPr>
            <a:r>
              <a:rPr lang="zh-CN" altLang="en-US" sz="2000" b="1" dirty="0">
                <a:ea typeface="宋体" panose="02010600030101010101" pitchFamily="2" charset="-122"/>
              </a:rPr>
              <a:t>句柄的右边符号串只含有终结符号</a:t>
            </a:r>
            <a:endParaRPr lang="zh-CN" altLang="en-US" sz="2000" b="1" dirty="0">
              <a:ea typeface="宋体" panose="02010600030101010101" pitchFamily="2" charset="-122"/>
            </a:endParaRPr>
          </a:p>
          <a:p>
            <a:pPr lvl="1"/>
            <a:endParaRPr lang="zh-CN" altLang="en-US" sz="2000" b="1" dirty="0">
              <a:ea typeface="宋体" panose="02010600030101010101" pitchFamily="2" charset="-122"/>
            </a:endParaRPr>
          </a:p>
          <a:p>
            <a:pPr lvl="1"/>
            <a:endParaRPr lang="zh-CN" altLang="en-US" sz="2000" b="1" dirty="0">
              <a:ea typeface="宋体" panose="02010600030101010101" pitchFamily="2" charset="-122"/>
            </a:endParaRPr>
          </a:p>
          <a:p>
            <a:pPr lvl="1"/>
            <a:endParaRPr lang="zh-CN" altLang="en-US" sz="2000" b="1" dirty="0">
              <a:ea typeface="宋体" panose="02010600030101010101" pitchFamily="2" charset="-122"/>
            </a:endParaRPr>
          </a:p>
          <a:p>
            <a:pPr lvl="1"/>
            <a:endParaRPr lang="zh-CN" altLang="en-US" sz="2000" b="1" dirty="0">
              <a:ea typeface="宋体" panose="02010600030101010101" pitchFamily="2" charset="-122"/>
            </a:endParaRPr>
          </a:p>
          <a:p>
            <a:pPr lvl="1"/>
            <a:endParaRPr lang="zh-CN" altLang="en-US" sz="2000" b="1" dirty="0">
              <a:ea typeface="宋体" panose="02010600030101010101" pitchFamily="2" charset="-122"/>
            </a:endParaRPr>
          </a:p>
          <a:p>
            <a:pPr lvl="1"/>
            <a:endParaRPr lang="zh-CN" altLang="en-US" sz="2000" b="1" dirty="0">
              <a:ea typeface="宋体" panose="02010600030101010101" pitchFamily="2" charset="-122"/>
            </a:endParaRPr>
          </a:p>
          <a:p>
            <a:pPr lvl="1">
              <a:spcBef>
                <a:spcPct val="0"/>
              </a:spcBef>
            </a:pPr>
            <a:r>
              <a:rPr lang="zh-CN" altLang="en-US" sz="2000" b="1" dirty="0">
                <a:ea typeface="宋体" panose="02010600030101010101" pitchFamily="2" charset="-122"/>
              </a:rPr>
              <a:t>活前缀：一个规范句型的一个前缀，如果不含句柄后的任何符号，则称它为该规范句型的一个活前缀</a:t>
            </a:r>
            <a:endParaRPr lang="en-US" altLang="zh-CN" sz="2000" b="1" dirty="0">
              <a:ea typeface="宋体" panose="02010600030101010101" pitchFamily="2" charset="-122"/>
            </a:endParaRPr>
          </a:p>
          <a:p>
            <a:pPr lvl="2">
              <a:spcBef>
                <a:spcPct val="0"/>
              </a:spcBef>
            </a:pPr>
            <a:r>
              <a:rPr lang="zh-CN" altLang="en-US" sz="1800" b="1" dirty="0">
                <a:ea typeface="宋体" panose="02010600030101010101" pitchFamily="2" charset="-122"/>
              </a:rPr>
              <a:t>活前缀不超过最右句柄的右端，因此在活前缀的右端加上一些终结符后可以使它成为右句型</a:t>
            </a:r>
            <a:endParaRPr lang="en-US" altLang="zh-CN" sz="1800" b="1" dirty="0">
              <a:ea typeface="宋体" panose="02010600030101010101" pitchFamily="2" charset="-122"/>
            </a:endParaRPr>
          </a:p>
          <a:p>
            <a:pPr lvl="2">
              <a:spcBef>
                <a:spcPct val="0"/>
              </a:spcBef>
            </a:pPr>
            <a:r>
              <a:rPr lang="zh-CN" altLang="en-US" sz="1800" b="1" dirty="0">
                <a:ea typeface="宋体" panose="02010600030101010101" pitchFamily="2" charset="-122"/>
              </a:rPr>
              <a:t>只要输入串的已扫描部分可以归约成一个活前缀，意味着所扫描的部分没有错误</a:t>
            </a:r>
            <a:endParaRPr lang="zh-CN" altLang="en-US" sz="1800" b="1" dirty="0">
              <a:ea typeface="宋体" panose="02010600030101010101" pitchFamily="2" charset="-122"/>
            </a:endParaRPr>
          </a:p>
        </p:txBody>
      </p:sp>
      <p:graphicFrame>
        <p:nvGraphicFramePr>
          <p:cNvPr id="157700" name="Object 5"/>
          <p:cNvGraphicFramePr>
            <a:graphicFrameLocks noChangeAspect="1"/>
          </p:cNvGraphicFramePr>
          <p:nvPr/>
        </p:nvGraphicFramePr>
        <p:xfrm>
          <a:off x="2895600" y="2514600"/>
          <a:ext cx="3200400" cy="2133600"/>
        </p:xfrm>
        <a:graphic>
          <a:graphicData uri="http://schemas.openxmlformats.org/presentationml/2006/ole">
            <mc:AlternateContent xmlns:mc="http://schemas.openxmlformats.org/markup-compatibility/2006">
              <mc:Choice xmlns:v="urn:schemas-microsoft-com:vml" Requires="v">
                <p:oleObj spid="_x0000_s3109" name="" r:id="rId1" imgW="2067560" imgH="2103120" progId="Visio.Drawing.4">
                  <p:embed/>
                </p:oleObj>
              </mc:Choice>
              <mc:Fallback>
                <p:oleObj name="" r:id="rId1" imgW="2067560" imgH="2103120" progId="Visio.Drawing.4">
                  <p:embed/>
                  <p:pic>
                    <p:nvPicPr>
                      <p:cNvPr id="0" name="图片 3108"/>
                      <p:cNvPicPr/>
                      <p:nvPr/>
                    </p:nvPicPr>
                    <p:blipFill>
                      <a:blip r:embed="rId2"/>
                      <a:stretch>
                        <a:fillRect/>
                      </a:stretch>
                    </p:blipFill>
                    <p:spPr>
                      <a:xfrm>
                        <a:off x="2895600" y="2514600"/>
                        <a:ext cx="3200400" cy="2133600"/>
                      </a:xfrm>
                      <a:prstGeom prst="rect">
                        <a:avLst/>
                      </a:prstGeom>
                      <a:noFill/>
                      <a:ln w="38100">
                        <a:noFill/>
                        <a:miter/>
                      </a:ln>
                    </p:spPr>
                  </p:pic>
                </p:oleObj>
              </mc:Fallback>
            </mc:AlternateContent>
          </a:graphicData>
        </a:graphic>
      </p:graphicFrame>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59747" name="Rectangle 3"/>
          <p:cNvSpPr>
            <a:spLocks noGrp="1"/>
          </p:cNvSpPr>
          <p:nvPr>
            <p:ph idx="1"/>
          </p:nvPr>
        </p:nvSpPr>
        <p:spPr>
          <a:xfrm>
            <a:off x="990600" y="1524000"/>
            <a:ext cx="7391400" cy="4800600"/>
          </a:xfrm>
        </p:spPr>
        <p:txBody>
          <a:bodyPr vert="horz" wrap="square" lIns="92075" tIns="46038" rIns="92075" bIns="46038" anchor="t" anchorCtr="0"/>
          <a:p>
            <a:pPr>
              <a:buNone/>
            </a:pPr>
            <a:r>
              <a:rPr lang="zh-CN" altLang="en-US" sz="2200" b="1" dirty="0">
                <a:ea typeface="宋体" panose="02010600030101010101" pitchFamily="2" charset="-122"/>
              </a:rPr>
              <a:t>例1：考虑表达式文法	</a:t>
            </a:r>
            <a:r>
              <a:rPr lang="en-US" altLang="zh-CN" sz="2200" b="1" dirty="0">
                <a:ea typeface="宋体" panose="02010600030101010101" pitchFamily="2" charset="-122"/>
              </a:rPr>
              <a:t>E→E+E | E*E | （E）| id</a:t>
            </a:r>
            <a:endParaRPr lang="en-US" altLang="zh-CN" sz="2200" b="1" dirty="0">
              <a:ea typeface="宋体" panose="02010600030101010101" pitchFamily="2" charset="-122"/>
            </a:endParaRPr>
          </a:p>
          <a:p>
            <a:pPr>
              <a:buNone/>
            </a:pPr>
            <a:r>
              <a:rPr lang="zh-CN" altLang="en-US" sz="2200" b="1" dirty="0">
                <a:ea typeface="宋体" panose="02010600030101010101" pitchFamily="2" charset="-122"/>
              </a:rPr>
              <a:t>对于最右推导：</a:t>
            </a:r>
            <a:endParaRPr lang="zh-CN" altLang="en-US" sz="2200" b="1" dirty="0">
              <a:ea typeface="宋体" panose="02010600030101010101" pitchFamily="2" charset="-122"/>
            </a:endParaRPr>
          </a:p>
          <a:p>
            <a:pPr>
              <a:buNone/>
            </a:pPr>
            <a:endParaRPr lang="zh-CN" altLang="en-US" sz="2200" b="1" dirty="0">
              <a:ea typeface="宋体" panose="02010600030101010101" pitchFamily="2" charset="-122"/>
            </a:endParaRPr>
          </a:p>
          <a:p>
            <a:pPr>
              <a:buNone/>
            </a:pPr>
            <a:endParaRPr lang="zh-CN" altLang="en-US" sz="2200" b="1" dirty="0">
              <a:ea typeface="宋体" panose="02010600030101010101" pitchFamily="2" charset="-122"/>
            </a:endParaRPr>
          </a:p>
          <a:p>
            <a:pPr>
              <a:buNone/>
            </a:pPr>
            <a:endParaRPr lang="zh-CN" altLang="en-US" sz="2200" b="1" dirty="0">
              <a:ea typeface="宋体" panose="02010600030101010101" pitchFamily="2" charset="-122"/>
            </a:endParaRPr>
          </a:p>
          <a:p>
            <a:pPr>
              <a:buNone/>
            </a:pPr>
            <a:endParaRPr lang="zh-CN" altLang="en-US" sz="2200" b="1" dirty="0">
              <a:ea typeface="宋体" panose="02010600030101010101" pitchFamily="2" charset="-122"/>
            </a:endParaRPr>
          </a:p>
          <a:p>
            <a:pPr>
              <a:buNone/>
            </a:pPr>
            <a:endParaRPr lang="zh-CN" altLang="en-US" sz="2200" b="1" dirty="0">
              <a:ea typeface="宋体" panose="02010600030101010101" pitchFamily="2" charset="-122"/>
            </a:endParaRPr>
          </a:p>
          <a:p>
            <a:pPr>
              <a:buNone/>
            </a:pPr>
            <a:endParaRPr lang="zh-CN" altLang="en-US" sz="2200" b="1" dirty="0">
              <a:ea typeface="宋体" panose="02010600030101010101" pitchFamily="2" charset="-122"/>
            </a:endParaRPr>
          </a:p>
          <a:p>
            <a:pPr>
              <a:buNone/>
            </a:pPr>
            <a:endParaRPr lang="zh-CN" altLang="en-US" sz="2200" b="1" dirty="0">
              <a:ea typeface="宋体" panose="02010600030101010101" pitchFamily="2" charset="-122"/>
            </a:endParaRPr>
          </a:p>
          <a:p>
            <a:pPr>
              <a:buNone/>
            </a:pPr>
            <a:r>
              <a:rPr lang="zh-CN" altLang="en-US" sz="2200" b="1" dirty="0">
                <a:ea typeface="宋体" panose="02010600030101010101" pitchFamily="2" charset="-122"/>
              </a:rPr>
              <a:t>图中画了下横线的串是该次归约中用到的句柄</a:t>
            </a:r>
            <a:endParaRPr lang="en-US" altLang="zh-CN" sz="2200" b="1" dirty="0">
              <a:ea typeface="宋体" panose="02010600030101010101" pitchFamily="2" charset="-122"/>
            </a:endParaRPr>
          </a:p>
          <a:p>
            <a:pPr>
              <a:buNone/>
            </a:pPr>
            <a:r>
              <a:rPr lang="zh-CN" altLang="en-US" sz="2200" b="1" dirty="0">
                <a:ea typeface="宋体" panose="02010600030101010101" pitchFamily="2" charset="-122"/>
              </a:rPr>
              <a:t>但这个文法是有二义性的，因此存在另一个最右推导</a:t>
            </a:r>
            <a:endParaRPr lang="zh-CN" altLang="en-US" sz="2200" b="1" dirty="0">
              <a:ea typeface="宋体" panose="02010600030101010101" pitchFamily="2" charset="-122"/>
            </a:endParaRPr>
          </a:p>
        </p:txBody>
      </p:sp>
      <p:graphicFrame>
        <p:nvGraphicFramePr>
          <p:cNvPr id="159748" name="Object 4"/>
          <p:cNvGraphicFramePr>
            <a:graphicFrameLocks noChangeAspect="1"/>
          </p:cNvGraphicFramePr>
          <p:nvPr/>
        </p:nvGraphicFramePr>
        <p:xfrm>
          <a:off x="2971800" y="1981200"/>
          <a:ext cx="1889125" cy="3114675"/>
        </p:xfrm>
        <a:graphic>
          <a:graphicData uri="http://schemas.openxmlformats.org/presentationml/2006/ole">
            <mc:AlternateContent xmlns:mc="http://schemas.openxmlformats.org/markup-compatibility/2006">
              <mc:Choice xmlns:v="urn:schemas-microsoft-com:vml" Requires="v">
                <p:oleObj spid="_x0000_s3108" name="" r:id="rId1" imgW="1143000" imgH="1866900" progId="Equation.3">
                  <p:embed/>
                </p:oleObj>
              </mc:Choice>
              <mc:Fallback>
                <p:oleObj name="" r:id="rId1" imgW="1143000" imgH="1866900" progId="Equation.3">
                  <p:embed/>
                  <p:pic>
                    <p:nvPicPr>
                      <p:cNvPr id="0" name="图片 3107"/>
                      <p:cNvPicPr/>
                      <p:nvPr/>
                    </p:nvPicPr>
                    <p:blipFill>
                      <a:blip r:embed="rId2"/>
                      <a:stretch>
                        <a:fillRect/>
                      </a:stretch>
                    </p:blipFill>
                    <p:spPr>
                      <a:xfrm>
                        <a:off x="2971800" y="1981200"/>
                        <a:ext cx="1889125" cy="3114675"/>
                      </a:xfrm>
                      <a:prstGeom prst="rect">
                        <a:avLst/>
                      </a:prstGeom>
                      <a:noFill/>
                      <a:ln w="38100">
                        <a:noFill/>
                        <a:miter/>
                      </a:ln>
                    </p:spPr>
                  </p:pic>
                </p:oleObj>
              </mc:Fallback>
            </mc:AlternateContent>
          </a:graphicData>
        </a:graphic>
      </p:graphicFrame>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61795" name="Rectangle 3"/>
          <p:cNvSpPr>
            <a:spLocks noGrp="1"/>
          </p:cNvSpPr>
          <p:nvPr>
            <p:ph idx="1"/>
          </p:nvPr>
        </p:nvSpPr>
        <p:spPr>
          <a:xfrm>
            <a:off x="990600" y="1524000"/>
            <a:ext cx="7391400" cy="4800600"/>
          </a:xfrm>
        </p:spPr>
        <p:txBody>
          <a:bodyPr vert="horz" wrap="square" lIns="92075" tIns="46038" rIns="92075" bIns="46038" anchor="t" anchorCtr="0"/>
          <a:p>
            <a:r>
              <a:rPr lang="zh-CN" altLang="en-US" sz="2200" b="1" dirty="0">
                <a:ea typeface="宋体" panose="02010600030101010101" pitchFamily="2" charset="-122"/>
              </a:rPr>
              <a:t>移入</a:t>
            </a:r>
            <a:r>
              <a:rPr lang="en-US" altLang="zh-CN" sz="2200" b="1" dirty="0">
                <a:ea typeface="宋体" panose="02010600030101010101" pitchFamily="2" charset="-122"/>
              </a:rPr>
              <a:t>-</a:t>
            </a:r>
            <a:r>
              <a:rPr lang="zh-CN" altLang="en-US" sz="2200" b="1" dirty="0">
                <a:ea typeface="宋体" panose="02010600030101010101" pitchFamily="2" charset="-122"/>
              </a:rPr>
              <a:t>归约的语法分析，也称移进</a:t>
            </a:r>
            <a:r>
              <a:rPr lang="en-US" altLang="zh-CN" sz="2200" b="1" dirty="0">
                <a:ea typeface="宋体" panose="02010600030101010101" pitchFamily="2" charset="-122"/>
              </a:rPr>
              <a:t>-</a:t>
            </a:r>
            <a:r>
              <a:rPr lang="zh-CN" altLang="en-US" sz="2200" b="1" dirty="0">
                <a:ea typeface="宋体" panose="02010600030101010101" pitchFamily="2" charset="-122"/>
              </a:rPr>
              <a:t>归约的语法分析</a:t>
            </a:r>
            <a:endParaRPr lang="zh-CN" altLang="en-US" sz="2400" b="1" dirty="0">
              <a:ea typeface="宋体" panose="02010600030101010101" pitchFamily="2" charset="-122"/>
            </a:endParaRPr>
          </a:p>
          <a:p>
            <a:pPr lvl="1">
              <a:lnSpc>
                <a:spcPct val="90000"/>
              </a:lnSpc>
            </a:pPr>
            <a:r>
              <a:rPr lang="zh-CN" altLang="en-US" sz="2000" b="1" dirty="0">
                <a:ea typeface="宋体" panose="02010600030101010101" pitchFamily="2" charset="-122"/>
              </a:rPr>
              <a:t>使用了显式栈来完成分析，栈中包括终结符号和非终结符号，以及其他的一些信息等</a:t>
            </a:r>
            <a:endParaRPr lang="zh-CN" altLang="en-US" sz="2000" b="1" dirty="0">
              <a:ea typeface="宋体" panose="02010600030101010101" pitchFamily="2" charset="-122"/>
            </a:endParaRPr>
          </a:p>
          <a:p>
            <a:pPr lvl="2">
              <a:lnSpc>
                <a:spcPct val="90000"/>
              </a:lnSpc>
              <a:spcBef>
                <a:spcPct val="0"/>
              </a:spcBef>
              <a:buNone/>
            </a:pPr>
            <a:r>
              <a:rPr lang="zh-CN" altLang="en-US" sz="1800" b="1" dirty="0">
                <a:solidFill>
                  <a:srgbClr val="FF0000"/>
                </a:solidFill>
                <a:ea typeface="宋体" panose="02010600030101010101" pitchFamily="2" charset="-122"/>
              </a:rPr>
              <a:t>栈</a:t>
            </a:r>
            <a:r>
              <a:rPr lang="en-US" altLang="zh-CN" sz="1800" b="1" dirty="0">
                <a:solidFill>
                  <a:srgbClr val="FF0000"/>
                </a:solidFill>
                <a:ea typeface="宋体" panose="02010600030101010101" pitchFamily="2" charset="-122"/>
              </a:rPr>
              <a:t>		</a:t>
            </a:r>
            <a:r>
              <a:rPr lang="zh-CN" altLang="en-US" sz="1800" b="1" dirty="0">
                <a:solidFill>
                  <a:srgbClr val="FF0000"/>
                </a:solidFill>
                <a:ea typeface="宋体" panose="02010600030101010101" pitchFamily="2" charset="-122"/>
              </a:rPr>
              <a:t>输入</a:t>
            </a:r>
            <a:endParaRPr lang="en-US" altLang="zh-CN" sz="1800" b="1" dirty="0">
              <a:solidFill>
                <a:srgbClr val="FF0000"/>
              </a:solidFill>
              <a:ea typeface="宋体" panose="02010600030101010101" pitchFamily="2" charset="-122"/>
            </a:endParaRPr>
          </a:p>
          <a:p>
            <a:pPr lvl="2">
              <a:lnSpc>
                <a:spcPct val="90000"/>
              </a:lnSpc>
              <a:spcBef>
                <a:spcPct val="0"/>
              </a:spcBef>
              <a:buNone/>
            </a:pPr>
            <a:r>
              <a:rPr lang="zh-CN" altLang="en-US" sz="1800" b="1" dirty="0">
                <a:ea typeface="宋体" panose="02010600030101010101" pitchFamily="2" charset="-122"/>
              </a:rPr>
              <a:t>$			</a:t>
            </a:r>
            <a:r>
              <a:rPr lang="en-US" altLang="zh-CN" sz="1800" b="1" dirty="0">
                <a:ea typeface="宋体" panose="02010600030101010101" pitchFamily="2" charset="-122"/>
              </a:rPr>
              <a:t>InputString$</a:t>
            </a:r>
            <a:endParaRPr lang="en-US" altLang="zh-CN" sz="1800" b="1" dirty="0">
              <a:ea typeface="宋体" panose="02010600030101010101" pitchFamily="2" charset="-122"/>
            </a:endParaRPr>
          </a:p>
          <a:p>
            <a:pPr lvl="2">
              <a:lnSpc>
                <a:spcPct val="90000"/>
              </a:lnSpc>
              <a:spcBef>
                <a:spcPct val="0"/>
              </a:spcBef>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lvl="2">
              <a:lnSpc>
                <a:spcPct val="90000"/>
              </a:lnSpc>
              <a:spcBef>
                <a:spcPct val="0"/>
              </a:spcBef>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lvl="2">
              <a:lnSpc>
                <a:spcPct val="90000"/>
              </a:lnSpc>
              <a:spcBef>
                <a:spcPct val="0"/>
              </a:spcBef>
              <a:buNone/>
            </a:pPr>
            <a:r>
              <a:rPr lang="en-US" altLang="zh-CN" sz="1800" b="1" dirty="0">
                <a:ea typeface="宋体" panose="02010600030101010101" pitchFamily="2" charset="-122"/>
              </a:rPr>
              <a:t>$StartSymbol		$	</a:t>
            </a:r>
            <a:r>
              <a:rPr lang="zh-CN" altLang="en-US" sz="1800" b="1" dirty="0">
                <a:ea typeface="宋体" panose="02010600030101010101" pitchFamily="2" charset="-122"/>
              </a:rPr>
              <a:t>接受</a:t>
            </a:r>
            <a:endParaRPr lang="zh-CN" altLang="en-US" sz="1800" b="1" dirty="0">
              <a:ea typeface="宋体" panose="02010600030101010101" pitchFamily="2" charset="-122"/>
            </a:endParaRPr>
          </a:p>
          <a:p>
            <a:pPr lvl="1">
              <a:lnSpc>
                <a:spcPct val="90000"/>
              </a:lnSpc>
            </a:pPr>
            <a:r>
              <a:rPr lang="zh-CN" altLang="en-US" sz="2000" b="1" dirty="0">
                <a:ea typeface="宋体" panose="02010600030101010101" pitchFamily="2" charset="-122"/>
              </a:rPr>
              <a:t>分析器根据当前栈中的符号以及向前看的分析来决定分析器的动作：</a:t>
            </a:r>
            <a:endParaRPr lang="en-US" altLang="zh-CN" sz="2000" b="1" dirty="0">
              <a:ea typeface="宋体" panose="02010600030101010101" pitchFamily="2" charset="-122"/>
            </a:endParaRPr>
          </a:p>
          <a:p>
            <a:pPr lvl="2">
              <a:lnSpc>
                <a:spcPct val="90000"/>
              </a:lnSpc>
              <a:buNone/>
            </a:pPr>
            <a:r>
              <a:rPr lang="zh-CN" altLang="en-US" sz="1800" b="1" dirty="0">
                <a:ea typeface="宋体" panose="02010600030101010101" pitchFamily="2" charset="-122"/>
              </a:rPr>
              <a:t>（1）移进：将下一个输入符号移进栈顶</a:t>
            </a:r>
            <a:endParaRPr lang="zh-CN" altLang="en-US" sz="1800" b="1" dirty="0">
              <a:ea typeface="宋体" panose="02010600030101010101" pitchFamily="2" charset="-122"/>
            </a:endParaRPr>
          </a:p>
          <a:p>
            <a:pPr lvl="2">
              <a:lnSpc>
                <a:spcPct val="90000"/>
              </a:lnSpc>
              <a:buNone/>
            </a:pPr>
            <a:r>
              <a:rPr lang="zh-CN" altLang="en-US" sz="1800" b="1" dirty="0">
                <a:ea typeface="宋体" panose="02010600030101010101" pitchFamily="2" charset="-122"/>
              </a:rPr>
              <a:t>（2）归约：句柄位于栈顶，必须在栈中确定完整的句柄，并决定用哪个产生式归约</a:t>
            </a:r>
            <a:endParaRPr lang="zh-CN" altLang="en-US" sz="1800" b="1" dirty="0">
              <a:ea typeface="宋体" panose="02010600030101010101" pitchFamily="2" charset="-122"/>
            </a:endParaRPr>
          </a:p>
          <a:p>
            <a:pPr lvl="2">
              <a:lnSpc>
                <a:spcPct val="90000"/>
              </a:lnSpc>
              <a:buNone/>
            </a:pPr>
            <a:r>
              <a:rPr lang="zh-CN" altLang="en-US" sz="1800" b="1" dirty="0">
                <a:ea typeface="宋体" panose="02010600030101010101" pitchFamily="2" charset="-122"/>
              </a:rPr>
              <a:t>（3）接受：分析成功</a:t>
            </a:r>
            <a:endParaRPr lang="zh-CN" altLang="en-US" sz="1800" b="1" dirty="0">
              <a:ea typeface="宋体" panose="02010600030101010101" pitchFamily="2" charset="-122"/>
            </a:endParaRPr>
          </a:p>
          <a:p>
            <a:pPr lvl="2">
              <a:lnSpc>
                <a:spcPct val="90000"/>
              </a:lnSpc>
              <a:buNone/>
            </a:pPr>
            <a:r>
              <a:rPr lang="zh-CN" altLang="en-US" sz="1800" b="1" dirty="0">
                <a:ea typeface="宋体" panose="02010600030101010101" pitchFamily="2" charset="-122"/>
              </a:rPr>
              <a:t>（4）出错：报告错误，调用错误恢复例程</a:t>
            </a:r>
            <a:endParaRPr lang="zh-CN" altLang="en-US" sz="1800" b="1" dirty="0">
              <a:ea typeface="宋体" panose="02010600030101010101" pitchFamily="2" charset="-122"/>
            </a:endParaRPr>
          </a:p>
          <a:p>
            <a:pPr lvl="1">
              <a:lnSpc>
                <a:spcPct val="90000"/>
              </a:lnSpc>
            </a:pPr>
            <a:r>
              <a:rPr lang="zh-CN" altLang="en-US" sz="2000" b="1" dirty="0">
                <a:ea typeface="宋体" panose="02010600030101010101" pitchFamily="2" charset="-122"/>
              </a:rPr>
              <a:t>要对文法进行扩展</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包括算符优先分析、</a:t>
            </a:r>
            <a:r>
              <a:rPr lang="en-US" altLang="zh-CN" sz="2000" b="1" dirty="0">
                <a:ea typeface="宋体" panose="02010600030101010101" pitchFamily="2" charset="-122"/>
              </a:rPr>
              <a:t>LR</a:t>
            </a:r>
            <a:r>
              <a:rPr lang="zh-CN" altLang="en-US" sz="2000" b="1" dirty="0">
                <a:ea typeface="宋体" panose="02010600030101010101" pitchFamily="2" charset="-122"/>
              </a:rPr>
              <a:t>分析</a:t>
            </a:r>
            <a:endParaRPr lang="zh-CN" altLang="en-US" sz="2000" b="1" dirty="0">
              <a:ea typeface="宋体" panose="02010600030101010101" pitchFamily="2" charset="-122"/>
            </a:endParaRP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63843" name="Rectangle 3"/>
          <p:cNvSpPr>
            <a:spLocks noGrp="1"/>
          </p:cNvSpPr>
          <p:nvPr>
            <p:ph idx="1"/>
          </p:nvPr>
        </p:nvSpPr>
        <p:spPr>
          <a:xfrm>
            <a:off x="990600" y="1524000"/>
            <a:ext cx="7391400" cy="4800600"/>
          </a:xfrm>
        </p:spPr>
        <p:txBody>
          <a:bodyPr vert="horz" wrap="square" lIns="92075" tIns="46038" rIns="92075" bIns="46038" anchor="t" anchorCtr="0"/>
          <a:p>
            <a:pPr>
              <a:lnSpc>
                <a:spcPct val="90000"/>
              </a:lnSpc>
            </a:pPr>
            <a:r>
              <a:rPr lang="zh-CN" altLang="en-US" b="1" dirty="0">
                <a:ea typeface="宋体" panose="02010600030101010101" pitchFamily="2" charset="-122"/>
              </a:rPr>
              <a:t>移进-归约分析的实现</a:t>
            </a:r>
            <a:endParaRPr lang="zh-CN" altLang="en-US" b="1" dirty="0">
              <a:ea typeface="宋体" panose="02010600030101010101" pitchFamily="2" charset="-122"/>
            </a:endParaRPr>
          </a:p>
          <a:p>
            <a:pPr lvl="1">
              <a:lnSpc>
                <a:spcPct val="90000"/>
              </a:lnSpc>
            </a:pPr>
            <a:r>
              <a:rPr lang="zh-CN" altLang="en-US" b="1" dirty="0">
                <a:ea typeface="宋体" panose="02010600030101010101" pitchFamily="2" charset="-122"/>
              </a:rPr>
              <a:t>句柄的选择：</a:t>
            </a:r>
            <a:endParaRPr lang="zh-CN" altLang="en-US" b="1" dirty="0">
              <a:ea typeface="宋体" panose="02010600030101010101" pitchFamily="2" charset="-122"/>
            </a:endParaRPr>
          </a:p>
          <a:p>
            <a:pPr lvl="2">
              <a:lnSpc>
                <a:spcPct val="90000"/>
              </a:lnSpc>
            </a:pPr>
            <a:r>
              <a:rPr lang="zh-CN" altLang="en-US" b="1" dirty="0">
                <a:ea typeface="宋体" panose="02010600030101010101" pitchFamily="2" charset="-122"/>
              </a:rPr>
              <a:t>如何决定右句型中要归约的子串</a:t>
            </a:r>
            <a:endParaRPr lang="zh-CN" altLang="en-US" b="1" dirty="0">
              <a:ea typeface="宋体" panose="02010600030101010101" pitchFamily="2" charset="-122"/>
            </a:endParaRPr>
          </a:p>
          <a:p>
            <a:pPr lvl="2">
              <a:lnSpc>
                <a:spcPct val="90000"/>
              </a:lnSpc>
            </a:pPr>
            <a:r>
              <a:rPr lang="zh-CN" altLang="en-US" b="1" dirty="0">
                <a:ea typeface="宋体" panose="02010600030101010101" pitchFamily="2" charset="-122"/>
              </a:rPr>
              <a:t>当一个要归约的子串是多个产生式的右部时，如何确定选择哪个产生式</a:t>
            </a:r>
            <a:endParaRPr lang="zh-CN" altLang="en-US" b="1" dirty="0">
              <a:ea typeface="宋体" panose="02010600030101010101" pitchFamily="2" charset="-122"/>
            </a:endParaRP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29027" name="Rectangle 3"/>
          <p:cNvSpPr>
            <a:spLocks noGrp="1" noChangeArrowheads="1"/>
          </p:cNvSpPr>
          <p:nvPr>
            <p:ph idx="1"/>
          </p:nvPr>
        </p:nvSpPr>
        <p:spPr>
          <a:xfrm>
            <a:off x="990600" y="1524000"/>
            <a:ext cx="7391400" cy="48006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移进</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归约分析框架中“句柄”的性质</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句柄总是出现在栈的顶端，绝不会出现在栈的中间</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下图给出了最右推导中两个连续步骤可能具有的形式</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中，</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被替换为</a:t>
            </a:r>
            <a:r>
              <a:rPr kumimoji="0" lang="el-GR"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By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（应用了产生式</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l-GR"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By</a:t>
            </a:r>
            <a:r>
              <a:rPr kumimoji="0" lang="el-GR"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），然后符号串</a:t>
            </a:r>
            <a:r>
              <a:rPr kumimoji="0" lang="el-GR"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By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中最右非终结符号</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被替换为</a:t>
            </a:r>
            <a:r>
              <a:rPr kumimoji="0" lang="el-GR" altLang="zh-CN" sz="2000" b="1" i="1" u="none" strike="noStrike" kern="0" cap="none" spc="0" normalizeH="0" baseline="0" noProof="0" dirty="0">
                <a:ln>
                  <a:noFill/>
                </a:ln>
                <a:solidFill>
                  <a:srgbClr val="000000"/>
                </a:solidFill>
                <a:effectLst/>
                <a:uLnTx/>
                <a:uFillTx/>
                <a:latin typeface="+mn-lt"/>
                <a:ea typeface="宋体" panose="02010600030101010101" pitchFamily="2" charset="-122"/>
                <a:cs typeface="+mn-cs"/>
              </a:rPr>
              <a:t>γ</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中，</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仍然首先被展开，但这次使用产生式</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的右部</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只包含终结符号，下一个最右非终结符</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好将位于</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左侧的某个地方</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165892" name="Picture 2"/>
          <p:cNvPicPr>
            <a:picLocks noChangeAspect="1"/>
          </p:cNvPicPr>
          <p:nvPr/>
        </p:nvPicPr>
        <p:blipFill>
          <a:blip r:embed="rId1"/>
          <a:stretch>
            <a:fillRect/>
          </a:stretch>
        </p:blipFill>
        <p:spPr>
          <a:xfrm>
            <a:off x="179388" y="2636838"/>
            <a:ext cx="8815387" cy="1944687"/>
          </a:xfrm>
          <a:prstGeom prst="rect">
            <a:avLst/>
          </a:prstGeom>
          <a:noFill/>
          <a:ln w="9525">
            <a:noFill/>
          </a:ln>
        </p:spPr>
      </p:pic>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67939" name="Rectangle 3"/>
          <p:cNvSpPr>
            <a:spLocks noGrp="1"/>
          </p:cNvSpPr>
          <p:nvPr>
            <p:ph idx="1"/>
          </p:nvPr>
        </p:nvSpPr>
        <p:spPr>
          <a:xfrm>
            <a:off x="990600" y="1371600"/>
            <a:ext cx="7391400" cy="4953000"/>
          </a:xfrm>
        </p:spPr>
        <p:txBody>
          <a:bodyPr vert="horz" wrap="square" lIns="92075" tIns="46038" rIns="92075" bIns="46038" anchor="t" anchorCtr="0"/>
          <a:p>
            <a:r>
              <a:rPr lang="zh-CN" altLang="en-US" sz="2400" b="1" dirty="0">
                <a:ea typeface="宋体" panose="02010600030101010101" pitchFamily="2" charset="-122"/>
              </a:rPr>
              <a:t>移进</a:t>
            </a:r>
            <a:r>
              <a:rPr lang="en-US" altLang="zh-CN" sz="2400" b="1" dirty="0">
                <a:ea typeface="宋体" panose="02010600030101010101" pitchFamily="2" charset="-122"/>
              </a:rPr>
              <a:t>-</a:t>
            </a:r>
            <a:r>
              <a:rPr lang="zh-CN" altLang="en-US" sz="2400" b="1" dirty="0">
                <a:ea typeface="宋体" panose="02010600030101010101" pitchFamily="2" charset="-122"/>
              </a:rPr>
              <a:t>归约分析框架中“句柄”的性质</a:t>
            </a:r>
            <a:r>
              <a:rPr lang="en-US" altLang="zh-CN" sz="2400" b="1" dirty="0">
                <a:ea typeface="宋体" panose="02010600030101010101" pitchFamily="2" charset="-122"/>
              </a:rPr>
              <a:t>(</a:t>
            </a:r>
            <a:r>
              <a:rPr lang="zh-CN" altLang="en-US" sz="2400" b="1" dirty="0">
                <a:ea typeface="宋体" panose="02010600030101010101" pitchFamily="2" charset="-122"/>
              </a:rPr>
              <a:t>续</a:t>
            </a:r>
            <a:r>
              <a:rPr lang="en-US" altLang="zh-CN" sz="2400" b="1" dirty="0">
                <a:ea typeface="宋体" panose="02010600030101010101" pitchFamily="2" charset="-122"/>
              </a:rPr>
              <a:t>)</a:t>
            </a:r>
            <a:endParaRPr lang="zh-CN" altLang="en-US" sz="2400" b="1" dirty="0">
              <a:ea typeface="宋体" panose="02010600030101010101" pitchFamily="2" charset="-122"/>
            </a:endParaRPr>
          </a:p>
          <a:p>
            <a:pPr lvl="1">
              <a:lnSpc>
                <a:spcPct val="90000"/>
              </a:lnSpc>
            </a:pPr>
            <a:r>
              <a:rPr lang="zh-CN" altLang="en-US" sz="2000" b="1" dirty="0">
                <a:ea typeface="宋体" panose="02010600030101010101" pitchFamily="2" charset="-122"/>
              </a:rPr>
              <a:t>上述两种情形对应的最右推导序列如下图所示</a:t>
            </a: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考虑</a:t>
            </a:r>
            <a:r>
              <a:rPr lang="en-US" altLang="zh-CN" sz="2000" b="1" dirty="0">
                <a:ea typeface="宋体" panose="02010600030101010101" pitchFamily="2" charset="-122"/>
              </a:rPr>
              <a:t>1)</a:t>
            </a:r>
            <a:r>
              <a:rPr lang="zh-CN" altLang="en-US" sz="2000" b="1" dirty="0">
                <a:ea typeface="宋体" panose="02010600030101010101" pitchFamily="2" charset="-122"/>
              </a:rPr>
              <a:t>的情况，存在如下移进</a:t>
            </a:r>
            <a:r>
              <a:rPr lang="en-US" altLang="zh-CN" sz="2000" b="1" dirty="0">
                <a:ea typeface="宋体" panose="02010600030101010101" pitchFamily="2" charset="-122"/>
              </a:rPr>
              <a:t>-</a:t>
            </a:r>
            <a:r>
              <a:rPr lang="zh-CN" altLang="en-US" sz="2000" b="1" dirty="0">
                <a:ea typeface="宋体" panose="02010600030101010101" pitchFamily="2" charset="-122"/>
              </a:rPr>
              <a:t>归约分析器的格局</a:t>
            </a:r>
            <a:endParaRPr lang="en-US" altLang="zh-CN" sz="2000" b="1" dirty="0">
              <a:ea typeface="宋体" panose="02010600030101010101" pitchFamily="2" charset="-122"/>
            </a:endParaRPr>
          </a:p>
          <a:p>
            <a:pPr lvl="3">
              <a:lnSpc>
                <a:spcPct val="90000"/>
              </a:lnSpc>
              <a:spcBef>
                <a:spcPct val="0"/>
              </a:spcBef>
              <a:buNone/>
            </a:pPr>
            <a:r>
              <a:rPr lang="zh-CN" altLang="en-US" sz="1800" b="1" dirty="0">
                <a:ea typeface="宋体" panose="02010600030101010101" pitchFamily="2" charset="-122"/>
              </a:rPr>
              <a:t>栈</a:t>
            </a:r>
            <a:r>
              <a:rPr lang="en-US" altLang="zh-CN" sz="1800" b="1" dirty="0">
                <a:ea typeface="宋体" panose="02010600030101010101" pitchFamily="2" charset="-122"/>
              </a:rPr>
              <a:t>		</a:t>
            </a:r>
            <a:r>
              <a:rPr lang="zh-CN" altLang="en-US" sz="1800" b="1" dirty="0">
                <a:ea typeface="宋体" panose="02010600030101010101" pitchFamily="2" charset="-122"/>
              </a:rPr>
              <a:t>输入</a:t>
            </a:r>
            <a:endParaRPr lang="en-US" altLang="zh-CN" sz="1800" b="1" dirty="0">
              <a:ea typeface="宋体" panose="02010600030101010101" pitchFamily="2" charset="-122"/>
            </a:endParaRPr>
          </a:p>
          <a:p>
            <a:pPr lvl="3">
              <a:lnSpc>
                <a:spcPct val="90000"/>
              </a:lnSpc>
              <a:spcBef>
                <a:spcPct val="0"/>
              </a:spcBef>
              <a:buNone/>
            </a:pPr>
            <a:r>
              <a:rPr lang="zh-CN" altLang="en-US" sz="1800" b="1" dirty="0">
                <a:ea typeface="宋体" panose="02010600030101010101" pitchFamily="2" charset="-122"/>
              </a:rPr>
              <a:t>$</a:t>
            </a:r>
            <a:r>
              <a:rPr lang="el-GR" altLang="zh-CN" sz="1800" b="1" i="1" dirty="0">
                <a:ea typeface="宋体" panose="02010600030101010101" pitchFamily="2" charset="-122"/>
              </a:rPr>
              <a:t>αβγ</a:t>
            </a:r>
            <a:r>
              <a:rPr lang="zh-CN" altLang="en-US" sz="1800" b="1" dirty="0">
                <a:ea typeface="宋体" panose="02010600030101010101" pitchFamily="2" charset="-122"/>
              </a:rPr>
              <a:t>		</a:t>
            </a:r>
            <a:r>
              <a:rPr lang="en-US" altLang="zh-CN" sz="1800" b="1" i="1" dirty="0">
                <a:ea typeface="宋体" panose="02010600030101010101" pitchFamily="2" charset="-122"/>
              </a:rPr>
              <a:t>yz</a:t>
            </a:r>
            <a:r>
              <a:rPr lang="en-US" altLang="zh-CN" sz="1800" b="1" dirty="0">
                <a:ea typeface="宋体" panose="02010600030101010101" pitchFamily="2" charset="-122"/>
              </a:rPr>
              <a:t>$</a:t>
            </a:r>
            <a:endParaRPr lang="en-US" altLang="zh-CN" sz="1800" b="1" dirty="0">
              <a:ea typeface="宋体" panose="02010600030101010101" pitchFamily="2" charset="-122"/>
            </a:endParaRPr>
          </a:p>
          <a:p>
            <a:pPr lvl="2">
              <a:lnSpc>
                <a:spcPct val="90000"/>
              </a:lnSpc>
              <a:spcBef>
                <a:spcPct val="0"/>
              </a:spcBef>
              <a:buNone/>
            </a:pPr>
            <a:r>
              <a:rPr lang="zh-CN" altLang="en-US" sz="2000" b="1" dirty="0">
                <a:ea typeface="宋体" panose="02010600030101010101" pitchFamily="2" charset="-122"/>
              </a:rPr>
              <a:t>语法分析器将</a:t>
            </a:r>
            <a:r>
              <a:rPr lang="el-GR" altLang="zh-CN" sz="2000" b="1" i="1" dirty="0">
                <a:ea typeface="宋体" panose="02010600030101010101" pitchFamily="2" charset="-122"/>
              </a:rPr>
              <a:t>γ</a:t>
            </a:r>
            <a:r>
              <a:rPr lang="zh-CN" altLang="en-US" sz="2000" b="1" dirty="0">
                <a:ea typeface="宋体" panose="02010600030101010101" pitchFamily="2" charset="-122"/>
              </a:rPr>
              <a:t>归约为</a:t>
            </a:r>
            <a:r>
              <a:rPr lang="en-US" altLang="zh-CN" sz="2000" b="1" i="1" dirty="0">
                <a:ea typeface="宋体" panose="02010600030101010101" pitchFamily="2" charset="-122"/>
              </a:rPr>
              <a:t>B</a:t>
            </a:r>
            <a:r>
              <a:rPr lang="zh-CN" altLang="en-US" sz="2000" b="1" dirty="0">
                <a:ea typeface="宋体" panose="02010600030101010101" pitchFamily="2" charset="-122"/>
              </a:rPr>
              <a:t>，从而达到如下格局：</a:t>
            </a:r>
            <a:endParaRPr lang="en-US" altLang="zh-CN" sz="2000" b="1" dirty="0">
              <a:ea typeface="宋体" panose="02010600030101010101" pitchFamily="2" charset="-122"/>
            </a:endParaRPr>
          </a:p>
          <a:p>
            <a:pPr lvl="3">
              <a:lnSpc>
                <a:spcPct val="90000"/>
              </a:lnSpc>
              <a:spcBef>
                <a:spcPct val="0"/>
              </a:spcBef>
              <a:buNone/>
            </a:pPr>
            <a:r>
              <a:rPr lang="zh-CN" altLang="en-US" sz="1800" b="1" dirty="0">
                <a:ea typeface="宋体" panose="02010600030101010101" pitchFamily="2" charset="-122"/>
              </a:rPr>
              <a:t>栈</a:t>
            </a:r>
            <a:r>
              <a:rPr lang="en-US" altLang="zh-CN" sz="1800" b="1" dirty="0">
                <a:ea typeface="宋体" panose="02010600030101010101" pitchFamily="2" charset="-122"/>
              </a:rPr>
              <a:t>		</a:t>
            </a:r>
            <a:r>
              <a:rPr lang="zh-CN" altLang="en-US" sz="1800" b="1" dirty="0">
                <a:ea typeface="宋体" panose="02010600030101010101" pitchFamily="2" charset="-122"/>
              </a:rPr>
              <a:t>输入</a:t>
            </a:r>
            <a:endParaRPr lang="en-US" altLang="zh-CN" sz="1800" b="1" dirty="0">
              <a:ea typeface="宋体" panose="02010600030101010101" pitchFamily="2" charset="-122"/>
            </a:endParaRPr>
          </a:p>
          <a:p>
            <a:pPr lvl="3">
              <a:lnSpc>
                <a:spcPct val="90000"/>
              </a:lnSpc>
              <a:spcBef>
                <a:spcPct val="0"/>
              </a:spcBef>
              <a:buNone/>
            </a:pPr>
            <a:r>
              <a:rPr lang="zh-CN" altLang="en-US" sz="1800" b="1" dirty="0">
                <a:ea typeface="宋体" panose="02010600030101010101" pitchFamily="2" charset="-122"/>
              </a:rPr>
              <a:t>$</a:t>
            </a:r>
            <a:r>
              <a:rPr lang="el-GR" altLang="zh-CN" sz="1800" b="1" i="1" dirty="0">
                <a:ea typeface="宋体" panose="02010600030101010101" pitchFamily="2" charset="-122"/>
              </a:rPr>
              <a:t>αβ</a:t>
            </a:r>
            <a:r>
              <a:rPr lang="en-US" altLang="zh-CN" sz="1800" b="1" i="1" dirty="0">
                <a:ea typeface="宋体" panose="02010600030101010101" pitchFamily="2" charset="-122"/>
              </a:rPr>
              <a:t>B</a:t>
            </a:r>
            <a:r>
              <a:rPr lang="zh-CN" altLang="en-US" sz="1800" b="1" dirty="0">
                <a:ea typeface="宋体" panose="02010600030101010101" pitchFamily="2" charset="-122"/>
              </a:rPr>
              <a:t>	</a:t>
            </a:r>
            <a:r>
              <a:rPr lang="en-US" altLang="zh-CN" sz="1800" b="1" i="1" dirty="0">
                <a:ea typeface="宋体" panose="02010600030101010101" pitchFamily="2" charset="-122"/>
              </a:rPr>
              <a:t>yz</a:t>
            </a:r>
            <a:r>
              <a:rPr lang="en-US" altLang="zh-CN" sz="1800" b="1" dirty="0">
                <a:ea typeface="宋体" panose="02010600030101010101" pitchFamily="2" charset="-122"/>
              </a:rPr>
              <a:t>$</a:t>
            </a:r>
            <a:endParaRPr lang="en-US" altLang="zh-CN" sz="1800" b="1" dirty="0">
              <a:ea typeface="宋体" panose="02010600030101010101" pitchFamily="2" charset="-122"/>
            </a:endParaRPr>
          </a:p>
          <a:p>
            <a:pPr lvl="2">
              <a:lnSpc>
                <a:spcPct val="90000"/>
              </a:lnSpc>
              <a:spcBef>
                <a:spcPct val="0"/>
              </a:spcBef>
              <a:buNone/>
            </a:pPr>
            <a:r>
              <a:rPr lang="zh-CN" altLang="en-US" sz="2000" b="1" dirty="0">
                <a:ea typeface="宋体" panose="02010600030101010101" pitchFamily="2" charset="-122"/>
              </a:rPr>
              <a:t>语法分析器通过</a:t>
            </a:r>
            <a:r>
              <a:rPr lang="en-US" altLang="zh-CN" sz="2000" b="1" dirty="0">
                <a:ea typeface="宋体" panose="02010600030101010101" pitchFamily="2" charset="-122"/>
              </a:rPr>
              <a:t>0</a:t>
            </a:r>
            <a:r>
              <a:rPr lang="zh-CN" altLang="en-US" sz="2000" b="1" dirty="0">
                <a:ea typeface="宋体" panose="02010600030101010101" pitchFamily="2" charset="-122"/>
              </a:rPr>
              <a:t>次或多次移进动作，将串</a:t>
            </a:r>
            <a:r>
              <a:rPr lang="en-US" altLang="zh-CN" sz="2000" b="1" i="1" dirty="0">
                <a:ea typeface="宋体" panose="02010600030101010101" pitchFamily="2" charset="-122"/>
              </a:rPr>
              <a:t>y</a:t>
            </a:r>
            <a:r>
              <a:rPr lang="zh-CN" altLang="en-US" sz="2000" b="1" dirty="0">
                <a:ea typeface="宋体" panose="02010600030101010101" pitchFamily="2" charset="-122"/>
              </a:rPr>
              <a:t>移入栈的上方，得到如下各句：</a:t>
            </a:r>
            <a:endParaRPr lang="en-US" altLang="zh-CN" sz="2000" b="1" dirty="0">
              <a:ea typeface="宋体" panose="02010600030101010101" pitchFamily="2" charset="-122"/>
            </a:endParaRPr>
          </a:p>
          <a:p>
            <a:pPr lvl="3">
              <a:lnSpc>
                <a:spcPct val="90000"/>
              </a:lnSpc>
              <a:spcBef>
                <a:spcPct val="0"/>
              </a:spcBef>
              <a:buNone/>
            </a:pPr>
            <a:r>
              <a:rPr lang="zh-CN" altLang="en-US" sz="1800" b="1" dirty="0">
                <a:ea typeface="宋体" panose="02010600030101010101" pitchFamily="2" charset="-122"/>
              </a:rPr>
              <a:t>栈</a:t>
            </a:r>
            <a:r>
              <a:rPr lang="en-US" altLang="zh-CN" sz="1800" b="1" dirty="0">
                <a:ea typeface="宋体" panose="02010600030101010101" pitchFamily="2" charset="-122"/>
              </a:rPr>
              <a:t>		</a:t>
            </a:r>
            <a:r>
              <a:rPr lang="zh-CN" altLang="en-US" sz="1800" b="1" dirty="0">
                <a:ea typeface="宋体" panose="02010600030101010101" pitchFamily="2" charset="-122"/>
              </a:rPr>
              <a:t>输入</a:t>
            </a:r>
            <a:endParaRPr lang="en-US" altLang="zh-CN" sz="1800" b="1" dirty="0">
              <a:ea typeface="宋体" panose="02010600030101010101" pitchFamily="2" charset="-122"/>
            </a:endParaRPr>
          </a:p>
          <a:p>
            <a:pPr lvl="3">
              <a:lnSpc>
                <a:spcPct val="90000"/>
              </a:lnSpc>
              <a:spcBef>
                <a:spcPct val="0"/>
              </a:spcBef>
              <a:buNone/>
            </a:pPr>
            <a:r>
              <a:rPr lang="zh-CN" altLang="en-US" sz="1800" b="1" dirty="0">
                <a:ea typeface="宋体" panose="02010600030101010101" pitchFamily="2" charset="-122"/>
              </a:rPr>
              <a:t>$</a:t>
            </a:r>
            <a:r>
              <a:rPr lang="el-GR" altLang="zh-CN" sz="1800" b="1" i="1" dirty="0">
                <a:ea typeface="宋体" panose="02010600030101010101" pitchFamily="2" charset="-122"/>
              </a:rPr>
              <a:t>αβ</a:t>
            </a:r>
            <a:r>
              <a:rPr lang="en-US" altLang="zh-CN" sz="1800" b="1" i="1" dirty="0">
                <a:ea typeface="宋体" panose="02010600030101010101" pitchFamily="2" charset="-122"/>
              </a:rPr>
              <a:t>By</a:t>
            </a:r>
            <a:r>
              <a:rPr lang="zh-CN" altLang="en-US" sz="1800" b="1" dirty="0">
                <a:ea typeface="宋体" panose="02010600030101010101" pitchFamily="2" charset="-122"/>
              </a:rPr>
              <a:t>	</a:t>
            </a:r>
            <a:r>
              <a:rPr lang="en-US" altLang="zh-CN" sz="1800" b="1" i="1" dirty="0">
                <a:ea typeface="宋体" panose="02010600030101010101" pitchFamily="2" charset="-122"/>
              </a:rPr>
              <a:t>z</a:t>
            </a:r>
            <a:r>
              <a:rPr lang="en-US" altLang="zh-CN" sz="1800" b="1" dirty="0">
                <a:ea typeface="宋体" panose="02010600030101010101" pitchFamily="2" charset="-122"/>
              </a:rPr>
              <a:t>$</a:t>
            </a:r>
            <a:endParaRPr lang="en-US" altLang="zh-CN" sz="1800" b="1" dirty="0">
              <a:ea typeface="宋体" panose="02010600030101010101" pitchFamily="2" charset="-122"/>
            </a:endParaRPr>
          </a:p>
          <a:p>
            <a:pPr lvl="2">
              <a:lnSpc>
                <a:spcPct val="90000"/>
              </a:lnSpc>
              <a:spcBef>
                <a:spcPct val="0"/>
              </a:spcBef>
              <a:buNone/>
            </a:pPr>
            <a:r>
              <a:rPr lang="zh-CN" altLang="en-US" sz="2000" b="1" dirty="0">
                <a:ea typeface="宋体" panose="02010600030101010101" pitchFamily="2" charset="-122"/>
              </a:rPr>
              <a:t>此时，句柄</a:t>
            </a:r>
            <a:r>
              <a:rPr lang="el-GR" altLang="zh-CN" sz="2000" b="1" i="1" dirty="0">
                <a:ea typeface="宋体" panose="02010600030101010101" pitchFamily="2" charset="-122"/>
              </a:rPr>
              <a:t>β</a:t>
            </a:r>
            <a:r>
              <a:rPr lang="en-US" altLang="zh-CN" sz="2000" b="1" i="1" dirty="0">
                <a:ea typeface="宋体" panose="02010600030101010101" pitchFamily="2" charset="-122"/>
              </a:rPr>
              <a:t>By</a:t>
            </a:r>
            <a:r>
              <a:rPr lang="zh-CN" altLang="en-US" sz="2000" b="1" dirty="0">
                <a:ea typeface="宋体" panose="02010600030101010101" pitchFamily="2" charset="-122"/>
              </a:rPr>
              <a:t>在栈顶，将被归约为</a:t>
            </a:r>
            <a:r>
              <a:rPr lang="en-US" altLang="zh-CN" sz="2000" b="1" i="1" dirty="0">
                <a:ea typeface="宋体" panose="02010600030101010101" pitchFamily="2" charset="-122"/>
              </a:rPr>
              <a:t>A</a:t>
            </a:r>
            <a:endParaRPr lang="en-US" altLang="zh-CN" sz="2000" b="1" i="1" dirty="0">
              <a:ea typeface="宋体" panose="02010600030101010101" pitchFamily="2" charset="-122"/>
            </a:endParaRPr>
          </a:p>
          <a:p>
            <a:pPr lvl="2">
              <a:lnSpc>
                <a:spcPct val="90000"/>
              </a:lnSpc>
              <a:spcBef>
                <a:spcPct val="0"/>
              </a:spcBef>
              <a:buNone/>
            </a:pPr>
            <a:endParaRPr lang="en-US" altLang="zh-CN" sz="1800" b="1" dirty="0">
              <a:ea typeface="宋体" panose="02010600030101010101" pitchFamily="2" charset="-122"/>
            </a:endParaRPr>
          </a:p>
          <a:p>
            <a:pPr lvl="1">
              <a:lnSpc>
                <a:spcPct val="90000"/>
              </a:lnSpc>
              <a:spcBef>
                <a:spcPct val="0"/>
              </a:spcBef>
              <a:buNone/>
            </a:pP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p:txBody>
      </p:sp>
      <p:graphicFrame>
        <p:nvGraphicFramePr>
          <p:cNvPr id="167940" name="Object 4"/>
          <p:cNvGraphicFramePr>
            <a:graphicFrameLocks noChangeAspect="1"/>
          </p:cNvGraphicFramePr>
          <p:nvPr/>
        </p:nvGraphicFramePr>
        <p:xfrm>
          <a:off x="2422525" y="2060575"/>
          <a:ext cx="3549650" cy="1081088"/>
        </p:xfrm>
        <a:graphic>
          <a:graphicData uri="http://schemas.openxmlformats.org/presentationml/2006/ole">
            <mc:AlternateContent xmlns:mc="http://schemas.openxmlformats.org/markup-compatibility/2006">
              <mc:Choice xmlns:v="urn:schemas-microsoft-com:vml" Requires="v">
                <p:oleObj spid="_x0000_s3111" name="" r:id="rId1" imgW="2146300" imgH="787400" progId="Equation.3">
                  <p:embed/>
                </p:oleObj>
              </mc:Choice>
              <mc:Fallback>
                <p:oleObj name="" r:id="rId1" imgW="2146300" imgH="787400" progId="Equation.3">
                  <p:embed/>
                  <p:pic>
                    <p:nvPicPr>
                      <p:cNvPr id="0" name="图片 3110"/>
                      <p:cNvPicPr/>
                      <p:nvPr/>
                    </p:nvPicPr>
                    <p:blipFill>
                      <a:blip r:embed="rId2"/>
                      <a:stretch>
                        <a:fillRect/>
                      </a:stretch>
                    </p:blipFill>
                    <p:spPr>
                      <a:xfrm>
                        <a:off x="2422525" y="2060575"/>
                        <a:ext cx="3549650" cy="1081088"/>
                      </a:xfrm>
                      <a:prstGeom prst="rect">
                        <a:avLst/>
                      </a:prstGeom>
                      <a:noFill/>
                      <a:ln w="38100">
                        <a:noFill/>
                        <a:miter/>
                      </a:ln>
                    </p:spPr>
                  </p:pic>
                </p:oleObj>
              </mc:Fallback>
            </mc:AlternateContent>
          </a:graphicData>
        </a:graphic>
      </p:graphicFrame>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a:t>
            </a:r>
            <a:r>
              <a:rPr lang="en-US" altLang="zh-CN" dirty="0">
                <a:latin typeface="Times New Roman" panose="02020603050405020304" pitchFamily="18" charset="0"/>
                <a:ea typeface="宋体" panose="02010600030101010101" pitchFamily="2" charset="-122"/>
              </a:rPr>
              <a:t>11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69987" name="Rectangle 3"/>
          <p:cNvSpPr>
            <a:spLocks noGrp="1"/>
          </p:cNvSpPr>
          <p:nvPr>
            <p:ph idx="1"/>
          </p:nvPr>
        </p:nvSpPr>
        <p:spPr>
          <a:xfrm>
            <a:off x="990600" y="1371600"/>
            <a:ext cx="7391400" cy="4953000"/>
          </a:xfrm>
        </p:spPr>
        <p:txBody>
          <a:bodyPr vert="horz" wrap="square" lIns="92075" tIns="46038" rIns="92075" bIns="46038" anchor="t" anchorCtr="0"/>
          <a:p>
            <a:r>
              <a:rPr lang="zh-CN" altLang="en-US" sz="2400" b="1" dirty="0">
                <a:ea typeface="宋体" panose="02010600030101010101" pitchFamily="2" charset="-122"/>
              </a:rPr>
              <a:t>移进</a:t>
            </a:r>
            <a:r>
              <a:rPr lang="en-US" altLang="zh-CN" sz="2400" b="1" dirty="0">
                <a:ea typeface="宋体" panose="02010600030101010101" pitchFamily="2" charset="-122"/>
              </a:rPr>
              <a:t>-</a:t>
            </a:r>
            <a:r>
              <a:rPr lang="zh-CN" altLang="en-US" sz="2400" b="1" dirty="0">
                <a:ea typeface="宋体" panose="02010600030101010101" pitchFamily="2" charset="-122"/>
              </a:rPr>
              <a:t>归约分析框架中“句柄”的性质</a:t>
            </a:r>
            <a:r>
              <a:rPr lang="en-US" altLang="zh-CN" sz="2400" b="1" dirty="0">
                <a:ea typeface="宋体" panose="02010600030101010101" pitchFamily="2" charset="-122"/>
              </a:rPr>
              <a:t>(</a:t>
            </a:r>
            <a:r>
              <a:rPr lang="zh-CN" altLang="en-US" sz="2400" b="1" dirty="0">
                <a:ea typeface="宋体" panose="02010600030101010101" pitchFamily="2" charset="-122"/>
              </a:rPr>
              <a:t>续</a:t>
            </a:r>
            <a:r>
              <a:rPr lang="en-US" altLang="zh-CN" sz="2400" b="1" dirty="0">
                <a:ea typeface="宋体" panose="02010600030101010101" pitchFamily="2" charset="-122"/>
              </a:rPr>
              <a:t>)</a:t>
            </a:r>
            <a:endParaRPr lang="zh-CN" altLang="en-US" sz="2400" b="1" dirty="0">
              <a:ea typeface="宋体" panose="02010600030101010101" pitchFamily="2" charset="-122"/>
            </a:endParaRPr>
          </a:p>
          <a:p>
            <a:pPr lvl="1">
              <a:lnSpc>
                <a:spcPct val="90000"/>
              </a:lnSpc>
            </a:pPr>
            <a:r>
              <a:rPr lang="zh-CN" altLang="en-US" sz="2000" b="1" dirty="0">
                <a:ea typeface="宋体" panose="02010600030101010101" pitchFamily="2" charset="-122"/>
              </a:rPr>
              <a:t>上述两种情形对应的最右推导序列如下图所示</a:t>
            </a: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考虑</a:t>
            </a:r>
            <a:r>
              <a:rPr lang="en-US" altLang="zh-CN" sz="2000" b="1" dirty="0">
                <a:ea typeface="宋体" panose="02010600030101010101" pitchFamily="2" charset="-122"/>
              </a:rPr>
              <a:t>2)</a:t>
            </a:r>
            <a:r>
              <a:rPr lang="zh-CN" altLang="en-US" sz="2000" b="1" dirty="0">
                <a:ea typeface="宋体" panose="02010600030101010101" pitchFamily="2" charset="-122"/>
              </a:rPr>
              <a:t>的情况，存在如下移进</a:t>
            </a:r>
            <a:r>
              <a:rPr lang="en-US" altLang="zh-CN" sz="2000" b="1" dirty="0">
                <a:ea typeface="宋体" panose="02010600030101010101" pitchFamily="2" charset="-122"/>
              </a:rPr>
              <a:t>-</a:t>
            </a:r>
            <a:r>
              <a:rPr lang="zh-CN" altLang="en-US" sz="2000" b="1" dirty="0">
                <a:ea typeface="宋体" panose="02010600030101010101" pitchFamily="2" charset="-122"/>
              </a:rPr>
              <a:t>归约分析器的格局</a:t>
            </a:r>
            <a:endParaRPr lang="en-US" altLang="zh-CN" sz="2000" b="1" dirty="0">
              <a:ea typeface="宋体" panose="02010600030101010101" pitchFamily="2" charset="-122"/>
            </a:endParaRPr>
          </a:p>
          <a:p>
            <a:pPr lvl="3">
              <a:lnSpc>
                <a:spcPct val="90000"/>
              </a:lnSpc>
              <a:spcBef>
                <a:spcPct val="0"/>
              </a:spcBef>
              <a:buNone/>
            </a:pPr>
            <a:r>
              <a:rPr lang="zh-CN" altLang="en-US" sz="1800" b="1" dirty="0">
                <a:ea typeface="宋体" panose="02010600030101010101" pitchFamily="2" charset="-122"/>
              </a:rPr>
              <a:t>栈</a:t>
            </a:r>
            <a:r>
              <a:rPr lang="en-US" altLang="zh-CN" sz="1800" b="1" dirty="0">
                <a:ea typeface="宋体" panose="02010600030101010101" pitchFamily="2" charset="-122"/>
              </a:rPr>
              <a:t>		</a:t>
            </a:r>
            <a:r>
              <a:rPr lang="zh-CN" altLang="en-US" sz="1800" b="1" dirty="0">
                <a:ea typeface="宋体" panose="02010600030101010101" pitchFamily="2" charset="-122"/>
              </a:rPr>
              <a:t>输入</a:t>
            </a:r>
            <a:endParaRPr lang="en-US" altLang="zh-CN" sz="1800" b="1" dirty="0">
              <a:ea typeface="宋体" panose="02010600030101010101" pitchFamily="2" charset="-122"/>
            </a:endParaRPr>
          </a:p>
          <a:p>
            <a:pPr lvl="3">
              <a:lnSpc>
                <a:spcPct val="90000"/>
              </a:lnSpc>
              <a:spcBef>
                <a:spcPct val="0"/>
              </a:spcBef>
              <a:buNone/>
            </a:pPr>
            <a:r>
              <a:rPr lang="zh-CN" altLang="en-US" sz="1800" b="1" dirty="0">
                <a:ea typeface="宋体" panose="02010600030101010101" pitchFamily="2" charset="-122"/>
              </a:rPr>
              <a:t>$</a:t>
            </a:r>
            <a:r>
              <a:rPr lang="el-GR" altLang="zh-CN" sz="1800" b="1" i="1" dirty="0">
                <a:ea typeface="宋体" panose="02010600030101010101" pitchFamily="2" charset="-122"/>
              </a:rPr>
              <a:t>αγ</a:t>
            </a:r>
            <a:r>
              <a:rPr lang="zh-CN" altLang="en-US" sz="1800" b="1" dirty="0">
                <a:ea typeface="宋体" panose="02010600030101010101" pitchFamily="2" charset="-122"/>
              </a:rPr>
              <a:t>		</a:t>
            </a:r>
            <a:r>
              <a:rPr lang="en-US" altLang="zh-CN" sz="1800" b="1" i="1" dirty="0">
                <a:ea typeface="宋体" panose="02010600030101010101" pitchFamily="2" charset="-122"/>
              </a:rPr>
              <a:t>xyz</a:t>
            </a:r>
            <a:r>
              <a:rPr lang="en-US" altLang="zh-CN" sz="1800" b="1" dirty="0">
                <a:ea typeface="宋体" panose="02010600030101010101" pitchFamily="2" charset="-122"/>
              </a:rPr>
              <a:t>$</a:t>
            </a:r>
            <a:endParaRPr lang="en-US" altLang="zh-CN" sz="1800" b="1" dirty="0">
              <a:ea typeface="宋体" panose="02010600030101010101" pitchFamily="2" charset="-122"/>
            </a:endParaRPr>
          </a:p>
          <a:p>
            <a:pPr lvl="2">
              <a:lnSpc>
                <a:spcPct val="90000"/>
              </a:lnSpc>
              <a:spcBef>
                <a:spcPct val="0"/>
              </a:spcBef>
              <a:buNone/>
            </a:pPr>
            <a:r>
              <a:rPr lang="zh-CN" altLang="en-US" sz="2000" b="1" dirty="0">
                <a:ea typeface="宋体" panose="02010600030101010101" pitchFamily="2" charset="-122"/>
              </a:rPr>
              <a:t>句柄</a:t>
            </a:r>
            <a:r>
              <a:rPr lang="el-GR" altLang="zh-CN" sz="2000" b="1" i="1" dirty="0">
                <a:ea typeface="宋体" panose="02010600030101010101" pitchFamily="2" charset="-122"/>
              </a:rPr>
              <a:t>γ</a:t>
            </a:r>
            <a:r>
              <a:rPr lang="zh-CN" altLang="en-US" sz="2000" b="1" dirty="0">
                <a:ea typeface="宋体" panose="02010600030101010101" pitchFamily="2" charset="-122"/>
              </a:rPr>
              <a:t>在展顶，将其归约为</a:t>
            </a:r>
            <a:r>
              <a:rPr lang="en-US" altLang="zh-CN" sz="2000" b="1" i="1" dirty="0">
                <a:ea typeface="宋体" panose="02010600030101010101" pitchFamily="2" charset="-122"/>
              </a:rPr>
              <a:t>B</a:t>
            </a:r>
            <a:r>
              <a:rPr lang="zh-CN" altLang="en-US" sz="2000" b="1" dirty="0">
                <a:ea typeface="宋体" panose="02010600030101010101" pitchFamily="2" charset="-122"/>
              </a:rPr>
              <a:t>，从而达到如下格局：</a:t>
            </a:r>
            <a:endParaRPr lang="en-US" altLang="zh-CN" sz="2000" b="1" dirty="0">
              <a:ea typeface="宋体" panose="02010600030101010101" pitchFamily="2" charset="-122"/>
            </a:endParaRPr>
          </a:p>
          <a:p>
            <a:pPr lvl="3">
              <a:lnSpc>
                <a:spcPct val="90000"/>
              </a:lnSpc>
              <a:spcBef>
                <a:spcPct val="0"/>
              </a:spcBef>
              <a:buNone/>
            </a:pPr>
            <a:r>
              <a:rPr lang="zh-CN" altLang="en-US" sz="1800" b="1" dirty="0">
                <a:ea typeface="宋体" panose="02010600030101010101" pitchFamily="2" charset="-122"/>
              </a:rPr>
              <a:t>栈</a:t>
            </a:r>
            <a:r>
              <a:rPr lang="en-US" altLang="zh-CN" sz="1800" b="1" dirty="0">
                <a:ea typeface="宋体" panose="02010600030101010101" pitchFamily="2" charset="-122"/>
              </a:rPr>
              <a:t>		</a:t>
            </a:r>
            <a:r>
              <a:rPr lang="zh-CN" altLang="en-US" sz="1800" b="1" dirty="0">
                <a:ea typeface="宋体" panose="02010600030101010101" pitchFamily="2" charset="-122"/>
              </a:rPr>
              <a:t>输入</a:t>
            </a:r>
            <a:endParaRPr lang="en-US" altLang="zh-CN" sz="1800" b="1" dirty="0">
              <a:ea typeface="宋体" panose="02010600030101010101" pitchFamily="2" charset="-122"/>
            </a:endParaRPr>
          </a:p>
          <a:p>
            <a:pPr lvl="3">
              <a:lnSpc>
                <a:spcPct val="90000"/>
              </a:lnSpc>
              <a:spcBef>
                <a:spcPct val="0"/>
              </a:spcBef>
              <a:buNone/>
            </a:pPr>
            <a:r>
              <a:rPr lang="zh-CN" altLang="en-US" sz="1800" b="1" dirty="0">
                <a:ea typeface="宋体" panose="02010600030101010101" pitchFamily="2" charset="-122"/>
              </a:rPr>
              <a:t>$</a:t>
            </a:r>
            <a:r>
              <a:rPr lang="el-GR" altLang="zh-CN" sz="1800" b="1" i="1" dirty="0">
                <a:ea typeface="宋体" panose="02010600030101010101" pitchFamily="2" charset="-122"/>
              </a:rPr>
              <a:t>α</a:t>
            </a:r>
            <a:r>
              <a:rPr lang="en-US" altLang="zh-CN" sz="1800" b="1" i="1" dirty="0">
                <a:ea typeface="宋体" panose="02010600030101010101" pitchFamily="2" charset="-122"/>
              </a:rPr>
              <a:t>B</a:t>
            </a:r>
            <a:r>
              <a:rPr lang="zh-CN" altLang="en-US" sz="1800" b="1" dirty="0">
                <a:ea typeface="宋体" panose="02010600030101010101" pitchFamily="2" charset="-122"/>
              </a:rPr>
              <a:t>	</a:t>
            </a:r>
            <a:r>
              <a:rPr lang="en-US" altLang="zh-CN" sz="1800" b="1" dirty="0">
                <a:ea typeface="宋体" panose="02010600030101010101" pitchFamily="2" charset="-122"/>
              </a:rPr>
              <a:t>	</a:t>
            </a:r>
            <a:r>
              <a:rPr lang="en-US" altLang="zh-CN" sz="1800" b="1" i="1" dirty="0">
                <a:ea typeface="宋体" panose="02010600030101010101" pitchFamily="2" charset="-122"/>
              </a:rPr>
              <a:t>xyz</a:t>
            </a:r>
            <a:r>
              <a:rPr lang="en-US" altLang="zh-CN" sz="1800" b="1" dirty="0">
                <a:ea typeface="宋体" panose="02010600030101010101" pitchFamily="2" charset="-122"/>
              </a:rPr>
              <a:t>$</a:t>
            </a:r>
            <a:endParaRPr lang="en-US" altLang="zh-CN" sz="1800" b="1" dirty="0">
              <a:ea typeface="宋体" panose="02010600030101010101" pitchFamily="2" charset="-122"/>
            </a:endParaRPr>
          </a:p>
          <a:p>
            <a:pPr lvl="2">
              <a:lnSpc>
                <a:spcPct val="90000"/>
              </a:lnSpc>
              <a:spcBef>
                <a:spcPct val="0"/>
              </a:spcBef>
              <a:buNone/>
            </a:pPr>
            <a:r>
              <a:rPr lang="zh-CN" altLang="en-US" sz="2000" b="1" dirty="0">
                <a:ea typeface="宋体" panose="02010600030101010101" pitchFamily="2" charset="-122"/>
              </a:rPr>
              <a:t>语法分析器通过</a:t>
            </a:r>
            <a:r>
              <a:rPr lang="en-US" altLang="zh-CN" sz="2000" b="1" dirty="0">
                <a:ea typeface="宋体" panose="02010600030101010101" pitchFamily="2" charset="-122"/>
              </a:rPr>
              <a:t>0</a:t>
            </a:r>
            <a:r>
              <a:rPr lang="zh-CN" altLang="en-US" sz="2000" b="1" dirty="0">
                <a:ea typeface="宋体" panose="02010600030101010101" pitchFamily="2" charset="-122"/>
              </a:rPr>
              <a:t>次或多次移进动作，将串</a:t>
            </a:r>
            <a:r>
              <a:rPr lang="en-US" altLang="zh-CN" sz="2000" b="1" i="1" dirty="0">
                <a:ea typeface="宋体" panose="02010600030101010101" pitchFamily="2" charset="-122"/>
              </a:rPr>
              <a:t>xy</a:t>
            </a:r>
            <a:r>
              <a:rPr lang="zh-CN" altLang="en-US" sz="2000" b="1" dirty="0">
                <a:ea typeface="宋体" panose="02010600030101010101" pitchFamily="2" charset="-122"/>
              </a:rPr>
              <a:t>移入栈的上方，得到如下各句：</a:t>
            </a:r>
            <a:endParaRPr lang="en-US" altLang="zh-CN" sz="2000" b="1" dirty="0">
              <a:ea typeface="宋体" panose="02010600030101010101" pitchFamily="2" charset="-122"/>
            </a:endParaRPr>
          </a:p>
          <a:p>
            <a:pPr lvl="3">
              <a:lnSpc>
                <a:spcPct val="90000"/>
              </a:lnSpc>
              <a:spcBef>
                <a:spcPct val="0"/>
              </a:spcBef>
              <a:buNone/>
            </a:pPr>
            <a:r>
              <a:rPr lang="zh-CN" altLang="en-US" sz="1800" b="1" dirty="0">
                <a:ea typeface="宋体" panose="02010600030101010101" pitchFamily="2" charset="-122"/>
              </a:rPr>
              <a:t>栈</a:t>
            </a:r>
            <a:r>
              <a:rPr lang="en-US" altLang="zh-CN" sz="1800" b="1" dirty="0">
                <a:ea typeface="宋体" panose="02010600030101010101" pitchFamily="2" charset="-122"/>
              </a:rPr>
              <a:t>		</a:t>
            </a:r>
            <a:r>
              <a:rPr lang="zh-CN" altLang="en-US" sz="1800" b="1" dirty="0">
                <a:ea typeface="宋体" panose="02010600030101010101" pitchFamily="2" charset="-122"/>
              </a:rPr>
              <a:t>输入</a:t>
            </a:r>
            <a:endParaRPr lang="en-US" altLang="zh-CN" sz="1800" b="1" dirty="0">
              <a:ea typeface="宋体" panose="02010600030101010101" pitchFamily="2" charset="-122"/>
            </a:endParaRPr>
          </a:p>
          <a:p>
            <a:pPr lvl="3">
              <a:lnSpc>
                <a:spcPct val="90000"/>
              </a:lnSpc>
              <a:spcBef>
                <a:spcPct val="0"/>
              </a:spcBef>
              <a:buNone/>
            </a:pPr>
            <a:r>
              <a:rPr lang="zh-CN" altLang="en-US" sz="1800" b="1" dirty="0">
                <a:ea typeface="宋体" panose="02010600030101010101" pitchFamily="2" charset="-122"/>
              </a:rPr>
              <a:t>$</a:t>
            </a:r>
            <a:r>
              <a:rPr lang="el-GR" altLang="zh-CN" sz="1800" b="1" i="1" dirty="0">
                <a:ea typeface="宋体" panose="02010600030101010101" pitchFamily="2" charset="-122"/>
              </a:rPr>
              <a:t>α</a:t>
            </a:r>
            <a:r>
              <a:rPr lang="en-US" altLang="zh-CN" sz="1800" b="1" i="1" dirty="0">
                <a:ea typeface="宋体" panose="02010600030101010101" pitchFamily="2" charset="-122"/>
              </a:rPr>
              <a:t>Bxy</a:t>
            </a:r>
            <a:r>
              <a:rPr lang="zh-CN" altLang="en-US" sz="1800" b="1" dirty="0">
                <a:ea typeface="宋体" panose="02010600030101010101" pitchFamily="2" charset="-122"/>
              </a:rPr>
              <a:t>	</a:t>
            </a:r>
            <a:r>
              <a:rPr lang="en-US" altLang="zh-CN" sz="1800" b="1" i="1" dirty="0">
                <a:ea typeface="宋体" panose="02010600030101010101" pitchFamily="2" charset="-122"/>
              </a:rPr>
              <a:t>z</a:t>
            </a:r>
            <a:r>
              <a:rPr lang="en-US" altLang="zh-CN" sz="1800" b="1" dirty="0">
                <a:ea typeface="宋体" panose="02010600030101010101" pitchFamily="2" charset="-122"/>
              </a:rPr>
              <a:t>$</a:t>
            </a:r>
            <a:endParaRPr lang="en-US" altLang="zh-CN" sz="1800" b="1" dirty="0">
              <a:ea typeface="宋体" panose="02010600030101010101" pitchFamily="2" charset="-122"/>
            </a:endParaRPr>
          </a:p>
          <a:p>
            <a:pPr lvl="2">
              <a:lnSpc>
                <a:spcPct val="90000"/>
              </a:lnSpc>
              <a:spcBef>
                <a:spcPct val="0"/>
              </a:spcBef>
              <a:buNone/>
            </a:pPr>
            <a:r>
              <a:rPr lang="zh-CN" altLang="en-US" sz="2000" b="1" dirty="0">
                <a:ea typeface="宋体" panose="02010600030101010101" pitchFamily="2" charset="-122"/>
              </a:rPr>
              <a:t>此时，句柄</a:t>
            </a:r>
            <a:r>
              <a:rPr lang="en-US" altLang="zh-CN" sz="2000" b="1" i="1" dirty="0">
                <a:ea typeface="宋体" panose="02010600030101010101" pitchFamily="2" charset="-122"/>
              </a:rPr>
              <a:t>y</a:t>
            </a:r>
            <a:r>
              <a:rPr lang="zh-CN" altLang="en-US" sz="2000" b="1" dirty="0">
                <a:ea typeface="宋体" panose="02010600030101010101" pitchFamily="2" charset="-122"/>
              </a:rPr>
              <a:t>在栈顶，将被归约为</a:t>
            </a:r>
            <a:r>
              <a:rPr lang="en-US" altLang="zh-CN" sz="2000" b="1" i="1" dirty="0">
                <a:ea typeface="宋体" panose="02010600030101010101" pitchFamily="2" charset="-122"/>
              </a:rPr>
              <a:t>A</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从中可以看出，这两种情形的各次归约时，句柄都是确定的，且恰好在栈顶</a:t>
            </a:r>
            <a:endParaRPr lang="en-US" altLang="zh-CN" sz="2000" b="1" dirty="0">
              <a:ea typeface="宋体" panose="02010600030101010101" pitchFamily="2" charset="-122"/>
            </a:endParaRPr>
          </a:p>
        </p:txBody>
      </p:sp>
      <p:graphicFrame>
        <p:nvGraphicFramePr>
          <p:cNvPr id="169988" name="Object 4"/>
          <p:cNvGraphicFramePr>
            <a:graphicFrameLocks noChangeAspect="1"/>
          </p:cNvGraphicFramePr>
          <p:nvPr/>
        </p:nvGraphicFramePr>
        <p:xfrm>
          <a:off x="2422525" y="2060575"/>
          <a:ext cx="3549650" cy="1081088"/>
        </p:xfrm>
        <a:graphic>
          <a:graphicData uri="http://schemas.openxmlformats.org/presentationml/2006/ole">
            <mc:AlternateContent xmlns:mc="http://schemas.openxmlformats.org/markup-compatibility/2006">
              <mc:Choice xmlns:v="urn:schemas-microsoft-com:vml" Requires="v">
                <p:oleObj spid="_x0000_s3112" name="" r:id="rId1" imgW="2146300" imgH="787400" progId="Equation.3">
                  <p:embed/>
                </p:oleObj>
              </mc:Choice>
              <mc:Fallback>
                <p:oleObj name="" r:id="rId1" imgW="2146300" imgH="787400" progId="Equation.3">
                  <p:embed/>
                  <p:pic>
                    <p:nvPicPr>
                      <p:cNvPr id="0" name="图片 3111"/>
                      <p:cNvPicPr/>
                      <p:nvPr/>
                    </p:nvPicPr>
                    <p:blipFill>
                      <a:blip r:embed="rId2"/>
                      <a:stretch>
                        <a:fillRect/>
                      </a:stretch>
                    </p:blipFill>
                    <p:spPr>
                      <a:xfrm>
                        <a:off x="2422525" y="2060575"/>
                        <a:ext cx="3549650" cy="1081088"/>
                      </a:xfrm>
                      <a:prstGeom prst="rect">
                        <a:avLst/>
                      </a:prstGeom>
                      <a:noFill/>
                      <a:ln w="38100">
                        <a:noFill/>
                        <a:miter/>
                      </a:ln>
                    </p:spPr>
                  </p:pic>
                </p:oleObj>
              </mc:Fallback>
            </mc:AlternateContent>
          </a:graphicData>
        </a:graphic>
      </p:graphicFrame>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2）</a:t>
            </a:r>
            <a:endParaRPr lang="zh-CN" altLang="en-US" dirty="0">
              <a:latin typeface="Times New Roman" panose="02020603050405020304" pitchFamily="18" charset="0"/>
              <a:ea typeface="宋体" panose="02010600030101010101" pitchFamily="2" charset="-122"/>
            </a:endParaRPr>
          </a:p>
        </p:txBody>
      </p:sp>
      <p:sp>
        <p:nvSpPr>
          <p:cNvPr id="172035" name="Rectangle 3"/>
          <p:cNvSpPr>
            <a:spLocks noGrp="1"/>
          </p:cNvSpPr>
          <p:nvPr>
            <p:ph idx="1"/>
          </p:nvPr>
        </p:nvSpPr>
        <p:spPr>
          <a:xfrm>
            <a:off x="990600" y="1524000"/>
            <a:ext cx="7469188" cy="4800600"/>
          </a:xfrm>
        </p:spPr>
        <p:txBody>
          <a:bodyPr vert="horz" wrap="square" lIns="92075" tIns="46038" rIns="92075" bIns="46038" anchor="t" anchorCtr="0"/>
          <a:p>
            <a:pPr>
              <a:lnSpc>
                <a:spcPct val="90000"/>
              </a:lnSpc>
            </a:pPr>
            <a:r>
              <a:rPr lang="zh-CN" altLang="en-US" sz="2200" b="1" dirty="0">
                <a:ea typeface="宋体" panose="02010600030101010101" pitchFamily="2" charset="-122"/>
              </a:rPr>
              <a:t>自底向上的分析与预测分析器的比较</a:t>
            </a:r>
            <a:endParaRPr lang="zh-CN" altLang="en-US" sz="2200" b="1" dirty="0">
              <a:ea typeface="宋体" panose="02010600030101010101" pitchFamily="2" charset="-122"/>
            </a:endParaRPr>
          </a:p>
          <a:p>
            <a:pPr lvl="1">
              <a:lnSpc>
                <a:spcPct val="90000"/>
              </a:lnSpc>
            </a:pPr>
            <a:r>
              <a:rPr lang="zh-CN" altLang="en-US" sz="2000" b="1" dirty="0">
                <a:ea typeface="宋体" panose="02010600030101010101" pitchFamily="2" charset="-122"/>
              </a:rPr>
              <a:t>一般而言，自底向上的分析功能更强大</a:t>
            </a:r>
            <a:endParaRPr lang="zh-CN" altLang="en-US" sz="2000" b="1" dirty="0">
              <a:ea typeface="宋体" panose="02010600030101010101" pitchFamily="2" charset="-122"/>
            </a:endParaRPr>
          </a:p>
          <a:p>
            <a:pPr lvl="2">
              <a:lnSpc>
                <a:spcPct val="90000"/>
              </a:lnSpc>
              <a:spcBef>
                <a:spcPct val="0"/>
              </a:spcBef>
              <a:buNone/>
            </a:pPr>
            <a:r>
              <a:rPr lang="zh-CN" altLang="en-US" sz="1800" b="1" dirty="0">
                <a:ea typeface="宋体" panose="02010600030101010101" pitchFamily="2" charset="-122"/>
              </a:rPr>
              <a:t>	如：预测分析器不能处理左递归等，而自底向上的分析则不成问题</a:t>
            </a:r>
            <a:endParaRPr lang="en-US" altLang="zh-CN" sz="1800" b="1" dirty="0">
              <a:ea typeface="宋体" panose="02010600030101010101" pitchFamily="2" charset="-122"/>
            </a:endParaRPr>
          </a:p>
          <a:p>
            <a:pPr lvl="1">
              <a:lnSpc>
                <a:spcPct val="90000"/>
              </a:lnSpc>
            </a:pPr>
            <a:r>
              <a:rPr lang="zh-CN" altLang="en-US" sz="2000" b="1" dirty="0">
                <a:ea typeface="宋体" panose="02010600030101010101" pitchFamily="2" charset="-122"/>
              </a:rPr>
              <a:t>对栈和向前看的符号的使用上：</a:t>
            </a:r>
            <a:endParaRPr lang="en-US" altLang="zh-CN" sz="2000" b="1" dirty="0">
              <a:ea typeface="宋体" panose="02010600030101010101" pitchFamily="2" charset="-122"/>
            </a:endParaRPr>
          </a:p>
          <a:p>
            <a:pPr lvl="2">
              <a:lnSpc>
                <a:spcPct val="90000"/>
              </a:lnSpc>
            </a:pPr>
            <a:r>
              <a:rPr lang="zh-CN" altLang="en-US" sz="1800" b="1" dirty="0">
                <a:ea typeface="宋体" panose="02010600030101010101" pitchFamily="2" charset="-122"/>
              </a:rPr>
              <a:t>可以将输入符号移进栈，直至它判断出要执行的动作为止</a:t>
            </a:r>
            <a:endParaRPr lang="en-US" altLang="zh-CN" sz="1800" b="1" dirty="0">
              <a:ea typeface="宋体" panose="02010600030101010101" pitchFamily="2" charset="-122"/>
            </a:endParaRPr>
          </a:p>
          <a:p>
            <a:pPr lvl="2">
              <a:lnSpc>
                <a:spcPct val="90000"/>
              </a:lnSpc>
            </a:pPr>
            <a:r>
              <a:rPr lang="zh-CN" altLang="en-US" sz="1800" b="1" dirty="0">
                <a:ea typeface="宋体" panose="02010600030101010101" pitchFamily="2" charset="-122"/>
              </a:rPr>
              <a:t>进行动作判断时可以使用栈中所有的符号</a:t>
            </a:r>
            <a:endParaRPr lang="en-US" altLang="zh-CN" sz="1800" b="1" dirty="0">
              <a:ea typeface="宋体" panose="02010600030101010101" pitchFamily="2" charset="-122"/>
            </a:endParaRPr>
          </a:p>
          <a:p>
            <a:pPr lvl="2">
              <a:lnSpc>
                <a:spcPct val="90000"/>
              </a:lnSpc>
            </a:pPr>
            <a:r>
              <a:rPr lang="zh-CN" altLang="en-US" sz="1800" b="1" dirty="0">
                <a:ea typeface="宋体" panose="02010600030101010101" pitchFamily="2" charset="-122"/>
              </a:rPr>
              <a:t>开始时栈为空，而接受时栈中为文法的开始符号</a:t>
            </a:r>
            <a:endParaRPr lang="zh-CN" altLang="en-US" sz="1800" b="1" dirty="0">
              <a:ea typeface="宋体" panose="02010600030101010101" pitchFamily="2" charset="-122"/>
            </a:endParaRPr>
          </a:p>
          <a:p>
            <a:pPr lvl="1">
              <a:lnSpc>
                <a:spcPct val="90000"/>
              </a:lnSpc>
            </a:pPr>
            <a:r>
              <a:rPr lang="zh-CN" altLang="en-US" sz="2000" b="1" dirty="0">
                <a:ea typeface="宋体" panose="02010600030101010101" pitchFamily="2" charset="-122"/>
              </a:rPr>
              <a:t>预测分析器描述的是从文法开始符号推导得到句子的过程</a:t>
            </a:r>
            <a:r>
              <a:rPr lang="en-US" altLang="zh-CN" sz="2000" b="1" dirty="0">
                <a:ea typeface="宋体" panose="02010600030101010101" pitchFamily="2" charset="-122"/>
              </a:rPr>
              <a:t>,</a:t>
            </a:r>
            <a:r>
              <a:rPr lang="zh-CN" altLang="en-US" sz="2000" b="1" dirty="0">
                <a:ea typeface="宋体" panose="02010600030101010101" pitchFamily="2" charset="-122"/>
              </a:rPr>
              <a:t>是一个匹配的过程，而自底向上的分析描述的推导过程的逆过程，是一个归约的过程</a:t>
            </a:r>
            <a:endParaRPr lang="zh-CN" altLang="en-US" sz="2000" b="1" dirty="0">
              <a:ea typeface="宋体" panose="02010600030101010101" pitchFamily="2" charset="-122"/>
            </a:endParaRPr>
          </a:p>
          <a:p>
            <a:pPr lvl="1">
              <a:lnSpc>
                <a:spcPct val="90000"/>
              </a:lnSpc>
            </a:pPr>
            <a:r>
              <a:rPr lang="zh-CN" altLang="en-US" sz="2000" b="1" dirty="0">
                <a:ea typeface="宋体" panose="02010600030101010101" pitchFamily="2" charset="-122"/>
              </a:rPr>
              <a:t>错误恢复：自底向上的分析所使用的特定算法的能力会影响到分析程序是否可早些检测出错误的能力，规范的</a:t>
            </a:r>
            <a:r>
              <a:rPr lang="en-US" altLang="zh-CN" sz="2000" b="1" dirty="0">
                <a:ea typeface="宋体" panose="02010600030101010101" pitchFamily="2" charset="-122"/>
              </a:rPr>
              <a:t>LR</a:t>
            </a:r>
            <a:r>
              <a:rPr lang="zh-CN" altLang="en-US" sz="2000" b="1" dirty="0">
                <a:ea typeface="宋体" panose="02010600030101010101" pitchFamily="2" charset="-122"/>
              </a:rPr>
              <a:t>分析甚至在报告错误之前不做任何无效的归约</a:t>
            </a:r>
            <a:endParaRPr lang="zh-CN" altLang="en-US" sz="2000" b="1" dirty="0">
              <a:ea typeface="宋体" panose="02010600030101010101" pitchFamily="2" charset="-122"/>
            </a:endParaRPr>
          </a:p>
          <a:p>
            <a:pPr lvl="1">
              <a:lnSpc>
                <a:spcPct val="90000"/>
              </a:lnSpc>
            </a:pPr>
            <a:r>
              <a:rPr lang="zh-CN" altLang="en-US" sz="2000" b="1" dirty="0">
                <a:ea typeface="宋体" panose="02010600030101010101" pitchFamily="2" charset="-122"/>
              </a:rPr>
              <a:t>自底向上的分析器较为复杂</a:t>
            </a:r>
            <a:endParaRPr lang="zh-CN" altLang="en-US" sz="2000" b="1" dirty="0">
              <a:ea typeface="宋体" panose="02010600030101010101" pitchFamily="2" charset="-122"/>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4082" name="Picture 2"/>
          <p:cNvPicPr>
            <a:picLocks noChangeAspect="1"/>
          </p:cNvPicPr>
          <p:nvPr/>
        </p:nvPicPr>
        <p:blipFill>
          <a:blip r:embed="rId1"/>
          <a:stretch>
            <a:fillRect/>
          </a:stretch>
        </p:blipFill>
        <p:spPr>
          <a:xfrm>
            <a:off x="1650365" y="2362200"/>
            <a:ext cx="7495540" cy="4485005"/>
          </a:xfrm>
          <a:prstGeom prst="rect">
            <a:avLst/>
          </a:prstGeom>
          <a:noFill/>
          <a:ln w="9525">
            <a:noFill/>
          </a:ln>
        </p:spPr>
      </p:pic>
      <p:pic>
        <p:nvPicPr>
          <p:cNvPr id="174083" name="Picture 2"/>
          <p:cNvPicPr>
            <a:picLocks noChangeAspect="1"/>
          </p:cNvPicPr>
          <p:nvPr/>
        </p:nvPicPr>
        <p:blipFill>
          <a:blip r:embed="rId2"/>
          <a:stretch>
            <a:fillRect/>
          </a:stretch>
        </p:blipFill>
        <p:spPr>
          <a:xfrm>
            <a:off x="90488" y="115888"/>
            <a:ext cx="8672512" cy="2170112"/>
          </a:xfrm>
          <a:prstGeom prst="rect">
            <a:avLst/>
          </a:prstGeom>
          <a:noFill/>
          <a:ln w="9525">
            <a:noFill/>
          </a:ln>
        </p:spPr>
      </p:pic>
      <p:pic>
        <p:nvPicPr>
          <p:cNvPr id="174084" name="Picture 3"/>
          <p:cNvPicPr>
            <a:picLocks noChangeAspect="1"/>
          </p:cNvPicPr>
          <p:nvPr/>
        </p:nvPicPr>
        <p:blipFill>
          <a:blip r:embed="rId3"/>
          <a:stretch>
            <a:fillRect/>
          </a:stretch>
        </p:blipFill>
        <p:spPr>
          <a:xfrm>
            <a:off x="228600" y="2590800"/>
            <a:ext cx="4038600" cy="2865438"/>
          </a:xfrm>
          <a:prstGeom prst="rect">
            <a:avLst/>
          </a:prstGeom>
          <a:noFill/>
          <a:ln w="9525">
            <a:noFill/>
          </a:ln>
        </p:spPr>
      </p:pic>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自底向上的分析（1</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76131" name="Rectangle 3"/>
          <p:cNvSpPr>
            <a:spLocks noGrp="1"/>
          </p:cNvSpPr>
          <p:nvPr>
            <p:ph idx="1"/>
          </p:nvPr>
        </p:nvSpPr>
        <p:spPr>
          <a:xfrm>
            <a:off x="990600" y="1524000"/>
            <a:ext cx="7391400" cy="4800600"/>
          </a:xfrm>
        </p:spPr>
        <p:txBody>
          <a:bodyPr vert="horz" wrap="square" lIns="92075" tIns="46038" rIns="92075" bIns="46038" anchor="t" anchorCtr="0"/>
          <a:p>
            <a:r>
              <a:rPr lang="zh-CN" altLang="en-US" sz="2200" b="1" dirty="0">
                <a:ea typeface="宋体" panose="02010600030101010101" pitchFamily="2" charset="-122"/>
              </a:rPr>
              <a:t>移进-归约分析的冲突</a:t>
            </a:r>
            <a:endParaRPr lang="zh-CN" altLang="en-US" sz="2200" b="1" dirty="0">
              <a:ea typeface="宋体" panose="02010600030101010101" pitchFamily="2" charset="-122"/>
            </a:endParaRPr>
          </a:p>
          <a:p>
            <a:pPr lvl="1"/>
            <a:r>
              <a:rPr lang="zh-CN" altLang="en-US" sz="2000" b="1" dirty="0">
                <a:ea typeface="宋体" panose="02010600030101010101" pitchFamily="2" charset="-122"/>
              </a:rPr>
              <a:t>两种：移进</a:t>
            </a:r>
            <a:r>
              <a:rPr lang="en-US" altLang="zh-CN" sz="2000" b="1" dirty="0">
                <a:ea typeface="宋体" panose="02010600030101010101" pitchFamily="2" charset="-122"/>
              </a:rPr>
              <a:t>-</a:t>
            </a:r>
            <a:r>
              <a:rPr lang="zh-CN" altLang="en-US" sz="2000" b="1" dirty="0">
                <a:ea typeface="宋体" panose="02010600030101010101" pitchFamily="2" charset="-122"/>
              </a:rPr>
              <a:t>归约冲突、归约</a:t>
            </a:r>
            <a:r>
              <a:rPr lang="en-US" altLang="zh-CN" sz="2000" b="1" dirty="0">
                <a:ea typeface="宋体" panose="02010600030101010101" pitchFamily="2" charset="-122"/>
              </a:rPr>
              <a:t>-</a:t>
            </a:r>
            <a:r>
              <a:rPr lang="zh-CN" altLang="en-US" sz="2000" b="1" dirty="0">
                <a:ea typeface="宋体" panose="02010600030101010101" pitchFamily="2" charset="-122"/>
              </a:rPr>
              <a:t>归约冲突</a:t>
            </a:r>
            <a:endParaRPr lang="en-US" altLang="zh-CN" sz="2000" b="1" dirty="0">
              <a:ea typeface="宋体" panose="02010600030101010101" pitchFamily="2" charset="-122"/>
            </a:endParaRPr>
          </a:p>
          <a:p>
            <a:r>
              <a:rPr lang="zh-CN" altLang="en-US" sz="2200" b="1" dirty="0">
                <a:ea typeface="宋体" panose="02010600030101010101" pitchFamily="2" charset="-122"/>
              </a:rPr>
              <a:t>移进-归约冲突</a:t>
            </a:r>
            <a:endParaRPr lang="zh-CN" altLang="en-US" sz="2000" b="1" dirty="0">
              <a:ea typeface="宋体" panose="02010600030101010101" pitchFamily="2" charset="-122"/>
            </a:endParaRPr>
          </a:p>
          <a:p>
            <a:pPr lvl="1"/>
            <a:r>
              <a:rPr lang="zh-CN" altLang="en-US" sz="2000" b="1" dirty="0">
                <a:ea typeface="宋体" panose="02010600030101010101" pitchFamily="2" charset="-122"/>
              </a:rPr>
              <a:t>定义：根据栈中所有的内容和下一个输入符号不能决定是移进还是归约，如</a:t>
            </a:r>
            <a:r>
              <a:rPr lang="en-US" altLang="zh-CN" sz="2000" b="1" dirty="0">
                <a:ea typeface="宋体" panose="02010600030101010101" pitchFamily="2" charset="-122"/>
              </a:rPr>
              <a:t>if</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then</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else</a:t>
            </a:r>
            <a:endParaRPr lang="en-US" altLang="zh-CN" sz="2000" b="1" dirty="0">
              <a:ea typeface="宋体" panose="02010600030101010101" pitchFamily="2" charset="-122"/>
            </a:endParaRPr>
          </a:p>
          <a:p>
            <a:pPr lvl="3">
              <a:lnSpc>
                <a:spcPct val="90000"/>
              </a:lnSpc>
              <a:spcBef>
                <a:spcPct val="0"/>
              </a:spcBef>
              <a:buNone/>
            </a:pPr>
            <a:r>
              <a:rPr lang="zh-CN" altLang="en-US" b="1" dirty="0">
                <a:ea typeface="宋体" panose="02010600030101010101" pitchFamily="2" charset="-122"/>
              </a:rPr>
              <a:t>栈</a:t>
            </a:r>
            <a:r>
              <a:rPr lang="en-US" altLang="zh-CN" b="1" dirty="0">
                <a:ea typeface="宋体" panose="02010600030101010101" pitchFamily="2" charset="-122"/>
              </a:rPr>
              <a:t>				</a:t>
            </a:r>
            <a:r>
              <a:rPr lang="zh-CN" altLang="en-US" b="1" dirty="0">
                <a:ea typeface="宋体" panose="02010600030101010101" pitchFamily="2" charset="-122"/>
              </a:rPr>
              <a:t>输入</a:t>
            </a:r>
            <a:endParaRPr lang="en-US" altLang="zh-CN" b="1" dirty="0">
              <a:ea typeface="宋体" panose="02010600030101010101" pitchFamily="2" charset="-122"/>
            </a:endParaRPr>
          </a:p>
          <a:p>
            <a:pPr lvl="3">
              <a:lnSpc>
                <a:spcPct val="90000"/>
              </a:lnSpc>
              <a:spcBef>
                <a:spcPct val="0"/>
              </a:spcBef>
              <a:buNone/>
            </a:pPr>
            <a:r>
              <a:rPr lang="zh-CN" altLang="en-US" b="1" dirty="0">
                <a:ea typeface="宋体" panose="02010600030101010101" pitchFamily="2" charset="-122"/>
              </a:rPr>
              <a:t>$</a:t>
            </a:r>
            <a:r>
              <a:rPr lang="en-US" altLang="zh-CN" b="1" dirty="0">
                <a:ea typeface="宋体" panose="02010600030101010101" pitchFamily="2" charset="-122"/>
              </a:rPr>
              <a:t>... if </a:t>
            </a:r>
            <a:r>
              <a:rPr lang="en-US" altLang="zh-CN" i="1" dirty="0">
                <a:ea typeface="宋体" panose="02010600030101010101" pitchFamily="2" charset="-122"/>
              </a:rPr>
              <a:t>stmt</a:t>
            </a:r>
            <a:r>
              <a:rPr lang="en-US" altLang="zh-CN" b="1" dirty="0">
                <a:ea typeface="宋体" panose="02010600030101010101" pitchFamily="2" charset="-122"/>
              </a:rPr>
              <a:t> then </a:t>
            </a:r>
            <a:r>
              <a:rPr lang="en-US" altLang="zh-CN" i="1" dirty="0">
                <a:ea typeface="宋体" panose="02010600030101010101" pitchFamily="2" charset="-122"/>
              </a:rPr>
              <a:t>stmt </a:t>
            </a:r>
            <a:r>
              <a:rPr lang="zh-CN" altLang="en-US" b="1" dirty="0">
                <a:ea typeface="宋体" panose="02010600030101010101" pitchFamily="2" charset="-122"/>
              </a:rPr>
              <a:t>	</a:t>
            </a:r>
            <a:r>
              <a:rPr lang="en-US" altLang="zh-CN" b="1" dirty="0">
                <a:ea typeface="宋体" panose="02010600030101010101" pitchFamily="2" charset="-122"/>
              </a:rPr>
              <a:t>	else … $</a:t>
            </a:r>
            <a:endParaRPr lang="zh-CN" altLang="en-US" b="1" dirty="0">
              <a:ea typeface="宋体" panose="02010600030101010101" pitchFamily="2" charset="-122"/>
            </a:endParaRPr>
          </a:p>
          <a:p>
            <a:pPr lvl="1"/>
            <a:r>
              <a:rPr lang="zh-CN" altLang="en-US" sz="2000" b="1" dirty="0">
                <a:ea typeface="宋体" panose="02010600030101010101" pitchFamily="2" charset="-122"/>
              </a:rPr>
              <a:t>解决方法：此时可以采用移进优先的原则，这种方法可以解决一些二义性文法引起的冲突</a:t>
            </a:r>
            <a:endParaRPr lang="en-US" altLang="zh-CN" sz="2000" b="1" dirty="0">
              <a:ea typeface="宋体" panose="02010600030101010101" pitchFamily="2" charset="-122"/>
            </a:endParaRPr>
          </a:p>
          <a:p>
            <a:pPr lvl="2"/>
            <a:r>
              <a:rPr lang="zh-CN" altLang="en-US" sz="1800" b="1" dirty="0">
                <a:ea typeface="宋体" panose="02010600030101010101" pitchFamily="2" charset="-122"/>
              </a:rPr>
              <a:t>上例中，优先移进</a:t>
            </a:r>
            <a:r>
              <a:rPr lang="en-US" altLang="zh-CN" sz="1800" b="1" dirty="0">
                <a:ea typeface="宋体" panose="02010600030101010101" pitchFamily="2" charset="-122"/>
              </a:rPr>
              <a:t>else</a:t>
            </a:r>
            <a:r>
              <a:rPr lang="zh-CN" altLang="en-US" sz="1800" b="1" dirty="0">
                <a:ea typeface="宋体" panose="02010600030101010101" pitchFamily="2" charset="-122"/>
              </a:rPr>
              <a:t>，可以解决</a:t>
            </a:r>
            <a:r>
              <a:rPr lang="en-US" altLang="zh-CN" sz="1800" b="1" dirty="0">
                <a:ea typeface="宋体" panose="02010600030101010101" pitchFamily="2" charset="-122"/>
              </a:rPr>
              <a:t>if</a:t>
            </a:r>
            <a:r>
              <a:rPr lang="zh-CN" altLang="en-US" sz="1800" b="1"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b="1" dirty="0">
                <a:ea typeface="宋体" panose="02010600030101010101" pitchFamily="2" charset="-122"/>
              </a:rPr>
              <a:t>then</a:t>
            </a:r>
            <a:r>
              <a:rPr lang="zh-CN" altLang="en-US" sz="1800" b="1"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b="1" dirty="0">
                <a:ea typeface="宋体" panose="02010600030101010101" pitchFamily="2" charset="-122"/>
              </a:rPr>
              <a:t>else</a:t>
            </a:r>
            <a:r>
              <a:rPr lang="zh-CN" altLang="en-US" sz="1800" b="1" dirty="0">
                <a:ea typeface="宋体" panose="02010600030101010101" pitchFamily="2" charset="-122"/>
              </a:rPr>
              <a:t>匹配的问题</a:t>
            </a:r>
            <a:endParaRPr lang="en-US" altLang="zh-CN" sz="1800" b="1" dirty="0">
              <a:ea typeface="宋体" panose="02010600030101010101" pitchFamily="2" charset="-122"/>
            </a:endParaRP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自底向上的分析（1</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49507" name="Rectangle 3"/>
          <p:cNvSpPr>
            <a:spLocks noGrp="1" noChangeArrowheads="1"/>
          </p:cNvSpPr>
          <p:nvPr>
            <p:ph idx="1"/>
          </p:nvPr>
        </p:nvSpPr>
        <p:spPr>
          <a:xfrm>
            <a:off x="250825" y="1371600"/>
            <a:ext cx="5381625" cy="48006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归约-归约冲突</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定义：根据栈中所有的内容和下一个输入符号不能决定使用哪一个产生式归约</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如右图的文法中的数组引用和函数调用</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p</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j</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），在语法分析时，看到如下格局，对于栈顶的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id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如何归约？</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栈</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输入</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$...id ( id		,  id )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p</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是过程，则</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id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应用产生式</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5</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进行归约，如果</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p</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是数组名，则应用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7</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进行归约</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解决方法：一种方式是将产生式</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中的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id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改为</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procid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（并改进词法分析器），则</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如果栈里是</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$...id ( id</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，用</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7</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进行归约</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如果栈里是</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procid</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id</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，用</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5</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进行归约</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上述方法用到了栈顶之下的第三个符号帮助确定句柄，但其自身并没有被归约，这是移进</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归约分析的特点</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178180" name="Picture 2"/>
          <p:cNvPicPr>
            <a:picLocks noChangeAspect="1"/>
          </p:cNvPicPr>
          <p:nvPr/>
        </p:nvPicPr>
        <p:blipFill>
          <a:blip r:embed="rId1"/>
          <a:stretch>
            <a:fillRect/>
          </a:stretch>
        </p:blipFill>
        <p:spPr>
          <a:xfrm>
            <a:off x="5553075" y="1143000"/>
            <a:ext cx="3556000" cy="4071938"/>
          </a:xfrm>
          <a:prstGeom prst="rect">
            <a:avLst/>
          </a:prstGeom>
          <a:noFill/>
          <a:ln w="9525">
            <a:noFill/>
          </a:ln>
        </p:spPr>
      </p:pic>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第四章 语法分析</a:t>
            </a:r>
            <a:endParaRPr lang="en-US" altLang="zh-CN" dirty="0">
              <a:latin typeface="宋体" panose="02010600030101010101" pitchFamily="2" charset="-122"/>
              <a:ea typeface="宋体" panose="02010600030101010101" pitchFamily="2" charset="-122"/>
            </a:endParaRPr>
          </a:p>
        </p:txBody>
      </p:sp>
      <p:sp>
        <p:nvSpPr>
          <p:cNvPr id="180227" name="Rectangle 3"/>
          <p:cNvSpPr>
            <a:spLocks noGrp="1"/>
          </p:cNvSpPr>
          <p:nvPr>
            <p:ph idx="1"/>
          </p:nvPr>
        </p:nvSpPr>
        <p:spPr>
          <a:xfrm>
            <a:off x="990600" y="1600200"/>
            <a:ext cx="7391400" cy="4191000"/>
          </a:xfrm>
        </p:spPr>
        <p:txBody>
          <a:bodyPr vert="horz" wrap="square" lIns="92075" tIns="46038" rIns="92075" bIns="46038" anchor="t" anchorCtr="0"/>
          <a:p>
            <a:r>
              <a:rPr lang="zh-CN" altLang="en-US" sz="3200" b="1" dirty="0">
                <a:ea typeface="宋体" panose="02010600030101010101" pitchFamily="2" charset="-122"/>
              </a:rPr>
              <a:t>引言</a:t>
            </a:r>
            <a:r>
              <a:rPr lang="en-US" altLang="zh-CN" sz="3200" b="1" dirty="0">
                <a:ea typeface="宋体" panose="02010600030101010101" pitchFamily="2" charset="-122"/>
              </a:rPr>
              <a:t>—</a:t>
            </a:r>
            <a:r>
              <a:rPr lang="zh-CN" altLang="en-US" sz="3200" b="1" dirty="0">
                <a:ea typeface="宋体" panose="02010600030101010101" pitchFamily="2" charset="-122"/>
              </a:rPr>
              <a:t>分析器的作用及错误处理等</a:t>
            </a:r>
            <a:endParaRPr lang="zh-CN" altLang="en-US" sz="3200" b="1" dirty="0">
              <a:ea typeface="宋体" panose="02010600030101010101" pitchFamily="2" charset="-122"/>
            </a:endParaRPr>
          </a:p>
          <a:p>
            <a:r>
              <a:rPr lang="zh-CN" altLang="en-US" sz="3200" b="1" dirty="0">
                <a:ea typeface="宋体" panose="02010600030101010101" pitchFamily="2" charset="-122"/>
              </a:rPr>
              <a:t>上下文无关文法的分析及改造</a:t>
            </a:r>
            <a:endParaRPr lang="zh-CN" altLang="en-US" sz="3200" b="1" dirty="0">
              <a:ea typeface="宋体" panose="02010600030101010101" pitchFamily="2" charset="-122"/>
            </a:endParaRPr>
          </a:p>
          <a:p>
            <a:r>
              <a:rPr lang="zh-CN" altLang="en-US" sz="3200" b="1" dirty="0">
                <a:ea typeface="宋体" panose="02010600030101010101" pitchFamily="2" charset="-122"/>
              </a:rPr>
              <a:t>自顶向下的分析</a:t>
            </a:r>
            <a:endParaRPr lang="zh-CN" altLang="en-US" sz="3200" b="1" dirty="0">
              <a:ea typeface="宋体" panose="02010600030101010101" pitchFamily="2" charset="-122"/>
            </a:endParaRPr>
          </a:p>
          <a:p>
            <a:r>
              <a:rPr lang="zh-CN" altLang="en-US" sz="3200" b="1" dirty="0">
                <a:ea typeface="宋体" panose="02010600030101010101" pitchFamily="2" charset="-122"/>
              </a:rPr>
              <a:t>自底向上的分析</a:t>
            </a:r>
            <a:endParaRPr lang="zh-CN" altLang="en-US" sz="3200" b="1" dirty="0">
              <a:ea typeface="宋体" panose="02010600030101010101" pitchFamily="2" charset="-122"/>
            </a:endParaRPr>
          </a:p>
          <a:p>
            <a:r>
              <a:rPr lang="en-US" altLang="zh-CN" sz="3200" b="1" dirty="0">
                <a:solidFill>
                  <a:srgbClr val="FF0000"/>
                </a:solidFill>
                <a:ea typeface="宋体" panose="02010600030101010101" pitchFamily="2" charset="-122"/>
              </a:rPr>
              <a:t>LR</a:t>
            </a:r>
            <a:r>
              <a:rPr lang="zh-CN" altLang="en-US" sz="3200" b="1" dirty="0">
                <a:solidFill>
                  <a:srgbClr val="FF0000"/>
                </a:solidFill>
                <a:ea typeface="宋体" panose="02010600030101010101" pitchFamily="2" charset="-122"/>
              </a:rPr>
              <a:t>分析器</a:t>
            </a:r>
            <a:endParaRPr lang="zh-CN" altLang="en-US" sz="3200" b="1" dirty="0">
              <a:solidFill>
                <a:srgbClr val="FF0000"/>
              </a:solidFill>
              <a:ea typeface="宋体" panose="02010600030101010101" pitchFamily="2" charset="-122"/>
            </a:endParaRPr>
          </a:p>
          <a:p>
            <a:r>
              <a:rPr lang="zh-CN" altLang="en-US" sz="3200" b="1" dirty="0">
                <a:ea typeface="宋体" panose="02010600030101010101" pitchFamily="2" charset="-122"/>
              </a:rPr>
              <a:t>二义文法的应用和自底向上分析的错误处理</a:t>
            </a:r>
            <a:endParaRPr lang="en-US" altLang="zh-CN" sz="3200" b="1" dirty="0">
              <a:ea typeface="宋体" panose="02010600030101010101" pitchFamily="2" charset="-122"/>
            </a:endParaRPr>
          </a:p>
          <a:p>
            <a:r>
              <a:rPr lang="zh-CN" altLang="en-US" sz="3200" b="1" dirty="0">
                <a:ea typeface="宋体" panose="02010600030101010101" pitchFamily="2" charset="-122"/>
              </a:rPr>
              <a:t>语法分析器生成工具</a:t>
            </a:r>
            <a:endParaRPr lang="zh-CN" altLang="en-US" b="1" dirty="0">
              <a:ea typeface="宋体" panose="02010600030101010101" pitchFamily="2" charset="-122"/>
            </a:endParaRP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（1）</a:t>
            </a:r>
            <a:endParaRPr lang="en-US" altLang="zh-CN" dirty="0">
              <a:latin typeface="Times New Roman" panose="02020603050405020304" pitchFamily="18" charset="0"/>
              <a:ea typeface="宋体" panose="02010600030101010101" pitchFamily="2" charset="-122"/>
            </a:endParaRPr>
          </a:p>
        </p:txBody>
      </p:sp>
      <p:sp>
        <p:nvSpPr>
          <p:cNvPr id="182275" name="Rectangle 3"/>
          <p:cNvSpPr>
            <a:spLocks noGrp="1"/>
          </p:cNvSpPr>
          <p:nvPr>
            <p:ph idx="1"/>
          </p:nvPr>
        </p:nvSpPr>
        <p:spPr>
          <a:xfrm>
            <a:off x="990600" y="1524000"/>
            <a:ext cx="7391400" cy="4267200"/>
          </a:xfrm>
        </p:spPr>
        <p:txBody>
          <a:bodyPr vert="horz" wrap="square" lIns="92075" tIns="46038" rIns="92075" bIns="46038" anchor="t" anchorCtr="0"/>
          <a:p>
            <a:pPr>
              <a:spcAft>
                <a:spcPct val="20000"/>
              </a:spcAft>
            </a:pPr>
            <a:r>
              <a:rPr lang="en-US" altLang="zh-CN" sz="3000" b="1" dirty="0">
                <a:ea typeface="宋体" panose="02010600030101010101" pitchFamily="2" charset="-122"/>
              </a:rPr>
              <a:t>LR</a:t>
            </a:r>
            <a:r>
              <a:rPr lang="zh-CN" altLang="en-US" sz="3000" b="1" dirty="0">
                <a:ea typeface="宋体" panose="02010600030101010101" pitchFamily="2" charset="-122"/>
              </a:rPr>
              <a:t>分析算法</a:t>
            </a:r>
            <a:endParaRPr lang="zh-CN" altLang="en-US" sz="3000" b="1" dirty="0">
              <a:ea typeface="宋体" panose="02010600030101010101" pitchFamily="2" charset="-122"/>
            </a:endParaRPr>
          </a:p>
          <a:p>
            <a:pPr>
              <a:spcAft>
                <a:spcPct val="20000"/>
              </a:spcAft>
            </a:pPr>
            <a:r>
              <a:rPr lang="en-US" altLang="zh-CN" sz="3000" b="1" dirty="0">
                <a:ea typeface="宋体" panose="02010600030101010101" pitchFamily="2" charset="-122"/>
              </a:rPr>
              <a:t>LR(0)</a:t>
            </a:r>
            <a:r>
              <a:rPr lang="zh-CN" altLang="en-US" sz="3000" b="1" dirty="0">
                <a:ea typeface="宋体" panose="02010600030101010101" pitchFamily="2" charset="-122"/>
              </a:rPr>
              <a:t>分析</a:t>
            </a:r>
            <a:endParaRPr lang="zh-CN" altLang="en-US" sz="3000" b="1" dirty="0">
              <a:ea typeface="宋体" panose="02010600030101010101" pitchFamily="2" charset="-122"/>
            </a:endParaRPr>
          </a:p>
          <a:p>
            <a:pPr>
              <a:spcAft>
                <a:spcPct val="20000"/>
              </a:spcAft>
            </a:pPr>
            <a:r>
              <a:rPr lang="en-US" altLang="zh-CN" sz="3000" b="1" dirty="0">
                <a:ea typeface="宋体" panose="02010600030101010101" pitchFamily="2" charset="-122"/>
              </a:rPr>
              <a:t>LR</a:t>
            </a:r>
            <a:r>
              <a:rPr lang="zh-CN" altLang="en-US" sz="3000" b="1" dirty="0">
                <a:ea typeface="宋体" panose="02010600030101010101" pitchFamily="2" charset="-122"/>
              </a:rPr>
              <a:t>语法分析算法</a:t>
            </a:r>
            <a:endParaRPr lang="zh-CN" altLang="en-US" sz="3000" b="1" dirty="0">
              <a:ea typeface="宋体" panose="02010600030101010101" pitchFamily="2" charset="-122"/>
            </a:endParaRPr>
          </a:p>
          <a:p>
            <a:pPr>
              <a:spcAft>
                <a:spcPct val="20000"/>
              </a:spcAft>
            </a:pPr>
            <a:r>
              <a:rPr lang="en-US" altLang="zh-CN" sz="3000" b="1" dirty="0">
                <a:ea typeface="宋体" panose="02010600030101010101" pitchFamily="2" charset="-122"/>
              </a:rPr>
              <a:t>SLR(1)</a:t>
            </a:r>
            <a:r>
              <a:rPr lang="zh-CN" altLang="en-US" sz="3000" b="1" dirty="0">
                <a:ea typeface="宋体" panose="02010600030101010101" pitchFamily="2" charset="-122"/>
              </a:rPr>
              <a:t>分析</a:t>
            </a:r>
            <a:endParaRPr lang="zh-CN" altLang="en-US" sz="3000" b="1" dirty="0">
              <a:ea typeface="宋体" panose="02010600030101010101" pitchFamily="2" charset="-122"/>
            </a:endParaRPr>
          </a:p>
          <a:p>
            <a:pPr>
              <a:spcAft>
                <a:spcPct val="20000"/>
              </a:spcAft>
            </a:pPr>
            <a:r>
              <a:rPr lang="en-US" altLang="zh-CN" sz="3000" b="1" dirty="0">
                <a:ea typeface="宋体" panose="02010600030101010101" pitchFamily="2" charset="-122"/>
              </a:rPr>
              <a:t>LR(1)</a:t>
            </a:r>
            <a:r>
              <a:rPr lang="zh-CN" altLang="en-US" sz="3000" b="1" dirty="0">
                <a:ea typeface="宋体" panose="02010600030101010101" pitchFamily="2" charset="-122"/>
              </a:rPr>
              <a:t>规范分析</a:t>
            </a:r>
            <a:endParaRPr lang="zh-CN" altLang="en-US" sz="3000" b="1" dirty="0">
              <a:ea typeface="宋体" panose="02010600030101010101" pitchFamily="2" charset="-122"/>
            </a:endParaRPr>
          </a:p>
          <a:p>
            <a:pPr>
              <a:spcAft>
                <a:spcPct val="20000"/>
              </a:spcAft>
            </a:pPr>
            <a:r>
              <a:rPr lang="en-US" altLang="zh-CN" sz="3000" b="1" dirty="0">
                <a:ea typeface="宋体" panose="02010600030101010101" pitchFamily="2" charset="-122"/>
              </a:rPr>
              <a:t>LALR(1)</a:t>
            </a:r>
            <a:r>
              <a:rPr lang="zh-CN" altLang="en-US" sz="3000" b="1" dirty="0">
                <a:ea typeface="宋体" panose="02010600030101010101" pitchFamily="2" charset="-122"/>
              </a:rPr>
              <a:t>分析</a:t>
            </a:r>
            <a:endParaRPr lang="zh-CN" altLang="en-US" sz="3000" b="1" dirty="0">
              <a:ea typeface="宋体" panose="02010600030101010101" pitchFamily="2" charset="-122"/>
            </a:endParaRP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（2）</a:t>
            </a:r>
            <a:endParaRPr lang="en-US" altLang="zh-CN" dirty="0">
              <a:latin typeface="Times New Roman" panose="02020603050405020304" pitchFamily="18" charset="0"/>
              <a:ea typeface="宋体" panose="02010600030101010101" pitchFamily="2" charset="-122"/>
            </a:endParaRPr>
          </a:p>
        </p:txBody>
      </p:sp>
      <p:sp>
        <p:nvSpPr>
          <p:cNvPr id="184323" name="Rectangle 3"/>
          <p:cNvSpPr>
            <a:spLocks noGrp="1"/>
          </p:cNvSpPr>
          <p:nvPr>
            <p:ph idx="1"/>
          </p:nvPr>
        </p:nvSpPr>
        <p:spPr>
          <a:xfrm>
            <a:off x="990600" y="1371600"/>
            <a:ext cx="7391400" cy="4953000"/>
          </a:xfrm>
        </p:spPr>
        <p:txBody>
          <a:bodyPr vert="horz" wrap="square" lIns="92075" tIns="46038" rIns="92075" bIns="46038" anchor="t" anchorCtr="0"/>
          <a:p>
            <a:pPr>
              <a:lnSpc>
                <a:spcPct val="90000"/>
              </a:lnSpc>
            </a:pPr>
            <a:r>
              <a:rPr lang="en-US" altLang="zh-CN" sz="2200" b="1" dirty="0">
                <a:ea typeface="宋体" panose="02010600030101010101" pitchFamily="2" charset="-122"/>
              </a:rPr>
              <a:t>LR(k)</a:t>
            </a:r>
            <a:r>
              <a:rPr lang="zh-CN" altLang="en-US" sz="2200" b="1" dirty="0">
                <a:ea typeface="宋体" panose="02010600030101010101" pitchFamily="2" charset="-122"/>
              </a:rPr>
              <a:t>分析</a:t>
            </a:r>
            <a:endParaRPr lang="zh-CN" altLang="en-US" sz="2200" b="1" dirty="0">
              <a:ea typeface="宋体" panose="02010600030101010101" pitchFamily="2" charset="-122"/>
            </a:endParaRPr>
          </a:p>
          <a:p>
            <a:pPr lvl="1">
              <a:lnSpc>
                <a:spcPct val="90000"/>
              </a:lnSpc>
            </a:pPr>
            <a:r>
              <a:rPr lang="en-US" altLang="zh-CN" sz="2000" b="1" dirty="0">
                <a:ea typeface="宋体" panose="02010600030101010101" pitchFamily="2" charset="-122"/>
              </a:rPr>
              <a:t>L</a:t>
            </a:r>
            <a:r>
              <a:rPr lang="zh-CN" altLang="en-US" sz="2000" b="1" dirty="0">
                <a:ea typeface="宋体" panose="02010600030101010101" pitchFamily="2" charset="-122"/>
              </a:rPr>
              <a:t>指从左到右扫描输入，</a:t>
            </a:r>
            <a:r>
              <a:rPr lang="en-US" altLang="zh-CN" sz="2000" b="1" dirty="0">
                <a:ea typeface="宋体" panose="02010600030101010101" pitchFamily="2" charset="-122"/>
              </a:rPr>
              <a:t>R</a:t>
            </a:r>
            <a:r>
              <a:rPr lang="zh-CN" altLang="en-US" sz="2000" b="1" dirty="0">
                <a:ea typeface="宋体" panose="02010600030101010101" pitchFamily="2" charset="-122"/>
              </a:rPr>
              <a:t>指构造最右推导的逆，</a:t>
            </a:r>
            <a:r>
              <a:rPr lang="en-US" altLang="zh-CN" sz="2000" b="1" dirty="0">
                <a:ea typeface="宋体" panose="02010600030101010101" pitchFamily="2" charset="-122"/>
              </a:rPr>
              <a:t>k</a:t>
            </a:r>
            <a:r>
              <a:rPr lang="zh-CN" altLang="en-US" sz="2000" b="1" dirty="0">
                <a:ea typeface="宋体" panose="02010600030101010101" pitchFamily="2" charset="-122"/>
              </a:rPr>
              <a:t>指的是在决定分析动作时向前看的符号个数，(</a:t>
            </a:r>
            <a:r>
              <a:rPr lang="en-US" altLang="zh-CN" sz="2000" b="1" dirty="0">
                <a:ea typeface="宋体" panose="02010600030101010101" pitchFamily="2" charset="-122"/>
              </a:rPr>
              <a:t>k)</a:t>
            </a:r>
            <a:r>
              <a:rPr lang="zh-CN" altLang="en-US" sz="2000" b="1" dirty="0">
                <a:ea typeface="宋体" panose="02010600030101010101" pitchFamily="2" charset="-122"/>
              </a:rPr>
              <a:t>省略时，表示</a:t>
            </a:r>
            <a:r>
              <a:rPr lang="en-US" altLang="zh-CN" sz="2000" b="1" dirty="0">
                <a:ea typeface="宋体" panose="02010600030101010101" pitchFamily="2" charset="-122"/>
              </a:rPr>
              <a:t>k</a:t>
            </a:r>
            <a:r>
              <a:rPr lang="zh-CN" altLang="en-US" sz="2000" b="1" dirty="0">
                <a:ea typeface="宋体" panose="02010600030101010101" pitchFamily="2" charset="-122"/>
              </a:rPr>
              <a:t>是1</a:t>
            </a:r>
            <a:endParaRPr lang="zh-CN" altLang="en-US" sz="2000" b="1" dirty="0">
              <a:ea typeface="宋体" panose="02010600030101010101" pitchFamily="2" charset="-122"/>
            </a:endParaRPr>
          </a:p>
          <a:p>
            <a:pPr lvl="1">
              <a:lnSpc>
                <a:spcPct val="90000"/>
              </a:lnSpc>
            </a:pPr>
            <a:r>
              <a:rPr lang="en-US" altLang="zh-CN" sz="2000" b="1" dirty="0">
                <a:ea typeface="宋体" panose="02010600030101010101" pitchFamily="2" charset="-122"/>
              </a:rPr>
              <a:t>LR(k)</a:t>
            </a:r>
            <a:r>
              <a:rPr lang="zh-CN" altLang="en-US" sz="2000" b="1" dirty="0">
                <a:ea typeface="宋体" panose="02010600030101010101" pitchFamily="2" charset="-122"/>
              </a:rPr>
              <a:t>分析能力强大</a:t>
            </a:r>
            <a:endParaRPr lang="zh-CN" altLang="en-US" sz="2000" b="1" dirty="0">
              <a:ea typeface="宋体" panose="02010600030101010101" pitchFamily="2" charset="-122"/>
            </a:endParaRPr>
          </a:p>
          <a:p>
            <a:pPr lvl="2">
              <a:lnSpc>
                <a:spcPct val="90000"/>
              </a:lnSpc>
            </a:pPr>
            <a:r>
              <a:rPr lang="zh-CN" altLang="en-US" sz="1800" b="1" dirty="0">
                <a:ea typeface="宋体" panose="02010600030101010101" pitchFamily="2" charset="-122"/>
              </a:rPr>
              <a:t>几乎所有的程序设计语言构造，只要能够表示成上下文无关文法，就能够构造识别该结构的</a:t>
            </a:r>
            <a:r>
              <a:rPr lang="en-US" altLang="zh-CN" sz="1800" b="1" dirty="0">
                <a:ea typeface="宋体" panose="02010600030101010101" pitchFamily="2" charset="-122"/>
              </a:rPr>
              <a:t>LR</a:t>
            </a:r>
            <a:r>
              <a:rPr lang="zh-CN" altLang="en-US" sz="1800" b="1" dirty="0">
                <a:ea typeface="宋体" panose="02010600030101010101" pitchFamily="2" charset="-122"/>
              </a:rPr>
              <a:t>分析器</a:t>
            </a:r>
            <a:endParaRPr lang="zh-CN" altLang="en-US" sz="1800" b="1" dirty="0">
              <a:ea typeface="宋体" panose="02010600030101010101" pitchFamily="2" charset="-122"/>
            </a:endParaRPr>
          </a:p>
          <a:p>
            <a:pPr lvl="2">
              <a:lnSpc>
                <a:spcPct val="90000"/>
              </a:lnSpc>
            </a:pPr>
            <a:r>
              <a:rPr lang="en-US" altLang="zh-CN" sz="1800" b="1" dirty="0">
                <a:ea typeface="宋体" panose="02010600030101010101" pitchFamily="2" charset="-122"/>
              </a:rPr>
              <a:t>LR</a:t>
            </a:r>
            <a:r>
              <a:rPr lang="zh-CN" altLang="en-US" sz="1800" b="1" dirty="0">
                <a:ea typeface="宋体" panose="02010600030101010101" pitchFamily="2" charset="-122"/>
              </a:rPr>
              <a:t>分析方法是已知的最一般的无回溯移进-归约方法，它能够和其他移进-归约方法一样有效地实现</a:t>
            </a:r>
            <a:endParaRPr lang="zh-CN" altLang="en-US" sz="1800" b="1" dirty="0">
              <a:ea typeface="宋体" panose="02010600030101010101" pitchFamily="2" charset="-122"/>
            </a:endParaRPr>
          </a:p>
          <a:p>
            <a:pPr lvl="2">
              <a:lnSpc>
                <a:spcPct val="90000"/>
              </a:lnSpc>
            </a:pPr>
            <a:r>
              <a:rPr lang="en-US" altLang="zh-CN" sz="1800" b="1" dirty="0">
                <a:ea typeface="宋体" panose="02010600030101010101" pitchFamily="2" charset="-122"/>
              </a:rPr>
              <a:t>LR</a:t>
            </a:r>
            <a:r>
              <a:rPr lang="zh-CN" altLang="en-US" sz="1800" b="1" dirty="0">
                <a:ea typeface="宋体" panose="02010600030101010101" pitchFamily="2" charset="-122"/>
              </a:rPr>
              <a:t>方法能分析的文法类是预测分析法能分析的文法类的真超集</a:t>
            </a:r>
            <a:endParaRPr lang="zh-CN" altLang="en-US" sz="1800" b="1" dirty="0">
              <a:ea typeface="宋体" panose="02010600030101010101" pitchFamily="2" charset="-122"/>
            </a:endParaRPr>
          </a:p>
          <a:p>
            <a:pPr lvl="2">
              <a:lnSpc>
                <a:spcPct val="90000"/>
              </a:lnSpc>
            </a:pPr>
            <a:r>
              <a:rPr lang="en-US" altLang="zh-CN" sz="1800" b="1" dirty="0">
                <a:ea typeface="宋体" panose="02010600030101010101" pitchFamily="2" charset="-122"/>
              </a:rPr>
              <a:t>LR</a:t>
            </a:r>
            <a:r>
              <a:rPr lang="zh-CN" altLang="en-US" sz="1800" b="1" dirty="0">
                <a:ea typeface="宋体" panose="02010600030101010101" pitchFamily="2" charset="-122"/>
              </a:rPr>
              <a:t>分析器能及时察觉语法错误，快到自左向右扫描输入的最大可能</a:t>
            </a:r>
            <a:endParaRPr lang="zh-CN" altLang="en-US" sz="1800" b="1" dirty="0">
              <a:ea typeface="宋体" panose="02010600030101010101" pitchFamily="2" charset="-122"/>
            </a:endParaRPr>
          </a:p>
          <a:p>
            <a:pPr lvl="1">
              <a:lnSpc>
                <a:spcPct val="90000"/>
              </a:lnSpc>
            </a:pPr>
            <a:r>
              <a:rPr lang="zh-CN" altLang="en-US" sz="2000" b="1" dirty="0">
                <a:ea typeface="宋体" panose="02010600030101010101" pitchFamily="2" charset="-122"/>
              </a:rPr>
              <a:t>手工构造</a:t>
            </a:r>
            <a:r>
              <a:rPr lang="en-US" altLang="zh-CN" sz="2000" b="1" dirty="0">
                <a:ea typeface="宋体" panose="02010600030101010101" pitchFamily="2" charset="-122"/>
              </a:rPr>
              <a:t>LR</a:t>
            </a:r>
            <a:r>
              <a:rPr lang="zh-CN" altLang="en-US" sz="2000" b="1" dirty="0">
                <a:ea typeface="宋体" panose="02010600030101010101" pitchFamily="2" charset="-122"/>
              </a:rPr>
              <a:t>分析器的工作量太大，但可以利用专门的工具（如</a:t>
            </a:r>
            <a:r>
              <a:rPr lang="en-US" altLang="zh-CN" sz="2000" b="1" dirty="0">
                <a:ea typeface="宋体" panose="02010600030101010101" pitchFamily="2" charset="-122"/>
              </a:rPr>
              <a:t>Yacc）</a:t>
            </a:r>
            <a:r>
              <a:rPr lang="zh-CN" altLang="en-US" sz="2000" b="1" dirty="0">
                <a:ea typeface="宋体" panose="02010600030101010101" pitchFamily="2" charset="-122"/>
              </a:rPr>
              <a:t>来构造</a:t>
            </a:r>
            <a:endParaRPr lang="zh-CN" altLang="en-US" sz="2000" b="1" dirty="0">
              <a:ea typeface="宋体" panose="02010600030101010101" pitchFamily="2" charset="-122"/>
            </a:endParaRPr>
          </a:p>
          <a:p>
            <a:pPr lvl="2">
              <a:lnSpc>
                <a:spcPct val="90000"/>
              </a:lnSpc>
            </a:pPr>
            <a:r>
              <a:rPr lang="zh-CN" altLang="en-US" sz="1800" b="1" dirty="0">
                <a:ea typeface="宋体" panose="02010600030101010101" pitchFamily="2" charset="-122"/>
              </a:rPr>
              <a:t>如果文法二义或有其它难以自左向右分析的结构，分析器的生成器能定位这些结构并报告</a:t>
            </a:r>
            <a:endParaRPr lang="zh-CN" altLang="en-US" sz="1800" b="1" dirty="0">
              <a:ea typeface="宋体" panose="02010600030101010101" pitchFamily="2" charset="-122"/>
            </a:endParaRPr>
          </a:p>
        </p:txBody>
      </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（3）</a:t>
            </a:r>
            <a:endParaRPr lang="en-US" altLang="zh-CN" dirty="0">
              <a:latin typeface="Times New Roman" panose="02020603050405020304" pitchFamily="18" charset="0"/>
              <a:ea typeface="宋体" panose="02010600030101010101" pitchFamily="2" charset="-122"/>
            </a:endParaRPr>
          </a:p>
        </p:txBody>
      </p:sp>
      <p:sp>
        <p:nvSpPr>
          <p:cNvPr id="186371" name="Rectangle 3"/>
          <p:cNvSpPr>
            <a:spLocks noGrp="1"/>
          </p:cNvSpPr>
          <p:nvPr>
            <p:ph idx="1"/>
          </p:nvPr>
        </p:nvSpPr>
        <p:spPr>
          <a:xfrm>
            <a:off x="990600" y="1371600"/>
            <a:ext cx="7467600" cy="4953000"/>
          </a:xfrm>
        </p:spPr>
        <p:txBody>
          <a:bodyPr vert="horz" wrap="square" lIns="92075" tIns="46038" rIns="92075" bIns="46038" anchor="t" anchorCtr="0"/>
          <a:p>
            <a:pPr>
              <a:lnSpc>
                <a:spcPct val="90000"/>
              </a:lnSpc>
            </a:pPr>
            <a:r>
              <a:rPr lang="zh-CN" altLang="en-US" sz="2400" b="1" dirty="0">
                <a:ea typeface="宋体" panose="02010600030101010101" pitchFamily="2" charset="-122"/>
              </a:rPr>
              <a:t>项（</a:t>
            </a:r>
            <a:r>
              <a:rPr lang="en-US" altLang="zh-CN" sz="2400" b="1" dirty="0">
                <a:ea typeface="宋体" panose="02010600030101010101" pitchFamily="2" charset="-122"/>
              </a:rPr>
              <a:t>item</a:t>
            </a:r>
            <a:r>
              <a:rPr lang="zh-CN" altLang="en-US" sz="2400" b="1" dirty="0">
                <a:ea typeface="宋体" panose="02010600030101010101" pitchFamily="2" charset="-122"/>
              </a:rPr>
              <a:t>）的意义</a:t>
            </a:r>
            <a:endParaRPr lang="en-US" altLang="zh-CN" sz="2400" b="1" dirty="0">
              <a:ea typeface="宋体" panose="02010600030101010101" pitchFamily="2" charset="-122"/>
            </a:endParaRPr>
          </a:p>
          <a:p>
            <a:pPr lvl="1">
              <a:lnSpc>
                <a:spcPct val="90000"/>
              </a:lnSpc>
            </a:pPr>
            <a:r>
              <a:rPr lang="zh-CN" altLang="en-US" sz="2000" b="1" dirty="0">
                <a:ea typeface="宋体" panose="02010600030101010101" pitchFamily="2" charset="-122"/>
              </a:rPr>
              <a:t>“项”对应了分析的状态，通过这些状态信息的概括，确定</a:t>
            </a:r>
            <a:r>
              <a:rPr lang="en-US" altLang="zh-CN" sz="2000" b="1" dirty="0">
                <a:ea typeface="宋体" panose="02010600030101010101" pitchFamily="2" charset="-122"/>
              </a:rPr>
              <a:t>LR</a:t>
            </a:r>
            <a:r>
              <a:rPr lang="zh-CN" altLang="en-US" sz="2000" b="1" dirty="0">
                <a:ea typeface="宋体" panose="02010600030101010101" pitchFamily="2" charset="-122"/>
              </a:rPr>
              <a:t>分析的动作</a:t>
            </a:r>
            <a:endParaRPr lang="en-US" altLang="zh-CN" sz="2000" b="1" dirty="0">
              <a:ea typeface="宋体" panose="02010600030101010101" pitchFamily="2" charset="-122"/>
            </a:endParaRPr>
          </a:p>
          <a:p>
            <a:pPr>
              <a:lnSpc>
                <a:spcPct val="90000"/>
              </a:lnSpc>
            </a:pPr>
            <a:r>
              <a:rPr lang="en-US" altLang="zh-CN" sz="2400" b="1" dirty="0">
                <a:ea typeface="宋体" panose="02010600030101010101" pitchFamily="2" charset="-122"/>
              </a:rPr>
              <a:t>LR(0)</a:t>
            </a:r>
            <a:r>
              <a:rPr lang="zh-CN" altLang="en-US" sz="2400" b="1" dirty="0">
                <a:ea typeface="宋体" panose="02010600030101010101" pitchFamily="2" charset="-122"/>
              </a:rPr>
              <a:t>项目</a:t>
            </a:r>
            <a:endParaRPr lang="zh-CN" altLang="en-US" sz="2400" b="1" dirty="0">
              <a:ea typeface="宋体" panose="02010600030101010101" pitchFamily="2" charset="-122"/>
            </a:endParaRPr>
          </a:p>
          <a:p>
            <a:pPr lvl="1">
              <a:lnSpc>
                <a:spcPct val="90000"/>
              </a:lnSpc>
            </a:pPr>
            <a:r>
              <a:rPr lang="en-US" altLang="zh-CN" sz="2000" b="1" dirty="0">
                <a:ea typeface="宋体" panose="02010600030101010101" pitchFamily="2" charset="-122"/>
              </a:rPr>
              <a:t>LR(0)</a:t>
            </a:r>
            <a:r>
              <a:rPr lang="zh-CN" altLang="en-US" sz="2000" b="1" dirty="0">
                <a:ea typeface="宋体" panose="02010600030101010101" pitchFamily="2" charset="-122"/>
              </a:rPr>
              <a:t>项目（</a:t>
            </a:r>
            <a:r>
              <a:rPr lang="en-US" altLang="zh-CN" sz="2000" b="1" dirty="0">
                <a:ea typeface="宋体" panose="02010600030101010101" pitchFamily="2" charset="-122"/>
              </a:rPr>
              <a:t>LR(0) item</a:t>
            </a:r>
            <a:r>
              <a:rPr lang="zh-CN" altLang="en-US" sz="2000" b="1" dirty="0">
                <a:ea typeface="宋体" panose="02010600030101010101" pitchFamily="2" charset="-122"/>
              </a:rPr>
              <a:t>，简称项目、</a:t>
            </a:r>
            <a:r>
              <a:rPr lang="en-US" altLang="zh-CN" sz="2000" b="1" dirty="0">
                <a:ea typeface="宋体" panose="02010600030101010101" pitchFamily="2" charset="-122"/>
              </a:rPr>
              <a:t>item）：</a:t>
            </a:r>
            <a:r>
              <a:rPr lang="zh-CN" altLang="en-US" sz="2000" b="1" dirty="0">
                <a:ea typeface="宋体" panose="02010600030101010101" pitchFamily="2" charset="-122"/>
              </a:rPr>
              <a:t>是在右部带有区分位置（一般是用一个“.”表示这个区分的位置）的产生式</a:t>
            </a:r>
            <a:endParaRPr lang="zh-CN" altLang="en-US" sz="2000" b="1" dirty="0">
              <a:ea typeface="宋体" panose="02010600030101010101" pitchFamily="2" charset="-122"/>
            </a:endParaRPr>
          </a:p>
          <a:p>
            <a:pPr lvl="2">
              <a:lnSpc>
                <a:spcPct val="90000"/>
              </a:lnSpc>
            </a:pPr>
            <a:r>
              <a:rPr lang="zh-CN" altLang="en-US" sz="1800" b="1" dirty="0">
                <a:ea typeface="宋体" panose="02010600030101010101" pitchFamily="2" charset="-122"/>
              </a:rPr>
              <a:t>如果</a:t>
            </a:r>
            <a:r>
              <a:rPr lang="en-US" altLang="zh-CN" sz="1800" b="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α</a:t>
            </a:r>
            <a:r>
              <a:rPr lang="zh-CN" altLang="en-US" sz="1800" b="1" dirty="0">
                <a:ea typeface="宋体" panose="02010600030101010101" pitchFamily="2" charset="-122"/>
              </a:rPr>
              <a:t>是一个产生式，且</a:t>
            </a:r>
            <a:r>
              <a:rPr lang="en-US" altLang="zh-CN" sz="1800" b="1" dirty="0">
                <a:ea typeface="宋体" panose="02010600030101010101" pitchFamily="2" charset="-122"/>
              </a:rPr>
              <a:t>α=βγ，</a:t>
            </a:r>
            <a:r>
              <a:rPr lang="zh-CN" altLang="en-US" sz="1800" b="1" dirty="0">
                <a:ea typeface="宋体" panose="02010600030101010101" pitchFamily="2" charset="-122"/>
              </a:rPr>
              <a:t>则</a:t>
            </a:r>
            <a:r>
              <a:rPr lang="en-US" altLang="zh-CN" sz="1800" b="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β.γ</a:t>
            </a:r>
            <a:r>
              <a:rPr lang="zh-CN" altLang="en-US" sz="1800" b="1" dirty="0">
                <a:ea typeface="宋体" panose="02010600030101010101" pitchFamily="2" charset="-122"/>
              </a:rPr>
              <a:t>是</a:t>
            </a:r>
            <a:r>
              <a:rPr lang="en-US" altLang="zh-CN" sz="1800" b="1" dirty="0">
                <a:ea typeface="宋体" panose="02010600030101010101" pitchFamily="2" charset="-122"/>
              </a:rPr>
              <a:t>LR(0)</a:t>
            </a:r>
            <a:r>
              <a:rPr lang="zh-CN" altLang="en-US" sz="1800" b="1" dirty="0">
                <a:ea typeface="宋体" panose="02010600030101010101" pitchFamily="2" charset="-122"/>
              </a:rPr>
              <a:t>项目，其中</a:t>
            </a:r>
            <a:r>
              <a:rPr lang="en-US" altLang="zh-CN" sz="1800" b="1" dirty="0">
                <a:ea typeface="宋体" panose="02010600030101010101" pitchFamily="2" charset="-122"/>
              </a:rPr>
              <a:t>β</a:t>
            </a:r>
            <a:r>
              <a:rPr lang="zh-CN" altLang="en-US" sz="1800" b="1" dirty="0">
                <a:ea typeface="宋体" panose="02010600030101010101" pitchFamily="2" charset="-122"/>
              </a:rPr>
              <a:t>和</a:t>
            </a:r>
            <a:r>
              <a:rPr lang="en-US" altLang="zh-CN" sz="1800" b="1" dirty="0">
                <a:ea typeface="宋体" panose="02010600030101010101" pitchFamily="2" charset="-122"/>
              </a:rPr>
              <a:t>γ</a:t>
            </a:r>
            <a:r>
              <a:rPr lang="zh-CN" altLang="en-US" sz="1800" b="1" dirty="0">
                <a:ea typeface="宋体" panose="02010600030101010101" pitchFamily="2" charset="-122"/>
              </a:rPr>
              <a:t>可以是空串</a:t>
            </a:r>
            <a:r>
              <a:rPr lang="en-US" altLang="zh-CN" sz="1800" b="1" dirty="0">
                <a:ea typeface="宋体" panose="02010600030101010101" pitchFamily="2" charset="-122"/>
              </a:rPr>
              <a:t>ε。</a:t>
            </a:r>
            <a:endParaRPr lang="en-US" altLang="zh-CN" sz="1800" b="1" dirty="0">
              <a:ea typeface="宋体" panose="02010600030101010101" pitchFamily="2" charset="-122"/>
            </a:endParaRPr>
          </a:p>
          <a:p>
            <a:pPr lvl="2">
              <a:lnSpc>
                <a:spcPct val="90000"/>
              </a:lnSpc>
            </a:pPr>
            <a:r>
              <a:rPr lang="zh-CN" altLang="en-US" sz="1800" b="1" dirty="0">
                <a:ea typeface="宋体" panose="02010600030101010101" pitchFamily="2" charset="-122"/>
              </a:rPr>
              <a:t>如果</a:t>
            </a:r>
            <a:r>
              <a:rPr lang="en-US" altLang="zh-CN" sz="1800" b="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ε</a:t>
            </a:r>
            <a:r>
              <a:rPr lang="zh-CN" altLang="en-US" sz="1800" b="1" dirty="0">
                <a:ea typeface="宋体" panose="02010600030101010101" pitchFamily="2" charset="-122"/>
              </a:rPr>
              <a:t>是一个产生式，则它只对应了一个项目</a:t>
            </a:r>
            <a:r>
              <a:rPr lang="en-US" altLang="zh-CN" sz="1800" b="1" dirty="0">
                <a:ea typeface="宋体" panose="02010600030101010101" pitchFamily="2" charset="-122"/>
              </a:rPr>
              <a:t>A</a:t>
            </a:r>
            <a:r>
              <a:rPr lang="zh-CN" altLang="en-US" sz="1800" b="1" dirty="0">
                <a:ea typeface="宋体" panose="02010600030101010101" pitchFamily="2" charset="-122"/>
              </a:rPr>
              <a:t>→.</a:t>
            </a:r>
            <a:endParaRPr lang="zh-CN" altLang="en-US" sz="1800" b="1" dirty="0">
              <a:ea typeface="宋体" panose="02010600030101010101" pitchFamily="2" charset="-122"/>
            </a:endParaRPr>
          </a:p>
          <a:p>
            <a:pPr lvl="1">
              <a:lnSpc>
                <a:spcPct val="90000"/>
              </a:lnSpc>
            </a:pPr>
            <a:r>
              <a:rPr lang="zh-CN" altLang="en-US" sz="2000" b="1" dirty="0">
                <a:ea typeface="宋体" panose="02010600030101010101" pitchFamily="2" charset="-122"/>
              </a:rPr>
              <a:t>项目的解释：</a:t>
            </a:r>
            <a:endParaRPr lang="zh-CN" altLang="en-US" sz="2000" b="1" dirty="0">
              <a:ea typeface="宋体" panose="02010600030101010101" pitchFamily="2" charset="-122"/>
            </a:endParaRPr>
          </a:p>
          <a:p>
            <a:pPr lvl="2">
              <a:lnSpc>
                <a:spcPct val="90000"/>
              </a:lnSpc>
            </a:pPr>
            <a:r>
              <a:rPr lang="zh-CN" altLang="en-US" sz="1800" b="1" dirty="0">
                <a:ea typeface="宋体" panose="02010600030101010101" pitchFamily="2" charset="-122"/>
              </a:rPr>
              <a:t>项目</a:t>
            </a:r>
            <a:r>
              <a:rPr lang="en-US" altLang="zh-CN" sz="1800" b="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β.γ</a:t>
            </a:r>
            <a:r>
              <a:rPr lang="zh-CN" altLang="en-US" sz="1800" b="1" dirty="0">
                <a:ea typeface="宋体" panose="02010600030101010101" pitchFamily="2" charset="-122"/>
              </a:rPr>
              <a:t>表示已经看到了</a:t>
            </a:r>
            <a:r>
              <a:rPr lang="en-US" altLang="zh-CN" sz="1800" b="1" dirty="0">
                <a:ea typeface="宋体" panose="02010600030101010101" pitchFamily="2" charset="-122"/>
              </a:rPr>
              <a:t>β(</a:t>
            </a:r>
            <a:r>
              <a:rPr lang="zh-CN" altLang="en-US" sz="1800" b="1" dirty="0">
                <a:ea typeface="宋体" panose="02010600030101010101" pitchFamily="2" charset="-122"/>
              </a:rPr>
              <a:t>此时，</a:t>
            </a:r>
            <a:r>
              <a:rPr lang="en-US" altLang="zh-CN" sz="1800" b="1" dirty="0">
                <a:ea typeface="宋体" panose="02010600030101010101" pitchFamily="2" charset="-122"/>
              </a:rPr>
              <a:t>β</a:t>
            </a:r>
            <a:r>
              <a:rPr lang="zh-CN" altLang="en-US" sz="1800" b="1" dirty="0">
                <a:ea typeface="宋体" panose="02010600030101010101" pitchFamily="2" charset="-122"/>
              </a:rPr>
              <a:t>必须出现在栈的顶部)，且可能从下面的输入符号中获取</a:t>
            </a:r>
            <a:r>
              <a:rPr lang="en-US" altLang="zh-CN" sz="1800" b="1" dirty="0">
                <a:ea typeface="宋体" panose="02010600030101010101" pitchFamily="2" charset="-122"/>
              </a:rPr>
              <a:t>γ</a:t>
            </a:r>
            <a:endParaRPr lang="zh-CN" altLang="en-US" sz="1800" b="1" dirty="0">
              <a:ea typeface="宋体" panose="02010600030101010101" pitchFamily="2" charset="-122"/>
            </a:endParaRPr>
          </a:p>
          <a:p>
            <a:pPr lvl="2">
              <a:lnSpc>
                <a:spcPct val="90000"/>
              </a:lnSpc>
            </a:pPr>
            <a:r>
              <a:rPr lang="zh-CN" altLang="en-US" sz="1800" b="1" dirty="0">
                <a:ea typeface="宋体" panose="02010600030101010101" pitchFamily="2" charset="-122"/>
              </a:rPr>
              <a:t>项目</a:t>
            </a:r>
            <a:r>
              <a:rPr lang="en-US" altLang="zh-CN" sz="1800" b="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α</a:t>
            </a:r>
            <a:r>
              <a:rPr lang="zh-CN" altLang="en-US" sz="1800" b="1" dirty="0">
                <a:ea typeface="宋体" panose="02010600030101010101" pitchFamily="2" charset="-122"/>
              </a:rPr>
              <a:t>表示将要用产生式</a:t>
            </a:r>
            <a:r>
              <a:rPr lang="en-US" altLang="zh-CN" sz="1800" b="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α</a:t>
            </a:r>
            <a:r>
              <a:rPr lang="zh-CN" altLang="en-US" sz="1800" b="1" dirty="0">
                <a:ea typeface="宋体" panose="02010600030101010101" pitchFamily="2" charset="-122"/>
              </a:rPr>
              <a:t>来识别</a:t>
            </a:r>
            <a:r>
              <a:rPr lang="en-US" altLang="zh-CN" sz="1800" b="1" dirty="0">
                <a:ea typeface="宋体" panose="02010600030101010101" pitchFamily="2" charset="-122"/>
              </a:rPr>
              <a:t>A，</a:t>
            </a:r>
            <a:r>
              <a:rPr lang="zh-CN" altLang="en-US" sz="1800" b="1" dirty="0">
                <a:ea typeface="宋体" panose="02010600030101010101" pitchFamily="2" charset="-122"/>
              </a:rPr>
              <a:t>这种项目也称为初始项目</a:t>
            </a:r>
            <a:endParaRPr lang="zh-CN" altLang="en-US" sz="1800" b="1" dirty="0">
              <a:ea typeface="宋体" panose="02010600030101010101" pitchFamily="2" charset="-122"/>
            </a:endParaRPr>
          </a:p>
          <a:p>
            <a:pPr lvl="2">
              <a:lnSpc>
                <a:spcPct val="90000"/>
              </a:lnSpc>
            </a:pPr>
            <a:r>
              <a:rPr lang="zh-CN" altLang="en-US" sz="1800" b="1" dirty="0">
                <a:ea typeface="宋体" panose="02010600030101010101" pitchFamily="2" charset="-122"/>
              </a:rPr>
              <a:t>项目</a:t>
            </a:r>
            <a:r>
              <a:rPr lang="en-US" altLang="zh-CN" sz="1800" b="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α.</a:t>
            </a:r>
            <a:r>
              <a:rPr lang="zh-CN" altLang="en-US" sz="1800" b="1" dirty="0">
                <a:ea typeface="宋体" panose="02010600030101010101" pitchFamily="2" charset="-122"/>
              </a:rPr>
              <a:t>表示</a:t>
            </a:r>
            <a:r>
              <a:rPr lang="en-US" altLang="zh-CN" sz="1800" b="1" dirty="0">
                <a:ea typeface="宋体" panose="02010600030101010101" pitchFamily="2" charset="-122"/>
              </a:rPr>
              <a:t>α</a:t>
            </a:r>
            <a:r>
              <a:rPr lang="zh-CN" altLang="en-US" sz="1800" b="1" dirty="0">
                <a:ea typeface="宋体" panose="02010600030101010101" pitchFamily="2" charset="-122"/>
              </a:rPr>
              <a:t>出现在分析栈的顶部，而且如果</a:t>
            </a:r>
            <a:r>
              <a:rPr lang="en-US" altLang="zh-CN" sz="1800" b="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α</a:t>
            </a:r>
            <a:r>
              <a:rPr lang="zh-CN" altLang="en-US" sz="1800" b="1" dirty="0">
                <a:ea typeface="宋体" panose="02010600030101010101" pitchFamily="2" charset="-122"/>
              </a:rPr>
              <a:t>在下一个归约中使用，则它可能是句柄，这种项目称为完整项目</a:t>
            </a:r>
            <a:endParaRPr lang="zh-CN" altLang="en-US" sz="1800" b="1" dirty="0">
              <a:ea typeface="宋体" panose="02010600030101010101" pitchFamily="2" charset="-122"/>
            </a:endParaRPr>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（4）</a:t>
            </a:r>
            <a:endParaRPr lang="en-US" altLang="zh-CN" dirty="0">
              <a:latin typeface="Times New Roman" panose="02020603050405020304" pitchFamily="18" charset="0"/>
              <a:ea typeface="宋体" panose="02010600030101010101" pitchFamily="2" charset="-122"/>
            </a:endParaRPr>
          </a:p>
        </p:txBody>
      </p:sp>
      <p:sp>
        <p:nvSpPr>
          <p:cNvPr id="188419" name="Rectangle 3"/>
          <p:cNvSpPr>
            <a:spLocks noGrp="1"/>
          </p:cNvSpPr>
          <p:nvPr>
            <p:ph idx="1"/>
          </p:nvPr>
        </p:nvSpPr>
        <p:spPr>
          <a:xfrm>
            <a:off x="990600" y="1484313"/>
            <a:ext cx="7391400" cy="4840287"/>
          </a:xfrm>
        </p:spPr>
        <p:txBody>
          <a:bodyPr vert="horz" wrap="square" lIns="92075" tIns="46038" rIns="92075" bIns="46038" anchor="t" anchorCtr="0"/>
          <a:p>
            <a:pPr>
              <a:lnSpc>
                <a:spcPct val="90000"/>
              </a:lnSpc>
            </a:pPr>
            <a:r>
              <a:rPr lang="en-US" altLang="zh-CN" sz="2400" b="1" dirty="0">
                <a:ea typeface="宋体" panose="02010600030101010101" pitchFamily="2" charset="-122"/>
              </a:rPr>
              <a:t>LR(0)</a:t>
            </a:r>
            <a:r>
              <a:rPr lang="zh-CN" altLang="en-US" sz="2400" b="1" dirty="0">
                <a:ea typeface="宋体" panose="02010600030101010101" pitchFamily="2" charset="-122"/>
              </a:rPr>
              <a:t>项的例子</a:t>
            </a:r>
            <a:endParaRPr lang="en-US" altLang="zh-CN" sz="2400" b="1" dirty="0">
              <a:ea typeface="宋体" panose="02010600030101010101" pitchFamily="2" charset="-122"/>
            </a:endParaRPr>
          </a:p>
          <a:p>
            <a:pPr marL="400050" lvl="1" indent="0">
              <a:lnSpc>
                <a:spcPct val="90000"/>
              </a:lnSpc>
              <a:buNone/>
            </a:pPr>
            <a:r>
              <a:rPr lang="zh-CN" altLang="en-US" sz="2200" b="1" dirty="0">
                <a:ea typeface="宋体" panose="02010600030101010101" pitchFamily="2" charset="-122"/>
              </a:rPr>
              <a:t>对于产生式</a:t>
            </a:r>
            <a:r>
              <a:rPr lang="en-US" altLang="zh-CN" sz="2200" b="1" dirty="0">
                <a:ea typeface="宋体" panose="02010600030101010101" pitchFamily="2" charset="-122"/>
              </a:rPr>
              <a:t>A→XYZ</a:t>
            </a:r>
            <a:r>
              <a:rPr lang="zh-CN" altLang="en-US" sz="2200" b="1" dirty="0">
                <a:ea typeface="宋体" panose="02010600030101010101" pitchFamily="2" charset="-122"/>
              </a:rPr>
              <a:t>，有如下的</a:t>
            </a:r>
            <a:r>
              <a:rPr lang="en-US" altLang="zh-CN" sz="2200" b="1" dirty="0">
                <a:ea typeface="宋体" panose="02010600030101010101" pitchFamily="2" charset="-122"/>
              </a:rPr>
              <a:t>4</a:t>
            </a:r>
            <a:r>
              <a:rPr lang="zh-CN" altLang="en-US" sz="2200" b="1" dirty="0">
                <a:ea typeface="宋体" panose="02010600030101010101" pitchFamily="2" charset="-122"/>
              </a:rPr>
              <a:t>个项：</a:t>
            </a:r>
            <a:endParaRPr lang="en-US" altLang="zh-CN" sz="2200" b="1" dirty="0">
              <a:ea typeface="宋体" panose="02010600030101010101" pitchFamily="2" charset="-122"/>
            </a:endParaRPr>
          </a:p>
          <a:p>
            <a:pPr marL="400050" lvl="1" indent="0">
              <a:lnSpc>
                <a:spcPct val="90000"/>
              </a:lnSpc>
              <a:buNone/>
            </a:pPr>
            <a:r>
              <a:rPr lang="en-US" altLang="zh-CN" sz="2200" b="1" dirty="0">
                <a:ea typeface="宋体" panose="02010600030101010101" pitchFamily="2" charset="-122"/>
              </a:rPr>
              <a:t>	 A→</a:t>
            </a:r>
            <a:r>
              <a:rPr lang="en-US" altLang="zh-CN" sz="3600" b="1" dirty="0">
                <a:ea typeface="宋体" panose="02010600030101010101" pitchFamily="2" charset="-122"/>
              </a:rPr>
              <a:t>.</a:t>
            </a:r>
            <a:r>
              <a:rPr lang="en-US" altLang="zh-CN" sz="2200" b="1" dirty="0">
                <a:ea typeface="宋体" panose="02010600030101010101" pitchFamily="2" charset="-122"/>
              </a:rPr>
              <a:t>XYZ		//</a:t>
            </a:r>
            <a:r>
              <a:rPr lang="zh-CN" altLang="en-US" sz="2200" b="1" dirty="0">
                <a:ea typeface="宋体" panose="02010600030101010101" pitchFamily="2" charset="-122"/>
              </a:rPr>
              <a:t>表示即将开始分析</a:t>
            </a:r>
            <a:r>
              <a:rPr lang="en-US" altLang="zh-CN" sz="2200" b="1" dirty="0">
                <a:ea typeface="宋体" panose="02010600030101010101" pitchFamily="2" charset="-122"/>
              </a:rPr>
              <a:t>XYZ</a:t>
            </a:r>
            <a:endParaRPr lang="en-US" altLang="zh-CN" sz="2200" b="1" dirty="0">
              <a:ea typeface="宋体" panose="02010600030101010101" pitchFamily="2" charset="-122"/>
            </a:endParaRPr>
          </a:p>
          <a:p>
            <a:pPr marL="400050" lvl="1" indent="0">
              <a:lnSpc>
                <a:spcPct val="90000"/>
              </a:lnSpc>
              <a:buNone/>
            </a:pPr>
            <a:r>
              <a:rPr lang="en-US" altLang="zh-CN" sz="2200" b="1" dirty="0">
                <a:ea typeface="宋体" panose="02010600030101010101" pitchFamily="2" charset="-122"/>
              </a:rPr>
              <a:t>	 A→X</a:t>
            </a:r>
            <a:r>
              <a:rPr lang="en-US" altLang="zh-CN" sz="3600" b="1" dirty="0">
                <a:ea typeface="宋体" panose="02010600030101010101" pitchFamily="2" charset="-122"/>
              </a:rPr>
              <a:t>.</a:t>
            </a:r>
            <a:r>
              <a:rPr lang="en-US" altLang="zh-CN" sz="2200" b="1" dirty="0">
                <a:ea typeface="宋体" panose="02010600030101010101" pitchFamily="2" charset="-122"/>
              </a:rPr>
              <a:t>YZ		//</a:t>
            </a:r>
            <a:r>
              <a:rPr lang="zh-CN" altLang="en-US" sz="2200" b="1" dirty="0">
                <a:ea typeface="宋体" panose="02010600030101010101" pitchFamily="2" charset="-122"/>
              </a:rPr>
              <a:t>表示已经分析了</a:t>
            </a:r>
            <a:r>
              <a:rPr lang="en-US" altLang="zh-CN" sz="2200" b="1" dirty="0">
                <a:ea typeface="宋体" panose="02010600030101010101" pitchFamily="2" charset="-122"/>
              </a:rPr>
              <a:t>X</a:t>
            </a:r>
            <a:endParaRPr lang="en-US" altLang="zh-CN" sz="2200" b="1" dirty="0">
              <a:ea typeface="宋体" panose="02010600030101010101" pitchFamily="2" charset="-122"/>
            </a:endParaRPr>
          </a:p>
          <a:p>
            <a:pPr marL="400050" lvl="1" indent="0">
              <a:lnSpc>
                <a:spcPct val="90000"/>
              </a:lnSpc>
              <a:buNone/>
            </a:pPr>
            <a:r>
              <a:rPr lang="en-US" altLang="zh-CN" sz="2200" b="1" dirty="0">
                <a:ea typeface="宋体" panose="02010600030101010101" pitchFamily="2" charset="-122"/>
              </a:rPr>
              <a:t>	 A→XY</a:t>
            </a:r>
            <a:r>
              <a:rPr lang="en-US" altLang="zh-CN" sz="3600" b="1" dirty="0">
                <a:ea typeface="宋体" panose="02010600030101010101" pitchFamily="2" charset="-122"/>
              </a:rPr>
              <a:t>.</a:t>
            </a:r>
            <a:r>
              <a:rPr lang="en-US" altLang="zh-CN" sz="2200" b="1" dirty="0">
                <a:ea typeface="宋体" panose="02010600030101010101" pitchFamily="2" charset="-122"/>
              </a:rPr>
              <a:t>Z		//</a:t>
            </a:r>
            <a:r>
              <a:rPr lang="zh-CN" altLang="en-US" sz="2200" b="1" dirty="0">
                <a:ea typeface="宋体" panose="02010600030101010101" pitchFamily="2" charset="-122"/>
              </a:rPr>
              <a:t>表示已经分析了</a:t>
            </a:r>
            <a:r>
              <a:rPr lang="en-US" altLang="zh-CN" sz="2200" b="1" dirty="0">
                <a:ea typeface="宋体" panose="02010600030101010101" pitchFamily="2" charset="-122"/>
              </a:rPr>
              <a:t>XY</a:t>
            </a:r>
            <a:endParaRPr lang="en-US" altLang="zh-CN" sz="2200" b="1" dirty="0">
              <a:ea typeface="宋体" panose="02010600030101010101" pitchFamily="2" charset="-122"/>
            </a:endParaRPr>
          </a:p>
          <a:p>
            <a:pPr marL="400050" lvl="1" indent="0">
              <a:lnSpc>
                <a:spcPct val="90000"/>
              </a:lnSpc>
              <a:buNone/>
            </a:pPr>
            <a:r>
              <a:rPr lang="en-US" altLang="zh-CN" sz="2200" b="1" dirty="0">
                <a:ea typeface="宋体" panose="02010600030101010101" pitchFamily="2" charset="-122"/>
              </a:rPr>
              <a:t>	 A→XYZ</a:t>
            </a:r>
            <a:r>
              <a:rPr lang="en-US" altLang="zh-CN" sz="3600" b="1" dirty="0">
                <a:ea typeface="宋体" panose="02010600030101010101" pitchFamily="2" charset="-122"/>
              </a:rPr>
              <a:t>.		</a:t>
            </a:r>
            <a:r>
              <a:rPr lang="en-US" altLang="zh-CN" sz="2200" b="1" dirty="0">
                <a:ea typeface="宋体" panose="02010600030101010101" pitchFamily="2" charset="-122"/>
              </a:rPr>
              <a:t>//</a:t>
            </a:r>
            <a:r>
              <a:rPr lang="zh-CN" altLang="en-US" sz="2200" b="1" dirty="0">
                <a:ea typeface="宋体" panose="02010600030101010101" pitchFamily="2" charset="-122"/>
              </a:rPr>
              <a:t>表示已经分析了</a:t>
            </a:r>
            <a:r>
              <a:rPr lang="en-US" altLang="zh-CN" sz="2200" b="1" dirty="0">
                <a:ea typeface="宋体" panose="02010600030101010101" pitchFamily="2" charset="-122"/>
              </a:rPr>
              <a:t>XYZ</a:t>
            </a:r>
            <a:endParaRPr lang="en-US" altLang="zh-CN" sz="2200" b="1" dirty="0">
              <a:ea typeface="宋体" panose="02010600030101010101" pitchFamily="2" charset="-122"/>
            </a:endParaRPr>
          </a:p>
          <a:p>
            <a:pPr marL="400050" lvl="1" indent="0">
              <a:lnSpc>
                <a:spcPct val="90000"/>
              </a:lnSpc>
              <a:buNone/>
            </a:pPr>
            <a:endParaRPr lang="en-US" altLang="zh-CN" sz="2200" b="1" dirty="0">
              <a:ea typeface="宋体" panose="02010600030101010101" pitchFamily="2" charset="-122"/>
            </a:endParaRPr>
          </a:p>
          <a:p>
            <a:pPr marL="400050" lvl="1" indent="0">
              <a:lnSpc>
                <a:spcPct val="90000"/>
              </a:lnSpc>
              <a:buNone/>
            </a:pPr>
            <a:r>
              <a:rPr lang="zh-CN" altLang="en-US" sz="2200" b="1" dirty="0">
                <a:solidFill>
                  <a:srgbClr val="FF0000"/>
                </a:solidFill>
                <a:ea typeface="宋体" panose="02010600030101010101" pitchFamily="2" charset="-122"/>
              </a:rPr>
              <a:t>而对于形如</a:t>
            </a:r>
            <a:r>
              <a:rPr lang="en-US" altLang="zh-CN" sz="2200" b="1" dirty="0">
                <a:solidFill>
                  <a:srgbClr val="FF0000"/>
                </a:solidFill>
                <a:ea typeface="宋体" panose="02010600030101010101" pitchFamily="2" charset="-122"/>
              </a:rPr>
              <a:t>A→</a:t>
            </a:r>
            <a:r>
              <a:rPr lang="el-GR" altLang="zh-CN" sz="2200" b="1" dirty="0">
                <a:solidFill>
                  <a:srgbClr val="FF0000"/>
                </a:solidFill>
                <a:ea typeface="宋体" panose="02010600030101010101" pitchFamily="2" charset="-122"/>
              </a:rPr>
              <a:t> ε</a:t>
            </a:r>
            <a:r>
              <a:rPr lang="zh-CN" altLang="en-US" sz="2200" b="1" dirty="0">
                <a:solidFill>
                  <a:srgbClr val="FF0000"/>
                </a:solidFill>
                <a:ea typeface="宋体" panose="02010600030101010101" pitchFamily="2" charset="-122"/>
              </a:rPr>
              <a:t>产生式，只有一个项</a:t>
            </a:r>
            <a:endParaRPr lang="en-US" altLang="zh-CN" sz="2200" b="1" dirty="0">
              <a:solidFill>
                <a:srgbClr val="FF0000"/>
              </a:solidFill>
              <a:ea typeface="宋体" panose="02010600030101010101" pitchFamily="2" charset="-122"/>
            </a:endParaRPr>
          </a:p>
          <a:p>
            <a:pPr marL="400050" lvl="1" indent="0">
              <a:lnSpc>
                <a:spcPct val="90000"/>
              </a:lnSpc>
              <a:buNone/>
            </a:pPr>
            <a:r>
              <a:rPr lang="en-US" altLang="zh-CN" sz="2200" b="1" dirty="0">
                <a:solidFill>
                  <a:srgbClr val="FF0000"/>
                </a:solidFill>
                <a:ea typeface="宋体" panose="02010600030101010101" pitchFamily="2" charset="-122"/>
              </a:rPr>
              <a:t>	 A→</a:t>
            </a:r>
            <a:r>
              <a:rPr lang="en-US" altLang="zh-CN" sz="3600" b="1" dirty="0">
                <a:solidFill>
                  <a:srgbClr val="FF0000"/>
                </a:solidFill>
                <a:ea typeface="宋体" panose="02010600030101010101" pitchFamily="2" charset="-122"/>
              </a:rPr>
              <a:t>.</a:t>
            </a:r>
            <a:endParaRPr lang="en-US" altLang="zh-CN" sz="3600" b="1" dirty="0">
              <a:solidFill>
                <a:srgbClr val="FF0000"/>
              </a:solidFill>
              <a:ea typeface="宋体" panose="02010600030101010101" pitchFamily="2" charset="-122"/>
            </a:endParaRPr>
          </a:p>
          <a:p>
            <a:pPr marL="400050" lvl="1" indent="0">
              <a:lnSpc>
                <a:spcPct val="90000"/>
              </a:lnSpc>
              <a:buNone/>
            </a:pPr>
            <a:endParaRPr lang="en-US" altLang="zh-CN" sz="2200" b="1" dirty="0">
              <a:ea typeface="宋体" panose="02010600030101010101" pitchFamily="2" charset="-122"/>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（5）</a:t>
            </a:r>
            <a:endParaRPr lang="en-US" altLang="zh-CN" dirty="0">
              <a:latin typeface="Times New Roman" panose="02020603050405020304" pitchFamily="18" charset="0"/>
              <a:ea typeface="宋体" panose="02010600030101010101" pitchFamily="2" charset="-122"/>
            </a:endParaRPr>
          </a:p>
        </p:txBody>
      </p:sp>
      <p:sp>
        <p:nvSpPr>
          <p:cNvPr id="190467" name="Rectangle 3"/>
          <p:cNvSpPr>
            <a:spLocks noGrp="1"/>
          </p:cNvSpPr>
          <p:nvPr>
            <p:ph idx="1"/>
          </p:nvPr>
        </p:nvSpPr>
        <p:spPr>
          <a:xfrm>
            <a:off x="990600" y="1371600"/>
            <a:ext cx="7391400" cy="4953000"/>
          </a:xfrm>
        </p:spPr>
        <p:txBody>
          <a:bodyPr vert="horz" wrap="square" lIns="92075" tIns="46038" rIns="92075" bIns="46038" anchor="t" anchorCtr="0"/>
          <a:p>
            <a:pPr>
              <a:buFont typeface="Wingdings" panose="05000000000000000000" pitchFamily="2" charset="2"/>
              <a:buNone/>
            </a:pPr>
            <a:r>
              <a:rPr lang="zh-CN" altLang="en-US" sz="2200" b="1" dirty="0">
                <a:ea typeface="宋体" panose="02010600030101010101" pitchFamily="2" charset="-122"/>
              </a:rPr>
              <a:t>例子：考虑文法</a:t>
            </a:r>
            <a:r>
              <a:rPr lang="en-US" altLang="zh-CN" sz="2200" b="1" dirty="0">
                <a:ea typeface="宋体" panose="02010600030101010101" pitchFamily="2" charset="-122"/>
              </a:rPr>
              <a:t>S</a:t>
            </a:r>
            <a:r>
              <a:rPr lang="zh-CN" altLang="en-US" sz="2200" b="1" dirty="0">
                <a:ea typeface="宋体" panose="02010600030101010101" pitchFamily="2" charset="-122"/>
              </a:rPr>
              <a:t>→(</a:t>
            </a:r>
            <a:r>
              <a:rPr lang="en-US" altLang="zh-CN" sz="2200" b="1" dirty="0">
                <a:ea typeface="宋体" panose="02010600030101010101" pitchFamily="2" charset="-122"/>
              </a:rPr>
              <a:t>S)S | ε，</a:t>
            </a:r>
            <a:r>
              <a:rPr lang="zh-CN" altLang="en-US" sz="2200" b="1" dirty="0">
                <a:ea typeface="宋体" panose="02010600030101010101" pitchFamily="2" charset="-122"/>
              </a:rPr>
              <a:t>给出</a:t>
            </a:r>
            <a:r>
              <a:rPr lang="en-US" altLang="zh-CN" sz="2200" b="1" dirty="0">
                <a:ea typeface="宋体" panose="02010600030101010101" pitchFamily="2" charset="-122"/>
              </a:rPr>
              <a:t>LR(0)</a:t>
            </a:r>
            <a:r>
              <a:rPr lang="zh-CN" altLang="en-US" sz="2200" b="1" dirty="0">
                <a:ea typeface="宋体" panose="02010600030101010101" pitchFamily="2" charset="-122"/>
              </a:rPr>
              <a:t>项目</a:t>
            </a:r>
            <a:endParaRPr lang="zh-CN" altLang="en-US" sz="2200" b="1" dirty="0">
              <a:ea typeface="宋体" panose="02010600030101010101" pitchFamily="2" charset="-122"/>
            </a:endParaRPr>
          </a:p>
          <a:p>
            <a:pPr>
              <a:buChar char="•"/>
            </a:pPr>
            <a:r>
              <a:rPr lang="zh-CN" altLang="en-US" sz="2200" b="1" dirty="0">
                <a:ea typeface="宋体" panose="02010600030101010101" pitchFamily="2" charset="-122"/>
              </a:rPr>
              <a:t>首先构造增广文法：加入一个产生式</a:t>
            </a:r>
            <a:r>
              <a:rPr lang="en-US" altLang="zh-CN" sz="2200" b="1" dirty="0">
                <a:ea typeface="宋体" panose="02010600030101010101" pitchFamily="2" charset="-122"/>
              </a:rPr>
              <a:t>S’</a:t>
            </a:r>
            <a:r>
              <a:rPr lang="zh-CN" altLang="en-US" sz="2200" b="1" dirty="0">
                <a:ea typeface="宋体" panose="02010600030101010101" pitchFamily="2" charset="-122"/>
              </a:rPr>
              <a:t>→</a:t>
            </a:r>
            <a:r>
              <a:rPr lang="en-US" altLang="zh-CN" sz="2200" b="1" dirty="0">
                <a:ea typeface="宋体" panose="02010600030101010101" pitchFamily="2" charset="-122"/>
              </a:rPr>
              <a:t>S，</a:t>
            </a:r>
            <a:r>
              <a:rPr lang="zh-CN" altLang="en-US" sz="2200" b="1" dirty="0">
                <a:ea typeface="宋体" panose="02010600030101010101" pitchFamily="2" charset="-122"/>
              </a:rPr>
              <a:t>分析器</a:t>
            </a:r>
            <a:r>
              <a:rPr lang="zh-CN" altLang="en-US" sz="2200" b="1" dirty="0">
                <a:solidFill>
                  <a:srgbClr val="FF0000"/>
                </a:solidFill>
                <a:ea typeface="宋体" panose="02010600030101010101" pitchFamily="2" charset="-122"/>
              </a:rPr>
              <a:t>仅当执行归约</a:t>
            </a:r>
            <a:r>
              <a:rPr lang="en-US" altLang="zh-CN" sz="2200" b="1" dirty="0">
                <a:solidFill>
                  <a:srgbClr val="FF0000"/>
                </a:solidFill>
                <a:ea typeface="宋体" panose="02010600030101010101" pitchFamily="2" charset="-122"/>
              </a:rPr>
              <a:t>S’</a:t>
            </a:r>
            <a:r>
              <a:rPr lang="zh-CN" altLang="en-US" sz="2200" b="1" dirty="0">
                <a:solidFill>
                  <a:srgbClr val="FF0000"/>
                </a:solidFill>
                <a:ea typeface="宋体" panose="02010600030101010101" pitchFamily="2" charset="-122"/>
              </a:rPr>
              <a:t>→</a:t>
            </a:r>
            <a:r>
              <a:rPr lang="en-US" altLang="zh-CN" sz="2200" b="1" dirty="0">
                <a:solidFill>
                  <a:srgbClr val="FF0000"/>
                </a:solidFill>
                <a:ea typeface="宋体" panose="02010600030101010101" pitchFamily="2" charset="-122"/>
              </a:rPr>
              <a:t>S</a:t>
            </a:r>
            <a:r>
              <a:rPr lang="zh-CN" altLang="en-US" sz="2200" b="1" dirty="0">
                <a:solidFill>
                  <a:srgbClr val="FF0000"/>
                </a:solidFill>
                <a:ea typeface="宋体" panose="02010600030101010101" pitchFamily="2" charset="-122"/>
              </a:rPr>
              <a:t>时，表示分析成功</a:t>
            </a:r>
            <a:endParaRPr lang="zh-CN" altLang="en-US" sz="2200" b="1" dirty="0">
              <a:solidFill>
                <a:srgbClr val="FF0000"/>
              </a:solidFill>
              <a:ea typeface="宋体" panose="02010600030101010101" pitchFamily="2" charset="-122"/>
            </a:endParaRPr>
          </a:p>
          <a:p>
            <a:pPr>
              <a:buFont typeface="Wingdings" panose="05000000000000000000" pitchFamily="2" charset="2"/>
              <a:buNone/>
            </a:pPr>
            <a:r>
              <a:rPr lang="en-US" altLang="zh-CN" sz="2200" b="1" dirty="0">
                <a:ea typeface="宋体" panose="02010600030101010101" pitchFamily="2" charset="-122"/>
              </a:rPr>
              <a:t>	</a:t>
            </a:r>
            <a:r>
              <a:rPr lang="zh-CN" altLang="en-US" sz="2200" b="1" dirty="0">
                <a:ea typeface="宋体" panose="02010600030101010101" pitchFamily="2" charset="-122"/>
              </a:rPr>
              <a:t>构造的</a:t>
            </a:r>
            <a:r>
              <a:rPr lang="en-US" altLang="zh-CN" sz="2200" b="1" dirty="0">
                <a:ea typeface="宋体" panose="02010600030101010101" pitchFamily="2" charset="-122"/>
              </a:rPr>
              <a:t>LR(0)</a:t>
            </a:r>
            <a:r>
              <a:rPr lang="zh-CN" altLang="en-US" sz="2200" b="1" dirty="0">
                <a:ea typeface="宋体" panose="02010600030101010101" pitchFamily="2" charset="-122"/>
              </a:rPr>
              <a:t>项目，共8个</a:t>
            </a:r>
            <a:endParaRPr lang="zh-CN" altLang="en-US" sz="2200" b="1" dirty="0">
              <a:ea typeface="宋体" panose="02010600030101010101" pitchFamily="2" charset="-122"/>
            </a:endParaRPr>
          </a:p>
          <a:p>
            <a:pPr>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S’</a:t>
            </a:r>
            <a:r>
              <a:rPr lang="zh-CN" altLang="en-US" sz="2000" b="1" dirty="0">
                <a:ea typeface="宋体" panose="02010600030101010101" pitchFamily="2" charset="-122"/>
              </a:rPr>
              <a:t>→.</a:t>
            </a:r>
            <a:r>
              <a:rPr lang="en-US" altLang="zh-CN" sz="2000" b="1" dirty="0">
                <a:ea typeface="宋体" panose="02010600030101010101" pitchFamily="2" charset="-122"/>
              </a:rPr>
              <a:t>S</a:t>
            </a:r>
            <a:endParaRPr lang="en-US" altLang="zh-CN" sz="2000" b="1" dirty="0">
              <a:ea typeface="宋体" panose="02010600030101010101" pitchFamily="2" charset="-122"/>
            </a:endParaRPr>
          </a:p>
          <a:p>
            <a:pPr>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S’</a:t>
            </a:r>
            <a:r>
              <a:rPr lang="zh-CN" altLang="en-US" sz="2000" b="1" dirty="0">
                <a:ea typeface="宋体" panose="02010600030101010101" pitchFamily="2" charset="-122"/>
              </a:rPr>
              <a:t>→</a:t>
            </a:r>
            <a:r>
              <a:rPr lang="en-US" altLang="zh-CN" sz="2000" b="1" dirty="0">
                <a:ea typeface="宋体" panose="02010600030101010101" pitchFamily="2" charset="-122"/>
              </a:rPr>
              <a:t>S.</a:t>
            </a:r>
            <a:endParaRPr lang="en-US" altLang="zh-CN" sz="2000" b="1" dirty="0">
              <a:ea typeface="宋体" panose="02010600030101010101" pitchFamily="2" charset="-122"/>
            </a:endParaRPr>
          </a:p>
          <a:p>
            <a:pPr>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S</a:t>
            </a:r>
            <a:r>
              <a:rPr lang="zh-CN" altLang="en-US" sz="2000" b="1" dirty="0">
                <a:ea typeface="宋体" panose="02010600030101010101" pitchFamily="2" charset="-122"/>
              </a:rPr>
              <a:t>→.(</a:t>
            </a:r>
            <a:r>
              <a:rPr lang="en-US" altLang="zh-CN" sz="2000" b="1" dirty="0">
                <a:ea typeface="宋体" panose="02010600030101010101" pitchFamily="2" charset="-122"/>
              </a:rPr>
              <a:t>S)S</a:t>
            </a:r>
            <a:endParaRPr lang="en-US" altLang="zh-CN" sz="2000" b="1" dirty="0">
              <a:ea typeface="宋体" panose="02010600030101010101" pitchFamily="2" charset="-122"/>
            </a:endParaRPr>
          </a:p>
          <a:p>
            <a:pPr>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S</a:t>
            </a:r>
            <a:r>
              <a:rPr lang="zh-CN" altLang="en-US" sz="2000" b="1" dirty="0">
                <a:ea typeface="宋体" panose="02010600030101010101" pitchFamily="2" charset="-122"/>
              </a:rPr>
              <a:t>→(.</a:t>
            </a:r>
            <a:r>
              <a:rPr lang="en-US" altLang="zh-CN" sz="2000" b="1" dirty="0">
                <a:ea typeface="宋体" panose="02010600030101010101" pitchFamily="2" charset="-122"/>
              </a:rPr>
              <a:t>S)S</a:t>
            </a:r>
            <a:endParaRPr lang="en-US" altLang="zh-CN" sz="2000" b="1" dirty="0">
              <a:ea typeface="宋体" panose="02010600030101010101" pitchFamily="2" charset="-122"/>
            </a:endParaRPr>
          </a:p>
          <a:p>
            <a:pPr>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S</a:t>
            </a:r>
            <a:r>
              <a:rPr lang="zh-CN" altLang="en-US" sz="2000" b="1" dirty="0">
                <a:ea typeface="宋体" panose="02010600030101010101" pitchFamily="2" charset="-122"/>
              </a:rPr>
              <a:t>→(</a:t>
            </a:r>
            <a:r>
              <a:rPr lang="en-US" altLang="zh-CN" sz="2000" b="1" dirty="0">
                <a:ea typeface="宋体" panose="02010600030101010101" pitchFamily="2" charset="-122"/>
              </a:rPr>
              <a:t>S.)S</a:t>
            </a:r>
            <a:endParaRPr lang="en-US" altLang="zh-CN" sz="2000" b="1" dirty="0">
              <a:ea typeface="宋体" panose="02010600030101010101" pitchFamily="2" charset="-122"/>
            </a:endParaRPr>
          </a:p>
          <a:p>
            <a:pPr>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S</a:t>
            </a:r>
            <a:r>
              <a:rPr lang="zh-CN" altLang="en-US" sz="2000" b="1" dirty="0">
                <a:ea typeface="宋体" panose="02010600030101010101" pitchFamily="2" charset="-122"/>
              </a:rPr>
              <a:t>→(</a:t>
            </a:r>
            <a:r>
              <a:rPr lang="en-US" altLang="zh-CN" sz="2000" b="1" dirty="0">
                <a:ea typeface="宋体" panose="02010600030101010101" pitchFamily="2" charset="-122"/>
              </a:rPr>
              <a:t>S).S</a:t>
            </a:r>
            <a:endParaRPr lang="en-US" altLang="zh-CN" sz="2000" b="1" dirty="0">
              <a:ea typeface="宋体" panose="02010600030101010101" pitchFamily="2" charset="-122"/>
            </a:endParaRPr>
          </a:p>
          <a:p>
            <a:pPr>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S</a:t>
            </a:r>
            <a:r>
              <a:rPr lang="zh-CN" altLang="en-US" sz="2000" b="1" dirty="0">
                <a:ea typeface="宋体" panose="02010600030101010101" pitchFamily="2" charset="-122"/>
              </a:rPr>
              <a:t>→(</a:t>
            </a:r>
            <a:r>
              <a:rPr lang="en-US" altLang="zh-CN" sz="2000" b="1" dirty="0">
                <a:ea typeface="宋体" panose="02010600030101010101" pitchFamily="2" charset="-122"/>
              </a:rPr>
              <a:t>S)S.</a:t>
            </a:r>
            <a:endParaRPr lang="en-US" altLang="zh-CN" sz="2000" b="1" dirty="0">
              <a:ea typeface="宋体" panose="02010600030101010101" pitchFamily="2" charset="-122"/>
            </a:endParaRPr>
          </a:p>
          <a:p>
            <a:pPr>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S</a:t>
            </a:r>
            <a:r>
              <a:rPr lang="zh-CN" altLang="en-US" sz="2000" b="1" dirty="0">
                <a:ea typeface="宋体" panose="02010600030101010101" pitchFamily="2" charset="-122"/>
              </a:rPr>
              <a:t>→.</a:t>
            </a:r>
            <a:endParaRPr lang="en-US" altLang="zh-CN" sz="2000" b="1" dirty="0">
              <a:ea typeface="宋体" panose="02010600030101010101" pitchFamily="2" charset="-122"/>
            </a:endParaRPr>
          </a:p>
          <a:p>
            <a:pPr>
              <a:buChar char="•"/>
            </a:pPr>
            <a:r>
              <a:rPr lang="zh-CN" altLang="en-US" sz="2200" b="1" dirty="0">
                <a:ea typeface="宋体" panose="02010600030101010101" pitchFamily="2" charset="-122"/>
              </a:rPr>
              <a:t>增加</a:t>
            </a:r>
            <a:r>
              <a:rPr lang="en-US" altLang="zh-CN" sz="2200" b="1" dirty="0">
                <a:ea typeface="宋体" panose="02010600030101010101" pitchFamily="2" charset="-122"/>
              </a:rPr>
              <a:t>CLOSURE</a:t>
            </a:r>
            <a:r>
              <a:rPr lang="zh-CN" altLang="en-US" sz="2200" b="1" dirty="0">
                <a:ea typeface="宋体" panose="02010600030101010101" pitchFamily="2" charset="-122"/>
              </a:rPr>
              <a:t>函数和</a:t>
            </a:r>
            <a:r>
              <a:rPr lang="en-US" altLang="zh-CN" sz="2200" b="1" dirty="0">
                <a:ea typeface="宋体" panose="02010600030101010101" pitchFamily="2" charset="-122"/>
              </a:rPr>
              <a:t>GOTO</a:t>
            </a:r>
            <a:r>
              <a:rPr lang="zh-CN" altLang="en-US" sz="2200" b="1" dirty="0">
                <a:ea typeface="宋体" panose="02010600030101010101" pitchFamily="2" charset="-122"/>
              </a:rPr>
              <a:t>函数，可以构造识别项目的有穷状态自动机</a:t>
            </a:r>
            <a:endParaRPr lang="zh-CN" altLang="en-US" sz="2200" b="1" dirty="0">
              <a:ea typeface="宋体" panose="02010600030101010101" pitchFamily="2" charset="-122"/>
            </a:endParaRPr>
          </a:p>
        </p:txBody>
      </p:sp>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（6）</a:t>
            </a:r>
            <a:endParaRPr lang="en-US" altLang="zh-CN" dirty="0">
              <a:latin typeface="Times New Roman" panose="02020603050405020304" pitchFamily="18" charset="0"/>
              <a:ea typeface="宋体" panose="02010600030101010101" pitchFamily="2" charset="-122"/>
            </a:endParaRPr>
          </a:p>
        </p:txBody>
      </p:sp>
      <p:sp>
        <p:nvSpPr>
          <p:cNvPr id="174083" name="Rectangle 3"/>
          <p:cNvSpPr>
            <a:spLocks noGrp="1" noChangeArrowheads="1"/>
          </p:cNvSpPr>
          <p:nvPr>
            <p:ph idx="1"/>
          </p:nvPr>
        </p:nvSpPr>
        <p:spPr>
          <a:xfrm>
            <a:off x="323850" y="1371600"/>
            <a:ext cx="8496300" cy="4953000"/>
          </a:xfrm>
        </p:spPr>
        <p:txBody>
          <a:bodyPr vert="horz" wrap="square" lIns="92075" tIns="46038" rIns="92075" bIns="46038" numCol="1" anchor="t" anchorCtr="0" compatLnSpc="1"/>
          <a:lstStyle/>
          <a:p>
            <a:pPr marL="514350" marR="0" lvl="0"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LR(0)</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项目集合的有限自动机的构造</a:t>
            </a:r>
            <a:endPar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若有项目</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α.γ</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且假设</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γ</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以符号</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终结符或非终结符）开始（即</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γ=</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Xη</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则读入</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后，项目变为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X.η</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在自动机中有一个标记为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的由状态</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Xη</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到状态</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X.η</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的转换</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38100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这个转换的意义是：</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57300" marR="0" lvl="2" indent="-3429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AutoNum type="arabicParen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是一个终结符，表示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在分析中被从输入移进到栈的顶部</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57300" marR="0" lvl="2" indent="-3429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AutoNum type="arabicParen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是一个非终结符，可以理解为是用产生式</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归约时发生，这个归约前面必须有一个</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的识别，而由初始项目</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给出的状态表明这个识别的开始，此时，必须考虑加入下面的转换</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是非终结符，则对每个项目</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Xη</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添加一个到项目</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ε</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转换（如果以</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为左部的产生式多于一个，则每个都要如此处理）</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（7）</a:t>
            </a:r>
            <a:endParaRPr lang="en-US" altLang="zh-CN" dirty="0">
              <a:latin typeface="Times New Roman" panose="02020603050405020304" pitchFamily="18" charset="0"/>
              <a:ea typeface="宋体" panose="02010600030101010101" pitchFamily="2" charset="-122"/>
            </a:endParaRPr>
          </a:p>
        </p:txBody>
      </p:sp>
      <p:sp>
        <p:nvSpPr>
          <p:cNvPr id="194563" name="Rectangle 3"/>
          <p:cNvSpPr>
            <a:spLocks noGrp="1"/>
          </p:cNvSpPr>
          <p:nvPr>
            <p:ph idx="1"/>
          </p:nvPr>
        </p:nvSpPr>
        <p:spPr>
          <a:xfrm>
            <a:off x="990600" y="1371600"/>
            <a:ext cx="7391400" cy="4953000"/>
          </a:xfrm>
        </p:spPr>
        <p:txBody>
          <a:bodyPr vert="horz" wrap="square" lIns="92075" tIns="46038" rIns="92075" bIns="46038" anchor="t" anchorCtr="0"/>
          <a:p>
            <a:pPr lvl="1"/>
            <a:r>
              <a:rPr lang="zh-CN" altLang="en-US" sz="2200" b="1" dirty="0">
                <a:ea typeface="宋体" panose="02010600030101010101" pitchFamily="2" charset="-122"/>
              </a:rPr>
              <a:t>自动机的初始状态与分析程序的初始状态对应：栈是空的，且将要识别一个文法的开始符号</a:t>
            </a:r>
            <a:r>
              <a:rPr lang="en-US" altLang="zh-CN" sz="2200" b="1" dirty="0">
                <a:ea typeface="宋体" panose="02010600030101010101" pitchFamily="2" charset="-122"/>
              </a:rPr>
              <a:t>S，</a:t>
            </a:r>
            <a:r>
              <a:rPr lang="zh-CN" altLang="en-US" sz="2200" b="1" dirty="0">
                <a:ea typeface="宋体" panose="02010600030101010101" pitchFamily="2" charset="-122"/>
              </a:rPr>
              <a:t>但由于</a:t>
            </a:r>
            <a:r>
              <a:rPr lang="en-US" altLang="zh-CN" sz="2200" b="1" dirty="0">
                <a:ea typeface="宋体" panose="02010600030101010101" pitchFamily="2" charset="-122"/>
              </a:rPr>
              <a:t>S</a:t>
            </a:r>
            <a:r>
              <a:rPr lang="zh-CN" altLang="en-US" sz="2200" b="1" dirty="0">
                <a:ea typeface="宋体" panose="02010600030101010101" pitchFamily="2" charset="-122"/>
              </a:rPr>
              <a:t>可能出现在多个产生式的左部，所以拓广文法，加入</a:t>
            </a:r>
            <a:r>
              <a:rPr lang="en-US" altLang="zh-CN" sz="2200" b="1" dirty="0">
                <a:ea typeface="宋体" panose="02010600030101010101" pitchFamily="2" charset="-122"/>
              </a:rPr>
              <a:t>S’</a:t>
            </a:r>
            <a:r>
              <a:rPr lang="zh-CN" altLang="en-US" sz="2200" b="1" dirty="0">
                <a:ea typeface="宋体" panose="02010600030101010101" pitchFamily="2" charset="-122"/>
              </a:rPr>
              <a:t>和产生式</a:t>
            </a:r>
            <a:r>
              <a:rPr lang="en-US" altLang="zh-CN" sz="2200" b="1" dirty="0">
                <a:ea typeface="宋体" panose="02010600030101010101" pitchFamily="2" charset="-122"/>
              </a:rPr>
              <a:t>S’</a:t>
            </a:r>
            <a:r>
              <a:rPr lang="zh-CN" altLang="en-US" sz="2200" b="1" dirty="0">
                <a:ea typeface="宋体" panose="02010600030101010101" pitchFamily="2" charset="-122"/>
              </a:rPr>
              <a:t>→</a:t>
            </a:r>
            <a:r>
              <a:rPr lang="en-US" altLang="zh-CN" sz="2200" b="1" dirty="0">
                <a:ea typeface="宋体" panose="02010600030101010101" pitchFamily="2" charset="-122"/>
              </a:rPr>
              <a:t>S，S’</a:t>
            </a:r>
            <a:r>
              <a:rPr lang="zh-CN" altLang="en-US" sz="2200" b="1" dirty="0">
                <a:ea typeface="宋体" panose="02010600030101010101" pitchFamily="2" charset="-122"/>
              </a:rPr>
              <a:t>是拓广文法的开始符号，</a:t>
            </a:r>
            <a:r>
              <a:rPr lang="en-US" altLang="zh-CN" sz="2200" b="1" dirty="0">
                <a:ea typeface="宋体" panose="02010600030101010101" pitchFamily="2" charset="-122"/>
              </a:rPr>
              <a:t>S’</a:t>
            </a:r>
            <a:r>
              <a:rPr lang="zh-CN" altLang="en-US" sz="2200" b="1" dirty="0">
                <a:ea typeface="宋体" panose="02010600030101010101" pitchFamily="2" charset="-122"/>
              </a:rPr>
              <a:t>→.</a:t>
            </a:r>
            <a:r>
              <a:rPr lang="en-US" altLang="zh-CN" sz="2200" b="1" dirty="0">
                <a:ea typeface="宋体" panose="02010600030101010101" pitchFamily="2" charset="-122"/>
              </a:rPr>
              <a:t>S</a:t>
            </a:r>
            <a:r>
              <a:rPr lang="zh-CN" altLang="en-US" sz="2200" b="1" dirty="0">
                <a:ea typeface="宋体" panose="02010600030101010101" pitchFamily="2" charset="-122"/>
              </a:rPr>
              <a:t>是自动机的开始状态</a:t>
            </a:r>
            <a:endParaRPr lang="zh-CN" altLang="en-US" sz="2200" b="1" dirty="0">
              <a:ea typeface="宋体" panose="02010600030101010101" pitchFamily="2" charset="-122"/>
            </a:endParaRPr>
          </a:p>
          <a:p>
            <a:pPr lvl="1"/>
            <a:r>
              <a:rPr lang="zh-CN" altLang="en-US" sz="2200" b="1" dirty="0">
                <a:ea typeface="宋体" panose="02010600030101010101" pitchFamily="2" charset="-122"/>
              </a:rPr>
              <a:t>自动机的接受状态：此处的自动机是用于了解分析的状态，而不是完全识别串，因此分析程序本身决定何时接受，自动机不必关心，所以可以没有接受状态</a:t>
            </a:r>
            <a:endParaRPr lang="zh-CN" altLang="en-US" sz="2200" b="1" dirty="0">
              <a:ea typeface="宋体" panose="02010600030101010101" pitchFamily="2" charset="-122"/>
            </a:endParaRPr>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（8）</a:t>
            </a:r>
            <a:endParaRPr lang="en-US" altLang="zh-CN" dirty="0">
              <a:latin typeface="Times New Roman" panose="02020603050405020304" pitchFamily="18" charset="0"/>
              <a:ea typeface="宋体" panose="02010600030101010101" pitchFamily="2" charset="-122"/>
            </a:endParaRPr>
          </a:p>
        </p:txBody>
      </p:sp>
      <p:sp>
        <p:nvSpPr>
          <p:cNvPr id="196611" name="Rectangle 3"/>
          <p:cNvSpPr>
            <a:spLocks noGrp="1"/>
          </p:cNvSpPr>
          <p:nvPr>
            <p:ph idx="1"/>
          </p:nvPr>
        </p:nvSpPr>
        <p:spPr>
          <a:xfrm>
            <a:off x="755650" y="1371600"/>
            <a:ext cx="7848600" cy="4953000"/>
          </a:xfrm>
        </p:spPr>
        <p:txBody>
          <a:bodyPr vert="horz" wrap="square" lIns="92075" tIns="46038" rIns="92075" bIns="46038" anchor="t" anchorCtr="0"/>
          <a:p>
            <a:pPr>
              <a:buFont typeface="Wingdings" panose="05000000000000000000" pitchFamily="2" charset="2"/>
              <a:buNone/>
            </a:pPr>
            <a:r>
              <a:rPr lang="zh-CN" altLang="en-US" sz="2400" b="1" dirty="0">
                <a:ea typeface="宋体" panose="02010600030101010101" pitchFamily="2" charset="-122"/>
              </a:rPr>
              <a:t>前页例子对应的</a:t>
            </a:r>
            <a:r>
              <a:rPr lang="en-US" altLang="zh-CN" sz="2400" b="1" dirty="0">
                <a:ea typeface="宋体" panose="02010600030101010101" pitchFamily="2" charset="-122"/>
              </a:rPr>
              <a:t>NFA：</a:t>
            </a: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Char char="•"/>
            </a:pPr>
            <a:r>
              <a:rPr lang="zh-CN" altLang="en-US" sz="2400" b="1" dirty="0">
                <a:ea typeface="宋体" panose="02010600030101010101" pitchFamily="2" charset="-122"/>
              </a:rPr>
              <a:t>此处的</a:t>
            </a:r>
            <a:r>
              <a:rPr lang="en-US" altLang="zh-CN" sz="2400" b="1" dirty="0">
                <a:ea typeface="宋体" panose="02010600030101010101" pitchFamily="2" charset="-122"/>
              </a:rPr>
              <a:t>NFA</a:t>
            </a:r>
            <a:r>
              <a:rPr lang="zh-CN" altLang="en-US" sz="2400" b="1" dirty="0">
                <a:ea typeface="宋体" panose="02010600030101010101" pitchFamily="2" charset="-122"/>
              </a:rPr>
              <a:t>未给出终态，是因为语法分析是否结束使用语法分析程序的控制程序决定，不是由</a:t>
            </a:r>
            <a:r>
              <a:rPr lang="en-US" altLang="zh-CN" sz="2400" b="1" dirty="0">
                <a:ea typeface="宋体" panose="02010600030101010101" pitchFamily="2" charset="-122"/>
              </a:rPr>
              <a:t>NFA</a:t>
            </a:r>
            <a:r>
              <a:rPr lang="zh-CN" altLang="en-US" sz="2400" b="1" dirty="0">
                <a:ea typeface="宋体" panose="02010600030101010101" pitchFamily="2" charset="-122"/>
              </a:rPr>
              <a:t>决定</a:t>
            </a:r>
            <a:endParaRPr lang="en-US" altLang="zh-CN" sz="2400" b="1" dirty="0">
              <a:ea typeface="宋体" panose="02010600030101010101" pitchFamily="2" charset="-122"/>
            </a:endParaRPr>
          </a:p>
        </p:txBody>
      </p:sp>
      <p:graphicFrame>
        <p:nvGraphicFramePr>
          <p:cNvPr id="196612" name="Object 5"/>
          <p:cNvGraphicFramePr>
            <a:graphicFrameLocks noChangeAspect="1"/>
          </p:cNvGraphicFramePr>
          <p:nvPr/>
        </p:nvGraphicFramePr>
        <p:xfrm>
          <a:off x="1219200" y="2057400"/>
          <a:ext cx="6724650" cy="3176588"/>
        </p:xfrm>
        <a:graphic>
          <a:graphicData uri="http://schemas.openxmlformats.org/presentationml/2006/ole">
            <mc:AlternateContent xmlns:mc="http://schemas.openxmlformats.org/markup-compatibility/2006">
              <mc:Choice xmlns:v="urn:schemas-microsoft-com:vml" Requires="v">
                <p:oleObj spid="_x0000_s3113" name="" r:id="rId1" imgW="5979160" imgH="2824480" progId="Visio.Drawing.4">
                  <p:embed/>
                </p:oleObj>
              </mc:Choice>
              <mc:Fallback>
                <p:oleObj name="" r:id="rId1" imgW="5979160" imgH="2824480" progId="Visio.Drawing.4">
                  <p:embed/>
                  <p:pic>
                    <p:nvPicPr>
                      <p:cNvPr id="0" name="图片 3112"/>
                      <p:cNvPicPr/>
                      <p:nvPr/>
                    </p:nvPicPr>
                    <p:blipFill>
                      <a:blip r:embed="rId2"/>
                      <a:stretch>
                        <a:fillRect/>
                      </a:stretch>
                    </p:blipFill>
                    <p:spPr>
                      <a:xfrm>
                        <a:off x="1219200" y="2057400"/>
                        <a:ext cx="6724650" cy="3176588"/>
                      </a:xfrm>
                      <a:prstGeom prst="rect">
                        <a:avLst/>
                      </a:prstGeom>
                      <a:noFill/>
                      <a:ln w="38100">
                        <a:noFill/>
                        <a:miter/>
                      </a:ln>
                    </p:spPr>
                  </p:pic>
                </p:oleObj>
              </mc:Fallback>
            </mc:AlternateContent>
          </a:graphicData>
        </a:graphic>
      </p:graphicFrame>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（9）</a:t>
            </a:r>
            <a:endParaRPr lang="en-US" altLang="zh-CN" dirty="0">
              <a:latin typeface="Times New Roman" panose="02020603050405020304" pitchFamily="18" charset="0"/>
              <a:ea typeface="宋体" panose="02010600030101010101" pitchFamily="2" charset="-122"/>
            </a:endParaRPr>
          </a:p>
        </p:txBody>
      </p:sp>
      <p:sp>
        <p:nvSpPr>
          <p:cNvPr id="198659" name="Rectangle 3"/>
          <p:cNvSpPr>
            <a:spLocks noGrp="1"/>
          </p:cNvSpPr>
          <p:nvPr>
            <p:ph idx="1"/>
          </p:nvPr>
        </p:nvSpPr>
        <p:spPr>
          <a:xfrm>
            <a:off x="990600" y="1371600"/>
            <a:ext cx="7391400" cy="4953000"/>
          </a:xfrm>
        </p:spPr>
        <p:txBody>
          <a:bodyPr vert="horz" wrap="square" lIns="92075" tIns="46038" rIns="92075" bIns="46038" anchor="t" anchorCtr="0"/>
          <a:p>
            <a:pPr>
              <a:buFont typeface="Wingdings" panose="05000000000000000000" pitchFamily="2" charset="2"/>
              <a:buNone/>
            </a:pPr>
            <a:r>
              <a:rPr lang="zh-CN" altLang="en-US" sz="2400" b="1" dirty="0">
                <a:ea typeface="宋体" panose="02010600030101010101" pitchFamily="2" charset="-122"/>
              </a:rPr>
              <a:t>前页</a:t>
            </a:r>
            <a:r>
              <a:rPr lang="en-US" altLang="zh-CN" sz="2400" b="1" dirty="0">
                <a:ea typeface="宋体" panose="02010600030101010101" pitchFamily="2" charset="-122"/>
              </a:rPr>
              <a:t>NFA</a:t>
            </a:r>
            <a:r>
              <a:rPr lang="zh-CN" altLang="en-US" sz="2400" b="1" dirty="0">
                <a:ea typeface="宋体" panose="02010600030101010101" pitchFamily="2" charset="-122"/>
              </a:rPr>
              <a:t>对应的</a:t>
            </a:r>
            <a:r>
              <a:rPr lang="en-US" altLang="zh-CN" sz="2400" b="1" dirty="0">
                <a:ea typeface="宋体" panose="02010600030101010101" pitchFamily="2" charset="-122"/>
              </a:rPr>
              <a:t>DFA：</a:t>
            </a: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Font typeface="Wingdings" panose="05000000000000000000" pitchFamily="2" charset="2"/>
              <a:buNone/>
            </a:pPr>
            <a:endParaRPr lang="en-US" altLang="zh-CN" sz="2400" b="1" dirty="0">
              <a:ea typeface="宋体" panose="02010600030101010101" pitchFamily="2" charset="-122"/>
            </a:endParaRPr>
          </a:p>
          <a:p>
            <a:pPr>
              <a:buChar char="•"/>
            </a:pPr>
            <a:endParaRPr lang="en-US" altLang="zh-CN" sz="2400" b="1" dirty="0">
              <a:ea typeface="宋体" panose="02010600030101010101" pitchFamily="2" charset="-122"/>
            </a:endParaRPr>
          </a:p>
          <a:p>
            <a:pPr>
              <a:buChar char="•"/>
            </a:pPr>
            <a:r>
              <a:rPr lang="zh-CN" altLang="en-US" sz="2400" b="1" dirty="0">
                <a:ea typeface="宋体" panose="02010600030101010101" pitchFamily="2" charset="-122"/>
              </a:rPr>
              <a:t>此处的每一个状态对应了一个</a:t>
            </a:r>
            <a:r>
              <a:rPr lang="en-US" altLang="zh-CN" sz="2400" b="1" dirty="0">
                <a:ea typeface="宋体" panose="02010600030101010101" pitchFamily="2" charset="-122"/>
              </a:rPr>
              <a:t>LR</a:t>
            </a:r>
            <a:r>
              <a:rPr lang="zh-CN" altLang="en-US" sz="2400" b="1" dirty="0">
                <a:ea typeface="宋体" panose="02010600030101010101" pitchFamily="2" charset="-122"/>
              </a:rPr>
              <a:t>（</a:t>
            </a:r>
            <a:r>
              <a:rPr lang="en-US" altLang="zh-CN" sz="2400" b="1" dirty="0">
                <a:ea typeface="宋体" panose="02010600030101010101" pitchFamily="2" charset="-122"/>
              </a:rPr>
              <a:t>0</a:t>
            </a:r>
            <a:r>
              <a:rPr lang="zh-CN" altLang="en-US" sz="2400" b="1" dirty="0">
                <a:ea typeface="宋体" panose="02010600030101010101" pitchFamily="2" charset="-122"/>
              </a:rPr>
              <a:t>）项目集</a:t>
            </a:r>
            <a:endParaRPr lang="en-US" altLang="zh-CN" sz="2400" b="1" dirty="0">
              <a:ea typeface="宋体" panose="02010600030101010101" pitchFamily="2" charset="-122"/>
            </a:endParaRPr>
          </a:p>
        </p:txBody>
      </p:sp>
      <p:graphicFrame>
        <p:nvGraphicFramePr>
          <p:cNvPr id="198660" name="Object 5"/>
          <p:cNvGraphicFramePr>
            <a:graphicFrameLocks noChangeAspect="1"/>
          </p:cNvGraphicFramePr>
          <p:nvPr/>
        </p:nvGraphicFramePr>
        <p:xfrm>
          <a:off x="1752600" y="1981200"/>
          <a:ext cx="6019800" cy="3033713"/>
        </p:xfrm>
        <a:graphic>
          <a:graphicData uri="http://schemas.openxmlformats.org/presentationml/2006/ole">
            <mc:AlternateContent xmlns:mc="http://schemas.openxmlformats.org/markup-compatibility/2006">
              <mc:Choice xmlns:v="urn:schemas-microsoft-com:vml" Requires="v">
                <p:oleObj spid="_x0000_s3114" name="" r:id="rId1" imgW="5156200" imgH="2595880" progId="Visio.Drawing.4">
                  <p:embed/>
                </p:oleObj>
              </mc:Choice>
              <mc:Fallback>
                <p:oleObj name="" r:id="rId1" imgW="5156200" imgH="2595880" progId="Visio.Drawing.4">
                  <p:embed/>
                  <p:pic>
                    <p:nvPicPr>
                      <p:cNvPr id="0" name="图片 3113"/>
                      <p:cNvPicPr/>
                      <p:nvPr/>
                    </p:nvPicPr>
                    <p:blipFill>
                      <a:blip r:embed="rId2"/>
                      <a:stretch>
                        <a:fillRect/>
                      </a:stretch>
                    </p:blipFill>
                    <p:spPr>
                      <a:xfrm>
                        <a:off x="1752600" y="1981200"/>
                        <a:ext cx="6019800" cy="3033713"/>
                      </a:xfrm>
                      <a:prstGeom prst="rect">
                        <a:avLst/>
                      </a:prstGeom>
                      <a:noFill/>
                      <a:ln w="38100">
                        <a:noFill/>
                        <a:miter/>
                      </a:ln>
                    </p:spPr>
                  </p:pic>
                </p:oleObj>
              </mc:Fallback>
            </mc:AlternateContent>
          </a:graphicData>
        </a:graphic>
      </p:graphicFrame>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（10）</a:t>
            </a:r>
            <a:endParaRPr lang="en-US" altLang="zh-CN" dirty="0">
              <a:latin typeface="Times New Roman" panose="02020603050405020304" pitchFamily="18" charset="0"/>
              <a:ea typeface="宋体" panose="02010600030101010101" pitchFamily="2" charset="-122"/>
            </a:endParaRPr>
          </a:p>
        </p:txBody>
      </p:sp>
      <p:sp>
        <p:nvSpPr>
          <p:cNvPr id="200707" name="Rectangle 3"/>
          <p:cNvSpPr>
            <a:spLocks noGrp="1"/>
          </p:cNvSpPr>
          <p:nvPr>
            <p:ph idx="1"/>
          </p:nvPr>
        </p:nvSpPr>
        <p:spPr>
          <a:xfrm>
            <a:off x="990600" y="1371600"/>
            <a:ext cx="7391400" cy="4953000"/>
          </a:xfrm>
        </p:spPr>
        <p:txBody>
          <a:bodyPr vert="horz" wrap="square" lIns="92075" tIns="46038" rIns="92075" bIns="46038" anchor="t" anchorCtr="0"/>
          <a:p>
            <a:pPr>
              <a:lnSpc>
                <a:spcPct val="80000"/>
              </a:lnSpc>
            </a:pPr>
            <a:r>
              <a:rPr lang="zh-CN" altLang="en-US" sz="2200" b="1" dirty="0">
                <a:ea typeface="宋体" panose="02010600030101010101" pitchFamily="2" charset="-122"/>
              </a:rPr>
              <a:t>文法的</a:t>
            </a:r>
            <a:r>
              <a:rPr lang="en-US" altLang="zh-CN" sz="2200" b="1" dirty="0">
                <a:ea typeface="宋体" panose="02010600030101010101" pitchFamily="2" charset="-122"/>
              </a:rPr>
              <a:t>LR</a:t>
            </a:r>
            <a:r>
              <a:rPr lang="zh-CN" altLang="en-US" sz="2200" b="1" dirty="0">
                <a:ea typeface="宋体" panose="02010600030101010101" pitchFamily="2" charset="-122"/>
              </a:rPr>
              <a:t>项目的闭包计算</a:t>
            </a:r>
            <a:endParaRPr lang="zh-CN" altLang="en-US" sz="2200" b="1" dirty="0">
              <a:ea typeface="宋体" panose="02010600030101010101" pitchFamily="2" charset="-122"/>
            </a:endParaRPr>
          </a:p>
          <a:p>
            <a:pPr lvl="1">
              <a:lnSpc>
                <a:spcPct val="80000"/>
              </a:lnSpc>
              <a:buNone/>
            </a:pPr>
            <a:r>
              <a:rPr lang="zh-CN" altLang="en-US" sz="1800" b="1" dirty="0">
                <a:ea typeface="宋体" panose="02010600030101010101" pitchFamily="2" charset="-122"/>
              </a:rPr>
              <a:t>对于文法</a:t>
            </a:r>
            <a:r>
              <a:rPr lang="en-US" altLang="zh-CN" sz="1800" b="1" dirty="0">
                <a:ea typeface="宋体" panose="02010600030101010101" pitchFamily="2" charset="-122"/>
              </a:rPr>
              <a:t>G</a:t>
            </a:r>
            <a:r>
              <a:rPr lang="zh-CN" altLang="en-US" sz="1800" b="1" dirty="0">
                <a:ea typeface="宋体" panose="02010600030101010101" pitchFamily="2" charset="-122"/>
              </a:rPr>
              <a:t>的</a:t>
            </a:r>
            <a:r>
              <a:rPr lang="en-US" altLang="zh-CN" sz="1800" b="1" dirty="0">
                <a:ea typeface="宋体" panose="02010600030101010101" pitchFamily="2" charset="-122"/>
              </a:rPr>
              <a:t>LR</a:t>
            </a:r>
            <a:r>
              <a:rPr lang="zh-CN" altLang="en-US" sz="1800" b="1" dirty="0">
                <a:ea typeface="宋体" panose="02010600030101010101" pitchFamily="2" charset="-122"/>
              </a:rPr>
              <a:t>项目集</a:t>
            </a:r>
            <a:r>
              <a:rPr lang="en-US" altLang="zh-CN" sz="1800" b="1" dirty="0">
                <a:ea typeface="宋体" panose="02010600030101010101" pitchFamily="2" charset="-122"/>
              </a:rPr>
              <a:t>I，</a:t>
            </a:r>
            <a:r>
              <a:rPr lang="zh-CN" altLang="en-US" sz="1800" b="1" dirty="0">
                <a:ea typeface="宋体" panose="02010600030101010101" pitchFamily="2" charset="-122"/>
              </a:rPr>
              <a:t>闭包</a:t>
            </a:r>
            <a:r>
              <a:rPr lang="en-US" altLang="zh-CN" sz="1800" b="1" i="1" dirty="0">
                <a:ea typeface="宋体" panose="02010600030101010101" pitchFamily="2" charset="-122"/>
              </a:rPr>
              <a:t>closure</a:t>
            </a:r>
            <a:r>
              <a:rPr lang="en-US" altLang="zh-CN" sz="1800" b="1" dirty="0">
                <a:ea typeface="宋体" panose="02010600030101010101" pitchFamily="2" charset="-122"/>
              </a:rPr>
              <a:t>(I)</a:t>
            </a:r>
            <a:r>
              <a:rPr lang="zh-CN" altLang="en-US" sz="1800" b="1" dirty="0">
                <a:ea typeface="宋体" panose="02010600030101010101" pitchFamily="2" charset="-122"/>
              </a:rPr>
              <a:t>的计算：</a:t>
            </a:r>
            <a:endParaRPr lang="zh-CN" altLang="en-US" sz="1800" b="1" dirty="0">
              <a:ea typeface="宋体" panose="02010600030101010101" pitchFamily="2" charset="-122"/>
            </a:endParaRPr>
          </a:p>
          <a:p>
            <a:pPr lvl="2">
              <a:lnSpc>
                <a:spcPct val="80000"/>
              </a:lnSpc>
              <a:buNone/>
            </a:pPr>
            <a:r>
              <a:rPr lang="en-US" altLang="zh-CN" sz="1800" b="1" dirty="0">
                <a:ea typeface="宋体" panose="02010600030101010101" pitchFamily="2" charset="-122"/>
              </a:rPr>
              <a:t>J := I</a:t>
            </a:r>
            <a:endParaRPr lang="en-US" altLang="zh-CN" sz="1800" b="1" dirty="0">
              <a:ea typeface="宋体" panose="02010600030101010101" pitchFamily="2" charset="-122"/>
            </a:endParaRPr>
          </a:p>
          <a:p>
            <a:pPr lvl="2">
              <a:lnSpc>
                <a:spcPct val="80000"/>
              </a:lnSpc>
              <a:buNone/>
            </a:pPr>
            <a:r>
              <a:rPr lang="en-US" altLang="zh-CN" sz="1800" b="1" dirty="0">
                <a:ea typeface="宋体" panose="02010600030101010101" pitchFamily="2" charset="-122"/>
              </a:rPr>
              <a:t>repeat</a:t>
            </a:r>
            <a:endParaRPr lang="en-US" altLang="zh-CN" sz="1800" b="1" dirty="0">
              <a:ea typeface="宋体" panose="02010600030101010101" pitchFamily="2" charset="-122"/>
            </a:endParaRPr>
          </a:p>
          <a:p>
            <a:pPr lvl="2">
              <a:lnSpc>
                <a:spcPct val="80000"/>
              </a:lnSpc>
              <a:buNone/>
            </a:pPr>
            <a:r>
              <a:rPr lang="en-US" altLang="zh-CN" sz="1800" b="1" dirty="0">
                <a:ea typeface="宋体" panose="02010600030101010101" pitchFamily="2" charset="-122"/>
              </a:rPr>
              <a:t>	for J </a:t>
            </a:r>
            <a:r>
              <a:rPr lang="zh-CN" altLang="en-US" sz="1800" b="1" dirty="0">
                <a:ea typeface="宋体" panose="02010600030101010101" pitchFamily="2" charset="-122"/>
              </a:rPr>
              <a:t>的每个项目</a:t>
            </a:r>
            <a:r>
              <a:rPr lang="en-US" altLang="zh-CN" sz="1800" b="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α.Bβ</a:t>
            </a:r>
            <a:endParaRPr lang="en-US" altLang="zh-CN" sz="1800" b="1" dirty="0">
              <a:ea typeface="宋体" panose="02010600030101010101" pitchFamily="2" charset="-122"/>
            </a:endParaRPr>
          </a:p>
          <a:p>
            <a:pPr lvl="2">
              <a:lnSpc>
                <a:spcPct val="80000"/>
              </a:lnSpc>
              <a:buNone/>
            </a:pPr>
            <a:r>
              <a:rPr lang="en-US" altLang="zh-CN" sz="1800" b="1" dirty="0">
                <a:ea typeface="宋体" panose="02010600030101010101" pitchFamily="2" charset="-122"/>
              </a:rPr>
              <a:t>		for</a:t>
            </a:r>
            <a:r>
              <a:rPr lang="zh-CN" altLang="en-US" sz="1800" b="1" dirty="0">
                <a:ea typeface="宋体" panose="02010600030101010101" pitchFamily="2" charset="-122"/>
              </a:rPr>
              <a:t> </a:t>
            </a:r>
            <a:r>
              <a:rPr lang="en-US" altLang="zh-CN" sz="1800" b="1" dirty="0">
                <a:ea typeface="宋体" panose="02010600030101010101" pitchFamily="2" charset="-122"/>
              </a:rPr>
              <a:t>G</a:t>
            </a:r>
            <a:r>
              <a:rPr lang="zh-CN" altLang="en-US" sz="1800" b="1" dirty="0">
                <a:ea typeface="宋体" panose="02010600030101010101" pitchFamily="2" charset="-122"/>
              </a:rPr>
              <a:t>的每个产生式</a:t>
            </a:r>
            <a:r>
              <a:rPr lang="en-US" altLang="zh-CN" sz="1800" b="1" dirty="0">
                <a:ea typeface="宋体" panose="02010600030101010101" pitchFamily="2" charset="-122"/>
              </a:rPr>
              <a:t>B</a:t>
            </a:r>
            <a:r>
              <a:rPr lang="zh-CN" altLang="en-US" sz="1800" b="1" dirty="0">
                <a:ea typeface="宋体" panose="02010600030101010101" pitchFamily="2" charset="-122"/>
              </a:rPr>
              <a:t>→</a:t>
            </a:r>
            <a:r>
              <a:rPr lang="en-US" altLang="zh-CN" sz="1800" b="1" dirty="0">
                <a:ea typeface="宋体" panose="02010600030101010101" pitchFamily="2" charset="-122"/>
              </a:rPr>
              <a:t>γ</a:t>
            </a:r>
            <a:endParaRPr lang="en-US" altLang="zh-CN" sz="1800" b="1" dirty="0">
              <a:ea typeface="宋体" panose="02010600030101010101" pitchFamily="2" charset="-122"/>
            </a:endParaRPr>
          </a:p>
          <a:p>
            <a:pPr lvl="2">
              <a:lnSpc>
                <a:spcPct val="80000"/>
              </a:lnSpc>
              <a:buNone/>
            </a:pPr>
            <a:r>
              <a:rPr lang="en-US" altLang="zh-CN" sz="1800" b="1" dirty="0">
                <a:ea typeface="宋体" panose="02010600030101010101" pitchFamily="2" charset="-122"/>
              </a:rPr>
              <a:t>		</a:t>
            </a:r>
            <a:r>
              <a:rPr lang="zh-CN" altLang="en-US" sz="1800" b="1" dirty="0">
                <a:ea typeface="宋体" panose="02010600030101010101" pitchFamily="2" charset="-122"/>
              </a:rPr>
              <a:t>      </a:t>
            </a:r>
            <a:r>
              <a:rPr lang="en-US" altLang="zh-CN" sz="1800" b="1" dirty="0">
                <a:ea typeface="宋体" panose="02010600030101010101" pitchFamily="2" charset="-122"/>
              </a:rPr>
              <a:t>if</a:t>
            </a:r>
            <a:r>
              <a:rPr lang="zh-CN" altLang="en-US" sz="1800" b="1" dirty="0">
                <a:ea typeface="宋体" panose="02010600030101010101" pitchFamily="2" charset="-122"/>
              </a:rPr>
              <a:t> （项</a:t>
            </a:r>
            <a:r>
              <a:rPr lang="en-US" altLang="zh-CN" sz="1800" b="1" dirty="0">
                <a:ea typeface="宋体" panose="02010600030101010101" pitchFamily="2" charset="-122"/>
              </a:rPr>
              <a:t>B</a:t>
            </a:r>
            <a:r>
              <a:rPr lang="zh-CN" altLang="en-US" sz="1800" b="1" dirty="0">
                <a:ea typeface="宋体" panose="02010600030101010101" pitchFamily="2" charset="-122"/>
              </a:rPr>
              <a:t>→.</a:t>
            </a:r>
            <a:r>
              <a:rPr lang="en-US" altLang="zh-CN" sz="1800" b="1" dirty="0">
                <a:ea typeface="宋体" panose="02010600030101010101" pitchFamily="2" charset="-122"/>
              </a:rPr>
              <a:t>γ</a:t>
            </a:r>
            <a:r>
              <a:rPr lang="zh-CN" altLang="en-US" sz="1800" b="1" dirty="0">
                <a:ea typeface="宋体" panose="02010600030101010101" pitchFamily="2" charset="-122"/>
              </a:rPr>
              <a:t>不在</a:t>
            </a:r>
            <a:r>
              <a:rPr lang="en-US" altLang="zh-CN" sz="1800" b="1" dirty="0">
                <a:ea typeface="宋体" panose="02010600030101010101" pitchFamily="2" charset="-122"/>
              </a:rPr>
              <a:t>J</a:t>
            </a:r>
            <a:r>
              <a:rPr lang="zh-CN" altLang="en-US" sz="1800" b="1" dirty="0">
                <a:ea typeface="宋体" panose="02010600030101010101" pitchFamily="2" charset="-122"/>
              </a:rPr>
              <a:t>中）</a:t>
            </a:r>
            <a:endParaRPr lang="en-US" altLang="zh-CN" sz="1800" b="1" dirty="0">
              <a:ea typeface="宋体" panose="02010600030101010101" pitchFamily="2" charset="-122"/>
            </a:endParaRPr>
          </a:p>
          <a:p>
            <a:pPr lvl="2">
              <a:lnSpc>
                <a:spcPct val="80000"/>
              </a:lnSpc>
              <a:buNone/>
            </a:pPr>
            <a:r>
              <a:rPr lang="en-US" altLang="zh-CN" sz="1800" b="1" dirty="0">
                <a:ea typeface="宋体" panose="02010600030101010101" pitchFamily="2" charset="-122"/>
              </a:rPr>
              <a:t>			</a:t>
            </a:r>
            <a:r>
              <a:rPr lang="zh-CN" altLang="en-US" sz="1800" b="1" dirty="0">
                <a:ea typeface="宋体" panose="02010600030101010101" pitchFamily="2" charset="-122"/>
              </a:rPr>
              <a:t>把</a:t>
            </a:r>
            <a:r>
              <a:rPr lang="en-US" altLang="zh-CN" sz="1800" b="1" dirty="0">
                <a:ea typeface="宋体" panose="02010600030101010101" pitchFamily="2" charset="-122"/>
              </a:rPr>
              <a:t>B</a:t>
            </a:r>
            <a:r>
              <a:rPr lang="zh-CN" altLang="en-US" sz="1800" b="1" dirty="0">
                <a:ea typeface="宋体" panose="02010600030101010101" pitchFamily="2" charset="-122"/>
              </a:rPr>
              <a:t>→.</a:t>
            </a:r>
            <a:r>
              <a:rPr lang="en-US" altLang="zh-CN" sz="1800" b="1" dirty="0">
                <a:ea typeface="宋体" panose="02010600030101010101" pitchFamily="2" charset="-122"/>
              </a:rPr>
              <a:t>γ</a:t>
            </a:r>
            <a:r>
              <a:rPr lang="zh-CN" altLang="en-US" sz="1800" b="1" dirty="0">
                <a:ea typeface="宋体" panose="02010600030101010101" pitchFamily="2" charset="-122"/>
              </a:rPr>
              <a:t>加入</a:t>
            </a:r>
            <a:r>
              <a:rPr lang="en-US" altLang="zh-CN" sz="1800" b="1" dirty="0">
                <a:ea typeface="宋体" panose="02010600030101010101" pitchFamily="2" charset="-122"/>
              </a:rPr>
              <a:t>J</a:t>
            </a:r>
            <a:endParaRPr lang="en-US" altLang="zh-CN" sz="1800" b="1" dirty="0">
              <a:ea typeface="宋体" panose="02010600030101010101" pitchFamily="2" charset="-122"/>
            </a:endParaRPr>
          </a:p>
          <a:p>
            <a:pPr lvl="2">
              <a:lnSpc>
                <a:spcPct val="80000"/>
              </a:lnSpc>
              <a:buNone/>
            </a:pPr>
            <a:r>
              <a:rPr lang="en-US" altLang="zh-CN" sz="1800" b="1" dirty="0">
                <a:ea typeface="宋体" panose="02010600030101010101" pitchFamily="2" charset="-122"/>
              </a:rPr>
              <a:t>until </a:t>
            </a:r>
            <a:r>
              <a:rPr lang="zh-CN" altLang="en-US" sz="1800" b="1" dirty="0">
                <a:ea typeface="宋体" panose="02010600030101010101" pitchFamily="2" charset="-122"/>
              </a:rPr>
              <a:t>没有更多的项目可以加入</a:t>
            </a:r>
            <a:r>
              <a:rPr lang="en-US" altLang="zh-CN" sz="1800" b="1" dirty="0">
                <a:ea typeface="宋体" panose="02010600030101010101" pitchFamily="2" charset="-122"/>
              </a:rPr>
              <a:t>J</a:t>
            </a:r>
            <a:endParaRPr lang="en-US" altLang="zh-CN" sz="1800" b="1" dirty="0">
              <a:ea typeface="宋体" panose="02010600030101010101" pitchFamily="2" charset="-122"/>
            </a:endParaRPr>
          </a:p>
          <a:p>
            <a:pPr lvl="2">
              <a:lnSpc>
                <a:spcPct val="80000"/>
              </a:lnSpc>
              <a:buNone/>
            </a:pPr>
            <a:r>
              <a:rPr lang="en-US" altLang="zh-CN" sz="1800" b="1" dirty="0">
                <a:ea typeface="宋体" panose="02010600030101010101" pitchFamily="2" charset="-122"/>
              </a:rPr>
              <a:t>return</a:t>
            </a:r>
            <a:r>
              <a:rPr lang="zh-CN" altLang="en-US" sz="1800" b="1" dirty="0">
                <a:ea typeface="宋体" panose="02010600030101010101" pitchFamily="2" charset="-122"/>
              </a:rPr>
              <a:t> </a:t>
            </a:r>
            <a:r>
              <a:rPr lang="en-US" altLang="zh-CN" sz="1800" b="1" dirty="0">
                <a:ea typeface="宋体" panose="02010600030101010101" pitchFamily="2" charset="-122"/>
              </a:rPr>
              <a:t>J</a:t>
            </a:r>
            <a:endParaRPr lang="en-US" altLang="zh-CN" sz="1800" b="1" dirty="0">
              <a:ea typeface="宋体" panose="02010600030101010101" pitchFamily="2" charset="-122"/>
            </a:endParaRPr>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（11）</a:t>
            </a:r>
            <a:endParaRPr lang="en-US" altLang="zh-CN" dirty="0">
              <a:latin typeface="Times New Roman" panose="02020603050405020304" pitchFamily="18" charset="0"/>
              <a:ea typeface="宋体" panose="02010600030101010101" pitchFamily="2" charset="-122"/>
            </a:endParaRPr>
          </a:p>
        </p:txBody>
      </p:sp>
      <p:sp>
        <p:nvSpPr>
          <p:cNvPr id="202755" name="Rectangle 3"/>
          <p:cNvSpPr>
            <a:spLocks noGrp="1"/>
          </p:cNvSpPr>
          <p:nvPr>
            <p:ph idx="1"/>
          </p:nvPr>
        </p:nvSpPr>
        <p:spPr>
          <a:xfrm>
            <a:off x="468313" y="1371600"/>
            <a:ext cx="8351837" cy="4953000"/>
          </a:xfrm>
        </p:spPr>
        <p:txBody>
          <a:bodyPr vert="horz" wrap="square" lIns="92075" tIns="46038" rIns="92075" bIns="46038" anchor="t" anchorCtr="0"/>
          <a:p>
            <a:r>
              <a:rPr lang="zh-CN" altLang="en-US" sz="2000" b="1" dirty="0">
                <a:ea typeface="宋体" panose="02010600030101010101" pitchFamily="2" charset="-122"/>
              </a:rPr>
              <a:t>项目的分类：</a:t>
            </a:r>
            <a:endParaRPr lang="zh-CN" altLang="en-US" sz="2000" b="1" dirty="0">
              <a:ea typeface="宋体" panose="02010600030101010101" pitchFamily="2" charset="-122"/>
            </a:endParaRPr>
          </a:p>
          <a:p>
            <a:pPr lvl="1"/>
            <a:r>
              <a:rPr lang="zh-CN" altLang="en-US" sz="1800" b="1" dirty="0">
                <a:ea typeface="宋体" panose="02010600030101010101" pitchFamily="2" charset="-122"/>
              </a:rPr>
              <a:t>内核项：包括初始项目</a:t>
            </a:r>
            <a:r>
              <a:rPr lang="en-US" altLang="zh-CN" sz="1800" b="1" dirty="0">
                <a:ea typeface="宋体" panose="02010600030101010101" pitchFamily="2" charset="-122"/>
              </a:rPr>
              <a:t>S’</a:t>
            </a:r>
            <a:r>
              <a:rPr lang="zh-CN" altLang="en-US" sz="1800" b="1" dirty="0">
                <a:ea typeface="宋体" panose="02010600030101010101" pitchFamily="2" charset="-122"/>
              </a:rPr>
              <a:t>→.</a:t>
            </a:r>
            <a:r>
              <a:rPr lang="en-US" altLang="zh-CN" sz="1800" b="1" dirty="0">
                <a:ea typeface="宋体" panose="02010600030101010101" pitchFamily="2" charset="-122"/>
              </a:rPr>
              <a:t>S</a:t>
            </a:r>
            <a:r>
              <a:rPr lang="zh-CN" altLang="en-US" sz="1800" b="1" dirty="0">
                <a:ea typeface="宋体" panose="02010600030101010101" pitchFamily="2" charset="-122"/>
              </a:rPr>
              <a:t>和所有点不在左端的项目</a:t>
            </a:r>
            <a:endParaRPr lang="zh-CN" altLang="en-US" sz="1800" b="1" dirty="0">
              <a:ea typeface="宋体" panose="02010600030101010101" pitchFamily="2" charset="-122"/>
            </a:endParaRPr>
          </a:p>
          <a:p>
            <a:pPr lvl="1"/>
            <a:r>
              <a:rPr lang="zh-CN" altLang="en-US" sz="1800" b="1" dirty="0">
                <a:ea typeface="宋体" panose="02010600030101010101" pitchFamily="2" charset="-122"/>
              </a:rPr>
              <a:t>非内核项：除了</a:t>
            </a:r>
            <a:r>
              <a:rPr lang="en-US" altLang="zh-CN" sz="1800" b="1" dirty="0">
                <a:ea typeface="宋体" panose="02010600030101010101" pitchFamily="2" charset="-122"/>
              </a:rPr>
              <a:t>S’</a:t>
            </a:r>
            <a:r>
              <a:rPr lang="zh-CN" altLang="en-US" sz="1800" b="1" dirty="0">
                <a:ea typeface="宋体" panose="02010600030101010101" pitchFamily="2" charset="-122"/>
              </a:rPr>
              <a:t>→.</a:t>
            </a:r>
            <a:r>
              <a:rPr lang="en-US" altLang="zh-CN" sz="1800" b="1" dirty="0">
                <a:ea typeface="宋体" panose="02010600030101010101" pitchFamily="2" charset="-122"/>
              </a:rPr>
              <a:t>S</a:t>
            </a:r>
            <a:r>
              <a:rPr lang="zh-CN" altLang="en-US" sz="1800" b="1" dirty="0">
                <a:ea typeface="宋体" panose="02010600030101010101" pitchFamily="2" charset="-122"/>
              </a:rPr>
              <a:t>之外的点在左端的项</a:t>
            </a:r>
            <a:endParaRPr lang="zh-CN" altLang="en-US" sz="1800" b="1" dirty="0">
              <a:ea typeface="宋体" panose="02010600030101010101" pitchFamily="2" charset="-122"/>
            </a:endParaRPr>
          </a:p>
          <a:p>
            <a:r>
              <a:rPr lang="zh-CN" altLang="en-US" sz="2000" b="1" dirty="0">
                <a:ea typeface="宋体" panose="02010600030101010101" pitchFamily="2" charset="-122"/>
              </a:rPr>
              <a:t>项目分类的意义：</a:t>
            </a:r>
            <a:endParaRPr lang="zh-CN" altLang="en-US" sz="2000" b="1" dirty="0">
              <a:ea typeface="宋体" panose="02010600030101010101" pitchFamily="2" charset="-122"/>
            </a:endParaRPr>
          </a:p>
          <a:p>
            <a:pPr lvl="1"/>
            <a:r>
              <a:rPr lang="en-US" altLang="zh-CN" sz="1800" b="1" dirty="0">
                <a:ea typeface="宋体" panose="02010600030101010101" pitchFamily="2" charset="-122"/>
              </a:rPr>
              <a:t>DFA</a:t>
            </a:r>
            <a:r>
              <a:rPr lang="zh-CN" altLang="en-US" sz="1800" b="1" dirty="0">
                <a:ea typeface="宋体" panose="02010600030101010101" pitchFamily="2" charset="-122"/>
              </a:rPr>
              <a:t>应用的项目集是核心项目的闭包形成</a:t>
            </a:r>
            <a:endParaRPr lang="zh-CN" altLang="en-US" sz="1800" b="1" dirty="0">
              <a:ea typeface="宋体" panose="02010600030101010101" pitchFamily="2" charset="-122"/>
            </a:endParaRPr>
          </a:p>
          <a:p>
            <a:pPr lvl="1"/>
            <a:r>
              <a:rPr lang="zh-CN" altLang="en-US" sz="1800" b="1" dirty="0">
                <a:ea typeface="宋体" panose="02010600030101010101" pitchFamily="2" charset="-122"/>
              </a:rPr>
              <a:t>若有一个文法，核心项目唯一地判断出状态以及它的转换，则只需指出核心项目就可以完整地表示出项目集合的</a:t>
            </a:r>
            <a:r>
              <a:rPr lang="en-US" altLang="zh-CN" sz="1800" b="1" dirty="0">
                <a:ea typeface="宋体" panose="02010600030101010101" pitchFamily="2" charset="-122"/>
              </a:rPr>
              <a:t>DFA</a:t>
            </a:r>
            <a:endParaRPr lang="en-US" altLang="zh-CN" sz="1800" b="1" dirty="0">
              <a:ea typeface="宋体" panose="02010600030101010101" pitchFamily="2" charset="-122"/>
            </a:endParaRPr>
          </a:p>
          <a:p>
            <a:r>
              <a:rPr lang="zh-CN" altLang="en-US" sz="2000" b="1" dirty="0">
                <a:ea typeface="宋体" panose="02010600030101010101" pitchFamily="2" charset="-122"/>
              </a:rPr>
              <a:t>函数</a:t>
            </a:r>
            <a:r>
              <a:rPr lang="en-US" altLang="zh-CN" sz="2000" b="1" i="1" dirty="0">
                <a:ea typeface="宋体" panose="02010600030101010101" pitchFamily="2" charset="-122"/>
              </a:rPr>
              <a:t>GOTO</a:t>
            </a:r>
            <a:r>
              <a:rPr lang="zh-CN" altLang="en-US" sz="2000" b="1" dirty="0">
                <a:ea typeface="宋体" panose="02010600030101010101" pitchFamily="2" charset="-122"/>
              </a:rPr>
              <a:t>（</a:t>
            </a:r>
            <a:r>
              <a:rPr lang="en-US" altLang="zh-CN" sz="2000" b="1" i="1" dirty="0">
                <a:ea typeface="宋体" panose="02010600030101010101" pitchFamily="2" charset="-122"/>
              </a:rPr>
              <a:t>I</a:t>
            </a:r>
            <a:r>
              <a:rPr lang="zh-CN" altLang="en-US" sz="2000" b="1" i="1" dirty="0">
                <a:ea typeface="宋体" panose="02010600030101010101" pitchFamily="2" charset="-122"/>
              </a:rPr>
              <a:t>，</a:t>
            </a:r>
            <a:r>
              <a:rPr lang="en-US" altLang="zh-CN" sz="2000" b="1" i="1" dirty="0">
                <a:ea typeface="宋体" panose="02010600030101010101" pitchFamily="2" charset="-122"/>
              </a:rPr>
              <a:t>X</a:t>
            </a:r>
            <a:r>
              <a:rPr lang="zh-CN" altLang="en-US" sz="2000" b="1" dirty="0">
                <a:ea typeface="宋体" panose="02010600030101010101" pitchFamily="2" charset="-122"/>
              </a:rPr>
              <a:t>）取状态（项目集）</a:t>
            </a:r>
            <a:r>
              <a:rPr lang="en-US" altLang="zh-CN" sz="2000" b="1" i="1" dirty="0">
                <a:ea typeface="宋体" panose="02010600030101010101" pitchFamily="2" charset="-122"/>
              </a:rPr>
              <a:t>I</a:t>
            </a:r>
            <a:r>
              <a:rPr lang="zh-CN" altLang="en-US" sz="2000" b="1" dirty="0">
                <a:ea typeface="宋体" panose="02010600030101010101" pitchFamily="2" charset="-122"/>
              </a:rPr>
              <a:t>和文法符号</a:t>
            </a:r>
            <a:r>
              <a:rPr lang="en-US" altLang="zh-CN" sz="2000" b="1" i="1" dirty="0">
                <a:ea typeface="宋体" panose="02010600030101010101" pitchFamily="2" charset="-122"/>
              </a:rPr>
              <a:t>X</a:t>
            </a:r>
            <a:r>
              <a:rPr lang="zh-CN" altLang="en-US" sz="2000" b="1" dirty="0">
                <a:ea typeface="宋体" panose="02010600030101010101" pitchFamily="2" charset="-122"/>
              </a:rPr>
              <a:t>为变元，产生一个状态</a:t>
            </a:r>
            <a:endParaRPr lang="zh-CN" altLang="en-US" sz="2000" b="1" dirty="0">
              <a:ea typeface="宋体" panose="02010600030101010101" pitchFamily="2" charset="-122"/>
            </a:endParaRPr>
          </a:p>
          <a:p>
            <a:pPr lvl="1">
              <a:buSzTx/>
            </a:pPr>
            <a:r>
              <a:rPr lang="zh-CN" altLang="en-US" sz="1800" b="1" dirty="0">
                <a:ea typeface="宋体" panose="02010600030101010101" pitchFamily="2" charset="-122"/>
              </a:rPr>
              <a:t>定义：为</a:t>
            </a:r>
            <a:r>
              <a:rPr lang="en-US" altLang="zh-CN" sz="1800" b="1" i="1" dirty="0">
                <a:ea typeface="宋体" panose="02010600030101010101" pitchFamily="2" charset="-122"/>
              </a:rPr>
              <a:t>I</a:t>
            </a:r>
            <a:r>
              <a:rPr lang="zh-CN" altLang="en-US" sz="1800" b="1" dirty="0">
                <a:ea typeface="宋体" panose="02010600030101010101" pitchFamily="2" charset="-122"/>
              </a:rPr>
              <a:t>中所有形如</a:t>
            </a:r>
            <a:r>
              <a:rPr lang="en-US" altLang="zh-CN" sz="1800" b="1" dirty="0">
                <a:ea typeface="宋体" panose="02010600030101010101" pitchFamily="2" charset="-122"/>
              </a:rPr>
              <a:t>[</a:t>
            </a:r>
            <a:r>
              <a:rPr lang="en-US" altLang="zh-CN" sz="1800" b="1" i="1" dirty="0">
                <a:ea typeface="宋体" panose="02010600030101010101" pitchFamily="2" charset="-122"/>
              </a:rPr>
              <a:t>A</a:t>
            </a:r>
            <a:r>
              <a:rPr lang="en-US" altLang="zh-CN" sz="1800" b="1" dirty="0">
                <a:ea typeface="宋体" panose="02010600030101010101" pitchFamily="2" charset="-122"/>
              </a:rPr>
              <a:t>→</a:t>
            </a:r>
            <a:r>
              <a:rPr lang="el-GR" altLang="zh-CN" sz="1800" b="1" i="1" dirty="0">
                <a:ea typeface="宋体" panose="02010600030101010101" pitchFamily="2" charset="-122"/>
              </a:rPr>
              <a:t>α</a:t>
            </a:r>
            <a:r>
              <a:rPr lang="en-US" altLang="zh-CN" sz="1800" b="1" i="1" dirty="0">
                <a:ea typeface="宋体" panose="02010600030101010101" pitchFamily="2" charset="-122"/>
              </a:rPr>
              <a:t> . X</a:t>
            </a:r>
            <a:r>
              <a:rPr lang="el-GR" altLang="zh-CN" sz="1800" b="1" i="1" dirty="0">
                <a:ea typeface="宋体" panose="02010600030101010101" pitchFamily="2" charset="-122"/>
              </a:rPr>
              <a:t>β</a:t>
            </a:r>
            <a:r>
              <a:rPr lang="en-US" altLang="zh-CN" sz="1800" b="1" dirty="0">
                <a:ea typeface="宋体" panose="02010600030101010101" pitchFamily="2" charset="-122"/>
              </a:rPr>
              <a:t>]</a:t>
            </a:r>
            <a:r>
              <a:rPr lang="zh-CN" altLang="en-US" sz="1800" b="1" dirty="0">
                <a:ea typeface="宋体" panose="02010600030101010101" pitchFamily="2" charset="-122"/>
              </a:rPr>
              <a:t>的项对应的项</a:t>
            </a:r>
            <a:r>
              <a:rPr lang="en-US" altLang="zh-CN" sz="1800" b="1" dirty="0">
                <a:ea typeface="宋体" panose="02010600030101010101" pitchFamily="2" charset="-122"/>
              </a:rPr>
              <a:t>[</a:t>
            </a:r>
            <a:r>
              <a:rPr lang="en-US" altLang="zh-CN" sz="1800" b="1" i="1" dirty="0">
                <a:ea typeface="宋体" panose="02010600030101010101" pitchFamily="2" charset="-122"/>
              </a:rPr>
              <a:t>A</a:t>
            </a:r>
            <a:r>
              <a:rPr lang="en-US" altLang="zh-CN" sz="1800" b="1" dirty="0">
                <a:ea typeface="宋体" panose="02010600030101010101" pitchFamily="2" charset="-122"/>
              </a:rPr>
              <a:t>→</a:t>
            </a:r>
            <a:r>
              <a:rPr lang="el-GR" altLang="zh-CN" sz="1800" b="1" i="1" dirty="0">
                <a:ea typeface="宋体" panose="02010600030101010101" pitchFamily="2" charset="-122"/>
              </a:rPr>
              <a:t>α</a:t>
            </a:r>
            <a:r>
              <a:rPr lang="en-US" altLang="zh-CN" sz="1800" b="1" i="1" dirty="0">
                <a:ea typeface="宋体" panose="02010600030101010101" pitchFamily="2" charset="-122"/>
              </a:rPr>
              <a:t>X . </a:t>
            </a:r>
            <a:r>
              <a:rPr lang="el-GR" altLang="zh-CN" sz="1800" b="1" i="1" dirty="0">
                <a:ea typeface="宋体" panose="02010600030101010101" pitchFamily="2" charset="-122"/>
              </a:rPr>
              <a:t>β</a:t>
            </a:r>
            <a:r>
              <a:rPr lang="en-US" altLang="zh-CN" sz="1800" b="1" dirty="0">
                <a:ea typeface="宋体" panose="02010600030101010101" pitchFamily="2" charset="-122"/>
              </a:rPr>
              <a:t>]</a:t>
            </a:r>
            <a:r>
              <a:rPr lang="zh-CN" altLang="en-US" sz="1800" b="1" dirty="0">
                <a:ea typeface="宋体" panose="02010600030101010101" pitchFamily="2" charset="-122"/>
              </a:rPr>
              <a:t>的集合的闭包</a:t>
            </a:r>
            <a:endParaRPr lang="en-US" altLang="zh-CN" sz="1800" b="1" dirty="0">
              <a:ea typeface="宋体" panose="02010600030101010101" pitchFamily="2" charset="-122"/>
            </a:endParaRPr>
          </a:p>
          <a:p>
            <a:pPr lvl="1">
              <a:buSzTx/>
            </a:pPr>
            <a:r>
              <a:rPr lang="zh-CN" altLang="en-US" sz="1800" b="1" dirty="0">
                <a:ea typeface="宋体" panose="02010600030101010101" pitchFamily="2" charset="-122"/>
              </a:rPr>
              <a:t>直观意义：</a:t>
            </a:r>
            <a:r>
              <a:rPr lang="en-US" altLang="zh-CN" sz="1800" b="1" dirty="0">
                <a:ea typeface="宋体" panose="02010600030101010101" pitchFamily="2" charset="-122"/>
              </a:rPr>
              <a:t>GOTO</a:t>
            </a:r>
            <a:r>
              <a:rPr lang="zh-CN" altLang="en-US" sz="1800" b="1" dirty="0">
                <a:ea typeface="宋体" panose="02010600030101010101" pitchFamily="2" charset="-122"/>
              </a:rPr>
              <a:t>函数用于定义文法的</a:t>
            </a:r>
            <a:r>
              <a:rPr lang="en-US" altLang="zh-CN" sz="1800" b="1" dirty="0">
                <a:ea typeface="宋体" panose="02010600030101010101" pitchFamily="2" charset="-122"/>
              </a:rPr>
              <a:t>LR(0)</a:t>
            </a:r>
            <a:r>
              <a:rPr lang="zh-CN" altLang="en-US" sz="1800" b="1" dirty="0">
                <a:ea typeface="宋体" panose="02010600030101010101" pitchFamily="2" charset="-122"/>
              </a:rPr>
              <a:t>自动机中的转换（如</a:t>
            </a:r>
            <a:r>
              <a:rPr lang="en-US" altLang="zh-CN" sz="1800" b="1" dirty="0">
                <a:ea typeface="宋体" panose="02010600030101010101" pitchFamily="2" charset="-122"/>
              </a:rPr>
              <a:t>ppt</a:t>
            </a:r>
            <a:r>
              <a:rPr lang="zh-CN" altLang="en-US" sz="1800" b="1" dirty="0">
                <a:ea typeface="宋体" panose="02010600030101010101" pitchFamily="2" charset="-122"/>
              </a:rPr>
              <a:t>第</a:t>
            </a:r>
            <a:r>
              <a:rPr lang="en-US" altLang="zh-CN" sz="1800" b="1" dirty="0">
                <a:ea typeface="宋体" panose="02010600030101010101" pitchFamily="2" charset="-122"/>
              </a:rPr>
              <a:t>102</a:t>
            </a:r>
            <a:r>
              <a:rPr lang="zh-CN" altLang="en-US" sz="1800" b="1" dirty="0">
                <a:ea typeface="宋体" panose="02010600030101010101" pitchFamily="2" charset="-122"/>
              </a:rPr>
              <a:t>页中的图</a:t>
            </a:r>
            <a:r>
              <a:rPr lang="en-US" altLang="zh-CN" sz="1800" b="1" dirty="0">
                <a:ea typeface="宋体" panose="02010600030101010101" pitchFamily="2" charset="-122"/>
              </a:rPr>
              <a:t>4-31</a:t>
            </a:r>
            <a:r>
              <a:rPr lang="zh-CN" altLang="en-US" sz="1800" b="1" dirty="0">
                <a:ea typeface="宋体" panose="02010600030101010101" pitchFamily="2" charset="-122"/>
              </a:rPr>
              <a:t>）</a:t>
            </a:r>
            <a:endParaRPr lang="en-US" altLang="zh-CN" sz="1800" b="1" dirty="0">
              <a:ea typeface="宋体" panose="02010600030101010101" pitchFamily="2" charset="-122"/>
            </a:endParaRPr>
          </a:p>
          <a:p>
            <a:pPr lvl="1">
              <a:buSzTx/>
            </a:pPr>
            <a:r>
              <a:rPr lang="en-US" altLang="zh-CN" sz="1800" b="1" dirty="0">
                <a:ea typeface="宋体" panose="02010600030101010101" pitchFamily="2" charset="-122"/>
              </a:rPr>
              <a:t>LR</a:t>
            </a:r>
            <a:r>
              <a:rPr lang="zh-CN" altLang="en-US" sz="1800" b="1" dirty="0">
                <a:ea typeface="宋体" panose="02010600030101010101" pitchFamily="2" charset="-122"/>
              </a:rPr>
              <a:t>分析器栈中的文法符号总是形成活前缀</a:t>
            </a:r>
            <a:endParaRPr lang="zh-CN" altLang="en-US" sz="1800" b="1" dirty="0">
              <a:ea typeface="宋体" panose="02010600030101010101" pitchFamily="2" charset="-122"/>
            </a:endParaRPr>
          </a:p>
          <a:p>
            <a:pPr lvl="1">
              <a:buSzTx/>
            </a:pPr>
            <a:r>
              <a:rPr lang="zh-CN" altLang="en-US" sz="1800" b="1" dirty="0">
                <a:ea typeface="宋体" panose="02010600030101010101" pitchFamily="2" charset="-122"/>
              </a:rPr>
              <a:t>在</a:t>
            </a:r>
            <a:r>
              <a:rPr lang="en-US" altLang="zh-CN" sz="1800" b="1" dirty="0">
                <a:ea typeface="宋体" panose="02010600030101010101" pitchFamily="2" charset="-122"/>
              </a:rPr>
              <a:t>LR(0)</a:t>
            </a:r>
            <a:r>
              <a:rPr lang="zh-CN" altLang="en-US" sz="1800" b="1" dirty="0">
                <a:ea typeface="宋体" panose="02010600030101010101" pitchFamily="2" charset="-122"/>
              </a:rPr>
              <a:t>分析、</a:t>
            </a:r>
            <a:r>
              <a:rPr lang="en-US" altLang="zh-CN" sz="1800" b="1" dirty="0">
                <a:ea typeface="宋体" panose="02010600030101010101" pitchFamily="2" charset="-122"/>
              </a:rPr>
              <a:t>SLR</a:t>
            </a:r>
            <a:r>
              <a:rPr lang="zh-CN" altLang="en-US" sz="1800" b="1" dirty="0">
                <a:ea typeface="宋体" panose="02010600030101010101" pitchFamily="2" charset="-122"/>
              </a:rPr>
              <a:t>分析、规范</a:t>
            </a:r>
            <a:r>
              <a:rPr lang="en-US" altLang="zh-CN" sz="1800" b="1" dirty="0">
                <a:ea typeface="宋体" panose="02010600030101010101" pitchFamily="2" charset="-122"/>
              </a:rPr>
              <a:t>LR</a:t>
            </a:r>
            <a:r>
              <a:rPr lang="zh-CN" altLang="en-US" sz="1800" b="1" dirty="0">
                <a:ea typeface="宋体" panose="02010600030101010101" pitchFamily="2" charset="-122"/>
              </a:rPr>
              <a:t>分析和</a:t>
            </a:r>
            <a:r>
              <a:rPr lang="en-US" altLang="zh-CN" sz="1800" b="1" dirty="0">
                <a:ea typeface="宋体" panose="02010600030101010101" pitchFamily="2" charset="-122"/>
              </a:rPr>
              <a:t>LALR</a:t>
            </a:r>
            <a:r>
              <a:rPr lang="zh-CN" altLang="en-US" sz="1800" b="1" dirty="0">
                <a:ea typeface="宋体" panose="02010600030101010101" pitchFamily="2" charset="-122"/>
              </a:rPr>
              <a:t>分析中，构造一个识别文法</a:t>
            </a:r>
            <a:r>
              <a:rPr lang="en-US" altLang="zh-CN" sz="1800" b="1" dirty="0">
                <a:ea typeface="宋体" panose="02010600030101010101" pitchFamily="2" charset="-122"/>
              </a:rPr>
              <a:t>G</a:t>
            </a:r>
            <a:r>
              <a:rPr lang="zh-CN" altLang="en-US" sz="1800" b="1" dirty="0">
                <a:ea typeface="宋体" panose="02010600030101010101" pitchFamily="2" charset="-122"/>
              </a:rPr>
              <a:t>的活前缀的确定有限自动机，则</a:t>
            </a:r>
            <a:r>
              <a:rPr lang="en-US" altLang="zh-CN" sz="1800" b="1" i="1" dirty="0">
                <a:ea typeface="宋体" panose="02010600030101010101" pitchFamily="2" charset="-122"/>
              </a:rPr>
              <a:t>GOTO</a:t>
            </a:r>
            <a:r>
              <a:rPr lang="zh-CN" altLang="en-US" sz="1800" b="1" dirty="0">
                <a:ea typeface="宋体" panose="02010600030101010101" pitchFamily="2" charset="-122"/>
              </a:rPr>
              <a:t>函数是这个自动机的状态转换函数，初始状态是初启时置于</a:t>
            </a:r>
            <a:r>
              <a:rPr lang="en-US" altLang="zh-CN" sz="1800" b="1" dirty="0">
                <a:ea typeface="宋体" panose="02010600030101010101" pitchFamily="2" charset="-122"/>
              </a:rPr>
              <a:t>LR</a:t>
            </a:r>
            <a:r>
              <a:rPr lang="zh-CN" altLang="en-US" sz="1800" b="1" dirty="0">
                <a:ea typeface="宋体" panose="02010600030101010101" pitchFamily="2" charset="-122"/>
              </a:rPr>
              <a:t>分析器栈中的状态</a:t>
            </a:r>
            <a:endParaRPr lang="zh-CN" altLang="en-US" sz="1800" b="1" dirty="0">
              <a:ea typeface="宋体" panose="02010600030101010101" pitchFamily="2" charset="-122"/>
            </a:endParaRPr>
          </a:p>
        </p:txBody>
      </p:sp>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（12）</a:t>
            </a:r>
            <a:endParaRPr lang="en-US" altLang="zh-CN" dirty="0">
              <a:latin typeface="Times New Roman" panose="02020603050405020304" pitchFamily="18" charset="0"/>
              <a:ea typeface="宋体" panose="02010600030101010101" pitchFamily="2" charset="-122"/>
            </a:endParaRPr>
          </a:p>
        </p:txBody>
      </p:sp>
      <p:sp>
        <p:nvSpPr>
          <p:cNvPr id="204803" name="Rectangle 3"/>
          <p:cNvSpPr>
            <a:spLocks noGrp="1"/>
          </p:cNvSpPr>
          <p:nvPr>
            <p:ph idx="1"/>
          </p:nvPr>
        </p:nvSpPr>
        <p:spPr>
          <a:xfrm>
            <a:off x="990600" y="1371600"/>
            <a:ext cx="7391400" cy="4953000"/>
          </a:xfrm>
        </p:spPr>
        <p:txBody>
          <a:bodyPr vert="horz" wrap="square" lIns="92075" tIns="46038" rIns="92075" bIns="46038" anchor="t" anchorCtr="0"/>
          <a:p>
            <a:r>
              <a:rPr lang="zh-CN" altLang="en-US" sz="2400" b="1" dirty="0">
                <a:ea typeface="宋体" panose="02010600030101010101" pitchFamily="2" charset="-122"/>
              </a:rPr>
              <a:t>规范</a:t>
            </a:r>
            <a:r>
              <a:rPr lang="en-US" altLang="zh-CN" sz="2400" b="1" dirty="0">
                <a:ea typeface="宋体" panose="02010600030101010101" pitchFamily="2" charset="-122"/>
              </a:rPr>
              <a:t>LR(0)</a:t>
            </a:r>
            <a:r>
              <a:rPr lang="zh-CN" altLang="en-US" sz="2400" b="1" dirty="0">
                <a:ea typeface="宋体" panose="02010600030101010101" pitchFamily="2" charset="-122"/>
              </a:rPr>
              <a:t>项目集族的计算</a:t>
            </a:r>
            <a:endParaRPr lang="zh-CN" altLang="en-US" sz="2400" b="1" dirty="0">
              <a:ea typeface="宋体" panose="02010600030101010101" pitchFamily="2" charset="-122"/>
            </a:endParaRPr>
          </a:p>
        </p:txBody>
      </p:sp>
      <p:pic>
        <p:nvPicPr>
          <p:cNvPr id="204804" name="Picture 2"/>
          <p:cNvPicPr>
            <a:picLocks noChangeAspect="1"/>
          </p:cNvPicPr>
          <p:nvPr/>
        </p:nvPicPr>
        <p:blipFill>
          <a:blip r:embed="rId1"/>
          <a:stretch>
            <a:fillRect/>
          </a:stretch>
        </p:blipFill>
        <p:spPr>
          <a:xfrm>
            <a:off x="395288" y="1916113"/>
            <a:ext cx="8358187" cy="3532187"/>
          </a:xfrm>
          <a:prstGeom prst="rect">
            <a:avLst/>
          </a:prstGeom>
          <a:noFill/>
          <a:ln w="9525">
            <a:noFill/>
          </a:ln>
        </p:spPr>
      </p:pic>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5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（13）</a:t>
            </a:r>
            <a:endParaRPr lang="en-US" altLang="zh-CN" dirty="0">
              <a:latin typeface="Times New Roman" panose="02020603050405020304" pitchFamily="18" charset="0"/>
              <a:ea typeface="宋体" panose="02010600030101010101" pitchFamily="2" charset="-122"/>
            </a:endParaRPr>
          </a:p>
        </p:txBody>
      </p:sp>
      <p:sp>
        <p:nvSpPr>
          <p:cNvPr id="206851" name="Rectangle 3"/>
          <p:cNvSpPr>
            <a:spLocks noGrp="1"/>
          </p:cNvSpPr>
          <p:nvPr>
            <p:ph idx="1"/>
          </p:nvPr>
        </p:nvSpPr>
        <p:spPr>
          <a:xfrm>
            <a:off x="990600" y="1371600"/>
            <a:ext cx="7391400" cy="4953000"/>
          </a:xfrm>
        </p:spPr>
        <p:txBody>
          <a:bodyPr vert="horz" wrap="square" lIns="92075" tIns="46038" rIns="92075" bIns="46038" anchor="t" anchorCtr="0"/>
          <a:p>
            <a:pPr>
              <a:lnSpc>
                <a:spcPct val="90000"/>
              </a:lnSpc>
              <a:buFont typeface="Wingdings" panose="05000000000000000000" pitchFamily="2" charset="2"/>
              <a:buNone/>
            </a:pPr>
            <a:r>
              <a:rPr lang="zh-CN" altLang="en-US" sz="2200" b="1" dirty="0">
                <a:ea typeface="宋体" panose="02010600030101010101" pitchFamily="2" charset="-122"/>
              </a:rPr>
              <a:t>例子：拓广的表达式文法：</a:t>
            </a:r>
            <a:endParaRPr lang="zh-CN" altLang="en-US" sz="2200" b="1" dirty="0">
              <a:ea typeface="宋体" panose="02010600030101010101" pitchFamily="2" charset="-122"/>
            </a:endParaRPr>
          </a:p>
          <a:p>
            <a:pPr>
              <a:lnSpc>
                <a:spcPct val="90000"/>
              </a:lnSpc>
              <a:buFont typeface="Wingdings" panose="05000000000000000000" pitchFamily="2" charset="2"/>
              <a:buNone/>
            </a:pPr>
            <a:r>
              <a:rPr lang="en-US" altLang="zh-CN" sz="2200" b="1" dirty="0">
                <a:ea typeface="宋体" panose="02010600030101010101" pitchFamily="2" charset="-122"/>
              </a:rPr>
              <a:t>		E’</a:t>
            </a:r>
            <a:r>
              <a:rPr lang="zh-CN" altLang="en-US" sz="2200" b="1" dirty="0">
                <a:ea typeface="宋体" panose="02010600030101010101" pitchFamily="2" charset="-122"/>
              </a:rPr>
              <a:t>→</a:t>
            </a:r>
            <a:r>
              <a:rPr lang="en-US" altLang="zh-CN" sz="2200" b="1" dirty="0">
                <a:ea typeface="宋体" panose="02010600030101010101" pitchFamily="2" charset="-122"/>
              </a:rPr>
              <a:t>E</a:t>
            </a:r>
            <a:endParaRPr lang="en-US" altLang="zh-CN" sz="2200" b="1" dirty="0">
              <a:ea typeface="宋体" panose="02010600030101010101" pitchFamily="2" charset="-122"/>
            </a:endParaRPr>
          </a:p>
          <a:p>
            <a:pPr>
              <a:lnSpc>
                <a:spcPct val="90000"/>
              </a:lnSpc>
              <a:buFont typeface="Wingdings" panose="05000000000000000000" pitchFamily="2" charset="2"/>
              <a:buNone/>
            </a:pPr>
            <a:r>
              <a:rPr lang="en-US" altLang="zh-CN" sz="2200" b="1" dirty="0">
                <a:ea typeface="宋体" panose="02010600030101010101" pitchFamily="2" charset="-122"/>
              </a:rPr>
              <a:t>		E</a:t>
            </a:r>
            <a:r>
              <a:rPr lang="zh-CN" altLang="en-US" sz="2200" b="1" dirty="0">
                <a:ea typeface="宋体" panose="02010600030101010101" pitchFamily="2" charset="-122"/>
              </a:rPr>
              <a:t>→</a:t>
            </a:r>
            <a:r>
              <a:rPr lang="en-US" altLang="zh-CN" sz="2200" b="1" dirty="0">
                <a:ea typeface="宋体" panose="02010600030101010101" pitchFamily="2" charset="-122"/>
              </a:rPr>
              <a:t>E+T | T</a:t>
            </a:r>
            <a:endParaRPr lang="en-US" altLang="zh-CN" sz="2200" b="1" dirty="0">
              <a:ea typeface="宋体" panose="02010600030101010101" pitchFamily="2" charset="-122"/>
            </a:endParaRPr>
          </a:p>
          <a:p>
            <a:pPr>
              <a:lnSpc>
                <a:spcPct val="90000"/>
              </a:lnSpc>
              <a:buFont typeface="Wingdings" panose="05000000000000000000" pitchFamily="2" charset="2"/>
              <a:buNone/>
            </a:pPr>
            <a:r>
              <a:rPr lang="en-US" altLang="zh-CN" sz="2200" b="1" dirty="0">
                <a:ea typeface="宋体" panose="02010600030101010101" pitchFamily="2" charset="-122"/>
              </a:rPr>
              <a:t>		T</a:t>
            </a:r>
            <a:r>
              <a:rPr lang="zh-CN" altLang="en-US" sz="2200" b="1" dirty="0">
                <a:ea typeface="宋体" panose="02010600030101010101" pitchFamily="2" charset="-122"/>
              </a:rPr>
              <a:t>→</a:t>
            </a:r>
            <a:r>
              <a:rPr lang="en-US" altLang="zh-CN" sz="2200" b="1" dirty="0">
                <a:ea typeface="宋体" panose="02010600030101010101" pitchFamily="2" charset="-122"/>
              </a:rPr>
              <a:t>T*F | F</a:t>
            </a:r>
            <a:endParaRPr lang="en-US" altLang="zh-CN" sz="2200" b="1" dirty="0">
              <a:ea typeface="宋体" panose="02010600030101010101" pitchFamily="2" charset="-122"/>
            </a:endParaRPr>
          </a:p>
          <a:p>
            <a:pPr>
              <a:lnSpc>
                <a:spcPct val="90000"/>
              </a:lnSpc>
              <a:buFont typeface="Wingdings" panose="05000000000000000000" pitchFamily="2" charset="2"/>
              <a:buNone/>
            </a:pPr>
            <a:r>
              <a:rPr lang="en-US" altLang="zh-CN" sz="2200" b="1" dirty="0">
                <a:ea typeface="宋体" panose="02010600030101010101" pitchFamily="2" charset="-122"/>
              </a:rPr>
              <a:t>		F</a:t>
            </a:r>
            <a:r>
              <a:rPr lang="zh-CN" altLang="en-US" sz="2200" b="1" dirty="0">
                <a:ea typeface="宋体" panose="02010600030101010101" pitchFamily="2" charset="-122"/>
              </a:rPr>
              <a:t>→</a:t>
            </a:r>
            <a:r>
              <a:rPr lang="en-US" altLang="zh-CN" sz="2200" b="1" dirty="0">
                <a:ea typeface="宋体" panose="02010600030101010101" pitchFamily="2" charset="-122"/>
              </a:rPr>
              <a:t>(E) | id</a:t>
            </a:r>
            <a:endParaRPr lang="en-US" altLang="zh-CN" sz="2200" b="1" dirty="0">
              <a:ea typeface="宋体" panose="02010600030101010101" pitchFamily="2" charset="-122"/>
            </a:endParaRPr>
          </a:p>
          <a:p>
            <a:pPr>
              <a:lnSpc>
                <a:spcPct val="90000"/>
              </a:lnSpc>
              <a:buFont typeface="Wingdings" panose="05000000000000000000" pitchFamily="2" charset="2"/>
              <a:buNone/>
            </a:pPr>
            <a:r>
              <a:rPr lang="zh-CN" altLang="en-US" sz="2200" b="1" dirty="0">
                <a:ea typeface="宋体" panose="02010600030101010101" pitchFamily="2" charset="-122"/>
              </a:rPr>
              <a:t>对应的</a:t>
            </a:r>
            <a:r>
              <a:rPr lang="en-US" altLang="zh-CN" sz="2200" b="1" dirty="0">
                <a:ea typeface="宋体" panose="02010600030101010101" pitchFamily="2" charset="-122"/>
              </a:rPr>
              <a:t>LR(0)</a:t>
            </a:r>
            <a:r>
              <a:rPr lang="zh-CN" altLang="en-US" sz="2200" b="1" dirty="0">
                <a:ea typeface="宋体" panose="02010600030101010101" pitchFamily="2" charset="-122"/>
              </a:rPr>
              <a:t>项目集规范族如下：</a:t>
            </a:r>
            <a:endParaRPr lang="zh-CN" altLang="en-US" sz="2200" b="1" dirty="0">
              <a:ea typeface="宋体" panose="02010600030101010101" pitchFamily="2" charset="-122"/>
            </a:endParaRPr>
          </a:p>
          <a:p>
            <a:pPr>
              <a:lnSpc>
                <a:spcPct val="90000"/>
              </a:lnSpc>
              <a:buFont typeface="Wingdings" panose="05000000000000000000" pitchFamily="2" charset="2"/>
              <a:buNone/>
            </a:pPr>
            <a:r>
              <a:rPr lang="zh-CN" altLang="en-US" sz="2200" b="1" dirty="0">
                <a:ea typeface="宋体" panose="02010600030101010101" pitchFamily="2" charset="-122"/>
              </a:rPr>
              <a:t>	</a:t>
            </a:r>
            <a:r>
              <a:rPr lang="en-US" altLang="zh-CN" sz="2200" b="1" dirty="0">
                <a:ea typeface="宋体" panose="02010600030101010101" pitchFamily="2" charset="-122"/>
              </a:rPr>
              <a:t>I</a:t>
            </a:r>
            <a:r>
              <a:rPr lang="en-US" altLang="zh-CN" sz="2200" b="1" baseline="-25000" dirty="0">
                <a:ea typeface="宋体" panose="02010600030101010101" pitchFamily="2" charset="-122"/>
              </a:rPr>
              <a:t>0</a:t>
            </a:r>
            <a:r>
              <a:rPr lang="en-US" altLang="zh-CN" sz="2200" b="1" dirty="0">
                <a:ea typeface="宋体" panose="02010600030101010101" pitchFamily="2" charset="-122"/>
              </a:rPr>
              <a:t>:	E’</a:t>
            </a:r>
            <a:r>
              <a:rPr lang="zh-CN" altLang="en-US" sz="2200" b="1" dirty="0">
                <a:ea typeface="宋体" panose="02010600030101010101" pitchFamily="2" charset="-122"/>
              </a:rPr>
              <a:t>→.</a:t>
            </a:r>
            <a:r>
              <a:rPr lang="en-US" altLang="zh-CN" sz="2200" b="1" dirty="0">
                <a:ea typeface="宋体" panose="02010600030101010101" pitchFamily="2" charset="-122"/>
              </a:rPr>
              <a:t>E			      I</a:t>
            </a:r>
            <a:r>
              <a:rPr lang="en-US" altLang="zh-CN" sz="2200" b="1" baseline="-25000" dirty="0">
                <a:ea typeface="宋体" panose="02010600030101010101" pitchFamily="2" charset="-122"/>
              </a:rPr>
              <a:t>5</a:t>
            </a:r>
            <a:r>
              <a:rPr lang="en-US" altLang="zh-CN" sz="2200" b="1" dirty="0">
                <a:ea typeface="宋体" panose="02010600030101010101" pitchFamily="2" charset="-122"/>
              </a:rPr>
              <a:t>:	F</a:t>
            </a:r>
            <a:r>
              <a:rPr lang="zh-CN" altLang="en-US" sz="2200" b="1" dirty="0">
                <a:ea typeface="宋体" panose="02010600030101010101" pitchFamily="2" charset="-122"/>
              </a:rPr>
              <a:t>→</a:t>
            </a:r>
            <a:r>
              <a:rPr lang="en-US" altLang="zh-CN" sz="2200" b="1" dirty="0">
                <a:ea typeface="宋体" panose="02010600030101010101" pitchFamily="2" charset="-122"/>
              </a:rPr>
              <a:t>id.</a:t>
            </a:r>
            <a:endParaRPr lang="en-US" altLang="zh-CN" sz="2200" b="1" dirty="0">
              <a:ea typeface="宋体" panose="02010600030101010101" pitchFamily="2" charset="-122"/>
            </a:endParaRPr>
          </a:p>
          <a:p>
            <a:pPr>
              <a:lnSpc>
                <a:spcPct val="90000"/>
              </a:lnSpc>
              <a:buFont typeface="Wingdings" panose="05000000000000000000" pitchFamily="2" charset="2"/>
              <a:buNone/>
            </a:pPr>
            <a:r>
              <a:rPr lang="en-US" altLang="zh-CN" sz="2200" b="1" dirty="0">
                <a:ea typeface="宋体" panose="02010600030101010101" pitchFamily="2" charset="-122"/>
              </a:rPr>
              <a:t>		E </a:t>
            </a:r>
            <a:r>
              <a:rPr lang="zh-CN" altLang="en-US" sz="2200" b="1" dirty="0">
                <a:ea typeface="宋体" panose="02010600030101010101" pitchFamily="2" charset="-122"/>
              </a:rPr>
              <a:t>→.</a:t>
            </a:r>
            <a:r>
              <a:rPr lang="en-US" altLang="zh-CN" sz="2200" b="1" dirty="0">
                <a:ea typeface="宋体" panose="02010600030101010101" pitchFamily="2" charset="-122"/>
              </a:rPr>
              <a:t>E+T</a:t>
            </a:r>
            <a:endParaRPr lang="en-US" altLang="zh-CN" sz="2200" b="1" dirty="0">
              <a:ea typeface="宋体" panose="02010600030101010101" pitchFamily="2" charset="-122"/>
            </a:endParaRPr>
          </a:p>
          <a:p>
            <a:pPr>
              <a:lnSpc>
                <a:spcPct val="90000"/>
              </a:lnSpc>
              <a:buFont typeface="Wingdings" panose="05000000000000000000" pitchFamily="2" charset="2"/>
              <a:buNone/>
            </a:pPr>
            <a:r>
              <a:rPr lang="en-US" altLang="zh-CN" sz="2200" b="1" dirty="0">
                <a:ea typeface="宋体" panose="02010600030101010101" pitchFamily="2" charset="-122"/>
              </a:rPr>
              <a:t>		E </a:t>
            </a:r>
            <a:r>
              <a:rPr lang="zh-CN" altLang="en-US" sz="2200" b="1" dirty="0">
                <a:ea typeface="宋体" panose="02010600030101010101" pitchFamily="2" charset="-122"/>
              </a:rPr>
              <a:t>→.</a:t>
            </a:r>
            <a:r>
              <a:rPr lang="en-US" altLang="zh-CN" sz="2200" b="1" dirty="0">
                <a:ea typeface="宋体" panose="02010600030101010101" pitchFamily="2" charset="-122"/>
              </a:rPr>
              <a:t>T			      I</a:t>
            </a:r>
            <a:r>
              <a:rPr lang="en-US" altLang="zh-CN" sz="2200" b="1" baseline="-25000" dirty="0">
                <a:ea typeface="宋体" panose="02010600030101010101" pitchFamily="2" charset="-122"/>
              </a:rPr>
              <a:t>6</a:t>
            </a:r>
            <a:r>
              <a:rPr lang="en-US" altLang="zh-CN" sz="2200" b="1" dirty="0">
                <a:ea typeface="宋体" panose="02010600030101010101" pitchFamily="2" charset="-122"/>
              </a:rPr>
              <a:t>:	E</a:t>
            </a:r>
            <a:r>
              <a:rPr lang="zh-CN" altLang="en-US" sz="2200" b="1" dirty="0">
                <a:ea typeface="宋体" panose="02010600030101010101" pitchFamily="2" charset="-122"/>
              </a:rPr>
              <a:t>→</a:t>
            </a:r>
            <a:r>
              <a:rPr lang="en-US" altLang="zh-CN" sz="2200" b="1" dirty="0">
                <a:ea typeface="宋体" panose="02010600030101010101" pitchFamily="2" charset="-122"/>
              </a:rPr>
              <a:t>E+.T</a:t>
            </a:r>
            <a:endParaRPr lang="en-US" altLang="zh-CN" sz="2200" b="1" dirty="0">
              <a:ea typeface="宋体" panose="02010600030101010101" pitchFamily="2" charset="-122"/>
            </a:endParaRPr>
          </a:p>
          <a:p>
            <a:pPr>
              <a:lnSpc>
                <a:spcPct val="90000"/>
              </a:lnSpc>
              <a:buFont typeface="Wingdings" panose="05000000000000000000" pitchFamily="2" charset="2"/>
              <a:buNone/>
            </a:pPr>
            <a:r>
              <a:rPr lang="en-US" altLang="zh-CN" sz="2200" b="1" dirty="0">
                <a:ea typeface="宋体" panose="02010600030101010101" pitchFamily="2" charset="-122"/>
              </a:rPr>
              <a:t>		T </a:t>
            </a:r>
            <a:r>
              <a:rPr lang="zh-CN" altLang="en-US" sz="2200" b="1" dirty="0">
                <a:ea typeface="宋体" panose="02010600030101010101" pitchFamily="2" charset="-122"/>
              </a:rPr>
              <a:t>→.</a:t>
            </a:r>
            <a:r>
              <a:rPr lang="en-US" altLang="zh-CN" sz="2200" b="1" dirty="0">
                <a:ea typeface="宋体" panose="02010600030101010101" pitchFamily="2" charset="-122"/>
              </a:rPr>
              <a:t>T*F			T</a:t>
            </a:r>
            <a:r>
              <a:rPr lang="zh-CN" altLang="en-US" sz="2200" b="1" dirty="0">
                <a:ea typeface="宋体" panose="02010600030101010101" pitchFamily="2" charset="-122"/>
              </a:rPr>
              <a:t>→.</a:t>
            </a:r>
            <a:r>
              <a:rPr lang="en-US" altLang="zh-CN" sz="2200" b="1" dirty="0">
                <a:ea typeface="宋体" panose="02010600030101010101" pitchFamily="2" charset="-122"/>
              </a:rPr>
              <a:t>T*F</a:t>
            </a:r>
            <a:endParaRPr lang="en-US" altLang="zh-CN" sz="2200" b="1" dirty="0">
              <a:ea typeface="宋体" panose="02010600030101010101" pitchFamily="2" charset="-122"/>
            </a:endParaRPr>
          </a:p>
          <a:p>
            <a:pPr>
              <a:lnSpc>
                <a:spcPct val="90000"/>
              </a:lnSpc>
              <a:buFont typeface="Wingdings" panose="05000000000000000000" pitchFamily="2" charset="2"/>
              <a:buNone/>
            </a:pPr>
            <a:r>
              <a:rPr lang="en-US" altLang="zh-CN" sz="2200" b="1" dirty="0">
                <a:ea typeface="宋体" panose="02010600030101010101" pitchFamily="2" charset="-122"/>
              </a:rPr>
              <a:t>		T </a:t>
            </a:r>
            <a:r>
              <a:rPr lang="zh-CN" altLang="en-US" sz="2200" b="1" dirty="0">
                <a:ea typeface="宋体" panose="02010600030101010101" pitchFamily="2" charset="-122"/>
              </a:rPr>
              <a:t>→.</a:t>
            </a:r>
            <a:r>
              <a:rPr lang="en-US" altLang="zh-CN" sz="2200" b="1" dirty="0">
                <a:ea typeface="宋体" panose="02010600030101010101" pitchFamily="2" charset="-122"/>
              </a:rPr>
              <a:t>F				T</a:t>
            </a:r>
            <a:r>
              <a:rPr lang="zh-CN" altLang="en-US" sz="2200" b="1" dirty="0">
                <a:ea typeface="宋体" panose="02010600030101010101" pitchFamily="2" charset="-122"/>
              </a:rPr>
              <a:t>→.</a:t>
            </a:r>
            <a:r>
              <a:rPr lang="en-US" altLang="zh-CN" sz="2200" b="1" dirty="0">
                <a:ea typeface="宋体" panose="02010600030101010101" pitchFamily="2" charset="-122"/>
              </a:rPr>
              <a:t>F</a:t>
            </a:r>
            <a:endParaRPr lang="en-US" altLang="zh-CN" sz="2200" b="1" dirty="0">
              <a:ea typeface="宋体" panose="02010600030101010101" pitchFamily="2" charset="-122"/>
            </a:endParaRPr>
          </a:p>
          <a:p>
            <a:pPr>
              <a:lnSpc>
                <a:spcPct val="90000"/>
              </a:lnSpc>
              <a:buFont typeface="Wingdings" panose="05000000000000000000" pitchFamily="2" charset="2"/>
              <a:buNone/>
            </a:pPr>
            <a:r>
              <a:rPr lang="en-US" altLang="zh-CN" sz="2200" b="1" dirty="0">
                <a:ea typeface="宋体" panose="02010600030101010101" pitchFamily="2" charset="-122"/>
              </a:rPr>
              <a:t>		F </a:t>
            </a:r>
            <a:r>
              <a:rPr lang="zh-CN" altLang="en-US" sz="2200" b="1" dirty="0">
                <a:ea typeface="宋体" panose="02010600030101010101" pitchFamily="2" charset="-122"/>
              </a:rPr>
              <a:t>→.(</a:t>
            </a:r>
            <a:r>
              <a:rPr lang="en-US" altLang="zh-CN" sz="2200" b="1" dirty="0">
                <a:ea typeface="宋体" panose="02010600030101010101" pitchFamily="2" charset="-122"/>
              </a:rPr>
              <a:t>E)			F</a:t>
            </a:r>
            <a:r>
              <a:rPr lang="zh-CN" altLang="en-US" sz="2200" b="1" dirty="0">
                <a:ea typeface="宋体" panose="02010600030101010101" pitchFamily="2" charset="-122"/>
              </a:rPr>
              <a:t>→.(</a:t>
            </a:r>
            <a:r>
              <a:rPr lang="en-US" altLang="zh-CN" sz="2200" b="1" dirty="0">
                <a:ea typeface="宋体" panose="02010600030101010101" pitchFamily="2" charset="-122"/>
              </a:rPr>
              <a:t>E)</a:t>
            </a:r>
            <a:endParaRPr lang="en-US" altLang="zh-CN" sz="2200" b="1" dirty="0">
              <a:ea typeface="宋体" panose="02010600030101010101" pitchFamily="2" charset="-122"/>
            </a:endParaRPr>
          </a:p>
          <a:p>
            <a:pPr>
              <a:lnSpc>
                <a:spcPct val="90000"/>
              </a:lnSpc>
              <a:buFont typeface="Wingdings" panose="05000000000000000000" pitchFamily="2" charset="2"/>
              <a:buNone/>
            </a:pPr>
            <a:r>
              <a:rPr lang="en-US" altLang="zh-CN" sz="2200" b="1" dirty="0">
                <a:ea typeface="宋体" panose="02010600030101010101" pitchFamily="2" charset="-122"/>
              </a:rPr>
              <a:t>		F </a:t>
            </a:r>
            <a:r>
              <a:rPr lang="zh-CN" altLang="en-US" sz="2200" b="1" dirty="0">
                <a:ea typeface="宋体" panose="02010600030101010101" pitchFamily="2" charset="-122"/>
              </a:rPr>
              <a:t>→.</a:t>
            </a:r>
            <a:r>
              <a:rPr lang="en-US" altLang="zh-CN" sz="2200" b="1" dirty="0">
                <a:ea typeface="宋体" panose="02010600030101010101" pitchFamily="2" charset="-122"/>
              </a:rPr>
              <a:t>id				F</a:t>
            </a:r>
            <a:r>
              <a:rPr lang="zh-CN" altLang="en-US" sz="2200" b="1" dirty="0">
                <a:ea typeface="宋体" panose="02010600030101010101" pitchFamily="2" charset="-122"/>
              </a:rPr>
              <a:t>→.</a:t>
            </a:r>
            <a:r>
              <a:rPr lang="en-US" altLang="zh-CN" sz="2200" b="1" dirty="0">
                <a:ea typeface="宋体" panose="02010600030101010101" pitchFamily="2" charset="-122"/>
              </a:rPr>
              <a:t>id</a:t>
            </a:r>
            <a:endParaRPr lang="en-US" altLang="zh-CN" sz="2200" b="1" dirty="0">
              <a:ea typeface="宋体" panose="02010600030101010101" pitchFamily="2" charset="-122"/>
            </a:endParaRPr>
          </a:p>
        </p:txBody>
      </p:sp>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（14）</a:t>
            </a:r>
            <a:endParaRPr lang="en-US" altLang="zh-CN" dirty="0">
              <a:latin typeface="Times New Roman" panose="02020603050405020304" pitchFamily="18" charset="0"/>
              <a:ea typeface="宋体" panose="02010600030101010101" pitchFamily="2" charset="-122"/>
            </a:endParaRPr>
          </a:p>
        </p:txBody>
      </p:sp>
      <p:sp>
        <p:nvSpPr>
          <p:cNvPr id="208899" name="Rectangle 3"/>
          <p:cNvSpPr>
            <a:spLocks noGrp="1"/>
          </p:cNvSpPr>
          <p:nvPr>
            <p:ph idx="1"/>
          </p:nvPr>
        </p:nvSpPr>
        <p:spPr>
          <a:xfrm>
            <a:off x="990600" y="1371600"/>
            <a:ext cx="7391400" cy="4953000"/>
          </a:xfrm>
        </p:spPr>
        <p:txBody>
          <a:bodyPr vert="horz" wrap="square" lIns="92075" tIns="46038" rIns="92075" bIns="46038" anchor="t" anchorCtr="0"/>
          <a:p>
            <a:pPr>
              <a:spcBef>
                <a:spcPct val="0"/>
              </a:spcBef>
              <a:buFont typeface="Wingdings" panose="05000000000000000000" pitchFamily="2" charset="2"/>
              <a:buNone/>
            </a:pPr>
            <a:r>
              <a:rPr lang="zh-CN" altLang="en-US" sz="2200" b="1" dirty="0">
                <a:ea typeface="宋体" panose="02010600030101010101" pitchFamily="2" charset="-122"/>
              </a:rPr>
              <a:t>	</a:t>
            </a:r>
            <a:r>
              <a:rPr lang="en-US" altLang="zh-CN" sz="2200" b="1" dirty="0">
                <a:ea typeface="宋体" panose="02010600030101010101" pitchFamily="2" charset="-122"/>
              </a:rPr>
              <a:t>I</a:t>
            </a:r>
            <a:r>
              <a:rPr lang="en-US" altLang="zh-CN" sz="2200" b="1" baseline="-25000" dirty="0">
                <a:ea typeface="宋体" panose="02010600030101010101" pitchFamily="2" charset="-122"/>
              </a:rPr>
              <a:t>1</a:t>
            </a:r>
            <a:r>
              <a:rPr lang="en-US" altLang="zh-CN" sz="2200" b="1" dirty="0">
                <a:ea typeface="宋体" panose="02010600030101010101" pitchFamily="2" charset="-122"/>
              </a:rPr>
              <a:t>:	E’</a:t>
            </a:r>
            <a:r>
              <a:rPr lang="zh-CN" altLang="en-US" sz="2200" b="1" dirty="0">
                <a:ea typeface="宋体" panose="02010600030101010101" pitchFamily="2" charset="-122"/>
              </a:rPr>
              <a:t>→</a:t>
            </a:r>
            <a:r>
              <a:rPr lang="en-US" altLang="zh-CN" sz="2200" b="1" dirty="0">
                <a:ea typeface="宋体" panose="02010600030101010101" pitchFamily="2" charset="-122"/>
              </a:rPr>
              <a:t>E.			      I</a:t>
            </a:r>
            <a:r>
              <a:rPr lang="en-US" altLang="zh-CN" sz="2200" b="1" baseline="-25000" dirty="0">
                <a:ea typeface="宋体" panose="02010600030101010101" pitchFamily="2" charset="-122"/>
              </a:rPr>
              <a:t>7</a:t>
            </a:r>
            <a:r>
              <a:rPr lang="en-US" altLang="zh-CN" sz="2200" b="1" dirty="0">
                <a:ea typeface="宋体" panose="02010600030101010101" pitchFamily="2" charset="-122"/>
              </a:rPr>
              <a:t>:	T</a:t>
            </a:r>
            <a:r>
              <a:rPr lang="zh-CN" altLang="en-US" sz="2200" b="1" dirty="0">
                <a:ea typeface="宋体" panose="02010600030101010101" pitchFamily="2" charset="-122"/>
              </a:rPr>
              <a:t>→</a:t>
            </a:r>
            <a:r>
              <a:rPr lang="en-US" altLang="zh-CN" sz="2200" b="1" dirty="0">
                <a:ea typeface="宋体" panose="02010600030101010101" pitchFamily="2" charset="-122"/>
              </a:rPr>
              <a:t>T*.F</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E </a:t>
            </a:r>
            <a:r>
              <a:rPr lang="zh-CN" altLang="en-US" sz="2200" b="1" dirty="0">
                <a:ea typeface="宋体" panose="02010600030101010101" pitchFamily="2" charset="-122"/>
              </a:rPr>
              <a:t>→</a:t>
            </a:r>
            <a:r>
              <a:rPr lang="en-US" altLang="zh-CN" sz="2200" b="1" dirty="0">
                <a:ea typeface="宋体" panose="02010600030101010101" pitchFamily="2" charset="-122"/>
              </a:rPr>
              <a:t>E.+T			F</a:t>
            </a:r>
            <a:r>
              <a:rPr lang="zh-CN" altLang="en-US" sz="2200" b="1" dirty="0">
                <a:ea typeface="宋体" panose="02010600030101010101" pitchFamily="2" charset="-122"/>
              </a:rPr>
              <a:t>→.(</a:t>
            </a:r>
            <a:r>
              <a:rPr lang="en-US" altLang="zh-CN" sz="2200" b="1" dirty="0">
                <a:ea typeface="宋体" panose="02010600030101010101" pitchFamily="2" charset="-122"/>
              </a:rPr>
              <a:t>E)</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F</a:t>
            </a:r>
            <a:r>
              <a:rPr lang="zh-CN" altLang="en-US" sz="2200" b="1" dirty="0">
                <a:ea typeface="宋体" panose="02010600030101010101" pitchFamily="2" charset="-122"/>
              </a:rPr>
              <a:t>→.</a:t>
            </a:r>
            <a:r>
              <a:rPr lang="en-US" altLang="zh-CN" sz="2200" b="1" dirty="0">
                <a:ea typeface="宋体" panose="02010600030101010101" pitchFamily="2" charset="-122"/>
              </a:rPr>
              <a:t>id</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I</a:t>
            </a:r>
            <a:r>
              <a:rPr lang="en-US" altLang="zh-CN" sz="2200" b="1" baseline="-25000" dirty="0">
                <a:ea typeface="宋体" panose="02010600030101010101" pitchFamily="2" charset="-122"/>
              </a:rPr>
              <a:t>2</a:t>
            </a:r>
            <a:r>
              <a:rPr lang="en-US" altLang="zh-CN" sz="2200" b="1" dirty="0">
                <a:ea typeface="宋体" panose="02010600030101010101" pitchFamily="2" charset="-122"/>
              </a:rPr>
              <a:t>: 	E </a:t>
            </a:r>
            <a:r>
              <a:rPr lang="zh-CN" altLang="en-US" sz="2200" b="1" dirty="0">
                <a:ea typeface="宋体" panose="02010600030101010101" pitchFamily="2" charset="-122"/>
              </a:rPr>
              <a:t>→</a:t>
            </a:r>
            <a:r>
              <a:rPr lang="en-US" altLang="zh-CN" sz="2200" b="1" dirty="0">
                <a:ea typeface="宋体" panose="02010600030101010101" pitchFamily="2" charset="-122"/>
              </a:rPr>
              <a:t>T.</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T </a:t>
            </a:r>
            <a:r>
              <a:rPr lang="zh-CN" altLang="en-US" sz="2200" b="1" dirty="0">
                <a:ea typeface="宋体" panose="02010600030101010101" pitchFamily="2" charset="-122"/>
              </a:rPr>
              <a:t>→</a:t>
            </a:r>
            <a:r>
              <a:rPr lang="en-US" altLang="zh-CN" sz="2200" b="1" dirty="0">
                <a:ea typeface="宋体" panose="02010600030101010101" pitchFamily="2" charset="-122"/>
              </a:rPr>
              <a:t>T.*F		      I</a:t>
            </a:r>
            <a:r>
              <a:rPr lang="en-US" altLang="zh-CN" sz="2200" b="1" baseline="-25000" dirty="0">
                <a:ea typeface="宋体" panose="02010600030101010101" pitchFamily="2" charset="-122"/>
              </a:rPr>
              <a:t>8</a:t>
            </a:r>
            <a:r>
              <a:rPr lang="en-US" altLang="zh-CN" sz="2200" b="1" dirty="0">
                <a:ea typeface="宋体" panose="02010600030101010101" pitchFamily="2" charset="-122"/>
              </a:rPr>
              <a:t>:	 F</a:t>
            </a:r>
            <a:r>
              <a:rPr lang="zh-CN" altLang="en-US" sz="2200" b="1" dirty="0">
                <a:ea typeface="宋体" panose="02010600030101010101" pitchFamily="2" charset="-122"/>
              </a:rPr>
              <a:t>→ (</a:t>
            </a:r>
            <a:r>
              <a:rPr lang="en-US" altLang="zh-CN" sz="2200" b="1" dirty="0">
                <a:ea typeface="宋体" panose="02010600030101010101" pitchFamily="2" charset="-122"/>
              </a:rPr>
              <a:t>E.)</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E</a:t>
            </a:r>
            <a:r>
              <a:rPr lang="zh-CN" altLang="en-US" sz="2200" b="1" dirty="0">
                <a:ea typeface="宋体" panose="02010600030101010101" pitchFamily="2" charset="-122"/>
              </a:rPr>
              <a:t>→</a:t>
            </a:r>
            <a:r>
              <a:rPr lang="en-US" altLang="zh-CN" sz="2200" b="1" dirty="0">
                <a:ea typeface="宋体" panose="02010600030101010101" pitchFamily="2" charset="-122"/>
              </a:rPr>
              <a:t> E.+T</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I</a:t>
            </a:r>
            <a:r>
              <a:rPr lang="en-US" altLang="zh-CN" sz="2200" b="1" baseline="-25000" dirty="0">
                <a:ea typeface="宋体" panose="02010600030101010101" pitchFamily="2" charset="-122"/>
              </a:rPr>
              <a:t>3</a:t>
            </a:r>
            <a:r>
              <a:rPr lang="en-US" altLang="zh-CN" sz="2200" b="1" dirty="0">
                <a:ea typeface="宋体" panose="02010600030101010101" pitchFamily="2" charset="-122"/>
              </a:rPr>
              <a:t>: 	T </a:t>
            </a:r>
            <a:r>
              <a:rPr lang="zh-CN" altLang="en-US" sz="2200" b="1" dirty="0">
                <a:ea typeface="宋体" panose="02010600030101010101" pitchFamily="2" charset="-122"/>
              </a:rPr>
              <a:t>→</a:t>
            </a:r>
            <a:r>
              <a:rPr lang="en-US" altLang="zh-CN" sz="2200" b="1" dirty="0">
                <a:ea typeface="宋体" panose="02010600030101010101" pitchFamily="2" charset="-122"/>
              </a:rPr>
              <a:t>F.</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I</a:t>
            </a:r>
            <a:r>
              <a:rPr lang="en-US" altLang="zh-CN" sz="2200" b="1" baseline="-25000" dirty="0">
                <a:ea typeface="宋体" panose="02010600030101010101" pitchFamily="2" charset="-122"/>
              </a:rPr>
              <a:t>9</a:t>
            </a:r>
            <a:r>
              <a:rPr lang="en-US" altLang="zh-CN" sz="2200" b="1" dirty="0">
                <a:ea typeface="宋体" panose="02010600030101010101" pitchFamily="2" charset="-122"/>
              </a:rPr>
              <a:t>:	E</a:t>
            </a:r>
            <a:r>
              <a:rPr lang="zh-CN" altLang="en-US" sz="2200" b="1" dirty="0">
                <a:ea typeface="宋体" panose="02010600030101010101" pitchFamily="2" charset="-122"/>
              </a:rPr>
              <a:t>→</a:t>
            </a:r>
            <a:r>
              <a:rPr lang="en-US" altLang="zh-CN" sz="2200" b="1" dirty="0">
                <a:ea typeface="宋体" panose="02010600030101010101" pitchFamily="2" charset="-122"/>
              </a:rPr>
              <a:t>E+T.</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I</a:t>
            </a:r>
            <a:r>
              <a:rPr lang="en-US" altLang="zh-CN" sz="2200" b="1" baseline="-25000" dirty="0">
                <a:ea typeface="宋体" panose="02010600030101010101" pitchFamily="2" charset="-122"/>
              </a:rPr>
              <a:t>4</a:t>
            </a:r>
            <a:r>
              <a:rPr lang="en-US" altLang="zh-CN" sz="2200" b="1" dirty="0">
                <a:ea typeface="宋体" panose="02010600030101010101" pitchFamily="2" charset="-122"/>
              </a:rPr>
              <a:t>: 	F </a:t>
            </a:r>
            <a:r>
              <a:rPr lang="zh-CN" altLang="en-US" sz="2200" b="1" dirty="0">
                <a:ea typeface="宋体" panose="02010600030101010101" pitchFamily="2" charset="-122"/>
              </a:rPr>
              <a:t>→(.</a:t>
            </a:r>
            <a:r>
              <a:rPr lang="en-US" altLang="zh-CN" sz="2200" b="1" dirty="0">
                <a:ea typeface="宋体" panose="02010600030101010101" pitchFamily="2" charset="-122"/>
              </a:rPr>
              <a:t>E)			T</a:t>
            </a:r>
            <a:r>
              <a:rPr lang="zh-CN" altLang="en-US" sz="2200" b="1" dirty="0">
                <a:ea typeface="宋体" panose="02010600030101010101" pitchFamily="2" charset="-122"/>
              </a:rPr>
              <a:t>→</a:t>
            </a:r>
            <a:r>
              <a:rPr lang="en-US" altLang="zh-CN" sz="2200" b="1" dirty="0">
                <a:ea typeface="宋体" panose="02010600030101010101" pitchFamily="2" charset="-122"/>
              </a:rPr>
              <a:t>T.*F</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E </a:t>
            </a:r>
            <a:r>
              <a:rPr lang="zh-CN" altLang="en-US" sz="2200" b="1" dirty="0">
                <a:ea typeface="宋体" panose="02010600030101010101" pitchFamily="2" charset="-122"/>
              </a:rPr>
              <a:t>→.</a:t>
            </a:r>
            <a:r>
              <a:rPr lang="en-US" altLang="zh-CN" sz="2200" b="1" dirty="0">
                <a:ea typeface="宋体" panose="02010600030101010101" pitchFamily="2" charset="-122"/>
              </a:rPr>
              <a:t>E+T</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E </a:t>
            </a:r>
            <a:r>
              <a:rPr lang="zh-CN" altLang="en-US" sz="2200" b="1" dirty="0">
                <a:ea typeface="宋体" panose="02010600030101010101" pitchFamily="2" charset="-122"/>
              </a:rPr>
              <a:t>→.</a:t>
            </a:r>
            <a:r>
              <a:rPr lang="en-US" altLang="zh-CN" sz="2200" b="1" dirty="0">
                <a:ea typeface="宋体" panose="02010600030101010101" pitchFamily="2" charset="-122"/>
              </a:rPr>
              <a:t>T			      I</a:t>
            </a:r>
            <a:r>
              <a:rPr lang="en-US" altLang="zh-CN" sz="2200" b="1" baseline="-25000" dirty="0">
                <a:ea typeface="宋体" panose="02010600030101010101" pitchFamily="2" charset="-122"/>
              </a:rPr>
              <a:t>10</a:t>
            </a:r>
            <a:r>
              <a:rPr lang="en-US" altLang="zh-CN" sz="2200" b="1" dirty="0">
                <a:ea typeface="宋体" panose="02010600030101010101" pitchFamily="2" charset="-122"/>
              </a:rPr>
              <a:t>:	T</a:t>
            </a:r>
            <a:r>
              <a:rPr lang="zh-CN" altLang="en-US" sz="2200" b="1" dirty="0">
                <a:ea typeface="宋体" panose="02010600030101010101" pitchFamily="2" charset="-122"/>
              </a:rPr>
              <a:t>→</a:t>
            </a:r>
            <a:r>
              <a:rPr lang="en-US" altLang="zh-CN" sz="2200" b="1" dirty="0">
                <a:ea typeface="宋体" panose="02010600030101010101" pitchFamily="2" charset="-122"/>
              </a:rPr>
              <a:t>T*F.</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T </a:t>
            </a:r>
            <a:r>
              <a:rPr lang="zh-CN" altLang="en-US" sz="2200" b="1" dirty="0">
                <a:ea typeface="宋体" panose="02010600030101010101" pitchFamily="2" charset="-122"/>
              </a:rPr>
              <a:t>→.</a:t>
            </a:r>
            <a:r>
              <a:rPr lang="en-US" altLang="zh-CN" sz="2200" b="1" dirty="0">
                <a:ea typeface="宋体" panose="02010600030101010101" pitchFamily="2" charset="-122"/>
              </a:rPr>
              <a:t>T*F</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T </a:t>
            </a:r>
            <a:r>
              <a:rPr lang="zh-CN" altLang="en-US" sz="2200" b="1" dirty="0">
                <a:ea typeface="宋体" panose="02010600030101010101" pitchFamily="2" charset="-122"/>
              </a:rPr>
              <a:t>→.</a:t>
            </a:r>
            <a:r>
              <a:rPr lang="en-US" altLang="zh-CN" sz="2200" b="1" dirty="0">
                <a:ea typeface="宋体" panose="02010600030101010101" pitchFamily="2" charset="-122"/>
              </a:rPr>
              <a:t>F			      I</a:t>
            </a:r>
            <a:r>
              <a:rPr lang="en-US" altLang="zh-CN" sz="2200" b="1" baseline="-25000" dirty="0">
                <a:ea typeface="宋体" panose="02010600030101010101" pitchFamily="2" charset="-122"/>
              </a:rPr>
              <a:t>11</a:t>
            </a:r>
            <a:r>
              <a:rPr lang="en-US" altLang="zh-CN" sz="2200" b="1" dirty="0">
                <a:ea typeface="宋体" panose="02010600030101010101" pitchFamily="2" charset="-122"/>
              </a:rPr>
              <a:t>:	F</a:t>
            </a:r>
            <a:r>
              <a:rPr lang="zh-CN" altLang="en-US" sz="2200" b="1" dirty="0">
                <a:ea typeface="宋体" panose="02010600030101010101" pitchFamily="2" charset="-122"/>
              </a:rPr>
              <a:t>→</a:t>
            </a:r>
            <a:r>
              <a:rPr lang="en-US" altLang="zh-CN" sz="2200" b="1" dirty="0">
                <a:ea typeface="宋体" panose="02010600030101010101" pitchFamily="2" charset="-122"/>
              </a:rPr>
              <a:t>(E).</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F </a:t>
            </a:r>
            <a:r>
              <a:rPr lang="zh-CN" altLang="en-US" sz="2200" b="1" dirty="0">
                <a:ea typeface="宋体" panose="02010600030101010101" pitchFamily="2" charset="-122"/>
              </a:rPr>
              <a:t>→.(</a:t>
            </a:r>
            <a:r>
              <a:rPr lang="en-US" altLang="zh-CN" sz="2200" b="1" dirty="0">
                <a:ea typeface="宋体" panose="02010600030101010101" pitchFamily="2" charset="-122"/>
              </a:rPr>
              <a:t>E)</a:t>
            </a:r>
            <a:endParaRPr lang="en-US" altLang="zh-CN" sz="2200" b="1" dirty="0">
              <a:ea typeface="宋体" panose="02010600030101010101" pitchFamily="2" charset="-122"/>
            </a:endParaRPr>
          </a:p>
          <a:p>
            <a:pPr>
              <a:spcBef>
                <a:spcPct val="0"/>
              </a:spcBef>
              <a:buFont typeface="Wingdings" panose="05000000000000000000" pitchFamily="2" charset="2"/>
              <a:buNone/>
            </a:pPr>
            <a:r>
              <a:rPr lang="en-US" altLang="zh-CN" sz="2200" b="1" dirty="0">
                <a:ea typeface="宋体" panose="02010600030101010101" pitchFamily="2" charset="-122"/>
              </a:rPr>
              <a:t>		F </a:t>
            </a:r>
            <a:r>
              <a:rPr lang="zh-CN" altLang="en-US" sz="2200" b="1" dirty="0">
                <a:ea typeface="宋体" panose="02010600030101010101" pitchFamily="2" charset="-122"/>
              </a:rPr>
              <a:t>→.</a:t>
            </a:r>
            <a:r>
              <a:rPr lang="en-US" altLang="zh-CN" sz="2200" b="1" dirty="0">
                <a:ea typeface="宋体" panose="02010600030101010101" pitchFamily="2" charset="-122"/>
              </a:rPr>
              <a:t>id</a:t>
            </a:r>
            <a:endParaRPr lang="en-US" altLang="zh-CN" sz="2200" b="1" dirty="0">
              <a:ea typeface="宋体" panose="02010600030101010101" pitchFamily="2" charset="-122"/>
            </a:endParaRPr>
          </a:p>
        </p:txBody>
      </p:sp>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0946" name="Picture 2"/>
          <p:cNvPicPr>
            <a:picLocks noChangeAspect="1"/>
          </p:cNvPicPr>
          <p:nvPr/>
        </p:nvPicPr>
        <p:blipFill>
          <a:blip r:embed="rId1"/>
          <a:stretch>
            <a:fillRect/>
          </a:stretch>
        </p:blipFill>
        <p:spPr>
          <a:xfrm>
            <a:off x="1371600" y="203200"/>
            <a:ext cx="6559550" cy="6654800"/>
          </a:xfrm>
          <a:prstGeom prst="rect">
            <a:avLst/>
          </a:prstGeom>
          <a:noFill/>
          <a:ln w="9525">
            <a:noFill/>
          </a:ln>
        </p:spPr>
      </p:pic>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（15）</a:t>
            </a:r>
            <a:endParaRPr lang="en-US" altLang="zh-CN" dirty="0">
              <a:latin typeface="Times New Roman" panose="02020603050405020304" pitchFamily="18" charset="0"/>
              <a:ea typeface="宋体" panose="02010600030101010101" pitchFamily="2" charset="-122"/>
            </a:endParaRPr>
          </a:p>
        </p:txBody>
      </p:sp>
      <p:sp>
        <p:nvSpPr>
          <p:cNvPr id="212995" name="Rectangle 3"/>
          <p:cNvSpPr>
            <a:spLocks noGrp="1"/>
          </p:cNvSpPr>
          <p:nvPr>
            <p:ph idx="1"/>
          </p:nvPr>
        </p:nvSpPr>
        <p:spPr>
          <a:xfrm>
            <a:off x="990600" y="1371600"/>
            <a:ext cx="7391400" cy="4953000"/>
          </a:xfrm>
        </p:spPr>
        <p:txBody>
          <a:bodyPr vert="horz" wrap="square" lIns="92075" tIns="46038" rIns="92075" bIns="46038" anchor="t" anchorCtr="0"/>
          <a:p>
            <a:pPr>
              <a:lnSpc>
                <a:spcPct val="80000"/>
              </a:lnSpc>
            </a:pPr>
            <a:r>
              <a:rPr lang="en-US" altLang="zh-CN" sz="2800" b="1" dirty="0">
                <a:ea typeface="宋体" panose="02010600030101010101" pitchFamily="2" charset="-122"/>
              </a:rPr>
              <a:t>LR(0)</a:t>
            </a:r>
            <a:r>
              <a:rPr lang="zh-CN" altLang="en-US" sz="2800" b="1" dirty="0">
                <a:ea typeface="宋体" panose="02010600030101010101" pitchFamily="2" charset="-122"/>
              </a:rPr>
              <a:t>自动机的用法</a:t>
            </a:r>
            <a:endParaRPr lang="zh-CN" altLang="en-US" sz="2800" b="1" dirty="0">
              <a:ea typeface="宋体" panose="02010600030101010101" pitchFamily="2" charset="-122"/>
            </a:endParaRPr>
          </a:p>
          <a:p>
            <a:pPr lvl="1">
              <a:lnSpc>
                <a:spcPct val="80000"/>
              </a:lnSpc>
            </a:pPr>
            <a:r>
              <a:rPr lang="zh-CN" altLang="en-US" b="1" dirty="0">
                <a:ea typeface="宋体" panose="02010600030101010101" pitchFamily="2" charset="-122"/>
              </a:rPr>
              <a:t>利用前页的自动机可以分析</a:t>
            </a:r>
            <a:r>
              <a:rPr lang="en-US" altLang="zh-CN" b="1" dirty="0">
                <a:ea typeface="宋体" panose="02010600030101010101" pitchFamily="2" charset="-122"/>
              </a:rPr>
              <a:t>id</a:t>
            </a:r>
            <a:r>
              <a:rPr lang="zh-CN" altLang="en-US" b="1" dirty="0">
                <a:ea typeface="宋体" panose="02010600030101010101" pitchFamily="2" charset="-122"/>
              </a:rPr>
              <a:t>*</a:t>
            </a:r>
            <a:r>
              <a:rPr lang="en-US" altLang="zh-CN" b="1" dirty="0">
                <a:ea typeface="宋体" panose="02010600030101010101" pitchFamily="2" charset="-122"/>
              </a:rPr>
              <a:t>id</a:t>
            </a:r>
            <a:endParaRPr lang="en-US" altLang="zh-CN" b="1" dirty="0">
              <a:ea typeface="宋体" panose="02010600030101010101" pitchFamily="2" charset="-122"/>
            </a:endParaRPr>
          </a:p>
        </p:txBody>
      </p:sp>
      <p:pic>
        <p:nvPicPr>
          <p:cNvPr id="212996" name="Picture 2"/>
          <p:cNvPicPr>
            <a:picLocks noChangeAspect="1"/>
          </p:cNvPicPr>
          <p:nvPr/>
        </p:nvPicPr>
        <p:blipFill>
          <a:blip r:embed="rId1"/>
          <a:stretch>
            <a:fillRect/>
          </a:stretch>
        </p:blipFill>
        <p:spPr>
          <a:xfrm>
            <a:off x="179388" y="2138363"/>
            <a:ext cx="8715375" cy="4746625"/>
          </a:xfrm>
          <a:prstGeom prst="rect">
            <a:avLst/>
          </a:prstGeom>
          <a:noFill/>
          <a:ln w="9525">
            <a:noFill/>
          </a:ln>
        </p:spPr>
      </p:pic>
    </p:spTree>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（16）</a:t>
            </a:r>
            <a:endParaRPr lang="en-US" altLang="zh-CN" dirty="0">
              <a:latin typeface="Times New Roman" panose="02020603050405020304" pitchFamily="18" charset="0"/>
              <a:ea typeface="宋体" panose="02010600030101010101" pitchFamily="2" charset="-122"/>
            </a:endParaRPr>
          </a:p>
        </p:txBody>
      </p:sp>
      <p:sp>
        <p:nvSpPr>
          <p:cNvPr id="215043" name="Rectangle 3"/>
          <p:cNvSpPr>
            <a:spLocks noGrp="1"/>
          </p:cNvSpPr>
          <p:nvPr>
            <p:ph idx="1"/>
          </p:nvPr>
        </p:nvSpPr>
        <p:spPr>
          <a:xfrm>
            <a:off x="990600" y="1371600"/>
            <a:ext cx="7391400" cy="4953000"/>
          </a:xfrm>
        </p:spPr>
        <p:txBody>
          <a:bodyPr vert="horz" wrap="square" lIns="92075" tIns="46038" rIns="92075" bIns="46038" anchor="t" anchorCtr="0"/>
          <a:p>
            <a:pPr>
              <a:lnSpc>
                <a:spcPct val="90000"/>
              </a:lnSpc>
            </a:pPr>
            <a:r>
              <a:rPr lang="en-US" altLang="zh-CN" sz="2200" b="1" dirty="0">
                <a:ea typeface="宋体" panose="02010600030101010101" pitchFamily="2" charset="-122"/>
              </a:rPr>
              <a:t>LR</a:t>
            </a:r>
            <a:r>
              <a:rPr lang="zh-CN" altLang="en-US" sz="2200" b="1" dirty="0">
                <a:ea typeface="宋体" panose="02010600030101010101" pitchFamily="2" charset="-122"/>
              </a:rPr>
              <a:t>分析算法</a:t>
            </a:r>
            <a:endParaRPr lang="zh-CN" altLang="en-US" sz="22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组成</a:t>
            </a:r>
            <a:endParaRPr lang="zh-CN" altLang="en-US" sz="2000" b="1" dirty="0">
              <a:ea typeface="宋体" panose="02010600030101010101" pitchFamily="2" charset="-122"/>
            </a:endParaRPr>
          </a:p>
          <a:p>
            <a:pPr lvl="1">
              <a:lnSpc>
                <a:spcPct val="90000"/>
              </a:lnSpc>
            </a:pPr>
            <a:r>
              <a:rPr lang="zh-CN" altLang="en-US" sz="2000" b="1" dirty="0">
                <a:ea typeface="宋体" panose="02010600030101010101" pitchFamily="2" charset="-122"/>
              </a:rPr>
              <a:t>驱动程序对所有的</a:t>
            </a:r>
            <a:r>
              <a:rPr lang="en-US" altLang="zh-CN" sz="2000" b="1" dirty="0">
                <a:ea typeface="宋体" panose="02010600030101010101" pitchFamily="2" charset="-122"/>
              </a:rPr>
              <a:t>LR</a:t>
            </a:r>
            <a:r>
              <a:rPr lang="zh-CN" altLang="en-US" sz="2000" b="1" dirty="0">
                <a:ea typeface="宋体" panose="02010600030101010101" pitchFamily="2" charset="-122"/>
              </a:rPr>
              <a:t>分析器是一样的，只是分析表不同</a:t>
            </a:r>
            <a:endParaRPr lang="zh-CN" altLang="en-US" sz="2000" b="1" dirty="0">
              <a:ea typeface="宋体" panose="02010600030101010101" pitchFamily="2" charset="-122"/>
            </a:endParaRPr>
          </a:p>
          <a:p>
            <a:pPr lvl="1">
              <a:lnSpc>
                <a:spcPct val="90000"/>
              </a:lnSpc>
            </a:pPr>
            <a:r>
              <a:rPr lang="zh-CN" altLang="en-US" sz="2000" b="1" dirty="0">
                <a:ea typeface="宋体" panose="02010600030101010101" pitchFamily="2" charset="-122"/>
              </a:rPr>
              <a:t>栈中存储形如</a:t>
            </a:r>
            <a:r>
              <a:rPr lang="en-US" altLang="zh-CN" sz="2000" b="1" i="1" dirty="0">
                <a:ea typeface="宋体" panose="02010600030101010101" pitchFamily="2" charset="-122"/>
              </a:rPr>
              <a:t>s</a:t>
            </a:r>
            <a:r>
              <a:rPr lang="en-US" altLang="zh-CN" sz="2000" b="1" i="1" baseline="-25000" dirty="0">
                <a:ea typeface="宋体" panose="02010600030101010101" pitchFamily="2" charset="-122"/>
              </a:rPr>
              <a:t>0</a:t>
            </a:r>
            <a:r>
              <a:rPr lang="en-US" altLang="zh-CN" sz="2000" b="1" i="1" dirty="0">
                <a:ea typeface="宋体" panose="02010600030101010101" pitchFamily="2" charset="-122"/>
              </a:rPr>
              <a:t>s</a:t>
            </a:r>
            <a:r>
              <a:rPr lang="en-US" altLang="zh-CN" sz="2000" b="1" i="1" baseline="-25000" dirty="0">
                <a:ea typeface="宋体" panose="02010600030101010101" pitchFamily="2" charset="-122"/>
              </a:rPr>
              <a:t>1</a:t>
            </a:r>
            <a:r>
              <a:rPr lang="en-US" altLang="zh-CN" sz="2000" b="1" i="1" dirty="0">
                <a:ea typeface="宋体" panose="02010600030101010101" pitchFamily="2" charset="-122"/>
              </a:rPr>
              <a:t>…s</a:t>
            </a:r>
            <a:r>
              <a:rPr lang="en-US" altLang="zh-CN" sz="2000" b="1" i="1" baseline="-25000" dirty="0">
                <a:ea typeface="宋体" panose="02010600030101010101" pitchFamily="2" charset="-122"/>
              </a:rPr>
              <a:t>m</a:t>
            </a:r>
            <a:r>
              <a:rPr lang="zh-CN" altLang="en-US" sz="2000" b="1" dirty="0">
                <a:ea typeface="宋体" panose="02010600030101010101" pitchFamily="2" charset="-122"/>
              </a:rPr>
              <a:t>的一个状态序列，其中</a:t>
            </a:r>
            <a:r>
              <a:rPr lang="en-US" altLang="zh-CN" sz="2000" b="1" i="1" dirty="0">
                <a:ea typeface="宋体" panose="02010600030101010101" pitchFamily="2" charset="-122"/>
              </a:rPr>
              <a:t>s</a:t>
            </a:r>
            <a:r>
              <a:rPr lang="en-US" altLang="zh-CN" sz="2000" b="1" i="1" baseline="-25000" dirty="0">
                <a:ea typeface="宋体" panose="02010600030101010101" pitchFamily="2" charset="-122"/>
              </a:rPr>
              <a:t>m</a:t>
            </a:r>
            <a:r>
              <a:rPr lang="zh-CN" altLang="en-US" sz="2000" b="1" dirty="0">
                <a:ea typeface="宋体" panose="02010600030101010101" pitchFamily="2" charset="-122"/>
              </a:rPr>
              <a:t>在栈顶，</a:t>
            </a:r>
            <a:r>
              <a:rPr lang="en-US" altLang="zh-CN" sz="2000" b="1" i="1" dirty="0">
                <a:ea typeface="宋体" panose="02010600030101010101" pitchFamily="2" charset="-122"/>
              </a:rPr>
              <a:t>s</a:t>
            </a:r>
            <a:r>
              <a:rPr lang="en-US" altLang="zh-CN" sz="2000" b="1" i="1" baseline="-25000" dirty="0">
                <a:ea typeface="宋体" panose="02010600030101010101" pitchFamily="2" charset="-122"/>
              </a:rPr>
              <a:t>i</a:t>
            </a:r>
            <a:r>
              <a:rPr lang="zh-CN" altLang="en-US" sz="2000" b="1" dirty="0">
                <a:ea typeface="宋体" panose="02010600030101010101" pitchFamily="2" charset="-122"/>
              </a:rPr>
              <a:t>是</a:t>
            </a:r>
            <a:r>
              <a:rPr lang="zh-CN" altLang="en-US" sz="2000" b="1" dirty="0">
                <a:solidFill>
                  <a:srgbClr val="063DE8"/>
                </a:solidFill>
                <a:ea typeface="宋体" panose="02010600030101010101" pitchFamily="2" charset="-122"/>
              </a:rPr>
              <a:t>状态</a:t>
            </a:r>
            <a:r>
              <a:rPr lang="zh-CN" altLang="en-US" sz="2000" b="1" dirty="0">
                <a:ea typeface="宋体" panose="02010600030101010101" pitchFamily="2" charset="-122"/>
              </a:rPr>
              <a:t>符号，它概括了栈中它下面部分所包含的信息</a:t>
            </a:r>
            <a:endParaRPr lang="en-US" altLang="zh-CN" sz="2000" b="1" dirty="0">
              <a:ea typeface="宋体" panose="02010600030101010101" pitchFamily="2" charset="-122"/>
            </a:endParaRPr>
          </a:p>
        </p:txBody>
      </p:sp>
      <p:pic>
        <p:nvPicPr>
          <p:cNvPr id="215044" name="Picture 2"/>
          <p:cNvPicPr>
            <a:picLocks noChangeAspect="1"/>
          </p:cNvPicPr>
          <p:nvPr/>
        </p:nvPicPr>
        <p:blipFill>
          <a:blip r:embed="rId1"/>
          <a:stretch>
            <a:fillRect/>
          </a:stretch>
        </p:blipFill>
        <p:spPr>
          <a:xfrm>
            <a:off x="3059113" y="1371600"/>
            <a:ext cx="5041900" cy="3136900"/>
          </a:xfrm>
          <a:prstGeom prst="rect">
            <a:avLst/>
          </a:prstGeom>
          <a:noFill/>
          <a:ln w="9525">
            <a:noFill/>
          </a:ln>
        </p:spPr>
      </p:pic>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（17）</a:t>
            </a:r>
            <a:endParaRPr lang="en-US" altLang="zh-CN" dirty="0">
              <a:latin typeface="Times New Roman" panose="02020603050405020304" pitchFamily="18" charset="0"/>
              <a:ea typeface="宋体" panose="02010600030101010101" pitchFamily="2" charset="-122"/>
            </a:endParaRPr>
          </a:p>
        </p:txBody>
      </p:sp>
      <p:sp>
        <p:nvSpPr>
          <p:cNvPr id="217091" name="Rectangle 3"/>
          <p:cNvSpPr>
            <a:spLocks noGrp="1"/>
          </p:cNvSpPr>
          <p:nvPr>
            <p:ph idx="1"/>
          </p:nvPr>
        </p:nvSpPr>
        <p:spPr>
          <a:xfrm>
            <a:off x="611188" y="1371600"/>
            <a:ext cx="7847012" cy="4953000"/>
          </a:xfrm>
        </p:spPr>
        <p:txBody>
          <a:bodyPr vert="horz" wrap="square" lIns="92075" tIns="46038" rIns="92075" bIns="46038" anchor="t" anchorCtr="0"/>
          <a:p>
            <a:pPr marL="400050"/>
            <a:r>
              <a:rPr lang="zh-CN" altLang="en-US" sz="2400" b="1" dirty="0">
                <a:ea typeface="宋体" panose="02010600030101010101" pitchFamily="2" charset="-122"/>
              </a:rPr>
              <a:t>分析表包括动作函数</a:t>
            </a:r>
            <a:r>
              <a:rPr lang="en-US" altLang="zh-CN" sz="2400" b="1" i="1" dirty="0">
                <a:ea typeface="宋体" panose="02010600030101010101" pitchFamily="2" charset="-122"/>
              </a:rPr>
              <a:t>ACTION</a:t>
            </a:r>
            <a:r>
              <a:rPr lang="zh-CN" altLang="en-US" sz="2400" b="1" dirty="0">
                <a:ea typeface="宋体" panose="02010600030101010101" pitchFamily="2" charset="-122"/>
              </a:rPr>
              <a:t>和转移函数</a:t>
            </a:r>
            <a:r>
              <a:rPr lang="en-US" altLang="zh-CN" sz="2400" b="1" i="1" dirty="0">
                <a:ea typeface="宋体" panose="02010600030101010101" pitchFamily="2" charset="-122"/>
              </a:rPr>
              <a:t>GOTO</a:t>
            </a:r>
            <a:r>
              <a:rPr lang="zh-CN" altLang="en-US" sz="2400" b="1" dirty="0">
                <a:ea typeface="宋体" panose="02010600030101010101" pitchFamily="2" charset="-122"/>
              </a:rPr>
              <a:t>两部分组成</a:t>
            </a:r>
            <a:endParaRPr lang="zh-CN" altLang="en-US" sz="2400" b="1" dirty="0">
              <a:ea typeface="宋体" panose="02010600030101010101" pitchFamily="2" charset="-122"/>
            </a:endParaRPr>
          </a:p>
          <a:p>
            <a:pPr lvl="1"/>
            <a:r>
              <a:rPr lang="zh-CN" altLang="en-US" sz="2000" b="1" dirty="0">
                <a:ea typeface="宋体" panose="02010600030101010101" pitchFamily="2" charset="-122"/>
              </a:rPr>
              <a:t>根据栈顶当前的状态</a:t>
            </a:r>
            <a:r>
              <a:rPr lang="en-US" altLang="zh-CN" sz="2000" b="1" i="1" dirty="0">
                <a:ea typeface="宋体" panose="02010600030101010101" pitchFamily="2" charset="-122"/>
              </a:rPr>
              <a:t>i</a:t>
            </a:r>
            <a:r>
              <a:rPr lang="zh-CN" altLang="en-US" sz="2000" b="1" dirty="0">
                <a:ea typeface="宋体" panose="02010600030101010101" pitchFamily="2" charset="-122"/>
              </a:rPr>
              <a:t>和当前的输入符号</a:t>
            </a:r>
            <a:r>
              <a:rPr lang="en-US" altLang="zh-CN" sz="2000" b="1" i="1" dirty="0">
                <a:ea typeface="宋体" panose="02010600030101010101" pitchFamily="2" charset="-122"/>
              </a:rPr>
              <a:t>a</a:t>
            </a:r>
            <a:r>
              <a:rPr lang="zh-CN" altLang="en-US" sz="2000" b="1" dirty="0">
                <a:ea typeface="宋体" panose="02010600030101010101" pitchFamily="2" charset="-122"/>
              </a:rPr>
              <a:t>访问</a:t>
            </a:r>
            <a:r>
              <a:rPr lang="en-US" altLang="zh-CN" sz="2000" b="1" dirty="0">
                <a:ea typeface="宋体" panose="02010600030101010101" pitchFamily="2" charset="-122"/>
              </a:rPr>
              <a:t>ACTION[</a:t>
            </a:r>
            <a:r>
              <a:rPr lang="en-US" altLang="zh-CN" sz="2000" b="1" i="1" dirty="0">
                <a:ea typeface="宋体" panose="02010600030101010101" pitchFamily="2" charset="-122"/>
              </a:rPr>
              <a:t>i</a:t>
            </a:r>
            <a:r>
              <a:rPr lang="en-US" altLang="zh-CN" sz="2000" b="1" dirty="0">
                <a:ea typeface="宋体" panose="02010600030101010101" pitchFamily="2" charset="-122"/>
              </a:rPr>
              <a:t> , </a:t>
            </a:r>
            <a:r>
              <a:rPr lang="en-US" altLang="zh-CN" sz="2000" b="1" i="1" dirty="0">
                <a:ea typeface="宋体" panose="02010600030101010101" pitchFamily="2" charset="-122"/>
              </a:rPr>
              <a:t>a</a:t>
            </a:r>
            <a:r>
              <a:rPr lang="en-US" altLang="zh-CN" sz="2000" b="1" dirty="0">
                <a:ea typeface="宋体" panose="02010600030101010101" pitchFamily="2" charset="-122"/>
              </a:rPr>
              <a:t>]，</a:t>
            </a:r>
            <a:r>
              <a:rPr lang="zh-CN" altLang="en-US" sz="2000" b="1" dirty="0">
                <a:ea typeface="宋体" panose="02010600030101010101" pitchFamily="2" charset="-122"/>
              </a:rPr>
              <a:t>取值包括：</a:t>
            </a:r>
            <a:endParaRPr lang="zh-CN" altLang="en-US" sz="2000" b="1" dirty="0">
              <a:ea typeface="宋体" panose="02010600030101010101" pitchFamily="2" charset="-122"/>
            </a:endParaRPr>
          </a:p>
          <a:p>
            <a:pPr marL="1295400" lvl="2" indent="-381000">
              <a:buSzTx/>
              <a:buFont typeface="Wingdings" panose="05000000000000000000" pitchFamily="2" charset="2"/>
              <a:buAutoNum type="arabicParenR"/>
            </a:pPr>
            <a:r>
              <a:rPr lang="zh-CN" altLang="en-US" sz="1800" b="1" dirty="0">
                <a:ea typeface="宋体" panose="02010600030101010101" pitchFamily="2" charset="-122"/>
              </a:rPr>
              <a:t>移进</a:t>
            </a:r>
            <a:r>
              <a:rPr lang="en-US" altLang="zh-CN" sz="1800" b="1" i="1" dirty="0">
                <a:ea typeface="宋体" panose="02010600030101010101" pitchFamily="2" charset="-122"/>
              </a:rPr>
              <a:t>j</a:t>
            </a:r>
            <a:r>
              <a:rPr lang="zh-CN" altLang="en-US" sz="1800" b="1" dirty="0">
                <a:ea typeface="宋体" panose="02010600030101010101" pitchFamily="2" charset="-122"/>
              </a:rPr>
              <a:t>，其中</a:t>
            </a:r>
            <a:r>
              <a:rPr lang="en-US" altLang="zh-CN" sz="1800" b="1" i="1" dirty="0">
                <a:ea typeface="宋体" panose="02010600030101010101" pitchFamily="2" charset="-122"/>
              </a:rPr>
              <a:t>j</a:t>
            </a:r>
            <a:r>
              <a:rPr lang="zh-CN" altLang="en-US" sz="1800" b="1" dirty="0">
                <a:ea typeface="宋体" panose="02010600030101010101" pitchFamily="2" charset="-122"/>
              </a:rPr>
              <a:t>是一个状态，表示将</a:t>
            </a:r>
            <a:r>
              <a:rPr lang="en-US" altLang="zh-CN" sz="1800" b="1" i="1" dirty="0">
                <a:ea typeface="宋体" panose="02010600030101010101" pitchFamily="2" charset="-122"/>
              </a:rPr>
              <a:t>a</a:t>
            </a:r>
            <a:r>
              <a:rPr lang="zh-CN" altLang="en-US" sz="1800" b="1" dirty="0">
                <a:ea typeface="宋体" panose="02010600030101010101" pitchFamily="2" charset="-122"/>
              </a:rPr>
              <a:t>移入栈，但是用状态</a:t>
            </a:r>
            <a:r>
              <a:rPr lang="en-US" altLang="zh-CN" sz="1800" b="1" i="1" dirty="0">
                <a:ea typeface="宋体" panose="02010600030101010101" pitchFamily="2" charset="-122"/>
              </a:rPr>
              <a:t>j</a:t>
            </a:r>
            <a:r>
              <a:rPr lang="zh-CN" altLang="en-US" sz="1800" b="1" dirty="0">
                <a:ea typeface="宋体" panose="02010600030101010101" pitchFamily="2" charset="-122"/>
              </a:rPr>
              <a:t>代替</a:t>
            </a:r>
            <a:r>
              <a:rPr lang="en-US" altLang="zh-CN" sz="1800" b="1" i="1" dirty="0">
                <a:ea typeface="宋体" panose="02010600030101010101" pitchFamily="2" charset="-122"/>
              </a:rPr>
              <a:t>a</a:t>
            </a:r>
            <a:endParaRPr lang="zh-CN" altLang="en-US" sz="1800" b="1" dirty="0">
              <a:ea typeface="宋体" panose="02010600030101010101" pitchFamily="2" charset="-122"/>
            </a:endParaRPr>
          </a:p>
          <a:p>
            <a:pPr marL="1295400" lvl="2" indent="-381000">
              <a:buSzTx/>
              <a:buFont typeface="Wingdings" panose="05000000000000000000" pitchFamily="2" charset="2"/>
              <a:buAutoNum type="arabicParenR"/>
            </a:pPr>
            <a:r>
              <a:rPr lang="zh-CN" altLang="en-US" sz="1800" b="1" dirty="0">
                <a:ea typeface="宋体" panose="02010600030101010101" pitchFamily="2" charset="-122"/>
              </a:rPr>
              <a:t>按文法产生式</a:t>
            </a:r>
            <a:r>
              <a:rPr lang="en-US" altLang="zh-CN" sz="1800" b="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β</a:t>
            </a:r>
            <a:r>
              <a:rPr lang="zh-CN" altLang="en-US" sz="1800" b="1" dirty="0">
                <a:ea typeface="宋体" panose="02010600030101010101" pitchFamily="2" charset="-122"/>
              </a:rPr>
              <a:t>归约</a:t>
            </a:r>
            <a:endParaRPr lang="zh-CN" altLang="en-US" sz="1800" b="1" dirty="0">
              <a:ea typeface="宋体" panose="02010600030101010101" pitchFamily="2" charset="-122"/>
            </a:endParaRPr>
          </a:p>
          <a:p>
            <a:pPr marL="1295400" lvl="2" indent="-381000">
              <a:buSzTx/>
              <a:buFont typeface="Wingdings" panose="05000000000000000000" pitchFamily="2" charset="2"/>
              <a:buAutoNum type="arabicParenR"/>
            </a:pPr>
            <a:r>
              <a:rPr lang="zh-CN" altLang="en-US" sz="1800" b="1" dirty="0">
                <a:ea typeface="宋体" panose="02010600030101010101" pitchFamily="2" charset="-122"/>
              </a:rPr>
              <a:t>接受</a:t>
            </a:r>
            <a:endParaRPr lang="zh-CN" altLang="en-US" sz="1800" b="1" dirty="0">
              <a:ea typeface="宋体" panose="02010600030101010101" pitchFamily="2" charset="-122"/>
            </a:endParaRPr>
          </a:p>
          <a:p>
            <a:pPr marL="1295400" lvl="2" indent="-381000">
              <a:buSzTx/>
              <a:buFont typeface="Wingdings" panose="05000000000000000000" pitchFamily="2" charset="2"/>
              <a:buAutoNum type="arabicParenR"/>
            </a:pPr>
            <a:r>
              <a:rPr lang="zh-CN" altLang="en-US" sz="1800" b="1" dirty="0">
                <a:ea typeface="宋体" panose="02010600030101010101" pitchFamily="2" charset="-122"/>
              </a:rPr>
              <a:t>报错</a:t>
            </a:r>
            <a:endParaRPr lang="en-US" altLang="zh-CN" sz="1800" b="1" dirty="0">
              <a:ea typeface="宋体" panose="02010600030101010101" pitchFamily="2" charset="-122"/>
            </a:endParaRPr>
          </a:p>
          <a:p>
            <a:pPr lvl="1"/>
            <a:r>
              <a:rPr lang="zh-CN" altLang="en-US" sz="2000" b="1" dirty="0">
                <a:ea typeface="宋体" panose="02010600030101010101" pitchFamily="2" charset="-122"/>
              </a:rPr>
              <a:t>把定义在项目集上的</a:t>
            </a:r>
            <a:r>
              <a:rPr lang="en-US" altLang="zh-CN" sz="2000" b="1" dirty="0">
                <a:ea typeface="宋体" panose="02010600030101010101" pitchFamily="2" charset="-122"/>
              </a:rPr>
              <a:t>GOTO</a:t>
            </a:r>
            <a:r>
              <a:rPr lang="zh-CN" altLang="en-US" sz="2000" b="1" dirty="0">
                <a:ea typeface="宋体" panose="02010600030101010101" pitchFamily="2" charset="-122"/>
              </a:rPr>
              <a:t>函数扩展到定义在状态集上的</a:t>
            </a:r>
            <a:r>
              <a:rPr lang="en-US" altLang="zh-CN" sz="2000" b="1" dirty="0">
                <a:ea typeface="宋体" panose="02010600030101010101" pitchFamily="2" charset="-122"/>
              </a:rPr>
              <a:t>GOTO</a:t>
            </a:r>
            <a:r>
              <a:rPr lang="zh-CN" altLang="en-US" sz="2000" b="1" dirty="0">
                <a:ea typeface="宋体" panose="02010600030101010101" pitchFamily="2" charset="-122"/>
              </a:rPr>
              <a:t>函数</a:t>
            </a:r>
            <a:endParaRPr lang="en-US" altLang="zh-CN" sz="2000" b="1" dirty="0">
              <a:ea typeface="宋体" panose="02010600030101010101" pitchFamily="2" charset="-122"/>
            </a:endParaRPr>
          </a:p>
          <a:p>
            <a:pPr marL="1295400" lvl="2" indent="-381000">
              <a:buSzTx/>
            </a:pPr>
            <a:r>
              <a:rPr lang="zh-CN" altLang="en-US" sz="1800" b="1" dirty="0">
                <a:ea typeface="宋体" panose="02010600030101010101" pitchFamily="2" charset="-122"/>
              </a:rPr>
              <a:t>如果定义在项目集上的</a:t>
            </a:r>
            <a:r>
              <a:rPr lang="en-US" altLang="zh-CN" sz="1800" b="1" dirty="0">
                <a:ea typeface="宋体" panose="02010600030101010101" pitchFamily="2" charset="-122"/>
              </a:rPr>
              <a:t>GOTO</a:t>
            </a:r>
            <a:r>
              <a:rPr lang="zh-CN" altLang="en-US" sz="1800" b="1" dirty="0">
                <a:ea typeface="宋体" panose="02010600030101010101" pitchFamily="2" charset="-122"/>
              </a:rPr>
              <a:t>（</a:t>
            </a:r>
            <a:r>
              <a:rPr lang="en-US" altLang="zh-CN" sz="1800" b="1" i="1" dirty="0">
                <a:ea typeface="宋体" panose="02010600030101010101" pitchFamily="2" charset="-122"/>
              </a:rPr>
              <a:t>I</a:t>
            </a:r>
            <a:r>
              <a:rPr lang="en-US" altLang="zh-CN" sz="1800" b="1" i="1" baseline="-25000" dirty="0">
                <a:ea typeface="宋体" panose="02010600030101010101" pitchFamily="2" charset="-122"/>
              </a:rPr>
              <a:t>i</a:t>
            </a:r>
            <a:r>
              <a:rPr lang="zh-CN" altLang="en-US" sz="1800" b="1" dirty="0">
                <a:ea typeface="宋体" panose="02010600030101010101" pitchFamily="2" charset="-122"/>
              </a:rPr>
              <a:t>，</a:t>
            </a:r>
            <a:r>
              <a:rPr lang="en-US" altLang="zh-CN" sz="1800" b="1" i="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a:t>
            </a:r>
            <a:r>
              <a:rPr lang="en-US" altLang="zh-CN" sz="1800" b="1" i="1" dirty="0">
                <a:ea typeface="宋体" panose="02010600030101010101" pitchFamily="2" charset="-122"/>
              </a:rPr>
              <a:t> I</a:t>
            </a:r>
            <a:r>
              <a:rPr lang="en-US" altLang="zh-CN" sz="1800" b="1" i="1" baseline="-25000" dirty="0">
                <a:ea typeface="宋体" panose="02010600030101010101" pitchFamily="2" charset="-122"/>
              </a:rPr>
              <a:t>j </a:t>
            </a:r>
            <a:r>
              <a:rPr lang="zh-CN" altLang="en-US" sz="1800" b="1" dirty="0">
                <a:ea typeface="宋体" panose="02010600030101010101" pitchFamily="2" charset="-122"/>
              </a:rPr>
              <a:t>，则定义在状态上的</a:t>
            </a:r>
            <a:r>
              <a:rPr lang="en-US" altLang="zh-CN" sz="1800" b="1" dirty="0">
                <a:ea typeface="宋体" panose="02010600030101010101" pitchFamily="2" charset="-122"/>
              </a:rPr>
              <a:t>GOTO</a:t>
            </a:r>
            <a:r>
              <a:rPr lang="zh-CN" altLang="en-US" sz="1800" b="1" dirty="0">
                <a:ea typeface="宋体" panose="02010600030101010101" pitchFamily="2" charset="-122"/>
              </a:rPr>
              <a:t>（</a:t>
            </a:r>
            <a:r>
              <a:rPr lang="en-US" altLang="zh-CN" sz="1800" b="1" i="1" dirty="0">
                <a:ea typeface="宋体" panose="02010600030101010101" pitchFamily="2" charset="-122"/>
              </a:rPr>
              <a:t> i</a:t>
            </a:r>
            <a:r>
              <a:rPr lang="zh-CN" altLang="en-US" sz="1800" b="1" dirty="0">
                <a:ea typeface="宋体" panose="02010600030101010101" pitchFamily="2" charset="-122"/>
              </a:rPr>
              <a:t>，</a:t>
            </a:r>
            <a:r>
              <a:rPr lang="en-US" altLang="zh-CN" sz="1800" b="1" i="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a:t>
            </a:r>
            <a:r>
              <a:rPr lang="en-US" altLang="zh-CN" sz="1800" b="1" i="1" dirty="0">
                <a:ea typeface="宋体" panose="02010600030101010101" pitchFamily="2" charset="-122"/>
              </a:rPr>
              <a:t> j</a:t>
            </a:r>
            <a:endParaRPr lang="en-US" altLang="zh-CN" sz="1800" b="1" i="1" dirty="0">
              <a:ea typeface="宋体" panose="02010600030101010101" pitchFamily="2" charset="-122"/>
            </a:endParaRPr>
          </a:p>
          <a:p>
            <a:pPr marL="1295400" lvl="2" indent="-381000">
              <a:buSzTx/>
            </a:pPr>
            <a:endParaRPr lang="zh-CN" altLang="en-US" sz="1800" b="1" dirty="0">
              <a:ea typeface="宋体" panose="02010600030101010101" pitchFamily="2" charset="-122"/>
            </a:endParaRPr>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913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（18）</a:t>
            </a:r>
            <a:endParaRPr lang="en-US" altLang="zh-CN" dirty="0">
              <a:latin typeface="Times New Roman" panose="02020603050405020304" pitchFamily="18" charset="0"/>
              <a:ea typeface="宋体" panose="02010600030101010101" pitchFamily="2" charset="-122"/>
            </a:endParaRPr>
          </a:p>
        </p:txBody>
      </p:sp>
      <p:sp>
        <p:nvSpPr>
          <p:cNvPr id="155651" name="Rectangle 3"/>
          <p:cNvSpPr>
            <a:spLocks noGrp="1" noChangeArrowheads="1"/>
          </p:cNvSpPr>
          <p:nvPr>
            <p:ph idx="1"/>
          </p:nvPr>
        </p:nvSpPr>
        <p:spPr>
          <a:xfrm>
            <a:off x="990600" y="1371600"/>
            <a:ext cx="7391400" cy="4953000"/>
          </a:xfrm>
        </p:spPr>
        <p:txBody>
          <a:bodyPr vert="horz" wrap="square" lIns="92075" tIns="46038" rIns="92075" bIns="46038" numCol="1" anchor="t" anchorCtr="0" compatLnSpc="1"/>
          <a:lstStyle/>
          <a:p>
            <a:pPr marL="514350" marR="0" lvl="0"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分析器的</a:t>
            </a:r>
            <a:r>
              <a:rPr kumimoji="0" lang="zh-CN" altLang="en-US" sz="2600" b="1" i="0" u="none" strike="noStrike" kern="0" cap="none" spc="0" normalizeH="0" baseline="0" noProof="0" dirty="0">
                <a:ln>
                  <a:noFill/>
                </a:ln>
                <a:solidFill>
                  <a:srgbClr val="063DE8"/>
                </a:solidFill>
                <a:effectLst/>
                <a:uLnTx/>
                <a:uFillTx/>
                <a:latin typeface="+mn-lt"/>
                <a:ea typeface="宋体" panose="02010600030101010101" pitchFamily="2" charset="-122"/>
                <a:cs typeface="+mn-cs"/>
              </a:rPr>
              <a:t>格局</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是二元组</a:t>
            </a:r>
            <a:endPar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它的第一个成分是栈的内容，第二个成分是尚未接收的输入：(</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0</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1" u="none" strike="noStrike" kern="0" cap="none" spc="0" normalizeH="0" baseline="0" noProof="0" dirty="0" err="1">
                <a:ln>
                  <a:noFill/>
                </a:ln>
                <a:solidFill>
                  <a:schemeClr val="tx1"/>
                </a:solidFill>
                <a:effectLst/>
                <a:uLnTx/>
                <a:uFillTx/>
                <a:latin typeface="+mn-lt"/>
                <a:ea typeface="宋体" panose="02010600030101010101" pitchFamily="2" charset="-122"/>
              </a:rPr>
              <a:t>s</a:t>
            </a:r>
            <a:r>
              <a:rPr kumimoji="0" lang="en-US" altLang="zh-CN" sz="2200" b="1" i="1" u="none" strike="noStrike" kern="0" cap="none" spc="0" normalizeH="0" baseline="-25000" noProof="0" dirty="0" err="1">
                <a:ln>
                  <a:noFill/>
                </a:ln>
                <a:solidFill>
                  <a:schemeClr val="tx1"/>
                </a:solidFill>
                <a:effectLst/>
                <a:uLnTx/>
                <a:uFillTx/>
                <a:latin typeface="+mn-lt"/>
                <a:ea typeface="宋体" panose="02010600030101010101" pitchFamily="2" charset="-122"/>
              </a:rPr>
              <a:t>m</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i</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i+1</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n</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$)，这个格局代表右句型</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m</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i</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i+1</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n</a:t>
            </a:r>
            <a:endPar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X</a:t>
            </a:r>
            <a:r>
              <a:rPr kumimoji="0" lang="en-US" altLang="zh-CN" sz="2000" b="1" i="1" u="none" strike="noStrike" kern="0" cap="none" spc="0" normalizeH="0" baseline="-25000" noProof="0" dirty="0" err="1">
                <a:ln>
                  <a:noFill/>
                </a:ln>
                <a:solidFill>
                  <a:schemeClr val="tx1"/>
                </a:solidFill>
                <a:effectLst/>
                <a:uLnTx/>
                <a:uFillTx/>
                <a:latin typeface="+mn-lt"/>
                <a:ea typeface="宋体" panose="02010600030101010101" pitchFamily="2" charset="-122"/>
              </a:rPr>
              <a:t>m</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1" u="none" strike="noStrike" kern="0" cap="none" spc="0" normalizeH="0" baseline="0" noProof="0" dirty="0" err="1">
                <a:ln>
                  <a:noFill/>
                </a:ln>
                <a:solidFill>
                  <a:schemeClr val="tx1"/>
                </a:solidFill>
                <a:effectLst/>
                <a:uLnTx/>
                <a:uFillTx/>
                <a:latin typeface="+mn-lt"/>
                <a:ea typeface="宋体" panose="02010600030101010101" pitchFamily="2" charset="-122"/>
              </a:rPr>
              <a:t>s</a:t>
            </a:r>
            <a:r>
              <a:rPr kumimoji="0" lang="en-US" altLang="zh-CN" sz="2000" b="1" i="1" u="none" strike="noStrike" kern="0" cap="none" spc="0" normalizeH="0" baseline="-25000" noProof="0" dirty="0" err="1">
                <a:ln>
                  <a:noFill/>
                </a:ln>
                <a:solidFill>
                  <a:schemeClr val="tx1"/>
                </a:solidFill>
                <a:effectLst/>
                <a:uLnTx/>
                <a:uFillTx/>
                <a:latin typeface="+mn-lt"/>
                <a:ea typeface="宋体" panose="02010600030101010101" pitchFamily="2" charset="-122"/>
              </a:rPr>
              <a:t>m</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隐式地指明的文法符号串序列</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514350" marR="0" lvl="0"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分析器的行为：</a:t>
            </a:r>
            <a:endPar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分析器根据格局决定下一个动作时，是依据当前输入符号</a:t>
            </a:r>
            <a:r>
              <a:rPr kumimoji="0" lang="en-US" altLang="zh-CN" sz="2200" b="1" i="1" u="none" strike="noStrike" kern="0" cap="none" spc="0" normalizeH="0" baseline="0" noProof="0" dirty="0" err="1">
                <a:ln>
                  <a:noFill/>
                </a:ln>
                <a:solidFill>
                  <a:schemeClr val="tx1"/>
                </a:solidFill>
                <a:effectLst/>
                <a:uLnTx/>
                <a:uFillTx/>
                <a:latin typeface="+mn-lt"/>
                <a:ea typeface="宋体" panose="02010600030101010101" pitchFamily="2" charset="-122"/>
              </a:rPr>
              <a:t>a</a:t>
            </a:r>
            <a:r>
              <a:rPr kumimoji="0" lang="en-US" altLang="zh-CN" sz="2200" b="1" i="1" u="none" strike="noStrike" kern="0" cap="none" spc="0" normalizeH="0" baseline="-25000" noProof="0" dirty="0" err="1">
                <a:ln>
                  <a:noFill/>
                </a:ln>
                <a:solidFill>
                  <a:schemeClr val="tx1"/>
                </a:solidFill>
                <a:effectLst/>
                <a:uLnTx/>
                <a:uFillTx/>
                <a:latin typeface="+mn-lt"/>
                <a:ea typeface="宋体" panose="02010600030101010101" pitchFamily="2" charset="-122"/>
              </a:rPr>
              <a:t>i</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和栈顶的状态</a:t>
            </a:r>
            <a:r>
              <a:rPr kumimoji="0" lang="en-US" altLang="zh-CN" sz="2200" b="1" i="1" u="none" strike="noStrike" kern="0" cap="none" spc="0" normalizeH="0" baseline="0" noProof="0" dirty="0" err="1">
                <a:ln>
                  <a:noFill/>
                </a:ln>
                <a:solidFill>
                  <a:schemeClr val="tx1"/>
                </a:solidFill>
                <a:effectLst/>
                <a:uLnTx/>
                <a:uFillTx/>
                <a:latin typeface="+mn-lt"/>
                <a:ea typeface="宋体" panose="02010600030101010101" pitchFamily="2" charset="-122"/>
              </a:rPr>
              <a:t>s</a:t>
            </a:r>
            <a:r>
              <a:rPr kumimoji="0" lang="en-US" altLang="zh-CN" sz="2200" b="1" i="1" u="none" strike="noStrike" kern="0" cap="none" spc="0" normalizeH="0" baseline="-25000" noProof="0" dirty="0" err="1">
                <a:ln>
                  <a:noFill/>
                </a:ln>
                <a:solidFill>
                  <a:schemeClr val="tx1"/>
                </a:solidFill>
                <a:effectLst/>
                <a:uLnTx/>
                <a:uFillTx/>
                <a:latin typeface="+mn-lt"/>
                <a:ea typeface="宋体" panose="02010600030101010101" pitchFamily="2" charset="-122"/>
              </a:rPr>
              <a:t>m</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 </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，查找</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ACTION[</a:t>
            </a:r>
            <a:r>
              <a:rPr kumimoji="0" lang="en-US" altLang="zh-CN" sz="2200" b="1" i="1" u="none" strike="noStrike" kern="0" cap="none" spc="0" normalizeH="0" baseline="0" noProof="0" dirty="0" err="1">
                <a:ln>
                  <a:noFill/>
                </a:ln>
                <a:solidFill>
                  <a:schemeClr val="tx1"/>
                </a:solidFill>
                <a:effectLst/>
                <a:uLnTx/>
                <a:uFillTx/>
                <a:latin typeface="+mn-lt"/>
                <a:ea typeface="宋体" panose="02010600030101010101" pitchFamily="2" charset="-122"/>
              </a:rPr>
              <a:t>s</a:t>
            </a:r>
            <a:r>
              <a:rPr kumimoji="0" lang="en-US" altLang="zh-CN" sz="2200" b="1" i="1" u="none" strike="noStrike" kern="0" cap="none" spc="0" normalizeH="0" baseline="-25000" noProof="0" dirty="0" err="1">
                <a:ln>
                  <a:noFill/>
                </a:ln>
                <a:solidFill>
                  <a:schemeClr val="tx1"/>
                </a:solidFill>
                <a:effectLst/>
                <a:uLnTx/>
                <a:uFillTx/>
                <a:latin typeface="+mn-lt"/>
                <a:ea typeface="宋体" panose="02010600030101010101" pitchFamily="2" charset="-122"/>
              </a:rPr>
              <a:t>m</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200" b="1" i="1" u="none" strike="noStrike" kern="0" cap="none" spc="0" normalizeH="0" baseline="0" noProof="0" dirty="0" err="1">
                <a:ln>
                  <a:noFill/>
                </a:ln>
                <a:solidFill>
                  <a:schemeClr val="tx1"/>
                </a:solidFill>
                <a:effectLst/>
                <a:uLnTx/>
                <a:uFillTx/>
                <a:latin typeface="+mn-lt"/>
                <a:ea typeface="宋体" panose="02010600030101010101" pitchFamily="2" charset="-122"/>
              </a:rPr>
              <a:t>a</a:t>
            </a:r>
            <a:r>
              <a:rPr kumimoji="0" lang="en-US" altLang="zh-CN" sz="2200" b="1" i="1" u="none" strike="noStrike" kern="0" cap="none" spc="0" normalizeH="0" baseline="-25000" noProof="0" dirty="0" err="1">
                <a:ln>
                  <a:noFill/>
                </a:ln>
                <a:solidFill>
                  <a:schemeClr val="tx1"/>
                </a:solidFill>
                <a:effectLst/>
                <a:uLnTx/>
                <a:uFillTx/>
                <a:latin typeface="+mn-lt"/>
                <a:ea typeface="宋体" panose="02010600030101010101" pitchFamily="2" charset="-122"/>
              </a:rPr>
              <a:t>i</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，根据查询结果实施下述动作之一</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Tx/>
              <a:buFontTx/>
              <a:buAutoNum type="arabicParen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移进：</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Tx/>
              <a:buFontTx/>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如果</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ACTION[</a:t>
            </a:r>
            <a:r>
              <a:rPr kumimoji="0" lang="en-US" altLang="zh-CN" sz="2000" b="1" i="1" u="none" strike="noStrike" kern="0" cap="none" spc="0" normalizeH="0" baseline="0" noProof="0" dirty="0" err="1">
                <a:ln>
                  <a:noFill/>
                </a:ln>
                <a:solidFill>
                  <a:schemeClr val="tx1"/>
                </a:solidFill>
                <a:effectLst/>
                <a:uLnTx/>
                <a:uFillTx/>
                <a:latin typeface="+mn-lt"/>
                <a:ea typeface="宋体" panose="02010600030101010101" pitchFamily="2" charset="-122"/>
              </a:rPr>
              <a:t>s</a:t>
            </a:r>
            <a:r>
              <a:rPr kumimoji="0" lang="en-US" altLang="zh-CN" sz="2000" b="1" i="1" u="none" strike="noStrike" kern="0" cap="none" spc="0" normalizeH="0" baseline="-25000" noProof="0" dirty="0" err="1">
                <a:ln>
                  <a:noFill/>
                </a:ln>
                <a:solidFill>
                  <a:schemeClr val="tx1"/>
                </a:solidFill>
                <a:effectLst/>
                <a:uLnTx/>
                <a:uFillTx/>
                <a:latin typeface="+mn-lt"/>
                <a:ea typeface="宋体" panose="02010600030101010101" pitchFamily="2" charset="-122"/>
              </a:rPr>
              <a:t>m</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1" u="none" strike="noStrike" kern="0" cap="none" spc="0" normalizeH="0" baseline="0" noProof="0" dirty="0" err="1">
                <a:ln>
                  <a:noFill/>
                </a:ln>
                <a:solidFill>
                  <a:schemeClr val="tx1"/>
                </a:solidFill>
                <a:effectLst/>
                <a:uLnTx/>
                <a:uFillTx/>
                <a:latin typeface="+mn-lt"/>
                <a:ea typeface="宋体" panose="02010600030101010101" pitchFamily="2" charset="-122"/>
              </a:rPr>
              <a:t>a</a:t>
            </a:r>
            <a:r>
              <a:rPr kumimoji="0" lang="en-US" altLang="zh-CN" sz="2000" b="1" i="1" u="none" strike="noStrike" kern="0" cap="none" spc="0" normalizeH="0" baseline="-25000" noProof="0" dirty="0" err="1">
                <a:ln>
                  <a:noFill/>
                </a:ln>
                <a:solidFill>
                  <a:schemeClr val="tx1"/>
                </a:solidFill>
                <a:effectLst/>
                <a:uLnTx/>
                <a:uFillTx/>
                <a:latin typeface="+mn-lt"/>
                <a:ea typeface="宋体" panose="02010600030101010101" pitchFamily="2" charset="-122"/>
              </a:rPr>
              <a:t>i</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移进</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分析器执行移进动作，将状态</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移入栈，进入格局(</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0</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m</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i+1</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，其中</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GOTO</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1" u="none" strike="noStrike" kern="0" cap="none" spc="0" normalizeH="0" baseline="0" noProof="0" dirty="0" err="1">
                <a:ln>
                  <a:noFill/>
                </a:ln>
                <a:solidFill>
                  <a:schemeClr val="tx1"/>
                </a:solidFill>
                <a:effectLst/>
                <a:uLnTx/>
                <a:uFillTx/>
                <a:latin typeface="+mn-lt"/>
                <a:ea typeface="宋体" panose="02010600030101010101" pitchFamily="2" charset="-122"/>
              </a:rPr>
              <a:t>s</a:t>
            </a:r>
            <a:r>
              <a:rPr kumimoji="0" lang="en-US" altLang="zh-CN" sz="2000" b="1" i="1" u="none" strike="noStrike" kern="0" cap="none" spc="0" normalizeH="0" baseline="-25000" noProof="0" dirty="0" err="1">
                <a:ln>
                  <a:noFill/>
                </a:ln>
                <a:solidFill>
                  <a:schemeClr val="tx1"/>
                </a:solidFill>
                <a:effectLst/>
                <a:uLnTx/>
                <a:uFillTx/>
                <a:latin typeface="+mn-lt"/>
                <a:ea typeface="宋体" panose="02010600030101010101" pitchFamily="2" charset="-122"/>
              </a:rPr>
              <a:t>m</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1" u="none" strike="noStrike" kern="0" cap="none" spc="0" normalizeH="0" baseline="0" noProof="0" dirty="0" err="1">
                <a:ln>
                  <a:noFill/>
                </a:ln>
                <a:solidFill>
                  <a:schemeClr val="tx1"/>
                </a:solidFill>
                <a:effectLst/>
                <a:uLnTx/>
                <a:uFillTx/>
                <a:latin typeface="+mn-lt"/>
                <a:ea typeface="宋体" panose="02010600030101010101" pitchFamily="2" charset="-122"/>
              </a:rPr>
              <a:t>a</a:t>
            </a:r>
            <a:r>
              <a:rPr kumimoji="0" lang="en-US" altLang="zh-CN" sz="2000" b="1" i="1" u="none" strike="noStrike" kern="0" cap="none" spc="0" normalizeH="0" baseline="-25000" noProof="0" dirty="0" err="1">
                <a:ln>
                  <a:noFill/>
                </a:ln>
                <a:solidFill>
                  <a:schemeClr val="tx1"/>
                </a:solidFill>
                <a:effectLst/>
                <a:uLnTx/>
                <a:uFillTx/>
                <a:latin typeface="+mn-lt"/>
                <a:ea typeface="宋体" panose="02010600030101010101" pitchFamily="2" charset="-122"/>
              </a:rPr>
              <a:t>i</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1" u="none" strike="noStrike" kern="0" cap="none" spc="0" normalizeH="0" baseline="0" noProof="0" dirty="0" err="1">
                <a:ln>
                  <a:noFill/>
                </a:ln>
                <a:solidFill>
                  <a:schemeClr val="tx1"/>
                </a:solidFill>
                <a:effectLst/>
                <a:uLnTx/>
                <a:uFillTx/>
                <a:latin typeface="+mn-lt"/>
                <a:ea typeface="宋体" panose="02010600030101010101" pitchFamily="2" charset="-122"/>
              </a:rPr>
              <a:t>a</a:t>
            </a:r>
            <a:r>
              <a:rPr kumimoji="0" lang="en-US" altLang="zh-CN" sz="2000" b="1" i="1" u="none" strike="noStrike" kern="0" cap="none" spc="0" normalizeH="0" baseline="-25000" noProof="0" dirty="0" err="1">
                <a:ln>
                  <a:noFill/>
                </a:ln>
                <a:solidFill>
                  <a:schemeClr val="tx1"/>
                </a:solidFill>
                <a:effectLst/>
                <a:uLnTx/>
                <a:uFillTx/>
                <a:latin typeface="+mn-lt"/>
                <a:ea typeface="宋体" panose="02010600030101010101" pitchFamily="2" charset="-122"/>
              </a:rPr>
              <a:t>i</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不在栈中，但是可以方便地根据</a:t>
            </a:r>
            <a:r>
              <a:rPr kumimoji="0" lang="en-US" altLang="zh-CN" sz="2000" b="1" i="1" u="none" strike="noStrike" kern="0" cap="none" spc="0" normalizeH="0" baseline="0" noProof="0" dirty="0" err="1">
                <a:ln>
                  <a:noFill/>
                </a:ln>
                <a:solidFill>
                  <a:schemeClr val="tx1"/>
                </a:solidFill>
                <a:effectLst/>
                <a:uLnTx/>
                <a:uFillTx/>
                <a:latin typeface="+mn-lt"/>
                <a:ea typeface="宋体" panose="02010600030101010101" pitchFamily="2" charset="-122"/>
              </a:rPr>
              <a:t>s</a:t>
            </a:r>
            <a:r>
              <a:rPr kumimoji="0" lang="en-US" altLang="zh-CN" sz="2000" b="1" i="1" u="none" strike="noStrike" kern="0" cap="none" spc="0" normalizeH="0" baseline="-25000" noProof="0" dirty="0" err="1">
                <a:ln>
                  <a:noFill/>
                </a:ln>
                <a:solidFill>
                  <a:schemeClr val="tx1"/>
                </a:solidFill>
                <a:effectLst/>
                <a:uLnTx/>
                <a:uFillTx/>
                <a:latin typeface="+mn-lt"/>
                <a:ea typeface="宋体" panose="02010600030101010101" pitchFamily="2" charset="-122"/>
              </a:rPr>
              <a:t>m</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恢复</a:t>
            </a:r>
            <a:r>
              <a:rPr kumimoji="0" lang="en-US" altLang="zh-CN" sz="2000" b="1" i="1" u="none" strike="noStrike" kern="0" cap="none" spc="0" normalizeH="0" baseline="0" noProof="0" dirty="0" err="1">
                <a:ln>
                  <a:noFill/>
                </a:ln>
                <a:solidFill>
                  <a:schemeClr val="tx1"/>
                </a:solidFill>
                <a:effectLst/>
                <a:uLnTx/>
                <a:uFillTx/>
                <a:latin typeface="+mn-lt"/>
                <a:ea typeface="宋体" panose="02010600030101010101" pitchFamily="2" charset="-122"/>
              </a:rPr>
              <a:t>a</a:t>
            </a:r>
            <a:r>
              <a:rPr kumimoji="0" lang="en-US" altLang="zh-CN" sz="2000" b="1" i="1" u="none" strike="noStrike" kern="0" cap="none" spc="0" normalizeH="0" baseline="-25000" noProof="0" dirty="0" err="1">
                <a:ln>
                  <a:noFill/>
                </a:ln>
                <a:solidFill>
                  <a:schemeClr val="tx1"/>
                </a:solidFill>
                <a:effectLst/>
                <a:uLnTx/>
                <a:uFillTx/>
                <a:latin typeface="+mn-lt"/>
                <a:ea typeface="宋体" panose="02010600030101010101" pitchFamily="2" charset="-122"/>
              </a:rPr>
              <a:t>i</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（19）</a:t>
            </a:r>
            <a:endParaRPr lang="en-US" altLang="zh-CN" dirty="0">
              <a:latin typeface="Times New Roman" panose="02020603050405020304" pitchFamily="18" charset="0"/>
              <a:ea typeface="宋体" panose="02010600030101010101" pitchFamily="2" charset="-122"/>
            </a:endParaRPr>
          </a:p>
        </p:txBody>
      </p:sp>
      <p:sp>
        <p:nvSpPr>
          <p:cNvPr id="221187" name="Rectangle 3"/>
          <p:cNvSpPr>
            <a:spLocks noGrp="1"/>
          </p:cNvSpPr>
          <p:nvPr>
            <p:ph idx="1"/>
          </p:nvPr>
        </p:nvSpPr>
        <p:spPr>
          <a:xfrm>
            <a:off x="990600" y="1371600"/>
            <a:ext cx="7391400" cy="4953000"/>
          </a:xfrm>
        </p:spPr>
        <p:txBody>
          <a:bodyPr vert="horz" wrap="square" lIns="92075" tIns="46038" rIns="92075" bIns="46038" anchor="t" anchorCtr="0"/>
          <a:p>
            <a:pPr marL="1333500" lvl="2" indent="-419100">
              <a:buSzTx/>
              <a:buFontTx/>
              <a:buAutoNum type="arabicParenR" startAt="2"/>
            </a:pPr>
            <a:r>
              <a:rPr lang="zh-CN" altLang="en-US" sz="2000" b="1" dirty="0">
                <a:ea typeface="宋体" panose="02010600030101010101" pitchFamily="2" charset="-122"/>
              </a:rPr>
              <a:t>归约：</a:t>
            </a:r>
            <a:endParaRPr lang="zh-CN" altLang="en-US" sz="2000" b="1" dirty="0">
              <a:ea typeface="宋体" panose="02010600030101010101" pitchFamily="2" charset="-122"/>
            </a:endParaRPr>
          </a:p>
          <a:p>
            <a:pPr lvl="3">
              <a:buSzTx/>
            </a:pPr>
            <a:r>
              <a:rPr lang="zh-CN" altLang="en-US" sz="1800" b="1" dirty="0">
                <a:ea typeface="宋体" panose="02010600030101010101" pitchFamily="2" charset="-122"/>
              </a:rPr>
              <a:t>如果</a:t>
            </a:r>
            <a:r>
              <a:rPr lang="en-US" altLang="zh-CN" sz="1800" b="1" dirty="0">
                <a:ea typeface="宋体" panose="02010600030101010101" pitchFamily="2" charset="-122"/>
              </a:rPr>
              <a:t>ACTION[</a:t>
            </a:r>
            <a:r>
              <a:rPr lang="en-US" altLang="zh-CN" sz="1800" b="1" i="1" dirty="0">
                <a:ea typeface="宋体" panose="02010600030101010101" pitchFamily="2" charset="-122"/>
              </a:rPr>
              <a:t>s</a:t>
            </a:r>
            <a:r>
              <a:rPr lang="en-US" altLang="zh-CN" sz="1800" b="1" i="1" baseline="-25000" dirty="0">
                <a:ea typeface="宋体" panose="02010600030101010101" pitchFamily="2" charset="-122"/>
              </a:rPr>
              <a:t>m</a:t>
            </a:r>
            <a:r>
              <a:rPr lang="en-US" altLang="zh-CN" sz="1800" b="1" dirty="0">
                <a:ea typeface="宋体" panose="02010600030101010101" pitchFamily="2" charset="-122"/>
              </a:rPr>
              <a:t> , </a:t>
            </a:r>
            <a:r>
              <a:rPr lang="en-US" altLang="zh-CN" sz="1800" b="1" i="1" dirty="0">
                <a:ea typeface="宋体" panose="02010600030101010101" pitchFamily="2" charset="-122"/>
              </a:rPr>
              <a:t>a</a:t>
            </a:r>
            <a:r>
              <a:rPr lang="en-US" altLang="zh-CN" sz="1800" b="1" i="1" baseline="-25000" dirty="0">
                <a:ea typeface="宋体" panose="02010600030101010101" pitchFamily="2" charset="-122"/>
              </a:rPr>
              <a:t>i</a:t>
            </a:r>
            <a:r>
              <a:rPr lang="en-US" altLang="zh-CN" sz="1800" b="1" dirty="0">
                <a:ea typeface="宋体" panose="02010600030101010101" pitchFamily="2" charset="-122"/>
              </a:rPr>
              <a:t>]=</a:t>
            </a:r>
            <a:r>
              <a:rPr lang="zh-CN" altLang="en-US" sz="1800" b="1" dirty="0">
                <a:ea typeface="宋体" panose="02010600030101010101" pitchFamily="2" charset="-122"/>
              </a:rPr>
              <a:t>归约</a:t>
            </a:r>
            <a:r>
              <a:rPr lang="en-US" altLang="zh-CN" sz="1800" b="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β, </a:t>
            </a:r>
            <a:r>
              <a:rPr lang="zh-CN" altLang="en-US" sz="1800" b="1" dirty="0">
                <a:ea typeface="宋体" panose="02010600030101010101" pitchFamily="2" charset="-122"/>
              </a:rPr>
              <a:t>则分析器执行归约, 进入格局(</a:t>
            </a:r>
            <a:r>
              <a:rPr lang="en-US" altLang="zh-CN" sz="1800" b="1" i="1" dirty="0">
                <a:ea typeface="宋体" panose="02010600030101010101" pitchFamily="2" charset="-122"/>
              </a:rPr>
              <a:t>s</a:t>
            </a:r>
            <a:r>
              <a:rPr lang="en-US" altLang="zh-CN" sz="1800" b="1" i="1" baseline="-25000" dirty="0">
                <a:ea typeface="宋体" panose="02010600030101010101" pitchFamily="2" charset="-122"/>
              </a:rPr>
              <a:t>0</a:t>
            </a:r>
            <a:r>
              <a:rPr lang="en-US" altLang="zh-CN" sz="1800" b="1" i="1" dirty="0">
                <a:ea typeface="宋体" panose="02010600030101010101" pitchFamily="2" charset="-122"/>
              </a:rPr>
              <a:t>s</a:t>
            </a:r>
            <a:r>
              <a:rPr lang="en-US" altLang="zh-CN" sz="1800" b="1" i="1" baseline="-25000" dirty="0">
                <a:ea typeface="宋体" panose="02010600030101010101" pitchFamily="2" charset="-122"/>
              </a:rPr>
              <a:t>1</a:t>
            </a:r>
            <a:r>
              <a:rPr lang="en-US" altLang="zh-CN" sz="1800" b="1" i="1" dirty="0">
                <a:ea typeface="宋体" panose="02010600030101010101" pitchFamily="2" charset="-122"/>
              </a:rPr>
              <a:t>s</a:t>
            </a:r>
            <a:r>
              <a:rPr lang="en-US" altLang="zh-CN" sz="1800" b="1" i="1" baseline="-25000" dirty="0">
                <a:ea typeface="宋体" panose="02010600030101010101" pitchFamily="2" charset="-122"/>
              </a:rPr>
              <a:t>2</a:t>
            </a:r>
            <a:r>
              <a:rPr lang="en-US" altLang="zh-CN" sz="1800" b="1" i="1" dirty="0">
                <a:ea typeface="宋体" panose="02010600030101010101" pitchFamily="2" charset="-122"/>
              </a:rPr>
              <a:t>…s</a:t>
            </a:r>
            <a:r>
              <a:rPr lang="en-US" altLang="zh-CN" sz="1800" b="1" i="1" baseline="-25000" dirty="0">
                <a:ea typeface="宋体" panose="02010600030101010101" pitchFamily="2" charset="-122"/>
              </a:rPr>
              <a:t>m-r</a:t>
            </a:r>
            <a:r>
              <a:rPr lang="en-US" altLang="zh-CN" sz="1800" b="1" i="1" dirty="0">
                <a:ea typeface="宋体" panose="02010600030101010101" pitchFamily="2" charset="-122"/>
              </a:rPr>
              <a:t>s</a:t>
            </a:r>
            <a:r>
              <a:rPr lang="en-US" altLang="zh-CN" sz="1800" b="1" dirty="0">
                <a:ea typeface="宋体" panose="02010600030101010101" pitchFamily="2" charset="-122"/>
              </a:rPr>
              <a:t>， </a:t>
            </a:r>
            <a:r>
              <a:rPr lang="en-US" altLang="zh-CN" sz="1800" b="1" i="1" dirty="0">
                <a:ea typeface="宋体" panose="02010600030101010101" pitchFamily="2" charset="-122"/>
              </a:rPr>
              <a:t>a</a:t>
            </a:r>
            <a:r>
              <a:rPr lang="en-US" altLang="zh-CN" sz="1800" b="1" i="1" baseline="-25000" dirty="0">
                <a:ea typeface="宋体" panose="02010600030101010101" pitchFamily="2" charset="-122"/>
              </a:rPr>
              <a:t>i</a:t>
            </a:r>
            <a:r>
              <a:rPr lang="en-US" altLang="zh-CN" sz="1800" b="1" i="1" dirty="0">
                <a:ea typeface="宋体" panose="02010600030101010101" pitchFamily="2" charset="-122"/>
              </a:rPr>
              <a:t>a</a:t>
            </a:r>
            <a:r>
              <a:rPr lang="en-US" altLang="zh-CN" sz="1800" b="1" i="1" baseline="-25000" dirty="0">
                <a:ea typeface="宋体" panose="02010600030101010101" pitchFamily="2" charset="-122"/>
              </a:rPr>
              <a:t>i+1</a:t>
            </a:r>
            <a:r>
              <a:rPr lang="en-US" altLang="zh-CN" sz="1800" b="1" i="1" dirty="0">
                <a:ea typeface="宋体" panose="02010600030101010101" pitchFamily="2" charset="-122"/>
              </a:rPr>
              <a:t>…a</a:t>
            </a:r>
            <a:r>
              <a:rPr lang="en-US" altLang="zh-CN" sz="1800" b="1" i="1" baseline="-25000" dirty="0">
                <a:ea typeface="宋体" panose="02010600030101010101" pitchFamily="2" charset="-122"/>
              </a:rPr>
              <a:t>n</a:t>
            </a:r>
            <a:r>
              <a:rPr lang="zh-CN" altLang="en-US" sz="1800" b="1" dirty="0">
                <a:ea typeface="宋体" panose="02010600030101010101" pitchFamily="2" charset="-122"/>
              </a:rPr>
              <a:t>$), 其中：</a:t>
            </a:r>
            <a:r>
              <a:rPr lang="en-US" altLang="zh-CN" sz="1800" b="1" i="1" dirty="0">
                <a:ea typeface="宋体" panose="02010600030101010101" pitchFamily="2" charset="-122"/>
              </a:rPr>
              <a:t>r</a:t>
            </a:r>
            <a:r>
              <a:rPr lang="zh-CN" altLang="en-US" sz="1800" b="1" dirty="0">
                <a:ea typeface="宋体" panose="02010600030101010101" pitchFamily="2" charset="-122"/>
              </a:rPr>
              <a:t>是</a:t>
            </a:r>
            <a:r>
              <a:rPr lang="en-US" altLang="zh-CN" sz="1800" b="1" dirty="0">
                <a:ea typeface="宋体" panose="02010600030101010101" pitchFamily="2" charset="-122"/>
              </a:rPr>
              <a:t>β</a:t>
            </a:r>
            <a:r>
              <a:rPr lang="zh-CN" altLang="en-US" sz="1800" b="1" dirty="0">
                <a:ea typeface="宋体" panose="02010600030101010101" pitchFamily="2" charset="-122"/>
              </a:rPr>
              <a:t>的长度， </a:t>
            </a:r>
            <a:r>
              <a:rPr lang="en-US" altLang="zh-CN" sz="1800" b="1" i="1" dirty="0">
                <a:ea typeface="宋体" panose="02010600030101010101" pitchFamily="2" charset="-122"/>
              </a:rPr>
              <a:t>s</a:t>
            </a:r>
            <a:r>
              <a:rPr lang="en-US" altLang="zh-CN" sz="1800" b="1" dirty="0">
                <a:ea typeface="宋体" panose="02010600030101010101" pitchFamily="2" charset="-122"/>
              </a:rPr>
              <a:t>=</a:t>
            </a:r>
            <a:r>
              <a:rPr lang="en-US" altLang="zh-CN" sz="1800" b="1" i="1" dirty="0">
                <a:ea typeface="宋体" panose="02010600030101010101" pitchFamily="2" charset="-122"/>
              </a:rPr>
              <a:t>GOTO</a:t>
            </a:r>
            <a:r>
              <a:rPr lang="en-US" altLang="zh-CN" sz="1800" b="1" dirty="0">
                <a:ea typeface="宋体" panose="02010600030101010101" pitchFamily="2" charset="-122"/>
              </a:rPr>
              <a:t>[</a:t>
            </a:r>
            <a:r>
              <a:rPr lang="en-US" altLang="zh-CN" sz="1800" b="1" i="1" dirty="0">
                <a:ea typeface="宋体" panose="02010600030101010101" pitchFamily="2" charset="-122"/>
              </a:rPr>
              <a:t>s</a:t>
            </a:r>
            <a:r>
              <a:rPr lang="en-US" altLang="zh-CN" sz="1800" b="1" i="1" baseline="-25000" dirty="0">
                <a:ea typeface="宋体" panose="02010600030101010101" pitchFamily="2" charset="-122"/>
              </a:rPr>
              <a:t>m-r</a:t>
            </a:r>
            <a:r>
              <a:rPr lang="en-US" altLang="zh-CN" sz="1800" b="1" dirty="0">
                <a:ea typeface="宋体" panose="02010600030101010101" pitchFamily="2" charset="-122"/>
              </a:rPr>
              <a:t> , A]</a:t>
            </a:r>
            <a:endParaRPr lang="zh-CN" altLang="en-US" sz="1800" b="1" dirty="0">
              <a:ea typeface="宋体" panose="02010600030101010101" pitchFamily="2" charset="-122"/>
            </a:endParaRPr>
          </a:p>
          <a:p>
            <a:pPr lvl="3">
              <a:buSzTx/>
            </a:pPr>
            <a:r>
              <a:rPr lang="zh-CN" altLang="en-US" sz="1800" b="1" dirty="0">
                <a:ea typeface="宋体" panose="02010600030101010101" pitchFamily="2" charset="-122"/>
              </a:rPr>
              <a:t>完成这个动作时，首先从栈中弹出</a:t>
            </a:r>
            <a:r>
              <a:rPr lang="en-US" altLang="zh-CN" sz="1800" b="1" i="1" dirty="0">
                <a:ea typeface="宋体" panose="02010600030101010101" pitchFamily="2" charset="-122"/>
              </a:rPr>
              <a:t>r</a:t>
            </a:r>
            <a:r>
              <a:rPr lang="zh-CN" altLang="en-US" sz="1800" b="1" dirty="0">
                <a:ea typeface="宋体" panose="02010600030101010101" pitchFamily="2" charset="-122"/>
              </a:rPr>
              <a:t>个符号（包括</a:t>
            </a:r>
            <a:r>
              <a:rPr lang="en-US" altLang="zh-CN" sz="1800" b="1" i="1" dirty="0">
                <a:ea typeface="宋体" panose="02010600030101010101" pitchFamily="2" charset="-122"/>
              </a:rPr>
              <a:t>r</a:t>
            </a:r>
            <a:r>
              <a:rPr lang="zh-CN" altLang="en-US" sz="1800" b="1" dirty="0">
                <a:ea typeface="宋体" panose="02010600030101010101" pitchFamily="2" charset="-122"/>
              </a:rPr>
              <a:t>个状态符号，这些状态符号对应的文法符号刚好匹配产生式右部</a:t>
            </a:r>
            <a:r>
              <a:rPr lang="en-US" altLang="zh-CN" sz="1800" b="1" dirty="0">
                <a:ea typeface="宋体" panose="02010600030101010101" pitchFamily="2" charset="-122"/>
              </a:rPr>
              <a:t>β</a:t>
            </a:r>
            <a:r>
              <a:rPr lang="zh-CN" altLang="en-US" sz="1800" b="1" dirty="0">
                <a:ea typeface="宋体" panose="02010600030101010101" pitchFamily="2" charset="-122"/>
              </a:rPr>
              <a:t> ），然后将</a:t>
            </a:r>
            <a:r>
              <a:rPr lang="en-US" altLang="zh-CN" sz="1800" b="1" i="1" dirty="0">
                <a:ea typeface="宋体" panose="02010600030101010101" pitchFamily="2" charset="-122"/>
              </a:rPr>
              <a:t>GOTO</a:t>
            </a:r>
            <a:r>
              <a:rPr lang="en-US" altLang="zh-CN" sz="1800" b="1" dirty="0">
                <a:ea typeface="宋体" panose="02010600030101010101" pitchFamily="2" charset="-122"/>
              </a:rPr>
              <a:t>[</a:t>
            </a:r>
            <a:r>
              <a:rPr lang="en-US" altLang="zh-CN" sz="1800" b="1" i="1" dirty="0">
                <a:ea typeface="宋体" panose="02010600030101010101" pitchFamily="2" charset="-122"/>
              </a:rPr>
              <a:t>s</a:t>
            </a:r>
            <a:r>
              <a:rPr lang="en-US" altLang="zh-CN" sz="1800" b="1" i="1" baseline="-25000" dirty="0">
                <a:ea typeface="宋体" panose="02010600030101010101" pitchFamily="2" charset="-122"/>
              </a:rPr>
              <a:t>m-r</a:t>
            </a:r>
            <a:r>
              <a:rPr lang="en-US" altLang="zh-CN" sz="1800" b="1" dirty="0">
                <a:ea typeface="宋体" panose="02010600030101010101" pitchFamily="2" charset="-122"/>
              </a:rPr>
              <a:t> , A]</a:t>
            </a:r>
            <a:r>
              <a:rPr lang="zh-CN" altLang="en-US" sz="1800" b="1" dirty="0">
                <a:ea typeface="宋体" panose="02010600030101010101" pitchFamily="2" charset="-122"/>
              </a:rPr>
              <a:t>的状态</a:t>
            </a:r>
            <a:r>
              <a:rPr lang="en-US" altLang="zh-CN" sz="1800" b="1" dirty="0">
                <a:ea typeface="宋体" panose="02010600030101010101" pitchFamily="2" charset="-122"/>
              </a:rPr>
              <a:t>s</a:t>
            </a:r>
            <a:r>
              <a:rPr lang="zh-CN" altLang="en-US" sz="1800" b="1" dirty="0">
                <a:ea typeface="宋体" panose="02010600030101010101" pitchFamily="2" charset="-122"/>
              </a:rPr>
              <a:t>压入栈</a:t>
            </a:r>
            <a:endParaRPr lang="zh-CN" altLang="en-US" sz="1800" b="1" dirty="0">
              <a:ea typeface="宋体" panose="02010600030101010101" pitchFamily="2" charset="-122"/>
            </a:endParaRPr>
          </a:p>
          <a:p>
            <a:pPr lvl="3">
              <a:buSzTx/>
            </a:pPr>
            <a:r>
              <a:rPr lang="zh-CN" altLang="en-US" sz="1800" b="1" dirty="0">
                <a:ea typeface="宋体" panose="02010600030101010101" pitchFamily="2" charset="-122"/>
              </a:rPr>
              <a:t>在归约动作时执行与归约产生式相关的语义动作，如打印归约的产生式等</a:t>
            </a:r>
            <a:endParaRPr lang="zh-CN" altLang="en-US" sz="1800" b="1" dirty="0">
              <a:ea typeface="宋体" panose="02010600030101010101" pitchFamily="2" charset="-122"/>
            </a:endParaRPr>
          </a:p>
          <a:p>
            <a:pPr marL="1333500" lvl="2" indent="-419100">
              <a:buSzTx/>
              <a:buFontTx/>
              <a:buAutoNum type="arabicParenR" startAt="3"/>
            </a:pPr>
            <a:r>
              <a:rPr lang="zh-CN" altLang="en-US" sz="2000" b="1" dirty="0">
                <a:ea typeface="宋体" panose="02010600030101010101" pitchFamily="2" charset="-122"/>
              </a:rPr>
              <a:t>接受：</a:t>
            </a:r>
            <a:endParaRPr lang="zh-CN" altLang="en-US" sz="2000" b="1" dirty="0">
              <a:ea typeface="宋体" panose="02010600030101010101" pitchFamily="2" charset="-122"/>
            </a:endParaRPr>
          </a:p>
          <a:p>
            <a:pPr marL="1333500" lvl="2" indent="-419100">
              <a:buSzTx/>
              <a:buNone/>
            </a:pPr>
            <a:r>
              <a:rPr lang="zh-CN" altLang="en-US" sz="2000" b="1" dirty="0">
                <a:ea typeface="宋体" panose="02010600030101010101" pitchFamily="2" charset="-122"/>
              </a:rPr>
              <a:t>	如果</a:t>
            </a:r>
            <a:r>
              <a:rPr lang="en-US" altLang="zh-CN" sz="2000" b="1" dirty="0">
                <a:ea typeface="宋体" panose="02010600030101010101" pitchFamily="2" charset="-122"/>
              </a:rPr>
              <a:t>ACTION[</a:t>
            </a:r>
            <a:r>
              <a:rPr lang="en-US" altLang="zh-CN" sz="2000" b="1" i="1" dirty="0">
                <a:ea typeface="宋体" panose="02010600030101010101" pitchFamily="2" charset="-122"/>
              </a:rPr>
              <a:t>s</a:t>
            </a:r>
            <a:r>
              <a:rPr lang="en-US" altLang="zh-CN" sz="2000" b="1" i="1" baseline="-25000" dirty="0">
                <a:ea typeface="宋体" panose="02010600030101010101" pitchFamily="2" charset="-122"/>
              </a:rPr>
              <a:t>m</a:t>
            </a:r>
            <a:r>
              <a:rPr lang="en-US" altLang="zh-CN" sz="2000" b="1" dirty="0">
                <a:ea typeface="宋体" panose="02010600030101010101" pitchFamily="2" charset="-122"/>
              </a:rPr>
              <a:t> , </a:t>
            </a:r>
            <a:r>
              <a:rPr lang="en-US" altLang="zh-CN" sz="2000" b="1" i="1" dirty="0">
                <a:ea typeface="宋体" panose="02010600030101010101" pitchFamily="2" charset="-122"/>
              </a:rPr>
              <a:t>a</a:t>
            </a:r>
            <a:r>
              <a:rPr lang="en-US" altLang="zh-CN" sz="2000" b="1" i="1" baseline="-25000" dirty="0">
                <a:ea typeface="宋体" panose="02010600030101010101" pitchFamily="2" charset="-122"/>
              </a:rPr>
              <a:t>i</a:t>
            </a:r>
            <a:r>
              <a:rPr lang="en-US" altLang="zh-CN" sz="2000" b="1" dirty="0">
                <a:ea typeface="宋体" panose="02010600030101010101" pitchFamily="2" charset="-122"/>
              </a:rPr>
              <a:t>]</a:t>
            </a:r>
            <a:r>
              <a:rPr lang="zh-CN" altLang="en-US" sz="2000" b="1" dirty="0">
                <a:ea typeface="宋体" panose="02010600030101010101" pitchFamily="2" charset="-122"/>
              </a:rPr>
              <a:t>=接受，分析完成</a:t>
            </a:r>
            <a:endParaRPr lang="zh-CN" altLang="en-US" sz="2000" b="1" dirty="0">
              <a:ea typeface="宋体" panose="02010600030101010101" pitchFamily="2" charset="-122"/>
            </a:endParaRPr>
          </a:p>
          <a:p>
            <a:pPr marL="1333500" lvl="2" indent="-419100">
              <a:buSzTx/>
              <a:buFontTx/>
              <a:buAutoNum type="arabicParenR" startAt="4"/>
            </a:pPr>
            <a:r>
              <a:rPr lang="zh-CN" altLang="en-US" sz="2000" b="1" dirty="0">
                <a:ea typeface="宋体" panose="02010600030101010101" pitchFamily="2" charset="-122"/>
              </a:rPr>
              <a:t>报错：</a:t>
            </a:r>
            <a:endParaRPr lang="zh-CN" altLang="en-US" sz="2000" b="1" dirty="0">
              <a:ea typeface="宋体" panose="02010600030101010101" pitchFamily="2" charset="-122"/>
            </a:endParaRPr>
          </a:p>
          <a:p>
            <a:pPr marL="1333500" lvl="2" indent="-419100">
              <a:buSzTx/>
              <a:buNone/>
            </a:pPr>
            <a:r>
              <a:rPr lang="zh-CN" altLang="en-US" sz="2000" b="1" dirty="0">
                <a:ea typeface="宋体" panose="02010600030101010101" pitchFamily="2" charset="-122"/>
              </a:rPr>
              <a:t>	如果</a:t>
            </a:r>
            <a:r>
              <a:rPr lang="en-US" altLang="zh-CN" sz="2000" b="1" dirty="0">
                <a:ea typeface="宋体" panose="02010600030101010101" pitchFamily="2" charset="-122"/>
              </a:rPr>
              <a:t>ACTION[</a:t>
            </a:r>
            <a:r>
              <a:rPr lang="en-US" altLang="zh-CN" sz="2000" b="1" i="1" dirty="0">
                <a:ea typeface="宋体" panose="02010600030101010101" pitchFamily="2" charset="-122"/>
              </a:rPr>
              <a:t>s</a:t>
            </a:r>
            <a:r>
              <a:rPr lang="en-US" altLang="zh-CN" sz="2000" b="1" i="1" baseline="-25000" dirty="0">
                <a:ea typeface="宋体" panose="02010600030101010101" pitchFamily="2" charset="-122"/>
              </a:rPr>
              <a:t>m</a:t>
            </a:r>
            <a:r>
              <a:rPr lang="en-US" altLang="zh-CN" sz="2000" b="1" dirty="0">
                <a:ea typeface="宋体" panose="02010600030101010101" pitchFamily="2" charset="-122"/>
              </a:rPr>
              <a:t> , </a:t>
            </a:r>
            <a:r>
              <a:rPr lang="en-US" altLang="zh-CN" sz="2000" b="1" i="1" dirty="0">
                <a:ea typeface="宋体" panose="02010600030101010101" pitchFamily="2" charset="-122"/>
              </a:rPr>
              <a:t>a</a:t>
            </a:r>
            <a:r>
              <a:rPr lang="en-US" altLang="zh-CN" sz="2000" b="1" i="1" baseline="-25000" dirty="0">
                <a:ea typeface="宋体" panose="02010600030101010101" pitchFamily="2" charset="-122"/>
              </a:rPr>
              <a:t>i</a:t>
            </a:r>
            <a:r>
              <a:rPr lang="en-US" altLang="zh-CN" sz="2000" b="1" dirty="0">
                <a:ea typeface="宋体" panose="02010600030101010101" pitchFamily="2" charset="-122"/>
              </a:rPr>
              <a:t>]=</a:t>
            </a:r>
            <a:r>
              <a:rPr lang="zh-CN" altLang="en-US" sz="2000" b="1" dirty="0">
                <a:ea typeface="宋体" panose="02010600030101010101" pitchFamily="2" charset="-122"/>
              </a:rPr>
              <a:t>报错，分析器发现错误，调用错误恢复例程</a:t>
            </a:r>
            <a:endParaRPr lang="zh-CN" altLang="en-US" sz="2000" b="1" dirty="0">
              <a:ea typeface="宋体" panose="02010600030101010101" pitchFamily="2" charset="-122"/>
            </a:endParaRPr>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4"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（20）</a:t>
            </a:r>
            <a:endParaRPr lang="en-US" altLang="zh-CN" dirty="0">
              <a:latin typeface="Times New Roman" panose="02020603050405020304" pitchFamily="18" charset="0"/>
              <a:ea typeface="宋体" panose="02010600030101010101" pitchFamily="2" charset="-122"/>
            </a:endParaRPr>
          </a:p>
        </p:txBody>
      </p:sp>
      <p:sp>
        <p:nvSpPr>
          <p:cNvPr id="223235" name="Rectangle 3"/>
          <p:cNvSpPr>
            <a:spLocks noGrp="1"/>
          </p:cNvSpPr>
          <p:nvPr>
            <p:ph idx="1"/>
          </p:nvPr>
        </p:nvSpPr>
        <p:spPr>
          <a:xfrm>
            <a:off x="1063625" y="1433513"/>
            <a:ext cx="7391400" cy="4953000"/>
          </a:xfrm>
        </p:spPr>
        <p:txBody>
          <a:bodyPr vert="horz" wrap="square" lIns="92075" tIns="46038" rIns="92075" bIns="46038" anchor="t" anchorCtr="0"/>
          <a:p>
            <a:pPr>
              <a:lnSpc>
                <a:spcPct val="90000"/>
              </a:lnSpc>
              <a:spcBef>
                <a:spcPct val="0"/>
              </a:spcBef>
              <a:spcAft>
                <a:spcPct val="20000"/>
              </a:spcAft>
              <a:buNone/>
            </a:pPr>
            <a:r>
              <a:rPr lang="en-US" altLang="zh-CN" sz="2200" b="1" dirty="0">
                <a:ea typeface="宋体" panose="02010600030101010101" pitchFamily="2" charset="-122"/>
              </a:rPr>
              <a:t>LR</a:t>
            </a:r>
            <a:r>
              <a:rPr lang="zh-CN" altLang="en-US" sz="2200" b="1" dirty="0">
                <a:ea typeface="宋体" panose="02010600030101010101" pitchFamily="2" charset="-122"/>
              </a:rPr>
              <a:t>分析算法</a:t>
            </a:r>
            <a:endParaRPr lang="zh-CN" altLang="en-US" sz="2200" b="1" dirty="0">
              <a:ea typeface="宋体" panose="02010600030101010101" pitchFamily="2" charset="-122"/>
            </a:endParaRPr>
          </a:p>
          <a:p>
            <a:pPr>
              <a:lnSpc>
                <a:spcPct val="90000"/>
              </a:lnSpc>
              <a:spcBef>
                <a:spcPct val="0"/>
              </a:spcBef>
              <a:buNone/>
            </a:pPr>
            <a:r>
              <a:rPr lang="zh-CN" altLang="en-US" sz="1800" b="1" dirty="0">
                <a:ea typeface="宋体" panose="02010600030101010101" pitchFamily="2" charset="-122"/>
              </a:rPr>
              <a:t>输入：</a:t>
            </a:r>
            <a:r>
              <a:rPr lang="en-US" altLang="zh-CN" sz="1800" b="1" dirty="0">
                <a:ea typeface="宋体" panose="02010600030101010101" pitchFamily="2" charset="-122"/>
              </a:rPr>
              <a:t>LR</a:t>
            </a:r>
            <a:r>
              <a:rPr lang="zh-CN" altLang="en-US" sz="1800" b="1" dirty="0">
                <a:ea typeface="宋体" panose="02010600030101010101" pitchFamily="2" charset="-122"/>
              </a:rPr>
              <a:t>分析表和输入串</a:t>
            </a:r>
            <a:r>
              <a:rPr lang="en-US" altLang="zh-CN" sz="1800" b="1" dirty="0">
                <a:ea typeface="宋体" panose="02010600030101010101" pitchFamily="2" charset="-122"/>
              </a:rPr>
              <a:t>ω</a:t>
            </a:r>
            <a:endParaRPr lang="en-US" altLang="zh-CN" sz="1800" b="1" dirty="0">
              <a:ea typeface="宋体" panose="02010600030101010101" pitchFamily="2" charset="-122"/>
            </a:endParaRPr>
          </a:p>
          <a:p>
            <a:pPr>
              <a:lnSpc>
                <a:spcPct val="90000"/>
              </a:lnSpc>
              <a:spcBef>
                <a:spcPct val="0"/>
              </a:spcBef>
              <a:buNone/>
            </a:pPr>
            <a:r>
              <a:rPr lang="zh-CN" altLang="en-US" sz="1800" b="1" dirty="0">
                <a:ea typeface="宋体" panose="02010600030101010101" pitchFamily="2" charset="-122"/>
              </a:rPr>
              <a:t>输出：若</a:t>
            </a:r>
            <a:r>
              <a:rPr lang="en-US" altLang="zh-CN" sz="1800" b="1" dirty="0">
                <a:ea typeface="宋体" panose="02010600030101010101" pitchFamily="2" charset="-122"/>
              </a:rPr>
              <a:t>ω</a:t>
            </a:r>
            <a:r>
              <a:rPr lang="zh-CN" altLang="en-US" sz="1800" b="1" dirty="0">
                <a:ea typeface="宋体" panose="02010600030101010101" pitchFamily="2" charset="-122"/>
              </a:rPr>
              <a:t>是句子，得到</a:t>
            </a:r>
            <a:r>
              <a:rPr lang="en-US" altLang="zh-CN" sz="1800" b="1" dirty="0">
                <a:ea typeface="宋体" panose="02010600030101010101" pitchFamily="2" charset="-122"/>
              </a:rPr>
              <a:t>ω</a:t>
            </a:r>
            <a:r>
              <a:rPr lang="zh-CN" altLang="en-US" sz="1800" b="1" dirty="0">
                <a:ea typeface="宋体" panose="02010600030101010101" pitchFamily="2" charset="-122"/>
              </a:rPr>
              <a:t>的自下而上分析，否则报错</a:t>
            </a:r>
            <a:endParaRPr lang="zh-CN" altLang="en-US" sz="1800" b="1" dirty="0">
              <a:ea typeface="宋体" panose="02010600030101010101" pitchFamily="2" charset="-122"/>
            </a:endParaRPr>
          </a:p>
          <a:p>
            <a:pPr>
              <a:lnSpc>
                <a:spcPct val="90000"/>
              </a:lnSpc>
              <a:spcBef>
                <a:spcPct val="0"/>
              </a:spcBef>
              <a:buNone/>
            </a:pPr>
            <a:r>
              <a:rPr lang="zh-CN" altLang="en-US" sz="1800" b="1" dirty="0">
                <a:ea typeface="宋体" panose="02010600030101010101" pitchFamily="2" charset="-122"/>
              </a:rPr>
              <a:t>方法：</a:t>
            </a:r>
            <a:endParaRPr lang="zh-CN" altLang="en-US" sz="1800" b="1" dirty="0">
              <a:ea typeface="宋体" panose="02010600030101010101" pitchFamily="2" charset="-122"/>
            </a:endParaRPr>
          </a:p>
          <a:p>
            <a:pPr>
              <a:lnSpc>
                <a:spcPct val="90000"/>
              </a:lnSpc>
              <a:spcBef>
                <a:spcPct val="0"/>
              </a:spcBef>
              <a:buNone/>
            </a:pPr>
            <a:r>
              <a:rPr lang="zh-CN" altLang="en-US" sz="1800" b="1" dirty="0">
                <a:ea typeface="宋体" panose="02010600030101010101" pitchFamily="2" charset="-122"/>
              </a:rPr>
              <a:t>	将初始状态</a:t>
            </a:r>
            <a:r>
              <a:rPr lang="en-US" altLang="zh-CN" sz="1800" b="1" i="1" dirty="0">
                <a:ea typeface="宋体" panose="02010600030101010101" pitchFamily="2" charset="-122"/>
              </a:rPr>
              <a:t>s</a:t>
            </a:r>
            <a:r>
              <a:rPr lang="en-US" altLang="zh-CN" sz="1800" b="1" i="1" baseline="-25000" dirty="0">
                <a:ea typeface="宋体" panose="02010600030101010101" pitchFamily="2" charset="-122"/>
              </a:rPr>
              <a:t>0</a:t>
            </a:r>
            <a:r>
              <a:rPr lang="zh-CN" altLang="en-US" sz="1800" b="1" dirty="0">
                <a:ea typeface="宋体" panose="02010600030101010101" pitchFamily="2" charset="-122"/>
              </a:rPr>
              <a:t>在分析器的栈顶，</a:t>
            </a:r>
            <a:r>
              <a:rPr lang="en-US" altLang="zh-CN" sz="1800" b="1" dirty="0">
                <a:ea typeface="宋体" panose="02010600030101010101" pitchFamily="2" charset="-122"/>
              </a:rPr>
              <a:t>ω$</a:t>
            </a:r>
            <a:r>
              <a:rPr lang="zh-CN" altLang="en-US" sz="1800" b="1" dirty="0">
                <a:ea typeface="宋体" panose="02010600030101010101" pitchFamily="2" charset="-122"/>
              </a:rPr>
              <a:t>在输入缓冲区</a:t>
            </a:r>
            <a:endParaRPr lang="zh-CN" altLang="en-US" sz="1800" b="1" dirty="0">
              <a:ea typeface="宋体" panose="02010600030101010101" pitchFamily="2" charset="-122"/>
            </a:endParaRPr>
          </a:p>
          <a:p>
            <a:pPr>
              <a:lnSpc>
                <a:spcPct val="90000"/>
              </a:lnSpc>
              <a:spcBef>
                <a:spcPct val="0"/>
              </a:spcBef>
              <a:buNone/>
            </a:pPr>
            <a:r>
              <a:rPr lang="zh-CN" altLang="en-US" sz="1800" b="1" dirty="0">
                <a:ea typeface="宋体" panose="02010600030101010101" pitchFamily="2" charset="-122"/>
              </a:rPr>
              <a:t>	让</a:t>
            </a:r>
            <a:r>
              <a:rPr lang="en-US" altLang="zh-CN" sz="1800" b="1" i="1" dirty="0">
                <a:ea typeface="宋体" panose="02010600030101010101" pitchFamily="2" charset="-122"/>
              </a:rPr>
              <a:t>ip</a:t>
            </a:r>
            <a:r>
              <a:rPr lang="zh-CN" altLang="en-US" sz="1800" b="1" dirty="0">
                <a:ea typeface="宋体" panose="02010600030101010101" pitchFamily="2" charset="-122"/>
              </a:rPr>
              <a:t>指向</a:t>
            </a:r>
            <a:r>
              <a:rPr lang="en-US" altLang="zh-CN" sz="1800" b="1" dirty="0">
                <a:ea typeface="宋体" panose="02010600030101010101" pitchFamily="2" charset="-122"/>
              </a:rPr>
              <a:t>ω$</a:t>
            </a:r>
            <a:r>
              <a:rPr lang="zh-CN" altLang="en-US" sz="1800" b="1" dirty="0">
                <a:ea typeface="宋体" panose="02010600030101010101" pitchFamily="2" charset="-122"/>
              </a:rPr>
              <a:t>的第一个符号</a:t>
            </a:r>
            <a:endParaRPr lang="zh-CN" altLang="en-US" sz="1800" b="1" dirty="0">
              <a:ea typeface="宋体" panose="02010600030101010101" pitchFamily="2" charset="-122"/>
            </a:endParaRPr>
          </a:p>
          <a:p>
            <a:pPr>
              <a:lnSpc>
                <a:spcPct val="90000"/>
              </a:lnSpc>
              <a:spcBef>
                <a:spcPct val="0"/>
              </a:spcBef>
              <a:buNone/>
            </a:pPr>
            <a:r>
              <a:rPr lang="zh-CN" altLang="en-US" sz="1800" b="1" dirty="0">
                <a:ea typeface="宋体" panose="02010600030101010101" pitchFamily="2" charset="-122"/>
              </a:rPr>
              <a:t>	</a:t>
            </a:r>
            <a:r>
              <a:rPr lang="en-US" altLang="zh-CN" sz="1800" b="1" dirty="0">
                <a:ea typeface="宋体" panose="02010600030101010101" pitchFamily="2" charset="-122"/>
              </a:rPr>
              <a:t>while</a:t>
            </a:r>
            <a:r>
              <a:rPr lang="zh-CN" altLang="en-US" sz="1800" b="1" dirty="0">
                <a:ea typeface="宋体" panose="02010600030101010101" pitchFamily="2" charset="-122"/>
              </a:rPr>
              <a:t> （</a:t>
            </a:r>
            <a:r>
              <a:rPr lang="en-US" altLang="zh-CN" sz="1800" b="1" dirty="0">
                <a:ea typeface="宋体" panose="02010600030101010101" pitchFamily="2" charset="-122"/>
              </a:rPr>
              <a:t>1</a:t>
            </a:r>
            <a:r>
              <a:rPr lang="zh-CN" altLang="en-US" sz="1800" b="1" dirty="0">
                <a:ea typeface="宋体" panose="02010600030101010101" pitchFamily="2" charset="-122"/>
              </a:rPr>
              <a:t>）</a:t>
            </a:r>
            <a:r>
              <a:rPr lang="en-US" altLang="zh-CN" sz="1800" b="1" dirty="0">
                <a:ea typeface="宋体" panose="02010600030101010101" pitchFamily="2" charset="-122"/>
              </a:rPr>
              <a:t>{</a:t>
            </a:r>
            <a:endParaRPr lang="en-US" altLang="zh-CN" sz="1800" b="1" dirty="0">
              <a:ea typeface="宋体" panose="02010600030101010101" pitchFamily="2" charset="-122"/>
            </a:endParaRPr>
          </a:p>
          <a:p>
            <a:pPr>
              <a:lnSpc>
                <a:spcPct val="90000"/>
              </a:lnSpc>
              <a:spcBef>
                <a:spcPct val="0"/>
              </a:spcBef>
              <a:buNone/>
            </a:pPr>
            <a:r>
              <a:rPr lang="en-US" altLang="zh-CN" sz="1800" b="1" dirty="0">
                <a:ea typeface="宋体" panose="02010600030101010101" pitchFamily="2" charset="-122"/>
              </a:rPr>
              <a:t>		</a:t>
            </a:r>
            <a:r>
              <a:rPr lang="zh-CN" altLang="en-US" sz="1800" b="1" dirty="0">
                <a:ea typeface="宋体" panose="02010600030101010101" pitchFamily="2" charset="-122"/>
              </a:rPr>
              <a:t>令</a:t>
            </a:r>
            <a:r>
              <a:rPr lang="en-US" altLang="zh-CN" sz="1800" b="1" i="1" dirty="0">
                <a:ea typeface="宋体" panose="02010600030101010101" pitchFamily="2" charset="-122"/>
              </a:rPr>
              <a:t>s</a:t>
            </a:r>
            <a:r>
              <a:rPr lang="zh-CN" altLang="en-US" sz="1800" b="1" dirty="0">
                <a:ea typeface="宋体" panose="02010600030101010101" pitchFamily="2" charset="-122"/>
              </a:rPr>
              <a:t>是栈顶的状态，</a:t>
            </a:r>
            <a:r>
              <a:rPr lang="en-US" altLang="zh-CN" sz="1800" b="1" i="1" dirty="0">
                <a:ea typeface="宋体" panose="02010600030101010101" pitchFamily="2" charset="-122"/>
              </a:rPr>
              <a:t>a</a:t>
            </a:r>
            <a:r>
              <a:rPr lang="zh-CN" altLang="en-US" sz="1800" b="1" dirty="0">
                <a:ea typeface="宋体" panose="02010600030101010101" pitchFamily="2" charset="-122"/>
              </a:rPr>
              <a:t>是</a:t>
            </a:r>
            <a:r>
              <a:rPr lang="en-US" altLang="zh-CN" sz="1800" b="1" i="1" dirty="0">
                <a:ea typeface="宋体" panose="02010600030101010101" pitchFamily="2" charset="-122"/>
              </a:rPr>
              <a:t>ip</a:t>
            </a:r>
            <a:r>
              <a:rPr lang="zh-CN" altLang="en-US" sz="1800" b="1" dirty="0">
                <a:ea typeface="宋体" panose="02010600030101010101" pitchFamily="2" charset="-122"/>
              </a:rPr>
              <a:t>指向的符号</a:t>
            </a:r>
            <a:endParaRPr lang="zh-CN" altLang="en-US" sz="1800" b="1" dirty="0">
              <a:ea typeface="宋体" panose="02010600030101010101" pitchFamily="2" charset="-122"/>
            </a:endParaRPr>
          </a:p>
          <a:p>
            <a:pPr>
              <a:lnSpc>
                <a:spcPct val="90000"/>
              </a:lnSpc>
              <a:spcBef>
                <a:spcPct val="0"/>
              </a:spcBef>
              <a:buNone/>
            </a:pPr>
            <a:r>
              <a:rPr lang="en-US" altLang="zh-CN" sz="1800" b="1" dirty="0">
                <a:ea typeface="宋体" panose="02010600030101010101" pitchFamily="2" charset="-122"/>
              </a:rPr>
              <a:t>		if  </a:t>
            </a:r>
            <a:r>
              <a:rPr lang="en-US" altLang="zh-CN" sz="1800" b="1" i="1" dirty="0">
                <a:ea typeface="宋体" panose="02010600030101010101" pitchFamily="2" charset="-122"/>
              </a:rPr>
              <a:t>ACTION</a:t>
            </a:r>
            <a:r>
              <a:rPr lang="en-US" altLang="zh-CN" sz="1800" b="1" dirty="0">
                <a:ea typeface="宋体" panose="02010600030101010101" pitchFamily="2" charset="-122"/>
              </a:rPr>
              <a:t>[</a:t>
            </a:r>
            <a:r>
              <a:rPr lang="en-US" altLang="zh-CN" sz="1800" b="1" i="1" dirty="0">
                <a:ea typeface="宋体" panose="02010600030101010101" pitchFamily="2" charset="-122"/>
              </a:rPr>
              <a:t>s</a:t>
            </a:r>
            <a:r>
              <a:rPr lang="en-US" altLang="zh-CN" sz="1800" b="1" dirty="0">
                <a:ea typeface="宋体" panose="02010600030101010101" pitchFamily="2" charset="-122"/>
              </a:rPr>
              <a:t> , </a:t>
            </a:r>
            <a:r>
              <a:rPr lang="en-US" altLang="zh-CN" sz="1800" b="1" i="1" dirty="0">
                <a:ea typeface="宋体" panose="02010600030101010101" pitchFamily="2" charset="-122"/>
              </a:rPr>
              <a:t>a</a:t>
            </a:r>
            <a:r>
              <a:rPr lang="en-US" altLang="zh-CN" sz="1800" b="1" dirty="0">
                <a:ea typeface="宋体" panose="02010600030101010101" pitchFamily="2" charset="-122"/>
              </a:rPr>
              <a:t>] = </a:t>
            </a:r>
            <a:r>
              <a:rPr lang="zh-CN" altLang="en-US" sz="1800" b="1" dirty="0">
                <a:ea typeface="宋体" panose="02010600030101010101" pitchFamily="2" charset="-122"/>
              </a:rPr>
              <a:t>移进</a:t>
            </a:r>
            <a:r>
              <a:rPr lang="en-US" altLang="zh-CN" sz="1800" b="1" i="1" dirty="0">
                <a:ea typeface="宋体" panose="02010600030101010101" pitchFamily="2" charset="-122"/>
              </a:rPr>
              <a:t>t</a:t>
            </a:r>
            <a:r>
              <a:rPr lang="en-US" altLang="zh-CN" sz="1800" b="1" dirty="0">
                <a:ea typeface="宋体" panose="02010600030101010101" pitchFamily="2" charset="-122"/>
              </a:rPr>
              <a:t> then begin</a:t>
            </a:r>
            <a:endParaRPr lang="en-US" altLang="zh-CN" sz="1800" b="1" dirty="0">
              <a:ea typeface="宋体" panose="02010600030101010101" pitchFamily="2" charset="-122"/>
            </a:endParaRPr>
          </a:p>
          <a:p>
            <a:pPr>
              <a:lnSpc>
                <a:spcPct val="90000"/>
              </a:lnSpc>
              <a:spcBef>
                <a:spcPct val="0"/>
              </a:spcBef>
              <a:buNone/>
            </a:pPr>
            <a:r>
              <a:rPr lang="en-US" altLang="zh-CN" sz="1800" b="1" dirty="0">
                <a:ea typeface="宋体" panose="02010600030101010101" pitchFamily="2" charset="-122"/>
              </a:rPr>
              <a:t>			</a:t>
            </a:r>
            <a:r>
              <a:rPr lang="zh-CN" altLang="en-US" sz="1800" b="1" dirty="0">
                <a:ea typeface="宋体" panose="02010600030101010101" pitchFamily="2" charset="-122"/>
              </a:rPr>
              <a:t>把</a:t>
            </a:r>
            <a:r>
              <a:rPr lang="en-US" altLang="zh-CN" sz="1800" b="1" i="1" dirty="0">
                <a:ea typeface="宋体" panose="02010600030101010101" pitchFamily="2" charset="-122"/>
              </a:rPr>
              <a:t>t</a:t>
            </a:r>
            <a:r>
              <a:rPr lang="zh-CN" altLang="en-US" sz="1800" b="1" dirty="0">
                <a:ea typeface="宋体" panose="02010600030101010101" pitchFamily="2" charset="-122"/>
              </a:rPr>
              <a:t>依次压入栈</a:t>
            </a:r>
            <a:endParaRPr lang="zh-CN" altLang="en-US" sz="1800" b="1" dirty="0">
              <a:ea typeface="宋体" panose="02010600030101010101" pitchFamily="2" charset="-122"/>
            </a:endParaRPr>
          </a:p>
          <a:p>
            <a:pPr>
              <a:lnSpc>
                <a:spcPct val="90000"/>
              </a:lnSpc>
              <a:spcBef>
                <a:spcPct val="0"/>
              </a:spcBef>
              <a:buNone/>
            </a:pPr>
            <a:r>
              <a:rPr lang="zh-CN" altLang="en-US" sz="1800" b="1" dirty="0">
                <a:ea typeface="宋体" panose="02010600030101010101" pitchFamily="2" charset="-122"/>
              </a:rPr>
              <a:t>			推进</a:t>
            </a:r>
            <a:r>
              <a:rPr lang="en-US" altLang="zh-CN" sz="1800" b="1" i="1" dirty="0">
                <a:ea typeface="宋体" panose="02010600030101010101" pitchFamily="2" charset="-122"/>
              </a:rPr>
              <a:t>ip</a:t>
            </a:r>
            <a:r>
              <a:rPr lang="zh-CN" altLang="en-US" sz="1800" b="1" dirty="0">
                <a:ea typeface="宋体" panose="02010600030101010101" pitchFamily="2" charset="-122"/>
              </a:rPr>
              <a:t>指向下一个输入符号</a:t>
            </a:r>
            <a:endParaRPr lang="zh-CN" altLang="en-US" sz="1800" b="1" dirty="0">
              <a:ea typeface="宋体" panose="02010600030101010101" pitchFamily="2" charset="-122"/>
            </a:endParaRPr>
          </a:p>
          <a:p>
            <a:pPr>
              <a:lnSpc>
                <a:spcPct val="90000"/>
              </a:lnSpc>
              <a:spcBef>
                <a:spcPct val="0"/>
              </a:spcBef>
              <a:buNone/>
            </a:pPr>
            <a:r>
              <a:rPr lang="zh-CN" altLang="en-US" sz="1800" b="1" dirty="0">
                <a:ea typeface="宋体" panose="02010600030101010101" pitchFamily="2" charset="-122"/>
              </a:rPr>
              <a:t>		</a:t>
            </a:r>
            <a:r>
              <a:rPr lang="en-US" altLang="zh-CN" sz="1800" b="1" dirty="0">
                <a:ea typeface="宋体" panose="02010600030101010101" pitchFamily="2" charset="-122"/>
              </a:rPr>
              <a:t>end</a:t>
            </a:r>
            <a:endParaRPr lang="en-US" altLang="zh-CN" sz="1800" b="1" dirty="0">
              <a:ea typeface="宋体" panose="02010600030101010101" pitchFamily="2" charset="-122"/>
            </a:endParaRPr>
          </a:p>
          <a:p>
            <a:pPr>
              <a:lnSpc>
                <a:spcPct val="90000"/>
              </a:lnSpc>
              <a:spcBef>
                <a:spcPct val="0"/>
              </a:spcBef>
              <a:buNone/>
            </a:pPr>
            <a:r>
              <a:rPr lang="en-US" altLang="zh-CN" sz="1800" b="1" dirty="0">
                <a:ea typeface="宋体" panose="02010600030101010101" pitchFamily="2" charset="-122"/>
              </a:rPr>
              <a:t>		else if  </a:t>
            </a:r>
            <a:r>
              <a:rPr lang="en-US" altLang="zh-CN" sz="1800" b="1" i="1" dirty="0">
                <a:ea typeface="宋体" panose="02010600030101010101" pitchFamily="2" charset="-122"/>
              </a:rPr>
              <a:t>ACTION</a:t>
            </a:r>
            <a:r>
              <a:rPr lang="en-US" altLang="zh-CN" sz="1800" b="1" dirty="0">
                <a:ea typeface="宋体" panose="02010600030101010101" pitchFamily="2" charset="-122"/>
              </a:rPr>
              <a:t>[</a:t>
            </a:r>
            <a:r>
              <a:rPr lang="en-US" altLang="zh-CN" sz="1800" b="1" i="1" dirty="0">
                <a:ea typeface="宋体" panose="02010600030101010101" pitchFamily="2" charset="-122"/>
              </a:rPr>
              <a:t>s</a:t>
            </a:r>
            <a:r>
              <a:rPr lang="en-US" altLang="zh-CN" sz="1800" b="1" dirty="0">
                <a:ea typeface="宋体" panose="02010600030101010101" pitchFamily="2" charset="-122"/>
              </a:rPr>
              <a:t> , </a:t>
            </a:r>
            <a:r>
              <a:rPr lang="en-US" altLang="zh-CN" sz="1800" b="1" i="1" dirty="0">
                <a:ea typeface="宋体" panose="02010600030101010101" pitchFamily="2" charset="-122"/>
              </a:rPr>
              <a:t>a</a:t>
            </a:r>
            <a:r>
              <a:rPr lang="en-US" altLang="zh-CN" sz="1800" b="1" dirty="0">
                <a:ea typeface="宋体" panose="02010600030101010101" pitchFamily="2" charset="-122"/>
              </a:rPr>
              <a:t>]=</a:t>
            </a:r>
            <a:r>
              <a:rPr lang="zh-CN" altLang="en-US" sz="1800" b="1" dirty="0">
                <a:ea typeface="宋体" panose="02010600030101010101" pitchFamily="2" charset="-122"/>
              </a:rPr>
              <a:t>归约</a:t>
            </a:r>
            <a:r>
              <a:rPr lang="en-US" altLang="zh-CN" sz="1800" b="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β then begin</a:t>
            </a:r>
            <a:endParaRPr lang="en-US" altLang="zh-CN" sz="1800" b="1" dirty="0">
              <a:ea typeface="宋体" panose="02010600030101010101" pitchFamily="2" charset="-122"/>
            </a:endParaRPr>
          </a:p>
          <a:p>
            <a:pPr>
              <a:lnSpc>
                <a:spcPct val="90000"/>
              </a:lnSpc>
              <a:spcBef>
                <a:spcPct val="0"/>
              </a:spcBef>
              <a:buNone/>
            </a:pPr>
            <a:r>
              <a:rPr lang="en-US" altLang="zh-CN" sz="1800" b="1" dirty="0">
                <a:ea typeface="宋体" panose="02010600030101010101" pitchFamily="2" charset="-122"/>
              </a:rPr>
              <a:t>			</a:t>
            </a:r>
            <a:r>
              <a:rPr lang="zh-CN" altLang="en-US" sz="1800" b="1" dirty="0">
                <a:ea typeface="宋体" panose="02010600030101010101" pitchFamily="2" charset="-122"/>
              </a:rPr>
              <a:t>栈顶弹出|</a:t>
            </a:r>
            <a:r>
              <a:rPr lang="en-US" altLang="zh-CN" sz="1800" b="1" dirty="0">
                <a:ea typeface="宋体" panose="02010600030101010101" pitchFamily="2" charset="-122"/>
              </a:rPr>
              <a:t>β|</a:t>
            </a:r>
            <a:r>
              <a:rPr lang="zh-CN" altLang="en-US" sz="1800" b="1" dirty="0">
                <a:ea typeface="宋体" panose="02010600030101010101" pitchFamily="2" charset="-122"/>
              </a:rPr>
              <a:t>个符号</a:t>
            </a:r>
            <a:endParaRPr lang="zh-CN" altLang="en-US" sz="1800" b="1" dirty="0">
              <a:ea typeface="宋体" panose="02010600030101010101" pitchFamily="2" charset="-122"/>
            </a:endParaRPr>
          </a:p>
          <a:p>
            <a:pPr>
              <a:lnSpc>
                <a:spcPct val="90000"/>
              </a:lnSpc>
              <a:spcBef>
                <a:spcPct val="0"/>
              </a:spcBef>
              <a:buNone/>
            </a:pPr>
            <a:r>
              <a:rPr lang="zh-CN" altLang="en-US" sz="1800" b="1" dirty="0">
                <a:ea typeface="宋体" panose="02010600030101010101" pitchFamily="2" charset="-122"/>
              </a:rPr>
              <a:t>			令</a:t>
            </a:r>
            <a:r>
              <a:rPr lang="en-US" altLang="zh-CN" sz="1800" b="1" i="1" dirty="0">
                <a:ea typeface="宋体" panose="02010600030101010101" pitchFamily="2" charset="-122"/>
              </a:rPr>
              <a:t>t</a:t>
            </a:r>
            <a:r>
              <a:rPr lang="zh-CN" altLang="en-US" sz="1800" b="1" dirty="0">
                <a:ea typeface="宋体" panose="02010600030101010101" pitchFamily="2" charset="-122"/>
              </a:rPr>
              <a:t>是现在的栈顶状态</a:t>
            </a:r>
            <a:endParaRPr lang="zh-CN" altLang="en-US" sz="1800" b="1" dirty="0">
              <a:ea typeface="宋体" panose="02010600030101010101" pitchFamily="2" charset="-122"/>
            </a:endParaRPr>
          </a:p>
          <a:p>
            <a:pPr>
              <a:lnSpc>
                <a:spcPct val="90000"/>
              </a:lnSpc>
              <a:spcBef>
                <a:spcPct val="0"/>
              </a:spcBef>
              <a:buNone/>
            </a:pPr>
            <a:r>
              <a:rPr lang="zh-CN" altLang="en-US" sz="1800" b="1" dirty="0">
                <a:ea typeface="宋体" panose="02010600030101010101" pitchFamily="2" charset="-122"/>
              </a:rPr>
              <a:t>			把</a:t>
            </a:r>
            <a:r>
              <a:rPr lang="en-US" altLang="zh-CN" sz="1800" b="1" i="1" dirty="0">
                <a:ea typeface="宋体" panose="02010600030101010101" pitchFamily="2" charset="-122"/>
              </a:rPr>
              <a:t>GOTO</a:t>
            </a:r>
            <a:r>
              <a:rPr lang="en-US" altLang="zh-CN" sz="1800" b="1" dirty="0">
                <a:ea typeface="宋体" panose="02010600030101010101" pitchFamily="2" charset="-122"/>
              </a:rPr>
              <a:t>[</a:t>
            </a:r>
            <a:r>
              <a:rPr lang="en-US" altLang="zh-CN" sz="1800" b="1" i="1" dirty="0">
                <a:ea typeface="宋体" panose="02010600030101010101" pitchFamily="2" charset="-122"/>
              </a:rPr>
              <a:t>t</a:t>
            </a:r>
            <a:r>
              <a:rPr lang="en-US" altLang="zh-CN" sz="1800" b="1" dirty="0">
                <a:ea typeface="宋体" panose="02010600030101010101" pitchFamily="2" charset="-122"/>
              </a:rPr>
              <a:t> , A]</a:t>
            </a:r>
            <a:r>
              <a:rPr lang="zh-CN" altLang="en-US" sz="1800" b="1" dirty="0">
                <a:ea typeface="宋体" panose="02010600030101010101" pitchFamily="2" charset="-122"/>
              </a:rPr>
              <a:t>压入栈</a:t>
            </a:r>
            <a:endParaRPr lang="zh-CN" altLang="en-US" sz="1800" b="1" dirty="0">
              <a:ea typeface="宋体" panose="02010600030101010101" pitchFamily="2" charset="-122"/>
            </a:endParaRPr>
          </a:p>
          <a:p>
            <a:pPr>
              <a:lnSpc>
                <a:spcPct val="90000"/>
              </a:lnSpc>
              <a:spcBef>
                <a:spcPct val="0"/>
              </a:spcBef>
              <a:buNone/>
            </a:pPr>
            <a:r>
              <a:rPr lang="zh-CN" altLang="en-US" sz="1800" b="1" dirty="0">
                <a:ea typeface="宋体" panose="02010600030101010101" pitchFamily="2" charset="-122"/>
              </a:rPr>
              <a:t>			输出产生式</a:t>
            </a:r>
            <a:r>
              <a:rPr lang="en-US" altLang="zh-CN" sz="1800" b="1" dirty="0">
                <a:ea typeface="宋体" panose="02010600030101010101" pitchFamily="2" charset="-122"/>
              </a:rPr>
              <a:t>A</a:t>
            </a:r>
            <a:r>
              <a:rPr lang="zh-CN" altLang="en-US" sz="1800" b="1" dirty="0">
                <a:ea typeface="宋体" panose="02010600030101010101" pitchFamily="2" charset="-122"/>
              </a:rPr>
              <a:t>→</a:t>
            </a:r>
            <a:r>
              <a:rPr lang="en-US" altLang="zh-CN" sz="1800" b="1" dirty="0">
                <a:ea typeface="宋体" panose="02010600030101010101" pitchFamily="2" charset="-122"/>
              </a:rPr>
              <a:t>β</a:t>
            </a:r>
            <a:r>
              <a:rPr lang="zh-CN" altLang="en-US" sz="1800" b="1" dirty="0">
                <a:ea typeface="宋体" panose="02010600030101010101" pitchFamily="2" charset="-122"/>
              </a:rPr>
              <a:t>或作相关的语义动作</a:t>
            </a:r>
            <a:endParaRPr lang="zh-CN" altLang="en-US" sz="1800" b="1" dirty="0">
              <a:ea typeface="宋体" panose="02010600030101010101" pitchFamily="2" charset="-122"/>
            </a:endParaRPr>
          </a:p>
          <a:p>
            <a:pPr>
              <a:lnSpc>
                <a:spcPct val="90000"/>
              </a:lnSpc>
              <a:spcBef>
                <a:spcPct val="0"/>
              </a:spcBef>
              <a:buNone/>
            </a:pPr>
            <a:r>
              <a:rPr lang="zh-CN" altLang="en-US" sz="1800" b="1" dirty="0">
                <a:ea typeface="宋体" panose="02010600030101010101" pitchFamily="2" charset="-122"/>
              </a:rPr>
              <a:t>		</a:t>
            </a:r>
            <a:r>
              <a:rPr lang="en-US" altLang="zh-CN" sz="1800" b="1" dirty="0">
                <a:ea typeface="宋体" panose="02010600030101010101" pitchFamily="2" charset="-122"/>
              </a:rPr>
              <a:t>end</a:t>
            </a:r>
            <a:endParaRPr lang="en-US" altLang="zh-CN" sz="1800" b="1" dirty="0">
              <a:ea typeface="宋体" panose="02010600030101010101" pitchFamily="2" charset="-122"/>
            </a:endParaRPr>
          </a:p>
          <a:p>
            <a:pPr>
              <a:lnSpc>
                <a:spcPct val="90000"/>
              </a:lnSpc>
              <a:spcBef>
                <a:spcPct val="0"/>
              </a:spcBef>
              <a:buNone/>
            </a:pPr>
            <a:r>
              <a:rPr lang="en-US" altLang="zh-CN" sz="1800" b="1" dirty="0">
                <a:ea typeface="宋体" panose="02010600030101010101" pitchFamily="2" charset="-122"/>
              </a:rPr>
              <a:t>		else if  </a:t>
            </a:r>
            <a:r>
              <a:rPr lang="zh-CN" altLang="en-US" sz="1800" b="1" dirty="0">
                <a:ea typeface="宋体" panose="02010600030101010101" pitchFamily="2" charset="-122"/>
              </a:rPr>
              <a:t>（</a:t>
            </a:r>
            <a:r>
              <a:rPr lang="en-US" altLang="zh-CN" sz="1800" b="1" i="1" dirty="0">
                <a:ea typeface="宋体" panose="02010600030101010101" pitchFamily="2" charset="-122"/>
              </a:rPr>
              <a:t>ACTION</a:t>
            </a:r>
            <a:r>
              <a:rPr lang="en-US" altLang="zh-CN" sz="1800" b="1" dirty="0">
                <a:ea typeface="宋体" panose="02010600030101010101" pitchFamily="2" charset="-122"/>
              </a:rPr>
              <a:t>[</a:t>
            </a:r>
            <a:r>
              <a:rPr lang="en-US" altLang="zh-CN" sz="1800" b="1" i="1" dirty="0">
                <a:ea typeface="宋体" panose="02010600030101010101" pitchFamily="2" charset="-122"/>
              </a:rPr>
              <a:t>s</a:t>
            </a:r>
            <a:r>
              <a:rPr lang="en-US" altLang="zh-CN" sz="1800" b="1" dirty="0">
                <a:ea typeface="宋体" panose="02010600030101010101" pitchFamily="2" charset="-122"/>
              </a:rPr>
              <a:t> , </a:t>
            </a:r>
            <a:r>
              <a:rPr lang="en-US" altLang="zh-CN" sz="1800" b="1" i="1" dirty="0">
                <a:ea typeface="宋体" panose="02010600030101010101" pitchFamily="2" charset="-122"/>
              </a:rPr>
              <a:t>a</a:t>
            </a:r>
            <a:r>
              <a:rPr lang="en-US" altLang="zh-CN" sz="1800" b="1" dirty="0">
                <a:ea typeface="宋体" panose="02010600030101010101" pitchFamily="2" charset="-122"/>
              </a:rPr>
              <a:t>]=</a:t>
            </a:r>
            <a:r>
              <a:rPr lang="zh-CN" altLang="en-US" sz="1800" b="1" dirty="0">
                <a:ea typeface="宋体" panose="02010600030101010101" pitchFamily="2" charset="-122"/>
              </a:rPr>
              <a:t>接受）</a:t>
            </a:r>
            <a:r>
              <a:rPr lang="en-US" altLang="zh-CN" sz="1800" b="1" dirty="0">
                <a:ea typeface="宋体" panose="02010600030101010101" pitchFamily="2" charset="-122"/>
              </a:rPr>
              <a:t>  break</a:t>
            </a:r>
            <a:endParaRPr lang="en-US" altLang="zh-CN" sz="1800" b="1" dirty="0">
              <a:ea typeface="宋体" panose="02010600030101010101" pitchFamily="2" charset="-122"/>
            </a:endParaRPr>
          </a:p>
          <a:p>
            <a:pPr>
              <a:lnSpc>
                <a:spcPct val="90000"/>
              </a:lnSpc>
              <a:spcBef>
                <a:spcPct val="0"/>
              </a:spcBef>
              <a:buNone/>
            </a:pPr>
            <a:r>
              <a:rPr lang="en-US" altLang="zh-CN" sz="1800" b="1" dirty="0">
                <a:ea typeface="宋体" panose="02010600030101010101" pitchFamily="2" charset="-122"/>
              </a:rPr>
              <a:t>		else  </a:t>
            </a:r>
            <a:r>
              <a:rPr lang="zh-CN" altLang="en-US" sz="1800" b="1" dirty="0">
                <a:ea typeface="宋体" panose="02010600030101010101" pitchFamily="2" charset="-122"/>
              </a:rPr>
              <a:t>调用错误恢复例程 </a:t>
            </a:r>
            <a:endParaRPr lang="en-US" altLang="zh-CN" sz="1800" b="1" dirty="0">
              <a:ea typeface="宋体" panose="02010600030101010101" pitchFamily="2" charset="-122"/>
            </a:endParaRPr>
          </a:p>
          <a:p>
            <a:pPr>
              <a:lnSpc>
                <a:spcPct val="90000"/>
              </a:lnSpc>
              <a:spcBef>
                <a:spcPct val="0"/>
              </a:spcBef>
              <a:buNone/>
            </a:pPr>
            <a:r>
              <a:rPr lang="en-US" altLang="zh-CN" sz="1800" b="1" dirty="0">
                <a:ea typeface="宋体" panose="02010600030101010101" pitchFamily="2" charset="-122"/>
              </a:rPr>
              <a:t>	}</a:t>
            </a:r>
            <a:endParaRPr lang="en-US" altLang="zh-CN" sz="1800" b="1" dirty="0">
              <a:ea typeface="宋体" panose="02010600030101010101" pitchFamily="2" charset="-122"/>
            </a:endParaRPr>
          </a:p>
        </p:txBody>
      </p: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（21）</a:t>
            </a:r>
            <a:endParaRPr lang="en-US" altLang="zh-CN" dirty="0">
              <a:latin typeface="Times New Roman" panose="02020603050405020304" pitchFamily="18" charset="0"/>
              <a:ea typeface="宋体" panose="02010600030101010101" pitchFamily="2" charset="-122"/>
            </a:endParaRPr>
          </a:p>
        </p:txBody>
      </p:sp>
      <p:sp>
        <p:nvSpPr>
          <p:cNvPr id="225283" name="Rectangle 3"/>
          <p:cNvSpPr>
            <a:spLocks noGrp="1"/>
          </p:cNvSpPr>
          <p:nvPr>
            <p:ph idx="1"/>
          </p:nvPr>
        </p:nvSpPr>
        <p:spPr>
          <a:xfrm>
            <a:off x="990600" y="1371600"/>
            <a:ext cx="7391400" cy="4953000"/>
          </a:xfrm>
        </p:spPr>
        <p:txBody>
          <a:bodyPr vert="horz" wrap="square" lIns="92075" tIns="46038" rIns="92075" bIns="46038" anchor="t" anchorCtr="0"/>
          <a:p>
            <a:pPr>
              <a:spcBef>
                <a:spcPct val="0"/>
              </a:spcBef>
              <a:spcAft>
                <a:spcPct val="20000"/>
              </a:spcAft>
              <a:buNone/>
            </a:pPr>
            <a:r>
              <a:rPr lang="zh-CN" altLang="en-US" sz="2000" b="1" dirty="0">
                <a:ea typeface="宋体" panose="02010600030101010101" pitchFamily="2" charset="-122"/>
              </a:rPr>
              <a:t>表达式文法：对文法产生式标号</a:t>
            </a:r>
            <a:endParaRPr lang="zh-CN" altLang="en-US" sz="2000" b="1" dirty="0">
              <a:ea typeface="宋体" panose="02010600030101010101" pitchFamily="2" charset="-122"/>
            </a:endParaRPr>
          </a:p>
          <a:p>
            <a:pPr>
              <a:spcBef>
                <a:spcPct val="0"/>
              </a:spcBef>
              <a:spcAft>
                <a:spcPct val="20000"/>
              </a:spcAft>
              <a:buNone/>
            </a:pPr>
            <a:r>
              <a:rPr lang="zh-CN" altLang="en-US" sz="2000" b="1" dirty="0">
                <a:ea typeface="宋体" panose="02010600030101010101" pitchFamily="2" charset="-122"/>
              </a:rPr>
              <a:t>	(1) </a:t>
            </a:r>
            <a:r>
              <a:rPr lang="en-US" altLang="zh-CN" sz="2000" b="1" dirty="0">
                <a:ea typeface="宋体" panose="02010600030101010101" pitchFamily="2" charset="-122"/>
              </a:rPr>
              <a:t>E→E+T</a:t>
            </a:r>
            <a:endParaRPr lang="en-US" altLang="zh-CN" sz="2000" b="1" dirty="0">
              <a:ea typeface="宋体" panose="02010600030101010101" pitchFamily="2" charset="-122"/>
            </a:endParaRPr>
          </a:p>
          <a:p>
            <a:pPr>
              <a:spcBef>
                <a:spcPct val="0"/>
              </a:spcBef>
              <a:spcAft>
                <a:spcPct val="20000"/>
              </a:spcAft>
              <a:buNone/>
            </a:pPr>
            <a:r>
              <a:rPr lang="en-US" altLang="zh-CN" sz="2000" b="1" dirty="0">
                <a:ea typeface="宋体" panose="02010600030101010101" pitchFamily="2" charset="-122"/>
              </a:rPr>
              <a:t>	(2) E→T</a:t>
            </a:r>
            <a:endParaRPr lang="en-US" altLang="zh-CN" sz="2000" b="1" dirty="0">
              <a:ea typeface="宋体" panose="02010600030101010101" pitchFamily="2" charset="-122"/>
            </a:endParaRPr>
          </a:p>
          <a:p>
            <a:pPr>
              <a:spcBef>
                <a:spcPct val="0"/>
              </a:spcBef>
              <a:spcAft>
                <a:spcPct val="20000"/>
              </a:spcAft>
              <a:buNone/>
            </a:pPr>
            <a:r>
              <a:rPr lang="zh-CN" altLang="en-US" sz="2000" b="1" dirty="0">
                <a:ea typeface="宋体" panose="02010600030101010101" pitchFamily="2" charset="-122"/>
              </a:rPr>
              <a:t>	(3</a:t>
            </a:r>
            <a:r>
              <a:rPr lang="en-US" altLang="zh-CN" sz="2000" b="1" dirty="0">
                <a:ea typeface="宋体" panose="02010600030101010101" pitchFamily="2" charset="-122"/>
              </a:rPr>
              <a:t>) T→T*F</a:t>
            </a:r>
            <a:endParaRPr lang="en-US" altLang="zh-CN" sz="2000" b="1" dirty="0">
              <a:ea typeface="宋体" panose="02010600030101010101" pitchFamily="2" charset="-122"/>
            </a:endParaRPr>
          </a:p>
          <a:p>
            <a:pPr>
              <a:spcBef>
                <a:spcPct val="0"/>
              </a:spcBef>
              <a:spcAft>
                <a:spcPct val="20000"/>
              </a:spcAft>
              <a:buNone/>
            </a:pPr>
            <a:r>
              <a:rPr lang="en-US" altLang="zh-CN" sz="2000" b="1" dirty="0">
                <a:ea typeface="宋体" panose="02010600030101010101" pitchFamily="2" charset="-122"/>
              </a:rPr>
              <a:t>	(4) T→F</a:t>
            </a:r>
            <a:endParaRPr lang="en-US" altLang="zh-CN" sz="2000" b="1" dirty="0">
              <a:ea typeface="宋体" panose="02010600030101010101" pitchFamily="2" charset="-122"/>
            </a:endParaRPr>
          </a:p>
          <a:p>
            <a:pPr>
              <a:spcBef>
                <a:spcPct val="0"/>
              </a:spcBef>
              <a:spcAft>
                <a:spcPct val="20000"/>
              </a:spcAft>
              <a:buNone/>
            </a:pPr>
            <a:r>
              <a:rPr lang="en-US" altLang="zh-CN" sz="2000" b="1" dirty="0">
                <a:ea typeface="宋体" panose="02010600030101010101" pitchFamily="2" charset="-122"/>
              </a:rPr>
              <a:t>	(5) F→(E)</a:t>
            </a:r>
            <a:endParaRPr lang="en-US" altLang="zh-CN" sz="2000" b="1" dirty="0">
              <a:ea typeface="宋体" panose="02010600030101010101" pitchFamily="2" charset="-122"/>
            </a:endParaRPr>
          </a:p>
          <a:p>
            <a:pPr>
              <a:spcBef>
                <a:spcPct val="0"/>
              </a:spcBef>
              <a:spcAft>
                <a:spcPct val="20000"/>
              </a:spcAft>
              <a:buNone/>
            </a:pPr>
            <a:r>
              <a:rPr lang="en-US" altLang="zh-CN" sz="2000" b="1" dirty="0">
                <a:ea typeface="宋体" panose="02010600030101010101" pitchFamily="2" charset="-122"/>
              </a:rPr>
              <a:t>	(6) F→id</a:t>
            </a:r>
            <a:endParaRPr lang="en-US" altLang="zh-CN" sz="2000" b="1" dirty="0">
              <a:ea typeface="宋体" panose="02010600030101010101" pitchFamily="2" charset="-122"/>
            </a:endParaRPr>
          </a:p>
          <a:p>
            <a:pPr>
              <a:spcBef>
                <a:spcPct val="0"/>
              </a:spcBef>
              <a:spcAft>
                <a:spcPct val="20000"/>
              </a:spcAft>
              <a:buNone/>
            </a:pPr>
            <a:endParaRPr lang="en-US" altLang="zh-CN" sz="2000" b="1" dirty="0">
              <a:ea typeface="宋体" panose="02010600030101010101" pitchFamily="2" charset="-122"/>
            </a:endParaRPr>
          </a:p>
          <a:p>
            <a:pPr>
              <a:spcBef>
                <a:spcPct val="0"/>
              </a:spcBef>
              <a:spcAft>
                <a:spcPct val="20000"/>
              </a:spcAft>
              <a:buNone/>
            </a:pPr>
            <a:r>
              <a:rPr lang="zh-CN" altLang="en-US" sz="2000" b="1" dirty="0">
                <a:ea typeface="宋体" panose="02010600030101010101" pitchFamily="2" charset="-122"/>
              </a:rPr>
              <a:t>为了表示的简便，对各类动作如下简化表示：</a:t>
            </a:r>
            <a:endParaRPr lang="zh-CN" altLang="en-US" sz="2000" b="1" dirty="0">
              <a:ea typeface="宋体" panose="02010600030101010101" pitchFamily="2" charset="-122"/>
            </a:endParaRPr>
          </a:p>
          <a:p>
            <a:pPr>
              <a:spcBef>
                <a:spcPct val="0"/>
              </a:spcBef>
              <a:spcAft>
                <a:spcPct val="20000"/>
              </a:spcAft>
              <a:buNone/>
            </a:pPr>
            <a:r>
              <a:rPr lang="zh-CN" altLang="en-US" sz="2000" b="1" dirty="0">
                <a:ea typeface="宋体" panose="02010600030101010101" pitchFamily="2" charset="-122"/>
              </a:rPr>
              <a:t>	(1)  </a:t>
            </a:r>
            <a:r>
              <a:rPr lang="en-US" altLang="zh-CN" sz="2000" b="1" dirty="0">
                <a:ea typeface="宋体" panose="02010600030101010101" pitchFamily="2" charset="-122"/>
              </a:rPr>
              <a:t>si</a:t>
            </a:r>
            <a:r>
              <a:rPr lang="zh-CN" altLang="en-US" sz="2000" b="1" dirty="0">
                <a:ea typeface="宋体" panose="02010600030101010101" pitchFamily="2" charset="-122"/>
              </a:rPr>
              <a:t>表示移进，把状态</a:t>
            </a:r>
            <a:r>
              <a:rPr lang="en-US" altLang="zh-CN" sz="2000" b="1" dirty="0">
                <a:ea typeface="宋体" panose="02010600030101010101" pitchFamily="2" charset="-122"/>
              </a:rPr>
              <a:t>i</a:t>
            </a:r>
            <a:r>
              <a:rPr lang="zh-CN" altLang="en-US" sz="2000" b="1" dirty="0">
                <a:ea typeface="宋体" panose="02010600030101010101" pitchFamily="2" charset="-122"/>
              </a:rPr>
              <a:t>压进栈</a:t>
            </a:r>
            <a:endParaRPr lang="zh-CN" altLang="en-US" sz="2000" b="1" dirty="0">
              <a:ea typeface="宋体" panose="02010600030101010101" pitchFamily="2" charset="-122"/>
            </a:endParaRPr>
          </a:p>
          <a:p>
            <a:pPr>
              <a:spcBef>
                <a:spcPct val="0"/>
              </a:spcBef>
              <a:spcAft>
                <a:spcPct val="20000"/>
              </a:spcAft>
              <a:buNone/>
            </a:pPr>
            <a:r>
              <a:rPr lang="zh-CN" altLang="en-US" sz="2000" b="1" dirty="0">
                <a:ea typeface="宋体" panose="02010600030101010101" pitchFamily="2" charset="-122"/>
              </a:rPr>
              <a:t>	(2)  </a:t>
            </a:r>
            <a:r>
              <a:rPr lang="en-US" altLang="zh-CN" sz="2000" b="1" dirty="0">
                <a:ea typeface="宋体" panose="02010600030101010101" pitchFamily="2" charset="-122"/>
              </a:rPr>
              <a:t>rj</a:t>
            </a:r>
            <a:r>
              <a:rPr lang="zh-CN" altLang="en-US" sz="2000" b="1" dirty="0">
                <a:ea typeface="宋体" panose="02010600030101010101" pitchFamily="2" charset="-122"/>
              </a:rPr>
              <a:t>表示按第</a:t>
            </a:r>
            <a:r>
              <a:rPr lang="en-US" altLang="zh-CN" sz="2000" b="1" dirty="0">
                <a:ea typeface="宋体" panose="02010600030101010101" pitchFamily="2" charset="-122"/>
              </a:rPr>
              <a:t>j</a:t>
            </a:r>
            <a:r>
              <a:rPr lang="zh-CN" altLang="en-US" sz="2000" b="1" dirty="0">
                <a:ea typeface="宋体" panose="02010600030101010101" pitchFamily="2" charset="-122"/>
              </a:rPr>
              <a:t>个产生式进行归约</a:t>
            </a:r>
            <a:endParaRPr lang="zh-CN" altLang="en-US" sz="2000" b="1" dirty="0">
              <a:ea typeface="宋体" panose="02010600030101010101" pitchFamily="2" charset="-122"/>
            </a:endParaRPr>
          </a:p>
          <a:p>
            <a:pPr>
              <a:spcBef>
                <a:spcPct val="0"/>
              </a:spcBef>
              <a:spcAft>
                <a:spcPct val="20000"/>
              </a:spcAft>
              <a:buNone/>
            </a:pPr>
            <a:r>
              <a:rPr lang="zh-CN" altLang="en-US" sz="2000" b="1" dirty="0">
                <a:ea typeface="宋体" panose="02010600030101010101" pitchFamily="2" charset="-122"/>
              </a:rPr>
              <a:t>	(3)  </a:t>
            </a:r>
            <a:r>
              <a:rPr lang="en-US" altLang="zh-CN" sz="2000" b="1" dirty="0">
                <a:ea typeface="宋体" panose="02010600030101010101" pitchFamily="2" charset="-122"/>
              </a:rPr>
              <a:t>acc</a:t>
            </a:r>
            <a:r>
              <a:rPr lang="zh-CN" altLang="en-US" sz="2000" b="1" dirty="0">
                <a:ea typeface="宋体" panose="02010600030101010101" pitchFamily="2" charset="-122"/>
              </a:rPr>
              <a:t>表示接受</a:t>
            </a:r>
            <a:endParaRPr lang="zh-CN" altLang="en-US" sz="2000" b="1" dirty="0">
              <a:ea typeface="宋体" panose="02010600030101010101" pitchFamily="2" charset="-122"/>
            </a:endParaRPr>
          </a:p>
          <a:p>
            <a:pPr>
              <a:spcBef>
                <a:spcPct val="0"/>
              </a:spcBef>
              <a:spcAft>
                <a:spcPct val="20000"/>
              </a:spcAft>
              <a:buNone/>
            </a:pPr>
            <a:r>
              <a:rPr lang="zh-CN" altLang="en-US" sz="2000" b="1" dirty="0">
                <a:ea typeface="宋体" panose="02010600030101010101" pitchFamily="2" charset="-122"/>
              </a:rPr>
              <a:t>	(4)  空白表示出错</a:t>
            </a:r>
            <a:endParaRPr lang="zh-CN" altLang="en-US" sz="2000" b="1" dirty="0">
              <a:ea typeface="宋体" panose="02010600030101010101" pitchFamily="2" charset="-122"/>
            </a:endParaRPr>
          </a:p>
        </p:txBody>
      </p:sp>
    </p:spTree>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3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（22）</a:t>
            </a:r>
            <a:endParaRPr lang="en-US" altLang="zh-CN" dirty="0">
              <a:latin typeface="Times New Roman" panose="02020603050405020304" pitchFamily="18" charset="0"/>
              <a:ea typeface="宋体" panose="02010600030101010101" pitchFamily="2" charset="-122"/>
            </a:endParaRPr>
          </a:p>
        </p:txBody>
      </p:sp>
      <p:pic>
        <p:nvPicPr>
          <p:cNvPr id="227331" name="Picture 2"/>
          <p:cNvPicPr>
            <a:picLocks noChangeAspect="1"/>
          </p:cNvPicPr>
          <p:nvPr/>
        </p:nvPicPr>
        <p:blipFill>
          <a:blip r:embed="rId1"/>
          <a:stretch>
            <a:fillRect/>
          </a:stretch>
        </p:blipFill>
        <p:spPr>
          <a:xfrm>
            <a:off x="609600" y="1268413"/>
            <a:ext cx="7502525" cy="4464050"/>
          </a:xfrm>
          <a:prstGeom prst="rect">
            <a:avLst/>
          </a:prstGeom>
          <a:noFill/>
          <a:ln w="9525">
            <a:noFill/>
          </a:ln>
        </p:spPr>
      </p:pic>
      <p:sp>
        <p:nvSpPr>
          <p:cNvPr id="227332" name="文本框 1"/>
          <p:cNvSpPr txBox="1"/>
          <p:nvPr/>
        </p:nvSpPr>
        <p:spPr>
          <a:xfrm>
            <a:off x="1187450" y="6021388"/>
            <a:ext cx="7088188"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2400" b="1" dirty="0">
                <a:solidFill>
                  <a:srgbClr val="FF0000"/>
                </a:solidFill>
                <a:ea typeface="宋体" panose="02010600030101010101" pitchFamily="2" charset="-122"/>
              </a:rPr>
              <a:t>该表不是</a:t>
            </a:r>
            <a:r>
              <a:rPr lang="en-US" altLang="zh-CN" sz="2400" b="1" dirty="0">
                <a:solidFill>
                  <a:srgbClr val="FF0000"/>
                </a:solidFill>
                <a:ea typeface="宋体" panose="02010600030101010101" pitchFamily="2" charset="-122"/>
              </a:rPr>
              <a:t>LR</a:t>
            </a:r>
            <a:r>
              <a:rPr lang="zh-CN" altLang="en-US" sz="2400" b="1" dirty="0">
                <a:solidFill>
                  <a:srgbClr val="FF0000"/>
                </a:solidFill>
                <a:ea typeface="宋体" panose="02010600030101010101" pitchFamily="2" charset="-122"/>
              </a:rPr>
              <a:t>（</a:t>
            </a:r>
            <a:r>
              <a:rPr lang="en-US" altLang="zh-CN" sz="2400" b="1" dirty="0">
                <a:solidFill>
                  <a:srgbClr val="FF0000"/>
                </a:solidFill>
                <a:ea typeface="宋体" panose="02010600030101010101" pitchFamily="2" charset="-122"/>
              </a:rPr>
              <a:t>0</a:t>
            </a:r>
            <a:r>
              <a:rPr lang="zh-CN" altLang="en-US" sz="2400" b="1" dirty="0">
                <a:solidFill>
                  <a:srgbClr val="FF0000"/>
                </a:solidFill>
                <a:ea typeface="宋体" panose="02010600030101010101" pitchFamily="2" charset="-122"/>
              </a:rPr>
              <a:t>）的，而是后面介绍的</a:t>
            </a:r>
            <a:r>
              <a:rPr lang="en-US" altLang="zh-CN" sz="2400" b="1" dirty="0">
                <a:solidFill>
                  <a:srgbClr val="FF0000"/>
                </a:solidFill>
                <a:ea typeface="宋体" panose="02010600030101010101" pitchFamily="2" charset="-122"/>
              </a:rPr>
              <a:t>SLR</a:t>
            </a:r>
            <a:r>
              <a:rPr lang="zh-CN" altLang="en-US" sz="2400" b="1" dirty="0">
                <a:solidFill>
                  <a:srgbClr val="FF0000"/>
                </a:solidFill>
                <a:ea typeface="宋体" panose="02010600030101010101" pitchFamily="2" charset="-122"/>
              </a:rPr>
              <a:t>（</a:t>
            </a:r>
            <a:r>
              <a:rPr lang="en-US" altLang="zh-CN" sz="2400" b="1" dirty="0">
                <a:solidFill>
                  <a:srgbClr val="FF0000"/>
                </a:solidFill>
                <a:ea typeface="宋体" panose="02010600030101010101" pitchFamily="2" charset="-122"/>
              </a:rPr>
              <a:t>1</a:t>
            </a:r>
            <a:r>
              <a:rPr lang="zh-CN" altLang="en-US" sz="2400" b="1" dirty="0">
                <a:solidFill>
                  <a:srgbClr val="FF0000"/>
                </a:solidFill>
                <a:ea typeface="宋体" panose="02010600030101010101" pitchFamily="2" charset="-122"/>
              </a:rPr>
              <a:t>）的</a:t>
            </a:r>
            <a:endParaRPr lang="zh-CN" altLang="en-US" sz="2400" b="1" dirty="0">
              <a:solidFill>
                <a:srgbClr val="FF0000"/>
              </a:solidFill>
              <a:ea typeface="宋体" panose="02010600030101010101" pitchFamily="2" charset="-122"/>
            </a:endParaRPr>
          </a:p>
        </p:txBody>
      </p:sp>
    </p:spTree>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9378" name="Picture 2"/>
          <p:cNvPicPr>
            <a:picLocks noChangeAspect="1"/>
          </p:cNvPicPr>
          <p:nvPr/>
        </p:nvPicPr>
        <p:blipFill>
          <a:blip r:embed="rId1"/>
          <a:stretch>
            <a:fillRect/>
          </a:stretch>
        </p:blipFill>
        <p:spPr>
          <a:xfrm>
            <a:off x="1371600" y="203200"/>
            <a:ext cx="6559550" cy="6654800"/>
          </a:xfrm>
          <a:prstGeom prst="rect">
            <a:avLst/>
          </a:prstGeom>
          <a:noFill/>
          <a:ln w="9525">
            <a:noFill/>
          </a:ln>
        </p:spPr>
      </p:pic>
    </p:spTree>
  </p:cSld>
  <p:clrMapOvr>
    <a:masterClrMapping/>
  </p:clrMapOvr>
  <p:transition spd="slow"/>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（23）</a:t>
            </a:r>
            <a:endParaRPr lang="en-US" altLang="zh-CN" dirty="0">
              <a:latin typeface="Times New Roman" panose="02020603050405020304" pitchFamily="18" charset="0"/>
              <a:ea typeface="宋体" panose="02010600030101010101" pitchFamily="2" charset="-122"/>
            </a:endParaRPr>
          </a:p>
        </p:txBody>
      </p:sp>
      <p:pic>
        <p:nvPicPr>
          <p:cNvPr id="230403" name="Picture 2"/>
          <p:cNvPicPr>
            <a:picLocks noChangeAspect="1"/>
          </p:cNvPicPr>
          <p:nvPr/>
        </p:nvPicPr>
        <p:blipFill>
          <a:blip r:embed="rId1"/>
          <a:stretch>
            <a:fillRect/>
          </a:stretch>
        </p:blipFill>
        <p:spPr>
          <a:xfrm>
            <a:off x="455613" y="1160463"/>
            <a:ext cx="8077200" cy="5364162"/>
          </a:xfrm>
          <a:prstGeom prst="rect">
            <a:avLst/>
          </a:prstGeom>
          <a:noFill/>
          <a:ln w="9525">
            <a:noFill/>
          </a:ln>
        </p:spPr>
      </p:pic>
    </p:spTree>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（24</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232451" name="Rectangle 3"/>
          <p:cNvSpPr>
            <a:spLocks noGrp="1"/>
          </p:cNvSpPr>
          <p:nvPr>
            <p:ph idx="1"/>
          </p:nvPr>
        </p:nvSpPr>
        <p:spPr>
          <a:xfrm>
            <a:off x="990600" y="1371600"/>
            <a:ext cx="7391400" cy="4953000"/>
          </a:xfrm>
        </p:spPr>
        <p:txBody>
          <a:bodyPr vert="horz" wrap="square" lIns="92075" tIns="46038" rIns="92075" bIns="46038" anchor="t" anchorCtr="0"/>
          <a:p>
            <a:r>
              <a:rPr lang="en-US" altLang="zh-CN" sz="2200" b="1" dirty="0">
                <a:ea typeface="宋体" panose="02010600030101010101" pitchFamily="2" charset="-122"/>
              </a:rPr>
              <a:t>LR</a:t>
            </a:r>
            <a:r>
              <a:rPr lang="zh-CN" altLang="en-US" sz="2200" b="1" dirty="0">
                <a:ea typeface="宋体" panose="02010600030101010101" pitchFamily="2" charset="-122"/>
              </a:rPr>
              <a:t>文法</a:t>
            </a:r>
            <a:endParaRPr lang="zh-CN" altLang="en-US" sz="2200" b="1" dirty="0">
              <a:ea typeface="宋体" panose="02010600030101010101" pitchFamily="2" charset="-122"/>
            </a:endParaRPr>
          </a:p>
          <a:p>
            <a:pPr lvl="1"/>
            <a:r>
              <a:rPr lang="zh-CN" altLang="en-US" sz="2000" b="1" dirty="0">
                <a:ea typeface="宋体" panose="02010600030101010101" pitchFamily="2" charset="-122"/>
              </a:rPr>
              <a:t>定义：一个文法，如果能够为它构造出</a:t>
            </a:r>
            <a:r>
              <a:rPr lang="en-US" altLang="zh-CN" sz="2000" b="1" dirty="0">
                <a:ea typeface="宋体" panose="02010600030101010101" pitchFamily="2" charset="-122"/>
              </a:rPr>
              <a:t>LR</a:t>
            </a:r>
            <a:r>
              <a:rPr lang="zh-CN" altLang="en-US" sz="2000" b="1" dirty="0">
                <a:ea typeface="宋体" panose="02010600030101010101" pitchFamily="2" charset="-122"/>
              </a:rPr>
              <a:t>分析表，且表的条目都唯一</a:t>
            </a:r>
            <a:endParaRPr lang="zh-CN" altLang="en-US" sz="2000" b="1" dirty="0">
              <a:ea typeface="宋体" panose="02010600030101010101" pitchFamily="2" charset="-122"/>
            </a:endParaRPr>
          </a:p>
          <a:p>
            <a:pPr lvl="1"/>
            <a:r>
              <a:rPr lang="zh-CN" altLang="en-US" sz="2000" b="1" dirty="0">
                <a:ea typeface="宋体" panose="02010600030101010101" pitchFamily="2" charset="-122"/>
              </a:rPr>
              <a:t>性质：</a:t>
            </a:r>
            <a:endParaRPr lang="zh-CN" altLang="en-US" sz="2000" b="1" dirty="0">
              <a:ea typeface="宋体" panose="02010600030101010101" pitchFamily="2" charset="-122"/>
            </a:endParaRPr>
          </a:p>
          <a:p>
            <a:pPr lvl="2"/>
            <a:r>
              <a:rPr lang="zh-CN" altLang="en-US" sz="1800" b="1" dirty="0">
                <a:ea typeface="宋体" panose="02010600030101010101" pitchFamily="2" charset="-122"/>
              </a:rPr>
              <a:t>一个文法如果是</a:t>
            </a:r>
            <a:r>
              <a:rPr lang="en-US" altLang="zh-CN" sz="1800" b="1" dirty="0">
                <a:ea typeface="宋体" panose="02010600030101010101" pitchFamily="2" charset="-122"/>
              </a:rPr>
              <a:t>LR</a:t>
            </a:r>
            <a:r>
              <a:rPr lang="zh-CN" altLang="en-US" sz="1800" b="1" dirty="0">
                <a:ea typeface="宋体" panose="02010600030101010101" pitchFamily="2" charset="-122"/>
              </a:rPr>
              <a:t>的，只要保证当句柄出现在栈顶时，自左向右扫描的移进-归约分析器能够及时识别它便足够了</a:t>
            </a:r>
            <a:endParaRPr lang="zh-CN" altLang="en-US" sz="1800" b="1" dirty="0">
              <a:ea typeface="宋体" panose="02010600030101010101" pitchFamily="2" charset="-122"/>
            </a:endParaRPr>
          </a:p>
          <a:p>
            <a:pPr lvl="2"/>
            <a:r>
              <a:rPr lang="zh-CN" altLang="en-US" sz="1800" b="1" dirty="0">
                <a:ea typeface="宋体" panose="02010600030101010101" pitchFamily="2" charset="-122"/>
              </a:rPr>
              <a:t>如果句柄出现在栈顶时，</a:t>
            </a:r>
            <a:r>
              <a:rPr lang="en-US" altLang="zh-CN" sz="1800" b="1" dirty="0">
                <a:ea typeface="宋体" panose="02010600030101010101" pitchFamily="2" charset="-122"/>
              </a:rPr>
              <a:t>LR</a:t>
            </a:r>
            <a:r>
              <a:rPr lang="zh-CN" altLang="en-US" sz="1800" b="1" dirty="0">
                <a:ea typeface="宋体" panose="02010600030101010101" pitchFamily="2" charset="-122"/>
              </a:rPr>
              <a:t>分析器不需要扫描整个栈，栈顶的状态符号包含了所需要的一切信息</a:t>
            </a:r>
            <a:endParaRPr lang="zh-CN" altLang="en-US" sz="1800" b="1" dirty="0">
              <a:ea typeface="宋体" panose="02010600030101010101" pitchFamily="2" charset="-122"/>
            </a:endParaRPr>
          </a:p>
          <a:p>
            <a:pPr lvl="1"/>
            <a:r>
              <a:rPr lang="en-US" altLang="zh-CN" sz="2000" b="1" dirty="0">
                <a:ea typeface="宋体" panose="02010600030101010101" pitchFamily="2" charset="-122"/>
              </a:rPr>
              <a:t>LR(k)</a:t>
            </a:r>
            <a:r>
              <a:rPr lang="zh-CN" altLang="en-US" sz="2000" b="1" dirty="0">
                <a:ea typeface="宋体" panose="02010600030101010101" pitchFamily="2" charset="-122"/>
              </a:rPr>
              <a:t>文法：最多向前看</a:t>
            </a:r>
            <a:r>
              <a:rPr lang="en-US" altLang="zh-CN" sz="2000" b="1" dirty="0">
                <a:ea typeface="宋体" panose="02010600030101010101" pitchFamily="2" charset="-122"/>
              </a:rPr>
              <a:t>k</a:t>
            </a:r>
            <a:r>
              <a:rPr lang="zh-CN" altLang="en-US" sz="2000" b="1" dirty="0">
                <a:ea typeface="宋体" panose="02010600030101010101" pitchFamily="2" charset="-122"/>
              </a:rPr>
              <a:t>个符号就可以决定动作的</a:t>
            </a:r>
            <a:r>
              <a:rPr lang="en-US" altLang="zh-CN" sz="2000" b="1" dirty="0">
                <a:ea typeface="宋体" panose="02010600030101010101" pitchFamily="2" charset="-122"/>
              </a:rPr>
              <a:t>LR</a:t>
            </a:r>
            <a:r>
              <a:rPr lang="zh-CN" altLang="en-US" sz="2000" b="1" dirty="0">
                <a:ea typeface="宋体" panose="02010600030101010101" pitchFamily="2" charset="-122"/>
              </a:rPr>
              <a:t>分析器分析的文法称为</a:t>
            </a:r>
            <a:r>
              <a:rPr lang="en-US" altLang="zh-CN" sz="2000" b="1" dirty="0">
                <a:ea typeface="宋体" panose="02010600030101010101" pitchFamily="2" charset="-122"/>
              </a:rPr>
              <a:t>LR(k)</a:t>
            </a:r>
            <a:r>
              <a:rPr lang="zh-CN" altLang="en-US" sz="2000" b="1" dirty="0">
                <a:ea typeface="宋体" panose="02010600030101010101" pitchFamily="2" charset="-122"/>
              </a:rPr>
              <a:t>文法</a:t>
            </a:r>
            <a:endParaRPr lang="zh-CN" altLang="en-US" sz="2000" b="1" dirty="0">
              <a:ea typeface="宋体" panose="02010600030101010101" pitchFamily="2" charset="-122"/>
            </a:endParaRPr>
          </a:p>
          <a:p>
            <a:pPr lvl="1"/>
            <a:r>
              <a:rPr lang="zh-CN" altLang="en-US" sz="2000" b="1" dirty="0">
                <a:ea typeface="宋体" panose="02010600030101010101" pitchFamily="2" charset="-122"/>
              </a:rPr>
              <a:t>与</a:t>
            </a:r>
            <a:r>
              <a:rPr lang="en-US" altLang="zh-CN" sz="2000" b="1" dirty="0">
                <a:ea typeface="宋体" panose="02010600030101010101" pitchFamily="2" charset="-122"/>
              </a:rPr>
              <a:t>LL</a:t>
            </a:r>
            <a:r>
              <a:rPr lang="zh-CN" altLang="en-US" sz="2000" b="1" dirty="0">
                <a:ea typeface="宋体" panose="02010600030101010101" pitchFamily="2" charset="-122"/>
              </a:rPr>
              <a:t>文法的区别：</a:t>
            </a:r>
            <a:endParaRPr lang="zh-CN" altLang="en-US" sz="2000" b="1" dirty="0">
              <a:ea typeface="宋体" panose="02010600030101010101" pitchFamily="2" charset="-122"/>
            </a:endParaRPr>
          </a:p>
          <a:p>
            <a:pPr lvl="2"/>
            <a:r>
              <a:rPr lang="en-US" altLang="zh-CN" sz="1800" b="1" dirty="0">
                <a:ea typeface="宋体" panose="02010600030101010101" pitchFamily="2" charset="-122"/>
              </a:rPr>
              <a:t>LR(k)</a:t>
            </a:r>
            <a:r>
              <a:rPr lang="zh-CN" altLang="en-US" sz="1800" b="1" dirty="0">
                <a:ea typeface="宋体" panose="02010600030101010101" pitchFamily="2" charset="-122"/>
              </a:rPr>
              <a:t>文法：在看见了产生式右部推导出的所有东西和</a:t>
            </a:r>
            <a:r>
              <a:rPr lang="en-US" altLang="zh-CN" sz="1800" b="1" dirty="0">
                <a:ea typeface="宋体" panose="02010600030101010101" pitchFamily="2" charset="-122"/>
              </a:rPr>
              <a:t>k</a:t>
            </a:r>
            <a:r>
              <a:rPr lang="zh-CN" altLang="en-US" sz="1800" b="1" dirty="0">
                <a:ea typeface="宋体" panose="02010600030101010101" pitchFamily="2" charset="-122"/>
              </a:rPr>
              <a:t>个向前看的符号后，能识别产生式右部的出现</a:t>
            </a:r>
            <a:endParaRPr lang="zh-CN" altLang="en-US" sz="1800" b="1" dirty="0">
              <a:ea typeface="宋体" panose="02010600030101010101" pitchFamily="2" charset="-122"/>
            </a:endParaRPr>
          </a:p>
          <a:p>
            <a:pPr lvl="2"/>
            <a:r>
              <a:rPr lang="en-US" altLang="zh-CN" sz="1800" b="1" dirty="0">
                <a:ea typeface="宋体" panose="02010600030101010101" pitchFamily="2" charset="-122"/>
              </a:rPr>
              <a:t>LL(k)</a:t>
            </a:r>
            <a:r>
              <a:rPr lang="zh-CN" altLang="en-US" sz="1800" b="1" dirty="0">
                <a:ea typeface="宋体" panose="02010600030101010101" pitchFamily="2" charset="-122"/>
              </a:rPr>
              <a:t>文法：在看见了右部推出的前</a:t>
            </a:r>
            <a:r>
              <a:rPr lang="en-US" altLang="zh-CN" sz="1800" b="1" dirty="0">
                <a:ea typeface="宋体" panose="02010600030101010101" pitchFamily="2" charset="-122"/>
              </a:rPr>
              <a:t>k</a:t>
            </a:r>
            <a:r>
              <a:rPr lang="zh-CN" altLang="en-US" sz="1800" b="1" dirty="0">
                <a:ea typeface="宋体" panose="02010600030101010101" pitchFamily="2" charset="-122"/>
              </a:rPr>
              <a:t>个符号就能识别所使用的产生式</a:t>
            </a:r>
            <a:endParaRPr lang="zh-CN" altLang="en-US" sz="1800" b="1" dirty="0">
              <a:ea typeface="宋体" panose="02010600030101010101" pitchFamily="2" charset="-122"/>
            </a:endParaRPr>
          </a:p>
        </p:txBody>
      </p:sp>
    </p:spTree>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（25）</a:t>
            </a:r>
            <a:endParaRPr lang="en-US" altLang="zh-CN" dirty="0">
              <a:latin typeface="Times New Roman" panose="02020603050405020304" pitchFamily="18" charset="0"/>
              <a:ea typeface="宋体" panose="02010600030101010101" pitchFamily="2" charset="-122"/>
            </a:endParaRPr>
          </a:p>
        </p:txBody>
      </p:sp>
      <p:sp>
        <p:nvSpPr>
          <p:cNvPr id="234499" name="Rectangle 3"/>
          <p:cNvSpPr>
            <a:spLocks noGrp="1"/>
          </p:cNvSpPr>
          <p:nvPr>
            <p:ph idx="1"/>
          </p:nvPr>
        </p:nvSpPr>
        <p:spPr>
          <a:xfrm>
            <a:off x="990600" y="1371600"/>
            <a:ext cx="7391400" cy="4953000"/>
          </a:xfrm>
        </p:spPr>
        <p:txBody>
          <a:bodyPr vert="horz" wrap="square" lIns="92075" tIns="46038" rIns="92075" bIns="46038" anchor="t" anchorCtr="0"/>
          <a:p>
            <a:pPr>
              <a:lnSpc>
                <a:spcPct val="90000"/>
              </a:lnSpc>
            </a:pPr>
            <a:r>
              <a:rPr lang="en-US" altLang="zh-CN" sz="2400" b="1" dirty="0">
                <a:ea typeface="宋体" panose="02010600030101010101" pitchFamily="2" charset="-122"/>
              </a:rPr>
              <a:t>SLR</a:t>
            </a:r>
            <a:r>
              <a:rPr lang="zh-CN" altLang="en-US" sz="2400" b="1" dirty="0">
                <a:ea typeface="宋体" panose="02010600030101010101" pitchFamily="2" charset="-122"/>
              </a:rPr>
              <a:t>分析</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规范的</a:t>
            </a:r>
            <a:r>
              <a:rPr lang="en-US" altLang="zh-CN" sz="2200" b="1" dirty="0">
                <a:ea typeface="宋体" panose="02010600030101010101" pitchFamily="2" charset="-122"/>
              </a:rPr>
              <a:t>LR(0)</a:t>
            </a:r>
            <a:r>
              <a:rPr lang="zh-CN" altLang="en-US" sz="2200" b="1" dirty="0">
                <a:ea typeface="宋体" panose="02010600030101010101" pitchFamily="2" charset="-122"/>
              </a:rPr>
              <a:t>族：提供了构造</a:t>
            </a:r>
            <a:r>
              <a:rPr lang="en-US" altLang="zh-CN" sz="2200" b="1" dirty="0">
                <a:ea typeface="宋体" panose="02010600030101010101" pitchFamily="2" charset="-122"/>
              </a:rPr>
              <a:t>SLR</a:t>
            </a:r>
            <a:r>
              <a:rPr lang="zh-CN" altLang="en-US" sz="2200" b="1" dirty="0">
                <a:ea typeface="宋体" panose="02010600030101010101" pitchFamily="2" charset="-122"/>
              </a:rPr>
              <a:t>分析表的基础</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对于</a:t>
            </a:r>
            <a:r>
              <a:rPr lang="en-US" altLang="zh-CN" sz="2200" b="1" dirty="0">
                <a:ea typeface="宋体" panose="02010600030101010101" pitchFamily="2" charset="-122"/>
              </a:rPr>
              <a:t>LR(0)</a:t>
            </a:r>
            <a:r>
              <a:rPr lang="zh-CN" altLang="en-US" sz="2200" b="1" dirty="0">
                <a:ea typeface="宋体" panose="02010600030101010101" pitchFamily="2" charset="-122"/>
              </a:rPr>
              <a:t>规范族中的项目集：</a:t>
            </a:r>
            <a:endParaRPr lang="zh-CN" altLang="en-US" sz="2200" b="1" dirty="0">
              <a:ea typeface="宋体" panose="02010600030101010101" pitchFamily="2" charset="-122"/>
            </a:endParaRPr>
          </a:p>
          <a:p>
            <a:pPr lvl="3">
              <a:lnSpc>
                <a:spcPct val="90000"/>
              </a:lnSpc>
              <a:buNone/>
            </a:pPr>
            <a:r>
              <a:rPr lang="en-US" altLang="zh-CN" sz="1800" b="1" dirty="0">
                <a:ea typeface="宋体" panose="02010600030101010101" pitchFamily="2" charset="-122"/>
              </a:rPr>
              <a:t>I = { X</a:t>
            </a:r>
            <a:r>
              <a:rPr lang="zh-CN" altLang="en-US" sz="1800" b="1" dirty="0">
                <a:ea typeface="宋体" panose="02010600030101010101" pitchFamily="2" charset="-122"/>
              </a:rPr>
              <a:t>→</a:t>
            </a:r>
            <a:r>
              <a:rPr lang="en-US" altLang="zh-CN" sz="1900" b="1" dirty="0">
                <a:ea typeface="宋体" panose="02010600030101010101" pitchFamily="2" charset="-122"/>
              </a:rPr>
              <a:t>α.bβ,</a:t>
            </a:r>
            <a:endParaRPr lang="en-US" altLang="zh-CN" sz="1900" b="1" dirty="0">
              <a:ea typeface="宋体" panose="02010600030101010101" pitchFamily="2" charset="-122"/>
            </a:endParaRPr>
          </a:p>
          <a:p>
            <a:pPr lvl="3">
              <a:lnSpc>
                <a:spcPct val="90000"/>
              </a:lnSpc>
              <a:buNone/>
            </a:pPr>
            <a:r>
              <a:rPr lang="en-US" altLang="zh-CN" sz="1800" b="1" dirty="0">
                <a:ea typeface="宋体" panose="02010600030101010101" pitchFamily="2" charset="-122"/>
              </a:rPr>
              <a:t>	    </a:t>
            </a:r>
            <a:r>
              <a:rPr lang="en-US" altLang="zh-CN" sz="1900" b="1" dirty="0">
                <a:ea typeface="宋体" panose="02010600030101010101" pitchFamily="2" charset="-122"/>
              </a:rPr>
              <a:t>A</a:t>
            </a:r>
            <a:r>
              <a:rPr lang="zh-CN" altLang="en-US" sz="1900" b="1" dirty="0">
                <a:ea typeface="宋体" panose="02010600030101010101" pitchFamily="2" charset="-122"/>
              </a:rPr>
              <a:t>→</a:t>
            </a:r>
            <a:r>
              <a:rPr lang="en-US" altLang="zh-CN" sz="1900" b="1" dirty="0">
                <a:ea typeface="宋体" panose="02010600030101010101" pitchFamily="2" charset="-122"/>
              </a:rPr>
              <a:t>α. ,</a:t>
            </a:r>
            <a:endParaRPr lang="en-US" altLang="zh-CN" sz="1900" b="1" dirty="0">
              <a:ea typeface="宋体" panose="02010600030101010101" pitchFamily="2" charset="-122"/>
            </a:endParaRPr>
          </a:p>
          <a:p>
            <a:pPr lvl="3">
              <a:lnSpc>
                <a:spcPct val="90000"/>
              </a:lnSpc>
              <a:buNone/>
            </a:pPr>
            <a:r>
              <a:rPr lang="en-US" altLang="zh-CN" sz="1800" b="1" dirty="0">
                <a:ea typeface="宋体" panose="02010600030101010101" pitchFamily="2" charset="-122"/>
              </a:rPr>
              <a:t>	    B</a:t>
            </a:r>
            <a:r>
              <a:rPr lang="en-US" altLang="zh-CN" sz="1900" b="1" dirty="0">
                <a:ea typeface="宋体" panose="02010600030101010101" pitchFamily="2" charset="-122"/>
              </a:rPr>
              <a:t>→α. }</a:t>
            </a:r>
            <a:endParaRPr lang="en-US" altLang="zh-CN" sz="1900" b="1" dirty="0">
              <a:ea typeface="宋体" panose="02010600030101010101" pitchFamily="2" charset="-122"/>
            </a:endParaRPr>
          </a:p>
          <a:p>
            <a:pPr lvl="2">
              <a:lnSpc>
                <a:spcPct val="90000"/>
              </a:lnSpc>
              <a:buNone/>
            </a:pPr>
            <a:r>
              <a:rPr lang="en-US" altLang="zh-CN" sz="1800" b="1" dirty="0">
                <a:ea typeface="宋体" panose="02010600030101010101" pitchFamily="2" charset="-122"/>
              </a:rPr>
              <a:t>LR(0)</a:t>
            </a:r>
            <a:r>
              <a:rPr lang="zh-CN" altLang="en-US" sz="1800" b="1" dirty="0">
                <a:ea typeface="宋体" panose="02010600030101010101" pitchFamily="2" charset="-122"/>
              </a:rPr>
              <a:t>无法区分这三个不冲突的项目，此时要考察</a:t>
            </a:r>
            <a:r>
              <a:rPr lang="en-US" altLang="zh-CN" sz="1800" b="1" dirty="0">
                <a:ea typeface="宋体" panose="02010600030101010101" pitchFamily="2" charset="-122"/>
              </a:rPr>
              <a:t>FOLLOW(A)</a:t>
            </a:r>
            <a:r>
              <a:rPr lang="zh-CN" altLang="en-US" sz="1800" b="1" dirty="0">
                <a:ea typeface="宋体" panose="02010600030101010101" pitchFamily="2" charset="-122"/>
              </a:rPr>
              <a:t>和</a:t>
            </a:r>
            <a:r>
              <a:rPr lang="en-US" altLang="zh-CN" sz="1800" b="1" dirty="0">
                <a:ea typeface="宋体" panose="02010600030101010101" pitchFamily="2" charset="-122"/>
              </a:rPr>
              <a:t>FOLLOW(B)</a:t>
            </a:r>
            <a:r>
              <a:rPr lang="zh-CN" altLang="en-US" sz="1800" b="1" dirty="0">
                <a:ea typeface="宋体" panose="02010600030101010101" pitchFamily="2" charset="-122"/>
              </a:rPr>
              <a:t>集合</a:t>
            </a:r>
            <a:endParaRPr lang="zh-CN" altLang="en-US" sz="2000" b="1" dirty="0">
              <a:ea typeface="宋体" panose="02010600030101010101" pitchFamily="2" charset="-122"/>
            </a:endParaRPr>
          </a:p>
        </p:txBody>
      </p:sp>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6"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（26）</a:t>
            </a:r>
            <a:endParaRPr lang="en-US" altLang="zh-CN" dirty="0">
              <a:latin typeface="Times New Roman" panose="02020603050405020304" pitchFamily="18" charset="0"/>
              <a:ea typeface="宋体" panose="02010600030101010101" pitchFamily="2" charset="-122"/>
            </a:endParaRPr>
          </a:p>
        </p:txBody>
      </p:sp>
      <p:sp>
        <p:nvSpPr>
          <p:cNvPr id="236547" name="Rectangle 3"/>
          <p:cNvSpPr>
            <a:spLocks noGrp="1"/>
          </p:cNvSpPr>
          <p:nvPr>
            <p:ph idx="1"/>
          </p:nvPr>
        </p:nvSpPr>
        <p:spPr>
          <a:xfrm>
            <a:off x="611188" y="1371600"/>
            <a:ext cx="8137525" cy="4953000"/>
          </a:xfrm>
        </p:spPr>
        <p:txBody>
          <a:bodyPr vert="horz" wrap="square" lIns="92075" tIns="46038" rIns="92075" bIns="46038" anchor="t" anchorCtr="0"/>
          <a:p>
            <a:pPr>
              <a:spcBef>
                <a:spcPct val="0"/>
              </a:spcBef>
              <a:spcAft>
                <a:spcPct val="30000"/>
              </a:spcAft>
            </a:pPr>
            <a:r>
              <a:rPr lang="en-US" altLang="zh-CN" sz="2000" b="1" dirty="0">
                <a:ea typeface="宋体" panose="02010600030101010101" pitchFamily="2" charset="-122"/>
              </a:rPr>
              <a:t>SLR</a:t>
            </a:r>
            <a:r>
              <a:rPr lang="zh-CN" altLang="en-US" sz="2000" b="1" dirty="0">
                <a:ea typeface="宋体" panose="02010600030101010101" pitchFamily="2" charset="-122"/>
              </a:rPr>
              <a:t>分析表的构造</a:t>
            </a:r>
            <a:endParaRPr lang="zh-CN" altLang="en-US" sz="2000" b="1" dirty="0">
              <a:ea typeface="宋体" panose="02010600030101010101" pitchFamily="2" charset="-122"/>
            </a:endParaRPr>
          </a:p>
          <a:p>
            <a:pPr>
              <a:spcBef>
                <a:spcPct val="0"/>
              </a:spcBef>
              <a:buNone/>
            </a:pPr>
            <a:r>
              <a:rPr lang="zh-CN" altLang="en-US" sz="2000" b="1" dirty="0">
                <a:ea typeface="宋体" panose="02010600030101010101" pitchFamily="2" charset="-122"/>
              </a:rPr>
              <a:t>输入：拓广文法</a:t>
            </a:r>
            <a:r>
              <a:rPr lang="en-US" altLang="zh-CN" sz="2000" b="1" dirty="0">
                <a:ea typeface="宋体" panose="02010600030101010101" pitchFamily="2" charset="-122"/>
              </a:rPr>
              <a:t>G’</a:t>
            </a:r>
            <a:endParaRPr lang="en-US" altLang="zh-CN" sz="2000" b="1" dirty="0">
              <a:ea typeface="宋体" panose="02010600030101010101" pitchFamily="2" charset="-122"/>
            </a:endParaRPr>
          </a:p>
          <a:p>
            <a:pPr>
              <a:spcBef>
                <a:spcPct val="0"/>
              </a:spcBef>
              <a:buNone/>
            </a:pPr>
            <a:r>
              <a:rPr lang="zh-CN" altLang="en-US" sz="2000" b="1" dirty="0">
                <a:ea typeface="宋体" panose="02010600030101010101" pitchFamily="2" charset="-122"/>
              </a:rPr>
              <a:t>输出：</a:t>
            </a:r>
            <a:r>
              <a:rPr lang="en-US" altLang="zh-CN" sz="2000" b="1" dirty="0">
                <a:ea typeface="宋体" panose="02010600030101010101" pitchFamily="2" charset="-122"/>
              </a:rPr>
              <a:t>G’</a:t>
            </a:r>
            <a:r>
              <a:rPr lang="zh-CN" altLang="en-US" sz="2000" b="1" dirty="0">
                <a:ea typeface="宋体" panose="02010600030101010101" pitchFamily="2" charset="-122"/>
              </a:rPr>
              <a:t>的</a:t>
            </a:r>
            <a:r>
              <a:rPr lang="en-US" altLang="zh-CN" sz="2000" b="1" dirty="0">
                <a:ea typeface="宋体" panose="02010600030101010101" pitchFamily="2" charset="-122"/>
              </a:rPr>
              <a:t>SLR</a:t>
            </a:r>
            <a:r>
              <a:rPr lang="zh-CN" altLang="en-US" sz="2000" b="1" dirty="0">
                <a:ea typeface="宋体" panose="02010600030101010101" pitchFamily="2" charset="-122"/>
              </a:rPr>
              <a:t>分析表函数</a:t>
            </a:r>
            <a:r>
              <a:rPr lang="en-US" altLang="zh-CN" sz="2000" b="1" i="1" dirty="0">
                <a:ea typeface="宋体" panose="02010600030101010101" pitchFamily="2" charset="-122"/>
              </a:rPr>
              <a:t>ACTION</a:t>
            </a:r>
            <a:r>
              <a:rPr lang="zh-CN" altLang="en-US" sz="2000" b="1" dirty="0">
                <a:ea typeface="宋体" panose="02010600030101010101" pitchFamily="2" charset="-122"/>
              </a:rPr>
              <a:t>和</a:t>
            </a:r>
            <a:r>
              <a:rPr lang="en-US" altLang="zh-CN" sz="2000" b="1" i="1" dirty="0">
                <a:ea typeface="宋体" panose="02010600030101010101" pitchFamily="2" charset="-122"/>
              </a:rPr>
              <a:t>GOTO</a:t>
            </a:r>
            <a:endParaRPr lang="en-US" altLang="zh-CN" sz="2000" b="1" i="1" dirty="0">
              <a:ea typeface="宋体" panose="02010600030101010101" pitchFamily="2" charset="-122"/>
            </a:endParaRPr>
          </a:p>
          <a:p>
            <a:pPr>
              <a:spcBef>
                <a:spcPct val="0"/>
              </a:spcBef>
              <a:buNone/>
            </a:pPr>
            <a:r>
              <a:rPr lang="zh-CN" altLang="en-US" sz="2000" b="1" dirty="0">
                <a:ea typeface="宋体" panose="02010600030101010101" pitchFamily="2" charset="-122"/>
              </a:rPr>
              <a:t>方法：(1)构造</a:t>
            </a:r>
            <a:r>
              <a:rPr lang="en-US" altLang="zh-CN" sz="2000" b="1" dirty="0">
                <a:ea typeface="宋体" panose="02010600030101010101" pitchFamily="2" charset="-122"/>
              </a:rPr>
              <a:t>C={I</a:t>
            </a:r>
            <a:r>
              <a:rPr lang="en-US" altLang="zh-CN" sz="2000" b="1" baseline="-25000" dirty="0">
                <a:ea typeface="宋体" panose="02010600030101010101" pitchFamily="2" charset="-122"/>
              </a:rPr>
              <a:t>0</a:t>
            </a:r>
            <a:r>
              <a:rPr lang="en-US" altLang="zh-CN" sz="2000" b="1" dirty="0">
                <a:ea typeface="宋体" panose="02010600030101010101" pitchFamily="2" charset="-122"/>
              </a:rPr>
              <a:t> , I</a:t>
            </a:r>
            <a:r>
              <a:rPr lang="en-US" altLang="zh-CN" sz="2000" b="1" baseline="-25000" dirty="0">
                <a:ea typeface="宋体" panose="02010600030101010101" pitchFamily="2" charset="-122"/>
              </a:rPr>
              <a:t>1</a:t>
            </a:r>
            <a:r>
              <a:rPr lang="en-US" altLang="zh-CN" sz="2000" b="1" dirty="0">
                <a:ea typeface="宋体" panose="02010600030101010101" pitchFamily="2" charset="-122"/>
              </a:rPr>
              <a:t> , … , I</a:t>
            </a:r>
            <a:r>
              <a:rPr lang="en-US" altLang="zh-CN" sz="2000" b="1" baseline="-25000" dirty="0">
                <a:ea typeface="宋体" panose="02010600030101010101" pitchFamily="2" charset="-122"/>
              </a:rPr>
              <a:t>n</a:t>
            </a:r>
            <a:r>
              <a:rPr lang="en-US" altLang="zh-CN" sz="2000" b="1" dirty="0">
                <a:ea typeface="宋体" panose="02010600030101010101" pitchFamily="2" charset="-122"/>
              </a:rPr>
              <a:t> }，</a:t>
            </a:r>
            <a:r>
              <a:rPr lang="zh-CN" altLang="en-US" sz="2000" b="1" dirty="0">
                <a:ea typeface="宋体" panose="02010600030101010101" pitchFamily="2" charset="-122"/>
              </a:rPr>
              <a:t>即</a:t>
            </a:r>
            <a:r>
              <a:rPr lang="en-US" altLang="zh-CN" sz="2000" b="1" dirty="0">
                <a:ea typeface="宋体" panose="02010600030101010101" pitchFamily="2" charset="-122"/>
              </a:rPr>
              <a:t>G’</a:t>
            </a:r>
            <a:r>
              <a:rPr lang="zh-CN" altLang="en-US" sz="2000" b="1" dirty="0">
                <a:ea typeface="宋体" panose="02010600030101010101" pitchFamily="2" charset="-122"/>
              </a:rPr>
              <a:t>的</a:t>
            </a:r>
            <a:r>
              <a:rPr lang="en-US" altLang="zh-CN" sz="2000" b="1" dirty="0">
                <a:ea typeface="宋体" panose="02010600030101010101" pitchFamily="2" charset="-122"/>
              </a:rPr>
              <a:t>LR(0)</a:t>
            </a:r>
            <a:r>
              <a:rPr lang="zh-CN" altLang="en-US" sz="2000" b="1" dirty="0">
                <a:ea typeface="宋体" panose="02010600030101010101" pitchFamily="2" charset="-122"/>
              </a:rPr>
              <a:t>项目集规范族</a:t>
            </a:r>
            <a:endParaRPr lang="zh-CN" altLang="en-US" sz="2000" b="1" dirty="0">
              <a:ea typeface="宋体" panose="02010600030101010101" pitchFamily="2" charset="-122"/>
            </a:endParaRPr>
          </a:p>
          <a:p>
            <a:pPr>
              <a:spcBef>
                <a:spcPct val="0"/>
              </a:spcBef>
              <a:buNone/>
            </a:pPr>
            <a:r>
              <a:rPr lang="zh-CN" altLang="en-US" sz="2000" b="1" dirty="0">
                <a:ea typeface="宋体" panose="02010600030101010101" pitchFamily="2" charset="-122"/>
              </a:rPr>
              <a:t>	       (2)状态</a:t>
            </a:r>
            <a:r>
              <a:rPr lang="en-US" altLang="zh-CN" sz="2000" b="1" dirty="0">
                <a:ea typeface="宋体" panose="02010600030101010101" pitchFamily="2" charset="-122"/>
              </a:rPr>
              <a:t>i</a:t>
            </a:r>
            <a:r>
              <a:rPr lang="zh-CN" altLang="en-US" sz="2000" b="1" dirty="0">
                <a:ea typeface="宋体" panose="02010600030101010101" pitchFamily="2" charset="-122"/>
              </a:rPr>
              <a:t>从</a:t>
            </a:r>
            <a:r>
              <a:rPr lang="en-US" altLang="zh-CN" sz="2000" b="1" dirty="0">
                <a:ea typeface="宋体" panose="02010600030101010101" pitchFamily="2" charset="-122"/>
              </a:rPr>
              <a:t>I</a:t>
            </a:r>
            <a:r>
              <a:rPr lang="en-US" altLang="zh-CN" sz="2000" b="1" baseline="-25000" dirty="0">
                <a:ea typeface="宋体" panose="02010600030101010101" pitchFamily="2" charset="-122"/>
              </a:rPr>
              <a:t>i</a:t>
            </a:r>
            <a:r>
              <a:rPr lang="zh-CN" altLang="en-US" sz="2000" b="1" dirty="0">
                <a:ea typeface="宋体" panose="02010600030101010101" pitchFamily="2" charset="-122"/>
              </a:rPr>
              <a:t>构造，它的动作如下确定：</a:t>
            </a:r>
            <a:endParaRPr lang="zh-CN" altLang="en-US" sz="2000" b="1" dirty="0">
              <a:ea typeface="宋体" panose="02010600030101010101" pitchFamily="2" charset="-122"/>
            </a:endParaRPr>
          </a:p>
          <a:p>
            <a:pPr>
              <a:spcBef>
                <a:spcPct val="0"/>
              </a:spcBef>
              <a:buNone/>
            </a:pPr>
            <a:r>
              <a:rPr lang="zh-CN" altLang="en-US" sz="2000" b="1" dirty="0">
                <a:ea typeface="宋体" panose="02010600030101010101" pitchFamily="2" charset="-122"/>
              </a:rPr>
              <a:t>		 (</a:t>
            </a:r>
            <a:r>
              <a:rPr lang="en-US" altLang="zh-CN" sz="2000" b="1" dirty="0">
                <a:ea typeface="宋体" panose="02010600030101010101" pitchFamily="2" charset="-122"/>
              </a:rPr>
              <a:t>a) </a:t>
            </a:r>
            <a:r>
              <a:rPr lang="zh-CN" altLang="en-US" sz="2000" b="1" dirty="0">
                <a:ea typeface="宋体" panose="02010600030101010101" pitchFamily="2" charset="-122"/>
              </a:rPr>
              <a:t>如果[</a:t>
            </a:r>
            <a:r>
              <a:rPr lang="en-US" altLang="zh-CN" sz="2000" b="1" dirty="0">
                <a:ea typeface="宋体" panose="02010600030101010101" pitchFamily="2" charset="-122"/>
              </a:rPr>
              <a:t>A</a:t>
            </a:r>
            <a:r>
              <a:rPr lang="zh-CN" altLang="en-US" sz="2000" b="1" dirty="0">
                <a:ea typeface="宋体" panose="02010600030101010101" pitchFamily="2" charset="-122"/>
              </a:rPr>
              <a:t>→</a:t>
            </a:r>
            <a:r>
              <a:rPr lang="en-US" altLang="zh-CN" sz="2000" b="1" dirty="0">
                <a:ea typeface="宋体" panose="02010600030101010101" pitchFamily="2" charset="-122"/>
              </a:rPr>
              <a:t>α.aβ]</a:t>
            </a:r>
            <a:r>
              <a:rPr lang="zh-CN" altLang="en-US" sz="2000" b="1" dirty="0">
                <a:ea typeface="宋体" panose="02010600030101010101" pitchFamily="2" charset="-122"/>
              </a:rPr>
              <a:t>在</a:t>
            </a:r>
            <a:r>
              <a:rPr lang="en-US" altLang="zh-CN" sz="2000" b="1" dirty="0">
                <a:ea typeface="宋体" panose="02010600030101010101" pitchFamily="2" charset="-122"/>
              </a:rPr>
              <a:t>I</a:t>
            </a:r>
            <a:r>
              <a:rPr lang="en-US" altLang="zh-CN" sz="2000" b="1" baseline="-25000" dirty="0">
                <a:ea typeface="宋体" panose="02010600030101010101" pitchFamily="2" charset="-122"/>
              </a:rPr>
              <a:t>i</a:t>
            </a:r>
            <a:r>
              <a:rPr lang="zh-CN" altLang="en-US" sz="2000" b="1" dirty="0">
                <a:ea typeface="宋体" panose="02010600030101010101" pitchFamily="2" charset="-122"/>
              </a:rPr>
              <a:t>中，并且</a:t>
            </a:r>
            <a:r>
              <a:rPr lang="en-US" altLang="zh-CN" sz="2000" b="1" i="1" dirty="0">
                <a:ea typeface="宋体" panose="02010600030101010101" pitchFamily="2" charset="-122"/>
              </a:rPr>
              <a:t>δ</a:t>
            </a:r>
            <a:r>
              <a:rPr lang="en-US" altLang="zh-CN" sz="2000" b="1" dirty="0">
                <a:ea typeface="宋体" panose="02010600030101010101" pitchFamily="2" charset="-122"/>
              </a:rPr>
              <a:t>( I</a:t>
            </a:r>
            <a:r>
              <a:rPr lang="en-US" altLang="zh-CN" sz="2000" b="1" baseline="-25000" dirty="0">
                <a:ea typeface="宋体" panose="02010600030101010101" pitchFamily="2" charset="-122"/>
              </a:rPr>
              <a:t>i</a:t>
            </a:r>
            <a:r>
              <a:rPr lang="en-US" altLang="zh-CN" sz="2000" b="1" dirty="0">
                <a:ea typeface="宋体" panose="02010600030101010101" pitchFamily="2" charset="-122"/>
              </a:rPr>
              <a:t> , a) = I</a:t>
            </a:r>
            <a:r>
              <a:rPr lang="en-US" altLang="zh-CN" sz="2000" b="1" baseline="-25000" dirty="0">
                <a:ea typeface="宋体" panose="02010600030101010101" pitchFamily="2" charset="-122"/>
              </a:rPr>
              <a:t>j</a:t>
            </a:r>
            <a:r>
              <a:rPr lang="en-US" altLang="zh-CN" sz="2000" b="1" dirty="0">
                <a:ea typeface="宋体" panose="02010600030101010101" pitchFamily="2" charset="-122"/>
              </a:rPr>
              <a:t>，</a:t>
            </a:r>
            <a:r>
              <a:rPr lang="zh-CN" altLang="en-US" sz="2000" b="1" dirty="0">
                <a:ea typeface="宋体" panose="02010600030101010101" pitchFamily="2" charset="-122"/>
              </a:rPr>
              <a:t>则置</a:t>
            </a:r>
            <a:endParaRPr lang="zh-CN" altLang="en-US" sz="2000" b="1" dirty="0">
              <a:ea typeface="宋体" panose="02010600030101010101" pitchFamily="2" charset="-122"/>
            </a:endParaRPr>
          </a:p>
          <a:p>
            <a:pPr>
              <a:spcBef>
                <a:spcPct val="0"/>
              </a:spcBef>
              <a:buNone/>
            </a:pPr>
            <a:r>
              <a:rPr lang="en-US" altLang="zh-CN" sz="2000" b="1" dirty="0">
                <a:ea typeface="宋体" panose="02010600030101010101" pitchFamily="2" charset="-122"/>
              </a:rPr>
              <a:t>		     </a:t>
            </a:r>
            <a:r>
              <a:rPr lang="en-US" altLang="zh-CN" sz="2000" b="1" i="1" dirty="0">
                <a:ea typeface="宋体" panose="02010600030101010101" pitchFamily="2" charset="-122"/>
              </a:rPr>
              <a:t>ACTION</a:t>
            </a:r>
            <a:r>
              <a:rPr lang="en-US" altLang="zh-CN" sz="2000" b="1" dirty="0">
                <a:ea typeface="宋体" panose="02010600030101010101" pitchFamily="2" charset="-122"/>
              </a:rPr>
              <a:t>(i , a)</a:t>
            </a:r>
            <a:r>
              <a:rPr lang="zh-CN" altLang="en-US" sz="2000" b="1" dirty="0">
                <a:ea typeface="宋体" panose="02010600030101010101" pitchFamily="2" charset="-122"/>
              </a:rPr>
              <a:t>为</a:t>
            </a:r>
            <a:r>
              <a:rPr lang="en-US" altLang="zh-CN" sz="2000" b="1" dirty="0">
                <a:ea typeface="宋体" panose="02010600030101010101" pitchFamily="2" charset="-122"/>
              </a:rPr>
              <a:t>sj,</a:t>
            </a:r>
            <a:r>
              <a:rPr lang="zh-CN" altLang="en-US" sz="2000" b="1" dirty="0">
                <a:ea typeface="宋体" panose="02010600030101010101" pitchFamily="2" charset="-122"/>
              </a:rPr>
              <a:t>含义是把</a:t>
            </a:r>
            <a:r>
              <a:rPr lang="en-US" altLang="zh-CN" sz="2000" b="1" dirty="0">
                <a:ea typeface="宋体" panose="02010600030101010101" pitchFamily="2" charset="-122"/>
              </a:rPr>
              <a:t>a</a:t>
            </a:r>
            <a:r>
              <a:rPr lang="zh-CN" altLang="en-US" sz="2000" b="1" dirty="0">
                <a:ea typeface="宋体" panose="02010600030101010101" pitchFamily="2" charset="-122"/>
              </a:rPr>
              <a:t>和状态</a:t>
            </a:r>
            <a:r>
              <a:rPr lang="en-US" altLang="zh-CN" sz="2000" b="1" dirty="0">
                <a:ea typeface="宋体" panose="02010600030101010101" pitchFamily="2" charset="-122"/>
              </a:rPr>
              <a:t>j</a:t>
            </a:r>
            <a:r>
              <a:rPr lang="zh-CN" altLang="en-US" sz="2000" b="1" dirty="0">
                <a:ea typeface="宋体" panose="02010600030101010101" pitchFamily="2" charset="-122"/>
              </a:rPr>
              <a:t>移进栈, </a:t>
            </a:r>
            <a:r>
              <a:rPr lang="en-US" altLang="zh-CN" sz="2000" b="1" dirty="0">
                <a:ea typeface="宋体" panose="02010600030101010101" pitchFamily="2" charset="-122"/>
              </a:rPr>
              <a:t>a</a:t>
            </a:r>
            <a:r>
              <a:rPr lang="zh-CN" altLang="en-US" sz="2000" b="1" dirty="0">
                <a:ea typeface="宋体" panose="02010600030101010101" pitchFamily="2" charset="-122"/>
              </a:rPr>
              <a:t>必须为终结符</a:t>
            </a:r>
            <a:endParaRPr lang="zh-CN" altLang="en-US" sz="2000" b="1" dirty="0">
              <a:ea typeface="宋体" panose="02010600030101010101" pitchFamily="2" charset="-122"/>
            </a:endParaRPr>
          </a:p>
          <a:p>
            <a:pPr>
              <a:spcBef>
                <a:spcPct val="0"/>
              </a:spcBef>
              <a:buNone/>
            </a:pPr>
            <a:r>
              <a:rPr lang="zh-CN" altLang="en-US" sz="2000" b="1" dirty="0">
                <a:ea typeface="宋体" panose="02010600030101010101" pitchFamily="2" charset="-122"/>
              </a:rPr>
              <a:t>		 (</a:t>
            </a:r>
            <a:r>
              <a:rPr lang="en-US" altLang="zh-CN" sz="2000" b="1" dirty="0">
                <a:ea typeface="宋体" panose="02010600030101010101" pitchFamily="2" charset="-122"/>
              </a:rPr>
              <a:t>b) </a:t>
            </a:r>
            <a:r>
              <a:rPr lang="zh-CN" altLang="en-US" sz="2000" b="1" dirty="0">
                <a:ea typeface="宋体" panose="02010600030101010101" pitchFamily="2" charset="-122"/>
              </a:rPr>
              <a:t>如果[</a:t>
            </a:r>
            <a:r>
              <a:rPr lang="en-US" altLang="zh-CN" sz="2000" b="1" dirty="0">
                <a:ea typeface="宋体" panose="02010600030101010101" pitchFamily="2" charset="-122"/>
              </a:rPr>
              <a:t>A</a:t>
            </a:r>
            <a:r>
              <a:rPr lang="zh-CN" altLang="en-US" sz="2000" b="1" dirty="0">
                <a:ea typeface="宋体" panose="02010600030101010101" pitchFamily="2" charset="-122"/>
              </a:rPr>
              <a:t>→</a:t>
            </a:r>
            <a:r>
              <a:rPr lang="en-US" altLang="zh-CN" sz="2000" b="1" dirty="0">
                <a:ea typeface="宋体" panose="02010600030101010101" pitchFamily="2" charset="-122"/>
              </a:rPr>
              <a:t>α.]</a:t>
            </a:r>
            <a:r>
              <a:rPr lang="zh-CN" altLang="en-US" sz="2000" b="1" dirty="0">
                <a:ea typeface="宋体" panose="02010600030101010101" pitchFamily="2" charset="-122"/>
              </a:rPr>
              <a:t>在</a:t>
            </a:r>
            <a:r>
              <a:rPr lang="en-US" altLang="zh-CN" sz="2000" b="1" dirty="0">
                <a:ea typeface="宋体" panose="02010600030101010101" pitchFamily="2" charset="-122"/>
              </a:rPr>
              <a:t>I</a:t>
            </a:r>
            <a:r>
              <a:rPr lang="en-US" altLang="zh-CN" sz="2000" b="1" baseline="-25000" dirty="0">
                <a:ea typeface="宋体" panose="02010600030101010101" pitchFamily="2" charset="-122"/>
              </a:rPr>
              <a:t>i</a:t>
            </a:r>
            <a:r>
              <a:rPr lang="zh-CN" altLang="en-US" sz="2000" b="1" dirty="0">
                <a:ea typeface="宋体" panose="02010600030101010101" pitchFamily="2" charset="-122"/>
              </a:rPr>
              <a:t>中，则对</a:t>
            </a:r>
            <a:r>
              <a:rPr lang="en-US" altLang="zh-CN" sz="2000" b="1" dirty="0">
                <a:ea typeface="宋体" panose="02010600030101010101" pitchFamily="2" charset="-122"/>
              </a:rPr>
              <a:t>FOLLOW(A)</a:t>
            </a:r>
            <a:r>
              <a:rPr lang="zh-CN" altLang="en-US" sz="2000" b="1" dirty="0">
                <a:ea typeface="宋体" panose="02010600030101010101" pitchFamily="2" charset="-122"/>
              </a:rPr>
              <a:t>中的所有</a:t>
            </a:r>
            <a:r>
              <a:rPr lang="en-US" altLang="zh-CN" sz="2000" b="1" dirty="0">
                <a:ea typeface="宋体" panose="02010600030101010101" pitchFamily="2" charset="-122"/>
              </a:rPr>
              <a:t>a，</a:t>
            </a:r>
            <a:r>
              <a:rPr lang="zh-CN" altLang="en-US" sz="2000" b="1" dirty="0">
                <a:ea typeface="宋体" panose="02010600030101010101" pitchFamily="2" charset="-122"/>
              </a:rPr>
              <a:t>置</a:t>
            </a:r>
            <a:endParaRPr lang="zh-CN" altLang="en-US" sz="2000" b="1" dirty="0">
              <a:ea typeface="宋体" panose="02010600030101010101" pitchFamily="2" charset="-122"/>
            </a:endParaRPr>
          </a:p>
          <a:p>
            <a:pPr>
              <a:spcBef>
                <a:spcPct val="0"/>
              </a:spcBef>
              <a:buNone/>
            </a:pPr>
            <a:r>
              <a:rPr lang="en-US" altLang="zh-CN" sz="2000" b="1" dirty="0">
                <a:ea typeface="宋体" panose="02010600030101010101" pitchFamily="2" charset="-122"/>
              </a:rPr>
              <a:t>		     </a:t>
            </a:r>
            <a:r>
              <a:rPr lang="en-US" altLang="zh-CN" sz="2000" b="1" i="1" dirty="0">
                <a:ea typeface="宋体" panose="02010600030101010101" pitchFamily="2" charset="-122"/>
              </a:rPr>
              <a:t>ACTION</a:t>
            </a:r>
            <a:r>
              <a:rPr lang="en-US" altLang="zh-CN" sz="2000" b="1" dirty="0">
                <a:ea typeface="宋体" panose="02010600030101010101" pitchFamily="2" charset="-122"/>
              </a:rPr>
              <a:t>(i , a)</a:t>
            </a:r>
            <a:r>
              <a:rPr lang="zh-CN" altLang="en-US" sz="2000" b="1" dirty="0">
                <a:ea typeface="宋体" panose="02010600030101010101" pitchFamily="2" charset="-122"/>
              </a:rPr>
              <a:t>为</a:t>
            </a:r>
            <a:r>
              <a:rPr lang="en-US" altLang="zh-CN" sz="2000" b="1" dirty="0">
                <a:ea typeface="宋体" panose="02010600030101010101" pitchFamily="2" charset="-122"/>
              </a:rPr>
              <a:t>rj, j</a:t>
            </a:r>
            <a:r>
              <a:rPr lang="zh-CN" altLang="en-US" sz="2000" b="1" dirty="0">
                <a:ea typeface="宋体" panose="02010600030101010101" pitchFamily="2" charset="-122"/>
              </a:rPr>
              <a:t>是产生式</a:t>
            </a:r>
            <a:r>
              <a:rPr lang="en-US" altLang="zh-CN" sz="2000" b="1" dirty="0">
                <a:ea typeface="宋体" panose="02010600030101010101" pitchFamily="2" charset="-122"/>
              </a:rPr>
              <a:t>A</a:t>
            </a:r>
            <a:r>
              <a:rPr lang="zh-CN" altLang="en-US" sz="2000" b="1" dirty="0">
                <a:ea typeface="宋体" panose="02010600030101010101" pitchFamily="2" charset="-122"/>
              </a:rPr>
              <a:t>→</a:t>
            </a:r>
            <a:r>
              <a:rPr lang="en-US" altLang="zh-CN" sz="2000" b="1" dirty="0">
                <a:ea typeface="宋体" panose="02010600030101010101" pitchFamily="2" charset="-122"/>
              </a:rPr>
              <a:t>α</a:t>
            </a:r>
            <a:r>
              <a:rPr lang="zh-CN" altLang="en-US" sz="2000" b="1" dirty="0">
                <a:ea typeface="宋体" panose="02010600030101010101" pitchFamily="2" charset="-122"/>
              </a:rPr>
              <a:t>的编号。含义是按产生	    式</a:t>
            </a:r>
            <a:r>
              <a:rPr lang="en-US" altLang="zh-CN" sz="2000" b="1" dirty="0">
                <a:ea typeface="宋体" panose="02010600030101010101" pitchFamily="2" charset="-122"/>
              </a:rPr>
              <a:t>A</a:t>
            </a:r>
            <a:r>
              <a:rPr lang="zh-CN" altLang="en-US" sz="2000" b="1" dirty="0">
                <a:ea typeface="宋体" panose="02010600030101010101" pitchFamily="2" charset="-122"/>
              </a:rPr>
              <a:t>→</a:t>
            </a:r>
            <a:r>
              <a:rPr lang="en-US" altLang="zh-CN" sz="2000" b="1" dirty="0">
                <a:ea typeface="宋体" panose="02010600030101010101" pitchFamily="2" charset="-122"/>
              </a:rPr>
              <a:t>α</a:t>
            </a:r>
            <a:r>
              <a:rPr lang="zh-CN" altLang="en-US" sz="2000" b="1" dirty="0">
                <a:ea typeface="宋体" panose="02010600030101010101" pitchFamily="2" charset="-122"/>
              </a:rPr>
              <a:t>归约，这里</a:t>
            </a:r>
            <a:r>
              <a:rPr lang="en-US" altLang="zh-CN" sz="2000" b="1" dirty="0">
                <a:ea typeface="宋体" panose="02010600030101010101" pitchFamily="2" charset="-122"/>
              </a:rPr>
              <a:t>A</a:t>
            </a:r>
            <a:r>
              <a:rPr lang="zh-CN" altLang="en-US" sz="2000" b="1" dirty="0">
                <a:ea typeface="宋体" panose="02010600030101010101" pitchFamily="2" charset="-122"/>
              </a:rPr>
              <a:t>不是</a:t>
            </a:r>
            <a:r>
              <a:rPr lang="en-US" altLang="zh-CN" sz="2000" b="1" dirty="0">
                <a:ea typeface="宋体" panose="02010600030101010101" pitchFamily="2" charset="-122"/>
              </a:rPr>
              <a:t>S’</a:t>
            </a:r>
            <a:endParaRPr lang="en-US" altLang="zh-CN" sz="2000" b="1" dirty="0">
              <a:ea typeface="宋体" panose="02010600030101010101" pitchFamily="2" charset="-122"/>
            </a:endParaRPr>
          </a:p>
          <a:p>
            <a:pPr>
              <a:spcBef>
                <a:spcPct val="0"/>
              </a:spcBef>
              <a:buNone/>
            </a:pPr>
            <a:r>
              <a:rPr lang="zh-CN" altLang="en-US" sz="2000" b="1" dirty="0">
                <a:ea typeface="宋体" panose="02010600030101010101" pitchFamily="2" charset="-122"/>
              </a:rPr>
              <a:t>		 (</a:t>
            </a:r>
            <a:r>
              <a:rPr lang="en-US" altLang="zh-CN" sz="2000" b="1" dirty="0">
                <a:ea typeface="宋体" panose="02010600030101010101" pitchFamily="2" charset="-122"/>
              </a:rPr>
              <a:t>c) </a:t>
            </a:r>
            <a:r>
              <a:rPr lang="zh-CN" altLang="en-US" sz="2000" b="1" dirty="0">
                <a:ea typeface="宋体" panose="02010600030101010101" pitchFamily="2" charset="-122"/>
              </a:rPr>
              <a:t>如果[</a:t>
            </a:r>
            <a:r>
              <a:rPr lang="en-US" altLang="zh-CN" sz="2000" b="1" dirty="0">
                <a:ea typeface="宋体" panose="02010600030101010101" pitchFamily="2" charset="-122"/>
              </a:rPr>
              <a:t>S’</a:t>
            </a:r>
            <a:r>
              <a:rPr lang="zh-CN" altLang="en-US" sz="2000" b="1" dirty="0">
                <a:ea typeface="宋体" panose="02010600030101010101" pitchFamily="2" charset="-122"/>
              </a:rPr>
              <a:t>→</a:t>
            </a:r>
            <a:r>
              <a:rPr lang="en-US" altLang="zh-CN" sz="2000" b="1" dirty="0">
                <a:ea typeface="宋体" panose="02010600030101010101" pitchFamily="2" charset="-122"/>
              </a:rPr>
              <a:t>S.]</a:t>
            </a:r>
            <a:r>
              <a:rPr lang="zh-CN" altLang="en-US" sz="2000" b="1" dirty="0">
                <a:ea typeface="宋体" panose="02010600030101010101" pitchFamily="2" charset="-122"/>
              </a:rPr>
              <a:t>在</a:t>
            </a:r>
            <a:r>
              <a:rPr lang="en-US" altLang="zh-CN" sz="2000" b="1" dirty="0">
                <a:ea typeface="宋体" panose="02010600030101010101" pitchFamily="2" charset="-122"/>
              </a:rPr>
              <a:t>I</a:t>
            </a:r>
            <a:r>
              <a:rPr lang="en-US" altLang="zh-CN" sz="2000" b="1" baseline="-25000" dirty="0">
                <a:ea typeface="宋体" panose="02010600030101010101" pitchFamily="2" charset="-122"/>
              </a:rPr>
              <a:t>i</a:t>
            </a:r>
            <a:r>
              <a:rPr lang="zh-CN" altLang="en-US" sz="2000" b="1" dirty="0">
                <a:ea typeface="宋体" panose="02010600030101010101" pitchFamily="2" charset="-122"/>
              </a:rPr>
              <a:t>中，则置</a:t>
            </a:r>
            <a:r>
              <a:rPr lang="en-US" altLang="zh-CN" sz="2000" b="1" i="1" dirty="0">
                <a:ea typeface="宋体" panose="02010600030101010101" pitchFamily="2" charset="-122"/>
              </a:rPr>
              <a:t>ACTION</a:t>
            </a:r>
            <a:r>
              <a:rPr lang="en-US" altLang="zh-CN" sz="2000" b="1" dirty="0">
                <a:ea typeface="宋体" panose="02010600030101010101" pitchFamily="2" charset="-122"/>
              </a:rPr>
              <a:t>(i , $)=acc，</a:t>
            </a:r>
            <a:r>
              <a:rPr lang="zh-CN" altLang="en-US" sz="2000" b="1" dirty="0">
                <a:ea typeface="宋体" panose="02010600030101010101" pitchFamily="2" charset="-122"/>
              </a:rPr>
              <a:t>表示接受</a:t>
            </a:r>
            <a:endParaRPr lang="zh-CN" altLang="en-US" sz="2000" b="1" dirty="0">
              <a:ea typeface="宋体" panose="02010600030101010101" pitchFamily="2" charset="-122"/>
            </a:endParaRPr>
          </a:p>
          <a:p>
            <a:pPr>
              <a:spcBef>
                <a:spcPct val="0"/>
              </a:spcBef>
              <a:buNone/>
            </a:pPr>
            <a:r>
              <a:rPr lang="zh-CN" altLang="en-US" sz="2000" b="1" dirty="0">
                <a:ea typeface="宋体" panose="02010600030101010101" pitchFamily="2" charset="-122"/>
              </a:rPr>
              <a:t>	       (3)对所有的非终结符</a:t>
            </a:r>
            <a:r>
              <a:rPr lang="en-US" altLang="zh-CN" sz="2000" b="1" dirty="0">
                <a:ea typeface="宋体" panose="02010600030101010101" pitchFamily="2" charset="-122"/>
              </a:rPr>
              <a:t>A，</a:t>
            </a:r>
            <a:r>
              <a:rPr lang="zh-CN" altLang="en-US" sz="2000" b="1" dirty="0">
                <a:ea typeface="宋体" panose="02010600030101010101" pitchFamily="2" charset="-122"/>
              </a:rPr>
              <a:t>使用下面的规则构造状态</a:t>
            </a:r>
            <a:r>
              <a:rPr lang="en-US" altLang="zh-CN" sz="2000" b="1" dirty="0">
                <a:ea typeface="宋体" panose="02010600030101010101" pitchFamily="2" charset="-122"/>
              </a:rPr>
              <a:t>i</a:t>
            </a:r>
            <a:r>
              <a:rPr lang="zh-CN" altLang="en-US" sz="2000" b="1" dirty="0">
                <a:ea typeface="宋体" panose="02010600030101010101" pitchFamily="2" charset="-122"/>
              </a:rPr>
              <a:t>的转移：</a:t>
            </a:r>
            <a:endParaRPr lang="zh-CN" altLang="en-US" sz="2000" b="1" dirty="0">
              <a:ea typeface="宋体" panose="02010600030101010101" pitchFamily="2" charset="-122"/>
            </a:endParaRPr>
          </a:p>
          <a:p>
            <a:pPr>
              <a:spcBef>
                <a:spcPct val="0"/>
              </a:spcBef>
              <a:buNone/>
            </a:pPr>
            <a:r>
              <a:rPr lang="zh-CN" altLang="en-US" sz="2000" b="1" dirty="0">
                <a:ea typeface="宋体" panose="02010600030101010101" pitchFamily="2" charset="-122"/>
              </a:rPr>
              <a:t>		   如果</a:t>
            </a:r>
            <a:r>
              <a:rPr lang="en-US" altLang="zh-CN" sz="2000" b="1" i="1" dirty="0">
                <a:ea typeface="宋体" panose="02010600030101010101" pitchFamily="2" charset="-122"/>
              </a:rPr>
              <a:t>δ</a:t>
            </a:r>
            <a:r>
              <a:rPr lang="en-US" altLang="zh-CN" sz="2000" b="1" dirty="0">
                <a:ea typeface="宋体" panose="02010600030101010101" pitchFamily="2" charset="-122"/>
              </a:rPr>
              <a:t>( I</a:t>
            </a:r>
            <a:r>
              <a:rPr lang="en-US" altLang="zh-CN" sz="2000" b="1" baseline="-25000" dirty="0">
                <a:ea typeface="宋体" panose="02010600030101010101" pitchFamily="2" charset="-122"/>
              </a:rPr>
              <a:t>i</a:t>
            </a:r>
            <a:r>
              <a:rPr lang="en-US" altLang="zh-CN" sz="2000" b="1" dirty="0">
                <a:ea typeface="宋体" panose="02010600030101010101" pitchFamily="2" charset="-122"/>
              </a:rPr>
              <a:t> , A) = I</a:t>
            </a:r>
            <a:r>
              <a:rPr lang="en-US" altLang="zh-CN" sz="2000" b="1" baseline="-25000" dirty="0">
                <a:ea typeface="宋体" panose="02010600030101010101" pitchFamily="2" charset="-122"/>
              </a:rPr>
              <a:t>j</a:t>
            </a:r>
            <a:r>
              <a:rPr lang="en-US" altLang="zh-CN" sz="2000" b="1" dirty="0">
                <a:ea typeface="宋体" panose="02010600030101010101" pitchFamily="2" charset="-122"/>
              </a:rPr>
              <a:t>，</a:t>
            </a:r>
            <a:r>
              <a:rPr lang="zh-CN" altLang="en-US" sz="2000" b="1" dirty="0">
                <a:ea typeface="宋体" panose="02010600030101010101" pitchFamily="2" charset="-122"/>
              </a:rPr>
              <a:t>则</a:t>
            </a:r>
            <a:r>
              <a:rPr lang="en-US" altLang="zh-CN" sz="2000" b="1" i="1" dirty="0">
                <a:ea typeface="宋体" panose="02010600030101010101" pitchFamily="2" charset="-122"/>
              </a:rPr>
              <a:t>GOTO</a:t>
            </a:r>
            <a:r>
              <a:rPr lang="en-US" altLang="zh-CN" sz="2000" b="1" dirty="0">
                <a:ea typeface="宋体" panose="02010600030101010101" pitchFamily="2" charset="-122"/>
              </a:rPr>
              <a:t>[i , A]=j</a:t>
            </a:r>
            <a:endParaRPr lang="en-US" altLang="zh-CN" sz="2000" b="1" dirty="0">
              <a:ea typeface="宋体" panose="02010600030101010101" pitchFamily="2" charset="-122"/>
            </a:endParaRPr>
          </a:p>
          <a:p>
            <a:pPr>
              <a:spcBef>
                <a:spcPct val="0"/>
              </a:spcBef>
              <a:buNone/>
            </a:pPr>
            <a:r>
              <a:rPr lang="en-US" altLang="zh-CN" sz="2000" b="1" dirty="0">
                <a:ea typeface="宋体" panose="02010600030101010101" pitchFamily="2" charset="-122"/>
              </a:rPr>
              <a:t>	       (4)</a:t>
            </a:r>
            <a:r>
              <a:rPr lang="zh-CN" altLang="en-US" sz="2000" b="1" dirty="0">
                <a:ea typeface="宋体" panose="02010600030101010101" pitchFamily="2" charset="-122"/>
              </a:rPr>
              <a:t>不能由规则(2)和(3)定义的条目置为出错</a:t>
            </a:r>
            <a:endParaRPr lang="zh-CN" altLang="en-US" sz="2000" b="1" dirty="0">
              <a:ea typeface="宋体" panose="02010600030101010101" pitchFamily="2" charset="-122"/>
            </a:endParaRPr>
          </a:p>
          <a:p>
            <a:pPr>
              <a:spcBef>
                <a:spcPct val="0"/>
              </a:spcBef>
              <a:buNone/>
            </a:pPr>
            <a:r>
              <a:rPr lang="zh-CN" altLang="en-US" sz="2000" b="1" dirty="0">
                <a:ea typeface="宋体" panose="02010600030101010101" pitchFamily="2" charset="-122"/>
              </a:rPr>
              <a:t>	       (5)分析器的初始状态是包含[</a:t>
            </a:r>
            <a:r>
              <a:rPr lang="en-US" altLang="zh-CN" sz="2000" b="1" dirty="0">
                <a:ea typeface="宋体" panose="02010600030101010101" pitchFamily="2" charset="-122"/>
              </a:rPr>
              <a:t>S’</a:t>
            </a:r>
            <a:r>
              <a:rPr lang="zh-CN" altLang="en-US" sz="2000" b="1" dirty="0">
                <a:ea typeface="宋体" panose="02010600030101010101" pitchFamily="2" charset="-122"/>
              </a:rPr>
              <a:t>→.</a:t>
            </a:r>
            <a:r>
              <a:rPr lang="en-US" altLang="zh-CN" sz="2000" b="1" dirty="0">
                <a:ea typeface="宋体" panose="02010600030101010101" pitchFamily="2" charset="-122"/>
              </a:rPr>
              <a:t>S]</a:t>
            </a:r>
            <a:r>
              <a:rPr lang="zh-CN" altLang="en-US" sz="2000" b="1" dirty="0">
                <a:ea typeface="宋体" panose="02010600030101010101" pitchFamily="2" charset="-122"/>
              </a:rPr>
              <a:t>的项目集对应的状态</a:t>
            </a:r>
            <a:endParaRPr lang="zh-CN" altLang="en-US" sz="2000" b="1" dirty="0">
              <a:ea typeface="宋体" panose="02010600030101010101" pitchFamily="2" charset="-122"/>
            </a:endParaRPr>
          </a:p>
        </p:txBody>
      </p:sp>
    </p:spTree>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（27）</a:t>
            </a:r>
            <a:endParaRPr lang="en-US" altLang="zh-CN" dirty="0">
              <a:latin typeface="Times New Roman" panose="02020603050405020304" pitchFamily="18" charset="0"/>
              <a:ea typeface="宋体" panose="02010600030101010101" pitchFamily="2" charset="-122"/>
            </a:endParaRPr>
          </a:p>
        </p:txBody>
      </p:sp>
      <p:sp>
        <p:nvSpPr>
          <p:cNvPr id="238595" name="Rectangle 3"/>
          <p:cNvSpPr>
            <a:spLocks noGrp="1"/>
          </p:cNvSpPr>
          <p:nvPr>
            <p:ph idx="1"/>
          </p:nvPr>
        </p:nvSpPr>
        <p:spPr>
          <a:xfrm>
            <a:off x="990600" y="1371600"/>
            <a:ext cx="7542213" cy="4953000"/>
          </a:xfrm>
        </p:spPr>
        <p:txBody>
          <a:bodyPr vert="horz" wrap="square" lIns="92075" tIns="46038" rIns="92075" bIns="46038" anchor="t" anchorCtr="0"/>
          <a:p>
            <a:r>
              <a:rPr lang="zh-CN" altLang="en-US" sz="2400" b="1" dirty="0">
                <a:ea typeface="宋体" panose="02010600030101010101" pitchFamily="2" charset="-122"/>
              </a:rPr>
              <a:t>如果在规则(2)的构造中产生的动作有冲突，则该文法不是</a:t>
            </a:r>
            <a:r>
              <a:rPr lang="en-US" altLang="zh-CN" sz="2400" b="1" dirty="0">
                <a:ea typeface="宋体" panose="02010600030101010101" pitchFamily="2" charset="-122"/>
              </a:rPr>
              <a:t>SLR(1)</a:t>
            </a:r>
            <a:r>
              <a:rPr lang="zh-CN" altLang="en-US" sz="2400" b="1" dirty="0">
                <a:ea typeface="宋体" panose="02010600030101010101" pitchFamily="2" charset="-122"/>
              </a:rPr>
              <a:t>文法</a:t>
            </a:r>
            <a:endParaRPr lang="zh-CN" altLang="en-US" sz="2400" b="1" dirty="0">
              <a:ea typeface="宋体" panose="02010600030101010101" pitchFamily="2" charset="-122"/>
            </a:endParaRPr>
          </a:p>
          <a:p>
            <a:r>
              <a:rPr lang="zh-CN" altLang="en-US" sz="2400" b="1" dirty="0">
                <a:ea typeface="宋体" panose="02010600030101010101" pitchFamily="2" charset="-122"/>
              </a:rPr>
              <a:t>由上述算法生成的分析表称为文法</a:t>
            </a:r>
            <a:r>
              <a:rPr lang="en-US" altLang="zh-CN" sz="2400" b="1" dirty="0">
                <a:ea typeface="宋体" panose="02010600030101010101" pitchFamily="2" charset="-122"/>
              </a:rPr>
              <a:t>G</a:t>
            </a:r>
            <a:r>
              <a:rPr lang="zh-CN" altLang="en-US" sz="2400" b="1" dirty="0">
                <a:ea typeface="宋体" panose="02010600030101010101" pitchFamily="2" charset="-122"/>
              </a:rPr>
              <a:t>的</a:t>
            </a:r>
            <a:r>
              <a:rPr lang="en-US" altLang="zh-CN" sz="2400" b="1" dirty="0">
                <a:ea typeface="宋体" panose="02010600030101010101" pitchFamily="2" charset="-122"/>
              </a:rPr>
              <a:t>SLR(1)</a:t>
            </a:r>
            <a:r>
              <a:rPr lang="zh-CN" altLang="en-US" sz="2400" b="1" dirty="0">
                <a:ea typeface="宋体" panose="02010600030101010101" pitchFamily="2" charset="-122"/>
              </a:rPr>
              <a:t>分析表</a:t>
            </a:r>
            <a:endParaRPr lang="zh-CN" altLang="en-US" sz="2400" b="1" dirty="0">
              <a:ea typeface="宋体" panose="02010600030101010101" pitchFamily="2" charset="-122"/>
            </a:endParaRPr>
          </a:p>
          <a:p>
            <a:pPr lvl="1"/>
            <a:r>
              <a:rPr lang="zh-CN" altLang="en-US" sz="2000" b="1" dirty="0">
                <a:ea typeface="宋体" panose="02010600030101010101" pitchFamily="2" charset="-122"/>
              </a:rPr>
              <a:t>每个</a:t>
            </a:r>
            <a:r>
              <a:rPr lang="en-US" altLang="zh-CN" sz="2000" b="1" dirty="0">
                <a:ea typeface="宋体" panose="02010600030101010101" pitchFamily="2" charset="-122"/>
              </a:rPr>
              <a:t>SLR(1)</a:t>
            </a:r>
            <a:r>
              <a:rPr lang="zh-CN" altLang="en-US" sz="2000" b="1" dirty="0">
                <a:ea typeface="宋体" panose="02010600030101010101" pitchFamily="2" charset="-122"/>
              </a:rPr>
              <a:t>文法都不是二义的</a:t>
            </a:r>
            <a:endParaRPr lang="zh-CN" altLang="en-US" sz="2000" b="1" dirty="0">
              <a:ea typeface="宋体" panose="02010600030101010101" pitchFamily="2" charset="-122"/>
            </a:endParaRPr>
          </a:p>
          <a:p>
            <a:pPr lvl="1"/>
            <a:r>
              <a:rPr lang="zh-CN" altLang="en-US" sz="2000" b="1" dirty="0">
                <a:ea typeface="宋体" panose="02010600030101010101" pitchFamily="2" charset="-122"/>
              </a:rPr>
              <a:t>存在非二义的文法，这个文法不是</a:t>
            </a:r>
            <a:r>
              <a:rPr lang="en-US" altLang="zh-CN" sz="2000" b="1" dirty="0">
                <a:ea typeface="宋体" panose="02010600030101010101" pitchFamily="2" charset="-122"/>
              </a:rPr>
              <a:t>SLR(1)</a:t>
            </a:r>
            <a:r>
              <a:rPr lang="zh-CN" altLang="en-US" sz="2000" b="1" dirty="0">
                <a:ea typeface="宋体" panose="02010600030101010101" pitchFamily="2" charset="-122"/>
              </a:rPr>
              <a:t>的</a:t>
            </a:r>
            <a:endParaRPr lang="zh-CN" altLang="en-US" sz="2000" b="1" dirty="0">
              <a:ea typeface="宋体" panose="02010600030101010101" pitchFamily="2" charset="-122"/>
            </a:endParaRPr>
          </a:p>
          <a:p>
            <a:pPr lvl="1"/>
            <a:r>
              <a:rPr lang="zh-CN" altLang="en-US" sz="2000" b="1" dirty="0">
                <a:ea typeface="宋体" panose="02010600030101010101" pitchFamily="2" charset="-122"/>
              </a:rPr>
              <a:t>对于在栈顶状态</a:t>
            </a:r>
            <a:r>
              <a:rPr lang="en-US" altLang="zh-CN" sz="2000" b="1" dirty="0">
                <a:ea typeface="宋体" panose="02010600030101010101" pitchFamily="2" charset="-122"/>
              </a:rPr>
              <a:t>s</a:t>
            </a:r>
            <a:r>
              <a:rPr lang="zh-CN" altLang="en-US" sz="2000" b="1" dirty="0">
                <a:ea typeface="宋体" panose="02010600030101010101" pitchFamily="2" charset="-122"/>
              </a:rPr>
              <a:t>中的任何项目</a:t>
            </a:r>
            <a:r>
              <a:rPr lang="en-US" altLang="zh-CN" sz="2000" b="1" dirty="0">
                <a:ea typeface="宋体" panose="02010600030101010101" pitchFamily="2" charset="-122"/>
              </a:rPr>
              <a:t>A</a:t>
            </a:r>
            <a:r>
              <a:rPr lang="zh-CN" altLang="en-US" sz="2000" b="1" dirty="0">
                <a:ea typeface="宋体" panose="02010600030101010101" pitchFamily="2" charset="-122"/>
              </a:rPr>
              <a:t>→</a:t>
            </a:r>
            <a:r>
              <a:rPr lang="en-US" altLang="zh-CN" sz="2000" b="1" dirty="0">
                <a:ea typeface="宋体" panose="02010600030101010101" pitchFamily="2" charset="-122"/>
              </a:rPr>
              <a:t>α.Xβ，</a:t>
            </a:r>
            <a:r>
              <a:rPr lang="zh-CN" altLang="en-US" sz="2000" b="1" dirty="0">
                <a:ea typeface="宋体" panose="02010600030101010101" pitchFamily="2" charset="-122"/>
              </a:rPr>
              <a:t>当</a:t>
            </a:r>
            <a:r>
              <a:rPr lang="en-US" altLang="zh-CN" sz="2000" b="1" dirty="0">
                <a:ea typeface="宋体" panose="02010600030101010101" pitchFamily="2" charset="-122"/>
              </a:rPr>
              <a:t>X</a:t>
            </a:r>
            <a:r>
              <a:rPr lang="zh-CN" altLang="en-US" sz="2000" b="1" dirty="0">
                <a:ea typeface="宋体" panose="02010600030101010101" pitchFamily="2" charset="-122"/>
              </a:rPr>
              <a:t>是一个终结符，且</a:t>
            </a:r>
            <a:r>
              <a:rPr lang="en-US" altLang="zh-CN" sz="2000" b="1" dirty="0">
                <a:ea typeface="宋体" panose="02010600030101010101" pitchFamily="2" charset="-122"/>
              </a:rPr>
              <a:t>X</a:t>
            </a:r>
            <a:r>
              <a:rPr lang="zh-CN" altLang="en-US" sz="2000" b="1" dirty="0">
                <a:ea typeface="宋体" panose="02010600030101010101" pitchFamily="2" charset="-122"/>
              </a:rPr>
              <a:t>在</a:t>
            </a:r>
            <a:r>
              <a:rPr lang="en-US" altLang="zh-CN" sz="2000" b="1" dirty="0">
                <a:ea typeface="宋体" panose="02010600030101010101" pitchFamily="2" charset="-122"/>
              </a:rPr>
              <a:t>FOLLOW (B)</a:t>
            </a:r>
            <a:r>
              <a:rPr lang="zh-CN" altLang="en-US" sz="2000" b="1" dirty="0">
                <a:ea typeface="宋体" panose="02010600030101010101" pitchFamily="2" charset="-122"/>
              </a:rPr>
              <a:t>中时，</a:t>
            </a:r>
            <a:r>
              <a:rPr lang="en-US" altLang="zh-CN" sz="2000" b="1" dirty="0">
                <a:ea typeface="宋体" panose="02010600030101010101" pitchFamily="2" charset="-122"/>
              </a:rPr>
              <a:t>s</a:t>
            </a:r>
            <a:r>
              <a:rPr lang="zh-CN" altLang="en-US" sz="2000" b="1" dirty="0">
                <a:ea typeface="宋体" panose="02010600030101010101" pitchFamily="2" charset="-122"/>
              </a:rPr>
              <a:t>中没有完整的项目</a:t>
            </a:r>
            <a:r>
              <a:rPr lang="en-US" altLang="zh-CN" sz="2000" b="1" dirty="0">
                <a:ea typeface="宋体" panose="02010600030101010101" pitchFamily="2" charset="-122"/>
              </a:rPr>
              <a:t>B</a:t>
            </a:r>
            <a:r>
              <a:rPr lang="zh-CN" altLang="en-US" sz="2000" b="1" dirty="0">
                <a:ea typeface="宋体" panose="02010600030101010101" pitchFamily="2" charset="-122"/>
              </a:rPr>
              <a:t>→</a:t>
            </a:r>
            <a:r>
              <a:rPr lang="en-US" altLang="zh-CN" sz="2000" b="1" dirty="0">
                <a:ea typeface="宋体" panose="02010600030101010101" pitchFamily="2" charset="-122"/>
              </a:rPr>
              <a:t>γ.。（</a:t>
            </a:r>
            <a:r>
              <a:rPr lang="zh-CN" altLang="en-US" sz="2000" b="1" dirty="0">
                <a:ea typeface="宋体" panose="02010600030101010101" pitchFamily="2" charset="-122"/>
              </a:rPr>
              <a:t>若不满足，则存在移进-归约冲突）</a:t>
            </a:r>
            <a:endParaRPr lang="zh-CN" altLang="en-US" sz="2000" b="1" dirty="0">
              <a:ea typeface="宋体" panose="02010600030101010101" pitchFamily="2" charset="-122"/>
            </a:endParaRPr>
          </a:p>
          <a:p>
            <a:pPr lvl="1"/>
            <a:r>
              <a:rPr lang="zh-CN" altLang="en-US" sz="2000" b="1" dirty="0">
                <a:ea typeface="宋体" panose="02010600030101010101" pitchFamily="2" charset="-122"/>
              </a:rPr>
              <a:t>对于在</a:t>
            </a:r>
            <a:r>
              <a:rPr lang="en-US" altLang="zh-CN" sz="2000" b="1" dirty="0">
                <a:ea typeface="宋体" panose="02010600030101010101" pitchFamily="2" charset="-122"/>
              </a:rPr>
              <a:t>s</a:t>
            </a:r>
            <a:r>
              <a:rPr lang="zh-CN" altLang="en-US" sz="2000" b="1" dirty="0">
                <a:ea typeface="宋体" panose="02010600030101010101" pitchFamily="2" charset="-122"/>
              </a:rPr>
              <a:t>中的任何两个完整项目</a:t>
            </a:r>
            <a:r>
              <a:rPr lang="en-US" altLang="zh-CN" sz="2000" b="1" dirty="0">
                <a:ea typeface="宋体" panose="02010600030101010101" pitchFamily="2" charset="-122"/>
              </a:rPr>
              <a:t>A</a:t>
            </a:r>
            <a:r>
              <a:rPr lang="zh-CN" altLang="en-US" sz="2000" b="1" dirty="0">
                <a:ea typeface="宋体" panose="02010600030101010101" pitchFamily="2" charset="-122"/>
              </a:rPr>
              <a:t>→</a:t>
            </a:r>
            <a:r>
              <a:rPr lang="en-US" altLang="zh-CN" sz="2000" b="1" dirty="0">
                <a:ea typeface="宋体" panose="02010600030101010101" pitchFamily="2" charset="-122"/>
              </a:rPr>
              <a:t>α.</a:t>
            </a:r>
            <a:r>
              <a:rPr lang="zh-CN" altLang="en-US" sz="2000" b="1" dirty="0">
                <a:ea typeface="宋体" panose="02010600030101010101" pitchFamily="2" charset="-122"/>
              </a:rPr>
              <a:t>和</a:t>
            </a:r>
            <a:r>
              <a:rPr lang="en-US" altLang="zh-CN" sz="2000" b="1" dirty="0">
                <a:ea typeface="宋体" panose="02010600030101010101" pitchFamily="2" charset="-122"/>
              </a:rPr>
              <a:t>B</a:t>
            </a:r>
            <a:r>
              <a:rPr lang="zh-CN" altLang="en-US" sz="2000" b="1" dirty="0">
                <a:ea typeface="宋体" panose="02010600030101010101" pitchFamily="2" charset="-122"/>
              </a:rPr>
              <a:t>→</a:t>
            </a:r>
            <a:r>
              <a:rPr lang="en-US" altLang="zh-CN" sz="2000" b="1" dirty="0">
                <a:ea typeface="宋体" panose="02010600030101010101" pitchFamily="2" charset="-122"/>
              </a:rPr>
              <a:t>γ.，FOLLOW(A)</a:t>
            </a:r>
            <a:r>
              <a:rPr lang="zh-CN" altLang="en-US" sz="2000" b="1" dirty="0">
                <a:ea typeface="宋体" panose="02010600030101010101" pitchFamily="2" charset="-122"/>
              </a:rPr>
              <a:t>与</a:t>
            </a:r>
            <a:r>
              <a:rPr lang="en-US" altLang="zh-CN" sz="2000" b="1" dirty="0">
                <a:ea typeface="宋体" panose="02010600030101010101" pitchFamily="2" charset="-122"/>
              </a:rPr>
              <a:t>FOLLOW(B)</a:t>
            </a:r>
            <a:r>
              <a:rPr lang="zh-CN" altLang="en-US" sz="2000" b="1" dirty="0">
                <a:ea typeface="宋体" panose="02010600030101010101" pitchFamily="2" charset="-122"/>
              </a:rPr>
              <a:t>的交集为空集。（若不满足，则存在归约-归约冲突）</a:t>
            </a:r>
            <a:endParaRPr lang="zh-CN" altLang="en-US" sz="2000" b="1" dirty="0">
              <a:ea typeface="宋体" panose="02010600030101010101" pitchFamily="2" charset="-122"/>
            </a:endParaRPr>
          </a:p>
          <a:p>
            <a:r>
              <a:rPr lang="en-US" altLang="zh-CN" sz="2400" b="1" dirty="0">
                <a:ea typeface="宋体" panose="02010600030101010101" pitchFamily="2" charset="-122"/>
              </a:rPr>
              <a:t>SLR(1)</a:t>
            </a:r>
            <a:r>
              <a:rPr lang="zh-CN" altLang="en-US" sz="2400" b="1" dirty="0">
                <a:ea typeface="宋体" panose="02010600030101010101" pitchFamily="2" charset="-122"/>
              </a:rPr>
              <a:t>分析能力比</a:t>
            </a:r>
            <a:r>
              <a:rPr lang="en-US" altLang="zh-CN" sz="2400" b="1" dirty="0">
                <a:ea typeface="宋体" panose="02010600030101010101" pitchFamily="2" charset="-122"/>
              </a:rPr>
              <a:t>LR(0)</a:t>
            </a:r>
            <a:r>
              <a:rPr lang="zh-CN" altLang="en-US" sz="2400" b="1" dirty="0">
                <a:ea typeface="宋体" panose="02010600030101010101" pitchFamily="2" charset="-122"/>
              </a:rPr>
              <a:t>强，但仍然不能够满足要求</a:t>
            </a:r>
            <a:endParaRPr lang="en-US" altLang="zh-CN" sz="2400" b="1" dirty="0">
              <a:ea typeface="宋体" panose="02010600030101010101" pitchFamily="2" charset="-122"/>
            </a:endParaRPr>
          </a:p>
          <a:p>
            <a:r>
              <a:rPr lang="zh-CN" altLang="en-US" sz="2400" b="1" dirty="0">
                <a:ea typeface="宋体" panose="02010600030101010101" pitchFamily="2" charset="-122"/>
              </a:rPr>
              <a:t>根据该方法构造的表达式文法的</a:t>
            </a:r>
            <a:r>
              <a:rPr lang="en-US" altLang="zh-CN" sz="2400" b="1" dirty="0">
                <a:ea typeface="宋体" panose="02010600030101010101" pitchFamily="2" charset="-122"/>
              </a:rPr>
              <a:t>SLR</a:t>
            </a:r>
            <a:r>
              <a:rPr lang="zh-CN" altLang="en-US" sz="2400" b="1" dirty="0">
                <a:ea typeface="宋体" panose="02010600030101010101" pitchFamily="2" charset="-122"/>
              </a:rPr>
              <a:t>（</a:t>
            </a:r>
            <a:r>
              <a:rPr lang="en-US" altLang="zh-CN" sz="2400" b="1" dirty="0">
                <a:ea typeface="宋体" panose="02010600030101010101" pitchFamily="2" charset="-122"/>
              </a:rPr>
              <a:t>1</a:t>
            </a:r>
            <a:r>
              <a:rPr lang="zh-CN" altLang="en-US" sz="2400" b="1" dirty="0">
                <a:ea typeface="宋体" panose="02010600030101010101" pitchFamily="2" charset="-122"/>
              </a:rPr>
              <a:t>）分析表见</a:t>
            </a:r>
            <a:r>
              <a:rPr lang="en-US" altLang="zh-CN" sz="2400" b="1" dirty="0">
                <a:ea typeface="宋体" panose="02010600030101010101" pitchFamily="2" charset="-122"/>
              </a:rPr>
              <a:t>ppt</a:t>
            </a:r>
            <a:r>
              <a:rPr lang="zh-CN" altLang="en-US" sz="2400" b="1" dirty="0">
                <a:ea typeface="宋体" panose="02010600030101010101" pitchFamily="2" charset="-122"/>
              </a:rPr>
              <a:t>第</a:t>
            </a:r>
            <a:r>
              <a:rPr lang="en-US" altLang="zh-CN" sz="2400" b="1" dirty="0">
                <a:ea typeface="宋体" panose="02010600030101010101" pitchFamily="2" charset="-122"/>
              </a:rPr>
              <a:t>110</a:t>
            </a:r>
            <a:r>
              <a:rPr lang="zh-CN" altLang="en-US" sz="2400" b="1" dirty="0">
                <a:ea typeface="宋体" panose="02010600030101010101" pitchFamily="2" charset="-122"/>
              </a:rPr>
              <a:t>页的图</a:t>
            </a:r>
            <a:r>
              <a:rPr lang="en-US" altLang="zh-CN" sz="2400" b="1" dirty="0">
                <a:ea typeface="宋体" panose="02010600030101010101" pitchFamily="2" charset="-122"/>
              </a:rPr>
              <a:t>4-37</a:t>
            </a:r>
            <a:endParaRPr lang="zh-CN" altLang="en-US" sz="2400" b="1" dirty="0">
              <a:ea typeface="宋体" panose="02010600030101010101" pitchFamily="2" charset="-122"/>
            </a:endParaRPr>
          </a:p>
        </p:txBody>
      </p:sp>
    </p:spTree>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（28）</a:t>
            </a:r>
            <a:endParaRPr lang="en-US" altLang="zh-CN" dirty="0">
              <a:latin typeface="Times New Roman" panose="02020603050405020304" pitchFamily="18" charset="0"/>
              <a:ea typeface="宋体" panose="02010600030101010101" pitchFamily="2" charset="-122"/>
            </a:endParaRPr>
          </a:p>
        </p:txBody>
      </p:sp>
      <p:sp>
        <p:nvSpPr>
          <p:cNvPr id="240643" name="Rectangle 3"/>
          <p:cNvSpPr>
            <a:spLocks noGrp="1"/>
          </p:cNvSpPr>
          <p:nvPr>
            <p:ph idx="1"/>
          </p:nvPr>
        </p:nvSpPr>
        <p:spPr>
          <a:xfrm>
            <a:off x="762000" y="1371600"/>
            <a:ext cx="7848600" cy="4953000"/>
          </a:xfrm>
        </p:spPr>
        <p:txBody>
          <a:bodyPr vert="horz" wrap="square" lIns="92075" tIns="46038" rIns="92075" bIns="46038" anchor="t" anchorCtr="0"/>
          <a:p>
            <a:pPr>
              <a:lnSpc>
                <a:spcPct val="90000"/>
              </a:lnSpc>
            </a:pPr>
            <a:r>
              <a:rPr lang="zh-CN" altLang="en-US" sz="2800" b="1" dirty="0">
                <a:ea typeface="宋体" panose="02010600030101010101" pitchFamily="2" charset="-122"/>
              </a:rPr>
              <a:t>非</a:t>
            </a:r>
            <a:r>
              <a:rPr lang="en-US" altLang="zh-CN" sz="2800" b="1" dirty="0">
                <a:ea typeface="宋体" panose="02010600030101010101" pitchFamily="2" charset="-122"/>
              </a:rPr>
              <a:t>SLR(1)</a:t>
            </a:r>
            <a:r>
              <a:rPr lang="zh-CN" altLang="en-US" sz="2800" b="1" dirty="0">
                <a:ea typeface="宋体" panose="02010600030101010101" pitchFamily="2" charset="-122"/>
              </a:rPr>
              <a:t>文法的例子</a:t>
            </a:r>
            <a:endParaRPr lang="en-US" altLang="zh-CN" sz="2800" b="1" dirty="0">
              <a:ea typeface="宋体" panose="02010600030101010101" pitchFamily="2" charset="-122"/>
            </a:endParaRPr>
          </a:p>
          <a:p>
            <a:pPr>
              <a:lnSpc>
                <a:spcPct val="90000"/>
              </a:lnSpc>
              <a:buFont typeface="Wingdings" panose="05000000000000000000" pitchFamily="2" charset="2"/>
              <a:buNone/>
            </a:pPr>
            <a:r>
              <a:rPr lang="en-US" altLang="zh-CN" sz="2400" b="1" dirty="0">
                <a:ea typeface="宋体" panose="02010600030101010101" pitchFamily="2" charset="-122"/>
              </a:rPr>
              <a:t>		S</a:t>
            </a:r>
            <a:r>
              <a:rPr lang="zh-CN" altLang="en-US" sz="2400" b="1" dirty="0">
                <a:ea typeface="宋体" panose="02010600030101010101" pitchFamily="2" charset="-122"/>
              </a:rPr>
              <a:t>→</a:t>
            </a:r>
            <a:r>
              <a:rPr lang="en-US" altLang="zh-CN" sz="2400" b="1" dirty="0">
                <a:ea typeface="宋体" panose="02010600030101010101" pitchFamily="2" charset="-122"/>
              </a:rPr>
              <a:t>L = R | R</a:t>
            </a:r>
            <a:endParaRPr lang="en-US" altLang="zh-CN" sz="2400" b="1" dirty="0">
              <a:ea typeface="宋体" panose="02010600030101010101" pitchFamily="2" charset="-122"/>
            </a:endParaRPr>
          </a:p>
          <a:p>
            <a:pPr>
              <a:lnSpc>
                <a:spcPct val="90000"/>
              </a:lnSpc>
              <a:buFont typeface="Wingdings" panose="05000000000000000000" pitchFamily="2" charset="2"/>
              <a:buNone/>
            </a:pPr>
            <a:r>
              <a:rPr lang="en-US" altLang="zh-CN" sz="2400" b="1" dirty="0">
                <a:ea typeface="宋体" panose="02010600030101010101" pitchFamily="2" charset="-122"/>
              </a:rPr>
              <a:t>		L</a:t>
            </a:r>
            <a:r>
              <a:rPr lang="zh-CN" altLang="en-US" sz="2400" b="1" dirty="0">
                <a:ea typeface="宋体" panose="02010600030101010101" pitchFamily="2" charset="-122"/>
              </a:rPr>
              <a:t>→</a:t>
            </a:r>
            <a:r>
              <a:rPr lang="en-US" altLang="zh-CN" sz="2400" b="1" dirty="0">
                <a:ea typeface="宋体" panose="02010600030101010101" pitchFamily="2" charset="-122"/>
              </a:rPr>
              <a:t>*R | id</a:t>
            </a:r>
            <a:endParaRPr lang="en-US" altLang="zh-CN" sz="2400" b="1" dirty="0">
              <a:ea typeface="宋体" panose="02010600030101010101" pitchFamily="2" charset="-122"/>
            </a:endParaRPr>
          </a:p>
          <a:p>
            <a:pPr>
              <a:lnSpc>
                <a:spcPct val="90000"/>
              </a:lnSpc>
              <a:buFont typeface="Wingdings" panose="05000000000000000000" pitchFamily="2" charset="2"/>
              <a:buNone/>
            </a:pPr>
            <a:r>
              <a:rPr lang="en-US" altLang="zh-CN" sz="2400" b="1" dirty="0">
                <a:ea typeface="宋体" panose="02010600030101010101" pitchFamily="2" charset="-122"/>
              </a:rPr>
              <a:t>		R</a:t>
            </a:r>
            <a:r>
              <a:rPr lang="zh-CN" altLang="en-US" sz="2400" b="1" dirty="0">
                <a:ea typeface="宋体" panose="02010600030101010101" pitchFamily="2" charset="-122"/>
              </a:rPr>
              <a:t>→</a:t>
            </a:r>
            <a:r>
              <a:rPr lang="en-US" altLang="zh-CN" sz="2400" b="1" dirty="0">
                <a:ea typeface="宋体" panose="02010600030101010101" pitchFamily="2" charset="-122"/>
              </a:rPr>
              <a:t>L</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将</a:t>
            </a:r>
            <a:r>
              <a:rPr lang="en-US" altLang="zh-CN" sz="2200" b="1" dirty="0">
                <a:ea typeface="宋体" panose="02010600030101010101" pitchFamily="2" charset="-122"/>
              </a:rPr>
              <a:t>L</a:t>
            </a:r>
            <a:r>
              <a:rPr lang="zh-CN" altLang="en-US" sz="2200" b="1" dirty="0">
                <a:ea typeface="宋体" panose="02010600030101010101" pitchFamily="2" charset="-122"/>
              </a:rPr>
              <a:t>和</a:t>
            </a:r>
            <a:r>
              <a:rPr lang="en-US" altLang="zh-CN" sz="2200" b="1" dirty="0">
                <a:ea typeface="宋体" panose="02010600030101010101" pitchFamily="2" charset="-122"/>
              </a:rPr>
              <a:t>R</a:t>
            </a:r>
            <a:r>
              <a:rPr lang="zh-CN" altLang="en-US" sz="2200" b="1" dirty="0">
                <a:ea typeface="宋体" panose="02010600030101010101" pitchFamily="2" charset="-122"/>
              </a:rPr>
              <a:t>分别看作是代表左值和右值的文法符号</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将*看作是代表“左值指向的内容”的运算符</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参考“指针”的概念</a:t>
            </a:r>
            <a:endParaRPr lang="en-US" altLang="zh-CN" sz="2000" b="1" dirty="0">
              <a:ea typeface="宋体" panose="02010600030101010101" pitchFamily="2" charset="-122"/>
            </a:endParaRPr>
          </a:p>
          <a:p>
            <a:pPr lvl="1">
              <a:lnSpc>
                <a:spcPct val="90000"/>
              </a:lnSpc>
            </a:pPr>
            <a:r>
              <a:rPr lang="zh-CN" altLang="en-US" sz="2200" b="1" dirty="0">
                <a:ea typeface="宋体" panose="02010600030101010101" pitchFamily="2" charset="-122"/>
              </a:rPr>
              <a:t>对于下页给出的</a:t>
            </a:r>
            <a:r>
              <a:rPr lang="en-US" altLang="zh-CN" sz="2200" b="1" dirty="0">
                <a:ea typeface="宋体" panose="02010600030101010101" pitchFamily="2" charset="-122"/>
              </a:rPr>
              <a:t>LR</a:t>
            </a:r>
            <a:r>
              <a:rPr lang="zh-CN" altLang="en-US" sz="2200" b="1" dirty="0">
                <a:ea typeface="宋体" panose="02010600030101010101" pitchFamily="2" charset="-122"/>
              </a:rPr>
              <a:t>（</a:t>
            </a:r>
            <a:r>
              <a:rPr lang="en-US" altLang="zh-CN" sz="2200" b="1" dirty="0">
                <a:ea typeface="宋体" panose="02010600030101010101" pitchFamily="2" charset="-122"/>
              </a:rPr>
              <a:t>0</a:t>
            </a:r>
            <a:r>
              <a:rPr lang="zh-CN" altLang="en-US" sz="2200" b="1" dirty="0">
                <a:ea typeface="宋体" panose="02010600030101010101" pitchFamily="2" charset="-122"/>
              </a:rPr>
              <a:t>）项目集族，在项目集</a:t>
            </a:r>
            <a:r>
              <a:rPr lang="en-US" altLang="zh-CN" b="1" i="1" dirty="0">
                <a:ea typeface="宋体" panose="02010600030101010101" pitchFamily="2" charset="-122"/>
              </a:rPr>
              <a:t>I</a:t>
            </a:r>
            <a:r>
              <a:rPr lang="en-US" altLang="zh-CN" b="1" i="1" baseline="-25000" dirty="0">
                <a:ea typeface="宋体" panose="02010600030101010101" pitchFamily="2" charset="-122"/>
              </a:rPr>
              <a:t>2</a:t>
            </a:r>
            <a:r>
              <a:rPr lang="zh-CN" altLang="en-US" sz="2200" b="1" dirty="0">
                <a:ea typeface="宋体" panose="02010600030101010101" pitchFamily="2" charset="-122"/>
              </a:rPr>
              <a:t>中</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第一个项使得</a:t>
            </a:r>
            <a:r>
              <a:rPr lang="en-US" altLang="zh-CN" sz="2000" b="1" dirty="0">
                <a:ea typeface="宋体" panose="02010600030101010101" pitchFamily="2" charset="-122"/>
              </a:rPr>
              <a:t>ACTION[2</a:t>
            </a:r>
            <a:r>
              <a:rPr lang="zh-CN" altLang="en-US" sz="2000" b="1" dirty="0">
                <a:ea typeface="宋体" panose="02010600030101010101" pitchFamily="2" charset="-122"/>
              </a:rPr>
              <a:t>，</a:t>
            </a:r>
            <a:r>
              <a:rPr lang="en-US" altLang="zh-CN" sz="2000" b="1" dirty="0">
                <a:ea typeface="宋体" panose="02010600030101010101" pitchFamily="2" charset="-122"/>
              </a:rPr>
              <a:t>=]</a:t>
            </a:r>
            <a:r>
              <a:rPr lang="zh-CN" altLang="en-US" sz="2000" b="1" dirty="0">
                <a:ea typeface="宋体" panose="02010600030101010101" pitchFamily="2" charset="-122"/>
              </a:rPr>
              <a:t>为</a:t>
            </a:r>
            <a:r>
              <a:rPr lang="en-US" altLang="zh-CN" sz="2000" b="1" dirty="0">
                <a:ea typeface="宋体" panose="02010600030101010101" pitchFamily="2" charset="-122"/>
              </a:rPr>
              <a:t>s6</a:t>
            </a:r>
            <a:r>
              <a:rPr lang="zh-CN" altLang="en-US" sz="2000" b="1" dirty="0">
                <a:ea typeface="宋体" panose="02010600030101010101" pitchFamily="2" charset="-122"/>
              </a:rPr>
              <a:t>（移进，并转到</a:t>
            </a:r>
            <a:r>
              <a:rPr lang="en-US" altLang="zh-CN" sz="2000" b="1" i="1" dirty="0">
                <a:ea typeface="宋体" panose="02010600030101010101" pitchFamily="2" charset="-122"/>
              </a:rPr>
              <a:t>I</a:t>
            </a:r>
            <a:r>
              <a:rPr lang="en-US" altLang="zh-CN" sz="2000" b="1" i="1" baseline="-25000" dirty="0">
                <a:ea typeface="宋体" panose="02010600030101010101" pitchFamily="2" charset="-122"/>
              </a:rPr>
              <a:t>6</a:t>
            </a:r>
            <a:r>
              <a:rPr lang="zh-CN" altLang="en-US" sz="2000" b="1" dirty="0">
                <a:ea typeface="宋体" panose="02010600030101010101" pitchFamily="2" charset="-122"/>
              </a:rPr>
              <a:t>）</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但考虑到</a:t>
            </a:r>
            <a:r>
              <a:rPr lang="en-US" altLang="zh-CN" sz="2000" b="1" dirty="0">
                <a:ea typeface="宋体" panose="02010600030101010101" pitchFamily="2" charset="-122"/>
              </a:rPr>
              <a:t>FOLLOW</a:t>
            </a:r>
            <a:r>
              <a:rPr lang="zh-CN" altLang="en-US" sz="2000" b="1" dirty="0">
                <a:ea typeface="宋体" panose="02010600030101010101" pitchFamily="2" charset="-122"/>
              </a:rPr>
              <a:t>（</a:t>
            </a:r>
            <a:r>
              <a:rPr lang="en-US" altLang="zh-CN" sz="2000" b="1" dirty="0">
                <a:ea typeface="宋体" panose="02010600030101010101" pitchFamily="2" charset="-122"/>
              </a:rPr>
              <a:t>R</a:t>
            </a:r>
            <a:r>
              <a:rPr lang="zh-CN" altLang="en-US" sz="2000" b="1" dirty="0">
                <a:ea typeface="宋体" panose="02010600030101010101" pitchFamily="2" charset="-122"/>
              </a:rPr>
              <a:t>）包含“</a:t>
            </a:r>
            <a:r>
              <a:rPr lang="en-US" altLang="zh-CN" sz="2000" b="1" dirty="0">
                <a:ea typeface="宋体" panose="02010600030101010101" pitchFamily="2" charset="-122"/>
              </a:rPr>
              <a:t>=</a:t>
            </a:r>
            <a:r>
              <a:rPr lang="zh-CN" altLang="en-US" sz="2000" b="1" dirty="0">
                <a:ea typeface="宋体" panose="02010600030101010101" pitchFamily="2" charset="-122"/>
              </a:rPr>
              <a:t>”，因此第二个项使得</a:t>
            </a:r>
            <a:r>
              <a:rPr lang="en-US" altLang="zh-CN" sz="2000" b="1" dirty="0">
                <a:ea typeface="宋体" panose="02010600030101010101" pitchFamily="2" charset="-122"/>
              </a:rPr>
              <a:t>ACTION[2</a:t>
            </a:r>
            <a:r>
              <a:rPr lang="zh-CN" altLang="en-US" sz="2000" b="1" dirty="0">
                <a:ea typeface="宋体" panose="02010600030101010101" pitchFamily="2" charset="-122"/>
              </a:rPr>
              <a:t>，</a:t>
            </a:r>
            <a:r>
              <a:rPr lang="en-US" altLang="zh-CN" sz="2000" b="1" dirty="0">
                <a:ea typeface="宋体" panose="02010600030101010101" pitchFamily="2" charset="-122"/>
              </a:rPr>
              <a:t>=]</a:t>
            </a:r>
            <a:r>
              <a:rPr lang="zh-CN" altLang="en-US" sz="2000" b="1" dirty="0">
                <a:ea typeface="宋体" panose="02010600030101010101" pitchFamily="2" charset="-122"/>
              </a:rPr>
              <a:t>为“归约</a:t>
            </a:r>
            <a:r>
              <a:rPr lang="en-US" altLang="zh-CN" sz="2000" b="1" dirty="0">
                <a:ea typeface="宋体" panose="02010600030101010101" pitchFamily="2" charset="-122"/>
              </a:rPr>
              <a:t>R</a:t>
            </a:r>
            <a:r>
              <a:rPr lang="zh-CN" altLang="en-US" sz="2000" b="1" dirty="0">
                <a:ea typeface="宋体" panose="02010600030101010101" pitchFamily="2" charset="-122"/>
              </a:rPr>
              <a:t>→</a:t>
            </a:r>
            <a:r>
              <a:rPr lang="en-US" altLang="zh-CN" sz="2000" b="1" dirty="0">
                <a:ea typeface="宋体" panose="02010600030101010101" pitchFamily="2" charset="-122"/>
              </a:rPr>
              <a:t>L</a:t>
            </a:r>
            <a:r>
              <a:rPr lang="zh-CN" altLang="en-US" sz="2000" b="1" dirty="0">
                <a:ea typeface="宋体" panose="02010600030101010101" pitchFamily="2" charset="-122"/>
              </a:rPr>
              <a:t>”</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这个冲突的解决需要在分析能够更准确地确定动作，不能用</a:t>
            </a:r>
            <a:r>
              <a:rPr lang="en-US" altLang="zh-CN" sz="2000" b="1" dirty="0">
                <a:ea typeface="宋体" panose="02010600030101010101" pitchFamily="2" charset="-122"/>
              </a:rPr>
              <a:t>SLR</a:t>
            </a:r>
            <a:r>
              <a:rPr lang="zh-CN" altLang="en-US" sz="2000" b="1" dirty="0">
                <a:ea typeface="宋体" panose="02010600030101010101" pitchFamily="2" charset="-122"/>
              </a:rPr>
              <a:t>（</a:t>
            </a:r>
            <a:r>
              <a:rPr lang="en-US" altLang="zh-CN" sz="2000" b="1" dirty="0">
                <a:ea typeface="宋体" panose="02010600030101010101" pitchFamily="2" charset="-122"/>
              </a:rPr>
              <a:t>1</a:t>
            </a:r>
            <a:r>
              <a:rPr lang="zh-CN" altLang="en-US" sz="2000" b="1" dirty="0">
                <a:ea typeface="宋体" panose="02010600030101010101" pitchFamily="2" charset="-122"/>
              </a:rPr>
              <a:t>）解决</a:t>
            </a:r>
            <a:endParaRPr lang="en-US" altLang="zh-CN" sz="2000" b="1" dirty="0">
              <a:ea typeface="宋体" panose="02010600030101010101" pitchFamily="2" charset="-122"/>
            </a:endParaRPr>
          </a:p>
        </p:txBody>
      </p:sp>
    </p:spTree>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3"/>
          <p:cNvSpPr txBox="1">
            <a:spLocks noChangeArrowheads="1"/>
          </p:cNvSpPr>
          <p:nvPr/>
        </p:nvSpPr>
        <p:spPr>
          <a:xfrm>
            <a:off x="762000" y="4868863"/>
            <a:ext cx="7848600" cy="1671638"/>
          </a:xfrm>
          <a:prstGeom prst="rect">
            <a:avLst/>
          </a:prstGeom>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考察项目集</a:t>
            </a:r>
            <a:r>
              <a:rPr kumimoji="0" lang="en-US" altLang="zh-CN" sz="2400" b="1"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I</a:t>
            </a:r>
            <a:r>
              <a:rPr kumimoji="0" lang="en-US" altLang="zh-CN" sz="2400" b="1" i="1"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2 </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，如果要用</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L . </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进行归约，则意味着由这个文法推导出的最右句型中，有的句型是以</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R=</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开头的，而仔细观察文法，是不会出现这种情况的</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这种情况的发现需要更改</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分析对项目的定义</a:t>
            </a:r>
            <a:endPar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242691" name="Picture 2"/>
          <p:cNvPicPr>
            <a:picLocks noChangeAspect="1"/>
          </p:cNvPicPr>
          <p:nvPr/>
        </p:nvPicPr>
        <p:blipFill>
          <a:blip r:embed="rId1"/>
          <a:stretch>
            <a:fillRect/>
          </a:stretch>
        </p:blipFill>
        <p:spPr>
          <a:xfrm>
            <a:off x="179388" y="188913"/>
            <a:ext cx="8785225" cy="4679950"/>
          </a:xfrm>
          <a:prstGeom prst="rect">
            <a:avLst/>
          </a:prstGeom>
          <a:noFill/>
          <a:ln w="9525">
            <a:noFill/>
          </a:ln>
        </p:spPr>
      </p:pic>
    </p:spTree>
  </p:cSld>
  <p:clrMapOvr>
    <a:masterClrMapping/>
  </p:clrMapOvr>
  <p:transition spd="slow"/>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4"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（29）</a:t>
            </a:r>
            <a:endParaRPr lang="en-US" altLang="zh-CN" dirty="0">
              <a:latin typeface="Times New Roman" panose="02020603050405020304" pitchFamily="18" charset="0"/>
              <a:ea typeface="宋体" panose="02010600030101010101" pitchFamily="2" charset="-122"/>
            </a:endParaRPr>
          </a:p>
        </p:txBody>
      </p:sp>
      <p:sp>
        <p:nvSpPr>
          <p:cNvPr id="198659" name="Rectangle 3"/>
          <p:cNvSpPr>
            <a:spLocks noGrp="1" noChangeArrowheads="1"/>
          </p:cNvSpPr>
          <p:nvPr>
            <p:ph idx="1"/>
          </p:nvPr>
        </p:nvSpPr>
        <p:spPr>
          <a:xfrm>
            <a:off x="468313" y="1371600"/>
            <a:ext cx="8351838"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如果将</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DFA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中的每个状态定为接受状态，而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定为初态，则这个</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DFA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识别文法的活前缀（可行前缀）</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分析器的栈中内容代表的符号串</a:t>
            </a:r>
            <a:r>
              <a:rPr kumimoji="0" lang="el-GR"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是某个最右句型的前缀，如果剩余的输入是</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，则</a:t>
            </a:r>
            <a:r>
              <a:rPr kumimoji="0" lang="el-GR"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就是一个右句型，可以归约到文法的开始符号</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不是所有的最右句型的前缀都可以出现在栈里的，因为栈里的内容不能越过句柄</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对于项目</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β</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.β</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对活前缀</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αβ</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a:t>
            </a:r>
            <a:r>
              <a:rPr kumimoji="0" lang="zh-CN" altLang="en-US" sz="2200" b="1" i="0" u="none" strike="noStrike" kern="0" cap="none" spc="0" normalizeH="0" baseline="0" noProof="0" dirty="0">
                <a:ln>
                  <a:noFill/>
                </a:ln>
                <a:solidFill>
                  <a:srgbClr val="063DE8"/>
                </a:solidFill>
                <a:effectLst/>
                <a:uLnTx/>
                <a:uFillTx/>
                <a:latin typeface="+mn-lt"/>
                <a:ea typeface="宋体" panose="02010600030101010101" pitchFamily="2" charset="-122"/>
                <a:cs typeface="+mn-cs"/>
              </a:rPr>
              <a:t>有效</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的，是指存在推导序列</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90000"/>
              </a:lnSpc>
              <a:spcBef>
                <a:spcPct val="20000"/>
              </a:spcBef>
              <a:spcAft>
                <a:spcPct val="0"/>
              </a:spcAft>
              <a:buClr>
                <a:srgbClr val="063DE8"/>
              </a:buClr>
              <a:buSzPct val="125000"/>
              <a:buFontTx/>
              <a:buNone/>
              <a:defRPr/>
            </a:pPr>
            <a:endParaRPr kumimoji="0" lang="en-US" altLang="zh-CN" sz="3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对活前缀</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αβ</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有效表明当</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αβ</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在分析栈顶时</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则</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是句柄，应该用这个产生式归约</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不是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ε，</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则表示句柄还没有完全进栈，要继续移进</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同一个活前缀的两个有效项目可能对应了不同动作，引起了冲突</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这种冲突可以通过向前看几个符号解决，也可以通过其它方式解决</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graphicFrame>
        <p:nvGraphicFramePr>
          <p:cNvPr id="243716" name="Object 4"/>
          <p:cNvGraphicFramePr>
            <a:graphicFrameLocks noChangeAspect="1"/>
          </p:cNvGraphicFramePr>
          <p:nvPr/>
        </p:nvGraphicFramePr>
        <p:xfrm>
          <a:off x="2740025" y="3573463"/>
          <a:ext cx="2119313" cy="614362"/>
        </p:xfrm>
        <a:graphic>
          <a:graphicData uri="http://schemas.openxmlformats.org/presentationml/2006/ole">
            <mc:AlternateContent xmlns:mc="http://schemas.openxmlformats.org/markup-compatibility/2006">
              <mc:Choice xmlns:v="urn:schemas-microsoft-com:vml" Requires="v">
                <p:oleObj spid="_x0000_s3124" name="" r:id="rId1" imgW="1282700" imgH="368300" progId="Equation.3">
                  <p:embed/>
                </p:oleObj>
              </mc:Choice>
              <mc:Fallback>
                <p:oleObj name="" r:id="rId1" imgW="1282700" imgH="368300" progId="Equation.3">
                  <p:embed/>
                  <p:pic>
                    <p:nvPicPr>
                      <p:cNvPr id="0" name="图片 3123"/>
                      <p:cNvPicPr/>
                      <p:nvPr/>
                    </p:nvPicPr>
                    <p:blipFill>
                      <a:blip r:embed="rId2"/>
                      <a:stretch>
                        <a:fillRect/>
                      </a:stretch>
                    </p:blipFill>
                    <p:spPr>
                      <a:xfrm>
                        <a:off x="2740025" y="3573463"/>
                        <a:ext cx="2119313" cy="614362"/>
                      </a:xfrm>
                      <a:prstGeom prst="rect">
                        <a:avLst/>
                      </a:prstGeom>
                      <a:noFill/>
                      <a:ln w="38100">
                        <a:noFill/>
                        <a:miter/>
                      </a:ln>
                    </p:spPr>
                  </p:pic>
                </p:oleObj>
              </mc:Fallback>
            </mc:AlternateContent>
          </a:graphicData>
        </a:graphic>
      </p:graphicFrame>
    </p:spTree>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6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（30）</a:t>
            </a:r>
            <a:endParaRPr lang="en-US" altLang="zh-CN" dirty="0">
              <a:latin typeface="Times New Roman" panose="02020603050405020304" pitchFamily="18" charset="0"/>
              <a:ea typeface="宋体" panose="02010600030101010101" pitchFamily="2" charset="-122"/>
            </a:endParaRPr>
          </a:p>
        </p:txBody>
      </p:sp>
      <p:sp>
        <p:nvSpPr>
          <p:cNvPr id="245763" name="Rectangle 3"/>
          <p:cNvSpPr>
            <a:spLocks noGrp="1"/>
          </p:cNvSpPr>
          <p:nvPr>
            <p:ph idx="1"/>
          </p:nvPr>
        </p:nvSpPr>
        <p:spPr>
          <a:xfrm>
            <a:off x="990600" y="1371600"/>
            <a:ext cx="7391400" cy="4953000"/>
          </a:xfrm>
        </p:spPr>
        <p:txBody>
          <a:bodyPr vert="horz" wrap="square" lIns="92075" tIns="46038" rIns="92075" bIns="46038" anchor="t" anchorCtr="0"/>
          <a:p>
            <a:pPr>
              <a:lnSpc>
                <a:spcPct val="90000"/>
              </a:lnSpc>
            </a:pPr>
            <a:r>
              <a:rPr lang="en-US" altLang="zh-CN" sz="2400" b="1" dirty="0">
                <a:ea typeface="宋体" panose="02010600030101010101" pitchFamily="2" charset="-122"/>
              </a:rPr>
              <a:t>LR(1)</a:t>
            </a:r>
            <a:r>
              <a:rPr lang="zh-CN" altLang="en-US" sz="2400" b="1" dirty="0">
                <a:ea typeface="宋体" panose="02010600030101010101" pitchFamily="2" charset="-122"/>
              </a:rPr>
              <a:t>规范分析</a:t>
            </a:r>
            <a:endParaRPr lang="zh-CN" altLang="en-US" sz="2400" b="1" dirty="0">
              <a:ea typeface="宋体" panose="02010600030101010101" pitchFamily="2" charset="-122"/>
            </a:endParaRPr>
          </a:p>
          <a:p>
            <a:pPr lvl="1">
              <a:lnSpc>
                <a:spcPct val="90000"/>
              </a:lnSpc>
            </a:pPr>
            <a:r>
              <a:rPr lang="en-US" altLang="zh-CN" sz="2200" b="1" dirty="0">
                <a:ea typeface="宋体" panose="02010600030101010101" pitchFamily="2" charset="-122"/>
              </a:rPr>
              <a:t>SLR</a:t>
            </a:r>
            <a:r>
              <a:rPr lang="zh-CN" altLang="en-US" sz="2200" b="1" dirty="0">
                <a:ea typeface="宋体" panose="02010600030101010101" pitchFamily="2" charset="-122"/>
              </a:rPr>
              <a:t>分析不能解决某些移进-归约冲突，而</a:t>
            </a:r>
            <a:r>
              <a:rPr lang="en-US" altLang="zh-CN" sz="2200" b="1" dirty="0">
                <a:ea typeface="宋体" panose="02010600030101010101" pitchFamily="2" charset="-122"/>
              </a:rPr>
              <a:t>LR(1)</a:t>
            </a:r>
            <a:r>
              <a:rPr lang="zh-CN" altLang="en-US" sz="2200" b="1" dirty="0">
                <a:ea typeface="宋体" panose="02010600030101010101" pitchFamily="2" charset="-122"/>
              </a:rPr>
              <a:t>规范分析可以</a:t>
            </a:r>
            <a:endParaRPr lang="en-US" altLang="zh-CN" sz="2200" b="1" dirty="0">
              <a:ea typeface="宋体" panose="02010600030101010101" pitchFamily="2" charset="-122"/>
            </a:endParaRPr>
          </a:p>
          <a:p>
            <a:pPr lvl="1">
              <a:lnSpc>
                <a:spcPct val="90000"/>
              </a:lnSpc>
            </a:pPr>
            <a:r>
              <a:rPr lang="en-US" altLang="zh-CN" sz="2200" b="1" dirty="0">
                <a:ea typeface="宋体" panose="02010600030101010101" pitchFamily="2" charset="-122"/>
              </a:rPr>
              <a:t>LR(1)</a:t>
            </a:r>
            <a:r>
              <a:rPr lang="zh-CN" altLang="en-US" sz="2200" b="1" dirty="0">
                <a:ea typeface="宋体" panose="02010600030101010101" pitchFamily="2" charset="-122"/>
              </a:rPr>
              <a:t>项目：[</a:t>
            </a:r>
            <a:r>
              <a:rPr lang="en-US" altLang="zh-CN" sz="2200" b="1" dirty="0">
                <a:ea typeface="宋体" panose="02010600030101010101" pitchFamily="2" charset="-122"/>
              </a:rPr>
              <a:t>A</a:t>
            </a:r>
            <a:r>
              <a:rPr lang="zh-CN" altLang="en-US" sz="2200" b="1" dirty="0">
                <a:ea typeface="宋体" panose="02010600030101010101" pitchFamily="2" charset="-122"/>
              </a:rPr>
              <a:t>→</a:t>
            </a:r>
            <a:r>
              <a:rPr lang="en-US" altLang="zh-CN" sz="2200" b="1" dirty="0">
                <a:ea typeface="宋体" panose="02010600030101010101" pitchFamily="2" charset="-122"/>
              </a:rPr>
              <a:t>α.β，a]，</a:t>
            </a:r>
            <a:r>
              <a:rPr lang="zh-CN" altLang="en-US" sz="2200" b="1" dirty="0">
                <a:ea typeface="宋体" panose="02010600030101010101" pitchFamily="2" charset="-122"/>
              </a:rPr>
              <a:t>其中</a:t>
            </a:r>
            <a:r>
              <a:rPr lang="en-US" altLang="zh-CN" sz="2200" b="1" dirty="0">
                <a:ea typeface="宋体" panose="02010600030101010101" pitchFamily="2" charset="-122"/>
              </a:rPr>
              <a:t>A</a:t>
            </a:r>
            <a:r>
              <a:rPr lang="zh-CN" altLang="en-US" sz="2200" b="1" dirty="0">
                <a:ea typeface="宋体" panose="02010600030101010101" pitchFamily="2" charset="-122"/>
              </a:rPr>
              <a:t>→</a:t>
            </a:r>
            <a:r>
              <a:rPr lang="en-US" altLang="zh-CN" sz="2200" b="1" dirty="0">
                <a:ea typeface="宋体" panose="02010600030101010101" pitchFamily="2" charset="-122"/>
              </a:rPr>
              <a:t>αβ</a:t>
            </a:r>
            <a:r>
              <a:rPr lang="zh-CN" altLang="en-US" sz="2200" b="1" dirty="0">
                <a:ea typeface="宋体" panose="02010600030101010101" pitchFamily="2" charset="-122"/>
              </a:rPr>
              <a:t>是产生式，</a:t>
            </a:r>
            <a:r>
              <a:rPr lang="en-US" altLang="zh-CN" sz="2200" b="1" dirty="0">
                <a:ea typeface="宋体" panose="02010600030101010101" pitchFamily="2" charset="-122"/>
              </a:rPr>
              <a:t>a</a:t>
            </a:r>
            <a:r>
              <a:rPr lang="zh-CN" altLang="en-US" sz="2200" b="1" dirty="0">
                <a:ea typeface="宋体" panose="02010600030101010101" pitchFamily="2" charset="-122"/>
              </a:rPr>
              <a:t>是终结符号或$。</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1是指第二个成分的长度，这个成分称为项目的搜索符</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搜索符对</a:t>
            </a:r>
            <a:r>
              <a:rPr lang="en-US" altLang="zh-CN" sz="2000" b="1" dirty="0">
                <a:ea typeface="宋体" panose="02010600030101010101" pitchFamily="2" charset="-122"/>
              </a:rPr>
              <a:t>β</a:t>
            </a:r>
            <a:r>
              <a:rPr lang="zh-CN" altLang="en-US" sz="2000" b="1" dirty="0">
                <a:ea typeface="宋体" panose="02010600030101010101" pitchFamily="2" charset="-122"/>
              </a:rPr>
              <a:t>非空的项目[</a:t>
            </a:r>
            <a:r>
              <a:rPr lang="en-US" altLang="zh-CN" sz="2000" b="1" dirty="0">
                <a:ea typeface="宋体" panose="02010600030101010101" pitchFamily="2" charset="-122"/>
              </a:rPr>
              <a:t>A</a:t>
            </a:r>
            <a:r>
              <a:rPr lang="zh-CN" altLang="en-US" sz="2000" b="1" dirty="0">
                <a:ea typeface="宋体" panose="02010600030101010101" pitchFamily="2" charset="-122"/>
              </a:rPr>
              <a:t>→</a:t>
            </a:r>
            <a:r>
              <a:rPr lang="en-US" altLang="zh-CN" sz="2000" b="1" dirty="0">
                <a:ea typeface="宋体" panose="02010600030101010101" pitchFamily="2" charset="-122"/>
              </a:rPr>
              <a:t>α.β，a]</a:t>
            </a:r>
            <a:r>
              <a:rPr lang="zh-CN" altLang="en-US" sz="2000" b="1" dirty="0">
                <a:ea typeface="宋体" panose="02010600030101010101" pitchFamily="2" charset="-122"/>
              </a:rPr>
              <a:t>是不起作用的，但对项目</a:t>
            </a:r>
            <a:r>
              <a:rPr lang="zh-CN" altLang="en-US" b="1" dirty="0">
                <a:ea typeface="宋体" panose="02010600030101010101" pitchFamily="2" charset="-122"/>
              </a:rPr>
              <a:t>[</a:t>
            </a:r>
            <a:r>
              <a:rPr lang="en-US" altLang="zh-CN" sz="2000" b="1" dirty="0">
                <a:ea typeface="宋体" panose="02010600030101010101" pitchFamily="2" charset="-122"/>
              </a:rPr>
              <a:t>A</a:t>
            </a:r>
            <a:r>
              <a:rPr lang="zh-CN" altLang="en-US" sz="2000" b="1" dirty="0">
                <a:ea typeface="宋体" panose="02010600030101010101" pitchFamily="2" charset="-122"/>
              </a:rPr>
              <a:t>→</a:t>
            </a:r>
            <a:r>
              <a:rPr lang="en-US" altLang="zh-CN" sz="2000" b="1" dirty="0">
                <a:ea typeface="宋体" panose="02010600030101010101" pitchFamily="2" charset="-122"/>
              </a:rPr>
              <a:t>α. </a:t>
            </a:r>
            <a:r>
              <a:rPr lang="en-US" altLang="zh-CN" b="1" dirty="0">
                <a:ea typeface="宋体" panose="02010600030101010101" pitchFamily="2" charset="-122"/>
              </a:rPr>
              <a:t>，a]，</a:t>
            </a:r>
            <a:r>
              <a:rPr lang="zh-CN" altLang="en-US" b="1" dirty="0">
                <a:ea typeface="宋体" panose="02010600030101010101" pitchFamily="2" charset="-122"/>
              </a:rPr>
              <a:t>表示只有在下一个输入符号为</a:t>
            </a:r>
            <a:r>
              <a:rPr lang="en-US" altLang="zh-CN" b="1" dirty="0">
                <a:ea typeface="宋体" panose="02010600030101010101" pitchFamily="2" charset="-122"/>
              </a:rPr>
              <a:t>a</a:t>
            </a:r>
            <a:r>
              <a:rPr lang="zh-CN" altLang="en-US" b="1" dirty="0">
                <a:ea typeface="宋体" panose="02010600030101010101" pitchFamily="2" charset="-122"/>
              </a:rPr>
              <a:t>时才能要求按</a:t>
            </a:r>
            <a:r>
              <a:rPr lang="en-US" altLang="zh-CN" sz="2000" b="1" dirty="0">
                <a:ea typeface="宋体" panose="02010600030101010101" pitchFamily="2" charset="-122"/>
              </a:rPr>
              <a:t>A</a:t>
            </a:r>
            <a:r>
              <a:rPr lang="zh-CN" altLang="en-US" sz="2000" b="1" dirty="0">
                <a:ea typeface="宋体" panose="02010600030101010101" pitchFamily="2" charset="-122"/>
              </a:rPr>
              <a:t>→</a:t>
            </a:r>
            <a:r>
              <a:rPr lang="en-US" altLang="zh-CN" sz="2000" b="1" dirty="0">
                <a:ea typeface="宋体" panose="02010600030101010101" pitchFamily="2" charset="-122"/>
              </a:rPr>
              <a:t>α</a:t>
            </a:r>
            <a:r>
              <a:rPr lang="zh-CN" altLang="en-US" b="1" dirty="0">
                <a:ea typeface="宋体" panose="02010600030101010101" pitchFamily="2" charset="-122"/>
              </a:rPr>
              <a:t>归约</a:t>
            </a:r>
            <a:endParaRPr lang="zh-CN" altLang="en-US" b="1" dirty="0">
              <a:ea typeface="宋体" panose="02010600030101010101" pitchFamily="2" charset="-122"/>
            </a:endParaRPr>
          </a:p>
          <a:p>
            <a:pPr lvl="1">
              <a:lnSpc>
                <a:spcPct val="90000"/>
              </a:lnSpc>
            </a:pPr>
            <a:r>
              <a:rPr lang="en-US" altLang="zh-CN" sz="2200" b="1" dirty="0">
                <a:ea typeface="宋体" panose="02010600030101010101" pitchFamily="2" charset="-122"/>
              </a:rPr>
              <a:t>SLR(1)</a:t>
            </a:r>
            <a:r>
              <a:rPr lang="zh-CN" altLang="en-US" sz="2200" b="1" dirty="0">
                <a:ea typeface="宋体" panose="02010600030101010101" pitchFamily="2" charset="-122"/>
              </a:rPr>
              <a:t>和</a:t>
            </a:r>
            <a:r>
              <a:rPr lang="en-US" altLang="zh-CN" sz="2200" b="1" dirty="0">
                <a:ea typeface="宋体" panose="02010600030101010101" pitchFamily="2" charset="-122"/>
              </a:rPr>
              <a:t>LR(1)</a:t>
            </a:r>
            <a:r>
              <a:rPr lang="zh-CN" altLang="en-US" sz="2200" b="1" dirty="0">
                <a:ea typeface="宋体" panose="02010600030101010101" pitchFamily="2" charset="-122"/>
              </a:rPr>
              <a:t>对向前看符号的使用的不同：</a:t>
            </a:r>
            <a:endParaRPr lang="zh-CN" altLang="en-US" sz="2200" b="1" dirty="0">
              <a:ea typeface="宋体" panose="02010600030101010101" pitchFamily="2" charset="-122"/>
            </a:endParaRPr>
          </a:p>
          <a:p>
            <a:pPr lvl="2">
              <a:lnSpc>
                <a:spcPct val="90000"/>
              </a:lnSpc>
            </a:pPr>
            <a:r>
              <a:rPr lang="en-US" altLang="zh-CN" sz="2000" b="1" dirty="0">
                <a:ea typeface="宋体" panose="02010600030101010101" pitchFamily="2" charset="-122"/>
              </a:rPr>
              <a:t>SLR(1)</a:t>
            </a:r>
            <a:r>
              <a:rPr lang="zh-CN" altLang="en-US" sz="2000" b="1" dirty="0">
                <a:ea typeface="宋体" panose="02010600030101010101" pitchFamily="2" charset="-122"/>
              </a:rPr>
              <a:t>是在</a:t>
            </a:r>
            <a:r>
              <a:rPr lang="en-US" altLang="zh-CN" sz="2000" b="1" dirty="0">
                <a:ea typeface="宋体" panose="02010600030101010101" pitchFamily="2" charset="-122"/>
              </a:rPr>
              <a:t>LR(0)</a:t>
            </a:r>
            <a:r>
              <a:rPr lang="zh-CN" altLang="en-US" sz="2000" b="1" dirty="0">
                <a:ea typeface="宋体" panose="02010600030101010101" pitchFamily="2" charset="-122"/>
              </a:rPr>
              <a:t>项目的</a:t>
            </a:r>
            <a:r>
              <a:rPr lang="en-US" altLang="zh-CN" sz="2000" b="1" dirty="0">
                <a:ea typeface="宋体" panose="02010600030101010101" pitchFamily="2" charset="-122"/>
              </a:rPr>
              <a:t>DFA</a:t>
            </a:r>
            <a:r>
              <a:rPr lang="zh-CN" altLang="en-US" sz="2000" b="1" dirty="0">
                <a:ea typeface="宋体" panose="02010600030101010101" pitchFamily="2" charset="-122"/>
              </a:rPr>
              <a:t>构造完成后才考虑提供向前看的符号，</a:t>
            </a:r>
            <a:r>
              <a:rPr lang="en-US" altLang="zh-CN" sz="2000" b="1" dirty="0">
                <a:ea typeface="宋体" panose="02010600030101010101" pitchFamily="2" charset="-122"/>
              </a:rPr>
              <a:t>DFA</a:t>
            </a:r>
            <a:r>
              <a:rPr lang="zh-CN" altLang="en-US" sz="2000" b="1" dirty="0">
                <a:ea typeface="宋体" panose="02010600030101010101" pitchFamily="2" charset="-122"/>
              </a:rPr>
              <a:t>的构造中不考虑向前看的符号</a:t>
            </a:r>
            <a:endParaRPr lang="zh-CN" altLang="en-US" sz="2000" b="1" dirty="0">
              <a:ea typeface="宋体" panose="02010600030101010101" pitchFamily="2" charset="-122"/>
            </a:endParaRPr>
          </a:p>
          <a:p>
            <a:pPr lvl="2">
              <a:lnSpc>
                <a:spcPct val="90000"/>
              </a:lnSpc>
            </a:pPr>
            <a:r>
              <a:rPr lang="en-US" altLang="zh-CN" sz="2000" b="1" dirty="0">
                <a:ea typeface="宋体" panose="02010600030101010101" pitchFamily="2" charset="-122"/>
              </a:rPr>
              <a:t>LR(1)</a:t>
            </a:r>
            <a:r>
              <a:rPr lang="zh-CN" altLang="en-US" sz="2000" b="1" dirty="0">
                <a:ea typeface="宋体" panose="02010600030101010101" pitchFamily="2" charset="-122"/>
              </a:rPr>
              <a:t>是在一开始就考虑向前看符号，</a:t>
            </a:r>
            <a:r>
              <a:rPr lang="en-US" altLang="zh-CN" sz="2000" b="1" dirty="0">
                <a:ea typeface="宋体" panose="02010600030101010101" pitchFamily="2" charset="-122"/>
              </a:rPr>
              <a:t>DFA</a:t>
            </a:r>
            <a:r>
              <a:rPr lang="zh-CN" altLang="en-US" sz="2000" b="1" dirty="0">
                <a:ea typeface="宋体" panose="02010600030101010101" pitchFamily="2" charset="-122"/>
              </a:rPr>
              <a:t>的构造是在考虑向前看符号的基础上进行的</a:t>
            </a:r>
            <a:endParaRPr lang="zh-CN" altLang="en-US" sz="2000" b="1" dirty="0">
              <a:ea typeface="宋体" panose="02010600030101010101" pitchFamily="2" charset="-122"/>
            </a:endParaRPr>
          </a:p>
        </p:txBody>
      </p:sp>
    </p:spTree>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781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（31）</a:t>
            </a:r>
            <a:endParaRPr lang="en-US" altLang="zh-CN" dirty="0">
              <a:latin typeface="Times New Roman" panose="02020603050405020304" pitchFamily="18" charset="0"/>
              <a:ea typeface="宋体" panose="02010600030101010101" pitchFamily="2" charset="-122"/>
            </a:endParaRPr>
          </a:p>
        </p:txBody>
      </p:sp>
      <p:sp>
        <p:nvSpPr>
          <p:cNvPr id="247811" name="Rectangle 3"/>
          <p:cNvSpPr>
            <a:spLocks noGrp="1"/>
          </p:cNvSpPr>
          <p:nvPr>
            <p:ph idx="1"/>
          </p:nvPr>
        </p:nvSpPr>
        <p:spPr>
          <a:xfrm>
            <a:off x="990600" y="1371600"/>
            <a:ext cx="7391400" cy="4953000"/>
          </a:xfrm>
        </p:spPr>
        <p:txBody>
          <a:bodyPr vert="horz" wrap="square" lIns="92075" tIns="46038" rIns="92075" bIns="46038" anchor="t" anchorCtr="0"/>
          <a:p>
            <a:pPr marL="914400" lvl="1" indent="-457200">
              <a:lnSpc>
                <a:spcPct val="90000"/>
              </a:lnSpc>
            </a:pPr>
            <a:r>
              <a:rPr lang="en-US" altLang="zh-CN" sz="2000" b="1" dirty="0">
                <a:ea typeface="宋体" panose="02010600030101010101" pitchFamily="2" charset="-122"/>
              </a:rPr>
              <a:t>LR(1)</a:t>
            </a:r>
            <a:r>
              <a:rPr lang="zh-CN" altLang="en-US" sz="2000" b="1" dirty="0">
                <a:ea typeface="宋体" panose="02010600030101010101" pitchFamily="2" charset="-122"/>
              </a:rPr>
              <a:t>项目[</a:t>
            </a:r>
            <a:r>
              <a:rPr lang="en-US" altLang="zh-CN" sz="2000" b="1" dirty="0">
                <a:ea typeface="宋体" panose="02010600030101010101" pitchFamily="2" charset="-122"/>
              </a:rPr>
              <a:t>A</a:t>
            </a:r>
            <a:r>
              <a:rPr lang="zh-CN" altLang="en-US" sz="2000" b="1" dirty="0">
                <a:ea typeface="宋体" panose="02010600030101010101" pitchFamily="2" charset="-122"/>
              </a:rPr>
              <a:t>→</a:t>
            </a:r>
            <a:r>
              <a:rPr lang="en-US" altLang="zh-CN" sz="2000" b="1" dirty="0">
                <a:ea typeface="宋体" panose="02010600030101010101" pitchFamily="2" charset="-122"/>
              </a:rPr>
              <a:t>α.β，a]</a:t>
            </a:r>
            <a:r>
              <a:rPr lang="zh-CN" altLang="en-US" sz="2000" b="1" dirty="0">
                <a:ea typeface="宋体" panose="02010600030101010101" pitchFamily="2" charset="-122"/>
              </a:rPr>
              <a:t>对活前缀</a:t>
            </a:r>
            <a:r>
              <a:rPr lang="en-US" altLang="zh-CN" sz="2000" b="1" dirty="0">
                <a:ea typeface="宋体" panose="02010600030101010101" pitchFamily="2" charset="-122"/>
              </a:rPr>
              <a:t>γ</a:t>
            </a:r>
            <a:r>
              <a:rPr lang="zh-CN" altLang="en-US" sz="2000" b="1" dirty="0">
                <a:ea typeface="宋体" panose="02010600030101010101" pitchFamily="2" charset="-122"/>
              </a:rPr>
              <a:t>是</a:t>
            </a:r>
            <a:r>
              <a:rPr lang="zh-CN" altLang="en-US" sz="2000" b="1" dirty="0">
                <a:solidFill>
                  <a:srgbClr val="063DE8"/>
                </a:solidFill>
                <a:ea typeface="宋体" panose="02010600030101010101" pitchFamily="2" charset="-122"/>
              </a:rPr>
              <a:t>有效</a:t>
            </a:r>
            <a:r>
              <a:rPr lang="zh-CN" altLang="en-US" sz="2000" b="1" dirty="0">
                <a:ea typeface="宋体" panose="02010600030101010101" pitchFamily="2" charset="-122"/>
              </a:rPr>
              <a:t>的，如果存</a:t>
            </a:r>
            <a:endParaRPr lang="zh-CN" altLang="en-US" sz="2000" b="1" dirty="0">
              <a:ea typeface="宋体" panose="02010600030101010101" pitchFamily="2" charset="-122"/>
            </a:endParaRPr>
          </a:p>
          <a:p>
            <a:pPr marL="914400" lvl="1" indent="-457200">
              <a:lnSpc>
                <a:spcPct val="90000"/>
              </a:lnSpc>
              <a:spcBef>
                <a:spcPct val="40000"/>
              </a:spcBef>
              <a:spcAft>
                <a:spcPct val="40000"/>
              </a:spcAft>
              <a:buNone/>
            </a:pPr>
            <a:r>
              <a:rPr lang="zh-CN" altLang="en-US" sz="2000" b="1" dirty="0">
                <a:ea typeface="宋体" panose="02010600030101010101" pitchFamily="2" charset="-122"/>
              </a:rPr>
              <a:t>	在着推导                                 其中：</a:t>
            </a:r>
            <a:endParaRPr lang="zh-CN" altLang="en-US" sz="2000" b="1" dirty="0">
              <a:ea typeface="宋体" panose="02010600030101010101" pitchFamily="2" charset="-122"/>
            </a:endParaRPr>
          </a:p>
          <a:p>
            <a:pPr marL="1333500" lvl="2" indent="-419100">
              <a:lnSpc>
                <a:spcPct val="90000"/>
              </a:lnSpc>
              <a:buSzTx/>
              <a:buFontTx/>
              <a:buAutoNum type="arabicParenR"/>
            </a:pPr>
            <a:r>
              <a:rPr lang="en-US" altLang="zh-CN" sz="2000" b="1" dirty="0">
                <a:ea typeface="宋体" panose="02010600030101010101" pitchFamily="2" charset="-122"/>
              </a:rPr>
              <a:t>γ = δα</a:t>
            </a:r>
            <a:endParaRPr lang="en-US" altLang="zh-CN" sz="2000" b="1" dirty="0">
              <a:ea typeface="宋体" panose="02010600030101010101" pitchFamily="2" charset="-122"/>
            </a:endParaRPr>
          </a:p>
          <a:p>
            <a:pPr marL="1333500" lvl="2" indent="-419100">
              <a:lnSpc>
                <a:spcPct val="90000"/>
              </a:lnSpc>
              <a:buSzTx/>
              <a:buFontTx/>
              <a:buAutoNum type="arabicParenR"/>
            </a:pPr>
            <a:r>
              <a:rPr lang="en-US" altLang="zh-CN" sz="2000" b="1" dirty="0">
                <a:ea typeface="宋体" panose="02010600030101010101" pitchFamily="2" charset="-122"/>
              </a:rPr>
              <a:t>a</a:t>
            </a:r>
            <a:r>
              <a:rPr lang="zh-CN" altLang="en-US" sz="2000" b="1" dirty="0">
                <a:ea typeface="宋体" panose="02010600030101010101" pitchFamily="2" charset="-122"/>
              </a:rPr>
              <a:t>是</a:t>
            </a:r>
            <a:r>
              <a:rPr lang="en-US" altLang="zh-CN" sz="2000" b="1" dirty="0">
                <a:ea typeface="宋体" panose="02010600030101010101" pitchFamily="2" charset="-122"/>
              </a:rPr>
              <a:t>ω</a:t>
            </a:r>
            <a:r>
              <a:rPr lang="zh-CN" altLang="en-US" sz="2000" b="1" dirty="0">
                <a:ea typeface="宋体" panose="02010600030101010101" pitchFamily="2" charset="-122"/>
              </a:rPr>
              <a:t>的第一个符号，或者</a:t>
            </a:r>
            <a:r>
              <a:rPr lang="en-US" altLang="zh-CN" sz="2000" b="1" dirty="0">
                <a:ea typeface="宋体" panose="02010600030101010101" pitchFamily="2" charset="-122"/>
              </a:rPr>
              <a:t>ω</a:t>
            </a:r>
            <a:r>
              <a:rPr lang="zh-CN" altLang="en-US" sz="2000" b="1" dirty="0">
                <a:ea typeface="宋体" panose="02010600030101010101" pitchFamily="2" charset="-122"/>
              </a:rPr>
              <a:t>是</a:t>
            </a:r>
            <a:r>
              <a:rPr lang="en-US" altLang="zh-CN" sz="2000" b="1" dirty="0">
                <a:ea typeface="宋体" panose="02010600030101010101" pitchFamily="2" charset="-122"/>
              </a:rPr>
              <a:t>ε</a:t>
            </a:r>
            <a:r>
              <a:rPr lang="zh-CN" altLang="en-US" sz="2000" b="1" dirty="0">
                <a:ea typeface="宋体" panose="02010600030101010101" pitchFamily="2" charset="-122"/>
              </a:rPr>
              <a:t>则</a:t>
            </a:r>
            <a:r>
              <a:rPr lang="en-US" altLang="zh-CN" sz="2000" b="1" dirty="0">
                <a:ea typeface="宋体" panose="02010600030101010101" pitchFamily="2" charset="-122"/>
              </a:rPr>
              <a:t>a</a:t>
            </a:r>
            <a:r>
              <a:rPr lang="zh-CN" altLang="en-US" sz="2000" b="1" dirty="0">
                <a:ea typeface="宋体" panose="02010600030101010101" pitchFamily="2" charset="-122"/>
              </a:rPr>
              <a:t>是$</a:t>
            </a:r>
            <a:endParaRPr lang="zh-CN" altLang="en-US" sz="2000" b="1" dirty="0">
              <a:ea typeface="宋体" panose="02010600030101010101" pitchFamily="2" charset="-122"/>
            </a:endParaRPr>
          </a:p>
          <a:p>
            <a:pPr marL="914400" lvl="1" indent="-457200">
              <a:lnSpc>
                <a:spcPct val="90000"/>
              </a:lnSpc>
              <a:buNone/>
            </a:pPr>
            <a:endParaRPr lang="zh-CN" altLang="en-US" sz="1800" b="1" dirty="0">
              <a:ea typeface="宋体" panose="02010600030101010101" pitchFamily="2" charset="-122"/>
            </a:endParaRPr>
          </a:p>
          <a:p>
            <a:pPr marL="914400" lvl="1" indent="-457200">
              <a:lnSpc>
                <a:spcPct val="90000"/>
              </a:lnSpc>
              <a:buNone/>
            </a:pPr>
            <a:r>
              <a:rPr lang="zh-CN" altLang="en-US" sz="1800" b="1" dirty="0">
                <a:ea typeface="宋体" panose="02010600030101010101" pitchFamily="2" charset="-122"/>
              </a:rPr>
              <a:t>例：考虑文法</a:t>
            </a:r>
            <a:r>
              <a:rPr lang="en-US" altLang="zh-CN" sz="1800" b="1" dirty="0">
                <a:ea typeface="宋体" panose="02010600030101010101" pitchFamily="2" charset="-122"/>
              </a:rPr>
              <a:t>S</a:t>
            </a:r>
            <a:r>
              <a:rPr lang="zh-CN" altLang="en-US" sz="1800" b="1" dirty="0">
                <a:ea typeface="宋体" panose="02010600030101010101" pitchFamily="2" charset="-122"/>
              </a:rPr>
              <a:t>→</a:t>
            </a:r>
            <a:r>
              <a:rPr lang="en-US" altLang="zh-CN" sz="1800" b="1" dirty="0">
                <a:ea typeface="宋体" panose="02010600030101010101" pitchFamily="2" charset="-122"/>
              </a:rPr>
              <a:t>BB</a:t>
            </a:r>
            <a:endParaRPr lang="en-US" altLang="zh-CN" sz="1800" b="1" dirty="0">
              <a:ea typeface="宋体" panose="02010600030101010101" pitchFamily="2" charset="-122"/>
            </a:endParaRPr>
          </a:p>
          <a:p>
            <a:pPr marL="914400" lvl="1" indent="-457200">
              <a:lnSpc>
                <a:spcPct val="90000"/>
              </a:lnSpc>
              <a:buNone/>
            </a:pPr>
            <a:r>
              <a:rPr lang="en-US" altLang="zh-CN" sz="1800" b="1" dirty="0">
                <a:ea typeface="宋体" panose="02010600030101010101" pitchFamily="2" charset="-122"/>
              </a:rPr>
              <a:t>		     B</a:t>
            </a:r>
            <a:r>
              <a:rPr lang="zh-CN" altLang="en-US" sz="1800" b="1" dirty="0">
                <a:ea typeface="宋体" panose="02010600030101010101" pitchFamily="2" charset="-122"/>
              </a:rPr>
              <a:t>→</a:t>
            </a:r>
            <a:r>
              <a:rPr lang="en-US" altLang="zh-CN" sz="1800" b="1" dirty="0">
                <a:ea typeface="宋体" panose="02010600030101010101" pitchFamily="2" charset="-122"/>
              </a:rPr>
              <a:t>aB | b</a:t>
            </a:r>
            <a:endParaRPr lang="en-US" altLang="zh-CN" sz="1800" b="1" dirty="0">
              <a:ea typeface="宋体" panose="02010600030101010101" pitchFamily="2" charset="-122"/>
            </a:endParaRPr>
          </a:p>
          <a:p>
            <a:pPr marL="914400" lvl="1" indent="-457200">
              <a:lnSpc>
                <a:spcPct val="90000"/>
              </a:lnSpc>
              <a:buNone/>
            </a:pPr>
            <a:r>
              <a:rPr lang="zh-CN" altLang="en-US" sz="1800" b="1" dirty="0">
                <a:ea typeface="宋体" panose="02010600030101010101" pitchFamily="2" charset="-122"/>
              </a:rPr>
              <a:t>	</a:t>
            </a:r>
            <a:endParaRPr lang="zh-CN" altLang="en-US" sz="1800" b="1" dirty="0">
              <a:ea typeface="宋体" panose="02010600030101010101" pitchFamily="2" charset="-122"/>
            </a:endParaRPr>
          </a:p>
          <a:p>
            <a:pPr marL="914400" lvl="1" indent="-457200">
              <a:lnSpc>
                <a:spcPct val="90000"/>
              </a:lnSpc>
              <a:buNone/>
            </a:pPr>
            <a:r>
              <a:rPr lang="zh-CN" altLang="en-US" sz="1800" b="1" dirty="0">
                <a:ea typeface="宋体" panose="02010600030101010101" pitchFamily="2" charset="-122"/>
              </a:rPr>
              <a:t>	对于最右推导：                                     ，项目[</a:t>
            </a:r>
            <a:r>
              <a:rPr lang="en-US" altLang="zh-CN" sz="1800" b="1" dirty="0">
                <a:ea typeface="宋体" panose="02010600030101010101" pitchFamily="2" charset="-122"/>
              </a:rPr>
              <a:t>B</a:t>
            </a:r>
            <a:r>
              <a:rPr lang="zh-CN" altLang="en-US" sz="1800" b="1" dirty="0">
                <a:ea typeface="宋体" panose="02010600030101010101" pitchFamily="2" charset="-122"/>
              </a:rPr>
              <a:t>→</a:t>
            </a:r>
            <a:r>
              <a:rPr lang="en-US" altLang="zh-CN" sz="1800" b="1" dirty="0">
                <a:ea typeface="宋体" panose="02010600030101010101" pitchFamily="2" charset="-122"/>
              </a:rPr>
              <a:t>a.B，a]</a:t>
            </a:r>
            <a:r>
              <a:rPr lang="zh-CN" altLang="en-US" sz="1800" b="1" dirty="0">
                <a:ea typeface="宋体" panose="02010600030101010101" pitchFamily="2" charset="-122"/>
              </a:rPr>
              <a:t>对于活前缀</a:t>
            </a:r>
            <a:r>
              <a:rPr lang="en-US" altLang="zh-CN" sz="1800" b="1" dirty="0">
                <a:ea typeface="宋体" panose="02010600030101010101" pitchFamily="2" charset="-122"/>
              </a:rPr>
              <a:t>γ =aaa</a:t>
            </a:r>
            <a:r>
              <a:rPr lang="zh-CN" altLang="en-US" sz="1800" b="1" dirty="0">
                <a:ea typeface="宋体" panose="02010600030101010101" pitchFamily="2" charset="-122"/>
              </a:rPr>
              <a:t>是有效的，</a:t>
            </a:r>
            <a:r>
              <a:rPr lang="en-US" altLang="zh-CN" sz="1800" b="1" dirty="0">
                <a:ea typeface="宋体" panose="02010600030101010101" pitchFamily="2" charset="-122"/>
              </a:rPr>
              <a:t>δ=aa，A=B，ω=ab，α =a</a:t>
            </a:r>
            <a:r>
              <a:rPr lang="zh-CN" altLang="en-US" sz="1800" b="1" dirty="0">
                <a:ea typeface="宋体" panose="02010600030101010101" pitchFamily="2" charset="-122"/>
              </a:rPr>
              <a:t>和</a:t>
            </a:r>
            <a:r>
              <a:rPr lang="en-US" altLang="zh-CN" sz="1800" b="1" dirty="0">
                <a:ea typeface="宋体" panose="02010600030101010101" pitchFamily="2" charset="-122"/>
              </a:rPr>
              <a:t>β=B</a:t>
            </a:r>
            <a:endParaRPr lang="en-US" altLang="zh-CN" sz="1800" b="1" dirty="0">
              <a:ea typeface="宋体" panose="02010600030101010101" pitchFamily="2" charset="-122"/>
            </a:endParaRPr>
          </a:p>
          <a:p>
            <a:pPr marL="914400" lvl="1" indent="-457200">
              <a:lnSpc>
                <a:spcPct val="90000"/>
              </a:lnSpc>
              <a:buNone/>
            </a:pPr>
            <a:endParaRPr lang="zh-CN" altLang="en-US" sz="1800" b="1" dirty="0">
              <a:ea typeface="宋体" panose="02010600030101010101" pitchFamily="2" charset="-122"/>
            </a:endParaRPr>
          </a:p>
          <a:p>
            <a:pPr marL="914400" lvl="1" indent="-457200">
              <a:lnSpc>
                <a:spcPct val="90000"/>
              </a:lnSpc>
              <a:buNone/>
            </a:pPr>
            <a:r>
              <a:rPr lang="zh-CN" altLang="en-US" sz="1800" b="1" dirty="0">
                <a:ea typeface="宋体" panose="02010600030101010101" pitchFamily="2" charset="-122"/>
              </a:rPr>
              <a:t>	对于最右推导：                             ，项目[</a:t>
            </a:r>
            <a:r>
              <a:rPr lang="en-US" altLang="zh-CN" sz="1800" b="1" dirty="0">
                <a:ea typeface="宋体" panose="02010600030101010101" pitchFamily="2" charset="-122"/>
              </a:rPr>
              <a:t>B</a:t>
            </a:r>
            <a:r>
              <a:rPr lang="zh-CN" altLang="en-US" sz="1800" b="1" dirty="0">
                <a:ea typeface="宋体" panose="02010600030101010101" pitchFamily="2" charset="-122"/>
              </a:rPr>
              <a:t>→</a:t>
            </a:r>
            <a:r>
              <a:rPr lang="en-US" altLang="zh-CN" sz="1800" b="1" dirty="0">
                <a:ea typeface="宋体" panose="02010600030101010101" pitchFamily="2" charset="-122"/>
              </a:rPr>
              <a:t>a.B，$]</a:t>
            </a:r>
            <a:r>
              <a:rPr lang="zh-CN" altLang="en-US" sz="1800" b="1" dirty="0">
                <a:ea typeface="宋体" panose="02010600030101010101" pitchFamily="2" charset="-122"/>
              </a:rPr>
              <a:t>对于活前缀</a:t>
            </a:r>
            <a:r>
              <a:rPr lang="en-US" altLang="zh-CN" sz="1800" b="1" dirty="0">
                <a:ea typeface="宋体" panose="02010600030101010101" pitchFamily="2" charset="-122"/>
              </a:rPr>
              <a:t>Baa</a:t>
            </a:r>
            <a:r>
              <a:rPr lang="zh-CN" altLang="en-US" sz="1800" b="1" dirty="0">
                <a:ea typeface="宋体" panose="02010600030101010101" pitchFamily="2" charset="-122"/>
              </a:rPr>
              <a:t>是有效的</a:t>
            </a:r>
            <a:endParaRPr lang="en-US" altLang="zh-CN" sz="1800" b="1" dirty="0">
              <a:ea typeface="宋体" panose="02010600030101010101" pitchFamily="2" charset="-122"/>
            </a:endParaRPr>
          </a:p>
        </p:txBody>
      </p:sp>
      <p:graphicFrame>
        <p:nvGraphicFramePr>
          <p:cNvPr id="247812" name="Object 4"/>
          <p:cNvGraphicFramePr>
            <a:graphicFrameLocks noChangeAspect="1"/>
          </p:cNvGraphicFramePr>
          <p:nvPr/>
        </p:nvGraphicFramePr>
        <p:xfrm>
          <a:off x="2987675" y="1608138"/>
          <a:ext cx="2078038" cy="655637"/>
        </p:xfrm>
        <a:graphic>
          <a:graphicData uri="http://schemas.openxmlformats.org/presentationml/2006/ole">
            <mc:AlternateContent xmlns:mc="http://schemas.openxmlformats.org/markup-compatibility/2006">
              <mc:Choice xmlns:v="urn:schemas-microsoft-com:vml" Requires="v">
                <p:oleObj spid="_x0000_s3121" name="" r:id="rId1" imgW="1256665" imgH="393700" progId="Equation.3">
                  <p:embed/>
                </p:oleObj>
              </mc:Choice>
              <mc:Fallback>
                <p:oleObj name="" r:id="rId1" imgW="1256665" imgH="393700" progId="Equation.3">
                  <p:embed/>
                  <p:pic>
                    <p:nvPicPr>
                      <p:cNvPr id="0" name="图片 3120"/>
                      <p:cNvPicPr/>
                      <p:nvPr/>
                    </p:nvPicPr>
                    <p:blipFill>
                      <a:blip r:embed="rId2"/>
                      <a:stretch>
                        <a:fillRect/>
                      </a:stretch>
                    </p:blipFill>
                    <p:spPr>
                      <a:xfrm>
                        <a:off x="2987675" y="1608138"/>
                        <a:ext cx="2078038" cy="655637"/>
                      </a:xfrm>
                      <a:prstGeom prst="rect">
                        <a:avLst/>
                      </a:prstGeom>
                      <a:noFill/>
                      <a:ln w="38100">
                        <a:noFill/>
                        <a:miter/>
                      </a:ln>
                    </p:spPr>
                  </p:pic>
                </p:oleObj>
              </mc:Fallback>
            </mc:AlternateContent>
          </a:graphicData>
        </a:graphic>
      </p:graphicFrame>
      <p:graphicFrame>
        <p:nvGraphicFramePr>
          <p:cNvPr id="247813" name="Object 5"/>
          <p:cNvGraphicFramePr>
            <a:graphicFrameLocks noChangeAspect="1"/>
          </p:cNvGraphicFramePr>
          <p:nvPr/>
        </p:nvGraphicFramePr>
        <p:xfrm>
          <a:off x="3492500" y="3886200"/>
          <a:ext cx="2232025" cy="588963"/>
        </p:xfrm>
        <a:graphic>
          <a:graphicData uri="http://schemas.openxmlformats.org/presentationml/2006/ole">
            <mc:AlternateContent xmlns:mc="http://schemas.openxmlformats.org/markup-compatibility/2006">
              <mc:Choice xmlns:v="urn:schemas-microsoft-com:vml" Requires="v">
                <p:oleObj spid="_x0000_s3122" name="" r:id="rId3" imgW="1409700" imgH="368300" progId="Equation.3">
                  <p:embed/>
                </p:oleObj>
              </mc:Choice>
              <mc:Fallback>
                <p:oleObj name="" r:id="rId3" imgW="1409700" imgH="368300" progId="Equation.3">
                  <p:embed/>
                  <p:pic>
                    <p:nvPicPr>
                      <p:cNvPr id="0" name="图片 3121"/>
                      <p:cNvPicPr/>
                      <p:nvPr/>
                    </p:nvPicPr>
                    <p:blipFill>
                      <a:blip r:embed="rId4"/>
                      <a:stretch>
                        <a:fillRect/>
                      </a:stretch>
                    </p:blipFill>
                    <p:spPr>
                      <a:xfrm>
                        <a:off x="3492500" y="3886200"/>
                        <a:ext cx="2232025" cy="588963"/>
                      </a:xfrm>
                      <a:prstGeom prst="rect">
                        <a:avLst/>
                      </a:prstGeom>
                      <a:noFill/>
                      <a:ln w="38100">
                        <a:noFill/>
                        <a:miter/>
                      </a:ln>
                    </p:spPr>
                  </p:pic>
                </p:oleObj>
              </mc:Fallback>
            </mc:AlternateContent>
          </a:graphicData>
        </a:graphic>
      </p:graphicFrame>
      <p:graphicFrame>
        <p:nvGraphicFramePr>
          <p:cNvPr id="247814" name="Object 6"/>
          <p:cNvGraphicFramePr>
            <a:graphicFrameLocks noChangeAspect="1"/>
          </p:cNvGraphicFramePr>
          <p:nvPr/>
        </p:nvGraphicFramePr>
        <p:xfrm>
          <a:off x="3492500" y="4868863"/>
          <a:ext cx="1727200" cy="544512"/>
        </p:xfrm>
        <a:graphic>
          <a:graphicData uri="http://schemas.openxmlformats.org/presentationml/2006/ole">
            <mc:AlternateContent xmlns:mc="http://schemas.openxmlformats.org/markup-compatibility/2006">
              <mc:Choice xmlns:v="urn:schemas-microsoft-com:vml" Requires="v">
                <p:oleObj spid="_x0000_s3123" name="" r:id="rId5" imgW="1181100" imgH="368300" progId="Equation.3">
                  <p:embed/>
                </p:oleObj>
              </mc:Choice>
              <mc:Fallback>
                <p:oleObj name="" r:id="rId5" imgW="1181100" imgH="368300" progId="Equation.3">
                  <p:embed/>
                  <p:pic>
                    <p:nvPicPr>
                      <p:cNvPr id="0" name="图片 3122"/>
                      <p:cNvPicPr/>
                      <p:nvPr/>
                    </p:nvPicPr>
                    <p:blipFill>
                      <a:blip r:embed="rId6"/>
                      <a:stretch>
                        <a:fillRect/>
                      </a:stretch>
                    </p:blipFill>
                    <p:spPr>
                      <a:xfrm>
                        <a:off x="3492500" y="4868863"/>
                        <a:ext cx="1727200" cy="544512"/>
                      </a:xfrm>
                      <a:prstGeom prst="rect">
                        <a:avLst/>
                      </a:prstGeom>
                      <a:noFill/>
                      <a:ln w="38100">
                        <a:noFill/>
                        <a:miter/>
                      </a:ln>
                    </p:spPr>
                  </p:pic>
                </p:oleObj>
              </mc:Fallback>
            </mc:AlternateContent>
          </a:graphicData>
        </a:graphic>
      </p:graphicFrame>
    </p:spTree>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985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（32）</a:t>
            </a:r>
            <a:endParaRPr lang="en-US" altLang="zh-CN" dirty="0">
              <a:latin typeface="Times New Roman" panose="02020603050405020304" pitchFamily="18" charset="0"/>
              <a:ea typeface="宋体" panose="02010600030101010101" pitchFamily="2" charset="-122"/>
            </a:endParaRPr>
          </a:p>
        </p:txBody>
      </p:sp>
      <p:sp>
        <p:nvSpPr>
          <p:cNvPr id="204803" name="Rectangle 3"/>
          <p:cNvSpPr>
            <a:spLocks noGrp="1" noChangeArrowheads="1"/>
          </p:cNvSpPr>
          <p:nvPr>
            <p:ph idx="1"/>
          </p:nvPr>
        </p:nvSpPr>
        <p:spPr>
          <a:xfrm>
            <a:off x="395288" y="1371600"/>
            <a:ext cx="8353425" cy="4953000"/>
          </a:xfrm>
        </p:spPr>
        <p:txBody>
          <a:bodyPr vert="horz" wrap="square" lIns="92075" tIns="46038" rIns="92075" bIns="46038" numCol="1" anchor="t" anchorCtr="0" compatLnSpc="1"/>
          <a:lstStyle/>
          <a:p>
            <a:pPr marL="514350" marR="0" lvl="0"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有效的</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LR(1)</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项目集族的构造方法本质上和构造</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LR(0)</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项目集规范族的方法是一样的</a:t>
            </a:r>
            <a:endPar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rPr>
              <a:t>Closure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函数的构造：</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考虑对活前缀</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γ</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有效的项目集中的项目[</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α.Bβ，a]。</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必定存在一个最右推导			 , 其中</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γ=δα,</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假定</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βa</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推出终结符串</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by，</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则对每个形式</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η</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的产生式</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有推导		         ，于是[</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η，b</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对</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γ</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有效</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可能是从</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推出的第一个终结符，或者</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是空串，</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就成了</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即</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 = FIRST(βa</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但在此处，考虑到</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是终结符，所以有</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FIRST(βa</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FIRST(βa)</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下页给出对于增广文法</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）项目集族的构造算法</a:t>
            </a:r>
            <a:endPar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graphicFrame>
        <p:nvGraphicFramePr>
          <p:cNvPr id="249860" name="Object 7"/>
          <p:cNvGraphicFramePr>
            <a:graphicFrameLocks noChangeAspect="1"/>
          </p:cNvGraphicFramePr>
          <p:nvPr/>
        </p:nvGraphicFramePr>
        <p:xfrm>
          <a:off x="4581525" y="3051175"/>
          <a:ext cx="2390775" cy="539750"/>
        </p:xfrm>
        <a:graphic>
          <a:graphicData uri="http://schemas.openxmlformats.org/presentationml/2006/ole">
            <mc:AlternateContent xmlns:mc="http://schemas.openxmlformats.org/markup-compatibility/2006">
              <mc:Choice xmlns:v="urn:schemas-microsoft-com:vml" Requires="v">
                <p:oleObj spid="_x0000_s3128" name="" r:id="rId1" imgW="1447165" imgH="393700" progId="Equation.3">
                  <p:embed/>
                </p:oleObj>
              </mc:Choice>
              <mc:Fallback>
                <p:oleObj name="" r:id="rId1" imgW="1447165" imgH="393700" progId="Equation.3">
                  <p:embed/>
                  <p:pic>
                    <p:nvPicPr>
                      <p:cNvPr id="0" name="图片 3127"/>
                      <p:cNvPicPr/>
                      <p:nvPr/>
                    </p:nvPicPr>
                    <p:blipFill>
                      <a:blip r:embed="rId2"/>
                      <a:stretch>
                        <a:fillRect/>
                      </a:stretch>
                    </p:blipFill>
                    <p:spPr>
                      <a:xfrm>
                        <a:off x="4581525" y="3051175"/>
                        <a:ext cx="2390775" cy="539750"/>
                      </a:xfrm>
                      <a:prstGeom prst="rect">
                        <a:avLst/>
                      </a:prstGeom>
                      <a:noFill/>
                      <a:ln w="38100">
                        <a:noFill/>
                        <a:miter/>
                      </a:ln>
                    </p:spPr>
                  </p:pic>
                </p:oleObj>
              </mc:Fallback>
            </mc:AlternateContent>
          </a:graphicData>
        </a:graphic>
      </p:graphicFrame>
      <p:graphicFrame>
        <p:nvGraphicFramePr>
          <p:cNvPr id="249861" name="Object 8"/>
          <p:cNvGraphicFramePr>
            <a:graphicFrameLocks noChangeAspect="1"/>
          </p:cNvGraphicFramePr>
          <p:nvPr/>
        </p:nvGraphicFramePr>
        <p:xfrm>
          <a:off x="2700338" y="3789363"/>
          <a:ext cx="1992312" cy="576262"/>
        </p:xfrm>
        <a:graphic>
          <a:graphicData uri="http://schemas.openxmlformats.org/presentationml/2006/ole">
            <mc:AlternateContent xmlns:mc="http://schemas.openxmlformats.org/markup-compatibility/2006">
              <mc:Choice xmlns:v="urn:schemas-microsoft-com:vml" Requires="v">
                <p:oleObj spid="_x0000_s3130" name="" r:id="rId3" imgW="1205865" imgH="393700" progId="Equation.3">
                  <p:embed/>
                </p:oleObj>
              </mc:Choice>
              <mc:Fallback>
                <p:oleObj name="" r:id="rId3" imgW="1205865" imgH="393700" progId="Equation.3">
                  <p:embed/>
                  <p:pic>
                    <p:nvPicPr>
                      <p:cNvPr id="0" name="图片 3129"/>
                      <p:cNvPicPr/>
                      <p:nvPr/>
                    </p:nvPicPr>
                    <p:blipFill>
                      <a:blip r:embed="rId4"/>
                      <a:stretch>
                        <a:fillRect/>
                      </a:stretch>
                    </p:blipFill>
                    <p:spPr>
                      <a:xfrm>
                        <a:off x="2700338" y="3789363"/>
                        <a:ext cx="1992312" cy="576262"/>
                      </a:xfrm>
                      <a:prstGeom prst="rect">
                        <a:avLst/>
                      </a:prstGeom>
                      <a:noFill/>
                      <a:ln w="38100">
                        <a:noFill/>
                        <a:miter/>
                      </a:ln>
                    </p:spPr>
                  </p:pic>
                </p:oleObj>
              </mc:Fallback>
            </mc:AlternateContent>
          </a:graphicData>
        </a:graphic>
      </p:graphicFrame>
    </p:spTree>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1906" name="Picture 2"/>
          <p:cNvPicPr>
            <a:picLocks noChangeAspect="1"/>
          </p:cNvPicPr>
          <p:nvPr/>
        </p:nvPicPr>
        <p:blipFill>
          <a:blip r:embed="rId1"/>
          <a:stretch>
            <a:fillRect/>
          </a:stretch>
        </p:blipFill>
        <p:spPr>
          <a:xfrm>
            <a:off x="0" y="115888"/>
            <a:ext cx="9036050" cy="6629400"/>
          </a:xfrm>
          <a:prstGeom prst="rect">
            <a:avLst/>
          </a:prstGeom>
          <a:noFill/>
          <a:ln w="9525">
            <a:noFill/>
          </a:ln>
        </p:spPr>
      </p:pic>
    </p:spTree>
  </p:cSld>
  <p:clrMapOvr>
    <a:masterClrMapping/>
  </p:clrMapOvr>
  <p:transition spd="slow"/>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3954"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（33）</a:t>
            </a:r>
            <a:endParaRPr lang="en-US" altLang="zh-CN" dirty="0">
              <a:latin typeface="Times New Roman" panose="02020603050405020304" pitchFamily="18" charset="0"/>
              <a:ea typeface="宋体" panose="02010600030101010101" pitchFamily="2" charset="-122"/>
            </a:endParaRPr>
          </a:p>
        </p:txBody>
      </p:sp>
      <p:sp>
        <p:nvSpPr>
          <p:cNvPr id="217091" name="Rectangle 3"/>
          <p:cNvSpPr>
            <a:spLocks noGrp="1" noChangeArrowheads="1"/>
          </p:cNvSpPr>
          <p:nvPr>
            <p:ph idx="1"/>
          </p:nvPr>
        </p:nvSpPr>
        <p:spPr>
          <a:xfrm>
            <a:off x="685800" y="1371600"/>
            <a:ext cx="1798638" cy="4953000"/>
          </a:xfrm>
        </p:spPr>
        <p:txBody>
          <a:bodyPr vert="horz" wrap="square" lIns="92075" tIns="46038" rIns="92075" bIns="46038" numCol="1" anchor="t" anchorCtr="0" compatLnSpc="1"/>
          <a:lstStyle/>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）构造的例子：考虑下述拓广文法（文法</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4.55</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a:buNone/>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514350" marR="0" lvl="0" indent="-45720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 </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endPar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14350" marR="0" lvl="0" indent="-45720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 </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CC</a:t>
            </a:r>
            <a:endPar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14350" marR="0" lvl="0" indent="-45720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 </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6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cC</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d</a:t>
            </a:r>
            <a:endPar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graphicFrame>
        <p:nvGraphicFramePr>
          <p:cNvPr id="253956" name="Object 5"/>
          <p:cNvGraphicFramePr>
            <a:graphicFrameLocks noChangeAspect="1"/>
          </p:cNvGraphicFramePr>
          <p:nvPr/>
        </p:nvGraphicFramePr>
        <p:xfrm>
          <a:off x="2598738" y="1371600"/>
          <a:ext cx="6437312" cy="5343525"/>
        </p:xfrm>
        <a:graphic>
          <a:graphicData uri="http://schemas.openxmlformats.org/presentationml/2006/ole">
            <mc:AlternateContent xmlns:mc="http://schemas.openxmlformats.org/markup-compatibility/2006">
              <mc:Choice xmlns:v="urn:schemas-microsoft-com:vml" Requires="v">
                <p:oleObj spid="_x0000_s3129" name="" r:id="rId1" imgW="11518900" imgH="11099800" progId="Visio.Drawing.11">
                  <p:embed/>
                </p:oleObj>
              </mc:Choice>
              <mc:Fallback>
                <p:oleObj name="" r:id="rId1" imgW="11518900" imgH="11099800" progId="Visio.Drawing.11">
                  <p:embed/>
                  <p:pic>
                    <p:nvPicPr>
                      <p:cNvPr id="0" name="图片 3128"/>
                      <p:cNvPicPr/>
                      <p:nvPr/>
                    </p:nvPicPr>
                    <p:blipFill>
                      <a:blip r:embed="rId2"/>
                      <a:stretch>
                        <a:fillRect/>
                      </a:stretch>
                    </p:blipFill>
                    <p:spPr>
                      <a:xfrm>
                        <a:off x="2598738" y="1371600"/>
                        <a:ext cx="6437312" cy="5343525"/>
                      </a:xfrm>
                      <a:prstGeom prst="rect">
                        <a:avLst/>
                      </a:prstGeom>
                      <a:noFill/>
                      <a:ln w="38100">
                        <a:noFill/>
                        <a:miter/>
                      </a:ln>
                    </p:spPr>
                  </p:pic>
                </p:oleObj>
              </mc:Fallback>
            </mc:AlternateContent>
          </a:graphicData>
        </a:graphic>
      </p:graphicFrame>
    </p:spTree>
  </p:cSld>
  <p:clrMapOvr>
    <a:masterClrMapping/>
  </p:clrMapOvr>
  <p:transition spd="slow"/>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0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（34）</a:t>
            </a:r>
            <a:endParaRPr lang="en-US" altLang="zh-CN" dirty="0">
              <a:latin typeface="Times New Roman" panose="02020603050405020304" pitchFamily="18" charset="0"/>
              <a:ea typeface="宋体" panose="02010600030101010101" pitchFamily="2" charset="-122"/>
            </a:endParaRPr>
          </a:p>
        </p:txBody>
      </p:sp>
      <p:sp>
        <p:nvSpPr>
          <p:cNvPr id="215043" name="Rectangle 3"/>
          <p:cNvSpPr>
            <a:spLocks noGrp="1" noChangeArrowheads="1"/>
          </p:cNvSpPr>
          <p:nvPr>
            <p:ph idx="1"/>
          </p:nvPr>
        </p:nvSpPr>
        <p:spPr>
          <a:xfrm>
            <a:off x="685800" y="1371600"/>
            <a:ext cx="7924800" cy="4953000"/>
          </a:xfrm>
        </p:spPr>
        <p:txBody>
          <a:bodyPr vert="horz" wrap="square" lIns="92075" tIns="46038" rIns="92075" bIns="46038" numCol="1" anchor="t" anchorCtr="0" compatLnSpc="1"/>
          <a:lstStyle/>
          <a:p>
            <a:pPr marL="514350" marR="0" lvl="0"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规范的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分析表的构造与</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分析表的构造相似</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a:buNone/>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算法</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4.56</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输入：拓广文法</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输出：</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分析表函数</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cs typeface="+mn-cs"/>
              </a:rPr>
              <a:t>ACTION</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cs typeface="+mn-cs"/>
              </a:rPr>
              <a:t>GOTO</a:t>
            </a:r>
            <a:endPar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方法：(1)构造</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0</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 , 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n</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即</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项目集规范族</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(2)状态</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从</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构造，它的动作如下确定：</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α.aβ, b]</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中，并且</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GOTO( 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 =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en-US" altLang="zh-CN" sz="18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j</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则置</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cs typeface="+mn-cs"/>
              </a:rPr>
              <a:t>ACTION</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为“移进</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j</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必须为终结符</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α. , 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中且</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不是</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则置</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cs typeface="+mn-cs"/>
              </a:rPr>
              <a:t>ACTION</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为“归约</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α</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 ,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中，则置</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cs typeface="+mn-cs"/>
              </a:rPr>
              <a:t>ACTION</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acc</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表示接受</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(3)对所有的非终结符</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使用下面的规则构造状态</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的转移：</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如果</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DFA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的转换函数</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cs typeface="+mn-cs"/>
              </a:rPr>
              <a:t>GOTO</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 =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en-US" altLang="zh-CN" sz="18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j</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则</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cs typeface="+mn-cs"/>
              </a:rPr>
              <a:t>GOTO</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A]=j</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(4)</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不能由规则(2)和(3)定义的条目置为出错</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(5)分析器的初始状态是包含[</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 ,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的项目集对应的状态</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805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（35）</a:t>
            </a:r>
            <a:endParaRPr lang="en-US" altLang="zh-CN" dirty="0">
              <a:latin typeface="Times New Roman" panose="02020603050405020304" pitchFamily="18" charset="0"/>
              <a:ea typeface="宋体" panose="02010600030101010101" pitchFamily="2" charset="-122"/>
            </a:endParaRPr>
          </a:p>
        </p:txBody>
      </p:sp>
      <p:sp>
        <p:nvSpPr>
          <p:cNvPr id="258051" name="Rectangle 3"/>
          <p:cNvSpPr>
            <a:spLocks noGrp="1"/>
          </p:cNvSpPr>
          <p:nvPr>
            <p:ph idx="1"/>
          </p:nvPr>
        </p:nvSpPr>
        <p:spPr>
          <a:xfrm>
            <a:off x="685800" y="1371600"/>
            <a:ext cx="7924800" cy="4953000"/>
          </a:xfrm>
        </p:spPr>
        <p:txBody>
          <a:bodyPr vert="horz" wrap="square" lIns="92075" tIns="46038" rIns="92075" bIns="46038" anchor="t" anchorCtr="0"/>
          <a:p>
            <a:pPr marL="514350" indent="-457200"/>
            <a:r>
              <a:rPr lang="zh-CN" altLang="en-US" sz="2400" b="1" dirty="0">
                <a:ea typeface="宋体" panose="02010600030101010101" pitchFamily="2" charset="-122"/>
              </a:rPr>
              <a:t>如果这个分析表中的动作函数没有多重定义的条目，则这个文法是</a:t>
            </a:r>
            <a:r>
              <a:rPr lang="en-US" altLang="zh-CN" sz="2400" b="1" dirty="0">
                <a:ea typeface="宋体" panose="02010600030101010101" pitchFamily="2" charset="-122"/>
              </a:rPr>
              <a:t>LR(1)</a:t>
            </a:r>
            <a:r>
              <a:rPr lang="zh-CN" altLang="en-US" sz="2400" b="1" dirty="0">
                <a:ea typeface="宋体" panose="02010600030101010101" pitchFamily="2" charset="-122"/>
              </a:rPr>
              <a:t>文法</a:t>
            </a:r>
            <a:endParaRPr lang="zh-CN" altLang="en-US" sz="2400" b="1" dirty="0">
              <a:ea typeface="宋体" panose="02010600030101010101" pitchFamily="2" charset="-122"/>
            </a:endParaRPr>
          </a:p>
          <a:p>
            <a:pPr marL="514350" indent="-457200"/>
            <a:r>
              <a:rPr lang="zh-CN" altLang="en-US" sz="2400" b="1" dirty="0">
                <a:ea typeface="宋体" panose="02010600030101010101" pitchFamily="2" charset="-122"/>
              </a:rPr>
              <a:t>在实际中，除非有二义性，几乎所有合理的程序设计语言的文法都是</a:t>
            </a:r>
            <a:r>
              <a:rPr lang="en-US" altLang="zh-CN" sz="2400" b="1" dirty="0">
                <a:ea typeface="宋体" panose="02010600030101010101" pitchFamily="2" charset="-122"/>
              </a:rPr>
              <a:t>LR(1)</a:t>
            </a:r>
            <a:r>
              <a:rPr lang="zh-CN" altLang="en-US" sz="2400" b="1" dirty="0">
                <a:ea typeface="宋体" panose="02010600030101010101" pitchFamily="2" charset="-122"/>
              </a:rPr>
              <a:t>文法</a:t>
            </a:r>
            <a:endParaRPr lang="zh-CN" altLang="en-US" sz="2400" b="1" dirty="0">
              <a:ea typeface="宋体" panose="02010600030101010101" pitchFamily="2" charset="-122"/>
            </a:endParaRPr>
          </a:p>
          <a:p>
            <a:pPr marL="514350" indent="-457200"/>
            <a:r>
              <a:rPr lang="en-US" altLang="zh-CN" sz="2400" b="1" dirty="0">
                <a:ea typeface="宋体" panose="02010600030101010101" pitchFamily="2" charset="-122"/>
              </a:rPr>
              <a:t>LR(1)</a:t>
            </a:r>
            <a:r>
              <a:rPr lang="zh-CN" altLang="en-US" sz="2400" b="1" dirty="0">
                <a:ea typeface="宋体" panose="02010600030101010101" pitchFamily="2" charset="-122"/>
              </a:rPr>
              <a:t>分析过于复杂，产生的项目集合过多，尤其是很多项目集合的不同仅仅是因为第二个成分的不同</a:t>
            </a:r>
            <a:endParaRPr lang="zh-CN" altLang="en-US" sz="2400" b="1" dirty="0">
              <a:ea typeface="宋体" panose="02010600030101010101" pitchFamily="2" charset="-122"/>
            </a:endParaRPr>
          </a:p>
        </p:txBody>
      </p:sp>
    </p:spTree>
  </p:cSld>
  <p:clrMapOvr>
    <a:masterClrMapping/>
  </p:clrMapOvr>
  <p:transition spd="slow"/>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0098" name="Picture 2"/>
          <p:cNvPicPr>
            <a:picLocks noChangeAspect="1"/>
          </p:cNvPicPr>
          <p:nvPr/>
        </p:nvPicPr>
        <p:blipFill>
          <a:blip r:embed="rId1"/>
          <a:stretch>
            <a:fillRect/>
          </a:stretch>
        </p:blipFill>
        <p:spPr>
          <a:xfrm>
            <a:off x="457200" y="304800"/>
            <a:ext cx="8086725" cy="6075363"/>
          </a:xfrm>
          <a:prstGeom prst="rect">
            <a:avLst/>
          </a:prstGeom>
          <a:noFill/>
          <a:ln w="9525">
            <a:noFill/>
          </a:ln>
        </p:spPr>
      </p:pic>
    </p:spTree>
  </p:cSld>
  <p:clrMapOvr>
    <a:masterClrMapping/>
  </p:clrMapOvr>
  <p:transition spd="slow"/>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112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（36）</a:t>
            </a:r>
            <a:endParaRPr lang="en-US" altLang="zh-CN" dirty="0">
              <a:latin typeface="Times New Roman" panose="02020603050405020304" pitchFamily="18" charset="0"/>
              <a:ea typeface="宋体" panose="02010600030101010101" pitchFamily="2" charset="-122"/>
            </a:endParaRPr>
          </a:p>
        </p:txBody>
      </p:sp>
      <p:sp>
        <p:nvSpPr>
          <p:cNvPr id="261123" name="Rectangle 3"/>
          <p:cNvSpPr>
            <a:spLocks noGrp="1"/>
          </p:cNvSpPr>
          <p:nvPr>
            <p:ph idx="1"/>
          </p:nvPr>
        </p:nvSpPr>
        <p:spPr>
          <a:xfrm>
            <a:off x="685800" y="1371600"/>
            <a:ext cx="7989888" cy="4953000"/>
          </a:xfrm>
        </p:spPr>
        <p:txBody>
          <a:bodyPr vert="horz" wrap="square" lIns="92075" tIns="46038" rIns="92075" bIns="46038" anchor="t" anchorCtr="0"/>
          <a:p>
            <a:pPr marL="495300" indent="-495300">
              <a:lnSpc>
                <a:spcPct val="90000"/>
              </a:lnSpc>
            </a:pPr>
            <a:r>
              <a:rPr lang="en-US" altLang="zh-CN" sz="2000" b="1" dirty="0">
                <a:ea typeface="宋体" panose="02010600030101010101" pitchFamily="2" charset="-122"/>
              </a:rPr>
              <a:t>LALR(1)</a:t>
            </a:r>
            <a:r>
              <a:rPr lang="zh-CN" altLang="en-US" sz="2000" b="1" dirty="0">
                <a:ea typeface="宋体" panose="02010600030101010101" pitchFamily="2" charset="-122"/>
              </a:rPr>
              <a:t>分析（</a:t>
            </a:r>
            <a:r>
              <a:rPr lang="en-US" altLang="zh-CN" sz="2000" b="1" dirty="0">
                <a:ea typeface="宋体" panose="02010600030101010101" pitchFamily="2" charset="-122"/>
              </a:rPr>
              <a:t>lookahead-LR</a:t>
            </a:r>
            <a:r>
              <a:rPr lang="zh-CN" altLang="en-US" sz="2000" b="1" dirty="0">
                <a:ea typeface="宋体" panose="02010600030101010101" pitchFamily="2" charset="-122"/>
              </a:rPr>
              <a:t>分析）</a:t>
            </a:r>
            <a:endParaRPr lang="zh-CN" altLang="en-US" sz="2000" b="1" dirty="0">
              <a:ea typeface="宋体" panose="02010600030101010101" pitchFamily="2" charset="-122"/>
            </a:endParaRPr>
          </a:p>
          <a:p>
            <a:pPr marL="914400" lvl="1" indent="-457200">
              <a:lnSpc>
                <a:spcPct val="90000"/>
              </a:lnSpc>
            </a:pPr>
            <a:r>
              <a:rPr lang="zh-CN" altLang="en-US" sz="2000" b="1" dirty="0">
                <a:ea typeface="宋体" panose="02010600030101010101" pitchFamily="2" charset="-122"/>
              </a:rPr>
              <a:t>引入</a:t>
            </a:r>
            <a:r>
              <a:rPr lang="en-US" altLang="zh-CN" sz="2000" b="1" dirty="0">
                <a:ea typeface="宋体" panose="02010600030101010101" pitchFamily="2" charset="-122"/>
              </a:rPr>
              <a:t>LALR</a:t>
            </a:r>
            <a:r>
              <a:rPr lang="zh-CN" altLang="en-US" sz="2000" b="1" dirty="0">
                <a:ea typeface="宋体" panose="02010600030101010101" pitchFamily="2" charset="-122"/>
              </a:rPr>
              <a:t>分析：</a:t>
            </a:r>
            <a:endParaRPr lang="zh-CN" altLang="en-US" sz="2000" b="1" dirty="0">
              <a:ea typeface="宋体" panose="02010600030101010101" pitchFamily="2" charset="-122"/>
            </a:endParaRPr>
          </a:p>
          <a:p>
            <a:pPr lvl="2">
              <a:lnSpc>
                <a:spcPct val="90000"/>
              </a:lnSpc>
            </a:pPr>
            <a:r>
              <a:rPr lang="en-US" altLang="zh-CN" b="1" dirty="0">
                <a:ea typeface="宋体" panose="02010600030101010101" pitchFamily="2" charset="-122"/>
              </a:rPr>
              <a:t>LR(1)</a:t>
            </a:r>
            <a:r>
              <a:rPr lang="zh-CN" altLang="en-US" b="1" dirty="0">
                <a:ea typeface="宋体" panose="02010600030101010101" pitchFamily="2" charset="-122"/>
              </a:rPr>
              <a:t>项目集合的</a:t>
            </a:r>
            <a:r>
              <a:rPr lang="en-US" altLang="zh-CN" b="1" dirty="0">
                <a:ea typeface="宋体" panose="02010600030101010101" pitchFamily="2" charset="-122"/>
              </a:rPr>
              <a:t>DFA</a:t>
            </a:r>
            <a:r>
              <a:rPr lang="zh-CN" altLang="en-US" b="1" dirty="0">
                <a:ea typeface="宋体" panose="02010600030101010101" pitchFamily="2" charset="-122"/>
              </a:rPr>
              <a:t>状态过于庞大，且很多状态的引入只是因为向前看的符号的不同</a:t>
            </a:r>
            <a:endParaRPr lang="zh-CN" altLang="en-US" b="1" dirty="0">
              <a:ea typeface="宋体" panose="02010600030101010101" pitchFamily="2" charset="-122"/>
            </a:endParaRPr>
          </a:p>
          <a:p>
            <a:pPr lvl="2">
              <a:lnSpc>
                <a:spcPct val="90000"/>
              </a:lnSpc>
            </a:pPr>
            <a:r>
              <a:rPr lang="zh-CN" altLang="en-US" b="1" dirty="0">
                <a:ea typeface="宋体" panose="02010600030101010101" pitchFamily="2" charset="-122"/>
              </a:rPr>
              <a:t>构造同心的</a:t>
            </a:r>
            <a:r>
              <a:rPr lang="en-US" altLang="zh-CN" b="1" dirty="0">
                <a:ea typeface="宋体" panose="02010600030101010101" pitchFamily="2" charset="-122"/>
              </a:rPr>
              <a:t>LR(1)</a:t>
            </a:r>
            <a:r>
              <a:rPr lang="zh-CN" altLang="en-US" b="1" dirty="0">
                <a:ea typeface="宋体" panose="02010600030101010101" pitchFamily="2" charset="-122"/>
              </a:rPr>
              <a:t>项目集：它们的第一个成分集合相同</a:t>
            </a:r>
            <a:endParaRPr lang="zh-CN" altLang="en-US" b="1" dirty="0">
              <a:ea typeface="宋体" panose="02010600030101010101" pitchFamily="2" charset="-122"/>
            </a:endParaRPr>
          </a:p>
          <a:p>
            <a:pPr lvl="3">
              <a:lnSpc>
                <a:spcPct val="90000"/>
              </a:lnSpc>
            </a:pPr>
            <a:r>
              <a:rPr lang="en-US" altLang="zh-CN" sz="1800" b="1" dirty="0">
                <a:ea typeface="宋体" panose="02010600030101010101" pitchFamily="2" charset="-122"/>
              </a:rPr>
              <a:t>LR(1)</a:t>
            </a:r>
            <a:r>
              <a:rPr lang="zh-CN" altLang="en-US" sz="1800" b="1" dirty="0">
                <a:ea typeface="宋体" panose="02010600030101010101" pitchFamily="2" charset="-122"/>
              </a:rPr>
              <a:t>项目的</a:t>
            </a:r>
            <a:r>
              <a:rPr lang="en-US" altLang="zh-CN" sz="1800" b="1" dirty="0">
                <a:ea typeface="宋体" panose="02010600030101010101" pitchFamily="2" charset="-122"/>
              </a:rPr>
              <a:t>DFA</a:t>
            </a:r>
            <a:r>
              <a:rPr lang="zh-CN" altLang="en-US" sz="1800" b="1" dirty="0">
                <a:ea typeface="宋体" panose="02010600030101010101" pitchFamily="2" charset="-122"/>
              </a:rPr>
              <a:t>的状态核心是</a:t>
            </a:r>
            <a:r>
              <a:rPr lang="en-US" altLang="zh-CN" sz="1800" b="1" dirty="0">
                <a:ea typeface="宋体" panose="02010600030101010101" pitchFamily="2" charset="-122"/>
              </a:rPr>
              <a:t>LR(0)</a:t>
            </a:r>
            <a:r>
              <a:rPr lang="zh-CN" altLang="en-US" sz="1800" b="1" dirty="0">
                <a:ea typeface="宋体" panose="02010600030101010101" pitchFamily="2" charset="-122"/>
              </a:rPr>
              <a:t>项目的</a:t>
            </a:r>
            <a:r>
              <a:rPr lang="en-US" altLang="zh-CN" sz="1800" b="1" dirty="0">
                <a:ea typeface="宋体" panose="02010600030101010101" pitchFamily="2" charset="-122"/>
              </a:rPr>
              <a:t>DFA</a:t>
            </a:r>
            <a:r>
              <a:rPr lang="zh-CN" altLang="en-US" sz="1800" b="1" dirty="0">
                <a:ea typeface="宋体" panose="02010600030101010101" pitchFamily="2" charset="-122"/>
              </a:rPr>
              <a:t>的一个状态</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若具有相同核心的</a:t>
            </a:r>
            <a:r>
              <a:rPr lang="en-US" altLang="zh-CN" sz="1800" b="1" dirty="0">
                <a:ea typeface="宋体" panose="02010600030101010101" pitchFamily="2" charset="-122"/>
              </a:rPr>
              <a:t>LR(1)</a:t>
            </a:r>
            <a:r>
              <a:rPr lang="zh-CN" altLang="en-US" sz="1800" b="1" dirty="0">
                <a:ea typeface="宋体" panose="02010600030101010101" pitchFamily="2" charset="-122"/>
              </a:rPr>
              <a:t>项目的</a:t>
            </a:r>
            <a:r>
              <a:rPr lang="en-US" altLang="zh-CN" sz="1800" b="1" dirty="0">
                <a:ea typeface="宋体" panose="02010600030101010101" pitchFamily="2" charset="-122"/>
              </a:rPr>
              <a:t>DFA</a:t>
            </a:r>
            <a:r>
              <a:rPr lang="zh-CN" altLang="en-US" sz="1800" b="1" dirty="0">
                <a:ea typeface="宋体" panose="02010600030101010101" pitchFamily="2" charset="-122"/>
              </a:rPr>
              <a:t>的两个状态</a:t>
            </a:r>
            <a:r>
              <a:rPr lang="en-US" altLang="zh-CN" sz="1800" b="1" dirty="0">
                <a:ea typeface="宋体" panose="02010600030101010101" pitchFamily="2" charset="-122"/>
              </a:rPr>
              <a:t>s</a:t>
            </a:r>
            <a:r>
              <a:rPr lang="en-US" altLang="zh-CN" sz="1800" b="1" baseline="-25000" dirty="0">
                <a:ea typeface="宋体" panose="02010600030101010101" pitchFamily="2" charset="-122"/>
              </a:rPr>
              <a:t>1</a:t>
            </a:r>
            <a:r>
              <a:rPr lang="zh-CN" altLang="en-US" sz="1800" b="1" dirty="0">
                <a:ea typeface="宋体" panose="02010600030101010101" pitchFamily="2" charset="-122"/>
              </a:rPr>
              <a:t>和</a:t>
            </a:r>
            <a:r>
              <a:rPr lang="en-US" altLang="zh-CN" sz="1800" b="1" dirty="0">
                <a:ea typeface="宋体" panose="02010600030101010101" pitchFamily="2" charset="-122"/>
              </a:rPr>
              <a:t>s</a:t>
            </a:r>
            <a:r>
              <a:rPr lang="en-US" altLang="zh-CN" sz="1800" b="1" baseline="-25000" dirty="0">
                <a:ea typeface="宋体" panose="02010600030101010101" pitchFamily="2" charset="-122"/>
              </a:rPr>
              <a:t>2</a:t>
            </a:r>
            <a:r>
              <a:rPr lang="en-US" altLang="zh-CN" sz="1800" b="1" dirty="0">
                <a:ea typeface="宋体" panose="02010600030101010101" pitchFamily="2" charset="-122"/>
              </a:rPr>
              <a:t>，</a:t>
            </a:r>
            <a:r>
              <a:rPr lang="zh-CN" altLang="en-US" sz="1800" b="1" dirty="0">
                <a:ea typeface="宋体" panose="02010600030101010101" pitchFamily="2" charset="-122"/>
              </a:rPr>
              <a:t>假设在符号</a:t>
            </a:r>
            <a:r>
              <a:rPr lang="en-US" altLang="zh-CN" sz="1800" b="1" dirty="0">
                <a:ea typeface="宋体" panose="02010600030101010101" pitchFamily="2" charset="-122"/>
              </a:rPr>
              <a:t>X</a:t>
            </a:r>
            <a:r>
              <a:rPr lang="zh-CN" altLang="en-US" sz="1800" b="1" dirty="0">
                <a:ea typeface="宋体" panose="02010600030101010101" pitchFamily="2" charset="-122"/>
              </a:rPr>
              <a:t>上有一个从状态</a:t>
            </a:r>
            <a:r>
              <a:rPr lang="en-US" altLang="zh-CN" sz="1800" b="1" dirty="0">
                <a:ea typeface="宋体" panose="02010600030101010101" pitchFamily="2" charset="-122"/>
              </a:rPr>
              <a:t>s</a:t>
            </a:r>
            <a:r>
              <a:rPr lang="en-US" altLang="zh-CN" sz="1800" b="1" baseline="-25000" dirty="0">
                <a:ea typeface="宋体" panose="02010600030101010101" pitchFamily="2" charset="-122"/>
              </a:rPr>
              <a:t>1</a:t>
            </a:r>
            <a:r>
              <a:rPr lang="zh-CN" altLang="en-US" sz="1800" b="1" dirty="0">
                <a:ea typeface="宋体" panose="02010600030101010101" pitchFamily="2" charset="-122"/>
              </a:rPr>
              <a:t>到状态</a:t>
            </a:r>
            <a:r>
              <a:rPr lang="en-US" altLang="zh-CN" sz="1800" b="1" dirty="0">
                <a:ea typeface="宋体" panose="02010600030101010101" pitchFamily="2" charset="-122"/>
              </a:rPr>
              <a:t>t</a:t>
            </a:r>
            <a:r>
              <a:rPr lang="en-US" altLang="zh-CN" sz="1800" b="1" baseline="-25000" dirty="0">
                <a:ea typeface="宋体" panose="02010600030101010101" pitchFamily="2" charset="-122"/>
              </a:rPr>
              <a:t>1</a:t>
            </a:r>
            <a:r>
              <a:rPr lang="zh-CN" altLang="en-US" sz="1800" b="1" dirty="0">
                <a:ea typeface="宋体" panose="02010600030101010101" pitchFamily="2" charset="-122"/>
              </a:rPr>
              <a:t>的转换，则在</a:t>
            </a:r>
            <a:r>
              <a:rPr lang="en-US" altLang="zh-CN" sz="1800" b="1" dirty="0">
                <a:ea typeface="宋体" panose="02010600030101010101" pitchFamily="2" charset="-122"/>
              </a:rPr>
              <a:t>X</a:t>
            </a:r>
            <a:r>
              <a:rPr lang="zh-CN" altLang="en-US" sz="1800" b="1" dirty="0">
                <a:ea typeface="宋体" panose="02010600030101010101" pitchFamily="2" charset="-122"/>
              </a:rPr>
              <a:t>上必然有一个从状态</a:t>
            </a:r>
            <a:r>
              <a:rPr lang="en-US" altLang="zh-CN" sz="1800" b="1" dirty="0">
                <a:ea typeface="宋体" panose="02010600030101010101" pitchFamily="2" charset="-122"/>
              </a:rPr>
              <a:t>s</a:t>
            </a:r>
            <a:r>
              <a:rPr lang="en-US" altLang="zh-CN" sz="1800" b="1" baseline="-25000" dirty="0">
                <a:ea typeface="宋体" panose="02010600030101010101" pitchFamily="2" charset="-122"/>
              </a:rPr>
              <a:t>2</a:t>
            </a:r>
            <a:r>
              <a:rPr lang="zh-CN" altLang="en-US" sz="1800" b="1" dirty="0">
                <a:ea typeface="宋体" panose="02010600030101010101" pitchFamily="2" charset="-122"/>
              </a:rPr>
              <a:t>到一个状态</a:t>
            </a:r>
            <a:r>
              <a:rPr lang="en-US" altLang="zh-CN" sz="1800" b="1" dirty="0">
                <a:ea typeface="宋体" panose="02010600030101010101" pitchFamily="2" charset="-122"/>
              </a:rPr>
              <a:t>t</a:t>
            </a:r>
            <a:r>
              <a:rPr lang="en-US" altLang="zh-CN" sz="1800" b="1" baseline="-25000" dirty="0">
                <a:ea typeface="宋体" panose="02010600030101010101" pitchFamily="2" charset="-122"/>
              </a:rPr>
              <a:t>2</a:t>
            </a:r>
            <a:r>
              <a:rPr lang="zh-CN" altLang="en-US" sz="1800" b="1" dirty="0">
                <a:ea typeface="宋体" panose="02010600030101010101" pitchFamily="2" charset="-122"/>
              </a:rPr>
              <a:t>的转换，且状态</a:t>
            </a:r>
            <a:r>
              <a:rPr lang="en-US" altLang="zh-CN" sz="1800" b="1" dirty="0">
                <a:ea typeface="宋体" panose="02010600030101010101" pitchFamily="2" charset="-122"/>
              </a:rPr>
              <a:t>t</a:t>
            </a:r>
            <a:r>
              <a:rPr lang="en-US" altLang="zh-CN" sz="1800" b="1" baseline="-25000" dirty="0">
                <a:ea typeface="宋体" panose="02010600030101010101" pitchFamily="2" charset="-122"/>
              </a:rPr>
              <a:t>1</a:t>
            </a:r>
            <a:r>
              <a:rPr lang="zh-CN" altLang="en-US" sz="1800" b="1" dirty="0">
                <a:ea typeface="宋体" panose="02010600030101010101" pitchFamily="2" charset="-122"/>
              </a:rPr>
              <a:t>和</a:t>
            </a:r>
            <a:r>
              <a:rPr lang="en-US" altLang="zh-CN" sz="1800" b="1" dirty="0">
                <a:ea typeface="宋体" panose="02010600030101010101" pitchFamily="2" charset="-122"/>
              </a:rPr>
              <a:t>t</a:t>
            </a:r>
            <a:r>
              <a:rPr lang="en-US" altLang="zh-CN" sz="1800" b="1" baseline="-25000" dirty="0">
                <a:ea typeface="宋体" panose="02010600030101010101" pitchFamily="2" charset="-122"/>
              </a:rPr>
              <a:t>2</a:t>
            </a:r>
            <a:r>
              <a:rPr lang="zh-CN" altLang="en-US" sz="1800" b="1" dirty="0">
                <a:ea typeface="宋体" panose="02010600030101010101" pitchFamily="2" charset="-122"/>
              </a:rPr>
              <a:t>具有相同的核心</a:t>
            </a:r>
            <a:endParaRPr lang="zh-CN" altLang="en-US" sz="1800" b="1" dirty="0">
              <a:ea typeface="宋体" panose="02010600030101010101" pitchFamily="2" charset="-122"/>
            </a:endParaRPr>
          </a:p>
          <a:p>
            <a:pPr lvl="2">
              <a:lnSpc>
                <a:spcPct val="90000"/>
              </a:lnSpc>
            </a:pPr>
            <a:r>
              <a:rPr lang="en-US" altLang="zh-CN" b="1" dirty="0">
                <a:ea typeface="宋体" panose="02010600030101010101" pitchFamily="2" charset="-122"/>
              </a:rPr>
              <a:t>LALR</a:t>
            </a:r>
            <a:r>
              <a:rPr lang="zh-CN" altLang="en-US" b="1" dirty="0">
                <a:ea typeface="宋体" panose="02010600030101010101" pitchFamily="2" charset="-122"/>
              </a:rPr>
              <a:t>具有和</a:t>
            </a:r>
            <a:r>
              <a:rPr lang="en-US" altLang="zh-CN" b="1" dirty="0">
                <a:ea typeface="宋体" panose="02010600030101010101" pitchFamily="2" charset="-122"/>
              </a:rPr>
              <a:t>SLR</a:t>
            </a:r>
            <a:r>
              <a:rPr lang="zh-CN" altLang="en-US" b="1" dirty="0">
                <a:ea typeface="宋体" panose="02010600030101010101" pitchFamily="2" charset="-122"/>
              </a:rPr>
              <a:t>一样个数的状态，但保留了</a:t>
            </a:r>
            <a:r>
              <a:rPr lang="en-US" altLang="zh-CN" b="1" dirty="0">
                <a:ea typeface="宋体" panose="02010600030101010101" pitchFamily="2" charset="-122"/>
              </a:rPr>
              <a:t>LR</a:t>
            </a:r>
            <a:r>
              <a:rPr lang="zh-CN" altLang="en-US" b="1" dirty="0">
                <a:ea typeface="宋体" panose="02010600030101010101" pitchFamily="2" charset="-122"/>
              </a:rPr>
              <a:t>分析的一些特征，能力比</a:t>
            </a:r>
            <a:r>
              <a:rPr lang="en-US" altLang="zh-CN" b="1" dirty="0">
                <a:ea typeface="宋体" panose="02010600030101010101" pitchFamily="2" charset="-122"/>
              </a:rPr>
              <a:t>SLR</a:t>
            </a:r>
            <a:r>
              <a:rPr lang="zh-CN" altLang="en-US" b="1" dirty="0">
                <a:ea typeface="宋体" panose="02010600030101010101" pitchFamily="2" charset="-122"/>
              </a:rPr>
              <a:t>要强</a:t>
            </a:r>
            <a:endParaRPr lang="zh-CN" altLang="en-US" b="1" dirty="0">
              <a:ea typeface="宋体" panose="02010600030101010101" pitchFamily="2" charset="-122"/>
            </a:endParaRPr>
          </a:p>
          <a:p>
            <a:pPr lvl="2">
              <a:lnSpc>
                <a:spcPct val="90000"/>
              </a:lnSpc>
            </a:pPr>
            <a:r>
              <a:rPr lang="en-US" altLang="zh-CN" b="1" dirty="0">
                <a:ea typeface="宋体" panose="02010600030101010101" pitchFamily="2" charset="-122"/>
              </a:rPr>
              <a:t>LALR</a:t>
            </a:r>
            <a:r>
              <a:rPr lang="zh-CN" altLang="en-US" b="1" dirty="0">
                <a:ea typeface="宋体" panose="02010600030101010101" pitchFamily="2" charset="-122"/>
              </a:rPr>
              <a:t>分析表的构造：</a:t>
            </a:r>
            <a:endParaRPr lang="zh-CN" altLang="en-US" b="1" dirty="0">
              <a:ea typeface="宋体" panose="02010600030101010101" pitchFamily="2" charset="-122"/>
            </a:endParaRPr>
          </a:p>
          <a:p>
            <a:pPr lvl="3">
              <a:lnSpc>
                <a:spcPct val="90000"/>
              </a:lnSpc>
            </a:pPr>
            <a:r>
              <a:rPr lang="zh-CN" altLang="en-US" sz="1800" b="1" dirty="0">
                <a:ea typeface="宋体" panose="02010600030101010101" pitchFamily="2" charset="-122"/>
              </a:rPr>
              <a:t>将具有相同核心的</a:t>
            </a:r>
            <a:r>
              <a:rPr lang="en-US" altLang="zh-CN" sz="1800" b="1" dirty="0">
                <a:ea typeface="宋体" panose="02010600030101010101" pitchFamily="2" charset="-122"/>
              </a:rPr>
              <a:t>LR(1)</a:t>
            </a:r>
            <a:r>
              <a:rPr lang="zh-CN" altLang="en-US" sz="1800" b="1" dirty="0">
                <a:ea typeface="宋体" panose="02010600030101010101" pitchFamily="2" charset="-122"/>
              </a:rPr>
              <a:t>项目合并，动作和转移函数也做相应的合并</a:t>
            </a:r>
            <a:endParaRPr lang="zh-CN" altLang="en-US" sz="1800" b="1" dirty="0">
              <a:ea typeface="宋体" panose="02010600030101010101" pitchFamily="2" charset="-122"/>
            </a:endParaRPr>
          </a:p>
        </p:txBody>
      </p:sp>
    </p:spTree>
  </p:cSld>
  <p:clrMapOvr>
    <a:masterClrMapping/>
  </p:clrMapOvr>
  <p:transition spd="slow"/>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3170" name="Rectangle 2"/>
          <p:cNvSpPr>
            <a:spLocks noGrp="1"/>
          </p:cNvSpPr>
          <p:nvPr>
            <p:ph type="title"/>
          </p:nvPr>
        </p:nvSpPr>
        <p:spPr>
          <a:xfrm>
            <a:off x="914400" y="260350"/>
            <a:ext cx="7543800"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（37）</a:t>
            </a:r>
            <a:endParaRPr lang="en-US" altLang="zh-CN" dirty="0">
              <a:latin typeface="Times New Roman" panose="02020603050405020304" pitchFamily="18" charset="0"/>
              <a:ea typeface="宋体" panose="02010600030101010101" pitchFamily="2" charset="-122"/>
            </a:endParaRPr>
          </a:p>
        </p:txBody>
      </p:sp>
      <p:sp>
        <p:nvSpPr>
          <p:cNvPr id="223235" name="Rectangle 3"/>
          <p:cNvSpPr>
            <a:spLocks noGrp="1" noChangeArrowheads="1"/>
          </p:cNvSpPr>
          <p:nvPr>
            <p:ph idx="1"/>
          </p:nvPr>
        </p:nvSpPr>
        <p:spPr>
          <a:xfrm>
            <a:off x="395288" y="1371600"/>
            <a:ext cx="8569325"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LALR</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分析表的构造：</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算法</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4.59</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：一个简单，但空间需求大的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LALR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分析表构造方法</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输入：增广文法</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G’</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输出：文法</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G’</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LALR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分析表函数</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ACTION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GOTO</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方法：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）构造</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）项目集族</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C={I</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I</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I</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n</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4"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）项目集中的每个核心，找出所有具有这个核心的项目集，并将这些项目集替换为它们的并集</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4"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3</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）令</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C’={J</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J</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J</a:t>
            </a:r>
            <a:r>
              <a:rPr kumimoji="0" lang="en-US" altLang="zh-CN" sz="2000" b="1" i="0" u="none" strike="noStrike" kern="0" cap="none" spc="0" normalizeH="0" baseline="-25000" noProof="0" dirty="0" err="1">
                <a:ln>
                  <a:noFill/>
                </a:ln>
                <a:solidFill>
                  <a:schemeClr val="tx1"/>
                </a:solidFill>
                <a:effectLst/>
                <a:uLnTx/>
                <a:uFillTx/>
                <a:latin typeface="+mn-lt"/>
                <a:ea typeface="宋体" panose="02010600030101010101" pitchFamily="2" charset="-122"/>
              </a:rPr>
              <a:t>m</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是得到的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）项目集族，状态</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的动作按照算法</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4.56</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ppt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第</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125</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页）根据项目集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J</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i</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构造得到，如果存在动作冲突，则不能得到分析表，该文法也不是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LALR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4"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GOTO</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表的构造：如果同心项目集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J= I</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I</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I</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，则</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GOTO</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en-US" altLang="zh-CN" sz="2000" b="1" i="0" u="none" strike="noStrike" kern="0" cap="none" spc="0" normalizeH="0" baseline="-25000" noProof="0" dirty="0" err="1">
                <a:ln>
                  <a:noFill/>
                </a:ln>
                <a:solidFill>
                  <a:schemeClr val="tx1"/>
                </a:solidFill>
                <a:effectLst/>
                <a:uLnTx/>
                <a:uFillTx/>
                <a:latin typeface="+mn-lt"/>
                <a:ea typeface="宋体" panose="02010600030101010101" pitchFamily="2" charset="-122"/>
              </a:rPr>
              <a:t>j</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）的核心是相同的，令</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K</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是所有具有同心的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GOTO</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en-US" altLang="zh-CN" sz="2000" b="1" i="0" u="none" strike="noStrike" kern="0" cap="none" spc="0" normalizeH="0" baseline="-25000" noProof="0" dirty="0" err="1">
                <a:ln>
                  <a:noFill/>
                </a:ln>
                <a:solidFill>
                  <a:schemeClr val="tx1"/>
                </a:solidFill>
                <a:effectLst/>
                <a:uLnTx/>
                <a:uFillTx/>
                <a:latin typeface="+mn-lt"/>
                <a:ea typeface="宋体" panose="02010600030101010101" pitchFamily="2" charset="-122"/>
              </a:rPr>
              <a:t>j</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）的并集，则</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GOTO</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J</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=K</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4" indent="0" algn="l" defTabSz="914400" rtl="0" eaLnBrk="0" fontAlgn="base" latinLnBrk="0" hangingPunct="0">
              <a:lnSpc>
                <a:spcPct val="90000"/>
              </a:lnSpc>
              <a:spcBef>
                <a:spcPct val="20000"/>
              </a:spcBef>
              <a:spcAft>
                <a:spcPct val="0"/>
              </a:spcAft>
              <a:buClr>
                <a:srgbClr val="063DE8"/>
              </a:buClr>
              <a:buSzPct val="125000"/>
              <a:buFontTx/>
              <a:buNone/>
              <a:defRPr/>
            </a:pP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521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（38）</a:t>
            </a:r>
            <a:endParaRPr lang="en-US" altLang="zh-CN" dirty="0">
              <a:latin typeface="Times New Roman" panose="02020603050405020304" pitchFamily="18" charset="0"/>
              <a:ea typeface="宋体" panose="02010600030101010101" pitchFamily="2" charset="-122"/>
            </a:endParaRPr>
          </a:p>
        </p:txBody>
      </p:sp>
      <p:sp>
        <p:nvSpPr>
          <p:cNvPr id="265219" name="Rectangle 3"/>
          <p:cNvSpPr>
            <a:spLocks noGrp="1"/>
          </p:cNvSpPr>
          <p:nvPr>
            <p:ph idx="1"/>
          </p:nvPr>
        </p:nvSpPr>
        <p:spPr>
          <a:xfrm>
            <a:off x="395288" y="1371600"/>
            <a:ext cx="8569325" cy="4953000"/>
          </a:xfrm>
        </p:spPr>
        <p:txBody>
          <a:bodyPr vert="horz" wrap="square" lIns="92075" tIns="46038" rIns="92075" bIns="46038" anchor="t" anchorCtr="0"/>
          <a:p>
            <a:pPr>
              <a:lnSpc>
                <a:spcPct val="90000"/>
              </a:lnSpc>
            </a:pPr>
            <a:r>
              <a:rPr lang="en-US" altLang="zh-CN" sz="2400" b="1" dirty="0">
                <a:ea typeface="宋体" panose="02010600030101010101" pitchFamily="2" charset="-122"/>
              </a:rPr>
              <a:t>LALR</a:t>
            </a:r>
            <a:r>
              <a:rPr lang="zh-CN" altLang="en-US" sz="2400" b="1" dirty="0">
                <a:ea typeface="宋体" panose="02010600030101010101" pitchFamily="2" charset="-122"/>
              </a:rPr>
              <a:t>分析表构造方法的解读：</a:t>
            </a:r>
            <a:endParaRPr lang="zh-CN" altLang="en-US" sz="2400" b="1" dirty="0">
              <a:ea typeface="宋体" panose="02010600030101010101" pitchFamily="2" charset="-122"/>
            </a:endParaRPr>
          </a:p>
          <a:p>
            <a:pPr lvl="1">
              <a:lnSpc>
                <a:spcPct val="90000"/>
              </a:lnSpc>
            </a:pPr>
            <a:r>
              <a:rPr lang="zh-CN" altLang="en-US" sz="2000" b="1" dirty="0">
                <a:ea typeface="宋体" panose="02010600030101010101" pitchFamily="2" charset="-122"/>
              </a:rPr>
              <a:t>将具有相同核心的</a:t>
            </a:r>
            <a:r>
              <a:rPr lang="en-US" altLang="zh-CN" sz="2000" b="1" dirty="0">
                <a:ea typeface="宋体" panose="02010600030101010101" pitchFamily="2" charset="-122"/>
              </a:rPr>
              <a:t>LR(1)</a:t>
            </a:r>
            <a:r>
              <a:rPr lang="zh-CN" altLang="en-US" sz="2000" b="1" dirty="0">
                <a:ea typeface="宋体" panose="02010600030101010101" pitchFamily="2" charset="-122"/>
              </a:rPr>
              <a:t>项目合并，一般而言，一个核心就是当前正在处理文法的</a:t>
            </a:r>
            <a:r>
              <a:rPr lang="en-US" altLang="zh-CN" sz="2000" b="1" dirty="0">
                <a:ea typeface="宋体" panose="02010600030101010101" pitchFamily="2" charset="-122"/>
              </a:rPr>
              <a:t>LR</a:t>
            </a:r>
            <a:r>
              <a:rPr lang="zh-CN" altLang="en-US" sz="2000" b="1" dirty="0">
                <a:ea typeface="宋体" panose="02010600030101010101" pitchFamily="2" charset="-122"/>
              </a:rPr>
              <a:t>（</a:t>
            </a:r>
            <a:r>
              <a:rPr lang="en-US" altLang="zh-CN" sz="2000" b="1" dirty="0">
                <a:ea typeface="宋体" panose="02010600030101010101" pitchFamily="2" charset="-122"/>
              </a:rPr>
              <a:t>0</a:t>
            </a:r>
            <a:r>
              <a:rPr lang="zh-CN" altLang="en-US" sz="2000" b="1" dirty="0">
                <a:ea typeface="宋体" panose="02010600030101010101" pitchFamily="2" charset="-122"/>
              </a:rPr>
              <a:t>）项目集</a:t>
            </a:r>
            <a:endParaRPr lang="en-US" altLang="zh-CN" sz="2000" b="1" dirty="0">
              <a:ea typeface="宋体" panose="02010600030101010101" pitchFamily="2" charset="-122"/>
            </a:endParaRPr>
          </a:p>
          <a:p>
            <a:pPr lvl="1">
              <a:lnSpc>
                <a:spcPct val="90000"/>
              </a:lnSpc>
            </a:pPr>
            <a:r>
              <a:rPr lang="en-US" altLang="zh-CN" sz="2000" b="1" dirty="0">
                <a:ea typeface="宋体" panose="02010600030101010101" pitchFamily="2" charset="-122"/>
              </a:rPr>
              <a:t>GOTO(I</a:t>
            </a:r>
            <a:r>
              <a:rPr lang="zh-CN" altLang="en-US" sz="2000" b="1" dirty="0">
                <a:ea typeface="宋体" panose="02010600030101010101" pitchFamily="2" charset="-122"/>
              </a:rPr>
              <a:t>，</a:t>
            </a:r>
            <a:r>
              <a:rPr lang="en-US" altLang="zh-CN" sz="2000" b="1" dirty="0">
                <a:ea typeface="宋体" panose="02010600030101010101" pitchFamily="2" charset="-122"/>
              </a:rPr>
              <a:t>X)</a:t>
            </a:r>
            <a:r>
              <a:rPr lang="zh-CN" altLang="en-US" sz="2000" b="1" dirty="0">
                <a:ea typeface="宋体" panose="02010600030101010101" pitchFamily="2" charset="-122"/>
              </a:rPr>
              <a:t>的合并：由于其核心只由</a:t>
            </a:r>
            <a:r>
              <a:rPr lang="en-US" altLang="zh-CN" sz="2000" b="1" dirty="0">
                <a:ea typeface="宋体" panose="02010600030101010101" pitchFamily="2" charset="-122"/>
              </a:rPr>
              <a:t>I</a:t>
            </a:r>
            <a:r>
              <a:rPr lang="zh-CN" altLang="en-US" sz="2000" b="1" dirty="0">
                <a:ea typeface="宋体" panose="02010600030101010101" pitchFamily="2" charset="-122"/>
              </a:rPr>
              <a:t>的核心决定，因此一组被合并的项目集的</a:t>
            </a:r>
            <a:r>
              <a:rPr lang="en-US" altLang="zh-CN" sz="2000" b="1" dirty="0">
                <a:ea typeface="宋体" panose="02010600030101010101" pitchFamily="2" charset="-122"/>
              </a:rPr>
              <a:t>GOTO</a:t>
            </a:r>
            <a:r>
              <a:rPr lang="zh-CN" altLang="en-US" sz="2000" b="1" dirty="0">
                <a:ea typeface="宋体" panose="02010600030101010101" pitchFamily="2" charset="-122"/>
              </a:rPr>
              <a:t>目标也是可以被合并的，进而修改</a:t>
            </a:r>
            <a:r>
              <a:rPr lang="en-US" altLang="zh-CN" sz="2000" b="1" dirty="0">
                <a:ea typeface="宋体" panose="02010600030101010101" pitchFamily="2" charset="-122"/>
              </a:rPr>
              <a:t>GOTO</a:t>
            </a:r>
            <a:r>
              <a:rPr lang="zh-CN" altLang="en-US" sz="2000" b="1" dirty="0">
                <a:ea typeface="宋体" panose="02010600030101010101" pitchFamily="2" charset="-122"/>
              </a:rPr>
              <a:t>函数</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修改动作函数</a:t>
            </a:r>
            <a:endParaRPr lang="en-US" altLang="zh-CN" sz="2000" b="1" dirty="0">
              <a:ea typeface="宋体" panose="02010600030101010101" pitchFamily="2" charset="-122"/>
            </a:endParaRPr>
          </a:p>
          <a:p>
            <a:pPr>
              <a:lnSpc>
                <a:spcPct val="90000"/>
              </a:lnSpc>
            </a:pPr>
            <a:r>
              <a:rPr lang="en-US" altLang="zh-CN" b="1" dirty="0">
                <a:ea typeface="宋体" panose="02010600030101010101" pitchFamily="2" charset="-122"/>
              </a:rPr>
              <a:t>LALR(1)</a:t>
            </a:r>
            <a:r>
              <a:rPr lang="zh-CN" altLang="en-US" b="1" dirty="0">
                <a:ea typeface="宋体" panose="02010600030101010101" pitchFamily="2" charset="-122"/>
              </a:rPr>
              <a:t>分析表是在</a:t>
            </a:r>
            <a:r>
              <a:rPr lang="en-US" altLang="zh-CN" b="1" dirty="0">
                <a:ea typeface="宋体" panose="02010600030101010101" pitchFamily="2" charset="-122"/>
              </a:rPr>
              <a:t>LR(1)</a:t>
            </a:r>
            <a:r>
              <a:rPr lang="zh-CN" altLang="en-US" b="1" dirty="0">
                <a:ea typeface="宋体" panose="02010600030101010101" pitchFamily="2" charset="-122"/>
              </a:rPr>
              <a:t>分析表的基础上构造的，但可能引入</a:t>
            </a:r>
            <a:r>
              <a:rPr lang="en-US" altLang="zh-CN" b="1" dirty="0">
                <a:ea typeface="宋体" panose="02010600030101010101" pitchFamily="2" charset="-122"/>
              </a:rPr>
              <a:t>LR(1)</a:t>
            </a:r>
            <a:r>
              <a:rPr lang="zh-CN" altLang="en-US" b="1" dirty="0">
                <a:ea typeface="宋体" panose="02010600030101010101" pitchFamily="2" charset="-122"/>
              </a:rPr>
              <a:t>分析中不存在的冲突</a:t>
            </a:r>
            <a:endParaRPr lang="zh-CN" altLang="en-US" b="1" dirty="0">
              <a:ea typeface="宋体" panose="02010600030101010101" pitchFamily="2" charset="-122"/>
            </a:endParaRPr>
          </a:p>
          <a:p>
            <a:pPr lvl="1">
              <a:lnSpc>
                <a:spcPct val="90000"/>
              </a:lnSpc>
            </a:pPr>
            <a:r>
              <a:rPr lang="zh-CN" altLang="en-US" sz="2200" b="1" dirty="0">
                <a:ea typeface="宋体" panose="02010600030101010101" pitchFamily="2" charset="-122"/>
              </a:rPr>
              <a:t>不会引入移进-归约冲突（因为如果</a:t>
            </a:r>
            <a:r>
              <a:rPr lang="en-US" altLang="zh-CN" sz="2200" b="1" dirty="0">
                <a:ea typeface="宋体" panose="02010600030101010101" pitchFamily="2" charset="-122"/>
              </a:rPr>
              <a:t>LALR(1)</a:t>
            </a:r>
            <a:r>
              <a:rPr lang="zh-CN" altLang="en-US" sz="2200" b="1" dirty="0">
                <a:ea typeface="宋体" panose="02010600030101010101" pitchFamily="2" charset="-122"/>
              </a:rPr>
              <a:t>分析表中存在这类冲突，则在同心项目合并前的</a:t>
            </a:r>
            <a:r>
              <a:rPr lang="en-US" altLang="zh-CN" sz="2200" b="1" dirty="0">
                <a:ea typeface="宋体" panose="02010600030101010101" pitchFamily="2" charset="-122"/>
              </a:rPr>
              <a:t>LR(1)</a:t>
            </a:r>
            <a:r>
              <a:rPr lang="zh-CN" altLang="en-US" sz="2200" b="1" dirty="0">
                <a:ea typeface="宋体" panose="02010600030101010101" pitchFamily="2" charset="-122"/>
              </a:rPr>
              <a:t>分析表中必存在冲突）</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可能引进归约-归约冲突</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此处的例子可以参考教科书的例</a:t>
            </a:r>
            <a:r>
              <a:rPr lang="en-US" altLang="zh-CN" sz="2200" b="1" dirty="0">
                <a:ea typeface="宋体" panose="02010600030101010101" pitchFamily="2" charset="-122"/>
              </a:rPr>
              <a:t>4.58</a:t>
            </a:r>
            <a:endParaRPr lang="zh-CN" altLang="en-US" sz="2200" b="1" dirty="0">
              <a:ea typeface="宋体" panose="02010600030101010101" pitchFamily="2" charset="-122"/>
            </a:endParaRPr>
          </a:p>
          <a:p>
            <a:pPr>
              <a:lnSpc>
                <a:spcPct val="90000"/>
              </a:lnSpc>
            </a:pPr>
            <a:r>
              <a:rPr lang="en-US" altLang="zh-CN" b="1" dirty="0">
                <a:ea typeface="宋体" panose="02010600030101010101" pitchFamily="2" charset="-122"/>
              </a:rPr>
              <a:t>LR(1)</a:t>
            </a:r>
            <a:r>
              <a:rPr lang="zh-CN" altLang="en-US" b="1" dirty="0">
                <a:ea typeface="宋体" panose="02010600030101010101" pitchFamily="2" charset="-122"/>
              </a:rPr>
              <a:t>能发现的错误，</a:t>
            </a:r>
            <a:r>
              <a:rPr lang="en-US" altLang="zh-CN" b="1" dirty="0">
                <a:ea typeface="宋体" panose="02010600030101010101" pitchFamily="2" charset="-122"/>
              </a:rPr>
              <a:t>LALR(1)</a:t>
            </a:r>
            <a:r>
              <a:rPr lang="zh-CN" altLang="en-US" b="1" dirty="0">
                <a:ea typeface="宋体" panose="02010600030101010101" pitchFamily="2" charset="-122"/>
              </a:rPr>
              <a:t>也能发现，只是在报错前可能要多作一些虚假的归约</a:t>
            </a:r>
            <a:endParaRPr lang="en-US" altLang="zh-CN" sz="24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p:txBody>
      </p:sp>
    </p:spTree>
  </p:cSld>
  <p:clrMapOvr>
    <a:masterClrMapping/>
  </p:clrMapOvr>
  <p:transition spd="slow"/>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7266"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（39）</a:t>
            </a:r>
            <a:endParaRPr lang="en-US" altLang="zh-CN" dirty="0">
              <a:latin typeface="Times New Roman" panose="02020603050405020304" pitchFamily="18" charset="0"/>
              <a:ea typeface="宋体" panose="02010600030101010101" pitchFamily="2" charset="-122"/>
            </a:endParaRPr>
          </a:p>
        </p:txBody>
      </p:sp>
      <p:sp>
        <p:nvSpPr>
          <p:cNvPr id="267267" name="Rectangle 3"/>
          <p:cNvSpPr>
            <a:spLocks noGrp="1"/>
          </p:cNvSpPr>
          <p:nvPr>
            <p:ph idx="1"/>
          </p:nvPr>
        </p:nvSpPr>
        <p:spPr>
          <a:xfrm>
            <a:off x="685800" y="1371600"/>
            <a:ext cx="7924800" cy="4953000"/>
          </a:xfrm>
        </p:spPr>
        <p:txBody>
          <a:bodyPr vert="horz" wrap="square" lIns="92075" tIns="46038" rIns="92075" bIns="46038" anchor="t" anchorCtr="0"/>
          <a:p>
            <a:pPr marL="914400" lvl="1" indent="-457200">
              <a:lnSpc>
                <a:spcPct val="90000"/>
              </a:lnSpc>
              <a:buFont typeface="Wingdings" panose="05000000000000000000" pitchFamily="2" charset="2"/>
              <a:buNone/>
            </a:pPr>
            <a:r>
              <a:rPr lang="zh-CN" altLang="en-US" sz="1800" b="1" dirty="0">
                <a:ea typeface="宋体" panose="02010600030101010101" pitchFamily="2" charset="-122"/>
              </a:rPr>
              <a:t>对</a:t>
            </a:r>
            <a:r>
              <a:rPr lang="en-US" altLang="zh-CN" sz="1800" b="1" dirty="0">
                <a:ea typeface="宋体" panose="02010600030101010101" pitchFamily="2" charset="-122"/>
              </a:rPr>
              <a:t>124</a:t>
            </a:r>
            <a:r>
              <a:rPr lang="zh-CN" altLang="en-US" sz="1800" b="1" dirty="0">
                <a:ea typeface="宋体" panose="02010600030101010101" pitchFamily="2" charset="-122"/>
              </a:rPr>
              <a:t>页的文法</a:t>
            </a:r>
            <a:r>
              <a:rPr lang="en-US" altLang="zh-CN" sz="1800" b="1" dirty="0">
                <a:ea typeface="宋体" panose="02010600030101010101" pitchFamily="2" charset="-122"/>
              </a:rPr>
              <a:t>4.55</a:t>
            </a:r>
            <a:r>
              <a:rPr lang="zh-CN" altLang="en-US" sz="1800" b="1" dirty="0">
                <a:ea typeface="宋体" panose="02010600030101010101" pitchFamily="2" charset="-122"/>
              </a:rPr>
              <a:t>的</a:t>
            </a:r>
            <a:r>
              <a:rPr lang="en-US" altLang="zh-CN" sz="1800" b="1" dirty="0">
                <a:ea typeface="宋体" panose="02010600030101010101" pitchFamily="2" charset="-122"/>
              </a:rPr>
              <a:t>LR(1)</a:t>
            </a:r>
            <a:r>
              <a:rPr lang="zh-CN" altLang="en-US" sz="1800" b="1" dirty="0">
                <a:ea typeface="宋体" panose="02010600030101010101" pitchFamily="2" charset="-122"/>
              </a:rPr>
              <a:t>分析，构造</a:t>
            </a:r>
            <a:r>
              <a:rPr lang="en-US" altLang="zh-CN" sz="1800" b="1" dirty="0">
                <a:ea typeface="宋体" panose="02010600030101010101" pitchFamily="2" charset="-122"/>
              </a:rPr>
              <a:t>LALR(1)</a:t>
            </a:r>
            <a:r>
              <a:rPr lang="zh-CN" altLang="en-US" sz="1800" b="1" dirty="0">
                <a:ea typeface="宋体" panose="02010600030101010101" pitchFamily="2" charset="-122"/>
              </a:rPr>
              <a:t>分析：</a:t>
            </a:r>
            <a:endParaRPr lang="zh-CN" altLang="en-US" sz="1800" b="1" dirty="0">
              <a:ea typeface="宋体" panose="02010600030101010101" pitchFamily="2" charset="-122"/>
            </a:endParaRPr>
          </a:p>
          <a:p>
            <a:pPr marL="914400" lvl="1" indent="-457200">
              <a:lnSpc>
                <a:spcPct val="90000"/>
              </a:lnSpc>
              <a:buFont typeface="Wingdings" panose="05000000000000000000" pitchFamily="2" charset="2"/>
              <a:buNone/>
            </a:pPr>
            <a:r>
              <a:rPr lang="zh-CN" altLang="en-US" sz="1800" b="1" dirty="0">
                <a:ea typeface="宋体" panose="02010600030101010101" pitchFamily="2" charset="-122"/>
              </a:rPr>
              <a:t>合并同心项目：</a:t>
            </a:r>
            <a:r>
              <a:rPr lang="en-US" altLang="zh-CN" sz="1800" b="1" dirty="0">
                <a:ea typeface="宋体" panose="02010600030101010101" pitchFamily="2" charset="-122"/>
              </a:rPr>
              <a:t>I</a:t>
            </a:r>
            <a:r>
              <a:rPr lang="en-US" altLang="zh-CN" sz="1800" b="1" baseline="-25000" dirty="0">
                <a:ea typeface="宋体" panose="02010600030101010101" pitchFamily="2" charset="-122"/>
              </a:rPr>
              <a:t>36</a:t>
            </a:r>
            <a:r>
              <a:rPr lang="en-US" altLang="zh-CN" sz="1800" b="1" dirty="0">
                <a:ea typeface="宋体" panose="02010600030101010101" pitchFamily="2" charset="-122"/>
              </a:rPr>
              <a:t>：C</a:t>
            </a:r>
            <a:r>
              <a:rPr lang="zh-CN" altLang="en-US" sz="1800" b="1" dirty="0">
                <a:ea typeface="宋体" panose="02010600030101010101" pitchFamily="2" charset="-122"/>
              </a:rPr>
              <a:t>→</a:t>
            </a:r>
            <a:r>
              <a:rPr lang="en-US" altLang="zh-CN" sz="1800" b="1" dirty="0">
                <a:ea typeface="宋体" panose="02010600030101010101" pitchFamily="2" charset="-122"/>
              </a:rPr>
              <a:t>c.C , c/d/$</a:t>
            </a:r>
            <a:endParaRPr lang="en-US" altLang="zh-CN" sz="1800" b="1" dirty="0">
              <a:ea typeface="宋体" panose="02010600030101010101" pitchFamily="2" charset="-122"/>
            </a:endParaRPr>
          </a:p>
          <a:p>
            <a:pPr marL="914400" lvl="1" indent="-457200">
              <a:lnSpc>
                <a:spcPct val="90000"/>
              </a:lnSpc>
              <a:buFont typeface="Wingdings" panose="05000000000000000000" pitchFamily="2" charset="2"/>
              <a:buNone/>
            </a:pPr>
            <a:r>
              <a:rPr lang="en-US" altLang="zh-CN" sz="1800" b="1" dirty="0">
                <a:ea typeface="宋体" panose="02010600030101010101" pitchFamily="2" charset="-122"/>
              </a:rPr>
              <a:t>		</a:t>
            </a:r>
            <a:r>
              <a:rPr lang="zh-CN" altLang="en-US" sz="1800" b="1" dirty="0">
                <a:ea typeface="宋体" panose="02010600030101010101" pitchFamily="2" charset="-122"/>
              </a:rPr>
              <a:t>           </a:t>
            </a:r>
            <a:r>
              <a:rPr lang="en-US" altLang="zh-CN" sz="1800" b="1" dirty="0">
                <a:ea typeface="宋体" panose="02010600030101010101" pitchFamily="2" charset="-122"/>
              </a:rPr>
              <a:t> C</a:t>
            </a:r>
            <a:r>
              <a:rPr lang="zh-CN" altLang="en-US" sz="1800" b="1" dirty="0">
                <a:ea typeface="宋体" panose="02010600030101010101" pitchFamily="2" charset="-122"/>
              </a:rPr>
              <a:t>→.</a:t>
            </a:r>
            <a:r>
              <a:rPr lang="en-US" altLang="zh-CN" sz="1800" b="1" dirty="0">
                <a:ea typeface="宋体" panose="02010600030101010101" pitchFamily="2" charset="-122"/>
              </a:rPr>
              <a:t>cC , c/d/$</a:t>
            </a:r>
            <a:endParaRPr lang="en-US" altLang="zh-CN" sz="1800" b="1" dirty="0">
              <a:ea typeface="宋体" panose="02010600030101010101" pitchFamily="2" charset="-122"/>
            </a:endParaRPr>
          </a:p>
          <a:p>
            <a:pPr marL="914400" lvl="1" indent="-457200">
              <a:lnSpc>
                <a:spcPct val="90000"/>
              </a:lnSpc>
              <a:buFont typeface="Wingdings" panose="05000000000000000000" pitchFamily="2" charset="2"/>
              <a:buNone/>
            </a:pPr>
            <a:r>
              <a:rPr lang="en-US" altLang="zh-CN" sz="1800" b="1" dirty="0">
                <a:ea typeface="宋体" panose="02010600030101010101" pitchFamily="2" charset="-122"/>
              </a:rPr>
              <a:t>		</a:t>
            </a:r>
            <a:r>
              <a:rPr lang="zh-CN" altLang="en-US" sz="1800" b="1" dirty="0">
                <a:ea typeface="宋体" panose="02010600030101010101" pitchFamily="2" charset="-122"/>
              </a:rPr>
              <a:t>            </a:t>
            </a:r>
            <a:r>
              <a:rPr lang="en-US" altLang="zh-CN" sz="1800" b="1" dirty="0">
                <a:ea typeface="宋体" panose="02010600030101010101" pitchFamily="2" charset="-122"/>
              </a:rPr>
              <a:t>C</a:t>
            </a:r>
            <a:r>
              <a:rPr lang="zh-CN" altLang="en-US" sz="1800" b="1" dirty="0">
                <a:ea typeface="宋体" panose="02010600030101010101" pitchFamily="2" charset="-122"/>
              </a:rPr>
              <a:t>→</a:t>
            </a:r>
            <a:r>
              <a:rPr lang="en-US" altLang="zh-CN" sz="1800" b="1" dirty="0">
                <a:ea typeface="宋体" panose="02010600030101010101" pitchFamily="2" charset="-122"/>
              </a:rPr>
              <a:t>.d , c/d/$</a:t>
            </a:r>
            <a:endParaRPr lang="en-US" altLang="zh-CN" sz="1800" b="1" dirty="0">
              <a:ea typeface="宋体" panose="02010600030101010101" pitchFamily="2" charset="-122"/>
            </a:endParaRPr>
          </a:p>
          <a:p>
            <a:pPr marL="914400" lvl="1" indent="-457200">
              <a:lnSpc>
                <a:spcPct val="90000"/>
              </a:lnSpc>
              <a:buFont typeface="Wingdings" panose="05000000000000000000" pitchFamily="2" charset="2"/>
              <a:buNone/>
            </a:pPr>
            <a:endParaRPr lang="en-US" altLang="zh-CN" sz="1800" b="1" dirty="0">
              <a:ea typeface="宋体" panose="02010600030101010101" pitchFamily="2" charset="-122"/>
            </a:endParaRPr>
          </a:p>
          <a:p>
            <a:pPr marL="914400" lvl="1" indent="-457200">
              <a:lnSpc>
                <a:spcPct val="90000"/>
              </a:lnSpc>
              <a:buFont typeface="Wingdings" panose="05000000000000000000" pitchFamily="2" charset="2"/>
              <a:buNone/>
            </a:pPr>
            <a:r>
              <a:rPr lang="en-US" altLang="zh-CN" sz="1800" b="1" dirty="0">
                <a:ea typeface="宋体" panose="02010600030101010101" pitchFamily="2" charset="-122"/>
              </a:rPr>
              <a:t>		       I</a:t>
            </a:r>
            <a:r>
              <a:rPr lang="en-US" altLang="zh-CN" sz="1800" b="1" baseline="-25000" dirty="0">
                <a:ea typeface="宋体" panose="02010600030101010101" pitchFamily="2" charset="-122"/>
              </a:rPr>
              <a:t>47</a:t>
            </a:r>
            <a:r>
              <a:rPr lang="en-US" altLang="zh-CN" sz="1800" b="1" dirty="0">
                <a:ea typeface="宋体" panose="02010600030101010101" pitchFamily="2" charset="-122"/>
              </a:rPr>
              <a:t>：C</a:t>
            </a:r>
            <a:r>
              <a:rPr lang="zh-CN" altLang="en-US" sz="1800" b="1" dirty="0">
                <a:ea typeface="宋体" panose="02010600030101010101" pitchFamily="2" charset="-122"/>
              </a:rPr>
              <a:t>→</a:t>
            </a:r>
            <a:r>
              <a:rPr lang="en-US" altLang="zh-CN" sz="1800" b="1" dirty="0">
                <a:ea typeface="宋体" panose="02010600030101010101" pitchFamily="2" charset="-122"/>
              </a:rPr>
              <a:t>d. , c/d/$</a:t>
            </a:r>
            <a:endParaRPr lang="en-US" altLang="zh-CN" sz="1800" b="1" dirty="0">
              <a:ea typeface="宋体" panose="02010600030101010101" pitchFamily="2" charset="-122"/>
            </a:endParaRPr>
          </a:p>
          <a:p>
            <a:pPr marL="914400" lvl="1" indent="-457200">
              <a:lnSpc>
                <a:spcPct val="90000"/>
              </a:lnSpc>
              <a:buFont typeface="Wingdings" panose="05000000000000000000" pitchFamily="2" charset="2"/>
              <a:buNone/>
            </a:pPr>
            <a:endParaRPr lang="en-US" altLang="zh-CN" sz="1800" b="1" dirty="0">
              <a:ea typeface="宋体" panose="02010600030101010101" pitchFamily="2" charset="-122"/>
            </a:endParaRPr>
          </a:p>
          <a:p>
            <a:pPr marL="914400" lvl="1" indent="-457200">
              <a:lnSpc>
                <a:spcPct val="90000"/>
              </a:lnSpc>
              <a:buFont typeface="Wingdings" panose="05000000000000000000" pitchFamily="2" charset="2"/>
              <a:buNone/>
            </a:pPr>
            <a:r>
              <a:rPr lang="en-US" altLang="zh-CN" sz="1800" b="1" dirty="0">
                <a:ea typeface="宋体" panose="02010600030101010101" pitchFamily="2" charset="-122"/>
              </a:rPr>
              <a:t>		      I</a:t>
            </a:r>
            <a:r>
              <a:rPr lang="en-US" altLang="zh-CN" sz="1800" b="1" baseline="-25000" dirty="0">
                <a:ea typeface="宋体" panose="02010600030101010101" pitchFamily="2" charset="-122"/>
              </a:rPr>
              <a:t>89</a:t>
            </a:r>
            <a:r>
              <a:rPr lang="en-US" altLang="zh-CN" sz="1800" b="1" dirty="0">
                <a:ea typeface="宋体" panose="02010600030101010101" pitchFamily="2" charset="-122"/>
              </a:rPr>
              <a:t>：C</a:t>
            </a:r>
            <a:r>
              <a:rPr lang="zh-CN" altLang="en-US" sz="1800" b="1" dirty="0">
                <a:ea typeface="宋体" panose="02010600030101010101" pitchFamily="2" charset="-122"/>
              </a:rPr>
              <a:t>→</a:t>
            </a:r>
            <a:r>
              <a:rPr lang="en-US" altLang="zh-CN" sz="1800" b="1" dirty="0">
                <a:ea typeface="宋体" panose="02010600030101010101" pitchFamily="2" charset="-122"/>
              </a:rPr>
              <a:t>cC. , c/d/$</a:t>
            </a:r>
            <a:endParaRPr lang="en-US" altLang="zh-CN" sz="1800" b="1" dirty="0">
              <a:ea typeface="宋体" panose="02010600030101010101" pitchFamily="2" charset="-122"/>
            </a:endParaRPr>
          </a:p>
        </p:txBody>
      </p:sp>
    </p:spTree>
  </p:cSld>
  <p:clrMapOvr>
    <a:masterClrMapping/>
  </p:clrMapOvr>
  <p:transition spd="slow"/>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9314"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（40）</a:t>
            </a:r>
            <a:endParaRPr lang="en-US" altLang="zh-CN" dirty="0">
              <a:latin typeface="Times New Roman" panose="02020603050405020304" pitchFamily="18" charset="0"/>
              <a:ea typeface="宋体" panose="02010600030101010101" pitchFamily="2" charset="-122"/>
            </a:endParaRPr>
          </a:p>
        </p:txBody>
      </p:sp>
      <p:graphicFrame>
        <p:nvGraphicFramePr>
          <p:cNvPr id="269315" name="Object 5"/>
          <p:cNvGraphicFramePr>
            <a:graphicFrameLocks noChangeAspect="1"/>
          </p:cNvGraphicFramePr>
          <p:nvPr/>
        </p:nvGraphicFramePr>
        <p:xfrm>
          <a:off x="1905000" y="1371600"/>
          <a:ext cx="4267200" cy="3184525"/>
        </p:xfrm>
        <a:graphic>
          <a:graphicData uri="http://schemas.openxmlformats.org/presentationml/2006/ole">
            <mc:AlternateContent xmlns:mc="http://schemas.openxmlformats.org/markup-compatibility/2006">
              <mc:Choice xmlns:v="urn:schemas-microsoft-com:vml" Requires="v">
                <p:oleObj spid="_x0000_s3131" name="" r:id="rId1" imgW="3495040" imgH="2611120" progId="Visio.Drawing.4">
                  <p:embed/>
                </p:oleObj>
              </mc:Choice>
              <mc:Fallback>
                <p:oleObj name="" r:id="rId1" imgW="3495040" imgH="2611120" progId="Visio.Drawing.4">
                  <p:embed/>
                  <p:pic>
                    <p:nvPicPr>
                      <p:cNvPr id="0" name="图片 3130"/>
                      <p:cNvPicPr/>
                      <p:nvPr/>
                    </p:nvPicPr>
                    <p:blipFill>
                      <a:blip r:embed="rId2"/>
                      <a:stretch>
                        <a:fillRect/>
                      </a:stretch>
                    </p:blipFill>
                    <p:spPr>
                      <a:xfrm>
                        <a:off x="1905000" y="1371600"/>
                        <a:ext cx="4267200" cy="3184525"/>
                      </a:xfrm>
                      <a:prstGeom prst="rect">
                        <a:avLst/>
                      </a:prstGeom>
                      <a:noFill/>
                      <a:ln w="38100">
                        <a:noFill/>
                        <a:miter/>
                      </a:ln>
                    </p:spPr>
                  </p:pic>
                </p:oleObj>
              </mc:Fallback>
            </mc:AlternateContent>
          </a:graphicData>
        </a:graphic>
      </p:graphicFrame>
      <p:sp>
        <p:nvSpPr>
          <p:cNvPr id="269316" name="Rectangle 7"/>
          <p:cNvSpPr>
            <a:spLocks noGrp="1"/>
          </p:cNvSpPr>
          <p:nvPr>
            <p:ph idx="1"/>
          </p:nvPr>
        </p:nvSpPr>
        <p:spPr/>
        <p:txBody>
          <a:bodyPr vert="horz" wrap="square" lIns="92075" tIns="46038" rIns="92075" bIns="46038" anchor="t" anchorCtr="0"/>
          <a:p>
            <a:pPr>
              <a:lnSpc>
                <a:spcPct val="90000"/>
              </a:lnSpc>
              <a:buNone/>
            </a:pPr>
            <a:endParaRPr lang="zh-CN" altLang="en-US" sz="2200" b="1" dirty="0">
              <a:ea typeface="宋体" panose="02010600030101010101" pitchFamily="2" charset="-122"/>
            </a:endParaRPr>
          </a:p>
          <a:p>
            <a:pPr>
              <a:lnSpc>
                <a:spcPct val="90000"/>
              </a:lnSpc>
              <a:buNone/>
            </a:pPr>
            <a:endParaRPr lang="zh-CN" altLang="en-US" sz="2200" b="1" dirty="0">
              <a:ea typeface="宋体" panose="02010600030101010101" pitchFamily="2" charset="-122"/>
            </a:endParaRPr>
          </a:p>
          <a:p>
            <a:pPr>
              <a:lnSpc>
                <a:spcPct val="90000"/>
              </a:lnSpc>
              <a:buNone/>
            </a:pPr>
            <a:endParaRPr lang="zh-CN" altLang="en-US" sz="2200" b="1" dirty="0">
              <a:ea typeface="宋体" panose="02010600030101010101" pitchFamily="2" charset="-122"/>
            </a:endParaRPr>
          </a:p>
          <a:p>
            <a:pPr>
              <a:lnSpc>
                <a:spcPct val="90000"/>
              </a:lnSpc>
              <a:buNone/>
            </a:pPr>
            <a:endParaRPr lang="zh-CN" altLang="en-US" sz="2200" b="1" dirty="0">
              <a:ea typeface="宋体" panose="02010600030101010101" pitchFamily="2" charset="-122"/>
            </a:endParaRPr>
          </a:p>
          <a:p>
            <a:pPr>
              <a:lnSpc>
                <a:spcPct val="90000"/>
              </a:lnSpc>
              <a:buNone/>
            </a:pPr>
            <a:endParaRPr lang="zh-CN" altLang="en-US" sz="2200" b="1" dirty="0">
              <a:ea typeface="宋体" panose="02010600030101010101" pitchFamily="2" charset="-122"/>
            </a:endParaRPr>
          </a:p>
          <a:p>
            <a:pPr>
              <a:lnSpc>
                <a:spcPct val="90000"/>
              </a:lnSpc>
              <a:buNone/>
            </a:pPr>
            <a:endParaRPr lang="zh-CN" altLang="en-US" sz="2200" b="1" dirty="0">
              <a:ea typeface="宋体" panose="02010600030101010101" pitchFamily="2" charset="-122"/>
            </a:endParaRPr>
          </a:p>
          <a:p>
            <a:pPr>
              <a:lnSpc>
                <a:spcPct val="90000"/>
              </a:lnSpc>
              <a:buNone/>
            </a:pPr>
            <a:endParaRPr lang="zh-CN" altLang="en-US" sz="2200" b="1" dirty="0">
              <a:ea typeface="宋体" panose="02010600030101010101" pitchFamily="2" charset="-122"/>
            </a:endParaRPr>
          </a:p>
          <a:p>
            <a:pPr>
              <a:lnSpc>
                <a:spcPct val="90000"/>
              </a:lnSpc>
              <a:buNone/>
            </a:pPr>
            <a:endParaRPr lang="zh-CN" altLang="en-US" sz="2200" b="1" dirty="0">
              <a:ea typeface="宋体" panose="02010600030101010101" pitchFamily="2" charset="-122"/>
            </a:endParaRPr>
          </a:p>
          <a:p>
            <a:pPr>
              <a:lnSpc>
                <a:spcPct val="90000"/>
              </a:lnSpc>
              <a:buNone/>
            </a:pPr>
            <a:r>
              <a:rPr lang="zh-CN" altLang="en-US" sz="1800" b="1" dirty="0">
                <a:ea typeface="宋体" panose="02010600030101010101" pitchFamily="2" charset="-122"/>
              </a:rPr>
              <a:t>考虑输入串</a:t>
            </a:r>
            <a:r>
              <a:rPr lang="en-US" altLang="zh-CN" sz="1800" b="1" dirty="0">
                <a:ea typeface="宋体" panose="02010600030101010101" pitchFamily="2" charset="-122"/>
              </a:rPr>
              <a:t>ccd$，</a:t>
            </a:r>
            <a:r>
              <a:rPr lang="zh-CN" altLang="en-US" sz="1800" b="1" dirty="0">
                <a:ea typeface="宋体" panose="02010600030101010101" pitchFamily="2" charset="-122"/>
              </a:rPr>
              <a:t>对于</a:t>
            </a:r>
            <a:r>
              <a:rPr lang="en-US" altLang="zh-CN" sz="1800" b="1" dirty="0">
                <a:ea typeface="宋体" panose="02010600030101010101" pitchFamily="2" charset="-122"/>
              </a:rPr>
              <a:t>LR(1)</a:t>
            </a:r>
            <a:r>
              <a:rPr lang="zh-CN" altLang="en-US" sz="1800" b="1" dirty="0">
                <a:ea typeface="宋体" panose="02010600030101010101" pitchFamily="2" charset="-122"/>
              </a:rPr>
              <a:t>分析，把0 </a:t>
            </a:r>
            <a:r>
              <a:rPr lang="en-US" altLang="zh-CN" sz="1800" b="1" dirty="0">
                <a:ea typeface="宋体" panose="02010600030101010101" pitchFamily="2" charset="-122"/>
              </a:rPr>
              <a:t>3 3 4</a:t>
            </a:r>
            <a:r>
              <a:rPr lang="zh-CN" altLang="en-US" sz="1800" b="1" dirty="0">
                <a:ea typeface="宋体" panose="02010600030101010101" pitchFamily="2" charset="-122"/>
              </a:rPr>
              <a:t>入栈，在状态4发现错误</a:t>
            </a:r>
            <a:endParaRPr lang="zh-CN" altLang="en-US" sz="1800" b="1" dirty="0">
              <a:ea typeface="宋体" panose="02010600030101010101" pitchFamily="2" charset="-122"/>
            </a:endParaRPr>
          </a:p>
          <a:p>
            <a:pPr>
              <a:lnSpc>
                <a:spcPct val="90000"/>
              </a:lnSpc>
              <a:buNone/>
            </a:pPr>
            <a:r>
              <a:rPr lang="zh-CN" altLang="en-US" sz="1800" b="1" dirty="0">
                <a:ea typeface="宋体" panose="02010600030101010101" pitchFamily="2" charset="-122"/>
              </a:rPr>
              <a:t>而对于</a:t>
            </a:r>
            <a:r>
              <a:rPr lang="en-US" altLang="zh-CN" sz="1800" b="1" dirty="0">
                <a:ea typeface="宋体" panose="02010600030101010101" pitchFamily="2" charset="-122"/>
              </a:rPr>
              <a:t>LALR(1)</a:t>
            </a:r>
            <a:r>
              <a:rPr lang="zh-CN" altLang="en-US" sz="1800" b="1" dirty="0">
                <a:ea typeface="宋体" panose="02010600030101010101" pitchFamily="2" charset="-122"/>
              </a:rPr>
              <a:t>分析，把0 </a:t>
            </a:r>
            <a:r>
              <a:rPr lang="en-US" altLang="zh-CN" sz="1800" b="1" dirty="0">
                <a:ea typeface="宋体" panose="02010600030101010101" pitchFamily="2" charset="-122"/>
              </a:rPr>
              <a:t>36 36 47</a:t>
            </a:r>
            <a:r>
              <a:rPr lang="zh-CN" altLang="en-US" sz="1800" b="1" dirty="0">
                <a:ea typeface="宋体" panose="02010600030101010101" pitchFamily="2" charset="-122"/>
              </a:rPr>
              <a:t>入栈</a:t>
            </a:r>
            <a:endParaRPr lang="zh-CN" altLang="en-US" sz="1800" b="1" dirty="0">
              <a:ea typeface="宋体" panose="02010600030101010101" pitchFamily="2" charset="-122"/>
            </a:endParaRPr>
          </a:p>
          <a:p>
            <a:pPr>
              <a:lnSpc>
                <a:spcPct val="90000"/>
              </a:lnSpc>
              <a:buNone/>
            </a:pPr>
            <a:r>
              <a:rPr lang="zh-CN" altLang="en-US" sz="1800" b="1" dirty="0">
                <a:ea typeface="宋体" panose="02010600030101010101" pitchFamily="2" charset="-122"/>
              </a:rPr>
              <a:t>	然后用</a:t>
            </a:r>
            <a:r>
              <a:rPr lang="en-US" altLang="zh-CN" sz="1800" b="1" dirty="0">
                <a:ea typeface="宋体" panose="02010600030101010101" pitchFamily="2" charset="-122"/>
              </a:rPr>
              <a:t>C</a:t>
            </a:r>
            <a:r>
              <a:rPr lang="zh-CN" altLang="en-US" sz="1800" b="1" dirty="0">
                <a:ea typeface="宋体" panose="02010600030101010101" pitchFamily="2" charset="-122"/>
              </a:rPr>
              <a:t>→</a:t>
            </a:r>
            <a:r>
              <a:rPr lang="en-US" altLang="zh-CN" sz="1800" b="1" dirty="0">
                <a:ea typeface="宋体" panose="02010600030101010101" pitchFamily="2" charset="-122"/>
              </a:rPr>
              <a:t>d</a:t>
            </a:r>
            <a:r>
              <a:rPr lang="zh-CN" altLang="en-US" sz="1800" b="1" dirty="0">
                <a:ea typeface="宋体" panose="02010600030101010101" pitchFamily="2" charset="-122"/>
              </a:rPr>
              <a:t>归约，栈的内容变为0</a:t>
            </a:r>
            <a:r>
              <a:rPr lang="en-US" altLang="zh-CN" sz="1800" b="1" dirty="0">
                <a:ea typeface="宋体" panose="02010600030101010101" pitchFamily="2" charset="-122"/>
              </a:rPr>
              <a:t> 36 36 89</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	再用</a:t>
            </a:r>
            <a:r>
              <a:rPr lang="en-US" altLang="zh-CN" sz="1800" b="1" dirty="0">
                <a:ea typeface="宋体" panose="02010600030101010101" pitchFamily="2" charset="-122"/>
              </a:rPr>
              <a:t>C</a:t>
            </a:r>
            <a:r>
              <a:rPr lang="zh-CN" altLang="en-US" sz="1800" b="1" dirty="0">
                <a:ea typeface="宋体" panose="02010600030101010101" pitchFamily="2" charset="-122"/>
              </a:rPr>
              <a:t>→</a:t>
            </a:r>
            <a:r>
              <a:rPr lang="en-US" altLang="zh-CN" sz="1800" b="1" dirty="0">
                <a:ea typeface="宋体" panose="02010600030101010101" pitchFamily="2" charset="-122"/>
              </a:rPr>
              <a:t>cC</a:t>
            </a:r>
            <a:r>
              <a:rPr lang="zh-CN" altLang="en-US" sz="1800" b="1" dirty="0">
                <a:ea typeface="宋体" panose="02010600030101010101" pitchFamily="2" charset="-122"/>
              </a:rPr>
              <a:t>归约，栈的内容变为0</a:t>
            </a:r>
            <a:r>
              <a:rPr lang="en-US" altLang="zh-CN" sz="1800" b="1" dirty="0">
                <a:ea typeface="宋体" panose="02010600030101010101" pitchFamily="2" charset="-122"/>
              </a:rPr>
              <a:t> 36 89</a:t>
            </a:r>
            <a:endParaRPr lang="zh-CN" altLang="en-US" sz="1800" b="1" dirty="0">
              <a:ea typeface="宋体" panose="02010600030101010101" pitchFamily="2" charset="-122"/>
            </a:endParaRPr>
          </a:p>
          <a:p>
            <a:pPr>
              <a:lnSpc>
                <a:spcPct val="90000"/>
              </a:lnSpc>
              <a:buNone/>
            </a:pPr>
            <a:r>
              <a:rPr lang="zh-CN" altLang="en-US" sz="1800" b="1" dirty="0">
                <a:ea typeface="宋体" panose="02010600030101010101" pitchFamily="2" charset="-122"/>
              </a:rPr>
              <a:t>	第二次用</a:t>
            </a:r>
            <a:r>
              <a:rPr lang="en-US" altLang="zh-CN" sz="1800" b="1" dirty="0">
                <a:ea typeface="宋体" panose="02010600030101010101" pitchFamily="2" charset="-122"/>
              </a:rPr>
              <a:t>C</a:t>
            </a:r>
            <a:r>
              <a:rPr lang="zh-CN" altLang="en-US" sz="1800" b="1" dirty="0">
                <a:ea typeface="宋体" panose="02010600030101010101" pitchFamily="2" charset="-122"/>
              </a:rPr>
              <a:t>→</a:t>
            </a:r>
            <a:r>
              <a:rPr lang="en-US" altLang="zh-CN" sz="1800" b="1" dirty="0">
                <a:ea typeface="宋体" panose="02010600030101010101" pitchFamily="2" charset="-122"/>
              </a:rPr>
              <a:t>cC</a:t>
            </a:r>
            <a:r>
              <a:rPr lang="zh-CN" altLang="en-US" sz="1800" b="1" dirty="0">
                <a:ea typeface="宋体" panose="02010600030101010101" pitchFamily="2" charset="-122"/>
              </a:rPr>
              <a:t>归约，栈的内容变为0</a:t>
            </a:r>
            <a:r>
              <a:rPr lang="en-US" altLang="zh-CN" sz="1800" b="1" dirty="0">
                <a:ea typeface="宋体" panose="02010600030101010101" pitchFamily="2" charset="-122"/>
              </a:rPr>
              <a:t> 2</a:t>
            </a:r>
            <a:endParaRPr lang="zh-CN" altLang="en-US" sz="1800" b="1" dirty="0">
              <a:ea typeface="宋体" panose="02010600030101010101" pitchFamily="2" charset="-122"/>
            </a:endParaRPr>
          </a:p>
          <a:p>
            <a:pPr>
              <a:lnSpc>
                <a:spcPct val="90000"/>
              </a:lnSpc>
              <a:buNone/>
            </a:pPr>
            <a:r>
              <a:rPr lang="zh-CN" altLang="en-US" sz="1800" b="1" dirty="0">
                <a:ea typeface="宋体" panose="02010600030101010101" pitchFamily="2" charset="-122"/>
              </a:rPr>
              <a:t>此时发现错误</a:t>
            </a:r>
            <a:endParaRPr lang="zh-CN" altLang="en-US" sz="1800" b="1" dirty="0">
              <a:ea typeface="宋体" panose="02010600030101010101" pitchFamily="2" charset="-122"/>
            </a:endParaRPr>
          </a:p>
        </p:txBody>
      </p:sp>
    </p:spTree>
  </p:cSld>
  <p:clrMapOvr>
    <a:masterClrMapping/>
  </p:clrMapOvr>
  <p:transition spd="slow"/>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（41）</a:t>
            </a:r>
            <a:endParaRPr lang="zh-CN" altLang="en-US" dirty="0">
              <a:latin typeface="Times New Roman" panose="02020603050405020304" pitchFamily="18" charset="0"/>
              <a:ea typeface="宋体" panose="02010600030101010101" pitchFamily="2" charset="-122"/>
            </a:endParaRPr>
          </a:p>
        </p:txBody>
      </p:sp>
      <p:sp>
        <p:nvSpPr>
          <p:cNvPr id="275459" name="Rectangle 4"/>
          <p:cNvSpPr>
            <a:spLocks noGrp="1" noChangeArrowheads="1"/>
          </p:cNvSpPr>
          <p:nvPr>
            <p:ph idx="1"/>
          </p:nvPr>
        </p:nvSpPr>
        <p:spPr>
          <a:xfrm>
            <a:off x="539750" y="1371600"/>
            <a:ext cx="8280400" cy="4800600"/>
          </a:xfrm>
        </p:spPr>
        <p:txBody>
          <a:bodyPr vert="horz" wrap="square" lIns="92075" tIns="46038" rIns="92075" bIns="46038" numCol="1" anchor="t" anchorCtr="0" compatLnSpc="1"/>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高效构造</a:t>
            </a:r>
            <a:r>
              <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LALR</a:t>
            </a: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语法分析表的方法</a:t>
            </a: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改进前述方法，避免构造完整的规范</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）项目集族</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只使用内核项表示任意的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）或</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）项目集</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内核项：只使用初始项</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或</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S,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以及点不在产生式右部左端的项</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使用一个“传播和自发生成”的过程生成向前看符号，根据</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）项目的内核生成</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LALR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）项目的内核</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对求得的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LALR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）内核，利用算法</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4.53</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（图</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4-40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）的求闭包函数计算各个内核的闭包；将求得的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LALR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）项目集当作规范</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）项目集族，采用算法</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4.56</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PPT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的第</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125</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页算法）计算分析表条目，得到</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LALR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）分析表</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341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（42）</a:t>
            </a:r>
            <a:endParaRPr lang="zh-CN" altLang="en-US" dirty="0">
              <a:latin typeface="Times New Roman" panose="02020603050405020304" pitchFamily="18" charset="0"/>
              <a:ea typeface="宋体" panose="02010600030101010101" pitchFamily="2" charset="-122"/>
            </a:endParaRPr>
          </a:p>
        </p:txBody>
      </p:sp>
      <p:sp>
        <p:nvSpPr>
          <p:cNvPr id="275459" name="Rectangle 4"/>
          <p:cNvSpPr>
            <a:spLocks noGrp="1" noChangeArrowheads="1"/>
          </p:cNvSpPr>
          <p:nvPr>
            <p:ph idx="1"/>
          </p:nvPr>
        </p:nvSpPr>
        <p:spPr>
          <a:xfrm>
            <a:off x="914400" y="1371600"/>
            <a:ext cx="7543800" cy="4800600"/>
          </a:xfrm>
        </p:spPr>
        <p:txBody>
          <a:bodyPr vert="horz" wrap="square" lIns="92075" tIns="46038" rIns="92075" bIns="46038" numCol="1" anchor="t" anchorCtr="0" compatLnSpc="1"/>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高效构造</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语法分析表的例子</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以下述增广文法为例（例</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4.61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 = R  |  R</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R  |  id</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该文法的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）项目集内核如下，完整地</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）项目集族见</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PPT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第</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118</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页的图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4-39</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273412" name="Picture 2"/>
          <p:cNvPicPr>
            <a:picLocks noChangeAspect="1"/>
          </p:cNvPicPr>
          <p:nvPr/>
        </p:nvPicPr>
        <p:blipFill>
          <a:blip r:embed="rId1"/>
          <a:stretch>
            <a:fillRect/>
          </a:stretch>
        </p:blipFill>
        <p:spPr>
          <a:xfrm>
            <a:off x="174625" y="4076700"/>
            <a:ext cx="8969375" cy="2790825"/>
          </a:xfrm>
          <a:prstGeom prst="rect">
            <a:avLst/>
          </a:prstGeom>
          <a:noFill/>
          <a:ln w="9525">
            <a:noFill/>
          </a:ln>
        </p:spPr>
      </p:pic>
    </p:spTree>
  </p:cSld>
  <p:clrMapOvr>
    <a:masterClrMapping/>
  </p:clrMapOvr>
  <p:transition spd="slow"/>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545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（43）</a:t>
            </a:r>
            <a:endParaRPr lang="zh-CN" altLang="en-US" dirty="0">
              <a:latin typeface="Times New Roman" panose="02020603050405020304" pitchFamily="18" charset="0"/>
              <a:ea typeface="宋体" panose="02010600030101010101" pitchFamily="2" charset="-122"/>
            </a:endParaRPr>
          </a:p>
        </p:txBody>
      </p:sp>
      <p:sp>
        <p:nvSpPr>
          <p:cNvPr id="275459" name="Rectangle 4"/>
          <p:cNvSpPr>
            <a:spLocks noGrp="1"/>
          </p:cNvSpPr>
          <p:nvPr>
            <p:ph idx="1"/>
          </p:nvPr>
        </p:nvSpPr>
        <p:spPr>
          <a:xfrm>
            <a:off x="468313" y="1371600"/>
            <a:ext cx="8280400"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向前看符号的两种来源</a:t>
            </a:r>
            <a:endParaRPr lang="en-US" altLang="zh-CN" sz="2400" b="1" dirty="0">
              <a:ea typeface="宋体" panose="02010600030101010101" pitchFamily="2" charset="-122"/>
            </a:endParaRPr>
          </a:p>
          <a:p>
            <a:pPr lvl="1">
              <a:lnSpc>
                <a:spcPct val="90000"/>
              </a:lnSpc>
            </a:pPr>
            <a:r>
              <a:rPr lang="zh-CN" altLang="en-US" sz="2000" b="1" dirty="0">
                <a:ea typeface="宋体" panose="02010600030101010101" pitchFamily="2" charset="-122"/>
              </a:rPr>
              <a:t>自发生成的：</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例子</a:t>
            </a:r>
            <a:endParaRPr lang="en-US" altLang="zh-CN" sz="2000" b="1" dirty="0">
              <a:ea typeface="宋体" panose="02010600030101010101" pitchFamily="2" charset="-122"/>
            </a:endParaRPr>
          </a:p>
          <a:p>
            <a:pPr lvl="3">
              <a:lnSpc>
                <a:spcPct val="90000"/>
              </a:lnSpc>
            </a:pPr>
            <a:r>
              <a:rPr lang="en-US" altLang="zh-CN" sz="1800" b="1" dirty="0">
                <a:ea typeface="宋体" panose="02010600030101010101" pitchFamily="2" charset="-122"/>
              </a:rPr>
              <a:t>[S’</a:t>
            </a:r>
            <a:r>
              <a:rPr lang="zh-CN" altLang="en-US" sz="1800" b="1" dirty="0">
                <a:ea typeface="宋体" panose="02010600030101010101" pitchFamily="2" charset="-122"/>
              </a:rPr>
              <a:t>→</a:t>
            </a:r>
            <a:r>
              <a:rPr lang="en-US" altLang="zh-CN" sz="1800" b="1" dirty="0">
                <a:ea typeface="宋体" panose="02010600030101010101" pitchFamily="2" charset="-122"/>
              </a:rPr>
              <a:t>.S, $]</a:t>
            </a:r>
            <a:r>
              <a:rPr lang="zh-CN" altLang="en-US" sz="1800" b="1" dirty="0">
                <a:ea typeface="宋体" panose="02010600030101010101" pitchFamily="2" charset="-122"/>
              </a:rPr>
              <a:t>的</a:t>
            </a:r>
            <a:r>
              <a:rPr lang="en-US" altLang="zh-CN" sz="1800" b="1" dirty="0">
                <a:ea typeface="宋体" panose="02010600030101010101" pitchFamily="2" charset="-122"/>
              </a:rPr>
              <a:t>$</a:t>
            </a:r>
            <a:r>
              <a:rPr lang="zh-CN" altLang="en-US" sz="1800" b="1" dirty="0">
                <a:ea typeface="宋体" panose="02010600030101010101" pitchFamily="2" charset="-122"/>
              </a:rPr>
              <a:t>，对于初始项目的特例</a:t>
            </a:r>
            <a:endParaRPr lang="en-US" altLang="zh-CN" sz="1800" b="1" dirty="0">
              <a:ea typeface="宋体" panose="02010600030101010101" pitchFamily="2" charset="-122"/>
            </a:endParaRPr>
          </a:p>
          <a:p>
            <a:pPr lvl="3">
              <a:lnSpc>
                <a:spcPct val="90000"/>
              </a:lnSpc>
            </a:pPr>
            <a:r>
              <a:rPr lang="zh-CN" altLang="en-US" sz="1800" b="1" dirty="0">
                <a:ea typeface="宋体" panose="02010600030101010101" pitchFamily="2" charset="-122"/>
              </a:rPr>
              <a:t>如果有类似于</a:t>
            </a:r>
            <a:r>
              <a:rPr lang="en-US" altLang="zh-CN" sz="1800" b="1" dirty="0">
                <a:ea typeface="宋体" panose="02010600030101010101" pitchFamily="2" charset="-122"/>
              </a:rPr>
              <a:t>[S</a:t>
            </a:r>
            <a:r>
              <a:rPr lang="zh-CN" altLang="en-US" sz="1800" b="1" dirty="0">
                <a:ea typeface="宋体" panose="02010600030101010101" pitchFamily="2" charset="-122"/>
              </a:rPr>
              <a:t>→</a:t>
            </a:r>
            <a:r>
              <a:rPr lang="en-US" altLang="zh-CN" sz="1800" b="1" dirty="0">
                <a:ea typeface="宋体" panose="02010600030101010101" pitchFamily="2" charset="-122"/>
              </a:rPr>
              <a:t>.L</a:t>
            </a:r>
            <a:r>
              <a:rPr lang="zh-CN" altLang="en-US" sz="1800" b="1"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b="1" dirty="0">
                <a:ea typeface="宋体" panose="02010600030101010101" pitchFamily="2" charset="-122"/>
              </a:rPr>
              <a:t>R</a:t>
            </a:r>
            <a:r>
              <a:rPr lang="zh-CN" altLang="en-US" sz="1800" b="1" dirty="0">
                <a:ea typeface="宋体" panose="02010600030101010101" pitchFamily="2" charset="-122"/>
              </a:rPr>
              <a:t>，</a:t>
            </a:r>
            <a:r>
              <a:rPr lang="en-US" altLang="zh-CN" sz="1800" b="1" dirty="0">
                <a:ea typeface="宋体" panose="02010600030101010101" pitchFamily="2" charset="-122"/>
              </a:rPr>
              <a:t>…]</a:t>
            </a:r>
            <a:r>
              <a:rPr lang="zh-CN" altLang="en-US" sz="1800" b="1" dirty="0">
                <a:ea typeface="宋体" panose="02010600030101010101" pitchFamily="2" charset="-122"/>
              </a:rPr>
              <a:t>，则有</a:t>
            </a:r>
            <a:r>
              <a:rPr lang="en-US" altLang="zh-CN" sz="1800" b="1" dirty="0">
                <a:ea typeface="宋体" panose="02010600030101010101" pitchFamily="2" charset="-122"/>
              </a:rPr>
              <a:t>[L</a:t>
            </a:r>
            <a:r>
              <a:rPr lang="zh-CN" altLang="en-US" sz="1800" b="1" dirty="0">
                <a:ea typeface="宋体" panose="02010600030101010101" pitchFamily="2" charset="-122"/>
              </a:rPr>
              <a:t>→ </a:t>
            </a:r>
            <a:r>
              <a:rPr lang="en-US" altLang="zh-CN" sz="1800" b="1" dirty="0">
                <a:ea typeface="宋体" panose="02010600030101010101" pitchFamily="2" charset="-122"/>
              </a:rPr>
              <a:t>. * R</a:t>
            </a:r>
            <a:r>
              <a:rPr lang="zh-CN" altLang="en-US" sz="1800" b="1" dirty="0">
                <a:ea typeface="宋体" panose="02010600030101010101" pitchFamily="2" charset="-122"/>
              </a:rPr>
              <a:t>，</a:t>
            </a:r>
            <a:r>
              <a:rPr lang="en-US" altLang="zh-CN" sz="1800" b="1" dirty="0">
                <a:ea typeface="宋体" panose="02010600030101010101" pitchFamily="2" charset="-122"/>
              </a:rPr>
              <a:t>=]</a:t>
            </a:r>
            <a:r>
              <a:rPr lang="zh-CN" altLang="en-US" sz="1800" b="1" dirty="0">
                <a:ea typeface="宋体" panose="02010600030101010101" pitchFamily="2" charset="-122"/>
              </a:rPr>
              <a:t>，其中的“</a:t>
            </a:r>
            <a:r>
              <a:rPr lang="en-US" altLang="zh-CN" sz="1800" b="1" dirty="0">
                <a:ea typeface="宋体" panose="02010600030101010101" pitchFamily="2" charset="-122"/>
              </a:rPr>
              <a:t>=</a:t>
            </a:r>
            <a:r>
              <a:rPr lang="zh-CN" altLang="en-US" sz="1800" b="1" dirty="0">
                <a:ea typeface="宋体" panose="02010600030101010101" pitchFamily="2" charset="-122"/>
              </a:rPr>
              <a:t>”是自发生成的</a:t>
            </a:r>
            <a:endParaRPr lang="en-US" altLang="zh-CN" sz="1800" b="1" dirty="0">
              <a:ea typeface="宋体" panose="02010600030101010101" pitchFamily="2" charset="-122"/>
            </a:endParaRPr>
          </a:p>
          <a:p>
            <a:pPr lvl="4">
              <a:lnSpc>
                <a:spcPct val="90000"/>
              </a:lnSpc>
            </a:pPr>
            <a:r>
              <a:rPr lang="zh-CN" altLang="en-US" sz="1600" b="1" dirty="0">
                <a:ea typeface="宋体" panose="02010600030101010101" pitchFamily="2" charset="-122"/>
              </a:rPr>
              <a:t>此处的</a:t>
            </a:r>
            <a:r>
              <a:rPr lang="en-US" altLang="zh-CN" sz="1600" b="1" dirty="0">
                <a:ea typeface="宋体" panose="02010600030101010101" pitchFamily="2" charset="-122"/>
              </a:rPr>
              <a:t>=</a:t>
            </a:r>
            <a:r>
              <a:rPr lang="zh-CN" altLang="en-US" sz="1600" b="1" dirty="0">
                <a:ea typeface="宋体" panose="02010600030101010101" pitchFamily="2" charset="-122"/>
              </a:rPr>
              <a:t>直接出现在产生式中，如果</a:t>
            </a:r>
            <a:r>
              <a:rPr lang="en-US" altLang="zh-CN" sz="1600" b="1" dirty="0">
                <a:ea typeface="宋体" panose="02010600030101010101" pitchFamily="2" charset="-122"/>
              </a:rPr>
              <a:t>L</a:t>
            </a:r>
            <a:r>
              <a:rPr lang="zh-CN" altLang="en-US" sz="1600" b="1" dirty="0">
                <a:ea typeface="宋体" panose="02010600030101010101" pitchFamily="2" charset="-122"/>
              </a:rPr>
              <a:t>后跟随的不是终结符，而是一个非终结符</a:t>
            </a:r>
            <a:r>
              <a:rPr lang="en-US" altLang="zh-CN" sz="1600" b="1" dirty="0">
                <a:ea typeface="宋体" panose="02010600030101010101" pitchFamily="2" charset="-122"/>
              </a:rPr>
              <a:t>X</a:t>
            </a:r>
            <a:r>
              <a:rPr lang="zh-CN" altLang="en-US" sz="1600" b="1" dirty="0">
                <a:ea typeface="宋体" panose="02010600030101010101" pitchFamily="2" charset="-122"/>
              </a:rPr>
              <a:t>，且</a:t>
            </a:r>
            <a:r>
              <a:rPr lang="en-US" altLang="zh-CN" sz="1600" b="1" dirty="0">
                <a:ea typeface="宋体" panose="02010600030101010101" pitchFamily="2" charset="-122"/>
              </a:rPr>
              <a:t>FIRST</a:t>
            </a:r>
            <a:r>
              <a:rPr lang="zh-CN" altLang="en-US" sz="1600" b="1" dirty="0">
                <a:ea typeface="宋体" panose="02010600030101010101" pitchFamily="2" charset="-122"/>
              </a:rPr>
              <a:t>（</a:t>
            </a:r>
            <a:r>
              <a:rPr lang="en-US" altLang="zh-CN" sz="1600" b="1" dirty="0">
                <a:ea typeface="宋体" panose="02010600030101010101" pitchFamily="2" charset="-122"/>
              </a:rPr>
              <a:t>X</a:t>
            </a:r>
            <a:r>
              <a:rPr lang="zh-CN" altLang="en-US" sz="1600" b="1" dirty="0">
                <a:ea typeface="宋体" panose="02010600030101010101" pitchFamily="2" charset="-122"/>
              </a:rPr>
              <a:t>）不空，则</a:t>
            </a:r>
            <a:r>
              <a:rPr lang="en-US" altLang="zh-CN" sz="1600" b="1" dirty="0">
                <a:ea typeface="宋体" panose="02010600030101010101" pitchFamily="2" charset="-122"/>
              </a:rPr>
              <a:t>FIRST</a:t>
            </a:r>
            <a:r>
              <a:rPr lang="zh-CN" altLang="en-US" sz="1600" b="1" dirty="0">
                <a:ea typeface="宋体" panose="02010600030101010101" pitchFamily="2" charset="-122"/>
              </a:rPr>
              <a:t>（</a:t>
            </a:r>
            <a:r>
              <a:rPr lang="en-US" altLang="zh-CN" sz="1600" b="1" dirty="0">
                <a:ea typeface="宋体" panose="02010600030101010101" pitchFamily="2" charset="-122"/>
              </a:rPr>
              <a:t>X</a:t>
            </a:r>
            <a:r>
              <a:rPr lang="zh-CN" altLang="en-US" sz="1600" b="1" dirty="0">
                <a:ea typeface="宋体" panose="02010600030101010101" pitchFamily="2" charset="-122"/>
              </a:rPr>
              <a:t>）的符号对于</a:t>
            </a:r>
            <a:r>
              <a:rPr lang="en-US" altLang="zh-CN" sz="1600" b="1" dirty="0">
                <a:ea typeface="宋体" panose="02010600030101010101" pitchFamily="2" charset="-122"/>
              </a:rPr>
              <a:t>L</a:t>
            </a:r>
            <a:r>
              <a:rPr lang="zh-CN" altLang="en-US" sz="1600" b="1" dirty="0">
                <a:ea typeface="宋体" panose="02010600030101010101" pitchFamily="2" charset="-122"/>
              </a:rPr>
              <a:t>为产生式左部的项都是自发生成的</a:t>
            </a:r>
            <a:endParaRPr lang="en-US" altLang="zh-CN" sz="1600" b="1" dirty="0">
              <a:ea typeface="宋体" panose="02010600030101010101" pitchFamily="2" charset="-122"/>
            </a:endParaRPr>
          </a:p>
          <a:p>
            <a:pPr lvl="2">
              <a:lnSpc>
                <a:spcPct val="90000"/>
              </a:lnSpc>
            </a:pPr>
            <a:r>
              <a:rPr lang="zh-CN" altLang="en-US" sz="2000" b="1" dirty="0">
                <a:ea typeface="宋体" panose="02010600030101010101" pitchFamily="2" charset="-122"/>
              </a:rPr>
              <a:t>计算的方法</a:t>
            </a:r>
            <a:endParaRPr lang="en-US" altLang="zh-CN" sz="2000" b="1" dirty="0">
              <a:ea typeface="宋体" panose="02010600030101010101" pitchFamily="2" charset="-122"/>
            </a:endParaRPr>
          </a:p>
          <a:p>
            <a:pPr lvl="3">
              <a:lnSpc>
                <a:spcPct val="90000"/>
              </a:lnSpc>
            </a:pPr>
            <a:r>
              <a:rPr lang="zh-CN" altLang="en-US" sz="1800" b="1" dirty="0">
                <a:ea typeface="宋体" panose="02010600030101010101" pitchFamily="2" charset="-122"/>
              </a:rPr>
              <a:t>存在一个包含内核项</a:t>
            </a:r>
            <a:r>
              <a:rPr lang="en-US" altLang="zh-CN" sz="1800" b="1" dirty="0">
                <a:ea typeface="宋体" panose="02010600030101010101" pitchFamily="2" charset="-122"/>
              </a:rPr>
              <a:t>[A</a:t>
            </a:r>
            <a:r>
              <a:rPr lang="zh-CN" altLang="en-US" sz="1800" b="1" dirty="0">
                <a:ea typeface="宋体" panose="02010600030101010101" pitchFamily="2" charset="-122"/>
              </a:rPr>
              <a:t>→</a:t>
            </a:r>
            <a:r>
              <a:rPr lang="el-GR" altLang="zh-CN" sz="1800" b="1" dirty="0">
                <a:ea typeface="宋体" panose="02010600030101010101" pitchFamily="2" charset="-122"/>
              </a:rPr>
              <a:t>α</a:t>
            </a:r>
            <a:r>
              <a:rPr lang="en-US" altLang="zh-CN" sz="1800" b="1" dirty="0">
                <a:ea typeface="宋体" panose="02010600030101010101" pitchFamily="2" charset="-122"/>
              </a:rPr>
              <a:t> .</a:t>
            </a:r>
            <a:r>
              <a:rPr lang="zh-CN" altLang="en-US" sz="1800" b="1" dirty="0">
                <a:ea typeface="宋体" panose="02010600030101010101" pitchFamily="2" charset="-122"/>
              </a:rPr>
              <a:t> </a:t>
            </a:r>
            <a:r>
              <a:rPr lang="el-GR" altLang="zh-CN" sz="1800" b="1" dirty="0">
                <a:ea typeface="宋体" panose="02010600030101010101" pitchFamily="2" charset="-122"/>
              </a:rPr>
              <a:t>β</a:t>
            </a:r>
            <a:r>
              <a:rPr lang="en-US" altLang="zh-CN" sz="1800" b="1" dirty="0">
                <a:ea typeface="宋体" panose="02010600030101010101" pitchFamily="2" charset="-122"/>
              </a:rPr>
              <a:t>, a]</a:t>
            </a:r>
            <a:r>
              <a:rPr lang="zh-CN" altLang="en-US" sz="1800" b="1" dirty="0">
                <a:ea typeface="宋体" panose="02010600030101010101" pitchFamily="2" charset="-122"/>
              </a:rPr>
              <a:t>的项目集</a:t>
            </a:r>
            <a:r>
              <a:rPr lang="en-US" altLang="zh-CN" sz="1800" b="1" dirty="0">
                <a:ea typeface="宋体" panose="02010600030101010101" pitchFamily="2" charset="-122"/>
              </a:rPr>
              <a:t>I</a:t>
            </a:r>
            <a:r>
              <a:rPr lang="zh-CN" altLang="en-US" sz="1800" b="1" dirty="0">
                <a:ea typeface="宋体" panose="02010600030101010101" pitchFamily="2" charset="-122"/>
              </a:rPr>
              <a:t>，且</a:t>
            </a:r>
            <a:r>
              <a:rPr lang="en-US" altLang="zh-CN" sz="1800" b="1" dirty="0">
                <a:ea typeface="宋体" panose="02010600030101010101" pitchFamily="2" charset="-122"/>
              </a:rPr>
              <a:t>J=GOTO(I,X)</a:t>
            </a:r>
            <a:r>
              <a:rPr lang="zh-CN" altLang="en-US" sz="1800" b="1" dirty="0">
                <a:ea typeface="宋体" panose="02010600030101010101" pitchFamily="2" charset="-122"/>
              </a:rPr>
              <a:t>，如果根据算法</a:t>
            </a:r>
            <a:r>
              <a:rPr lang="en-US" altLang="zh-CN" sz="1800" b="1" dirty="0">
                <a:ea typeface="宋体" panose="02010600030101010101" pitchFamily="2" charset="-122"/>
              </a:rPr>
              <a:t>4.53</a:t>
            </a:r>
            <a:r>
              <a:rPr lang="zh-CN" altLang="en-US" sz="1800" b="1" dirty="0">
                <a:ea typeface="宋体" panose="02010600030101010101" pitchFamily="2" charset="-122"/>
              </a:rPr>
              <a:t>计算</a:t>
            </a:r>
            <a:r>
              <a:rPr lang="en-US" altLang="zh-CN" sz="1800" b="1" dirty="0">
                <a:ea typeface="宋体" panose="02010600030101010101" pitchFamily="2" charset="-122"/>
              </a:rPr>
              <a:t>GOTO(CLOSURE({[A</a:t>
            </a:r>
            <a:r>
              <a:rPr lang="zh-CN" altLang="en-US" sz="1800" b="1" dirty="0">
                <a:ea typeface="宋体" panose="02010600030101010101" pitchFamily="2" charset="-122"/>
              </a:rPr>
              <a:t>→</a:t>
            </a:r>
            <a:r>
              <a:rPr lang="el-GR" altLang="zh-CN" sz="1800" b="1" dirty="0">
                <a:ea typeface="宋体" panose="02010600030101010101" pitchFamily="2" charset="-122"/>
              </a:rPr>
              <a:t>α</a:t>
            </a:r>
            <a:r>
              <a:rPr lang="en-US" altLang="zh-CN" sz="1800" b="1" dirty="0">
                <a:ea typeface="宋体" panose="02010600030101010101" pitchFamily="2" charset="-122"/>
              </a:rPr>
              <a:t> .</a:t>
            </a:r>
            <a:r>
              <a:rPr lang="zh-CN" altLang="en-US" sz="1800" b="1" dirty="0">
                <a:ea typeface="宋体" panose="02010600030101010101" pitchFamily="2" charset="-122"/>
              </a:rPr>
              <a:t> </a:t>
            </a:r>
            <a:r>
              <a:rPr lang="el-GR" altLang="zh-CN" sz="1800" b="1" dirty="0">
                <a:ea typeface="宋体" panose="02010600030101010101" pitchFamily="2" charset="-122"/>
              </a:rPr>
              <a:t>β</a:t>
            </a:r>
            <a:r>
              <a:rPr lang="en-US" altLang="zh-CN" sz="1800" b="1" dirty="0">
                <a:ea typeface="宋体" panose="02010600030101010101" pitchFamily="2" charset="-122"/>
              </a:rPr>
              <a:t>, a]})</a:t>
            </a:r>
            <a:r>
              <a:rPr lang="zh-CN" altLang="en-US" sz="1800" b="1" dirty="0">
                <a:ea typeface="宋体" panose="02010600030101010101" pitchFamily="2" charset="-122"/>
              </a:rPr>
              <a:t>，</a:t>
            </a:r>
            <a:r>
              <a:rPr lang="en-US" altLang="zh-CN" sz="1800" b="1" dirty="0">
                <a:ea typeface="宋体" panose="02010600030101010101" pitchFamily="2" charset="-122"/>
              </a:rPr>
              <a:t>X)</a:t>
            </a:r>
            <a:r>
              <a:rPr lang="zh-CN" altLang="en-US" sz="1800" b="1" dirty="0">
                <a:ea typeface="宋体" panose="02010600030101010101" pitchFamily="2" charset="-122"/>
              </a:rPr>
              <a:t>时得到的结果</a:t>
            </a:r>
            <a:r>
              <a:rPr lang="zh-CN" altLang="en-US" sz="1800" b="1" dirty="0">
                <a:solidFill>
                  <a:srgbClr val="FF0000"/>
                </a:solidFill>
                <a:latin typeface="华文琥珀" panose="02010800040101010101" pitchFamily="2" charset="-122"/>
                <a:ea typeface="华文琥珀" panose="02010800040101010101" pitchFamily="2" charset="-122"/>
              </a:rPr>
              <a:t>总是包含</a:t>
            </a:r>
            <a:r>
              <a:rPr lang="en-US" altLang="zh-CN" sz="1800" b="1" dirty="0">
                <a:ea typeface="宋体" panose="02010600030101010101" pitchFamily="2" charset="-122"/>
              </a:rPr>
              <a:t>[B</a:t>
            </a:r>
            <a:r>
              <a:rPr lang="zh-CN" altLang="en-US" sz="1800" b="1" dirty="0">
                <a:ea typeface="宋体" panose="02010600030101010101" pitchFamily="2" charset="-122"/>
              </a:rPr>
              <a:t>→</a:t>
            </a:r>
            <a:r>
              <a:rPr lang="el-GR" altLang="zh-CN" sz="1800" b="1" dirty="0">
                <a:ea typeface="宋体" panose="02010600030101010101" pitchFamily="2" charset="-122"/>
              </a:rPr>
              <a:t>γ</a:t>
            </a:r>
            <a:r>
              <a:rPr lang="zh-CN" altLang="en-US" sz="1800" b="1" dirty="0">
                <a:ea typeface="宋体" panose="02010600030101010101" pitchFamily="2" charset="-122"/>
              </a:rPr>
              <a:t> </a:t>
            </a:r>
            <a:r>
              <a:rPr lang="en-US" altLang="zh-CN" sz="1800" b="1" dirty="0">
                <a:ea typeface="宋体" panose="02010600030101010101" pitchFamily="2" charset="-122"/>
              </a:rPr>
              <a:t>. </a:t>
            </a:r>
            <a:r>
              <a:rPr lang="el-GR" altLang="zh-CN" sz="1800" b="1" dirty="0">
                <a:ea typeface="宋体" panose="02010600030101010101" pitchFamily="2" charset="-122"/>
              </a:rPr>
              <a:t>δ</a:t>
            </a:r>
            <a:r>
              <a:rPr lang="zh-CN" altLang="en-US" sz="1800" b="1" dirty="0">
                <a:ea typeface="宋体" panose="02010600030101010101" pitchFamily="2" charset="-122"/>
              </a:rPr>
              <a:t>，</a:t>
            </a:r>
            <a:r>
              <a:rPr lang="en-US" altLang="zh-CN" sz="1800" b="1" dirty="0">
                <a:ea typeface="宋体" panose="02010600030101010101" pitchFamily="2" charset="-122"/>
              </a:rPr>
              <a:t>b]</a:t>
            </a:r>
            <a:r>
              <a:rPr lang="zh-CN" altLang="en-US" sz="1800" b="1" dirty="0">
                <a:ea typeface="宋体" panose="02010600030101010101" pitchFamily="2" charset="-122"/>
              </a:rPr>
              <a:t>，则对于</a:t>
            </a:r>
            <a:r>
              <a:rPr lang="en-US" altLang="zh-CN" sz="1800" b="1" dirty="0">
                <a:ea typeface="宋体" panose="02010600030101010101" pitchFamily="2" charset="-122"/>
              </a:rPr>
              <a:t>B</a:t>
            </a:r>
            <a:r>
              <a:rPr lang="zh-CN" altLang="en-US" sz="1800" b="1" dirty="0">
                <a:ea typeface="宋体" panose="02010600030101010101" pitchFamily="2" charset="-122"/>
              </a:rPr>
              <a:t>→</a:t>
            </a:r>
            <a:r>
              <a:rPr lang="el-GR" altLang="zh-CN" sz="1800" b="1" dirty="0">
                <a:ea typeface="宋体" panose="02010600030101010101" pitchFamily="2" charset="-122"/>
              </a:rPr>
              <a:t>γ</a:t>
            </a:r>
            <a:r>
              <a:rPr lang="zh-CN" altLang="en-US" sz="1800" b="1" dirty="0">
                <a:ea typeface="宋体" panose="02010600030101010101" pitchFamily="2" charset="-122"/>
              </a:rPr>
              <a:t> </a:t>
            </a:r>
            <a:r>
              <a:rPr lang="en-US" altLang="zh-CN" sz="1800" b="1" dirty="0">
                <a:ea typeface="宋体" panose="02010600030101010101" pitchFamily="2" charset="-122"/>
              </a:rPr>
              <a:t>. </a:t>
            </a:r>
            <a:r>
              <a:rPr lang="el-GR" altLang="zh-CN" sz="1800" b="1" dirty="0">
                <a:ea typeface="宋体" panose="02010600030101010101" pitchFamily="2" charset="-122"/>
              </a:rPr>
              <a:t>δ</a:t>
            </a:r>
            <a:r>
              <a:rPr lang="zh-CN" altLang="en-US" sz="1800" b="1" dirty="0">
                <a:ea typeface="宋体" panose="02010600030101010101" pitchFamily="2" charset="-122"/>
              </a:rPr>
              <a:t>而言，</a:t>
            </a:r>
            <a:r>
              <a:rPr lang="en-US" altLang="zh-CN" sz="1800" b="1" dirty="0">
                <a:ea typeface="宋体" panose="02010600030101010101" pitchFamily="2" charset="-122"/>
              </a:rPr>
              <a:t>b</a:t>
            </a:r>
            <a:r>
              <a:rPr lang="zh-CN" altLang="en-US" sz="1800" b="1" dirty="0">
                <a:ea typeface="宋体" panose="02010600030101010101" pitchFamily="2" charset="-122"/>
              </a:rPr>
              <a:t>是自动生成的</a:t>
            </a:r>
            <a:endParaRPr lang="en-US" altLang="zh-CN" sz="1800" b="1" dirty="0">
              <a:ea typeface="宋体" panose="02010600030101010101" pitchFamily="2" charset="-122"/>
            </a:endParaRPr>
          </a:p>
          <a:p>
            <a:pPr lvl="3">
              <a:lnSpc>
                <a:spcPct val="90000"/>
              </a:lnSpc>
            </a:pPr>
            <a:r>
              <a:rPr lang="en-US" altLang="zh-CN" sz="1800" b="1" dirty="0">
                <a:ea typeface="宋体" panose="02010600030101010101" pitchFamily="2" charset="-122"/>
              </a:rPr>
              <a:t>[S’</a:t>
            </a:r>
            <a:r>
              <a:rPr lang="zh-CN" altLang="en-US" sz="1800" b="1" dirty="0">
                <a:ea typeface="宋体" panose="02010600030101010101" pitchFamily="2" charset="-122"/>
              </a:rPr>
              <a:t>→</a:t>
            </a:r>
            <a:r>
              <a:rPr lang="en-US" altLang="zh-CN" sz="1800" b="1" dirty="0">
                <a:ea typeface="宋体" panose="02010600030101010101" pitchFamily="2" charset="-122"/>
              </a:rPr>
              <a:t>.S, $]</a:t>
            </a:r>
            <a:r>
              <a:rPr lang="zh-CN" altLang="en-US" sz="1800" b="1" dirty="0">
                <a:ea typeface="宋体" panose="02010600030101010101" pitchFamily="2" charset="-122"/>
              </a:rPr>
              <a:t>的</a:t>
            </a:r>
            <a:r>
              <a:rPr lang="en-US" altLang="zh-CN" sz="1800" b="1" dirty="0">
                <a:ea typeface="宋体" panose="02010600030101010101" pitchFamily="2" charset="-122"/>
              </a:rPr>
              <a:t>$</a:t>
            </a:r>
            <a:r>
              <a:rPr lang="zh-CN" altLang="en-US" sz="1800" b="1" dirty="0">
                <a:ea typeface="宋体" panose="02010600030101010101" pitchFamily="2" charset="-122"/>
              </a:rPr>
              <a:t>作为特例</a:t>
            </a:r>
            <a:endParaRPr lang="en-US" altLang="zh-CN" sz="1800" b="1" dirty="0">
              <a:ea typeface="宋体" panose="02010600030101010101" pitchFamily="2" charset="-122"/>
            </a:endParaRPr>
          </a:p>
        </p:txBody>
      </p:sp>
    </p:spTree>
  </p:cSld>
  <p:clrMapOvr>
    <a:masterClrMapping/>
  </p:clrMapOvr>
  <p:transition spd="slow"/>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6"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（44）</a:t>
            </a:r>
            <a:endParaRPr lang="zh-CN" altLang="en-US" dirty="0">
              <a:latin typeface="Times New Roman" panose="02020603050405020304" pitchFamily="18" charset="0"/>
              <a:ea typeface="宋体" panose="02010600030101010101" pitchFamily="2" charset="-122"/>
            </a:endParaRPr>
          </a:p>
        </p:txBody>
      </p:sp>
      <p:sp>
        <p:nvSpPr>
          <p:cNvPr id="277507" name="Rectangle 4"/>
          <p:cNvSpPr>
            <a:spLocks noGrp="1"/>
          </p:cNvSpPr>
          <p:nvPr>
            <p:ph idx="1"/>
          </p:nvPr>
        </p:nvSpPr>
        <p:spPr>
          <a:xfrm>
            <a:off x="468313" y="1371600"/>
            <a:ext cx="8280400" cy="4800600"/>
          </a:xfrm>
        </p:spPr>
        <p:txBody>
          <a:bodyPr vert="horz" wrap="square" lIns="92075" tIns="46038" rIns="92075" bIns="46038" anchor="t" anchorCtr="0"/>
          <a:p>
            <a:pPr lvl="1">
              <a:lnSpc>
                <a:spcPct val="90000"/>
              </a:lnSpc>
            </a:pPr>
            <a:r>
              <a:rPr lang="zh-CN" altLang="en-US" sz="2000" b="1" dirty="0">
                <a:ea typeface="宋体" panose="02010600030101010101" pitchFamily="2" charset="-122"/>
              </a:rPr>
              <a:t>传播得到的：</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例子</a:t>
            </a:r>
            <a:endParaRPr lang="en-US" altLang="zh-CN" sz="2000" b="1" dirty="0">
              <a:ea typeface="宋体" panose="02010600030101010101" pitchFamily="2" charset="-122"/>
            </a:endParaRPr>
          </a:p>
          <a:p>
            <a:pPr lvl="3">
              <a:lnSpc>
                <a:spcPct val="90000"/>
              </a:lnSpc>
            </a:pPr>
            <a:r>
              <a:rPr lang="zh-CN" altLang="en-US" sz="1800" b="1" dirty="0">
                <a:ea typeface="宋体" panose="02010600030101010101" pitchFamily="2" charset="-122"/>
              </a:rPr>
              <a:t>如果有类似于</a:t>
            </a:r>
            <a:r>
              <a:rPr lang="en-US" altLang="zh-CN" sz="1800" b="1" dirty="0">
                <a:ea typeface="宋体" panose="02010600030101010101" pitchFamily="2" charset="-122"/>
              </a:rPr>
              <a:t>[S</a:t>
            </a:r>
            <a:r>
              <a:rPr lang="zh-CN" altLang="en-US" sz="1800" b="1" dirty="0">
                <a:ea typeface="宋体" panose="02010600030101010101" pitchFamily="2" charset="-122"/>
              </a:rPr>
              <a:t>→</a:t>
            </a:r>
            <a:r>
              <a:rPr lang="en-US" altLang="zh-CN" sz="1800" b="1" dirty="0">
                <a:ea typeface="宋体" panose="02010600030101010101" pitchFamily="2" charset="-122"/>
              </a:rPr>
              <a:t>L</a:t>
            </a:r>
            <a:r>
              <a:rPr lang="zh-CN" altLang="en-US" sz="1800" b="1"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b="1" dirty="0">
                <a:ea typeface="宋体" panose="02010600030101010101" pitchFamily="2" charset="-122"/>
              </a:rPr>
              <a:t>.R</a:t>
            </a:r>
            <a:r>
              <a:rPr lang="zh-CN" altLang="en-US" sz="1800" b="1" dirty="0">
                <a:ea typeface="宋体" panose="02010600030101010101" pitchFamily="2" charset="-122"/>
              </a:rPr>
              <a:t>，</a:t>
            </a:r>
            <a:r>
              <a:rPr lang="en-US" altLang="zh-CN" sz="1800" b="1" dirty="0">
                <a:ea typeface="宋体" panose="02010600030101010101" pitchFamily="2" charset="-122"/>
              </a:rPr>
              <a:t>$]</a:t>
            </a:r>
            <a:r>
              <a:rPr lang="zh-CN" altLang="en-US" sz="1800" b="1" dirty="0">
                <a:ea typeface="宋体" panose="02010600030101010101" pitchFamily="2" charset="-122"/>
              </a:rPr>
              <a:t>，则有</a:t>
            </a:r>
            <a:r>
              <a:rPr lang="en-US" altLang="zh-CN" sz="1800" b="1" dirty="0">
                <a:ea typeface="宋体" panose="02010600030101010101" pitchFamily="2" charset="-122"/>
              </a:rPr>
              <a:t>[R</a:t>
            </a:r>
            <a:r>
              <a:rPr lang="zh-CN" altLang="en-US" sz="1800" b="1" dirty="0">
                <a:ea typeface="宋体" panose="02010600030101010101" pitchFamily="2" charset="-122"/>
              </a:rPr>
              <a:t>→ </a:t>
            </a:r>
            <a:r>
              <a:rPr lang="en-US" altLang="zh-CN" sz="1800" b="1" dirty="0">
                <a:ea typeface="宋体" panose="02010600030101010101" pitchFamily="2" charset="-122"/>
              </a:rPr>
              <a:t>. * R</a:t>
            </a:r>
            <a:r>
              <a:rPr lang="zh-CN" altLang="en-US" sz="1800" b="1" dirty="0">
                <a:ea typeface="宋体" panose="02010600030101010101" pitchFamily="2" charset="-122"/>
              </a:rPr>
              <a:t>，</a:t>
            </a:r>
            <a:r>
              <a:rPr lang="en-US" altLang="zh-CN" sz="1800" b="1" dirty="0">
                <a:ea typeface="宋体" panose="02010600030101010101" pitchFamily="2" charset="-122"/>
              </a:rPr>
              <a:t>$]</a:t>
            </a:r>
            <a:r>
              <a:rPr lang="zh-CN" altLang="en-US" sz="1800" b="1" dirty="0">
                <a:ea typeface="宋体" panose="02010600030101010101" pitchFamily="2" charset="-122"/>
              </a:rPr>
              <a:t>，其中的“</a:t>
            </a:r>
            <a:r>
              <a:rPr lang="en-US" altLang="zh-CN" sz="1800" b="1" dirty="0">
                <a:ea typeface="宋体" panose="02010600030101010101" pitchFamily="2" charset="-122"/>
              </a:rPr>
              <a:t>$</a:t>
            </a:r>
            <a:r>
              <a:rPr lang="zh-CN" altLang="en-US" sz="1800" b="1" dirty="0">
                <a:ea typeface="宋体" panose="02010600030101010101" pitchFamily="2" charset="-122"/>
              </a:rPr>
              <a:t>”是传播得到的</a:t>
            </a:r>
            <a:endParaRPr lang="en-US" altLang="zh-CN" sz="1800" b="1" dirty="0">
              <a:ea typeface="宋体" panose="02010600030101010101" pitchFamily="2" charset="-122"/>
            </a:endParaRPr>
          </a:p>
          <a:p>
            <a:pPr lvl="4">
              <a:lnSpc>
                <a:spcPct val="90000"/>
              </a:lnSpc>
            </a:pPr>
            <a:r>
              <a:rPr lang="zh-CN" altLang="en-US" sz="1600" b="1" dirty="0">
                <a:ea typeface="宋体" panose="02010600030101010101" pitchFamily="2" charset="-122"/>
              </a:rPr>
              <a:t>此时在第一个项中，被考察的非终结符</a:t>
            </a:r>
            <a:r>
              <a:rPr lang="en-US" altLang="zh-CN" sz="1600" b="1" dirty="0">
                <a:ea typeface="宋体" panose="02010600030101010101" pitchFamily="2" charset="-122"/>
              </a:rPr>
              <a:t>R</a:t>
            </a:r>
            <a:r>
              <a:rPr lang="zh-CN" altLang="en-US" sz="1600" b="1" dirty="0">
                <a:ea typeface="宋体" panose="02010600030101010101" pitchFamily="2" charset="-122"/>
              </a:rPr>
              <a:t>出现在产生式右部，且其后续的文法符号串为空，或者可能推出空串，则其归约时向前看到的符号就可能是</a:t>
            </a:r>
            <a:r>
              <a:rPr lang="en-US" altLang="zh-CN" sz="1600" b="1" dirty="0">
                <a:ea typeface="宋体" panose="02010600030101010101" pitchFamily="2" charset="-122"/>
              </a:rPr>
              <a:t>S</a:t>
            </a:r>
            <a:r>
              <a:rPr lang="zh-CN" altLang="en-US" sz="1600" b="1" dirty="0">
                <a:ea typeface="宋体" panose="02010600030101010101" pitchFamily="2" charset="-122"/>
              </a:rPr>
              <a:t>能够先前看到的符号，因此把</a:t>
            </a:r>
            <a:r>
              <a:rPr lang="en-US" altLang="zh-CN" sz="1600" b="1" dirty="0">
                <a:ea typeface="宋体" panose="02010600030101010101" pitchFamily="2" charset="-122"/>
              </a:rPr>
              <a:t>S</a:t>
            </a:r>
            <a:r>
              <a:rPr lang="zh-CN" altLang="en-US" sz="1600" b="1" dirty="0">
                <a:ea typeface="宋体" panose="02010600030101010101" pitchFamily="2" charset="-122"/>
              </a:rPr>
              <a:t>的向前看符号都传播给</a:t>
            </a:r>
            <a:r>
              <a:rPr lang="en-US" altLang="zh-CN" sz="1600" b="1" dirty="0">
                <a:ea typeface="宋体" panose="02010600030101010101" pitchFamily="2" charset="-122"/>
              </a:rPr>
              <a:t>R</a:t>
            </a:r>
            <a:endParaRPr lang="en-US" altLang="zh-CN" sz="1600" b="1" dirty="0">
              <a:ea typeface="宋体" panose="02010600030101010101" pitchFamily="2" charset="-122"/>
            </a:endParaRPr>
          </a:p>
          <a:p>
            <a:pPr lvl="2">
              <a:lnSpc>
                <a:spcPct val="90000"/>
              </a:lnSpc>
            </a:pPr>
            <a:r>
              <a:rPr lang="zh-CN" altLang="en-US" sz="2000" b="1" dirty="0">
                <a:ea typeface="宋体" panose="02010600030101010101" pitchFamily="2" charset="-122"/>
              </a:rPr>
              <a:t>计算的方法</a:t>
            </a:r>
            <a:endParaRPr lang="en-US" altLang="zh-CN" sz="2000" b="1" dirty="0">
              <a:ea typeface="宋体" panose="02010600030101010101" pitchFamily="2" charset="-122"/>
            </a:endParaRPr>
          </a:p>
          <a:p>
            <a:pPr lvl="3">
              <a:lnSpc>
                <a:spcPct val="90000"/>
              </a:lnSpc>
            </a:pPr>
            <a:r>
              <a:rPr lang="zh-CN" altLang="en-US" sz="1800" b="1" dirty="0">
                <a:ea typeface="宋体" panose="02010600030101010101" pitchFamily="2" charset="-122"/>
              </a:rPr>
              <a:t>判别方法与上页的方法相同，但是</a:t>
            </a:r>
            <a:r>
              <a:rPr lang="en-US" altLang="zh-CN" sz="1800" b="1" dirty="0">
                <a:ea typeface="宋体" panose="02010600030101010101" pitchFamily="2" charset="-122"/>
              </a:rPr>
              <a:t>a=b</a:t>
            </a:r>
            <a:r>
              <a:rPr lang="zh-CN" altLang="en-US" sz="1800" b="1" dirty="0">
                <a:ea typeface="宋体" panose="02010600030101010101" pitchFamily="2" charset="-122"/>
              </a:rPr>
              <a:t>，按照算法</a:t>
            </a:r>
            <a:r>
              <a:rPr lang="en-US" altLang="zh-CN" sz="1800" b="1" dirty="0">
                <a:ea typeface="宋体" panose="02010600030101010101" pitchFamily="2" charset="-122"/>
              </a:rPr>
              <a:t>4.53</a:t>
            </a:r>
            <a:r>
              <a:rPr lang="zh-CN" altLang="en-US" sz="1800" b="1" dirty="0">
                <a:ea typeface="宋体" panose="02010600030101010101" pitchFamily="2" charset="-122"/>
              </a:rPr>
              <a:t>计算</a:t>
            </a:r>
            <a:r>
              <a:rPr lang="en-US" altLang="zh-CN" sz="1800" b="1" dirty="0">
                <a:ea typeface="宋体" panose="02010600030101010101" pitchFamily="2" charset="-122"/>
              </a:rPr>
              <a:t>GOTO(CLOSURE({[A</a:t>
            </a:r>
            <a:r>
              <a:rPr lang="zh-CN" altLang="en-US" sz="1800" b="1" dirty="0">
                <a:ea typeface="宋体" panose="02010600030101010101" pitchFamily="2" charset="-122"/>
              </a:rPr>
              <a:t>→</a:t>
            </a:r>
            <a:r>
              <a:rPr lang="el-GR" altLang="zh-CN" sz="1800" b="1" dirty="0">
                <a:ea typeface="宋体" panose="02010600030101010101" pitchFamily="2" charset="-122"/>
              </a:rPr>
              <a:t>α</a:t>
            </a:r>
            <a:r>
              <a:rPr lang="en-US" altLang="zh-CN" sz="1800" b="1" dirty="0">
                <a:ea typeface="宋体" panose="02010600030101010101" pitchFamily="2" charset="-122"/>
              </a:rPr>
              <a:t> .</a:t>
            </a:r>
            <a:r>
              <a:rPr lang="zh-CN" altLang="en-US" sz="1800" b="1" dirty="0">
                <a:ea typeface="宋体" panose="02010600030101010101" pitchFamily="2" charset="-122"/>
              </a:rPr>
              <a:t> </a:t>
            </a:r>
            <a:r>
              <a:rPr lang="el-GR" altLang="zh-CN" sz="1800" b="1" dirty="0">
                <a:ea typeface="宋体" panose="02010600030101010101" pitchFamily="2" charset="-122"/>
              </a:rPr>
              <a:t>β</a:t>
            </a:r>
            <a:r>
              <a:rPr lang="en-US" altLang="zh-CN" sz="1800" b="1" dirty="0">
                <a:ea typeface="宋体" panose="02010600030101010101" pitchFamily="2" charset="-122"/>
              </a:rPr>
              <a:t>, a]})</a:t>
            </a:r>
            <a:r>
              <a:rPr lang="zh-CN" altLang="en-US" sz="1800" b="1" dirty="0">
                <a:ea typeface="宋体" panose="02010600030101010101" pitchFamily="2" charset="-122"/>
              </a:rPr>
              <a:t>的结果包含</a:t>
            </a:r>
            <a:r>
              <a:rPr lang="en-US" altLang="zh-CN" sz="1800" b="1" dirty="0">
                <a:ea typeface="宋体" panose="02010600030101010101" pitchFamily="2" charset="-122"/>
              </a:rPr>
              <a:t>[B</a:t>
            </a:r>
            <a:r>
              <a:rPr lang="zh-CN" altLang="en-US" sz="1800" b="1" dirty="0">
                <a:ea typeface="宋体" panose="02010600030101010101" pitchFamily="2" charset="-122"/>
              </a:rPr>
              <a:t>→</a:t>
            </a:r>
            <a:r>
              <a:rPr lang="el-GR" altLang="zh-CN" sz="1800" b="1" dirty="0">
                <a:ea typeface="宋体" panose="02010600030101010101" pitchFamily="2" charset="-122"/>
              </a:rPr>
              <a:t>γ</a:t>
            </a:r>
            <a:r>
              <a:rPr lang="zh-CN" altLang="en-US" sz="1800" b="1" dirty="0">
                <a:ea typeface="宋体" panose="02010600030101010101" pitchFamily="2" charset="-122"/>
              </a:rPr>
              <a:t> </a:t>
            </a:r>
            <a:r>
              <a:rPr lang="en-US" altLang="zh-CN" sz="1800" b="1" dirty="0">
                <a:ea typeface="宋体" panose="02010600030101010101" pitchFamily="2" charset="-122"/>
              </a:rPr>
              <a:t>. </a:t>
            </a:r>
            <a:r>
              <a:rPr lang="el-GR" altLang="zh-CN" sz="1800" b="1" dirty="0">
                <a:ea typeface="宋体" panose="02010600030101010101" pitchFamily="2" charset="-122"/>
              </a:rPr>
              <a:t>δ </a:t>
            </a:r>
            <a:r>
              <a:rPr lang="zh-CN" altLang="en-US" sz="1800" b="1" dirty="0">
                <a:ea typeface="宋体" panose="02010600030101010101" pitchFamily="2" charset="-122"/>
              </a:rPr>
              <a:t>，</a:t>
            </a:r>
            <a:r>
              <a:rPr lang="en-US" altLang="zh-CN" sz="1800" b="1" dirty="0">
                <a:ea typeface="宋体" panose="02010600030101010101" pitchFamily="2" charset="-122"/>
              </a:rPr>
              <a:t>b]</a:t>
            </a:r>
            <a:r>
              <a:rPr lang="zh-CN" altLang="en-US" sz="1800" b="1" dirty="0">
                <a:ea typeface="宋体" panose="02010600030101010101" pitchFamily="2" charset="-122"/>
              </a:rPr>
              <a:t>的原因是项</a:t>
            </a:r>
            <a:r>
              <a:rPr lang="en-US" altLang="zh-CN" sz="1800" b="1" dirty="0">
                <a:ea typeface="宋体" panose="02010600030101010101" pitchFamily="2" charset="-122"/>
              </a:rPr>
              <a:t>A</a:t>
            </a:r>
            <a:r>
              <a:rPr lang="zh-CN" altLang="en-US" sz="1800" b="1" dirty="0">
                <a:ea typeface="宋体" panose="02010600030101010101" pitchFamily="2" charset="-122"/>
              </a:rPr>
              <a:t>→</a:t>
            </a:r>
            <a:r>
              <a:rPr lang="el-GR" altLang="zh-CN" sz="1800" b="1" dirty="0">
                <a:ea typeface="宋体" panose="02010600030101010101" pitchFamily="2" charset="-122"/>
              </a:rPr>
              <a:t>α</a:t>
            </a:r>
            <a:r>
              <a:rPr lang="en-US" altLang="zh-CN" sz="1800" b="1" dirty="0">
                <a:ea typeface="宋体" panose="02010600030101010101" pitchFamily="2" charset="-122"/>
              </a:rPr>
              <a:t> .</a:t>
            </a:r>
            <a:r>
              <a:rPr lang="zh-CN" altLang="en-US" sz="1800" b="1" dirty="0">
                <a:ea typeface="宋体" panose="02010600030101010101" pitchFamily="2" charset="-122"/>
              </a:rPr>
              <a:t> </a:t>
            </a:r>
            <a:r>
              <a:rPr lang="el-GR" altLang="zh-CN" sz="1800" b="1" dirty="0">
                <a:ea typeface="宋体" panose="02010600030101010101" pitchFamily="2" charset="-122"/>
              </a:rPr>
              <a:t>β</a:t>
            </a:r>
            <a:r>
              <a:rPr lang="zh-CN" altLang="en-US" sz="1800" b="1" dirty="0">
                <a:solidFill>
                  <a:srgbClr val="FF0000"/>
                </a:solidFill>
                <a:latin typeface="华文琥珀" panose="02010800040101010101" pitchFamily="2" charset="-122"/>
                <a:ea typeface="华文琥珀" panose="02010800040101010101" pitchFamily="2" charset="-122"/>
              </a:rPr>
              <a:t>有一个</a:t>
            </a:r>
            <a:r>
              <a:rPr lang="zh-CN" altLang="en-US" sz="1800" b="1" dirty="0">
                <a:ea typeface="宋体" panose="02010600030101010101" pitchFamily="2" charset="-122"/>
              </a:rPr>
              <a:t>向前看的符号是</a:t>
            </a:r>
            <a:r>
              <a:rPr lang="en-US" altLang="zh-CN" sz="1800" b="1" dirty="0">
                <a:ea typeface="宋体" panose="02010600030101010101" pitchFamily="2" charset="-122"/>
              </a:rPr>
              <a:t>b</a:t>
            </a:r>
            <a:r>
              <a:rPr lang="zh-CN" altLang="en-US" sz="1800" b="1" dirty="0">
                <a:ea typeface="宋体" panose="02010600030101010101" pitchFamily="2" charset="-122"/>
              </a:rPr>
              <a:t>，此时，向前看符号从</a:t>
            </a:r>
            <a:r>
              <a:rPr lang="en-US" altLang="zh-CN" sz="1800" b="1" dirty="0">
                <a:ea typeface="宋体" panose="02010600030101010101" pitchFamily="2" charset="-122"/>
              </a:rPr>
              <a:t>I</a:t>
            </a:r>
            <a:r>
              <a:rPr lang="zh-CN" altLang="en-US" sz="1800" b="1" dirty="0">
                <a:ea typeface="宋体" panose="02010600030101010101" pitchFamily="2" charset="-122"/>
              </a:rPr>
              <a:t>的内核</a:t>
            </a:r>
            <a:r>
              <a:rPr lang="en-US" altLang="zh-CN" sz="1800" b="1" dirty="0">
                <a:ea typeface="宋体" panose="02010600030101010101" pitchFamily="2" charset="-122"/>
              </a:rPr>
              <a:t>A</a:t>
            </a:r>
            <a:r>
              <a:rPr lang="zh-CN" altLang="en-US" sz="1800" b="1" dirty="0">
                <a:ea typeface="宋体" panose="02010600030101010101" pitchFamily="2" charset="-122"/>
              </a:rPr>
              <a:t>→</a:t>
            </a:r>
            <a:r>
              <a:rPr lang="el-GR" altLang="zh-CN" sz="1800" b="1" dirty="0">
                <a:ea typeface="宋体" panose="02010600030101010101" pitchFamily="2" charset="-122"/>
              </a:rPr>
              <a:t>α</a:t>
            </a:r>
            <a:r>
              <a:rPr lang="en-US" altLang="zh-CN" sz="1800" b="1" dirty="0">
                <a:ea typeface="宋体" panose="02010600030101010101" pitchFamily="2" charset="-122"/>
              </a:rPr>
              <a:t> .</a:t>
            </a:r>
            <a:r>
              <a:rPr lang="zh-CN" altLang="en-US" sz="1800" b="1" dirty="0">
                <a:ea typeface="宋体" panose="02010600030101010101" pitchFamily="2" charset="-122"/>
              </a:rPr>
              <a:t> </a:t>
            </a:r>
            <a:r>
              <a:rPr lang="el-GR" altLang="zh-CN" sz="1800" b="1" dirty="0">
                <a:ea typeface="宋体" panose="02010600030101010101" pitchFamily="2" charset="-122"/>
              </a:rPr>
              <a:t>Β</a:t>
            </a:r>
            <a:r>
              <a:rPr lang="zh-CN" altLang="en-US" sz="1800" b="1" dirty="0">
                <a:ea typeface="宋体" panose="02010600030101010101" pitchFamily="2" charset="-122"/>
              </a:rPr>
              <a:t>传播到</a:t>
            </a:r>
            <a:r>
              <a:rPr lang="en-US" altLang="zh-CN" sz="1800" b="1" dirty="0">
                <a:ea typeface="宋体" panose="02010600030101010101" pitchFamily="2" charset="-122"/>
              </a:rPr>
              <a:t>J</a:t>
            </a:r>
            <a:r>
              <a:rPr lang="zh-CN" altLang="en-US" sz="1800" b="1" dirty="0">
                <a:ea typeface="宋体" panose="02010600030101010101" pitchFamily="2" charset="-122"/>
              </a:rPr>
              <a:t>的内核</a:t>
            </a:r>
            <a:r>
              <a:rPr lang="en-US" altLang="zh-CN" sz="1800" b="1" dirty="0">
                <a:ea typeface="宋体" panose="02010600030101010101" pitchFamily="2" charset="-122"/>
              </a:rPr>
              <a:t>B</a:t>
            </a:r>
            <a:r>
              <a:rPr lang="zh-CN" altLang="en-US" sz="1800" b="1" dirty="0">
                <a:ea typeface="宋体" panose="02010600030101010101" pitchFamily="2" charset="-122"/>
              </a:rPr>
              <a:t>→</a:t>
            </a:r>
            <a:r>
              <a:rPr lang="el-GR" altLang="zh-CN" sz="1800" b="1" dirty="0">
                <a:ea typeface="宋体" panose="02010600030101010101" pitchFamily="2" charset="-122"/>
              </a:rPr>
              <a:t>γ</a:t>
            </a:r>
            <a:r>
              <a:rPr lang="zh-CN" altLang="en-US" sz="1800" b="1" dirty="0">
                <a:ea typeface="宋体" panose="02010600030101010101" pitchFamily="2" charset="-122"/>
              </a:rPr>
              <a:t> </a:t>
            </a:r>
            <a:r>
              <a:rPr lang="en-US" altLang="zh-CN" sz="1800" b="1" dirty="0">
                <a:ea typeface="宋体" panose="02010600030101010101" pitchFamily="2" charset="-122"/>
              </a:rPr>
              <a:t>. </a:t>
            </a:r>
            <a:r>
              <a:rPr lang="el-GR" altLang="zh-CN" sz="1800" b="1" dirty="0">
                <a:ea typeface="宋体" panose="02010600030101010101" pitchFamily="2" charset="-122"/>
              </a:rPr>
              <a:t>δ</a:t>
            </a:r>
            <a:r>
              <a:rPr lang="zh-CN" altLang="en-US" sz="1800" b="1" dirty="0">
                <a:ea typeface="宋体" panose="02010600030101010101" pitchFamily="2" charset="-122"/>
              </a:rPr>
              <a:t>上</a:t>
            </a:r>
            <a:endParaRPr lang="en-US" altLang="zh-CN" sz="1800" b="1" dirty="0">
              <a:ea typeface="宋体" panose="02010600030101010101" pitchFamily="2" charset="-122"/>
            </a:endParaRPr>
          </a:p>
          <a:p>
            <a:pPr lvl="3">
              <a:lnSpc>
                <a:spcPct val="90000"/>
              </a:lnSpc>
            </a:pPr>
            <a:r>
              <a:rPr lang="zh-CN" altLang="en-US" sz="1800" b="1" dirty="0">
                <a:ea typeface="宋体" panose="02010600030101010101" pitchFamily="2" charset="-122"/>
              </a:rPr>
              <a:t>传播时，要把某个项的所有向前看符号都传播给另一个项，如上述的两个项中，把</a:t>
            </a:r>
            <a:r>
              <a:rPr lang="en-US" altLang="zh-CN" sz="1800" b="1" dirty="0">
                <a:ea typeface="宋体" panose="02010600030101010101" pitchFamily="2" charset="-122"/>
              </a:rPr>
              <a:t>A</a:t>
            </a:r>
            <a:r>
              <a:rPr lang="zh-CN" altLang="en-US" sz="1800" b="1" dirty="0">
                <a:ea typeface="宋体" panose="02010600030101010101" pitchFamily="2" charset="-122"/>
              </a:rPr>
              <a:t>→</a:t>
            </a:r>
            <a:r>
              <a:rPr lang="el-GR" altLang="zh-CN" sz="1800" b="1" dirty="0">
                <a:ea typeface="宋体" panose="02010600030101010101" pitchFamily="2" charset="-122"/>
              </a:rPr>
              <a:t>α</a:t>
            </a:r>
            <a:r>
              <a:rPr lang="en-US" altLang="zh-CN" sz="1800" b="1" dirty="0">
                <a:ea typeface="宋体" panose="02010600030101010101" pitchFamily="2" charset="-122"/>
              </a:rPr>
              <a:t> .</a:t>
            </a:r>
            <a:r>
              <a:rPr lang="zh-CN" altLang="en-US" sz="1800" b="1" dirty="0">
                <a:ea typeface="宋体" panose="02010600030101010101" pitchFamily="2" charset="-122"/>
              </a:rPr>
              <a:t> </a:t>
            </a:r>
            <a:r>
              <a:rPr lang="el-GR" altLang="zh-CN" sz="1800" b="1" dirty="0">
                <a:ea typeface="宋体" panose="02010600030101010101" pitchFamily="2" charset="-122"/>
              </a:rPr>
              <a:t>β</a:t>
            </a:r>
            <a:r>
              <a:rPr lang="zh-CN" altLang="en-US" sz="1800" b="1" dirty="0">
                <a:ea typeface="宋体" panose="02010600030101010101" pitchFamily="2" charset="-122"/>
              </a:rPr>
              <a:t>的所有向前看符号都传播给</a:t>
            </a:r>
            <a:r>
              <a:rPr lang="en-US" altLang="zh-CN" sz="1800" b="1" dirty="0">
                <a:ea typeface="宋体" panose="02010600030101010101" pitchFamily="2" charset="-122"/>
              </a:rPr>
              <a:t>B</a:t>
            </a:r>
            <a:r>
              <a:rPr lang="zh-CN" altLang="en-US" sz="1800" b="1" dirty="0">
                <a:ea typeface="宋体" panose="02010600030101010101" pitchFamily="2" charset="-122"/>
              </a:rPr>
              <a:t>→</a:t>
            </a:r>
            <a:r>
              <a:rPr lang="el-GR" altLang="zh-CN" sz="1800" b="1" dirty="0">
                <a:ea typeface="宋体" panose="02010600030101010101" pitchFamily="2" charset="-122"/>
              </a:rPr>
              <a:t>γ</a:t>
            </a:r>
            <a:r>
              <a:rPr lang="zh-CN" altLang="en-US" sz="1800" b="1" dirty="0">
                <a:ea typeface="宋体" panose="02010600030101010101" pitchFamily="2" charset="-122"/>
              </a:rPr>
              <a:t> </a:t>
            </a:r>
            <a:r>
              <a:rPr lang="en-US" altLang="zh-CN" sz="1800" b="1" dirty="0">
                <a:ea typeface="宋体" panose="02010600030101010101" pitchFamily="2" charset="-122"/>
              </a:rPr>
              <a:t>. </a:t>
            </a:r>
            <a:r>
              <a:rPr lang="el-GR" altLang="zh-CN" sz="1800" b="1" dirty="0">
                <a:ea typeface="宋体" panose="02010600030101010101" pitchFamily="2" charset="-122"/>
              </a:rPr>
              <a:t>δ</a:t>
            </a:r>
            <a:endParaRPr lang="en-US" altLang="zh-CN" sz="1800" b="1" dirty="0">
              <a:ea typeface="宋体" panose="02010600030101010101" pitchFamily="2" charset="-122"/>
            </a:endParaRPr>
          </a:p>
          <a:p>
            <a:pPr lvl="1">
              <a:lnSpc>
                <a:spcPct val="90000"/>
              </a:lnSpc>
            </a:pPr>
            <a:r>
              <a:rPr lang="zh-CN" altLang="en-US" sz="2000" b="1" dirty="0">
                <a:ea typeface="宋体" panose="02010600030101010101" pitchFamily="2" charset="-122"/>
              </a:rPr>
              <a:t>在计算</a:t>
            </a:r>
            <a:r>
              <a:rPr lang="en-US" altLang="zh-CN" sz="2000" b="1" dirty="0">
                <a:ea typeface="宋体" panose="02010600030101010101" pitchFamily="2" charset="-122"/>
              </a:rPr>
              <a:t>GOTO(CLOSURE({[A</a:t>
            </a:r>
            <a:r>
              <a:rPr lang="zh-CN" altLang="en-US" sz="2000" b="1" dirty="0">
                <a:ea typeface="宋体" panose="02010600030101010101" pitchFamily="2" charset="-122"/>
              </a:rPr>
              <a:t>→</a:t>
            </a:r>
            <a:r>
              <a:rPr lang="el-GR" altLang="zh-CN" sz="2000" b="1" dirty="0">
                <a:ea typeface="宋体" panose="02010600030101010101" pitchFamily="2" charset="-122"/>
              </a:rPr>
              <a:t>α</a:t>
            </a:r>
            <a:r>
              <a:rPr lang="en-US" altLang="zh-CN" sz="2000" b="1" dirty="0">
                <a:ea typeface="宋体" panose="02010600030101010101" pitchFamily="2" charset="-122"/>
              </a:rPr>
              <a:t> .</a:t>
            </a:r>
            <a:r>
              <a:rPr lang="zh-CN" altLang="en-US" sz="2000" b="1" dirty="0">
                <a:ea typeface="宋体" panose="02010600030101010101" pitchFamily="2" charset="-122"/>
              </a:rPr>
              <a:t> </a:t>
            </a:r>
            <a:r>
              <a:rPr lang="el-GR" altLang="zh-CN" sz="2000" b="1" dirty="0">
                <a:ea typeface="宋体" panose="02010600030101010101" pitchFamily="2" charset="-122"/>
              </a:rPr>
              <a:t>β</a:t>
            </a:r>
            <a:r>
              <a:rPr lang="en-US" altLang="zh-CN" sz="2000" b="1" dirty="0">
                <a:ea typeface="宋体" panose="02010600030101010101" pitchFamily="2" charset="-122"/>
              </a:rPr>
              <a:t>, a]})</a:t>
            </a:r>
            <a:r>
              <a:rPr lang="zh-CN" altLang="en-US" sz="2000" b="1" dirty="0">
                <a:ea typeface="宋体" panose="02010600030101010101" pitchFamily="2" charset="-122"/>
              </a:rPr>
              <a:t> ，</a:t>
            </a:r>
            <a:r>
              <a:rPr lang="en-US" altLang="zh-CN" sz="2000" b="1" dirty="0">
                <a:ea typeface="宋体" panose="02010600030101010101" pitchFamily="2" charset="-122"/>
              </a:rPr>
              <a:t>X)</a:t>
            </a:r>
            <a:r>
              <a:rPr lang="zh-CN" altLang="en-US" sz="2000" b="1" dirty="0">
                <a:ea typeface="宋体" panose="02010600030101010101" pitchFamily="2" charset="-122"/>
              </a:rPr>
              <a:t>时，可以将</a:t>
            </a:r>
            <a:r>
              <a:rPr lang="en-US" altLang="zh-CN" sz="2000" b="1" dirty="0">
                <a:ea typeface="宋体" panose="02010600030101010101" pitchFamily="2" charset="-122"/>
              </a:rPr>
              <a:t>a</a:t>
            </a:r>
            <a:r>
              <a:rPr lang="zh-CN" altLang="en-US" sz="2000" b="1" dirty="0">
                <a:ea typeface="宋体" panose="02010600030101010101" pitchFamily="2" charset="-122"/>
              </a:rPr>
              <a:t>换成一个不属于该文法的符号，如</a:t>
            </a:r>
            <a:r>
              <a:rPr lang="en-US" altLang="zh-CN" sz="2000" b="1" dirty="0">
                <a:ea typeface="宋体" panose="02010600030101010101" pitchFamily="2" charset="-122"/>
              </a:rPr>
              <a:t>#</a:t>
            </a:r>
            <a:r>
              <a:rPr lang="zh-CN" altLang="en-US" sz="2000" b="1" dirty="0">
                <a:ea typeface="宋体" panose="02010600030101010101" pitchFamily="2" charset="-122"/>
              </a:rPr>
              <a:t> ，如果</a:t>
            </a:r>
            <a:r>
              <a:rPr lang="en-US" altLang="zh-CN" sz="2000" b="1" dirty="0">
                <a:ea typeface="宋体" panose="02010600030101010101" pitchFamily="2" charset="-122"/>
              </a:rPr>
              <a:t>GOTO(CLOSURE({[A</a:t>
            </a:r>
            <a:r>
              <a:rPr lang="zh-CN" altLang="en-US" sz="2000" b="1" dirty="0">
                <a:ea typeface="宋体" panose="02010600030101010101" pitchFamily="2" charset="-122"/>
              </a:rPr>
              <a:t>→</a:t>
            </a:r>
            <a:r>
              <a:rPr lang="el-GR" altLang="zh-CN" sz="2000" b="1" dirty="0">
                <a:ea typeface="宋体" panose="02010600030101010101" pitchFamily="2" charset="-122"/>
              </a:rPr>
              <a:t>α</a:t>
            </a:r>
            <a:r>
              <a:rPr lang="en-US" altLang="zh-CN" sz="2000" b="1" dirty="0">
                <a:ea typeface="宋体" panose="02010600030101010101" pitchFamily="2" charset="-122"/>
              </a:rPr>
              <a:t> .</a:t>
            </a:r>
            <a:r>
              <a:rPr lang="zh-CN" altLang="en-US" sz="2000" b="1" dirty="0">
                <a:ea typeface="宋体" panose="02010600030101010101" pitchFamily="2" charset="-122"/>
              </a:rPr>
              <a:t> </a:t>
            </a:r>
            <a:r>
              <a:rPr lang="el-GR" altLang="zh-CN" sz="2000" b="1" dirty="0">
                <a:ea typeface="宋体" panose="02010600030101010101" pitchFamily="2" charset="-122"/>
              </a:rPr>
              <a:t>β</a:t>
            </a:r>
            <a:r>
              <a:rPr lang="en-US" altLang="zh-CN" sz="2000" b="1" dirty="0">
                <a:ea typeface="宋体" panose="02010600030101010101" pitchFamily="2" charset="-122"/>
              </a:rPr>
              <a:t>, #]})</a:t>
            </a:r>
            <a:r>
              <a:rPr lang="zh-CN" altLang="en-US" sz="2000" b="1" dirty="0">
                <a:ea typeface="宋体" panose="02010600030101010101" pitchFamily="2" charset="-122"/>
              </a:rPr>
              <a:t> ，</a:t>
            </a:r>
            <a:r>
              <a:rPr lang="en-US" altLang="zh-CN" sz="2000" b="1" dirty="0">
                <a:ea typeface="宋体" panose="02010600030101010101" pitchFamily="2" charset="-122"/>
              </a:rPr>
              <a:t>X)</a:t>
            </a:r>
            <a:r>
              <a:rPr lang="zh-CN" altLang="en-US" sz="2000" b="1" dirty="0">
                <a:ea typeface="宋体" panose="02010600030101010101" pitchFamily="2" charset="-122"/>
              </a:rPr>
              <a:t>的某个内核项的向前看符号中包括</a:t>
            </a:r>
            <a:r>
              <a:rPr lang="en-US" altLang="zh-CN" sz="2000" b="1" dirty="0">
                <a:ea typeface="宋体" panose="02010600030101010101" pitchFamily="2" charset="-122"/>
              </a:rPr>
              <a:t>#</a:t>
            </a:r>
            <a:r>
              <a:rPr lang="zh-CN" altLang="en-US" sz="2000" b="1" dirty="0">
                <a:ea typeface="宋体" panose="02010600030101010101" pitchFamily="2" charset="-122"/>
              </a:rPr>
              <a:t>，则说明向前看的符号从</a:t>
            </a:r>
            <a:r>
              <a:rPr lang="en-US" altLang="zh-CN" sz="2000" b="1" dirty="0">
                <a:ea typeface="宋体" panose="02010600030101010101" pitchFamily="2" charset="-122"/>
              </a:rPr>
              <a:t>A</a:t>
            </a:r>
            <a:r>
              <a:rPr lang="zh-CN" altLang="en-US" sz="2000" b="1" dirty="0">
                <a:ea typeface="宋体" panose="02010600030101010101" pitchFamily="2" charset="-122"/>
              </a:rPr>
              <a:t>→</a:t>
            </a:r>
            <a:r>
              <a:rPr lang="el-GR" altLang="zh-CN" sz="2000" b="1" dirty="0">
                <a:ea typeface="宋体" panose="02010600030101010101" pitchFamily="2" charset="-122"/>
              </a:rPr>
              <a:t>α</a:t>
            </a:r>
            <a:r>
              <a:rPr lang="en-US" altLang="zh-CN" sz="2000" b="1" dirty="0">
                <a:ea typeface="宋体" panose="02010600030101010101" pitchFamily="2" charset="-122"/>
              </a:rPr>
              <a:t> .</a:t>
            </a:r>
            <a:r>
              <a:rPr lang="zh-CN" altLang="en-US" sz="2000" b="1" dirty="0">
                <a:ea typeface="宋体" panose="02010600030101010101" pitchFamily="2" charset="-122"/>
              </a:rPr>
              <a:t> </a:t>
            </a:r>
            <a:r>
              <a:rPr lang="el-GR" altLang="zh-CN" sz="2000" b="1" dirty="0">
                <a:ea typeface="宋体" panose="02010600030101010101" pitchFamily="2" charset="-122"/>
              </a:rPr>
              <a:t>β</a:t>
            </a:r>
            <a:r>
              <a:rPr lang="zh-CN" altLang="en-US" sz="2000" b="1" dirty="0">
                <a:ea typeface="宋体" panose="02010600030101010101" pitchFamily="2" charset="-122"/>
              </a:rPr>
              <a:t>传播到了这个项</a:t>
            </a:r>
            <a:endParaRPr lang="en-US" altLang="zh-CN" sz="2000" b="1" dirty="0">
              <a:ea typeface="宋体" panose="02010600030101010101" pitchFamily="2" charset="-122"/>
            </a:endParaRPr>
          </a:p>
        </p:txBody>
      </p:sp>
    </p:spTree>
  </p:cSld>
  <p:clrMapOvr>
    <a:masterClrMapping/>
  </p:clrMapOvr>
  <p:transition spd="slow"/>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4"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（45）</a:t>
            </a:r>
            <a:endParaRPr lang="zh-CN" altLang="en-US" dirty="0">
              <a:latin typeface="Times New Roman" panose="02020603050405020304" pitchFamily="18" charset="0"/>
              <a:ea typeface="宋体" panose="02010600030101010101" pitchFamily="2" charset="-122"/>
            </a:endParaRPr>
          </a:p>
        </p:txBody>
      </p:sp>
      <p:sp>
        <p:nvSpPr>
          <p:cNvPr id="279555" name="Rectangle 4"/>
          <p:cNvSpPr>
            <a:spLocks noGrp="1"/>
          </p:cNvSpPr>
          <p:nvPr>
            <p:ph idx="1"/>
          </p:nvPr>
        </p:nvSpPr>
        <p:spPr>
          <a:xfrm>
            <a:off x="395288" y="1371600"/>
            <a:ext cx="8497887"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算法</a:t>
            </a:r>
            <a:r>
              <a:rPr lang="en-US" altLang="zh-CN" sz="2400" b="1" dirty="0">
                <a:ea typeface="宋体" panose="02010600030101010101" pitchFamily="2" charset="-122"/>
              </a:rPr>
              <a:t>4.62</a:t>
            </a:r>
            <a:r>
              <a:rPr lang="zh-CN" altLang="en-US" sz="2400" b="1" dirty="0">
                <a:ea typeface="宋体" panose="02010600030101010101" pitchFamily="2" charset="-122"/>
              </a:rPr>
              <a:t>  确定向前看符号</a:t>
            </a:r>
            <a:endParaRPr lang="en-US" altLang="zh-CN" sz="2400" b="1" dirty="0">
              <a:ea typeface="宋体" panose="02010600030101010101" pitchFamily="2" charset="-122"/>
            </a:endParaRPr>
          </a:p>
          <a:p>
            <a:pPr lvl="1">
              <a:lnSpc>
                <a:spcPct val="90000"/>
              </a:lnSpc>
            </a:pPr>
            <a:r>
              <a:rPr lang="zh-CN" altLang="en-US" sz="2000" b="1" dirty="0">
                <a:ea typeface="宋体" panose="02010600030101010101" pitchFamily="2" charset="-122"/>
              </a:rPr>
              <a:t>输入：一个</a:t>
            </a:r>
            <a:r>
              <a:rPr lang="en-US" altLang="zh-CN" sz="2000" b="1" dirty="0">
                <a:ea typeface="宋体" panose="02010600030101010101" pitchFamily="2" charset="-122"/>
              </a:rPr>
              <a:t>LR</a:t>
            </a:r>
            <a:r>
              <a:rPr lang="zh-CN" altLang="en-US" sz="2000" b="1" dirty="0">
                <a:ea typeface="宋体" panose="02010600030101010101" pitchFamily="2" charset="-122"/>
              </a:rPr>
              <a:t>（</a:t>
            </a:r>
            <a:r>
              <a:rPr lang="en-US" altLang="zh-CN" sz="2000" b="1" dirty="0">
                <a:ea typeface="宋体" panose="02010600030101010101" pitchFamily="2" charset="-122"/>
              </a:rPr>
              <a:t>0</a:t>
            </a:r>
            <a:r>
              <a:rPr lang="zh-CN" altLang="en-US" sz="2000" b="1" dirty="0">
                <a:ea typeface="宋体" panose="02010600030101010101" pitchFamily="2" charset="-122"/>
              </a:rPr>
              <a:t>）项目集</a:t>
            </a:r>
            <a:r>
              <a:rPr lang="en-US" altLang="zh-CN" sz="2000" b="1" dirty="0">
                <a:ea typeface="宋体" panose="02010600030101010101" pitchFamily="2" charset="-122"/>
              </a:rPr>
              <a:t>I</a:t>
            </a:r>
            <a:r>
              <a:rPr lang="zh-CN" altLang="en-US" sz="2000" b="1" dirty="0">
                <a:ea typeface="宋体" panose="02010600030101010101" pitchFamily="2" charset="-122"/>
              </a:rPr>
              <a:t>的内核</a:t>
            </a:r>
            <a:r>
              <a:rPr lang="en-US" altLang="zh-CN" sz="2000" b="1" dirty="0">
                <a:ea typeface="宋体" panose="02010600030101010101" pitchFamily="2" charset="-122"/>
              </a:rPr>
              <a:t>K</a:t>
            </a:r>
            <a:r>
              <a:rPr lang="zh-CN" altLang="en-US" sz="2000" b="1" dirty="0">
                <a:ea typeface="宋体" panose="02010600030101010101" pitchFamily="2" charset="-122"/>
              </a:rPr>
              <a:t>以及一个文法符号</a:t>
            </a:r>
            <a:r>
              <a:rPr lang="en-US" altLang="zh-CN" sz="2000" b="1" dirty="0">
                <a:ea typeface="宋体" panose="02010600030101010101" pitchFamily="2" charset="-122"/>
              </a:rPr>
              <a:t>X</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输出：由</a:t>
            </a:r>
            <a:r>
              <a:rPr lang="en-US" altLang="zh-CN" sz="2000" b="1" dirty="0">
                <a:ea typeface="宋体" panose="02010600030101010101" pitchFamily="2" charset="-122"/>
              </a:rPr>
              <a:t>I</a:t>
            </a:r>
            <a:r>
              <a:rPr lang="zh-CN" altLang="en-US" sz="2000" b="1" dirty="0">
                <a:ea typeface="宋体" panose="02010600030101010101" pitchFamily="2" charset="-122"/>
              </a:rPr>
              <a:t>中的项为</a:t>
            </a:r>
            <a:r>
              <a:rPr lang="en-US" altLang="zh-CN" sz="2000" b="1" dirty="0">
                <a:ea typeface="宋体" panose="02010600030101010101" pitchFamily="2" charset="-122"/>
              </a:rPr>
              <a:t>GOTO</a:t>
            </a:r>
            <a:r>
              <a:rPr lang="zh-CN" altLang="en-US" sz="2000" b="1" dirty="0">
                <a:ea typeface="宋体" panose="02010600030101010101" pitchFamily="2" charset="-122"/>
              </a:rPr>
              <a:t>（</a:t>
            </a:r>
            <a:r>
              <a:rPr lang="en-US" altLang="zh-CN" sz="2000" b="1" dirty="0">
                <a:ea typeface="宋体" panose="02010600030101010101" pitchFamily="2" charset="-122"/>
              </a:rPr>
              <a:t>I</a:t>
            </a:r>
            <a:r>
              <a:rPr lang="zh-CN" altLang="en-US" sz="2000" b="1" dirty="0">
                <a:ea typeface="宋体" panose="02010600030101010101" pitchFamily="2" charset="-122"/>
              </a:rPr>
              <a:t>，</a:t>
            </a:r>
            <a:r>
              <a:rPr lang="en-US" altLang="zh-CN" sz="2000" b="1" dirty="0">
                <a:ea typeface="宋体" panose="02010600030101010101" pitchFamily="2" charset="-122"/>
              </a:rPr>
              <a:t>X</a:t>
            </a:r>
            <a:r>
              <a:rPr lang="zh-CN" altLang="en-US" sz="2000" b="1" dirty="0">
                <a:ea typeface="宋体" panose="02010600030101010101" pitchFamily="2" charset="-122"/>
              </a:rPr>
              <a:t>）中内核项目自发生成的向前看符号，以及</a:t>
            </a:r>
            <a:r>
              <a:rPr lang="en-US" altLang="zh-CN" sz="2000" b="1" dirty="0">
                <a:ea typeface="宋体" panose="02010600030101010101" pitchFamily="2" charset="-122"/>
              </a:rPr>
              <a:t>I</a:t>
            </a:r>
            <a:r>
              <a:rPr lang="zh-CN" altLang="en-US" sz="2000" b="1" dirty="0">
                <a:ea typeface="宋体" panose="02010600030101010101" pitchFamily="2" charset="-122"/>
              </a:rPr>
              <a:t>中将其向前看符号传播到</a:t>
            </a:r>
            <a:r>
              <a:rPr lang="en-US" altLang="zh-CN" sz="2000" b="1" dirty="0">
                <a:ea typeface="宋体" panose="02010600030101010101" pitchFamily="2" charset="-122"/>
              </a:rPr>
              <a:t>GOTO</a:t>
            </a:r>
            <a:r>
              <a:rPr lang="zh-CN" altLang="en-US" sz="2000" b="1" dirty="0">
                <a:ea typeface="宋体" panose="02010600030101010101" pitchFamily="2" charset="-122"/>
              </a:rPr>
              <a:t>（</a:t>
            </a:r>
            <a:r>
              <a:rPr lang="en-US" altLang="zh-CN" sz="2000" b="1" dirty="0">
                <a:ea typeface="宋体" panose="02010600030101010101" pitchFamily="2" charset="-122"/>
              </a:rPr>
              <a:t>I</a:t>
            </a:r>
            <a:r>
              <a:rPr lang="zh-CN" altLang="en-US" sz="2000" b="1" dirty="0">
                <a:ea typeface="宋体" panose="02010600030101010101" pitchFamily="2" charset="-122"/>
              </a:rPr>
              <a:t>，</a:t>
            </a:r>
            <a:r>
              <a:rPr lang="en-US" altLang="zh-CN" sz="2000" b="1" dirty="0">
                <a:ea typeface="宋体" panose="02010600030101010101" pitchFamily="2" charset="-122"/>
              </a:rPr>
              <a:t>X</a:t>
            </a:r>
            <a:r>
              <a:rPr lang="zh-CN" altLang="en-US" sz="2000" b="1" dirty="0">
                <a:ea typeface="宋体" panose="02010600030101010101" pitchFamily="2" charset="-122"/>
              </a:rPr>
              <a:t>）中内核项的项</a:t>
            </a:r>
            <a:endParaRPr lang="en-US" altLang="zh-CN" sz="2000" b="1" dirty="0">
              <a:ea typeface="宋体" panose="02010600030101010101" pitchFamily="2" charset="-122"/>
            </a:endParaRPr>
          </a:p>
        </p:txBody>
      </p:sp>
      <p:pic>
        <p:nvPicPr>
          <p:cNvPr id="279556" name="Picture 2"/>
          <p:cNvPicPr>
            <a:picLocks noChangeAspect="1"/>
          </p:cNvPicPr>
          <p:nvPr/>
        </p:nvPicPr>
        <p:blipFill>
          <a:blip r:embed="rId1"/>
          <a:stretch>
            <a:fillRect/>
          </a:stretch>
        </p:blipFill>
        <p:spPr>
          <a:xfrm>
            <a:off x="44450" y="2852738"/>
            <a:ext cx="8991600" cy="4005262"/>
          </a:xfrm>
          <a:prstGeom prst="rect">
            <a:avLst/>
          </a:prstGeom>
          <a:noFill/>
          <a:ln w="9525">
            <a:noFill/>
          </a:ln>
        </p:spPr>
      </p:pic>
    </p:spTree>
  </p:cSld>
  <p:clrMapOvr>
    <a:masterClrMapping/>
  </p:clrMapOvr>
  <p:transition spd="slow"/>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160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（46）</a:t>
            </a:r>
            <a:endParaRPr lang="zh-CN" altLang="en-US" dirty="0">
              <a:latin typeface="Times New Roman" panose="02020603050405020304" pitchFamily="18" charset="0"/>
              <a:ea typeface="宋体" panose="02010600030101010101" pitchFamily="2" charset="-122"/>
            </a:endParaRPr>
          </a:p>
        </p:txBody>
      </p:sp>
      <p:sp>
        <p:nvSpPr>
          <p:cNvPr id="281603" name="Rectangle 4"/>
          <p:cNvSpPr>
            <a:spLocks noGrp="1"/>
          </p:cNvSpPr>
          <p:nvPr>
            <p:ph idx="1"/>
          </p:nvPr>
        </p:nvSpPr>
        <p:spPr>
          <a:xfrm>
            <a:off x="468313" y="1371600"/>
            <a:ext cx="8280400" cy="4800600"/>
          </a:xfrm>
        </p:spPr>
        <p:txBody>
          <a:bodyPr vert="horz" wrap="square" lIns="92075" tIns="46038" rIns="92075" bIns="46038" anchor="t" anchorCtr="0"/>
          <a:p>
            <a:pPr>
              <a:lnSpc>
                <a:spcPct val="90000"/>
              </a:lnSpc>
            </a:pPr>
            <a:r>
              <a:rPr lang="en-US" altLang="zh-CN" sz="2400" b="1" dirty="0">
                <a:ea typeface="宋体" panose="02010600030101010101" pitchFamily="2" charset="-122"/>
              </a:rPr>
              <a:t>LALR</a:t>
            </a:r>
            <a:r>
              <a:rPr lang="zh-CN" altLang="en-US" sz="2400" b="1" dirty="0">
                <a:ea typeface="宋体" panose="02010600030101010101" pitchFamily="2" charset="-122"/>
              </a:rPr>
              <a:t>（</a:t>
            </a:r>
            <a:r>
              <a:rPr lang="en-US" altLang="zh-CN" sz="2400" b="1" dirty="0">
                <a:ea typeface="宋体" panose="02010600030101010101" pitchFamily="2" charset="-122"/>
              </a:rPr>
              <a:t>1</a:t>
            </a:r>
            <a:r>
              <a:rPr lang="zh-CN" altLang="en-US" sz="2400" b="1" dirty="0">
                <a:ea typeface="宋体" panose="02010600030101010101" pitchFamily="2" charset="-122"/>
              </a:rPr>
              <a:t>）项目集族的内核的高效计算方法（算法</a:t>
            </a:r>
            <a:r>
              <a:rPr lang="en-US" altLang="zh-CN" sz="2400" b="1" dirty="0">
                <a:ea typeface="宋体" panose="02010600030101010101" pitchFamily="2" charset="-122"/>
              </a:rPr>
              <a:t>4.63</a:t>
            </a:r>
            <a:r>
              <a:rPr lang="zh-CN" altLang="en-US" sz="2400" b="1" dirty="0">
                <a:ea typeface="宋体" panose="02010600030101010101" pitchFamily="2" charset="-122"/>
              </a:rPr>
              <a:t>）</a:t>
            </a:r>
            <a:endParaRPr lang="en-US" altLang="zh-CN" sz="2400" b="1" dirty="0">
              <a:ea typeface="宋体" panose="02010600030101010101" pitchFamily="2" charset="-122"/>
            </a:endParaRPr>
          </a:p>
          <a:p>
            <a:pPr lvl="1">
              <a:lnSpc>
                <a:spcPct val="90000"/>
              </a:lnSpc>
            </a:pPr>
            <a:r>
              <a:rPr lang="zh-CN" altLang="en-US" sz="2000" b="1" dirty="0">
                <a:ea typeface="宋体" panose="02010600030101010101" pitchFamily="2" charset="-122"/>
              </a:rPr>
              <a:t>输入：一个增广文法</a:t>
            </a:r>
            <a:r>
              <a:rPr lang="en-US" altLang="zh-CN" sz="2000" b="1" dirty="0">
                <a:ea typeface="宋体" panose="02010600030101010101" pitchFamily="2" charset="-122"/>
              </a:rPr>
              <a:t>G’</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输出：文法</a:t>
            </a:r>
            <a:r>
              <a:rPr lang="en-US" altLang="zh-CN" sz="2000" b="1" dirty="0">
                <a:ea typeface="宋体" panose="02010600030101010101" pitchFamily="2" charset="-122"/>
              </a:rPr>
              <a:t>G’</a:t>
            </a:r>
            <a:r>
              <a:rPr lang="zh-CN" altLang="en-US" sz="2000" b="1" dirty="0">
                <a:ea typeface="宋体" panose="02010600030101010101" pitchFamily="2" charset="-122"/>
              </a:rPr>
              <a:t>的</a:t>
            </a:r>
            <a:r>
              <a:rPr lang="en-US" altLang="zh-CN" sz="2000" b="1" dirty="0">
                <a:ea typeface="宋体" panose="02010600030101010101" pitchFamily="2" charset="-122"/>
              </a:rPr>
              <a:t>LALR</a:t>
            </a:r>
            <a:r>
              <a:rPr lang="zh-CN" altLang="en-US" sz="2000" b="1" dirty="0">
                <a:ea typeface="宋体" panose="02010600030101010101" pitchFamily="2" charset="-122"/>
              </a:rPr>
              <a:t>（</a:t>
            </a:r>
            <a:r>
              <a:rPr lang="en-US" altLang="zh-CN" sz="2000" b="1" dirty="0">
                <a:ea typeface="宋体" panose="02010600030101010101" pitchFamily="2" charset="-122"/>
              </a:rPr>
              <a:t>1</a:t>
            </a:r>
            <a:r>
              <a:rPr lang="zh-CN" altLang="en-US" sz="2000" b="1" dirty="0">
                <a:ea typeface="宋体" panose="02010600030101010101" pitchFamily="2" charset="-122"/>
              </a:rPr>
              <a:t>）项目集族的内核</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方法：</a:t>
            </a:r>
            <a:endParaRPr lang="en-US" altLang="zh-CN" sz="2000" b="1" dirty="0">
              <a:ea typeface="宋体" panose="02010600030101010101" pitchFamily="2" charset="-122"/>
            </a:endParaRPr>
          </a:p>
          <a:p>
            <a:pPr marL="1257300" lvl="2" indent="-342900">
              <a:lnSpc>
                <a:spcPct val="90000"/>
              </a:lnSpc>
              <a:buFont typeface="Book Antiqua" panose="02040602050305030304" pitchFamily="18" charset="0"/>
              <a:buAutoNum type="arabicPeriod"/>
            </a:pPr>
            <a:r>
              <a:rPr lang="zh-CN" altLang="en-US" sz="1600" b="1" dirty="0">
                <a:ea typeface="宋体" panose="02010600030101010101" pitchFamily="2" charset="-122"/>
              </a:rPr>
              <a:t>构造</a:t>
            </a:r>
            <a:r>
              <a:rPr lang="en-US" altLang="zh-CN" sz="1600" b="1" dirty="0">
                <a:ea typeface="宋体" panose="02010600030101010101" pitchFamily="2" charset="-122"/>
              </a:rPr>
              <a:t>G’</a:t>
            </a:r>
            <a:r>
              <a:rPr lang="zh-CN" altLang="en-US" sz="1600" b="1" dirty="0">
                <a:ea typeface="宋体" panose="02010600030101010101" pitchFamily="2" charset="-122"/>
              </a:rPr>
              <a:t>的</a:t>
            </a:r>
            <a:r>
              <a:rPr lang="en-US" altLang="zh-CN" sz="1600" b="1" dirty="0">
                <a:ea typeface="宋体" panose="02010600030101010101" pitchFamily="2" charset="-122"/>
              </a:rPr>
              <a:t>LR</a:t>
            </a:r>
            <a:r>
              <a:rPr lang="zh-CN" altLang="en-US" sz="1600" b="1" dirty="0">
                <a:ea typeface="宋体" panose="02010600030101010101" pitchFamily="2" charset="-122"/>
              </a:rPr>
              <a:t>（</a:t>
            </a:r>
            <a:r>
              <a:rPr lang="en-US" altLang="zh-CN" sz="1600" b="1" dirty="0">
                <a:ea typeface="宋体" panose="02010600030101010101" pitchFamily="2" charset="-122"/>
              </a:rPr>
              <a:t>0</a:t>
            </a:r>
            <a:r>
              <a:rPr lang="zh-CN" altLang="en-US" sz="1600" b="1" dirty="0">
                <a:ea typeface="宋体" panose="02010600030101010101" pitchFamily="2" charset="-122"/>
              </a:rPr>
              <a:t>）项目集族的内核</a:t>
            </a:r>
            <a:endParaRPr lang="en-US" altLang="zh-CN" sz="1600" b="1" dirty="0">
              <a:ea typeface="宋体" panose="02010600030101010101" pitchFamily="2" charset="-122"/>
            </a:endParaRPr>
          </a:p>
          <a:p>
            <a:pPr marL="1257300" lvl="2" indent="-342900">
              <a:lnSpc>
                <a:spcPct val="90000"/>
              </a:lnSpc>
              <a:buFont typeface="Book Antiqua" panose="02040602050305030304" pitchFamily="18" charset="0"/>
              <a:buAutoNum type="arabicPeriod"/>
            </a:pPr>
            <a:r>
              <a:rPr lang="zh-CN" altLang="en-US" sz="1600" b="1" dirty="0">
                <a:ea typeface="宋体" panose="02010600030101010101" pitchFamily="2" charset="-122"/>
              </a:rPr>
              <a:t>将算法</a:t>
            </a:r>
            <a:r>
              <a:rPr lang="en-US" altLang="zh-CN" sz="1600" b="1" dirty="0">
                <a:ea typeface="宋体" panose="02010600030101010101" pitchFamily="2" charset="-122"/>
              </a:rPr>
              <a:t>4.62</a:t>
            </a:r>
            <a:r>
              <a:rPr lang="zh-CN" altLang="en-US" sz="1600" b="1" dirty="0">
                <a:ea typeface="宋体" panose="02010600030101010101" pitchFamily="2" charset="-122"/>
              </a:rPr>
              <a:t>应用于对每个</a:t>
            </a:r>
            <a:r>
              <a:rPr lang="en-US" altLang="zh-CN" sz="1600" b="1" dirty="0">
                <a:ea typeface="宋体" panose="02010600030101010101" pitchFamily="2" charset="-122"/>
              </a:rPr>
              <a:t>LR</a:t>
            </a:r>
            <a:r>
              <a:rPr lang="zh-CN" altLang="en-US" sz="1600" b="1" dirty="0">
                <a:ea typeface="宋体" panose="02010600030101010101" pitchFamily="2" charset="-122"/>
              </a:rPr>
              <a:t>（</a:t>
            </a:r>
            <a:r>
              <a:rPr lang="en-US" altLang="zh-CN" sz="1600" b="1" dirty="0">
                <a:ea typeface="宋体" panose="02010600030101010101" pitchFamily="2" charset="-122"/>
              </a:rPr>
              <a:t>0</a:t>
            </a:r>
            <a:r>
              <a:rPr lang="zh-CN" altLang="en-US" sz="1600" b="1" dirty="0">
                <a:ea typeface="宋体" panose="02010600030101010101" pitchFamily="2" charset="-122"/>
              </a:rPr>
              <a:t>）项目集的内核和每个文法符号</a:t>
            </a:r>
            <a:r>
              <a:rPr lang="en-US" altLang="zh-CN" sz="1600" b="1" dirty="0">
                <a:ea typeface="宋体" panose="02010600030101010101" pitchFamily="2" charset="-122"/>
              </a:rPr>
              <a:t>X</a:t>
            </a:r>
            <a:r>
              <a:rPr lang="zh-CN" altLang="en-US" sz="1600" b="1" dirty="0">
                <a:ea typeface="宋体" panose="02010600030101010101" pitchFamily="2" charset="-122"/>
              </a:rPr>
              <a:t>，确定</a:t>
            </a:r>
            <a:r>
              <a:rPr lang="en-US" altLang="zh-CN" sz="1600" b="1" dirty="0">
                <a:ea typeface="宋体" panose="02010600030101010101" pitchFamily="2" charset="-122"/>
              </a:rPr>
              <a:t>GOTO(I</a:t>
            </a:r>
            <a:r>
              <a:rPr lang="zh-CN" altLang="en-US" sz="1600" b="1" dirty="0">
                <a:ea typeface="宋体" panose="02010600030101010101" pitchFamily="2" charset="-122"/>
              </a:rPr>
              <a:t>，</a:t>
            </a:r>
            <a:r>
              <a:rPr lang="en-US" altLang="zh-CN" sz="1600" b="1" dirty="0">
                <a:ea typeface="宋体" panose="02010600030101010101" pitchFamily="2" charset="-122"/>
              </a:rPr>
              <a:t>X)</a:t>
            </a:r>
            <a:r>
              <a:rPr lang="zh-CN" altLang="en-US" sz="1600" b="1" dirty="0">
                <a:ea typeface="宋体" panose="02010600030101010101" pitchFamily="2" charset="-122"/>
              </a:rPr>
              <a:t>中各个内核项的哪些向前看符号是自发生成的，并确定向前看符号从</a:t>
            </a:r>
            <a:r>
              <a:rPr lang="en-US" altLang="zh-CN" sz="1600" b="1" dirty="0">
                <a:ea typeface="宋体" panose="02010600030101010101" pitchFamily="2" charset="-122"/>
              </a:rPr>
              <a:t>I</a:t>
            </a:r>
            <a:r>
              <a:rPr lang="zh-CN" altLang="en-US" sz="1600" b="1" dirty="0">
                <a:ea typeface="宋体" panose="02010600030101010101" pitchFamily="2" charset="-122"/>
              </a:rPr>
              <a:t>中的哪个项被传播到</a:t>
            </a:r>
            <a:r>
              <a:rPr lang="en-US" altLang="zh-CN" sz="1600" b="1" dirty="0">
                <a:ea typeface="宋体" panose="02010600030101010101" pitchFamily="2" charset="-122"/>
              </a:rPr>
              <a:t>GOTO(I</a:t>
            </a:r>
            <a:r>
              <a:rPr lang="zh-CN" altLang="en-US" sz="1600" b="1" dirty="0">
                <a:ea typeface="宋体" panose="02010600030101010101" pitchFamily="2" charset="-122"/>
              </a:rPr>
              <a:t>，</a:t>
            </a:r>
            <a:r>
              <a:rPr lang="en-US" altLang="zh-CN" sz="1600" b="1" dirty="0">
                <a:ea typeface="宋体" panose="02010600030101010101" pitchFamily="2" charset="-122"/>
              </a:rPr>
              <a:t>X)</a:t>
            </a:r>
            <a:r>
              <a:rPr lang="zh-CN" altLang="en-US" sz="1600" b="1" dirty="0">
                <a:ea typeface="宋体" panose="02010600030101010101" pitchFamily="2" charset="-122"/>
              </a:rPr>
              <a:t>中内核项上（结果示例如图</a:t>
            </a:r>
            <a:r>
              <a:rPr lang="en-US" altLang="zh-CN" sz="1600" b="1" dirty="0">
                <a:ea typeface="宋体" panose="02010600030101010101" pitchFamily="2" charset="-122"/>
              </a:rPr>
              <a:t>4-46</a:t>
            </a:r>
            <a:r>
              <a:rPr lang="zh-CN" altLang="en-US" sz="1600" b="1" dirty="0">
                <a:ea typeface="宋体" panose="02010600030101010101" pitchFamily="2" charset="-122"/>
              </a:rPr>
              <a:t>）</a:t>
            </a:r>
            <a:endParaRPr lang="en-US" altLang="zh-CN" sz="1600" b="1" dirty="0">
              <a:ea typeface="宋体" panose="02010600030101010101" pitchFamily="2" charset="-122"/>
            </a:endParaRPr>
          </a:p>
          <a:p>
            <a:pPr marL="1257300" lvl="2" indent="-342900">
              <a:lnSpc>
                <a:spcPct val="90000"/>
              </a:lnSpc>
              <a:buFont typeface="Book Antiqua" panose="02040602050305030304" pitchFamily="18" charset="0"/>
              <a:buAutoNum type="arabicPeriod"/>
            </a:pPr>
            <a:r>
              <a:rPr lang="zh-CN" altLang="en-US" sz="1600" b="1" dirty="0">
                <a:ea typeface="宋体" panose="02010600030101010101" pitchFamily="2" charset="-122"/>
              </a:rPr>
              <a:t>初始化一个表格，表中给出了每个项目集中的每个内核项相关的向前看符号（示例如图</a:t>
            </a:r>
            <a:r>
              <a:rPr lang="en-US" altLang="zh-CN" sz="1600" b="1" dirty="0">
                <a:ea typeface="宋体" panose="02010600030101010101" pitchFamily="2" charset="-122"/>
              </a:rPr>
              <a:t>4-47</a:t>
            </a:r>
            <a:r>
              <a:rPr lang="zh-CN" altLang="en-US" sz="1600" b="1" dirty="0">
                <a:ea typeface="宋体" panose="02010600030101010101" pitchFamily="2" charset="-122"/>
              </a:rPr>
              <a:t>）。最初，每个项的向前看符号只包括上述步骤中确定的自发生成的符号（如图</a:t>
            </a:r>
            <a:r>
              <a:rPr lang="en-US" altLang="zh-CN" sz="1600" b="1" dirty="0">
                <a:ea typeface="宋体" panose="02010600030101010101" pitchFamily="2" charset="-122"/>
              </a:rPr>
              <a:t>4-47</a:t>
            </a:r>
            <a:r>
              <a:rPr lang="zh-CN" altLang="en-US" sz="1600" b="1" dirty="0">
                <a:ea typeface="宋体" panose="02010600030101010101" pitchFamily="2" charset="-122"/>
              </a:rPr>
              <a:t>的“初始值”列）</a:t>
            </a:r>
            <a:endParaRPr lang="en-US" altLang="zh-CN" sz="1600" b="1" dirty="0">
              <a:ea typeface="宋体" panose="02010600030101010101" pitchFamily="2" charset="-122"/>
            </a:endParaRPr>
          </a:p>
          <a:p>
            <a:pPr marL="1257300" lvl="2" indent="-342900">
              <a:lnSpc>
                <a:spcPct val="90000"/>
              </a:lnSpc>
              <a:buFont typeface="Book Antiqua" panose="02040602050305030304" pitchFamily="18" charset="0"/>
              <a:buAutoNum type="arabicPeriod"/>
            </a:pPr>
            <a:r>
              <a:rPr lang="zh-CN" altLang="en-US" sz="1600" b="1" dirty="0">
                <a:ea typeface="宋体" panose="02010600030101010101" pitchFamily="2" charset="-122"/>
              </a:rPr>
              <a:t>不断扫描所有项集的内核项，当我们访问一个项</a:t>
            </a:r>
            <a:r>
              <a:rPr lang="en-US" altLang="zh-CN" sz="1600" b="1" dirty="0">
                <a:ea typeface="宋体" panose="02010600030101010101" pitchFamily="2" charset="-122"/>
              </a:rPr>
              <a:t>i</a:t>
            </a:r>
            <a:r>
              <a:rPr lang="zh-CN" altLang="en-US" sz="1600" b="1" dirty="0">
                <a:ea typeface="宋体" panose="02010600030101010101" pitchFamily="2" charset="-122"/>
              </a:rPr>
              <a:t>时，使用步骤</a:t>
            </a:r>
            <a:r>
              <a:rPr lang="en-US" altLang="zh-CN" sz="1600" b="1" dirty="0">
                <a:ea typeface="宋体" panose="02010600030101010101" pitchFamily="2" charset="-122"/>
              </a:rPr>
              <a:t>2</a:t>
            </a:r>
            <a:r>
              <a:rPr lang="zh-CN" altLang="en-US" sz="1600" b="1" dirty="0">
                <a:ea typeface="宋体" panose="02010600030101010101" pitchFamily="2" charset="-122"/>
              </a:rPr>
              <a:t>得到，用表格表示的信息，确定 </a:t>
            </a:r>
            <a:r>
              <a:rPr lang="en-US" altLang="zh-CN" sz="1600" b="1" dirty="0">
                <a:ea typeface="宋体" panose="02010600030101010101" pitchFamily="2" charset="-122"/>
              </a:rPr>
              <a:t>i</a:t>
            </a:r>
            <a:r>
              <a:rPr lang="zh-CN" altLang="en-US" sz="1600" b="1" dirty="0">
                <a:ea typeface="宋体" panose="02010600030101010101" pitchFamily="2" charset="-122"/>
              </a:rPr>
              <a:t>将它的向前看符号传播到哪些内核项中，并将项目</a:t>
            </a:r>
            <a:r>
              <a:rPr lang="en-US" altLang="zh-CN" sz="1600" b="1" dirty="0">
                <a:ea typeface="宋体" panose="02010600030101010101" pitchFamily="2" charset="-122"/>
              </a:rPr>
              <a:t>i</a:t>
            </a:r>
            <a:r>
              <a:rPr lang="zh-CN" altLang="en-US" sz="1600" b="1" dirty="0">
                <a:ea typeface="宋体" panose="02010600030101010101" pitchFamily="2" charset="-122"/>
              </a:rPr>
              <a:t>的 向前看符号加到这些被传播的内核向相关联的向前看符号集合中，持续在内核项上扫描，直至没有新的向前看符号被传播为止（如图</a:t>
            </a:r>
            <a:r>
              <a:rPr lang="en-US" altLang="zh-CN" sz="1600" b="1" dirty="0">
                <a:ea typeface="宋体" panose="02010600030101010101" pitchFamily="2" charset="-122"/>
              </a:rPr>
              <a:t>4-47</a:t>
            </a:r>
            <a:r>
              <a:rPr lang="zh-CN" altLang="en-US" sz="1600" b="1" dirty="0">
                <a:ea typeface="宋体" panose="02010600030101010101" pitchFamily="2" charset="-122"/>
              </a:rPr>
              <a:t>种的“第一趟”、“第二趟”、“第三趟”等列的信息变化） </a:t>
            </a:r>
            <a:endParaRPr lang="en-US" altLang="zh-CN" sz="1600" b="1" dirty="0">
              <a:ea typeface="宋体" panose="02010600030101010101" pitchFamily="2" charset="-122"/>
            </a:endParaRPr>
          </a:p>
        </p:txBody>
      </p:sp>
    </p:spTree>
  </p:cSld>
  <p:clrMapOvr>
    <a:masterClrMapping/>
  </p:clrMapOvr>
  <p:transition spd="slow"/>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365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（47）</a:t>
            </a:r>
            <a:endParaRPr lang="zh-CN" altLang="en-US" dirty="0">
              <a:latin typeface="Times New Roman" panose="02020603050405020304" pitchFamily="18" charset="0"/>
              <a:ea typeface="宋体" panose="02010600030101010101" pitchFamily="2" charset="-122"/>
            </a:endParaRPr>
          </a:p>
        </p:txBody>
      </p:sp>
      <p:sp>
        <p:nvSpPr>
          <p:cNvPr id="275459" name="Rectangle 4"/>
          <p:cNvSpPr>
            <a:spLocks noGrp="1" noChangeArrowheads="1"/>
          </p:cNvSpPr>
          <p:nvPr>
            <p:ph idx="1"/>
          </p:nvPr>
        </p:nvSpPr>
        <p:spPr>
          <a:xfrm>
            <a:off x="468313" y="1371600"/>
            <a:ext cx="8280400" cy="4800600"/>
          </a:xfrm>
        </p:spPr>
        <p:txBody>
          <a:bodyPr vert="horz" wrap="square" lIns="92075" tIns="46038" rIns="92075" bIns="46038" numCol="1" anchor="t" anchorCtr="0" compatLnSpc="1"/>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对例</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4.61</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文法（</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PPT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第</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134</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页）的处理</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）项目集如图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4-44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PPT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第</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134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页）所示</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计算</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CLOSURE({[S’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S,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，（注意：此处的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是新引入的非文法符号），有：</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S, #		L</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R,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L = R, #		L</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id,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R, #			R</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L,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关于上述项目中的向前看符号“</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”的出现</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对于项目</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R</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，由于点的右边是*，它生成了</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R</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，即“</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”是项目</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I</a:t>
            </a:r>
            <a:r>
              <a:rPr kumimoji="0" lang="en-US" altLang="zh-CN" sz="1600" b="1" i="0" u="none" strike="noStrike" kern="0" cap="none" spc="0" normalizeH="0" baseline="-25000" noProof="0" dirty="0">
                <a:ln>
                  <a:noFill/>
                </a:ln>
                <a:solidFill>
                  <a:schemeClr val="tx1"/>
                </a:solidFill>
                <a:effectLst/>
                <a:uLnTx/>
                <a:uFillTx/>
                <a:latin typeface="+mn-lt"/>
                <a:ea typeface="宋体" panose="02010600030101010101" pitchFamily="2" charset="-122"/>
              </a:rPr>
              <a:t>4</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中的</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R</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自发生成的</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类似的还有：由</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id, =]</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可知“</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”是项目</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I</a:t>
            </a:r>
            <a:r>
              <a:rPr kumimoji="0" lang="en-US" altLang="zh-CN" sz="1600" b="1" i="0" u="none" strike="noStrike" kern="0" cap="none" spc="0" normalizeH="0" baseline="-25000" noProof="0" dirty="0">
                <a:ln>
                  <a:noFill/>
                </a:ln>
                <a:solidFill>
                  <a:schemeClr val="tx1"/>
                </a:solidFill>
                <a:effectLst/>
                <a:uLnTx/>
                <a:uFillTx/>
                <a:latin typeface="+mn-lt"/>
                <a:ea typeface="宋体" panose="02010600030101010101" pitchFamily="2" charset="-122"/>
              </a:rPr>
              <a:t>5</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中的</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id</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自发生成的</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因为</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是闭包中六个项的向前看符号，所以</a:t>
            </a:r>
            <a:r>
              <a:rPr kumimoji="0" lang="en-US" altLang="zh-CN" sz="1800" b="1" i="0" u="none" strike="noStrike" kern="0" cap="none" spc="0" normalizeH="0" baseline="0" noProof="0">
                <a:ln>
                  <a:noFill/>
                </a:ln>
                <a:solidFill>
                  <a:schemeClr val="tx1"/>
                </a:solidFill>
                <a:effectLst/>
                <a:uLnTx/>
                <a:uFillTx/>
                <a:latin typeface="+mn-lt"/>
                <a:ea typeface="宋体" panose="02010600030101010101" pitchFamily="2" charset="-122"/>
              </a:rPr>
              <a:t>I</a:t>
            </a:r>
            <a:r>
              <a:rPr kumimoji="0" lang="en-US" altLang="zh-CN" sz="1800" b="1" i="0" u="none" strike="noStrike" kern="0" cap="none" spc="0" normalizeH="0" baseline="-25000" noProof="0">
                <a:ln>
                  <a:noFill/>
                </a:ln>
                <a:solidFill>
                  <a:schemeClr val="tx1"/>
                </a:solidFill>
                <a:effectLst/>
                <a:uLnTx/>
                <a:uFillTx/>
                <a:latin typeface="+mn-lt"/>
                <a:ea typeface="宋体" panose="02010600030101010101" pitchFamily="2" charset="-122"/>
              </a:rPr>
              <a:t>0</a:t>
            </a:r>
            <a:r>
              <a:rPr kumimoji="0" lang="zh-CN" altLang="en-US" sz="1800" b="1" i="0" u="none" strike="noStrike" kern="0" cap="none" spc="0" normalizeH="0" baseline="0" noProof="0">
                <a:ln>
                  <a:noFill/>
                </a:ln>
                <a:solidFill>
                  <a:schemeClr val="tx1"/>
                </a:solidFill>
                <a:effectLst/>
                <a:uLnTx/>
                <a:uFillTx/>
                <a:latin typeface="+mn-lt"/>
                <a:ea typeface="宋体" panose="02010600030101010101" pitchFamily="2" charset="-122"/>
              </a:rPr>
              <a:t>中的项</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将它的向前看符号传播到如下的六个项中</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中的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4</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中的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R</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中的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L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R,		 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5</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中的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id .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3</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中的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 .		 I</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中的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 .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rPr>
              <a:t>注：</a:t>
            </a:r>
            <a:r>
              <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rPr>
              <a:t> </a:t>
            </a:r>
            <a:r>
              <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rPr>
              <a:t>此处，</a:t>
            </a:r>
            <a:r>
              <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rPr>
              <a:t>S’</a:t>
            </a:r>
            <a:r>
              <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rPr>
              <a:t> . S</a:t>
            </a:r>
            <a:r>
              <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rPr>
              <a:t>的向前看符号是</a:t>
            </a:r>
            <a:r>
              <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rPr>
              <a:t>，不是</a:t>
            </a:r>
            <a:r>
              <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rPr>
              <a:t>#</a:t>
            </a:r>
            <a:endPar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endParaRPr>
          </a:p>
        </p:txBody>
      </p:sp>
    </p:spTree>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（48）</a:t>
            </a:r>
            <a:endParaRPr lang="zh-CN" altLang="en-US" dirty="0">
              <a:latin typeface="Times New Roman" panose="02020603050405020304" pitchFamily="18" charset="0"/>
              <a:ea typeface="宋体" panose="02010600030101010101" pitchFamily="2" charset="-122"/>
            </a:endParaRPr>
          </a:p>
        </p:txBody>
      </p:sp>
      <p:sp>
        <p:nvSpPr>
          <p:cNvPr id="285699" name="Rectangle 4"/>
          <p:cNvSpPr>
            <a:spLocks noGrp="1"/>
          </p:cNvSpPr>
          <p:nvPr>
            <p:ph idx="1"/>
          </p:nvPr>
        </p:nvSpPr>
        <p:spPr>
          <a:xfrm>
            <a:off x="468313" y="1371600"/>
            <a:ext cx="8280400"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对例</a:t>
            </a:r>
            <a:r>
              <a:rPr lang="en-US" altLang="zh-CN" sz="2400" b="1" dirty="0">
                <a:ea typeface="宋体" panose="02010600030101010101" pitchFamily="2" charset="-122"/>
              </a:rPr>
              <a:t>4.61</a:t>
            </a:r>
            <a:r>
              <a:rPr lang="zh-CN" altLang="en-US" sz="2400" b="1" dirty="0">
                <a:ea typeface="宋体" panose="02010600030101010101" pitchFamily="2" charset="-122"/>
              </a:rPr>
              <a:t>文法（</a:t>
            </a:r>
            <a:r>
              <a:rPr lang="en-US" altLang="zh-CN" sz="2400" b="1" dirty="0">
                <a:ea typeface="宋体" panose="02010600030101010101" pitchFamily="2" charset="-122"/>
              </a:rPr>
              <a:t>PPT</a:t>
            </a:r>
            <a:r>
              <a:rPr lang="zh-CN" altLang="en-US" sz="2400" b="1" dirty="0">
                <a:ea typeface="宋体" panose="02010600030101010101" pitchFamily="2" charset="-122"/>
              </a:rPr>
              <a:t>第</a:t>
            </a:r>
            <a:r>
              <a:rPr lang="en-US" altLang="zh-CN" sz="2400" b="1" dirty="0">
                <a:ea typeface="宋体" panose="02010600030101010101" pitchFamily="2" charset="-122"/>
              </a:rPr>
              <a:t>134</a:t>
            </a:r>
            <a:r>
              <a:rPr lang="zh-CN" altLang="en-US" sz="2400" b="1" dirty="0">
                <a:ea typeface="宋体" panose="02010600030101010101" pitchFamily="2" charset="-122"/>
              </a:rPr>
              <a:t>页）的处理（续）</a:t>
            </a:r>
            <a:endParaRPr lang="en-US" altLang="zh-CN" sz="2400" b="1" dirty="0">
              <a:ea typeface="宋体" panose="02010600030101010101" pitchFamily="2" charset="-122"/>
            </a:endParaRPr>
          </a:p>
          <a:p>
            <a:pPr lvl="1">
              <a:lnSpc>
                <a:spcPct val="90000"/>
              </a:lnSpc>
            </a:pPr>
            <a:r>
              <a:rPr lang="zh-CN" altLang="en-US" sz="2000" b="1" dirty="0">
                <a:ea typeface="宋体" panose="02010600030101010101" pitchFamily="2" charset="-122"/>
              </a:rPr>
              <a:t>根据算法</a:t>
            </a:r>
            <a:r>
              <a:rPr lang="en-US" altLang="zh-CN" sz="2000" b="1" dirty="0">
                <a:ea typeface="宋体" panose="02010600030101010101" pitchFamily="2" charset="-122"/>
              </a:rPr>
              <a:t>4.62</a:t>
            </a:r>
            <a:r>
              <a:rPr lang="zh-CN" altLang="en-US" sz="2000" b="1" dirty="0">
                <a:ea typeface="宋体" panose="02010600030101010101" pitchFamily="2" charset="-122"/>
              </a:rPr>
              <a:t>得到的向前看符号的传播（图</a:t>
            </a:r>
            <a:r>
              <a:rPr lang="en-US" altLang="zh-CN" sz="2000" b="1" dirty="0">
                <a:ea typeface="宋体" panose="02010600030101010101" pitchFamily="2" charset="-122"/>
              </a:rPr>
              <a:t>4-46</a:t>
            </a:r>
            <a:r>
              <a:rPr lang="zh-CN" altLang="en-US" sz="2000" b="1" dirty="0">
                <a:ea typeface="宋体" panose="02010600030101010101" pitchFamily="2" charset="-122"/>
              </a:rPr>
              <a:t>）</a:t>
            </a:r>
            <a:endParaRPr lang="en-US" altLang="zh-CN" sz="2000" b="1" dirty="0">
              <a:ea typeface="宋体" panose="02010600030101010101" pitchFamily="2" charset="-122"/>
            </a:endParaRPr>
          </a:p>
        </p:txBody>
      </p:sp>
      <p:pic>
        <p:nvPicPr>
          <p:cNvPr id="285700" name="Picture 2"/>
          <p:cNvPicPr>
            <a:picLocks noChangeAspect="1"/>
          </p:cNvPicPr>
          <p:nvPr/>
        </p:nvPicPr>
        <p:blipFill>
          <a:blip r:embed="rId1"/>
          <a:stretch>
            <a:fillRect/>
          </a:stretch>
        </p:blipFill>
        <p:spPr>
          <a:xfrm>
            <a:off x="1752600" y="2133600"/>
            <a:ext cx="5394325" cy="4629150"/>
          </a:xfrm>
          <a:prstGeom prst="rect">
            <a:avLst/>
          </a:prstGeom>
          <a:noFill/>
          <a:ln w="9525">
            <a:noFill/>
          </a:ln>
        </p:spPr>
      </p:pic>
    </p:spTree>
  </p:cSld>
  <p:clrMapOvr>
    <a:masterClrMapping/>
  </p:clrMapOvr>
  <p:transition spd="slow"/>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7746"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LR</a:t>
            </a:r>
            <a:r>
              <a:rPr lang="zh-CN" altLang="en-US" dirty="0">
                <a:latin typeface="Times New Roman" panose="02020603050405020304" pitchFamily="18" charset="0"/>
                <a:ea typeface="宋体" panose="02010600030101010101" pitchFamily="2" charset="-122"/>
              </a:rPr>
              <a:t>分析器</a:t>
            </a:r>
            <a:r>
              <a:rPr lang="en-US" altLang="zh-CN" dirty="0">
                <a:latin typeface="Times New Roman" panose="02020603050405020304" pitchFamily="18" charset="0"/>
                <a:ea typeface="宋体" panose="02010600030101010101" pitchFamily="2" charset="-122"/>
              </a:rPr>
              <a:t>（49）</a:t>
            </a:r>
            <a:endParaRPr lang="zh-CN" altLang="en-US" dirty="0">
              <a:latin typeface="Times New Roman" panose="02020603050405020304" pitchFamily="18" charset="0"/>
              <a:ea typeface="宋体" panose="02010600030101010101" pitchFamily="2" charset="-122"/>
            </a:endParaRPr>
          </a:p>
        </p:txBody>
      </p:sp>
      <p:sp>
        <p:nvSpPr>
          <p:cNvPr id="287747" name="Rectangle 4"/>
          <p:cNvSpPr>
            <a:spLocks noGrp="1"/>
          </p:cNvSpPr>
          <p:nvPr>
            <p:ph idx="1"/>
          </p:nvPr>
        </p:nvSpPr>
        <p:spPr>
          <a:xfrm>
            <a:off x="468313" y="1371600"/>
            <a:ext cx="8280400"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对例</a:t>
            </a:r>
            <a:r>
              <a:rPr lang="en-US" altLang="zh-CN" sz="2400" b="1" dirty="0">
                <a:ea typeface="宋体" panose="02010600030101010101" pitchFamily="2" charset="-122"/>
              </a:rPr>
              <a:t>4.61</a:t>
            </a:r>
            <a:r>
              <a:rPr lang="zh-CN" altLang="en-US" sz="2400" b="1" dirty="0">
                <a:ea typeface="宋体" panose="02010600030101010101" pitchFamily="2" charset="-122"/>
              </a:rPr>
              <a:t>文法（</a:t>
            </a:r>
            <a:r>
              <a:rPr lang="en-US" altLang="zh-CN" sz="2400" b="1" dirty="0">
                <a:ea typeface="宋体" panose="02010600030101010101" pitchFamily="2" charset="-122"/>
              </a:rPr>
              <a:t>PPT</a:t>
            </a:r>
            <a:r>
              <a:rPr lang="zh-CN" altLang="en-US" sz="2400" b="1" dirty="0">
                <a:ea typeface="宋体" panose="02010600030101010101" pitchFamily="2" charset="-122"/>
              </a:rPr>
              <a:t>第</a:t>
            </a:r>
            <a:r>
              <a:rPr lang="en-US" altLang="zh-CN" sz="2400" b="1" dirty="0">
                <a:ea typeface="宋体" panose="02010600030101010101" pitchFamily="2" charset="-122"/>
              </a:rPr>
              <a:t>134</a:t>
            </a:r>
            <a:r>
              <a:rPr lang="zh-CN" altLang="en-US" sz="2400" b="1" dirty="0">
                <a:ea typeface="宋体" panose="02010600030101010101" pitchFamily="2" charset="-122"/>
              </a:rPr>
              <a:t>页）的处理（续）</a:t>
            </a:r>
            <a:endParaRPr lang="en-US" altLang="zh-CN" sz="2400" b="1" dirty="0">
              <a:ea typeface="宋体" panose="02010600030101010101" pitchFamily="2" charset="-122"/>
            </a:endParaRPr>
          </a:p>
          <a:p>
            <a:pPr lvl="1">
              <a:lnSpc>
                <a:spcPct val="90000"/>
              </a:lnSpc>
            </a:pPr>
            <a:r>
              <a:rPr lang="zh-CN" altLang="en-US" sz="2000" b="1" dirty="0">
                <a:ea typeface="宋体" panose="02010600030101010101" pitchFamily="2" charset="-122"/>
              </a:rPr>
              <a:t>根据算法</a:t>
            </a:r>
            <a:r>
              <a:rPr lang="en-US" altLang="zh-CN" sz="2000" b="1" dirty="0">
                <a:ea typeface="宋体" panose="02010600030101010101" pitchFamily="2" charset="-122"/>
              </a:rPr>
              <a:t>4.63</a:t>
            </a:r>
            <a:r>
              <a:rPr lang="zh-CN" altLang="en-US" sz="2000" b="1" dirty="0">
                <a:ea typeface="宋体" panose="02010600030101010101" pitchFamily="2" charset="-122"/>
              </a:rPr>
              <a:t>得到的向前看符号的计算流程结果</a:t>
            </a:r>
            <a:endParaRPr lang="en-US" altLang="zh-CN" sz="2000" b="1" dirty="0">
              <a:ea typeface="宋体" panose="02010600030101010101" pitchFamily="2" charset="-122"/>
            </a:endParaRPr>
          </a:p>
        </p:txBody>
      </p:sp>
      <p:pic>
        <p:nvPicPr>
          <p:cNvPr id="287748" name="Picture 2"/>
          <p:cNvPicPr>
            <a:picLocks noChangeAspect="1"/>
          </p:cNvPicPr>
          <p:nvPr/>
        </p:nvPicPr>
        <p:blipFill>
          <a:blip r:embed="rId1"/>
          <a:stretch>
            <a:fillRect/>
          </a:stretch>
        </p:blipFill>
        <p:spPr>
          <a:xfrm>
            <a:off x="1042988" y="2133600"/>
            <a:ext cx="6781800" cy="4724400"/>
          </a:xfrm>
          <a:prstGeom prst="rect">
            <a:avLst/>
          </a:prstGeom>
          <a:noFill/>
          <a:ln w="9525">
            <a:noFill/>
          </a:ln>
        </p:spPr>
      </p:pic>
    </p:spTree>
  </p:cSld>
  <p:clrMapOvr>
    <a:masterClrMapping/>
  </p:clrMapOvr>
  <p:transition spd="slow"/>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979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第四章 语法分析</a:t>
            </a:r>
            <a:endParaRPr lang="en-US" altLang="zh-CN" dirty="0">
              <a:latin typeface="宋体" panose="02010600030101010101" pitchFamily="2" charset="-122"/>
              <a:ea typeface="宋体" panose="02010600030101010101" pitchFamily="2" charset="-122"/>
            </a:endParaRPr>
          </a:p>
        </p:txBody>
      </p:sp>
      <p:sp>
        <p:nvSpPr>
          <p:cNvPr id="289795" name="Rectangle 3"/>
          <p:cNvSpPr>
            <a:spLocks noGrp="1"/>
          </p:cNvSpPr>
          <p:nvPr>
            <p:ph idx="1"/>
          </p:nvPr>
        </p:nvSpPr>
        <p:spPr>
          <a:xfrm>
            <a:off x="990600" y="1600200"/>
            <a:ext cx="7391400" cy="4191000"/>
          </a:xfrm>
        </p:spPr>
        <p:txBody>
          <a:bodyPr vert="horz" wrap="square" lIns="92075" tIns="46038" rIns="92075" bIns="46038" anchor="t" anchorCtr="0"/>
          <a:p>
            <a:r>
              <a:rPr lang="zh-CN" altLang="en-US" sz="3200" b="1" dirty="0">
                <a:ea typeface="宋体" panose="02010600030101010101" pitchFamily="2" charset="-122"/>
              </a:rPr>
              <a:t>引言</a:t>
            </a:r>
            <a:r>
              <a:rPr lang="en-US" altLang="zh-CN" sz="3200" b="1" dirty="0">
                <a:ea typeface="宋体" panose="02010600030101010101" pitchFamily="2" charset="-122"/>
              </a:rPr>
              <a:t>—</a:t>
            </a:r>
            <a:r>
              <a:rPr lang="zh-CN" altLang="en-US" sz="3200" b="1" dirty="0">
                <a:ea typeface="宋体" panose="02010600030101010101" pitchFamily="2" charset="-122"/>
              </a:rPr>
              <a:t>分析器的作用及错误处理等</a:t>
            </a:r>
            <a:endParaRPr lang="zh-CN" altLang="en-US" sz="3200" b="1" dirty="0">
              <a:ea typeface="宋体" panose="02010600030101010101" pitchFamily="2" charset="-122"/>
            </a:endParaRPr>
          </a:p>
          <a:p>
            <a:r>
              <a:rPr lang="zh-CN" altLang="en-US" sz="3200" b="1" dirty="0">
                <a:ea typeface="宋体" panose="02010600030101010101" pitchFamily="2" charset="-122"/>
              </a:rPr>
              <a:t>上下文无关文法的分析及改造</a:t>
            </a:r>
            <a:endParaRPr lang="zh-CN" altLang="en-US" sz="3200" b="1" dirty="0">
              <a:ea typeface="宋体" panose="02010600030101010101" pitchFamily="2" charset="-122"/>
            </a:endParaRPr>
          </a:p>
          <a:p>
            <a:r>
              <a:rPr lang="zh-CN" altLang="en-US" sz="3200" b="1" dirty="0">
                <a:ea typeface="宋体" panose="02010600030101010101" pitchFamily="2" charset="-122"/>
              </a:rPr>
              <a:t>自顶向下的分析</a:t>
            </a:r>
            <a:endParaRPr lang="zh-CN" altLang="en-US" sz="3200" b="1" dirty="0">
              <a:ea typeface="宋体" panose="02010600030101010101" pitchFamily="2" charset="-122"/>
            </a:endParaRPr>
          </a:p>
          <a:p>
            <a:r>
              <a:rPr lang="zh-CN" altLang="en-US" sz="3200" b="1" dirty="0">
                <a:ea typeface="宋体" panose="02010600030101010101" pitchFamily="2" charset="-122"/>
              </a:rPr>
              <a:t>自底向上的分析</a:t>
            </a:r>
            <a:endParaRPr lang="zh-CN" altLang="en-US" sz="3200" b="1" dirty="0">
              <a:ea typeface="宋体" panose="02010600030101010101" pitchFamily="2" charset="-122"/>
            </a:endParaRPr>
          </a:p>
          <a:p>
            <a:r>
              <a:rPr lang="en-US" altLang="zh-CN" sz="3200" b="1" dirty="0">
                <a:ea typeface="宋体" panose="02010600030101010101" pitchFamily="2" charset="-122"/>
              </a:rPr>
              <a:t>LR</a:t>
            </a:r>
            <a:r>
              <a:rPr lang="zh-CN" altLang="en-US" sz="3200" b="1" dirty="0">
                <a:ea typeface="宋体" panose="02010600030101010101" pitchFamily="2" charset="-122"/>
              </a:rPr>
              <a:t>分析器</a:t>
            </a:r>
            <a:endParaRPr lang="zh-CN" altLang="en-US" sz="3200" b="1" dirty="0">
              <a:ea typeface="宋体" panose="02010600030101010101" pitchFamily="2" charset="-122"/>
            </a:endParaRPr>
          </a:p>
          <a:p>
            <a:r>
              <a:rPr lang="zh-CN" altLang="en-US" sz="3200" b="1" dirty="0">
                <a:solidFill>
                  <a:srgbClr val="FF0000"/>
                </a:solidFill>
                <a:ea typeface="宋体" panose="02010600030101010101" pitchFamily="2" charset="-122"/>
              </a:rPr>
              <a:t>二义文法的应用和自底向上分析的错误处理</a:t>
            </a:r>
            <a:endParaRPr lang="en-US" altLang="zh-CN" sz="3200" b="1" dirty="0">
              <a:solidFill>
                <a:srgbClr val="FF0000"/>
              </a:solidFill>
              <a:ea typeface="宋体" panose="02010600030101010101" pitchFamily="2" charset="-122"/>
            </a:endParaRPr>
          </a:p>
          <a:p>
            <a:r>
              <a:rPr lang="zh-CN" altLang="en-US" sz="3200" b="1" dirty="0">
                <a:ea typeface="宋体" panose="02010600030101010101" pitchFamily="2" charset="-122"/>
              </a:rPr>
              <a:t>语法分析器生成工具</a:t>
            </a:r>
            <a:endParaRPr lang="zh-CN" altLang="en-US" b="1" dirty="0">
              <a:ea typeface="宋体" panose="02010600030101010101" pitchFamily="2" charset="-122"/>
            </a:endParaRPr>
          </a:p>
        </p:txBody>
      </p:sp>
    </p:spTree>
  </p:cSld>
  <p:clrMapOvr>
    <a:masterClrMapping/>
  </p:clrMapOvr>
  <p:transition spd="slow"/>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18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二义文法的应用</a:t>
            </a:r>
            <a:endParaRPr lang="zh-CN" altLang="en-US" dirty="0">
              <a:latin typeface="Times New Roman" panose="02020603050405020304" pitchFamily="18" charset="0"/>
              <a:ea typeface="宋体" panose="02010600030101010101" pitchFamily="2" charset="-122"/>
            </a:endParaRPr>
          </a:p>
        </p:txBody>
      </p:sp>
      <p:sp>
        <p:nvSpPr>
          <p:cNvPr id="273411" name="Rectangle 3"/>
          <p:cNvSpPr>
            <a:spLocks noGrp="1" noChangeArrowheads="1"/>
          </p:cNvSpPr>
          <p:nvPr>
            <p:ph idx="1"/>
          </p:nvPr>
        </p:nvSpPr>
        <p:spPr>
          <a:xfrm>
            <a:off x="539750" y="1371600"/>
            <a:ext cx="8208963" cy="4953000"/>
          </a:xfrm>
        </p:spPr>
        <p:txBody>
          <a:bodyPr vert="horz" wrap="square" lIns="92075" tIns="46038" rIns="92075" bIns="46038" numCol="1" anchor="t" anchorCtr="0" compatLnSpc="1"/>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二义性文法不是</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文法，但二义性文法在一些情况下的表示更为简单</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如果采用二义性文法，则在分析器中要给出所有二义性情况中消除二义性的规则</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分析中消除二义性的规则</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使用优先级和结合规则来解决分析动作的冲突</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如在表达式文法中，可以在分析器中明确规定*优先于</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，左结合等约定，从而消除二义性（参见后续</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Yacc</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的介绍）</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移进优先于归约的规则可以解决最长匹配问题如悬挂</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else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的问题</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保证</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else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总是与最接近的未配对的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if-then</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相组合</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特殊情况产生式引起的二义性，可能导致归约-归约冲突，可以规定此时按特殊情况产生式归约</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38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自底向上分析程序中的错误校正（1）</a:t>
            </a:r>
            <a:endParaRPr lang="zh-CN" altLang="en-US" dirty="0">
              <a:latin typeface="Times New Roman" panose="02020603050405020304" pitchFamily="18" charset="0"/>
              <a:ea typeface="宋体" panose="02010600030101010101" pitchFamily="2" charset="-122"/>
            </a:endParaRPr>
          </a:p>
        </p:txBody>
      </p:sp>
      <p:sp>
        <p:nvSpPr>
          <p:cNvPr id="293891" name="Rectangle 4"/>
          <p:cNvSpPr>
            <a:spLocks noGrp="1"/>
          </p:cNvSpPr>
          <p:nvPr>
            <p:ph idx="1"/>
          </p:nvPr>
        </p:nvSpPr>
        <p:spPr/>
        <p:txBody>
          <a:bodyPr vert="horz" wrap="square" lIns="92075" tIns="46038" rIns="92075" bIns="46038" anchor="t" anchorCtr="0"/>
          <a:p>
            <a:pPr>
              <a:lnSpc>
                <a:spcPct val="90000"/>
              </a:lnSpc>
            </a:pPr>
            <a:r>
              <a:rPr lang="zh-CN" altLang="en-US" sz="2200" b="1" dirty="0">
                <a:ea typeface="宋体" panose="02010600030101010101" pitchFamily="2" charset="-122"/>
              </a:rPr>
              <a:t>综述：</a:t>
            </a:r>
            <a:endParaRPr lang="zh-CN" altLang="en-US" sz="2200" b="1" dirty="0">
              <a:ea typeface="宋体" panose="02010600030101010101" pitchFamily="2" charset="-122"/>
            </a:endParaRPr>
          </a:p>
          <a:p>
            <a:pPr lvl="1">
              <a:lnSpc>
                <a:spcPct val="90000"/>
              </a:lnSpc>
            </a:pPr>
            <a:r>
              <a:rPr lang="zh-CN" altLang="en-US" sz="2000" b="1" dirty="0">
                <a:ea typeface="宋体" panose="02010600030101010101" pitchFamily="2" charset="-122"/>
              </a:rPr>
              <a:t>何时发现错误？</a:t>
            </a:r>
            <a:endParaRPr lang="zh-CN" altLang="en-US" sz="2000" b="1" dirty="0">
              <a:ea typeface="宋体" panose="02010600030101010101" pitchFamily="2" charset="-122"/>
            </a:endParaRPr>
          </a:p>
          <a:p>
            <a:pPr lvl="2">
              <a:lnSpc>
                <a:spcPct val="90000"/>
              </a:lnSpc>
            </a:pPr>
            <a:r>
              <a:rPr lang="zh-CN" altLang="en-US" sz="1800" b="1" dirty="0">
                <a:ea typeface="宋体" panose="02010600030101010101" pitchFamily="2" charset="-122"/>
              </a:rPr>
              <a:t>当分析表中检测到一个空白项（或错误项），表示发现了错误</a:t>
            </a:r>
            <a:endParaRPr lang="zh-CN" altLang="en-US" sz="1800" b="1" dirty="0">
              <a:ea typeface="宋体" panose="02010600030101010101" pitchFamily="2" charset="-122"/>
            </a:endParaRPr>
          </a:p>
          <a:p>
            <a:pPr lvl="2">
              <a:lnSpc>
                <a:spcPct val="90000"/>
              </a:lnSpc>
            </a:pPr>
            <a:r>
              <a:rPr lang="en-US" altLang="zh-CN" sz="1800" b="1" dirty="0">
                <a:ea typeface="宋体" panose="02010600030101010101" pitchFamily="2" charset="-122"/>
              </a:rPr>
              <a:t>LR</a:t>
            </a:r>
            <a:r>
              <a:rPr lang="zh-CN" altLang="en-US" sz="1800" b="1" dirty="0">
                <a:ea typeface="宋体" panose="02010600030101010101" pitchFamily="2" charset="-122"/>
              </a:rPr>
              <a:t>分析中访问转移表不会发现错误</a:t>
            </a:r>
            <a:endParaRPr lang="zh-CN" altLang="en-US" sz="1800" b="1" dirty="0">
              <a:ea typeface="宋体" panose="02010600030101010101" pitchFamily="2" charset="-122"/>
            </a:endParaRPr>
          </a:p>
          <a:p>
            <a:pPr lvl="1">
              <a:lnSpc>
                <a:spcPct val="90000"/>
              </a:lnSpc>
            </a:pPr>
            <a:r>
              <a:rPr lang="zh-CN" altLang="en-US" sz="2000" b="1" dirty="0">
                <a:ea typeface="宋体" panose="02010600030101010101" pitchFamily="2" charset="-122"/>
              </a:rPr>
              <a:t>如何更好地发现错误？</a:t>
            </a:r>
            <a:endParaRPr lang="zh-CN" altLang="en-US" sz="2000" b="1" dirty="0">
              <a:ea typeface="宋体" panose="02010600030101010101" pitchFamily="2" charset="-122"/>
            </a:endParaRPr>
          </a:p>
          <a:p>
            <a:pPr lvl="2">
              <a:lnSpc>
                <a:spcPct val="90000"/>
              </a:lnSpc>
            </a:pPr>
            <a:r>
              <a:rPr lang="zh-CN" altLang="en-US" sz="1800" b="1" dirty="0">
                <a:ea typeface="宋体" panose="02010600030101010101" pitchFamily="2" charset="-122"/>
              </a:rPr>
              <a:t>尽可能多的空白项可以使得分析程序尽可能早地发现错误，这样的错误信息更有意义，且是确定的</a:t>
            </a:r>
            <a:endParaRPr lang="zh-CN" altLang="en-US" sz="1800" b="1" dirty="0">
              <a:ea typeface="宋体" panose="02010600030101010101" pitchFamily="2" charset="-122"/>
            </a:endParaRPr>
          </a:p>
          <a:p>
            <a:pPr lvl="2">
              <a:lnSpc>
                <a:spcPct val="90000"/>
              </a:lnSpc>
            </a:pPr>
            <a:r>
              <a:rPr lang="zh-CN" altLang="en-US" sz="1800" b="1" dirty="0">
                <a:ea typeface="宋体" panose="02010600030101010101" pitchFamily="2" charset="-122"/>
              </a:rPr>
              <a:t>但过多的空白项使得分析表过于庞大（考虑</a:t>
            </a:r>
            <a:r>
              <a:rPr lang="en-US" altLang="zh-CN" sz="1800" b="1" dirty="0">
                <a:ea typeface="宋体" panose="02010600030101010101" pitchFamily="2" charset="-122"/>
              </a:rPr>
              <a:t>LALR</a:t>
            </a:r>
            <a:r>
              <a:rPr lang="zh-CN" altLang="en-US" sz="1800" b="1" dirty="0">
                <a:ea typeface="宋体" panose="02010600030101010101" pitchFamily="2" charset="-122"/>
              </a:rPr>
              <a:t>和</a:t>
            </a:r>
            <a:r>
              <a:rPr lang="en-US" altLang="zh-CN" sz="1800" b="1" dirty="0">
                <a:ea typeface="宋体" panose="02010600030101010101" pitchFamily="2" charset="-122"/>
              </a:rPr>
              <a:t>LR</a:t>
            </a:r>
            <a:r>
              <a:rPr lang="zh-CN" altLang="en-US" sz="1800" b="1" dirty="0">
                <a:ea typeface="宋体" panose="02010600030101010101" pitchFamily="2" charset="-122"/>
              </a:rPr>
              <a:t>分析），如果减少错误项，可能在报错前会有一些不必要的归约动作发生，使得报错不准确</a:t>
            </a:r>
            <a:endParaRPr lang="zh-CN" altLang="en-US" sz="1800" b="1" dirty="0">
              <a:ea typeface="宋体" panose="02010600030101010101" pitchFamily="2" charset="-122"/>
            </a:endParaRPr>
          </a:p>
          <a:p>
            <a:pPr lvl="2">
              <a:lnSpc>
                <a:spcPct val="90000"/>
              </a:lnSpc>
            </a:pPr>
            <a:r>
              <a:rPr lang="zh-CN" altLang="en-US" sz="1800" b="1" dirty="0">
                <a:ea typeface="宋体" panose="02010600030101010101" pitchFamily="2" charset="-122"/>
              </a:rPr>
              <a:t>特定的自底向上分析算法的能力会影响分析程序是否可以更早地检测错误的能力，如</a:t>
            </a:r>
            <a:r>
              <a:rPr lang="en-US" altLang="zh-CN" sz="1800" b="1" dirty="0">
                <a:ea typeface="宋体" panose="02010600030101010101" pitchFamily="2" charset="-122"/>
              </a:rPr>
              <a:t>LR(0)、SLR(1)、 LALR(1) 、 LR(1) </a:t>
            </a:r>
            <a:r>
              <a:rPr lang="zh-CN" altLang="en-US" sz="1800" b="1" dirty="0">
                <a:ea typeface="宋体" panose="02010600030101010101" pitchFamily="2" charset="-122"/>
              </a:rPr>
              <a:t>等的检错能力不一样</a:t>
            </a:r>
            <a:endParaRPr lang="zh-CN" altLang="en-US" sz="1800" b="1" dirty="0">
              <a:ea typeface="宋体" panose="02010600030101010101" pitchFamily="2" charset="-122"/>
            </a:endParaRPr>
          </a:p>
          <a:p>
            <a:pPr lvl="2">
              <a:lnSpc>
                <a:spcPct val="90000"/>
              </a:lnSpc>
            </a:pPr>
            <a:r>
              <a:rPr lang="zh-CN" altLang="en-US" sz="1800" b="1" dirty="0">
                <a:ea typeface="宋体" panose="02010600030101010101" pitchFamily="2" charset="-122"/>
              </a:rPr>
              <a:t>由于分析算法的不同，错误被延后报告时，虽然可能会引入一些无用的归约动作，但是不会移进错误的符号</a:t>
            </a:r>
            <a:endParaRPr lang="zh-CN" altLang="en-US" sz="1800" b="1" dirty="0">
              <a:ea typeface="宋体" panose="02010600030101010101" pitchFamily="2" charset="-122"/>
            </a:endParaRPr>
          </a:p>
        </p:txBody>
      </p:sp>
    </p:spTree>
  </p:cSld>
  <p:clrMapOvr>
    <a:masterClrMapping/>
  </p:clrMapOvr>
  <p:transition spd="slow"/>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59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自底向上分析程序中的错误纠正（2）</a:t>
            </a:r>
            <a:endParaRPr lang="zh-CN" altLang="en-US" dirty="0">
              <a:latin typeface="Times New Roman" panose="02020603050405020304" pitchFamily="18" charset="0"/>
              <a:ea typeface="宋体" panose="02010600030101010101" pitchFamily="2" charset="-122"/>
            </a:endParaRPr>
          </a:p>
        </p:txBody>
      </p:sp>
      <p:sp>
        <p:nvSpPr>
          <p:cNvPr id="295939" name="Rectangle 3"/>
          <p:cNvSpPr>
            <a:spLocks noGrp="1"/>
          </p:cNvSpPr>
          <p:nvPr>
            <p:ph idx="1"/>
          </p:nvPr>
        </p:nvSpPr>
        <p:spPr/>
        <p:txBody>
          <a:bodyPr vert="horz" wrap="square" lIns="92075" tIns="46038" rIns="92075" bIns="46038" anchor="t" anchorCtr="0"/>
          <a:p>
            <a:pPr marL="419100" indent="-419100"/>
            <a:r>
              <a:rPr lang="zh-CN" altLang="en-US" sz="2400" b="1" dirty="0">
                <a:ea typeface="宋体" panose="02010600030101010101" pitchFamily="2" charset="-122"/>
              </a:rPr>
              <a:t>错误的纠正：</a:t>
            </a:r>
            <a:endParaRPr lang="zh-CN" altLang="en-US" sz="2400" b="1" dirty="0">
              <a:ea typeface="宋体" panose="02010600030101010101" pitchFamily="2" charset="-122"/>
            </a:endParaRPr>
          </a:p>
          <a:p>
            <a:pPr marL="838200" lvl="1" indent="-381000"/>
            <a:r>
              <a:rPr lang="zh-CN" altLang="en-US" sz="2000" b="1" dirty="0">
                <a:ea typeface="宋体" panose="02010600030101010101" pitchFamily="2" charset="-122"/>
              </a:rPr>
              <a:t>紧急方式：</a:t>
            </a:r>
            <a:r>
              <a:rPr lang="en-US" altLang="zh-CN" sz="2000" b="1" dirty="0">
                <a:ea typeface="宋体" panose="02010600030101010101" pitchFamily="2" charset="-122"/>
              </a:rPr>
              <a:t>LR</a:t>
            </a:r>
            <a:r>
              <a:rPr lang="zh-CN" altLang="en-US" sz="2000" b="1" dirty="0">
                <a:ea typeface="宋体" panose="02010600030101010101" pitchFamily="2" charset="-122"/>
              </a:rPr>
              <a:t>分析为例，试图分离含错误的语法短语</a:t>
            </a:r>
            <a:endParaRPr lang="zh-CN" altLang="en-US" sz="2000" b="1" dirty="0">
              <a:ea typeface="宋体" panose="02010600030101010101" pitchFamily="2" charset="-122"/>
            </a:endParaRPr>
          </a:p>
          <a:p>
            <a:pPr marL="1295400" lvl="2" indent="-381000">
              <a:buSzTx/>
              <a:buFont typeface="Wingdings" panose="05000000000000000000" pitchFamily="2" charset="2"/>
              <a:buAutoNum type="arabicParenR"/>
            </a:pPr>
            <a:r>
              <a:rPr lang="zh-CN" altLang="en-US" sz="2000" b="1" dirty="0">
                <a:ea typeface="宋体" panose="02010600030101010101" pitchFamily="2" charset="-122"/>
              </a:rPr>
              <a:t>从栈顶开始退栈，直至出现状态</a:t>
            </a:r>
            <a:r>
              <a:rPr lang="en-US" altLang="zh-CN" sz="2000" b="1" dirty="0">
                <a:ea typeface="宋体" panose="02010600030101010101" pitchFamily="2" charset="-122"/>
              </a:rPr>
              <a:t>s</a:t>
            </a:r>
            <a:r>
              <a:rPr lang="zh-CN" altLang="en-US" sz="2000" b="1" dirty="0">
                <a:ea typeface="宋体" panose="02010600030101010101" pitchFamily="2" charset="-122"/>
              </a:rPr>
              <a:t>为止，它有选定的非终结符</a:t>
            </a:r>
            <a:r>
              <a:rPr lang="en-US" altLang="zh-CN" sz="2000" b="1" dirty="0">
                <a:ea typeface="宋体" panose="02010600030101010101" pitchFamily="2" charset="-122"/>
              </a:rPr>
              <a:t>A</a:t>
            </a:r>
            <a:r>
              <a:rPr lang="zh-CN" altLang="en-US" sz="2000" b="1" dirty="0">
                <a:ea typeface="宋体" panose="02010600030101010101" pitchFamily="2" charset="-122"/>
              </a:rPr>
              <a:t>的转移；</a:t>
            </a:r>
            <a:endParaRPr lang="zh-CN" altLang="en-US" sz="2000" b="1" dirty="0">
              <a:ea typeface="宋体" panose="02010600030101010101" pitchFamily="2" charset="-122"/>
            </a:endParaRPr>
          </a:p>
          <a:p>
            <a:pPr marL="1295400" lvl="2" indent="-381000">
              <a:buSzTx/>
              <a:buFont typeface="Wingdings" panose="05000000000000000000" pitchFamily="2" charset="2"/>
              <a:buAutoNum type="arabicParenR"/>
            </a:pPr>
            <a:r>
              <a:rPr lang="zh-CN" altLang="en-US" sz="2000" b="1" dirty="0">
                <a:ea typeface="宋体" panose="02010600030101010101" pitchFamily="2" charset="-122"/>
              </a:rPr>
              <a:t>抛弃0个或多个输入符号，直至找到符号</a:t>
            </a:r>
            <a:r>
              <a:rPr lang="en-US" altLang="zh-CN" sz="2000" b="1" dirty="0">
                <a:ea typeface="宋体" panose="02010600030101010101" pitchFamily="2" charset="-122"/>
              </a:rPr>
              <a:t>a</a:t>
            </a:r>
            <a:r>
              <a:rPr lang="zh-CN" altLang="en-US" sz="2000" b="1" dirty="0">
                <a:ea typeface="宋体" panose="02010600030101010101" pitchFamily="2" charset="-122"/>
              </a:rPr>
              <a:t>为止，它能合法地跟随</a:t>
            </a:r>
            <a:r>
              <a:rPr lang="en-US" altLang="zh-CN" sz="2000" b="1" dirty="0">
                <a:ea typeface="宋体" panose="02010600030101010101" pitchFamily="2" charset="-122"/>
              </a:rPr>
              <a:t>A（A</a:t>
            </a:r>
            <a:r>
              <a:rPr lang="zh-CN" altLang="en-US" sz="2000" b="1" dirty="0">
                <a:ea typeface="宋体" panose="02010600030101010101" pitchFamily="2" charset="-122"/>
              </a:rPr>
              <a:t>的选择可能是不唯一的，通常表示较大的程序结构的非终结符，如表达式、语句或程序块等）；</a:t>
            </a:r>
            <a:endParaRPr lang="zh-CN" altLang="en-US" sz="2000" b="1" dirty="0">
              <a:ea typeface="宋体" panose="02010600030101010101" pitchFamily="2" charset="-122"/>
            </a:endParaRPr>
          </a:p>
          <a:p>
            <a:pPr marL="1295400" lvl="2" indent="-381000">
              <a:buSzTx/>
              <a:buFont typeface="Wingdings" panose="05000000000000000000" pitchFamily="2" charset="2"/>
              <a:buAutoNum type="arabicParenR"/>
            </a:pPr>
            <a:r>
              <a:rPr lang="zh-CN" altLang="en-US" sz="2000" b="1" dirty="0">
                <a:ea typeface="宋体" panose="02010600030101010101" pitchFamily="2" charset="-122"/>
              </a:rPr>
              <a:t>分析器再把状态</a:t>
            </a:r>
            <a:r>
              <a:rPr lang="en-US" altLang="zh-CN" sz="2000" b="1" dirty="0">
                <a:ea typeface="宋体" panose="02010600030101010101" pitchFamily="2" charset="-122"/>
              </a:rPr>
              <a:t>GOTO[s , A]</a:t>
            </a:r>
            <a:r>
              <a:rPr lang="zh-CN" altLang="en-US" sz="2000" b="1" dirty="0">
                <a:ea typeface="宋体" panose="02010600030101010101" pitchFamily="2" charset="-122"/>
              </a:rPr>
              <a:t>压进栈，恢复正常分析</a:t>
            </a:r>
            <a:endParaRPr lang="zh-CN" altLang="en-US" sz="2000" b="1" dirty="0">
              <a:ea typeface="宋体" panose="02010600030101010101" pitchFamily="2" charset="-122"/>
            </a:endParaRPr>
          </a:p>
          <a:p>
            <a:pPr marL="838200" lvl="1" indent="-381000"/>
            <a:r>
              <a:rPr lang="zh-CN" altLang="en-US" sz="2000" b="1" dirty="0">
                <a:ea typeface="宋体" panose="02010600030101010101" pitchFamily="2" charset="-122"/>
              </a:rPr>
              <a:t>短语级恢复</a:t>
            </a:r>
            <a:endParaRPr lang="zh-CN" altLang="en-US" sz="2000" b="1" dirty="0">
              <a:ea typeface="宋体" panose="02010600030101010101" pitchFamily="2" charset="-122"/>
            </a:endParaRPr>
          </a:p>
          <a:p>
            <a:pPr marL="1295400" lvl="2" indent="-381000">
              <a:buFont typeface="Wingdings" panose="05000000000000000000" pitchFamily="2" charset="2"/>
              <a:buChar char="§"/>
            </a:pPr>
            <a:r>
              <a:rPr lang="zh-CN" altLang="en-US" sz="2000" b="1" dirty="0">
                <a:ea typeface="宋体" panose="02010600030101010101" pitchFamily="2" charset="-122"/>
              </a:rPr>
              <a:t>考察</a:t>
            </a:r>
            <a:r>
              <a:rPr lang="en-US" altLang="zh-CN" sz="2000" b="1" dirty="0">
                <a:ea typeface="宋体" panose="02010600030101010101" pitchFamily="2" charset="-122"/>
              </a:rPr>
              <a:t>LR</a:t>
            </a:r>
            <a:r>
              <a:rPr lang="zh-CN" altLang="en-US" sz="2000" b="1" dirty="0">
                <a:ea typeface="宋体" panose="02010600030101010101" pitchFamily="2" charset="-122"/>
              </a:rPr>
              <a:t>分析表的每个出错条目和根据语言的使用情况决定可能引起该条目的输入错误，然后为该条目编一个适当的错误恢复例程</a:t>
            </a:r>
            <a:endParaRPr lang="zh-CN" altLang="en-US" sz="2000" b="1" dirty="0">
              <a:ea typeface="宋体" panose="02010600030101010101" pitchFamily="2" charset="-122"/>
            </a:endParaRPr>
          </a:p>
        </p:txBody>
      </p:sp>
    </p:spTree>
  </p:cSld>
  <p:clrMapOvr>
    <a:masterClrMapping/>
  </p:clrMapOvr>
  <p:transition spd="slow"/>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79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自底向上分析程序中的错误纠正（3）</a:t>
            </a:r>
            <a:endParaRPr lang="zh-CN" altLang="en-US" dirty="0">
              <a:latin typeface="Times New Roman" panose="02020603050405020304" pitchFamily="18" charset="0"/>
              <a:ea typeface="宋体" panose="02010600030101010101" pitchFamily="2" charset="-122"/>
            </a:endParaRPr>
          </a:p>
        </p:txBody>
      </p:sp>
      <p:sp>
        <p:nvSpPr>
          <p:cNvPr id="297987" name="Rectangle 3"/>
          <p:cNvSpPr>
            <a:spLocks noGrp="1"/>
          </p:cNvSpPr>
          <p:nvPr>
            <p:ph idx="1"/>
          </p:nvPr>
        </p:nvSpPr>
        <p:spPr/>
        <p:txBody>
          <a:bodyPr vert="horz" wrap="square" lIns="92075" tIns="46038" rIns="92075" bIns="46038" anchor="t" anchorCtr="0"/>
          <a:p>
            <a:pPr marL="419100" indent="-419100">
              <a:spcBef>
                <a:spcPct val="0"/>
              </a:spcBef>
              <a:buClrTx/>
              <a:buSzTx/>
              <a:buNone/>
            </a:pPr>
            <a:r>
              <a:rPr lang="zh-CN" altLang="en-US" sz="2000" b="1" dirty="0">
                <a:ea typeface="宋体" panose="02010600030101010101" pitchFamily="2" charset="-122"/>
              </a:rPr>
              <a:t>例5：考虑文法：</a:t>
            </a:r>
            <a:r>
              <a:rPr lang="en-US" altLang="zh-CN" sz="2000" b="1" dirty="0">
                <a:ea typeface="宋体" panose="02010600030101010101" pitchFamily="2" charset="-122"/>
              </a:rPr>
              <a:t>E→E+E | E*E | (E) | id</a:t>
            </a:r>
            <a:endParaRPr lang="en-US" altLang="zh-CN" sz="2000" b="1" dirty="0">
              <a:ea typeface="宋体" panose="02010600030101010101" pitchFamily="2" charset="-122"/>
            </a:endParaRPr>
          </a:p>
        </p:txBody>
      </p:sp>
      <p:graphicFrame>
        <p:nvGraphicFramePr>
          <p:cNvPr id="297988" name="Object 4"/>
          <p:cNvGraphicFramePr>
            <a:graphicFrameLocks noChangeAspect="1"/>
          </p:cNvGraphicFramePr>
          <p:nvPr/>
        </p:nvGraphicFramePr>
        <p:xfrm>
          <a:off x="1981200" y="2133600"/>
          <a:ext cx="4745038" cy="3840163"/>
        </p:xfrm>
        <a:graphic>
          <a:graphicData uri="http://schemas.openxmlformats.org/presentationml/2006/ole">
            <mc:AlternateContent xmlns:mc="http://schemas.openxmlformats.org/markup-compatibility/2006">
              <mc:Choice xmlns:v="urn:schemas-microsoft-com:vml" Requires="v">
                <p:oleObj spid="_x0000_s3132" name="" r:id="rId1" imgW="4736465" imgH="3846830" progId="Visio.Drawing.6">
                  <p:embed/>
                </p:oleObj>
              </mc:Choice>
              <mc:Fallback>
                <p:oleObj name="" r:id="rId1" imgW="4736465" imgH="3846830" progId="Visio.Drawing.6">
                  <p:embed/>
                  <p:pic>
                    <p:nvPicPr>
                      <p:cNvPr id="0" name="图片 3131"/>
                      <p:cNvPicPr/>
                      <p:nvPr/>
                    </p:nvPicPr>
                    <p:blipFill>
                      <a:blip r:embed="rId2"/>
                      <a:stretch>
                        <a:fillRect/>
                      </a:stretch>
                    </p:blipFill>
                    <p:spPr>
                      <a:xfrm>
                        <a:off x="1981200" y="2133600"/>
                        <a:ext cx="4745038" cy="3840163"/>
                      </a:xfrm>
                      <a:prstGeom prst="rect">
                        <a:avLst/>
                      </a:prstGeom>
                      <a:noFill/>
                      <a:ln w="38100">
                        <a:noFill/>
                        <a:miter/>
                      </a:ln>
                    </p:spPr>
                  </p:pic>
                </p:oleObj>
              </mc:Fallback>
            </mc:AlternateContent>
          </a:graphicData>
        </a:graphic>
      </p:graphicFrame>
    </p:spTree>
  </p:cSld>
  <p:clrMapOvr>
    <a:masterClrMapping/>
  </p:clrMapOvr>
  <p:transition spd="slow"/>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00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自底向上分析程序中的错误纠正（3）</a:t>
            </a:r>
            <a:endParaRPr lang="zh-CN" altLang="en-US" dirty="0">
              <a:latin typeface="Times New Roman" panose="02020603050405020304" pitchFamily="18" charset="0"/>
              <a:ea typeface="宋体" panose="02010600030101010101" pitchFamily="2" charset="-122"/>
            </a:endParaRPr>
          </a:p>
        </p:txBody>
      </p:sp>
      <p:sp>
        <p:nvSpPr>
          <p:cNvPr id="300035" name="Rectangle 3"/>
          <p:cNvSpPr>
            <a:spLocks noGrp="1"/>
          </p:cNvSpPr>
          <p:nvPr>
            <p:ph idx="1"/>
          </p:nvPr>
        </p:nvSpPr>
        <p:spPr/>
        <p:txBody>
          <a:bodyPr vert="horz" wrap="square" lIns="92075" tIns="46038" rIns="92075" bIns="46038" anchor="t" anchorCtr="0"/>
          <a:p>
            <a:pPr marL="419100" indent="-419100">
              <a:lnSpc>
                <a:spcPct val="90000"/>
              </a:lnSpc>
              <a:buNone/>
            </a:pPr>
            <a:r>
              <a:rPr lang="zh-CN" altLang="en-US" sz="2000" b="1" dirty="0">
                <a:ea typeface="宋体" panose="02010600030101010101" pitchFamily="2" charset="-122"/>
              </a:rPr>
              <a:t>	这个例子中错误的纠正仍然可能会有一些多余的归约（因为将一些出错项目改为了归约），出错例程：</a:t>
            </a:r>
            <a:endParaRPr lang="zh-CN" altLang="en-US" sz="2000" b="1" dirty="0">
              <a:ea typeface="宋体" panose="02010600030101010101" pitchFamily="2" charset="-122"/>
            </a:endParaRPr>
          </a:p>
          <a:p>
            <a:pPr marL="419100" indent="-419100">
              <a:lnSpc>
                <a:spcPct val="90000"/>
              </a:lnSpc>
              <a:buNone/>
            </a:pPr>
            <a:r>
              <a:rPr lang="zh-CN" altLang="en-US" sz="1800" b="1" dirty="0">
                <a:ea typeface="宋体" panose="02010600030101010101" pitchFamily="2" charset="-122"/>
              </a:rPr>
              <a:t>		</a:t>
            </a:r>
            <a:r>
              <a:rPr lang="en-US" altLang="zh-CN" sz="1800" b="1" dirty="0">
                <a:ea typeface="宋体" panose="02010600030101010101" pitchFamily="2" charset="-122"/>
              </a:rPr>
              <a:t>e1: /*</a:t>
            </a:r>
            <a:r>
              <a:rPr lang="zh-CN" altLang="en-US" sz="1800" b="1" dirty="0">
                <a:ea typeface="宋体" panose="02010600030101010101" pitchFamily="2" charset="-122"/>
              </a:rPr>
              <a:t>状态0,2,4,5要求输入符号为运算对象首字符，即</a:t>
            </a:r>
            <a:r>
              <a:rPr lang="en-US" altLang="zh-CN" sz="1800" b="1" dirty="0">
                <a:ea typeface="宋体" panose="02010600030101010101" pitchFamily="2" charset="-122"/>
              </a:rPr>
              <a:t>id</a:t>
            </a:r>
            <a:r>
              <a:rPr lang="zh-CN" altLang="en-US" sz="1800" b="1" dirty="0">
                <a:ea typeface="宋体" panose="02010600030101010101" pitchFamily="2" charset="-122"/>
              </a:rPr>
              <a:t>或(，遇		         到+、*或$时调用本例程*/</a:t>
            </a:r>
            <a:endParaRPr lang="zh-CN" altLang="en-US" sz="1800" b="1" dirty="0">
              <a:ea typeface="宋体" panose="02010600030101010101" pitchFamily="2" charset="-122"/>
            </a:endParaRPr>
          </a:p>
          <a:p>
            <a:pPr marL="419100" indent="-419100">
              <a:lnSpc>
                <a:spcPct val="90000"/>
              </a:lnSpc>
              <a:buNone/>
            </a:pPr>
            <a:r>
              <a:rPr lang="zh-CN" altLang="en-US" sz="1800" b="1" dirty="0">
                <a:ea typeface="宋体" panose="02010600030101010101" pitchFamily="2" charset="-122"/>
              </a:rPr>
              <a:t>		      将状态</a:t>
            </a:r>
            <a:r>
              <a:rPr lang="en-US" altLang="zh-CN" sz="1800" b="1" dirty="0">
                <a:ea typeface="宋体" panose="02010600030101010101" pitchFamily="2" charset="-122"/>
              </a:rPr>
              <a:t>3</a:t>
            </a:r>
            <a:r>
              <a:rPr lang="zh-CN" altLang="en-US" sz="1800" b="1" dirty="0">
                <a:ea typeface="宋体" panose="02010600030101010101" pitchFamily="2" charset="-122"/>
              </a:rPr>
              <a:t>（</a:t>
            </a:r>
            <a:r>
              <a:rPr lang="en-US" altLang="zh-CN" sz="1800" b="1" dirty="0">
                <a:ea typeface="宋体" panose="02010600030101010101" pitchFamily="2" charset="-122"/>
              </a:rPr>
              <a:t>0,2,4,5</a:t>
            </a:r>
            <a:r>
              <a:rPr lang="zh-CN" altLang="en-US" sz="1800" b="1" dirty="0">
                <a:ea typeface="宋体" panose="02010600030101010101" pitchFamily="2" charset="-122"/>
              </a:rPr>
              <a:t>状态在输入</a:t>
            </a:r>
            <a:r>
              <a:rPr lang="en-US" altLang="zh-CN" sz="1800" b="1" dirty="0">
                <a:ea typeface="宋体" panose="02010600030101010101" pitchFamily="2" charset="-122"/>
              </a:rPr>
              <a:t>id</a:t>
            </a:r>
            <a:r>
              <a:rPr lang="zh-CN" altLang="en-US" sz="1800" b="1" dirty="0">
                <a:ea typeface="宋体" panose="02010600030101010101" pitchFamily="2" charset="-122"/>
              </a:rPr>
              <a:t>上的</a:t>
            </a:r>
            <a:r>
              <a:rPr lang="en-US" altLang="zh-CN" sz="1800" b="1" dirty="0">
                <a:ea typeface="宋体" panose="02010600030101010101" pitchFamily="2" charset="-122"/>
              </a:rPr>
              <a:t>GOTO</a:t>
            </a:r>
            <a:r>
              <a:rPr lang="zh-CN" altLang="en-US" sz="1800" b="1" dirty="0">
                <a:ea typeface="宋体" panose="02010600030101010101" pitchFamily="2" charset="-122"/>
              </a:rPr>
              <a:t>目标）压入栈</a:t>
            </a:r>
            <a:endParaRPr lang="zh-CN" altLang="en-US" sz="1800" b="1" dirty="0">
              <a:ea typeface="宋体" panose="02010600030101010101" pitchFamily="2" charset="-122"/>
            </a:endParaRPr>
          </a:p>
          <a:p>
            <a:pPr marL="419100" indent="-419100">
              <a:lnSpc>
                <a:spcPct val="90000"/>
              </a:lnSpc>
              <a:buNone/>
            </a:pPr>
            <a:r>
              <a:rPr lang="zh-CN" altLang="en-US" sz="1800" b="1" dirty="0">
                <a:ea typeface="宋体" panose="02010600030101010101" pitchFamily="2" charset="-122"/>
              </a:rPr>
              <a:t>		      给出诊断信息“缺少运算对象”</a:t>
            </a:r>
            <a:endParaRPr lang="zh-CN" altLang="en-US" sz="1800" b="1" dirty="0">
              <a:ea typeface="宋体" panose="02010600030101010101" pitchFamily="2" charset="-122"/>
            </a:endParaRPr>
          </a:p>
          <a:p>
            <a:pPr marL="419100" indent="-419100">
              <a:lnSpc>
                <a:spcPct val="90000"/>
              </a:lnSpc>
              <a:buNone/>
            </a:pPr>
            <a:r>
              <a:rPr lang="zh-CN" altLang="en-US" sz="1800" b="1" dirty="0">
                <a:ea typeface="宋体" panose="02010600030101010101" pitchFamily="2" charset="-122"/>
              </a:rPr>
              <a:t>		</a:t>
            </a:r>
            <a:r>
              <a:rPr lang="en-US" altLang="zh-CN" sz="1800" b="1" dirty="0">
                <a:ea typeface="宋体" panose="02010600030101010101" pitchFamily="2" charset="-122"/>
              </a:rPr>
              <a:t>e2: /*</a:t>
            </a:r>
            <a:r>
              <a:rPr lang="zh-CN" altLang="en-US" sz="1800" b="1" dirty="0">
                <a:ea typeface="宋体" panose="02010600030101010101" pitchFamily="2" charset="-122"/>
              </a:rPr>
              <a:t>状态0,1,2,4,5遇到) 时调用本例程*/</a:t>
            </a:r>
            <a:endParaRPr lang="zh-CN" altLang="en-US" sz="1800" b="1" dirty="0">
              <a:ea typeface="宋体" panose="02010600030101010101" pitchFamily="2" charset="-122"/>
            </a:endParaRPr>
          </a:p>
          <a:p>
            <a:pPr marL="419100" indent="-419100">
              <a:lnSpc>
                <a:spcPct val="90000"/>
              </a:lnSpc>
              <a:buNone/>
            </a:pPr>
            <a:r>
              <a:rPr lang="zh-CN" altLang="en-US" sz="1800" b="1" dirty="0">
                <a:ea typeface="宋体" panose="02010600030101010101" pitchFamily="2" charset="-122"/>
              </a:rPr>
              <a:t>		      删除输入中的)</a:t>
            </a:r>
            <a:endParaRPr lang="zh-CN" altLang="en-US" sz="1800" b="1" dirty="0">
              <a:ea typeface="宋体" panose="02010600030101010101" pitchFamily="2" charset="-122"/>
            </a:endParaRPr>
          </a:p>
          <a:p>
            <a:pPr marL="419100" indent="-419100">
              <a:lnSpc>
                <a:spcPct val="90000"/>
              </a:lnSpc>
              <a:buNone/>
            </a:pPr>
            <a:r>
              <a:rPr lang="zh-CN" altLang="en-US" sz="1800" b="1" dirty="0">
                <a:ea typeface="宋体" panose="02010600030101010101" pitchFamily="2" charset="-122"/>
              </a:rPr>
              <a:t>		      给出诊断信息“不配对的右括号”</a:t>
            </a:r>
            <a:endParaRPr lang="zh-CN" altLang="en-US" sz="1800" b="1" dirty="0">
              <a:ea typeface="宋体" panose="02010600030101010101" pitchFamily="2" charset="-122"/>
            </a:endParaRPr>
          </a:p>
          <a:p>
            <a:pPr marL="419100" indent="-419100">
              <a:lnSpc>
                <a:spcPct val="90000"/>
              </a:lnSpc>
              <a:buNone/>
            </a:pPr>
            <a:r>
              <a:rPr lang="zh-CN" altLang="en-US" sz="1800" b="1" dirty="0">
                <a:ea typeface="宋体" panose="02010600030101010101" pitchFamily="2" charset="-122"/>
              </a:rPr>
              <a:t>		</a:t>
            </a:r>
            <a:r>
              <a:rPr lang="en-US" altLang="zh-CN" sz="1800" b="1" dirty="0">
                <a:ea typeface="宋体" panose="02010600030101010101" pitchFamily="2" charset="-122"/>
              </a:rPr>
              <a:t>e3: /*</a:t>
            </a:r>
            <a:r>
              <a:rPr lang="zh-CN" altLang="en-US" sz="1800" b="1" dirty="0">
                <a:ea typeface="宋体" panose="02010600030101010101" pitchFamily="2" charset="-122"/>
              </a:rPr>
              <a:t>状态1,6要求输入符号为运算符，遇到</a:t>
            </a:r>
            <a:r>
              <a:rPr lang="en-US" altLang="zh-CN" sz="1800" b="1" dirty="0">
                <a:ea typeface="宋体" panose="02010600030101010101" pitchFamily="2" charset="-122"/>
              </a:rPr>
              <a:t>id</a:t>
            </a:r>
            <a:r>
              <a:rPr lang="zh-CN" altLang="en-US" sz="1800" b="1" dirty="0">
                <a:ea typeface="宋体" panose="02010600030101010101" pitchFamily="2" charset="-122"/>
              </a:rPr>
              <a:t>或)时调用本例程*/</a:t>
            </a:r>
            <a:endParaRPr lang="zh-CN" altLang="en-US" sz="1800" b="1" dirty="0">
              <a:ea typeface="宋体" panose="02010600030101010101" pitchFamily="2" charset="-122"/>
            </a:endParaRPr>
          </a:p>
          <a:p>
            <a:pPr marL="419100" indent="-419100">
              <a:lnSpc>
                <a:spcPct val="90000"/>
              </a:lnSpc>
              <a:buNone/>
            </a:pPr>
            <a:r>
              <a:rPr lang="zh-CN" altLang="en-US" sz="1800" b="1" dirty="0">
                <a:ea typeface="宋体" panose="02010600030101010101" pitchFamily="2" charset="-122"/>
              </a:rPr>
              <a:t>		      把状态4（“</a:t>
            </a:r>
            <a:r>
              <a:rPr lang="en-US" altLang="zh-CN" sz="1800" b="1" dirty="0">
                <a:ea typeface="宋体" panose="02010600030101010101" pitchFamily="2" charset="-122"/>
              </a:rPr>
              <a:t>+</a:t>
            </a:r>
            <a:r>
              <a:rPr lang="zh-CN" altLang="en-US" sz="1800" b="1" dirty="0">
                <a:ea typeface="宋体" panose="02010600030101010101" pitchFamily="2" charset="-122"/>
              </a:rPr>
              <a:t> ”对应的状态）压入栈</a:t>
            </a:r>
            <a:endParaRPr lang="zh-CN" altLang="en-US" sz="1800" b="1" dirty="0">
              <a:ea typeface="宋体" panose="02010600030101010101" pitchFamily="2" charset="-122"/>
            </a:endParaRPr>
          </a:p>
          <a:p>
            <a:pPr marL="419100" indent="-419100">
              <a:lnSpc>
                <a:spcPct val="90000"/>
              </a:lnSpc>
              <a:buNone/>
            </a:pPr>
            <a:r>
              <a:rPr lang="zh-CN" altLang="en-US" sz="1800" b="1" dirty="0">
                <a:ea typeface="宋体" panose="02010600030101010101" pitchFamily="2" charset="-122"/>
              </a:rPr>
              <a:t>		      给出诊断信息“缺少运算符</a:t>
            </a:r>
            <a:r>
              <a:rPr lang="en-US" altLang="zh-CN" sz="1800" b="1" dirty="0">
                <a:ea typeface="宋体" panose="02010600030101010101" pitchFamily="2" charset="-122"/>
              </a:rPr>
              <a:t>”</a:t>
            </a:r>
            <a:endParaRPr lang="en-US" altLang="zh-CN" sz="1800" b="1" dirty="0">
              <a:ea typeface="宋体" panose="02010600030101010101" pitchFamily="2" charset="-122"/>
            </a:endParaRPr>
          </a:p>
          <a:p>
            <a:pPr marL="419100" indent="-419100">
              <a:lnSpc>
                <a:spcPct val="90000"/>
              </a:lnSpc>
              <a:buNone/>
            </a:pPr>
            <a:r>
              <a:rPr lang="zh-CN" altLang="en-US" sz="1800" b="1" dirty="0">
                <a:ea typeface="宋体" panose="02010600030101010101" pitchFamily="2" charset="-122"/>
              </a:rPr>
              <a:t>		</a:t>
            </a:r>
            <a:r>
              <a:rPr lang="en-US" altLang="zh-CN" sz="1800" b="1" dirty="0">
                <a:ea typeface="宋体" panose="02010600030101010101" pitchFamily="2" charset="-122"/>
              </a:rPr>
              <a:t>e4: /*</a:t>
            </a:r>
            <a:r>
              <a:rPr lang="zh-CN" altLang="en-US" sz="1800" b="1" dirty="0">
                <a:ea typeface="宋体" panose="02010600030101010101" pitchFamily="2" charset="-122"/>
              </a:rPr>
              <a:t>状态6要求输入为运算符或右括号</a:t>
            </a:r>
            <a:r>
              <a:rPr lang="en-US" altLang="zh-CN" sz="1800" b="1" dirty="0">
                <a:ea typeface="宋体" panose="02010600030101010101" pitchFamily="2" charset="-122"/>
              </a:rPr>
              <a:t>，</a:t>
            </a:r>
            <a:r>
              <a:rPr lang="zh-CN" altLang="en-US" sz="1800" b="1" dirty="0">
                <a:ea typeface="宋体" panose="02010600030101010101" pitchFamily="2" charset="-122"/>
              </a:rPr>
              <a:t>遇到</a:t>
            </a:r>
            <a:r>
              <a:rPr lang="en-US" altLang="zh-CN" sz="1800" b="1" dirty="0">
                <a:ea typeface="宋体" panose="02010600030101010101" pitchFamily="2" charset="-122"/>
              </a:rPr>
              <a:t>$</a:t>
            </a:r>
            <a:r>
              <a:rPr lang="zh-CN" altLang="en-US" sz="1800" b="1" dirty="0">
                <a:ea typeface="宋体" panose="02010600030101010101" pitchFamily="2" charset="-122"/>
              </a:rPr>
              <a:t>时调用本例程*/</a:t>
            </a:r>
            <a:endParaRPr lang="zh-CN" altLang="en-US" sz="1800" b="1" dirty="0">
              <a:ea typeface="宋体" panose="02010600030101010101" pitchFamily="2" charset="-122"/>
            </a:endParaRPr>
          </a:p>
          <a:p>
            <a:pPr marL="419100" indent="-419100">
              <a:lnSpc>
                <a:spcPct val="90000"/>
              </a:lnSpc>
              <a:buNone/>
            </a:pPr>
            <a:r>
              <a:rPr lang="zh-CN" altLang="en-US" sz="1800" b="1" dirty="0">
                <a:ea typeface="宋体" panose="02010600030101010101" pitchFamily="2" charset="-122"/>
              </a:rPr>
              <a:t>		      将状态9（对应右括号）压入栈</a:t>
            </a:r>
            <a:endParaRPr lang="zh-CN" altLang="en-US" sz="1800" b="1" dirty="0">
              <a:ea typeface="宋体" panose="02010600030101010101" pitchFamily="2" charset="-122"/>
            </a:endParaRPr>
          </a:p>
          <a:p>
            <a:pPr marL="419100" indent="-419100">
              <a:lnSpc>
                <a:spcPct val="90000"/>
              </a:lnSpc>
              <a:buNone/>
            </a:pPr>
            <a:r>
              <a:rPr lang="zh-CN" altLang="en-US" sz="1800" b="1" dirty="0">
                <a:ea typeface="宋体" panose="02010600030101010101" pitchFamily="2" charset="-122"/>
              </a:rPr>
              <a:t>		      给出诊断信息“缺少右括号</a:t>
            </a:r>
            <a:r>
              <a:rPr lang="en-US" altLang="zh-CN" sz="1800" b="1" dirty="0">
                <a:ea typeface="宋体" panose="02010600030101010101" pitchFamily="2" charset="-122"/>
              </a:rPr>
              <a:t>”</a:t>
            </a:r>
            <a:endParaRPr lang="en-US" altLang="zh-CN" sz="1800" b="1" dirty="0">
              <a:ea typeface="宋体" panose="02010600030101010101" pitchFamily="2" charset="-122"/>
            </a:endParaRPr>
          </a:p>
        </p:txBody>
      </p:sp>
    </p:spTree>
  </p:cSld>
  <p:clrMapOvr>
    <a:masterClrMapping/>
  </p:clrMapOvr>
  <p:transition spd="slow"/>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2082" name="图片 4"/>
          <p:cNvPicPr>
            <a:picLocks noChangeAspect="1"/>
          </p:cNvPicPr>
          <p:nvPr/>
        </p:nvPicPr>
        <p:blipFill>
          <a:blip r:embed="rId1"/>
          <a:stretch>
            <a:fillRect/>
          </a:stretch>
        </p:blipFill>
        <p:spPr>
          <a:xfrm>
            <a:off x="217488" y="1052513"/>
            <a:ext cx="8818562" cy="4681537"/>
          </a:xfrm>
          <a:prstGeom prst="rect">
            <a:avLst/>
          </a:prstGeom>
          <a:noFill/>
          <a:ln w="9525">
            <a:noFill/>
          </a:ln>
        </p:spPr>
      </p:pic>
    </p:spTree>
  </p:cSld>
  <p:clrMapOvr>
    <a:masterClrMapping/>
  </p:clrMapOvr>
  <p:transition spd="slow"/>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310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第四章 语法分析</a:t>
            </a:r>
            <a:endParaRPr lang="en-US" altLang="zh-CN" dirty="0">
              <a:latin typeface="宋体" panose="02010600030101010101" pitchFamily="2" charset="-122"/>
              <a:ea typeface="宋体" panose="02010600030101010101" pitchFamily="2" charset="-122"/>
            </a:endParaRPr>
          </a:p>
        </p:txBody>
      </p:sp>
      <p:sp>
        <p:nvSpPr>
          <p:cNvPr id="303107" name="Rectangle 3"/>
          <p:cNvSpPr>
            <a:spLocks noGrp="1"/>
          </p:cNvSpPr>
          <p:nvPr>
            <p:ph idx="1"/>
          </p:nvPr>
        </p:nvSpPr>
        <p:spPr>
          <a:xfrm>
            <a:off x="990600" y="1600200"/>
            <a:ext cx="7391400" cy="4191000"/>
          </a:xfrm>
        </p:spPr>
        <p:txBody>
          <a:bodyPr vert="horz" wrap="square" lIns="92075" tIns="46038" rIns="92075" bIns="46038" anchor="t" anchorCtr="0"/>
          <a:p>
            <a:r>
              <a:rPr lang="zh-CN" altLang="en-US" sz="3200" b="1" dirty="0">
                <a:ea typeface="宋体" panose="02010600030101010101" pitchFamily="2" charset="-122"/>
              </a:rPr>
              <a:t>引言</a:t>
            </a:r>
            <a:r>
              <a:rPr lang="en-US" altLang="zh-CN" sz="3200" b="1" dirty="0">
                <a:ea typeface="宋体" panose="02010600030101010101" pitchFamily="2" charset="-122"/>
              </a:rPr>
              <a:t>—</a:t>
            </a:r>
            <a:r>
              <a:rPr lang="zh-CN" altLang="en-US" sz="3200" b="1" dirty="0">
                <a:ea typeface="宋体" panose="02010600030101010101" pitchFamily="2" charset="-122"/>
              </a:rPr>
              <a:t>分析器的作用及错误处理等</a:t>
            </a:r>
            <a:endParaRPr lang="zh-CN" altLang="en-US" sz="3200" b="1" dirty="0">
              <a:ea typeface="宋体" panose="02010600030101010101" pitchFamily="2" charset="-122"/>
            </a:endParaRPr>
          </a:p>
          <a:p>
            <a:r>
              <a:rPr lang="zh-CN" altLang="en-US" sz="3200" b="1" dirty="0">
                <a:ea typeface="宋体" panose="02010600030101010101" pitchFamily="2" charset="-122"/>
              </a:rPr>
              <a:t>上下文无关文法的分析及改造</a:t>
            </a:r>
            <a:endParaRPr lang="zh-CN" altLang="en-US" sz="3200" b="1" dirty="0">
              <a:ea typeface="宋体" panose="02010600030101010101" pitchFamily="2" charset="-122"/>
            </a:endParaRPr>
          </a:p>
          <a:p>
            <a:r>
              <a:rPr lang="zh-CN" altLang="en-US" sz="3200" b="1" dirty="0">
                <a:ea typeface="宋体" panose="02010600030101010101" pitchFamily="2" charset="-122"/>
              </a:rPr>
              <a:t>自顶向下的分析</a:t>
            </a:r>
            <a:endParaRPr lang="zh-CN" altLang="en-US" sz="3200" b="1" dirty="0">
              <a:ea typeface="宋体" panose="02010600030101010101" pitchFamily="2" charset="-122"/>
            </a:endParaRPr>
          </a:p>
          <a:p>
            <a:r>
              <a:rPr lang="zh-CN" altLang="en-US" sz="3200" b="1" dirty="0">
                <a:ea typeface="宋体" panose="02010600030101010101" pitchFamily="2" charset="-122"/>
              </a:rPr>
              <a:t>自底向上的分析</a:t>
            </a:r>
            <a:endParaRPr lang="zh-CN" altLang="en-US" sz="3200" b="1" dirty="0">
              <a:ea typeface="宋体" panose="02010600030101010101" pitchFamily="2" charset="-122"/>
            </a:endParaRPr>
          </a:p>
          <a:p>
            <a:r>
              <a:rPr lang="en-US" altLang="zh-CN" sz="3200" b="1" dirty="0">
                <a:ea typeface="宋体" panose="02010600030101010101" pitchFamily="2" charset="-122"/>
              </a:rPr>
              <a:t>LR</a:t>
            </a:r>
            <a:r>
              <a:rPr lang="zh-CN" altLang="en-US" sz="3200" b="1" dirty="0">
                <a:ea typeface="宋体" panose="02010600030101010101" pitchFamily="2" charset="-122"/>
              </a:rPr>
              <a:t>分析器</a:t>
            </a:r>
            <a:endParaRPr lang="zh-CN" altLang="en-US" sz="3200" b="1" dirty="0">
              <a:ea typeface="宋体" panose="02010600030101010101" pitchFamily="2" charset="-122"/>
            </a:endParaRPr>
          </a:p>
          <a:p>
            <a:r>
              <a:rPr lang="zh-CN" altLang="en-US" sz="3200" b="1" dirty="0">
                <a:ea typeface="宋体" panose="02010600030101010101" pitchFamily="2" charset="-122"/>
              </a:rPr>
              <a:t>二义文法的应用和自底向上分析的错误处理</a:t>
            </a:r>
            <a:endParaRPr lang="en-US" altLang="zh-CN" sz="3200" b="1" dirty="0">
              <a:ea typeface="宋体" panose="02010600030101010101" pitchFamily="2" charset="-122"/>
            </a:endParaRPr>
          </a:p>
          <a:p>
            <a:r>
              <a:rPr lang="zh-CN" altLang="en-US" sz="3200" b="1" dirty="0">
                <a:solidFill>
                  <a:srgbClr val="FF0000"/>
                </a:solidFill>
                <a:ea typeface="宋体" panose="02010600030101010101" pitchFamily="2" charset="-122"/>
              </a:rPr>
              <a:t>语法分析器生成工具</a:t>
            </a:r>
            <a:endParaRPr lang="zh-CN" altLang="en-US" b="1" dirty="0">
              <a:solidFill>
                <a:srgbClr val="FF0000"/>
              </a:solidFill>
              <a:ea typeface="宋体" panose="02010600030101010101" pitchFamily="2" charset="-122"/>
            </a:endParaRPr>
          </a:p>
        </p:txBody>
      </p:sp>
    </p:spTree>
  </p:cSld>
  <p:clrMapOvr>
    <a:masterClrMapping/>
  </p:clrMapOvr>
  <p:transition spd="slow"/>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515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分析器的生成器（1）</a:t>
            </a:r>
            <a:endParaRPr lang="zh-CN" altLang="en-US" dirty="0">
              <a:latin typeface="Times New Roman" panose="02020603050405020304" pitchFamily="18" charset="0"/>
              <a:ea typeface="宋体" panose="02010600030101010101" pitchFamily="2" charset="-122"/>
            </a:endParaRPr>
          </a:p>
        </p:txBody>
      </p:sp>
      <p:sp>
        <p:nvSpPr>
          <p:cNvPr id="305155" name="Rectangle 5"/>
          <p:cNvSpPr>
            <a:spLocks noGrp="1"/>
          </p:cNvSpPr>
          <p:nvPr>
            <p:ph idx="1"/>
          </p:nvPr>
        </p:nvSpPr>
        <p:spPr>
          <a:xfrm>
            <a:off x="914400" y="1371600"/>
            <a:ext cx="7543800" cy="4800600"/>
          </a:xfrm>
        </p:spPr>
        <p:txBody>
          <a:bodyPr vert="horz" wrap="square" lIns="92075" tIns="46038" rIns="92075" bIns="46038" anchor="t" anchorCtr="0"/>
          <a:p>
            <a:pPr marL="419100" indent="-419100">
              <a:lnSpc>
                <a:spcPct val="90000"/>
              </a:lnSpc>
            </a:pPr>
            <a:r>
              <a:rPr lang="en-US" altLang="zh-CN" sz="2000" b="1" dirty="0">
                <a:ea typeface="宋体" panose="02010600030101010101" pitchFamily="2" charset="-122"/>
              </a:rPr>
              <a:t>Yacc：LALR(1)</a:t>
            </a:r>
            <a:r>
              <a:rPr lang="zh-CN" altLang="en-US" sz="2000" b="1" dirty="0">
                <a:ea typeface="宋体" panose="02010600030101010101" pitchFamily="2" charset="-122"/>
              </a:rPr>
              <a:t>分析程序的生成器</a:t>
            </a:r>
            <a:endParaRPr lang="zh-CN" altLang="en-US" sz="2000" b="1" dirty="0">
              <a:ea typeface="宋体" panose="02010600030101010101" pitchFamily="2" charset="-122"/>
            </a:endParaRPr>
          </a:p>
          <a:p>
            <a:pPr marL="838200" lvl="1" indent="-381000">
              <a:lnSpc>
                <a:spcPct val="90000"/>
              </a:lnSpc>
            </a:pPr>
            <a:r>
              <a:rPr lang="zh-CN" altLang="en-US" sz="2000" b="1" dirty="0">
                <a:ea typeface="宋体" panose="02010600030101010101" pitchFamily="2" charset="-122"/>
              </a:rPr>
              <a:t>工作方式：</a:t>
            </a:r>
            <a:endParaRPr lang="zh-CN" altLang="en-US" sz="2000" b="1" dirty="0">
              <a:ea typeface="宋体" panose="02010600030101010101" pitchFamily="2" charset="-122"/>
            </a:endParaRPr>
          </a:p>
          <a:p>
            <a:pPr marL="838200" lvl="1" indent="-381000">
              <a:lnSpc>
                <a:spcPct val="90000"/>
              </a:lnSpc>
              <a:buNone/>
            </a:pPr>
            <a:endParaRPr lang="zh-CN" altLang="en-US" sz="2000" b="1" dirty="0">
              <a:ea typeface="宋体" panose="02010600030101010101" pitchFamily="2" charset="-122"/>
            </a:endParaRPr>
          </a:p>
          <a:p>
            <a:pPr marL="838200" lvl="1" indent="-381000">
              <a:lnSpc>
                <a:spcPct val="90000"/>
              </a:lnSpc>
              <a:buNone/>
            </a:pPr>
            <a:endParaRPr lang="zh-CN" altLang="en-US" sz="2000" b="1" dirty="0">
              <a:ea typeface="宋体" panose="02010600030101010101" pitchFamily="2" charset="-122"/>
            </a:endParaRPr>
          </a:p>
          <a:p>
            <a:pPr marL="838200" lvl="1" indent="-381000">
              <a:lnSpc>
                <a:spcPct val="90000"/>
              </a:lnSpc>
              <a:buNone/>
            </a:pPr>
            <a:endParaRPr lang="zh-CN" altLang="en-US" sz="2000" b="1" dirty="0">
              <a:ea typeface="宋体" panose="02010600030101010101" pitchFamily="2" charset="-122"/>
            </a:endParaRPr>
          </a:p>
          <a:p>
            <a:pPr marL="838200" lvl="1" indent="-381000">
              <a:lnSpc>
                <a:spcPct val="90000"/>
              </a:lnSpc>
              <a:buNone/>
            </a:pPr>
            <a:endParaRPr lang="zh-CN" altLang="en-US" sz="2000" b="1" dirty="0">
              <a:ea typeface="宋体" panose="02010600030101010101" pitchFamily="2" charset="-122"/>
            </a:endParaRPr>
          </a:p>
          <a:p>
            <a:pPr marL="838200" lvl="1" indent="-381000">
              <a:lnSpc>
                <a:spcPct val="90000"/>
              </a:lnSpc>
              <a:buNone/>
            </a:pPr>
            <a:endParaRPr lang="zh-CN" altLang="en-US" sz="2000" b="1" dirty="0">
              <a:ea typeface="宋体" panose="02010600030101010101" pitchFamily="2" charset="-122"/>
            </a:endParaRPr>
          </a:p>
          <a:p>
            <a:pPr marL="838200" lvl="1" indent="-381000">
              <a:lnSpc>
                <a:spcPct val="90000"/>
              </a:lnSpc>
            </a:pPr>
            <a:r>
              <a:rPr lang="en-US" altLang="zh-CN" sz="2000" b="1" dirty="0">
                <a:ea typeface="宋体" panose="02010600030101010101" pitchFamily="2" charset="-122"/>
              </a:rPr>
              <a:t>Yacc</a:t>
            </a:r>
            <a:r>
              <a:rPr lang="zh-CN" altLang="en-US" sz="2000" b="1" dirty="0">
                <a:ea typeface="宋体" panose="02010600030101010101" pitchFamily="2" charset="-122"/>
              </a:rPr>
              <a:t>程序的构成：3个部分，中间以%%分割</a:t>
            </a:r>
            <a:endParaRPr lang="zh-CN" altLang="en-US" sz="2000" b="1" dirty="0">
              <a:ea typeface="宋体" panose="02010600030101010101" pitchFamily="2" charset="-122"/>
            </a:endParaRPr>
          </a:p>
          <a:p>
            <a:pPr marL="914400" lvl="2" indent="0">
              <a:lnSpc>
                <a:spcPct val="90000"/>
              </a:lnSpc>
              <a:buNone/>
            </a:pPr>
            <a:r>
              <a:rPr lang="zh-CN" altLang="en-US" sz="1800" b="1" dirty="0">
                <a:ea typeface="宋体" panose="02010600030101010101" pitchFamily="2" charset="-122"/>
              </a:rPr>
              <a:t>声明：变量、常量的声明，正规定义</a:t>
            </a:r>
            <a:endParaRPr lang="zh-CN" altLang="en-US" sz="1800" b="1" dirty="0">
              <a:ea typeface="宋体" panose="02010600030101010101" pitchFamily="2" charset="-122"/>
            </a:endParaRPr>
          </a:p>
          <a:p>
            <a:pPr marL="914400" lvl="2" indent="0">
              <a:lnSpc>
                <a:spcPct val="90000"/>
              </a:lnSpc>
              <a:buNone/>
            </a:pPr>
            <a:r>
              <a:rPr lang="en-US" altLang="zh-CN" sz="1800" b="1" dirty="0">
                <a:ea typeface="宋体" panose="02010600030101010101" pitchFamily="2" charset="-122"/>
              </a:rPr>
              <a:t>%%</a:t>
            </a:r>
            <a:endParaRPr lang="en-US" altLang="zh-CN" sz="1800" b="1" dirty="0">
              <a:ea typeface="宋体" panose="02010600030101010101" pitchFamily="2" charset="-122"/>
            </a:endParaRPr>
          </a:p>
          <a:p>
            <a:pPr marL="914400" lvl="2" indent="0">
              <a:lnSpc>
                <a:spcPct val="90000"/>
              </a:lnSpc>
              <a:buNone/>
            </a:pPr>
            <a:r>
              <a:rPr lang="zh-CN" altLang="en-US" sz="1800" b="1" dirty="0">
                <a:ea typeface="宋体" panose="02010600030101010101" pitchFamily="2" charset="-122"/>
              </a:rPr>
              <a:t>翻译规则：形式如下，其中</a:t>
            </a:r>
            <a:r>
              <a:rPr lang="en-US" altLang="zh-CN" sz="1800" b="1" dirty="0">
                <a:ea typeface="宋体" panose="02010600030101010101" pitchFamily="2" charset="-122"/>
              </a:rPr>
              <a:t>p</a:t>
            </a:r>
            <a:r>
              <a:rPr lang="en-US" altLang="zh-CN" sz="1800" b="1" baseline="-25000" dirty="0">
                <a:ea typeface="宋体" panose="02010600030101010101" pitchFamily="2" charset="-122"/>
              </a:rPr>
              <a:t>i</a:t>
            </a:r>
            <a:r>
              <a:rPr lang="zh-CN" altLang="en-US" sz="1800" b="1" dirty="0">
                <a:ea typeface="宋体" panose="02010600030101010101" pitchFamily="2" charset="-122"/>
              </a:rPr>
              <a:t>是正规式</a:t>
            </a:r>
            <a:endParaRPr lang="zh-CN" altLang="en-US" sz="1800" b="1" dirty="0">
              <a:ea typeface="宋体" panose="02010600030101010101" pitchFamily="2" charset="-122"/>
            </a:endParaRPr>
          </a:p>
          <a:p>
            <a:pPr marL="1714500" lvl="3" indent="-342900">
              <a:lnSpc>
                <a:spcPct val="90000"/>
              </a:lnSpc>
              <a:buFont typeface="Wingdings" panose="05000000000000000000" pitchFamily="2" charset="2"/>
              <a:buNone/>
            </a:pPr>
            <a:r>
              <a:rPr lang="en-US" altLang="zh-CN" sz="1800" b="1" dirty="0">
                <a:ea typeface="宋体" panose="02010600030101010101" pitchFamily="2" charset="-122"/>
              </a:rPr>
              <a:t>p</a:t>
            </a:r>
            <a:r>
              <a:rPr lang="en-US" altLang="zh-CN" sz="1800" b="1" baseline="-25000" dirty="0">
                <a:ea typeface="宋体" panose="02010600030101010101" pitchFamily="2" charset="-122"/>
              </a:rPr>
              <a:t>1</a:t>
            </a:r>
            <a:r>
              <a:rPr lang="zh-CN" altLang="en-US" sz="1800" b="1" dirty="0">
                <a:ea typeface="宋体" panose="02010600030101010101" pitchFamily="2" charset="-122"/>
              </a:rPr>
              <a:t> 	{ 动作1 }</a:t>
            </a:r>
            <a:endParaRPr lang="zh-CN" altLang="en-US" sz="1800" b="1" dirty="0">
              <a:ea typeface="宋体" panose="02010600030101010101" pitchFamily="2" charset="-122"/>
            </a:endParaRPr>
          </a:p>
          <a:p>
            <a:pPr marL="1714500" lvl="3" indent="-342900">
              <a:lnSpc>
                <a:spcPct val="90000"/>
              </a:lnSpc>
              <a:buFont typeface="Wingdings" panose="05000000000000000000" pitchFamily="2" charset="2"/>
              <a:buNone/>
            </a:pPr>
            <a:r>
              <a:rPr lang="en-US" altLang="zh-CN" sz="1800" b="1" dirty="0">
                <a:ea typeface="宋体" panose="02010600030101010101" pitchFamily="2" charset="-122"/>
              </a:rPr>
              <a:t>p</a:t>
            </a:r>
            <a:r>
              <a:rPr lang="en-US" altLang="zh-CN" sz="1800" b="1" baseline="-25000" dirty="0">
                <a:ea typeface="宋体" panose="02010600030101010101" pitchFamily="2" charset="-122"/>
              </a:rPr>
              <a:t>2</a:t>
            </a:r>
            <a:r>
              <a:rPr lang="zh-CN" altLang="en-US" sz="1800" b="1" dirty="0">
                <a:ea typeface="宋体" panose="02010600030101010101" pitchFamily="2" charset="-122"/>
              </a:rPr>
              <a:t> 	{ 动作2 }</a:t>
            </a:r>
            <a:endParaRPr lang="zh-CN" altLang="en-US" sz="1800" b="1" dirty="0">
              <a:ea typeface="宋体" panose="02010600030101010101" pitchFamily="2" charset="-122"/>
            </a:endParaRPr>
          </a:p>
          <a:p>
            <a:pPr marL="1714500" lvl="3" indent="-342900">
              <a:lnSpc>
                <a:spcPct val="90000"/>
              </a:lnSpc>
              <a:buFont typeface="Wingdings" panose="05000000000000000000" pitchFamily="2" charset="2"/>
              <a:buNone/>
            </a:pPr>
            <a:r>
              <a:rPr lang="zh-CN" altLang="en-US" sz="1800" b="1" dirty="0">
                <a:ea typeface="宋体" panose="02010600030101010101" pitchFamily="2" charset="-122"/>
              </a:rPr>
              <a:t>… …</a:t>
            </a:r>
            <a:endParaRPr lang="zh-CN" altLang="en-US" sz="1800" b="1" dirty="0">
              <a:ea typeface="宋体" panose="02010600030101010101" pitchFamily="2" charset="-122"/>
            </a:endParaRPr>
          </a:p>
          <a:p>
            <a:pPr marL="914400" lvl="2" indent="0">
              <a:lnSpc>
                <a:spcPct val="90000"/>
              </a:lnSpc>
              <a:buNone/>
            </a:pPr>
            <a:r>
              <a:rPr lang="en-US" altLang="zh-CN" sz="1800" b="1" dirty="0">
                <a:ea typeface="宋体" panose="02010600030101010101" pitchFamily="2" charset="-122"/>
              </a:rPr>
              <a:t>%%</a:t>
            </a:r>
            <a:endParaRPr lang="en-US" altLang="zh-CN" sz="1800" b="1" dirty="0">
              <a:ea typeface="宋体" panose="02010600030101010101" pitchFamily="2" charset="-122"/>
            </a:endParaRPr>
          </a:p>
          <a:p>
            <a:pPr marL="914400" lvl="2" indent="0">
              <a:lnSpc>
                <a:spcPct val="90000"/>
              </a:lnSpc>
              <a:buNone/>
            </a:pPr>
            <a:r>
              <a:rPr lang="zh-CN" altLang="en-US" sz="1800" b="1" dirty="0">
                <a:ea typeface="宋体" panose="02010600030101010101" pitchFamily="2" charset="-122"/>
              </a:rPr>
              <a:t>用</a:t>
            </a:r>
            <a:r>
              <a:rPr lang="en-US" altLang="zh-CN" sz="1800" b="1" dirty="0">
                <a:ea typeface="宋体" panose="02010600030101010101" pitchFamily="2" charset="-122"/>
              </a:rPr>
              <a:t>C</a:t>
            </a:r>
            <a:r>
              <a:rPr lang="zh-CN" altLang="en-US" sz="1800" b="1" dirty="0">
                <a:ea typeface="宋体" panose="02010600030101010101" pitchFamily="2" charset="-122"/>
              </a:rPr>
              <a:t>语言编写的支持例程</a:t>
            </a:r>
            <a:endParaRPr lang="zh-CN" altLang="en-US" sz="1800" b="1" dirty="0">
              <a:ea typeface="宋体" panose="02010600030101010101" pitchFamily="2" charset="-122"/>
            </a:endParaRPr>
          </a:p>
        </p:txBody>
      </p:sp>
      <p:graphicFrame>
        <p:nvGraphicFramePr>
          <p:cNvPr id="305156" name="Object 6"/>
          <p:cNvGraphicFramePr>
            <a:graphicFrameLocks noChangeAspect="1"/>
          </p:cNvGraphicFramePr>
          <p:nvPr/>
        </p:nvGraphicFramePr>
        <p:xfrm>
          <a:off x="2438400" y="1862138"/>
          <a:ext cx="3581400" cy="635000"/>
        </p:xfrm>
        <a:graphic>
          <a:graphicData uri="http://schemas.openxmlformats.org/presentationml/2006/ole">
            <mc:AlternateContent xmlns:mc="http://schemas.openxmlformats.org/markup-compatibility/2006">
              <mc:Choice xmlns:v="urn:schemas-microsoft-com:vml" Requires="v">
                <p:oleObj spid="_x0000_s3125" name="" r:id="rId1" imgW="3341370" imgH="593725" progId="Visio.Drawing.6">
                  <p:embed/>
                </p:oleObj>
              </mc:Choice>
              <mc:Fallback>
                <p:oleObj name="" r:id="rId1" imgW="3341370" imgH="593725" progId="Visio.Drawing.6">
                  <p:embed/>
                  <p:pic>
                    <p:nvPicPr>
                      <p:cNvPr id="0" name="图片 3124"/>
                      <p:cNvPicPr/>
                      <p:nvPr/>
                    </p:nvPicPr>
                    <p:blipFill>
                      <a:blip r:embed="rId2"/>
                      <a:stretch>
                        <a:fillRect/>
                      </a:stretch>
                    </p:blipFill>
                    <p:spPr>
                      <a:xfrm>
                        <a:off x="2438400" y="1862138"/>
                        <a:ext cx="3581400" cy="635000"/>
                      </a:xfrm>
                      <a:prstGeom prst="rect">
                        <a:avLst/>
                      </a:prstGeom>
                      <a:noFill/>
                      <a:ln w="38100">
                        <a:noFill/>
                        <a:miter/>
                      </a:ln>
                    </p:spPr>
                  </p:pic>
                </p:oleObj>
              </mc:Fallback>
            </mc:AlternateContent>
          </a:graphicData>
        </a:graphic>
      </p:graphicFrame>
      <p:graphicFrame>
        <p:nvGraphicFramePr>
          <p:cNvPr id="305157" name="Object 7"/>
          <p:cNvGraphicFramePr>
            <a:graphicFrameLocks noChangeAspect="1"/>
          </p:cNvGraphicFramePr>
          <p:nvPr/>
        </p:nvGraphicFramePr>
        <p:xfrm>
          <a:off x="2133600" y="2547938"/>
          <a:ext cx="3505200" cy="569912"/>
        </p:xfrm>
        <a:graphic>
          <a:graphicData uri="http://schemas.openxmlformats.org/presentationml/2006/ole">
            <mc:AlternateContent xmlns:mc="http://schemas.openxmlformats.org/markup-compatibility/2006">
              <mc:Choice xmlns:v="urn:schemas-microsoft-com:vml" Requires="v">
                <p:oleObj spid="_x0000_s3126" name="" r:id="rId3" imgW="3170555" imgH="517525" progId="Visio.Drawing.6">
                  <p:embed/>
                </p:oleObj>
              </mc:Choice>
              <mc:Fallback>
                <p:oleObj name="" r:id="rId3" imgW="3170555" imgH="517525" progId="Visio.Drawing.6">
                  <p:embed/>
                  <p:pic>
                    <p:nvPicPr>
                      <p:cNvPr id="0" name="图片 3125"/>
                      <p:cNvPicPr/>
                      <p:nvPr/>
                    </p:nvPicPr>
                    <p:blipFill>
                      <a:blip r:embed="rId4"/>
                      <a:stretch>
                        <a:fillRect/>
                      </a:stretch>
                    </p:blipFill>
                    <p:spPr>
                      <a:xfrm>
                        <a:off x="2133600" y="2547938"/>
                        <a:ext cx="3505200" cy="569912"/>
                      </a:xfrm>
                      <a:prstGeom prst="rect">
                        <a:avLst/>
                      </a:prstGeom>
                      <a:noFill/>
                      <a:ln w="38100">
                        <a:noFill/>
                        <a:miter/>
                      </a:ln>
                    </p:spPr>
                  </p:pic>
                </p:oleObj>
              </mc:Fallback>
            </mc:AlternateContent>
          </a:graphicData>
        </a:graphic>
      </p:graphicFrame>
      <p:graphicFrame>
        <p:nvGraphicFramePr>
          <p:cNvPr id="305158" name="Object 8"/>
          <p:cNvGraphicFramePr>
            <a:graphicFrameLocks noChangeAspect="1"/>
          </p:cNvGraphicFramePr>
          <p:nvPr/>
        </p:nvGraphicFramePr>
        <p:xfrm>
          <a:off x="2438400" y="3233738"/>
          <a:ext cx="3352800" cy="555625"/>
        </p:xfrm>
        <a:graphic>
          <a:graphicData uri="http://schemas.openxmlformats.org/presentationml/2006/ole">
            <mc:AlternateContent xmlns:mc="http://schemas.openxmlformats.org/markup-compatibility/2006">
              <mc:Choice xmlns:v="urn:schemas-microsoft-com:vml" Requires="v">
                <p:oleObj spid="_x0000_s3127" name="" r:id="rId5" imgW="3114040" imgH="517525" progId="Visio.Drawing.6">
                  <p:embed/>
                </p:oleObj>
              </mc:Choice>
              <mc:Fallback>
                <p:oleObj name="" r:id="rId5" imgW="3114040" imgH="517525" progId="Visio.Drawing.6">
                  <p:embed/>
                  <p:pic>
                    <p:nvPicPr>
                      <p:cNvPr id="0" name="图片 3126"/>
                      <p:cNvPicPr/>
                      <p:nvPr/>
                    </p:nvPicPr>
                    <p:blipFill>
                      <a:blip r:embed="rId6"/>
                      <a:stretch>
                        <a:fillRect/>
                      </a:stretch>
                    </p:blipFill>
                    <p:spPr>
                      <a:xfrm>
                        <a:off x="2438400" y="3233738"/>
                        <a:ext cx="3352800" cy="555625"/>
                      </a:xfrm>
                      <a:prstGeom prst="rect">
                        <a:avLst/>
                      </a:prstGeom>
                      <a:noFill/>
                      <a:ln w="38100">
                        <a:noFill/>
                        <a:miter/>
                      </a:ln>
                    </p:spPr>
                  </p:pic>
                </p:oleObj>
              </mc:Fallback>
            </mc:AlternateContent>
          </a:graphicData>
        </a:graphic>
      </p:graphicFrame>
    </p:spTree>
  </p:cSld>
  <p:clrMapOvr>
    <a:masterClrMapping/>
  </p:clrMapOvr>
  <p:transition spd="slow"/>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0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分析器的生成器（1）</a:t>
            </a:r>
            <a:endParaRPr lang="zh-CN" altLang="en-US" dirty="0">
              <a:latin typeface="Times New Roman" panose="02020603050405020304" pitchFamily="18" charset="0"/>
              <a:ea typeface="宋体" panose="02010600030101010101" pitchFamily="2" charset="-122"/>
            </a:endParaRPr>
          </a:p>
        </p:txBody>
      </p:sp>
      <p:sp>
        <p:nvSpPr>
          <p:cNvPr id="286723" name="Rectangle 5"/>
          <p:cNvSpPr>
            <a:spLocks noGrp="1" noChangeArrowheads="1"/>
          </p:cNvSpPr>
          <p:nvPr>
            <p:ph idx="1"/>
          </p:nvPr>
        </p:nvSpPr>
        <p:spPr>
          <a:xfrm>
            <a:off x="914400" y="1371600"/>
            <a:ext cx="7543800" cy="4800600"/>
          </a:xfrm>
        </p:spPr>
        <p:txBody>
          <a:bodyPr vert="horz" wrap="square" lIns="92075" tIns="46038" rIns="92075" bIns="46038" numCol="1" anchor="t" anchorCtr="0" compatLnSpc="1"/>
          <a:lstStyle/>
          <a:p>
            <a:pPr marL="419100" marR="0" lvl="0"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一个简单的计算器的例子</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38200" marR="0" lvl="1" indent="-3810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无二义的表达式文法，其中</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digit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是一个</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0~9</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之间的数字</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F</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F</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F</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 （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id</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38200" marR="0" lvl="1" indent="-3810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对应的</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Yacc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程序（图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4-58</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）解读</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38250" marR="0" lvl="2" indent="-3810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声明部分：包括可选的两部分</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95450" marR="0" lvl="3" indent="-3810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通常的</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的声明（用</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指明），如下页程序</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1~3</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行</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95450" marR="0" lvl="3" indent="-3810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词法单元的声明，如第</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4</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行对</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DIGIT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的声明，可以在</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Yacc</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的第二、三部分用，也可以在词法分析程序（由</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Lex</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创建的）用</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38250" marR="0" lvl="2" indent="-3810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翻译规则：形式如同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p1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 动作1 }，其中</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p1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是产生式</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95450" marR="0" lvl="3" indent="-3810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没有带引号且未被声明为词法单元的字母数字串被作为非终结符处理</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95450" marR="0" lvl="3" indent="-3810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产生式左部符号的属性值用</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表示，右部的文法符号编号，其属性值分别用</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$2…</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等表示</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38250" marR="0" lvl="2" indent="-3810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语言编写的支持例程</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95450" marR="0" lvl="3" indent="-3810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必须有一个名为</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yylex</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的词法分析器，用</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Lex</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生成是常用方式</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9250" name="Picture 2"/>
          <p:cNvPicPr>
            <a:picLocks noChangeAspect="1"/>
          </p:cNvPicPr>
          <p:nvPr/>
        </p:nvPicPr>
        <p:blipFill>
          <a:blip r:embed="rId1"/>
          <a:stretch>
            <a:fillRect/>
          </a:stretch>
        </p:blipFill>
        <p:spPr>
          <a:xfrm>
            <a:off x="1676400" y="0"/>
            <a:ext cx="5578475" cy="6629400"/>
          </a:xfrm>
          <a:prstGeom prst="rect">
            <a:avLst/>
          </a:prstGeom>
          <a:noFill/>
          <a:ln w="9525">
            <a:noFill/>
          </a:ln>
        </p:spPr>
      </p:pic>
    </p:spTree>
  </p:cSld>
  <p:clrMapOvr>
    <a:masterClrMapping/>
  </p:clrMapOvr>
  <p:transition spd="slow"/>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02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分析器的生成器（</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86723" name="Rectangle 5"/>
          <p:cNvSpPr>
            <a:spLocks noGrp="1" noChangeArrowheads="1"/>
          </p:cNvSpPr>
          <p:nvPr>
            <p:ph idx="1"/>
          </p:nvPr>
        </p:nvSpPr>
        <p:spPr>
          <a:xfrm>
            <a:off x="914400" y="1371600"/>
            <a:ext cx="7543800" cy="4800600"/>
          </a:xfrm>
        </p:spPr>
        <p:txBody>
          <a:bodyPr vert="horz" wrap="square" lIns="92075" tIns="46038" rIns="92075" bIns="46038" numCol="1" anchor="t" anchorCtr="0" compatLnSpc="1"/>
          <a:lstStyle/>
          <a:p>
            <a:pPr marL="419100" marR="0" lvl="0"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使用带有二义性文法的</a:t>
            </a:r>
            <a:r>
              <a:rPr kumimoji="0" lang="en-US" altLang="zh-CN" sz="2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Yacc</a:t>
            </a: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38200" marR="0" lvl="1" indent="-3810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修改前述程序</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38250" marR="0" lvl="2" indent="-3810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允许对一个表达式序列求值，所以第二部分第一行修改为：</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3"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Lines : lines expr ‘\n’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printf</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“%g\n%, $2); }</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3"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lines ‘\n’</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3"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 empty */</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3" indent="0" algn="l" defTabSz="914400" rtl="0" eaLnBrk="0" fontAlgn="base" latinLnBrk="0" hangingPunct="0">
              <a:lnSpc>
                <a:spcPct val="90000"/>
              </a:lnSpc>
              <a:spcBef>
                <a:spcPct val="20000"/>
              </a:spcBef>
              <a:spcAft>
                <a:spcPct val="0"/>
              </a:spcAft>
              <a:buClr>
                <a:srgbClr val="063DE8"/>
              </a:buClr>
              <a:buSzPct val="70000"/>
              <a:buFont typeface="Monotype Sorts"/>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8575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上述的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empty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表示</a:t>
            </a:r>
            <a:r>
              <a:rPr kumimoji="0" lang="el-GR"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ε</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38250" marR="0" lvl="2" indent="-3810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扩展表达式种类，可以处理多位数字，处理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包括双目和单目算符两种意义</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，文法如下：</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E + E  |  E – E  |  E * E  |  E / E  |  - E  |  ( E )  |  number</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95450" marR="0" lvl="3" indent="-381000" algn="l" defTabSz="914400" rtl="0" eaLnBrk="0" fontAlgn="base" latinLnBrk="0" hangingPunct="0">
              <a:lnSpc>
                <a:spcPct val="9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此文法有二义性</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23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分析器的生成器（</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92867" name="Rectangle 3"/>
          <p:cNvSpPr>
            <a:spLocks noGrp="1" noChangeArrowheads="1"/>
          </p:cNvSpPr>
          <p:nvPr>
            <p:ph idx="1"/>
          </p:nvPr>
        </p:nvSpPr>
        <p:spPr>
          <a:xfrm>
            <a:off x="990600" y="1371600"/>
            <a:ext cx="7391400" cy="5029200"/>
          </a:xfrm>
        </p:spPr>
        <p:txBody>
          <a:bodyPr vert="horz" wrap="square" lIns="92075" tIns="46038" rIns="92075" bIns="46038" numCol="1" anchor="t" anchorCtr="0" compatLnSpc="1"/>
          <a:lstStyle/>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Yacc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分析冲突与消除二义性的规则：</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Yacc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在</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y.output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中报告调查的分析冲突</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Yacc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自动消除二义性的两个规则</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解决归约</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归约冲突时，选择在</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Yacc</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代码中列在前面的那个冲突产生式，产生式的顺序决定了优先序</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解决移进</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归约分析时选择移进，可以有效解决悬空</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else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类问题</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编译器设计者提供消除二义性的规则，以上页文法为例，在</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Yacc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的声明部分显式给出算符优先及结合性的机制，使得文法描述更简单</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52600" marR="0" lvl="3" indent="-38100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left ‘+’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52600" marR="0" lvl="3" indent="-38100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%left ‘*’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52600" marR="0" lvl="3" indent="-38100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表明+，-有相同的优先权且是左结合的，而*具有更高的优先权，且是左结合的</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4370" name="Picture 2"/>
          <p:cNvPicPr>
            <a:picLocks noChangeAspect="1"/>
          </p:cNvPicPr>
          <p:nvPr/>
        </p:nvPicPr>
        <p:blipFill>
          <a:blip r:embed="rId1"/>
          <a:stretch>
            <a:fillRect/>
          </a:stretch>
        </p:blipFill>
        <p:spPr>
          <a:xfrm>
            <a:off x="2209800" y="0"/>
            <a:ext cx="4625975" cy="6705600"/>
          </a:xfrm>
          <a:prstGeom prst="rect">
            <a:avLst/>
          </a:prstGeom>
          <a:noFill/>
          <a:ln w="9525">
            <a:noFill/>
          </a:ln>
        </p:spPr>
      </p:pic>
    </p:spTree>
  </p:cSld>
  <p:clrMapOvr>
    <a:masterClrMapping/>
  </p:clrMapOvr>
  <p:transition spd="slow"/>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5394" name="Picture 2"/>
          <p:cNvPicPr>
            <a:picLocks noChangeAspect="1"/>
          </p:cNvPicPr>
          <p:nvPr/>
        </p:nvPicPr>
        <p:blipFill>
          <a:blip r:embed="rId1"/>
          <a:stretch>
            <a:fillRect/>
          </a:stretch>
        </p:blipFill>
        <p:spPr>
          <a:xfrm>
            <a:off x="457200" y="2528888"/>
            <a:ext cx="8137525" cy="3492500"/>
          </a:xfrm>
          <a:prstGeom prst="rect">
            <a:avLst/>
          </a:prstGeom>
          <a:noFill/>
          <a:ln w="9525">
            <a:noFill/>
          </a:ln>
        </p:spPr>
      </p:pic>
      <p:sp>
        <p:nvSpPr>
          <p:cNvPr id="3" name="Rectangle 2"/>
          <p:cNvSpPr txBox="1">
            <a:spLocks noChangeArrowheads="1"/>
          </p:cNvSpPr>
          <p:nvPr/>
        </p:nvSpPr>
        <p:spPr>
          <a:xfrm>
            <a:off x="914400" y="457200"/>
            <a:ext cx="7543800" cy="914400"/>
          </a:xfrm>
          <a:prstGeom prst="rect">
            <a:avLst/>
          </a:prstGeom>
        </p:spPr>
        <p:txBody>
          <a:bodyPr/>
          <a:lstStyle>
            <a:lvl1pPr algn="ctr" rtl="0" eaLnBrk="0" fontAlgn="base" hangingPunct="0">
              <a:spcBef>
                <a:spcPct val="0"/>
              </a:spcBef>
              <a:spcAft>
                <a:spcPct val="0"/>
              </a:spcAft>
              <a:defRPr sz="3200" b="1">
                <a:solidFill>
                  <a:srgbClr val="063DE8"/>
                </a:solidFill>
                <a:latin typeface="+mj-lt"/>
                <a:ea typeface="+mj-ea"/>
                <a:cs typeface="+mj-cs"/>
              </a:defRPr>
            </a:lvl1pPr>
            <a:lvl2pPr algn="ctr" rtl="0" eaLnBrk="0" fontAlgn="base" hangingPunct="0">
              <a:spcBef>
                <a:spcPct val="0"/>
              </a:spcBef>
              <a:spcAft>
                <a:spcPct val="0"/>
              </a:spcAft>
              <a:defRPr sz="3200" b="1">
                <a:solidFill>
                  <a:srgbClr val="063DE8"/>
                </a:solidFill>
                <a:latin typeface="Book Antiqua" panose="02040602050305030304" pitchFamily="18" charset="0"/>
              </a:defRPr>
            </a:lvl2pPr>
            <a:lvl3pPr algn="ctr" rtl="0" eaLnBrk="0" fontAlgn="base" hangingPunct="0">
              <a:spcBef>
                <a:spcPct val="0"/>
              </a:spcBef>
              <a:spcAft>
                <a:spcPct val="0"/>
              </a:spcAft>
              <a:defRPr sz="3200" b="1">
                <a:solidFill>
                  <a:srgbClr val="063DE8"/>
                </a:solidFill>
                <a:latin typeface="Book Antiqua" panose="02040602050305030304" pitchFamily="18" charset="0"/>
              </a:defRPr>
            </a:lvl3pPr>
            <a:lvl4pPr algn="ctr" rtl="0" eaLnBrk="0" fontAlgn="base" hangingPunct="0">
              <a:spcBef>
                <a:spcPct val="0"/>
              </a:spcBef>
              <a:spcAft>
                <a:spcPct val="0"/>
              </a:spcAft>
              <a:defRPr sz="3200" b="1">
                <a:solidFill>
                  <a:srgbClr val="063DE8"/>
                </a:solidFill>
                <a:latin typeface="Book Antiqua" panose="02040602050305030304" pitchFamily="18" charset="0"/>
              </a:defRPr>
            </a:lvl4pPr>
            <a:lvl5pPr algn="ctr" rtl="0" eaLnBrk="0" fontAlgn="base" hangingPunct="0">
              <a:spcBef>
                <a:spcPct val="0"/>
              </a:spcBef>
              <a:spcAft>
                <a:spcPct val="0"/>
              </a:spcAft>
              <a:defRPr sz="3200" b="1">
                <a:solidFill>
                  <a:srgbClr val="063DE8"/>
                </a:solidFill>
                <a:latin typeface="Book Antiqua" panose="02040602050305030304" pitchFamily="18" charset="0"/>
              </a:defRPr>
            </a:lvl5pPr>
            <a:lvl6pPr marL="457200" algn="ctr" rtl="0" eaLnBrk="0" fontAlgn="base" hangingPunct="0">
              <a:spcBef>
                <a:spcPct val="0"/>
              </a:spcBef>
              <a:spcAft>
                <a:spcPct val="0"/>
              </a:spcAft>
              <a:defRPr sz="3200" b="1">
                <a:solidFill>
                  <a:srgbClr val="063DE8"/>
                </a:solidFill>
                <a:latin typeface="Book Antiqua" panose="02040602050305030304" pitchFamily="18" charset="0"/>
              </a:defRPr>
            </a:lvl6pPr>
            <a:lvl7pPr marL="914400" algn="ctr" rtl="0" eaLnBrk="0" fontAlgn="base" hangingPunct="0">
              <a:spcBef>
                <a:spcPct val="0"/>
              </a:spcBef>
              <a:spcAft>
                <a:spcPct val="0"/>
              </a:spcAft>
              <a:defRPr sz="3200" b="1">
                <a:solidFill>
                  <a:srgbClr val="063DE8"/>
                </a:solidFill>
                <a:latin typeface="Book Antiqua" panose="02040602050305030304" pitchFamily="18" charset="0"/>
              </a:defRPr>
            </a:lvl7pPr>
            <a:lvl8pPr marL="1371600" algn="ctr" rtl="0" eaLnBrk="0" fontAlgn="base" hangingPunct="0">
              <a:spcBef>
                <a:spcPct val="0"/>
              </a:spcBef>
              <a:spcAft>
                <a:spcPct val="0"/>
              </a:spcAft>
              <a:defRPr sz="3200" b="1">
                <a:solidFill>
                  <a:srgbClr val="063DE8"/>
                </a:solidFill>
                <a:latin typeface="Book Antiqua" panose="02040602050305030304" pitchFamily="18" charset="0"/>
              </a:defRPr>
            </a:lvl8pPr>
            <a:lvl9pPr marL="1828800" algn="ctr" rtl="0" eaLnBrk="0" fontAlgn="base" hangingPunct="0">
              <a:spcBef>
                <a:spcPct val="0"/>
              </a:spcBef>
              <a:spcAft>
                <a:spcPct val="0"/>
              </a:spcAft>
              <a:defRPr sz="3200" b="1">
                <a:solidFill>
                  <a:srgbClr val="063DE8"/>
                </a:solidFill>
                <a:latin typeface="Book Antiqua" panose="0204060205030503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063DE8"/>
                </a:solidFill>
                <a:effectLst/>
                <a:uLnTx/>
                <a:uFillTx/>
                <a:latin typeface="Times New Roman" panose="02020603050405020304" pitchFamily="18" charset="0"/>
                <a:ea typeface="宋体" panose="02010600030101010101" pitchFamily="2" charset="-122"/>
                <a:cs typeface="+mj-cs"/>
              </a:rPr>
              <a:t>分析器的生成器（</a:t>
            </a:r>
            <a:r>
              <a:rPr kumimoji="0" lang="en-US" altLang="zh-CN" sz="3200" b="1" i="0" u="none" strike="noStrike" kern="0" cap="none" spc="0" normalizeH="0" baseline="0" noProof="0" dirty="0">
                <a:ln>
                  <a:noFill/>
                </a:ln>
                <a:solidFill>
                  <a:srgbClr val="063DE8"/>
                </a:solidFill>
                <a:effectLst/>
                <a:uLnTx/>
                <a:uFillTx/>
                <a:latin typeface="Times New Roman" panose="02020603050405020304" pitchFamily="18" charset="0"/>
                <a:ea typeface="宋体" panose="02010600030101010101" pitchFamily="2" charset="-122"/>
                <a:cs typeface="+mj-cs"/>
              </a:rPr>
              <a:t>5</a:t>
            </a:r>
            <a:r>
              <a:rPr kumimoji="0" lang="zh-CN" altLang="en-US" sz="3200" b="1" i="0" u="none" strike="noStrike" kern="0" cap="none" spc="0" normalizeH="0" baseline="0" noProof="0" dirty="0">
                <a:ln>
                  <a:noFill/>
                </a:ln>
                <a:solidFill>
                  <a:srgbClr val="063DE8"/>
                </a:solidFill>
                <a:effectLst/>
                <a:uLnTx/>
                <a:uFillTx/>
                <a:latin typeface="Times New Roman" panose="02020603050405020304" pitchFamily="18" charset="0"/>
                <a:ea typeface="宋体" panose="02010600030101010101" pitchFamily="2" charset="-122"/>
                <a:cs typeface="+mj-cs"/>
              </a:rPr>
              <a:t>）</a:t>
            </a:r>
            <a:endParaRPr kumimoji="0" lang="zh-CN" altLang="en-US" sz="3200" b="1" i="0" u="none" strike="noStrike" kern="0" cap="none" spc="0" normalizeH="0" baseline="0" noProof="0" dirty="0">
              <a:ln>
                <a:noFill/>
              </a:ln>
              <a:solidFill>
                <a:srgbClr val="063DE8"/>
              </a:solidFill>
              <a:effectLst/>
              <a:uLnTx/>
              <a:uFillTx/>
              <a:latin typeface="Times New Roman" panose="02020603050405020304" pitchFamily="18" charset="0"/>
              <a:ea typeface="宋体" panose="02010600030101010101" pitchFamily="2" charset="-122"/>
              <a:cs typeface="+mj-cs"/>
            </a:endParaRPr>
          </a:p>
        </p:txBody>
      </p:sp>
      <p:sp>
        <p:nvSpPr>
          <p:cNvPr id="4" name="Rectangle 3"/>
          <p:cNvSpPr txBox="1">
            <a:spLocks noChangeArrowheads="1"/>
          </p:cNvSpPr>
          <p:nvPr/>
        </p:nvSpPr>
        <p:spPr>
          <a:xfrm>
            <a:off x="990600" y="1371600"/>
            <a:ext cx="7391400" cy="688975"/>
          </a:xfrm>
          <a:prstGeom prst="rect">
            <a:avLst/>
          </a:prstGeom>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针对图</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4-59</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中程序的</a:t>
            </a:r>
            <a:r>
              <a:rPr kumimoji="0" lang="en-US" altLang="zh-CN" sz="26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yylex</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Lex</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规约（</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spec</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64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分析器的生成器（</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94915" name="Rectangle 3"/>
          <p:cNvSpPr>
            <a:spLocks noGrp="1" noChangeArrowheads="1"/>
          </p:cNvSpPr>
          <p:nvPr>
            <p:ph idx="1"/>
          </p:nvPr>
        </p:nvSpPr>
        <p:spPr>
          <a:xfrm>
            <a:off x="395288" y="1371600"/>
            <a:ext cx="8353425" cy="48006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Yacc</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分析的错误纠正：采用错误产生式的方式</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错误产生式：</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error </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是主要的非终结符，</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error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Yacc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保留字，</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可以为空</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纠错步骤：</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70000"/>
              <a:buFont typeface="Monotype Sorts"/>
              <a:buAutoNum type="arabicParen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若分析程序检测到错误，从栈中弹出状态直至 当前栈顶状态的项目集中包含了形如</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.error</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的项，此时认为语法分析器在输入中看到了</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error</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，将虚构的词法单元</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error</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移入栈</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70000"/>
              <a:buFont typeface="Monotype Sorts"/>
              <a:buAutoNum type="arabicParen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进行对</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的归约，执行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error</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相关的语义动作（如调用错误例程等）</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抛弃一些输入符号，直至找到可以使语法分析继续的符号</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70000"/>
              <a:buFont typeface="Monotype Sorts"/>
              <a:buAutoNum type="arabicParen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不是</a:t>
            </a:r>
            <a:r>
              <a:rPr kumimoji="0" lang="el-GR"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Yacc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向前越过一些输入符号，找到可以归约为</a:t>
            </a:r>
            <a:r>
              <a:rPr kumimoji="0" lang="el-GR"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的子串，如果</a:t>
            </a:r>
            <a:r>
              <a:rPr kumimoji="0" lang="el-GR"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全部由终结符构成，则在输入中寻找</a:t>
            </a:r>
            <a:r>
              <a:rPr kumimoji="0" lang="el-GR"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，并将之入栈</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执行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error</a:t>
            </a:r>
            <a:r>
              <a:rPr kumimoji="0" lang="el-GR"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α</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的归约（报错等），并继续进行正常分析</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8466" name="Picture 2"/>
          <p:cNvPicPr>
            <a:picLocks noChangeAspect="1"/>
          </p:cNvPicPr>
          <p:nvPr/>
        </p:nvPicPr>
        <p:blipFill>
          <a:blip r:embed="rId1"/>
          <a:stretch>
            <a:fillRect/>
          </a:stretch>
        </p:blipFill>
        <p:spPr>
          <a:xfrm>
            <a:off x="1524000" y="0"/>
            <a:ext cx="6075363" cy="6629400"/>
          </a:xfrm>
          <a:prstGeom prst="rect">
            <a:avLst/>
          </a:prstGeom>
          <a:noFill/>
          <a:ln w="9525">
            <a:noFill/>
          </a:ln>
        </p:spPr>
      </p:pic>
    </p:spTree>
  </p:cSld>
  <p:clrMapOvr>
    <a:masterClrMapping/>
  </p:clrMapOvr>
  <p:transition spd="slow"/>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051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作业</a:t>
            </a:r>
            <a:endParaRPr lang="zh-CN" altLang="en-US" dirty="0">
              <a:latin typeface="宋体" panose="02010600030101010101" pitchFamily="2" charset="-122"/>
              <a:ea typeface="宋体" panose="02010600030101010101" pitchFamily="2" charset="-122"/>
            </a:endParaRPr>
          </a:p>
        </p:txBody>
      </p:sp>
      <p:sp>
        <p:nvSpPr>
          <p:cNvPr id="243715" name="Rectangle 3"/>
          <p:cNvSpPr>
            <a:spLocks noGrp="1" noChangeArrowheads="1"/>
          </p:cNvSpPr>
          <p:nvPr>
            <p:ph idx="1"/>
          </p:nvPr>
        </p:nvSpPr>
        <p:spPr>
          <a:xfrm>
            <a:off x="684213" y="1371600"/>
            <a:ext cx="7920038"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第一次作业</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4.2.1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：考虑上下文无关文法</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 S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 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以及串</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aa+a</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1)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给出这个串的一个最左推导；</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）给出这个串的一个最右推导；</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3</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）给出这个串的一颗语法分析树；</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4</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）这个文法是否是二义性的？ 证明你的回答（选作）；</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）这个文法生成的语言是什么？</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为</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4.2.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３的第一题的语言设计文法：所有由０和１组成的并且每个０之后都至少跟着一个１的串的集合</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4.3.1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：下面是一个只包含符号</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的正则表达式的文法，其中用</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替代表示并运算的字符</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，以避免和文法中作为元符号使用竖线混淆</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rexpr</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rexpr</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rterm</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rterm</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rterm</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rterm</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rfactor</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rfactor</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rfactor</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rfactor</a:t>
            </a:r>
            <a:r>
              <a:rPr kumimoji="0" lang="en-US" altLang="zh-CN" sz="1800" b="1" i="0" u="none" strike="noStrike" kern="0" cap="none" spc="0" normalizeH="0" baseline="5000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rprimary</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rprimary</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 | b</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1)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对该文法提取左公因子；</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）提取左公因子的变换能是这个文法适用于自顶向下的语法分析技术吗？</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3</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）将提取了左公因子的文法继续消除左递归；</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4</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）此时得到的文法适用于自顶向下的语法分析吗？</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25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作业</a:t>
            </a:r>
            <a:endParaRPr lang="zh-CN" altLang="en-US" dirty="0">
              <a:latin typeface="宋体" panose="02010600030101010101" pitchFamily="2" charset="-122"/>
              <a:ea typeface="宋体" panose="02010600030101010101" pitchFamily="2" charset="-122"/>
            </a:endParaRPr>
          </a:p>
        </p:txBody>
      </p:sp>
      <p:sp>
        <p:nvSpPr>
          <p:cNvPr id="322563" name="Rectangle 3"/>
          <p:cNvSpPr>
            <a:spLocks noGrp="1"/>
          </p:cNvSpPr>
          <p:nvPr>
            <p:ph idx="1"/>
          </p:nvPr>
        </p:nvSpPr>
        <p:spPr>
          <a:xfrm>
            <a:off x="684213" y="1371600"/>
            <a:ext cx="7920037" cy="4876800"/>
          </a:xfrm>
        </p:spPr>
        <p:txBody>
          <a:bodyPr vert="horz" wrap="square" lIns="92075" tIns="46038" rIns="92075" bIns="46038" anchor="t" anchorCtr="0"/>
          <a:p>
            <a:pPr marL="495300" indent="-495300"/>
            <a:r>
              <a:rPr lang="zh-CN" altLang="en-US" sz="2000" b="1" dirty="0">
                <a:latin typeface="宋体" panose="02010600030101010101" pitchFamily="2" charset="-122"/>
                <a:ea typeface="宋体" panose="02010600030101010101" pitchFamily="2" charset="-122"/>
              </a:rPr>
              <a:t>第二次作业</a:t>
            </a:r>
            <a:endParaRPr lang="en-US" altLang="zh-CN" sz="2000" b="1" dirty="0">
              <a:latin typeface="宋体" panose="02010600030101010101" pitchFamily="2" charset="-122"/>
              <a:ea typeface="宋体" panose="02010600030101010101" pitchFamily="2" charset="-122"/>
            </a:endParaRPr>
          </a:p>
          <a:p>
            <a:pPr marL="895350" lvl="1" indent="-495300">
              <a:lnSpc>
                <a:spcPct val="90000"/>
              </a:lnSpc>
            </a:pPr>
            <a:r>
              <a:rPr lang="zh-CN" altLang="en-US" sz="2200" b="1" dirty="0">
                <a:latin typeface="宋体" panose="02010600030101010101" pitchFamily="2" charset="-122"/>
                <a:ea typeface="宋体" panose="02010600030101010101" pitchFamily="2" charset="-122"/>
              </a:rPr>
              <a:t>使得文法的预测分析产生回溯的原因是什么？仅使用</a:t>
            </a:r>
            <a:r>
              <a:rPr lang="en-US" altLang="zh-CN" sz="2200" b="1" dirty="0">
                <a:latin typeface="宋体" panose="02010600030101010101" pitchFamily="2" charset="-122"/>
                <a:ea typeface="宋体" panose="02010600030101010101" pitchFamily="2" charset="-122"/>
              </a:rPr>
              <a:t>FIRST</a:t>
            </a:r>
            <a:r>
              <a:rPr lang="zh-CN" altLang="en-US" sz="2200" b="1" dirty="0">
                <a:latin typeface="宋体" panose="02010600030101010101" pitchFamily="2" charset="-122"/>
                <a:ea typeface="宋体" panose="02010600030101010101" pitchFamily="2" charset="-122"/>
              </a:rPr>
              <a:t>集合可以避免回溯吗？为什么？</a:t>
            </a:r>
            <a:endParaRPr lang="zh-CN" altLang="en-US" sz="2200" b="1" dirty="0">
              <a:latin typeface="宋体" panose="02010600030101010101" pitchFamily="2" charset="-122"/>
              <a:ea typeface="宋体" panose="02010600030101010101" pitchFamily="2" charset="-122"/>
            </a:endParaRPr>
          </a:p>
          <a:p>
            <a:pPr marL="895350" lvl="1" indent="-495300">
              <a:lnSpc>
                <a:spcPct val="90000"/>
              </a:lnSpc>
              <a:buNone/>
            </a:pPr>
            <a:endParaRPr lang="zh-CN" altLang="en-US" sz="2200" b="1" dirty="0">
              <a:latin typeface="宋体" panose="02010600030101010101" pitchFamily="2" charset="-122"/>
              <a:ea typeface="宋体" panose="02010600030101010101" pitchFamily="2" charset="-122"/>
            </a:endParaRPr>
          </a:p>
          <a:p>
            <a:pPr marL="895350" lvl="1" indent="-495300">
              <a:lnSpc>
                <a:spcPct val="90000"/>
              </a:lnSpc>
            </a:pPr>
            <a:r>
              <a:rPr lang="zh-CN" altLang="en-US" sz="2200" b="1" dirty="0">
                <a:latin typeface="宋体" panose="02010600030101010101" pitchFamily="2" charset="-122"/>
                <a:ea typeface="宋体" panose="02010600030101010101" pitchFamily="2" charset="-122"/>
              </a:rPr>
              <a:t>考虑文法：</a:t>
            </a:r>
            <a:endParaRPr lang="en-US" altLang="zh-CN" sz="2200" b="1" dirty="0">
              <a:latin typeface="宋体" panose="02010600030101010101" pitchFamily="2" charset="-122"/>
              <a:ea typeface="宋体" panose="02010600030101010101" pitchFamily="2" charset="-122"/>
            </a:endParaRPr>
          </a:p>
          <a:p>
            <a:pPr marL="1314450" lvl="2" indent="-457200">
              <a:lnSpc>
                <a:spcPct val="90000"/>
              </a:lnSpc>
              <a:buNone/>
            </a:pPr>
            <a:r>
              <a:rPr lang="zh-CN" altLang="en-US" sz="1800" i="1" dirty="0">
                <a:latin typeface="宋体" panose="02010600030101010101" pitchFamily="2" charset="-122"/>
                <a:ea typeface="宋体" panose="02010600030101010101" pitchFamily="2" charset="-122"/>
              </a:rPr>
              <a:t>	</a:t>
            </a:r>
            <a:r>
              <a:rPr lang="en-US" altLang="zh-CN" sz="1800" i="1" dirty="0">
                <a:latin typeface="宋体" panose="02010600030101010101" pitchFamily="2" charset="-122"/>
                <a:ea typeface="宋体" panose="02010600030101010101" pitchFamily="2" charset="-122"/>
              </a:rPr>
              <a:t>lexp</a:t>
            </a:r>
            <a:r>
              <a:rPr lang="zh-CN" altLang="en-US" sz="1800" i="1" dirty="0">
                <a:latin typeface="宋体" panose="02010600030101010101" pitchFamily="2" charset="-122"/>
                <a:ea typeface="宋体" panose="02010600030101010101" pitchFamily="2" charset="-122"/>
              </a:rPr>
              <a:t>→</a:t>
            </a:r>
            <a:r>
              <a:rPr lang="en-US" altLang="zh-CN" sz="1800" i="1" dirty="0">
                <a:latin typeface="宋体" panose="02010600030101010101" pitchFamily="2" charset="-122"/>
                <a:ea typeface="宋体" panose="02010600030101010101" pitchFamily="2" charset="-122"/>
              </a:rPr>
              <a:t>atom </a:t>
            </a:r>
            <a:r>
              <a:rPr lang="en-US" altLang="zh-CN" sz="1800" b="1" dirty="0">
                <a:latin typeface="宋体" panose="02010600030101010101" pitchFamily="2" charset="-122"/>
                <a:ea typeface="宋体" panose="02010600030101010101" pitchFamily="2" charset="-122"/>
              </a:rPr>
              <a:t>|</a:t>
            </a:r>
            <a:r>
              <a:rPr lang="en-US" altLang="zh-CN" sz="1800" i="1" dirty="0">
                <a:latin typeface="宋体" panose="02010600030101010101" pitchFamily="2" charset="-122"/>
                <a:ea typeface="宋体" panose="02010600030101010101" pitchFamily="2" charset="-122"/>
              </a:rPr>
              <a:t> list</a:t>
            </a:r>
            <a:endParaRPr lang="en-US" altLang="zh-CN" sz="1800" i="1" dirty="0">
              <a:latin typeface="宋体" panose="02010600030101010101" pitchFamily="2" charset="-122"/>
              <a:ea typeface="宋体" panose="02010600030101010101" pitchFamily="2" charset="-122"/>
            </a:endParaRPr>
          </a:p>
          <a:p>
            <a:pPr marL="1314450" lvl="2" indent="-457200">
              <a:lnSpc>
                <a:spcPct val="90000"/>
              </a:lnSpc>
              <a:buNone/>
            </a:pPr>
            <a:r>
              <a:rPr lang="zh-CN" altLang="en-US" sz="1800" i="1" dirty="0">
                <a:latin typeface="宋体" panose="02010600030101010101" pitchFamily="2" charset="-122"/>
                <a:ea typeface="宋体" panose="02010600030101010101" pitchFamily="2" charset="-122"/>
              </a:rPr>
              <a:t>	</a:t>
            </a:r>
            <a:r>
              <a:rPr lang="en-US" altLang="zh-CN" sz="1800" i="1" dirty="0">
                <a:latin typeface="宋体" panose="02010600030101010101" pitchFamily="2" charset="-122"/>
                <a:ea typeface="宋体" panose="02010600030101010101" pitchFamily="2" charset="-122"/>
              </a:rPr>
              <a:t>atom</a:t>
            </a:r>
            <a:r>
              <a:rPr lang="zh-CN" altLang="en-US" sz="1800" i="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number|identifiler</a:t>
            </a:r>
            <a:endParaRPr lang="en-US" altLang="zh-CN" sz="1800" b="1" dirty="0">
              <a:latin typeface="宋体" panose="02010600030101010101" pitchFamily="2" charset="-122"/>
              <a:ea typeface="宋体" panose="02010600030101010101" pitchFamily="2" charset="-122"/>
            </a:endParaRPr>
          </a:p>
          <a:p>
            <a:pPr marL="1314450" lvl="2" indent="-457200">
              <a:lnSpc>
                <a:spcPct val="90000"/>
              </a:lnSpc>
              <a:buNone/>
            </a:pPr>
            <a:r>
              <a:rPr lang="zh-CN" altLang="en-US" sz="1800" i="1" dirty="0">
                <a:latin typeface="宋体" panose="02010600030101010101" pitchFamily="2" charset="-122"/>
                <a:ea typeface="宋体" panose="02010600030101010101" pitchFamily="2" charset="-122"/>
              </a:rPr>
              <a:t>	</a:t>
            </a:r>
            <a:r>
              <a:rPr lang="en-US" altLang="zh-CN" sz="1800" i="1" dirty="0">
                <a:latin typeface="宋体" panose="02010600030101010101" pitchFamily="2" charset="-122"/>
                <a:ea typeface="宋体" panose="02010600030101010101" pitchFamily="2" charset="-122"/>
              </a:rPr>
              <a:t>list</a:t>
            </a:r>
            <a:r>
              <a:rPr lang="zh-CN" altLang="en-US" sz="1800" i="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a:t>
            </a:r>
            <a:r>
              <a:rPr lang="en-US" altLang="zh-CN" sz="1800" i="1" dirty="0">
                <a:latin typeface="宋体" panose="02010600030101010101" pitchFamily="2" charset="-122"/>
                <a:ea typeface="宋体" panose="02010600030101010101" pitchFamily="2" charset="-122"/>
              </a:rPr>
              <a:t>lexp-seq</a:t>
            </a:r>
            <a:r>
              <a:rPr lang="en-US" altLang="zh-CN"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marL="1314450" lvl="2" indent="-457200">
              <a:lnSpc>
                <a:spcPct val="90000"/>
              </a:lnSpc>
              <a:buNone/>
            </a:pPr>
            <a:r>
              <a:rPr lang="zh-CN" altLang="en-US" sz="1800" i="1" dirty="0">
                <a:latin typeface="宋体" panose="02010600030101010101" pitchFamily="2" charset="-122"/>
                <a:ea typeface="宋体" panose="02010600030101010101" pitchFamily="2" charset="-122"/>
              </a:rPr>
              <a:t>	</a:t>
            </a:r>
            <a:r>
              <a:rPr lang="en-US" altLang="zh-CN" sz="1800" i="1" dirty="0">
                <a:latin typeface="宋体" panose="02010600030101010101" pitchFamily="2" charset="-122"/>
                <a:ea typeface="宋体" panose="02010600030101010101" pitchFamily="2" charset="-122"/>
              </a:rPr>
              <a:t>lexp-seq</a:t>
            </a:r>
            <a:r>
              <a:rPr lang="zh-CN" altLang="en-US" sz="1800" i="1" dirty="0">
                <a:latin typeface="宋体" panose="02010600030101010101" pitchFamily="2" charset="-122"/>
                <a:ea typeface="宋体" panose="02010600030101010101" pitchFamily="2" charset="-122"/>
              </a:rPr>
              <a:t>→</a:t>
            </a:r>
            <a:r>
              <a:rPr lang="en-US" altLang="zh-CN" sz="1800" i="1" dirty="0">
                <a:latin typeface="宋体" panose="02010600030101010101" pitchFamily="2" charset="-122"/>
                <a:ea typeface="宋体" panose="02010600030101010101" pitchFamily="2" charset="-122"/>
              </a:rPr>
              <a:t>lexp-seq lexp </a:t>
            </a:r>
            <a:r>
              <a:rPr lang="en-US" altLang="zh-CN" sz="1800" b="1" dirty="0">
                <a:latin typeface="宋体" panose="02010600030101010101" pitchFamily="2" charset="-122"/>
                <a:ea typeface="宋体" panose="02010600030101010101" pitchFamily="2" charset="-122"/>
              </a:rPr>
              <a:t>|</a:t>
            </a:r>
            <a:r>
              <a:rPr lang="en-US" altLang="zh-CN" sz="1800" i="1" dirty="0">
                <a:latin typeface="宋体" panose="02010600030101010101" pitchFamily="2" charset="-122"/>
                <a:ea typeface="宋体" panose="02010600030101010101" pitchFamily="2" charset="-122"/>
              </a:rPr>
              <a:t> lexp</a:t>
            </a:r>
            <a:endParaRPr lang="en-US" altLang="zh-CN" sz="1800" i="1" dirty="0">
              <a:latin typeface="宋体" panose="02010600030101010101" pitchFamily="2" charset="-122"/>
              <a:ea typeface="宋体" panose="02010600030101010101" pitchFamily="2" charset="-122"/>
            </a:endParaRPr>
          </a:p>
          <a:p>
            <a:pPr marL="1314450" lvl="2" indent="-457200">
              <a:lnSpc>
                <a:spcPct val="90000"/>
              </a:lnSpc>
              <a:buFont typeface="Monotype Sorts" pitchFamily="2" charset="2"/>
              <a:buAutoNum type="alphaLcPeriod"/>
            </a:pPr>
            <a:r>
              <a:rPr lang="zh-CN" altLang="en-US" sz="1800" b="1" dirty="0">
                <a:latin typeface="宋体" panose="02010600030101010101" pitchFamily="2" charset="-122"/>
                <a:ea typeface="宋体" panose="02010600030101010101" pitchFamily="2" charset="-122"/>
              </a:rPr>
              <a:t>消除左递归</a:t>
            </a:r>
            <a:endParaRPr lang="en-US" altLang="zh-CN" sz="1800" b="1" dirty="0">
              <a:latin typeface="宋体" panose="02010600030101010101" pitchFamily="2" charset="-122"/>
              <a:ea typeface="宋体" panose="02010600030101010101" pitchFamily="2" charset="-122"/>
            </a:endParaRPr>
          </a:p>
          <a:p>
            <a:pPr marL="1314450" lvl="2" indent="-457200">
              <a:lnSpc>
                <a:spcPct val="90000"/>
              </a:lnSpc>
              <a:buFont typeface="Monotype Sorts" pitchFamily="2" charset="2"/>
              <a:buAutoNum type="alphaLcPeriod"/>
            </a:pPr>
            <a:r>
              <a:rPr lang="zh-CN" altLang="en-US" sz="1800" b="1" dirty="0">
                <a:latin typeface="宋体" panose="02010600030101010101" pitchFamily="2" charset="-122"/>
                <a:ea typeface="宋体" panose="02010600030101010101" pitchFamily="2" charset="-122"/>
              </a:rPr>
              <a:t>求得该文发的</a:t>
            </a:r>
            <a:r>
              <a:rPr lang="en-US" altLang="zh-CN" sz="1800" b="1" dirty="0">
                <a:latin typeface="宋体" panose="02010600030101010101" pitchFamily="2" charset="-122"/>
                <a:ea typeface="宋体" panose="02010600030101010101" pitchFamily="2" charset="-122"/>
              </a:rPr>
              <a:t>FIRST</a:t>
            </a:r>
            <a:r>
              <a:rPr lang="zh-CN" altLang="en-US" sz="1800" b="1" dirty="0">
                <a:latin typeface="宋体" panose="02010600030101010101" pitchFamily="2" charset="-122"/>
                <a:ea typeface="宋体" panose="02010600030101010101" pitchFamily="2" charset="-122"/>
              </a:rPr>
              <a:t>集合和</a:t>
            </a:r>
            <a:r>
              <a:rPr lang="en-US" altLang="zh-CN" sz="1800" b="1" dirty="0">
                <a:latin typeface="宋体" panose="02010600030101010101" pitchFamily="2" charset="-122"/>
                <a:ea typeface="宋体" panose="02010600030101010101" pitchFamily="2" charset="-122"/>
              </a:rPr>
              <a:t>FOLLOW</a:t>
            </a:r>
            <a:r>
              <a:rPr lang="zh-CN" altLang="en-US" sz="1800" b="1" dirty="0">
                <a:latin typeface="宋体" panose="02010600030101010101" pitchFamily="2" charset="-122"/>
                <a:ea typeface="宋体" panose="02010600030101010101" pitchFamily="2" charset="-122"/>
              </a:rPr>
              <a:t>集合</a:t>
            </a:r>
            <a:endParaRPr lang="zh-CN" altLang="en-US" sz="1800" b="1" dirty="0">
              <a:latin typeface="宋体" panose="02010600030101010101" pitchFamily="2" charset="-122"/>
              <a:ea typeface="宋体" panose="02010600030101010101" pitchFamily="2" charset="-122"/>
            </a:endParaRPr>
          </a:p>
          <a:p>
            <a:pPr marL="1314450" lvl="2" indent="-457200">
              <a:lnSpc>
                <a:spcPct val="90000"/>
              </a:lnSpc>
              <a:buFont typeface="Monotype Sorts" pitchFamily="2" charset="2"/>
              <a:buAutoNum type="alphaLcPeriod"/>
            </a:pPr>
            <a:r>
              <a:rPr lang="zh-CN" altLang="en-US" sz="1800" b="1" dirty="0">
                <a:latin typeface="宋体" panose="02010600030101010101" pitchFamily="2" charset="-122"/>
                <a:ea typeface="宋体" panose="02010600030101010101" pitchFamily="2" charset="-122"/>
              </a:rPr>
              <a:t>说明所得的文法是</a:t>
            </a:r>
            <a:r>
              <a:rPr lang="en-US" altLang="zh-CN" sz="1800" b="1" dirty="0">
                <a:latin typeface="宋体" panose="02010600030101010101" pitchFamily="2" charset="-122"/>
                <a:ea typeface="宋体" panose="02010600030101010101" pitchFamily="2" charset="-122"/>
              </a:rPr>
              <a:t>LL(1)</a:t>
            </a:r>
            <a:r>
              <a:rPr lang="zh-CN" altLang="en-US" sz="1800" b="1" dirty="0">
                <a:latin typeface="宋体" panose="02010600030101010101" pitchFamily="2" charset="-122"/>
                <a:ea typeface="宋体" panose="02010600030101010101" pitchFamily="2" charset="-122"/>
              </a:rPr>
              <a:t>文法</a:t>
            </a:r>
            <a:endParaRPr lang="zh-CN" altLang="en-US" sz="1800" b="1" dirty="0">
              <a:latin typeface="宋体" panose="02010600030101010101" pitchFamily="2" charset="-122"/>
              <a:ea typeface="宋体" panose="02010600030101010101" pitchFamily="2" charset="-122"/>
            </a:endParaRPr>
          </a:p>
          <a:p>
            <a:pPr marL="1314450" lvl="2" indent="-457200">
              <a:lnSpc>
                <a:spcPct val="90000"/>
              </a:lnSpc>
              <a:buFont typeface="Monotype Sorts" pitchFamily="2" charset="2"/>
              <a:buAutoNum type="alphaLcPeriod"/>
            </a:pPr>
            <a:r>
              <a:rPr lang="zh-CN" altLang="en-US" sz="1800" b="1" dirty="0">
                <a:latin typeface="宋体" panose="02010600030101010101" pitchFamily="2" charset="-122"/>
                <a:ea typeface="宋体" panose="02010600030101010101" pitchFamily="2" charset="-122"/>
              </a:rPr>
              <a:t>为所得的文法构造</a:t>
            </a:r>
            <a:r>
              <a:rPr lang="en-US" altLang="zh-CN" sz="1800" b="1" dirty="0">
                <a:latin typeface="宋体" panose="02010600030101010101" pitchFamily="2" charset="-122"/>
                <a:ea typeface="宋体" panose="02010600030101010101" pitchFamily="2" charset="-122"/>
              </a:rPr>
              <a:t>LL(1)</a:t>
            </a:r>
            <a:r>
              <a:rPr lang="zh-CN" altLang="en-US" sz="1800" b="1" dirty="0">
                <a:latin typeface="宋体" panose="02010600030101010101" pitchFamily="2" charset="-122"/>
                <a:ea typeface="宋体" panose="02010600030101010101" pitchFamily="2" charset="-122"/>
              </a:rPr>
              <a:t>分析表</a:t>
            </a:r>
            <a:endParaRPr lang="zh-CN" altLang="en-US" sz="1800" b="1" dirty="0">
              <a:latin typeface="宋体" panose="02010600030101010101" pitchFamily="2" charset="-122"/>
              <a:ea typeface="宋体" panose="02010600030101010101" pitchFamily="2" charset="-122"/>
            </a:endParaRPr>
          </a:p>
          <a:p>
            <a:pPr marL="1314450" lvl="2" indent="-457200">
              <a:lnSpc>
                <a:spcPct val="90000"/>
              </a:lnSpc>
              <a:buFont typeface="Monotype Sorts" pitchFamily="2" charset="2"/>
              <a:buAutoNum type="alphaLcPeriod"/>
            </a:pPr>
            <a:r>
              <a:rPr lang="zh-CN" altLang="en-US" sz="1800" b="1" dirty="0">
                <a:latin typeface="宋体" panose="02010600030101010101" pitchFamily="2" charset="-122"/>
                <a:ea typeface="宋体" panose="02010600030101010101" pitchFamily="2" charset="-122"/>
              </a:rPr>
              <a:t>对输入串(</a:t>
            </a:r>
            <a:r>
              <a:rPr lang="en-US" altLang="zh-CN" sz="1800" b="1" dirty="0">
                <a:latin typeface="宋体" panose="02010600030101010101" pitchFamily="2" charset="-122"/>
                <a:ea typeface="宋体" panose="02010600030101010101" pitchFamily="2" charset="-122"/>
              </a:rPr>
              <a:t>a (b (2)) (c))</a:t>
            </a:r>
            <a:r>
              <a:rPr lang="zh-CN" altLang="en-US" sz="1800" b="1" dirty="0">
                <a:latin typeface="宋体" panose="02010600030101010101" pitchFamily="2" charset="-122"/>
                <a:ea typeface="宋体" panose="02010600030101010101" pitchFamily="2" charset="-122"/>
              </a:rPr>
              <a:t>给出相应得</a:t>
            </a:r>
            <a:r>
              <a:rPr lang="en-US" altLang="zh-CN" sz="1800" b="1" dirty="0">
                <a:latin typeface="宋体" panose="02010600030101010101" pitchFamily="2" charset="-122"/>
                <a:ea typeface="宋体" panose="02010600030101010101" pitchFamily="2" charset="-122"/>
              </a:rPr>
              <a:t>LL(1)</a:t>
            </a:r>
            <a:r>
              <a:rPr lang="zh-CN" altLang="en-US" sz="1800" b="1" dirty="0">
                <a:latin typeface="宋体" panose="02010600030101010101" pitchFamily="2" charset="-122"/>
                <a:ea typeface="宋体" panose="02010600030101010101" pitchFamily="2" charset="-122"/>
              </a:rPr>
              <a:t>分析程序的动作</a:t>
            </a:r>
            <a:endParaRPr lang="zh-CN" altLang="en-US" sz="18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461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作业</a:t>
            </a:r>
            <a:endParaRPr lang="zh-CN" altLang="en-US" dirty="0">
              <a:latin typeface="宋体" panose="02010600030101010101" pitchFamily="2" charset="-122"/>
              <a:ea typeface="宋体" panose="02010600030101010101" pitchFamily="2" charset="-122"/>
            </a:endParaRPr>
          </a:p>
        </p:txBody>
      </p:sp>
      <p:sp>
        <p:nvSpPr>
          <p:cNvPr id="324611" name="Rectangle 3"/>
          <p:cNvSpPr>
            <a:spLocks noGrp="1"/>
          </p:cNvSpPr>
          <p:nvPr>
            <p:ph idx="1"/>
          </p:nvPr>
        </p:nvSpPr>
        <p:spPr>
          <a:xfrm>
            <a:off x="684213" y="1371600"/>
            <a:ext cx="7920037" cy="4876800"/>
          </a:xfrm>
        </p:spPr>
        <p:txBody>
          <a:bodyPr vert="horz" wrap="square" lIns="92075" tIns="46038" rIns="92075" bIns="46038" anchor="t" anchorCtr="0"/>
          <a:p>
            <a:pPr marL="495300" indent="-495300"/>
            <a:r>
              <a:rPr lang="zh-CN" altLang="en-US" sz="2000" b="1" dirty="0">
                <a:latin typeface="宋体" panose="02010600030101010101" pitchFamily="2" charset="-122"/>
                <a:ea typeface="宋体" panose="02010600030101010101" pitchFamily="2" charset="-122"/>
              </a:rPr>
              <a:t>第三次作业</a:t>
            </a:r>
            <a:endParaRPr lang="en-US" altLang="zh-CN" sz="2000" b="1" dirty="0">
              <a:latin typeface="宋体" panose="02010600030101010101" pitchFamily="2" charset="-122"/>
              <a:ea typeface="宋体" panose="02010600030101010101" pitchFamily="2" charset="-122"/>
            </a:endParaRPr>
          </a:p>
          <a:p>
            <a:pPr marL="895350" lvl="1" indent="-495300">
              <a:lnSpc>
                <a:spcPct val="90000"/>
              </a:lnSpc>
            </a:pPr>
            <a:r>
              <a:rPr lang="en-US" altLang="zh-CN" sz="2200" b="1" dirty="0">
                <a:latin typeface="宋体" panose="02010600030101010101" pitchFamily="2" charset="-122"/>
                <a:ea typeface="宋体" panose="02010600030101010101" pitchFamily="2" charset="-122"/>
              </a:rPr>
              <a:t>4.5.2</a:t>
            </a:r>
            <a:r>
              <a:rPr lang="zh-CN" altLang="en-US" sz="2200" b="1" dirty="0">
                <a:latin typeface="宋体" panose="02010600030101010101" pitchFamily="2" charset="-122"/>
                <a:ea typeface="宋体" panose="02010600030101010101" pitchFamily="2" charset="-122"/>
              </a:rPr>
              <a:t>对于文法</a:t>
            </a:r>
            <a:r>
              <a:rPr lang="en-US" altLang="zh-CN" i="1" dirty="0">
                <a:latin typeface="宋体" panose="02010600030101010101" pitchFamily="2" charset="-122"/>
                <a:ea typeface="宋体" panose="02010600030101010101" pitchFamily="2" charset="-122"/>
              </a:rPr>
              <a:t>S</a:t>
            </a:r>
            <a:r>
              <a:rPr lang="zh-CN" altLang="en-US" i="1" dirty="0">
                <a:latin typeface="宋体" panose="02010600030101010101" pitchFamily="2" charset="-122"/>
                <a:ea typeface="宋体" panose="02010600030101010101" pitchFamily="2" charset="-122"/>
              </a:rPr>
              <a:t>→</a:t>
            </a:r>
            <a:r>
              <a:rPr lang="en-US" altLang="zh-CN" i="1" dirty="0">
                <a:latin typeface="宋体" panose="02010600030101010101" pitchFamily="2" charset="-122"/>
                <a:ea typeface="宋体" panose="02010600030101010101" pitchFamily="2" charset="-122"/>
              </a:rPr>
              <a:t> S</a:t>
            </a:r>
            <a:r>
              <a:rPr lang="zh-CN" altLang="en-US" i="1" dirty="0">
                <a:latin typeface="宋体" panose="02010600030101010101" pitchFamily="2" charset="-122"/>
                <a:ea typeface="宋体" panose="02010600030101010101" pitchFamily="2" charset="-122"/>
              </a:rPr>
              <a:t> </a:t>
            </a:r>
            <a:r>
              <a:rPr lang="en-US" altLang="zh-CN" i="1" dirty="0">
                <a:latin typeface="宋体" panose="02010600030101010101" pitchFamily="2" charset="-122"/>
                <a:ea typeface="宋体" panose="02010600030101010101" pitchFamily="2" charset="-122"/>
              </a:rPr>
              <a:t>S</a:t>
            </a:r>
            <a:r>
              <a:rPr lang="zh-CN" altLang="en-US" i="1"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a:t>
            </a:r>
            <a:r>
              <a:rPr lang="en-US" altLang="zh-CN" i="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en-US" altLang="zh-CN" i="1" dirty="0">
                <a:latin typeface="宋体" panose="02010600030101010101" pitchFamily="2" charset="-122"/>
                <a:ea typeface="宋体" panose="02010600030101010101" pitchFamily="2" charset="-122"/>
              </a:rPr>
              <a:t> S</a:t>
            </a:r>
            <a:r>
              <a:rPr lang="zh-CN" altLang="en-US" i="1" dirty="0">
                <a:latin typeface="宋体" panose="02010600030101010101" pitchFamily="2" charset="-122"/>
                <a:ea typeface="宋体" panose="02010600030101010101" pitchFamily="2" charset="-122"/>
              </a:rPr>
              <a:t> </a:t>
            </a:r>
            <a:r>
              <a:rPr lang="en-US" altLang="zh-CN" i="1" dirty="0">
                <a:latin typeface="宋体" panose="02010600030101010101" pitchFamily="2" charset="-122"/>
                <a:ea typeface="宋体" panose="02010600030101010101" pitchFamily="2" charset="-122"/>
              </a:rPr>
              <a:t>S</a:t>
            </a:r>
            <a:r>
              <a:rPr lang="zh-CN" altLang="en-US" i="1"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a:t>
            </a:r>
            <a:r>
              <a:rPr lang="zh-CN" altLang="en-US" i="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zh-CN" altLang="en-US" i="1" dirty="0">
                <a:latin typeface="宋体" panose="02010600030101010101" pitchFamily="2" charset="-122"/>
                <a:ea typeface="宋体" panose="02010600030101010101" pitchFamily="2" charset="-122"/>
              </a:rPr>
              <a:t> </a:t>
            </a:r>
            <a:r>
              <a:rPr lang="en-US" altLang="zh-CN" i="1" dirty="0">
                <a:latin typeface="宋体" panose="02010600030101010101" pitchFamily="2" charset="-122"/>
                <a:ea typeface="宋体" panose="02010600030101010101" pitchFamily="2" charset="-122"/>
              </a:rPr>
              <a:t>a</a:t>
            </a:r>
            <a:r>
              <a:rPr lang="zh-CN" altLang="en-US" sz="2200" b="1" dirty="0">
                <a:latin typeface="宋体" panose="02010600030101010101" pitchFamily="2" charset="-122"/>
                <a:ea typeface="宋体" panose="02010600030101010101" pitchFamily="2" charset="-122"/>
              </a:rPr>
              <a:t>和下面的最右句型，指出其归约时使用的到句柄</a:t>
            </a:r>
            <a:endParaRPr lang="en-US" altLang="zh-CN" sz="2200" b="1" dirty="0">
              <a:latin typeface="宋体" panose="02010600030101010101" pitchFamily="2" charset="-122"/>
              <a:ea typeface="宋体" panose="02010600030101010101" pitchFamily="2" charset="-122"/>
            </a:endParaRPr>
          </a:p>
          <a:p>
            <a:pPr marL="1295400" lvl="2" indent="-495300">
              <a:lnSpc>
                <a:spcPct val="90000"/>
              </a:lnSpc>
              <a:buSzPct val="90000"/>
              <a:buFontTx/>
              <a:buAutoNum type="circleNumDbPlain"/>
            </a:pPr>
            <a:r>
              <a:rPr lang="zh-CN" altLang="en-US" sz="2000"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SSS</a:t>
            </a:r>
            <a:r>
              <a:rPr lang="zh-CN" altLang="en-US" sz="2000" dirty="0">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a</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marL="1295400" lvl="2" indent="-495300">
              <a:lnSpc>
                <a:spcPct val="90000"/>
              </a:lnSpc>
              <a:buSzPct val="90000"/>
              <a:buFontTx/>
              <a:buAutoNum type="circleNumDbPlain"/>
            </a:pPr>
            <a:r>
              <a:rPr lang="zh-CN" altLang="en-US" sz="2000"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SS</a:t>
            </a:r>
            <a:r>
              <a:rPr lang="zh-CN" altLang="en-US" sz="2000" dirty="0">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a</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a</a:t>
            </a:r>
            <a:r>
              <a:rPr lang="en-US" altLang="zh-CN" sz="2000" dirty="0">
                <a:latin typeface="宋体" panose="02010600030101010101" pitchFamily="2" charset="-122"/>
                <a:ea typeface="宋体" panose="02010600030101010101" pitchFamily="2" charset="-122"/>
              </a:rPr>
              <a:t> +</a:t>
            </a:r>
            <a:endParaRPr lang="en-US" altLang="zh-CN" sz="2000" dirty="0">
              <a:latin typeface="宋体" panose="02010600030101010101" pitchFamily="2" charset="-122"/>
              <a:ea typeface="宋体" panose="02010600030101010101" pitchFamily="2" charset="-122"/>
            </a:endParaRPr>
          </a:p>
          <a:p>
            <a:pPr marL="1295400" lvl="2" indent="-495300">
              <a:lnSpc>
                <a:spcPct val="90000"/>
              </a:lnSpc>
              <a:buSzPct val="90000"/>
              <a:buFontTx/>
              <a:buAutoNum type="circleNumDbPlain"/>
            </a:pPr>
            <a:r>
              <a:rPr lang="zh-CN" altLang="en-US" sz="2000"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aaa</a:t>
            </a:r>
            <a:r>
              <a:rPr lang="zh-CN" altLang="en-US" sz="2000" dirty="0">
                <a:latin typeface="宋体" panose="02010600030101010101" pitchFamily="2" charset="-122"/>
                <a:ea typeface="宋体" panose="02010600030101010101" pitchFamily="2" charset="-122"/>
              </a:rPr>
              <a:t> * </a:t>
            </a:r>
            <a:r>
              <a:rPr lang="en-US" altLang="zh-CN" sz="2000" i="1" dirty="0">
                <a:latin typeface="宋体" panose="02010600030101010101" pitchFamily="2" charset="-122"/>
                <a:ea typeface="宋体" panose="02010600030101010101" pitchFamily="2" charset="-122"/>
              </a:rPr>
              <a:t>a</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marL="895350" lvl="1" indent="-495300">
              <a:lnSpc>
                <a:spcPct val="90000"/>
              </a:lnSpc>
            </a:pPr>
            <a:r>
              <a:rPr lang="en-US" altLang="zh-CN" sz="2200" b="1" dirty="0">
                <a:latin typeface="宋体" panose="02010600030101010101" pitchFamily="2" charset="-122"/>
                <a:ea typeface="宋体" panose="02010600030101010101" pitchFamily="2" charset="-122"/>
              </a:rPr>
              <a:t>4.6.2</a:t>
            </a:r>
            <a:r>
              <a:rPr lang="zh-CN" altLang="en-US" sz="2200" b="1" dirty="0">
                <a:latin typeface="宋体" panose="02010600030101010101" pitchFamily="2" charset="-122"/>
                <a:ea typeface="宋体" panose="02010600030101010101" pitchFamily="2" charset="-122"/>
              </a:rPr>
              <a:t>对于文法</a:t>
            </a:r>
            <a:r>
              <a:rPr lang="en-US" altLang="zh-CN" i="1" dirty="0">
                <a:latin typeface="宋体" panose="02010600030101010101" pitchFamily="2" charset="-122"/>
                <a:ea typeface="宋体" panose="02010600030101010101" pitchFamily="2" charset="-122"/>
              </a:rPr>
              <a:t>S</a:t>
            </a:r>
            <a:r>
              <a:rPr lang="zh-CN" altLang="en-US" i="1" dirty="0">
                <a:latin typeface="宋体" panose="02010600030101010101" pitchFamily="2" charset="-122"/>
                <a:ea typeface="宋体" panose="02010600030101010101" pitchFamily="2" charset="-122"/>
              </a:rPr>
              <a:t>→</a:t>
            </a:r>
            <a:r>
              <a:rPr lang="en-US" altLang="zh-CN" i="1" dirty="0">
                <a:latin typeface="宋体" panose="02010600030101010101" pitchFamily="2" charset="-122"/>
                <a:ea typeface="宋体" panose="02010600030101010101" pitchFamily="2" charset="-122"/>
              </a:rPr>
              <a:t> S</a:t>
            </a:r>
            <a:r>
              <a:rPr lang="zh-CN" altLang="en-US" i="1" dirty="0">
                <a:latin typeface="宋体" panose="02010600030101010101" pitchFamily="2" charset="-122"/>
                <a:ea typeface="宋体" panose="02010600030101010101" pitchFamily="2" charset="-122"/>
              </a:rPr>
              <a:t> </a:t>
            </a:r>
            <a:r>
              <a:rPr lang="en-US" altLang="zh-CN" i="1" dirty="0">
                <a:latin typeface="宋体" panose="02010600030101010101" pitchFamily="2" charset="-122"/>
                <a:ea typeface="宋体" panose="02010600030101010101" pitchFamily="2" charset="-122"/>
              </a:rPr>
              <a:t>S</a:t>
            </a:r>
            <a:r>
              <a:rPr lang="zh-CN" altLang="en-US" i="1"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a:t>
            </a:r>
            <a:r>
              <a:rPr lang="en-US" altLang="zh-CN" i="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en-US" altLang="zh-CN" i="1" dirty="0">
                <a:latin typeface="宋体" panose="02010600030101010101" pitchFamily="2" charset="-122"/>
                <a:ea typeface="宋体" panose="02010600030101010101" pitchFamily="2" charset="-122"/>
              </a:rPr>
              <a:t> S</a:t>
            </a:r>
            <a:r>
              <a:rPr lang="zh-CN" altLang="en-US" i="1" dirty="0">
                <a:latin typeface="宋体" panose="02010600030101010101" pitchFamily="2" charset="-122"/>
                <a:ea typeface="宋体" panose="02010600030101010101" pitchFamily="2" charset="-122"/>
              </a:rPr>
              <a:t> </a:t>
            </a:r>
            <a:r>
              <a:rPr lang="en-US" altLang="zh-CN" i="1" dirty="0">
                <a:latin typeface="宋体" panose="02010600030101010101" pitchFamily="2" charset="-122"/>
                <a:ea typeface="宋体" panose="02010600030101010101" pitchFamily="2" charset="-122"/>
              </a:rPr>
              <a:t>S</a:t>
            </a:r>
            <a:r>
              <a:rPr lang="zh-CN" altLang="en-US" i="1"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a:t>
            </a:r>
            <a:r>
              <a:rPr lang="zh-CN" altLang="en-US" i="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zh-CN" altLang="en-US" i="1" dirty="0">
                <a:latin typeface="宋体" panose="02010600030101010101" pitchFamily="2" charset="-122"/>
                <a:ea typeface="宋体" panose="02010600030101010101" pitchFamily="2" charset="-122"/>
              </a:rPr>
              <a:t> </a:t>
            </a:r>
            <a:r>
              <a:rPr lang="en-US" altLang="zh-CN" i="1" dirty="0">
                <a:latin typeface="宋体" panose="02010600030101010101" pitchFamily="2" charset="-122"/>
                <a:ea typeface="宋体" panose="02010600030101010101" pitchFamily="2" charset="-122"/>
              </a:rPr>
              <a:t>a</a:t>
            </a:r>
            <a:r>
              <a:rPr lang="zh-CN" altLang="en-US" sz="2200" b="1" dirty="0">
                <a:latin typeface="宋体" panose="02010600030101010101" pitchFamily="2" charset="-122"/>
                <a:ea typeface="宋体" panose="02010600030101010101" pitchFamily="2" charset="-122"/>
              </a:rPr>
              <a:t>，增广该文法构造</a:t>
            </a:r>
            <a:r>
              <a:rPr lang="en-US" altLang="zh-CN" sz="2200" b="1" dirty="0">
                <a:latin typeface="宋体" panose="02010600030101010101" pitchFamily="2" charset="-122"/>
                <a:ea typeface="宋体" panose="02010600030101010101" pitchFamily="2" charset="-122"/>
              </a:rPr>
              <a:t>SLR</a:t>
            </a:r>
            <a:r>
              <a:rPr lang="zh-CN" altLang="en-US" sz="2200" b="1" dirty="0">
                <a:latin typeface="宋体" panose="02010600030101010101" pitchFamily="2" charset="-122"/>
                <a:ea typeface="宋体" panose="02010600030101010101" pitchFamily="2" charset="-122"/>
              </a:rPr>
              <a:t>项目集。计算这些项目集的</a:t>
            </a:r>
            <a:r>
              <a:rPr lang="en-US" altLang="zh-CN" sz="2200" b="1" dirty="0">
                <a:latin typeface="宋体" panose="02010600030101010101" pitchFamily="2" charset="-122"/>
                <a:ea typeface="宋体" panose="02010600030101010101" pitchFamily="2" charset="-122"/>
              </a:rPr>
              <a:t>GOTO</a:t>
            </a:r>
            <a:r>
              <a:rPr lang="zh-CN" altLang="en-US" sz="2200" b="1" dirty="0">
                <a:latin typeface="宋体" panose="02010600030101010101" pitchFamily="2" charset="-122"/>
                <a:ea typeface="宋体" panose="02010600030101010101" pitchFamily="2" charset="-122"/>
              </a:rPr>
              <a:t>函数，给出这个文法的语法分析表。这个文法是</a:t>
            </a:r>
            <a:r>
              <a:rPr lang="en-US" altLang="zh-CN" sz="2200" b="1" dirty="0">
                <a:latin typeface="宋体" panose="02010600030101010101" pitchFamily="2" charset="-122"/>
                <a:ea typeface="宋体" panose="02010600030101010101" pitchFamily="2" charset="-122"/>
              </a:rPr>
              <a:t>SLR</a:t>
            </a:r>
            <a:r>
              <a:rPr lang="zh-CN" altLang="en-US" sz="2200" b="1" dirty="0">
                <a:latin typeface="宋体" panose="02010600030101010101" pitchFamily="2" charset="-122"/>
                <a:ea typeface="宋体" panose="02010600030101010101" pitchFamily="2" charset="-122"/>
              </a:rPr>
              <a:t>文法吗？</a:t>
            </a:r>
            <a:endParaRPr lang="en-US" altLang="zh-CN" sz="2200" b="1" dirty="0">
              <a:latin typeface="宋体" panose="02010600030101010101" pitchFamily="2" charset="-122"/>
              <a:ea typeface="宋体" panose="02010600030101010101" pitchFamily="2" charset="-122"/>
            </a:endParaRPr>
          </a:p>
          <a:p>
            <a:pPr marL="895350" lvl="1" indent="-495300">
              <a:lnSpc>
                <a:spcPct val="90000"/>
              </a:lnSpc>
            </a:pPr>
            <a:r>
              <a:rPr lang="en-US" altLang="zh-CN" sz="2200" b="1" dirty="0">
                <a:latin typeface="宋体" panose="02010600030101010101" pitchFamily="2" charset="-122"/>
                <a:ea typeface="宋体" panose="02010600030101010101" pitchFamily="2" charset="-122"/>
              </a:rPr>
              <a:t>4.7.1</a:t>
            </a:r>
            <a:r>
              <a:rPr lang="zh-CN" altLang="en-US" sz="2200" b="1" dirty="0">
                <a:latin typeface="宋体" panose="02010600030101010101" pitchFamily="2" charset="-122"/>
                <a:ea typeface="宋体" panose="02010600030101010101" pitchFamily="2" charset="-122"/>
              </a:rPr>
              <a:t>对于文法</a:t>
            </a:r>
            <a:r>
              <a:rPr lang="en-US" altLang="zh-CN" sz="2200" i="1" dirty="0">
                <a:latin typeface="宋体" panose="02010600030101010101" pitchFamily="2" charset="-122"/>
                <a:ea typeface="宋体" panose="02010600030101010101" pitchFamily="2" charset="-122"/>
              </a:rPr>
              <a:t>S</a:t>
            </a:r>
            <a:r>
              <a:rPr lang="zh-CN" altLang="en-US" sz="2200" i="1" dirty="0">
                <a:latin typeface="宋体" panose="02010600030101010101" pitchFamily="2" charset="-122"/>
                <a:ea typeface="宋体" panose="02010600030101010101" pitchFamily="2" charset="-122"/>
              </a:rPr>
              <a:t>→</a:t>
            </a:r>
            <a:r>
              <a:rPr lang="en-US" altLang="zh-CN" sz="2200" i="1" dirty="0">
                <a:latin typeface="宋体" panose="02010600030101010101" pitchFamily="2" charset="-122"/>
                <a:ea typeface="宋体" panose="02010600030101010101" pitchFamily="2" charset="-122"/>
              </a:rPr>
              <a:t> S</a:t>
            </a:r>
            <a:r>
              <a:rPr lang="zh-CN" altLang="en-US" sz="2200" i="1" dirty="0">
                <a:latin typeface="宋体" panose="02010600030101010101" pitchFamily="2" charset="-122"/>
                <a:ea typeface="宋体" panose="02010600030101010101" pitchFamily="2" charset="-122"/>
              </a:rPr>
              <a:t> </a:t>
            </a:r>
            <a:r>
              <a:rPr lang="en-US" altLang="zh-CN" sz="2200" i="1" dirty="0">
                <a:latin typeface="宋体" panose="02010600030101010101" pitchFamily="2" charset="-122"/>
                <a:ea typeface="宋体" panose="02010600030101010101" pitchFamily="2" charset="-122"/>
              </a:rPr>
              <a:t>S</a:t>
            </a:r>
            <a:r>
              <a:rPr lang="zh-CN" altLang="en-US" sz="2200" i="1" dirty="0">
                <a:latin typeface="宋体" panose="02010600030101010101" pitchFamily="2" charset="-122"/>
                <a:ea typeface="宋体" panose="02010600030101010101" pitchFamily="2" charset="-122"/>
              </a:rPr>
              <a:t> </a:t>
            </a:r>
            <a:r>
              <a:rPr lang="en-US" altLang="zh-CN" sz="2200" dirty="0">
                <a:latin typeface="宋体" panose="02010600030101010101" pitchFamily="2" charset="-122"/>
                <a:ea typeface="宋体" panose="02010600030101010101" pitchFamily="2" charset="-122"/>
              </a:rPr>
              <a:t>+</a:t>
            </a:r>
            <a:r>
              <a:rPr lang="en-US" altLang="zh-CN" sz="2200" i="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a:t>
            </a:r>
            <a:r>
              <a:rPr lang="en-US" altLang="zh-CN" sz="2200" i="1" dirty="0">
                <a:latin typeface="宋体" panose="02010600030101010101" pitchFamily="2" charset="-122"/>
                <a:ea typeface="宋体" panose="02010600030101010101" pitchFamily="2" charset="-122"/>
              </a:rPr>
              <a:t> S</a:t>
            </a:r>
            <a:r>
              <a:rPr lang="zh-CN" altLang="en-US" sz="2200" i="1" dirty="0">
                <a:latin typeface="宋体" panose="02010600030101010101" pitchFamily="2" charset="-122"/>
                <a:ea typeface="宋体" panose="02010600030101010101" pitchFamily="2" charset="-122"/>
              </a:rPr>
              <a:t> </a:t>
            </a:r>
            <a:r>
              <a:rPr lang="en-US" altLang="zh-CN" sz="2200" i="1" dirty="0">
                <a:latin typeface="宋体" panose="02010600030101010101" pitchFamily="2" charset="-122"/>
                <a:ea typeface="宋体" panose="02010600030101010101" pitchFamily="2" charset="-122"/>
              </a:rPr>
              <a:t>S</a:t>
            </a:r>
            <a:r>
              <a:rPr lang="zh-CN" altLang="en-US" sz="2200" i="1"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a:t>
            </a:r>
            <a:r>
              <a:rPr lang="zh-CN" altLang="en-US" sz="2200" i="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a:t>
            </a:r>
            <a:r>
              <a:rPr lang="zh-CN" altLang="en-US" sz="2200" i="1" dirty="0">
                <a:latin typeface="宋体" panose="02010600030101010101" pitchFamily="2" charset="-122"/>
                <a:ea typeface="宋体" panose="02010600030101010101" pitchFamily="2" charset="-122"/>
              </a:rPr>
              <a:t> </a:t>
            </a:r>
            <a:r>
              <a:rPr lang="en-US" altLang="zh-CN" sz="2200" i="1" dirty="0">
                <a:latin typeface="宋体" panose="02010600030101010101" pitchFamily="2" charset="-122"/>
                <a:ea typeface="宋体" panose="02010600030101010101" pitchFamily="2" charset="-122"/>
              </a:rPr>
              <a:t>a</a:t>
            </a:r>
            <a:r>
              <a:rPr lang="zh-CN" altLang="en-US" sz="2200" b="1" dirty="0">
                <a:latin typeface="宋体" panose="02010600030101010101" pitchFamily="2" charset="-122"/>
                <a:ea typeface="宋体" panose="02010600030101010101" pitchFamily="2" charset="-122"/>
              </a:rPr>
              <a:t>，构造</a:t>
            </a:r>
            <a:endParaRPr lang="en-US" altLang="zh-CN" sz="2200" b="1" dirty="0">
              <a:latin typeface="宋体" panose="02010600030101010101" pitchFamily="2" charset="-122"/>
              <a:ea typeface="宋体" panose="02010600030101010101" pitchFamily="2" charset="-122"/>
            </a:endParaRPr>
          </a:p>
          <a:p>
            <a:pPr marL="1295400" lvl="2" indent="-495300">
              <a:lnSpc>
                <a:spcPct val="90000"/>
              </a:lnSpc>
              <a:buSzPct val="90000"/>
              <a:buFontTx/>
              <a:buAutoNum type="circleNumDbPlain"/>
            </a:pPr>
            <a:r>
              <a:rPr lang="zh-CN" altLang="en-US" sz="2000" b="1" dirty="0">
                <a:latin typeface="宋体" panose="02010600030101010101" pitchFamily="2" charset="-122"/>
                <a:ea typeface="宋体" panose="02010600030101010101" pitchFamily="2" charset="-122"/>
              </a:rPr>
              <a:t>规范</a:t>
            </a:r>
            <a:r>
              <a:rPr lang="en-US" altLang="zh-CN" sz="2000" b="1" dirty="0">
                <a:latin typeface="宋体" panose="02010600030101010101" pitchFamily="2" charset="-122"/>
                <a:ea typeface="宋体" panose="02010600030101010101" pitchFamily="2" charset="-122"/>
              </a:rPr>
              <a:t>LR</a:t>
            </a:r>
            <a:r>
              <a:rPr lang="zh-CN" altLang="en-US" sz="2000" b="1" dirty="0">
                <a:latin typeface="宋体" panose="02010600030101010101" pitchFamily="2" charset="-122"/>
                <a:ea typeface="宋体" panose="02010600030101010101" pitchFamily="2" charset="-122"/>
              </a:rPr>
              <a:t>项目集族，并构建其语法分析表</a:t>
            </a:r>
            <a:endParaRPr lang="en-US" altLang="zh-CN" sz="2000" b="1" dirty="0">
              <a:latin typeface="宋体" panose="02010600030101010101" pitchFamily="2" charset="-122"/>
              <a:ea typeface="宋体" panose="02010600030101010101" pitchFamily="2" charset="-122"/>
            </a:endParaRPr>
          </a:p>
          <a:p>
            <a:pPr marL="1295400" lvl="2" indent="-495300">
              <a:lnSpc>
                <a:spcPct val="90000"/>
              </a:lnSpc>
              <a:buSzPct val="90000"/>
              <a:buFontTx/>
              <a:buAutoNum type="circleNumDbPlain"/>
            </a:pPr>
            <a:r>
              <a:rPr lang="en-US" altLang="zh-CN" sz="2000" b="1" dirty="0">
                <a:latin typeface="宋体" panose="02010600030101010101" pitchFamily="2" charset="-122"/>
                <a:ea typeface="宋体" panose="02010600030101010101" pitchFamily="2" charset="-122"/>
              </a:rPr>
              <a:t>LALR</a:t>
            </a:r>
            <a:r>
              <a:rPr lang="zh-CN" altLang="en-US" sz="2000" b="1" dirty="0">
                <a:latin typeface="宋体" panose="02010600030101010101" pitchFamily="2" charset="-122"/>
                <a:ea typeface="宋体" panose="02010600030101010101" pitchFamily="2" charset="-122"/>
              </a:rPr>
              <a:t>项目集族</a:t>
            </a:r>
            <a:endParaRPr lang="en-US" altLang="zh-CN"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theme/theme1.xml><?xml version="1.0" encoding="utf-8"?>
<a:theme xmlns:a="http://schemas.openxmlformats.org/drawingml/2006/main" name="ibm0325">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ibm0325">
      <a:majorFont>
        <a:latin typeface="Book Antiqua"/>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bm0325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bm0325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bm0325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bm0325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bm0325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bm0325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bm0325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E:\weldon\src\ipd_seminar\ibm0325.ppt</Template>
  <TotalTime>0</TotalTime>
  <Words>29969</Words>
  <Application>WPS 演示</Application>
  <PresentationFormat>全屏显示(4:3)</PresentationFormat>
  <Paragraphs>1749</Paragraphs>
  <Slides>161</Slides>
  <Notes>154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58</vt:i4>
      </vt:variant>
      <vt:variant>
        <vt:lpstr>幻灯片标题</vt:lpstr>
      </vt:variant>
      <vt:variant>
        <vt:i4>161</vt:i4>
      </vt:variant>
    </vt:vector>
  </HeadingPairs>
  <TitlesOfParts>
    <vt:vector size="232" baseType="lpstr">
      <vt:lpstr>Arial</vt:lpstr>
      <vt:lpstr>宋体</vt:lpstr>
      <vt:lpstr>Wingdings</vt:lpstr>
      <vt:lpstr>Times New Roman</vt:lpstr>
      <vt:lpstr>Tahoma</vt:lpstr>
      <vt:lpstr>Book Antiqua</vt:lpstr>
      <vt:lpstr>Monotype Sorts</vt:lpstr>
      <vt:lpstr>Wingdings</vt:lpstr>
      <vt:lpstr>微软雅黑</vt:lpstr>
      <vt:lpstr>Arial Unicode MS</vt:lpstr>
      <vt:lpstr>Monotype Sorts</vt:lpstr>
      <vt:lpstr>华文琥珀</vt:lpstr>
      <vt:lpstr>ibm0325</vt:lpstr>
      <vt:lpstr>Visio.Drawing.11</vt:lpstr>
      <vt:lpstr>Visio.Drawing.11</vt:lpstr>
      <vt:lpstr>Visio.Drawing.11</vt:lpstr>
      <vt:lpstr>Visio.Drawing.11</vt:lpstr>
      <vt:lpstr>Visio.Drawing.11</vt:lpstr>
      <vt:lpstr>Visio.Drawing.11</vt:lpstr>
      <vt:lpstr>Equation.3</vt:lpstr>
      <vt:lpstr>Equation.3</vt:lpstr>
      <vt:lpstr>Visio.Drawing.11</vt:lpstr>
      <vt:lpstr>Visio.Drawing.11</vt:lpstr>
      <vt:lpstr>Visio.Drawing.11</vt:lpstr>
      <vt:lpstr>Equation.3</vt:lpstr>
      <vt:lpstr>Visio.Drawing.11</vt:lpstr>
      <vt:lpstr>Equation.3</vt:lpstr>
      <vt:lpstr>Equation.3</vt:lpstr>
      <vt:lpstr>Visio.Drawing.11</vt:lpstr>
      <vt:lpstr>Visio.Drawing.11</vt:lpstr>
      <vt:lpstr>Visio.Drawing.11</vt:lpstr>
      <vt:lpstr>Equation.3</vt:lpstr>
      <vt:lpstr>Visio.Drawing.11</vt:lpstr>
      <vt:lpstr>Visio.Drawing.11</vt:lpstr>
      <vt:lpstr>Visio.Drawing.11</vt:lpstr>
      <vt:lpstr>Equation.3</vt:lpstr>
      <vt:lpstr>Equation.3</vt:lpstr>
      <vt:lpstr>Equation.3</vt:lpstr>
      <vt:lpstr>Equation.3</vt:lpstr>
      <vt:lpstr>Visio.Drawing.11</vt:lpstr>
      <vt:lpstr>Equation.3</vt:lpstr>
      <vt:lpstr>Visio.Drawing.4</vt:lpstr>
      <vt:lpstr>Visio.Drawing.4</vt:lpstr>
      <vt:lpstr>Visio.Drawing.4</vt:lpstr>
      <vt:lpstr>Visio.Drawing.4</vt:lpstr>
      <vt:lpstr>Equation.3</vt:lpstr>
      <vt:lpstr>Equation.3</vt:lpstr>
      <vt:lpstr>Equation.3</vt:lpstr>
      <vt:lpstr>Visio.Drawing.4</vt:lpstr>
      <vt:lpstr>Equation.3</vt:lpstr>
      <vt:lpstr>Equation.3</vt:lpstr>
      <vt:lpstr>Equation.3</vt:lpstr>
      <vt:lpstr>Visio.Drawing.4</vt:lpstr>
      <vt:lpstr>Visio.Drawing.4</vt:lpstr>
      <vt:lpstr>Equation.3</vt:lpstr>
      <vt:lpstr>Equation.3</vt:lpstr>
      <vt:lpstr>Equation.3</vt:lpstr>
      <vt:lpstr>Equation.3</vt:lpstr>
      <vt:lpstr>Equation.3</vt:lpstr>
      <vt:lpstr>Equation.3</vt:lpstr>
      <vt:lpstr>Equation.3</vt:lpstr>
      <vt:lpstr>Visio.Drawing.11</vt:lpstr>
      <vt:lpstr>Visio.Drawing.4</vt:lpstr>
      <vt:lpstr>Visio.Drawing.6</vt:lpstr>
      <vt:lpstr>Visio.Drawing.6</vt:lpstr>
      <vt:lpstr>Visio.Drawing.6</vt:lpstr>
      <vt:lpstr>Visio.Drawing.6</vt:lpstr>
      <vt:lpstr>Equation.3</vt:lpstr>
      <vt:lpstr>Equation.3</vt:lpstr>
      <vt:lpstr>Equation.3</vt:lpstr>
      <vt:lpstr>Visio.Drawing.11</vt:lpstr>
      <vt:lpstr>第四章 语法分析</vt:lpstr>
      <vt:lpstr>分析器的作用（1）</vt:lpstr>
      <vt:lpstr>分析器的作用（2）</vt:lpstr>
      <vt:lpstr>分析器的作用（3）</vt:lpstr>
      <vt:lpstr>分析器的作用（4）</vt:lpstr>
      <vt:lpstr>分析器的作用（5）</vt:lpstr>
      <vt:lpstr>分析器的作用（6）</vt:lpstr>
      <vt:lpstr>分析器的作用（7）</vt:lpstr>
      <vt:lpstr>第四章 语法分析</vt:lpstr>
      <vt:lpstr>上下文无关文法的分析（1）</vt:lpstr>
      <vt:lpstr>上下文无关文法的分析（2）</vt:lpstr>
      <vt:lpstr>上下文无关文法的分析（３）</vt:lpstr>
      <vt:lpstr>上下文无关文法的分析（４）</vt:lpstr>
      <vt:lpstr>上下文无关文法的分析（５）</vt:lpstr>
      <vt:lpstr>上下文无关文法的分析（６）</vt:lpstr>
      <vt:lpstr>PowerPoint 演示文稿</vt:lpstr>
      <vt:lpstr>上下文无关文法的分析（7）</vt:lpstr>
      <vt:lpstr>上下文无关文法的分析（8）</vt:lpstr>
      <vt:lpstr>上下文无关文法的分析（9）</vt:lpstr>
      <vt:lpstr>上下文无关文法的分析（10）</vt:lpstr>
      <vt:lpstr>设计文法（１）</vt:lpstr>
      <vt:lpstr>设计文法（２）</vt:lpstr>
      <vt:lpstr>设计文法（3）</vt:lpstr>
      <vt:lpstr>设计文法（4）</vt:lpstr>
      <vt:lpstr>设计文法（5）</vt:lpstr>
      <vt:lpstr>设计文法（6）</vt:lpstr>
      <vt:lpstr>设计文法（7）</vt:lpstr>
      <vt:lpstr>设计文法（8）</vt:lpstr>
      <vt:lpstr>设计文法（9）</vt:lpstr>
      <vt:lpstr>设计文法（１0）</vt:lpstr>
      <vt:lpstr>设计文法（１1）</vt:lpstr>
      <vt:lpstr>设计文法（１2）</vt:lpstr>
      <vt:lpstr>设计文法（１3）</vt:lpstr>
      <vt:lpstr>设计文法（１4）</vt:lpstr>
      <vt:lpstr>设计文法（１5）</vt:lpstr>
      <vt:lpstr>第四章 语法分析</vt:lpstr>
      <vt:lpstr>自顶向下分析</vt:lpstr>
      <vt:lpstr>自顶向下分析（1）</vt:lpstr>
      <vt:lpstr>PowerPoint 演示文稿</vt:lpstr>
      <vt:lpstr>自顶向下分析（2）</vt:lpstr>
      <vt:lpstr>自顶向下分析（3）</vt:lpstr>
      <vt:lpstr>自顶向下分析（4）</vt:lpstr>
      <vt:lpstr>自顶向下分析（5）</vt:lpstr>
      <vt:lpstr>自顶向下分析（6）</vt:lpstr>
      <vt:lpstr>自顶向下分析（6）</vt:lpstr>
      <vt:lpstr>自顶向下分析（7）</vt:lpstr>
      <vt:lpstr>自顶向下分析（7）</vt:lpstr>
      <vt:lpstr>自顶向下分析（8）</vt:lpstr>
      <vt:lpstr>自顶向下分析（9）</vt:lpstr>
      <vt:lpstr>自顶向下分析（10）</vt:lpstr>
      <vt:lpstr>自顶向下分析（11）</vt:lpstr>
      <vt:lpstr>自顶向下分析（12）</vt:lpstr>
      <vt:lpstr>自顶向下分析（13）</vt:lpstr>
      <vt:lpstr>自顶向下分析（14）</vt:lpstr>
      <vt:lpstr>自顶向下分析（15）</vt:lpstr>
      <vt:lpstr>自顶向下分析（16）</vt:lpstr>
      <vt:lpstr>自顶向下分析（17）</vt:lpstr>
      <vt:lpstr>自顶向下分析（18）</vt:lpstr>
      <vt:lpstr>自顶向下分析（19）</vt:lpstr>
      <vt:lpstr>自顶向下分析（20）</vt:lpstr>
      <vt:lpstr>PowerPoint 演示文稿</vt:lpstr>
      <vt:lpstr>自顶向下分析（21）</vt:lpstr>
      <vt:lpstr>PowerPoint 演示文稿</vt:lpstr>
      <vt:lpstr>自顶向下分析（22）</vt:lpstr>
      <vt:lpstr>自顶向下分析（23）</vt:lpstr>
      <vt:lpstr>自顶向下分析（24）</vt:lpstr>
      <vt:lpstr>自顶向下分析（25）</vt:lpstr>
      <vt:lpstr>自顶向下分析（26）</vt:lpstr>
      <vt:lpstr>自顶向下分析（27）</vt:lpstr>
      <vt:lpstr>自顶向下分析（28）</vt:lpstr>
      <vt:lpstr>第四章 语法分析</vt:lpstr>
      <vt:lpstr>自底向上的分析（1）</vt:lpstr>
      <vt:lpstr>自底向上的分析（2）</vt:lpstr>
      <vt:lpstr>自底向上的分析（3）</vt:lpstr>
      <vt:lpstr>自底向上的分析（4）</vt:lpstr>
      <vt:lpstr>自底向上的分析（5）</vt:lpstr>
      <vt:lpstr>自底向上的分析（6）</vt:lpstr>
      <vt:lpstr>自底向上的分析（7）</vt:lpstr>
      <vt:lpstr>自底向上的分析（8）</vt:lpstr>
      <vt:lpstr>自底向上的分析（9）</vt:lpstr>
      <vt:lpstr>自底向上的分析（10）</vt:lpstr>
      <vt:lpstr>自底向上的分析（11）</vt:lpstr>
      <vt:lpstr>自底向上的分析（12）</vt:lpstr>
      <vt:lpstr>PowerPoint 演示文稿</vt:lpstr>
      <vt:lpstr>自底向上的分析（13）</vt:lpstr>
      <vt:lpstr>自底向上的分析（14）</vt:lpstr>
      <vt:lpstr>第四章 语法分析</vt:lpstr>
      <vt:lpstr>LR分析器（1）</vt:lpstr>
      <vt:lpstr>LR分析器（2）</vt:lpstr>
      <vt:lpstr>LR分析器（3）</vt:lpstr>
      <vt:lpstr>LR分析器（4）</vt:lpstr>
      <vt:lpstr>LR分析器（5）</vt:lpstr>
      <vt:lpstr>LR分析器（6）</vt:lpstr>
      <vt:lpstr>LR分析器（7）</vt:lpstr>
      <vt:lpstr>LR分析器（8）</vt:lpstr>
      <vt:lpstr>LR分析器（9）</vt:lpstr>
      <vt:lpstr>LR分析器（10）</vt:lpstr>
      <vt:lpstr>LR分析器（11）</vt:lpstr>
      <vt:lpstr>LR分析器（12）</vt:lpstr>
      <vt:lpstr>LR分析器（13）</vt:lpstr>
      <vt:lpstr>LR分析器（14）</vt:lpstr>
      <vt:lpstr>PowerPoint 演示文稿</vt:lpstr>
      <vt:lpstr>LR分析器（15）</vt:lpstr>
      <vt:lpstr>LR分析器（16）</vt:lpstr>
      <vt:lpstr>LR分析器（17）</vt:lpstr>
      <vt:lpstr>LR分析器（18）</vt:lpstr>
      <vt:lpstr>LR分析器（19）</vt:lpstr>
      <vt:lpstr>LR分析器（20）</vt:lpstr>
      <vt:lpstr>LR分析器（21）</vt:lpstr>
      <vt:lpstr>LR分析器（22）</vt:lpstr>
      <vt:lpstr>PowerPoint 演示文稿</vt:lpstr>
      <vt:lpstr>LR分析器（23）</vt:lpstr>
      <vt:lpstr>LR分析器（24）</vt:lpstr>
      <vt:lpstr>LR分析器（25）</vt:lpstr>
      <vt:lpstr>LR分析器（26）</vt:lpstr>
      <vt:lpstr>LR分析器（27）</vt:lpstr>
      <vt:lpstr>LR分析器（28）</vt:lpstr>
      <vt:lpstr>PowerPoint 演示文稿</vt:lpstr>
      <vt:lpstr>LR分析器（29）</vt:lpstr>
      <vt:lpstr>LR分析器（30）</vt:lpstr>
      <vt:lpstr>LR分析器（31）</vt:lpstr>
      <vt:lpstr>LR分析器（32）</vt:lpstr>
      <vt:lpstr>PowerPoint 演示文稿</vt:lpstr>
      <vt:lpstr>LR分析器（33）</vt:lpstr>
      <vt:lpstr>LR分析器（34）</vt:lpstr>
      <vt:lpstr>LR分析器（35）</vt:lpstr>
      <vt:lpstr>PowerPoint 演示文稿</vt:lpstr>
      <vt:lpstr>LR分析器（36）</vt:lpstr>
      <vt:lpstr>LR分析器（37）</vt:lpstr>
      <vt:lpstr>LR分析器（38）</vt:lpstr>
      <vt:lpstr>LR分析器（39）</vt:lpstr>
      <vt:lpstr>LR分析器（40）</vt:lpstr>
      <vt:lpstr>LR分析器（41）</vt:lpstr>
      <vt:lpstr>LR分析器（42）</vt:lpstr>
      <vt:lpstr>LR分析器（43）</vt:lpstr>
      <vt:lpstr>LR分析器（44）</vt:lpstr>
      <vt:lpstr>LR分析器（45）</vt:lpstr>
      <vt:lpstr>LR分析器（46）</vt:lpstr>
      <vt:lpstr>LR分析器（47）</vt:lpstr>
      <vt:lpstr>LR分析器（48）</vt:lpstr>
      <vt:lpstr>LR分析器（49）</vt:lpstr>
      <vt:lpstr>第四章 语法分析</vt:lpstr>
      <vt:lpstr>二义文法的应用</vt:lpstr>
      <vt:lpstr>自底向上分析程序中的错误校正（1）</vt:lpstr>
      <vt:lpstr>自底向上分析程序中的错误纠正（2）</vt:lpstr>
      <vt:lpstr>自底向上分析程序中的错误纠正（3）</vt:lpstr>
      <vt:lpstr>自底向上分析程序中的错误纠正（3）</vt:lpstr>
      <vt:lpstr>PowerPoint 演示文稿</vt:lpstr>
      <vt:lpstr>第四章 语法分析</vt:lpstr>
      <vt:lpstr>分析器的生成器（1）</vt:lpstr>
      <vt:lpstr>分析器的生成器（1）</vt:lpstr>
      <vt:lpstr>PowerPoint 演示文稿</vt:lpstr>
      <vt:lpstr>分析器的生成器（2）</vt:lpstr>
      <vt:lpstr>分析器的生成器（3）</vt:lpstr>
      <vt:lpstr>PowerPoint 演示文稿</vt:lpstr>
      <vt:lpstr>PowerPoint 演示文稿</vt:lpstr>
      <vt:lpstr>分析器的生成器（6）</vt:lpstr>
      <vt:lpstr>PowerPoint 演示文稿</vt:lpstr>
      <vt:lpstr>作业</vt:lpstr>
      <vt:lpstr>作业</vt:lpstr>
      <vt:lpstr>作业</vt:lpstr>
    </vt:vector>
  </TitlesOfParts>
  <Company>Micron Electronics,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Preferred Customer</dc:creator>
  <cp:lastModifiedBy>朱首赫</cp:lastModifiedBy>
  <cp:revision>777</cp:revision>
  <cp:lastPrinted>2000-08-04T00:01:00Z</cp:lastPrinted>
  <dcterms:created xsi:type="dcterms:W3CDTF">1999-10-09T18:48:00Z</dcterms:created>
  <dcterms:modified xsi:type="dcterms:W3CDTF">2026-04-17T03:25:33Z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9EA5D312DD7B475A95D3CB5ECA1CD61C_12</vt:lpwstr>
  </property>
  <property fmtid="{D5CDD505-2E9C-101B-9397-08002B2CF9AE}" pid="3" name="KSOProductBuildVer">
    <vt:lpwstr>2052-12.1.0.23542</vt:lpwstr>
  </property>
</Properties>
</file>