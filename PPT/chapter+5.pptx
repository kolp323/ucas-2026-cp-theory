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97"/>
  </p:handoutMasterIdLst>
  <p:sldIdLst>
    <p:sldId id="693" r:id="rId3"/>
    <p:sldId id="697" r:id="rId5"/>
    <p:sldId id="698" r:id="rId6"/>
    <p:sldId id="699" r:id="rId7"/>
    <p:sldId id="792" r:id="rId8"/>
    <p:sldId id="839" r:id="rId9"/>
    <p:sldId id="700" r:id="rId10"/>
    <p:sldId id="701" r:id="rId11"/>
    <p:sldId id="702" r:id="rId12"/>
    <p:sldId id="703" r:id="rId13"/>
    <p:sldId id="704" r:id="rId14"/>
    <p:sldId id="705" r:id="rId15"/>
    <p:sldId id="793" r:id="rId16"/>
    <p:sldId id="794" r:id="rId17"/>
    <p:sldId id="795" r:id="rId18"/>
    <p:sldId id="840" r:id="rId19"/>
    <p:sldId id="708" r:id="rId20"/>
    <p:sldId id="709" r:id="rId21"/>
    <p:sldId id="710" r:id="rId22"/>
    <p:sldId id="711" r:id="rId23"/>
    <p:sldId id="798" r:id="rId24"/>
    <p:sldId id="799" r:id="rId25"/>
    <p:sldId id="800" r:id="rId26"/>
    <p:sldId id="801" r:id="rId27"/>
    <p:sldId id="802" r:id="rId28"/>
    <p:sldId id="803" r:id="rId29"/>
    <p:sldId id="841" r:id="rId30"/>
    <p:sldId id="713" r:id="rId31"/>
    <p:sldId id="714" r:id="rId32"/>
    <p:sldId id="715" r:id="rId33"/>
    <p:sldId id="716" r:id="rId34"/>
    <p:sldId id="806" r:id="rId35"/>
    <p:sldId id="807" r:id="rId36"/>
    <p:sldId id="810" r:id="rId37"/>
    <p:sldId id="808" r:id="rId38"/>
    <p:sldId id="809" r:id="rId39"/>
    <p:sldId id="811" r:id="rId40"/>
    <p:sldId id="812" r:id="rId41"/>
    <p:sldId id="842" r:id="rId42"/>
    <p:sldId id="717" r:id="rId43"/>
    <p:sldId id="814" r:id="rId44"/>
    <p:sldId id="815" r:id="rId45"/>
    <p:sldId id="725" r:id="rId46"/>
    <p:sldId id="726" r:id="rId47"/>
    <p:sldId id="819" r:id="rId48"/>
    <p:sldId id="821" r:id="rId49"/>
    <p:sldId id="822" r:id="rId50"/>
    <p:sldId id="820" r:id="rId51"/>
    <p:sldId id="823" r:id="rId52"/>
    <p:sldId id="824" r:id="rId53"/>
    <p:sldId id="825" r:id="rId54"/>
    <p:sldId id="828" r:id="rId55"/>
    <p:sldId id="829" r:id="rId56"/>
    <p:sldId id="830" r:id="rId57"/>
    <p:sldId id="831" r:id="rId58"/>
    <p:sldId id="832" r:id="rId59"/>
    <p:sldId id="833" r:id="rId60"/>
    <p:sldId id="834" r:id="rId61"/>
    <p:sldId id="835" r:id="rId62"/>
    <p:sldId id="836" r:id="rId63"/>
    <p:sldId id="837" r:id="rId64"/>
    <p:sldId id="838" r:id="rId65"/>
    <p:sldId id="843" r:id="rId66"/>
    <p:sldId id="729" r:id="rId67"/>
    <p:sldId id="730" r:id="rId68"/>
    <p:sldId id="844" r:id="rId69"/>
    <p:sldId id="845" r:id="rId70"/>
    <p:sldId id="846" r:id="rId71"/>
    <p:sldId id="847" r:id="rId72"/>
    <p:sldId id="848" r:id="rId73"/>
    <p:sldId id="849" r:id="rId74"/>
    <p:sldId id="850" r:id="rId75"/>
    <p:sldId id="851" r:id="rId76"/>
    <p:sldId id="852" r:id="rId77"/>
    <p:sldId id="853" r:id="rId78"/>
    <p:sldId id="855" r:id="rId79"/>
    <p:sldId id="854" r:id="rId80"/>
    <p:sldId id="856" r:id="rId81"/>
    <p:sldId id="857" r:id="rId82"/>
    <p:sldId id="858" r:id="rId83"/>
    <p:sldId id="860" r:id="rId84"/>
    <p:sldId id="859" r:id="rId85"/>
    <p:sldId id="862" r:id="rId86"/>
    <p:sldId id="861" r:id="rId87"/>
    <p:sldId id="863" r:id="rId88"/>
    <p:sldId id="864" r:id="rId89"/>
    <p:sldId id="865" r:id="rId90"/>
    <p:sldId id="867" r:id="rId91"/>
    <p:sldId id="866" r:id="rId92"/>
    <p:sldId id="868" r:id="rId93"/>
    <p:sldId id="612" r:id="rId94"/>
    <p:sldId id="813" r:id="rId95"/>
    <p:sldId id="869" r:id="rId96"/>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 ja" initials="f" lastIdx="1" clrIdx="6"/>
  <p:cmAuthor id="3" name="ja f" initials="j" lastIdx="1" clrIdx="2"/>
  <p:cmAuthor id="8" name="f" initials="f"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99"/>
    <a:srgbClr val="FFCCFF"/>
    <a:srgbClr val="FFFFCC"/>
    <a:srgbClr val="CCFFCC"/>
    <a:srgbClr val="CCFFFF"/>
    <a:srgbClr val="CCECFF"/>
    <a:srgbClr val="66FF66"/>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965"/>
    <p:restoredTop sz="62910"/>
  </p:normalViewPr>
  <p:slideViewPr>
    <p:cSldViewPr showGuides="1">
      <p:cViewPr varScale="1">
        <p:scale>
          <a:sx n="45" d="100"/>
          <a:sy n="45" d="100"/>
        </p:scale>
        <p:origin x="1122" y="39"/>
      </p:cViewPr>
      <p:guideLst>
        <p:guide orient="horz" pos="144"/>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handoutMaster" Target="handoutMasters/handoutMaster1.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1" Type="http://schemas.openxmlformats.org/officeDocument/2006/relationships/commentAuthors" Target="commentAuthors.xml"/><Relationship Id="rId100" Type="http://schemas.openxmlformats.org/officeDocument/2006/relationships/tableStyles" Target="tableStyle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TextEdit="1"/>
          </p:cNvSpPr>
          <p:nvPr>
            <p:ph type="sldImg"/>
          </p:nvPr>
        </p:nvSpPr>
        <p:spPr/>
      </p:sp>
      <p:sp>
        <p:nvSpPr>
          <p:cNvPr id="51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TextEdit="1"/>
          </p:cNvSpPr>
          <p:nvPr>
            <p:ph type="sldImg"/>
          </p:nvPr>
        </p:nvSpPr>
        <p:spPr/>
      </p:sp>
      <p:sp>
        <p:nvSpPr>
          <p:cNvPr id="71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TextEdit="1"/>
          </p:cNvSpPr>
          <p:nvPr>
            <p:ph type="sldImg"/>
          </p:nvPr>
        </p:nvSpPr>
        <p:spPr/>
      </p:sp>
      <p:sp>
        <p:nvSpPr>
          <p:cNvPr id="92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7" name="Rectangle 2"/>
          <p:cNvSpPr>
            <a:spLocks noTextEdit="1"/>
          </p:cNvSpPr>
          <p:nvPr>
            <p:ph type="sldImg"/>
          </p:nvPr>
        </p:nvSpPr>
        <p:spPr/>
      </p:sp>
      <p:sp>
        <p:nvSpPr>
          <p:cNvPr id="112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5" name="Rectangle 2"/>
          <p:cNvSpPr>
            <a:spLocks noTextEdit="1"/>
          </p:cNvSpPr>
          <p:nvPr>
            <p:ph type="sldImg"/>
          </p:nvPr>
        </p:nvSpPr>
        <p:spPr/>
      </p:sp>
      <p:sp>
        <p:nvSpPr>
          <p:cNvPr id="133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3" name="Rectangle 2"/>
          <p:cNvSpPr>
            <a:spLocks noTextEdit="1"/>
          </p:cNvSpPr>
          <p:nvPr>
            <p:ph type="sldImg"/>
          </p:nvPr>
        </p:nvSpPr>
        <p:spPr/>
      </p:sp>
      <p:sp>
        <p:nvSpPr>
          <p:cNvPr id="153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11" name="Rectangle 2"/>
          <p:cNvSpPr>
            <a:spLocks noTextEdit="1"/>
          </p:cNvSpPr>
          <p:nvPr>
            <p:ph type="sldImg"/>
          </p:nvPr>
        </p:nvSpPr>
        <p:spPr/>
      </p:sp>
      <p:sp>
        <p:nvSpPr>
          <p:cNvPr id="174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459" name="Rectangle 2"/>
          <p:cNvSpPr>
            <a:spLocks noTextEdit="1"/>
          </p:cNvSpPr>
          <p:nvPr>
            <p:ph type="sldImg"/>
          </p:nvPr>
        </p:nvSpPr>
        <p:spPr/>
      </p:sp>
      <p:sp>
        <p:nvSpPr>
          <p:cNvPr id="194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7" name="Rectangle 2"/>
          <p:cNvSpPr>
            <a:spLocks noTextEdit="1"/>
          </p:cNvSpPr>
          <p:nvPr>
            <p:ph type="sldImg"/>
          </p:nvPr>
        </p:nvSpPr>
        <p:spPr/>
      </p:sp>
      <p:sp>
        <p:nvSpPr>
          <p:cNvPr id="2150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一个没有副作用的</a:t>
            </a:r>
            <a:r>
              <a:rPr lang="en-US" altLang="zh-CN" dirty="0">
                <a:ea typeface="宋体" panose="02010600030101010101" pitchFamily="2" charset="-122"/>
              </a:rPr>
              <a:t>SDD</a:t>
            </a:r>
            <a:r>
              <a:rPr lang="zh-CN" altLang="en-US" dirty="0">
                <a:ea typeface="宋体" panose="02010600030101010101" pitchFamily="2" charset="-122"/>
              </a:rPr>
              <a:t>可以成为是一个属性文法</a:t>
            </a:r>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3" name="Rectangle 2"/>
          <p:cNvSpPr>
            <a:spLocks noTextEdit="1"/>
          </p:cNvSpPr>
          <p:nvPr>
            <p:ph type="sldImg"/>
          </p:nvPr>
        </p:nvSpPr>
        <p:spPr/>
      </p:sp>
      <p:sp>
        <p:nvSpPr>
          <p:cNvPr id="256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1" name="Rectangle 2"/>
          <p:cNvSpPr>
            <a:spLocks noTextEdit="1"/>
          </p:cNvSpPr>
          <p:nvPr>
            <p:ph type="sldImg"/>
          </p:nvPr>
        </p:nvSpPr>
        <p:spPr/>
      </p:sp>
      <p:sp>
        <p:nvSpPr>
          <p:cNvPr id="276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9" name="Rectangle 2"/>
          <p:cNvSpPr>
            <a:spLocks noTextEdit="1"/>
          </p:cNvSpPr>
          <p:nvPr>
            <p:ph type="sldImg"/>
          </p:nvPr>
        </p:nvSpPr>
        <p:spPr/>
      </p:sp>
      <p:sp>
        <p:nvSpPr>
          <p:cNvPr id="297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7" name="Rectangle 2"/>
          <p:cNvSpPr>
            <a:spLocks noTextEdit="1"/>
          </p:cNvSpPr>
          <p:nvPr>
            <p:ph type="sldImg"/>
          </p:nvPr>
        </p:nvSpPr>
        <p:spPr/>
      </p:sp>
      <p:sp>
        <p:nvSpPr>
          <p:cNvPr id="317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5" name="Rectangle 2"/>
          <p:cNvSpPr>
            <a:spLocks noTextEdit="1"/>
          </p:cNvSpPr>
          <p:nvPr>
            <p:ph type="sldImg"/>
          </p:nvPr>
        </p:nvSpPr>
        <p:spPr/>
      </p:sp>
      <p:sp>
        <p:nvSpPr>
          <p:cNvPr id="33796"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在处理“*”时，其左边的运算对象的值来自于对应产生式</a:t>
            </a:r>
            <a:r>
              <a:rPr lang="en-US" altLang="zh-CN" dirty="0">
                <a:ea typeface="宋体" panose="02010600030101010101" pitchFamily="2" charset="-122"/>
              </a:rPr>
              <a:t>T’→</a:t>
            </a:r>
            <a:r>
              <a:rPr lang="zh-CN" altLang="en-US" dirty="0">
                <a:ea typeface="宋体" panose="02010600030101010101" pitchFamily="2" charset="-122"/>
              </a:rPr>
              <a:t>*</a:t>
            </a:r>
            <a:r>
              <a:rPr lang="en-US" altLang="zh-CN" dirty="0">
                <a:ea typeface="宋体" panose="02010600030101010101" pitchFamily="2" charset="-122"/>
              </a:rPr>
              <a:t>FT’</a:t>
            </a:r>
            <a:r>
              <a:rPr lang="zh-CN" altLang="en-US" dirty="0">
                <a:ea typeface="宋体" panose="02010600030101010101" pitchFamily="2" charset="-122"/>
              </a:rPr>
              <a:t>左部的</a:t>
            </a:r>
            <a:r>
              <a:rPr lang="en-US" altLang="zh-CN" dirty="0">
                <a:ea typeface="宋体" panose="02010600030101010101" pitchFamily="2" charset="-122"/>
              </a:rPr>
              <a:t>T’</a:t>
            </a:r>
            <a:r>
              <a:rPr lang="zh-CN" altLang="en-US" dirty="0">
                <a:ea typeface="宋体" panose="02010600030101010101" pitchFamily="2" charset="-122"/>
              </a:rPr>
              <a:t>的继承属性</a:t>
            </a:r>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843" name="Rectangle 2"/>
          <p:cNvSpPr>
            <a:spLocks noTextEdit="1"/>
          </p:cNvSpPr>
          <p:nvPr>
            <p:ph type="sldImg"/>
          </p:nvPr>
        </p:nvSpPr>
        <p:spPr/>
      </p:sp>
      <p:sp>
        <p:nvSpPr>
          <p:cNvPr id="358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1" name="Rectangle 2"/>
          <p:cNvSpPr>
            <a:spLocks noTextEdit="1"/>
          </p:cNvSpPr>
          <p:nvPr>
            <p:ph type="sldImg"/>
          </p:nvPr>
        </p:nvSpPr>
        <p:spPr/>
      </p:sp>
      <p:sp>
        <p:nvSpPr>
          <p:cNvPr id="378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9" name="Rectangle 2"/>
          <p:cNvSpPr>
            <a:spLocks noTextEdit="1"/>
          </p:cNvSpPr>
          <p:nvPr>
            <p:ph type="sldImg"/>
          </p:nvPr>
        </p:nvSpPr>
        <p:spPr/>
      </p:sp>
      <p:sp>
        <p:nvSpPr>
          <p:cNvPr id="3994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此处的例子与书上的略有差异（形式上的差异，不影响表达的意义），但是这里的例子更直观一些</a:t>
            </a:r>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Rectangle 2"/>
          <p:cNvSpPr>
            <a:spLocks noTextEdit="1"/>
          </p:cNvSpPr>
          <p:nvPr>
            <p:ph type="sldImg"/>
          </p:nvPr>
        </p:nvSpPr>
        <p:spPr/>
      </p:sp>
      <p:sp>
        <p:nvSpPr>
          <p:cNvPr id="4198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此处的结点的编号对应于图中各个属性，其中</a:t>
            </a:r>
            <a:r>
              <a:rPr lang="en-US" altLang="zh-CN" dirty="0">
                <a:ea typeface="宋体" panose="02010600030101010101" pitchFamily="2" charset="-122"/>
              </a:rPr>
              <a:t>1</a:t>
            </a:r>
            <a:r>
              <a:rPr lang="zh-CN" altLang="en-US" dirty="0">
                <a:ea typeface="宋体" panose="02010600030101010101" pitchFamily="2" charset="-122"/>
              </a:rPr>
              <a:t>和</a:t>
            </a:r>
            <a:r>
              <a:rPr lang="en-US" altLang="zh-CN" dirty="0">
                <a:ea typeface="宋体" panose="02010600030101010101" pitchFamily="2" charset="-122"/>
              </a:rPr>
              <a:t>2</a:t>
            </a:r>
            <a:r>
              <a:rPr lang="zh-CN" altLang="en-US" dirty="0">
                <a:ea typeface="宋体" panose="02010600030101010101" pitchFamily="2" charset="-122"/>
              </a:rPr>
              <a:t>对应了词法分析给出的两个叶结点属性。实线箭头标明了依赖关系，在本例中，按照编号顺序计算是一个合法的顺序，但是合法的顺序不唯一</a:t>
            </a:r>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5" name="Rectangle 2"/>
          <p:cNvSpPr>
            <a:spLocks noTextEdit="1"/>
          </p:cNvSpPr>
          <p:nvPr>
            <p:ph type="sldImg"/>
          </p:nvPr>
        </p:nvSpPr>
        <p:spPr/>
      </p:sp>
      <p:sp>
        <p:nvSpPr>
          <p:cNvPr id="440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3" name="Rectangle 2"/>
          <p:cNvSpPr>
            <a:spLocks noTextEdit="1"/>
          </p:cNvSpPr>
          <p:nvPr>
            <p:ph type="sldImg"/>
          </p:nvPr>
        </p:nvSpPr>
        <p:spPr/>
      </p:sp>
      <p:sp>
        <p:nvSpPr>
          <p:cNvPr id="460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TextEdit="1"/>
          </p:cNvSpPr>
          <p:nvPr>
            <p:ph type="sldImg"/>
          </p:nvPr>
        </p:nvSpPr>
        <p:spPr/>
      </p:sp>
      <p:sp>
        <p:nvSpPr>
          <p:cNvPr id="48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TextEdit="1"/>
          </p:cNvSpPr>
          <p:nvPr>
            <p:ph type="sldImg"/>
          </p:nvPr>
        </p:nvSpPr>
        <p:spPr/>
      </p:sp>
      <p:sp>
        <p:nvSpPr>
          <p:cNvPr id="501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2227" name="Rectangle 2"/>
          <p:cNvSpPr>
            <a:spLocks noTextEdit="1"/>
          </p:cNvSpPr>
          <p:nvPr>
            <p:ph type="sldImg"/>
          </p:nvPr>
        </p:nvSpPr>
        <p:spPr/>
      </p:sp>
      <p:sp>
        <p:nvSpPr>
          <p:cNvPr id="5222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4275" name="Rectangle 2"/>
          <p:cNvSpPr>
            <a:spLocks noTextEdit="1"/>
          </p:cNvSpPr>
          <p:nvPr>
            <p:ph type="sldImg"/>
          </p:nvPr>
        </p:nvSpPr>
        <p:spPr/>
      </p:sp>
      <p:sp>
        <p:nvSpPr>
          <p:cNvPr id="542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6323" name="Rectangle 2"/>
          <p:cNvSpPr>
            <a:spLocks noTextEdit="1"/>
          </p:cNvSpPr>
          <p:nvPr>
            <p:ph type="sldImg"/>
          </p:nvPr>
        </p:nvSpPr>
        <p:spPr/>
      </p:sp>
      <p:sp>
        <p:nvSpPr>
          <p:cNvPr id="563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8371" name="Rectangle 2"/>
          <p:cNvSpPr>
            <a:spLocks noTextEdit="1"/>
          </p:cNvSpPr>
          <p:nvPr>
            <p:ph type="sldImg"/>
          </p:nvPr>
        </p:nvSpPr>
        <p:spPr/>
      </p:sp>
      <p:sp>
        <p:nvSpPr>
          <p:cNvPr id="583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0419" name="Rectangle 2"/>
          <p:cNvSpPr>
            <a:spLocks noTextEdit="1"/>
          </p:cNvSpPr>
          <p:nvPr>
            <p:ph type="sldImg"/>
          </p:nvPr>
        </p:nvSpPr>
        <p:spPr/>
      </p:sp>
      <p:sp>
        <p:nvSpPr>
          <p:cNvPr id="604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2467" name="Rectangle 2"/>
          <p:cNvSpPr>
            <a:spLocks noTextEdit="1"/>
          </p:cNvSpPr>
          <p:nvPr>
            <p:ph type="sldImg"/>
          </p:nvPr>
        </p:nvSpPr>
        <p:spPr/>
      </p:sp>
      <p:sp>
        <p:nvSpPr>
          <p:cNvPr id="624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TextEdit="1"/>
          </p:cNvSpPr>
          <p:nvPr>
            <p:ph type="sldImg"/>
          </p:nvPr>
        </p:nvSpPr>
        <p:spPr/>
      </p:sp>
      <p:sp>
        <p:nvSpPr>
          <p:cNvPr id="645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TextEdit="1"/>
          </p:cNvSpPr>
          <p:nvPr>
            <p:ph type="sldImg"/>
          </p:nvPr>
        </p:nvSpPr>
        <p:spPr/>
      </p:sp>
      <p:sp>
        <p:nvSpPr>
          <p:cNvPr id="665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TextEdit="1"/>
          </p:cNvSpPr>
          <p:nvPr>
            <p:ph type="sldImg"/>
          </p:nvPr>
        </p:nvSpPr>
        <p:spPr/>
      </p:sp>
      <p:sp>
        <p:nvSpPr>
          <p:cNvPr id="686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TextEdit="1"/>
          </p:cNvSpPr>
          <p:nvPr>
            <p:ph type="sldImg"/>
          </p:nvPr>
        </p:nvSpPr>
        <p:spPr/>
      </p:sp>
      <p:sp>
        <p:nvSpPr>
          <p:cNvPr id="706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2707" name="Rectangle 2"/>
          <p:cNvSpPr>
            <a:spLocks noTextEdit="1"/>
          </p:cNvSpPr>
          <p:nvPr>
            <p:ph type="sldImg"/>
          </p:nvPr>
        </p:nvSpPr>
        <p:spPr/>
      </p:sp>
      <p:sp>
        <p:nvSpPr>
          <p:cNvPr id="727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4755" name="Rectangle 2"/>
          <p:cNvSpPr>
            <a:spLocks noTextEdit="1"/>
          </p:cNvSpPr>
          <p:nvPr>
            <p:ph type="sldImg"/>
          </p:nvPr>
        </p:nvSpPr>
        <p:spPr/>
      </p:sp>
      <p:sp>
        <p:nvSpPr>
          <p:cNvPr id="747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6803" name="Rectangle 2"/>
          <p:cNvSpPr>
            <a:spLocks noTextEdit="1"/>
          </p:cNvSpPr>
          <p:nvPr>
            <p:ph type="sldImg"/>
          </p:nvPr>
        </p:nvSpPr>
        <p:spPr/>
      </p:sp>
      <p:sp>
        <p:nvSpPr>
          <p:cNvPr id="76804"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类型表达式是表明了类型属性的一种表示方式</a:t>
            </a:r>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8851" name="Rectangle 2"/>
          <p:cNvSpPr>
            <a:spLocks noTextEdit="1"/>
          </p:cNvSpPr>
          <p:nvPr>
            <p:ph type="sldImg"/>
          </p:nvPr>
        </p:nvSpPr>
        <p:spPr/>
      </p:sp>
      <p:sp>
        <p:nvSpPr>
          <p:cNvPr id="788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0899" name="Rectangle 2"/>
          <p:cNvSpPr>
            <a:spLocks noTextEdit="1"/>
          </p:cNvSpPr>
          <p:nvPr>
            <p:ph type="sldImg"/>
          </p:nvPr>
        </p:nvSpPr>
        <p:spPr/>
      </p:sp>
      <p:sp>
        <p:nvSpPr>
          <p:cNvPr id="809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2947" name="Rectangle 2"/>
          <p:cNvSpPr>
            <a:spLocks noTextEdit="1"/>
          </p:cNvSpPr>
          <p:nvPr>
            <p:ph type="sldImg"/>
          </p:nvPr>
        </p:nvSpPr>
        <p:spPr/>
      </p:sp>
      <p:sp>
        <p:nvSpPr>
          <p:cNvPr id="829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4995" name="Rectangle 2"/>
          <p:cNvSpPr>
            <a:spLocks noTextEdit="1"/>
          </p:cNvSpPr>
          <p:nvPr>
            <p:ph type="sldImg"/>
          </p:nvPr>
        </p:nvSpPr>
        <p:spPr/>
      </p:sp>
      <p:sp>
        <p:nvSpPr>
          <p:cNvPr id="849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7043" name="Rectangle 2"/>
          <p:cNvSpPr>
            <a:spLocks noTextEdit="1"/>
          </p:cNvSpPr>
          <p:nvPr>
            <p:ph type="sldImg"/>
          </p:nvPr>
        </p:nvSpPr>
        <p:spPr/>
      </p:sp>
      <p:sp>
        <p:nvSpPr>
          <p:cNvPr id="870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9091" name="Rectangle 2"/>
          <p:cNvSpPr>
            <a:spLocks noTextEdit="1"/>
          </p:cNvSpPr>
          <p:nvPr>
            <p:ph type="sldImg"/>
          </p:nvPr>
        </p:nvSpPr>
        <p:spPr/>
      </p:sp>
      <p:sp>
        <p:nvSpPr>
          <p:cNvPr id="890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1139" name="Rectangle 2"/>
          <p:cNvSpPr>
            <a:spLocks noTextEdit="1"/>
          </p:cNvSpPr>
          <p:nvPr>
            <p:ph type="sldImg"/>
          </p:nvPr>
        </p:nvSpPr>
        <p:spPr/>
      </p:sp>
      <p:sp>
        <p:nvSpPr>
          <p:cNvPr id="911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3187" name="Rectangle 2"/>
          <p:cNvSpPr>
            <a:spLocks noTextEdit="1"/>
          </p:cNvSpPr>
          <p:nvPr>
            <p:ph type="sldImg"/>
          </p:nvPr>
        </p:nvSpPr>
        <p:spPr/>
      </p:sp>
      <p:sp>
        <p:nvSpPr>
          <p:cNvPr id="931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5235" name="Rectangle 2"/>
          <p:cNvSpPr>
            <a:spLocks noTextEdit="1"/>
          </p:cNvSpPr>
          <p:nvPr>
            <p:ph type="sldImg"/>
          </p:nvPr>
        </p:nvSpPr>
        <p:spPr/>
      </p:sp>
      <p:sp>
        <p:nvSpPr>
          <p:cNvPr id="952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7283" name="Rectangle 2"/>
          <p:cNvSpPr>
            <a:spLocks noTextEdit="1"/>
          </p:cNvSpPr>
          <p:nvPr>
            <p:ph type="sldImg"/>
          </p:nvPr>
        </p:nvSpPr>
        <p:spPr/>
      </p:sp>
      <p:sp>
        <p:nvSpPr>
          <p:cNvPr id="97284"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这种变换使得可以在归约时进行动作</a:t>
            </a:r>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9331" name="Rectangle 2"/>
          <p:cNvSpPr>
            <a:spLocks noTextEdit="1"/>
          </p:cNvSpPr>
          <p:nvPr>
            <p:ph type="sldImg"/>
          </p:nvPr>
        </p:nvSpPr>
        <p:spPr/>
      </p:sp>
      <p:sp>
        <p:nvSpPr>
          <p:cNvPr id="993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1379" name="Rectangle 2"/>
          <p:cNvSpPr>
            <a:spLocks noTextEdit="1"/>
          </p:cNvSpPr>
          <p:nvPr>
            <p:ph type="sldImg"/>
          </p:nvPr>
        </p:nvSpPr>
        <p:spPr/>
      </p:sp>
      <p:sp>
        <p:nvSpPr>
          <p:cNvPr id="1013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3427" name="Rectangle 2"/>
          <p:cNvSpPr>
            <a:spLocks noTextEdit="1"/>
          </p:cNvSpPr>
          <p:nvPr>
            <p:ph type="sldImg"/>
          </p:nvPr>
        </p:nvSpPr>
        <p:spPr/>
      </p:sp>
      <p:sp>
        <p:nvSpPr>
          <p:cNvPr id="10342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这种变换使得可以在归约时进行动作</a:t>
            </a:r>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6499" name="Rectangle 2"/>
          <p:cNvSpPr>
            <a:spLocks noTextEdit="1"/>
          </p:cNvSpPr>
          <p:nvPr>
            <p:ph type="sldImg"/>
          </p:nvPr>
        </p:nvSpPr>
        <p:spPr/>
      </p:sp>
      <p:sp>
        <p:nvSpPr>
          <p:cNvPr id="1065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8547" name="Rectangle 2"/>
          <p:cNvSpPr>
            <a:spLocks noTextEdit="1"/>
          </p:cNvSpPr>
          <p:nvPr>
            <p:ph type="sldImg"/>
          </p:nvPr>
        </p:nvSpPr>
        <p:spPr/>
      </p:sp>
      <p:sp>
        <p:nvSpPr>
          <p:cNvPr id="1085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0595" name="Rectangle 2"/>
          <p:cNvSpPr>
            <a:spLocks noTextEdit="1"/>
          </p:cNvSpPr>
          <p:nvPr>
            <p:ph type="sldImg"/>
          </p:nvPr>
        </p:nvSpPr>
        <p:spPr/>
      </p:sp>
      <p:sp>
        <p:nvSpPr>
          <p:cNvPr id="1105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43" name="Rectangle 2"/>
          <p:cNvSpPr>
            <a:spLocks noTextEdit="1"/>
          </p:cNvSpPr>
          <p:nvPr>
            <p:ph type="sldImg"/>
          </p:nvPr>
        </p:nvSpPr>
        <p:spPr/>
      </p:sp>
      <p:sp>
        <p:nvSpPr>
          <p:cNvPr id="1126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4691" name="Rectangle 2"/>
          <p:cNvSpPr>
            <a:spLocks noTextEdit="1"/>
          </p:cNvSpPr>
          <p:nvPr>
            <p:ph type="sldImg"/>
          </p:nvPr>
        </p:nvSpPr>
        <p:spPr/>
      </p:sp>
      <p:sp>
        <p:nvSpPr>
          <p:cNvPr id="1146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6739" name="Rectangle 2"/>
          <p:cNvSpPr>
            <a:spLocks noTextEdit="1"/>
          </p:cNvSpPr>
          <p:nvPr>
            <p:ph type="sldImg"/>
          </p:nvPr>
        </p:nvSpPr>
        <p:spPr/>
      </p:sp>
      <p:sp>
        <p:nvSpPr>
          <p:cNvPr id="1167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8787" name="Rectangle 2"/>
          <p:cNvSpPr>
            <a:spLocks noTextEdit="1"/>
          </p:cNvSpPr>
          <p:nvPr>
            <p:ph type="sldImg"/>
          </p:nvPr>
        </p:nvSpPr>
        <p:spPr/>
      </p:sp>
      <p:sp>
        <p:nvSpPr>
          <p:cNvPr id="1187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SDD</a:t>
            </a:r>
            <a:r>
              <a:rPr lang="zh-CN" altLang="en-US" dirty="0">
                <a:ea typeface="宋体" panose="02010600030101010101" pitchFamily="2" charset="-122"/>
              </a:rPr>
              <a:t>，其中</a:t>
            </a:r>
            <a:r>
              <a:rPr lang="en-US" altLang="zh-CN" dirty="0">
                <a:ea typeface="宋体" panose="02010600030101010101" pitchFamily="2" charset="-122"/>
              </a:rPr>
              <a:t>getHt</a:t>
            </a:r>
            <a:r>
              <a:rPr lang="zh-CN" altLang="en-US" dirty="0">
                <a:ea typeface="宋体" panose="02010600030101010101" pitchFamily="2" charset="-122"/>
              </a:rPr>
              <a:t>和</a:t>
            </a:r>
            <a:r>
              <a:rPr lang="en-US" altLang="zh-CN" dirty="0">
                <a:ea typeface="宋体" panose="02010600030101010101" pitchFamily="2" charset="-122"/>
              </a:rPr>
              <a:t>getDp</a:t>
            </a:r>
            <a:r>
              <a:rPr lang="zh-CN" altLang="en-US" dirty="0">
                <a:ea typeface="宋体" panose="02010600030101010101" pitchFamily="2" charset="-122"/>
              </a:rPr>
              <a:t>并未定义，其作用是检查各个字体的表格，确定文本串中全部字符的最大高度和最大深度</a:t>
            </a:r>
            <a:endParaRPr lang="zh-CN" altLang="en-US" dirty="0">
              <a:ea typeface="宋体" panose="02010600030101010101" pitchFamily="2" charset="-122"/>
            </a:endParaRPr>
          </a:p>
        </p:txBody>
      </p:sp>
      <p:sp>
        <p:nvSpPr>
          <p:cNvPr id="120836"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幻灯片图像占位符 1"/>
          <p:cNvSpPr>
            <a:spLocks noGrp="1" noRot="1" noChangeAspect="1" noTextEdit="1"/>
          </p:cNvSpPr>
          <p:nvPr>
            <p:ph type="sldImg"/>
          </p:nvPr>
        </p:nvSpPr>
        <p:spPr/>
      </p:sp>
      <p:sp>
        <p:nvSpPr>
          <p:cNvPr id="122883" name="备注占位符 2"/>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SDT</a:t>
            </a:r>
            <a:endParaRPr lang="zh-CN" altLang="en-US" dirty="0">
              <a:ea typeface="宋体" panose="02010600030101010101" pitchFamily="2" charset="-122"/>
            </a:endParaRPr>
          </a:p>
        </p:txBody>
      </p:sp>
      <p:sp>
        <p:nvSpPr>
          <p:cNvPr id="122884"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4931" name="Rectangle 2"/>
          <p:cNvSpPr>
            <a:spLocks noTextEdit="1"/>
          </p:cNvSpPr>
          <p:nvPr>
            <p:ph type="sldImg"/>
          </p:nvPr>
        </p:nvSpPr>
        <p:spPr/>
      </p:sp>
      <p:sp>
        <p:nvSpPr>
          <p:cNvPr id="1249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6979" name="Rectangle 2"/>
          <p:cNvSpPr>
            <a:spLocks noTextEdit="1"/>
          </p:cNvSpPr>
          <p:nvPr>
            <p:ph type="sldImg"/>
          </p:nvPr>
        </p:nvSpPr>
        <p:spPr/>
      </p:sp>
      <p:sp>
        <p:nvSpPr>
          <p:cNvPr id="1269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9027" name="Rectangle 2"/>
          <p:cNvSpPr>
            <a:spLocks noTextEdit="1"/>
          </p:cNvSpPr>
          <p:nvPr>
            <p:ph type="sldImg"/>
          </p:nvPr>
        </p:nvSpPr>
        <p:spPr/>
      </p:sp>
      <p:sp>
        <p:nvSpPr>
          <p:cNvPr id="12902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1075" name="Rectangle 2"/>
          <p:cNvSpPr>
            <a:spLocks noTextEdit="1"/>
          </p:cNvSpPr>
          <p:nvPr>
            <p:ph type="sldImg"/>
          </p:nvPr>
        </p:nvSpPr>
        <p:spPr/>
      </p:sp>
      <p:sp>
        <p:nvSpPr>
          <p:cNvPr id="1310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23" name="Rectangle 2"/>
          <p:cNvSpPr>
            <a:spLocks noTextEdit="1"/>
          </p:cNvSpPr>
          <p:nvPr>
            <p:ph type="sldImg"/>
          </p:nvPr>
        </p:nvSpPr>
        <p:spPr/>
      </p:sp>
      <p:sp>
        <p:nvSpPr>
          <p:cNvPr id="1331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5171" name="Rectangle 2"/>
          <p:cNvSpPr>
            <a:spLocks noTextEdit="1"/>
          </p:cNvSpPr>
          <p:nvPr>
            <p:ph type="sldImg"/>
          </p:nvPr>
        </p:nvSpPr>
        <p:spPr/>
      </p:sp>
      <p:sp>
        <p:nvSpPr>
          <p:cNvPr id="135172" name="Rectangle 3"/>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2.2</a:t>
            </a:r>
            <a:r>
              <a:rPr lang="zh-CN" altLang="en-US" dirty="0">
                <a:ea typeface="宋体" panose="02010600030101010101" pitchFamily="2" charset="-122"/>
              </a:rPr>
              <a:t>“</a:t>
            </a:r>
            <a:r>
              <a:rPr lang="zh-CN" altLang="en-US" b="1" dirty="0">
                <a:ea typeface="宋体" panose="02010600030101010101" pitchFamily="2" charset="-122"/>
              </a:rPr>
              <a:t>当需要读入一个终结符号时，在输入中检查这些符号是否出现</a:t>
            </a:r>
            <a:r>
              <a:rPr lang="zh-CN" altLang="en-US" dirty="0">
                <a:ea typeface="宋体" panose="02010600030101010101" pitchFamily="2" charset="-122"/>
              </a:rPr>
              <a:t>”，可以要求过程不需要进行回溯， 但是只要出现语法错误时，能够恢复输入位置，就可以扩展对回溯的处理</a:t>
            </a:r>
            <a:endParaRPr lang="zh-CN" altLang="en-US"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7219" name="Rectangle 2"/>
          <p:cNvSpPr>
            <a:spLocks noTextEdit="1"/>
          </p:cNvSpPr>
          <p:nvPr>
            <p:ph type="sldImg"/>
          </p:nvPr>
        </p:nvSpPr>
        <p:spPr/>
      </p:sp>
      <p:sp>
        <p:nvSpPr>
          <p:cNvPr id="13722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语法形式： </a:t>
            </a:r>
            <a:r>
              <a:rPr lang="en-US" altLang="zh-CN" dirty="0">
                <a:ea typeface="宋体" panose="02010600030101010101" pitchFamily="2" charset="-122"/>
              </a:rPr>
              <a:t>while</a:t>
            </a:r>
            <a:r>
              <a:rPr lang="zh-CN" altLang="en-US" dirty="0">
                <a:ea typeface="宋体" panose="02010600030101010101" pitchFamily="2" charset="-122"/>
              </a:rPr>
              <a:t> （</a:t>
            </a:r>
            <a:r>
              <a:rPr lang="en-US" altLang="zh-CN" dirty="0">
                <a:ea typeface="宋体" panose="02010600030101010101" pitchFamily="2" charset="-122"/>
              </a:rPr>
              <a:t>C</a:t>
            </a:r>
            <a:r>
              <a:rPr lang="zh-CN" altLang="en-US" dirty="0">
                <a:ea typeface="宋体" panose="02010600030101010101" pitchFamily="2" charset="-122"/>
              </a:rPr>
              <a:t>） </a:t>
            </a:r>
            <a:r>
              <a:rPr lang="en-US" altLang="zh-CN" dirty="0">
                <a:ea typeface="宋体" panose="02010600030101010101" pitchFamily="2" charset="-122"/>
              </a:rPr>
              <a:t>S</a:t>
            </a:r>
            <a:endParaRPr lang="en-US" altLang="zh-CN" dirty="0">
              <a:ea typeface="宋体" panose="02010600030101010101" pitchFamily="2" charset="-122"/>
            </a:endParaRPr>
          </a:p>
          <a:p>
            <a:pPr lvl="0"/>
            <a:r>
              <a:rPr lang="zh-CN" altLang="en-US" dirty="0">
                <a:ea typeface="宋体" panose="02010600030101010101" pitchFamily="2" charset="-122"/>
              </a:rPr>
              <a:t>注意：</a:t>
            </a:r>
            <a:r>
              <a:rPr lang="en-US" altLang="zh-CN" dirty="0">
                <a:ea typeface="宋体" panose="02010600030101010101" pitchFamily="2" charset="-122"/>
              </a:rPr>
              <a:t>C</a:t>
            </a:r>
            <a:r>
              <a:rPr lang="zh-CN" altLang="en-US" dirty="0">
                <a:ea typeface="宋体" panose="02010600030101010101" pitchFamily="2" charset="-122"/>
              </a:rPr>
              <a:t>（</a:t>
            </a:r>
            <a:r>
              <a:rPr lang="en-US" altLang="zh-CN" dirty="0">
                <a:ea typeface="宋体" panose="02010600030101010101" pitchFamily="2" charset="-122"/>
              </a:rPr>
              <a:t>next</a:t>
            </a:r>
            <a:r>
              <a:rPr lang="zh-CN" altLang="en-US" dirty="0">
                <a:ea typeface="宋体" panose="02010600030101010101" pitchFamily="2" charset="-122"/>
              </a:rPr>
              <a:t>，</a:t>
            </a:r>
            <a:r>
              <a:rPr lang="en-US" altLang="zh-CN" dirty="0">
                <a:ea typeface="宋体" panose="02010600030101010101" pitchFamily="2" charset="-122"/>
              </a:rPr>
              <a:t>L2</a:t>
            </a:r>
            <a:r>
              <a:rPr lang="zh-CN" altLang="en-US" dirty="0">
                <a:ea typeface="宋体" panose="02010600030101010101" pitchFamily="2" charset="-122"/>
              </a:rPr>
              <a:t>）中的</a:t>
            </a:r>
            <a:r>
              <a:rPr lang="en-US" altLang="zh-CN" dirty="0">
                <a:ea typeface="宋体" panose="02010600030101010101" pitchFamily="2" charset="-122"/>
              </a:rPr>
              <a:t>next</a:t>
            </a:r>
            <a:r>
              <a:rPr lang="zh-CN" altLang="en-US" dirty="0">
                <a:ea typeface="宋体" panose="02010600030101010101" pitchFamily="2" charset="-122"/>
              </a:rPr>
              <a:t>是</a:t>
            </a:r>
            <a:r>
              <a:rPr lang="en-US" altLang="zh-CN" dirty="0">
                <a:ea typeface="宋体" panose="02010600030101010101" pitchFamily="2" charset="-122"/>
              </a:rPr>
              <a:t>C</a:t>
            </a:r>
            <a:r>
              <a:rPr lang="zh-CN" altLang="en-US" dirty="0">
                <a:ea typeface="宋体" panose="02010600030101010101" pitchFamily="2" charset="-122"/>
              </a:rPr>
              <a:t>为假时，程序控制跳到</a:t>
            </a:r>
            <a:r>
              <a:rPr lang="en-US" altLang="zh-CN" dirty="0">
                <a:ea typeface="宋体" panose="02010600030101010101" pitchFamily="2" charset="-122"/>
              </a:rPr>
              <a:t>while</a:t>
            </a:r>
            <a:r>
              <a:rPr lang="zh-CN" altLang="en-US" dirty="0">
                <a:ea typeface="宋体" panose="02010600030101010101" pitchFamily="2" charset="-122"/>
              </a:rPr>
              <a:t>语句的后一条语句（执行序的后一条语句）</a:t>
            </a:r>
            <a:endParaRPr lang="zh-CN" altLang="en-US"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9267" name="Rectangle 2"/>
          <p:cNvSpPr>
            <a:spLocks noTextEdit="1"/>
          </p:cNvSpPr>
          <p:nvPr>
            <p:ph type="sldImg"/>
          </p:nvPr>
        </p:nvSpPr>
        <p:spPr/>
      </p:sp>
      <p:sp>
        <p:nvSpPr>
          <p:cNvPr id="1392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幻灯片图像占位符 1"/>
          <p:cNvSpPr>
            <a:spLocks noGrp="1" noRot="1" noChangeAspect="1" noTextEdit="1"/>
          </p:cNvSpPr>
          <p:nvPr>
            <p:ph type="sldImg"/>
          </p:nvPr>
        </p:nvSpPr>
        <p:spPr/>
      </p:sp>
      <p:sp>
        <p:nvSpPr>
          <p:cNvPr id="143363"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非主属性值的计算根据语义处理</a:t>
            </a:r>
            <a:endParaRPr lang="en-US" altLang="zh-CN" dirty="0">
              <a:ea typeface="宋体" panose="02010600030101010101" pitchFamily="2" charset="-122"/>
            </a:endParaRPr>
          </a:p>
          <a:p>
            <a:pPr lvl="0"/>
            <a:r>
              <a:rPr lang="zh-CN" altLang="en-US" dirty="0">
                <a:ea typeface="宋体" panose="02010600030101010101" pitchFamily="2" charset="-122"/>
              </a:rPr>
              <a:t>顺序的约定保证简单的连接可以保证这种方法生成结果的正确性</a:t>
            </a:r>
            <a:endParaRPr lang="zh-CN" altLang="en-US" dirty="0">
              <a:ea typeface="宋体" panose="02010600030101010101" pitchFamily="2" charset="-122"/>
            </a:endParaRPr>
          </a:p>
        </p:txBody>
      </p:sp>
      <p:sp>
        <p:nvSpPr>
          <p:cNvPr id="143364"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幻灯片图像占位符 1"/>
          <p:cNvSpPr>
            <a:spLocks noGrp="1" noRot="1" noChangeAspect="1" noTextEdit="1"/>
          </p:cNvSpPr>
          <p:nvPr>
            <p:ph type="sldImg"/>
          </p:nvPr>
        </p:nvSpPr>
        <p:spPr/>
      </p:sp>
      <p:sp>
        <p:nvSpPr>
          <p:cNvPr id="145411"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注意本例中生成的代码与前面方法生成的代码是一致的</a:t>
            </a:r>
            <a:endParaRPr lang="zh-CN" altLang="en-US" dirty="0">
              <a:ea typeface="宋体" panose="02010600030101010101" pitchFamily="2" charset="-122"/>
            </a:endParaRPr>
          </a:p>
        </p:txBody>
      </p:sp>
      <p:sp>
        <p:nvSpPr>
          <p:cNvPr id="14541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幻灯片图像占位符 1"/>
          <p:cNvSpPr>
            <a:spLocks noGrp="1" noRot="1" noChangeAspect="1" noTextEdit="1"/>
          </p:cNvSpPr>
          <p:nvPr>
            <p:ph type="sldImg"/>
          </p:nvPr>
        </p:nvSpPr>
        <p:spPr/>
      </p:sp>
      <p:sp>
        <p:nvSpPr>
          <p:cNvPr id="147459"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4746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幻灯片图像占位符 1"/>
          <p:cNvSpPr>
            <a:spLocks noGrp="1" noRot="1" noChangeAspect="1" noTextEdit="1"/>
          </p:cNvSpPr>
          <p:nvPr>
            <p:ph type="sldImg"/>
          </p:nvPr>
        </p:nvSpPr>
        <p:spPr/>
      </p:sp>
      <p:sp>
        <p:nvSpPr>
          <p:cNvPr id="149507"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注意预测分析的栈中文法符号与</a:t>
            </a:r>
            <a:r>
              <a:rPr lang="en-US" altLang="zh-CN" dirty="0">
                <a:ea typeface="宋体" panose="02010600030101010101" pitchFamily="2" charset="-122"/>
              </a:rPr>
              <a:t>LR</a:t>
            </a:r>
            <a:r>
              <a:rPr lang="zh-CN" altLang="en-US" dirty="0">
                <a:ea typeface="宋体" panose="02010600030101010101" pitchFamily="2" charset="-122"/>
              </a:rPr>
              <a:t>分析的栈中文法符号是不同的：方向不同，对应的符号串也不同</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S</a:t>
            </a:r>
            <a:r>
              <a:rPr lang="zh-CN" altLang="en-US" dirty="0">
                <a:ea typeface="宋体" panose="02010600030101010101" pitchFamily="2" charset="-122"/>
              </a:rPr>
              <a:t>经过</a:t>
            </a:r>
            <a:r>
              <a:rPr lang="en-US" altLang="zh-CN" dirty="0">
                <a:ea typeface="宋体" panose="02010600030101010101" pitchFamily="2" charset="-122"/>
              </a:rPr>
              <a:t>0</a:t>
            </a:r>
            <a:r>
              <a:rPr lang="zh-CN" altLang="en-US" dirty="0">
                <a:ea typeface="宋体" panose="02010600030101010101" pitchFamily="2" charset="-122"/>
              </a:rPr>
              <a:t>步或多步推导得到</a:t>
            </a:r>
            <a:r>
              <a:rPr lang="el-GR" altLang="zh-CN" dirty="0">
                <a:ea typeface="宋体" panose="02010600030101010101" pitchFamily="2" charset="-122"/>
              </a:rPr>
              <a:t>α⁞β</a:t>
            </a:r>
            <a:r>
              <a:rPr lang="zh-CN" altLang="en-US" dirty="0">
                <a:ea typeface="宋体" panose="02010600030101010101" pitchFamily="2" charset="-122"/>
              </a:rPr>
              <a:t>，</a:t>
            </a:r>
            <a:r>
              <a:rPr lang="el-GR" altLang="zh-CN" dirty="0">
                <a:ea typeface="宋体" panose="02010600030101010101" pitchFamily="2" charset="-122"/>
              </a:rPr>
              <a:t>⁞</a:t>
            </a:r>
            <a:r>
              <a:rPr lang="zh-CN" altLang="en-US" dirty="0">
                <a:ea typeface="宋体" panose="02010600030101010101" pitchFamily="2" charset="-122"/>
              </a:rPr>
              <a:t>表示栈顶。</a:t>
            </a:r>
            <a:endParaRPr lang="en-US" altLang="zh-CN" dirty="0">
              <a:ea typeface="宋体" panose="02010600030101010101" pitchFamily="2" charset="-122"/>
            </a:endParaRPr>
          </a:p>
          <a:p>
            <a:pPr lvl="0"/>
            <a:r>
              <a:rPr lang="en-US" altLang="zh-CN" dirty="0">
                <a:ea typeface="宋体" panose="02010600030101010101" pitchFamily="2" charset="-122"/>
              </a:rPr>
              <a:t>	</a:t>
            </a:r>
            <a:r>
              <a:rPr lang="zh-CN" altLang="en-US" dirty="0">
                <a:ea typeface="宋体" panose="02010600030101010101" pitchFamily="2" charset="-122"/>
              </a:rPr>
              <a:t>在预测分析中，栈中符号对应了</a:t>
            </a:r>
            <a:r>
              <a:rPr lang="el-GR" altLang="zh-CN" dirty="0">
                <a:ea typeface="宋体" panose="02010600030101010101" pitchFamily="2" charset="-122"/>
              </a:rPr>
              <a:t>β</a:t>
            </a:r>
            <a:r>
              <a:rPr lang="zh-CN" altLang="en-US" dirty="0">
                <a:ea typeface="宋体" panose="02010600030101010101" pitchFamily="2" charset="-122"/>
              </a:rPr>
              <a:t>，栈顶符号对应了</a:t>
            </a:r>
            <a:r>
              <a:rPr lang="el-GR" altLang="zh-CN" dirty="0">
                <a:ea typeface="宋体" panose="02010600030101010101" pitchFamily="2" charset="-122"/>
              </a:rPr>
              <a:t>β</a:t>
            </a:r>
            <a:r>
              <a:rPr lang="zh-CN" altLang="en-US" dirty="0">
                <a:ea typeface="宋体" panose="02010600030101010101" pitchFamily="2" charset="-122"/>
              </a:rPr>
              <a:t>的第一个符号，因此栈中继承属性的计算在</a:t>
            </a:r>
            <a:r>
              <a:rPr lang="en-US" altLang="zh-CN" dirty="0">
                <a:ea typeface="宋体" panose="02010600030101010101" pitchFamily="2" charset="-122"/>
              </a:rPr>
              <a:t>A</a:t>
            </a:r>
            <a:r>
              <a:rPr lang="zh-CN" altLang="en-US" dirty="0">
                <a:ea typeface="宋体" panose="02010600030101010101" pitchFamily="2" charset="-122"/>
              </a:rPr>
              <a:t>的上方，结果在</a:t>
            </a:r>
            <a:r>
              <a:rPr lang="en-US" altLang="zh-CN" dirty="0">
                <a:ea typeface="宋体" panose="02010600030101010101" pitchFamily="2" charset="-122"/>
              </a:rPr>
              <a:t>A</a:t>
            </a:r>
            <a:r>
              <a:rPr lang="zh-CN" altLang="en-US" dirty="0">
                <a:ea typeface="宋体" panose="02010600030101010101" pitchFamily="2" charset="-122"/>
              </a:rPr>
              <a:t>中，而</a:t>
            </a:r>
            <a:r>
              <a:rPr lang="en-US" altLang="zh-CN" dirty="0">
                <a:ea typeface="宋体" panose="02010600030101010101" pitchFamily="2" charset="-122"/>
              </a:rPr>
              <a:t>A</a:t>
            </a:r>
            <a:r>
              <a:rPr lang="zh-CN" altLang="en-US" dirty="0">
                <a:ea typeface="宋体" panose="02010600030101010101" pitchFamily="2" charset="-122"/>
              </a:rPr>
              <a:t>的综合属性在</a:t>
            </a:r>
            <a:r>
              <a:rPr lang="en-US" altLang="zh-CN" dirty="0">
                <a:ea typeface="宋体" panose="02010600030101010101" pitchFamily="2" charset="-122"/>
              </a:rPr>
              <a:t>A</a:t>
            </a:r>
            <a:r>
              <a:rPr lang="zh-CN" altLang="en-US" dirty="0">
                <a:ea typeface="宋体" panose="02010600030101010101" pitchFamily="2" charset="-122"/>
              </a:rPr>
              <a:t>的下方，符合</a:t>
            </a:r>
            <a:r>
              <a:rPr lang="en-US" altLang="zh-CN" dirty="0">
                <a:ea typeface="宋体" panose="02010600030101010101" pitchFamily="2" charset="-122"/>
              </a:rPr>
              <a:t>L</a:t>
            </a:r>
            <a:r>
              <a:rPr lang="zh-CN" altLang="en-US" dirty="0">
                <a:ea typeface="宋体" panose="02010600030101010101" pitchFamily="2" charset="-122"/>
              </a:rPr>
              <a:t>属性文法的性质</a:t>
            </a:r>
            <a:endParaRPr lang="en-US" altLang="zh-CN" dirty="0">
              <a:ea typeface="宋体" panose="02010600030101010101" pitchFamily="2" charset="-122"/>
            </a:endParaRPr>
          </a:p>
          <a:p>
            <a:pPr lvl="0"/>
            <a:r>
              <a:rPr lang="en-US" altLang="zh-CN" dirty="0">
                <a:ea typeface="宋体" panose="02010600030101010101" pitchFamily="2" charset="-122"/>
              </a:rPr>
              <a:t>	</a:t>
            </a:r>
            <a:r>
              <a:rPr lang="zh-CN" altLang="en-US" dirty="0">
                <a:ea typeface="宋体" panose="02010600030101010101" pitchFamily="2" charset="-122"/>
              </a:rPr>
              <a:t>在</a:t>
            </a:r>
            <a:r>
              <a:rPr lang="en-US" altLang="zh-CN" dirty="0">
                <a:ea typeface="宋体" panose="02010600030101010101" pitchFamily="2" charset="-122"/>
              </a:rPr>
              <a:t>LR</a:t>
            </a:r>
            <a:r>
              <a:rPr lang="zh-CN" altLang="en-US" dirty="0">
                <a:ea typeface="宋体" panose="02010600030101010101" pitchFamily="2" charset="-122"/>
              </a:rPr>
              <a:t>分析中，栈中符号对应了</a:t>
            </a:r>
            <a:r>
              <a:rPr lang="el-GR" altLang="zh-CN" dirty="0">
                <a:ea typeface="宋体" panose="02010600030101010101" pitchFamily="2" charset="-122"/>
              </a:rPr>
              <a:t>α</a:t>
            </a:r>
            <a:r>
              <a:rPr lang="zh-CN" altLang="en-US" dirty="0">
                <a:ea typeface="宋体" panose="02010600030101010101" pitchFamily="2" charset="-122"/>
              </a:rPr>
              <a:t>，栈顶符号对应了</a:t>
            </a:r>
            <a:r>
              <a:rPr lang="el-GR" altLang="zh-CN" dirty="0">
                <a:ea typeface="宋体" panose="02010600030101010101" pitchFamily="2" charset="-122"/>
              </a:rPr>
              <a:t>α</a:t>
            </a:r>
            <a:r>
              <a:rPr lang="zh-CN" altLang="en-US" dirty="0">
                <a:ea typeface="宋体" panose="02010600030101010101" pitchFamily="2" charset="-122"/>
              </a:rPr>
              <a:t>的最后一个符号，因此栈中的继承属性的布局不同</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该方法在语法分析栈中存放了多种类型的记录，实际当中可以将一个文法符号的几个记录合并成一个记录</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
        <p:nvSpPr>
          <p:cNvPr id="149508"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幻灯片图像占位符 1"/>
          <p:cNvSpPr>
            <a:spLocks noGrp="1" noRot="1" noChangeAspect="1" noTextEdit="1"/>
          </p:cNvSpPr>
          <p:nvPr>
            <p:ph type="sldImg"/>
          </p:nvPr>
        </p:nvSpPr>
        <p:spPr/>
      </p:sp>
      <p:sp>
        <p:nvSpPr>
          <p:cNvPr id="151555"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51556"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53604"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1534" tIns="45768" rIns="91534" bIns="45768" numCol="1" anchor="t" anchorCtr="0" compatLnSpc="1"/>
          <a:lstStyle/>
          <a:p>
            <a:pPr marL="495300" marR="0" lvl="0" indent="-495300" algn="l" defTabSz="955675" rtl="0" eaLnBrk="0" fontAlgn="base" latinLnBrk="0" hangingPunct="0">
              <a:lnSpc>
                <a:spcPct val="100000"/>
              </a:lnSpc>
              <a:spcBef>
                <a:spcPct val="3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可以伴随</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LL</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语法分析过程实现的翻译</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895350" marR="0" lvl="1" indent="-495300" algn="l" defTabSz="955675" rtl="0" eaLnBrk="0" fontAlgn="base" latinLnBrk="0" hangingPunct="0">
              <a:lnSpc>
                <a:spcPct val="100000"/>
              </a:lnSpc>
              <a:spcBef>
                <a:spcPct val="30000"/>
              </a:spcBef>
              <a:spcAft>
                <a:spcPct val="0"/>
              </a:spcAft>
              <a:buClrTx/>
              <a:buSzTx/>
              <a:buFontTx/>
              <a:buNone/>
              <a:defRPr/>
            </a:pP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要求基础文法是</a:t>
            </a:r>
            <a:r>
              <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LL</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文法</a:t>
            </a:r>
            <a:endPar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295400" marR="0" lvl="2" indent="-495300" algn="l" defTabSz="955675" rtl="0" eaLnBrk="0" fontAlgn="base" latinLnBrk="0" hangingPunct="0">
              <a:lnSpc>
                <a:spcPct val="100000"/>
              </a:lnSpc>
              <a:spcBef>
                <a:spcPct val="30000"/>
              </a:spcBef>
              <a:spcAft>
                <a:spcPct val="0"/>
              </a:spcAft>
              <a:buClrTx/>
              <a:buSzTx/>
              <a:buFontTx/>
              <a:buNone/>
              <a:defRPr/>
            </a:pP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可以将语义动作嵌入产生式体，得到一个</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SDT</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895350" marR="0" lvl="1" indent="-495300" algn="l" defTabSz="955675" rtl="0" eaLnBrk="0" fontAlgn="base" latinLnBrk="0" hangingPunct="0">
              <a:lnSpc>
                <a:spcPct val="100000"/>
              </a:lnSpc>
              <a:spcBef>
                <a:spcPct val="30000"/>
              </a:spcBef>
              <a:spcAft>
                <a:spcPct val="0"/>
              </a:spcAft>
              <a:buClrTx/>
              <a:buSzTx/>
              <a:buFontTx/>
              <a:buNone/>
              <a:defRPr/>
            </a:pP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对分析栈进行修改</a:t>
            </a:r>
            <a:endPar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295400" marR="0" lvl="2" indent="-495300" algn="l" defTabSz="955675" rtl="0" eaLnBrk="0" fontAlgn="base" latinLnBrk="0" hangingPunct="0">
              <a:lnSpc>
                <a:spcPct val="100000"/>
              </a:lnSpc>
              <a:spcBef>
                <a:spcPct val="30000"/>
              </a:spcBef>
              <a:spcAft>
                <a:spcPct val="0"/>
              </a:spcAft>
              <a:buClrTx/>
              <a:buSzTx/>
              <a:buFontTx/>
              <a:buNone/>
              <a:defRPr/>
            </a:pP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在终结符和非终结符的记录之外，增加动作记录和综合记录</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752600" marR="0" lvl="3" indent="-495300" algn="l" defTabSz="955675" rtl="0" eaLnBrk="0" fontAlgn="base" latinLnBrk="0" hangingPunct="0">
              <a:lnSpc>
                <a:spcPct val="100000"/>
              </a:lnSpc>
              <a:spcBef>
                <a:spcPct val="30000"/>
              </a:spcBef>
              <a:spcAft>
                <a:spcPct val="0"/>
              </a:spcAft>
              <a:buClrTx/>
              <a:buSzTx/>
              <a:buFontTx/>
              <a:buNone/>
              <a:defRPr/>
            </a:pP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动作记录（</a:t>
            </a:r>
            <a:r>
              <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action-record</a:t>
            </a: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）：表示即将被执行的语义动作</a:t>
            </a:r>
            <a:endPar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752600" marR="0" lvl="3" indent="-495300" algn="l" defTabSz="955675" rtl="0" eaLnBrk="0" fontAlgn="base" latinLnBrk="0" hangingPunct="0">
              <a:lnSpc>
                <a:spcPct val="100000"/>
              </a:lnSpc>
              <a:spcBef>
                <a:spcPct val="30000"/>
              </a:spcBef>
              <a:spcAft>
                <a:spcPct val="0"/>
              </a:spcAft>
              <a:buClrTx/>
              <a:buSzTx/>
              <a:buFontTx/>
              <a:buNone/>
              <a:defRPr/>
            </a:pP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综合记录（</a:t>
            </a:r>
            <a:r>
              <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synthesize-record</a:t>
            </a: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）：保存非终结符号的综合属性值</a:t>
            </a:r>
            <a:endPar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295400" marR="0" lvl="2" indent="-495300" algn="l" defTabSz="955675" rtl="0" eaLnBrk="0" fontAlgn="base" latinLnBrk="0" hangingPunct="0">
              <a:lnSpc>
                <a:spcPct val="100000"/>
              </a:lnSpc>
              <a:spcBef>
                <a:spcPct val="30000"/>
              </a:spcBef>
              <a:spcAft>
                <a:spcPct val="0"/>
              </a:spcAft>
              <a:buClrTx/>
              <a:buSzTx/>
              <a:buFontTx/>
              <a:buNone/>
              <a:defRPr/>
            </a:pP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在栈中对属性的管理</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752600" marR="0" lvl="3" indent="-495300" algn="l" defTabSz="955675" rtl="0" eaLnBrk="0" fontAlgn="base" latinLnBrk="0" hangingPunct="0">
              <a:lnSpc>
                <a:spcPct val="100000"/>
              </a:lnSpc>
              <a:spcBef>
                <a:spcPct val="30000"/>
              </a:spcBef>
              <a:spcAft>
                <a:spcPct val="0"/>
              </a:spcAft>
              <a:buClrTx/>
              <a:buSzTx/>
              <a:buFontTx/>
              <a:buNone/>
              <a:defRPr/>
            </a:pP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非终结符</a:t>
            </a:r>
            <a:r>
              <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的继承属性放在表示这个非终结符的栈记录中，计算其继承属性的代码放在栈中紧靠</a:t>
            </a:r>
            <a:r>
              <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的记录之上的动作记录中，保证继承属性的计算</a:t>
            </a:r>
            <a:endPar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752600" marR="0" lvl="3" indent="-495300" algn="l" defTabSz="955675" rtl="0" eaLnBrk="0" fontAlgn="base" latinLnBrk="0" hangingPunct="0">
              <a:lnSpc>
                <a:spcPct val="100000"/>
              </a:lnSpc>
              <a:spcBef>
                <a:spcPct val="30000"/>
              </a:spcBef>
              <a:spcAft>
                <a:spcPct val="0"/>
              </a:spcAft>
              <a:buClrTx/>
              <a:buSzTx/>
              <a:buFontTx/>
              <a:buNone/>
              <a:defRPr/>
            </a:pP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非终结符</a:t>
            </a:r>
            <a:r>
              <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的综合属性放在一个单独的综合记录中，该综合记录在栈中紧靠</a:t>
            </a:r>
            <a:r>
              <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a:t>
            </a: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记录之下的位置</a:t>
            </a:r>
            <a:endPar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295400" marR="0" lvl="2" indent="-495300" algn="l" defTabSz="955675" rtl="0" eaLnBrk="0" fontAlgn="base" latinLnBrk="0" hangingPunct="0">
              <a:lnSpc>
                <a:spcPct val="100000"/>
              </a:lnSpc>
              <a:spcBef>
                <a:spcPct val="30000"/>
              </a:spcBef>
              <a:spcAft>
                <a:spcPct val="0"/>
              </a:spcAft>
              <a:buClrTx/>
              <a:buSzTx/>
              <a:buFontTx/>
              <a:buNone/>
              <a:defRPr/>
            </a:pP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动作记录存放被执行动作代码指针（动作也可放在综合记录中）</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1752600" marR="0" lvl="3" indent="-495300" algn="l" defTabSz="955675" rtl="0" eaLnBrk="0" fontAlgn="base" latinLnBrk="0" hangingPunct="0">
              <a:lnSpc>
                <a:spcPct val="100000"/>
              </a:lnSpc>
              <a:spcBef>
                <a:spcPct val="30000"/>
              </a:spcBef>
              <a:spcAft>
                <a:spcPct val="0"/>
              </a:spcAft>
              <a:buClrTx/>
              <a:buSzTx/>
              <a:buFontTx/>
              <a:buNone/>
              <a:defRPr/>
            </a:pPr>
            <a:r>
              <a:rPr kumimoji="0" lang="zh-CN" altLang="en-US"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可以借助动作，将其它记录的综合属性值拷贝到栈中更低位置，以便后续翻译使用</a:t>
            </a:r>
            <a:endParaRPr kumimoji="0" lang="en-US" altLang="zh-CN" sz="1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15565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幻灯片图像占位符 1"/>
          <p:cNvSpPr>
            <a:spLocks noGrp="1" noRot="1" noChangeAspect="1" noTextEdit="1"/>
          </p:cNvSpPr>
          <p:nvPr>
            <p:ph type="sldImg"/>
          </p:nvPr>
        </p:nvSpPr>
        <p:spPr/>
      </p:sp>
      <p:sp>
        <p:nvSpPr>
          <p:cNvPr id="157699" name="备注占位符 2"/>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C</a:t>
            </a:r>
            <a:r>
              <a:rPr lang="zh-CN" altLang="en-US" dirty="0">
                <a:ea typeface="宋体" panose="02010600030101010101" pitchFamily="2" charset="-122"/>
              </a:rPr>
              <a:t>和</a:t>
            </a:r>
            <a:r>
              <a:rPr lang="en-US" altLang="zh-CN" dirty="0">
                <a:ea typeface="宋体" panose="02010600030101010101" pitchFamily="2" charset="-122"/>
              </a:rPr>
              <a:t>S1</a:t>
            </a:r>
            <a:r>
              <a:rPr lang="zh-CN" altLang="en-US" dirty="0">
                <a:ea typeface="宋体" panose="02010600030101010101" pitchFamily="2" charset="-122"/>
              </a:rPr>
              <a:t>之前的动作记录中的语义动作对应于图</a:t>
            </a:r>
            <a:r>
              <a:rPr lang="en-US" altLang="zh-CN" dirty="0">
                <a:ea typeface="宋体" panose="02010600030101010101" pitchFamily="2" charset="-122"/>
              </a:rPr>
              <a:t>5-32</a:t>
            </a:r>
            <a:r>
              <a:rPr lang="zh-CN" altLang="en-US" dirty="0">
                <a:ea typeface="宋体" panose="02010600030101010101" pitchFamily="2" charset="-122"/>
              </a:rPr>
              <a:t>中的</a:t>
            </a:r>
            <a:r>
              <a:rPr lang="en-US" altLang="zh-CN" dirty="0">
                <a:ea typeface="宋体" panose="02010600030101010101" pitchFamily="2" charset="-122"/>
              </a:rPr>
              <a:t>SDT</a:t>
            </a:r>
            <a:endParaRPr lang="zh-CN" altLang="en-US" dirty="0">
              <a:ea typeface="宋体" panose="02010600030101010101" pitchFamily="2" charset="-122"/>
            </a:endParaRPr>
          </a:p>
        </p:txBody>
      </p:sp>
      <p:sp>
        <p:nvSpPr>
          <p:cNvPr id="15770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幻灯片图像占位符 1"/>
          <p:cNvSpPr>
            <a:spLocks noGrp="1" noRot="1" noChangeAspect="1" noTextEdit="1"/>
          </p:cNvSpPr>
          <p:nvPr>
            <p:ph type="sldImg"/>
          </p:nvPr>
        </p:nvSpPr>
        <p:spPr/>
      </p:sp>
      <p:sp>
        <p:nvSpPr>
          <p:cNvPr id="160771"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6077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幻灯片图像占位符 1"/>
          <p:cNvSpPr>
            <a:spLocks noGrp="1" noRot="1" noChangeAspect="1" noTextEdit="1"/>
          </p:cNvSpPr>
          <p:nvPr>
            <p:ph type="sldImg"/>
          </p:nvPr>
        </p:nvSpPr>
        <p:spPr/>
      </p:sp>
      <p:sp>
        <p:nvSpPr>
          <p:cNvPr id="162819"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6282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幻灯片图像占位符 1"/>
          <p:cNvSpPr>
            <a:spLocks noGrp="1" noRot="1" noChangeAspect="1" noTextEdit="1"/>
          </p:cNvSpPr>
          <p:nvPr>
            <p:ph type="sldImg"/>
          </p:nvPr>
        </p:nvSpPr>
        <p:spPr/>
      </p:sp>
      <p:sp>
        <p:nvSpPr>
          <p:cNvPr id="165891"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6589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幻灯片图像占位符 1"/>
          <p:cNvSpPr>
            <a:spLocks noGrp="1" noRot="1" noChangeAspect="1" noTextEdit="1"/>
          </p:cNvSpPr>
          <p:nvPr>
            <p:ph type="sldImg"/>
          </p:nvPr>
        </p:nvSpPr>
        <p:spPr/>
      </p:sp>
      <p:sp>
        <p:nvSpPr>
          <p:cNvPr id="167939"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6794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幻灯片图像占位符 1"/>
          <p:cNvSpPr>
            <a:spLocks noGrp="1" noRot="1" noChangeAspect="1" noTextEdit="1"/>
          </p:cNvSpPr>
          <p:nvPr>
            <p:ph type="sldImg"/>
          </p:nvPr>
        </p:nvSpPr>
        <p:spPr/>
      </p:sp>
      <p:sp>
        <p:nvSpPr>
          <p:cNvPr id="169987"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69988"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幻灯片图像占位符 1"/>
          <p:cNvSpPr>
            <a:spLocks noGrp="1" noRot="1" noChangeAspect="1" noTextEdit="1"/>
          </p:cNvSpPr>
          <p:nvPr>
            <p:ph type="sldImg"/>
          </p:nvPr>
        </p:nvSpPr>
        <p:spPr/>
      </p:sp>
      <p:sp>
        <p:nvSpPr>
          <p:cNvPr id="172035"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72036"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幻灯片图像占位符 1"/>
          <p:cNvSpPr>
            <a:spLocks noGrp="1" noRot="1" noChangeAspect="1" noTextEdit="1"/>
          </p:cNvSpPr>
          <p:nvPr>
            <p:ph type="sldImg"/>
          </p:nvPr>
        </p:nvSpPr>
        <p:spPr/>
      </p:sp>
      <p:sp>
        <p:nvSpPr>
          <p:cNvPr id="174083"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74084"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幻灯片图像占位符 1"/>
          <p:cNvSpPr>
            <a:spLocks noGrp="1" noRot="1" noChangeAspect="1" noTextEdit="1"/>
          </p:cNvSpPr>
          <p:nvPr>
            <p:ph type="sldImg"/>
          </p:nvPr>
        </p:nvSpPr>
        <p:spPr/>
      </p:sp>
      <p:sp>
        <p:nvSpPr>
          <p:cNvPr id="176131" name="备注占位符 2"/>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
        <p:nvSpPr>
          <p:cNvPr id="176132"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幻灯片图像占位符 1"/>
          <p:cNvSpPr>
            <a:spLocks noGrp="1" noRot="1" noChangeAspect="1" noTextEdit="1"/>
          </p:cNvSpPr>
          <p:nvPr>
            <p:ph type="sldImg"/>
          </p:nvPr>
        </p:nvSpPr>
        <p:spPr/>
      </p:sp>
      <p:sp>
        <p:nvSpPr>
          <p:cNvPr id="178179" name="备注占位符 2"/>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M</a:t>
            </a:r>
            <a:r>
              <a:rPr lang="zh-CN" altLang="en-US" dirty="0">
                <a:ea typeface="宋体" panose="02010600030101010101" pitchFamily="2" charset="-122"/>
              </a:rPr>
              <a:t>的出现决定了其出现在哪个产生式，前后的符号，因此其用到的各个属性的位置都是确定的</a:t>
            </a:r>
            <a:endParaRPr lang="zh-CN" altLang="en-US" dirty="0">
              <a:ea typeface="宋体" panose="02010600030101010101" pitchFamily="2" charset="-122"/>
            </a:endParaRPr>
          </a:p>
        </p:txBody>
      </p:sp>
      <p:sp>
        <p:nvSpPr>
          <p:cNvPr id="17818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幻灯片图像占位符 1"/>
          <p:cNvSpPr>
            <a:spLocks noGrp="1" noRot="1" noChangeAspect="1" noTextEdit="1"/>
          </p:cNvSpPr>
          <p:nvPr>
            <p:ph type="sldImg"/>
          </p:nvPr>
        </p:nvSpPr>
        <p:spPr/>
      </p:sp>
      <p:sp>
        <p:nvSpPr>
          <p:cNvPr id="180227" name="备注占位符 2"/>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N</a:t>
            </a:r>
            <a:r>
              <a:rPr lang="zh-CN" altLang="en-US" dirty="0">
                <a:ea typeface="宋体" panose="02010600030101010101" pitchFamily="2" charset="-122"/>
              </a:rPr>
              <a:t>的情况与</a:t>
            </a:r>
            <a:r>
              <a:rPr lang="en-US" altLang="zh-CN" dirty="0">
                <a:ea typeface="宋体" panose="02010600030101010101" pitchFamily="2" charset="-122"/>
              </a:rPr>
              <a:t>M</a:t>
            </a:r>
            <a:r>
              <a:rPr lang="zh-CN" altLang="en-US" dirty="0">
                <a:ea typeface="宋体" panose="02010600030101010101" pitchFamily="2" charset="-122"/>
              </a:rPr>
              <a:t>类似</a:t>
            </a:r>
            <a:endParaRPr lang="zh-CN" altLang="en-US" dirty="0">
              <a:ea typeface="宋体" panose="02010600030101010101" pitchFamily="2" charset="-122"/>
            </a:endParaRPr>
          </a:p>
        </p:txBody>
      </p:sp>
      <p:sp>
        <p:nvSpPr>
          <p:cNvPr id="180228"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幻灯片图像占位符 1"/>
          <p:cNvSpPr>
            <a:spLocks noGrp="1" noRot="1" noChangeAspect="1" noTextEdit="1"/>
          </p:cNvSpPr>
          <p:nvPr>
            <p:ph type="sldImg"/>
          </p:nvPr>
        </p:nvSpPr>
        <p:spPr/>
      </p:sp>
      <p:sp>
        <p:nvSpPr>
          <p:cNvPr id="182275" name="备注占位符 2"/>
          <p:cNvSpPr>
            <a:spLocks noGrp="1"/>
          </p:cNvSpPr>
          <p:nvPr>
            <p:ph type="body" idx="1"/>
          </p:nvPr>
        </p:nvSpPr>
        <p:spPr>
          <a:ln w="22225"/>
        </p:spPr>
        <p:txBody>
          <a:bodyPr wrap="square" lIns="91534" tIns="45768" rIns="91534" bIns="45768" anchor="t" anchorCtr="0"/>
          <a:p>
            <a:pPr lvl="0"/>
            <a:r>
              <a:rPr lang="en-US" altLang="zh-CN" dirty="0">
                <a:ea typeface="宋体" panose="02010600030101010101" pitchFamily="2" charset="-122"/>
              </a:rPr>
              <a:t>N</a:t>
            </a:r>
            <a:r>
              <a:rPr lang="zh-CN" altLang="en-US" dirty="0">
                <a:ea typeface="宋体" panose="02010600030101010101" pitchFamily="2" charset="-122"/>
              </a:rPr>
              <a:t>的情况与</a:t>
            </a:r>
            <a:r>
              <a:rPr lang="en-US" altLang="zh-CN" dirty="0">
                <a:ea typeface="宋体" panose="02010600030101010101" pitchFamily="2" charset="-122"/>
              </a:rPr>
              <a:t>M</a:t>
            </a:r>
            <a:r>
              <a:rPr lang="zh-CN" altLang="en-US" dirty="0">
                <a:ea typeface="宋体" panose="02010600030101010101" pitchFamily="2" charset="-122"/>
              </a:rPr>
              <a:t>类似</a:t>
            </a:r>
            <a:endParaRPr lang="zh-CN" altLang="en-US" dirty="0">
              <a:ea typeface="宋体" panose="02010600030101010101" pitchFamily="2" charset="-122"/>
            </a:endParaRPr>
          </a:p>
        </p:txBody>
      </p:sp>
      <p:sp>
        <p:nvSpPr>
          <p:cNvPr id="182276"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4323" name="Rectangle 2"/>
          <p:cNvSpPr>
            <a:spLocks noGrp="1" noRot="1" noChangeAspect="1" noTextEdit="1"/>
          </p:cNvSpPr>
          <p:nvPr>
            <p:ph type="sldImg"/>
          </p:nvPr>
        </p:nvSpPr>
        <p:spPr>
          <a:solidFill>
            <a:srgbClr val="FFFFFF">
              <a:alpha val="100000"/>
            </a:srgbClr>
          </a:solidFill>
        </p:spPr>
      </p:sp>
      <p:sp>
        <p:nvSpPr>
          <p:cNvPr id="184324"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6371" name="Rectangle 2"/>
          <p:cNvSpPr>
            <a:spLocks noGrp="1" noRot="1" noChangeAspect="1" noTextEdit="1"/>
          </p:cNvSpPr>
          <p:nvPr>
            <p:ph type="sldImg"/>
          </p:nvPr>
        </p:nvSpPr>
        <p:spPr>
          <a:solidFill>
            <a:srgbClr val="FFFFFF">
              <a:alpha val="100000"/>
            </a:srgbClr>
          </a:solidFill>
        </p:spPr>
      </p:sp>
      <p:sp>
        <p:nvSpPr>
          <p:cNvPr id="186372"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8419" name="Rectangle 2"/>
          <p:cNvSpPr>
            <a:spLocks noGrp="1" noRot="1" noChangeAspect="1" noTextEdit="1"/>
          </p:cNvSpPr>
          <p:nvPr>
            <p:ph type="sldImg"/>
          </p:nvPr>
        </p:nvSpPr>
        <p:spPr>
          <a:solidFill>
            <a:srgbClr val="FFFFFF">
              <a:alpha val="100000"/>
            </a:srgbClr>
          </a:solidFill>
        </p:spPr>
      </p:sp>
      <p:sp>
        <p:nvSpPr>
          <p:cNvPr id="188420" name="Rectangle 3"/>
          <p:cNvSpPr>
            <a:spLocks noGrp="1"/>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3.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22.w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4.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image" Target="../media/image28.wmf"/></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30.wm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31.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32.w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35.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w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image" Target="../media/image39.wmf"/></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image" Target="../media/image40.w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第五章 语法制导的翻译</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p:cNvSpPr>
          <p:nvPr>
            <p:ph idx="1"/>
          </p:nvPr>
        </p:nvSpPr>
        <p:spPr>
          <a:xfrm>
            <a:off x="990600" y="1600200"/>
            <a:ext cx="7391400" cy="4191000"/>
          </a:xfrm>
        </p:spPr>
        <p:txBody>
          <a:bodyPr vert="horz" wrap="square" lIns="92075" tIns="46038" rIns="92075" bIns="46038" anchor="t" anchorCtr="0"/>
          <a:p>
            <a:pPr>
              <a:spcBef>
                <a:spcPct val="40000"/>
              </a:spcBef>
              <a:spcAft>
                <a:spcPct val="20000"/>
              </a:spcAft>
            </a:pPr>
            <a:r>
              <a:rPr lang="zh-CN" altLang="en-US" sz="2800" b="1" dirty="0">
                <a:solidFill>
                  <a:srgbClr val="FF0000"/>
                </a:solidFill>
                <a:latin typeface="宋体" panose="02010600030101010101" pitchFamily="2" charset="-122"/>
                <a:ea typeface="宋体" panose="02010600030101010101" pitchFamily="2" charset="-122"/>
              </a:rPr>
              <a:t>一些基础知识</a:t>
            </a:r>
            <a:endParaRPr lang="en-US" altLang="zh-CN" sz="2800" b="1" dirty="0">
              <a:solidFill>
                <a:srgbClr val="FF0000"/>
              </a:solidFill>
              <a:latin typeface="宋体" panose="02010600030101010101" pitchFamily="2" charset="-122"/>
              <a:ea typeface="宋体" panose="02010600030101010101" pitchFamily="2" charset="-122"/>
            </a:endParaRPr>
          </a:p>
          <a:p>
            <a:pPr>
              <a:spcBef>
                <a:spcPct val="40000"/>
              </a:spcBef>
              <a:spcAft>
                <a:spcPct val="20000"/>
              </a:spcAft>
            </a:pPr>
            <a:r>
              <a:rPr lang="zh-CN" altLang="en-US" sz="2800" b="1" dirty="0">
                <a:latin typeface="宋体" panose="02010600030101010101" pitchFamily="2" charset="-122"/>
                <a:ea typeface="宋体" panose="02010600030101010101" pitchFamily="2" charset="-122"/>
              </a:rPr>
              <a:t>语法制导定义</a:t>
            </a:r>
            <a:endParaRPr lang="zh-CN" altLang="en-US" sz="2800" b="1" dirty="0">
              <a:ea typeface="宋体" panose="02010600030101010101" pitchFamily="2" charset="-122"/>
            </a:endParaRPr>
          </a:p>
          <a:p>
            <a:pPr>
              <a:spcBef>
                <a:spcPct val="40000"/>
              </a:spcBef>
              <a:spcAft>
                <a:spcPct val="20000"/>
              </a:spcAft>
            </a:pPr>
            <a:r>
              <a:rPr lang="en-US" altLang="zh-CN" sz="2800" b="1" dirty="0">
                <a:ea typeface="宋体" panose="02010600030101010101" pitchFamily="2" charset="-122"/>
              </a:rPr>
              <a:t>SDD</a:t>
            </a:r>
            <a:r>
              <a:rPr lang="zh-CN" altLang="en-US" sz="2800" b="1" dirty="0">
                <a:ea typeface="宋体" panose="02010600030101010101" pitchFamily="2" charset="-122"/>
              </a:rPr>
              <a:t>的求值顺序</a:t>
            </a:r>
            <a:endParaRPr lang="zh-CN" altLang="en-US" sz="2800" b="1" dirty="0">
              <a:ea typeface="宋体" panose="02010600030101010101" pitchFamily="2" charset="-122"/>
            </a:endParaRPr>
          </a:p>
          <a:p>
            <a:pPr>
              <a:spcBef>
                <a:spcPct val="40000"/>
              </a:spcBef>
              <a:spcAft>
                <a:spcPct val="20000"/>
              </a:spcAft>
            </a:pPr>
            <a:r>
              <a:rPr lang="zh-CN" altLang="en-US" sz="2800" b="1" dirty="0">
                <a:ea typeface="宋体" panose="02010600030101010101" pitchFamily="2" charset="-122"/>
              </a:rPr>
              <a:t>语法制导翻译的应用</a:t>
            </a:r>
            <a:endParaRPr lang="zh-CN" altLang="en-US" sz="2800" b="1" dirty="0">
              <a:ea typeface="宋体" panose="02010600030101010101" pitchFamily="2" charset="-122"/>
            </a:endParaRPr>
          </a:p>
          <a:p>
            <a:pPr>
              <a:spcBef>
                <a:spcPct val="40000"/>
              </a:spcBef>
              <a:spcAft>
                <a:spcPct val="20000"/>
              </a:spcAft>
            </a:pPr>
            <a:r>
              <a:rPr lang="zh-CN" altLang="en-US" sz="2800" b="1" dirty="0">
                <a:latin typeface="宋体" panose="02010600030101010101" pitchFamily="2" charset="-122"/>
                <a:ea typeface="宋体" panose="02010600030101010101" pitchFamily="2" charset="-122"/>
              </a:rPr>
              <a:t>语法制导的翻译方案</a:t>
            </a:r>
            <a:endParaRPr lang="zh-CN" altLang="en-US" sz="2800" b="1" dirty="0">
              <a:ea typeface="宋体" panose="02010600030101010101" pitchFamily="2" charset="-122"/>
            </a:endParaRPr>
          </a:p>
          <a:p>
            <a:pPr>
              <a:spcBef>
                <a:spcPct val="40000"/>
              </a:spcBef>
              <a:spcAft>
                <a:spcPct val="20000"/>
              </a:spcAft>
            </a:pPr>
            <a:r>
              <a:rPr lang="zh-CN" altLang="en-US" sz="2800" b="1" dirty="0">
                <a:latin typeface="宋体" panose="02010600030101010101" pitchFamily="2" charset="-122"/>
                <a:ea typeface="宋体" panose="02010600030101010101" pitchFamily="2" charset="-122"/>
              </a:rPr>
              <a:t>实现</a:t>
            </a:r>
            <a:r>
              <a:rPr lang="en-US" altLang="zh-CN" sz="2800" b="1" dirty="0">
                <a:latin typeface="宋体" panose="02010600030101010101" pitchFamily="2" charset="-122"/>
                <a:ea typeface="宋体" panose="02010600030101010101" pitchFamily="2" charset="-122"/>
              </a:rPr>
              <a:t>L</a:t>
            </a:r>
            <a:r>
              <a:rPr lang="zh-CN" altLang="en-US" sz="2800" b="1" dirty="0">
                <a:latin typeface="宋体" panose="02010600030101010101" pitchFamily="2" charset="-122"/>
                <a:ea typeface="宋体" panose="02010600030101010101" pitchFamily="2" charset="-122"/>
              </a:rPr>
              <a:t>属性的</a:t>
            </a:r>
            <a:r>
              <a:rPr lang="en-US" altLang="zh-CN" sz="2800" b="1" dirty="0">
                <a:latin typeface="宋体" panose="02010600030101010101" pitchFamily="2" charset="-122"/>
                <a:ea typeface="宋体" panose="02010600030101010101" pitchFamily="2" charset="-122"/>
              </a:rPr>
              <a:t>SDD</a:t>
            </a:r>
            <a:endParaRPr lang="zh-CN" altLang="en-US" sz="2400" b="1" dirty="0">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语法制导翻译的基础（1）</a:t>
            </a:r>
            <a:endParaRPr lang="zh-CN" altLang="en-US" dirty="0">
              <a:latin typeface="Times New Roman" panose="02020603050405020304" pitchFamily="18" charset="0"/>
              <a:ea typeface="宋体" panose="02010600030101010101" pitchFamily="2" charset="-122"/>
            </a:endParaRPr>
          </a:p>
        </p:txBody>
      </p:sp>
      <p:sp>
        <p:nvSpPr>
          <p:cNvPr id="6147"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属性(</a:t>
            </a:r>
            <a:r>
              <a:rPr lang="en-US" altLang="zh-CN" sz="2400" b="1" dirty="0">
                <a:ea typeface="宋体" panose="02010600030101010101" pitchFamily="2" charset="-122"/>
              </a:rPr>
              <a:t>attribute)：</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属性是编程语言结构的任意特性</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其包含的信息等由于语言、目的等的不同，而有着显著的差异</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典型的属性包括：</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变量/表达式的数据类型</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表达式的值</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存储器中变量的位置</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程序的目标代码</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数的表示形式（有效位数、浮点数的标准、大尾/小尾形式）</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属性值的确定时刻：</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有些属性可以在静态时刻确定：如数的有效位数等</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有些属性要在动态时刻确定：动态分配的变量的位置</a:t>
            </a:r>
            <a:endParaRPr lang="zh-CN" altLang="en-US" sz="2000" b="1" dirty="0">
              <a:ea typeface="宋体" panose="02010600030101010101" pitchFamily="2"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语法制导翻译的基础（2）</a:t>
            </a:r>
            <a:endParaRPr lang="zh-CN" altLang="en-US" dirty="0">
              <a:latin typeface="Times New Roman" panose="02020603050405020304" pitchFamily="18" charset="0"/>
              <a:ea typeface="宋体" panose="02010600030101010101" pitchFamily="2" charset="-122"/>
            </a:endParaRPr>
          </a:p>
        </p:txBody>
      </p:sp>
      <p:sp>
        <p:nvSpPr>
          <p:cNvPr id="8195" name="Rectangle 3"/>
          <p:cNvSpPr>
            <a:spLocks noGrp="1"/>
          </p:cNvSpPr>
          <p:nvPr>
            <p:ph idx="1"/>
          </p:nvPr>
        </p:nvSpPr>
        <p:spPr>
          <a:xfrm>
            <a:off x="990600" y="1524000"/>
            <a:ext cx="7391400" cy="4800600"/>
          </a:xfrm>
        </p:spPr>
        <p:txBody>
          <a:bodyPr vert="horz" wrap="square" lIns="92075" tIns="46038" rIns="92075" bIns="46038" anchor="t" anchorCtr="0"/>
          <a:p>
            <a:pPr lvl="1">
              <a:lnSpc>
                <a:spcPct val="90000"/>
              </a:lnSpc>
            </a:pPr>
            <a:r>
              <a:rPr lang="zh-CN" altLang="en-US" sz="2600" b="1" dirty="0">
                <a:ea typeface="宋体" panose="02010600030101010101" pitchFamily="2" charset="-122"/>
              </a:rPr>
              <a:t>属性的联编（</a:t>
            </a:r>
            <a:r>
              <a:rPr lang="en-US" altLang="zh-CN" sz="2600" b="1" dirty="0">
                <a:ea typeface="宋体" panose="02010600030101010101" pitchFamily="2" charset="-122"/>
              </a:rPr>
              <a:t>binding）：</a:t>
            </a:r>
            <a:endParaRPr lang="en-US" altLang="zh-CN" sz="2600" b="1" dirty="0">
              <a:ea typeface="宋体" panose="02010600030101010101" pitchFamily="2" charset="-122"/>
            </a:endParaRPr>
          </a:p>
          <a:p>
            <a:pPr lvl="2">
              <a:lnSpc>
                <a:spcPct val="90000"/>
              </a:lnSpc>
            </a:pPr>
            <a:r>
              <a:rPr lang="zh-CN" altLang="en-US" b="1" dirty="0">
                <a:ea typeface="宋体" panose="02010600030101010101" pitchFamily="2" charset="-122"/>
              </a:rPr>
              <a:t>属性的计算及将计算值与正在讨论的语言结构联系的过程称为属性的联编</a:t>
            </a:r>
            <a:endParaRPr lang="zh-CN" altLang="en-US" b="1" dirty="0">
              <a:ea typeface="宋体" panose="02010600030101010101" pitchFamily="2" charset="-122"/>
            </a:endParaRPr>
          </a:p>
          <a:p>
            <a:pPr lvl="2">
              <a:lnSpc>
                <a:spcPct val="90000"/>
              </a:lnSpc>
            </a:pPr>
            <a:r>
              <a:rPr lang="zh-CN" altLang="en-US" b="1" dirty="0">
                <a:ea typeface="宋体" panose="02010600030101010101" pitchFamily="2" charset="-122"/>
              </a:rPr>
              <a:t>联编的时刻：</a:t>
            </a:r>
            <a:endParaRPr lang="zh-CN" altLang="en-US" b="1" dirty="0">
              <a:ea typeface="宋体" panose="02010600030101010101" pitchFamily="2" charset="-122"/>
            </a:endParaRPr>
          </a:p>
          <a:p>
            <a:pPr lvl="3">
              <a:lnSpc>
                <a:spcPct val="90000"/>
              </a:lnSpc>
            </a:pPr>
            <a:r>
              <a:rPr lang="zh-CN" altLang="en-US" sz="1800" b="1" dirty="0">
                <a:ea typeface="宋体" panose="02010600030101010101" pitchFamily="2" charset="-122"/>
              </a:rPr>
              <a:t>联编属性发生时编译/执行过程的时间称为联编时间（</a:t>
            </a:r>
            <a:r>
              <a:rPr lang="en-US" altLang="zh-CN" sz="1800" b="1" dirty="0">
                <a:ea typeface="宋体" panose="02010600030101010101" pitchFamily="2" charset="-122"/>
              </a:rPr>
              <a:t>binding time）</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不同的属性变化，甚至不同语言的相同属性都可能有完全不同的联编时间</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在执行前联编的属性称为静态（</a:t>
            </a:r>
            <a:r>
              <a:rPr lang="en-US" altLang="zh-CN" sz="1800" b="1" dirty="0">
                <a:ea typeface="宋体" panose="02010600030101010101" pitchFamily="2" charset="-122"/>
              </a:rPr>
              <a:t>static）</a:t>
            </a:r>
            <a:r>
              <a:rPr lang="zh-CN" altLang="en-US" sz="1800" b="1" dirty="0">
                <a:ea typeface="宋体" panose="02010600030101010101" pitchFamily="2" charset="-122"/>
              </a:rPr>
              <a:t>属性，这也是传统的静态编译器的主要兴趣所在：</a:t>
            </a:r>
            <a:endParaRPr lang="zh-CN" altLang="en-US" sz="1800" b="1" dirty="0">
              <a:ea typeface="宋体" panose="02010600030101010101" pitchFamily="2" charset="-122"/>
            </a:endParaRPr>
          </a:p>
          <a:p>
            <a:pPr lvl="4">
              <a:lnSpc>
                <a:spcPct val="90000"/>
              </a:lnSpc>
            </a:pPr>
            <a:r>
              <a:rPr lang="zh-CN" altLang="en-US" sz="1600" b="1" dirty="0">
                <a:ea typeface="宋体" panose="02010600030101010101" pitchFamily="2" charset="-122"/>
              </a:rPr>
              <a:t>静态类型语言（如</a:t>
            </a:r>
            <a:r>
              <a:rPr lang="en-US" altLang="zh-CN" sz="1600" b="1" dirty="0">
                <a:ea typeface="宋体" panose="02010600030101010101" pitchFamily="2" charset="-122"/>
              </a:rPr>
              <a:t>C）</a:t>
            </a:r>
            <a:r>
              <a:rPr lang="zh-CN" altLang="en-US" sz="1600" b="1" dirty="0">
                <a:ea typeface="宋体" panose="02010600030101010101" pitchFamily="2" charset="-122"/>
              </a:rPr>
              <a:t>中的变量或表达式的类型，因此类型检查在静态时刻完成；而</a:t>
            </a:r>
            <a:r>
              <a:rPr lang="en-US" altLang="zh-CN" sz="1600" b="1" dirty="0">
                <a:ea typeface="宋体" panose="02010600030101010101" pitchFamily="2" charset="-122"/>
              </a:rPr>
              <a:t>Lisp</a:t>
            </a:r>
            <a:r>
              <a:rPr lang="zh-CN" altLang="en-US" sz="1600" b="1" dirty="0">
                <a:ea typeface="宋体" panose="02010600030101010101" pitchFamily="2" charset="-122"/>
              </a:rPr>
              <a:t>中，数据类型是动态的，因此类型检查只能在动态时刻完成</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表达式的值通常是动态的，而常量表达式的值是静态的</a:t>
            </a:r>
            <a:endParaRPr lang="zh-CN" altLang="en-US" sz="1600" b="1" dirty="0">
              <a:ea typeface="宋体" panose="02010600030101010101" pitchFamily="2" charset="-122"/>
            </a:endParaRPr>
          </a:p>
          <a:p>
            <a:pPr lvl="4">
              <a:lnSpc>
                <a:spcPct val="90000"/>
              </a:lnSpc>
            </a:pPr>
            <a:r>
              <a:rPr lang="zh-CN" altLang="en-US" sz="1600" b="1" dirty="0">
                <a:ea typeface="宋体" panose="02010600030101010101" pitchFamily="2" charset="-122"/>
              </a:rPr>
              <a:t>程序的目标代码是一个静态属性</a:t>
            </a:r>
            <a:endParaRPr lang="zh-CN" altLang="en-US" sz="1600" b="1" dirty="0">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语法制导翻译的基础（3）</a:t>
            </a:r>
            <a:endParaRPr lang="zh-CN" altLang="en-US" dirty="0">
              <a:latin typeface="Times New Roman" panose="02020603050405020304" pitchFamily="18" charset="0"/>
              <a:ea typeface="宋体" panose="02010600030101010101" pitchFamily="2" charset="-122"/>
            </a:endParaRPr>
          </a:p>
        </p:txBody>
      </p:sp>
      <p:sp>
        <p:nvSpPr>
          <p:cNvPr id="10243"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语义规则与产生式相联系的两种表示方式：</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语法制导定义：</a:t>
            </a:r>
            <a:r>
              <a:rPr lang="zh-CN" altLang="en-US" sz="2000" b="1" dirty="0">
                <a:ea typeface="宋体" panose="02010600030101010101" pitchFamily="2" charset="-122"/>
              </a:rPr>
              <a:t>属性直接与语言的文法符号相联系（包括终结符和非终结符）</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较抽象的翻译说明，无须指明翻译时语义规则的计算次序</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易于理解，适合作为对翻译的规约</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翻译方案</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将语义动作嵌入产生式右部合适的位置</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这个位置在保证语义计算正确的前提下，可以出现在右部的任何位置</a:t>
            </a:r>
            <a:endParaRPr lang="en-US" altLang="zh-CN" sz="1800" b="1" dirty="0">
              <a:ea typeface="宋体" panose="02010600030101010101" pitchFamily="2" charset="-122"/>
            </a:endParaRPr>
          </a:p>
          <a:p>
            <a:pPr lvl="2">
              <a:lnSpc>
                <a:spcPct val="90000"/>
              </a:lnSpc>
            </a:pPr>
            <a:r>
              <a:rPr lang="zh-CN" altLang="en-US" sz="2000" b="1" dirty="0">
                <a:ea typeface="宋体" panose="02010600030101010101" pitchFamily="2" charset="-122"/>
              </a:rPr>
              <a:t>指明了语义规则的计算次序</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翻译方案的实现更为高效</a:t>
            </a:r>
            <a:endParaRPr lang="en-US" altLang="zh-CN" sz="2000" b="1" dirty="0">
              <a:ea typeface="宋体" panose="02010600030101010101" pitchFamily="2" charset="-122"/>
            </a:endParaRPr>
          </a:p>
          <a:p>
            <a:pPr lvl="2">
              <a:lnSpc>
                <a:spcPct val="90000"/>
              </a:lnSpc>
            </a:pPr>
            <a:endParaRPr lang="zh-CN" altLang="en-US" sz="2000" b="1" dirty="0">
              <a:ea typeface="宋体" panose="02010600030101010101"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语法制导翻译的基础（3）</a:t>
            </a:r>
            <a:endParaRPr lang="zh-CN" altLang="en-US" dirty="0">
              <a:latin typeface="Times New Roman" panose="02020603050405020304" pitchFamily="18" charset="0"/>
              <a:ea typeface="宋体" panose="02010600030101010101" pitchFamily="2" charset="-122"/>
            </a:endParaRPr>
          </a:p>
        </p:txBody>
      </p:sp>
      <p:sp>
        <p:nvSpPr>
          <p:cNvPr id="12291"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语法制导翻译实现的过程：</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一般的流程</a:t>
            </a:r>
            <a:endParaRPr lang="zh-CN" altLang="en-US" sz="2200" b="1" dirty="0">
              <a:ea typeface="宋体" panose="02010600030101010101" pitchFamily="2" charset="-122"/>
            </a:endParaRPr>
          </a:p>
          <a:p>
            <a:pPr lvl="1">
              <a:lnSpc>
                <a:spcPct val="90000"/>
              </a:lnSpc>
              <a:buNone/>
            </a:pPr>
            <a:r>
              <a:rPr lang="zh-CN" altLang="en-US" sz="2000" b="1" dirty="0">
                <a:ea typeface="宋体" panose="02010600030101010101" pitchFamily="2" charset="-122"/>
              </a:rPr>
              <a:t>输入符号→分析树→依赖图→语义规则的计算次序→结果</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可以单遍完成翻译的过程</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不产生明显的分析树或画出依赖图</a:t>
            </a:r>
            <a:endParaRPr lang="zh-CN" altLang="en-US" sz="2000" b="1" dirty="0">
              <a:ea typeface="宋体" panose="02010600030101010101" pitchFamily="2" charset="-122"/>
            </a:endParaRPr>
          </a:p>
          <a:p>
            <a:pPr lvl="2">
              <a:lnSpc>
                <a:spcPct val="90000"/>
              </a:lnSpc>
            </a:pPr>
            <a:r>
              <a:rPr lang="en-US" altLang="zh-CN" sz="2000" b="1" dirty="0">
                <a:ea typeface="宋体" panose="02010600030101010101" pitchFamily="2" charset="-122"/>
              </a:rPr>
              <a:t>L-</a:t>
            </a:r>
            <a:r>
              <a:rPr lang="zh-CN" altLang="en-US" sz="2000" b="1" dirty="0">
                <a:ea typeface="宋体" panose="02010600030101010101" pitchFamily="2" charset="-122"/>
              </a:rPr>
              <a:t>属性翻译：包含了所有不用显式构造分析树而完成的翻译</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a:t>
            </a:r>
            <a:r>
              <a:rPr lang="en-US" altLang="zh-CN" sz="1800" b="1" dirty="0">
                <a:ea typeface="宋体" panose="02010600030101010101" pitchFamily="2" charset="-122"/>
              </a:rPr>
              <a:t>L</a:t>
            </a:r>
            <a:r>
              <a:rPr lang="zh-CN" altLang="en-US" sz="1800" b="1" dirty="0">
                <a:ea typeface="宋体" panose="02010600030101010101" pitchFamily="2" charset="-122"/>
              </a:rPr>
              <a:t>”表示从左到右</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涵盖了所有可以在语法分析过程中完成的翻译方案</a:t>
            </a:r>
            <a:endParaRPr lang="en-US" altLang="zh-CN" sz="1800" b="1" dirty="0">
              <a:ea typeface="宋体" panose="02010600030101010101" pitchFamily="2" charset="-122"/>
            </a:endParaRPr>
          </a:p>
          <a:p>
            <a:pPr lvl="2">
              <a:lnSpc>
                <a:spcPct val="90000"/>
              </a:lnSpc>
            </a:pPr>
            <a:r>
              <a:rPr lang="en-US" altLang="zh-CN" sz="2000" b="1" dirty="0">
                <a:ea typeface="宋体" panose="02010600030101010101" pitchFamily="2" charset="-122"/>
              </a:rPr>
              <a:t>S-</a:t>
            </a:r>
            <a:r>
              <a:rPr lang="zh-CN" altLang="en-US" sz="2000" b="1" dirty="0">
                <a:ea typeface="宋体" panose="02010600030101010101" pitchFamily="2" charset="-122"/>
              </a:rPr>
              <a:t>属性翻译</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与自底向上分析过程自然联系</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是</a:t>
            </a:r>
            <a:r>
              <a:rPr lang="en-US" altLang="zh-CN" sz="1800" b="1" dirty="0">
                <a:ea typeface="宋体" panose="02010600030101010101" pitchFamily="2" charset="-122"/>
              </a:rPr>
              <a:t>L-</a:t>
            </a:r>
            <a:r>
              <a:rPr lang="zh-CN" altLang="en-US" sz="1800" b="1" dirty="0">
                <a:ea typeface="宋体" panose="02010600030101010101" pitchFamily="2" charset="-122"/>
              </a:rPr>
              <a:t>属性翻译可处理文法的子集</a:t>
            </a:r>
            <a:endParaRPr lang="en-US" altLang="zh-CN" sz="1800" b="1" dirty="0">
              <a:ea typeface="宋体" panose="02010600030101010101" pitchFamily="2" charset="-122"/>
            </a:endParaRPr>
          </a:p>
          <a:p>
            <a:pPr lvl="2">
              <a:lnSpc>
                <a:spcPct val="90000"/>
              </a:lnSpc>
            </a:pPr>
            <a:endParaRPr lang="zh-CN" altLang="en-US" sz="2000" b="1" dirty="0">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第五章 语法制导的翻译</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noChangeArrowheads="1"/>
          </p:cNvSpPr>
          <p:nvPr>
            <p:ph idx="1"/>
          </p:nvPr>
        </p:nvSpPr>
        <p:spPr>
          <a:xfrm>
            <a:off x="990600" y="1600200"/>
            <a:ext cx="7391400" cy="4191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一些基础知识</a:t>
            </a:r>
            <a:endPar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语法制导定义</a:t>
            </a:r>
            <a:endParaRPr kumimoji="0"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的求值顺序</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语法制导翻译的应用</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语法制导的翻译方案</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实现</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属性的</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SDD</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语法制导定义（1）</a:t>
            </a:r>
            <a:endParaRPr lang="zh-CN" altLang="en-US" dirty="0">
              <a:latin typeface="Times New Roman" panose="02020603050405020304" pitchFamily="18" charset="0"/>
              <a:ea typeface="宋体" panose="02010600030101010101" pitchFamily="2" charset="-122"/>
            </a:endParaRPr>
          </a:p>
        </p:txBody>
      </p:sp>
      <p:sp>
        <p:nvSpPr>
          <p:cNvPr id="16387"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ea typeface="宋体" panose="02010600030101010101" pitchFamily="2" charset="-122"/>
              </a:rPr>
              <a:t>语法制导定义（</a:t>
            </a:r>
            <a:r>
              <a:rPr lang="en-US" altLang="zh-CN" sz="2400" b="1" dirty="0">
                <a:ea typeface="宋体" panose="02010600030101010101" pitchFamily="2" charset="-122"/>
              </a:rPr>
              <a:t>Syntax-Directed</a:t>
            </a:r>
            <a:r>
              <a:rPr lang="zh-CN" altLang="en-US" sz="2400" b="1" dirty="0">
                <a:ea typeface="宋体" panose="02010600030101010101" pitchFamily="2" charset="-122"/>
              </a:rPr>
              <a:t> </a:t>
            </a:r>
            <a:r>
              <a:rPr lang="en-US" altLang="zh-CN" sz="2400" b="1" dirty="0">
                <a:ea typeface="宋体" panose="02010600030101010101" pitchFamily="2" charset="-122"/>
              </a:rPr>
              <a:t>Definition</a:t>
            </a:r>
            <a:r>
              <a:rPr lang="zh-CN" altLang="en-US" sz="2400" b="1" dirty="0">
                <a:ea typeface="宋体" panose="02010600030101010101" pitchFamily="2" charset="-122"/>
              </a:rPr>
              <a:t>，</a:t>
            </a:r>
            <a:r>
              <a:rPr lang="en-US" altLang="zh-CN" sz="2400" b="1" dirty="0">
                <a:ea typeface="宋体" panose="02010600030101010101" pitchFamily="2" charset="-122"/>
              </a:rPr>
              <a:t>SDD</a:t>
            </a:r>
            <a:r>
              <a:rPr lang="zh-CN" altLang="en-US" sz="2400" b="1" dirty="0">
                <a:ea typeface="宋体" panose="02010600030101010101" pitchFamily="2" charset="-122"/>
              </a:rPr>
              <a:t>）</a:t>
            </a:r>
            <a:endParaRPr lang="zh-CN" altLang="en-US" sz="2400" b="1" dirty="0">
              <a:ea typeface="宋体" panose="02010600030101010101" pitchFamily="2" charset="-122"/>
            </a:endParaRPr>
          </a:p>
          <a:p>
            <a:pPr lvl="1"/>
            <a:r>
              <a:rPr lang="zh-CN" altLang="en-US" sz="2200" b="1" dirty="0">
                <a:ea typeface="宋体" panose="02010600030101010101" pitchFamily="2" charset="-122"/>
              </a:rPr>
              <a:t>上下文无关文法的推广：扩充了语义规则</a:t>
            </a:r>
            <a:endParaRPr lang="en-US" altLang="zh-CN" sz="2200" b="1" dirty="0">
              <a:ea typeface="宋体" panose="02010600030101010101" pitchFamily="2" charset="-122"/>
            </a:endParaRPr>
          </a:p>
          <a:p>
            <a:pPr lvl="2"/>
            <a:r>
              <a:rPr lang="en-US" altLang="zh-CN" sz="2000" b="1" dirty="0">
                <a:ea typeface="宋体" panose="02010600030101010101" pitchFamily="2" charset="-122"/>
              </a:rPr>
              <a:t>CFG</a:t>
            </a:r>
            <a:r>
              <a:rPr lang="zh-CN" altLang="en-US" sz="2000" b="1" dirty="0">
                <a:ea typeface="宋体" panose="02010600030101010101" pitchFamily="2" charset="-122"/>
              </a:rPr>
              <a:t>与属性及规则的结合</a:t>
            </a:r>
            <a:endParaRPr lang="en-US" altLang="zh-CN" sz="2000" b="1" dirty="0">
              <a:ea typeface="宋体" panose="02010600030101010101" pitchFamily="2" charset="-122"/>
            </a:endParaRPr>
          </a:p>
          <a:p>
            <a:pPr lvl="3"/>
            <a:r>
              <a:rPr lang="zh-CN" altLang="en-US" sz="1800" b="1" dirty="0">
                <a:ea typeface="宋体" panose="02010600030101010101" pitchFamily="2" charset="-122"/>
              </a:rPr>
              <a:t>属性与文法符号关联，规则与产生式关联</a:t>
            </a:r>
            <a:endParaRPr lang="zh-CN" altLang="en-US" sz="1800" b="1" dirty="0">
              <a:ea typeface="宋体" panose="02010600030101010101" pitchFamily="2" charset="-122"/>
            </a:endParaRPr>
          </a:p>
          <a:p>
            <a:pPr lvl="2"/>
            <a:r>
              <a:rPr lang="zh-CN" altLang="en-US" sz="2000" b="1" dirty="0">
                <a:ea typeface="宋体" panose="02010600030101010101" pitchFamily="2" charset="-122"/>
              </a:rPr>
              <a:t>每个文法符号有一个属性集合，包括两个子集</a:t>
            </a:r>
            <a:endParaRPr lang="zh-CN" altLang="en-US" sz="2000" b="1" dirty="0">
              <a:ea typeface="宋体" panose="02010600030101010101" pitchFamily="2" charset="-122"/>
            </a:endParaRPr>
          </a:p>
          <a:p>
            <a:pPr lvl="3"/>
            <a:r>
              <a:rPr lang="zh-CN" altLang="en-US" sz="1800" b="1" dirty="0">
                <a:ea typeface="宋体" panose="02010600030101010101" pitchFamily="2" charset="-122"/>
              </a:rPr>
              <a:t>综合属性</a:t>
            </a:r>
            <a:endParaRPr lang="zh-CN" altLang="en-US" sz="1800" b="1" dirty="0">
              <a:ea typeface="宋体" panose="02010600030101010101" pitchFamily="2" charset="-122"/>
            </a:endParaRPr>
          </a:p>
          <a:p>
            <a:pPr lvl="3"/>
            <a:r>
              <a:rPr lang="zh-CN" altLang="en-US" sz="1800" b="1" dirty="0">
                <a:ea typeface="宋体" panose="02010600030101010101" pitchFamily="2" charset="-122"/>
              </a:rPr>
              <a:t>继承属性</a:t>
            </a:r>
            <a:endParaRPr lang="zh-CN" altLang="en-US" sz="1800" b="1" dirty="0">
              <a:ea typeface="宋体" panose="02010600030101010101" pitchFamily="2" charset="-122"/>
            </a:endParaRPr>
          </a:p>
          <a:p>
            <a:pPr lvl="2"/>
            <a:r>
              <a:rPr lang="zh-CN" altLang="en-US" sz="2000" b="1" dirty="0">
                <a:ea typeface="宋体" panose="02010600030101010101" pitchFamily="2" charset="-122"/>
              </a:rPr>
              <a:t>分析树结点的语义值：</a:t>
            </a:r>
            <a:endParaRPr lang="en-US" altLang="zh-CN" sz="2000" b="1" dirty="0">
              <a:ea typeface="宋体" panose="02010600030101010101" pitchFamily="2" charset="-122"/>
            </a:endParaRPr>
          </a:p>
          <a:p>
            <a:pPr lvl="3"/>
            <a:r>
              <a:rPr lang="zh-CN" altLang="en-US" sz="1800" b="1" dirty="0">
                <a:ea typeface="宋体" panose="02010600030101010101" pitchFamily="2" charset="-122"/>
              </a:rPr>
              <a:t>由该结点所用的产生式的语义规则定义</a:t>
            </a:r>
            <a:endParaRPr lang="zh-CN" altLang="en-US" sz="1800" b="1" dirty="0">
              <a:ea typeface="宋体" panose="02010600030101010101" pitchFamily="2" charset="-122"/>
            </a:endParaRPr>
          </a:p>
          <a:p>
            <a:pPr lvl="3"/>
            <a:r>
              <a:rPr lang="zh-CN" altLang="en-US" sz="1800" b="1" dirty="0">
                <a:ea typeface="宋体" panose="02010600030101010101" pitchFamily="2" charset="-122"/>
              </a:rPr>
              <a:t>综合属性：子结点的属性值的综合</a:t>
            </a:r>
            <a:endParaRPr lang="zh-CN" altLang="en-US" sz="1800" b="1" dirty="0">
              <a:ea typeface="宋体" panose="02010600030101010101" pitchFamily="2" charset="-122"/>
            </a:endParaRPr>
          </a:p>
          <a:p>
            <a:pPr lvl="3"/>
            <a:r>
              <a:rPr lang="zh-CN" altLang="en-US" sz="1800" b="1" dirty="0">
                <a:ea typeface="宋体" panose="02010600030101010101" pitchFamily="2" charset="-122"/>
              </a:rPr>
              <a:t>继承属性：由父、兄弟结点的属性值得到</a:t>
            </a:r>
            <a:endParaRPr lang="zh-CN" altLang="en-US" sz="1800" b="1" dirty="0">
              <a:ea typeface="宋体" panose="02010600030101010101" pitchFamily="2" charset="-122"/>
            </a:endParaRPr>
          </a:p>
          <a:p>
            <a:pPr lvl="2"/>
            <a:r>
              <a:rPr lang="zh-CN" altLang="en-US" sz="2000" b="1" dirty="0">
                <a:ea typeface="宋体" panose="02010600030101010101" pitchFamily="2" charset="-122"/>
              </a:rPr>
              <a:t>语义规则决定了属性间的依赖关系：计算次序</a:t>
            </a:r>
            <a:endParaRPr lang="zh-CN" altLang="en-US" sz="2000" b="1" dirty="0">
              <a:ea typeface="宋体" panose="02010600030101010101" pitchFamily="2" charset="-122"/>
            </a:endParaRPr>
          </a:p>
          <a:p>
            <a:pPr lvl="2"/>
            <a:r>
              <a:rPr lang="zh-CN" altLang="en-US" sz="2000" b="1" dirty="0">
                <a:ea typeface="宋体" panose="02010600030101010101" pitchFamily="2" charset="-122"/>
              </a:rPr>
              <a:t>注释分析树：</a:t>
            </a:r>
            <a:endParaRPr lang="zh-CN" altLang="en-US" sz="2000" b="1" dirty="0">
              <a:ea typeface="宋体" panose="02010600030101010101" pitchFamily="2" charset="-122"/>
            </a:endParaRPr>
          </a:p>
          <a:p>
            <a:pPr lvl="3"/>
            <a:r>
              <a:rPr lang="zh-CN" altLang="en-US" sz="1800" b="1" dirty="0">
                <a:ea typeface="宋体" panose="02010600030101010101" pitchFamily="2" charset="-122"/>
              </a:rPr>
              <a:t>每个结点都标记出属性值的分析树</a:t>
            </a:r>
            <a:endParaRPr lang="zh-CN" altLang="en-US" sz="1800" b="1" dirty="0">
              <a:ea typeface="宋体" panose="02010600030101010101" pitchFamily="2" charset="-122"/>
            </a:endParaRPr>
          </a:p>
          <a:p>
            <a:pPr lvl="3"/>
            <a:r>
              <a:rPr lang="zh-CN" altLang="en-US" sz="1800" b="1" dirty="0">
                <a:ea typeface="宋体" panose="02010600030101010101" pitchFamily="2" charset="-122"/>
              </a:rPr>
              <a:t>分析树的注释（修饰）指计算各个结点属性值的过程</a:t>
            </a:r>
            <a:endParaRPr lang="zh-CN" altLang="en-US" sz="1800" b="1" dirty="0">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语法制导定义（2）</a:t>
            </a:r>
            <a:endParaRPr lang="zh-CN" altLang="en-US" dirty="0">
              <a:latin typeface="Times New Roman" panose="02020603050405020304" pitchFamily="18" charset="0"/>
              <a:ea typeface="宋体" panose="02010600030101010101" pitchFamily="2" charset="-122"/>
            </a:endParaRPr>
          </a:p>
        </p:txBody>
      </p:sp>
      <p:sp>
        <p:nvSpPr>
          <p:cNvPr id="18435" name="Rectangle 3"/>
          <p:cNvSpPr>
            <a:spLocks noGrp="1"/>
          </p:cNvSpPr>
          <p:nvPr>
            <p:ph idx="1"/>
          </p:nvPr>
        </p:nvSpPr>
        <p:spPr>
          <a:xfrm>
            <a:off x="468313" y="1524000"/>
            <a:ext cx="8567737" cy="4800600"/>
          </a:xfrm>
        </p:spPr>
        <p:txBody>
          <a:bodyPr vert="horz" wrap="square" lIns="92075" tIns="46038" rIns="92075" bIns="46038" anchor="t" anchorCtr="0"/>
          <a:p>
            <a:pPr marL="419100" indent="-419100">
              <a:lnSpc>
                <a:spcPct val="90000"/>
              </a:lnSpc>
            </a:pPr>
            <a:r>
              <a:rPr lang="zh-CN" altLang="en-US" sz="2400" b="1" dirty="0">
                <a:ea typeface="宋体" panose="02010600030101010101" pitchFamily="2" charset="-122"/>
              </a:rPr>
              <a:t>语法制导定义的形式说明</a:t>
            </a:r>
            <a:endParaRPr lang="zh-CN" altLang="en-US" sz="2400" b="1" dirty="0">
              <a:ea typeface="宋体" panose="02010600030101010101" pitchFamily="2" charset="-122"/>
            </a:endParaRPr>
          </a:p>
          <a:p>
            <a:pPr marL="838200" lvl="1" indent="-381000">
              <a:lnSpc>
                <a:spcPct val="90000"/>
              </a:lnSpc>
            </a:pPr>
            <a:r>
              <a:rPr lang="zh-CN" altLang="en-US" sz="2200" b="1" dirty="0">
                <a:ea typeface="宋体" panose="02010600030101010101" pitchFamily="2" charset="-122"/>
              </a:rPr>
              <a:t>定义：</a:t>
            </a:r>
            <a:endParaRPr lang="zh-CN" altLang="en-US" sz="2200" b="1" dirty="0">
              <a:ea typeface="宋体" panose="02010600030101010101" pitchFamily="2" charset="-122"/>
            </a:endParaRPr>
          </a:p>
          <a:p>
            <a:pPr marL="838200" lvl="1" indent="-381000">
              <a:lnSpc>
                <a:spcPct val="90000"/>
              </a:lnSpc>
              <a:buNone/>
            </a:pPr>
            <a:r>
              <a:rPr lang="zh-CN" altLang="en-US" sz="2000" b="1" dirty="0">
                <a:ea typeface="宋体" panose="02010600030101010101" pitchFamily="2" charset="-122"/>
              </a:rPr>
              <a:t>	每个文法产生式</a:t>
            </a:r>
            <a:r>
              <a:rPr lang="en-US" altLang="zh-CN" sz="2000" b="1" dirty="0">
                <a:ea typeface="宋体" panose="02010600030101010101" pitchFamily="2" charset="-122"/>
              </a:rPr>
              <a:t>A</a:t>
            </a:r>
            <a:r>
              <a:rPr lang="en-US"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的语义规则形式如下：</a:t>
            </a:r>
            <a:endParaRPr lang="zh-CN" altLang="en-US" sz="2000" b="1" dirty="0">
              <a:ea typeface="宋体" panose="02010600030101010101" pitchFamily="2" charset="-122"/>
            </a:endParaRPr>
          </a:p>
          <a:p>
            <a:pPr marL="838200" lvl="1" indent="-381000">
              <a:lnSpc>
                <a:spcPct val="90000"/>
              </a:lnSpc>
              <a:buNone/>
            </a:pPr>
            <a:endParaRPr lang="zh-CN" altLang="en-US" sz="2000" b="1" dirty="0">
              <a:ea typeface="宋体" panose="02010600030101010101" pitchFamily="2" charset="-122"/>
            </a:endParaRPr>
          </a:p>
          <a:p>
            <a:pPr marL="838200" lvl="1" indent="-381000">
              <a:lnSpc>
                <a:spcPct val="90000"/>
              </a:lnSpc>
              <a:buNone/>
            </a:pPr>
            <a:r>
              <a:rPr lang="zh-CN" altLang="en-US" sz="2000" b="1" dirty="0">
                <a:ea typeface="宋体" panose="02010600030101010101" pitchFamily="2" charset="-122"/>
              </a:rPr>
              <a:t>	其中：</a:t>
            </a:r>
            <a:r>
              <a:rPr lang="en-US" altLang="zh-CN" sz="2000" b="1" i="1" dirty="0">
                <a:ea typeface="宋体" panose="02010600030101010101" pitchFamily="2" charset="-122"/>
              </a:rPr>
              <a:t>f</a:t>
            </a:r>
            <a:r>
              <a:rPr lang="zh-CN" altLang="en-US" sz="2000" b="1" dirty="0">
                <a:ea typeface="宋体" panose="02010600030101010101" pitchFamily="2" charset="-122"/>
              </a:rPr>
              <a:t>是函数，</a:t>
            </a:r>
            <a:r>
              <a:rPr lang="en-US" altLang="zh-CN" sz="2000" b="1" i="1" dirty="0">
                <a:ea typeface="宋体" panose="02010600030101010101" pitchFamily="2" charset="-122"/>
              </a:rPr>
              <a:t>b</a:t>
            </a:r>
            <a:r>
              <a:rPr lang="zh-CN" altLang="en-US" sz="2000" b="1" dirty="0">
                <a:ea typeface="宋体" panose="02010600030101010101" pitchFamily="2" charset="-122"/>
              </a:rPr>
              <a:t>和</a:t>
            </a:r>
            <a:r>
              <a:rPr lang="en-US" altLang="zh-CN" sz="2000" b="1" i="1" dirty="0">
                <a:ea typeface="宋体" panose="02010600030101010101" pitchFamily="2" charset="-122"/>
              </a:rPr>
              <a:t>c</a:t>
            </a:r>
            <a:r>
              <a:rPr lang="en-US" altLang="zh-CN" sz="2000" b="1" i="1" baseline="-25000" dirty="0">
                <a:ea typeface="宋体" panose="02010600030101010101" pitchFamily="2" charset="-122"/>
              </a:rPr>
              <a:t>1 </a:t>
            </a:r>
            <a:r>
              <a:rPr lang="en-US" altLang="zh-CN" sz="2000" b="1" i="1" dirty="0">
                <a:ea typeface="宋体" panose="02010600030101010101" pitchFamily="2" charset="-122"/>
              </a:rPr>
              <a:t>, c</a:t>
            </a:r>
            <a:r>
              <a:rPr lang="en-US" altLang="zh-CN" sz="2000" b="1" i="1" baseline="-25000" dirty="0">
                <a:ea typeface="宋体" panose="02010600030101010101" pitchFamily="2" charset="-122"/>
              </a:rPr>
              <a:t>2 </a:t>
            </a:r>
            <a:r>
              <a:rPr lang="en-US" altLang="zh-CN" sz="2000" b="1" i="1" dirty="0">
                <a:ea typeface="宋体" panose="02010600030101010101" pitchFamily="2" charset="-122"/>
              </a:rPr>
              <a:t>, … , c</a:t>
            </a:r>
            <a:r>
              <a:rPr lang="en-US" altLang="zh-CN" sz="2000" b="1" i="1" baseline="-25000" dirty="0">
                <a:ea typeface="宋体" panose="02010600030101010101" pitchFamily="2" charset="-122"/>
              </a:rPr>
              <a:t>k </a:t>
            </a:r>
            <a:r>
              <a:rPr lang="zh-CN" altLang="en-US" sz="2000" b="1" dirty="0">
                <a:ea typeface="宋体" panose="02010600030101010101" pitchFamily="2" charset="-122"/>
              </a:rPr>
              <a:t>是该产生式的文法符号的属性，并且：</a:t>
            </a:r>
            <a:endParaRPr lang="zh-CN" altLang="en-US" sz="2000" b="1" dirty="0">
              <a:ea typeface="宋体" panose="02010600030101010101" pitchFamily="2" charset="-122"/>
            </a:endParaRPr>
          </a:p>
          <a:p>
            <a:pPr marL="1295400" lvl="2" indent="-381000">
              <a:lnSpc>
                <a:spcPct val="90000"/>
              </a:lnSpc>
              <a:buSzPct val="80000"/>
              <a:buFont typeface="Wingdings" panose="05000000000000000000" pitchFamily="2" charset="2"/>
              <a:buAutoNum type="arabicParenR"/>
            </a:pPr>
            <a:r>
              <a:rPr lang="zh-CN" altLang="en-US" sz="2000" b="1" dirty="0">
                <a:ea typeface="宋体" panose="02010600030101010101" pitchFamily="2" charset="-122"/>
              </a:rPr>
              <a:t>如果</a:t>
            </a:r>
            <a:r>
              <a:rPr lang="en-US" altLang="zh-CN" sz="2000" b="1" i="1" dirty="0">
                <a:ea typeface="宋体" panose="02010600030101010101" pitchFamily="2" charset="-122"/>
              </a:rPr>
              <a:t>b</a:t>
            </a:r>
            <a:r>
              <a:rPr lang="zh-CN" altLang="en-US" sz="2000" b="1" dirty="0">
                <a:ea typeface="宋体" panose="02010600030101010101" pitchFamily="2" charset="-122"/>
              </a:rPr>
              <a:t>是</a:t>
            </a:r>
            <a:r>
              <a:rPr lang="en-US" altLang="zh-CN" sz="2000" b="1" dirty="0">
                <a:ea typeface="宋体" panose="02010600030101010101" pitchFamily="2" charset="-122"/>
              </a:rPr>
              <a:t>A</a:t>
            </a:r>
            <a:r>
              <a:rPr lang="zh-CN" altLang="en-US" sz="2000" b="1" dirty="0">
                <a:ea typeface="宋体" panose="02010600030101010101" pitchFamily="2" charset="-122"/>
              </a:rPr>
              <a:t>的属性，</a:t>
            </a:r>
            <a:r>
              <a:rPr lang="en-US" altLang="zh-CN" sz="2000" b="1" i="1" dirty="0">
                <a:ea typeface="宋体" panose="02010600030101010101" pitchFamily="2" charset="-122"/>
              </a:rPr>
              <a:t>c</a:t>
            </a:r>
            <a:r>
              <a:rPr lang="en-US" altLang="zh-CN" sz="2000" b="1" i="1" baseline="-25000" dirty="0">
                <a:ea typeface="宋体" panose="02010600030101010101" pitchFamily="2" charset="-122"/>
              </a:rPr>
              <a:t>1 </a:t>
            </a:r>
            <a:r>
              <a:rPr lang="en-US" altLang="zh-CN" sz="2000" b="1" i="1" dirty="0">
                <a:ea typeface="宋体" panose="02010600030101010101" pitchFamily="2" charset="-122"/>
              </a:rPr>
              <a:t>, c</a:t>
            </a:r>
            <a:r>
              <a:rPr lang="en-US" altLang="zh-CN" sz="2000" b="1" i="1" baseline="-25000" dirty="0">
                <a:ea typeface="宋体" panose="02010600030101010101" pitchFamily="2" charset="-122"/>
              </a:rPr>
              <a:t>2 </a:t>
            </a:r>
            <a:r>
              <a:rPr lang="en-US" altLang="zh-CN" sz="2000" b="1" i="1" dirty="0">
                <a:ea typeface="宋体" panose="02010600030101010101" pitchFamily="2" charset="-122"/>
              </a:rPr>
              <a:t>, … , c</a:t>
            </a:r>
            <a:r>
              <a:rPr lang="en-US" altLang="zh-CN" sz="2000" b="1" i="1" baseline="-25000" dirty="0">
                <a:ea typeface="宋体" panose="02010600030101010101" pitchFamily="2" charset="-122"/>
              </a:rPr>
              <a:t>k</a:t>
            </a:r>
            <a:r>
              <a:rPr lang="zh-CN" altLang="en-US" sz="2000" b="1" dirty="0">
                <a:ea typeface="宋体" panose="02010600030101010101" pitchFamily="2" charset="-122"/>
              </a:rPr>
              <a:t>是产生式右部文法符号的属性或</a:t>
            </a:r>
            <a:r>
              <a:rPr lang="en-US" altLang="zh-CN" sz="2000" b="1" dirty="0">
                <a:ea typeface="宋体" panose="02010600030101010101" pitchFamily="2" charset="-122"/>
              </a:rPr>
              <a:t>A</a:t>
            </a:r>
            <a:r>
              <a:rPr lang="zh-CN" altLang="en-US" sz="2000" b="1" dirty="0">
                <a:ea typeface="宋体" panose="02010600030101010101" pitchFamily="2" charset="-122"/>
              </a:rPr>
              <a:t>的其它属性，则</a:t>
            </a:r>
            <a:r>
              <a:rPr lang="en-US" altLang="zh-CN" sz="2000" b="1" i="1" dirty="0">
                <a:ea typeface="宋体" panose="02010600030101010101" pitchFamily="2" charset="-122"/>
              </a:rPr>
              <a:t>b</a:t>
            </a:r>
            <a:r>
              <a:rPr lang="zh-CN" altLang="en-US" sz="2000" b="1" dirty="0">
                <a:ea typeface="宋体" panose="02010600030101010101" pitchFamily="2" charset="-122"/>
              </a:rPr>
              <a:t>是文法符号</a:t>
            </a:r>
            <a:r>
              <a:rPr lang="en-US" altLang="zh-CN" sz="2000" b="1" dirty="0">
                <a:ea typeface="宋体" panose="02010600030101010101" pitchFamily="2" charset="-122"/>
              </a:rPr>
              <a:t>A</a:t>
            </a:r>
            <a:r>
              <a:rPr lang="zh-CN" altLang="en-US" sz="2000" b="1" dirty="0">
                <a:ea typeface="宋体" panose="02010600030101010101" pitchFamily="2" charset="-122"/>
              </a:rPr>
              <a:t>的综合属性</a:t>
            </a:r>
            <a:endParaRPr lang="en-US" altLang="zh-CN" sz="2000" b="1" dirty="0">
              <a:ea typeface="宋体" panose="02010600030101010101" pitchFamily="2" charset="-122"/>
            </a:endParaRPr>
          </a:p>
          <a:p>
            <a:pPr lvl="3">
              <a:lnSpc>
                <a:spcPct val="90000"/>
              </a:lnSpc>
              <a:buSzPct val="80000"/>
            </a:pPr>
            <a:r>
              <a:rPr lang="zh-CN" altLang="en-US" sz="1800" b="1" dirty="0">
                <a:ea typeface="宋体" panose="02010600030101010101" pitchFamily="2" charset="-122"/>
              </a:rPr>
              <a:t>语法树结点</a:t>
            </a:r>
            <a:r>
              <a:rPr lang="en-US" altLang="zh-CN" sz="1800" b="1" dirty="0">
                <a:ea typeface="宋体" panose="02010600030101010101" pitchFamily="2" charset="-122"/>
              </a:rPr>
              <a:t>N</a:t>
            </a:r>
            <a:r>
              <a:rPr lang="zh-CN" altLang="en-US" sz="1800" b="1" dirty="0">
                <a:ea typeface="宋体" panose="02010600030101010101" pitchFamily="2" charset="-122"/>
              </a:rPr>
              <a:t>的综合属性只能通过</a:t>
            </a:r>
            <a:r>
              <a:rPr lang="en-US" altLang="zh-CN" sz="1800" b="1" dirty="0">
                <a:ea typeface="宋体" panose="02010600030101010101" pitchFamily="2" charset="-122"/>
              </a:rPr>
              <a:t>N</a:t>
            </a:r>
            <a:r>
              <a:rPr lang="zh-CN" altLang="en-US" sz="1800" b="1" dirty="0">
                <a:ea typeface="宋体" panose="02010600030101010101" pitchFamily="2" charset="-122"/>
              </a:rPr>
              <a:t>的子结点或</a:t>
            </a:r>
            <a:r>
              <a:rPr lang="en-US" altLang="zh-CN" sz="1800" b="1" dirty="0">
                <a:ea typeface="宋体" panose="02010600030101010101" pitchFamily="2" charset="-122"/>
              </a:rPr>
              <a:t>N</a:t>
            </a:r>
            <a:r>
              <a:rPr lang="zh-CN" altLang="en-US" sz="1800" b="1" dirty="0">
                <a:ea typeface="宋体" panose="02010600030101010101" pitchFamily="2" charset="-122"/>
              </a:rPr>
              <a:t>自身的属性值定义</a:t>
            </a:r>
            <a:endParaRPr lang="zh-CN" altLang="en-US" sz="1800" b="1" dirty="0">
              <a:ea typeface="宋体" panose="02010600030101010101" pitchFamily="2" charset="-122"/>
            </a:endParaRPr>
          </a:p>
          <a:p>
            <a:pPr marL="1295400" lvl="2" indent="-381000">
              <a:lnSpc>
                <a:spcPct val="90000"/>
              </a:lnSpc>
              <a:buSzPct val="80000"/>
              <a:buFont typeface="Wingdings" panose="05000000000000000000" pitchFamily="2" charset="2"/>
              <a:buAutoNum type="arabicParenR"/>
            </a:pPr>
            <a:r>
              <a:rPr lang="zh-CN" altLang="en-US" sz="2000" b="1" dirty="0">
                <a:ea typeface="宋体" panose="02010600030101010101" pitchFamily="2" charset="-122"/>
              </a:rPr>
              <a:t>如果</a:t>
            </a:r>
            <a:r>
              <a:rPr lang="en-US" altLang="zh-CN" sz="2000" b="1" i="1" dirty="0">
                <a:ea typeface="宋体" panose="02010600030101010101" pitchFamily="2" charset="-122"/>
              </a:rPr>
              <a:t>b</a:t>
            </a:r>
            <a:r>
              <a:rPr lang="zh-CN" altLang="en-US" sz="2000" b="1" dirty="0">
                <a:ea typeface="宋体" panose="02010600030101010101" pitchFamily="2" charset="-122"/>
              </a:rPr>
              <a:t>是产生式右部某个文法符号</a:t>
            </a:r>
            <a:r>
              <a:rPr lang="en-US" altLang="zh-CN" sz="2000" b="1" dirty="0">
                <a:ea typeface="宋体" panose="02010600030101010101" pitchFamily="2" charset="-122"/>
              </a:rPr>
              <a:t>X</a:t>
            </a:r>
            <a:r>
              <a:rPr lang="zh-CN" altLang="en-US" sz="2000" b="1" dirty="0">
                <a:ea typeface="宋体" panose="02010600030101010101" pitchFamily="2" charset="-122"/>
              </a:rPr>
              <a:t>的属性，</a:t>
            </a:r>
            <a:r>
              <a:rPr lang="en-US" altLang="zh-CN" sz="2000" b="1" i="1" dirty="0">
                <a:ea typeface="宋体" panose="02010600030101010101" pitchFamily="2" charset="-122"/>
              </a:rPr>
              <a:t>c</a:t>
            </a:r>
            <a:r>
              <a:rPr lang="en-US" altLang="zh-CN" sz="2000" b="1" i="1" baseline="-25000" dirty="0">
                <a:ea typeface="宋体" panose="02010600030101010101" pitchFamily="2" charset="-122"/>
              </a:rPr>
              <a:t>1 </a:t>
            </a:r>
            <a:r>
              <a:rPr lang="en-US" altLang="zh-CN" sz="2000" b="1" i="1" dirty="0">
                <a:ea typeface="宋体" panose="02010600030101010101" pitchFamily="2" charset="-122"/>
              </a:rPr>
              <a:t>, c</a:t>
            </a:r>
            <a:r>
              <a:rPr lang="en-US" altLang="zh-CN" sz="2000" b="1" i="1" baseline="-25000" dirty="0">
                <a:ea typeface="宋体" panose="02010600030101010101" pitchFamily="2" charset="-122"/>
              </a:rPr>
              <a:t>2 </a:t>
            </a:r>
            <a:r>
              <a:rPr lang="en-US" altLang="zh-CN" sz="2000" b="1" i="1" dirty="0">
                <a:ea typeface="宋体" panose="02010600030101010101" pitchFamily="2" charset="-122"/>
              </a:rPr>
              <a:t>, … , c</a:t>
            </a:r>
            <a:r>
              <a:rPr lang="en-US" altLang="zh-CN" sz="2000" b="1" i="1" baseline="-25000" dirty="0">
                <a:ea typeface="宋体" panose="02010600030101010101" pitchFamily="2" charset="-122"/>
              </a:rPr>
              <a:t>k</a:t>
            </a:r>
            <a:r>
              <a:rPr lang="zh-CN" altLang="en-US" sz="2000" b="1" dirty="0">
                <a:ea typeface="宋体" panose="02010600030101010101" pitchFamily="2" charset="-122"/>
              </a:rPr>
              <a:t>是</a:t>
            </a:r>
            <a:r>
              <a:rPr lang="en-US" altLang="zh-CN" sz="2000" b="1" dirty="0">
                <a:ea typeface="宋体" panose="02010600030101010101" pitchFamily="2" charset="-122"/>
              </a:rPr>
              <a:t>A</a:t>
            </a:r>
            <a:r>
              <a:rPr lang="zh-CN" altLang="en-US" sz="2000" b="1" dirty="0">
                <a:ea typeface="宋体" panose="02010600030101010101" pitchFamily="2" charset="-122"/>
              </a:rPr>
              <a:t>的属性或右部文法符号的属性，则</a:t>
            </a:r>
            <a:r>
              <a:rPr lang="en-US" altLang="zh-CN" sz="2000" b="1" i="1" dirty="0">
                <a:ea typeface="宋体" panose="02010600030101010101" pitchFamily="2" charset="-122"/>
              </a:rPr>
              <a:t>b</a:t>
            </a:r>
            <a:r>
              <a:rPr lang="zh-CN" altLang="en-US" sz="2000" b="1" dirty="0">
                <a:ea typeface="宋体" panose="02010600030101010101" pitchFamily="2" charset="-122"/>
              </a:rPr>
              <a:t>是文法符号</a:t>
            </a:r>
            <a:r>
              <a:rPr lang="en-US" altLang="zh-CN" sz="2000" b="1" dirty="0">
                <a:ea typeface="宋体" panose="02010600030101010101" pitchFamily="2" charset="-122"/>
              </a:rPr>
              <a:t>X</a:t>
            </a:r>
            <a:r>
              <a:rPr lang="zh-CN" altLang="en-US" sz="2000" b="1" dirty="0">
                <a:ea typeface="宋体" panose="02010600030101010101" pitchFamily="2" charset="-122"/>
              </a:rPr>
              <a:t>的继承属性</a:t>
            </a:r>
            <a:endParaRPr lang="en-US" altLang="zh-CN" sz="2000" b="1" dirty="0">
              <a:ea typeface="宋体" panose="02010600030101010101" pitchFamily="2" charset="-122"/>
            </a:endParaRPr>
          </a:p>
          <a:p>
            <a:pPr lvl="3">
              <a:lnSpc>
                <a:spcPct val="90000"/>
              </a:lnSpc>
              <a:buSzPct val="80000"/>
            </a:pPr>
            <a:r>
              <a:rPr lang="zh-CN" altLang="en-US" sz="1800" b="1" dirty="0">
                <a:ea typeface="宋体" panose="02010600030101010101" pitchFamily="2" charset="-122"/>
              </a:rPr>
              <a:t>语法树结点</a:t>
            </a:r>
            <a:r>
              <a:rPr lang="en-US" altLang="zh-CN" sz="1800" b="1" dirty="0">
                <a:ea typeface="宋体" panose="02010600030101010101" pitchFamily="2" charset="-122"/>
              </a:rPr>
              <a:t>N</a:t>
            </a:r>
            <a:r>
              <a:rPr lang="zh-CN" altLang="en-US" sz="1800" b="1" dirty="0">
                <a:ea typeface="宋体" panose="02010600030101010101" pitchFamily="2" charset="-122"/>
              </a:rPr>
              <a:t>的继承属性只能通过</a:t>
            </a:r>
            <a:r>
              <a:rPr lang="en-US" altLang="zh-CN" sz="1800" b="1" dirty="0">
                <a:ea typeface="宋体" panose="02010600030101010101" pitchFamily="2" charset="-122"/>
              </a:rPr>
              <a:t>N</a:t>
            </a:r>
            <a:r>
              <a:rPr lang="zh-CN" altLang="en-US" sz="1800" b="1" dirty="0">
                <a:ea typeface="宋体" panose="02010600030101010101" pitchFamily="2" charset="-122"/>
              </a:rPr>
              <a:t>的父结点、</a:t>
            </a:r>
            <a:r>
              <a:rPr lang="en-US" altLang="zh-CN" sz="1800" b="1" dirty="0">
                <a:ea typeface="宋体" panose="02010600030101010101" pitchFamily="2" charset="-122"/>
              </a:rPr>
              <a:t>N</a:t>
            </a:r>
            <a:r>
              <a:rPr lang="zh-CN" altLang="en-US" sz="1800" b="1" dirty="0">
                <a:ea typeface="宋体" panose="02010600030101010101" pitchFamily="2" charset="-122"/>
              </a:rPr>
              <a:t>自身和</a:t>
            </a:r>
            <a:r>
              <a:rPr lang="en-US" altLang="zh-CN" sz="1800" b="1" dirty="0">
                <a:ea typeface="宋体" panose="02010600030101010101" pitchFamily="2" charset="-122"/>
              </a:rPr>
              <a:t>N</a:t>
            </a:r>
            <a:r>
              <a:rPr lang="zh-CN" altLang="en-US" sz="1800" b="1" dirty="0">
                <a:ea typeface="宋体" panose="02010600030101010101" pitchFamily="2" charset="-122"/>
              </a:rPr>
              <a:t>的兄弟结点上的属性值定义</a:t>
            </a:r>
            <a:endParaRPr lang="zh-CN" altLang="en-US" sz="1800" b="1" dirty="0">
              <a:ea typeface="宋体" panose="02010600030101010101" pitchFamily="2" charset="-122"/>
            </a:endParaRPr>
          </a:p>
          <a:p>
            <a:pPr marL="838200" lvl="1" indent="-381000">
              <a:lnSpc>
                <a:spcPct val="90000"/>
              </a:lnSpc>
            </a:pPr>
            <a:r>
              <a:rPr lang="zh-CN" altLang="en-US" sz="2200" b="1" dirty="0">
                <a:ea typeface="宋体" panose="02010600030101010101" pitchFamily="2" charset="-122"/>
              </a:rPr>
              <a:t>依赖关系：</a:t>
            </a:r>
            <a:endParaRPr lang="zh-CN" altLang="en-US" sz="2200" b="1" dirty="0">
              <a:ea typeface="宋体" panose="02010600030101010101" pitchFamily="2" charset="-122"/>
            </a:endParaRPr>
          </a:p>
          <a:p>
            <a:pPr marL="1295400" lvl="2" indent="-381000">
              <a:lnSpc>
                <a:spcPct val="90000"/>
              </a:lnSpc>
            </a:pPr>
            <a:r>
              <a:rPr lang="zh-CN" altLang="en-US" sz="2000" b="1" dirty="0">
                <a:ea typeface="宋体" panose="02010600030101010101" pitchFamily="2" charset="-122"/>
              </a:rPr>
              <a:t>上述两种情况，称属性</a:t>
            </a:r>
            <a:r>
              <a:rPr lang="en-US" altLang="zh-CN" sz="2000" b="1" i="1" dirty="0">
                <a:ea typeface="宋体" panose="02010600030101010101" pitchFamily="2" charset="-122"/>
              </a:rPr>
              <a:t>b</a:t>
            </a:r>
            <a:r>
              <a:rPr lang="zh-CN" altLang="en-US" sz="2000" b="1" dirty="0">
                <a:ea typeface="宋体" panose="02010600030101010101" pitchFamily="2" charset="-122"/>
              </a:rPr>
              <a:t>依赖于属性</a:t>
            </a:r>
            <a:r>
              <a:rPr lang="en-US" altLang="zh-CN" sz="2000" b="1" i="1" dirty="0">
                <a:ea typeface="宋体" panose="02010600030101010101" pitchFamily="2" charset="-122"/>
              </a:rPr>
              <a:t>c</a:t>
            </a:r>
            <a:r>
              <a:rPr lang="en-US" altLang="zh-CN" sz="2000" b="1" i="1" baseline="-25000" dirty="0">
                <a:ea typeface="宋体" panose="02010600030101010101" pitchFamily="2" charset="-122"/>
              </a:rPr>
              <a:t>1 </a:t>
            </a:r>
            <a:r>
              <a:rPr lang="en-US" altLang="zh-CN" sz="2000" b="1" i="1" dirty="0">
                <a:ea typeface="宋体" panose="02010600030101010101" pitchFamily="2" charset="-122"/>
              </a:rPr>
              <a:t>, c</a:t>
            </a:r>
            <a:r>
              <a:rPr lang="en-US" altLang="zh-CN" sz="2000" b="1" i="1" baseline="-25000" dirty="0">
                <a:ea typeface="宋体" panose="02010600030101010101" pitchFamily="2" charset="-122"/>
              </a:rPr>
              <a:t>2 </a:t>
            </a:r>
            <a:r>
              <a:rPr lang="en-US" altLang="zh-CN" sz="2000" b="1" i="1" dirty="0">
                <a:ea typeface="宋体" panose="02010600030101010101" pitchFamily="2" charset="-122"/>
              </a:rPr>
              <a:t>, … , c</a:t>
            </a:r>
            <a:r>
              <a:rPr lang="en-US" altLang="zh-CN" sz="2000" b="1" i="1" baseline="-25000" dirty="0">
                <a:ea typeface="宋体" panose="02010600030101010101" pitchFamily="2" charset="-122"/>
              </a:rPr>
              <a:t>k</a:t>
            </a:r>
            <a:r>
              <a:rPr lang="zh-CN" altLang="en-US" sz="2000" b="1" dirty="0">
                <a:ea typeface="宋体" panose="02010600030101010101" pitchFamily="2" charset="-122"/>
              </a:rPr>
              <a:t>。</a:t>
            </a:r>
            <a:endParaRPr lang="zh-CN" altLang="en-US" sz="2000" b="1" dirty="0">
              <a:ea typeface="宋体" panose="02010600030101010101" pitchFamily="2" charset="-122"/>
            </a:endParaRPr>
          </a:p>
        </p:txBody>
      </p:sp>
      <p:graphicFrame>
        <p:nvGraphicFramePr>
          <p:cNvPr id="18436" name="Object 4"/>
          <p:cNvGraphicFramePr>
            <a:graphicFrameLocks noChangeAspect="1"/>
          </p:cNvGraphicFramePr>
          <p:nvPr/>
        </p:nvGraphicFramePr>
        <p:xfrm>
          <a:off x="2057400" y="2590800"/>
          <a:ext cx="2057400" cy="376238"/>
        </p:xfrm>
        <a:graphic>
          <a:graphicData uri="http://schemas.openxmlformats.org/presentationml/2006/ole">
            <mc:AlternateContent xmlns:mc="http://schemas.openxmlformats.org/markup-compatibility/2006">
              <mc:Choice xmlns:v="urn:schemas-microsoft-com:vml" Requires="v">
                <p:oleObj spid="_x0000_s3076" name="" r:id="rId1" imgW="1244600" imgH="228600" progId="Equation.3">
                  <p:embed/>
                </p:oleObj>
              </mc:Choice>
              <mc:Fallback>
                <p:oleObj name="" r:id="rId1" imgW="1244600" imgH="228600" progId="Equation.3">
                  <p:embed/>
                  <p:pic>
                    <p:nvPicPr>
                      <p:cNvPr id="0" name="图片 3075"/>
                      <p:cNvPicPr/>
                      <p:nvPr/>
                    </p:nvPicPr>
                    <p:blipFill>
                      <a:blip r:embed="rId2"/>
                      <a:stretch>
                        <a:fillRect/>
                      </a:stretch>
                    </p:blipFill>
                    <p:spPr>
                      <a:xfrm>
                        <a:off x="2057400" y="2590800"/>
                        <a:ext cx="2057400" cy="376238"/>
                      </a:xfrm>
                      <a:prstGeom prst="rect">
                        <a:avLst/>
                      </a:prstGeom>
                      <a:noFill/>
                      <a:ln w="38100">
                        <a:noFill/>
                        <a:miter/>
                      </a:ln>
                    </p:spPr>
                  </p:pic>
                </p:oleObj>
              </mc:Fallback>
            </mc:AlternateContent>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语法制导定义（3）</a:t>
            </a:r>
            <a:endParaRPr lang="zh-CN" altLang="en-US" dirty="0">
              <a:latin typeface="Times New Roman" panose="02020603050405020304" pitchFamily="18" charset="0"/>
              <a:ea typeface="宋体" panose="02010600030101010101" pitchFamily="2" charset="-122"/>
            </a:endParaRPr>
          </a:p>
        </p:txBody>
      </p:sp>
      <p:sp>
        <p:nvSpPr>
          <p:cNvPr id="20483" name="Rectangle 3"/>
          <p:cNvSpPr>
            <a:spLocks noGrp="1"/>
          </p:cNvSpPr>
          <p:nvPr>
            <p:ph idx="1"/>
          </p:nvPr>
        </p:nvSpPr>
        <p:spPr>
          <a:xfrm>
            <a:off x="539750" y="1371600"/>
            <a:ext cx="8280400" cy="4953000"/>
          </a:xfrm>
        </p:spPr>
        <p:txBody>
          <a:bodyPr vert="horz" wrap="square" lIns="92075" tIns="46038" rIns="92075" bIns="46038" anchor="t" anchorCtr="0"/>
          <a:p>
            <a:pPr marL="838200" lvl="1" indent="-381000">
              <a:lnSpc>
                <a:spcPct val="90000"/>
              </a:lnSpc>
            </a:pPr>
            <a:r>
              <a:rPr lang="zh-CN" altLang="en-US" sz="2000" b="1" dirty="0">
                <a:ea typeface="宋体" panose="02010600030101010101" pitchFamily="2" charset="-122"/>
              </a:rPr>
              <a:t>每个文法符号的继承属性集和综合属性集的交集应为空</a:t>
            </a:r>
            <a:endParaRPr lang="zh-CN" altLang="en-US" sz="2000" b="1" dirty="0">
              <a:ea typeface="宋体" panose="02010600030101010101" pitchFamily="2" charset="-122"/>
            </a:endParaRPr>
          </a:p>
          <a:p>
            <a:pPr marL="838200" lvl="1" indent="-381000">
              <a:lnSpc>
                <a:spcPct val="90000"/>
              </a:lnSpc>
            </a:pPr>
            <a:r>
              <a:rPr lang="zh-CN" altLang="en-US" sz="2000" b="1" dirty="0">
                <a:ea typeface="宋体" panose="02010600030101010101" pitchFamily="2" charset="-122"/>
              </a:rPr>
              <a:t>语义规则函数：</a:t>
            </a:r>
            <a:endParaRPr lang="zh-CN" altLang="en-US" sz="2000" b="1" dirty="0">
              <a:ea typeface="宋体" panose="02010600030101010101" pitchFamily="2" charset="-122"/>
            </a:endParaRPr>
          </a:p>
          <a:p>
            <a:pPr marL="1295400" lvl="2" indent="-381000">
              <a:lnSpc>
                <a:spcPct val="90000"/>
              </a:lnSpc>
            </a:pPr>
            <a:r>
              <a:rPr lang="zh-CN" altLang="en-US" sz="1800" b="1" dirty="0">
                <a:ea typeface="宋体" panose="02010600030101010101" pitchFamily="2" charset="-122"/>
              </a:rPr>
              <a:t>通常是表达式</a:t>
            </a:r>
            <a:endParaRPr lang="zh-CN" altLang="en-US" sz="1800" b="1" dirty="0">
              <a:ea typeface="宋体" panose="02010600030101010101" pitchFamily="2" charset="-122"/>
            </a:endParaRPr>
          </a:p>
          <a:p>
            <a:pPr marL="1295400" lvl="2" indent="-381000">
              <a:lnSpc>
                <a:spcPct val="90000"/>
              </a:lnSpc>
            </a:pPr>
            <a:r>
              <a:rPr lang="zh-CN" altLang="en-US" sz="1800" b="1" dirty="0">
                <a:ea typeface="宋体" panose="02010600030101010101" pitchFamily="2" charset="-122"/>
              </a:rPr>
              <a:t>某些规则的目的是产生副作用，此时可以是过程调用或程序段，可以被想象成定义了产生式左部非终结符的虚拟综合属性</a:t>
            </a:r>
            <a:endParaRPr lang="en-US" altLang="zh-CN" sz="1800" b="1" dirty="0">
              <a:ea typeface="宋体" panose="02010600030101010101" pitchFamily="2" charset="-122"/>
            </a:endParaRPr>
          </a:p>
          <a:p>
            <a:pPr marL="1295400" lvl="2" indent="-381000">
              <a:lnSpc>
                <a:spcPct val="90000"/>
              </a:lnSpc>
            </a:pPr>
            <a:r>
              <a:rPr lang="zh-CN" altLang="en-US" sz="1800" b="1" dirty="0">
                <a:ea typeface="宋体" panose="02010600030101010101" pitchFamily="2" charset="-122"/>
              </a:rPr>
              <a:t>只包含综合属性的</a:t>
            </a:r>
            <a:r>
              <a:rPr lang="en-US" altLang="zh-CN" sz="1800" b="1" dirty="0">
                <a:ea typeface="宋体" panose="02010600030101010101" pitchFamily="2" charset="-122"/>
              </a:rPr>
              <a:t>SDD</a:t>
            </a:r>
            <a:r>
              <a:rPr lang="zh-CN" altLang="en-US" sz="1800" b="1" dirty="0">
                <a:ea typeface="宋体" panose="02010600030101010101" pitchFamily="2" charset="-122"/>
              </a:rPr>
              <a:t>称为</a:t>
            </a:r>
            <a:r>
              <a:rPr lang="en-US" altLang="zh-CN" sz="1800" b="1" dirty="0">
                <a:ea typeface="宋体" panose="02010600030101010101" pitchFamily="2" charset="-122"/>
              </a:rPr>
              <a:t>S</a:t>
            </a:r>
            <a:r>
              <a:rPr lang="zh-CN" altLang="en-US" sz="1800" b="1" dirty="0">
                <a:ea typeface="宋体" panose="02010600030101010101" pitchFamily="2" charset="-122"/>
              </a:rPr>
              <a:t>属性的</a:t>
            </a:r>
            <a:r>
              <a:rPr lang="en-US" altLang="zh-CN" sz="1800" b="1" dirty="0">
                <a:ea typeface="宋体" panose="02010600030101010101" pitchFamily="2" charset="-122"/>
              </a:rPr>
              <a:t>SDD</a:t>
            </a:r>
            <a:endParaRPr lang="zh-CN" altLang="en-US" sz="1800" b="1" dirty="0">
              <a:ea typeface="宋体" panose="02010600030101010101" pitchFamily="2" charset="-122"/>
            </a:endParaRPr>
          </a:p>
          <a:p>
            <a:pPr marL="838200" lvl="1" indent="-381000">
              <a:lnSpc>
                <a:spcPct val="90000"/>
              </a:lnSpc>
            </a:pPr>
            <a:r>
              <a:rPr lang="zh-CN" altLang="en-US" sz="2000" b="1" dirty="0">
                <a:ea typeface="宋体" panose="02010600030101010101" pitchFamily="2" charset="-122"/>
              </a:rPr>
              <a:t>属性文法：</a:t>
            </a:r>
            <a:endParaRPr lang="zh-CN" altLang="en-US" sz="2000" b="1" dirty="0">
              <a:ea typeface="宋体" panose="02010600030101010101" pitchFamily="2" charset="-122"/>
            </a:endParaRPr>
          </a:p>
          <a:p>
            <a:pPr marL="838200" lvl="1" indent="-381000">
              <a:lnSpc>
                <a:spcPct val="90000"/>
              </a:lnSpc>
              <a:buNone/>
            </a:pPr>
            <a:r>
              <a:rPr lang="zh-CN" altLang="en-US" sz="1800" b="1" dirty="0">
                <a:ea typeface="宋体" panose="02010600030101010101" pitchFamily="2" charset="-122"/>
              </a:rPr>
              <a:t>	语义规则函数无副作用的语法制导定义，一般用表格表示</a:t>
            </a:r>
            <a:endParaRPr lang="zh-CN" altLang="en-US" sz="1600" b="1" dirty="0">
              <a:ea typeface="宋体" panose="02010600030101010101" pitchFamily="2" charset="-122"/>
            </a:endParaRPr>
          </a:p>
        </p:txBody>
      </p:sp>
      <p:pic>
        <p:nvPicPr>
          <p:cNvPr id="20484" name="Picture 2"/>
          <p:cNvPicPr>
            <a:picLocks noChangeAspect="1"/>
          </p:cNvPicPr>
          <p:nvPr/>
        </p:nvPicPr>
        <p:blipFill>
          <a:blip r:embed="rId1"/>
          <a:stretch>
            <a:fillRect/>
          </a:stretch>
        </p:blipFill>
        <p:spPr>
          <a:xfrm>
            <a:off x="228600" y="3860800"/>
            <a:ext cx="8537575" cy="2943225"/>
          </a:xfrm>
          <a:prstGeom prst="rect">
            <a:avLst/>
          </a:prstGeom>
          <a:noFill/>
          <a:ln w="9525">
            <a:noFill/>
          </a:ln>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语法制导定义（4）</a:t>
            </a:r>
            <a:endParaRPr lang="zh-CN" altLang="en-US" dirty="0">
              <a:latin typeface="Times New Roman" panose="02020603050405020304" pitchFamily="18" charset="0"/>
              <a:ea typeface="宋体" panose="02010600030101010101" pitchFamily="2" charset="-122"/>
            </a:endParaRPr>
          </a:p>
        </p:txBody>
      </p:sp>
      <p:sp>
        <p:nvSpPr>
          <p:cNvPr id="22531" name="Rectangle 3"/>
          <p:cNvSpPr>
            <a:spLocks noGrp="1"/>
          </p:cNvSpPr>
          <p:nvPr>
            <p:ph idx="1"/>
          </p:nvPr>
        </p:nvSpPr>
        <p:spPr>
          <a:xfrm>
            <a:off x="914400" y="1524000"/>
            <a:ext cx="7467600" cy="4800600"/>
          </a:xfrm>
        </p:spPr>
        <p:txBody>
          <a:bodyPr vert="horz" wrap="square" lIns="92075" tIns="46038" rIns="92075" bIns="46038" anchor="t" anchorCtr="0"/>
          <a:p>
            <a:pPr marL="838200" lvl="1" indent="-381000">
              <a:lnSpc>
                <a:spcPct val="90000"/>
              </a:lnSpc>
            </a:pPr>
            <a:r>
              <a:rPr lang="zh-CN" altLang="en-US" sz="2800" b="1" dirty="0">
                <a:ea typeface="宋体" panose="02010600030101010101" pitchFamily="2" charset="-122"/>
              </a:rPr>
              <a:t>属性文法描述的几个问题：</a:t>
            </a:r>
            <a:endParaRPr lang="zh-CN" altLang="en-US" sz="2800" b="1" dirty="0">
              <a:ea typeface="宋体" panose="02010600030101010101" pitchFamily="2" charset="-122"/>
            </a:endParaRPr>
          </a:p>
          <a:p>
            <a:pPr marL="1295400" lvl="2" indent="-381000">
              <a:lnSpc>
                <a:spcPct val="90000"/>
              </a:lnSpc>
            </a:pPr>
            <a:r>
              <a:rPr lang="zh-CN" altLang="en-US" sz="2400" b="1" dirty="0">
                <a:ea typeface="宋体" panose="02010600030101010101" pitchFamily="2" charset="-122"/>
              </a:rPr>
              <a:t>在语法制导定义中</a:t>
            </a:r>
            <a:endParaRPr lang="zh-CN" altLang="en-US" sz="2400" b="1" dirty="0">
              <a:ea typeface="宋体" panose="02010600030101010101" pitchFamily="2" charset="-122"/>
            </a:endParaRPr>
          </a:p>
          <a:p>
            <a:pPr marL="1714500" lvl="3" indent="-342900">
              <a:lnSpc>
                <a:spcPct val="90000"/>
              </a:lnSpc>
            </a:pPr>
            <a:r>
              <a:rPr lang="zh-CN" altLang="en-US" b="1" dirty="0">
                <a:ea typeface="宋体" panose="02010600030101010101" pitchFamily="2" charset="-122"/>
              </a:rPr>
              <a:t>终结符只有综合属性，其属性值通常由词法分析器提供</a:t>
            </a:r>
            <a:endParaRPr lang="zh-CN" altLang="en-US" b="1" dirty="0">
              <a:ea typeface="宋体" panose="02010600030101010101" pitchFamily="2" charset="-122"/>
            </a:endParaRPr>
          </a:p>
          <a:p>
            <a:pPr marL="1714500" lvl="3" indent="-342900">
              <a:lnSpc>
                <a:spcPct val="90000"/>
              </a:lnSpc>
            </a:pPr>
            <a:r>
              <a:rPr lang="zh-CN" altLang="en-US" b="1" dirty="0">
                <a:ea typeface="宋体" panose="02010600030101010101" pitchFamily="2" charset="-122"/>
              </a:rPr>
              <a:t>开始符号没有任何继承属性，除非有其它的声明</a:t>
            </a:r>
            <a:endParaRPr lang="zh-CN" altLang="en-US" b="1" dirty="0">
              <a:ea typeface="宋体" panose="02010600030101010101" pitchFamily="2" charset="-122"/>
            </a:endParaRPr>
          </a:p>
          <a:p>
            <a:pPr marL="1295400" lvl="2" indent="-381000">
              <a:lnSpc>
                <a:spcPct val="90000"/>
              </a:lnSpc>
            </a:pPr>
            <a:r>
              <a:rPr lang="zh-CN" altLang="en-US" sz="2400" b="1" dirty="0">
                <a:ea typeface="宋体" panose="02010600030101010101" pitchFamily="2" charset="-122"/>
              </a:rPr>
              <a:t>文法产生式中有多个相同的文法符号：以下标等形式区分</a:t>
            </a:r>
            <a:endParaRPr lang="zh-CN" altLang="en-US" sz="2400" b="1" dirty="0">
              <a:ea typeface="宋体" panose="02010600030101010101" pitchFamily="2" charset="-122"/>
            </a:endParaRPr>
          </a:p>
          <a:p>
            <a:pPr marL="1295400" lvl="2" indent="-381000">
              <a:lnSpc>
                <a:spcPct val="90000"/>
              </a:lnSpc>
            </a:pPr>
            <a:r>
              <a:rPr lang="zh-CN" altLang="en-US" sz="2400" b="1" dirty="0">
                <a:ea typeface="宋体" panose="02010600030101010101" pitchFamily="2" charset="-122"/>
              </a:rPr>
              <a:t>不是所有的文法符号都要为相同的属性计算属性值</a:t>
            </a:r>
            <a:endParaRPr lang="zh-CN" altLang="en-US" sz="2400" b="1" dirty="0">
              <a:ea typeface="宋体" panose="02010600030101010101" pitchFamily="2" charset="-122"/>
            </a:endParaRPr>
          </a:p>
          <a:p>
            <a:pPr marL="1295400" lvl="2" indent="-381000">
              <a:lnSpc>
                <a:spcPct val="90000"/>
              </a:lnSpc>
            </a:pPr>
            <a:r>
              <a:rPr lang="zh-CN" altLang="en-US" sz="2400" b="1" dirty="0">
                <a:ea typeface="宋体" panose="02010600030101010101" pitchFamily="2" charset="-122"/>
              </a:rPr>
              <a:t>一个文法符号可以有多个属性</a:t>
            </a:r>
            <a:endParaRPr lang="zh-CN" altLang="en-US" sz="2400" b="1" dirty="0">
              <a:ea typeface="宋体" panose="02010600030101010101" pitchFamily="2"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4579" name="Rectangle 3"/>
          <p:cNvSpPr>
            <a:spLocks noGrp="1"/>
          </p:cNvSpPr>
          <p:nvPr>
            <p:ph idx="1"/>
          </p:nvPr>
        </p:nvSpPr>
        <p:spPr>
          <a:xfrm>
            <a:off x="990600" y="1524000"/>
            <a:ext cx="7391400" cy="4800600"/>
          </a:xfrm>
        </p:spPr>
        <p:txBody>
          <a:bodyPr vert="horz" wrap="square" lIns="92075" tIns="46038" rIns="92075" bIns="46038" anchor="t" anchorCtr="0"/>
          <a:p>
            <a:pPr marL="838200" lvl="1" indent="-381000">
              <a:spcBef>
                <a:spcPct val="0"/>
              </a:spcBef>
              <a:buNone/>
            </a:pPr>
            <a:r>
              <a:rPr lang="zh-CN" altLang="en-US" sz="1600" b="1" dirty="0">
                <a:ea typeface="宋体" panose="02010600030101010101" pitchFamily="2" charset="-122"/>
              </a:rPr>
              <a:t>产生式		语义规则</a:t>
            </a:r>
            <a:endParaRPr lang="zh-CN" altLang="en-US"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based-num→		based-num.val := num.val</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num basechar	num.base := basechar.base</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basechar</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o		basechar.base := 8</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basechar</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d		basechar.base := 10</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num</a:t>
            </a:r>
            <a:r>
              <a:rPr lang="en-US" altLang="zh-CN" sz="1600" b="1" baseline="-25000" dirty="0">
                <a:ea typeface="宋体" panose="02010600030101010101" pitchFamily="2" charset="-122"/>
              </a:rPr>
              <a:t>1</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num</a:t>
            </a:r>
            <a:r>
              <a:rPr lang="en-US" altLang="zh-CN" sz="1600" b="1" baseline="-25000" dirty="0">
                <a:ea typeface="宋体" panose="02010600030101010101" pitchFamily="2" charset="-122"/>
              </a:rPr>
              <a:t>2</a:t>
            </a:r>
            <a:r>
              <a:rPr lang="en-US" altLang="zh-CN" sz="1600" b="1" dirty="0">
                <a:ea typeface="宋体" panose="02010600030101010101" pitchFamily="2" charset="-122"/>
              </a:rPr>
              <a:t>  digit	num</a:t>
            </a:r>
            <a:r>
              <a:rPr lang="en-US" altLang="zh-CN" sz="1600" b="1" baseline="-25000" dirty="0">
                <a:ea typeface="宋体" panose="02010600030101010101" pitchFamily="2" charset="-122"/>
              </a:rPr>
              <a:t>2</a:t>
            </a:r>
            <a:r>
              <a:rPr lang="en-US" altLang="zh-CN" sz="1600" b="1" dirty="0">
                <a:ea typeface="宋体" panose="02010600030101010101" pitchFamily="2" charset="-122"/>
              </a:rPr>
              <a:t>.base := num</a:t>
            </a:r>
            <a:r>
              <a:rPr lang="en-US" altLang="zh-CN" sz="1600" b="1" baseline="-25000" dirty="0">
                <a:ea typeface="宋体" panose="02010600030101010101" pitchFamily="2" charset="-122"/>
              </a:rPr>
              <a:t>1</a:t>
            </a:r>
            <a:r>
              <a:rPr lang="en-US" altLang="zh-CN" sz="1600" b="1" dirty="0">
                <a:ea typeface="宋体" panose="02010600030101010101" pitchFamily="2" charset="-122"/>
              </a:rPr>
              <a:t>.base</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digit.base := num</a:t>
            </a:r>
            <a:r>
              <a:rPr lang="en-US" altLang="zh-CN" sz="1600" b="1" baseline="-25000" dirty="0">
                <a:ea typeface="宋体" panose="02010600030101010101" pitchFamily="2" charset="-122"/>
              </a:rPr>
              <a:t>1</a:t>
            </a:r>
            <a:r>
              <a:rPr lang="en-US" altLang="zh-CN" sz="1600" b="1" dirty="0">
                <a:ea typeface="宋体" panose="02010600030101010101" pitchFamily="2" charset="-122"/>
              </a:rPr>
              <a:t>.base</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num</a:t>
            </a:r>
            <a:r>
              <a:rPr lang="en-US" altLang="zh-CN" sz="1600" b="1" baseline="-25000" dirty="0">
                <a:ea typeface="宋体" panose="02010600030101010101" pitchFamily="2" charset="-122"/>
              </a:rPr>
              <a:t>1</a:t>
            </a:r>
            <a:r>
              <a:rPr lang="en-US" altLang="zh-CN" sz="1600" b="1" dirty="0">
                <a:ea typeface="宋体" panose="02010600030101010101" pitchFamily="2" charset="-122"/>
              </a:rPr>
              <a:t>.val :=</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if digit.val = error or num</a:t>
            </a:r>
            <a:r>
              <a:rPr lang="en-US" altLang="zh-CN" sz="1600" b="1" baseline="-25000" dirty="0">
                <a:ea typeface="宋体" panose="02010600030101010101" pitchFamily="2" charset="-122"/>
              </a:rPr>
              <a:t>2</a:t>
            </a:r>
            <a:r>
              <a:rPr lang="en-US" altLang="zh-CN" sz="1600" b="1" dirty="0">
                <a:ea typeface="宋体" panose="02010600030101010101" pitchFamily="2" charset="-122"/>
              </a:rPr>
              <a:t>.val = error</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then error</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else num</a:t>
            </a:r>
            <a:r>
              <a:rPr lang="en-US" altLang="zh-CN" sz="1600" b="1" baseline="-25000" dirty="0">
                <a:ea typeface="宋体" panose="02010600030101010101" pitchFamily="2" charset="-122"/>
              </a:rPr>
              <a:t>2</a:t>
            </a:r>
            <a:r>
              <a:rPr lang="en-US" altLang="zh-CN" sz="1600" b="1" dirty="0">
                <a:ea typeface="宋体" panose="02010600030101010101" pitchFamily="2" charset="-122"/>
              </a:rPr>
              <a:t>.val * num</a:t>
            </a:r>
            <a:r>
              <a:rPr lang="en-US" altLang="zh-CN" sz="1600" b="1" baseline="-25000" dirty="0">
                <a:ea typeface="宋体" panose="02010600030101010101" pitchFamily="2" charset="-122"/>
              </a:rPr>
              <a:t>1</a:t>
            </a:r>
            <a:r>
              <a:rPr lang="en-US" altLang="zh-CN" sz="1600" b="1" dirty="0">
                <a:ea typeface="宋体" panose="02010600030101010101" pitchFamily="2" charset="-122"/>
              </a:rPr>
              <a:t>.base + digit.val</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num</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digit		num.val := digit.val</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				digit.base := num.base</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digit</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0		digit.val := 0</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digit</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8		digit.val := if digit.base = 8 then error  else  8</a:t>
            </a:r>
            <a:endParaRPr lang="en-US" altLang="zh-CN" sz="1600" b="1" dirty="0">
              <a:ea typeface="宋体" panose="02010600030101010101" pitchFamily="2" charset="-122"/>
            </a:endParaRPr>
          </a:p>
          <a:p>
            <a:pPr marL="838200" lvl="1" indent="-381000">
              <a:spcBef>
                <a:spcPct val="0"/>
              </a:spcBef>
              <a:buNone/>
            </a:pPr>
            <a:r>
              <a:rPr lang="en-US" altLang="zh-CN" sz="1600" b="1" dirty="0">
                <a:ea typeface="宋体" panose="02010600030101010101" pitchFamily="2" charset="-122"/>
              </a:rPr>
              <a:t>…</a:t>
            </a:r>
            <a:endParaRPr lang="en-US" altLang="zh-CN" sz="1600" b="1" dirty="0">
              <a:ea typeface="宋体" panose="02010600030101010101" pitchFamily="2" charset="-122"/>
            </a:endParaRPr>
          </a:p>
        </p:txBody>
      </p:sp>
      <p:sp>
        <p:nvSpPr>
          <p:cNvPr id="24580" name="Line 4"/>
          <p:cNvSpPr/>
          <p:nvPr/>
        </p:nvSpPr>
        <p:spPr>
          <a:xfrm>
            <a:off x="1552575" y="1566863"/>
            <a:ext cx="6248400" cy="0"/>
          </a:xfrm>
          <a:prstGeom prst="line">
            <a:avLst/>
          </a:prstGeom>
          <a:ln w="22225" cap="flat" cmpd="sng">
            <a:solidFill>
              <a:schemeClr val="tx1"/>
            </a:solidFill>
            <a:prstDash val="solid"/>
            <a:headEnd type="none" w="sm" len="sm"/>
            <a:tailEnd type="none" w="lg" len="med"/>
          </a:ln>
        </p:spPr>
      </p:sp>
      <p:sp>
        <p:nvSpPr>
          <p:cNvPr id="24581" name="Line 5"/>
          <p:cNvSpPr/>
          <p:nvPr/>
        </p:nvSpPr>
        <p:spPr>
          <a:xfrm>
            <a:off x="1476375" y="5805488"/>
            <a:ext cx="6248400" cy="0"/>
          </a:xfrm>
          <a:prstGeom prst="line">
            <a:avLst/>
          </a:prstGeom>
          <a:ln w="22225" cap="flat" cmpd="sng">
            <a:solidFill>
              <a:schemeClr val="tx1"/>
            </a:solidFill>
            <a:prstDash val="solid"/>
            <a:headEnd type="none" w="sm" len="sm"/>
            <a:tailEnd type="none" w="lg" len="med"/>
          </a:ln>
        </p:spPr>
      </p:sp>
      <p:sp>
        <p:nvSpPr>
          <p:cNvPr id="24582" name="Line 6"/>
          <p:cNvSpPr/>
          <p:nvPr/>
        </p:nvSpPr>
        <p:spPr>
          <a:xfrm>
            <a:off x="1552575" y="1795463"/>
            <a:ext cx="6172200" cy="0"/>
          </a:xfrm>
          <a:prstGeom prst="line">
            <a:avLst/>
          </a:prstGeom>
          <a:ln w="19050" cap="flat" cmpd="sng">
            <a:solidFill>
              <a:schemeClr val="tx1"/>
            </a:solidFill>
            <a:prstDash val="solid"/>
            <a:headEnd type="none" w="sm" len="sm"/>
            <a:tailEnd type="none" w="lg" len="med"/>
          </a:ln>
        </p:spPr>
      </p:sp>
      <p:sp>
        <p:nvSpPr>
          <p:cNvPr id="24583" name="Line 7"/>
          <p:cNvSpPr/>
          <p:nvPr/>
        </p:nvSpPr>
        <p:spPr>
          <a:xfrm>
            <a:off x="3381375" y="1566863"/>
            <a:ext cx="0" cy="4238625"/>
          </a:xfrm>
          <a:prstGeom prst="line">
            <a:avLst/>
          </a:prstGeom>
          <a:ln w="12700" cap="flat" cmpd="sng">
            <a:solidFill>
              <a:schemeClr val="tx1"/>
            </a:solidFill>
            <a:prstDash val="solid"/>
            <a:headEnd type="none" w="sm" len="sm"/>
            <a:tailEnd type="none" w="lg" len="med"/>
          </a:ln>
        </p:spPr>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723" name="Rectangle 3"/>
          <p:cNvSpPr>
            <a:spLocks noGrp="1" noChangeArrowheads="1"/>
          </p:cNvSpPr>
          <p:nvPr>
            <p:ph idx="1"/>
          </p:nvPr>
        </p:nvSpPr>
        <p:spPr>
          <a:xfrm>
            <a:off x="990600" y="1524000"/>
            <a:ext cx="7613650" cy="4800600"/>
          </a:xfrm>
        </p:spPr>
        <p:txBody>
          <a:bodyPr vert="horz" wrap="square" lIns="92075" tIns="46038" rIns="92075" bIns="46038" numCol="1" anchor="t" anchorCtr="0" compatLnSpc="1"/>
          <a:lstStyle/>
          <a:p>
            <a:pPr marL="419100" marR="0" lvl="0"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在语法分析树的结点上对</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求值</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38200" marR="0" lvl="1" indent="-3810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借助语法树，可以使得翻译方案可视化</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38200" marR="0" lvl="1" indent="-3810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标注了属性值的语法分析树称为</a:t>
            </a:r>
            <a:r>
              <a:rPr kumimoji="0" lang="zh-CN" altLang="en-US" sz="2200" b="0" i="0" u="none" strike="noStrike" kern="0" cap="none" spc="0" normalizeH="0" baseline="0" noProof="0" dirty="0">
                <a:ln>
                  <a:noFill/>
                </a:ln>
                <a:solidFill>
                  <a:schemeClr val="tx1"/>
                </a:solidFill>
                <a:effectLst/>
                <a:uLnTx/>
                <a:uFillTx/>
                <a:latin typeface="华文琥珀" panose="02010800040101010101" pitchFamily="2" charset="-122"/>
                <a:ea typeface="华文琥珀" panose="02010800040101010101" pitchFamily="2" charset="-122"/>
              </a:rPr>
              <a:t>注释语法分析树</a:t>
            </a:r>
            <a:endParaRPr kumimoji="0" lang="en-US" altLang="zh-CN" sz="2200" b="0" i="0" u="none" strike="noStrike" kern="0" cap="none" spc="0" normalizeH="0" baseline="0" noProof="0" dirty="0">
              <a:ln>
                <a:noFill/>
              </a:ln>
              <a:solidFill>
                <a:schemeClr val="tx1"/>
              </a:solidFill>
              <a:effectLst/>
              <a:uLnTx/>
              <a:uFillTx/>
              <a:latin typeface="华文琥珀" panose="02010800040101010101" pitchFamily="2" charset="-122"/>
              <a:ea typeface="华文琥珀" panose="02010800040101010101" pitchFamily="2" charset="-122"/>
            </a:endParaRPr>
          </a:p>
          <a:p>
            <a:pPr marL="838200" marR="0" lvl="1" indent="-3810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注释语法分析树的构建必须满足语义规则的依赖约束</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对于综合属性，任何的自底向上的顺序都是合适的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38250" marR="0" lvl="2" indent="-3810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对于同时具有继承属性和综合属性的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，可能需要对语法树遍历多遍，才能完成求值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有时会出现循环定义的情形，难以确定求值顺序</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产生式</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语义规则</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A→B		A.s</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B.i</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B.i</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A.s + 1;</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存在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的一个子类，能够保证</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对每棵语法树都有一个求值顺序</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26628" name="图片 2"/>
          <p:cNvPicPr>
            <a:picLocks noChangeAspect="1"/>
          </p:cNvPicPr>
          <p:nvPr/>
        </p:nvPicPr>
        <p:blipFill>
          <a:blip r:embed="rId1"/>
          <a:stretch>
            <a:fillRect/>
          </a:stretch>
        </p:blipFill>
        <p:spPr>
          <a:xfrm>
            <a:off x="6218238" y="4508500"/>
            <a:ext cx="1779587" cy="2346325"/>
          </a:xfrm>
          <a:prstGeom prst="rect">
            <a:avLst/>
          </a:prstGeom>
          <a:noFill/>
          <a:ln w="9525">
            <a:noFill/>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2"/>
          <p:cNvPicPr>
            <a:picLocks noChangeAspect="1"/>
          </p:cNvPicPr>
          <p:nvPr/>
        </p:nvPicPr>
        <p:blipFill>
          <a:blip r:embed="rId1"/>
          <a:stretch>
            <a:fillRect/>
          </a:stretch>
        </p:blipFill>
        <p:spPr>
          <a:xfrm>
            <a:off x="1187450" y="2060575"/>
            <a:ext cx="6684963" cy="4797425"/>
          </a:xfrm>
          <a:prstGeom prst="rect">
            <a:avLst/>
          </a:prstGeom>
          <a:noFill/>
          <a:ln w="9525">
            <a:noFill/>
          </a:ln>
        </p:spPr>
      </p:pic>
      <p:sp>
        <p:nvSpPr>
          <p:cNvPr id="28675"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723" name="Rectangle 3"/>
          <p:cNvSpPr>
            <a:spLocks noGrp="1" noChangeArrowheads="1"/>
          </p:cNvSpPr>
          <p:nvPr>
            <p:ph idx="1"/>
          </p:nvPr>
        </p:nvSpPr>
        <p:spPr>
          <a:xfrm>
            <a:off x="990600" y="1371600"/>
            <a:ext cx="7613650" cy="4953000"/>
          </a:xfrm>
        </p:spPr>
        <p:txBody>
          <a:bodyPr vert="horz" wrap="square" lIns="92075" tIns="46038" rIns="92075" bIns="46038" numCol="1" anchor="t" anchorCtr="0" compatLnSpc="1"/>
          <a:lstStyle/>
          <a:p>
            <a:pPr marL="419100" marR="0" lvl="0"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利用图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5-1</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的语法制导定义的例子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19150" marR="0" lvl="1" indent="-4191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仅采用综合属性，自底向上计算</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38200" marR="0" lvl="1" indent="-3810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723" name="Rectangle 3"/>
          <p:cNvSpPr>
            <a:spLocks noGrp="1"/>
          </p:cNvSpPr>
          <p:nvPr>
            <p:ph idx="1"/>
          </p:nvPr>
        </p:nvSpPr>
        <p:spPr>
          <a:xfrm>
            <a:off x="539750" y="1524000"/>
            <a:ext cx="8208963" cy="4800600"/>
          </a:xfrm>
        </p:spPr>
        <p:txBody>
          <a:bodyPr vert="horz" wrap="square" lIns="92075" tIns="46038" rIns="92075" bIns="46038" anchor="t" anchorCtr="0"/>
          <a:p>
            <a:pPr marL="495300" indent="-495300">
              <a:lnSpc>
                <a:spcPct val="90000"/>
              </a:lnSpc>
            </a:pPr>
            <a:r>
              <a:rPr lang="zh-CN" altLang="en-US" sz="2400" b="1" dirty="0">
                <a:ea typeface="宋体" panose="02010600030101010101" pitchFamily="2" charset="-122"/>
              </a:rPr>
              <a:t>继承属性的例子</a:t>
            </a:r>
            <a:endParaRPr lang="zh-CN" altLang="en-US" sz="24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语法分析树的结构与源代码的抽象语法不匹配时，需要引入继承属性</a:t>
            </a:r>
            <a:endParaRPr lang="en-US" altLang="zh-CN" sz="2200" b="1" dirty="0">
              <a:ea typeface="宋体" panose="02010600030101010101" pitchFamily="2" charset="-122"/>
            </a:endParaRPr>
          </a:p>
          <a:p>
            <a:pPr marL="1314450" lvl="2" indent="-457200">
              <a:lnSpc>
                <a:spcPct val="90000"/>
              </a:lnSpc>
            </a:pPr>
            <a:r>
              <a:rPr lang="zh-CN" altLang="en-US" sz="2000" b="1" dirty="0">
                <a:ea typeface="宋体" panose="02010600030101010101" pitchFamily="2" charset="-122"/>
              </a:rPr>
              <a:t>文法不是为了翻译而定义的，而是为了语法分析而定义的，如针对预测分析器的文法修改</a:t>
            </a:r>
            <a:endParaRPr lang="en-US" altLang="zh-CN" sz="20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消除左递归等</a:t>
            </a:r>
            <a:endParaRPr lang="en-US" altLang="zh-CN" sz="18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下图文法中，</a:t>
            </a:r>
            <a:r>
              <a:rPr lang="en-US" altLang="zh-CN" sz="1800" b="1" dirty="0">
                <a:ea typeface="宋体" panose="02010600030101010101" pitchFamily="2" charset="-122"/>
              </a:rPr>
              <a:t>T’</a:t>
            </a:r>
            <a:r>
              <a:rPr lang="zh-CN" altLang="en-US" sz="1800" b="1" dirty="0">
                <a:ea typeface="宋体" panose="02010600030101010101" pitchFamily="2" charset="-122"/>
              </a:rPr>
              <a:t>具有两个属性：继承属性</a:t>
            </a:r>
            <a:r>
              <a:rPr lang="en-US" altLang="zh-CN" sz="1800" b="1" dirty="0">
                <a:ea typeface="宋体" panose="02010600030101010101" pitchFamily="2" charset="-122"/>
              </a:rPr>
              <a:t>inh</a:t>
            </a:r>
            <a:r>
              <a:rPr lang="zh-CN" altLang="en-US" sz="1800" b="1" dirty="0">
                <a:ea typeface="宋体" panose="02010600030101010101" pitchFamily="2" charset="-122"/>
              </a:rPr>
              <a:t>和综合属性</a:t>
            </a:r>
            <a:r>
              <a:rPr lang="en-US" altLang="zh-CN" sz="1800" b="1" dirty="0">
                <a:ea typeface="宋体" panose="02010600030101010101" pitchFamily="2" charset="-122"/>
              </a:rPr>
              <a:t>syn</a:t>
            </a:r>
            <a:endParaRPr lang="zh-CN" altLang="en-US" sz="1800" b="1" dirty="0">
              <a:ea typeface="宋体" panose="02010600030101010101" pitchFamily="2" charset="-122"/>
            </a:endParaRPr>
          </a:p>
        </p:txBody>
      </p:sp>
      <p:pic>
        <p:nvPicPr>
          <p:cNvPr id="30724" name="Picture 2"/>
          <p:cNvPicPr>
            <a:picLocks noChangeAspect="1"/>
          </p:cNvPicPr>
          <p:nvPr/>
        </p:nvPicPr>
        <p:blipFill>
          <a:blip r:embed="rId1"/>
          <a:stretch>
            <a:fillRect/>
          </a:stretch>
        </p:blipFill>
        <p:spPr>
          <a:xfrm>
            <a:off x="125413" y="3933825"/>
            <a:ext cx="9018587" cy="2924175"/>
          </a:xfrm>
          <a:prstGeom prst="rect">
            <a:avLst/>
          </a:prstGeom>
          <a:noFill/>
          <a:ln w="9525">
            <a:noFill/>
          </a:ln>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语法制导定义（</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0723" name="Rectangle 3"/>
          <p:cNvSpPr>
            <a:spLocks noGrp="1" noChangeArrowheads="1"/>
          </p:cNvSpPr>
          <p:nvPr>
            <p:ph idx="1"/>
          </p:nvPr>
        </p:nvSpPr>
        <p:spPr>
          <a:xfrm>
            <a:off x="990600" y="1371600"/>
            <a:ext cx="7613650" cy="4953000"/>
          </a:xfrm>
        </p:spPr>
        <p:txBody>
          <a:bodyPr vert="horz" wrap="square" lIns="92075" tIns="46038" rIns="92075" bIns="46038" numCol="1" anchor="t" anchorCtr="0" compatLnSpc="1"/>
          <a:lstStyle/>
          <a:p>
            <a:pPr marL="419100" marR="0" lvl="0"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利用图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5-4</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的语法制导定义的例子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19150" marR="0" lvl="1" indent="-4191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，注意“值”的传递过程</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38200" marR="0" lvl="1" indent="-3810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32772" name="Picture 2"/>
          <p:cNvPicPr>
            <a:picLocks noChangeAspect="1"/>
          </p:cNvPicPr>
          <p:nvPr/>
        </p:nvPicPr>
        <p:blipFill>
          <a:blip r:embed="rId1"/>
          <a:stretch>
            <a:fillRect/>
          </a:stretch>
        </p:blipFill>
        <p:spPr>
          <a:xfrm>
            <a:off x="471488" y="2286000"/>
            <a:ext cx="7986712" cy="4414838"/>
          </a:xfrm>
          <a:prstGeom prst="rect">
            <a:avLst/>
          </a:prstGeom>
          <a:noFill/>
          <a:ln w="9525">
            <a:noFill/>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第五章 语法制导的翻译</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noChangeArrowheads="1"/>
          </p:cNvSpPr>
          <p:nvPr>
            <p:ph idx="1"/>
          </p:nvPr>
        </p:nvSpPr>
        <p:spPr>
          <a:xfrm>
            <a:off x="990600" y="1600200"/>
            <a:ext cx="7391400" cy="4191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一些基础知识</a:t>
            </a:r>
            <a:endPar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语法制导定义</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SDD</a:t>
            </a:r>
            <a:r>
              <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的求值顺序</a:t>
            </a:r>
            <a:endPar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语法制导翻译的应用</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语法制导的翻译方案</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实现</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属性的</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SDD</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6867" name="Rectangle 3"/>
          <p:cNvSpPr>
            <a:spLocks noGrp="1"/>
          </p:cNvSpPr>
          <p:nvPr>
            <p:ph idx="1"/>
          </p:nvPr>
        </p:nvSpPr>
        <p:spPr>
          <a:xfrm>
            <a:off x="990600" y="1524000"/>
            <a:ext cx="7391400" cy="4800600"/>
          </a:xfrm>
        </p:spPr>
        <p:txBody>
          <a:bodyPr vert="horz" wrap="square" lIns="92075" tIns="46038" rIns="92075" bIns="46038" anchor="t" anchorCtr="0"/>
          <a:p>
            <a:pPr marL="495300" indent="-495300"/>
            <a:r>
              <a:rPr lang="zh-CN" altLang="en-US" sz="2400" b="1" dirty="0">
                <a:ea typeface="宋体" panose="02010600030101010101" pitchFamily="2" charset="-122"/>
              </a:rPr>
              <a:t>依赖图</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分析树上的依赖关系决定了属性的计算次序</a:t>
            </a:r>
            <a:endParaRPr lang="zh-CN" altLang="en-US" sz="2200" b="1" dirty="0">
              <a:ea typeface="宋体" panose="02010600030101010101" pitchFamily="2" charset="-122"/>
            </a:endParaRPr>
          </a:p>
          <a:p>
            <a:pPr marL="1333500" lvl="2" indent="-419100"/>
            <a:r>
              <a:rPr lang="zh-CN" altLang="en-US" sz="2000" b="1" dirty="0">
                <a:ea typeface="宋体" panose="02010600030101010101" pitchFamily="2" charset="-122"/>
              </a:rPr>
              <a:t>如果分析树中的一个结点的属性</a:t>
            </a:r>
            <a:r>
              <a:rPr lang="en-US" altLang="zh-CN" sz="2000" b="1" dirty="0">
                <a:ea typeface="宋体" panose="02010600030101010101" pitchFamily="2" charset="-122"/>
              </a:rPr>
              <a:t>b</a:t>
            </a:r>
            <a:r>
              <a:rPr lang="zh-CN" altLang="en-US" sz="2000" b="1" dirty="0">
                <a:ea typeface="宋体" panose="02010600030101010101" pitchFamily="2" charset="-122"/>
              </a:rPr>
              <a:t>依赖于某结点的属性</a:t>
            </a:r>
            <a:r>
              <a:rPr lang="en-US" altLang="zh-CN" sz="2000" b="1" dirty="0">
                <a:ea typeface="宋体" panose="02010600030101010101" pitchFamily="2" charset="-122"/>
              </a:rPr>
              <a:t>c，</a:t>
            </a:r>
            <a:r>
              <a:rPr lang="zh-CN" altLang="en-US" sz="2000" b="1" dirty="0">
                <a:ea typeface="宋体" panose="02010600030101010101" pitchFamily="2" charset="-122"/>
              </a:rPr>
              <a:t>则属性</a:t>
            </a:r>
            <a:r>
              <a:rPr lang="en-US" altLang="zh-CN" sz="2000" b="1" dirty="0">
                <a:ea typeface="宋体" panose="02010600030101010101" pitchFamily="2" charset="-122"/>
              </a:rPr>
              <a:t>b</a:t>
            </a:r>
            <a:r>
              <a:rPr lang="zh-CN" altLang="en-US" sz="2000" b="1" dirty="0">
                <a:ea typeface="宋体" panose="02010600030101010101" pitchFamily="2" charset="-122"/>
              </a:rPr>
              <a:t>的语义规则的计算必须在定义属性</a:t>
            </a:r>
            <a:r>
              <a:rPr lang="en-US" altLang="zh-CN" sz="2000" b="1" dirty="0">
                <a:ea typeface="宋体" panose="02010600030101010101" pitchFamily="2" charset="-122"/>
              </a:rPr>
              <a:t>c</a:t>
            </a:r>
            <a:r>
              <a:rPr lang="zh-CN" altLang="en-US" sz="2000" b="1" dirty="0">
                <a:ea typeface="宋体" panose="02010600030101010101" pitchFamily="2" charset="-122"/>
              </a:rPr>
              <a:t>的语义规则的计算之后</a:t>
            </a:r>
            <a:endParaRPr lang="zh-CN" altLang="en-US" sz="2000" b="1" dirty="0">
              <a:ea typeface="宋体" panose="02010600030101010101" pitchFamily="2" charset="-122"/>
            </a:endParaRPr>
          </a:p>
          <a:p>
            <a:pPr marL="1333500" lvl="2" indent="-419100"/>
            <a:r>
              <a:rPr lang="zh-CN" altLang="en-US" sz="2000" b="1" dirty="0">
                <a:ea typeface="宋体" panose="02010600030101010101" pitchFamily="2" charset="-122"/>
              </a:rPr>
              <a:t>分析树结点的继承属性和综合属性间的互相依赖关系可以用有向图表示，称为依赖图</a:t>
            </a:r>
            <a:endParaRPr lang="zh-CN" altLang="en-US" sz="2000" b="1" dirty="0">
              <a:ea typeface="宋体" panose="02010600030101010101" pitchFamily="2" charset="-122"/>
            </a:endParaRPr>
          </a:p>
          <a:p>
            <a:pPr marL="1333500" lvl="2" indent="-419100"/>
            <a:r>
              <a:rPr lang="zh-CN" altLang="en-US" sz="2000" b="1" dirty="0">
                <a:ea typeface="宋体" panose="02010600030101010101" pitchFamily="2" charset="-122"/>
              </a:rPr>
              <a:t>依赖图的建立：</a:t>
            </a:r>
            <a:endParaRPr lang="zh-CN" altLang="en-US" sz="2000" b="1" dirty="0">
              <a:ea typeface="宋体" panose="02010600030101010101" pitchFamily="2" charset="-122"/>
            </a:endParaRPr>
          </a:p>
          <a:p>
            <a:pPr marL="1752600" lvl="3" indent="-381000"/>
            <a:r>
              <a:rPr lang="zh-CN" altLang="en-US" sz="1800" b="1" dirty="0">
                <a:ea typeface="宋体" panose="02010600030101010101" pitchFamily="2" charset="-122"/>
              </a:rPr>
              <a:t>图中每个属性有一个结点</a:t>
            </a:r>
            <a:endParaRPr lang="zh-CN" altLang="en-US" sz="1800" b="1" dirty="0">
              <a:ea typeface="宋体" panose="02010600030101010101" pitchFamily="2" charset="-122"/>
            </a:endParaRPr>
          </a:p>
          <a:p>
            <a:pPr marL="1752600" lvl="3" indent="-381000"/>
            <a:r>
              <a:rPr lang="zh-CN" altLang="en-US" sz="1800" b="1" dirty="0">
                <a:ea typeface="宋体" panose="02010600030101010101" pitchFamily="2" charset="-122"/>
              </a:rPr>
              <a:t>如果属性</a:t>
            </a:r>
            <a:r>
              <a:rPr lang="en-US" altLang="zh-CN" sz="1800" b="1" dirty="0">
                <a:ea typeface="宋体" panose="02010600030101010101" pitchFamily="2" charset="-122"/>
              </a:rPr>
              <a:t>b</a:t>
            </a:r>
            <a:r>
              <a:rPr lang="zh-CN" altLang="en-US" sz="1800" b="1" dirty="0">
                <a:ea typeface="宋体" panose="02010600030101010101" pitchFamily="2" charset="-122"/>
              </a:rPr>
              <a:t>依赖于属性</a:t>
            </a:r>
            <a:r>
              <a:rPr lang="en-US" altLang="zh-CN" sz="1800" b="1" dirty="0">
                <a:ea typeface="宋体" panose="02010600030101010101" pitchFamily="2" charset="-122"/>
              </a:rPr>
              <a:t>c，</a:t>
            </a:r>
            <a:r>
              <a:rPr lang="zh-CN" altLang="en-US" sz="1800" b="1" dirty="0">
                <a:ea typeface="宋体" panose="02010600030101010101" pitchFamily="2" charset="-122"/>
              </a:rPr>
              <a:t>则从</a:t>
            </a:r>
            <a:r>
              <a:rPr lang="en-US" altLang="zh-CN" sz="1800" b="1" dirty="0">
                <a:ea typeface="宋体" panose="02010600030101010101" pitchFamily="2" charset="-122"/>
              </a:rPr>
              <a:t>c</a:t>
            </a:r>
            <a:r>
              <a:rPr lang="zh-CN" altLang="en-US" sz="1800" b="1" dirty="0">
                <a:ea typeface="宋体" panose="02010600030101010101" pitchFamily="2" charset="-122"/>
              </a:rPr>
              <a:t>的结点到</a:t>
            </a:r>
            <a:r>
              <a:rPr lang="en-US" altLang="zh-CN" sz="1800" b="1" dirty="0">
                <a:ea typeface="宋体" panose="02010600030101010101" pitchFamily="2" charset="-122"/>
              </a:rPr>
              <a:t>b</a:t>
            </a:r>
            <a:r>
              <a:rPr lang="zh-CN" altLang="en-US" sz="1800" b="1" dirty="0">
                <a:ea typeface="宋体" panose="02010600030101010101" pitchFamily="2" charset="-122"/>
              </a:rPr>
              <a:t>的结点有一条边</a:t>
            </a:r>
            <a:endParaRPr lang="zh-CN" altLang="en-US"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E→E</a:t>
            </a:r>
            <a:r>
              <a:rPr lang="en-US" altLang="zh-CN" sz="1800" b="1" baseline="-25000" dirty="0">
                <a:ea typeface="宋体" panose="02010600030101010101" pitchFamily="2" charset="-122"/>
              </a:rPr>
              <a:t>1</a:t>
            </a:r>
            <a:r>
              <a:rPr lang="en-US" altLang="zh-CN" sz="1800" b="1" dirty="0">
                <a:ea typeface="宋体" panose="02010600030101010101" pitchFamily="2" charset="-122"/>
              </a:rPr>
              <a:t>+T		E.val := E</a:t>
            </a:r>
            <a:r>
              <a:rPr lang="en-US" altLang="zh-CN" sz="1800" b="1" baseline="-25000" dirty="0">
                <a:ea typeface="宋体" panose="02010600030101010101" pitchFamily="2" charset="-122"/>
              </a:rPr>
              <a:t>1</a:t>
            </a:r>
            <a:r>
              <a:rPr lang="en-US" altLang="zh-CN" sz="1800" b="1" dirty="0">
                <a:ea typeface="宋体" panose="02010600030101010101" pitchFamily="2" charset="-122"/>
              </a:rPr>
              <a:t>.val + T.val</a:t>
            </a:r>
            <a:endParaRPr lang="en-US" altLang="zh-CN" sz="1800" b="1" dirty="0">
              <a:ea typeface="宋体" panose="02010600030101010101" pitchFamily="2" charset="-122"/>
            </a:endParaRPr>
          </a:p>
        </p:txBody>
      </p:sp>
      <p:graphicFrame>
        <p:nvGraphicFramePr>
          <p:cNvPr id="36868" name="Object 8"/>
          <p:cNvGraphicFramePr>
            <a:graphicFrameLocks noChangeAspect="1"/>
          </p:cNvGraphicFramePr>
          <p:nvPr/>
        </p:nvGraphicFramePr>
        <p:xfrm>
          <a:off x="2819400" y="5638800"/>
          <a:ext cx="3200400" cy="892175"/>
        </p:xfrm>
        <a:graphic>
          <a:graphicData uri="http://schemas.openxmlformats.org/presentationml/2006/ole">
            <mc:AlternateContent xmlns:mc="http://schemas.openxmlformats.org/markup-compatibility/2006">
              <mc:Choice xmlns:v="urn:schemas-microsoft-com:vml" Requires="v">
                <p:oleObj spid="_x0000_s3076" name="" r:id="rId1" imgW="4165600" imgH="2006600" progId="Visio.Drawing.11">
                  <p:embed/>
                </p:oleObj>
              </mc:Choice>
              <mc:Fallback>
                <p:oleObj name="" r:id="rId1" imgW="4165600" imgH="2006600" progId="Visio.Drawing.11">
                  <p:embed/>
                  <p:pic>
                    <p:nvPicPr>
                      <p:cNvPr id="0" name="图片 3075"/>
                      <p:cNvPicPr/>
                      <p:nvPr/>
                    </p:nvPicPr>
                    <p:blipFill>
                      <a:blip r:embed="rId2"/>
                      <a:stretch>
                        <a:fillRect/>
                      </a:stretch>
                    </p:blipFill>
                    <p:spPr>
                      <a:xfrm>
                        <a:off x="2819400" y="5638800"/>
                        <a:ext cx="3200400" cy="892175"/>
                      </a:xfrm>
                      <a:prstGeom prst="rect">
                        <a:avLst/>
                      </a:prstGeom>
                      <a:noFill/>
                      <a:ln w="38100">
                        <a:noFill/>
                        <a:miter/>
                      </a:ln>
                    </p:spPr>
                  </p:pic>
                </p:oleObj>
              </mc:Fallback>
            </mc:AlternateContent>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8915" name="Rectangle 3"/>
          <p:cNvSpPr>
            <a:spLocks noGrp="1"/>
          </p:cNvSpPr>
          <p:nvPr>
            <p:ph idx="1"/>
          </p:nvPr>
        </p:nvSpPr>
        <p:spPr>
          <a:xfrm>
            <a:off x="990600" y="1524000"/>
            <a:ext cx="7391400" cy="4800600"/>
          </a:xfrm>
        </p:spPr>
        <p:txBody>
          <a:bodyPr vert="horz" wrap="square" lIns="92075" tIns="46038" rIns="92075" bIns="46038" anchor="t" anchorCtr="0"/>
          <a:p>
            <a:pPr marL="1333500" lvl="2" indent="-419100">
              <a:buFont typeface="Wingdings" panose="05000000000000000000" pitchFamily="2" charset="2"/>
              <a:buNone/>
            </a:pPr>
            <a:r>
              <a:rPr lang="zh-CN" altLang="en-US" sz="2000" b="1" dirty="0">
                <a:ea typeface="宋体" panose="02010600030101010101" pitchFamily="2" charset="-122"/>
              </a:rPr>
              <a:t>分析树的依赖图的构造算法如下：</a:t>
            </a:r>
            <a:endParaRPr lang="zh-CN" altLang="en-US" sz="20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for </a:t>
            </a:r>
            <a:r>
              <a:rPr lang="zh-CN" altLang="en-US" sz="1800" b="1" dirty="0">
                <a:ea typeface="宋体" panose="02010600030101010101" pitchFamily="2" charset="-122"/>
              </a:rPr>
              <a:t>分析树的每个结点</a:t>
            </a:r>
            <a:r>
              <a:rPr lang="en-US" altLang="zh-CN" sz="1800" b="1" dirty="0">
                <a:ea typeface="宋体" panose="02010600030101010101" pitchFamily="2" charset="-122"/>
              </a:rPr>
              <a:t>n do</a:t>
            </a:r>
            <a:endParaRPr lang="en-US" altLang="zh-CN"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    for </a:t>
            </a:r>
            <a:r>
              <a:rPr lang="zh-CN" altLang="en-US" sz="1800" b="1" dirty="0">
                <a:ea typeface="宋体" panose="02010600030101010101" pitchFamily="2" charset="-122"/>
              </a:rPr>
              <a:t>结点</a:t>
            </a:r>
            <a:r>
              <a:rPr lang="en-US" altLang="zh-CN" sz="1800" b="1" dirty="0">
                <a:ea typeface="宋体" panose="02010600030101010101" pitchFamily="2" charset="-122"/>
              </a:rPr>
              <a:t>n</a:t>
            </a:r>
            <a:r>
              <a:rPr lang="zh-CN" altLang="en-US" sz="1800" b="1" dirty="0">
                <a:ea typeface="宋体" panose="02010600030101010101" pitchFamily="2" charset="-122"/>
              </a:rPr>
              <a:t>的文法符号的每个属性</a:t>
            </a:r>
            <a:r>
              <a:rPr lang="en-US" altLang="zh-CN" sz="1800" b="1" dirty="0">
                <a:ea typeface="宋体" panose="02010600030101010101" pitchFamily="2" charset="-122"/>
              </a:rPr>
              <a:t>a do</a:t>
            </a:r>
            <a:endParaRPr lang="en-US" altLang="zh-CN"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	 </a:t>
            </a:r>
            <a:r>
              <a:rPr lang="zh-CN" altLang="en-US" sz="1800" b="1" dirty="0">
                <a:ea typeface="宋体" panose="02010600030101010101" pitchFamily="2" charset="-122"/>
              </a:rPr>
              <a:t>在依赖图中为</a:t>
            </a:r>
            <a:r>
              <a:rPr lang="en-US" altLang="zh-CN" sz="1800" b="1" dirty="0">
                <a:ea typeface="宋体" panose="02010600030101010101" pitchFamily="2" charset="-122"/>
              </a:rPr>
              <a:t>a</a:t>
            </a:r>
            <a:r>
              <a:rPr lang="zh-CN" altLang="en-US" sz="1800" b="1" dirty="0">
                <a:ea typeface="宋体" panose="02010600030101010101" pitchFamily="2" charset="-122"/>
              </a:rPr>
              <a:t>构造一个结点</a:t>
            </a:r>
            <a:endParaRPr lang="zh-CN" altLang="en-US"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for</a:t>
            </a:r>
            <a:r>
              <a:rPr lang="zh-CN" altLang="en-US" sz="1800" b="1" dirty="0">
                <a:ea typeface="宋体" panose="02010600030101010101" pitchFamily="2" charset="-122"/>
              </a:rPr>
              <a:t>分析树的每个结点</a:t>
            </a:r>
            <a:r>
              <a:rPr lang="en-US" altLang="zh-CN" sz="1800" b="1" dirty="0">
                <a:ea typeface="宋体" panose="02010600030101010101" pitchFamily="2" charset="-122"/>
              </a:rPr>
              <a:t>n do</a:t>
            </a:r>
            <a:endParaRPr lang="en-US" altLang="zh-CN"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    for </a:t>
            </a:r>
            <a:r>
              <a:rPr lang="zh-CN" altLang="en-US" sz="1800" b="1" dirty="0">
                <a:ea typeface="宋体" panose="02010600030101010101" pitchFamily="2" charset="-122"/>
              </a:rPr>
              <a:t>结点</a:t>
            </a:r>
            <a:r>
              <a:rPr lang="en-US" altLang="zh-CN" sz="1800" b="1" dirty="0">
                <a:ea typeface="宋体" panose="02010600030101010101" pitchFamily="2" charset="-122"/>
              </a:rPr>
              <a:t>n</a:t>
            </a:r>
            <a:r>
              <a:rPr lang="zh-CN" altLang="en-US" sz="1800" b="1" dirty="0">
                <a:ea typeface="宋体" panose="02010600030101010101" pitchFamily="2" charset="-122"/>
              </a:rPr>
              <a:t>的产生式的每条语义规则</a:t>
            </a:r>
            <a:r>
              <a:rPr lang="en-US" altLang="zh-CN" sz="1800" b="1" dirty="0">
                <a:ea typeface="宋体" panose="02010600030101010101" pitchFamily="2" charset="-122"/>
              </a:rPr>
              <a:t>b := f(c</a:t>
            </a:r>
            <a:r>
              <a:rPr lang="en-US" altLang="zh-CN" sz="1800" b="1" baseline="-25000" dirty="0">
                <a:ea typeface="宋体" panose="02010600030101010101" pitchFamily="2" charset="-122"/>
              </a:rPr>
              <a:t>1</a:t>
            </a:r>
            <a:r>
              <a:rPr lang="en-US" altLang="zh-CN" sz="1800" b="1" dirty="0">
                <a:ea typeface="宋体" panose="02010600030101010101" pitchFamily="2" charset="-122"/>
              </a:rPr>
              <a:t>, c</a:t>
            </a:r>
            <a:r>
              <a:rPr lang="en-US" altLang="zh-CN" sz="1800" b="1" baseline="-25000" dirty="0">
                <a:ea typeface="宋体" panose="02010600030101010101" pitchFamily="2" charset="-122"/>
              </a:rPr>
              <a:t>2</a:t>
            </a:r>
            <a:r>
              <a:rPr lang="en-US" altLang="zh-CN" sz="1800" b="1" dirty="0">
                <a:ea typeface="宋体" panose="02010600030101010101" pitchFamily="2" charset="-122"/>
              </a:rPr>
              <a:t>, … c</a:t>
            </a:r>
            <a:r>
              <a:rPr lang="en-US" altLang="zh-CN" sz="1800" b="1" baseline="-25000" dirty="0">
                <a:ea typeface="宋体" panose="02010600030101010101" pitchFamily="2" charset="-122"/>
              </a:rPr>
              <a:t>k</a:t>
            </a:r>
            <a:r>
              <a:rPr lang="en-US" altLang="zh-CN" sz="1800" b="1" dirty="0">
                <a:ea typeface="宋体" panose="02010600030101010101" pitchFamily="2" charset="-122"/>
              </a:rPr>
              <a:t>) do</a:t>
            </a:r>
            <a:endParaRPr lang="en-US" altLang="zh-CN"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	 for i := 1 to k do</a:t>
            </a:r>
            <a:endParaRPr lang="en-US" altLang="zh-CN" sz="1800" b="1" dirty="0">
              <a:ea typeface="宋体" panose="02010600030101010101" pitchFamily="2" charset="-122"/>
            </a:endParaRPr>
          </a:p>
          <a:p>
            <a:pPr marL="1752600" lvl="3" indent="-381000">
              <a:buFont typeface="Wingdings" panose="05000000000000000000" pitchFamily="2" charset="2"/>
              <a:buNone/>
            </a:pPr>
            <a:r>
              <a:rPr lang="en-US" altLang="zh-CN" sz="1800" b="1" dirty="0">
                <a:ea typeface="宋体" panose="02010600030101010101" pitchFamily="2" charset="-122"/>
              </a:rPr>
              <a:t>	    </a:t>
            </a:r>
            <a:r>
              <a:rPr lang="zh-CN" altLang="en-US" sz="1800" b="1" dirty="0">
                <a:ea typeface="宋体" panose="02010600030101010101" pitchFamily="2" charset="-122"/>
              </a:rPr>
              <a:t>从</a:t>
            </a:r>
            <a:r>
              <a:rPr lang="en-US" altLang="zh-CN" sz="1800" b="1" dirty="0">
                <a:ea typeface="宋体" panose="02010600030101010101" pitchFamily="2" charset="-122"/>
              </a:rPr>
              <a:t>c</a:t>
            </a:r>
            <a:r>
              <a:rPr lang="en-US" altLang="zh-CN" sz="1800" b="1" baseline="-25000" dirty="0">
                <a:ea typeface="宋体" panose="02010600030101010101" pitchFamily="2" charset="-122"/>
              </a:rPr>
              <a:t>i</a:t>
            </a:r>
            <a:r>
              <a:rPr lang="zh-CN" altLang="en-US" sz="1800" b="1" dirty="0">
                <a:ea typeface="宋体" panose="02010600030101010101" pitchFamily="2" charset="-122"/>
              </a:rPr>
              <a:t>的结点到</a:t>
            </a:r>
            <a:r>
              <a:rPr lang="en-US" altLang="zh-CN" sz="1800" b="1" dirty="0">
                <a:ea typeface="宋体" panose="02010600030101010101" pitchFamily="2" charset="-122"/>
              </a:rPr>
              <a:t>b</a:t>
            </a:r>
            <a:r>
              <a:rPr lang="zh-CN" altLang="en-US" sz="1800" b="1" dirty="0">
                <a:ea typeface="宋体" panose="02010600030101010101" pitchFamily="2" charset="-122"/>
              </a:rPr>
              <a:t>的结点构造一条边</a:t>
            </a:r>
            <a:endParaRPr lang="zh-CN" altLang="en-US" sz="1800" b="1" dirty="0">
              <a:ea typeface="宋体" panose="02010600030101010101" pitchFamily="2" charset="-122"/>
            </a:endParaRPr>
          </a:p>
          <a:p>
            <a:pPr marL="1333500" lvl="2" indent="-419100">
              <a:buFont typeface="Wingdings" panose="05000000000000000000" pitchFamily="2" charset="2"/>
              <a:buNone/>
            </a:pPr>
            <a:endParaRPr lang="zh-CN" altLang="en-US" sz="2000" b="1" dirty="0">
              <a:ea typeface="宋体" panose="02010600030101010101" pitchFamily="2" charset="-122"/>
            </a:endParaRPr>
          </a:p>
          <a:p>
            <a:pPr marL="1333500" lvl="2" indent="-419100">
              <a:buFont typeface="Wingdings" panose="05000000000000000000" pitchFamily="2" charset="2"/>
              <a:buNone/>
            </a:pPr>
            <a:r>
              <a:rPr lang="zh-CN" altLang="en-US" sz="2000" b="1" dirty="0">
                <a:ea typeface="宋体" panose="02010600030101010101" pitchFamily="2" charset="-122"/>
              </a:rPr>
              <a:t>考虑产生式</a:t>
            </a:r>
            <a:r>
              <a:rPr lang="en-US" altLang="zh-CN" sz="2000" b="1" dirty="0">
                <a:ea typeface="宋体" panose="02010600030101010101" pitchFamily="2" charset="-122"/>
              </a:rPr>
              <a:t>A→XY</a:t>
            </a:r>
            <a:r>
              <a:rPr lang="zh-CN" altLang="en-US" sz="2000" b="1" dirty="0">
                <a:ea typeface="宋体" panose="02010600030101010101" pitchFamily="2" charset="-122"/>
              </a:rPr>
              <a:t>的语义规则：</a:t>
            </a:r>
            <a:endParaRPr lang="zh-CN" altLang="en-US" sz="2000" b="1" dirty="0">
              <a:ea typeface="宋体" panose="02010600030101010101" pitchFamily="2" charset="-122"/>
            </a:endParaRPr>
          </a:p>
          <a:p>
            <a:pPr marL="1333500" lvl="2" indent="-419100">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A.a := f(X.x , Y.y)，A.a</a:t>
            </a:r>
            <a:r>
              <a:rPr lang="zh-CN" altLang="en-US" sz="2000" b="1" dirty="0">
                <a:ea typeface="宋体" panose="02010600030101010101" pitchFamily="2" charset="-122"/>
              </a:rPr>
              <a:t>是依赖于属性</a:t>
            </a:r>
            <a:r>
              <a:rPr lang="en-US" altLang="zh-CN" sz="2000" b="1" dirty="0">
                <a:ea typeface="宋体" panose="02010600030101010101" pitchFamily="2" charset="-122"/>
              </a:rPr>
              <a:t>X.x</a:t>
            </a:r>
            <a:r>
              <a:rPr lang="zh-CN" altLang="en-US" sz="2000" b="1" dirty="0">
                <a:ea typeface="宋体" panose="02010600030101010101" pitchFamily="2" charset="-122"/>
              </a:rPr>
              <a:t>和</a:t>
            </a:r>
            <a:r>
              <a:rPr lang="en-US" altLang="zh-CN" sz="2000" b="1" dirty="0">
                <a:ea typeface="宋体" panose="02010600030101010101" pitchFamily="2" charset="-122"/>
              </a:rPr>
              <a:t>Y.y</a:t>
            </a:r>
            <a:r>
              <a:rPr lang="zh-CN" altLang="en-US" sz="2000" b="1" dirty="0">
                <a:ea typeface="宋体" panose="02010600030101010101" pitchFamily="2" charset="-122"/>
              </a:rPr>
              <a:t>的综合属性，因此从</a:t>
            </a:r>
            <a:r>
              <a:rPr lang="en-US" altLang="zh-CN" sz="2000" b="1" dirty="0">
                <a:ea typeface="宋体" panose="02010600030101010101" pitchFamily="2" charset="-122"/>
              </a:rPr>
              <a:t>X.x</a:t>
            </a:r>
            <a:r>
              <a:rPr lang="zh-CN" altLang="en-US" sz="2000" b="1" dirty="0">
                <a:ea typeface="宋体" panose="02010600030101010101" pitchFamily="2" charset="-122"/>
              </a:rPr>
              <a:t>到</a:t>
            </a:r>
            <a:r>
              <a:rPr lang="en-US" altLang="zh-CN" sz="2000" b="1" dirty="0">
                <a:ea typeface="宋体" panose="02010600030101010101" pitchFamily="2" charset="-122"/>
              </a:rPr>
              <a:t>A.a</a:t>
            </a:r>
            <a:r>
              <a:rPr lang="zh-CN" altLang="en-US" sz="2000" b="1" dirty="0">
                <a:ea typeface="宋体" panose="02010600030101010101" pitchFamily="2" charset="-122"/>
              </a:rPr>
              <a:t>和从</a:t>
            </a:r>
            <a:r>
              <a:rPr lang="en-US" altLang="zh-CN" sz="2000" b="1" dirty="0">
                <a:ea typeface="宋体" panose="02010600030101010101" pitchFamily="2" charset="-122"/>
              </a:rPr>
              <a:t>Y.y</a:t>
            </a:r>
            <a:r>
              <a:rPr lang="zh-CN" altLang="en-US" sz="2000" b="1" dirty="0">
                <a:ea typeface="宋体" panose="02010600030101010101" pitchFamily="2" charset="-122"/>
              </a:rPr>
              <a:t>到</a:t>
            </a:r>
            <a:r>
              <a:rPr lang="en-US" altLang="zh-CN" sz="2000" b="1" dirty="0">
                <a:ea typeface="宋体" panose="02010600030101010101" pitchFamily="2" charset="-122"/>
              </a:rPr>
              <a:t>A.a</a:t>
            </a:r>
            <a:r>
              <a:rPr lang="zh-CN" altLang="en-US" sz="2000" b="1" dirty="0">
                <a:ea typeface="宋体" panose="02010600030101010101" pitchFamily="2" charset="-122"/>
              </a:rPr>
              <a:t>都有边</a:t>
            </a:r>
            <a:endParaRPr lang="zh-CN" altLang="en-US" sz="2000" b="1" dirty="0">
              <a:ea typeface="宋体" panose="02010600030101010101" pitchFamily="2" charset="-122"/>
            </a:endParaRPr>
          </a:p>
          <a:p>
            <a:pPr marL="1333500" lvl="2" indent="-419100">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X.i := g(A.a , Y.y)，X.i</a:t>
            </a:r>
            <a:r>
              <a:rPr lang="zh-CN" altLang="en-US" sz="2000" b="1" dirty="0">
                <a:ea typeface="宋体" panose="02010600030101010101" pitchFamily="2" charset="-122"/>
              </a:rPr>
              <a:t>是依赖于属性</a:t>
            </a:r>
            <a:r>
              <a:rPr lang="en-US" altLang="zh-CN" sz="2000" b="1" dirty="0">
                <a:ea typeface="宋体" panose="02010600030101010101" pitchFamily="2" charset="-122"/>
              </a:rPr>
              <a:t>A.a</a:t>
            </a:r>
            <a:r>
              <a:rPr lang="zh-CN" altLang="en-US" sz="2000" b="1" dirty="0">
                <a:ea typeface="宋体" panose="02010600030101010101" pitchFamily="2" charset="-122"/>
              </a:rPr>
              <a:t>和</a:t>
            </a:r>
            <a:r>
              <a:rPr lang="en-US" altLang="zh-CN" sz="2000" b="1" dirty="0">
                <a:ea typeface="宋体" panose="02010600030101010101" pitchFamily="2" charset="-122"/>
              </a:rPr>
              <a:t>Y.y</a:t>
            </a:r>
            <a:r>
              <a:rPr lang="zh-CN" altLang="en-US" sz="2000" b="1" dirty="0">
                <a:ea typeface="宋体" panose="02010600030101010101" pitchFamily="2" charset="-122"/>
              </a:rPr>
              <a:t>的继承属性，因此从</a:t>
            </a:r>
            <a:r>
              <a:rPr lang="en-US" altLang="zh-CN" sz="2000" b="1" dirty="0">
                <a:ea typeface="宋体" panose="02010600030101010101" pitchFamily="2" charset="-122"/>
              </a:rPr>
              <a:t>A.a</a:t>
            </a:r>
            <a:r>
              <a:rPr lang="zh-CN" altLang="en-US" sz="2000" b="1" dirty="0">
                <a:ea typeface="宋体" panose="02010600030101010101" pitchFamily="2" charset="-122"/>
              </a:rPr>
              <a:t>到</a:t>
            </a:r>
            <a:r>
              <a:rPr lang="en-US" altLang="zh-CN" sz="2000" b="1" dirty="0">
                <a:ea typeface="宋体" panose="02010600030101010101" pitchFamily="2" charset="-122"/>
              </a:rPr>
              <a:t>X.i</a:t>
            </a:r>
            <a:r>
              <a:rPr lang="zh-CN" altLang="en-US" sz="2000" b="1" dirty="0">
                <a:ea typeface="宋体" panose="02010600030101010101" pitchFamily="2" charset="-122"/>
              </a:rPr>
              <a:t>和从</a:t>
            </a:r>
            <a:r>
              <a:rPr lang="en-US" altLang="zh-CN" sz="2000" b="1" dirty="0">
                <a:ea typeface="宋体" panose="02010600030101010101" pitchFamily="2" charset="-122"/>
              </a:rPr>
              <a:t>Y.y</a:t>
            </a:r>
            <a:r>
              <a:rPr lang="zh-CN" altLang="en-US" sz="2000" b="1" dirty="0">
                <a:ea typeface="宋体" panose="02010600030101010101" pitchFamily="2" charset="-122"/>
              </a:rPr>
              <a:t>到</a:t>
            </a:r>
            <a:r>
              <a:rPr lang="en-US" altLang="zh-CN" sz="2000" b="1" dirty="0">
                <a:ea typeface="宋体" panose="02010600030101010101" pitchFamily="2" charset="-122"/>
              </a:rPr>
              <a:t>X.i</a:t>
            </a:r>
            <a:r>
              <a:rPr lang="zh-CN" altLang="en-US" sz="2000" b="1" dirty="0">
                <a:ea typeface="宋体" panose="02010600030101010101" pitchFamily="2" charset="-122"/>
              </a:rPr>
              <a:t>都有边</a:t>
            </a:r>
            <a:endParaRPr lang="zh-CN" altLang="en-US" sz="2000" b="1" dirty="0">
              <a:ea typeface="宋体" panose="02010600030101010101" pitchFamily="2" charset="-122"/>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pic>
        <p:nvPicPr>
          <p:cNvPr id="40963" name="Picture 3"/>
          <p:cNvPicPr>
            <a:picLocks noChangeAspect="1"/>
          </p:cNvPicPr>
          <p:nvPr/>
        </p:nvPicPr>
        <p:blipFill>
          <a:blip r:embed="rId1"/>
          <a:stretch>
            <a:fillRect/>
          </a:stretch>
        </p:blipFill>
        <p:spPr>
          <a:xfrm>
            <a:off x="762000" y="2349500"/>
            <a:ext cx="7597775" cy="4117975"/>
          </a:xfrm>
          <a:prstGeom prst="rect">
            <a:avLst/>
          </a:prstGeom>
          <a:noFill/>
          <a:ln w="9525">
            <a:noFill/>
          </a:ln>
        </p:spPr>
      </p:pic>
      <p:sp>
        <p:nvSpPr>
          <p:cNvPr id="5" name="Rectangle 3"/>
          <p:cNvSpPr txBox="1">
            <a:spLocks noChangeArrowheads="1"/>
          </p:cNvSpPr>
          <p:nvPr/>
        </p:nvSpPr>
        <p:spPr bwMode="auto">
          <a:xfrm>
            <a:off x="990600" y="1524000"/>
            <a:ext cx="7391400" cy="48006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1333500" marR="0" lvl="2" indent="-4191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对应于图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5-5</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中的注释语法分析树的依赖图</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3011" name="Rectangle 3"/>
          <p:cNvSpPr>
            <a:spLocks noGrp="1" noChangeArrowheads="1"/>
          </p:cNvSpPr>
          <p:nvPr>
            <p:ph idx="1"/>
          </p:nvPr>
        </p:nvSpPr>
        <p:spPr>
          <a:xfrm>
            <a:off x="990600" y="1524000"/>
            <a:ext cx="7391400"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属性求值的顺序</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语义规则的计算必须满足依赖图的依赖关系</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对于无环有向图（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DAG），</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可以用拓扑排序决定计算次序</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依赖图的任何拓扑排序是分析树中结点语义规则计算个一个正确次序：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 := f(c</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c</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rPr>
              <a:t>k</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时，属性</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c</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rPr>
              <a:t>k</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已经可用</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125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0"/>
              </a:spcBef>
              <a:spcAft>
                <a:spcPct val="0"/>
              </a:spcAft>
              <a:buClr>
                <a:srgbClr val="063DE8"/>
              </a:buClr>
              <a:buSzPct val="125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5-7</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的计算次序可以是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9</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，也可以是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6</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7</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9</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如何定义适于语法制导翻译的属性文法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对于给定的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，难以判定其依赖图是否有环</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某些特定类型的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可以确定是无环的</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属性定义，适应于自底向上的过程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属性定义，适应于自顶向下的过程</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3011" name="Rectangle 3"/>
          <p:cNvSpPr>
            <a:spLocks noGrp="1" noChangeArrowheads="1"/>
          </p:cNvSpPr>
          <p:nvPr>
            <p:ph idx="1"/>
          </p:nvPr>
        </p:nvSpPr>
        <p:spPr>
          <a:xfrm>
            <a:off x="827088" y="1524000"/>
            <a:ext cx="7631113"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如果一个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的每个属性都是综合属性，它就是</a:t>
            </a:r>
            <a:r>
              <a:rPr kumimoji="0" lang="en-US" altLang="zh-CN"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rPr>
              <a:t>S</a:t>
            </a:r>
            <a:r>
              <a:rPr kumimoji="0" lang="zh-CN" altLang="en-US"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rPr>
              <a:t>属性的</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属性定义</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33450" marR="0" lvl="1" indent="-4191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属性定义可以按照任何自底向上的顺序计算其各个属性值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后序遍历，在最后一次离开某个结点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时计算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的各个属性值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postorder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N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for (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从左边开始，对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的每个子结点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postorder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C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关联的各个属性求值</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5.4.2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节的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分析过程结合，实现综合属性求值工作，在此过程中，属性值可以存放在分析栈中，而不用现实创建语法分析树的结点</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3011" name="Rectangle 3"/>
          <p:cNvSpPr>
            <a:spLocks noGrp="1" noChangeArrowheads="1"/>
          </p:cNvSpPr>
          <p:nvPr>
            <p:ph idx="1"/>
          </p:nvPr>
        </p:nvSpPr>
        <p:spPr>
          <a:xfrm>
            <a:off x="827088" y="1524000"/>
            <a:ext cx="7631113"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如果一个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中，产生式关联的的每个属性间，依赖图的边总是从左到右，它就是</a:t>
            </a:r>
            <a:r>
              <a:rPr kumimoji="0" lang="en-US" altLang="zh-CN"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rPr>
              <a:t>L</a:t>
            </a:r>
            <a:r>
              <a:rPr kumimoji="0" lang="zh-CN" altLang="en-US"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rPr>
              <a:t>属性的</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endParaRPr>
          </a:p>
          <a:p>
            <a:pPr marL="933450" marR="0" lvl="1" indent="-4191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严格定义：如果一个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的每个属性满足如下约束，则这个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rPr>
              <a:t>L</a:t>
            </a:r>
            <a:r>
              <a:rPr kumimoji="0" lang="zh-CN" altLang="en-US"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rPr>
              <a:t>属性定义</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2" indent="-457200" algn="l" defTabSz="914400" rtl="0" eaLnBrk="0" fontAlgn="base" latinLnBrk="0" hangingPunct="0">
              <a:lnSpc>
                <a:spcPct val="90000"/>
              </a:lnSpc>
              <a:spcBef>
                <a:spcPct val="20000"/>
              </a:spcBef>
              <a:spcAft>
                <a:spcPct val="0"/>
              </a:spcAft>
              <a:buClr>
                <a:srgbClr val="063DE8"/>
              </a:buClr>
              <a:buSzPct val="125000"/>
              <a:buFont typeface="+mj-lt"/>
              <a:buAutoNum type="alphaLcParen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这个属性是综合属性，或者</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2" indent="-457200" algn="l" defTabSz="914400" rtl="0" eaLnBrk="0" fontAlgn="base" latinLnBrk="0" hangingPunct="0">
              <a:lnSpc>
                <a:spcPct val="90000"/>
              </a:lnSpc>
              <a:spcBef>
                <a:spcPct val="20000"/>
              </a:spcBef>
              <a:spcAft>
                <a:spcPct val="0"/>
              </a:spcAft>
              <a:buClr>
                <a:srgbClr val="063DE8"/>
              </a:buClr>
              <a:buSzPct val="125000"/>
              <a:buFont typeface="+mj-lt"/>
              <a:buAutoNum type="alphaLcParen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这个属性是继承属性，但是它的规则具有如下限制，即假设存在一个产生式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，有一个通过这个产生式所关联的规则计算得到的继承属性</a:t>
            </a:r>
            <a:r>
              <a:rPr kumimoji="0" lang="en-US" altLang="zh-CN" sz="2000" b="1" i="1" u="none" strike="noStrike" kern="0" cap="none" spc="0" normalizeH="0" baseline="0" noProof="0" dirty="0" err="1">
                <a:ln>
                  <a:noFill/>
                </a:ln>
                <a:solidFill>
                  <a:schemeClr val="tx1"/>
                </a:solidFill>
                <a:effectLst/>
                <a:uLnTx/>
                <a:uFillTx/>
                <a:latin typeface="+mn-lt"/>
                <a:ea typeface="宋体" panose="02010600030101010101" pitchFamily="2" charset="-122"/>
              </a:rPr>
              <a:t>X</a:t>
            </a:r>
            <a:r>
              <a:rPr kumimoji="0" lang="en-US" altLang="zh-CN" sz="2000" b="1" i="1" u="none" strike="noStrike" kern="0" cap="none" spc="0" normalizeH="0" baseline="-25000" noProof="0" dirty="0" err="1">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，则这个规则只能用：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和产生式左部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关联的继承属性</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位于</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左边的文法符号实例</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i-1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相关的继承属性或综合属性</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和这个</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的实例本身相关的继承属性或综合属性，但是在有这个</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的局部属性组成的依赖图中不存在环</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4" name="Picture 2"/>
          <p:cNvPicPr>
            <a:picLocks noChangeAspect="1"/>
          </p:cNvPicPr>
          <p:nvPr/>
        </p:nvPicPr>
        <p:blipFill>
          <a:blip r:embed="rId1"/>
          <a:stretch>
            <a:fillRect/>
          </a:stretch>
        </p:blipFill>
        <p:spPr>
          <a:xfrm>
            <a:off x="4643438" y="1744663"/>
            <a:ext cx="4141787" cy="4359275"/>
          </a:xfrm>
          <a:prstGeom prst="rect">
            <a:avLst/>
          </a:prstGeom>
          <a:noFill/>
          <a:ln w="9525">
            <a:noFill/>
          </a:ln>
        </p:spPr>
      </p:pic>
      <p:sp>
        <p:nvSpPr>
          <p:cNvPr id="49155"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3011" name="Rectangle 3"/>
          <p:cNvSpPr>
            <a:spLocks noGrp="1" noChangeArrowheads="1"/>
          </p:cNvSpPr>
          <p:nvPr>
            <p:ph idx="1"/>
          </p:nvPr>
        </p:nvSpPr>
        <p:spPr>
          <a:xfrm>
            <a:off x="827088" y="1524000"/>
            <a:ext cx="4249738"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属性定义的例子</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5-4</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属性的</a:t>
            </a:r>
            <a:endParaRPr kumimoji="0" lang="zh-CN" altLang="en-US" sz="22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计算时用到的信息来自于上边或左边结点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非</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属性定义的例子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7150" marR="0" lvl="0"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715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产生式</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语义规则</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715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	A.s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B.b</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715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1203" name="Rectangle 3"/>
          <p:cNvSpPr>
            <a:spLocks noGrp="1"/>
          </p:cNvSpPr>
          <p:nvPr>
            <p:ph idx="1"/>
          </p:nvPr>
        </p:nvSpPr>
        <p:spPr>
          <a:xfrm>
            <a:off x="827088" y="1524000"/>
            <a:ext cx="7631112" cy="4800600"/>
          </a:xfrm>
        </p:spPr>
        <p:txBody>
          <a:bodyPr vert="horz" wrap="square" lIns="92075" tIns="46038" rIns="92075" bIns="46038" anchor="t" anchorCtr="0"/>
          <a:p>
            <a:pPr marL="495300" indent="-495300">
              <a:lnSpc>
                <a:spcPct val="90000"/>
              </a:lnSpc>
            </a:pPr>
            <a:r>
              <a:rPr lang="zh-CN" altLang="en-US" sz="2400" b="1" dirty="0">
                <a:ea typeface="宋体" panose="02010600030101010101" pitchFamily="2" charset="-122"/>
              </a:rPr>
              <a:t>具有受控副作用的语义规则</a:t>
            </a:r>
            <a:endParaRPr lang="en-US" altLang="zh-CN" sz="2400" b="1" dirty="0">
              <a:ea typeface="宋体" panose="02010600030101010101" pitchFamily="2" charset="-122"/>
            </a:endParaRPr>
          </a:p>
          <a:p>
            <a:pPr marL="895350" lvl="1" indent="-495300">
              <a:lnSpc>
                <a:spcPct val="90000"/>
              </a:lnSpc>
            </a:pPr>
            <a:r>
              <a:rPr lang="zh-CN" altLang="en-US" sz="2200" b="1" dirty="0">
                <a:ea typeface="宋体" panose="02010600030101010101" pitchFamily="2" charset="-122"/>
              </a:rPr>
              <a:t>在某些时刻，翻译过程的副作用是需要的</a:t>
            </a:r>
            <a:endParaRPr lang="en-US" altLang="zh-CN" sz="2200" b="1" dirty="0">
              <a:ea typeface="宋体" panose="02010600030101010101" pitchFamily="2" charset="-122"/>
            </a:endParaRPr>
          </a:p>
          <a:p>
            <a:pPr marL="1295400" lvl="2" indent="-495300">
              <a:lnSpc>
                <a:spcPct val="90000"/>
              </a:lnSpc>
            </a:pPr>
            <a:r>
              <a:rPr lang="zh-CN" altLang="en-US" sz="2000" b="1" dirty="0">
                <a:ea typeface="宋体" panose="02010600030101010101" pitchFamily="2" charset="-122"/>
              </a:rPr>
              <a:t>打印计算器的结果</a:t>
            </a:r>
            <a:endParaRPr lang="en-US" altLang="zh-CN" sz="2000" b="1" dirty="0">
              <a:ea typeface="宋体" panose="02010600030101010101" pitchFamily="2" charset="-122"/>
            </a:endParaRPr>
          </a:p>
          <a:p>
            <a:pPr marL="1295400" lvl="2" indent="-495300">
              <a:lnSpc>
                <a:spcPct val="90000"/>
              </a:lnSpc>
            </a:pPr>
            <a:r>
              <a:rPr lang="zh-CN" altLang="en-US" sz="2000" b="1" dirty="0">
                <a:ea typeface="宋体" panose="02010600030101010101" pitchFamily="2" charset="-122"/>
              </a:rPr>
              <a:t>在语法树</a:t>
            </a:r>
            <a:r>
              <a:rPr lang="en-US" altLang="zh-CN" sz="2000" b="1" dirty="0">
                <a:ea typeface="宋体" panose="02010600030101010101" pitchFamily="2" charset="-122"/>
              </a:rPr>
              <a:t>/</a:t>
            </a:r>
            <a:r>
              <a:rPr lang="zh-CN" altLang="en-US" sz="2000" b="1" dirty="0">
                <a:ea typeface="宋体" panose="02010600030101010101" pitchFamily="2" charset="-122"/>
              </a:rPr>
              <a:t>符号表中标记相关对象的类型</a:t>
            </a:r>
            <a:endParaRPr lang="en-US" altLang="zh-CN" sz="2000" b="1" dirty="0">
              <a:ea typeface="宋体" panose="02010600030101010101" pitchFamily="2" charset="-122"/>
            </a:endParaRPr>
          </a:p>
          <a:p>
            <a:pPr marL="1295400" lvl="2" indent="-495300">
              <a:lnSpc>
                <a:spcPct val="90000"/>
              </a:lnSpc>
            </a:pPr>
            <a:r>
              <a:rPr lang="en-US" altLang="zh-CN" sz="2000" b="1" dirty="0">
                <a:ea typeface="宋体" panose="02010600030101010101" pitchFamily="2" charset="-122"/>
              </a:rPr>
              <a:t>…</a:t>
            </a:r>
            <a:endParaRPr lang="en-US" altLang="zh-CN" sz="2000" b="1" dirty="0">
              <a:ea typeface="宋体" panose="02010600030101010101" pitchFamily="2" charset="-122"/>
            </a:endParaRPr>
          </a:p>
          <a:p>
            <a:pPr marL="895350" lvl="1" indent="-495300">
              <a:lnSpc>
                <a:spcPct val="90000"/>
              </a:lnSpc>
            </a:pPr>
            <a:r>
              <a:rPr lang="zh-CN" altLang="en-US" sz="2200" b="1" dirty="0">
                <a:ea typeface="宋体" panose="02010600030101010101" pitchFamily="2" charset="-122"/>
              </a:rPr>
              <a:t>是否可以出现副作用要认真考虑</a:t>
            </a:r>
            <a:endParaRPr lang="en-US" altLang="zh-CN" sz="2200" b="1" dirty="0">
              <a:ea typeface="宋体" panose="02010600030101010101" pitchFamily="2" charset="-122"/>
            </a:endParaRPr>
          </a:p>
          <a:p>
            <a:pPr marL="1295400" lvl="2" indent="-495300">
              <a:lnSpc>
                <a:spcPct val="90000"/>
              </a:lnSpc>
            </a:pPr>
            <a:r>
              <a:rPr lang="zh-CN" altLang="en-US" sz="2000" b="1" dirty="0">
                <a:ea typeface="宋体" panose="02010600030101010101" pitchFamily="2" charset="-122"/>
              </a:rPr>
              <a:t>属性文法</a:t>
            </a:r>
            <a:endParaRPr lang="en-US" altLang="zh-CN" sz="2000" b="1" dirty="0">
              <a:ea typeface="宋体" panose="02010600030101010101" pitchFamily="2" charset="-122"/>
            </a:endParaRPr>
          </a:p>
          <a:p>
            <a:pPr marL="1752600" lvl="3" indent="-495300">
              <a:lnSpc>
                <a:spcPct val="90000"/>
              </a:lnSpc>
            </a:pPr>
            <a:r>
              <a:rPr lang="zh-CN" altLang="en-US" sz="1800" b="1" dirty="0">
                <a:ea typeface="宋体" panose="02010600030101010101" pitchFamily="2" charset="-122"/>
              </a:rPr>
              <a:t>没有副作用</a:t>
            </a:r>
            <a:endParaRPr lang="en-US" altLang="zh-CN" sz="1800" b="1" dirty="0">
              <a:ea typeface="宋体" panose="02010600030101010101" pitchFamily="2" charset="-122"/>
            </a:endParaRPr>
          </a:p>
          <a:p>
            <a:pPr marL="1752600" lvl="3" indent="-495300">
              <a:lnSpc>
                <a:spcPct val="90000"/>
              </a:lnSpc>
            </a:pPr>
            <a:r>
              <a:rPr lang="zh-CN" altLang="en-US" sz="1800" b="1" dirty="0">
                <a:ea typeface="宋体" panose="02010600030101010101" pitchFamily="2" charset="-122"/>
              </a:rPr>
              <a:t>支持任何与依赖图一致的求值顺序</a:t>
            </a:r>
            <a:endParaRPr lang="en-US" altLang="zh-CN" sz="1800" b="1" dirty="0">
              <a:ea typeface="宋体" panose="02010600030101010101" pitchFamily="2" charset="-122"/>
            </a:endParaRPr>
          </a:p>
          <a:p>
            <a:pPr marL="1295400" lvl="2" indent="-495300">
              <a:lnSpc>
                <a:spcPct val="90000"/>
              </a:lnSpc>
            </a:pPr>
            <a:r>
              <a:rPr lang="zh-CN" altLang="en-US" sz="2000" b="1" dirty="0">
                <a:ea typeface="宋体" panose="02010600030101010101" pitchFamily="2" charset="-122"/>
              </a:rPr>
              <a:t>翻译方案</a:t>
            </a:r>
            <a:endParaRPr lang="en-US" altLang="zh-CN" sz="2000" b="1" dirty="0">
              <a:ea typeface="宋体" panose="02010600030101010101" pitchFamily="2" charset="-122"/>
            </a:endParaRPr>
          </a:p>
          <a:p>
            <a:pPr marL="1752600" lvl="3" indent="-495300">
              <a:lnSpc>
                <a:spcPct val="90000"/>
              </a:lnSpc>
            </a:pPr>
            <a:r>
              <a:rPr lang="zh-CN" altLang="en-US" sz="1800" b="1" dirty="0">
                <a:ea typeface="宋体" panose="02010600030101010101" pitchFamily="2" charset="-122"/>
              </a:rPr>
              <a:t>从左到右求值</a:t>
            </a:r>
            <a:endParaRPr lang="en-US" altLang="zh-CN" sz="1800" b="1" dirty="0">
              <a:ea typeface="宋体" panose="02010600030101010101" pitchFamily="2" charset="-122"/>
            </a:endParaRPr>
          </a:p>
          <a:p>
            <a:pPr marL="1752600" lvl="3" indent="-495300">
              <a:lnSpc>
                <a:spcPct val="90000"/>
              </a:lnSpc>
            </a:pPr>
            <a:r>
              <a:rPr lang="zh-CN" altLang="en-US" sz="1800" b="1" dirty="0">
                <a:ea typeface="宋体" panose="02010600030101010101" pitchFamily="2" charset="-122"/>
              </a:rPr>
              <a:t>允许语义动作包括任何程序片段</a:t>
            </a:r>
            <a:endParaRPr lang="zh-CN" altLang="en-US" sz="1800" b="1" dirty="0">
              <a:ea typeface="宋体" panose="0201060003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3251" name="Rectangle 3"/>
          <p:cNvSpPr>
            <a:spLocks noGrp="1" noChangeArrowheads="1"/>
          </p:cNvSpPr>
          <p:nvPr>
            <p:ph idx="1"/>
          </p:nvPr>
        </p:nvSpPr>
        <p:spPr>
          <a:xfrm>
            <a:off x="827088" y="1524000"/>
            <a:ext cx="7631113"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具有受控副作用的语义规则（续）</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采用下面的方法之一控制</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中的副作用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支持不会对属性求值产生约束的附带副作用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不影响属性求值的顺序，只要这个顺序满足依赖图的拓扑序即可（这个要求是属性求值的固有要求）</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对允许的求值顺序添加约束，使得以任何允许的顺序求值都会产生相同的翻译结果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这些约束将被看作是依赖图中隐式的边</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计算器的例子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修改图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的语义规则，使之可以打印结果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将第一行的语义规则修改，使之可以在任何合法拓扑序下正确打印结果</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14500" marR="0" lvl="4"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产生式</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语义规则</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原规则：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L→En</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L.val</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E.val</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修改后：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L→En</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printf</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E.val</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的求值顺序（</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5299" name="Rectangle 3"/>
          <p:cNvSpPr>
            <a:spLocks noGrp="1"/>
          </p:cNvSpPr>
          <p:nvPr>
            <p:ph idx="1"/>
          </p:nvPr>
        </p:nvSpPr>
        <p:spPr>
          <a:xfrm>
            <a:off x="827088" y="1524000"/>
            <a:ext cx="2376487" cy="4800600"/>
          </a:xfrm>
        </p:spPr>
        <p:txBody>
          <a:bodyPr vert="horz" wrap="square" lIns="92075" tIns="46038" rIns="92075" bIns="46038" anchor="t" anchorCtr="0"/>
          <a:p>
            <a:pPr marL="495300" indent="-495300">
              <a:lnSpc>
                <a:spcPct val="90000"/>
              </a:lnSpc>
            </a:pPr>
            <a:r>
              <a:rPr lang="zh-CN" altLang="en-US" sz="2400" b="1" dirty="0">
                <a:ea typeface="宋体" panose="02010600030101010101" pitchFamily="2" charset="-122"/>
              </a:rPr>
              <a:t>利用副作用功能，标注类型的例子</a:t>
            </a:r>
            <a:endParaRPr lang="en-US" altLang="zh-CN" sz="2400" b="1" dirty="0">
              <a:ea typeface="宋体" panose="02010600030101010101" pitchFamily="2" charset="-122"/>
            </a:endParaRPr>
          </a:p>
          <a:p>
            <a:pPr marL="895350" lvl="1" indent="-495300">
              <a:lnSpc>
                <a:spcPct val="90000"/>
              </a:lnSpc>
            </a:pPr>
            <a:r>
              <a:rPr lang="zh-CN" altLang="en-US" sz="2200" b="1" dirty="0">
                <a:ea typeface="宋体" panose="02010600030101010101" pitchFamily="2" charset="-122"/>
              </a:rPr>
              <a:t>用到了继承属性</a:t>
            </a:r>
            <a:endParaRPr lang="en-US" altLang="zh-CN" sz="2200" b="1" dirty="0">
              <a:ea typeface="宋体" panose="02010600030101010101" pitchFamily="2" charset="-122"/>
            </a:endParaRPr>
          </a:p>
          <a:p>
            <a:pPr marL="895350" lvl="1" indent="-495300">
              <a:lnSpc>
                <a:spcPct val="90000"/>
              </a:lnSpc>
            </a:pPr>
            <a:r>
              <a:rPr lang="zh-CN" altLang="en-US" sz="2200" b="1" dirty="0">
                <a:ea typeface="宋体" panose="02010600030101010101" pitchFamily="2" charset="-122"/>
              </a:rPr>
              <a:t>可以继续修改，增加对标识符声明次数的检查</a:t>
            </a:r>
            <a:endParaRPr lang="en-US" altLang="zh-CN" sz="2200" b="1" dirty="0">
              <a:ea typeface="宋体" panose="02010600030101010101" pitchFamily="2" charset="-122"/>
            </a:endParaRPr>
          </a:p>
        </p:txBody>
      </p:sp>
      <p:pic>
        <p:nvPicPr>
          <p:cNvPr id="55300" name="Picture 2"/>
          <p:cNvPicPr>
            <a:picLocks noChangeAspect="1"/>
          </p:cNvPicPr>
          <p:nvPr/>
        </p:nvPicPr>
        <p:blipFill>
          <a:blip r:embed="rId1"/>
          <a:stretch>
            <a:fillRect/>
          </a:stretch>
        </p:blipFill>
        <p:spPr>
          <a:xfrm>
            <a:off x="3127375" y="1074738"/>
            <a:ext cx="5788025" cy="2714625"/>
          </a:xfrm>
          <a:prstGeom prst="rect">
            <a:avLst/>
          </a:prstGeom>
          <a:noFill/>
          <a:ln w="9525">
            <a:noFill/>
          </a:ln>
        </p:spPr>
      </p:pic>
      <p:pic>
        <p:nvPicPr>
          <p:cNvPr id="55301" name="Picture 2"/>
          <p:cNvPicPr>
            <a:picLocks noChangeAspect="1"/>
          </p:cNvPicPr>
          <p:nvPr/>
        </p:nvPicPr>
        <p:blipFill>
          <a:blip r:embed="rId2"/>
          <a:stretch>
            <a:fillRect/>
          </a:stretch>
        </p:blipFill>
        <p:spPr>
          <a:xfrm>
            <a:off x="3632200" y="3789363"/>
            <a:ext cx="4778375" cy="2890837"/>
          </a:xfrm>
          <a:prstGeom prst="rect">
            <a:avLst/>
          </a:prstGeom>
          <a:noFill/>
          <a:ln w="9525">
            <a:noFill/>
          </a:ln>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第五章 语法制导的翻译</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noChangeArrowheads="1"/>
          </p:cNvSpPr>
          <p:nvPr>
            <p:ph idx="1"/>
          </p:nvPr>
        </p:nvSpPr>
        <p:spPr>
          <a:xfrm>
            <a:off x="990600" y="1600200"/>
            <a:ext cx="7391400" cy="4191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一些基础知识</a:t>
            </a:r>
            <a:endPar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语法制导定义</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SDD</a:t>
            </a: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的求值顺序</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语法制导翻译的应用</a:t>
            </a:r>
            <a:endPar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语法制导的翻译方案</a:t>
            </a: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实现</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属性的</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SDD</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9395" name="Rectangle 3"/>
          <p:cNvSpPr>
            <a:spLocks noGrp="1"/>
          </p:cNvSpPr>
          <p:nvPr>
            <p:ph idx="1"/>
          </p:nvPr>
        </p:nvSpPr>
        <p:spPr>
          <a:xfrm>
            <a:off x="990600" y="1524000"/>
            <a:ext cx="7391400" cy="4800600"/>
          </a:xfrm>
        </p:spPr>
        <p:txBody>
          <a:bodyPr vert="horz" wrap="square" lIns="92075" tIns="46038" rIns="92075" bIns="46038" anchor="t" anchorCtr="0"/>
          <a:p>
            <a:pPr marL="495300" indent="-495300"/>
            <a:r>
              <a:rPr lang="zh-CN" altLang="en-US" sz="2400" b="1" dirty="0">
                <a:ea typeface="宋体" panose="02010600030101010101" pitchFamily="2" charset="-122"/>
              </a:rPr>
              <a:t>本章介绍的技术可以应用于第六章中的类型检查和中间代码生成</a:t>
            </a:r>
            <a:endParaRPr lang="en-US" altLang="zh-CN" sz="2400" b="1" dirty="0">
              <a:ea typeface="宋体" panose="02010600030101010101" pitchFamily="2" charset="-122"/>
            </a:endParaRPr>
          </a:p>
          <a:p>
            <a:pPr marL="495300" indent="-495300"/>
            <a:r>
              <a:rPr lang="zh-CN" altLang="en-US" sz="2400" b="1" dirty="0">
                <a:ea typeface="宋体" panose="02010600030101010101" pitchFamily="2" charset="-122"/>
              </a:rPr>
              <a:t>本节以抽象语法树构造为例，说明语法制导翻译的应用</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介绍两种</a:t>
            </a:r>
            <a:r>
              <a:rPr lang="en-US" altLang="zh-CN" sz="2200" b="1" dirty="0">
                <a:ea typeface="宋体" panose="02010600030101010101" pitchFamily="2" charset="-122"/>
              </a:rPr>
              <a:t>SDD</a:t>
            </a:r>
            <a:endParaRPr lang="en-US" altLang="zh-CN" sz="2200" b="1" dirty="0">
              <a:ea typeface="宋体" panose="02010600030101010101" pitchFamily="2" charset="-122"/>
            </a:endParaRPr>
          </a:p>
          <a:p>
            <a:pPr marL="1295400" lvl="2" indent="-495300"/>
            <a:r>
              <a:rPr lang="en-US" altLang="zh-CN" sz="2000" b="1" dirty="0">
                <a:ea typeface="宋体" panose="02010600030101010101" pitchFamily="2" charset="-122"/>
              </a:rPr>
              <a:t>S</a:t>
            </a:r>
            <a:r>
              <a:rPr lang="zh-CN" altLang="en-US" sz="2000" b="1" dirty="0">
                <a:ea typeface="宋体" panose="02010600030101010101" pitchFamily="2" charset="-122"/>
              </a:rPr>
              <a:t>属性定义的，适合在自下而上分析过程中使用</a:t>
            </a:r>
            <a:endParaRPr lang="en-US" altLang="zh-CN" sz="2000" b="1" dirty="0">
              <a:ea typeface="宋体" panose="02010600030101010101" pitchFamily="2" charset="-122"/>
            </a:endParaRPr>
          </a:p>
          <a:p>
            <a:pPr marL="1295400" lvl="2" indent="-495300"/>
            <a:r>
              <a:rPr lang="en-US" altLang="zh-CN" sz="2000" b="1" dirty="0">
                <a:ea typeface="宋体" panose="02010600030101010101" pitchFamily="2" charset="-122"/>
              </a:rPr>
              <a:t>L</a:t>
            </a:r>
            <a:r>
              <a:rPr lang="zh-CN" altLang="en-US" sz="2000" b="1" dirty="0">
                <a:ea typeface="宋体" panose="02010600030101010101" pitchFamily="2" charset="-122"/>
              </a:rPr>
              <a:t>属性定义的，适合在自顶向下分析过程中使用</a:t>
            </a:r>
            <a:endParaRPr lang="en-US" altLang="zh-CN" sz="2000" b="1" dirty="0">
              <a:ea typeface="宋体" panose="02010600030101010101" pitchFamily="2" charset="-122"/>
            </a:endParaRPr>
          </a:p>
          <a:p>
            <a:pPr marL="495300" indent="-495300"/>
            <a:r>
              <a:rPr lang="zh-CN" altLang="en-US" sz="2400" b="1" dirty="0">
                <a:ea typeface="宋体" panose="02010600030101010101" pitchFamily="2" charset="-122"/>
              </a:rPr>
              <a:t>最后介绍处理基本类型和数组类型的</a:t>
            </a:r>
            <a:r>
              <a:rPr lang="en-US" altLang="zh-CN" sz="2400" b="1" dirty="0">
                <a:ea typeface="宋体" panose="02010600030101010101" pitchFamily="2" charset="-122"/>
              </a:rPr>
              <a:t>L</a:t>
            </a:r>
            <a:r>
              <a:rPr lang="zh-CN" altLang="en-US" sz="2400" b="1" dirty="0">
                <a:ea typeface="宋体" panose="02010600030101010101" pitchFamily="2" charset="-122"/>
              </a:rPr>
              <a:t>属性定义</a:t>
            </a:r>
            <a:endParaRPr lang="zh-CN" altLang="en-US" sz="2400" b="1" dirty="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语法制导翻译的应用（2）</a:t>
            </a:r>
            <a:endParaRPr lang="zh-CN" altLang="en-US" dirty="0">
              <a:latin typeface="Times New Roman" panose="02020603050405020304" pitchFamily="18" charset="0"/>
              <a:ea typeface="宋体" panose="02010600030101010101" pitchFamily="2" charset="-122"/>
            </a:endParaRPr>
          </a:p>
        </p:txBody>
      </p:sp>
      <p:sp>
        <p:nvSpPr>
          <p:cNvPr id="61443" name="Rectangle 3"/>
          <p:cNvSpPr>
            <a:spLocks noGrp="1"/>
          </p:cNvSpPr>
          <p:nvPr>
            <p:ph idx="1"/>
          </p:nvPr>
        </p:nvSpPr>
        <p:spPr>
          <a:xfrm>
            <a:off x="990600" y="1524000"/>
            <a:ext cx="7391400" cy="4800600"/>
          </a:xfrm>
        </p:spPr>
        <p:txBody>
          <a:bodyPr vert="horz" wrap="square" lIns="92075" tIns="46038" rIns="92075" bIns="46038" anchor="t" anchorCtr="0"/>
          <a:p>
            <a:pPr marL="514350" indent="-457200">
              <a:lnSpc>
                <a:spcPct val="90000"/>
              </a:lnSpc>
            </a:pPr>
            <a:r>
              <a:rPr lang="zh-CN" altLang="en-US" sz="2400" b="1" dirty="0">
                <a:ea typeface="宋体" panose="02010600030101010101" pitchFamily="2" charset="-122"/>
              </a:rPr>
              <a:t>抽象语法树的构造</a:t>
            </a:r>
            <a:endParaRPr lang="zh-CN" altLang="en-US" sz="2400" b="1" dirty="0">
              <a:ea typeface="宋体" panose="02010600030101010101" pitchFamily="2" charset="-122"/>
            </a:endParaRPr>
          </a:p>
          <a:p>
            <a:pPr marL="933450" lvl="1" indent="-419100">
              <a:lnSpc>
                <a:spcPct val="90000"/>
              </a:lnSpc>
            </a:pPr>
            <a:r>
              <a:rPr lang="zh-CN" altLang="en-US" sz="2200" b="1" dirty="0">
                <a:ea typeface="宋体" panose="02010600030101010101" pitchFamily="2" charset="-122"/>
              </a:rPr>
              <a:t>构造过程</a:t>
            </a:r>
            <a:endParaRPr lang="zh-CN" altLang="en-US" sz="2200" b="1" dirty="0">
              <a:ea typeface="宋体" panose="02010600030101010101" pitchFamily="2" charset="-122"/>
            </a:endParaRPr>
          </a:p>
          <a:p>
            <a:pPr marL="1295400" lvl="2" indent="-381000">
              <a:lnSpc>
                <a:spcPct val="90000"/>
              </a:lnSpc>
            </a:pPr>
            <a:r>
              <a:rPr lang="zh-CN" altLang="en-US" sz="2000" b="1" dirty="0">
                <a:ea typeface="宋体" panose="02010600030101010101" pitchFamily="2" charset="-122"/>
              </a:rPr>
              <a:t>为每个算符和运算对象建立结点</a:t>
            </a:r>
            <a:endParaRPr lang="zh-CN" altLang="en-US" sz="2000" b="1" dirty="0">
              <a:ea typeface="宋体" panose="02010600030101010101" pitchFamily="2" charset="-122"/>
            </a:endParaRPr>
          </a:p>
          <a:p>
            <a:pPr marL="1295400" lvl="2" indent="-381000">
              <a:lnSpc>
                <a:spcPct val="90000"/>
              </a:lnSpc>
            </a:pPr>
            <a:r>
              <a:rPr lang="zh-CN" altLang="en-US" sz="2000" b="1" dirty="0">
                <a:ea typeface="宋体" panose="02010600030101010101" pitchFamily="2" charset="-122"/>
              </a:rPr>
              <a:t>为每个子表达式建立一棵子树</a:t>
            </a:r>
            <a:endParaRPr lang="zh-CN" altLang="en-US" sz="2000" b="1" dirty="0">
              <a:ea typeface="宋体" panose="02010600030101010101" pitchFamily="2" charset="-122"/>
            </a:endParaRPr>
          </a:p>
          <a:p>
            <a:pPr marL="1295400" lvl="2" indent="-381000">
              <a:lnSpc>
                <a:spcPct val="90000"/>
              </a:lnSpc>
            </a:pPr>
            <a:r>
              <a:rPr lang="zh-CN" altLang="en-US" sz="2000" b="1" dirty="0">
                <a:ea typeface="宋体" panose="02010600030101010101" pitchFamily="2" charset="-122"/>
              </a:rPr>
              <a:t>算符结点的下一代是代表该算符的运算对象的表达式树的根结点</a:t>
            </a:r>
            <a:endParaRPr lang="zh-CN" altLang="en-US" sz="2000" b="1" dirty="0">
              <a:ea typeface="宋体" panose="02010600030101010101" pitchFamily="2" charset="-122"/>
            </a:endParaRPr>
          </a:p>
          <a:p>
            <a:pPr marL="933450" lvl="1" indent="-419100">
              <a:lnSpc>
                <a:spcPct val="90000"/>
              </a:lnSpc>
            </a:pPr>
            <a:r>
              <a:rPr lang="zh-CN" altLang="en-US" sz="2200" b="1" dirty="0">
                <a:ea typeface="宋体" panose="02010600030101010101" pitchFamily="2" charset="-122"/>
              </a:rPr>
              <a:t>构造过程的实现</a:t>
            </a:r>
            <a:endParaRPr lang="zh-CN" altLang="en-US" sz="2200" b="1" dirty="0">
              <a:ea typeface="宋体" panose="02010600030101010101" pitchFamily="2" charset="-122"/>
            </a:endParaRPr>
          </a:p>
          <a:p>
            <a:pPr marL="1295400" lvl="2" indent="-381000">
              <a:lnSpc>
                <a:spcPct val="90000"/>
              </a:lnSpc>
            </a:pPr>
            <a:r>
              <a:rPr lang="zh-CN" altLang="en-US" sz="2000" b="1" dirty="0">
                <a:ea typeface="宋体" panose="02010600030101010101" pitchFamily="2" charset="-122"/>
              </a:rPr>
              <a:t>结点的表示：用具有适当数量字段的对象表示</a:t>
            </a:r>
            <a:endParaRPr lang="en-US" altLang="zh-CN" sz="2000" b="1" dirty="0">
              <a:ea typeface="宋体" panose="02010600030101010101" pitchFamily="2" charset="-122"/>
            </a:endParaRPr>
          </a:p>
          <a:p>
            <a:pPr marL="1752600" lvl="3" indent="-381000">
              <a:lnSpc>
                <a:spcPct val="90000"/>
              </a:lnSpc>
            </a:pPr>
            <a:r>
              <a:rPr lang="zh-CN" altLang="en-US" sz="1800" b="1" dirty="0">
                <a:ea typeface="宋体" panose="02010600030101010101" pitchFamily="2" charset="-122"/>
              </a:rPr>
              <a:t>每个节点都有一个</a:t>
            </a:r>
            <a:r>
              <a:rPr lang="en-US" altLang="zh-CN" sz="1800" b="1" dirty="0">
                <a:ea typeface="宋体" panose="02010600030101010101" pitchFamily="2" charset="-122"/>
              </a:rPr>
              <a:t>op</a:t>
            </a:r>
            <a:r>
              <a:rPr lang="zh-CN" altLang="en-US" sz="1800" b="1" dirty="0">
                <a:ea typeface="宋体" panose="02010600030101010101" pitchFamily="2" charset="-122"/>
              </a:rPr>
              <a:t>字段，表示这个节点的标号</a:t>
            </a:r>
            <a:endParaRPr lang="zh-CN" altLang="en-US" sz="1800" b="1" dirty="0">
              <a:ea typeface="宋体" panose="02010600030101010101" pitchFamily="2" charset="-122"/>
            </a:endParaRPr>
          </a:p>
          <a:p>
            <a:pPr marL="1752600" lvl="3" indent="-381000">
              <a:lnSpc>
                <a:spcPct val="90000"/>
              </a:lnSpc>
            </a:pPr>
            <a:r>
              <a:rPr lang="zh-CN" altLang="en-US" sz="1800" b="1" dirty="0">
                <a:ea typeface="宋体" panose="02010600030101010101" pitchFamily="2" charset="-122"/>
              </a:rPr>
              <a:t>如果结点是一个叶子结点，则对象中有附加的字段存放这个叶子节点的词法值</a:t>
            </a:r>
            <a:endParaRPr lang="en-US" altLang="zh-CN" sz="1800" b="1" dirty="0">
              <a:ea typeface="宋体" panose="02010600030101010101" pitchFamily="2" charset="-122"/>
            </a:endParaRPr>
          </a:p>
          <a:p>
            <a:pPr marL="2209800" lvl="4" indent="-381000">
              <a:lnSpc>
                <a:spcPct val="90000"/>
              </a:lnSpc>
            </a:pPr>
            <a:r>
              <a:rPr lang="zh-CN" altLang="en-US" sz="1600" b="1" dirty="0">
                <a:ea typeface="宋体" panose="02010600030101010101" pitchFamily="2" charset="-122"/>
              </a:rPr>
              <a:t>叶子结点采用函数</a:t>
            </a:r>
            <a:r>
              <a:rPr lang="en-US" altLang="zh-CN" sz="1600" b="1" dirty="0">
                <a:ea typeface="宋体" panose="02010600030101010101" pitchFamily="2" charset="-122"/>
              </a:rPr>
              <a:t>Leaf ( op , val )</a:t>
            </a:r>
            <a:r>
              <a:rPr lang="zh-CN" altLang="en-US" sz="1600" b="1" dirty="0">
                <a:ea typeface="宋体" panose="02010600030101010101" pitchFamily="2" charset="-122"/>
              </a:rPr>
              <a:t> 创建，返回指向叶子结点的指针</a:t>
            </a:r>
            <a:endParaRPr lang="en-US" altLang="zh-CN" sz="1600" b="1" dirty="0">
              <a:ea typeface="宋体" panose="02010600030101010101" pitchFamily="2" charset="-122"/>
            </a:endParaRPr>
          </a:p>
          <a:p>
            <a:pPr marL="1752600" lvl="3" indent="-381000">
              <a:lnSpc>
                <a:spcPct val="90000"/>
              </a:lnSpc>
            </a:pPr>
            <a:r>
              <a:rPr lang="zh-CN" altLang="en-US" sz="1800" b="1" dirty="0">
                <a:ea typeface="宋体" panose="02010600030101010101" pitchFamily="2" charset="-122"/>
              </a:rPr>
              <a:t>如果结点是内部结点，则其附加字段个数与该结点在语法树中的子结点个数相同</a:t>
            </a:r>
            <a:endParaRPr lang="en-US" altLang="zh-CN" sz="1800" b="1" dirty="0">
              <a:ea typeface="宋体" panose="02010600030101010101" pitchFamily="2" charset="-122"/>
            </a:endParaRPr>
          </a:p>
          <a:p>
            <a:pPr marL="2209800" lvl="4" indent="-381000">
              <a:lnSpc>
                <a:spcPct val="90000"/>
              </a:lnSpc>
            </a:pPr>
            <a:r>
              <a:rPr lang="en-US" altLang="zh-CN" sz="1600" b="1" dirty="0">
                <a:ea typeface="宋体" panose="02010600030101010101" pitchFamily="2" charset="-122"/>
              </a:rPr>
              <a:t>Node</a:t>
            </a:r>
            <a:r>
              <a:rPr lang="zh-CN" altLang="en-US" sz="1600" b="1" dirty="0">
                <a:ea typeface="宋体" panose="02010600030101010101" pitchFamily="2" charset="-122"/>
              </a:rPr>
              <a:t> </a:t>
            </a:r>
            <a:r>
              <a:rPr lang="en-US" altLang="zh-CN" sz="1600" b="1" dirty="0">
                <a:ea typeface="宋体" panose="02010600030101010101" pitchFamily="2" charset="-122"/>
              </a:rPr>
              <a:t>( op , c1, c2 , … , ck )</a:t>
            </a:r>
            <a:endParaRPr lang="en-US" altLang="zh-CN" sz="1600" b="1" dirty="0">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语法制导翻译的应用（3）</a:t>
            </a:r>
            <a:endParaRPr lang="zh-CN" altLang="en-US" dirty="0">
              <a:latin typeface="Times New Roman" panose="02020603050405020304" pitchFamily="18" charset="0"/>
              <a:ea typeface="宋体" panose="02010600030101010101" pitchFamily="2" charset="-122"/>
            </a:endParaRPr>
          </a:p>
        </p:txBody>
      </p:sp>
      <p:pic>
        <p:nvPicPr>
          <p:cNvPr id="63491" name="Picture 2"/>
          <p:cNvPicPr>
            <a:picLocks noChangeAspect="1"/>
          </p:cNvPicPr>
          <p:nvPr/>
        </p:nvPicPr>
        <p:blipFill>
          <a:blip r:embed="rId1"/>
          <a:stretch>
            <a:fillRect/>
          </a:stretch>
        </p:blipFill>
        <p:spPr>
          <a:xfrm>
            <a:off x="468313" y="2708275"/>
            <a:ext cx="8207375" cy="3816350"/>
          </a:xfrm>
          <a:prstGeom prst="rect">
            <a:avLst/>
          </a:prstGeom>
          <a:noFill/>
          <a:ln w="9525">
            <a:noFill/>
          </a:ln>
        </p:spPr>
      </p:pic>
      <p:sp>
        <p:nvSpPr>
          <p:cNvPr id="4" name="Rectangle 3"/>
          <p:cNvSpPr txBox="1">
            <a:spLocks noChangeArrowheads="1"/>
          </p:cNvSpPr>
          <p:nvPr/>
        </p:nvSpPr>
        <p:spPr bwMode="auto">
          <a:xfrm>
            <a:off x="990600" y="1524000"/>
            <a:ext cx="7391400" cy="12573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表达式文法构造语法树的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所有非终结符都有一个综合属性</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node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不构建新的结点</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语法制导翻译的应用（4）</a:t>
            </a:r>
            <a:endParaRPr lang="zh-CN" altLang="en-US" dirty="0">
              <a:latin typeface="Times New Roman" panose="02020603050405020304" pitchFamily="18" charset="0"/>
              <a:ea typeface="宋体" panose="02010600030101010101" pitchFamily="2" charset="-122"/>
            </a:endParaRPr>
          </a:p>
        </p:txBody>
      </p:sp>
      <p:pic>
        <p:nvPicPr>
          <p:cNvPr id="65539" name="Picture 2"/>
          <p:cNvPicPr>
            <a:picLocks noChangeAspect="1"/>
          </p:cNvPicPr>
          <p:nvPr/>
        </p:nvPicPr>
        <p:blipFill>
          <a:blip r:embed="rId1"/>
          <a:stretch>
            <a:fillRect/>
          </a:stretch>
        </p:blipFill>
        <p:spPr>
          <a:xfrm>
            <a:off x="685800" y="1371600"/>
            <a:ext cx="7620000" cy="5183188"/>
          </a:xfrm>
          <a:prstGeom prst="rect">
            <a:avLst/>
          </a:prstGeom>
          <a:noFill/>
          <a:ln w="9525">
            <a:noFill/>
          </a:ln>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7587" name="Rectangle 3"/>
          <p:cNvSpPr>
            <a:spLocks noGrp="1"/>
          </p:cNvSpPr>
          <p:nvPr>
            <p:ph idx="1"/>
          </p:nvPr>
        </p:nvSpPr>
        <p:spPr>
          <a:xfrm>
            <a:off x="990600" y="1524000"/>
            <a:ext cx="7391400" cy="4800600"/>
          </a:xfrm>
        </p:spPr>
        <p:txBody>
          <a:bodyPr vert="horz" wrap="square" lIns="92075" tIns="46038" rIns="92075" bIns="46038" anchor="t" anchorCtr="0"/>
          <a:p>
            <a:pPr marL="533400" indent="-419100"/>
            <a:r>
              <a:rPr lang="zh-CN" altLang="en-US" sz="2400" b="1" dirty="0">
                <a:ea typeface="宋体" panose="02010600030101010101" pitchFamily="2" charset="-122"/>
              </a:rPr>
              <a:t>上例中</a:t>
            </a:r>
            <a:endParaRPr lang="zh-CN" altLang="en-US" sz="2400" b="1" dirty="0">
              <a:ea typeface="宋体" panose="02010600030101010101" pitchFamily="2" charset="-122"/>
            </a:endParaRPr>
          </a:p>
          <a:p>
            <a:pPr marL="895350" lvl="1" indent="-381000"/>
            <a:r>
              <a:rPr lang="zh-CN" altLang="en-US" sz="2000" b="1" dirty="0">
                <a:ea typeface="宋体" panose="02010600030101010101" pitchFamily="2" charset="-122"/>
              </a:rPr>
              <a:t>下层的树是真正的语法树</a:t>
            </a:r>
            <a:endParaRPr lang="zh-CN" altLang="en-US" sz="2000" b="1" dirty="0">
              <a:ea typeface="宋体" panose="02010600030101010101" pitchFamily="2" charset="-122"/>
            </a:endParaRPr>
          </a:p>
          <a:p>
            <a:pPr marL="895350" lvl="1" indent="-381000"/>
            <a:r>
              <a:rPr lang="zh-CN" altLang="en-US" sz="2000" b="1" dirty="0">
                <a:ea typeface="宋体" panose="02010600030101010101" pitchFamily="2" charset="-122"/>
              </a:rPr>
              <a:t>上层的树是分析树，仅具有象征的意义</a:t>
            </a:r>
            <a:endParaRPr lang="en-US" altLang="zh-CN" sz="2000" b="1" dirty="0">
              <a:ea typeface="宋体" panose="02010600030101010101" pitchFamily="2" charset="-122"/>
            </a:endParaRPr>
          </a:p>
          <a:p>
            <a:pPr marL="895350" lvl="1" indent="-381000"/>
            <a:r>
              <a:rPr lang="zh-CN" altLang="en-US" sz="2000" b="1" dirty="0">
                <a:ea typeface="宋体" panose="02010600030101010101" pitchFamily="2" charset="-122"/>
              </a:rPr>
              <a:t>图中的虚线箭头标明了分析树中结点的值</a:t>
            </a:r>
            <a:endParaRPr lang="zh-CN" altLang="en-US" sz="2000" b="1" dirty="0">
              <a:ea typeface="宋体" panose="02010600030101010101" pitchFamily="2" charset="-122"/>
            </a:endParaRPr>
          </a:p>
          <a:p>
            <a:pPr marL="895350" lvl="1" indent="-381000"/>
            <a:r>
              <a:rPr lang="zh-CN" altLang="en-US" sz="2000" b="1" dirty="0">
                <a:ea typeface="宋体" panose="02010600030101010101" pitchFamily="2" charset="-122"/>
              </a:rPr>
              <a:t>本例中语法树的建立是由叶结点开始，逐层向上建立的</a:t>
            </a:r>
            <a:endParaRPr lang="zh-CN" altLang="en-US" sz="2000" b="1" dirty="0">
              <a:ea typeface="宋体" panose="02010600030101010101" pitchFamily="2" charset="-122"/>
            </a:endParaRPr>
          </a:p>
          <a:p>
            <a:pPr marL="895350" lvl="1" indent="-381000"/>
            <a:r>
              <a:rPr lang="zh-CN" altLang="en-US" sz="2000" b="1" dirty="0">
                <a:ea typeface="宋体" panose="02010600030101010101" pitchFamily="2" charset="-122"/>
              </a:rPr>
              <a:t>本例中，由于</a:t>
            </a:r>
            <a:r>
              <a:rPr lang="en-US" altLang="zh-CN" sz="2000" b="1" dirty="0">
                <a:ea typeface="宋体" panose="02010600030101010101" pitchFamily="2" charset="-122"/>
              </a:rPr>
              <a:t>S</a:t>
            </a:r>
            <a:r>
              <a:rPr lang="zh-CN" altLang="en-US" sz="2000" b="1" dirty="0">
                <a:ea typeface="宋体" panose="02010600030101010101" pitchFamily="2" charset="-122"/>
              </a:rPr>
              <a:t>属性定义的计算是与语法树建立的顺序是一致的，因此</a:t>
            </a:r>
            <a:r>
              <a:rPr lang="en-US" altLang="zh-CN" sz="2000" b="1" dirty="0">
                <a:ea typeface="宋体" panose="02010600030101010101" pitchFamily="2" charset="-122"/>
              </a:rPr>
              <a:t>S</a:t>
            </a:r>
            <a:r>
              <a:rPr lang="zh-CN" altLang="en-US" sz="2000" b="1" dirty="0">
                <a:ea typeface="宋体" panose="02010600030101010101" pitchFamily="2" charset="-122"/>
              </a:rPr>
              <a:t>属性定义的计算也是自下而上完成的</a:t>
            </a:r>
            <a:endParaRPr lang="zh-CN" altLang="en-US" sz="2000" b="1" dirty="0">
              <a:ea typeface="宋体" panose="02010600030101010101" pitchFamily="2" charset="-122"/>
            </a:endParaRPr>
          </a:p>
          <a:p>
            <a:pPr marL="895350" lvl="1" indent="-381000"/>
            <a:r>
              <a:rPr lang="zh-CN" altLang="en-US" sz="2000" b="1" dirty="0">
                <a:ea typeface="宋体" panose="02010600030101010101" pitchFamily="2" charset="-122"/>
              </a:rPr>
              <a:t>可以通过栈来实现上述计算次序</a:t>
            </a:r>
            <a:endParaRPr lang="zh-CN" altLang="en-US" b="1" dirty="0">
              <a:ea typeface="宋体" panose="02010600030101010101" pitchFamily="2" charset="-122"/>
            </a:endParaRPr>
          </a:p>
        </p:txBody>
      </p:sp>
      <p:pic>
        <p:nvPicPr>
          <p:cNvPr id="67588" name="Picture 2"/>
          <p:cNvPicPr>
            <a:picLocks noChangeAspect="1"/>
          </p:cNvPicPr>
          <p:nvPr/>
        </p:nvPicPr>
        <p:blipFill>
          <a:blip r:embed="rId1"/>
          <a:stretch>
            <a:fillRect/>
          </a:stretch>
        </p:blipFill>
        <p:spPr>
          <a:xfrm>
            <a:off x="179388" y="4452938"/>
            <a:ext cx="8512175" cy="2405062"/>
          </a:xfrm>
          <a:prstGeom prst="rect">
            <a:avLst/>
          </a:prstGeom>
          <a:noFill/>
          <a:ln w="9525">
            <a:noFill/>
          </a:ln>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990600" y="1371600"/>
            <a:ext cx="7391400" cy="14097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表达式文法构造语法树的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由于语法分析方法的约束，导致语法分析树的结构与抽象语法树的结构差异</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引入继承属性，表明：由于子表达式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出现在不同的子树中，</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结点作为继承属性传递</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69636" name="Picture 2"/>
          <p:cNvPicPr>
            <a:picLocks noChangeAspect="1"/>
          </p:cNvPicPr>
          <p:nvPr/>
        </p:nvPicPr>
        <p:blipFill>
          <a:blip r:embed="rId1"/>
          <a:stretch>
            <a:fillRect/>
          </a:stretch>
        </p:blipFill>
        <p:spPr>
          <a:xfrm>
            <a:off x="555625" y="3213100"/>
            <a:ext cx="6429375" cy="3644900"/>
          </a:xfrm>
          <a:prstGeom prst="rect">
            <a:avLst/>
          </a:prstGeom>
          <a:noFill/>
          <a:ln w="9525">
            <a:noFill/>
          </a:ln>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990600" y="1524000"/>
            <a:ext cx="7391400" cy="12573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5-13</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的依赖关系示意</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注意继承属性引入的依赖关系</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71684" name="Picture 2"/>
          <p:cNvPicPr>
            <a:picLocks noChangeAspect="1"/>
          </p:cNvPicPr>
          <p:nvPr/>
        </p:nvPicPr>
        <p:blipFill>
          <a:blip r:embed="rId1"/>
          <a:stretch>
            <a:fillRect/>
          </a:stretch>
        </p:blipFill>
        <p:spPr>
          <a:xfrm>
            <a:off x="250825" y="2420938"/>
            <a:ext cx="8561388" cy="4046537"/>
          </a:xfrm>
          <a:prstGeom prst="rect">
            <a:avLst/>
          </a:prstGeom>
          <a:noFill/>
          <a:ln w="9525">
            <a:noFill/>
          </a:ln>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73731" name="Object 5"/>
          <p:cNvGraphicFramePr>
            <a:graphicFrameLocks noChangeAspect="1"/>
          </p:cNvGraphicFramePr>
          <p:nvPr/>
        </p:nvGraphicFramePr>
        <p:xfrm>
          <a:off x="919163" y="2597150"/>
          <a:ext cx="7307262" cy="4144963"/>
        </p:xfrm>
        <a:graphic>
          <a:graphicData uri="http://schemas.openxmlformats.org/presentationml/2006/ole">
            <mc:AlternateContent xmlns:mc="http://schemas.openxmlformats.org/markup-compatibility/2006">
              <mc:Choice xmlns:v="urn:schemas-microsoft-com:vml" Requires="v">
                <p:oleObj spid="_x0000_s3077" name="" r:id="rId1" imgW="12192000" imgH="9626600" progId="Visio.Drawing.11">
                  <p:embed/>
                </p:oleObj>
              </mc:Choice>
              <mc:Fallback>
                <p:oleObj name="" r:id="rId1" imgW="12192000" imgH="9626600" progId="Visio.Drawing.11">
                  <p:embed/>
                  <p:pic>
                    <p:nvPicPr>
                      <p:cNvPr id="0" name="图片 3076"/>
                      <p:cNvPicPr/>
                      <p:nvPr/>
                    </p:nvPicPr>
                    <p:blipFill>
                      <a:blip r:embed="rId2"/>
                      <a:stretch>
                        <a:fillRect/>
                      </a:stretch>
                    </p:blipFill>
                    <p:spPr>
                      <a:xfrm>
                        <a:off x="919163" y="2597150"/>
                        <a:ext cx="7307262" cy="4144963"/>
                      </a:xfrm>
                      <a:prstGeom prst="rect">
                        <a:avLst/>
                      </a:prstGeom>
                      <a:noFill/>
                      <a:ln w="38100">
                        <a:noFill/>
                        <a:miter/>
                      </a:ln>
                    </p:spPr>
                  </p:pic>
                </p:oleObj>
              </mc:Fallback>
            </mc:AlternateContent>
          </a:graphicData>
        </a:graphic>
      </p:graphicFrame>
      <p:sp>
        <p:nvSpPr>
          <p:cNvPr id="5" name="Rectangle 3"/>
          <p:cNvSpPr txBox="1">
            <a:spLocks noChangeArrowheads="1"/>
          </p:cNvSpPr>
          <p:nvPr/>
        </p:nvSpPr>
        <p:spPr bwMode="auto">
          <a:xfrm>
            <a:off x="990600" y="1341438"/>
            <a:ext cx="7391400" cy="1255713"/>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利用</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属性定义构建的语法树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实线部分为真正的语法树，结合上页的依赖关系，可以保证在恰当的属性获得完整的语法树</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5779" name="Rectangle 3"/>
          <p:cNvSpPr>
            <a:spLocks noGrp="1"/>
          </p:cNvSpPr>
          <p:nvPr>
            <p:ph idx="1"/>
          </p:nvPr>
        </p:nvSpPr>
        <p:spPr>
          <a:xfrm>
            <a:off x="990600" y="1524000"/>
            <a:ext cx="7391400" cy="4800600"/>
          </a:xfrm>
        </p:spPr>
        <p:txBody>
          <a:bodyPr vert="horz" wrap="square" lIns="92075" tIns="46038" rIns="92075" bIns="46038" anchor="t" anchorCtr="0"/>
          <a:p>
            <a:pPr marL="533400" indent="-419100"/>
            <a:r>
              <a:rPr lang="zh-CN" altLang="en-US" b="1" dirty="0">
                <a:ea typeface="宋体" panose="02010600030101010101" pitchFamily="2" charset="-122"/>
              </a:rPr>
              <a:t>类型的结构</a:t>
            </a:r>
            <a:endParaRPr lang="en-US" altLang="zh-CN" b="1" dirty="0">
              <a:ea typeface="宋体" panose="02010600030101010101" pitchFamily="2" charset="-122"/>
            </a:endParaRPr>
          </a:p>
          <a:p>
            <a:pPr marL="933450" lvl="1" indent="-419100"/>
            <a:r>
              <a:rPr lang="zh-CN" altLang="en-US" b="1" dirty="0">
                <a:ea typeface="宋体" panose="02010600030101010101" pitchFamily="2" charset="-122"/>
              </a:rPr>
              <a:t>由于语言的设计，也可能导致语法分析树与抽象语法树结构的差异，需要引入继承属性</a:t>
            </a:r>
            <a:endParaRPr lang="en-US" altLang="zh-CN" b="1" dirty="0">
              <a:ea typeface="宋体" panose="02010600030101010101" pitchFamily="2" charset="-122"/>
            </a:endParaRPr>
          </a:p>
          <a:p>
            <a:pPr marL="933450" lvl="1" indent="-419100"/>
            <a:r>
              <a:rPr lang="en-US" altLang="zh-CN" b="1" dirty="0">
                <a:ea typeface="宋体" panose="02010600030101010101" pitchFamily="2" charset="-122"/>
              </a:rPr>
              <a:t>C</a:t>
            </a:r>
            <a:r>
              <a:rPr lang="zh-CN" altLang="en-US" b="1" dirty="0">
                <a:ea typeface="宋体" panose="02010600030101010101" pitchFamily="2" charset="-122"/>
              </a:rPr>
              <a:t>语言中，类型的声明的翻译可能需要引入继承属性</a:t>
            </a:r>
            <a:endParaRPr lang="en-US" altLang="zh-CN" b="1" dirty="0">
              <a:ea typeface="宋体" panose="02010600030101010101" pitchFamily="2" charset="-122"/>
            </a:endParaRPr>
          </a:p>
          <a:p>
            <a:pPr marL="933450" lvl="1" indent="-419100"/>
            <a:r>
              <a:rPr lang="zh-CN" altLang="en-US" b="1" dirty="0">
                <a:ea typeface="宋体" panose="02010600030101010101" pitchFamily="2" charset="-122"/>
              </a:rPr>
              <a:t>对声明形式的解读</a:t>
            </a:r>
            <a:endParaRPr lang="en-US" altLang="zh-CN" b="1" dirty="0">
              <a:ea typeface="宋体" panose="02010600030101010101" pitchFamily="2" charset="-122"/>
            </a:endParaRPr>
          </a:p>
          <a:p>
            <a:pPr marL="1333500" lvl="2" indent="-419100"/>
            <a:r>
              <a:rPr lang="en-US" altLang="zh-CN" b="1" dirty="0">
                <a:ea typeface="宋体" panose="02010600030101010101" pitchFamily="2" charset="-122"/>
              </a:rPr>
              <a:t>Int[2][3]</a:t>
            </a:r>
            <a:r>
              <a:rPr lang="zh-CN" altLang="en-US" b="1" dirty="0">
                <a:ea typeface="宋体" panose="02010600030101010101" pitchFamily="2" charset="-122"/>
              </a:rPr>
              <a:t>，可以解释为数组</a:t>
            </a:r>
            <a:r>
              <a:rPr lang="en-US" altLang="zh-CN" b="1" dirty="0">
                <a:ea typeface="宋体" panose="02010600030101010101" pitchFamily="2" charset="-122"/>
              </a:rPr>
              <a:t>a</a:t>
            </a:r>
            <a:r>
              <a:rPr lang="zh-CN" altLang="en-US" b="1" dirty="0">
                <a:ea typeface="宋体" panose="02010600030101010101" pitchFamily="2" charset="-122"/>
              </a:rPr>
              <a:t>的数组，其中</a:t>
            </a:r>
            <a:r>
              <a:rPr lang="en-US" altLang="zh-CN" b="1" dirty="0">
                <a:ea typeface="宋体" panose="02010600030101010101" pitchFamily="2" charset="-122"/>
              </a:rPr>
              <a:t>a</a:t>
            </a:r>
            <a:r>
              <a:rPr lang="zh-CN" altLang="en-US" b="1" dirty="0">
                <a:ea typeface="宋体" panose="02010600030101010101" pitchFamily="2" charset="-122"/>
              </a:rPr>
              <a:t>对应了</a:t>
            </a:r>
            <a:r>
              <a:rPr lang="en-US" altLang="zh-CN" b="1" dirty="0">
                <a:ea typeface="宋体" panose="02010600030101010101" pitchFamily="2" charset="-122"/>
              </a:rPr>
              <a:t>int[3]</a:t>
            </a:r>
            <a:r>
              <a:rPr lang="zh-CN" altLang="en-US" b="1" dirty="0">
                <a:ea typeface="宋体" panose="02010600030101010101" pitchFamily="2" charset="-122"/>
              </a:rPr>
              <a:t>，是有</a:t>
            </a:r>
            <a:r>
              <a:rPr lang="en-US" altLang="zh-CN" b="1" dirty="0">
                <a:ea typeface="宋体" panose="02010600030101010101" pitchFamily="2" charset="-122"/>
              </a:rPr>
              <a:t>3</a:t>
            </a:r>
            <a:r>
              <a:rPr lang="zh-CN" altLang="en-US" b="1" dirty="0">
                <a:ea typeface="宋体" panose="02010600030101010101" pitchFamily="2" charset="-122"/>
              </a:rPr>
              <a:t>个元素的数组</a:t>
            </a:r>
            <a:endParaRPr lang="en-US" altLang="zh-CN" b="1" dirty="0">
              <a:ea typeface="宋体" panose="02010600030101010101" pitchFamily="2" charset="-122"/>
            </a:endParaRPr>
          </a:p>
          <a:p>
            <a:pPr marL="1333500" lvl="2" indent="-419100"/>
            <a:r>
              <a:rPr lang="zh-CN" altLang="en-US" b="1" dirty="0">
                <a:ea typeface="宋体" panose="02010600030101010101" pitchFamily="2" charset="-122"/>
              </a:rPr>
              <a:t>类型表达式：</a:t>
            </a:r>
            <a:r>
              <a:rPr lang="en-US" altLang="zh-CN" b="1" dirty="0">
                <a:ea typeface="宋体" panose="02010600030101010101" pitchFamily="2" charset="-122"/>
              </a:rPr>
              <a:t>array</a:t>
            </a:r>
            <a:r>
              <a:rPr lang="zh-CN" altLang="en-US" b="1" dirty="0">
                <a:ea typeface="宋体" panose="02010600030101010101" pitchFamily="2" charset="-122"/>
              </a:rPr>
              <a:t>（</a:t>
            </a:r>
            <a:r>
              <a:rPr lang="en-US" altLang="zh-CN" b="1" dirty="0">
                <a:ea typeface="宋体" panose="02010600030101010101" pitchFamily="2" charset="-122"/>
              </a:rPr>
              <a:t>2</a:t>
            </a:r>
            <a:r>
              <a:rPr lang="zh-CN" altLang="en-US" b="1" dirty="0">
                <a:ea typeface="宋体" panose="02010600030101010101" pitchFamily="2" charset="-122"/>
              </a:rPr>
              <a:t>，</a:t>
            </a:r>
            <a:r>
              <a:rPr lang="en-US" altLang="zh-CN" b="1" dirty="0">
                <a:ea typeface="宋体" panose="02010600030101010101" pitchFamily="2" charset="-122"/>
              </a:rPr>
              <a:t>array</a:t>
            </a:r>
            <a:r>
              <a:rPr lang="zh-CN" altLang="en-US" b="1" dirty="0">
                <a:ea typeface="宋体" panose="02010600030101010101" pitchFamily="2" charset="-122"/>
              </a:rPr>
              <a:t>（</a:t>
            </a:r>
            <a:r>
              <a:rPr lang="en-US" altLang="zh-CN" b="1" dirty="0">
                <a:ea typeface="宋体" panose="02010600030101010101" pitchFamily="2" charset="-122"/>
              </a:rPr>
              <a:t>3</a:t>
            </a:r>
            <a:r>
              <a:rPr lang="zh-CN" altLang="en-US" b="1" dirty="0">
                <a:ea typeface="宋体" panose="02010600030101010101" pitchFamily="2" charset="-122"/>
              </a:rPr>
              <a:t>，</a:t>
            </a:r>
            <a:r>
              <a:rPr lang="en-US" altLang="zh-CN" b="1" dirty="0">
                <a:ea typeface="宋体" panose="02010600030101010101" pitchFamily="2" charset="-122"/>
              </a:rPr>
              <a:t>integer</a:t>
            </a:r>
            <a:r>
              <a:rPr lang="zh-CN" altLang="en-US" b="1" dirty="0">
                <a:ea typeface="宋体" panose="02010600030101010101" pitchFamily="2" charset="-122"/>
              </a:rPr>
              <a:t>））</a:t>
            </a:r>
            <a:endParaRPr lang="zh-CN" altLang="en-US" b="1" dirty="0">
              <a:ea typeface="宋体" panose="02010600030101010101" pitchFamily="2" charset="-122"/>
            </a:endParaRPr>
          </a:p>
        </p:txBody>
      </p:sp>
      <p:pic>
        <p:nvPicPr>
          <p:cNvPr id="75780" name="Picture 2"/>
          <p:cNvPicPr>
            <a:picLocks noChangeAspect="1"/>
          </p:cNvPicPr>
          <p:nvPr/>
        </p:nvPicPr>
        <p:blipFill>
          <a:blip r:embed="rId1"/>
          <a:stretch>
            <a:fillRect/>
          </a:stretch>
        </p:blipFill>
        <p:spPr>
          <a:xfrm>
            <a:off x="2051050" y="5229225"/>
            <a:ext cx="5072063" cy="1655763"/>
          </a:xfrm>
          <a:prstGeom prst="rect">
            <a:avLst/>
          </a:prstGeom>
          <a:noFill/>
          <a:ln w="9525">
            <a:noFill/>
          </a:ln>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7827" name="Rectangle 3"/>
          <p:cNvSpPr>
            <a:spLocks noGrp="1"/>
          </p:cNvSpPr>
          <p:nvPr>
            <p:ph idx="1"/>
          </p:nvPr>
        </p:nvSpPr>
        <p:spPr>
          <a:xfrm>
            <a:off x="990600" y="1524000"/>
            <a:ext cx="7391400" cy="1760538"/>
          </a:xfrm>
        </p:spPr>
        <p:txBody>
          <a:bodyPr vert="horz" wrap="square" lIns="92075" tIns="46038" rIns="92075" bIns="46038" anchor="t" anchorCtr="0"/>
          <a:p>
            <a:pPr marL="533400" indent="-419100"/>
            <a:r>
              <a:rPr lang="zh-CN" altLang="en-US" b="1" dirty="0">
                <a:ea typeface="宋体" panose="02010600030101010101" pitchFamily="2" charset="-122"/>
              </a:rPr>
              <a:t>类型翻译的</a:t>
            </a:r>
            <a:r>
              <a:rPr lang="en-US" altLang="zh-CN" b="1" dirty="0">
                <a:ea typeface="宋体" panose="02010600030101010101" pitchFamily="2" charset="-122"/>
              </a:rPr>
              <a:t>SDD</a:t>
            </a:r>
            <a:endParaRPr lang="en-US" altLang="zh-CN" b="1" dirty="0">
              <a:ea typeface="宋体" panose="02010600030101010101" pitchFamily="2" charset="-122"/>
            </a:endParaRPr>
          </a:p>
          <a:p>
            <a:pPr marL="933450" lvl="1" indent="-419100"/>
            <a:r>
              <a:rPr lang="en-US" altLang="zh-CN" b="1" dirty="0">
                <a:ea typeface="宋体" panose="02010600030101010101" pitchFamily="2" charset="-122"/>
              </a:rPr>
              <a:t>T</a:t>
            </a:r>
            <a:r>
              <a:rPr lang="zh-CN" altLang="en-US" b="1" dirty="0">
                <a:ea typeface="宋体" panose="02010600030101010101" pitchFamily="2" charset="-122"/>
              </a:rPr>
              <a:t>对应了一个基本类型或一个数组类型</a:t>
            </a:r>
            <a:endParaRPr lang="en-US" altLang="zh-CN" b="1" dirty="0">
              <a:ea typeface="宋体" panose="02010600030101010101" pitchFamily="2" charset="-122"/>
            </a:endParaRPr>
          </a:p>
          <a:p>
            <a:pPr marL="933450" lvl="1" indent="-419100"/>
            <a:r>
              <a:rPr lang="en-US" altLang="zh-CN" b="1" dirty="0">
                <a:ea typeface="宋体" panose="02010600030101010101" pitchFamily="2" charset="-122"/>
              </a:rPr>
              <a:t>B</a:t>
            </a:r>
            <a:r>
              <a:rPr lang="zh-CN" altLang="en-US" b="1" dirty="0">
                <a:ea typeface="宋体" panose="02010600030101010101" pitchFamily="2" charset="-122"/>
              </a:rPr>
              <a:t>对应了基本类型：</a:t>
            </a:r>
            <a:r>
              <a:rPr lang="en-US" altLang="zh-CN" b="1" dirty="0">
                <a:ea typeface="宋体" panose="02010600030101010101" pitchFamily="2" charset="-122"/>
              </a:rPr>
              <a:t>int</a:t>
            </a:r>
            <a:r>
              <a:rPr lang="zh-CN" altLang="en-US" b="1" dirty="0">
                <a:ea typeface="宋体" panose="02010600030101010101" pitchFamily="2" charset="-122"/>
              </a:rPr>
              <a:t>或</a:t>
            </a:r>
            <a:r>
              <a:rPr lang="en-US" altLang="zh-CN" b="1" dirty="0">
                <a:ea typeface="宋体" panose="02010600030101010101" pitchFamily="2" charset="-122"/>
              </a:rPr>
              <a:t>float</a:t>
            </a:r>
            <a:endParaRPr lang="en-US" altLang="zh-CN" b="1" dirty="0">
              <a:ea typeface="宋体" panose="02010600030101010101" pitchFamily="2" charset="-122"/>
            </a:endParaRPr>
          </a:p>
          <a:p>
            <a:pPr marL="933450" lvl="1" indent="-419100"/>
            <a:r>
              <a:rPr lang="en-US" altLang="zh-CN" b="1" dirty="0">
                <a:ea typeface="宋体" panose="02010600030101010101" pitchFamily="2" charset="-122"/>
              </a:rPr>
              <a:t>C</a:t>
            </a:r>
            <a:r>
              <a:rPr lang="zh-CN" altLang="en-US" b="1" dirty="0">
                <a:ea typeface="宋体" panose="02010600030101010101" pitchFamily="2" charset="-122"/>
              </a:rPr>
              <a:t>对应了数组一维的描述，引入继承属性</a:t>
            </a:r>
            <a:r>
              <a:rPr lang="en-US" altLang="zh-CN" b="1" dirty="0">
                <a:ea typeface="宋体" panose="02010600030101010101" pitchFamily="2" charset="-122"/>
              </a:rPr>
              <a:t>C.b</a:t>
            </a:r>
            <a:endParaRPr lang="en-US" altLang="zh-CN" b="1" dirty="0">
              <a:ea typeface="宋体" panose="02010600030101010101" pitchFamily="2" charset="-122"/>
            </a:endParaRPr>
          </a:p>
        </p:txBody>
      </p:sp>
      <p:pic>
        <p:nvPicPr>
          <p:cNvPr id="77828" name="Picture 3"/>
          <p:cNvPicPr>
            <a:picLocks noChangeAspect="1"/>
          </p:cNvPicPr>
          <p:nvPr/>
        </p:nvPicPr>
        <p:blipFill>
          <a:blip r:embed="rId1"/>
          <a:stretch>
            <a:fillRect/>
          </a:stretch>
        </p:blipFill>
        <p:spPr>
          <a:xfrm>
            <a:off x="1295400" y="3309938"/>
            <a:ext cx="6535738" cy="3503612"/>
          </a:xfrm>
          <a:prstGeom prst="rect">
            <a:avLst/>
          </a:prstGeom>
          <a:noFill/>
          <a:ln w="9525">
            <a:noFill/>
          </a:ln>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语法制导翻译的应用（</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9875" name="Rectangle 3"/>
          <p:cNvSpPr>
            <a:spLocks noGrp="1"/>
          </p:cNvSpPr>
          <p:nvPr>
            <p:ph idx="1"/>
          </p:nvPr>
        </p:nvSpPr>
        <p:spPr>
          <a:xfrm>
            <a:off x="990600" y="1524000"/>
            <a:ext cx="7391400" cy="609600"/>
          </a:xfrm>
        </p:spPr>
        <p:txBody>
          <a:bodyPr vert="horz" wrap="square" lIns="92075" tIns="46038" rIns="92075" bIns="46038" anchor="t" anchorCtr="0"/>
          <a:p>
            <a:pPr marL="533400" indent="-419100"/>
            <a:r>
              <a:rPr lang="zh-CN" altLang="en-US" b="1" dirty="0">
                <a:ea typeface="宋体" panose="02010600030101010101" pitchFamily="2" charset="-122"/>
              </a:rPr>
              <a:t>数组类型语法制导翻译的例子</a:t>
            </a:r>
            <a:endParaRPr lang="en-US" altLang="zh-CN" b="1" dirty="0">
              <a:ea typeface="宋体" panose="02010600030101010101" pitchFamily="2" charset="-122"/>
            </a:endParaRPr>
          </a:p>
        </p:txBody>
      </p:sp>
      <p:pic>
        <p:nvPicPr>
          <p:cNvPr id="79876" name="Picture 2"/>
          <p:cNvPicPr>
            <a:picLocks noChangeAspect="1"/>
          </p:cNvPicPr>
          <p:nvPr/>
        </p:nvPicPr>
        <p:blipFill>
          <a:blip r:embed="rId1"/>
          <a:stretch>
            <a:fillRect/>
          </a:stretch>
        </p:blipFill>
        <p:spPr>
          <a:xfrm>
            <a:off x="369888" y="1930400"/>
            <a:ext cx="8305800" cy="4883150"/>
          </a:xfrm>
          <a:prstGeom prst="rect">
            <a:avLst/>
          </a:prstGeom>
          <a:noFill/>
          <a:ln w="9525">
            <a:noFill/>
          </a:ln>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第五章 语法制导的翻译</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noChangeArrowheads="1"/>
          </p:cNvSpPr>
          <p:nvPr>
            <p:ph idx="1"/>
          </p:nvPr>
        </p:nvSpPr>
        <p:spPr>
          <a:xfrm>
            <a:off x="990600" y="1600200"/>
            <a:ext cx="7391400" cy="4191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一些基础知识</a:t>
            </a:r>
            <a:endPar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语法制导定义</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SDD</a:t>
            </a: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的求值顺序</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语法制导翻译的应用</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语法制导的翻译方案</a:t>
            </a:r>
            <a:endParaRPr kumimoji="0"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实现</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属性的</a:t>
            </a: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SDD</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48006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语法制导的翻译方案（</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syntax-directed</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translation</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scheme,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对语法制导定义的补充</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在上下文无关文法中，将语义动作（程序片段）嵌入到产生式右部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指出动作的起止，如果这两个符号作为文法符号出现，则要加上引号</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语义动作实际执行的时刻</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在该产生式的右部中，其左边的所有文法符号都已经被匹配之后立刻执行</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任何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都可以通过对语法树的前序遍历顺序实现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本课程主要关注如何用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实现两类重要的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基本文法可以用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分析，且</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基本文法可以用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分析，且</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1976438"/>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后缀翻译方案</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首先考虑利用自底向上分析，且</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属性的情况</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构造一个对应的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每个语义动作都放在产生式的末端，在归约时执行该动作</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这种形式的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称为后缀翻译方案</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实现后缀</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的例子</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86020" name="Picture 2"/>
          <p:cNvPicPr>
            <a:picLocks noChangeAspect="1"/>
          </p:cNvPicPr>
          <p:nvPr/>
        </p:nvPicPr>
        <p:blipFill>
          <a:blip r:embed="rId1"/>
          <a:stretch>
            <a:fillRect/>
          </a:stretch>
        </p:blipFill>
        <p:spPr>
          <a:xfrm>
            <a:off x="250825" y="3500438"/>
            <a:ext cx="8391525" cy="3357562"/>
          </a:xfrm>
          <a:prstGeom prst="rect">
            <a:avLst/>
          </a:prstGeom>
          <a:noFill/>
          <a:ln w="9525">
            <a:noFill/>
          </a:ln>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613650" cy="464185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后缀</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的语法分析栈的实现</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综合属性可以通过自下而上的分析器在分析时完成计算</a:t>
            </a:r>
            <a:endPar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0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Yacc</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是常用的自下而上的分析器的生成器，因此可以利用</a:t>
            </a:r>
            <a:r>
              <a:rPr kumimoji="0" lang="en-US" altLang="zh-CN" sz="20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Yacc</a:t>
            </a: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实现综合属性的自下而上的计算</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修改分析栈：将文法符号的综合属性值放在它的栈里</a:t>
            </a:r>
            <a:endPar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归约时，根据栈中的产生式右部文法符号的属性值计算新的文法符号的综合属性值</a:t>
            </a:r>
            <a:endPar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这种实现也支持一些继承属性的计算</a:t>
            </a:r>
            <a:endPar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实现的例子：</a:t>
            </a:r>
            <a:endParaRPr kumimoji="0" lang="zh-CN" altLang="en-US"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分析栈中用文法符号代替状态（</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state），</a:t>
            </a: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增加一个内容字段，记录文法符号对应的属性值（假设命名为</a:t>
            </a:r>
            <a:r>
              <a:rPr kumimoji="0" lang="en-US" altLang="zh-CN" sz="18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val</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209800" marR="0" lvl="4"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这两部分内容都可以用数组来表示，</a:t>
            </a:r>
            <a:r>
              <a:rPr kumimoji="0" lang="en-US" altLang="zh-CN"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state[ I ]</a:t>
            </a:r>
            <a:r>
              <a:rPr kumimoji="0" lang="zh-CN" altLang="en-US"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6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val</a:t>
            </a:r>
            <a:r>
              <a:rPr kumimoji="0" lang="en-US" altLang="zh-CN"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I ]</a:t>
            </a:r>
            <a:r>
              <a:rPr kumimoji="0" lang="zh-CN" altLang="en-US"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存在对应关系，如果文法符号没有属性，则</a:t>
            </a:r>
            <a:r>
              <a:rPr kumimoji="0" lang="en-US" altLang="zh-CN" sz="1600" b="1"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val</a:t>
            </a:r>
            <a:r>
              <a:rPr kumimoji="0" lang="zh-CN" altLang="en-US"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数组对应的条目没有意义</a:t>
            </a:r>
            <a:endParaRPr kumimoji="0" lang="en-US" altLang="zh-CN"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209800" marR="0" lvl="4" indent="-3810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也可以将两部分用一个记录（结构对象）表示，如本书</a:t>
            </a:r>
            <a:endParaRPr kumimoji="0" lang="zh-CN" altLang="en-US" sz="1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栈顶用指针</a:t>
            </a: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指示</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0115" name="Rectangle 3"/>
          <p:cNvSpPr>
            <a:spLocks noGrp="1"/>
          </p:cNvSpPr>
          <p:nvPr>
            <p:ph idx="1"/>
          </p:nvPr>
        </p:nvSpPr>
        <p:spPr>
          <a:xfrm>
            <a:off x="827088" y="1524000"/>
            <a:ext cx="7848600" cy="4648200"/>
          </a:xfrm>
        </p:spPr>
        <p:txBody>
          <a:bodyPr vert="horz" wrap="square" lIns="92075" tIns="46038" rIns="92075" bIns="46038" anchor="t" anchorCtr="0"/>
          <a:p>
            <a:pPr marL="1752600" lvl="3" indent="-381000"/>
            <a:r>
              <a:rPr lang="zh-CN" altLang="en-US" b="1" dirty="0">
                <a:ea typeface="宋体" panose="02010600030101010101" pitchFamily="2" charset="-122"/>
              </a:rPr>
              <a:t>如果综合属性刚好在归约前计算，对于产生式</a:t>
            </a:r>
            <a:r>
              <a:rPr lang="en-US" altLang="zh-CN" b="1" dirty="0">
                <a:ea typeface="宋体" panose="02010600030101010101" pitchFamily="2" charset="-122"/>
              </a:rPr>
              <a:t>A→XYZ</a:t>
            </a:r>
            <a:r>
              <a:rPr lang="zh-CN" altLang="en-US" b="1" dirty="0">
                <a:ea typeface="宋体" panose="02010600030101010101" pitchFamily="2" charset="-122"/>
              </a:rPr>
              <a:t>的语义规则是</a:t>
            </a:r>
            <a:r>
              <a:rPr lang="en-US" altLang="zh-CN" b="1" dirty="0">
                <a:ea typeface="宋体" panose="02010600030101010101" pitchFamily="2" charset="-122"/>
              </a:rPr>
              <a:t>A.a := f( X.x , Y.y , Z.z )，</a:t>
            </a:r>
            <a:r>
              <a:rPr lang="zh-CN" altLang="en-US" b="1" dirty="0">
                <a:ea typeface="宋体" panose="02010600030101010101" pitchFamily="2" charset="-122"/>
              </a:rPr>
              <a:t>栈中形式如下</a:t>
            </a:r>
            <a:endParaRPr lang="zh-CN" altLang="en-US" b="1" dirty="0">
              <a:ea typeface="宋体" panose="02010600030101010101" pitchFamily="2" charset="-122"/>
            </a:endParaRPr>
          </a:p>
          <a:p>
            <a:pPr marL="1752600" lvl="3" indent="-381000">
              <a:buFont typeface="Wingdings" panose="05000000000000000000" pitchFamily="2" charset="2"/>
              <a:buNone/>
            </a:pPr>
            <a:endParaRPr lang="en-US" altLang="zh-CN" b="1" dirty="0">
              <a:ea typeface="宋体" panose="02010600030101010101" pitchFamily="2" charset="-122"/>
            </a:endParaRPr>
          </a:p>
          <a:p>
            <a:pPr marL="1752600" lvl="3" indent="-381000">
              <a:buFont typeface="Wingdings" panose="05000000000000000000" pitchFamily="2" charset="2"/>
              <a:buNone/>
            </a:pPr>
            <a:endParaRPr lang="en-US" altLang="zh-CN" b="1" dirty="0">
              <a:ea typeface="宋体" panose="02010600030101010101" pitchFamily="2" charset="-122"/>
            </a:endParaRPr>
          </a:p>
          <a:p>
            <a:pPr marL="1752600" lvl="3" indent="-381000">
              <a:buFont typeface="Wingdings" panose="05000000000000000000" pitchFamily="2" charset="2"/>
              <a:buNone/>
            </a:pPr>
            <a:endParaRPr lang="en-US" altLang="zh-CN" b="1" dirty="0">
              <a:ea typeface="宋体" panose="02010600030101010101" pitchFamily="2" charset="-122"/>
            </a:endParaRPr>
          </a:p>
          <a:p>
            <a:pPr marL="1752600" lvl="3" indent="-381000">
              <a:buFont typeface="Wingdings" panose="05000000000000000000" pitchFamily="2" charset="2"/>
              <a:buNone/>
            </a:pPr>
            <a:endParaRPr lang="en-US" altLang="zh-CN" b="1" dirty="0">
              <a:ea typeface="宋体" panose="02010600030101010101" pitchFamily="2" charset="-122"/>
            </a:endParaRPr>
          </a:p>
          <a:p>
            <a:pPr marL="1752600" lvl="3" indent="-381000">
              <a:buFont typeface="Wingdings" panose="05000000000000000000" pitchFamily="2" charset="2"/>
              <a:buNone/>
            </a:pPr>
            <a:endParaRPr lang="en-US" altLang="zh-CN" b="1" dirty="0">
              <a:ea typeface="宋体" panose="02010600030101010101" pitchFamily="2" charset="-122"/>
            </a:endParaRPr>
          </a:p>
          <a:p>
            <a:pPr marL="1752600" lvl="3" indent="-381000">
              <a:buFont typeface="Wingdings" panose="05000000000000000000" pitchFamily="2" charset="2"/>
              <a:buNone/>
            </a:pPr>
            <a:endParaRPr lang="en-US" altLang="zh-CN" b="1" dirty="0">
              <a:ea typeface="宋体" panose="02010600030101010101" pitchFamily="2" charset="-122"/>
            </a:endParaRPr>
          </a:p>
          <a:p>
            <a:pPr marL="1752600" lvl="3" indent="-381000"/>
            <a:r>
              <a:rPr lang="zh-CN" altLang="en-US" b="1" dirty="0">
                <a:ea typeface="宋体" panose="02010600030101010101" pitchFamily="2" charset="-122"/>
              </a:rPr>
              <a:t>在进行归约前，属性</a:t>
            </a:r>
            <a:r>
              <a:rPr lang="en-US" altLang="zh-CN" b="1" dirty="0">
                <a:ea typeface="宋体" panose="02010600030101010101" pitchFamily="2" charset="-122"/>
              </a:rPr>
              <a:t>Z.z</a:t>
            </a:r>
            <a:r>
              <a:rPr lang="zh-CN" altLang="en-US" b="1" dirty="0">
                <a:ea typeface="宋体" panose="02010600030101010101" pitchFamily="2" charset="-122"/>
              </a:rPr>
              <a:t>的值在</a:t>
            </a:r>
            <a:r>
              <a:rPr lang="en-US" altLang="zh-CN" b="1" dirty="0">
                <a:ea typeface="宋体" panose="02010600030101010101" pitchFamily="2" charset="-122"/>
              </a:rPr>
              <a:t>stack[top].val</a:t>
            </a:r>
            <a:r>
              <a:rPr lang="zh-CN" altLang="en-US" b="1" dirty="0">
                <a:ea typeface="宋体" panose="02010600030101010101" pitchFamily="2" charset="-122"/>
              </a:rPr>
              <a:t>中，属性</a:t>
            </a:r>
            <a:r>
              <a:rPr lang="en-US" altLang="zh-CN" b="1" dirty="0">
                <a:ea typeface="宋体" panose="02010600030101010101" pitchFamily="2" charset="-122"/>
              </a:rPr>
              <a:t>Y.y</a:t>
            </a:r>
            <a:r>
              <a:rPr lang="zh-CN" altLang="en-US" b="1" dirty="0">
                <a:ea typeface="宋体" panose="02010600030101010101" pitchFamily="2" charset="-122"/>
              </a:rPr>
              <a:t>的值在</a:t>
            </a:r>
            <a:r>
              <a:rPr lang="en-US" altLang="zh-CN" b="1" dirty="0">
                <a:ea typeface="宋体" panose="02010600030101010101" pitchFamily="2" charset="-122"/>
              </a:rPr>
              <a:t>stack[top-1].val</a:t>
            </a:r>
            <a:r>
              <a:rPr lang="zh-CN" altLang="en-US" b="1" dirty="0">
                <a:ea typeface="宋体" panose="02010600030101010101" pitchFamily="2" charset="-122"/>
              </a:rPr>
              <a:t>中，属性</a:t>
            </a:r>
            <a:r>
              <a:rPr lang="en-US" altLang="zh-CN" b="1" dirty="0">
                <a:ea typeface="宋体" panose="02010600030101010101" pitchFamily="2" charset="-122"/>
              </a:rPr>
              <a:t>X.x</a:t>
            </a:r>
            <a:r>
              <a:rPr lang="zh-CN" altLang="en-US" b="1" dirty="0">
                <a:ea typeface="宋体" panose="02010600030101010101" pitchFamily="2" charset="-122"/>
              </a:rPr>
              <a:t>的值在</a:t>
            </a:r>
            <a:r>
              <a:rPr lang="en-US" altLang="zh-CN" b="1" dirty="0">
                <a:ea typeface="宋体" panose="02010600030101010101" pitchFamily="2" charset="-122"/>
              </a:rPr>
              <a:t>stack[top-2].val</a:t>
            </a:r>
            <a:r>
              <a:rPr lang="zh-CN" altLang="en-US" b="1" dirty="0">
                <a:ea typeface="宋体" panose="02010600030101010101" pitchFamily="2" charset="-122"/>
              </a:rPr>
              <a:t>中</a:t>
            </a:r>
            <a:endParaRPr lang="zh-CN" altLang="en-US" b="1" dirty="0">
              <a:ea typeface="宋体" panose="02010600030101010101" pitchFamily="2" charset="-122"/>
            </a:endParaRPr>
          </a:p>
          <a:p>
            <a:pPr marL="1752600" lvl="3" indent="-381000"/>
            <a:r>
              <a:rPr lang="zh-CN" altLang="en-US" b="1" dirty="0">
                <a:ea typeface="宋体" panose="02010600030101010101" pitchFamily="2" charset="-122"/>
              </a:rPr>
              <a:t>归约后，</a:t>
            </a:r>
            <a:r>
              <a:rPr lang="en-US" altLang="zh-CN" b="1" dirty="0">
                <a:ea typeface="宋体" panose="02010600030101010101" pitchFamily="2" charset="-122"/>
              </a:rPr>
              <a:t>top</a:t>
            </a:r>
            <a:r>
              <a:rPr lang="zh-CN" altLang="en-US" b="1" dirty="0">
                <a:ea typeface="宋体" panose="02010600030101010101" pitchFamily="2" charset="-122"/>
              </a:rPr>
              <a:t>减2，</a:t>
            </a:r>
            <a:r>
              <a:rPr lang="en-US" altLang="zh-CN" b="1" dirty="0">
                <a:ea typeface="宋体" panose="02010600030101010101" pitchFamily="2" charset="-122"/>
              </a:rPr>
              <a:t>A</a:t>
            </a:r>
            <a:r>
              <a:rPr lang="zh-CN" altLang="en-US" b="1" dirty="0">
                <a:ea typeface="宋体" panose="02010600030101010101" pitchFamily="2" charset="-122"/>
              </a:rPr>
              <a:t>放在</a:t>
            </a:r>
            <a:r>
              <a:rPr lang="en-US" altLang="zh-CN" b="1" dirty="0">
                <a:ea typeface="宋体" panose="02010600030101010101" pitchFamily="2" charset="-122"/>
              </a:rPr>
              <a:t>stack[top].state</a:t>
            </a:r>
            <a:r>
              <a:rPr lang="zh-CN" altLang="en-US" b="1" dirty="0">
                <a:ea typeface="宋体" panose="02010600030101010101" pitchFamily="2" charset="-122"/>
              </a:rPr>
              <a:t>中，综合属性的值</a:t>
            </a:r>
            <a:r>
              <a:rPr lang="en-US" altLang="zh-CN" b="1" dirty="0">
                <a:ea typeface="宋体" panose="02010600030101010101" pitchFamily="2" charset="-122"/>
              </a:rPr>
              <a:t>A.a</a:t>
            </a:r>
            <a:r>
              <a:rPr lang="zh-CN" altLang="en-US" b="1" dirty="0">
                <a:ea typeface="宋体" panose="02010600030101010101" pitchFamily="2" charset="-122"/>
              </a:rPr>
              <a:t>放进</a:t>
            </a:r>
            <a:r>
              <a:rPr lang="en-US" altLang="zh-CN" b="1" dirty="0">
                <a:ea typeface="宋体" panose="02010600030101010101" pitchFamily="2" charset="-122"/>
              </a:rPr>
              <a:t>stack[top].val</a:t>
            </a:r>
            <a:r>
              <a:rPr lang="zh-CN" altLang="en-US" b="1" dirty="0">
                <a:ea typeface="宋体" panose="02010600030101010101" pitchFamily="2" charset="-122"/>
              </a:rPr>
              <a:t>中</a:t>
            </a:r>
            <a:endParaRPr lang="zh-CN" altLang="en-US" b="1" dirty="0">
              <a:ea typeface="宋体" panose="02010600030101010101" pitchFamily="2" charset="-122"/>
            </a:endParaRPr>
          </a:p>
        </p:txBody>
      </p:sp>
      <p:pic>
        <p:nvPicPr>
          <p:cNvPr id="90116" name="Picture 2"/>
          <p:cNvPicPr>
            <a:picLocks noChangeAspect="1"/>
          </p:cNvPicPr>
          <p:nvPr/>
        </p:nvPicPr>
        <p:blipFill>
          <a:blip r:embed="rId1"/>
          <a:stretch>
            <a:fillRect/>
          </a:stretch>
        </p:blipFill>
        <p:spPr>
          <a:xfrm>
            <a:off x="304800" y="2563813"/>
            <a:ext cx="8512175" cy="2160587"/>
          </a:xfrm>
          <a:prstGeom prst="rect">
            <a:avLst/>
          </a:prstGeom>
          <a:noFill/>
          <a:ln w="9525">
            <a:noFill/>
          </a:ln>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2163" name="Rectangle 3"/>
          <p:cNvSpPr>
            <a:spLocks noGrp="1"/>
          </p:cNvSpPr>
          <p:nvPr>
            <p:ph idx="1"/>
          </p:nvPr>
        </p:nvSpPr>
        <p:spPr>
          <a:xfrm>
            <a:off x="990600" y="1524000"/>
            <a:ext cx="7391400" cy="1041400"/>
          </a:xfrm>
        </p:spPr>
        <p:txBody>
          <a:bodyPr vert="horz" wrap="square" lIns="92075" tIns="46038" rIns="92075" bIns="46038" anchor="t" anchorCtr="0"/>
          <a:p>
            <a:pPr marL="495300" indent="-495300">
              <a:buNone/>
            </a:pPr>
            <a:r>
              <a:rPr lang="zh-CN" altLang="en-US" sz="2000" b="1" dirty="0">
                <a:ea typeface="宋体" panose="02010600030101010101" pitchFamily="2" charset="-122"/>
              </a:rPr>
              <a:t>例：考虑计算器的</a:t>
            </a:r>
            <a:r>
              <a:rPr lang="en-US" altLang="zh-CN" sz="2000" b="1" dirty="0">
                <a:ea typeface="宋体" panose="02010600030101010101" pitchFamily="2" charset="-122"/>
              </a:rPr>
              <a:t>SDT</a:t>
            </a:r>
            <a:r>
              <a:rPr lang="zh-CN" altLang="en-US" sz="2000" b="1" dirty="0">
                <a:ea typeface="宋体" panose="02010600030101010101" pitchFamily="2" charset="-122"/>
              </a:rPr>
              <a:t>：</a:t>
            </a:r>
            <a:endParaRPr lang="zh-CN" altLang="en-US" sz="2000" b="1" dirty="0">
              <a:ea typeface="宋体" panose="02010600030101010101" pitchFamily="2" charset="-122"/>
            </a:endParaRPr>
          </a:p>
          <a:p>
            <a:pPr marL="495300" indent="-495300">
              <a:buNone/>
            </a:pPr>
            <a:r>
              <a:rPr lang="zh-CN" altLang="en-US" sz="2000" b="1" dirty="0">
                <a:ea typeface="宋体" panose="02010600030101010101" pitchFamily="2" charset="-122"/>
              </a:rPr>
              <a:t>	用</a:t>
            </a:r>
            <a:r>
              <a:rPr lang="en-US" altLang="zh-CN" sz="2000" b="1" dirty="0">
                <a:ea typeface="宋体" panose="02010600030101010101" pitchFamily="2" charset="-122"/>
              </a:rPr>
              <a:t>stack</a:t>
            </a:r>
            <a:r>
              <a:rPr lang="zh-CN" altLang="en-US" sz="2000" b="1" dirty="0">
                <a:ea typeface="宋体" panose="02010600030101010101" pitchFamily="2" charset="-122"/>
              </a:rPr>
              <a:t>数组描述栈，每个记录增加一个字段</a:t>
            </a:r>
            <a:r>
              <a:rPr lang="en-US" altLang="zh-CN" sz="2000" b="1" dirty="0">
                <a:ea typeface="宋体" panose="02010600030101010101" pitchFamily="2" charset="-122"/>
              </a:rPr>
              <a:t>val</a:t>
            </a:r>
            <a:r>
              <a:rPr lang="zh-CN" altLang="en-US" sz="2000" b="1" dirty="0">
                <a:ea typeface="宋体" panose="02010600030101010101" pitchFamily="2" charset="-122"/>
              </a:rPr>
              <a:t>，记录文法符号的属性值</a:t>
            </a:r>
            <a:endParaRPr lang="zh-CN" altLang="en-US" sz="2000" b="1" dirty="0">
              <a:ea typeface="宋体" panose="02010600030101010101" pitchFamily="2" charset="-122"/>
            </a:endParaRPr>
          </a:p>
        </p:txBody>
      </p:sp>
      <p:pic>
        <p:nvPicPr>
          <p:cNvPr id="92164" name="Picture 2"/>
          <p:cNvPicPr>
            <a:picLocks noChangeAspect="1"/>
          </p:cNvPicPr>
          <p:nvPr/>
        </p:nvPicPr>
        <p:blipFill>
          <a:blip r:embed="rId1"/>
          <a:stretch>
            <a:fillRect/>
          </a:stretch>
        </p:blipFill>
        <p:spPr>
          <a:xfrm>
            <a:off x="304800" y="2565400"/>
            <a:ext cx="8485188" cy="4249738"/>
          </a:xfrm>
          <a:prstGeom prst="rect">
            <a:avLst/>
          </a:prstGeom>
          <a:noFill/>
          <a:ln w="9525">
            <a:noFill/>
          </a:ln>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524000"/>
            <a:ext cx="7921625" cy="464185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产生式内部带有语义动作的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语义动作可以放在产生式右部的任何位置</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但要满足依赖关系</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对于产生式</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endPar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如果语法分析过程是自底向上的，则在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的此次出现在分析栈的栈顶（通过移进，或通过归约）时，立即执行语义动作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如果语法分析过程是自顶向下的，则在试图展开</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的本次出现（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为非终结符）或在输入中检测</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是终结符）之前，执行语义动作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属性的以及</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，可以在语法分析过程中实现</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6259" name="Rectangle 3"/>
          <p:cNvSpPr>
            <a:spLocks noGrp="1"/>
          </p:cNvSpPr>
          <p:nvPr>
            <p:ph idx="1"/>
          </p:nvPr>
        </p:nvSpPr>
        <p:spPr>
          <a:xfrm>
            <a:off x="990600" y="1676400"/>
            <a:ext cx="7391400" cy="4419600"/>
          </a:xfrm>
        </p:spPr>
        <p:txBody>
          <a:bodyPr vert="horz" wrap="square" lIns="92075" tIns="46038" rIns="92075" bIns="46038" anchor="t" anchorCtr="0"/>
          <a:p>
            <a:r>
              <a:rPr lang="zh-CN" altLang="en-US" b="1" dirty="0">
                <a:ea typeface="宋体" panose="02010600030101010101" pitchFamily="2" charset="-122"/>
              </a:rPr>
              <a:t>删除翻译方案中嵌入的动作</a:t>
            </a:r>
            <a:endParaRPr lang="en-US" altLang="zh-CN" b="1" dirty="0">
              <a:ea typeface="宋体" panose="02010600030101010101" pitchFamily="2" charset="-122"/>
            </a:endParaRPr>
          </a:p>
          <a:p>
            <a:pPr lvl="1"/>
            <a:r>
              <a:rPr lang="zh-CN" altLang="en-US" b="1" dirty="0">
                <a:ea typeface="宋体" panose="02010600030101010101" pitchFamily="2" charset="-122"/>
              </a:rPr>
              <a:t>改写文法</a:t>
            </a:r>
            <a:endParaRPr lang="zh-CN" altLang="en-US" b="1" dirty="0">
              <a:ea typeface="宋体" panose="02010600030101010101" pitchFamily="2" charset="-122"/>
            </a:endParaRPr>
          </a:p>
          <a:p>
            <a:pPr lvl="2"/>
            <a:r>
              <a:rPr lang="zh-CN" altLang="en-US" b="1" dirty="0">
                <a:ea typeface="宋体" panose="02010600030101010101" pitchFamily="2" charset="-122"/>
              </a:rPr>
              <a:t>使得翻译方案中所有嵌入动作都变成只出现在最右端</a:t>
            </a:r>
            <a:endParaRPr lang="zh-CN" altLang="en-US" b="1" dirty="0">
              <a:ea typeface="宋体" panose="02010600030101010101" pitchFamily="2" charset="-122"/>
            </a:endParaRPr>
          </a:p>
          <a:p>
            <a:pPr lvl="2"/>
            <a:r>
              <a:rPr lang="zh-CN" altLang="en-US" b="1" dirty="0">
                <a:ea typeface="宋体" panose="02010600030101010101" pitchFamily="2" charset="-122"/>
              </a:rPr>
              <a:t>方法：</a:t>
            </a:r>
            <a:endParaRPr lang="zh-CN" altLang="en-US" b="1" dirty="0">
              <a:ea typeface="宋体" panose="02010600030101010101" pitchFamily="2" charset="-122"/>
            </a:endParaRPr>
          </a:p>
          <a:p>
            <a:pPr lvl="3"/>
            <a:r>
              <a:rPr lang="zh-CN" altLang="en-US" b="1" dirty="0">
                <a:ea typeface="宋体" panose="02010600030101010101" pitchFamily="2" charset="-122"/>
              </a:rPr>
              <a:t>在文法中加入产生</a:t>
            </a:r>
            <a:r>
              <a:rPr lang="en-US" altLang="zh-CN" b="1" dirty="0">
                <a:ea typeface="宋体" panose="02010600030101010101" pitchFamily="2" charset="-122"/>
              </a:rPr>
              <a:t>ε</a:t>
            </a:r>
            <a:r>
              <a:rPr lang="zh-CN" altLang="en-US" b="1" dirty="0">
                <a:ea typeface="宋体" panose="02010600030101010101" pitchFamily="2" charset="-122"/>
              </a:rPr>
              <a:t>的</a:t>
            </a:r>
            <a:r>
              <a:rPr lang="zh-CN" altLang="en-US" b="1" dirty="0">
                <a:solidFill>
                  <a:srgbClr val="063DE8"/>
                </a:solidFill>
                <a:ea typeface="宋体" panose="02010600030101010101" pitchFamily="2" charset="-122"/>
              </a:rPr>
              <a:t>标记</a:t>
            </a:r>
            <a:r>
              <a:rPr lang="zh-CN" altLang="en-US" b="1" dirty="0">
                <a:ea typeface="宋体" panose="02010600030101010101" pitchFamily="2" charset="-122"/>
              </a:rPr>
              <a:t>非终结符</a:t>
            </a:r>
            <a:endParaRPr lang="zh-CN" altLang="en-US" b="1" dirty="0">
              <a:ea typeface="宋体" panose="02010600030101010101" pitchFamily="2" charset="-122"/>
            </a:endParaRPr>
          </a:p>
          <a:p>
            <a:pPr lvl="3"/>
            <a:r>
              <a:rPr lang="zh-CN" altLang="en-US" b="1" dirty="0">
                <a:ea typeface="宋体" panose="02010600030101010101" pitchFamily="2" charset="-122"/>
              </a:rPr>
              <a:t>每个嵌入动作用不同的标记非终结符</a:t>
            </a:r>
            <a:r>
              <a:rPr lang="en-US" altLang="zh-CN" b="1" dirty="0">
                <a:ea typeface="宋体" panose="02010600030101010101" pitchFamily="2" charset="-122"/>
              </a:rPr>
              <a:t>M</a:t>
            </a:r>
            <a:r>
              <a:rPr lang="zh-CN" altLang="en-US" b="1" dirty="0">
                <a:ea typeface="宋体" panose="02010600030101010101" pitchFamily="2" charset="-122"/>
              </a:rPr>
              <a:t>代替</a:t>
            </a:r>
            <a:endParaRPr lang="zh-CN" altLang="en-US" b="1" dirty="0">
              <a:ea typeface="宋体" panose="02010600030101010101" pitchFamily="2" charset="-122"/>
            </a:endParaRPr>
          </a:p>
          <a:p>
            <a:pPr lvl="3"/>
            <a:r>
              <a:rPr lang="zh-CN" altLang="en-US" b="1" dirty="0">
                <a:ea typeface="宋体" panose="02010600030101010101" pitchFamily="2" charset="-122"/>
              </a:rPr>
              <a:t>把这个被代替的嵌入动作放在产生式</a:t>
            </a:r>
            <a:r>
              <a:rPr lang="en-US" altLang="zh-CN" b="1" dirty="0">
                <a:ea typeface="宋体" panose="02010600030101010101" pitchFamily="2" charset="-122"/>
              </a:rPr>
              <a:t>M→ε</a:t>
            </a:r>
            <a:r>
              <a:rPr lang="zh-CN" altLang="en-US" b="1" dirty="0">
                <a:ea typeface="宋体" panose="02010600030101010101" pitchFamily="2" charset="-122"/>
              </a:rPr>
              <a:t>的右端</a:t>
            </a:r>
            <a:endParaRPr lang="zh-CN" altLang="en-US" b="1" dirty="0">
              <a:ea typeface="宋体" panose="02010600030101010101" pitchFamily="2" charset="-122"/>
            </a:endParaRPr>
          </a:p>
          <a:p>
            <a:pPr lvl="2"/>
            <a:r>
              <a:rPr lang="zh-CN" altLang="en-US" b="1" dirty="0">
                <a:ea typeface="宋体" panose="02010600030101010101" pitchFamily="2" charset="-122"/>
              </a:rPr>
              <a:t>对分析树的影响：</a:t>
            </a:r>
            <a:endParaRPr lang="zh-CN" altLang="en-US" b="1" dirty="0">
              <a:ea typeface="宋体" panose="02010600030101010101" pitchFamily="2" charset="-122"/>
            </a:endParaRPr>
          </a:p>
          <a:p>
            <a:pPr lvl="3"/>
            <a:r>
              <a:rPr lang="zh-CN" altLang="en-US" b="1" dirty="0">
                <a:ea typeface="宋体" panose="02010600030101010101" pitchFamily="2" charset="-122"/>
              </a:rPr>
              <a:t>用额外的结点表示动作</a:t>
            </a:r>
            <a:endParaRPr lang="zh-CN" altLang="en-US" b="1" dirty="0">
              <a:ea typeface="宋体" panose="02010600030101010101" pitchFamily="2"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8307" name="Rectangle 3"/>
          <p:cNvSpPr>
            <a:spLocks noGrp="1"/>
          </p:cNvSpPr>
          <p:nvPr>
            <p:ph idx="1"/>
          </p:nvPr>
        </p:nvSpPr>
        <p:spPr>
          <a:xfrm>
            <a:off x="990600" y="1676400"/>
            <a:ext cx="7391400" cy="4419600"/>
          </a:xfrm>
        </p:spPr>
        <p:txBody>
          <a:bodyPr vert="horz" wrap="square" lIns="92075" tIns="46038" rIns="92075" bIns="46038" anchor="t" anchorCtr="0"/>
          <a:p>
            <a:pPr lvl="2">
              <a:buFont typeface="Wingdings" panose="05000000000000000000" pitchFamily="2" charset="2"/>
              <a:buNone/>
            </a:pPr>
            <a:r>
              <a:rPr lang="zh-CN" altLang="en-US" b="1" dirty="0">
                <a:ea typeface="宋体" panose="02010600030101010101" pitchFamily="2" charset="-122"/>
              </a:rPr>
              <a:t>例：通过改写文法将嵌入产生式右部中间的动作移到产生式的右端</a:t>
            </a:r>
            <a:endParaRPr lang="zh-CN" altLang="en-US"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E→TR</a:t>
            </a:r>
            <a:endParaRPr lang="en-US" altLang="zh-CN"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R→ + T { print(‘+’) } R | - T { print(‘-’) } R | ε</a:t>
            </a:r>
            <a:endParaRPr lang="en-US" altLang="zh-CN"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T→num { print( num.val) }</a:t>
            </a:r>
            <a:endParaRPr lang="en-US" altLang="zh-CN" b="1" dirty="0">
              <a:ea typeface="宋体" panose="02010600030101010101" pitchFamily="2" charset="-122"/>
            </a:endParaRPr>
          </a:p>
          <a:p>
            <a:pPr lvl="2">
              <a:buFont typeface="Wingdings" panose="05000000000000000000" pitchFamily="2" charset="2"/>
              <a:buNone/>
            </a:pPr>
            <a:r>
              <a:rPr lang="zh-CN" altLang="en-US" b="1" dirty="0">
                <a:ea typeface="宋体" panose="02010600030101010101" pitchFamily="2" charset="-122"/>
              </a:rPr>
              <a:t>改写后：</a:t>
            </a:r>
            <a:endParaRPr lang="zh-CN" altLang="en-US"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E→TR</a:t>
            </a:r>
            <a:endParaRPr lang="en-US" altLang="zh-CN"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R→ + T M R | - T N R | ε</a:t>
            </a:r>
            <a:endParaRPr lang="en-US" altLang="zh-CN"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T→num { print( num.val) }</a:t>
            </a:r>
            <a:endParaRPr lang="en-US" altLang="zh-CN"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M→ε { print(‘+’) }</a:t>
            </a:r>
            <a:endParaRPr lang="en-US" altLang="zh-CN" b="1" dirty="0">
              <a:ea typeface="宋体" panose="02010600030101010101" pitchFamily="2" charset="-122"/>
            </a:endParaRPr>
          </a:p>
          <a:p>
            <a:pPr lvl="3">
              <a:buFont typeface="Wingdings" panose="05000000000000000000" pitchFamily="2" charset="2"/>
              <a:buNone/>
            </a:pPr>
            <a:r>
              <a:rPr lang="en-US" altLang="zh-CN" b="1" dirty="0">
                <a:ea typeface="宋体" panose="02010600030101010101" pitchFamily="2" charset="-122"/>
              </a:rPr>
              <a:t>N→ε { print(‘-’) }</a:t>
            </a:r>
            <a:endParaRPr lang="en-US" altLang="zh-CN" b="1" dirty="0">
              <a:ea typeface="宋体" panose="02010600030101010101" pitchFamily="2"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语法制导的翻译方案（</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613650" cy="464185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不能在语法分析过程中实现的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的例子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如下述表达式前缀形式翻译的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无法在自底向上或自顶向下的语法分析过程中实现上述的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语法分析程序无法在不知道出现的运算符是“*”还是“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”的时候，就执行打印这些符号的操作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即便通过引入标记非终结符</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中的动作移动产生式最右端，但是在处理输入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digit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时，仍然不知道要用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还是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4</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进行归约</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00356" name="Picture 2"/>
          <p:cNvPicPr>
            <a:picLocks noChangeAspect="1"/>
          </p:cNvPicPr>
          <p:nvPr/>
        </p:nvPicPr>
        <p:blipFill>
          <a:blip r:embed="rId1"/>
          <a:stretch>
            <a:fillRect/>
          </a:stretch>
        </p:blipFill>
        <p:spPr>
          <a:xfrm>
            <a:off x="228600" y="2260600"/>
            <a:ext cx="8739188" cy="2176463"/>
          </a:xfrm>
          <a:prstGeom prst="rect">
            <a:avLst/>
          </a:prstGeom>
          <a:noFill/>
          <a:ln w="9525">
            <a:noFill/>
          </a:ln>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2403" name="Rectangle 3"/>
          <p:cNvSpPr>
            <a:spLocks noGrp="1"/>
          </p:cNvSpPr>
          <p:nvPr>
            <p:ph idx="1"/>
          </p:nvPr>
        </p:nvSpPr>
        <p:spPr>
          <a:xfrm>
            <a:off x="990600" y="1676400"/>
            <a:ext cx="7391400" cy="4419600"/>
          </a:xfrm>
        </p:spPr>
        <p:txBody>
          <a:bodyPr vert="horz" wrap="square" lIns="92075" tIns="46038" rIns="92075" bIns="46038" anchor="t" anchorCtr="0"/>
          <a:p>
            <a:r>
              <a:rPr lang="zh-CN" altLang="en-US" b="1" dirty="0">
                <a:ea typeface="宋体" panose="02010600030101010101" pitchFamily="2" charset="-122"/>
              </a:rPr>
              <a:t>任何</a:t>
            </a:r>
            <a:r>
              <a:rPr lang="en-US" altLang="zh-CN" b="1" dirty="0">
                <a:ea typeface="宋体" panose="02010600030101010101" pitchFamily="2" charset="-122"/>
              </a:rPr>
              <a:t>SDT</a:t>
            </a:r>
            <a:r>
              <a:rPr lang="zh-CN" altLang="en-US" b="1" dirty="0">
                <a:ea typeface="宋体" panose="02010600030101010101" pitchFamily="2" charset="-122"/>
              </a:rPr>
              <a:t>都可以按照下列方法实现</a:t>
            </a:r>
            <a:endParaRPr lang="en-US" altLang="zh-CN" b="1" dirty="0">
              <a:ea typeface="宋体" panose="02010600030101010101" pitchFamily="2" charset="-122"/>
            </a:endParaRPr>
          </a:p>
          <a:p>
            <a:pPr marL="914400" lvl="1" indent="-457200">
              <a:buFont typeface="Book Antiqua" panose="02040602050305030304" pitchFamily="18" charset="0"/>
              <a:buAutoNum type="arabicPeriod"/>
            </a:pPr>
            <a:r>
              <a:rPr lang="zh-CN" altLang="en-US" b="1" dirty="0">
                <a:ea typeface="宋体" panose="02010600030101010101" pitchFamily="2" charset="-122"/>
              </a:rPr>
              <a:t>忽略语义动作，对输入进行语法分析，并产生一颗语法分析树</a:t>
            </a:r>
            <a:endParaRPr lang="en-US" altLang="zh-CN" b="1" dirty="0">
              <a:ea typeface="宋体" panose="02010600030101010101" pitchFamily="2" charset="-122"/>
            </a:endParaRPr>
          </a:p>
          <a:p>
            <a:pPr marL="914400" lvl="1" indent="-457200">
              <a:buFont typeface="Book Antiqua" panose="02040602050305030304" pitchFamily="18" charset="0"/>
              <a:buAutoNum type="arabicPeriod"/>
            </a:pPr>
            <a:r>
              <a:rPr lang="zh-CN" altLang="en-US" b="1" dirty="0">
                <a:ea typeface="宋体" panose="02010600030101010101" pitchFamily="2" charset="-122"/>
              </a:rPr>
              <a:t>检查每个内部结点</a:t>
            </a:r>
            <a:r>
              <a:rPr lang="en-US" altLang="zh-CN" b="1" dirty="0">
                <a:ea typeface="宋体" panose="02010600030101010101" pitchFamily="2" charset="-122"/>
              </a:rPr>
              <a:t>N</a:t>
            </a:r>
            <a:r>
              <a:rPr lang="zh-CN" altLang="en-US" b="1" dirty="0">
                <a:ea typeface="宋体" panose="02010600030101010101" pitchFamily="2" charset="-122"/>
              </a:rPr>
              <a:t>， 假设其对应的产生式是</a:t>
            </a:r>
            <a:r>
              <a:rPr lang="en-US" altLang="zh-CN" b="1" dirty="0">
                <a:ea typeface="宋体" panose="02010600030101010101" pitchFamily="2" charset="-122"/>
              </a:rPr>
              <a:t>A→</a:t>
            </a:r>
            <a:r>
              <a:rPr lang="el-GR" altLang="zh-CN" b="1" dirty="0">
                <a:ea typeface="宋体" panose="02010600030101010101" pitchFamily="2" charset="-122"/>
              </a:rPr>
              <a:t>α</a:t>
            </a:r>
            <a:r>
              <a:rPr lang="zh-CN" altLang="en-US" b="1" dirty="0">
                <a:ea typeface="宋体" panose="02010600030101010101" pitchFamily="2" charset="-122"/>
              </a:rPr>
              <a:t>，将</a:t>
            </a:r>
            <a:r>
              <a:rPr lang="el-GR" altLang="zh-CN" b="1" dirty="0">
                <a:ea typeface="宋体" panose="02010600030101010101" pitchFamily="2" charset="-122"/>
              </a:rPr>
              <a:t>α</a:t>
            </a:r>
            <a:r>
              <a:rPr lang="zh-CN" altLang="en-US" b="1" dirty="0">
                <a:ea typeface="宋体" panose="02010600030101010101" pitchFamily="2" charset="-122"/>
              </a:rPr>
              <a:t>中的各个动作当作</a:t>
            </a:r>
            <a:r>
              <a:rPr lang="en-US" altLang="zh-CN" b="1" dirty="0">
                <a:ea typeface="宋体" panose="02010600030101010101" pitchFamily="2" charset="-122"/>
              </a:rPr>
              <a:t>N</a:t>
            </a:r>
            <a:r>
              <a:rPr lang="zh-CN" altLang="en-US" b="1" dirty="0">
                <a:ea typeface="宋体" panose="02010600030101010101" pitchFamily="2" charset="-122"/>
              </a:rPr>
              <a:t>的附加子结点加入，使得</a:t>
            </a:r>
            <a:r>
              <a:rPr lang="en-US" altLang="zh-CN" b="1" dirty="0">
                <a:ea typeface="宋体" panose="02010600030101010101" pitchFamily="2" charset="-122"/>
              </a:rPr>
              <a:t>N</a:t>
            </a:r>
            <a:r>
              <a:rPr lang="zh-CN" altLang="en-US" b="1" dirty="0">
                <a:ea typeface="宋体" panose="02010600030101010101" pitchFamily="2" charset="-122"/>
              </a:rPr>
              <a:t>的子结点从左到右和</a:t>
            </a:r>
            <a:r>
              <a:rPr lang="el-GR" altLang="zh-CN" b="1" dirty="0">
                <a:ea typeface="宋体" panose="02010600030101010101" pitchFamily="2" charset="-122"/>
              </a:rPr>
              <a:t>α</a:t>
            </a:r>
            <a:r>
              <a:rPr lang="zh-CN" altLang="en-US" b="1" dirty="0">
                <a:ea typeface="宋体" panose="02010600030101010101" pitchFamily="2" charset="-122"/>
              </a:rPr>
              <a:t>中的符号以及动作完全一致</a:t>
            </a:r>
            <a:endParaRPr lang="en-US" altLang="zh-CN" b="1" dirty="0">
              <a:ea typeface="宋体" panose="02010600030101010101" pitchFamily="2" charset="-122"/>
            </a:endParaRPr>
          </a:p>
          <a:p>
            <a:pPr marL="914400" lvl="1" indent="-457200">
              <a:buFont typeface="Book Antiqua" panose="02040602050305030304" pitchFamily="18" charset="0"/>
              <a:buAutoNum type="arabicPeriod"/>
            </a:pPr>
            <a:r>
              <a:rPr lang="zh-CN" altLang="en-US" b="1" dirty="0">
                <a:ea typeface="宋体" panose="02010600030101010101" pitchFamily="2" charset="-122"/>
              </a:rPr>
              <a:t>对这颗语法树进行前序遍历，并且当访问到一个以某个动作为标号的结点时，立刻执行这个动作 </a:t>
            </a:r>
            <a:endParaRPr lang="zh-CN" altLang="en-US" b="1"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450" name="Picture 2"/>
          <p:cNvPicPr>
            <a:picLocks noChangeAspect="1"/>
          </p:cNvPicPr>
          <p:nvPr/>
        </p:nvPicPr>
        <p:blipFill>
          <a:blip r:embed="rId1"/>
          <a:stretch>
            <a:fillRect/>
          </a:stretch>
        </p:blipFill>
        <p:spPr>
          <a:xfrm>
            <a:off x="762000" y="457200"/>
            <a:ext cx="7472363" cy="5927725"/>
          </a:xfrm>
          <a:prstGeom prst="rect">
            <a:avLst/>
          </a:prstGeom>
          <a:noFill/>
          <a:ln w="9525">
            <a:noFill/>
          </a:ln>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3"/>
          <p:cNvSpPr>
            <a:spLocks noGrp="1"/>
          </p:cNvSpPr>
          <p:nvPr>
            <p:ph idx="1"/>
          </p:nvPr>
        </p:nvSpPr>
        <p:spPr>
          <a:xfrm>
            <a:off x="611188" y="1524000"/>
            <a:ext cx="7993062" cy="2984500"/>
          </a:xfrm>
        </p:spPr>
        <p:txBody>
          <a:bodyPr vert="horz" wrap="square" lIns="92075" tIns="46038" rIns="92075" bIns="46038" anchor="t" anchorCtr="0"/>
          <a:p>
            <a:pPr marL="495300" indent="-495300"/>
            <a:r>
              <a:rPr lang="zh-CN" altLang="en-US" sz="2400" b="1" dirty="0">
                <a:ea typeface="宋体" panose="02010600030101010101" pitchFamily="2" charset="-122"/>
              </a:rPr>
              <a:t>从</a:t>
            </a:r>
            <a:r>
              <a:rPr lang="en-US" altLang="zh-CN" sz="2400" b="1" dirty="0">
                <a:ea typeface="宋体" panose="02010600030101010101" pitchFamily="2" charset="-122"/>
              </a:rPr>
              <a:t>SDT</a:t>
            </a:r>
            <a:r>
              <a:rPr lang="zh-CN" altLang="en-US" sz="2400" b="1" dirty="0">
                <a:ea typeface="宋体" panose="02010600030101010101" pitchFamily="2" charset="-122"/>
              </a:rPr>
              <a:t>中消除左递归</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自顶向下的语法分析要消除左递归，伴随自顶向下分析的</a:t>
            </a:r>
            <a:r>
              <a:rPr lang="en-US" altLang="zh-CN" sz="2200" b="1" dirty="0">
                <a:ea typeface="宋体" panose="02010600030101010101" pitchFamily="2" charset="-122"/>
              </a:rPr>
              <a:t>SDT</a:t>
            </a:r>
            <a:r>
              <a:rPr lang="zh-CN" altLang="en-US" sz="2200" b="1" dirty="0">
                <a:ea typeface="宋体" panose="02010600030101010101" pitchFamily="2" charset="-122"/>
              </a:rPr>
              <a:t>，需要考虑对应的语义动作如何处理</a:t>
            </a:r>
            <a:endParaRPr lang="en-US" altLang="zh-CN" sz="2200" b="1" dirty="0">
              <a:ea typeface="宋体" panose="02010600030101010101" pitchFamily="2" charset="-122"/>
            </a:endParaRPr>
          </a:p>
          <a:p>
            <a:pPr marL="914400" lvl="1" indent="-457200"/>
            <a:r>
              <a:rPr lang="zh-CN" altLang="en-US" sz="2200" b="1" dirty="0">
                <a:ea typeface="宋体" panose="02010600030101010101" pitchFamily="2" charset="-122"/>
              </a:rPr>
              <a:t>简单的情形</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语义动作类似于打印字符串等（如后缀表达式的翻译），只要关注动作执行的顺序即可</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将动作看成是终结符号，实施第三章介绍的消除左递归的算法即可</a:t>
            </a:r>
            <a:endParaRPr lang="en-US" altLang="zh-CN" sz="2000" b="1" dirty="0">
              <a:ea typeface="宋体" panose="02010600030101010101" pitchFamily="2" charset="-122"/>
            </a:endParaRPr>
          </a:p>
        </p:txBody>
      </p:sp>
      <p:sp>
        <p:nvSpPr>
          <p:cNvPr id="105475"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5476" name="文本框 3"/>
          <p:cNvSpPr txBox="1"/>
          <p:nvPr/>
        </p:nvSpPr>
        <p:spPr>
          <a:xfrm>
            <a:off x="395288" y="4508500"/>
            <a:ext cx="3340100" cy="1323975"/>
          </a:xfrm>
          <a:prstGeom prst="rect">
            <a:avLst/>
          </a:prstGeom>
          <a:solidFill>
            <a:srgbClr val="FFFF00"/>
          </a:solidFill>
          <a:ln w="95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57150" lvl="0" indent="0">
              <a:spcBef>
                <a:spcPct val="0"/>
              </a:spcBef>
              <a:buClrTx/>
              <a:buSzTx/>
              <a:buNone/>
            </a:pPr>
            <a:r>
              <a:rPr lang="zh-CN" altLang="en-US" sz="2000" b="1" dirty="0">
                <a:ea typeface="宋体" panose="02010600030101010101" pitchFamily="2" charset="-122"/>
              </a:rPr>
              <a:t>消除语法分析左递归的方式</a:t>
            </a:r>
            <a:endParaRPr lang="en-US" altLang="zh-CN" sz="2000" b="1" dirty="0">
              <a:ea typeface="宋体" panose="02010600030101010101" pitchFamily="2" charset="-122"/>
            </a:endParaRPr>
          </a:p>
          <a:p>
            <a:pPr marL="57150" lvl="0" indent="0">
              <a:spcBef>
                <a:spcPct val="0"/>
              </a:spcBef>
              <a:buClrTx/>
              <a:buSzTx/>
              <a:buNone/>
            </a:pPr>
            <a:r>
              <a:rPr lang="en-US" altLang="zh-CN" sz="2000" b="1" dirty="0">
                <a:ea typeface="宋体" panose="02010600030101010101" pitchFamily="2" charset="-122"/>
              </a:rPr>
              <a:t>	</a:t>
            </a:r>
            <a:r>
              <a:rPr lang="zh-CN" altLang="en-US" sz="2000" b="1" dirty="0">
                <a:ea typeface="宋体" panose="02010600030101010101" pitchFamily="2" charset="-122"/>
              </a:rPr>
              <a:t>     </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A</a:t>
            </a:r>
            <a:r>
              <a:rPr lang="el-GR" altLang="zh-CN" sz="2000" b="1" dirty="0">
                <a:ea typeface="宋体" panose="02010600030101010101" pitchFamily="2" charset="-122"/>
              </a:rPr>
              <a:t>α</a:t>
            </a:r>
            <a:r>
              <a:rPr lang="en-US" altLang="zh-CN" sz="2000" b="1" dirty="0">
                <a:ea typeface="宋体" panose="02010600030101010101" pitchFamily="2" charset="-122"/>
              </a:rPr>
              <a:t> | </a:t>
            </a:r>
            <a:r>
              <a:rPr lang="el-GR" altLang="zh-CN" sz="2000" b="1" dirty="0">
                <a:ea typeface="宋体" panose="02010600030101010101" pitchFamily="2" charset="-122"/>
              </a:rPr>
              <a:t>β</a:t>
            </a:r>
            <a:endParaRPr lang="en-US" altLang="zh-CN" sz="2000" b="1" dirty="0">
              <a:ea typeface="宋体" panose="02010600030101010101" pitchFamily="2" charset="-122"/>
            </a:endParaRPr>
          </a:p>
          <a:p>
            <a:pPr marL="57150" lvl="0" indent="0">
              <a:spcBef>
                <a:spcPct val="0"/>
              </a:spcBef>
              <a:buClrTx/>
              <a:buSzTx/>
              <a:buNone/>
            </a:pPr>
            <a:r>
              <a:rPr lang="zh-CN" altLang="en-US" sz="2000" b="1" dirty="0">
                <a:ea typeface="宋体" panose="02010600030101010101" pitchFamily="2" charset="-122"/>
              </a:rPr>
              <a:t>变换为：   </a:t>
            </a:r>
            <a:r>
              <a:rPr lang="en-US" altLang="zh-CN" sz="2000" b="1" dirty="0">
                <a:ea typeface="宋体" panose="02010600030101010101" pitchFamily="2" charset="-122"/>
              </a:rPr>
              <a:t>A</a:t>
            </a:r>
            <a:r>
              <a:rPr lang="zh-CN" altLang="en-US" sz="2000" b="1" dirty="0">
                <a:ea typeface="宋体" panose="02010600030101010101" pitchFamily="2" charset="-122"/>
              </a:rPr>
              <a:t>→</a:t>
            </a:r>
            <a:r>
              <a:rPr lang="el-GR" altLang="zh-CN" sz="2000" b="1" dirty="0">
                <a:ea typeface="宋体" panose="02010600030101010101" pitchFamily="2" charset="-122"/>
              </a:rPr>
              <a:t>β</a:t>
            </a:r>
            <a:r>
              <a:rPr lang="en-US" altLang="zh-CN" sz="2000" b="1" dirty="0">
                <a:ea typeface="宋体" panose="02010600030101010101" pitchFamily="2" charset="-122"/>
              </a:rPr>
              <a:t>R</a:t>
            </a:r>
            <a:endParaRPr lang="en-US" altLang="zh-CN" sz="2000" b="1" dirty="0">
              <a:ea typeface="宋体" panose="02010600030101010101" pitchFamily="2" charset="-122"/>
            </a:endParaRPr>
          </a:p>
          <a:p>
            <a:pPr marL="57150" lvl="0" indent="0">
              <a:spcBef>
                <a:spcPct val="0"/>
              </a:spcBef>
              <a:buClrTx/>
              <a:buSzTx/>
              <a:buNone/>
            </a:pPr>
            <a:r>
              <a:rPr lang="en-US" altLang="zh-CN" sz="2000" b="1" dirty="0">
                <a:ea typeface="宋体" panose="02010600030101010101" pitchFamily="2" charset="-122"/>
              </a:rPr>
              <a:t>	 </a:t>
            </a:r>
            <a:r>
              <a:rPr lang="zh-CN" altLang="en-US" sz="2000" b="1" dirty="0">
                <a:ea typeface="宋体" panose="02010600030101010101" pitchFamily="2" charset="-122"/>
              </a:rPr>
              <a:t>   </a:t>
            </a:r>
            <a:r>
              <a:rPr lang="en-US" altLang="zh-CN" sz="2000" b="1" dirty="0">
                <a:ea typeface="宋体" panose="02010600030101010101" pitchFamily="2" charset="-122"/>
              </a:rPr>
              <a:t> R</a:t>
            </a:r>
            <a:r>
              <a:rPr lang="zh-CN" altLang="en-US" sz="2000" b="1" dirty="0">
                <a:ea typeface="宋体" panose="02010600030101010101" pitchFamily="2" charset="-122"/>
              </a:rPr>
              <a:t>→</a:t>
            </a:r>
            <a:r>
              <a:rPr lang="el-GR" altLang="zh-CN" sz="2000" b="1" dirty="0">
                <a:ea typeface="宋体" panose="02010600030101010101" pitchFamily="2" charset="-122"/>
              </a:rPr>
              <a:t> α</a:t>
            </a:r>
            <a:r>
              <a:rPr lang="en-US" altLang="zh-CN" sz="2000" b="1" dirty="0">
                <a:ea typeface="宋体" panose="02010600030101010101" pitchFamily="2" charset="-122"/>
              </a:rPr>
              <a:t>R  |  </a:t>
            </a:r>
            <a:r>
              <a:rPr lang="el-GR" altLang="zh-CN" sz="2000" b="1" dirty="0">
                <a:ea typeface="宋体" panose="02010600030101010101" pitchFamily="2" charset="-122"/>
              </a:rPr>
              <a:t>ε</a:t>
            </a:r>
            <a:endParaRPr lang="zh-CN" altLang="en-US" sz="2000" dirty="0">
              <a:ea typeface="宋体" panose="02010600030101010101" pitchFamily="2" charset="-122"/>
            </a:endParaRPr>
          </a:p>
        </p:txBody>
      </p:sp>
      <p:sp>
        <p:nvSpPr>
          <p:cNvPr id="105477" name="文本框 4"/>
          <p:cNvSpPr txBox="1"/>
          <p:nvPr/>
        </p:nvSpPr>
        <p:spPr>
          <a:xfrm>
            <a:off x="3951288" y="4508500"/>
            <a:ext cx="4868862" cy="2247900"/>
          </a:xfrm>
          <a:prstGeom prst="rect">
            <a:avLst/>
          </a:prstGeom>
          <a:solidFill>
            <a:srgbClr val="FFFF99"/>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57150" lvl="0" indent="0">
              <a:spcBef>
                <a:spcPct val="0"/>
              </a:spcBef>
              <a:buClrTx/>
              <a:buSzTx/>
              <a:buNone/>
            </a:pPr>
            <a:r>
              <a:rPr lang="zh-CN" altLang="en-US" sz="2000" b="1" dirty="0">
                <a:ea typeface="宋体" panose="02010600030101010101" pitchFamily="2" charset="-122"/>
              </a:rPr>
              <a:t>考虑表达式后缀翻译的</a:t>
            </a:r>
            <a:r>
              <a:rPr lang="en-US" altLang="zh-CN" sz="2000" b="1" dirty="0">
                <a:ea typeface="宋体" panose="02010600030101010101" pitchFamily="2" charset="-122"/>
              </a:rPr>
              <a:t>SDT</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57150" lvl="0" indent="0">
              <a:spcBef>
                <a:spcPct val="0"/>
              </a:spcBef>
              <a:buClrTx/>
              <a:buSzTx/>
              <a:buNone/>
            </a:pPr>
            <a:r>
              <a:rPr lang="en-US" altLang="zh-CN" sz="2000" b="1" dirty="0">
                <a:ea typeface="宋体" panose="02010600030101010101" pitchFamily="2" charset="-122"/>
              </a:rPr>
              <a:t>	E</a:t>
            </a:r>
            <a:r>
              <a:rPr lang="zh-CN" altLang="en-US" sz="2000" b="1" dirty="0">
                <a:ea typeface="宋体" panose="02010600030101010101" pitchFamily="2" charset="-122"/>
              </a:rPr>
              <a:t> → </a:t>
            </a:r>
            <a:r>
              <a:rPr lang="en-US" altLang="zh-CN" sz="2000" b="1" dirty="0">
                <a:ea typeface="宋体" panose="02010600030101010101" pitchFamily="2" charset="-122"/>
              </a:rPr>
              <a:t>E</a:t>
            </a:r>
            <a:r>
              <a:rPr lang="en-US" altLang="zh-CN" sz="2000" b="1" baseline="-25000" dirty="0">
                <a:ea typeface="宋体" panose="02010600030101010101" pitchFamily="2" charset="-122"/>
              </a:rPr>
              <a:t>1</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T</a:t>
            </a:r>
            <a:r>
              <a:rPr lang="zh-CN" altLang="en-US" sz="2000" b="1" dirty="0">
                <a:ea typeface="宋体" panose="02010600030101010101" pitchFamily="2" charset="-122"/>
              </a:rPr>
              <a:t> </a:t>
            </a:r>
            <a:r>
              <a:rPr lang="en-US" altLang="zh-CN" sz="2000" b="1" dirty="0">
                <a:ea typeface="宋体" panose="02010600030101010101" pitchFamily="2" charset="-122"/>
              </a:rPr>
              <a:t>{ print( ‘ + ’ ) ;</a:t>
            </a:r>
            <a:r>
              <a:rPr lang="zh-CN" altLang="en-US" sz="2000" b="1" dirty="0">
                <a:ea typeface="宋体" panose="02010600030101010101" pitchFamily="2" charset="-122"/>
              </a:rPr>
              <a:t> </a:t>
            </a:r>
            <a:r>
              <a:rPr lang="en-US" altLang="zh-CN" sz="2000" b="1" dirty="0">
                <a:ea typeface="宋体" panose="02010600030101010101" pitchFamily="2" charset="-122"/>
              </a:rPr>
              <a:t> }</a:t>
            </a:r>
            <a:endParaRPr lang="en-US" altLang="zh-CN" sz="2000" b="1" dirty="0">
              <a:ea typeface="宋体" panose="02010600030101010101" pitchFamily="2" charset="-122"/>
            </a:endParaRPr>
          </a:p>
          <a:p>
            <a:pPr marL="57150" lvl="0" indent="0">
              <a:spcBef>
                <a:spcPct val="0"/>
              </a:spcBef>
              <a:buClrTx/>
              <a:buSzTx/>
              <a:buNone/>
            </a:pPr>
            <a:r>
              <a:rPr lang="en-US" altLang="zh-CN" sz="2000" b="1" dirty="0">
                <a:ea typeface="宋体" panose="02010600030101010101" pitchFamily="2" charset="-122"/>
              </a:rPr>
              <a:t>	E</a:t>
            </a:r>
            <a:r>
              <a:rPr lang="zh-CN" altLang="en-US" sz="2000" b="1" dirty="0">
                <a:ea typeface="宋体" panose="02010600030101010101" pitchFamily="2" charset="-122"/>
              </a:rPr>
              <a:t> → </a:t>
            </a:r>
            <a:r>
              <a:rPr lang="en-US" altLang="zh-CN" sz="2000" b="1" dirty="0">
                <a:ea typeface="宋体" panose="02010600030101010101" pitchFamily="2" charset="-122"/>
              </a:rPr>
              <a:t>T</a:t>
            </a:r>
            <a:endParaRPr lang="en-US" altLang="zh-CN" sz="2000" b="1" dirty="0">
              <a:ea typeface="宋体" panose="02010600030101010101" pitchFamily="2" charset="-122"/>
            </a:endParaRPr>
          </a:p>
          <a:p>
            <a:pPr marL="57150" lvl="0" indent="0">
              <a:spcBef>
                <a:spcPct val="0"/>
              </a:spcBef>
              <a:buClrTx/>
              <a:buSzTx/>
              <a:buNone/>
            </a:pPr>
            <a:r>
              <a:rPr lang="zh-CN" altLang="en-US" sz="2000" b="1" dirty="0">
                <a:ea typeface="宋体" panose="02010600030101010101" pitchFamily="2" charset="-122"/>
              </a:rPr>
              <a:t>此处的 </a:t>
            </a:r>
            <a:r>
              <a:rPr lang="el-GR" altLang="zh-CN" sz="2000" b="1" dirty="0">
                <a:ea typeface="宋体" panose="02010600030101010101" pitchFamily="2" charset="-122"/>
              </a:rPr>
              <a:t>α</a:t>
            </a:r>
            <a:r>
              <a:rPr lang="en-US" altLang="zh-CN" sz="2000" b="1" dirty="0">
                <a:ea typeface="宋体" panose="02010600030101010101" pitchFamily="2" charset="-122"/>
              </a:rPr>
              <a:t>=</a:t>
            </a:r>
            <a:r>
              <a:rPr lang="el-GR" altLang="zh-CN"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T</a:t>
            </a:r>
            <a:r>
              <a:rPr lang="zh-CN" altLang="en-US" sz="2000" b="1" dirty="0">
                <a:ea typeface="宋体" panose="02010600030101010101" pitchFamily="2" charset="-122"/>
              </a:rPr>
              <a:t> </a:t>
            </a:r>
            <a:r>
              <a:rPr lang="en-US" altLang="zh-CN" sz="2000" b="1" dirty="0">
                <a:ea typeface="宋体" panose="02010600030101010101" pitchFamily="2" charset="-122"/>
              </a:rPr>
              <a:t>{ print( ‘ + ’ ) ; }</a:t>
            </a:r>
            <a:r>
              <a:rPr lang="zh-CN" altLang="en-US" sz="2000" b="1" dirty="0">
                <a:ea typeface="宋体" panose="02010600030101010101" pitchFamily="2" charset="-122"/>
              </a:rPr>
              <a:t>，</a:t>
            </a:r>
            <a:r>
              <a:rPr lang="el-GR" altLang="zh-CN" sz="2000" b="1" dirty="0">
                <a:ea typeface="宋体" panose="02010600030101010101" pitchFamily="2" charset="-122"/>
              </a:rPr>
              <a:t> β</a:t>
            </a:r>
            <a:r>
              <a:rPr lang="zh-CN" altLang="en-US" sz="2000" b="1" dirty="0">
                <a:ea typeface="宋体" panose="02010600030101010101" pitchFamily="2" charset="-122"/>
              </a:rPr>
              <a:t>是</a:t>
            </a:r>
            <a:r>
              <a:rPr lang="en-US" altLang="zh-CN" sz="2000" b="1" dirty="0">
                <a:ea typeface="宋体" panose="02010600030101010101" pitchFamily="2" charset="-122"/>
              </a:rPr>
              <a:t>T</a:t>
            </a:r>
            <a:endParaRPr lang="en-US" altLang="zh-CN" sz="2000" b="1" dirty="0">
              <a:ea typeface="宋体" panose="02010600030101010101" pitchFamily="2" charset="-122"/>
            </a:endParaRPr>
          </a:p>
          <a:p>
            <a:pPr marL="57150" lvl="0" indent="0">
              <a:spcBef>
                <a:spcPct val="0"/>
              </a:spcBef>
              <a:buClrTx/>
              <a:buSzTx/>
              <a:buNone/>
            </a:pPr>
            <a:r>
              <a:rPr lang="zh-CN" altLang="en-US" sz="2000" b="1" dirty="0">
                <a:ea typeface="宋体" panose="02010600030101010101" pitchFamily="2" charset="-122"/>
              </a:rPr>
              <a:t>所以消除左递归后的</a:t>
            </a:r>
            <a:r>
              <a:rPr lang="en-US" altLang="zh-CN" sz="2000" b="1" dirty="0">
                <a:ea typeface="宋体" panose="02010600030101010101" pitchFamily="2" charset="-122"/>
              </a:rPr>
              <a:t>SDT</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57150" lvl="0" indent="0">
              <a:spcBef>
                <a:spcPct val="0"/>
              </a:spcBef>
              <a:buClrTx/>
              <a:buSzTx/>
              <a:buNone/>
            </a:pPr>
            <a:r>
              <a:rPr lang="en-US" altLang="zh-CN" sz="2000" b="1" dirty="0">
                <a:ea typeface="宋体" panose="02010600030101010101" pitchFamily="2" charset="-122"/>
              </a:rPr>
              <a:t>	E</a:t>
            </a:r>
            <a:r>
              <a:rPr lang="zh-CN" altLang="en-US" sz="2000" b="1" dirty="0">
                <a:ea typeface="宋体" panose="02010600030101010101" pitchFamily="2" charset="-122"/>
              </a:rPr>
              <a:t> → </a:t>
            </a:r>
            <a:r>
              <a:rPr lang="en-US" altLang="zh-CN" sz="2000" b="1" dirty="0">
                <a:ea typeface="宋体" panose="02010600030101010101" pitchFamily="2" charset="-122"/>
              </a:rPr>
              <a:t>T</a:t>
            </a:r>
            <a:r>
              <a:rPr lang="zh-CN" altLang="en-US" sz="2000" b="1" dirty="0">
                <a:ea typeface="宋体" panose="02010600030101010101" pitchFamily="2" charset="-122"/>
              </a:rPr>
              <a:t> </a:t>
            </a:r>
            <a:r>
              <a:rPr lang="en-US" altLang="zh-CN" sz="2000" b="1" dirty="0">
                <a:ea typeface="宋体" panose="02010600030101010101" pitchFamily="2" charset="-122"/>
              </a:rPr>
              <a:t>R</a:t>
            </a:r>
            <a:endParaRPr lang="en-US" altLang="zh-CN" sz="2000" b="1" dirty="0">
              <a:ea typeface="宋体" panose="02010600030101010101" pitchFamily="2" charset="-122"/>
            </a:endParaRPr>
          </a:p>
          <a:p>
            <a:pPr marL="57150" lvl="0" indent="0">
              <a:spcBef>
                <a:spcPct val="0"/>
              </a:spcBef>
              <a:buClrTx/>
              <a:buSzTx/>
              <a:buNone/>
            </a:pPr>
            <a:r>
              <a:rPr lang="en-US" altLang="zh-CN" sz="2000" b="1" dirty="0">
                <a:ea typeface="宋体" panose="02010600030101010101" pitchFamily="2" charset="-122"/>
              </a:rPr>
              <a:t>	R</a:t>
            </a:r>
            <a:r>
              <a:rPr lang="zh-CN" altLang="en-US" sz="2000" b="1" dirty="0">
                <a:ea typeface="宋体" panose="02010600030101010101" pitchFamily="2" charset="-122"/>
              </a:rPr>
              <a:t> →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T</a:t>
            </a:r>
            <a:r>
              <a:rPr lang="zh-CN" altLang="en-US" sz="2000" b="1" dirty="0">
                <a:ea typeface="宋体" panose="02010600030101010101" pitchFamily="2" charset="-122"/>
              </a:rPr>
              <a:t> </a:t>
            </a:r>
            <a:r>
              <a:rPr lang="en-US" altLang="zh-CN" sz="2000" b="1" dirty="0">
                <a:ea typeface="宋体" panose="02010600030101010101" pitchFamily="2" charset="-122"/>
              </a:rPr>
              <a:t>{ print( ‘ + ’ ) ; }</a:t>
            </a:r>
            <a:r>
              <a:rPr lang="zh-CN" altLang="en-US" sz="2000" b="1" dirty="0">
                <a:ea typeface="宋体" panose="02010600030101010101" pitchFamily="2" charset="-122"/>
              </a:rPr>
              <a:t> </a:t>
            </a:r>
            <a:r>
              <a:rPr lang="en-US" altLang="zh-CN" sz="2000" b="1" dirty="0">
                <a:ea typeface="宋体" panose="02010600030101010101" pitchFamily="2" charset="-122"/>
              </a:rPr>
              <a:t>R | </a:t>
            </a:r>
            <a:r>
              <a:rPr lang="el-GR" altLang="zh-CN" sz="2000" b="1" dirty="0">
                <a:ea typeface="宋体" panose="02010600030101010101" pitchFamily="2" charset="-122"/>
              </a:rPr>
              <a:t>ε</a:t>
            </a:r>
            <a:endParaRPr lang="en-US" altLang="zh-CN" sz="2000" b="1" dirty="0">
              <a:ea typeface="宋体" panose="02010600030101010101" pitchFamily="2"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4931" name="Rectangle 3"/>
          <p:cNvSpPr>
            <a:spLocks noGrp="1" noChangeArrowheads="1"/>
          </p:cNvSpPr>
          <p:nvPr>
            <p:ph idx="1"/>
          </p:nvPr>
        </p:nvSpPr>
        <p:spPr>
          <a:xfrm>
            <a:off x="762000" y="1371600"/>
            <a:ext cx="7848600" cy="5105400"/>
          </a:xfrm>
        </p:spPr>
        <p:txBody>
          <a:bodyPr vert="horz" wrap="square" lIns="92075" tIns="46038" rIns="92075" bIns="46038" numCol="1" anchor="t" anchorCtr="0" compatLnSpc="1"/>
          <a:lstStyle/>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，可以通过如下方法得到一个消除了左递归的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左递归消除的一般方法：可用于更复杂的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属性</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将问题抽象化：</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eriod"/>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原有的翻译方案：</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A→A</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Y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A.a</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g( A</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.a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Y.y</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A→X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A.a</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f(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X.x</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在此翻译方案中，每个文法符号的属性都是综合属性</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g</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f</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可以是任意的函数，用到的属性作为其参数出现</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AutoNum type="arabicPeriod" startAt="2"/>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新的翻译方案：</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没有左递归的文法：</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A→X R</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R→Y R |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再考虑新的翻译方案，每个属性的计算都满足依赖关系：</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A→X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R.i</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f(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X.x</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A.a</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R.s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R→Y   { R</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.i := g(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R.i</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Y.y</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  R</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R.s := R</a:t>
            </a:r>
            <a:r>
              <a:rPr kumimoji="0" lang="en-US" altLang="zh-CN" sz="16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.s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171700" marR="0" lvl="4" indent="-34290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R→</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ε</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 R.s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R.i</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109571" name="Object 5"/>
          <p:cNvGraphicFramePr>
            <a:graphicFrameLocks noChangeAspect="1"/>
          </p:cNvGraphicFramePr>
          <p:nvPr/>
        </p:nvGraphicFramePr>
        <p:xfrm>
          <a:off x="914400" y="1600200"/>
          <a:ext cx="7343775" cy="4419600"/>
        </p:xfrm>
        <a:graphic>
          <a:graphicData uri="http://schemas.openxmlformats.org/presentationml/2006/ole">
            <mc:AlternateContent xmlns:mc="http://schemas.openxmlformats.org/markup-compatibility/2006">
              <mc:Choice xmlns:v="urn:schemas-microsoft-com:vml" Requires="v">
                <p:oleObj spid="_x0000_s3078" name="" r:id="rId1" imgW="7329170" imgH="4149725" progId="Visio.Drawing.6">
                  <p:embed/>
                </p:oleObj>
              </mc:Choice>
              <mc:Fallback>
                <p:oleObj name="" r:id="rId1" imgW="7329170" imgH="4149725" progId="Visio.Drawing.6">
                  <p:embed/>
                  <p:pic>
                    <p:nvPicPr>
                      <p:cNvPr id="0" name="图片 3077"/>
                      <p:cNvPicPr/>
                      <p:nvPr/>
                    </p:nvPicPr>
                    <p:blipFill>
                      <a:blip r:embed="rId2"/>
                      <a:stretch>
                        <a:fillRect/>
                      </a:stretch>
                    </p:blipFill>
                    <p:spPr>
                      <a:xfrm>
                        <a:off x="914400" y="1600200"/>
                        <a:ext cx="7343775" cy="4419600"/>
                      </a:xfrm>
                      <a:prstGeom prst="rect">
                        <a:avLst/>
                      </a:prstGeom>
                      <a:noFill/>
                      <a:ln w="38100">
                        <a:noFill/>
                        <a:miter/>
                      </a:ln>
                    </p:spPr>
                  </p:pic>
                </p:oleObj>
              </mc:Fallback>
            </mc:AlternateContent>
          </a:graphicData>
        </a:graphic>
      </p:graphicFrame>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11619" name="Rectangle 3"/>
          <p:cNvSpPr>
            <a:spLocks noGrp="1"/>
          </p:cNvSpPr>
          <p:nvPr>
            <p:ph idx="1"/>
          </p:nvPr>
        </p:nvSpPr>
        <p:spPr>
          <a:xfrm>
            <a:off x="755650" y="1371600"/>
            <a:ext cx="7920038" cy="4800600"/>
          </a:xfrm>
        </p:spPr>
        <p:txBody>
          <a:bodyPr vert="horz" wrap="square" lIns="92075" tIns="46038" rIns="92075" bIns="46038" anchor="t" anchorCtr="0"/>
          <a:p>
            <a:pPr marL="514350" indent="-457200"/>
            <a:r>
              <a:rPr lang="zh-CN" altLang="en-US" sz="2400" b="1" dirty="0">
                <a:ea typeface="宋体" panose="02010600030101010101" pitchFamily="2" charset="-122"/>
              </a:rPr>
              <a:t>继承属性被引入的原因：</a:t>
            </a:r>
            <a:endParaRPr lang="zh-CN" altLang="en-US" sz="2400" b="1" dirty="0">
              <a:ea typeface="宋体" panose="02010600030101010101" pitchFamily="2" charset="-122"/>
            </a:endParaRPr>
          </a:p>
          <a:p>
            <a:pPr marL="933450" lvl="1" indent="-419100"/>
            <a:r>
              <a:rPr lang="zh-CN" altLang="en-US" sz="2200" b="1" dirty="0">
                <a:ea typeface="宋体" panose="02010600030101010101" pitchFamily="2" charset="-122"/>
              </a:rPr>
              <a:t>把文法从左递归改成右递归后会出现继承属性</a:t>
            </a:r>
            <a:endParaRPr lang="zh-CN" altLang="en-US" sz="2200" b="1" dirty="0">
              <a:ea typeface="宋体" panose="02010600030101010101" pitchFamily="2" charset="-122"/>
            </a:endParaRPr>
          </a:p>
          <a:p>
            <a:pPr marL="933450" lvl="1" indent="-419100"/>
            <a:r>
              <a:rPr lang="zh-CN" altLang="en-US" sz="2200" b="1" dirty="0">
                <a:ea typeface="宋体" panose="02010600030101010101" pitchFamily="2" charset="-122"/>
              </a:rPr>
              <a:t>属性信息是从左向右流的，而归约也是从左向右进行，比较自然</a:t>
            </a:r>
            <a:endParaRPr lang="zh-CN" altLang="en-US" sz="2200" b="1" dirty="0">
              <a:ea typeface="宋体" panose="02010600030101010101" pitchFamily="2" charset="-122"/>
            </a:endParaRPr>
          </a:p>
          <a:p>
            <a:pPr marL="933450" lvl="1" indent="-419100"/>
            <a:r>
              <a:rPr lang="zh-CN" altLang="en-US" sz="2200" b="1" dirty="0">
                <a:ea typeface="宋体" panose="02010600030101010101" pitchFamily="2" charset="-122"/>
              </a:rPr>
              <a:t>改成从右归约后，信息的流向与归约的方向不一致，可能导致继承属性的出现</a:t>
            </a:r>
            <a:endParaRPr lang="zh-CN" altLang="en-US" sz="2200" b="1" dirty="0">
              <a:ea typeface="宋体" panose="02010600030101010101" pitchFamily="2"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4931" name="Rectangle 3"/>
          <p:cNvSpPr>
            <a:spLocks noGrp="1" noChangeArrowheads="1"/>
          </p:cNvSpPr>
          <p:nvPr>
            <p:ph idx="1"/>
          </p:nvPr>
        </p:nvSpPr>
        <p:spPr>
          <a:xfrm>
            <a:off x="762000" y="1371600"/>
            <a:ext cx="7848600" cy="5105400"/>
          </a:xfrm>
        </p:spPr>
        <p:txBody>
          <a:bodyPr vert="horz" wrap="square" lIns="92075" tIns="46038" rIns="92075" bIns="46038" numCol="1" anchor="t" anchorCtr="0" compatLnSpc="1"/>
          <a:lstStyle/>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假设基础文法以自顶向下的方式进行语法分析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否则，翻译过程常常无法和一个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或</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语法分析器一起完成</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可以将语义动作附加在语法分析树上，并对该树进行前序遍历时执行这些动作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属性的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转换为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SDT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的规则</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把计算某个非终结符</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的继承属性的动作插入到产生式体中紧靠在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的本次出现之前的位置上。如果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的多个继承属性以无环的方式互相依赖，则这些属性的求值动作顺序要满足依赖约束</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将计算一个产生式头（左部）的综合属性的动作放置在这个产生式体（右部）的最右端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rPr>
              <a:t>上述规则的本质是使得属性的计算满足属性间的依赖关系</a:t>
            </a:r>
            <a:endPar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4931" name="Rectangle 3"/>
          <p:cNvSpPr>
            <a:spLocks noGrp="1" noChangeArrowheads="1"/>
          </p:cNvSpPr>
          <p:nvPr>
            <p:ph idx="1"/>
          </p:nvPr>
        </p:nvSpPr>
        <p:spPr>
          <a:xfrm>
            <a:off x="762000" y="1371600"/>
            <a:ext cx="7848600" cy="5105400"/>
          </a:xfrm>
        </p:spPr>
        <p:txBody>
          <a:bodyPr vert="horz" wrap="square" lIns="92075" tIns="46038" rIns="92075" bIns="46038" numCol="1" anchor="t" anchorCtr="0" compatLnSpc="1"/>
          <a:lstStyle/>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的例子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数学公式排版语言文法的抽象，每个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表示一个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Box</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 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sub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  |  text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上述文法的解释</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第一个产生式，两个并列的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Box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，其中第一个</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在另一个</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的左边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第二个产生式，一个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Box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和一个下标</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Box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，第二个尺寸小且位置低，位于第一个的右边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第三个产生式，用于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Box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和下标的分组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第四个产生式，一个文本串，可以是任意字符串</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排版过程是由较小的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Box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构建较大的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Box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的过程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115716" name="Picture 2"/>
          <p:cNvPicPr>
            <a:picLocks noChangeAspect="1"/>
          </p:cNvPicPr>
          <p:nvPr/>
        </p:nvPicPr>
        <p:blipFill>
          <a:blip r:embed="rId1"/>
          <a:stretch>
            <a:fillRect/>
          </a:stretch>
        </p:blipFill>
        <p:spPr>
          <a:xfrm>
            <a:off x="0" y="5229225"/>
            <a:ext cx="8993188" cy="1571625"/>
          </a:xfrm>
          <a:prstGeom prst="rect">
            <a:avLst/>
          </a:prstGeom>
          <a:noFill/>
          <a:ln w="9525">
            <a:noFill/>
          </a:ln>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17763" name="Rectangle 3"/>
          <p:cNvSpPr>
            <a:spLocks noGrp="1"/>
          </p:cNvSpPr>
          <p:nvPr>
            <p:ph idx="1"/>
          </p:nvPr>
        </p:nvSpPr>
        <p:spPr>
          <a:xfrm>
            <a:off x="762000" y="1371600"/>
            <a:ext cx="7848600" cy="5105400"/>
          </a:xfrm>
        </p:spPr>
        <p:txBody>
          <a:bodyPr vert="horz" wrap="square" lIns="92075" tIns="46038" rIns="92075" bIns="46038" anchor="t" anchorCtr="0"/>
          <a:p>
            <a:pPr marL="514350" indent="-457200">
              <a:lnSpc>
                <a:spcPct val="90000"/>
              </a:lnSpc>
            </a:pPr>
            <a:r>
              <a:rPr lang="en-US" altLang="zh-CN" sz="2400" b="1" dirty="0">
                <a:ea typeface="宋体" panose="02010600030101010101" pitchFamily="2" charset="-122"/>
              </a:rPr>
              <a:t>L</a:t>
            </a:r>
            <a:r>
              <a:rPr lang="zh-CN" altLang="en-US" sz="2400" b="1" dirty="0">
                <a:ea typeface="宋体" panose="02010600030101010101" pitchFamily="2" charset="-122"/>
              </a:rPr>
              <a:t>属性定义的</a:t>
            </a:r>
            <a:r>
              <a:rPr lang="en-US" altLang="zh-CN" sz="2400" b="1" dirty="0">
                <a:ea typeface="宋体" panose="02010600030101010101" pitchFamily="2" charset="-122"/>
              </a:rPr>
              <a:t>SDT</a:t>
            </a:r>
            <a:r>
              <a:rPr lang="zh-CN" altLang="en-US" sz="2400" b="1" dirty="0">
                <a:ea typeface="宋体" panose="02010600030101010101" pitchFamily="2" charset="-122"/>
              </a:rPr>
              <a:t>的例子（续）</a:t>
            </a:r>
            <a:endParaRPr lang="en-US" altLang="zh-CN" sz="24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排版文法的垂直方向几何性质相关的值</a:t>
            </a:r>
            <a:endParaRPr lang="en-US" altLang="zh-CN" sz="2200" b="1" dirty="0">
              <a:ea typeface="宋体" panose="02010600030101010101" pitchFamily="2" charset="-122"/>
            </a:endParaRPr>
          </a:p>
          <a:p>
            <a:pPr marL="1314450" lvl="2" indent="-457200">
              <a:lnSpc>
                <a:spcPct val="90000"/>
              </a:lnSpc>
              <a:buFontTx/>
              <a:buAutoNum type="circleNumDbPlain"/>
            </a:pPr>
            <a:r>
              <a:rPr lang="zh-CN" altLang="en-US" sz="2000" b="1" dirty="0">
                <a:ea typeface="宋体" panose="02010600030101010101" pitchFamily="2" charset="-122"/>
              </a:rPr>
              <a:t>字体大小（</a:t>
            </a:r>
            <a:r>
              <a:rPr lang="en-US" altLang="zh-CN" sz="2000" b="1" dirty="0">
                <a:ea typeface="宋体" panose="02010600030101010101" pitchFamily="2" charset="-122"/>
              </a:rPr>
              <a:t>point size</a:t>
            </a:r>
            <a:r>
              <a:rPr lang="zh-CN" altLang="en-US" sz="2000" b="1" dirty="0">
                <a:ea typeface="宋体" panose="02010600030101010101" pitchFamily="2" charset="-122"/>
              </a:rPr>
              <a:t>），为一个</a:t>
            </a:r>
            <a:r>
              <a:rPr lang="en-US" altLang="zh-CN" sz="2000" b="1" dirty="0">
                <a:ea typeface="宋体" panose="02010600030101010101" pitchFamily="2" charset="-122"/>
              </a:rPr>
              <a:t>Box</a:t>
            </a:r>
            <a:r>
              <a:rPr lang="zh-CN" altLang="en-US" sz="2000" b="1" dirty="0">
                <a:ea typeface="宋体" panose="02010600030101010101" pitchFamily="2" charset="-122"/>
              </a:rPr>
              <a:t>设置文本</a:t>
            </a:r>
            <a:endParaRPr lang="en-US" altLang="zh-CN" sz="20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假设正常字体大小为</a:t>
            </a:r>
            <a:r>
              <a:rPr lang="en-US" altLang="zh-CN" sz="1800" b="1" dirty="0">
                <a:ea typeface="宋体" panose="02010600030101010101" pitchFamily="2" charset="-122"/>
              </a:rPr>
              <a:t>10</a:t>
            </a:r>
            <a:endParaRPr lang="en-US" altLang="zh-CN" sz="18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如果一个</a:t>
            </a:r>
            <a:r>
              <a:rPr lang="en-US" altLang="zh-CN" sz="1800" b="1" dirty="0">
                <a:ea typeface="宋体" panose="02010600030101010101" pitchFamily="2" charset="-122"/>
              </a:rPr>
              <a:t>Box</a:t>
            </a:r>
            <a:r>
              <a:rPr lang="zh-CN" altLang="en-US" sz="1800" b="1" dirty="0">
                <a:ea typeface="宋体" panose="02010600030101010101" pitchFamily="2" charset="-122"/>
              </a:rPr>
              <a:t>的字体大小为</a:t>
            </a:r>
            <a:r>
              <a:rPr lang="en-US" altLang="zh-CN" sz="1800" b="1" dirty="0">
                <a:ea typeface="宋体" panose="02010600030101010101" pitchFamily="2" charset="-122"/>
              </a:rPr>
              <a:t>p</a:t>
            </a:r>
            <a:r>
              <a:rPr lang="zh-CN" altLang="en-US" sz="1800" b="1" dirty="0">
                <a:ea typeface="宋体" panose="02010600030101010101" pitchFamily="2" charset="-122"/>
              </a:rPr>
              <a:t>，则其下标大小为</a:t>
            </a:r>
            <a:r>
              <a:rPr lang="en-US" altLang="zh-CN" sz="1800" b="1" dirty="0">
                <a:ea typeface="宋体" panose="02010600030101010101" pitchFamily="2" charset="-122"/>
              </a:rPr>
              <a:t>0.7p</a:t>
            </a:r>
            <a:endParaRPr lang="en-US" altLang="zh-CN" sz="18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用继承属性</a:t>
            </a:r>
            <a:r>
              <a:rPr lang="en-US" altLang="zh-CN" sz="1800" b="1" dirty="0">
                <a:ea typeface="宋体" panose="02010600030101010101" pitchFamily="2" charset="-122"/>
              </a:rPr>
              <a:t>ps</a:t>
            </a:r>
            <a:r>
              <a:rPr lang="zh-CN" altLang="en-US" sz="1800" b="1" dirty="0">
                <a:ea typeface="宋体" panose="02010600030101010101" pitchFamily="2" charset="-122"/>
              </a:rPr>
              <a:t>表示</a:t>
            </a:r>
            <a:endParaRPr lang="en-US" altLang="zh-CN" sz="1800" b="1" dirty="0">
              <a:ea typeface="宋体" panose="02010600030101010101" pitchFamily="2" charset="-122"/>
            </a:endParaRPr>
          </a:p>
          <a:p>
            <a:pPr marL="1314450" lvl="2" indent="-457200">
              <a:lnSpc>
                <a:spcPct val="90000"/>
              </a:lnSpc>
              <a:buFontTx/>
              <a:buAutoNum type="circleNumDbPlain"/>
            </a:pPr>
            <a:r>
              <a:rPr lang="zh-CN" altLang="en-US" sz="2000" b="1" dirty="0">
                <a:ea typeface="宋体" panose="02010600030101010101" pitchFamily="2" charset="-122"/>
              </a:rPr>
              <a:t>每个</a:t>
            </a:r>
            <a:r>
              <a:rPr lang="en-US" altLang="zh-CN" sz="2000" b="1" dirty="0">
                <a:ea typeface="宋体" panose="02010600030101010101" pitchFamily="2" charset="-122"/>
              </a:rPr>
              <a:t>Box</a:t>
            </a:r>
            <a:r>
              <a:rPr lang="zh-CN" altLang="en-US" sz="2000" b="1" dirty="0">
                <a:ea typeface="宋体" panose="02010600030101010101" pitchFamily="2" charset="-122"/>
              </a:rPr>
              <a:t>都有一个基线</a:t>
            </a:r>
            <a:r>
              <a:rPr lang="en-US" altLang="zh-CN" sz="2000" b="1" dirty="0">
                <a:ea typeface="宋体" panose="02010600030101010101" pitchFamily="2" charset="-122"/>
              </a:rPr>
              <a:t>(baseline),</a:t>
            </a:r>
            <a:r>
              <a:rPr lang="zh-CN" altLang="en-US" sz="2000" b="1" dirty="0">
                <a:ea typeface="宋体" panose="02010600030101010101" pitchFamily="2" charset="-122"/>
              </a:rPr>
              <a:t> 表示了文本行底部的垂直位置，如图</a:t>
            </a:r>
            <a:r>
              <a:rPr lang="en-US" altLang="zh-CN" sz="2000" b="1" dirty="0">
                <a:ea typeface="宋体" panose="02010600030101010101" pitchFamily="2" charset="-122"/>
              </a:rPr>
              <a:t>5-24</a:t>
            </a:r>
            <a:r>
              <a:rPr lang="zh-CN" altLang="en-US" sz="2000" b="1" dirty="0">
                <a:ea typeface="宋体" panose="02010600030101010101" pitchFamily="2" charset="-122"/>
              </a:rPr>
              <a:t>中的点虚线</a:t>
            </a:r>
            <a:endParaRPr lang="en-US" altLang="zh-CN" sz="20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下标的基线向下移动父</a:t>
            </a:r>
            <a:r>
              <a:rPr lang="en-US" altLang="zh-CN" sz="1800" b="1" dirty="0">
                <a:ea typeface="宋体" panose="02010600030101010101" pitchFamily="2" charset="-122"/>
              </a:rPr>
              <a:t>Box</a:t>
            </a:r>
            <a:r>
              <a:rPr lang="zh-CN" altLang="en-US" sz="1800" b="1" dirty="0">
                <a:ea typeface="宋体" panose="02010600030101010101" pitchFamily="2" charset="-122"/>
              </a:rPr>
              <a:t>的字体大小的</a:t>
            </a:r>
            <a:r>
              <a:rPr lang="en-US" altLang="zh-CN" sz="1800" b="1" dirty="0">
                <a:ea typeface="宋体" panose="02010600030101010101" pitchFamily="2" charset="-122"/>
              </a:rPr>
              <a:t>25%</a:t>
            </a:r>
            <a:endParaRPr lang="en-US" altLang="zh-CN" sz="1800" b="1" dirty="0">
              <a:ea typeface="宋体" panose="02010600030101010101" pitchFamily="2" charset="-122"/>
            </a:endParaRPr>
          </a:p>
          <a:p>
            <a:pPr marL="1314450" lvl="2" indent="-457200">
              <a:lnSpc>
                <a:spcPct val="90000"/>
              </a:lnSpc>
              <a:buFontTx/>
              <a:buAutoNum type="circleNumDbPlain"/>
            </a:pPr>
            <a:r>
              <a:rPr lang="zh-CN" altLang="en-US" sz="2000" b="1" dirty="0">
                <a:ea typeface="宋体" panose="02010600030101010101" pitchFamily="2" charset="-122"/>
              </a:rPr>
              <a:t>每个</a:t>
            </a:r>
            <a:r>
              <a:rPr lang="en-US" altLang="zh-CN" sz="2000" b="1" dirty="0">
                <a:ea typeface="宋体" panose="02010600030101010101" pitchFamily="2" charset="-122"/>
              </a:rPr>
              <a:t>Box</a:t>
            </a:r>
            <a:r>
              <a:rPr lang="zh-CN" altLang="en-US" sz="2000" b="1" dirty="0">
                <a:ea typeface="宋体" panose="02010600030101010101" pitchFamily="2" charset="-122"/>
              </a:rPr>
              <a:t>都有一个高度（</a:t>
            </a:r>
            <a:r>
              <a:rPr lang="en-US" altLang="zh-CN" sz="2000" b="1" dirty="0">
                <a:ea typeface="宋体" panose="02010600030101010101" pitchFamily="2" charset="-122"/>
              </a:rPr>
              <a:t>height</a:t>
            </a:r>
            <a:r>
              <a:rPr lang="zh-CN" altLang="en-US" sz="2000" b="1" dirty="0">
                <a:ea typeface="宋体" panose="02010600030101010101" pitchFamily="2" charset="-122"/>
              </a:rPr>
              <a:t>），表示了</a:t>
            </a:r>
            <a:r>
              <a:rPr lang="en-US" altLang="zh-CN" sz="2000" b="1" dirty="0">
                <a:ea typeface="宋体" panose="02010600030101010101" pitchFamily="2" charset="-122"/>
              </a:rPr>
              <a:t>Box</a:t>
            </a:r>
            <a:r>
              <a:rPr lang="zh-CN" altLang="en-US" sz="2000" b="1" dirty="0">
                <a:ea typeface="宋体" panose="02010600030101010101" pitchFamily="2" charset="-122"/>
              </a:rPr>
              <a:t>顶部到基线的距离</a:t>
            </a:r>
            <a:endParaRPr lang="en-US" altLang="zh-CN" sz="20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用综合属性</a:t>
            </a:r>
            <a:r>
              <a:rPr lang="en-US" altLang="zh-CN" sz="1800" b="1" dirty="0">
                <a:ea typeface="宋体" panose="02010600030101010101" pitchFamily="2" charset="-122"/>
              </a:rPr>
              <a:t>ht</a:t>
            </a:r>
            <a:r>
              <a:rPr lang="zh-CN" altLang="en-US" sz="1800" b="1" dirty="0">
                <a:ea typeface="宋体" panose="02010600030101010101" pitchFamily="2" charset="-122"/>
              </a:rPr>
              <a:t>表示</a:t>
            </a:r>
            <a:endParaRPr lang="en-US" altLang="zh-CN" sz="1800" b="1" dirty="0">
              <a:ea typeface="宋体" panose="02010600030101010101" pitchFamily="2" charset="-122"/>
            </a:endParaRPr>
          </a:p>
          <a:p>
            <a:pPr marL="1314450" lvl="2" indent="-457200">
              <a:lnSpc>
                <a:spcPct val="90000"/>
              </a:lnSpc>
              <a:buFontTx/>
              <a:buAutoNum type="circleNumDbPlain"/>
            </a:pPr>
            <a:r>
              <a:rPr lang="zh-CN" altLang="en-US" sz="2000" b="1" dirty="0">
                <a:ea typeface="宋体" panose="02010600030101010101" pitchFamily="2" charset="-122"/>
              </a:rPr>
              <a:t>每个</a:t>
            </a:r>
            <a:r>
              <a:rPr lang="en-US" altLang="zh-CN" sz="2000" b="1" dirty="0">
                <a:ea typeface="宋体" panose="02010600030101010101" pitchFamily="2" charset="-122"/>
              </a:rPr>
              <a:t>Box</a:t>
            </a:r>
            <a:r>
              <a:rPr lang="zh-CN" altLang="en-US" sz="2000" b="1" dirty="0">
                <a:ea typeface="宋体" panose="02010600030101010101" pitchFamily="2" charset="-122"/>
              </a:rPr>
              <a:t>都有一个深度（</a:t>
            </a:r>
            <a:r>
              <a:rPr lang="en-US" altLang="zh-CN" sz="2000" b="1" dirty="0">
                <a:ea typeface="宋体" panose="02010600030101010101" pitchFamily="2" charset="-122"/>
              </a:rPr>
              <a:t>depth</a:t>
            </a:r>
            <a:r>
              <a:rPr lang="zh-CN" altLang="en-US" sz="2000" b="1" dirty="0">
                <a:ea typeface="宋体" panose="02010600030101010101" pitchFamily="2" charset="-122"/>
              </a:rPr>
              <a:t>），表示了基线到</a:t>
            </a:r>
            <a:r>
              <a:rPr lang="en-US" altLang="zh-CN" sz="2000" b="1" dirty="0">
                <a:ea typeface="宋体" panose="02010600030101010101" pitchFamily="2" charset="-122"/>
              </a:rPr>
              <a:t>Box</a:t>
            </a:r>
            <a:r>
              <a:rPr lang="zh-CN" altLang="en-US" sz="2000" b="1" dirty="0">
                <a:ea typeface="宋体" panose="02010600030101010101" pitchFamily="2" charset="-122"/>
              </a:rPr>
              <a:t>底部的距离</a:t>
            </a:r>
            <a:endParaRPr lang="en-US" altLang="zh-CN" sz="20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用综合属性</a:t>
            </a:r>
            <a:r>
              <a:rPr lang="en-US" altLang="zh-CN" sz="1800" b="1" dirty="0">
                <a:ea typeface="宋体" panose="02010600030101010101" pitchFamily="2" charset="-122"/>
              </a:rPr>
              <a:t>dp</a:t>
            </a:r>
            <a:r>
              <a:rPr lang="zh-CN" altLang="en-US" sz="1800" b="1" dirty="0">
                <a:ea typeface="宋体" panose="02010600030101010101" pitchFamily="2" charset="-122"/>
              </a:rPr>
              <a:t>表示</a:t>
            </a:r>
            <a:endParaRPr lang="en-US" altLang="zh-CN" sz="1800" b="1" dirty="0">
              <a:ea typeface="宋体" panose="02010600030101010101" pitchFamily="2" charset="-122"/>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9810" name="Picture 2"/>
          <p:cNvPicPr>
            <a:picLocks noChangeAspect="1"/>
          </p:cNvPicPr>
          <p:nvPr/>
        </p:nvPicPr>
        <p:blipFill>
          <a:blip r:embed="rId1"/>
          <a:stretch>
            <a:fillRect/>
          </a:stretch>
        </p:blipFill>
        <p:spPr>
          <a:xfrm>
            <a:off x="609600" y="0"/>
            <a:ext cx="8004175" cy="6629400"/>
          </a:xfrm>
          <a:prstGeom prst="rect">
            <a:avLst/>
          </a:prstGeom>
          <a:noFill/>
          <a:ln w="9525">
            <a:noFill/>
          </a:ln>
        </p:spPr>
      </p:pic>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1858" name="Picture 2"/>
          <p:cNvPicPr>
            <a:picLocks noChangeAspect="1"/>
          </p:cNvPicPr>
          <p:nvPr/>
        </p:nvPicPr>
        <p:blipFill>
          <a:blip r:embed="rId1"/>
          <a:stretch>
            <a:fillRect/>
          </a:stretch>
        </p:blipFill>
        <p:spPr>
          <a:xfrm>
            <a:off x="685800" y="0"/>
            <a:ext cx="7750175" cy="6478588"/>
          </a:xfrm>
          <a:prstGeom prst="rect">
            <a:avLst/>
          </a:prstGeom>
          <a:noFill/>
          <a:ln w="9525">
            <a:noFill/>
          </a:ln>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4931" name="Rectangle 3"/>
          <p:cNvSpPr>
            <a:spLocks noGrp="1" noChangeArrowheads="1"/>
          </p:cNvSpPr>
          <p:nvPr>
            <p:ph idx="1"/>
          </p:nvPr>
        </p:nvSpPr>
        <p:spPr>
          <a:xfrm>
            <a:off x="762000" y="1371600"/>
            <a:ext cx="7848600" cy="5105400"/>
          </a:xfrm>
        </p:spPr>
        <p:txBody>
          <a:bodyPr vert="horz" wrap="square" lIns="92075" tIns="46038" rIns="92075" bIns="46038" numCol="1" anchor="t" anchorCtr="0" compatLnSpc="1"/>
          <a:lstStyle/>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的例子（续）</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简单循环语句的例子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1</a:t>
            </a:r>
            <a:endParaRPr kumimoji="0" lang="zh-CN" altLang="en-US" sz="2200" b="0" i="1"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继承属性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S.next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，标号，指明必须在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执行结束之后执行的代码的开始位置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综合属性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S.code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是中间代码序列，实现了语句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，且其最后有一条跳转到</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S.next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的指令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继承属性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C.ture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，标号，指明必须在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为真时执行的代码的开始位置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继承属性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，标号，指明必须在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为假时执行的代码的开始位置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 typeface="+mj-ea"/>
              <a:buAutoNum type="circleNumDbPlain"/>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综合属性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是中间代码序列，实现了条件表达式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，并且根据</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的值为真或假跳转到</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或</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C.flase</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5955" name="Rectangle 3"/>
          <p:cNvSpPr>
            <a:spLocks noGrp="1"/>
          </p:cNvSpPr>
          <p:nvPr>
            <p:ph idx="1"/>
          </p:nvPr>
        </p:nvSpPr>
        <p:spPr>
          <a:xfrm>
            <a:off x="762000" y="1371600"/>
            <a:ext cx="7848600" cy="2705100"/>
          </a:xfrm>
        </p:spPr>
        <p:txBody>
          <a:bodyPr vert="horz" wrap="square" lIns="92075" tIns="46038" rIns="92075" bIns="46038" anchor="t" anchorCtr="0"/>
          <a:p>
            <a:pPr marL="514350" indent="-457200">
              <a:lnSpc>
                <a:spcPct val="90000"/>
              </a:lnSpc>
            </a:pPr>
            <a:r>
              <a:rPr lang="zh-CN" altLang="en-US" sz="2400" b="1" dirty="0">
                <a:ea typeface="宋体" panose="02010600030101010101" pitchFamily="2" charset="-122"/>
              </a:rPr>
              <a:t>计算</a:t>
            </a:r>
            <a:r>
              <a:rPr lang="en-US" altLang="zh-CN" sz="2400" b="1" dirty="0">
                <a:ea typeface="宋体" panose="02010600030101010101" pitchFamily="2" charset="-122"/>
              </a:rPr>
              <a:t>while</a:t>
            </a:r>
            <a:r>
              <a:rPr lang="zh-CN" altLang="en-US" sz="2400" b="1" dirty="0">
                <a:ea typeface="宋体" panose="02010600030101010101" pitchFamily="2" charset="-122"/>
              </a:rPr>
              <a:t>语句的</a:t>
            </a:r>
            <a:r>
              <a:rPr lang="en-US" altLang="zh-CN" sz="2400" b="1" dirty="0">
                <a:ea typeface="宋体" panose="02010600030101010101" pitchFamily="2" charset="-122"/>
              </a:rPr>
              <a:t>SDD</a:t>
            </a:r>
            <a:r>
              <a:rPr lang="zh-CN" altLang="en-US" sz="2400" b="1" dirty="0">
                <a:ea typeface="宋体" panose="02010600030101010101" pitchFamily="2" charset="-122"/>
              </a:rPr>
              <a:t>如下，该</a:t>
            </a:r>
            <a:r>
              <a:rPr lang="en-US" altLang="zh-CN" sz="2400" b="1" dirty="0">
                <a:ea typeface="宋体" panose="02010600030101010101" pitchFamily="2" charset="-122"/>
              </a:rPr>
              <a:t>SDD</a:t>
            </a:r>
            <a:r>
              <a:rPr lang="zh-CN" altLang="en-US" sz="2400" b="1" dirty="0">
                <a:ea typeface="宋体" panose="02010600030101010101" pitchFamily="2" charset="-122"/>
              </a:rPr>
              <a:t>是</a:t>
            </a:r>
            <a:r>
              <a:rPr lang="en-US" altLang="zh-CN" sz="2400" b="1" dirty="0">
                <a:ea typeface="宋体" panose="02010600030101010101" pitchFamily="2" charset="-122"/>
              </a:rPr>
              <a:t>L</a:t>
            </a:r>
            <a:r>
              <a:rPr lang="zh-CN" altLang="en-US" sz="2400" b="1" dirty="0">
                <a:ea typeface="宋体" panose="02010600030101010101" pitchFamily="2" charset="-122"/>
              </a:rPr>
              <a:t>属性的</a:t>
            </a:r>
            <a:endParaRPr lang="en-US" altLang="zh-CN" sz="24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函数</a:t>
            </a:r>
            <a:r>
              <a:rPr lang="en-US" altLang="zh-CN" sz="2200" b="1" dirty="0">
                <a:ea typeface="宋体" panose="02010600030101010101" pitchFamily="2" charset="-122"/>
              </a:rPr>
              <a:t>new</a:t>
            </a:r>
            <a:r>
              <a:rPr lang="zh-CN" altLang="en-US" sz="2200" b="1" dirty="0">
                <a:ea typeface="宋体" panose="02010600030101010101" pitchFamily="2" charset="-122"/>
              </a:rPr>
              <a:t>生成了新标号</a:t>
            </a:r>
            <a:endParaRPr lang="en-US" altLang="zh-CN" sz="22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变量</a:t>
            </a:r>
            <a:r>
              <a:rPr lang="en-US" altLang="zh-CN" sz="2200" b="1" dirty="0">
                <a:ea typeface="宋体" panose="02010600030101010101" pitchFamily="2" charset="-122"/>
              </a:rPr>
              <a:t>L1</a:t>
            </a:r>
            <a:r>
              <a:rPr lang="zh-CN" altLang="en-US" sz="2200" b="1" dirty="0">
                <a:ea typeface="宋体" panose="02010600030101010101" pitchFamily="2" charset="-122"/>
              </a:rPr>
              <a:t>和</a:t>
            </a:r>
            <a:r>
              <a:rPr lang="en-US" altLang="zh-CN" sz="2200" b="1" dirty="0">
                <a:ea typeface="宋体" panose="02010600030101010101" pitchFamily="2" charset="-122"/>
              </a:rPr>
              <a:t>L2</a:t>
            </a:r>
            <a:r>
              <a:rPr lang="zh-CN" altLang="en-US" sz="2200" b="1" dirty="0">
                <a:ea typeface="宋体" panose="02010600030101010101" pitchFamily="2" charset="-122"/>
              </a:rPr>
              <a:t>存放了在代码中需要的标号</a:t>
            </a:r>
            <a:endParaRPr lang="en-US" altLang="zh-CN" sz="2200" b="1" dirty="0">
              <a:ea typeface="宋体" panose="02010600030101010101" pitchFamily="2" charset="-122"/>
            </a:endParaRPr>
          </a:p>
          <a:p>
            <a:pPr marL="1314450" lvl="2" indent="-457200">
              <a:lnSpc>
                <a:spcPct val="90000"/>
              </a:lnSpc>
            </a:pPr>
            <a:r>
              <a:rPr lang="en-US" altLang="zh-CN" sz="2000" b="1" dirty="0">
                <a:ea typeface="宋体" panose="02010600030101010101" pitchFamily="2" charset="-122"/>
              </a:rPr>
              <a:t>L1</a:t>
            </a:r>
            <a:r>
              <a:rPr lang="zh-CN" altLang="en-US" sz="2000" b="1" dirty="0">
                <a:ea typeface="宋体" panose="02010600030101010101" pitchFamily="2" charset="-122"/>
              </a:rPr>
              <a:t>指示</a:t>
            </a:r>
            <a:r>
              <a:rPr lang="en-US" altLang="zh-CN" sz="2000" b="1" dirty="0">
                <a:ea typeface="宋体" panose="02010600030101010101" pitchFamily="2" charset="-122"/>
              </a:rPr>
              <a:t>while</a:t>
            </a:r>
            <a:r>
              <a:rPr lang="zh-CN" altLang="en-US" sz="2000" b="1" dirty="0">
                <a:ea typeface="宋体" panose="02010600030101010101" pitchFamily="2" charset="-122"/>
              </a:rPr>
              <a:t>语句的开始，此处，</a:t>
            </a:r>
            <a:r>
              <a:rPr lang="en-US" altLang="zh-CN" sz="2000" b="1" dirty="0">
                <a:ea typeface="宋体" panose="02010600030101010101" pitchFamily="2" charset="-122"/>
              </a:rPr>
              <a:t>S</a:t>
            </a:r>
            <a:r>
              <a:rPr lang="en-US" altLang="zh-CN" sz="2000" b="1" baseline="-25000" dirty="0">
                <a:ea typeface="宋体" panose="02010600030101010101" pitchFamily="2" charset="-122"/>
              </a:rPr>
              <a:t>1</a:t>
            </a:r>
            <a:r>
              <a:rPr lang="en-US" altLang="zh-CN" sz="2000" b="1" dirty="0">
                <a:ea typeface="宋体" panose="02010600030101010101" pitchFamily="2" charset="-122"/>
              </a:rPr>
              <a:t>.next</a:t>
            </a:r>
            <a:r>
              <a:rPr lang="zh-CN" altLang="en-US" sz="2000" b="1" dirty="0">
                <a:ea typeface="宋体" panose="02010600030101010101" pitchFamily="2" charset="-122"/>
              </a:rPr>
              <a:t>设置为</a:t>
            </a:r>
            <a:r>
              <a:rPr lang="en-US" altLang="zh-CN" sz="2000" b="1" dirty="0">
                <a:ea typeface="宋体" panose="02010600030101010101" pitchFamily="2" charset="-122"/>
              </a:rPr>
              <a:t>L1</a:t>
            </a:r>
            <a:endParaRPr lang="en-US" altLang="zh-CN" sz="2000" b="1" dirty="0">
              <a:ea typeface="宋体" panose="02010600030101010101" pitchFamily="2" charset="-122"/>
            </a:endParaRPr>
          </a:p>
          <a:p>
            <a:pPr marL="1314450" lvl="2" indent="-457200">
              <a:lnSpc>
                <a:spcPct val="90000"/>
              </a:lnSpc>
            </a:pPr>
            <a:r>
              <a:rPr lang="en-US" altLang="zh-CN" sz="2000" b="1" dirty="0">
                <a:ea typeface="宋体" panose="02010600030101010101" pitchFamily="2" charset="-122"/>
              </a:rPr>
              <a:t>L2</a:t>
            </a:r>
            <a:r>
              <a:rPr lang="zh-CN" altLang="en-US" sz="2000" b="1" dirty="0">
                <a:ea typeface="宋体" panose="02010600030101010101" pitchFamily="2" charset="-122"/>
              </a:rPr>
              <a:t>指示</a:t>
            </a:r>
            <a:r>
              <a:rPr lang="en-US" altLang="zh-CN" sz="2000" b="1" dirty="0">
                <a:ea typeface="宋体" panose="02010600030101010101" pitchFamily="2" charset="-122"/>
              </a:rPr>
              <a:t>S</a:t>
            </a:r>
            <a:r>
              <a:rPr lang="en-US" altLang="zh-CN" sz="2000" b="1" baseline="-25000" dirty="0">
                <a:ea typeface="宋体" panose="02010600030101010101" pitchFamily="2" charset="-122"/>
              </a:rPr>
              <a:t>1</a:t>
            </a:r>
            <a:r>
              <a:rPr lang="zh-CN" altLang="en-US" sz="2000" b="1" dirty="0">
                <a:ea typeface="宋体" panose="02010600030101010101" pitchFamily="2" charset="-122"/>
              </a:rPr>
              <a:t>的开始，</a:t>
            </a:r>
            <a:r>
              <a:rPr lang="en-US" altLang="zh-CN" sz="2000" b="1" dirty="0">
                <a:ea typeface="宋体" panose="02010600030101010101" pitchFamily="2" charset="-122"/>
              </a:rPr>
              <a:t>C.true</a:t>
            </a:r>
            <a:r>
              <a:rPr lang="zh-CN" altLang="en-US" sz="2000" b="1" dirty="0">
                <a:ea typeface="宋体" panose="02010600030101010101" pitchFamily="2" charset="-122"/>
              </a:rPr>
              <a:t>设置为</a:t>
            </a:r>
            <a:r>
              <a:rPr lang="en-US" altLang="zh-CN" sz="2000" b="1" dirty="0">
                <a:ea typeface="宋体" panose="02010600030101010101" pitchFamily="2" charset="-122"/>
              </a:rPr>
              <a:t>L2</a:t>
            </a:r>
            <a:endParaRPr lang="en-US" altLang="zh-CN" sz="2000" b="1" dirty="0">
              <a:ea typeface="宋体" panose="02010600030101010101" pitchFamily="2" charset="-122"/>
            </a:endParaRPr>
          </a:p>
          <a:p>
            <a:pPr marL="914400" lvl="1" indent="-457200">
              <a:lnSpc>
                <a:spcPct val="90000"/>
              </a:lnSpc>
            </a:pPr>
            <a:r>
              <a:rPr lang="en-US" altLang="zh-CN" sz="2200" b="1" dirty="0">
                <a:ea typeface="宋体" panose="02010600030101010101" pitchFamily="2" charset="-122"/>
              </a:rPr>
              <a:t>C.false</a:t>
            </a:r>
            <a:r>
              <a:rPr lang="zh-CN" altLang="en-US" sz="2200" b="1" dirty="0">
                <a:ea typeface="宋体" panose="02010600030101010101" pitchFamily="2" charset="-122"/>
              </a:rPr>
              <a:t>设置为</a:t>
            </a:r>
            <a:r>
              <a:rPr lang="en-US" altLang="zh-CN" sz="2200" b="1" dirty="0">
                <a:ea typeface="宋体" panose="02010600030101010101" pitchFamily="2" charset="-122"/>
              </a:rPr>
              <a:t>S.next</a:t>
            </a:r>
            <a:endParaRPr lang="en-US" altLang="zh-CN" sz="22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用</a:t>
            </a:r>
            <a:r>
              <a:rPr lang="en-US" altLang="zh-CN" sz="2200" b="1" dirty="0">
                <a:ea typeface="宋体" panose="02010600030101010101" pitchFamily="2" charset="-122"/>
              </a:rPr>
              <a:t>||</a:t>
            </a:r>
            <a:r>
              <a:rPr lang="zh-CN" altLang="en-US" sz="2200" b="1" dirty="0">
                <a:ea typeface="宋体" panose="02010600030101010101" pitchFamily="2" charset="-122"/>
              </a:rPr>
              <a:t>作为连接各个中间代码片段的符号</a:t>
            </a:r>
            <a:endParaRPr lang="en-US" altLang="zh-CN" sz="2200" b="1" dirty="0">
              <a:ea typeface="宋体" panose="02010600030101010101" pitchFamily="2" charset="-122"/>
            </a:endParaRPr>
          </a:p>
        </p:txBody>
      </p:sp>
      <p:pic>
        <p:nvPicPr>
          <p:cNvPr id="125956" name="Picture 2"/>
          <p:cNvPicPr>
            <a:picLocks noChangeAspect="1"/>
          </p:cNvPicPr>
          <p:nvPr/>
        </p:nvPicPr>
        <p:blipFill>
          <a:blip r:embed="rId1"/>
          <a:stretch>
            <a:fillRect/>
          </a:stretch>
        </p:blipFill>
        <p:spPr>
          <a:xfrm>
            <a:off x="228600" y="3949700"/>
            <a:ext cx="8739188" cy="2863850"/>
          </a:xfrm>
          <a:prstGeom prst="rect">
            <a:avLst/>
          </a:prstGeom>
          <a:noFill/>
          <a:ln w="9525">
            <a:noFill/>
          </a:ln>
        </p:spPr>
      </p:pic>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语法制导的翻译方案</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28003" name="Rectangle 3"/>
          <p:cNvSpPr>
            <a:spLocks noGrp="1"/>
          </p:cNvSpPr>
          <p:nvPr>
            <p:ph idx="1"/>
          </p:nvPr>
        </p:nvSpPr>
        <p:spPr>
          <a:xfrm>
            <a:off x="762000" y="1371600"/>
            <a:ext cx="7848600" cy="2705100"/>
          </a:xfrm>
        </p:spPr>
        <p:txBody>
          <a:bodyPr vert="horz" wrap="square" lIns="92075" tIns="46038" rIns="92075" bIns="46038" anchor="t" anchorCtr="0"/>
          <a:p>
            <a:pPr marL="514350" indent="-457200">
              <a:lnSpc>
                <a:spcPct val="90000"/>
              </a:lnSpc>
            </a:pPr>
            <a:r>
              <a:rPr lang="zh-CN" altLang="en-US" sz="2400" b="1" dirty="0">
                <a:ea typeface="宋体" panose="02010600030101010101" pitchFamily="2" charset="-122"/>
              </a:rPr>
              <a:t>上述</a:t>
            </a:r>
            <a:r>
              <a:rPr lang="en-US" altLang="zh-CN" sz="2400" b="1" dirty="0">
                <a:ea typeface="宋体" panose="02010600030101010101" pitchFamily="2" charset="-122"/>
              </a:rPr>
              <a:t>SDD</a:t>
            </a:r>
            <a:r>
              <a:rPr lang="zh-CN" altLang="en-US" sz="2400" b="1" dirty="0">
                <a:ea typeface="宋体" panose="02010600030101010101" pitchFamily="2" charset="-122"/>
              </a:rPr>
              <a:t>是</a:t>
            </a:r>
            <a:r>
              <a:rPr lang="en-US" altLang="zh-CN" sz="2400" b="1" dirty="0">
                <a:ea typeface="宋体" panose="02010600030101010101" pitchFamily="2" charset="-122"/>
              </a:rPr>
              <a:t>L</a:t>
            </a:r>
            <a:r>
              <a:rPr lang="zh-CN" altLang="en-US" sz="2400" b="1" dirty="0">
                <a:ea typeface="宋体" panose="02010600030101010101" pitchFamily="2" charset="-122"/>
              </a:rPr>
              <a:t>属性的，对应的</a:t>
            </a:r>
            <a:r>
              <a:rPr lang="en-US" altLang="zh-CN" sz="2400" b="1" dirty="0">
                <a:ea typeface="宋体" panose="02010600030101010101" pitchFamily="2" charset="-122"/>
              </a:rPr>
              <a:t>SDT</a:t>
            </a:r>
            <a:r>
              <a:rPr lang="zh-CN" altLang="en-US" sz="2400" b="1" dirty="0">
                <a:ea typeface="宋体" panose="02010600030101010101" pitchFamily="2" charset="-122"/>
              </a:rPr>
              <a:t>如下</a:t>
            </a:r>
            <a:endParaRPr lang="en-US" altLang="zh-CN" sz="2400" b="1" dirty="0">
              <a:ea typeface="宋体" panose="02010600030101010101" pitchFamily="2" charset="-122"/>
            </a:endParaRPr>
          </a:p>
        </p:txBody>
      </p:sp>
      <p:pic>
        <p:nvPicPr>
          <p:cNvPr id="128004" name="Picture 3"/>
          <p:cNvPicPr>
            <a:picLocks noChangeAspect="1"/>
          </p:cNvPicPr>
          <p:nvPr/>
        </p:nvPicPr>
        <p:blipFill>
          <a:blip r:embed="rId1"/>
          <a:stretch>
            <a:fillRect/>
          </a:stretch>
        </p:blipFill>
        <p:spPr>
          <a:xfrm>
            <a:off x="228600" y="1916113"/>
            <a:ext cx="8459788" cy="1744662"/>
          </a:xfrm>
          <a:prstGeom prst="rect">
            <a:avLst/>
          </a:prstGeom>
          <a:noFill/>
          <a:ln w="9525">
            <a:noFill/>
          </a:ln>
        </p:spPr>
      </p:pic>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第五章 语法制导的翻译</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noChangeArrowheads="1"/>
          </p:cNvSpPr>
          <p:nvPr>
            <p:ph idx="1"/>
          </p:nvPr>
        </p:nvSpPr>
        <p:spPr>
          <a:xfrm>
            <a:off x="990600" y="1600200"/>
            <a:ext cx="7391400" cy="4191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一些基础知识</a:t>
            </a:r>
            <a:endPar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语法制导定义</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en-US" altLang="zh-CN"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SDD</a:t>
            </a: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的求值顺序</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语法制导翻译的应用</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rPr>
              <a:t>语法制导的翻译方案</a:t>
            </a:r>
            <a:endParaRPr kumimoji="0" lang="zh-CN" altLang="en-US" sz="2800" b="1" i="0" u="none" strike="noStrike" kern="0" cap="none" spc="0" normalizeH="0" baseline="0" noProof="0" dirty="0">
              <a:ln>
                <a:noFill/>
              </a:ln>
              <a:solidFill>
                <a:schemeClr val="tx1">
                  <a:lumMod val="50000"/>
                  <a:lumOff val="50000"/>
                </a:schemeClr>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40000"/>
              </a:spcBef>
              <a:spcAft>
                <a:spcPct val="20000"/>
              </a:spcAft>
              <a:buClr>
                <a:srgbClr val="063DE8"/>
              </a:buClr>
              <a:buSzPct val="125000"/>
              <a:buFontTx/>
              <a:buChar char="•"/>
              <a:defRPr/>
            </a:pPr>
            <a:r>
              <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实现</a:t>
            </a:r>
            <a:r>
              <a:rPr kumimoji="0"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L</a:t>
            </a:r>
            <a:r>
              <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属性的</a:t>
            </a:r>
            <a:r>
              <a:rPr kumimoji="0"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SDD</a:t>
            </a:r>
            <a:endParaRPr kumimoji="0"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实现</a:t>
            </a:r>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endParaRPr lang="zh-CN" altLang="en-US" dirty="0">
              <a:latin typeface="Times New Roman" panose="02020603050405020304" pitchFamily="18" charset="0"/>
              <a:ea typeface="宋体" panose="02010600030101010101" pitchFamily="2" charset="-122"/>
            </a:endParaRPr>
          </a:p>
        </p:txBody>
      </p:sp>
      <p:sp>
        <p:nvSpPr>
          <p:cNvPr id="102403" name="Rectangle 3"/>
          <p:cNvSpPr>
            <a:spLocks noGrp="1" noChangeArrowheads="1"/>
          </p:cNvSpPr>
          <p:nvPr>
            <p:ph idx="1"/>
          </p:nvPr>
        </p:nvSpPr>
        <p:spPr>
          <a:xfrm>
            <a:off x="611188" y="1524000"/>
            <a:ext cx="8064500" cy="46482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属性定义的实现方法</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zh-CN" altLang="en-US"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前面章节已经介绍的：</a:t>
            </a:r>
            <a:endParaRPr kumimoji="0" lang="en-US" altLang="zh-CN"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建立语法分析树并注释。对非循环定义的</a:t>
            </a:r>
            <a:r>
              <a:rPr kumimoji="0" lang="en-US" altLang="zh-CN"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SDD</a:t>
            </a:r>
            <a:r>
              <a:rPr kumimoji="0" lang="zh-CN" altLang="en-US"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都有效</a:t>
            </a:r>
            <a:endParaRPr kumimoji="0" lang="en-US" altLang="zh-CN"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构建语法分析树，加入动作，按照前序顺序执行这些动作。对</a:t>
            </a:r>
            <a:r>
              <a:rPr kumimoji="0" lang="en-US" altLang="zh-CN"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L</a:t>
            </a:r>
            <a:r>
              <a:rPr kumimoji="0" lang="zh-CN" altLang="en-US"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rPr>
              <a:t>属性定义都有效</a:t>
            </a:r>
            <a:endParaRPr kumimoji="0" lang="en-US" altLang="zh-CN" sz="2000" b="1" i="0" u="none" strike="noStrike" kern="0" cap="none" spc="0" normalizeH="0" baseline="0" noProof="0" dirty="0">
              <a:ln>
                <a:noFill/>
              </a:ln>
              <a:solidFill>
                <a:schemeClr val="bg2">
                  <a:lumMod val="75000"/>
                </a:schemeClr>
              </a:solidFill>
              <a:effectLst/>
              <a:uLnTx/>
              <a:uFillTx/>
              <a:latin typeface="+mn-lt"/>
              <a:ea typeface="宋体" panose="02010600030101010101" pitchFamily="2" charset="-122"/>
            </a:endParaRPr>
          </a:p>
          <a:p>
            <a:pPr marL="40005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本节要介绍的：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使用一个递归下降的语法分析器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085850" marR="0" lvl="2" indent="-28575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每个非终结符建立一个函数，继承属性作参数，返回值是综合属性</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使用一个递归下降语法分析器，以边扫描边生成方式生成代码</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语法分析器结合，实现一个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SDT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085850" marR="0" lvl="2" indent="-28575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属性放在语法分析栈中，各规则从栈中已知位置获取需要的属性值</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语法分析器结合，实现一个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SDT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085850" marR="0" lvl="2" indent="-28575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要求基础文法是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在递归下降语法分析过程中进行翻译（</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34147" name="Rectangle 3"/>
          <p:cNvSpPr>
            <a:spLocks noGrp="1"/>
          </p:cNvSpPr>
          <p:nvPr>
            <p:ph idx="1"/>
          </p:nvPr>
        </p:nvSpPr>
        <p:spPr>
          <a:xfrm>
            <a:off x="684213" y="1524000"/>
            <a:ext cx="7920037" cy="4648200"/>
          </a:xfrm>
        </p:spPr>
        <p:txBody>
          <a:bodyPr vert="horz" wrap="square" lIns="92075" tIns="46038" rIns="92075" bIns="46038" anchor="t" anchorCtr="0"/>
          <a:p>
            <a:pPr marL="495300" indent="-495300"/>
            <a:r>
              <a:rPr lang="zh-CN" altLang="en-US" sz="2400" b="1" dirty="0">
                <a:ea typeface="宋体" panose="02010600030101010101" pitchFamily="2" charset="-122"/>
              </a:rPr>
              <a:t>扩展递归下降语法分析器，实现</a:t>
            </a:r>
            <a:r>
              <a:rPr lang="en-US" altLang="zh-CN" sz="2400" b="1" dirty="0">
                <a:ea typeface="宋体" panose="02010600030101010101" pitchFamily="2" charset="-122"/>
              </a:rPr>
              <a:t>L</a:t>
            </a:r>
            <a:r>
              <a:rPr lang="zh-CN" altLang="en-US" sz="2400" b="1" dirty="0">
                <a:ea typeface="宋体" panose="02010600030101010101" pitchFamily="2" charset="-122"/>
              </a:rPr>
              <a:t>属性的</a:t>
            </a:r>
            <a:r>
              <a:rPr lang="en-US" altLang="zh-CN" sz="2400" b="1" dirty="0">
                <a:ea typeface="宋体" panose="02010600030101010101" pitchFamily="2" charset="-122"/>
              </a:rPr>
              <a:t>SDD</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对于每个非终结符</a:t>
            </a:r>
            <a:r>
              <a:rPr lang="en-US" altLang="zh-CN" sz="2200" b="1" dirty="0">
                <a:ea typeface="宋体" panose="02010600030101010101" pitchFamily="2" charset="-122"/>
              </a:rPr>
              <a:t>A</a:t>
            </a:r>
            <a:r>
              <a:rPr lang="zh-CN" altLang="en-US" sz="2200" b="1" dirty="0">
                <a:ea typeface="宋体" panose="02010600030101010101" pitchFamily="2" charset="-122"/>
              </a:rPr>
              <a:t>都有一个函数</a:t>
            </a:r>
            <a:r>
              <a:rPr lang="en-US" altLang="zh-CN" sz="2200" b="1" dirty="0">
                <a:ea typeface="宋体" panose="02010600030101010101" pitchFamily="2" charset="-122"/>
              </a:rPr>
              <a:t>A</a:t>
            </a:r>
            <a:endParaRPr lang="en-US" altLang="zh-CN" sz="2200" b="1" dirty="0">
              <a:ea typeface="宋体" panose="02010600030101010101" pitchFamily="2" charset="-122"/>
            </a:endParaRPr>
          </a:p>
          <a:p>
            <a:pPr marL="1314450" lvl="2" indent="-457200">
              <a:buFont typeface="Book Antiqua" panose="02040602050305030304" pitchFamily="18" charset="0"/>
              <a:buAutoNum type="arabicPeriod"/>
            </a:pPr>
            <a:r>
              <a:rPr lang="zh-CN" altLang="en-US" sz="2000" b="1" dirty="0">
                <a:ea typeface="宋体" panose="02010600030101010101" pitchFamily="2" charset="-122"/>
              </a:rPr>
              <a:t>函数</a:t>
            </a:r>
            <a:r>
              <a:rPr lang="en-US" altLang="zh-CN" sz="2000" b="1" dirty="0">
                <a:ea typeface="宋体" panose="02010600030101010101" pitchFamily="2" charset="-122"/>
              </a:rPr>
              <a:t>A</a:t>
            </a:r>
            <a:r>
              <a:rPr lang="zh-CN" altLang="en-US" sz="2000" b="1" dirty="0">
                <a:ea typeface="宋体" panose="02010600030101010101" pitchFamily="2" charset="-122"/>
              </a:rPr>
              <a:t>的参数是这个非终结符</a:t>
            </a:r>
            <a:r>
              <a:rPr lang="en-US" altLang="zh-CN" sz="2000" b="1" dirty="0">
                <a:ea typeface="宋体" panose="02010600030101010101" pitchFamily="2" charset="-122"/>
              </a:rPr>
              <a:t>A</a:t>
            </a:r>
            <a:r>
              <a:rPr lang="zh-CN" altLang="en-US" sz="2000" b="1" dirty="0">
                <a:ea typeface="宋体" panose="02010600030101010101" pitchFamily="2" charset="-122"/>
              </a:rPr>
              <a:t>的继承属性</a:t>
            </a:r>
            <a:endParaRPr lang="en-US" altLang="zh-CN" sz="2000" b="1" dirty="0">
              <a:ea typeface="宋体" panose="02010600030101010101" pitchFamily="2" charset="-122"/>
            </a:endParaRPr>
          </a:p>
          <a:p>
            <a:pPr marL="1314450" lvl="2" indent="-457200">
              <a:buFont typeface="Book Antiqua" panose="02040602050305030304" pitchFamily="18" charset="0"/>
              <a:buAutoNum type="arabicPeriod"/>
            </a:pPr>
            <a:r>
              <a:rPr lang="zh-CN" altLang="en-US" sz="2000" b="1" dirty="0">
                <a:ea typeface="宋体" panose="02010600030101010101" pitchFamily="2" charset="-122"/>
              </a:rPr>
              <a:t>函数</a:t>
            </a:r>
            <a:r>
              <a:rPr lang="en-US" altLang="zh-CN" sz="2000" b="1" dirty="0">
                <a:ea typeface="宋体" panose="02010600030101010101" pitchFamily="2" charset="-122"/>
              </a:rPr>
              <a:t>A</a:t>
            </a:r>
            <a:r>
              <a:rPr lang="zh-CN" altLang="en-US" sz="2000" b="1" dirty="0">
                <a:ea typeface="宋体" panose="02010600030101010101" pitchFamily="2" charset="-122"/>
              </a:rPr>
              <a:t>的返回值是这个非终结符</a:t>
            </a:r>
            <a:r>
              <a:rPr lang="en-US" altLang="zh-CN" sz="2000" b="1" dirty="0">
                <a:ea typeface="宋体" panose="02010600030101010101" pitchFamily="2" charset="-122"/>
              </a:rPr>
              <a:t>A</a:t>
            </a:r>
            <a:r>
              <a:rPr lang="zh-CN" altLang="en-US" sz="2000" b="1" dirty="0">
                <a:ea typeface="宋体" panose="02010600030101010101" pitchFamily="2" charset="-122"/>
              </a:rPr>
              <a:t>的综合属性的集合</a:t>
            </a:r>
            <a:endParaRPr lang="en-US" altLang="zh-CN" sz="2000" b="1" dirty="0">
              <a:ea typeface="宋体" panose="02010600030101010101" pitchFamily="2" charset="-122"/>
            </a:endParaRPr>
          </a:p>
          <a:p>
            <a:pPr marL="914400" lvl="1" indent="-457200"/>
            <a:r>
              <a:rPr lang="zh-CN" altLang="en-US" sz="2200" b="1" dirty="0">
                <a:ea typeface="宋体" panose="02010600030101010101" pitchFamily="2" charset="-122"/>
              </a:rPr>
              <a:t>对函数</a:t>
            </a:r>
            <a:r>
              <a:rPr lang="en-US" altLang="zh-CN" sz="2200" b="1" dirty="0">
                <a:ea typeface="宋体" panose="02010600030101010101" pitchFamily="2" charset="-122"/>
              </a:rPr>
              <a:t>A</a:t>
            </a:r>
            <a:r>
              <a:rPr lang="zh-CN" altLang="en-US" sz="2200" b="1" dirty="0">
                <a:ea typeface="宋体" panose="02010600030101010101" pitchFamily="2" charset="-122"/>
              </a:rPr>
              <a:t>的函数体</a:t>
            </a:r>
            <a:endParaRPr lang="en-US" altLang="zh-CN" sz="2200" b="1" dirty="0">
              <a:ea typeface="宋体" panose="02010600030101010101" pitchFamily="2" charset="-122"/>
            </a:endParaRPr>
          </a:p>
          <a:p>
            <a:pPr marL="1314450" lvl="2" indent="-457200">
              <a:buFont typeface="Book Antiqua" panose="02040602050305030304" pitchFamily="18" charset="0"/>
              <a:buAutoNum type="arabicPeriod"/>
            </a:pPr>
            <a:r>
              <a:rPr lang="zh-CN" altLang="en-US" sz="2000" b="1" dirty="0">
                <a:ea typeface="宋体" panose="02010600030101010101" pitchFamily="2" charset="-122"/>
              </a:rPr>
              <a:t>决定用哪一个产生式展开非终结符</a:t>
            </a:r>
            <a:r>
              <a:rPr lang="en-US" altLang="zh-CN" sz="2000" b="1" dirty="0">
                <a:ea typeface="宋体" panose="02010600030101010101" pitchFamily="2" charset="-122"/>
              </a:rPr>
              <a:t>A</a:t>
            </a:r>
            <a:endParaRPr lang="en-US" altLang="zh-CN" sz="2000" b="1" dirty="0">
              <a:ea typeface="宋体" panose="02010600030101010101" pitchFamily="2" charset="-122"/>
            </a:endParaRPr>
          </a:p>
          <a:p>
            <a:pPr marL="1314450" lvl="2" indent="-457200">
              <a:buFont typeface="Book Antiqua" panose="02040602050305030304" pitchFamily="18" charset="0"/>
              <a:buAutoNum type="arabicPeriod"/>
            </a:pPr>
            <a:r>
              <a:rPr lang="zh-CN" altLang="en-US" sz="2000" b="1" dirty="0">
                <a:ea typeface="宋体" panose="02010600030101010101" pitchFamily="2" charset="-122"/>
              </a:rPr>
              <a:t>当需要读入一个终结符号时，在输入中检查这些符号是否出现</a:t>
            </a:r>
            <a:endParaRPr lang="en-US" altLang="zh-CN" sz="2000" b="1" dirty="0">
              <a:ea typeface="宋体" panose="02010600030101010101" pitchFamily="2" charset="-122"/>
            </a:endParaRPr>
          </a:p>
          <a:p>
            <a:pPr marL="1314450" lvl="2" indent="-457200">
              <a:buFont typeface="Book Antiqua" panose="02040602050305030304" pitchFamily="18" charset="0"/>
              <a:buAutoNum type="arabicPeriod"/>
            </a:pPr>
            <a:r>
              <a:rPr lang="zh-CN" altLang="en-US" sz="2000" b="1" dirty="0">
                <a:ea typeface="宋体" panose="02010600030101010101" pitchFamily="2" charset="-122"/>
              </a:rPr>
              <a:t>在局部变量中保存所有必要的属性值：产生式体非终结符的继承属性或者产生式头部的非终结符的综合属性</a:t>
            </a:r>
            <a:endParaRPr lang="en-US" altLang="zh-CN" sz="2000" b="1" dirty="0">
              <a:ea typeface="宋体" panose="02010600030101010101" pitchFamily="2" charset="-122"/>
            </a:endParaRPr>
          </a:p>
          <a:p>
            <a:pPr marL="1314450" lvl="2" indent="-457200">
              <a:buFont typeface="Book Antiqua" panose="02040602050305030304" pitchFamily="18" charset="0"/>
              <a:buAutoNum type="arabicPeriod"/>
            </a:pPr>
            <a:r>
              <a:rPr lang="zh-CN" altLang="en-US" sz="2000" b="1" dirty="0">
                <a:ea typeface="宋体" panose="02010600030101010101" pitchFamily="2" charset="-122"/>
              </a:rPr>
              <a:t>调用对应于被选定产生式体中的非终结符号的函数，向它们提供正确的参数</a:t>
            </a:r>
            <a:endParaRPr lang="en-US" altLang="zh-CN" sz="2000" b="1" dirty="0">
              <a:ea typeface="宋体" panose="02010600030101010101" pitchFamily="2" charset="-122"/>
            </a:endParaRPr>
          </a:p>
          <a:p>
            <a:pPr marL="1771650" lvl="3" indent="-457200"/>
            <a:r>
              <a:rPr lang="zh-CN" altLang="en-US" sz="1800" b="1" dirty="0">
                <a:ea typeface="宋体" panose="02010600030101010101" pitchFamily="2" charset="-122"/>
              </a:rPr>
              <a:t>因为基础的</a:t>
            </a:r>
            <a:r>
              <a:rPr lang="en-US" altLang="zh-CN" sz="1800" b="1" dirty="0">
                <a:ea typeface="宋体" panose="02010600030101010101" pitchFamily="2" charset="-122"/>
              </a:rPr>
              <a:t>SDD</a:t>
            </a:r>
            <a:r>
              <a:rPr lang="zh-CN" altLang="en-US" sz="1800" b="1" dirty="0">
                <a:ea typeface="宋体" panose="02010600030101010101" pitchFamily="2" charset="-122"/>
              </a:rPr>
              <a:t>是</a:t>
            </a:r>
            <a:r>
              <a:rPr lang="en-US" altLang="zh-CN" sz="1800" b="1" dirty="0">
                <a:ea typeface="宋体" panose="02010600030101010101" pitchFamily="2" charset="-122"/>
              </a:rPr>
              <a:t>L</a:t>
            </a:r>
            <a:r>
              <a:rPr lang="zh-CN" altLang="en-US" sz="1800" b="1" dirty="0">
                <a:ea typeface="宋体" panose="02010600030101010101" pitchFamily="2" charset="-122"/>
              </a:rPr>
              <a:t>属性的，所以这些属性（函数的参数）必然已经计算完成，且用对应的局部变量保存</a:t>
            </a:r>
            <a:endParaRPr lang="en-US" altLang="zh-CN" sz="1800" b="1" dirty="0">
              <a:ea typeface="宋体" panose="02010600030101010101" pitchFamily="2" charset="-122"/>
            </a:endParaRPr>
          </a:p>
          <a:p>
            <a:pPr marL="1314450" lvl="2" indent="-457200">
              <a:buFont typeface="Book Antiqua" panose="02040602050305030304" pitchFamily="18" charset="0"/>
              <a:buChar char="•"/>
            </a:pPr>
            <a:endParaRPr lang="zh-CN" altLang="en-US" sz="2000" b="1" dirty="0">
              <a:ea typeface="宋体" panose="02010600030101010101" pitchFamily="2"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在递归下降语法分析过程中进行翻译（</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36195" name="Rectangle 3"/>
          <p:cNvSpPr>
            <a:spLocks noGrp="1"/>
          </p:cNvSpPr>
          <p:nvPr>
            <p:ph idx="1"/>
          </p:nvPr>
        </p:nvSpPr>
        <p:spPr>
          <a:xfrm>
            <a:off x="990600" y="1524000"/>
            <a:ext cx="7391400" cy="4648200"/>
          </a:xfrm>
        </p:spPr>
        <p:txBody>
          <a:bodyPr vert="horz" wrap="square" lIns="92075" tIns="46038" rIns="92075" bIns="46038" anchor="t" anchorCtr="0"/>
          <a:p>
            <a:pPr marL="495300" indent="-495300"/>
            <a:r>
              <a:rPr lang="zh-CN" altLang="en-US" sz="2400" b="1" dirty="0">
                <a:ea typeface="宋体" panose="02010600030101010101" pitchFamily="2" charset="-122"/>
              </a:rPr>
              <a:t>用递归下降分析过程实现</a:t>
            </a:r>
            <a:r>
              <a:rPr lang="en-US" altLang="zh-CN" sz="2400" b="1" dirty="0">
                <a:ea typeface="宋体" panose="02010600030101010101" pitchFamily="2" charset="-122"/>
              </a:rPr>
              <a:t>while</a:t>
            </a:r>
            <a:r>
              <a:rPr lang="zh-CN" altLang="en-US" sz="2400" b="1" dirty="0">
                <a:ea typeface="宋体" panose="02010600030101010101" pitchFamily="2" charset="-122"/>
              </a:rPr>
              <a:t>语句的翻译 </a:t>
            </a:r>
            <a:endParaRPr lang="zh-CN" altLang="en-US" sz="2400" b="1" dirty="0">
              <a:ea typeface="宋体" panose="02010600030101010101" pitchFamily="2" charset="-122"/>
            </a:endParaRPr>
          </a:p>
        </p:txBody>
      </p:sp>
      <p:pic>
        <p:nvPicPr>
          <p:cNvPr id="136196" name="Picture 2"/>
          <p:cNvPicPr>
            <a:picLocks noChangeAspect="1"/>
          </p:cNvPicPr>
          <p:nvPr/>
        </p:nvPicPr>
        <p:blipFill>
          <a:blip r:embed="rId1"/>
          <a:stretch>
            <a:fillRect/>
          </a:stretch>
        </p:blipFill>
        <p:spPr>
          <a:xfrm>
            <a:off x="395288" y="2060575"/>
            <a:ext cx="8358187" cy="4797425"/>
          </a:xfrm>
          <a:prstGeom prst="rect">
            <a:avLst/>
          </a:prstGeom>
          <a:noFill/>
          <a:ln w="9525">
            <a:noFill/>
          </a:ln>
        </p:spPr>
      </p:pic>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在递归下降语法分析过程中进行翻译（</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0291" name="Rectangle 3"/>
          <p:cNvSpPr>
            <a:spLocks noGrp="1" noChangeArrowheads="1"/>
          </p:cNvSpPr>
          <p:nvPr>
            <p:ph idx="1"/>
          </p:nvPr>
        </p:nvSpPr>
        <p:spPr>
          <a:xfrm>
            <a:off x="990600" y="1524000"/>
            <a:ext cx="7391400" cy="46482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用递归下降分析过程实现排版文法的翻译（图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5-26</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原文法是有二义性的，改写文法：</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sub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优先于并列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两个算符（</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sub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和并列）都是右结合的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S</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T</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F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sub</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F</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F</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  text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F</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都有继承属性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ps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和综合属性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ht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及</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dp</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3429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进一步修改文法，消除</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产生式中的左公因子</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在递归下降语法分析过程中进行翻译（</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改写后排版文法翻译中</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函数的伪代码</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注意：该版本中把对</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函数的调用直接用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函数的伪代码替换了，相当于作了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inline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（函数嵌入）</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1314" name="Picture 2"/>
          <p:cNvPicPr>
            <a:picLocks noChangeAspect="1"/>
          </p:cNvPicPr>
          <p:nvPr/>
        </p:nvPicPr>
        <p:blipFill>
          <a:blip r:embed="rId1"/>
          <a:stretch>
            <a:fillRect/>
          </a:stretch>
        </p:blipFill>
        <p:spPr>
          <a:xfrm>
            <a:off x="1066800" y="152400"/>
            <a:ext cx="6834188" cy="6518275"/>
          </a:xfrm>
          <a:prstGeom prst="rect">
            <a:avLst/>
          </a:prstGeom>
          <a:noFill/>
          <a:ln w="9525">
            <a:noFill/>
          </a:ln>
        </p:spPr>
      </p:pic>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边扫描边生成代码（</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边扫描边生成代码的用处</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使用属性记录代码会构造很长的代码串，对其操作很耗时等缺点</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边扫描边生成代码的前提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存在一个（一个或多个非终结符号的）主属性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如前述的</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S.code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C.code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等</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主属性是综合属性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对主属性求值的规则保证：</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j-ea"/>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主属性是将相关产生式体中的各个非终结符的主属性值连接起来得到的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2000250" marR="0" lvl="4" indent="-28575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连接过程中可以适当加入其它元素，如前述的</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L1</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L2</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j-ea"/>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各个非终结符的主属性值在连接运算中出现的顺序与其在产生式体中的顺序相同</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边扫描边生成代码（</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341438"/>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循环翻译的例子，</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是主属性</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44388" name="Picture 2"/>
          <p:cNvPicPr>
            <a:picLocks noChangeAspect="1"/>
          </p:cNvPicPr>
          <p:nvPr/>
        </p:nvPicPr>
        <p:blipFill>
          <a:blip r:embed="rId1"/>
          <a:stretch>
            <a:fillRect/>
          </a:stretch>
        </p:blipFill>
        <p:spPr>
          <a:xfrm>
            <a:off x="455613" y="1830388"/>
            <a:ext cx="8077200" cy="5054600"/>
          </a:xfrm>
          <a:prstGeom prst="rect">
            <a:avLst/>
          </a:prstGeom>
          <a:noFill/>
          <a:ln w="9525">
            <a:noFill/>
          </a:ln>
        </p:spPr>
      </p:pic>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p:nvPr>
        </p:nvSpPr>
        <p:spPr>
          <a:xfrm>
            <a:off x="827088" y="457200"/>
            <a:ext cx="7777162"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边扫描边生成代码（</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采用边扫描边生成代码翻译</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主属性的类型</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所有主属性的类型的值必须是可以通过连接各个元素而构造得到的</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字符串是合法的，如上例</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任何类型的对象列表也是合适的，因此中间代码语句序列也是合适的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46436" name="Picture 2"/>
          <p:cNvPicPr>
            <a:picLocks noChangeAspect="1"/>
          </p:cNvPicPr>
          <p:nvPr/>
        </p:nvPicPr>
        <p:blipFill>
          <a:blip r:embed="rId1"/>
          <a:stretch>
            <a:fillRect/>
          </a:stretch>
        </p:blipFill>
        <p:spPr>
          <a:xfrm>
            <a:off x="34925" y="1916113"/>
            <a:ext cx="9094788" cy="2355850"/>
          </a:xfrm>
          <a:prstGeom prst="rect">
            <a:avLst/>
          </a:prstGeom>
          <a:noFill/>
          <a:ln w="9525">
            <a:noFill/>
          </a:ln>
        </p:spPr>
      </p:pic>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323850" y="1371600"/>
            <a:ext cx="8640763" cy="48006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可以伴随</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语法分析过程实现的翻译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要求基础文法是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可以将语义动作嵌入产生式体，得到一个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对分析栈进行修改</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在终结符和非终结符的记录之外，增加动作记录和综合记录</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动作记录（</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action-record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）：表示即将被执行的语义动作</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综合记录（</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synthesize-record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）：保存非终结符号的综合属性值</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在栈中对属性的管理</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非终结符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的继承属性放在表示这个非终结符的栈记录中，计算其继承属性的代码放在栈中紧靠</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的记录之上的动作记录中，保证继承属性的计算</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非终结符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的综合属性放在一个单独的综合记录中，该综合记录在栈中紧靠</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记录之下的位置</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动作记录存放被执行动作代码指针（动作也可放在综合记录中）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可以借助动作，将其它记录的综合属性值拷贝到栈中更低位置，以便后续翻译使用</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395288" y="1371600"/>
            <a:ext cx="8353425" cy="48006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对于采用产生式</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BC</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展开的解释</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的动作记录中引入临时拷贝记录计算</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需要的属性值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有一个继承属性</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，用到了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的属性</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展开时，</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的继承属性是可用的，将这些属性拷贝到对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的继承属性求值的动作记录中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用于存放</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的综合属性的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的综合记录在文法符号</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的下方，在此次展开时，还保存在栈中，在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之下</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如果需要</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的继承属性，可以（通过栈中紧靠在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之上的一个记录）执行一个动作，将其继承属性拷贝给</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之后，如果需要，</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的综合记录可以将其综合属性拷贝给</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如需要一些临时变量计算</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的综合属性值，这些值可以在处理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时，拷贝到</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所有拷贝都发生在对某个非终结符的一次展开时创建的不同记录之间，因此这些记录的</a:t>
            </a:r>
            <a:r>
              <a:rPr kumimoji="0" lang="zh-CN" altLang="en-US" sz="36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每一个都知道其它各个记录在栈中距离它有多远</a:t>
            </a:r>
            <a:endParaRPr kumimoji="0" lang="en-US" altLang="zh-CN" sz="36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下页，以</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语句处理为例，说明如何通过不断拷贝属性值，在</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分析中实现继承属性的方法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该例采用的是边扫描边生成代码的方式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4626" name="Picture 2"/>
          <p:cNvPicPr>
            <a:picLocks noChangeAspect="1"/>
          </p:cNvPicPr>
          <p:nvPr/>
        </p:nvPicPr>
        <p:blipFill>
          <a:blip r:embed="rId1"/>
          <a:stretch>
            <a:fillRect/>
          </a:stretch>
        </p:blipFill>
        <p:spPr>
          <a:xfrm>
            <a:off x="144463" y="160338"/>
            <a:ext cx="8891587" cy="6364287"/>
          </a:xfrm>
          <a:prstGeom prst="rect">
            <a:avLst/>
          </a:prstGeom>
          <a:noFill/>
          <a:ln w="9525">
            <a:noFill/>
          </a:ln>
        </p:spPr>
      </p:pic>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827088" y="1524000"/>
            <a:ext cx="7993063"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是即将用</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产生式展开</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的情况</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是展开后，即将分析</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语句时，栈中构型</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之前有动作记录，完成相关语义动作</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true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false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分别对应了相关文法符号的继承属性，其值暂未知</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识别</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和（，并执行了第一个动作记录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、（被弹出栈</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第一个动作记录处于栈顶时被执行，随后弹出栈</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图构型的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被弹出栈时被拷贝赋值为</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，假设分别为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z</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al1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al2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等拷贝赋值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label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打印到输出设备</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8722" name="Picture 2"/>
          <p:cNvPicPr>
            <a:picLocks noChangeAspect="1"/>
          </p:cNvPicPr>
          <p:nvPr/>
        </p:nvPicPr>
        <p:blipFill>
          <a:blip r:embed="rId1"/>
          <a:stretch>
            <a:fillRect/>
          </a:stretch>
        </p:blipFill>
        <p:spPr>
          <a:xfrm>
            <a:off x="906463" y="1549400"/>
            <a:ext cx="7329487" cy="3759200"/>
          </a:xfrm>
          <a:prstGeom prst="rect">
            <a:avLst/>
          </a:prstGeom>
          <a:noFill/>
          <a:ln w="9525">
            <a:noFill/>
          </a:ln>
        </p:spPr>
      </p:pic>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进一步，处理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，其继承属性已置好</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其后，匹配）</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随后，执行第二个动作</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赋值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打印</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label</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z</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最后处理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4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 </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目前的翻译可以保证</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执行后，跳转到</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注意每个动作中，对不同记录引用时下标的值的变化</a:t>
            </a:r>
            <a:endParaRPr kumimoji="0" lang="en-US"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827088" y="1524000"/>
            <a:ext cx="7705725"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把</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S.code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作为综合属性翻译的方法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重要的不变式：每个具有代码的非终结符，都把其（字符串形式的）代码存放在栈中该符号的记录下方</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显示了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展开为</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语句之前的情形</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继承属性</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存放在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栈中，</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记录之下是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本次出现对应的综合记录</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为其综合属性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有其它字段，对于整个程序的翻译有意义</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42" name="Picture 2"/>
          <p:cNvPicPr>
            <a:picLocks noChangeAspect="1"/>
          </p:cNvPicPr>
          <p:nvPr/>
        </p:nvPicPr>
        <p:blipFill>
          <a:blip r:embed="rId1"/>
          <a:stretch>
            <a:fillRect/>
          </a:stretch>
        </p:blipFill>
        <p:spPr>
          <a:xfrm>
            <a:off x="228600" y="304800"/>
            <a:ext cx="8559800" cy="6016625"/>
          </a:xfrm>
          <a:prstGeom prst="rect">
            <a:avLst/>
          </a:prstGeom>
          <a:noFill/>
          <a:ln w="9525">
            <a:noFill/>
          </a:ln>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323850" y="1524000"/>
            <a:ext cx="8640763"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是基于图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5-28</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展开为</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语句的处理</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直接赋值给</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C.false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匹配</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执行动作</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生成</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L1</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L2</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，分别拷贝到继承属性</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4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C.true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中，并拷贝到名为</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Synthesize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4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的综合记录作用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保存</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作为一个动作记录为整个产生式</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S→while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的属性求值。特别是，当其在栈顶时，计算综合属性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，并将其放在产生式头</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为栈顶时，其两个继承属性已经计算完成，当其展开时，代码可以跳转到正确的标号，且</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处理完毕时，代码已经放在其下的记录的</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323850" y="1524000"/>
            <a:ext cx="8640763"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是基于图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5-28</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展开为</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语句的处理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续</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出栈，</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的综合记录位于栈顶，其代码要在的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综合记录中使用，因此要拷贝赋值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匹配）</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处理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，此时用到的继承属性已置好，可以根据输入继续展开处理，并生成正确的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，放在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的综合记录中，</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出栈</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的综合记录在栈顶，执行相关动作</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使得</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被正确连接，结果放在栈顶记录（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的综合记录）下面的记录，即</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此时，</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的综合记录中存放了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对应的正确的代码，并可以用在后续的翻译中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LL</a:t>
            </a:r>
            <a:r>
              <a:rPr lang="zh-CN" altLang="en-US" dirty="0">
                <a:latin typeface="Times New Roman" panose="02020603050405020304" pitchFamily="18" charset="0"/>
                <a:ea typeface="宋体" panose="02010600030101010101" pitchFamily="2" charset="-122"/>
              </a:rPr>
              <a:t>语法分析（</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此节方法不能处理</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文法上的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文法的产生式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A→BC</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有继承属性</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，其依赖于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当处理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时，尚未看到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，因此也不确定是否应该应用产生式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A→BC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，因此不能计算</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B.i</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即便归约了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，认定采用产生式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A→BC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，但是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的继承属性仍然未知</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的自底向上语法分析（</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方法：给定一个</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文法为基础的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修改该文法，在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语法分析过程中计算实现修改后文法的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5.4.5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节的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为起点，在每个非终结符号之前放置语义动作，计算其继承属性，并在产生式后放置一个动作，计算其综合属性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引入标记非终结符，及其产生式（形如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），将嵌入产生式体的动作移至产生式最右端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752600" marR="0" lvl="3"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如果标记非终结符</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代替了某个产生式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β</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中的语义动作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修改为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关联到产生式</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上</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2209800" marR="0" lvl="4"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将动作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需要的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a:t>
            </a:r>
            <a:r>
              <a:rPr kumimoji="0" lang="el-GR"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α</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中符号的任何属性作为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的继承属性进行拷贝</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2209800" marR="0" lvl="4"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按照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中的方法计算各个属性，并将得到的属性作为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的综合属性</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的自底向上语法分析（</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827088" y="1524000"/>
            <a:ext cx="7554913"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方法：给定一个</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文法为基础的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属性</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SDD</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（续）</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该方法是合法的</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每次引入的标记非终结符都是唯一的，在所有产生式体中只出现一次，因此其计算过程中用到的各个属性的位置都是确定的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例子：</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语句的翻译</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修改文法，引入标记非终结符</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endPar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M</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l-GR"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N</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l-GR"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的自底向上语法分析（</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990600" y="1524000"/>
            <a:ext cx="7391400"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翻译的一些假设</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产生式的整个产生式体制下，是继承属性</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，无论其在哪个非终结符的记录中，该字段总在该记录固定的位置</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继承属性</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C.true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C.false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都在紧靠</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的栈记录的下方</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修改后的文法，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就出现在栈中紧靠</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的下方，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的记录保存</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的这些继承属性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继承属性</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必定出现在紧靠</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的下方，存放在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综合属性</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出现在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出现在的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的自底向上语法分析（</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395288" y="1524000"/>
            <a:ext cx="8569325" cy="46482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翻译的过程</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保存</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的记录出现在栈顶，且下一个输入符号是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，移入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确定产生式是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产生式，继续移入（，并把</a:t>
            </a:r>
            <a:r>
              <a:rPr kumimoji="0" lang="el-GR"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归约为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归约关联的动作，创建了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的值，存放在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该记录中还有</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的域（必定在这个记录的第二和第三个域，以保证</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在不同的上下文中可以正确访问这两个属性）</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C.true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赋值，其中</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C.false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来自于</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S.next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77156" name="Picture 2"/>
          <p:cNvPicPr>
            <a:picLocks noChangeAspect="1"/>
          </p:cNvPicPr>
          <p:nvPr/>
        </p:nvPicPr>
        <p:blipFill>
          <a:blip r:embed="rId1"/>
          <a:stretch>
            <a:fillRect/>
          </a:stretch>
        </p:blipFill>
        <p:spPr>
          <a:xfrm>
            <a:off x="457200" y="3141663"/>
            <a:ext cx="8180388" cy="1943100"/>
          </a:xfrm>
          <a:prstGeom prst="rect">
            <a:avLst/>
          </a:prstGeom>
          <a:noFill/>
          <a:ln w="9525">
            <a:noFill/>
          </a:ln>
        </p:spPr>
      </p:pic>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的自底向上语法分析（</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395288" y="1371600"/>
            <a:ext cx="8424863" cy="48006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翻译的过程（续）</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后续输入正确归约为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C.code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放在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的记录中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移入），把</a:t>
            </a:r>
            <a:r>
              <a:rPr kumimoji="0" lang="el-GR"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ε</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归约为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，其对应的记录中存放了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的值被置为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.next=stack[top-3].L1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分析器将余下输入的某个前缀归约为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，即前述的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（用下标是为了与产生式头的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如上图，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存放在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的栈记录中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79204" name="Picture 2"/>
          <p:cNvPicPr>
            <a:picLocks noChangeAspect="1"/>
          </p:cNvPicPr>
          <p:nvPr/>
        </p:nvPicPr>
        <p:blipFill>
          <a:blip r:embed="rId1"/>
          <a:stretch>
            <a:fillRect/>
          </a:stretch>
        </p:blipFill>
        <p:spPr>
          <a:xfrm>
            <a:off x="0" y="2205038"/>
            <a:ext cx="8915400" cy="2519362"/>
          </a:xfrm>
          <a:prstGeom prst="rect">
            <a:avLst/>
          </a:prstGeom>
          <a:noFill/>
          <a:ln w="9525">
            <a:noFill/>
          </a:ln>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p:nvPr>
        </p:nvSpPr>
        <p:spPr>
          <a:xfrm>
            <a:off x="827088" y="457200"/>
            <a:ext cx="7777162" cy="914400"/>
          </a:xfrm>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属性的</a:t>
            </a:r>
            <a:r>
              <a:rPr lang="en-US" altLang="zh-CN" dirty="0">
                <a:latin typeface="Times New Roman" panose="02020603050405020304" pitchFamily="18" charset="0"/>
                <a:ea typeface="宋体" panose="02010600030101010101" pitchFamily="2" charset="-122"/>
              </a:rPr>
              <a:t>SDD</a:t>
            </a:r>
            <a:r>
              <a:rPr lang="zh-CN" altLang="en-US" dirty="0">
                <a:latin typeface="Times New Roman" panose="02020603050405020304" pitchFamily="18" charset="0"/>
                <a:ea typeface="宋体" panose="02010600030101010101" pitchFamily="2" charset="-122"/>
              </a:rPr>
              <a:t>的自底向上语法分析（</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 name="Rectangle 3"/>
          <p:cNvSpPr txBox="1">
            <a:spLocks noChangeArrowheads="1"/>
          </p:cNvSpPr>
          <p:nvPr/>
        </p:nvSpPr>
        <p:spPr bwMode="auto">
          <a:xfrm>
            <a:off x="755650" y="1371600"/>
            <a:ext cx="7704138" cy="48006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翻译的过程（续）</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此时，语法分析器将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while</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到</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en-US" altLang="zh-CN" sz="24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的全部内容归约为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295400" marR="0" lvl="2"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归约时执行的代码如下，</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tempCode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存放了</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S.code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tempCode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label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stack</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L1</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stack</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code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label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stack</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L2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stack</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code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6;</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stack</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top</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code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tempCode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243715" name="Rectangle 3"/>
          <p:cNvSpPr>
            <a:spLocks noGrp="1" noChangeArrowheads="1"/>
          </p:cNvSpPr>
          <p:nvPr>
            <p:ph idx="1"/>
          </p:nvPr>
        </p:nvSpPr>
        <p:spPr>
          <a:xfrm>
            <a:off x="684213" y="1371600"/>
            <a:ext cx="7920038"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第一次作业</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5.1.1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，给出下列表达式对应的注释语法分析树</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 ( 3 + 4 ) * ( 5 + 6 )n</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5.1.2: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扩充图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，使它可以像图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所示的那样处理表达式</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5.2.3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：假设我们有一个产生式</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A→BCD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这四个非终结符号都有两个属性：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是一个综合属性，</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是一个继承属性。对于下面的每组规则，指出：（</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）这些规则是否满足</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属性定义的要求。（</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）这些规则是否满足</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属性定义的要求。（</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iii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）是否存在和这些规则一致的求值过程？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A.s</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B.i</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C.s</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A.s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C.s </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D.i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B.s</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A.s = B.s + D.s</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A.s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D.i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A.s + C.s,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B.s </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D.i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C.i</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243715" name="Rectangle 3"/>
          <p:cNvSpPr>
            <a:spLocks noGrp="1" noChangeArrowheads="1"/>
          </p:cNvSpPr>
          <p:nvPr>
            <p:ph idx="1"/>
          </p:nvPr>
        </p:nvSpPr>
        <p:spPr>
          <a:xfrm>
            <a:off x="684213" y="1371600"/>
            <a:ext cx="7920038"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第二次作业</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5.3.1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：下面是涉及运算符</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和整数或浮点运算分量的表达式的文法。区分浮点数的方法是看它有无小数点。</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E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 + T  |  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T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num.num</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num</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）给出一个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来确定每个项</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和表达式</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的类型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）扩展</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）中得到的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，使得它可以把表达式转换为后缀表达式。使用一个单目运算符</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intToFlost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把一个整数转换为相等的浮点数</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5.4.2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：改写下面的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 { a } B  |  A B { b }  |  0</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B → B { c } A  |  B A { d }  |  1</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使得基础文法变成非左递归的。其中</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是语义动作，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0</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是终结符号</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5.4.6</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：修改图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5-25</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，使它包含一个综合属性</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B.le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，即一个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Box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的长度。两个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Box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并列后得到的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Box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的长度是这两个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Box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的长度和。然后，将你的新规则加入到图</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5-26</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的合适位置上</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192515" name="Rectangle 3"/>
          <p:cNvSpPr>
            <a:spLocks noGrp="1" noChangeArrowheads="1"/>
          </p:cNvSpPr>
          <p:nvPr>
            <p:ph idx="1"/>
          </p:nvPr>
        </p:nvSpPr>
        <p:spPr>
          <a:xfrm>
            <a:off x="611188" y="1371600"/>
            <a:ext cx="7993063"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第三次作业</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5.4.4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：为下面的产生式写出一个和例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5.19</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类似的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属性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。这里的每个产生式表示一个常见的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语言中那样的控制流结构。你可能需要生成一个三地址语句来跳转到某个标号</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，此时你可以生成语句</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goto</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if</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else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do</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en-US" altLang="zh-CN" sz="18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while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57300" marR="0" lvl="2" indent="-342900" algn="l" defTabSz="914400" rtl="0" eaLnBrk="0" fontAlgn="base" latinLnBrk="0" hangingPunct="0">
              <a:lnSpc>
                <a:spcPct val="100000"/>
              </a:lnSpc>
              <a:spcBef>
                <a:spcPct val="20000"/>
              </a:spcBef>
              <a:spcAft>
                <a:spcPct val="0"/>
              </a:spcAft>
              <a:buClr>
                <a:srgbClr val="063DE8"/>
              </a:buClr>
              <a:buSzPct val="125000"/>
              <a:buFont typeface="+mj-ea"/>
              <a:buAutoNum type="circleNumDbPlain"/>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l-GR"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5143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清注意，列表中的任何语句都可能包含一条从它的内部跳转到下一条语句的跳转指令，因此简单地为各个语句按顺序生成代码是不够的</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5.5.4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：按照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5.5.3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节的风格，将</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5.4.4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中得到的每个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和一个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LL</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语法分析器一起实现，但是代码（或指向代码的指针）存放在栈中</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5.5.5</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：按照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5.5.4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节的风格，将</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5.4.4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中得到的每个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SDD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和一个</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语法分析器一起实现</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15601</Words>
  <Application>WPS 演示</Application>
  <PresentationFormat>全屏显示(4:3)</PresentationFormat>
  <Paragraphs>937</Paragraphs>
  <Slides>93</Slides>
  <Notes>88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93</vt:i4>
      </vt:variant>
    </vt:vector>
  </HeadingPairs>
  <TitlesOfParts>
    <vt:vector size="110" baseType="lpstr">
      <vt:lpstr>Arial</vt:lpstr>
      <vt:lpstr>宋体</vt:lpstr>
      <vt:lpstr>Wingdings</vt:lpstr>
      <vt:lpstr>Times New Roman</vt:lpstr>
      <vt:lpstr>Tahoma</vt:lpstr>
      <vt:lpstr>Book Antiqua</vt:lpstr>
      <vt:lpstr>Monotype Sorts</vt:lpstr>
      <vt:lpstr>Wingdings</vt:lpstr>
      <vt:lpstr>微软雅黑</vt:lpstr>
      <vt:lpstr>Arial Unicode MS</vt:lpstr>
      <vt:lpstr>华文琥珀</vt:lpstr>
      <vt:lpstr>楷体</vt:lpstr>
      <vt:lpstr>ibm0325</vt:lpstr>
      <vt:lpstr>Equation.3</vt:lpstr>
      <vt:lpstr>Visio.Drawing.11</vt:lpstr>
      <vt:lpstr>Visio.Drawing.11</vt:lpstr>
      <vt:lpstr>Visio.Drawing.6</vt:lpstr>
      <vt:lpstr>第五章 语法制导的翻译</vt:lpstr>
      <vt:lpstr>语法制导翻译的基础（1）</vt:lpstr>
      <vt:lpstr>语法制导翻译的基础（2）</vt:lpstr>
      <vt:lpstr>语法制导翻译的基础（3）</vt:lpstr>
      <vt:lpstr>语法制导翻译的基础（3）</vt:lpstr>
      <vt:lpstr>第五章 语法制导的翻译</vt:lpstr>
      <vt:lpstr>语法制导定义（1）</vt:lpstr>
      <vt:lpstr>语法制导定义（2）</vt:lpstr>
      <vt:lpstr>语法制导定义（3）</vt:lpstr>
      <vt:lpstr>语法制导定义（4）</vt:lpstr>
      <vt:lpstr>语法制导定义（5）</vt:lpstr>
      <vt:lpstr>语法制导定义（6）</vt:lpstr>
      <vt:lpstr>语法制导定义（7）</vt:lpstr>
      <vt:lpstr>语法制导定义（8）</vt:lpstr>
      <vt:lpstr>语法制导定义（9）</vt:lpstr>
      <vt:lpstr>第五章 语法制导的翻译</vt:lpstr>
      <vt:lpstr>SDD的求值顺序（1）</vt:lpstr>
      <vt:lpstr>SDD的求值顺序（2）</vt:lpstr>
      <vt:lpstr>SDD的求值顺序（3）</vt:lpstr>
      <vt:lpstr>SDD的求值顺序（4）</vt:lpstr>
      <vt:lpstr>SDD的求值顺序（5）</vt:lpstr>
      <vt:lpstr>SDD的求值顺序（6）</vt:lpstr>
      <vt:lpstr>SDD的求值顺序（7）</vt:lpstr>
      <vt:lpstr>SDD的求值顺序（8）</vt:lpstr>
      <vt:lpstr>SDD的求值顺序（9）</vt:lpstr>
      <vt:lpstr>SDD的求值顺序（10）</vt:lpstr>
      <vt:lpstr>第五章 语法制导的翻译</vt:lpstr>
      <vt:lpstr>语法制导翻译的应用（1）</vt:lpstr>
      <vt:lpstr>语法制导翻译的应用（2）</vt:lpstr>
      <vt:lpstr>语法制导翻译的应用（3）</vt:lpstr>
      <vt:lpstr>语法制导翻译的应用（4）</vt:lpstr>
      <vt:lpstr>语法制导翻译的应用（5）</vt:lpstr>
      <vt:lpstr>语法制导翻译的应用（6）</vt:lpstr>
      <vt:lpstr>语法制导翻译的应用（7）</vt:lpstr>
      <vt:lpstr>语法制导翻译的应用（8）</vt:lpstr>
      <vt:lpstr>语法制导翻译的应用（9）</vt:lpstr>
      <vt:lpstr>语法制导翻译的应用（10）</vt:lpstr>
      <vt:lpstr>语法制导翻译的应用（11）</vt:lpstr>
      <vt:lpstr>第五章 语法制导的翻译</vt:lpstr>
      <vt:lpstr>语法制导的翻译方案（1）</vt:lpstr>
      <vt:lpstr>语法制导的翻译方案（2）</vt:lpstr>
      <vt:lpstr>语法制导的翻译方案（3）</vt:lpstr>
      <vt:lpstr>语法制导的翻译方案（4）</vt:lpstr>
      <vt:lpstr>语法制导的翻译方案（5）</vt:lpstr>
      <vt:lpstr>语法制导的翻译方案（6）</vt:lpstr>
      <vt:lpstr>语法制导的翻译方案（7）</vt:lpstr>
      <vt:lpstr>语法制导的翻译方案（8）</vt:lpstr>
      <vt:lpstr>语法制导的翻译方案（9）</vt:lpstr>
      <vt:lpstr>语法制导的翻译方案（10）</vt:lpstr>
      <vt:lpstr>PowerPoint 演示文稿</vt:lpstr>
      <vt:lpstr>语法制导的翻译方案（11）</vt:lpstr>
      <vt:lpstr>语法制导的翻译方案（12）</vt:lpstr>
      <vt:lpstr>语法制导的翻译方案（13）</vt:lpstr>
      <vt:lpstr>语法制导的翻译方案（14）</vt:lpstr>
      <vt:lpstr>语法制导的翻译方案（15）</vt:lpstr>
      <vt:lpstr>语法制导的翻译方案（16）</vt:lpstr>
      <vt:lpstr>语法制导的翻译方案（16）</vt:lpstr>
      <vt:lpstr>PowerPoint 演示文稿</vt:lpstr>
      <vt:lpstr>PowerPoint 演示文稿</vt:lpstr>
      <vt:lpstr>语法制导的翻译方案（17）</vt:lpstr>
      <vt:lpstr>语法制导的翻译方案（18）</vt:lpstr>
      <vt:lpstr>语法制导的翻译方案（19）</vt:lpstr>
      <vt:lpstr>第五章 语法制导的翻译</vt:lpstr>
      <vt:lpstr>实现L属性的SDD</vt:lpstr>
      <vt:lpstr>在递归下降语法分析过程中进行翻译（1）</vt:lpstr>
      <vt:lpstr>在递归下降语法分析过程中进行翻译（2）</vt:lpstr>
      <vt:lpstr>在递归下降语法分析过程中进行翻译（3）</vt:lpstr>
      <vt:lpstr>在递归下降语法分析过程中进行翻译（4）</vt:lpstr>
      <vt:lpstr>PowerPoint 演示文稿</vt:lpstr>
      <vt:lpstr>边扫描边生成代码（1）</vt:lpstr>
      <vt:lpstr>边扫描边生成代码（2）</vt:lpstr>
      <vt:lpstr>边扫描边生成代码（3）</vt:lpstr>
      <vt:lpstr>L属性的SDD和LL语法分析（1）</vt:lpstr>
      <vt:lpstr>L属性的SDD和LL语法分析（2）</vt:lpstr>
      <vt:lpstr>L属性的SDD和LL语法分析（3）</vt:lpstr>
      <vt:lpstr>PowerPoint 演示文稿</vt:lpstr>
      <vt:lpstr>L属性的SDD和LL语法分析（4）</vt:lpstr>
      <vt:lpstr>PowerPoint 演示文稿</vt:lpstr>
      <vt:lpstr>L属性的SDD和LL语法分析（5）</vt:lpstr>
      <vt:lpstr>L属性的SDD和LL语法分析（6）</vt:lpstr>
      <vt:lpstr>PowerPoint 演示文稿</vt:lpstr>
      <vt:lpstr>L属性的SDD和LL语法分析（7）</vt:lpstr>
      <vt:lpstr>L属性的SDD和LL语法分析（8）</vt:lpstr>
      <vt:lpstr>L属性的SDD和LL语法分析（9）</vt:lpstr>
      <vt:lpstr>L属性的SDD的自底向上语法分析（1）</vt:lpstr>
      <vt:lpstr>L属性的SDD的自底向上语法分析（2）</vt:lpstr>
      <vt:lpstr>L属性的SDD的自底向上语法分析（3）</vt:lpstr>
      <vt:lpstr>L属性的SDD的自底向上语法分析（4）</vt:lpstr>
      <vt:lpstr>L属性的SDD的自底向上语法分析（4）</vt:lpstr>
      <vt:lpstr>L属性的SDD的自底向上语法分析（5）</vt:lpstr>
      <vt:lpstr>作业</vt:lpstr>
      <vt:lpstr>作业</vt:lpstr>
      <vt:lpstr>作业</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812</cp:revision>
  <cp:lastPrinted>2000-08-04T00:01:00Z</cp:lastPrinted>
  <dcterms:created xsi:type="dcterms:W3CDTF">1999-10-09T18:48:00Z</dcterms:created>
  <dcterms:modified xsi:type="dcterms:W3CDTF">2026-05-07T03:24:16Z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FE9F004036874450B839AF230A6FF523_13</vt:lpwstr>
  </property>
  <property fmtid="{D5CDD505-2E9C-101B-9397-08002B2CF9AE}" pid="3" name="KSOProductBuildVer">
    <vt:lpwstr>2052-12.1.0.23542</vt:lpwstr>
  </property>
</Properties>
</file>