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3"/>
  </p:sldMasterIdLst>
  <p:notesMasterIdLst>
    <p:notesMasterId r:id="rId5"/>
  </p:notesMasterIdLst>
  <p:handoutMasterIdLst>
    <p:handoutMasterId r:id="rId171"/>
  </p:handoutMasterIdLst>
  <p:sldIdLst>
    <p:sldId id="870" r:id="rId4"/>
    <p:sldId id="1001" r:id="rId6"/>
    <p:sldId id="694" r:id="rId7"/>
    <p:sldId id="942" r:id="rId8"/>
    <p:sldId id="943" r:id="rId9"/>
    <p:sldId id="871" r:id="rId10"/>
    <p:sldId id="872" r:id="rId11"/>
    <p:sldId id="873" r:id="rId12"/>
    <p:sldId id="874" r:id="rId13"/>
    <p:sldId id="875" r:id="rId14"/>
    <p:sldId id="944" r:id="rId15"/>
    <p:sldId id="946" r:id="rId16"/>
    <p:sldId id="945" r:id="rId17"/>
    <p:sldId id="959" r:id="rId18"/>
    <p:sldId id="947" r:id="rId19"/>
    <p:sldId id="948" r:id="rId20"/>
    <p:sldId id="949" r:id="rId21"/>
    <p:sldId id="950" r:id="rId22"/>
    <p:sldId id="951" r:id="rId23"/>
    <p:sldId id="952" r:id="rId24"/>
    <p:sldId id="953" r:id="rId25"/>
    <p:sldId id="954" r:id="rId26"/>
    <p:sldId id="955" r:id="rId27"/>
    <p:sldId id="956" r:id="rId28"/>
    <p:sldId id="957" r:id="rId29"/>
    <p:sldId id="958" r:id="rId30"/>
    <p:sldId id="960" r:id="rId31"/>
    <p:sldId id="877" r:id="rId32"/>
    <p:sldId id="878" r:id="rId33"/>
    <p:sldId id="884" r:id="rId34"/>
    <p:sldId id="885" r:id="rId35"/>
    <p:sldId id="886" r:id="rId36"/>
    <p:sldId id="887" r:id="rId37"/>
    <p:sldId id="888" r:id="rId38"/>
    <p:sldId id="889" r:id="rId39"/>
    <p:sldId id="890" r:id="rId40"/>
    <p:sldId id="891" r:id="rId41"/>
    <p:sldId id="892" r:id="rId42"/>
    <p:sldId id="893" r:id="rId43"/>
    <p:sldId id="894" r:id="rId44"/>
    <p:sldId id="895" r:id="rId45"/>
    <p:sldId id="896" r:id="rId46"/>
    <p:sldId id="908" r:id="rId47"/>
    <p:sldId id="909" r:id="rId48"/>
    <p:sldId id="910" r:id="rId49"/>
    <p:sldId id="911" r:id="rId50"/>
    <p:sldId id="912" r:id="rId51"/>
    <p:sldId id="913" r:id="rId52"/>
    <p:sldId id="914" r:id="rId53"/>
    <p:sldId id="915" r:id="rId54"/>
    <p:sldId id="916" r:id="rId55"/>
    <p:sldId id="917" r:id="rId56"/>
    <p:sldId id="961" r:id="rId57"/>
    <p:sldId id="962" r:id="rId58"/>
    <p:sldId id="963" r:id="rId59"/>
    <p:sldId id="964" r:id="rId60"/>
    <p:sldId id="965" r:id="rId61"/>
    <p:sldId id="966" r:id="rId62"/>
    <p:sldId id="967" r:id="rId63"/>
    <p:sldId id="968" r:id="rId64"/>
    <p:sldId id="969" r:id="rId65"/>
    <p:sldId id="970" r:id="rId66"/>
    <p:sldId id="972" r:id="rId67"/>
    <p:sldId id="974" r:id="rId68"/>
    <p:sldId id="975" r:id="rId69"/>
    <p:sldId id="976" r:id="rId70"/>
    <p:sldId id="977" r:id="rId71"/>
    <p:sldId id="978" r:id="rId72"/>
    <p:sldId id="973" r:id="rId73"/>
    <p:sldId id="980" r:id="rId74"/>
    <p:sldId id="979" r:id="rId75"/>
    <p:sldId id="991" r:id="rId76"/>
    <p:sldId id="992" r:id="rId77"/>
    <p:sldId id="1000" r:id="rId78"/>
    <p:sldId id="993" r:id="rId79"/>
    <p:sldId id="994" r:id="rId80"/>
    <p:sldId id="995" r:id="rId81"/>
    <p:sldId id="996" r:id="rId82"/>
    <p:sldId id="997" r:id="rId83"/>
    <p:sldId id="999" r:id="rId84"/>
    <p:sldId id="998" r:id="rId85"/>
    <p:sldId id="1003" r:id="rId86"/>
    <p:sldId id="1004" r:id="rId87"/>
    <p:sldId id="1005" r:id="rId88"/>
    <p:sldId id="1006" r:id="rId89"/>
    <p:sldId id="1007" r:id="rId90"/>
    <p:sldId id="1008" r:id="rId91"/>
    <p:sldId id="1009" r:id="rId92"/>
    <p:sldId id="1010" r:id="rId93"/>
    <p:sldId id="1011" r:id="rId94"/>
    <p:sldId id="1012" r:id="rId95"/>
    <p:sldId id="1013" r:id="rId96"/>
    <p:sldId id="1096" r:id="rId97"/>
    <p:sldId id="1014" r:id="rId98"/>
    <p:sldId id="1017" r:id="rId99"/>
    <p:sldId id="1052" r:id="rId100"/>
    <p:sldId id="1053" r:id="rId101"/>
    <p:sldId id="1054" r:id="rId102"/>
    <p:sldId id="1055" r:id="rId103"/>
    <p:sldId id="1058" r:id="rId104"/>
    <p:sldId id="1015" r:id="rId105"/>
    <p:sldId id="1056" r:id="rId106"/>
    <p:sldId id="1059" r:id="rId107"/>
    <p:sldId id="1060" r:id="rId108"/>
    <p:sldId id="1061" r:id="rId109"/>
    <p:sldId id="1062" r:id="rId110"/>
    <p:sldId id="1063" r:id="rId111"/>
    <p:sldId id="1065" r:id="rId112"/>
    <p:sldId id="1064" r:id="rId113"/>
    <p:sldId id="1066" r:id="rId114"/>
    <p:sldId id="1026" r:id="rId115"/>
    <p:sldId id="1027" r:id="rId116"/>
    <p:sldId id="1028" r:id="rId117"/>
    <p:sldId id="1029" r:id="rId118"/>
    <p:sldId id="1030" r:id="rId119"/>
    <p:sldId id="1031" r:id="rId120"/>
    <p:sldId id="1032" r:id="rId121"/>
    <p:sldId id="1033" r:id="rId122"/>
    <p:sldId id="1067" r:id="rId123"/>
    <p:sldId id="1068" r:id="rId124"/>
    <p:sldId id="1038" r:id="rId125"/>
    <p:sldId id="1069" r:id="rId126"/>
    <p:sldId id="1041" r:id="rId127"/>
    <p:sldId id="1042" r:id="rId128"/>
    <p:sldId id="1070" r:id="rId129"/>
    <p:sldId id="1071" r:id="rId130"/>
    <p:sldId id="1072" r:id="rId131"/>
    <p:sldId id="1046" r:id="rId132"/>
    <p:sldId id="1076" r:id="rId133"/>
    <p:sldId id="1078" r:id="rId134"/>
    <p:sldId id="1077" r:id="rId135"/>
    <p:sldId id="1049" r:id="rId136"/>
    <p:sldId id="1050" r:id="rId137"/>
    <p:sldId id="1079" r:id="rId138"/>
    <p:sldId id="1081" r:id="rId139"/>
    <p:sldId id="1080" r:id="rId140"/>
    <p:sldId id="1082" r:id="rId141"/>
    <p:sldId id="1083" r:id="rId142"/>
    <p:sldId id="1084" r:id="rId143"/>
    <p:sldId id="1085" r:id="rId144"/>
    <p:sldId id="1073" r:id="rId145"/>
    <p:sldId id="1074" r:id="rId146"/>
    <p:sldId id="1075" r:id="rId147"/>
    <p:sldId id="1086" r:id="rId148"/>
    <p:sldId id="1087" r:id="rId149"/>
    <p:sldId id="1088" r:id="rId150"/>
    <p:sldId id="1089" r:id="rId151"/>
    <p:sldId id="1090" r:id="rId152"/>
    <p:sldId id="612" r:id="rId153"/>
    <p:sldId id="813" r:id="rId154"/>
    <p:sldId id="869" r:id="rId155"/>
    <p:sldId id="981" r:id="rId156"/>
    <p:sldId id="982" r:id="rId157"/>
    <p:sldId id="983" r:id="rId158"/>
    <p:sldId id="984" r:id="rId159"/>
    <p:sldId id="985" r:id="rId160"/>
    <p:sldId id="986" r:id="rId161"/>
    <p:sldId id="987" r:id="rId162"/>
    <p:sldId id="988" r:id="rId163"/>
    <p:sldId id="989" r:id="rId164"/>
    <p:sldId id="990" r:id="rId165"/>
    <p:sldId id="1091" r:id="rId166"/>
    <p:sldId id="1092" r:id="rId167"/>
    <p:sldId id="1093" r:id="rId168"/>
    <p:sldId id="1094" r:id="rId169"/>
    <p:sldId id="1095" r:id="rId170"/>
  </p:sldIdLst>
  <p:sldSz cx="9144000" cy="6858000" type="screen4x3"/>
  <p:notesSz cx="6708775" cy="9774555"/>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44" userDrawn="1">
          <p15:clr>
            <a:srgbClr val="A4A3A4"/>
          </p15:clr>
        </p15:guide>
        <p15:guide id="2" pos="575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 ja" initials="f" lastIdx="2" clrIdx="7"/>
  <p:cmAuthor id="6" name="f" initials="f" lastIdx="3" clrIdx="1"/>
  <p:cmAuthor id="7" name="ja f" initials="j"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FFFFCC"/>
    <a:srgbClr val="FFFF99"/>
    <a:srgbClr val="FFCCFF"/>
    <a:srgbClr val="CCFFCC"/>
    <a:srgbClr val="CCFFFF"/>
    <a:srgbClr val="CCECFF"/>
    <a:srgbClr val="66FF66"/>
    <a:srgbClr val="063D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8934"/>
    <p:restoredTop sz="62910"/>
  </p:normalViewPr>
  <p:slideViewPr>
    <p:cSldViewPr showGuides="1">
      <p:cViewPr varScale="1">
        <p:scale>
          <a:sx n="69" d="100"/>
          <a:sy n="69" d="100"/>
        </p:scale>
        <p:origin x="1852" y="52"/>
      </p:cViewPr>
      <p:guideLst>
        <p:guide orient="horz" pos="144"/>
        <p:guide pos="575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20034"/>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5" Type="http://schemas.openxmlformats.org/officeDocument/2006/relationships/commentAuthors" Target="commentAuthors.xml"/><Relationship Id="rId174" Type="http://schemas.openxmlformats.org/officeDocument/2006/relationships/tableStyles" Target="tableStyles.xml"/><Relationship Id="rId173" Type="http://schemas.openxmlformats.org/officeDocument/2006/relationships/viewProps" Target="viewProps.xml"/><Relationship Id="rId172" Type="http://schemas.openxmlformats.org/officeDocument/2006/relationships/presProps" Target="presProps.xml"/><Relationship Id="rId171" Type="http://schemas.openxmlformats.org/officeDocument/2006/relationships/handoutMaster" Target="handoutMasters/handoutMaster1.xml"/><Relationship Id="rId170" Type="http://schemas.openxmlformats.org/officeDocument/2006/relationships/slide" Target="slides/slide166.xml"/><Relationship Id="rId17" Type="http://schemas.openxmlformats.org/officeDocument/2006/relationships/slide" Target="slides/slide13.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2.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1.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31426" name="Rectangle 2"/>
          <p:cNvSpPr>
            <a:spLocks noGrp="1" noChangeArrowheads="1"/>
          </p:cNvSpPr>
          <p:nvPr>
            <p:ph type="hdr" sz="quarter"/>
          </p:nvPr>
        </p:nvSpPr>
        <p:spPr bwMode="auto">
          <a:xfrm>
            <a:off x="0" y="0"/>
            <a:ext cx="2924175" cy="482600"/>
          </a:xfrm>
          <a:prstGeom prst="rect">
            <a:avLst/>
          </a:prstGeom>
          <a:noFill/>
          <a:ln>
            <a:noFill/>
          </a:ln>
          <a:effectLst/>
        </p:spPr>
        <p:txBody>
          <a:bodyPr vert="horz" wrap="square" lIns="90014" tIns="45007" rIns="90014" bIns="45007" numCol="1" anchor="t" anchorCtr="0" compatLnSpc="1"/>
          <a:lstStyle>
            <a:lvl1pPr defTabSz="900430">
              <a:defRPr sz="1200"/>
            </a:lvl1pPr>
          </a:lstStyle>
          <a:p>
            <a:pPr marL="0" marR="0" lvl="0" indent="0" algn="l"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7" name="Rectangle 3"/>
          <p:cNvSpPr>
            <a:spLocks noGrp="1" noChangeArrowheads="1"/>
          </p:cNvSpPr>
          <p:nvPr>
            <p:ph type="dt" sz="quarter" idx="1"/>
          </p:nvPr>
        </p:nvSpPr>
        <p:spPr bwMode="auto">
          <a:xfrm>
            <a:off x="3802063" y="0"/>
            <a:ext cx="2925763" cy="482600"/>
          </a:xfrm>
          <a:prstGeom prst="rect">
            <a:avLst/>
          </a:prstGeom>
          <a:noFill/>
          <a:ln>
            <a:noFill/>
          </a:ln>
          <a:effectLst/>
        </p:spPr>
        <p:txBody>
          <a:bodyPr vert="horz" wrap="square" lIns="90014" tIns="45007" rIns="90014" bIns="45007" numCol="1" anchor="t" anchorCtr="0" compatLnSpc="1"/>
          <a:lstStyle>
            <a:lvl1pPr algn="r" defTabSz="900430">
              <a:defRPr sz="1200"/>
            </a:lvl1pPr>
          </a:lstStyle>
          <a:p>
            <a:pPr marL="0" marR="0" lvl="0" indent="0" algn="r"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8" name="Rectangle 4"/>
          <p:cNvSpPr>
            <a:spLocks noGrp="1" noChangeArrowheads="1"/>
          </p:cNvSpPr>
          <p:nvPr>
            <p:ph type="ftr" sz="quarter" idx="2"/>
          </p:nvPr>
        </p:nvSpPr>
        <p:spPr bwMode="auto">
          <a:xfrm>
            <a:off x="0" y="9307513"/>
            <a:ext cx="2924175" cy="482600"/>
          </a:xfrm>
          <a:prstGeom prst="rect">
            <a:avLst/>
          </a:prstGeom>
          <a:noFill/>
          <a:ln>
            <a:noFill/>
          </a:ln>
          <a:effectLst/>
        </p:spPr>
        <p:txBody>
          <a:bodyPr vert="horz" wrap="square" lIns="90014" tIns="45007" rIns="90014" bIns="45007" numCol="1" anchor="b" anchorCtr="0" compatLnSpc="1"/>
          <a:lstStyle>
            <a:lvl1pPr defTabSz="900430">
              <a:defRPr sz="1200"/>
            </a:lvl1pPr>
          </a:lstStyle>
          <a:p>
            <a:pPr marL="0" marR="0" lvl="0" indent="0" algn="l"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9" name="Rectangle 5"/>
          <p:cNvSpPr>
            <a:spLocks noGrp="1" noChangeArrowheads="1"/>
          </p:cNvSpPr>
          <p:nvPr>
            <p:ph type="sldNum" sz="quarter" idx="3"/>
          </p:nvPr>
        </p:nvSpPr>
        <p:spPr bwMode="auto">
          <a:xfrm>
            <a:off x="3802063" y="9307513"/>
            <a:ext cx="2925763" cy="482600"/>
          </a:xfrm>
          <a:prstGeom prst="rect">
            <a:avLst/>
          </a:prstGeom>
          <a:noFill/>
          <a:ln>
            <a:noFill/>
          </a:ln>
          <a:effectLst/>
        </p:spPr>
        <p:txBody>
          <a:bodyPr vert="horz" wrap="square" lIns="90014" tIns="45007" rIns="90014" bIns="45007" numCol="1" anchor="b" anchorCtr="0" compatLnSpc="1"/>
          <a:p>
            <a:pPr lvl="0" algn="r" defTabSz="900430">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8370" name="Rectangle 2"/>
          <p:cNvSpPr>
            <a:spLocks noGrp="1" noChangeArrowheads="1"/>
          </p:cNvSpPr>
          <p:nvPr>
            <p:ph type="hdr" sz="quarter"/>
          </p:nvPr>
        </p:nvSpPr>
        <p:spPr bwMode="auto">
          <a:xfrm>
            <a:off x="0" y="0"/>
            <a:ext cx="2906713" cy="488950"/>
          </a:xfrm>
          <a:prstGeom prst="rect">
            <a:avLst/>
          </a:prstGeom>
          <a:noFill/>
          <a:ln>
            <a:noFill/>
          </a:ln>
          <a:effectLst/>
        </p:spPr>
        <p:txBody>
          <a:bodyPr vert="horz" wrap="square" lIns="91534" tIns="45768" rIns="91534" bIns="45768" numCol="1" anchor="t" anchorCtr="0" compatLnSpc="1"/>
          <a:lstStyle>
            <a:lvl1pPr defTabSz="916305">
              <a:defRPr sz="1200"/>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1" name="Rectangle 3"/>
          <p:cNvSpPr>
            <a:spLocks noGrp="1" noChangeArrowheads="1"/>
          </p:cNvSpPr>
          <p:nvPr>
            <p:ph type="dt" idx="1"/>
          </p:nvPr>
        </p:nvSpPr>
        <p:spPr bwMode="auto">
          <a:xfrm>
            <a:off x="3802063" y="0"/>
            <a:ext cx="2906713" cy="488950"/>
          </a:xfrm>
          <a:prstGeom prst="rect">
            <a:avLst/>
          </a:prstGeom>
          <a:noFill/>
          <a:ln>
            <a:noFill/>
          </a:ln>
          <a:effectLst/>
        </p:spPr>
        <p:txBody>
          <a:bodyPr vert="horz" wrap="square" lIns="91534" tIns="45768" rIns="91534" bIns="45768" numCol="1" anchor="t" anchorCtr="0" compatLnSpc="1"/>
          <a:lstStyle>
            <a:lvl1pPr algn="r" defTabSz="916305">
              <a:defRPr sz="1200"/>
            </a:lvl1pPr>
          </a:lstStyle>
          <a:p>
            <a:pPr marL="0" marR="0" lvl="0" indent="0" algn="r"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076" name="Rectangle 4"/>
          <p:cNvSpPr>
            <a:spLocks noGrp="1" noRot="1" noChangeAspect="1" noTextEdit="1"/>
          </p:cNvSpPr>
          <p:nvPr>
            <p:ph type="sldImg" idx="2"/>
          </p:nvPr>
        </p:nvSpPr>
        <p:spPr>
          <a:xfrm>
            <a:off x="911225" y="733425"/>
            <a:ext cx="4887913" cy="3665538"/>
          </a:xfrm>
          <a:prstGeom prst="rect">
            <a:avLst/>
          </a:prstGeom>
          <a:noFill/>
          <a:ln w="9525" cap="flat" cmpd="sng">
            <a:solidFill>
              <a:srgbClr val="000000"/>
            </a:solidFill>
            <a:prstDash val="solid"/>
            <a:miter/>
            <a:headEnd type="none" w="med" len="med"/>
            <a:tailEnd type="none" w="med" len="med"/>
          </a:ln>
        </p:spPr>
      </p:sp>
      <p:sp>
        <p:nvSpPr>
          <p:cNvPr id="58373" name="Rectangle 5"/>
          <p:cNvSpPr>
            <a:spLocks noGrp="1" noChangeArrowheads="1"/>
          </p:cNvSpPr>
          <p:nvPr>
            <p:ph type="body" sz="quarter" idx="3"/>
          </p:nvPr>
        </p:nvSpPr>
        <p:spPr bwMode="auto">
          <a:xfrm>
            <a:off x="893763" y="4641850"/>
            <a:ext cx="4921250" cy="4398963"/>
          </a:xfrm>
          <a:prstGeom prst="rect">
            <a:avLst/>
          </a:prstGeom>
          <a:noFill/>
          <a:ln>
            <a:noFill/>
          </a:ln>
          <a:effectLst/>
        </p:spPr>
        <p:txBody>
          <a:bodyPr vert="horz" wrap="square" lIns="91534" tIns="45768" rIns="91534" bIns="45768" numCol="1" anchor="t" anchorCtr="0" compatLnSpc="1"/>
          <a:lstStyle/>
          <a:p>
            <a:pPr marL="0" marR="0" lvl="0"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466725" marR="0" lvl="1"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935355" marR="0" lvl="2"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402080" marR="0" lvl="3"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870075" marR="0" lvl="4"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4" name="Rectangle 6"/>
          <p:cNvSpPr>
            <a:spLocks noGrp="1" noChangeArrowheads="1"/>
          </p:cNvSpPr>
          <p:nvPr>
            <p:ph type="ftr" sz="quarter" idx="4"/>
          </p:nvPr>
        </p:nvSpPr>
        <p:spPr bwMode="auto">
          <a:xfrm>
            <a:off x="0" y="9285288"/>
            <a:ext cx="2906713" cy="488950"/>
          </a:xfrm>
          <a:prstGeom prst="rect">
            <a:avLst/>
          </a:prstGeom>
          <a:noFill/>
          <a:ln>
            <a:noFill/>
          </a:ln>
          <a:effectLst/>
        </p:spPr>
        <p:txBody>
          <a:bodyPr vert="horz" wrap="square" lIns="91534" tIns="45768" rIns="91534" bIns="45768" numCol="1" anchor="b" anchorCtr="0" compatLnSpc="1"/>
          <a:lstStyle>
            <a:lvl1pPr defTabSz="916305">
              <a:defRPr sz="1200"/>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5" name="Rectangle 7"/>
          <p:cNvSpPr>
            <a:spLocks noGrp="1" noChangeArrowheads="1"/>
          </p:cNvSpPr>
          <p:nvPr>
            <p:ph type="sldNum" sz="quarter" idx="5"/>
          </p:nvPr>
        </p:nvSpPr>
        <p:spPr bwMode="auto">
          <a:xfrm>
            <a:off x="3802063" y="9285288"/>
            <a:ext cx="2906713" cy="488950"/>
          </a:xfrm>
          <a:prstGeom prst="rect">
            <a:avLst/>
          </a:prstGeom>
          <a:noFill/>
          <a:ln>
            <a:noFill/>
          </a:ln>
          <a:effectLst/>
        </p:spPr>
        <p:txBody>
          <a:bodyPr vert="horz" wrap="square" lIns="91534" tIns="45768" rIns="91534" bIns="45768" numCol="1" anchor="b" anchorCtr="0" compatLnSpc="1"/>
          <a:p>
            <a:pPr lvl="0" algn="r" defTabSz="916305">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6672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3535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402080"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7007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1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1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1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1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1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1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1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1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1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1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1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1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147" name="Rectangle 2"/>
          <p:cNvSpPr>
            <a:spLocks noTextEdit="1"/>
          </p:cNvSpPr>
          <p:nvPr>
            <p:ph type="sldImg"/>
          </p:nvPr>
        </p:nvSpPr>
        <p:spPr/>
      </p:sp>
      <p:sp>
        <p:nvSpPr>
          <p:cNvPr id="614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195" name="Rectangle 2"/>
          <p:cNvSpPr>
            <a:spLocks noTextEdit="1"/>
          </p:cNvSpPr>
          <p:nvPr>
            <p:ph type="sldImg"/>
          </p:nvPr>
        </p:nvSpPr>
        <p:spPr/>
      </p:sp>
      <p:sp>
        <p:nvSpPr>
          <p:cNvPr id="819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243" name="Rectangle 2"/>
          <p:cNvSpPr>
            <a:spLocks noTextEdit="1"/>
          </p:cNvSpPr>
          <p:nvPr>
            <p:ph type="sldImg"/>
          </p:nvPr>
        </p:nvSpPr>
        <p:spPr/>
      </p:sp>
      <p:sp>
        <p:nvSpPr>
          <p:cNvPr id="10244" name="Rectangle 3"/>
          <p:cNvSpPr>
            <a:spLocks noGrp="1"/>
          </p:cNvSpPr>
          <p:nvPr>
            <p:ph type="body" idx="1"/>
          </p:nvPr>
        </p:nvSpPr>
        <p:spPr>
          <a:ln w="22225"/>
        </p:spPr>
        <p:txBody>
          <a:bodyPr wrap="square" lIns="91534" tIns="45768" rIns="91534" bIns="45768" anchor="t" anchorCtr="0"/>
          <a:p>
            <a:pPr lvl="0"/>
            <a:r>
              <a:rPr lang="en-US" altLang="zh-CN" dirty="0">
                <a:ea typeface="宋体" panose="02010600030101010101" pitchFamily="2" charset="-122"/>
              </a:rPr>
              <a:t>3+4</a:t>
            </a:r>
            <a:r>
              <a:rPr lang="zh-CN" altLang="en-US" dirty="0">
                <a:ea typeface="宋体" panose="02010600030101010101" pitchFamily="2" charset="-122"/>
              </a:rPr>
              <a:t>*</a:t>
            </a:r>
            <a:r>
              <a:rPr lang="en-US" altLang="zh-CN" dirty="0">
                <a:ea typeface="宋体" panose="02010600030101010101" pitchFamily="2" charset="-122"/>
              </a:rPr>
              <a:t>5</a:t>
            </a:r>
            <a:r>
              <a:rPr lang="zh-CN" altLang="en-US" dirty="0">
                <a:ea typeface="宋体" panose="02010600030101010101" pitchFamily="2" charset="-122"/>
              </a:rPr>
              <a:t>和</a:t>
            </a:r>
            <a:r>
              <a:rPr lang="en-US" altLang="zh-CN" dirty="0">
                <a:ea typeface="宋体" panose="02010600030101010101" pitchFamily="2" charset="-122"/>
              </a:rPr>
              <a:t>3+4*5.0</a:t>
            </a:r>
            <a:r>
              <a:rPr lang="zh-CN" altLang="en-US" dirty="0">
                <a:ea typeface="宋体" panose="02010600030101010101" pitchFamily="2" charset="-122"/>
              </a:rPr>
              <a:t>的差异，语义分析（类型）的作用</a:t>
            </a:r>
            <a:endParaRPr lang="zh-CN" altLang="en-US"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291" name="Rectangle 2"/>
          <p:cNvSpPr>
            <a:spLocks noTextEdit="1"/>
          </p:cNvSpPr>
          <p:nvPr>
            <p:ph type="sldImg"/>
          </p:nvPr>
        </p:nvSpPr>
        <p:spPr/>
      </p:sp>
      <p:sp>
        <p:nvSpPr>
          <p:cNvPr id="1229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339" name="Rectangle 2"/>
          <p:cNvSpPr>
            <a:spLocks noTextEdit="1"/>
          </p:cNvSpPr>
          <p:nvPr>
            <p:ph type="sldImg"/>
          </p:nvPr>
        </p:nvSpPr>
        <p:spPr/>
      </p:sp>
      <p:sp>
        <p:nvSpPr>
          <p:cNvPr id="1434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387" name="Rectangle 2"/>
          <p:cNvSpPr>
            <a:spLocks noTextEdit="1"/>
          </p:cNvSpPr>
          <p:nvPr>
            <p:ph type="sldImg"/>
          </p:nvPr>
        </p:nvSpPr>
        <p:spPr/>
      </p:sp>
      <p:sp>
        <p:nvSpPr>
          <p:cNvPr id="1638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435" name="Rectangle 2"/>
          <p:cNvSpPr>
            <a:spLocks noTextEdit="1"/>
          </p:cNvSpPr>
          <p:nvPr>
            <p:ph type="sldImg"/>
          </p:nvPr>
        </p:nvSpPr>
        <p:spPr/>
      </p:sp>
      <p:sp>
        <p:nvSpPr>
          <p:cNvPr id="1843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483" name="Rectangle 2"/>
          <p:cNvSpPr>
            <a:spLocks noTextEdit="1"/>
          </p:cNvSpPr>
          <p:nvPr>
            <p:ph type="sldImg"/>
          </p:nvPr>
        </p:nvSpPr>
        <p:spPr/>
      </p:sp>
      <p:sp>
        <p:nvSpPr>
          <p:cNvPr id="2048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555" name="Rectangle 2"/>
          <p:cNvSpPr>
            <a:spLocks noTextEdit="1"/>
          </p:cNvSpPr>
          <p:nvPr>
            <p:ph type="sldImg"/>
          </p:nvPr>
        </p:nvSpPr>
        <p:spPr/>
      </p:sp>
      <p:sp>
        <p:nvSpPr>
          <p:cNvPr id="2355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603" name="Rectangle 2"/>
          <p:cNvSpPr>
            <a:spLocks noTextEdit="1"/>
          </p:cNvSpPr>
          <p:nvPr>
            <p:ph type="sldImg"/>
          </p:nvPr>
        </p:nvSpPr>
        <p:spPr/>
      </p:sp>
      <p:sp>
        <p:nvSpPr>
          <p:cNvPr id="2560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651" name="Rectangle 2"/>
          <p:cNvSpPr>
            <a:spLocks noTextEdit="1"/>
          </p:cNvSpPr>
          <p:nvPr>
            <p:ph type="sldImg"/>
          </p:nvPr>
        </p:nvSpPr>
        <p:spPr/>
      </p:sp>
      <p:sp>
        <p:nvSpPr>
          <p:cNvPr id="2765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699" name="Rectangle 2"/>
          <p:cNvSpPr>
            <a:spLocks noTextEdit="1"/>
          </p:cNvSpPr>
          <p:nvPr>
            <p:ph type="sldImg"/>
          </p:nvPr>
        </p:nvSpPr>
        <p:spPr/>
      </p:sp>
      <p:sp>
        <p:nvSpPr>
          <p:cNvPr id="2970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747" name="Rectangle 2"/>
          <p:cNvSpPr>
            <a:spLocks noTextEdit="1"/>
          </p:cNvSpPr>
          <p:nvPr>
            <p:ph type="sldImg"/>
          </p:nvPr>
        </p:nvSpPr>
        <p:spPr/>
      </p:sp>
      <p:sp>
        <p:nvSpPr>
          <p:cNvPr id="3174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3795" name="Rectangle 2"/>
          <p:cNvSpPr>
            <a:spLocks noTextEdit="1"/>
          </p:cNvSpPr>
          <p:nvPr>
            <p:ph type="sldImg"/>
          </p:nvPr>
        </p:nvSpPr>
        <p:spPr/>
      </p:sp>
      <p:sp>
        <p:nvSpPr>
          <p:cNvPr id="3379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5843" name="Rectangle 2"/>
          <p:cNvSpPr>
            <a:spLocks noTextEdit="1"/>
          </p:cNvSpPr>
          <p:nvPr>
            <p:ph type="sldImg"/>
          </p:nvPr>
        </p:nvSpPr>
        <p:spPr/>
      </p:sp>
      <p:sp>
        <p:nvSpPr>
          <p:cNvPr id="3584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7891" name="Rectangle 2"/>
          <p:cNvSpPr>
            <a:spLocks noTextEdit="1"/>
          </p:cNvSpPr>
          <p:nvPr>
            <p:ph type="sldImg"/>
          </p:nvPr>
        </p:nvSpPr>
        <p:spPr/>
      </p:sp>
      <p:sp>
        <p:nvSpPr>
          <p:cNvPr id="3789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9939" name="Rectangle 2"/>
          <p:cNvSpPr>
            <a:spLocks noTextEdit="1"/>
          </p:cNvSpPr>
          <p:nvPr>
            <p:ph type="sldImg"/>
          </p:nvPr>
        </p:nvSpPr>
        <p:spPr/>
      </p:sp>
      <p:sp>
        <p:nvSpPr>
          <p:cNvPr id="3994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1987" name="Rectangle 2"/>
          <p:cNvSpPr>
            <a:spLocks noTextEdit="1"/>
          </p:cNvSpPr>
          <p:nvPr>
            <p:ph type="sldImg"/>
          </p:nvPr>
        </p:nvSpPr>
        <p:spPr/>
      </p:sp>
      <p:sp>
        <p:nvSpPr>
          <p:cNvPr id="4198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4035" name="Rectangle 2"/>
          <p:cNvSpPr>
            <a:spLocks noTextEdit="1"/>
          </p:cNvSpPr>
          <p:nvPr>
            <p:ph type="sldImg"/>
          </p:nvPr>
        </p:nvSpPr>
        <p:spPr/>
      </p:sp>
      <p:sp>
        <p:nvSpPr>
          <p:cNvPr id="4403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6083" name="Rectangle 2"/>
          <p:cNvSpPr>
            <a:spLocks noTextEdit="1"/>
          </p:cNvSpPr>
          <p:nvPr>
            <p:ph type="sldImg"/>
          </p:nvPr>
        </p:nvSpPr>
        <p:spPr/>
      </p:sp>
      <p:sp>
        <p:nvSpPr>
          <p:cNvPr id="4608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8131" name="Rectangle 2"/>
          <p:cNvSpPr>
            <a:spLocks noTextEdit="1"/>
          </p:cNvSpPr>
          <p:nvPr>
            <p:ph type="sldImg"/>
          </p:nvPr>
        </p:nvSpPr>
        <p:spPr/>
      </p:sp>
      <p:sp>
        <p:nvSpPr>
          <p:cNvPr id="4813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0179" name="Rectangle 2"/>
          <p:cNvSpPr>
            <a:spLocks noTextEdit="1"/>
          </p:cNvSpPr>
          <p:nvPr>
            <p:ph type="sldImg"/>
          </p:nvPr>
        </p:nvSpPr>
        <p:spPr>
          <a:solidFill>
            <a:srgbClr val="FFFFFF">
              <a:alpha val="100000"/>
            </a:srgbClr>
          </a:solidFill>
        </p:spPr>
      </p:sp>
      <p:sp>
        <p:nvSpPr>
          <p:cNvPr id="5018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2227" name="Rectangle 2"/>
          <p:cNvSpPr>
            <a:spLocks noTextEdit="1"/>
          </p:cNvSpPr>
          <p:nvPr>
            <p:ph type="sldImg"/>
          </p:nvPr>
        </p:nvSpPr>
        <p:spPr/>
      </p:sp>
      <p:sp>
        <p:nvSpPr>
          <p:cNvPr id="52228" name="Rectangle 3"/>
          <p:cNvSpPr>
            <a:spLocks noGrp="1"/>
          </p:cNvSpPr>
          <p:nvPr>
            <p:ph type="body" idx="1"/>
          </p:nvPr>
        </p:nvSpPr>
        <p:spPr>
          <a:ln w="22225"/>
        </p:spPr>
        <p:txBody>
          <a:bodyPr wrap="square" lIns="91534" tIns="45768" rIns="91534" bIns="45768" anchor="t" anchorCtr="0"/>
          <a:p>
            <a:pPr lvl="0"/>
            <a:r>
              <a:rPr lang="en-US" altLang="zh-CN" dirty="0">
                <a:ea typeface="宋体" panose="02010600030101010101" pitchFamily="2" charset="-122"/>
              </a:rPr>
              <a:t>SSA</a:t>
            </a:r>
            <a:r>
              <a:rPr lang="zh-CN" altLang="en-US" dirty="0">
                <a:ea typeface="宋体" panose="02010600030101010101" pitchFamily="2" charset="-122"/>
              </a:rPr>
              <a:t>中对变量</a:t>
            </a:r>
            <a:r>
              <a:rPr lang="en-US" altLang="zh-CN" dirty="0">
                <a:ea typeface="宋体" panose="02010600030101010101" pitchFamily="2" charset="-122"/>
              </a:rPr>
              <a:t>p</a:t>
            </a:r>
            <a:r>
              <a:rPr lang="zh-CN" altLang="en-US" dirty="0">
                <a:ea typeface="宋体" panose="02010600030101010101" pitchFamily="2" charset="-122"/>
              </a:rPr>
              <a:t>和</a:t>
            </a:r>
            <a:r>
              <a:rPr lang="en-US" altLang="zh-CN" dirty="0">
                <a:ea typeface="宋体" panose="02010600030101010101" pitchFamily="2" charset="-122"/>
              </a:rPr>
              <a:t>q</a:t>
            </a:r>
            <a:r>
              <a:rPr lang="zh-CN" altLang="en-US" dirty="0">
                <a:ea typeface="宋体" panose="02010600030101010101" pitchFamily="2" charset="-122"/>
              </a:rPr>
              <a:t>的每次赋值都用不同的下标区分，引用时，每个引用点可以确定到达定值的唯一赋值语句</a:t>
            </a:r>
            <a:endParaRPr lang="zh-CN" altLang="en-US"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4275" name="Rectangle 2"/>
          <p:cNvSpPr>
            <a:spLocks noTextEdit="1"/>
          </p:cNvSpPr>
          <p:nvPr>
            <p:ph type="sldImg"/>
          </p:nvPr>
        </p:nvSpPr>
        <p:spPr>
          <a:solidFill>
            <a:srgbClr val="FFFFFF">
              <a:alpha val="100000"/>
            </a:srgbClr>
          </a:solidFill>
        </p:spPr>
      </p:sp>
      <p:sp>
        <p:nvSpPr>
          <p:cNvPr id="5427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6323" name="Rectangle 2"/>
          <p:cNvSpPr>
            <a:spLocks noTextEdit="1"/>
          </p:cNvSpPr>
          <p:nvPr>
            <p:ph type="sldImg"/>
          </p:nvPr>
        </p:nvSpPr>
        <p:spPr>
          <a:solidFill>
            <a:srgbClr val="FFFFFF">
              <a:alpha val="100000"/>
            </a:srgbClr>
          </a:solidFill>
        </p:spPr>
      </p:sp>
      <p:sp>
        <p:nvSpPr>
          <p:cNvPr id="5632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8371" name="Rectangle 2"/>
          <p:cNvSpPr>
            <a:spLocks noTextEdit="1"/>
          </p:cNvSpPr>
          <p:nvPr>
            <p:ph type="sldImg"/>
          </p:nvPr>
        </p:nvSpPr>
        <p:spPr/>
      </p:sp>
      <p:sp>
        <p:nvSpPr>
          <p:cNvPr id="5837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0419" name="Rectangle 2"/>
          <p:cNvSpPr>
            <a:spLocks noTextEdit="1"/>
          </p:cNvSpPr>
          <p:nvPr>
            <p:ph type="sldImg"/>
          </p:nvPr>
        </p:nvSpPr>
        <p:spPr/>
      </p:sp>
      <p:sp>
        <p:nvSpPr>
          <p:cNvPr id="6042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2467" name="Rectangle 2"/>
          <p:cNvSpPr>
            <a:spLocks noTextEdit="1"/>
          </p:cNvSpPr>
          <p:nvPr>
            <p:ph type="sldImg"/>
          </p:nvPr>
        </p:nvSpPr>
        <p:spPr/>
      </p:sp>
      <p:sp>
        <p:nvSpPr>
          <p:cNvPr id="6246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4515" name="Rectangle 2"/>
          <p:cNvSpPr>
            <a:spLocks noTextEdit="1"/>
          </p:cNvSpPr>
          <p:nvPr>
            <p:ph type="sldImg"/>
          </p:nvPr>
        </p:nvSpPr>
        <p:spPr/>
      </p:sp>
      <p:sp>
        <p:nvSpPr>
          <p:cNvPr id="6451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6563" name="Rectangle 2"/>
          <p:cNvSpPr>
            <a:spLocks noTextEdit="1"/>
          </p:cNvSpPr>
          <p:nvPr>
            <p:ph type="sldImg"/>
          </p:nvPr>
        </p:nvSpPr>
        <p:spPr/>
      </p:sp>
      <p:sp>
        <p:nvSpPr>
          <p:cNvPr id="6656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8611" name="Rectangle 2"/>
          <p:cNvSpPr>
            <a:spLocks noTextEdit="1"/>
          </p:cNvSpPr>
          <p:nvPr>
            <p:ph type="sldImg"/>
          </p:nvPr>
        </p:nvSpPr>
        <p:spPr/>
      </p:sp>
      <p:sp>
        <p:nvSpPr>
          <p:cNvPr id="6861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0659" name="Rectangle 2"/>
          <p:cNvSpPr>
            <a:spLocks noTextEdit="1"/>
          </p:cNvSpPr>
          <p:nvPr>
            <p:ph type="sldImg"/>
          </p:nvPr>
        </p:nvSpPr>
        <p:spPr/>
      </p:sp>
      <p:sp>
        <p:nvSpPr>
          <p:cNvPr id="7066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2707" name="Rectangle 2"/>
          <p:cNvSpPr>
            <a:spLocks noTextEdit="1"/>
          </p:cNvSpPr>
          <p:nvPr>
            <p:ph type="sldImg"/>
          </p:nvPr>
        </p:nvSpPr>
        <p:spPr>
          <a:solidFill>
            <a:srgbClr val="FFFFFF">
              <a:alpha val="100000"/>
            </a:srgbClr>
          </a:solidFill>
        </p:spPr>
      </p:sp>
      <p:sp>
        <p:nvSpPr>
          <p:cNvPr id="7270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4755" name="Rectangle 2"/>
          <p:cNvSpPr>
            <a:spLocks noTextEdit="1"/>
          </p:cNvSpPr>
          <p:nvPr>
            <p:ph type="sldImg"/>
          </p:nvPr>
        </p:nvSpPr>
        <p:spPr>
          <a:solidFill>
            <a:srgbClr val="FFFFFF">
              <a:alpha val="100000"/>
            </a:srgbClr>
          </a:solidFill>
        </p:spPr>
      </p:sp>
      <p:sp>
        <p:nvSpPr>
          <p:cNvPr id="7475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6803" name="Rectangle 2"/>
          <p:cNvSpPr>
            <a:spLocks noTextEdit="1"/>
          </p:cNvSpPr>
          <p:nvPr>
            <p:ph type="sldImg"/>
          </p:nvPr>
        </p:nvSpPr>
        <p:spPr>
          <a:solidFill>
            <a:srgbClr val="FFFFFF">
              <a:alpha val="100000"/>
            </a:srgbClr>
          </a:solidFill>
        </p:spPr>
      </p:sp>
      <p:sp>
        <p:nvSpPr>
          <p:cNvPr id="7680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8851" name="Rectangle 2"/>
          <p:cNvSpPr>
            <a:spLocks noTextEdit="1"/>
          </p:cNvSpPr>
          <p:nvPr>
            <p:ph type="sldImg"/>
          </p:nvPr>
        </p:nvSpPr>
        <p:spPr>
          <a:solidFill>
            <a:srgbClr val="FFFFFF">
              <a:alpha val="100000"/>
            </a:srgbClr>
          </a:solidFill>
        </p:spPr>
      </p:sp>
      <p:sp>
        <p:nvSpPr>
          <p:cNvPr id="7885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0899" name="Rectangle 2"/>
          <p:cNvSpPr>
            <a:spLocks noTextEdit="1"/>
          </p:cNvSpPr>
          <p:nvPr>
            <p:ph type="sldImg"/>
          </p:nvPr>
        </p:nvSpPr>
        <p:spPr>
          <a:solidFill>
            <a:srgbClr val="FFFFFF">
              <a:alpha val="100000"/>
            </a:srgbClr>
          </a:solidFill>
        </p:spPr>
      </p:sp>
      <p:sp>
        <p:nvSpPr>
          <p:cNvPr id="8090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2947" name="Rectangle 2"/>
          <p:cNvSpPr>
            <a:spLocks noTextEdit="1"/>
          </p:cNvSpPr>
          <p:nvPr>
            <p:ph type="sldImg"/>
          </p:nvPr>
        </p:nvSpPr>
        <p:spPr>
          <a:solidFill>
            <a:srgbClr val="FFFFFF">
              <a:alpha val="100000"/>
            </a:srgbClr>
          </a:solidFill>
        </p:spPr>
      </p:sp>
      <p:sp>
        <p:nvSpPr>
          <p:cNvPr id="8294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4995" name="Rectangle 2"/>
          <p:cNvSpPr>
            <a:spLocks noTextEdit="1"/>
          </p:cNvSpPr>
          <p:nvPr>
            <p:ph type="sldImg"/>
          </p:nvPr>
        </p:nvSpPr>
        <p:spPr>
          <a:solidFill>
            <a:srgbClr val="FFFFFF">
              <a:alpha val="100000"/>
            </a:srgbClr>
          </a:solidFill>
        </p:spPr>
      </p:sp>
      <p:sp>
        <p:nvSpPr>
          <p:cNvPr id="8499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7043" name="Rectangle 2"/>
          <p:cNvSpPr>
            <a:spLocks noTextEdit="1"/>
          </p:cNvSpPr>
          <p:nvPr>
            <p:ph type="sldImg"/>
          </p:nvPr>
        </p:nvSpPr>
        <p:spPr>
          <a:solidFill>
            <a:srgbClr val="FFFFFF">
              <a:alpha val="100000"/>
            </a:srgbClr>
          </a:solidFill>
        </p:spPr>
      </p:sp>
      <p:sp>
        <p:nvSpPr>
          <p:cNvPr id="8704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9091" name="Rectangle 2"/>
          <p:cNvSpPr>
            <a:spLocks noTextEdit="1"/>
          </p:cNvSpPr>
          <p:nvPr>
            <p:ph type="sldImg"/>
          </p:nvPr>
        </p:nvSpPr>
        <p:spPr>
          <a:solidFill>
            <a:srgbClr val="FFFFFF">
              <a:alpha val="100000"/>
            </a:srgbClr>
          </a:solidFill>
        </p:spPr>
      </p:sp>
      <p:sp>
        <p:nvSpPr>
          <p:cNvPr id="8909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1139" name="Rectangle 2"/>
          <p:cNvSpPr>
            <a:spLocks noTextEdit="1"/>
          </p:cNvSpPr>
          <p:nvPr>
            <p:ph type="sldImg"/>
          </p:nvPr>
        </p:nvSpPr>
        <p:spPr>
          <a:solidFill>
            <a:srgbClr val="FFFFFF">
              <a:alpha val="100000"/>
            </a:srgbClr>
          </a:solidFill>
        </p:spPr>
      </p:sp>
      <p:sp>
        <p:nvSpPr>
          <p:cNvPr id="9114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3187" name="Rectangle 2"/>
          <p:cNvSpPr>
            <a:spLocks noTextEdit="1"/>
          </p:cNvSpPr>
          <p:nvPr>
            <p:ph type="sldImg"/>
          </p:nvPr>
        </p:nvSpPr>
        <p:spPr>
          <a:solidFill>
            <a:srgbClr val="FFFFFF">
              <a:alpha val="100000"/>
            </a:srgbClr>
          </a:solidFill>
        </p:spPr>
      </p:sp>
      <p:sp>
        <p:nvSpPr>
          <p:cNvPr id="9318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5235" name="Rectangle 2"/>
          <p:cNvSpPr>
            <a:spLocks noTextEdit="1"/>
          </p:cNvSpPr>
          <p:nvPr>
            <p:ph type="sldImg"/>
          </p:nvPr>
        </p:nvSpPr>
        <p:spPr>
          <a:solidFill>
            <a:srgbClr val="FFFFFF">
              <a:alpha val="100000"/>
            </a:srgbClr>
          </a:solidFill>
        </p:spPr>
      </p:sp>
      <p:sp>
        <p:nvSpPr>
          <p:cNvPr id="9523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7283" name="Rectangle 2"/>
          <p:cNvSpPr>
            <a:spLocks noTextEdit="1"/>
          </p:cNvSpPr>
          <p:nvPr>
            <p:ph type="sldImg"/>
          </p:nvPr>
        </p:nvSpPr>
        <p:spPr>
          <a:solidFill>
            <a:srgbClr val="FFFFFF">
              <a:alpha val="100000"/>
            </a:srgbClr>
          </a:solidFill>
        </p:spPr>
      </p:sp>
      <p:sp>
        <p:nvSpPr>
          <p:cNvPr id="9728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9331" name="Rectangle 2"/>
          <p:cNvSpPr>
            <a:spLocks noTextEdit="1"/>
          </p:cNvSpPr>
          <p:nvPr>
            <p:ph type="sldImg"/>
          </p:nvPr>
        </p:nvSpPr>
        <p:spPr>
          <a:solidFill>
            <a:srgbClr val="FFFFFF">
              <a:alpha val="100000"/>
            </a:srgbClr>
          </a:solidFill>
        </p:spPr>
      </p:sp>
      <p:sp>
        <p:nvSpPr>
          <p:cNvPr id="9933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1379" name="Rectangle 2"/>
          <p:cNvSpPr>
            <a:spLocks noTextEdit="1"/>
          </p:cNvSpPr>
          <p:nvPr>
            <p:ph type="sldImg"/>
          </p:nvPr>
        </p:nvSpPr>
        <p:spPr>
          <a:solidFill>
            <a:srgbClr val="FFFFFF">
              <a:alpha val="100000"/>
            </a:srgbClr>
          </a:solidFill>
        </p:spPr>
      </p:sp>
      <p:sp>
        <p:nvSpPr>
          <p:cNvPr id="10138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3427" name="Rectangle 2"/>
          <p:cNvSpPr>
            <a:spLocks noTextEdit="1"/>
          </p:cNvSpPr>
          <p:nvPr>
            <p:ph type="sldImg"/>
          </p:nvPr>
        </p:nvSpPr>
        <p:spPr>
          <a:solidFill>
            <a:srgbClr val="FFFFFF">
              <a:alpha val="100000"/>
            </a:srgbClr>
          </a:solidFill>
        </p:spPr>
      </p:sp>
      <p:sp>
        <p:nvSpPr>
          <p:cNvPr id="10342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5475" name="Rectangle 2"/>
          <p:cNvSpPr>
            <a:spLocks noTextEdit="1"/>
          </p:cNvSpPr>
          <p:nvPr>
            <p:ph type="sldImg"/>
          </p:nvPr>
        </p:nvSpPr>
        <p:spPr>
          <a:solidFill>
            <a:srgbClr val="FFFFFF">
              <a:alpha val="100000"/>
            </a:srgbClr>
          </a:solidFill>
        </p:spPr>
      </p:sp>
      <p:sp>
        <p:nvSpPr>
          <p:cNvPr id="10547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7523" name="Rectangle 2"/>
          <p:cNvSpPr>
            <a:spLocks noTextEdit="1"/>
          </p:cNvSpPr>
          <p:nvPr>
            <p:ph type="sldImg"/>
          </p:nvPr>
        </p:nvSpPr>
        <p:spPr>
          <a:solidFill>
            <a:srgbClr val="FFFFFF">
              <a:alpha val="100000"/>
            </a:srgbClr>
          </a:solidFill>
        </p:spPr>
      </p:sp>
      <p:sp>
        <p:nvSpPr>
          <p:cNvPr id="10752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9571" name="Rectangle 2"/>
          <p:cNvSpPr>
            <a:spLocks noTextEdit="1"/>
          </p:cNvSpPr>
          <p:nvPr>
            <p:ph type="sldImg"/>
          </p:nvPr>
        </p:nvSpPr>
        <p:spPr>
          <a:solidFill>
            <a:srgbClr val="FFFFFF">
              <a:alpha val="100000"/>
            </a:srgbClr>
          </a:solidFill>
        </p:spPr>
      </p:sp>
      <p:sp>
        <p:nvSpPr>
          <p:cNvPr id="10957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1619" name="Rectangle 2"/>
          <p:cNvSpPr>
            <a:spLocks noTextEdit="1"/>
          </p:cNvSpPr>
          <p:nvPr>
            <p:ph type="sldImg"/>
          </p:nvPr>
        </p:nvSpPr>
        <p:spPr>
          <a:solidFill>
            <a:srgbClr val="FFFFFF">
              <a:alpha val="100000"/>
            </a:srgbClr>
          </a:solidFill>
        </p:spPr>
      </p:sp>
      <p:sp>
        <p:nvSpPr>
          <p:cNvPr id="11162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3667" name="Rectangle 2"/>
          <p:cNvSpPr>
            <a:spLocks noTextEdit="1"/>
          </p:cNvSpPr>
          <p:nvPr>
            <p:ph type="sldImg"/>
          </p:nvPr>
        </p:nvSpPr>
        <p:spPr>
          <a:solidFill>
            <a:srgbClr val="FFFFFF">
              <a:alpha val="100000"/>
            </a:srgbClr>
          </a:solidFill>
        </p:spPr>
      </p:sp>
      <p:sp>
        <p:nvSpPr>
          <p:cNvPr id="11366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en-US" altLang="zh-CN" dirty="0">
                <a:ea typeface="宋体" panose="02010600030101010101" pitchFamily="2" charset="-122"/>
              </a:rPr>
              <a:t>Padding</a:t>
            </a:r>
            <a:r>
              <a:rPr lang="zh-CN" altLang="en-US" dirty="0">
                <a:ea typeface="宋体" panose="02010600030101010101" pitchFamily="2" charset="-122"/>
              </a:rPr>
              <a:t>对于存储优化，避免访存由于</a:t>
            </a:r>
            <a:r>
              <a:rPr lang="en-US" altLang="zh-CN" dirty="0">
                <a:ea typeface="宋体" panose="02010600030101010101" pitchFamily="2" charset="-122"/>
              </a:rPr>
              <a:t>cache</a:t>
            </a:r>
            <a:r>
              <a:rPr lang="zh-CN" altLang="en-US" dirty="0">
                <a:ea typeface="宋体" panose="02010600030101010101" pitchFamily="2" charset="-122"/>
              </a:rPr>
              <a:t>一致性导致的颠簸是非常有用的</a:t>
            </a:r>
            <a:endParaRPr lang="zh-CN" altLang="en-US" dirty="0">
              <a:ea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5715" name="Rectangle 2"/>
          <p:cNvSpPr>
            <a:spLocks noTextEdit="1"/>
          </p:cNvSpPr>
          <p:nvPr>
            <p:ph type="sldImg"/>
          </p:nvPr>
        </p:nvSpPr>
        <p:spPr>
          <a:solidFill>
            <a:srgbClr val="FFFFFF">
              <a:alpha val="100000"/>
            </a:srgbClr>
          </a:solidFill>
        </p:spPr>
      </p:sp>
      <p:sp>
        <p:nvSpPr>
          <p:cNvPr id="11571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7763" name="Rectangle 2"/>
          <p:cNvSpPr>
            <a:spLocks noTextEdit="1"/>
          </p:cNvSpPr>
          <p:nvPr>
            <p:ph type="sldImg"/>
          </p:nvPr>
        </p:nvSpPr>
        <p:spPr>
          <a:solidFill>
            <a:srgbClr val="FFFFFF">
              <a:alpha val="100000"/>
            </a:srgbClr>
          </a:solidFill>
        </p:spPr>
      </p:sp>
      <p:sp>
        <p:nvSpPr>
          <p:cNvPr id="11776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9811" name="Rectangle 2"/>
          <p:cNvSpPr>
            <a:spLocks noTextEdit="1"/>
          </p:cNvSpPr>
          <p:nvPr>
            <p:ph type="sldImg"/>
          </p:nvPr>
        </p:nvSpPr>
        <p:spPr>
          <a:solidFill>
            <a:srgbClr val="FFFFFF">
              <a:alpha val="100000"/>
            </a:srgbClr>
          </a:solidFill>
        </p:spPr>
      </p:sp>
      <p:sp>
        <p:nvSpPr>
          <p:cNvPr id="11981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1859" name="Rectangle 2"/>
          <p:cNvSpPr>
            <a:spLocks noTextEdit="1"/>
          </p:cNvSpPr>
          <p:nvPr>
            <p:ph type="sldImg"/>
          </p:nvPr>
        </p:nvSpPr>
        <p:spPr>
          <a:solidFill>
            <a:srgbClr val="FFFFFF">
              <a:alpha val="100000"/>
            </a:srgbClr>
          </a:solidFill>
        </p:spPr>
      </p:sp>
      <p:sp>
        <p:nvSpPr>
          <p:cNvPr id="12186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3907" name="Rectangle 2"/>
          <p:cNvSpPr>
            <a:spLocks noTextEdit="1"/>
          </p:cNvSpPr>
          <p:nvPr>
            <p:ph type="sldImg"/>
          </p:nvPr>
        </p:nvSpPr>
        <p:spPr>
          <a:solidFill>
            <a:srgbClr val="FFFFFF">
              <a:alpha val="100000"/>
            </a:srgbClr>
          </a:solidFill>
        </p:spPr>
      </p:sp>
      <p:sp>
        <p:nvSpPr>
          <p:cNvPr id="12390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5955" name="Rectangle 2"/>
          <p:cNvSpPr>
            <a:spLocks noTextEdit="1"/>
          </p:cNvSpPr>
          <p:nvPr>
            <p:ph type="sldImg"/>
          </p:nvPr>
        </p:nvSpPr>
        <p:spPr>
          <a:solidFill>
            <a:srgbClr val="FFFFFF">
              <a:alpha val="100000"/>
            </a:srgbClr>
          </a:solidFill>
        </p:spPr>
      </p:sp>
      <p:sp>
        <p:nvSpPr>
          <p:cNvPr id="12595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8003" name="Rectangle 2"/>
          <p:cNvSpPr>
            <a:spLocks noTextEdit="1"/>
          </p:cNvSpPr>
          <p:nvPr>
            <p:ph type="sldImg"/>
          </p:nvPr>
        </p:nvSpPr>
        <p:spPr/>
      </p:sp>
      <p:sp>
        <p:nvSpPr>
          <p:cNvPr id="128004"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本章后续部分介绍翻译表达式和语句时可能碰到的问题</a:t>
            </a:r>
            <a:endParaRPr lang="zh-CN" altLang="en-US" dirty="0">
              <a:ea typeface="宋体"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0051" name="Rectangle 2"/>
          <p:cNvSpPr>
            <a:spLocks noTextEdit="1"/>
          </p:cNvSpPr>
          <p:nvPr>
            <p:ph type="sldImg"/>
          </p:nvPr>
        </p:nvSpPr>
        <p:spPr>
          <a:solidFill>
            <a:srgbClr val="FFFFFF">
              <a:alpha val="100000"/>
            </a:srgbClr>
          </a:solidFill>
        </p:spPr>
      </p:sp>
      <p:sp>
        <p:nvSpPr>
          <p:cNvPr id="13005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此法的翻译过程中，由一个非终结符推出的代码片段的所有三地址代码序列都保存在这个非终结符的</a:t>
            </a:r>
            <a:r>
              <a:rPr lang="en-US" altLang="zh-CN" dirty="0">
                <a:ea typeface="宋体" panose="02010600030101010101" pitchFamily="2" charset="-122"/>
              </a:rPr>
              <a:t>code</a:t>
            </a:r>
            <a:r>
              <a:rPr lang="zh-CN" altLang="en-US" dirty="0">
                <a:ea typeface="宋体" panose="02010600030101010101" pitchFamily="2" charset="-122"/>
              </a:rPr>
              <a:t>属性中，这个序列可能很长</a:t>
            </a:r>
            <a:endParaRPr lang="zh-CN" altLang="en-US" dirty="0">
              <a:ea typeface="宋体" panose="02010600030101010101" pitchFamily="2"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2099" name="Rectangle 2"/>
          <p:cNvSpPr>
            <a:spLocks noTextEdit="1"/>
          </p:cNvSpPr>
          <p:nvPr>
            <p:ph type="sldImg"/>
          </p:nvPr>
        </p:nvSpPr>
        <p:spPr>
          <a:solidFill>
            <a:srgbClr val="FFFFFF">
              <a:alpha val="100000"/>
            </a:srgbClr>
          </a:solidFill>
        </p:spPr>
      </p:sp>
      <p:sp>
        <p:nvSpPr>
          <p:cNvPr id="13210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此处的</a:t>
            </a:r>
            <a:r>
              <a:rPr lang="en-US" altLang="zh-CN" dirty="0">
                <a:ea typeface="宋体" panose="02010600030101010101" pitchFamily="2" charset="-122"/>
              </a:rPr>
              <a:t>top</a:t>
            </a:r>
            <a:r>
              <a:rPr lang="zh-CN" altLang="en-US" dirty="0">
                <a:ea typeface="宋体" panose="02010600030101010101" pitchFamily="2" charset="-122"/>
              </a:rPr>
              <a:t>是指当前的符号表，</a:t>
            </a:r>
            <a:r>
              <a:rPr lang="en-US" altLang="zh-CN" dirty="0">
                <a:ea typeface="宋体" panose="02010600030101010101" pitchFamily="2" charset="-122"/>
              </a:rPr>
              <a:t>top.put</a:t>
            </a:r>
            <a:r>
              <a:rPr lang="zh-CN" altLang="en-US" dirty="0">
                <a:ea typeface="宋体" panose="02010600030101010101" pitchFamily="2" charset="-122"/>
              </a:rPr>
              <a:t>和</a:t>
            </a:r>
            <a:r>
              <a:rPr lang="en-US" altLang="zh-CN" dirty="0">
                <a:ea typeface="宋体" panose="02010600030101010101" pitchFamily="2" charset="-122"/>
              </a:rPr>
              <a:t>top.get</a:t>
            </a:r>
            <a:r>
              <a:rPr lang="zh-CN" altLang="en-US" dirty="0">
                <a:ea typeface="宋体" panose="02010600030101010101" pitchFamily="2" charset="-122"/>
              </a:rPr>
              <a:t>都是指从当前的符号表中写入、读取某个符号表的表项</a:t>
            </a:r>
            <a:endParaRPr lang="en-US" altLang="zh-CN" dirty="0">
              <a:ea typeface="宋体" panose="02010600030101010101" pitchFamily="2"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4147" name="Rectangle 2"/>
          <p:cNvSpPr>
            <a:spLocks noTextEdit="1"/>
          </p:cNvSpPr>
          <p:nvPr>
            <p:ph type="sldImg"/>
          </p:nvPr>
        </p:nvSpPr>
        <p:spPr>
          <a:solidFill>
            <a:srgbClr val="FFFFFF">
              <a:alpha val="100000"/>
            </a:srgbClr>
          </a:solidFill>
        </p:spPr>
      </p:sp>
      <p:sp>
        <p:nvSpPr>
          <p:cNvPr id="13414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可以方便地将这个翻译方案改为生成语法树，如</a:t>
            </a:r>
            <a:r>
              <a:rPr lang="en-US" altLang="zh-CN" dirty="0">
                <a:ea typeface="宋体" panose="02010600030101010101" pitchFamily="2" charset="-122"/>
              </a:rPr>
              <a:t>E→E1+E2</a:t>
            </a:r>
            <a:r>
              <a:rPr lang="zh-CN" altLang="en-US" dirty="0">
                <a:ea typeface="宋体" panose="02010600030101010101" pitchFamily="2" charset="-122"/>
              </a:rPr>
              <a:t> </a:t>
            </a:r>
            <a:r>
              <a:rPr lang="en-US" altLang="zh-CN" dirty="0">
                <a:ea typeface="宋体" panose="02010600030101010101" pitchFamily="2" charset="-122"/>
              </a:rPr>
              <a:t>{E.addr = new node( ‘+’, E1.addr, E2.addr); }</a:t>
            </a:r>
            <a:endParaRPr lang="zh-CN" altLang="en-US" dirty="0">
              <a:ea typeface="宋体" panose="02010600030101010101"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6195" name="Rectangle 2"/>
          <p:cNvSpPr>
            <a:spLocks noTextEdit="1"/>
          </p:cNvSpPr>
          <p:nvPr>
            <p:ph type="sldImg"/>
          </p:nvPr>
        </p:nvSpPr>
        <p:spPr>
          <a:solidFill>
            <a:srgbClr val="FFFFFF">
              <a:alpha val="100000"/>
            </a:srgbClr>
          </a:solidFill>
        </p:spPr>
      </p:sp>
      <p:sp>
        <p:nvSpPr>
          <p:cNvPr id="13619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8243" name="Rectangle 2"/>
          <p:cNvSpPr>
            <a:spLocks noTextEdit="1"/>
          </p:cNvSpPr>
          <p:nvPr>
            <p:ph type="sldImg"/>
          </p:nvPr>
        </p:nvSpPr>
        <p:spPr>
          <a:solidFill>
            <a:srgbClr val="FFFFFF">
              <a:alpha val="100000"/>
            </a:srgbClr>
          </a:solidFill>
        </p:spPr>
      </p:sp>
      <p:sp>
        <p:nvSpPr>
          <p:cNvPr id="13824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此处的</a:t>
            </a:r>
            <a:r>
              <a:rPr lang="en-US" altLang="zh-CN" dirty="0">
                <a:ea typeface="宋体" panose="02010600030101010101" pitchFamily="2" charset="-122"/>
              </a:rPr>
              <a:t>low</a:t>
            </a:r>
            <a:r>
              <a:rPr lang="zh-CN" altLang="en-US" dirty="0">
                <a:ea typeface="宋体" panose="02010600030101010101" pitchFamily="2" charset="-122"/>
              </a:rPr>
              <a:t>是</a:t>
            </a:r>
            <a:r>
              <a:rPr lang="en-US" altLang="zh-CN" dirty="0">
                <a:ea typeface="宋体" panose="02010600030101010101" pitchFamily="2" charset="-122"/>
              </a:rPr>
              <a:t>1</a:t>
            </a:r>
            <a:endParaRPr lang="zh-CN" altLang="en-US" dirty="0">
              <a:ea typeface="宋体" panose="02010600030101010101" pitchFamily="2"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0291" name="Rectangle 2"/>
          <p:cNvSpPr>
            <a:spLocks noTextEdit="1"/>
          </p:cNvSpPr>
          <p:nvPr>
            <p:ph type="sldImg"/>
          </p:nvPr>
        </p:nvSpPr>
        <p:spPr>
          <a:solidFill>
            <a:srgbClr val="FFFFFF">
              <a:alpha val="100000"/>
            </a:srgbClr>
          </a:solidFill>
        </p:spPr>
      </p:sp>
      <p:sp>
        <p:nvSpPr>
          <p:cNvPr id="14029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如果语言约定</a:t>
            </a:r>
            <a:r>
              <a:rPr lang="en-US" altLang="zh-CN" dirty="0">
                <a:ea typeface="宋体" panose="02010600030101010101" pitchFamily="2" charset="-122"/>
              </a:rPr>
              <a:t>low1</a:t>
            </a:r>
            <a:r>
              <a:rPr lang="zh-CN" altLang="en-US" dirty="0">
                <a:ea typeface="宋体" panose="02010600030101010101" pitchFamily="2" charset="-122"/>
              </a:rPr>
              <a:t>和</a:t>
            </a:r>
            <a:r>
              <a:rPr lang="en-US" altLang="zh-CN" dirty="0">
                <a:ea typeface="宋体" panose="02010600030101010101" pitchFamily="2" charset="-122"/>
              </a:rPr>
              <a:t>low2</a:t>
            </a:r>
            <a:r>
              <a:rPr lang="zh-CN" altLang="en-US" dirty="0">
                <a:ea typeface="宋体" panose="02010600030101010101" pitchFamily="2" charset="-122"/>
              </a:rPr>
              <a:t>必须为</a:t>
            </a:r>
            <a:r>
              <a:rPr lang="en-US" altLang="zh-CN" dirty="0">
                <a:ea typeface="宋体" panose="02010600030101010101" pitchFamily="2" charset="-122"/>
              </a:rPr>
              <a:t>0</a:t>
            </a:r>
            <a:r>
              <a:rPr lang="zh-CN" altLang="en-US" dirty="0">
                <a:ea typeface="宋体" panose="02010600030101010101" pitchFamily="2" charset="-122"/>
              </a:rPr>
              <a:t>，则上述公式可以简化为（</a:t>
            </a:r>
            <a:r>
              <a:rPr lang="en-US" altLang="zh-CN" dirty="0">
                <a:ea typeface="宋体" panose="02010600030101010101" pitchFamily="2" charset="-122"/>
              </a:rPr>
              <a:t>i1</a:t>
            </a:r>
            <a:r>
              <a:rPr lang="zh-CN" altLang="en-US" dirty="0">
                <a:ea typeface="宋体" panose="02010600030101010101" pitchFamily="2" charset="-122"/>
              </a:rPr>
              <a:t>*</a:t>
            </a:r>
            <a:r>
              <a:rPr lang="en-US" altLang="zh-CN" dirty="0">
                <a:ea typeface="宋体" panose="02010600030101010101" pitchFamily="2" charset="-122"/>
              </a:rPr>
              <a:t>n2+</a:t>
            </a:r>
            <a:r>
              <a:rPr lang="zh-CN" altLang="en-US" dirty="0">
                <a:ea typeface="宋体" panose="02010600030101010101" pitchFamily="2" charset="-122"/>
              </a:rPr>
              <a:t> </a:t>
            </a:r>
            <a:r>
              <a:rPr lang="en-US" altLang="zh-CN" dirty="0">
                <a:ea typeface="宋体" panose="02010600030101010101" pitchFamily="2" charset="-122"/>
              </a:rPr>
              <a:t>i2</a:t>
            </a:r>
            <a:r>
              <a:rPr lang="zh-CN" altLang="en-US" dirty="0">
                <a:ea typeface="宋体" panose="02010600030101010101" pitchFamily="2" charset="-122"/>
              </a:rPr>
              <a:t>）*</a:t>
            </a:r>
            <a:r>
              <a:rPr lang="en-US" altLang="zh-CN" dirty="0">
                <a:ea typeface="宋体" panose="02010600030101010101" pitchFamily="2" charset="-122"/>
              </a:rPr>
              <a:t>w+base</a:t>
            </a:r>
            <a:r>
              <a:rPr lang="zh-CN" altLang="en-US" dirty="0">
                <a:ea typeface="宋体" panose="02010600030101010101" pitchFamily="2" charset="-122"/>
              </a:rPr>
              <a:t>，或</a:t>
            </a:r>
            <a:r>
              <a:rPr lang="en-US" altLang="zh-CN" dirty="0">
                <a:ea typeface="宋体" panose="02010600030101010101" pitchFamily="2" charset="-122"/>
              </a:rPr>
              <a:t>base+</a:t>
            </a:r>
            <a:r>
              <a:rPr lang="zh-CN" altLang="en-US" dirty="0">
                <a:ea typeface="宋体" panose="02010600030101010101" pitchFamily="2" charset="-122"/>
              </a:rPr>
              <a:t> （</a:t>
            </a:r>
            <a:r>
              <a:rPr lang="en-US" altLang="zh-CN" dirty="0">
                <a:ea typeface="宋体" panose="02010600030101010101" pitchFamily="2" charset="-122"/>
              </a:rPr>
              <a:t>i1+i2</a:t>
            </a:r>
            <a:r>
              <a:rPr lang="zh-CN" altLang="en-US" dirty="0">
                <a:ea typeface="宋体" panose="02010600030101010101" pitchFamily="2" charset="-122"/>
              </a:rPr>
              <a:t>*</a:t>
            </a:r>
            <a:r>
              <a:rPr lang="en-US" altLang="zh-CN" dirty="0">
                <a:ea typeface="宋体" panose="02010600030101010101" pitchFamily="2" charset="-122"/>
              </a:rPr>
              <a:t>n1</a:t>
            </a:r>
            <a:r>
              <a:rPr lang="zh-CN" altLang="en-US" dirty="0">
                <a:ea typeface="宋体" panose="02010600030101010101" pitchFamily="2" charset="-122"/>
              </a:rPr>
              <a:t>）*</a:t>
            </a:r>
            <a:r>
              <a:rPr lang="en-US" altLang="zh-CN" dirty="0">
                <a:ea typeface="宋体" panose="02010600030101010101" pitchFamily="2" charset="-122"/>
              </a:rPr>
              <a:t>w</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上述的</a:t>
            </a:r>
            <a:r>
              <a:rPr lang="en-US" altLang="zh-CN" dirty="0">
                <a:ea typeface="宋体" panose="02010600030101010101" pitchFamily="2" charset="-122"/>
              </a:rPr>
              <a:t>n2*w</a:t>
            </a:r>
            <a:r>
              <a:rPr lang="zh-CN" altLang="en-US" dirty="0">
                <a:ea typeface="宋体" panose="02010600030101010101" pitchFamily="2" charset="-122"/>
              </a:rPr>
              <a:t>对应了课本公式中的</a:t>
            </a:r>
            <a:r>
              <a:rPr lang="en-US" altLang="zh-CN" dirty="0">
                <a:ea typeface="宋体" panose="02010600030101010101" pitchFamily="2" charset="-122"/>
              </a:rPr>
              <a:t>w1</a:t>
            </a:r>
            <a:r>
              <a:rPr lang="zh-CN" altLang="en-US" dirty="0">
                <a:ea typeface="宋体" panose="02010600030101010101" pitchFamily="2" charset="-122"/>
              </a:rPr>
              <a:t>，</a:t>
            </a:r>
            <a:r>
              <a:rPr lang="en-US" altLang="zh-CN" dirty="0">
                <a:ea typeface="宋体" panose="02010600030101010101" pitchFamily="2" charset="-122"/>
              </a:rPr>
              <a:t>w</a:t>
            </a:r>
            <a:r>
              <a:rPr lang="zh-CN" altLang="en-US" dirty="0">
                <a:ea typeface="宋体" panose="02010600030101010101" pitchFamily="2" charset="-122"/>
              </a:rPr>
              <a:t>对应了课本公式中的</a:t>
            </a:r>
            <a:r>
              <a:rPr lang="en-US" altLang="zh-CN" dirty="0">
                <a:ea typeface="宋体" panose="02010600030101010101" pitchFamily="2" charset="-122"/>
              </a:rPr>
              <a:t>w2</a:t>
            </a:r>
            <a:endParaRPr lang="zh-CN" altLang="en-US" dirty="0">
              <a:ea typeface="宋体"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2339" name="Rectangle 2"/>
          <p:cNvSpPr>
            <a:spLocks noTextEdit="1"/>
          </p:cNvSpPr>
          <p:nvPr>
            <p:ph type="sldImg"/>
          </p:nvPr>
        </p:nvSpPr>
        <p:spPr>
          <a:solidFill>
            <a:srgbClr val="FFFFFF">
              <a:alpha val="100000"/>
            </a:srgbClr>
          </a:solidFill>
        </p:spPr>
      </p:sp>
      <p:sp>
        <p:nvSpPr>
          <p:cNvPr id="14234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如果语言约定数组下标的下届必须从</a:t>
            </a:r>
            <a:r>
              <a:rPr lang="en-US" altLang="zh-CN" dirty="0">
                <a:ea typeface="宋体" panose="02010600030101010101" pitchFamily="2" charset="-122"/>
              </a:rPr>
              <a:t>0</a:t>
            </a:r>
            <a:r>
              <a:rPr lang="zh-CN" altLang="en-US" dirty="0">
                <a:ea typeface="宋体" panose="02010600030101010101" pitchFamily="2" charset="-122"/>
              </a:rPr>
              <a:t>开始，则上述计算会简单很多</a:t>
            </a:r>
            <a:endParaRPr lang="zh-CN" altLang="en-US" dirty="0">
              <a:ea typeface="宋体" panose="02010600030101010101"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4387" name="Rectangle 2"/>
          <p:cNvSpPr>
            <a:spLocks noTextEdit="1"/>
          </p:cNvSpPr>
          <p:nvPr>
            <p:ph type="sldImg"/>
          </p:nvPr>
        </p:nvSpPr>
        <p:spPr>
          <a:solidFill>
            <a:srgbClr val="FFFFFF">
              <a:alpha val="100000"/>
            </a:srgbClr>
          </a:solidFill>
        </p:spPr>
      </p:sp>
      <p:sp>
        <p:nvSpPr>
          <p:cNvPr id="14438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7459" name="Rectangle 2"/>
          <p:cNvSpPr>
            <a:spLocks noTextEdit="1"/>
          </p:cNvSpPr>
          <p:nvPr>
            <p:ph type="sldImg"/>
          </p:nvPr>
        </p:nvSpPr>
        <p:spPr>
          <a:solidFill>
            <a:srgbClr val="FFFFFF">
              <a:alpha val="100000"/>
            </a:srgbClr>
          </a:solidFill>
        </p:spPr>
      </p:sp>
      <p:sp>
        <p:nvSpPr>
          <p:cNvPr id="14746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9507" name="Rectangle 2"/>
          <p:cNvSpPr>
            <a:spLocks noTextEdit="1"/>
          </p:cNvSpPr>
          <p:nvPr>
            <p:ph type="sldImg"/>
          </p:nvPr>
        </p:nvSpPr>
        <p:spPr/>
      </p:sp>
      <p:sp>
        <p:nvSpPr>
          <p:cNvPr id="149508"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本章后续部分介绍翻译表达式和语句时可能碰到的问题</a:t>
            </a:r>
            <a:endParaRPr lang="zh-CN" altLang="en-US" dirty="0">
              <a:ea typeface="宋体" panose="02010600030101010101"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1555" name="Rectangle 2"/>
          <p:cNvSpPr>
            <a:spLocks noTextEdit="1"/>
          </p:cNvSpPr>
          <p:nvPr>
            <p:ph type="sldImg"/>
          </p:nvPr>
        </p:nvSpPr>
        <p:spPr>
          <a:solidFill>
            <a:srgbClr val="FFFFFF">
              <a:alpha val="100000"/>
            </a:srgbClr>
          </a:solidFill>
        </p:spPr>
      </p:sp>
      <p:sp>
        <p:nvSpPr>
          <p:cNvPr id="15155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3603" name="Rectangle 2"/>
          <p:cNvSpPr>
            <a:spLocks noTextEdit="1"/>
          </p:cNvSpPr>
          <p:nvPr>
            <p:ph type="sldImg"/>
          </p:nvPr>
        </p:nvSpPr>
        <p:spPr>
          <a:solidFill>
            <a:srgbClr val="FFFFFF">
              <a:alpha val="100000"/>
            </a:srgbClr>
          </a:solidFill>
        </p:spPr>
      </p:sp>
      <p:sp>
        <p:nvSpPr>
          <p:cNvPr id="15360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5651" name="Rectangle 2"/>
          <p:cNvSpPr>
            <a:spLocks noTextEdit="1"/>
          </p:cNvSpPr>
          <p:nvPr>
            <p:ph type="sldImg"/>
          </p:nvPr>
        </p:nvSpPr>
        <p:spPr>
          <a:solidFill>
            <a:srgbClr val="FFFFFF">
              <a:alpha val="100000"/>
            </a:srgbClr>
          </a:solidFill>
        </p:spPr>
      </p:sp>
      <p:sp>
        <p:nvSpPr>
          <p:cNvPr id="15565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本节先考虑表达式的类型检查，语句的类型检查类似，可以把语句看成使语句构造符的函数，另外对于语句的类型检查，需要引入</a:t>
            </a:r>
            <a:r>
              <a:rPr lang="en-US" altLang="zh-CN" dirty="0">
                <a:ea typeface="宋体" panose="02010600030101010101" pitchFamily="2" charset="-122"/>
              </a:rPr>
              <a:t>void</a:t>
            </a:r>
            <a:r>
              <a:rPr lang="zh-CN" altLang="en-US" dirty="0">
                <a:ea typeface="宋体" panose="02010600030101010101" pitchFamily="2" charset="-122"/>
              </a:rPr>
              <a:t>类型</a:t>
            </a:r>
            <a:endParaRPr lang="zh-CN" altLang="en-US" dirty="0">
              <a:ea typeface="宋体" panose="02010600030101010101" pitchFamily="2" charset="-122"/>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7699" name="Rectangle 2"/>
          <p:cNvSpPr>
            <a:spLocks noTextEdit="1"/>
          </p:cNvSpPr>
          <p:nvPr>
            <p:ph type="sldImg"/>
          </p:nvPr>
        </p:nvSpPr>
        <p:spPr>
          <a:solidFill>
            <a:srgbClr val="FFFFFF">
              <a:alpha val="100000"/>
            </a:srgbClr>
          </a:solidFill>
        </p:spPr>
      </p:sp>
      <p:sp>
        <p:nvSpPr>
          <p:cNvPr id="15770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9747" name="Rectangle 2"/>
          <p:cNvSpPr>
            <a:spLocks noTextEdit="1"/>
          </p:cNvSpPr>
          <p:nvPr>
            <p:ph type="sldImg"/>
          </p:nvPr>
        </p:nvSpPr>
        <p:spPr>
          <a:solidFill>
            <a:srgbClr val="FFFFFF">
              <a:alpha val="100000"/>
            </a:srgbClr>
          </a:solidFill>
        </p:spPr>
      </p:sp>
      <p:sp>
        <p:nvSpPr>
          <p:cNvPr id="15974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本图对应了</a:t>
            </a:r>
            <a:r>
              <a:rPr lang="en-US" altLang="zh-CN" dirty="0">
                <a:ea typeface="宋体" panose="02010600030101010101" pitchFamily="2" charset="-122"/>
              </a:rPr>
              <a:t>Java</a:t>
            </a:r>
            <a:r>
              <a:rPr lang="zh-CN" altLang="en-US" dirty="0">
                <a:ea typeface="宋体" panose="02010600030101010101" pitchFamily="2" charset="-122"/>
              </a:rPr>
              <a:t>类型的转换规则</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对于图</a:t>
            </a:r>
            <a:r>
              <a:rPr lang="en-US" altLang="zh-CN" dirty="0">
                <a:ea typeface="宋体" panose="02010600030101010101" pitchFamily="2" charset="-122"/>
              </a:rPr>
              <a:t>a</a:t>
            </a:r>
            <a:r>
              <a:rPr lang="zh-CN" altLang="en-US" dirty="0">
                <a:ea typeface="宋体" panose="02010600030101010101" pitchFamily="2" charset="-122"/>
              </a:rPr>
              <a:t>，要求</a:t>
            </a:r>
            <a:r>
              <a:rPr lang="en-US" altLang="zh-CN" dirty="0">
                <a:ea typeface="宋体" panose="02010600030101010101" pitchFamily="2" charset="-122"/>
              </a:rPr>
              <a:t>char</a:t>
            </a:r>
            <a:r>
              <a:rPr lang="zh-CN" altLang="en-US" dirty="0">
                <a:ea typeface="宋体" panose="02010600030101010101" pitchFamily="2" charset="-122"/>
              </a:rPr>
              <a:t>不能转换为</a:t>
            </a:r>
            <a:r>
              <a:rPr lang="en-US" altLang="zh-CN" dirty="0">
                <a:ea typeface="宋体" panose="02010600030101010101" pitchFamily="2" charset="-122"/>
              </a:rPr>
              <a:t>short</a:t>
            </a:r>
            <a:endParaRPr lang="zh-CN" altLang="en-US" dirty="0">
              <a:ea typeface="宋体" panose="02010600030101010101" pitchFamily="2" charset="-122"/>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1795" name="Rectangle 2"/>
          <p:cNvSpPr>
            <a:spLocks noTextEdit="1"/>
          </p:cNvSpPr>
          <p:nvPr>
            <p:ph type="sldImg"/>
          </p:nvPr>
        </p:nvSpPr>
        <p:spPr>
          <a:solidFill>
            <a:srgbClr val="FFFFFF">
              <a:alpha val="100000"/>
            </a:srgbClr>
          </a:solidFill>
        </p:spPr>
      </p:sp>
      <p:sp>
        <p:nvSpPr>
          <p:cNvPr id="16179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3843" name="Rectangle 2"/>
          <p:cNvSpPr>
            <a:spLocks noTextEdit="1"/>
          </p:cNvSpPr>
          <p:nvPr>
            <p:ph type="sldImg"/>
          </p:nvPr>
        </p:nvSpPr>
        <p:spPr>
          <a:solidFill>
            <a:srgbClr val="FFFFFF">
              <a:alpha val="100000"/>
            </a:srgbClr>
          </a:solidFill>
        </p:spPr>
      </p:sp>
      <p:sp>
        <p:nvSpPr>
          <p:cNvPr id="16384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6915" name="Rectangle 2"/>
          <p:cNvSpPr>
            <a:spLocks noTextEdit="1"/>
          </p:cNvSpPr>
          <p:nvPr>
            <p:ph type="sldImg"/>
          </p:nvPr>
        </p:nvSpPr>
        <p:spPr>
          <a:solidFill>
            <a:srgbClr val="FFFFFF">
              <a:alpha val="100000"/>
            </a:srgbClr>
          </a:solidFill>
        </p:spPr>
      </p:sp>
      <p:sp>
        <p:nvSpPr>
          <p:cNvPr id="16691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8963" name="Rectangle 2"/>
          <p:cNvSpPr>
            <a:spLocks noTextEdit="1"/>
          </p:cNvSpPr>
          <p:nvPr>
            <p:ph type="sldImg"/>
          </p:nvPr>
        </p:nvSpPr>
        <p:spPr>
          <a:solidFill>
            <a:srgbClr val="FFFFFF">
              <a:alpha val="100000"/>
            </a:srgbClr>
          </a:solidFill>
        </p:spPr>
      </p:sp>
      <p:sp>
        <p:nvSpPr>
          <p:cNvPr id="16896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1011" name="Rectangle 2"/>
          <p:cNvSpPr>
            <a:spLocks noTextEdit="1"/>
          </p:cNvSpPr>
          <p:nvPr>
            <p:ph type="sldImg"/>
          </p:nvPr>
        </p:nvSpPr>
        <p:spPr>
          <a:solidFill>
            <a:srgbClr val="FFFFFF">
              <a:alpha val="100000"/>
            </a:srgbClr>
          </a:solidFill>
        </p:spPr>
      </p:sp>
      <p:sp>
        <p:nvSpPr>
          <p:cNvPr id="17101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3059" name="Rectangle 2"/>
          <p:cNvSpPr>
            <a:spLocks noTextEdit="1"/>
          </p:cNvSpPr>
          <p:nvPr>
            <p:ph type="sldImg"/>
          </p:nvPr>
        </p:nvSpPr>
        <p:spPr>
          <a:solidFill>
            <a:srgbClr val="FFFFFF">
              <a:alpha val="100000"/>
            </a:srgbClr>
          </a:solidFill>
        </p:spPr>
      </p:sp>
      <p:sp>
        <p:nvSpPr>
          <p:cNvPr id="17306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5107" name="Rectangle 2"/>
          <p:cNvSpPr>
            <a:spLocks noTextEdit="1"/>
          </p:cNvSpPr>
          <p:nvPr>
            <p:ph type="sldImg"/>
          </p:nvPr>
        </p:nvSpPr>
        <p:spPr>
          <a:solidFill>
            <a:srgbClr val="FFFFFF">
              <a:alpha val="100000"/>
            </a:srgbClr>
          </a:solidFill>
        </p:spPr>
      </p:sp>
      <p:sp>
        <p:nvSpPr>
          <p:cNvPr id="17510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7155" name="Rectangle 2"/>
          <p:cNvSpPr>
            <a:spLocks noTextEdit="1"/>
          </p:cNvSpPr>
          <p:nvPr>
            <p:ph type="sldImg"/>
          </p:nvPr>
        </p:nvSpPr>
        <p:spPr>
          <a:solidFill>
            <a:srgbClr val="FFFFFF">
              <a:alpha val="100000"/>
            </a:srgbClr>
          </a:solidFill>
        </p:spPr>
      </p:sp>
      <p:sp>
        <p:nvSpPr>
          <p:cNvPr id="17715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9203" name="Rectangle 2"/>
          <p:cNvSpPr>
            <a:spLocks noTextEdit="1"/>
          </p:cNvSpPr>
          <p:nvPr>
            <p:ph type="sldImg"/>
          </p:nvPr>
        </p:nvSpPr>
        <p:spPr>
          <a:solidFill>
            <a:srgbClr val="FFFFFF">
              <a:alpha val="100000"/>
            </a:srgbClr>
          </a:solidFill>
        </p:spPr>
      </p:sp>
      <p:sp>
        <p:nvSpPr>
          <p:cNvPr id="17920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1251" name="Rectangle 2"/>
          <p:cNvSpPr>
            <a:spLocks noTextEdit="1"/>
          </p:cNvSpPr>
          <p:nvPr>
            <p:ph type="sldImg"/>
          </p:nvPr>
        </p:nvSpPr>
        <p:spPr>
          <a:solidFill>
            <a:srgbClr val="FFFFFF">
              <a:alpha val="100000"/>
            </a:srgbClr>
          </a:solidFill>
        </p:spPr>
      </p:sp>
      <p:sp>
        <p:nvSpPr>
          <p:cNvPr id="18125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3299" name="Rectangle 2"/>
          <p:cNvSpPr>
            <a:spLocks noTextEdit="1"/>
          </p:cNvSpPr>
          <p:nvPr>
            <p:ph type="sldImg"/>
          </p:nvPr>
        </p:nvSpPr>
        <p:spPr>
          <a:solidFill>
            <a:srgbClr val="FFFFFF">
              <a:alpha val="100000"/>
            </a:srgbClr>
          </a:solidFill>
        </p:spPr>
      </p:sp>
      <p:sp>
        <p:nvSpPr>
          <p:cNvPr id="18330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5347" name="Rectangle 2"/>
          <p:cNvSpPr>
            <a:spLocks noTextEdit="1"/>
          </p:cNvSpPr>
          <p:nvPr>
            <p:ph type="sldImg"/>
          </p:nvPr>
        </p:nvSpPr>
        <p:spPr>
          <a:solidFill>
            <a:srgbClr val="FFFFFF">
              <a:alpha val="100000"/>
            </a:srgbClr>
          </a:solidFill>
        </p:spPr>
      </p:sp>
      <p:sp>
        <p:nvSpPr>
          <p:cNvPr id="18534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7395" name="Rectangle 2"/>
          <p:cNvSpPr>
            <a:spLocks noTextEdit="1"/>
          </p:cNvSpPr>
          <p:nvPr>
            <p:ph type="sldImg"/>
          </p:nvPr>
        </p:nvSpPr>
        <p:spPr>
          <a:solidFill>
            <a:srgbClr val="FFFFFF">
              <a:alpha val="100000"/>
            </a:srgbClr>
          </a:solidFill>
        </p:spPr>
      </p:sp>
      <p:sp>
        <p:nvSpPr>
          <p:cNvPr id="18739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9443" name="Rectangle 2"/>
          <p:cNvSpPr>
            <a:spLocks noTextEdit="1"/>
          </p:cNvSpPr>
          <p:nvPr>
            <p:ph type="sldImg"/>
          </p:nvPr>
        </p:nvSpPr>
        <p:spPr>
          <a:solidFill>
            <a:srgbClr val="FFFFFF">
              <a:alpha val="100000"/>
            </a:srgbClr>
          </a:solidFill>
        </p:spPr>
      </p:sp>
      <p:sp>
        <p:nvSpPr>
          <p:cNvPr id="18944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2515" name="Rectangle 2"/>
          <p:cNvSpPr>
            <a:spLocks noTextEdit="1"/>
          </p:cNvSpPr>
          <p:nvPr>
            <p:ph type="sldImg"/>
          </p:nvPr>
        </p:nvSpPr>
        <p:spPr>
          <a:solidFill>
            <a:srgbClr val="FFFFFF">
              <a:alpha val="100000"/>
            </a:srgbClr>
          </a:solidFill>
        </p:spPr>
      </p:sp>
      <p:sp>
        <p:nvSpPr>
          <p:cNvPr id="19251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4563" name="Rectangle 2"/>
          <p:cNvSpPr>
            <a:spLocks noTextEdit="1"/>
          </p:cNvSpPr>
          <p:nvPr>
            <p:ph type="sldImg"/>
          </p:nvPr>
        </p:nvSpPr>
        <p:spPr>
          <a:solidFill>
            <a:srgbClr val="FFFFFF">
              <a:alpha val="100000"/>
            </a:srgbClr>
          </a:solidFill>
        </p:spPr>
      </p:sp>
      <p:sp>
        <p:nvSpPr>
          <p:cNvPr id="19456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6611" name="Rectangle 2"/>
          <p:cNvSpPr>
            <a:spLocks noTextEdit="1"/>
          </p:cNvSpPr>
          <p:nvPr>
            <p:ph type="sldImg"/>
          </p:nvPr>
        </p:nvSpPr>
        <p:spPr>
          <a:solidFill>
            <a:srgbClr val="FFFFFF">
              <a:alpha val="100000"/>
            </a:srgbClr>
          </a:solidFill>
        </p:spPr>
      </p:sp>
      <p:sp>
        <p:nvSpPr>
          <p:cNvPr id="19661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8659" name="Rectangle 2"/>
          <p:cNvSpPr>
            <a:spLocks noTextEdit="1"/>
          </p:cNvSpPr>
          <p:nvPr>
            <p:ph type="sldImg"/>
          </p:nvPr>
        </p:nvSpPr>
        <p:spPr>
          <a:solidFill>
            <a:srgbClr val="FFFFFF">
              <a:alpha val="100000"/>
            </a:srgbClr>
          </a:solidFill>
        </p:spPr>
      </p:sp>
      <p:sp>
        <p:nvSpPr>
          <p:cNvPr id="19866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0707" name="Rectangle 2"/>
          <p:cNvSpPr>
            <a:spLocks noTextEdit="1"/>
          </p:cNvSpPr>
          <p:nvPr>
            <p:ph type="sldImg"/>
          </p:nvPr>
        </p:nvSpPr>
        <p:spPr>
          <a:solidFill>
            <a:srgbClr val="FFFFFF">
              <a:alpha val="100000"/>
            </a:srgbClr>
          </a:solidFill>
        </p:spPr>
      </p:sp>
      <p:sp>
        <p:nvSpPr>
          <p:cNvPr id="20070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2755" name="Rectangle 2"/>
          <p:cNvSpPr>
            <a:spLocks noTextEdit="1"/>
          </p:cNvSpPr>
          <p:nvPr>
            <p:ph type="sldImg"/>
          </p:nvPr>
        </p:nvSpPr>
        <p:spPr>
          <a:solidFill>
            <a:srgbClr val="FFFFFF">
              <a:alpha val="100000"/>
            </a:srgbClr>
          </a:solidFill>
        </p:spPr>
      </p:sp>
      <p:sp>
        <p:nvSpPr>
          <p:cNvPr id="20275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4803" name="Rectangle 2"/>
          <p:cNvSpPr>
            <a:spLocks noTextEdit="1"/>
          </p:cNvSpPr>
          <p:nvPr>
            <p:ph type="sldImg"/>
          </p:nvPr>
        </p:nvSpPr>
        <p:spPr>
          <a:solidFill>
            <a:srgbClr val="FFFFFF">
              <a:alpha val="100000"/>
            </a:srgbClr>
          </a:solidFill>
        </p:spPr>
      </p:sp>
      <p:sp>
        <p:nvSpPr>
          <p:cNvPr id="20480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68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6851" name="Rectangle 2"/>
          <p:cNvSpPr>
            <a:spLocks noTextEdit="1"/>
          </p:cNvSpPr>
          <p:nvPr>
            <p:ph type="sldImg"/>
          </p:nvPr>
        </p:nvSpPr>
        <p:spPr>
          <a:solidFill>
            <a:srgbClr val="FFFFFF">
              <a:alpha val="100000"/>
            </a:srgbClr>
          </a:solidFill>
        </p:spPr>
      </p:sp>
      <p:sp>
        <p:nvSpPr>
          <p:cNvPr id="20685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88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8899" name="Rectangle 2"/>
          <p:cNvSpPr>
            <a:spLocks noTextEdit="1"/>
          </p:cNvSpPr>
          <p:nvPr>
            <p:ph type="sldImg"/>
          </p:nvPr>
        </p:nvSpPr>
        <p:spPr>
          <a:solidFill>
            <a:srgbClr val="FFFFFF">
              <a:alpha val="100000"/>
            </a:srgbClr>
          </a:solidFill>
        </p:spPr>
      </p:sp>
      <p:sp>
        <p:nvSpPr>
          <p:cNvPr id="20890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09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10947" name="Rectangle 2"/>
          <p:cNvSpPr>
            <a:spLocks noTextEdit="1"/>
          </p:cNvSpPr>
          <p:nvPr>
            <p:ph type="sldImg"/>
          </p:nvPr>
        </p:nvSpPr>
        <p:spPr>
          <a:solidFill>
            <a:srgbClr val="FFFFFF">
              <a:alpha val="100000"/>
            </a:srgbClr>
          </a:solidFill>
        </p:spPr>
      </p:sp>
      <p:sp>
        <p:nvSpPr>
          <p:cNvPr id="21094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29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12995" name="Rectangle 2"/>
          <p:cNvSpPr>
            <a:spLocks noTextEdit="1"/>
          </p:cNvSpPr>
          <p:nvPr>
            <p:ph type="sldImg"/>
          </p:nvPr>
        </p:nvSpPr>
        <p:spPr>
          <a:solidFill>
            <a:srgbClr val="FFFFFF">
              <a:alpha val="100000"/>
            </a:srgbClr>
          </a:solidFill>
        </p:spPr>
      </p:sp>
      <p:sp>
        <p:nvSpPr>
          <p:cNvPr id="21299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15043" name="Rectangle 2"/>
          <p:cNvSpPr>
            <a:spLocks noTextEdit="1"/>
          </p:cNvSpPr>
          <p:nvPr>
            <p:ph type="sldImg"/>
          </p:nvPr>
        </p:nvSpPr>
        <p:spPr>
          <a:solidFill>
            <a:srgbClr val="FFFFFF">
              <a:alpha val="100000"/>
            </a:srgbClr>
          </a:solidFill>
        </p:spPr>
      </p:sp>
      <p:sp>
        <p:nvSpPr>
          <p:cNvPr id="21504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70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17091" name="Rectangle 2"/>
          <p:cNvSpPr>
            <a:spLocks noTextEdit="1"/>
          </p:cNvSpPr>
          <p:nvPr>
            <p:ph type="sldImg"/>
          </p:nvPr>
        </p:nvSpPr>
        <p:spPr>
          <a:solidFill>
            <a:srgbClr val="FFFFFF">
              <a:alpha val="100000"/>
            </a:srgbClr>
          </a:solidFill>
        </p:spPr>
      </p:sp>
      <p:sp>
        <p:nvSpPr>
          <p:cNvPr id="21709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0163" name="Rectangle 2"/>
          <p:cNvSpPr>
            <a:spLocks noTextEdit="1"/>
          </p:cNvSpPr>
          <p:nvPr>
            <p:ph type="sldImg"/>
          </p:nvPr>
        </p:nvSpPr>
        <p:spPr>
          <a:solidFill>
            <a:srgbClr val="FFFFFF">
              <a:alpha val="100000"/>
            </a:srgbClr>
          </a:solidFill>
        </p:spPr>
      </p:sp>
      <p:sp>
        <p:nvSpPr>
          <p:cNvPr id="22016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22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2211" name="Rectangle 2"/>
          <p:cNvSpPr>
            <a:spLocks noTextEdit="1"/>
          </p:cNvSpPr>
          <p:nvPr>
            <p:ph type="sldImg"/>
          </p:nvPr>
        </p:nvSpPr>
        <p:spPr>
          <a:solidFill>
            <a:srgbClr val="FFFFFF">
              <a:alpha val="100000"/>
            </a:srgbClr>
          </a:solidFill>
        </p:spPr>
      </p:sp>
      <p:sp>
        <p:nvSpPr>
          <p:cNvPr id="22221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4259" name="Rectangle 2"/>
          <p:cNvSpPr>
            <a:spLocks noTextEdit="1"/>
          </p:cNvSpPr>
          <p:nvPr>
            <p:ph type="sldImg"/>
          </p:nvPr>
        </p:nvSpPr>
        <p:spPr/>
      </p:sp>
      <p:sp>
        <p:nvSpPr>
          <p:cNvPr id="224260"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本章后续部分介绍翻译表达式和语句时可能碰到的问题</a:t>
            </a:r>
            <a:endParaRPr lang="zh-CN" altLang="en-US" dirty="0">
              <a:ea typeface="宋体" panose="02010600030101010101" pitchFamily="2" charset="-122"/>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6307" name="Rectangle 2"/>
          <p:cNvSpPr>
            <a:spLocks noTextEdit="1"/>
          </p:cNvSpPr>
          <p:nvPr>
            <p:ph type="sldImg"/>
          </p:nvPr>
        </p:nvSpPr>
        <p:spPr>
          <a:solidFill>
            <a:srgbClr val="FFFFFF">
              <a:alpha val="100000"/>
            </a:srgbClr>
          </a:solidFill>
        </p:spPr>
      </p:sp>
      <p:sp>
        <p:nvSpPr>
          <p:cNvPr id="22630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8355" name="Rectangle 2"/>
          <p:cNvSpPr>
            <a:spLocks noTextEdit="1"/>
          </p:cNvSpPr>
          <p:nvPr>
            <p:ph type="sldImg"/>
          </p:nvPr>
        </p:nvSpPr>
        <p:spPr>
          <a:solidFill>
            <a:srgbClr val="FFFFFF">
              <a:alpha val="100000"/>
            </a:srgbClr>
          </a:solidFill>
        </p:spPr>
      </p:sp>
      <p:sp>
        <p:nvSpPr>
          <p:cNvPr id="22835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04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0403" name="Rectangle 2"/>
          <p:cNvSpPr>
            <a:spLocks noTextEdit="1"/>
          </p:cNvSpPr>
          <p:nvPr>
            <p:ph type="sldImg"/>
          </p:nvPr>
        </p:nvSpPr>
        <p:spPr>
          <a:solidFill>
            <a:srgbClr val="FFFFFF">
              <a:alpha val="100000"/>
            </a:srgbClr>
          </a:solidFill>
        </p:spPr>
      </p:sp>
      <p:sp>
        <p:nvSpPr>
          <p:cNvPr id="23040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24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2451" name="Rectangle 2"/>
          <p:cNvSpPr>
            <a:spLocks noTextEdit="1"/>
          </p:cNvSpPr>
          <p:nvPr>
            <p:ph type="sldImg"/>
          </p:nvPr>
        </p:nvSpPr>
        <p:spPr>
          <a:solidFill>
            <a:srgbClr val="FFFFFF">
              <a:alpha val="100000"/>
            </a:srgbClr>
          </a:solidFill>
        </p:spPr>
      </p:sp>
      <p:sp>
        <p:nvSpPr>
          <p:cNvPr id="23245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44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4499" name="Rectangle 2"/>
          <p:cNvSpPr>
            <a:spLocks noTextEdit="1"/>
          </p:cNvSpPr>
          <p:nvPr>
            <p:ph type="sldImg"/>
          </p:nvPr>
        </p:nvSpPr>
        <p:spPr>
          <a:solidFill>
            <a:srgbClr val="FFFFFF">
              <a:alpha val="100000"/>
            </a:srgbClr>
          </a:solidFill>
        </p:spPr>
      </p:sp>
      <p:sp>
        <p:nvSpPr>
          <p:cNvPr id="23450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65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6547" name="Rectangle 2"/>
          <p:cNvSpPr>
            <a:spLocks noTextEdit="1"/>
          </p:cNvSpPr>
          <p:nvPr>
            <p:ph type="sldImg"/>
          </p:nvPr>
        </p:nvSpPr>
        <p:spPr>
          <a:solidFill>
            <a:srgbClr val="FFFFFF">
              <a:alpha val="100000"/>
            </a:srgbClr>
          </a:solidFill>
        </p:spPr>
      </p:sp>
      <p:sp>
        <p:nvSpPr>
          <p:cNvPr id="23654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85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8595" name="Rectangle 2"/>
          <p:cNvSpPr>
            <a:spLocks noTextEdit="1"/>
          </p:cNvSpPr>
          <p:nvPr>
            <p:ph type="sldImg"/>
          </p:nvPr>
        </p:nvSpPr>
        <p:spPr>
          <a:solidFill>
            <a:srgbClr val="FFFFFF">
              <a:alpha val="100000"/>
            </a:srgbClr>
          </a:solidFill>
        </p:spPr>
      </p:sp>
      <p:sp>
        <p:nvSpPr>
          <p:cNvPr id="23859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06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40643" name="Rectangle 2"/>
          <p:cNvSpPr>
            <a:spLocks noTextEdit="1"/>
          </p:cNvSpPr>
          <p:nvPr>
            <p:ph type="sldImg"/>
          </p:nvPr>
        </p:nvSpPr>
        <p:spPr>
          <a:solidFill>
            <a:srgbClr val="FFFFFF">
              <a:alpha val="100000"/>
            </a:srgbClr>
          </a:solidFill>
        </p:spPr>
      </p:sp>
      <p:sp>
        <p:nvSpPr>
          <p:cNvPr id="24064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47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44739" name="Rectangle 2"/>
          <p:cNvSpPr>
            <a:spLocks noTextEdit="1"/>
          </p:cNvSpPr>
          <p:nvPr>
            <p:ph type="sldImg"/>
          </p:nvPr>
        </p:nvSpPr>
        <p:spPr>
          <a:solidFill>
            <a:srgbClr val="FFFFFF">
              <a:alpha val="100000"/>
            </a:srgbClr>
          </a:solidFill>
        </p:spPr>
      </p:sp>
      <p:sp>
        <p:nvSpPr>
          <p:cNvPr id="24474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78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47811" name="Rectangle 2"/>
          <p:cNvSpPr>
            <a:spLocks noTextEdit="1"/>
          </p:cNvSpPr>
          <p:nvPr>
            <p:ph type="sldImg"/>
          </p:nvPr>
        </p:nvSpPr>
        <p:spPr>
          <a:solidFill>
            <a:srgbClr val="FFFFFF">
              <a:alpha val="100000"/>
            </a:srgbClr>
          </a:solidFill>
        </p:spPr>
      </p:sp>
      <p:sp>
        <p:nvSpPr>
          <p:cNvPr id="24781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98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49859" name="Rectangle 2"/>
          <p:cNvSpPr>
            <a:spLocks noTextEdit="1"/>
          </p:cNvSpPr>
          <p:nvPr>
            <p:ph type="sldImg"/>
          </p:nvPr>
        </p:nvSpPr>
        <p:spPr>
          <a:solidFill>
            <a:srgbClr val="FFFFFF">
              <a:alpha val="100000"/>
            </a:srgbClr>
          </a:solidFill>
        </p:spPr>
      </p:sp>
      <p:sp>
        <p:nvSpPr>
          <p:cNvPr id="24986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19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1907" name="Rectangle 2"/>
          <p:cNvSpPr>
            <a:spLocks noTextEdit="1"/>
          </p:cNvSpPr>
          <p:nvPr>
            <p:ph type="sldImg"/>
          </p:nvPr>
        </p:nvSpPr>
        <p:spPr>
          <a:solidFill>
            <a:srgbClr val="FFFFFF">
              <a:alpha val="100000"/>
            </a:srgbClr>
          </a:solidFill>
        </p:spPr>
      </p:sp>
      <p:sp>
        <p:nvSpPr>
          <p:cNvPr id="25190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39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3955" name="Rectangle 2"/>
          <p:cNvSpPr>
            <a:spLocks noTextEdit="1"/>
          </p:cNvSpPr>
          <p:nvPr>
            <p:ph type="sldImg"/>
          </p:nvPr>
        </p:nvSpPr>
        <p:spPr>
          <a:solidFill>
            <a:srgbClr val="FFFFFF">
              <a:alpha val="100000"/>
            </a:srgbClr>
          </a:solidFill>
        </p:spPr>
      </p:sp>
      <p:sp>
        <p:nvSpPr>
          <p:cNvPr id="25395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6003" name="Rectangle 2"/>
          <p:cNvSpPr>
            <a:spLocks noTextEdit="1"/>
          </p:cNvSpPr>
          <p:nvPr>
            <p:ph type="sldImg"/>
          </p:nvPr>
        </p:nvSpPr>
        <p:spPr>
          <a:solidFill>
            <a:srgbClr val="FFFFFF">
              <a:alpha val="100000"/>
            </a:srgbClr>
          </a:solidFill>
        </p:spPr>
      </p:sp>
      <p:sp>
        <p:nvSpPr>
          <p:cNvPr id="25600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80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8051" name="Rectangle 2"/>
          <p:cNvSpPr>
            <a:spLocks noTextEdit="1"/>
          </p:cNvSpPr>
          <p:nvPr>
            <p:ph type="sldImg"/>
          </p:nvPr>
        </p:nvSpPr>
        <p:spPr>
          <a:solidFill>
            <a:srgbClr val="FFFFFF">
              <a:alpha val="100000"/>
            </a:srgbClr>
          </a:solidFill>
        </p:spPr>
      </p:sp>
      <p:sp>
        <p:nvSpPr>
          <p:cNvPr id="25805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00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60099" name="Rectangle 2"/>
          <p:cNvSpPr>
            <a:spLocks noTextEdit="1"/>
          </p:cNvSpPr>
          <p:nvPr>
            <p:ph type="sldImg"/>
          </p:nvPr>
        </p:nvSpPr>
        <p:spPr>
          <a:solidFill>
            <a:srgbClr val="FFFFFF">
              <a:alpha val="100000"/>
            </a:srgbClr>
          </a:solidFill>
        </p:spPr>
      </p:sp>
      <p:sp>
        <p:nvSpPr>
          <p:cNvPr id="26010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21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62147" name="Rectangle 2"/>
          <p:cNvSpPr>
            <a:spLocks noTextEdit="1"/>
          </p:cNvSpPr>
          <p:nvPr>
            <p:ph type="sldImg"/>
          </p:nvPr>
        </p:nvSpPr>
        <p:spPr>
          <a:solidFill>
            <a:srgbClr val="FFFFFF">
              <a:alpha val="100000"/>
            </a:srgbClr>
          </a:solidFill>
        </p:spPr>
      </p:sp>
      <p:sp>
        <p:nvSpPr>
          <p:cNvPr id="26214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52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65219" name="Rectangle 2"/>
          <p:cNvSpPr>
            <a:spLocks noTextEdit="1"/>
          </p:cNvSpPr>
          <p:nvPr>
            <p:ph type="sldImg"/>
          </p:nvPr>
        </p:nvSpPr>
        <p:spPr>
          <a:solidFill>
            <a:srgbClr val="FFFFFF">
              <a:alpha val="100000"/>
            </a:srgbClr>
          </a:solidFill>
        </p:spPr>
      </p:sp>
      <p:sp>
        <p:nvSpPr>
          <p:cNvPr id="26522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72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67267" name="Rectangle 2"/>
          <p:cNvSpPr>
            <a:spLocks noTextEdit="1"/>
          </p:cNvSpPr>
          <p:nvPr>
            <p:ph type="sldImg"/>
          </p:nvPr>
        </p:nvSpPr>
        <p:spPr>
          <a:solidFill>
            <a:srgbClr val="FFFFFF">
              <a:alpha val="100000"/>
            </a:srgbClr>
          </a:solidFill>
        </p:spPr>
      </p:sp>
      <p:sp>
        <p:nvSpPr>
          <p:cNvPr id="26726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93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69315" name="Rectangle 2"/>
          <p:cNvSpPr>
            <a:spLocks noTextEdit="1"/>
          </p:cNvSpPr>
          <p:nvPr>
            <p:ph type="sldImg"/>
          </p:nvPr>
        </p:nvSpPr>
        <p:spPr>
          <a:solidFill>
            <a:srgbClr val="FFFFFF">
              <a:alpha val="100000"/>
            </a:srgbClr>
          </a:solidFill>
        </p:spPr>
      </p:sp>
      <p:sp>
        <p:nvSpPr>
          <p:cNvPr id="26931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23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2387" name="Rectangle 2"/>
          <p:cNvSpPr>
            <a:spLocks noTextEdit="1"/>
          </p:cNvSpPr>
          <p:nvPr>
            <p:ph type="sldImg"/>
          </p:nvPr>
        </p:nvSpPr>
        <p:spPr>
          <a:solidFill>
            <a:srgbClr val="FFFFFF">
              <a:alpha val="100000"/>
            </a:srgbClr>
          </a:solidFill>
        </p:spPr>
      </p:sp>
      <p:sp>
        <p:nvSpPr>
          <p:cNvPr id="27238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54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5459" name="Rectangle 2"/>
          <p:cNvSpPr>
            <a:spLocks noTextEdit="1"/>
          </p:cNvSpPr>
          <p:nvPr>
            <p:ph type="sldImg"/>
          </p:nvPr>
        </p:nvSpPr>
        <p:spPr>
          <a:solidFill>
            <a:srgbClr val="FFFFFF">
              <a:alpha val="100000"/>
            </a:srgbClr>
          </a:solidFill>
        </p:spPr>
      </p:sp>
      <p:sp>
        <p:nvSpPr>
          <p:cNvPr id="27546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75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7507" name="Rectangle 2"/>
          <p:cNvSpPr>
            <a:spLocks noTextEdit="1"/>
          </p:cNvSpPr>
          <p:nvPr>
            <p:ph type="sldImg"/>
          </p:nvPr>
        </p:nvSpPr>
        <p:spPr>
          <a:solidFill>
            <a:srgbClr val="FFFFFF">
              <a:alpha val="100000"/>
            </a:srgbClr>
          </a:solidFill>
        </p:spPr>
      </p:sp>
      <p:sp>
        <p:nvSpPr>
          <p:cNvPr id="27750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95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9555" name="Rectangle 2"/>
          <p:cNvSpPr>
            <a:spLocks noTextEdit="1"/>
          </p:cNvSpPr>
          <p:nvPr>
            <p:ph type="sldImg"/>
          </p:nvPr>
        </p:nvSpPr>
        <p:spPr>
          <a:solidFill>
            <a:srgbClr val="FFFFFF">
              <a:alpha val="100000"/>
            </a:srgbClr>
          </a:solidFill>
        </p:spPr>
      </p:sp>
      <p:sp>
        <p:nvSpPr>
          <p:cNvPr id="27955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16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81603" name="Rectangle 2"/>
          <p:cNvSpPr>
            <a:spLocks noTextEdit="1"/>
          </p:cNvSpPr>
          <p:nvPr>
            <p:ph type="sldImg"/>
          </p:nvPr>
        </p:nvSpPr>
        <p:spPr>
          <a:solidFill>
            <a:srgbClr val="FFFFFF">
              <a:alpha val="100000"/>
            </a:srgbClr>
          </a:solidFill>
        </p:spPr>
      </p:sp>
      <p:sp>
        <p:nvSpPr>
          <p:cNvPr id="28160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36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83651" name="Rectangle 2"/>
          <p:cNvSpPr>
            <a:spLocks noTextEdit="1"/>
          </p:cNvSpPr>
          <p:nvPr>
            <p:ph type="sldImg"/>
          </p:nvPr>
        </p:nvSpPr>
        <p:spPr>
          <a:solidFill>
            <a:srgbClr val="FFFFFF">
              <a:alpha val="100000"/>
            </a:srgbClr>
          </a:solidFill>
        </p:spPr>
      </p:sp>
      <p:sp>
        <p:nvSpPr>
          <p:cNvPr id="28365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56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85699" name="Rectangle 2"/>
          <p:cNvSpPr>
            <a:spLocks noTextEdit="1"/>
          </p:cNvSpPr>
          <p:nvPr>
            <p:ph type="sldImg"/>
          </p:nvPr>
        </p:nvSpPr>
        <p:spPr>
          <a:solidFill>
            <a:srgbClr val="FFFFFF">
              <a:alpha val="100000"/>
            </a:srgbClr>
          </a:solidFill>
        </p:spPr>
      </p:sp>
      <p:sp>
        <p:nvSpPr>
          <p:cNvPr id="28570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间接跳转（图</a:t>
            </a:r>
            <a:r>
              <a:rPr lang="en-US" altLang="zh-CN" dirty="0">
                <a:ea typeface="宋体" panose="02010600030101010101" pitchFamily="2" charset="-122"/>
              </a:rPr>
              <a:t>6-51</a:t>
            </a:r>
            <a:r>
              <a:rPr lang="zh-CN" altLang="en-US" dirty="0">
                <a:ea typeface="宋体" panose="02010600030101010101" pitchFamily="2" charset="-122"/>
              </a:rPr>
              <a:t>）中，</a:t>
            </a:r>
            <a:r>
              <a:rPr lang="en-US" altLang="zh-CN" dirty="0">
                <a:ea typeface="宋体" panose="02010600030101010101" pitchFamily="2" charset="-122"/>
              </a:rPr>
              <a:t>case</a:t>
            </a:r>
            <a:r>
              <a:rPr lang="zh-CN" altLang="en-US" dirty="0">
                <a:ea typeface="宋体" panose="02010600030101010101" pitchFamily="2" charset="-122"/>
              </a:rPr>
              <a:t> </a:t>
            </a:r>
            <a:r>
              <a:rPr lang="en-US" altLang="zh-CN" dirty="0">
                <a:ea typeface="宋体" panose="02010600030101010101" pitchFamily="2" charset="-122"/>
              </a:rPr>
              <a:t>t Vi Li</a:t>
            </a:r>
            <a:r>
              <a:rPr lang="zh-CN" altLang="en-US" dirty="0">
                <a:ea typeface="宋体" panose="02010600030101010101" pitchFamily="2" charset="-122"/>
              </a:rPr>
              <a:t>和</a:t>
            </a:r>
            <a:r>
              <a:rPr lang="en-US" altLang="zh-CN" dirty="0">
                <a:ea typeface="宋体" panose="02010600030101010101" pitchFamily="2" charset="-122"/>
              </a:rPr>
              <a:t>if t = Vi goto Li</a:t>
            </a:r>
            <a:r>
              <a:rPr lang="zh-CN" altLang="en-US" dirty="0">
                <a:ea typeface="宋体" panose="02010600030101010101" pitchFamily="2" charset="-122"/>
              </a:rPr>
              <a:t>相同，但便于在代码生成时进行特殊优化，形成</a:t>
            </a:r>
            <a:r>
              <a:rPr lang="en-US" altLang="zh-CN" dirty="0">
                <a:ea typeface="宋体" panose="02010600030101010101" pitchFamily="2" charset="-122"/>
              </a:rPr>
              <a:t>n</a:t>
            </a:r>
            <a:r>
              <a:rPr lang="zh-CN" altLang="en-US" dirty="0">
                <a:ea typeface="宋体" panose="02010600030101010101" pitchFamily="2" charset="-122"/>
              </a:rPr>
              <a:t>路分支</a:t>
            </a:r>
            <a:endParaRPr lang="zh-CN" altLang="en-US" dirty="0">
              <a:ea typeface="宋体" panose="02010600030101010101" pitchFamily="2" charset="-122"/>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77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87747" name="Rectangle 2"/>
          <p:cNvSpPr>
            <a:spLocks noTextEdit="1"/>
          </p:cNvSpPr>
          <p:nvPr>
            <p:ph type="sldImg"/>
          </p:nvPr>
        </p:nvSpPr>
        <p:spPr>
          <a:solidFill>
            <a:srgbClr val="FFFFFF">
              <a:alpha val="100000"/>
            </a:srgbClr>
          </a:solidFill>
        </p:spPr>
      </p:sp>
      <p:sp>
        <p:nvSpPr>
          <p:cNvPr id="28774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97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89795" name="Rectangle 2"/>
          <p:cNvSpPr>
            <a:spLocks noTextEdit="1"/>
          </p:cNvSpPr>
          <p:nvPr>
            <p:ph type="sldImg"/>
          </p:nvPr>
        </p:nvSpPr>
        <p:spPr>
          <a:solidFill>
            <a:srgbClr val="FFFFFF">
              <a:alpha val="100000"/>
            </a:srgbClr>
          </a:solidFill>
        </p:spPr>
      </p:sp>
      <p:sp>
        <p:nvSpPr>
          <p:cNvPr id="28979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18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1843" name="Rectangle 2"/>
          <p:cNvSpPr>
            <a:spLocks noTextEdit="1"/>
          </p:cNvSpPr>
          <p:nvPr>
            <p:ph type="sldImg"/>
          </p:nvPr>
        </p:nvSpPr>
        <p:spPr>
          <a:solidFill>
            <a:srgbClr val="FFFFFF">
              <a:alpha val="100000"/>
            </a:srgbClr>
          </a:solidFill>
        </p:spPr>
      </p:sp>
      <p:sp>
        <p:nvSpPr>
          <p:cNvPr id="29184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38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3891" name="Rectangle 2"/>
          <p:cNvSpPr>
            <a:spLocks noTextEdit="1"/>
          </p:cNvSpPr>
          <p:nvPr>
            <p:ph type="sldImg"/>
          </p:nvPr>
        </p:nvSpPr>
        <p:spPr>
          <a:solidFill>
            <a:srgbClr val="FFFFFF">
              <a:alpha val="100000"/>
            </a:srgbClr>
          </a:solidFill>
        </p:spPr>
      </p:sp>
      <p:sp>
        <p:nvSpPr>
          <p:cNvPr id="29389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59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5939" name="Rectangle 2"/>
          <p:cNvSpPr>
            <a:spLocks noTextEdit="1"/>
          </p:cNvSpPr>
          <p:nvPr>
            <p:ph type="sldImg"/>
          </p:nvPr>
        </p:nvSpPr>
        <p:spPr>
          <a:solidFill>
            <a:srgbClr val="FFFFFF">
              <a:alpha val="100000"/>
            </a:srgbClr>
          </a:solidFill>
        </p:spPr>
      </p:sp>
      <p:sp>
        <p:nvSpPr>
          <p:cNvPr id="29594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79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7987" name="Rectangle 2"/>
          <p:cNvSpPr>
            <a:spLocks noGrp="1" noRot="1" noChangeAspect="1" noTextEdit="1"/>
          </p:cNvSpPr>
          <p:nvPr>
            <p:ph type="sldImg"/>
          </p:nvPr>
        </p:nvSpPr>
        <p:spPr>
          <a:solidFill>
            <a:srgbClr val="FFFFFF">
              <a:alpha val="100000"/>
            </a:srgbClr>
          </a:solidFill>
        </p:spPr>
      </p:sp>
      <p:sp>
        <p:nvSpPr>
          <p:cNvPr id="297988"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00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00035" name="Rectangle 2"/>
          <p:cNvSpPr>
            <a:spLocks noGrp="1" noRot="1" noChangeAspect="1" noTextEdit="1"/>
          </p:cNvSpPr>
          <p:nvPr>
            <p:ph type="sldImg"/>
          </p:nvPr>
        </p:nvSpPr>
        <p:spPr>
          <a:solidFill>
            <a:srgbClr val="FFFFFF">
              <a:alpha val="100000"/>
            </a:srgbClr>
          </a:solidFill>
        </p:spPr>
      </p:sp>
      <p:sp>
        <p:nvSpPr>
          <p:cNvPr id="300036"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20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02083" name="Rectangle 2"/>
          <p:cNvSpPr>
            <a:spLocks noGrp="1" noRot="1" noChangeAspect="1" noTextEdit="1"/>
          </p:cNvSpPr>
          <p:nvPr>
            <p:ph type="sldImg"/>
          </p:nvPr>
        </p:nvSpPr>
        <p:spPr>
          <a:solidFill>
            <a:srgbClr val="FFFFFF">
              <a:alpha val="100000"/>
            </a:srgbClr>
          </a:solidFill>
        </p:spPr>
      </p:sp>
      <p:sp>
        <p:nvSpPr>
          <p:cNvPr id="302084"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41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04131" name="Rectangle 2"/>
          <p:cNvSpPr>
            <a:spLocks noTextEdit="1"/>
          </p:cNvSpPr>
          <p:nvPr>
            <p:ph type="sldImg"/>
          </p:nvPr>
        </p:nvSpPr>
        <p:spPr>
          <a:solidFill>
            <a:srgbClr val="FFFFFF">
              <a:alpha val="100000"/>
            </a:srgbClr>
          </a:solidFill>
        </p:spPr>
      </p:sp>
      <p:sp>
        <p:nvSpPr>
          <p:cNvPr id="30413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61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06179" name="Rectangle 2"/>
          <p:cNvSpPr>
            <a:spLocks noTextEdit="1"/>
          </p:cNvSpPr>
          <p:nvPr>
            <p:ph type="sldImg"/>
          </p:nvPr>
        </p:nvSpPr>
        <p:spPr>
          <a:solidFill>
            <a:srgbClr val="FFFFFF">
              <a:alpha val="100000"/>
            </a:srgbClr>
          </a:solidFill>
        </p:spPr>
      </p:sp>
      <p:sp>
        <p:nvSpPr>
          <p:cNvPr id="30618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82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08227" name="Rectangle 2"/>
          <p:cNvSpPr>
            <a:spLocks noTextEdit="1"/>
          </p:cNvSpPr>
          <p:nvPr>
            <p:ph type="sldImg"/>
          </p:nvPr>
        </p:nvSpPr>
        <p:spPr>
          <a:solidFill>
            <a:srgbClr val="FFFFFF">
              <a:alpha val="100000"/>
            </a:srgbClr>
          </a:solidFill>
        </p:spPr>
      </p:sp>
      <p:sp>
        <p:nvSpPr>
          <p:cNvPr id="30822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02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0275" name="Rectangle 2"/>
          <p:cNvSpPr>
            <a:spLocks noTextEdit="1"/>
          </p:cNvSpPr>
          <p:nvPr>
            <p:ph type="sldImg"/>
          </p:nvPr>
        </p:nvSpPr>
        <p:spPr>
          <a:solidFill>
            <a:srgbClr val="FFFFFF">
              <a:alpha val="100000"/>
            </a:srgbClr>
          </a:solidFill>
        </p:spPr>
      </p:sp>
      <p:sp>
        <p:nvSpPr>
          <p:cNvPr id="31027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23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2323" name="Rectangle 2"/>
          <p:cNvSpPr>
            <a:spLocks noTextEdit="1"/>
          </p:cNvSpPr>
          <p:nvPr>
            <p:ph type="sldImg"/>
          </p:nvPr>
        </p:nvSpPr>
        <p:spPr>
          <a:solidFill>
            <a:srgbClr val="FFFFFF">
              <a:alpha val="100000"/>
            </a:srgbClr>
          </a:solidFill>
        </p:spPr>
      </p:sp>
      <p:sp>
        <p:nvSpPr>
          <p:cNvPr id="31232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43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4371" name="Rectangle 2"/>
          <p:cNvSpPr>
            <a:spLocks noTextEdit="1"/>
          </p:cNvSpPr>
          <p:nvPr>
            <p:ph type="sldImg"/>
          </p:nvPr>
        </p:nvSpPr>
        <p:spPr>
          <a:solidFill>
            <a:srgbClr val="FFFFFF">
              <a:alpha val="100000"/>
            </a:srgbClr>
          </a:solidFill>
        </p:spPr>
      </p:sp>
      <p:sp>
        <p:nvSpPr>
          <p:cNvPr id="31437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64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6419" name="Rectangle 2"/>
          <p:cNvSpPr>
            <a:spLocks noTextEdit="1"/>
          </p:cNvSpPr>
          <p:nvPr>
            <p:ph type="sldImg"/>
          </p:nvPr>
        </p:nvSpPr>
        <p:spPr>
          <a:solidFill>
            <a:srgbClr val="FFFFFF">
              <a:alpha val="100000"/>
            </a:srgbClr>
          </a:solidFill>
        </p:spPr>
      </p:sp>
      <p:sp>
        <p:nvSpPr>
          <p:cNvPr id="31642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84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8467" name="Rectangle 2"/>
          <p:cNvSpPr>
            <a:spLocks noTextEdit="1"/>
          </p:cNvSpPr>
          <p:nvPr>
            <p:ph type="sldImg"/>
          </p:nvPr>
        </p:nvSpPr>
        <p:spPr>
          <a:solidFill>
            <a:srgbClr val="FFFFFF">
              <a:alpha val="100000"/>
            </a:srgbClr>
          </a:solidFill>
        </p:spPr>
      </p:sp>
      <p:sp>
        <p:nvSpPr>
          <p:cNvPr id="31846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05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20515" name="Rectangle 2"/>
          <p:cNvSpPr>
            <a:spLocks noTextEdit="1"/>
          </p:cNvSpPr>
          <p:nvPr>
            <p:ph type="sldImg"/>
          </p:nvPr>
        </p:nvSpPr>
        <p:spPr>
          <a:solidFill>
            <a:srgbClr val="FFFFFF">
              <a:alpha val="100000"/>
            </a:srgbClr>
          </a:solidFill>
        </p:spPr>
      </p:sp>
      <p:sp>
        <p:nvSpPr>
          <p:cNvPr id="32051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25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22563" name="Rectangle 2"/>
          <p:cNvSpPr>
            <a:spLocks noTextEdit="1"/>
          </p:cNvSpPr>
          <p:nvPr>
            <p:ph type="sldImg"/>
          </p:nvPr>
        </p:nvSpPr>
        <p:spPr>
          <a:solidFill>
            <a:srgbClr val="FFFFFF">
              <a:alpha val="100000"/>
            </a:srgbClr>
          </a:solidFill>
        </p:spPr>
      </p:sp>
      <p:sp>
        <p:nvSpPr>
          <p:cNvPr id="32256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46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24611" name="Rectangle 2"/>
          <p:cNvSpPr>
            <a:spLocks noTextEdit="1"/>
          </p:cNvSpPr>
          <p:nvPr>
            <p:ph type="sldImg"/>
          </p:nvPr>
        </p:nvSpPr>
        <p:spPr/>
      </p:sp>
      <p:sp>
        <p:nvSpPr>
          <p:cNvPr id="32461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66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26659" name="Rectangle 2"/>
          <p:cNvSpPr>
            <a:spLocks noTextEdit="1"/>
          </p:cNvSpPr>
          <p:nvPr>
            <p:ph type="sldImg"/>
          </p:nvPr>
        </p:nvSpPr>
        <p:spPr/>
      </p:sp>
      <p:sp>
        <p:nvSpPr>
          <p:cNvPr id="32666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87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28707" name="Rectangle 2"/>
          <p:cNvSpPr>
            <a:spLocks noTextEdit="1"/>
          </p:cNvSpPr>
          <p:nvPr>
            <p:ph type="sldImg"/>
          </p:nvPr>
        </p:nvSpPr>
        <p:spPr/>
      </p:sp>
      <p:sp>
        <p:nvSpPr>
          <p:cNvPr id="32870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07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30755" name="Rectangle 2"/>
          <p:cNvSpPr>
            <a:spLocks noTextEdit="1"/>
          </p:cNvSpPr>
          <p:nvPr>
            <p:ph type="sldImg"/>
          </p:nvPr>
        </p:nvSpPr>
        <p:spPr/>
      </p:sp>
      <p:sp>
        <p:nvSpPr>
          <p:cNvPr id="33075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28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32803" name="Rectangle 2"/>
          <p:cNvSpPr>
            <a:spLocks noTextEdit="1"/>
          </p:cNvSpPr>
          <p:nvPr>
            <p:ph type="sldImg"/>
          </p:nvPr>
        </p:nvSpPr>
        <p:spPr/>
      </p:sp>
      <p:sp>
        <p:nvSpPr>
          <p:cNvPr id="33280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676400"/>
            <a:ext cx="3695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62500" y="1676400"/>
            <a:ext cx="3695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457200"/>
            <a:ext cx="1885950"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914400" y="457200"/>
            <a:ext cx="5505450" cy="5715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F65B5EA4-B2EF-442E-9A73-FB9D35D9DE26}" type="datetimeFigureOut">
              <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12"/>
          </p:nvPr>
        </p:nvSpPr>
        <p:spPr/>
        <p:txBody>
          <a:bodyPr/>
          <a:p>
            <a:pPr lvl="0">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F65B5EA4-B2EF-442E-9A73-FB9D35D9DE26}" type="datetimeFigureOut">
              <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12"/>
          </p:nvPr>
        </p:nvSpPr>
        <p:spPr/>
        <p:txBody>
          <a:bodyPr/>
          <a:p>
            <a:pPr lvl="0">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F65B5EA4-B2EF-442E-9A73-FB9D35D9DE26}" type="datetimeFigureOut">
              <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12"/>
          </p:nvPr>
        </p:nvSpPr>
        <p:spPr/>
        <p:txBody>
          <a:bodyPr/>
          <a:p>
            <a:pPr lvl="0">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825625"/>
            <a:ext cx="386715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825625"/>
            <a:ext cx="386715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F65B5EA4-B2EF-442E-9A73-FB9D35D9DE26}" type="datetimeFigureOut">
              <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7" name="灯片编号占位符 6"/>
          <p:cNvSpPr>
            <a:spLocks noGrp="1"/>
          </p:cNvSpPr>
          <p:nvPr>
            <p:ph type="sldNum" sz="quarter" idx="12"/>
          </p:nvPr>
        </p:nvSpPr>
        <p:spPr/>
        <p:txBody>
          <a:bodyPr/>
          <a:p>
            <a:pPr lvl="0">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F65B5EA4-B2EF-442E-9A73-FB9D35D9DE26}" type="datetimeFigureOut">
              <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9" name="灯片编号占位符 8"/>
          <p:cNvSpPr>
            <a:spLocks noGrp="1"/>
          </p:cNvSpPr>
          <p:nvPr>
            <p:ph type="sldNum" sz="quarter" idx="12"/>
          </p:nvPr>
        </p:nvSpPr>
        <p:spPr/>
        <p:txBody>
          <a:bodyPr/>
          <a:p>
            <a:pPr lvl="0">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F65B5EA4-B2EF-442E-9A73-FB9D35D9DE26}" type="datetimeFigureOut">
              <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5" name="灯片编号占位符 4"/>
          <p:cNvSpPr>
            <a:spLocks noGrp="1"/>
          </p:cNvSpPr>
          <p:nvPr>
            <p:ph type="sldNum" sz="quarter" idx="12"/>
          </p:nvPr>
        </p:nvSpPr>
        <p:spPr/>
        <p:txBody>
          <a:bodyPr/>
          <a:p>
            <a:pPr lvl="0">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F65B5EA4-B2EF-442E-9A73-FB9D35D9DE26}" type="datetimeFigureOut">
              <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4" name="灯片编号占位符 3"/>
          <p:cNvSpPr>
            <a:spLocks noGrp="1"/>
          </p:cNvSpPr>
          <p:nvPr>
            <p:ph type="sldNum" sz="quarter" idx="12"/>
          </p:nvPr>
        </p:nvSpPr>
        <p:spPr/>
        <p:txBody>
          <a:bodyPr/>
          <a:p>
            <a:pPr lvl="0">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F65B5EA4-B2EF-442E-9A73-FB9D35D9DE26}" type="datetimeFigureOut">
              <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7" name="灯片编号占位符 6"/>
          <p:cNvSpPr>
            <a:spLocks noGrp="1"/>
          </p:cNvSpPr>
          <p:nvPr>
            <p:ph type="sldNum" sz="quarter" idx="12"/>
          </p:nvPr>
        </p:nvSpPr>
        <p:spPr/>
        <p:txBody>
          <a:bodyPr/>
          <a:p>
            <a:pPr lvl="0">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F65B5EA4-B2EF-442E-9A73-FB9D35D9DE26}" type="datetimeFigureOut">
              <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7" name="灯片编号占位符 6"/>
          <p:cNvSpPr>
            <a:spLocks noGrp="1"/>
          </p:cNvSpPr>
          <p:nvPr>
            <p:ph type="sldNum" sz="quarter" idx="12"/>
          </p:nvPr>
        </p:nvSpPr>
        <p:spPr/>
        <p:txBody>
          <a:bodyPr/>
          <a:p>
            <a:pPr lvl="0">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F65B5EA4-B2EF-442E-9A73-FB9D35D9DE26}" type="datetimeFigureOut">
              <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12"/>
          </p:nvPr>
        </p:nvSpPr>
        <p:spPr/>
        <p:txBody>
          <a:bodyPr/>
          <a:p>
            <a:pPr lvl="0">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365125"/>
            <a:ext cx="5762625"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F65B5EA4-B2EF-442E-9A73-FB9D35D9DE26}" type="datetimeFigureOut">
              <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12"/>
          </p:nvPr>
        </p:nvSpPr>
        <p:spPr/>
        <p:txBody>
          <a:bodyPr/>
          <a:p>
            <a:pPr lvl="0">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Rectangle 2"/>
          <p:cNvSpPr>
            <a:spLocks noGrp="1" noChangeArrowheads="1"/>
          </p:cNvSpPr>
          <p:nvPr>
            <p:ph type="dt" sz="half" idx="2"/>
          </p:nvPr>
        </p:nvSpPr>
        <p:spPr bwMode="auto">
          <a:xfrm>
            <a:off x="914400" y="6400800"/>
            <a:ext cx="1905000" cy="457200"/>
          </a:xfrm>
          <a:prstGeom prst="rect">
            <a:avLst/>
          </a:prstGeom>
          <a:noFill/>
          <a:ln>
            <a:noFill/>
          </a:ln>
          <a:effectLst/>
        </p:spPr>
        <p:txBody>
          <a:bodyPr vert="horz" wrap="none" lIns="92075" tIns="46038" rIns="92075" bIns="46038" numCol="1" anchor="ctr" anchorCtr="0" compatLnSpc="1"/>
          <a:lstStyle>
            <a:lvl1pPr>
              <a:defRPr sz="140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3" name="Rectangle 3"/>
          <p:cNvSpPr>
            <a:spLocks noGrp="1" noChangeArrowheads="1"/>
          </p:cNvSpPr>
          <p:nvPr>
            <p:ph type="ftr" sz="quarter" idx="3"/>
          </p:nvPr>
        </p:nvSpPr>
        <p:spPr bwMode="auto">
          <a:xfrm>
            <a:off x="3124200" y="6400800"/>
            <a:ext cx="2895600" cy="457200"/>
          </a:xfrm>
          <a:prstGeom prst="rect">
            <a:avLst/>
          </a:prstGeom>
          <a:noFill/>
          <a:ln>
            <a:noFill/>
          </a:ln>
          <a:effectLst/>
        </p:spPr>
        <p:txBody>
          <a:bodyPr vert="horz" wrap="none" lIns="92075" tIns="46038" rIns="92075" bIns="46038" numCol="1" anchor="ctr" anchorCtr="0" compatLnSpc="1"/>
          <a:lstStyle>
            <a:lvl1pPr algn="ctr">
              <a:defRPr sz="1400">
                <a:ea typeface="宋体" panose="02010600030101010101" pitchFamily="2"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4" name="Rectangle 4"/>
          <p:cNvSpPr>
            <a:spLocks noGrp="1" noChangeArrowheads="1"/>
          </p:cNvSpPr>
          <p:nvPr>
            <p:ph type="sldNum" sz="quarter" idx="4"/>
          </p:nvPr>
        </p:nvSpPr>
        <p:spPr bwMode="auto">
          <a:xfrm>
            <a:off x="6553200" y="6400800"/>
            <a:ext cx="1905000" cy="457200"/>
          </a:xfrm>
          <a:prstGeom prst="rect">
            <a:avLst/>
          </a:prstGeom>
          <a:noFill/>
          <a:ln>
            <a:noFill/>
          </a:ln>
          <a:effectLst/>
        </p:spPr>
        <p:txBody>
          <a:bodyPr vert="horz" wrap="none" lIns="92075" tIns="46038" rIns="92075" bIns="46038" numCol="1" anchor="ctr" anchorCtr="0" compatLnSpc="1"/>
          <a:lstStyle>
            <a:lvl1pPr algn="r">
              <a:defRPr sz="140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p:cNvSpPr>
          <p:nvPr>
            <p:ph type="title"/>
          </p:nvPr>
        </p:nvSpPr>
        <p:spPr>
          <a:xfrm>
            <a:off x="914400" y="457200"/>
            <a:ext cx="7543800" cy="914400"/>
          </a:xfrm>
          <a:prstGeom prst="rect">
            <a:avLst/>
          </a:prstGeom>
          <a:noFill/>
          <a:ln w="9525">
            <a:noFill/>
          </a:ln>
        </p:spPr>
        <p:txBody>
          <a:bodyPr lIns="92075" tIns="46038" rIns="92075" bIns="46038" anchor="ctr" anchorCtr="0"/>
          <a:p>
            <a:pPr lvl="0"/>
            <a:r>
              <a:rPr lang="en-US" altLang="zh-CN" dirty="0"/>
              <a:t>Click to edit Master title style</a:t>
            </a:r>
            <a:endParaRPr lang="en-US" altLang="zh-CN" dirty="0"/>
          </a:p>
        </p:txBody>
      </p:sp>
      <p:sp>
        <p:nvSpPr>
          <p:cNvPr id="1030" name="Rectangle 6"/>
          <p:cNvSpPr>
            <a:spLocks noGrp="1"/>
          </p:cNvSpPr>
          <p:nvPr>
            <p:ph type="body" idx="1"/>
          </p:nvPr>
        </p:nvSpPr>
        <p:spPr>
          <a:xfrm>
            <a:off x="914400" y="1676400"/>
            <a:ext cx="7543800" cy="4495800"/>
          </a:xfrm>
          <a:prstGeom prst="rect">
            <a:avLst/>
          </a:prstGeom>
          <a:noFill/>
          <a:ln w="9525">
            <a:noFill/>
          </a:ln>
        </p:spPr>
        <p:txBody>
          <a:bodyPr lIns="92075" tIns="46038" rIns="92075" bIns="46038"/>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1" name="Rectangle 13"/>
          <p:cNvSpPr>
            <a:spLocks noChangeArrowheads="1"/>
          </p:cNvSpPr>
          <p:nvPr/>
        </p:nvSpPr>
        <p:spPr bwMode="auto">
          <a:xfrm>
            <a:off x="288925" y="425450"/>
            <a:ext cx="8574088" cy="1173163"/>
          </a:xfrm>
          <a:prstGeom prst="rect">
            <a:avLst/>
          </a:prstGeom>
          <a:no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2" name="Rectangle 14"/>
          <p:cNvSpPr>
            <a:spLocks noChangeArrowheads="1"/>
          </p:cNvSpPr>
          <p:nvPr/>
        </p:nvSpPr>
        <p:spPr bwMode="auto">
          <a:xfrm>
            <a:off x="4191000" y="6477000"/>
            <a:ext cx="390525" cy="304800"/>
          </a:xfrm>
          <a:prstGeom prst="rect">
            <a:avLst/>
          </a:prstGeom>
          <a:noFill/>
          <a:ln>
            <a:noFill/>
          </a:ln>
          <a:effectLst/>
        </p:spPr>
        <p:txBody>
          <a:bodyPr wrap="none" lIns="92075" tIns="46038" rIns="92075" bIns="46038">
            <a:spAutoFit/>
          </a:bodyPr>
          <a:p>
            <a:pPr lvl="0">
              <a:buNone/>
            </a:pPr>
            <a:fld id="{9A0DB2DC-4C9A-4742-B13C-FB6460FD3503}" type="slidenum">
              <a:rPr lang="zh-CN" altLang="en-US" sz="1400" dirty="0">
                <a:solidFill>
                  <a:schemeClr val="tx2"/>
                </a:solidFill>
                <a:latin typeface="Times New Roman" panose="02020603050405020304" pitchFamily="18" charset="0"/>
                <a:ea typeface="宋体" panose="02010600030101010101" pitchFamily="2" charset="-122"/>
              </a:rPr>
            </a:fld>
            <a:endParaRPr lang="zh-CN" altLang="en-US" sz="1400" dirty="0">
              <a:solidFill>
                <a:schemeClr val="tx2"/>
              </a:solidFill>
              <a:latin typeface="Arial" panose="020B0604020202020204" pitchFamily="34" charset="0"/>
              <a:ea typeface="宋体" panose="02010600030101010101" pitchFamily="2" charset="-122"/>
            </a:endParaRPr>
          </a:p>
        </p:txBody>
      </p:sp>
      <p:pic>
        <p:nvPicPr>
          <p:cNvPr id="1033" name="Picture 15" descr="ict1"/>
          <p:cNvPicPr>
            <a:picLocks noChangeAspect="1"/>
          </p:cNvPicPr>
          <p:nvPr userDrawn="1"/>
        </p:nvPicPr>
        <p:blipFill>
          <a:blip r:embed="rId12"/>
          <a:stretch>
            <a:fillRect/>
          </a:stretch>
        </p:blipFill>
        <p:spPr>
          <a:xfrm>
            <a:off x="152400" y="223838"/>
            <a:ext cx="3505200" cy="538162"/>
          </a:xfrm>
          <a:prstGeom prst="rect">
            <a:avLst/>
          </a:prstGeom>
          <a:noFill/>
          <a:ln w="9525">
            <a:noFill/>
          </a:ln>
        </p:spPr>
      </p:pic>
      <p:sp>
        <p:nvSpPr>
          <p:cNvPr id="1034" name="Rectangle 17"/>
          <p:cNvSpPr>
            <a:spLocks noChangeArrowheads="1"/>
          </p:cNvSpPr>
          <p:nvPr/>
        </p:nvSpPr>
        <p:spPr bwMode="gray">
          <a:xfrm>
            <a:off x="917575" y="1339850"/>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hf sldNum="0" hdr="0" ftr="0" dt="0"/>
  <p:txStyles>
    <p:titleStyle>
      <a:lvl1pPr algn="ctr" rtl="0" eaLnBrk="0" fontAlgn="base" hangingPunct="0">
        <a:spcBef>
          <a:spcPct val="0"/>
        </a:spcBef>
        <a:spcAft>
          <a:spcPct val="0"/>
        </a:spcAft>
        <a:defRPr sz="3200" b="1">
          <a:solidFill>
            <a:srgbClr val="063DE8"/>
          </a:solidFill>
          <a:latin typeface="+mj-lt"/>
          <a:ea typeface="+mj-ea"/>
          <a:cs typeface="+mj-cs"/>
        </a:defRPr>
      </a:lvl1pPr>
      <a:lvl2pPr algn="ctr" rtl="0" eaLnBrk="0" fontAlgn="base" hangingPunct="0">
        <a:spcBef>
          <a:spcPct val="0"/>
        </a:spcBef>
        <a:spcAft>
          <a:spcPct val="0"/>
        </a:spcAft>
        <a:defRPr sz="3200" b="1">
          <a:solidFill>
            <a:srgbClr val="063DE8"/>
          </a:solidFill>
          <a:latin typeface="Book Antiqua" panose="02040602050305030304" pitchFamily="18" charset="0"/>
        </a:defRPr>
      </a:lvl2pPr>
      <a:lvl3pPr algn="ctr" rtl="0" eaLnBrk="0" fontAlgn="base" hangingPunct="0">
        <a:spcBef>
          <a:spcPct val="0"/>
        </a:spcBef>
        <a:spcAft>
          <a:spcPct val="0"/>
        </a:spcAft>
        <a:defRPr sz="3200" b="1">
          <a:solidFill>
            <a:srgbClr val="063DE8"/>
          </a:solidFill>
          <a:latin typeface="Book Antiqua" panose="02040602050305030304" pitchFamily="18" charset="0"/>
        </a:defRPr>
      </a:lvl3pPr>
      <a:lvl4pPr algn="ctr" rtl="0" eaLnBrk="0" fontAlgn="base" hangingPunct="0">
        <a:spcBef>
          <a:spcPct val="0"/>
        </a:spcBef>
        <a:spcAft>
          <a:spcPct val="0"/>
        </a:spcAft>
        <a:defRPr sz="3200" b="1">
          <a:solidFill>
            <a:srgbClr val="063DE8"/>
          </a:solidFill>
          <a:latin typeface="Book Antiqua" panose="02040602050305030304" pitchFamily="18" charset="0"/>
        </a:defRPr>
      </a:lvl4pPr>
      <a:lvl5pPr algn="ctr" rtl="0" eaLnBrk="0" fontAlgn="base" hangingPunct="0">
        <a:spcBef>
          <a:spcPct val="0"/>
        </a:spcBef>
        <a:spcAft>
          <a:spcPct val="0"/>
        </a:spcAft>
        <a:defRPr sz="3200" b="1">
          <a:solidFill>
            <a:srgbClr val="063DE8"/>
          </a:solidFill>
          <a:latin typeface="Book Antiqua" panose="02040602050305030304" pitchFamily="18" charset="0"/>
        </a:defRPr>
      </a:lvl5pPr>
      <a:lvl6pPr marL="457200" algn="ctr" rtl="0" eaLnBrk="0" fontAlgn="base" hangingPunct="0">
        <a:spcBef>
          <a:spcPct val="0"/>
        </a:spcBef>
        <a:spcAft>
          <a:spcPct val="0"/>
        </a:spcAft>
        <a:defRPr sz="3200" b="1">
          <a:solidFill>
            <a:srgbClr val="063DE8"/>
          </a:solidFill>
          <a:latin typeface="Book Antiqua" panose="02040602050305030304" pitchFamily="18" charset="0"/>
        </a:defRPr>
      </a:lvl6pPr>
      <a:lvl7pPr marL="914400" algn="ctr" rtl="0" eaLnBrk="0" fontAlgn="base" hangingPunct="0">
        <a:spcBef>
          <a:spcPct val="0"/>
        </a:spcBef>
        <a:spcAft>
          <a:spcPct val="0"/>
        </a:spcAft>
        <a:defRPr sz="3200" b="1">
          <a:solidFill>
            <a:srgbClr val="063DE8"/>
          </a:solidFill>
          <a:latin typeface="Book Antiqua" panose="02040602050305030304" pitchFamily="18" charset="0"/>
        </a:defRPr>
      </a:lvl7pPr>
      <a:lvl8pPr marL="1371600" algn="ctr" rtl="0" eaLnBrk="0" fontAlgn="base" hangingPunct="0">
        <a:spcBef>
          <a:spcPct val="0"/>
        </a:spcBef>
        <a:spcAft>
          <a:spcPct val="0"/>
        </a:spcAft>
        <a:defRPr sz="3200" b="1">
          <a:solidFill>
            <a:srgbClr val="063DE8"/>
          </a:solidFill>
          <a:latin typeface="Book Antiqua" panose="02040602050305030304" pitchFamily="18" charset="0"/>
        </a:defRPr>
      </a:lvl8pPr>
      <a:lvl9pPr marL="1828800" algn="ctr" rtl="0" eaLnBrk="0" fontAlgn="base" hangingPunct="0">
        <a:spcBef>
          <a:spcPct val="0"/>
        </a:spcBef>
        <a:spcAft>
          <a:spcPct val="0"/>
        </a:spcAft>
        <a:defRPr sz="3200" b="1">
          <a:solidFill>
            <a:srgbClr val="063DE8"/>
          </a:solidFill>
          <a:latin typeface="Book Antiqua" panose="02040602050305030304" pitchFamily="18" charset="0"/>
        </a:defRPr>
      </a:lvl9pPr>
    </p:titleStyle>
    <p:body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2050" name="标题占位符 1"/>
          <p:cNvSpPr>
            <a:spLocks noGrp="1"/>
          </p:cNvSpPr>
          <p:nvPr>
            <p:ph type="title"/>
          </p:nvPr>
        </p:nvSpPr>
        <p:spPr>
          <a:xfrm>
            <a:off x="628650" y="365125"/>
            <a:ext cx="7886700" cy="1325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1" name="文本占位符 2"/>
          <p:cNvSpPr>
            <a:spLocks noGrp="1"/>
          </p:cNvSpPr>
          <p:nvPr>
            <p:ph type="body" idx="1"/>
          </p:nvPr>
        </p:nvSpPr>
        <p:spPr>
          <a:xfrm>
            <a:off x="628650" y="1825625"/>
            <a:ext cx="7886700" cy="4351338"/>
          </a:xfrm>
          <a:prstGeom prst="rect">
            <a:avLst/>
          </a:prstGeom>
          <a:noFill/>
          <a:ln w="9525">
            <a:noFill/>
          </a:ln>
        </p:spPr>
        <p:txBody>
          <a:bodyPr/>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F65B5EA4-B2EF-442E-9A73-FB9D35D9DE26}" type="datetimeFigureOut">
              <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lvl1pPr algn="r">
              <a:defRPr sz="1200">
                <a:solidFill>
                  <a:srgbClr val="898989"/>
                </a:solidFill>
                <a:ea typeface="等线" panose="02010600030101010101" pitchFamily="2" charset="-122"/>
              </a:defRPr>
            </a:lvl1pPr>
          </a:lstStyle>
          <a:p>
            <a:pPr lvl="0">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wmf"/></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7.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8.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9.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0.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2.wmf"/><Relationship Id="rId1"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4.wmf"/><Relationship Id="rId3" Type="http://schemas.openxmlformats.org/officeDocument/2006/relationships/oleObject" Target="../embeddings/oleObject4.bin"/><Relationship Id="rId2" Type="http://schemas.openxmlformats.org/officeDocument/2006/relationships/image" Target="../media/image13.wmf"/><Relationship Id="rId1" Type="http://schemas.openxmlformats.org/officeDocument/2006/relationships/oleObject" Target="../embeddings/oleObject3.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5.wmf"/><Relationship Id="rId1" Type="http://schemas.openxmlformats.org/officeDocument/2006/relationships/oleObject" Target="../embeddings/oleObject5.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49.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oleObject" Target="../embeddings/oleObject6.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5" Type="http://schemas.openxmlformats.org/officeDocument/2006/relationships/notesSlide" Target="../notesSlides/notesSlide51.xml"/><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7.wmf"/><Relationship Id="rId1" Type="http://schemas.openxmlformats.org/officeDocument/2006/relationships/oleObject" Target="../embeddings/oleObject7.bin"/></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image" Target="../media/image18.wmf"/></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image" Target="../media/image19.wmf"/></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image" Target="../media/image21.wmf"/></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image" Target="../media/image22.wmf"/></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5" Type="http://schemas.openxmlformats.org/officeDocument/2006/relationships/notesSlide" Target="../notesSlides/notesSlide65.xml"/><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24.wmf"/><Relationship Id="rId1" Type="http://schemas.openxmlformats.org/officeDocument/2006/relationships/oleObject" Target="../embeddings/oleObject8.bin"/></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wmf"/></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image" Target="../media/image26.wmf"/></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image" Target="../media/image27.wmf"/></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image" Target="../media/image28.wmf"/></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5" Type="http://schemas.openxmlformats.org/officeDocument/2006/relationships/notesSlide" Target="../notesSlides/notesSlide79.xml"/><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30.wmf"/><Relationship Id="rId1" Type="http://schemas.openxmlformats.org/officeDocument/2006/relationships/oleObject" Target="../embeddings/oleObject9.bin"/></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5" Type="http://schemas.openxmlformats.org/officeDocument/2006/relationships/notesSlide" Target="../notesSlides/notesSlide82.xml"/><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31.wmf"/><Relationship Id="rId1" Type="http://schemas.openxmlformats.org/officeDocument/2006/relationships/oleObject" Target="../embeddings/oleObject10.bin"/></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7" Type="http://schemas.openxmlformats.org/officeDocument/2006/relationships/notesSlide" Target="../notesSlides/notesSlide88.xml"/><Relationship Id="rId6" Type="http://schemas.openxmlformats.org/officeDocument/2006/relationships/vmlDrawing" Target="../drawings/vmlDrawing10.vml"/><Relationship Id="rId5" Type="http://schemas.openxmlformats.org/officeDocument/2006/relationships/slideLayout" Target="../slideLayouts/slideLayout2.xml"/><Relationship Id="rId4" Type="http://schemas.openxmlformats.org/officeDocument/2006/relationships/image" Target="../media/image33.wmf"/><Relationship Id="rId3" Type="http://schemas.openxmlformats.org/officeDocument/2006/relationships/oleObject" Target="../embeddings/oleObject12.bin"/><Relationship Id="rId2" Type="http://schemas.openxmlformats.org/officeDocument/2006/relationships/image" Target="../media/image32.wmf"/><Relationship Id="rId1" Type="http://schemas.openxmlformats.org/officeDocument/2006/relationships/oleObject" Target="../embeddings/oleObject11.bin"/></Relationships>
</file>

<file path=ppt/slides/_rels/slide92.xml.rels><?xml version="1.0" encoding="UTF-8" standalone="yes"?>
<Relationships xmlns="http://schemas.openxmlformats.org/package/2006/relationships"><Relationship Id="rId5" Type="http://schemas.openxmlformats.org/officeDocument/2006/relationships/notesSlide" Target="../notesSlides/notesSlide89.xml"/><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33.wmf"/><Relationship Id="rId1" Type="http://schemas.openxmlformats.org/officeDocument/2006/relationships/oleObject" Target="../embeddings/oleObject13.bin"/></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wmf"/></Relationships>
</file>

<file path=ppt/slides/_rels/slide94.xml.rels><?xml version="1.0" encoding="UTF-8" standalone="yes"?>
<Relationships xmlns="http://schemas.openxmlformats.org/package/2006/relationships"><Relationship Id="rId5" Type="http://schemas.openxmlformats.org/officeDocument/2006/relationships/notesSlide" Target="../notesSlides/notesSlide90.xml"/><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35.wmf"/><Relationship Id="rId1" Type="http://schemas.openxmlformats.org/officeDocument/2006/relationships/oleObject" Target="../embeddings/oleObject14.bin"/></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5" Type="http://schemas.openxmlformats.org/officeDocument/2006/relationships/notesSlide" Target="../notesSlides/notesSlide94.xml"/><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32.wmf"/><Relationship Id="rId1" Type="http://schemas.openxmlformats.org/officeDocument/2006/relationships/oleObject" Target="../embeddings/oleObject15.bin"/></Relationships>
</file>

<file path=ppt/slides/_rels/slide99.xml.rels><?xml version="1.0" encoding="UTF-8" standalone="yes"?>
<Relationships xmlns="http://schemas.openxmlformats.org/package/2006/relationships"><Relationship Id="rId5" Type="http://schemas.openxmlformats.org/officeDocument/2006/relationships/notesSlide" Target="../notesSlides/notesSlide95.xml"/><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32.wmf"/><Relationship Id="rId1" Type="http://schemas.openxmlformats.org/officeDocument/2006/relationships/oleObject" Target="../embeddings/oleObject16.bin"/></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2.xml"/><Relationship Id="rId1" Type="http://schemas.openxmlformats.org/officeDocument/2006/relationships/image" Target="../media/image36.wmf"/></Relationships>
</file>

<file path=ppt/slides/_rels/slide101.xml.rels><?xml version="1.0" encoding="UTF-8" standalone="yes"?>
<Relationships xmlns="http://schemas.openxmlformats.org/package/2006/relationships"><Relationship Id="rId6" Type="http://schemas.openxmlformats.org/officeDocument/2006/relationships/notesSlide" Target="../notesSlides/notesSlide97.xml"/><Relationship Id="rId5" Type="http://schemas.openxmlformats.org/officeDocument/2006/relationships/vmlDrawing" Target="../drawings/vmlDrawing15.vml"/><Relationship Id="rId4" Type="http://schemas.openxmlformats.org/officeDocument/2006/relationships/slideLayout" Target="../slideLayouts/slideLayout2.xml"/><Relationship Id="rId3" Type="http://schemas.openxmlformats.org/officeDocument/2006/relationships/image" Target="../media/image34.wmf"/><Relationship Id="rId2" Type="http://schemas.openxmlformats.org/officeDocument/2006/relationships/image" Target="../media/image37.wmf"/><Relationship Id="rId1" Type="http://schemas.openxmlformats.org/officeDocument/2006/relationships/oleObject" Target="../embeddings/oleObject17.bin"/></Relationships>
</file>

<file path=ppt/slides/_rels/slide102.xml.rels><?xml version="1.0" encoding="UTF-8" standalone="yes"?>
<Relationships xmlns="http://schemas.openxmlformats.org/package/2006/relationships"><Relationship Id="rId7" Type="http://schemas.openxmlformats.org/officeDocument/2006/relationships/notesSlide" Target="../notesSlides/notesSlide98.xml"/><Relationship Id="rId6" Type="http://schemas.openxmlformats.org/officeDocument/2006/relationships/vmlDrawing" Target="../drawings/vmlDrawing16.vml"/><Relationship Id="rId5" Type="http://schemas.openxmlformats.org/officeDocument/2006/relationships/slideLayout" Target="../slideLayouts/slideLayout2.xml"/><Relationship Id="rId4" Type="http://schemas.openxmlformats.org/officeDocument/2006/relationships/image" Target="../media/image39.wmf"/><Relationship Id="rId3" Type="http://schemas.openxmlformats.org/officeDocument/2006/relationships/oleObject" Target="../embeddings/oleObject19.bin"/><Relationship Id="rId2" Type="http://schemas.openxmlformats.org/officeDocument/2006/relationships/image" Target="../media/image38.wmf"/><Relationship Id="rId1" Type="http://schemas.openxmlformats.org/officeDocument/2006/relationships/oleObject" Target="../embeddings/oleObject18.bin"/></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2.xml"/><Relationship Id="rId1" Type="http://schemas.openxmlformats.org/officeDocument/2006/relationships/image" Target="../media/image40.wmf"/></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2.xml"/><Relationship Id="rId1" Type="http://schemas.openxmlformats.org/officeDocument/2006/relationships/image" Target="../media/image42.wmf"/></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2.xml"/><Relationship Id="rId1" Type="http://schemas.openxmlformats.org/officeDocument/2006/relationships/image" Target="../media/image43.wmf"/></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wmf"/></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5.wmf"/></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6.wmf"/></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2.xml"/><Relationship Id="rId1" Type="http://schemas.openxmlformats.org/officeDocument/2006/relationships/image" Target="../media/image49.wmf"/></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wmf"/></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2.wmf"/></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4.wmf"/><Relationship Id="rId1" Type="http://schemas.openxmlformats.org/officeDocument/2006/relationships/image" Target="../media/image53.png"/></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notesSlide" Target="../notesSlides/notesSlide132.xml"/><Relationship Id="rId2" Type="http://schemas.openxmlformats.org/officeDocument/2006/relationships/slideLayout" Target="../slideLayouts/slideLayout2.xml"/><Relationship Id="rId1" Type="http://schemas.openxmlformats.org/officeDocument/2006/relationships/image" Target="../media/image55.wmf"/></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133.xml"/><Relationship Id="rId2" Type="http://schemas.openxmlformats.org/officeDocument/2006/relationships/slideLayout" Target="../slideLayouts/slideLayout2.xml"/><Relationship Id="rId1" Type="http://schemas.openxmlformats.org/officeDocument/2006/relationships/image" Target="../media/image56.wmf"/></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35.xml"/><Relationship Id="rId2" Type="http://schemas.openxmlformats.org/officeDocument/2006/relationships/slideLayout" Target="../slideLayouts/slideLayout2.xml"/><Relationship Id="rId1" Type="http://schemas.openxmlformats.org/officeDocument/2006/relationships/image" Target="../media/image57.wmf"/></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5" Type="http://schemas.openxmlformats.org/officeDocument/2006/relationships/notesSlide" Target="../notesSlides/notesSlide142.xml"/><Relationship Id="rId4" Type="http://schemas.openxmlformats.org/officeDocument/2006/relationships/vmlDrawing" Target="../drawings/vmlDrawing17.vml"/><Relationship Id="rId3" Type="http://schemas.openxmlformats.org/officeDocument/2006/relationships/slideLayout" Target="../slideLayouts/slideLayout2.xml"/><Relationship Id="rId2" Type="http://schemas.openxmlformats.org/officeDocument/2006/relationships/image" Target="../media/image24.wmf"/><Relationship Id="rId1" Type="http://schemas.openxmlformats.org/officeDocument/2006/relationships/oleObject" Target="../embeddings/oleObject20.bin"/></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5" Type="http://schemas.openxmlformats.org/officeDocument/2006/relationships/notesSlide" Target="../notesSlides/notesSlide150.xml"/><Relationship Id="rId4" Type="http://schemas.openxmlformats.org/officeDocument/2006/relationships/vmlDrawing" Target="../drawings/vmlDrawing18.vml"/><Relationship Id="rId3" Type="http://schemas.openxmlformats.org/officeDocument/2006/relationships/slideLayout" Target="../slideLayouts/slideLayout2.xml"/><Relationship Id="rId2" Type="http://schemas.openxmlformats.org/officeDocument/2006/relationships/image" Target="../media/image58.wmf"/><Relationship Id="rId1" Type="http://schemas.openxmlformats.org/officeDocument/2006/relationships/oleObject" Target="../embeddings/oleObject21.bin"/></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第六章	中间代码生成 </a:t>
            </a:r>
            <a:endParaRPr lang="en-US" altLang="zh-CN" dirty="0">
              <a:latin typeface="Times New Roman" panose="02020603050405020304" pitchFamily="18" charset="0"/>
              <a:ea typeface="宋体" panose="02010600030101010101" pitchFamily="2" charset="-122"/>
            </a:endParaRPr>
          </a:p>
        </p:txBody>
      </p:sp>
      <p:sp>
        <p:nvSpPr>
          <p:cNvPr id="2051" name="Rectangle 3"/>
          <p:cNvSpPr>
            <a:spLocks noGrp="1" noChangeArrowheads="1"/>
          </p:cNvSpPr>
          <p:nvPr>
            <p:ph idx="1"/>
          </p:nvPr>
        </p:nvSpPr>
        <p:spPr>
          <a:xfrm>
            <a:off x="684213" y="1600200"/>
            <a:ext cx="7991475" cy="4191000"/>
          </a:xfrm>
        </p:spPr>
        <p:txBody>
          <a:bodyPr vert="horz" wrap="square" lIns="92075" tIns="46038" rIns="92075" bIns="46038" numCol="1" anchor="t" anchorCtr="0" compatLnSpc="1"/>
          <a:lstStyle/>
          <a:p>
            <a:pPr marL="342900" marR="0" lvl="0" indent="-342900" algn="l" defTabSz="914400" rtl="0" eaLnBrk="0" fontAlgn="base" latinLnBrk="0" hangingPunct="0">
              <a:lnSpc>
                <a:spcPct val="80000"/>
              </a:lnSpc>
              <a:spcBef>
                <a:spcPts val="1200"/>
              </a:spcBef>
              <a:spcAft>
                <a:spcPts val="60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中间表示可以有效划分编译前端</a:t>
            </a:r>
            <a:r>
              <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后端</a:t>
            </a:r>
            <a:endPar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80000"/>
              </a:lnSpc>
              <a:spcBef>
                <a:spcPts val="1200"/>
              </a:spcBef>
              <a:spcAft>
                <a:spcPts val="600"/>
              </a:spcAft>
              <a:buClr>
                <a:srgbClr val="063DE8"/>
              </a:buClr>
              <a:buSzPct val="125000"/>
              <a:buFontTx/>
              <a:buChar char="•"/>
              <a:defRPr/>
            </a:pPr>
            <a:endPar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80000"/>
              </a:lnSpc>
              <a:spcBef>
                <a:spcPts val="1200"/>
              </a:spcBef>
              <a:spcAft>
                <a:spcPts val="600"/>
              </a:spcAft>
              <a:buClr>
                <a:srgbClr val="063DE8"/>
              </a:buClr>
              <a:buSzPct val="125000"/>
              <a:buFontTx/>
              <a:buChar char="•"/>
              <a:defRPr/>
            </a:pPr>
            <a:endPar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80000"/>
              </a:lnSpc>
              <a:spcBef>
                <a:spcPts val="1200"/>
              </a:spcBef>
              <a:spcAft>
                <a:spcPts val="600"/>
              </a:spcAft>
              <a:buClr>
                <a:srgbClr val="063DE8"/>
              </a:buClr>
              <a:buSzPct val="125000"/>
              <a:buFontTx/>
              <a:buChar char="•"/>
              <a:defRPr/>
            </a:pPr>
            <a:endPar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80000"/>
              </a:lnSpc>
              <a:spcBef>
                <a:spcPts val="1200"/>
              </a:spcBef>
              <a:spcAft>
                <a:spcPts val="60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本章主要讨论静态类型检查和中间代码生成</a:t>
            </a:r>
            <a:endPar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80000"/>
              </a:lnSpc>
              <a:spcBef>
                <a:spcPts val="1200"/>
              </a:spcBef>
              <a:spcAft>
                <a:spcPts val="60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中间代码可以分为多层</a:t>
            </a: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5124" name="Picture 2"/>
          <p:cNvPicPr>
            <a:picLocks noChangeAspect="1"/>
          </p:cNvPicPr>
          <p:nvPr/>
        </p:nvPicPr>
        <p:blipFill>
          <a:blip r:embed="rId1"/>
          <a:stretch>
            <a:fillRect/>
          </a:stretch>
        </p:blipFill>
        <p:spPr>
          <a:xfrm>
            <a:off x="25400" y="1989138"/>
            <a:ext cx="8915400" cy="1800225"/>
          </a:xfrm>
          <a:prstGeom prst="rect">
            <a:avLst/>
          </a:prstGeom>
          <a:noFill/>
          <a:ln w="9525">
            <a:noFill/>
          </a:ln>
        </p:spPr>
      </p:pic>
      <p:pic>
        <p:nvPicPr>
          <p:cNvPr id="5125" name="Picture 3"/>
          <p:cNvPicPr>
            <a:picLocks noChangeAspect="1"/>
          </p:cNvPicPr>
          <p:nvPr/>
        </p:nvPicPr>
        <p:blipFill>
          <a:blip r:embed="rId2"/>
          <a:stretch>
            <a:fillRect/>
          </a:stretch>
        </p:blipFill>
        <p:spPr>
          <a:xfrm>
            <a:off x="25400" y="5084763"/>
            <a:ext cx="9118600" cy="1379537"/>
          </a:xfrm>
          <a:prstGeom prst="rect">
            <a:avLst/>
          </a:prstGeom>
          <a:noFill/>
          <a:ln w="9525">
            <a:noFill/>
          </a:ln>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第六章	中间代码生成 </a:t>
            </a:r>
            <a:endParaRPr lang="en-US" altLang="zh-CN" dirty="0">
              <a:latin typeface="Times New Roman" panose="02020603050405020304" pitchFamily="18" charset="0"/>
              <a:ea typeface="宋体" panose="02010600030101010101" pitchFamily="2" charset="-122"/>
            </a:endParaRPr>
          </a:p>
        </p:txBody>
      </p:sp>
      <p:sp>
        <p:nvSpPr>
          <p:cNvPr id="7171" name="Rectangle 3"/>
          <p:cNvSpPr>
            <a:spLocks noGrp="1"/>
          </p:cNvSpPr>
          <p:nvPr>
            <p:ph idx="1"/>
          </p:nvPr>
        </p:nvSpPr>
        <p:spPr>
          <a:xfrm>
            <a:off x="684213" y="1371600"/>
            <a:ext cx="7991475" cy="4419600"/>
          </a:xfrm>
        </p:spPr>
        <p:txBody>
          <a:bodyPr vert="horz" wrap="square" lIns="92075" tIns="46038" rIns="92075" bIns="46038" anchor="t" anchorCtr="0"/>
          <a:p>
            <a:pPr>
              <a:lnSpc>
                <a:spcPct val="80000"/>
              </a:lnSpc>
              <a:spcBef>
                <a:spcPts val="1200"/>
              </a:spcBef>
              <a:spcAft>
                <a:spcPts val="600"/>
              </a:spcAft>
            </a:pPr>
            <a:r>
              <a:rPr lang="zh-CN" altLang="en-US" sz="2800" b="1" dirty="0">
                <a:ea typeface="宋体" panose="02010600030101010101" pitchFamily="2" charset="-122"/>
              </a:rPr>
              <a:t>本章的结构</a:t>
            </a:r>
            <a:endParaRPr lang="en-US" altLang="zh-CN" sz="2800" b="1" dirty="0">
              <a:ea typeface="宋体" panose="02010600030101010101" pitchFamily="2" charset="-122"/>
            </a:endParaRPr>
          </a:p>
          <a:p>
            <a:pPr lvl="1">
              <a:lnSpc>
                <a:spcPct val="80000"/>
              </a:lnSpc>
              <a:spcBef>
                <a:spcPts val="1200"/>
              </a:spcBef>
              <a:spcAft>
                <a:spcPts val="600"/>
              </a:spcAft>
            </a:pPr>
            <a:r>
              <a:rPr lang="zh-CN" altLang="en-US" sz="2600" b="1" dirty="0">
                <a:ea typeface="宋体" panose="02010600030101010101" pitchFamily="2" charset="-122"/>
              </a:rPr>
              <a:t>中间代码的形式：</a:t>
            </a:r>
            <a:r>
              <a:rPr lang="en-US" altLang="zh-CN" sz="2600" b="1" dirty="0">
                <a:ea typeface="宋体" panose="02010600030101010101" pitchFamily="2" charset="-122"/>
              </a:rPr>
              <a:t>DAG</a:t>
            </a:r>
            <a:r>
              <a:rPr lang="zh-CN" altLang="en-US" sz="2600" b="1" dirty="0">
                <a:ea typeface="宋体" panose="02010600030101010101" pitchFamily="2" charset="-122"/>
              </a:rPr>
              <a:t>和三地址代码、</a:t>
            </a:r>
            <a:r>
              <a:rPr lang="en-US" altLang="zh-CN" sz="2600" b="1" dirty="0">
                <a:ea typeface="宋体" panose="02010600030101010101" pitchFamily="2" charset="-122"/>
              </a:rPr>
              <a:t>SSA</a:t>
            </a:r>
            <a:endParaRPr lang="en-US" altLang="zh-CN" sz="2600" b="1" dirty="0">
              <a:ea typeface="宋体" panose="02010600030101010101" pitchFamily="2" charset="-122"/>
            </a:endParaRPr>
          </a:p>
          <a:p>
            <a:pPr lvl="1">
              <a:lnSpc>
                <a:spcPct val="80000"/>
              </a:lnSpc>
              <a:spcBef>
                <a:spcPts val="1200"/>
              </a:spcBef>
              <a:spcAft>
                <a:spcPts val="600"/>
              </a:spcAft>
            </a:pPr>
            <a:r>
              <a:rPr lang="zh-CN" altLang="en-US" sz="2600" b="1" dirty="0">
                <a:ea typeface="宋体" panose="02010600030101010101" pitchFamily="2" charset="-122"/>
              </a:rPr>
              <a:t>程序声明部分的翻译方法：类型、声明、序列</a:t>
            </a:r>
            <a:endParaRPr lang="en-US" altLang="zh-CN" sz="2600" b="1" dirty="0">
              <a:ea typeface="宋体" panose="02010600030101010101" pitchFamily="2" charset="-122"/>
            </a:endParaRPr>
          </a:p>
          <a:p>
            <a:pPr lvl="1">
              <a:lnSpc>
                <a:spcPct val="80000"/>
              </a:lnSpc>
              <a:spcBef>
                <a:spcPts val="1200"/>
              </a:spcBef>
              <a:spcAft>
                <a:spcPts val="600"/>
              </a:spcAft>
            </a:pPr>
            <a:r>
              <a:rPr lang="zh-CN" altLang="en-US" sz="2600" b="1" dirty="0">
                <a:ea typeface="宋体" panose="02010600030101010101" pitchFamily="2" charset="-122"/>
              </a:rPr>
              <a:t>程序可执行部分的翻译</a:t>
            </a:r>
            <a:endParaRPr lang="en-US" altLang="zh-CN" sz="2600" b="1" dirty="0">
              <a:ea typeface="宋体" panose="02010600030101010101" pitchFamily="2" charset="-122"/>
            </a:endParaRPr>
          </a:p>
          <a:p>
            <a:pPr lvl="2">
              <a:lnSpc>
                <a:spcPct val="80000"/>
              </a:lnSpc>
              <a:spcBef>
                <a:spcPts val="1200"/>
              </a:spcBef>
              <a:spcAft>
                <a:spcPts val="600"/>
              </a:spcAft>
            </a:pPr>
            <a:r>
              <a:rPr lang="zh-CN" altLang="en-US" sz="2400" b="1" dirty="0">
                <a:ea typeface="宋体" panose="02010600030101010101" pitchFamily="2" charset="-122"/>
              </a:rPr>
              <a:t>简单的程序结构：表达式的翻译，包括赋值语句和数组元素引用</a:t>
            </a:r>
            <a:endParaRPr lang="en-US" altLang="zh-CN" sz="2400" b="1" dirty="0">
              <a:ea typeface="宋体" panose="02010600030101010101" pitchFamily="2" charset="-122"/>
            </a:endParaRPr>
          </a:p>
          <a:p>
            <a:pPr lvl="2">
              <a:lnSpc>
                <a:spcPct val="80000"/>
              </a:lnSpc>
              <a:spcBef>
                <a:spcPts val="1200"/>
              </a:spcBef>
              <a:spcAft>
                <a:spcPts val="600"/>
              </a:spcAft>
            </a:pPr>
            <a:r>
              <a:rPr lang="zh-CN" altLang="en-US" sz="2400" b="1" dirty="0">
                <a:ea typeface="宋体" panose="02010600030101010101" pitchFamily="2" charset="-122"/>
              </a:rPr>
              <a:t>如何在表达式的翻译等阶段实现类型检查，给有需求的名字或程序结构确定类型</a:t>
            </a:r>
            <a:endParaRPr lang="en-US" altLang="zh-CN" sz="2400" b="1" dirty="0">
              <a:ea typeface="宋体" panose="02010600030101010101" pitchFamily="2" charset="-122"/>
            </a:endParaRPr>
          </a:p>
          <a:p>
            <a:pPr lvl="2">
              <a:lnSpc>
                <a:spcPct val="80000"/>
              </a:lnSpc>
              <a:spcBef>
                <a:spcPts val="1200"/>
              </a:spcBef>
              <a:spcAft>
                <a:spcPts val="600"/>
              </a:spcAft>
            </a:pPr>
            <a:r>
              <a:rPr lang="zh-CN" altLang="en-US" sz="2400" b="1" dirty="0">
                <a:ea typeface="宋体" panose="02010600030101010101" pitchFamily="2" charset="-122"/>
              </a:rPr>
              <a:t>处理更复杂一些的程序结构：控制流语句及布尔表达式的翻译及其优化</a:t>
            </a:r>
            <a:endParaRPr lang="en-US" altLang="zh-CN" sz="2400" b="1" dirty="0">
              <a:ea typeface="宋体" panose="02010600030101010101" pitchFamily="2" charset="-122"/>
            </a:endParaRPr>
          </a:p>
          <a:p>
            <a:pPr lvl="1">
              <a:lnSpc>
                <a:spcPct val="80000"/>
              </a:lnSpc>
              <a:spcBef>
                <a:spcPts val="1200"/>
              </a:spcBef>
              <a:spcAft>
                <a:spcPts val="600"/>
              </a:spcAft>
            </a:pPr>
            <a:r>
              <a:rPr lang="zh-CN" altLang="en-US" sz="2600" b="1" dirty="0">
                <a:ea typeface="宋体" panose="02010600030101010101" pitchFamily="2" charset="-122"/>
              </a:rPr>
              <a:t>过程</a:t>
            </a:r>
            <a:r>
              <a:rPr lang="en-US" altLang="zh-CN" sz="2600" b="1" dirty="0">
                <a:ea typeface="宋体" panose="02010600030101010101" pitchFamily="2" charset="-122"/>
              </a:rPr>
              <a:t>/</a:t>
            </a:r>
            <a:r>
              <a:rPr lang="zh-CN" altLang="en-US" sz="2600" b="1" dirty="0">
                <a:ea typeface="宋体" panose="02010600030101010101" pitchFamily="2" charset="-122"/>
              </a:rPr>
              <a:t>函数结构的翻译</a:t>
            </a:r>
            <a:endParaRPr lang="en-US" altLang="zh-CN" sz="2600" b="1" dirty="0">
              <a:ea typeface="宋体" panose="02010600030101010101" pitchFamily="2" charset="-122"/>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1026"/>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语义分析的基础（1）</a:t>
            </a:r>
            <a:endParaRPr lang="zh-CN" altLang="en-US" dirty="0">
              <a:latin typeface="Times New Roman" panose="02020603050405020304" pitchFamily="18" charset="0"/>
              <a:ea typeface="宋体" panose="02010600030101010101" pitchFamily="2" charset="-122"/>
            </a:endParaRPr>
          </a:p>
        </p:txBody>
      </p:sp>
      <p:sp>
        <p:nvSpPr>
          <p:cNvPr id="3075" name="Rectangle 1027"/>
          <p:cNvSpPr>
            <a:spLocks noGrp="1" noChangeArrowheads="1"/>
          </p:cNvSpPr>
          <p:nvPr>
            <p:ph idx="1"/>
          </p:nvPr>
        </p:nvSpPr>
        <p:spPr>
          <a:xfrm>
            <a:off x="611188" y="1371600"/>
            <a:ext cx="7993063" cy="4876800"/>
          </a:xfrm>
        </p:spPr>
        <p:txBody>
          <a:bodyPr vert="horz" wrap="square" lIns="92075" tIns="46038" rIns="92075" bIns="46038" numCol="1" anchor="t" anchorCtr="0" compatLnSpc="1"/>
          <a:lstStyle/>
          <a:p>
            <a:pPr marL="342900" marR="0" lvl="0" indent="-342900" algn="l" defTabSz="914400" rtl="0" eaLnBrk="0" fontAlgn="base" latinLnBrk="0" hangingPunct="0">
              <a:lnSpc>
                <a:spcPct val="80000"/>
              </a:lnSpc>
              <a:spcBef>
                <a:spcPct val="20000"/>
              </a:spcBef>
              <a:spcAft>
                <a:spcPct val="0"/>
              </a:spcAft>
              <a:buClr>
                <a:srgbClr val="063DE8"/>
              </a:buClr>
              <a:buSzPct val="125000"/>
              <a:buFontTx/>
              <a:buChar char="•"/>
              <a:defRPr/>
            </a:pPr>
            <a:r>
              <a:rPr kumimoji="0" lang="zh-CN" altLang="en-US" sz="25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语义分析</a:t>
            </a:r>
            <a:endParaRPr kumimoji="0" lang="zh-CN" altLang="en-US" sz="25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8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上下文无关文法和标准分析算法以外的信息分析，含如下两类</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8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程序的分析：语义的正确性检查</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8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语义的正确性与程序的正确性不是等价的概念</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80000"/>
              </a:lnSpc>
              <a:spcBef>
                <a:spcPct val="2000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语义分析可以提高程序的安全性和有效性</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8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安全性：如对未分配的指针变量进行操作</a:t>
            </a:r>
            <a:endPar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8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有效性：优化的代码</a:t>
            </a:r>
            <a:endPar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8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静态语义分析（</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static semantic analysis）：</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8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在程序的编译时刻就能决定的语义信息</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057400" marR="0" lvl="4" indent="-228600" algn="l" defTabSz="914400" rtl="0" eaLnBrk="0" fontAlgn="base" latinLnBrk="0" hangingPunct="0">
              <a:lnSpc>
                <a:spcPct val="80000"/>
              </a:lnSpc>
              <a:spcBef>
                <a:spcPct val="20000"/>
              </a:spcBef>
              <a:spcAft>
                <a:spcPct val="0"/>
              </a:spcAft>
              <a:buClr>
                <a:srgbClr val="063DE8"/>
              </a:buClr>
              <a:buSzPct val="125000"/>
              <a:buFontTx/>
              <a:buChar char="•"/>
              <a:defRPr/>
            </a:pPr>
            <a:r>
              <a:rPr kumimoji="0" lang="zh-CN" altLang="en-US" sz="1400" b="1" i="0" u="none" strike="noStrike" kern="0" cap="none" spc="0" normalizeH="0" baseline="0" noProof="0" dirty="0">
                <a:ln>
                  <a:noFill/>
                </a:ln>
                <a:solidFill>
                  <a:schemeClr val="tx1"/>
                </a:solidFill>
                <a:effectLst/>
                <a:uLnTx/>
                <a:uFillTx/>
                <a:latin typeface="+mn-lt"/>
                <a:ea typeface="宋体" panose="02010600030101010101" pitchFamily="2" charset="-122"/>
              </a:rPr>
              <a:t>如</a:t>
            </a:r>
            <a:r>
              <a:rPr kumimoji="0" lang="en-US" altLang="zh-CN" sz="1400" b="1" i="0"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zh-CN" altLang="en-US" sz="1400" b="1" i="0" u="none" strike="noStrike" kern="0" cap="none" spc="0" normalizeH="0" baseline="0" noProof="0" dirty="0">
                <a:ln>
                  <a:noFill/>
                </a:ln>
                <a:solidFill>
                  <a:schemeClr val="tx1"/>
                </a:solidFill>
                <a:effectLst/>
                <a:uLnTx/>
                <a:uFillTx/>
                <a:latin typeface="+mn-lt"/>
                <a:ea typeface="宋体" panose="02010600030101010101" pitchFamily="2" charset="-122"/>
              </a:rPr>
              <a:t>语言中变量的类型、变量的使用要先声明后使用的规定等</a:t>
            </a:r>
            <a:endParaRPr kumimoji="0" lang="en-US" altLang="zh-CN" sz="14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80000"/>
              </a:lnSpc>
              <a:spcBef>
                <a:spcPct val="20000"/>
              </a:spcBef>
              <a:spcAft>
                <a:spcPct val="0"/>
              </a:spcAft>
              <a:buClr>
                <a:srgbClr val="063DE8"/>
              </a:buClr>
              <a:buSzPct val="70000"/>
              <a:buFont typeface="Monotype Sorts" pitchFamily="2" charset="2"/>
              <a:buChar char="ä"/>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Ada</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等有较强的静态语义分析要求</a:t>
            </a:r>
            <a:endPar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8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传统上的编译器只能分析程序的静态语义</a:t>
            </a:r>
            <a:endPar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8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动态语义分析（</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dynamic semantic analysis）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8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必须在程序的运行时刻才能决定的语义信息</a:t>
            </a:r>
            <a:endPar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80000"/>
              </a:lnSpc>
              <a:spcBef>
                <a:spcPct val="20000"/>
              </a:spcBef>
              <a:spcAft>
                <a:spcPct val="0"/>
              </a:spcAft>
              <a:buClr>
                <a:srgbClr val="063DE8"/>
              </a:buClr>
              <a:buSzPct val="70000"/>
              <a:buFont typeface="Monotype Sorts" pitchFamily="2" charset="2"/>
              <a:buChar char="ä"/>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LISP</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Smalltalk</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等语言</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由编译器执行的分析：用以提高翻译的程序执行的效率</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各种优化</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语义分析的基础（2）</a:t>
            </a:r>
            <a:endParaRPr lang="zh-CN" altLang="en-US" dirty="0">
              <a:latin typeface="Times New Roman" panose="02020603050405020304" pitchFamily="18" charset="0"/>
              <a:ea typeface="宋体" panose="02010600030101010101" pitchFamily="2" charset="-122"/>
            </a:endParaRPr>
          </a:p>
        </p:txBody>
      </p:sp>
      <p:sp>
        <p:nvSpPr>
          <p:cNvPr id="11267" name="Rectangle 3"/>
          <p:cNvSpPr>
            <a:spLocks noGrp="1"/>
          </p:cNvSpPr>
          <p:nvPr>
            <p:ph idx="1"/>
          </p:nvPr>
        </p:nvSpPr>
        <p:spPr>
          <a:xfrm>
            <a:off x="990600" y="1524000"/>
            <a:ext cx="7391400" cy="4800600"/>
          </a:xfrm>
        </p:spPr>
        <p:txBody>
          <a:bodyPr vert="horz" wrap="square" lIns="92075" tIns="46038" rIns="92075" bIns="46038" anchor="t" anchorCtr="0"/>
          <a:p>
            <a:pPr>
              <a:lnSpc>
                <a:spcPct val="90000"/>
              </a:lnSpc>
            </a:pPr>
            <a:r>
              <a:rPr lang="zh-CN" altLang="en-US" sz="2400" b="1" dirty="0">
                <a:ea typeface="宋体" panose="02010600030101010101" pitchFamily="2" charset="-122"/>
              </a:rPr>
              <a:t>静态语义分析的组成：</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与词法和语法分析类似，但不一样</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执行分析的描述</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使用合适的算法对分析的实现</a:t>
            </a:r>
            <a:endParaRPr lang="zh-CN" altLang="en-US" sz="2000" b="1" dirty="0">
              <a:ea typeface="宋体" panose="02010600030101010101" pitchFamily="2" charset="-122"/>
            </a:endParaRPr>
          </a:p>
          <a:p>
            <a:pPr lvl="1">
              <a:lnSpc>
                <a:spcPct val="90000"/>
              </a:lnSpc>
            </a:pPr>
            <a:r>
              <a:rPr lang="zh-CN" altLang="en-US" sz="2200" b="1" dirty="0">
                <a:ea typeface="宋体" panose="02010600030101010101" pitchFamily="2" charset="-122"/>
              </a:rPr>
              <a:t>语义分析难以有一个通用的清晰框架的原因：</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程序语义的形式化工作成果不能令人满意</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对于各种语言，静态语义分析的种类和总量的变化范围很大</a:t>
            </a:r>
            <a:endParaRPr lang="zh-CN" altLang="en-US" sz="2000" b="1" dirty="0">
              <a:ea typeface="宋体" panose="02010600030101010101" pitchFamily="2" charset="-122"/>
            </a:endParaRPr>
          </a:p>
          <a:p>
            <a:pPr lvl="3">
              <a:lnSpc>
                <a:spcPct val="90000"/>
              </a:lnSpc>
              <a:buFont typeface="Wingdings" panose="05000000000000000000" pitchFamily="2" charset="2"/>
              <a:buNone/>
            </a:pPr>
            <a:r>
              <a:rPr lang="zh-CN" altLang="en-US" sz="1800" b="1" dirty="0">
                <a:ea typeface="宋体" panose="02010600030101010101" pitchFamily="2" charset="-122"/>
              </a:rPr>
              <a:t>如数据流分析和相关的优化：</a:t>
            </a:r>
            <a:endParaRPr lang="zh-CN" altLang="en-US"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C</a:t>
            </a:r>
            <a:r>
              <a:rPr lang="zh-CN" altLang="en-US" sz="1800" b="1" dirty="0">
                <a:ea typeface="宋体" panose="02010600030101010101" pitchFamily="2" charset="-122"/>
              </a:rPr>
              <a:t>语言中数据流分析要考虑指针、对</a:t>
            </a:r>
            <a:r>
              <a:rPr lang="en-US" altLang="zh-CN" sz="1800" b="1" dirty="0">
                <a:ea typeface="宋体" panose="02010600030101010101" pitchFamily="2" charset="-122"/>
              </a:rPr>
              <a:t>union</a:t>
            </a:r>
            <a:r>
              <a:rPr lang="zh-CN" altLang="en-US" sz="1800" b="1" dirty="0">
                <a:ea typeface="宋体" panose="02010600030101010101" pitchFamily="2" charset="-122"/>
              </a:rPr>
              <a:t>变量的分析等</a:t>
            </a:r>
            <a:endParaRPr lang="zh-CN" altLang="en-US" sz="1800" b="1" dirty="0">
              <a:ea typeface="宋体" panose="02010600030101010101" pitchFamily="2" charset="-122"/>
            </a:endParaRPr>
          </a:p>
          <a:p>
            <a:pPr lvl="3">
              <a:lnSpc>
                <a:spcPct val="90000"/>
              </a:lnSpc>
              <a:buFont typeface="Wingdings" panose="05000000000000000000" pitchFamily="2" charset="2"/>
              <a:buNone/>
            </a:pPr>
            <a:r>
              <a:rPr lang="zh-CN" altLang="en-US" sz="1800" b="1" dirty="0">
                <a:ea typeface="宋体" panose="02010600030101010101" pitchFamily="2" charset="-122"/>
              </a:rPr>
              <a:t>	而</a:t>
            </a:r>
            <a:r>
              <a:rPr lang="en-US" altLang="zh-CN" sz="1800" b="1" dirty="0">
                <a:ea typeface="宋体" panose="02010600030101010101" pitchFamily="2" charset="-122"/>
              </a:rPr>
              <a:t>FORTRAN</a:t>
            </a:r>
            <a:r>
              <a:rPr lang="zh-CN" altLang="en-US" sz="1800" b="1" dirty="0">
                <a:ea typeface="宋体" panose="02010600030101010101" pitchFamily="2" charset="-122"/>
              </a:rPr>
              <a:t>语言中要考虑公用变量、等价量的分析等</a:t>
            </a:r>
            <a:endParaRPr lang="zh-CN" altLang="en-US" sz="1800" b="1" dirty="0">
              <a:ea typeface="宋体" panose="02010600030101010101" pitchFamily="2" charset="-122"/>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语义分析的基础（3）</a:t>
            </a:r>
            <a:endParaRPr lang="zh-CN" altLang="en-US" dirty="0">
              <a:latin typeface="Times New Roman" panose="02020603050405020304" pitchFamily="18" charset="0"/>
              <a:ea typeface="宋体" panose="02010600030101010101" pitchFamily="2" charset="-122"/>
            </a:endParaRPr>
          </a:p>
        </p:txBody>
      </p:sp>
      <p:sp>
        <p:nvSpPr>
          <p:cNvPr id="13315" name="Rectangle 3"/>
          <p:cNvSpPr>
            <a:spLocks noGrp="1"/>
          </p:cNvSpPr>
          <p:nvPr>
            <p:ph idx="1"/>
          </p:nvPr>
        </p:nvSpPr>
        <p:spPr>
          <a:xfrm>
            <a:off x="990600" y="1524000"/>
            <a:ext cx="7391400" cy="4800600"/>
          </a:xfrm>
        </p:spPr>
        <p:txBody>
          <a:bodyPr vert="horz" wrap="square" lIns="92075" tIns="46038" rIns="92075" bIns="46038" anchor="t" anchorCtr="0"/>
          <a:p>
            <a:pPr lvl="1">
              <a:lnSpc>
                <a:spcPct val="90000"/>
              </a:lnSpc>
            </a:pPr>
            <a:r>
              <a:rPr lang="zh-CN" altLang="en-US" sz="2200" b="1" dirty="0">
                <a:ea typeface="宋体" panose="02010600030101010101" pitchFamily="2" charset="-122"/>
              </a:rPr>
              <a:t>常用的语义分析框架：</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属性文法是描述语义分析的一种较好的方法：</a:t>
            </a:r>
            <a:endParaRPr lang="zh-CN" altLang="en-US" sz="2000" b="1" dirty="0">
              <a:ea typeface="宋体" panose="02010600030101010101" pitchFamily="2" charset="-122"/>
            </a:endParaRPr>
          </a:p>
          <a:p>
            <a:pPr lvl="3">
              <a:lnSpc>
                <a:spcPct val="90000"/>
              </a:lnSpc>
            </a:pPr>
            <a:r>
              <a:rPr lang="zh-CN" altLang="en-US" sz="1800" b="1" dirty="0">
                <a:ea typeface="宋体" panose="02010600030101010101" pitchFamily="2" charset="-122"/>
              </a:rPr>
              <a:t>内容：</a:t>
            </a:r>
            <a:endParaRPr lang="zh-CN" altLang="en-US" sz="1800" b="1" dirty="0">
              <a:ea typeface="宋体" panose="02010600030101010101" pitchFamily="2" charset="-122"/>
            </a:endParaRPr>
          </a:p>
          <a:p>
            <a:pPr lvl="4">
              <a:lnSpc>
                <a:spcPct val="90000"/>
              </a:lnSpc>
            </a:pPr>
            <a:r>
              <a:rPr lang="zh-CN" altLang="en-US" sz="1600" b="1" dirty="0">
                <a:ea typeface="宋体" panose="02010600030101010101" pitchFamily="2" charset="-122"/>
              </a:rPr>
              <a:t>属性：与语言的文法规则相关，附加在文法符号上</a:t>
            </a:r>
            <a:endParaRPr lang="zh-CN" altLang="en-US" sz="1600" b="1" dirty="0">
              <a:ea typeface="宋体" panose="02010600030101010101" pitchFamily="2" charset="-122"/>
            </a:endParaRPr>
          </a:p>
          <a:p>
            <a:pPr lvl="4">
              <a:lnSpc>
                <a:spcPct val="90000"/>
              </a:lnSpc>
            </a:pPr>
            <a:r>
              <a:rPr lang="zh-CN" altLang="en-US" sz="1600" b="1" dirty="0">
                <a:ea typeface="宋体" panose="02010600030101010101" pitchFamily="2" charset="-122"/>
              </a:rPr>
              <a:t>属性如何计算：文法产生式的“语义规则”决定了计算</a:t>
            </a:r>
            <a:endParaRPr lang="zh-CN" altLang="en-US" sz="1600" b="1" dirty="0">
              <a:ea typeface="宋体" panose="02010600030101010101" pitchFamily="2" charset="-122"/>
            </a:endParaRPr>
          </a:p>
          <a:p>
            <a:pPr lvl="4">
              <a:lnSpc>
                <a:spcPct val="90000"/>
              </a:lnSpc>
            </a:pPr>
            <a:r>
              <a:rPr lang="zh-CN" altLang="en-US" sz="1600" b="1" dirty="0">
                <a:ea typeface="宋体" panose="02010600030101010101" pitchFamily="2" charset="-122"/>
              </a:rPr>
              <a:t>记号流的翻译是语义规则计算的结果</a:t>
            </a:r>
            <a:endParaRPr lang="zh-CN" altLang="en-US" sz="1600" b="1" dirty="0">
              <a:ea typeface="宋体" panose="02010600030101010101" pitchFamily="2" charset="-122"/>
            </a:endParaRPr>
          </a:p>
          <a:p>
            <a:pPr lvl="3">
              <a:lnSpc>
                <a:spcPct val="90000"/>
              </a:lnSpc>
            </a:pPr>
            <a:r>
              <a:rPr lang="zh-CN" altLang="en-US" sz="1800" b="1" dirty="0">
                <a:ea typeface="宋体" panose="02010600030101010101" pitchFamily="2" charset="-122"/>
              </a:rPr>
              <a:t>缺点：</a:t>
            </a:r>
            <a:endParaRPr lang="zh-CN" altLang="en-US" sz="1800" b="1" dirty="0">
              <a:ea typeface="宋体" panose="02010600030101010101" pitchFamily="2" charset="-122"/>
            </a:endParaRPr>
          </a:p>
          <a:p>
            <a:pPr lvl="4">
              <a:lnSpc>
                <a:spcPct val="90000"/>
              </a:lnSpc>
            </a:pPr>
            <a:r>
              <a:rPr lang="zh-CN" altLang="en-US" sz="1600" b="1" dirty="0">
                <a:ea typeface="宋体" panose="02010600030101010101" pitchFamily="2" charset="-122"/>
              </a:rPr>
              <a:t>属性文法必须手工构造：工作量大，而且为了保持语言清晰的语法结构，属性文法的构造有不必要的复杂性</a:t>
            </a:r>
            <a:endParaRPr lang="zh-CN" altLang="en-US" sz="1600" b="1" dirty="0">
              <a:ea typeface="宋体" panose="02010600030101010101" pitchFamily="2" charset="-122"/>
            </a:endParaRPr>
          </a:p>
          <a:p>
            <a:pPr lvl="2">
              <a:lnSpc>
                <a:spcPct val="90000"/>
              </a:lnSpc>
            </a:pPr>
            <a:r>
              <a:rPr lang="zh-CN" altLang="en-US" sz="2000" b="1" dirty="0">
                <a:ea typeface="宋体" panose="02010600030101010101" pitchFamily="2" charset="-122"/>
              </a:rPr>
              <a:t>抽象语法是描述语义计算表达式的一种更好的方法：</a:t>
            </a:r>
            <a:endParaRPr lang="zh-CN" altLang="en-US" sz="2000" b="1" dirty="0">
              <a:ea typeface="宋体" panose="02010600030101010101" pitchFamily="2" charset="-122"/>
            </a:endParaRPr>
          </a:p>
          <a:p>
            <a:pPr lvl="3">
              <a:lnSpc>
                <a:spcPct val="90000"/>
              </a:lnSpc>
            </a:pPr>
            <a:r>
              <a:rPr lang="zh-CN" altLang="en-US" sz="1800" b="1" dirty="0">
                <a:ea typeface="宋体" panose="02010600030101010101" pitchFamily="2" charset="-122"/>
              </a:rPr>
              <a:t>抽象语法树的说明仍然要编译器的开发者给出</a:t>
            </a:r>
            <a:endParaRPr lang="zh-CN" altLang="en-US" sz="1800" b="1" dirty="0">
              <a:ea typeface="宋体" panose="02010600030101010101" pitchFamily="2" charset="-122"/>
            </a:endParaRPr>
          </a:p>
          <a:p>
            <a:pPr lvl="1">
              <a:lnSpc>
                <a:spcPct val="90000"/>
              </a:lnSpc>
            </a:pPr>
            <a:r>
              <a:rPr lang="zh-CN" altLang="en-US" sz="2200" b="1" dirty="0">
                <a:ea typeface="宋体" panose="02010600030101010101" pitchFamily="2" charset="-122"/>
              </a:rPr>
              <a:t>语义分析的实现算法：</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也难以清晰表达</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与语义分析完成的时刻有关：</a:t>
            </a:r>
            <a:endParaRPr lang="zh-CN" altLang="en-US" sz="2000" b="1" dirty="0">
              <a:ea typeface="宋体" panose="02010600030101010101" pitchFamily="2" charset="-122"/>
            </a:endParaRPr>
          </a:p>
          <a:p>
            <a:pPr lvl="3">
              <a:lnSpc>
                <a:spcPct val="90000"/>
              </a:lnSpc>
            </a:pPr>
            <a:r>
              <a:rPr lang="zh-CN" altLang="en-US" sz="1800" b="1" dirty="0">
                <a:ea typeface="宋体" panose="02010600030101010101" pitchFamily="2" charset="-122"/>
              </a:rPr>
              <a:t>在语法分析完成之后，则易于实现：对语法树的遍历</a:t>
            </a:r>
            <a:endParaRPr lang="zh-CN" altLang="en-US" sz="1800" b="1" dirty="0">
              <a:ea typeface="宋体" panose="02010600030101010101" pitchFamily="2" charset="-122"/>
            </a:endParaRPr>
          </a:p>
          <a:p>
            <a:pPr lvl="3">
              <a:lnSpc>
                <a:spcPct val="90000"/>
              </a:lnSpc>
            </a:pPr>
            <a:r>
              <a:rPr lang="zh-CN" altLang="en-US" sz="1800" b="1" dirty="0">
                <a:ea typeface="宋体" panose="02010600030101010101" pitchFamily="2" charset="-122"/>
              </a:rPr>
              <a:t>若要一遍完成：寻找计算语义的正确顺序和方法</a:t>
            </a:r>
            <a:endParaRPr lang="zh-CN" altLang="en-US" sz="1800" b="1" dirty="0">
              <a:ea typeface="宋体" panose="02010600030101010101" pitchFamily="2" charset="-122"/>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第六章	中间代码生成 </a:t>
            </a:r>
            <a:endParaRPr lang="en-US" altLang="zh-CN" dirty="0">
              <a:latin typeface="Times New Roman" panose="02020603050405020304" pitchFamily="18" charset="0"/>
              <a:ea typeface="宋体" panose="02010600030101010101" pitchFamily="2" charset="-122"/>
            </a:endParaRPr>
          </a:p>
        </p:txBody>
      </p:sp>
      <p:sp>
        <p:nvSpPr>
          <p:cNvPr id="15363" name="Rectangle 3"/>
          <p:cNvSpPr>
            <a:spLocks noGrp="1"/>
          </p:cNvSpPr>
          <p:nvPr>
            <p:ph idx="1"/>
          </p:nvPr>
        </p:nvSpPr>
        <p:spPr>
          <a:xfrm>
            <a:off x="990600" y="1371600"/>
            <a:ext cx="7391400" cy="4419600"/>
          </a:xfrm>
        </p:spPr>
        <p:txBody>
          <a:bodyPr vert="horz" wrap="square" lIns="92075" tIns="46038" rIns="92075" bIns="46038" anchor="t" anchorCtr="0"/>
          <a:p>
            <a:pPr>
              <a:spcBef>
                <a:spcPct val="40000"/>
              </a:spcBef>
              <a:spcAft>
                <a:spcPct val="20000"/>
              </a:spcAft>
            </a:pPr>
            <a:r>
              <a:rPr lang="zh-CN" altLang="en-US" sz="3000" b="1" dirty="0">
                <a:solidFill>
                  <a:srgbClr val="FF0000"/>
                </a:solidFill>
                <a:ea typeface="宋体" panose="02010600030101010101" pitchFamily="2" charset="-122"/>
              </a:rPr>
              <a:t>语法树的变体</a:t>
            </a:r>
            <a:endParaRPr lang="en-US" altLang="zh-CN" sz="3000" b="1" dirty="0">
              <a:solidFill>
                <a:srgbClr val="FF0000"/>
              </a:solidFill>
              <a:ea typeface="宋体" panose="02010600030101010101" pitchFamily="2" charset="-122"/>
            </a:endParaRPr>
          </a:p>
          <a:p>
            <a:pPr>
              <a:spcBef>
                <a:spcPct val="40000"/>
              </a:spcBef>
              <a:spcAft>
                <a:spcPct val="20000"/>
              </a:spcAft>
            </a:pPr>
            <a:r>
              <a:rPr lang="zh-CN" altLang="en-US" sz="3000" b="1" dirty="0">
                <a:latin typeface="宋体" panose="02010600030101010101" pitchFamily="2" charset="-122"/>
                <a:ea typeface="宋体" panose="02010600030101010101" pitchFamily="2" charset="-122"/>
              </a:rPr>
              <a:t>三地址代码</a:t>
            </a:r>
            <a:endParaRPr lang="en-US" altLang="zh-CN" sz="3000" b="1" dirty="0">
              <a:latin typeface="宋体" panose="02010600030101010101" pitchFamily="2" charset="-122"/>
              <a:ea typeface="宋体" panose="02010600030101010101" pitchFamily="2" charset="-122"/>
            </a:endParaRPr>
          </a:p>
          <a:p>
            <a:pPr>
              <a:spcBef>
                <a:spcPct val="40000"/>
              </a:spcBef>
              <a:spcAft>
                <a:spcPct val="20000"/>
              </a:spcAft>
            </a:pPr>
            <a:r>
              <a:rPr lang="zh-CN" altLang="en-US" sz="3000" b="1" dirty="0">
                <a:latin typeface="宋体" panose="02010600030101010101" pitchFamily="2" charset="-122"/>
                <a:ea typeface="宋体" panose="02010600030101010101" pitchFamily="2" charset="-122"/>
              </a:rPr>
              <a:t>类型和声明</a:t>
            </a:r>
            <a:endParaRPr lang="en-US" altLang="zh-CN" sz="3000" b="1" dirty="0">
              <a:latin typeface="宋体" panose="02010600030101010101" pitchFamily="2" charset="-122"/>
              <a:ea typeface="宋体" panose="02010600030101010101" pitchFamily="2" charset="-122"/>
            </a:endParaRPr>
          </a:p>
          <a:p>
            <a:pPr>
              <a:spcBef>
                <a:spcPct val="40000"/>
              </a:spcBef>
              <a:spcAft>
                <a:spcPct val="20000"/>
              </a:spcAft>
            </a:pPr>
            <a:r>
              <a:rPr lang="zh-CN" altLang="en-US" sz="3000" b="1" dirty="0">
                <a:latin typeface="宋体" panose="02010600030101010101" pitchFamily="2" charset="-122"/>
                <a:ea typeface="宋体" panose="02010600030101010101" pitchFamily="2" charset="-122"/>
              </a:rPr>
              <a:t>表达式的翻译</a:t>
            </a:r>
            <a:endParaRPr lang="en-US" altLang="zh-CN" sz="3000" b="1" dirty="0">
              <a:latin typeface="宋体" panose="02010600030101010101" pitchFamily="2" charset="-122"/>
              <a:ea typeface="宋体" panose="02010600030101010101" pitchFamily="2" charset="-122"/>
            </a:endParaRPr>
          </a:p>
          <a:p>
            <a:pPr>
              <a:spcBef>
                <a:spcPct val="40000"/>
              </a:spcBef>
              <a:spcAft>
                <a:spcPct val="20000"/>
              </a:spcAft>
            </a:pPr>
            <a:r>
              <a:rPr lang="zh-CN" altLang="en-US" sz="3000" b="1" dirty="0">
                <a:latin typeface="宋体" panose="02010600030101010101" pitchFamily="2" charset="-122"/>
                <a:ea typeface="宋体" panose="02010600030101010101" pitchFamily="2" charset="-122"/>
              </a:rPr>
              <a:t>类型检查</a:t>
            </a:r>
            <a:endParaRPr lang="en-US" altLang="zh-CN" sz="3000" b="1" dirty="0">
              <a:latin typeface="宋体" panose="02010600030101010101" pitchFamily="2" charset="-122"/>
              <a:ea typeface="宋体" panose="02010600030101010101" pitchFamily="2" charset="-122"/>
            </a:endParaRPr>
          </a:p>
          <a:p>
            <a:pPr>
              <a:spcBef>
                <a:spcPct val="40000"/>
              </a:spcBef>
              <a:spcAft>
                <a:spcPct val="20000"/>
              </a:spcAft>
            </a:pPr>
            <a:r>
              <a:rPr lang="zh-CN" altLang="en-US" sz="3000" b="1" dirty="0">
                <a:latin typeface="宋体" panose="02010600030101010101" pitchFamily="2" charset="-122"/>
                <a:ea typeface="宋体" panose="02010600030101010101" pitchFamily="2" charset="-122"/>
              </a:rPr>
              <a:t>控制流、回填、</a:t>
            </a:r>
            <a:r>
              <a:rPr lang="en-US" altLang="zh-CN" sz="3000" b="1" dirty="0">
                <a:latin typeface="宋体" panose="02010600030101010101" pitchFamily="2" charset="-122"/>
                <a:ea typeface="宋体" panose="02010600030101010101" pitchFamily="2" charset="-122"/>
              </a:rPr>
              <a:t>switch</a:t>
            </a:r>
            <a:r>
              <a:rPr lang="zh-CN" altLang="en-US" sz="3000" b="1" dirty="0">
                <a:latin typeface="宋体" panose="02010600030101010101" pitchFamily="2" charset="-122"/>
                <a:ea typeface="宋体" panose="02010600030101010101" pitchFamily="2" charset="-122"/>
              </a:rPr>
              <a:t>语句</a:t>
            </a:r>
            <a:endParaRPr lang="en-US" altLang="zh-CN" sz="3000" b="1" dirty="0">
              <a:latin typeface="宋体" panose="02010600030101010101" pitchFamily="2" charset="-122"/>
              <a:ea typeface="宋体" panose="02010600030101010101" pitchFamily="2" charset="-122"/>
            </a:endParaRPr>
          </a:p>
          <a:p>
            <a:pPr>
              <a:spcBef>
                <a:spcPct val="40000"/>
              </a:spcBef>
              <a:spcAft>
                <a:spcPct val="20000"/>
              </a:spcAft>
            </a:pPr>
            <a:r>
              <a:rPr lang="zh-CN" altLang="en-US" sz="3000" b="1" dirty="0">
                <a:latin typeface="宋体" panose="02010600030101010101" pitchFamily="2" charset="-122"/>
                <a:ea typeface="宋体" panose="02010600030101010101" pitchFamily="2" charset="-122"/>
              </a:rPr>
              <a:t>过程的中间代码</a:t>
            </a:r>
            <a:endParaRPr lang="zh-CN" altLang="en-US" sz="30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050"/>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语法树的变体（1）</a:t>
            </a:r>
            <a:endParaRPr lang="zh-CN" altLang="en-US" dirty="0">
              <a:latin typeface="Times New Roman" panose="02020603050405020304" pitchFamily="18" charset="0"/>
              <a:ea typeface="宋体" panose="02010600030101010101" pitchFamily="2" charset="-122"/>
            </a:endParaRPr>
          </a:p>
        </p:txBody>
      </p:sp>
      <p:sp>
        <p:nvSpPr>
          <p:cNvPr id="17411" name="Rectangle 3"/>
          <p:cNvSpPr txBox="1"/>
          <p:nvPr/>
        </p:nvSpPr>
        <p:spPr>
          <a:xfrm>
            <a:off x="914400" y="1524000"/>
            <a:ext cx="7689850" cy="48006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342900" lvl="0" indent="-342900">
              <a:lnSpc>
                <a:spcPct val="80000"/>
              </a:lnSpc>
            </a:pPr>
            <a:r>
              <a:rPr lang="en-US" altLang="zh-CN" sz="2800" b="1" dirty="0">
                <a:ea typeface="宋体" panose="02010600030101010101" pitchFamily="2" charset="-122"/>
              </a:rPr>
              <a:t>DAG：</a:t>
            </a:r>
            <a:r>
              <a:rPr lang="zh-CN" altLang="en-US" sz="2800" b="1" dirty="0">
                <a:ea typeface="宋体" panose="02010600030101010101" pitchFamily="2" charset="-122"/>
              </a:rPr>
              <a:t>针对表达式的</a:t>
            </a:r>
            <a:r>
              <a:rPr lang="en-US" altLang="zh-CN" sz="2800" b="1" dirty="0">
                <a:ea typeface="宋体" panose="02010600030101010101" pitchFamily="2" charset="-122"/>
              </a:rPr>
              <a:t>DAG</a:t>
            </a:r>
            <a:endParaRPr lang="en-US" altLang="zh-CN" sz="2800" b="1" dirty="0">
              <a:ea typeface="宋体" panose="02010600030101010101" pitchFamily="2" charset="-122"/>
            </a:endParaRPr>
          </a:p>
          <a:p>
            <a:pPr marL="742950" lvl="1" indent="-285750">
              <a:lnSpc>
                <a:spcPct val="80000"/>
              </a:lnSpc>
            </a:pPr>
            <a:r>
              <a:rPr lang="en-US" altLang="zh-CN" b="1" dirty="0">
                <a:ea typeface="宋体" panose="02010600030101010101" pitchFamily="2" charset="-122"/>
              </a:rPr>
              <a:t>DAG：Directed Acyclic Graph，</a:t>
            </a:r>
            <a:r>
              <a:rPr lang="zh-CN" altLang="en-US" b="1" dirty="0">
                <a:ea typeface="宋体" panose="02010600030101010101" pitchFamily="2" charset="-122"/>
              </a:rPr>
              <a:t>有向无环图</a:t>
            </a:r>
            <a:endParaRPr lang="zh-CN" altLang="en-US" b="1" dirty="0">
              <a:ea typeface="宋体" panose="02010600030101010101" pitchFamily="2" charset="-122"/>
            </a:endParaRPr>
          </a:p>
          <a:p>
            <a:pPr marL="742950" lvl="1" indent="-285750">
              <a:lnSpc>
                <a:spcPct val="80000"/>
              </a:lnSpc>
            </a:pPr>
            <a:r>
              <a:rPr lang="zh-CN" altLang="en-US" b="1" dirty="0">
                <a:ea typeface="宋体" panose="02010600030101010101" pitchFamily="2" charset="-122"/>
              </a:rPr>
              <a:t>考虑表达式：</a:t>
            </a:r>
            <a:r>
              <a:rPr lang="en-US" altLang="zh-CN" b="1" dirty="0">
                <a:ea typeface="宋体" panose="02010600030101010101" pitchFamily="2" charset="-122"/>
              </a:rPr>
              <a:t>a + a * ( b – c ) + ( b – c ) * d</a:t>
            </a:r>
            <a:r>
              <a:rPr lang="zh-CN" altLang="en-US" b="1" dirty="0">
                <a:ea typeface="宋体" panose="02010600030101010101" pitchFamily="2" charset="-122"/>
              </a:rPr>
              <a:t>的语法树</a:t>
            </a:r>
            <a:endParaRPr lang="zh-CN" altLang="en-US" b="1" dirty="0">
              <a:ea typeface="宋体" panose="02010600030101010101" pitchFamily="2" charset="-122"/>
            </a:endParaRPr>
          </a:p>
          <a:p>
            <a:pPr marL="1143000" lvl="2" indent="-228600">
              <a:lnSpc>
                <a:spcPct val="80000"/>
              </a:lnSpc>
            </a:pPr>
            <a:r>
              <a:rPr lang="zh-CN" altLang="en-US" sz="2000" b="1" dirty="0">
                <a:ea typeface="宋体" panose="02010600030101010101" pitchFamily="2" charset="-122"/>
              </a:rPr>
              <a:t>过于复杂，而且有重复的结点，如何简化？</a:t>
            </a:r>
            <a:endParaRPr lang="zh-CN" altLang="en-US" sz="2000" b="1" dirty="0">
              <a:ea typeface="宋体" panose="02010600030101010101" pitchFamily="2" charset="-122"/>
            </a:endParaRPr>
          </a:p>
          <a:p>
            <a:pPr marL="1143000" lvl="2" indent="-228600">
              <a:lnSpc>
                <a:spcPct val="80000"/>
              </a:lnSpc>
            </a:pPr>
            <a:r>
              <a:rPr lang="zh-CN" altLang="en-US" sz="2000" b="1" dirty="0">
                <a:ea typeface="宋体" panose="02010600030101010101" pitchFamily="2" charset="-122"/>
              </a:rPr>
              <a:t>两个</a:t>
            </a:r>
            <a:r>
              <a:rPr lang="en-US" altLang="zh-CN" sz="2000" b="1" dirty="0">
                <a:ea typeface="宋体" panose="02010600030101010101" pitchFamily="2" charset="-122"/>
              </a:rPr>
              <a:t>a</a:t>
            </a:r>
            <a:r>
              <a:rPr lang="zh-CN" altLang="en-US" sz="2000" b="1" dirty="0">
                <a:ea typeface="宋体" panose="02010600030101010101" pitchFamily="2" charset="-122"/>
              </a:rPr>
              <a:t>的出现是可以用一个结点表示的，而两个表达式( </a:t>
            </a:r>
            <a:r>
              <a:rPr lang="en-US" altLang="zh-CN" sz="2000" b="1" dirty="0">
                <a:ea typeface="宋体" panose="02010600030101010101" pitchFamily="2" charset="-122"/>
              </a:rPr>
              <a:t>b – c )</a:t>
            </a:r>
            <a:r>
              <a:rPr lang="zh-CN" altLang="en-US" sz="2000" b="1" dirty="0">
                <a:ea typeface="宋体" panose="02010600030101010101" pitchFamily="2" charset="-122"/>
              </a:rPr>
              <a:t>也是可以用一个结点表示的</a:t>
            </a:r>
            <a:endParaRPr lang="zh-CN" altLang="en-US" sz="2000" b="1" dirty="0">
              <a:ea typeface="宋体" panose="02010600030101010101" pitchFamily="2" charset="-122"/>
            </a:endParaRPr>
          </a:p>
          <a:p>
            <a:pPr marL="1143000" lvl="2" indent="-228600">
              <a:lnSpc>
                <a:spcPct val="80000"/>
              </a:lnSpc>
            </a:pPr>
            <a:r>
              <a:rPr lang="zh-CN" altLang="en-US" sz="2000" b="1" dirty="0">
                <a:ea typeface="宋体" panose="02010600030101010101" pitchFamily="2" charset="-122"/>
              </a:rPr>
              <a:t>这类表达式称为公共子表达式</a:t>
            </a:r>
            <a:endParaRPr lang="zh-CN" altLang="en-US" sz="2000" b="1" dirty="0">
              <a:ea typeface="宋体" panose="02010600030101010101" pitchFamily="2" charset="-122"/>
            </a:endParaRPr>
          </a:p>
          <a:p>
            <a:pPr marL="742950" lvl="1" indent="-285750">
              <a:lnSpc>
                <a:spcPct val="80000"/>
              </a:lnSpc>
            </a:pPr>
            <a:r>
              <a:rPr lang="en-US" altLang="zh-CN" b="1" dirty="0">
                <a:ea typeface="宋体" panose="02010600030101010101" pitchFamily="2" charset="-122"/>
              </a:rPr>
              <a:t>DAG</a:t>
            </a:r>
            <a:r>
              <a:rPr lang="zh-CN" altLang="en-US" b="1" dirty="0">
                <a:ea typeface="宋体" panose="02010600030101010101" pitchFamily="2" charset="-122"/>
              </a:rPr>
              <a:t>可以简化语法树的表示：</a:t>
            </a:r>
            <a:endParaRPr lang="zh-CN" altLang="en-US" b="1" dirty="0">
              <a:ea typeface="宋体" panose="02010600030101010101" pitchFamily="2" charset="-122"/>
            </a:endParaRPr>
          </a:p>
          <a:p>
            <a:pPr marL="1143000" lvl="2" indent="-228600">
              <a:lnSpc>
                <a:spcPct val="80000"/>
              </a:lnSpc>
            </a:pPr>
            <a:r>
              <a:rPr lang="zh-CN" altLang="en-US" sz="2000" b="1" dirty="0">
                <a:ea typeface="宋体" panose="02010600030101010101" pitchFamily="2" charset="-122"/>
              </a:rPr>
              <a:t>标识了公共子表达式</a:t>
            </a:r>
            <a:endParaRPr lang="zh-CN" altLang="en-US" sz="2000" b="1" dirty="0">
              <a:ea typeface="宋体" panose="02010600030101010101" pitchFamily="2" charset="-122"/>
            </a:endParaRPr>
          </a:p>
          <a:p>
            <a:pPr marL="1143000" lvl="2" indent="-228600">
              <a:lnSpc>
                <a:spcPct val="80000"/>
              </a:lnSpc>
            </a:pPr>
            <a:r>
              <a:rPr lang="zh-CN" altLang="en-US" sz="2000" b="1" dirty="0">
                <a:ea typeface="宋体" panose="02010600030101010101" pitchFamily="2" charset="-122"/>
              </a:rPr>
              <a:t>公共子表达式不止有一个父结点</a:t>
            </a:r>
            <a:endParaRPr lang="zh-CN" altLang="en-US" sz="2000" b="1" dirty="0">
              <a:ea typeface="宋体" panose="02010600030101010101" pitchFamily="2" charset="-122"/>
            </a:endParaRPr>
          </a:p>
          <a:p>
            <a:pPr marL="742950" lvl="1" indent="-285750">
              <a:lnSpc>
                <a:spcPct val="80000"/>
              </a:lnSpc>
            </a:pPr>
            <a:r>
              <a:rPr lang="zh-CN" altLang="en-US" b="1" dirty="0">
                <a:ea typeface="宋体" panose="02010600030101010101" pitchFamily="2" charset="-122"/>
              </a:rPr>
              <a:t>可以通过修改构造结点的函数来构造</a:t>
            </a:r>
            <a:r>
              <a:rPr lang="en-US" altLang="zh-CN" b="1" dirty="0">
                <a:ea typeface="宋体" panose="02010600030101010101" pitchFamily="2" charset="-122"/>
              </a:rPr>
              <a:t>dag，</a:t>
            </a:r>
            <a:r>
              <a:rPr lang="zh-CN" altLang="en-US" b="1" dirty="0">
                <a:ea typeface="宋体" panose="02010600030101010101" pitchFamily="2" charset="-122"/>
              </a:rPr>
              <a:t>而不是语法树</a:t>
            </a:r>
            <a:endParaRPr lang="zh-CN" altLang="en-US" b="1" dirty="0">
              <a:ea typeface="宋体" panose="02010600030101010101" pitchFamily="2" charset="-122"/>
            </a:endParaRPr>
          </a:p>
          <a:p>
            <a:pPr marL="1143000" lvl="2" indent="-228600">
              <a:lnSpc>
                <a:spcPct val="80000"/>
              </a:lnSpc>
            </a:pPr>
            <a:r>
              <a:rPr lang="zh-CN" altLang="en-US" sz="2000" b="1" dirty="0">
                <a:ea typeface="宋体" panose="02010600030101010101" pitchFamily="2" charset="-122"/>
              </a:rPr>
              <a:t>首先，检查要构造的结点是否有相同的结点已存在</a:t>
            </a:r>
            <a:endParaRPr lang="zh-CN" altLang="en-US" sz="2000" b="1" dirty="0">
              <a:ea typeface="宋体" panose="02010600030101010101" pitchFamily="2" charset="-122"/>
            </a:endParaRPr>
          </a:p>
          <a:p>
            <a:pPr marL="1143000" lvl="2" indent="-228600">
              <a:lnSpc>
                <a:spcPct val="80000"/>
              </a:lnSpc>
            </a:pPr>
            <a:r>
              <a:rPr lang="zh-CN" altLang="en-US" sz="2000" b="1" dirty="0">
                <a:ea typeface="宋体" panose="02010600030101010101" pitchFamily="2" charset="-122"/>
              </a:rPr>
              <a:t>但是，这种检查可能是开销巨大的</a:t>
            </a:r>
            <a:endParaRPr lang="zh-CN" altLang="en-US" sz="2000" b="1" dirty="0">
              <a:ea typeface="宋体" panose="02010600030101010101" pitchFamily="2" charset="-122"/>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050"/>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语法树的变体（</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9459" name="Rectangle 3"/>
          <p:cNvSpPr txBox="1"/>
          <p:nvPr/>
        </p:nvSpPr>
        <p:spPr>
          <a:xfrm>
            <a:off x="990600" y="1524000"/>
            <a:ext cx="7391400" cy="48006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342900" lvl="0" indent="-342900">
              <a:lnSpc>
                <a:spcPct val="80000"/>
              </a:lnSpc>
            </a:pPr>
            <a:r>
              <a:rPr lang="zh-CN" altLang="en-US" sz="2800" b="1" dirty="0">
                <a:ea typeface="宋体" panose="02010600030101010101" pitchFamily="2" charset="-122"/>
              </a:rPr>
              <a:t>生成语法树或</a:t>
            </a:r>
            <a:r>
              <a:rPr lang="en-US" altLang="zh-CN" sz="2800" b="1" dirty="0">
                <a:ea typeface="宋体" panose="02010600030101010101" pitchFamily="2" charset="-122"/>
              </a:rPr>
              <a:t>DAG</a:t>
            </a:r>
            <a:r>
              <a:rPr lang="zh-CN" altLang="en-US" sz="2800" b="1" dirty="0">
                <a:ea typeface="宋体" panose="02010600030101010101" pitchFamily="2" charset="-122"/>
              </a:rPr>
              <a:t>的语法制导定义</a:t>
            </a:r>
            <a:endParaRPr lang="en-US" altLang="zh-CN" sz="2800" b="1" dirty="0">
              <a:ea typeface="宋体" panose="02010600030101010101" pitchFamily="2" charset="-122"/>
            </a:endParaRPr>
          </a:p>
          <a:p>
            <a:pPr marL="742950" lvl="1" indent="-285750">
              <a:lnSpc>
                <a:spcPct val="80000"/>
              </a:lnSpc>
            </a:pPr>
            <a:r>
              <a:rPr lang="zh-CN" altLang="en-US" b="1" dirty="0">
                <a:ea typeface="宋体" panose="02010600030101010101" pitchFamily="2" charset="-122"/>
              </a:rPr>
              <a:t>在每次</a:t>
            </a:r>
            <a:r>
              <a:rPr lang="en-US" altLang="zh-CN" b="1" dirty="0">
                <a:ea typeface="宋体" panose="02010600030101010101" pitchFamily="2" charset="-122"/>
              </a:rPr>
              <a:t>new</a:t>
            </a:r>
            <a:r>
              <a:rPr lang="zh-CN" altLang="en-US" b="1" dirty="0">
                <a:ea typeface="宋体" panose="02010600030101010101" pitchFamily="2" charset="-122"/>
              </a:rPr>
              <a:t>一个结点时，要查重</a:t>
            </a:r>
            <a:endParaRPr lang="en-US" altLang="zh-CN" b="1" dirty="0">
              <a:ea typeface="宋体" panose="02010600030101010101" pitchFamily="2" charset="-122"/>
            </a:endParaRPr>
          </a:p>
        </p:txBody>
      </p:sp>
      <p:pic>
        <p:nvPicPr>
          <p:cNvPr id="19460" name="Picture 2"/>
          <p:cNvPicPr>
            <a:picLocks noChangeAspect="1"/>
          </p:cNvPicPr>
          <p:nvPr/>
        </p:nvPicPr>
        <p:blipFill>
          <a:blip r:embed="rId1"/>
          <a:stretch>
            <a:fillRect/>
          </a:stretch>
        </p:blipFill>
        <p:spPr>
          <a:xfrm>
            <a:off x="304800" y="2420938"/>
            <a:ext cx="8510588" cy="3911600"/>
          </a:xfrm>
          <a:prstGeom prst="rect">
            <a:avLst/>
          </a:prstGeom>
          <a:noFill/>
          <a:ln w="9525">
            <a:noFill/>
          </a:ln>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506" name="Picture 2"/>
          <p:cNvPicPr>
            <a:picLocks noChangeAspect="1"/>
          </p:cNvPicPr>
          <p:nvPr/>
        </p:nvPicPr>
        <p:blipFill>
          <a:blip r:embed="rId1"/>
          <a:stretch>
            <a:fillRect/>
          </a:stretch>
        </p:blipFill>
        <p:spPr>
          <a:xfrm>
            <a:off x="533400" y="228600"/>
            <a:ext cx="7681913" cy="6226175"/>
          </a:xfrm>
          <a:prstGeom prst="rect">
            <a:avLst/>
          </a:prstGeom>
          <a:noFill/>
          <a:ln w="9525">
            <a:noFill/>
          </a:ln>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050"/>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语法树的变体（</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graphicFrame>
        <p:nvGraphicFramePr>
          <p:cNvPr id="22531" name="Object 5"/>
          <p:cNvGraphicFramePr>
            <a:graphicFrameLocks noChangeAspect="1"/>
          </p:cNvGraphicFramePr>
          <p:nvPr/>
        </p:nvGraphicFramePr>
        <p:xfrm>
          <a:off x="2209800" y="1524000"/>
          <a:ext cx="3257550" cy="2133600"/>
        </p:xfrm>
        <a:graphic>
          <a:graphicData uri="http://schemas.openxmlformats.org/presentationml/2006/ole">
            <mc:AlternateContent xmlns:mc="http://schemas.openxmlformats.org/markup-compatibility/2006">
              <mc:Choice xmlns:v="urn:schemas-microsoft-com:vml" Requires="v">
                <p:oleObj spid="_x0000_s3076" name="" r:id="rId1" imgW="3252470" imgH="2139950" progId="Visio.Drawing.6">
                  <p:embed/>
                </p:oleObj>
              </mc:Choice>
              <mc:Fallback>
                <p:oleObj name="" r:id="rId1" imgW="3252470" imgH="2139950" progId="Visio.Drawing.6">
                  <p:embed/>
                  <p:pic>
                    <p:nvPicPr>
                      <p:cNvPr id="0" name="图片 3075"/>
                      <p:cNvPicPr/>
                      <p:nvPr/>
                    </p:nvPicPr>
                    <p:blipFill>
                      <a:blip r:embed="rId2"/>
                      <a:stretch>
                        <a:fillRect/>
                      </a:stretch>
                    </p:blipFill>
                    <p:spPr>
                      <a:xfrm>
                        <a:off x="2209800" y="1524000"/>
                        <a:ext cx="3257550" cy="2133600"/>
                      </a:xfrm>
                      <a:prstGeom prst="rect">
                        <a:avLst/>
                      </a:prstGeom>
                      <a:noFill/>
                      <a:ln w="38100">
                        <a:noFill/>
                        <a:miter/>
                      </a:ln>
                    </p:spPr>
                  </p:pic>
                </p:oleObj>
              </mc:Fallback>
            </mc:AlternateContent>
          </a:graphicData>
        </a:graphic>
      </p:graphicFrame>
      <p:sp>
        <p:nvSpPr>
          <p:cNvPr id="22532" name="Rectangle 6"/>
          <p:cNvSpPr txBox="1"/>
          <p:nvPr/>
        </p:nvSpPr>
        <p:spPr>
          <a:xfrm>
            <a:off x="990600" y="1524000"/>
            <a:ext cx="7391400" cy="48006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342900" lvl="0" indent="-342900">
              <a:lnSpc>
                <a:spcPct val="80000"/>
              </a:lnSpc>
            </a:pPr>
            <a:endParaRPr lang="en-US" altLang="zh-CN" sz="2800" b="1" dirty="0">
              <a:ea typeface="宋体" panose="02010600030101010101" pitchFamily="2" charset="-122"/>
            </a:endParaRPr>
          </a:p>
          <a:p>
            <a:pPr marL="342900" lvl="0" indent="-342900">
              <a:lnSpc>
                <a:spcPct val="80000"/>
              </a:lnSpc>
            </a:pPr>
            <a:endParaRPr lang="en-US" altLang="zh-CN" sz="2800" b="1" dirty="0">
              <a:ea typeface="宋体" panose="02010600030101010101" pitchFamily="2" charset="-122"/>
            </a:endParaRPr>
          </a:p>
          <a:p>
            <a:pPr marL="342900" lvl="0" indent="-342900">
              <a:lnSpc>
                <a:spcPct val="80000"/>
              </a:lnSpc>
            </a:pPr>
            <a:endParaRPr lang="en-US" altLang="zh-CN" sz="2800" b="1" dirty="0">
              <a:ea typeface="宋体" panose="02010600030101010101" pitchFamily="2" charset="-122"/>
            </a:endParaRPr>
          </a:p>
          <a:p>
            <a:pPr marL="342900" lvl="0" indent="-342900">
              <a:lnSpc>
                <a:spcPct val="80000"/>
              </a:lnSpc>
            </a:pPr>
            <a:endParaRPr lang="en-US" altLang="zh-CN" sz="2800" b="1" dirty="0">
              <a:ea typeface="宋体" panose="02010600030101010101" pitchFamily="2" charset="-122"/>
            </a:endParaRPr>
          </a:p>
          <a:p>
            <a:pPr marL="342900" lvl="0" indent="-342900">
              <a:lnSpc>
                <a:spcPct val="80000"/>
              </a:lnSpc>
            </a:pPr>
            <a:endParaRPr lang="en-US" altLang="zh-CN" sz="2800" b="1" dirty="0">
              <a:ea typeface="宋体" panose="02010600030101010101" pitchFamily="2" charset="-122"/>
            </a:endParaRPr>
          </a:p>
          <a:p>
            <a:pPr marL="342900" lvl="0" indent="-342900">
              <a:lnSpc>
                <a:spcPct val="80000"/>
              </a:lnSpc>
            </a:pPr>
            <a:endParaRPr lang="en-US" altLang="zh-CN" sz="2800" b="1" dirty="0">
              <a:ea typeface="宋体" panose="02010600030101010101" pitchFamily="2" charset="-122"/>
            </a:endParaRPr>
          </a:p>
          <a:p>
            <a:pPr marL="342900" lvl="0" indent="-342900">
              <a:lnSpc>
                <a:spcPct val="80000"/>
              </a:lnSpc>
            </a:pPr>
            <a:r>
              <a:rPr lang="en-US" altLang="zh-CN" sz="2800" b="1" dirty="0">
                <a:ea typeface="宋体" panose="02010600030101010101" pitchFamily="2" charset="-122"/>
              </a:rPr>
              <a:t>Dag</a:t>
            </a:r>
            <a:r>
              <a:rPr lang="zh-CN" altLang="en-US" sz="2800" b="1" dirty="0">
                <a:ea typeface="宋体" panose="02010600030101010101" pitchFamily="2" charset="-122"/>
              </a:rPr>
              <a:t>的作用：</a:t>
            </a:r>
            <a:endParaRPr lang="zh-CN" altLang="en-US" sz="2800" b="1" dirty="0">
              <a:ea typeface="宋体" panose="02010600030101010101" pitchFamily="2" charset="-122"/>
            </a:endParaRPr>
          </a:p>
          <a:p>
            <a:pPr marL="742950" lvl="1" indent="-285750">
              <a:lnSpc>
                <a:spcPct val="80000"/>
              </a:lnSpc>
            </a:pPr>
            <a:r>
              <a:rPr lang="zh-CN" altLang="en-US" b="1" dirty="0">
                <a:ea typeface="宋体" panose="02010600030101010101" pitchFamily="2" charset="-122"/>
              </a:rPr>
              <a:t>简化语法树的表示</a:t>
            </a:r>
            <a:endParaRPr lang="zh-CN" altLang="en-US" b="1" dirty="0">
              <a:ea typeface="宋体" panose="02010600030101010101" pitchFamily="2" charset="-122"/>
            </a:endParaRPr>
          </a:p>
          <a:p>
            <a:pPr marL="1143000" lvl="2" indent="-228600">
              <a:lnSpc>
                <a:spcPct val="80000"/>
              </a:lnSpc>
            </a:pPr>
            <a:r>
              <a:rPr lang="zh-CN" altLang="en-US" b="1" dirty="0">
                <a:ea typeface="宋体" panose="02010600030101010101" pitchFamily="2" charset="-122"/>
              </a:rPr>
              <a:t>结点减少</a:t>
            </a:r>
            <a:endParaRPr lang="zh-CN" altLang="en-US" b="1" dirty="0">
              <a:ea typeface="宋体" panose="02010600030101010101" pitchFamily="2" charset="-122"/>
            </a:endParaRPr>
          </a:p>
          <a:p>
            <a:pPr marL="1143000" lvl="2" indent="-228600">
              <a:lnSpc>
                <a:spcPct val="80000"/>
              </a:lnSpc>
            </a:pPr>
            <a:r>
              <a:rPr lang="zh-CN" altLang="en-US" b="1" dirty="0">
                <a:ea typeface="宋体" panose="02010600030101010101" pitchFamily="2" charset="-122"/>
              </a:rPr>
              <a:t>要完成的语义分析工作减少：如类型检查的工作可以减少</a:t>
            </a:r>
            <a:endParaRPr lang="en-US" altLang="zh-CN" b="1" dirty="0">
              <a:ea typeface="宋体" panose="02010600030101010101" pitchFamily="2" charset="-122"/>
            </a:endParaRPr>
          </a:p>
          <a:p>
            <a:pPr marL="742950" lvl="1" indent="-285750">
              <a:lnSpc>
                <a:spcPct val="80000"/>
              </a:lnSpc>
            </a:pPr>
            <a:r>
              <a:rPr lang="zh-CN" altLang="en-US" b="1" dirty="0">
                <a:ea typeface="宋体" panose="02010600030101010101" pitchFamily="2" charset="-122"/>
              </a:rPr>
              <a:t>优化过程中要使用</a:t>
            </a:r>
            <a:endParaRPr lang="zh-CN" altLang="en-US" b="1" dirty="0">
              <a:ea typeface="宋体" panose="02010600030101010101" pitchFamily="2" charset="-122"/>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050"/>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语法树的变体（</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4579" name="Rectangle 3"/>
          <p:cNvSpPr txBox="1"/>
          <p:nvPr/>
        </p:nvSpPr>
        <p:spPr>
          <a:xfrm>
            <a:off x="914400" y="1371600"/>
            <a:ext cx="7689850" cy="4986338"/>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342900" lvl="0" indent="-342900">
              <a:lnSpc>
                <a:spcPct val="80000"/>
              </a:lnSpc>
            </a:pPr>
            <a:r>
              <a:rPr lang="en-US" altLang="zh-CN" sz="2800" b="1" dirty="0">
                <a:ea typeface="宋体" panose="02010600030101010101" pitchFamily="2" charset="-122"/>
              </a:rPr>
              <a:t>DAG</a:t>
            </a:r>
            <a:r>
              <a:rPr lang="zh-CN" altLang="en-US" sz="2800" b="1" dirty="0">
                <a:ea typeface="宋体" panose="02010600030101010101" pitchFamily="2" charset="-122"/>
              </a:rPr>
              <a:t>的值编码方法</a:t>
            </a:r>
            <a:endParaRPr lang="en-US" altLang="zh-CN" sz="2800" b="1" dirty="0">
              <a:ea typeface="宋体" panose="02010600030101010101" pitchFamily="2" charset="-122"/>
            </a:endParaRPr>
          </a:p>
          <a:p>
            <a:pPr marL="742950" lvl="1" indent="-285750">
              <a:lnSpc>
                <a:spcPct val="80000"/>
              </a:lnSpc>
            </a:pPr>
            <a:r>
              <a:rPr lang="zh-CN" altLang="en-US" b="1" dirty="0">
                <a:ea typeface="宋体" panose="02010600030101010101" pitchFamily="2" charset="-122"/>
              </a:rPr>
              <a:t>可以将语法树或</a:t>
            </a:r>
            <a:r>
              <a:rPr lang="en-US" altLang="zh-CN" b="1" dirty="0">
                <a:ea typeface="宋体" panose="02010600030101010101" pitchFamily="2" charset="-122"/>
              </a:rPr>
              <a:t>DAG</a:t>
            </a:r>
            <a:r>
              <a:rPr lang="zh-CN" altLang="en-US" b="1" dirty="0">
                <a:ea typeface="宋体" panose="02010600030101010101" pitchFamily="2" charset="-122"/>
              </a:rPr>
              <a:t>存放在一个记录数组中</a:t>
            </a:r>
            <a:endParaRPr lang="en-US" altLang="zh-CN" b="1" dirty="0">
              <a:ea typeface="宋体" panose="02010600030101010101" pitchFamily="2" charset="-122"/>
            </a:endParaRPr>
          </a:p>
          <a:p>
            <a:pPr marL="1143000" lvl="2" indent="-228600">
              <a:lnSpc>
                <a:spcPct val="80000"/>
              </a:lnSpc>
            </a:pPr>
            <a:r>
              <a:rPr lang="zh-CN" altLang="en-US" b="1" dirty="0">
                <a:ea typeface="宋体" panose="02010600030101010101" pitchFamily="2" charset="-122"/>
              </a:rPr>
              <a:t>数组的每一行表示一个记录（结点），用三元组表示</a:t>
            </a:r>
            <a:r>
              <a:rPr lang="en-US" altLang="zh-CN" b="1" dirty="0">
                <a:ea typeface="宋体" panose="02010600030101010101" pitchFamily="2" charset="-122"/>
              </a:rPr>
              <a:t>&lt;</a:t>
            </a:r>
            <a:r>
              <a:rPr lang="en-US" altLang="zh-CN" i="1" dirty="0">
                <a:ea typeface="宋体" panose="02010600030101010101" pitchFamily="2" charset="-122"/>
              </a:rPr>
              <a:t>op</a:t>
            </a:r>
            <a:r>
              <a:rPr lang="zh-CN" altLang="en-US" i="1" dirty="0">
                <a:ea typeface="宋体" panose="02010600030101010101" pitchFamily="2" charset="-122"/>
              </a:rPr>
              <a:t>，</a:t>
            </a:r>
            <a:r>
              <a:rPr lang="en-US" altLang="zh-CN" i="1" dirty="0">
                <a:ea typeface="宋体" panose="02010600030101010101" pitchFamily="2" charset="-122"/>
              </a:rPr>
              <a:t>l</a:t>
            </a:r>
            <a:r>
              <a:rPr lang="zh-CN" altLang="en-US" i="1" dirty="0">
                <a:ea typeface="宋体" panose="02010600030101010101" pitchFamily="2" charset="-122"/>
              </a:rPr>
              <a:t>，</a:t>
            </a:r>
            <a:r>
              <a:rPr lang="en-US" altLang="zh-CN" i="1" dirty="0">
                <a:ea typeface="宋体" panose="02010600030101010101" pitchFamily="2" charset="-122"/>
              </a:rPr>
              <a:t>r</a:t>
            </a:r>
            <a:r>
              <a:rPr lang="en-US" altLang="zh-CN" b="1" dirty="0">
                <a:ea typeface="宋体" panose="02010600030101010101" pitchFamily="2" charset="-122"/>
              </a:rPr>
              <a:t>&gt;</a:t>
            </a:r>
            <a:endParaRPr lang="en-US" altLang="zh-CN" b="1" dirty="0">
              <a:ea typeface="宋体" panose="02010600030101010101" pitchFamily="2" charset="-122"/>
            </a:endParaRPr>
          </a:p>
          <a:p>
            <a:pPr marL="1600200" lvl="3" indent="-228600">
              <a:lnSpc>
                <a:spcPct val="80000"/>
              </a:lnSpc>
            </a:pPr>
            <a:r>
              <a:rPr lang="zh-CN" altLang="en-US" b="1" dirty="0">
                <a:ea typeface="宋体" panose="02010600030101010101" pitchFamily="2" charset="-122"/>
              </a:rPr>
              <a:t>记录的第一个字段是运算符代码，也是该结点的标号</a:t>
            </a:r>
            <a:endParaRPr lang="en-US" altLang="zh-CN" b="1" dirty="0">
              <a:ea typeface="宋体" panose="02010600030101010101" pitchFamily="2" charset="-122"/>
            </a:endParaRPr>
          </a:p>
          <a:p>
            <a:pPr marL="1600200" lvl="3" indent="-228600">
              <a:lnSpc>
                <a:spcPct val="80000"/>
              </a:lnSpc>
            </a:pPr>
            <a:r>
              <a:rPr lang="zh-CN" altLang="en-US" b="1" dirty="0">
                <a:ea typeface="宋体" panose="02010600030101010101" pitchFamily="2" charset="-122"/>
              </a:rPr>
              <a:t>叶子结点有一个附加字段，存放词法值</a:t>
            </a:r>
            <a:endParaRPr lang="en-US" altLang="zh-CN" b="1" dirty="0">
              <a:ea typeface="宋体" panose="02010600030101010101" pitchFamily="2" charset="-122"/>
            </a:endParaRPr>
          </a:p>
          <a:p>
            <a:pPr marL="1600200" lvl="3" indent="-228600">
              <a:lnSpc>
                <a:spcPct val="80000"/>
              </a:lnSpc>
            </a:pPr>
            <a:r>
              <a:rPr lang="zh-CN" altLang="en-US" b="1" dirty="0">
                <a:ea typeface="宋体" panose="02010600030101010101" pitchFamily="2" charset="-122"/>
              </a:rPr>
              <a:t>内部结点有两个附加字段，指向左右子结点</a:t>
            </a:r>
            <a:endParaRPr lang="en-US" altLang="zh-CN" b="1" dirty="0">
              <a:ea typeface="宋体" panose="02010600030101010101" pitchFamily="2" charset="-122"/>
            </a:endParaRPr>
          </a:p>
          <a:p>
            <a:pPr marL="342900" lvl="0" indent="-342900">
              <a:lnSpc>
                <a:spcPct val="80000"/>
              </a:lnSpc>
            </a:pPr>
            <a:endParaRPr lang="en-US" altLang="zh-CN" sz="2900" b="1" dirty="0">
              <a:ea typeface="宋体" panose="02010600030101010101" pitchFamily="2" charset="-122"/>
            </a:endParaRPr>
          </a:p>
          <a:p>
            <a:pPr marL="342900" lvl="0" indent="-342900">
              <a:lnSpc>
                <a:spcPct val="80000"/>
              </a:lnSpc>
            </a:pPr>
            <a:endParaRPr lang="en-US" altLang="zh-CN" sz="2900" b="1" dirty="0">
              <a:ea typeface="宋体" panose="02010600030101010101" pitchFamily="2" charset="-122"/>
            </a:endParaRPr>
          </a:p>
          <a:p>
            <a:pPr marL="342900" lvl="0" indent="-342900">
              <a:lnSpc>
                <a:spcPct val="80000"/>
              </a:lnSpc>
            </a:pPr>
            <a:endParaRPr lang="en-US" altLang="zh-CN" sz="2900" b="1" dirty="0">
              <a:ea typeface="宋体" panose="02010600030101010101" pitchFamily="2" charset="-122"/>
            </a:endParaRPr>
          </a:p>
          <a:p>
            <a:pPr marL="342900" lvl="0" indent="-342900">
              <a:lnSpc>
                <a:spcPct val="80000"/>
              </a:lnSpc>
            </a:pPr>
            <a:endParaRPr lang="en-US" altLang="zh-CN" sz="2900" b="1" dirty="0">
              <a:ea typeface="宋体" panose="02010600030101010101" pitchFamily="2" charset="-122"/>
            </a:endParaRPr>
          </a:p>
          <a:p>
            <a:pPr marL="342900" lvl="0" indent="-342900">
              <a:lnSpc>
                <a:spcPct val="80000"/>
              </a:lnSpc>
            </a:pPr>
            <a:endParaRPr lang="zh-CN" altLang="en-US" sz="2900" b="1" dirty="0">
              <a:ea typeface="宋体" panose="02010600030101010101" pitchFamily="2" charset="-122"/>
            </a:endParaRPr>
          </a:p>
        </p:txBody>
      </p:sp>
      <p:pic>
        <p:nvPicPr>
          <p:cNvPr id="24580" name="Picture 2"/>
          <p:cNvPicPr>
            <a:picLocks noChangeAspect="1"/>
          </p:cNvPicPr>
          <p:nvPr/>
        </p:nvPicPr>
        <p:blipFill>
          <a:blip r:embed="rId1"/>
          <a:stretch>
            <a:fillRect/>
          </a:stretch>
        </p:blipFill>
        <p:spPr>
          <a:xfrm>
            <a:off x="549275" y="3789363"/>
            <a:ext cx="8054975" cy="2952750"/>
          </a:xfrm>
          <a:prstGeom prst="rect">
            <a:avLst/>
          </a:prstGeom>
          <a:noFill/>
          <a:ln w="9525">
            <a:noFill/>
          </a:ln>
        </p:spPr>
      </p:pic>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050"/>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语法树的变体（</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6627" name="Rectangle 3"/>
          <p:cNvSpPr txBox="1"/>
          <p:nvPr/>
        </p:nvSpPr>
        <p:spPr>
          <a:xfrm>
            <a:off x="914400" y="1484313"/>
            <a:ext cx="7689850" cy="4873625"/>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342900" lvl="0" indent="-342900">
              <a:lnSpc>
                <a:spcPct val="80000"/>
              </a:lnSpc>
            </a:pPr>
            <a:r>
              <a:rPr lang="zh-CN" altLang="en-US" sz="2800" b="1" dirty="0">
                <a:ea typeface="宋体" panose="02010600030101010101" pitchFamily="2" charset="-122"/>
              </a:rPr>
              <a:t>构造</a:t>
            </a:r>
            <a:r>
              <a:rPr lang="en-US" altLang="zh-CN" sz="2800" b="1" dirty="0">
                <a:ea typeface="宋体" panose="02010600030101010101" pitchFamily="2" charset="-122"/>
              </a:rPr>
              <a:t>DAG</a:t>
            </a:r>
            <a:r>
              <a:rPr lang="zh-CN" altLang="en-US" sz="2800" b="1" dirty="0">
                <a:ea typeface="宋体" panose="02010600030101010101" pitchFamily="2" charset="-122"/>
              </a:rPr>
              <a:t>结点的值编码方法</a:t>
            </a:r>
            <a:endParaRPr lang="en-US" altLang="zh-CN" sz="2800" b="1" dirty="0">
              <a:ea typeface="宋体" panose="02010600030101010101" pitchFamily="2" charset="-122"/>
            </a:endParaRPr>
          </a:p>
          <a:p>
            <a:pPr marL="742950" lvl="1" indent="-285750">
              <a:lnSpc>
                <a:spcPct val="80000"/>
              </a:lnSpc>
            </a:pPr>
            <a:r>
              <a:rPr lang="zh-CN" altLang="en-US" b="1" dirty="0">
                <a:ea typeface="宋体" panose="02010600030101010101" pitchFamily="2" charset="-122"/>
              </a:rPr>
              <a:t>输入：标号</a:t>
            </a:r>
            <a:r>
              <a:rPr lang="en-US" altLang="zh-CN" i="1" dirty="0">
                <a:ea typeface="宋体" panose="02010600030101010101" pitchFamily="2" charset="-122"/>
              </a:rPr>
              <a:t>op</a:t>
            </a:r>
            <a:r>
              <a:rPr lang="zh-CN" altLang="en-US" b="1" dirty="0">
                <a:ea typeface="宋体" panose="02010600030101010101" pitchFamily="2" charset="-122"/>
              </a:rPr>
              <a:t>，结点</a:t>
            </a:r>
            <a:r>
              <a:rPr lang="en-US" altLang="zh-CN" i="1" dirty="0">
                <a:ea typeface="宋体" panose="02010600030101010101" pitchFamily="2" charset="-122"/>
              </a:rPr>
              <a:t>l</a:t>
            </a:r>
            <a:r>
              <a:rPr lang="zh-CN" altLang="en-US" b="1" dirty="0">
                <a:ea typeface="宋体" panose="02010600030101010101" pitchFamily="2" charset="-122"/>
              </a:rPr>
              <a:t>和结点</a:t>
            </a:r>
            <a:r>
              <a:rPr lang="en-US" altLang="zh-CN" i="1" dirty="0">
                <a:ea typeface="宋体" panose="02010600030101010101" pitchFamily="2" charset="-122"/>
              </a:rPr>
              <a:t>r</a:t>
            </a:r>
            <a:endParaRPr lang="en-US" altLang="zh-CN" i="1" dirty="0">
              <a:ea typeface="宋体" panose="02010600030101010101" pitchFamily="2" charset="-122"/>
            </a:endParaRPr>
          </a:p>
          <a:p>
            <a:pPr marL="742950" lvl="1" indent="-285750">
              <a:lnSpc>
                <a:spcPct val="80000"/>
              </a:lnSpc>
            </a:pPr>
            <a:r>
              <a:rPr lang="zh-CN" altLang="en-US" b="1" dirty="0">
                <a:ea typeface="宋体" panose="02010600030101010101" pitchFamily="2" charset="-122"/>
              </a:rPr>
              <a:t>输出：数组中具有三元组</a:t>
            </a:r>
            <a:r>
              <a:rPr lang="en-US" altLang="zh-CN" b="1" dirty="0">
                <a:ea typeface="宋体" panose="02010600030101010101" pitchFamily="2" charset="-122"/>
              </a:rPr>
              <a:t>&lt;</a:t>
            </a:r>
            <a:r>
              <a:rPr lang="en-US" altLang="zh-CN" i="1" dirty="0">
                <a:ea typeface="宋体" panose="02010600030101010101" pitchFamily="2" charset="-122"/>
              </a:rPr>
              <a:t> op</a:t>
            </a:r>
            <a:r>
              <a:rPr lang="zh-CN" altLang="en-US" i="1" dirty="0">
                <a:ea typeface="宋体" panose="02010600030101010101" pitchFamily="2" charset="-122"/>
              </a:rPr>
              <a:t>，</a:t>
            </a:r>
            <a:r>
              <a:rPr lang="en-US" altLang="zh-CN" i="1" dirty="0">
                <a:ea typeface="宋体" panose="02010600030101010101" pitchFamily="2" charset="-122"/>
              </a:rPr>
              <a:t>l</a:t>
            </a:r>
            <a:r>
              <a:rPr lang="zh-CN" altLang="en-US" i="1" dirty="0">
                <a:ea typeface="宋体" panose="02010600030101010101" pitchFamily="2" charset="-122"/>
              </a:rPr>
              <a:t>，</a:t>
            </a:r>
            <a:r>
              <a:rPr lang="en-US" altLang="zh-CN" i="1" dirty="0">
                <a:ea typeface="宋体" panose="02010600030101010101" pitchFamily="2" charset="-122"/>
              </a:rPr>
              <a:t>r </a:t>
            </a:r>
            <a:r>
              <a:rPr lang="en-US" altLang="zh-CN" b="1" dirty="0">
                <a:ea typeface="宋体" panose="02010600030101010101" pitchFamily="2" charset="-122"/>
              </a:rPr>
              <a:t>&gt;</a:t>
            </a:r>
            <a:r>
              <a:rPr lang="zh-CN" altLang="en-US" b="1" dirty="0">
                <a:ea typeface="宋体" panose="02010600030101010101" pitchFamily="2" charset="-122"/>
              </a:rPr>
              <a:t>形式的结点的值编码</a:t>
            </a:r>
            <a:endParaRPr lang="en-US" altLang="zh-CN" b="1" dirty="0">
              <a:ea typeface="宋体" panose="02010600030101010101" pitchFamily="2" charset="-122"/>
            </a:endParaRPr>
          </a:p>
          <a:p>
            <a:pPr marL="742950" lvl="1" indent="-285750">
              <a:lnSpc>
                <a:spcPct val="80000"/>
              </a:lnSpc>
            </a:pPr>
            <a:r>
              <a:rPr lang="zh-CN" altLang="en-US" b="1" dirty="0">
                <a:ea typeface="宋体" panose="02010600030101010101" pitchFamily="2" charset="-122"/>
              </a:rPr>
              <a:t>方法：</a:t>
            </a:r>
            <a:endParaRPr lang="en-US" altLang="zh-CN" b="1" dirty="0">
              <a:ea typeface="宋体" panose="02010600030101010101" pitchFamily="2" charset="-122"/>
            </a:endParaRPr>
          </a:p>
          <a:p>
            <a:pPr marL="1143000" lvl="2" indent="-228600">
              <a:lnSpc>
                <a:spcPct val="80000"/>
              </a:lnSpc>
            </a:pPr>
            <a:r>
              <a:rPr lang="zh-CN" altLang="en-US" b="1" dirty="0">
                <a:ea typeface="宋体" panose="02010600030101010101" pitchFamily="2" charset="-122"/>
              </a:rPr>
              <a:t>在数组中搜索标号为</a:t>
            </a:r>
            <a:r>
              <a:rPr lang="zh-CN" altLang="en-US" sz="2000" b="1" dirty="0">
                <a:ea typeface="宋体" panose="02010600030101010101" pitchFamily="2" charset="-122"/>
              </a:rPr>
              <a:t>标号为</a:t>
            </a:r>
            <a:r>
              <a:rPr lang="en-US" altLang="zh-CN" sz="2000" i="1" dirty="0">
                <a:ea typeface="宋体" panose="02010600030101010101" pitchFamily="2" charset="-122"/>
              </a:rPr>
              <a:t>op</a:t>
            </a:r>
            <a:r>
              <a:rPr lang="zh-CN" altLang="en-US" sz="2000" b="1" dirty="0">
                <a:ea typeface="宋体" panose="02010600030101010101" pitchFamily="2" charset="-122"/>
              </a:rPr>
              <a:t>，左子结点为</a:t>
            </a:r>
            <a:r>
              <a:rPr lang="en-US" altLang="zh-CN" sz="2000" i="1" dirty="0">
                <a:ea typeface="宋体" panose="02010600030101010101" pitchFamily="2" charset="-122"/>
              </a:rPr>
              <a:t>l</a:t>
            </a:r>
            <a:r>
              <a:rPr lang="zh-CN" altLang="en-US" sz="2000" b="1" dirty="0">
                <a:ea typeface="宋体" panose="02010600030101010101" pitchFamily="2" charset="-122"/>
              </a:rPr>
              <a:t>且右子结点为</a:t>
            </a:r>
            <a:r>
              <a:rPr lang="en-US" altLang="zh-CN" sz="2000" i="1" dirty="0">
                <a:ea typeface="宋体" panose="02010600030101010101" pitchFamily="2" charset="-122"/>
              </a:rPr>
              <a:t>r</a:t>
            </a:r>
            <a:r>
              <a:rPr lang="zh-CN" altLang="en-US" sz="2000" b="1" dirty="0">
                <a:ea typeface="宋体" panose="02010600030101010101" pitchFamily="2" charset="-122"/>
              </a:rPr>
              <a:t>的结点</a:t>
            </a:r>
            <a:r>
              <a:rPr lang="en-US" altLang="zh-CN" sz="2000" b="1" dirty="0">
                <a:ea typeface="宋体" panose="02010600030101010101" pitchFamily="2" charset="-122"/>
              </a:rPr>
              <a:t>M</a:t>
            </a:r>
            <a:endParaRPr lang="en-US" altLang="zh-CN" sz="2000" b="1" dirty="0">
              <a:ea typeface="宋体" panose="02010600030101010101" pitchFamily="2" charset="-122"/>
            </a:endParaRPr>
          </a:p>
          <a:p>
            <a:pPr marL="1143000" lvl="2" indent="-228600">
              <a:lnSpc>
                <a:spcPct val="80000"/>
              </a:lnSpc>
            </a:pPr>
            <a:r>
              <a:rPr lang="zh-CN" altLang="en-US" sz="2000" b="1" dirty="0">
                <a:ea typeface="宋体" panose="02010600030101010101" pitchFamily="2" charset="-122"/>
              </a:rPr>
              <a:t>如果存在</a:t>
            </a:r>
            <a:r>
              <a:rPr lang="en-US" altLang="zh-CN" sz="2000" b="1" dirty="0">
                <a:ea typeface="宋体" panose="02010600030101010101" pitchFamily="2" charset="-122"/>
              </a:rPr>
              <a:t>M</a:t>
            </a:r>
            <a:r>
              <a:rPr lang="zh-CN" altLang="en-US" sz="2000" b="1" dirty="0">
                <a:ea typeface="宋体" panose="02010600030101010101" pitchFamily="2" charset="-122"/>
              </a:rPr>
              <a:t>，则返回</a:t>
            </a:r>
            <a:r>
              <a:rPr lang="en-US" altLang="zh-CN" sz="2000" b="1" dirty="0">
                <a:ea typeface="宋体" panose="02010600030101010101" pitchFamily="2" charset="-122"/>
              </a:rPr>
              <a:t>M</a:t>
            </a:r>
            <a:r>
              <a:rPr lang="zh-CN" altLang="en-US" sz="2000" b="1" dirty="0">
                <a:ea typeface="宋体" panose="02010600030101010101" pitchFamily="2" charset="-122"/>
              </a:rPr>
              <a:t>结点的值编码</a:t>
            </a:r>
            <a:endParaRPr lang="en-US" altLang="zh-CN" sz="2000" b="1" dirty="0">
              <a:ea typeface="宋体" panose="02010600030101010101" pitchFamily="2" charset="-122"/>
            </a:endParaRPr>
          </a:p>
          <a:p>
            <a:pPr marL="1143000" lvl="2" indent="-228600">
              <a:lnSpc>
                <a:spcPct val="80000"/>
              </a:lnSpc>
            </a:pPr>
            <a:r>
              <a:rPr lang="zh-CN" altLang="en-US" sz="2000" b="1" dirty="0">
                <a:ea typeface="宋体" panose="02010600030101010101" pitchFamily="2" charset="-122"/>
              </a:rPr>
              <a:t>如果不存在这样的基点，则在数组中添加一个结点</a:t>
            </a:r>
            <a:r>
              <a:rPr lang="en-US" altLang="zh-CN" sz="2000" b="1" dirty="0">
                <a:ea typeface="宋体" panose="02010600030101010101" pitchFamily="2" charset="-122"/>
              </a:rPr>
              <a:t>N</a:t>
            </a:r>
            <a:r>
              <a:rPr lang="zh-CN" altLang="en-US" sz="2000" b="1" dirty="0">
                <a:ea typeface="宋体" panose="02010600030101010101" pitchFamily="2" charset="-122"/>
              </a:rPr>
              <a:t>，其标号为</a:t>
            </a:r>
            <a:r>
              <a:rPr lang="en-US" altLang="zh-CN" sz="2000" i="1" dirty="0">
                <a:ea typeface="宋体" panose="02010600030101010101" pitchFamily="2" charset="-122"/>
              </a:rPr>
              <a:t>op</a:t>
            </a:r>
            <a:r>
              <a:rPr lang="zh-CN" altLang="en-US" sz="2000" b="1" dirty="0">
                <a:ea typeface="宋体" panose="02010600030101010101" pitchFamily="2" charset="-122"/>
              </a:rPr>
              <a:t>，左右子结点分别为</a:t>
            </a:r>
            <a:r>
              <a:rPr lang="en-US" altLang="zh-CN" sz="2000" i="1" dirty="0">
                <a:ea typeface="宋体" panose="02010600030101010101" pitchFamily="2" charset="-122"/>
              </a:rPr>
              <a:t>l</a:t>
            </a:r>
            <a:r>
              <a:rPr lang="zh-CN" altLang="en-US" sz="2000" b="1" dirty="0">
                <a:ea typeface="宋体" panose="02010600030101010101" pitchFamily="2" charset="-122"/>
              </a:rPr>
              <a:t>和</a:t>
            </a:r>
            <a:r>
              <a:rPr lang="en-US" altLang="zh-CN" sz="2000" i="1" dirty="0">
                <a:ea typeface="宋体" panose="02010600030101010101" pitchFamily="2" charset="-122"/>
              </a:rPr>
              <a:t>r</a:t>
            </a:r>
            <a:r>
              <a:rPr lang="zh-CN" altLang="en-US" sz="2000" b="1" dirty="0">
                <a:ea typeface="宋体" panose="02010600030101010101" pitchFamily="2" charset="-122"/>
              </a:rPr>
              <a:t>，返回</a:t>
            </a:r>
            <a:r>
              <a:rPr lang="en-US" altLang="zh-CN" sz="2000" b="1" dirty="0">
                <a:ea typeface="宋体" panose="02010600030101010101" pitchFamily="2" charset="-122"/>
              </a:rPr>
              <a:t>N</a:t>
            </a:r>
            <a:r>
              <a:rPr lang="zh-CN" altLang="en-US" sz="2000" b="1" dirty="0">
                <a:ea typeface="宋体" panose="02010600030101010101" pitchFamily="2" charset="-122"/>
              </a:rPr>
              <a:t>对应的值编码</a:t>
            </a:r>
            <a:endParaRPr lang="en-US" altLang="zh-CN" sz="2000" b="1" dirty="0">
              <a:ea typeface="宋体" panose="02010600030101010101" pitchFamily="2" charset="-122"/>
            </a:endParaRPr>
          </a:p>
          <a:p>
            <a:pPr marL="342900" lvl="0" indent="-342900">
              <a:lnSpc>
                <a:spcPct val="80000"/>
              </a:lnSpc>
            </a:pPr>
            <a:endParaRPr lang="en-US" altLang="zh-CN" sz="2900" b="1" dirty="0">
              <a:ea typeface="宋体" panose="02010600030101010101" pitchFamily="2" charset="-122"/>
            </a:endParaRPr>
          </a:p>
          <a:p>
            <a:pPr marL="342900" lvl="0" indent="-342900">
              <a:lnSpc>
                <a:spcPct val="80000"/>
              </a:lnSpc>
            </a:pPr>
            <a:r>
              <a:rPr lang="zh-CN" altLang="en-US" sz="2900" b="1" dirty="0">
                <a:ea typeface="宋体" panose="02010600030101010101" pitchFamily="2" charset="-122"/>
              </a:rPr>
              <a:t>该方法可以正确编码，但每次定位都需要扫描整个数组，开销大</a:t>
            </a:r>
            <a:endParaRPr lang="en-US" altLang="zh-CN" sz="2900" b="1" dirty="0">
              <a:ea typeface="宋体" panose="02010600030101010101" pitchFamily="2" charset="-122"/>
            </a:endParaRPr>
          </a:p>
          <a:p>
            <a:pPr marL="342900" lvl="0" indent="-342900">
              <a:lnSpc>
                <a:spcPct val="80000"/>
              </a:lnSpc>
            </a:pPr>
            <a:endParaRPr lang="en-US" altLang="zh-CN" sz="2900" b="1" dirty="0">
              <a:ea typeface="宋体" panose="02010600030101010101" pitchFamily="2" charset="-122"/>
            </a:endParaRPr>
          </a:p>
          <a:p>
            <a:pPr marL="342900" lvl="0" indent="-342900">
              <a:lnSpc>
                <a:spcPct val="80000"/>
              </a:lnSpc>
            </a:pPr>
            <a:endParaRPr lang="zh-CN" altLang="en-US" sz="2900" b="1" dirty="0">
              <a:ea typeface="宋体" panose="02010600030101010101" pitchFamily="2" charset="-122"/>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050"/>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语法树的变体（</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6" name="Rectangle 3"/>
          <p:cNvSpPr txBox="1">
            <a:spLocks noChangeArrowheads="1"/>
          </p:cNvSpPr>
          <p:nvPr/>
        </p:nvSpPr>
        <p:spPr bwMode="auto">
          <a:xfrm>
            <a:off x="914400" y="1371600"/>
            <a:ext cx="7689850" cy="4986338"/>
          </a:xfrm>
          <a:prstGeom prst="rect">
            <a:avLst/>
          </a:prstGeom>
          <a:noFill/>
          <a:ln>
            <a:noFill/>
          </a:ln>
          <a:effectLst/>
        </p:spPr>
        <p:txBody>
          <a:bodyPr lIns="92075" tIns="46038" rIns="92075" bIns="46038"/>
          <a:lstStyle>
            <a:lvl1pPr marL="342900" indent="-342900">
              <a:lnSpc>
                <a:spcPct val="80000"/>
              </a:lnSpc>
              <a:spcBef>
                <a:spcPct val="20000"/>
              </a:spcBef>
              <a:buClr>
                <a:srgbClr val="063DE8"/>
              </a:buClr>
              <a:buSzPct val="125000"/>
              <a:buChar char="•"/>
              <a:defRPr sz="2500" b="1">
                <a:latin typeface="+mn-lt"/>
                <a:ea typeface="宋体" panose="02010600030101010101" pitchFamily="2" charset="-122"/>
              </a:defRPr>
            </a:lvl1pPr>
            <a:lvl2pPr marL="742950" lvl="1" indent="-285750">
              <a:lnSpc>
                <a:spcPct val="80000"/>
              </a:lnSpc>
              <a:spcBef>
                <a:spcPct val="20000"/>
              </a:spcBef>
              <a:buClr>
                <a:srgbClr val="063DE8"/>
              </a:buClr>
              <a:buSzPct val="70000"/>
              <a:buFont typeface="Monotype Sorts" pitchFamily="2" charset="2"/>
              <a:buChar char="ä"/>
              <a:defRPr sz="2000" b="1">
                <a:latin typeface="+mn-lt"/>
                <a:ea typeface="宋体" panose="02010600030101010101" pitchFamily="2" charset="-122"/>
              </a:defRPr>
            </a:lvl2pPr>
            <a:lvl3pPr marL="1143000" lvl="2" indent="-228600">
              <a:lnSpc>
                <a:spcPct val="80000"/>
              </a:lnSpc>
              <a:spcBef>
                <a:spcPct val="20000"/>
              </a:spcBef>
              <a:buClr>
                <a:srgbClr val="063DE8"/>
              </a:buClr>
              <a:buSzPct val="125000"/>
              <a:buChar char="•"/>
              <a:defRPr sz="1800" b="1">
                <a:latin typeface="+mn-lt"/>
                <a:ea typeface="宋体" panose="02010600030101010101" pitchFamily="2" charset="-122"/>
              </a:defRPr>
            </a:lvl3pPr>
            <a:lvl4pPr marL="1600200" lvl="3" indent="-228600">
              <a:lnSpc>
                <a:spcPct val="80000"/>
              </a:lnSpc>
              <a:spcBef>
                <a:spcPct val="20000"/>
              </a:spcBef>
              <a:buClr>
                <a:srgbClr val="063DE8"/>
              </a:buClr>
              <a:buSzPct val="70000"/>
              <a:buFont typeface="Monotype Sorts" pitchFamily="2" charset="2"/>
              <a:buChar char="ä"/>
              <a:defRPr sz="1600" b="1">
                <a:latin typeface="+mn-lt"/>
                <a:ea typeface="宋体" panose="02010600030101010101" pitchFamily="2" charset="-122"/>
              </a:defRPr>
            </a:lvl4pPr>
            <a:lvl5pPr marL="2057400" indent="-228600">
              <a:spcBef>
                <a:spcPct val="20000"/>
              </a:spcBef>
              <a:buClr>
                <a:srgbClr val="063DE8"/>
              </a:buClr>
              <a:buSzPct val="125000"/>
              <a:buChar char="•"/>
              <a:defRPr>
                <a:latin typeface="+mn-lt"/>
              </a:defRPr>
            </a:lvl5pPr>
            <a:lvl6pPr marL="2514600" indent="-228600" eaLnBrk="0" fontAlgn="base" hangingPunct="0">
              <a:spcBef>
                <a:spcPct val="20000"/>
              </a:spcBef>
              <a:spcAft>
                <a:spcPct val="0"/>
              </a:spcAft>
              <a:buClr>
                <a:srgbClr val="063DE8"/>
              </a:buClr>
              <a:buSzPct val="125000"/>
              <a:buChar char="•"/>
              <a:defRPr>
                <a:latin typeface="+mn-lt"/>
              </a:defRPr>
            </a:lvl6pPr>
            <a:lvl7pPr marL="2971800" indent="-228600" eaLnBrk="0" fontAlgn="base" hangingPunct="0">
              <a:spcBef>
                <a:spcPct val="20000"/>
              </a:spcBef>
              <a:spcAft>
                <a:spcPct val="0"/>
              </a:spcAft>
              <a:buClr>
                <a:srgbClr val="063DE8"/>
              </a:buClr>
              <a:buSzPct val="125000"/>
              <a:buChar char="•"/>
              <a:defRPr>
                <a:latin typeface="+mn-lt"/>
              </a:defRPr>
            </a:lvl7pPr>
            <a:lvl8pPr marL="3429000" indent="-228600" eaLnBrk="0" fontAlgn="base" hangingPunct="0">
              <a:spcBef>
                <a:spcPct val="20000"/>
              </a:spcBef>
              <a:spcAft>
                <a:spcPct val="0"/>
              </a:spcAft>
              <a:buClr>
                <a:srgbClr val="063DE8"/>
              </a:buClr>
              <a:buSzPct val="125000"/>
              <a:buChar char="•"/>
              <a:defRPr>
                <a:latin typeface="+mn-lt"/>
              </a:defRPr>
            </a:lvl8pPr>
            <a:lvl9pPr marL="3886200" indent="-228600" eaLnBrk="0" fontAlgn="base" hangingPunct="0">
              <a:spcBef>
                <a:spcPct val="20000"/>
              </a:spcBef>
              <a:spcAft>
                <a:spcPct val="0"/>
              </a:spcAft>
              <a:buClr>
                <a:srgbClr val="063DE8"/>
              </a:buClr>
              <a:buSzPct val="125000"/>
              <a:buChar char="•"/>
              <a:defRPr>
                <a:latin typeface="+mn-lt"/>
              </a:defRPr>
            </a:lvl9pPr>
          </a:lstStyle>
          <a:p>
            <a:pPr marL="342900" marR="0" lvl="0" indent="-342900" algn="l" defTabSz="914400" rtl="0" eaLnBrk="0" fontAlgn="base" latinLnBrk="0" hangingPunct="0">
              <a:lnSpc>
                <a:spcPct val="80000"/>
              </a:lnSpc>
              <a:spcBef>
                <a:spcPct val="20000"/>
              </a:spcBef>
              <a:spcAft>
                <a:spcPct val="0"/>
              </a:spcAft>
              <a:buClr>
                <a:srgbClr val="063DE8"/>
              </a:buClr>
              <a:buSzPct val="125000"/>
              <a:buFontTx/>
              <a:buChar char="•"/>
              <a:defRPr/>
            </a:pP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利用散列（</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Hash</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）表提高查询速度</a:t>
            </a:r>
            <a:endPar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8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首先，构造散列函数（</a:t>
            </a:r>
            <a:r>
              <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hash</a:t>
            </a: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function</a:t>
            </a: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h</a:t>
            </a: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80000"/>
              </a:lnSpc>
              <a:spcBef>
                <a:spcPct val="20000"/>
              </a:spcBef>
              <a:spcAft>
                <a:spcPct val="0"/>
              </a:spcAft>
              <a:buClr>
                <a:srgbClr val="063DE8"/>
              </a:buClr>
              <a:buSzPct val="125000"/>
              <a:buFontTx/>
              <a:buChar char="•"/>
              <a:defRPr/>
            </a:pP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为形如</a:t>
            </a:r>
            <a:r>
              <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&lt;</a:t>
            </a:r>
            <a:r>
              <a:rPr kumimoji="0" lang="en-US" altLang="zh-CN" sz="18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op</a:t>
            </a:r>
            <a:r>
              <a:rPr kumimoji="0" lang="zh-CN" altLang="en-US" sz="18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18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r </a:t>
            </a:r>
            <a:r>
              <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&gt;</a:t>
            </a:r>
            <a:r>
              <a:rPr kumimoji="0" lang="zh-CN" altLang="en-US"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的三元组计算</a:t>
            </a:r>
            <a:r>
              <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hash</a:t>
            </a:r>
            <a:r>
              <a:rPr kumimoji="0" lang="zh-CN" altLang="en-US"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索引</a:t>
            </a:r>
            <a:endPar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80000"/>
              </a:lnSpc>
              <a:spcBef>
                <a:spcPct val="20000"/>
              </a:spcBef>
              <a:spcAft>
                <a:spcPct val="0"/>
              </a:spcAft>
              <a:buClr>
                <a:srgbClr val="063DE8"/>
              </a:buClr>
              <a:buSzPct val="125000"/>
              <a:buFontTx/>
              <a:buChar char="•"/>
              <a:defRPr/>
            </a:pPr>
            <a:r>
              <a:rPr kumimoji="0" lang="en-US" altLang="zh-CN" sz="1800" b="1" i="0" u="none" strike="noStrike" kern="1200" cap="none" spc="0" normalizeH="0" baseline="0" noProof="0">
                <a:ln>
                  <a:noFill/>
                </a:ln>
                <a:solidFill>
                  <a:schemeClr val="tx1"/>
                </a:solidFill>
                <a:effectLst/>
                <a:uLnTx/>
                <a:uFillTx/>
                <a:latin typeface="+mn-lt"/>
                <a:ea typeface="宋体" panose="02010600030101010101" pitchFamily="2" charset="-122"/>
                <a:cs typeface="+mn-cs"/>
              </a:rPr>
              <a:t>h</a:t>
            </a:r>
            <a:r>
              <a:rPr kumimoji="0" lang="zh-CN" altLang="en-US" sz="1800" b="1" i="0" u="none" strike="noStrike" kern="1200" cap="none" spc="0" normalizeH="0" baseline="0" noProof="0">
                <a:ln>
                  <a:noFill/>
                </a:ln>
                <a:solidFill>
                  <a:schemeClr val="tx1"/>
                </a:solidFill>
                <a:effectLst/>
                <a:uLnTx/>
                <a:uFillTx/>
                <a:latin typeface="+mn-lt"/>
                <a:ea typeface="宋体" panose="02010600030101010101" pitchFamily="2" charset="-122"/>
                <a:cs typeface="+mn-cs"/>
              </a:rPr>
              <a:t>的</a:t>
            </a:r>
            <a:r>
              <a:rPr kumimoji="0" lang="zh-CN" altLang="en-US"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设计很重要</a:t>
            </a:r>
            <a:endPar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8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利用上述的</a:t>
            </a:r>
            <a:r>
              <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h(</a:t>
            </a:r>
            <a:r>
              <a:rPr kumimoji="0" lang="en-US" altLang="zh-CN"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op</a:t>
            </a:r>
            <a:r>
              <a:rPr kumimoji="0" lang="zh-CN" altLang="en-US"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r</a:t>
            </a:r>
            <a:r>
              <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，将三元组布局到散列表中</a:t>
            </a: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80000"/>
              </a:lnSpc>
              <a:spcBef>
                <a:spcPct val="20000"/>
              </a:spcBef>
              <a:spcAft>
                <a:spcPct val="0"/>
              </a:spcAft>
              <a:buClr>
                <a:srgbClr val="063DE8"/>
              </a:buClr>
              <a:buSzPct val="125000"/>
              <a:buFontTx/>
              <a:buChar char="•"/>
              <a:defRPr/>
            </a:pP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相同散列值的三元组通过链表连接</a:t>
            </a: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8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查找：只需在同一散列值的链表中查找</a:t>
            </a: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8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插入：在相应散列值的链表中插入</a:t>
            </a: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
                <a:srgbClr val="063DE8"/>
              </a:buClr>
              <a:buSzPct val="125000"/>
              <a:buFontTx/>
              <a:buNone/>
              <a:defRPr/>
            </a:pPr>
            <a:endParaRPr kumimoji="0" lang="en-US" altLang="zh-CN"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80000"/>
              </a:lnSpc>
              <a:spcBef>
                <a:spcPct val="20000"/>
              </a:spcBef>
              <a:spcAft>
                <a:spcPct val="0"/>
              </a:spcAft>
              <a:buClr>
                <a:srgbClr val="063DE8"/>
              </a:buClr>
              <a:buSzPct val="125000"/>
              <a:buFontTx/>
              <a:buChar char="•"/>
              <a:defRPr/>
            </a:pPr>
            <a:endParaRPr kumimoji="0" lang="zh-CN" altLang="en-US" sz="29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28676" name="Picture 2"/>
          <p:cNvPicPr>
            <a:picLocks noChangeAspect="1"/>
          </p:cNvPicPr>
          <p:nvPr/>
        </p:nvPicPr>
        <p:blipFill>
          <a:blip r:embed="rId1"/>
          <a:stretch>
            <a:fillRect/>
          </a:stretch>
        </p:blipFill>
        <p:spPr>
          <a:xfrm>
            <a:off x="250825" y="3860800"/>
            <a:ext cx="8493125" cy="2997200"/>
          </a:xfrm>
          <a:prstGeom prst="rect">
            <a:avLst/>
          </a:prstGeom>
          <a:noFill/>
          <a:ln w="9525">
            <a:noFill/>
          </a:ln>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第六章	中间代码生成 </a:t>
            </a:r>
            <a:endParaRPr lang="en-US" altLang="zh-CN" dirty="0">
              <a:latin typeface="Times New Roman" panose="02020603050405020304" pitchFamily="18" charset="0"/>
              <a:ea typeface="宋体" panose="02010600030101010101" pitchFamily="2" charset="-122"/>
            </a:endParaRPr>
          </a:p>
        </p:txBody>
      </p:sp>
      <p:sp>
        <p:nvSpPr>
          <p:cNvPr id="6147" name="Rectangle 3"/>
          <p:cNvSpPr>
            <a:spLocks noGrp="1" noChangeArrowheads="1"/>
          </p:cNvSpPr>
          <p:nvPr>
            <p:ph idx="1"/>
          </p:nvPr>
        </p:nvSpPr>
        <p:spPr>
          <a:xfrm>
            <a:off x="990600" y="1371600"/>
            <a:ext cx="7391400" cy="44196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rPr>
              <a:t>语法树的变体</a:t>
            </a:r>
            <a:endParaRPr kumimoji="0" lang="en-US" altLang="zh-CN"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三地址代码</a:t>
            </a:r>
            <a:endParaRPr kumimoji="0" lang="en-US" altLang="zh-CN" sz="3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类型和声明</a:t>
            </a:r>
            <a:endParaRPr kumimoji="0" lang="en-US" altLang="zh-CN"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表达式的翻译</a:t>
            </a:r>
            <a:endParaRPr kumimoji="0" lang="en-US" altLang="zh-CN"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类型检查</a:t>
            </a:r>
            <a:endParaRPr kumimoji="0" lang="en-US" altLang="zh-CN"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控制流、回填、</a:t>
            </a:r>
            <a:r>
              <a:rPr kumimoji="0" lang="en-US" altLang="zh-CN"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switch</a:t>
            </a:r>
            <a:r>
              <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语句</a:t>
            </a:r>
            <a:endParaRPr kumimoji="0" lang="en-US" altLang="zh-CN"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过程的中间代码</a:t>
            </a:r>
            <a:endPar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050"/>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三地址编码（</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6" name="Rectangle 3"/>
          <p:cNvSpPr txBox="1">
            <a:spLocks noChangeArrowheads="1"/>
          </p:cNvSpPr>
          <p:nvPr/>
        </p:nvSpPr>
        <p:spPr bwMode="auto">
          <a:xfrm>
            <a:off x="914400" y="1484313"/>
            <a:ext cx="7689850" cy="4873625"/>
          </a:xfrm>
          <a:prstGeom prst="rect">
            <a:avLst/>
          </a:prstGeom>
          <a:noFill/>
          <a:ln>
            <a:noFill/>
          </a:ln>
          <a:effectLst/>
        </p:spPr>
        <p:txBody>
          <a:bodyPr lIns="92075" tIns="46038" rIns="92075" bIns="46038"/>
          <a:lstStyle>
            <a:lvl1pPr marL="342900" indent="-342900">
              <a:lnSpc>
                <a:spcPct val="80000"/>
              </a:lnSpc>
              <a:spcBef>
                <a:spcPct val="20000"/>
              </a:spcBef>
              <a:buClr>
                <a:srgbClr val="063DE8"/>
              </a:buClr>
              <a:buSzPct val="125000"/>
              <a:buChar char="•"/>
              <a:defRPr sz="2500" b="1">
                <a:latin typeface="+mn-lt"/>
                <a:ea typeface="宋体" panose="02010600030101010101" pitchFamily="2" charset="-122"/>
              </a:defRPr>
            </a:lvl1pPr>
            <a:lvl2pPr marL="742950" lvl="1" indent="-285750">
              <a:lnSpc>
                <a:spcPct val="80000"/>
              </a:lnSpc>
              <a:spcBef>
                <a:spcPct val="20000"/>
              </a:spcBef>
              <a:buClr>
                <a:srgbClr val="063DE8"/>
              </a:buClr>
              <a:buSzPct val="70000"/>
              <a:buFont typeface="Monotype Sorts" pitchFamily="2" charset="2"/>
              <a:buChar char="ä"/>
              <a:defRPr sz="2000" b="1">
                <a:latin typeface="+mn-lt"/>
                <a:ea typeface="宋体" panose="02010600030101010101" pitchFamily="2" charset="-122"/>
              </a:defRPr>
            </a:lvl2pPr>
            <a:lvl3pPr marL="1143000" lvl="2" indent="-228600">
              <a:lnSpc>
                <a:spcPct val="80000"/>
              </a:lnSpc>
              <a:spcBef>
                <a:spcPct val="20000"/>
              </a:spcBef>
              <a:buClr>
                <a:srgbClr val="063DE8"/>
              </a:buClr>
              <a:buSzPct val="125000"/>
              <a:buChar char="•"/>
              <a:defRPr sz="1800" b="1">
                <a:latin typeface="+mn-lt"/>
                <a:ea typeface="宋体" panose="02010600030101010101" pitchFamily="2" charset="-122"/>
              </a:defRPr>
            </a:lvl3pPr>
            <a:lvl4pPr marL="1600200" lvl="3" indent="-228600">
              <a:lnSpc>
                <a:spcPct val="80000"/>
              </a:lnSpc>
              <a:spcBef>
                <a:spcPct val="20000"/>
              </a:spcBef>
              <a:buClr>
                <a:srgbClr val="063DE8"/>
              </a:buClr>
              <a:buSzPct val="70000"/>
              <a:buFont typeface="Monotype Sorts" pitchFamily="2" charset="2"/>
              <a:buChar char="ä"/>
              <a:defRPr sz="1600" b="1">
                <a:latin typeface="+mn-lt"/>
                <a:ea typeface="宋体" panose="02010600030101010101" pitchFamily="2" charset="-122"/>
              </a:defRPr>
            </a:lvl4pPr>
            <a:lvl5pPr marL="2057400" indent="-228600">
              <a:spcBef>
                <a:spcPct val="20000"/>
              </a:spcBef>
              <a:buClr>
                <a:srgbClr val="063DE8"/>
              </a:buClr>
              <a:buSzPct val="125000"/>
              <a:buChar char="•"/>
              <a:defRPr>
                <a:latin typeface="+mn-lt"/>
              </a:defRPr>
            </a:lvl5pPr>
            <a:lvl6pPr marL="2514600" indent="-228600" eaLnBrk="0" fontAlgn="base" hangingPunct="0">
              <a:spcBef>
                <a:spcPct val="20000"/>
              </a:spcBef>
              <a:spcAft>
                <a:spcPct val="0"/>
              </a:spcAft>
              <a:buClr>
                <a:srgbClr val="063DE8"/>
              </a:buClr>
              <a:buSzPct val="125000"/>
              <a:buChar char="•"/>
              <a:defRPr>
                <a:latin typeface="+mn-lt"/>
              </a:defRPr>
            </a:lvl6pPr>
            <a:lvl7pPr marL="2971800" indent="-228600" eaLnBrk="0" fontAlgn="base" hangingPunct="0">
              <a:spcBef>
                <a:spcPct val="20000"/>
              </a:spcBef>
              <a:spcAft>
                <a:spcPct val="0"/>
              </a:spcAft>
              <a:buClr>
                <a:srgbClr val="063DE8"/>
              </a:buClr>
              <a:buSzPct val="125000"/>
              <a:buChar char="•"/>
              <a:defRPr>
                <a:latin typeface="+mn-lt"/>
              </a:defRPr>
            </a:lvl7pPr>
            <a:lvl8pPr marL="3429000" indent="-228600" eaLnBrk="0" fontAlgn="base" hangingPunct="0">
              <a:spcBef>
                <a:spcPct val="20000"/>
              </a:spcBef>
              <a:spcAft>
                <a:spcPct val="0"/>
              </a:spcAft>
              <a:buClr>
                <a:srgbClr val="063DE8"/>
              </a:buClr>
              <a:buSzPct val="125000"/>
              <a:buChar char="•"/>
              <a:defRPr>
                <a:latin typeface="+mn-lt"/>
              </a:defRPr>
            </a:lvl8pPr>
            <a:lvl9pPr marL="3886200" indent="-228600" eaLnBrk="0" fontAlgn="base" hangingPunct="0">
              <a:spcBef>
                <a:spcPct val="20000"/>
              </a:spcBef>
              <a:spcAft>
                <a:spcPct val="0"/>
              </a:spcAft>
              <a:buClr>
                <a:srgbClr val="063DE8"/>
              </a:buClr>
              <a:buSzPct val="125000"/>
              <a:buChar char="•"/>
              <a:defRPr>
                <a:latin typeface="+mn-lt"/>
              </a:defRPr>
            </a:lvl9pPr>
          </a:lstStyle>
          <a:p>
            <a:pPr marL="342900" marR="0" lvl="0" indent="-342900" algn="l" defTabSz="914400" rtl="0" eaLnBrk="0" fontAlgn="base" latinLnBrk="0" hangingPunct="0">
              <a:lnSpc>
                <a:spcPct val="80000"/>
              </a:lnSpc>
              <a:spcBef>
                <a:spcPct val="20000"/>
              </a:spcBef>
              <a:spcAft>
                <a:spcPct val="0"/>
              </a:spcAft>
              <a:buClr>
                <a:srgbClr val="063DE8"/>
              </a:buClr>
              <a:buSzPct val="125000"/>
              <a:buFontTx/>
              <a:buChar char="•"/>
              <a:defRPr/>
            </a:pPr>
            <a:r>
              <a:rPr kumimoji="0"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三地址编码特点</a:t>
            </a:r>
            <a:endParaRPr kumimoji="0" lang="en-US" altLang="zh-CN"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80000"/>
              </a:lnSpc>
              <a:spcBef>
                <a:spcPct val="20000"/>
              </a:spcBef>
              <a:spcAft>
                <a:spcPct val="0"/>
              </a:spcAft>
              <a:buClr>
                <a:srgbClr val="063DE8"/>
              </a:buClr>
              <a:buSzPct val="70000"/>
              <a:buFont typeface="Monotype Sorts" pitchFamily="2" charset="2"/>
              <a:buChar char="ä"/>
              <a:defRPr/>
            </a:pP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一条指令的右侧最多有一个运算符，因此组合算数表达式要拆分，如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x + y * z</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，拆分为：</a:t>
            </a:r>
            <a:endPar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80000"/>
              </a:lnSpc>
              <a:spcBef>
                <a:spcPct val="20000"/>
              </a:spcBef>
              <a:spcAft>
                <a:spcPct val="0"/>
              </a:spcAft>
              <a:buClr>
                <a:srgbClr val="063DE8"/>
              </a:buClr>
              <a:buSzPct val="70000"/>
              <a:buFont typeface="Monotype Sorts" pitchFamily="2" charset="2"/>
              <a:buNone/>
              <a:defRPr/>
            </a:pPr>
            <a:r>
              <a:rPr kumimoji="0" lang="en-US" altLang="zh-CN" sz="24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t1 = y * z</a:t>
            </a:r>
            <a:endPar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80000"/>
              </a:lnSpc>
              <a:spcBef>
                <a:spcPct val="20000"/>
              </a:spcBef>
              <a:spcAft>
                <a:spcPct val="0"/>
              </a:spcAft>
              <a:buClr>
                <a:srgbClr val="063DE8"/>
              </a:buClr>
              <a:buSzPct val="70000"/>
              <a:buFont typeface="Monotype Sorts" pitchFamily="2" charset="2"/>
              <a:buNone/>
              <a:defRPr/>
            </a:pPr>
            <a:r>
              <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t2 = x + t1</a:t>
            </a:r>
            <a:endParaRPr kumimoji="0"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32772" name="Picture 2"/>
          <p:cNvPicPr>
            <a:picLocks noChangeAspect="1"/>
          </p:cNvPicPr>
          <p:nvPr/>
        </p:nvPicPr>
        <p:blipFill>
          <a:blip r:embed="rId1"/>
          <a:stretch>
            <a:fillRect/>
          </a:stretch>
        </p:blipFill>
        <p:spPr>
          <a:xfrm>
            <a:off x="107950" y="3429000"/>
            <a:ext cx="8694738" cy="3421063"/>
          </a:xfrm>
          <a:prstGeom prst="rect">
            <a:avLst/>
          </a:prstGeom>
          <a:noFill/>
          <a:ln w="9525">
            <a:noFill/>
          </a:ln>
        </p:spPr>
      </p:pic>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050"/>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三地址编码（</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4819" name="Rectangle 3"/>
          <p:cNvSpPr txBox="1"/>
          <p:nvPr/>
        </p:nvSpPr>
        <p:spPr>
          <a:xfrm>
            <a:off x="684213" y="1484313"/>
            <a:ext cx="8135937" cy="4873625"/>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342900" lvl="0" indent="-342900">
              <a:lnSpc>
                <a:spcPct val="80000"/>
              </a:lnSpc>
            </a:pPr>
            <a:r>
              <a:rPr lang="zh-CN" altLang="en-US" sz="2800" b="1" dirty="0">
                <a:ea typeface="宋体" panose="02010600030101010101" pitchFamily="2" charset="-122"/>
              </a:rPr>
              <a:t>地址和指令：三地址代码的两个基本概念</a:t>
            </a:r>
            <a:endParaRPr lang="en-US" altLang="zh-CN" sz="2800" b="1" dirty="0">
              <a:ea typeface="宋体" panose="02010600030101010101" pitchFamily="2" charset="-122"/>
            </a:endParaRPr>
          </a:p>
          <a:p>
            <a:pPr marL="742950" lvl="1" indent="-285750">
              <a:lnSpc>
                <a:spcPct val="80000"/>
              </a:lnSpc>
            </a:pPr>
            <a:r>
              <a:rPr lang="zh-CN" altLang="en-US" b="1" dirty="0">
                <a:ea typeface="宋体" panose="02010600030101010101" pitchFamily="2" charset="-122"/>
              </a:rPr>
              <a:t>地址：</a:t>
            </a:r>
            <a:endParaRPr lang="en-US" altLang="zh-CN" b="1" dirty="0">
              <a:ea typeface="宋体" panose="02010600030101010101" pitchFamily="2" charset="-122"/>
            </a:endParaRPr>
          </a:p>
          <a:p>
            <a:pPr marL="1143000" lvl="2" indent="-228600">
              <a:lnSpc>
                <a:spcPct val="80000"/>
              </a:lnSpc>
            </a:pPr>
            <a:r>
              <a:rPr lang="zh-CN" altLang="en-US" b="1" dirty="0">
                <a:ea typeface="宋体" panose="02010600030101010101" pitchFamily="2" charset="-122"/>
              </a:rPr>
              <a:t>名字，为方便计，可以使用源程序名字作为地址</a:t>
            </a:r>
            <a:endParaRPr lang="en-US" altLang="zh-CN" b="1" dirty="0">
              <a:ea typeface="宋体" panose="02010600030101010101" pitchFamily="2" charset="-122"/>
            </a:endParaRPr>
          </a:p>
          <a:p>
            <a:pPr marL="1600200" lvl="3" indent="-228600">
              <a:lnSpc>
                <a:spcPct val="80000"/>
              </a:lnSpc>
            </a:pPr>
            <a:r>
              <a:rPr lang="zh-CN" altLang="en-US" b="1" dirty="0">
                <a:ea typeface="宋体" panose="02010600030101010101" pitchFamily="2" charset="-122"/>
              </a:rPr>
              <a:t>实际中，源程序的名字被替换为指向符号表的指针</a:t>
            </a:r>
            <a:endParaRPr lang="en-US" altLang="zh-CN" b="1" dirty="0">
              <a:ea typeface="宋体" panose="02010600030101010101" pitchFamily="2" charset="-122"/>
            </a:endParaRPr>
          </a:p>
          <a:p>
            <a:pPr marL="1143000" lvl="2" indent="-228600">
              <a:lnSpc>
                <a:spcPct val="80000"/>
              </a:lnSpc>
            </a:pPr>
            <a:r>
              <a:rPr lang="zh-CN" altLang="en-US" b="1" dirty="0">
                <a:ea typeface="宋体" panose="02010600030101010101" pitchFamily="2" charset="-122"/>
              </a:rPr>
              <a:t>常量</a:t>
            </a:r>
            <a:endParaRPr lang="en-US" altLang="zh-CN" b="1" dirty="0">
              <a:ea typeface="宋体" panose="02010600030101010101" pitchFamily="2" charset="-122"/>
            </a:endParaRPr>
          </a:p>
          <a:p>
            <a:pPr marL="1143000" lvl="2" indent="-228600">
              <a:lnSpc>
                <a:spcPct val="80000"/>
              </a:lnSpc>
            </a:pPr>
            <a:r>
              <a:rPr lang="zh-CN" altLang="en-US" b="1" dirty="0">
                <a:ea typeface="宋体" panose="02010600030101010101" pitchFamily="2" charset="-122"/>
              </a:rPr>
              <a:t>编译器生成的临时变量，如前述的</a:t>
            </a:r>
            <a:r>
              <a:rPr lang="en-US" altLang="zh-CN" b="1" dirty="0">
                <a:ea typeface="宋体" panose="02010600030101010101" pitchFamily="2" charset="-122"/>
              </a:rPr>
              <a:t>t1</a:t>
            </a:r>
            <a:r>
              <a:rPr lang="zh-CN" altLang="en-US" b="1" dirty="0">
                <a:ea typeface="宋体" panose="02010600030101010101" pitchFamily="2" charset="-122"/>
              </a:rPr>
              <a:t>等</a:t>
            </a:r>
            <a:endParaRPr lang="en-US" altLang="zh-CN" b="1" dirty="0">
              <a:ea typeface="宋体" panose="02010600030101010101" pitchFamily="2" charset="-122"/>
            </a:endParaRPr>
          </a:p>
          <a:p>
            <a:pPr marL="1600200" lvl="3" indent="-228600">
              <a:lnSpc>
                <a:spcPct val="80000"/>
              </a:lnSpc>
            </a:pPr>
            <a:r>
              <a:rPr lang="zh-CN" altLang="en-US" b="1" dirty="0">
                <a:ea typeface="宋体" panose="02010600030101010101" pitchFamily="2" charset="-122"/>
              </a:rPr>
              <a:t>临时变量的引入是必要的，但是也要考虑复用的问题</a:t>
            </a:r>
            <a:endParaRPr lang="en-US" altLang="zh-CN" b="1" dirty="0">
              <a:ea typeface="宋体" panose="02010600030101010101" pitchFamily="2" charset="-122"/>
            </a:endParaRPr>
          </a:p>
          <a:p>
            <a:pPr marL="742950" lvl="1" indent="-285750">
              <a:lnSpc>
                <a:spcPct val="80000"/>
              </a:lnSpc>
            </a:pPr>
            <a:r>
              <a:rPr lang="zh-CN" altLang="en-US" b="1" dirty="0">
                <a:ea typeface="宋体" panose="02010600030101010101" pitchFamily="2" charset="-122"/>
              </a:rPr>
              <a:t>指令：</a:t>
            </a:r>
            <a:endParaRPr lang="en-US" altLang="zh-CN" b="1" dirty="0">
              <a:ea typeface="宋体" panose="02010600030101010101" pitchFamily="2" charset="-122"/>
            </a:endParaRPr>
          </a:p>
          <a:p>
            <a:pPr marL="1143000" lvl="2" indent="-228600">
              <a:lnSpc>
                <a:spcPct val="80000"/>
              </a:lnSpc>
            </a:pPr>
            <a:r>
              <a:rPr lang="en-US" altLang="zh-CN" i="1" dirty="0">
                <a:ea typeface="宋体" panose="02010600030101010101" pitchFamily="2" charset="-122"/>
              </a:rPr>
              <a:t>x</a:t>
            </a:r>
            <a:r>
              <a:rPr lang="en-US" altLang="zh-CN" b="1" dirty="0">
                <a:ea typeface="宋体" panose="02010600030101010101" pitchFamily="2" charset="-122"/>
              </a:rPr>
              <a:t> = </a:t>
            </a:r>
            <a:r>
              <a:rPr lang="en-US" altLang="zh-CN" i="1" dirty="0">
                <a:ea typeface="宋体" panose="02010600030101010101" pitchFamily="2" charset="-122"/>
              </a:rPr>
              <a:t>y op z</a:t>
            </a:r>
            <a:r>
              <a:rPr lang="zh-CN" altLang="en-US" b="1" dirty="0">
                <a:ea typeface="宋体" panose="02010600030101010101" pitchFamily="2" charset="-122"/>
              </a:rPr>
              <a:t>，</a:t>
            </a:r>
            <a:r>
              <a:rPr lang="en-US" altLang="zh-CN" i="1" dirty="0">
                <a:ea typeface="宋体" panose="02010600030101010101" pitchFamily="2" charset="-122"/>
              </a:rPr>
              <a:t> op</a:t>
            </a:r>
            <a:r>
              <a:rPr lang="zh-CN" altLang="en-US" b="1" dirty="0">
                <a:ea typeface="宋体" panose="02010600030101010101" pitchFamily="2" charset="-122"/>
              </a:rPr>
              <a:t>是一个双目算术符或逻辑运算符，</a:t>
            </a:r>
            <a:r>
              <a:rPr lang="en-US" altLang="zh-CN" i="1" dirty="0">
                <a:ea typeface="宋体" panose="02010600030101010101" pitchFamily="2" charset="-122"/>
              </a:rPr>
              <a:t> x</a:t>
            </a:r>
            <a:r>
              <a:rPr lang="zh-CN" altLang="en-US" b="1" dirty="0">
                <a:ea typeface="宋体" panose="02010600030101010101" pitchFamily="2" charset="-122"/>
              </a:rPr>
              <a:t>、</a:t>
            </a:r>
            <a:r>
              <a:rPr lang="en-US" altLang="zh-CN" i="1" dirty="0">
                <a:ea typeface="宋体" panose="02010600030101010101" pitchFamily="2" charset="-122"/>
              </a:rPr>
              <a:t>y</a:t>
            </a:r>
            <a:r>
              <a:rPr lang="zh-CN" altLang="en-US" i="1" dirty="0">
                <a:ea typeface="宋体" panose="02010600030101010101" pitchFamily="2" charset="-122"/>
              </a:rPr>
              <a:t>、</a:t>
            </a:r>
            <a:r>
              <a:rPr lang="en-US" altLang="zh-CN" i="1" dirty="0">
                <a:ea typeface="宋体" panose="02010600030101010101" pitchFamily="2" charset="-122"/>
              </a:rPr>
              <a:t>z</a:t>
            </a:r>
            <a:r>
              <a:rPr lang="zh-CN" altLang="en-US" b="1" dirty="0">
                <a:ea typeface="宋体" panose="02010600030101010101" pitchFamily="2" charset="-122"/>
              </a:rPr>
              <a:t>是地址</a:t>
            </a:r>
            <a:endParaRPr lang="en-US" altLang="zh-CN" b="1" dirty="0">
              <a:ea typeface="宋体" panose="02010600030101010101" pitchFamily="2" charset="-122"/>
            </a:endParaRPr>
          </a:p>
          <a:p>
            <a:pPr marL="1143000" lvl="2" indent="-228600">
              <a:lnSpc>
                <a:spcPct val="80000"/>
              </a:lnSpc>
            </a:pPr>
            <a:r>
              <a:rPr lang="en-US" altLang="zh-CN" i="1" dirty="0">
                <a:ea typeface="宋体" panose="02010600030101010101" pitchFamily="2" charset="-122"/>
              </a:rPr>
              <a:t>x</a:t>
            </a:r>
            <a:r>
              <a:rPr lang="en-US" altLang="zh-CN" b="1" dirty="0">
                <a:ea typeface="宋体" panose="02010600030101010101" pitchFamily="2" charset="-122"/>
              </a:rPr>
              <a:t> = </a:t>
            </a:r>
            <a:r>
              <a:rPr lang="en-US" altLang="zh-CN" i="1" dirty="0">
                <a:ea typeface="宋体" panose="02010600030101010101" pitchFamily="2" charset="-122"/>
              </a:rPr>
              <a:t>op y</a:t>
            </a:r>
            <a:r>
              <a:rPr lang="zh-CN" altLang="en-US" b="1" dirty="0">
                <a:ea typeface="宋体" panose="02010600030101010101" pitchFamily="2" charset="-122"/>
              </a:rPr>
              <a:t>，</a:t>
            </a:r>
            <a:r>
              <a:rPr lang="en-US" altLang="zh-CN" i="1" dirty="0">
                <a:ea typeface="宋体" panose="02010600030101010101" pitchFamily="2" charset="-122"/>
              </a:rPr>
              <a:t> op</a:t>
            </a:r>
            <a:r>
              <a:rPr lang="zh-CN" altLang="en-US" b="1" dirty="0">
                <a:ea typeface="宋体" panose="02010600030101010101" pitchFamily="2" charset="-122"/>
              </a:rPr>
              <a:t>是一个单目运算符（如负号、逻辑非等，类型转换算符也是一个例子），</a:t>
            </a:r>
            <a:r>
              <a:rPr lang="en-US" altLang="zh-CN" i="1" dirty="0">
                <a:ea typeface="宋体" panose="02010600030101010101" pitchFamily="2" charset="-122"/>
              </a:rPr>
              <a:t> x</a:t>
            </a:r>
            <a:r>
              <a:rPr lang="zh-CN" altLang="en-US" b="1" dirty="0">
                <a:ea typeface="宋体" panose="02010600030101010101" pitchFamily="2" charset="-122"/>
              </a:rPr>
              <a:t>、</a:t>
            </a:r>
            <a:r>
              <a:rPr lang="en-US" altLang="zh-CN" i="1" dirty="0">
                <a:ea typeface="宋体" panose="02010600030101010101" pitchFamily="2" charset="-122"/>
              </a:rPr>
              <a:t>y</a:t>
            </a:r>
            <a:r>
              <a:rPr lang="zh-CN" altLang="en-US" b="1" dirty="0">
                <a:ea typeface="宋体" panose="02010600030101010101" pitchFamily="2" charset="-122"/>
              </a:rPr>
              <a:t>是地址</a:t>
            </a:r>
            <a:endParaRPr lang="en-US" altLang="zh-CN" b="1" dirty="0">
              <a:ea typeface="宋体" panose="02010600030101010101" pitchFamily="2" charset="-122"/>
            </a:endParaRPr>
          </a:p>
          <a:p>
            <a:pPr marL="1143000" lvl="2" indent="-228600">
              <a:lnSpc>
                <a:spcPct val="80000"/>
              </a:lnSpc>
            </a:pPr>
            <a:r>
              <a:rPr lang="en-US" altLang="zh-CN" i="1" dirty="0">
                <a:ea typeface="宋体" panose="02010600030101010101" pitchFamily="2" charset="-122"/>
              </a:rPr>
              <a:t>x</a:t>
            </a:r>
            <a:r>
              <a:rPr lang="en-US" altLang="zh-CN" b="1" dirty="0">
                <a:ea typeface="宋体" panose="02010600030101010101" pitchFamily="2" charset="-122"/>
              </a:rPr>
              <a:t> =</a:t>
            </a:r>
            <a:r>
              <a:rPr lang="en-US" altLang="zh-CN" i="1" dirty="0">
                <a:ea typeface="宋体" panose="02010600030101010101" pitchFamily="2" charset="-122"/>
              </a:rPr>
              <a:t> y</a:t>
            </a:r>
            <a:r>
              <a:rPr lang="zh-CN" altLang="en-US" b="1" dirty="0">
                <a:ea typeface="宋体" panose="02010600030101010101" pitchFamily="2" charset="-122"/>
              </a:rPr>
              <a:t> ，复制指令</a:t>
            </a:r>
            <a:endParaRPr lang="en-US" altLang="zh-CN" b="1" dirty="0">
              <a:ea typeface="宋体" panose="02010600030101010101" pitchFamily="2" charset="-122"/>
            </a:endParaRPr>
          </a:p>
          <a:p>
            <a:pPr marL="1143000" lvl="2" indent="-228600">
              <a:lnSpc>
                <a:spcPct val="80000"/>
              </a:lnSpc>
            </a:pPr>
            <a:r>
              <a:rPr lang="en-US" altLang="zh-CN" i="1" dirty="0">
                <a:ea typeface="宋体" panose="02010600030101010101" pitchFamily="2" charset="-122"/>
              </a:rPr>
              <a:t>goto</a:t>
            </a:r>
            <a:r>
              <a:rPr lang="zh-CN" altLang="en-US" i="1" dirty="0">
                <a:ea typeface="宋体" panose="02010600030101010101" pitchFamily="2" charset="-122"/>
              </a:rPr>
              <a:t> </a:t>
            </a:r>
            <a:r>
              <a:rPr lang="en-US" altLang="zh-CN" i="1" dirty="0">
                <a:ea typeface="宋体" panose="02010600030101010101" pitchFamily="2" charset="-122"/>
              </a:rPr>
              <a:t>L</a:t>
            </a:r>
            <a:r>
              <a:rPr lang="zh-CN" altLang="en-US" b="1" dirty="0">
                <a:ea typeface="宋体" panose="02010600030101010101" pitchFamily="2" charset="-122"/>
              </a:rPr>
              <a:t>，无条件转移，下一步执行标号为</a:t>
            </a:r>
            <a:r>
              <a:rPr lang="en-US" altLang="zh-CN" i="1" dirty="0">
                <a:ea typeface="宋体" panose="02010600030101010101" pitchFamily="2" charset="-122"/>
              </a:rPr>
              <a:t>L</a:t>
            </a:r>
            <a:r>
              <a:rPr lang="zh-CN" altLang="en-US" b="1" dirty="0">
                <a:ea typeface="宋体" panose="02010600030101010101" pitchFamily="2" charset="-122"/>
              </a:rPr>
              <a:t>的三地址指令</a:t>
            </a:r>
            <a:endParaRPr lang="en-US" altLang="zh-CN" b="1" dirty="0">
              <a:ea typeface="宋体" panose="02010600030101010101" pitchFamily="2" charset="-122"/>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050"/>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三地址编码（</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6" name="Rectangle 3"/>
          <p:cNvSpPr txBox="1">
            <a:spLocks noChangeArrowheads="1"/>
          </p:cNvSpPr>
          <p:nvPr/>
        </p:nvSpPr>
        <p:spPr bwMode="auto">
          <a:xfrm>
            <a:off x="684213" y="1484313"/>
            <a:ext cx="8135938" cy="4873625"/>
          </a:xfrm>
          <a:prstGeom prst="rect">
            <a:avLst/>
          </a:prstGeom>
          <a:noFill/>
          <a:ln>
            <a:noFill/>
          </a:ln>
          <a:effectLst/>
        </p:spPr>
        <p:txBody>
          <a:bodyPr lIns="92075" tIns="46038" rIns="92075" bIns="46038"/>
          <a:lstStyle>
            <a:lvl1pPr marL="342900" indent="-342900">
              <a:lnSpc>
                <a:spcPct val="80000"/>
              </a:lnSpc>
              <a:spcBef>
                <a:spcPct val="20000"/>
              </a:spcBef>
              <a:buClr>
                <a:srgbClr val="063DE8"/>
              </a:buClr>
              <a:buSzPct val="125000"/>
              <a:buChar char="•"/>
              <a:defRPr sz="2500" b="1">
                <a:latin typeface="+mn-lt"/>
                <a:ea typeface="宋体" panose="02010600030101010101" pitchFamily="2" charset="-122"/>
              </a:defRPr>
            </a:lvl1pPr>
            <a:lvl2pPr marL="742950" lvl="1" indent="-285750">
              <a:lnSpc>
                <a:spcPct val="80000"/>
              </a:lnSpc>
              <a:spcBef>
                <a:spcPct val="20000"/>
              </a:spcBef>
              <a:buClr>
                <a:srgbClr val="063DE8"/>
              </a:buClr>
              <a:buSzPct val="70000"/>
              <a:buFont typeface="Monotype Sorts" pitchFamily="2" charset="2"/>
              <a:buChar char="ä"/>
              <a:defRPr sz="2000" b="1">
                <a:latin typeface="+mn-lt"/>
                <a:ea typeface="宋体" panose="02010600030101010101" pitchFamily="2" charset="-122"/>
              </a:defRPr>
            </a:lvl2pPr>
            <a:lvl3pPr marL="1143000" lvl="2" indent="-228600">
              <a:lnSpc>
                <a:spcPct val="80000"/>
              </a:lnSpc>
              <a:spcBef>
                <a:spcPct val="20000"/>
              </a:spcBef>
              <a:buClr>
                <a:srgbClr val="063DE8"/>
              </a:buClr>
              <a:buSzPct val="125000"/>
              <a:buChar char="•"/>
              <a:defRPr sz="1800" b="1">
                <a:latin typeface="+mn-lt"/>
                <a:ea typeface="宋体" panose="02010600030101010101" pitchFamily="2" charset="-122"/>
              </a:defRPr>
            </a:lvl3pPr>
            <a:lvl4pPr marL="1600200" lvl="3" indent="-228600">
              <a:lnSpc>
                <a:spcPct val="80000"/>
              </a:lnSpc>
              <a:spcBef>
                <a:spcPct val="20000"/>
              </a:spcBef>
              <a:buClr>
                <a:srgbClr val="063DE8"/>
              </a:buClr>
              <a:buSzPct val="70000"/>
              <a:buFont typeface="Monotype Sorts" pitchFamily="2" charset="2"/>
              <a:buChar char="ä"/>
              <a:defRPr sz="1600" b="1">
                <a:latin typeface="+mn-lt"/>
                <a:ea typeface="宋体" panose="02010600030101010101" pitchFamily="2" charset="-122"/>
              </a:defRPr>
            </a:lvl4pPr>
            <a:lvl5pPr marL="2057400" indent="-228600">
              <a:spcBef>
                <a:spcPct val="20000"/>
              </a:spcBef>
              <a:buClr>
                <a:srgbClr val="063DE8"/>
              </a:buClr>
              <a:buSzPct val="125000"/>
              <a:buChar char="•"/>
              <a:defRPr>
                <a:latin typeface="+mn-lt"/>
              </a:defRPr>
            </a:lvl5pPr>
            <a:lvl6pPr marL="2514600" indent="-228600" eaLnBrk="0" fontAlgn="base" hangingPunct="0">
              <a:spcBef>
                <a:spcPct val="20000"/>
              </a:spcBef>
              <a:spcAft>
                <a:spcPct val="0"/>
              </a:spcAft>
              <a:buClr>
                <a:srgbClr val="063DE8"/>
              </a:buClr>
              <a:buSzPct val="125000"/>
              <a:buChar char="•"/>
              <a:defRPr>
                <a:latin typeface="+mn-lt"/>
              </a:defRPr>
            </a:lvl6pPr>
            <a:lvl7pPr marL="2971800" indent="-228600" eaLnBrk="0" fontAlgn="base" hangingPunct="0">
              <a:spcBef>
                <a:spcPct val="20000"/>
              </a:spcBef>
              <a:spcAft>
                <a:spcPct val="0"/>
              </a:spcAft>
              <a:buClr>
                <a:srgbClr val="063DE8"/>
              </a:buClr>
              <a:buSzPct val="125000"/>
              <a:buChar char="•"/>
              <a:defRPr>
                <a:latin typeface="+mn-lt"/>
              </a:defRPr>
            </a:lvl7pPr>
            <a:lvl8pPr marL="3429000" indent="-228600" eaLnBrk="0" fontAlgn="base" hangingPunct="0">
              <a:spcBef>
                <a:spcPct val="20000"/>
              </a:spcBef>
              <a:spcAft>
                <a:spcPct val="0"/>
              </a:spcAft>
              <a:buClr>
                <a:srgbClr val="063DE8"/>
              </a:buClr>
              <a:buSzPct val="125000"/>
              <a:buChar char="•"/>
              <a:defRPr>
                <a:latin typeface="+mn-lt"/>
              </a:defRPr>
            </a:lvl8pPr>
            <a:lvl9pPr marL="3886200" indent="-228600" eaLnBrk="0" fontAlgn="base" hangingPunct="0">
              <a:spcBef>
                <a:spcPct val="20000"/>
              </a:spcBef>
              <a:spcAft>
                <a:spcPct val="0"/>
              </a:spcAft>
              <a:buClr>
                <a:srgbClr val="063DE8"/>
              </a:buClr>
              <a:buSzPct val="125000"/>
              <a:buChar char="•"/>
              <a:defRPr>
                <a:latin typeface="+mn-lt"/>
              </a:defRPr>
            </a:lvl9pPr>
          </a:lstStyle>
          <a:p>
            <a:pPr marL="1143000" marR="0" lvl="2" indent="-228600" algn="l" defTabSz="914400" rtl="0" eaLnBrk="0" fontAlgn="base" latinLnBrk="0" hangingPunct="0">
              <a:lnSpc>
                <a:spcPct val="80000"/>
              </a:lnSpc>
              <a:spcBef>
                <a:spcPct val="20000"/>
              </a:spcBef>
              <a:spcAft>
                <a:spcPct val="0"/>
              </a:spcAft>
              <a:buClr>
                <a:srgbClr val="063DE8"/>
              </a:buClr>
              <a:buSzPct val="125000"/>
              <a:buFontTx/>
              <a:buChar char="•"/>
              <a:defRPr/>
            </a:pPr>
            <a:r>
              <a:rPr kumimoji="0" lang="en-US" altLang="zh-CN"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if</a:t>
            </a:r>
            <a:r>
              <a:rPr kumimoji="0" lang="zh-CN" altLang="en-US" sz="22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x</a:t>
            </a:r>
            <a:r>
              <a:rPr kumimoji="0" lang="en-US" altLang="zh-CN"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goto</a:t>
            </a:r>
            <a:r>
              <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或</a:t>
            </a:r>
            <a:r>
              <a:rPr kumimoji="0" lang="en-US" altLang="zh-CN"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if</a:t>
            </a:r>
            <a:r>
              <a:rPr kumimoji="0" lang="zh-CN" altLang="en-US" sz="22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False</a:t>
            </a:r>
            <a:r>
              <a:rPr kumimoji="0" lang="zh-CN" altLang="en-US" sz="22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x</a:t>
            </a:r>
            <a:r>
              <a:rPr kumimoji="0" lang="en-US" altLang="zh-CN"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goto</a:t>
            </a:r>
            <a:r>
              <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，条件转移，分别当</a:t>
            </a:r>
            <a:r>
              <a:rPr kumimoji="0" lang="en-US" altLang="zh-CN" sz="22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为真或为假时，下一步执行标号为</a:t>
            </a:r>
            <a:r>
              <a:rPr kumimoji="0" lang="en-US" altLang="zh-CN" sz="22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的三地址指令，否则下一步将照常执行序列中的后一条指令</a:t>
            </a:r>
            <a:endParaRPr kumimoji="0" lang="en-US" altLang="zh-CN"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80000"/>
              </a:lnSpc>
              <a:spcBef>
                <a:spcPct val="20000"/>
              </a:spcBef>
              <a:spcAft>
                <a:spcPct val="0"/>
              </a:spcAft>
              <a:buClr>
                <a:srgbClr val="063DE8"/>
              </a:buClr>
              <a:buSzPct val="125000"/>
              <a:buFontTx/>
              <a:buChar char="•"/>
              <a:defRPr/>
            </a:pPr>
            <a:r>
              <a:rPr kumimoji="0" lang="en-US" altLang="zh-CN"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if</a:t>
            </a:r>
            <a:r>
              <a:rPr kumimoji="0" lang="zh-CN" altLang="en-US" sz="22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2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relop</a:t>
            </a:r>
            <a:r>
              <a:rPr kumimoji="0" lang="zh-CN" altLang="en-US" sz="22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y</a:t>
            </a:r>
            <a:r>
              <a:rPr kumimoji="0" lang="en-US" altLang="zh-CN"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goto</a:t>
            </a:r>
            <a:r>
              <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，条件转移，根据关系元算结果跳转</a:t>
            </a:r>
            <a:endParaRPr kumimoji="0" lang="en-US" altLang="zh-CN"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80000"/>
              </a:lnSpc>
              <a:spcBef>
                <a:spcPct val="20000"/>
              </a:spcBef>
              <a:spcAft>
                <a:spcPct val="0"/>
              </a:spcAft>
              <a:buClr>
                <a:srgbClr val="063DE8"/>
              </a:buClr>
              <a:buSzPct val="125000"/>
              <a:buFontTx/>
              <a:buChar char="•"/>
              <a:defRPr/>
            </a:pPr>
            <a:r>
              <a:rPr kumimoji="0" lang="zh-CN" altLang="en-US"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过程调用和返回同过下列指令实现：</a:t>
            </a:r>
            <a:endParaRPr kumimoji="0" lang="en-US" altLang="zh-CN"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600200" marR="0" lvl="3" indent="-228600" algn="l" defTabSz="914400" rtl="0" eaLnBrk="0" fontAlgn="base" latinLnBrk="0" hangingPunct="0">
              <a:lnSpc>
                <a:spcPct val="80000"/>
              </a:lnSpc>
              <a:spcBef>
                <a:spcPct val="20000"/>
              </a:spcBef>
              <a:spcAft>
                <a:spcPct val="0"/>
              </a:spcAft>
              <a:buClr>
                <a:srgbClr val="063DE8"/>
              </a:buClr>
              <a:buSzPct val="70000"/>
              <a:buFont typeface="Monotype Sorts" pitchFamily="2" charset="2"/>
              <a:buChar char="ä"/>
              <a:defRPr/>
            </a:pPr>
            <a:r>
              <a:rPr kumimoji="0" lang="en-US" altLang="zh-CN" sz="20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param</a:t>
            </a: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x</a:t>
            </a:r>
            <a:r>
              <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，参数传递，多个参数时，本指令出现多次</a:t>
            </a: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600200" marR="0" lvl="3" indent="-228600" algn="l" defTabSz="914400" rtl="0" eaLnBrk="0" fontAlgn="base" latinLnBrk="0" hangingPunct="0">
              <a:lnSpc>
                <a:spcPct val="80000"/>
              </a:lnSpc>
              <a:spcBef>
                <a:spcPct val="20000"/>
              </a:spcBef>
              <a:spcAft>
                <a:spcPct val="0"/>
              </a:spcAft>
              <a:buClr>
                <a:srgbClr val="063DE8"/>
              </a:buClr>
              <a:buSzPct val="70000"/>
              <a:buFont typeface="Monotype Sorts" pitchFamily="2" charset="2"/>
              <a:buChar char="ä"/>
              <a:defRPr/>
            </a:pPr>
            <a:r>
              <a:rPr kumimoji="0" lang="en-US"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call</a:t>
            </a:r>
            <a:r>
              <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p</a:t>
            </a:r>
            <a:r>
              <a:rPr kumimoji="0" lang="zh-CN" altLang="en-US"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n</a:t>
            </a: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y</a:t>
            </a:r>
            <a:r>
              <a:rPr kumimoji="0" lang="zh-CN" altLang="en-US"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call</a:t>
            </a:r>
            <a:r>
              <a:rPr kumimoji="0" lang="zh-CN" altLang="en-US"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p</a:t>
            </a:r>
            <a:r>
              <a:rPr kumimoji="0" lang="zh-CN" altLang="en-US"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n</a:t>
            </a: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分别对应过程调用和函数调用，</a:t>
            </a:r>
            <a:r>
              <a:rPr kumimoji="0" lang="en-US" altLang="zh-CN"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n</a:t>
            </a: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是参数个数</a:t>
            </a: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600200" marR="0" lvl="3" indent="-228600" algn="l" defTabSz="914400" rtl="0" eaLnBrk="0" fontAlgn="base" latinLnBrk="0" hangingPunct="0">
              <a:lnSpc>
                <a:spcPct val="80000"/>
              </a:lnSpc>
              <a:spcBef>
                <a:spcPct val="20000"/>
              </a:spcBef>
              <a:spcAft>
                <a:spcPct val="0"/>
              </a:spcAft>
              <a:buClr>
                <a:srgbClr val="063DE8"/>
              </a:buClr>
              <a:buSzPct val="70000"/>
              <a:buFont typeface="Monotype Sorts" pitchFamily="2" charset="2"/>
              <a:buChar char="ä"/>
              <a:defRPr/>
            </a:pPr>
            <a:r>
              <a:rPr kumimoji="0" lang="en-US"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return</a:t>
            </a:r>
            <a:r>
              <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y</a:t>
            </a: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，返回指令，返回值为</a:t>
            </a:r>
            <a:r>
              <a:rPr kumimoji="0" lang="en-US" altLang="zh-CN" sz="20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y </a:t>
            </a: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，返回指令不是必须的</a:t>
            </a: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600200" marR="0" lvl="3" indent="-228600" algn="l" defTabSz="914400" rtl="0" eaLnBrk="0" fontAlgn="base" latinLnBrk="0" hangingPunct="0">
              <a:lnSpc>
                <a:spcPct val="8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一个调用的示意</a:t>
            </a: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600200" marR="0" lvl="3" indent="-228600" algn="l" defTabSz="914400" rtl="0" eaLnBrk="0" fontAlgn="base" latinLnBrk="0" hangingPunct="0">
              <a:lnSpc>
                <a:spcPct val="80000"/>
              </a:lnSpc>
              <a:spcBef>
                <a:spcPct val="20000"/>
              </a:spcBef>
              <a:spcAft>
                <a:spcPct val="0"/>
              </a:spcAft>
              <a:buClr>
                <a:srgbClr val="063DE8"/>
              </a:buClr>
              <a:buSzPct val="70000"/>
              <a:buFont typeface="Monotype Sorts" pitchFamily="2" charset="2"/>
              <a:buNone/>
              <a:defRPr/>
            </a:pPr>
            <a:r>
              <a:rPr kumimoji="0" lang="zh-CN" altLang="en-US"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param</a:t>
            </a:r>
            <a:r>
              <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x</a:t>
            </a:r>
            <a:r>
              <a:rPr kumimoji="0" lang="en-US" altLang="zh-CN" sz="1800" b="0" i="1"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1</a:t>
            </a:r>
            <a:endParaRPr kumimoji="0" lang="en-US" altLang="zh-CN" sz="1800" b="0" i="1" u="none" strike="noStrike" kern="1200" cap="none" spc="0" normalizeH="0" baseline="-25000" noProof="0" dirty="0">
              <a:ln>
                <a:noFill/>
              </a:ln>
              <a:solidFill>
                <a:schemeClr val="tx1"/>
              </a:solidFill>
              <a:effectLst/>
              <a:uLnTx/>
              <a:uFillTx/>
              <a:latin typeface="+mn-lt"/>
              <a:ea typeface="宋体" panose="02010600030101010101" pitchFamily="2" charset="-122"/>
              <a:cs typeface="+mn-cs"/>
            </a:endParaRPr>
          </a:p>
          <a:p>
            <a:pPr marL="1600200" marR="0" lvl="3" indent="-228600" algn="l" defTabSz="914400" rtl="0" eaLnBrk="0" fontAlgn="base" latinLnBrk="0" hangingPunct="0">
              <a:lnSpc>
                <a:spcPct val="80000"/>
              </a:lnSpc>
              <a:spcBef>
                <a:spcPct val="20000"/>
              </a:spcBef>
              <a:spcAft>
                <a:spcPct val="0"/>
              </a:spcAft>
              <a:buClr>
                <a:srgbClr val="063DE8"/>
              </a:buClr>
              <a:buSzPct val="70000"/>
              <a:buFont typeface="Monotype Sorts" pitchFamily="2" charset="2"/>
              <a:buNone/>
              <a:defRPr/>
            </a:pPr>
            <a:r>
              <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param</a:t>
            </a:r>
            <a:r>
              <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x</a:t>
            </a:r>
            <a:r>
              <a:rPr kumimoji="0" lang="en-US" altLang="zh-CN" sz="1800" b="0" i="1"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2</a:t>
            </a:r>
            <a:endParaRPr kumimoji="0" lang="en-US" altLang="zh-CN" sz="18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600200" marR="0" lvl="3" indent="-228600" algn="l" defTabSz="914400" rtl="0" eaLnBrk="0" fontAlgn="base" latinLnBrk="0" hangingPunct="0">
              <a:lnSpc>
                <a:spcPct val="80000"/>
              </a:lnSpc>
              <a:spcBef>
                <a:spcPct val="20000"/>
              </a:spcBef>
              <a:spcAft>
                <a:spcPct val="0"/>
              </a:spcAft>
              <a:buClr>
                <a:srgbClr val="063DE8"/>
              </a:buClr>
              <a:buSzPct val="70000"/>
              <a:buFont typeface="Monotype Sorts" pitchFamily="2" charset="2"/>
              <a:buNone/>
              <a:defRPr/>
            </a:pPr>
            <a:r>
              <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 …</a:t>
            </a:r>
            <a:endPar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600200" marR="0" lvl="3" indent="-228600" algn="l" defTabSz="914400" rtl="0" eaLnBrk="0" fontAlgn="base" latinLnBrk="0" hangingPunct="0">
              <a:lnSpc>
                <a:spcPct val="80000"/>
              </a:lnSpc>
              <a:spcBef>
                <a:spcPct val="20000"/>
              </a:spcBef>
              <a:spcAft>
                <a:spcPct val="0"/>
              </a:spcAft>
              <a:buClr>
                <a:srgbClr val="063DE8"/>
              </a:buClr>
              <a:buSzPct val="70000"/>
              <a:buFont typeface="Monotype Sorts" pitchFamily="2" charset="2"/>
              <a:buNone/>
              <a:defRPr/>
            </a:pPr>
            <a:r>
              <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param</a:t>
            </a:r>
            <a:r>
              <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0" i="1"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x</a:t>
            </a:r>
            <a:r>
              <a:rPr kumimoji="0" lang="en-US" altLang="zh-CN" sz="1800" b="0" i="1" u="none" strike="noStrike" kern="1200" cap="none" spc="0" normalizeH="0" baseline="-25000" noProof="0" dirty="0" err="1">
                <a:ln>
                  <a:noFill/>
                </a:ln>
                <a:solidFill>
                  <a:schemeClr val="tx1"/>
                </a:solidFill>
                <a:effectLst/>
                <a:uLnTx/>
                <a:uFillTx/>
                <a:latin typeface="+mn-lt"/>
                <a:ea typeface="宋体" panose="02010600030101010101" pitchFamily="2" charset="-122"/>
                <a:cs typeface="+mn-cs"/>
              </a:rPr>
              <a:t>n</a:t>
            </a:r>
            <a:endParaRPr kumimoji="0" lang="en-US" altLang="zh-CN" sz="18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600200" marR="0" lvl="3" indent="-228600" algn="l" defTabSz="914400" rtl="0" eaLnBrk="0" fontAlgn="base" latinLnBrk="0" hangingPunct="0">
              <a:lnSpc>
                <a:spcPct val="80000"/>
              </a:lnSpc>
              <a:spcBef>
                <a:spcPct val="20000"/>
              </a:spcBef>
              <a:spcAft>
                <a:spcPct val="0"/>
              </a:spcAft>
              <a:buClr>
                <a:srgbClr val="063DE8"/>
              </a:buClr>
              <a:buSzPct val="70000"/>
              <a:buFont typeface="Monotype Sorts" pitchFamily="2" charset="2"/>
              <a:buNone/>
              <a:defRPr/>
            </a:pPr>
            <a:r>
              <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call p , n</a:t>
            </a:r>
            <a:endPar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600200" marR="0" lvl="3" indent="-228600" algn="l" defTabSz="914400" rtl="0" eaLnBrk="0" fontAlgn="base" latinLnBrk="0" hangingPunct="0">
              <a:lnSpc>
                <a:spcPct val="80000"/>
              </a:lnSpc>
              <a:spcBef>
                <a:spcPct val="20000"/>
              </a:spcBef>
              <a:spcAft>
                <a:spcPct val="0"/>
              </a:spcAft>
              <a:buClr>
                <a:srgbClr val="063DE8"/>
              </a:buClr>
              <a:buSzPct val="70000"/>
              <a:buFont typeface="Monotype Sorts" pitchFamily="2" charset="2"/>
              <a:buNone/>
              <a:defRPr/>
            </a:pPr>
            <a:r>
              <a:rPr kumimoji="0" lang="zh-CN" altLang="en-US"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等价于</a:t>
            </a:r>
            <a:r>
              <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call p(</a:t>
            </a:r>
            <a:r>
              <a:rPr kumimoji="0" lang="en-US" altLang="zh-CN" sz="18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x</a:t>
            </a:r>
            <a:r>
              <a:rPr kumimoji="0" lang="en-US" altLang="zh-CN" sz="1800" b="0" i="1"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18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 x</a:t>
            </a:r>
            <a:r>
              <a:rPr kumimoji="0" lang="en-US" altLang="zh-CN" sz="1800" b="0" i="1" u="none" strike="noStrike" kern="120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en-US" altLang="zh-CN" sz="18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 … , </a:t>
            </a:r>
            <a:r>
              <a:rPr kumimoji="0" lang="en-US" altLang="zh-CN" sz="1800" b="0" i="1"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x</a:t>
            </a:r>
            <a:r>
              <a:rPr kumimoji="0" lang="en-US" altLang="zh-CN" sz="1800" b="0" i="1" u="none" strike="noStrike" kern="1200" cap="none" spc="0" normalizeH="0" baseline="-25000" noProof="0" dirty="0" err="1">
                <a:ln>
                  <a:noFill/>
                </a:ln>
                <a:solidFill>
                  <a:schemeClr val="tx1"/>
                </a:solidFill>
                <a:effectLst/>
                <a:uLnTx/>
                <a:uFillTx/>
                <a:latin typeface="+mn-lt"/>
                <a:ea typeface="宋体" panose="02010600030101010101" pitchFamily="2" charset="-122"/>
                <a:cs typeface="+mn-cs"/>
              </a:rPr>
              <a:t>n</a:t>
            </a:r>
            <a:r>
              <a:rPr kumimoji="0" lang="en-US" altLang="zh-CN" sz="1800" b="0"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371600" marR="0" lvl="3" indent="0" algn="l" defTabSz="914400" rtl="0" eaLnBrk="0" fontAlgn="base" latinLnBrk="0" hangingPunct="0">
              <a:lnSpc>
                <a:spcPct val="80000"/>
              </a:lnSpc>
              <a:spcBef>
                <a:spcPct val="20000"/>
              </a:spcBef>
              <a:spcAft>
                <a:spcPct val="0"/>
              </a:spcAft>
              <a:buClr>
                <a:srgbClr val="063DE8"/>
              </a:buClr>
              <a:buSzPct val="70000"/>
              <a:buFont typeface="Monotype Sorts" pitchFamily="2" charset="2"/>
              <a:buNone/>
              <a:defRPr/>
            </a:pP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050"/>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三地址编码（</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8915" name="Rectangle 3"/>
          <p:cNvSpPr txBox="1"/>
          <p:nvPr/>
        </p:nvSpPr>
        <p:spPr>
          <a:xfrm>
            <a:off x="684213" y="1484313"/>
            <a:ext cx="8135937" cy="4873625"/>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1143000" lvl="2" indent="-228600">
              <a:lnSpc>
                <a:spcPct val="80000"/>
              </a:lnSpc>
            </a:pPr>
            <a:r>
              <a:rPr lang="en-US" altLang="zh-CN" i="1" dirty="0">
                <a:ea typeface="宋体" panose="02010600030101010101" pitchFamily="2" charset="-122"/>
              </a:rPr>
              <a:t>x=y</a:t>
            </a:r>
            <a:r>
              <a:rPr lang="en-US" altLang="zh-CN" dirty="0">
                <a:ea typeface="宋体" panose="02010600030101010101" pitchFamily="2" charset="-122"/>
              </a:rPr>
              <a:t>[</a:t>
            </a:r>
            <a:r>
              <a:rPr lang="en-US" altLang="zh-CN" i="1" dirty="0">
                <a:ea typeface="宋体" panose="02010600030101010101" pitchFamily="2" charset="-122"/>
              </a:rPr>
              <a:t>i</a:t>
            </a:r>
            <a:r>
              <a:rPr lang="en-US" altLang="zh-CN" dirty="0">
                <a:ea typeface="宋体" panose="02010600030101010101" pitchFamily="2" charset="-122"/>
              </a:rPr>
              <a:t>]</a:t>
            </a:r>
            <a:r>
              <a:rPr lang="zh-CN" altLang="en-US" dirty="0">
                <a:ea typeface="宋体" panose="02010600030101010101" pitchFamily="2" charset="-122"/>
              </a:rPr>
              <a:t>和</a:t>
            </a:r>
            <a:r>
              <a:rPr lang="en-US" altLang="zh-CN" i="1" dirty="0">
                <a:ea typeface="宋体" panose="02010600030101010101" pitchFamily="2" charset="-122"/>
              </a:rPr>
              <a:t>x</a:t>
            </a:r>
            <a:r>
              <a:rPr lang="en-US" altLang="zh-CN" dirty="0">
                <a:ea typeface="宋体" panose="02010600030101010101" pitchFamily="2" charset="-122"/>
              </a:rPr>
              <a:t>[</a:t>
            </a:r>
            <a:r>
              <a:rPr lang="en-US" altLang="zh-CN" i="1" dirty="0">
                <a:ea typeface="宋体" panose="02010600030101010101" pitchFamily="2" charset="-122"/>
              </a:rPr>
              <a:t>i</a:t>
            </a:r>
            <a:r>
              <a:rPr lang="en-US" altLang="zh-CN" dirty="0">
                <a:ea typeface="宋体" panose="02010600030101010101" pitchFamily="2" charset="-122"/>
              </a:rPr>
              <a:t>]=</a:t>
            </a:r>
            <a:r>
              <a:rPr lang="en-US" altLang="zh-CN" i="1" dirty="0">
                <a:ea typeface="宋体" panose="02010600030101010101" pitchFamily="2" charset="-122"/>
              </a:rPr>
              <a:t>y</a:t>
            </a:r>
            <a:r>
              <a:rPr lang="zh-CN" altLang="en-US" dirty="0">
                <a:ea typeface="宋体" panose="02010600030101010101" pitchFamily="2" charset="-122"/>
              </a:rPr>
              <a:t>，</a:t>
            </a:r>
            <a:r>
              <a:rPr lang="zh-CN" altLang="en-US" b="1" dirty="0">
                <a:ea typeface="宋体" panose="02010600030101010101" pitchFamily="2" charset="-122"/>
              </a:rPr>
              <a:t>前者把距离位置</a:t>
            </a:r>
            <a:r>
              <a:rPr lang="en-US" altLang="zh-CN" i="1" dirty="0">
                <a:ea typeface="宋体" panose="02010600030101010101" pitchFamily="2" charset="-122"/>
              </a:rPr>
              <a:t>y</a:t>
            </a:r>
            <a:r>
              <a:rPr lang="zh-CN" altLang="en-US" b="1" dirty="0">
                <a:ea typeface="宋体" panose="02010600030101010101" pitchFamily="2" charset="-122"/>
              </a:rPr>
              <a:t>处</a:t>
            </a:r>
            <a:r>
              <a:rPr lang="en-US" altLang="zh-CN" i="1" dirty="0">
                <a:ea typeface="宋体" panose="02010600030101010101" pitchFamily="2" charset="-122"/>
              </a:rPr>
              <a:t>i</a:t>
            </a:r>
            <a:r>
              <a:rPr lang="zh-CN" altLang="en-US" b="1" dirty="0">
                <a:ea typeface="宋体" panose="02010600030101010101" pitchFamily="2" charset="-122"/>
              </a:rPr>
              <a:t>个内存单元的位置中存放的值赋给</a:t>
            </a:r>
            <a:r>
              <a:rPr lang="en-US" altLang="zh-CN" i="1" dirty="0">
                <a:ea typeface="宋体" panose="02010600030101010101" pitchFamily="2" charset="-122"/>
              </a:rPr>
              <a:t>x</a:t>
            </a:r>
            <a:r>
              <a:rPr lang="zh-CN" altLang="en-US" b="1" dirty="0">
                <a:ea typeface="宋体" panose="02010600030101010101" pitchFamily="2" charset="-122"/>
              </a:rPr>
              <a:t>，后者将距离位置</a:t>
            </a:r>
            <a:r>
              <a:rPr lang="en-US" altLang="zh-CN" i="1" dirty="0">
                <a:ea typeface="宋体" panose="02010600030101010101" pitchFamily="2" charset="-122"/>
              </a:rPr>
              <a:t>x</a:t>
            </a:r>
            <a:r>
              <a:rPr lang="zh-CN" altLang="en-US" b="1" dirty="0">
                <a:ea typeface="宋体" panose="02010600030101010101" pitchFamily="2" charset="-122"/>
              </a:rPr>
              <a:t>处</a:t>
            </a:r>
            <a:r>
              <a:rPr lang="en-US" altLang="zh-CN" i="1" dirty="0">
                <a:ea typeface="宋体" panose="02010600030101010101" pitchFamily="2" charset="-122"/>
              </a:rPr>
              <a:t>i</a:t>
            </a:r>
            <a:r>
              <a:rPr lang="zh-CN" altLang="en-US" b="1" dirty="0">
                <a:ea typeface="宋体" panose="02010600030101010101" pitchFamily="2" charset="-122"/>
              </a:rPr>
              <a:t>个内存单元的位置的内容置为</a:t>
            </a:r>
            <a:r>
              <a:rPr lang="en-US" altLang="zh-CN" i="1" dirty="0">
                <a:ea typeface="宋体" panose="02010600030101010101" pitchFamily="2" charset="-122"/>
              </a:rPr>
              <a:t>y</a:t>
            </a:r>
            <a:r>
              <a:rPr lang="zh-CN" altLang="en-US" b="1" dirty="0">
                <a:ea typeface="宋体" panose="02010600030101010101" pitchFamily="2" charset="-122"/>
              </a:rPr>
              <a:t>的值</a:t>
            </a:r>
            <a:endParaRPr lang="en-US" altLang="zh-CN" b="1" dirty="0">
              <a:ea typeface="宋体" panose="02010600030101010101" pitchFamily="2" charset="-122"/>
            </a:endParaRPr>
          </a:p>
          <a:p>
            <a:pPr marL="1143000" lvl="2" indent="-228600">
              <a:lnSpc>
                <a:spcPct val="80000"/>
              </a:lnSpc>
            </a:pPr>
            <a:r>
              <a:rPr lang="en-US" altLang="zh-CN" i="1" dirty="0">
                <a:ea typeface="宋体" panose="02010600030101010101" pitchFamily="2" charset="-122"/>
              </a:rPr>
              <a:t>x=&amp;y</a:t>
            </a:r>
            <a:r>
              <a:rPr lang="zh-CN" altLang="en-US" dirty="0">
                <a:ea typeface="宋体" panose="02010600030101010101" pitchFamily="2" charset="-122"/>
              </a:rPr>
              <a:t>、</a:t>
            </a:r>
            <a:r>
              <a:rPr lang="en-US" altLang="zh-CN" i="1" dirty="0">
                <a:ea typeface="宋体" panose="02010600030101010101" pitchFamily="2" charset="-122"/>
              </a:rPr>
              <a:t> x=</a:t>
            </a:r>
            <a:r>
              <a:rPr lang="zh-CN" altLang="en-US" i="1" dirty="0">
                <a:ea typeface="宋体" panose="02010600030101010101" pitchFamily="2" charset="-122"/>
              </a:rPr>
              <a:t>*</a:t>
            </a:r>
            <a:r>
              <a:rPr lang="en-US" altLang="zh-CN" i="1" dirty="0">
                <a:ea typeface="宋体" panose="02010600030101010101" pitchFamily="2" charset="-122"/>
              </a:rPr>
              <a:t>y</a:t>
            </a:r>
            <a:r>
              <a:rPr lang="zh-CN" altLang="en-US" dirty="0">
                <a:ea typeface="宋体" panose="02010600030101010101" pitchFamily="2" charset="-122"/>
              </a:rPr>
              <a:t>和*</a:t>
            </a:r>
            <a:r>
              <a:rPr lang="en-US" altLang="zh-CN" i="1" dirty="0">
                <a:ea typeface="宋体" panose="02010600030101010101" pitchFamily="2" charset="-122"/>
              </a:rPr>
              <a:t>x</a:t>
            </a:r>
            <a:r>
              <a:rPr lang="en-US" altLang="zh-CN" dirty="0">
                <a:ea typeface="宋体" panose="02010600030101010101" pitchFamily="2" charset="-122"/>
              </a:rPr>
              <a:t>=</a:t>
            </a:r>
            <a:r>
              <a:rPr lang="en-US" altLang="zh-CN" i="1" dirty="0">
                <a:ea typeface="宋体" panose="02010600030101010101" pitchFamily="2" charset="-122"/>
              </a:rPr>
              <a:t>y</a:t>
            </a:r>
            <a:r>
              <a:rPr lang="zh-CN" altLang="en-US" dirty="0">
                <a:ea typeface="宋体" panose="02010600030101010101" pitchFamily="2" charset="-122"/>
              </a:rPr>
              <a:t>，</a:t>
            </a:r>
            <a:r>
              <a:rPr lang="zh-CN" altLang="en-US" b="1" dirty="0">
                <a:ea typeface="宋体" panose="02010600030101010101" pitchFamily="2" charset="-122"/>
              </a:rPr>
              <a:t>地址和指针赋值指令</a:t>
            </a:r>
            <a:endParaRPr lang="en-US" altLang="zh-CN" b="1" dirty="0">
              <a:ea typeface="宋体" panose="02010600030101010101" pitchFamily="2" charset="-122"/>
            </a:endParaRPr>
          </a:p>
          <a:p>
            <a:pPr marL="1600200" lvl="3" indent="-228600">
              <a:lnSpc>
                <a:spcPct val="80000"/>
              </a:lnSpc>
            </a:pPr>
            <a:r>
              <a:rPr lang="zh-CN" altLang="en-US" b="1" dirty="0">
                <a:ea typeface="宋体" panose="02010600030101010101" pitchFamily="2" charset="-122"/>
              </a:rPr>
              <a:t>要分清楚左右值</a:t>
            </a:r>
            <a:endParaRPr lang="en-US" altLang="zh-CN" b="1" dirty="0">
              <a:ea typeface="宋体" panose="02010600030101010101" pitchFamily="2" charset="-122"/>
            </a:endParaRPr>
          </a:p>
          <a:p>
            <a:pPr marL="342900" lvl="0" indent="-342900">
              <a:lnSpc>
                <a:spcPct val="80000"/>
              </a:lnSpc>
            </a:pPr>
            <a:r>
              <a:rPr lang="zh-CN" altLang="en-US" sz="2900" b="1" dirty="0">
                <a:ea typeface="宋体" panose="02010600030101010101" pitchFamily="2" charset="-122"/>
              </a:rPr>
              <a:t>给三地址指令指定编号的两种方法</a:t>
            </a:r>
            <a:endParaRPr lang="en-US" altLang="zh-CN" sz="2900" b="1" dirty="0">
              <a:ea typeface="宋体" panose="02010600030101010101" pitchFamily="2" charset="-122"/>
            </a:endParaRPr>
          </a:p>
          <a:p>
            <a:pPr marL="742950" lvl="1" indent="-285750">
              <a:lnSpc>
                <a:spcPct val="80000"/>
              </a:lnSpc>
            </a:pPr>
            <a:r>
              <a:rPr lang="zh-CN" altLang="en-US" b="1" dirty="0">
                <a:ea typeface="宋体" panose="02010600030101010101" pitchFamily="2" charset="-122"/>
              </a:rPr>
              <a:t>下图给出了语句</a:t>
            </a:r>
            <a:r>
              <a:rPr lang="en-US" altLang="zh-CN" b="1" dirty="0">
                <a:ea typeface="宋体" panose="02010600030101010101" pitchFamily="2" charset="-122"/>
              </a:rPr>
              <a:t>do i = i + 1; while ( a[i] &lt; v);</a:t>
            </a:r>
            <a:r>
              <a:rPr lang="zh-CN" altLang="en-US" b="1" dirty="0">
                <a:ea typeface="宋体" panose="02010600030101010101" pitchFamily="2" charset="-122"/>
              </a:rPr>
              <a:t>的三地址指令序列，下图</a:t>
            </a:r>
            <a:r>
              <a:rPr lang="en-US" altLang="zh-CN" b="1" dirty="0">
                <a:ea typeface="宋体" panose="02010600030101010101" pitchFamily="2" charset="-122"/>
              </a:rPr>
              <a:t>a</a:t>
            </a:r>
            <a:r>
              <a:rPr lang="zh-CN" altLang="en-US" b="1" dirty="0">
                <a:ea typeface="宋体" panose="02010600030101010101" pitchFamily="2" charset="-122"/>
              </a:rPr>
              <a:t>采用符号编号，下图</a:t>
            </a:r>
            <a:r>
              <a:rPr lang="en-US" altLang="zh-CN" b="1" dirty="0">
                <a:ea typeface="宋体" panose="02010600030101010101" pitchFamily="2" charset="-122"/>
              </a:rPr>
              <a:t>b</a:t>
            </a:r>
            <a:r>
              <a:rPr lang="zh-CN" altLang="en-US" b="1" dirty="0">
                <a:ea typeface="宋体" panose="02010600030101010101" pitchFamily="2" charset="-122"/>
              </a:rPr>
              <a:t>采用位置号</a:t>
            </a:r>
            <a:endParaRPr lang="en-US" altLang="zh-CN" b="1" dirty="0">
              <a:ea typeface="宋体" panose="02010600030101010101" pitchFamily="2" charset="-122"/>
            </a:endParaRPr>
          </a:p>
        </p:txBody>
      </p:sp>
      <p:pic>
        <p:nvPicPr>
          <p:cNvPr id="38916" name="Picture 2"/>
          <p:cNvPicPr>
            <a:picLocks noChangeAspect="1"/>
          </p:cNvPicPr>
          <p:nvPr/>
        </p:nvPicPr>
        <p:blipFill>
          <a:blip r:embed="rId1"/>
          <a:stretch>
            <a:fillRect/>
          </a:stretch>
        </p:blipFill>
        <p:spPr>
          <a:xfrm>
            <a:off x="219075" y="4076700"/>
            <a:ext cx="8588375" cy="2781300"/>
          </a:xfrm>
          <a:prstGeom prst="rect">
            <a:avLst/>
          </a:prstGeom>
          <a:noFill/>
          <a:ln w="9525">
            <a:noFill/>
          </a:ln>
        </p:spPr>
      </p:pic>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三地址编码的实现</a:t>
            </a:r>
            <a:r>
              <a:rPr lang="en-US" altLang="zh-CN" dirty="0">
                <a:latin typeface="Times New Roman" panose="02020603050405020304" pitchFamily="18" charset="0"/>
                <a:ea typeface="宋体" panose="02010600030101010101" pitchFamily="2" charset="-122"/>
              </a:rPr>
              <a:t>（1）</a:t>
            </a:r>
            <a:endParaRPr lang="en-US" altLang="zh-CN" dirty="0">
              <a:latin typeface="Times New Roman" panose="02020603050405020304" pitchFamily="18" charset="0"/>
              <a:ea typeface="宋体" panose="02010600030101010101" pitchFamily="2" charset="-122"/>
            </a:endParaRPr>
          </a:p>
        </p:txBody>
      </p:sp>
      <p:sp>
        <p:nvSpPr>
          <p:cNvPr id="40963"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四元式</a:t>
            </a:r>
            <a:endParaRPr lang="zh-CN" altLang="en-US" sz="2400" b="1" dirty="0">
              <a:ea typeface="宋体" panose="02010600030101010101" pitchFamily="2" charset="-122"/>
            </a:endParaRPr>
          </a:p>
          <a:p>
            <a:pPr lvl="1">
              <a:buNone/>
            </a:pPr>
            <a:r>
              <a:rPr lang="en-US" altLang="zh-CN" sz="2200" b="1" dirty="0">
                <a:ea typeface="宋体" panose="02010600030101010101" pitchFamily="2" charset="-122"/>
              </a:rPr>
              <a:t>x := y op z</a:t>
            </a:r>
            <a:endParaRPr lang="en-US" altLang="zh-CN" sz="2200" b="1" dirty="0">
              <a:ea typeface="宋体" panose="02010600030101010101" pitchFamily="2" charset="-122"/>
            </a:endParaRPr>
          </a:p>
          <a:p>
            <a:pPr lvl="1"/>
            <a:r>
              <a:rPr lang="zh-CN" altLang="en-US" sz="2200" b="1" dirty="0">
                <a:ea typeface="宋体" panose="02010600030101010101" pitchFamily="2" charset="-122"/>
              </a:rPr>
              <a:t>有4个域的记录结构</a:t>
            </a:r>
            <a:endParaRPr lang="en-US" altLang="zh-CN" sz="2200" b="1" dirty="0">
              <a:ea typeface="宋体" panose="02010600030101010101" pitchFamily="2" charset="-122"/>
            </a:endParaRPr>
          </a:p>
          <a:p>
            <a:pPr lvl="2"/>
            <a:r>
              <a:rPr lang="en-US" altLang="zh-CN" sz="2000" b="1" dirty="0">
                <a:ea typeface="宋体" panose="02010600030101010101" pitchFamily="2" charset="-122"/>
              </a:rPr>
              <a:t>op：</a:t>
            </a:r>
            <a:r>
              <a:rPr lang="zh-CN" altLang="en-US" sz="2000" b="1" dirty="0">
                <a:ea typeface="宋体" panose="02010600030101010101" pitchFamily="2" charset="-122"/>
              </a:rPr>
              <a:t>算符的内部编码</a:t>
            </a:r>
            <a:endParaRPr lang="zh-CN" altLang="en-US" sz="2000" b="1" dirty="0">
              <a:ea typeface="宋体" panose="02010600030101010101" pitchFamily="2" charset="-122"/>
            </a:endParaRPr>
          </a:p>
          <a:p>
            <a:pPr lvl="2"/>
            <a:r>
              <a:rPr lang="en-US" altLang="zh-CN" sz="2000" b="1" dirty="0">
                <a:ea typeface="宋体" panose="02010600030101010101" pitchFamily="2" charset="-122"/>
              </a:rPr>
              <a:t>arg1</a:t>
            </a:r>
            <a:r>
              <a:rPr lang="zh-CN" altLang="en-US" sz="2000" b="1" dirty="0">
                <a:ea typeface="宋体" panose="02010600030101010101" pitchFamily="2" charset="-122"/>
              </a:rPr>
              <a:t>和</a:t>
            </a:r>
            <a:r>
              <a:rPr lang="en-US" altLang="zh-CN" sz="2000" b="1" dirty="0">
                <a:ea typeface="宋体" panose="02010600030101010101" pitchFamily="2" charset="-122"/>
              </a:rPr>
              <a:t>arg2</a:t>
            </a:r>
            <a:r>
              <a:rPr lang="zh-CN" altLang="en-US" sz="2000" b="1" dirty="0">
                <a:ea typeface="宋体" panose="02010600030101010101" pitchFamily="2" charset="-122"/>
              </a:rPr>
              <a:t>分别表示</a:t>
            </a:r>
            <a:r>
              <a:rPr lang="en-US" altLang="zh-CN" sz="2000" b="1" dirty="0">
                <a:ea typeface="宋体" panose="02010600030101010101" pitchFamily="2" charset="-122"/>
              </a:rPr>
              <a:t>y</a:t>
            </a:r>
            <a:r>
              <a:rPr lang="zh-CN" altLang="en-US" sz="2000" b="1" dirty="0">
                <a:ea typeface="宋体" panose="02010600030101010101" pitchFamily="2" charset="-122"/>
              </a:rPr>
              <a:t>和</a:t>
            </a:r>
            <a:r>
              <a:rPr lang="en-US" altLang="zh-CN" sz="2000" b="1" dirty="0">
                <a:ea typeface="宋体" panose="02010600030101010101" pitchFamily="2" charset="-122"/>
              </a:rPr>
              <a:t>z</a:t>
            </a:r>
            <a:endParaRPr lang="en-US" altLang="zh-CN" sz="2000" b="1" dirty="0">
              <a:ea typeface="宋体" panose="02010600030101010101" pitchFamily="2" charset="-122"/>
            </a:endParaRPr>
          </a:p>
          <a:p>
            <a:pPr lvl="2"/>
            <a:r>
              <a:rPr lang="en-US" altLang="zh-CN" sz="2000" b="1" dirty="0">
                <a:ea typeface="宋体" panose="02010600030101010101" pitchFamily="2" charset="-122"/>
              </a:rPr>
              <a:t>result</a:t>
            </a:r>
            <a:r>
              <a:rPr lang="zh-CN" altLang="en-US" sz="2000" b="1" dirty="0">
                <a:ea typeface="宋体" panose="02010600030101010101" pitchFamily="2" charset="-122"/>
              </a:rPr>
              <a:t>表示</a:t>
            </a:r>
            <a:r>
              <a:rPr lang="en-US" altLang="zh-CN" sz="2000" b="1" dirty="0">
                <a:ea typeface="宋体" panose="02010600030101010101" pitchFamily="2" charset="-122"/>
              </a:rPr>
              <a:t>x</a:t>
            </a:r>
            <a:endParaRPr lang="en-US" altLang="zh-CN" sz="2000" b="1" dirty="0">
              <a:ea typeface="宋体" panose="02010600030101010101" pitchFamily="2" charset="-122"/>
            </a:endParaRPr>
          </a:p>
          <a:p>
            <a:pPr lvl="2"/>
            <a:r>
              <a:rPr lang="en-US" altLang="zh-CN" sz="2000" b="1" dirty="0">
                <a:ea typeface="宋体" panose="02010600030101010101" pitchFamily="2" charset="-122"/>
              </a:rPr>
              <a:t>arg1、arg2</a:t>
            </a:r>
            <a:r>
              <a:rPr lang="zh-CN" altLang="en-US" sz="2000" b="1" dirty="0">
                <a:ea typeface="宋体" panose="02010600030101010101" pitchFamily="2" charset="-122"/>
              </a:rPr>
              <a:t>和</a:t>
            </a:r>
            <a:r>
              <a:rPr lang="en-US" altLang="zh-CN" sz="2000" b="1" dirty="0">
                <a:ea typeface="宋体" panose="02010600030101010101" pitchFamily="2" charset="-122"/>
              </a:rPr>
              <a:t>result</a:t>
            </a:r>
            <a:r>
              <a:rPr lang="zh-CN" altLang="en-US" sz="2000" b="1" dirty="0">
                <a:ea typeface="宋体" panose="02010600030101010101" pitchFamily="2" charset="-122"/>
              </a:rPr>
              <a:t>的内容通常是符号表条目指针</a:t>
            </a:r>
            <a:endParaRPr lang="zh-CN" altLang="en-US" sz="2000" b="1" dirty="0">
              <a:ea typeface="宋体" panose="02010600030101010101" pitchFamily="2" charset="-122"/>
            </a:endParaRPr>
          </a:p>
          <a:p>
            <a:pPr lvl="3"/>
            <a:r>
              <a:rPr lang="zh-CN" altLang="en-US" sz="1800" b="1" dirty="0">
                <a:ea typeface="宋体" panose="02010600030101010101" pitchFamily="2" charset="-122"/>
              </a:rPr>
              <a:t>临时名字要进入符号表</a:t>
            </a:r>
            <a:endParaRPr lang="zh-CN" altLang="en-US" sz="1800" b="1" dirty="0">
              <a:ea typeface="宋体" panose="02010600030101010101" pitchFamily="2" charset="-122"/>
            </a:endParaRPr>
          </a:p>
          <a:p>
            <a:pPr lvl="2"/>
            <a:r>
              <a:rPr lang="zh-CN" altLang="en-US" sz="2000" b="1" dirty="0">
                <a:ea typeface="宋体" panose="02010600030101010101" pitchFamily="2" charset="-122"/>
              </a:rPr>
              <a:t>一元运算不需要使用</a:t>
            </a:r>
            <a:r>
              <a:rPr lang="en-US" altLang="zh-CN" sz="2000" b="1" dirty="0">
                <a:ea typeface="宋体" panose="02010600030101010101" pitchFamily="2" charset="-122"/>
              </a:rPr>
              <a:t>arg2</a:t>
            </a:r>
            <a:r>
              <a:rPr lang="zh-CN" altLang="en-US" sz="2000" b="1" dirty="0">
                <a:ea typeface="宋体" panose="02010600030101010101" pitchFamily="2" charset="-122"/>
              </a:rPr>
              <a:t>的域</a:t>
            </a:r>
            <a:endParaRPr lang="zh-CN" altLang="en-US" sz="2000" b="1" dirty="0">
              <a:ea typeface="宋体" panose="02010600030101010101" pitchFamily="2" charset="-122"/>
            </a:endParaRPr>
          </a:p>
          <a:p>
            <a:pPr lvl="2"/>
            <a:r>
              <a:rPr lang="en-US" altLang="zh-CN" sz="2000" b="1" dirty="0">
                <a:ea typeface="宋体" panose="02010600030101010101" pitchFamily="2" charset="-122"/>
              </a:rPr>
              <a:t>param</a:t>
            </a:r>
            <a:r>
              <a:rPr lang="zh-CN" altLang="en-US" sz="2000" b="1" dirty="0">
                <a:ea typeface="宋体" panose="02010600030101010101" pitchFamily="2" charset="-122"/>
              </a:rPr>
              <a:t>不使用</a:t>
            </a:r>
            <a:r>
              <a:rPr lang="en-US" altLang="zh-CN" sz="2000" b="1" dirty="0">
                <a:ea typeface="宋体" panose="02010600030101010101" pitchFamily="2" charset="-122"/>
              </a:rPr>
              <a:t>arg2</a:t>
            </a:r>
            <a:r>
              <a:rPr lang="zh-CN" altLang="en-US" sz="2000" b="1" dirty="0">
                <a:ea typeface="宋体" panose="02010600030101010101" pitchFamily="2" charset="-122"/>
              </a:rPr>
              <a:t>和</a:t>
            </a:r>
            <a:r>
              <a:rPr lang="en-US" altLang="zh-CN" sz="2000" b="1" dirty="0">
                <a:ea typeface="宋体" panose="02010600030101010101" pitchFamily="2" charset="-122"/>
              </a:rPr>
              <a:t>result</a:t>
            </a:r>
            <a:r>
              <a:rPr lang="zh-CN" altLang="en-US" sz="2000" b="1" dirty="0">
                <a:ea typeface="宋体" panose="02010600030101010101" pitchFamily="2" charset="-122"/>
              </a:rPr>
              <a:t>域</a:t>
            </a:r>
            <a:endParaRPr lang="zh-CN" altLang="en-US" sz="2000" b="1" dirty="0">
              <a:ea typeface="宋体" panose="02010600030101010101" pitchFamily="2" charset="-122"/>
            </a:endParaRPr>
          </a:p>
          <a:p>
            <a:pPr lvl="2"/>
            <a:r>
              <a:rPr lang="zh-CN" altLang="en-US" sz="2000" b="1" dirty="0">
                <a:ea typeface="宋体" panose="02010600030101010101" pitchFamily="2" charset="-122"/>
              </a:rPr>
              <a:t>条件转移和无条件转移把目标语句的标号放在</a:t>
            </a:r>
            <a:r>
              <a:rPr lang="en-US" altLang="zh-CN" sz="2000" b="1" dirty="0">
                <a:ea typeface="宋体" panose="02010600030101010101" pitchFamily="2" charset="-122"/>
              </a:rPr>
              <a:t>result</a:t>
            </a:r>
            <a:r>
              <a:rPr lang="zh-CN" altLang="en-US" sz="2000" b="1" dirty="0">
                <a:ea typeface="宋体" panose="02010600030101010101" pitchFamily="2" charset="-122"/>
              </a:rPr>
              <a:t>中</a:t>
            </a:r>
            <a:endParaRPr lang="zh-CN" altLang="en-US" sz="2000" b="1" dirty="0">
              <a:ea typeface="宋体" panose="02010600030101010101" pitchFamily="2" charset="-122"/>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三地址编码的实现</a:t>
            </a:r>
            <a:r>
              <a:rPr lang="en-US" altLang="zh-CN" dirty="0">
                <a:latin typeface="Times New Roman" panose="02020603050405020304" pitchFamily="18" charset="0"/>
                <a:ea typeface="宋体" panose="02010600030101010101" pitchFamily="2" charset="-122"/>
              </a:rPr>
              <a:t>（2）</a:t>
            </a:r>
            <a:endParaRPr lang="en-US" altLang="zh-CN" dirty="0">
              <a:latin typeface="Times New Roman" panose="02020603050405020304" pitchFamily="18" charset="0"/>
              <a:ea typeface="宋体" panose="02010600030101010101" pitchFamily="2" charset="-122"/>
            </a:endParaRPr>
          </a:p>
        </p:txBody>
      </p:sp>
      <p:sp>
        <p:nvSpPr>
          <p:cNvPr id="43011" name="Rectangle 3"/>
          <p:cNvSpPr>
            <a:spLocks noGrp="1"/>
          </p:cNvSpPr>
          <p:nvPr>
            <p:ph idx="1"/>
          </p:nvPr>
        </p:nvSpPr>
        <p:spPr>
          <a:xfrm>
            <a:off x="990600" y="1371600"/>
            <a:ext cx="7391400" cy="4876800"/>
          </a:xfrm>
        </p:spPr>
        <p:txBody>
          <a:bodyPr vert="horz" wrap="square" lIns="92075" tIns="46038" rIns="92075" bIns="46038" anchor="t" anchorCtr="0"/>
          <a:p>
            <a:r>
              <a:rPr lang="zh-CN" altLang="en-US" sz="2400" b="1" dirty="0">
                <a:ea typeface="宋体" panose="02010600030101010101" pitchFamily="2" charset="-122"/>
              </a:rPr>
              <a:t>赋值语句：</a:t>
            </a:r>
            <a:r>
              <a:rPr lang="en-US" altLang="zh-CN" sz="2400" b="1" dirty="0">
                <a:ea typeface="宋体" panose="02010600030101010101" pitchFamily="2" charset="-122"/>
              </a:rPr>
              <a:t>a := b * -c + b * -c</a:t>
            </a:r>
            <a:r>
              <a:rPr lang="zh-CN" altLang="en-US" sz="2400" b="1" dirty="0">
                <a:ea typeface="宋体" panose="02010600030101010101" pitchFamily="2" charset="-122"/>
              </a:rPr>
              <a:t>的四元式表示</a:t>
            </a:r>
            <a:endParaRPr lang="zh-CN" altLang="en-US" sz="2400" b="1" dirty="0">
              <a:ea typeface="宋体" panose="02010600030101010101" pitchFamily="2" charset="-122"/>
            </a:endParaRPr>
          </a:p>
          <a:p>
            <a:pPr lvl="3">
              <a:buFont typeface="Wingdings" panose="05000000000000000000" pitchFamily="2" charset="2"/>
              <a:buNone/>
            </a:pPr>
            <a:r>
              <a:rPr lang="en-US" altLang="zh-CN" b="1" dirty="0">
                <a:ea typeface="宋体" panose="02010600030101010101" pitchFamily="2" charset="-122"/>
              </a:rPr>
              <a:t>	op	arg1	arg2	result</a:t>
            </a:r>
            <a:endParaRPr lang="en-US" altLang="zh-CN"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(0)   uminus	  c		   t1</a:t>
            </a:r>
            <a:endParaRPr lang="en-US" altLang="zh-CN"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(1)       *		  b	  t1	   t2</a:t>
            </a:r>
            <a:endParaRPr lang="en-US" altLang="zh-CN"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(2)   uminus	  c		   t3</a:t>
            </a:r>
            <a:endParaRPr lang="en-US" altLang="zh-CN"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(3)       *		  b	  t3	   t4</a:t>
            </a:r>
            <a:endParaRPr lang="en-US" altLang="zh-CN"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(4)       +		  t2	  t4	   t5</a:t>
            </a:r>
            <a:endParaRPr lang="en-US" altLang="zh-CN"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(5)      := 	  t5		   a</a:t>
            </a:r>
            <a:endParaRPr lang="en-US" altLang="zh-CN" sz="2000" b="1" dirty="0">
              <a:ea typeface="宋体" panose="02010600030101010101" pitchFamily="2" charset="-122"/>
            </a:endParaRPr>
          </a:p>
          <a:p>
            <a:r>
              <a:rPr lang="zh-CN" altLang="en-US" sz="2400" b="1" dirty="0">
                <a:ea typeface="宋体" panose="02010600030101010101" pitchFamily="2" charset="-122"/>
              </a:rPr>
              <a:t>四元式易于调整次序，便于优化的实施</a:t>
            </a:r>
            <a:endParaRPr lang="zh-CN" altLang="en-US" sz="2400" b="1" dirty="0">
              <a:ea typeface="宋体" panose="02010600030101010101" pitchFamily="2" charset="-122"/>
            </a:endParaRPr>
          </a:p>
          <a:p>
            <a:r>
              <a:rPr lang="zh-CN" altLang="en-US" sz="2400" b="1" dirty="0">
                <a:ea typeface="宋体" panose="02010600030101010101" pitchFamily="2" charset="-122"/>
              </a:rPr>
              <a:t>占用空间大，要增加新的符号表表项</a:t>
            </a:r>
            <a:endParaRPr lang="en-US" altLang="zh-CN" sz="2400" b="1" dirty="0">
              <a:ea typeface="宋体" panose="02010600030101010101" pitchFamily="2" charset="-122"/>
            </a:endParaRPr>
          </a:p>
          <a:p>
            <a:r>
              <a:rPr lang="zh-CN" altLang="en-US" sz="2400" b="1" dirty="0">
                <a:ea typeface="宋体" panose="02010600030101010101" pitchFamily="2" charset="-122"/>
              </a:rPr>
              <a:t>复制指令的引入</a:t>
            </a:r>
            <a:endParaRPr lang="en-US" altLang="zh-CN" sz="2400" b="1" dirty="0">
              <a:ea typeface="宋体" panose="02010600030101010101" pitchFamily="2" charset="-122"/>
            </a:endParaRPr>
          </a:p>
          <a:p>
            <a:pPr lvl="1"/>
            <a:r>
              <a:rPr lang="zh-CN" altLang="en-US" sz="2200" b="1" dirty="0">
                <a:ea typeface="宋体" panose="02010600030101010101" pitchFamily="2" charset="-122"/>
              </a:rPr>
              <a:t>上述序列中指令</a:t>
            </a:r>
            <a:r>
              <a:rPr lang="en-US" altLang="zh-CN" sz="2200" b="1" dirty="0">
                <a:ea typeface="宋体" panose="02010600030101010101" pitchFamily="2" charset="-122"/>
              </a:rPr>
              <a:t>4</a:t>
            </a:r>
            <a:r>
              <a:rPr lang="zh-CN" altLang="en-US" sz="2200" b="1" dirty="0">
                <a:ea typeface="宋体" panose="02010600030101010101" pitchFamily="2" charset="-122"/>
              </a:rPr>
              <a:t>，只是完成了</a:t>
            </a:r>
            <a:r>
              <a:rPr lang="en-US" altLang="zh-CN" sz="2200" b="1" dirty="0">
                <a:ea typeface="宋体" panose="02010600030101010101" pitchFamily="2" charset="-122"/>
              </a:rPr>
              <a:t>+</a:t>
            </a:r>
            <a:r>
              <a:rPr lang="zh-CN" altLang="en-US" sz="2200" b="1" dirty="0">
                <a:ea typeface="宋体" panose="02010600030101010101" pitchFamily="2" charset="-122"/>
              </a:rPr>
              <a:t>的运算，尚不知最终会赋值给那个量，因此引入临时量</a:t>
            </a:r>
            <a:r>
              <a:rPr lang="en-US" altLang="zh-CN" sz="2200" b="1" dirty="0">
                <a:ea typeface="宋体" panose="02010600030101010101" pitchFamily="2" charset="-122"/>
              </a:rPr>
              <a:t>t5</a:t>
            </a:r>
            <a:r>
              <a:rPr lang="zh-CN" altLang="en-US" sz="2200" b="1" dirty="0">
                <a:ea typeface="宋体" panose="02010600030101010101" pitchFamily="2" charset="-122"/>
              </a:rPr>
              <a:t>；而指令</a:t>
            </a:r>
            <a:r>
              <a:rPr lang="en-US" altLang="zh-CN" sz="2200" b="1" dirty="0">
                <a:ea typeface="宋体" panose="02010600030101010101" pitchFamily="2" charset="-122"/>
              </a:rPr>
              <a:t>5</a:t>
            </a:r>
            <a:r>
              <a:rPr lang="zh-CN" altLang="en-US" sz="2200" b="1" dirty="0">
                <a:ea typeface="宋体" panose="02010600030101010101" pitchFamily="2" charset="-122"/>
              </a:rPr>
              <a:t>完成最终的赋值，此时是一个复制指令</a:t>
            </a:r>
            <a:endParaRPr lang="en-US" altLang="zh-CN" sz="2200" b="1" dirty="0">
              <a:ea typeface="宋体" panose="02010600030101010101" pitchFamily="2" charset="-122"/>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三地址编码的实现</a:t>
            </a:r>
            <a:r>
              <a:rPr lang="en-US" altLang="zh-CN" dirty="0">
                <a:latin typeface="Times New Roman" panose="02020603050405020304" pitchFamily="18" charset="0"/>
                <a:ea typeface="宋体" panose="02010600030101010101" pitchFamily="2" charset="-122"/>
              </a:rPr>
              <a:t>（3）</a:t>
            </a:r>
            <a:endParaRPr lang="en-US" altLang="zh-CN" dirty="0">
              <a:latin typeface="Times New Roman" panose="02020603050405020304" pitchFamily="18" charset="0"/>
              <a:ea typeface="宋体" panose="02010600030101010101" pitchFamily="2" charset="-122"/>
            </a:endParaRPr>
          </a:p>
        </p:txBody>
      </p:sp>
      <p:sp>
        <p:nvSpPr>
          <p:cNvPr id="45059" name="Rectangle 3"/>
          <p:cNvSpPr>
            <a:spLocks noGrp="1"/>
          </p:cNvSpPr>
          <p:nvPr>
            <p:ph idx="1"/>
          </p:nvPr>
        </p:nvSpPr>
        <p:spPr>
          <a:xfrm>
            <a:off x="990600" y="1524000"/>
            <a:ext cx="7391400" cy="4724400"/>
          </a:xfrm>
        </p:spPr>
        <p:txBody>
          <a:bodyPr vert="horz" wrap="square" lIns="92075" tIns="46038" rIns="92075" bIns="46038" anchor="t" anchorCtr="0"/>
          <a:p>
            <a:pPr>
              <a:lnSpc>
                <a:spcPct val="90000"/>
              </a:lnSpc>
              <a:spcBef>
                <a:spcPct val="0"/>
              </a:spcBef>
            </a:pPr>
            <a:r>
              <a:rPr lang="zh-CN" altLang="en-US" sz="2400" b="1" dirty="0">
                <a:ea typeface="宋体" panose="02010600030101010101" pitchFamily="2" charset="-122"/>
              </a:rPr>
              <a:t>三元式</a:t>
            </a:r>
            <a:endParaRPr lang="zh-CN" altLang="en-US" sz="2400" b="1" dirty="0">
              <a:ea typeface="宋体" panose="02010600030101010101" pitchFamily="2" charset="-122"/>
            </a:endParaRPr>
          </a:p>
          <a:p>
            <a:pPr lvl="1">
              <a:lnSpc>
                <a:spcPct val="90000"/>
              </a:lnSpc>
              <a:spcBef>
                <a:spcPct val="0"/>
              </a:spcBef>
              <a:buNone/>
            </a:pPr>
            <a:r>
              <a:rPr lang="en-US" altLang="zh-CN" sz="2200" b="1" dirty="0">
                <a:ea typeface="宋体" panose="02010600030101010101" pitchFamily="2" charset="-122"/>
              </a:rPr>
              <a:t>x := y op z</a:t>
            </a:r>
            <a:endParaRPr lang="en-US" altLang="zh-CN" sz="2200" b="1" dirty="0">
              <a:ea typeface="宋体" panose="02010600030101010101" pitchFamily="2" charset="-122"/>
            </a:endParaRPr>
          </a:p>
          <a:p>
            <a:pPr lvl="1">
              <a:lnSpc>
                <a:spcPct val="90000"/>
              </a:lnSpc>
              <a:spcBef>
                <a:spcPct val="0"/>
              </a:spcBef>
            </a:pPr>
            <a:r>
              <a:rPr lang="zh-CN" altLang="en-US" sz="2200" b="1" dirty="0">
                <a:ea typeface="宋体" panose="02010600030101010101" pitchFamily="2" charset="-122"/>
              </a:rPr>
              <a:t>避免四元式引入临时变量，可以用三地址语句的序号表示临时值</a:t>
            </a:r>
            <a:endParaRPr lang="zh-CN" altLang="en-US" sz="2200" b="1" dirty="0">
              <a:ea typeface="宋体" panose="02010600030101010101" pitchFamily="2" charset="-122"/>
            </a:endParaRPr>
          </a:p>
          <a:p>
            <a:pPr lvl="1">
              <a:lnSpc>
                <a:spcPct val="90000"/>
              </a:lnSpc>
              <a:spcBef>
                <a:spcPct val="0"/>
              </a:spcBef>
            </a:pPr>
            <a:r>
              <a:rPr lang="zh-CN" altLang="en-US" sz="2200" b="1" dirty="0">
                <a:ea typeface="宋体" panose="02010600030101010101" pitchFamily="2" charset="-122"/>
              </a:rPr>
              <a:t>有3个域的记录结构</a:t>
            </a:r>
            <a:endParaRPr lang="en-US" altLang="zh-CN" sz="2200" b="1" dirty="0">
              <a:ea typeface="宋体" panose="02010600030101010101" pitchFamily="2" charset="-122"/>
            </a:endParaRPr>
          </a:p>
          <a:p>
            <a:pPr lvl="2">
              <a:lnSpc>
                <a:spcPct val="90000"/>
              </a:lnSpc>
              <a:spcBef>
                <a:spcPct val="0"/>
              </a:spcBef>
            </a:pPr>
            <a:r>
              <a:rPr lang="en-US" altLang="zh-CN" sz="2000" b="1" dirty="0">
                <a:ea typeface="宋体" panose="02010600030101010101" pitchFamily="2" charset="-122"/>
              </a:rPr>
              <a:t>op：</a:t>
            </a:r>
            <a:r>
              <a:rPr lang="zh-CN" altLang="en-US" sz="2000" b="1" dirty="0">
                <a:ea typeface="宋体" panose="02010600030101010101" pitchFamily="2" charset="-122"/>
              </a:rPr>
              <a:t>算符的内部编码</a:t>
            </a:r>
            <a:endParaRPr lang="zh-CN" altLang="en-US" sz="2000" b="1" dirty="0">
              <a:ea typeface="宋体" panose="02010600030101010101" pitchFamily="2" charset="-122"/>
            </a:endParaRPr>
          </a:p>
          <a:p>
            <a:pPr lvl="2">
              <a:lnSpc>
                <a:spcPct val="90000"/>
              </a:lnSpc>
              <a:spcBef>
                <a:spcPct val="0"/>
              </a:spcBef>
            </a:pPr>
            <a:r>
              <a:rPr lang="en-US" altLang="zh-CN" sz="2000" b="1" dirty="0">
                <a:ea typeface="宋体" panose="02010600030101010101" pitchFamily="2" charset="-122"/>
              </a:rPr>
              <a:t>arg1</a:t>
            </a:r>
            <a:r>
              <a:rPr lang="zh-CN" altLang="en-US" sz="2000" b="1" dirty="0">
                <a:ea typeface="宋体" panose="02010600030101010101" pitchFamily="2" charset="-122"/>
              </a:rPr>
              <a:t>和</a:t>
            </a:r>
            <a:r>
              <a:rPr lang="en-US" altLang="zh-CN" sz="2000" b="1" dirty="0">
                <a:ea typeface="宋体" panose="02010600030101010101" pitchFamily="2" charset="-122"/>
              </a:rPr>
              <a:t>arg2</a:t>
            </a:r>
            <a:r>
              <a:rPr lang="zh-CN" altLang="en-US" sz="2000" b="1" dirty="0">
                <a:ea typeface="宋体" panose="02010600030101010101" pitchFamily="2" charset="-122"/>
              </a:rPr>
              <a:t>分别表示</a:t>
            </a:r>
            <a:r>
              <a:rPr lang="en-US" altLang="zh-CN" sz="2000" b="1" dirty="0">
                <a:ea typeface="宋体" panose="02010600030101010101" pitchFamily="2" charset="-122"/>
              </a:rPr>
              <a:t>y</a:t>
            </a:r>
            <a:r>
              <a:rPr lang="zh-CN" altLang="en-US" sz="2000" b="1" dirty="0">
                <a:ea typeface="宋体" panose="02010600030101010101" pitchFamily="2" charset="-122"/>
              </a:rPr>
              <a:t>和</a:t>
            </a:r>
            <a:r>
              <a:rPr lang="en-US" altLang="zh-CN" sz="2000" b="1" dirty="0">
                <a:ea typeface="宋体" panose="02010600030101010101" pitchFamily="2" charset="-122"/>
              </a:rPr>
              <a:t>z</a:t>
            </a:r>
            <a:endParaRPr lang="en-US" altLang="zh-CN" sz="2000" b="1" dirty="0">
              <a:ea typeface="宋体" panose="02010600030101010101" pitchFamily="2" charset="-122"/>
            </a:endParaRPr>
          </a:p>
          <a:p>
            <a:pPr lvl="2">
              <a:lnSpc>
                <a:spcPct val="90000"/>
              </a:lnSpc>
              <a:spcBef>
                <a:spcPct val="0"/>
              </a:spcBef>
            </a:pPr>
            <a:r>
              <a:rPr lang="zh-CN" altLang="en-US" sz="2000" b="1" dirty="0">
                <a:ea typeface="宋体" panose="02010600030101010101" pitchFamily="2" charset="-122"/>
              </a:rPr>
              <a:t>这个语句的结果通过这个语句的序号引用</a:t>
            </a:r>
            <a:endParaRPr lang="zh-CN" altLang="en-US" sz="2000" b="1" dirty="0">
              <a:ea typeface="宋体" panose="02010600030101010101" pitchFamily="2" charset="-122"/>
            </a:endParaRPr>
          </a:p>
          <a:p>
            <a:pPr lvl="2">
              <a:lnSpc>
                <a:spcPct val="90000"/>
              </a:lnSpc>
              <a:spcBef>
                <a:spcPct val="0"/>
              </a:spcBef>
            </a:pPr>
            <a:r>
              <a:rPr lang="en-US" altLang="zh-CN" sz="2000" b="1" dirty="0">
                <a:ea typeface="宋体" panose="02010600030101010101" pitchFamily="2" charset="-122"/>
              </a:rPr>
              <a:t>arg1、arg2</a:t>
            </a:r>
            <a:r>
              <a:rPr lang="zh-CN" altLang="en-US" sz="2000" b="1" dirty="0">
                <a:ea typeface="宋体" panose="02010600030101010101" pitchFamily="2" charset="-122"/>
              </a:rPr>
              <a:t>的内容通常是符号表条目指针</a:t>
            </a:r>
            <a:endParaRPr lang="zh-CN" altLang="en-US" sz="2000" b="1" dirty="0">
              <a:ea typeface="宋体" panose="02010600030101010101" pitchFamily="2" charset="-122"/>
            </a:endParaRPr>
          </a:p>
          <a:p>
            <a:pPr lvl="3">
              <a:lnSpc>
                <a:spcPct val="90000"/>
              </a:lnSpc>
              <a:spcBef>
                <a:spcPct val="0"/>
              </a:spcBef>
            </a:pPr>
            <a:r>
              <a:rPr lang="zh-CN" altLang="en-US" sz="1800" b="1" dirty="0">
                <a:ea typeface="宋体" panose="02010600030101010101" pitchFamily="2" charset="-122"/>
              </a:rPr>
              <a:t>避免引入临时名字</a:t>
            </a:r>
            <a:endParaRPr lang="zh-CN" altLang="en-US" sz="1800" b="1" dirty="0">
              <a:ea typeface="宋体" panose="02010600030101010101" pitchFamily="2" charset="-122"/>
            </a:endParaRPr>
          </a:p>
          <a:p>
            <a:pPr lvl="2">
              <a:lnSpc>
                <a:spcPct val="90000"/>
              </a:lnSpc>
              <a:spcBef>
                <a:spcPct val="0"/>
              </a:spcBef>
            </a:pPr>
            <a:r>
              <a:rPr lang="zh-CN" altLang="en-US" sz="2000" b="1" dirty="0">
                <a:ea typeface="宋体" panose="02010600030101010101" pitchFamily="2" charset="-122"/>
              </a:rPr>
              <a:t>有些三地址语句要多个三元式表示</a:t>
            </a:r>
            <a:endParaRPr lang="zh-CN" altLang="en-US" sz="2000" b="1" dirty="0">
              <a:ea typeface="宋体" panose="02010600030101010101" pitchFamily="2" charset="-122"/>
            </a:endParaRPr>
          </a:p>
          <a:p>
            <a:pPr lvl="2">
              <a:lnSpc>
                <a:spcPct val="90000"/>
              </a:lnSpc>
              <a:spcBef>
                <a:spcPct val="0"/>
              </a:spcBef>
              <a:buFont typeface="Wingdings" panose="05000000000000000000" pitchFamily="2" charset="2"/>
              <a:buNone/>
            </a:pPr>
            <a:r>
              <a:rPr lang="en-US" altLang="zh-CN" sz="2000" b="1" dirty="0">
                <a:ea typeface="宋体" panose="02010600030101010101" pitchFamily="2" charset="-122"/>
              </a:rPr>
              <a:t>	x[i] := y			y := x[i]</a:t>
            </a:r>
            <a:endParaRPr lang="en-US" altLang="zh-CN" sz="2000" b="1" dirty="0">
              <a:ea typeface="宋体" panose="02010600030101010101" pitchFamily="2" charset="-122"/>
            </a:endParaRPr>
          </a:p>
          <a:p>
            <a:pPr lvl="2">
              <a:lnSpc>
                <a:spcPct val="90000"/>
              </a:lnSpc>
              <a:spcBef>
                <a:spcPct val="0"/>
              </a:spcBef>
              <a:buFont typeface="Wingdings" panose="05000000000000000000" pitchFamily="2" charset="2"/>
              <a:buNone/>
            </a:pPr>
            <a:r>
              <a:rPr lang="en-US" altLang="zh-CN" sz="2000" b="1" dirty="0">
                <a:ea typeface="宋体" panose="02010600030101010101" pitchFamily="2" charset="-122"/>
              </a:rPr>
              <a:t>op     arg1     arg2	           op    arg1      arg2</a:t>
            </a:r>
            <a:endParaRPr lang="en-US" altLang="zh-CN" sz="2000" b="1" dirty="0">
              <a:ea typeface="宋体" panose="02010600030101010101" pitchFamily="2" charset="-122"/>
            </a:endParaRPr>
          </a:p>
          <a:p>
            <a:pPr lvl="1">
              <a:lnSpc>
                <a:spcPct val="90000"/>
              </a:lnSpc>
              <a:spcBef>
                <a:spcPct val="0"/>
              </a:spcBef>
              <a:buNone/>
            </a:pPr>
            <a:r>
              <a:rPr lang="en-US" altLang="zh-CN" sz="2000" b="1" dirty="0">
                <a:ea typeface="宋体" panose="02010600030101010101" pitchFamily="2" charset="-122"/>
              </a:rPr>
              <a:t>(0)  [ ]=      x           i                     (0)   =[ ]     x</a:t>
            </a:r>
            <a:r>
              <a:rPr lang="zh-CN" altLang="en-US" sz="2000" b="1" dirty="0">
                <a:ea typeface="宋体" panose="02010600030101010101" pitchFamily="2" charset="-122"/>
              </a:rPr>
              <a:t>            </a:t>
            </a:r>
            <a:r>
              <a:rPr lang="en-US" altLang="zh-CN" sz="2000" b="1" dirty="0">
                <a:ea typeface="宋体" panose="02010600030101010101" pitchFamily="2" charset="-122"/>
              </a:rPr>
              <a:t>i</a:t>
            </a:r>
            <a:endParaRPr lang="en-US" altLang="zh-CN" sz="2000" b="1" dirty="0">
              <a:ea typeface="宋体" panose="02010600030101010101" pitchFamily="2" charset="-122"/>
            </a:endParaRPr>
          </a:p>
          <a:p>
            <a:pPr lvl="1">
              <a:lnSpc>
                <a:spcPct val="90000"/>
              </a:lnSpc>
              <a:spcBef>
                <a:spcPct val="0"/>
              </a:spcBef>
              <a:buNone/>
            </a:pPr>
            <a:r>
              <a:rPr lang="en-US" altLang="zh-CN" sz="2000" b="1" dirty="0">
                <a:ea typeface="宋体" panose="02010600030101010101" pitchFamily="2" charset="-122"/>
              </a:rPr>
              <a:t>(1)   :=      (0)         y                     (1)    :=      y           (0)</a:t>
            </a:r>
            <a:endParaRPr lang="en-US" altLang="zh-CN" sz="2000" b="1" dirty="0">
              <a:ea typeface="宋体" panose="02010600030101010101" pitchFamily="2" charset="-122"/>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三地址编码的实现</a:t>
            </a:r>
            <a:r>
              <a:rPr lang="en-US" altLang="zh-CN" dirty="0">
                <a:latin typeface="Times New Roman" panose="02020603050405020304" pitchFamily="18" charset="0"/>
                <a:ea typeface="宋体" panose="02010600030101010101" pitchFamily="2" charset="-122"/>
              </a:rPr>
              <a:t>（4）</a:t>
            </a:r>
            <a:endParaRPr lang="en-US" altLang="zh-CN" dirty="0">
              <a:latin typeface="Times New Roman" panose="02020603050405020304" pitchFamily="18" charset="0"/>
              <a:ea typeface="宋体" panose="02010600030101010101" pitchFamily="2" charset="-122"/>
            </a:endParaRPr>
          </a:p>
        </p:txBody>
      </p:sp>
      <p:sp>
        <p:nvSpPr>
          <p:cNvPr id="47107"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赋值语句：</a:t>
            </a:r>
            <a:r>
              <a:rPr lang="en-US" altLang="zh-CN" sz="2400" b="1" dirty="0">
                <a:ea typeface="宋体" panose="02010600030101010101" pitchFamily="2" charset="-122"/>
              </a:rPr>
              <a:t>a := b * -c + b * -c</a:t>
            </a:r>
            <a:r>
              <a:rPr lang="zh-CN" altLang="en-US" sz="2400" b="1" dirty="0">
                <a:ea typeface="宋体" panose="02010600030101010101" pitchFamily="2" charset="-122"/>
              </a:rPr>
              <a:t>的三元式表示</a:t>
            </a:r>
            <a:endParaRPr lang="zh-CN" altLang="en-US" sz="2400" b="1" dirty="0">
              <a:ea typeface="宋体" panose="02010600030101010101" pitchFamily="2" charset="-122"/>
            </a:endParaRPr>
          </a:p>
          <a:p>
            <a:pPr lvl="3">
              <a:buFont typeface="Wingdings" panose="05000000000000000000" pitchFamily="2" charset="2"/>
              <a:buNone/>
            </a:pPr>
            <a:r>
              <a:rPr lang="en-US" altLang="zh-CN" b="1" dirty="0">
                <a:ea typeface="宋体" panose="02010600030101010101" pitchFamily="2" charset="-122"/>
              </a:rPr>
              <a:t>	op	arg1	arg2</a:t>
            </a:r>
            <a:endParaRPr lang="en-US" altLang="zh-CN"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(0)   uminus	  c</a:t>
            </a:r>
            <a:endParaRPr lang="en-US" altLang="zh-CN"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(1)       *		  b	  (0)</a:t>
            </a:r>
            <a:endParaRPr lang="en-US" altLang="zh-CN"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(2)   uminus	  c</a:t>
            </a:r>
            <a:endParaRPr lang="en-US" altLang="zh-CN"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(3)       *		  b	  (2)</a:t>
            </a:r>
            <a:endParaRPr lang="en-US" altLang="zh-CN"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(4)       +		 (1)	  (3)</a:t>
            </a:r>
            <a:endParaRPr lang="en-US" altLang="zh-CN"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(5)      := 	  a	  (4)</a:t>
            </a:r>
            <a:endParaRPr lang="en-US" altLang="zh-CN" sz="2000" b="1" dirty="0">
              <a:ea typeface="宋体" panose="02010600030101010101" pitchFamily="2" charset="-122"/>
            </a:endParaRPr>
          </a:p>
          <a:p>
            <a:r>
              <a:rPr lang="zh-CN" altLang="en-US" sz="2400" b="1" dirty="0">
                <a:ea typeface="宋体" panose="02010600030101010101" pitchFamily="2" charset="-122"/>
              </a:rPr>
              <a:t>三元式通过相应三元式结构的位置来引用临时值，序列中不会出现临时量的名字</a:t>
            </a:r>
            <a:endParaRPr lang="en-US" altLang="zh-CN" sz="2400" b="1" dirty="0">
              <a:ea typeface="宋体" panose="02010600030101010101" pitchFamily="2" charset="-122"/>
            </a:endParaRPr>
          </a:p>
          <a:p>
            <a:r>
              <a:rPr lang="zh-CN" altLang="en-US" sz="2400" b="1" dirty="0">
                <a:ea typeface="宋体" panose="02010600030101010101" pitchFamily="2" charset="-122"/>
              </a:rPr>
              <a:t>三元式难于用于优化编译器</a:t>
            </a:r>
            <a:endParaRPr lang="zh-CN" altLang="en-US" sz="2400" b="1" dirty="0">
              <a:ea typeface="宋体" panose="02010600030101010101" pitchFamily="2" charset="-122"/>
            </a:endParaRPr>
          </a:p>
          <a:p>
            <a:r>
              <a:rPr lang="zh-CN" altLang="en-US" sz="2400" b="1" dirty="0">
                <a:ea typeface="宋体" panose="02010600030101010101" pitchFamily="2" charset="-122"/>
              </a:rPr>
              <a:t>空间较省</a:t>
            </a:r>
            <a:endParaRPr lang="zh-CN" altLang="en-US" sz="2400" b="1" dirty="0">
              <a:ea typeface="宋体" panose="02010600030101010101" pitchFamily="2" charset="-122"/>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三地址编码的实现</a:t>
            </a:r>
            <a:r>
              <a:rPr lang="en-US" altLang="zh-CN" dirty="0">
                <a:latin typeface="Times New Roman" panose="02020603050405020304" pitchFamily="18" charset="0"/>
                <a:ea typeface="宋体" panose="02010600030101010101" pitchFamily="2" charset="-122"/>
              </a:rPr>
              <a:t>（5）</a:t>
            </a:r>
            <a:endParaRPr lang="en-US" altLang="zh-CN" dirty="0">
              <a:latin typeface="Times New Roman" panose="02020603050405020304" pitchFamily="18" charset="0"/>
              <a:ea typeface="宋体" panose="02010600030101010101" pitchFamily="2" charset="-122"/>
            </a:endParaRPr>
          </a:p>
        </p:txBody>
      </p:sp>
      <p:sp>
        <p:nvSpPr>
          <p:cNvPr id="49155" name="Rectangle 3"/>
          <p:cNvSpPr>
            <a:spLocks noGrp="1"/>
          </p:cNvSpPr>
          <p:nvPr>
            <p:ph idx="1"/>
          </p:nvPr>
        </p:nvSpPr>
        <p:spPr>
          <a:xfrm>
            <a:off x="990600" y="1524000"/>
            <a:ext cx="7391400" cy="4724400"/>
          </a:xfrm>
        </p:spPr>
        <p:txBody>
          <a:bodyPr vert="horz" wrap="square" lIns="92075" tIns="46038" rIns="92075" bIns="46038" anchor="t" anchorCtr="0"/>
          <a:p>
            <a:pPr>
              <a:spcBef>
                <a:spcPct val="0"/>
              </a:spcBef>
            </a:pPr>
            <a:r>
              <a:rPr lang="zh-CN" altLang="en-US" sz="2400" b="1" dirty="0">
                <a:ea typeface="宋体" panose="02010600030101010101" pitchFamily="2" charset="-122"/>
              </a:rPr>
              <a:t>间接三元式</a:t>
            </a:r>
            <a:endParaRPr lang="zh-CN" altLang="en-US" sz="2400" b="1" dirty="0">
              <a:ea typeface="宋体" panose="02010600030101010101" pitchFamily="2" charset="-122"/>
            </a:endParaRPr>
          </a:p>
          <a:p>
            <a:pPr lvl="1">
              <a:spcBef>
                <a:spcPct val="0"/>
              </a:spcBef>
            </a:pPr>
            <a:r>
              <a:rPr lang="zh-CN" altLang="en-US" sz="2200" b="1" dirty="0">
                <a:ea typeface="宋体" panose="02010600030101010101" pitchFamily="2" charset="-122"/>
              </a:rPr>
              <a:t>在三元式基础上，增加一个索引列表</a:t>
            </a:r>
            <a:endParaRPr lang="zh-CN" altLang="en-US" sz="2200" b="1" dirty="0">
              <a:ea typeface="宋体" panose="02010600030101010101" pitchFamily="2" charset="-122"/>
            </a:endParaRPr>
          </a:p>
          <a:p>
            <a:pPr lvl="1">
              <a:spcBef>
                <a:spcPct val="0"/>
              </a:spcBef>
              <a:buNone/>
            </a:pPr>
            <a:endParaRPr lang="zh-CN" altLang="en-US" sz="2200" b="1" dirty="0">
              <a:ea typeface="宋体" panose="02010600030101010101" pitchFamily="2" charset="-122"/>
            </a:endParaRPr>
          </a:p>
          <a:p>
            <a:pPr lvl="1">
              <a:spcBef>
                <a:spcPct val="0"/>
              </a:spcBef>
              <a:buNone/>
            </a:pPr>
            <a:r>
              <a:rPr lang="en-US" altLang="zh-CN" sz="2000" b="1" dirty="0">
                <a:ea typeface="宋体" panose="02010600030101010101" pitchFamily="2" charset="-122"/>
              </a:rPr>
              <a:t>Statement		         op           arg1             arg2</a:t>
            </a:r>
            <a:endParaRPr lang="en-US" altLang="zh-CN" sz="2000" b="1" dirty="0">
              <a:ea typeface="宋体" panose="02010600030101010101" pitchFamily="2" charset="-122"/>
            </a:endParaRPr>
          </a:p>
          <a:p>
            <a:pPr>
              <a:spcBef>
                <a:spcPct val="0"/>
              </a:spcBef>
              <a:buNone/>
            </a:pPr>
            <a:r>
              <a:rPr lang="en-US" altLang="zh-CN" sz="2000" b="1" dirty="0">
                <a:ea typeface="宋体" panose="02010600030101010101" pitchFamily="2" charset="-122"/>
              </a:rPr>
              <a:t>(0)	       (14)	            (14)  uminus        c</a:t>
            </a:r>
            <a:endParaRPr lang="en-US" altLang="zh-CN" sz="2000" b="1" dirty="0">
              <a:ea typeface="宋体" panose="02010600030101010101" pitchFamily="2" charset="-122"/>
            </a:endParaRPr>
          </a:p>
          <a:p>
            <a:pPr>
              <a:spcBef>
                <a:spcPct val="0"/>
              </a:spcBef>
              <a:buNone/>
            </a:pPr>
            <a:r>
              <a:rPr lang="en-US" altLang="zh-CN" sz="2000" b="1" dirty="0">
                <a:ea typeface="宋体" panose="02010600030101010101" pitchFamily="2" charset="-122"/>
              </a:rPr>
              <a:t>(1)	       (15)	            (15)      *               b	    (14)</a:t>
            </a:r>
            <a:endParaRPr lang="en-US" altLang="zh-CN" sz="2000" b="1" dirty="0">
              <a:ea typeface="宋体" panose="02010600030101010101" pitchFamily="2" charset="-122"/>
            </a:endParaRPr>
          </a:p>
          <a:p>
            <a:pPr>
              <a:spcBef>
                <a:spcPct val="0"/>
              </a:spcBef>
              <a:buNone/>
            </a:pPr>
            <a:r>
              <a:rPr lang="en-US" altLang="zh-CN" sz="2000" b="1" dirty="0">
                <a:ea typeface="宋体" panose="02010600030101010101" pitchFamily="2" charset="-122"/>
              </a:rPr>
              <a:t>(2)	       (16)	            (16)  uminus        c</a:t>
            </a:r>
            <a:endParaRPr lang="en-US" altLang="zh-CN" sz="2000" b="1" dirty="0">
              <a:ea typeface="宋体" panose="02010600030101010101" pitchFamily="2" charset="-122"/>
            </a:endParaRPr>
          </a:p>
          <a:p>
            <a:pPr>
              <a:spcBef>
                <a:spcPct val="0"/>
              </a:spcBef>
              <a:buNone/>
            </a:pPr>
            <a:r>
              <a:rPr lang="en-US" altLang="zh-CN" sz="2000" b="1" dirty="0">
                <a:ea typeface="宋体" panose="02010600030101010101" pitchFamily="2" charset="-122"/>
              </a:rPr>
              <a:t>(3)	       (17)	            (17)      *               b	    (16)</a:t>
            </a:r>
            <a:endParaRPr lang="en-US" altLang="zh-CN" sz="2000" b="1" dirty="0">
              <a:ea typeface="宋体" panose="02010600030101010101" pitchFamily="2" charset="-122"/>
            </a:endParaRPr>
          </a:p>
          <a:p>
            <a:pPr>
              <a:spcBef>
                <a:spcPct val="0"/>
              </a:spcBef>
              <a:buNone/>
            </a:pPr>
            <a:r>
              <a:rPr lang="en-US" altLang="zh-CN" sz="2000" b="1" dirty="0">
                <a:ea typeface="宋体" panose="02010600030101010101" pitchFamily="2" charset="-122"/>
              </a:rPr>
              <a:t>(4)	       (18)	            (18)      +              (15)	    (17)</a:t>
            </a:r>
            <a:endParaRPr lang="en-US" altLang="zh-CN" sz="2000" b="1" dirty="0">
              <a:ea typeface="宋体" panose="02010600030101010101" pitchFamily="2" charset="-122"/>
            </a:endParaRPr>
          </a:p>
          <a:p>
            <a:pPr>
              <a:spcBef>
                <a:spcPct val="0"/>
              </a:spcBef>
              <a:buNone/>
            </a:pPr>
            <a:r>
              <a:rPr lang="en-US" altLang="zh-CN" sz="2000" b="1" dirty="0">
                <a:ea typeface="宋体" panose="02010600030101010101" pitchFamily="2" charset="-122"/>
              </a:rPr>
              <a:t>(5)	       (19)	            (19)     :=               a	    (18)</a:t>
            </a:r>
            <a:endParaRPr lang="en-US" altLang="zh-CN" sz="2000" b="1" dirty="0">
              <a:ea typeface="宋体" panose="02010600030101010101" pitchFamily="2" charset="-122"/>
            </a:endParaRPr>
          </a:p>
          <a:p>
            <a:pPr>
              <a:spcBef>
                <a:spcPct val="0"/>
              </a:spcBef>
              <a:buNone/>
            </a:pPr>
            <a:endParaRPr lang="en-US" altLang="zh-CN" sz="2000" b="1" dirty="0">
              <a:ea typeface="宋体" panose="02010600030101010101" pitchFamily="2" charset="-122"/>
            </a:endParaRPr>
          </a:p>
          <a:p>
            <a:pPr lvl="1">
              <a:spcBef>
                <a:spcPct val="0"/>
              </a:spcBef>
            </a:pPr>
            <a:r>
              <a:rPr lang="zh-CN" altLang="en-US" sz="2200" b="1" dirty="0">
                <a:ea typeface="宋体" panose="02010600030101010101" pitchFamily="2" charset="-122"/>
              </a:rPr>
              <a:t>语句的移动通过重排</a:t>
            </a:r>
            <a:r>
              <a:rPr lang="en-US" altLang="zh-CN" sz="2200" b="1" dirty="0">
                <a:ea typeface="宋体" panose="02010600030101010101" pitchFamily="2" charset="-122"/>
              </a:rPr>
              <a:t>statement</a:t>
            </a:r>
            <a:r>
              <a:rPr lang="zh-CN" altLang="en-US" sz="2200" b="1" dirty="0">
                <a:ea typeface="宋体" panose="02010600030101010101" pitchFamily="2" charset="-122"/>
              </a:rPr>
              <a:t>实现</a:t>
            </a:r>
            <a:endParaRPr lang="zh-CN" altLang="en-US" sz="2200" b="1" dirty="0">
              <a:ea typeface="宋体" panose="02010600030101010101" pitchFamily="2" charset="-122"/>
            </a:endParaRPr>
          </a:p>
          <a:p>
            <a:pPr lvl="1">
              <a:spcBef>
                <a:spcPct val="0"/>
              </a:spcBef>
            </a:pPr>
            <a:r>
              <a:rPr lang="zh-CN" altLang="en-US" sz="2200" b="1" dirty="0">
                <a:ea typeface="宋体" panose="02010600030101010101" pitchFamily="2" charset="-122"/>
              </a:rPr>
              <a:t>空间和四元式类似，但如果临时值引用不止一次，间接三元式的空间要节省一些</a:t>
            </a:r>
            <a:endParaRPr lang="zh-CN" altLang="en-US" sz="2200" b="1" dirty="0">
              <a:ea typeface="宋体" panose="02010600030101010101" pitchFamily="2" charset="-122"/>
            </a:endParaRPr>
          </a:p>
        </p:txBody>
      </p:sp>
      <p:sp>
        <p:nvSpPr>
          <p:cNvPr id="49156" name="Line 4"/>
          <p:cNvSpPr/>
          <p:nvPr/>
        </p:nvSpPr>
        <p:spPr>
          <a:xfrm>
            <a:off x="990600" y="2590800"/>
            <a:ext cx="1676400" cy="0"/>
          </a:xfrm>
          <a:prstGeom prst="line">
            <a:avLst/>
          </a:prstGeom>
          <a:ln w="38100" cap="flat" cmpd="sng">
            <a:solidFill>
              <a:schemeClr val="tx1"/>
            </a:solidFill>
            <a:prstDash val="solid"/>
            <a:headEnd type="none" w="sm" len="sm"/>
            <a:tailEnd type="none" w="lg" len="med"/>
          </a:ln>
        </p:spPr>
      </p:sp>
      <p:sp>
        <p:nvSpPr>
          <p:cNvPr id="49157" name="Line 5"/>
          <p:cNvSpPr/>
          <p:nvPr/>
        </p:nvSpPr>
        <p:spPr>
          <a:xfrm>
            <a:off x="3505200" y="2590800"/>
            <a:ext cx="3810000" cy="0"/>
          </a:xfrm>
          <a:prstGeom prst="line">
            <a:avLst/>
          </a:prstGeom>
          <a:ln w="38100" cap="flat" cmpd="sng">
            <a:solidFill>
              <a:schemeClr val="tx1"/>
            </a:solidFill>
            <a:prstDash val="solid"/>
            <a:headEnd type="none" w="sm" len="sm"/>
            <a:tailEnd type="none" w="lg" len="med"/>
          </a:ln>
        </p:spPr>
      </p:sp>
      <p:sp>
        <p:nvSpPr>
          <p:cNvPr id="49158" name="Line 6"/>
          <p:cNvSpPr/>
          <p:nvPr/>
        </p:nvSpPr>
        <p:spPr>
          <a:xfrm>
            <a:off x="990600" y="2895600"/>
            <a:ext cx="1676400" cy="0"/>
          </a:xfrm>
          <a:prstGeom prst="line">
            <a:avLst/>
          </a:prstGeom>
          <a:ln w="22225" cap="flat" cmpd="sng">
            <a:solidFill>
              <a:schemeClr val="tx1"/>
            </a:solidFill>
            <a:prstDash val="solid"/>
            <a:headEnd type="none" w="sm" len="sm"/>
            <a:tailEnd type="none" w="lg" len="med"/>
          </a:ln>
        </p:spPr>
      </p:sp>
      <p:sp>
        <p:nvSpPr>
          <p:cNvPr id="49159" name="Line 7"/>
          <p:cNvSpPr/>
          <p:nvPr/>
        </p:nvSpPr>
        <p:spPr>
          <a:xfrm>
            <a:off x="3505200" y="2895600"/>
            <a:ext cx="3810000" cy="0"/>
          </a:xfrm>
          <a:prstGeom prst="line">
            <a:avLst/>
          </a:prstGeom>
          <a:ln w="22225" cap="flat" cmpd="sng">
            <a:solidFill>
              <a:schemeClr val="tx1"/>
            </a:solidFill>
            <a:prstDash val="solid"/>
            <a:headEnd type="none" w="sm" len="sm"/>
            <a:tailEnd type="none" w="lg" len="med"/>
          </a:ln>
        </p:spPr>
      </p:sp>
      <p:sp>
        <p:nvSpPr>
          <p:cNvPr id="49160" name="Line 8"/>
          <p:cNvSpPr/>
          <p:nvPr/>
        </p:nvSpPr>
        <p:spPr>
          <a:xfrm>
            <a:off x="914400" y="4800600"/>
            <a:ext cx="1676400" cy="0"/>
          </a:xfrm>
          <a:prstGeom prst="line">
            <a:avLst/>
          </a:prstGeom>
          <a:ln w="38100" cap="flat" cmpd="sng">
            <a:solidFill>
              <a:schemeClr val="tx1"/>
            </a:solidFill>
            <a:prstDash val="solid"/>
            <a:headEnd type="none" w="sm" len="sm"/>
            <a:tailEnd type="none" w="lg" len="med"/>
          </a:ln>
        </p:spPr>
      </p:sp>
      <p:sp>
        <p:nvSpPr>
          <p:cNvPr id="49161" name="Line 9"/>
          <p:cNvSpPr/>
          <p:nvPr/>
        </p:nvSpPr>
        <p:spPr>
          <a:xfrm>
            <a:off x="3429000" y="4800600"/>
            <a:ext cx="3810000" cy="0"/>
          </a:xfrm>
          <a:prstGeom prst="line">
            <a:avLst/>
          </a:prstGeom>
          <a:ln w="38100" cap="flat" cmpd="sng">
            <a:solidFill>
              <a:schemeClr val="tx1"/>
            </a:solidFill>
            <a:prstDash val="solid"/>
            <a:headEnd type="none" w="sm" len="sm"/>
            <a:tailEnd type="none" w="lg" len="med"/>
          </a:ln>
        </p:spPr>
      </p:sp>
      <p:sp>
        <p:nvSpPr>
          <p:cNvPr id="49162" name="Line 10"/>
          <p:cNvSpPr/>
          <p:nvPr/>
        </p:nvSpPr>
        <p:spPr>
          <a:xfrm>
            <a:off x="1447800" y="2590800"/>
            <a:ext cx="0" cy="2209800"/>
          </a:xfrm>
          <a:prstGeom prst="line">
            <a:avLst/>
          </a:prstGeom>
          <a:ln w="22225" cap="flat" cmpd="sng">
            <a:solidFill>
              <a:schemeClr val="tx1"/>
            </a:solidFill>
            <a:prstDash val="solid"/>
            <a:headEnd type="none" w="sm" len="sm"/>
            <a:tailEnd type="none" w="lg" len="med"/>
          </a:ln>
        </p:spPr>
      </p:sp>
      <p:sp>
        <p:nvSpPr>
          <p:cNvPr id="49163" name="Line 11"/>
          <p:cNvSpPr/>
          <p:nvPr/>
        </p:nvSpPr>
        <p:spPr>
          <a:xfrm>
            <a:off x="4114800" y="2590800"/>
            <a:ext cx="0" cy="2209800"/>
          </a:xfrm>
          <a:prstGeom prst="line">
            <a:avLst/>
          </a:prstGeom>
          <a:ln w="22225" cap="flat" cmpd="sng">
            <a:solidFill>
              <a:schemeClr val="tx1"/>
            </a:solidFill>
            <a:prstDash val="solid"/>
            <a:headEnd type="none" w="sm" len="sm"/>
            <a:tailEnd type="none" w="lg" len="med"/>
          </a:ln>
        </p:spPr>
      </p:sp>
      <p:sp>
        <p:nvSpPr>
          <p:cNvPr id="49164" name="Line 12"/>
          <p:cNvSpPr/>
          <p:nvPr/>
        </p:nvSpPr>
        <p:spPr>
          <a:xfrm>
            <a:off x="5105400" y="2590800"/>
            <a:ext cx="0" cy="2209800"/>
          </a:xfrm>
          <a:prstGeom prst="line">
            <a:avLst/>
          </a:prstGeom>
          <a:ln w="22225" cap="flat" cmpd="sng">
            <a:solidFill>
              <a:schemeClr val="tx1"/>
            </a:solidFill>
            <a:prstDash val="solid"/>
            <a:headEnd type="none" w="sm" len="sm"/>
            <a:tailEnd type="none" w="lg" len="med"/>
          </a:ln>
        </p:spPr>
      </p:sp>
      <p:sp>
        <p:nvSpPr>
          <p:cNvPr id="49165" name="Line 13"/>
          <p:cNvSpPr/>
          <p:nvPr/>
        </p:nvSpPr>
        <p:spPr>
          <a:xfrm>
            <a:off x="6248400" y="2590800"/>
            <a:ext cx="0" cy="2209800"/>
          </a:xfrm>
          <a:prstGeom prst="line">
            <a:avLst/>
          </a:prstGeom>
          <a:ln w="22225" cap="flat" cmpd="sng">
            <a:solidFill>
              <a:schemeClr val="tx1"/>
            </a:solidFill>
            <a:prstDash val="solid"/>
            <a:headEnd type="none" w="sm" len="sm"/>
            <a:tailEnd type="none" w="lg" len="med"/>
          </a:ln>
        </p:spPr>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静态单赋值</a:t>
            </a:r>
            <a:r>
              <a:rPr lang="en-US" altLang="zh-CN" dirty="0">
                <a:latin typeface="Times New Roman" panose="02020603050405020304" pitchFamily="18" charset="0"/>
                <a:ea typeface="宋体" panose="02010600030101010101" pitchFamily="2" charset="-122"/>
              </a:rPr>
              <a:t>（1）</a:t>
            </a:r>
            <a:endParaRPr lang="en-US" altLang="zh-CN" dirty="0">
              <a:latin typeface="Times New Roman" panose="02020603050405020304" pitchFamily="18" charset="0"/>
              <a:ea typeface="宋体" panose="02010600030101010101" pitchFamily="2" charset="-122"/>
            </a:endParaRPr>
          </a:p>
        </p:txBody>
      </p:sp>
      <p:sp>
        <p:nvSpPr>
          <p:cNvPr id="55299" name="Rectangle 3"/>
          <p:cNvSpPr>
            <a:spLocks noGrp="1" noChangeArrowheads="1"/>
          </p:cNvSpPr>
          <p:nvPr>
            <p:ph idx="1"/>
          </p:nvPr>
        </p:nvSpPr>
        <p:spPr>
          <a:xfrm>
            <a:off x="990600" y="1524000"/>
            <a:ext cx="7391400" cy="4724400"/>
          </a:xfrm>
        </p:spPr>
        <p:txBody>
          <a:bodyPr vert="horz" wrap="square" lIns="92075" tIns="46038" rIns="92075" bIns="46038" numCol="1" anchor="t" anchorCtr="0" compatLnSpc="1"/>
          <a:lstStyle/>
          <a:p>
            <a:pPr marL="342900" marR="0" lvl="0" indent="-342900" algn="l" defTabSz="914400" rtl="0" eaLnBrk="0" fontAlgn="base" latinLnBrk="0" hangingPunct="0">
              <a:lnSpc>
                <a:spcPct val="90000"/>
              </a:lnSpc>
              <a:spcBef>
                <a:spcPct val="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静态单赋值形式（</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SSA</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static</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single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assignment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一种中间表示形式，有利于实现某些代码优化</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90000"/>
              </a:lnSpc>
              <a:spcBef>
                <a:spcPct val="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如某些数据流优化，采用静态单赋值形式，可望用流不敏感的方法得到类似于流敏感的效果</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所有赋值都是针对具有不同名字的变量的</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下图给出三地址代码与静态单赋值的对比</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0"/>
              </a:spcBef>
              <a:spcAft>
                <a:spcPct val="0"/>
              </a:spcAft>
              <a:buClr>
                <a:srgbClr val="063DE8"/>
              </a:buClr>
              <a:buSzPct val="70000"/>
              <a:buFont typeface="Monotype Sorts" pitchFamily="2" charset="2"/>
              <a:buNone/>
              <a:defRPr/>
            </a:pP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51204" name="Picture 2"/>
          <p:cNvPicPr>
            <a:picLocks noChangeAspect="1"/>
          </p:cNvPicPr>
          <p:nvPr/>
        </p:nvPicPr>
        <p:blipFill>
          <a:blip r:embed="rId1"/>
          <a:stretch>
            <a:fillRect/>
          </a:stretch>
        </p:blipFill>
        <p:spPr>
          <a:xfrm>
            <a:off x="0" y="3395663"/>
            <a:ext cx="8842375" cy="3489325"/>
          </a:xfrm>
          <a:prstGeom prst="rect">
            <a:avLst/>
          </a:prstGeom>
          <a:noFill/>
          <a:ln w="9525">
            <a:noFill/>
          </a:ln>
        </p:spPr>
      </p:pic>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静态单赋值表示(</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3251" name="Rectangle 3"/>
          <p:cNvSpPr>
            <a:spLocks noGrp="1"/>
          </p:cNvSpPr>
          <p:nvPr>
            <p:ph idx="1"/>
          </p:nvPr>
        </p:nvSpPr>
        <p:spPr>
          <a:xfrm>
            <a:off x="990600" y="1524000"/>
            <a:ext cx="7391400" cy="4724400"/>
          </a:xfrm>
        </p:spPr>
        <p:txBody>
          <a:bodyPr vert="horz" wrap="square" lIns="92075" tIns="46038" rIns="92075" bIns="46038" anchor="t" anchorCtr="0"/>
          <a:p>
            <a:pPr>
              <a:lnSpc>
                <a:spcPct val="90000"/>
              </a:lnSpc>
            </a:pPr>
            <a:r>
              <a:rPr lang="en-US" altLang="zh-CN" sz="2400" b="1" dirty="0">
                <a:ea typeface="宋体" panose="02010600030101010101" pitchFamily="2" charset="-122"/>
              </a:rPr>
              <a:t>SSA</a:t>
            </a:r>
            <a:r>
              <a:rPr lang="zh-CN" altLang="en-US" sz="2400" b="1" dirty="0">
                <a:ea typeface="宋体" panose="02010600030101010101" pitchFamily="2" charset="-122"/>
              </a:rPr>
              <a:t>的关键技术</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sym typeface="Symbol" panose="05050102010706020507" pitchFamily="18" charset="2"/>
              </a:rPr>
              <a:t>节点:是一种虚拟操作, 它能将多个对同一变量的定值合并成一个定值</a:t>
            </a:r>
            <a:endParaRPr lang="zh-CN" altLang="en-US" sz="2200" b="1" dirty="0">
              <a:ea typeface="宋体" panose="02010600030101010101" pitchFamily="2" charset="-122"/>
              <a:sym typeface="Symbol" panose="05050102010706020507" pitchFamily="18" charset="2"/>
            </a:endParaRPr>
          </a:p>
          <a:p>
            <a:pPr lvl="1">
              <a:lnSpc>
                <a:spcPct val="90000"/>
              </a:lnSpc>
            </a:pPr>
            <a:r>
              <a:rPr lang="zh-CN" altLang="en-US" sz="2200" b="1" dirty="0">
                <a:ea typeface="宋体" panose="02010600030101010101" pitchFamily="2" charset="-122"/>
                <a:sym typeface="Symbol" panose="05050102010706020507" pitchFamily="18" charset="2"/>
              </a:rPr>
              <a:t>换名技术: 把多次引用和多次定值分开</a:t>
            </a:r>
            <a:endParaRPr lang="zh-CN" altLang="en-US" sz="2200" b="1" dirty="0">
              <a:ea typeface="宋体" panose="02010600030101010101" pitchFamily="2" charset="-122"/>
              <a:sym typeface="Symbol" panose="05050102010706020507" pitchFamily="18" charset="2"/>
            </a:endParaRPr>
          </a:p>
          <a:p>
            <a:pPr>
              <a:lnSpc>
                <a:spcPct val="90000"/>
              </a:lnSpc>
            </a:pPr>
            <a:r>
              <a:rPr lang="zh-CN" altLang="en-US" sz="2400" b="1" dirty="0">
                <a:ea typeface="宋体" panose="02010600030101010101" pitchFamily="2" charset="-122"/>
                <a:sym typeface="Symbol" panose="05050102010706020507" pitchFamily="18" charset="2"/>
              </a:rPr>
              <a:t>改写成</a:t>
            </a:r>
            <a:r>
              <a:rPr lang="en-US" altLang="zh-CN" sz="2400" b="1" dirty="0">
                <a:ea typeface="宋体" panose="02010600030101010101" pitchFamily="2" charset="-122"/>
                <a:sym typeface="Symbol" panose="05050102010706020507" pitchFamily="18" charset="2"/>
              </a:rPr>
              <a:t>SSA</a:t>
            </a:r>
            <a:r>
              <a:rPr lang="zh-CN" altLang="en-US" sz="2400" b="1" dirty="0">
                <a:ea typeface="宋体" panose="02010600030101010101" pitchFamily="2" charset="-122"/>
                <a:sym typeface="Symbol" panose="05050102010706020507" pitchFamily="18" charset="2"/>
              </a:rPr>
              <a:t>形式的步骤</a:t>
            </a:r>
            <a:endParaRPr lang="zh-CN" altLang="en-US" sz="2400" b="1" dirty="0">
              <a:ea typeface="宋体" panose="02010600030101010101" pitchFamily="2" charset="-122"/>
              <a:sym typeface="Symbol" panose="05050102010706020507" pitchFamily="18" charset="2"/>
            </a:endParaRPr>
          </a:p>
          <a:p>
            <a:pPr lvl="1">
              <a:lnSpc>
                <a:spcPct val="90000"/>
              </a:lnSpc>
            </a:pPr>
            <a:r>
              <a:rPr lang="zh-CN" altLang="en-US" sz="2200" b="1" dirty="0">
                <a:ea typeface="宋体" panose="02010600030101010101" pitchFamily="2" charset="-122"/>
                <a:sym typeface="Symbol" panose="05050102010706020507" pitchFamily="18" charset="2"/>
              </a:rPr>
              <a:t>计算所有节点的控制边境(</a:t>
            </a:r>
            <a:r>
              <a:rPr lang="en-US" altLang="zh-CN" sz="2200" b="1" dirty="0">
                <a:ea typeface="宋体" panose="02010600030101010101" pitchFamily="2" charset="-122"/>
                <a:sym typeface="Symbol" panose="05050102010706020507" pitchFamily="18" charset="2"/>
              </a:rPr>
              <a:t>dominance frontier)</a:t>
            </a:r>
            <a:endParaRPr lang="en-US" altLang="zh-CN" sz="2200" b="1" dirty="0">
              <a:ea typeface="宋体" panose="02010600030101010101" pitchFamily="2" charset="-122"/>
              <a:sym typeface="Symbol" panose="05050102010706020507" pitchFamily="18" charset="2"/>
            </a:endParaRPr>
          </a:p>
          <a:p>
            <a:pPr lvl="2">
              <a:lnSpc>
                <a:spcPct val="90000"/>
              </a:lnSpc>
            </a:pPr>
            <a:r>
              <a:rPr lang="zh-CN" altLang="en-US" sz="2000" b="1" dirty="0">
                <a:ea typeface="宋体" panose="02010600030101010101" pitchFamily="2" charset="-122"/>
                <a:sym typeface="Symbol" panose="05050102010706020507" pitchFamily="18" charset="2"/>
              </a:rPr>
              <a:t>控制边境</a:t>
            </a:r>
            <a:r>
              <a:rPr lang="en-US" altLang="zh-CN" sz="2000" b="1" dirty="0">
                <a:ea typeface="宋体" panose="02010600030101010101" pitchFamily="2" charset="-122"/>
                <a:sym typeface="Symbol" panose="05050102010706020507" pitchFamily="18" charset="2"/>
              </a:rPr>
              <a:t>DF(X):</a:t>
            </a:r>
            <a:endParaRPr lang="en-US" altLang="zh-CN" sz="2000" b="1" dirty="0">
              <a:ea typeface="宋体" panose="02010600030101010101" pitchFamily="2" charset="-122"/>
              <a:sym typeface="Symbol" panose="05050102010706020507" pitchFamily="18" charset="2"/>
            </a:endParaRPr>
          </a:p>
          <a:p>
            <a:pPr lvl="2">
              <a:lnSpc>
                <a:spcPct val="90000"/>
              </a:lnSpc>
              <a:buFont typeface="Wingdings" panose="05000000000000000000" pitchFamily="2" charset="2"/>
              <a:buNone/>
            </a:pPr>
            <a:endParaRPr lang="en-US" altLang="zh-CN" sz="1800" b="1" dirty="0">
              <a:ea typeface="宋体" panose="02010600030101010101" pitchFamily="2" charset="-122"/>
              <a:sym typeface="Symbol" panose="05050102010706020507" pitchFamily="18" charset="2"/>
            </a:endParaRPr>
          </a:p>
          <a:p>
            <a:pPr lvl="2">
              <a:lnSpc>
                <a:spcPct val="90000"/>
              </a:lnSpc>
            </a:pPr>
            <a:endParaRPr lang="en-US" altLang="zh-CN" sz="2000" b="1" dirty="0">
              <a:ea typeface="宋体" panose="02010600030101010101" pitchFamily="2" charset="-122"/>
              <a:sym typeface="Symbol" panose="05050102010706020507" pitchFamily="18" charset="2"/>
            </a:endParaRPr>
          </a:p>
          <a:p>
            <a:pPr lvl="2">
              <a:lnSpc>
                <a:spcPct val="90000"/>
              </a:lnSpc>
            </a:pPr>
            <a:r>
              <a:rPr lang="zh-CN" altLang="en-US" sz="2000" b="1" dirty="0">
                <a:ea typeface="宋体" panose="02010600030101010101" pitchFamily="2" charset="-122"/>
                <a:sym typeface="Symbol" panose="05050102010706020507" pitchFamily="18" charset="2"/>
              </a:rPr>
              <a:t>计算控制边境的算法是将计算控制依赖的算法中的</a:t>
            </a:r>
            <a:r>
              <a:rPr lang="en-US" altLang="zh-CN" sz="2000" b="1" dirty="0">
                <a:ea typeface="宋体" panose="02010600030101010101" pitchFamily="2" charset="-122"/>
                <a:sym typeface="Symbol" panose="05050102010706020507" pitchFamily="18" charset="2"/>
              </a:rPr>
              <a:t>post-dominance </a:t>
            </a:r>
            <a:r>
              <a:rPr lang="zh-CN" altLang="en-US" sz="2000" b="1" dirty="0">
                <a:ea typeface="宋体" panose="02010600030101010101" pitchFamily="2" charset="-122"/>
                <a:sym typeface="Symbol" panose="05050102010706020507" pitchFamily="18" charset="2"/>
              </a:rPr>
              <a:t>替换为</a:t>
            </a:r>
            <a:r>
              <a:rPr lang="en-US" altLang="zh-CN" sz="2000" b="1" dirty="0">
                <a:ea typeface="宋体" panose="02010600030101010101" pitchFamily="2" charset="-122"/>
                <a:sym typeface="Symbol" panose="05050102010706020507" pitchFamily="18" charset="2"/>
              </a:rPr>
              <a:t>dominance, </a:t>
            </a:r>
            <a:r>
              <a:rPr lang="zh-CN" altLang="en-US" sz="2000" b="1" dirty="0">
                <a:ea typeface="宋体" panose="02010600030101010101" pitchFamily="2" charset="-122"/>
                <a:sym typeface="Symbol" panose="05050102010706020507" pitchFamily="18" charset="2"/>
              </a:rPr>
              <a:t>前驱替换为后继</a:t>
            </a:r>
            <a:endParaRPr lang="zh-CN" altLang="en-US" sz="2000" b="1" dirty="0">
              <a:ea typeface="宋体" panose="02010600030101010101" pitchFamily="2" charset="-122"/>
              <a:sym typeface="Symbol" panose="05050102010706020507" pitchFamily="18" charset="2"/>
            </a:endParaRPr>
          </a:p>
          <a:p>
            <a:pPr lvl="1">
              <a:lnSpc>
                <a:spcPct val="90000"/>
              </a:lnSpc>
            </a:pPr>
            <a:r>
              <a:rPr lang="zh-CN" altLang="en-US" sz="2200" b="1" dirty="0">
                <a:ea typeface="宋体" panose="02010600030101010101" pitchFamily="2" charset="-122"/>
                <a:sym typeface="Symbol" panose="05050102010706020507" pitchFamily="18" charset="2"/>
              </a:rPr>
              <a:t>在每个控制边境处插入有关变量的节点</a:t>
            </a:r>
            <a:endParaRPr lang="zh-CN" altLang="en-US" sz="2200" b="1" dirty="0">
              <a:ea typeface="宋体" panose="02010600030101010101" pitchFamily="2" charset="-122"/>
              <a:sym typeface="Symbol" panose="05050102010706020507" pitchFamily="18" charset="2"/>
            </a:endParaRPr>
          </a:p>
          <a:p>
            <a:pPr lvl="1">
              <a:lnSpc>
                <a:spcPct val="90000"/>
              </a:lnSpc>
            </a:pPr>
            <a:r>
              <a:rPr lang="zh-CN" altLang="en-US" sz="2200" b="1" dirty="0">
                <a:ea typeface="宋体" panose="02010600030101010101" pitchFamily="2" charset="-122"/>
                <a:sym typeface="Symbol" panose="05050102010706020507" pitchFamily="18" charset="2"/>
              </a:rPr>
              <a:t>给变量换名</a:t>
            </a:r>
            <a:endParaRPr lang="zh-CN" altLang="en-US" sz="2200" b="1" dirty="0">
              <a:ea typeface="宋体" panose="02010600030101010101" pitchFamily="2" charset="-122"/>
              <a:sym typeface="Symbol" panose="05050102010706020507" pitchFamily="18" charset="2"/>
            </a:endParaRPr>
          </a:p>
        </p:txBody>
      </p:sp>
      <p:graphicFrame>
        <p:nvGraphicFramePr>
          <p:cNvPr id="53252" name="Object 4"/>
          <p:cNvGraphicFramePr>
            <a:graphicFrameLocks noChangeAspect="1"/>
          </p:cNvGraphicFramePr>
          <p:nvPr/>
        </p:nvGraphicFramePr>
        <p:xfrm>
          <a:off x="2185988" y="4103688"/>
          <a:ext cx="6524625" cy="446087"/>
        </p:xfrm>
        <a:graphic>
          <a:graphicData uri="http://schemas.openxmlformats.org/presentationml/2006/ole">
            <mc:AlternateContent xmlns:mc="http://schemas.openxmlformats.org/markup-compatibility/2006">
              <mc:Choice xmlns:v="urn:schemas-microsoft-com:vml" Requires="v">
                <p:oleObj spid="_x0000_s3076" name="" r:id="rId1" imgW="3873500" imgH="241300" progId="Equation.3">
                  <p:embed/>
                </p:oleObj>
              </mc:Choice>
              <mc:Fallback>
                <p:oleObj name="" r:id="rId1" imgW="3873500" imgH="241300" progId="Equation.3">
                  <p:embed/>
                  <p:pic>
                    <p:nvPicPr>
                      <p:cNvPr id="0" name="图片 3075"/>
                      <p:cNvPicPr/>
                      <p:nvPr/>
                    </p:nvPicPr>
                    <p:blipFill>
                      <a:blip r:embed="rId2"/>
                      <a:stretch>
                        <a:fillRect/>
                      </a:stretch>
                    </p:blipFill>
                    <p:spPr>
                      <a:xfrm>
                        <a:off x="2185988" y="4103688"/>
                        <a:ext cx="6524625" cy="446087"/>
                      </a:xfrm>
                      <a:prstGeom prst="rect">
                        <a:avLst/>
                      </a:prstGeom>
                      <a:noFill/>
                      <a:ln w="38100">
                        <a:noFill/>
                        <a:miter/>
                      </a:ln>
                    </p:spPr>
                  </p:pic>
                </p:oleObj>
              </mc:Fallback>
            </mc:AlternateContent>
          </a:graphicData>
        </a:graphic>
      </p:graphicFrame>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静态单赋值表示的例子</a:t>
            </a:r>
            <a:endParaRPr lang="en-US" altLang="zh-CN" dirty="0">
              <a:latin typeface="宋体" panose="02010600030101010101" pitchFamily="2" charset="-122"/>
              <a:ea typeface="宋体" panose="02010600030101010101" pitchFamily="2" charset="-122"/>
            </a:endParaRPr>
          </a:p>
        </p:txBody>
      </p:sp>
      <p:grpSp>
        <p:nvGrpSpPr>
          <p:cNvPr id="55299" name="Group 6"/>
          <p:cNvGrpSpPr/>
          <p:nvPr/>
        </p:nvGrpSpPr>
        <p:grpSpPr>
          <a:xfrm>
            <a:off x="609600" y="1524000"/>
            <a:ext cx="7924800" cy="4800600"/>
            <a:chOff x="192" y="624"/>
            <a:chExt cx="4848" cy="2880"/>
          </a:xfrm>
        </p:grpSpPr>
        <p:sp>
          <p:nvSpPr>
            <p:cNvPr id="55300" name="Text Box 7"/>
            <p:cNvSpPr txBox="1"/>
            <p:nvPr/>
          </p:nvSpPr>
          <p:spPr>
            <a:xfrm>
              <a:off x="192" y="624"/>
              <a:ext cx="2247" cy="288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ctr">
                <a:spcBef>
                  <a:spcPct val="0"/>
                </a:spcBef>
                <a:buClrTx/>
                <a:buSzTx/>
                <a:buNone/>
              </a:pPr>
              <a:endParaRPr lang="zh-CN" altLang="en-US" sz="1000" dirty="0">
                <a:ea typeface="宋体" panose="02010600030101010101" pitchFamily="2" charset="-122"/>
              </a:endParaRPr>
            </a:p>
          </p:txBody>
        </p:sp>
        <p:graphicFrame>
          <p:nvGraphicFramePr>
            <p:cNvPr id="55301" name="Object 8"/>
            <p:cNvGraphicFramePr>
              <a:graphicFrameLocks noChangeAspect="1"/>
            </p:cNvGraphicFramePr>
            <p:nvPr/>
          </p:nvGraphicFramePr>
          <p:xfrm>
            <a:off x="240" y="816"/>
            <a:ext cx="2128" cy="2347"/>
          </p:xfrm>
          <a:graphic>
            <a:graphicData uri="http://schemas.openxmlformats.org/presentationml/2006/ole">
              <mc:AlternateContent xmlns:mc="http://schemas.openxmlformats.org/markup-compatibility/2006">
                <mc:Choice xmlns:v="urn:schemas-microsoft-com:vml" Requires="v">
                  <p:oleObj spid="_x0000_s3077" name="" r:id="rId1" imgW="2793365" imgH="2974975" progId="Visio.Drawing.5">
                    <p:embed/>
                  </p:oleObj>
                </mc:Choice>
                <mc:Fallback>
                  <p:oleObj name="" r:id="rId1" imgW="2793365" imgH="2974975" progId="Visio.Drawing.5">
                    <p:embed/>
                    <p:pic>
                      <p:nvPicPr>
                        <p:cNvPr id="0" name="图片 3076"/>
                        <p:cNvPicPr/>
                        <p:nvPr/>
                      </p:nvPicPr>
                      <p:blipFill>
                        <a:blip r:embed="rId2"/>
                        <a:stretch>
                          <a:fillRect/>
                        </a:stretch>
                      </p:blipFill>
                      <p:spPr>
                        <a:xfrm>
                          <a:off x="240" y="816"/>
                          <a:ext cx="2128" cy="2347"/>
                        </a:xfrm>
                        <a:prstGeom prst="rect">
                          <a:avLst/>
                        </a:prstGeom>
                        <a:noFill/>
                        <a:ln w="38100">
                          <a:noFill/>
                          <a:miter/>
                        </a:ln>
                      </p:spPr>
                    </p:pic>
                  </p:oleObj>
                </mc:Fallback>
              </mc:AlternateContent>
            </a:graphicData>
          </a:graphic>
        </p:graphicFrame>
        <p:sp>
          <p:nvSpPr>
            <p:cNvPr id="55302" name="Text Box 9"/>
            <p:cNvSpPr txBox="1"/>
            <p:nvPr/>
          </p:nvSpPr>
          <p:spPr>
            <a:xfrm>
              <a:off x="2793" y="624"/>
              <a:ext cx="2247" cy="288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ctr">
                <a:spcBef>
                  <a:spcPct val="0"/>
                </a:spcBef>
                <a:buClrTx/>
                <a:buSzTx/>
                <a:buNone/>
              </a:pPr>
              <a:endParaRPr lang="zh-CN" altLang="en-US" sz="1000" dirty="0">
                <a:ea typeface="宋体" panose="02010600030101010101" pitchFamily="2" charset="-122"/>
              </a:endParaRPr>
            </a:p>
            <a:p>
              <a:pPr marL="0" lvl="0" indent="0" algn="ctr">
                <a:spcBef>
                  <a:spcPct val="0"/>
                </a:spcBef>
                <a:buClrTx/>
                <a:buSzTx/>
                <a:buNone/>
              </a:pPr>
              <a:r>
                <a:rPr lang="zh-CN" altLang="en-US" sz="1000" dirty="0">
                  <a:ea typeface="宋体" panose="02010600030101010101" pitchFamily="2" charset="-122"/>
                </a:rPr>
                <a:t>图3.5(</a:t>
              </a:r>
              <a:r>
                <a:rPr lang="en-US" altLang="zh-CN" sz="1000" dirty="0">
                  <a:ea typeface="宋体" panose="02010600030101010101" pitchFamily="2" charset="-122"/>
                </a:rPr>
                <a:t>b) SSA</a:t>
              </a:r>
              <a:r>
                <a:rPr lang="zh-CN" altLang="en-US" sz="1000" dirty="0">
                  <a:ea typeface="宋体" panose="02010600030101010101" pitchFamily="2" charset="-122"/>
                </a:rPr>
                <a:t>变换后</a:t>
              </a:r>
              <a:endParaRPr lang="zh-CN" altLang="en-US" sz="1000" dirty="0">
                <a:ea typeface="宋体" panose="02010600030101010101" pitchFamily="2" charset="-122"/>
              </a:endParaRPr>
            </a:p>
          </p:txBody>
        </p:sp>
        <p:graphicFrame>
          <p:nvGraphicFramePr>
            <p:cNvPr id="55303" name="Object 10"/>
            <p:cNvGraphicFramePr>
              <a:graphicFrameLocks noChangeAspect="1"/>
            </p:cNvGraphicFramePr>
            <p:nvPr/>
          </p:nvGraphicFramePr>
          <p:xfrm>
            <a:off x="2793" y="624"/>
            <a:ext cx="2179" cy="2667"/>
          </p:xfrm>
          <a:graphic>
            <a:graphicData uri="http://schemas.openxmlformats.org/presentationml/2006/ole">
              <mc:AlternateContent xmlns:mc="http://schemas.openxmlformats.org/markup-compatibility/2006">
                <mc:Choice xmlns:v="urn:schemas-microsoft-com:vml" Requires="v">
                  <p:oleObj spid="_x0000_s3078" name="" r:id="rId3" imgW="2793365" imgH="3658870" progId="Visio.Drawing.5">
                    <p:embed/>
                  </p:oleObj>
                </mc:Choice>
                <mc:Fallback>
                  <p:oleObj name="" r:id="rId3" imgW="2793365" imgH="3658870" progId="Visio.Drawing.5">
                    <p:embed/>
                    <p:pic>
                      <p:nvPicPr>
                        <p:cNvPr id="0" name="图片 3077"/>
                        <p:cNvPicPr/>
                        <p:nvPr/>
                      </p:nvPicPr>
                      <p:blipFill>
                        <a:blip r:embed="rId4"/>
                        <a:stretch>
                          <a:fillRect/>
                        </a:stretch>
                      </p:blipFill>
                      <p:spPr>
                        <a:xfrm>
                          <a:off x="2793" y="624"/>
                          <a:ext cx="2179" cy="2667"/>
                        </a:xfrm>
                        <a:prstGeom prst="rect">
                          <a:avLst/>
                        </a:prstGeom>
                        <a:noFill/>
                        <a:ln w="38100">
                          <a:noFill/>
                          <a:miter/>
                        </a:ln>
                      </p:spPr>
                    </p:pic>
                  </p:oleObj>
                </mc:Fallback>
              </mc:AlternateContent>
            </a:graphicData>
          </a:graphic>
        </p:graphicFrame>
      </p:gr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第六章	中间代码生成 </a:t>
            </a:r>
            <a:endParaRPr lang="en-US" altLang="zh-CN" dirty="0">
              <a:latin typeface="Times New Roman" panose="02020603050405020304" pitchFamily="18" charset="0"/>
              <a:ea typeface="宋体" panose="02010600030101010101" pitchFamily="2" charset="-122"/>
            </a:endParaRPr>
          </a:p>
        </p:txBody>
      </p:sp>
      <p:sp>
        <p:nvSpPr>
          <p:cNvPr id="6147" name="Rectangle 3"/>
          <p:cNvSpPr>
            <a:spLocks noGrp="1" noChangeArrowheads="1"/>
          </p:cNvSpPr>
          <p:nvPr>
            <p:ph idx="1"/>
          </p:nvPr>
        </p:nvSpPr>
        <p:spPr>
          <a:xfrm>
            <a:off x="990600" y="1371600"/>
            <a:ext cx="7391400" cy="44196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rPr>
              <a:t>语法树的变体</a:t>
            </a:r>
            <a:endParaRPr kumimoji="0" lang="en-US" altLang="zh-CN"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rPr>
              <a:t>三地址代码</a:t>
            </a:r>
            <a:endParaRPr kumimoji="0" lang="en-US" altLang="zh-CN"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类型和声明</a:t>
            </a:r>
            <a:endParaRPr kumimoji="0" lang="en-US" altLang="zh-CN" sz="3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表达式的翻译</a:t>
            </a:r>
            <a:endParaRPr kumimoji="0" lang="en-US" altLang="zh-CN"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类型检查</a:t>
            </a:r>
            <a:endParaRPr kumimoji="0" lang="en-US" altLang="zh-CN"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控制流、回填、</a:t>
            </a:r>
            <a:r>
              <a:rPr kumimoji="0" lang="en-US" altLang="zh-CN"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switch</a:t>
            </a:r>
            <a:r>
              <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语句</a:t>
            </a:r>
            <a:endParaRPr kumimoji="0" lang="en-US" altLang="zh-CN"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过程的中间代码</a:t>
            </a:r>
            <a:endPar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050"/>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类型检查基础（1）</a:t>
            </a:r>
            <a:endParaRPr lang="zh-CN" altLang="en-US" dirty="0">
              <a:latin typeface="Times New Roman" panose="02020603050405020304" pitchFamily="18" charset="0"/>
              <a:ea typeface="宋体" panose="02010600030101010101" pitchFamily="2" charset="-122"/>
            </a:endParaRPr>
          </a:p>
        </p:txBody>
      </p:sp>
      <p:sp>
        <p:nvSpPr>
          <p:cNvPr id="59395" name="Rectangle 2051"/>
          <p:cNvSpPr>
            <a:spLocks noGrp="1"/>
          </p:cNvSpPr>
          <p:nvPr>
            <p:ph idx="1"/>
          </p:nvPr>
        </p:nvSpPr>
        <p:spPr>
          <a:xfrm>
            <a:off x="755650" y="1524000"/>
            <a:ext cx="8064500" cy="4724400"/>
          </a:xfrm>
        </p:spPr>
        <p:txBody>
          <a:bodyPr vert="horz" wrap="square" lIns="92075" tIns="46038" rIns="92075" bIns="46038" anchor="t" anchorCtr="0"/>
          <a:p>
            <a:pPr>
              <a:lnSpc>
                <a:spcPct val="80000"/>
              </a:lnSpc>
            </a:pPr>
            <a:r>
              <a:rPr lang="zh-CN" altLang="en-US" sz="2400" b="1" dirty="0">
                <a:ea typeface="宋体" panose="02010600030101010101" pitchFamily="2" charset="-122"/>
              </a:rPr>
              <a:t>类型的应用划分为类型检查和翻译</a:t>
            </a:r>
            <a:endParaRPr lang="en-US" altLang="zh-CN" sz="2400" b="1" dirty="0">
              <a:ea typeface="宋体" panose="02010600030101010101" pitchFamily="2" charset="-122"/>
            </a:endParaRPr>
          </a:p>
          <a:p>
            <a:pPr lvl="1">
              <a:lnSpc>
                <a:spcPct val="80000"/>
              </a:lnSpc>
            </a:pPr>
            <a:r>
              <a:rPr lang="zh-CN" altLang="en-US" sz="2200" b="1" dirty="0">
                <a:ea typeface="宋体" panose="02010600030101010101" pitchFamily="2" charset="-122"/>
              </a:rPr>
              <a:t>类型检查，利用一组逻辑规则推理一个程序在运行时刻的行为，即保证运算分量的类型和运算符的预期匹配</a:t>
            </a:r>
            <a:endParaRPr lang="zh-CN" altLang="en-US" sz="2200" b="1" dirty="0">
              <a:ea typeface="宋体" panose="02010600030101010101" pitchFamily="2" charset="-122"/>
            </a:endParaRPr>
          </a:p>
          <a:p>
            <a:pPr lvl="1"/>
            <a:r>
              <a:rPr lang="zh-CN" altLang="en-US" sz="2200" b="1" dirty="0">
                <a:ea typeface="宋体" panose="02010600030101010101" pitchFamily="2" charset="-122"/>
              </a:rPr>
              <a:t>翻译时的应用，根据名字的类型，确定其存储空间；类型转换等</a:t>
            </a:r>
            <a:endParaRPr lang="zh-CN" altLang="en-US" sz="2200" b="1" dirty="0">
              <a:ea typeface="宋体" panose="02010600030101010101" pitchFamily="2" charset="-122"/>
            </a:endParaRPr>
          </a:p>
          <a:p>
            <a:pPr>
              <a:lnSpc>
                <a:spcPct val="80000"/>
              </a:lnSpc>
            </a:pPr>
            <a:r>
              <a:rPr lang="zh-CN" altLang="en-US" sz="2400" b="1" dirty="0">
                <a:ea typeface="宋体" panose="02010600030101010101" pitchFamily="2" charset="-122"/>
              </a:rPr>
              <a:t>数据类型</a:t>
            </a:r>
            <a:endParaRPr lang="zh-CN" altLang="en-US" sz="2400" b="1" dirty="0">
              <a:ea typeface="宋体" panose="02010600030101010101" pitchFamily="2" charset="-122"/>
            </a:endParaRPr>
          </a:p>
          <a:p>
            <a:pPr lvl="1"/>
            <a:r>
              <a:rPr lang="zh-CN" altLang="en-US" sz="2200" b="1" dirty="0">
                <a:ea typeface="宋体" panose="02010600030101010101" pitchFamily="2" charset="-122"/>
              </a:rPr>
              <a:t>一个数据对象以及创建和操纵它们的操作集合所组成的类</a:t>
            </a:r>
            <a:endParaRPr lang="zh-CN" altLang="en-US" sz="2200" b="1" dirty="0">
              <a:ea typeface="宋体" panose="02010600030101010101" pitchFamily="2" charset="-122"/>
            </a:endParaRPr>
          </a:p>
          <a:p>
            <a:pPr lvl="1"/>
            <a:r>
              <a:rPr lang="zh-CN" altLang="en-US" sz="2200" b="1" dirty="0">
                <a:ea typeface="宋体" panose="02010600030101010101" pitchFamily="2" charset="-122"/>
              </a:rPr>
              <a:t>是数据对象的一个重要属性</a:t>
            </a:r>
            <a:endParaRPr lang="zh-CN" altLang="en-US" sz="2200" b="1" dirty="0">
              <a:ea typeface="宋体" panose="02010600030101010101" pitchFamily="2" charset="-122"/>
            </a:endParaRPr>
          </a:p>
          <a:p>
            <a:pPr lvl="2"/>
            <a:r>
              <a:rPr lang="zh-CN" altLang="en-US" sz="2000" b="1" dirty="0">
                <a:ea typeface="宋体" panose="02010600030101010101" pitchFamily="2" charset="-122"/>
              </a:rPr>
              <a:t>类型</a:t>
            </a:r>
            <a:endParaRPr lang="zh-CN" altLang="en-US" sz="2000" b="1" dirty="0">
              <a:ea typeface="宋体" panose="02010600030101010101" pitchFamily="2" charset="-122"/>
            </a:endParaRPr>
          </a:p>
          <a:p>
            <a:pPr lvl="2"/>
            <a:r>
              <a:rPr lang="zh-CN" altLang="en-US" sz="2000" b="1" dirty="0">
                <a:ea typeface="宋体" panose="02010600030101010101" pitchFamily="2" charset="-122"/>
              </a:rPr>
              <a:t>位置</a:t>
            </a:r>
            <a:endParaRPr lang="zh-CN" altLang="en-US" sz="2000" b="1" dirty="0">
              <a:ea typeface="宋体" panose="02010600030101010101" pitchFamily="2" charset="-122"/>
            </a:endParaRPr>
          </a:p>
          <a:p>
            <a:pPr lvl="2"/>
            <a:r>
              <a:rPr lang="zh-CN" altLang="en-US" sz="2000" b="1" dirty="0">
                <a:ea typeface="宋体" panose="02010600030101010101" pitchFamily="2" charset="-122"/>
              </a:rPr>
              <a:t>值</a:t>
            </a:r>
            <a:endParaRPr lang="zh-CN" altLang="en-US" sz="2000" b="1" dirty="0">
              <a:ea typeface="宋体" panose="02010600030101010101" pitchFamily="2" charset="-122"/>
            </a:endParaRPr>
          </a:p>
          <a:p>
            <a:pPr lvl="2"/>
            <a:r>
              <a:rPr lang="zh-CN" altLang="en-US" sz="2000" b="1" dirty="0">
                <a:ea typeface="宋体" panose="02010600030101010101" pitchFamily="2" charset="-122"/>
              </a:rPr>
              <a:t>名</a:t>
            </a:r>
            <a:endParaRPr lang="zh-CN" altLang="en-US" sz="2000" b="1" dirty="0">
              <a:ea typeface="宋体" panose="02010600030101010101" pitchFamily="2" charset="-122"/>
            </a:endParaRPr>
          </a:p>
          <a:p>
            <a:pPr lvl="2"/>
            <a:r>
              <a:rPr lang="zh-CN" altLang="en-US" sz="2000" b="1" dirty="0">
                <a:ea typeface="宋体" panose="02010600030101010101" pitchFamily="2" charset="-122"/>
              </a:rPr>
              <a:t>组件：用指针值表示，并通过指针的改变来修改</a:t>
            </a:r>
            <a:endParaRPr lang="zh-CN" altLang="en-US" sz="2000" b="1" dirty="0">
              <a:ea typeface="宋体" panose="02010600030101010101" pitchFamily="2" charset="-122"/>
            </a:endParaRPr>
          </a:p>
          <a:p>
            <a:pPr lvl="2"/>
            <a:r>
              <a:rPr lang="zh-CN" altLang="en-US" sz="2000" b="1" dirty="0">
                <a:ea typeface="宋体" panose="02010600030101010101" pitchFamily="2" charset="-122"/>
              </a:rPr>
              <a:t>… …</a:t>
            </a:r>
            <a:endParaRPr lang="zh-CN" altLang="en-US" sz="2000" b="1" dirty="0">
              <a:ea typeface="宋体" panose="02010600030101010101" pitchFamily="2" charset="-122"/>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类型检查基础（2）</a:t>
            </a:r>
            <a:endParaRPr lang="zh-CN" altLang="en-US" dirty="0">
              <a:latin typeface="Times New Roman" panose="02020603050405020304" pitchFamily="18" charset="0"/>
              <a:ea typeface="宋体" panose="02010600030101010101" pitchFamily="2" charset="-122"/>
            </a:endParaRPr>
          </a:p>
        </p:txBody>
      </p:sp>
      <p:sp>
        <p:nvSpPr>
          <p:cNvPr id="61443" name="Rectangle 3"/>
          <p:cNvSpPr>
            <a:spLocks noGrp="1"/>
          </p:cNvSpPr>
          <p:nvPr>
            <p:ph idx="1"/>
          </p:nvPr>
        </p:nvSpPr>
        <p:spPr>
          <a:xfrm>
            <a:off x="990600" y="1371600"/>
            <a:ext cx="7391400" cy="4953000"/>
          </a:xfrm>
        </p:spPr>
        <p:txBody>
          <a:bodyPr vert="horz" wrap="square" lIns="92075" tIns="46038" rIns="92075" bIns="46038" anchor="t" anchorCtr="0"/>
          <a:p>
            <a:pPr lvl="1"/>
            <a:r>
              <a:rPr lang="zh-CN" altLang="en-US" sz="2200" b="1" dirty="0">
                <a:ea typeface="宋体" panose="02010600030101010101" pitchFamily="2" charset="-122"/>
              </a:rPr>
              <a:t>数据类型规范的基本内容包括：</a:t>
            </a:r>
            <a:endParaRPr lang="zh-CN" altLang="en-US" sz="2200" b="1" dirty="0">
              <a:ea typeface="宋体" panose="02010600030101010101" pitchFamily="2" charset="-122"/>
            </a:endParaRPr>
          </a:p>
          <a:p>
            <a:pPr lvl="2"/>
            <a:r>
              <a:rPr lang="zh-CN" altLang="en-US" sz="2000" b="1" dirty="0">
                <a:ea typeface="宋体" panose="02010600030101010101" pitchFamily="2" charset="-122"/>
              </a:rPr>
              <a:t>属性：区别这个类型的数据对象的属性</a:t>
            </a:r>
            <a:endParaRPr lang="zh-CN" altLang="en-US" sz="2000" b="1" dirty="0">
              <a:ea typeface="宋体" panose="02010600030101010101" pitchFamily="2" charset="-122"/>
            </a:endParaRPr>
          </a:p>
          <a:p>
            <a:pPr lvl="2"/>
            <a:r>
              <a:rPr lang="zh-CN" altLang="en-US" sz="2000" b="1" dirty="0">
                <a:ea typeface="宋体" panose="02010600030101010101" pitchFamily="2" charset="-122"/>
              </a:rPr>
              <a:t>值：这个类型的数据对象可能取的值</a:t>
            </a:r>
            <a:endParaRPr lang="zh-CN" altLang="en-US" sz="2000" b="1" dirty="0">
              <a:ea typeface="宋体" panose="02010600030101010101" pitchFamily="2" charset="-122"/>
            </a:endParaRPr>
          </a:p>
          <a:p>
            <a:pPr lvl="2"/>
            <a:r>
              <a:rPr lang="zh-CN" altLang="en-US" sz="2000" b="1" dirty="0">
                <a:ea typeface="宋体" panose="02010600030101010101" pitchFamily="2" charset="-122"/>
              </a:rPr>
              <a:t>操作：定义对这个类型的数据对象可能的操作集合</a:t>
            </a:r>
            <a:endParaRPr lang="zh-CN" altLang="en-US" sz="2000" b="1" dirty="0">
              <a:ea typeface="宋体" panose="02010600030101010101" pitchFamily="2" charset="-122"/>
            </a:endParaRPr>
          </a:p>
          <a:p>
            <a:pPr lvl="1"/>
            <a:r>
              <a:rPr lang="zh-CN" altLang="en-US" sz="2200" b="1" dirty="0">
                <a:ea typeface="宋体" panose="02010600030101010101" pitchFamily="2" charset="-122"/>
              </a:rPr>
              <a:t>数据类型的实现</a:t>
            </a:r>
            <a:endParaRPr lang="zh-CN" altLang="en-US" sz="2200" b="1" dirty="0">
              <a:ea typeface="宋体" panose="02010600030101010101" pitchFamily="2" charset="-122"/>
            </a:endParaRPr>
          </a:p>
          <a:p>
            <a:pPr lvl="2"/>
            <a:r>
              <a:rPr lang="zh-CN" altLang="en-US" sz="2000" b="1" dirty="0">
                <a:ea typeface="宋体" panose="02010600030101010101" pitchFamily="2" charset="-122"/>
              </a:rPr>
              <a:t>存储：表示程序执行过程中在计算机存储器中的数据类型的数据对象的存储表示</a:t>
            </a:r>
            <a:endParaRPr lang="zh-CN" altLang="en-US" sz="2000" b="1" dirty="0">
              <a:ea typeface="宋体" panose="02010600030101010101" pitchFamily="2" charset="-122"/>
            </a:endParaRPr>
          </a:p>
          <a:p>
            <a:pPr lvl="2"/>
            <a:r>
              <a:rPr lang="zh-CN" altLang="en-US" sz="2000" b="1" dirty="0">
                <a:ea typeface="宋体" panose="02010600030101010101" pitchFamily="2" charset="-122"/>
              </a:rPr>
              <a:t>操作的实现：根据操纵数据对象的存储表示的特定算法或过程来表示数据类型所定义的操作的方式</a:t>
            </a:r>
            <a:endParaRPr lang="zh-CN" altLang="en-US" sz="2000" b="1" dirty="0">
              <a:ea typeface="宋体" panose="02010600030101010101" pitchFamily="2" charset="-122"/>
            </a:endParaRPr>
          </a:p>
          <a:p>
            <a:pPr lvl="1"/>
            <a:r>
              <a:rPr lang="zh-CN" altLang="en-US" sz="2200" b="1" dirty="0">
                <a:ea typeface="宋体" panose="02010600030101010101" pitchFamily="2" charset="-122"/>
              </a:rPr>
              <a:t>数据类型的语法表示</a:t>
            </a:r>
            <a:endParaRPr lang="zh-CN" altLang="en-US" sz="2200" b="1" dirty="0">
              <a:ea typeface="宋体" panose="02010600030101010101" pitchFamily="2" charset="-122"/>
            </a:endParaRPr>
          </a:p>
          <a:p>
            <a:pPr lvl="2"/>
            <a:r>
              <a:rPr lang="zh-CN" altLang="en-US" sz="2000" b="1" dirty="0">
                <a:ea typeface="宋体" panose="02010600030101010101" pitchFamily="2" charset="-122"/>
              </a:rPr>
              <a:t>属性：通过声明或类型定义来体现</a:t>
            </a:r>
            <a:endParaRPr lang="zh-CN" altLang="en-US" sz="2000" b="1" dirty="0">
              <a:ea typeface="宋体" panose="02010600030101010101" pitchFamily="2" charset="-122"/>
            </a:endParaRPr>
          </a:p>
          <a:p>
            <a:pPr lvl="2"/>
            <a:r>
              <a:rPr lang="zh-CN" altLang="en-US" sz="2000" b="1" dirty="0">
                <a:ea typeface="宋体" panose="02010600030101010101" pitchFamily="2" charset="-122"/>
              </a:rPr>
              <a:t>值：表示成文字或已定义的常量</a:t>
            </a:r>
            <a:endParaRPr lang="zh-CN" altLang="en-US" sz="2000" b="1" dirty="0">
              <a:ea typeface="宋体" panose="02010600030101010101" pitchFamily="2" charset="-122"/>
            </a:endParaRPr>
          </a:p>
          <a:p>
            <a:pPr lvl="2"/>
            <a:r>
              <a:rPr lang="zh-CN" altLang="en-US" sz="2000" b="1" dirty="0">
                <a:ea typeface="宋体" panose="02010600030101010101" pitchFamily="2" charset="-122"/>
              </a:rPr>
              <a:t>操作：可以通过特殊符号或内部过程（函数）实现，也可以隐式地通过其它语言元素的组合实现</a:t>
            </a:r>
            <a:endParaRPr lang="zh-CN" altLang="en-US" sz="2000" b="1" dirty="0">
              <a:ea typeface="宋体" panose="02010600030101010101" pitchFamily="2" charset="-122"/>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类型检查基础（</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63491" name="Rectangle 3"/>
          <p:cNvSpPr>
            <a:spLocks noGrp="1"/>
          </p:cNvSpPr>
          <p:nvPr>
            <p:ph idx="1"/>
          </p:nvPr>
        </p:nvSpPr>
        <p:spPr>
          <a:xfrm>
            <a:off x="990600" y="1371600"/>
            <a:ext cx="7391400" cy="4953000"/>
          </a:xfrm>
        </p:spPr>
        <p:txBody>
          <a:bodyPr vert="horz" wrap="square" lIns="92075" tIns="46038" rIns="92075" bIns="46038" anchor="t" anchorCtr="0"/>
          <a:p>
            <a:pPr>
              <a:lnSpc>
                <a:spcPct val="90000"/>
              </a:lnSpc>
            </a:pPr>
            <a:r>
              <a:rPr lang="zh-CN" altLang="en-US" sz="2200" b="1" dirty="0">
                <a:ea typeface="宋体" panose="02010600030101010101" pitchFamily="2" charset="-122"/>
              </a:rPr>
              <a:t>声明</a:t>
            </a:r>
            <a:endParaRPr lang="zh-CN" altLang="en-US" sz="2200" b="1" dirty="0">
              <a:ea typeface="宋体" panose="02010600030101010101" pitchFamily="2" charset="-122"/>
            </a:endParaRPr>
          </a:p>
          <a:p>
            <a:pPr lvl="1">
              <a:lnSpc>
                <a:spcPct val="90000"/>
              </a:lnSpc>
            </a:pPr>
            <a:r>
              <a:rPr lang="zh-CN" altLang="en-US" sz="2000" b="1" dirty="0">
                <a:ea typeface="宋体" panose="02010600030101010101" pitchFamily="2" charset="-122"/>
              </a:rPr>
              <a:t>将程序执行时所需的数据对象的名字和类型的信息传给语言翻译器的程序语句</a:t>
            </a:r>
            <a:endParaRPr lang="zh-CN" altLang="en-US" sz="2000" b="1" dirty="0">
              <a:ea typeface="宋体" panose="02010600030101010101" pitchFamily="2" charset="-122"/>
            </a:endParaRPr>
          </a:p>
          <a:p>
            <a:pPr lvl="2">
              <a:lnSpc>
                <a:spcPct val="90000"/>
              </a:lnSpc>
            </a:pPr>
            <a:r>
              <a:rPr lang="zh-CN" altLang="en-US" sz="1800" b="1" dirty="0">
                <a:ea typeface="宋体" panose="02010600030101010101" pitchFamily="2" charset="-122"/>
              </a:rPr>
              <a:t>声明可以表明数据对象的生存期</a:t>
            </a:r>
            <a:endParaRPr lang="zh-CN" altLang="en-US" sz="1800" b="1" dirty="0">
              <a:ea typeface="宋体" panose="02010600030101010101" pitchFamily="2" charset="-122"/>
            </a:endParaRPr>
          </a:p>
          <a:p>
            <a:pPr lvl="2">
              <a:lnSpc>
                <a:spcPct val="90000"/>
              </a:lnSpc>
            </a:pPr>
            <a:r>
              <a:rPr lang="zh-CN" altLang="en-US" sz="1800" b="1" dirty="0">
                <a:ea typeface="宋体" panose="02010600030101010101" pitchFamily="2" charset="-122"/>
              </a:rPr>
              <a:t>声明的种类</a:t>
            </a:r>
            <a:endParaRPr lang="zh-CN" altLang="en-US" sz="1800" b="1" dirty="0">
              <a:ea typeface="宋体" panose="02010600030101010101" pitchFamily="2" charset="-122"/>
            </a:endParaRPr>
          </a:p>
          <a:p>
            <a:pPr lvl="3">
              <a:lnSpc>
                <a:spcPct val="90000"/>
              </a:lnSpc>
            </a:pPr>
            <a:r>
              <a:rPr lang="zh-CN" altLang="en-US" sz="1600" b="1" dirty="0">
                <a:ea typeface="宋体" panose="02010600030101010101" pitchFamily="2" charset="-122"/>
              </a:rPr>
              <a:t>显式声明和隐式声明</a:t>
            </a:r>
            <a:endParaRPr lang="zh-CN" altLang="en-US" sz="1600" b="1" dirty="0">
              <a:ea typeface="宋体" panose="02010600030101010101" pitchFamily="2" charset="-122"/>
            </a:endParaRPr>
          </a:p>
          <a:p>
            <a:pPr lvl="2">
              <a:lnSpc>
                <a:spcPct val="90000"/>
              </a:lnSpc>
            </a:pPr>
            <a:r>
              <a:rPr lang="zh-CN" altLang="en-US" sz="1800" b="1" dirty="0">
                <a:ea typeface="宋体" panose="02010600030101010101" pitchFamily="2" charset="-122"/>
              </a:rPr>
              <a:t>如果数据对象是常量，声明可以指定它的值，变量可以指定初始值</a:t>
            </a:r>
            <a:endParaRPr lang="zh-CN" altLang="en-US" sz="1800" b="1" dirty="0">
              <a:ea typeface="宋体" panose="02010600030101010101" pitchFamily="2" charset="-122"/>
            </a:endParaRPr>
          </a:p>
          <a:p>
            <a:pPr lvl="2">
              <a:lnSpc>
                <a:spcPct val="90000"/>
              </a:lnSpc>
            </a:pPr>
            <a:r>
              <a:rPr lang="zh-CN" altLang="en-US" sz="1800" b="1" dirty="0">
                <a:ea typeface="宋体" panose="02010600030101010101" pitchFamily="2" charset="-122"/>
              </a:rPr>
              <a:t>声明也可以指明具体存储的一些信息等，如</a:t>
            </a:r>
            <a:r>
              <a:rPr lang="en-US" altLang="zh-CN" sz="1800" b="1" dirty="0">
                <a:ea typeface="宋体" panose="02010600030101010101" pitchFamily="2" charset="-122"/>
              </a:rPr>
              <a:t>cobol</a:t>
            </a:r>
            <a:r>
              <a:rPr lang="zh-CN" altLang="en-US" sz="1800" b="1" dirty="0">
                <a:ea typeface="宋体" panose="02010600030101010101" pitchFamily="2" charset="-122"/>
              </a:rPr>
              <a:t>中存储形式的声明</a:t>
            </a:r>
            <a:endParaRPr lang="zh-CN" altLang="en-US" sz="1800" b="1" dirty="0">
              <a:ea typeface="宋体" panose="02010600030101010101" pitchFamily="2" charset="-122"/>
            </a:endParaRPr>
          </a:p>
          <a:p>
            <a:pPr lvl="1">
              <a:lnSpc>
                <a:spcPct val="90000"/>
              </a:lnSpc>
            </a:pPr>
            <a:r>
              <a:rPr lang="zh-CN" altLang="en-US" sz="2000" b="1" dirty="0">
                <a:ea typeface="宋体" panose="02010600030101010101" pitchFamily="2" charset="-122"/>
              </a:rPr>
              <a:t>操作的声明：操作形式</a:t>
            </a:r>
            <a:endParaRPr lang="en-US" altLang="zh-CN" sz="2000" b="1" dirty="0">
              <a:ea typeface="宋体" panose="02010600030101010101" pitchFamily="2" charset="-122"/>
            </a:endParaRPr>
          </a:p>
          <a:p>
            <a:pPr lvl="2">
              <a:lnSpc>
                <a:spcPct val="90000"/>
              </a:lnSpc>
            </a:pPr>
            <a:r>
              <a:rPr lang="zh-CN" altLang="en-US" sz="1800" b="1" dirty="0">
                <a:ea typeface="宋体" panose="02010600030101010101" pitchFamily="2" charset="-122"/>
              </a:rPr>
              <a:t>硬件指令实现的操作、语言内置的操作、自定义的操作等</a:t>
            </a:r>
            <a:endParaRPr lang="zh-CN" altLang="en-US" sz="1800" b="1" dirty="0">
              <a:ea typeface="宋体" panose="02010600030101010101" pitchFamily="2" charset="-122"/>
            </a:endParaRPr>
          </a:p>
          <a:p>
            <a:pPr lvl="1">
              <a:lnSpc>
                <a:spcPct val="90000"/>
              </a:lnSpc>
            </a:pPr>
            <a:r>
              <a:rPr lang="zh-CN" altLang="en-US" sz="2000" b="1" dirty="0">
                <a:ea typeface="宋体" panose="02010600030101010101" pitchFamily="2" charset="-122"/>
              </a:rPr>
              <a:t>声明的目的</a:t>
            </a:r>
            <a:endParaRPr lang="zh-CN" altLang="en-US" sz="2000" b="1" dirty="0">
              <a:ea typeface="宋体" panose="02010600030101010101" pitchFamily="2" charset="-122"/>
            </a:endParaRPr>
          </a:p>
          <a:p>
            <a:pPr lvl="2">
              <a:lnSpc>
                <a:spcPct val="90000"/>
              </a:lnSpc>
            </a:pPr>
            <a:r>
              <a:rPr lang="zh-CN" altLang="en-US" sz="1800" b="1" dirty="0">
                <a:ea typeface="宋体" panose="02010600030101010101" pitchFamily="2" charset="-122"/>
              </a:rPr>
              <a:t>存储表示的选择</a:t>
            </a:r>
            <a:endParaRPr lang="zh-CN" altLang="en-US" sz="1800" b="1" dirty="0">
              <a:ea typeface="宋体" panose="02010600030101010101" pitchFamily="2" charset="-122"/>
            </a:endParaRPr>
          </a:p>
          <a:p>
            <a:pPr lvl="2">
              <a:lnSpc>
                <a:spcPct val="90000"/>
              </a:lnSpc>
            </a:pPr>
            <a:r>
              <a:rPr lang="zh-CN" altLang="en-US" sz="1800" b="1" dirty="0">
                <a:ea typeface="宋体" panose="02010600030101010101" pitchFamily="2" charset="-122"/>
              </a:rPr>
              <a:t>存储管理</a:t>
            </a:r>
            <a:endParaRPr lang="zh-CN" altLang="en-US" sz="1800" b="1" dirty="0">
              <a:ea typeface="宋体" panose="02010600030101010101" pitchFamily="2" charset="-122"/>
            </a:endParaRPr>
          </a:p>
          <a:p>
            <a:pPr lvl="2">
              <a:lnSpc>
                <a:spcPct val="90000"/>
              </a:lnSpc>
            </a:pPr>
            <a:r>
              <a:rPr lang="zh-CN" altLang="en-US" sz="1800" b="1" dirty="0">
                <a:ea typeface="宋体" panose="02010600030101010101" pitchFamily="2" charset="-122"/>
              </a:rPr>
              <a:t>多态操作</a:t>
            </a:r>
            <a:endParaRPr lang="zh-CN" altLang="en-US" sz="1800" b="1" dirty="0">
              <a:ea typeface="宋体" panose="02010600030101010101" pitchFamily="2" charset="-122"/>
            </a:endParaRPr>
          </a:p>
          <a:p>
            <a:pPr lvl="2">
              <a:lnSpc>
                <a:spcPct val="90000"/>
              </a:lnSpc>
            </a:pPr>
            <a:r>
              <a:rPr lang="zh-CN" altLang="en-US" sz="1800" b="1" dirty="0">
                <a:ea typeface="宋体" panose="02010600030101010101" pitchFamily="2" charset="-122"/>
              </a:rPr>
              <a:t>类型检查</a:t>
            </a:r>
            <a:endParaRPr lang="zh-CN" altLang="en-US" sz="1800" b="1" dirty="0">
              <a:ea typeface="宋体" panose="02010600030101010101" pitchFamily="2" charset="-122"/>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类型系统（1）</a:t>
            </a:r>
            <a:endParaRPr lang="zh-CN" altLang="en-US" dirty="0">
              <a:latin typeface="Times New Roman" panose="02020603050405020304" pitchFamily="18" charset="0"/>
              <a:ea typeface="宋体" panose="02010600030101010101" pitchFamily="2" charset="-122"/>
            </a:endParaRPr>
          </a:p>
        </p:txBody>
      </p:sp>
      <p:sp>
        <p:nvSpPr>
          <p:cNvPr id="65539" name="Rectangle 3"/>
          <p:cNvSpPr>
            <a:spLocks noGrp="1"/>
          </p:cNvSpPr>
          <p:nvPr>
            <p:ph idx="1"/>
          </p:nvPr>
        </p:nvSpPr>
        <p:spPr>
          <a:xfrm>
            <a:off x="990600" y="1371600"/>
            <a:ext cx="7391400" cy="4953000"/>
          </a:xfrm>
        </p:spPr>
        <p:txBody>
          <a:bodyPr vert="horz" wrap="square" lIns="92075" tIns="46038" rIns="92075" bIns="46038" anchor="t" anchorCtr="0"/>
          <a:p>
            <a:r>
              <a:rPr lang="zh-CN" altLang="en-US" sz="2400" b="1" dirty="0">
                <a:ea typeface="宋体" panose="02010600030101010101" pitchFamily="2" charset="-122"/>
              </a:rPr>
              <a:t>类型表达式：</a:t>
            </a:r>
            <a:endParaRPr lang="zh-CN" altLang="en-US" sz="2400" b="1" dirty="0">
              <a:ea typeface="宋体" panose="02010600030101010101" pitchFamily="2" charset="-122"/>
            </a:endParaRPr>
          </a:p>
          <a:p>
            <a:pPr lvl="1"/>
            <a:r>
              <a:rPr lang="zh-CN" altLang="en-US" sz="2200" b="1" dirty="0">
                <a:ea typeface="宋体" panose="02010600030101010101" pitchFamily="2" charset="-122"/>
              </a:rPr>
              <a:t>语言结构的类型可以用类型表达式指称</a:t>
            </a:r>
            <a:endParaRPr lang="zh-CN" altLang="en-US" sz="2200" b="1" dirty="0">
              <a:ea typeface="宋体" panose="02010600030101010101" pitchFamily="2" charset="-122"/>
            </a:endParaRPr>
          </a:p>
          <a:p>
            <a:pPr lvl="1"/>
            <a:r>
              <a:rPr lang="zh-CN" altLang="en-US" sz="2200" b="1" dirty="0">
                <a:ea typeface="宋体" panose="02010600030101010101" pitchFamily="2" charset="-122"/>
              </a:rPr>
              <a:t>类型构造器</a:t>
            </a:r>
            <a:endParaRPr lang="zh-CN" altLang="en-US" sz="2200" b="1" dirty="0">
              <a:ea typeface="宋体" panose="02010600030101010101" pitchFamily="2" charset="-122"/>
            </a:endParaRPr>
          </a:p>
          <a:p>
            <a:pPr lvl="2"/>
            <a:r>
              <a:rPr lang="zh-CN" altLang="en-US" sz="2000" b="1" dirty="0">
                <a:ea typeface="宋体" panose="02010600030101010101" pitchFamily="2" charset="-122"/>
              </a:rPr>
              <a:t>在一个已经说明类型的集合上创建新的类型</a:t>
            </a:r>
            <a:endParaRPr lang="zh-CN" altLang="en-US" sz="2000" b="1" dirty="0">
              <a:ea typeface="宋体" panose="02010600030101010101" pitchFamily="2" charset="-122"/>
            </a:endParaRPr>
          </a:p>
          <a:p>
            <a:pPr lvl="3"/>
            <a:r>
              <a:rPr lang="zh-CN" altLang="en-US" sz="1800" b="1" dirty="0">
                <a:ea typeface="宋体" panose="02010600030101010101" pitchFamily="2" charset="-122"/>
              </a:rPr>
              <a:t>数组、记录、指针等</a:t>
            </a:r>
            <a:endParaRPr lang="zh-CN" altLang="en-US" sz="1800" b="1" dirty="0">
              <a:ea typeface="宋体" panose="02010600030101010101" pitchFamily="2" charset="-122"/>
            </a:endParaRPr>
          </a:p>
          <a:p>
            <a:pPr lvl="1"/>
            <a:r>
              <a:rPr lang="zh-CN" altLang="en-US" sz="2200" b="1" dirty="0">
                <a:ea typeface="宋体" panose="02010600030101010101" pitchFamily="2" charset="-122"/>
              </a:rPr>
              <a:t>类型表达式的形式定义</a:t>
            </a:r>
            <a:endParaRPr lang="zh-CN" altLang="en-US" sz="2200" b="1" dirty="0">
              <a:ea typeface="宋体" panose="02010600030101010101" pitchFamily="2" charset="-122"/>
            </a:endParaRPr>
          </a:p>
          <a:p>
            <a:pPr lvl="2"/>
            <a:r>
              <a:rPr lang="zh-CN" altLang="en-US" sz="2000" b="1" dirty="0">
                <a:ea typeface="宋体" panose="02010600030101010101" pitchFamily="2" charset="-122"/>
              </a:rPr>
              <a:t>基本类型是类型表达式</a:t>
            </a:r>
            <a:endParaRPr lang="zh-CN" altLang="en-US" sz="2000" b="1" dirty="0">
              <a:ea typeface="宋体" panose="02010600030101010101" pitchFamily="2" charset="-122"/>
            </a:endParaRPr>
          </a:p>
          <a:p>
            <a:pPr lvl="3"/>
            <a:r>
              <a:rPr lang="zh-CN" altLang="en-US" sz="1800" b="1" dirty="0">
                <a:ea typeface="宋体" panose="02010600030101010101" pitchFamily="2" charset="-122"/>
              </a:rPr>
              <a:t>一般有</a:t>
            </a:r>
            <a:r>
              <a:rPr lang="en-US" altLang="zh-CN" sz="1800" b="1" i="1" dirty="0">
                <a:ea typeface="宋体" panose="02010600030101010101" pitchFamily="2" charset="-122"/>
              </a:rPr>
              <a:t>boolean, char, integer, real, type_error, void</a:t>
            </a:r>
            <a:endParaRPr lang="en-US" altLang="zh-CN" sz="1800" b="1" i="1" dirty="0">
              <a:ea typeface="宋体" panose="02010600030101010101" pitchFamily="2" charset="-122"/>
            </a:endParaRPr>
          </a:p>
          <a:p>
            <a:pPr lvl="3"/>
            <a:r>
              <a:rPr lang="zh-CN" altLang="en-US" sz="1800" b="1" dirty="0">
                <a:ea typeface="宋体" panose="02010600030101010101" pitchFamily="2" charset="-122"/>
              </a:rPr>
              <a:t>其中</a:t>
            </a:r>
            <a:endParaRPr lang="zh-CN" altLang="en-US" sz="1800" b="1" dirty="0">
              <a:ea typeface="宋体" panose="02010600030101010101" pitchFamily="2" charset="-122"/>
            </a:endParaRPr>
          </a:p>
          <a:p>
            <a:pPr lvl="4"/>
            <a:r>
              <a:rPr lang="en-US" altLang="zh-CN" sz="1600" b="1" i="1" dirty="0">
                <a:ea typeface="宋体" panose="02010600030101010101" pitchFamily="2" charset="-122"/>
              </a:rPr>
              <a:t>type_error</a:t>
            </a:r>
            <a:r>
              <a:rPr lang="zh-CN" altLang="en-US" sz="1600" b="1" dirty="0">
                <a:ea typeface="宋体" panose="02010600030101010101" pitchFamily="2" charset="-122"/>
              </a:rPr>
              <a:t>表示类型检查期间的错误</a:t>
            </a:r>
            <a:endParaRPr lang="zh-CN" altLang="en-US" sz="1600" b="1" dirty="0">
              <a:ea typeface="宋体" panose="02010600030101010101" pitchFamily="2" charset="-122"/>
            </a:endParaRPr>
          </a:p>
          <a:p>
            <a:pPr lvl="4"/>
            <a:r>
              <a:rPr lang="en-US" altLang="zh-CN" sz="1600" b="1" i="1" dirty="0">
                <a:ea typeface="宋体" panose="02010600030101010101" pitchFamily="2" charset="-122"/>
              </a:rPr>
              <a:t>void</a:t>
            </a:r>
            <a:r>
              <a:rPr lang="zh-CN" altLang="en-US" sz="1600" b="1" dirty="0">
                <a:ea typeface="宋体" panose="02010600030101010101" pitchFamily="2" charset="-122"/>
              </a:rPr>
              <a:t>表示没有值，用于语句的检查</a:t>
            </a:r>
            <a:endParaRPr lang="zh-CN" altLang="en-US" sz="1600" b="1" dirty="0">
              <a:ea typeface="宋体" panose="02010600030101010101" pitchFamily="2" charset="-122"/>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类型系统（2）</a:t>
            </a:r>
            <a:endParaRPr lang="zh-CN" altLang="en-US" dirty="0">
              <a:latin typeface="Times New Roman" panose="02020603050405020304" pitchFamily="18" charset="0"/>
              <a:ea typeface="宋体" panose="02010600030101010101" pitchFamily="2" charset="-122"/>
            </a:endParaRPr>
          </a:p>
        </p:txBody>
      </p:sp>
      <p:sp>
        <p:nvSpPr>
          <p:cNvPr id="67587" name="Rectangle 3"/>
          <p:cNvSpPr>
            <a:spLocks noGrp="1"/>
          </p:cNvSpPr>
          <p:nvPr>
            <p:ph idx="1"/>
          </p:nvPr>
        </p:nvSpPr>
        <p:spPr>
          <a:xfrm>
            <a:off x="990600" y="1371600"/>
            <a:ext cx="7391400" cy="4953000"/>
          </a:xfrm>
        </p:spPr>
        <p:txBody>
          <a:bodyPr vert="horz" wrap="square" lIns="92075" tIns="46038" rIns="92075" bIns="46038" anchor="t" anchorCtr="0"/>
          <a:p>
            <a:pPr lvl="2"/>
            <a:r>
              <a:rPr lang="zh-CN" altLang="en-US" sz="2000" b="1" dirty="0">
                <a:ea typeface="宋体" panose="02010600030101010101" pitchFamily="2" charset="-122"/>
              </a:rPr>
              <a:t>类型表达式可以命名，类型名是类型表达式</a:t>
            </a:r>
            <a:endParaRPr lang="zh-CN" altLang="en-US" sz="2000" b="1" dirty="0">
              <a:ea typeface="宋体" panose="02010600030101010101" pitchFamily="2" charset="-122"/>
            </a:endParaRPr>
          </a:p>
          <a:p>
            <a:pPr lvl="3"/>
            <a:r>
              <a:rPr lang="zh-CN" altLang="en-US" sz="1800" b="1" dirty="0">
                <a:ea typeface="宋体" panose="02010600030101010101" pitchFamily="2" charset="-122"/>
              </a:rPr>
              <a:t>如记录名或结构名可以作为类型表示用于变量的类型声明</a:t>
            </a:r>
            <a:endParaRPr lang="zh-CN" altLang="en-US"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1)</a:t>
            </a:r>
            <a:r>
              <a:rPr lang="zh-CN" altLang="en-US" sz="1800" b="1" dirty="0">
                <a:ea typeface="宋体" panose="02010600030101010101" pitchFamily="2" charset="-122"/>
              </a:rPr>
              <a:t>名字直接用</a:t>
            </a:r>
            <a:r>
              <a:rPr lang="en-US" altLang="zh-CN" sz="1800" b="1" dirty="0">
                <a:ea typeface="宋体" panose="02010600030101010101" pitchFamily="2" charset="-122"/>
              </a:rPr>
              <a:t>struct</a:t>
            </a:r>
            <a:r>
              <a:rPr lang="zh-CN" altLang="en-US" sz="1800" b="1" dirty="0">
                <a:ea typeface="宋体" panose="02010600030101010101" pitchFamily="2" charset="-122"/>
              </a:rPr>
              <a:t>或</a:t>
            </a:r>
            <a:r>
              <a:rPr lang="en-US" altLang="zh-CN" sz="1800" b="1" dirty="0">
                <a:ea typeface="宋体" panose="02010600030101010101" pitchFamily="2" charset="-122"/>
              </a:rPr>
              <a:t>union</a:t>
            </a:r>
            <a:r>
              <a:rPr lang="zh-CN" altLang="en-US" sz="1800" b="1" dirty="0">
                <a:ea typeface="宋体" panose="02010600030101010101" pitchFamily="2" charset="-122"/>
              </a:rPr>
              <a:t>等构造器关联</a:t>
            </a:r>
            <a:endParaRPr lang="zh-CN" altLang="en-US" sz="18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struct Hchain {</a:t>
            </a:r>
            <a:endParaRPr lang="en-US" altLang="zh-CN"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	int objp;</a:t>
            </a:r>
            <a:endParaRPr lang="en-US" altLang="zh-CN"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	int next;</a:t>
            </a:r>
            <a:endParaRPr lang="en-US" altLang="zh-CN"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a:t>
            </a:r>
            <a:endParaRPr lang="en-US" altLang="zh-CN"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struct Hchain  dimchain[100];</a:t>
            </a:r>
            <a:endParaRPr lang="en-US" altLang="zh-CN" sz="16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2)</a:t>
            </a:r>
            <a:r>
              <a:rPr lang="zh-CN" altLang="en-US" sz="1800" b="1" dirty="0">
                <a:ea typeface="宋体" panose="02010600030101010101" pitchFamily="2" charset="-122"/>
              </a:rPr>
              <a:t>类型说明（</a:t>
            </a:r>
            <a:r>
              <a:rPr lang="en-US" altLang="zh-CN" sz="1800" b="1" dirty="0">
                <a:ea typeface="宋体" panose="02010600030101010101" pitchFamily="2" charset="-122"/>
              </a:rPr>
              <a:t>type declaration），</a:t>
            </a:r>
            <a:r>
              <a:rPr lang="zh-CN" altLang="en-US" sz="1800" b="1" dirty="0">
                <a:ea typeface="宋体" panose="02010600030101010101" pitchFamily="2" charset="-122"/>
              </a:rPr>
              <a:t>用</a:t>
            </a:r>
            <a:r>
              <a:rPr lang="en-US" altLang="zh-CN" sz="1800" b="1" dirty="0">
                <a:ea typeface="宋体" panose="02010600030101010101" pitchFamily="2" charset="-122"/>
              </a:rPr>
              <a:t>typedef</a:t>
            </a:r>
            <a:r>
              <a:rPr lang="zh-CN" altLang="en-US" sz="1800" b="1" dirty="0">
                <a:ea typeface="宋体" panose="02010600030101010101" pitchFamily="2" charset="-122"/>
              </a:rPr>
              <a:t>机制等</a:t>
            </a:r>
            <a:endParaRPr lang="zh-CN" altLang="en-US" sz="18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typedef struct {</a:t>
            </a:r>
            <a:endParaRPr lang="en-US" altLang="zh-CN"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	int objp;</a:t>
            </a:r>
            <a:endParaRPr lang="en-US" altLang="zh-CN"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	int next;</a:t>
            </a:r>
            <a:endParaRPr lang="en-US" altLang="zh-CN"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 Hchain;</a:t>
            </a:r>
            <a:endParaRPr lang="en-US" altLang="zh-CN"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Hchain  dimchain[100];</a:t>
            </a:r>
            <a:endParaRPr lang="en-US" altLang="zh-CN" sz="1600" b="1" dirty="0">
              <a:ea typeface="宋体" panose="02010600030101010101" pitchFamily="2" charset="-122"/>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类型系统（3）</a:t>
            </a:r>
            <a:endParaRPr lang="zh-CN" altLang="en-US" dirty="0">
              <a:latin typeface="Times New Roman" panose="02020603050405020304" pitchFamily="18" charset="0"/>
              <a:ea typeface="宋体" panose="02010600030101010101" pitchFamily="2" charset="-122"/>
            </a:endParaRPr>
          </a:p>
        </p:txBody>
      </p:sp>
      <p:sp>
        <p:nvSpPr>
          <p:cNvPr id="69635" name="Rectangle 3"/>
          <p:cNvSpPr>
            <a:spLocks noGrp="1"/>
          </p:cNvSpPr>
          <p:nvPr>
            <p:ph idx="1"/>
          </p:nvPr>
        </p:nvSpPr>
        <p:spPr>
          <a:xfrm>
            <a:off x="990600" y="1371600"/>
            <a:ext cx="7391400" cy="5105400"/>
          </a:xfrm>
        </p:spPr>
        <p:txBody>
          <a:bodyPr vert="horz" wrap="square" lIns="92075" tIns="46038" rIns="92075" bIns="46038" anchor="t" anchorCtr="0"/>
          <a:p>
            <a:pPr lvl="3"/>
            <a:r>
              <a:rPr lang="zh-CN" altLang="en-US" sz="1800" b="1" dirty="0">
                <a:ea typeface="宋体" panose="02010600030101010101" pitchFamily="2" charset="-122"/>
              </a:rPr>
              <a:t>类型名的管理：</a:t>
            </a:r>
            <a:endParaRPr lang="zh-CN" altLang="en-US" sz="1800" b="1" dirty="0">
              <a:ea typeface="宋体" panose="02010600030101010101" pitchFamily="2" charset="-122"/>
            </a:endParaRPr>
          </a:p>
          <a:p>
            <a:pPr lvl="4"/>
            <a:r>
              <a:rPr lang="zh-CN" altLang="en-US" sz="1600" b="1" dirty="0">
                <a:ea typeface="宋体" panose="02010600030101010101" pitchFamily="2" charset="-122"/>
              </a:rPr>
              <a:t>类型表的构造</a:t>
            </a:r>
            <a:endParaRPr lang="zh-CN" altLang="en-US" sz="1600" b="1" dirty="0">
              <a:ea typeface="宋体" panose="02010600030101010101" pitchFamily="2" charset="-122"/>
            </a:endParaRPr>
          </a:p>
          <a:p>
            <a:pPr lvl="4">
              <a:buFont typeface="Wingdings" panose="05000000000000000000" pitchFamily="2" charset="2"/>
              <a:buNone/>
            </a:pPr>
            <a:r>
              <a:rPr lang="zh-CN" altLang="en-US" sz="1600" b="1" dirty="0">
                <a:ea typeface="宋体" panose="02010600030101010101" pitchFamily="2" charset="-122"/>
              </a:rPr>
              <a:t>	是一种特定的符号表</a:t>
            </a:r>
            <a:endParaRPr lang="zh-CN" altLang="en-US" sz="1600" b="1" dirty="0">
              <a:ea typeface="宋体" panose="02010600030101010101" pitchFamily="2" charset="-122"/>
            </a:endParaRPr>
          </a:p>
          <a:p>
            <a:pPr lvl="4"/>
            <a:r>
              <a:rPr lang="zh-CN" altLang="en-US" sz="1600" b="1" dirty="0">
                <a:ea typeface="宋体" panose="02010600030101010101" pitchFamily="2" charset="-122"/>
              </a:rPr>
              <a:t>类型的作用域</a:t>
            </a:r>
            <a:endParaRPr lang="zh-CN" altLang="en-US" sz="1600" b="1" dirty="0">
              <a:ea typeface="宋体" panose="02010600030101010101" pitchFamily="2" charset="-122"/>
            </a:endParaRPr>
          </a:p>
          <a:p>
            <a:pPr lvl="4">
              <a:buFont typeface="Wingdings" panose="05000000000000000000" pitchFamily="2" charset="2"/>
              <a:buNone/>
            </a:pPr>
            <a:r>
              <a:rPr lang="zh-CN" altLang="en-US" sz="1600" b="1" dirty="0">
                <a:ea typeface="宋体" panose="02010600030101010101" pitchFamily="2" charset="-122"/>
              </a:rPr>
              <a:t>	类似于变量的作用域</a:t>
            </a:r>
            <a:endParaRPr lang="zh-CN" altLang="en-US" sz="1600" b="1" dirty="0">
              <a:ea typeface="宋体" panose="02010600030101010101" pitchFamily="2" charset="-122"/>
            </a:endParaRPr>
          </a:p>
          <a:p>
            <a:pPr lvl="4"/>
            <a:r>
              <a:rPr lang="zh-CN" altLang="en-US" sz="1600" b="1" dirty="0">
                <a:ea typeface="宋体" panose="02010600030101010101" pitchFamily="2" charset="-122"/>
              </a:rPr>
              <a:t>类型名与类型表达式的关联</a:t>
            </a:r>
            <a:endParaRPr lang="zh-CN" altLang="en-US" sz="1600" b="1" dirty="0">
              <a:ea typeface="宋体" panose="02010600030101010101" pitchFamily="2" charset="-122"/>
            </a:endParaRPr>
          </a:p>
          <a:p>
            <a:pPr lvl="3"/>
            <a:r>
              <a:rPr lang="zh-CN" altLang="en-US" sz="1800" b="1" dirty="0">
                <a:ea typeface="宋体" panose="02010600030101010101" pitchFamily="2" charset="-122"/>
              </a:rPr>
              <a:t>类型名可以出现在类型表达式中</a:t>
            </a:r>
            <a:endParaRPr lang="zh-CN" altLang="en-US" sz="1800" b="1" dirty="0">
              <a:ea typeface="宋体" panose="02010600030101010101" pitchFamily="2" charset="-122"/>
            </a:endParaRPr>
          </a:p>
          <a:p>
            <a:pPr lvl="4"/>
            <a:r>
              <a:rPr lang="zh-CN" altLang="en-US" sz="1600" b="1" dirty="0">
                <a:ea typeface="宋体" panose="02010600030101010101" pitchFamily="2" charset="-122"/>
              </a:rPr>
              <a:t>类型的递归定义</a:t>
            </a:r>
            <a:endParaRPr lang="zh-CN" altLang="en-US" sz="1600" b="1" dirty="0">
              <a:ea typeface="宋体" panose="02010600030101010101" pitchFamily="2" charset="-122"/>
            </a:endParaRPr>
          </a:p>
          <a:p>
            <a:pPr lvl="4">
              <a:buFont typeface="Wingdings" panose="05000000000000000000" pitchFamily="2" charset="2"/>
              <a:buNone/>
            </a:pPr>
            <a:r>
              <a:rPr lang="zh-CN" altLang="en-US" sz="1600" b="1" dirty="0">
                <a:ea typeface="宋体" panose="02010600030101010101" pitchFamily="2" charset="-122"/>
              </a:rPr>
              <a:t>	如下的定义在</a:t>
            </a:r>
            <a:r>
              <a:rPr lang="en-US" altLang="zh-CN" sz="1600" b="1" dirty="0">
                <a:ea typeface="宋体" panose="02010600030101010101" pitchFamily="2" charset="-122"/>
              </a:rPr>
              <a:t>C</a:t>
            </a:r>
            <a:r>
              <a:rPr lang="zh-CN" altLang="en-US" sz="1600" b="1" dirty="0">
                <a:ea typeface="宋体" panose="02010600030101010101" pitchFamily="2" charset="-122"/>
              </a:rPr>
              <a:t>语言中是不合法的，因为在递归使用类型名</a:t>
            </a:r>
            <a:r>
              <a:rPr lang="en-US" altLang="zh-CN" sz="1600" b="1" dirty="0">
                <a:ea typeface="宋体" panose="02010600030101010101" pitchFamily="2" charset="-122"/>
              </a:rPr>
              <a:t>intBST</a:t>
            </a:r>
            <a:r>
              <a:rPr lang="zh-CN" altLang="en-US" sz="1600" b="1" dirty="0">
                <a:ea typeface="宋体" panose="02010600030101010101" pitchFamily="2" charset="-122"/>
              </a:rPr>
              <a:t>时，没有确定所需要的存储空间大小</a:t>
            </a:r>
            <a:endParaRPr lang="zh-CN" altLang="en-US" sz="1600" b="1" dirty="0">
              <a:ea typeface="宋体" panose="02010600030101010101" pitchFamily="2" charset="-122"/>
            </a:endParaRPr>
          </a:p>
          <a:p>
            <a:pPr lvl="4">
              <a:buFont typeface="Wingdings" panose="05000000000000000000" pitchFamily="2" charset="2"/>
              <a:buNone/>
            </a:pPr>
            <a:r>
              <a:rPr lang="zh-CN" altLang="en-US" sz="1600" b="1" dirty="0">
                <a:ea typeface="宋体" panose="02010600030101010101" pitchFamily="2" charset="-122"/>
              </a:rPr>
              <a:t>		</a:t>
            </a:r>
            <a:r>
              <a:rPr lang="en-US" altLang="zh-CN" sz="1600" b="1" dirty="0">
                <a:ea typeface="宋体" panose="02010600030101010101" pitchFamily="2" charset="-122"/>
              </a:rPr>
              <a:t>struct intBST {</a:t>
            </a:r>
            <a:endParaRPr lang="en-US" altLang="zh-CN"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			int		isNull;</a:t>
            </a:r>
            <a:endParaRPr lang="en-US" altLang="zh-CN"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			int		val;</a:t>
            </a:r>
            <a:endParaRPr lang="en-US" altLang="zh-CN"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			struct intBST	left, right;</a:t>
            </a:r>
            <a:endParaRPr lang="en-US" altLang="zh-CN"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		}</a:t>
            </a:r>
            <a:endParaRPr lang="en-US" altLang="zh-CN" sz="1600" b="1" dirty="0">
              <a:ea typeface="宋体" panose="02010600030101010101" pitchFamily="2" charset="-122"/>
            </a:endParaRPr>
          </a:p>
          <a:p>
            <a:pPr lvl="4">
              <a:buFont typeface="Wingdings" panose="05000000000000000000" pitchFamily="2" charset="2"/>
              <a:buNone/>
            </a:pPr>
            <a:r>
              <a:rPr lang="zh-CN" altLang="en-US" sz="1600" b="1" dirty="0">
                <a:ea typeface="宋体" panose="02010600030101010101" pitchFamily="2" charset="-122"/>
              </a:rPr>
              <a:t>	但通过指针是可以解决上述问题的：</a:t>
            </a:r>
            <a:endParaRPr lang="zh-CN" altLang="en-US"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			struct intBST	*left, * right;</a:t>
            </a:r>
            <a:endParaRPr lang="en-US" altLang="zh-CN" sz="1600" b="1" dirty="0">
              <a:ea typeface="宋体" panose="02010600030101010101" pitchFamily="2" charset="-122"/>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类型系统（4）</a:t>
            </a:r>
            <a:endParaRPr lang="zh-CN" altLang="en-US" dirty="0">
              <a:latin typeface="Times New Roman" panose="02020603050405020304" pitchFamily="18" charset="0"/>
              <a:ea typeface="宋体" panose="02010600030101010101" pitchFamily="2" charset="-122"/>
            </a:endParaRPr>
          </a:p>
        </p:txBody>
      </p:sp>
      <p:sp>
        <p:nvSpPr>
          <p:cNvPr id="71683" name="Rectangle 3"/>
          <p:cNvSpPr>
            <a:spLocks noGrp="1"/>
          </p:cNvSpPr>
          <p:nvPr>
            <p:ph idx="1"/>
          </p:nvPr>
        </p:nvSpPr>
        <p:spPr>
          <a:xfrm>
            <a:off x="914400" y="1371600"/>
            <a:ext cx="7467600" cy="4953000"/>
          </a:xfrm>
        </p:spPr>
        <p:txBody>
          <a:bodyPr vert="horz" wrap="square" lIns="92075" tIns="46038" rIns="92075" bIns="46038" anchor="t" anchorCtr="0"/>
          <a:p>
            <a:pPr lvl="2"/>
            <a:r>
              <a:rPr lang="zh-CN" altLang="en-US" sz="2000" b="1" dirty="0">
                <a:ea typeface="宋体" panose="02010600030101010101" pitchFamily="2" charset="-122"/>
              </a:rPr>
              <a:t>类型构造器作用于类型表达式的结果仍是类型表达式，类型构造器包括：</a:t>
            </a:r>
            <a:endParaRPr lang="zh-CN" altLang="en-US" sz="2000" b="1" dirty="0">
              <a:ea typeface="宋体" panose="02010600030101010101" pitchFamily="2" charset="-122"/>
            </a:endParaRPr>
          </a:p>
          <a:p>
            <a:pPr lvl="3"/>
            <a:r>
              <a:rPr lang="zh-CN" altLang="en-US" sz="1800" b="1" dirty="0">
                <a:ea typeface="宋体" panose="02010600030101010101" pitchFamily="2" charset="-122"/>
              </a:rPr>
              <a:t>数组：</a:t>
            </a:r>
            <a:endParaRPr lang="zh-CN" altLang="en-US" sz="1800" b="1" dirty="0">
              <a:ea typeface="宋体" panose="02010600030101010101" pitchFamily="2" charset="-122"/>
            </a:endParaRPr>
          </a:p>
          <a:p>
            <a:pPr lvl="4"/>
            <a:r>
              <a:rPr lang="zh-CN" altLang="en-US" sz="1600" b="1" dirty="0">
                <a:ea typeface="宋体" panose="02010600030101010101" pitchFamily="2" charset="-122"/>
              </a:rPr>
              <a:t>如果</a:t>
            </a:r>
            <a:r>
              <a:rPr lang="en-US" altLang="zh-CN" sz="1600" b="1" dirty="0">
                <a:ea typeface="宋体" panose="02010600030101010101" pitchFamily="2" charset="-122"/>
              </a:rPr>
              <a:t>T</a:t>
            </a:r>
            <a:r>
              <a:rPr lang="zh-CN" altLang="en-US" sz="1600" b="1" dirty="0">
                <a:ea typeface="宋体" panose="02010600030101010101" pitchFamily="2" charset="-122"/>
              </a:rPr>
              <a:t>是类型表达式，则</a:t>
            </a:r>
            <a:r>
              <a:rPr lang="en-US" altLang="zh-CN" sz="1600" b="1" dirty="0">
                <a:ea typeface="宋体" panose="02010600030101010101" pitchFamily="2" charset="-122"/>
              </a:rPr>
              <a:t>array（I，T）</a:t>
            </a:r>
            <a:r>
              <a:rPr lang="zh-CN" altLang="en-US" sz="1600" b="1" dirty="0">
                <a:ea typeface="宋体" panose="02010600030101010101" pitchFamily="2" charset="-122"/>
              </a:rPr>
              <a:t>是成分类型为</a:t>
            </a:r>
            <a:r>
              <a:rPr lang="en-US" altLang="zh-CN" sz="1600" b="1" dirty="0">
                <a:ea typeface="宋体" panose="02010600030101010101" pitchFamily="2" charset="-122"/>
              </a:rPr>
              <a:t>T</a:t>
            </a:r>
            <a:r>
              <a:rPr lang="zh-CN" altLang="en-US" sz="1600" b="1" dirty="0">
                <a:ea typeface="宋体" panose="02010600030101010101" pitchFamily="2" charset="-122"/>
              </a:rPr>
              <a:t>和下标集合为</a:t>
            </a:r>
            <a:r>
              <a:rPr lang="en-US" altLang="zh-CN" sz="1600" b="1" dirty="0">
                <a:ea typeface="宋体" panose="02010600030101010101" pitchFamily="2" charset="-122"/>
              </a:rPr>
              <a:t>I</a:t>
            </a:r>
            <a:r>
              <a:rPr lang="zh-CN" altLang="en-US" sz="1600" b="1" dirty="0">
                <a:ea typeface="宋体" panose="02010600030101010101" pitchFamily="2" charset="-122"/>
              </a:rPr>
              <a:t>的数组的类型表达式</a:t>
            </a:r>
            <a:endParaRPr lang="zh-CN" altLang="en-US" sz="1600" b="1" dirty="0">
              <a:ea typeface="宋体" panose="02010600030101010101" pitchFamily="2" charset="-122"/>
            </a:endParaRPr>
          </a:p>
          <a:p>
            <a:pPr lvl="4"/>
            <a:r>
              <a:rPr lang="zh-CN" altLang="en-US" sz="1600" b="1" dirty="0">
                <a:ea typeface="宋体" panose="02010600030101010101" pitchFamily="2" charset="-122"/>
              </a:rPr>
              <a:t>索引类型是有限制的，可以决定索引的前后次序，</a:t>
            </a:r>
            <a:r>
              <a:rPr lang="en-US" altLang="zh-CN" sz="1600" b="1" dirty="0">
                <a:ea typeface="宋体" panose="02010600030101010101" pitchFamily="2" charset="-122"/>
              </a:rPr>
              <a:t>I</a:t>
            </a:r>
            <a:r>
              <a:rPr lang="zh-CN" altLang="en-US" sz="1600" b="1" dirty="0">
                <a:ea typeface="宋体" panose="02010600030101010101" pitchFamily="2" charset="-122"/>
              </a:rPr>
              <a:t>通常是一个整数区间</a:t>
            </a:r>
            <a:endParaRPr lang="zh-CN" altLang="en-US" sz="1600" b="1" dirty="0">
              <a:ea typeface="宋体" panose="02010600030101010101" pitchFamily="2" charset="-122"/>
            </a:endParaRPr>
          </a:p>
          <a:p>
            <a:pPr lvl="4"/>
            <a:r>
              <a:rPr lang="zh-CN" altLang="en-US" sz="1600" b="1" dirty="0">
                <a:ea typeface="宋体" panose="02010600030101010101" pitchFamily="2" charset="-122"/>
              </a:rPr>
              <a:t>数组通常根据索引从小到大分配连续的存储空间</a:t>
            </a:r>
            <a:endParaRPr lang="zh-CN" altLang="en-US" sz="1600" b="1" dirty="0">
              <a:ea typeface="宋体" panose="02010600030101010101" pitchFamily="2" charset="-122"/>
            </a:endParaRPr>
          </a:p>
          <a:p>
            <a:pPr lvl="4">
              <a:buFont typeface="Wingdings" panose="05000000000000000000" pitchFamily="2" charset="2"/>
              <a:buNone/>
            </a:pPr>
            <a:r>
              <a:rPr lang="zh-CN" altLang="en-US" sz="1600" b="1" dirty="0">
                <a:ea typeface="宋体" panose="02010600030101010101" pitchFamily="2" charset="-122"/>
              </a:rPr>
              <a:t>1）一维数组</a:t>
            </a:r>
            <a:endParaRPr lang="zh-CN" altLang="en-US" sz="1600" b="1" dirty="0">
              <a:ea typeface="宋体" panose="02010600030101010101" pitchFamily="2" charset="-122"/>
            </a:endParaRPr>
          </a:p>
          <a:p>
            <a:pPr lvl="4">
              <a:buFont typeface="Wingdings" panose="05000000000000000000" pitchFamily="2" charset="2"/>
              <a:buNone/>
            </a:pPr>
            <a:r>
              <a:rPr lang="zh-CN" altLang="en-US" sz="1600" b="1" dirty="0">
                <a:ea typeface="宋体" panose="02010600030101010101" pitchFamily="2" charset="-122"/>
              </a:rPr>
              <a:t>2）多维数组</a:t>
            </a:r>
            <a:endParaRPr lang="zh-CN" altLang="en-US" sz="1600" b="1" dirty="0">
              <a:ea typeface="宋体" panose="02010600030101010101" pitchFamily="2" charset="-122"/>
            </a:endParaRPr>
          </a:p>
          <a:p>
            <a:pPr lvl="4">
              <a:buFont typeface="Wingdings" panose="05000000000000000000" pitchFamily="2" charset="2"/>
              <a:buNone/>
            </a:pPr>
            <a:r>
              <a:rPr lang="zh-CN" altLang="en-US" sz="1600" b="1" dirty="0">
                <a:ea typeface="宋体" panose="02010600030101010101" pitchFamily="2" charset="-122"/>
              </a:rPr>
              <a:t>	</a:t>
            </a:r>
            <a:r>
              <a:rPr lang="en-US" altLang="zh-CN" sz="1600" b="1" dirty="0">
                <a:ea typeface="宋体" panose="02010600030101010101" pitchFamily="2" charset="-122"/>
              </a:rPr>
              <a:t>typedef  enum  { red, green, blue } color;</a:t>
            </a:r>
            <a:endParaRPr lang="en-US" altLang="zh-CN"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	array[ 0..9, color ] of integer</a:t>
            </a:r>
            <a:r>
              <a:rPr lang="zh-CN" altLang="en-US" sz="1600" b="1" dirty="0">
                <a:ea typeface="宋体" panose="02010600030101010101" pitchFamily="2" charset="-122"/>
              </a:rPr>
              <a:t>如何存放？</a:t>
            </a:r>
            <a:endParaRPr lang="zh-CN" altLang="en-US" sz="1600" b="1" dirty="0">
              <a:ea typeface="宋体" panose="02010600030101010101" pitchFamily="2" charset="-122"/>
            </a:endParaRPr>
          </a:p>
          <a:p>
            <a:pPr lvl="4">
              <a:buFont typeface="Wingdings" panose="05000000000000000000" pitchFamily="2" charset="2"/>
              <a:buNone/>
            </a:pPr>
            <a:r>
              <a:rPr lang="zh-CN" altLang="en-US" sz="1600" b="1" dirty="0">
                <a:ea typeface="宋体" panose="02010600030101010101" pitchFamily="2" charset="-122"/>
              </a:rPr>
              <a:t>	</a:t>
            </a:r>
            <a:r>
              <a:rPr lang="en-US" altLang="zh-CN" sz="1600" b="1" dirty="0">
                <a:ea typeface="宋体" panose="02010600030101010101" pitchFamily="2" charset="-122"/>
              </a:rPr>
              <a:t>a)</a:t>
            </a:r>
            <a:r>
              <a:rPr lang="zh-CN" altLang="en-US" sz="1600" b="1" dirty="0">
                <a:ea typeface="宋体" panose="02010600030101010101" pitchFamily="2" charset="-122"/>
              </a:rPr>
              <a:t>行主序（行优先等）：在内存中的存放次序是</a:t>
            </a:r>
            <a:r>
              <a:rPr lang="en-US" altLang="zh-CN" sz="1600" b="1" dirty="0">
                <a:ea typeface="宋体" panose="02010600030101010101" pitchFamily="2" charset="-122"/>
              </a:rPr>
              <a:t>a[ 0, red], a[ 0, green], a[ 0, blud], a[ 1, red], a[ 1, green], …</a:t>
            </a:r>
            <a:endParaRPr lang="en-US" altLang="zh-CN" sz="1600" b="1" dirty="0">
              <a:ea typeface="宋体" panose="02010600030101010101" pitchFamily="2" charset="-122"/>
            </a:endParaRPr>
          </a:p>
          <a:p>
            <a:pPr lvl="4">
              <a:buFont typeface="Wingdings" panose="05000000000000000000" pitchFamily="2" charset="2"/>
              <a:buNone/>
            </a:pPr>
            <a:r>
              <a:rPr lang="zh-CN" altLang="en-US" sz="1600" b="1" dirty="0">
                <a:ea typeface="宋体" panose="02010600030101010101" pitchFamily="2" charset="-122"/>
              </a:rPr>
              <a:t>	</a:t>
            </a:r>
            <a:r>
              <a:rPr lang="en-US" altLang="zh-CN" sz="1600" b="1" dirty="0">
                <a:ea typeface="宋体" panose="02010600030101010101" pitchFamily="2" charset="-122"/>
              </a:rPr>
              <a:t>b)</a:t>
            </a:r>
            <a:r>
              <a:rPr lang="zh-CN" altLang="en-US" sz="1600" b="1" dirty="0">
                <a:ea typeface="宋体" panose="02010600030101010101" pitchFamily="2" charset="-122"/>
              </a:rPr>
              <a:t>列主序（列优先等）：在内存中的存放次序是</a:t>
            </a:r>
            <a:r>
              <a:rPr lang="en-US" altLang="zh-CN" sz="1600" b="1" dirty="0">
                <a:ea typeface="宋体" panose="02010600030101010101" pitchFamily="2" charset="-122"/>
              </a:rPr>
              <a:t>a[ 0, red], a[ 1, red], … , a[ 9, red], a[ 0, green], …</a:t>
            </a:r>
            <a:endParaRPr lang="en-US" altLang="zh-CN" sz="1600" b="1" dirty="0">
              <a:ea typeface="宋体" panose="02010600030101010101" pitchFamily="2" charset="-122"/>
            </a:endParaRPr>
          </a:p>
          <a:p>
            <a:pPr lvl="4"/>
            <a:r>
              <a:rPr lang="zh-CN" altLang="en-US" sz="1600" b="1" dirty="0">
                <a:ea typeface="宋体" panose="02010600030101010101" pitchFamily="2" charset="-122"/>
              </a:rPr>
              <a:t>开放索引数组：在声明时没有说明索引区间，常见于参数</a:t>
            </a:r>
            <a:endParaRPr lang="zh-CN" altLang="en-US" sz="1600" b="1" dirty="0">
              <a:ea typeface="宋体" panose="02010600030101010101" pitchFamily="2" charset="-122"/>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类型系统（5）</a:t>
            </a:r>
            <a:endParaRPr lang="zh-CN" altLang="en-US" dirty="0">
              <a:latin typeface="Times New Roman" panose="02020603050405020304" pitchFamily="18" charset="0"/>
              <a:ea typeface="宋体" panose="02010600030101010101" pitchFamily="2" charset="-122"/>
            </a:endParaRPr>
          </a:p>
        </p:txBody>
      </p:sp>
      <p:sp>
        <p:nvSpPr>
          <p:cNvPr id="73731" name="Rectangle 3"/>
          <p:cNvSpPr>
            <a:spLocks noGrp="1"/>
          </p:cNvSpPr>
          <p:nvPr>
            <p:ph idx="1"/>
          </p:nvPr>
        </p:nvSpPr>
        <p:spPr>
          <a:xfrm>
            <a:off x="990600" y="1371600"/>
            <a:ext cx="7391400" cy="4953000"/>
          </a:xfrm>
        </p:spPr>
        <p:txBody>
          <a:bodyPr vert="horz" wrap="square" lIns="92075" tIns="46038" rIns="92075" bIns="46038" anchor="t" anchorCtr="0"/>
          <a:p>
            <a:pPr lvl="3">
              <a:lnSpc>
                <a:spcPct val="90000"/>
              </a:lnSpc>
            </a:pPr>
            <a:r>
              <a:rPr lang="zh-CN" altLang="en-US" sz="1800" b="1" dirty="0">
                <a:ea typeface="宋体" panose="02010600030101010101" pitchFamily="2" charset="-122"/>
              </a:rPr>
              <a:t>积：</a:t>
            </a:r>
            <a:endParaRPr lang="zh-CN" altLang="en-US" sz="1800" b="1" dirty="0">
              <a:ea typeface="宋体" panose="02010600030101010101" pitchFamily="2" charset="-122"/>
            </a:endParaRPr>
          </a:p>
          <a:p>
            <a:pPr lvl="4">
              <a:lnSpc>
                <a:spcPct val="90000"/>
              </a:lnSpc>
            </a:pPr>
            <a:r>
              <a:rPr lang="zh-CN" altLang="en-US" sz="1600" b="1" dirty="0">
                <a:ea typeface="宋体" panose="02010600030101010101" pitchFamily="2" charset="-122"/>
              </a:rPr>
              <a:t>如果</a:t>
            </a:r>
            <a:r>
              <a:rPr lang="en-US" altLang="zh-CN" sz="1600" b="1" dirty="0">
                <a:ea typeface="宋体" panose="02010600030101010101" pitchFamily="2" charset="-122"/>
              </a:rPr>
              <a:t>T</a:t>
            </a:r>
            <a:r>
              <a:rPr lang="en-US" altLang="zh-CN" sz="1600" b="1" baseline="-25000" dirty="0">
                <a:ea typeface="宋体" panose="02010600030101010101" pitchFamily="2" charset="-122"/>
              </a:rPr>
              <a:t>1</a:t>
            </a:r>
            <a:r>
              <a:rPr lang="zh-CN" altLang="en-US" sz="1600" b="1" dirty="0">
                <a:ea typeface="宋体" panose="02010600030101010101" pitchFamily="2" charset="-122"/>
              </a:rPr>
              <a:t>和</a:t>
            </a:r>
            <a:r>
              <a:rPr lang="en-US" altLang="zh-CN" sz="1600" b="1" dirty="0">
                <a:ea typeface="宋体" panose="02010600030101010101" pitchFamily="2" charset="-122"/>
              </a:rPr>
              <a:t>T</a:t>
            </a:r>
            <a:r>
              <a:rPr lang="en-US" altLang="zh-CN" sz="1600" b="1" baseline="-25000" dirty="0">
                <a:ea typeface="宋体" panose="02010600030101010101" pitchFamily="2" charset="-122"/>
              </a:rPr>
              <a:t>2</a:t>
            </a:r>
            <a:r>
              <a:rPr lang="zh-CN" altLang="en-US" sz="1600" b="1" dirty="0">
                <a:ea typeface="宋体" panose="02010600030101010101" pitchFamily="2" charset="-122"/>
              </a:rPr>
              <a:t>是类型表达式，则它们的笛卡儿积</a:t>
            </a:r>
            <a:r>
              <a:rPr lang="en-US" altLang="zh-CN" sz="1600" b="1" dirty="0">
                <a:ea typeface="宋体" panose="02010600030101010101" pitchFamily="2" charset="-122"/>
              </a:rPr>
              <a:t>T</a:t>
            </a:r>
            <a:r>
              <a:rPr lang="en-US" altLang="zh-CN" sz="1600" b="1" baseline="-25000" dirty="0">
                <a:ea typeface="宋体" panose="02010600030101010101" pitchFamily="2" charset="-122"/>
              </a:rPr>
              <a:t>1</a:t>
            </a:r>
            <a:r>
              <a:rPr lang="zh-CN" altLang="en-US" sz="1600" b="1" dirty="0">
                <a:ea typeface="宋体" panose="02010600030101010101" pitchFamily="2" charset="-122"/>
              </a:rPr>
              <a:t>×</a:t>
            </a:r>
            <a:r>
              <a:rPr lang="en-US" altLang="zh-CN" sz="1600" b="1" dirty="0">
                <a:ea typeface="宋体" panose="02010600030101010101" pitchFamily="2" charset="-122"/>
              </a:rPr>
              <a:t>T</a:t>
            </a:r>
            <a:r>
              <a:rPr lang="en-US" altLang="zh-CN" sz="1600" b="1" baseline="-25000" dirty="0">
                <a:ea typeface="宋体" panose="02010600030101010101" pitchFamily="2" charset="-122"/>
              </a:rPr>
              <a:t>2</a:t>
            </a:r>
            <a:r>
              <a:rPr lang="zh-CN" altLang="en-US" sz="1600" b="1" dirty="0">
                <a:ea typeface="宋体" panose="02010600030101010101" pitchFamily="2" charset="-122"/>
              </a:rPr>
              <a:t>也是类型表达式，假定×是左结合的</a:t>
            </a:r>
            <a:endParaRPr lang="zh-CN" altLang="en-US" sz="1600" b="1" dirty="0">
              <a:ea typeface="宋体" panose="02010600030101010101" pitchFamily="2" charset="-122"/>
            </a:endParaRPr>
          </a:p>
          <a:p>
            <a:pPr lvl="4">
              <a:lnSpc>
                <a:spcPct val="90000"/>
              </a:lnSpc>
            </a:pPr>
            <a:r>
              <a:rPr lang="en-US" altLang="zh-CN" sz="1600" b="1" dirty="0">
                <a:ea typeface="宋体" panose="02010600030101010101" pitchFamily="2" charset="-122"/>
              </a:rPr>
              <a:t>ML</a:t>
            </a:r>
            <a:r>
              <a:rPr lang="zh-CN" altLang="en-US" sz="1600" b="1" dirty="0">
                <a:ea typeface="宋体" panose="02010600030101010101" pitchFamily="2" charset="-122"/>
              </a:rPr>
              <a:t>语言中的类型定义</a:t>
            </a:r>
            <a:endParaRPr lang="zh-CN" altLang="en-US" sz="1600" b="1" dirty="0">
              <a:ea typeface="宋体" panose="02010600030101010101" pitchFamily="2" charset="-122"/>
            </a:endParaRPr>
          </a:p>
          <a:p>
            <a:pPr lvl="3">
              <a:lnSpc>
                <a:spcPct val="90000"/>
              </a:lnSpc>
            </a:pPr>
            <a:r>
              <a:rPr lang="zh-CN" altLang="en-US" sz="1800" b="1" dirty="0">
                <a:ea typeface="宋体" panose="02010600030101010101" pitchFamily="2" charset="-122"/>
              </a:rPr>
              <a:t>记录（结构）：</a:t>
            </a:r>
            <a:endParaRPr lang="zh-CN" altLang="en-US" sz="1800" b="1" dirty="0">
              <a:ea typeface="宋体" panose="02010600030101010101" pitchFamily="2" charset="-122"/>
            </a:endParaRPr>
          </a:p>
          <a:p>
            <a:pPr lvl="4">
              <a:lnSpc>
                <a:spcPct val="90000"/>
              </a:lnSpc>
            </a:pPr>
            <a:r>
              <a:rPr lang="zh-CN" altLang="en-US" sz="1600" b="1" dirty="0">
                <a:ea typeface="宋体" panose="02010600030101010101" pitchFamily="2" charset="-122"/>
              </a:rPr>
              <a:t>从某种意义上说是它各域类型的积</a:t>
            </a:r>
            <a:endParaRPr lang="zh-CN" altLang="en-US" sz="1600" b="1" dirty="0">
              <a:ea typeface="宋体" panose="02010600030101010101" pitchFamily="2" charset="-122"/>
            </a:endParaRPr>
          </a:p>
          <a:p>
            <a:pPr lvl="4">
              <a:lnSpc>
                <a:spcPct val="90000"/>
              </a:lnSpc>
            </a:pPr>
            <a:r>
              <a:rPr lang="zh-CN" altLang="en-US" sz="1600" b="1" dirty="0">
                <a:ea typeface="宋体" panose="02010600030101010101" pitchFamily="2" charset="-122"/>
              </a:rPr>
              <a:t>记录的各个域是有名字的（与积的区别）</a:t>
            </a:r>
            <a:endParaRPr lang="zh-CN" altLang="en-US" sz="1600" b="1" dirty="0">
              <a:ea typeface="宋体" panose="02010600030101010101" pitchFamily="2" charset="-122"/>
            </a:endParaRPr>
          </a:p>
          <a:p>
            <a:pPr lvl="4">
              <a:lnSpc>
                <a:spcPct val="90000"/>
              </a:lnSpc>
            </a:pPr>
            <a:r>
              <a:rPr lang="zh-CN" altLang="en-US" sz="1600" b="1" dirty="0">
                <a:ea typeface="宋体" panose="02010600030101010101" pitchFamily="2" charset="-122"/>
              </a:rPr>
              <a:t>对记录中某个域的引用必须与记录关联</a:t>
            </a:r>
            <a:endParaRPr lang="zh-CN" altLang="en-US" sz="1600" b="1" dirty="0">
              <a:ea typeface="宋体" panose="02010600030101010101" pitchFamily="2" charset="-122"/>
            </a:endParaRPr>
          </a:p>
          <a:p>
            <a:pPr lvl="4">
              <a:lnSpc>
                <a:spcPct val="90000"/>
              </a:lnSpc>
            </a:pPr>
            <a:r>
              <a:rPr lang="zh-CN" altLang="en-US" sz="1600" b="1" dirty="0">
                <a:ea typeface="宋体" panose="02010600030101010101" pitchFamily="2" charset="-122"/>
              </a:rPr>
              <a:t>记录类型构造器</a:t>
            </a:r>
            <a:r>
              <a:rPr lang="en-US" altLang="zh-CN" sz="1600" b="1" dirty="0">
                <a:ea typeface="宋体" panose="02010600030101010101" pitchFamily="2" charset="-122"/>
              </a:rPr>
              <a:t>record</a:t>
            </a:r>
            <a:r>
              <a:rPr lang="zh-CN" altLang="en-US" sz="1600" b="1" dirty="0">
                <a:ea typeface="宋体" panose="02010600030101010101" pitchFamily="2" charset="-122"/>
              </a:rPr>
              <a:t>作用于域名和它们的类型组成的元组，形成类型表达式，进而可以完成记录的类型检查</a:t>
            </a:r>
            <a:endParaRPr lang="zh-CN" altLang="en-US" sz="1600" b="1" dirty="0">
              <a:ea typeface="宋体" panose="02010600030101010101" pitchFamily="2" charset="-122"/>
            </a:endParaRPr>
          </a:p>
          <a:p>
            <a:pPr lvl="4">
              <a:lnSpc>
                <a:spcPct val="90000"/>
              </a:lnSpc>
              <a:buFont typeface="Wingdings" panose="05000000000000000000" pitchFamily="2" charset="2"/>
              <a:buNone/>
            </a:pPr>
            <a:r>
              <a:rPr lang="zh-CN" altLang="en-US" sz="1600" b="1" dirty="0">
                <a:ea typeface="宋体" panose="02010600030101010101" pitchFamily="2" charset="-122"/>
              </a:rPr>
              <a:t>	</a:t>
            </a:r>
            <a:r>
              <a:rPr lang="en-US" altLang="zh-CN" sz="1600" b="1" dirty="0">
                <a:ea typeface="宋体" panose="02010600030101010101" pitchFamily="2" charset="-122"/>
              </a:rPr>
              <a:t>type row = record</a:t>
            </a:r>
            <a:endParaRPr lang="en-US" altLang="zh-CN" sz="1600" b="1" dirty="0">
              <a:ea typeface="宋体" panose="02010600030101010101" pitchFamily="2" charset="-122"/>
            </a:endParaRPr>
          </a:p>
          <a:p>
            <a:pPr lvl="4">
              <a:lnSpc>
                <a:spcPct val="90000"/>
              </a:lnSpc>
              <a:buFont typeface="Wingdings" panose="05000000000000000000" pitchFamily="2" charset="2"/>
              <a:buNone/>
            </a:pPr>
            <a:r>
              <a:rPr lang="en-US" altLang="zh-CN" sz="1600" b="1" dirty="0">
                <a:ea typeface="宋体" panose="02010600030101010101" pitchFamily="2" charset="-122"/>
              </a:rPr>
              <a:t>			address:	integer;</a:t>
            </a:r>
            <a:endParaRPr lang="en-US" altLang="zh-CN" sz="1600" b="1" dirty="0">
              <a:ea typeface="宋体" panose="02010600030101010101" pitchFamily="2" charset="-122"/>
            </a:endParaRPr>
          </a:p>
          <a:p>
            <a:pPr lvl="4">
              <a:lnSpc>
                <a:spcPct val="90000"/>
              </a:lnSpc>
              <a:buFont typeface="Wingdings" panose="05000000000000000000" pitchFamily="2" charset="2"/>
              <a:buNone/>
            </a:pPr>
            <a:r>
              <a:rPr lang="en-US" altLang="zh-CN" sz="1600" b="1" dirty="0">
                <a:ea typeface="宋体" panose="02010600030101010101" pitchFamily="2" charset="-122"/>
              </a:rPr>
              <a:t>			lexeme:	array[ 1 .. 15 ] of char</a:t>
            </a:r>
            <a:endParaRPr lang="en-US" altLang="zh-CN" sz="1600" b="1" dirty="0">
              <a:ea typeface="宋体" panose="02010600030101010101" pitchFamily="2" charset="-122"/>
            </a:endParaRPr>
          </a:p>
          <a:p>
            <a:pPr lvl="4">
              <a:lnSpc>
                <a:spcPct val="90000"/>
              </a:lnSpc>
              <a:buFont typeface="Wingdings" panose="05000000000000000000" pitchFamily="2" charset="2"/>
              <a:buNone/>
            </a:pPr>
            <a:r>
              <a:rPr lang="en-US" altLang="zh-CN" sz="1600" b="1" dirty="0">
                <a:ea typeface="宋体" panose="02010600030101010101" pitchFamily="2" charset="-122"/>
              </a:rPr>
              <a:t>		      end;</a:t>
            </a:r>
            <a:endParaRPr lang="en-US" altLang="zh-CN" sz="1600" b="1" dirty="0">
              <a:ea typeface="宋体" panose="02010600030101010101" pitchFamily="2" charset="-122"/>
            </a:endParaRPr>
          </a:p>
          <a:p>
            <a:pPr lvl="4">
              <a:lnSpc>
                <a:spcPct val="90000"/>
              </a:lnSpc>
              <a:buFont typeface="Wingdings" panose="05000000000000000000" pitchFamily="2" charset="2"/>
              <a:buNone/>
            </a:pPr>
            <a:r>
              <a:rPr lang="en-US" altLang="zh-CN" sz="1600" b="1" dirty="0">
                <a:ea typeface="宋体" panose="02010600030101010101" pitchFamily="2" charset="-122"/>
              </a:rPr>
              <a:t>	var table: array [ 1 .. 101 ] of row;</a:t>
            </a:r>
            <a:endParaRPr lang="en-US" altLang="zh-CN" sz="1600" b="1" dirty="0">
              <a:ea typeface="宋体" panose="02010600030101010101" pitchFamily="2" charset="-122"/>
            </a:endParaRPr>
          </a:p>
          <a:p>
            <a:pPr lvl="4">
              <a:lnSpc>
                <a:spcPct val="90000"/>
              </a:lnSpc>
              <a:buFont typeface="Wingdings" panose="05000000000000000000" pitchFamily="2" charset="2"/>
              <a:buNone/>
            </a:pPr>
            <a:r>
              <a:rPr lang="zh-CN" altLang="en-US" sz="1600" b="1" dirty="0">
                <a:ea typeface="宋体" panose="02010600030101010101" pitchFamily="2" charset="-122"/>
              </a:rPr>
              <a:t>声明类型名</a:t>
            </a:r>
            <a:r>
              <a:rPr lang="en-US" altLang="zh-CN" sz="1600" b="1" dirty="0">
                <a:ea typeface="宋体" panose="02010600030101010101" pitchFamily="2" charset="-122"/>
              </a:rPr>
              <a:t>row</a:t>
            </a:r>
            <a:r>
              <a:rPr lang="zh-CN" altLang="en-US" sz="1600" b="1" dirty="0">
                <a:ea typeface="宋体" panose="02010600030101010101" pitchFamily="2" charset="-122"/>
              </a:rPr>
              <a:t>代表类型表达式：</a:t>
            </a:r>
            <a:endParaRPr lang="zh-CN" altLang="en-US" sz="1600" b="1" dirty="0">
              <a:ea typeface="宋体" panose="02010600030101010101" pitchFamily="2" charset="-122"/>
            </a:endParaRPr>
          </a:p>
          <a:p>
            <a:pPr lvl="4">
              <a:lnSpc>
                <a:spcPct val="90000"/>
              </a:lnSpc>
              <a:buFont typeface="Wingdings" panose="05000000000000000000" pitchFamily="2" charset="2"/>
              <a:buNone/>
            </a:pPr>
            <a:r>
              <a:rPr lang="en-US" altLang="zh-CN" sz="1600" b="1" i="1" dirty="0">
                <a:ea typeface="宋体" panose="02010600030101010101" pitchFamily="2" charset="-122"/>
              </a:rPr>
              <a:t>record</a:t>
            </a:r>
            <a:r>
              <a:rPr lang="en-US" altLang="zh-CN" sz="1600" b="1" dirty="0">
                <a:ea typeface="宋体" panose="02010600030101010101" pitchFamily="2" charset="-122"/>
              </a:rPr>
              <a:t>( (</a:t>
            </a:r>
            <a:r>
              <a:rPr lang="en-US" altLang="zh-CN" sz="1600" b="1" dirty="0">
                <a:solidFill>
                  <a:srgbClr val="063DE8"/>
                </a:solidFill>
                <a:ea typeface="宋体" panose="02010600030101010101" pitchFamily="2" charset="-122"/>
              </a:rPr>
              <a:t>address</a:t>
            </a:r>
            <a:r>
              <a:rPr lang="zh-CN" altLang="en-US" sz="1600" b="1" dirty="0">
                <a:ea typeface="宋体" panose="02010600030101010101" pitchFamily="2" charset="-122"/>
              </a:rPr>
              <a:t>×</a:t>
            </a:r>
            <a:r>
              <a:rPr lang="en-US" altLang="zh-CN" sz="1600" b="1" i="1" dirty="0">
                <a:ea typeface="宋体" panose="02010600030101010101" pitchFamily="2" charset="-122"/>
              </a:rPr>
              <a:t>integer</a:t>
            </a:r>
            <a:r>
              <a:rPr lang="en-US" altLang="zh-CN" sz="1600" b="1" dirty="0">
                <a:ea typeface="宋体" panose="02010600030101010101" pitchFamily="2" charset="-122"/>
              </a:rPr>
              <a:t>)</a:t>
            </a:r>
            <a:r>
              <a:rPr lang="zh-CN" altLang="en-US" sz="1600" b="1" dirty="0">
                <a:ea typeface="宋体" panose="02010600030101010101" pitchFamily="2" charset="-122"/>
              </a:rPr>
              <a:t>×( </a:t>
            </a:r>
            <a:r>
              <a:rPr lang="en-US" altLang="zh-CN" sz="1600" b="1" dirty="0">
                <a:solidFill>
                  <a:srgbClr val="063DE8"/>
                </a:solidFill>
                <a:ea typeface="宋体" panose="02010600030101010101" pitchFamily="2" charset="-122"/>
              </a:rPr>
              <a:t>lexeme</a:t>
            </a:r>
            <a:r>
              <a:rPr lang="zh-CN" altLang="en-US" sz="1600" b="1" dirty="0">
                <a:ea typeface="宋体" panose="02010600030101010101" pitchFamily="2" charset="-122"/>
              </a:rPr>
              <a:t>×</a:t>
            </a:r>
            <a:r>
              <a:rPr lang="en-US" altLang="zh-CN" sz="1600" b="1" i="1" dirty="0">
                <a:ea typeface="宋体" panose="02010600030101010101" pitchFamily="2" charset="-122"/>
              </a:rPr>
              <a:t>array</a:t>
            </a:r>
            <a:r>
              <a:rPr lang="en-US" altLang="zh-CN" sz="1600" b="1" dirty="0">
                <a:ea typeface="宋体" panose="02010600030101010101" pitchFamily="2" charset="-122"/>
              </a:rPr>
              <a:t>( 1 .. 15, </a:t>
            </a:r>
            <a:r>
              <a:rPr lang="en-US" altLang="zh-CN" sz="1600" b="1" i="1" dirty="0">
                <a:ea typeface="宋体" panose="02010600030101010101" pitchFamily="2" charset="-122"/>
              </a:rPr>
              <a:t>char</a:t>
            </a:r>
            <a:r>
              <a:rPr lang="en-US" altLang="zh-CN" sz="1600" b="1" dirty="0">
                <a:ea typeface="宋体" panose="02010600030101010101" pitchFamily="2" charset="-122"/>
              </a:rPr>
              <a:t>) ) ) )</a:t>
            </a:r>
            <a:endParaRPr lang="en-US" altLang="zh-CN" sz="1600" b="1" dirty="0">
              <a:ea typeface="宋体" panose="02010600030101010101" pitchFamily="2" charset="-122"/>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类型系统（6）</a:t>
            </a:r>
            <a:endParaRPr lang="zh-CN" altLang="en-US" dirty="0">
              <a:latin typeface="Times New Roman" panose="02020603050405020304" pitchFamily="18" charset="0"/>
              <a:ea typeface="宋体" panose="02010600030101010101" pitchFamily="2" charset="-122"/>
            </a:endParaRPr>
          </a:p>
        </p:txBody>
      </p:sp>
      <p:sp>
        <p:nvSpPr>
          <p:cNvPr id="75779" name="Rectangle 3"/>
          <p:cNvSpPr>
            <a:spLocks noGrp="1"/>
          </p:cNvSpPr>
          <p:nvPr>
            <p:ph idx="1"/>
          </p:nvPr>
        </p:nvSpPr>
        <p:spPr>
          <a:xfrm>
            <a:off x="990600" y="1371600"/>
            <a:ext cx="7391400" cy="4953000"/>
          </a:xfrm>
        </p:spPr>
        <p:txBody>
          <a:bodyPr vert="horz" wrap="square" lIns="92075" tIns="46038" rIns="92075" bIns="46038" anchor="t" anchorCtr="0"/>
          <a:p>
            <a:pPr lvl="3"/>
            <a:r>
              <a:rPr lang="zh-CN" altLang="en-US" sz="1800" b="1" dirty="0">
                <a:ea typeface="宋体" panose="02010600030101010101" pitchFamily="2" charset="-122"/>
              </a:rPr>
              <a:t>指针：</a:t>
            </a:r>
            <a:endParaRPr lang="zh-CN" altLang="en-US" sz="1800" b="1" dirty="0">
              <a:ea typeface="宋体" panose="02010600030101010101" pitchFamily="2" charset="-122"/>
            </a:endParaRPr>
          </a:p>
          <a:p>
            <a:pPr lvl="4"/>
            <a:r>
              <a:rPr lang="zh-CN" altLang="en-US" sz="1600" b="1" dirty="0">
                <a:ea typeface="宋体" panose="02010600030101010101" pitchFamily="2" charset="-122"/>
              </a:rPr>
              <a:t>如果</a:t>
            </a:r>
            <a:r>
              <a:rPr lang="en-US" altLang="zh-CN" sz="1600" b="1" dirty="0">
                <a:ea typeface="宋体" panose="02010600030101010101" pitchFamily="2" charset="-122"/>
              </a:rPr>
              <a:t>T</a:t>
            </a:r>
            <a:r>
              <a:rPr lang="zh-CN" altLang="en-US" sz="1600" b="1" dirty="0">
                <a:ea typeface="宋体" panose="02010600030101010101" pitchFamily="2" charset="-122"/>
              </a:rPr>
              <a:t>是类型表达式，则</a:t>
            </a:r>
            <a:r>
              <a:rPr lang="en-US" altLang="zh-CN" sz="1600" b="1" i="1" dirty="0">
                <a:ea typeface="宋体" panose="02010600030101010101" pitchFamily="2" charset="-122"/>
              </a:rPr>
              <a:t>pointer</a:t>
            </a:r>
            <a:r>
              <a:rPr lang="en-US" altLang="zh-CN" sz="1600" b="1" dirty="0">
                <a:ea typeface="宋体" panose="02010600030101010101" pitchFamily="2" charset="-122"/>
              </a:rPr>
              <a:t>（T）</a:t>
            </a:r>
            <a:r>
              <a:rPr lang="zh-CN" altLang="en-US" sz="1600" b="1" dirty="0">
                <a:ea typeface="宋体" panose="02010600030101010101" pitchFamily="2" charset="-122"/>
              </a:rPr>
              <a:t>是表示类型“指向类型</a:t>
            </a:r>
            <a:r>
              <a:rPr lang="en-US" altLang="zh-CN" sz="1600" b="1" dirty="0">
                <a:ea typeface="宋体" panose="02010600030101010101" pitchFamily="2" charset="-122"/>
              </a:rPr>
              <a:t>T</a:t>
            </a:r>
            <a:r>
              <a:rPr lang="zh-CN" altLang="en-US" sz="1600" b="1" dirty="0">
                <a:ea typeface="宋体" panose="02010600030101010101" pitchFamily="2" charset="-122"/>
              </a:rPr>
              <a:t>的对象的指针”的类型表达式</a:t>
            </a:r>
            <a:endParaRPr lang="zh-CN" altLang="en-US" sz="1600" b="1" dirty="0">
              <a:ea typeface="宋体" panose="02010600030101010101" pitchFamily="2" charset="-122"/>
            </a:endParaRPr>
          </a:p>
          <a:p>
            <a:pPr lvl="4"/>
            <a:r>
              <a:rPr lang="zh-CN" altLang="en-US" sz="1600" b="1" dirty="0">
                <a:ea typeface="宋体" panose="02010600030101010101" pitchFamily="2" charset="-122"/>
              </a:rPr>
              <a:t>指针的值是一个存储器地址，其中保存着其基类型的值</a:t>
            </a:r>
            <a:endParaRPr lang="zh-CN" altLang="en-US" sz="1600" b="1" dirty="0">
              <a:ea typeface="宋体" panose="02010600030101010101" pitchFamily="2" charset="-122"/>
            </a:endParaRPr>
          </a:p>
          <a:p>
            <a:pPr lvl="4"/>
            <a:r>
              <a:rPr lang="zh-CN" altLang="en-US" sz="1600" b="1" dirty="0">
                <a:ea typeface="宋体" panose="02010600030101010101" pitchFamily="2" charset="-122"/>
              </a:rPr>
              <a:t>通常指针被看成是数字类型，可以对其进行算术运算</a:t>
            </a:r>
            <a:endParaRPr lang="zh-CN" altLang="en-US" sz="1600" b="1" dirty="0">
              <a:ea typeface="宋体" panose="02010600030101010101" pitchFamily="2" charset="-122"/>
            </a:endParaRPr>
          </a:p>
          <a:p>
            <a:pPr lvl="4"/>
            <a:r>
              <a:rPr lang="zh-CN" altLang="en-US" sz="1600" b="1" dirty="0">
                <a:ea typeface="宋体" panose="02010600030101010101" pitchFamily="2" charset="-122"/>
              </a:rPr>
              <a:t>指针的解除引用(</a:t>
            </a:r>
            <a:r>
              <a:rPr lang="en-US" altLang="zh-CN" sz="1600" b="1" dirty="0">
                <a:ea typeface="宋体" panose="02010600030101010101" pitchFamily="2" charset="-122"/>
              </a:rPr>
              <a:t>dereference)</a:t>
            </a:r>
            <a:r>
              <a:rPr lang="zh-CN" altLang="en-US" sz="1600" b="1" dirty="0">
                <a:ea typeface="宋体" panose="02010600030101010101" pitchFamily="2" charset="-122"/>
              </a:rPr>
              <a:t>操作符：</a:t>
            </a:r>
            <a:endParaRPr lang="zh-CN" altLang="en-US" sz="1600" b="1" dirty="0">
              <a:ea typeface="宋体" panose="02010600030101010101" pitchFamily="2" charset="-122"/>
            </a:endParaRPr>
          </a:p>
          <a:p>
            <a:pPr lvl="4">
              <a:buFont typeface="Wingdings" panose="05000000000000000000" pitchFamily="2" charset="2"/>
              <a:buNone/>
            </a:pPr>
            <a:r>
              <a:rPr lang="zh-CN" altLang="en-US" sz="1600" b="1" dirty="0">
                <a:ea typeface="宋体" panose="02010600030101010101" pitchFamily="2" charset="-122"/>
              </a:rPr>
              <a:t>	在</a:t>
            </a:r>
            <a:r>
              <a:rPr lang="en-US" altLang="zh-CN" sz="1600" b="1" dirty="0">
                <a:ea typeface="宋体" panose="02010600030101010101" pitchFamily="2" charset="-122"/>
              </a:rPr>
              <a:t>C</a:t>
            </a:r>
            <a:r>
              <a:rPr lang="zh-CN" altLang="en-US" sz="1600" b="1" dirty="0">
                <a:ea typeface="宋体" panose="02010600030101010101" pitchFamily="2" charset="-122"/>
              </a:rPr>
              <a:t>语言中，如果有</a:t>
            </a:r>
            <a:r>
              <a:rPr lang="en-US" altLang="zh-CN" sz="1600" b="1" dirty="0">
                <a:ea typeface="宋体" panose="02010600030101010101" pitchFamily="2" charset="-122"/>
              </a:rPr>
              <a:t>int * p，</a:t>
            </a:r>
            <a:r>
              <a:rPr lang="zh-CN" altLang="en-US" sz="1600" b="1" dirty="0">
                <a:ea typeface="宋体" panose="02010600030101010101" pitchFamily="2" charset="-122"/>
              </a:rPr>
              <a:t>则</a:t>
            </a:r>
            <a:r>
              <a:rPr lang="en-US" altLang="zh-CN" sz="1600" b="1" dirty="0">
                <a:ea typeface="宋体" panose="02010600030101010101" pitchFamily="2" charset="-122"/>
              </a:rPr>
              <a:t>p</a:t>
            </a:r>
            <a:r>
              <a:rPr lang="zh-CN" altLang="en-US" sz="1600" b="1" dirty="0">
                <a:ea typeface="宋体" panose="02010600030101010101" pitchFamily="2" charset="-122"/>
              </a:rPr>
              <a:t>表示对指针的引用，*</a:t>
            </a:r>
            <a:r>
              <a:rPr lang="en-US" altLang="zh-CN" sz="1600" b="1" dirty="0">
                <a:ea typeface="宋体" panose="02010600030101010101" pitchFamily="2" charset="-122"/>
              </a:rPr>
              <a:t>p</a:t>
            </a:r>
            <a:r>
              <a:rPr lang="zh-CN" altLang="en-US" sz="1600" b="1" dirty="0">
                <a:ea typeface="宋体" panose="02010600030101010101" pitchFamily="2" charset="-122"/>
              </a:rPr>
              <a:t>表示对指针指向变量的引用，此时*解除指针变量的引用</a:t>
            </a:r>
            <a:endParaRPr lang="zh-CN" altLang="en-US" sz="1600" b="1" dirty="0">
              <a:ea typeface="宋体" panose="02010600030101010101" pitchFamily="2" charset="-122"/>
            </a:endParaRPr>
          </a:p>
          <a:p>
            <a:pPr lvl="3">
              <a:buFont typeface="Monotype Sorts" pitchFamily="2" charset="2"/>
              <a:buChar char="ä"/>
            </a:pPr>
            <a:r>
              <a:rPr lang="zh-CN" altLang="en-US" sz="1800" b="1" dirty="0">
                <a:ea typeface="宋体" panose="02010600030101010101" pitchFamily="2" charset="-122"/>
              </a:rPr>
              <a:t>函数：</a:t>
            </a:r>
            <a:endParaRPr lang="zh-CN" altLang="en-US" sz="1800" b="1" dirty="0">
              <a:ea typeface="宋体" panose="02010600030101010101" pitchFamily="2" charset="-122"/>
            </a:endParaRPr>
          </a:p>
          <a:p>
            <a:pPr lvl="4">
              <a:buChar char="•"/>
            </a:pPr>
            <a:r>
              <a:rPr lang="zh-CN" altLang="en-US" sz="1600" b="1" dirty="0">
                <a:ea typeface="宋体" panose="02010600030101010101" pitchFamily="2" charset="-122"/>
              </a:rPr>
              <a:t>定义域类型</a:t>
            </a:r>
            <a:r>
              <a:rPr lang="en-US" altLang="zh-CN" sz="1600" b="1" dirty="0">
                <a:ea typeface="宋体" panose="02010600030101010101" pitchFamily="2" charset="-122"/>
              </a:rPr>
              <a:t>D</a:t>
            </a:r>
            <a:r>
              <a:rPr lang="zh-CN" altLang="en-US" sz="1600" b="1" dirty="0">
                <a:ea typeface="宋体" panose="02010600030101010101" pitchFamily="2" charset="-122"/>
              </a:rPr>
              <a:t>到值域类型</a:t>
            </a:r>
            <a:r>
              <a:rPr lang="en-US" altLang="zh-CN" sz="1600" b="1" dirty="0">
                <a:ea typeface="宋体" panose="02010600030101010101" pitchFamily="2" charset="-122"/>
              </a:rPr>
              <a:t>R</a:t>
            </a:r>
            <a:r>
              <a:rPr lang="zh-CN" altLang="en-US" sz="1600" b="1" dirty="0">
                <a:ea typeface="宋体" panose="02010600030101010101" pitchFamily="2" charset="-122"/>
              </a:rPr>
              <a:t>的映射，这样的函数的类型表达式是</a:t>
            </a:r>
            <a:r>
              <a:rPr lang="en-US" altLang="zh-CN" sz="1600" b="1" dirty="0">
                <a:ea typeface="宋体" panose="02010600030101010101" pitchFamily="2" charset="-122"/>
              </a:rPr>
              <a:t>D→R</a:t>
            </a:r>
            <a:endParaRPr lang="en-US" altLang="zh-CN"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	1） mod</a:t>
            </a:r>
            <a:r>
              <a:rPr lang="zh-CN" altLang="en-US" sz="1600" b="1" dirty="0">
                <a:ea typeface="宋体" panose="02010600030101010101" pitchFamily="2" charset="-122"/>
              </a:rPr>
              <a:t>函数，</a:t>
            </a:r>
            <a:r>
              <a:rPr lang="en-US" altLang="zh-CN" sz="1600" b="1" i="1" dirty="0">
                <a:ea typeface="宋体" panose="02010600030101010101" pitchFamily="2" charset="-122"/>
              </a:rPr>
              <a:t>int </a:t>
            </a:r>
            <a:r>
              <a:rPr lang="zh-CN" altLang="en-US" sz="1600" b="1" i="1" dirty="0">
                <a:ea typeface="宋体" panose="02010600030101010101" pitchFamily="2" charset="-122"/>
              </a:rPr>
              <a:t>×</a:t>
            </a:r>
            <a:r>
              <a:rPr lang="en-US" altLang="zh-CN" sz="1600" b="1" i="1" dirty="0">
                <a:ea typeface="宋体" panose="02010600030101010101" pitchFamily="2" charset="-122"/>
              </a:rPr>
              <a:t>int→int</a:t>
            </a:r>
            <a:endParaRPr lang="en-US" altLang="zh-CN" sz="1600" b="1" i="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	2）</a:t>
            </a:r>
            <a:r>
              <a:rPr lang="zh-CN" altLang="en-US" sz="1600" b="1" dirty="0">
                <a:ea typeface="宋体" panose="02010600030101010101" pitchFamily="2" charset="-122"/>
              </a:rPr>
              <a:t>在</a:t>
            </a:r>
            <a:r>
              <a:rPr lang="en-US" altLang="zh-CN" sz="1600" b="1" dirty="0">
                <a:ea typeface="宋体" panose="02010600030101010101" pitchFamily="2" charset="-122"/>
              </a:rPr>
              <a:t>pascal</a:t>
            </a:r>
            <a:r>
              <a:rPr lang="zh-CN" altLang="en-US" sz="1600" b="1" dirty="0">
                <a:ea typeface="宋体" panose="02010600030101010101" pitchFamily="2" charset="-122"/>
              </a:rPr>
              <a:t>中的声明：</a:t>
            </a:r>
            <a:r>
              <a:rPr lang="en-US" altLang="zh-CN" sz="1600" b="1" dirty="0">
                <a:ea typeface="宋体" panose="02010600030101010101" pitchFamily="2" charset="-122"/>
              </a:rPr>
              <a:t>function f( a, b: char ): ↑integer</a:t>
            </a:r>
            <a:endParaRPr lang="en-US" altLang="zh-CN"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		</a:t>
            </a:r>
            <a:r>
              <a:rPr lang="en-US" altLang="zh-CN" sz="1600" b="1" i="1" dirty="0">
                <a:ea typeface="宋体" panose="02010600030101010101" pitchFamily="2" charset="-122"/>
              </a:rPr>
              <a:t>char</a:t>
            </a:r>
            <a:r>
              <a:rPr lang="zh-CN" altLang="en-US" sz="1600" b="1" i="1" dirty="0">
                <a:ea typeface="宋体" panose="02010600030101010101" pitchFamily="2" charset="-122"/>
              </a:rPr>
              <a:t>×</a:t>
            </a:r>
            <a:r>
              <a:rPr lang="en-US" altLang="zh-CN" sz="1600" b="1" i="1" dirty="0">
                <a:ea typeface="宋体" panose="02010600030101010101" pitchFamily="2" charset="-122"/>
              </a:rPr>
              <a:t>char→pointer</a:t>
            </a:r>
            <a:r>
              <a:rPr lang="en-US" altLang="zh-CN" sz="1600" b="1" dirty="0">
                <a:ea typeface="宋体" panose="02010600030101010101" pitchFamily="2" charset="-122"/>
              </a:rPr>
              <a:t>(</a:t>
            </a:r>
            <a:r>
              <a:rPr lang="en-US" altLang="zh-CN" sz="1600" b="1" i="1" dirty="0">
                <a:ea typeface="宋体" panose="02010600030101010101" pitchFamily="2" charset="-122"/>
              </a:rPr>
              <a:t>integer</a:t>
            </a:r>
            <a:r>
              <a:rPr lang="en-US" altLang="zh-CN" sz="1600" b="1" dirty="0">
                <a:ea typeface="宋体" panose="02010600030101010101" pitchFamily="2" charset="-122"/>
              </a:rPr>
              <a:t>)</a:t>
            </a:r>
            <a:endParaRPr lang="en-US" altLang="zh-CN" sz="1600" b="1" dirty="0">
              <a:ea typeface="宋体" panose="02010600030101010101" pitchFamily="2" charset="-122"/>
            </a:endParaRPr>
          </a:p>
          <a:p>
            <a:pPr lvl="4">
              <a:buChar char="•"/>
            </a:pPr>
            <a:r>
              <a:rPr lang="zh-CN" altLang="en-US" sz="1600" b="1" dirty="0">
                <a:ea typeface="宋体" panose="02010600030101010101" pitchFamily="2" charset="-122"/>
              </a:rPr>
              <a:t>函数的返回值：一般受到限制，但在一些语言中（如</a:t>
            </a:r>
            <a:r>
              <a:rPr lang="en-US" altLang="zh-CN" sz="1600" b="1" dirty="0">
                <a:ea typeface="宋体" panose="02010600030101010101" pitchFamily="2" charset="-122"/>
              </a:rPr>
              <a:t>ML），</a:t>
            </a:r>
            <a:r>
              <a:rPr lang="zh-CN" altLang="en-US" sz="1600" b="1" dirty="0">
                <a:ea typeface="宋体" panose="02010600030101010101" pitchFamily="2" charset="-122"/>
              </a:rPr>
              <a:t>函数的返回值可以式任意类型的对象</a:t>
            </a:r>
            <a:endParaRPr lang="zh-CN" altLang="en-US" sz="1600" b="1" dirty="0">
              <a:ea typeface="宋体" panose="02010600030101010101" pitchFamily="2" charset="-122"/>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类型系统（7）</a:t>
            </a:r>
            <a:endParaRPr lang="zh-CN" altLang="en-US" dirty="0">
              <a:latin typeface="Times New Roman" panose="02020603050405020304" pitchFamily="18" charset="0"/>
              <a:ea typeface="宋体" panose="02010600030101010101" pitchFamily="2" charset="-122"/>
            </a:endParaRPr>
          </a:p>
        </p:txBody>
      </p:sp>
      <p:sp>
        <p:nvSpPr>
          <p:cNvPr id="77827" name="Rectangle 3"/>
          <p:cNvSpPr>
            <a:spLocks noGrp="1"/>
          </p:cNvSpPr>
          <p:nvPr>
            <p:ph idx="1"/>
          </p:nvPr>
        </p:nvSpPr>
        <p:spPr>
          <a:xfrm>
            <a:off x="990600" y="1371600"/>
            <a:ext cx="7391400" cy="4953000"/>
          </a:xfrm>
        </p:spPr>
        <p:txBody>
          <a:bodyPr vert="horz" wrap="square" lIns="92075" tIns="46038" rIns="92075" bIns="46038" anchor="t" anchorCtr="0"/>
          <a:p>
            <a:pPr lvl="2"/>
            <a:r>
              <a:rPr lang="zh-CN" altLang="en-US" sz="2000" b="1" dirty="0">
                <a:ea typeface="宋体" panose="02010600030101010101" pitchFamily="2" charset="-122"/>
              </a:rPr>
              <a:t>类型表达式可以包含变量，变量的值是类型表达式</a:t>
            </a:r>
            <a:endParaRPr lang="zh-CN" altLang="en-US" sz="2000" b="1" dirty="0">
              <a:ea typeface="宋体" panose="02010600030101010101" pitchFamily="2" charset="-122"/>
            </a:endParaRPr>
          </a:p>
          <a:p>
            <a:pPr lvl="3"/>
            <a:r>
              <a:rPr lang="zh-CN" altLang="en-US" sz="1800" b="1" dirty="0">
                <a:ea typeface="宋体" panose="02010600030101010101" pitchFamily="2" charset="-122"/>
              </a:rPr>
              <a:t>利于讨论未知类型，如类型检查中的合一替换</a:t>
            </a:r>
            <a:endParaRPr lang="zh-CN" altLang="en-US" sz="1800" b="1" dirty="0">
              <a:ea typeface="宋体" panose="02010600030101010101" pitchFamily="2" charset="-122"/>
            </a:endParaRPr>
          </a:p>
          <a:p>
            <a:pPr lvl="1"/>
            <a:r>
              <a:rPr lang="zh-CN" altLang="en-US" sz="2200" b="1" dirty="0">
                <a:ea typeface="宋体" panose="02010600030101010101" pitchFamily="2" charset="-122"/>
              </a:rPr>
              <a:t>类型表达式的表示</a:t>
            </a:r>
            <a:endParaRPr lang="zh-CN" altLang="en-US" sz="2200" b="1" dirty="0">
              <a:ea typeface="宋体" panose="02010600030101010101" pitchFamily="2" charset="-122"/>
            </a:endParaRPr>
          </a:p>
          <a:p>
            <a:pPr lvl="2"/>
            <a:r>
              <a:rPr lang="zh-CN" altLang="en-US" sz="2000" b="1" dirty="0">
                <a:ea typeface="宋体" panose="02010600030101010101" pitchFamily="2" charset="-122"/>
              </a:rPr>
              <a:t>可以简便地用图表示</a:t>
            </a:r>
            <a:endParaRPr lang="zh-CN" altLang="en-US" sz="2000" b="1" dirty="0">
              <a:ea typeface="宋体" panose="02010600030101010101" pitchFamily="2" charset="-122"/>
            </a:endParaRPr>
          </a:p>
          <a:p>
            <a:pPr lvl="3"/>
            <a:r>
              <a:rPr lang="zh-CN" altLang="en-US" sz="1800" b="1" dirty="0">
                <a:ea typeface="宋体" panose="02010600030101010101" pitchFamily="2" charset="-122"/>
              </a:rPr>
              <a:t>内部结点表示类型构造器</a:t>
            </a:r>
            <a:endParaRPr lang="zh-CN" altLang="en-US" sz="1800" b="1" dirty="0">
              <a:ea typeface="宋体" panose="02010600030101010101" pitchFamily="2" charset="-122"/>
            </a:endParaRPr>
          </a:p>
          <a:p>
            <a:pPr lvl="3"/>
            <a:r>
              <a:rPr lang="zh-CN" altLang="en-US" sz="1800" b="1" dirty="0">
                <a:ea typeface="宋体" panose="02010600030101010101" pitchFamily="2" charset="-122"/>
              </a:rPr>
              <a:t>叶结点表示基本类型、类型名或类型变量</a:t>
            </a:r>
            <a:endParaRPr lang="zh-CN" altLang="en-US" sz="1800" b="1" dirty="0">
              <a:ea typeface="宋体" panose="02010600030101010101" pitchFamily="2" charset="-122"/>
            </a:endParaRPr>
          </a:p>
          <a:p>
            <a:pPr lvl="3">
              <a:buFont typeface="Wingdings" panose="05000000000000000000" pitchFamily="2" charset="2"/>
              <a:buNone/>
            </a:pPr>
            <a:endParaRPr lang="zh-CN" altLang="en-US" sz="1800" b="1" dirty="0">
              <a:ea typeface="宋体" panose="02010600030101010101" pitchFamily="2" charset="-122"/>
            </a:endParaRPr>
          </a:p>
        </p:txBody>
      </p:sp>
      <p:graphicFrame>
        <p:nvGraphicFramePr>
          <p:cNvPr id="77828" name="Object 4"/>
          <p:cNvGraphicFramePr>
            <a:graphicFrameLocks noChangeAspect="1"/>
          </p:cNvGraphicFramePr>
          <p:nvPr/>
        </p:nvGraphicFramePr>
        <p:xfrm>
          <a:off x="1600200" y="3733800"/>
          <a:ext cx="6102350" cy="1963738"/>
        </p:xfrm>
        <a:graphic>
          <a:graphicData uri="http://schemas.openxmlformats.org/presentationml/2006/ole">
            <mc:AlternateContent xmlns:mc="http://schemas.openxmlformats.org/markup-compatibility/2006">
              <mc:Choice xmlns:v="urn:schemas-microsoft-com:vml" Requires="v">
                <p:oleObj spid="_x0000_s3079" name="" r:id="rId1" imgW="6101080" imgH="1965960" progId="Visio.Drawing.4">
                  <p:embed/>
                </p:oleObj>
              </mc:Choice>
              <mc:Fallback>
                <p:oleObj name="" r:id="rId1" imgW="6101080" imgH="1965960" progId="Visio.Drawing.4">
                  <p:embed/>
                  <p:pic>
                    <p:nvPicPr>
                      <p:cNvPr id="0" name="图片 3078"/>
                      <p:cNvPicPr/>
                      <p:nvPr/>
                    </p:nvPicPr>
                    <p:blipFill>
                      <a:blip r:embed="rId2"/>
                      <a:stretch>
                        <a:fillRect/>
                      </a:stretch>
                    </p:blipFill>
                    <p:spPr>
                      <a:xfrm>
                        <a:off x="1600200" y="3733800"/>
                        <a:ext cx="6102350" cy="1963738"/>
                      </a:xfrm>
                      <a:prstGeom prst="rect">
                        <a:avLst/>
                      </a:prstGeom>
                      <a:noFill/>
                      <a:ln w="38100">
                        <a:noFill/>
                        <a:miter/>
                      </a:ln>
                    </p:spPr>
                  </p:pic>
                </p:oleObj>
              </mc:Fallback>
            </mc:AlternateContent>
          </a:graphicData>
        </a:graphic>
      </p:graphicFrame>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类型系统（8）</a:t>
            </a:r>
            <a:endParaRPr lang="zh-CN" altLang="en-US" dirty="0">
              <a:latin typeface="Times New Roman" panose="02020603050405020304" pitchFamily="18" charset="0"/>
              <a:ea typeface="宋体" panose="02010600030101010101" pitchFamily="2" charset="-122"/>
            </a:endParaRPr>
          </a:p>
        </p:txBody>
      </p:sp>
      <p:sp>
        <p:nvSpPr>
          <p:cNvPr id="79875" name="Rectangle 3"/>
          <p:cNvSpPr>
            <a:spLocks noGrp="1"/>
          </p:cNvSpPr>
          <p:nvPr>
            <p:ph idx="1"/>
          </p:nvPr>
        </p:nvSpPr>
        <p:spPr>
          <a:xfrm>
            <a:off x="990600" y="1676400"/>
            <a:ext cx="7391400" cy="4191000"/>
          </a:xfrm>
        </p:spPr>
        <p:txBody>
          <a:bodyPr vert="horz" wrap="square" lIns="92075" tIns="46038" rIns="92075" bIns="46038" anchor="t" anchorCtr="0"/>
          <a:p>
            <a:r>
              <a:rPr lang="zh-CN" altLang="en-US" sz="2400" b="1" dirty="0">
                <a:ea typeface="宋体" panose="02010600030101010101" pitchFamily="2" charset="-122"/>
              </a:rPr>
              <a:t>类型系统：</a:t>
            </a:r>
            <a:endParaRPr lang="zh-CN" altLang="en-US" sz="2400" b="1" dirty="0">
              <a:ea typeface="宋体" panose="02010600030101010101" pitchFamily="2" charset="-122"/>
            </a:endParaRPr>
          </a:p>
          <a:p>
            <a:pPr lvl="1"/>
            <a:r>
              <a:rPr lang="zh-CN" altLang="en-US" sz="2200" b="1" dirty="0">
                <a:ea typeface="宋体" panose="02010600030101010101" pitchFamily="2" charset="-122"/>
              </a:rPr>
              <a:t>定义：把类型表达式指派到各个部分的一组规则</a:t>
            </a:r>
            <a:endParaRPr lang="zh-CN" altLang="en-US" sz="2200" b="1" dirty="0">
              <a:ea typeface="宋体" panose="02010600030101010101" pitchFamily="2" charset="-122"/>
            </a:endParaRPr>
          </a:p>
          <a:p>
            <a:pPr lvl="2"/>
            <a:r>
              <a:rPr lang="zh-CN" altLang="en-US" sz="2000" b="1" dirty="0">
                <a:ea typeface="宋体" panose="02010600030101010101" pitchFamily="2" charset="-122"/>
              </a:rPr>
              <a:t>类型检查器实现类型系统</a:t>
            </a:r>
            <a:endParaRPr lang="zh-CN" altLang="en-US" sz="2000" b="1" dirty="0">
              <a:ea typeface="宋体" panose="02010600030101010101" pitchFamily="2" charset="-122"/>
            </a:endParaRPr>
          </a:p>
          <a:p>
            <a:pPr lvl="2"/>
            <a:r>
              <a:rPr lang="zh-CN" altLang="en-US" sz="2000" b="1" dirty="0">
                <a:ea typeface="宋体" panose="02010600030101010101" pitchFamily="2" charset="-122"/>
              </a:rPr>
              <a:t>同一个语言的不同编译器或处理器可能使用不同的类型系统</a:t>
            </a:r>
            <a:endParaRPr lang="zh-CN" altLang="en-US" sz="2000" b="1" dirty="0">
              <a:ea typeface="宋体" panose="02010600030101010101" pitchFamily="2" charset="-122"/>
            </a:endParaRPr>
          </a:p>
          <a:p>
            <a:pPr lvl="3"/>
            <a:r>
              <a:rPr lang="zh-CN" altLang="en-US" sz="1800" b="1" dirty="0">
                <a:ea typeface="宋体" panose="02010600030101010101" pitchFamily="2" charset="-122"/>
              </a:rPr>
              <a:t>数组是否作为参数</a:t>
            </a:r>
            <a:endParaRPr lang="zh-CN" altLang="en-US" sz="1800" b="1" dirty="0">
              <a:ea typeface="宋体" panose="02010600030101010101" pitchFamily="2" charset="-122"/>
            </a:endParaRPr>
          </a:p>
          <a:p>
            <a:pPr lvl="3"/>
            <a:r>
              <a:rPr lang="zh-CN" altLang="en-US" sz="1800" b="1" dirty="0">
                <a:ea typeface="宋体" panose="02010600030101010101" pitchFamily="2" charset="-122"/>
              </a:rPr>
              <a:t>某些数据类型的存储方式</a:t>
            </a:r>
            <a:endParaRPr lang="zh-CN" altLang="en-US" sz="1800" b="1" dirty="0">
              <a:ea typeface="宋体" panose="02010600030101010101" pitchFamily="2" charset="-122"/>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类型系统（9）</a:t>
            </a:r>
            <a:endParaRPr lang="zh-CN" altLang="en-US" dirty="0">
              <a:latin typeface="Times New Roman" panose="02020603050405020304" pitchFamily="18" charset="0"/>
              <a:ea typeface="宋体" panose="02010600030101010101" pitchFamily="2" charset="-122"/>
            </a:endParaRPr>
          </a:p>
        </p:txBody>
      </p:sp>
      <p:sp>
        <p:nvSpPr>
          <p:cNvPr id="81923" name="Rectangle 3"/>
          <p:cNvSpPr>
            <a:spLocks noGrp="1"/>
          </p:cNvSpPr>
          <p:nvPr>
            <p:ph idx="1"/>
          </p:nvPr>
        </p:nvSpPr>
        <p:spPr>
          <a:xfrm>
            <a:off x="990600" y="1447800"/>
            <a:ext cx="7391400" cy="4572000"/>
          </a:xfrm>
        </p:spPr>
        <p:txBody>
          <a:bodyPr vert="horz" wrap="square" lIns="92075" tIns="46038" rIns="92075" bIns="46038" anchor="t" anchorCtr="0"/>
          <a:p>
            <a:r>
              <a:rPr lang="zh-CN" altLang="en-US" sz="2400" b="1" dirty="0">
                <a:ea typeface="宋体" panose="02010600030101010101" pitchFamily="2" charset="-122"/>
              </a:rPr>
              <a:t>静态和动态的类型检查：</a:t>
            </a:r>
            <a:endParaRPr lang="zh-CN" altLang="en-US" sz="2400" b="1" dirty="0">
              <a:ea typeface="宋体" panose="02010600030101010101" pitchFamily="2" charset="-122"/>
            </a:endParaRPr>
          </a:p>
          <a:p>
            <a:pPr lvl="1"/>
            <a:r>
              <a:rPr lang="zh-CN" altLang="en-US" sz="2200" b="1" dirty="0">
                <a:ea typeface="宋体" panose="02010600030101010101" pitchFamily="2" charset="-122"/>
              </a:rPr>
              <a:t>由编译器完成的检查是静态检查</a:t>
            </a:r>
            <a:endParaRPr lang="zh-CN" altLang="en-US" sz="2200" b="1" dirty="0">
              <a:ea typeface="宋体" panose="02010600030101010101" pitchFamily="2" charset="-122"/>
            </a:endParaRPr>
          </a:p>
          <a:p>
            <a:pPr lvl="2"/>
            <a:r>
              <a:rPr lang="zh-CN" altLang="en-US" sz="2000" b="1" dirty="0">
                <a:ea typeface="宋体" panose="02010600030101010101" pitchFamily="2" charset="-122"/>
              </a:rPr>
              <a:t>所需要的信息通常由程序员提供的声明和其它语言结构提供</a:t>
            </a:r>
            <a:endParaRPr lang="zh-CN" altLang="en-US" sz="2000" b="1" dirty="0">
              <a:ea typeface="宋体" panose="02010600030101010101" pitchFamily="2" charset="-122"/>
            </a:endParaRPr>
          </a:p>
          <a:p>
            <a:pPr lvl="3"/>
            <a:r>
              <a:rPr lang="zh-CN" altLang="en-US" sz="1800" b="1" dirty="0">
                <a:ea typeface="宋体" panose="02010600030101010101" pitchFamily="2" charset="-122"/>
              </a:rPr>
              <a:t>每个操作的参数和结果的数目、顺序和数据类型</a:t>
            </a:r>
            <a:endParaRPr lang="zh-CN" altLang="en-US" sz="1800" b="1" dirty="0">
              <a:ea typeface="宋体" panose="02010600030101010101" pitchFamily="2" charset="-122"/>
            </a:endParaRPr>
          </a:p>
          <a:p>
            <a:pPr lvl="3"/>
            <a:r>
              <a:rPr lang="zh-CN" altLang="en-US" sz="1800" b="1" dirty="0">
                <a:ea typeface="宋体" panose="02010600030101010101" pitchFamily="2" charset="-122"/>
              </a:rPr>
              <a:t>每个变量所命名的数据对象的类型：和变量名相关联的数据对象的类型在程序执行过程中必须是不变的</a:t>
            </a:r>
            <a:endParaRPr lang="zh-CN" altLang="en-US" sz="1800" b="1" dirty="0">
              <a:ea typeface="宋体" panose="02010600030101010101" pitchFamily="2" charset="-122"/>
            </a:endParaRPr>
          </a:p>
          <a:p>
            <a:pPr lvl="3"/>
            <a:r>
              <a:rPr lang="zh-CN" altLang="en-US" sz="1800" b="1" dirty="0">
                <a:ea typeface="宋体" panose="02010600030101010101" pitchFamily="2" charset="-122"/>
              </a:rPr>
              <a:t>每个常数数据对象的类型</a:t>
            </a:r>
            <a:endParaRPr lang="zh-CN" altLang="en-US" sz="1800" b="1" dirty="0">
              <a:ea typeface="宋体" panose="02010600030101010101" pitchFamily="2" charset="-122"/>
            </a:endParaRPr>
          </a:p>
          <a:p>
            <a:pPr lvl="2"/>
            <a:r>
              <a:rPr lang="zh-CN" altLang="en-US" sz="2000" b="1" dirty="0">
                <a:ea typeface="宋体" panose="02010600030101010101" pitchFamily="2" charset="-122"/>
              </a:rPr>
              <a:t>静态类型检查的特点</a:t>
            </a:r>
            <a:endParaRPr lang="zh-CN" altLang="en-US" sz="2000" b="1" dirty="0">
              <a:ea typeface="宋体" panose="02010600030101010101" pitchFamily="2" charset="-122"/>
            </a:endParaRPr>
          </a:p>
          <a:p>
            <a:pPr lvl="3"/>
            <a:r>
              <a:rPr lang="zh-CN" altLang="en-US" sz="1800" b="1" dirty="0">
                <a:ea typeface="宋体" panose="02010600030101010101" pitchFamily="2" charset="-122"/>
              </a:rPr>
              <a:t>对所有程序语句中的所有操作和所有执行路径</a:t>
            </a:r>
            <a:endParaRPr lang="zh-CN" altLang="en-US" sz="1800" b="1" dirty="0">
              <a:ea typeface="宋体" panose="02010600030101010101" pitchFamily="2" charset="-122"/>
            </a:endParaRPr>
          </a:p>
          <a:p>
            <a:pPr lvl="4"/>
            <a:r>
              <a:rPr lang="zh-CN" altLang="en-US" sz="1600" b="1" dirty="0">
                <a:ea typeface="宋体" panose="02010600030101010101" pitchFamily="2" charset="-122"/>
              </a:rPr>
              <a:t>不再需要对类型错误进一步测试</a:t>
            </a:r>
            <a:endParaRPr lang="zh-CN" altLang="en-US" sz="1600" b="1" dirty="0">
              <a:ea typeface="宋体" panose="02010600030101010101" pitchFamily="2" charset="-122"/>
            </a:endParaRPr>
          </a:p>
          <a:p>
            <a:pPr lvl="4"/>
            <a:r>
              <a:rPr lang="zh-CN" altLang="en-US" sz="1600" b="1" dirty="0">
                <a:ea typeface="宋体" panose="02010600030101010101" pitchFamily="2" charset="-122"/>
              </a:rPr>
              <a:t>不需要数据对象的类型标签和动态类型检查</a:t>
            </a:r>
            <a:endParaRPr lang="zh-CN" altLang="en-US" sz="1600" b="1" dirty="0">
              <a:ea typeface="宋体" panose="02010600030101010101" pitchFamily="2" charset="-122"/>
            </a:endParaRPr>
          </a:p>
          <a:p>
            <a:pPr lvl="4"/>
            <a:r>
              <a:rPr lang="zh-CN" altLang="en-US" sz="1600" b="1" dirty="0">
                <a:ea typeface="宋体" panose="02010600030101010101" pitchFamily="2" charset="-122"/>
              </a:rPr>
              <a:t>程序运行速度和存储使用效率得到很大的改善</a:t>
            </a:r>
            <a:endParaRPr lang="zh-CN" altLang="en-US" sz="1600" b="1" dirty="0">
              <a:ea typeface="宋体" panose="02010600030101010101" pitchFamily="2" charset="-122"/>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类型系统（10）</a:t>
            </a:r>
            <a:endParaRPr lang="zh-CN" altLang="en-US" dirty="0">
              <a:latin typeface="Times New Roman" panose="02020603050405020304" pitchFamily="18" charset="0"/>
              <a:ea typeface="宋体" panose="02010600030101010101" pitchFamily="2" charset="-122"/>
            </a:endParaRPr>
          </a:p>
        </p:txBody>
      </p:sp>
      <p:sp>
        <p:nvSpPr>
          <p:cNvPr id="83971" name="Rectangle 3"/>
          <p:cNvSpPr>
            <a:spLocks noGrp="1"/>
          </p:cNvSpPr>
          <p:nvPr>
            <p:ph idx="1"/>
          </p:nvPr>
        </p:nvSpPr>
        <p:spPr>
          <a:xfrm>
            <a:off x="990600" y="1676400"/>
            <a:ext cx="7391400" cy="4419600"/>
          </a:xfrm>
        </p:spPr>
        <p:txBody>
          <a:bodyPr vert="horz" wrap="square" lIns="92075" tIns="46038" rIns="92075" bIns="46038" anchor="t" anchorCtr="0"/>
          <a:p>
            <a:pPr lvl="3"/>
            <a:r>
              <a:rPr lang="zh-CN" altLang="en-US" sz="1800" b="1" dirty="0">
                <a:ea typeface="宋体" panose="02010600030101010101" pitchFamily="2" charset="-122"/>
              </a:rPr>
              <a:t>可以由硬件提供支持</a:t>
            </a:r>
            <a:endParaRPr lang="zh-CN" altLang="en-US" sz="1800" b="1" dirty="0">
              <a:ea typeface="宋体" panose="02010600030101010101" pitchFamily="2" charset="-122"/>
            </a:endParaRPr>
          </a:p>
          <a:p>
            <a:pPr lvl="3"/>
            <a:r>
              <a:rPr lang="zh-CN" altLang="en-US" sz="1800" b="1" dirty="0">
                <a:ea typeface="宋体" panose="02010600030101010101" pitchFamily="2" charset="-122"/>
              </a:rPr>
              <a:t>程序易于调试</a:t>
            </a:r>
            <a:endParaRPr lang="zh-CN" altLang="en-US" sz="1800" b="1" dirty="0">
              <a:ea typeface="宋体" panose="02010600030101010101" pitchFamily="2" charset="-122"/>
            </a:endParaRPr>
          </a:p>
          <a:p>
            <a:pPr lvl="3"/>
            <a:r>
              <a:rPr lang="zh-CN" altLang="en-US" sz="1800" b="1" dirty="0">
                <a:ea typeface="宋体" panose="02010600030101010101" pitchFamily="2" charset="-122"/>
              </a:rPr>
              <a:t>影响语言的很多特性：</a:t>
            </a:r>
            <a:endParaRPr lang="zh-CN" altLang="en-US" sz="1800" b="1" dirty="0">
              <a:ea typeface="宋体" panose="02010600030101010101" pitchFamily="2" charset="-122"/>
            </a:endParaRPr>
          </a:p>
          <a:p>
            <a:pPr lvl="4"/>
            <a:r>
              <a:rPr lang="zh-CN" altLang="en-US" sz="1600" b="1" dirty="0">
                <a:ea typeface="宋体" panose="02010600030101010101" pitchFamily="2" charset="-122"/>
              </a:rPr>
              <a:t>声明、程序控制结构以及子程序的单独编译</a:t>
            </a:r>
            <a:endParaRPr lang="zh-CN" altLang="en-US" sz="1600" b="1" dirty="0">
              <a:ea typeface="宋体" panose="02010600030101010101" pitchFamily="2" charset="-122"/>
            </a:endParaRPr>
          </a:p>
          <a:p>
            <a:pPr lvl="2"/>
            <a:r>
              <a:rPr lang="zh-CN" altLang="en-US" sz="2000" b="1" dirty="0">
                <a:ea typeface="宋体" panose="02010600030101010101" pitchFamily="2" charset="-122"/>
              </a:rPr>
              <a:t>静态类型检查的缺点</a:t>
            </a:r>
            <a:endParaRPr lang="zh-CN" altLang="en-US" sz="2000" b="1" dirty="0">
              <a:ea typeface="宋体" panose="02010600030101010101" pitchFamily="2" charset="-122"/>
            </a:endParaRPr>
          </a:p>
          <a:p>
            <a:pPr lvl="3"/>
            <a:r>
              <a:rPr lang="zh-CN" altLang="en-US" sz="1800" b="1" dirty="0">
                <a:ea typeface="宋体" panose="02010600030101010101" pitchFamily="2" charset="-122"/>
              </a:rPr>
              <a:t>在某些情况下，不能进行静态类型检查</a:t>
            </a:r>
            <a:endParaRPr lang="zh-CN" altLang="en-US" sz="1800" b="1" dirty="0">
              <a:ea typeface="宋体" panose="02010600030101010101" pitchFamily="2" charset="-122"/>
            </a:endParaRPr>
          </a:p>
          <a:p>
            <a:pPr lvl="4"/>
            <a:r>
              <a:rPr lang="zh-CN" altLang="en-US" sz="1600" b="1" dirty="0">
                <a:ea typeface="宋体" panose="02010600030101010101" pitchFamily="2" charset="-122"/>
              </a:rPr>
              <a:t>如数组访问越界的检查</a:t>
            </a:r>
            <a:endParaRPr lang="zh-CN" altLang="en-US" sz="1600" b="1" dirty="0">
              <a:ea typeface="宋体" panose="02010600030101010101" pitchFamily="2" charset="-122"/>
            </a:endParaRPr>
          </a:p>
          <a:p>
            <a:pPr lvl="3"/>
            <a:r>
              <a:rPr lang="zh-CN" altLang="en-US" sz="1800" b="1" dirty="0">
                <a:ea typeface="宋体" panose="02010600030101010101" pitchFamily="2" charset="-122"/>
              </a:rPr>
              <a:t>解决方法：</a:t>
            </a:r>
            <a:endParaRPr lang="zh-CN" altLang="en-US" sz="1800" b="1" dirty="0">
              <a:ea typeface="宋体" panose="02010600030101010101" pitchFamily="2" charset="-122"/>
            </a:endParaRPr>
          </a:p>
          <a:p>
            <a:pPr lvl="4"/>
            <a:r>
              <a:rPr lang="zh-CN" altLang="en-US" sz="1600" b="1" dirty="0">
                <a:ea typeface="宋体" panose="02010600030101010101" pitchFamily="2" charset="-122"/>
              </a:rPr>
              <a:t>借助动态类型检查，代价太高，可能很少检查到的类型标签也要存储在数据对象中</a:t>
            </a:r>
            <a:endParaRPr lang="zh-CN" altLang="en-US" sz="1600" b="1" dirty="0">
              <a:ea typeface="宋体" panose="02010600030101010101" pitchFamily="2" charset="-122"/>
            </a:endParaRPr>
          </a:p>
          <a:p>
            <a:pPr lvl="4"/>
            <a:r>
              <a:rPr lang="zh-CN" altLang="en-US" sz="1600" b="1" dirty="0">
                <a:ea typeface="宋体" panose="02010600030101010101" pitchFamily="2" charset="-122"/>
              </a:rPr>
              <a:t>对未检查的操作听其自然，可能引起错误</a:t>
            </a:r>
            <a:endParaRPr lang="zh-CN" altLang="en-US" sz="1600" b="1" dirty="0">
              <a:ea typeface="宋体" panose="02010600030101010101" pitchFamily="2" charset="-122"/>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类型系统（11）</a:t>
            </a:r>
            <a:endParaRPr lang="zh-CN" altLang="en-US" dirty="0">
              <a:latin typeface="Times New Roman" panose="02020603050405020304" pitchFamily="18" charset="0"/>
              <a:ea typeface="宋体" panose="02010600030101010101" pitchFamily="2" charset="-122"/>
            </a:endParaRPr>
          </a:p>
        </p:txBody>
      </p:sp>
      <p:sp>
        <p:nvSpPr>
          <p:cNvPr id="86019" name="Rectangle 3"/>
          <p:cNvSpPr>
            <a:spLocks noGrp="1"/>
          </p:cNvSpPr>
          <p:nvPr>
            <p:ph idx="1"/>
          </p:nvPr>
        </p:nvSpPr>
        <p:spPr>
          <a:xfrm>
            <a:off x="990600" y="1447800"/>
            <a:ext cx="7391400" cy="4800600"/>
          </a:xfrm>
        </p:spPr>
        <p:txBody>
          <a:bodyPr vert="horz" wrap="square" lIns="92075" tIns="46038" rIns="92075" bIns="46038" anchor="t" anchorCtr="0"/>
          <a:p>
            <a:pPr lvl="1"/>
            <a:r>
              <a:rPr lang="zh-CN" altLang="en-US" sz="2200" b="1" dirty="0">
                <a:ea typeface="宋体" panose="02010600030101010101" pitchFamily="2" charset="-122"/>
              </a:rPr>
              <a:t>目标程序运行时完成的类型检查是动态检查</a:t>
            </a:r>
            <a:endParaRPr lang="zh-CN" altLang="en-US" sz="2200" b="1" dirty="0">
              <a:ea typeface="宋体" panose="02010600030101010101" pitchFamily="2" charset="-122"/>
            </a:endParaRPr>
          </a:p>
          <a:p>
            <a:pPr lvl="2"/>
            <a:r>
              <a:rPr lang="zh-CN" altLang="en-US" sz="2000" b="1" dirty="0">
                <a:ea typeface="宋体" panose="02010600030101010101" pitchFamily="2" charset="-122"/>
              </a:rPr>
              <a:t>实现的基础：在每个数据对象中保存一个表明该对象数据类型的类型标签</a:t>
            </a:r>
            <a:endParaRPr lang="zh-CN" altLang="en-US" sz="2000" b="1" dirty="0">
              <a:ea typeface="宋体" panose="02010600030101010101" pitchFamily="2" charset="-122"/>
            </a:endParaRPr>
          </a:p>
          <a:p>
            <a:pPr lvl="2"/>
            <a:r>
              <a:rPr lang="zh-CN" altLang="en-US" sz="2000" b="1" dirty="0">
                <a:ea typeface="宋体" panose="02010600030101010101" pitchFamily="2" charset="-122"/>
              </a:rPr>
              <a:t>动态类型检查的优点</a:t>
            </a:r>
            <a:endParaRPr lang="zh-CN" altLang="en-US" sz="2000" b="1" dirty="0">
              <a:ea typeface="宋体" panose="02010600030101010101" pitchFamily="2" charset="-122"/>
            </a:endParaRPr>
          </a:p>
          <a:p>
            <a:pPr lvl="3"/>
            <a:r>
              <a:rPr lang="zh-CN" altLang="en-US" sz="1800" b="1" dirty="0">
                <a:ea typeface="宋体" panose="02010600030101010101" pitchFamily="2" charset="-122"/>
              </a:rPr>
              <a:t>程序设计灵活</a:t>
            </a:r>
            <a:endParaRPr lang="zh-CN" altLang="en-US" sz="1800" b="1" dirty="0">
              <a:ea typeface="宋体" panose="02010600030101010101" pitchFamily="2" charset="-122"/>
            </a:endParaRPr>
          </a:p>
          <a:p>
            <a:pPr lvl="4"/>
            <a:r>
              <a:rPr lang="zh-CN" altLang="en-US" sz="1600" b="1" dirty="0">
                <a:ea typeface="宋体" panose="02010600030101010101" pitchFamily="2" charset="-122"/>
              </a:rPr>
              <a:t>不需要声明</a:t>
            </a:r>
            <a:endParaRPr lang="zh-CN" altLang="en-US" sz="1600" b="1" dirty="0">
              <a:ea typeface="宋体" panose="02010600030101010101" pitchFamily="2" charset="-122"/>
            </a:endParaRPr>
          </a:p>
          <a:p>
            <a:pPr lvl="4"/>
            <a:r>
              <a:rPr lang="zh-CN" altLang="en-US" sz="1600" b="1" dirty="0">
                <a:ea typeface="宋体" panose="02010600030101010101" pitchFamily="2" charset="-122"/>
              </a:rPr>
              <a:t>和一个变量名绑定的数据对象的类型在程序执行时可以按需改变</a:t>
            </a:r>
            <a:endParaRPr lang="zh-CN" altLang="en-US" sz="1600" b="1" dirty="0">
              <a:ea typeface="宋体" panose="02010600030101010101" pitchFamily="2" charset="-122"/>
            </a:endParaRPr>
          </a:p>
          <a:p>
            <a:pPr lvl="2"/>
            <a:r>
              <a:rPr lang="zh-CN" altLang="en-US" sz="2000" b="1" dirty="0">
                <a:ea typeface="宋体" panose="02010600030101010101" pitchFamily="2" charset="-122"/>
              </a:rPr>
              <a:t>动态类型检查的缺点</a:t>
            </a:r>
            <a:endParaRPr lang="zh-CN" altLang="en-US" sz="2000" b="1" dirty="0">
              <a:ea typeface="宋体" panose="02010600030101010101" pitchFamily="2" charset="-122"/>
            </a:endParaRPr>
          </a:p>
          <a:p>
            <a:pPr lvl="3"/>
            <a:r>
              <a:rPr lang="zh-CN" altLang="en-US" sz="1800" b="1" dirty="0">
                <a:ea typeface="宋体" panose="02010600030101010101" pitchFamily="2" charset="-122"/>
              </a:rPr>
              <a:t>程序难于调试</a:t>
            </a:r>
            <a:endParaRPr lang="zh-CN" altLang="en-US" sz="1800" b="1" dirty="0">
              <a:ea typeface="宋体" panose="02010600030101010101" pitchFamily="2" charset="-122"/>
            </a:endParaRPr>
          </a:p>
          <a:p>
            <a:pPr lvl="4"/>
            <a:r>
              <a:rPr lang="zh-CN" altLang="en-US" sz="1600" b="1" dirty="0">
                <a:ea typeface="宋体" panose="02010600030101010101" pitchFamily="2" charset="-122"/>
              </a:rPr>
              <a:t>动态执行路径不能覆盖所有的程序路径，所以测试不完全</a:t>
            </a:r>
            <a:endParaRPr lang="zh-CN" altLang="en-US" sz="1600" b="1" dirty="0">
              <a:ea typeface="宋体" panose="02010600030101010101" pitchFamily="2" charset="-122"/>
            </a:endParaRPr>
          </a:p>
          <a:p>
            <a:pPr lvl="3"/>
            <a:r>
              <a:rPr lang="zh-CN" altLang="en-US" sz="1800" b="1" dirty="0">
                <a:ea typeface="宋体" panose="02010600030101010101" pitchFamily="2" charset="-122"/>
              </a:rPr>
              <a:t>需要在程序执行过程中保存类型信息</a:t>
            </a:r>
            <a:endParaRPr lang="zh-CN" altLang="en-US" sz="1800" b="1" dirty="0">
              <a:ea typeface="宋体" panose="02010600030101010101" pitchFamily="2" charset="-122"/>
            </a:endParaRPr>
          </a:p>
          <a:p>
            <a:pPr lvl="3"/>
            <a:r>
              <a:rPr lang="zh-CN" altLang="en-US" sz="1800" b="1" dirty="0">
                <a:ea typeface="宋体" panose="02010600030101010101" pitchFamily="2" charset="-122"/>
              </a:rPr>
              <a:t>很少有底层硬件的支持，通过软件实现，程序的执行速度降低不少</a:t>
            </a:r>
            <a:endParaRPr lang="zh-CN" altLang="en-US" sz="1800" b="1" dirty="0">
              <a:ea typeface="宋体" panose="02010600030101010101" pitchFamily="2" charset="-122"/>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类型系统（12）</a:t>
            </a:r>
            <a:endParaRPr lang="zh-CN" altLang="en-US" dirty="0">
              <a:latin typeface="Times New Roman" panose="02020603050405020304" pitchFamily="18" charset="0"/>
              <a:ea typeface="宋体" panose="02010600030101010101" pitchFamily="2" charset="-122"/>
            </a:endParaRPr>
          </a:p>
        </p:txBody>
      </p:sp>
      <p:sp>
        <p:nvSpPr>
          <p:cNvPr id="88067" name="Rectangle 3"/>
          <p:cNvSpPr>
            <a:spLocks noGrp="1"/>
          </p:cNvSpPr>
          <p:nvPr>
            <p:ph idx="1"/>
          </p:nvPr>
        </p:nvSpPr>
        <p:spPr>
          <a:xfrm>
            <a:off x="755650" y="1676400"/>
            <a:ext cx="7848600" cy="4724400"/>
          </a:xfrm>
        </p:spPr>
        <p:txBody>
          <a:bodyPr vert="horz" wrap="square" lIns="92075" tIns="46038" rIns="92075" bIns="46038" anchor="t" anchorCtr="0"/>
          <a:p>
            <a:r>
              <a:rPr lang="zh-CN" altLang="en-US" sz="2400" b="1" dirty="0">
                <a:solidFill>
                  <a:srgbClr val="063DE8"/>
                </a:solidFill>
                <a:ea typeface="宋体" panose="02010600030101010101" pitchFamily="2" charset="-122"/>
              </a:rPr>
              <a:t>健全</a:t>
            </a:r>
            <a:r>
              <a:rPr lang="zh-CN" altLang="en-US" sz="2400" b="1" dirty="0">
                <a:ea typeface="宋体" panose="02010600030101010101" pitchFamily="2" charset="-122"/>
              </a:rPr>
              <a:t>的类型系统</a:t>
            </a:r>
            <a:endParaRPr lang="zh-CN" altLang="en-US" sz="2400" b="1" dirty="0">
              <a:ea typeface="宋体" panose="02010600030101010101" pitchFamily="2" charset="-122"/>
            </a:endParaRPr>
          </a:p>
          <a:p>
            <a:pPr lvl="1"/>
            <a:r>
              <a:rPr lang="zh-CN" altLang="en-US" sz="2200" b="1" dirty="0">
                <a:ea typeface="宋体" panose="02010600030101010101" pitchFamily="2" charset="-122"/>
              </a:rPr>
              <a:t>由于允许静态地确定这些错误是否在程序运行时发生，不需要动态检查类型错误，称为</a:t>
            </a:r>
            <a:r>
              <a:rPr lang="zh-CN" altLang="en-US" sz="2200" b="1" dirty="0">
                <a:solidFill>
                  <a:srgbClr val="063DE8"/>
                </a:solidFill>
                <a:ea typeface="宋体" panose="02010600030101010101" pitchFamily="2" charset="-122"/>
              </a:rPr>
              <a:t>健全</a:t>
            </a:r>
            <a:r>
              <a:rPr lang="zh-CN" altLang="en-US" sz="2200" b="1" dirty="0">
                <a:ea typeface="宋体" panose="02010600030101010101" pitchFamily="2" charset="-122"/>
              </a:rPr>
              <a:t>的类型系统</a:t>
            </a:r>
            <a:endParaRPr lang="zh-CN" altLang="en-US" sz="2200" b="1" dirty="0">
              <a:ea typeface="宋体" panose="02010600030101010101" pitchFamily="2" charset="-122"/>
            </a:endParaRPr>
          </a:p>
          <a:p>
            <a:pPr lvl="1"/>
            <a:r>
              <a:rPr lang="zh-CN" altLang="en-US" sz="2200" b="1" dirty="0">
                <a:ea typeface="宋体" panose="02010600030101010101" pitchFamily="2" charset="-122"/>
              </a:rPr>
              <a:t>强类型化</a:t>
            </a:r>
            <a:endParaRPr lang="zh-CN" altLang="en-US" sz="2200" b="1" dirty="0">
              <a:ea typeface="宋体" panose="02010600030101010101" pitchFamily="2" charset="-122"/>
            </a:endParaRPr>
          </a:p>
          <a:p>
            <a:pPr lvl="2"/>
            <a:r>
              <a:rPr lang="zh-CN" altLang="en-US" sz="2000" b="1" dirty="0">
                <a:ea typeface="宋体" panose="02010600030101010101" pitchFamily="2" charset="-122"/>
              </a:rPr>
              <a:t>如果一个语言的编译器可以保证它所接受的程序不会有运行时的类型错误，则称这个语言是强类型的</a:t>
            </a:r>
            <a:endParaRPr lang="zh-CN" altLang="en-US" sz="2000" b="1" dirty="0">
              <a:ea typeface="宋体" panose="02010600030101010101" pitchFamily="2" charset="-122"/>
            </a:endParaRPr>
          </a:p>
          <a:p>
            <a:pPr lvl="2"/>
            <a:r>
              <a:rPr lang="zh-CN" altLang="en-US" sz="2000" b="1" dirty="0">
                <a:ea typeface="宋体" panose="02010600030101010101" pitchFamily="2" charset="-122"/>
              </a:rPr>
              <a:t>很少有语言是强类型的</a:t>
            </a:r>
            <a:endParaRPr lang="zh-CN" altLang="en-US" sz="2000" b="1" dirty="0">
              <a:ea typeface="宋体" panose="02010600030101010101" pitchFamily="2" charset="-122"/>
            </a:endParaRPr>
          </a:p>
          <a:p>
            <a:pPr lvl="3"/>
            <a:r>
              <a:rPr lang="zh-CN" altLang="en-US" sz="1800" b="1" dirty="0">
                <a:ea typeface="宋体" panose="02010600030101010101" pitchFamily="2" charset="-122"/>
              </a:rPr>
              <a:t>如</a:t>
            </a:r>
            <a:r>
              <a:rPr lang="en-US" altLang="zh-CN" sz="1800" b="1" dirty="0">
                <a:ea typeface="宋体" panose="02010600030101010101" pitchFamily="2" charset="-122"/>
              </a:rPr>
              <a:t>C</a:t>
            </a:r>
            <a:r>
              <a:rPr lang="zh-CN" altLang="en-US" sz="1800" b="1" dirty="0">
                <a:ea typeface="宋体" panose="02010600030101010101" pitchFamily="2" charset="-122"/>
              </a:rPr>
              <a:t>语言，数组的引用、两个</a:t>
            </a:r>
            <a:r>
              <a:rPr lang="en-US" altLang="zh-CN" sz="1800" b="1" dirty="0">
                <a:ea typeface="宋体" panose="02010600030101010101" pitchFamily="2" charset="-122"/>
              </a:rPr>
              <a:t>short</a:t>
            </a:r>
            <a:r>
              <a:rPr lang="zh-CN" altLang="en-US" sz="1800" b="1" dirty="0">
                <a:ea typeface="宋体" panose="02010600030101010101" pitchFamily="2" charset="-122"/>
              </a:rPr>
              <a:t>型变量操作的结果可能不是</a:t>
            </a:r>
            <a:r>
              <a:rPr lang="en-US" altLang="zh-CN" sz="1800" b="1" dirty="0">
                <a:ea typeface="宋体" panose="02010600030101010101" pitchFamily="2" charset="-122"/>
              </a:rPr>
              <a:t>short</a:t>
            </a:r>
            <a:r>
              <a:rPr lang="zh-CN" altLang="en-US" sz="1800" b="1" dirty="0">
                <a:ea typeface="宋体" panose="02010600030101010101" pitchFamily="2" charset="-122"/>
              </a:rPr>
              <a:t>型的等</a:t>
            </a:r>
            <a:endParaRPr lang="zh-CN" altLang="en-US" sz="1800" b="1" dirty="0">
              <a:ea typeface="宋体" panose="02010600030101010101" pitchFamily="2" charset="-122"/>
            </a:endParaRPr>
          </a:p>
          <a:p>
            <a:pPr lvl="2"/>
            <a:r>
              <a:rPr lang="zh-CN" altLang="en-US" sz="2000" b="1" dirty="0">
                <a:ea typeface="宋体" panose="02010600030101010101" pitchFamily="2" charset="-122"/>
              </a:rPr>
              <a:t>可以通过限制类型之间的转换，近似地认为是强类型的，如</a:t>
            </a:r>
            <a:r>
              <a:rPr lang="en-US" altLang="zh-CN" sz="2000" b="1" dirty="0">
                <a:ea typeface="宋体" panose="02010600030101010101" pitchFamily="2" charset="-122"/>
              </a:rPr>
              <a:t>C</a:t>
            </a:r>
            <a:r>
              <a:rPr lang="zh-CN" altLang="en-US" sz="2000" b="1" dirty="0">
                <a:ea typeface="宋体" panose="02010600030101010101" pitchFamily="2" charset="-122"/>
              </a:rPr>
              <a:t>语言</a:t>
            </a:r>
            <a:endParaRPr lang="zh-CN" altLang="en-US" sz="2000" b="1" dirty="0">
              <a:ea typeface="宋体" panose="02010600030101010101" pitchFamily="2" charset="-122"/>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类型表达式的等价（1）</a:t>
            </a:r>
            <a:endParaRPr lang="zh-CN" altLang="en-US" dirty="0">
              <a:latin typeface="Times New Roman" panose="02020603050405020304" pitchFamily="18" charset="0"/>
              <a:ea typeface="宋体" panose="02010600030101010101" pitchFamily="2" charset="-122"/>
            </a:endParaRPr>
          </a:p>
        </p:txBody>
      </p:sp>
      <p:sp>
        <p:nvSpPr>
          <p:cNvPr id="90115" name="Rectangle 3"/>
          <p:cNvSpPr>
            <a:spLocks noGrp="1"/>
          </p:cNvSpPr>
          <p:nvPr>
            <p:ph idx="1"/>
          </p:nvPr>
        </p:nvSpPr>
        <p:spPr>
          <a:xfrm>
            <a:off x="990600" y="1676400"/>
            <a:ext cx="7391400" cy="4419600"/>
          </a:xfrm>
        </p:spPr>
        <p:txBody>
          <a:bodyPr vert="horz" wrap="square" lIns="92075" tIns="46038" rIns="92075" bIns="46038" anchor="t" anchorCtr="0"/>
          <a:p>
            <a:pPr>
              <a:lnSpc>
                <a:spcPct val="90000"/>
              </a:lnSpc>
            </a:pPr>
            <a:r>
              <a:rPr lang="zh-CN" altLang="en-US" sz="2400" b="1" dirty="0">
                <a:ea typeface="宋体" panose="02010600030101010101" pitchFamily="2" charset="-122"/>
              </a:rPr>
              <a:t>类型等价</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类型检查经常要面临的问题：</a:t>
            </a:r>
            <a:endParaRPr lang="zh-CN" altLang="en-US" sz="2200" b="1" dirty="0">
              <a:ea typeface="宋体" panose="02010600030101010101" pitchFamily="2" charset="-122"/>
            </a:endParaRPr>
          </a:p>
          <a:p>
            <a:pPr lvl="1">
              <a:lnSpc>
                <a:spcPct val="90000"/>
              </a:lnSpc>
              <a:buNone/>
            </a:pPr>
            <a:r>
              <a:rPr lang="zh-CN" altLang="en-US" sz="2000" b="1" dirty="0">
                <a:ea typeface="宋体" panose="02010600030101010101" pitchFamily="2" charset="-122"/>
              </a:rPr>
              <a:t>	两个类型表达式是否表示相同的类型</a:t>
            </a:r>
            <a:endParaRPr lang="zh-CN" altLang="en-US" sz="2000" b="1" dirty="0">
              <a:ea typeface="宋体" panose="02010600030101010101" pitchFamily="2" charset="-122"/>
            </a:endParaRPr>
          </a:p>
          <a:p>
            <a:pPr lvl="3">
              <a:lnSpc>
                <a:spcPct val="90000"/>
              </a:lnSpc>
              <a:buFont typeface="Wingdings" panose="05000000000000000000" pitchFamily="2" charset="2"/>
              <a:buNone/>
            </a:pPr>
            <a:r>
              <a:rPr lang="en-US" altLang="zh-CN" b="1" dirty="0">
                <a:ea typeface="宋体" panose="02010600030101010101" pitchFamily="2" charset="-122"/>
              </a:rPr>
              <a:t>struct t1 {			struct t2 {</a:t>
            </a:r>
            <a:endParaRPr lang="en-US" altLang="zh-CN" b="1" dirty="0">
              <a:ea typeface="宋体" panose="02010600030101010101" pitchFamily="2" charset="-122"/>
            </a:endParaRPr>
          </a:p>
          <a:p>
            <a:pPr lvl="3">
              <a:lnSpc>
                <a:spcPct val="90000"/>
              </a:lnSpc>
              <a:buFont typeface="Wingdings" panose="05000000000000000000" pitchFamily="2" charset="2"/>
              <a:buNone/>
            </a:pPr>
            <a:r>
              <a:rPr lang="en-US" altLang="zh-CN" b="1" dirty="0">
                <a:ea typeface="宋体" panose="02010600030101010101" pitchFamily="2" charset="-122"/>
              </a:rPr>
              <a:t>	int x;				int x1;</a:t>
            </a:r>
            <a:endParaRPr lang="en-US" altLang="zh-CN" b="1" dirty="0">
              <a:ea typeface="宋体" panose="02010600030101010101" pitchFamily="2" charset="-122"/>
            </a:endParaRPr>
          </a:p>
          <a:p>
            <a:pPr lvl="3">
              <a:lnSpc>
                <a:spcPct val="90000"/>
              </a:lnSpc>
              <a:buFont typeface="Wingdings" panose="05000000000000000000" pitchFamily="2" charset="2"/>
              <a:buNone/>
            </a:pPr>
            <a:r>
              <a:rPr lang="en-US" altLang="zh-CN" b="1" dirty="0">
                <a:ea typeface="宋体" panose="02010600030101010101" pitchFamily="2" charset="-122"/>
              </a:rPr>
              <a:t>	int y[100];				int y1[100];</a:t>
            </a:r>
            <a:endParaRPr lang="en-US" altLang="zh-CN" b="1" dirty="0">
              <a:ea typeface="宋体" panose="02010600030101010101" pitchFamily="2" charset="-122"/>
            </a:endParaRPr>
          </a:p>
          <a:p>
            <a:pPr lvl="3">
              <a:lnSpc>
                <a:spcPct val="90000"/>
              </a:lnSpc>
              <a:buFont typeface="Wingdings" panose="05000000000000000000" pitchFamily="2" charset="2"/>
              <a:buNone/>
            </a:pPr>
            <a:r>
              <a:rPr lang="en-US" altLang="zh-CN" b="1" dirty="0">
                <a:ea typeface="宋体" panose="02010600030101010101" pitchFamily="2" charset="-122"/>
              </a:rPr>
              <a:t>};					};</a:t>
            </a:r>
            <a:endParaRPr lang="en-US" altLang="zh-CN" b="1" dirty="0">
              <a:ea typeface="宋体" panose="02010600030101010101" pitchFamily="2" charset="-122"/>
            </a:endParaRPr>
          </a:p>
          <a:p>
            <a:pPr lvl="1">
              <a:lnSpc>
                <a:spcPct val="90000"/>
              </a:lnSpc>
            </a:pPr>
            <a:r>
              <a:rPr lang="zh-CN" altLang="en-US" sz="2200" b="1" dirty="0">
                <a:ea typeface="宋体" panose="02010600030101010101" pitchFamily="2" charset="-122"/>
              </a:rPr>
              <a:t>类型等价和类型表示是相互影响的</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类型等价的常用形式</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结构等价</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名字等价</a:t>
            </a:r>
            <a:endParaRPr lang="zh-CN" altLang="en-US" sz="2000" b="1" dirty="0">
              <a:ea typeface="宋体" panose="02010600030101010101" pitchFamily="2" charset="-122"/>
            </a:endParaRPr>
          </a:p>
          <a:p>
            <a:pPr lvl="1">
              <a:lnSpc>
                <a:spcPct val="90000"/>
              </a:lnSpc>
            </a:pPr>
            <a:r>
              <a:rPr lang="zh-CN" altLang="en-US" sz="2200" b="1" dirty="0">
                <a:ea typeface="宋体" panose="02010600030101010101" pitchFamily="2" charset="-122"/>
              </a:rPr>
              <a:t>在类型等价中，递归定义如何处理</a:t>
            </a:r>
            <a:endParaRPr lang="zh-CN" altLang="en-US" sz="2200" b="1" dirty="0">
              <a:ea typeface="宋体" panose="02010600030101010101" pitchFamily="2" charset="-122"/>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类型表达式的等价（2）</a:t>
            </a:r>
            <a:endParaRPr lang="zh-CN" altLang="en-US" dirty="0">
              <a:latin typeface="Times New Roman" panose="02020603050405020304" pitchFamily="18" charset="0"/>
              <a:ea typeface="宋体" panose="02010600030101010101" pitchFamily="2" charset="-122"/>
            </a:endParaRPr>
          </a:p>
        </p:txBody>
      </p:sp>
      <p:sp>
        <p:nvSpPr>
          <p:cNvPr id="92163" name="Rectangle 3"/>
          <p:cNvSpPr>
            <a:spLocks noGrp="1"/>
          </p:cNvSpPr>
          <p:nvPr>
            <p:ph idx="1"/>
          </p:nvPr>
        </p:nvSpPr>
        <p:spPr>
          <a:xfrm>
            <a:off x="684213" y="1524000"/>
            <a:ext cx="7697787" cy="4572000"/>
          </a:xfrm>
        </p:spPr>
        <p:txBody>
          <a:bodyPr vert="horz" wrap="square" lIns="92075" tIns="46038" rIns="92075" bIns="46038" anchor="t" anchorCtr="0"/>
          <a:p>
            <a:r>
              <a:rPr lang="zh-CN" altLang="en-US" sz="2400" b="1" dirty="0">
                <a:ea typeface="宋体" panose="02010600030101010101" pitchFamily="2" charset="-122"/>
              </a:rPr>
              <a:t>类型表达式的结构等价</a:t>
            </a:r>
            <a:endParaRPr lang="zh-CN" altLang="en-US" sz="2400" b="1" dirty="0">
              <a:ea typeface="宋体" panose="02010600030101010101" pitchFamily="2" charset="-122"/>
            </a:endParaRPr>
          </a:p>
          <a:p>
            <a:pPr lvl="1"/>
            <a:r>
              <a:rPr lang="zh-CN" altLang="en-US" sz="2200" b="1" dirty="0">
                <a:ea typeface="宋体" panose="02010600030101010101" pitchFamily="2" charset="-122"/>
              </a:rPr>
              <a:t>结构等价的定义</a:t>
            </a:r>
            <a:endParaRPr lang="zh-CN" altLang="en-US" sz="2200" b="1" dirty="0">
              <a:ea typeface="宋体" panose="02010600030101010101" pitchFamily="2" charset="-122"/>
            </a:endParaRPr>
          </a:p>
          <a:p>
            <a:pPr lvl="2"/>
            <a:r>
              <a:rPr lang="zh-CN" altLang="en-US" sz="2000" b="1" dirty="0">
                <a:ea typeface="宋体" panose="02010600030101010101" pitchFamily="2" charset="-122"/>
              </a:rPr>
              <a:t>两个类型表达式是同样的基本类型</a:t>
            </a:r>
            <a:endParaRPr lang="zh-CN" altLang="en-US" sz="2000" b="1" dirty="0">
              <a:ea typeface="宋体" panose="02010600030101010101" pitchFamily="2" charset="-122"/>
            </a:endParaRPr>
          </a:p>
          <a:p>
            <a:pPr lvl="2"/>
            <a:r>
              <a:rPr lang="zh-CN" altLang="en-US" sz="2000" b="1" dirty="0">
                <a:ea typeface="宋体" panose="02010600030101010101" pitchFamily="2" charset="-122"/>
              </a:rPr>
              <a:t>或两个类型表达式是同样的类型构造器作用于结构等价的类型</a:t>
            </a:r>
            <a:endParaRPr lang="zh-CN" altLang="en-US" sz="2000" b="1" dirty="0">
              <a:ea typeface="宋体" panose="02010600030101010101" pitchFamily="2" charset="-122"/>
            </a:endParaRPr>
          </a:p>
          <a:p>
            <a:pPr lvl="2"/>
            <a:r>
              <a:rPr lang="zh-CN" altLang="en-US" sz="2000" b="1" dirty="0">
                <a:ea typeface="宋体" panose="02010600030101010101" pitchFamily="2" charset="-122"/>
              </a:rPr>
              <a:t>即两个类型表达式是完全相同的</a:t>
            </a:r>
            <a:endParaRPr lang="zh-CN" altLang="en-US" sz="2000" b="1" dirty="0">
              <a:ea typeface="宋体" panose="02010600030101010101" pitchFamily="2" charset="-122"/>
            </a:endParaRPr>
          </a:p>
          <a:p>
            <a:pPr lvl="3"/>
            <a:r>
              <a:rPr lang="zh-CN" altLang="en-US" sz="1800" b="1" dirty="0">
                <a:ea typeface="宋体" panose="02010600030101010101" pitchFamily="2" charset="-122"/>
              </a:rPr>
              <a:t>如</a:t>
            </a:r>
            <a:r>
              <a:rPr lang="en-US" altLang="zh-CN" sz="1800" b="1" dirty="0">
                <a:ea typeface="宋体" panose="02010600030101010101" pitchFamily="2" charset="-122"/>
              </a:rPr>
              <a:t>integer</a:t>
            </a:r>
            <a:r>
              <a:rPr lang="zh-CN" altLang="en-US" sz="1800" b="1" dirty="0">
                <a:ea typeface="宋体" panose="02010600030101010101" pitchFamily="2" charset="-122"/>
              </a:rPr>
              <a:t>只等价于</a:t>
            </a:r>
            <a:r>
              <a:rPr lang="en-US" altLang="zh-CN" sz="1800" b="1" dirty="0">
                <a:ea typeface="宋体" panose="02010600030101010101" pitchFamily="2" charset="-122"/>
              </a:rPr>
              <a:t>integer，pointer(integer)</a:t>
            </a:r>
            <a:r>
              <a:rPr lang="zh-CN" altLang="en-US" sz="1800" b="1" dirty="0">
                <a:ea typeface="宋体" panose="02010600030101010101" pitchFamily="2" charset="-122"/>
              </a:rPr>
              <a:t>只等价于</a:t>
            </a:r>
            <a:r>
              <a:rPr lang="en-US" altLang="zh-CN" sz="1800" b="1" dirty="0">
                <a:ea typeface="宋体" panose="02010600030101010101" pitchFamily="2" charset="-122"/>
              </a:rPr>
              <a:t>pointer(integer)</a:t>
            </a:r>
            <a:r>
              <a:rPr lang="zh-CN" altLang="en-US" sz="1800" b="1" dirty="0">
                <a:ea typeface="宋体" panose="02010600030101010101" pitchFamily="2" charset="-122"/>
              </a:rPr>
              <a:t>等</a:t>
            </a:r>
            <a:endParaRPr lang="zh-CN" altLang="en-US" sz="1800" b="1" dirty="0">
              <a:ea typeface="宋体" panose="02010600030101010101" pitchFamily="2" charset="-122"/>
            </a:endParaRPr>
          </a:p>
          <a:p>
            <a:pPr lvl="1"/>
            <a:r>
              <a:rPr lang="zh-CN" altLang="en-US" sz="2200" b="1" dirty="0">
                <a:ea typeface="宋体" panose="02010600030101010101" pitchFamily="2" charset="-122"/>
              </a:rPr>
              <a:t>当类型表达式仅由类型构造器作用于基本类型组成时，可以使用这种等价的概念</a:t>
            </a:r>
            <a:endParaRPr lang="zh-CN" altLang="en-US" sz="2200" b="1" dirty="0">
              <a:ea typeface="宋体" panose="02010600030101010101" pitchFamily="2" charset="-122"/>
            </a:endParaRPr>
          </a:p>
          <a:p>
            <a:pPr lvl="1"/>
            <a:r>
              <a:rPr lang="zh-CN" altLang="en-US" sz="2200" b="1" dirty="0">
                <a:ea typeface="宋体" panose="02010600030101010101" pitchFamily="2" charset="-122"/>
              </a:rPr>
              <a:t>在实际实现时可能要放宽限制，如参数数组的界可以不考虑</a:t>
            </a:r>
            <a:endParaRPr lang="en-US" altLang="zh-CN" sz="2200" b="1" dirty="0">
              <a:ea typeface="宋体" panose="02010600030101010101" pitchFamily="2" charset="-122"/>
            </a:endParaRPr>
          </a:p>
          <a:p>
            <a:pPr lvl="1"/>
            <a:r>
              <a:rPr lang="zh-CN" altLang="en-US" sz="2200" b="1" dirty="0">
                <a:ea typeface="宋体" panose="02010600030101010101" pitchFamily="2" charset="-122"/>
              </a:rPr>
              <a:t>类型的合一替换中采用了结构等价</a:t>
            </a:r>
            <a:endParaRPr lang="zh-CN" altLang="en-US" sz="2200" b="1" dirty="0">
              <a:ea typeface="宋体" panose="02010600030101010101" pitchFamily="2" charset="-122"/>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类型表达式的等价（3）</a:t>
            </a:r>
            <a:endParaRPr lang="zh-CN" altLang="en-US" dirty="0">
              <a:latin typeface="Times New Roman" panose="02020603050405020304" pitchFamily="18" charset="0"/>
              <a:ea typeface="宋体" panose="02010600030101010101" pitchFamily="2" charset="-122"/>
            </a:endParaRPr>
          </a:p>
        </p:txBody>
      </p:sp>
      <p:sp>
        <p:nvSpPr>
          <p:cNvPr id="94211" name="Rectangle 3"/>
          <p:cNvSpPr>
            <a:spLocks noGrp="1"/>
          </p:cNvSpPr>
          <p:nvPr>
            <p:ph idx="1"/>
          </p:nvPr>
        </p:nvSpPr>
        <p:spPr>
          <a:xfrm>
            <a:off x="990600" y="1524000"/>
            <a:ext cx="7391400" cy="4800600"/>
          </a:xfrm>
        </p:spPr>
        <p:txBody>
          <a:bodyPr vert="horz" wrap="square" lIns="92075" tIns="46038" rIns="92075" bIns="46038" anchor="t" anchorCtr="0"/>
          <a:p>
            <a:pPr>
              <a:lnSpc>
                <a:spcPct val="90000"/>
              </a:lnSpc>
            </a:pPr>
            <a:r>
              <a:rPr lang="zh-CN" altLang="en-US" sz="2400" b="1" dirty="0">
                <a:ea typeface="宋体" panose="02010600030101010101" pitchFamily="2" charset="-122"/>
              </a:rPr>
              <a:t>结构等价的测试，两个类型表达式</a:t>
            </a:r>
            <a:r>
              <a:rPr lang="en-US" altLang="zh-CN" sz="2400" b="1" dirty="0">
                <a:ea typeface="宋体" panose="02010600030101010101" pitchFamily="2" charset="-122"/>
              </a:rPr>
              <a:t>s</a:t>
            </a:r>
            <a:r>
              <a:rPr lang="zh-CN" altLang="en-US" sz="2400" b="1" dirty="0">
                <a:ea typeface="宋体" panose="02010600030101010101" pitchFamily="2" charset="-122"/>
              </a:rPr>
              <a:t>和</a:t>
            </a:r>
            <a:r>
              <a:rPr lang="en-US" altLang="zh-CN" sz="2400" b="1" dirty="0">
                <a:ea typeface="宋体" panose="02010600030101010101" pitchFamily="2" charset="-122"/>
              </a:rPr>
              <a:t>t</a:t>
            </a:r>
            <a:endParaRPr lang="en-US" altLang="zh-CN" sz="24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function sequiv( s , t ) : boolean;</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begin</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if s</a:t>
            </a:r>
            <a:r>
              <a:rPr lang="zh-CN" altLang="en-US" sz="1800" b="1" dirty="0">
                <a:ea typeface="宋体" panose="02010600030101010101" pitchFamily="2" charset="-122"/>
              </a:rPr>
              <a:t>和</a:t>
            </a:r>
            <a:r>
              <a:rPr lang="en-US" altLang="zh-CN" sz="1800" b="1" dirty="0">
                <a:ea typeface="宋体" panose="02010600030101010101" pitchFamily="2" charset="-122"/>
              </a:rPr>
              <a:t>t</a:t>
            </a:r>
            <a:r>
              <a:rPr lang="zh-CN" altLang="en-US" sz="1800" b="1" dirty="0">
                <a:ea typeface="宋体" panose="02010600030101010101" pitchFamily="2" charset="-122"/>
              </a:rPr>
              <a:t>是相同的基本类型 </a:t>
            </a:r>
            <a:r>
              <a:rPr lang="en-US" altLang="zh-CN" sz="1800" b="1" dirty="0">
                <a:ea typeface="宋体" panose="02010600030101010101" pitchFamily="2" charset="-122"/>
              </a:rPr>
              <a:t>then</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return true</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else if s = </a:t>
            </a:r>
            <a:r>
              <a:rPr lang="en-US" altLang="zh-CN" sz="1800" b="1" i="1" dirty="0">
                <a:ea typeface="宋体" panose="02010600030101010101" pitchFamily="2" charset="-122"/>
              </a:rPr>
              <a:t>array</a:t>
            </a:r>
            <a:r>
              <a:rPr lang="en-US" altLang="zh-CN" sz="1800" b="1" dirty="0">
                <a:ea typeface="宋体" panose="02010600030101010101" pitchFamily="2" charset="-122"/>
              </a:rPr>
              <a:t>( s</a:t>
            </a:r>
            <a:r>
              <a:rPr lang="en-US" altLang="zh-CN" sz="1800" b="1" baseline="-25000" dirty="0">
                <a:ea typeface="宋体" panose="02010600030101010101" pitchFamily="2" charset="-122"/>
              </a:rPr>
              <a:t>1</a:t>
            </a:r>
            <a:r>
              <a:rPr lang="en-US" altLang="zh-CN" sz="1800" b="1" dirty="0">
                <a:ea typeface="宋体" panose="02010600030101010101" pitchFamily="2" charset="-122"/>
              </a:rPr>
              <a:t> , s</a:t>
            </a:r>
            <a:r>
              <a:rPr lang="en-US" altLang="zh-CN" sz="1800" b="1" baseline="-25000" dirty="0">
                <a:ea typeface="宋体" panose="02010600030101010101" pitchFamily="2" charset="-122"/>
              </a:rPr>
              <a:t>2</a:t>
            </a:r>
            <a:r>
              <a:rPr lang="en-US" altLang="zh-CN" sz="1800" b="1" dirty="0">
                <a:ea typeface="宋体" panose="02010600030101010101" pitchFamily="2" charset="-122"/>
              </a:rPr>
              <a:t> ) and t = </a:t>
            </a:r>
            <a:r>
              <a:rPr lang="en-US" altLang="zh-CN" sz="1800" b="1" i="1" dirty="0">
                <a:ea typeface="宋体" panose="02010600030101010101" pitchFamily="2" charset="-122"/>
              </a:rPr>
              <a:t>array</a:t>
            </a:r>
            <a:r>
              <a:rPr lang="en-US" altLang="zh-CN" sz="1800" b="1" dirty="0">
                <a:ea typeface="宋体" panose="02010600030101010101" pitchFamily="2" charset="-122"/>
              </a:rPr>
              <a:t>( t</a:t>
            </a:r>
            <a:r>
              <a:rPr lang="en-US" altLang="zh-CN" sz="1800" b="1" baseline="-25000" dirty="0">
                <a:ea typeface="宋体" panose="02010600030101010101" pitchFamily="2" charset="-122"/>
              </a:rPr>
              <a:t>1</a:t>
            </a:r>
            <a:r>
              <a:rPr lang="en-US" altLang="zh-CN" sz="1800" b="1" dirty="0">
                <a:ea typeface="宋体" panose="02010600030101010101" pitchFamily="2" charset="-122"/>
              </a:rPr>
              <a:t> , t</a:t>
            </a:r>
            <a:r>
              <a:rPr lang="en-US" altLang="zh-CN" sz="1800" b="1" baseline="-25000" dirty="0">
                <a:ea typeface="宋体" panose="02010600030101010101" pitchFamily="2" charset="-122"/>
              </a:rPr>
              <a:t>2</a:t>
            </a:r>
            <a:r>
              <a:rPr lang="en-US" altLang="zh-CN" sz="1800" b="1" dirty="0">
                <a:ea typeface="宋体" panose="02010600030101010101" pitchFamily="2" charset="-122"/>
              </a:rPr>
              <a:t> )  then</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return sequiv( s</a:t>
            </a:r>
            <a:r>
              <a:rPr lang="en-US" altLang="zh-CN" sz="1800" b="1" baseline="-25000" dirty="0">
                <a:ea typeface="宋体" panose="02010600030101010101" pitchFamily="2" charset="-122"/>
              </a:rPr>
              <a:t>1</a:t>
            </a:r>
            <a:r>
              <a:rPr lang="en-US" altLang="zh-CN" sz="1800" b="1" dirty="0">
                <a:ea typeface="宋体" panose="02010600030101010101" pitchFamily="2" charset="-122"/>
              </a:rPr>
              <a:t> , t</a:t>
            </a:r>
            <a:r>
              <a:rPr lang="en-US" altLang="zh-CN" sz="1800" b="1" baseline="-25000" dirty="0">
                <a:ea typeface="宋体" panose="02010600030101010101" pitchFamily="2" charset="-122"/>
              </a:rPr>
              <a:t>1</a:t>
            </a:r>
            <a:r>
              <a:rPr lang="en-US" altLang="zh-CN" sz="1800" b="1" dirty="0">
                <a:ea typeface="宋体" panose="02010600030101010101" pitchFamily="2" charset="-122"/>
              </a:rPr>
              <a:t> ) and sequiv( s</a:t>
            </a:r>
            <a:r>
              <a:rPr lang="en-US" altLang="zh-CN" sz="1800" b="1" baseline="-25000" dirty="0">
                <a:ea typeface="宋体" panose="02010600030101010101" pitchFamily="2" charset="-122"/>
              </a:rPr>
              <a:t>2</a:t>
            </a:r>
            <a:r>
              <a:rPr lang="en-US" altLang="zh-CN" sz="1800" b="1" dirty="0">
                <a:ea typeface="宋体" panose="02010600030101010101" pitchFamily="2" charset="-122"/>
              </a:rPr>
              <a:t> , t</a:t>
            </a:r>
            <a:r>
              <a:rPr lang="en-US" altLang="zh-CN" sz="1800" b="1" baseline="-25000" dirty="0">
                <a:ea typeface="宋体" panose="02010600030101010101" pitchFamily="2" charset="-122"/>
              </a:rPr>
              <a:t>2</a:t>
            </a:r>
            <a:r>
              <a:rPr lang="en-US" altLang="zh-CN" sz="1800" b="1" dirty="0">
                <a:ea typeface="宋体" panose="02010600030101010101" pitchFamily="2" charset="-122"/>
              </a:rPr>
              <a:t> )</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else if s = s</a:t>
            </a:r>
            <a:r>
              <a:rPr lang="en-US" altLang="zh-CN" sz="1800" b="1" baseline="-25000" dirty="0">
                <a:ea typeface="宋体" panose="02010600030101010101" pitchFamily="2" charset="-122"/>
              </a:rPr>
              <a:t>1</a:t>
            </a:r>
            <a:r>
              <a:rPr lang="en-US" altLang="zh-CN" sz="1800" b="1" dirty="0">
                <a:ea typeface="宋体" panose="02010600030101010101" pitchFamily="2" charset="-122"/>
              </a:rPr>
              <a:t> × s</a:t>
            </a:r>
            <a:r>
              <a:rPr lang="en-US" altLang="zh-CN" sz="1800" b="1" baseline="-25000" dirty="0">
                <a:ea typeface="宋体" panose="02010600030101010101" pitchFamily="2" charset="-122"/>
              </a:rPr>
              <a:t>2</a:t>
            </a:r>
            <a:r>
              <a:rPr lang="en-US" altLang="zh-CN" sz="1800" b="1" dirty="0">
                <a:ea typeface="宋体" panose="02010600030101010101" pitchFamily="2" charset="-122"/>
              </a:rPr>
              <a:t> and t = t</a:t>
            </a:r>
            <a:r>
              <a:rPr lang="en-US" altLang="zh-CN" sz="1800" b="1" baseline="-25000" dirty="0">
                <a:ea typeface="宋体" panose="02010600030101010101" pitchFamily="2" charset="-122"/>
              </a:rPr>
              <a:t>1</a:t>
            </a:r>
            <a:r>
              <a:rPr lang="en-US" altLang="zh-CN" sz="1800" b="1" dirty="0">
                <a:ea typeface="宋体" panose="02010600030101010101" pitchFamily="2" charset="-122"/>
              </a:rPr>
              <a:t> × t</a:t>
            </a:r>
            <a:r>
              <a:rPr lang="en-US" altLang="zh-CN" sz="1800" b="1" baseline="-25000" dirty="0">
                <a:ea typeface="宋体" panose="02010600030101010101" pitchFamily="2" charset="-122"/>
              </a:rPr>
              <a:t>2</a:t>
            </a:r>
            <a:r>
              <a:rPr lang="en-US" altLang="zh-CN" sz="1800" b="1" dirty="0">
                <a:ea typeface="宋体" panose="02010600030101010101" pitchFamily="2" charset="-122"/>
              </a:rPr>
              <a:t>  then</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return sequiv( s</a:t>
            </a:r>
            <a:r>
              <a:rPr lang="en-US" altLang="zh-CN" sz="1800" b="1" baseline="-25000" dirty="0">
                <a:ea typeface="宋体" panose="02010600030101010101" pitchFamily="2" charset="-122"/>
              </a:rPr>
              <a:t>1</a:t>
            </a:r>
            <a:r>
              <a:rPr lang="en-US" altLang="zh-CN" sz="1800" b="1" dirty="0">
                <a:ea typeface="宋体" panose="02010600030101010101" pitchFamily="2" charset="-122"/>
              </a:rPr>
              <a:t> , t</a:t>
            </a:r>
            <a:r>
              <a:rPr lang="en-US" altLang="zh-CN" sz="1800" b="1" baseline="-25000" dirty="0">
                <a:ea typeface="宋体" panose="02010600030101010101" pitchFamily="2" charset="-122"/>
              </a:rPr>
              <a:t>1</a:t>
            </a:r>
            <a:r>
              <a:rPr lang="en-US" altLang="zh-CN" sz="1800" b="1" dirty="0">
                <a:ea typeface="宋体" panose="02010600030101010101" pitchFamily="2" charset="-122"/>
              </a:rPr>
              <a:t> ) and sequiv( s</a:t>
            </a:r>
            <a:r>
              <a:rPr lang="en-US" altLang="zh-CN" sz="1800" b="1" baseline="-25000" dirty="0">
                <a:ea typeface="宋体" panose="02010600030101010101" pitchFamily="2" charset="-122"/>
              </a:rPr>
              <a:t>2</a:t>
            </a:r>
            <a:r>
              <a:rPr lang="en-US" altLang="zh-CN" sz="1800" b="1" dirty="0">
                <a:ea typeface="宋体" panose="02010600030101010101" pitchFamily="2" charset="-122"/>
              </a:rPr>
              <a:t> , t</a:t>
            </a:r>
            <a:r>
              <a:rPr lang="en-US" altLang="zh-CN" sz="1800" b="1" baseline="-25000" dirty="0">
                <a:ea typeface="宋体" panose="02010600030101010101" pitchFamily="2" charset="-122"/>
              </a:rPr>
              <a:t>2</a:t>
            </a:r>
            <a:r>
              <a:rPr lang="en-US" altLang="zh-CN" sz="1800" b="1" dirty="0">
                <a:ea typeface="宋体" panose="02010600030101010101" pitchFamily="2" charset="-122"/>
              </a:rPr>
              <a:t> )</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else if s = pointer( s</a:t>
            </a:r>
            <a:r>
              <a:rPr lang="en-US" altLang="zh-CN" sz="1800" b="1" baseline="-25000" dirty="0">
                <a:ea typeface="宋体" panose="02010600030101010101" pitchFamily="2" charset="-122"/>
              </a:rPr>
              <a:t>1</a:t>
            </a:r>
            <a:r>
              <a:rPr lang="en-US" altLang="zh-CN" sz="1800" b="1" dirty="0">
                <a:ea typeface="宋体" panose="02010600030101010101" pitchFamily="2" charset="-122"/>
              </a:rPr>
              <a:t> ) and t = pointer( t</a:t>
            </a:r>
            <a:r>
              <a:rPr lang="en-US" altLang="zh-CN" sz="1800" b="1" baseline="-25000" dirty="0">
                <a:ea typeface="宋体" panose="02010600030101010101" pitchFamily="2" charset="-122"/>
              </a:rPr>
              <a:t>1</a:t>
            </a:r>
            <a:r>
              <a:rPr lang="en-US" altLang="zh-CN" sz="1800" b="1" dirty="0">
                <a:ea typeface="宋体" panose="02010600030101010101" pitchFamily="2" charset="-122"/>
              </a:rPr>
              <a:t> ) then</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return sequiv( s</a:t>
            </a:r>
            <a:r>
              <a:rPr lang="en-US" altLang="zh-CN" sz="1800" b="1" baseline="-25000" dirty="0">
                <a:ea typeface="宋体" panose="02010600030101010101" pitchFamily="2" charset="-122"/>
              </a:rPr>
              <a:t>1</a:t>
            </a:r>
            <a:r>
              <a:rPr lang="en-US" altLang="zh-CN" sz="1800" b="1" dirty="0">
                <a:ea typeface="宋体" panose="02010600030101010101" pitchFamily="2" charset="-122"/>
              </a:rPr>
              <a:t> , t</a:t>
            </a:r>
            <a:r>
              <a:rPr lang="en-US" altLang="zh-CN" sz="1800" b="1" baseline="-25000" dirty="0">
                <a:ea typeface="宋体" panose="02010600030101010101" pitchFamily="2" charset="-122"/>
              </a:rPr>
              <a:t>1</a:t>
            </a:r>
            <a:r>
              <a:rPr lang="en-US" altLang="zh-CN" sz="1800" b="1" dirty="0">
                <a:ea typeface="宋体" panose="02010600030101010101" pitchFamily="2" charset="-122"/>
              </a:rPr>
              <a:t> )</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else if s = s</a:t>
            </a:r>
            <a:r>
              <a:rPr lang="en-US" altLang="zh-CN" sz="1800" b="1" baseline="-25000" dirty="0">
                <a:ea typeface="宋体" panose="02010600030101010101" pitchFamily="2" charset="-122"/>
              </a:rPr>
              <a:t>1</a:t>
            </a:r>
            <a:r>
              <a:rPr lang="en-US" altLang="zh-CN" sz="1800" b="1" dirty="0">
                <a:ea typeface="宋体" panose="02010600030101010101" pitchFamily="2" charset="-122"/>
              </a:rPr>
              <a:t> → s</a:t>
            </a:r>
            <a:r>
              <a:rPr lang="en-US" altLang="zh-CN" sz="1800" b="1" baseline="-25000" dirty="0">
                <a:ea typeface="宋体" panose="02010600030101010101" pitchFamily="2" charset="-122"/>
              </a:rPr>
              <a:t>2</a:t>
            </a:r>
            <a:r>
              <a:rPr lang="en-US" altLang="zh-CN" sz="1800" b="1" dirty="0">
                <a:ea typeface="宋体" panose="02010600030101010101" pitchFamily="2" charset="-122"/>
              </a:rPr>
              <a:t> and t = t</a:t>
            </a:r>
            <a:r>
              <a:rPr lang="en-US" altLang="zh-CN" sz="1800" b="1" baseline="-25000" dirty="0">
                <a:ea typeface="宋体" panose="02010600030101010101" pitchFamily="2" charset="-122"/>
              </a:rPr>
              <a:t>1</a:t>
            </a:r>
            <a:r>
              <a:rPr lang="en-US" altLang="zh-CN" sz="1800" b="1" dirty="0">
                <a:ea typeface="宋体" panose="02010600030101010101" pitchFamily="2" charset="-122"/>
              </a:rPr>
              <a:t> → t</a:t>
            </a:r>
            <a:r>
              <a:rPr lang="en-US" altLang="zh-CN" sz="1800" b="1" baseline="-25000" dirty="0">
                <a:ea typeface="宋体" panose="02010600030101010101" pitchFamily="2" charset="-122"/>
              </a:rPr>
              <a:t>2</a:t>
            </a:r>
            <a:r>
              <a:rPr lang="en-US" altLang="zh-CN" sz="1800" b="1" dirty="0">
                <a:ea typeface="宋体" panose="02010600030101010101" pitchFamily="2" charset="-122"/>
              </a:rPr>
              <a:t>  then</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return sequiv( s</a:t>
            </a:r>
            <a:r>
              <a:rPr lang="en-US" altLang="zh-CN" sz="1800" b="1" baseline="-25000" dirty="0">
                <a:ea typeface="宋体" panose="02010600030101010101" pitchFamily="2" charset="-122"/>
              </a:rPr>
              <a:t>1</a:t>
            </a:r>
            <a:r>
              <a:rPr lang="en-US" altLang="zh-CN" sz="1800" b="1" dirty="0">
                <a:ea typeface="宋体" panose="02010600030101010101" pitchFamily="2" charset="-122"/>
              </a:rPr>
              <a:t> , t</a:t>
            </a:r>
            <a:r>
              <a:rPr lang="en-US" altLang="zh-CN" sz="1800" b="1" baseline="-25000" dirty="0">
                <a:ea typeface="宋体" panose="02010600030101010101" pitchFamily="2" charset="-122"/>
              </a:rPr>
              <a:t>1</a:t>
            </a:r>
            <a:r>
              <a:rPr lang="en-US" altLang="zh-CN" sz="1800" b="1" dirty="0">
                <a:ea typeface="宋体" panose="02010600030101010101" pitchFamily="2" charset="-122"/>
              </a:rPr>
              <a:t> ) and sequiv( s</a:t>
            </a:r>
            <a:r>
              <a:rPr lang="en-US" altLang="zh-CN" sz="1800" b="1" baseline="-25000" dirty="0">
                <a:ea typeface="宋体" panose="02010600030101010101" pitchFamily="2" charset="-122"/>
              </a:rPr>
              <a:t>2</a:t>
            </a:r>
            <a:r>
              <a:rPr lang="en-US" altLang="zh-CN" sz="1800" b="1" dirty="0">
                <a:ea typeface="宋体" panose="02010600030101010101" pitchFamily="2" charset="-122"/>
              </a:rPr>
              <a:t> , t</a:t>
            </a:r>
            <a:r>
              <a:rPr lang="en-US" altLang="zh-CN" sz="1800" b="1" baseline="-25000" dirty="0">
                <a:ea typeface="宋体" panose="02010600030101010101" pitchFamily="2" charset="-122"/>
              </a:rPr>
              <a:t>2</a:t>
            </a:r>
            <a:r>
              <a:rPr lang="en-US" altLang="zh-CN" sz="1800" b="1" dirty="0">
                <a:ea typeface="宋体" panose="02010600030101010101" pitchFamily="2" charset="-122"/>
              </a:rPr>
              <a:t> )</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else return false</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end</a:t>
            </a:r>
            <a:endParaRPr lang="en-US" altLang="zh-CN" sz="1800" b="1" dirty="0">
              <a:ea typeface="宋体" panose="02010600030101010101" pitchFamily="2" charset="-122"/>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类型表达式的等价（4）</a:t>
            </a:r>
            <a:endParaRPr lang="zh-CN" altLang="en-US" dirty="0">
              <a:latin typeface="Times New Roman" panose="02020603050405020304" pitchFamily="18" charset="0"/>
              <a:ea typeface="宋体" panose="02010600030101010101" pitchFamily="2" charset="-122"/>
            </a:endParaRPr>
          </a:p>
        </p:txBody>
      </p:sp>
      <p:sp>
        <p:nvSpPr>
          <p:cNvPr id="96259" name="Rectangle 3"/>
          <p:cNvSpPr>
            <a:spLocks noGrp="1"/>
          </p:cNvSpPr>
          <p:nvPr>
            <p:ph idx="1"/>
          </p:nvPr>
        </p:nvSpPr>
        <p:spPr>
          <a:xfrm>
            <a:off x="684213" y="1524000"/>
            <a:ext cx="7697787" cy="4572000"/>
          </a:xfrm>
        </p:spPr>
        <p:txBody>
          <a:bodyPr vert="horz" wrap="square" lIns="92075" tIns="46038" rIns="92075" bIns="46038" anchor="t" anchorCtr="0"/>
          <a:p>
            <a:pPr lvl="1">
              <a:lnSpc>
                <a:spcPct val="90000"/>
              </a:lnSpc>
            </a:pPr>
            <a:r>
              <a:rPr lang="zh-CN" altLang="en-US" sz="2200" b="1" dirty="0">
                <a:ea typeface="宋体" panose="02010600030101010101" pitchFamily="2" charset="-122"/>
              </a:rPr>
              <a:t>数据类型结构等价的例子</a:t>
            </a:r>
            <a:endParaRPr lang="en-US" altLang="zh-CN" sz="2200" b="1" dirty="0">
              <a:ea typeface="宋体" panose="02010600030101010101" pitchFamily="2" charset="-122"/>
            </a:endParaRPr>
          </a:p>
          <a:p>
            <a:pPr lvl="2">
              <a:lnSpc>
                <a:spcPct val="90000"/>
              </a:lnSpc>
            </a:pPr>
            <a:r>
              <a:rPr lang="zh-CN" altLang="en-US" sz="2000" b="1" dirty="0">
                <a:ea typeface="宋体" panose="02010600030101010101" pitchFamily="2" charset="-122"/>
              </a:rPr>
              <a:t>两个数组是等价的当且仅当它们有相同的大小和元素类型</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两个结构是等价的当且仅当它们有相同的元素，并且元素有相同的名字和顺序</a:t>
            </a:r>
            <a:endParaRPr lang="zh-CN" altLang="en-US" sz="2000" b="1" dirty="0">
              <a:ea typeface="宋体" panose="02010600030101010101" pitchFamily="2" charset="-122"/>
            </a:endParaRPr>
          </a:p>
          <a:p>
            <a:pPr lvl="3">
              <a:lnSpc>
                <a:spcPct val="90000"/>
              </a:lnSpc>
            </a:pPr>
            <a:r>
              <a:rPr lang="zh-CN" altLang="en-US" sz="1800" b="1" dirty="0">
                <a:ea typeface="宋体" panose="02010600030101010101" pitchFamily="2" charset="-122"/>
              </a:rPr>
              <a:t>结构中，元素的顺序是重要的</a:t>
            </a:r>
            <a:endParaRPr lang="zh-CN" altLang="en-US" sz="1800" b="1" dirty="0">
              <a:ea typeface="宋体" panose="02010600030101010101" pitchFamily="2" charset="-122"/>
            </a:endParaRPr>
          </a:p>
          <a:p>
            <a:pPr lvl="1">
              <a:lnSpc>
                <a:spcPct val="90000"/>
              </a:lnSpc>
            </a:pPr>
            <a:r>
              <a:rPr lang="zh-CN" altLang="en-US" sz="2200" b="1" dirty="0">
                <a:ea typeface="宋体" panose="02010600030101010101" pitchFamily="2" charset="-122"/>
              </a:rPr>
              <a:t>如果不考虑数组的界，则数组等价的测试可以重写为：</a:t>
            </a:r>
            <a:endParaRPr lang="zh-CN" altLang="en-US" sz="2200" b="1" dirty="0">
              <a:ea typeface="宋体" panose="02010600030101010101" pitchFamily="2" charset="-122"/>
            </a:endParaRPr>
          </a:p>
          <a:p>
            <a:pPr lvl="3">
              <a:lnSpc>
                <a:spcPct val="90000"/>
              </a:lnSpc>
              <a:buFont typeface="Wingdings" panose="05000000000000000000" pitchFamily="2" charset="2"/>
              <a:buNone/>
            </a:pPr>
            <a:r>
              <a:rPr lang="zh-CN" altLang="en-US" b="1" dirty="0">
                <a:ea typeface="宋体" panose="02010600030101010101" pitchFamily="2" charset="-122"/>
              </a:rPr>
              <a:t>如果有：	</a:t>
            </a:r>
            <a:r>
              <a:rPr lang="en-US" altLang="zh-CN" b="1" dirty="0">
                <a:ea typeface="宋体" panose="02010600030101010101" pitchFamily="2" charset="-122"/>
              </a:rPr>
              <a:t>s = array( s</a:t>
            </a:r>
            <a:r>
              <a:rPr lang="en-US" altLang="zh-CN" b="1" baseline="-25000" dirty="0">
                <a:ea typeface="宋体" panose="02010600030101010101" pitchFamily="2" charset="-122"/>
              </a:rPr>
              <a:t>1</a:t>
            </a:r>
            <a:r>
              <a:rPr lang="en-US" altLang="zh-CN" b="1" dirty="0">
                <a:ea typeface="宋体" panose="02010600030101010101" pitchFamily="2" charset="-122"/>
              </a:rPr>
              <a:t> ,  s</a:t>
            </a:r>
            <a:r>
              <a:rPr lang="en-US" altLang="zh-CN" b="1" baseline="-25000" dirty="0">
                <a:ea typeface="宋体" panose="02010600030101010101" pitchFamily="2" charset="-122"/>
              </a:rPr>
              <a:t>2</a:t>
            </a:r>
            <a:r>
              <a:rPr lang="en-US" altLang="zh-CN" b="1" dirty="0">
                <a:ea typeface="宋体" panose="02010600030101010101" pitchFamily="2" charset="-122"/>
              </a:rPr>
              <a:t> )</a:t>
            </a:r>
            <a:endParaRPr lang="en-US" altLang="zh-CN" b="1" dirty="0">
              <a:ea typeface="宋体" panose="02010600030101010101" pitchFamily="2" charset="-122"/>
            </a:endParaRPr>
          </a:p>
          <a:p>
            <a:pPr lvl="3">
              <a:lnSpc>
                <a:spcPct val="90000"/>
              </a:lnSpc>
              <a:buFont typeface="Wingdings" panose="05000000000000000000" pitchFamily="2" charset="2"/>
              <a:buNone/>
            </a:pPr>
            <a:r>
              <a:rPr lang="en-US" altLang="zh-CN" b="1" dirty="0">
                <a:ea typeface="宋体" panose="02010600030101010101" pitchFamily="2" charset="-122"/>
              </a:rPr>
              <a:t>			t = array( t</a:t>
            </a:r>
            <a:r>
              <a:rPr lang="en-US" altLang="zh-CN" b="1" baseline="-25000" dirty="0">
                <a:ea typeface="宋体" panose="02010600030101010101" pitchFamily="2" charset="-122"/>
              </a:rPr>
              <a:t>1</a:t>
            </a:r>
            <a:r>
              <a:rPr lang="en-US" altLang="zh-CN" b="1" dirty="0">
                <a:ea typeface="宋体" panose="02010600030101010101" pitchFamily="2" charset="-122"/>
              </a:rPr>
              <a:t> ,  t</a:t>
            </a:r>
            <a:r>
              <a:rPr lang="en-US" altLang="zh-CN" b="1" baseline="-25000" dirty="0">
                <a:ea typeface="宋体" panose="02010600030101010101" pitchFamily="2" charset="-122"/>
              </a:rPr>
              <a:t>2</a:t>
            </a:r>
            <a:r>
              <a:rPr lang="en-US" altLang="zh-CN" b="1" dirty="0">
                <a:ea typeface="宋体" panose="02010600030101010101" pitchFamily="2" charset="-122"/>
              </a:rPr>
              <a:t> )</a:t>
            </a:r>
            <a:endParaRPr lang="en-US" altLang="zh-CN" b="1" dirty="0">
              <a:ea typeface="宋体" panose="02010600030101010101" pitchFamily="2" charset="-122"/>
            </a:endParaRPr>
          </a:p>
          <a:p>
            <a:pPr lvl="3">
              <a:lnSpc>
                <a:spcPct val="90000"/>
              </a:lnSpc>
              <a:buFont typeface="Wingdings" panose="05000000000000000000" pitchFamily="2" charset="2"/>
              <a:buNone/>
            </a:pPr>
            <a:r>
              <a:rPr lang="zh-CN" altLang="en-US" b="1" dirty="0">
                <a:ea typeface="宋体" panose="02010600030101010101" pitchFamily="2" charset="-122"/>
              </a:rPr>
              <a:t>测试算法中的第4和第5行改写为：</a:t>
            </a:r>
            <a:endParaRPr lang="zh-CN" altLang="en-US" b="1" dirty="0">
              <a:ea typeface="宋体" panose="02010600030101010101" pitchFamily="2" charset="-122"/>
            </a:endParaRPr>
          </a:p>
          <a:p>
            <a:pPr lvl="3">
              <a:lnSpc>
                <a:spcPct val="90000"/>
              </a:lnSpc>
              <a:buFont typeface="Wingdings" panose="05000000000000000000" pitchFamily="2" charset="2"/>
              <a:buNone/>
            </a:pPr>
            <a:r>
              <a:rPr lang="en-US" altLang="zh-CN" b="1" dirty="0">
                <a:ea typeface="宋体" panose="02010600030101010101" pitchFamily="2" charset="-122"/>
              </a:rPr>
              <a:t>	else if s = </a:t>
            </a:r>
            <a:r>
              <a:rPr lang="en-US" altLang="zh-CN" b="1" i="1" dirty="0">
                <a:ea typeface="宋体" panose="02010600030101010101" pitchFamily="2" charset="-122"/>
              </a:rPr>
              <a:t>array</a:t>
            </a:r>
            <a:r>
              <a:rPr lang="en-US" altLang="zh-CN" b="1" dirty="0">
                <a:ea typeface="宋体" panose="02010600030101010101" pitchFamily="2" charset="-122"/>
              </a:rPr>
              <a:t>( s</a:t>
            </a:r>
            <a:r>
              <a:rPr lang="en-US" altLang="zh-CN" b="1" baseline="-25000" dirty="0">
                <a:ea typeface="宋体" panose="02010600030101010101" pitchFamily="2" charset="-122"/>
              </a:rPr>
              <a:t>1</a:t>
            </a:r>
            <a:r>
              <a:rPr lang="en-US" altLang="zh-CN" b="1" dirty="0">
                <a:ea typeface="宋体" panose="02010600030101010101" pitchFamily="2" charset="-122"/>
              </a:rPr>
              <a:t> , s</a:t>
            </a:r>
            <a:r>
              <a:rPr lang="en-US" altLang="zh-CN" b="1" baseline="-25000" dirty="0">
                <a:ea typeface="宋体" panose="02010600030101010101" pitchFamily="2" charset="-122"/>
              </a:rPr>
              <a:t>2</a:t>
            </a:r>
            <a:r>
              <a:rPr lang="en-US" altLang="zh-CN" b="1" dirty="0">
                <a:ea typeface="宋体" panose="02010600030101010101" pitchFamily="2" charset="-122"/>
              </a:rPr>
              <a:t> ) and t = </a:t>
            </a:r>
            <a:r>
              <a:rPr lang="en-US" altLang="zh-CN" b="1" i="1" dirty="0">
                <a:ea typeface="宋体" panose="02010600030101010101" pitchFamily="2" charset="-122"/>
              </a:rPr>
              <a:t>array</a:t>
            </a:r>
            <a:r>
              <a:rPr lang="en-US" altLang="zh-CN" b="1" dirty="0">
                <a:ea typeface="宋体" panose="02010600030101010101" pitchFamily="2" charset="-122"/>
              </a:rPr>
              <a:t>( t</a:t>
            </a:r>
            <a:r>
              <a:rPr lang="en-US" altLang="zh-CN" b="1" baseline="-25000" dirty="0">
                <a:ea typeface="宋体" panose="02010600030101010101" pitchFamily="2" charset="-122"/>
              </a:rPr>
              <a:t>1</a:t>
            </a:r>
            <a:r>
              <a:rPr lang="en-US" altLang="zh-CN" b="1" dirty="0">
                <a:ea typeface="宋体" panose="02010600030101010101" pitchFamily="2" charset="-122"/>
              </a:rPr>
              <a:t> , t</a:t>
            </a:r>
            <a:r>
              <a:rPr lang="en-US" altLang="zh-CN" b="1" baseline="-25000" dirty="0">
                <a:ea typeface="宋体" panose="02010600030101010101" pitchFamily="2" charset="-122"/>
              </a:rPr>
              <a:t>2</a:t>
            </a:r>
            <a:r>
              <a:rPr lang="en-US" altLang="zh-CN" b="1" dirty="0">
                <a:ea typeface="宋体" panose="02010600030101010101" pitchFamily="2" charset="-122"/>
              </a:rPr>
              <a:t> )  then</a:t>
            </a:r>
            <a:endParaRPr lang="en-US" altLang="zh-CN" b="1" dirty="0">
              <a:ea typeface="宋体" panose="02010600030101010101" pitchFamily="2" charset="-122"/>
            </a:endParaRPr>
          </a:p>
          <a:p>
            <a:pPr lvl="3">
              <a:lnSpc>
                <a:spcPct val="90000"/>
              </a:lnSpc>
              <a:buFont typeface="Wingdings" panose="05000000000000000000" pitchFamily="2" charset="2"/>
              <a:buNone/>
            </a:pPr>
            <a:r>
              <a:rPr lang="en-US" altLang="zh-CN" b="1" dirty="0">
                <a:ea typeface="宋体" panose="02010600030101010101" pitchFamily="2" charset="-122"/>
              </a:rPr>
              <a:t>		return sequiv( s</a:t>
            </a:r>
            <a:r>
              <a:rPr lang="en-US" altLang="zh-CN" b="1" baseline="-25000" dirty="0">
                <a:ea typeface="宋体" panose="02010600030101010101" pitchFamily="2" charset="-122"/>
              </a:rPr>
              <a:t>2</a:t>
            </a:r>
            <a:r>
              <a:rPr lang="en-US" altLang="zh-CN" b="1" dirty="0">
                <a:ea typeface="宋体" panose="02010600030101010101" pitchFamily="2" charset="-122"/>
              </a:rPr>
              <a:t> , t</a:t>
            </a:r>
            <a:r>
              <a:rPr lang="en-US" altLang="zh-CN" b="1" baseline="-25000" dirty="0">
                <a:ea typeface="宋体" panose="02010600030101010101" pitchFamily="2" charset="-122"/>
              </a:rPr>
              <a:t>2</a:t>
            </a:r>
            <a:r>
              <a:rPr lang="en-US" altLang="zh-CN" b="1" dirty="0">
                <a:ea typeface="宋体" panose="02010600030101010101" pitchFamily="2" charset="-122"/>
              </a:rPr>
              <a:t> )</a:t>
            </a:r>
            <a:endParaRPr lang="zh-CN" altLang="en-US" b="1" dirty="0">
              <a:ea typeface="宋体" panose="02010600030101010101" pitchFamily="2" charset="-122"/>
            </a:endParaRP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类型表达式的等价（5）</a:t>
            </a:r>
            <a:endParaRPr lang="zh-CN" altLang="en-US" dirty="0">
              <a:latin typeface="Times New Roman" panose="02020603050405020304" pitchFamily="18" charset="0"/>
              <a:ea typeface="宋体" panose="02010600030101010101" pitchFamily="2" charset="-122"/>
            </a:endParaRPr>
          </a:p>
        </p:txBody>
      </p:sp>
      <p:sp>
        <p:nvSpPr>
          <p:cNvPr id="98307" name="Rectangle 3"/>
          <p:cNvSpPr>
            <a:spLocks noGrp="1"/>
          </p:cNvSpPr>
          <p:nvPr>
            <p:ph idx="1"/>
          </p:nvPr>
        </p:nvSpPr>
        <p:spPr>
          <a:xfrm>
            <a:off x="990600" y="1524000"/>
            <a:ext cx="7391400" cy="4572000"/>
          </a:xfrm>
        </p:spPr>
        <p:txBody>
          <a:bodyPr vert="horz" wrap="square" lIns="92075" tIns="46038" rIns="92075" bIns="46038" anchor="t" anchorCtr="0"/>
          <a:p>
            <a:pPr>
              <a:lnSpc>
                <a:spcPct val="90000"/>
              </a:lnSpc>
            </a:pPr>
            <a:r>
              <a:rPr lang="zh-CN" altLang="en-US" sz="2400" b="1" dirty="0">
                <a:ea typeface="宋体" panose="02010600030101010101" pitchFamily="2" charset="-122"/>
              </a:rPr>
              <a:t>类型表达式的名字等价</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类型表达式的名字</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在某些语言中类型是可以命名的</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如果有下述的</a:t>
            </a:r>
            <a:r>
              <a:rPr lang="en-US" altLang="zh-CN" sz="2000" b="1" dirty="0">
                <a:ea typeface="宋体" panose="02010600030101010101" pitchFamily="2" charset="-122"/>
              </a:rPr>
              <a:t>Pascal</a:t>
            </a:r>
            <a:r>
              <a:rPr lang="zh-CN" altLang="en-US" sz="2000" b="1" dirty="0">
                <a:ea typeface="宋体" panose="02010600030101010101" pitchFamily="2" charset="-122"/>
              </a:rPr>
              <a:t>的声明</a:t>
            </a:r>
            <a:endParaRPr lang="zh-CN" altLang="en-US" sz="20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type  link  =  ↑cell;</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var	next: link;</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last: link;</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p: ↑cell;</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q, r: ↑cell;</a:t>
            </a:r>
            <a:endParaRPr lang="en-US" altLang="zh-CN" sz="1800" b="1" dirty="0">
              <a:ea typeface="宋体" panose="02010600030101010101" pitchFamily="2" charset="-122"/>
            </a:endParaRPr>
          </a:p>
          <a:p>
            <a:pPr lvl="3">
              <a:lnSpc>
                <a:spcPct val="90000"/>
              </a:lnSpc>
            </a:pPr>
            <a:r>
              <a:rPr lang="en-US" altLang="zh-CN" sz="1800" b="1" dirty="0">
                <a:ea typeface="宋体" panose="02010600030101010101" pitchFamily="2" charset="-122"/>
              </a:rPr>
              <a:t>next, last, p, q, r</a:t>
            </a:r>
            <a:r>
              <a:rPr lang="zh-CN" altLang="en-US" sz="1800" b="1" dirty="0">
                <a:ea typeface="宋体" panose="02010600030101010101" pitchFamily="2" charset="-122"/>
              </a:rPr>
              <a:t>是否有相同的类型？</a:t>
            </a:r>
            <a:endParaRPr lang="zh-CN" altLang="en-US" sz="1800" b="1" dirty="0">
              <a:ea typeface="宋体" panose="02010600030101010101" pitchFamily="2" charset="-122"/>
            </a:endParaRPr>
          </a:p>
          <a:p>
            <a:pPr lvl="3">
              <a:lnSpc>
                <a:spcPct val="90000"/>
              </a:lnSpc>
            </a:pPr>
            <a:r>
              <a:rPr lang="zh-CN" altLang="en-US" sz="1800" b="1" dirty="0">
                <a:ea typeface="宋体" panose="02010600030101010101" pitchFamily="2" charset="-122"/>
              </a:rPr>
              <a:t>这依赖于实现，因为</a:t>
            </a:r>
            <a:r>
              <a:rPr lang="en-US" altLang="zh-CN" sz="1800" b="1" dirty="0">
                <a:ea typeface="宋体" panose="02010600030101010101" pitchFamily="2" charset="-122"/>
              </a:rPr>
              <a:t>Pascal</a:t>
            </a:r>
            <a:r>
              <a:rPr lang="zh-CN" altLang="en-US" sz="1800" b="1" dirty="0">
                <a:ea typeface="宋体" panose="02010600030101010101" pitchFamily="2" charset="-122"/>
              </a:rPr>
              <a:t>中没有定义术语“相同的类型”</a:t>
            </a:r>
            <a:endParaRPr lang="zh-CN" altLang="en-US" sz="1800" b="1" dirty="0">
              <a:ea typeface="宋体" panose="02010600030101010101" pitchFamily="2" charset="-122"/>
            </a:endParaRPr>
          </a:p>
          <a:p>
            <a:pPr lvl="2">
              <a:lnSpc>
                <a:spcPct val="90000"/>
              </a:lnSpc>
            </a:pPr>
            <a:r>
              <a:rPr lang="zh-CN" altLang="en-US" sz="2000" b="1" dirty="0">
                <a:ea typeface="宋体" panose="02010600030101010101" pitchFamily="2" charset="-122"/>
              </a:rPr>
              <a:t>类型名可以出现在类型表达式中只有基本类型可以出现的地方</a:t>
            </a:r>
            <a:endParaRPr lang="zh-CN" altLang="en-US" sz="2000" b="1" dirty="0">
              <a:ea typeface="宋体" panose="02010600030101010101" pitchFamily="2" charset="-122"/>
            </a:endParaRP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类型表达式的等价（6）</a:t>
            </a:r>
            <a:endParaRPr lang="zh-CN" altLang="en-US" dirty="0">
              <a:latin typeface="Times New Roman" panose="02020603050405020304" pitchFamily="18" charset="0"/>
              <a:ea typeface="宋体" panose="02010600030101010101" pitchFamily="2" charset="-122"/>
            </a:endParaRPr>
          </a:p>
        </p:txBody>
      </p:sp>
      <p:sp>
        <p:nvSpPr>
          <p:cNvPr id="100355" name="Rectangle 3"/>
          <p:cNvSpPr>
            <a:spLocks noGrp="1"/>
          </p:cNvSpPr>
          <p:nvPr>
            <p:ph idx="1"/>
          </p:nvPr>
        </p:nvSpPr>
        <p:spPr>
          <a:xfrm>
            <a:off x="755650" y="1524000"/>
            <a:ext cx="7626350" cy="4800600"/>
          </a:xfrm>
        </p:spPr>
        <p:txBody>
          <a:bodyPr vert="horz" wrap="square" lIns="92075" tIns="46038" rIns="92075" bIns="46038" anchor="t" anchorCtr="0"/>
          <a:p>
            <a:pPr lvl="1"/>
            <a:r>
              <a:rPr lang="zh-CN" altLang="en-US" sz="2200" b="1" dirty="0">
                <a:ea typeface="宋体" panose="02010600030101010101" pitchFamily="2" charset="-122"/>
              </a:rPr>
              <a:t>类型表达式的名字等价</a:t>
            </a:r>
            <a:endParaRPr lang="zh-CN" altLang="en-US" sz="2200" b="1" dirty="0">
              <a:ea typeface="宋体" panose="02010600030101010101" pitchFamily="2" charset="-122"/>
            </a:endParaRPr>
          </a:p>
          <a:p>
            <a:pPr lvl="2"/>
            <a:r>
              <a:rPr lang="zh-CN" altLang="en-US" sz="2000" b="1" dirty="0">
                <a:ea typeface="宋体" panose="02010600030101010101" pitchFamily="2" charset="-122"/>
              </a:rPr>
              <a:t>把类型名看成一个可区别的类型</a:t>
            </a:r>
            <a:endParaRPr lang="zh-CN" altLang="en-US" sz="2000" b="1" dirty="0">
              <a:ea typeface="宋体" panose="02010600030101010101" pitchFamily="2" charset="-122"/>
            </a:endParaRPr>
          </a:p>
          <a:p>
            <a:pPr lvl="2"/>
            <a:r>
              <a:rPr lang="zh-CN" altLang="en-US" sz="2000" b="1" dirty="0">
                <a:ea typeface="宋体" panose="02010600030101010101" pitchFamily="2" charset="-122"/>
              </a:rPr>
              <a:t>两个类型表达式名字等价当且仅当这两个类型表达式的名字完全相同</a:t>
            </a:r>
            <a:endParaRPr lang="zh-CN" altLang="en-US" sz="2000" b="1" dirty="0">
              <a:ea typeface="宋体" panose="02010600030101010101" pitchFamily="2" charset="-122"/>
            </a:endParaRPr>
          </a:p>
          <a:p>
            <a:pPr lvl="3">
              <a:buFont typeface="Wingdings" panose="05000000000000000000" pitchFamily="2" charset="2"/>
              <a:buNone/>
            </a:pPr>
            <a:r>
              <a:rPr lang="zh-CN" altLang="en-US" b="1" dirty="0">
                <a:ea typeface="宋体" panose="02010600030101010101" pitchFamily="2" charset="-122"/>
              </a:rPr>
              <a:t>	在名字等价下，上例中，</a:t>
            </a:r>
            <a:r>
              <a:rPr lang="en-US" altLang="zh-CN" b="1" dirty="0">
                <a:ea typeface="宋体" panose="02010600030101010101" pitchFamily="2" charset="-122"/>
              </a:rPr>
              <a:t>next</a:t>
            </a:r>
            <a:r>
              <a:rPr lang="zh-CN" altLang="en-US" b="1" dirty="0">
                <a:ea typeface="宋体" panose="02010600030101010101" pitchFamily="2" charset="-122"/>
              </a:rPr>
              <a:t>和</a:t>
            </a:r>
            <a:r>
              <a:rPr lang="en-US" altLang="zh-CN" b="1" dirty="0">
                <a:ea typeface="宋体" panose="02010600030101010101" pitchFamily="2" charset="-122"/>
              </a:rPr>
              <a:t>last</a:t>
            </a:r>
            <a:r>
              <a:rPr lang="zh-CN" altLang="en-US" b="1" dirty="0">
                <a:ea typeface="宋体" panose="02010600030101010101" pitchFamily="2" charset="-122"/>
              </a:rPr>
              <a:t>有相同的类型（</a:t>
            </a:r>
            <a:r>
              <a:rPr lang="en-US" altLang="zh-CN" b="1" dirty="0">
                <a:ea typeface="宋体" panose="02010600030101010101" pitchFamily="2" charset="-122"/>
              </a:rPr>
              <a:t>link）</a:t>
            </a:r>
            <a:r>
              <a:rPr lang="zh-CN" altLang="en-US" b="1" dirty="0">
                <a:ea typeface="宋体" panose="02010600030101010101" pitchFamily="2" charset="-122"/>
              </a:rPr>
              <a:t>，而</a:t>
            </a:r>
            <a:r>
              <a:rPr lang="en-US" altLang="zh-CN" b="1" dirty="0">
                <a:ea typeface="宋体" panose="02010600030101010101" pitchFamily="2" charset="-122"/>
              </a:rPr>
              <a:t>p, q, r</a:t>
            </a:r>
            <a:r>
              <a:rPr lang="zh-CN" altLang="en-US" b="1" dirty="0">
                <a:ea typeface="宋体" panose="02010600030101010101" pitchFamily="2" charset="-122"/>
              </a:rPr>
              <a:t>有相同的类型（</a:t>
            </a:r>
            <a:r>
              <a:rPr lang="en-US" altLang="zh-CN" b="1" dirty="0">
                <a:ea typeface="宋体" panose="02010600030101010101" pitchFamily="2" charset="-122"/>
              </a:rPr>
              <a:t>pointer(cell)）</a:t>
            </a:r>
            <a:endParaRPr lang="en-US" altLang="zh-CN" b="1" dirty="0">
              <a:ea typeface="宋体" panose="02010600030101010101" pitchFamily="2" charset="-122"/>
            </a:endParaRPr>
          </a:p>
          <a:p>
            <a:pPr lvl="2"/>
            <a:r>
              <a:rPr lang="zh-CN" altLang="en-US" sz="2000" b="1" dirty="0">
                <a:ea typeface="宋体" panose="02010600030101010101" pitchFamily="2" charset="-122"/>
              </a:rPr>
              <a:t>与结构等价的不同</a:t>
            </a:r>
            <a:endParaRPr lang="zh-CN" altLang="en-US" sz="2000" b="1" dirty="0">
              <a:ea typeface="宋体" panose="02010600030101010101" pitchFamily="2" charset="-122"/>
            </a:endParaRPr>
          </a:p>
          <a:p>
            <a:pPr lvl="3"/>
            <a:r>
              <a:rPr lang="zh-CN" altLang="en-US" sz="1800" b="1" dirty="0">
                <a:ea typeface="宋体" panose="02010600030101010101" pitchFamily="2" charset="-122"/>
              </a:rPr>
              <a:t>在结构等价中，类型名字由它们定义的类型表达式代替，当所有的名字替换后，两个类型表达式变成结构等价的类型表达式，则它们结构等价</a:t>
            </a:r>
            <a:endParaRPr lang="zh-CN" altLang="en-US" sz="1800" b="1" dirty="0">
              <a:ea typeface="宋体" panose="02010600030101010101" pitchFamily="2" charset="-122"/>
            </a:endParaRPr>
          </a:p>
          <a:p>
            <a:pPr lvl="2"/>
            <a:r>
              <a:rPr lang="zh-CN" altLang="en-US" sz="2000" b="1" dirty="0">
                <a:ea typeface="宋体" panose="02010600030101010101" pitchFamily="2" charset="-122"/>
              </a:rPr>
              <a:t>如果类型没有显式地与一个名字关联</a:t>
            </a:r>
            <a:endParaRPr lang="zh-CN" altLang="en-US" sz="2000" b="1" dirty="0">
              <a:ea typeface="宋体" panose="02010600030101010101" pitchFamily="2" charset="-122"/>
            </a:endParaRPr>
          </a:p>
          <a:p>
            <a:pPr lvl="3"/>
            <a:r>
              <a:rPr lang="zh-CN" altLang="en-US" sz="1800" b="1" dirty="0">
                <a:ea typeface="宋体" panose="02010600030101010101" pitchFamily="2" charset="-122"/>
              </a:rPr>
              <a:t>为这类类型每个隐式地建立一个唯一的类型名</a:t>
            </a:r>
            <a:endParaRPr lang="zh-CN" altLang="en-US" sz="1800" b="1" dirty="0">
              <a:ea typeface="宋体" panose="02010600030101010101" pitchFamily="2" charset="-122"/>
            </a:endParaRPr>
          </a:p>
          <a:p>
            <a:pPr lvl="3">
              <a:buFont typeface="Wingdings" panose="05000000000000000000" pitchFamily="2" charset="2"/>
              <a:buNone/>
            </a:pPr>
            <a:r>
              <a:rPr lang="zh-CN" altLang="en-US" sz="1800" b="1" dirty="0">
                <a:ea typeface="宋体" panose="02010600030101010101" pitchFamily="2" charset="-122"/>
              </a:rPr>
              <a:t>	此时，上例中，</a:t>
            </a:r>
            <a:r>
              <a:rPr lang="en-US" altLang="zh-CN" sz="1800" b="1" dirty="0">
                <a:ea typeface="宋体" panose="02010600030101010101" pitchFamily="2" charset="-122"/>
              </a:rPr>
              <a:t>q, r</a:t>
            </a:r>
            <a:r>
              <a:rPr lang="zh-CN" altLang="en-US" sz="1800" b="1" dirty="0">
                <a:ea typeface="宋体" panose="02010600030101010101" pitchFamily="2" charset="-122"/>
              </a:rPr>
              <a:t>有相同的类型（</a:t>
            </a:r>
            <a:r>
              <a:rPr lang="en-US" altLang="zh-CN" sz="1800" b="1" dirty="0">
                <a:ea typeface="宋体" panose="02010600030101010101" pitchFamily="2" charset="-122"/>
              </a:rPr>
              <a:t>nqr），</a:t>
            </a:r>
            <a:r>
              <a:rPr lang="zh-CN" altLang="en-US" sz="1800" b="1" dirty="0">
                <a:ea typeface="宋体" panose="02010600030101010101" pitchFamily="2" charset="-122"/>
              </a:rPr>
              <a:t>而</a:t>
            </a:r>
            <a:r>
              <a:rPr lang="en-US" altLang="zh-CN" sz="1800" b="1" dirty="0">
                <a:ea typeface="宋体" panose="02010600030101010101" pitchFamily="2" charset="-122"/>
              </a:rPr>
              <a:t>p</a:t>
            </a:r>
            <a:r>
              <a:rPr lang="zh-CN" altLang="en-US" sz="1800" b="1" dirty="0">
                <a:ea typeface="宋体" panose="02010600030101010101" pitchFamily="2" charset="-122"/>
              </a:rPr>
              <a:t>与</a:t>
            </a:r>
            <a:r>
              <a:rPr lang="en-US" altLang="zh-CN" sz="1800" b="1" dirty="0">
                <a:ea typeface="宋体" panose="02010600030101010101" pitchFamily="2" charset="-122"/>
              </a:rPr>
              <a:t>q</a:t>
            </a:r>
            <a:r>
              <a:rPr lang="zh-CN" altLang="en-US" sz="1800" b="1" dirty="0">
                <a:ea typeface="宋体" panose="02010600030101010101" pitchFamily="2" charset="-122"/>
              </a:rPr>
              <a:t>有不同的类型（</a:t>
            </a:r>
            <a:r>
              <a:rPr lang="en-US" altLang="zh-CN" sz="1800" b="1" dirty="0">
                <a:ea typeface="宋体" panose="02010600030101010101" pitchFamily="2" charset="-122"/>
              </a:rPr>
              <a:t>np）</a:t>
            </a:r>
            <a:endParaRPr lang="zh-CN" altLang="en-US" sz="1800" b="1" dirty="0">
              <a:ea typeface="宋体" panose="02010600030101010101" pitchFamily="2" charset="-122"/>
            </a:endParaRP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类型表达式的等价（7）</a:t>
            </a:r>
            <a:endParaRPr lang="zh-CN" altLang="en-US" dirty="0">
              <a:latin typeface="Times New Roman" panose="02020603050405020304" pitchFamily="18" charset="0"/>
              <a:ea typeface="宋体" panose="02010600030101010101" pitchFamily="2" charset="-122"/>
            </a:endParaRPr>
          </a:p>
        </p:txBody>
      </p:sp>
      <p:sp>
        <p:nvSpPr>
          <p:cNvPr id="102403" name="Rectangle 3"/>
          <p:cNvSpPr>
            <a:spLocks noGrp="1"/>
          </p:cNvSpPr>
          <p:nvPr>
            <p:ph idx="1"/>
          </p:nvPr>
        </p:nvSpPr>
        <p:spPr>
          <a:xfrm>
            <a:off x="990600" y="1524000"/>
            <a:ext cx="7391400" cy="4800600"/>
          </a:xfrm>
        </p:spPr>
        <p:txBody>
          <a:bodyPr vert="horz" wrap="square" lIns="92075" tIns="46038" rIns="92075" bIns="46038" anchor="t" anchorCtr="0"/>
          <a:p>
            <a:pPr lvl="1"/>
            <a:r>
              <a:rPr lang="zh-CN" altLang="en-US" sz="2200" b="1" dirty="0">
                <a:ea typeface="宋体" panose="02010600030101010101" pitchFamily="2" charset="-122"/>
              </a:rPr>
              <a:t>类型表达式的两种等价的比较</a:t>
            </a:r>
            <a:endParaRPr lang="zh-CN" altLang="en-US" sz="2200" b="1" dirty="0">
              <a:ea typeface="宋体" panose="02010600030101010101" pitchFamily="2" charset="-122"/>
            </a:endParaRPr>
          </a:p>
          <a:p>
            <a:pPr lvl="2"/>
            <a:r>
              <a:rPr lang="zh-CN" altLang="en-US" sz="2000" b="1" dirty="0">
                <a:ea typeface="宋体" panose="02010600030101010101" pitchFamily="2" charset="-122"/>
              </a:rPr>
              <a:t>名字等价的缺点</a:t>
            </a:r>
            <a:endParaRPr lang="zh-CN" altLang="en-US" sz="2000" b="1" dirty="0">
              <a:ea typeface="宋体" panose="02010600030101010101" pitchFamily="2" charset="-122"/>
            </a:endParaRPr>
          </a:p>
          <a:p>
            <a:pPr lvl="3"/>
            <a:r>
              <a:rPr lang="zh-CN" altLang="en-US" sz="1800" b="1" dirty="0">
                <a:ea typeface="宋体" panose="02010600030101010101" pitchFamily="2" charset="-122"/>
              </a:rPr>
              <a:t>每个赋值语句中的每个对象必须有一个类型名，不允许有匿名类型</a:t>
            </a:r>
            <a:endParaRPr lang="zh-CN" altLang="en-US" sz="1800" b="1" dirty="0">
              <a:ea typeface="宋体" panose="02010600030101010101" pitchFamily="2" charset="-122"/>
            </a:endParaRPr>
          </a:p>
          <a:p>
            <a:pPr lvl="3"/>
            <a:r>
              <a:rPr lang="zh-CN" altLang="en-US" sz="1800" b="1" dirty="0">
                <a:ea typeface="宋体" panose="02010600030101010101" pitchFamily="2" charset="-122"/>
              </a:rPr>
              <a:t>作为参数传递的数据对象类型，不允许在子程序中再次定义，需要全局类型定义</a:t>
            </a:r>
            <a:endParaRPr lang="zh-CN" altLang="en-US" sz="1800" b="1" dirty="0">
              <a:ea typeface="宋体" panose="02010600030101010101" pitchFamily="2" charset="-122"/>
            </a:endParaRPr>
          </a:p>
          <a:p>
            <a:pPr lvl="2"/>
            <a:r>
              <a:rPr lang="zh-CN" altLang="en-US" sz="2000" b="1" dirty="0">
                <a:ea typeface="宋体" panose="02010600030101010101" pitchFamily="2" charset="-122"/>
              </a:rPr>
              <a:t>结构等价的缺点</a:t>
            </a:r>
            <a:endParaRPr lang="zh-CN" altLang="en-US" sz="2000" b="1" dirty="0">
              <a:ea typeface="宋体" panose="02010600030101010101" pitchFamily="2" charset="-122"/>
            </a:endParaRPr>
          </a:p>
          <a:p>
            <a:pPr lvl="3"/>
            <a:r>
              <a:rPr lang="zh-CN" altLang="en-US" sz="1800" b="1" dirty="0">
                <a:ea typeface="宋体" panose="02010600030101010101" pitchFamily="2" charset="-122"/>
              </a:rPr>
              <a:t>两个类型结构等价的确切定义：如果两个结构等价的结构类型中各个域的名字必须相同吗？域的顺序？</a:t>
            </a:r>
            <a:endParaRPr lang="zh-CN" altLang="en-US" sz="1800" b="1" dirty="0">
              <a:ea typeface="宋体" panose="02010600030101010101" pitchFamily="2" charset="-122"/>
            </a:endParaRPr>
          </a:p>
          <a:p>
            <a:pPr lvl="3"/>
            <a:r>
              <a:rPr lang="zh-CN" altLang="en-US" sz="1800" b="1" dirty="0">
                <a:ea typeface="宋体" panose="02010600030101010101" pitchFamily="2" charset="-122"/>
              </a:rPr>
              <a:t>程序员声明的两个变量有不同的类型，但它们可能在结构上是等价的，静态检查可能无法发现一些类型不相容的操作等错误</a:t>
            </a:r>
            <a:endParaRPr lang="zh-CN" altLang="en-US" sz="1800" b="1" dirty="0">
              <a:ea typeface="宋体" panose="02010600030101010101" pitchFamily="2" charset="-122"/>
            </a:endParaRPr>
          </a:p>
          <a:p>
            <a:pPr lvl="3"/>
            <a:r>
              <a:rPr lang="zh-CN" altLang="en-US" sz="1800" b="1" dirty="0">
                <a:ea typeface="宋体" panose="02010600030101010101" pitchFamily="2" charset="-122"/>
              </a:rPr>
              <a:t>判断算法开销比较大</a:t>
            </a:r>
            <a:endParaRPr lang="zh-CN" altLang="en-US" sz="1800" b="1" dirty="0">
              <a:ea typeface="宋体" panose="02010600030101010101" pitchFamily="2" charset="-122"/>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类型表达式的等价（8）</a:t>
            </a:r>
            <a:endParaRPr lang="zh-CN" altLang="en-US" dirty="0">
              <a:latin typeface="Times New Roman" panose="02020603050405020304" pitchFamily="18" charset="0"/>
              <a:ea typeface="宋体" panose="02010600030101010101" pitchFamily="2" charset="-122"/>
            </a:endParaRPr>
          </a:p>
        </p:txBody>
      </p:sp>
      <p:sp>
        <p:nvSpPr>
          <p:cNvPr id="104451" name="Rectangle 3"/>
          <p:cNvSpPr>
            <a:spLocks noGrp="1"/>
          </p:cNvSpPr>
          <p:nvPr>
            <p:ph idx="1"/>
          </p:nvPr>
        </p:nvSpPr>
        <p:spPr>
          <a:xfrm>
            <a:off x="990600" y="1371600"/>
            <a:ext cx="7391400" cy="3429000"/>
          </a:xfrm>
        </p:spPr>
        <p:txBody>
          <a:bodyPr vert="horz" wrap="square" lIns="92075" tIns="46038" rIns="92075" bIns="46038" anchor="t" anchorCtr="0"/>
          <a:p>
            <a:pPr lvl="1">
              <a:lnSpc>
                <a:spcPct val="90000"/>
              </a:lnSpc>
            </a:pPr>
            <a:r>
              <a:rPr lang="zh-CN" altLang="en-US" sz="1800" b="1" dirty="0">
                <a:ea typeface="宋体" panose="02010600030101010101" pitchFamily="2" charset="-122"/>
              </a:rPr>
              <a:t>名字等价的测试，两个类型表达式</a:t>
            </a:r>
            <a:r>
              <a:rPr lang="en-US" altLang="zh-CN" sz="1800" b="1" dirty="0">
                <a:ea typeface="宋体" panose="02010600030101010101" pitchFamily="2" charset="-122"/>
              </a:rPr>
              <a:t>s</a:t>
            </a:r>
            <a:r>
              <a:rPr lang="zh-CN" altLang="en-US" sz="1800" b="1" dirty="0">
                <a:ea typeface="宋体" panose="02010600030101010101" pitchFamily="2" charset="-122"/>
              </a:rPr>
              <a:t>和</a:t>
            </a:r>
            <a:r>
              <a:rPr lang="en-US" altLang="zh-CN" sz="1800" b="1" dirty="0">
                <a:ea typeface="宋体" panose="02010600030101010101" pitchFamily="2" charset="-122"/>
              </a:rPr>
              <a:t>t</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function sequiv( s , t ) : boolean;</a:t>
            </a: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begin</a:t>
            </a: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if s</a:t>
            </a:r>
            <a:r>
              <a:rPr lang="zh-CN" altLang="en-US" sz="1400" b="1" dirty="0">
                <a:ea typeface="宋体" panose="02010600030101010101" pitchFamily="2" charset="-122"/>
              </a:rPr>
              <a:t>和</a:t>
            </a:r>
            <a:r>
              <a:rPr lang="en-US" altLang="zh-CN" sz="1400" b="1" dirty="0">
                <a:ea typeface="宋体" panose="02010600030101010101" pitchFamily="2" charset="-122"/>
              </a:rPr>
              <a:t>t</a:t>
            </a:r>
            <a:r>
              <a:rPr lang="zh-CN" altLang="en-US" sz="1400" b="1" dirty="0">
                <a:ea typeface="宋体" panose="02010600030101010101" pitchFamily="2" charset="-122"/>
              </a:rPr>
              <a:t>是相同的基本类型 </a:t>
            </a:r>
            <a:r>
              <a:rPr lang="en-US" altLang="zh-CN" sz="1400" b="1" dirty="0">
                <a:ea typeface="宋体" panose="02010600030101010101" pitchFamily="2" charset="-122"/>
              </a:rPr>
              <a:t>then</a:t>
            </a: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return true</a:t>
            </a: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else if s </a:t>
            </a:r>
            <a:r>
              <a:rPr lang="zh-CN" altLang="en-US" sz="1400" b="1" dirty="0">
                <a:ea typeface="宋体" panose="02010600030101010101" pitchFamily="2" charset="-122"/>
              </a:rPr>
              <a:t>和 </a:t>
            </a:r>
            <a:r>
              <a:rPr lang="en-US" altLang="zh-CN" sz="1400" b="1" dirty="0">
                <a:ea typeface="宋体" panose="02010600030101010101" pitchFamily="2" charset="-122"/>
              </a:rPr>
              <a:t>t </a:t>
            </a:r>
            <a:r>
              <a:rPr lang="zh-CN" altLang="en-US" sz="1400" b="1" dirty="0">
                <a:ea typeface="宋体" panose="02010600030101010101" pitchFamily="2" charset="-122"/>
              </a:rPr>
              <a:t>是类型名  </a:t>
            </a:r>
            <a:r>
              <a:rPr lang="en-US" altLang="zh-CN" sz="1400" b="1" dirty="0">
                <a:ea typeface="宋体" panose="02010600030101010101" pitchFamily="2" charset="-122"/>
              </a:rPr>
              <a:t>then</a:t>
            </a: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return s = t</a:t>
            </a: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else return false</a:t>
            </a: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end</a:t>
            </a:r>
            <a:endParaRPr lang="en-US" altLang="zh-CN" sz="1400" b="1" dirty="0">
              <a:ea typeface="宋体" panose="02010600030101010101" pitchFamily="2" charset="-122"/>
            </a:endParaRPr>
          </a:p>
          <a:p>
            <a:pPr lvl="1">
              <a:lnSpc>
                <a:spcPct val="90000"/>
              </a:lnSpc>
            </a:pPr>
            <a:r>
              <a:rPr lang="zh-CN" altLang="en-US" sz="1800" b="1" dirty="0">
                <a:ea typeface="宋体" panose="02010600030101010101" pitchFamily="2" charset="-122"/>
              </a:rPr>
              <a:t>名字等价的测试也可以通过构造类型图来实现</a:t>
            </a:r>
            <a:endParaRPr lang="zh-CN" altLang="en-US" sz="1800" b="1" dirty="0">
              <a:ea typeface="宋体" panose="02010600030101010101" pitchFamily="2" charset="-122"/>
            </a:endParaRPr>
          </a:p>
          <a:p>
            <a:pPr lvl="2">
              <a:lnSpc>
                <a:spcPct val="90000"/>
              </a:lnSpc>
            </a:pPr>
            <a:r>
              <a:rPr lang="zh-CN" altLang="en-US" sz="1600" b="1" dirty="0">
                <a:ea typeface="宋体" panose="02010600030101010101" pitchFamily="2" charset="-122"/>
              </a:rPr>
              <a:t>每当看见类型构造器或基本类型对应，构造一个新的结点</a:t>
            </a:r>
            <a:endParaRPr lang="zh-CN" altLang="en-US" sz="1600" b="1" dirty="0">
              <a:ea typeface="宋体" panose="02010600030101010101" pitchFamily="2" charset="-122"/>
            </a:endParaRPr>
          </a:p>
          <a:p>
            <a:pPr lvl="2">
              <a:lnSpc>
                <a:spcPct val="90000"/>
              </a:lnSpc>
            </a:pPr>
            <a:r>
              <a:rPr lang="zh-CN" altLang="en-US" sz="1600" b="1" dirty="0">
                <a:ea typeface="宋体" panose="02010600030101010101" pitchFamily="2" charset="-122"/>
              </a:rPr>
              <a:t>每看见一个新的类型名，就构造一个叶结点</a:t>
            </a:r>
            <a:endParaRPr lang="zh-CN" altLang="en-US" sz="1600" b="1" dirty="0">
              <a:ea typeface="宋体" panose="02010600030101010101" pitchFamily="2" charset="-122"/>
            </a:endParaRPr>
          </a:p>
          <a:p>
            <a:pPr lvl="2">
              <a:lnSpc>
                <a:spcPct val="90000"/>
              </a:lnSpc>
            </a:pPr>
            <a:r>
              <a:rPr lang="zh-CN" altLang="en-US" sz="1600" b="1" dirty="0">
                <a:ea typeface="宋体" panose="02010600030101010101" pitchFamily="2" charset="-122"/>
              </a:rPr>
              <a:t>记录名字引用的是哪个类型表达式</a:t>
            </a:r>
            <a:endParaRPr lang="zh-CN" altLang="en-US" sz="1600" b="1" dirty="0">
              <a:ea typeface="宋体" panose="02010600030101010101" pitchFamily="2" charset="-122"/>
            </a:endParaRPr>
          </a:p>
        </p:txBody>
      </p:sp>
      <p:graphicFrame>
        <p:nvGraphicFramePr>
          <p:cNvPr id="104452" name="Object 4"/>
          <p:cNvGraphicFramePr>
            <a:graphicFrameLocks noChangeAspect="1"/>
          </p:cNvGraphicFramePr>
          <p:nvPr/>
        </p:nvGraphicFramePr>
        <p:xfrm>
          <a:off x="1981200" y="5029200"/>
          <a:ext cx="5824538" cy="1514475"/>
        </p:xfrm>
        <a:graphic>
          <a:graphicData uri="http://schemas.openxmlformats.org/presentationml/2006/ole">
            <mc:AlternateContent xmlns:mc="http://schemas.openxmlformats.org/markup-compatibility/2006">
              <mc:Choice xmlns:v="urn:schemas-microsoft-com:vml" Requires="v">
                <p:oleObj spid="_x0000_s3080" name="" r:id="rId1" imgW="5826760" imgH="1742440" progId="Visio.Drawing.4">
                  <p:embed/>
                </p:oleObj>
              </mc:Choice>
              <mc:Fallback>
                <p:oleObj name="" r:id="rId1" imgW="5826760" imgH="1742440" progId="Visio.Drawing.4">
                  <p:embed/>
                  <p:pic>
                    <p:nvPicPr>
                      <p:cNvPr id="0" name="图片 3079"/>
                      <p:cNvPicPr/>
                      <p:nvPr/>
                    </p:nvPicPr>
                    <p:blipFill>
                      <a:blip r:embed="rId2"/>
                      <a:stretch>
                        <a:fillRect/>
                      </a:stretch>
                    </p:blipFill>
                    <p:spPr>
                      <a:xfrm>
                        <a:off x="1981200" y="5029200"/>
                        <a:ext cx="5824538" cy="1514475"/>
                      </a:xfrm>
                      <a:prstGeom prst="rect">
                        <a:avLst/>
                      </a:prstGeom>
                      <a:noFill/>
                      <a:ln w="38100">
                        <a:noFill/>
                        <a:miter/>
                      </a:ln>
                    </p:spPr>
                  </p:pic>
                </p:oleObj>
              </mc:Fallback>
            </mc:AlternateContent>
          </a:graphicData>
        </a:graphic>
      </p:graphicFrame>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类型表达式的等价（9）</a:t>
            </a:r>
            <a:endParaRPr lang="zh-CN" altLang="en-US" dirty="0">
              <a:latin typeface="Times New Roman" panose="02020603050405020304" pitchFamily="18" charset="0"/>
              <a:ea typeface="宋体" panose="02010600030101010101" pitchFamily="2" charset="-122"/>
            </a:endParaRPr>
          </a:p>
        </p:txBody>
      </p:sp>
      <p:sp>
        <p:nvSpPr>
          <p:cNvPr id="106499" name="Rectangle 3"/>
          <p:cNvSpPr>
            <a:spLocks noGrp="1"/>
          </p:cNvSpPr>
          <p:nvPr>
            <p:ph idx="1"/>
          </p:nvPr>
        </p:nvSpPr>
        <p:spPr>
          <a:xfrm>
            <a:off x="990600" y="1524000"/>
            <a:ext cx="7391400" cy="4572000"/>
          </a:xfrm>
        </p:spPr>
        <p:txBody>
          <a:bodyPr vert="horz" wrap="square" lIns="92075" tIns="46038" rIns="92075" bIns="46038" anchor="t" anchorCtr="0"/>
          <a:p>
            <a:r>
              <a:rPr lang="zh-CN" altLang="en-US" sz="2400" b="1" dirty="0">
                <a:ea typeface="宋体" panose="02010600030101010101" pitchFamily="2" charset="-122"/>
              </a:rPr>
              <a:t>类型表示中的环</a:t>
            </a:r>
            <a:endParaRPr lang="zh-CN" altLang="en-US" sz="2400" b="1" dirty="0">
              <a:ea typeface="宋体" panose="02010600030101010101" pitchFamily="2" charset="-122"/>
            </a:endParaRPr>
          </a:p>
          <a:p>
            <a:pPr lvl="1"/>
            <a:r>
              <a:rPr lang="zh-CN" altLang="en-US" sz="2200" b="1" dirty="0">
                <a:ea typeface="宋体" panose="02010600030101010101" pitchFamily="2" charset="-122"/>
              </a:rPr>
              <a:t>类型的递归定义</a:t>
            </a:r>
            <a:endParaRPr lang="zh-CN" altLang="en-US" sz="2200" b="1" dirty="0">
              <a:ea typeface="宋体" panose="02010600030101010101" pitchFamily="2" charset="-122"/>
            </a:endParaRPr>
          </a:p>
          <a:p>
            <a:pPr lvl="2"/>
            <a:r>
              <a:rPr lang="zh-CN" altLang="en-US" sz="2000" b="1" dirty="0">
                <a:ea typeface="宋体" panose="02010600030101010101" pitchFamily="2" charset="-122"/>
              </a:rPr>
              <a:t>如链表、树等，在类型定义中要引用自身</a:t>
            </a:r>
            <a:endParaRPr lang="zh-CN" altLang="en-US" sz="2000" b="1" dirty="0">
              <a:ea typeface="宋体" panose="02010600030101010101" pitchFamily="2" charset="-122"/>
            </a:endParaRPr>
          </a:p>
          <a:p>
            <a:pPr lvl="2"/>
            <a:r>
              <a:rPr lang="zh-CN" altLang="en-US" sz="2000" b="1" dirty="0">
                <a:ea typeface="宋体" panose="02010600030101010101" pitchFamily="2" charset="-122"/>
              </a:rPr>
              <a:t>类型名起重要的作用</a:t>
            </a:r>
            <a:endParaRPr lang="zh-CN" altLang="en-US" sz="2000" b="1" dirty="0">
              <a:ea typeface="宋体" panose="02010600030101010101" pitchFamily="2" charset="-122"/>
            </a:endParaRPr>
          </a:p>
          <a:p>
            <a:pPr lvl="2"/>
            <a:r>
              <a:rPr lang="zh-CN" altLang="en-US" sz="2000" b="1" dirty="0">
                <a:ea typeface="宋体" panose="02010600030101010101" pitchFamily="2" charset="-122"/>
              </a:rPr>
              <a:t>例子：</a:t>
            </a:r>
            <a:endParaRPr lang="zh-CN" altLang="en-US" sz="20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struct cell {</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	int	info;</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	struct cell	*next;</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a:t>
            </a:r>
            <a:endParaRPr lang="en-US" altLang="zh-CN" sz="1800" b="1" dirty="0">
              <a:ea typeface="宋体" panose="02010600030101010101" pitchFamily="2" charset="-122"/>
            </a:endParaRP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类型表达式的等价（10）</a:t>
            </a:r>
            <a:endParaRPr lang="zh-CN" altLang="en-US" dirty="0">
              <a:latin typeface="Times New Roman" panose="02020603050405020304" pitchFamily="18" charset="0"/>
              <a:ea typeface="宋体" panose="02010600030101010101" pitchFamily="2" charset="-122"/>
            </a:endParaRPr>
          </a:p>
        </p:txBody>
      </p:sp>
      <p:sp>
        <p:nvSpPr>
          <p:cNvPr id="108547" name="Rectangle 3"/>
          <p:cNvSpPr>
            <a:spLocks noGrp="1"/>
          </p:cNvSpPr>
          <p:nvPr>
            <p:ph idx="1"/>
          </p:nvPr>
        </p:nvSpPr>
        <p:spPr>
          <a:xfrm>
            <a:off x="990600" y="1524000"/>
            <a:ext cx="7391400" cy="4572000"/>
          </a:xfrm>
        </p:spPr>
        <p:txBody>
          <a:bodyPr vert="horz" wrap="square" lIns="92075" tIns="46038" rIns="92075" bIns="46038" anchor="t" anchorCtr="0"/>
          <a:p>
            <a:pPr lvl="1">
              <a:buNone/>
            </a:pPr>
            <a:endParaRPr lang="zh-CN" altLang="en-US" sz="2200" b="1" dirty="0">
              <a:ea typeface="宋体" panose="02010600030101010101" pitchFamily="2" charset="-122"/>
            </a:endParaRPr>
          </a:p>
          <a:p>
            <a:pPr lvl="1">
              <a:buNone/>
            </a:pPr>
            <a:endParaRPr lang="zh-CN" altLang="en-US" sz="2200" b="1" dirty="0">
              <a:ea typeface="宋体" panose="02010600030101010101" pitchFamily="2" charset="-122"/>
            </a:endParaRPr>
          </a:p>
          <a:p>
            <a:pPr lvl="1">
              <a:buNone/>
            </a:pPr>
            <a:endParaRPr lang="zh-CN" altLang="en-US" sz="2200" b="1" dirty="0">
              <a:ea typeface="宋体" panose="02010600030101010101" pitchFamily="2" charset="-122"/>
            </a:endParaRPr>
          </a:p>
          <a:p>
            <a:pPr lvl="1">
              <a:buNone/>
            </a:pPr>
            <a:endParaRPr lang="zh-CN" altLang="en-US" sz="2200" b="1" dirty="0">
              <a:ea typeface="宋体" panose="02010600030101010101" pitchFamily="2" charset="-122"/>
            </a:endParaRPr>
          </a:p>
          <a:p>
            <a:pPr lvl="1">
              <a:buNone/>
            </a:pPr>
            <a:endParaRPr lang="zh-CN" altLang="en-US" sz="2200" b="1" dirty="0">
              <a:ea typeface="宋体" panose="02010600030101010101" pitchFamily="2" charset="-122"/>
            </a:endParaRPr>
          </a:p>
          <a:p>
            <a:pPr lvl="1">
              <a:buNone/>
            </a:pPr>
            <a:endParaRPr lang="zh-CN" altLang="en-US" sz="2200" b="1" dirty="0">
              <a:ea typeface="宋体" panose="02010600030101010101" pitchFamily="2" charset="-122"/>
            </a:endParaRPr>
          </a:p>
          <a:p>
            <a:pPr lvl="1">
              <a:buNone/>
            </a:pPr>
            <a:endParaRPr lang="zh-CN" altLang="en-US" sz="2200" b="1" dirty="0">
              <a:ea typeface="宋体" panose="02010600030101010101" pitchFamily="2" charset="-122"/>
            </a:endParaRPr>
          </a:p>
          <a:p>
            <a:pPr lvl="1">
              <a:buNone/>
            </a:pPr>
            <a:endParaRPr lang="zh-CN" altLang="en-US" sz="2200" b="1" dirty="0">
              <a:ea typeface="宋体" panose="02010600030101010101" pitchFamily="2" charset="-122"/>
            </a:endParaRPr>
          </a:p>
          <a:p>
            <a:pPr lvl="1"/>
            <a:r>
              <a:rPr lang="zh-CN" altLang="en-US" sz="2200" b="1" dirty="0">
                <a:ea typeface="宋体" panose="02010600030101010101" pitchFamily="2" charset="-122"/>
              </a:rPr>
              <a:t>当碰到记录构造器时，结构等价的测试停止，被比较的类型或者由于它们有同样的命名记录类型而等价，或者不等价</a:t>
            </a:r>
            <a:endParaRPr lang="zh-CN" altLang="en-US" sz="2200" b="1" dirty="0">
              <a:ea typeface="宋体" panose="02010600030101010101" pitchFamily="2" charset="-122"/>
            </a:endParaRPr>
          </a:p>
        </p:txBody>
      </p:sp>
      <p:graphicFrame>
        <p:nvGraphicFramePr>
          <p:cNvPr id="108548" name="Object 4"/>
          <p:cNvGraphicFramePr>
            <a:graphicFrameLocks noChangeAspect="1"/>
          </p:cNvGraphicFramePr>
          <p:nvPr/>
        </p:nvGraphicFramePr>
        <p:xfrm>
          <a:off x="914400" y="1752600"/>
          <a:ext cx="7397750" cy="2700338"/>
        </p:xfrm>
        <a:graphic>
          <a:graphicData uri="http://schemas.openxmlformats.org/presentationml/2006/ole">
            <mc:AlternateContent xmlns:mc="http://schemas.openxmlformats.org/markup-compatibility/2006">
              <mc:Choice xmlns:v="urn:schemas-microsoft-com:vml" Requires="v">
                <p:oleObj spid="_x0000_s3081" name="" r:id="rId1" imgW="7396480" imgH="2702560" progId="Visio.Drawing.4">
                  <p:embed/>
                </p:oleObj>
              </mc:Choice>
              <mc:Fallback>
                <p:oleObj name="" r:id="rId1" imgW="7396480" imgH="2702560" progId="Visio.Drawing.4">
                  <p:embed/>
                  <p:pic>
                    <p:nvPicPr>
                      <p:cNvPr id="0" name="图片 3080"/>
                      <p:cNvPicPr/>
                      <p:nvPr/>
                    </p:nvPicPr>
                    <p:blipFill>
                      <a:blip r:embed="rId2"/>
                      <a:stretch>
                        <a:fillRect/>
                      </a:stretch>
                    </p:blipFill>
                    <p:spPr>
                      <a:xfrm>
                        <a:off x="914400" y="1752600"/>
                        <a:ext cx="7397750" cy="2700338"/>
                      </a:xfrm>
                      <a:prstGeom prst="rect">
                        <a:avLst/>
                      </a:prstGeom>
                      <a:noFill/>
                      <a:ln w="38100">
                        <a:noFill/>
                        <a:miter/>
                      </a:ln>
                    </p:spPr>
                  </p:pic>
                </p:oleObj>
              </mc:Fallback>
            </mc:AlternateContent>
          </a:graphicData>
        </a:graphic>
      </p:graphicFrame>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一个简化的表达声明的文法</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990600" y="1557338"/>
            <a:ext cx="7391400" cy="4538663"/>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简化的处理基本类型和数组类型的文法如下：</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l-GR"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ε</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B 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record ‘{’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D</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int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float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l-GR"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ε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num</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产生一系列声明</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生成基本类型、数组类型或记录类型</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生成基本类型</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int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float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之一</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产生零个或多个整数，每个整数用</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括起来，描述数组分量</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一个数组类型包含由</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指定的基本类型和</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产生的数组分量</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记录类型由各个字段的声明序列构成，用</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括起来</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局部变量名的存储布局（</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990600" y="1557338"/>
            <a:ext cx="7391400" cy="4538663"/>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编译器对变量声明的处理</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记录其类型</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计算其偏移地址</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作为未来存储分配的依据</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对于变长类型（如字符串）或动态数组等运行时才确定大小的数据对象，一般为指向这类对象的指针保存一个已知的固定大小存储区域</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地址对齐</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aligned</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受限于机器寻址方式，访存地址不是可以任意的</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如果按字寻址，可能会出现空白区（</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padding</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600200" marR="0" lvl="3" indent="-2286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如连续的</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10</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个字符后，编译器会安排两个字节的空白空间，以保证下一个对象的起始地址与字的边界对齐</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有的语言（如</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语言）也会做出类似要求</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局部变量名的存储布局（</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990600" y="1371600"/>
            <a:ext cx="7391400" cy="47244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声明翻译的一些说明</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存储区域是连续的字节块，可按字节寻址</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类型的宽度（</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width</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）是指该类型的一个对象所需的存储单元的数量</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此处约定数组、类等存放在一个连续的存储字节块</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下面的翻译方案中，</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的继承属性，</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type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width</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是每个非终结符的综合属性</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14692" name="Picture 2"/>
          <p:cNvPicPr>
            <a:picLocks noChangeAspect="1"/>
          </p:cNvPicPr>
          <p:nvPr/>
        </p:nvPicPr>
        <p:blipFill>
          <a:blip r:embed="rId1"/>
          <a:stretch>
            <a:fillRect/>
          </a:stretch>
        </p:blipFill>
        <p:spPr>
          <a:xfrm>
            <a:off x="250825" y="3860800"/>
            <a:ext cx="8694738" cy="3024188"/>
          </a:xfrm>
          <a:prstGeom prst="rect">
            <a:avLst/>
          </a:prstGeom>
          <a:noFill/>
          <a:ln w="9525">
            <a:noFill/>
          </a:ln>
        </p:spPr>
      </p:pic>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局部变量名的存储布局（</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990600" y="1371600"/>
            <a:ext cx="7391400" cy="47244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数组的宽度</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数组元素的个数*单个元素的宽度</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例子：类型</a:t>
            </a:r>
            <a:r>
              <a:rPr kumimoji="0"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int</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[2][3]</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语法分析树如下图中的虚线所示</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图中实线描述了</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type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width</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的传播计算过程</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16740" name="Picture 2"/>
          <p:cNvPicPr>
            <a:picLocks noChangeAspect="1"/>
          </p:cNvPicPr>
          <p:nvPr/>
        </p:nvPicPr>
        <p:blipFill>
          <a:blip r:embed="rId1"/>
          <a:stretch>
            <a:fillRect/>
          </a:stretch>
        </p:blipFill>
        <p:spPr>
          <a:xfrm>
            <a:off x="381000" y="2997200"/>
            <a:ext cx="8534400" cy="3887788"/>
          </a:xfrm>
          <a:prstGeom prst="rect">
            <a:avLst/>
          </a:prstGeom>
          <a:noFill/>
          <a:ln w="9525">
            <a:noFill/>
          </a:ln>
        </p:spPr>
      </p:pic>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声明的序列（</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827088" y="1371600"/>
            <a:ext cx="7554913" cy="47244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将单个过程的所有声明作为一个组处理，如</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C/Java</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引入</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offset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，跟踪下一个可用的地址</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offset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初值为</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，表示每个过程的第一个变量的偏移为</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0</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每次处理一个变量</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入符号表，其相对地址置为</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offset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的当前值</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的宽度加到</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offset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上</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18788" name="Picture 2"/>
          <p:cNvPicPr>
            <a:picLocks noChangeAspect="1"/>
          </p:cNvPicPr>
          <p:nvPr/>
        </p:nvPicPr>
        <p:blipFill>
          <a:blip r:embed="rId1"/>
          <a:stretch>
            <a:fillRect/>
          </a:stretch>
        </p:blipFill>
        <p:spPr>
          <a:xfrm>
            <a:off x="115888" y="3573463"/>
            <a:ext cx="8920162" cy="3240087"/>
          </a:xfrm>
          <a:prstGeom prst="rect">
            <a:avLst/>
          </a:prstGeom>
          <a:noFill/>
          <a:ln w="9525">
            <a:noFill/>
          </a:ln>
        </p:spPr>
      </p:pic>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声明的序列（</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827088" y="1371600"/>
            <a:ext cx="7554913" cy="47244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修改上述</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，将动作移到最右端</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原</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P</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offset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0</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D</a:t>
            </a:r>
            <a:endPar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引入标记非终结符，将对</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offset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的赋初值移到产生式最右端，使得动作在产生式归约时完成</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P</a:t>
            </a:r>
            <a:r>
              <a:rPr kumimoji="0" lang="zh-CN" altLang="en-US"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D</a:t>
            </a:r>
            <a:endPar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M</a:t>
            </a:r>
            <a:r>
              <a:rPr kumimoji="0" lang="zh-CN" altLang="en-US"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l-GR"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ε</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offset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0</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记录和类中的字段（</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827088" y="1371600"/>
            <a:ext cx="7554913" cy="47244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借鉴图</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6-17</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处理记录和类中的字段</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表示记录的文法产生式</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record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D</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用图</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6-17</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的方法确定记录中字段的类型和相对地址，必须注意如下两点：</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一个记录中各个字段的名字必须互不相同</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字段名的偏移量是相对于该记录的数据区字段而言的</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记录的例子</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float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record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float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float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y</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record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int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tag;</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float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float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y</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q;</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q.x</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赋值语句中</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的不同次出现，指向是不一样的</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记录和类中的字段（</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827088" y="1371600"/>
            <a:ext cx="7554913" cy="47244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处理记录和类中的字段的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上述翻译方案允许记录的嵌套声明</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在进入记录时，初始化一个新的记录描述</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保存原来的符号表（</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Env.push</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(top))</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offset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初始化一个新的符号表（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new</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Env</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offset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声明结束后</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登记类型（</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T.type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record(top)</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），并将宽度置为</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offset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恢复被入栈的原符号表和</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offset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24932" name="Picture 2"/>
          <p:cNvPicPr>
            <a:picLocks noChangeAspect="1"/>
          </p:cNvPicPr>
          <p:nvPr/>
        </p:nvPicPr>
        <p:blipFill>
          <a:blip r:embed="rId1"/>
          <a:stretch>
            <a:fillRect/>
          </a:stretch>
        </p:blipFill>
        <p:spPr>
          <a:xfrm>
            <a:off x="173038" y="1773238"/>
            <a:ext cx="8796337" cy="2160587"/>
          </a:xfrm>
          <a:prstGeom prst="rect">
            <a:avLst/>
          </a:prstGeom>
          <a:noFill/>
          <a:ln w="9525">
            <a:noFill/>
          </a:ln>
        </p:spPr>
      </p:pic>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第六章	中间代码生成 </a:t>
            </a:r>
            <a:endParaRPr lang="en-US" altLang="zh-CN" dirty="0">
              <a:latin typeface="Times New Roman" panose="02020603050405020304" pitchFamily="18" charset="0"/>
              <a:ea typeface="宋体" panose="02010600030101010101" pitchFamily="2" charset="-122"/>
            </a:endParaRPr>
          </a:p>
        </p:txBody>
      </p:sp>
      <p:sp>
        <p:nvSpPr>
          <p:cNvPr id="6147" name="Rectangle 3"/>
          <p:cNvSpPr>
            <a:spLocks noGrp="1" noChangeArrowheads="1"/>
          </p:cNvSpPr>
          <p:nvPr>
            <p:ph idx="1"/>
          </p:nvPr>
        </p:nvSpPr>
        <p:spPr>
          <a:xfrm>
            <a:off x="990600" y="1371600"/>
            <a:ext cx="7391400" cy="44196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rPr>
              <a:t>语法树的变体</a:t>
            </a:r>
            <a:endParaRPr kumimoji="0" lang="en-US" altLang="zh-CN"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rPr>
              <a:t>三地址代码</a:t>
            </a:r>
            <a:endParaRPr kumimoji="0" lang="en-US" altLang="zh-CN"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rPr>
              <a:t>类型和声明</a:t>
            </a:r>
            <a:endParaRPr kumimoji="0" lang="en-US" altLang="zh-CN"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表达式的翻译</a:t>
            </a:r>
            <a:endParaRPr kumimoji="0" lang="en-US" altLang="zh-CN" sz="3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类型检查</a:t>
            </a:r>
            <a:endParaRPr kumimoji="0" lang="en-US" altLang="zh-CN"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控制流、回填、</a:t>
            </a:r>
            <a:r>
              <a:rPr kumimoji="0" lang="en-US" altLang="zh-CN"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switch</a:t>
            </a:r>
            <a:r>
              <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语句</a:t>
            </a:r>
            <a:endParaRPr kumimoji="0" lang="en-US" altLang="zh-CN"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过程的中间代码</a:t>
            </a:r>
            <a:endPar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表达式中的运算（</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990600" y="1371600"/>
            <a:ext cx="7391400" cy="47244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为表达式生成三地址代码序列的翻译</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用到了</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的属性</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code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的属性</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addr</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code</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29028" name="Picture 2"/>
          <p:cNvPicPr>
            <a:picLocks noChangeAspect="1"/>
          </p:cNvPicPr>
          <p:nvPr/>
        </p:nvPicPr>
        <p:blipFill>
          <a:blip r:embed="rId1"/>
          <a:stretch>
            <a:fillRect/>
          </a:stretch>
        </p:blipFill>
        <p:spPr>
          <a:xfrm>
            <a:off x="467360" y="2061210"/>
            <a:ext cx="8001000" cy="5574665"/>
          </a:xfrm>
          <a:prstGeom prst="rect">
            <a:avLst/>
          </a:prstGeom>
          <a:noFill/>
          <a:ln w="9525">
            <a:noFill/>
          </a:ln>
        </p:spPr>
      </p:pic>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表达式中的运算（</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323850" y="1371600"/>
            <a:ext cx="8569325" cy="47244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E.addr</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可以理解为存放</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的对象的地址</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对于产生式</a:t>
            </a:r>
            <a:r>
              <a:rPr kumimoji="0" lang="en-US" altLang="zh-CN" sz="22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E</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→id</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E.addr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就是符号表条目的指针，据此可以得到其名字</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E.code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为空串</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对于产生式</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），只需属性的复制</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gen</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y</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z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表示生成了三地址指令</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y</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z</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new</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Temp</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（）会产生一系列互不同名的临时变量</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zh-CN" altLang="en-US"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E</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，拼接</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的代码，最后生成计算二者和的指令</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；生成将</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的值赋给</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的指令，其中</a:t>
            </a:r>
            <a:r>
              <a:rPr kumimoji="0" lang="en-US" altLang="zh-CN" sz="22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top.get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id.</a:t>
            </a:r>
            <a:r>
              <a:rPr kumimoji="0" lang="en-US" altLang="zh-CN" sz="22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lexeme</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表示从（栈顶）符号表取出</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的地址，以完成赋值</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翻译结果的例子：</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t1 = minus c</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t2 = b + t1</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 = t2</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表达式中的运算（</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755650" y="1371600"/>
            <a:ext cx="7848600" cy="47244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增量编译</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不用</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code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属性，直接生成指令序列</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避免</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code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代码过长的问题</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生成的指令序列可以暂时放在内存中，也可以增量式输出</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33124" name="Picture 2"/>
          <p:cNvPicPr>
            <a:picLocks noChangeAspect="1"/>
          </p:cNvPicPr>
          <p:nvPr/>
        </p:nvPicPr>
        <p:blipFill>
          <a:blip r:embed="rId1"/>
          <a:stretch>
            <a:fillRect/>
          </a:stretch>
        </p:blipFill>
        <p:spPr>
          <a:xfrm>
            <a:off x="200025" y="2852738"/>
            <a:ext cx="8764588" cy="4032250"/>
          </a:xfrm>
          <a:prstGeom prst="rect">
            <a:avLst/>
          </a:prstGeom>
          <a:noFill/>
          <a:ln w="9525">
            <a:noFill/>
          </a:ln>
        </p:spPr>
      </p:pic>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数组元素的寻址（</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35171" name="Rectangle 3"/>
          <p:cNvSpPr>
            <a:spLocks noGrp="1"/>
          </p:cNvSpPr>
          <p:nvPr>
            <p:ph idx="1"/>
          </p:nvPr>
        </p:nvSpPr>
        <p:spPr>
          <a:xfrm>
            <a:off x="990600" y="1524000"/>
            <a:ext cx="7391400" cy="4724400"/>
          </a:xfrm>
        </p:spPr>
        <p:txBody>
          <a:bodyPr vert="horz" wrap="square" lIns="92075" tIns="46038" rIns="92075" bIns="46038" anchor="t" anchorCtr="0"/>
          <a:p>
            <a:pPr>
              <a:lnSpc>
                <a:spcPct val="90000"/>
              </a:lnSpc>
            </a:pPr>
            <a:r>
              <a:rPr lang="zh-CN" altLang="en-US" sz="2400" b="1" dirty="0">
                <a:ea typeface="宋体" panose="02010600030101010101" pitchFamily="2" charset="-122"/>
              </a:rPr>
              <a:t>数组元素的寻址：对于一个数组，某个元素相对于数组存储首地址的偏移</a:t>
            </a:r>
            <a:endParaRPr lang="en-US" altLang="zh-CN" sz="2400" b="1" dirty="0">
              <a:ea typeface="宋体" panose="02010600030101010101" pitchFamily="2" charset="-122"/>
            </a:endParaRPr>
          </a:p>
          <a:p>
            <a:pPr lvl="1">
              <a:lnSpc>
                <a:spcPct val="90000"/>
              </a:lnSpc>
            </a:pPr>
            <a:r>
              <a:rPr lang="zh-CN" altLang="en-US" sz="2200" b="1" dirty="0">
                <a:ea typeface="宋体" panose="02010600030101010101" pitchFamily="2" charset="-122"/>
              </a:rPr>
              <a:t>数组存储在连续的存储块中</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假设每个数组元素的宽度为</a:t>
            </a:r>
            <a:r>
              <a:rPr lang="en-US" altLang="zh-CN" sz="2200" b="1" dirty="0">
                <a:ea typeface="宋体" panose="02010600030101010101" pitchFamily="2" charset="-122"/>
              </a:rPr>
              <a:t>w，</a:t>
            </a:r>
            <a:r>
              <a:rPr lang="zh-CN" altLang="en-US" sz="2200" b="1" dirty="0">
                <a:ea typeface="宋体" panose="02010600030101010101" pitchFamily="2" charset="-122"/>
              </a:rPr>
              <a:t>数组的首地址为</a:t>
            </a:r>
            <a:r>
              <a:rPr lang="en-US" altLang="zh-CN" sz="2200" b="1" dirty="0">
                <a:ea typeface="宋体" panose="02010600030101010101" pitchFamily="2" charset="-122"/>
              </a:rPr>
              <a:t>base</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一维数组元素的定址：</a:t>
            </a:r>
            <a:r>
              <a:rPr lang="en-US" altLang="zh-CN" sz="2200" b="1" dirty="0">
                <a:ea typeface="宋体" panose="02010600030101010101" pitchFamily="2" charset="-122"/>
              </a:rPr>
              <a:t>A[ i ]</a:t>
            </a:r>
            <a:endParaRPr lang="en-US" altLang="zh-CN" sz="2200" b="1" dirty="0">
              <a:ea typeface="宋体" panose="02010600030101010101" pitchFamily="2" charset="-122"/>
            </a:endParaRPr>
          </a:p>
          <a:p>
            <a:pPr lvl="2">
              <a:lnSpc>
                <a:spcPct val="90000"/>
              </a:lnSpc>
            </a:pPr>
            <a:r>
              <a:rPr lang="zh-CN" altLang="en-US" sz="2000" b="1" dirty="0">
                <a:ea typeface="宋体" panose="02010600030101010101" pitchFamily="2" charset="-122"/>
              </a:rPr>
              <a:t>假设数组下标的下界为</a:t>
            </a:r>
            <a:r>
              <a:rPr lang="en-US" altLang="zh-CN" sz="2000" b="1" dirty="0">
                <a:ea typeface="宋体" panose="02010600030101010101" pitchFamily="2" charset="-122"/>
              </a:rPr>
              <a:t>low，</a:t>
            </a:r>
            <a:r>
              <a:rPr lang="zh-CN" altLang="en-US" sz="2000" b="1" dirty="0">
                <a:ea typeface="宋体" panose="02010600030101010101" pitchFamily="2" charset="-122"/>
              </a:rPr>
              <a:t>此时：</a:t>
            </a:r>
            <a:r>
              <a:rPr lang="en-US" altLang="zh-CN" sz="2000" b="1" dirty="0">
                <a:ea typeface="宋体" panose="02010600030101010101" pitchFamily="2" charset="-122"/>
              </a:rPr>
              <a:t>base</a:t>
            </a:r>
            <a:r>
              <a:rPr lang="zh-CN" altLang="en-US" sz="2000" b="1" dirty="0">
                <a:ea typeface="宋体" panose="02010600030101010101" pitchFamily="2" charset="-122"/>
              </a:rPr>
              <a:t>是</a:t>
            </a:r>
            <a:r>
              <a:rPr lang="en-US" altLang="zh-CN" sz="2000" b="1" dirty="0">
                <a:ea typeface="宋体" panose="02010600030101010101" pitchFamily="2" charset="-122"/>
              </a:rPr>
              <a:t>A[ low ]</a:t>
            </a:r>
            <a:r>
              <a:rPr lang="zh-CN" altLang="en-US" sz="2000" b="1" dirty="0">
                <a:ea typeface="宋体" panose="02010600030101010101" pitchFamily="2" charset="-122"/>
              </a:rPr>
              <a:t>的相对地址， </a:t>
            </a:r>
            <a:r>
              <a:rPr lang="en-US" altLang="zh-CN" sz="2000" b="1" dirty="0">
                <a:ea typeface="宋体" panose="02010600030101010101" pitchFamily="2" charset="-122"/>
              </a:rPr>
              <a:t>A[ i ]</a:t>
            </a:r>
            <a:r>
              <a:rPr lang="zh-CN" altLang="en-US" sz="2000" b="1" dirty="0">
                <a:ea typeface="宋体" panose="02010600030101010101" pitchFamily="2" charset="-122"/>
              </a:rPr>
              <a:t>的相对地址是</a:t>
            </a:r>
            <a:r>
              <a:rPr lang="en-US" altLang="zh-CN" sz="2000" b="1" dirty="0">
                <a:ea typeface="宋体" panose="02010600030101010101" pitchFamily="2" charset="-122"/>
              </a:rPr>
              <a:t>base + ( i – low ) * w</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优化的计算方式：</a:t>
            </a:r>
            <a:r>
              <a:rPr lang="en-US" altLang="zh-CN" sz="2000" b="1" dirty="0">
                <a:ea typeface="宋体" panose="02010600030101010101" pitchFamily="2" charset="-122"/>
              </a:rPr>
              <a:t>i * w + (base – low * w)，</a:t>
            </a:r>
            <a:r>
              <a:rPr lang="zh-CN" altLang="en-US" sz="2000" b="1" dirty="0">
                <a:ea typeface="宋体" panose="02010600030101010101" pitchFamily="2" charset="-122"/>
              </a:rPr>
              <a:t>后一部分可以在编译时刻计算</a:t>
            </a:r>
            <a:endParaRPr lang="zh-CN" altLang="en-US" sz="2000" b="1" dirty="0">
              <a:ea typeface="宋体" panose="02010600030101010101" pitchFamily="2" charset="-122"/>
            </a:endParaRPr>
          </a:p>
          <a:p>
            <a:pPr lvl="1">
              <a:lnSpc>
                <a:spcPct val="90000"/>
              </a:lnSpc>
            </a:pPr>
            <a:r>
              <a:rPr lang="zh-CN" altLang="en-US" sz="2200" b="1" dirty="0">
                <a:ea typeface="宋体" panose="02010600030101010101" pitchFamily="2" charset="-122"/>
              </a:rPr>
              <a:t>多维数组的存储方式有两种：数组元组的定址计算方式是不一样的 </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行为主（一行接一行的存放）</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列为主（一列接一列的存放）</a:t>
            </a:r>
            <a:endParaRPr lang="zh-CN" altLang="en-US" sz="2000" b="1" dirty="0">
              <a:ea typeface="宋体" panose="02010600030101010101" pitchFamily="2" charset="-122"/>
            </a:endParaRP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数组元素的寻址（</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graphicFrame>
        <p:nvGraphicFramePr>
          <p:cNvPr id="137219" name="Object 5"/>
          <p:cNvGraphicFramePr>
            <a:graphicFrameLocks noChangeAspect="1"/>
          </p:cNvGraphicFramePr>
          <p:nvPr/>
        </p:nvGraphicFramePr>
        <p:xfrm>
          <a:off x="1371600" y="1752600"/>
          <a:ext cx="6057900" cy="3921125"/>
        </p:xfrm>
        <a:graphic>
          <a:graphicData uri="http://schemas.openxmlformats.org/presentationml/2006/ole">
            <mc:AlternateContent xmlns:mc="http://schemas.openxmlformats.org/markup-compatibility/2006">
              <mc:Choice xmlns:v="urn:schemas-microsoft-com:vml" Requires="v">
                <p:oleObj spid="_x0000_s3082" name="" r:id="rId1" imgW="5105400" imgH="3307080" progId="Visio.Drawing.4">
                  <p:embed/>
                </p:oleObj>
              </mc:Choice>
              <mc:Fallback>
                <p:oleObj name="" r:id="rId1" imgW="5105400" imgH="3307080" progId="Visio.Drawing.4">
                  <p:embed/>
                  <p:pic>
                    <p:nvPicPr>
                      <p:cNvPr id="0" name="图片 3081"/>
                      <p:cNvPicPr/>
                      <p:nvPr/>
                    </p:nvPicPr>
                    <p:blipFill>
                      <a:blip r:embed="rId2"/>
                      <a:stretch>
                        <a:fillRect/>
                      </a:stretch>
                    </p:blipFill>
                    <p:spPr>
                      <a:xfrm>
                        <a:off x="1371600" y="1752600"/>
                        <a:ext cx="6057900" cy="3921125"/>
                      </a:xfrm>
                      <a:prstGeom prst="rect">
                        <a:avLst/>
                      </a:prstGeom>
                      <a:noFill/>
                      <a:ln w="38100">
                        <a:noFill/>
                        <a:miter/>
                      </a:ln>
                    </p:spPr>
                  </p:pic>
                </p:oleObj>
              </mc:Fallback>
            </mc:AlternateContent>
          </a:graphicData>
        </a:graphic>
      </p:graphicFrame>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数组元素的寻址（</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39267" name="Rectangle 3"/>
          <p:cNvSpPr>
            <a:spLocks noGrp="1"/>
          </p:cNvSpPr>
          <p:nvPr>
            <p:ph idx="1"/>
          </p:nvPr>
        </p:nvSpPr>
        <p:spPr>
          <a:xfrm>
            <a:off x="755650" y="1524000"/>
            <a:ext cx="7702550" cy="4724400"/>
          </a:xfrm>
        </p:spPr>
        <p:txBody>
          <a:bodyPr vert="horz" wrap="square" lIns="92075" tIns="46038" rIns="92075" bIns="46038" anchor="t" anchorCtr="0"/>
          <a:p>
            <a:pPr>
              <a:lnSpc>
                <a:spcPct val="90000"/>
              </a:lnSpc>
            </a:pPr>
            <a:r>
              <a:rPr lang="zh-CN" altLang="en-US" sz="2400" b="1" dirty="0">
                <a:ea typeface="宋体" panose="02010600030101010101" pitchFamily="2" charset="-122"/>
              </a:rPr>
              <a:t>行为主的二维数组</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元素的定址公式</a:t>
            </a:r>
            <a:endParaRPr lang="zh-CN" altLang="en-US" sz="2200" b="1" dirty="0">
              <a:ea typeface="宋体" panose="02010600030101010101" pitchFamily="2" charset="-122"/>
            </a:endParaRPr>
          </a:p>
          <a:p>
            <a:pPr lvl="1">
              <a:lnSpc>
                <a:spcPct val="90000"/>
              </a:lnSpc>
              <a:buNone/>
            </a:pPr>
            <a:r>
              <a:rPr lang="en-US" altLang="zh-CN" sz="2200" b="1" dirty="0">
                <a:ea typeface="宋体" panose="02010600030101010101" pitchFamily="2" charset="-122"/>
              </a:rPr>
              <a:t>		A[ i</a:t>
            </a:r>
            <a:r>
              <a:rPr lang="en-US" altLang="zh-CN" sz="2200" b="1" baseline="-25000" dirty="0">
                <a:ea typeface="宋体" panose="02010600030101010101" pitchFamily="2" charset="-122"/>
              </a:rPr>
              <a:t>1</a:t>
            </a:r>
            <a:r>
              <a:rPr lang="en-US" altLang="zh-CN" sz="2200" b="1" dirty="0">
                <a:ea typeface="宋体" panose="02010600030101010101" pitchFamily="2" charset="-122"/>
              </a:rPr>
              <a:t>，i</a:t>
            </a:r>
            <a:r>
              <a:rPr lang="en-US" altLang="zh-CN" sz="2200" b="1" baseline="-25000" dirty="0">
                <a:ea typeface="宋体" panose="02010600030101010101" pitchFamily="2" charset="-122"/>
              </a:rPr>
              <a:t>2</a:t>
            </a:r>
            <a:r>
              <a:rPr lang="en-US" altLang="zh-CN" sz="2200" b="1" dirty="0">
                <a:ea typeface="宋体" panose="02010600030101010101" pitchFamily="2" charset="-122"/>
              </a:rPr>
              <a:t> ]</a:t>
            </a:r>
            <a:r>
              <a:rPr lang="zh-CN" altLang="en-US" sz="2200" b="1" dirty="0">
                <a:ea typeface="宋体" panose="02010600030101010101" pitchFamily="2" charset="-122"/>
              </a:rPr>
              <a:t>的相对地址：</a:t>
            </a:r>
            <a:endParaRPr lang="zh-CN" altLang="en-US" sz="2200" b="1" dirty="0">
              <a:ea typeface="宋体" panose="02010600030101010101" pitchFamily="2" charset="-122"/>
            </a:endParaRPr>
          </a:p>
          <a:p>
            <a:pPr lvl="1">
              <a:lnSpc>
                <a:spcPct val="90000"/>
              </a:lnSpc>
              <a:buNone/>
            </a:pPr>
            <a:r>
              <a:rPr lang="en-US" altLang="zh-CN" sz="2200" b="1" dirty="0">
                <a:ea typeface="宋体" panose="02010600030101010101" pitchFamily="2" charset="-122"/>
              </a:rPr>
              <a:t>		base + (( i</a:t>
            </a:r>
            <a:r>
              <a:rPr lang="en-US" altLang="zh-CN" sz="2200" b="1" baseline="-25000" dirty="0">
                <a:ea typeface="宋体" panose="02010600030101010101" pitchFamily="2" charset="-122"/>
              </a:rPr>
              <a:t>1</a:t>
            </a:r>
            <a:r>
              <a:rPr lang="en-US" altLang="zh-CN" sz="2200" b="1" dirty="0">
                <a:ea typeface="宋体" panose="02010600030101010101" pitchFamily="2" charset="-122"/>
              </a:rPr>
              <a:t> – low</a:t>
            </a:r>
            <a:r>
              <a:rPr lang="en-US" altLang="zh-CN" sz="2200" b="1" baseline="-25000" dirty="0">
                <a:ea typeface="宋体" panose="02010600030101010101" pitchFamily="2" charset="-122"/>
              </a:rPr>
              <a:t>1</a:t>
            </a:r>
            <a:r>
              <a:rPr lang="en-US" altLang="zh-CN" sz="2200" b="1" dirty="0">
                <a:ea typeface="宋体" panose="02010600030101010101" pitchFamily="2" charset="-122"/>
              </a:rPr>
              <a:t> ) * n</a:t>
            </a:r>
            <a:r>
              <a:rPr lang="en-US" altLang="zh-CN" sz="2200" b="1" baseline="-25000" dirty="0">
                <a:ea typeface="宋体" panose="02010600030101010101" pitchFamily="2" charset="-122"/>
              </a:rPr>
              <a:t>2</a:t>
            </a:r>
            <a:r>
              <a:rPr lang="zh-CN" altLang="en-US" sz="2200" b="1" dirty="0">
                <a:ea typeface="宋体" panose="02010600030101010101" pitchFamily="2" charset="-122"/>
              </a:rPr>
              <a:t>*</a:t>
            </a:r>
            <a:r>
              <a:rPr lang="en-US" altLang="zh-CN" sz="2200" b="1" dirty="0">
                <a:ea typeface="宋体" panose="02010600030101010101" pitchFamily="2" charset="-122"/>
              </a:rPr>
              <a:t>w+ ( i</a:t>
            </a:r>
            <a:r>
              <a:rPr lang="en-US" altLang="zh-CN" sz="2200" b="1" baseline="-25000" dirty="0">
                <a:ea typeface="宋体" panose="02010600030101010101" pitchFamily="2" charset="-122"/>
              </a:rPr>
              <a:t>2</a:t>
            </a:r>
            <a:r>
              <a:rPr lang="en-US" altLang="zh-CN" sz="2200" b="1" dirty="0">
                <a:ea typeface="宋体" panose="02010600030101010101" pitchFamily="2" charset="-122"/>
              </a:rPr>
              <a:t> – low</a:t>
            </a:r>
            <a:r>
              <a:rPr lang="en-US" altLang="zh-CN" sz="2200" b="1" baseline="-25000" dirty="0">
                <a:ea typeface="宋体" panose="02010600030101010101" pitchFamily="2" charset="-122"/>
              </a:rPr>
              <a:t>2</a:t>
            </a:r>
            <a:r>
              <a:rPr lang="en-US" altLang="zh-CN" sz="2200" b="1" dirty="0">
                <a:ea typeface="宋体" panose="02010600030101010101" pitchFamily="2" charset="-122"/>
              </a:rPr>
              <a:t> ) * w</a:t>
            </a:r>
            <a:endParaRPr lang="en-US" altLang="zh-CN" sz="2200" b="1" dirty="0">
              <a:ea typeface="宋体" panose="02010600030101010101" pitchFamily="2" charset="-122"/>
            </a:endParaRPr>
          </a:p>
          <a:p>
            <a:pPr lvl="2">
              <a:lnSpc>
                <a:spcPct val="90000"/>
              </a:lnSpc>
            </a:pPr>
            <a:r>
              <a:rPr lang="en-US" altLang="zh-CN" sz="2000" b="1" dirty="0">
                <a:ea typeface="宋体" panose="02010600030101010101" pitchFamily="2" charset="-122"/>
              </a:rPr>
              <a:t>Low</a:t>
            </a:r>
            <a:r>
              <a:rPr lang="en-US" altLang="zh-CN" sz="2000" b="1" baseline="-25000" dirty="0">
                <a:ea typeface="宋体" panose="02010600030101010101" pitchFamily="2" charset="-122"/>
              </a:rPr>
              <a:t>1</a:t>
            </a:r>
            <a:r>
              <a:rPr lang="zh-CN" altLang="en-US" sz="2000" b="1" dirty="0">
                <a:ea typeface="宋体" panose="02010600030101010101" pitchFamily="2" charset="-122"/>
              </a:rPr>
              <a:t>和</a:t>
            </a:r>
            <a:r>
              <a:rPr lang="en-US" altLang="zh-CN" sz="2000" b="1" dirty="0">
                <a:ea typeface="宋体" panose="02010600030101010101" pitchFamily="2" charset="-122"/>
              </a:rPr>
              <a:t>low</a:t>
            </a:r>
            <a:r>
              <a:rPr lang="en-US" altLang="zh-CN" sz="2000" b="1" baseline="-25000" dirty="0">
                <a:ea typeface="宋体" panose="02010600030101010101" pitchFamily="2" charset="-122"/>
              </a:rPr>
              <a:t>2</a:t>
            </a:r>
            <a:r>
              <a:rPr lang="zh-CN" altLang="en-US" sz="2000" b="1" dirty="0">
                <a:ea typeface="宋体" panose="02010600030101010101" pitchFamily="2" charset="-122"/>
              </a:rPr>
              <a:t>分别是两维的下界</a:t>
            </a:r>
            <a:endParaRPr lang="zh-CN" altLang="en-US" sz="2000" b="1" dirty="0">
              <a:ea typeface="宋体" panose="02010600030101010101" pitchFamily="2" charset="-122"/>
            </a:endParaRPr>
          </a:p>
          <a:p>
            <a:pPr lvl="2">
              <a:lnSpc>
                <a:spcPct val="90000"/>
              </a:lnSpc>
            </a:pPr>
            <a:r>
              <a:rPr lang="en-US" altLang="zh-CN" sz="2000" b="1" dirty="0">
                <a:ea typeface="宋体" panose="02010600030101010101" pitchFamily="2" charset="-122"/>
              </a:rPr>
              <a:t>n</a:t>
            </a:r>
            <a:r>
              <a:rPr lang="en-US" altLang="zh-CN" sz="2000" b="1" baseline="-25000" dirty="0">
                <a:ea typeface="宋体" panose="02010600030101010101" pitchFamily="2" charset="-122"/>
              </a:rPr>
              <a:t>2</a:t>
            </a:r>
            <a:r>
              <a:rPr lang="zh-CN" altLang="en-US" sz="2000" b="1" dirty="0">
                <a:ea typeface="宋体" panose="02010600030101010101" pitchFamily="2" charset="-122"/>
              </a:rPr>
              <a:t>是数组第二维的维展，即</a:t>
            </a:r>
            <a:r>
              <a:rPr lang="en-US" altLang="zh-CN" sz="2000" b="1" dirty="0">
                <a:ea typeface="宋体" panose="02010600030101010101" pitchFamily="2" charset="-122"/>
              </a:rPr>
              <a:t>i</a:t>
            </a:r>
            <a:r>
              <a:rPr lang="en-US" altLang="zh-CN" sz="2000" b="1" baseline="-25000" dirty="0">
                <a:ea typeface="宋体" panose="02010600030101010101" pitchFamily="2" charset="-122"/>
              </a:rPr>
              <a:t>2</a:t>
            </a:r>
            <a:r>
              <a:rPr lang="zh-CN" altLang="en-US" sz="2000" b="1" dirty="0">
                <a:ea typeface="宋体" panose="02010600030101010101" pitchFamily="2" charset="-122"/>
              </a:rPr>
              <a:t>可取值的个数，如果</a:t>
            </a:r>
            <a:r>
              <a:rPr lang="en-US" altLang="zh-CN" sz="2000" b="1" dirty="0">
                <a:ea typeface="宋体" panose="02010600030101010101" pitchFamily="2" charset="-122"/>
              </a:rPr>
              <a:t>high</a:t>
            </a:r>
            <a:r>
              <a:rPr lang="en-US" altLang="zh-CN" sz="2000" b="1" baseline="-25000" dirty="0">
                <a:ea typeface="宋体" panose="02010600030101010101" pitchFamily="2" charset="-122"/>
              </a:rPr>
              <a:t>2</a:t>
            </a:r>
            <a:r>
              <a:rPr lang="zh-CN" altLang="en-US" sz="2000" b="1" dirty="0">
                <a:ea typeface="宋体" panose="02010600030101010101" pitchFamily="2" charset="-122"/>
              </a:rPr>
              <a:t>是</a:t>
            </a:r>
            <a:r>
              <a:rPr lang="en-US" altLang="zh-CN" sz="2000" b="1" dirty="0">
                <a:ea typeface="宋体" panose="02010600030101010101" pitchFamily="2" charset="-122"/>
              </a:rPr>
              <a:t>i</a:t>
            </a:r>
            <a:r>
              <a:rPr lang="en-US" altLang="zh-CN" sz="2000" b="1" baseline="-25000" dirty="0">
                <a:ea typeface="宋体" panose="02010600030101010101" pitchFamily="2" charset="-122"/>
              </a:rPr>
              <a:t>2</a:t>
            </a:r>
            <a:r>
              <a:rPr lang="zh-CN" altLang="en-US" sz="2000" b="1" dirty="0">
                <a:ea typeface="宋体" panose="02010600030101010101" pitchFamily="2" charset="-122"/>
              </a:rPr>
              <a:t>值的上界，且这一维的步长为</a:t>
            </a:r>
            <a:r>
              <a:rPr lang="en-US" altLang="zh-CN" sz="2000" b="1" dirty="0">
                <a:ea typeface="宋体" panose="02010600030101010101" pitchFamily="2" charset="-122"/>
              </a:rPr>
              <a:t>1</a:t>
            </a:r>
            <a:r>
              <a:rPr lang="zh-CN" altLang="en-US" sz="2000" b="1" dirty="0">
                <a:ea typeface="宋体" panose="02010600030101010101" pitchFamily="2" charset="-122"/>
              </a:rPr>
              <a:t>，则</a:t>
            </a:r>
            <a:r>
              <a:rPr lang="en-US" altLang="zh-CN" sz="2000" b="1" dirty="0">
                <a:ea typeface="宋体" panose="02010600030101010101" pitchFamily="2" charset="-122"/>
              </a:rPr>
              <a:t>n</a:t>
            </a:r>
            <a:r>
              <a:rPr lang="en-US" altLang="zh-CN" sz="2000" b="1" baseline="-25000" dirty="0">
                <a:ea typeface="宋体" panose="02010600030101010101" pitchFamily="2" charset="-122"/>
              </a:rPr>
              <a:t>2</a:t>
            </a:r>
            <a:r>
              <a:rPr lang="zh-CN" altLang="en-US" sz="2000" b="1" dirty="0">
                <a:ea typeface="宋体" panose="02010600030101010101" pitchFamily="2" charset="-122"/>
              </a:rPr>
              <a:t>=</a:t>
            </a:r>
            <a:r>
              <a:rPr lang="en-US" altLang="zh-CN" sz="2000" b="1" dirty="0">
                <a:ea typeface="宋体" panose="02010600030101010101" pitchFamily="2" charset="-122"/>
              </a:rPr>
              <a:t>high</a:t>
            </a:r>
            <a:r>
              <a:rPr lang="en-US" altLang="zh-CN" sz="2000" b="1" baseline="-25000" dirty="0">
                <a:ea typeface="宋体" panose="02010600030101010101" pitchFamily="2" charset="-122"/>
              </a:rPr>
              <a:t>2</a:t>
            </a:r>
            <a:r>
              <a:rPr lang="en-US" altLang="zh-CN" sz="2000" b="1" dirty="0">
                <a:ea typeface="宋体" panose="02010600030101010101" pitchFamily="2" charset="-122"/>
              </a:rPr>
              <a:t> - low</a:t>
            </a:r>
            <a:r>
              <a:rPr lang="en-US" altLang="zh-CN" sz="2000" b="1" baseline="-25000" dirty="0">
                <a:ea typeface="宋体" panose="02010600030101010101" pitchFamily="2" charset="-122"/>
              </a:rPr>
              <a:t>2</a:t>
            </a:r>
            <a:r>
              <a:rPr lang="en-US" altLang="zh-CN" sz="2000" b="1" dirty="0">
                <a:ea typeface="宋体" panose="02010600030101010101" pitchFamily="2" charset="-122"/>
              </a:rPr>
              <a:t> +1</a:t>
            </a:r>
            <a:endParaRPr lang="en-US" altLang="zh-CN" sz="2000" b="1" dirty="0">
              <a:ea typeface="宋体" panose="02010600030101010101" pitchFamily="2" charset="-122"/>
            </a:endParaRPr>
          </a:p>
          <a:p>
            <a:pPr lvl="1">
              <a:lnSpc>
                <a:spcPct val="90000"/>
              </a:lnSpc>
            </a:pPr>
            <a:r>
              <a:rPr lang="zh-CN" altLang="en-US" sz="2200" b="1" dirty="0">
                <a:ea typeface="宋体" panose="02010600030101010101" pitchFamily="2" charset="-122"/>
              </a:rPr>
              <a:t>地址计算的优化公式：表达式的后一项可以在编译时刻完成计算</a:t>
            </a:r>
            <a:endParaRPr lang="zh-CN" altLang="en-US" sz="2200" b="1" dirty="0">
              <a:ea typeface="宋体" panose="02010600030101010101" pitchFamily="2" charset="-122"/>
            </a:endParaRPr>
          </a:p>
          <a:p>
            <a:pPr lvl="1">
              <a:lnSpc>
                <a:spcPct val="90000"/>
              </a:lnSpc>
              <a:buNone/>
            </a:pPr>
            <a:r>
              <a:rPr lang="en-US" altLang="zh-CN" sz="2200" b="1" dirty="0">
                <a:ea typeface="宋体" panose="02010600030101010101" pitchFamily="2" charset="-122"/>
              </a:rPr>
              <a:t>	 ( ( i</a:t>
            </a:r>
            <a:r>
              <a:rPr lang="en-US" altLang="zh-CN" sz="2200" b="1" baseline="-25000" dirty="0">
                <a:ea typeface="宋体" panose="02010600030101010101" pitchFamily="2" charset="-122"/>
              </a:rPr>
              <a:t>1</a:t>
            </a:r>
            <a:r>
              <a:rPr lang="en-US" altLang="zh-CN" sz="2200" b="1" dirty="0">
                <a:ea typeface="宋体" panose="02010600030101010101" pitchFamily="2" charset="-122"/>
              </a:rPr>
              <a:t> * n</a:t>
            </a:r>
            <a:r>
              <a:rPr lang="en-US" altLang="zh-CN" sz="2200" b="1" baseline="-25000" dirty="0">
                <a:ea typeface="宋体" panose="02010600030101010101" pitchFamily="2" charset="-122"/>
              </a:rPr>
              <a:t>2</a:t>
            </a:r>
            <a:r>
              <a:rPr lang="en-US" altLang="zh-CN" sz="2200" b="1" dirty="0">
                <a:ea typeface="宋体" panose="02010600030101010101" pitchFamily="2" charset="-122"/>
              </a:rPr>
              <a:t> ) + i</a:t>
            </a:r>
            <a:r>
              <a:rPr lang="en-US" altLang="zh-CN" sz="2200" b="1" baseline="-25000" dirty="0">
                <a:ea typeface="宋体" panose="02010600030101010101" pitchFamily="2" charset="-122"/>
              </a:rPr>
              <a:t>2</a:t>
            </a:r>
            <a:r>
              <a:rPr lang="en-US" altLang="zh-CN" sz="2200" b="1" dirty="0">
                <a:ea typeface="宋体" panose="02010600030101010101" pitchFamily="2" charset="-122"/>
              </a:rPr>
              <a:t> ) * w + (base - ( ( low</a:t>
            </a:r>
            <a:r>
              <a:rPr lang="en-US" altLang="zh-CN" sz="2200" b="1" baseline="-25000" dirty="0">
                <a:ea typeface="宋体" panose="02010600030101010101" pitchFamily="2" charset="-122"/>
              </a:rPr>
              <a:t>1</a:t>
            </a:r>
            <a:r>
              <a:rPr lang="en-US" altLang="zh-CN" sz="2200" b="1" dirty="0">
                <a:ea typeface="宋体" panose="02010600030101010101" pitchFamily="2" charset="-122"/>
              </a:rPr>
              <a:t> * n</a:t>
            </a:r>
            <a:r>
              <a:rPr lang="en-US" altLang="zh-CN" sz="2200" b="1" baseline="-25000" dirty="0">
                <a:ea typeface="宋体" panose="02010600030101010101" pitchFamily="2" charset="-122"/>
              </a:rPr>
              <a:t>2</a:t>
            </a:r>
            <a:r>
              <a:rPr lang="en-US" altLang="zh-CN" sz="2200" b="1" dirty="0">
                <a:ea typeface="宋体" panose="02010600030101010101" pitchFamily="2" charset="-122"/>
              </a:rPr>
              <a:t> ) + low</a:t>
            </a:r>
            <a:r>
              <a:rPr lang="en-US" altLang="zh-CN" sz="2200" b="1" baseline="-25000" dirty="0">
                <a:ea typeface="宋体" panose="02010600030101010101" pitchFamily="2" charset="-122"/>
              </a:rPr>
              <a:t>2</a:t>
            </a:r>
            <a:r>
              <a:rPr lang="en-US" altLang="zh-CN" sz="2200" b="1" dirty="0">
                <a:ea typeface="宋体" panose="02010600030101010101" pitchFamily="2" charset="-122"/>
              </a:rPr>
              <a:t> ) * w)</a:t>
            </a:r>
            <a:endParaRPr lang="en-US" altLang="zh-CN" sz="2200" b="1" dirty="0">
              <a:ea typeface="宋体" panose="02010600030101010101" pitchFamily="2" charset="-122"/>
            </a:endParaRPr>
          </a:p>
          <a:p>
            <a:pPr>
              <a:lnSpc>
                <a:spcPct val="90000"/>
              </a:lnSpc>
            </a:pPr>
            <a:r>
              <a:rPr lang="zh-CN" altLang="en-US" sz="2400" b="1" dirty="0">
                <a:ea typeface="宋体" panose="02010600030101010101" pitchFamily="2" charset="-122"/>
              </a:rPr>
              <a:t>列为主的二维数组的元素定址</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类似于行为主的二维数组： </a:t>
            </a:r>
            <a:endParaRPr lang="zh-CN" altLang="en-US" sz="2200" b="1" dirty="0">
              <a:ea typeface="宋体" panose="02010600030101010101" pitchFamily="2" charset="-122"/>
            </a:endParaRPr>
          </a:p>
          <a:p>
            <a:pPr lvl="1">
              <a:lnSpc>
                <a:spcPct val="90000"/>
              </a:lnSpc>
              <a:buNone/>
            </a:pPr>
            <a:r>
              <a:rPr lang="en-US" altLang="zh-CN" sz="2200" b="1" dirty="0">
                <a:ea typeface="宋体" panose="02010600030101010101" pitchFamily="2" charset="-122"/>
              </a:rPr>
              <a:t>		base + ( ( i</a:t>
            </a:r>
            <a:r>
              <a:rPr lang="en-US" altLang="zh-CN" sz="2200" b="1" baseline="-25000" dirty="0">
                <a:ea typeface="宋体" panose="02010600030101010101" pitchFamily="2" charset="-122"/>
              </a:rPr>
              <a:t>1</a:t>
            </a:r>
            <a:r>
              <a:rPr lang="en-US" altLang="zh-CN" sz="2200" b="1" dirty="0">
                <a:ea typeface="宋体" panose="02010600030101010101" pitchFamily="2" charset="-122"/>
              </a:rPr>
              <a:t> – low</a:t>
            </a:r>
            <a:r>
              <a:rPr lang="en-US" altLang="zh-CN" sz="2200" b="1" baseline="-25000" dirty="0">
                <a:ea typeface="宋体" panose="02010600030101010101" pitchFamily="2" charset="-122"/>
              </a:rPr>
              <a:t>1</a:t>
            </a:r>
            <a:r>
              <a:rPr lang="en-US" altLang="zh-CN" sz="2200" b="1" dirty="0">
                <a:ea typeface="宋体" panose="02010600030101010101" pitchFamily="2" charset="-122"/>
              </a:rPr>
              <a:t> ) + ( i</a:t>
            </a:r>
            <a:r>
              <a:rPr lang="en-US" altLang="zh-CN" sz="2200" b="1" baseline="-25000" dirty="0">
                <a:ea typeface="宋体" panose="02010600030101010101" pitchFamily="2" charset="-122"/>
              </a:rPr>
              <a:t>2</a:t>
            </a:r>
            <a:r>
              <a:rPr lang="en-US" altLang="zh-CN" sz="2200" b="1" dirty="0">
                <a:ea typeface="宋体" panose="02010600030101010101" pitchFamily="2" charset="-122"/>
              </a:rPr>
              <a:t> – low</a:t>
            </a:r>
            <a:r>
              <a:rPr lang="en-US" altLang="zh-CN" sz="2200" b="1" baseline="-25000" dirty="0">
                <a:ea typeface="宋体" panose="02010600030101010101" pitchFamily="2" charset="-122"/>
              </a:rPr>
              <a:t>2</a:t>
            </a:r>
            <a:r>
              <a:rPr lang="en-US" altLang="zh-CN" sz="2200" b="1" dirty="0">
                <a:ea typeface="宋体" panose="02010600030101010101" pitchFamily="2" charset="-122"/>
              </a:rPr>
              <a:t> ) * n</a:t>
            </a:r>
            <a:r>
              <a:rPr lang="en-US" altLang="zh-CN" sz="2200" b="1" baseline="-25000" dirty="0">
                <a:ea typeface="宋体" panose="02010600030101010101" pitchFamily="2" charset="-122"/>
              </a:rPr>
              <a:t>1</a:t>
            </a:r>
            <a:r>
              <a:rPr lang="en-US" altLang="zh-CN" sz="2200" b="1" dirty="0">
                <a:ea typeface="宋体" panose="02010600030101010101" pitchFamily="2" charset="-122"/>
              </a:rPr>
              <a:t> ) * w</a:t>
            </a:r>
            <a:endParaRPr lang="zh-CN" altLang="en-US" sz="2200" b="1" dirty="0">
              <a:ea typeface="宋体" panose="02010600030101010101" pitchFamily="2" charset="-122"/>
            </a:endParaRPr>
          </a:p>
        </p:txBody>
      </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数组元素的寻址（</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41315" name="Rectangle 3"/>
          <p:cNvSpPr>
            <a:spLocks noGrp="1"/>
          </p:cNvSpPr>
          <p:nvPr>
            <p:ph idx="1"/>
          </p:nvPr>
        </p:nvSpPr>
        <p:spPr>
          <a:xfrm>
            <a:off x="990600" y="1371600"/>
            <a:ext cx="7613650" cy="4876800"/>
          </a:xfrm>
        </p:spPr>
        <p:txBody>
          <a:bodyPr vert="horz" wrap="square" lIns="92075" tIns="46038" rIns="92075" bIns="46038" anchor="t" anchorCtr="0"/>
          <a:p>
            <a:r>
              <a:rPr lang="zh-CN" altLang="en-US" sz="2000" b="1" dirty="0">
                <a:ea typeface="宋体" panose="02010600030101010101" pitchFamily="2" charset="-122"/>
              </a:rPr>
              <a:t>多维数组的定址计算</a:t>
            </a:r>
            <a:endParaRPr lang="zh-CN" altLang="en-US" sz="2000" b="1" dirty="0">
              <a:ea typeface="宋体" panose="02010600030101010101" pitchFamily="2" charset="-122"/>
            </a:endParaRPr>
          </a:p>
          <a:p>
            <a:pPr lvl="1"/>
            <a:r>
              <a:rPr lang="zh-CN" altLang="en-US" sz="2000" b="1" dirty="0">
                <a:ea typeface="宋体" panose="02010600030101010101" pitchFamily="2" charset="-122"/>
              </a:rPr>
              <a:t>行为主的数组，最右边的下标变化最快</a:t>
            </a:r>
            <a:endParaRPr lang="zh-CN" altLang="en-US" sz="2000" b="1" dirty="0">
              <a:ea typeface="宋体" panose="02010600030101010101" pitchFamily="2" charset="-122"/>
            </a:endParaRPr>
          </a:p>
          <a:p>
            <a:pPr lvl="1">
              <a:buNone/>
            </a:pPr>
            <a:r>
              <a:rPr lang="en-US" altLang="zh-CN" sz="2000" b="1" dirty="0">
                <a:ea typeface="宋体" panose="02010600030101010101" pitchFamily="2" charset="-122"/>
              </a:rPr>
              <a:t>A[ i</a:t>
            </a:r>
            <a:r>
              <a:rPr lang="en-US" altLang="zh-CN" sz="2000" b="1" baseline="-25000" dirty="0">
                <a:ea typeface="宋体" panose="02010600030101010101" pitchFamily="2" charset="-122"/>
              </a:rPr>
              <a:t>1</a:t>
            </a:r>
            <a:r>
              <a:rPr lang="en-US" altLang="zh-CN" sz="2000" b="1" dirty="0">
                <a:ea typeface="宋体" panose="02010600030101010101" pitchFamily="2" charset="-122"/>
              </a:rPr>
              <a:t>，i</a:t>
            </a:r>
            <a:r>
              <a:rPr lang="en-US" altLang="zh-CN" sz="2000" b="1" baseline="-25000" dirty="0">
                <a:ea typeface="宋体" panose="02010600030101010101" pitchFamily="2" charset="-122"/>
              </a:rPr>
              <a:t>2</a:t>
            </a:r>
            <a:r>
              <a:rPr lang="en-US" altLang="zh-CN" sz="2000" b="1" dirty="0">
                <a:ea typeface="宋体" panose="02010600030101010101" pitchFamily="2" charset="-122"/>
              </a:rPr>
              <a:t>，…，i</a:t>
            </a:r>
            <a:r>
              <a:rPr lang="en-US" altLang="zh-CN" sz="2000" b="1" baseline="-25000" dirty="0">
                <a:ea typeface="宋体" panose="02010600030101010101" pitchFamily="2" charset="-122"/>
              </a:rPr>
              <a:t>k </a:t>
            </a:r>
            <a:r>
              <a:rPr lang="en-US" altLang="zh-CN" sz="2000" b="1" dirty="0">
                <a:ea typeface="宋体" panose="02010600030101010101" pitchFamily="2" charset="-122"/>
              </a:rPr>
              <a:t>]</a:t>
            </a:r>
            <a:r>
              <a:rPr lang="zh-CN" altLang="en-US" sz="2000" b="1" dirty="0">
                <a:ea typeface="宋体" panose="02010600030101010101" pitchFamily="2" charset="-122"/>
              </a:rPr>
              <a:t>的相对地址：</a:t>
            </a:r>
            <a:endParaRPr lang="en-US" altLang="zh-CN" sz="2000" b="1" dirty="0">
              <a:ea typeface="宋体" panose="02010600030101010101" pitchFamily="2" charset="-122"/>
            </a:endParaRPr>
          </a:p>
          <a:p>
            <a:pPr lvl="1">
              <a:buNone/>
            </a:pPr>
            <a:r>
              <a:rPr lang="en-US" altLang="zh-CN" sz="2000" b="1" dirty="0">
                <a:ea typeface="宋体" panose="02010600030101010101" pitchFamily="2" charset="-122"/>
              </a:rPr>
              <a:t>base</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(i</a:t>
            </a:r>
            <a:r>
              <a:rPr lang="en-US" altLang="zh-CN" sz="2000" b="1" baseline="-25000" dirty="0">
                <a:ea typeface="宋体" panose="02010600030101010101" pitchFamily="2" charset="-122"/>
              </a:rPr>
              <a:t>1 </a:t>
            </a:r>
            <a:r>
              <a:rPr lang="en-US" altLang="zh-CN" sz="2000" b="1" dirty="0">
                <a:ea typeface="宋体" panose="02010600030101010101" pitchFamily="2" charset="-122"/>
              </a:rPr>
              <a:t>- low</a:t>
            </a:r>
            <a:r>
              <a:rPr lang="en-US" altLang="zh-CN" sz="2000" b="1" baseline="-25000" dirty="0">
                <a:ea typeface="宋体" panose="02010600030101010101" pitchFamily="2" charset="-122"/>
              </a:rPr>
              <a:t>1</a:t>
            </a:r>
            <a:r>
              <a:rPr lang="en-US" altLang="zh-CN" sz="2000" b="1" dirty="0">
                <a:ea typeface="宋体" panose="02010600030101010101" pitchFamily="2" charset="-122"/>
              </a:rPr>
              <a:t>)*w</a:t>
            </a:r>
            <a:r>
              <a:rPr lang="en-US" altLang="zh-CN" sz="2000" b="1" baseline="-25000" dirty="0">
                <a:ea typeface="宋体" panose="02010600030101010101" pitchFamily="2" charset="-122"/>
              </a:rPr>
              <a:t>1</a:t>
            </a:r>
            <a:r>
              <a:rPr lang="en-US" altLang="zh-CN" sz="2000" b="1" dirty="0">
                <a:ea typeface="宋体" panose="02010600030101010101" pitchFamily="2" charset="-122"/>
              </a:rPr>
              <a:t>+ (i</a:t>
            </a:r>
            <a:r>
              <a:rPr lang="en-US" altLang="zh-CN" sz="2000" b="1" baseline="-25000" dirty="0">
                <a:ea typeface="宋体" panose="02010600030101010101" pitchFamily="2" charset="-122"/>
              </a:rPr>
              <a:t>2 </a:t>
            </a:r>
            <a:r>
              <a:rPr lang="en-US" altLang="zh-CN" sz="2000" b="1" dirty="0">
                <a:ea typeface="宋体" panose="02010600030101010101" pitchFamily="2" charset="-122"/>
              </a:rPr>
              <a:t>– low</a:t>
            </a:r>
            <a:r>
              <a:rPr lang="en-US" altLang="zh-CN" sz="2000" b="1" baseline="-25000" dirty="0">
                <a:ea typeface="宋体" panose="02010600030101010101" pitchFamily="2" charset="-122"/>
              </a:rPr>
              <a:t>2</a:t>
            </a:r>
            <a:r>
              <a:rPr lang="en-US" altLang="zh-CN" sz="2000" b="1" dirty="0">
                <a:ea typeface="宋体" panose="02010600030101010101" pitchFamily="2" charset="-122"/>
              </a:rPr>
              <a:t>)*w</a:t>
            </a:r>
            <a:r>
              <a:rPr lang="en-US" altLang="zh-CN" sz="2000" b="1" baseline="-25000" dirty="0">
                <a:ea typeface="宋体" panose="02010600030101010101" pitchFamily="2" charset="-122"/>
              </a:rPr>
              <a:t>2</a:t>
            </a:r>
            <a:r>
              <a:rPr lang="en-US" altLang="zh-CN" sz="2000" b="1" dirty="0">
                <a:ea typeface="宋体" panose="02010600030101010101" pitchFamily="2" charset="-122"/>
              </a:rPr>
              <a:t>+…+ (i</a:t>
            </a:r>
            <a:r>
              <a:rPr lang="en-US" altLang="zh-CN" sz="2000" b="1" baseline="-25000" dirty="0">
                <a:ea typeface="宋体" panose="02010600030101010101" pitchFamily="2" charset="-122"/>
              </a:rPr>
              <a:t>k </a:t>
            </a:r>
            <a:r>
              <a:rPr lang="en-US" altLang="zh-CN" sz="2000" b="1" dirty="0">
                <a:ea typeface="宋体" panose="02010600030101010101" pitchFamily="2" charset="-122"/>
              </a:rPr>
              <a:t>- low</a:t>
            </a:r>
            <a:r>
              <a:rPr lang="en-US" altLang="zh-CN" sz="2000" b="1" baseline="-25000" dirty="0">
                <a:ea typeface="宋体" panose="02010600030101010101" pitchFamily="2" charset="-122"/>
              </a:rPr>
              <a:t>k</a:t>
            </a:r>
            <a:r>
              <a:rPr lang="en-US" altLang="zh-CN" sz="2000" b="1" dirty="0">
                <a:ea typeface="宋体" panose="02010600030101010101" pitchFamily="2" charset="-122"/>
              </a:rPr>
              <a:t>)*w</a:t>
            </a:r>
            <a:r>
              <a:rPr lang="en-US" altLang="zh-CN" sz="2000" b="1" baseline="-25000" dirty="0">
                <a:ea typeface="宋体" panose="02010600030101010101" pitchFamily="2" charset="-122"/>
              </a:rPr>
              <a:t>k</a:t>
            </a:r>
            <a:endParaRPr lang="en-US" altLang="zh-CN" sz="2000" b="1" baseline="-25000" dirty="0">
              <a:ea typeface="宋体" panose="02010600030101010101" pitchFamily="2" charset="-122"/>
            </a:endParaRPr>
          </a:p>
          <a:p>
            <a:pPr>
              <a:buNone/>
            </a:pPr>
            <a:r>
              <a:rPr lang="zh-CN" altLang="en-US" sz="2000" b="1" dirty="0">
                <a:ea typeface="宋体" panose="02010600030101010101" pitchFamily="2" charset="-122"/>
              </a:rPr>
              <a:t>优化后：</a:t>
            </a:r>
            <a:r>
              <a:rPr lang="en-US" altLang="zh-CN" sz="2000" b="1" dirty="0">
                <a:ea typeface="宋体" panose="02010600030101010101" pitchFamily="2" charset="-122"/>
              </a:rPr>
              <a:t>( ( … ( ( i</a:t>
            </a:r>
            <a:r>
              <a:rPr lang="en-US" altLang="zh-CN" sz="2000" b="1" baseline="-25000" dirty="0">
                <a:ea typeface="宋体" panose="02010600030101010101" pitchFamily="2" charset="-122"/>
              </a:rPr>
              <a:t>1</a:t>
            </a:r>
            <a:r>
              <a:rPr lang="en-US" altLang="zh-CN" sz="2000" b="1" dirty="0">
                <a:ea typeface="宋体" panose="02010600030101010101" pitchFamily="2" charset="-122"/>
              </a:rPr>
              <a:t> * n</a:t>
            </a:r>
            <a:r>
              <a:rPr lang="en-US" altLang="zh-CN" sz="2000" b="1" baseline="-25000" dirty="0">
                <a:ea typeface="宋体" panose="02010600030101010101" pitchFamily="2" charset="-122"/>
              </a:rPr>
              <a:t>2</a:t>
            </a:r>
            <a:r>
              <a:rPr lang="en-US" altLang="zh-CN" sz="2000" b="1" dirty="0">
                <a:ea typeface="宋体" panose="02010600030101010101" pitchFamily="2" charset="-122"/>
              </a:rPr>
              <a:t>  + i</a:t>
            </a:r>
            <a:r>
              <a:rPr lang="en-US" altLang="zh-CN" sz="2000" b="1" baseline="-25000" dirty="0">
                <a:ea typeface="宋体" panose="02010600030101010101" pitchFamily="2" charset="-122"/>
              </a:rPr>
              <a:t>2</a:t>
            </a:r>
            <a:r>
              <a:rPr lang="en-US" altLang="zh-CN" sz="2000" b="1" dirty="0">
                <a:ea typeface="宋体" panose="02010600030101010101" pitchFamily="2" charset="-122"/>
              </a:rPr>
              <a:t> ) * n</a:t>
            </a:r>
            <a:r>
              <a:rPr lang="en-US" altLang="zh-CN" sz="2000" b="1" baseline="-25000" dirty="0">
                <a:ea typeface="宋体" panose="02010600030101010101" pitchFamily="2" charset="-122"/>
              </a:rPr>
              <a:t>3</a:t>
            </a:r>
            <a:r>
              <a:rPr lang="en-US" altLang="zh-CN" sz="2000" b="1" dirty="0">
                <a:ea typeface="宋体" panose="02010600030101010101" pitchFamily="2" charset="-122"/>
              </a:rPr>
              <a:t> + i</a:t>
            </a:r>
            <a:r>
              <a:rPr lang="en-US" altLang="zh-CN" sz="2000" b="1" baseline="-25000" dirty="0">
                <a:ea typeface="宋体" panose="02010600030101010101" pitchFamily="2" charset="-122"/>
              </a:rPr>
              <a:t>3 </a:t>
            </a:r>
            <a:r>
              <a:rPr lang="en-US" altLang="zh-CN" sz="2000" b="1" dirty="0">
                <a:ea typeface="宋体" panose="02010600030101010101" pitchFamily="2" charset="-122"/>
              </a:rPr>
              <a:t>) … ) * n</a:t>
            </a:r>
            <a:r>
              <a:rPr lang="en-US" altLang="zh-CN" sz="2000" b="1" baseline="-25000" dirty="0">
                <a:ea typeface="宋体" panose="02010600030101010101" pitchFamily="2" charset="-122"/>
              </a:rPr>
              <a:t>k</a:t>
            </a:r>
            <a:r>
              <a:rPr lang="en-US" altLang="zh-CN" sz="2000" b="1" dirty="0">
                <a:ea typeface="宋体" panose="02010600030101010101" pitchFamily="2" charset="-122"/>
              </a:rPr>
              <a:t> + i</a:t>
            </a:r>
            <a:r>
              <a:rPr lang="en-US" altLang="zh-CN" sz="2000" b="1" baseline="-25000" dirty="0">
                <a:ea typeface="宋体" panose="02010600030101010101" pitchFamily="2" charset="-122"/>
              </a:rPr>
              <a:t>k </a:t>
            </a:r>
            <a:r>
              <a:rPr lang="en-US" altLang="zh-CN" sz="2000" b="1" dirty="0">
                <a:ea typeface="宋体" panose="02010600030101010101" pitchFamily="2" charset="-122"/>
              </a:rPr>
              <a:t>)* w</a:t>
            </a:r>
            <a:endParaRPr lang="en-US" altLang="zh-CN" sz="2000" b="1" dirty="0">
              <a:ea typeface="宋体" panose="02010600030101010101" pitchFamily="2" charset="-122"/>
            </a:endParaRPr>
          </a:p>
          <a:p>
            <a:pPr lvl="1">
              <a:buNone/>
            </a:pPr>
            <a:r>
              <a:rPr lang="en-US" altLang="zh-CN" sz="2000" b="1" dirty="0">
                <a:ea typeface="宋体" panose="02010600030101010101" pitchFamily="2" charset="-122"/>
              </a:rPr>
              <a:t>+base–(( … (( low</a:t>
            </a:r>
            <a:r>
              <a:rPr lang="en-US" altLang="zh-CN" sz="2000" b="1" baseline="-25000" dirty="0">
                <a:ea typeface="宋体" panose="02010600030101010101" pitchFamily="2" charset="-122"/>
              </a:rPr>
              <a:t>1</a:t>
            </a:r>
            <a:r>
              <a:rPr lang="en-US" altLang="zh-CN" sz="2000" b="1" dirty="0">
                <a:ea typeface="宋体" panose="02010600030101010101" pitchFamily="2" charset="-122"/>
              </a:rPr>
              <a:t> * n</a:t>
            </a:r>
            <a:r>
              <a:rPr lang="en-US" altLang="zh-CN" sz="2000" b="1" baseline="-25000" dirty="0">
                <a:ea typeface="宋体" panose="02010600030101010101" pitchFamily="2" charset="-122"/>
              </a:rPr>
              <a:t>2</a:t>
            </a:r>
            <a:r>
              <a:rPr lang="en-US" altLang="zh-CN" sz="2000" b="1" dirty="0">
                <a:ea typeface="宋体" panose="02010600030101010101" pitchFamily="2" charset="-122"/>
              </a:rPr>
              <a:t>  + low</a:t>
            </a:r>
            <a:r>
              <a:rPr lang="en-US" altLang="zh-CN" sz="2000" b="1" baseline="-25000" dirty="0">
                <a:ea typeface="宋体" panose="02010600030101010101" pitchFamily="2" charset="-122"/>
              </a:rPr>
              <a:t>2</a:t>
            </a:r>
            <a:r>
              <a:rPr lang="en-US" altLang="zh-CN" sz="2000" b="1" dirty="0">
                <a:ea typeface="宋体" panose="02010600030101010101" pitchFamily="2" charset="-122"/>
              </a:rPr>
              <a:t> ) * n</a:t>
            </a:r>
            <a:r>
              <a:rPr lang="en-US" altLang="zh-CN" sz="2000" b="1" baseline="-25000" dirty="0">
                <a:ea typeface="宋体" panose="02010600030101010101" pitchFamily="2" charset="-122"/>
              </a:rPr>
              <a:t>3</a:t>
            </a:r>
            <a:r>
              <a:rPr lang="en-US" altLang="zh-CN" sz="2000" b="1" dirty="0">
                <a:ea typeface="宋体" panose="02010600030101010101" pitchFamily="2" charset="-122"/>
              </a:rPr>
              <a:t> + low</a:t>
            </a:r>
            <a:r>
              <a:rPr lang="en-US" altLang="zh-CN" sz="2000" b="1" baseline="-25000" dirty="0">
                <a:ea typeface="宋体" panose="02010600030101010101" pitchFamily="2" charset="-122"/>
              </a:rPr>
              <a:t>3</a:t>
            </a:r>
            <a:r>
              <a:rPr lang="en-US" altLang="zh-CN" sz="2000" b="1" dirty="0">
                <a:ea typeface="宋体" panose="02010600030101010101" pitchFamily="2" charset="-122"/>
              </a:rPr>
              <a:t> )…) * n</a:t>
            </a:r>
            <a:r>
              <a:rPr lang="en-US" altLang="zh-CN" sz="2000" b="1" baseline="-25000" dirty="0">
                <a:ea typeface="宋体" panose="02010600030101010101" pitchFamily="2" charset="-122"/>
              </a:rPr>
              <a:t>k</a:t>
            </a:r>
            <a:r>
              <a:rPr lang="en-US" altLang="zh-CN" sz="2000" b="1" dirty="0">
                <a:ea typeface="宋体" panose="02010600030101010101" pitchFamily="2" charset="-122"/>
              </a:rPr>
              <a:t> + low</a:t>
            </a:r>
            <a:r>
              <a:rPr lang="en-US" altLang="zh-CN" sz="2000" b="1" baseline="-25000" dirty="0">
                <a:ea typeface="宋体" panose="02010600030101010101" pitchFamily="2" charset="-122"/>
              </a:rPr>
              <a:t>k</a:t>
            </a:r>
            <a:r>
              <a:rPr lang="en-US" altLang="zh-CN" sz="2000" b="1" dirty="0">
                <a:ea typeface="宋体" panose="02010600030101010101" pitchFamily="2" charset="-122"/>
              </a:rPr>
              <a:t> ) * w</a:t>
            </a:r>
            <a:endParaRPr lang="en-US" altLang="zh-CN" sz="2000" b="1" dirty="0">
              <a:ea typeface="宋体" panose="02010600030101010101" pitchFamily="2" charset="-122"/>
            </a:endParaRPr>
          </a:p>
          <a:p>
            <a:pPr lvl="2"/>
            <a:r>
              <a:rPr lang="zh-CN" altLang="en-US" sz="1800" b="1" dirty="0">
                <a:ea typeface="宋体" panose="02010600030101010101" pitchFamily="2" charset="-122"/>
              </a:rPr>
              <a:t>由于在大多数情况下数组各维的维展是一个固定值，所以上述公式的第二行可以在编译时刻计算，并存放在符号表中</a:t>
            </a:r>
            <a:r>
              <a:rPr lang="en-US" altLang="zh-CN" sz="1800" b="1" dirty="0">
                <a:ea typeface="宋体" panose="02010600030101010101" pitchFamily="2" charset="-122"/>
              </a:rPr>
              <a:t>A</a:t>
            </a:r>
            <a:r>
              <a:rPr lang="zh-CN" altLang="en-US" sz="1800" b="1" dirty="0">
                <a:ea typeface="宋体" panose="02010600030101010101" pitchFamily="2" charset="-122"/>
              </a:rPr>
              <a:t>的条目中</a:t>
            </a:r>
            <a:endParaRPr lang="zh-CN" altLang="en-US" sz="1800" b="1" dirty="0">
              <a:ea typeface="宋体" panose="02010600030101010101" pitchFamily="2" charset="-122"/>
            </a:endParaRPr>
          </a:p>
          <a:p>
            <a:pPr lvl="1"/>
            <a:r>
              <a:rPr lang="zh-CN" altLang="en-US" sz="2000" b="1" dirty="0">
                <a:ea typeface="宋体" panose="02010600030101010101" pitchFamily="2" charset="-122"/>
              </a:rPr>
              <a:t>列为主的数组，最左边的下标变化最快，其地址计算公式可以参照上述公式</a:t>
            </a:r>
            <a:endParaRPr lang="zh-CN" altLang="en-US" sz="2000" b="1" dirty="0">
              <a:ea typeface="宋体" panose="02010600030101010101" pitchFamily="2" charset="-122"/>
            </a:endParaRPr>
          </a:p>
          <a:p>
            <a:r>
              <a:rPr lang="zh-CN" altLang="en-US" sz="2000" b="1" dirty="0">
                <a:ea typeface="宋体" panose="02010600030101010101" pitchFamily="2" charset="-122"/>
              </a:rPr>
              <a:t>动态获得“型”的数组定址方式，也采用上述方法进行数组元素的定址，但是数组维的维展在编译时刻无法知道</a:t>
            </a:r>
            <a:endParaRPr lang="zh-CN" altLang="en-US" sz="2000" b="1" dirty="0">
              <a:ea typeface="宋体" panose="02010600030101010101" pitchFamily="2" charset="-122"/>
            </a:endParaRP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数组引用的翻译（</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611188" y="1371600"/>
            <a:ext cx="7847013" cy="47244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将数组元素地址计算公式与数组引用的文法关联</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假定数组元素下标的下界必须是</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（符合</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语言等的规定）</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下页给出了有数组引用的表达式生成三地址代码的翻译方案</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有三个综合属性</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2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L.addr</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指示一个临时变量，用于累加</a:t>
            </a:r>
            <a:r>
              <a:rPr kumimoji="0" lang="en-US" altLang="zh-CN" sz="22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a:t>
            </a:r>
            <a:r>
              <a:rPr kumimoji="0" lang="en-US" altLang="zh-CN" sz="2200" b="0" i="1"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j</a:t>
            </a:r>
            <a:r>
              <a:rPr kumimoji="0" lang="zh-CN" altLang="en-US"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w</a:t>
            </a:r>
            <a:r>
              <a:rPr kumimoji="0" lang="en-US" altLang="zh-CN" sz="2200" b="0" i="1"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j</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项，计算数组引用的偏移量</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2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L.array</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是一个指向数组名字对应的符号表条目的指针</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L.array.base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存放了该数组的基地址</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2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L.type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给出</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生成的子数组的类型，</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对于任何类型</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t.width</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给出其宽度，如果</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是数组类型，</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t.elem</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给出其数组元素的类型</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数组引用三地址代码类似于</a:t>
            </a:r>
            <a:r>
              <a:rPr kumimoji="0" lang="en-US" altLang="zh-CN" sz="24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L.array.base</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4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L.addr</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，表示基地址与偏移量相加得到实际的地址</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5410" name="Picture 2"/>
          <p:cNvPicPr>
            <a:picLocks noChangeAspect="1"/>
          </p:cNvPicPr>
          <p:nvPr/>
        </p:nvPicPr>
        <p:blipFill>
          <a:blip r:embed="rId1"/>
          <a:stretch>
            <a:fillRect/>
          </a:stretch>
        </p:blipFill>
        <p:spPr>
          <a:xfrm>
            <a:off x="1371600" y="0"/>
            <a:ext cx="6146800" cy="6629400"/>
          </a:xfrm>
          <a:prstGeom prst="rect">
            <a:avLst/>
          </a:prstGeom>
          <a:noFill/>
          <a:ln w="9525">
            <a:noFill/>
          </a:ln>
        </p:spPr>
      </p:pic>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数组引用的翻译（</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990600" y="1371600"/>
            <a:ext cx="7391400" cy="47244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例子：对于数组声明</a:t>
            </a:r>
            <a:r>
              <a:rPr kumimoji="0"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int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a[2][3]</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，表达式</a:t>
            </a:r>
            <a:r>
              <a:rPr kumimoji="0"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c+a</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][j]</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的翻译结果</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46436" name="Picture 2"/>
          <p:cNvPicPr>
            <a:picLocks noChangeAspect="1"/>
          </p:cNvPicPr>
          <p:nvPr/>
        </p:nvPicPr>
        <p:blipFill>
          <a:blip r:embed="rId1"/>
          <a:stretch>
            <a:fillRect/>
          </a:stretch>
        </p:blipFill>
        <p:spPr>
          <a:xfrm>
            <a:off x="34925" y="2286000"/>
            <a:ext cx="6450013" cy="4527550"/>
          </a:xfrm>
          <a:prstGeom prst="rect">
            <a:avLst/>
          </a:prstGeom>
          <a:noFill/>
          <a:ln w="9525">
            <a:noFill/>
          </a:ln>
        </p:spPr>
      </p:pic>
      <p:sp>
        <p:nvSpPr>
          <p:cNvPr id="146437" name="文本框 1"/>
          <p:cNvSpPr txBox="1"/>
          <p:nvPr/>
        </p:nvSpPr>
        <p:spPr>
          <a:xfrm>
            <a:off x="6561138" y="2420938"/>
            <a:ext cx="2274887" cy="23082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2400" b="1" dirty="0">
                <a:ea typeface="宋体" panose="02010600030101010101" pitchFamily="2" charset="-122"/>
              </a:rPr>
              <a:t>三地址代码：</a:t>
            </a:r>
            <a:endParaRPr lang="en-US" altLang="zh-CN" sz="2400" b="1" dirty="0">
              <a:ea typeface="宋体" panose="02010600030101010101" pitchFamily="2" charset="-122"/>
            </a:endParaRPr>
          </a:p>
          <a:p>
            <a:pPr marL="0" lvl="0" indent="0">
              <a:spcBef>
                <a:spcPct val="0"/>
              </a:spcBef>
              <a:buClrTx/>
              <a:buSzTx/>
              <a:buNone/>
            </a:pPr>
            <a:r>
              <a:rPr lang="en-US" altLang="zh-CN" sz="2400" b="1" dirty="0">
                <a:ea typeface="宋体" panose="02010600030101010101" pitchFamily="2" charset="-122"/>
              </a:rPr>
              <a:t>t</a:t>
            </a:r>
            <a:r>
              <a:rPr lang="en-US" altLang="zh-CN" sz="2400" b="1" baseline="-25000" dirty="0">
                <a:ea typeface="宋体" panose="02010600030101010101" pitchFamily="2" charset="-122"/>
              </a:rPr>
              <a:t>1</a:t>
            </a:r>
            <a:r>
              <a:rPr lang="en-US" altLang="zh-CN" sz="2400" b="1" dirty="0">
                <a:ea typeface="宋体" panose="02010600030101010101" pitchFamily="2" charset="-122"/>
              </a:rPr>
              <a:t> = i * 12</a:t>
            </a:r>
            <a:endParaRPr lang="en-US" altLang="zh-CN" sz="2400" b="1" dirty="0">
              <a:ea typeface="宋体" panose="02010600030101010101" pitchFamily="2" charset="-122"/>
            </a:endParaRPr>
          </a:p>
          <a:p>
            <a:pPr marL="0" lvl="0" indent="0">
              <a:spcBef>
                <a:spcPct val="0"/>
              </a:spcBef>
              <a:buClrTx/>
              <a:buSzTx/>
              <a:buNone/>
            </a:pPr>
            <a:r>
              <a:rPr lang="en-US" altLang="zh-CN" sz="2400" b="1" dirty="0">
                <a:ea typeface="宋体" panose="02010600030101010101" pitchFamily="2" charset="-122"/>
              </a:rPr>
              <a:t>t</a:t>
            </a:r>
            <a:r>
              <a:rPr lang="en-US" altLang="zh-CN" sz="2400" b="1" baseline="-25000" dirty="0">
                <a:ea typeface="宋体" panose="02010600030101010101" pitchFamily="2" charset="-122"/>
              </a:rPr>
              <a:t>2</a:t>
            </a:r>
            <a:r>
              <a:rPr lang="en-US" altLang="zh-CN" sz="2400" b="1" dirty="0">
                <a:ea typeface="宋体" panose="02010600030101010101" pitchFamily="2" charset="-122"/>
              </a:rPr>
              <a:t> = j * 4</a:t>
            </a:r>
            <a:endParaRPr lang="en-US" altLang="zh-CN" sz="2400" b="1" dirty="0">
              <a:ea typeface="宋体" panose="02010600030101010101" pitchFamily="2" charset="-122"/>
            </a:endParaRPr>
          </a:p>
          <a:p>
            <a:pPr marL="0" lvl="0" indent="0">
              <a:spcBef>
                <a:spcPct val="0"/>
              </a:spcBef>
              <a:buClrTx/>
              <a:buSzTx/>
              <a:buNone/>
            </a:pPr>
            <a:r>
              <a:rPr lang="en-US" altLang="zh-CN" sz="2400" b="1" dirty="0">
                <a:ea typeface="宋体" panose="02010600030101010101" pitchFamily="2" charset="-122"/>
              </a:rPr>
              <a:t>t</a:t>
            </a:r>
            <a:r>
              <a:rPr lang="en-US" altLang="zh-CN" sz="2400" b="1" baseline="-25000" dirty="0">
                <a:ea typeface="宋体" panose="02010600030101010101" pitchFamily="2" charset="-122"/>
              </a:rPr>
              <a:t>3</a:t>
            </a:r>
            <a:r>
              <a:rPr lang="en-US" altLang="zh-CN" sz="2400" b="1" dirty="0">
                <a:ea typeface="宋体" panose="02010600030101010101" pitchFamily="2" charset="-122"/>
              </a:rPr>
              <a:t> = t</a:t>
            </a:r>
            <a:r>
              <a:rPr lang="en-US" altLang="zh-CN" sz="2400" b="1" baseline="-25000" dirty="0">
                <a:ea typeface="宋体" panose="02010600030101010101" pitchFamily="2" charset="-122"/>
              </a:rPr>
              <a:t>1</a:t>
            </a:r>
            <a:r>
              <a:rPr lang="en-US" altLang="zh-CN" sz="2400" b="1" dirty="0">
                <a:ea typeface="宋体" panose="02010600030101010101" pitchFamily="2" charset="-122"/>
              </a:rPr>
              <a:t> + t</a:t>
            </a:r>
            <a:r>
              <a:rPr lang="en-US" altLang="zh-CN" sz="2400" b="1" baseline="-25000" dirty="0">
                <a:ea typeface="宋体" panose="02010600030101010101" pitchFamily="2" charset="-122"/>
              </a:rPr>
              <a:t>2</a:t>
            </a:r>
            <a:endParaRPr lang="en-US" altLang="zh-CN" sz="2400" b="1" dirty="0">
              <a:ea typeface="宋体" panose="02010600030101010101" pitchFamily="2" charset="-122"/>
            </a:endParaRPr>
          </a:p>
          <a:p>
            <a:pPr marL="0" lvl="0" indent="0">
              <a:spcBef>
                <a:spcPct val="0"/>
              </a:spcBef>
              <a:buClrTx/>
              <a:buSzTx/>
              <a:buNone/>
            </a:pPr>
            <a:r>
              <a:rPr lang="en-US" altLang="zh-CN" sz="2400" b="1" dirty="0">
                <a:ea typeface="宋体" panose="02010600030101010101" pitchFamily="2" charset="-122"/>
              </a:rPr>
              <a:t>t</a:t>
            </a:r>
            <a:r>
              <a:rPr lang="en-US" altLang="zh-CN" sz="2400" b="1" baseline="-25000" dirty="0">
                <a:ea typeface="宋体" panose="02010600030101010101" pitchFamily="2" charset="-122"/>
              </a:rPr>
              <a:t>4 </a:t>
            </a:r>
            <a:r>
              <a:rPr lang="en-US" altLang="zh-CN" sz="2400" b="1" dirty="0">
                <a:ea typeface="宋体" panose="02010600030101010101" pitchFamily="2" charset="-122"/>
              </a:rPr>
              <a:t>= a [ t</a:t>
            </a:r>
            <a:r>
              <a:rPr lang="en-US" altLang="zh-CN" sz="2400" b="1" baseline="-25000" dirty="0">
                <a:ea typeface="宋体" panose="02010600030101010101" pitchFamily="2" charset="-122"/>
              </a:rPr>
              <a:t>3</a:t>
            </a:r>
            <a:r>
              <a:rPr lang="en-US" altLang="zh-CN" sz="2400" b="1" dirty="0">
                <a:ea typeface="宋体" panose="02010600030101010101" pitchFamily="2" charset="-122"/>
              </a:rPr>
              <a:t> ]</a:t>
            </a:r>
            <a:endParaRPr lang="en-US" altLang="zh-CN" sz="2400" b="1" dirty="0">
              <a:ea typeface="宋体" panose="02010600030101010101" pitchFamily="2" charset="-122"/>
            </a:endParaRPr>
          </a:p>
          <a:p>
            <a:pPr marL="0" lvl="0" indent="0">
              <a:spcBef>
                <a:spcPct val="0"/>
              </a:spcBef>
              <a:buClrTx/>
              <a:buSzTx/>
              <a:buNone/>
            </a:pPr>
            <a:r>
              <a:rPr lang="en-US" altLang="zh-CN" sz="2400" b="1" dirty="0">
                <a:ea typeface="宋体" panose="02010600030101010101" pitchFamily="2" charset="-122"/>
              </a:rPr>
              <a:t>t</a:t>
            </a:r>
            <a:r>
              <a:rPr lang="en-US" altLang="zh-CN" sz="2400" b="1" baseline="-25000" dirty="0">
                <a:ea typeface="宋体" panose="02010600030101010101" pitchFamily="2" charset="-122"/>
              </a:rPr>
              <a:t>5 </a:t>
            </a:r>
            <a:r>
              <a:rPr lang="en-US" altLang="zh-CN" sz="2400" b="1" dirty="0">
                <a:ea typeface="宋体" panose="02010600030101010101" pitchFamily="2" charset="-122"/>
              </a:rPr>
              <a:t>= c + t</a:t>
            </a:r>
            <a:r>
              <a:rPr lang="en-US" altLang="zh-CN" sz="2400" b="1" baseline="-25000" dirty="0">
                <a:ea typeface="宋体" panose="02010600030101010101" pitchFamily="2" charset="-122"/>
              </a:rPr>
              <a:t>4</a:t>
            </a:r>
            <a:r>
              <a:rPr lang="en-US" altLang="zh-CN" sz="2400" b="1" dirty="0">
                <a:ea typeface="宋体" panose="02010600030101010101" pitchFamily="2" charset="-122"/>
              </a:rPr>
              <a:t> </a:t>
            </a:r>
            <a:endParaRPr lang="zh-CN" altLang="en-US" sz="2400" b="1" dirty="0">
              <a:ea typeface="宋体" panose="02010600030101010101" pitchFamily="2" charset="-122"/>
            </a:endParaRP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第六章	中间代码生成 </a:t>
            </a:r>
            <a:endParaRPr lang="en-US" altLang="zh-CN" dirty="0">
              <a:latin typeface="Times New Roman" panose="02020603050405020304" pitchFamily="18" charset="0"/>
              <a:ea typeface="宋体" panose="02010600030101010101" pitchFamily="2" charset="-122"/>
            </a:endParaRPr>
          </a:p>
        </p:txBody>
      </p:sp>
      <p:sp>
        <p:nvSpPr>
          <p:cNvPr id="6147" name="Rectangle 3"/>
          <p:cNvSpPr>
            <a:spLocks noGrp="1" noChangeArrowheads="1"/>
          </p:cNvSpPr>
          <p:nvPr>
            <p:ph idx="1"/>
          </p:nvPr>
        </p:nvSpPr>
        <p:spPr>
          <a:xfrm>
            <a:off x="990600" y="1371600"/>
            <a:ext cx="7391400" cy="44196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rPr>
              <a:t>语法树的变体</a:t>
            </a:r>
            <a:endParaRPr kumimoji="0" lang="en-US" altLang="zh-CN"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rPr>
              <a:t>三地址代码</a:t>
            </a:r>
            <a:endParaRPr kumimoji="0" lang="en-US" altLang="zh-CN"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rPr>
              <a:t>类型和声明</a:t>
            </a:r>
            <a:endParaRPr kumimoji="0" lang="en-US" altLang="zh-CN"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rPr>
              <a:t>表达式的翻译</a:t>
            </a:r>
            <a:endParaRPr kumimoji="0" lang="en-US" altLang="zh-CN"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类型检查</a:t>
            </a:r>
            <a:endParaRPr kumimoji="0" lang="en-US" altLang="zh-CN" sz="3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控制流、回填、</a:t>
            </a:r>
            <a:r>
              <a:rPr kumimoji="0" lang="en-US" altLang="zh-CN"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switch</a:t>
            </a:r>
            <a:r>
              <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语句</a:t>
            </a:r>
            <a:endParaRPr kumimoji="0" lang="en-US" altLang="zh-CN"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过程的中间代码</a:t>
            </a:r>
            <a:endParaRPr kumimoji="0"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类型检查（</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827088" y="1484313"/>
            <a:ext cx="7554913" cy="4611688"/>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回忆</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P27~51</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的概念</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类型和类型系统</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健全的类型系统</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600200" marR="0" lvl="3" indent="-2286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可以消除对动态类型错误检查的需求</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强类型的语言</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600200" marR="0" lvl="3" indent="-2286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如果语言的编译器保证其接收的程序在运行时可不会发生类型错误，则这个语言的这个实现称为是强类型的</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类型表达式及其等价</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类型检查</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实现类型系统</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类型错误的检查</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发现错误</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提高安全性</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类型检查（</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827088" y="1484313"/>
            <a:ext cx="7554913" cy="4611688"/>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ts val="1200"/>
              </a:spcBef>
              <a:spcAft>
                <a:spcPts val="60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本节结构</a:t>
            </a:r>
            <a:endPar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ts val="1200"/>
              </a:spcBef>
              <a:spcAft>
                <a:spcPts val="60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类型检查的基础</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ts val="1200"/>
              </a:spcBef>
              <a:spcAft>
                <a:spcPts val="60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类型检查规则，将类型系统应用到程序中的方法，给有需求的“名字”或程序结构确定其类型</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ts val="1200"/>
              </a:spcBef>
              <a:spcAft>
                <a:spcPts val="60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处理不匹配的类型：类型转换</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ts val="1200"/>
              </a:spcBef>
              <a:spcAft>
                <a:spcPts val="60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当一个名字的类型有多种可能时：依据上下文类型信息的最终确定</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ts val="1200"/>
              </a:spcBef>
              <a:spcAft>
                <a:spcPts val="60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简单的类型信息确定：算法重载</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ts val="1200"/>
              </a:spcBef>
              <a:spcAft>
                <a:spcPts val="60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更一般的类型信息确定：类型推导、多态函数</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类型检查规则</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827088" y="1371600"/>
            <a:ext cx="7554913" cy="47244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类型检查的两种形式</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类型综合（</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type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synthesis</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根据子表达式的类型构造出表达式的类型</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要求名字要先声明再使用</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典型的形式：</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if</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f</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的类型为</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且</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的类型为</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endPar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then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表达式</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f</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的类型为</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endPar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600200" marR="0" lvl="3" indent="-2286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其中，</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f</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表示表达式，而</a:t>
            </a:r>
            <a:r>
              <a:rPr kumimoji="0" lang="en-US" altLang="zh-CN" sz="18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表示从</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到</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的函数</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600200" marR="0" lvl="3" indent="-2286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对于表达式</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，可以看作是</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add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E</a:t>
            </a:r>
            <a:r>
              <a:rPr kumimoji="0" lang="en-US" altLang="zh-CN" sz="18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18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类型推导（</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type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inference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根据一个语言结构的使用方式确定该结构的类型</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推导过程中可能引入类型变量，一般用</a:t>
            </a:r>
            <a:r>
              <a:rPr kumimoji="0" lang="el-GR"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α</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l-GR"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β</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等表示</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典型的形式：</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if</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f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是一个表达式</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then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对某些</a:t>
            </a:r>
            <a:r>
              <a:rPr kumimoji="0" lang="el-GR"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α</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l-GR"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β</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f</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的类型为</a:t>
            </a:r>
            <a:r>
              <a:rPr kumimoji="0" lang="el-GR"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α→β</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且</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的类型为</a:t>
            </a:r>
            <a:r>
              <a:rPr kumimoji="0" lang="el-GR"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α</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类型转换（</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539750" y="1371600"/>
            <a:ext cx="8064500" cy="47244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类型转换</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使得运算对象的类型符合预期，便于处理</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2+3.14=〉2.0+3.14</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，用浮点指令计算</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可以增加一个单目算符（</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float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）实现上述转换</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t</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 float ) 2</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t</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t</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+ 3.14</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修改图</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6-20</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，使得其可以处理类型转换</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增加一个属性</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E.type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，其值为</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integer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或</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float</a:t>
            </a:r>
            <a:endPar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关于产生式</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，类型的处理规则如下：</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if</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.type = integer</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and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.type = integer</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E.type</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 integer</a:t>
            </a:r>
            <a:endPar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else if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E</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.type = float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and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.type = integer</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具体转换为何种类型要根据语言或其实现约束的约定</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类型种类越多，上述处理越要精心设计</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类型转换（</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827088" y="1371600"/>
            <a:ext cx="7554913" cy="47244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类型转换的规则</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拓宽（</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widening</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）转换和窄化（</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narrowing</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）转换</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原则上，拓宽转换可以保持原有信息</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600200" marR="0" lvl="3" indent="-2286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但是整数到浮点的转换可能丢失精度</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窄化转换可能丢失信息</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58724" name="Picture 2"/>
          <p:cNvPicPr>
            <a:picLocks noChangeAspect="1"/>
          </p:cNvPicPr>
          <p:nvPr/>
        </p:nvPicPr>
        <p:blipFill>
          <a:blip r:embed="rId1"/>
          <a:stretch>
            <a:fillRect/>
          </a:stretch>
        </p:blipFill>
        <p:spPr>
          <a:xfrm>
            <a:off x="179388" y="3141663"/>
            <a:ext cx="8745537" cy="3681412"/>
          </a:xfrm>
          <a:prstGeom prst="rect">
            <a:avLst/>
          </a:prstGeom>
          <a:noFill/>
          <a:ln w="9525">
            <a:noFill/>
          </a:ln>
        </p:spPr>
      </p:pic>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类型转换（</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827088" y="1484313"/>
            <a:ext cx="7554913" cy="4611688"/>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隐式类型转换（自动类型转换）</a:t>
            </a:r>
            <a:endPar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由编译器根据其处理的语言的类型系统的约定，自动实现的类型转换</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很多语言允许的自动类型转换仅限于类型拓宽</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自动类型转换可能掩盖了程序中存在的错误</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显式类型转换（强制类型转换）</a:t>
            </a:r>
            <a:endPar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由程序员显式写出某些代码引发类型转换</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类型转换（</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323850" y="1371600"/>
            <a:ext cx="8424863" cy="47244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类型转换的翻译实现：针对产生式</a:t>
            </a:r>
            <a:r>
              <a:rPr kumimoji="0" lang="en-US" altLang="zh-CN" sz="28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8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28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8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28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endPar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max</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en-US" altLang="zh-CN" sz="24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 t</a:t>
            </a:r>
            <a:r>
              <a:rPr kumimoji="0" lang="en-US" altLang="zh-CN" sz="24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函数，接受</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en-US" altLang="zh-CN" sz="24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en-US" altLang="zh-CN" sz="24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两个类型的参数，并返回二者在类型转换图中的最小上界</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widen</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a , t</a:t>
            </a:r>
            <a:r>
              <a:rPr kumimoji="0" lang="zh-CN" altLang="en-US"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w</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函数（如下页图</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6-26</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），生成代码，实现将地址</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中的类型为</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的内容转换为</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w</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类型的值的功能</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w</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相同，则该函数返回</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本身</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如果不同，则生成相关指令</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翻译方案如下</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62820" name="Picture 2"/>
          <p:cNvPicPr>
            <a:picLocks noChangeAspect="1"/>
          </p:cNvPicPr>
          <p:nvPr/>
        </p:nvPicPr>
        <p:blipFill>
          <a:blip r:embed="rId1"/>
          <a:stretch>
            <a:fillRect/>
          </a:stretch>
        </p:blipFill>
        <p:spPr>
          <a:xfrm>
            <a:off x="169863" y="4437063"/>
            <a:ext cx="8866187" cy="2389187"/>
          </a:xfrm>
          <a:prstGeom prst="rect">
            <a:avLst/>
          </a:prstGeom>
          <a:noFill/>
          <a:ln w="9525">
            <a:noFill/>
          </a:ln>
        </p:spPr>
      </p:pic>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4866" name="Picture 2"/>
          <p:cNvPicPr>
            <a:picLocks noChangeAspect="1"/>
          </p:cNvPicPr>
          <p:nvPr/>
        </p:nvPicPr>
        <p:blipFill>
          <a:blip r:embed="rId1"/>
          <a:stretch>
            <a:fillRect/>
          </a:stretch>
        </p:blipFill>
        <p:spPr>
          <a:xfrm>
            <a:off x="990600" y="838200"/>
            <a:ext cx="6770688" cy="4581525"/>
          </a:xfrm>
          <a:prstGeom prst="rect">
            <a:avLst/>
          </a:prstGeom>
          <a:noFill/>
          <a:ln w="9525">
            <a:noFill/>
          </a:ln>
        </p:spPr>
      </p:pic>
      <p:sp>
        <p:nvSpPr>
          <p:cNvPr id="164867" name="文本框 1"/>
          <p:cNvSpPr txBox="1"/>
          <p:nvPr/>
        </p:nvSpPr>
        <p:spPr>
          <a:xfrm>
            <a:off x="2555875" y="5589588"/>
            <a:ext cx="4545013" cy="461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2400" b="1" dirty="0">
                <a:ea typeface="宋体" panose="02010600030101010101" pitchFamily="2" charset="-122"/>
              </a:rPr>
              <a:t>暂时只考虑了</a:t>
            </a:r>
            <a:r>
              <a:rPr lang="en-US" altLang="zh-CN" sz="2400" b="1" dirty="0">
                <a:ea typeface="宋体" panose="02010600030101010101" pitchFamily="2" charset="-122"/>
              </a:rPr>
              <a:t>float</a:t>
            </a:r>
            <a:r>
              <a:rPr lang="zh-CN" altLang="en-US" sz="2400" b="1" dirty="0">
                <a:ea typeface="宋体" panose="02010600030101010101" pitchFamily="2" charset="-122"/>
              </a:rPr>
              <a:t>和</a:t>
            </a:r>
            <a:r>
              <a:rPr lang="en-US" altLang="zh-CN" sz="2400" b="1" dirty="0">
                <a:ea typeface="宋体" panose="02010600030101010101" pitchFamily="2" charset="-122"/>
              </a:rPr>
              <a:t>int</a:t>
            </a:r>
            <a:r>
              <a:rPr lang="zh-CN" altLang="en-US" sz="2400" b="1" dirty="0">
                <a:ea typeface="宋体" panose="02010600030101010101" pitchFamily="2" charset="-122"/>
              </a:rPr>
              <a:t>两种类型</a:t>
            </a:r>
            <a:endParaRPr lang="zh-CN" altLang="en-US" sz="2400" b="1" dirty="0">
              <a:ea typeface="宋体" panose="02010600030101010101" pitchFamily="2" charset="-122"/>
            </a:endParaRPr>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函数和运算符的重载（</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684213" y="1484313"/>
            <a:ext cx="7920038" cy="4611688"/>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重载（</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overloaded</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）的含义</a:t>
            </a:r>
            <a:endPar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根据上下文的不同，被重载的符号有不同的含义</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如果能够为名字的每次出现确定唯一的含义，重载得到解决</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暂时只考虑根据函数参数就可以解决函数重载的情形</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针对重载函数的类型综合规则</a:t>
            </a:r>
            <a:endPar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If</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f</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可能的类型为</a:t>
            </a:r>
            <a:r>
              <a:rPr kumimoji="0" lang="en-US" altLang="zh-CN" sz="24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a:t>
            </a:r>
            <a:r>
              <a:rPr kumimoji="0" lang="en-US" altLang="zh-CN" sz="2400" b="0" i="1"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i</a:t>
            </a:r>
            <a:r>
              <a:rPr kumimoji="0" lang="en-US" altLang="zh-CN" sz="24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a:t>
            </a:r>
            <a:r>
              <a:rPr kumimoji="0" lang="en-US" altLang="zh-CN" sz="2400" b="0" i="1"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i</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i</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n</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，其中，</a:t>
            </a:r>
            <a:r>
              <a:rPr kumimoji="0" lang="en-US" altLang="zh-CN" sz="24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a:t>
            </a:r>
            <a:r>
              <a:rPr kumimoji="0" lang="en-US" altLang="zh-CN" sz="2400" b="0" i="1"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i</a:t>
            </a:r>
            <a:r>
              <a:rPr kumimoji="0" lang="en-US" altLang="zh-CN" sz="24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 </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a:t>
            </a:r>
            <a:r>
              <a:rPr kumimoji="0" lang="en-US" altLang="zh-CN" sz="2400" b="0" i="1"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j</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a:t>
            </a:r>
            <a:r>
              <a:rPr kumimoji="0" lang="en-US" altLang="zh-CN" sz="24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a:t>
            </a:r>
            <a:r>
              <a:rPr kumimoji="0" lang="en-US" altLang="zh-CN" sz="24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j</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and</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的类型为</a:t>
            </a:r>
            <a:r>
              <a:rPr kumimoji="0" lang="en-US" altLang="zh-CN" sz="24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a:t>
            </a:r>
            <a:r>
              <a:rPr kumimoji="0" lang="en-US" altLang="zh-CN" sz="2400" b="0" i="1"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k</a:t>
            </a:r>
            <a:r>
              <a:rPr kumimoji="0" lang="en-US" altLang="zh-CN" sz="24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 </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k</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n</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then</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表达式</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f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的类型为</a:t>
            </a:r>
            <a:r>
              <a:rPr kumimoji="0" lang="en-US" altLang="zh-CN" sz="24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a:t>
            </a:r>
            <a:r>
              <a:rPr kumimoji="0" lang="en-US" altLang="zh-CN" sz="2400" b="0" i="1"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k</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endPar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函数和运算符的重载（2）</a:t>
            </a:r>
            <a:endParaRPr lang="zh-CN" altLang="en-US" dirty="0">
              <a:latin typeface="Times New Roman" panose="02020603050405020304" pitchFamily="18" charset="0"/>
              <a:ea typeface="宋体" panose="02010600030101010101" pitchFamily="2" charset="-122"/>
            </a:endParaRPr>
          </a:p>
        </p:txBody>
      </p:sp>
      <p:sp>
        <p:nvSpPr>
          <p:cNvPr id="1030147" name="Rectangle 3"/>
          <p:cNvSpPr>
            <a:spLocks noGrp="1" noChangeArrowheads="1"/>
          </p:cNvSpPr>
          <p:nvPr>
            <p:ph idx="1"/>
          </p:nvPr>
        </p:nvSpPr>
        <p:spPr>
          <a:xfrm>
            <a:off x="990600" y="1524000"/>
            <a:ext cx="7391400" cy="2667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重载的消除，也称为算符的鉴别</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如果重载的符号在引用点的含义可以唯一确定，则称为“重载的消除”</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2 </a:t>
            </a:r>
            <a:r>
              <a:rPr kumimoji="0" lang="zh-CN" altLang="en-US" sz="2000" b="1" i="0" u="none" strike="noStrike" kern="0" cap="none" spc="0" normalizeH="0" baseline="0" noProof="0" dirty="0">
                <a:ln>
                  <a:noFill/>
                </a:ln>
                <a:solidFill>
                  <a:schemeClr val="hlink"/>
                </a:solidFill>
                <a:effectLst>
                  <a:outerShdw blurRad="38100" dist="38100" dir="2700000" algn="tl">
                    <a:srgbClr val="C0C0C0"/>
                  </a:outerShdw>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3 </a:t>
            </a:r>
            <a:r>
              <a:rPr kumimoji="0" lang="zh-CN" altLang="en-US" sz="2000" b="1" i="0" u="none" strike="noStrike" kern="0" cap="none" spc="0" normalizeH="0" baseline="0" noProof="0" dirty="0">
                <a:ln>
                  <a:noFill/>
                </a:ln>
                <a:solidFill>
                  <a:srgbClr val="063DE8"/>
                </a:solidFill>
                <a:effectLst>
                  <a:outerShdw blurRad="38100" dist="38100" dir="2700000" algn="tl">
                    <a:srgbClr val="C0C0C0"/>
                  </a:outerShdw>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3.65</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因为是左结合的，先完成第一个加法“</a:t>
            </a:r>
            <a:r>
              <a:rPr kumimoji="0" lang="zh-CN" altLang="en-US" sz="1800" b="1" i="0" u="none" strike="noStrike" kern="0" cap="none" spc="0" normalizeH="0" baseline="0" noProof="0" dirty="0">
                <a:ln>
                  <a:noFill/>
                </a:ln>
                <a:solidFill>
                  <a:schemeClr val="hlink"/>
                </a:solidFill>
                <a:effectLst>
                  <a:outerShdw blurRad="38100" dist="38100" dir="2700000" algn="tl">
                    <a:srgbClr val="C0C0C0"/>
                  </a:outerShdw>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”，此时是一个整型加法，再完成第二个加法“</a:t>
            </a:r>
            <a:r>
              <a:rPr kumimoji="0" lang="zh-CN" altLang="en-US" sz="1800" b="1" i="0" u="none" strike="noStrike" kern="0" cap="none" spc="0" normalizeH="0" baseline="0" noProof="0" dirty="0">
                <a:ln>
                  <a:noFill/>
                </a:ln>
                <a:solidFill>
                  <a:srgbClr val="063DE8"/>
                </a:solidFill>
                <a:effectLst>
                  <a:outerShdw blurRad="38100" dist="38100" dir="2700000" algn="tl">
                    <a:srgbClr val="C0C0C0"/>
                  </a:outerShdw>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”，此时是一个实型加法</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在</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语言中，要对第一个加法的类型进行提升</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graphicFrame>
        <p:nvGraphicFramePr>
          <p:cNvPr id="167940" name="Object 4"/>
          <p:cNvGraphicFramePr>
            <a:graphicFrameLocks noChangeAspect="1"/>
          </p:cNvGraphicFramePr>
          <p:nvPr/>
        </p:nvGraphicFramePr>
        <p:xfrm>
          <a:off x="2555875" y="4389438"/>
          <a:ext cx="4029075" cy="1919287"/>
        </p:xfrm>
        <a:graphic>
          <a:graphicData uri="http://schemas.openxmlformats.org/presentationml/2006/ole">
            <mc:AlternateContent xmlns:mc="http://schemas.openxmlformats.org/markup-compatibility/2006">
              <mc:Choice xmlns:v="urn:schemas-microsoft-com:vml" Requires="v">
                <p:oleObj spid="_x0000_s3084" name="" r:id="rId1" imgW="4024630" imgH="2462530" progId="Visio.Drawing.4">
                  <p:embed/>
                </p:oleObj>
              </mc:Choice>
              <mc:Fallback>
                <p:oleObj name="" r:id="rId1" imgW="4024630" imgH="2462530" progId="Visio.Drawing.4">
                  <p:embed/>
                  <p:pic>
                    <p:nvPicPr>
                      <p:cNvPr id="0" name="图片 3083"/>
                      <p:cNvPicPr/>
                      <p:nvPr/>
                    </p:nvPicPr>
                    <p:blipFill>
                      <a:blip r:embed="rId2"/>
                      <a:stretch>
                        <a:fillRect/>
                      </a:stretch>
                    </p:blipFill>
                    <p:spPr>
                      <a:xfrm>
                        <a:off x="2555875" y="4389438"/>
                        <a:ext cx="4029075" cy="1919287"/>
                      </a:xfrm>
                      <a:prstGeom prst="rect">
                        <a:avLst/>
                      </a:prstGeom>
                      <a:noFill/>
                      <a:ln w="38100">
                        <a:noFill/>
                        <a:miter/>
                      </a:ln>
                    </p:spPr>
                  </p:pic>
                </p:oleObj>
              </mc:Fallback>
            </mc:AlternateContent>
          </a:graphicData>
        </a:graphic>
      </p:graphicFrame>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函数和运算符的重载（3）</a:t>
            </a:r>
            <a:endParaRPr lang="zh-CN" altLang="en-US" dirty="0">
              <a:latin typeface="Times New Roman" panose="02020603050405020304" pitchFamily="18" charset="0"/>
              <a:ea typeface="宋体" panose="02010600030101010101" pitchFamily="2" charset="-122"/>
            </a:endParaRPr>
          </a:p>
        </p:txBody>
      </p:sp>
      <p:sp>
        <p:nvSpPr>
          <p:cNvPr id="169987" name="Rectangle 3"/>
          <p:cNvSpPr>
            <a:spLocks noGrp="1"/>
          </p:cNvSpPr>
          <p:nvPr>
            <p:ph idx="1"/>
          </p:nvPr>
        </p:nvSpPr>
        <p:spPr>
          <a:xfrm>
            <a:off x="990600" y="1524000"/>
            <a:ext cx="7467600" cy="4800600"/>
          </a:xfrm>
        </p:spPr>
        <p:txBody>
          <a:bodyPr vert="horz" wrap="square" lIns="92075" tIns="46038" rIns="92075" bIns="46038" anchor="t" anchorCtr="0"/>
          <a:p>
            <a:pPr>
              <a:lnSpc>
                <a:spcPct val="90000"/>
              </a:lnSpc>
            </a:pPr>
            <a:r>
              <a:rPr lang="zh-CN" altLang="en-US" sz="2400" b="1" dirty="0">
                <a:ea typeface="宋体" panose="02010600030101010101" pitchFamily="2" charset="-122"/>
              </a:rPr>
              <a:t>子表达式的可能类型集合</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仅看函数的参数无法完全消除重载</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单看一个子表达式，可能得到的是一个可能类型的集合</a:t>
            </a:r>
            <a:endParaRPr lang="zh-CN" altLang="en-US" sz="2000" b="1" dirty="0">
              <a:ea typeface="宋体" panose="02010600030101010101" pitchFamily="2" charset="-122"/>
            </a:endParaRPr>
          </a:p>
          <a:p>
            <a:pPr lvl="3">
              <a:lnSpc>
                <a:spcPct val="90000"/>
              </a:lnSpc>
              <a:buFont typeface="Wingdings" panose="05000000000000000000" pitchFamily="2" charset="2"/>
              <a:buNone/>
            </a:pPr>
            <a:r>
              <a:rPr lang="zh-CN" altLang="en-US" sz="1800" b="1" dirty="0">
                <a:ea typeface="宋体" panose="02010600030101010101" pitchFamily="2" charset="-122"/>
              </a:rPr>
              <a:t>例：在</a:t>
            </a:r>
            <a:r>
              <a:rPr lang="en-US" altLang="zh-CN" sz="1800" b="1" dirty="0">
                <a:ea typeface="宋体" panose="02010600030101010101" pitchFamily="2" charset="-122"/>
              </a:rPr>
              <a:t>Ada</a:t>
            </a:r>
            <a:r>
              <a:rPr lang="zh-CN" altLang="en-US" sz="1800" b="1" dirty="0">
                <a:ea typeface="宋体" panose="02010600030101010101" pitchFamily="2" charset="-122"/>
              </a:rPr>
              <a:t>中，算符*的标准解释是：</a:t>
            </a:r>
            <a:endParaRPr lang="zh-CN" altLang="en-US"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integer</a:t>
            </a:r>
            <a:r>
              <a:rPr lang="en-US" altLang="zh-CN" sz="1800" b="1" dirty="0">
                <a:solidFill>
                  <a:srgbClr val="000000"/>
                </a:solidFill>
                <a:latin typeface="宋体" panose="02010600030101010101" pitchFamily="2" charset="-122"/>
                <a:ea typeface="宋体" panose="02010600030101010101" pitchFamily="2" charset="-122"/>
              </a:rPr>
              <a:t>×</a:t>
            </a:r>
            <a:r>
              <a:rPr lang="en-US" altLang="zh-CN" sz="1800" b="1" dirty="0">
                <a:ea typeface="宋体" panose="02010600030101010101" pitchFamily="2" charset="-122"/>
              </a:rPr>
              <a:t>integer</a:t>
            </a:r>
            <a:r>
              <a:rPr lang="en-US" altLang="zh-CN" sz="1800" b="1" dirty="0">
                <a:latin typeface="宋体" panose="02010600030101010101" pitchFamily="2" charset="-122"/>
                <a:ea typeface="宋体" panose="02010600030101010101" pitchFamily="2" charset="-122"/>
              </a:rPr>
              <a:t>→</a:t>
            </a:r>
            <a:r>
              <a:rPr lang="en-US" altLang="zh-CN" sz="1800" b="1" dirty="0">
                <a:ea typeface="宋体" panose="02010600030101010101" pitchFamily="2" charset="-122"/>
              </a:rPr>
              <a:t>integer</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zh-CN" altLang="en-US" sz="1800" b="1" dirty="0">
                <a:ea typeface="宋体" panose="02010600030101010101" pitchFamily="2" charset="-122"/>
              </a:rPr>
              <a:t>如果加入如下的声明：</a:t>
            </a:r>
            <a:endParaRPr lang="zh-CN" altLang="en-US" sz="1800" b="1" dirty="0">
              <a:ea typeface="宋体" panose="02010600030101010101" pitchFamily="2" charset="-122"/>
            </a:endParaRPr>
          </a:p>
          <a:p>
            <a:pPr lvl="3">
              <a:lnSpc>
                <a:spcPct val="90000"/>
              </a:lnSpc>
              <a:buFont typeface="Wingdings" panose="05000000000000000000" pitchFamily="2" charset="2"/>
              <a:buNone/>
            </a:pPr>
            <a:r>
              <a:rPr lang="zh-CN" altLang="en-US" sz="1800" b="1" dirty="0">
                <a:ea typeface="宋体" panose="02010600030101010101" pitchFamily="2" charset="-122"/>
              </a:rPr>
              <a:t>	</a:t>
            </a:r>
            <a:r>
              <a:rPr lang="en-US" altLang="zh-CN" sz="1800" b="1" dirty="0">
                <a:ea typeface="宋体" panose="02010600030101010101" pitchFamily="2" charset="-122"/>
              </a:rPr>
              <a:t>function “*”( i, j : integer ) return complex;</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zh-CN" altLang="en-US" sz="1800" b="1" dirty="0">
                <a:ea typeface="宋体" panose="02010600030101010101" pitchFamily="2" charset="-122"/>
              </a:rPr>
              <a:t>	</a:t>
            </a:r>
            <a:r>
              <a:rPr lang="en-US" altLang="zh-CN" sz="1800" b="1" dirty="0">
                <a:ea typeface="宋体" panose="02010600030101010101" pitchFamily="2" charset="-122"/>
              </a:rPr>
              <a:t>function “*”( i, j : complex ) return complex;</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zh-CN" altLang="en-US" sz="1800" b="1" dirty="0">
                <a:ea typeface="宋体" panose="02010600030101010101" pitchFamily="2" charset="-122"/>
              </a:rPr>
              <a:t>此时，*的可能类型包括：</a:t>
            </a:r>
            <a:endParaRPr lang="zh-CN" altLang="en-US"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integer</a:t>
            </a:r>
            <a:r>
              <a:rPr lang="en-US" altLang="zh-CN" sz="1800" b="1" dirty="0">
                <a:solidFill>
                  <a:srgbClr val="000000"/>
                </a:solidFill>
                <a:latin typeface="宋体" panose="02010600030101010101" pitchFamily="2" charset="-122"/>
                <a:ea typeface="宋体" panose="02010600030101010101" pitchFamily="2" charset="-122"/>
              </a:rPr>
              <a:t>×</a:t>
            </a:r>
            <a:r>
              <a:rPr lang="en-US" altLang="zh-CN" sz="1800" b="1" dirty="0">
                <a:ea typeface="宋体" panose="02010600030101010101" pitchFamily="2" charset="-122"/>
              </a:rPr>
              <a:t>integer</a:t>
            </a:r>
            <a:r>
              <a:rPr lang="en-US" altLang="zh-CN" sz="1800" b="1" dirty="0">
                <a:latin typeface="宋体" panose="02010600030101010101" pitchFamily="2" charset="-122"/>
                <a:ea typeface="宋体" panose="02010600030101010101" pitchFamily="2" charset="-122"/>
              </a:rPr>
              <a:t>→</a:t>
            </a:r>
            <a:r>
              <a:rPr lang="en-US" altLang="zh-CN" sz="1800" b="1" dirty="0">
                <a:ea typeface="宋体" panose="02010600030101010101" pitchFamily="2" charset="-122"/>
              </a:rPr>
              <a:t>integer</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integer</a:t>
            </a:r>
            <a:r>
              <a:rPr lang="en-US" altLang="zh-CN" sz="1800" b="1" dirty="0">
                <a:solidFill>
                  <a:srgbClr val="000000"/>
                </a:solidFill>
                <a:ea typeface="宋体" panose="02010600030101010101" pitchFamily="2" charset="-122"/>
              </a:rPr>
              <a:t>×</a:t>
            </a:r>
            <a:r>
              <a:rPr lang="en-US" altLang="zh-CN" sz="1800" b="1" dirty="0">
                <a:ea typeface="宋体" panose="02010600030101010101" pitchFamily="2" charset="-122"/>
              </a:rPr>
              <a:t>integer→complex</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complex</a:t>
            </a:r>
            <a:r>
              <a:rPr lang="en-US" altLang="zh-CN" sz="1800" b="1" dirty="0">
                <a:solidFill>
                  <a:srgbClr val="000000"/>
                </a:solidFill>
                <a:ea typeface="宋体" panose="02010600030101010101" pitchFamily="2" charset="-122"/>
              </a:rPr>
              <a:t>×complex</a:t>
            </a:r>
            <a:r>
              <a:rPr lang="en-US" altLang="zh-CN" sz="1800" b="1" dirty="0">
                <a:ea typeface="宋体" panose="02010600030101010101" pitchFamily="2" charset="-122"/>
              </a:rPr>
              <a:t>→complex</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zh-CN" altLang="en-US" sz="1800" b="1" dirty="0">
                <a:ea typeface="宋体" panose="02010600030101010101" pitchFamily="2" charset="-122"/>
              </a:rPr>
              <a:t>对于表达式2*(3*5)，子表达式3*5的类型是整型，而对于表达式(3*5)*</a:t>
            </a:r>
            <a:r>
              <a:rPr lang="en-US" altLang="zh-CN" sz="1800" b="1" dirty="0">
                <a:ea typeface="宋体" panose="02010600030101010101" pitchFamily="2" charset="-122"/>
              </a:rPr>
              <a:t>z，</a:t>
            </a:r>
            <a:r>
              <a:rPr lang="zh-CN" altLang="en-US" sz="1800" b="1" dirty="0">
                <a:ea typeface="宋体" panose="02010600030101010101" pitchFamily="2" charset="-122"/>
              </a:rPr>
              <a:t>如果</a:t>
            </a:r>
            <a:r>
              <a:rPr lang="en-US" altLang="zh-CN" sz="1800" b="1" dirty="0">
                <a:ea typeface="宋体" panose="02010600030101010101" pitchFamily="2" charset="-122"/>
              </a:rPr>
              <a:t>z</a:t>
            </a:r>
            <a:r>
              <a:rPr lang="zh-CN" altLang="en-US" sz="1800" b="1" dirty="0">
                <a:ea typeface="宋体" panose="02010600030101010101" pitchFamily="2" charset="-122"/>
              </a:rPr>
              <a:t>是复型，则3*5的类型是复型</a:t>
            </a:r>
            <a:endParaRPr lang="en-US" altLang="zh-CN" sz="1800" b="1" dirty="0">
              <a:ea typeface="宋体" panose="02010600030101010101" pitchFamily="2" charset="-122"/>
            </a:endParaRP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函数和运算符的重载（4）</a:t>
            </a:r>
            <a:endParaRPr lang="zh-CN" altLang="en-US" dirty="0">
              <a:latin typeface="Times New Roman" panose="02020603050405020304" pitchFamily="18" charset="0"/>
              <a:ea typeface="宋体" panose="02010600030101010101" pitchFamily="2" charset="-122"/>
            </a:endParaRPr>
          </a:p>
        </p:txBody>
      </p:sp>
      <p:sp>
        <p:nvSpPr>
          <p:cNvPr id="172035" name="Rectangle 3"/>
          <p:cNvSpPr>
            <a:spLocks noGrp="1"/>
          </p:cNvSpPr>
          <p:nvPr>
            <p:ph idx="1"/>
          </p:nvPr>
        </p:nvSpPr>
        <p:spPr>
          <a:xfrm>
            <a:off x="990600" y="1524000"/>
            <a:ext cx="7613650" cy="4572000"/>
          </a:xfrm>
        </p:spPr>
        <p:txBody>
          <a:bodyPr vert="horz" wrap="square" lIns="92075" tIns="46038" rIns="92075" bIns="46038" anchor="t" anchorCtr="0"/>
          <a:p>
            <a:pPr marL="514350" indent="-457200"/>
            <a:r>
              <a:rPr lang="zh-CN" altLang="en-US" sz="2400" b="1" dirty="0">
                <a:ea typeface="宋体" panose="02010600030101010101" pitchFamily="2" charset="-122"/>
              </a:rPr>
              <a:t>表达式类型检查规则的修改</a:t>
            </a:r>
            <a:endParaRPr lang="zh-CN" altLang="en-US" sz="2400" b="1" dirty="0">
              <a:ea typeface="宋体" panose="02010600030101010101" pitchFamily="2" charset="-122"/>
            </a:endParaRPr>
          </a:p>
          <a:p>
            <a:pPr marL="933450" lvl="1" indent="-419100"/>
            <a:r>
              <a:rPr lang="zh-CN" altLang="en-US" sz="2200" b="1" dirty="0">
                <a:ea typeface="宋体" panose="02010600030101010101" pitchFamily="2" charset="-122"/>
              </a:rPr>
              <a:t>修改：允许一个表达式对应一个类型集合</a:t>
            </a:r>
            <a:endParaRPr lang="zh-CN" altLang="en-US" sz="2200" b="1" dirty="0">
              <a:ea typeface="宋体" panose="02010600030101010101" pitchFamily="2" charset="-122"/>
            </a:endParaRPr>
          </a:p>
          <a:p>
            <a:pPr marL="1295400" lvl="2" indent="-381000"/>
            <a:r>
              <a:rPr lang="zh-CN" altLang="en-US" b="1" dirty="0">
                <a:ea typeface="宋体" panose="02010600030101010101" pitchFamily="2" charset="-122"/>
              </a:rPr>
              <a:t>以函数为例：</a:t>
            </a:r>
            <a:endParaRPr lang="zh-CN" altLang="en-US" b="1" dirty="0">
              <a:ea typeface="宋体" panose="02010600030101010101" pitchFamily="2" charset="-122"/>
            </a:endParaRPr>
          </a:p>
          <a:p>
            <a:pPr marL="1714500" lvl="3" indent="-342900">
              <a:buNone/>
            </a:pPr>
            <a:r>
              <a:rPr lang="zh-CN" altLang="en-US" b="1" dirty="0">
                <a:ea typeface="宋体" panose="02010600030101010101" pitchFamily="2" charset="-122"/>
              </a:rPr>
              <a:t>产生式		语义规则</a:t>
            </a:r>
            <a:endParaRPr lang="zh-CN" altLang="en-US" b="1" dirty="0">
              <a:ea typeface="宋体" panose="02010600030101010101" pitchFamily="2" charset="-122"/>
            </a:endParaRPr>
          </a:p>
          <a:p>
            <a:pPr marL="1714500" lvl="3" indent="-342900">
              <a:buNone/>
            </a:pPr>
            <a:r>
              <a:rPr lang="en-US" altLang="zh-CN" sz="1800" b="1" dirty="0">
                <a:ea typeface="宋体" panose="02010600030101010101" pitchFamily="2" charset="-122"/>
              </a:rPr>
              <a:t>E’→E		</a:t>
            </a:r>
            <a:r>
              <a:rPr lang="en-US" altLang="zh-CN" sz="1800" b="1" i="1" dirty="0">
                <a:ea typeface="宋体" panose="02010600030101010101" pitchFamily="2" charset="-122"/>
              </a:rPr>
              <a:t>E’.types</a:t>
            </a:r>
            <a:r>
              <a:rPr lang="en-US" altLang="zh-CN" sz="1800" b="1" dirty="0">
                <a:ea typeface="宋体" panose="02010600030101010101" pitchFamily="2" charset="-122"/>
              </a:rPr>
              <a:t> := </a:t>
            </a:r>
            <a:r>
              <a:rPr lang="en-US" altLang="zh-CN" sz="1800" b="1" i="1" dirty="0">
                <a:ea typeface="宋体" panose="02010600030101010101" pitchFamily="2" charset="-122"/>
              </a:rPr>
              <a:t>E.types</a:t>
            </a:r>
            <a:endParaRPr lang="en-US" altLang="zh-CN" sz="1800" b="1" i="1" dirty="0">
              <a:ea typeface="宋体" panose="02010600030101010101" pitchFamily="2" charset="-122"/>
            </a:endParaRPr>
          </a:p>
          <a:p>
            <a:pPr marL="1714500" lvl="3" indent="-342900">
              <a:buNone/>
            </a:pPr>
            <a:r>
              <a:rPr lang="en-US" altLang="zh-CN" sz="1800" b="1" dirty="0">
                <a:ea typeface="宋体" panose="02010600030101010101" pitchFamily="2" charset="-122"/>
              </a:rPr>
              <a:t>E→id		</a:t>
            </a:r>
            <a:r>
              <a:rPr lang="en-US" altLang="zh-CN" sz="1800" b="1" i="1" dirty="0">
                <a:ea typeface="宋体" panose="02010600030101010101" pitchFamily="2" charset="-122"/>
              </a:rPr>
              <a:t>E.types</a:t>
            </a:r>
            <a:r>
              <a:rPr lang="en-US" altLang="zh-CN" sz="1800" b="1" dirty="0">
                <a:ea typeface="宋体" panose="02010600030101010101" pitchFamily="2" charset="-122"/>
              </a:rPr>
              <a:t> := </a:t>
            </a:r>
            <a:r>
              <a:rPr lang="en-US" altLang="zh-CN" sz="1800" b="1" i="1" dirty="0">
                <a:ea typeface="宋体" panose="02010600030101010101" pitchFamily="2" charset="-122"/>
              </a:rPr>
              <a:t>lookup</a:t>
            </a:r>
            <a:r>
              <a:rPr lang="en-US" altLang="zh-CN" sz="1800" b="1" dirty="0">
                <a:ea typeface="宋体" panose="02010600030101010101" pitchFamily="2" charset="-122"/>
              </a:rPr>
              <a:t>(id.</a:t>
            </a:r>
            <a:r>
              <a:rPr lang="en-US" altLang="zh-CN" sz="1800" b="1" i="1" dirty="0">
                <a:ea typeface="宋体" panose="02010600030101010101" pitchFamily="2" charset="-122"/>
              </a:rPr>
              <a:t>entry</a:t>
            </a:r>
            <a:r>
              <a:rPr lang="en-US" altLang="zh-CN" sz="1800" b="1" dirty="0">
                <a:ea typeface="宋体" panose="02010600030101010101" pitchFamily="2" charset="-122"/>
              </a:rPr>
              <a:t>)</a:t>
            </a:r>
            <a:endParaRPr lang="en-US" altLang="zh-CN" sz="1800" b="1" dirty="0">
              <a:ea typeface="宋体" panose="02010600030101010101" pitchFamily="2" charset="-122"/>
            </a:endParaRPr>
          </a:p>
          <a:p>
            <a:pPr marL="1714500" lvl="3" indent="-342900">
              <a:buNone/>
            </a:pPr>
            <a:r>
              <a:rPr lang="en-US" altLang="zh-CN" sz="1800" b="1" dirty="0">
                <a:ea typeface="宋体" panose="02010600030101010101" pitchFamily="2" charset="-122"/>
              </a:rPr>
              <a:t>E→E</a:t>
            </a:r>
            <a:r>
              <a:rPr lang="en-US" altLang="zh-CN" sz="1800" b="1" baseline="-25000" dirty="0">
                <a:ea typeface="宋体" panose="02010600030101010101" pitchFamily="2" charset="-122"/>
              </a:rPr>
              <a:t>1</a:t>
            </a:r>
            <a:r>
              <a:rPr lang="en-US" altLang="zh-CN" sz="1800" b="1" dirty="0">
                <a:ea typeface="宋体" panose="02010600030101010101" pitchFamily="2" charset="-122"/>
              </a:rPr>
              <a:t> ( E</a:t>
            </a:r>
            <a:r>
              <a:rPr lang="en-US" altLang="zh-CN" sz="1800" b="1" baseline="-25000" dirty="0">
                <a:ea typeface="宋体" panose="02010600030101010101" pitchFamily="2" charset="-122"/>
              </a:rPr>
              <a:t>2 </a:t>
            </a:r>
            <a:r>
              <a:rPr lang="en-US" altLang="zh-CN" sz="1800" b="1" dirty="0">
                <a:ea typeface="宋体" panose="02010600030101010101" pitchFamily="2" charset="-122"/>
              </a:rPr>
              <a:t>)		</a:t>
            </a:r>
            <a:r>
              <a:rPr lang="en-US" altLang="zh-CN" sz="1800" b="1" i="1" dirty="0">
                <a:ea typeface="宋体" panose="02010600030101010101" pitchFamily="2" charset="-122"/>
              </a:rPr>
              <a:t>E.types</a:t>
            </a:r>
            <a:r>
              <a:rPr lang="en-US" altLang="zh-CN" sz="1800" b="1" dirty="0">
                <a:ea typeface="宋体" panose="02010600030101010101" pitchFamily="2" charset="-122"/>
              </a:rPr>
              <a:t> := { </a:t>
            </a:r>
            <a:r>
              <a:rPr lang="en-US" altLang="zh-CN" sz="1800" b="1" i="1" dirty="0">
                <a:ea typeface="宋体" panose="02010600030101010101" pitchFamily="2" charset="-122"/>
              </a:rPr>
              <a:t>t</a:t>
            </a:r>
            <a:r>
              <a:rPr lang="en-US" altLang="zh-CN" sz="1800" b="1" dirty="0">
                <a:ea typeface="宋体" panose="02010600030101010101" pitchFamily="2" charset="-122"/>
              </a:rPr>
              <a:t> | </a:t>
            </a:r>
            <a:r>
              <a:rPr lang="en-US" altLang="zh-CN" sz="1800" b="1" i="1" dirty="0">
                <a:ea typeface="宋体" panose="02010600030101010101" pitchFamily="2" charset="-122"/>
              </a:rPr>
              <a:t>E</a:t>
            </a:r>
            <a:r>
              <a:rPr lang="en-US" altLang="zh-CN" sz="1800" b="1" i="1" baseline="-25000" dirty="0">
                <a:ea typeface="宋体" panose="02010600030101010101" pitchFamily="2" charset="-122"/>
              </a:rPr>
              <a:t>2</a:t>
            </a:r>
            <a:r>
              <a:rPr lang="en-US" altLang="zh-CN" sz="1800" b="1" i="1" dirty="0">
                <a:ea typeface="宋体" panose="02010600030101010101" pitchFamily="2" charset="-122"/>
              </a:rPr>
              <a:t>.types</a:t>
            </a:r>
            <a:r>
              <a:rPr lang="en-US" altLang="zh-CN" sz="1800" b="1" dirty="0">
                <a:ea typeface="宋体" panose="02010600030101010101" pitchFamily="2" charset="-122"/>
              </a:rPr>
              <a:t> </a:t>
            </a:r>
            <a:r>
              <a:rPr lang="zh-CN" altLang="en-US" sz="1800" b="1" dirty="0">
                <a:ea typeface="宋体" panose="02010600030101010101" pitchFamily="2" charset="-122"/>
              </a:rPr>
              <a:t>中存在一个</a:t>
            </a:r>
            <a:r>
              <a:rPr lang="en-US" altLang="zh-CN" sz="1800" b="1" i="1" dirty="0">
                <a:ea typeface="宋体" panose="02010600030101010101" pitchFamily="2" charset="-122"/>
              </a:rPr>
              <a:t>s</a:t>
            </a:r>
            <a:r>
              <a:rPr lang="en-US" altLang="zh-CN" sz="1800" b="1" dirty="0">
                <a:ea typeface="宋体" panose="02010600030101010101" pitchFamily="2" charset="-122"/>
              </a:rPr>
              <a:t>，</a:t>
            </a:r>
            <a:endParaRPr lang="en-US" altLang="zh-CN" sz="1800" b="1" dirty="0">
              <a:ea typeface="宋体" panose="02010600030101010101" pitchFamily="2" charset="-122"/>
            </a:endParaRPr>
          </a:p>
          <a:p>
            <a:pPr marL="1714500" lvl="3" indent="-342900">
              <a:buNone/>
            </a:pPr>
            <a:r>
              <a:rPr lang="zh-CN" altLang="en-US" sz="1800" b="1" dirty="0">
                <a:ea typeface="宋体" panose="02010600030101010101" pitchFamily="2" charset="-122"/>
              </a:rPr>
              <a:t>				       使得</a:t>
            </a:r>
            <a:r>
              <a:rPr lang="en-US" altLang="zh-CN" sz="1800" b="1" i="1" dirty="0">
                <a:ea typeface="宋体" panose="02010600030101010101" pitchFamily="2" charset="-122"/>
              </a:rPr>
              <a:t>s</a:t>
            </a:r>
            <a:r>
              <a:rPr lang="en-US" altLang="zh-CN" sz="1800" b="1" dirty="0">
                <a:ea typeface="宋体" panose="02010600030101010101" pitchFamily="2" charset="-122"/>
              </a:rPr>
              <a:t>→</a:t>
            </a:r>
            <a:r>
              <a:rPr lang="en-US" altLang="zh-CN" sz="1800" b="1" i="1" dirty="0">
                <a:ea typeface="宋体" panose="02010600030101010101" pitchFamily="2" charset="-122"/>
              </a:rPr>
              <a:t>t</a:t>
            </a:r>
            <a:r>
              <a:rPr lang="zh-CN" altLang="en-US" sz="1800" b="1" dirty="0">
                <a:ea typeface="宋体" panose="02010600030101010101" pitchFamily="2" charset="-122"/>
              </a:rPr>
              <a:t>属于</a:t>
            </a:r>
            <a:r>
              <a:rPr lang="en-US" altLang="zh-CN" sz="1800" b="1" i="1" dirty="0">
                <a:ea typeface="宋体" panose="02010600030101010101" pitchFamily="2" charset="-122"/>
              </a:rPr>
              <a:t>E</a:t>
            </a:r>
            <a:r>
              <a:rPr lang="en-US" altLang="zh-CN" sz="1800" b="1" i="1" baseline="-25000" dirty="0">
                <a:ea typeface="宋体" panose="02010600030101010101" pitchFamily="2" charset="-122"/>
              </a:rPr>
              <a:t>1</a:t>
            </a:r>
            <a:r>
              <a:rPr lang="en-US" altLang="zh-CN" sz="1800" b="1" i="1" dirty="0">
                <a:ea typeface="宋体" panose="02010600030101010101" pitchFamily="2" charset="-122"/>
              </a:rPr>
              <a:t>.types </a:t>
            </a:r>
            <a:r>
              <a:rPr lang="en-US" altLang="zh-CN" sz="1800" b="1" dirty="0">
                <a:ea typeface="宋体" panose="02010600030101010101" pitchFamily="2" charset="-122"/>
              </a:rPr>
              <a:t>}</a:t>
            </a:r>
            <a:endParaRPr lang="en-US" altLang="zh-CN" sz="1800" b="1" dirty="0">
              <a:ea typeface="宋体" panose="02010600030101010101" pitchFamily="2" charset="-122"/>
            </a:endParaRPr>
          </a:p>
          <a:p>
            <a:pPr marL="933450" lvl="1" indent="-419100"/>
            <a:r>
              <a:rPr lang="zh-CN" altLang="en-US" sz="2200" b="1" dirty="0">
                <a:ea typeface="宋体" panose="02010600030101010101" pitchFamily="2" charset="-122"/>
              </a:rPr>
              <a:t>如果函数的可能类型集合为空，则可以作为通知类型错误的条件</a:t>
            </a:r>
            <a:endParaRPr lang="zh-CN" altLang="en-US" sz="2200" b="1" dirty="0">
              <a:ea typeface="宋体" panose="02010600030101010101" pitchFamily="2" charset="-122"/>
            </a:endParaRP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函数和运算符的重载（5）</a:t>
            </a:r>
            <a:endParaRPr lang="zh-CN" altLang="en-US" dirty="0">
              <a:latin typeface="Times New Roman" panose="02020603050405020304" pitchFamily="18" charset="0"/>
              <a:ea typeface="宋体" panose="02010600030101010101" pitchFamily="2" charset="-122"/>
            </a:endParaRPr>
          </a:p>
        </p:txBody>
      </p:sp>
      <p:graphicFrame>
        <p:nvGraphicFramePr>
          <p:cNvPr id="174083" name="Object 5"/>
          <p:cNvGraphicFramePr>
            <a:graphicFrameLocks noChangeAspect="1"/>
          </p:cNvGraphicFramePr>
          <p:nvPr/>
        </p:nvGraphicFramePr>
        <p:xfrm>
          <a:off x="2590800" y="1447800"/>
          <a:ext cx="4029075" cy="2809875"/>
        </p:xfrm>
        <a:graphic>
          <a:graphicData uri="http://schemas.openxmlformats.org/presentationml/2006/ole">
            <mc:AlternateContent xmlns:mc="http://schemas.openxmlformats.org/markup-compatibility/2006">
              <mc:Choice xmlns:v="urn:schemas-microsoft-com:vml" Requires="v">
                <p:oleObj spid="_x0000_s3083" name="" r:id="rId1" imgW="4024630" imgH="2811780" progId="Visio.Drawing.4">
                  <p:embed/>
                </p:oleObj>
              </mc:Choice>
              <mc:Fallback>
                <p:oleObj name="" r:id="rId1" imgW="4024630" imgH="2811780" progId="Visio.Drawing.4">
                  <p:embed/>
                  <p:pic>
                    <p:nvPicPr>
                      <p:cNvPr id="0" name="图片 3082"/>
                      <p:cNvPicPr/>
                      <p:nvPr/>
                    </p:nvPicPr>
                    <p:blipFill>
                      <a:blip r:embed="rId2"/>
                      <a:stretch>
                        <a:fillRect/>
                      </a:stretch>
                    </p:blipFill>
                    <p:spPr>
                      <a:xfrm>
                        <a:off x="2590800" y="1447800"/>
                        <a:ext cx="4029075" cy="2809875"/>
                      </a:xfrm>
                      <a:prstGeom prst="rect">
                        <a:avLst/>
                      </a:prstGeom>
                      <a:noFill/>
                      <a:ln w="38100">
                        <a:noFill/>
                        <a:miter/>
                      </a:ln>
                    </p:spPr>
                  </p:pic>
                </p:oleObj>
              </mc:Fallback>
            </mc:AlternateContent>
          </a:graphicData>
        </a:graphic>
      </p:graphicFrame>
      <p:sp>
        <p:nvSpPr>
          <p:cNvPr id="174084" name="Rectangle 6"/>
          <p:cNvSpPr>
            <a:spLocks noGrp="1"/>
          </p:cNvSpPr>
          <p:nvPr>
            <p:ph idx="1"/>
          </p:nvPr>
        </p:nvSpPr>
        <p:spPr>
          <a:xfrm>
            <a:off x="762000" y="4419600"/>
            <a:ext cx="7620000" cy="1676400"/>
          </a:xfrm>
        </p:spPr>
        <p:txBody>
          <a:bodyPr vert="horz" wrap="square" lIns="92075" tIns="46038" rIns="92075" bIns="46038" anchor="t" anchorCtr="0"/>
          <a:p>
            <a:pPr lvl="3"/>
            <a:r>
              <a:rPr lang="zh-CN" altLang="en-US" sz="2400" b="1" dirty="0">
                <a:ea typeface="宋体" panose="02010600030101010101" pitchFamily="2" charset="-122"/>
              </a:rPr>
              <a:t>此时，子表达式的可能类型集合是{</a:t>
            </a:r>
            <a:r>
              <a:rPr lang="en-US" altLang="zh-CN" sz="2400" b="1" dirty="0">
                <a:ea typeface="宋体" panose="02010600030101010101" pitchFamily="2" charset="-122"/>
              </a:rPr>
              <a:t>integer, complex}，</a:t>
            </a:r>
            <a:r>
              <a:rPr lang="zh-CN" altLang="en-US" sz="2400" b="1" dirty="0">
                <a:ea typeface="宋体" panose="02010600030101010101" pitchFamily="2" charset="-122"/>
              </a:rPr>
              <a:t>它的唯一类型的确定要考虑其出现的上下文环境</a:t>
            </a:r>
            <a:endParaRPr lang="zh-CN" altLang="en-US" sz="2400" b="1" dirty="0">
              <a:ea typeface="宋体" panose="02010600030101010101" pitchFamily="2" charset="-122"/>
            </a:endParaRP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函数和运算符的重载（6）</a:t>
            </a:r>
            <a:endParaRPr lang="zh-CN" altLang="en-US" dirty="0">
              <a:latin typeface="Times New Roman" panose="02020603050405020304" pitchFamily="18" charset="0"/>
              <a:ea typeface="宋体" panose="02010600030101010101" pitchFamily="2" charset="-122"/>
            </a:endParaRPr>
          </a:p>
        </p:txBody>
      </p:sp>
      <p:sp>
        <p:nvSpPr>
          <p:cNvPr id="176131" name="Rectangle 3"/>
          <p:cNvSpPr>
            <a:spLocks noGrp="1"/>
          </p:cNvSpPr>
          <p:nvPr>
            <p:ph idx="1"/>
          </p:nvPr>
        </p:nvSpPr>
        <p:spPr>
          <a:xfrm>
            <a:off x="609600" y="1524000"/>
            <a:ext cx="8001000" cy="4800600"/>
          </a:xfrm>
        </p:spPr>
        <p:txBody>
          <a:bodyPr vert="horz" wrap="square" lIns="92075" tIns="46038" rIns="92075" bIns="46038" anchor="t" anchorCtr="0"/>
          <a:p>
            <a:pPr>
              <a:lnSpc>
                <a:spcPct val="90000"/>
              </a:lnSpc>
            </a:pPr>
            <a:r>
              <a:rPr lang="zh-CN" altLang="en-US" sz="2000" b="1" dirty="0">
                <a:ea typeface="宋体" panose="02010600030101010101" pitchFamily="2" charset="-122"/>
              </a:rPr>
              <a:t>缩小可能类型的集合</a:t>
            </a:r>
            <a:endParaRPr lang="zh-CN" altLang="en-US" sz="2000" b="1" dirty="0">
              <a:ea typeface="宋体" panose="02010600030101010101" pitchFamily="2" charset="-122"/>
            </a:endParaRPr>
          </a:p>
          <a:p>
            <a:pPr lvl="1">
              <a:lnSpc>
                <a:spcPct val="90000"/>
              </a:lnSpc>
            </a:pPr>
            <a:r>
              <a:rPr lang="zh-CN" altLang="en-US" sz="1800" b="1" dirty="0">
                <a:ea typeface="宋体" panose="02010600030101010101" pitchFamily="2" charset="-122"/>
              </a:rPr>
              <a:t>在一些情况下，完整的表达式要求有唯一的类型</a:t>
            </a:r>
            <a:endParaRPr lang="zh-CN" altLang="en-US" sz="1800" b="1" dirty="0">
              <a:ea typeface="宋体" panose="02010600030101010101" pitchFamily="2" charset="-122"/>
            </a:endParaRPr>
          </a:p>
          <a:p>
            <a:pPr lvl="2">
              <a:lnSpc>
                <a:spcPct val="90000"/>
              </a:lnSpc>
            </a:pPr>
            <a:r>
              <a:rPr lang="zh-CN" altLang="en-US" sz="1600" b="1" dirty="0">
                <a:ea typeface="宋体" panose="02010600030101010101" pitchFamily="2" charset="-122"/>
              </a:rPr>
              <a:t>根据上下文，缩小每个表达式的类型选择，直至唯一</a:t>
            </a:r>
            <a:endParaRPr lang="zh-CN" altLang="en-US" sz="1600" b="1" dirty="0">
              <a:ea typeface="宋体" panose="02010600030101010101" pitchFamily="2" charset="-122"/>
            </a:endParaRPr>
          </a:p>
          <a:p>
            <a:pPr lvl="2">
              <a:lnSpc>
                <a:spcPct val="90000"/>
              </a:lnSpc>
            </a:pPr>
            <a:r>
              <a:rPr lang="zh-CN" altLang="en-US" sz="1600" b="1" dirty="0">
                <a:ea typeface="宋体" panose="02010600030101010101" pitchFamily="2" charset="-122"/>
              </a:rPr>
              <a:t>如果最终仍然不能得到唯一的类型，则报告类型错误</a:t>
            </a:r>
            <a:endParaRPr lang="zh-CN" altLang="en-US" sz="1600" b="1" dirty="0">
              <a:ea typeface="宋体" panose="02010600030101010101" pitchFamily="2" charset="-122"/>
            </a:endParaRPr>
          </a:p>
          <a:p>
            <a:pPr lvl="2">
              <a:lnSpc>
                <a:spcPct val="90000"/>
              </a:lnSpc>
            </a:pPr>
            <a:r>
              <a:rPr lang="zh-CN" altLang="en-US" sz="1600" b="1" dirty="0">
                <a:ea typeface="宋体" panose="02010600030101010101" pitchFamily="2" charset="-122"/>
              </a:rPr>
              <a:t>增加继承属性</a:t>
            </a:r>
            <a:r>
              <a:rPr lang="en-US" altLang="zh-CN" sz="1600" b="1" dirty="0">
                <a:ea typeface="宋体" panose="02010600030101010101" pitchFamily="2" charset="-122"/>
              </a:rPr>
              <a:t>unique</a:t>
            </a:r>
            <a:endParaRPr lang="en-US" altLang="zh-CN" sz="1600" b="1" dirty="0">
              <a:ea typeface="宋体" panose="02010600030101010101" pitchFamily="2" charset="-122"/>
            </a:endParaRPr>
          </a:p>
          <a:p>
            <a:pPr lvl="4">
              <a:lnSpc>
                <a:spcPct val="90000"/>
              </a:lnSpc>
              <a:buFont typeface="Wingdings" panose="05000000000000000000" pitchFamily="2" charset="2"/>
              <a:buNone/>
            </a:pPr>
            <a:r>
              <a:rPr lang="zh-CN" altLang="en-US" sz="1400" b="1" dirty="0">
                <a:ea typeface="宋体" panose="02010600030101010101" pitchFamily="2" charset="-122"/>
              </a:rPr>
              <a:t>产生式		语义规则</a:t>
            </a:r>
            <a:endParaRPr lang="zh-CN" altLang="en-US" sz="1400" b="1" dirty="0">
              <a:ea typeface="宋体" panose="02010600030101010101" pitchFamily="2" charset="-122"/>
            </a:endParaRPr>
          </a:p>
          <a:p>
            <a:pPr lvl="4">
              <a:lnSpc>
                <a:spcPct val="90000"/>
              </a:lnSpc>
              <a:buFont typeface="Wingdings" panose="05000000000000000000" pitchFamily="2" charset="2"/>
              <a:buNone/>
            </a:pPr>
            <a:r>
              <a:rPr lang="en-US" altLang="zh-CN" sz="1400" b="1" dirty="0">
                <a:ea typeface="宋体" panose="02010600030101010101" pitchFamily="2" charset="-122"/>
              </a:rPr>
              <a:t>E’→E		</a:t>
            </a:r>
            <a:r>
              <a:rPr lang="en-US" altLang="zh-CN" sz="1400" b="1" i="1" dirty="0">
                <a:ea typeface="宋体" panose="02010600030101010101" pitchFamily="2" charset="-122"/>
              </a:rPr>
              <a:t>E’.types</a:t>
            </a:r>
            <a:r>
              <a:rPr lang="en-US" altLang="zh-CN" sz="1400" b="1" dirty="0">
                <a:ea typeface="宋体" panose="02010600030101010101" pitchFamily="2" charset="-122"/>
              </a:rPr>
              <a:t> := </a:t>
            </a:r>
            <a:r>
              <a:rPr lang="en-US" altLang="zh-CN" sz="1400" b="1" i="1" dirty="0">
                <a:ea typeface="宋体" panose="02010600030101010101" pitchFamily="2" charset="-122"/>
              </a:rPr>
              <a:t>E.types</a:t>
            </a:r>
            <a:endParaRPr lang="en-US" altLang="zh-CN" sz="1400" b="1" i="1" dirty="0">
              <a:ea typeface="宋体" panose="02010600030101010101" pitchFamily="2" charset="-122"/>
            </a:endParaRPr>
          </a:p>
          <a:p>
            <a:pPr lvl="4">
              <a:lnSpc>
                <a:spcPct val="90000"/>
              </a:lnSpc>
              <a:buFont typeface="Wingdings" panose="05000000000000000000" pitchFamily="2" charset="2"/>
              <a:buNone/>
            </a:pPr>
            <a:r>
              <a:rPr lang="en-US" altLang="zh-CN" sz="1400" b="1" i="1" dirty="0">
                <a:ea typeface="宋体" panose="02010600030101010101" pitchFamily="2" charset="-122"/>
              </a:rPr>
              <a:t>			E.unique</a:t>
            </a:r>
            <a:r>
              <a:rPr lang="en-US" altLang="zh-CN" sz="1400" b="1" dirty="0">
                <a:ea typeface="宋体" panose="02010600030101010101" pitchFamily="2" charset="-122"/>
              </a:rPr>
              <a:t>:= if</a:t>
            </a:r>
            <a:r>
              <a:rPr lang="en-US" altLang="zh-CN" sz="1400" b="1" i="1" dirty="0">
                <a:ea typeface="宋体" panose="02010600030101010101" pitchFamily="2" charset="-122"/>
              </a:rPr>
              <a:t> E’.types </a:t>
            </a:r>
            <a:r>
              <a:rPr lang="en-US" altLang="zh-CN" sz="1400" b="1" dirty="0">
                <a:ea typeface="宋体" panose="02010600030101010101" pitchFamily="2" charset="-122"/>
              </a:rPr>
              <a:t>={ </a:t>
            </a:r>
            <a:r>
              <a:rPr lang="en-US" altLang="zh-CN" sz="1400" b="1" i="1" dirty="0">
                <a:ea typeface="宋体" panose="02010600030101010101" pitchFamily="2" charset="-122"/>
              </a:rPr>
              <a:t>t </a:t>
            </a:r>
            <a:r>
              <a:rPr lang="en-US" altLang="zh-CN" sz="1400" b="1" dirty="0">
                <a:ea typeface="宋体" panose="02010600030101010101" pitchFamily="2" charset="-122"/>
              </a:rPr>
              <a:t>} then</a:t>
            </a:r>
            <a:r>
              <a:rPr lang="en-US" altLang="zh-CN" sz="1400" b="1" i="1" dirty="0">
                <a:ea typeface="宋体" panose="02010600030101010101" pitchFamily="2" charset="-122"/>
              </a:rPr>
              <a:t> t</a:t>
            </a:r>
            <a:r>
              <a:rPr lang="zh-CN" altLang="en-US" sz="1400" b="1" i="1" dirty="0">
                <a:ea typeface="宋体" panose="02010600030101010101" pitchFamily="2" charset="-122"/>
              </a:rPr>
              <a:t> </a:t>
            </a:r>
            <a:r>
              <a:rPr lang="en-US" altLang="zh-CN" sz="1400" b="1" dirty="0">
                <a:ea typeface="宋体" panose="02010600030101010101" pitchFamily="2" charset="-122"/>
              </a:rPr>
              <a:t>else</a:t>
            </a:r>
            <a:r>
              <a:rPr lang="en-US" altLang="zh-CN" sz="1400" b="1" i="1" dirty="0">
                <a:ea typeface="宋体" panose="02010600030101010101" pitchFamily="2" charset="-122"/>
              </a:rPr>
              <a:t> type_error</a:t>
            </a:r>
            <a:endParaRPr lang="en-US" altLang="zh-CN" sz="1400" b="1" i="1" dirty="0">
              <a:ea typeface="宋体" panose="02010600030101010101" pitchFamily="2" charset="-122"/>
            </a:endParaRPr>
          </a:p>
          <a:p>
            <a:pPr lvl="4">
              <a:lnSpc>
                <a:spcPct val="90000"/>
              </a:lnSpc>
              <a:buFont typeface="Wingdings" panose="05000000000000000000" pitchFamily="2" charset="2"/>
              <a:buNone/>
            </a:pPr>
            <a:r>
              <a:rPr lang="en-US" altLang="zh-CN" sz="1400" b="1" i="1" dirty="0">
                <a:ea typeface="宋体" panose="02010600030101010101" pitchFamily="2" charset="-122"/>
              </a:rPr>
              <a:t>			E’.code </a:t>
            </a:r>
            <a:r>
              <a:rPr lang="en-US" altLang="zh-CN" sz="1400" b="1" dirty="0">
                <a:ea typeface="宋体" panose="02010600030101010101" pitchFamily="2" charset="-122"/>
              </a:rPr>
              <a:t>:= </a:t>
            </a:r>
            <a:r>
              <a:rPr lang="en-US" altLang="zh-CN" sz="1400" b="1" i="1" dirty="0">
                <a:ea typeface="宋体" panose="02010600030101010101" pitchFamily="2" charset="-122"/>
              </a:rPr>
              <a:t>E.code</a:t>
            </a:r>
            <a:endParaRPr lang="en-US" altLang="zh-CN" sz="1400" b="1" i="1" dirty="0">
              <a:ea typeface="宋体" panose="02010600030101010101" pitchFamily="2" charset="-122"/>
            </a:endParaRPr>
          </a:p>
          <a:p>
            <a:pPr lvl="4">
              <a:lnSpc>
                <a:spcPct val="90000"/>
              </a:lnSpc>
              <a:buFont typeface="Wingdings" panose="05000000000000000000" pitchFamily="2" charset="2"/>
              <a:buNone/>
            </a:pPr>
            <a:endParaRPr lang="en-US" altLang="zh-CN" sz="1400" b="1" dirty="0">
              <a:ea typeface="宋体" panose="02010600030101010101" pitchFamily="2" charset="-122"/>
            </a:endParaRPr>
          </a:p>
          <a:p>
            <a:pPr lvl="4">
              <a:lnSpc>
                <a:spcPct val="90000"/>
              </a:lnSpc>
              <a:buFont typeface="Wingdings" panose="05000000000000000000" pitchFamily="2" charset="2"/>
              <a:buNone/>
            </a:pPr>
            <a:r>
              <a:rPr lang="en-US" altLang="zh-CN" sz="1400" b="1" dirty="0">
                <a:ea typeface="宋体" panose="02010600030101010101" pitchFamily="2" charset="-122"/>
              </a:rPr>
              <a:t>E→id		</a:t>
            </a:r>
            <a:r>
              <a:rPr lang="en-US" altLang="zh-CN" sz="1400" b="1" i="1" dirty="0">
                <a:ea typeface="宋体" panose="02010600030101010101" pitchFamily="2" charset="-122"/>
              </a:rPr>
              <a:t>E.types</a:t>
            </a:r>
            <a:r>
              <a:rPr lang="en-US" altLang="zh-CN" sz="1400" b="1" dirty="0">
                <a:ea typeface="宋体" panose="02010600030101010101" pitchFamily="2" charset="-122"/>
              </a:rPr>
              <a:t> := </a:t>
            </a:r>
            <a:r>
              <a:rPr lang="en-US" altLang="zh-CN" sz="1400" b="1" i="1" dirty="0">
                <a:ea typeface="宋体" panose="02010600030101010101" pitchFamily="2" charset="-122"/>
              </a:rPr>
              <a:t>lookup</a:t>
            </a:r>
            <a:r>
              <a:rPr lang="en-US" altLang="zh-CN" sz="1400" b="1" dirty="0">
                <a:ea typeface="宋体" panose="02010600030101010101" pitchFamily="2" charset="-122"/>
              </a:rPr>
              <a:t>(id.</a:t>
            </a:r>
            <a:r>
              <a:rPr lang="en-US" altLang="zh-CN" sz="1400" b="1" i="1" dirty="0">
                <a:ea typeface="宋体" panose="02010600030101010101" pitchFamily="2" charset="-122"/>
              </a:rPr>
              <a:t>entry</a:t>
            </a:r>
            <a:r>
              <a:rPr lang="en-US" altLang="zh-CN" sz="1400" b="1" dirty="0">
                <a:ea typeface="宋体" panose="02010600030101010101" pitchFamily="2" charset="-122"/>
              </a:rPr>
              <a:t>)</a:t>
            </a:r>
            <a:endParaRPr lang="en-US" altLang="zh-CN" sz="1400" b="1" dirty="0">
              <a:ea typeface="宋体" panose="02010600030101010101" pitchFamily="2" charset="-122"/>
            </a:endParaRPr>
          </a:p>
          <a:p>
            <a:pPr lvl="4">
              <a:lnSpc>
                <a:spcPct val="90000"/>
              </a:lnSpc>
              <a:buFont typeface="Wingdings" panose="05000000000000000000" pitchFamily="2" charset="2"/>
              <a:buNone/>
            </a:pPr>
            <a:r>
              <a:rPr lang="en-US" altLang="zh-CN" sz="1400" b="1" i="1" dirty="0">
                <a:ea typeface="宋体" panose="02010600030101010101" pitchFamily="2" charset="-122"/>
              </a:rPr>
              <a:t>			E.code </a:t>
            </a:r>
            <a:r>
              <a:rPr lang="en-US" altLang="zh-CN" sz="1400" b="1" dirty="0">
                <a:ea typeface="宋体" panose="02010600030101010101" pitchFamily="2" charset="-122"/>
              </a:rPr>
              <a:t>:= </a:t>
            </a:r>
            <a:r>
              <a:rPr lang="en-US" altLang="zh-CN" sz="1400" b="1" i="1" dirty="0">
                <a:ea typeface="宋体" panose="02010600030101010101" pitchFamily="2" charset="-122"/>
              </a:rPr>
              <a:t>gen</a:t>
            </a:r>
            <a:r>
              <a:rPr lang="en-US" altLang="zh-CN" sz="1400" b="1" dirty="0">
                <a:ea typeface="宋体" panose="02010600030101010101" pitchFamily="2" charset="-122"/>
              </a:rPr>
              <a:t>(id</a:t>
            </a:r>
            <a:r>
              <a:rPr lang="en-US" altLang="zh-CN" sz="1400" b="1" i="1" dirty="0">
                <a:ea typeface="宋体" panose="02010600030101010101" pitchFamily="2" charset="-122"/>
              </a:rPr>
              <a:t>.lexeme </a:t>
            </a:r>
            <a:r>
              <a:rPr lang="en-US" altLang="zh-CN" sz="1400" b="1" dirty="0">
                <a:ea typeface="宋体" panose="02010600030101010101" pitchFamily="2" charset="-122"/>
              </a:rPr>
              <a:t>‘:’</a:t>
            </a:r>
            <a:r>
              <a:rPr lang="en-US" altLang="zh-CN" sz="1400" b="1" i="1" dirty="0">
                <a:ea typeface="宋体" panose="02010600030101010101" pitchFamily="2" charset="-122"/>
              </a:rPr>
              <a:t> E.unique </a:t>
            </a:r>
            <a:r>
              <a:rPr lang="en-US" altLang="zh-CN" sz="1400" b="1" dirty="0">
                <a:ea typeface="宋体" panose="02010600030101010101" pitchFamily="2" charset="-122"/>
              </a:rPr>
              <a:t>)</a:t>
            </a:r>
            <a:endParaRPr lang="en-US" altLang="zh-CN" sz="1400" b="1" dirty="0">
              <a:ea typeface="宋体" panose="02010600030101010101" pitchFamily="2" charset="-122"/>
            </a:endParaRPr>
          </a:p>
          <a:p>
            <a:pPr lvl="4">
              <a:lnSpc>
                <a:spcPct val="90000"/>
              </a:lnSpc>
              <a:buFont typeface="Wingdings" panose="05000000000000000000" pitchFamily="2" charset="2"/>
              <a:buNone/>
            </a:pPr>
            <a:endParaRPr lang="en-US" altLang="zh-CN" sz="1400" b="1" dirty="0">
              <a:ea typeface="宋体" panose="02010600030101010101" pitchFamily="2" charset="-122"/>
            </a:endParaRPr>
          </a:p>
          <a:p>
            <a:pPr lvl="4">
              <a:lnSpc>
                <a:spcPct val="90000"/>
              </a:lnSpc>
              <a:buFont typeface="Wingdings" panose="05000000000000000000" pitchFamily="2" charset="2"/>
              <a:buNone/>
            </a:pPr>
            <a:r>
              <a:rPr lang="en-US" altLang="zh-CN" sz="1400" b="1" dirty="0">
                <a:ea typeface="宋体" panose="02010600030101010101" pitchFamily="2" charset="-122"/>
              </a:rPr>
              <a:t>E→E</a:t>
            </a:r>
            <a:r>
              <a:rPr lang="en-US" altLang="zh-CN" sz="1400" b="1" baseline="-25000" dirty="0">
                <a:ea typeface="宋体" panose="02010600030101010101" pitchFamily="2" charset="-122"/>
              </a:rPr>
              <a:t>1</a:t>
            </a:r>
            <a:r>
              <a:rPr lang="en-US" altLang="zh-CN" sz="1400" b="1" dirty="0">
                <a:ea typeface="宋体" panose="02010600030101010101" pitchFamily="2" charset="-122"/>
              </a:rPr>
              <a:t> ( E</a:t>
            </a:r>
            <a:r>
              <a:rPr lang="en-US" altLang="zh-CN" sz="1400" b="1" baseline="-25000" dirty="0">
                <a:ea typeface="宋体" panose="02010600030101010101" pitchFamily="2" charset="-122"/>
              </a:rPr>
              <a:t>2 </a:t>
            </a:r>
            <a:r>
              <a:rPr lang="en-US" altLang="zh-CN" sz="1400" b="1" dirty="0">
                <a:ea typeface="宋体" panose="02010600030101010101" pitchFamily="2" charset="-122"/>
              </a:rPr>
              <a:t>)		</a:t>
            </a:r>
            <a:r>
              <a:rPr lang="en-US" altLang="zh-CN" sz="1400" b="1" i="1" dirty="0">
                <a:ea typeface="宋体" panose="02010600030101010101" pitchFamily="2" charset="-122"/>
              </a:rPr>
              <a:t>E.types</a:t>
            </a:r>
            <a:r>
              <a:rPr lang="en-US" altLang="zh-CN" sz="1400" b="1" dirty="0">
                <a:ea typeface="宋体" panose="02010600030101010101" pitchFamily="2" charset="-122"/>
              </a:rPr>
              <a:t> := { </a:t>
            </a:r>
            <a:r>
              <a:rPr lang="en-US" altLang="zh-CN" sz="1400" b="1" i="1" dirty="0">
                <a:ea typeface="宋体" panose="02010600030101010101" pitchFamily="2" charset="-122"/>
              </a:rPr>
              <a:t>t</a:t>
            </a:r>
            <a:r>
              <a:rPr lang="en-US" altLang="zh-CN" sz="1400" b="1" dirty="0">
                <a:ea typeface="宋体" panose="02010600030101010101" pitchFamily="2" charset="-122"/>
              </a:rPr>
              <a:t> | </a:t>
            </a:r>
            <a:r>
              <a:rPr lang="en-US" altLang="zh-CN" sz="1400" b="1" i="1" dirty="0">
                <a:ea typeface="宋体" panose="02010600030101010101" pitchFamily="2" charset="-122"/>
              </a:rPr>
              <a:t>E</a:t>
            </a:r>
            <a:r>
              <a:rPr lang="en-US" altLang="zh-CN" sz="1400" b="1" i="1" baseline="-25000" dirty="0">
                <a:ea typeface="宋体" panose="02010600030101010101" pitchFamily="2" charset="-122"/>
              </a:rPr>
              <a:t>2</a:t>
            </a:r>
            <a:r>
              <a:rPr lang="en-US" altLang="zh-CN" sz="1400" b="1" i="1" dirty="0">
                <a:ea typeface="宋体" panose="02010600030101010101" pitchFamily="2" charset="-122"/>
              </a:rPr>
              <a:t>.types</a:t>
            </a:r>
            <a:r>
              <a:rPr lang="en-US" altLang="zh-CN" sz="1400" b="1" dirty="0">
                <a:ea typeface="宋体" panose="02010600030101010101" pitchFamily="2" charset="-122"/>
              </a:rPr>
              <a:t> </a:t>
            </a:r>
            <a:r>
              <a:rPr lang="zh-CN" altLang="en-US" sz="1400" b="1" dirty="0">
                <a:ea typeface="宋体" panose="02010600030101010101" pitchFamily="2" charset="-122"/>
              </a:rPr>
              <a:t>中存在一个</a:t>
            </a:r>
            <a:r>
              <a:rPr lang="en-US" altLang="zh-CN" sz="1400" b="1" i="1" dirty="0">
                <a:ea typeface="宋体" panose="02010600030101010101" pitchFamily="2" charset="-122"/>
              </a:rPr>
              <a:t>s</a:t>
            </a:r>
            <a:r>
              <a:rPr lang="en-US" altLang="zh-CN" sz="1400" b="1" dirty="0">
                <a:ea typeface="宋体" panose="02010600030101010101" pitchFamily="2" charset="-122"/>
              </a:rPr>
              <a:t>，</a:t>
            </a:r>
            <a:endParaRPr lang="en-US" altLang="zh-CN" sz="1400" b="1" dirty="0">
              <a:ea typeface="宋体" panose="02010600030101010101" pitchFamily="2" charset="-122"/>
            </a:endParaRPr>
          </a:p>
          <a:p>
            <a:pPr lvl="4">
              <a:lnSpc>
                <a:spcPct val="90000"/>
              </a:lnSpc>
              <a:buFont typeface="Wingdings" panose="05000000000000000000" pitchFamily="2" charset="2"/>
              <a:buNone/>
            </a:pPr>
            <a:r>
              <a:rPr lang="zh-CN" altLang="en-US" sz="1400" b="1" dirty="0">
                <a:ea typeface="宋体" panose="02010600030101010101" pitchFamily="2" charset="-122"/>
              </a:rPr>
              <a:t>				       使得</a:t>
            </a:r>
            <a:r>
              <a:rPr lang="en-US" altLang="zh-CN" sz="1400" b="1" i="1" dirty="0">
                <a:ea typeface="宋体" panose="02010600030101010101" pitchFamily="2" charset="-122"/>
              </a:rPr>
              <a:t>s</a:t>
            </a:r>
            <a:r>
              <a:rPr lang="en-US" altLang="zh-CN" sz="1400" b="1" dirty="0">
                <a:ea typeface="宋体" panose="02010600030101010101" pitchFamily="2" charset="-122"/>
              </a:rPr>
              <a:t>→</a:t>
            </a:r>
            <a:r>
              <a:rPr lang="en-US" altLang="zh-CN" sz="1400" b="1" i="1" dirty="0">
                <a:ea typeface="宋体" panose="02010600030101010101" pitchFamily="2" charset="-122"/>
              </a:rPr>
              <a:t>t</a:t>
            </a:r>
            <a:r>
              <a:rPr lang="zh-CN" altLang="en-US" sz="1400" b="1" dirty="0">
                <a:ea typeface="宋体" panose="02010600030101010101" pitchFamily="2" charset="-122"/>
              </a:rPr>
              <a:t>属于</a:t>
            </a:r>
            <a:r>
              <a:rPr lang="en-US" altLang="zh-CN" sz="1400" b="1" i="1" dirty="0">
                <a:ea typeface="宋体" panose="02010600030101010101" pitchFamily="2" charset="-122"/>
              </a:rPr>
              <a:t>E</a:t>
            </a:r>
            <a:r>
              <a:rPr lang="en-US" altLang="zh-CN" sz="1400" b="1" i="1" baseline="-25000" dirty="0">
                <a:ea typeface="宋体" panose="02010600030101010101" pitchFamily="2" charset="-122"/>
              </a:rPr>
              <a:t>1</a:t>
            </a:r>
            <a:r>
              <a:rPr lang="en-US" altLang="zh-CN" sz="1400" b="1" i="1" dirty="0">
                <a:ea typeface="宋体" panose="02010600030101010101" pitchFamily="2" charset="-122"/>
              </a:rPr>
              <a:t>.types </a:t>
            </a:r>
            <a:r>
              <a:rPr lang="en-US" altLang="zh-CN" sz="1400" b="1" dirty="0">
                <a:ea typeface="宋体" panose="02010600030101010101" pitchFamily="2" charset="-122"/>
              </a:rPr>
              <a:t>}</a:t>
            </a:r>
            <a:endParaRPr lang="en-US" altLang="zh-CN" sz="1400" b="1" dirty="0">
              <a:ea typeface="宋体" panose="02010600030101010101" pitchFamily="2" charset="-122"/>
            </a:endParaRPr>
          </a:p>
          <a:p>
            <a:pPr lvl="4">
              <a:lnSpc>
                <a:spcPct val="90000"/>
              </a:lnSpc>
              <a:buFont typeface="Wingdings" panose="05000000000000000000" pitchFamily="2" charset="2"/>
              <a:buNone/>
            </a:pPr>
            <a:r>
              <a:rPr lang="en-US" altLang="zh-CN" sz="1400" b="1" i="1" dirty="0">
                <a:ea typeface="宋体" panose="02010600030101010101" pitchFamily="2" charset="-122"/>
              </a:rPr>
              <a:t>			t </a:t>
            </a:r>
            <a:r>
              <a:rPr lang="en-US" altLang="zh-CN" sz="1400" b="1" dirty="0">
                <a:ea typeface="宋体" panose="02010600030101010101" pitchFamily="2" charset="-122"/>
              </a:rPr>
              <a:t>:= </a:t>
            </a:r>
            <a:r>
              <a:rPr lang="en-US" altLang="zh-CN" sz="1400" b="1" i="1" dirty="0">
                <a:ea typeface="宋体" panose="02010600030101010101" pitchFamily="2" charset="-122"/>
              </a:rPr>
              <a:t>E.unique</a:t>
            </a:r>
            <a:endParaRPr lang="en-US" altLang="zh-CN" sz="1400" b="1" i="1" dirty="0">
              <a:ea typeface="宋体" panose="02010600030101010101" pitchFamily="2" charset="-122"/>
            </a:endParaRPr>
          </a:p>
          <a:p>
            <a:pPr lvl="4">
              <a:lnSpc>
                <a:spcPct val="90000"/>
              </a:lnSpc>
              <a:buFont typeface="Wingdings" panose="05000000000000000000" pitchFamily="2" charset="2"/>
              <a:buNone/>
            </a:pPr>
            <a:r>
              <a:rPr lang="en-US" altLang="zh-CN" sz="1400" b="1" i="1" dirty="0">
                <a:ea typeface="宋体" panose="02010600030101010101" pitchFamily="2" charset="-122"/>
              </a:rPr>
              <a:t>			S </a:t>
            </a:r>
            <a:r>
              <a:rPr lang="en-US" altLang="zh-CN" sz="1400" b="1" dirty="0">
                <a:ea typeface="宋体" panose="02010600030101010101" pitchFamily="2" charset="-122"/>
              </a:rPr>
              <a:t>:= { </a:t>
            </a:r>
            <a:r>
              <a:rPr lang="en-US" altLang="zh-CN" sz="1400" b="1" i="1" dirty="0">
                <a:ea typeface="宋体" panose="02010600030101010101" pitchFamily="2" charset="-122"/>
              </a:rPr>
              <a:t>s </a:t>
            </a:r>
            <a:r>
              <a:rPr lang="en-US" altLang="zh-CN" sz="1400" b="1" dirty="0">
                <a:ea typeface="宋体" panose="02010600030101010101" pitchFamily="2" charset="-122"/>
              </a:rPr>
              <a:t>|</a:t>
            </a:r>
            <a:r>
              <a:rPr lang="en-US" altLang="zh-CN" sz="1400" b="1" i="1" dirty="0">
                <a:ea typeface="宋体" panose="02010600030101010101" pitchFamily="2" charset="-122"/>
              </a:rPr>
              <a:t> s</a:t>
            </a:r>
            <a:r>
              <a:rPr lang="zh-CN" altLang="en-US" sz="1400" b="1" dirty="0">
                <a:ea typeface="宋体" panose="02010600030101010101" pitchFamily="2" charset="-122"/>
              </a:rPr>
              <a:t>∈</a:t>
            </a:r>
            <a:r>
              <a:rPr lang="en-US" altLang="zh-CN" sz="1400" b="1" i="1" dirty="0">
                <a:ea typeface="宋体" panose="02010600030101010101" pitchFamily="2" charset="-122"/>
              </a:rPr>
              <a:t>E</a:t>
            </a:r>
            <a:r>
              <a:rPr lang="en-US" altLang="zh-CN" sz="1400" b="1" i="1" baseline="-25000" dirty="0">
                <a:ea typeface="宋体" panose="02010600030101010101" pitchFamily="2" charset="-122"/>
              </a:rPr>
              <a:t>2</a:t>
            </a:r>
            <a:r>
              <a:rPr lang="en-US" altLang="zh-CN" sz="1400" b="1" i="1" dirty="0">
                <a:ea typeface="宋体" panose="02010600030101010101" pitchFamily="2" charset="-122"/>
              </a:rPr>
              <a:t>.types </a:t>
            </a:r>
            <a:r>
              <a:rPr lang="en-US" altLang="zh-CN" sz="1400" b="1" dirty="0">
                <a:ea typeface="宋体" panose="02010600030101010101" pitchFamily="2" charset="-122"/>
              </a:rPr>
              <a:t>and</a:t>
            </a:r>
            <a:r>
              <a:rPr lang="en-US" altLang="zh-CN" sz="1400" b="1" i="1" dirty="0">
                <a:ea typeface="宋体" panose="02010600030101010101" pitchFamily="2" charset="-122"/>
              </a:rPr>
              <a:t> s</a:t>
            </a:r>
            <a:r>
              <a:rPr lang="zh-CN" altLang="en-US" sz="1400" b="1" i="1" dirty="0">
                <a:ea typeface="宋体" panose="02010600030101010101" pitchFamily="2" charset="-122"/>
              </a:rPr>
              <a:t>→</a:t>
            </a:r>
            <a:r>
              <a:rPr lang="en-US" altLang="zh-CN" sz="1400" b="1" i="1" dirty="0">
                <a:ea typeface="宋体" panose="02010600030101010101" pitchFamily="2" charset="-122"/>
              </a:rPr>
              <a:t>t∈E</a:t>
            </a:r>
            <a:r>
              <a:rPr lang="en-US" altLang="zh-CN" sz="1400" b="1" i="1" baseline="-25000" dirty="0">
                <a:ea typeface="宋体" panose="02010600030101010101" pitchFamily="2" charset="-122"/>
              </a:rPr>
              <a:t>1</a:t>
            </a:r>
            <a:r>
              <a:rPr lang="en-US" altLang="zh-CN" sz="1400" b="1" i="1" dirty="0">
                <a:ea typeface="宋体" panose="02010600030101010101" pitchFamily="2" charset="-122"/>
              </a:rPr>
              <a:t>.types </a:t>
            </a:r>
            <a:r>
              <a:rPr lang="en-US" altLang="zh-CN" sz="1400" b="1" dirty="0">
                <a:ea typeface="宋体" panose="02010600030101010101" pitchFamily="2" charset="-122"/>
              </a:rPr>
              <a:t>}</a:t>
            </a:r>
            <a:endParaRPr lang="en-US" altLang="zh-CN" sz="1400" b="1" dirty="0">
              <a:ea typeface="宋体" panose="02010600030101010101" pitchFamily="2" charset="-122"/>
            </a:endParaRPr>
          </a:p>
          <a:p>
            <a:pPr lvl="4">
              <a:lnSpc>
                <a:spcPct val="90000"/>
              </a:lnSpc>
              <a:buFont typeface="Wingdings" panose="05000000000000000000" pitchFamily="2" charset="2"/>
              <a:buNone/>
            </a:pPr>
            <a:r>
              <a:rPr lang="en-US" altLang="zh-CN" sz="1400" b="1" i="1" dirty="0">
                <a:ea typeface="宋体" panose="02010600030101010101" pitchFamily="2" charset="-122"/>
              </a:rPr>
              <a:t>			E</a:t>
            </a:r>
            <a:r>
              <a:rPr lang="en-US" altLang="zh-CN" sz="1400" b="1" i="1" baseline="-25000" dirty="0">
                <a:ea typeface="宋体" panose="02010600030101010101" pitchFamily="2" charset="-122"/>
              </a:rPr>
              <a:t>2</a:t>
            </a:r>
            <a:r>
              <a:rPr lang="en-US" altLang="zh-CN" sz="1400" b="1" i="1" dirty="0">
                <a:ea typeface="宋体" panose="02010600030101010101" pitchFamily="2" charset="-122"/>
              </a:rPr>
              <a:t>.unique </a:t>
            </a:r>
            <a:r>
              <a:rPr lang="en-US" altLang="zh-CN" sz="1400" b="1" dirty="0">
                <a:ea typeface="宋体" panose="02010600030101010101" pitchFamily="2" charset="-122"/>
              </a:rPr>
              <a:t>:= if</a:t>
            </a:r>
            <a:r>
              <a:rPr lang="en-US" altLang="zh-CN" sz="1400" b="1" i="1" dirty="0">
                <a:ea typeface="宋体" panose="02010600030101010101" pitchFamily="2" charset="-122"/>
              </a:rPr>
              <a:t> S </a:t>
            </a:r>
            <a:r>
              <a:rPr lang="en-US" altLang="zh-CN" sz="1400" b="1" dirty="0">
                <a:ea typeface="宋体" panose="02010600030101010101" pitchFamily="2" charset="-122"/>
              </a:rPr>
              <a:t>=</a:t>
            </a:r>
            <a:r>
              <a:rPr lang="en-US" altLang="zh-CN" sz="1400" b="1" i="1" dirty="0">
                <a:ea typeface="宋体" panose="02010600030101010101" pitchFamily="2" charset="-122"/>
              </a:rPr>
              <a:t> </a:t>
            </a:r>
            <a:r>
              <a:rPr lang="en-US" altLang="zh-CN" sz="1400" b="1" dirty="0">
                <a:ea typeface="宋体" panose="02010600030101010101" pitchFamily="2" charset="-122"/>
              </a:rPr>
              <a:t>{</a:t>
            </a:r>
            <a:r>
              <a:rPr lang="en-US" altLang="zh-CN" sz="1400" b="1" i="1" dirty="0">
                <a:ea typeface="宋体" panose="02010600030101010101" pitchFamily="2" charset="-122"/>
              </a:rPr>
              <a:t> s </a:t>
            </a:r>
            <a:r>
              <a:rPr lang="en-US" altLang="zh-CN" sz="1400" b="1" dirty="0">
                <a:ea typeface="宋体" panose="02010600030101010101" pitchFamily="2" charset="-122"/>
              </a:rPr>
              <a:t>} then</a:t>
            </a:r>
            <a:r>
              <a:rPr lang="en-US" altLang="zh-CN" sz="1400" b="1" i="1" dirty="0">
                <a:ea typeface="宋体" panose="02010600030101010101" pitchFamily="2" charset="-122"/>
              </a:rPr>
              <a:t> s</a:t>
            </a:r>
            <a:r>
              <a:rPr lang="zh-CN" altLang="en-US" sz="1400" b="1" i="1" dirty="0">
                <a:ea typeface="宋体" panose="02010600030101010101" pitchFamily="2" charset="-122"/>
              </a:rPr>
              <a:t> </a:t>
            </a:r>
            <a:r>
              <a:rPr lang="en-US" altLang="zh-CN" sz="1400" b="1" dirty="0">
                <a:ea typeface="宋体" panose="02010600030101010101" pitchFamily="2" charset="-122"/>
              </a:rPr>
              <a:t>else</a:t>
            </a:r>
            <a:r>
              <a:rPr lang="en-US" altLang="zh-CN" sz="1400" b="1" i="1" dirty="0">
                <a:ea typeface="宋体" panose="02010600030101010101" pitchFamily="2" charset="-122"/>
              </a:rPr>
              <a:t> type_error</a:t>
            </a:r>
            <a:endParaRPr lang="en-US" altLang="zh-CN" sz="1400" b="1" i="1" dirty="0">
              <a:ea typeface="宋体" panose="02010600030101010101" pitchFamily="2" charset="-122"/>
            </a:endParaRPr>
          </a:p>
          <a:p>
            <a:pPr lvl="4">
              <a:lnSpc>
                <a:spcPct val="90000"/>
              </a:lnSpc>
              <a:buFont typeface="Wingdings" panose="05000000000000000000" pitchFamily="2" charset="2"/>
              <a:buNone/>
            </a:pPr>
            <a:r>
              <a:rPr lang="en-US" altLang="zh-CN" sz="1400" b="1" i="1" dirty="0">
                <a:ea typeface="宋体" panose="02010600030101010101" pitchFamily="2" charset="-122"/>
              </a:rPr>
              <a:t>			E</a:t>
            </a:r>
            <a:r>
              <a:rPr lang="en-US" altLang="zh-CN" sz="1400" b="1" i="1" baseline="-25000" dirty="0">
                <a:ea typeface="宋体" panose="02010600030101010101" pitchFamily="2" charset="-122"/>
              </a:rPr>
              <a:t>1</a:t>
            </a:r>
            <a:r>
              <a:rPr lang="en-US" altLang="zh-CN" sz="1400" b="1" i="1" dirty="0">
                <a:ea typeface="宋体" panose="02010600030101010101" pitchFamily="2" charset="-122"/>
              </a:rPr>
              <a:t>.unique </a:t>
            </a:r>
            <a:r>
              <a:rPr lang="en-US" altLang="zh-CN" sz="1400" b="1" dirty="0">
                <a:ea typeface="宋体" panose="02010600030101010101" pitchFamily="2" charset="-122"/>
              </a:rPr>
              <a:t>:= if</a:t>
            </a:r>
            <a:r>
              <a:rPr lang="en-US" altLang="zh-CN" sz="1400" b="1" i="1" dirty="0">
                <a:ea typeface="宋体" panose="02010600030101010101" pitchFamily="2" charset="-122"/>
              </a:rPr>
              <a:t> S </a:t>
            </a:r>
            <a:r>
              <a:rPr lang="en-US" altLang="zh-CN" sz="1400" b="1" dirty="0">
                <a:ea typeface="宋体" panose="02010600030101010101" pitchFamily="2" charset="-122"/>
              </a:rPr>
              <a:t>=</a:t>
            </a:r>
            <a:r>
              <a:rPr lang="en-US" altLang="zh-CN" sz="1400" b="1" i="1" dirty="0">
                <a:ea typeface="宋体" panose="02010600030101010101" pitchFamily="2" charset="-122"/>
              </a:rPr>
              <a:t> </a:t>
            </a:r>
            <a:r>
              <a:rPr lang="en-US" altLang="zh-CN" sz="1400" b="1" dirty="0">
                <a:ea typeface="宋体" panose="02010600030101010101" pitchFamily="2" charset="-122"/>
              </a:rPr>
              <a:t>{</a:t>
            </a:r>
            <a:r>
              <a:rPr lang="en-US" altLang="zh-CN" sz="1400" b="1" i="1" dirty="0">
                <a:ea typeface="宋体" panose="02010600030101010101" pitchFamily="2" charset="-122"/>
              </a:rPr>
              <a:t> s </a:t>
            </a:r>
            <a:r>
              <a:rPr lang="en-US" altLang="zh-CN" sz="1400" b="1" dirty="0">
                <a:ea typeface="宋体" panose="02010600030101010101" pitchFamily="2" charset="-122"/>
              </a:rPr>
              <a:t>} then</a:t>
            </a:r>
            <a:r>
              <a:rPr lang="en-US" altLang="zh-CN" sz="1400" b="1" i="1" dirty="0">
                <a:ea typeface="宋体" panose="02010600030101010101" pitchFamily="2" charset="-122"/>
              </a:rPr>
              <a:t> s</a:t>
            </a:r>
            <a:r>
              <a:rPr lang="zh-CN" altLang="en-US" sz="1400" b="1" i="1" dirty="0">
                <a:ea typeface="宋体" panose="02010600030101010101" pitchFamily="2" charset="-122"/>
              </a:rPr>
              <a:t>→</a:t>
            </a:r>
            <a:r>
              <a:rPr lang="en-US" altLang="zh-CN" sz="1400" b="1" i="1" dirty="0">
                <a:ea typeface="宋体" panose="02010600030101010101" pitchFamily="2" charset="-122"/>
              </a:rPr>
              <a:t>t</a:t>
            </a:r>
            <a:r>
              <a:rPr lang="zh-CN" altLang="en-US" sz="1400" b="1" i="1" dirty="0">
                <a:ea typeface="宋体" panose="02010600030101010101" pitchFamily="2" charset="-122"/>
              </a:rPr>
              <a:t> </a:t>
            </a:r>
            <a:r>
              <a:rPr lang="en-US" altLang="zh-CN" sz="1400" b="1" dirty="0">
                <a:ea typeface="宋体" panose="02010600030101010101" pitchFamily="2" charset="-122"/>
              </a:rPr>
              <a:t>else</a:t>
            </a:r>
            <a:r>
              <a:rPr lang="en-US" altLang="zh-CN" sz="1400" b="1" i="1" dirty="0">
                <a:ea typeface="宋体" panose="02010600030101010101" pitchFamily="2" charset="-122"/>
              </a:rPr>
              <a:t> type_error</a:t>
            </a:r>
            <a:endParaRPr lang="en-US" altLang="zh-CN" sz="1400" b="1" i="1" dirty="0">
              <a:ea typeface="宋体" panose="02010600030101010101" pitchFamily="2" charset="-122"/>
            </a:endParaRPr>
          </a:p>
          <a:p>
            <a:pPr lvl="4">
              <a:lnSpc>
                <a:spcPct val="90000"/>
              </a:lnSpc>
              <a:buFont typeface="Wingdings" panose="05000000000000000000" pitchFamily="2" charset="2"/>
              <a:buNone/>
            </a:pPr>
            <a:r>
              <a:rPr lang="en-US" altLang="zh-CN" sz="1400" b="1" i="1" dirty="0">
                <a:ea typeface="宋体" panose="02010600030101010101" pitchFamily="2" charset="-122"/>
              </a:rPr>
              <a:t>			E.code </a:t>
            </a:r>
            <a:r>
              <a:rPr lang="en-US" altLang="zh-CN" sz="1400" b="1" dirty="0">
                <a:ea typeface="宋体" panose="02010600030101010101" pitchFamily="2" charset="-122"/>
              </a:rPr>
              <a:t>:= </a:t>
            </a:r>
            <a:r>
              <a:rPr lang="en-US" altLang="zh-CN" sz="1400" b="1" i="1" dirty="0">
                <a:ea typeface="宋体" panose="02010600030101010101" pitchFamily="2" charset="-122"/>
              </a:rPr>
              <a:t>E</a:t>
            </a:r>
            <a:r>
              <a:rPr lang="en-US" altLang="zh-CN" sz="1400" b="1" i="1" baseline="-25000" dirty="0">
                <a:ea typeface="宋体" panose="02010600030101010101" pitchFamily="2" charset="-122"/>
              </a:rPr>
              <a:t>1</a:t>
            </a:r>
            <a:r>
              <a:rPr lang="en-US" altLang="zh-CN" sz="1400" b="1" i="1" dirty="0">
                <a:ea typeface="宋体" panose="02010600030101010101" pitchFamily="2" charset="-122"/>
              </a:rPr>
              <a:t>.code || E</a:t>
            </a:r>
            <a:r>
              <a:rPr lang="en-US" altLang="zh-CN" sz="1400" b="1" i="1" baseline="-25000" dirty="0">
                <a:ea typeface="宋体" panose="02010600030101010101" pitchFamily="2" charset="-122"/>
              </a:rPr>
              <a:t>2</a:t>
            </a:r>
            <a:r>
              <a:rPr lang="en-US" altLang="zh-CN" sz="1400" b="1" i="1" dirty="0">
                <a:ea typeface="宋体" panose="02010600030101010101" pitchFamily="2" charset="-122"/>
              </a:rPr>
              <a:t>.code || gen</a:t>
            </a:r>
            <a:r>
              <a:rPr lang="en-US" altLang="zh-CN" sz="1400" b="1" dirty="0">
                <a:ea typeface="宋体" panose="02010600030101010101" pitchFamily="2" charset="-122"/>
              </a:rPr>
              <a:t>(‘apply’ ‘:’</a:t>
            </a:r>
            <a:r>
              <a:rPr lang="en-US" altLang="zh-CN" sz="1400" b="1" i="1" dirty="0">
                <a:ea typeface="宋体" panose="02010600030101010101" pitchFamily="2" charset="-122"/>
              </a:rPr>
              <a:t> E.unique</a:t>
            </a:r>
            <a:r>
              <a:rPr lang="en-US" altLang="zh-CN" sz="1400" b="1" dirty="0">
                <a:ea typeface="宋体" panose="02010600030101010101" pitchFamily="2" charset="-122"/>
              </a:rPr>
              <a:t>)</a:t>
            </a:r>
            <a:endParaRPr lang="en-US" altLang="zh-CN" sz="1400" b="1" dirty="0">
              <a:ea typeface="宋体" panose="02010600030101010101" pitchFamily="2" charset="-122"/>
            </a:endParaRPr>
          </a:p>
        </p:txBody>
      </p:sp>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函数和算符的重载（7）</a:t>
            </a:r>
            <a:endParaRPr lang="zh-CN" altLang="en-US" dirty="0">
              <a:latin typeface="Times New Roman" panose="02020603050405020304" pitchFamily="18" charset="0"/>
              <a:ea typeface="宋体" panose="02010600030101010101" pitchFamily="2" charset="-122"/>
            </a:endParaRPr>
          </a:p>
        </p:txBody>
      </p:sp>
      <p:sp>
        <p:nvSpPr>
          <p:cNvPr id="178179" name="Rectangle 3"/>
          <p:cNvSpPr>
            <a:spLocks noGrp="1"/>
          </p:cNvSpPr>
          <p:nvPr>
            <p:ph idx="1"/>
          </p:nvPr>
        </p:nvSpPr>
        <p:spPr>
          <a:xfrm>
            <a:off x="914400" y="1524000"/>
            <a:ext cx="7467600" cy="4800600"/>
          </a:xfrm>
        </p:spPr>
        <p:txBody>
          <a:bodyPr vert="horz" wrap="square" lIns="92075" tIns="46038" rIns="92075" bIns="46038" anchor="t" anchorCtr="0"/>
          <a:p>
            <a:r>
              <a:rPr lang="zh-CN" altLang="en-US" sz="2400" b="1" dirty="0">
                <a:ea typeface="宋体" panose="02010600030101010101" pitchFamily="2" charset="-122"/>
              </a:rPr>
              <a:t>上述语法制导定义的解释</a:t>
            </a:r>
            <a:endParaRPr lang="zh-CN" altLang="en-US" sz="2400" b="1" dirty="0">
              <a:ea typeface="宋体" panose="02010600030101010101" pitchFamily="2" charset="-122"/>
            </a:endParaRPr>
          </a:p>
          <a:p>
            <a:pPr lvl="1"/>
            <a:r>
              <a:rPr lang="zh-CN" altLang="en-US" sz="2200" b="1" dirty="0">
                <a:ea typeface="宋体" panose="02010600030101010101" pitchFamily="2" charset="-122"/>
              </a:rPr>
              <a:t>如果函数</a:t>
            </a:r>
            <a:r>
              <a:rPr lang="en-US" altLang="zh-CN" sz="2200" b="1" i="1" dirty="0">
                <a:ea typeface="宋体" panose="02010600030101010101" pitchFamily="2" charset="-122"/>
              </a:rPr>
              <a:t>E</a:t>
            </a:r>
            <a:r>
              <a:rPr lang="en-US" altLang="zh-CN" sz="2200" b="1" i="1" baseline="-25000" dirty="0">
                <a:ea typeface="宋体" panose="02010600030101010101" pitchFamily="2" charset="-122"/>
              </a:rPr>
              <a:t>1</a:t>
            </a:r>
            <a:r>
              <a:rPr lang="en-US" altLang="zh-CN" sz="2200" b="1" dirty="0">
                <a:ea typeface="宋体" panose="02010600030101010101" pitchFamily="2" charset="-122"/>
              </a:rPr>
              <a:t>(</a:t>
            </a:r>
            <a:r>
              <a:rPr lang="en-US" altLang="zh-CN" sz="2200" b="1" i="1" dirty="0">
                <a:ea typeface="宋体" panose="02010600030101010101" pitchFamily="2" charset="-122"/>
              </a:rPr>
              <a:t>E</a:t>
            </a:r>
            <a:r>
              <a:rPr lang="en-US" altLang="zh-CN" sz="2200" b="1" i="1" baseline="-25000" dirty="0">
                <a:ea typeface="宋体" panose="02010600030101010101" pitchFamily="2" charset="-122"/>
              </a:rPr>
              <a:t>2</a:t>
            </a:r>
            <a:r>
              <a:rPr lang="en-US" altLang="zh-CN" sz="2200" b="1" dirty="0">
                <a:ea typeface="宋体" panose="02010600030101010101" pitchFamily="2" charset="-122"/>
              </a:rPr>
              <a:t>)</a:t>
            </a:r>
            <a:r>
              <a:rPr lang="zh-CN" altLang="en-US" sz="2200" b="1" dirty="0">
                <a:ea typeface="宋体" panose="02010600030101010101" pitchFamily="2" charset="-122"/>
              </a:rPr>
              <a:t>返回类型</a:t>
            </a:r>
            <a:r>
              <a:rPr lang="en-US" altLang="zh-CN" sz="2200" b="1" i="1" dirty="0">
                <a:ea typeface="宋体" panose="02010600030101010101" pitchFamily="2" charset="-122"/>
              </a:rPr>
              <a:t>t</a:t>
            </a:r>
            <a:r>
              <a:rPr lang="en-US" altLang="zh-CN" sz="2200" b="1" dirty="0">
                <a:ea typeface="宋体" panose="02010600030101010101" pitchFamily="2" charset="-122"/>
              </a:rPr>
              <a:t>，</a:t>
            </a:r>
            <a:r>
              <a:rPr lang="zh-CN" altLang="en-US" sz="2200" b="1" dirty="0">
                <a:ea typeface="宋体" panose="02010600030101010101" pitchFamily="2" charset="-122"/>
              </a:rPr>
              <a:t>那么可以找到类型</a:t>
            </a:r>
            <a:r>
              <a:rPr lang="en-US" altLang="zh-CN" sz="2200" b="1" i="1" dirty="0">
                <a:ea typeface="宋体" panose="02010600030101010101" pitchFamily="2" charset="-122"/>
              </a:rPr>
              <a:t>s</a:t>
            </a:r>
            <a:r>
              <a:rPr lang="en-US" altLang="zh-CN" sz="2200" b="1" dirty="0">
                <a:ea typeface="宋体" panose="02010600030101010101" pitchFamily="2" charset="-122"/>
              </a:rPr>
              <a:t>，</a:t>
            </a:r>
            <a:r>
              <a:rPr lang="zh-CN" altLang="en-US" sz="2200" b="1" dirty="0">
                <a:ea typeface="宋体" panose="02010600030101010101" pitchFamily="2" charset="-122"/>
              </a:rPr>
              <a:t>它对参数</a:t>
            </a:r>
            <a:r>
              <a:rPr lang="en-US" altLang="zh-CN" sz="2200" b="1" i="1" dirty="0">
                <a:ea typeface="宋体" panose="02010600030101010101" pitchFamily="2" charset="-122"/>
              </a:rPr>
              <a:t>E</a:t>
            </a:r>
            <a:r>
              <a:rPr lang="en-US" altLang="zh-CN" sz="2200" b="1" i="1" baseline="-25000" dirty="0">
                <a:ea typeface="宋体" panose="02010600030101010101" pitchFamily="2" charset="-122"/>
              </a:rPr>
              <a:t>2</a:t>
            </a:r>
            <a:r>
              <a:rPr lang="zh-CN" altLang="en-US" sz="2200" b="1" dirty="0">
                <a:ea typeface="宋体" panose="02010600030101010101" pitchFamily="2" charset="-122"/>
              </a:rPr>
              <a:t>是可行的，同时</a:t>
            </a:r>
            <a:r>
              <a:rPr lang="en-US" altLang="zh-CN" sz="2200" b="1" i="1" dirty="0">
                <a:ea typeface="宋体" panose="02010600030101010101" pitchFamily="2" charset="-122"/>
              </a:rPr>
              <a:t>s</a:t>
            </a:r>
            <a:r>
              <a:rPr lang="en-US" altLang="zh-CN" sz="2200" b="1" dirty="0">
                <a:ea typeface="宋体" panose="02010600030101010101" pitchFamily="2" charset="-122"/>
              </a:rPr>
              <a:t>→</a:t>
            </a:r>
            <a:r>
              <a:rPr lang="en-US" altLang="zh-CN" sz="2200" b="1" i="1" dirty="0">
                <a:ea typeface="宋体" panose="02010600030101010101" pitchFamily="2" charset="-122"/>
              </a:rPr>
              <a:t>t</a:t>
            </a:r>
            <a:r>
              <a:rPr lang="zh-CN" altLang="en-US" sz="2200" b="1" dirty="0">
                <a:ea typeface="宋体" panose="02010600030101010101" pitchFamily="2" charset="-122"/>
              </a:rPr>
              <a:t>对该函数是可行的</a:t>
            </a:r>
            <a:endParaRPr lang="zh-CN" altLang="en-US" sz="2200" b="1" dirty="0">
              <a:ea typeface="宋体" panose="02010600030101010101" pitchFamily="2" charset="-122"/>
            </a:endParaRPr>
          </a:p>
          <a:p>
            <a:pPr lvl="1"/>
            <a:r>
              <a:rPr lang="zh-CN" altLang="en-US" sz="2200" b="1" dirty="0">
                <a:ea typeface="宋体" panose="02010600030101010101" pitchFamily="2" charset="-122"/>
              </a:rPr>
              <a:t>对语法树的两次深度优先遍历实现上述语法制导定义</a:t>
            </a:r>
            <a:endParaRPr lang="zh-CN" altLang="en-US" sz="2200" b="1" dirty="0">
              <a:ea typeface="宋体" panose="02010600030101010101" pitchFamily="2" charset="-122"/>
            </a:endParaRPr>
          </a:p>
          <a:p>
            <a:pPr lvl="2"/>
            <a:r>
              <a:rPr lang="zh-CN" altLang="en-US" sz="2000" b="1" dirty="0">
                <a:ea typeface="宋体" panose="02010600030101010101" pitchFamily="2" charset="-122"/>
              </a:rPr>
              <a:t>第一遍，属性</a:t>
            </a:r>
            <a:r>
              <a:rPr lang="en-US" altLang="zh-CN" sz="2000" b="1" i="1" dirty="0">
                <a:ea typeface="宋体" panose="02010600030101010101" pitchFamily="2" charset="-122"/>
              </a:rPr>
              <a:t>types</a:t>
            </a:r>
            <a:r>
              <a:rPr lang="zh-CN" altLang="en-US" sz="2000" b="1" dirty="0">
                <a:ea typeface="宋体" panose="02010600030101010101" pitchFamily="2" charset="-122"/>
              </a:rPr>
              <a:t>的自下而上综合</a:t>
            </a:r>
            <a:endParaRPr lang="zh-CN" altLang="en-US" sz="2000" b="1" dirty="0">
              <a:ea typeface="宋体" panose="02010600030101010101" pitchFamily="2" charset="-122"/>
            </a:endParaRPr>
          </a:p>
          <a:p>
            <a:pPr lvl="2"/>
            <a:r>
              <a:rPr lang="zh-CN" altLang="en-US" sz="2000" b="1" dirty="0">
                <a:ea typeface="宋体" panose="02010600030101010101" pitchFamily="2" charset="-122"/>
              </a:rPr>
              <a:t>第二遍，属性</a:t>
            </a:r>
            <a:r>
              <a:rPr lang="en-US" altLang="zh-CN" sz="2000" b="1" i="1" dirty="0">
                <a:ea typeface="宋体" panose="02010600030101010101" pitchFamily="2" charset="-122"/>
              </a:rPr>
              <a:t>unique</a:t>
            </a:r>
            <a:r>
              <a:rPr lang="zh-CN" altLang="en-US" sz="2000" b="1" dirty="0">
                <a:ea typeface="宋体" panose="02010600030101010101" pitchFamily="2" charset="-122"/>
              </a:rPr>
              <a:t>的自上而下传播</a:t>
            </a:r>
            <a:endParaRPr lang="zh-CN" altLang="en-US" sz="2000" b="1" dirty="0">
              <a:ea typeface="宋体" panose="02010600030101010101" pitchFamily="2" charset="-122"/>
            </a:endParaRPr>
          </a:p>
          <a:p>
            <a:pPr lvl="2"/>
            <a:r>
              <a:rPr lang="en-US" altLang="zh-CN" sz="2000" b="1" i="1" dirty="0">
                <a:ea typeface="宋体" panose="02010600030101010101" pitchFamily="2" charset="-122"/>
              </a:rPr>
              <a:t>code</a:t>
            </a:r>
            <a:r>
              <a:rPr lang="zh-CN" altLang="en-US" sz="2000" b="1" dirty="0">
                <a:ea typeface="宋体" panose="02010600030101010101" pitchFamily="2" charset="-122"/>
              </a:rPr>
              <a:t>在从结点返回时进行综合属性计算</a:t>
            </a:r>
            <a:endParaRPr lang="zh-CN" altLang="en-US" sz="2000" b="1" dirty="0">
              <a:ea typeface="宋体" panose="02010600030101010101" pitchFamily="2" charset="-122"/>
            </a:endParaRPr>
          </a:p>
        </p:txBody>
      </p:sp>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类型推导和多态函数（1）</a:t>
            </a:r>
            <a:endParaRPr lang="zh-CN" altLang="en-US" dirty="0">
              <a:latin typeface="Times New Roman" panose="02020603050405020304" pitchFamily="18" charset="0"/>
              <a:ea typeface="宋体" panose="02010600030101010101" pitchFamily="2" charset="-122"/>
            </a:endParaRPr>
          </a:p>
        </p:txBody>
      </p:sp>
      <p:sp>
        <p:nvSpPr>
          <p:cNvPr id="180227" name="Rectangle 3"/>
          <p:cNvSpPr>
            <a:spLocks noGrp="1"/>
          </p:cNvSpPr>
          <p:nvPr>
            <p:ph idx="1"/>
          </p:nvPr>
        </p:nvSpPr>
        <p:spPr>
          <a:xfrm>
            <a:off x="990600" y="1524000"/>
            <a:ext cx="7391400" cy="4572000"/>
          </a:xfrm>
        </p:spPr>
        <p:txBody>
          <a:bodyPr vert="horz" wrap="square" lIns="92075" tIns="46038" rIns="92075" bIns="46038" anchor="t" anchorCtr="0"/>
          <a:p>
            <a:r>
              <a:rPr lang="zh-CN" altLang="en-US" sz="2400" b="1" dirty="0">
                <a:ea typeface="宋体" panose="02010600030101010101" pitchFamily="2" charset="-122"/>
              </a:rPr>
              <a:t>参数类型的多样性</a:t>
            </a:r>
            <a:endParaRPr lang="zh-CN" altLang="en-US" sz="2400" b="1" dirty="0">
              <a:ea typeface="宋体" panose="02010600030101010101" pitchFamily="2" charset="-122"/>
            </a:endParaRPr>
          </a:p>
          <a:p>
            <a:pPr lvl="1"/>
            <a:r>
              <a:rPr lang="zh-CN" altLang="en-US" sz="2200" b="1" dirty="0">
                <a:ea typeface="宋体" panose="02010600030101010101" pitchFamily="2" charset="-122"/>
              </a:rPr>
              <a:t>普通函数的一个参数只能有唯一的类型</a:t>
            </a:r>
            <a:endParaRPr lang="zh-CN" altLang="en-US" sz="2200" b="1" dirty="0">
              <a:ea typeface="宋体" panose="02010600030101010101" pitchFamily="2" charset="-122"/>
            </a:endParaRPr>
          </a:p>
          <a:p>
            <a:pPr lvl="2"/>
            <a:r>
              <a:rPr lang="zh-CN" altLang="en-US" sz="2000" b="1" dirty="0">
                <a:ea typeface="宋体" panose="02010600030101010101" pitchFamily="2" charset="-122"/>
              </a:rPr>
              <a:t>函数体中的语句在固定类型的参数下执行</a:t>
            </a:r>
            <a:endParaRPr lang="zh-CN" altLang="en-US" sz="2000" b="1" dirty="0">
              <a:ea typeface="宋体" panose="02010600030101010101" pitchFamily="2" charset="-122"/>
            </a:endParaRPr>
          </a:p>
          <a:p>
            <a:pPr lvl="1"/>
            <a:r>
              <a:rPr lang="zh-CN" altLang="en-US" sz="2200" b="1" dirty="0">
                <a:ea typeface="宋体" panose="02010600030101010101" pitchFamily="2" charset="-122"/>
              </a:rPr>
              <a:t>多态函数允许一个参数有不同的类型</a:t>
            </a:r>
            <a:endParaRPr lang="zh-CN" altLang="en-US" sz="2200" b="1" dirty="0">
              <a:ea typeface="宋体" panose="02010600030101010101" pitchFamily="2" charset="-122"/>
            </a:endParaRPr>
          </a:p>
          <a:p>
            <a:pPr lvl="2"/>
            <a:r>
              <a:rPr lang="zh-CN" altLang="en-US" sz="2000" b="1" dirty="0">
                <a:ea typeface="宋体" panose="02010600030101010101" pitchFamily="2" charset="-122"/>
              </a:rPr>
              <a:t>函数体中的语句可以在不同类型的参数下执行</a:t>
            </a:r>
            <a:endParaRPr lang="zh-CN" altLang="en-US" sz="2000" b="1" dirty="0">
              <a:ea typeface="宋体" panose="02010600030101010101" pitchFamily="2" charset="-122"/>
            </a:endParaRPr>
          </a:p>
          <a:p>
            <a:pPr lvl="2"/>
            <a:r>
              <a:rPr lang="zh-CN" altLang="en-US" sz="2000" b="1" dirty="0">
                <a:ea typeface="宋体" panose="02010600030101010101" pitchFamily="2" charset="-122"/>
              </a:rPr>
              <a:t>算符也可以是多态的</a:t>
            </a:r>
            <a:endParaRPr lang="zh-CN" altLang="en-US" sz="2000" b="1" dirty="0">
              <a:ea typeface="宋体" panose="02010600030101010101" pitchFamily="2" charset="-122"/>
            </a:endParaRPr>
          </a:p>
          <a:p>
            <a:pPr lvl="2"/>
            <a:r>
              <a:rPr lang="zh-CN" altLang="en-US" sz="2000" b="1" dirty="0">
                <a:ea typeface="宋体" panose="02010600030101010101" pitchFamily="2" charset="-122"/>
              </a:rPr>
              <a:t>例：</a:t>
            </a:r>
            <a:endParaRPr lang="zh-CN" altLang="en-US" sz="2000" b="1" dirty="0">
              <a:ea typeface="宋体" panose="02010600030101010101" pitchFamily="2" charset="-122"/>
            </a:endParaRPr>
          </a:p>
          <a:p>
            <a:pPr lvl="3"/>
            <a:r>
              <a:rPr lang="zh-CN" altLang="en-US" sz="1800" b="1" dirty="0">
                <a:ea typeface="宋体" panose="02010600030101010101" pitchFamily="2" charset="-122"/>
              </a:rPr>
              <a:t>内部定义的算符通常是多态的</a:t>
            </a:r>
            <a:endParaRPr lang="zh-CN" altLang="en-US" sz="1800" b="1" dirty="0">
              <a:ea typeface="宋体" panose="02010600030101010101" pitchFamily="2" charset="-122"/>
            </a:endParaRPr>
          </a:p>
          <a:p>
            <a:pPr lvl="4"/>
            <a:r>
              <a:rPr lang="zh-CN" altLang="en-US" sz="1600" b="1" dirty="0">
                <a:ea typeface="宋体" panose="02010600030101010101" pitchFamily="2" charset="-122"/>
              </a:rPr>
              <a:t>数组索引、函数作用、指针操作等</a:t>
            </a:r>
            <a:endParaRPr lang="zh-CN" altLang="en-US" sz="1600" b="1" dirty="0">
              <a:ea typeface="宋体" panose="02010600030101010101" pitchFamily="2" charset="-122"/>
            </a:endParaRPr>
          </a:p>
          <a:p>
            <a:pPr lvl="4"/>
            <a:r>
              <a:rPr lang="zh-CN" altLang="en-US" sz="1600" b="1" dirty="0">
                <a:ea typeface="宋体" panose="02010600030101010101" pitchFamily="2" charset="-122"/>
              </a:rPr>
              <a:t>算术运算</a:t>
            </a:r>
            <a:endParaRPr lang="zh-CN" altLang="en-US" sz="1600" b="1" dirty="0">
              <a:ea typeface="宋体" panose="02010600030101010101" pitchFamily="2" charset="-122"/>
            </a:endParaRPr>
          </a:p>
          <a:p>
            <a:pPr lvl="3"/>
            <a:r>
              <a:rPr lang="en-US" altLang="zh-CN" sz="1800" b="1" dirty="0">
                <a:ea typeface="宋体" panose="02010600030101010101" pitchFamily="2" charset="-122"/>
              </a:rPr>
              <a:t>Ada</a:t>
            </a:r>
            <a:r>
              <a:rPr lang="zh-CN" altLang="en-US" sz="1800" b="1" dirty="0">
                <a:ea typeface="宋体" panose="02010600030101010101" pitchFamily="2" charset="-122"/>
              </a:rPr>
              <a:t>中的类属函数是多态的</a:t>
            </a:r>
            <a:endParaRPr lang="zh-CN" altLang="en-US" sz="1800" b="1" dirty="0">
              <a:ea typeface="宋体" panose="02010600030101010101" pitchFamily="2" charset="-122"/>
            </a:endParaRPr>
          </a:p>
          <a:p>
            <a:pPr lvl="3"/>
            <a:r>
              <a:rPr lang="zh-CN" altLang="en-US" sz="1800" b="1" dirty="0">
                <a:ea typeface="宋体" panose="02010600030101010101" pitchFamily="2" charset="-122"/>
              </a:rPr>
              <a:t>在很多语言中可以定义多态函数</a:t>
            </a:r>
            <a:endParaRPr lang="zh-CN" altLang="en-US" sz="1800" b="1" dirty="0">
              <a:ea typeface="宋体" panose="02010600030101010101" pitchFamily="2" charset="-122"/>
            </a:endParaRPr>
          </a:p>
        </p:txBody>
      </p:sp>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类型推导和多态函数（2）</a:t>
            </a:r>
            <a:endParaRPr lang="zh-CN" altLang="en-US" dirty="0">
              <a:latin typeface="Times New Roman" panose="02020603050405020304" pitchFamily="18" charset="0"/>
              <a:ea typeface="宋体" panose="02010600030101010101" pitchFamily="2" charset="-122"/>
            </a:endParaRPr>
          </a:p>
        </p:txBody>
      </p:sp>
      <p:sp>
        <p:nvSpPr>
          <p:cNvPr id="182275" name="Rectangle 3"/>
          <p:cNvSpPr>
            <a:spLocks noGrp="1"/>
          </p:cNvSpPr>
          <p:nvPr>
            <p:ph idx="1"/>
          </p:nvPr>
        </p:nvSpPr>
        <p:spPr>
          <a:xfrm>
            <a:off x="990600" y="1371600"/>
            <a:ext cx="7391400" cy="4724400"/>
          </a:xfrm>
        </p:spPr>
        <p:txBody>
          <a:bodyPr vert="horz" wrap="square" lIns="92075" tIns="46038" rIns="92075" bIns="46038" anchor="t" anchorCtr="0"/>
          <a:p>
            <a:pPr>
              <a:lnSpc>
                <a:spcPct val="90000"/>
              </a:lnSpc>
            </a:pPr>
            <a:r>
              <a:rPr lang="zh-CN" altLang="en-US" sz="2000" b="1" dirty="0">
                <a:ea typeface="宋体" panose="02010600030101010101" pitchFamily="2" charset="-122"/>
              </a:rPr>
              <a:t>为什么要使用多态函数</a:t>
            </a:r>
            <a:endParaRPr lang="zh-CN" altLang="en-US" sz="2000" b="1" dirty="0">
              <a:ea typeface="宋体" panose="02010600030101010101" pitchFamily="2" charset="-122"/>
            </a:endParaRPr>
          </a:p>
          <a:p>
            <a:pPr lvl="1">
              <a:lnSpc>
                <a:spcPct val="90000"/>
              </a:lnSpc>
            </a:pPr>
            <a:r>
              <a:rPr lang="zh-CN" altLang="en-US" sz="1800" b="1" dirty="0">
                <a:ea typeface="宋体" panose="02010600030101010101" pitchFamily="2" charset="-122"/>
              </a:rPr>
              <a:t>一些算法便于实现</a:t>
            </a:r>
            <a:endParaRPr lang="zh-CN" altLang="en-US" sz="1800" b="1" dirty="0">
              <a:ea typeface="宋体" panose="02010600030101010101" pitchFamily="2" charset="-122"/>
            </a:endParaRPr>
          </a:p>
          <a:p>
            <a:pPr lvl="2">
              <a:lnSpc>
                <a:spcPct val="90000"/>
              </a:lnSpc>
            </a:pPr>
            <a:r>
              <a:rPr lang="zh-CN" altLang="en-US" sz="1600" b="1" dirty="0">
                <a:ea typeface="宋体" panose="02010600030101010101" pitchFamily="2" charset="-122"/>
              </a:rPr>
              <a:t>操作于某种数据结构，但不必顾及其成分类型</a:t>
            </a:r>
            <a:endParaRPr lang="zh-CN" altLang="en-US" sz="1600" b="1" dirty="0">
              <a:ea typeface="宋体" panose="02010600030101010101" pitchFamily="2" charset="-122"/>
            </a:endParaRPr>
          </a:p>
          <a:p>
            <a:pPr lvl="3">
              <a:lnSpc>
                <a:spcPct val="90000"/>
              </a:lnSpc>
              <a:buFont typeface="Wingdings" panose="05000000000000000000" pitchFamily="2" charset="2"/>
              <a:buNone/>
            </a:pPr>
            <a:r>
              <a:rPr lang="zh-CN" altLang="en-US" sz="1500" b="1" dirty="0">
                <a:ea typeface="宋体" panose="02010600030101010101" pitchFamily="2" charset="-122"/>
              </a:rPr>
              <a:t>在</a:t>
            </a:r>
            <a:r>
              <a:rPr lang="en-US" altLang="zh-CN" sz="1500" b="1" dirty="0">
                <a:ea typeface="宋体" panose="02010600030101010101" pitchFamily="2" charset="-122"/>
              </a:rPr>
              <a:t>Pascal</a:t>
            </a:r>
            <a:r>
              <a:rPr lang="zh-CN" altLang="en-US" sz="1500" b="1" dirty="0">
                <a:ea typeface="宋体" panose="02010600030101010101" pitchFamily="2" charset="-122"/>
              </a:rPr>
              <a:t>中实现链表长度的计算：必须声明</a:t>
            </a:r>
            <a:r>
              <a:rPr lang="en-US" altLang="zh-CN" sz="1500" b="1" dirty="0">
                <a:ea typeface="宋体" panose="02010600030101010101" pitchFamily="2" charset="-122"/>
              </a:rPr>
              <a:t>info</a:t>
            </a:r>
            <a:r>
              <a:rPr lang="zh-CN" altLang="en-US" sz="1500" b="1" dirty="0">
                <a:ea typeface="宋体" panose="02010600030101010101" pitchFamily="2" charset="-122"/>
              </a:rPr>
              <a:t>域的类型</a:t>
            </a:r>
            <a:endParaRPr lang="zh-CN" altLang="en-US" sz="1500" b="1" dirty="0">
              <a:ea typeface="宋体" panose="02010600030101010101" pitchFamily="2" charset="-122"/>
            </a:endParaRPr>
          </a:p>
          <a:p>
            <a:pPr lvl="3">
              <a:lnSpc>
                <a:spcPct val="90000"/>
              </a:lnSpc>
              <a:buFont typeface="Wingdings" panose="05000000000000000000" pitchFamily="2" charset="2"/>
              <a:buNone/>
            </a:pPr>
            <a:r>
              <a:rPr lang="en-US" altLang="zh-CN" sz="1500" b="1" dirty="0">
                <a:ea typeface="宋体" panose="02010600030101010101" pitchFamily="2" charset="-122"/>
              </a:rPr>
              <a:t>type	link =↑cell ;</a:t>
            </a:r>
            <a:endParaRPr lang="en-US" altLang="zh-CN" sz="1500" b="1" dirty="0">
              <a:ea typeface="宋体" panose="02010600030101010101" pitchFamily="2" charset="-122"/>
            </a:endParaRPr>
          </a:p>
          <a:p>
            <a:pPr lvl="3">
              <a:lnSpc>
                <a:spcPct val="90000"/>
              </a:lnSpc>
              <a:buFont typeface="Wingdings" panose="05000000000000000000" pitchFamily="2" charset="2"/>
              <a:buNone/>
            </a:pPr>
            <a:r>
              <a:rPr lang="en-US" altLang="zh-CN" sz="1500" b="1" dirty="0">
                <a:ea typeface="宋体" panose="02010600030101010101" pitchFamily="2" charset="-122"/>
              </a:rPr>
              <a:t>		cell = record</a:t>
            </a:r>
            <a:endParaRPr lang="en-US" altLang="zh-CN" sz="1500" b="1" dirty="0">
              <a:ea typeface="宋体" panose="02010600030101010101" pitchFamily="2" charset="-122"/>
            </a:endParaRPr>
          </a:p>
          <a:p>
            <a:pPr lvl="3">
              <a:lnSpc>
                <a:spcPct val="90000"/>
              </a:lnSpc>
              <a:buFont typeface="Wingdings" panose="05000000000000000000" pitchFamily="2" charset="2"/>
              <a:buNone/>
            </a:pPr>
            <a:r>
              <a:rPr lang="en-US" altLang="zh-CN" sz="1500" b="1" dirty="0">
                <a:ea typeface="宋体" panose="02010600030101010101" pitchFamily="2" charset="-122"/>
              </a:rPr>
              <a:t>			info : integer;</a:t>
            </a:r>
            <a:endParaRPr lang="en-US" altLang="zh-CN" sz="1500" b="1" dirty="0">
              <a:ea typeface="宋体" panose="02010600030101010101" pitchFamily="2" charset="-122"/>
            </a:endParaRPr>
          </a:p>
          <a:p>
            <a:pPr lvl="3">
              <a:lnSpc>
                <a:spcPct val="90000"/>
              </a:lnSpc>
              <a:buFont typeface="Wingdings" panose="05000000000000000000" pitchFamily="2" charset="2"/>
              <a:buNone/>
            </a:pPr>
            <a:r>
              <a:rPr lang="en-US" altLang="zh-CN" sz="1500" b="1" dirty="0">
                <a:ea typeface="宋体" panose="02010600030101010101" pitchFamily="2" charset="-122"/>
              </a:rPr>
              <a:t>			next : link</a:t>
            </a:r>
            <a:endParaRPr lang="en-US" altLang="zh-CN" sz="1500" b="1" dirty="0">
              <a:ea typeface="宋体" panose="02010600030101010101" pitchFamily="2" charset="-122"/>
            </a:endParaRPr>
          </a:p>
          <a:p>
            <a:pPr lvl="3">
              <a:lnSpc>
                <a:spcPct val="90000"/>
              </a:lnSpc>
              <a:buFont typeface="Wingdings" panose="05000000000000000000" pitchFamily="2" charset="2"/>
              <a:buNone/>
            </a:pPr>
            <a:r>
              <a:rPr lang="en-US" altLang="zh-CN" sz="1500" b="1" dirty="0">
                <a:ea typeface="宋体" panose="02010600030101010101" pitchFamily="2" charset="-122"/>
              </a:rPr>
              <a:t>		end;</a:t>
            </a:r>
            <a:endParaRPr lang="en-US" altLang="zh-CN" sz="1500" b="1" dirty="0">
              <a:ea typeface="宋体" panose="02010600030101010101" pitchFamily="2" charset="-122"/>
            </a:endParaRPr>
          </a:p>
          <a:p>
            <a:pPr lvl="3">
              <a:lnSpc>
                <a:spcPct val="90000"/>
              </a:lnSpc>
              <a:buFont typeface="Wingdings" panose="05000000000000000000" pitchFamily="2" charset="2"/>
              <a:buNone/>
            </a:pPr>
            <a:r>
              <a:rPr lang="en-US" altLang="zh-CN" sz="1500" b="1" dirty="0">
                <a:ea typeface="宋体" panose="02010600030101010101" pitchFamily="2" charset="-122"/>
              </a:rPr>
              <a:t>function length( x : link ) : integer;</a:t>
            </a:r>
            <a:endParaRPr lang="en-US" altLang="zh-CN" sz="1500" b="1" dirty="0">
              <a:ea typeface="宋体" panose="02010600030101010101" pitchFamily="2" charset="-122"/>
            </a:endParaRPr>
          </a:p>
          <a:p>
            <a:pPr lvl="3">
              <a:lnSpc>
                <a:spcPct val="90000"/>
              </a:lnSpc>
              <a:buFont typeface="Wingdings" panose="05000000000000000000" pitchFamily="2" charset="2"/>
              <a:buNone/>
            </a:pPr>
            <a:r>
              <a:rPr lang="en-US" altLang="zh-CN" sz="1500" b="1" dirty="0">
                <a:ea typeface="宋体" panose="02010600030101010101" pitchFamily="2" charset="-122"/>
              </a:rPr>
              <a:t>var len : integer;</a:t>
            </a:r>
            <a:endParaRPr lang="en-US" altLang="zh-CN" sz="1500" b="1" dirty="0">
              <a:ea typeface="宋体" panose="02010600030101010101" pitchFamily="2" charset="-122"/>
            </a:endParaRPr>
          </a:p>
          <a:p>
            <a:pPr lvl="3">
              <a:lnSpc>
                <a:spcPct val="90000"/>
              </a:lnSpc>
              <a:buFont typeface="Wingdings" panose="05000000000000000000" pitchFamily="2" charset="2"/>
              <a:buNone/>
            </a:pPr>
            <a:r>
              <a:rPr lang="en-US" altLang="zh-CN" sz="1500" b="1" dirty="0">
                <a:ea typeface="宋体" panose="02010600030101010101" pitchFamily="2" charset="-122"/>
              </a:rPr>
              <a:t>begin</a:t>
            </a:r>
            <a:endParaRPr lang="en-US" altLang="zh-CN" sz="1500" b="1" dirty="0">
              <a:ea typeface="宋体" panose="02010600030101010101" pitchFamily="2" charset="-122"/>
            </a:endParaRPr>
          </a:p>
          <a:p>
            <a:pPr lvl="3">
              <a:lnSpc>
                <a:spcPct val="90000"/>
              </a:lnSpc>
              <a:buFont typeface="Wingdings" panose="05000000000000000000" pitchFamily="2" charset="2"/>
              <a:buNone/>
            </a:pPr>
            <a:r>
              <a:rPr lang="en-US" altLang="zh-CN" sz="1500" b="1" dirty="0">
                <a:ea typeface="宋体" panose="02010600030101010101" pitchFamily="2" charset="-122"/>
              </a:rPr>
              <a:t>		len := 0;</a:t>
            </a:r>
            <a:endParaRPr lang="en-US" altLang="zh-CN" sz="1500" b="1" dirty="0">
              <a:ea typeface="宋体" panose="02010600030101010101" pitchFamily="2" charset="-122"/>
            </a:endParaRPr>
          </a:p>
          <a:p>
            <a:pPr lvl="3">
              <a:lnSpc>
                <a:spcPct val="90000"/>
              </a:lnSpc>
              <a:buFont typeface="Wingdings" panose="05000000000000000000" pitchFamily="2" charset="2"/>
              <a:buNone/>
            </a:pPr>
            <a:r>
              <a:rPr lang="en-US" altLang="zh-CN" sz="1500" b="1" dirty="0">
                <a:ea typeface="宋体" panose="02010600030101010101" pitchFamily="2" charset="-122"/>
              </a:rPr>
              <a:t>		whild x &lt;&gt; nil do begin</a:t>
            </a:r>
            <a:endParaRPr lang="en-US" altLang="zh-CN" sz="1500" b="1" dirty="0">
              <a:ea typeface="宋体" panose="02010600030101010101" pitchFamily="2" charset="-122"/>
            </a:endParaRPr>
          </a:p>
          <a:p>
            <a:pPr lvl="3">
              <a:lnSpc>
                <a:spcPct val="90000"/>
              </a:lnSpc>
              <a:buFont typeface="Wingdings" panose="05000000000000000000" pitchFamily="2" charset="2"/>
              <a:buNone/>
            </a:pPr>
            <a:r>
              <a:rPr lang="en-US" altLang="zh-CN" sz="1500" b="1" dirty="0">
                <a:ea typeface="宋体" panose="02010600030101010101" pitchFamily="2" charset="-122"/>
              </a:rPr>
              <a:t>			len := len + 1;</a:t>
            </a:r>
            <a:endParaRPr lang="en-US" altLang="zh-CN" sz="1500" b="1" dirty="0">
              <a:ea typeface="宋体" panose="02010600030101010101" pitchFamily="2" charset="-122"/>
            </a:endParaRPr>
          </a:p>
          <a:p>
            <a:pPr lvl="3">
              <a:lnSpc>
                <a:spcPct val="90000"/>
              </a:lnSpc>
              <a:buFont typeface="Wingdings" panose="05000000000000000000" pitchFamily="2" charset="2"/>
              <a:buNone/>
            </a:pPr>
            <a:r>
              <a:rPr lang="en-US" altLang="zh-CN" sz="1500" b="1" dirty="0">
                <a:ea typeface="宋体" panose="02010600030101010101" pitchFamily="2" charset="-122"/>
              </a:rPr>
              <a:t>			x := x↑.next</a:t>
            </a:r>
            <a:endParaRPr lang="en-US" altLang="zh-CN" sz="1500" b="1" dirty="0">
              <a:ea typeface="宋体" panose="02010600030101010101" pitchFamily="2" charset="-122"/>
            </a:endParaRPr>
          </a:p>
          <a:p>
            <a:pPr lvl="3">
              <a:lnSpc>
                <a:spcPct val="90000"/>
              </a:lnSpc>
              <a:buFont typeface="Wingdings" panose="05000000000000000000" pitchFamily="2" charset="2"/>
              <a:buNone/>
            </a:pPr>
            <a:r>
              <a:rPr lang="en-US" altLang="zh-CN" sz="1500" b="1" dirty="0">
                <a:ea typeface="宋体" panose="02010600030101010101" pitchFamily="2" charset="-122"/>
              </a:rPr>
              <a:t>		end;</a:t>
            </a:r>
            <a:endParaRPr lang="en-US" altLang="zh-CN" sz="1500" b="1" dirty="0">
              <a:ea typeface="宋体" panose="02010600030101010101" pitchFamily="2" charset="-122"/>
            </a:endParaRPr>
          </a:p>
          <a:p>
            <a:pPr lvl="3">
              <a:lnSpc>
                <a:spcPct val="90000"/>
              </a:lnSpc>
              <a:buFont typeface="Wingdings" panose="05000000000000000000" pitchFamily="2" charset="2"/>
              <a:buNone/>
            </a:pPr>
            <a:r>
              <a:rPr lang="en-US" altLang="zh-CN" sz="1500" b="1" dirty="0">
                <a:ea typeface="宋体" panose="02010600030101010101" pitchFamily="2" charset="-122"/>
              </a:rPr>
              <a:t>		length := len</a:t>
            </a:r>
            <a:endParaRPr lang="en-US" altLang="zh-CN" sz="1500" b="1" dirty="0">
              <a:ea typeface="宋体" panose="02010600030101010101" pitchFamily="2" charset="-122"/>
            </a:endParaRPr>
          </a:p>
          <a:p>
            <a:pPr lvl="3">
              <a:lnSpc>
                <a:spcPct val="90000"/>
              </a:lnSpc>
              <a:buFont typeface="Wingdings" panose="05000000000000000000" pitchFamily="2" charset="2"/>
              <a:buNone/>
            </a:pPr>
            <a:r>
              <a:rPr lang="en-US" altLang="zh-CN" sz="1500" b="1" dirty="0">
                <a:ea typeface="宋体" panose="02010600030101010101" pitchFamily="2" charset="-122"/>
              </a:rPr>
              <a:t>End;</a:t>
            </a:r>
            <a:endParaRPr lang="en-US" altLang="zh-CN" sz="1500" b="1" dirty="0">
              <a:ea typeface="宋体" panose="02010600030101010101" pitchFamily="2" charset="-122"/>
            </a:endParaRPr>
          </a:p>
        </p:txBody>
      </p:sp>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类型推导和多态函数（3）</a:t>
            </a:r>
            <a:endParaRPr lang="zh-CN" altLang="en-US" dirty="0">
              <a:latin typeface="Times New Roman" panose="02020603050405020304" pitchFamily="18" charset="0"/>
              <a:ea typeface="宋体" panose="02010600030101010101" pitchFamily="2" charset="-122"/>
            </a:endParaRPr>
          </a:p>
        </p:txBody>
      </p:sp>
      <p:sp>
        <p:nvSpPr>
          <p:cNvPr id="184323" name="Rectangle 3"/>
          <p:cNvSpPr>
            <a:spLocks noGrp="1"/>
          </p:cNvSpPr>
          <p:nvPr>
            <p:ph idx="1"/>
          </p:nvPr>
        </p:nvSpPr>
        <p:spPr>
          <a:xfrm>
            <a:off x="990600" y="1524000"/>
            <a:ext cx="7391400" cy="4572000"/>
          </a:xfrm>
        </p:spPr>
        <p:txBody>
          <a:bodyPr vert="horz" wrap="square" lIns="92075" tIns="46038" rIns="92075" bIns="46038" anchor="t" anchorCtr="0"/>
          <a:p>
            <a:pPr lvl="1"/>
            <a:r>
              <a:rPr lang="zh-CN" altLang="en-US" sz="2200" b="1" dirty="0">
                <a:ea typeface="宋体" panose="02010600030101010101" pitchFamily="2" charset="-122"/>
              </a:rPr>
              <a:t>利用多态函数实现上述算法</a:t>
            </a:r>
            <a:endParaRPr lang="zh-CN" altLang="en-US" sz="2200" b="1" dirty="0">
              <a:ea typeface="宋体" panose="02010600030101010101" pitchFamily="2" charset="-122"/>
            </a:endParaRPr>
          </a:p>
          <a:p>
            <a:pPr lvl="2"/>
            <a:r>
              <a:rPr lang="zh-CN" altLang="en-US" sz="2000" b="1" dirty="0">
                <a:ea typeface="宋体" panose="02010600030101010101" pitchFamily="2" charset="-122"/>
              </a:rPr>
              <a:t>不必考虑</a:t>
            </a:r>
            <a:r>
              <a:rPr lang="en-US" altLang="zh-CN" sz="2000" b="1" dirty="0">
                <a:ea typeface="宋体" panose="02010600030101010101" pitchFamily="2" charset="-122"/>
              </a:rPr>
              <a:t>info</a:t>
            </a:r>
            <a:r>
              <a:rPr lang="zh-CN" altLang="en-US" sz="2000" b="1" dirty="0">
                <a:ea typeface="宋体" panose="02010600030101010101" pitchFamily="2" charset="-122"/>
              </a:rPr>
              <a:t>域的类型，算法只关心该关心的</a:t>
            </a:r>
            <a:endParaRPr lang="zh-CN" altLang="en-US" sz="2000" b="1" dirty="0">
              <a:ea typeface="宋体" panose="02010600030101010101" pitchFamily="2" charset="-122"/>
            </a:endParaRPr>
          </a:p>
          <a:p>
            <a:pPr lvl="3">
              <a:buFont typeface="Wingdings" panose="05000000000000000000" pitchFamily="2" charset="2"/>
              <a:buNone/>
            </a:pPr>
            <a:r>
              <a:rPr lang="zh-CN" altLang="en-US" sz="1700" b="1" dirty="0">
                <a:ea typeface="宋体" panose="02010600030101010101" pitchFamily="2" charset="-122"/>
              </a:rPr>
              <a:t>在</a:t>
            </a:r>
            <a:r>
              <a:rPr lang="en-US" altLang="zh-CN" sz="1700" b="1" dirty="0">
                <a:ea typeface="宋体" panose="02010600030101010101" pitchFamily="2" charset="-122"/>
              </a:rPr>
              <a:t>ML</a:t>
            </a:r>
            <a:r>
              <a:rPr lang="zh-CN" altLang="en-US" sz="1700" b="1" dirty="0">
                <a:ea typeface="宋体" panose="02010600030101010101" pitchFamily="2" charset="-122"/>
              </a:rPr>
              <a:t>中实现链表长度的计算（该函数是递归的）：</a:t>
            </a:r>
            <a:endParaRPr lang="zh-CN" altLang="en-US" sz="1700" b="1" dirty="0">
              <a:ea typeface="宋体" panose="02010600030101010101" pitchFamily="2" charset="-122"/>
            </a:endParaRPr>
          </a:p>
          <a:p>
            <a:pPr lvl="3">
              <a:buFont typeface="Wingdings" panose="05000000000000000000" pitchFamily="2" charset="2"/>
              <a:buNone/>
            </a:pPr>
            <a:r>
              <a:rPr lang="en-US" altLang="zh-CN" sz="1700" b="1" dirty="0">
                <a:ea typeface="宋体" panose="02010600030101010101" pitchFamily="2" charset="-122"/>
              </a:rPr>
              <a:t>fun </a:t>
            </a:r>
            <a:r>
              <a:rPr lang="en-US" altLang="zh-CN" sz="1700" i="1" dirty="0">
                <a:ea typeface="宋体" panose="02010600030101010101" pitchFamily="2" charset="-122"/>
              </a:rPr>
              <a:t>length</a:t>
            </a:r>
            <a:r>
              <a:rPr lang="en-US" altLang="zh-CN" sz="1700" b="1" dirty="0">
                <a:ea typeface="宋体" panose="02010600030101010101" pitchFamily="2" charset="-122"/>
              </a:rPr>
              <a:t> (</a:t>
            </a:r>
            <a:r>
              <a:rPr lang="zh-CN" altLang="en-US" sz="1700" b="1" dirty="0">
                <a:ea typeface="宋体" panose="02010600030101010101" pitchFamily="2" charset="-122"/>
              </a:rPr>
              <a:t> </a:t>
            </a:r>
            <a:r>
              <a:rPr lang="en-US" altLang="zh-CN" sz="1700" i="1" dirty="0">
                <a:ea typeface="宋体" panose="02010600030101010101" pitchFamily="2" charset="-122"/>
              </a:rPr>
              <a:t>x</a:t>
            </a:r>
            <a:r>
              <a:rPr lang="en-US" altLang="zh-CN" sz="1700" b="1" dirty="0">
                <a:ea typeface="宋体" panose="02010600030101010101" pitchFamily="2" charset="-122"/>
              </a:rPr>
              <a:t> ) =</a:t>
            </a:r>
            <a:endParaRPr lang="en-US" altLang="zh-CN" sz="1700" b="1" dirty="0">
              <a:ea typeface="宋体" panose="02010600030101010101" pitchFamily="2" charset="-122"/>
            </a:endParaRPr>
          </a:p>
          <a:p>
            <a:pPr lvl="3">
              <a:buFont typeface="Wingdings" panose="05000000000000000000" pitchFamily="2" charset="2"/>
              <a:buNone/>
            </a:pPr>
            <a:r>
              <a:rPr lang="en-US" altLang="zh-CN" sz="1700" b="1" dirty="0">
                <a:ea typeface="宋体" panose="02010600030101010101" pitchFamily="2" charset="-122"/>
              </a:rPr>
              <a:t>		if  </a:t>
            </a:r>
            <a:r>
              <a:rPr lang="en-US" altLang="zh-CN" sz="1700" i="1" dirty="0">
                <a:ea typeface="宋体" panose="02010600030101010101" pitchFamily="2" charset="-122"/>
              </a:rPr>
              <a:t>null</a:t>
            </a:r>
            <a:r>
              <a:rPr lang="en-US" altLang="zh-CN" sz="1700" b="1" dirty="0">
                <a:ea typeface="宋体" panose="02010600030101010101" pitchFamily="2" charset="-122"/>
              </a:rPr>
              <a:t>(</a:t>
            </a:r>
            <a:r>
              <a:rPr lang="zh-CN" altLang="en-US" sz="1700" b="1" dirty="0">
                <a:ea typeface="宋体" panose="02010600030101010101" pitchFamily="2" charset="-122"/>
              </a:rPr>
              <a:t> </a:t>
            </a:r>
            <a:r>
              <a:rPr lang="en-US" altLang="zh-CN" sz="1700" i="1" dirty="0">
                <a:ea typeface="宋体" panose="02010600030101010101" pitchFamily="2" charset="-122"/>
              </a:rPr>
              <a:t>x</a:t>
            </a:r>
            <a:r>
              <a:rPr lang="en-US" altLang="zh-CN" sz="1700" b="1" dirty="0">
                <a:ea typeface="宋体" panose="02010600030101010101" pitchFamily="2" charset="-122"/>
              </a:rPr>
              <a:t> )  then 0</a:t>
            </a:r>
            <a:r>
              <a:rPr lang="zh-CN" altLang="en-US" sz="1700" b="1" dirty="0">
                <a:ea typeface="宋体" panose="02010600030101010101" pitchFamily="2" charset="-122"/>
              </a:rPr>
              <a:t>  </a:t>
            </a:r>
            <a:r>
              <a:rPr lang="en-US" altLang="zh-CN" sz="1700" b="1" dirty="0">
                <a:ea typeface="宋体" panose="02010600030101010101" pitchFamily="2" charset="-122"/>
              </a:rPr>
              <a:t>else </a:t>
            </a:r>
            <a:r>
              <a:rPr lang="en-US" altLang="zh-CN" sz="1700" i="1" dirty="0">
                <a:ea typeface="宋体" panose="02010600030101010101" pitchFamily="2" charset="-122"/>
              </a:rPr>
              <a:t>length</a:t>
            </a:r>
            <a:r>
              <a:rPr lang="en-US" altLang="zh-CN" sz="1700" b="1" dirty="0">
                <a:ea typeface="宋体" panose="02010600030101010101" pitchFamily="2" charset="-122"/>
              </a:rPr>
              <a:t>( </a:t>
            </a:r>
            <a:r>
              <a:rPr lang="en-US" altLang="zh-CN" sz="1700" i="1" dirty="0">
                <a:ea typeface="宋体" panose="02010600030101010101" pitchFamily="2" charset="-122"/>
              </a:rPr>
              <a:t>tl</a:t>
            </a:r>
            <a:r>
              <a:rPr lang="en-US" altLang="zh-CN" sz="1700" b="1" dirty="0">
                <a:ea typeface="宋体" panose="02010600030101010101" pitchFamily="2" charset="-122"/>
              </a:rPr>
              <a:t>( </a:t>
            </a:r>
            <a:r>
              <a:rPr lang="en-US" altLang="zh-CN" sz="1700" i="1" dirty="0">
                <a:ea typeface="宋体" panose="02010600030101010101" pitchFamily="2" charset="-122"/>
              </a:rPr>
              <a:t>x</a:t>
            </a:r>
            <a:r>
              <a:rPr lang="en-US" altLang="zh-CN" sz="1700" b="1" dirty="0">
                <a:ea typeface="宋体" panose="02010600030101010101" pitchFamily="2" charset="-122"/>
              </a:rPr>
              <a:t> ) ) + 1;</a:t>
            </a:r>
            <a:endParaRPr lang="en-US" altLang="zh-CN" sz="1700" b="1" dirty="0">
              <a:ea typeface="宋体" panose="02010600030101010101" pitchFamily="2" charset="-122"/>
            </a:endParaRPr>
          </a:p>
          <a:p>
            <a:pPr lvl="3">
              <a:buFont typeface="Wingdings" panose="05000000000000000000" pitchFamily="2" charset="2"/>
              <a:buNone/>
            </a:pPr>
            <a:endParaRPr lang="en-US" altLang="zh-CN" sz="1700" b="1" dirty="0">
              <a:ea typeface="宋体" panose="02010600030101010101" pitchFamily="2" charset="-122"/>
            </a:endParaRPr>
          </a:p>
          <a:p>
            <a:pPr lvl="2"/>
            <a:r>
              <a:rPr lang="zh-CN" altLang="en-US" sz="1900" b="1" dirty="0">
                <a:ea typeface="宋体" panose="02010600030101010101" pitchFamily="2" charset="-122"/>
              </a:rPr>
              <a:t>考虑下面的两个例子：</a:t>
            </a:r>
            <a:endParaRPr lang="zh-CN" altLang="en-US" sz="1900" b="1" dirty="0">
              <a:ea typeface="宋体" panose="02010600030101010101" pitchFamily="2" charset="-122"/>
            </a:endParaRPr>
          </a:p>
          <a:p>
            <a:pPr lvl="3">
              <a:buFont typeface="Wingdings" panose="05000000000000000000" pitchFamily="2" charset="2"/>
              <a:buNone/>
            </a:pPr>
            <a:r>
              <a:rPr lang="en-US" altLang="zh-CN" sz="1700" i="1" dirty="0">
                <a:ea typeface="宋体" panose="02010600030101010101" pitchFamily="2" charset="-122"/>
              </a:rPr>
              <a:t>length</a:t>
            </a:r>
            <a:r>
              <a:rPr lang="en-US" altLang="zh-CN" sz="1700" b="1" dirty="0">
                <a:ea typeface="宋体" panose="02010600030101010101" pitchFamily="2" charset="-122"/>
              </a:rPr>
              <a:t>( [ “sun”, “mon”, “tue” ] ); </a:t>
            </a:r>
            <a:r>
              <a:rPr lang="zh-CN" altLang="en-US" sz="1700" b="1" dirty="0">
                <a:ea typeface="宋体" panose="02010600030101010101" pitchFamily="2" charset="-122"/>
              </a:rPr>
              <a:t>值为</a:t>
            </a:r>
            <a:r>
              <a:rPr lang="en-US" altLang="zh-CN" sz="1700" b="1" dirty="0">
                <a:ea typeface="宋体" panose="02010600030101010101" pitchFamily="2" charset="-122"/>
              </a:rPr>
              <a:t>3</a:t>
            </a:r>
            <a:endParaRPr lang="en-US" altLang="zh-CN" sz="1700" b="1" dirty="0">
              <a:ea typeface="宋体" panose="02010600030101010101" pitchFamily="2" charset="-122"/>
            </a:endParaRPr>
          </a:p>
          <a:p>
            <a:pPr lvl="3">
              <a:buFont typeface="Wingdings" panose="05000000000000000000" pitchFamily="2" charset="2"/>
              <a:buNone/>
            </a:pPr>
            <a:r>
              <a:rPr lang="en-US" altLang="zh-CN" sz="1700" i="1" dirty="0">
                <a:ea typeface="宋体" panose="02010600030101010101" pitchFamily="2" charset="-122"/>
              </a:rPr>
              <a:t>length</a:t>
            </a:r>
            <a:r>
              <a:rPr lang="en-US" altLang="zh-CN" sz="1700" b="1" dirty="0">
                <a:ea typeface="宋体" panose="02010600030101010101" pitchFamily="2" charset="-122"/>
              </a:rPr>
              <a:t>( [ 10 , 9 , 8 ,</a:t>
            </a:r>
            <a:r>
              <a:rPr lang="zh-CN" altLang="en-US" sz="1700" b="1" dirty="0">
                <a:ea typeface="宋体" panose="02010600030101010101" pitchFamily="2" charset="-122"/>
              </a:rPr>
              <a:t> </a:t>
            </a:r>
            <a:r>
              <a:rPr lang="en-US" altLang="zh-CN" sz="1700" b="1" dirty="0">
                <a:ea typeface="宋体" panose="02010600030101010101" pitchFamily="2" charset="-122"/>
              </a:rPr>
              <a:t>7</a:t>
            </a:r>
            <a:r>
              <a:rPr lang="zh-CN" altLang="en-US" sz="1700" b="1" dirty="0">
                <a:ea typeface="宋体" panose="02010600030101010101" pitchFamily="2" charset="-122"/>
              </a:rPr>
              <a:t> </a:t>
            </a:r>
            <a:r>
              <a:rPr lang="en-US" altLang="zh-CN" sz="1700" b="1" dirty="0">
                <a:ea typeface="宋体" panose="02010600030101010101" pitchFamily="2" charset="-122"/>
              </a:rPr>
              <a:t>] );</a:t>
            </a:r>
            <a:r>
              <a:rPr lang="zh-CN" altLang="en-US" sz="1700" b="1" dirty="0">
                <a:ea typeface="宋体" panose="02010600030101010101" pitchFamily="2" charset="-122"/>
              </a:rPr>
              <a:t> 值为</a:t>
            </a:r>
            <a:r>
              <a:rPr lang="en-US" altLang="zh-CN" sz="1700" b="1" dirty="0">
                <a:ea typeface="宋体" panose="02010600030101010101" pitchFamily="2" charset="-122"/>
              </a:rPr>
              <a:t>4</a:t>
            </a:r>
            <a:endParaRPr lang="en-US" altLang="zh-CN" sz="1700" b="1" dirty="0">
              <a:ea typeface="宋体" panose="02010600030101010101" pitchFamily="2" charset="-122"/>
            </a:endParaRPr>
          </a:p>
          <a:p>
            <a:pPr lvl="3">
              <a:buFont typeface="Wingdings" panose="05000000000000000000" pitchFamily="2" charset="2"/>
              <a:buNone/>
            </a:pPr>
            <a:r>
              <a:rPr lang="zh-CN" altLang="en-US" sz="1700" b="1" dirty="0">
                <a:ea typeface="宋体" panose="02010600030101010101" pitchFamily="2" charset="-122"/>
              </a:rPr>
              <a:t>这两个函数调用还可以做运算，其和为</a:t>
            </a:r>
            <a:r>
              <a:rPr lang="en-US" altLang="zh-CN" sz="1700" b="1" dirty="0">
                <a:ea typeface="宋体" panose="02010600030101010101" pitchFamily="2" charset="-122"/>
              </a:rPr>
              <a:t>7</a:t>
            </a:r>
            <a:endParaRPr lang="en-US" altLang="zh-CN" sz="1700" b="1" dirty="0">
              <a:ea typeface="宋体" panose="02010600030101010101" pitchFamily="2" charset="-122"/>
            </a:endParaRPr>
          </a:p>
          <a:p>
            <a:pPr lvl="3">
              <a:buFont typeface="Monotype Sorts" pitchFamily="2" charset="2"/>
              <a:buChar char="ä"/>
            </a:pPr>
            <a:r>
              <a:rPr lang="en-US" altLang="zh-CN" sz="1700" b="1" dirty="0">
                <a:ea typeface="宋体" panose="02010600030101010101" pitchFamily="2" charset="-122"/>
              </a:rPr>
              <a:t>ML</a:t>
            </a:r>
            <a:r>
              <a:rPr lang="zh-CN" altLang="en-US" sz="1700" b="1" dirty="0">
                <a:ea typeface="宋体" panose="02010600030101010101" pitchFamily="2" charset="-122"/>
              </a:rPr>
              <a:t>的算法对这两个例子都可以直接进行计算</a:t>
            </a:r>
            <a:endParaRPr lang="zh-CN" altLang="en-US" sz="1700" b="1" dirty="0">
              <a:ea typeface="宋体" panose="02010600030101010101" pitchFamily="2" charset="-122"/>
            </a:endParaRPr>
          </a:p>
          <a:p>
            <a:pPr lvl="3">
              <a:buFont typeface="Monotype Sorts" pitchFamily="2" charset="2"/>
              <a:buChar char="ä"/>
            </a:pPr>
            <a:r>
              <a:rPr lang="en-US" altLang="zh-CN" sz="1700" b="1" dirty="0">
                <a:ea typeface="宋体" panose="02010600030101010101" pitchFamily="2" charset="-122"/>
              </a:rPr>
              <a:t>Pascal</a:t>
            </a:r>
            <a:r>
              <a:rPr lang="zh-CN" altLang="en-US" sz="1700" b="1" dirty="0">
                <a:ea typeface="宋体" panose="02010600030101010101" pitchFamily="2" charset="-122"/>
              </a:rPr>
              <a:t>的算法对第二个例子可以直接进行计算，而对一个例子要修改算法</a:t>
            </a:r>
            <a:endParaRPr lang="zh-CN" altLang="en-US" sz="1700" b="1" dirty="0">
              <a:ea typeface="宋体" panose="02010600030101010101" pitchFamily="2" charset="-122"/>
            </a:endParaRPr>
          </a:p>
        </p:txBody>
      </p:sp>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类型推导和多态函数（4）</a:t>
            </a:r>
            <a:endParaRPr lang="zh-CN" altLang="en-US" dirty="0">
              <a:latin typeface="Times New Roman" panose="02020603050405020304" pitchFamily="18" charset="0"/>
              <a:ea typeface="宋体" panose="02010600030101010101" pitchFamily="2" charset="-122"/>
            </a:endParaRPr>
          </a:p>
        </p:txBody>
      </p:sp>
      <p:sp>
        <p:nvSpPr>
          <p:cNvPr id="186371" name="Rectangle 3"/>
          <p:cNvSpPr>
            <a:spLocks noGrp="1"/>
          </p:cNvSpPr>
          <p:nvPr>
            <p:ph idx="1"/>
          </p:nvPr>
        </p:nvSpPr>
        <p:spPr>
          <a:xfrm>
            <a:off x="990600" y="1371600"/>
            <a:ext cx="7391400" cy="4724400"/>
          </a:xfrm>
        </p:spPr>
        <p:txBody>
          <a:bodyPr vert="horz" wrap="square" lIns="92075" tIns="46038" rIns="92075" bIns="46038" anchor="t" anchorCtr="0"/>
          <a:p>
            <a:r>
              <a:rPr lang="zh-CN" altLang="en-US" sz="2400" b="1" dirty="0">
                <a:ea typeface="宋体" panose="02010600030101010101" pitchFamily="2" charset="-122"/>
              </a:rPr>
              <a:t>类型变量：用变量表示类型</a:t>
            </a:r>
            <a:endParaRPr lang="zh-CN" altLang="en-US" sz="2400" b="1" dirty="0">
              <a:ea typeface="宋体" panose="02010600030101010101" pitchFamily="2" charset="-122"/>
            </a:endParaRPr>
          </a:p>
          <a:p>
            <a:pPr lvl="1"/>
            <a:r>
              <a:rPr lang="zh-CN" altLang="en-US" sz="2200" b="1" dirty="0">
                <a:ea typeface="宋体" panose="02010600030101010101" pitchFamily="2" charset="-122"/>
              </a:rPr>
              <a:t>如何描述函数</a:t>
            </a:r>
            <a:r>
              <a:rPr lang="en-US" altLang="zh-CN" sz="2200" b="1" dirty="0">
                <a:ea typeface="宋体" panose="02010600030101010101" pitchFamily="2" charset="-122"/>
              </a:rPr>
              <a:t>length</a:t>
            </a:r>
            <a:r>
              <a:rPr lang="zh-CN" altLang="en-US" sz="2200" b="1" dirty="0">
                <a:ea typeface="宋体" panose="02010600030101010101" pitchFamily="2" charset="-122"/>
              </a:rPr>
              <a:t>的类型？</a:t>
            </a:r>
            <a:endParaRPr lang="en-US" altLang="zh-CN" sz="2200" b="1" dirty="0">
              <a:ea typeface="宋体" panose="02010600030101010101" pitchFamily="2" charset="-122"/>
            </a:endParaRPr>
          </a:p>
          <a:p>
            <a:pPr lvl="2"/>
            <a:r>
              <a:rPr lang="zh-CN" altLang="en-US" sz="2000" b="1" dirty="0">
                <a:ea typeface="宋体" panose="02010600030101010101" pitchFamily="2" charset="-122"/>
              </a:rPr>
              <a:t>引入类型变量</a:t>
            </a:r>
            <a:r>
              <a:rPr lang="el-GR" altLang="zh-CN" sz="2000" b="1" dirty="0">
                <a:ea typeface="宋体" panose="02010600030101010101" pitchFamily="2" charset="-122"/>
              </a:rPr>
              <a:t>α</a:t>
            </a:r>
            <a:r>
              <a:rPr lang="zh-CN" altLang="en-US" sz="2000" b="1" dirty="0">
                <a:ea typeface="宋体" panose="02010600030101010101" pitchFamily="2" charset="-122"/>
              </a:rPr>
              <a:t>和全称量词   ，则其类型如下</a:t>
            </a:r>
            <a:endParaRPr lang="en-US" altLang="zh-CN" sz="2000" b="1" dirty="0">
              <a:ea typeface="宋体" panose="02010600030101010101" pitchFamily="2" charset="-122"/>
            </a:endParaRPr>
          </a:p>
          <a:p>
            <a:pPr lvl="2"/>
            <a:endParaRPr lang="en-US" altLang="zh-CN" sz="2000" b="1" dirty="0">
              <a:ea typeface="宋体" panose="02010600030101010101" pitchFamily="2" charset="-122"/>
            </a:endParaRPr>
          </a:p>
          <a:p>
            <a:pPr lvl="1"/>
            <a:r>
              <a:rPr lang="zh-CN" altLang="en-US" sz="2200" b="1" dirty="0">
                <a:ea typeface="宋体" panose="02010600030101010101" pitchFamily="2" charset="-122"/>
              </a:rPr>
              <a:t>在不要求先声明后使用的语言中，类型变量可以检查标识符使用的一致性</a:t>
            </a:r>
            <a:endParaRPr lang="zh-CN" altLang="en-US" sz="2200" b="1" dirty="0">
              <a:ea typeface="宋体" panose="02010600030101010101" pitchFamily="2" charset="-122"/>
            </a:endParaRPr>
          </a:p>
          <a:p>
            <a:pPr lvl="2"/>
            <a:r>
              <a:rPr lang="zh-CN" altLang="en-US" sz="2000" b="1" dirty="0">
                <a:ea typeface="宋体" panose="02010600030101010101" pitchFamily="2" charset="-122"/>
              </a:rPr>
              <a:t>如果同一个未声明的程序变量的不同出现作为不同的类型属性的变量使用，则可以报告使用不一致的错误</a:t>
            </a:r>
            <a:endParaRPr lang="zh-CN" altLang="en-US" sz="2000" b="1" dirty="0">
              <a:ea typeface="宋体" panose="02010600030101010101" pitchFamily="2" charset="-122"/>
            </a:endParaRPr>
          </a:p>
          <a:p>
            <a:pPr lvl="2"/>
            <a:r>
              <a:rPr lang="zh-CN" altLang="en-US" sz="2000" b="1" dirty="0">
                <a:ea typeface="宋体" panose="02010600030101010101" pitchFamily="2" charset="-122"/>
              </a:rPr>
              <a:t>如果同一个未声明的程序变量的不同出现使用的类型属性的是唯一的，则可以保证使用的一致性，并由此得到变量的类型属性</a:t>
            </a:r>
            <a:endParaRPr lang="zh-CN" altLang="en-US" sz="2000" b="1" dirty="0">
              <a:ea typeface="宋体" panose="02010600030101010101" pitchFamily="2" charset="-122"/>
            </a:endParaRPr>
          </a:p>
          <a:p>
            <a:pPr lvl="1"/>
            <a:r>
              <a:rPr lang="zh-CN" altLang="en-US" sz="2200" b="1" dirty="0">
                <a:ea typeface="宋体" panose="02010600030101010101" pitchFamily="2" charset="-122"/>
              </a:rPr>
              <a:t>类型推导：</a:t>
            </a:r>
            <a:endParaRPr lang="zh-CN" altLang="en-US" sz="2200" b="1" dirty="0">
              <a:ea typeface="宋体" panose="02010600030101010101" pitchFamily="2" charset="-122"/>
            </a:endParaRPr>
          </a:p>
          <a:p>
            <a:pPr lvl="2"/>
            <a:r>
              <a:rPr lang="zh-CN" altLang="en-US" sz="2000" b="1" dirty="0">
                <a:ea typeface="宋体" panose="02010600030101010101" pitchFamily="2" charset="-122"/>
              </a:rPr>
              <a:t>从语言结构的使用方式推导其类型</a:t>
            </a:r>
            <a:endParaRPr lang="zh-CN" altLang="en-US" sz="2000" b="1" dirty="0">
              <a:ea typeface="宋体" panose="02010600030101010101" pitchFamily="2" charset="-122"/>
            </a:endParaRPr>
          </a:p>
        </p:txBody>
      </p:sp>
      <p:graphicFrame>
        <p:nvGraphicFramePr>
          <p:cNvPr id="186372" name="Object 4"/>
          <p:cNvGraphicFramePr>
            <a:graphicFrameLocks noChangeAspect="1"/>
          </p:cNvGraphicFramePr>
          <p:nvPr/>
        </p:nvGraphicFramePr>
        <p:xfrm>
          <a:off x="5148263" y="2260600"/>
          <a:ext cx="280987" cy="304800"/>
        </p:xfrm>
        <a:graphic>
          <a:graphicData uri="http://schemas.openxmlformats.org/presentationml/2006/ole">
            <mc:AlternateContent xmlns:mc="http://schemas.openxmlformats.org/markup-compatibility/2006">
              <mc:Choice xmlns:v="urn:schemas-microsoft-com:vml" Requires="v">
                <p:oleObj spid="_x0000_s3085" name="" r:id="rId1" imgW="152400" imgH="165100" progId="Equation.3">
                  <p:embed/>
                </p:oleObj>
              </mc:Choice>
              <mc:Fallback>
                <p:oleObj name="" r:id="rId1" imgW="152400" imgH="165100" progId="Equation.3">
                  <p:embed/>
                  <p:pic>
                    <p:nvPicPr>
                      <p:cNvPr id="0" name="图片 3084"/>
                      <p:cNvPicPr/>
                      <p:nvPr/>
                    </p:nvPicPr>
                    <p:blipFill>
                      <a:blip r:embed="rId2"/>
                      <a:stretch>
                        <a:fillRect/>
                      </a:stretch>
                    </p:blipFill>
                    <p:spPr>
                      <a:xfrm>
                        <a:off x="5148263" y="2260600"/>
                        <a:ext cx="280987" cy="304800"/>
                      </a:xfrm>
                      <a:prstGeom prst="rect">
                        <a:avLst/>
                      </a:prstGeom>
                      <a:noFill/>
                      <a:ln w="38100">
                        <a:noFill/>
                        <a:miter/>
                      </a:ln>
                    </p:spPr>
                  </p:pic>
                </p:oleObj>
              </mc:Fallback>
            </mc:AlternateContent>
          </a:graphicData>
        </a:graphic>
      </p:graphicFrame>
      <p:graphicFrame>
        <p:nvGraphicFramePr>
          <p:cNvPr id="186373" name="Object 5"/>
          <p:cNvGraphicFramePr>
            <a:graphicFrameLocks noChangeAspect="1"/>
          </p:cNvGraphicFramePr>
          <p:nvPr/>
        </p:nvGraphicFramePr>
        <p:xfrm>
          <a:off x="2906713" y="2549525"/>
          <a:ext cx="2646362" cy="374650"/>
        </p:xfrm>
        <a:graphic>
          <a:graphicData uri="http://schemas.openxmlformats.org/presentationml/2006/ole">
            <mc:AlternateContent xmlns:mc="http://schemas.openxmlformats.org/markup-compatibility/2006">
              <mc:Choice xmlns:v="urn:schemas-microsoft-com:vml" Requires="v">
                <p:oleObj spid="_x0000_s3088" name="" r:id="rId3" imgW="1435100" imgH="203200" progId="Equation.3">
                  <p:embed/>
                </p:oleObj>
              </mc:Choice>
              <mc:Fallback>
                <p:oleObj name="" r:id="rId3" imgW="1435100" imgH="203200" progId="Equation.3">
                  <p:embed/>
                  <p:pic>
                    <p:nvPicPr>
                      <p:cNvPr id="0" name="图片 3087"/>
                      <p:cNvPicPr/>
                      <p:nvPr/>
                    </p:nvPicPr>
                    <p:blipFill>
                      <a:blip r:embed="rId4"/>
                      <a:stretch>
                        <a:fillRect/>
                      </a:stretch>
                    </p:blipFill>
                    <p:spPr>
                      <a:xfrm>
                        <a:off x="2906713" y="2549525"/>
                        <a:ext cx="2646362" cy="374650"/>
                      </a:xfrm>
                      <a:prstGeom prst="rect">
                        <a:avLst/>
                      </a:prstGeom>
                      <a:noFill/>
                      <a:ln w="38100">
                        <a:noFill/>
                        <a:miter/>
                      </a:ln>
                    </p:spPr>
                  </p:pic>
                </p:oleObj>
              </mc:Fallback>
            </mc:AlternateContent>
          </a:graphicData>
        </a:graphic>
      </p:graphicFrame>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类型推导和多态函数（5）</a:t>
            </a:r>
            <a:endParaRPr lang="zh-CN" altLang="en-US" dirty="0">
              <a:latin typeface="Times New Roman" panose="02020603050405020304" pitchFamily="18" charset="0"/>
              <a:ea typeface="宋体" panose="02010600030101010101" pitchFamily="2" charset="-122"/>
            </a:endParaRPr>
          </a:p>
        </p:txBody>
      </p:sp>
      <p:sp>
        <p:nvSpPr>
          <p:cNvPr id="190467" name="Rectangle 3"/>
          <p:cNvSpPr>
            <a:spLocks noGrp="1" noChangeArrowheads="1"/>
          </p:cNvSpPr>
          <p:nvPr>
            <p:ph idx="1"/>
          </p:nvPr>
        </p:nvSpPr>
        <p:spPr>
          <a:xfrm>
            <a:off x="990600" y="1524000"/>
            <a:ext cx="7391400" cy="4876800"/>
          </a:xfrm>
        </p:spPr>
        <p:txBody>
          <a:bodyPr vert="horz" wrap="square" lIns="92075" tIns="46038" rIns="92075" bIns="46038" numCol="1" anchor="t" anchorCtr="0" compatLnSpc="1"/>
          <a:lstStyle/>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类型推导与类型检查有很多共通的地方，都要处理包含变量的类型表达式</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例：对于函数</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length</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的非正式的类型推导：</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依据的规则是</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ppt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第</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75</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页的</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if</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f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是一个表达式</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then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对某些</a:t>
            </a:r>
            <a:r>
              <a:rPr kumimoji="0" lang="el-GR"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α</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l-GR"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β</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 f</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的类型为</a:t>
            </a:r>
            <a:r>
              <a:rPr kumimoji="0" lang="el-GR"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α→β</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且</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的类型为</a:t>
            </a:r>
            <a:r>
              <a:rPr kumimoji="0" lang="el-GR"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α</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函数体：</a:t>
            </a:r>
            <a:r>
              <a:rPr kumimoji="0" lang="en-US" altLang="zh-CN" sz="1700" b="1" i="0" u="none" strike="noStrike" kern="0" cap="none" spc="0" normalizeH="0" baseline="0" noProof="0" dirty="0">
                <a:ln>
                  <a:noFill/>
                </a:ln>
                <a:solidFill>
                  <a:schemeClr val="tx1"/>
                </a:solidFill>
                <a:effectLst/>
                <a:uLnTx/>
                <a:uFillTx/>
                <a:latin typeface="+mn-lt"/>
                <a:ea typeface="宋体" panose="02010600030101010101" pitchFamily="2" charset="-122"/>
              </a:rPr>
              <a:t>fun </a:t>
            </a:r>
            <a:r>
              <a:rPr kumimoji="0" lang="en-US" altLang="zh-CN" sz="1700" b="0" i="1" u="none" strike="noStrike" kern="0" cap="none" spc="0" normalizeH="0" baseline="0" noProof="0" dirty="0">
                <a:ln>
                  <a:noFill/>
                </a:ln>
                <a:solidFill>
                  <a:schemeClr val="tx1"/>
                </a:solidFill>
                <a:effectLst/>
                <a:uLnTx/>
                <a:uFillTx/>
                <a:latin typeface="+mn-lt"/>
                <a:ea typeface="宋体" panose="02010600030101010101" pitchFamily="2" charset="-122"/>
              </a:rPr>
              <a:t>length</a:t>
            </a:r>
            <a:r>
              <a:rPr kumimoji="0" lang="en-US" altLang="zh-CN" sz="17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17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700" b="0"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1700" b="1" i="0" u="none" strike="noStrike" kern="0" cap="none" spc="0" normalizeH="0" baseline="0" noProof="0" dirty="0">
                <a:ln>
                  <a:noFill/>
                </a:ln>
                <a:solidFill>
                  <a:schemeClr val="tx1"/>
                </a:solidFill>
                <a:effectLst/>
                <a:uLnTx/>
                <a:uFillTx/>
                <a:latin typeface="+mn-lt"/>
                <a:ea typeface="宋体" panose="02010600030101010101" pitchFamily="2" charset="-122"/>
              </a:rPr>
              <a:t> ) =</a:t>
            </a:r>
            <a:endParaRPr kumimoji="0" lang="en-US" altLang="zh-CN" sz="17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Wingdings" panose="05000000000000000000" pitchFamily="2" charset="2"/>
              <a:buNone/>
              <a:defRPr/>
            </a:pPr>
            <a:r>
              <a:rPr kumimoji="0" lang="en-US" altLang="zh-CN" sz="1700" b="1" i="0" u="none" strike="noStrike" kern="0" cap="none" spc="0" normalizeH="0" baseline="0" noProof="0" dirty="0">
                <a:ln>
                  <a:noFill/>
                </a:ln>
                <a:solidFill>
                  <a:schemeClr val="tx1"/>
                </a:solidFill>
                <a:effectLst/>
                <a:uLnTx/>
                <a:uFillTx/>
                <a:latin typeface="+mn-lt"/>
                <a:ea typeface="宋体" panose="02010600030101010101" pitchFamily="2" charset="-122"/>
              </a:rPr>
              <a:t>			if  </a:t>
            </a:r>
            <a:r>
              <a:rPr kumimoji="0" lang="en-US" altLang="zh-CN" sz="1700" b="0" i="1" u="none" strike="noStrike" kern="0" cap="none" spc="0" normalizeH="0" baseline="0" noProof="0" dirty="0">
                <a:ln>
                  <a:noFill/>
                </a:ln>
                <a:solidFill>
                  <a:schemeClr val="tx1"/>
                </a:solidFill>
                <a:effectLst/>
                <a:uLnTx/>
                <a:uFillTx/>
                <a:latin typeface="+mn-lt"/>
                <a:ea typeface="宋体" panose="02010600030101010101" pitchFamily="2" charset="-122"/>
              </a:rPr>
              <a:t>null</a:t>
            </a:r>
            <a:r>
              <a:rPr kumimoji="0" lang="en-US" altLang="zh-CN" sz="17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7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700" b="0"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1700" b="1" i="0" u="none" strike="noStrike" kern="0" cap="none" spc="0" normalizeH="0" baseline="0" noProof="0" dirty="0">
                <a:ln>
                  <a:noFill/>
                </a:ln>
                <a:solidFill>
                  <a:schemeClr val="tx1"/>
                </a:solidFill>
                <a:effectLst/>
                <a:uLnTx/>
                <a:uFillTx/>
                <a:latin typeface="+mn-lt"/>
                <a:ea typeface="宋体" panose="02010600030101010101" pitchFamily="2" charset="-122"/>
              </a:rPr>
              <a:t> )  then 0</a:t>
            </a:r>
            <a:r>
              <a:rPr kumimoji="0" lang="zh-CN" altLang="en-US" sz="17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700" b="1" i="0" u="none" strike="noStrike" kern="0" cap="none" spc="0" normalizeH="0" baseline="0" noProof="0" dirty="0">
                <a:ln>
                  <a:noFill/>
                </a:ln>
                <a:solidFill>
                  <a:schemeClr val="tx1"/>
                </a:solidFill>
                <a:effectLst/>
                <a:uLnTx/>
                <a:uFillTx/>
                <a:latin typeface="+mn-lt"/>
                <a:ea typeface="宋体" panose="02010600030101010101" pitchFamily="2" charset="-122"/>
              </a:rPr>
              <a:t>else </a:t>
            </a:r>
            <a:r>
              <a:rPr kumimoji="0" lang="en-US" altLang="zh-CN" sz="1700" b="0" i="1" u="none" strike="noStrike" kern="0" cap="none" spc="0" normalizeH="0" baseline="0" noProof="0" dirty="0">
                <a:ln>
                  <a:noFill/>
                </a:ln>
                <a:solidFill>
                  <a:schemeClr val="tx1"/>
                </a:solidFill>
                <a:effectLst/>
                <a:uLnTx/>
                <a:uFillTx/>
                <a:latin typeface="+mn-lt"/>
                <a:ea typeface="宋体" panose="02010600030101010101" pitchFamily="2" charset="-122"/>
              </a:rPr>
              <a:t>length</a:t>
            </a:r>
            <a:r>
              <a:rPr kumimoji="0" lang="en-US" altLang="zh-CN" sz="17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700" b="0" i="1" u="none" strike="noStrike" kern="0" cap="none" spc="0" normalizeH="0" baseline="0" noProof="0" dirty="0" err="1">
                <a:ln>
                  <a:noFill/>
                </a:ln>
                <a:solidFill>
                  <a:schemeClr val="tx1"/>
                </a:solidFill>
                <a:effectLst/>
                <a:uLnTx/>
                <a:uFillTx/>
                <a:latin typeface="+mn-lt"/>
                <a:ea typeface="宋体" panose="02010600030101010101" pitchFamily="2" charset="-122"/>
              </a:rPr>
              <a:t>tl</a:t>
            </a:r>
            <a:r>
              <a:rPr kumimoji="0" lang="en-US" altLang="zh-CN" sz="17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700" b="0"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1700" b="1" i="0" u="none" strike="noStrike" kern="0" cap="none" spc="0" normalizeH="0" baseline="0" noProof="0" dirty="0">
                <a:ln>
                  <a:noFill/>
                </a:ln>
                <a:solidFill>
                  <a:schemeClr val="tx1"/>
                </a:solidFill>
                <a:effectLst/>
                <a:uLnTx/>
                <a:uFillTx/>
                <a:latin typeface="+mn-lt"/>
                <a:ea typeface="宋体" panose="02010600030101010101" pitchFamily="2" charset="-122"/>
              </a:rPr>
              <a:t> ) ) + 1;</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其对应的抽象语法分析树如下页</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由于</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null</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的出现，可知</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是一个列表，其元素类型暂定为</a:t>
            </a:r>
            <a:r>
              <a:rPr kumimoji="0" lang="el-GR"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α</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，所以</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的类型是</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list(</a:t>
            </a:r>
            <a:r>
              <a:rPr kumimoji="0" lang="el-GR"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α</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如果</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null(x)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为真，则</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length(x)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为</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0</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，所以</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length</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的类型应该是</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上述类型表达式与</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null(x)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为假时的使用是一致的</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graphicFrame>
        <p:nvGraphicFramePr>
          <p:cNvPr id="188420" name="Object 5"/>
          <p:cNvGraphicFramePr>
            <a:graphicFrameLocks noChangeAspect="1"/>
          </p:cNvGraphicFramePr>
          <p:nvPr/>
        </p:nvGraphicFramePr>
        <p:xfrm>
          <a:off x="2933700" y="5373688"/>
          <a:ext cx="2646363" cy="374650"/>
        </p:xfrm>
        <a:graphic>
          <a:graphicData uri="http://schemas.openxmlformats.org/presentationml/2006/ole">
            <mc:AlternateContent xmlns:mc="http://schemas.openxmlformats.org/markup-compatibility/2006">
              <mc:Choice xmlns:v="urn:schemas-microsoft-com:vml" Requires="v">
                <p:oleObj spid="_x0000_s3087" name="" r:id="rId1" imgW="1435100" imgH="203200" progId="Equation.3">
                  <p:embed/>
                </p:oleObj>
              </mc:Choice>
              <mc:Fallback>
                <p:oleObj name="" r:id="rId1" imgW="1435100" imgH="203200" progId="Equation.3">
                  <p:embed/>
                  <p:pic>
                    <p:nvPicPr>
                      <p:cNvPr id="0" name="图片 3086"/>
                      <p:cNvPicPr/>
                      <p:nvPr/>
                    </p:nvPicPr>
                    <p:blipFill>
                      <a:blip r:embed="rId2"/>
                      <a:stretch>
                        <a:fillRect/>
                      </a:stretch>
                    </p:blipFill>
                    <p:spPr>
                      <a:xfrm>
                        <a:off x="2933700" y="5373688"/>
                        <a:ext cx="2646363" cy="374650"/>
                      </a:xfrm>
                      <a:prstGeom prst="rect">
                        <a:avLst/>
                      </a:prstGeom>
                      <a:noFill/>
                      <a:ln w="38100">
                        <a:noFill/>
                        <a:miter/>
                      </a:ln>
                    </p:spPr>
                  </p:pic>
                </p:oleObj>
              </mc:Fallback>
            </mc:AlternateContent>
          </a:graphicData>
        </a:graphic>
      </p:graphicFrame>
    </p:spTree>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0466" name="Picture 2"/>
          <p:cNvPicPr>
            <a:picLocks noChangeAspect="1"/>
          </p:cNvPicPr>
          <p:nvPr/>
        </p:nvPicPr>
        <p:blipFill>
          <a:blip r:embed="rId1"/>
          <a:stretch>
            <a:fillRect/>
          </a:stretch>
        </p:blipFill>
        <p:spPr>
          <a:xfrm>
            <a:off x="0" y="914400"/>
            <a:ext cx="9144000" cy="4083050"/>
          </a:xfrm>
          <a:prstGeom prst="rect">
            <a:avLst/>
          </a:prstGeom>
          <a:noFill/>
          <a:ln w="9525">
            <a:noFill/>
          </a:ln>
        </p:spPr>
      </p:pic>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类型推导和多态函数（6）</a:t>
            </a:r>
            <a:endParaRPr lang="zh-CN" altLang="en-US" dirty="0">
              <a:latin typeface="Times New Roman" panose="02020603050405020304" pitchFamily="18" charset="0"/>
              <a:ea typeface="宋体" panose="02010600030101010101" pitchFamily="2" charset="-122"/>
            </a:endParaRPr>
          </a:p>
        </p:txBody>
      </p:sp>
      <p:sp>
        <p:nvSpPr>
          <p:cNvPr id="191491" name="Rectangle 3"/>
          <p:cNvSpPr>
            <a:spLocks noGrp="1"/>
          </p:cNvSpPr>
          <p:nvPr>
            <p:ph idx="1"/>
          </p:nvPr>
        </p:nvSpPr>
        <p:spPr>
          <a:xfrm>
            <a:off x="990600" y="1524000"/>
            <a:ext cx="7391400" cy="5105400"/>
          </a:xfrm>
        </p:spPr>
        <p:txBody>
          <a:bodyPr vert="horz" wrap="square" lIns="92075" tIns="46038" rIns="92075" bIns="46038" anchor="t" anchorCtr="0"/>
          <a:p>
            <a:pPr lvl="1"/>
            <a:r>
              <a:rPr lang="zh-CN" altLang="en-US" sz="2200" b="1" dirty="0">
                <a:ea typeface="宋体" panose="02010600030101010101" pitchFamily="2" charset="-122"/>
              </a:rPr>
              <a:t>另外一个例子：</a:t>
            </a:r>
            <a:endParaRPr lang="zh-CN" altLang="en-US" sz="2200" b="1" dirty="0">
              <a:ea typeface="宋体" panose="02010600030101010101" pitchFamily="2" charset="-122"/>
            </a:endParaRPr>
          </a:p>
          <a:p>
            <a:pPr lvl="2">
              <a:buFont typeface="Wingdings" panose="05000000000000000000" pitchFamily="2" charset="2"/>
              <a:buNone/>
            </a:pPr>
            <a:r>
              <a:rPr lang="zh-CN" altLang="en-US" sz="2000" b="1" dirty="0">
                <a:ea typeface="宋体" panose="02010600030101010101" pitchFamily="2" charset="-122"/>
              </a:rPr>
              <a:t>例：多态函数</a:t>
            </a:r>
            <a:r>
              <a:rPr lang="en-US" altLang="zh-CN" sz="2000" b="1" dirty="0">
                <a:ea typeface="宋体" panose="02010600030101010101" pitchFamily="2" charset="-122"/>
              </a:rPr>
              <a:t>deref</a:t>
            </a:r>
            <a:r>
              <a:rPr lang="zh-CN" altLang="en-US" sz="2000" b="1" dirty="0">
                <a:ea typeface="宋体" panose="02010600030101010101" pitchFamily="2" charset="-122"/>
              </a:rPr>
              <a:t>的类型</a:t>
            </a:r>
            <a:endParaRPr lang="zh-CN" altLang="en-US" sz="2000" b="1" dirty="0">
              <a:ea typeface="宋体" panose="02010600030101010101" pitchFamily="2" charset="-122"/>
            </a:endParaRPr>
          </a:p>
          <a:p>
            <a:pPr lvl="2">
              <a:buFont typeface="Wingdings" panose="05000000000000000000" pitchFamily="2" charset="2"/>
              <a:buNone/>
            </a:pPr>
            <a:r>
              <a:rPr lang="zh-CN" altLang="en-US" sz="2000" b="1" dirty="0">
                <a:ea typeface="宋体" panose="02010600030101010101" pitchFamily="2" charset="-122"/>
              </a:rPr>
              <a:t>	</a:t>
            </a:r>
            <a:r>
              <a:rPr lang="en-US" altLang="zh-CN" sz="2000" b="1" dirty="0">
                <a:ea typeface="宋体" panose="02010600030101010101" pitchFamily="2" charset="-122"/>
              </a:rPr>
              <a:t>function deref( p );</a:t>
            </a:r>
            <a:endParaRPr lang="en-US" altLang="zh-CN"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	begin</a:t>
            </a:r>
            <a:endParaRPr lang="en-US" altLang="zh-CN"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		return p↑</a:t>
            </a:r>
            <a:endParaRPr lang="en-US" altLang="zh-CN"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	end;</a:t>
            </a:r>
            <a:endParaRPr lang="en-US" altLang="zh-CN" sz="2000" b="1" dirty="0">
              <a:ea typeface="宋体" panose="02010600030101010101" pitchFamily="2" charset="-122"/>
            </a:endParaRPr>
          </a:p>
          <a:p>
            <a:pPr lvl="2">
              <a:buChar char="•"/>
            </a:pPr>
            <a:r>
              <a:rPr lang="zh-CN" altLang="en-US" sz="2000" b="1" dirty="0">
                <a:ea typeface="宋体" panose="02010600030101010101" pitchFamily="2" charset="-122"/>
              </a:rPr>
              <a:t>在</a:t>
            </a:r>
            <a:r>
              <a:rPr lang="en-US" altLang="zh-CN" sz="2000" b="1" dirty="0">
                <a:ea typeface="宋体" panose="02010600030101010101" pitchFamily="2" charset="-122"/>
              </a:rPr>
              <a:t>p</a:t>
            </a:r>
            <a:r>
              <a:rPr lang="zh-CN" altLang="en-US" sz="2000" b="1" dirty="0">
                <a:ea typeface="宋体" panose="02010600030101010101" pitchFamily="2" charset="-122"/>
              </a:rPr>
              <a:t>的第一次出现，由于对</a:t>
            </a:r>
            <a:r>
              <a:rPr lang="en-US" altLang="zh-CN" sz="2000" b="1" dirty="0">
                <a:ea typeface="宋体" panose="02010600030101010101" pitchFamily="2" charset="-122"/>
              </a:rPr>
              <a:t>p</a:t>
            </a:r>
            <a:r>
              <a:rPr lang="zh-CN" altLang="en-US" sz="2000" b="1" dirty="0">
                <a:ea typeface="宋体" panose="02010600030101010101" pitchFamily="2" charset="-122"/>
              </a:rPr>
              <a:t>的类型不知道，因而用类型变量</a:t>
            </a:r>
            <a:r>
              <a:rPr lang="en-US" altLang="zh-CN" sz="2000" b="1" i="1" dirty="0">
                <a:ea typeface="宋体" panose="02010600030101010101" pitchFamily="2" charset="-122"/>
              </a:rPr>
              <a:t>β</a:t>
            </a:r>
            <a:r>
              <a:rPr lang="zh-CN" altLang="en-US" sz="2000" b="1" dirty="0">
                <a:ea typeface="宋体" panose="02010600030101010101" pitchFamily="2" charset="-122"/>
              </a:rPr>
              <a:t>代表它的类型</a:t>
            </a:r>
            <a:endParaRPr lang="zh-CN" altLang="en-US" sz="2000" b="1" dirty="0">
              <a:ea typeface="宋体" panose="02010600030101010101" pitchFamily="2" charset="-122"/>
            </a:endParaRPr>
          </a:p>
          <a:p>
            <a:pPr lvl="2">
              <a:buChar char="•"/>
            </a:pPr>
            <a:r>
              <a:rPr lang="zh-CN" altLang="en-US" sz="2000" b="1" dirty="0">
                <a:ea typeface="宋体" panose="02010600030101010101" pitchFamily="2" charset="-122"/>
              </a:rPr>
              <a:t>在</a:t>
            </a:r>
            <a:r>
              <a:rPr lang="en-US" altLang="zh-CN" sz="2000" b="1" dirty="0">
                <a:ea typeface="宋体" panose="02010600030101010101" pitchFamily="2" charset="-122"/>
              </a:rPr>
              <a:t>p</a:t>
            </a:r>
            <a:r>
              <a:rPr lang="zh-CN" altLang="en-US" sz="2000" b="1" dirty="0">
                <a:ea typeface="宋体" panose="02010600030101010101" pitchFamily="2" charset="-122"/>
              </a:rPr>
              <a:t>的第二次出现，由于</a:t>
            </a:r>
            <a:r>
              <a:rPr lang="en-US" altLang="zh-CN" sz="2000" b="1" dirty="0">
                <a:ea typeface="宋体" panose="02010600030101010101" pitchFamily="2" charset="-122"/>
              </a:rPr>
              <a:t>↑</a:t>
            </a:r>
            <a:r>
              <a:rPr lang="zh-CN" altLang="en-US" sz="2000" b="1" dirty="0">
                <a:ea typeface="宋体" panose="02010600030101010101" pitchFamily="2" charset="-122"/>
              </a:rPr>
              <a:t>的出现，知道</a:t>
            </a:r>
            <a:r>
              <a:rPr lang="en-US" altLang="zh-CN" sz="2000" b="1" dirty="0">
                <a:ea typeface="宋体" panose="02010600030101010101" pitchFamily="2" charset="-122"/>
              </a:rPr>
              <a:t>p</a:t>
            </a:r>
            <a:r>
              <a:rPr lang="zh-CN" altLang="en-US" sz="2000" b="1" dirty="0">
                <a:ea typeface="宋体" panose="02010600030101010101" pitchFamily="2" charset="-122"/>
              </a:rPr>
              <a:t>必是指向某个未知类型</a:t>
            </a:r>
            <a:r>
              <a:rPr lang="en-US" altLang="zh-CN" sz="2000" b="1" i="1" dirty="0">
                <a:ea typeface="宋体" panose="02010600030101010101" pitchFamily="2" charset="-122"/>
              </a:rPr>
              <a:t>α</a:t>
            </a:r>
            <a:r>
              <a:rPr lang="zh-CN" altLang="en-US" sz="2000" b="1" dirty="0">
                <a:ea typeface="宋体" panose="02010600030101010101" pitchFamily="2" charset="-122"/>
              </a:rPr>
              <a:t>的指针，所以</a:t>
            </a:r>
            <a:r>
              <a:rPr lang="en-US" altLang="zh-CN" sz="2000" b="1" i="1" dirty="0">
                <a:ea typeface="宋体" panose="02010600030101010101" pitchFamily="2" charset="-122"/>
              </a:rPr>
              <a:t>β</a:t>
            </a:r>
            <a:r>
              <a:rPr lang="en-US" altLang="zh-CN" sz="2000" b="1" dirty="0">
                <a:ea typeface="宋体" panose="02010600030101010101" pitchFamily="2" charset="-122"/>
              </a:rPr>
              <a:t>=</a:t>
            </a:r>
            <a:r>
              <a:rPr lang="en-US" altLang="zh-CN" sz="2000" b="1" i="1" dirty="0">
                <a:ea typeface="宋体" panose="02010600030101010101" pitchFamily="2" charset="-122"/>
              </a:rPr>
              <a:t>pointer</a:t>
            </a:r>
            <a:r>
              <a:rPr lang="en-US" altLang="zh-CN" sz="2000" b="1" dirty="0">
                <a:ea typeface="宋体" panose="02010600030101010101" pitchFamily="2" charset="-122"/>
              </a:rPr>
              <a:t>(</a:t>
            </a:r>
            <a:r>
              <a:rPr lang="en-US" altLang="zh-CN" sz="2000" b="1" i="1" dirty="0">
                <a:ea typeface="宋体" panose="02010600030101010101" pitchFamily="2" charset="-122"/>
              </a:rPr>
              <a:t>α</a:t>
            </a:r>
            <a:r>
              <a:rPr lang="en-US" altLang="zh-CN" sz="2000" b="1" dirty="0">
                <a:ea typeface="宋体" panose="02010600030101010101" pitchFamily="2" charset="-122"/>
              </a:rPr>
              <a:t>)，</a:t>
            </a:r>
            <a:r>
              <a:rPr lang="zh-CN" altLang="en-US" sz="2000" b="1" dirty="0">
                <a:ea typeface="宋体" panose="02010600030101010101" pitchFamily="2" charset="-122"/>
              </a:rPr>
              <a:t>所以</a:t>
            </a:r>
            <a:r>
              <a:rPr lang="en-US" altLang="zh-CN" sz="2000" b="1" dirty="0">
                <a:ea typeface="宋体" panose="02010600030101010101" pitchFamily="2" charset="-122"/>
              </a:rPr>
              <a:t>p↑</a:t>
            </a:r>
            <a:r>
              <a:rPr lang="zh-CN" altLang="en-US" sz="2000" b="1" dirty="0">
                <a:ea typeface="宋体" panose="02010600030101010101" pitchFamily="2" charset="-122"/>
              </a:rPr>
              <a:t>的类型是</a:t>
            </a:r>
            <a:r>
              <a:rPr lang="en-US" altLang="zh-CN" sz="2000" b="1" i="1" dirty="0">
                <a:ea typeface="宋体" panose="02010600030101010101" pitchFamily="2" charset="-122"/>
              </a:rPr>
              <a:t>α</a:t>
            </a:r>
            <a:endParaRPr lang="zh-CN" altLang="en-US" sz="2000" b="1" dirty="0">
              <a:ea typeface="宋体" panose="02010600030101010101" pitchFamily="2" charset="-122"/>
            </a:endParaRPr>
          </a:p>
          <a:p>
            <a:pPr lvl="2">
              <a:buChar char="•"/>
            </a:pPr>
            <a:r>
              <a:rPr lang="zh-CN" altLang="en-US" sz="2000" b="1" dirty="0">
                <a:ea typeface="宋体" panose="02010600030101010101" pitchFamily="2" charset="-122"/>
              </a:rPr>
              <a:t>所以函数</a:t>
            </a:r>
            <a:r>
              <a:rPr lang="en-US" altLang="zh-CN" sz="2000" b="1" dirty="0">
                <a:ea typeface="宋体" panose="02010600030101010101" pitchFamily="2" charset="-122"/>
              </a:rPr>
              <a:t>deref</a:t>
            </a:r>
            <a:r>
              <a:rPr lang="zh-CN" altLang="en-US" sz="2000" b="1" dirty="0">
                <a:ea typeface="宋体" panose="02010600030101010101" pitchFamily="2" charset="-122"/>
              </a:rPr>
              <a:t>的类型表达式是：</a:t>
            </a:r>
            <a:endParaRPr lang="zh-CN" altLang="en-US" sz="2000" b="1" dirty="0">
              <a:ea typeface="宋体" panose="02010600030101010101" pitchFamily="2" charset="-122"/>
            </a:endParaRPr>
          </a:p>
          <a:p>
            <a:pPr lvl="2">
              <a:buFont typeface="Wingdings" panose="05000000000000000000" pitchFamily="2" charset="2"/>
              <a:buNone/>
            </a:pPr>
            <a:r>
              <a:rPr lang="zh-CN" altLang="en-US" sz="2000" b="1" dirty="0">
                <a:ea typeface="宋体" panose="02010600030101010101" pitchFamily="2" charset="-122"/>
              </a:rPr>
              <a:t>		</a:t>
            </a:r>
            <a:endParaRPr lang="zh-CN" altLang="en-US" sz="2000" b="1" i="1" dirty="0">
              <a:ea typeface="宋体" panose="02010600030101010101" pitchFamily="2" charset="-122"/>
            </a:endParaRPr>
          </a:p>
        </p:txBody>
      </p:sp>
      <p:graphicFrame>
        <p:nvGraphicFramePr>
          <p:cNvPr id="191492" name="Object 5"/>
          <p:cNvGraphicFramePr>
            <a:graphicFrameLocks noChangeAspect="1"/>
          </p:cNvGraphicFramePr>
          <p:nvPr/>
        </p:nvGraphicFramePr>
        <p:xfrm>
          <a:off x="3148013" y="5805488"/>
          <a:ext cx="2506662" cy="374650"/>
        </p:xfrm>
        <a:graphic>
          <a:graphicData uri="http://schemas.openxmlformats.org/presentationml/2006/ole">
            <mc:AlternateContent xmlns:mc="http://schemas.openxmlformats.org/markup-compatibility/2006">
              <mc:Choice xmlns:v="urn:schemas-microsoft-com:vml" Requires="v">
                <p:oleObj spid="_x0000_s3086" name="" r:id="rId1" imgW="1358265" imgH="203200" progId="Equation.3">
                  <p:embed/>
                </p:oleObj>
              </mc:Choice>
              <mc:Fallback>
                <p:oleObj name="" r:id="rId1" imgW="1358265" imgH="203200" progId="Equation.3">
                  <p:embed/>
                  <p:pic>
                    <p:nvPicPr>
                      <p:cNvPr id="0" name="图片 3085"/>
                      <p:cNvPicPr/>
                      <p:nvPr/>
                    </p:nvPicPr>
                    <p:blipFill>
                      <a:blip r:embed="rId2"/>
                      <a:stretch>
                        <a:fillRect/>
                      </a:stretch>
                    </p:blipFill>
                    <p:spPr>
                      <a:xfrm>
                        <a:off x="3148013" y="5805488"/>
                        <a:ext cx="2506662" cy="374650"/>
                      </a:xfrm>
                      <a:prstGeom prst="rect">
                        <a:avLst/>
                      </a:prstGeom>
                      <a:noFill/>
                      <a:ln w="38100">
                        <a:noFill/>
                        <a:miter/>
                      </a:ln>
                    </p:spPr>
                  </p:pic>
                </p:oleObj>
              </mc:Fallback>
            </mc:AlternateContent>
          </a:graphicData>
        </a:graphic>
      </p:graphicFrame>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a:t>
            </a:r>
            <a:r>
              <a:rPr lang="en-US" altLang="zh-CN" dirty="0">
                <a:latin typeface="Times New Roman" panose="02020603050405020304" pitchFamily="18" charset="0"/>
                <a:ea typeface="宋体" panose="02010600030101010101" pitchFamily="2" charset="-122"/>
              </a:rPr>
              <a:t>7</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93539" name="Rectangle 3"/>
          <p:cNvSpPr>
            <a:spLocks noGrp="1"/>
          </p:cNvSpPr>
          <p:nvPr>
            <p:ph idx="1"/>
          </p:nvPr>
        </p:nvSpPr>
        <p:spPr>
          <a:xfrm>
            <a:off x="990600" y="1371600"/>
            <a:ext cx="7391400" cy="4724400"/>
          </a:xfrm>
        </p:spPr>
        <p:txBody>
          <a:bodyPr vert="horz" wrap="square" lIns="92075" tIns="46038" rIns="92075" bIns="46038" anchor="t" anchorCtr="0"/>
          <a:p>
            <a:r>
              <a:rPr lang="zh-CN" altLang="en-US" sz="2400" b="1" dirty="0">
                <a:ea typeface="宋体" panose="02010600030101010101" pitchFamily="2" charset="-122"/>
              </a:rPr>
              <a:t>在类型推导的语境下，类型等价的概念要重新审视</a:t>
            </a:r>
            <a:endParaRPr lang="en-US" altLang="zh-CN" sz="2400" b="1" dirty="0">
              <a:ea typeface="宋体" panose="02010600030101010101" pitchFamily="2" charset="-122"/>
            </a:endParaRPr>
          </a:p>
          <a:p>
            <a:r>
              <a:rPr lang="zh-CN" altLang="en-US" sz="2400" b="1" dirty="0">
                <a:ea typeface="宋体" panose="02010600030101010101" pitchFamily="2" charset="-122"/>
              </a:rPr>
              <a:t>置换、实例和合一</a:t>
            </a:r>
            <a:endParaRPr lang="zh-CN" altLang="en-US" sz="2400" b="1" dirty="0">
              <a:ea typeface="宋体" panose="02010600030101010101" pitchFamily="2" charset="-122"/>
            </a:endParaRPr>
          </a:p>
          <a:p>
            <a:pPr lvl="1"/>
            <a:r>
              <a:rPr lang="zh-CN" altLang="en-US" sz="2200" b="1" dirty="0">
                <a:ea typeface="宋体" panose="02010600030101010101" pitchFamily="2" charset="-122"/>
              </a:rPr>
              <a:t>置换（</a:t>
            </a:r>
            <a:r>
              <a:rPr lang="en-US" altLang="zh-CN" sz="2200" b="1" dirty="0">
                <a:ea typeface="宋体" panose="02010600030101010101" pitchFamily="2" charset="-122"/>
              </a:rPr>
              <a:t>subtitution</a:t>
            </a:r>
            <a:r>
              <a:rPr lang="zh-CN" altLang="en-US" sz="2200" b="1" dirty="0">
                <a:ea typeface="宋体" panose="02010600030101010101" pitchFamily="2" charset="-122"/>
              </a:rPr>
              <a:t>）：</a:t>
            </a:r>
            <a:endParaRPr lang="zh-CN" altLang="en-US" sz="2200" b="1" dirty="0">
              <a:ea typeface="宋体" panose="02010600030101010101" pitchFamily="2" charset="-122"/>
            </a:endParaRPr>
          </a:p>
          <a:p>
            <a:pPr lvl="2"/>
            <a:r>
              <a:rPr lang="zh-CN" altLang="en-US" sz="2000" b="1" dirty="0">
                <a:ea typeface="宋体" panose="02010600030101010101" pitchFamily="2" charset="-122"/>
              </a:rPr>
              <a:t>从类型变量到类型表达式的映射，即将类型表达式中的类型变量用其所代表的类型表达式去替换</a:t>
            </a:r>
            <a:endParaRPr lang="zh-CN" altLang="en-US" sz="2000" b="1" dirty="0">
              <a:ea typeface="宋体" panose="02010600030101010101" pitchFamily="2" charset="-122"/>
            </a:endParaRPr>
          </a:p>
          <a:p>
            <a:pPr lvl="3">
              <a:buFont typeface="Wingdings" panose="05000000000000000000" pitchFamily="2" charset="2"/>
              <a:buNone/>
            </a:pPr>
            <a:r>
              <a:rPr lang="zh-CN" altLang="en-US" sz="1800" b="1" dirty="0">
                <a:ea typeface="宋体" panose="02010600030101010101" pitchFamily="2" charset="-122"/>
              </a:rPr>
              <a:t>用置换</a:t>
            </a:r>
            <a:r>
              <a:rPr lang="en-US" altLang="zh-CN" sz="1800" b="1" dirty="0">
                <a:ea typeface="宋体" panose="02010600030101010101" pitchFamily="2" charset="-122"/>
              </a:rPr>
              <a:t>S</a:t>
            </a:r>
            <a:r>
              <a:rPr lang="zh-CN" altLang="en-US" sz="1800" b="1" dirty="0">
                <a:ea typeface="宋体" panose="02010600030101010101" pitchFamily="2" charset="-122"/>
              </a:rPr>
              <a:t>去替换表达式</a:t>
            </a:r>
            <a:r>
              <a:rPr lang="en-US" altLang="zh-CN" sz="1800" b="1" dirty="0">
                <a:ea typeface="宋体" panose="02010600030101010101" pitchFamily="2" charset="-122"/>
              </a:rPr>
              <a:t>t</a:t>
            </a:r>
            <a:r>
              <a:rPr lang="zh-CN" altLang="en-US" sz="1800" b="1" dirty="0">
                <a:ea typeface="宋体" panose="02010600030101010101" pitchFamily="2" charset="-122"/>
              </a:rPr>
              <a:t>中所有类型变量的函数：</a:t>
            </a:r>
            <a:endParaRPr lang="zh-CN" altLang="en-US" sz="1800" b="1" dirty="0">
              <a:ea typeface="宋体" panose="02010600030101010101" pitchFamily="2" charset="-122"/>
            </a:endParaRPr>
          </a:p>
          <a:p>
            <a:pPr lvl="3">
              <a:buFont typeface="Wingdings" panose="05000000000000000000" pitchFamily="2" charset="2"/>
              <a:buNone/>
            </a:pPr>
            <a:r>
              <a:rPr lang="zh-CN" altLang="en-US" sz="1800" b="1" dirty="0">
                <a:ea typeface="宋体" panose="02010600030101010101" pitchFamily="2" charset="-122"/>
              </a:rPr>
              <a:t>	</a:t>
            </a:r>
            <a:r>
              <a:rPr lang="en-US" altLang="zh-CN" sz="1800" b="1" dirty="0">
                <a:ea typeface="宋体" panose="02010600030101010101" pitchFamily="2" charset="-122"/>
              </a:rPr>
              <a:t>function subst( t : type_expression ) : type_expression</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	begin</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		if t </a:t>
            </a:r>
            <a:r>
              <a:rPr lang="zh-CN" altLang="en-US" sz="1800" b="1" dirty="0">
                <a:ea typeface="宋体" panose="02010600030101010101" pitchFamily="2" charset="-122"/>
              </a:rPr>
              <a:t>是基本类型 </a:t>
            </a:r>
            <a:r>
              <a:rPr lang="en-US" altLang="zh-CN" sz="1800" b="1" dirty="0">
                <a:ea typeface="宋体" panose="02010600030101010101" pitchFamily="2" charset="-122"/>
              </a:rPr>
              <a:t>then return t</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		else if t</a:t>
            </a:r>
            <a:r>
              <a:rPr lang="zh-CN" altLang="en-US" sz="1800" b="1" dirty="0">
                <a:ea typeface="宋体" panose="02010600030101010101" pitchFamily="2" charset="-122"/>
              </a:rPr>
              <a:t>是变量 </a:t>
            </a:r>
            <a:r>
              <a:rPr lang="en-US" altLang="zh-CN" sz="1800" b="1" dirty="0">
                <a:ea typeface="宋体" panose="02010600030101010101" pitchFamily="2" charset="-122"/>
              </a:rPr>
              <a:t>then return S(t)</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		else if t</a:t>
            </a:r>
            <a:r>
              <a:rPr lang="zh-CN" altLang="en-US" sz="1800" b="1" dirty="0">
                <a:ea typeface="宋体" panose="02010600030101010101" pitchFamily="2" charset="-122"/>
              </a:rPr>
              <a:t>是</a:t>
            </a:r>
            <a:r>
              <a:rPr lang="en-US" altLang="zh-CN" sz="1800" b="1" dirty="0">
                <a:ea typeface="宋体" panose="02010600030101010101" pitchFamily="2" charset="-122"/>
              </a:rPr>
              <a:t>t</a:t>
            </a:r>
            <a:r>
              <a:rPr lang="en-US" altLang="zh-CN" sz="1800" b="1" baseline="-25000" dirty="0">
                <a:ea typeface="宋体" panose="02010600030101010101" pitchFamily="2" charset="-122"/>
              </a:rPr>
              <a:t>1</a:t>
            </a:r>
            <a:r>
              <a:rPr lang="en-US" altLang="zh-CN" sz="1800" b="1" dirty="0">
                <a:ea typeface="宋体" panose="02010600030101010101" pitchFamily="2" charset="-122"/>
              </a:rPr>
              <a:t>→t</a:t>
            </a:r>
            <a:r>
              <a:rPr lang="en-US" altLang="zh-CN" sz="1800" b="1" baseline="-25000" dirty="0">
                <a:ea typeface="宋体" panose="02010600030101010101" pitchFamily="2" charset="-122"/>
              </a:rPr>
              <a:t>2</a:t>
            </a:r>
            <a:r>
              <a:rPr lang="en-US" altLang="zh-CN" sz="1800" b="1" dirty="0">
                <a:ea typeface="宋体" panose="02010600030101010101" pitchFamily="2" charset="-122"/>
              </a:rPr>
              <a:t> then subst(t</a:t>
            </a:r>
            <a:r>
              <a:rPr lang="en-US" altLang="zh-CN" sz="1800" b="1" baseline="-25000" dirty="0">
                <a:ea typeface="宋体" panose="02010600030101010101" pitchFamily="2" charset="-122"/>
              </a:rPr>
              <a:t>1</a:t>
            </a:r>
            <a:r>
              <a:rPr lang="en-US" altLang="zh-CN" sz="1800" b="1" dirty="0">
                <a:ea typeface="宋体" panose="02010600030101010101" pitchFamily="2" charset="-122"/>
              </a:rPr>
              <a:t>)→subst(t</a:t>
            </a:r>
            <a:r>
              <a:rPr lang="en-US" altLang="zh-CN" sz="1800" b="1" baseline="-25000" dirty="0">
                <a:ea typeface="宋体" panose="02010600030101010101" pitchFamily="2" charset="-122"/>
              </a:rPr>
              <a:t>2</a:t>
            </a:r>
            <a:r>
              <a:rPr lang="en-US" altLang="zh-CN" sz="1800" b="1" dirty="0">
                <a:ea typeface="宋体" panose="02010600030101010101" pitchFamily="2" charset="-122"/>
              </a:rPr>
              <a:t>)</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	end</a:t>
            </a:r>
            <a:endParaRPr lang="en-US" altLang="zh-CN" sz="1800" b="1" dirty="0">
              <a:ea typeface="宋体" panose="02010600030101010101" pitchFamily="2" charset="-122"/>
            </a:endParaRPr>
          </a:p>
          <a:p>
            <a:pPr lvl="2"/>
            <a:r>
              <a:rPr lang="zh-CN" altLang="en-US" sz="2000" b="1" dirty="0">
                <a:ea typeface="宋体" panose="02010600030101010101" pitchFamily="2" charset="-122"/>
              </a:rPr>
              <a:t>为了方便，用</a:t>
            </a:r>
            <a:r>
              <a:rPr lang="en-US" altLang="zh-CN" sz="2000" b="1" dirty="0">
                <a:ea typeface="宋体" panose="02010600030101010101" pitchFamily="2" charset="-122"/>
              </a:rPr>
              <a:t>S(t)</a:t>
            </a:r>
            <a:r>
              <a:rPr lang="zh-CN" altLang="en-US" sz="2000" b="1" dirty="0">
                <a:ea typeface="宋体" panose="02010600030101010101" pitchFamily="2" charset="-122"/>
              </a:rPr>
              <a:t>表示</a:t>
            </a:r>
            <a:r>
              <a:rPr lang="en-US" altLang="zh-CN" sz="2000" b="1" dirty="0">
                <a:ea typeface="宋体" panose="02010600030101010101" pitchFamily="2" charset="-122"/>
              </a:rPr>
              <a:t>subst</a:t>
            </a:r>
            <a:r>
              <a:rPr lang="zh-CN" altLang="en-US" sz="2000" b="1" dirty="0">
                <a:ea typeface="宋体" panose="02010600030101010101" pitchFamily="2" charset="-122"/>
              </a:rPr>
              <a:t>作用于</a:t>
            </a:r>
            <a:r>
              <a:rPr lang="en-US" altLang="zh-CN" sz="2000" b="1" dirty="0">
                <a:ea typeface="宋体" panose="02010600030101010101" pitchFamily="2" charset="-122"/>
              </a:rPr>
              <a:t>t</a:t>
            </a:r>
            <a:r>
              <a:rPr lang="zh-CN" altLang="en-US" sz="2000" b="1" dirty="0">
                <a:ea typeface="宋体" panose="02010600030101010101" pitchFamily="2" charset="-122"/>
              </a:rPr>
              <a:t>后所得的类型表达式，这个结果</a:t>
            </a:r>
            <a:r>
              <a:rPr lang="en-US" altLang="zh-CN" sz="2000" b="1" dirty="0">
                <a:ea typeface="宋体" panose="02010600030101010101" pitchFamily="2" charset="-122"/>
              </a:rPr>
              <a:t>S(t)</a:t>
            </a:r>
            <a:r>
              <a:rPr lang="zh-CN" altLang="en-US" sz="2000" b="1" dirty="0">
                <a:ea typeface="宋体" panose="02010600030101010101" pitchFamily="2" charset="-122"/>
              </a:rPr>
              <a:t>叫做</a:t>
            </a:r>
            <a:r>
              <a:rPr lang="en-US" altLang="zh-CN" sz="2000" b="1" dirty="0">
                <a:ea typeface="宋体" panose="02010600030101010101" pitchFamily="2" charset="-122"/>
              </a:rPr>
              <a:t>t</a:t>
            </a:r>
            <a:r>
              <a:rPr lang="zh-CN" altLang="en-US" sz="2000" b="1" dirty="0">
                <a:ea typeface="宋体" panose="02010600030101010101" pitchFamily="2" charset="-122"/>
              </a:rPr>
              <a:t>的实例</a:t>
            </a:r>
            <a:endParaRPr lang="zh-CN" altLang="en-US" sz="2000" b="1" dirty="0">
              <a:ea typeface="宋体" panose="02010600030101010101" pitchFamily="2" charset="-122"/>
            </a:endParaRPr>
          </a:p>
        </p:txBody>
      </p:sp>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95587" name="Rectangle 3"/>
          <p:cNvSpPr>
            <a:spLocks noGrp="1"/>
          </p:cNvSpPr>
          <p:nvPr>
            <p:ph idx="1"/>
          </p:nvPr>
        </p:nvSpPr>
        <p:spPr>
          <a:xfrm>
            <a:off x="990600" y="1371600"/>
            <a:ext cx="7391400" cy="4724400"/>
          </a:xfrm>
        </p:spPr>
        <p:txBody>
          <a:bodyPr vert="horz" wrap="square" lIns="92075" tIns="46038" rIns="92075" bIns="46038" anchor="t" anchorCtr="0"/>
          <a:p>
            <a:pPr lvl="2"/>
            <a:r>
              <a:rPr lang="zh-CN" altLang="en-US" sz="2000" b="1" dirty="0">
                <a:ea typeface="宋体" panose="02010600030101010101" pitchFamily="2" charset="-122"/>
              </a:rPr>
              <a:t>如果置换</a:t>
            </a:r>
            <a:r>
              <a:rPr lang="en-US" altLang="zh-CN" sz="2000" b="1" dirty="0">
                <a:ea typeface="宋体" panose="02010600030101010101" pitchFamily="2" charset="-122"/>
              </a:rPr>
              <a:t>S</a:t>
            </a:r>
            <a:r>
              <a:rPr lang="zh-CN" altLang="en-US" sz="2000" b="1" dirty="0">
                <a:ea typeface="宋体" panose="02010600030101010101" pitchFamily="2" charset="-122"/>
              </a:rPr>
              <a:t>对变量</a:t>
            </a:r>
            <a:r>
              <a:rPr lang="en-US" altLang="zh-CN" sz="2000" b="1" i="1" dirty="0">
                <a:ea typeface="宋体" panose="02010600030101010101" pitchFamily="2" charset="-122"/>
              </a:rPr>
              <a:t>α</a:t>
            </a:r>
            <a:r>
              <a:rPr lang="zh-CN" altLang="en-US" sz="2000" b="1" dirty="0">
                <a:ea typeface="宋体" panose="02010600030101010101" pitchFamily="2" charset="-122"/>
              </a:rPr>
              <a:t>没有指定表达式，则假定</a:t>
            </a:r>
            <a:r>
              <a:rPr lang="en-US" altLang="zh-CN" sz="2000" b="1" dirty="0">
                <a:ea typeface="宋体" panose="02010600030101010101" pitchFamily="2" charset="-122"/>
              </a:rPr>
              <a:t>S(</a:t>
            </a:r>
            <a:r>
              <a:rPr lang="en-US" altLang="zh-CN" sz="2000" b="1" i="1" dirty="0">
                <a:ea typeface="宋体" panose="02010600030101010101" pitchFamily="2" charset="-122"/>
              </a:rPr>
              <a:t>α</a:t>
            </a:r>
            <a:r>
              <a:rPr lang="en-US" altLang="zh-CN" sz="2000" b="1" dirty="0">
                <a:ea typeface="宋体" panose="02010600030101010101" pitchFamily="2" charset="-122"/>
              </a:rPr>
              <a:t>)</a:t>
            </a:r>
            <a:r>
              <a:rPr lang="zh-CN" altLang="en-US" sz="2000" b="1" dirty="0">
                <a:ea typeface="宋体" panose="02010600030101010101" pitchFamily="2" charset="-122"/>
              </a:rPr>
              <a:t>是</a:t>
            </a:r>
            <a:r>
              <a:rPr lang="en-US" altLang="zh-CN" sz="2000" b="1" i="1" dirty="0">
                <a:ea typeface="宋体" panose="02010600030101010101" pitchFamily="2" charset="-122"/>
              </a:rPr>
              <a:t>α</a:t>
            </a:r>
            <a:r>
              <a:rPr lang="zh-CN" altLang="en-US" sz="2000" b="1" dirty="0">
                <a:ea typeface="宋体" panose="02010600030101010101" pitchFamily="2" charset="-122"/>
              </a:rPr>
              <a:t>，即</a:t>
            </a:r>
            <a:r>
              <a:rPr lang="en-US" altLang="zh-CN" sz="2000" b="1" dirty="0">
                <a:ea typeface="宋体" panose="02010600030101010101" pitchFamily="2" charset="-122"/>
              </a:rPr>
              <a:t>S</a:t>
            </a:r>
            <a:r>
              <a:rPr lang="zh-CN" altLang="en-US" sz="2000" b="1" dirty="0">
                <a:ea typeface="宋体" panose="02010600030101010101" pitchFamily="2" charset="-122"/>
              </a:rPr>
              <a:t>是这种变量的恒等映射</a:t>
            </a:r>
            <a:endParaRPr lang="zh-CN" altLang="en-US" sz="2000" b="1" dirty="0">
              <a:ea typeface="宋体" panose="02010600030101010101" pitchFamily="2" charset="-122"/>
            </a:endParaRPr>
          </a:p>
          <a:p>
            <a:pPr lvl="3">
              <a:buFont typeface="Wingdings" panose="05000000000000000000" pitchFamily="2" charset="2"/>
              <a:buNone/>
            </a:pPr>
            <a:r>
              <a:rPr lang="zh-CN" altLang="en-US" sz="1800" b="1" dirty="0">
                <a:ea typeface="宋体" panose="02010600030101010101" pitchFamily="2" charset="-122"/>
              </a:rPr>
              <a:t>例：用</a:t>
            </a:r>
            <a:r>
              <a:rPr lang="en-US" altLang="zh-CN" sz="1800" b="1" dirty="0">
                <a:ea typeface="宋体" panose="02010600030101010101" pitchFamily="2" charset="-122"/>
              </a:rPr>
              <a:t>s &lt; t</a:t>
            </a:r>
            <a:r>
              <a:rPr lang="zh-CN" altLang="en-US" sz="1800" b="1" dirty="0">
                <a:ea typeface="宋体" panose="02010600030101010101" pitchFamily="2" charset="-122"/>
              </a:rPr>
              <a:t>表示</a:t>
            </a:r>
            <a:r>
              <a:rPr lang="en-US" altLang="zh-CN" sz="1800" b="1" dirty="0">
                <a:ea typeface="宋体" panose="02010600030101010101" pitchFamily="2" charset="-122"/>
              </a:rPr>
              <a:t>s</a:t>
            </a:r>
            <a:r>
              <a:rPr lang="zh-CN" altLang="en-US" sz="1800" b="1" dirty="0">
                <a:ea typeface="宋体" panose="02010600030101010101" pitchFamily="2" charset="-122"/>
              </a:rPr>
              <a:t>是</a:t>
            </a:r>
            <a:r>
              <a:rPr lang="en-US" altLang="zh-CN" sz="1800" b="1" dirty="0">
                <a:ea typeface="宋体" panose="02010600030101010101" pitchFamily="2" charset="-122"/>
              </a:rPr>
              <a:t>t</a:t>
            </a:r>
            <a:r>
              <a:rPr lang="zh-CN" altLang="en-US" sz="1800" b="1" dirty="0">
                <a:ea typeface="宋体" panose="02010600030101010101" pitchFamily="2" charset="-122"/>
              </a:rPr>
              <a:t>的实例</a:t>
            </a:r>
            <a:endParaRPr lang="zh-CN" altLang="en-US" sz="1800" b="1" dirty="0">
              <a:ea typeface="宋体" panose="02010600030101010101" pitchFamily="2" charset="-122"/>
            </a:endParaRPr>
          </a:p>
          <a:p>
            <a:pPr lvl="3">
              <a:buFont typeface="Wingdings" panose="05000000000000000000" pitchFamily="2" charset="2"/>
              <a:buNone/>
            </a:pPr>
            <a:r>
              <a:rPr lang="zh-CN" altLang="en-US" sz="1800" b="1" dirty="0">
                <a:ea typeface="宋体" panose="02010600030101010101" pitchFamily="2" charset="-122"/>
              </a:rPr>
              <a:t>	</a:t>
            </a:r>
            <a:r>
              <a:rPr lang="en-US" altLang="zh-CN" sz="1800" b="1" dirty="0">
                <a:ea typeface="宋体" panose="02010600030101010101" pitchFamily="2" charset="-122"/>
              </a:rPr>
              <a:t>pointer(integer) &lt; pointer(</a:t>
            </a:r>
            <a:r>
              <a:rPr lang="en-US" altLang="zh-CN" sz="1800" b="1" i="1" dirty="0">
                <a:ea typeface="宋体" panose="02010600030101010101" pitchFamily="2" charset="-122"/>
              </a:rPr>
              <a:t>α</a:t>
            </a:r>
            <a:r>
              <a:rPr lang="en-US" altLang="zh-CN" sz="1800" b="1" dirty="0">
                <a:ea typeface="宋体" panose="02010600030101010101" pitchFamily="2" charset="-122"/>
              </a:rPr>
              <a:t>)</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	pointer(real) &lt; pointer(</a:t>
            </a:r>
            <a:r>
              <a:rPr lang="en-US" altLang="zh-CN" sz="1800" b="1" i="1" dirty="0">
                <a:ea typeface="宋体" panose="02010600030101010101" pitchFamily="2" charset="-122"/>
              </a:rPr>
              <a:t>α</a:t>
            </a:r>
            <a:r>
              <a:rPr lang="en-US" altLang="zh-CN" sz="1800" b="1" dirty="0">
                <a:ea typeface="宋体" panose="02010600030101010101" pitchFamily="2" charset="-122"/>
              </a:rPr>
              <a:t>)</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	integer→integer &lt; </a:t>
            </a:r>
            <a:r>
              <a:rPr lang="en-US" altLang="zh-CN" sz="1800" b="1" i="1" dirty="0">
                <a:ea typeface="宋体" panose="02010600030101010101" pitchFamily="2" charset="-122"/>
              </a:rPr>
              <a:t>α</a:t>
            </a:r>
            <a:r>
              <a:rPr lang="en-US" altLang="zh-CN" sz="1800" b="1" dirty="0">
                <a:ea typeface="宋体" panose="02010600030101010101" pitchFamily="2" charset="-122"/>
              </a:rPr>
              <a:t>→</a:t>
            </a:r>
            <a:r>
              <a:rPr lang="en-US" altLang="zh-CN" sz="1800" b="1" i="1" dirty="0">
                <a:ea typeface="宋体" panose="02010600030101010101" pitchFamily="2" charset="-122"/>
              </a:rPr>
              <a:t>α</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	pointer(</a:t>
            </a:r>
            <a:r>
              <a:rPr lang="en-US" altLang="zh-CN" sz="1800" b="1" i="1" dirty="0">
                <a:ea typeface="宋体" panose="02010600030101010101" pitchFamily="2" charset="-122"/>
              </a:rPr>
              <a:t>α</a:t>
            </a:r>
            <a:r>
              <a:rPr lang="en-US" altLang="zh-CN" sz="1800" b="1" dirty="0">
                <a:ea typeface="宋体" panose="02010600030101010101" pitchFamily="2" charset="-122"/>
              </a:rPr>
              <a:t>) &lt; </a:t>
            </a:r>
            <a:r>
              <a:rPr lang="en-US" altLang="zh-CN" sz="1800" b="1" i="1" dirty="0">
                <a:ea typeface="宋体" panose="02010600030101010101" pitchFamily="2" charset="-122"/>
              </a:rPr>
              <a:t>β</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	</a:t>
            </a:r>
            <a:r>
              <a:rPr lang="en-US" altLang="zh-CN" sz="1800" b="1" i="1" dirty="0">
                <a:ea typeface="宋体" panose="02010600030101010101" pitchFamily="2" charset="-122"/>
              </a:rPr>
              <a:t>α</a:t>
            </a:r>
            <a:r>
              <a:rPr lang="en-US" altLang="zh-CN" sz="1800" b="1" dirty="0">
                <a:ea typeface="宋体" panose="02010600030101010101" pitchFamily="2" charset="-122"/>
              </a:rPr>
              <a:t> &lt;</a:t>
            </a:r>
            <a:r>
              <a:rPr lang="en-US" altLang="zh-CN" sz="1800" b="1" i="1" dirty="0">
                <a:ea typeface="宋体" panose="02010600030101010101" pitchFamily="2" charset="-122"/>
              </a:rPr>
              <a:t>β</a:t>
            </a:r>
            <a:endParaRPr lang="en-US" altLang="zh-CN" sz="1800" b="1" i="1" dirty="0">
              <a:ea typeface="宋体" panose="02010600030101010101" pitchFamily="2" charset="-122"/>
            </a:endParaRPr>
          </a:p>
          <a:p>
            <a:pPr lvl="3">
              <a:buFont typeface="Wingdings" panose="05000000000000000000" pitchFamily="2" charset="2"/>
              <a:buNone/>
            </a:pPr>
            <a:r>
              <a:rPr lang="zh-CN" altLang="en-US" sz="1800" b="1" dirty="0">
                <a:ea typeface="宋体" panose="02010600030101010101" pitchFamily="2" charset="-122"/>
              </a:rPr>
              <a:t>下面左边的类型表达式不是右边的实例</a:t>
            </a:r>
            <a:endParaRPr lang="zh-CN" altLang="en-US" sz="1800" b="1" dirty="0">
              <a:ea typeface="宋体" panose="02010600030101010101" pitchFamily="2" charset="-122"/>
            </a:endParaRPr>
          </a:p>
          <a:p>
            <a:pPr lvl="3">
              <a:buFont typeface="Wingdings" panose="05000000000000000000" pitchFamily="2" charset="2"/>
              <a:buNone/>
            </a:pPr>
            <a:r>
              <a:rPr lang="zh-CN" altLang="en-US" sz="1800" b="1" dirty="0">
                <a:ea typeface="宋体" panose="02010600030101010101" pitchFamily="2" charset="-122"/>
              </a:rPr>
              <a:t>	</a:t>
            </a:r>
            <a:r>
              <a:rPr lang="en-US" altLang="zh-CN" sz="1800" b="1" dirty="0">
                <a:ea typeface="宋体" panose="02010600030101010101" pitchFamily="2" charset="-122"/>
              </a:rPr>
              <a:t>integer		real	(</a:t>
            </a:r>
            <a:r>
              <a:rPr lang="zh-CN" altLang="en-US" sz="1800" b="1" dirty="0">
                <a:ea typeface="宋体" panose="02010600030101010101" pitchFamily="2" charset="-122"/>
              </a:rPr>
              <a:t>代换不能用于基本类型)</a:t>
            </a:r>
            <a:endParaRPr lang="zh-CN" altLang="en-US" sz="1800" b="1" dirty="0">
              <a:ea typeface="宋体" panose="02010600030101010101" pitchFamily="2" charset="-122"/>
            </a:endParaRPr>
          </a:p>
          <a:p>
            <a:pPr lvl="3">
              <a:buFont typeface="Wingdings" panose="05000000000000000000" pitchFamily="2" charset="2"/>
              <a:buNone/>
            </a:pPr>
            <a:r>
              <a:rPr lang="zh-CN" altLang="en-US" sz="1800" b="1" dirty="0">
                <a:ea typeface="宋体" panose="02010600030101010101" pitchFamily="2" charset="-122"/>
              </a:rPr>
              <a:t>	</a:t>
            </a:r>
            <a:r>
              <a:rPr lang="en-US" altLang="zh-CN" sz="1800" b="1" dirty="0">
                <a:ea typeface="宋体" panose="02010600030101010101" pitchFamily="2" charset="-122"/>
              </a:rPr>
              <a:t>integer →real	</a:t>
            </a:r>
            <a:r>
              <a:rPr lang="en-US" altLang="zh-CN" sz="1800" b="1" i="1" dirty="0">
                <a:ea typeface="宋体" panose="02010600030101010101" pitchFamily="2" charset="-122"/>
              </a:rPr>
              <a:t>α</a:t>
            </a:r>
            <a:r>
              <a:rPr lang="en-US" altLang="zh-CN" sz="1800" b="1" dirty="0">
                <a:ea typeface="宋体" panose="02010600030101010101" pitchFamily="2" charset="-122"/>
              </a:rPr>
              <a:t>→</a:t>
            </a:r>
            <a:r>
              <a:rPr lang="en-US" altLang="zh-CN" sz="1800" b="1" i="1" dirty="0">
                <a:ea typeface="宋体" panose="02010600030101010101" pitchFamily="2" charset="-122"/>
              </a:rPr>
              <a:t>α</a:t>
            </a:r>
            <a:r>
              <a:rPr lang="en-US" altLang="zh-CN" sz="1800" b="1" dirty="0">
                <a:ea typeface="宋体" panose="02010600030101010101" pitchFamily="2" charset="-122"/>
              </a:rPr>
              <a:t> 	(</a:t>
            </a:r>
            <a:r>
              <a:rPr lang="en-US" altLang="zh-CN" sz="1800" b="1" i="1" dirty="0">
                <a:ea typeface="宋体" panose="02010600030101010101" pitchFamily="2" charset="-122"/>
              </a:rPr>
              <a:t>α</a:t>
            </a:r>
            <a:r>
              <a:rPr lang="zh-CN" altLang="en-US" sz="1800" b="1" dirty="0">
                <a:ea typeface="宋体" panose="02010600030101010101" pitchFamily="2" charset="-122"/>
              </a:rPr>
              <a:t>的代换不一致)</a:t>
            </a:r>
            <a:endParaRPr lang="zh-CN" altLang="en-US" sz="1800" b="1" dirty="0">
              <a:ea typeface="宋体" panose="02010600030101010101" pitchFamily="2" charset="-122"/>
            </a:endParaRPr>
          </a:p>
          <a:p>
            <a:pPr lvl="3">
              <a:buFont typeface="Wingdings" panose="05000000000000000000" pitchFamily="2" charset="2"/>
              <a:buNone/>
            </a:pPr>
            <a:r>
              <a:rPr lang="zh-CN" altLang="en-US" sz="1800" b="1" dirty="0">
                <a:ea typeface="宋体" panose="02010600030101010101" pitchFamily="2" charset="-122"/>
              </a:rPr>
              <a:t>	</a:t>
            </a:r>
            <a:r>
              <a:rPr lang="en-US" altLang="zh-CN" sz="1800" b="1" dirty="0">
                <a:ea typeface="宋体" panose="02010600030101010101" pitchFamily="2" charset="-122"/>
              </a:rPr>
              <a:t>integer →</a:t>
            </a:r>
            <a:r>
              <a:rPr lang="en-US" altLang="zh-CN" sz="1800" b="1" i="1" dirty="0">
                <a:ea typeface="宋体" panose="02010600030101010101" pitchFamily="2" charset="-122"/>
              </a:rPr>
              <a:t>α</a:t>
            </a:r>
            <a:r>
              <a:rPr lang="en-US" altLang="zh-CN" sz="1800" b="1" dirty="0">
                <a:ea typeface="宋体" panose="02010600030101010101" pitchFamily="2" charset="-122"/>
              </a:rPr>
              <a:t>		</a:t>
            </a:r>
            <a:r>
              <a:rPr lang="en-US" altLang="zh-CN" sz="1800" b="1" i="1" dirty="0">
                <a:ea typeface="宋体" panose="02010600030101010101" pitchFamily="2" charset="-122"/>
              </a:rPr>
              <a:t>α</a:t>
            </a:r>
            <a:r>
              <a:rPr lang="en-US" altLang="zh-CN" sz="1800" b="1" dirty="0">
                <a:ea typeface="宋体" panose="02010600030101010101" pitchFamily="2" charset="-122"/>
              </a:rPr>
              <a:t>→</a:t>
            </a:r>
            <a:r>
              <a:rPr lang="en-US" altLang="zh-CN" sz="1800" b="1" i="1" dirty="0">
                <a:ea typeface="宋体" panose="02010600030101010101" pitchFamily="2" charset="-122"/>
              </a:rPr>
              <a:t>α</a:t>
            </a:r>
            <a:r>
              <a:rPr lang="en-US" altLang="zh-CN" sz="1800" b="1" dirty="0">
                <a:ea typeface="宋体" panose="02010600030101010101" pitchFamily="2" charset="-122"/>
              </a:rPr>
              <a:t> 	(</a:t>
            </a:r>
            <a:r>
              <a:rPr lang="en-US" altLang="zh-CN" sz="1800" b="1" i="1" dirty="0">
                <a:ea typeface="宋体" panose="02010600030101010101" pitchFamily="2" charset="-122"/>
              </a:rPr>
              <a:t>α</a:t>
            </a:r>
            <a:r>
              <a:rPr lang="zh-CN" altLang="en-US" sz="1800" b="1" dirty="0">
                <a:ea typeface="宋体" panose="02010600030101010101" pitchFamily="2" charset="-122"/>
              </a:rPr>
              <a:t>的所有出现都应代换)</a:t>
            </a:r>
            <a:endParaRPr lang="zh-CN" altLang="en-US" sz="1800" b="1" dirty="0">
              <a:ea typeface="宋体" panose="02010600030101010101" pitchFamily="2" charset="-122"/>
            </a:endParaRPr>
          </a:p>
        </p:txBody>
      </p:sp>
    </p:spTree>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a:t>
            </a:r>
            <a:r>
              <a:rPr lang="en-US" altLang="zh-CN" dirty="0">
                <a:latin typeface="Times New Roman" panose="02020603050405020304" pitchFamily="18" charset="0"/>
                <a:ea typeface="宋体" panose="02010600030101010101" pitchFamily="2" charset="-122"/>
              </a:rPr>
              <a:t>9</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97635" name="Rectangle 3"/>
          <p:cNvSpPr>
            <a:spLocks noGrp="1"/>
          </p:cNvSpPr>
          <p:nvPr>
            <p:ph idx="1"/>
          </p:nvPr>
        </p:nvSpPr>
        <p:spPr>
          <a:xfrm>
            <a:off x="990600" y="1371600"/>
            <a:ext cx="7391400" cy="4724400"/>
          </a:xfrm>
        </p:spPr>
        <p:txBody>
          <a:bodyPr vert="horz" wrap="square" lIns="92075" tIns="46038" rIns="92075" bIns="46038" anchor="t" anchorCtr="0"/>
          <a:p>
            <a:pPr lvl="2"/>
            <a:r>
              <a:rPr lang="zh-CN" altLang="en-US" sz="2000" b="1" dirty="0">
                <a:ea typeface="宋体" panose="02010600030101010101" pitchFamily="2" charset="-122"/>
              </a:rPr>
              <a:t>如果存在某个置换</a:t>
            </a:r>
            <a:r>
              <a:rPr lang="en-US" altLang="zh-CN" sz="2000" b="1" dirty="0">
                <a:ea typeface="宋体" panose="02010600030101010101" pitchFamily="2" charset="-122"/>
              </a:rPr>
              <a:t>S，</a:t>
            </a:r>
            <a:r>
              <a:rPr lang="zh-CN" altLang="en-US" sz="2000" b="1" dirty="0">
                <a:ea typeface="宋体" panose="02010600030101010101" pitchFamily="2" charset="-122"/>
              </a:rPr>
              <a:t>使得</a:t>
            </a:r>
            <a:r>
              <a:rPr lang="en-US" altLang="zh-CN" sz="2000" b="1" dirty="0">
                <a:ea typeface="宋体" panose="02010600030101010101" pitchFamily="2" charset="-122"/>
              </a:rPr>
              <a:t>S(t</a:t>
            </a:r>
            <a:r>
              <a:rPr lang="en-US" altLang="zh-CN" sz="2000" b="1" baseline="-25000" dirty="0">
                <a:ea typeface="宋体" panose="02010600030101010101" pitchFamily="2" charset="-122"/>
              </a:rPr>
              <a:t>1</a:t>
            </a:r>
            <a:r>
              <a:rPr lang="en-US" altLang="zh-CN" sz="2000" b="1" dirty="0">
                <a:ea typeface="宋体" panose="02010600030101010101" pitchFamily="2" charset="-122"/>
              </a:rPr>
              <a:t>)=S(t</a:t>
            </a:r>
            <a:r>
              <a:rPr lang="en-US" altLang="zh-CN" sz="2000" b="1" baseline="-25000" dirty="0">
                <a:ea typeface="宋体" panose="02010600030101010101" pitchFamily="2" charset="-122"/>
              </a:rPr>
              <a:t>2</a:t>
            </a:r>
            <a:r>
              <a:rPr lang="en-US" altLang="zh-CN" sz="2000" b="1" dirty="0">
                <a:ea typeface="宋体" panose="02010600030101010101" pitchFamily="2" charset="-122"/>
              </a:rPr>
              <a:t>)，</a:t>
            </a:r>
            <a:r>
              <a:rPr lang="zh-CN" altLang="en-US" sz="2000" b="1" dirty="0">
                <a:ea typeface="宋体" panose="02010600030101010101" pitchFamily="2" charset="-122"/>
              </a:rPr>
              <a:t>则这两个表达式</a:t>
            </a:r>
            <a:r>
              <a:rPr lang="en-US" altLang="zh-CN" sz="2000" b="1" dirty="0">
                <a:ea typeface="宋体" panose="02010600030101010101" pitchFamily="2" charset="-122"/>
              </a:rPr>
              <a:t>t</a:t>
            </a:r>
            <a:r>
              <a:rPr lang="en-US" altLang="zh-CN" sz="2000" b="1" baseline="-25000" dirty="0">
                <a:ea typeface="宋体" panose="02010600030101010101" pitchFamily="2" charset="-122"/>
              </a:rPr>
              <a:t>1</a:t>
            </a:r>
            <a:r>
              <a:rPr lang="zh-CN" altLang="en-US" sz="2000" b="1" dirty="0">
                <a:ea typeface="宋体" panose="02010600030101010101" pitchFamily="2" charset="-122"/>
              </a:rPr>
              <a:t>和</a:t>
            </a:r>
            <a:r>
              <a:rPr lang="en-US" altLang="zh-CN" sz="2000" b="1" dirty="0">
                <a:ea typeface="宋体" panose="02010600030101010101" pitchFamily="2" charset="-122"/>
              </a:rPr>
              <a:t>t</a:t>
            </a:r>
            <a:r>
              <a:rPr lang="en-US" altLang="zh-CN" sz="2000" b="1" baseline="-25000" dirty="0">
                <a:ea typeface="宋体" panose="02010600030101010101" pitchFamily="2" charset="-122"/>
              </a:rPr>
              <a:t>2</a:t>
            </a:r>
            <a:r>
              <a:rPr lang="zh-CN" altLang="en-US" sz="2000" b="1" dirty="0">
                <a:ea typeface="宋体" panose="02010600030101010101" pitchFamily="2" charset="-122"/>
              </a:rPr>
              <a:t>能合一，置换</a:t>
            </a:r>
            <a:r>
              <a:rPr lang="en-US" altLang="zh-CN" sz="2000" b="1" dirty="0">
                <a:ea typeface="宋体" panose="02010600030101010101" pitchFamily="2" charset="-122"/>
              </a:rPr>
              <a:t>S</a:t>
            </a:r>
            <a:r>
              <a:rPr lang="zh-CN" altLang="en-US" sz="2000" b="1" dirty="0">
                <a:ea typeface="宋体" panose="02010600030101010101" pitchFamily="2" charset="-122"/>
              </a:rPr>
              <a:t>是一个合一替换</a:t>
            </a:r>
            <a:endParaRPr lang="zh-CN" altLang="en-US" sz="2000" b="1" dirty="0">
              <a:ea typeface="宋体" panose="02010600030101010101" pitchFamily="2" charset="-122"/>
            </a:endParaRPr>
          </a:p>
          <a:p>
            <a:pPr lvl="2"/>
            <a:r>
              <a:rPr lang="zh-CN" altLang="en-US" sz="2000" b="1" dirty="0">
                <a:ea typeface="宋体" panose="02010600030101010101" pitchFamily="2" charset="-122"/>
              </a:rPr>
              <a:t>最一般的合一替换：对表达式中的变量限制最少的置换，表达式</a:t>
            </a:r>
            <a:r>
              <a:rPr lang="en-US" altLang="zh-CN" sz="2000" b="1" dirty="0">
                <a:ea typeface="宋体" panose="02010600030101010101" pitchFamily="2" charset="-122"/>
              </a:rPr>
              <a:t>t</a:t>
            </a:r>
            <a:r>
              <a:rPr lang="en-US" altLang="zh-CN" sz="2000" b="1" baseline="-25000" dirty="0">
                <a:ea typeface="宋体" panose="02010600030101010101" pitchFamily="2" charset="-122"/>
              </a:rPr>
              <a:t>1</a:t>
            </a:r>
            <a:r>
              <a:rPr lang="zh-CN" altLang="en-US" sz="2000" b="1" dirty="0">
                <a:ea typeface="宋体" panose="02010600030101010101" pitchFamily="2" charset="-122"/>
              </a:rPr>
              <a:t>和</a:t>
            </a:r>
            <a:r>
              <a:rPr lang="en-US" altLang="zh-CN" sz="2000" b="1" dirty="0">
                <a:ea typeface="宋体" panose="02010600030101010101" pitchFamily="2" charset="-122"/>
              </a:rPr>
              <a:t>t</a:t>
            </a:r>
            <a:r>
              <a:rPr lang="en-US" altLang="zh-CN" sz="2000" b="1" baseline="-25000" dirty="0">
                <a:ea typeface="宋体" panose="02010600030101010101" pitchFamily="2" charset="-122"/>
              </a:rPr>
              <a:t>2</a:t>
            </a:r>
            <a:r>
              <a:rPr lang="zh-CN" altLang="en-US" sz="2000" b="1" dirty="0">
                <a:ea typeface="宋体" panose="02010600030101010101" pitchFamily="2" charset="-122"/>
              </a:rPr>
              <a:t>最一般的合一替换有如下的性质</a:t>
            </a:r>
            <a:endParaRPr lang="zh-CN" altLang="en-US" sz="2000" b="1" dirty="0">
              <a:ea typeface="宋体" panose="02010600030101010101" pitchFamily="2" charset="-122"/>
            </a:endParaRPr>
          </a:p>
          <a:p>
            <a:pPr lvl="3"/>
            <a:r>
              <a:rPr lang="en-US" altLang="zh-CN" sz="1800" b="1" dirty="0">
                <a:ea typeface="宋体" panose="02010600030101010101" pitchFamily="2" charset="-122"/>
              </a:rPr>
              <a:t>S(t</a:t>
            </a:r>
            <a:r>
              <a:rPr lang="en-US" altLang="zh-CN" sz="1800" b="1" baseline="-25000" dirty="0">
                <a:ea typeface="宋体" panose="02010600030101010101" pitchFamily="2" charset="-122"/>
              </a:rPr>
              <a:t>1</a:t>
            </a:r>
            <a:r>
              <a:rPr lang="en-US" altLang="zh-CN" sz="1800" b="1" dirty="0">
                <a:ea typeface="宋体" panose="02010600030101010101" pitchFamily="2" charset="-122"/>
              </a:rPr>
              <a:t>)=S(t</a:t>
            </a:r>
            <a:r>
              <a:rPr lang="en-US" altLang="zh-CN" sz="1800" b="1" baseline="-25000" dirty="0">
                <a:ea typeface="宋体" panose="02010600030101010101" pitchFamily="2" charset="-122"/>
              </a:rPr>
              <a:t>2</a:t>
            </a:r>
            <a:r>
              <a:rPr lang="en-US" altLang="zh-CN" sz="1800" b="1" dirty="0">
                <a:ea typeface="宋体" panose="02010600030101010101" pitchFamily="2" charset="-122"/>
              </a:rPr>
              <a:t>)</a:t>
            </a:r>
            <a:endParaRPr lang="en-US" altLang="zh-CN" sz="1800" b="1" dirty="0">
              <a:ea typeface="宋体" panose="02010600030101010101" pitchFamily="2" charset="-122"/>
            </a:endParaRPr>
          </a:p>
          <a:p>
            <a:pPr lvl="3"/>
            <a:r>
              <a:rPr lang="zh-CN" altLang="en-US" sz="1800" b="1" dirty="0">
                <a:ea typeface="宋体" panose="02010600030101010101" pitchFamily="2" charset="-122"/>
              </a:rPr>
              <a:t>对任何其它满足</a:t>
            </a:r>
            <a:r>
              <a:rPr lang="en-US" altLang="zh-CN" sz="1800" b="1" dirty="0">
                <a:ea typeface="宋体" panose="02010600030101010101" pitchFamily="2" charset="-122"/>
              </a:rPr>
              <a:t>S’(t</a:t>
            </a:r>
            <a:r>
              <a:rPr lang="en-US" altLang="zh-CN" sz="1800" b="1" baseline="-25000" dirty="0">
                <a:ea typeface="宋体" panose="02010600030101010101" pitchFamily="2" charset="-122"/>
              </a:rPr>
              <a:t>1</a:t>
            </a:r>
            <a:r>
              <a:rPr lang="en-US" altLang="zh-CN" sz="1800" b="1" dirty="0">
                <a:ea typeface="宋体" panose="02010600030101010101" pitchFamily="2" charset="-122"/>
              </a:rPr>
              <a:t>)=S’(t</a:t>
            </a:r>
            <a:r>
              <a:rPr lang="en-US" altLang="zh-CN" sz="1800" b="1" baseline="-25000" dirty="0">
                <a:ea typeface="宋体" panose="02010600030101010101" pitchFamily="2" charset="-122"/>
              </a:rPr>
              <a:t>2</a:t>
            </a:r>
            <a:r>
              <a:rPr lang="en-US" altLang="zh-CN" sz="1800" b="1" dirty="0">
                <a:ea typeface="宋体" panose="02010600030101010101" pitchFamily="2" charset="-122"/>
              </a:rPr>
              <a:t>)</a:t>
            </a:r>
            <a:r>
              <a:rPr lang="zh-CN" altLang="en-US" sz="1800" b="1" dirty="0">
                <a:ea typeface="宋体" panose="02010600030101010101" pitchFamily="2" charset="-122"/>
              </a:rPr>
              <a:t>的代换</a:t>
            </a:r>
            <a:r>
              <a:rPr lang="en-US" altLang="zh-CN" sz="1800" b="1" dirty="0">
                <a:ea typeface="宋体" panose="02010600030101010101" pitchFamily="2" charset="-122"/>
              </a:rPr>
              <a:t>S’</a:t>
            </a:r>
            <a:r>
              <a:rPr lang="zh-CN" altLang="en-US" sz="1800" b="1" dirty="0">
                <a:ea typeface="宋体" panose="02010600030101010101" pitchFamily="2" charset="-122"/>
              </a:rPr>
              <a:t>，代换</a:t>
            </a:r>
            <a:r>
              <a:rPr lang="en-US" altLang="zh-CN" sz="1800" b="1" dirty="0">
                <a:ea typeface="宋体" panose="02010600030101010101" pitchFamily="2" charset="-122"/>
              </a:rPr>
              <a:t>S’(t</a:t>
            </a:r>
            <a:r>
              <a:rPr lang="en-US" altLang="zh-CN" sz="1800" b="1" baseline="-25000" dirty="0">
                <a:ea typeface="宋体" panose="02010600030101010101" pitchFamily="2" charset="-122"/>
              </a:rPr>
              <a:t>1</a:t>
            </a:r>
            <a:r>
              <a:rPr lang="en-US" altLang="zh-CN" sz="1800" b="1" dirty="0">
                <a:ea typeface="宋体" panose="02010600030101010101" pitchFamily="2" charset="-122"/>
              </a:rPr>
              <a:t>)</a:t>
            </a:r>
            <a:r>
              <a:rPr lang="zh-CN" altLang="en-US" sz="1800" b="1" dirty="0">
                <a:ea typeface="宋体" panose="02010600030101010101" pitchFamily="2" charset="-122"/>
              </a:rPr>
              <a:t>是</a:t>
            </a:r>
            <a:r>
              <a:rPr lang="en-US" altLang="zh-CN" sz="1800" b="1" dirty="0">
                <a:ea typeface="宋体" panose="02010600030101010101" pitchFamily="2" charset="-122"/>
              </a:rPr>
              <a:t>S(t</a:t>
            </a:r>
            <a:r>
              <a:rPr lang="en-US" altLang="zh-CN" sz="1800" b="1" baseline="-25000" dirty="0">
                <a:ea typeface="宋体" panose="02010600030101010101" pitchFamily="2" charset="-122"/>
              </a:rPr>
              <a:t>1</a:t>
            </a:r>
            <a:r>
              <a:rPr lang="en-US" altLang="zh-CN" sz="1800" b="1" dirty="0">
                <a:ea typeface="宋体" panose="02010600030101010101" pitchFamily="2" charset="-122"/>
              </a:rPr>
              <a:t>)</a:t>
            </a:r>
            <a:r>
              <a:rPr lang="zh-CN" altLang="en-US" sz="1800" b="1" dirty="0">
                <a:ea typeface="宋体" panose="02010600030101010101" pitchFamily="2" charset="-122"/>
              </a:rPr>
              <a:t>的实例</a:t>
            </a:r>
            <a:endParaRPr lang="zh-CN" altLang="en-US" sz="1800" b="1" dirty="0">
              <a:ea typeface="宋体" panose="02010600030101010101" pitchFamily="2" charset="-122"/>
            </a:endParaRPr>
          </a:p>
          <a:p>
            <a:pPr lvl="2">
              <a:buFont typeface="Wingdings" panose="05000000000000000000" pitchFamily="2" charset="2"/>
              <a:buNone/>
            </a:pPr>
            <a:endParaRPr lang="zh-CN" altLang="en-US" sz="2000" b="1" dirty="0">
              <a:ea typeface="宋体" panose="02010600030101010101" pitchFamily="2" charset="-122"/>
            </a:endParaRPr>
          </a:p>
          <a:p>
            <a:pPr lvl="2"/>
            <a:r>
              <a:rPr lang="zh-CN" altLang="en-US" sz="2000" b="1" dirty="0">
                <a:ea typeface="宋体" panose="02010600030101010101" pitchFamily="2" charset="-122"/>
              </a:rPr>
              <a:t>下面，我们说合一是指最一般的合一替换</a:t>
            </a:r>
            <a:endParaRPr lang="en-US" altLang="zh-CN" sz="2000" b="1" dirty="0">
              <a:ea typeface="宋体" panose="02010600030101010101" pitchFamily="2" charset="-122"/>
            </a:endParaRPr>
          </a:p>
          <a:p>
            <a:pPr lvl="2"/>
            <a:endParaRPr lang="en-US" altLang="zh-CN" sz="2000" b="1" dirty="0">
              <a:ea typeface="宋体" panose="02010600030101010101" pitchFamily="2" charset="-122"/>
            </a:endParaRPr>
          </a:p>
          <a:p>
            <a:pPr lvl="2"/>
            <a:r>
              <a:rPr lang="zh-CN" altLang="en-US" sz="2000" b="1" dirty="0">
                <a:ea typeface="宋体" panose="02010600030101010101" pitchFamily="2" charset="-122"/>
              </a:rPr>
              <a:t>合一是判断能否通过将两个表达式</a:t>
            </a:r>
            <a:r>
              <a:rPr lang="en-US" altLang="zh-CN" sz="2000" b="1" dirty="0">
                <a:ea typeface="宋体" panose="02010600030101010101" pitchFamily="2" charset="-122"/>
              </a:rPr>
              <a:t>s</a:t>
            </a:r>
            <a:r>
              <a:rPr lang="zh-CN" altLang="en-US" sz="2000" b="1" dirty="0">
                <a:ea typeface="宋体" panose="02010600030101010101" pitchFamily="2" charset="-122"/>
              </a:rPr>
              <a:t>和</a:t>
            </a:r>
            <a:r>
              <a:rPr lang="en-US" altLang="zh-CN" sz="2000" b="1" dirty="0">
                <a:ea typeface="宋体" panose="02010600030101010101" pitchFamily="2" charset="-122"/>
              </a:rPr>
              <a:t>t</a:t>
            </a:r>
            <a:r>
              <a:rPr lang="zh-CN" altLang="en-US" sz="2000" b="1" dirty="0">
                <a:ea typeface="宋体" panose="02010600030101010101" pitchFamily="2" charset="-122"/>
              </a:rPr>
              <a:t>中的变量替换为某些表达式，使得</a:t>
            </a:r>
            <a:r>
              <a:rPr lang="en-US" altLang="zh-CN" sz="2000" b="1" dirty="0">
                <a:ea typeface="宋体" panose="02010600030101010101" pitchFamily="2" charset="-122"/>
              </a:rPr>
              <a:t>s</a:t>
            </a:r>
            <a:r>
              <a:rPr lang="zh-CN" altLang="en-US" sz="2000" b="1" dirty="0">
                <a:ea typeface="宋体" panose="02010600030101010101" pitchFamily="2" charset="-122"/>
              </a:rPr>
              <a:t>和</a:t>
            </a:r>
            <a:r>
              <a:rPr lang="en-US" altLang="zh-CN" sz="2000" b="1" dirty="0">
                <a:ea typeface="宋体" panose="02010600030101010101" pitchFamily="2" charset="-122"/>
              </a:rPr>
              <a:t>t</a:t>
            </a:r>
            <a:r>
              <a:rPr lang="zh-CN" altLang="en-US" sz="2000" b="1" dirty="0">
                <a:ea typeface="宋体" panose="02010600030101010101" pitchFamily="2" charset="-122"/>
              </a:rPr>
              <a:t>相同</a:t>
            </a:r>
            <a:endParaRPr lang="en-US" altLang="zh-CN" sz="2000" b="1" dirty="0">
              <a:ea typeface="宋体" panose="02010600030101010101" pitchFamily="2" charset="-122"/>
            </a:endParaRPr>
          </a:p>
          <a:p>
            <a:pPr lvl="2"/>
            <a:r>
              <a:rPr lang="zh-CN" altLang="en-US" sz="2000" b="1" dirty="0">
                <a:ea typeface="宋体" panose="02010600030101010101" pitchFamily="2" charset="-122"/>
              </a:rPr>
              <a:t>测试类型是否等价是合一的一个特殊情况</a:t>
            </a:r>
            <a:endParaRPr lang="en-US" altLang="zh-CN" sz="2000" b="1" dirty="0">
              <a:ea typeface="宋体" panose="02010600030101010101" pitchFamily="2" charset="-122"/>
            </a:endParaRPr>
          </a:p>
          <a:p>
            <a:pPr lvl="3"/>
            <a:r>
              <a:rPr lang="zh-CN" altLang="en-US" sz="1800" b="1" dirty="0">
                <a:ea typeface="宋体" panose="02010600030101010101" pitchFamily="2" charset="-122"/>
              </a:rPr>
              <a:t>如果</a:t>
            </a:r>
            <a:r>
              <a:rPr lang="en-US" altLang="zh-CN" sz="1800" b="1" dirty="0">
                <a:ea typeface="宋体" panose="02010600030101010101" pitchFamily="2" charset="-122"/>
              </a:rPr>
              <a:t>s</a:t>
            </a:r>
            <a:r>
              <a:rPr lang="zh-CN" altLang="en-US" sz="1800" b="1" dirty="0">
                <a:ea typeface="宋体" panose="02010600030101010101" pitchFamily="2" charset="-122"/>
              </a:rPr>
              <a:t>和</a:t>
            </a:r>
            <a:r>
              <a:rPr lang="en-US" altLang="zh-CN" sz="1800" b="1" dirty="0">
                <a:ea typeface="宋体" panose="02010600030101010101" pitchFamily="2" charset="-122"/>
              </a:rPr>
              <a:t>t</a:t>
            </a:r>
            <a:r>
              <a:rPr lang="zh-CN" altLang="en-US" sz="1800" b="1" dirty="0">
                <a:ea typeface="宋体" panose="02010600030101010101" pitchFamily="2" charset="-122"/>
              </a:rPr>
              <a:t>中只有常量，没有变量，则</a:t>
            </a:r>
            <a:r>
              <a:rPr lang="en-US" altLang="zh-CN" sz="1800" b="1" dirty="0">
                <a:ea typeface="宋体" panose="02010600030101010101" pitchFamily="2" charset="-122"/>
              </a:rPr>
              <a:t>s</a:t>
            </a:r>
            <a:r>
              <a:rPr lang="zh-CN" altLang="en-US" sz="1800" b="1" dirty="0">
                <a:ea typeface="宋体" panose="02010600030101010101" pitchFamily="2" charset="-122"/>
              </a:rPr>
              <a:t>和</a:t>
            </a:r>
            <a:r>
              <a:rPr lang="en-US" altLang="zh-CN" sz="1800" b="1" dirty="0">
                <a:ea typeface="宋体" panose="02010600030101010101" pitchFamily="2" charset="-122"/>
              </a:rPr>
              <a:t>t</a:t>
            </a:r>
            <a:r>
              <a:rPr lang="zh-CN" altLang="en-US" sz="1800" b="1" dirty="0">
                <a:ea typeface="宋体" panose="02010600030101010101" pitchFamily="2" charset="-122"/>
              </a:rPr>
              <a:t>合一当且仅当它们完全相同</a:t>
            </a:r>
            <a:endParaRPr lang="zh-CN" altLang="en-US" sz="1800" b="1" dirty="0">
              <a:ea typeface="宋体" panose="02010600030101010101" pitchFamily="2" charset="-122"/>
            </a:endParaRPr>
          </a:p>
        </p:txBody>
      </p:sp>
    </p:spTree>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a:t>
            </a:r>
            <a:r>
              <a:rPr lang="en-US" altLang="zh-CN" dirty="0">
                <a:latin typeface="Times New Roman" panose="02020603050405020304" pitchFamily="18" charset="0"/>
                <a:ea typeface="宋体" panose="02010600030101010101" pitchFamily="2" charset="-122"/>
              </a:rPr>
              <a:t>10</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99683" name="Rectangle 3"/>
          <p:cNvSpPr>
            <a:spLocks noGrp="1"/>
          </p:cNvSpPr>
          <p:nvPr>
            <p:ph idx="1"/>
          </p:nvPr>
        </p:nvSpPr>
        <p:spPr>
          <a:xfrm>
            <a:off x="914400" y="1371600"/>
            <a:ext cx="7543800" cy="4724400"/>
          </a:xfrm>
        </p:spPr>
        <p:txBody>
          <a:bodyPr vert="horz" wrap="square" lIns="92075" tIns="46038" rIns="92075" bIns="46038" anchor="t" anchorCtr="0"/>
          <a:p>
            <a:pPr>
              <a:lnSpc>
                <a:spcPct val="90000"/>
              </a:lnSpc>
            </a:pPr>
            <a:r>
              <a:rPr lang="zh-CN" altLang="en-US" sz="2200" b="1" dirty="0">
                <a:ea typeface="宋体" panose="02010600030101010101" pitchFamily="2" charset="-122"/>
              </a:rPr>
              <a:t>多态函数的类型推导</a:t>
            </a:r>
            <a:endParaRPr lang="zh-CN" altLang="en-US" sz="2200" b="1" dirty="0">
              <a:ea typeface="宋体" panose="02010600030101010101" pitchFamily="2" charset="-122"/>
            </a:endParaRPr>
          </a:p>
          <a:p>
            <a:pPr lvl="1">
              <a:lnSpc>
                <a:spcPct val="90000"/>
              </a:lnSpc>
            </a:pPr>
            <a:r>
              <a:rPr lang="zh-CN" altLang="en-US" sz="2000" b="1" dirty="0">
                <a:ea typeface="宋体" panose="02010600030101010101" pitchFamily="2" charset="-122"/>
              </a:rPr>
              <a:t>输入：一个由一系列函数定义以及紧跟其后的待求值表达式组成的程序。一个表达式由多个函数应用和名字构成。这些名字具有预定义的多态类型</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输出：推导出的程序中名字的类型</a:t>
            </a:r>
            <a:endParaRPr lang="zh-CN" altLang="en-US" sz="2000" b="1" dirty="0">
              <a:ea typeface="宋体" panose="02010600030101010101" pitchFamily="2" charset="-122"/>
            </a:endParaRPr>
          </a:p>
          <a:p>
            <a:pPr lvl="1">
              <a:lnSpc>
                <a:spcPct val="90000"/>
              </a:lnSpc>
            </a:pPr>
            <a:r>
              <a:rPr lang="zh-CN" altLang="en-US" sz="2000" b="1" dirty="0">
                <a:ea typeface="宋体" panose="02010600030101010101" pitchFamily="2" charset="-122"/>
              </a:rPr>
              <a:t>方法：为简单计，只考虑一元函数，对于多元函数，如二元函数</a:t>
            </a:r>
            <a:r>
              <a:rPr lang="en-US" altLang="zh-CN" sz="2000" b="1" dirty="0">
                <a:ea typeface="宋体" panose="02010600030101010101" pitchFamily="2" charset="-122"/>
              </a:rPr>
              <a:t>f ( x</a:t>
            </a:r>
            <a:r>
              <a:rPr lang="en-US" altLang="zh-CN" sz="2000" b="1" baseline="-25000" dirty="0">
                <a:ea typeface="宋体" panose="02010600030101010101" pitchFamily="2" charset="-122"/>
              </a:rPr>
              <a:t>1</a:t>
            </a:r>
            <a:r>
              <a:rPr lang="en-US" altLang="zh-CN" sz="2000" b="1" dirty="0">
                <a:ea typeface="宋体" panose="02010600030101010101" pitchFamily="2" charset="-122"/>
              </a:rPr>
              <a:t> , x</a:t>
            </a:r>
            <a:r>
              <a:rPr lang="en-US" altLang="zh-CN" sz="2000" b="1" baseline="-25000" dirty="0">
                <a:ea typeface="宋体" panose="02010600030101010101" pitchFamily="2" charset="-122"/>
              </a:rPr>
              <a:t>2</a:t>
            </a:r>
            <a:r>
              <a:rPr lang="en-US" altLang="zh-CN" sz="2000" b="1" dirty="0">
                <a:ea typeface="宋体" panose="02010600030101010101" pitchFamily="2" charset="-122"/>
              </a:rPr>
              <a:t> )</a:t>
            </a:r>
            <a:r>
              <a:rPr lang="zh-CN" altLang="en-US" sz="2000" b="1" dirty="0">
                <a:ea typeface="宋体" panose="02010600030101010101" pitchFamily="2" charset="-122"/>
              </a:rPr>
              <a:t>，可以将类型表达式表示为</a:t>
            </a:r>
            <a:r>
              <a:rPr lang="en-US" altLang="zh-CN" sz="2000" b="1" dirty="0">
                <a:ea typeface="宋体" panose="02010600030101010101" pitchFamily="2" charset="-122"/>
              </a:rPr>
              <a:t>s</a:t>
            </a:r>
            <a:r>
              <a:rPr lang="en-US" altLang="zh-CN" sz="2000" b="1" baseline="-25000" dirty="0">
                <a:ea typeface="宋体" panose="02010600030101010101" pitchFamily="2" charset="-122"/>
              </a:rPr>
              <a:t>1</a:t>
            </a:r>
            <a:r>
              <a:rPr lang="en-US" altLang="zh-CN" sz="2000" b="1" dirty="0">
                <a:ea typeface="宋体" panose="02010600030101010101" pitchFamily="2" charset="-122"/>
              </a:rPr>
              <a:t>×s</a:t>
            </a:r>
            <a:r>
              <a:rPr lang="en-US" altLang="zh-CN" sz="2000" b="1" baseline="-25000" dirty="0">
                <a:ea typeface="宋体" panose="02010600030101010101" pitchFamily="2" charset="-122"/>
              </a:rPr>
              <a:t>2</a:t>
            </a:r>
            <a:r>
              <a:rPr lang="zh-CN" altLang="en-US" sz="2000" b="1" dirty="0">
                <a:ea typeface="宋体" panose="02010600030101010101" pitchFamily="2" charset="-122"/>
              </a:rPr>
              <a:t> →</a:t>
            </a:r>
            <a:r>
              <a:rPr lang="en-US" altLang="zh-CN" sz="2000" b="1" dirty="0">
                <a:ea typeface="宋体" panose="02010600030101010101" pitchFamily="2" charset="-122"/>
              </a:rPr>
              <a:t>t</a:t>
            </a:r>
            <a:r>
              <a:rPr lang="zh-CN" altLang="en-US" sz="2000" b="1" dirty="0">
                <a:ea typeface="宋体" panose="02010600030101010101" pitchFamily="2" charset="-122"/>
              </a:rPr>
              <a:t>，其中</a:t>
            </a:r>
            <a:r>
              <a:rPr lang="en-US" altLang="zh-CN" sz="2000" b="1" dirty="0">
                <a:ea typeface="宋体" panose="02010600030101010101" pitchFamily="2" charset="-122"/>
              </a:rPr>
              <a:t>s</a:t>
            </a:r>
            <a:r>
              <a:rPr lang="en-US" altLang="zh-CN" sz="2000" b="1" baseline="-25000" dirty="0">
                <a:ea typeface="宋体" panose="02010600030101010101" pitchFamily="2" charset="-122"/>
              </a:rPr>
              <a:t>1</a:t>
            </a:r>
            <a:r>
              <a:rPr lang="zh-CN" altLang="en-US" sz="2000" b="1" dirty="0">
                <a:ea typeface="宋体" panose="02010600030101010101" pitchFamily="2" charset="-122"/>
              </a:rPr>
              <a:t>和</a:t>
            </a:r>
            <a:r>
              <a:rPr lang="en-US" altLang="zh-CN" sz="2000" b="1" dirty="0">
                <a:ea typeface="宋体" panose="02010600030101010101" pitchFamily="2" charset="-122"/>
              </a:rPr>
              <a:t>s</a:t>
            </a:r>
            <a:r>
              <a:rPr lang="en-US" altLang="zh-CN" sz="2000" b="1" baseline="-25000" dirty="0">
                <a:ea typeface="宋体" panose="02010600030101010101" pitchFamily="2" charset="-122"/>
              </a:rPr>
              <a:t>2</a:t>
            </a:r>
            <a:r>
              <a:rPr lang="zh-CN" altLang="en-US" sz="2000" b="1" dirty="0">
                <a:ea typeface="宋体" panose="02010600030101010101" pitchFamily="2" charset="-122"/>
              </a:rPr>
              <a:t>分别是</a:t>
            </a:r>
            <a:r>
              <a:rPr lang="en-US" altLang="zh-CN" sz="2000" b="1" dirty="0">
                <a:ea typeface="宋体" panose="02010600030101010101" pitchFamily="2" charset="-122"/>
              </a:rPr>
              <a:t>x</a:t>
            </a:r>
            <a:r>
              <a:rPr lang="en-US" altLang="zh-CN" sz="2000" b="1" baseline="-25000" dirty="0">
                <a:ea typeface="宋体" panose="02010600030101010101" pitchFamily="2" charset="-122"/>
              </a:rPr>
              <a:t>1</a:t>
            </a:r>
            <a:r>
              <a:rPr lang="zh-CN" altLang="en-US" sz="2000" b="1" dirty="0">
                <a:ea typeface="宋体" panose="02010600030101010101" pitchFamily="2" charset="-122"/>
              </a:rPr>
              <a:t>和</a:t>
            </a:r>
            <a:r>
              <a:rPr lang="en-US" altLang="zh-CN" sz="2000" b="1" dirty="0">
                <a:ea typeface="宋体" panose="02010600030101010101" pitchFamily="2" charset="-122"/>
              </a:rPr>
              <a:t>x</a:t>
            </a:r>
            <a:r>
              <a:rPr lang="en-US" altLang="zh-CN" sz="2000" b="1" baseline="-25000" dirty="0">
                <a:ea typeface="宋体" panose="02010600030101010101" pitchFamily="2" charset="-122"/>
              </a:rPr>
              <a:t>2</a:t>
            </a:r>
            <a:r>
              <a:rPr lang="zh-CN" altLang="en-US" sz="2000" b="1" dirty="0">
                <a:ea typeface="宋体" panose="02010600030101010101" pitchFamily="2" charset="-122"/>
              </a:rPr>
              <a:t>的类型，</a:t>
            </a:r>
            <a:r>
              <a:rPr lang="en-US" altLang="zh-CN" sz="2000" b="1" dirty="0">
                <a:ea typeface="宋体" panose="02010600030101010101" pitchFamily="2" charset="-122"/>
              </a:rPr>
              <a:t>t</a:t>
            </a:r>
            <a:r>
              <a:rPr lang="zh-CN" altLang="en-US" sz="2000" b="1" dirty="0">
                <a:ea typeface="宋体" panose="02010600030101010101" pitchFamily="2" charset="-122"/>
              </a:rPr>
              <a:t>是函数</a:t>
            </a:r>
            <a:r>
              <a:rPr lang="en-US" altLang="zh-CN" sz="2000" b="1" dirty="0">
                <a:ea typeface="宋体" panose="02010600030101010101" pitchFamily="2" charset="-122"/>
              </a:rPr>
              <a:t>f</a:t>
            </a:r>
            <a:r>
              <a:rPr lang="zh-CN" altLang="en-US" sz="2000" b="1" dirty="0">
                <a:ea typeface="宋体" panose="02010600030101010101" pitchFamily="2" charset="-122"/>
              </a:rPr>
              <a:t>的结果类型，通过检查</a:t>
            </a:r>
            <a:r>
              <a:rPr lang="en-US" altLang="zh-CN" sz="2000" b="1" dirty="0">
                <a:ea typeface="宋体" panose="02010600030101010101" pitchFamily="2" charset="-122"/>
              </a:rPr>
              <a:t>s</a:t>
            </a:r>
            <a:r>
              <a:rPr lang="en-US" altLang="zh-CN" sz="2000" b="1" baseline="-25000" dirty="0">
                <a:ea typeface="宋体" panose="02010600030101010101" pitchFamily="2" charset="-122"/>
              </a:rPr>
              <a:t>1</a:t>
            </a:r>
            <a:r>
              <a:rPr lang="zh-CN" altLang="en-US" sz="2000" b="1" dirty="0">
                <a:ea typeface="宋体" panose="02010600030101010101" pitchFamily="2" charset="-122"/>
              </a:rPr>
              <a:t>和</a:t>
            </a:r>
            <a:r>
              <a:rPr lang="en-US" altLang="zh-CN" sz="2000" b="1" dirty="0">
                <a:ea typeface="宋体" panose="02010600030101010101" pitchFamily="2" charset="-122"/>
              </a:rPr>
              <a:t>a</a:t>
            </a:r>
            <a:r>
              <a:rPr lang="zh-CN" altLang="en-US" sz="2000" b="1" dirty="0">
                <a:ea typeface="宋体" panose="02010600030101010101" pitchFamily="2" charset="-122"/>
              </a:rPr>
              <a:t>、</a:t>
            </a:r>
            <a:r>
              <a:rPr lang="en-US" altLang="zh-CN" sz="2000" b="1" dirty="0">
                <a:ea typeface="宋体" panose="02010600030101010101" pitchFamily="2" charset="-122"/>
              </a:rPr>
              <a:t>s</a:t>
            </a:r>
            <a:r>
              <a:rPr lang="en-US" altLang="zh-CN" sz="2000" b="1" baseline="-25000" dirty="0">
                <a:ea typeface="宋体" panose="02010600030101010101" pitchFamily="2" charset="-122"/>
              </a:rPr>
              <a:t>2</a:t>
            </a:r>
            <a:r>
              <a:rPr lang="zh-CN" altLang="en-US" sz="2000" b="1" dirty="0">
                <a:ea typeface="宋体" panose="02010600030101010101" pitchFamily="2" charset="-122"/>
              </a:rPr>
              <a:t>和</a:t>
            </a:r>
            <a:r>
              <a:rPr lang="en-US" altLang="zh-CN" sz="2000" b="1" dirty="0">
                <a:ea typeface="宋体" panose="02010600030101010101" pitchFamily="2" charset="-122"/>
              </a:rPr>
              <a:t>b</a:t>
            </a:r>
            <a:r>
              <a:rPr lang="zh-CN" altLang="en-US" sz="2000" b="1" dirty="0">
                <a:ea typeface="宋体" panose="02010600030101010101" pitchFamily="2" charset="-122"/>
              </a:rPr>
              <a:t>是否类型匹配，从而检查</a:t>
            </a:r>
            <a:r>
              <a:rPr lang="en-US" altLang="zh-CN" sz="2000" b="1" dirty="0">
                <a:ea typeface="宋体" panose="02010600030101010101" pitchFamily="2" charset="-122"/>
              </a:rPr>
              <a:t>f ( a , b )</a:t>
            </a:r>
            <a:r>
              <a:rPr lang="zh-CN" altLang="en-US" sz="2000" b="1" dirty="0">
                <a:ea typeface="宋体" panose="02010600030101010101" pitchFamily="2" charset="-122"/>
              </a:rPr>
              <a:t>的类型。   检查输入序列中的函数定义和表达式，根据使用情况推导类型</a:t>
            </a:r>
            <a:endParaRPr lang="en-US" altLang="zh-CN" sz="2000" b="1" dirty="0">
              <a:ea typeface="宋体" panose="02010600030101010101" pitchFamily="2" charset="-122"/>
            </a:endParaRPr>
          </a:p>
          <a:p>
            <a:pPr lvl="2">
              <a:lnSpc>
                <a:spcPct val="90000"/>
              </a:lnSpc>
            </a:pPr>
            <a:r>
              <a:rPr lang="zh-CN" altLang="en-US" sz="1800" b="1" dirty="0">
                <a:ea typeface="宋体" panose="02010600030101010101" pitchFamily="2" charset="-122"/>
              </a:rPr>
              <a:t>对一个函数定义</a:t>
            </a:r>
            <a:r>
              <a:rPr lang="en-US" altLang="zh-CN" sz="1800" b="1" dirty="0">
                <a:ea typeface="宋体" panose="02010600030101010101" pitchFamily="2" charset="-122"/>
              </a:rPr>
              <a:t>fun id</a:t>
            </a:r>
            <a:r>
              <a:rPr lang="en-US" altLang="zh-CN" sz="1800" b="1" baseline="-25000" dirty="0">
                <a:ea typeface="宋体" panose="02010600030101010101" pitchFamily="2" charset="-122"/>
              </a:rPr>
              <a:t>1</a:t>
            </a:r>
            <a:r>
              <a:rPr lang="en-US" altLang="zh-CN" sz="1800" b="1" dirty="0">
                <a:ea typeface="宋体" panose="02010600030101010101" pitchFamily="2" charset="-122"/>
              </a:rPr>
              <a:t> ( id</a:t>
            </a:r>
            <a:r>
              <a:rPr lang="en-US" altLang="zh-CN" sz="1800" b="1" baseline="-25000" dirty="0">
                <a:ea typeface="宋体" panose="02010600030101010101" pitchFamily="2" charset="-122"/>
              </a:rPr>
              <a:t>2</a:t>
            </a:r>
            <a:r>
              <a:rPr lang="en-US" altLang="zh-CN" sz="1800" b="1" dirty="0">
                <a:ea typeface="宋体" panose="02010600030101010101" pitchFamily="2" charset="-122"/>
              </a:rPr>
              <a:t> ) = </a:t>
            </a:r>
            <a:r>
              <a:rPr lang="en-US" altLang="zh-CN" sz="1800" i="1" dirty="0">
                <a:ea typeface="宋体" panose="02010600030101010101" pitchFamily="2" charset="-122"/>
              </a:rPr>
              <a:t>E</a:t>
            </a:r>
            <a:endParaRPr lang="en-US" altLang="zh-CN" sz="1800" b="1" dirty="0">
              <a:ea typeface="宋体" panose="02010600030101010101" pitchFamily="2" charset="-122"/>
            </a:endParaRPr>
          </a:p>
          <a:p>
            <a:pPr lvl="3">
              <a:lnSpc>
                <a:spcPct val="90000"/>
              </a:lnSpc>
            </a:pPr>
            <a:r>
              <a:rPr lang="zh-CN" altLang="en-US" sz="1600" b="1" dirty="0">
                <a:ea typeface="宋体" panose="02010600030101010101" pitchFamily="2" charset="-122"/>
              </a:rPr>
              <a:t>创建一个新的类型变量</a:t>
            </a:r>
            <a:r>
              <a:rPr lang="el-GR" altLang="zh-CN" sz="1600" b="1" dirty="0">
                <a:ea typeface="宋体" panose="02010600030101010101" pitchFamily="2" charset="-122"/>
              </a:rPr>
              <a:t>α</a:t>
            </a:r>
            <a:r>
              <a:rPr lang="zh-CN" altLang="en-US" sz="1600" b="1" dirty="0">
                <a:ea typeface="宋体" panose="02010600030101010101" pitchFamily="2" charset="-122"/>
              </a:rPr>
              <a:t>和</a:t>
            </a:r>
            <a:r>
              <a:rPr lang="el-GR" altLang="zh-CN" sz="1600" b="1" dirty="0">
                <a:ea typeface="宋体" panose="02010600030101010101" pitchFamily="2" charset="-122"/>
              </a:rPr>
              <a:t>β</a:t>
            </a:r>
            <a:r>
              <a:rPr lang="zh-CN" altLang="en-US" sz="1600" b="1" dirty="0">
                <a:ea typeface="宋体" panose="02010600030101010101" pitchFamily="2" charset="-122"/>
              </a:rPr>
              <a:t>。将</a:t>
            </a:r>
            <a:r>
              <a:rPr lang="en-US" altLang="zh-CN" sz="1600" b="1" dirty="0">
                <a:ea typeface="宋体" panose="02010600030101010101" pitchFamily="2" charset="-122"/>
              </a:rPr>
              <a:t>id</a:t>
            </a:r>
            <a:r>
              <a:rPr lang="en-US" altLang="zh-CN" sz="1600" b="1" baseline="-25000" dirty="0">
                <a:ea typeface="宋体" panose="02010600030101010101" pitchFamily="2" charset="-122"/>
              </a:rPr>
              <a:t>1</a:t>
            </a:r>
            <a:r>
              <a:rPr lang="zh-CN" altLang="en-US" sz="1600" b="1" dirty="0">
                <a:ea typeface="宋体" panose="02010600030101010101" pitchFamily="2" charset="-122"/>
              </a:rPr>
              <a:t>的类型和</a:t>
            </a:r>
            <a:r>
              <a:rPr lang="el-GR" altLang="zh-CN" sz="1600" b="1" dirty="0">
                <a:ea typeface="宋体" panose="02010600030101010101" pitchFamily="2" charset="-122"/>
              </a:rPr>
              <a:t>α→β</a:t>
            </a:r>
            <a:r>
              <a:rPr lang="zh-CN" altLang="en-US" sz="1600" b="1" dirty="0">
                <a:ea typeface="宋体" panose="02010600030101010101" pitchFamily="2" charset="-122"/>
              </a:rPr>
              <a:t>相关联，参数</a:t>
            </a:r>
            <a:r>
              <a:rPr lang="en-US" altLang="zh-CN" sz="1600" b="1" dirty="0">
                <a:ea typeface="宋体" panose="02010600030101010101" pitchFamily="2" charset="-122"/>
              </a:rPr>
              <a:t>id</a:t>
            </a:r>
            <a:r>
              <a:rPr lang="en-US" altLang="zh-CN" sz="1600" b="1" baseline="-25000" dirty="0">
                <a:ea typeface="宋体" panose="02010600030101010101" pitchFamily="2" charset="-122"/>
              </a:rPr>
              <a:t>2</a:t>
            </a:r>
            <a:r>
              <a:rPr lang="zh-CN" altLang="en-US" sz="1600" b="1" dirty="0">
                <a:ea typeface="宋体" panose="02010600030101010101" pitchFamily="2" charset="-122"/>
              </a:rPr>
              <a:t>和类型</a:t>
            </a:r>
            <a:r>
              <a:rPr lang="el-GR" altLang="zh-CN" sz="1600" b="1" dirty="0">
                <a:ea typeface="宋体" panose="02010600030101010101" pitchFamily="2" charset="-122"/>
              </a:rPr>
              <a:t>α</a:t>
            </a:r>
            <a:r>
              <a:rPr lang="zh-CN" altLang="en-US" sz="1600" b="1" dirty="0">
                <a:ea typeface="宋体" panose="02010600030101010101" pitchFamily="2" charset="-122"/>
              </a:rPr>
              <a:t>相关联</a:t>
            </a:r>
            <a:endParaRPr lang="en-US" altLang="zh-CN" sz="1600" b="1" dirty="0">
              <a:ea typeface="宋体" panose="02010600030101010101" pitchFamily="2" charset="-122"/>
            </a:endParaRPr>
          </a:p>
          <a:p>
            <a:pPr lvl="3">
              <a:lnSpc>
                <a:spcPct val="90000"/>
              </a:lnSpc>
            </a:pPr>
            <a:r>
              <a:rPr lang="zh-CN" altLang="en-US" sz="1600" b="1" dirty="0">
                <a:ea typeface="宋体" panose="02010600030101010101" pitchFamily="2" charset="-122"/>
              </a:rPr>
              <a:t>推导出表达式</a:t>
            </a:r>
            <a:r>
              <a:rPr lang="en-US" altLang="zh-CN" sz="1600" i="1" dirty="0">
                <a:ea typeface="宋体" panose="02010600030101010101" pitchFamily="2" charset="-122"/>
              </a:rPr>
              <a:t>E</a:t>
            </a:r>
            <a:r>
              <a:rPr lang="zh-CN" altLang="en-US" sz="1600" b="1" dirty="0">
                <a:ea typeface="宋体" panose="02010600030101010101" pitchFamily="2" charset="-122"/>
              </a:rPr>
              <a:t>的类型</a:t>
            </a:r>
            <a:endParaRPr lang="en-US" altLang="zh-CN" sz="1600" b="1" dirty="0">
              <a:ea typeface="宋体" panose="02010600030101010101" pitchFamily="2" charset="-122"/>
            </a:endParaRPr>
          </a:p>
          <a:p>
            <a:pPr lvl="3">
              <a:lnSpc>
                <a:spcPct val="90000"/>
              </a:lnSpc>
            </a:pPr>
            <a:r>
              <a:rPr lang="zh-CN" altLang="en-US" sz="1600" b="1" dirty="0">
                <a:ea typeface="宋体" panose="02010600030101010101" pitchFamily="2" charset="-122"/>
              </a:rPr>
              <a:t>假设在对</a:t>
            </a:r>
            <a:r>
              <a:rPr lang="en-US" altLang="zh-CN" sz="1600" i="1" dirty="0">
                <a:ea typeface="宋体" panose="02010600030101010101" pitchFamily="2" charset="-122"/>
              </a:rPr>
              <a:t>E</a:t>
            </a:r>
            <a:r>
              <a:rPr lang="zh-CN" altLang="en-US" sz="1600" b="1" dirty="0">
                <a:ea typeface="宋体" panose="02010600030101010101" pitchFamily="2" charset="-122"/>
              </a:rPr>
              <a:t>进行类型推导之后，</a:t>
            </a:r>
            <a:r>
              <a:rPr lang="el-GR" altLang="zh-CN" sz="1600" b="1" dirty="0">
                <a:ea typeface="宋体" panose="02010600030101010101" pitchFamily="2" charset="-122"/>
              </a:rPr>
              <a:t> α</a:t>
            </a:r>
            <a:r>
              <a:rPr lang="zh-CN" altLang="en-US" sz="1600" b="1" dirty="0">
                <a:ea typeface="宋体" panose="02010600030101010101" pitchFamily="2" charset="-122"/>
              </a:rPr>
              <a:t>表示类型</a:t>
            </a:r>
            <a:r>
              <a:rPr lang="en-US" altLang="zh-CN" sz="1600" b="1" dirty="0">
                <a:ea typeface="宋体" panose="02010600030101010101" pitchFamily="2" charset="-122"/>
              </a:rPr>
              <a:t>s</a:t>
            </a:r>
            <a:r>
              <a:rPr lang="zh-CN" altLang="en-US" sz="1600" b="1" dirty="0">
                <a:ea typeface="宋体" panose="02010600030101010101" pitchFamily="2" charset="-122"/>
              </a:rPr>
              <a:t>而</a:t>
            </a:r>
            <a:r>
              <a:rPr lang="el-GR" altLang="zh-CN" sz="1600" b="1" dirty="0">
                <a:ea typeface="宋体" panose="02010600030101010101" pitchFamily="2" charset="-122"/>
              </a:rPr>
              <a:t>β</a:t>
            </a:r>
            <a:r>
              <a:rPr lang="zh-CN" altLang="en-US" sz="1600" b="1" dirty="0">
                <a:ea typeface="宋体" panose="02010600030101010101" pitchFamily="2" charset="-122"/>
              </a:rPr>
              <a:t>表示类型</a:t>
            </a:r>
            <a:r>
              <a:rPr lang="en-US" altLang="zh-CN" sz="1600" b="1" dirty="0">
                <a:ea typeface="宋体" panose="02010600030101010101" pitchFamily="2" charset="-122"/>
              </a:rPr>
              <a:t>t</a:t>
            </a:r>
            <a:r>
              <a:rPr lang="zh-CN" altLang="en-US" sz="1600" b="1" dirty="0">
                <a:ea typeface="宋体" panose="02010600030101010101" pitchFamily="2" charset="-122"/>
              </a:rPr>
              <a:t>，推导得到函数的类型就是</a:t>
            </a:r>
            <a:r>
              <a:rPr lang="en-US" altLang="zh-CN" sz="1600" b="1" dirty="0">
                <a:ea typeface="宋体" panose="02010600030101010101" pitchFamily="2" charset="-122"/>
              </a:rPr>
              <a:t>s→t</a:t>
            </a:r>
            <a:endParaRPr lang="en-US" altLang="zh-CN" sz="1600" b="1" dirty="0">
              <a:ea typeface="宋体" panose="02010600030101010101" pitchFamily="2" charset="-122"/>
            </a:endParaRPr>
          </a:p>
          <a:p>
            <a:pPr lvl="3">
              <a:lnSpc>
                <a:spcPct val="90000"/>
              </a:lnSpc>
            </a:pPr>
            <a:r>
              <a:rPr lang="zh-CN" altLang="en-US" sz="1600" b="1" dirty="0">
                <a:ea typeface="宋体" panose="02010600030101010101" pitchFamily="2" charset="-122"/>
              </a:rPr>
              <a:t>使用全称量词   来限制</a:t>
            </a:r>
            <a:r>
              <a:rPr lang="en-US" altLang="zh-CN" sz="1600" b="1" dirty="0">
                <a:ea typeface="宋体" panose="02010600030101010101" pitchFamily="2" charset="-122"/>
              </a:rPr>
              <a:t>s→t</a:t>
            </a:r>
            <a:r>
              <a:rPr lang="zh-CN" altLang="en-US" sz="1600" b="1" dirty="0">
                <a:ea typeface="宋体" panose="02010600030101010101" pitchFamily="2" charset="-122"/>
              </a:rPr>
              <a:t>中任何未受约束的类型变量</a:t>
            </a:r>
            <a:endParaRPr lang="zh-CN" altLang="en-US" sz="1600" b="1" dirty="0">
              <a:ea typeface="宋体" panose="02010600030101010101" pitchFamily="2" charset="-122"/>
            </a:endParaRPr>
          </a:p>
        </p:txBody>
      </p:sp>
      <p:graphicFrame>
        <p:nvGraphicFramePr>
          <p:cNvPr id="199684" name="Object 4"/>
          <p:cNvGraphicFramePr>
            <a:graphicFrameLocks noChangeAspect="1"/>
          </p:cNvGraphicFramePr>
          <p:nvPr/>
        </p:nvGraphicFramePr>
        <p:xfrm>
          <a:off x="3779838" y="6148388"/>
          <a:ext cx="280987" cy="304800"/>
        </p:xfrm>
        <a:graphic>
          <a:graphicData uri="http://schemas.openxmlformats.org/presentationml/2006/ole">
            <mc:AlternateContent xmlns:mc="http://schemas.openxmlformats.org/markup-compatibility/2006">
              <mc:Choice xmlns:v="urn:schemas-microsoft-com:vml" Requires="v">
                <p:oleObj spid="_x0000_s3089" name="" r:id="rId1" imgW="152400" imgH="165100" progId="Equation.3">
                  <p:embed/>
                </p:oleObj>
              </mc:Choice>
              <mc:Fallback>
                <p:oleObj name="" r:id="rId1" imgW="152400" imgH="165100" progId="Equation.3">
                  <p:embed/>
                  <p:pic>
                    <p:nvPicPr>
                      <p:cNvPr id="0" name="图片 3088"/>
                      <p:cNvPicPr/>
                      <p:nvPr/>
                    </p:nvPicPr>
                    <p:blipFill>
                      <a:blip r:embed="rId2"/>
                      <a:stretch>
                        <a:fillRect/>
                      </a:stretch>
                    </p:blipFill>
                    <p:spPr>
                      <a:xfrm>
                        <a:off x="3779838" y="6148388"/>
                        <a:ext cx="280987" cy="304800"/>
                      </a:xfrm>
                      <a:prstGeom prst="rect">
                        <a:avLst/>
                      </a:prstGeom>
                      <a:noFill/>
                      <a:ln w="38100">
                        <a:noFill/>
                        <a:miter/>
                      </a:ln>
                    </p:spPr>
                  </p:pic>
                </p:oleObj>
              </mc:Fallback>
            </mc:AlternateContent>
          </a:graphicData>
        </a:graphic>
      </p:graphicFrame>
    </p:spTree>
  </p:cSld>
  <p:clrMapOvr>
    <a:masterClrMapping/>
  </p:clrMapOvr>
  <p:transition spd="slow"/>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a:t>
            </a:r>
            <a:r>
              <a:rPr lang="en-US" altLang="zh-CN" dirty="0">
                <a:latin typeface="Times New Roman" panose="02020603050405020304" pitchFamily="18" charset="0"/>
                <a:ea typeface="宋体" panose="02010600030101010101" pitchFamily="2" charset="-122"/>
              </a:rPr>
              <a:t>11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01731" name="Rectangle 3"/>
          <p:cNvSpPr>
            <a:spLocks noGrp="1"/>
          </p:cNvSpPr>
          <p:nvPr>
            <p:ph idx="1"/>
          </p:nvPr>
        </p:nvSpPr>
        <p:spPr>
          <a:xfrm>
            <a:off x="914400" y="1371600"/>
            <a:ext cx="7543800" cy="4724400"/>
          </a:xfrm>
        </p:spPr>
        <p:txBody>
          <a:bodyPr vert="horz" wrap="square" lIns="92075" tIns="46038" rIns="92075" bIns="46038" anchor="t" anchorCtr="0"/>
          <a:p>
            <a:pPr>
              <a:lnSpc>
                <a:spcPct val="90000"/>
              </a:lnSpc>
            </a:pPr>
            <a:r>
              <a:rPr lang="zh-CN" altLang="en-US" sz="2200" b="1" dirty="0">
                <a:ea typeface="宋体" panose="02010600030101010101" pitchFamily="2" charset="-122"/>
              </a:rPr>
              <a:t>多态函数的类型推导（续）</a:t>
            </a:r>
            <a:endParaRPr lang="zh-CN" altLang="en-US" sz="2200" b="1" dirty="0">
              <a:ea typeface="宋体" panose="02010600030101010101" pitchFamily="2" charset="-122"/>
            </a:endParaRPr>
          </a:p>
          <a:p>
            <a:pPr lvl="2">
              <a:lnSpc>
                <a:spcPct val="90000"/>
              </a:lnSpc>
            </a:pPr>
            <a:r>
              <a:rPr lang="zh-CN" altLang="en-US" sz="1800" b="1" dirty="0">
                <a:ea typeface="宋体" panose="02010600030101010101" pitchFamily="2" charset="-122"/>
              </a:rPr>
              <a:t>对函数应用</a:t>
            </a:r>
            <a:r>
              <a:rPr lang="en-US" altLang="zh-CN" sz="1800" i="1" dirty="0">
                <a:ea typeface="宋体" panose="02010600030101010101" pitchFamily="2" charset="-122"/>
              </a:rPr>
              <a:t>E</a:t>
            </a:r>
            <a:r>
              <a:rPr lang="en-US" altLang="zh-CN" sz="1800" i="1" baseline="-25000" dirty="0">
                <a:ea typeface="宋体" panose="02010600030101010101" pitchFamily="2" charset="-122"/>
              </a:rPr>
              <a:t>1</a:t>
            </a:r>
            <a:r>
              <a:rPr lang="zh-CN" altLang="en-US" sz="1800" i="1" baseline="-25000" dirty="0">
                <a:ea typeface="宋体" panose="02010600030101010101" pitchFamily="2" charset="-122"/>
              </a:rPr>
              <a:t> </a:t>
            </a:r>
            <a:r>
              <a:rPr lang="en-US" altLang="zh-CN" sz="1800" b="1" dirty="0">
                <a:ea typeface="宋体" panose="02010600030101010101" pitchFamily="2" charset="-122"/>
              </a:rPr>
              <a:t>(</a:t>
            </a:r>
            <a:r>
              <a:rPr lang="zh-CN" altLang="en-US" sz="1800" b="1" dirty="0">
                <a:ea typeface="宋体" panose="02010600030101010101" pitchFamily="2" charset="-122"/>
              </a:rPr>
              <a:t> </a:t>
            </a:r>
            <a:r>
              <a:rPr lang="en-US" altLang="zh-CN" sz="1800" i="1" dirty="0">
                <a:ea typeface="宋体" panose="02010600030101010101" pitchFamily="2" charset="-122"/>
              </a:rPr>
              <a:t>E</a:t>
            </a:r>
            <a:r>
              <a:rPr lang="en-US" altLang="zh-CN" sz="1800" i="1" baseline="-25000" dirty="0">
                <a:ea typeface="宋体" panose="02010600030101010101" pitchFamily="2" charset="-122"/>
              </a:rPr>
              <a:t>2</a:t>
            </a:r>
            <a:r>
              <a:rPr lang="en-US" altLang="zh-CN" sz="1800" b="1" dirty="0">
                <a:ea typeface="宋体" panose="02010600030101010101" pitchFamily="2" charset="-122"/>
              </a:rPr>
              <a:t> )</a:t>
            </a:r>
            <a:r>
              <a:rPr lang="zh-CN" altLang="en-US" sz="1800" b="1" dirty="0">
                <a:ea typeface="宋体" panose="02010600030101010101" pitchFamily="2" charset="-122"/>
              </a:rPr>
              <a:t>，推导出</a:t>
            </a:r>
            <a:r>
              <a:rPr lang="en-US" altLang="zh-CN" sz="1800" i="1" dirty="0">
                <a:ea typeface="宋体" panose="02010600030101010101" pitchFamily="2" charset="-122"/>
              </a:rPr>
              <a:t>E</a:t>
            </a:r>
            <a:r>
              <a:rPr lang="en-US" altLang="zh-CN" sz="1800" i="1" baseline="-25000" dirty="0">
                <a:ea typeface="宋体" panose="02010600030101010101" pitchFamily="2" charset="-122"/>
              </a:rPr>
              <a:t>1</a:t>
            </a:r>
            <a:r>
              <a:rPr lang="zh-CN" altLang="en-US" sz="1800" b="1" dirty="0">
                <a:ea typeface="宋体" panose="02010600030101010101" pitchFamily="2" charset="-122"/>
              </a:rPr>
              <a:t>和</a:t>
            </a:r>
            <a:r>
              <a:rPr lang="en-US" altLang="zh-CN" sz="1800" i="1" dirty="0">
                <a:ea typeface="宋体" panose="02010600030101010101" pitchFamily="2" charset="-122"/>
              </a:rPr>
              <a:t>E</a:t>
            </a:r>
            <a:r>
              <a:rPr lang="en-US" altLang="zh-CN" sz="1800" i="1" baseline="-25000" dirty="0">
                <a:ea typeface="宋体" panose="02010600030101010101" pitchFamily="2" charset="-122"/>
              </a:rPr>
              <a:t>2</a:t>
            </a:r>
            <a:r>
              <a:rPr lang="zh-CN" altLang="en-US" sz="1800" b="1" dirty="0">
                <a:ea typeface="宋体" panose="02010600030101010101" pitchFamily="2" charset="-122"/>
              </a:rPr>
              <a:t>的类型</a:t>
            </a:r>
            <a:endParaRPr lang="en-US" altLang="zh-CN" sz="1800" b="1" dirty="0">
              <a:ea typeface="宋体" panose="02010600030101010101" pitchFamily="2" charset="-122"/>
            </a:endParaRPr>
          </a:p>
          <a:p>
            <a:pPr lvl="3">
              <a:lnSpc>
                <a:spcPct val="90000"/>
              </a:lnSpc>
            </a:pPr>
            <a:r>
              <a:rPr lang="zh-CN" altLang="en-US" sz="1600" b="1" dirty="0">
                <a:ea typeface="宋体" panose="02010600030101010101" pitchFamily="2" charset="-122"/>
              </a:rPr>
              <a:t>因为</a:t>
            </a:r>
            <a:r>
              <a:rPr lang="en-US" altLang="zh-CN" sz="1600" i="1" dirty="0">
                <a:ea typeface="宋体" panose="02010600030101010101" pitchFamily="2" charset="-122"/>
              </a:rPr>
              <a:t>E</a:t>
            </a:r>
            <a:r>
              <a:rPr lang="en-US" altLang="zh-CN" sz="1600" i="1" baseline="-25000" dirty="0">
                <a:ea typeface="宋体" panose="02010600030101010101" pitchFamily="2" charset="-122"/>
              </a:rPr>
              <a:t>1</a:t>
            </a:r>
            <a:r>
              <a:rPr lang="zh-CN" altLang="en-US" sz="1600" b="1" dirty="0">
                <a:ea typeface="宋体" panose="02010600030101010101" pitchFamily="2" charset="-122"/>
              </a:rPr>
              <a:t>被用作一个函数，它的类型一定具有</a:t>
            </a:r>
            <a:r>
              <a:rPr lang="en-US" altLang="zh-CN" sz="1600" b="1" dirty="0">
                <a:ea typeface="宋体" panose="02010600030101010101" pitchFamily="2" charset="-122"/>
              </a:rPr>
              <a:t>s→s’</a:t>
            </a:r>
            <a:r>
              <a:rPr lang="zh-CN" altLang="en-US" sz="1600" b="1" dirty="0">
                <a:ea typeface="宋体" panose="02010600030101010101" pitchFamily="2" charset="-122"/>
              </a:rPr>
              <a:t>的形式（从技术上讲，</a:t>
            </a:r>
            <a:r>
              <a:rPr lang="en-US" altLang="zh-CN" sz="1600" i="1" dirty="0">
                <a:ea typeface="宋体" panose="02010600030101010101" pitchFamily="2" charset="-122"/>
              </a:rPr>
              <a:t> E</a:t>
            </a:r>
            <a:r>
              <a:rPr lang="en-US" altLang="zh-CN" sz="1600" i="1" baseline="-25000" dirty="0">
                <a:ea typeface="宋体" panose="02010600030101010101" pitchFamily="2" charset="-122"/>
              </a:rPr>
              <a:t>1</a:t>
            </a:r>
            <a:r>
              <a:rPr lang="zh-CN" altLang="en-US" sz="1600" b="1" dirty="0">
                <a:ea typeface="宋体" panose="02010600030101010101" pitchFamily="2" charset="-122"/>
              </a:rPr>
              <a:t>的类型必须和</a:t>
            </a:r>
            <a:r>
              <a:rPr lang="el-GR" altLang="zh-CN" sz="1600" b="1" dirty="0">
                <a:ea typeface="宋体" panose="02010600030101010101" pitchFamily="2" charset="-122"/>
              </a:rPr>
              <a:t>β→γ</a:t>
            </a:r>
            <a:r>
              <a:rPr lang="zh-CN" altLang="en-US" sz="1600" b="1" dirty="0">
                <a:ea typeface="宋体" panose="02010600030101010101" pitchFamily="2" charset="-122"/>
              </a:rPr>
              <a:t>合一，其中</a:t>
            </a:r>
            <a:r>
              <a:rPr lang="el-GR" altLang="zh-CN" sz="1600" b="1" dirty="0">
                <a:ea typeface="宋体" panose="02010600030101010101" pitchFamily="2" charset="-122"/>
              </a:rPr>
              <a:t>β</a:t>
            </a:r>
            <a:r>
              <a:rPr lang="zh-CN" altLang="en-US" sz="1600" b="1" dirty="0">
                <a:ea typeface="宋体" panose="02010600030101010101" pitchFamily="2" charset="-122"/>
              </a:rPr>
              <a:t>和</a:t>
            </a:r>
            <a:r>
              <a:rPr lang="el-GR" altLang="zh-CN" sz="1600" b="1" dirty="0">
                <a:ea typeface="宋体" panose="02010600030101010101" pitchFamily="2" charset="-122"/>
              </a:rPr>
              <a:t>γ</a:t>
            </a:r>
            <a:r>
              <a:rPr lang="zh-CN" altLang="en-US" sz="1600" b="1" dirty="0">
                <a:ea typeface="宋体" panose="02010600030101010101" pitchFamily="2" charset="-122"/>
              </a:rPr>
              <a:t>是新的类型变量）</a:t>
            </a:r>
            <a:endParaRPr lang="en-US" altLang="zh-CN" sz="1600" b="1" dirty="0">
              <a:ea typeface="宋体" panose="02010600030101010101" pitchFamily="2" charset="-122"/>
            </a:endParaRPr>
          </a:p>
          <a:p>
            <a:pPr lvl="3">
              <a:lnSpc>
                <a:spcPct val="90000"/>
              </a:lnSpc>
            </a:pPr>
            <a:r>
              <a:rPr lang="zh-CN" altLang="en-US" sz="1600" b="1" dirty="0">
                <a:ea typeface="宋体" panose="02010600030101010101" pitchFamily="2" charset="-122"/>
              </a:rPr>
              <a:t>假定推导得到的</a:t>
            </a:r>
            <a:r>
              <a:rPr lang="en-US" altLang="zh-CN" sz="1600" i="1" dirty="0">
                <a:ea typeface="宋体" panose="02010600030101010101" pitchFamily="2" charset="-122"/>
              </a:rPr>
              <a:t>E</a:t>
            </a:r>
            <a:r>
              <a:rPr lang="en-US" altLang="zh-CN" sz="1600" i="1" baseline="-25000" dirty="0">
                <a:ea typeface="宋体" panose="02010600030101010101" pitchFamily="2" charset="-122"/>
              </a:rPr>
              <a:t>2</a:t>
            </a:r>
            <a:r>
              <a:rPr lang="zh-CN" altLang="en-US" sz="1600" b="1" dirty="0">
                <a:ea typeface="宋体" panose="02010600030101010101" pitchFamily="2" charset="-122"/>
              </a:rPr>
              <a:t>的类型为</a:t>
            </a:r>
            <a:r>
              <a:rPr lang="en-US" altLang="zh-CN" sz="1600" b="1" dirty="0">
                <a:ea typeface="宋体" panose="02010600030101010101" pitchFamily="2" charset="-122"/>
              </a:rPr>
              <a:t>t</a:t>
            </a:r>
            <a:endParaRPr lang="en-US" altLang="zh-CN" sz="1600" b="1" dirty="0">
              <a:ea typeface="宋体" panose="02010600030101010101" pitchFamily="2" charset="-122"/>
            </a:endParaRPr>
          </a:p>
          <a:p>
            <a:pPr lvl="3">
              <a:lnSpc>
                <a:spcPct val="90000"/>
              </a:lnSpc>
            </a:pPr>
            <a:r>
              <a:rPr lang="zh-CN" altLang="en-US" sz="1600" b="1" dirty="0">
                <a:ea typeface="宋体" panose="02010600030101010101" pitchFamily="2" charset="-122"/>
              </a:rPr>
              <a:t>对</a:t>
            </a:r>
            <a:r>
              <a:rPr lang="en-US" altLang="zh-CN" sz="1600" b="1" dirty="0">
                <a:ea typeface="宋体" panose="02010600030101010101" pitchFamily="2" charset="-122"/>
              </a:rPr>
              <a:t>s</a:t>
            </a:r>
            <a:r>
              <a:rPr lang="zh-CN" altLang="en-US" sz="1600" b="1" dirty="0">
                <a:ea typeface="宋体" panose="02010600030101010101" pitchFamily="2" charset="-122"/>
              </a:rPr>
              <a:t>和</a:t>
            </a:r>
            <a:r>
              <a:rPr lang="en-US" altLang="zh-CN" sz="1600" b="1" dirty="0">
                <a:ea typeface="宋体" panose="02010600030101010101" pitchFamily="2" charset="-122"/>
              </a:rPr>
              <a:t>t</a:t>
            </a:r>
            <a:r>
              <a:rPr lang="zh-CN" altLang="en-US" sz="1600" b="1" dirty="0">
                <a:ea typeface="宋体" panose="02010600030101010101" pitchFamily="2" charset="-122"/>
              </a:rPr>
              <a:t>进行合一处理，如果合一失败，则表达式返回类型错误；否则推导得到的</a:t>
            </a:r>
            <a:r>
              <a:rPr lang="en-US" altLang="zh-CN" sz="1600" i="1" dirty="0">
                <a:ea typeface="宋体" panose="02010600030101010101" pitchFamily="2" charset="-122"/>
              </a:rPr>
              <a:t>E</a:t>
            </a:r>
            <a:r>
              <a:rPr lang="en-US" altLang="zh-CN" sz="1600" i="1" baseline="-25000" dirty="0">
                <a:ea typeface="宋体" panose="02010600030101010101" pitchFamily="2" charset="-122"/>
              </a:rPr>
              <a:t>1</a:t>
            </a:r>
            <a:r>
              <a:rPr lang="zh-CN" altLang="en-US" sz="1600" i="1" baseline="-25000" dirty="0">
                <a:ea typeface="宋体" panose="02010600030101010101" pitchFamily="2" charset="-122"/>
              </a:rPr>
              <a:t> </a:t>
            </a:r>
            <a:r>
              <a:rPr lang="en-US" altLang="zh-CN" sz="1600" b="1" dirty="0">
                <a:ea typeface="宋体" panose="02010600030101010101" pitchFamily="2" charset="-122"/>
              </a:rPr>
              <a:t>(</a:t>
            </a:r>
            <a:r>
              <a:rPr lang="zh-CN" altLang="en-US" sz="1600" b="1" dirty="0">
                <a:ea typeface="宋体" panose="02010600030101010101" pitchFamily="2" charset="-122"/>
              </a:rPr>
              <a:t> </a:t>
            </a:r>
            <a:r>
              <a:rPr lang="en-US" altLang="zh-CN" sz="1600" i="1" dirty="0">
                <a:ea typeface="宋体" panose="02010600030101010101" pitchFamily="2" charset="-122"/>
              </a:rPr>
              <a:t>E</a:t>
            </a:r>
            <a:r>
              <a:rPr lang="en-US" altLang="zh-CN" sz="1600" i="1" baseline="-25000" dirty="0">
                <a:ea typeface="宋体" panose="02010600030101010101" pitchFamily="2" charset="-122"/>
              </a:rPr>
              <a:t>2</a:t>
            </a:r>
            <a:r>
              <a:rPr lang="en-US" altLang="zh-CN" sz="1600" b="1" dirty="0">
                <a:ea typeface="宋体" panose="02010600030101010101" pitchFamily="2" charset="-122"/>
              </a:rPr>
              <a:t> )</a:t>
            </a:r>
            <a:r>
              <a:rPr lang="zh-CN" altLang="en-US" sz="1600" b="1" dirty="0">
                <a:ea typeface="宋体" panose="02010600030101010101" pitchFamily="2" charset="-122"/>
              </a:rPr>
              <a:t>的类型为</a:t>
            </a:r>
            <a:r>
              <a:rPr lang="en-US" altLang="zh-CN" sz="1600" b="1" dirty="0">
                <a:ea typeface="宋体" panose="02010600030101010101" pitchFamily="2" charset="-122"/>
              </a:rPr>
              <a:t>s’</a:t>
            </a:r>
            <a:endParaRPr lang="en-US" altLang="zh-CN" sz="1600" b="1" dirty="0">
              <a:ea typeface="宋体" panose="02010600030101010101" pitchFamily="2" charset="-122"/>
            </a:endParaRPr>
          </a:p>
          <a:p>
            <a:pPr lvl="2">
              <a:lnSpc>
                <a:spcPct val="90000"/>
              </a:lnSpc>
            </a:pPr>
            <a:r>
              <a:rPr lang="zh-CN" altLang="en-US" sz="1800" b="1" dirty="0">
                <a:ea typeface="宋体" panose="02010600030101010101" pitchFamily="2" charset="-122"/>
              </a:rPr>
              <a:t>对一个多态函数的每次出现，将它的类型表达式中的受限变量替换为互不相同的新变量，并移除全称量词    。替换得到的类型表达式就是这个多态函数的本次出现所对应的推导类型</a:t>
            </a:r>
            <a:endParaRPr lang="en-US" altLang="zh-CN" sz="1800" b="1" dirty="0">
              <a:ea typeface="宋体" panose="02010600030101010101" pitchFamily="2" charset="-122"/>
            </a:endParaRPr>
          </a:p>
          <a:p>
            <a:pPr lvl="2">
              <a:lnSpc>
                <a:spcPct val="90000"/>
              </a:lnSpc>
            </a:pPr>
            <a:r>
              <a:rPr lang="zh-CN" altLang="en-US" sz="1800" b="1" dirty="0">
                <a:ea typeface="宋体" panose="02010600030101010101" pitchFamily="2" charset="-122"/>
              </a:rPr>
              <a:t>对于第一次碰到的变量，引入一个新的类型变量来代表其类型</a:t>
            </a:r>
            <a:endParaRPr lang="en-US" altLang="zh-CN" sz="1800" b="1" dirty="0">
              <a:ea typeface="宋体" panose="02010600030101010101" pitchFamily="2" charset="-122"/>
            </a:endParaRPr>
          </a:p>
        </p:txBody>
      </p:sp>
      <p:graphicFrame>
        <p:nvGraphicFramePr>
          <p:cNvPr id="201732" name="Object 4"/>
          <p:cNvGraphicFramePr>
            <a:graphicFrameLocks noChangeAspect="1"/>
          </p:cNvGraphicFramePr>
          <p:nvPr/>
        </p:nvGraphicFramePr>
        <p:xfrm>
          <a:off x="6516688" y="3500438"/>
          <a:ext cx="280987" cy="304800"/>
        </p:xfrm>
        <a:graphic>
          <a:graphicData uri="http://schemas.openxmlformats.org/presentationml/2006/ole">
            <mc:AlternateContent xmlns:mc="http://schemas.openxmlformats.org/markup-compatibility/2006">
              <mc:Choice xmlns:v="urn:schemas-microsoft-com:vml" Requires="v">
                <p:oleObj spid="_x0000_s3093" name="" r:id="rId1" imgW="152400" imgH="165100" progId="Equation.3">
                  <p:embed/>
                </p:oleObj>
              </mc:Choice>
              <mc:Fallback>
                <p:oleObj name="" r:id="rId1" imgW="152400" imgH="165100" progId="Equation.3">
                  <p:embed/>
                  <p:pic>
                    <p:nvPicPr>
                      <p:cNvPr id="0" name="图片 3092"/>
                      <p:cNvPicPr/>
                      <p:nvPr/>
                    </p:nvPicPr>
                    <p:blipFill>
                      <a:blip r:embed="rId2"/>
                      <a:stretch>
                        <a:fillRect/>
                      </a:stretch>
                    </p:blipFill>
                    <p:spPr>
                      <a:xfrm>
                        <a:off x="6516688" y="3500438"/>
                        <a:ext cx="280987" cy="304800"/>
                      </a:xfrm>
                      <a:prstGeom prst="rect">
                        <a:avLst/>
                      </a:prstGeom>
                      <a:noFill/>
                      <a:ln w="38100">
                        <a:noFill/>
                        <a:miter/>
                      </a:ln>
                    </p:spPr>
                  </p:pic>
                </p:oleObj>
              </mc:Fallback>
            </mc:AlternateContent>
          </a:graphicData>
        </a:graphic>
      </p:graphicFrame>
    </p:spTree>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a:t>
            </a:r>
            <a:r>
              <a:rPr lang="en-US" altLang="zh-CN" dirty="0">
                <a:latin typeface="Times New Roman" panose="02020603050405020304" pitchFamily="18" charset="0"/>
                <a:ea typeface="宋体" panose="02010600030101010101" pitchFamily="2" charset="-122"/>
              </a:rPr>
              <a:t>12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pic>
        <p:nvPicPr>
          <p:cNvPr id="203779" name="Picture 2"/>
          <p:cNvPicPr>
            <a:picLocks noChangeAspect="1"/>
          </p:cNvPicPr>
          <p:nvPr/>
        </p:nvPicPr>
        <p:blipFill>
          <a:blip r:embed="rId1"/>
          <a:stretch>
            <a:fillRect/>
          </a:stretch>
        </p:blipFill>
        <p:spPr>
          <a:xfrm>
            <a:off x="304800" y="1363663"/>
            <a:ext cx="8458200" cy="5160962"/>
          </a:xfrm>
          <a:prstGeom prst="rect">
            <a:avLst/>
          </a:prstGeom>
          <a:noFill/>
          <a:ln w="9525">
            <a:noFill/>
          </a:ln>
        </p:spPr>
      </p:pic>
    </p:spTree>
  </p:cSld>
  <p:clrMapOvr>
    <a:masterClrMapping/>
  </p:clrMapOvr>
  <p:transition spd="slow"/>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a:t>
            </a:r>
            <a:r>
              <a:rPr lang="en-US" altLang="zh-CN" dirty="0">
                <a:latin typeface="Times New Roman" panose="02020603050405020304" pitchFamily="18" charset="0"/>
                <a:ea typeface="宋体" panose="02010600030101010101" pitchFamily="2" charset="-122"/>
              </a:rPr>
              <a:t>13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05827" name="Rectangle 3"/>
          <p:cNvSpPr>
            <a:spLocks noGrp="1"/>
          </p:cNvSpPr>
          <p:nvPr>
            <p:ph idx="1"/>
          </p:nvPr>
        </p:nvSpPr>
        <p:spPr>
          <a:xfrm>
            <a:off x="755650" y="1371600"/>
            <a:ext cx="7702550" cy="4724400"/>
          </a:xfrm>
        </p:spPr>
        <p:txBody>
          <a:bodyPr vert="horz" wrap="square" lIns="92075" tIns="46038" rIns="92075" bIns="46038" anchor="t" anchorCtr="0"/>
          <a:p>
            <a:pPr>
              <a:lnSpc>
                <a:spcPct val="90000"/>
              </a:lnSpc>
            </a:pPr>
            <a:r>
              <a:rPr lang="zh-CN" altLang="en-US" sz="2200" b="1" dirty="0">
                <a:ea typeface="宋体" panose="02010600030101010101" pitchFamily="2" charset="-122"/>
              </a:rPr>
              <a:t>以</a:t>
            </a:r>
            <a:r>
              <a:rPr lang="en-US" altLang="zh-CN" sz="2200" i="1" dirty="0">
                <a:ea typeface="宋体" panose="02010600030101010101" pitchFamily="2" charset="-122"/>
              </a:rPr>
              <a:t>length</a:t>
            </a:r>
            <a:r>
              <a:rPr lang="zh-CN" altLang="en-US" sz="2200" b="1" dirty="0">
                <a:ea typeface="宋体" panose="02010600030101010101" pitchFamily="2" charset="-122"/>
              </a:rPr>
              <a:t>为例，采用上述方法进行类型推导</a:t>
            </a:r>
            <a:endParaRPr lang="zh-CN" altLang="en-US" sz="2200" b="1" dirty="0">
              <a:ea typeface="宋体" panose="02010600030101010101" pitchFamily="2" charset="-122"/>
            </a:endParaRPr>
          </a:p>
          <a:p>
            <a:pPr lvl="1">
              <a:lnSpc>
                <a:spcPct val="90000"/>
              </a:lnSpc>
            </a:pPr>
            <a:r>
              <a:rPr lang="zh-CN" altLang="en-US" sz="2000" b="1" dirty="0">
                <a:ea typeface="宋体" panose="02010600030101010101" pitchFamily="2" charset="-122"/>
              </a:rPr>
              <a:t>图</a:t>
            </a:r>
            <a:r>
              <a:rPr lang="en-US" altLang="zh-CN" sz="2000" b="1" dirty="0">
                <a:ea typeface="宋体" panose="02010600030101010101" pitchFamily="2" charset="-122"/>
              </a:rPr>
              <a:t>6-29</a:t>
            </a:r>
            <a:r>
              <a:rPr lang="zh-CN" altLang="en-US" sz="2000" b="1" dirty="0">
                <a:ea typeface="宋体" panose="02010600030101010101" pitchFamily="2" charset="-122"/>
              </a:rPr>
              <a:t>的语法树表示了这个函数定义</a:t>
            </a:r>
            <a:endParaRPr lang="zh-CN" altLang="en-US" sz="2000" b="1" dirty="0">
              <a:ea typeface="宋体" panose="02010600030101010101" pitchFamily="2" charset="-122"/>
            </a:endParaRPr>
          </a:p>
          <a:p>
            <a:pPr lvl="1">
              <a:lnSpc>
                <a:spcPct val="90000"/>
              </a:lnSpc>
            </a:pPr>
            <a:r>
              <a:rPr lang="zh-CN" altLang="en-US" sz="2000" b="1" dirty="0">
                <a:ea typeface="宋体" panose="02010600030101010101" pitchFamily="2" charset="-122"/>
              </a:rPr>
              <a:t>引入变量</a:t>
            </a:r>
            <a:r>
              <a:rPr lang="el-GR" altLang="zh-CN" sz="2000" b="1" dirty="0">
                <a:ea typeface="宋体" panose="02010600030101010101" pitchFamily="2" charset="-122"/>
              </a:rPr>
              <a:t>β</a:t>
            </a:r>
            <a:r>
              <a:rPr lang="zh-CN" altLang="en-US" sz="2000" b="1" dirty="0">
                <a:ea typeface="宋体" panose="02010600030101010101" pitchFamily="2" charset="-122"/>
              </a:rPr>
              <a:t>和</a:t>
            </a:r>
            <a:r>
              <a:rPr lang="el-GR" altLang="zh-CN" sz="2000" b="1" dirty="0">
                <a:ea typeface="宋体" panose="02010600030101010101" pitchFamily="2" charset="-122"/>
              </a:rPr>
              <a:t>γ</a:t>
            </a:r>
            <a:r>
              <a:rPr lang="zh-CN" altLang="en-US" sz="2000" b="1" dirty="0">
                <a:ea typeface="宋体" panose="02010600030101010101" pitchFamily="2" charset="-122"/>
              </a:rPr>
              <a:t>，并将类型</a:t>
            </a:r>
            <a:r>
              <a:rPr lang="el-GR" altLang="zh-CN" sz="2000" b="1" dirty="0">
                <a:ea typeface="宋体" panose="02010600030101010101" pitchFamily="2" charset="-122"/>
              </a:rPr>
              <a:t>β→γ</a:t>
            </a:r>
            <a:r>
              <a:rPr lang="zh-CN" altLang="en-US" sz="2000" b="1" dirty="0">
                <a:ea typeface="宋体" panose="02010600030101010101" pitchFamily="2" charset="-122"/>
              </a:rPr>
              <a:t>关联到函数</a:t>
            </a:r>
            <a:r>
              <a:rPr lang="en-US" altLang="zh-CN" sz="2000" i="1" dirty="0">
                <a:ea typeface="宋体" panose="02010600030101010101" pitchFamily="2" charset="-122"/>
              </a:rPr>
              <a:t>length</a:t>
            </a:r>
            <a:r>
              <a:rPr lang="zh-CN" altLang="en-US" sz="2000" b="1" dirty="0">
                <a:ea typeface="宋体" panose="02010600030101010101" pitchFamily="2" charset="-122"/>
              </a:rPr>
              <a:t>，将</a:t>
            </a:r>
            <a:r>
              <a:rPr lang="el-GR" altLang="zh-CN" sz="2000" b="1" dirty="0">
                <a:ea typeface="宋体" panose="02010600030101010101" pitchFamily="2" charset="-122"/>
              </a:rPr>
              <a:t>β</a:t>
            </a:r>
            <a:r>
              <a:rPr lang="zh-CN" altLang="en-US" sz="2000" b="1" dirty="0">
                <a:ea typeface="宋体" panose="02010600030101010101" pitchFamily="2" charset="-122"/>
              </a:rPr>
              <a:t>关联到</a:t>
            </a:r>
            <a:r>
              <a:rPr lang="en-US" altLang="zh-CN" sz="2000" i="1" dirty="0">
                <a:ea typeface="宋体" panose="02010600030101010101" pitchFamily="2" charset="-122"/>
              </a:rPr>
              <a:t>x</a:t>
            </a:r>
            <a:endParaRPr lang="en-US" altLang="zh-CN" sz="2000" i="1" dirty="0">
              <a:ea typeface="宋体" panose="02010600030101010101" pitchFamily="2" charset="-122"/>
            </a:endParaRPr>
          </a:p>
          <a:p>
            <a:pPr lvl="1">
              <a:lnSpc>
                <a:spcPct val="90000"/>
              </a:lnSpc>
            </a:pPr>
            <a:r>
              <a:rPr lang="zh-CN" altLang="en-US" sz="2000" b="1" dirty="0">
                <a:ea typeface="宋体" panose="02010600030101010101" pitchFamily="2" charset="-122"/>
              </a:rPr>
              <a:t>将</a:t>
            </a:r>
            <a:r>
              <a:rPr lang="en-US" altLang="zh-CN" sz="2000" b="1" dirty="0">
                <a:ea typeface="宋体" panose="02010600030101010101" pitchFamily="2" charset="-122"/>
              </a:rPr>
              <a:t>if</a:t>
            </a:r>
            <a:r>
              <a:rPr lang="zh-CN" altLang="en-US" sz="2000" b="1" dirty="0">
                <a:ea typeface="宋体" panose="02010600030101010101" pitchFamily="2" charset="-122"/>
              </a:rPr>
              <a:t>看成是一个应用到三元组上的多态函数，所以</a:t>
            </a:r>
            <a:r>
              <a:rPr lang="en-US" altLang="zh-CN" sz="2000" b="1" dirty="0">
                <a:ea typeface="宋体" panose="02010600030101010101" pitchFamily="2" charset="-122"/>
              </a:rPr>
              <a:t>if</a:t>
            </a:r>
            <a:r>
              <a:rPr lang="zh-CN" altLang="en-US" sz="2000" b="1" dirty="0">
                <a:ea typeface="宋体" panose="02010600030101010101" pitchFamily="2" charset="-122"/>
              </a:rPr>
              <a:t>的类型是</a:t>
            </a:r>
            <a:endParaRPr lang="en-US" altLang="zh-CN" sz="2000" b="1" dirty="0">
              <a:ea typeface="宋体" panose="02010600030101010101" pitchFamily="2" charset="-122"/>
            </a:endParaRPr>
          </a:p>
          <a:p>
            <a:pPr lvl="1">
              <a:lnSpc>
                <a:spcPct val="90000"/>
              </a:lnSpc>
            </a:pP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多态函数</a:t>
            </a:r>
            <a:r>
              <a:rPr lang="en-US" altLang="zh-CN" sz="2000" b="1" dirty="0">
                <a:ea typeface="宋体" panose="02010600030101010101" pitchFamily="2" charset="-122"/>
              </a:rPr>
              <a:t>if</a:t>
            </a:r>
            <a:r>
              <a:rPr lang="zh-CN" altLang="en-US" sz="2000" b="1" dirty="0">
                <a:ea typeface="宋体" panose="02010600030101010101" pitchFamily="2" charset="-122"/>
              </a:rPr>
              <a:t>的每次应用可能作用于不同的类型，因此选用一个新的变量</a:t>
            </a:r>
            <a:r>
              <a:rPr lang="el-GR" altLang="zh-CN" sz="2000" b="1" i="1" dirty="0">
                <a:ea typeface="宋体" panose="02010600030101010101" pitchFamily="2" charset="-122"/>
              </a:rPr>
              <a:t>α</a:t>
            </a:r>
            <a:r>
              <a:rPr lang="en-US" altLang="zh-CN" sz="2000" b="1" i="1" baseline="-25000" dirty="0">
                <a:ea typeface="宋体" panose="02010600030101010101" pitchFamily="2" charset="-122"/>
              </a:rPr>
              <a:t>i</a:t>
            </a:r>
            <a:r>
              <a:rPr lang="zh-CN" altLang="en-US" sz="2000" b="1" dirty="0">
                <a:ea typeface="宋体" panose="02010600030101010101" pitchFamily="2" charset="-122"/>
              </a:rPr>
              <a:t>，并移除全称量词（如图</a:t>
            </a:r>
            <a:r>
              <a:rPr lang="en-US" altLang="zh-CN" sz="2000" b="1" dirty="0">
                <a:ea typeface="宋体" panose="02010600030101010101" pitchFamily="2" charset="-122"/>
              </a:rPr>
              <a:t>6-30</a:t>
            </a:r>
            <a:r>
              <a:rPr lang="zh-CN" altLang="en-US" sz="2000" b="1" dirty="0">
                <a:ea typeface="宋体" panose="02010600030101010101" pitchFamily="2" charset="-122"/>
              </a:rPr>
              <a:t>的第</a:t>
            </a:r>
            <a:r>
              <a:rPr lang="en-US" altLang="zh-CN" sz="2000" b="1" dirty="0">
                <a:ea typeface="宋体" panose="02010600030101010101" pitchFamily="2" charset="-122"/>
              </a:rPr>
              <a:t>3</a:t>
            </a:r>
            <a:r>
              <a:rPr lang="zh-CN" altLang="en-US" sz="2000" b="1" dirty="0">
                <a:ea typeface="宋体" panose="02010600030101010101" pitchFamily="2" charset="-122"/>
              </a:rPr>
              <a:t>行）</a:t>
            </a:r>
            <a:endParaRPr lang="en-US" altLang="zh-CN" sz="2000" b="1" dirty="0">
              <a:ea typeface="宋体" panose="02010600030101010101" pitchFamily="2" charset="-122"/>
            </a:endParaRPr>
          </a:p>
          <a:p>
            <a:pPr lvl="1">
              <a:lnSpc>
                <a:spcPct val="90000"/>
              </a:lnSpc>
            </a:pPr>
            <a:r>
              <a:rPr lang="en-US" altLang="zh-CN" sz="2000" b="1" dirty="0">
                <a:ea typeface="宋体" panose="02010600030101010101" pitchFamily="2" charset="-122"/>
              </a:rPr>
              <a:t>if</a:t>
            </a:r>
            <a:r>
              <a:rPr lang="zh-CN" altLang="en-US" sz="2000" b="1" dirty="0">
                <a:ea typeface="宋体" panose="02010600030101010101" pitchFamily="2" charset="-122"/>
              </a:rPr>
              <a:t>的左子结点的类型必须与</a:t>
            </a:r>
            <a:r>
              <a:rPr lang="en-US" altLang="zh-CN" sz="2000" b="1" dirty="0">
                <a:ea typeface="宋体" panose="02010600030101010101" pitchFamily="2" charset="-122"/>
              </a:rPr>
              <a:t>boolean</a:t>
            </a:r>
            <a:r>
              <a:rPr lang="zh-CN" altLang="en-US" sz="2000" b="1" dirty="0">
                <a:ea typeface="宋体" panose="02010600030101010101" pitchFamily="2" charset="-122"/>
              </a:rPr>
              <a:t>合一，其它两个子结点的类型必须与</a:t>
            </a:r>
            <a:r>
              <a:rPr lang="el-GR" altLang="zh-CN" sz="2000" b="1" i="1" dirty="0">
                <a:ea typeface="宋体" panose="02010600030101010101" pitchFamily="2" charset="-122"/>
              </a:rPr>
              <a:t>α</a:t>
            </a:r>
            <a:r>
              <a:rPr lang="en-US" altLang="zh-CN" sz="2000" b="1" i="1" baseline="-25000" dirty="0">
                <a:ea typeface="宋体" panose="02010600030101010101" pitchFamily="2" charset="-122"/>
              </a:rPr>
              <a:t>i</a:t>
            </a:r>
            <a:r>
              <a:rPr lang="zh-CN" altLang="en-US" sz="2000" b="1" dirty="0">
                <a:ea typeface="宋体" panose="02010600030101010101" pitchFamily="2" charset="-122"/>
              </a:rPr>
              <a:t>合一</a:t>
            </a:r>
            <a:endParaRPr lang="zh-CN" altLang="en-US" sz="2000" b="1" dirty="0">
              <a:ea typeface="宋体" panose="02010600030101010101" pitchFamily="2" charset="-122"/>
            </a:endParaRPr>
          </a:p>
        </p:txBody>
      </p:sp>
      <p:graphicFrame>
        <p:nvGraphicFramePr>
          <p:cNvPr id="205828" name="Object 6"/>
          <p:cNvGraphicFramePr>
            <a:graphicFrameLocks noChangeAspect="1"/>
          </p:cNvGraphicFramePr>
          <p:nvPr/>
        </p:nvGraphicFramePr>
        <p:xfrm>
          <a:off x="1619250" y="2740025"/>
          <a:ext cx="3441700" cy="328613"/>
        </p:xfrm>
        <a:graphic>
          <a:graphicData uri="http://schemas.openxmlformats.org/presentationml/2006/ole">
            <mc:AlternateContent xmlns:mc="http://schemas.openxmlformats.org/markup-compatibility/2006">
              <mc:Choice xmlns:v="urn:schemas-microsoft-com:vml" Requires="v">
                <p:oleObj spid="_x0000_s3092" name="" r:id="rId1" imgW="1866265" imgH="177800" progId="Equation.3">
                  <p:embed/>
                </p:oleObj>
              </mc:Choice>
              <mc:Fallback>
                <p:oleObj name="" r:id="rId1" imgW="1866265" imgH="177800" progId="Equation.3">
                  <p:embed/>
                  <p:pic>
                    <p:nvPicPr>
                      <p:cNvPr id="0" name="图片 3091"/>
                      <p:cNvPicPr/>
                      <p:nvPr/>
                    </p:nvPicPr>
                    <p:blipFill>
                      <a:blip r:embed="rId2"/>
                      <a:stretch>
                        <a:fillRect/>
                      </a:stretch>
                    </p:blipFill>
                    <p:spPr>
                      <a:xfrm>
                        <a:off x="1619250" y="2740025"/>
                        <a:ext cx="3441700" cy="328613"/>
                      </a:xfrm>
                      <a:prstGeom prst="rect">
                        <a:avLst/>
                      </a:prstGeom>
                      <a:noFill/>
                      <a:ln w="38100">
                        <a:noFill/>
                        <a:miter/>
                      </a:ln>
                    </p:spPr>
                  </p:pic>
                </p:oleObj>
              </mc:Fallback>
            </mc:AlternateContent>
          </a:graphicData>
        </a:graphic>
      </p:graphicFrame>
      <p:pic>
        <p:nvPicPr>
          <p:cNvPr id="205829" name="Picture 2"/>
          <p:cNvPicPr>
            <a:picLocks noChangeAspect="1"/>
          </p:cNvPicPr>
          <p:nvPr/>
        </p:nvPicPr>
        <p:blipFill>
          <a:blip r:embed="rId3"/>
          <a:stretch>
            <a:fillRect/>
          </a:stretch>
        </p:blipFill>
        <p:spPr>
          <a:xfrm>
            <a:off x="0" y="4292600"/>
            <a:ext cx="9144000" cy="2592388"/>
          </a:xfrm>
          <a:prstGeom prst="rect">
            <a:avLst/>
          </a:prstGeom>
          <a:noFill/>
          <a:ln w="9525">
            <a:noFill/>
          </a:ln>
        </p:spPr>
      </p:pic>
    </p:spTree>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787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a:t>
            </a:r>
            <a:r>
              <a:rPr lang="en-US" altLang="zh-CN" dirty="0">
                <a:latin typeface="Times New Roman" panose="02020603050405020304" pitchFamily="18" charset="0"/>
                <a:ea typeface="宋体" panose="02010600030101010101" pitchFamily="2" charset="-122"/>
              </a:rPr>
              <a:t>14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07875" name="Rectangle 3"/>
          <p:cNvSpPr>
            <a:spLocks noGrp="1"/>
          </p:cNvSpPr>
          <p:nvPr>
            <p:ph idx="1"/>
          </p:nvPr>
        </p:nvSpPr>
        <p:spPr>
          <a:xfrm>
            <a:off x="539750" y="1371600"/>
            <a:ext cx="8208963" cy="4724400"/>
          </a:xfrm>
        </p:spPr>
        <p:txBody>
          <a:bodyPr vert="horz" wrap="square" lIns="92075" tIns="46038" rIns="92075" bIns="46038" anchor="t" anchorCtr="0"/>
          <a:p>
            <a:pPr lvl="1">
              <a:lnSpc>
                <a:spcPct val="90000"/>
              </a:lnSpc>
            </a:pPr>
            <a:r>
              <a:rPr lang="zh-CN" altLang="en-US" sz="2000" b="1" dirty="0">
                <a:ea typeface="宋体" panose="02010600030101010101" pitchFamily="2" charset="-122"/>
              </a:rPr>
              <a:t>预定义函数</a:t>
            </a:r>
            <a:r>
              <a:rPr lang="en-US" altLang="zh-CN" sz="2000" i="1" dirty="0">
                <a:ea typeface="宋体" panose="02010600030101010101" pitchFamily="2" charset="-122"/>
              </a:rPr>
              <a:t>null</a:t>
            </a:r>
            <a:r>
              <a:rPr lang="zh-CN" altLang="en-US" sz="2000" b="1" dirty="0">
                <a:ea typeface="宋体" panose="02010600030101010101" pitchFamily="2" charset="-122"/>
              </a:rPr>
              <a:t>的类型是                                                  ，此时使用一个新的类型变量</a:t>
            </a:r>
            <a:r>
              <a:rPr lang="el-GR" altLang="zh-CN" sz="2000" i="1" dirty="0">
                <a:ea typeface="宋体" panose="02010600030101010101" pitchFamily="2" charset="-122"/>
              </a:rPr>
              <a:t>α</a:t>
            </a:r>
            <a:r>
              <a:rPr lang="en-US" altLang="zh-CN" sz="2000" i="1" baseline="-25000" dirty="0">
                <a:ea typeface="宋体" panose="02010600030101010101" pitchFamily="2" charset="-122"/>
              </a:rPr>
              <a:t>n</a:t>
            </a:r>
            <a:r>
              <a:rPr lang="zh-CN" altLang="en-US" sz="2000" b="1" dirty="0">
                <a:ea typeface="宋体" panose="02010600030101010101" pitchFamily="2" charset="-122"/>
              </a:rPr>
              <a:t>（其中</a:t>
            </a:r>
            <a:r>
              <a:rPr lang="en-US" altLang="zh-CN" sz="2000" i="1" dirty="0">
                <a:ea typeface="宋体" panose="02010600030101010101" pitchFamily="2" charset="-122"/>
              </a:rPr>
              <a:t>n</a:t>
            </a:r>
            <a:r>
              <a:rPr lang="zh-CN" altLang="en-US" sz="2000" b="1" dirty="0">
                <a:ea typeface="宋体" panose="02010600030101010101" pitchFamily="2" charset="-122"/>
              </a:rPr>
              <a:t>表示</a:t>
            </a:r>
            <a:r>
              <a:rPr lang="en-US" altLang="zh-CN" sz="2000" i="1" dirty="0">
                <a:ea typeface="宋体" panose="02010600030101010101" pitchFamily="2" charset="-122"/>
              </a:rPr>
              <a:t>null </a:t>
            </a:r>
            <a:r>
              <a:rPr lang="zh-CN" altLang="en-US" sz="2000" b="1" dirty="0">
                <a:ea typeface="宋体" panose="02010600030101010101" pitchFamily="2" charset="-122"/>
              </a:rPr>
              <a:t>）替换受限变量</a:t>
            </a:r>
            <a:r>
              <a:rPr lang="el-GR" altLang="zh-CN" sz="2000" i="1" dirty="0">
                <a:ea typeface="宋体" panose="02010600030101010101" pitchFamily="2" charset="-122"/>
              </a:rPr>
              <a:t>α </a:t>
            </a:r>
            <a:r>
              <a:rPr lang="zh-CN" altLang="en-US" sz="2000" b="1" dirty="0">
                <a:ea typeface="宋体" panose="02010600030101010101" pitchFamily="2" charset="-122"/>
              </a:rPr>
              <a:t>，见第</a:t>
            </a:r>
            <a:r>
              <a:rPr lang="en-US" altLang="zh-CN" sz="2000" b="1" dirty="0">
                <a:ea typeface="宋体" panose="02010600030101010101" pitchFamily="2" charset="-122"/>
              </a:rPr>
              <a:t>4</a:t>
            </a:r>
            <a:r>
              <a:rPr lang="zh-CN" altLang="en-US" sz="2000" b="1" dirty="0">
                <a:ea typeface="宋体" panose="02010600030101010101" pitchFamily="2" charset="-122"/>
              </a:rPr>
              <a:t>行</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因为</a:t>
            </a:r>
            <a:r>
              <a:rPr lang="en-US" altLang="zh-CN" sz="2000" i="1" dirty="0">
                <a:ea typeface="宋体" panose="02010600030101010101" pitchFamily="2" charset="-122"/>
              </a:rPr>
              <a:t>null</a:t>
            </a:r>
            <a:r>
              <a:rPr lang="zh-CN" altLang="en-US" sz="2000" b="1" dirty="0">
                <a:ea typeface="宋体" panose="02010600030101010101" pitchFamily="2" charset="-122"/>
              </a:rPr>
              <a:t>被应用于</a:t>
            </a:r>
            <a:r>
              <a:rPr lang="en-US" altLang="zh-CN" sz="2000" i="1" dirty="0">
                <a:ea typeface="宋体" panose="02010600030101010101" pitchFamily="2" charset="-122"/>
              </a:rPr>
              <a:t>x</a:t>
            </a:r>
            <a:r>
              <a:rPr lang="zh-CN" altLang="en-US" sz="2000" b="1" dirty="0">
                <a:ea typeface="宋体" panose="02010600030101010101" pitchFamily="2" charset="-122"/>
              </a:rPr>
              <a:t>，可知推导出</a:t>
            </a:r>
            <a:r>
              <a:rPr lang="en-US" altLang="zh-CN" sz="2000" i="1" dirty="0">
                <a:ea typeface="宋体" panose="02010600030101010101" pitchFamily="2" charset="-122"/>
              </a:rPr>
              <a:t>x</a:t>
            </a:r>
            <a:r>
              <a:rPr lang="zh-CN" altLang="en-US" sz="2000" b="1" dirty="0">
                <a:ea typeface="宋体" panose="02010600030101010101" pitchFamily="2" charset="-122"/>
              </a:rPr>
              <a:t>的类型</a:t>
            </a:r>
            <a:r>
              <a:rPr lang="el-GR" altLang="zh-CN" sz="2000" b="1" dirty="0">
                <a:ea typeface="宋体" panose="02010600030101010101" pitchFamily="2" charset="-122"/>
              </a:rPr>
              <a:t>β</a:t>
            </a:r>
            <a:r>
              <a:rPr lang="zh-CN" altLang="en-US" sz="2000" b="1" dirty="0">
                <a:ea typeface="宋体" panose="02010600030101010101" pitchFamily="2" charset="-122"/>
              </a:rPr>
              <a:t>必须和</a:t>
            </a:r>
            <a:r>
              <a:rPr lang="en-US" altLang="zh-CN" sz="2000" i="1" dirty="0">
                <a:ea typeface="宋体" panose="02010600030101010101" pitchFamily="2" charset="-122"/>
              </a:rPr>
              <a:t>list</a:t>
            </a:r>
            <a:r>
              <a:rPr lang="en-US" altLang="zh-CN" sz="2000" b="1" dirty="0">
                <a:ea typeface="宋体" panose="02010600030101010101" pitchFamily="2" charset="-122"/>
              </a:rPr>
              <a:t>(</a:t>
            </a:r>
            <a:r>
              <a:rPr lang="el-GR" altLang="zh-CN" sz="2000" i="1" dirty="0">
                <a:ea typeface="宋体" panose="02010600030101010101" pitchFamily="2" charset="-122"/>
              </a:rPr>
              <a:t>α</a:t>
            </a:r>
            <a:r>
              <a:rPr lang="en-US" altLang="zh-CN" sz="2000" i="1" baseline="-25000" dirty="0">
                <a:ea typeface="宋体" panose="02010600030101010101" pitchFamily="2" charset="-122"/>
              </a:rPr>
              <a:t>n</a:t>
            </a:r>
            <a:r>
              <a:rPr lang="en-US" altLang="zh-CN" sz="2000" b="1" dirty="0">
                <a:ea typeface="宋体" panose="02010600030101010101" pitchFamily="2" charset="-122"/>
              </a:rPr>
              <a:t>)</a:t>
            </a:r>
            <a:r>
              <a:rPr lang="zh-CN" altLang="en-US" sz="2000" b="1" dirty="0">
                <a:ea typeface="宋体" panose="02010600030101010101" pitchFamily="2" charset="-122"/>
              </a:rPr>
              <a:t>匹配（第</a:t>
            </a:r>
            <a:r>
              <a:rPr lang="en-US" altLang="zh-CN" sz="2000" b="1" dirty="0">
                <a:ea typeface="宋体" panose="02010600030101010101" pitchFamily="2" charset="-122"/>
              </a:rPr>
              <a:t>5</a:t>
            </a:r>
            <a:r>
              <a:rPr lang="zh-CN" altLang="en-US" sz="2000" b="1" dirty="0">
                <a:ea typeface="宋体" panose="02010600030101010101" pitchFamily="2" charset="-122"/>
              </a:rPr>
              <a:t>行）</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在</a:t>
            </a:r>
            <a:r>
              <a:rPr lang="en-US" altLang="zh-CN" sz="2000" b="1" dirty="0">
                <a:ea typeface="宋体" panose="02010600030101010101" pitchFamily="2" charset="-122"/>
              </a:rPr>
              <a:t>if</a:t>
            </a:r>
            <a:r>
              <a:rPr lang="zh-CN" altLang="en-US" sz="2000" b="1" dirty="0">
                <a:ea typeface="宋体" panose="02010600030101010101" pitchFamily="2" charset="-122"/>
              </a:rPr>
              <a:t>的第一个子结点（图</a:t>
            </a:r>
            <a:r>
              <a:rPr lang="en-US" altLang="zh-CN" sz="2000" b="1" dirty="0">
                <a:ea typeface="宋体" panose="02010600030101010101" pitchFamily="2" charset="-122"/>
              </a:rPr>
              <a:t>6-29</a:t>
            </a:r>
            <a:r>
              <a:rPr lang="zh-CN" altLang="en-US" sz="2000" b="1" dirty="0">
                <a:ea typeface="宋体" panose="02010600030101010101" pitchFamily="2" charset="-122"/>
              </a:rPr>
              <a:t>）上，</a:t>
            </a:r>
            <a:r>
              <a:rPr lang="en-US" altLang="zh-CN" sz="2000" i="1" dirty="0">
                <a:ea typeface="宋体" panose="02010600030101010101" pitchFamily="2" charset="-122"/>
              </a:rPr>
              <a:t>null</a:t>
            </a:r>
            <a:r>
              <a:rPr lang="en-US" altLang="zh-CN" sz="2000" b="1" dirty="0">
                <a:ea typeface="宋体" panose="02010600030101010101" pitchFamily="2" charset="-122"/>
              </a:rPr>
              <a:t>(</a:t>
            </a:r>
            <a:r>
              <a:rPr lang="en-US" altLang="zh-CN" sz="2000" i="1" dirty="0">
                <a:ea typeface="宋体" panose="02010600030101010101" pitchFamily="2" charset="-122"/>
              </a:rPr>
              <a:t>x</a:t>
            </a:r>
            <a:r>
              <a:rPr lang="en-US" altLang="zh-CN" sz="2000" b="1" dirty="0">
                <a:ea typeface="宋体" panose="02010600030101010101" pitchFamily="2" charset="-122"/>
              </a:rPr>
              <a:t>)</a:t>
            </a:r>
            <a:r>
              <a:rPr lang="zh-CN" altLang="en-US" sz="2000" b="1" dirty="0">
                <a:ea typeface="宋体" panose="02010600030101010101" pitchFamily="2" charset="-122"/>
              </a:rPr>
              <a:t>的类型</a:t>
            </a:r>
            <a:r>
              <a:rPr lang="en-US" altLang="zh-CN" sz="2000" i="1" dirty="0">
                <a:ea typeface="宋体" panose="02010600030101010101" pitchFamily="2" charset="-122"/>
              </a:rPr>
              <a:t>boolean</a:t>
            </a:r>
            <a:r>
              <a:rPr lang="zh-CN" altLang="en-US" sz="2000" b="1" dirty="0">
                <a:ea typeface="宋体" panose="02010600030101010101" pitchFamily="2" charset="-122"/>
              </a:rPr>
              <a:t>和</a:t>
            </a:r>
            <a:r>
              <a:rPr lang="en-US" altLang="zh-CN" sz="2000" b="1" dirty="0">
                <a:ea typeface="宋体" panose="02010600030101010101" pitchFamily="2" charset="-122"/>
              </a:rPr>
              <a:t>if</a:t>
            </a:r>
            <a:r>
              <a:rPr lang="zh-CN" altLang="en-US" sz="2000" b="1" dirty="0">
                <a:ea typeface="宋体" panose="02010600030101010101" pitchFamily="2" charset="-122"/>
              </a:rPr>
              <a:t>函数预期的类型匹配</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在第二个子结点上，类型</a:t>
            </a:r>
            <a:r>
              <a:rPr lang="el-GR" altLang="zh-CN" sz="2000" i="1" dirty="0">
                <a:ea typeface="宋体" panose="02010600030101010101" pitchFamily="2" charset="-122"/>
              </a:rPr>
              <a:t>α</a:t>
            </a:r>
            <a:r>
              <a:rPr lang="en-US" altLang="zh-CN" sz="2000" i="1" baseline="-25000" dirty="0">
                <a:ea typeface="宋体" panose="02010600030101010101" pitchFamily="2" charset="-122"/>
              </a:rPr>
              <a:t>i</a:t>
            </a:r>
            <a:r>
              <a:rPr lang="zh-CN" altLang="en-US" sz="2000" b="1" dirty="0">
                <a:ea typeface="宋体" panose="02010600030101010101" pitchFamily="2" charset="-122"/>
              </a:rPr>
              <a:t>和</a:t>
            </a:r>
            <a:r>
              <a:rPr lang="en-US" altLang="zh-CN" sz="2000" i="1" dirty="0">
                <a:ea typeface="宋体" panose="02010600030101010101" pitchFamily="2" charset="-122"/>
              </a:rPr>
              <a:t>integer</a:t>
            </a:r>
            <a:r>
              <a:rPr lang="zh-CN" altLang="en-US" sz="2000" b="1" dirty="0">
                <a:ea typeface="宋体" panose="02010600030101010101" pitchFamily="2" charset="-122"/>
              </a:rPr>
              <a:t>进行合一（第</a:t>
            </a:r>
            <a:r>
              <a:rPr lang="en-US" altLang="zh-CN" sz="2000" b="1" dirty="0">
                <a:ea typeface="宋体" panose="02010600030101010101" pitchFamily="2" charset="-122"/>
              </a:rPr>
              <a:t>6</a:t>
            </a:r>
            <a:r>
              <a:rPr lang="zh-CN" altLang="en-US" sz="2000" b="1" dirty="0">
                <a:ea typeface="宋体" panose="02010600030101010101" pitchFamily="2" charset="-122"/>
              </a:rPr>
              <a:t>行）</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考虑子表达式</a:t>
            </a:r>
            <a:r>
              <a:rPr lang="en-US" altLang="zh-CN" sz="2000" i="1" dirty="0">
                <a:ea typeface="宋体" panose="02010600030101010101" pitchFamily="2" charset="-122"/>
              </a:rPr>
              <a:t>length </a:t>
            </a:r>
            <a:r>
              <a:rPr lang="en-US" altLang="zh-CN" sz="2000" b="1" dirty="0">
                <a:ea typeface="宋体" panose="02010600030101010101" pitchFamily="2" charset="-122"/>
              </a:rPr>
              <a:t>( </a:t>
            </a:r>
            <a:r>
              <a:rPr lang="en-US" altLang="zh-CN" sz="2000" i="1" dirty="0">
                <a:ea typeface="宋体" panose="02010600030101010101" pitchFamily="2" charset="-122"/>
              </a:rPr>
              <a:t>tl </a:t>
            </a:r>
            <a:r>
              <a:rPr lang="en-US" altLang="zh-CN" sz="2000" b="1" dirty="0">
                <a:ea typeface="宋体" panose="02010600030101010101" pitchFamily="2" charset="-122"/>
              </a:rPr>
              <a:t>( </a:t>
            </a:r>
            <a:r>
              <a:rPr lang="en-US" altLang="zh-CN" sz="2000" i="1" dirty="0">
                <a:ea typeface="宋体" panose="02010600030101010101" pitchFamily="2" charset="-122"/>
              </a:rPr>
              <a:t>x </a:t>
            </a:r>
            <a:r>
              <a:rPr lang="en-US" altLang="zh-CN" sz="2000" b="1" dirty="0">
                <a:ea typeface="宋体" panose="02010600030101010101" pitchFamily="2" charset="-122"/>
              </a:rPr>
              <a:t>) ) + 1</a:t>
            </a:r>
            <a:r>
              <a:rPr lang="zh-CN" altLang="en-US" sz="2000" b="1" dirty="0">
                <a:ea typeface="宋体" panose="02010600030101010101" pitchFamily="2" charset="-122"/>
              </a:rPr>
              <a:t>，为</a:t>
            </a:r>
            <a:r>
              <a:rPr lang="en-US" altLang="zh-CN" sz="2000" i="1" dirty="0">
                <a:ea typeface="宋体" panose="02010600030101010101" pitchFamily="2" charset="-122"/>
              </a:rPr>
              <a:t>tl</a:t>
            </a:r>
            <a:r>
              <a:rPr lang="zh-CN" altLang="en-US" sz="2000" b="1" dirty="0">
                <a:ea typeface="宋体" panose="02010600030101010101" pitchFamily="2" charset="-122"/>
              </a:rPr>
              <a:t>类型的约束变量</a:t>
            </a:r>
            <a:r>
              <a:rPr lang="el-GR" altLang="zh-CN" sz="2000" i="1" dirty="0">
                <a:ea typeface="宋体" panose="02010600030101010101" pitchFamily="2" charset="-122"/>
              </a:rPr>
              <a:t>α</a:t>
            </a:r>
            <a:r>
              <a:rPr lang="zh-CN" altLang="en-US" sz="2000" b="1" dirty="0">
                <a:ea typeface="宋体" panose="02010600030101010101" pitchFamily="2" charset="-122"/>
              </a:rPr>
              <a:t>建立新的临时变量</a:t>
            </a:r>
            <a:r>
              <a:rPr lang="el-GR" altLang="zh-CN" sz="2000" i="1" dirty="0">
                <a:ea typeface="宋体" panose="02010600030101010101" pitchFamily="2" charset="-122"/>
              </a:rPr>
              <a:t>α</a:t>
            </a:r>
            <a:r>
              <a:rPr lang="en-US" altLang="zh-CN" sz="2000" i="1" baseline="-25000" dirty="0">
                <a:ea typeface="宋体" panose="02010600030101010101" pitchFamily="2" charset="-122"/>
              </a:rPr>
              <a:t>t</a:t>
            </a:r>
            <a:r>
              <a:rPr lang="zh-CN" altLang="en-US" sz="2000" b="1" dirty="0">
                <a:ea typeface="宋体" panose="02010600030101010101" pitchFamily="2" charset="-122"/>
              </a:rPr>
              <a:t>（</a:t>
            </a:r>
            <a:r>
              <a:rPr lang="en-US" altLang="zh-CN" sz="2000" i="1" dirty="0">
                <a:ea typeface="宋体" panose="02010600030101010101" pitchFamily="2" charset="-122"/>
              </a:rPr>
              <a:t>t</a:t>
            </a:r>
            <a:r>
              <a:rPr lang="zh-CN" altLang="en-US" sz="2000" b="1" dirty="0">
                <a:ea typeface="宋体" panose="02010600030101010101" pitchFamily="2" charset="-122"/>
              </a:rPr>
              <a:t>表示</a:t>
            </a:r>
            <a:r>
              <a:rPr lang="en-US" altLang="zh-CN" sz="2000" i="1" dirty="0">
                <a:ea typeface="宋体" panose="02010600030101010101" pitchFamily="2" charset="-122"/>
              </a:rPr>
              <a:t>tl</a:t>
            </a:r>
            <a:r>
              <a:rPr lang="zh-CN" altLang="en-US" sz="2000" b="1" dirty="0">
                <a:ea typeface="宋体" panose="02010600030101010101" pitchFamily="2" charset="-122"/>
              </a:rPr>
              <a:t>），见第</a:t>
            </a:r>
            <a:r>
              <a:rPr lang="en-US" altLang="zh-CN" sz="2000" b="1" dirty="0">
                <a:ea typeface="宋体" panose="02010600030101010101" pitchFamily="2" charset="-122"/>
              </a:rPr>
              <a:t>8</a:t>
            </a:r>
            <a:r>
              <a:rPr lang="zh-CN" altLang="en-US" sz="2000" b="1" dirty="0">
                <a:ea typeface="宋体" panose="02010600030101010101" pitchFamily="2" charset="-122"/>
              </a:rPr>
              <a:t>行。根据</a:t>
            </a:r>
            <a:r>
              <a:rPr lang="en-US" altLang="zh-CN" sz="2000" i="1" dirty="0">
                <a:ea typeface="宋体" panose="02010600030101010101" pitchFamily="2" charset="-122"/>
              </a:rPr>
              <a:t>tl </a:t>
            </a:r>
            <a:r>
              <a:rPr lang="en-US" altLang="zh-CN" sz="2000" b="1" dirty="0">
                <a:ea typeface="宋体" panose="02010600030101010101" pitchFamily="2" charset="-122"/>
              </a:rPr>
              <a:t>( </a:t>
            </a:r>
            <a:r>
              <a:rPr lang="en-US" altLang="zh-CN" sz="2000" i="1" dirty="0">
                <a:ea typeface="宋体" panose="02010600030101010101" pitchFamily="2" charset="-122"/>
              </a:rPr>
              <a:t>x </a:t>
            </a:r>
            <a:r>
              <a:rPr lang="en-US" altLang="zh-CN" sz="2000" b="1" dirty="0">
                <a:ea typeface="宋体" panose="02010600030101010101" pitchFamily="2" charset="-122"/>
              </a:rPr>
              <a:t>)</a:t>
            </a:r>
            <a:r>
              <a:rPr lang="zh-CN" altLang="en-US" sz="2000" b="1" dirty="0">
                <a:ea typeface="宋体" panose="02010600030101010101" pitchFamily="2" charset="-122"/>
              </a:rPr>
              <a:t>的作用，可以推导出</a:t>
            </a:r>
            <a:r>
              <a:rPr lang="en-US" altLang="zh-CN" sz="2000" i="1" dirty="0">
                <a:ea typeface="宋体" panose="02010600030101010101" pitchFamily="2" charset="-122"/>
              </a:rPr>
              <a:t>list</a:t>
            </a:r>
            <a:r>
              <a:rPr lang="en-US" altLang="zh-CN" sz="2000" b="1" dirty="0">
                <a:ea typeface="宋体" panose="02010600030101010101" pitchFamily="2" charset="-122"/>
              </a:rPr>
              <a:t>(</a:t>
            </a:r>
            <a:r>
              <a:rPr lang="el-GR" altLang="zh-CN" sz="2000" i="1" dirty="0">
                <a:ea typeface="宋体" panose="02010600030101010101" pitchFamily="2" charset="-122"/>
              </a:rPr>
              <a:t>α</a:t>
            </a:r>
            <a:r>
              <a:rPr lang="en-US" altLang="zh-CN" sz="2000" i="1" baseline="-25000" dirty="0">
                <a:ea typeface="宋体" panose="02010600030101010101" pitchFamily="2" charset="-122"/>
              </a:rPr>
              <a:t>i</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l-GR" altLang="zh-CN" sz="2000" b="1" dirty="0">
                <a:ea typeface="宋体" panose="02010600030101010101" pitchFamily="2" charset="-122"/>
              </a:rPr>
              <a:t>β</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i="1" dirty="0">
                <a:ea typeface="宋体" panose="02010600030101010101" pitchFamily="2" charset="-122"/>
              </a:rPr>
              <a:t>list</a:t>
            </a:r>
            <a:r>
              <a:rPr lang="en-US" altLang="zh-CN" sz="2000" b="1" dirty="0">
                <a:ea typeface="宋体" panose="02010600030101010101" pitchFamily="2" charset="-122"/>
              </a:rPr>
              <a:t>(</a:t>
            </a:r>
            <a:r>
              <a:rPr lang="el-GR" altLang="zh-CN" sz="2000" i="1" dirty="0">
                <a:ea typeface="宋体" panose="02010600030101010101" pitchFamily="2" charset="-122"/>
              </a:rPr>
              <a:t>α</a:t>
            </a:r>
            <a:r>
              <a:rPr lang="en-US" altLang="zh-CN" sz="2000" i="1" baseline="-25000" dirty="0">
                <a:ea typeface="宋体" panose="02010600030101010101" pitchFamily="2" charset="-122"/>
              </a:rPr>
              <a:t>n</a:t>
            </a:r>
            <a:r>
              <a:rPr lang="en-US" altLang="zh-CN" sz="2000" b="1" dirty="0">
                <a:ea typeface="宋体" panose="02010600030101010101" pitchFamily="2" charset="-122"/>
              </a:rPr>
              <a:t>)</a:t>
            </a:r>
            <a:r>
              <a:rPr lang="zh-CN" altLang="en-US" sz="2000" b="1" dirty="0">
                <a:ea typeface="宋体" panose="02010600030101010101" pitchFamily="2" charset="-122"/>
              </a:rPr>
              <a:t>，见第</a:t>
            </a:r>
            <a:r>
              <a:rPr lang="en-US" altLang="zh-CN" sz="2000" b="1" dirty="0">
                <a:ea typeface="宋体" panose="02010600030101010101" pitchFamily="2" charset="-122"/>
              </a:rPr>
              <a:t>9</a:t>
            </a:r>
            <a:r>
              <a:rPr lang="zh-CN" altLang="en-US" sz="2000" b="1" dirty="0">
                <a:ea typeface="宋体" panose="02010600030101010101" pitchFamily="2" charset="-122"/>
              </a:rPr>
              <a:t>行</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因为</a:t>
            </a:r>
            <a:r>
              <a:rPr lang="en-US" altLang="zh-CN" sz="2000" i="1" dirty="0">
                <a:ea typeface="宋体" panose="02010600030101010101" pitchFamily="2" charset="-122"/>
              </a:rPr>
              <a:t>length </a:t>
            </a:r>
            <a:r>
              <a:rPr lang="en-US" altLang="zh-CN" sz="2000" b="1" dirty="0">
                <a:ea typeface="宋体" panose="02010600030101010101" pitchFamily="2" charset="-122"/>
              </a:rPr>
              <a:t>( </a:t>
            </a:r>
            <a:r>
              <a:rPr lang="en-US" altLang="zh-CN" sz="2000" i="1" dirty="0">
                <a:ea typeface="宋体" panose="02010600030101010101" pitchFamily="2" charset="-122"/>
              </a:rPr>
              <a:t>tl </a:t>
            </a:r>
            <a:r>
              <a:rPr lang="en-US" altLang="zh-CN" sz="2000" b="1" dirty="0">
                <a:ea typeface="宋体" panose="02010600030101010101" pitchFamily="2" charset="-122"/>
              </a:rPr>
              <a:t>( </a:t>
            </a:r>
            <a:r>
              <a:rPr lang="en-US" altLang="zh-CN" sz="2000" i="1" dirty="0">
                <a:ea typeface="宋体" panose="02010600030101010101" pitchFamily="2" charset="-122"/>
              </a:rPr>
              <a:t>x </a:t>
            </a:r>
            <a:r>
              <a:rPr lang="en-US" altLang="zh-CN" sz="2000" b="1" dirty="0">
                <a:ea typeface="宋体" panose="02010600030101010101" pitchFamily="2" charset="-122"/>
              </a:rPr>
              <a:t>) )</a:t>
            </a:r>
            <a:r>
              <a:rPr lang="zh-CN" altLang="en-US" sz="2000" b="1" dirty="0">
                <a:ea typeface="宋体" panose="02010600030101010101" pitchFamily="2" charset="-122"/>
              </a:rPr>
              <a:t>是 </a:t>
            </a:r>
            <a:r>
              <a:rPr lang="en-US" altLang="zh-CN" sz="2000" b="1" dirty="0">
                <a:ea typeface="宋体" panose="02010600030101010101" pitchFamily="2" charset="-122"/>
              </a:rPr>
              <a:t>+</a:t>
            </a:r>
            <a:r>
              <a:rPr lang="zh-CN" altLang="en-US" sz="2000" b="1" dirty="0">
                <a:ea typeface="宋体" panose="02010600030101010101" pitchFamily="2" charset="-122"/>
              </a:rPr>
              <a:t> 的一个运算分量，它的类型</a:t>
            </a:r>
            <a:r>
              <a:rPr lang="el-GR" altLang="zh-CN" sz="2000" b="1" dirty="0">
                <a:ea typeface="宋体" panose="02010600030101010101" pitchFamily="2" charset="-122"/>
              </a:rPr>
              <a:t>γ</a:t>
            </a:r>
            <a:r>
              <a:rPr lang="zh-CN" altLang="en-US" sz="2000" b="1" dirty="0">
                <a:ea typeface="宋体" panose="02010600030101010101" pitchFamily="2" charset="-122"/>
              </a:rPr>
              <a:t>必须和</a:t>
            </a:r>
            <a:r>
              <a:rPr lang="en-US" altLang="zh-CN" sz="2000" i="1" dirty="0">
                <a:ea typeface="宋体" panose="02010600030101010101" pitchFamily="2" charset="-122"/>
              </a:rPr>
              <a:t>integer</a:t>
            </a:r>
            <a:r>
              <a:rPr lang="zh-CN" altLang="en-US" sz="2000" b="1" dirty="0">
                <a:ea typeface="宋体" panose="02010600030101010101" pitchFamily="2" charset="-122"/>
              </a:rPr>
              <a:t>合一，见第</a:t>
            </a:r>
            <a:r>
              <a:rPr lang="en-US" altLang="zh-CN" sz="2000" b="1" dirty="0">
                <a:ea typeface="宋体" panose="02010600030101010101" pitchFamily="2" charset="-122"/>
              </a:rPr>
              <a:t>10</a:t>
            </a:r>
            <a:r>
              <a:rPr lang="zh-CN" altLang="en-US" sz="2000" b="1" dirty="0">
                <a:ea typeface="宋体" panose="02010600030101010101" pitchFamily="2" charset="-122"/>
              </a:rPr>
              <a:t>行。可以推出</a:t>
            </a:r>
            <a:r>
              <a:rPr lang="en-US" altLang="zh-CN" sz="2000" i="1" dirty="0">
                <a:ea typeface="宋体" panose="02010600030101010101" pitchFamily="2" charset="-122"/>
              </a:rPr>
              <a:t>length</a:t>
            </a:r>
            <a:r>
              <a:rPr lang="zh-CN" altLang="en-US" sz="2000" b="1" dirty="0">
                <a:ea typeface="宋体" panose="02010600030101010101" pitchFamily="2" charset="-122"/>
              </a:rPr>
              <a:t>的类型为</a:t>
            </a:r>
            <a:r>
              <a:rPr lang="en-US" altLang="zh-CN" sz="2000" i="1" dirty="0">
                <a:ea typeface="宋体" panose="02010600030101010101" pitchFamily="2" charset="-122"/>
              </a:rPr>
              <a:t>list</a:t>
            </a:r>
            <a:r>
              <a:rPr lang="en-US" altLang="zh-CN" sz="2000" b="1" dirty="0">
                <a:ea typeface="宋体" panose="02010600030101010101" pitchFamily="2" charset="-122"/>
              </a:rPr>
              <a:t>(</a:t>
            </a:r>
            <a:r>
              <a:rPr lang="el-GR" altLang="zh-CN" sz="2000" i="1" dirty="0">
                <a:ea typeface="宋体" panose="02010600030101010101" pitchFamily="2" charset="-122"/>
              </a:rPr>
              <a:t>α</a:t>
            </a:r>
            <a:r>
              <a:rPr lang="en-US" altLang="zh-CN" sz="2000" i="1" baseline="-25000" dirty="0">
                <a:ea typeface="宋体" panose="02010600030101010101" pitchFamily="2" charset="-122"/>
              </a:rPr>
              <a:t>n</a:t>
            </a:r>
            <a:r>
              <a:rPr lang="en-US" altLang="zh-CN" sz="2000" b="1" dirty="0">
                <a:ea typeface="宋体" panose="02010600030101010101" pitchFamily="2" charset="-122"/>
              </a:rPr>
              <a:t>)→</a:t>
            </a:r>
            <a:r>
              <a:rPr lang="en-US" altLang="zh-CN" sz="2000" i="1" dirty="0">
                <a:ea typeface="宋体" panose="02010600030101010101" pitchFamily="2" charset="-122"/>
              </a:rPr>
              <a:t>integer</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 此时，类型变量</a:t>
            </a:r>
            <a:r>
              <a:rPr lang="el-GR" altLang="zh-CN" sz="2000" i="1" dirty="0">
                <a:ea typeface="宋体" panose="02010600030101010101" pitchFamily="2" charset="-122"/>
              </a:rPr>
              <a:t>α</a:t>
            </a:r>
            <a:r>
              <a:rPr lang="en-US" altLang="zh-CN" sz="2000" i="1" baseline="-25000" dirty="0">
                <a:ea typeface="宋体" panose="02010600030101010101" pitchFamily="2" charset="-122"/>
              </a:rPr>
              <a:t>n</a:t>
            </a:r>
            <a:r>
              <a:rPr lang="zh-CN" altLang="en-US" sz="2000" b="1" dirty="0">
                <a:ea typeface="宋体" panose="02010600030101010101" pitchFamily="2" charset="-122"/>
              </a:rPr>
              <a:t>仍然保留在</a:t>
            </a:r>
            <a:r>
              <a:rPr lang="en-US" altLang="zh-CN" sz="2000" i="1" dirty="0">
                <a:ea typeface="宋体" panose="02010600030101010101" pitchFamily="2" charset="-122"/>
              </a:rPr>
              <a:t>length</a:t>
            </a:r>
            <a:r>
              <a:rPr lang="zh-CN" altLang="en-US" sz="2000" b="1" dirty="0">
                <a:ea typeface="宋体" panose="02010600030101010101" pitchFamily="2" charset="-122"/>
              </a:rPr>
              <a:t>的类型中，但此时已无法进一步推导，故</a:t>
            </a:r>
            <a:r>
              <a:rPr lang="el-GR" altLang="zh-CN" sz="2000" i="1" dirty="0">
                <a:ea typeface="宋体" panose="02010600030101010101" pitchFamily="2" charset="-122"/>
              </a:rPr>
              <a:t>α</a:t>
            </a:r>
            <a:r>
              <a:rPr lang="en-US" altLang="zh-CN" sz="2000" i="1" baseline="-25000" dirty="0">
                <a:ea typeface="宋体" panose="02010600030101010101" pitchFamily="2" charset="-122"/>
              </a:rPr>
              <a:t>n</a:t>
            </a:r>
            <a:r>
              <a:rPr lang="zh-CN" altLang="en-US" sz="2000" b="1" dirty="0">
                <a:ea typeface="宋体" panose="02010600030101010101" pitchFamily="2" charset="-122"/>
              </a:rPr>
              <a:t>可以代表任意的类型，因此</a:t>
            </a:r>
            <a:r>
              <a:rPr lang="en-US" altLang="zh-CN" sz="2000" i="1" dirty="0">
                <a:ea typeface="宋体" panose="02010600030101010101" pitchFamily="2" charset="-122"/>
              </a:rPr>
              <a:t>length</a:t>
            </a:r>
            <a:r>
              <a:rPr lang="zh-CN" altLang="en-US" sz="2000" b="1" dirty="0">
                <a:ea typeface="宋体" panose="02010600030101010101" pitchFamily="2" charset="-122"/>
              </a:rPr>
              <a:t>的类型为：</a:t>
            </a:r>
            <a:endParaRPr lang="en-US" altLang="zh-CN" sz="2000" b="1" dirty="0">
              <a:ea typeface="宋体" panose="02010600030101010101" pitchFamily="2" charset="-122"/>
            </a:endParaRPr>
          </a:p>
        </p:txBody>
      </p:sp>
      <p:graphicFrame>
        <p:nvGraphicFramePr>
          <p:cNvPr id="207876" name="Object 6"/>
          <p:cNvGraphicFramePr>
            <a:graphicFrameLocks noChangeAspect="1"/>
          </p:cNvGraphicFramePr>
          <p:nvPr/>
        </p:nvGraphicFramePr>
        <p:xfrm>
          <a:off x="4044950" y="1371600"/>
          <a:ext cx="3190875" cy="374650"/>
        </p:xfrm>
        <a:graphic>
          <a:graphicData uri="http://schemas.openxmlformats.org/presentationml/2006/ole">
            <mc:AlternateContent xmlns:mc="http://schemas.openxmlformats.org/markup-compatibility/2006">
              <mc:Choice xmlns:v="urn:schemas-microsoft-com:vml" Requires="v">
                <p:oleObj spid="_x0000_s3090" name="" r:id="rId1" imgW="1866265" imgH="203200" progId="Equation.3">
                  <p:embed/>
                </p:oleObj>
              </mc:Choice>
              <mc:Fallback>
                <p:oleObj name="" r:id="rId1" imgW="1866265" imgH="203200" progId="Equation.3">
                  <p:embed/>
                  <p:pic>
                    <p:nvPicPr>
                      <p:cNvPr id="0" name="图片 3089"/>
                      <p:cNvPicPr/>
                      <p:nvPr/>
                    </p:nvPicPr>
                    <p:blipFill>
                      <a:blip r:embed="rId2"/>
                      <a:stretch>
                        <a:fillRect/>
                      </a:stretch>
                    </p:blipFill>
                    <p:spPr>
                      <a:xfrm>
                        <a:off x="4044950" y="1371600"/>
                        <a:ext cx="3190875" cy="374650"/>
                      </a:xfrm>
                      <a:prstGeom prst="rect">
                        <a:avLst/>
                      </a:prstGeom>
                      <a:noFill/>
                      <a:ln w="38100">
                        <a:noFill/>
                        <a:miter/>
                      </a:ln>
                    </p:spPr>
                  </p:pic>
                </p:oleObj>
              </mc:Fallback>
            </mc:AlternateContent>
          </a:graphicData>
        </a:graphic>
      </p:graphicFrame>
      <p:graphicFrame>
        <p:nvGraphicFramePr>
          <p:cNvPr id="207877" name="Object 6"/>
          <p:cNvGraphicFramePr>
            <a:graphicFrameLocks noChangeAspect="1"/>
          </p:cNvGraphicFramePr>
          <p:nvPr/>
        </p:nvGraphicFramePr>
        <p:xfrm>
          <a:off x="3311525" y="5624513"/>
          <a:ext cx="3406775" cy="420687"/>
        </p:xfrm>
        <a:graphic>
          <a:graphicData uri="http://schemas.openxmlformats.org/presentationml/2006/ole">
            <mc:AlternateContent xmlns:mc="http://schemas.openxmlformats.org/markup-compatibility/2006">
              <mc:Choice xmlns:v="urn:schemas-microsoft-com:vml" Requires="v">
                <p:oleObj spid="_x0000_s3091" name="" r:id="rId3" imgW="1993900" imgH="228600" progId="Equation.3">
                  <p:embed/>
                </p:oleObj>
              </mc:Choice>
              <mc:Fallback>
                <p:oleObj name="" r:id="rId3" imgW="1993900" imgH="228600" progId="Equation.3">
                  <p:embed/>
                  <p:pic>
                    <p:nvPicPr>
                      <p:cNvPr id="0" name="图片 3090"/>
                      <p:cNvPicPr/>
                      <p:nvPr/>
                    </p:nvPicPr>
                    <p:blipFill>
                      <a:blip r:embed="rId4"/>
                      <a:stretch>
                        <a:fillRect/>
                      </a:stretch>
                    </p:blipFill>
                    <p:spPr>
                      <a:xfrm>
                        <a:off x="3311525" y="5624513"/>
                        <a:ext cx="3406775" cy="420687"/>
                      </a:xfrm>
                      <a:prstGeom prst="rect">
                        <a:avLst/>
                      </a:prstGeom>
                      <a:noFill/>
                      <a:ln w="38100">
                        <a:noFill/>
                        <a:miter/>
                      </a:ln>
                    </p:spPr>
                  </p:pic>
                </p:oleObj>
              </mc:Fallback>
            </mc:AlternateContent>
          </a:graphicData>
        </a:graphic>
      </p:graphicFrame>
    </p:spTree>
  </p:cSld>
  <p:clrMapOvr>
    <a:masterClrMapping/>
  </p:clrMapOvr>
  <p:transition spd="slow"/>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a:t>
            </a:r>
            <a:r>
              <a:rPr lang="en-US" altLang="zh-CN" dirty="0">
                <a:latin typeface="Times New Roman" panose="02020603050405020304" pitchFamily="18" charset="0"/>
                <a:ea typeface="宋体" panose="02010600030101010101" pitchFamily="2" charset="-122"/>
              </a:rPr>
              <a:t>15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00707" name="Rectangle 3"/>
          <p:cNvSpPr>
            <a:spLocks noGrp="1" noChangeArrowheads="1"/>
          </p:cNvSpPr>
          <p:nvPr>
            <p:ph idx="1"/>
          </p:nvPr>
        </p:nvSpPr>
        <p:spPr>
          <a:xfrm>
            <a:off x="914400" y="1371600"/>
            <a:ext cx="7543800" cy="4724400"/>
          </a:xfrm>
        </p:spPr>
        <p:txBody>
          <a:bodyPr vert="horz" wrap="square" lIns="92075" tIns="46038" rIns="92075" bIns="46038" numCol="1" anchor="t" anchorCtr="0" compatLnSpc="1"/>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基于图论表示方法的合一算法</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类型被表示成图的形式</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类型变量用叶结点表示</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类型构造算子用内部结点表示</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结点被分成若干等价类</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如果两个结点在同一个等价类中，则其类型表达式必须合一</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同一等价类中的内部结点必须具有相同的类型构造算子，他们的对应子结点必须等价</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例子：考虑下述的两个类型表达式</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3"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l-GR"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α</a:t>
            </a:r>
            <a:r>
              <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l-GR"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α</a:t>
            </a:r>
            <a:r>
              <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 </a:t>
            </a:r>
            <a:r>
              <a:rPr kumimoji="0" lang="en-US"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list</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l-GR"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α</a:t>
            </a:r>
            <a:r>
              <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rPr>
              <a:t>3</a:t>
            </a:r>
            <a:r>
              <a:rPr kumimoji="0" lang="zh-CN" altLang="en-US" sz="1600" b="1" i="1" u="none" strike="noStrike" kern="0" cap="none" spc="0" normalizeH="0" baseline="-2500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list</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l-GR"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α</a:t>
            </a:r>
            <a:r>
              <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rPr>
              <a:t>2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3"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l-GR"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α</a:t>
            </a:r>
            <a:r>
              <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rPr>
              <a:t>3</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l-GR"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α</a:t>
            </a:r>
            <a:r>
              <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rPr>
              <a:t>4</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 </a:t>
            </a:r>
            <a:r>
              <a:rPr kumimoji="0" lang="en-US"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list</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l-GR"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α</a:t>
            </a:r>
            <a:r>
              <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rPr>
              <a:t>3</a:t>
            </a:r>
            <a:r>
              <a:rPr kumimoji="0" lang="zh-CN" altLang="en-US" sz="1600" b="1" i="1" u="none" strike="noStrike" kern="0" cap="none" spc="0" normalizeH="0" baseline="-2500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l-GR"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α</a:t>
            </a:r>
            <a:r>
              <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rPr>
              <a:t>5</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下列的置换</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是这两个表达式的最一般化的合一替换</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3"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x		S( x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3"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l-GR"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 α</a:t>
            </a:r>
            <a:r>
              <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rPr>
              <a:t>1		</a:t>
            </a:r>
            <a:r>
              <a:rPr kumimoji="0" lang="el-GR"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 α</a:t>
            </a:r>
            <a:r>
              <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rPr>
              <a:t>1</a:t>
            </a:r>
            <a:endPar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endParaRPr>
          </a:p>
          <a:p>
            <a:pPr marL="1371600" marR="0" lvl="3"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l-GR"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 α</a:t>
            </a:r>
            <a:r>
              <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rPr>
              <a:t>2		</a:t>
            </a:r>
            <a:r>
              <a:rPr kumimoji="0" lang="el-GR"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 α</a:t>
            </a:r>
            <a:r>
              <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rPr>
              <a:t>2</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3"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l-GR"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 α</a:t>
            </a:r>
            <a:r>
              <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rPr>
              <a:t>3		</a:t>
            </a:r>
            <a:r>
              <a:rPr kumimoji="0" lang="el-GR"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 α</a:t>
            </a:r>
            <a:r>
              <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rPr>
              <a:t>1</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3"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l-GR"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 α</a:t>
            </a:r>
            <a:r>
              <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rPr>
              <a:t>4		</a:t>
            </a:r>
            <a:r>
              <a:rPr kumimoji="0" lang="el-GR"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 α</a:t>
            </a:r>
            <a:r>
              <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rPr>
              <a:t>2</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3"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l-GR"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 α</a:t>
            </a:r>
            <a:r>
              <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rPr>
              <a:t>5		</a:t>
            </a:r>
            <a:r>
              <a:rPr kumimoji="0" lang="en-US"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 list</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l-GR"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α</a:t>
            </a:r>
            <a:r>
              <a:rPr kumimoji="0" lang="en-US" altLang="zh-CN" sz="1600" b="0" i="1" u="none" strike="noStrike" kern="0" cap="none" spc="0" normalizeH="0" baseline="-25000" noProof="0" dirty="0">
                <a:ln>
                  <a:noFill/>
                </a:ln>
                <a:solidFill>
                  <a:schemeClr val="tx1"/>
                </a:solidFill>
                <a:effectLst/>
                <a:uLnTx/>
                <a:uFillTx/>
                <a:latin typeface="+mn-lt"/>
                <a:ea typeface="宋体" panose="02010600030101010101" pitchFamily="2" charset="-122"/>
              </a:rPr>
              <a:t>2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3"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197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11971" name="Rectangle 3"/>
          <p:cNvSpPr>
            <a:spLocks noGrp="1"/>
          </p:cNvSpPr>
          <p:nvPr>
            <p:ph idx="1"/>
          </p:nvPr>
        </p:nvSpPr>
        <p:spPr>
          <a:xfrm>
            <a:off x="914400" y="1371600"/>
            <a:ext cx="7543800" cy="4724400"/>
          </a:xfrm>
        </p:spPr>
        <p:txBody>
          <a:bodyPr vert="horz" wrap="square" lIns="92075" tIns="46038" rIns="92075" bIns="46038" anchor="t" anchorCtr="0"/>
          <a:p>
            <a:pPr lvl="2">
              <a:lnSpc>
                <a:spcPct val="90000"/>
              </a:lnSpc>
            </a:pPr>
            <a:r>
              <a:rPr lang="zh-CN" altLang="en-US" sz="1800" b="1" dirty="0">
                <a:ea typeface="宋体" panose="02010600030101010101" pitchFamily="2" charset="-122"/>
              </a:rPr>
              <a:t>上述置换将上述两个类型表达式映射为如下的表达式</a:t>
            </a:r>
            <a:endParaRPr lang="en-US" altLang="zh-CN" sz="1800" b="1" dirty="0">
              <a:ea typeface="宋体" panose="02010600030101010101" pitchFamily="2" charset="-122"/>
            </a:endParaRPr>
          </a:p>
          <a:p>
            <a:pPr marL="1371600" lvl="3" indent="0">
              <a:lnSpc>
                <a:spcPct val="90000"/>
              </a:lnSpc>
              <a:buNone/>
            </a:pPr>
            <a:r>
              <a:rPr lang="en-US" altLang="zh-CN" sz="1600" b="1" dirty="0">
                <a:ea typeface="宋体" panose="02010600030101010101" pitchFamily="2" charset="-122"/>
              </a:rPr>
              <a:t>( (</a:t>
            </a:r>
            <a:r>
              <a:rPr lang="zh-CN" altLang="en-US" sz="1600" b="1" dirty="0">
                <a:ea typeface="宋体" panose="02010600030101010101" pitchFamily="2" charset="-122"/>
              </a:rPr>
              <a:t> </a:t>
            </a:r>
            <a:r>
              <a:rPr lang="el-GR" altLang="zh-CN" sz="1600" i="1" dirty="0">
                <a:ea typeface="宋体" panose="02010600030101010101" pitchFamily="2" charset="-122"/>
              </a:rPr>
              <a:t>α</a:t>
            </a:r>
            <a:r>
              <a:rPr lang="en-US" altLang="zh-CN" sz="1600" i="1" baseline="-25000" dirty="0">
                <a:ea typeface="宋体" panose="02010600030101010101" pitchFamily="2" charset="-122"/>
              </a:rPr>
              <a:t>1</a:t>
            </a:r>
            <a:r>
              <a:rPr lang="en-US" altLang="zh-CN" sz="1600" b="1" dirty="0">
                <a:ea typeface="宋体" panose="02010600030101010101" pitchFamily="2" charset="-122"/>
              </a:rPr>
              <a:t>→</a:t>
            </a:r>
            <a:r>
              <a:rPr lang="el-GR" altLang="zh-CN" sz="1600" i="1" dirty="0">
                <a:ea typeface="宋体" panose="02010600030101010101" pitchFamily="2" charset="-122"/>
              </a:rPr>
              <a:t>α</a:t>
            </a:r>
            <a:r>
              <a:rPr lang="en-US" altLang="zh-CN" sz="1600" i="1" baseline="-25000" dirty="0">
                <a:ea typeface="宋体" panose="02010600030101010101" pitchFamily="2" charset="-122"/>
              </a:rPr>
              <a:t>2</a:t>
            </a:r>
            <a:r>
              <a:rPr lang="en-US" altLang="zh-CN" sz="1600" b="1" dirty="0">
                <a:ea typeface="宋体" panose="02010600030101010101" pitchFamily="2" charset="-122"/>
              </a:rPr>
              <a:t> ) × </a:t>
            </a:r>
            <a:r>
              <a:rPr lang="en-US" altLang="zh-CN" sz="1600" i="1" dirty="0">
                <a:ea typeface="宋体" panose="02010600030101010101" pitchFamily="2" charset="-122"/>
              </a:rPr>
              <a:t>list</a:t>
            </a:r>
            <a:r>
              <a:rPr lang="en-US" altLang="zh-CN" sz="1600" b="1" dirty="0">
                <a:ea typeface="宋体" panose="02010600030101010101" pitchFamily="2" charset="-122"/>
              </a:rPr>
              <a:t>(</a:t>
            </a:r>
            <a:r>
              <a:rPr lang="zh-CN" altLang="en-US" sz="1600" b="1" dirty="0">
                <a:ea typeface="宋体" panose="02010600030101010101" pitchFamily="2" charset="-122"/>
              </a:rPr>
              <a:t> </a:t>
            </a:r>
            <a:r>
              <a:rPr lang="el-GR" altLang="zh-CN" sz="1600" i="1" dirty="0">
                <a:ea typeface="宋体" panose="02010600030101010101" pitchFamily="2" charset="-122"/>
              </a:rPr>
              <a:t>α</a:t>
            </a:r>
            <a:r>
              <a:rPr lang="en-US" altLang="zh-CN" sz="1600" i="1" baseline="-25000" dirty="0">
                <a:ea typeface="宋体" panose="02010600030101010101" pitchFamily="2" charset="-122"/>
              </a:rPr>
              <a:t>1</a:t>
            </a:r>
            <a:r>
              <a:rPr lang="zh-CN" altLang="en-US" sz="1600" b="1" i="1" baseline="-25000" dirty="0">
                <a:ea typeface="宋体" panose="02010600030101010101" pitchFamily="2" charset="-122"/>
              </a:rPr>
              <a:t> </a:t>
            </a:r>
            <a:r>
              <a:rPr lang="en-US" altLang="zh-CN" sz="1600" b="1" dirty="0">
                <a:ea typeface="宋体" panose="02010600030101010101" pitchFamily="2" charset="-122"/>
              </a:rPr>
              <a:t>)</a:t>
            </a:r>
            <a:r>
              <a:rPr lang="zh-CN" altLang="en-US" sz="1600" b="1" dirty="0">
                <a:ea typeface="宋体" panose="02010600030101010101" pitchFamily="2" charset="-122"/>
              </a:rPr>
              <a:t> </a:t>
            </a:r>
            <a:r>
              <a:rPr lang="en-US" altLang="zh-CN" sz="1600" b="1" dirty="0">
                <a:ea typeface="宋体" panose="02010600030101010101" pitchFamily="2" charset="-122"/>
              </a:rPr>
              <a:t>) </a:t>
            </a:r>
            <a:r>
              <a:rPr lang="zh-CN" altLang="en-US" sz="1600" b="1" dirty="0">
                <a:ea typeface="宋体" panose="02010600030101010101" pitchFamily="2" charset="-122"/>
              </a:rPr>
              <a:t>→</a:t>
            </a:r>
            <a:r>
              <a:rPr lang="en-US" altLang="zh-CN" sz="1600" b="1" dirty="0">
                <a:ea typeface="宋体" panose="02010600030101010101" pitchFamily="2" charset="-122"/>
              </a:rPr>
              <a:t> </a:t>
            </a:r>
            <a:r>
              <a:rPr lang="en-US" altLang="zh-CN" sz="1600" i="1" dirty="0">
                <a:ea typeface="宋体" panose="02010600030101010101" pitchFamily="2" charset="-122"/>
              </a:rPr>
              <a:t>list</a:t>
            </a:r>
            <a:r>
              <a:rPr lang="en-US" altLang="zh-CN" sz="1600" b="1" dirty="0">
                <a:ea typeface="宋体" panose="02010600030101010101" pitchFamily="2" charset="-122"/>
              </a:rPr>
              <a:t>( </a:t>
            </a:r>
            <a:r>
              <a:rPr lang="el-GR" altLang="zh-CN" sz="1600" i="1" dirty="0">
                <a:ea typeface="宋体" panose="02010600030101010101" pitchFamily="2" charset="-122"/>
              </a:rPr>
              <a:t>α</a:t>
            </a:r>
            <a:r>
              <a:rPr lang="en-US" altLang="zh-CN" sz="1600" i="1" baseline="-25000" dirty="0">
                <a:ea typeface="宋体" panose="02010600030101010101" pitchFamily="2" charset="-122"/>
              </a:rPr>
              <a:t>2 </a:t>
            </a:r>
            <a:r>
              <a:rPr lang="en-US" altLang="zh-CN" sz="1600" b="1" dirty="0">
                <a:ea typeface="宋体" panose="02010600030101010101" pitchFamily="2" charset="-122"/>
              </a:rPr>
              <a:t>)</a:t>
            </a:r>
            <a:endParaRPr lang="en-US" altLang="zh-CN" sz="1600" b="1" dirty="0">
              <a:ea typeface="宋体" panose="02010600030101010101" pitchFamily="2" charset="-122"/>
            </a:endParaRPr>
          </a:p>
          <a:p>
            <a:pPr lvl="2">
              <a:lnSpc>
                <a:spcPct val="90000"/>
              </a:lnSpc>
            </a:pPr>
            <a:r>
              <a:rPr lang="zh-CN" altLang="en-US" sz="1800" b="1" dirty="0">
                <a:ea typeface="宋体" panose="02010600030101010101" pitchFamily="2" charset="-122"/>
              </a:rPr>
              <a:t>这两个表达式被表示成下图中标号为→：</a:t>
            </a:r>
            <a:r>
              <a:rPr lang="en-US" altLang="zh-CN" sz="1800" b="1" dirty="0">
                <a:ea typeface="宋体" panose="02010600030101010101" pitchFamily="2" charset="-122"/>
              </a:rPr>
              <a:t>1</a:t>
            </a:r>
            <a:r>
              <a:rPr lang="zh-CN" altLang="en-US" sz="1800" b="1" dirty="0">
                <a:ea typeface="宋体" panose="02010600030101010101" pitchFamily="2" charset="-122"/>
              </a:rPr>
              <a:t>的两个结点，结点上的证书编号指明了在编号为</a:t>
            </a:r>
            <a:r>
              <a:rPr lang="en-US" altLang="zh-CN" sz="1800" b="1" dirty="0">
                <a:ea typeface="宋体" panose="02010600030101010101" pitchFamily="2" charset="-122"/>
              </a:rPr>
              <a:t>1</a:t>
            </a:r>
            <a:r>
              <a:rPr lang="zh-CN" altLang="en-US" sz="1800" b="1" dirty="0">
                <a:ea typeface="宋体" panose="02010600030101010101" pitchFamily="2" charset="-122"/>
              </a:rPr>
              <a:t>的结点被合一后，各个结点所属的等价类的编号</a:t>
            </a:r>
            <a:endParaRPr lang="en-US" altLang="zh-CN" sz="1800" b="1" dirty="0">
              <a:ea typeface="宋体" panose="02010600030101010101" pitchFamily="2" charset="-122"/>
            </a:endParaRPr>
          </a:p>
        </p:txBody>
      </p:sp>
      <p:pic>
        <p:nvPicPr>
          <p:cNvPr id="211972" name="Picture 2"/>
          <p:cNvPicPr>
            <a:picLocks noChangeAspect="1"/>
          </p:cNvPicPr>
          <p:nvPr/>
        </p:nvPicPr>
        <p:blipFill>
          <a:blip r:embed="rId1"/>
          <a:stretch>
            <a:fillRect/>
          </a:stretch>
        </p:blipFill>
        <p:spPr>
          <a:xfrm>
            <a:off x="193675" y="2795588"/>
            <a:ext cx="8842375" cy="3873500"/>
          </a:xfrm>
          <a:prstGeom prst="rect">
            <a:avLst/>
          </a:prstGeom>
          <a:noFill/>
          <a:ln w="9525">
            <a:noFill/>
          </a:ln>
        </p:spPr>
      </p:pic>
    </p:spTree>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40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a:t>
            </a:r>
            <a:r>
              <a:rPr lang="en-US" altLang="zh-CN" dirty="0">
                <a:latin typeface="Times New Roman" panose="02020603050405020304" pitchFamily="18" charset="0"/>
                <a:ea typeface="宋体" panose="02010600030101010101" pitchFamily="2" charset="-122"/>
              </a:rPr>
              <a:t>17</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14019" name="Rectangle 3"/>
          <p:cNvSpPr>
            <a:spLocks noGrp="1"/>
          </p:cNvSpPr>
          <p:nvPr>
            <p:ph idx="1"/>
          </p:nvPr>
        </p:nvSpPr>
        <p:spPr>
          <a:xfrm>
            <a:off x="914400" y="1371600"/>
            <a:ext cx="7543800" cy="4724400"/>
          </a:xfrm>
        </p:spPr>
        <p:txBody>
          <a:bodyPr vert="horz" wrap="square" lIns="92075" tIns="46038" rIns="92075" bIns="46038" anchor="t" anchorCtr="0"/>
          <a:p>
            <a:pPr>
              <a:lnSpc>
                <a:spcPct val="90000"/>
              </a:lnSpc>
            </a:pPr>
            <a:r>
              <a:rPr lang="zh-CN" altLang="en-US" sz="2200" b="1" dirty="0">
                <a:ea typeface="宋体" panose="02010600030101010101" pitchFamily="2" charset="-122"/>
              </a:rPr>
              <a:t>算法</a:t>
            </a:r>
            <a:r>
              <a:rPr lang="en-US" altLang="zh-CN" sz="2200" b="1" dirty="0">
                <a:ea typeface="宋体" panose="02010600030101010101" pitchFamily="2" charset="-122"/>
              </a:rPr>
              <a:t>6.19</a:t>
            </a:r>
            <a:r>
              <a:rPr lang="zh-CN" altLang="en-US" sz="2200" b="1" dirty="0">
                <a:ea typeface="宋体" panose="02010600030101010101" pitchFamily="2" charset="-122"/>
              </a:rPr>
              <a:t> </a:t>
            </a:r>
            <a:r>
              <a:rPr lang="en-US" altLang="zh-CN" sz="2200" b="1" dirty="0">
                <a:ea typeface="宋体" panose="02010600030101010101" pitchFamily="2" charset="-122"/>
              </a:rPr>
              <a:t>	</a:t>
            </a:r>
            <a:r>
              <a:rPr lang="zh-CN" altLang="en-US" sz="2200" b="1" dirty="0">
                <a:ea typeface="宋体" panose="02010600030101010101" pitchFamily="2" charset="-122"/>
              </a:rPr>
              <a:t>类型图中的一对结点的合一处理</a:t>
            </a:r>
            <a:endParaRPr lang="zh-CN" altLang="en-US" sz="2200" b="1" dirty="0">
              <a:ea typeface="宋体" panose="02010600030101010101" pitchFamily="2" charset="-122"/>
            </a:endParaRPr>
          </a:p>
          <a:p>
            <a:pPr lvl="1">
              <a:lnSpc>
                <a:spcPct val="90000"/>
              </a:lnSpc>
            </a:pPr>
            <a:r>
              <a:rPr lang="zh-CN" altLang="en-US" sz="2000" b="1" dirty="0">
                <a:ea typeface="宋体" panose="02010600030101010101" pitchFamily="2" charset="-122"/>
              </a:rPr>
              <a:t>输入：一个表示类型的图，以及需要进行合一处理的结点对</a:t>
            </a:r>
            <a:r>
              <a:rPr lang="en-US" altLang="zh-CN" sz="2000" b="1" dirty="0">
                <a:ea typeface="宋体" panose="02010600030101010101" pitchFamily="2" charset="-122"/>
              </a:rPr>
              <a:t>m</a:t>
            </a:r>
            <a:r>
              <a:rPr lang="zh-CN" altLang="en-US" sz="2000" b="1" dirty="0">
                <a:ea typeface="宋体" panose="02010600030101010101" pitchFamily="2" charset="-122"/>
              </a:rPr>
              <a:t>和</a:t>
            </a:r>
            <a:r>
              <a:rPr lang="en-US" altLang="zh-CN" sz="2000" b="1" dirty="0">
                <a:ea typeface="宋体" panose="02010600030101010101" pitchFamily="2" charset="-122"/>
              </a:rPr>
              <a:t>n</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输出：如果结点</a:t>
            </a:r>
            <a:r>
              <a:rPr lang="en-US" altLang="zh-CN" sz="2000" b="1" dirty="0">
                <a:ea typeface="宋体" panose="02010600030101010101" pitchFamily="2" charset="-122"/>
              </a:rPr>
              <a:t>m</a:t>
            </a:r>
            <a:r>
              <a:rPr lang="zh-CN" altLang="en-US" sz="2000" b="1" dirty="0">
                <a:ea typeface="宋体" panose="02010600030101010101" pitchFamily="2" charset="-122"/>
              </a:rPr>
              <a:t>和</a:t>
            </a:r>
            <a:r>
              <a:rPr lang="en-US" altLang="zh-CN" sz="2000" b="1" dirty="0">
                <a:ea typeface="宋体" panose="02010600030101010101" pitchFamily="2" charset="-122"/>
              </a:rPr>
              <a:t>n</a:t>
            </a:r>
            <a:r>
              <a:rPr lang="zh-CN" altLang="en-US" sz="2000" b="1" dirty="0">
                <a:ea typeface="宋体" panose="02010600030101010101" pitchFamily="2" charset="-122"/>
              </a:rPr>
              <a:t>表示的表达式可以合一，返回布尔值</a:t>
            </a:r>
            <a:r>
              <a:rPr lang="en-US" altLang="zh-CN" sz="2000" b="1" dirty="0">
                <a:ea typeface="宋体" panose="02010600030101010101" pitchFamily="2" charset="-122"/>
              </a:rPr>
              <a:t>true</a:t>
            </a:r>
            <a:r>
              <a:rPr lang="zh-CN" altLang="en-US" sz="2000" b="1" dirty="0">
                <a:ea typeface="宋体" panose="02010600030101010101" pitchFamily="2" charset="-122"/>
              </a:rPr>
              <a:t>。反之，返回</a:t>
            </a:r>
            <a:r>
              <a:rPr lang="en-US" altLang="zh-CN" sz="2000" b="1" dirty="0">
                <a:ea typeface="宋体" panose="02010600030101010101" pitchFamily="2" charset="-122"/>
              </a:rPr>
              <a:t>false</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方法：结点用一个记录实现</a:t>
            </a:r>
            <a:endParaRPr lang="en-US" altLang="zh-CN" sz="2000" b="1" dirty="0">
              <a:ea typeface="宋体" panose="02010600030101010101" pitchFamily="2" charset="-122"/>
            </a:endParaRPr>
          </a:p>
          <a:p>
            <a:pPr lvl="2">
              <a:lnSpc>
                <a:spcPct val="90000"/>
              </a:lnSpc>
            </a:pPr>
            <a:r>
              <a:rPr lang="zh-CN" altLang="en-US" sz="1800" b="1" dirty="0">
                <a:ea typeface="宋体" panose="02010600030101010101" pitchFamily="2" charset="-122"/>
              </a:rPr>
              <a:t>记录中的字段用于存放一个二元运算符和分别指向其左右子结点的指针</a:t>
            </a:r>
            <a:endParaRPr lang="en-US" altLang="zh-CN" sz="1800" b="1" dirty="0">
              <a:ea typeface="宋体" panose="02010600030101010101" pitchFamily="2" charset="-122"/>
            </a:endParaRPr>
          </a:p>
          <a:p>
            <a:pPr lvl="2">
              <a:lnSpc>
                <a:spcPct val="90000"/>
              </a:lnSpc>
            </a:pPr>
            <a:r>
              <a:rPr lang="zh-CN" altLang="en-US" sz="1800" b="1" dirty="0">
                <a:ea typeface="宋体" panose="02010600030101010101" pitchFamily="2" charset="-122"/>
              </a:rPr>
              <a:t>字段</a:t>
            </a:r>
            <a:r>
              <a:rPr lang="en-US" altLang="zh-CN" sz="1800" b="1" dirty="0">
                <a:ea typeface="宋体" panose="02010600030101010101" pitchFamily="2" charset="-122"/>
              </a:rPr>
              <a:t>set</a:t>
            </a:r>
            <a:r>
              <a:rPr lang="zh-CN" altLang="en-US" sz="1800" b="1" dirty="0">
                <a:ea typeface="宋体" panose="02010600030101010101" pitchFamily="2" charset="-122"/>
              </a:rPr>
              <a:t>用于保存等价结点的集合。每个等价类都有一个结点被选作这个类的唯一代表，它的</a:t>
            </a:r>
            <a:r>
              <a:rPr lang="en-US" altLang="zh-CN" sz="1800" b="1" dirty="0">
                <a:ea typeface="宋体" panose="02010600030101010101" pitchFamily="2" charset="-122"/>
              </a:rPr>
              <a:t>set</a:t>
            </a:r>
            <a:r>
              <a:rPr lang="zh-CN" altLang="en-US" sz="1800" b="1" dirty="0">
                <a:ea typeface="宋体" panose="02010600030101010101" pitchFamily="2" charset="-122"/>
              </a:rPr>
              <a:t>字段包含一个空指针。等价类中其它结点的</a:t>
            </a:r>
            <a:r>
              <a:rPr lang="en-US" altLang="zh-CN" sz="1800" b="1" dirty="0">
                <a:ea typeface="宋体" panose="02010600030101010101" pitchFamily="2" charset="-122"/>
              </a:rPr>
              <a:t>set</a:t>
            </a:r>
            <a:r>
              <a:rPr lang="zh-CN" altLang="en-US" sz="1800" b="1" dirty="0">
                <a:ea typeface="宋体" panose="02010600030101010101" pitchFamily="2" charset="-122"/>
              </a:rPr>
              <a:t>字段（可以通过集合中的其它结点间接地）指向该等价类的代表结点</a:t>
            </a:r>
            <a:endParaRPr lang="en-US" altLang="zh-CN" sz="1800" b="1" dirty="0">
              <a:ea typeface="宋体" panose="02010600030101010101" pitchFamily="2" charset="-122"/>
            </a:endParaRPr>
          </a:p>
          <a:p>
            <a:pPr lvl="2">
              <a:lnSpc>
                <a:spcPct val="90000"/>
              </a:lnSpc>
            </a:pPr>
            <a:r>
              <a:rPr lang="zh-CN" altLang="en-US" sz="1800" b="1" dirty="0">
                <a:ea typeface="宋体" panose="02010600030101010101" pitchFamily="2" charset="-122"/>
              </a:rPr>
              <a:t>初始时，每个结点</a:t>
            </a:r>
            <a:r>
              <a:rPr lang="en-US" altLang="zh-CN" sz="1800" b="1" dirty="0">
                <a:ea typeface="宋体" panose="02010600030101010101" pitchFamily="2" charset="-122"/>
              </a:rPr>
              <a:t>n</a:t>
            </a:r>
            <a:r>
              <a:rPr lang="zh-CN" altLang="en-US" sz="1800" b="1" dirty="0">
                <a:ea typeface="宋体" panose="02010600030101010101" pitchFamily="2" charset="-122"/>
              </a:rPr>
              <a:t>自身组成一个等价类，</a:t>
            </a:r>
            <a:r>
              <a:rPr lang="en-US" altLang="zh-CN" sz="1800" b="1" dirty="0">
                <a:ea typeface="宋体" panose="02010600030101010101" pitchFamily="2" charset="-122"/>
              </a:rPr>
              <a:t>n</a:t>
            </a:r>
            <a:r>
              <a:rPr lang="zh-CN" altLang="en-US" sz="1800" b="1" dirty="0">
                <a:ea typeface="宋体" panose="02010600030101010101" pitchFamily="2" charset="-122"/>
              </a:rPr>
              <a:t>是它自己的代表结点</a:t>
            </a:r>
            <a:endParaRPr lang="en-US" altLang="zh-CN" sz="1800" b="1" dirty="0">
              <a:ea typeface="宋体" panose="02010600030101010101" pitchFamily="2" charset="-122"/>
            </a:endParaRPr>
          </a:p>
        </p:txBody>
      </p:sp>
    </p:spTree>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6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a:t>
            </a:r>
            <a:r>
              <a:rPr lang="en-US" altLang="zh-CN" dirty="0">
                <a:latin typeface="Times New Roman" panose="02020603050405020304" pitchFamily="18" charset="0"/>
                <a:ea typeface="宋体" panose="02010600030101010101" pitchFamily="2" charset="-122"/>
              </a:rPr>
              <a:t>18</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16067" name="Rectangle 3"/>
          <p:cNvSpPr>
            <a:spLocks noGrp="1"/>
          </p:cNvSpPr>
          <p:nvPr>
            <p:ph idx="1"/>
          </p:nvPr>
        </p:nvSpPr>
        <p:spPr>
          <a:xfrm>
            <a:off x="914400" y="1371600"/>
            <a:ext cx="7543800" cy="4724400"/>
          </a:xfrm>
        </p:spPr>
        <p:txBody>
          <a:bodyPr vert="horz" wrap="square" lIns="92075" tIns="46038" rIns="92075" bIns="46038" anchor="t" anchorCtr="0"/>
          <a:p>
            <a:pPr>
              <a:lnSpc>
                <a:spcPct val="90000"/>
              </a:lnSpc>
            </a:pPr>
            <a:r>
              <a:rPr lang="zh-CN" altLang="en-US" sz="2200" b="1" dirty="0">
                <a:ea typeface="宋体" panose="02010600030101010101" pitchFamily="2" charset="-122"/>
              </a:rPr>
              <a:t>算法</a:t>
            </a:r>
            <a:r>
              <a:rPr lang="en-US" altLang="zh-CN" sz="2200" b="1" dirty="0">
                <a:ea typeface="宋体" panose="02010600030101010101" pitchFamily="2" charset="-122"/>
              </a:rPr>
              <a:t>6.19</a:t>
            </a:r>
            <a:r>
              <a:rPr lang="zh-CN" altLang="en-US" sz="2200" b="1" dirty="0">
                <a:ea typeface="宋体" panose="02010600030101010101" pitchFamily="2" charset="-122"/>
              </a:rPr>
              <a:t> </a:t>
            </a:r>
            <a:r>
              <a:rPr lang="en-US" altLang="zh-CN" sz="2200" b="1" dirty="0">
                <a:ea typeface="宋体" panose="02010600030101010101" pitchFamily="2" charset="-122"/>
              </a:rPr>
              <a:t>	</a:t>
            </a:r>
            <a:r>
              <a:rPr lang="zh-CN" altLang="en-US" sz="2200" b="1" dirty="0">
                <a:ea typeface="宋体" panose="02010600030101010101" pitchFamily="2" charset="-122"/>
              </a:rPr>
              <a:t>类型图中的一对结点的合一处理（续）</a:t>
            </a:r>
            <a:endParaRPr lang="zh-CN" altLang="en-US" sz="2200" b="1" dirty="0">
              <a:ea typeface="宋体" panose="02010600030101010101" pitchFamily="2" charset="-122"/>
            </a:endParaRPr>
          </a:p>
          <a:p>
            <a:pPr lvl="2">
              <a:lnSpc>
                <a:spcPct val="90000"/>
              </a:lnSpc>
            </a:pPr>
            <a:r>
              <a:rPr lang="zh-CN" altLang="en-US" sz="1800" b="1" dirty="0">
                <a:ea typeface="宋体" panose="02010600030101010101" pitchFamily="2" charset="-122"/>
              </a:rPr>
              <a:t>根据图</a:t>
            </a:r>
            <a:r>
              <a:rPr lang="en-US" altLang="zh-CN" sz="1800" b="1" dirty="0">
                <a:ea typeface="宋体" panose="02010600030101010101" pitchFamily="2" charset="-122"/>
              </a:rPr>
              <a:t>6-32</a:t>
            </a:r>
            <a:r>
              <a:rPr lang="zh-CN" altLang="en-US" sz="1800" b="1" dirty="0">
                <a:ea typeface="宋体" panose="02010600030101010101" pitchFamily="2" charset="-122"/>
              </a:rPr>
              <a:t>所示的合一算法在结点上进行如下两种操作</a:t>
            </a:r>
            <a:endParaRPr lang="en-US" altLang="zh-CN" sz="1800" b="1" dirty="0">
              <a:ea typeface="宋体" panose="02010600030101010101" pitchFamily="2" charset="-122"/>
            </a:endParaRPr>
          </a:p>
          <a:p>
            <a:pPr lvl="3">
              <a:lnSpc>
                <a:spcPct val="90000"/>
              </a:lnSpc>
            </a:pPr>
            <a:r>
              <a:rPr lang="en-US" altLang="zh-CN" sz="1600" i="1" dirty="0">
                <a:ea typeface="宋体" panose="02010600030101010101" pitchFamily="2" charset="-122"/>
              </a:rPr>
              <a:t>find</a:t>
            </a:r>
            <a:r>
              <a:rPr lang="en-US" altLang="zh-CN" sz="1600" b="1" dirty="0">
                <a:ea typeface="宋体" panose="02010600030101010101" pitchFamily="2" charset="-122"/>
              </a:rPr>
              <a:t>( </a:t>
            </a:r>
            <a:r>
              <a:rPr lang="en-US" altLang="zh-CN" sz="1600" i="1" dirty="0">
                <a:ea typeface="宋体" panose="02010600030101010101" pitchFamily="2" charset="-122"/>
              </a:rPr>
              <a:t>n</a:t>
            </a:r>
            <a:r>
              <a:rPr lang="en-US" altLang="zh-CN" sz="1600" b="1" dirty="0">
                <a:ea typeface="宋体" panose="02010600030101010101" pitchFamily="2" charset="-122"/>
              </a:rPr>
              <a:t> )</a:t>
            </a:r>
            <a:r>
              <a:rPr lang="zh-CN" altLang="en-US" sz="1600" b="1" dirty="0">
                <a:ea typeface="宋体" panose="02010600030101010101" pitchFamily="2" charset="-122"/>
              </a:rPr>
              <a:t>返回当前包含结点</a:t>
            </a:r>
            <a:r>
              <a:rPr lang="en-US" altLang="zh-CN" sz="1600" b="1" dirty="0">
                <a:ea typeface="宋体" panose="02010600030101010101" pitchFamily="2" charset="-122"/>
              </a:rPr>
              <a:t>n</a:t>
            </a:r>
            <a:r>
              <a:rPr lang="zh-CN" altLang="en-US" sz="1600" b="1" dirty="0">
                <a:ea typeface="宋体" panose="02010600030101010101" pitchFamily="2" charset="-122"/>
              </a:rPr>
              <a:t>的等价类的代表结点</a:t>
            </a:r>
            <a:endParaRPr lang="en-US" altLang="zh-CN" sz="1600" b="1" dirty="0">
              <a:ea typeface="宋体" panose="02010600030101010101" pitchFamily="2" charset="-122"/>
            </a:endParaRPr>
          </a:p>
          <a:p>
            <a:pPr lvl="3">
              <a:lnSpc>
                <a:spcPct val="90000"/>
              </a:lnSpc>
            </a:pPr>
            <a:r>
              <a:rPr lang="en-US" altLang="zh-CN" sz="1600" i="1" dirty="0">
                <a:ea typeface="宋体" panose="02010600030101010101" pitchFamily="2" charset="-122"/>
              </a:rPr>
              <a:t>union</a:t>
            </a:r>
            <a:r>
              <a:rPr lang="en-US" altLang="zh-CN" sz="1600" b="1" dirty="0">
                <a:ea typeface="宋体" panose="02010600030101010101" pitchFamily="2" charset="-122"/>
              </a:rPr>
              <a:t>(</a:t>
            </a:r>
            <a:r>
              <a:rPr lang="zh-CN" altLang="en-US" sz="1600" b="1" dirty="0">
                <a:ea typeface="宋体" panose="02010600030101010101" pitchFamily="2" charset="-122"/>
              </a:rPr>
              <a:t> </a:t>
            </a:r>
            <a:r>
              <a:rPr lang="en-US" altLang="zh-CN" sz="1600" i="1" dirty="0">
                <a:ea typeface="宋体" panose="02010600030101010101" pitchFamily="2" charset="-122"/>
              </a:rPr>
              <a:t>m</a:t>
            </a:r>
            <a:r>
              <a:rPr lang="zh-CN" altLang="en-US" sz="1600" i="1" dirty="0">
                <a:ea typeface="宋体" panose="02010600030101010101" pitchFamily="2" charset="-122"/>
              </a:rPr>
              <a:t> </a:t>
            </a:r>
            <a:r>
              <a:rPr lang="en-US" altLang="zh-CN" sz="1600" i="1" dirty="0">
                <a:ea typeface="宋体" panose="02010600030101010101" pitchFamily="2" charset="-122"/>
              </a:rPr>
              <a:t>,</a:t>
            </a:r>
            <a:r>
              <a:rPr lang="en-US" altLang="zh-CN" sz="1600" b="1" dirty="0">
                <a:ea typeface="宋体" panose="02010600030101010101" pitchFamily="2" charset="-122"/>
              </a:rPr>
              <a:t> </a:t>
            </a:r>
            <a:r>
              <a:rPr lang="en-US" altLang="zh-CN" sz="1600" i="1" dirty="0">
                <a:ea typeface="宋体" panose="02010600030101010101" pitchFamily="2" charset="-122"/>
              </a:rPr>
              <a:t>n</a:t>
            </a:r>
            <a:r>
              <a:rPr lang="en-US" altLang="zh-CN" sz="1600" b="1" dirty="0">
                <a:ea typeface="宋体" panose="02010600030101010101" pitchFamily="2" charset="-122"/>
              </a:rPr>
              <a:t> )</a:t>
            </a:r>
            <a:r>
              <a:rPr lang="zh-CN" altLang="en-US" sz="1600" b="1" dirty="0">
                <a:ea typeface="宋体" panose="02010600030101010101" pitchFamily="2" charset="-122"/>
              </a:rPr>
              <a:t>将包含结点</a:t>
            </a:r>
            <a:r>
              <a:rPr lang="en-US" altLang="zh-CN" sz="1600" b="1" dirty="0">
                <a:ea typeface="宋体" panose="02010600030101010101" pitchFamily="2" charset="-122"/>
              </a:rPr>
              <a:t>m</a:t>
            </a:r>
            <a:r>
              <a:rPr lang="zh-CN" altLang="en-US" sz="1600" b="1" dirty="0">
                <a:ea typeface="宋体" panose="02010600030101010101" pitchFamily="2" charset="-122"/>
              </a:rPr>
              <a:t>和</a:t>
            </a:r>
            <a:r>
              <a:rPr lang="en-US" altLang="zh-CN" sz="1600" b="1" dirty="0">
                <a:ea typeface="宋体" panose="02010600030101010101" pitchFamily="2" charset="-122"/>
              </a:rPr>
              <a:t>n</a:t>
            </a:r>
            <a:r>
              <a:rPr lang="zh-CN" altLang="en-US" sz="1600" b="1" dirty="0">
                <a:ea typeface="宋体" panose="02010600030101010101" pitchFamily="2" charset="-122"/>
              </a:rPr>
              <a:t>的等价类合并</a:t>
            </a:r>
            <a:endParaRPr lang="en-US" altLang="zh-CN" sz="1600" b="1" dirty="0">
              <a:ea typeface="宋体" panose="02010600030101010101" pitchFamily="2" charset="-122"/>
            </a:endParaRPr>
          </a:p>
          <a:p>
            <a:pPr lvl="4">
              <a:lnSpc>
                <a:spcPct val="90000"/>
              </a:lnSpc>
            </a:pPr>
            <a:r>
              <a:rPr lang="zh-CN" altLang="en-US" sz="1400" b="1" dirty="0">
                <a:ea typeface="宋体" panose="02010600030101010101" pitchFamily="2" charset="-122"/>
              </a:rPr>
              <a:t>如果</a:t>
            </a:r>
            <a:r>
              <a:rPr lang="en-US" altLang="zh-CN" sz="1400" b="1" dirty="0">
                <a:ea typeface="宋体" panose="02010600030101010101" pitchFamily="2" charset="-122"/>
              </a:rPr>
              <a:t>m</a:t>
            </a:r>
            <a:r>
              <a:rPr lang="zh-CN" altLang="en-US" sz="1400" b="1" dirty="0">
                <a:ea typeface="宋体" panose="02010600030101010101" pitchFamily="2" charset="-122"/>
              </a:rPr>
              <a:t>和</a:t>
            </a:r>
            <a:r>
              <a:rPr lang="en-US" altLang="zh-CN" sz="1400" b="1" dirty="0">
                <a:ea typeface="宋体" panose="02010600030101010101" pitchFamily="2" charset="-122"/>
              </a:rPr>
              <a:t>n</a:t>
            </a:r>
            <a:r>
              <a:rPr lang="zh-CN" altLang="en-US" sz="1400" b="1" dirty="0">
                <a:ea typeface="宋体" panose="02010600030101010101" pitchFamily="2" charset="-122"/>
              </a:rPr>
              <a:t>所对应的等价类的表结点中有一个是非变量的结点，则</a:t>
            </a:r>
            <a:r>
              <a:rPr lang="en-US" altLang="zh-CN" sz="1400" i="1" dirty="0">
                <a:ea typeface="宋体" panose="02010600030101010101" pitchFamily="2" charset="-122"/>
              </a:rPr>
              <a:t>union</a:t>
            </a:r>
            <a:r>
              <a:rPr lang="zh-CN" altLang="en-US" sz="1400" b="1" dirty="0">
                <a:ea typeface="宋体" panose="02010600030101010101" pitchFamily="2" charset="-122"/>
              </a:rPr>
              <a:t>将这个非变量结点作为合并后的等价类的代表结点</a:t>
            </a:r>
            <a:endParaRPr lang="en-US" altLang="zh-CN" sz="1400" b="1" dirty="0">
              <a:ea typeface="宋体" panose="02010600030101010101" pitchFamily="2" charset="-122"/>
            </a:endParaRPr>
          </a:p>
          <a:p>
            <a:pPr lvl="4">
              <a:lnSpc>
                <a:spcPct val="90000"/>
              </a:lnSpc>
            </a:pPr>
            <a:r>
              <a:rPr lang="zh-CN" altLang="en-US" sz="1400" b="1" dirty="0">
                <a:ea typeface="宋体" panose="02010600030101010101" pitchFamily="2" charset="-122"/>
              </a:rPr>
              <a:t>否则，</a:t>
            </a:r>
            <a:r>
              <a:rPr lang="en-US" altLang="zh-CN" sz="1400" i="1" dirty="0">
                <a:ea typeface="宋体" panose="02010600030101010101" pitchFamily="2" charset="-122"/>
              </a:rPr>
              <a:t> union</a:t>
            </a:r>
            <a:r>
              <a:rPr lang="zh-CN" altLang="en-US" sz="1400" b="1" dirty="0">
                <a:ea typeface="宋体" panose="02010600030101010101" pitchFamily="2" charset="-122"/>
              </a:rPr>
              <a:t>把任意一个原代表结点作为新的代表结点</a:t>
            </a:r>
            <a:endParaRPr lang="en-US" altLang="zh-CN" sz="1400" b="1" dirty="0">
              <a:ea typeface="宋体" panose="02010600030101010101" pitchFamily="2" charset="-122"/>
            </a:endParaRPr>
          </a:p>
          <a:p>
            <a:pPr lvl="2">
              <a:lnSpc>
                <a:spcPct val="90000"/>
              </a:lnSpc>
            </a:pPr>
            <a:r>
              <a:rPr lang="en-US" altLang="zh-CN" sz="1800" i="1" dirty="0">
                <a:ea typeface="宋体" panose="02010600030101010101" pitchFamily="2" charset="-122"/>
              </a:rPr>
              <a:t>union</a:t>
            </a:r>
            <a:r>
              <a:rPr lang="zh-CN" altLang="en-US" sz="1800" b="1" dirty="0">
                <a:ea typeface="宋体" panose="02010600030101010101" pitchFamily="2" charset="-122"/>
              </a:rPr>
              <a:t>的规约中的这种非对称性非常重要，因为如果一个等价类对应于一个带有类型构造算子的类型表达式或基本类型，就不能用一个变量作为该等价类的代表，否则，两个不等价的表达式可能会通过该变量被合一</a:t>
            </a:r>
            <a:endParaRPr lang="en-US" altLang="zh-CN" sz="1800" b="1" dirty="0">
              <a:ea typeface="宋体" panose="02010600030101010101" pitchFamily="2" charset="-122"/>
            </a:endParaRPr>
          </a:p>
          <a:p>
            <a:pPr>
              <a:lnSpc>
                <a:spcPct val="90000"/>
              </a:lnSpc>
            </a:pPr>
            <a:r>
              <a:rPr lang="en-US" altLang="zh-CN" sz="2200" b="1" dirty="0">
                <a:ea typeface="宋体" panose="02010600030101010101" pitchFamily="2" charset="-122"/>
              </a:rPr>
              <a:t>Union</a:t>
            </a:r>
            <a:r>
              <a:rPr lang="zh-CN" altLang="en-US" sz="2200" b="1" dirty="0">
                <a:ea typeface="宋体" panose="02010600030101010101" pitchFamily="2" charset="-122"/>
              </a:rPr>
              <a:t>的操作实现是需要改变一个等价类的代表结点的</a:t>
            </a:r>
            <a:r>
              <a:rPr lang="en-US" altLang="zh-CN" sz="2200" b="1" dirty="0">
                <a:ea typeface="宋体" panose="02010600030101010101" pitchFamily="2" charset="-122"/>
              </a:rPr>
              <a:t>set</a:t>
            </a:r>
            <a:r>
              <a:rPr lang="zh-CN" altLang="en-US" sz="2200" b="1" dirty="0">
                <a:ea typeface="宋体" panose="02010600030101010101" pitchFamily="2" charset="-122"/>
              </a:rPr>
              <a:t>字段，使之指向另一个等价类的代表结点即可</a:t>
            </a:r>
            <a:endParaRPr lang="en-US" altLang="zh-CN" sz="2200" b="1" dirty="0">
              <a:ea typeface="宋体" panose="02010600030101010101" pitchFamily="2" charset="-122"/>
            </a:endParaRPr>
          </a:p>
          <a:p>
            <a:pPr lvl="1">
              <a:lnSpc>
                <a:spcPct val="90000"/>
              </a:lnSpc>
            </a:pPr>
            <a:r>
              <a:rPr lang="zh-CN" altLang="en-US" sz="2000" b="1" dirty="0">
                <a:ea typeface="宋体" panose="02010600030101010101" pitchFamily="2" charset="-122"/>
              </a:rPr>
              <a:t>为了找到一个结点所属的等价类，沿着各个结点的</a:t>
            </a:r>
            <a:r>
              <a:rPr lang="en-US" altLang="zh-CN" sz="2000" b="1" dirty="0">
                <a:ea typeface="宋体" panose="02010600030101010101" pitchFamily="2" charset="-122"/>
              </a:rPr>
              <a:t>set</a:t>
            </a:r>
            <a:r>
              <a:rPr lang="zh-CN" altLang="en-US" sz="2000" b="1" dirty="0">
                <a:ea typeface="宋体" panose="02010600030101010101" pitchFamily="2" charset="-122"/>
              </a:rPr>
              <a:t>字段中的指针寻找即可</a:t>
            </a:r>
            <a:endParaRPr lang="en-US" altLang="zh-CN" sz="2000" b="1" dirty="0">
              <a:ea typeface="宋体" panose="02010600030101010101" pitchFamily="2" charset="-122"/>
            </a:endParaRPr>
          </a:p>
        </p:txBody>
      </p:sp>
    </p:spTree>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8114" name="Picture 2"/>
          <p:cNvPicPr>
            <a:picLocks noChangeAspect="1"/>
          </p:cNvPicPr>
          <p:nvPr/>
        </p:nvPicPr>
        <p:blipFill>
          <a:blip r:embed="rId1"/>
          <a:stretch>
            <a:fillRect/>
          </a:stretch>
        </p:blipFill>
        <p:spPr>
          <a:xfrm>
            <a:off x="533400" y="762000"/>
            <a:ext cx="8026400" cy="5118100"/>
          </a:xfrm>
          <a:prstGeom prst="rect">
            <a:avLst/>
          </a:prstGeom>
          <a:noFill/>
          <a:ln w="9525">
            <a:noFill/>
          </a:ln>
        </p:spPr>
      </p:pic>
    </p:spTree>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913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a:t>
            </a:r>
            <a:r>
              <a:rPr lang="en-US" altLang="zh-CN" dirty="0">
                <a:latin typeface="Times New Roman" panose="02020603050405020304" pitchFamily="18" charset="0"/>
                <a:ea typeface="宋体" panose="02010600030101010101" pitchFamily="2" charset="-122"/>
              </a:rPr>
              <a:t>19</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19139" name="Rectangle 3"/>
          <p:cNvSpPr>
            <a:spLocks noGrp="1"/>
          </p:cNvSpPr>
          <p:nvPr>
            <p:ph idx="1"/>
          </p:nvPr>
        </p:nvSpPr>
        <p:spPr>
          <a:xfrm>
            <a:off x="914400" y="1371600"/>
            <a:ext cx="7543800" cy="4724400"/>
          </a:xfrm>
        </p:spPr>
        <p:txBody>
          <a:bodyPr vert="horz" wrap="square" lIns="92075" tIns="46038" rIns="92075" bIns="46038" anchor="t" anchorCtr="0"/>
          <a:p>
            <a:pPr>
              <a:lnSpc>
                <a:spcPct val="90000"/>
              </a:lnSpc>
            </a:pPr>
            <a:r>
              <a:rPr lang="zh-CN" altLang="en-US" sz="2200" b="1" dirty="0">
                <a:ea typeface="宋体" panose="02010600030101010101" pitchFamily="2" charset="-122"/>
              </a:rPr>
              <a:t>图</a:t>
            </a:r>
            <a:r>
              <a:rPr lang="en-US" altLang="zh-CN" sz="2200" b="1" dirty="0">
                <a:ea typeface="宋体" panose="02010600030101010101" pitchFamily="2" charset="-122"/>
              </a:rPr>
              <a:t>6-32</a:t>
            </a:r>
            <a:r>
              <a:rPr lang="zh-CN" altLang="en-US" sz="2200" b="1" dirty="0">
                <a:ea typeface="宋体" panose="02010600030101010101" pitchFamily="2" charset="-122"/>
              </a:rPr>
              <a:t>合一算法的解释</a:t>
            </a:r>
            <a:endParaRPr lang="en-US" altLang="zh-CN" sz="2200" b="1" dirty="0">
              <a:ea typeface="宋体" panose="02010600030101010101" pitchFamily="2" charset="-122"/>
            </a:endParaRPr>
          </a:p>
          <a:p>
            <a:pPr lvl="1">
              <a:lnSpc>
                <a:spcPct val="90000"/>
              </a:lnSpc>
            </a:pPr>
            <a:r>
              <a:rPr lang="zh-CN" altLang="en-US" sz="2000" b="1" dirty="0">
                <a:ea typeface="宋体" panose="02010600030101010101" pitchFamily="2" charset="-122"/>
              </a:rPr>
              <a:t>用</a:t>
            </a:r>
            <a:r>
              <a:rPr lang="en-US" altLang="zh-CN" sz="2000" b="1" dirty="0">
                <a:ea typeface="宋体" panose="02010600030101010101" pitchFamily="2" charset="-122"/>
              </a:rPr>
              <a:t>s=find( m )</a:t>
            </a:r>
            <a:r>
              <a:rPr lang="zh-CN" altLang="en-US" sz="2000" b="1" dirty="0">
                <a:ea typeface="宋体" panose="02010600030101010101" pitchFamily="2" charset="-122"/>
              </a:rPr>
              <a:t>和</a:t>
            </a:r>
            <a:r>
              <a:rPr lang="en-US" altLang="zh-CN" sz="2000" b="1" dirty="0">
                <a:ea typeface="宋体" panose="02010600030101010101" pitchFamily="2" charset="-122"/>
              </a:rPr>
              <a:t>t=find( n )</a:t>
            </a:r>
            <a:r>
              <a:rPr lang="zh-CN" altLang="en-US" sz="2000" b="1" dirty="0">
                <a:ea typeface="宋体" panose="02010600030101010101" pitchFamily="2" charset="-122"/>
              </a:rPr>
              <a:t>，而不是直接用</a:t>
            </a:r>
            <a:r>
              <a:rPr lang="en-US" altLang="zh-CN" sz="2000" b="1" dirty="0">
                <a:ea typeface="宋体" panose="02010600030101010101" pitchFamily="2" charset="-122"/>
              </a:rPr>
              <a:t>m</a:t>
            </a:r>
            <a:r>
              <a:rPr lang="zh-CN" altLang="en-US" sz="2000" b="1" dirty="0">
                <a:ea typeface="宋体" panose="02010600030101010101" pitchFamily="2" charset="-122"/>
              </a:rPr>
              <a:t>和</a:t>
            </a:r>
            <a:r>
              <a:rPr lang="en-US" altLang="zh-CN" sz="2000" b="1" dirty="0">
                <a:ea typeface="宋体" panose="02010600030101010101" pitchFamily="2" charset="-122"/>
              </a:rPr>
              <a:t>n</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如果</a:t>
            </a:r>
            <a:r>
              <a:rPr lang="en-US" altLang="zh-CN" sz="2000" b="1" dirty="0">
                <a:ea typeface="宋体" panose="02010600030101010101" pitchFamily="2" charset="-122"/>
              </a:rPr>
              <a:t>m</a:t>
            </a:r>
            <a:r>
              <a:rPr lang="zh-CN" altLang="en-US" sz="2000" b="1" dirty="0">
                <a:ea typeface="宋体" panose="02010600030101010101" pitchFamily="2" charset="-122"/>
              </a:rPr>
              <a:t>和</a:t>
            </a:r>
            <a:r>
              <a:rPr lang="en-US" altLang="zh-CN" sz="2000" b="1" dirty="0">
                <a:ea typeface="宋体" panose="02010600030101010101" pitchFamily="2" charset="-122"/>
              </a:rPr>
              <a:t>n</a:t>
            </a:r>
            <a:r>
              <a:rPr lang="zh-CN" altLang="en-US" sz="2000" b="1" dirty="0">
                <a:ea typeface="宋体" panose="02010600030101010101" pitchFamily="2" charset="-122"/>
              </a:rPr>
              <a:t>在同一个等价类中，则代表结点</a:t>
            </a:r>
            <a:r>
              <a:rPr lang="en-US" altLang="zh-CN" sz="2000" b="1" dirty="0">
                <a:ea typeface="宋体" panose="02010600030101010101" pitchFamily="2" charset="-122"/>
              </a:rPr>
              <a:t>s</a:t>
            </a:r>
            <a:r>
              <a:rPr lang="zh-CN" altLang="en-US" sz="2000" b="1" dirty="0">
                <a:ea typeface="宋体" panose="02010600030101010101" pitchFamily="2" charset="-122"/>
              </a:rPr>
              <a:t>和</a:t>
            </a:r>
            <a:r>
              <a:rPr lang="en-US" altLang="zh-CN" sz="2000" b="1" dirty="0">
                <a:ea typeface="宋体" panose="02010600030101010101" pitchFamily="2" charset="-122"/>
              </a:rPr>
              <a:t>t</a:t>
            </a:r>
            <a:r>
              <a:rPr lang="zh-CN" altLang="en-US" sz="2000" b="1" dirty="0">
                <a:ea typeface="宋体" panose="02010600030101010101" pitchFamily="2" charset="-122"/>
              </a:rPr>
              <a:t>相等</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如果</a:t>
            </a:r>
            <a:r>
              <a:rPr lang="en-US" altLang="zh-CN" sz="2000" b="1" dirty="0">
                <a:ea typeface="宋体" panose="02010600030101010101" pitchFamily="2" charset="-122"/>
              </a:rPr>
              <a:t>s</a:t>
            </a:r>
            <a:r>
              <a:rPr lang="zh-CN" altLang="en-US" sz="2000" b="1" dirty="0">
                <a:ea typeface="宋体" panose="02010600030101010101" pitchFamily="2" charset="-122"/>
              </a:rPr>
              <a:t>和</a:t>
            </a:r>
            <a:r>
              <a:rPr lang="en-US" altLang="zh-CN" sz="2000" b="1" dirty="0">
                <a:ea typeface="宋体" panose="02010600030101010101" pitchFamily="2" charset="-122"/>
              </a:rPr>
              <a:t>t</a:t>
            </a:r>
            <a:r>
              <a:rPr lang="zh-CN" altLang="en-US" sz="2000" b="1" dirty="0">
                <a:ea typeface="宋体" panose="02010600030101010101" pitchFamily="2" charset="-122"/>
              </a:rPr>
              <a:t>表示相同的基本类型，则返回</a:t>
            </a:r>
            <a:r>
              <a:rPr lang="en-US" altLang="zh-CN" sz="2000" b="1" dirty="0">
                <a:ea typeface="宋体" panose="02010600030101010101" pitchFamily="2" charset="-122"/>
              </a:rPr>
              <a:t>true</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如果</a:t>
            </a:r>
            <a:r>
              <a:rPr lang="en-US" altLang="zh-CN" sz="2000" b="1" dirty="0">
                <a:ea typeface="宋体" panose="02010600030101010101" pitchFamily="2" charset="-122"/>
              </a:rPr>
              <a:t>s</a:t>
            </a:r>
            <a:r>
              <a:rPr lang="zh-CN" altLang="en-US" sz="2000" b="1" dirty="0">
                <a:ea typeface="宋体" panose="02010600030101010101" pitchFamily="2" charset="-122"/>
              </a:rPr>
              <a:t>和</a:t>
            </a:r>
            <a:r>
              <a:rPr lang="en-US" altLang="zh-CN" sz="2000" b="1" dirty="0">
                <a:ea typeface="宋体" panose="02010600030101010101" pitchFamily="2" charset="-122"/>
              </a:rPr>
              <a:t>t</a:t>
            </a:r>
            <a:r>
              <a:rPr lang="zh-CN" altLang="en-US" sz="2000" b="1" dirty="0">
                <a:ea typeface="宋体" panose="02010600030101010101" pitchFamily="2" charset="-122"/>
              </a:rPr>
              <a:t>都代表某个二目类型构造算子的内部结点，尝试合并它们的等价类，并递归检查它们的各个子结点是否等价</a:t>
            </a:r>
            <a:endParaRPr lang="en-US" altLang="zh-CN" sz="2000" b="1" dirty="0">
              <a:ea typeface="宋体" panose="02010600030101010101" pitchFamily="2" charset="-122"/>
            </a:endParaRPr>
          </a:p>
          <a:p>
            <a:pPr lvl="2">
              <a:lnSpc>
                <a:spcPct val="90000"/>
              </a:lnSpc>
            </a:pPr>
            <a:r>
              <a:rPr lang="zh-CN" altLang="en-US" sz="1800" b="1" dirty="0">
                <a:ea typeface="宋体" panose="02010600030101010101" pitchFamily="2" charset="-122"/>
              </a:rPr>
              <a:t>因为先进行合并操作，在递归检查子结点前减少了等价类的个数，因此算法终止</a:t>
            </a:r>
            <a:endParaRPr lang="en-US" altLang="zh-CN" sz="1800" b="1" dirty="0">
              <a:ea typeface="宋体" panose="02010600030101010101" pitchFamily="2" charset="-122"/>
            </a:endParaRPr>
          </a:p>
          <a:p>
            <a:pPr lvl="1">
              <a:lnSpc>
                <a:spcPct val="90000"/>
              </a:lnSpc>
            </a:pPr>
            <a:r>
              <a:rPr lang="zh-CN" altLang="en-US" sz="2000" b="1" dirty="0">
                <a:ea typeface="宋体" panose="02010600030101010101" pitchFamily="2" charset="-122"/>
              </a:rPr>
              <a:t>将一个变量置换为一个表达式的实现方法如下：</a:t>
            </a:r>
            <a:endParaRPr lang="en-US" altLang="zh-CN" sz="2000" b="1" dirty="0">
              <a:ea typeface="宋体" panose="02010600030101010101" pitchFamily="2" charset="-122"/>
            </a:endParaRPr>
          </a:p>
          <a:p>
            <a:pPr lvl="2">
              <a:lnSpc>
                <a:spcPct val="90000"/>
              </a:lnSpc>
            </a:pPr>
            <a:r>
              <a:rPr lang="zh-CN" altLang="en-US" sz="1800" b="1" dirty="0">
                <a:ea typeface="宋体" panose="02010600030101010101" pitchFamily="2" charset="-122"/>
              </a:rPr>
              <a:t>把代表该变量的叶子结点加入到代表该表达式的结点所在的等价类中</a:t>
            </a:r>
            <a:endParaRPr lang="en-US" altLang="zh-CN" sz="1800" b="1" dirty="0">
              <a:ea typeface="宋体" panose="02010600030101010101" pitchFamily="2" charset="-122"/>
            </a:endParaRPr>
          </a:p>
          <a:p>
            <a:pPr lvl="3">
              <a:lnSpc>
                <a:spcPct val="90000"/>
              </a:lnSpc>
            </a:pPr>
            <a:r>
              <a:rPr lang="zh-CN" altLang="en-US" sz="1600" b="1" dirty="0">
                <a:ea typeface="宋体" panose="02010600030101010101" pitchFamily="2" charset="-122"/>
              </a:rPr>
              <a:t>假设</a:t>
            </a:r>
            <a:r>
              <a:rPr lang="en-US" altLang="zh-CN" sz="1600" b="1" dirty="0">
                <a:ea typeface="宋体" panose="02010600030101010101" pitchFamily="2" charset="-122"/>
              </a:rPr>
              <a:t>m</a:t>
            </a:r>
            <a:r>
              <a:rPr lang="zh-CN" altLang="en-US" sz="1600" b="1" dirty="0">
                <a:ea typeface="宋体" panose="02010600030101010101" pitchFamily="2" charset="-122"/>
              </a:rPr>
              <a:t>和</a:t>
            </a:r>
            <a:r>
              <a:rPr lang="en-US" altLang="zh-CN" sz="1600" b="1" dirty="0">
                <a:ea typeface="宋体" panose="02010600030101010101" pitchFamily="2" charset="-122"/>
              </a:rPr>
              <a:t>n</a:t>
            </a:r>
            <a:r>
              <a:rPr lang="zh-CN" altLang="en-US" sz="1600" b="1" dirty="0">
                <a:ea typeface="宋体" panose="02010600030101010101" pitchFamily="2" charset="-122"/>
              </a:rPr>
              <a:t>表示一个变量的叶子结点，同时假设这个结点已经放入满足如下条件的等价类中：等价类中的一个结点代表的表达式或者带有一个类型构造算子，或者是一个基本类型</a:t>
            </a:r>
            <a:endParaRPr lang="en-US" altLang="zh-CN" sz="1600" b="1" dirty="0">
              <a:ea typeface="宋体" panose="02010600030101010101" pitchFamily="2" charset="-122"/>
            </a:endParaRPr>
          </a:p>
          <a:p>
            <a:pPr lvl="3">
              <a:lnSpc>
                <a:spcPct val="90000"/>
              </a:lnSpc>
            </a:pPr>
            <a:r>
              <a:rPr lang="en-US" altLang="zh-CN" sz="1600" b="1" dirty="0">
                <a:ea typeface="宋体" panose="02010600030101010101" pitchFamily="2" charset="-122"/>
              </a:rPr>
              <a:t>find</a:t>
            </a:r>
            <a:r>
              <a:rPr lang="zh-CN" altLang="en-US" sz="1600" b="1" dirty="0">
                <a:ea typeface="宋体" panose="02010600030101010101" pitchFamily="2" charset="-122"/>
              </a:rPr>
              <a:t>会返回一个反映该类型构造算子或基本类型的代表结点，使得一个变量不会和两个不同的表达式合一</a:t>
            </a:r>
            <a:endParaRPr lang="zh-CN" altLang="en-US" sz="1600" b="1" dirty="0">
              <a:ea typeface="宋体" panose="02010600030101010101" pitchFamily="2" charset="-122"/>
            </a:endParaRPr>
          </a:p>
        </p:txBody>
      </p:sp>
    </p:spTree>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类型推导和多态函数（</a:t>
            </a:r>
            <a:r>
              <a:rPr lang="en-US" altLang="zh-CN" dirty="0">
                <a:latin typeface="Times New Roman" panose="02020603050405020304" pitchFamily="18" charset="0"/>
                <a:ea typeface="宋体" panose="02010600030101010101" pitchFamily="2" charset="-122"/>
              </a:rPr>
              <a:t>20</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21187" name="Rectangle 3"/>
          <p:cNvSpPr>
            <a:spLocks noGrp="1"/>
          </p:cNvSpPr>
          <p:nvPr>
            <p:ph idx="1"/>
          </p:nvPr>
        </p:nvSpPr>
        <p:spPr>
          <a:xfrm>
            <a:off x="914400" y="1371600"/>
            <a:ext cx="7543800" cy="4724400"/>
          </a:xfrm>
        </p:spPr>
        <p:txBody>
          <a:bodyPr vert="horz" wrap="square" lIns="92075" tIns="46038" rIns="92075" bIns="46038" anchor="t" anchorCtr="0"/>
          <a:p>
            <a:pPr>
              <a:lnSpc>
                <a:spcPct val="90000"/>
              </a:lnSpc>
            </a:pPr>
            <a:r>
              <a:rPr lang="zh-CN" altLang="en-US" sz="2200" b="1" dirty="0">
                <a:ea typeface="宋体" panose="02010600030101010101" pitchFamily="2" charset="-122"/>
              </a:rPr>
              <a:t>例</a:t>
            </a:r>
            <a:r>
              <a:rPr lang="en-US" altLang="zh-CN" sz="2200" b="1" dirty="0">
                <a:ea typeface="宋体" panose="02010600030101010101" pitchFamily="2" charset="-122"/>
              </a:rPr>
              <a:t>6.20</a:t>
            </a:r>
            <a:r>
              <a:rPr lang="zh-CN" altLang="en-US" sz="2200" b="1" dirty="0">
                <a:ea typeface="宋体" panose="02010600030101010101" pitchFamily="2" charset="-122"/>
              </a:rPr>
              <a:t>：用算法</a:t>
            </a:r>
            <a:r>
              <a:rPr lang="en-US" altLang="zh-CN" sz="2200" b="1" dirty="0">
                <a:ea typeface="宋体" panose="02010600030101010101" pitchFamily="2" charset="-122"/>
              </a:rPr>
              <a:t>6.19</a:t>
            </a:r>
            <a:r>
              <a:rPr lang="zh-CN" altLang="en-US" sz="2200" b="1" dirty="0">
                <a:ea typeface="宋体" panose="02010600030101010101" pitchFamily="2" charset="-122"/>
              </a:rPr>
              <a:t>实现图</a:t>
            </a:r>
            <a:r>
              <a:rPr lang="en-US" altLang="zh-CN" sz="2200" b="1" dirty="0">
                <a:ea typeface="宋体" panose="02010600030101010101" pitchFamily="2" charset="-122"/>
              </a:rPr>
              <a:t>6-33</a:t>
            </a:r>
            <a:r>
              <a:rPr lang="zh-CN" altLang="en-US" sz="2200" b="1" dirty="0">
                <a:ea typeface="宋体" panose="02010600030101010101" pitchFamily="2" charset="-122"/>
              </a:rPr>
              <a:t>的两个初始图的合一</a:t>
            </a:r>
            <a:endParaRPr lang="zh-CN" altLang="en-US" sz="2200" b="1" dirty="0">
              <a:ea typeface="宋体" panose="02010600030101010101" pitchFamily="2" charset="-122"/>
            </a:endParaRPr>
          </a:p>
          <a:p>
            <a:pPr lvl="1">
              <a:lnSpc>
                <a:spcPct val="90000"/>
              </a:lnSpc>
            </a:pPr>
            <a:r>
              <a:rPr lang="en-US" altLang="zh-CN" sz="2000" b="1" dirty="0">
                <a:ea typeface="宋体" panose="02010600030101010101" pitchFamily="2" charset="-122"/>
              </a:rPr>
              <a:t>unify( 1 , 9 )</a:t>
            </a:r>
            <a:r>
              <a:rPr lang="zh-CN" altLang="en-US" sz="2000" b="1" dirty="0">
                <a:ea typeface="宋体" panose="02010600030101010101" pitchFamily="2" charset="-122"/>
              </a:rPr>
              <a:t>开始进行合一，</a:t>
            </a:r>
            <a:r>
              <a:rPr lang="en-US" altLang="zh-CN" sz="2000" b="1" dirty="0">
                <a:ea typeface="宋体" panose="02010600030101010101" pitchFamily="2" charset="-122"/>
              </a:rPr>
              <a:t>1</a:t>
            </a:r>
            <a:r>
              <a:rPr lang="zh-CN" altLang="en-US" sz="2000" b="1" dirty="0">
                <a:ea typeface="宋体" panose="02010600030101010101" pitchFamily="2" charset="-122"/>
              </a:rPr>
              <a:t>和</a:t>
            </a:r>
            <a:r>
              <a:rPr lang="en-US" altLang="zh-CN" sz="2000" b="1" dirty="0">
                <a:ea typeface="宋体" panose="02010600030101010101" pitchFamily="2" charset="-122"/>
              </a:rPr>
              <a:t>9</a:t>
            </a:r>
            <a:r>
              <a:rPr lang="zh-CN" altLang="en-US" sz="2000" b="1" dirty="0">
                <a:ea typeface="宋体" panose="02010600030101010101" pitchFamily="2" charset="-122"/>
              </a:rPr>
              <a:t>两个结点表示同样的类型构造算子，将其合并为一个等价类，并递归处理，可以得到图</a:t>
            </a:r>
            <a:r>
              <a:rPr lang="en-US" altLang="zh-CN" sz="2000" b="1" dirty="0">
                <a:ea typeface="宋体" panose="02010600030101010101" pitchFamily="2" charset="-122"/>
              </a:rPr>
              <a:t>6-31</a:t>
            </a:r>
            <a:r>
              <a:rPr lang="zh-CN" altLang="en-US" sz="2000" b="1" dirty="0">
                <a:ea typeface="宋体" panose="02010600030101010101" pitchFamily="2" charset="-122"/>
              </a:rPr>
              <a:t>所示的图</a:t>
            </a:r>
            <a:endParaRPr lang="en-US" altLang="zh-CN" sz="2000" b="1" dirty="0">
              <a:ea typeface="宋体" panose="02010600030101010101" pitchFamily="2" charset="-122"/>
            </a:endParaRPr>
          </a:p>
        </p:txBody>
      </p:sp>
      <p:pic>
        <p:nvPicPr>
          <p:cNvPr id="221188" name="Picture 2"/>
          <p:cNvPicPr>
            <a:picLocks noChangeAspect="1"/>
          </p:cNvPicPr>
          <p:nvPr/>
        </p:nvPicPr>
        <p:blipFill>
          <a:blip r:embed="rId1"/>
          <a:stretch>
            <a:fillRect/>
          </a:stretch>
        </p:blipFill>
        <p:spPr>
          <a:xfrm>
            <a:off x="107950" y="2722563"/>
            <a:ext cx="8969375" cy="3443287"/>
          </a:xfrm>
          <a:prstGeom prst="rect">
            <a:avLst/>
          </a:prstGeom>
          <a:noFill/>
          <a:ln w="9525">
            <a:noFill/>
          </a:ln>
        </p:spPr>
      </p:pic>
    </p:spTree>
  </p:cSld>
  <p:clrMapOvr>
    <a:masterClrMapping/>
  </p:clrMapOvr>
  <p:transition spd="slow"/>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323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第六章	中间代码生成 </a:t>
            </a:r>
            <a:endParaRPr lang="en-US" altLang="zh-CN" dirty="0">
              <a:latin typeface="Times New Roman" panose="02020603050405020304" pitchFamily="18" charset="0"/>
              <a:ea typeface="宋体" panose="02010600030101010101" pitchFamily="2" charset="-122"/>
            </a:endParaRPr>
          </a:p>
        </p:txBody>
      </p:sp>
      <p:sp>
        <p:nvSpPr>
          <p:cNvPr id="6147" name="Rectangle 3"/>
          <p:cNvSpPr>
            <a:spLocks noGrp="1" noChangeArrowheads="1"/>
          </p:cNvSpPr>
          <p:nvPr>
            <p:ph idx="1"/>
          </p:nvPr>
        </p:nvSpPr>
        <p:spPr>
          <a:xfrm>
            <a:off x="990600" y="1371600"/>
            <a:ext cx="7391400" cy="44196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rPr>
              <a:t>语法树的变体</a:t>
            </a:r>
            <a:endParaRPr kumimoji="0" lang="en-US" altLang="zh-CN"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rPr>
              <a:t>三地址代码</a:t>
            </a:r>
            <a:endParaRPr kumimoji="0" lang="en-US" altLang="zh-CN"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rPr>
              <a:t>类型和声明</a:t>
            </a:r>
            <a:endParaRPr kumimoji="0" lang="en-US" altLang="zh-CN"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rPr>
              <a:t>表达式的翻译</a:t>
            </a:r>
            <a:endParaRPr kumimoji="0" lang="en-US" altLang="zh-CN"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rPr>
              <a:t>类型检查</a:t>
            </a:r>
            <a:endParaRPr kumimoji="0" lang="en-US" altLang="zh-CN" sz="3000" b="1" i="0" u="none" strike="noStrike" kern="0" cap="none" spc="0" normalizeH="0" baseline="0" noProof="0" dirty="0">
              <a:ln>
                <a:noFill/>
              </a:ln>
              <a:solidFill>
                <a:schemeClr val="bg2">
                  <a:lumMod val="20000"/>
                  <a:lumOff val="80000"/>
                </a:schemeClr>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控制流、回填、</a:t>
            </a:r>
            <a:r>
              <a:rPr kumimoji="0" lang="en-US" altLang="zh-CN" sz="3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switch</a:t>
            </a:r>
            <a:r>
              <a:rPr kumimoji="0" lang="zh-CN" altLang="en-US" sz="3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语句</a:t>
            </a:r>
            <a:endParaRPr kumimoji="0" lang="en-US" altLang="zh-CN" sz="3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3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过程的中间代码</a:t>
            </a:r>
            <a:endParaRPr kumimoji="0" lang="zh-CN" altLang="en-US" sz="3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8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布尔表达式（1）</a:t>
            </a:r>
            <a:endParaRPr lang="zh-CN" altLang="en-US" dirty="0">
              <a:latin typeface="Times New Roman" panose="02020603050405020304" pitchFamily="18" charset="0"/>
              <a:ea typeface="宋体" panose="02010600030101010101" pitchFamily="2" charset="-122"/>
            </a:endParaRPr>
          </a:p>
        </p:txBody>
      </p:sp>
      <p:sp>
        <p:nvSpPr>
          <p:cNvPr id="225283"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布尔表达式的作用：</a:t>
            </a:r>
            <a:endParaRPr lang="zh-CN" altLang="en-US" sz="2400" b="1" dirty="0">
              <a:ea typeface="宋体" panose="02010600030101010101" pitchFamily="2" charset="-122"/>
            </a:endParaRPr>
          </a:p>
          <a:p>
            <a:pPr lvl="1"/>
            <a:r>
              <a:rPr lang="zh-CN" altLang="en-US" sz="2200" b="1" dirty="0">
                <a:ea typeface="宋体" panose="02010600030101010101" pitchFamily="2" charset="-122"/>
              </a:rPr>
              <a:t>计算逻辑值</a:t>
            </a:r>
            <a:endParaRPr lang="zh-CN" altLang="en-US" sz="2200" b="1" dirty="0">
              <a:ea typeface="宋体" panose="02010600030101010101" pitchFamily="2" charset="-122"/>
            </a:endParaRPr>
          </a:p>
          <a:p>
            <a:pPr lvl="1"/>
            <a:r>
              <a:rPr lang="zh-CN" altLang="en-US" sz="2200" b="1" dirty="0">
                <a:ea typeface="宋体" panose="02010600030101010101" pitchFamily="2" charset="-122"/>
              </a:rPr>
              <a:t>在改变控制流的语句中作为条件表达式</a:t>
            </a:r>
            <a:endParaRPr lang="zh-CN" altLang="en-US" sz="2200" b="1" dirty="0">
              <a:ea typeface="宋体" panose="02010600030101010101" pitchFamily="2" charset="-122"/>
            </a:endParaRPr>
          </a:p>
          <a:p>
            <a:pPr lvl="2"/>
            <a:r>
              <a:rPr lang="zh-CN" altLang="en-US" sz="2000" b="1" dirty="0">
                <a:ea typeface="宋体" panose="02010600030101010101" pitchFamily="2" charset="-122"/>
              </a:rPr>
              <a:t>条件语句：</a:t>
            </a:r>
            <a:r>
              <a:rPr lang="en-US" altLang="zh-CN" sz="2000" b="1" dirty="0">
                <a:ea typeface="宋体" panose="02010600030101010101" pitchFamily="2" charset="-122"/>
              </a:rPr>
              <a:t>if – then</a:t>
            </a:r>
            <a:r>
              <a:rPr lang="zh-CN" altLang="en-US" sz="2000" b="1" dirty="0">
                <a:ea typeface="宋体" panose="02010600030101010101" pitchFamily="2" charset="-122"/>
              </a:rPr>
              <a:t>或</a:t>
            </a:r>
            <a:r>
              <a:rPr lang="en-US" altLang="zh-CN" sz="2000" b="1" dirty="0">
                <a:ea typeface="宋体" panose="02010600030101010101" pitchFamily="2" charset="-122"/>
              </a:rPr>
              <a:t>if – then – else</a:t>
            </a:r>
            <a:endParaRPr lang="en-US" altLang="zh-CN" sz="2000" b="1" dirty="0">
              <a:ea typeface="宋体" panose="02010600030101010101" pitchFamily="2" charset="-122"/>
            </a:endParaRPr>
          </a:p>
          <a:p>
            <a:pPr lvl="2"/>
            <a:r>
              <a:rPr lang="zh-CN" altLang="en-US" sz="2000" b="1" dirty="0">
                <a:ea typeface="宋体" panose="02010600030101010101" pitchFamily="2" charset="-122"/>
              </a:rPr>
              <a:t>循环：</a:t>
            </a:r>
            <a:r>
              <a:rPr lang="en-US" altLang="zh-CN" sz="2000" b="1" dirty="0">
                <a:ea typeface="宋体" panose="02010600030101010101" pitchFamily="2" charset="-122"/>
              </a:rPr>
              <a:t>while – do，for</a:t>
            </a:r>
            <a:r>
              <a:rPr lang="zh-CN" altLang="en-US" sz="2000" b="1" dirty="0">
                <a:ea typeface="宋体" panose="02010600030101010101" pitchFamily="2" charset="-122"/>
              </a:rPr>
              <a:t>等</a:t>
            </a:r>
            <a:endParaRPr lang="zh-CN" altLang="en-US" sz="2000" b="1" dirty="0">
              <a:ea typeface="宋体" panose="02010600030101010101" pitchFamily="2" charset="-122"/>
            </a:endParaRPr>
          </a:p>
          <a:p>
            <a:r>
              <a:rPr lang="zh-CN" altLang="en-US" sz="2400" b="1" dirty="0">
                <a:ea typeface="宋体" panose="02010600030101010101" pitchFamily="2" charset="-122"/>
              </a:rPr>
              <a:t>布尔表达式的文法</a:t>
            </a:r>
            <a:endParaRPr lang="zh-CN" altLang="en-US" sz="2400" b="1" dirty="0">
              <a:ea typeface="宋体" panose="02010600030101010101" pitchFamily="2" charset="-122"/>
            </a:endParaRPr>
          </a:p>
          <a:p>
            <a:pPr>
              <a:buNone/>
            </a:pPr>
            <a:r>
              <a:rPr lang="zh-CN" altLang="en-US" sz="2400" b="1" dirty="0">
                <a:ea typeface="宋体" panose="02010600030101010101" pitchFamily="2" charset="-122"/>
              </a:rPr>
              <a:t>	</a:t>
            </a:r>
            <a:r>
              <a:rPr lang="en-US" altLang="zh-CN" sz="2000" b="1" dirty="0">
                <a:ea typeface="宋体" panose="02010600030101010101" pitchFamily="2" charset="-122"/>
              </a:rPr>
              <a:t>B→ B || B  |  B &amp;&amp; B  |  ! B  |  ( B )  |  E rel E  | true | false</a:t>
            </a:r>
            <a:endParaRPr lang="en-US" altLang="zh-CN" sz="2000" b="1" dirty="0">
              <a:ea typeface="宋体" panose="02010600030101010101" pitchFamily="2" charset="-122"/>
            </a:endParaRPr>
          </a:p>
          <a:p>
            <a:pPr lvl="1"/>
            <a:r>
              <a:rPr lang="zh-CN" altLang="en-US" sz="2200" b="1" dirty="0">
                <a:ea typeface="宋体" panose="02010600030101010101" pitchFamily="2" charset="-122"/>
              </a:rPr>
              <a:t>算符的结合性和优先性</a:t>
            </a:r>
            <a:endParaRPr lang="zh-CN" altLang="en-US" sz="2200" b="1" dirty="0">
              <a:ea typeface="宋体" panose="02010600030101010101" pitchFamily="2" charset="-122"/>
            </a:endParaRPr>
          </a:p>
          <a:p>
            <a:pPr lvl="2"/>
            <a:r>
              <a:rPr lang="en-US" altLang="zh-CN" sz="2000" b="1" dirty="0">
                <a:ea typeface="宋体" panose="02010600030101010101" pitchFamily="2" charset="-122"/>
              </a:rPr>
              <a:t>||</a:t>
            </a:r>
            <a:r>
              <a:rPr lang="zh-CN" altLang="en-US" sz="2000" b="1" dirty="0">
                <a:ea typeface="宋体" panose="02010600030101010101" pitchFamily="2" charset="-122"/>
              </a:rPr>
              <a:t>和</a:t>
            </a:r>
            <a:r>
              <a:rPr lang="en-US" altLang="zh-CN" sz="2000" b="1" dirty="0">
                <a:ea typeface="宋体" panose="02010600030101010101" pitchFamily="2" charset="-122"/>
              </a:rPr>
              <a:t>&amp;&amp;</a:t>
            </a:r>
            <a:r>
              <a:rPr lang="zh-CN" altLang="en-US" sz="2000" b="1" dirty="0">
                <a:ea typeface="宋体" panose="02010600030101010101" pitchFamily="2" charset="-122"/>
              </a:rPr>
              <a:t>都是左结合的</a:t>
            </a:r>
            <a:endParaRPr lang="zh-CN" altLang="en-US" sz="2000" b="1" dirty="0">
              <a:ea typeface="宋体" panose="02010600030101010101" pitchFamily="2" charset="-122"/>
            </a:endParaRPr>
          </a:p>
          <a:p>
            <a:pPr lvl="2"/>
            <a:r>
              <a:rPr lang="en-US" altLang="zh-CN" sz="2000" b="1" dirty="0">
                <a:ea typeface="宋体" panose="02010600030101010101" pitchFamily="2" charset="-122"/>
              </a:rPr>
              <a:t>||</a:t>
            </a:r>
            <a:r>
              <a:rPr lang="zh-CN" altLang="en-US" sz="2000" b="1" dirty="0">
                <a:ea typeface="宋体" panose="02010600030101010101" pitchFamily="2" charset="-122"/>
              </a:rPr>
              <a:t>的优先级最低，其次是</a:t>
            </a:r>
            <a:r>
              <a:rPr lang="en-US" altLang="zh-CN" sz="2000" b="1" dirty="0">
                <a:ea typeface="宋体" panose="02010600030101010101" pitchFamily="2" charset="-122"/>
              </a:rPr>
              <a:t>&amp;&amp;，!</a:t>
            </a:r>
            <a:r>
              <a:rPr lang="zh-CN" altLang="en-US" sz="2000" b="1" dirty="0">
                <a:ea typeface="宋体" panose="02010600030101010101" pitchFamily="2" charset="-122"/>
              </a:rPr>
              <a:t>的优先级最高</a:t>
            </a:r>
            <a:endParaRPr lang="en-US" altLang="zh-CN" sz="2000" b="1" dirty="0">
              <a:ea typeface="宋体" panose="02010600030101010101" pitchFamily="2" charset="-122"/>
            </a:endParaRPr>
          </a:p>
          <a:p>
            <a:pPr lvl="1"/>
            <a:r>
              <a:rPr lang="en-US" altLang="zh-CN" sz="2200" b="1" dirty="0">
                <a:ea typeface="宋体" panose="02010600030101010101" pitchFamily="2" charset="-122"/>
              </a:rPr>
              <a:t>rel</a:t>
            </a:r>
            <a:r>
              <a:rPr lang="zh-CN" altLang="en-US" sz="2200" b="1" dirty="0">
                <a:ea typeface="宋体" panose="02010600030101010101" pitchFamily="2" charset="-122"/>
              </a:rPr>
              <a:t>算法包括</a:t>
            </a:r>
            <a:r>
              <a:rPr lang="en-US" altLang="zh-CN" sz="2200" b="1" dirty="0">
                <a:ea typeface="宋体" panose="02010600030101010101" pitchFamily="2" charset="-122"/>
              </a:rPr>
              <a:t>&lt;</a:t>
            </a:r>
            <a:r>
              <a:rPr lang="zh-CN" altLang="en-US" sz="2200" b="1" dirty="0">
                <a:ea typeface="宋体" panose="02010600030101010101" pitchFamily="2" charset="-122"/>
              </a:rPr>
              <a:t>、</a:t>
            </a:r>
            <a:r>
              <a:rPr lang="en-US" altLang="zh-CN" sz="2200" b="1" dirty="0">
                <a:ea typeface="宋体" panose="02010600030101010101" pitchFamily="2" charset="-122"/>
              </a:rPr>
              <a:t>&lt;=</a:t>
            </a:r>
            <a:r>
              <a:rPr lang="zh-CN" altLang="en-US" sz="2200" b="1" dirty="0">
                <a:ea typeface="宋体" panose="02010600030101010101" pitchFamily="2" charset="-122"/>
              </a:rPr>
              <a:t>、</a:t>
            </a:r>
            <a:r>
              <a:rPr lang="en-US" altLang="zh-CN" sz="2200" b="1" dirty="0">
                <a:ea typeface="宋体" panose="02010600030101010101" pitchFamily="2" charset="-122"/>
              </a:rPr>
              <a:t>=</a:t>
            </a:r>
            <a:r>
              <a:rPr lang="zh-CN" altLang="en-US" sz="2200" b="1" dirty="0">
                <a:ea typeface="宋体" panose="02010600030101010101" pitchFamily="2" charset="-122"/>
              </a:rPr>
              <a:t>、</a:t>
            </a:r>
            <a:r>
              <a:rPr lang="en-US" altLang="zh-CN" sz="2200" b="1" dirty="0">
                <a:ea typeface="宋体" panose="02010600030101010101" pitchFamily="2" charset="-122"/>
              </a:rPr>
              <a:t>!=</a:t>
            </a:r>
            <a:r>
              <a:rPr lang="zh-CN" altLang="en-US" sz="2200" b="1" dirty="0">
                <a:ea typeface="宋体" panose="02010600030101010101" pitchFamily="2" charset="-122"/>
              </a:rPr>
              <a:t>、</a:t>
            </a:r>
            <a:r>
              <a:rPr lang="en-US" altLang="zh-CN" sz="2200" b="1" dirty="0">
                <a:ea typeface="宋体" panose="02010600030101010101" pitchFamily="2" charset="-122"/>
              </a:rPr>
              <a:t>&gt;</a:t>
            </a:r>
            <a:r>
              <a:rPr lang="zh-CN" altLang="en-US" sz="2200" b="1" dirty="0">
                <a:ea typeface="宋体" panose="02010600030101010101" pitchFamily="2" charset="-122"/>
              </a:rPr>
              <a:t>和</a:t>
            </a:r>
            <a:r>
              <a:rPr lang="en-US" altLang="zh-CN" sz="2200" b="1" dirty="0">
                <a:ea typeface="宋体" panose="02010600030101010101" pitchFamily="2" charset="-122"/>
              </a:rPr>
              <a:t>&gt;=</a:t>
            </a:r>
            <a:endParaRPr lang="en-US" altLang="zh-CN" sz="2200" b="1" dirty="0">
              <a:ea typeface="宋体" panose="02010600030101010101" pitchFamily="2" charset="-122"/>
            </a:endParaRPr>
          </a:p>
        </p:txBody>
      </p:sp>
    </p:spTree>
  </p:cSld>
  <p:clrMapOvr>
    <a:masterClrMapping/>
  </p:clrMapOvr>
  <p:transition spd="slow"/>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733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布尔表达式（2）</a:t>
            </a:r>
            <a:endParaRPr lang="zh-CN" altLang="en-US" dirty="0">
              <a:latin typeface="Times New Roman" panose="02020603050405020304" pitchFamily="18" charset="0"/>
              <a:ea typeface="宋体" panose="02010600030101010101" pitchFamily="2" charset="-122"/>
            </a:endParaRPr>
          </a:p>
        </p:txBody>
      </p:sp>
      <p:sp>
        <p:nvSpPr>
          <p:cNvPr id="227331" name="Rectangle 3"/>
          <p:cNvSpPr>
            <a:spLocks noGrp="1"/>
          </p:cNvSpPr>
          <p:nvPr>
            <p:ph idx="1"/>
          </p:nvPr>
        </p:nvSpPr>
        <p:spPr>
          <a:xfrm>
            <a:off x="990600" y="1524000"/>
            <a:ext cx="7391400" cy="5029200"/>
          </a:xfrm>
        </p:spPr>
        <p:txBody>
          <a:bodyPr vert="horz" wrap="square" lIns="92075" tIns="46038" rIns="92075" bIns="46038" anchor="t" anchorCtr="0"/>
          <a:p>
            <a:pPr>
              <a:lnSpc>
                <a:spcPct val="90000"/>
              </a:lnSpc>
            </a:pPr>
            <a:r>
              <a:rPr lang="zh-CN" altLang="en-US" sz="2400" b="1" dirty="0">
                <a:ea typeface="宋体" panose="02010600030101010101" pitchFamily="2" charset="-122"/>
              </a:rPr>
              <a:t>翻译布尔表达式的方法</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表示布尔表达式的值的方法</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真假值数值化：</a:t>
            </a:r>
            <a:endParaRPr lang="zh-CN" altLang="en-US" sz="2000" b="1" dirty="0">
              <a:ea typeface="宋体" panose="02010600030101010101" pitchFamily="2" charset="-122"/>
            </a:endParaRPr>
          </a:p>
          <a:p>
            <a:pPr lvl="3">
              <a:lnSpc>
                <a:spcPct val="90000"/>
              </a:lnSpc>
            </a:pPr>
            <a:r>
              <a:rPr lang="zh-CN" altLang="en-US" sz="1800" b="1" dirty="0">
                <a:ea typeface="宋体" panose="02010600030101010101" pitchFamily="2" charset="-122"/>
              </a:rPr>
              <a:t>使布尔表达式的计算类似于算术表达式的计算</a:t>
            </a:r>
            <a:endParaRPr lang="zh-CN" altLang="en-US" sz="1800" b="1" dirty="0">
              <a:ea typeface="宋体" panose="02010600030101010101" pitchFamily="2" charset="-122"/>
            </a:endParaRPr>
          </a:p>
          <a:p>
            <a:pPr lvl="3">
              <a:lnSpc>
                <a:spcPct val="90000"/>
              </a:lnSpc>
            </a:pPr>
            <a:r>
              <a:rPr lang="zh-CN" altLang="en-US" sz="1800" b="1" dirty="0">
                <a:ea typeface="宋体" panose="02010600030101010101" pitchFamily="2" charset="-122"/>
              </a:rPr>
              <a:t>通常用1表示真，0表示假</a:t>
            </a:r>
            <a:endParaRPr lang="zh-CN" altLang="en-US" sz="1800" b="1" dirty="0">
              <a:ea typeface="宋体" panose="02010600030101010101" pitchFamily="2" charset="-122"/>
            </a:endParaRPr>
          </a:p>
          <a:p>
            <a:pPr lvl="2">
              <a:lnSpc>
                <a:spcPct val="90000"/>
              </a:lnSpc>
            </a:pPr>
            <a:r>
              <a:rPr lang="zh-CN" altLang="en-US" sz="2000" b="1" dirty="0">
                <a:ea typeface="宋体" panose="02010600030101010101" pitchFamily="2" charset="-122"/>
              </a:rPr>
              <a:t>用控制流：即用程序中的位置表示布尔表达式的值</a:t>
            </a:r>
            <a:endParaRPr lang="zh-CN" altLang="en-US" sz="2000" b="1" dirty="0">
              <a:ea typeface="宋体" panose="02010600030101010101" pitchFamily="2" charset="-122"/>
            </a:endParaRPr>
          </a:p>
          <a:p>
            <a:pPr lvl="3">
              <a:lnSpc>
                <a:spcPct val="90000"/>
              </a:lnSpc>
            </a:pPr>
            <a:r>
              <a:rPr lang="zh-CN" altLang="en-US" sz="1800" b="1" dirty="0">
                <a:ea typeface="宋体" panose="02010600030101010101" pitchFamily="2" charset="-122"/>
              </a:rPr>
              <a:t>如果有</a:t>
            </a:r>
            <a:r>
              <a:rPr lang="en-US" altLang="zh-CN" sz="1800" b="1" dirty="0">
                <a:ea typeface="宋体" panose="02010600030101010101" pitchFamily="2" charset="-122"/>
              </a:rPr>
              <a:t>E</a:t>
            </a:r>
            <a:r>
              <a:rPr lang="en-US" altLang="zh-CN" sz="1800" b="1" baseline="-25000" dirty="0">
                <a:ea typeface="宋体" panose="02010600030101010101" pitchFamily="2" charset="-122"/>
              </a:rPr>
              <a:t>1</a:t>
            </a:r>
            <a:r>
              <a:rPr lang="en-US" altLang="zh-CN" sz="1800" b="1" dirty="0">
                <a:ea typeface="宋体" panose="02010600030101010101" pitchFamily="2" charset="-122"/>
              </a:rPr>
              <a:t> || E</a:t>
            </a:r>
            <a:r>
              <a:rPr lang="en-US" altLang="zh-CN" sz="1800" b="1" baseline="-25000" dirty="0">
                <a:ea typeface="宋体" panose="02010600030101010101" pitchFamily="2" charset="-122"/>
              </a:rPr>
              <a:t>2</a:t>
            </a:r>
            <a:r>
              <a:rPr lang="en-US" altLang="zh-CN" sz="1800" b="1" dirty="0">
                <a:ea typeface="宋体" panose="02010600030101010101" pitchFamily="2" charset="-122"/>
              </a:rPr>
              <a:t>，</a:t>
            </a:r>
            <a:r>
              <a:rPr lang="zh-CN" altLang="en-US" sz="1800" b="1" dirty="0">
                <a:ea typeface="宋体" panose="02010600030101010101" pitchFamily="2" charset="-122"/>
              </a:rPr>
              <a:t>当</a:t>
            </a:r>
            <a:r>
              <a:rPr lang="en-US" altLang="zh-CN" sz="1800" b="1" dirty="0">
                <a:ea typeface="宋体" panose="02010600030101010101" pitchFamily="2" charset="-122"/>
              </a:rPr>
              <a:t>E</a:t>
            </a:r>
            <a:r>
              <a:rPr lang="en-US" altLang="zh-CN" sz="1800" b="1" baseline="-25000" dirty="0">
                <a:ea typeface="宋体" panose="02010600030101010101" pitchFamily="2" charset="-122"/>
              </a:rPr>
              <a:t>1</a:t>
            </a:r>
            <a:r>
              <a:rPr lang="zh-CN" altLang="en-US" sz="1800" b="1" dirty="0">
                <a:ea typeface="宋体" panose="02010600030101010101" pitchFamily="2" charset="-122"/>
              </a:rPr>
              <a:t>的值可以确定为真时，则可以确定整个表达式的值是真，不必计算</a:t>
            </a:r>
            <a:r>
              <a:rPr lang="en-US" altLang="zh-CN" sz="1800" b="1" dirty="0">
                <a:ea typeface="宋体" panose="02010600030101010101" pitchFamily="2" charset="-122"/>
              </a:rPr>
              <a:t>E</a:t>
            </a:r>
            <a:r>
              <a:rPr lang="en-US" altLang="zh-CN" sz="1800" b="1" baseline="-25000" dirty="0">
                <a:ea typeface="宋体" panose="02010600030101010101" pitchFamily="2" charset="-122"/>
              </a:rPr>
              <a:t>2</a:t>
            </a:r>
            <a:endParaRPr lang="zh-CN" altLang="en-US" b="1" dirty="0">
              <a:ea typeface="宋体" panose="02010600030101010101" pitchFamily="2" charset="-122"/>
            </a:endParaRPr>
          </a:p>
          <a:p>
            <a:pPr lvl="3">
              <a:lnSpc>
                <a:spcPct val="90000"/>
              </a:lnSpc>
            </a:pPr>
            <a:r>
              <a:rPr lang="zh-CN" altLang="en-US" sz="1800" b="1" dirty="0">
                <a:ea typeface="宋体" panose="02010600030101010101" pitchFamily="2" charset="-122"/>
              </a:rPr>
              <a:t>简化了布尔表达式的计算</a:t>
            </a:r>
            <a:endParaRPr lang="zh-CN" altLang="en-US" sz="1800" b="1" dirty="0">
              <a:ea typeface="宋体" panose="02010600030101010101" pitchFamily="2" charset="-122"/>
            </a:endParaRPr>
          </a:p>
          <a:p>
            <a:pPr lvl="1">
              <a:lnSpc>
                <a:spcPct val="90000"/>
              </a:lnSpc>
            </a:pPr>
            <a:r>
              <a:rPr lang="zh-CN" altLang="en-US" sz="2200" b="1" dirty="0">
                <a:ea typeface="宋体" panose="02010600030101010101" pitchFamily="2" charset="-122"/>
              </a:rPr>
              <a:t>程序设计语言的语义决定了是否布尔表达式的所有部分都必须计算</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考虑表达式</a:t>
            </a:r>
            <a:r>
              <a:rPr lang="en-US" altLang="zh-CN" sz="2000" b="1" dirty="0">
                <a:ea typeface="宋体" panose="02010600030101010101" pitchFamily="2" charset="-122"/>
              </a:rPr>
              <a:t>B1 || B2，</a:t>
            </a:r>
            <a:r>
              <a:rPr lang="zh-CN" altLang="en-US" sz="2000" b="1" dirty="0">
                <a:ea typeface="宋体" panose="02010600030101010101" pitchFamily="2" charset="-122"/>
              </a:rPr>
              <a:t>如果完全计算</a:t>
            </a:r>
            <a:r>
              <a:rPr lang="en-US" altLang="zh-CN" sz="2000" b="1" dirty="0">
                <a:ea typeface="宋体" panose="02010600030101010101" pitchFamily="2" charset="-122"/>
              </a:rPr>
              <a:t>B2，</a:t>
            </a:r>
            <a:r>
              <a:rPr lang="zh-CN" altLang="en-US" sz="2000" b="1" dirty="0">
                <a:ea typeface="宋体" panose="02010600030101010101" pitchFamily="2" charset="-122"/>
              </a:rPr>
              <a:t>可能导致程序异常</a:t>
            </a:r>
            <a:endParaRPr lang="zh-CN" altLang="en-US" sz="2000" b="1" dirty="0">
              <a:ea typeface="宋体" panose="02010600030101010101" pitchFamily="2" charset="-122"/>
            </a:endParaRPr>
          </a:p>
          <a:p>
            <a:pPr lvl="3">
              <a:lnSpc>
                <a:spcPct val="90000"/>
              </a:lnSpc>
            </a:pPr>
            <a:r>
              <a:rPr lang="zh-CN" altLang="en-US" sz="1800" b="1" dirty="0">
                <a:ea typeface="宋体" panose="02010600030101010101" pitchFamily="2" charset="-122"/>
              </a:rPr>
              <a:t>如果允许部分表达式不计算，则当计算</a:t>
            </a:r>
            <a:r>
              <a:rPr lang="en-US" altLang="zh-CN" sz="1800" b="1" dirty="0">
                <a:ea typeface="宋体" panose="02010600030101010101" pitchFamily="2" charset="-122"/>
              </a:rPr>
              <a:t>B1</a:t>
            </a:r>
            <a:r>
              <a:rPr lang="zh-CN" altLang="en-US" sz="1800" b="1" dirty="0">
                <a:ea typeface="宋体" panose="02010600030101010101" pitchFamily="2" charset="-122"/>
              </a:rPr>
              <a:t>的值为真时，有可能避免程序的异常</a:t>
            </a:r>
            <a:endParaRPr lang="zh-CN" altLang="en-US" sz="1800" b="1" dirty="0">
              <a:ea typeface="宋体" panose="02010600030101010101" pitchFamily="2" charset="-122"/>
            </a:endParaRPr>
          </a:p>
        </p:txBody>
      </p:sp>
    </p:spTree>
  </p:cSld>
  <p:clrMapOvr>
    <a:masterClrMapping/>
  </p:clrMapOvr>
  <p:transition spd="slow"/>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937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布尔表达式（3）</a:t>
            </a:r>
            <a:endParaRPr lang="zh-CN" altLang="en-US" dirty="0">
              <a:latin typeface="Times New Roman" panose="02020603050405020304" pitchFamily="18" charset="0"/>
              <a:ea typeface="宋体" panose="02010600030101010101" pitchFamily="2" charset="-122"/>
            </a:endParaRPr>
          </a:p>
        </p:txBody>
      </p:sp>
      <p:sp>
        <p:nvSpPr>
          <p:cNvPr id="229379"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数值表示法</a:t>
            </a:r>
            <a:endParaRPr lang="zh-CN" altLang="en-US" sz="2400" b="1" dirty="0">
              <a:ea typeface="宋体" panose="02010600030101010101" pitchFamily="2" charset="-122"/>
            </a:endParaRPr>
          </a:p>
          <a:p>
            <a:pPr lvl="1"/>
            <a:r>
              <a:rPr lang="zh-CN" altLang="en-US" sz="2200" b="1" dirty="0">
                <a:ea typeface="宋体" panose="02010600030101010101" pitchFamily="2" charset="-122"/>
              </a:rPr>
              <a:t>1表示真，0表示假，表达式从左到右计算</a:t>
            </a:r>
            <a:endParaRPr lang="zh-CN" altLang="en-US" sz="2200" b="1" dirty="0">
              <a:ea typeface="宋体" panose="02010600030101010101" pitchFamily="2" charset="-122"/>
            </a:endParaRPr>
          </a:p>
          <a:p>
            <a:pPr lvl="2">
              <a:buFont typeface="Wingdings" panose="05000000000000000000" pitchFamily="2" charset="2"/>
              <a:buNone/>
            </a:pPr>
            <a:r>
              <a:rPr lang="zh-CN" altLang="en-US" sz="1800" b="1" dirty="0">
                <a:ea typeface="宋体" panose="02010600030101010101" pitchFamily="2" charset="-122"/>
              </a:rPr>
              <a:t>例：</a:t>
            </a:r>
            <a:r>
              <a:rPr lang="en-US" altLang="zh-CN" sz="1800" b="1" dirty="0">
                <a:ea typeface="宋体" panose="02010600030101010101" pitchFamily="2" charset="-122"/>
              </a:rPr>
              <a:t>a || b &amp;&amp; ! c</a:t>
            </a:r>
            <a:r>
              <a:rPr lang="zh-CN" altLang="en-US" sz="1800" b="1" dirty="0">
                <a:ea typeface="宋体" panose="02010600030101010101" pitchFamily="2" charset="-122"/>
              </a:rPr>
              <a:t>的三地址代码</a:t>
            </a:r>
            <a:endParaRPr lang="zh-CN" altLang="en-US"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t1 := ! c</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t2 := b &amp;&amp; t1</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t3 := a || t2</a:t>
            </a:r>
            <a:endParaRPr lang="en-US" altLang="zh-CN" sz="1800" b="1" dirty="0">
              <a:ea typeface="宋体" panose="02010600030101010101" pitchFamily="2" charset="-122"/>
            </a:endParaRPr>
          </a:p>
          <a:p>
            <a:pPr lvl="2">
              <a:buFont typeface="Wingdings" panose="05000000000000000000" pitchFamily="2" charset="2"/>
              <a:buNone/>
            </a:pPr>
            <a:r>
              <a:rPr lang="zh-CN" altLang="en-US" sz="1800" b="1" dirty="0">
                <a:ea typeface="宋体" panose="02010600030101010101" pitchFamily="2" charset="-122"/>
              </a:rPr>
              <a:t>关系表达式</a:t>
            </a:r>
            <a:r>
              <a:rPr lang="en-US" altLang="zh-CN" sz="1800" b="1" dirty="0">
                <a:ea typeface="宋体" panose="02010600030101010101" pitchFamily="2" charset="-122"/>
              </a:rPr>
              <a:t>a&lt;b</a:t>
            </a:r>
            <a:r>
              <a:rPr lang="zh-CN" altLang="en-US" sz="1800" b="1" dirty="0">
                <a:ea typeface="宋体" panose="02010600030101010101" pitchFamily="2" charset="-122"/>
              </a:rPr>
              <a:t>等价于条件语句</a:t>
            </a:r>
            <a:r>
              <a:rPr lang="en-US" altLang="zh-CN" sz="1800" b="1" dirty="0">
                <a:ea typeface="宋体" panose="02010600030101010101" pitchFamily="2" charset="-122"/>
              </a:rPr>
              <a:t>if a&lt;b then 1 else 0，</a:t>
            </a:r>
            <a:r>
              <a:rPr lang="zh-CN" altLang="en-US" sz="1800" b="1" dirty="0">
                <a:ea typeface="宋体" panose="02010600030101010101" pitchFamily="2" charset="-122"/>
              </a:rPr>
              <a:t>对应的三地址代码：</a:t>
            </a:r>
            <a:endParaRPr lang="en-US" altLang="zh-CN" sz="1800" b="1" dirty="0">
              <a:ea typeface="宋体" panose="02010600030101010101" pitchFamily="2" charset="-122"/>
            </a:endParaRPr>
          </a:p>
          <a:p>
            <a:pPr lvl="3">
              <a:buFont typeface="Wingdings" panose="05000000000000000000" pitchFamily="2" charset="2"/>
              <a:buNone/>
            </a:pPr>
            <a:r>
              <a:rPr lang="zh-CN" altLang="en-US" sz="1800" b="1" dirty="0">
                <a:ea typeface="宋体" panose="02010600030101010101" pitchFamily="2" charset="-122"/>
              </a:rPr>
              <a:t>100： </a:t>
            </a:r>
            <a:r>
              <a:rPr lang="en-US" altLang="zh-CN" sz="1800" b="1" dirty="0">
                <a:ea typeface="宋体" panose="02010600030101010101" pitchFamily="2" charset="-122"/>
              </a:rPr>
              <a:t>if a&lt;b goto 103</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101：t := 0</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102：goto 104</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103：t := 1</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104：</a:t>
            </a:r>
            <a:endParaRPr lang="en-US" altLang="zh-CN" sz="1800" b="1" dirty="0">
              <a:ea typeface="宋体" panose="02010600030101010101" pitchFamily="2" charset="-122"/>
            </a:endParaRPr>
          </a:p>
          <a:p>
            <a:pPr lvl="3">
              <a:buFont typeface="Wingdings" panose="05000000000000000000" pitchFamily="2" charset="2"/>
              <a:buNone/>
            </a:pPr>
            <a:endParaRPr lang="en-US" altLang="zh-CN" sz="1800" b="1" dirty="0">
              <a:ea typeface="宋体" panose="02010600030101010101" pitchFamily="2" charset="-122"/>
            </a:endParaRPr>
          </a:p>
        </p:txBody>
      </p:sp>
    </p:spTree>
  </p:cSld>
  <p:clrMapOvr>
    <a:masterClrMapping/>
  </p:clrMapOvr>
  <p:transition spd="slow"/>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142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布尔表达式（4）</a:t>
            </a:r>
            <a:endParaRPr lang="zh-CN" altLang="en-US" dirty="0">
              <a:latin typeface="Times New Roman" panose="02020603050405020304" pitchFamily="18" charset="0"/>
              <a:ea typeface="宋体" panose="02010600030101010101" pitchFamily="2" charset="-122"/>
            </a:endParaRPr>
          </a:p>
        </p:txBody>
      </p:sp>
      <p:sp>
        <p:nvSpPr>
          <p:cNvPr id="231427" name="Rectangle 3"/>
          <p:cNvSpPr>
            <a:spLocks noGrp="1"/>
          </p:cNvSpPr>
          <p:nvPr>
            <p:ph idx="1"/>
          </p:nvPr>
        </p:nvSpPr>
        <p:spPr>
          <a:xfrm>
            <a:off x="990600" y="1524000"/>
            <a:ext cx="7391400" cy="4724400"/>
          </a:xfrm>
        </p:spPr>
        <p:txBody>
          <a:bodyPr vert="horz" wrap="square" lIns="92075" tIns="46038" rIns="92075" bIns="46038" anchor="t" anchorCtr="0"/>
          <a:p>
            <a:pPr lvl="1">
              <a:lnSpc>
                <a:spcPct val="90000"/>
              </a:lnSpc>
            </a:pPr>
            <a:r>
              <a:rPr lang="zh-CN" altLang="en-US" sz="2200" b="1" dirty="0">
                <a:ea typeface="宋体" panose="02010600030101010101" pitchFamily="2" charset="-122"/>
              </a:rPr>
              <a:t>数值表示布尔值的翻译方案</a:t>
            </a:r>
            <a:endParaRPr lang="zh-CN" altLang="en-US" sz="2200" b="1" dirty="0">
              <a:ea typeface="宋体" panose="02010600030101010101" pitchFamily="2" charset="-122"/>
            </a:endParaRPr>
          </a:p>
          <a:p>
            <a:pPr lvl="1">
              <a:lnSpc>
                <a:spcPct val="90000"/>
              </a:lnSpc>
              <a:buNone/>
            </a:pPr>
            <a:r>
              <a:rPr lang="en-US" altLang="zh-CN" sz="1600" b="1" dirty="0">
                <a:ea typeface="宋体" panose="02010600030101010101" pitchFamily="2" charset="-122"/>
              </a:rPr>
              <a:t>B→B</a:t>
            </a:r>
            <a:r>
              <a:rPr lang="en-US" altLang="zh-CN" sz="1600" b="1" baseline="-25000" dirty="0">
                <a:ea typeface="宋体" panose="02010600030101010101" pitchFamily="2" charset="-122"/>
              </a:rPr>
              <a:t>1</a:t>
            </a:r>
            <a:r>
              <a:rPr lang="en-US" altLang="zh-CN" sz="1600" b="1" dirty="0">
                <a:ea typeface="宋体" panose="02010600030101010101" pitchFamily="2" charset="-122"/>
              </a:rPr>
              <a:t> || B</a:t>
            </a:r>
            <a:r>
              <a:rPr lang="en-US" altLang="zh-CN" sz="1600" b="1" baseline="-25000" dirty="0">
                <a:ea typeface="宋体" panose="02010600030101010101" pitchFamily="2" charset="-122"/>
              </a:rPr>
              <a:t>2</a:t>
            </a:r>
            <a:r>
              <a:rPr lang="en-US" altLang="zh-CN" sz="1600" b="1" dirty="0">
                <a:ea typeface="宋体" panose="02010600030101010101" pitchFamily="2" charset="-122"/>
              </a:rPr>
              <a:t>	  { B.place := newtemp;</a:t>
            </a:r>
            <a:endParaRPr lang="en-US" altLang="zh-CN" sz="1600" b="1" dirty="0">
              <a:ea typeface="宋体" panose="02010600030101010101" pitchFamily="2" charset="-122"/>
            </a:endParaRPr>
          </a:p>
          <a:p>
            <a:pPr lvl="1">
              <a:lnSpc>
                <a:spcPct val="90000"/>
              </a:lnSpc>
              <a:buNone/>
            </a:pPr>
            <a:r>
              <a:rPr lang="en-US" altLang="zh-CN" sz="1600" b="1" dirty="0">
                <a:ea typeface="宋体" panose="02010600030101010101" pitchFamily="2" charset="-122"/>
              </a:rPr>
              <a:t>			    emit( B.place ‘:=’ B</a:t>
            </a:r>
            <a:r>
              <a:rPr lang="en-US" altLang="zh-CN" sz="1600" b="1" baseline="-25000" dirty="0">
                <a:ea typeface="宋体" panose="02010600030101010101" pitchFamily="2" charset="-122"/>
              </a:rPr>
              <a:t>1</a:t>
            </a:r>
            <a:r>
              <a:rPr lang="en-US" altLang="zh-CN" sz="1600" b="1" dirty="0">
                <a:ea typeface="宋体" panose="02010600030101010101" pitchFamily="2" charset="-122"/>
              </a:rPr>
              <a:t>.place ‘||’ B</a:t>
            </a:r>
            <a:r>
              <a:rPr lang="en-US" altLang="zh-CN" sz="1600" b="1" baseline="-25000" dirty="0">
                <a:ea typeface="宋体" panose="02010600030101010101" pitchFamily="2" charset="-122"/>
              </a:rPr>
              <a:t>2</a:t>
            </a:r>
            <a:r>
              <a:rPr lang="en-US" altLang="zh-CN" sz="1600" b="1" dirty="0">
                <a:ea typeface="宋体" panose="02010600030101010101" pitchFamily="2" charset="-122"/>
              </a:rPr>
              <a:t>.place ) }</a:t>
            </a:r>
            <a:endParaRPr lang="en-US" altLang="zh-CN" sz="1600" b="1" dirty="0">
              <a:ea typeface="宋体" panose="02010600030101010101" pitchFamily="2" charset="-122"/>
            </a:endParaRPr>
          </a:p>
          <a:p>
            <a:pPr lvl="1">
              <a:lnSpc>
                <a:spcPct val="90000"/>
              </a:lnSpc>
              <a:buNone/>
            </a:pPr>
            <a:r>
              <a:rPr lang="en-US" altLang="zh-CN" sz="1600" b="1" dirty="0">
                <a:ea typeface="宋体" panose="02010600030101010101" pitchFamily="2" charset="-122"/>
              </a:rPr>
              <a:t>B→B</a:t>
            </a:r>
            <a:r>
              <a:rPr lang="en-US" altLang="zh-CN" sz="1600" b="1" baseline="-25000" dirty="0">
                <a:ea typeface="宋体" panose="02010600030101010101" pitchFamily="2" charset="-122"/>
              </a:rPr>
              <a:t>1</a:t>
            </a:r>
            <a:r>
              <a:rPr lang="en-US" altLang="zh-CN" sz="1600" b="1" dirty="0">
                <a:ea typeface="宋体" panose="02010600030101010101" pitchFamily="2" charset="-122"/>
              </a:rPr>
              <a:t> &amp;&amp; B</a:t>
            </a:r>
            <a:r>
              <a:rPr lang="en-US" altLang="zh-CN" sz="1600" b="1" baseline="-25000" dirty="0">
                <a:ea typeface="宋体" panose="02010600030101010101" pitchFamily="2" charset="-122"/>
              </a:rPr>
              <a:t>2</a:t>
            </a:r>
            <a:r>
              <a:rPr lang="en-US" altLang="zh-CN" sz="1600" b="1" dirty="0">
                <a:ea typeface="宋体" panose="02010600030101010101" pitchFamily="2" charset="-122"/>
              </a:rPr>
              <a:t>	  { B.place := newtemp;</a:t>
            </a:r>
            <a:endParaRPr lang="en-US" altLang="zh-CN" sz="1600" b="1" dirty="0">
              <a:ea typeface="宋体" panose="02010600030101010101" pitchFamily="2" charset="-122"/>
            </a:endParaRPr>
          </a:p>
          <a:p>
            <a:pPr lvl="1">
              <a:lnSpc>
                <a:spcPct val="90000"/>
              </a:lnSpc>
              <a:buNone/>
            </a:pPr>
            <a:r>
              <a:rPr lang="en-US" altLang="zh-CN" sz="1600" b="1" dirty="0">
                <a:ea typeface="宋体" panose="02010600030101010101" pitchFamily="2" charset="-122"/>
              </a:rPr>
              <a:t>			    emit( B.place ‘:=’ B</a:t>
            </a:r>
            <a:r>
              <a:rPr lang="en-US" altLang="zh-CN" sz="1600" b="1" baseline="-25000" dirty="0">
                <a:ea typeface="宋体" panose="02010600030101010101" pitchFamily="2" charset="-122"/>
              </a:rPr>
              <a:t>1</a:t>
            </a:r>
            <a:r>
              <a:rPr lang="en-US" altLang="zh-CN" sz="1600" b="1" dirty="0">
                <a:ea typeface="宋体" panose="02010600030101010101" pitchFamily="2" charset="-122"/>
              </a:rPr>
              <a:t>.place ‘&amp;&amp;’ B</a:t>
            </a:r>
            <a:r>
              <a:rPr lang="en-US" altLang="zh-CN" sz="1600" b="1" baseline="-25000" dirty="0">
                <a:ea typeface="宋体" panose="02010600030101010101" pitchFamily="2" charset="-122"/>
              </a:rPr>
              <a:t>2</a:t>
            </a:r>
            <a:r>
              <a:rPr lang="en-US" altLang="zh-CN" sz="1600" b="1" dirty="0">
                <a:ea typeface="宋体" panose="02010600030101010101" pitchFamily="2" charset="-122"/>
              </a:rPr>
              <a:t>.place ) }</a:t>
            </a:r>
            <a:endParaRPr lang="en-US" altLang="zh-CN" sz="1600" b="1" dirty="0">
              <a:ea typeface="宋体" panose="02010600030101010101" pitchFamily="2" charset="-122"/>
            </a:endParaRPr>
          </a:p>
          <a:p>
            <a:pPr lvl="1">
              <a:lnSpc>
                <a:spcPct val="90000"/>
              </a:lnSpc>
              <a:buNone/>
            </a:pPr>
            <a:r>
              <a:rPr lang="en-US" altLang="zh-CN" sz="1600" b="1" dirty="0">
                <a:ea typeface="宋体" panose="02010600030101010101" pitchFamily="2" charset="-122"/>
              </a:rPr>
              <a:t>B→ ! B</a:t>
            </a:r>
            <a:r>
              <a:rPr lang="en-US" altLang="zh-CN" sz="1600" b="1" baseline="-25000" dirty="0">
                <a:ea typeface="宋体" panose="02010600030101010101" pitchFamily="2" charset="-122"/>
              </a:rPr>
              <a:t>1</a:t>
            </a:r>
            <a:r>
              <a:rPr lang="en-US" altLang="zh-CN" sz="1600" b="1" dirty="0">
                <a:ea typeface="宋体" panose="02010600030101010101" pitchFamily="2" charset="-122"/>
              </a:rPr>
              <a:t>	  { B.place := newtemp;</a:t>
            </a:r>
            <a:endParaRPr lang="en-US" altLang="zh-CN" sz="1600" b="1" dirty="0">
              <a:ea typeface="宋体" panose="02010600030101010101" pitchFamily="2" charset="-122"/>
            </a:endParaRPr>
          </a:p>
          <a:p>
            <a:pPr lvl="1">
              <a:lnSpc>
                <a:spcPct val="90000"/>
              </a:lnSpc>
              <a:buNone/>
            </a:pPr>
            <a:r>
              <a:rPr lang="en-US" altLang="zh-CN" sz="1600" b="1" dirty="0">
                <a:ea typeface="宋体" panose="02010600030101010101" pitchFamily="2" charset="-122"/>
              </a:rPr>
              <a:t>			    emit( B.place ‘:=’ ‘!’ B</a:t>
            </a:r>
            <a:r>
              <a:rPr lang="en-US" altLang="zh-CN" sz="1600" b="1" baseline="-25000" dirty="0">
                <a:ea typeface="宋体" panose="02010600030101010101" pitchFamily="2" charset="-122"/>
              </a:rPr>
              <a:t>1</a:t>
            </a:r>
            <a:r>
              <a:rPr lang="en-US" altLang="zh-CN" sz="1600" b="1" dirty="0">
                <a:ea typeface="宋体" panose="02010600030101010101" pitchFamily="2" charset="-122"/>
              </a:rPr>
              <a:t>.place ) }</a:t>
            </a:r>
            <a:endParaRPr lang="en-US" altLang="zh-CN" sz="1600" b="1" dirty="0">
              <a:ea typeface="宋体" panose="02010600030101010101" pitchFamily="2" charset="-122"/>
            </a:endParaRPr>
          </a:p>
          <a:p>
            <a:pPr lvl="1">
              <a:lnSpc>
                <a:spcPct val="90000"/>
              </a:lnSpc>
              <a:buNone/>
            </a:pPr>
            <a:r>
              <a:rPr lang="en-US" altLang="zh-CN" sz="1600" b="1" dirty="0">
                <a:ea typeface="宋体" panose="02010600030101010101" pitchFamily="2" charset="-122"/>
              </a:rPr>
              <a:t>B→ ( B</a:t>
            </a:r>
            <a:r>
              <a:rPr lang="en-US" altLang="zh-CN" sz="1600" b="1" baseline="-25000" dirty="0">
                <a:ea typeface="宋体" panose="02010600030101010101" pitchFamily="2" charset="-122"/>
              </a:rPr>
              <a:t>1</a:t>
            </a:r>
            <a:r>
              <a:rPr lang="en-US" altLang="zh-CN" sz="1600" b="1" dirty="0">
                <a:ea typeface="宋体" panose="02010600030101010101" pitchFamily="2" charset="-122"/>
              </a:rPr>
              <a:t> )	  { B.place := B</a:t>
            </a:r>
            <a:r>
              <a:rPr lang="en-US" altLang="zh-CN" sz="1600" b="1" baseline="-25000" dirty="0">
                <a:ea typeface="宋体" panose="02010600030101010101" pitchFamily="2" charset="-122"/>
              </a:rPr>
              <a:t>1</a:t>
            </a:r>
            <a:r>
              <a:rPr lang="en-US" altLang="zh-CN" sz="1600" b="1" dirty="0">
                <a:ea typeface="宋体" panose="02010600030101010101" pitchFamily="2" charset="-122"/>
              </a:rPr>
              <a:t>.place }</a:t>
            </a:r>
            <a:endParaRPr lang="en-US" altLang="zh-CN" sz="1600" b="1" dirty="0">
              <a:ea typeface="宋体" panose="02010600030101010101" pitchFamily="2" charset="-122"/>
            </a:endParaRPr>
          </a:p>
          <a:p>
            <a:pPr lvl="1">
              <a:lnSpc>
                <a:spcPct val="90000"/>
              </a:lnSpc>
              <a:buNone/>
            </a:pPr>
            <a:r>
              <a:rPr lang="en-US" altLang="zh-CN" sz="1600" b="1" dirty="0">
                <a:ea typeface="宋体" panose="02010600030101010101" pitchFamily="2" charset="-122"/>
              </a:rPr>
              <a:t>B→id</a:t>
            </a:r>
            <a:r>
              <a:rPr lang="en-US" altLang="zh-CN" sz="1600" b="1" baseline="-25000" dirty="0">
                <a:ea typeface="宋体" panose="02010600030101010101" pitchFamily="2" charset="-122"/>
              </a:rPr>
              <a:t>1</a:t>
            </a:r>
            <a:r>
              <a:rPr lang="en-US" altLang="zh-CN" sz="1600" b="1" dirty="0">
                <a:ea typeface="宋体" panose="02010600030101010101" pitchFamily="2" charset="-122"/>
              </a:rPr>
              <a:t> relop id</a:t>
            </a:r>
            <a:r>
              <a:rPr lang="en-US" altLang="zh-CN" sz="1600" b="1" baseline="-25000" dirty="0">
                <a:ea typeface="宋体" panose="02010600030101010101" pitchFamily="2" charset="-122"/>
              </a:rPr>
              <a:t>2  </a:t>
            </a:r>
            <a:r>
              <a:rPr lang="en-US" altLang="zh-CN" sz="1600" b="1" dirty="0">
                <a:ea typeface="宋体" panose="02010600030101010101" pitchFamily="2" charset="-122"/>
              </a:rPr>
              <a:t>{ B.place := newtemp;</a:t>
            </a:r>
            <a:endParaRPr lang="en-US" altLang="zh-CN" sz="1600" b="1" dirty="0">
              <a:ea typeface="宋体" panose="02010600030101010101" pitchFamily="2" charset="-122"/>
            </a:endParaRPr>
          </a:p>
          <a:p>
            <a:pPr lvl="1">
              <a:lnSpc>
                <a:spcPct val="90000"/>
              </a:lnSpc>
              <a:buNone/>
            </a:pPr>
            <a:r>
              <a:rPr lang="en-US" altLang="zh-CN" sz="1600" b="1" dirty="0">
                <a:ea typeface="宋体" panose="02010600030101010101" pitchFamily="2" charset="-122"/>
              </a:rPr>
              <a:t>			    emit( ‘if’ id</a:t>
            </a:r>
            <a:r>
              <a:rPr lang="en-US" altLang="zh-CN" sz="1600" b="1" baseline="-25000" dirty="0">
                <a:ea typeface="宋体" panose="02010600030101010101" pitchFamily="2" charset="-122"/>
              </a:rPr>
              <a:t>1</a:t>
            </a:r>
            <a:r>
              <a:rPr lang="en-US" altLang="zh-CN" sz="1600" b="1" dirty="0">
                <a:ea typeface="宋体" panose="02010600030101010101" pitchFamily="2" charset="-122"/>
              </a:rPr>
              <a:t>.place relop.op id</a:t>
            </a:r>
            <a:r>
              <a:rPr lang="en-US" altLang="zh-CN" sz="1600" b="1" baseline="-25000" dirty="0">
                <a:ea typeface="宋体" panose="02010600030101010101" pitchFamily="2" charset="-122"/>
              </a:rPr>
              <a:t>2</a:t>
            </a:r>
            <a:r>
              <a:rPr lang="en-US" altLang="zh-CN" sz="1600" b="1" dirty="0">
                <a:ea typeface="宋体" panose="02010600030101010101" pitchFamily="2" charset="-122"/>
              </a:rPr>
              <a:t>.place ‘goto’ nextstat+3);</a:t>
            </a:r>
            <a:endParaRPr lang="en-US" altLang="zh-CN" sz="1600" b="1" dirty="0">
              <a:ea typeface="宋体" panose="02010600030101010101" pitchFamily="2" charset="-122"/>
            </a:endParaRPr>
          </a:p>
          <a:p>
            <a:pPr lvl="1">
              <a:lnSpc>
                <a:spcPct val="90000"/>
              </a:lnSpc>
              <a:buNone/>
            </a:pPr>
            <a:r>
              <a:rPr lang="en-US" altLang="zh-CN" sz="1600" b="1" dirty="0">
                <a:ea typeface="宋体" panose="02010600030101010101" pitchFamily="2" charset="-122"/>
              </a:rPr>
              <a:t>			    emit( B.place ‘:=’ ‘0’);</a:t>
            </a:r>
            <a:endParaRPr lang="en-US" altLang="zh-CN" sz="1600" b="1" dirty="0">
              <a:ea typeface="宋体" panose="02010600030101010101" pitchFamily="2" charset="-122"/>
            </a:endParaRPr>
          </a:p>
          <a:p>
            <a:pPr lvl="1">
              <a:lnSpc>
                <a:spcPct val="90000"/>
              </a:lnSpc>
              <a:buNone/>
            </a:pPr>
            <a:r>
              <a:rPr lang="en-US" altLang="zh-CN" sz="1600" b="1" dirty="0">
                <a:ea typeface="宋体" panose="02010600030101010101" pitchFamily="2" charset="-122"/>
              </a:rPr>
              <a:t>			    emit(‘goto’ nextstat + 2);</a:t>
            </a:r>
            <a:endParaRPr lang="en-US" altLang="zh-CN" sz="1600" b="1" dirty="0">
              <a:ea typeface="宋体" panose="02010600030101010101" pitchFamily="2" charset="-122"/>
            </a:endParaRPr>
          </a:p>
          <a:p>
            <a:pPr lvl="1">
              <a:lnSpc>
                <a:spcPct val="90000"/>
              </a:lnSpc>
              <a:buNone/>
            </a:pPr>
            <a:r>
              <a:rPr lang="en-US" altLang="zh-CN" sz="1600" b="1" dirty="0">
                <a:ea typeface="宋体" panose="02010600030101010101" pitchFamily="2" charset="-122"/>
              </a:rPr>
              <a:t>			    emit( B.place ‘:=’ ‘1’) }</a:t>
            </a:r>
            <a:endParaRPr lang="en-US" altLang="zh-CN" sz="1600" b="1" dirty="0">
              <a:ea typeface="宋体" panose="02010600030101010101" pitchFamily="2" charset="-122"/>
            </a:endParaRPr>
          </a:p>
          <a:p>
            <a:pPr lvl="1">
              <a:lnSpc>
                <a:spcPct val="90000"/>
              </a:lnSpc>
              <a:buNone/>
            </a:pPr>
            <a:r>
              <a:rPr lang="en-US" altLang="zh-CN" sz="1600" b="1" dirty="0">
                <a:ea typeface="宋体" panose="02010600030101010101" pitchFamily="2" charset="-122"/>
              </a:rPr>
              <a:t>B→true	  { B.place := newtemp;</a:t>
            </a:r>
            <a:endParaRPr lang="en-US" altLang="zh-CN" sz="1600" b="1" dirty="0">
              <a:ea typeface="宋体" panose="02010600030101010101" pitchFamily="2" charset="-122"/>
            </a:endParaRPr>
          </a:p>
          <a:p>
            <a:pPr lvl="1">
              <a:lnSpc>
                <a:spcPct val="90000"/>
              </a:lnSpc>
              <a:buNone/>
            </a:pPr>
            <a:r>
              <a:rPr lang="en-US" altLang="zh-CN" sz="1600" b="1" dirty="0">
                <a:ea typeface="宋体" panose="02010600030101010101" pitchFamily="2" charset="-122"/>
              </a:rPr>
              <a:t>			    emit( B.place ‘:=’ ‘1’) }</a:t>
            </a:r>
            <a:endParaRPr lang="en-US" altLang="zh-CN" sz="1600" b="1" dirty="0">
              <a:ea typeface="宋体" panose="02010600030101010101" pitchFamily="2" charset="-122"/>
            </a:endParaRPr>
          </a:p>
          <a:p>
            <a:pPr lvl="1">
              <a:lnSpc>
                <a:spcPct val="90000"/>
              </a:lnSpc>
              <a:buNone/>
            </a:pPr>
            <a:r>
              <a:rPr lang="en-US" altLang="zh-CN" sz="1600" b="1" dirty="0">
                <a:ea typeface="宋体" panose="02010600030101010101" pitchFamily="2" charset="-122"/>
              </a:rPr>
              <a:t>B→false	  { B.place := newtemp;</a:t>
            </a:r>
            <a:endParaRPr lang="en-US" altLang="zh-CN" sz="1600" b="1" dirty="0">
              <a:ea typeface="宋体" panose="02010600030101010101" pitchFamily="2" charset="-122"/>
            </a:endParaRPr>
          </a:p>
          <a:p>
            <a:pPr lvl="1">
              <a:lnSpc>
                <a:spcPct val="90000"/>
              </a:lnSpc>
              <a:buNone/>
            </a:pPr>
            <a:r>
              <a:rPr lang="en-US" altLang="zh-CN" sz="1600" b="1" dirty="0">
                <a:ea typeface="宋体" panose="02010600030101010101" pitchFamily="2" charset="-122"/>
              </a:rPr>
              <a:t>			    emit( B.place ‘:=’ ‘0’) }</a:t>
            </a:r>
            <a:endParaRPr lang="en-US" altLang="zh-CN" sz="1600" b="1" dirty="0">
              <a:ea typeface="宋体" panose="02010600030101010101" pitchFamily="2" charset="-122"/>
            </a:endParaRPr>
          </a:p>
        </p:txBody>
      </p:sp>
    </p:spTree>
  </p:cSld>
  <p:clrMapOvr>
    <a:masterClrMapping/>
  </p:clrMapOvr>
  <p:transition spd="slow"/>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347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布尔表达式（5）</a:t>
            </a:r>
            <a:endParaRPr lang="zh-CN" altLang="en-US" dirty="0">
              <a:latin typeface="Times New Roman" panose="02020603050405020304" pitchFamily="18" charset="0"/>
              <a:ea typeface="宋体" panose="02010600030101010101" pitchFamily="2" charset="-122"/>
            </a:endParaRPr>
          </a:p>
        </p:txBody>
      </p:sp>
      <p:sp>
        <p:nvSpPr>
          <p:cNvPr id="233475" name="Rectangle 3"/>
          <p:cNvSpPr>
            <a:spLocks noGrp="1"/>
          </p:cNvSpPr>
          <p:nvPr>
            <p:ph idx="1"/>
          </p:nvPr>
        </p:nvSpPr>
        <p:spPr>
          <a:xfrm>
            <a:off x="990600" y="1524000"/>
            <a:ext cx="7391400" cy="4724400"/>
          </a:xfrm>
        </p:spPr>
        <p:txBody>
          <a:bodyPr vert="horz" wrap="square" lIns="92075" tIns="46038" rIns="92075" bIns="46038" anchor="t" anchorCtr="0"/>
          <a:p>
            <a:pPr>
              <a:lnSpc>
                <a:spcPct val="90000"/>
              </a:lnSpc>
              <a:buNone/>
            </a:pPr>
            <a:r>
              <a:rPr lang="zh-CN" altLang="en-US" sz="1800" b="1" dirty="0">
                <a:ea typeface="宋体" panose="02010600030101010101" pitchFamily="2" charset="-122"/>
              </a:rPr>
              <a:t>例：</a:t>
            </a:r>
            <a:r>
              <a:rPr lang="en-US" altLang="zh-CN" sz="1800" b="1" dirty="0">
                <a:ea typeface="宋体" panose="02010600030101010101" pitchFamily="2" charset="-122"/>
              </a:rPr>
              <a:t>a &lt; b || c &lt; d &amp;&amp; e &lt; f</a:t>
            </a:r>
            <a:r>
              <a:rPr lang="zh-CN" altLang="en-US" sz="1800" b="1" dirty="0">
                <a:ea typeface="宋体" panose="02010600030101010101" pitchFamily="2" charset="-122"/>
              </a:rPr>
              <a:t>产生的三地址代码如下</a:t>
            </a:r>
            <a:endParaRPr lang="zh-CN" altLang="en-US" sz="1800" b="1" dirty="0">
              <a:ea typeface="宋体" panose="02010600030101010101" pitchFamily="2" charset="-122"/>
            </a:endParaRPr>
          </a:p>
          <a:p>
            <a:pPr>
              <a:lnSpc>
                <a:spcPct val="90000"/>
              </a:lnSpc>
              <a:buNone/>
            </a:pPr>
            <a:r>
              <a:rPr lang="zh-CN" altLang="en-US" sz="1800" b="1" dirty="0">
                <a:ea typeface="宋体" panose="02010600030101010101" pitchFamily="2" charset="-122"/>
              </a:rPr>
              <a:t>	100： </a:t>
            </a:r>
            <a:r>
              <a:rPr lang="en-US" altLang="zh-CN" sz="1800" b="1" dirty="0">
                <a:ea typeface="宋体" panose="02010600030101010101" pitchFamily="2" charset="-122"/>
              </a:rPr>
              <a:t>if a &lt; b goto 103</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101：t1 := 0</a:t>
            </a:r>
            <a:endParaRPr lang="en-US" altLang="zh-CN" sz="1800" b="1" dirty="0">
              <a:ea typeface="宋体" panose="02010600030101010101" pitchFamily="2" charset="-122"/>
            </a:endParaRPr>
          </a:p>
          <a:p>
            <a:pPr>
              <a:lnSpc>
                <a:spcPct val="90000"/>
              </a:lnSpc>
              <a:buNone/>
            </a:pPr>
            <a:r>
              <a:rPr lang="zh-CN" altLang="en-US" sz="1800" b="1" dirty="0">
                <a:ea typeface="宋体" panose="02010600030101010101" pitchFamily="2" charset="-122"/>
              </a:rPr>
              <a:t>	102： </a:t>
            </a:r>
            <a:r>
              <a:rPr lang="en-US" altLang="zh-CN" sz="1800" b="1" dirty="0">
                <a:ea typeface="宋体" panose="02010600030101010101" pitchFamily="2" charset="-122"/>
              </a:rPr>
              <a:t>goto 104</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103：t1 := 1</a:t>
            </a:r>
            <a:endParaRPr lang="en-US" altLang="zh-CN" sz="1800" b="1" dirty="0">
              <a:ea typeface="宋体" panose="02010600030101010101" pitchFamily="2" charset="-122"/>
            </a:endParaRPr>
          </a:p>
          <a:p>
            <a:pPr>
              <a:lnSpc>
                <a:spcPct val="90000"/>
              </a:lnSpc>
              <a:buNone/>
            </a:pPr>
            <a:r>
              <a:rPr lang="zh-CN" altLang="en-US" sz="1800" b="1" dirty="0">
                <a:ea typeface="宋体" panose="02010600030101010101" pitchFamily="2" charset="-122"/>
              </a:rPr>
              <a:t>	104： </a:t>
            </a:r>
            <a:r>
              <a:rPr lang="en-US" altLang="zh-CN" sz="1800" b="1" dirty="0">
                <a:ea typeface="宋体" panose="02010600030101010101" pitchFamily="2" charset="-122"/>
              </a:rPr>
              <a:t>if c &lt; d goto 107</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105：t2 := 0</a:t>
            </a:r>
            <a:endParaRPr lang="en-US" altLang="zh-CN" sz="1800" b="1" dirty="0">
              <a:ea typeface="宋体" panose="02010600030101010101" pitchFamily="2" charset="-122"/>
            </a:endParaRPr>
          </a:p>
          <a:p>
            <a:pPr>
              <a:lnSpc>
                <a:spcPct val="90000"/>
              </a:lnSpc>
              <a:buNone/>
            </a:pPr>
            <a:r>
              <a:rPr lang="zh-CN" altLang="en-US" sz="1800" b="1" dirty="0">
                <a:ea typeface="宋体" panose="02010600030101010101" pitchFamily="2" charset="-122"/>
              </a:rPr>
              <a:t>	106： </a:t>
            </a:r>
            <a:r>
              <a:rPr lang="en-US" altLang="zh-CN" sz="1800" b="1" dirty="0">
                <a:ea typeface="宋体" panose="02010600030101010101" pitchFamily="2" charset="-122"/>
              </a:rPr>
              <a:t>goto 108</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107：t2 := 1</a:t>
            </a:r>
            <a:endParaRPr lang="en-US" altLang="zh-CN" sz="1800" b="1" dirty="0">
              <a:ea typeface="宋体" panose="02010600030101010101" pitchFamily="2" charset="-122"/>
            </a:endParaRPr>
          </a:p>
          <a:p>
            <a:pPr>
              <a:lnSpc>
                <a:spcPct val="90000"/>
              </a:lnSpc>
              <a:buNone/>
            </a:pPr>
            <a:r>
              <a:rPr lang="zh-CN" altLang="en-US" sz="1800" b="1" dirty="0">
                <a:ea typeface="宋体" panose="02010600030101010101" pitchFamily="2" charset="-122"/>
              </a:rPr>
              <a:t>	108： </a:t>
            </a:r>
            <a:r>
              <a:rPr lang="en-US" altLang="zh-CN" sz="1800" b="1" dirty="0">
                <a:ea typeface="宋体" panose="02010600030101010101" pitchFamily="2" charset="-122"/>
              </a:rPr>
              <a:t>if e &lt; f goto 111</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109：t3 := 0</a:t>
            </a:r>
            <a:endParaRPr lang="en-US" altLang="zh-CN" sz="1800" b="1" dirty="0">
              <a:ea typeface="宋体" panose="02010600030101010101" pitchFamily="2" charset="-122"/>
            </a:endParaRPr>
          </a:p>
          <a:p>
            <a:pPr>
              <a:lnSpc>
                <a:spcPct val="90000"/>
              </a:lnSpc>
              <a:buNone/>
            </a:pPr>
            <a:r>
              <a:rPr lang="zh-CN" altLang="en-US" sz="1800" b="1" dirty="0">
                <a:ea typeface="宋体" panose="02010600030101010101" pitchFamily="2" charset="-122"/>
              </a:rPr>
              <a:t>	110： </a:t>
            </a:r>
            <a:r>
              <a:rPr lang="en-US" altLang="zh-CN" sz="1800" b="1" dirty="0">
                <a:ea typeface="宋体" panose="02010600030101010101" pitchFamily="2" charset="-122"/>
              </a:rPr>
              <a:t>goto 112</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111：t3 := 1</a:t>
            </a:r>
            <a:endParaRPr lang="en-US" altLang="zh-CN" sz="1800" b="1" dirty="0">
              <a:ea typeface="宋体" panose="02010600030101010101" pitchFamily="2" charset="-122"/>
            </a:endParaRPr>
          </a:p>
          <a:p>
            <a:pPr>
              <a:lnSpc>
                <a:spcPct val="90000"/>
              </a:lnSpc>
              <a:buNone/>
            </a:pPr>
            <a:r>
              <a:rPr lang="zh-CN" altLang="en-US" sz="1800" b="1" dirty="0">
                <a:ea typeface="宋体" panose="02010600030101010101" pitchFamily="2" charset="-122"/>
              </a:rPr>
              <a:t>	112：</a:t>
            </a:r>
            <a:r>
              <a:rPr lang="en-US" altLang="zh-CN" sz="1800" b="1" dirty="0">
                <a:ea typeface="宋体" panose="02010600030101010101" pitchFamily="2" charset="-122"/>
              </a:rPr>
              <a:t>t4 := t2 &amp;&amp; t3</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113：t5 := t1 || t4</a:t>
            </a:r>
            <a:endParaRPr lang="en-US" altLang="zh-CN" sz="1800" b="1" dirty="0">
              <a:ea typeface="宋体" panose="02010600030101010101" pitchFamily="2" charset="-122"/>
            </a:endParaRPr>
          </a:p>
        </p:txBody>
      </p:sp>
    </p:spTree>
  </p:cSld>
  <p:clrMapOvr>
    <a:masterClrMapping/>
  </p:clrMapOvr>
  <p:transition spd="slow"/>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布尔表达式（6）</a:t>
            </a:r>
            <a:endParaRPr lang="zh-CN" altLang="en-US" dirty="0">
              <a:latin typeface="Times New Roman" panose="02020603050405020304" pitchFamily="18" charset="0"/>
              <a:ea typeface="宋体" panose="02010600030101010101" pitchFamily="2" charset="-122"/>
            </a:endParaRPr>
          </a:p>
        </p:txBody>
      </p:sp>
      <p:sp>
        <p:nvSpPr>
          <p:cNvPr id="227331" name="Rectangle 3"/>
          <p:cNvSpPr>
            <a:spLocks noGrp="1" noChangeArrowheads="1"/>
          </p:cNvSpPr>
          <p:nvPr>
            <p:ph idx="1"/>
          </p:nvPr>
        </p:nvSpPr>
        <p:spPr>
          <a:xfrm>
            <a:off x="684213" y="1371600"/>
            <a:ext cx="8064500"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短路代码</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将布尔表达式翻译成没有任何布尔算符的三地址代码，运行时只计算部分表达式，称为“短路”或“转移”代码</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上例中，由到达语句101还是语句103来确定</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的值，因此</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的值是冗余的</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当只需要计算布尔表达式的一部分就能得到这个布尔表达式的值时，这种方法便于实现</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短路代码可以减少布尔表达式的计算开销</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短路代码可以避免一些有副作用的表达式的计算</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例子</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6.21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：翻译下述语句</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if</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x &lt; 100 || x &gt; 200 &amp;&amp; x != y ) x = 0 ;</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235524" name="Picture 2"/>
          <p:cNvPicPr>
            <a:picLocks noChangeAspect="1"/>
          </p:cNvPicPr>
          <p:nvPr/>
        </p:nvPicPr>
        <p:blipFill>
          <a:blip r:embed="rId1"/>
          <a:stretch>
            <a:fillRect/>
          </a:stretch>
        </p:blipFill>
        <p:spPr>
          <a:xfrm>
            <a:off x="5076825" y="4748213"/>
            <a:ext cx="3995738" cy="2139950"/>
          </a:xfrm>
          <a:prstGeom prst="rect">
            <a:avLst/>
          </a:prstGeom>
          <a:noFill/>
          <a:ln w="9525">
            <a:noFill/>
          </a:ln>
        </p:spPr>
      </p:pic>
    </p:spTree>
  </p:cSld>
  <p:clrMapOvr>
    <a:masterClrMapping/>
  </p:clrMapOvr>
  <p:transition spd="slow"/>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7570" name="Rectangle 2"/>
          <p:cNvSpPr>
            <a:spLocks noGrp="1"/>
          </p:cNvSpPr>
          <p:nvPr>
            <p:ph type="title"/>
          </p:nvPr>
        </p:nvSpPr>
        <p:spPr>
          <a:xfrm>
            <a:off x="990600" y="404813"/>
            <a:ext cx="75438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布尔表达式（7）</a:t>
            </a:r>
            <a:endParaRPr lang="zh-CN" altLang="en-US" dirty="0">
              <a:latin typeface="Times New Roman" panose="02020603050405020304" pitchFamily="18" charset="0"/>
              <a:ea typeface="宋体" panose="02010600030101010101" pitchFamily="2" charset="-122"/>
            </a:endParaRPr>
          </a:p>
        </p:txBody>
      </p:sp>
      <p:sp>
        <p:nvSpPr>
          <p:cNvPr id="237571" name="Rectangle 3"/>
          <p:cNvSpPr>
            <a:spLocks noGrp="1"/>
          </p:cNvSpPr>
          <p:nvPr>
            <p:ph idx="1"/>
          </p:nvPr>
        </p:nvSpPr>
        <p:spPr>
          <a:xfrm>
            <a:off x="990600" y="1524000"/>
            <a:ext cx="7391400" cy="4800600"/>
          </a:xfrm>
        </p:spPr>
        <p:txBody>
          <a:bodyPr vert="horz" wrap="square" lIns="92075" tIns="46038" rIns="92075" bIns="46038" anchor="t" anchorCtr="0"/>
          <a:p>
            <a:r>
              <a:rPr lang="zh-CN" altLang="en-US" sz="2400" b="1" dirty="0">
                <a:ea typeface="宋体" panose="02010600030101010101" pitchFamily="2" charset="-122"/>
              </a:rPr>
              <a:t>控制流语句</a:t>
            </a:r>
            <a:endParaRPr lang="zh-CN" altLang="en-US" sz="2400" b="1" dirty="0">
              <a:ea typeface="宋体" panose="02010600030101010101" pitchFamily="2" charset="-122"/>
            </a:endParaRPr>
          </a:p>
          <a:p>
            <a:pPr lvl="1"/>
            <a:r>
              <a:rPr lang="zh-CN" altLang="en-US" sz="2200" b="1" dirty="0">
                <a:ea typeface="宋体" panose="02010600030101010101" pitchFamily="2" charset="-122"/>
              </a:rPr>
              <a:t>考虑</a:t>
            </a:r>
            <a:r>
              <a:rPr lang="en-US" altLang="zh-CN" sz="2200" b="1" dirty="0">
                <a:ea typeface="宋体" panose="02010600030101010101" pitchFamily="2" charset="-122"/>
              </a:rPr>
              <a:t>if，if-else</a:t>
            </a:r>
            <a:r>
              <a:rPr lang="zh-CN" altLang="en-US" sz="2200" b="1" dirty="0">
                <a:ea typeface="宋体" panose="02010600030101010101" pitchFamily="2" charset="-122"/>
              </a:rPr>
              <a:t>和</a:t>
            </a:r>
            <a:r>
              <a:rPr lang="en-US" altLang="zh-CN" sz="2200" b="1" dirty="0">
                <a:ea typeface="宋体" panose="02010600030101010101" pitchFamily="2" charset="-122"/>
              </a:rPr>
              <a:t>while</a:t>
            </a:r>
            <a:r>
              <a:rPr lang="zh-CN" altLang="en-US" sz="2200" b="1" dirty="0">
                <a:ea typeface="宋体" panose="02010600030101010101" pitchFamily="2" charset="-122"/>
              </a:rPr>
              <a:t>语句，其文法：</a:t>
            </a:r>
            <a:endParaRPr lang="zh-CN" altLang="en-US" sz="22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S→  if  ( B )  S</a:t>
            </a:r>
            <a:r>
              <a:rPr lang="en-US" altLang="zh-CN" sz="2000" b="1" baseline="-25000" dirty="0">
                <a:ea typeface="宋体" panose="02010600030101010101" pitchFamily="2" charset="-122"/>
              </a:rPr>
              <a:t>1</a:t>
            </a:r>
            <a:endParaRPr lang="en-US" altLang="zh-CN" sz="2000" b="1" baseline="-25000"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S→ if  ( B )  S</a:t>
            </a:r>
            <a:r>
              <a:rPr lang="en-US" altLang="zh-CN" sz="2000" b="1" baseline="-25000" dirty="0">
                <a:ea typeface="宋体" panose="02010600030101010101" pitchFamily="2" charset="-122"/>
              </a:rPr>
              <a:t>1</a:t>
            </a:r>
            <a:r>
              <a:rPr lang="en-US" altLang="zh-CN" sz="2000" b="1" dirty="0">
                <a:ea typeface="宋体" panose="02010600030101010101" pitchFamily="2" charset="-122"/>
              </a:rPr>
              <a:t>  else S</a:t>
            </a:r>
            <a:r>
              <a:rPr lang="en-US" altLang="zh-CN" sz="2000" b="1" baseline="-25000" dirty="0">
                <a:ea typeface="宋体" panose="02010600030101010101" pitchFamily="2" charset="-122"/>
              </a:rPr>
              <a:t>2</a:t>
            </a:r>
            <a:endParaRPr lang="en-US" altLang="zh-CN" sz="2000" b="1" baseline="-25000"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S→ while  ( B )  S</a:t>
            </a:r>
            <a:r>
              <a:rPr lang="en-US" altLang="zh-CN" sz="2000" b="1" baseline="-25000" dirty="0">
                <a:ea typeface="宋体" panose="02010600030101010101" pitchFamily="2" charset="-122"/>
              </a:rPr>
              <a:t>1</a:t>
            </a:r>
            <a:endParaRPr lang="en-US" altLang="zh-CN" sz="2000" b="1" dirty="0">
              <a:ea typeface="宋体" panose="02010600030101010101" pitchFamily="2" charset="-122"/>
            </a:endParaRPr>
          </a:p>
          <a:p>
            <a:pPr lvl="1"/>
            <a:r>
              <a:rPr lang="zh-CN" altLang="en-US" sz="2200" b="1" dirty="0">
                <a:ea typeface="宋体" panose="02010600030101010101" pitchFamily="2" charset="-122"/>
              </a:rPr>
              <a:t>控制流语句</a:t>
            </a:r>
            <a:r>
              <a:rPr lang="en-US" altLang="zh-CN" sz="2200" b="1" dirty="0">
                <a:ea typeface="宋体" panose="02010600030101010101" pitchFamily="2" charset="-122"/>
              </a:rPr>
              <a:t>S</a:t>
            </a:r>
            <a:r>
              <a:rPr lang="zh-CN" altLang="en-US" sz="2200" b="1" dirty="0">
                <a:ea typeface="宋体" panose="02010600030101010101" pitchFamily="2" charset="-122"/>
              </a:rPr>
              <a:t>处理的一般方法</a:t>
            </a:r>
            <a:endParaRPr lang="zh-CN" altLang="en-US" sz="2200" b="1" dirty="0">
              <a:ea typeface="宋体" panose="02010600030101010101" pitchFamily="2" charset="-122"/>
            </a:endParaRPr>
          </a:p>
          <a:p>
            <a:pPr lvl="2"/>
            <a:r>
              <a:rPr lang="zh-CN" altLang="en-US" sz="2000" b="1" dirty="0">
                <a:ea typeface="宋体" panose="02010600030101010101" pitchFamily="2" charset="-122"/>
              </a:rPr>
              <a:t>允许控制从</a:t>
            </a:r>
            <a:r>
              <a:rPr lang="en-US" altLang="zh-CN" sz="2000" b="1" dirty="0">
                <a:ea typeface="宋体" panose="02010600030101010101" pitchFamily="2" charset="-122"/>
              </a:rPr>
              <a:t>S.code</a:t>
            </a:r>
            <a:r>
              <a:rPr lang="zh-CN" altLang="en-US" sz="2000" b="1" dirty="0">
                <a:ea typeface="宋体" panose="02010600030101010101" pitchFamily="2" charset="-122"/>
              </a:rPr>
              <a:t>中流到紧接</a:t>
            </a:r>
            <a:r>
              <a:rPr lang="en-US" altLang="zh-CN" sz="2000" b="1" dirty="0">
                <a:ea typeface="宋体" panose="02010600030101010101" pitchFamily="2" charset="-122"/>
              </a:rPr>
              <a:t>S.code</a:t>
            </a:r>
            <a:r>
              <a:rPr lang="zh-CN" altLang="en-US" sz="2000" b="1" dirty="0">
                <a:ea typeface="宋体" panose="02010600030101010101" pitchFamily="2" charset="-122"/>
              </a:rPr>
              <a:t>的三地址代码</a:t>
            </a:r>
            <a:endParaRPr lang="zh-CN" altLang="en-US" sz="2000" b="1" dirty="0">
              <a:ea typeface="宋体" panose="02010600030101010101" pitchFamily="2" charset="-122"/>
            </a:endParaRPr>
          </a:p>
          <a:p>
            <a:pPr lvl="2"/>
            <a:r>
              <a:rPr lang="zh-CN" altLang="en-US" sz="2000" b="1" dirty="0">
                <a:ea typeface="宋体" panose="02010600030101010101" pitchFamily="2" charset="-122"/>
              </a:rPr>
              <a:t>继承属性</a:t>
            </a:r>
            <a:r>
              <a:rPr lang="en-US" altLang="zh-CN" sz="2000" b="1" dirty="0">
                <a:ea typeface="宋体" panose="02010600030101010101" pitchFamily="2" charset="-122"/>
              </a:rPr>
              <a:t>S.next</a:t>
            </a:r>
            <a:r>
              <a:rPr lang="zh-CN" altLang="en-US" sz="2000" b="1" dirty="0">
                <a:ea typeface="宋体" panose="02010600030101010101" pitchFamily="2" charset="-122"/>
              </a:rPr>
              <a:t>的引入：</a:t>
            </a:r>
            <a:endParaRPr lang="zh-CN" altLang="en-US" sz="2000" b="1" dirty="0">
              <a:ea typeface="宋体" panose="02010600030101010101" pitchFamily="2" charset="-122"/>
            </a:endParaRPr>
          </a:p>
          <a:p>
            <a:pPr lvl="3"/>
            <a:r>
              <a:rPr lang="zh-CN" altLang="en-US" sz="1800" b="1" dirty="0">
                <a:ea typeface="宋体" panose="02010600030101010101" pitchFamily="2" charset="-122"/>
              </a:rPr>
              <a:t>如果紧接</a:t>
            </a:r>
            <a:r>
              <a:rPr lang="en-US" altLang="zh-CN" sz="1800" b="1" dirty="0">
                <a:ea typeface="宋体" panose="02010600030101010101" pitchFamily="2" charset="-122"/>
              </a:rPr>
              <a:t>S.code</a:t>
            </a:r>
            <a:r>
              <a:rPr lang="zh-CN" altLang="en-US" sz="1800" b="1" dirty="0">
                <a:ea typeface="宋体" panose="02010600030101010101" pitchFamily="2" charset="-122"/>
              </a:rPr>
              <a:t>的指令是转移到某个标号</a:t>
            </a:r>
            <a:r>
              <a:rPr lang="en-US" altLang="zh-CN" sz="1800" b="1" dirty="0">
                <a:ea typeface="宋体" panose="02010600030101010101" pitchFamily="2" charset="-122"/>
              </a:rPr>
              <a:t>L，</a:t>
            </a:r>
            <a:r>
              <a:rPr lang="zh-CN" altLang="en-US" sz="1800" b="1" dirty="0">
                <a:ea typeface="宋体" panose="02010600030101010101" pitchFamily="2" charset="-122"/>
              </a:rPr>
              <a:t>用</a:t>
            </a:r>
            <a:r>
              <a:rPr lang="en-US" altLang="zh-CN" sz="1800" b="1" dirty="0">
                <a:ea typeface="宋体" panose="02010600030101010101" pitchFamily="2" charset="-122"/>
              </a:rPr>
              <a:t>S.next</a:t>
            </a:r>
            <a:r>
              <a:rPr lang="zh-CN" altLang="en-US" sz="1800" b="1" dirty="0">
                <a:ea typeface="宋体" panose="02010600030101010101" pitchFamily="2" charset="-122"/>
              </a:rPr>
              <a:t>避免从</a:t>
            </a:r>
            <a:r>
              <a:rPr lang="en-US" altLang="zh-CN" sz="1800" b="1" dirty="0">
                <a:ea typeface="宋体" panose="02010600030101010101" pitchFamily="2" charset="-122"/>
              </a:rPr>
              <a:t>S.code</a:t>
            </a:r>
            <a:r>
              <a:rPr lang="zh-CN" altLang="en-US" sz="1800" b="1" dirty="0">
                <a:ea typeface="宋体" panose="02010600030101010101" pitchFamily="2" charset="-122"/>
              </a:rPr>
              <a:t>中转移到一个转移指令这样的连续转移</a:t>
            </a:r>
            <a:endParaRPr lang="zh-CN" altLang="en-US" sz="1800" b="1" dirty="0">
              <a:ea typeface="宋体" panose="02010600030101010101" pitchFamily="2" charset="-122"/>
            </a:endParaRPr>
          </a:p>
          <a:p>
            <a:pPr lvl="3"/>
            <a:r>
              <a:rPr lang="en-US" altLang="zh-CN" sz="1800" b="1" dirty="0">
                <a:ea typeface="宋体" panose="02010600030101010101" pitchFamily="2" charset="-122"/>
              </a:rPr>
              <a:t>S.next</a:t>
            </a:r>
            <a:r>
              <a:rPr lang="zh-CN" altLang="en-US" sz="1800" b="1" dirty="0">
                <a:ea typeface="宋体" panose="02010600030101010101" pitchFamily="2" charset="-122"/>
              </a:rPr>
              <a:t>的值是标号，指向</a:t>
            </a:r>
            <a:r>
              <a:rPr lang="en-US" altLang="zh-CN" sz="1800" b="1" dirty="0">
                <a:ea typeface="宋体" panose="02010600030101010101" pitchFamily="2" charset="-122"/>
              </a:rPr>
              <a:t>S</a:t>
            </a:r>
            <a:r>
              <a:rPr lang="zh-CN" altLang="en-US" sz="1800" b="1" dirty="0">
                <a:ea typeface="宋体" panose="02010600030101010101" pitchFamily="2" charset="-122"/>
              </a:rPr>
              <a:t>的代码执行后应执行的第一个三地址代码</a:t>
            </a:r>
            <a:endParaRPr lang="zh-CN" altLang="en-US" sz="1800" b="1" dirty="0">
              <a:ea typeface="宋体" panose="02010600030101010101" pitchFamily="2" charset="-122"/>
            </a:endParaRPr>
          </a:p>
        </p:txBody>
      </p:sp>
    </p:spTree>
  </p:cSld>
  <p:clrMapOvr>
    <a:masterClrMapping/>
  </p:clrMapOvr>
  <p:transition spd="slow"/>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96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布尔表达式（8）</a:t>
            </a:r>
            <a:endParaRPr lang="zh-CN" altLang="en-US" dirty="0">
              <a:latin typeface="Times New Roman" panose="02020603050405020304" pitchFamily="18" charset="0"/>
              <a:ea typeface="宋体" panose="02010600030101010101" pitchFamily="2" charset="-122"/>
            </a:endParaRPr>
          </a:p>
        </p:txBody>
      </p:sp>
      <p:sp>
        <p:nvSpPr>
          <p:cNvPr id="239619" name="Rectangle 3"/>
          <p:cNvSpPr>
            <a:spLocks noGrp="1"/>
          </p:cNvSpPr>
          <p:nvPr>
            <p:ph idx="1"/>
          </p:nvPr>
        </p:nvSpPr>
        <p:spPr>
          <a:xfrm>
            <a:off x="990600" y="1524000"/>
            <a:ext cx="7391400" cy="4800600"/>
          </a:xfrm>
        </p:spPr>
        <p:txBody>
          <a:bodyPr vert="horz" wrap="square" lIns="92075" tIns="46038" rIns="92075" bIns="46038" anchor="t" anchorCtr="0"/>
          <a:p>
            <a:pPr lvl="1"/>
            <a:r>
              <a:rPr lang="zh-CN" altLang="en-US" sz="2200" b="1" dirty="0">
                <a:ea typeface="宋体" panose="02010600030101010101" pitchFamily="2" charset="-122"/>
              </a:rPr>
              <a:t>控制流语句的翻译</a:t>
            </a:r>
            <a:endParaRPr lang="en-US" altLang="zh-CN" sz="2200" b="1" dirty="0">
              <a:ea typeface="宋体" panose="02010600030101010101" pitchFamily="2" charset="-122"/>
            </a:endParaRPr>
          </a:p>
          <a:p>
            <a:pPr lvl="2"/>
            <a:r>
              <a:rPr lang="zh-CN" altLang="en-US" sz="2000" b="1" dirty="0">
                <a:ea typeface="宋体" panose="02010600030101010101" pitchFamily="2" charset="-122"/>
              </a:rPr>
              <a:t>引入综合属性</a:t>
            </a:r>
            <a:r>
              <a:rPr lang="en-US" altLang="zh-CN" sz="2000" b="1" dirty="0">
                <a:ea typeface="宋体" panose="02010600030101010101" pitchFamily="2" charset="-122"/>
              </a:rPr>
              <a:t>code</a:t>
            </a:r>
            <a:r>
              <a:rPr lang="zh-CN" altLang="en-US" sz="2000" b="1" dirty="0">
                <a:ea typeface="宋体" panose="02010600030101010101" pitchFamily="2" charset="-122"/>
              </a:rPr>
              <a:t>，给出翻译得到的三地址代码</a:t>
            </a:r>
            <a:endParaRPr lang="en-US" altLang="zh-CN" sz="2000" b="1" dirty="0">
              <a:ea typeface="宋体" panose="02010600030101010101" pitchFamily="2" charset="-122"/>
            </a:endParaRPr>
          </a:p>
          <a:p>
            <a:pPr lvl="2"/>
            <a:r>
              <a:rPr lang="zh-CN" altLang="en-US" sz="2000" b="1" dirty="0">
                <a:ea typeface="宋体" panose="02010600030101010101" pitchFamily="2" charset="-122"/>
              </a:rPr>
              <a:t>首先构造语法树，并在遍历树的过程中产生目标代码</a:t>
            </a:r>
            <a:endParaRPr lang="en-US" altLang="zh-CN" sz="2000" b="1" dirty="0">
              <a:ea typeface="宋体" panose="02010600030101010101" pitchFamily="2" charset="-122"/>
            </a:endParaRPr>
          </a:p>
          <a:p>
            <a:pPr lvl="3"/>
            <a:r>
              <a:rPr lang="zh-CN" altLang="en-US" sz="1800" b="1" dirty="0">
                <a:ea typeface="宋体" panose="02010600030101010101" pitchFamily="2" charset="-122"/>
              </a:rPr>
              <a:t>采用</a:t>
            </a:r>
            <a:r>
              <a:rPr lang="en-US" altLang="zh-CN" sz="1800" b="1" dirty="0">
                <a:ea typeface="宋体" panose="02010600030101010101" pitchFamily="2" charset="-122"/>
              </a:rPr>
              <a:t>5.5</a:t>
            </a:r>
            <a:r>
              <a:rPr lang="zh-CN" altLang="en-US" sz="1800" b="1" dirty="0">
                <a:ea typeface="宋体" panose="02010600030101010101" pitchFamily="2" charset="-122"/>
              </a:rPr>
              <a:t>节介绍的方法即可</a:t>
            </a:r>
            <a:endParaRPr lang="en-US" altLang="zh-CN" sz="1800" b="1" dirty="0">
              <a:ea typeface="宋体" panose="02010600030101010101" pitchFamily="2" charset="-122"/>
            </a:endParaRPr>
          </a:p>
          <a:p>
            <a:pPr lvl="1"/>
            <a:r>
              <a:rPr lang="zh-CN" altLang="en-US" sz="2200" b="1" dirty="0">
                <a:ea typeface="宋体" panose="02010600030101010101" pitchFamily="2" charset="-122"/>
              </a:rPr>
              <a:t>符号标号的处理：</a:t>
            </a:r>
            <a:endParaRPr lang="zh-CN" altLang="en-US" sz="2200" b="1" dirty="0">
              <a:ea typeface="宋体" panose="02010600030101010101" pitchFamily="2" charset="-122"/>
            </a:endParaRPr>
          </a:p>
          <a:p>
            <a:pPr lvl="2"/>
            <a:r>
              <a:rPr lang="zh-CN" altLang="en-US" sz="2000" b="1" dirty="0">
                <a:ea typeface="宋体" panose="02010600030101010101" pitchFamily="2" charset="-122"/>
              </a:rPr>
              <a:t>符号标号的生成：函数</a:t>
            </a:r>
            <a:r>
              <a:rPr lang="en-US" altLang="zh-CN" sz="2000" b="1" dirty="0">
                <a:ea typeface="宋体" panose="02010600030101010101" pitchFamily="2" charset="-122"/>
              </a:rPr>
              <a:t>newlabel</a:t>
            </a:r>
            <a:r>
              <a:rPr lang="zh-CN" altLang="en-US" sz="2000" b="1" dirty="0">
                <a:ea typeface="宋体" panose="02010600030101010101" pitchFamily="2" charset="-122"/>
              </a:rPr>
              <a:t>每次调用时返回一个新的符号标号</a:t>
            </a:r>
            <a:endParaRPr lang="zh-CN" altLang="en-US" sz="2000" b="1" dirty="0">
              <a:ea typeface="宋体" panose="02010600030101010101" pitchFamily="2" charset="-122"/>
            </a:endParaRPr>
          </a:p>
          <a:p>
            <a:pPr lvl="2"/>
            <a:r>
              <a:rPr lang="zh-CN" altLang="en-US" sz="2000" b="1" dirty="0">
                <a:ea typeface="宋体" panose="02010600030101010101" pitchFamily="2" charset="-122"/>
              </a:rPr>
              <a:t>符号标号的引入：对每个布尔表达式</a:t>
            </a:r>
            <a:r>
              <a:rPr lang="en-US" altLang="zh-CN" sz="2000" b="1" dirty="0">
                <a:ea typeface="宋体" panose="02010600030101010101" pitchFamily="2" charset="-122"/>
              </a:rPr>
              <a:t>B</a:t>
            </a:r>
            <a:r>
              <a:rPr lang="zh-CN" altLang="en-US" sz="2000" b="1" dirty="0">
                <a:ea typeface="宋体" panose="02010600030101010101" pitchFamily="2" charset="-122"/>
              </a:rPr>
              <a:t>引入两个标号</a:t>
            </a:r>
            <a:endParaRPr lang="zh-CN" altLang="en-US" sz="2000" b="1" dirty="0">
              <a:ea typeface="宋体" panose="02010600030101010101" pitchFamily="2" charset="-122"/>
            </a:endParaRPr>
          </a:p>
          <a:p>
            <a:pPr lvl="3"/>
            <a:r>
              <a:rPr lang="en-US" altLang="zh-CN" sz="1800" b="1" dirty="0">
                <a:ea typeface="宋体" panose="02010600030101010101" pitchFamily="2" charset="-122"/>
              </a:rPr>
              <a:t>B.true：B</a:t>
            </a:r>
            <a:r>
              <a:rPr lang="zh-CN" altLang="en-US" sz="1800" b="1" dirty="0">
                <a:ea typeface="宋体" panose="02010600030101010101" pitchFamily="2" charset="-122"/>
              </a:rPr>
              <a:t>为真时控制流向的标号</a:t>
            </a:r>
            <a:endParaRPr lang="zh-CN" altLang="en-US" sz="1800" b="1" dirty="0">
              <a:ea typeface="宋体" panose="02010600030101010101" pitchFamily="2" charset="-122"/>
            </a:endParaRPr>
          </a:p>
          <a:p>
            <a:pPr lvl="3"/>
            <a:r>
              <a:rPr lang="en-US" altLang="zh-CN" sz="1800" b="1" dirty="0">
                <a:ea typeface="宋体" panose="02010600030101010101" pitchFamily="2" charset="-122"/>
              </a:rPr>
              <a:t>B.false：B</a:t>
            </a:r>
            <a:r>
              <a:rPr lang="zh-CN" altLang="en-US" sz="1800" b="1" dirty="0">
                <a:ea typeface="宋体" panose="02010600030101010101" pitchFamily="2" charset="-122"/>
              </a:rPr>
              <a:t>为假时控制流向的标号</a:t>
            </a:r>
            <a:endParaRPr lang="en-US" altLang="zh-CN" sz="2200" b="1" dirty="0">
              <a:ea typeface="宋体" panose="02010600030101010101" pitchFamily="2" charset="-122"/>
            </a:endParaRPr>
          </a:p>
          <a:p>
            <a:pPr lvl="2"/>
            <a:endParaRPr lang="en-US" altLang="zh-CN" sz="1800" b="1" dirty="0">
              <a:ea typeface="宋体" panose="02010600030101010101" pitchFamily="2" charset="-122"/>
            </a:endParaRPr>
          </a:p>
        </p:txBody>
      </p:sp>
    </p:spTree>
  </p:cSld>
  <p:clrMapOvr>
    <a:masterClrMapping/>
  </p:clrMapOvr>
  <p:transition spd="slow"/>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1666" name="Picture 2"/>
          <p:cNvPicPr>
            <a:picLocks noChangeAspect="1"/>
          </p:cNvPicPr>
          <p:nvPr/>
        </p:nvPicPr>
        <p:blipFill>
          <a:blip r:embed="rId1"/>
          <a:stretch>
            <a:fillRect/>
          </a:stretch>
        </p:blipFill>
        <p:spPr>
          <a:xfrm>
            <a:off x="609600" y="457200"/>
            <a:ext cx="7924800" cy="5951538"/>
          </a:xfrm>
          <a:prstGeom prst="rect">
            <a:avLst/>
          </a:prstGeom>
          <a:noFill/>
          <a:ln w="9525">
            <a:noFill/>
          </a:ln>
        </p:spPr>
      </p:pic>
    </p:spTree>
  </p:cSld>
  <p:clrMapOvr>
    <a:masterClrMapping/>
  </p:clrMapOvr>
  <p:transition spd="slow"/>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2690" name="Picture 2"/>
          <p:cNvPicPr>
            <a:picLocks noChangeAspect="1"/>
          </p:cNvPicPr>
          <p:nvPr/>
        </p:nvPicPr>
        <p:blipFill>
          <a:blip r:embed="rId1"/>
          <a:stretch>
            <a:fillRect/>
          </a:stretch>
        </p:blipFill>
        <p:spPr>
          <a:xfrm>
            <a:off x="1524000" y="0"/>
            <a:ext cx="5911850" cy="6637338"/>
          </a:xfrm>
          <a:prstGeom prst="rect">
            <a:avLst/>
          </a:prstGeom>
          <a:noFill/>
          <a:ln w="9525">
            <a:noFill/>
          </a:ln>
        </p:spPr>
      </p:pic>
    </p:spTree>
  </p:cSld>
  <p:clrMapOvr>
    <a:masterClrMapping/>
  </p:clrMapOvr>
  <p:transition spd="slow"/>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371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布尔表达式（</a:t>
            </a:r>
            <a:r>
              <a:rPr lang="en-US" altLang="zh-CN" dirty="0">
                <a:latin typeface="Times New Roman" panose="02020603050405020304" pitchFamily="18" charset="0"/>
                <a:ea typeface="宋体" panose="02010600030101010101" pitchFamily="2" charset="-122"/>
              </a:rPr>
              <a:t>9</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41667" name="Rectangle 3"/>
          <p:cNvSpPr>
            <a:spLocks noGrp="1" noChangeArrowheads="1"/>
          </p:cNvSpPr>
          <p:nvPr>
            <p:ph idx="1"/>
          </p:nvPr>
        </p:nvSpPr>
        <p:spPr>
          <a:xfrm>
            <a:off x="468313" y="1371600"/>
            <a:ext cx="8280400"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布尔表达式的控制流翻译</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实现图</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6-36</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中布尔表达式的翻译</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借鉴图</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6-35</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，布尔表达式</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翻译为一个三地址指令，通过跳转的目标标号，来表征</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的真假值</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关系表达式</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000" b="0" i="1"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E</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2000" b="0"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rel</a:t>
            </a:r>
            <a:r>
              <a:rPr kumimoji="0" lang="zh-CN" altLang="en-US" sz="2000" b="0"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E</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，直接翻译成三地址比较指令，跳转到正确位置，如</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a&lt;b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翻译为：</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if</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 &lt; b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goto</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B.true</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goto</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B.false</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对于</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000" b="0" i="1"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 || 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，考虑短路代码</a:t>
            </a:r>
            <a:endPar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如果</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为真，则整个表达式为真，因此</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.true</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B.true</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相同</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如果</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为假，则要计算</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，因此</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.false</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为</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的入口指令的标号</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的真假出口分别等于</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的真假出口</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对于</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&amp;&amp; B</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，与</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B</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类似处理</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不需要为</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B</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生成新代码，交换真假出口即可</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将常量</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true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false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分别翻译成目标为</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B.true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B.false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的跳转指令</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5762" name="Picture 2"/>
          <p:cNvPicPr>
            <a:picLocks noChangeAspect="1"/>
          </p:cNvPicPr>
          <p:nvPr/>
        </p:nvPicPr>
        <p:blipFill>
          <a:blip r:embed="rId1"/>
          <a:stretch>
            <a:fillRect/>
          </a:stretch>
        </p:blipFill>
        <p:spPr>
          <a:xfrm>
            <a:off x="1295400" y="0"/>
            <a:ext cx="6858000" cy="6596063"/>
          </a:xfrm>
          <a:prstGeom prst="rect">
            <a:avLst/>
          </a:prstGeom>
          <a:noFill/>
          <a:ln w="9525">
            <a:noFill/>
          </a:ln>
        </p:spPr>
      </p:pic>
    </p:spTree>
  </p:cSld>
  <p:clrMapOvr>
    <a:masterClrMapping/>
  </p:clrMapOvr>
  <p:transition spd="slow"/>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678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布尔表达式（1</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46787" name="Rectangle 3"/>
          <p:cNvSpPr>
            <a:spLocks noGrp="1"/>
          </p:cNvSpPr>
          <p:nvPr>
            <p:ph idx="1"/>
          </p:nvPr>
        </p:nvSpPr>
        <p:spPr>
          <a:xfrm>
            <a:off x="827088" y="1371600"/>
            <a:ext cx="7758112" cy="4953000"/>
          </a:xfrm>
        </p:spPr>
        <p:txBody>
          <a:bodyPr vert="horz" wrap="square" lIns="92075" tIns="46038" rIns="92075" bIns="46038" anchor="t" anchorCtr="0"/>
          <a:p>
            <a:r>
              <a:rPr lang="zh-CN" altLang="en-US" sz="2400" b="1" dirty="0">
                <a:ea typeface="宋体" panose="02010600030101010101" pitchFamily="2" charset="-122"/>
              </a:rPr>
              <a:t>例：语句</a:t>
            </a:r>
            <a:r>
              <a:rPr lang="en-US" altLang="zh-CN" sz="2400" b="1" dirty="0">
                <a:ea typeface="宋体" panose="02010600030101010101" pitchFamily="2" charset="-122"/>
              </a:rPr>
              <a:t>if ( x &lt; 100 || x &gt; 200 &amp;&amp; x != y ) x = 0; </a:t>
            </a:r>
            <a:r>
              <a:rPr lang="zh-CN" altLang="en-US" sz="2400" b="1" dirty="0">
                <a:ea typeface="宋体" panose="02010600030101010101" pitchFamily="2" charset="-122"/>
              </a:rPr>
              <a:t>的翻译</a:t>
            </a:r>
            <a:endParaRPr lang="en-US" altLang="zh-CN" sz="2400" b="1" dirty="0">
              <a:ea typeface="宋体" panose="02010600030101010101" pitchFamily="2" charset="-122"/>
            </a:endParaRPr>
          </a:p>
          <a:p>
            <a:pPr lvl="1"/>
            <a:r>
              <a:rPr lang="zh-CN" altLang="en-US" sz="2200" b="1" dirty="0">
                <a:ea typeface="宋体" panose="02010600030101010101" pitchFamily="2" charset="-122"/>
              </a:rPr>
              <a:t>使用控制流翻译形式，不同于例</a:t>
            </a:r>
            <a:r>
              <a:rPr lang="en-US" altLang="zh-CN" sz="2200" b="1" dirty="0">
                <a:ea typeface="宋体" panose="02010600030101010101" pitchFamily="2" charset="-122"/>
              </a:rPr>
              <a:t>6.21</a:t>
            </a:r>
            <a:endParaRPr lang="en-US" altLang="zh-CN" sz="2200" b="1" dirty="0">
              <a:ea typeface="宋体" panose="02010600030101010101" pitchFamily="2" charset="-122"/>
            </a:endParaRPr>
          </a:p>
          <a:p>
            <a:pPr lvl="1"/>
            <a:r>
              <a:rPr lang="zh-CN" altLang="en-US" sz="2200" b="1" dirty="0">
                <a:ea typeface="宋体" panose="02010600030101010101" pitchFamily="2" charset="-122"/>
              </a:rPr>
              <a:t>会产生冗余的标号和</a:t>
            </a:r>
            <a:r>
              <a:rPr lang="en-US" altLang="zh-CN" sz="2200" b="1" dirty="0">
                <a:ea typeface="宋体" panose="02010600030101010101" pitchFamily="2" charset="-122"/>
              </a:rPr>
              <a:t>/</a:t>
            </a:r>
            <a:r>
              <a:rPr lang="zh-CN" altLang="en-US" sz="2200" b="1" dirty="0">
                <a:ea typeface="宋体" panose="02010600030101010101" pitchFamily="2" charset="-122"/>
              </a:rPr>
              <a:t>或跳转指令</a:t>
            </a:r>
            <a:endParaRPr lang="zh-CN" altLang="en-US" sz="2200" b="1" dirty="0">
              <a:ea typeface="宋体" panose="02010600030101010101" pitchFamily="2" charset="-122"/>
            </a:endParaRPr>
          </a:p>
        </p:txBody>
      </p:sp>
      <p:pic>
        <p:nvPicPr>
          <p:cNvPr id="246788" name="Picture 2"/>
          <p:cNvPicPr>
            <a:picLocks noChangeAspect="1"/>
          </p:cNvPicPr>
          <p:nvPr/>
        </p:nvPicPr>
        <p:blipFill>
          <a:blip r:embed="rId1"/>
          <a:stretch>
            <a:fillRect/>
          </a:stretch>
        </p:blipFill>
        <p:spPr>
          <a:xfrm>
            <a:off x="152400" y="2636838"/>
            <a:ext cx="8743950" cy="4164012"/>
          </a:xfrm>
          <a:prstGeom prst="rect">
            <a:avLst/>
          </a:prstGeom>
          <a:noFill/>
          <a:ln w="9525">
            <a:noFill/>
          </a:ln>
        </p:spPr>
      </p:pic>
    </p:spTree>
  </p:cSld>
  <p:clrMapOvr>
    <a:masterClrMapping/>
  </p:clrMapOvr>
  <p:transition spd="slow"/>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883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布尔表达式（1</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49859" name="Rectangle 3"/>
          <p:cNvSpPr>
            <a:spLocks noGrp="1" noChangeArrowheads="1"/>
          </p:cNvSpPr>
          <p:nvPr>
            <p:ph idx="1"/>
          </p:nvPr>
        </p:nvSpPr>
        <p:spPr>
          <a:xfrm>
            <a:off x="395288" y="1371600"/>
            <a:ext cx="8424863" cy="5105400"/>
          </a:xfrm>
        </p:spPr>
        <p:txBody>
          <a:bodyPr vert="horz" wrap="square" lIns="92075" tIns="46038" rIns="92075" bIns="46038" numCol="1" anchor="t" anchorCtr="0" compatLnSpc="1"/>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避免生成冗余的</a:t>
            </a:r>
            <a:r>
              <a:rPr kumimoji="0"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goto</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指令</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利用控制流在指令序列中会从一个指令自然流动到下一个指令的性质</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方式一：调整</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if</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语句的判别方式，避免冗余</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rPr>
              <a:t>goto</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例</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6.22</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中，</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&gt; 200</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的翻译</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if</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 &gt; 200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goto</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L</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4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ifFalse</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x &gt; 200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goto</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L</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1</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goto</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L</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1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4</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4</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方式二：对于</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if</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while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等语句引入特殊标号</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fall</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（意为不要生成任何跳转指令），实现控制的直接转换</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例：修改图</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6-36</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6-37</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的语义规则，实现控制从</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直接转换到</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的代码，如将产生式</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if</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1800" b="1"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的新语义规则中</a:t>
            </a:r>
            <a:r>
              <a:rPr kumimoji="0" lang="en-US" altLang="zh-CN" sz="1800" b="0" i="1" u="none" strike="noStrike" kern="0" cap="none" spc="0" normalizeH="0" baseline="0" noProof="0" dirty="0" err="1">
                <a:ln>
                  <a:noFill/>
                </a:ln>
                <a:solidFill>
                  <a:schemeClr val="tx1"/>
                </a:solidFill>
                <a:effectLst/>
                <a:uLnTx/>
                <a:uFillTx/>
                <a:latin typeface="+mn-lt"/>
                <a:ea typeface="宋体" panose="02010600030101010101" pitchFamily="2" charset="-122"/>
              </a:rPr>
              <a:t>B.true</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置为</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fall</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0" i="1" u="none" strike="noStrike" kern="0" cap="none" spc="0" normalizeH="0" baseline="0" noProof="0" dirty="0" err="1">
                <a:ln>
                  <a:noFill/>
                </a:ln>
                <a:solidFill>
                  <a:schemeClr val="tx1"/>
                </a:solidFill>
                <a:effectLst/>
                <a:uLnTx/>
                <a:uFillTx/>
                <a:latin typeface="+mn-lt"/>
                <a:ea typeface="宋体" panose="02010600030101010101" pitchFamily="2" charset="-122"/>
              </a:rPr>
              <a:t>B.true</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 = fall</a:t>
            </a:r>
            <a:endPar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0" i="1" u="none" strike="noStrike" kern="0" cap="none" spc="0" normalizeH="0" baseline="0" noProof="0" dirty="0" err="1">
                <a:ln>
                  <a:noFill/>
                </a:ln>
                <a:solidFill>
                  <a:schemeClr val="tx1"/>
                </a:solidFill>
                <a:effectLst/>
                <a:uLnTx/>
                <a:uFillTx/>
                <a:latin typeface="+mn-lt"/>
                <a:ea typeface="宋体" panose="02010600030101010101" pitchFamily="2" charset="-122"/>
              </a:rPr>
              <a:t>B.false</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 = S</a:t>
            </a:r>
            <a:r>
              <a:rPr kumimoji="0" lang="en-US" altLang="zh-CN" sz="18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.next = </a:t>
            </a:r>
            <a:r>
              <a:rPr kumimoji="0" lang="en-US" altLang="zh-CN" sz="1800" b="0" i="1" u="none" strike="noStrike" kern="0" cap="none" spc="0" normalizeH="0" baseline="0" noProof="0" dirty="0" err="1">
                <a:ln>
                  <a:noFill/>
                </a:ln>
                <a:solidFill>
                  <a:schemeClr val="tx1"/>
                </a:solidFill>
                <a:effectLst/>
                <a:uLnTx/>
                <a:uFillTx/>
                <a:latin typeface="+mn-lt"/>
                <a:ea typeface="宋体" panose="02010600030101010101" pitchFamily="2" charset="-122"/>
              </a:rPr>
              <a:t>S.next</a:t>
            </a:r>
            <a:endPar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0" i="1" u="none" strike="noStrike" kern="0" cap="none" spc="0" normalizeH="0" baseline="0" noProof="0" dirty="0" err="1">
                <a:ln>
                  <a:noFill/>
                </a:ln>
                <a:solidFill>
                  <a:schemeClr val="tx1"/>
                </a:solidFill>
                <a:effectLst/>
                <a:uLnTx/>
                <a:uFillTx/>
                <a:latin typeface="+mn-lt"/>
                <a:ea typeface="宋体" panose="02010600030101010101" pitchFamily="2" charset="-122"/>
              </a:rPr>
              <a:t>S.code</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800" b="0" i="1" u="none" strike="noStrike" kern="0" cap="none" spc="0" normalizeH="0" baseline="0" noProof="0" dirty="0" err="1">
                <a:ln>
                  <a:noFill/>
                </a:ln>
                <a:solidFill>
                  <a:schemeClr val="tx1"/>
                </a:solidFill>
                <a:effectLst/>
                <a:uLnTx/>
                <a:uFillTx/>
                <a:latin typeface="+mn-lt"/>
                <a:ea typeface="宋体" panose="02010600030101010101" pitchFamily="2" charset="-122"/>
              </a:rPr>
              <a:t>B.code</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 || S</a:t>
            </a:r>
            <a:r>
              <a:rPr kumimoji="0" lang="en-US" altLang="zh-CN" sz="18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.code</a:t>
            </a:r>
            <a:endPar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
        <p:nvSpPr>
          <p:cNvPr id="248836" name="箭头: 右 1"/>
          <p:cNvSpPr/>
          <p:nvPr/>
        </p:nvSpPr>
        <p:spPr>
          <a:xfrm>
            <a:off x="4211638" y="3429000"/>
            <a:ext cx="576262" cy="215900"/>
          </a:xfrm>
          <a:prstGeom prst="rightArrow">
            <a:avLst>
              <a:gd name="adj1" fmla="val 50000"/>
              <a:gd name="adj2" fmla="val 50045"/>
            </a:avLst>
          </a:prstGeom>
          <a:solidFill>
            <a:schemeClr val="tx1"/>
          </a:solidFill>
          <a:ln w="22225" cap="flat" cmpd="sng">
            <a:solidFill>
              <a:schemeClr val="tx1"/>
            </a:solidFill>
            <a:prstDash val="solid"/>
            <a:round/>
            <a:headEnd type="none" w="sm" len="sm"/>
            <a:tailEnd type="triangle" w="lg" len="med"/>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Tree>
  </p:cSld>
  <p:clrMapOvr>
    <a:masterClrMapping/>
  </p:clrMapOvr>
  <p:transition spd="slow"/>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088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布尔表达式（1</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50883" name="Rectangle 3"/>
          <p:cNvSpPr>
            <a:spLocks noGrp="1"/>
          </p:cNvSpPr>
          <p:nvPr>
            <p:ph idx="1"/>
          </p:nvPr>
        </p:nvSpPr>
        <p:spPr>
          <a:xfrm>
            <a:off x="395288" y="1371600"/>
            <a:ext cx="8497887" cy="5105400"/>
          </a:xfrm>
        </p:spPr>
        <p:txBody>
          <a:bodyPr vert="horz" wrap="square" lIns="92075" tIns="46038" rIns="92075" bIns="46038" anchor="t" anchorCtr="0"/>
          <a:p>
            <a:pPr>
              <a:lnSpc>
                <a:spcPct val="90000"/>
              </a:lnSpc>
            </a:pPr>
            <a:r>
              <a:rPr lang="zh-CN" altLang="en-US" sz="2400" b="1" dirty="0">
                <a:ea typeface="宋体" panose="02010600030101010101" pitchFamily="2" charset="-122"/>
              </a:rPr>
              <a:t>修改布尔表达式的语义规则，使之尽可能允许控制流穿越</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在</a:t>
            </a:r>
            <a:r>
              <a:rPr lang="en-US" altLang="zh-CN" sz="2200" b="1" dirty="0">
                <a:ea typeface="宋体" panose="02010600030101010101" pitchFamily="2" charset="-122"/>
              </a:rPr>
              <a:t>B</a:t>
            </a:r>
            <a:r>
              <a:rPr lang="zh-CN" altLang="en-US" sz="2200" b="1" dirty="0">
                <a:ea typeface="宋体" panose="02010600030101010101" pitchFamily="2" charset="-122"/>
              </a:rPr>
              <a:t>的真或假出口可能是</a:t>
            </a:r>
            <a:r>
              <a:rPr lang="en-US" altLang="zh-CN" sz="2200" b="1" dirty="0">
                <a:ea typeface="宋体" panose="02010600030101010101" pitchFamily="2" charset="-122"/>
              </a:rPr>
              <a:t>fall</a:t>
            </a:r>
            <a:r>
              <a:rPr lang="zh-CN" altLang="en-US" sz="2200" b="1" dirty="0">
                <a:ea typeface="宋体" panose="02010600030101010101" pitchFamily="2" charset="-122"/>
              </a:rPr>
              <a:t>时，对</a:t>
            </a:r>
            <a:r>
              <a:rPr lang="en-US" altLang="zh-CN" sz="2200" i="1" dirty="0">
                <a:ea typeface="宋体" panose="02010600030101010101" pitchFamily="2" charset="-122"/>
              </a:rPr>
              <a:t>B</a:t>
            </a:r>
            <a:r>
              <a:rPr lang="zh-CN" altLang="en-US" i="1" dirty="0">
                <a:ea typeface="宋体" panose="02010600030101010101" pitchFamily="2" charset="-122"/>
              </a:rPr>
              <a:t>→</a:t>
            </a:r>
            <a:r>
              <a:rPr lang="en-US" altLang="zh-CN" i="1" dirty="0">
                <a:ea typeface="宋体" panose="02010600030101010101" pitchFamily="2" charset="-122"/>
              </a:rPr>
              <a:t>E</a:t>
            </a:r>
            <a:r>
              <a:rPr lang="en-US" altLang="zh-CN" i="1" baseline="-25000" dirty="0">
                <a:ea typeface="宋体" panose="02010600030101010101" pitchFamily="2" charset="-122"/>
              </a:rPr>
              <a:t>1</a:t>
            </a:r>
            <a:r>
              <a:rPr lang="zh-CN" altLang="en-US" i="1" dirty="0">
                <a:ea typeface="宋体" panose="02010600030101010101" pitchFamily="2" charset="-122"/>
              </a:rPr>
              <a:t> </a:t>
            </a:r>
            <a:r>
              <a:rPr lang="en-US" altLang="zh-CN" b="1" dirty="0">
                <a:ea typeface="宋体" panose="02010600030101010101" pitchFamily="2" charset="-122"/>
              </a:rPr>
              <a:t>rel</a:t>
            </a:r>
            <a:r>
              <a:rPr lang="zh-CN" altLang="en-US" i="1" dirty="0">
                <a:ea typeface="宋体" panose="02010600030101010101" pitchFamily="2" charset="-122"/>
              </a:rPr>
              <a:t> </a:t>
            </a:r>
            <a:r>
              <a:rPr lang="en-US" altLang="zh-CN" i="1" dirty="0">
                <a:ea typeface="宋体" panose="02010600030101010101" pitchFamily="2" charset="-122"/>
              </a:rPr>
              <a:t>E</a:t>
            </a:r>
            <a:r>
              <a:rPr lang="en-US" altLang="zh-CN" i="1" baseline="-25000" dirty="0">
                <a:ea typeface="宋体" panose="02010600030101010101" pitchFamily="2" charset="-122"/>
              </a:rPr>
              <a:t>2</a:t>
            </a:r>
            <a:r>
              <a:rPr lang="zh-CN" altLang="en-US" b="1" dirty="0">
                <a:ea typeface="宋体" panose="02010600030101010101" pitchFamily="2" charset="-122"/>
              </a:rPr>
              <a:t>的翻译</a:t>
            </a:r>
            <a:endParaRPr lang="en-US" altLang="zh-CN" sz="2200" b="1" dirty="0">
              <a:ea typeface="宋体" panose="02010600030101010101" pitchFamily="2" charset="-122"/>
            </a:endParaRPr>
          </a:p>
          <a:p>
            <a:pPr lvl="1">
              <a:lnSpc>
                <a:spcPct val="90000"/>
              </a:lnSpc>
            </a:pPr>
            <a:endParaRPr lang="en-US" altLang="zh-CN" sz="2200" b="1" dirty="0">
              <a:ea typeface="宋体" panose="02010600030101010101" pitchFamily="2" charset="-122"/>
            </a:endParaRPr>
          </a:p>
          <a:p>
            <a:pPr lvl="1">
              <a:lnSpc>
                <a:spcPct val="90000"/>
              </a:lnSpc>
            </a:pPr>
            <a:endParaRPr lang="en-US" altLang="zh-CN" sz="2200" b="1" dirty="0">
              <a:ea typeface="宋体" panose="02010600030101010101" pitchFamily="2" charset="-122"/>
            </a:endParaRPr>
          </a:p>
          <a:p>
            <a:pPr lvl="1">
              <a:lnSpc>
                <a:spcPct val="90000"/>
              </a:lnSpc>
            </a:pPr>
            <a:endParaRPr lang="en-US" altLang="zh-CN" sz="2200" b="1" dirty="0">
              <a:ea typeface="宋体" panose="02010600030101010101" pitchFamily="2" charset="-122"/>
            </a:endParaRPr>
          </a:p>
          <a:p>
            <a:pPr lvl="1">
              <a:lnSpc>
                <a:spcPct val="90000"/>
              </a:lnSpc>
            </a:pPr>
            <a:endParaRPr lang="en-US" altLang="zh-CN" sz="2200" b="1" dirty="0">
              <a:ea typeface="宋体" panose="02010600030101010101" pitchFamily="2" charset="-122"/>
            </a:endParaRPr>
          </a:p>
          <a:p>
            <a:pPr lvl="1">
              <a:lnSpc>
                <a:spcPct val="90000"/>
              </a:lnSpc>
            </a:pPr>
            <a:endParaRPr lang="en-US" altLang="zh-CN" b="1" dirty="0">
              <a:ea typeface="宋体" panose="02010600030101010101" pitchFamily="2" charset="-122"/>
            </a:endParaRPr>
          </a:p>
          <a:p>
            <a:pPr lvl="1">
              <a:lnSpc>
                <a:spcPct val="90000"/>
              </a:lnSpc>
            </a:pPr>
            <a:endParaRPr lang="en-US" altLang="zh-CN" b="1" dirty="0">
              <a:ea typeface="宋体" panose="02010600030101010101" pitchFamily="2" charset="-122"/>
            </a:endParaRPr>
          </a:p>
          <a:p>
            <a:pPr lvl="1">
              <a:lnSpc>
                <a:spcPct val="90000"/>
              </a:lnSpc>
            </a:pPr>
            <a:endParaRPr lang="en-US" altLang="zh-CN" b="1" dirty="0">
              <a:ea typeface="宋体" panose="02010600030101010101" pitchFamily="2" charset="-122"/>
            </a:endParaRPr>
          </a:p>
          <a:p>
            <a:pPr lvl="1">
              <a:lnSpc>
                <a:spcPct val="90000"/>
              </a:lnSpc>
            </a:pPr>
            <a:endParaRPr lang="en-US" altLang="zh-CN" b="1" dirty="0">
              <a:ea typeface="宋体" panose="02010600030101010101" pitchFamily="2" charset="-122"/>
            </a:endParaRPr>
          </a:p>
          <a:p>
            <a:pPr lvl="1">
              <a:lnSpc>
                <a:spcPct val="90000"/>
              </a:lnSpc>
            </a:pPr>
            <a:r>
              <a:rPr lang="zh-CN" altLang="en-US" b="1" dirty="0">
                <a:ea typeface="宋体" panose="02010600030101010101" pitchFamily="2" charset="-122"/>
              </a:rPr>
              <a:t>上图中，如果</a:t>
            </a:r>
            <a:r>
              <a:rPr lang="en-US" altLang="zh-CN" b="1" dirty="0">
                <a:ea typeface="宋体" panose="02010600030101010101" pitchFamily="2" charset="-122"/>
              </a:rPr>
              <a:t>B.true</a:t>
            </a:r>
            <a:r>
              <a:rPr lang="zh-CN" altLang="en-US" b="1" dirty="0">
                <a:ea typeface="宋体" panose="02010600030101010101" pitchFamily="2" charset="-122"/>
              </a:rPr>
              <a:t>和</a:t>
            </a:r>
            <a:r>
              <a:rPr lang="en-US" altLang="zh-CN" b="1" dirty="0">
                <a:ea typeface="宋体" panose="02010600030101010101" pitchFamily="2" charset="-122"/>
              </a:rPr>
              <a:t>B.false</a:t>
            </a:r>
            <a:r>
              <a:rPr lang="zh-CN" altLang="en-US" b="1" dirty="0">
                <a:ea typeface="宋体" panose="02010600030101010101" pitchFamily="2" charset="-122"/>
              </a:rPr>
              <a:t>都为</a:t>
            </a:r>
            <a:r>
              <a:rPr lang="en-US" altLang="zh-CN" b="1" dirty="0">
                <a:ea typeface="宋体" panose="02010600030101010101" pitchFamily="2" charset="-122"/>
              </a:rPr>
              <a:t>fall</a:t>
            </a:r>
            <a:r>
              <a:rPr lang="zh-CN" altLang="en-US" b="1" dirty="0">
                <a:ea typeface="宋体" panose="02010600030101010101" pitchFamily="2" charset="-122"/>
              </a:rPr>
              <a:t>，不产生任何跳转指令</a:t>
            </a:r>
            <a:endParaRPr lang="en-US" altLang="zh-CN" b="1" dirty="0">
              <a:ea typeface="宋体" panose="02010600030101010101" pitchFamily="2" charset="-122"/>
            </a:endParaRPr>
          </a:p>
          <a:p>
            <a:pPr lvl="2">
              <a:lnSpc>
                <a:spcPct val="90000"/>
              </a:lnSpc>
            </a:pPr>
            <a:r>
              <a:rPr lang="en-US" altLang="zh-CN" b="1" dirty="0">
                <a:ea typeface="宋体" panose="02010600030101010101" pitchFamily="2" charset="-122"/>
              </a:rPr>
              <a:t>C</a:t>
            </a:r>
            <a:r>
              <a:rPr lang="zh-CN" altLang="en-US" b="1" dirty="0">
                <a:ea typeface="宋体" panose="02010600030101010101" pitchFamily="2" charset="-122"/>
              </a:rPr>
              <a:t>和</a:t>
            </a:r>
            <a:r>
              <a:rPr lang="en-US" altLang="zh-CN" b="1" dirty="0">
                <a:ea typeface="宋体" panose="02010600030101010101" pitchFamily="2" charset="-122"/>
              </a:rPr>
              <a:t>Java</a:t>
            </a:r>
            <a:r>
              <a:rPr lang="zh-CN" altLang="en-US" b="1" dirty="0">
                <a:ea typeface="宋体" panose="02010600030101010101" pitchFamily="2" charset="-122"/>
              </a:rPr>
              <a:t>中，表达式都可能包含赋值语句，因此即使</a:t>
            </a:r>
            <a:r>
              <a:rPr lang="en-US" altLang="zh-CN" b="1" dirty="0">
                <a:ea typeface="宋体" panose="02010600030101010101" pitchFamily="2" charset="-122"/>
              </a:rPr>
              <a:t>B.true</a:t>
            </a:r>
            <a:r>
              <a:rPr lang="zh-CN" altLang="en-US" b="1" dirty="0">
                <a:ea typeface="宋体" panose="02010600030101010101" pitchFamily="2" charset="-122"/>
              </a:rPr>
              <a:t>和</a:t>
            </a:r>
            <a:r>
              <a:rPr lang="en-US" altLang="zh-CN" b="1" dirty="0">
                <a:ea typeface="宋体" panose="02010600030101010101" pitchFamily="2" charset="-122"/>
              </a:rPr>
              <a:t>B.false</a:t>
            </a:r>
            <a:r>
              <a:rPr lang="zh-CN" altLang="en-US" b="1" dirty="0">
                <a:ea typeface="宋体" panose="02010600030101010101" pitchFamily="2" charset="-122"/>
              </a:rPr>
              <a:t>都为</a:t>
            </a:r>
            <a:r>
              <a:rPr lang="en-US" altLang="zh-CN" b="1" dirty="0">
                <a:ea typeface="宋体" panose="02010600030101010101" pitchFamily="2" charset="-122"/>
              </a:rPr>
              <a:t>fall</a:t>
            </a:r>
            <a:r>
              <a:rPr lang="zh-CN" altLang="en-US" b="1" dirty="0">
                <a:ea typeface="宋体" panose="02010600030101010101" pitchFamily="2" charset="-122"/>
              </a:rPr>
              <a:t>，也要为子表达式</a:t>
            </a:r>
            <a:r>
              <a:rPr lang="en-US" altLang="zh-CN" i="1" dirty="0">
                <a:ea typeface="宋体" panose="02010600030101010101" pitchFamily="2" charset="-122"/>
              </a:rPr>
              <a:t>E</a:t>
            </a:r>
            <a:r>
              <a:rPr lang="en-US" altLang="zh-CN" i="1" baseline="-25000" dirty="0">
                <a:ea typeface="宋体" panose="02010600030101010101" pitchFamily="2" charset="-122"/>
              </a:rPr>
              <a:t>1</a:t>
            </a:r>
            <a:r>
              <a:rPr lang="zh-CN" altLang="en-US" b="1" dirty="0">
                <a:ea typeface="宋体" panose="02010600030101010101" pitchFamily="2" charset="-122"/>
              </a:rPr>
              <a:t>和</a:t>
            </a:r>
            <a:r>
              <a:rPr lang="en-US" altLang="zh-CN" i="1" dirty="0">
                <a:ea typeface="宋体" panose="02010600030101010101" pitchFamily="2" charset="-122"/>
              </a:rPr>
              <a:t>E</a:t>
            </a:r>
            <a:r>
              <a:rPr lang="en-US" altLang="zh-CN" i="1" baseline="-25000" dirty="0">
                <a:ea typeface="宋体" panose="02010600030101010101" pitchFamily="2" charset="-122"/>
              </a:rPr>
              <a:t>2</a:t>
            </a:r>
            <a:r>
              <a:rPr lang="zh-CN" altLang="en-US" b="1" dirty="0">
                <a:ea typeface="宋体" panose="02010600030101010101" pitchFamily="2" charset="-122"/>
              </a:rPr>
              <a:t>生成代码</a:t>
            </a:r>
            <a:endParaRPr lang="en-US" altLang="zh-CN" b="1" dirty="0">
              <a:ea typeface="宋体" panose="02010600030101010101" pitchFamily="2" charset="-122"/>
            </a:endParaRPr>
          </a:p>
        </p:txBody>
      </p:sp>
      <p:pic>
        <p:nvPicPr>
          <p:cNvPr id="250884" name="Picture 2"/>
          <p:cNvPicPr>
            <a:picLocks noChangeAspect="1"/>
          </p:cNvPicPr>
          <p:nvPr/>
        </p:nvPicPr>
        <p:blipFill>
          <a:blip r:embed="rId1"/>
          <a:stretch>
            <a:fillRect/>
          </a:stretch>
        </p:blipFill>
        <p:spPr>
          <a:xfrm>
            <a:off x="990600" y="2205038"/>
            <a:ext cx="7318375" cy="2952750"/>
          </a:xfrm>
          <a:prstGeom prst="rect">
            <a:avLst/>
          </a:prstGeom>
          <a:noFill/>
          <a:ln w="9525">
            <a:noFill/>
          </a:ln>
        </p:spPr>
      </p:pic>
    </p:spTree>
  </p:cSld>
  <p:clrMapOvr>
    <a:masterClrMapping/>
  </p:clrMapOvr>
  <p:transition spd="slow"/>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293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布尔表达式（1</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52931" name="Rectangle 3"/>
          <p:cNvSpPr>
            <a:spLocks noGrp="1"/>
          </p:cNvSpPr>
          <p:nvPr>
            <p:ph idx="1"/>
          </p:nvPr>
        </p:nvSpPr>
        <p:spPr>
          <a:xfrm>
            <a:off x="827088" y="1371600"/>
            <a:ext cx="7758112" cy="4953000"/>
          </a:xfrm>
        </p:spPr>
        <p:txBody>
          <a:bodyPr vert="horz" wrap="square" lIns="92075" tIns="46038" rIns="92075" bIns="46038" anchor="t" anchorCtr="0"/>
          <a:p>
            <a:pPr lvl="1"/>
            <a:r>
              <a:rPr lang="zh-CN" altLang="en-US" sz="2200" b="1" dirty="0">
                <a:ea typeface="宋体" panose="02010600030101010101" pitchFamily="2" charset="-122"/>
              </a:rPr>
              <a:t>对于</a:t>
            </a:r>
            <a:r>
              <a:rPr lang="en-US" altLang="zh-CN" sz="2000" i="1" dirty="0">
                <a:ea typeface="宋体" panose="02010600030101010101" pitchFamily="2" charset="-122"/>
              </a:rPr>
              <a:t>B</a:t>
            </a:r>
            <a:r>
              <a:rPr lang="zh-CN" altLang="en-US" sz="2000" i="1" dirty="0">
                <a:ea typeface="宋体" panose="02010600030101010101" pitchFamily="2" charset="-122"/>
              </a:rPr>
              <a:t>→</a:t>
            </a:r>
            <a:r>
              <a:rPr lang="en-US" altLang="zh-CN" sz="2000" i="1" dirty="0">
                <a:ea typeface="宋体" panose="02010600030101010101" pitchFamily="2" charset="-122"/>
              </a:rPr>
              <a:t>B</a:t>
            </a:r>
            <a:r>
              <a:rPr lang="en-US" altLang="zh-CN" sz="2000" i="1" baseline="-25000" dirty="0">
                <a:ea typeface="宋体" panose="02010600030101010101" pitchFamily="2" charset="-122"/>
              </a:rPr>
              <a:t>1</a:t>
            </a:r>
            <a:r>
              <a:rPr lang="zh-CN" altLang="en-US" sz="2000" i="1" dirty="0">
                <a:ea typeface="宋体" panose="02010600030101010101" pitchFamily="2" charset="-122"/>
              </a:rPr>
              <a:t> </a:t>
            </a:r>
            <a:r>
              <a:rPr lang="en-US" altLang="zh-CN" sz="2000" b="1" i="1" dirty="0">
                <a:ea typeface="宋体" panose="02010600030101010101" pitchFamily="2" charset="-122"/>
              </a:rPr>
              <a:t>||</a:t>
            </a:r>
            <a:r>
              <a:rPr lang="zh-CN" altLang="en-US" sz="2000" i="1" dirty="0">
                <a:ea typeface="宋体" panose="02010600030101010101" pitchFamily="2" charset="-122"/>
              </a:rPr>
              <a:t> </a:t>
            </a:r>
            <a:r>
              <a:rPr lang="en-US" altLang="zh-CN" sz="2000" i="1" dirty="0">
                <a:ea typeface="宋体" panose="02010600030101010101" pitchFamily="2" charset="-122"/>
              </a:rPr>
              <a:t>B</a:t>
            </a:r>
            <a:r>
              <a:rPr lang="en-US" altLang="zh-CN" sz="2000" i="1" baseline="-25000" dirty="0">
                <a:ea typeface="宋体" panose="02010600030101010101" pitchFamily="2" charset="-122"/>
              </a:rPr>
              <a:t>2</a:t>
            </a:r>
            <a:r>
              <a:rPr lang="zh-CN" altLang="en-US" sz="2200" b="1" dirty="0">
                <a:ea typeface="宋体" panose="02010600030101010101" pitchFamily="2" charset="-122"/>
              </a:rPr>
              <a:t>的翻译</a:t>
            </a:r>
            <a:endParaRPr lang="en-US" altLang="zh-CN" sz="2200" b="1" dirty="0">
              <a:ea typeface="宋体" panose="02010600030101010101" pitchFamily="2" charset="-122"/>
            </a:endParaRPr>
          </a:p>
          <a:p>
            <a:pPr lvl="2"/>
            <a:r>
              <a:rPr lang="en-US" altLang="zh-CN" sz="2000" i="1" dirty="0">
                <a:ea typeface="宋体" panose="02010600030101010101" pitchFamily="2" charset="-122"/>
              </a:rPr>
              <a:t>B</a:t>
            </a:r>
            <a:r>
              <a:rPr lang="zh-CN" altLang="en-US" sz="2000" b="1" dirty="0">
                <a:ea typeface="宋体" panose="02010600030101010101" pitchFamily="2" charset="-122"/>
              </a:rPr>
              <a:t>的</a:t>
            </a:r>
            <a:r>
              <a:rPr lang="en-US" altLang="zh-CN" sz="2000" i="1" dirty="0">
                <a:ea typeface="宋体" panose="02010600030101010101" pitchFamily="2" charset="-122"/>
              </a:rPr>
              <a:t>fall</a:t>
            </a:r>
            <a:r>
              <a:rPr lang="zh-CN" altLang="en-US" sz="2000" b="1" dirty="0">
                <a:ea typeface="宋体" panose="02010600030101010101" pitchFamily="2" charset="-122"/>
              </a:rPr>
              <a:t>标号和</a:t>
            </a:r>
            <a:r>
              <a:rPr lang="en-US" altLang="zh-CN" sz="2000" i="1" dirty="0">
                <a:ea typeface="宋体" panose="02010600030101010101" pitchFamily="2" charset="-122"/>
              </a:rPr>
              <a:t>B</a:t>
            </a:r>
            <a:r>
              <a:rPr lang="en-US" altLang="zh-CN" sz="2000" i="1" baseline="-25000" dirty="0">
                <a:ea typeface="宋体" panose="02010600030101010101" pitchFamily="2" charset="-122"/>
              </a:rPr>
              <a:t>1</a:t>
            </a:r>
            <a:r>
              <a:rPr lang="zh-CN" altLang="en-US" sz="2000" b="1" dirty="0">
                <a:ea typeface="宋体" panose="02010600030101010101" pitchFamily="2" charset="-122"/>
              </a:rPr>
              <a:t>的</a:t>
            </a:r>
            <a:r>
              <a:rPr lang="en-US" altLang="zh-CN" sz="2000" i="1" dirty="0">
                <a:ea typeface="宋体" panose="02010600030101010101" pitchFamily="2" charset="-122"/>
              </a:rPr>
              <a:t>fall</a:t>
            </a:r>
            <a:r>
              <a:rPr lang="zh-CN" altLang="en-US" sz="2000" b="1" dirty="0">
                <a:ea typeface="宋体" panose="02010600030101010101" pitchFamily="2" charset="-122"/>
              </a:rPr>
              <a:t>标号含义不同</a:t>
            </a:r>
            <a:endParaRPr lang="en-US" altLang="zh-CN" sz="2000" b="1" dirty="0">
              <a:ea typeface="宋体" panose="02010600030101010101" pitchFamily="2" charset="-122"/>
            </a:endParaRPr>
          </a:p>
          <a:p>
            <a:pPr lvl="2"/>
            <a:r>
              <a:rPr lang="zh-CN" altLang="en-US" sz="2000" b="1" dirty="0">
                <a:ea typeface="宋体" panose="02010600030101010101" pitchFamily="2" charset="-122"/>
              </a:rPr>
              <a:t>如果</a:t>
            </a:r>
            <a:r>
              <a:rPr lang="en-US" altLang="zh-CN" sz="2000" i="1" dirty="0">
                <a:ea typeface="宋体" panose="02010600030101010101" pitchFamily="2" charset="-122"/>
              </a:rPr>
              <a:t>B</a:t>
            </a:r>
            <a:r>
              <a:rPr lang="zh-CN" altLang="en-US" sz="2000" b="1" dirty="0">
                <a:ea typeface="宋体" panose="02010600030101010101" pitchFamily="2" charset="-122"/>
              </a:rPr>
              <a:t>为真，则控制流穿越</a:t>
            </a:r>
            <a:r>
              <a:rPr lang="en-US" altLang="zh-CN" sz="2000" i="1" dirty="0">
                <a:ea typeface="宋体" panose="02010600030101010101" pitchFamily="2" charset="-122"/>
              </a:rPr>
              <a:t>B</a:t>
            </a:r>
            <a:endParaRPr lang="en-US" altLang="zh-CN" sz="2000" b="1" dirty="0">
              <a:ea typeface="宋体" panose="02010600030101010101" pitchFamily="2" charset="-122"/>
            </a:endParaRPr>
          </a:p>
          <a:p>
            <a:pPr lvl="2"/>
            <a:r>
              <a:rPr lang="zh-CN" altLang="en-US" sz="2000" b="1" dirty="0">
                <a:ea typeface="宋体" panose="02010600030101010101" pitchFamily="2" charset="-122"/>
              </a:rPr>
              <a:t>如果</a:t>
            </a:r>
            <a:r>
              <a:rPr lang="en-US" altLang="zh-CN" sz="2000" i="1" dirty="0">
                <a:ea typeface="宋体" panose="02010600030101010101" pitchFamily="2" charset="-122"/>
              </a:rPr>
              <a:t>B</a:t>
            </a:r>
            <a:r>
              <a:rPr lang="en-US" altLang="zh-CN" sz="2000" i="1" baseline="-25000" dirty="0">
                <a:ea typeface="宋体" panose="02010600030101010101" pitchFamily="2" charset="-122"/>
              </a:rPr>
              <a:t>1</a:t>
            </a:r>
            <a:r>
              <a:rPr lang="zh-CN" altLang="en-US" sz="2000" b="1" dirty="0">
                <a:ea typeface="宋体" panose="02010600030101010101" pitchFamily="2" charset="-122"/>
              </a:rPr>
              <a:t>为真，</a:t>
            </a:r>
            <a:r>
              <a:rPr lang="en-US" altLang="zh-CN" sz="2000" i="1" dirty="0">
                <a:ea typeface="宋体" panose="02010600030101010101" pitchFamily="2" charset="-122"/>
              </a:rPr>
              <a:t>B</a:t>
            </a:r>
            <a:r>
              <a:rPr lang="en-US" altLang="zh-CN" sz="2000" i="1" baseline="-25000" dirty="0">
                <a:ea typeface="宋体" panose="02010600030101010101" pitchFamily="2" charset="-122"/>
              </a:rPr>
              <a:t>1</a:t>
            </a:r>
            <a:r>
              <a:rPr lang="en-US" altLang="zh-CN" sz="2000" b="1" dirty="0">
                <a:ea typeface="宋体" panose="02010600030101010101" pitchFamily="2" charset="-122"/>
              </a:rPr>
              <a:t>.</a:t>
            </a:r>
            <a:r>
              <a:rPr lang="en-US" altLang="zh-CN" sz="2000" i="1" dirty="0">
                <a:ea typeface="宋体" panose="02010600030101010101" pitchFamily="2" charset="-122"/>
              </a:rPr>
              <a:t>true</a:t>
            </a:r>
            <a:r>
              <a:rPr lang="zh-CN" altLang="en-US" sz="2000" b="1" dirty="0">
                <a:ea typeface="宋体" panose="02010600030101010101" pitchFamily="2" charset="-122"/>
              </a:rPr>
              <a:t>必须保证控制流跳过</a:t>
            </a:r>
            <a:r>
              <a:rPr lang="en-US" altLang="zh-CN" sz="2000" i="1" dirty="0">
                <a:ea typeface="宋体" panose="02010600030101010101" pitchFamily="2" charset="-122"/>
              </a:rPr>
              <a:t>B</a:t>
            </a:r>
            <a:r>
              <a:rPr lang="en-US" altLang="zh-CN" sz="2000" i="1" baseline="-25000" dirty="0">
                <a:ea typeface="宋体" panose="02010600030101010101" pitchFamily="2" charset="-122"/>
              </a:rPr>
              <a:t>2</a:t>
            </a:r>
            <a:r>
              <a:rPr lang="zh-CN" altLang="en-US" sz="2000" b="1" dirty="0">
                <a:ea typeface="宋体" panose="02010600030101010101" pitchFamily="2" charset="-122"/>
              </a:rPr>
              <a:t>的代码，直接到达</a:t>
            </a:r>
            <a:r>
              <a:rPr lang="en-US" altLang="zh-CN" sz="2000" i="1" dirty="0">
                <a:ea typeface="宋体" panose="02010600030101010101" pitchFamily="2" charset="-122"/>
              </a:rPr>
              <a:t>B</a:t>
            </a:r>
            <a:r>
              <a:rPr lang="zh-CN" altLang="en-US" sz="2000" b="1" dirty="0">
                <a:ea typeface="宋体" panose="02010600030101010101" pitchFamily="2" charset="-122"/>
              </a:rPr>
              <a:t>之后的下一条指令</a:t>
            </a:r>
            <a:endParaRPr lang="en-US" altLang="zh-CN" sz="2000" b="1" dirty="0">
              <a:ea typeface="宋体" panose="02010600030101010101" pitchFamily="2" charset="-122"/>
            </a:endParaRPr>
          </a:p>
          <a:p>
            <a:pPr lvl="2"/>
            <a:r>
              <a:rPr lang="zh-CN" altLang="en-US" sz="2000" b="1" dirty="0">
                <a:ea typeface="宋体" panose="02010600030101010101" pitchFamily="2" charset="-122"/>
              </a:rPr>
              <a:t>如果</a:t>
            </a:r>
            <a:r>
              <a:rPr lang="en-US" altLang="zh-CN" sz="2000" i="1" dirty="0">
                <a:ea typeface="宋体" panose="02010600030101010101" pitchFamily="2" charset="-122"/>
              </a:rPr>
              <a:t>B</a:t>
            </a:r>
            <a:r>
              <a:rPr lang="en-US" altLang="zh-CN" sz="2000" i="1" baseline="-25000" dirty="0">
                <a:ea typeface="宋体" panose="02010600030101010101" pitchFamily="2" charset="-122"/>
              </a:rPr>
              <a:t>1</a:t>
            </a:r>
            <a:r>
              <a:rPr lang="zh-CN" altLang="en-US" sz="2000" b="1" dirty="0">
                <a:ea typeface="宋体" panose="02010600030101010101" pitchFamily="2" charset="-122"/>
              </a:rPr>
              <a:t>为假，</a:t>
            </a:r>
            <a:r>
              <a:rPr lang="en-US" altLang="zh-CN" sz="2000" i="1" dirty="0">
                <a:ea typeface="宋体" panose="02010600030101010101" pitchFamily="2" charset="-122"/>
              </a:rPr>
              <a:t>B</a:t>
            </a:r>
            <a:r>
              <a:rPr lang="en-US" altLang="zh-CN" sz="2000" i="1" baseline="-25000" dirty="0">
                <a:ea typeface="宋体" panose="02010600030101010101" pitchFamily="2" charset="-122"/>
              </a:rPr>
              <a:t>1</a:t>
            </a:r>
            <a:r>
              <a:rPr lang="en-US" altLang="zh-CN" sz="2000" b="1" dirty="0">
                <a:ea typeface="宋体" panose="02010600030101010101" pitchFamily="2" charset="-122"/>
              </a:rPr>
              <a:t>.</a:t>
            </a:r>
            <a:r>
              <a:rPr lang="en-US" altLang="zh-CN" sz="2000" i="1" dirty="0">
                <a:ea typeface="宋体" panose="02010600030101010101" pitchFamily="2" charset="-122"/>
              </a:rPr>
              <a:t>false</a:t>
            </a:r>
            <a:r>
              <a:rPr lang="zh-CN" altLang="en-US" sz="2000" b="1" dirty="0">
                <a:ea typeface="宋体" panose="02010600030101010101" pitchFamily="2" charset="-122"/>
              </a:rPr>
              <a:t>必须保证控制流穿越</a:t>
            </a:r>
            <a:r>
              <a:rPr lang="en-US" altLang="zh-CN" sz="2000" i="1" dirty="0">
                <a:ea typeface="宋体" panose="02010600030101010101" pitchFamily="2" charset="-122"/>
              </a:rPr>
              <a:t>B</a:t>
            </a:r>
            <a:r>
              <a:rPr lang="en-US" altLang="zh-CN" sz="2000" i="1" baseline="-25000" dirty="0">
                <a:ea typeface="宋体" panose="02010600030101010101" pitchFamily="2" charset="-122"/>
              </a:rPr>
              <a:t>1</a:t>
            </a:r>
            <a:r>
              <a:rPr lang="zh-CN" altLang="en-US" sz="2000" b="1" dirty="0">
                <a:ea typeface="宋体" panose="02010600030101010101" pitchFamily="2" charset="-122"/>
              </a:rPr>
              <a:t>直接到达</a:t>
            </a:r>
            <a:r>
              <a:rPr lang="en-US" altLang="zh-CN" sz="2000" i="1" dirty="0">
                <a:ea typeface="宋体" panose="02010600030101010101" pitchFamily="2" charset="-122"/>
              </a:rPr>
              <a:t>B</a:t>
            </a:r>
            <a:r>
              <a:rPr lang="en-US" altLang="zh-CN" sz="2000" i="1" baseline="-25000" dirty="0">
                <a:ea typeface="宋体" panose="02010600030101010101" pitchFamily="2" charset="-122"/>
              </a:rPr>
              <a:t>2</a:t>
            </a:r>
            <a:endParaRPr lang="en-US" altLang="zh-CN" sz="2000" b="1" dirty="0">
              <a:ea typeface="宋体" panose="02010600030101010101" pitchFamily="2" charset="-122"/>
            </a:endParaRPr>
          </a:p>
        </p:txBody>
      </p:sp>
      <p:pic>
        <p:nvPicPr>
          <p:cNvPr id="252932" name="Picture 3"/>
          <p:cNvPicPr>
            <a:picLocks noChangeAspect="1"/>
          </p:cNvPicPr>
          <p:nvPr/>
        </p:nvPicPr>
        <p:blipFill>
          <a:blip r:embed="rId1"/>
          <a:stretch>
            <a:fillRect/>
          </a:stretch>
        </p:blipFill>
        <p:spPr>
          <a:xfrm>
            <a:off x="1187450" y="3573463"/>
            <a:ext cx="6840538" cy="2979737"/>
          </a:xfrm>
          <a:prstGeom prst="rect">
            <a:avLst/>
          </a:prstGeom>
          <a:noFill/>
          <a:ln w="9525">
            <a:noFill/>
          </a:ln>
        </p:spPr>
      </p:pic>
    </p:spTree>
  </p:cSld>
  <p:clrMapOvr>
    <a:masterClrMapping/>
  </p:clrMapOvr>
  <p:transition spd="slow"/>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497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布尔表达式（1</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47811" name="Rectangle 3"/>
          <p:cNvSpPr>
            <a:spLocks noGrp="1" noChangeArrowheads="1"/>
          </p:cNvSpPr>
          <p:nvPr>
            <p:ph idx="1"/>
          </p:nvPr>
        </p:nvSpPr>
        <p:spPr>
          <a:xfrm>
            <a:off x="755650" y="1268413"/>
            <a:ext cx="7993063" cy="5056188"/>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例</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6.23</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：使用特殊记号</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fall</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翻译如下句子</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0005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if</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x &lt; 100 || x &gt; 200 &amp;&amp; x != y ) x = 0;</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产生式</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P→S</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的语义规则产生标号</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rPr>
              <a:t>1</a:t>
            </a:r>
            <a:endPar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应用</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200" b="0" i="1"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 || B</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的语义规则时，继承属性</a:t>
            </a:r>
            <a:r>
              <a:rPr kumimoji="0" lang="en-US" altLang="zh-CN" sz="2200" b="0" i="1" u="none" strike="noStrike" kern="0" cap="none" spc="0" normalizeH="0" baseline="0" noProof="0" dirty="0" err="1">
                <a:ln>
                  <a:noFill/>
                </a:ln>
                <a:solidFill>
                  <a:schemeClr val="tx1"/>
                </a:solidFill>
                <a:effectLst/>
                <a:uLnTx/>
                <a:uFillTx/>
                <a:latin typeface="+mn-lt"/>
                <a:ea typeface="宋体" panose="02010600030101010101" pitchFamily="2" charset="-122"/>
              </a:rPr>
              <a:t>B.true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是</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fall</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0" i="1" u="none" strike="noStrike" kern="0" cap="none" spc="0" normalizeH="0" baseline="0" noProof="0" dirty="0" err="1">
                <a:ln>
                  <a:noFill/>
                </a:ln>
                <a:solidFill>
                  <a:schemeClr val="tx1"/>
                </a:solidFill>
                <a:effectLst/>
                <a:uLnTx/>
                <a:uFillTx/>
                <a:latin typeface="+mn-lt"/>
                <a:ea typeface="宋体" panose="02010600030101010101" pitchFamily="2" charset="-122"/>
              </a:rPr>
              <a:t>B.false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为</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rPr>
              <a:t>1 </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创建新的标号</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，使得</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为真时，控制跳过</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的代码</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.true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为</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2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 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.false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为</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fall</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，即</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为假时，计算</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2</a:t>
            </a:r>
            <a:endPar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处理表达式</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x&lt;100</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时的产生式</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400" b="0" i="1"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rPr>
              <a:t>E</a:t>
            </a:r>
            <a:r>
              <a:rPr kumimoji="0" lang="en-US" altLang="zh-CN" sz="24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2400" b="0"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rPr>
              <a:t>rel</a:t>
            </a:r>
            <a:r>
              <a:rPr kumimoji="0" lang="zh-CN" altLang="en-US" sz="2400" b="0"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rPr>
              <a:t>E</a:t>
            </a:r>
            <a:r>
              <a:rPr kumimoji="0" lang="en-US" altLang="zh-CN" sz="2400" b="0"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rPr>
              <a:t>时，</a:t>
            </a:r>
            <a:r>
              <a:rPr kumimoji="0" lang="en-US" altLang="zh-CN" sz="2400" b="0" i="1" u="none" strike="noStrike" kern="0" cap="none" spc="0" normalizeH="0" baseline="0" noProof="0" dirty="0" err="1">
                <a:ln>
                  <a:noFill/>
                </a:ln>
                <a:solidFill>
                  <a:schemeClr val="tx1"/>
                </a:solidFill>
                <a:effectLst/>
                <a:uLnTx/>
                <a:uFillTx/>
                <a:latin typeface="+mn-lt"/>
                <a:ea typeface="宋体" panose="02010600030101010101" pitchFamily="2" charset="-122"/>
              </a:rPr>
              <a:t>B.true</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en-US" altLang="zh-CN" sz="2400" b="0"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rPr>
              <a:t>且</a:t>
            </a:r>
            <a:r>
              <a:rPr kumimoji="0" lang="en-US" altLang="zh-CN" sz="2400" b="0" i="1" u="none" strike="noStrike" kern="0" cap="none" spc="0" normalizeH="0" baseline="0" noProof="0" dirty="0" err="1">
                <a:ln>
                  <a:noFill/>
                </a:ln>
                <a:solidFill>
                  <a:schemeClr val="tx1"/>
                </a:solidFill>
                <a:effectLst/>
                <a:uLnTx/>
                <a:uFillTx/>
                <a:latin typeface="+mn-lt"/>
                <a:ea typeface="宋体" panose="02010600030101010101" pitchFamily="2" charset="-122"/>
              </a:rPr>
              <a:t>B.False</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rPr>
              <a:t>=fall</a:t>
            </a:r>
            <a:endPar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254980" name="Picture 2"/>
          <p:cNvPicPr>
            <a:picLocks noChangeAspect="1"/>
          </p:cNvPicPr>
          <p:nvPr/>
        </p:nvPicPr>
        <p:blipFill>
          <a:blip r:embed="rId1"/>
          <a:stretch>
            <a:fillRect/>
          </a:stretch>
        </p:blipFill>
        <p:spPr>
          <a:xfrm>
            <a:off x="838200" y="4724400"/>
            <a:ext cx="7445375" cy="2160588"/>
          </a:xfrm>
          <a:prstGeom prst="rect">
            <a:avLst/>
          </a:prstGeom>
          <a:noFill/>
          <a:ln w="9525">
            <a:noFill/>
          </a:ln>
        </p:spPr>
      </p:pic>
    </p:spTree>
  </p:cSld>
  <p:clrMapOvr>
    <a:masterClrMapping/>
  </p:clrMapOvr>
  <p:transition spd="slow"/>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702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回填技术（1）</a:t>
            </a:r>
            <a:endParaRPr lang="zh-CN" altLang="en-US" dirty="0">
              <a:latin typeface="Times New Roman" panose="02020603050405020304" pitchFamily="18" charset="0"/>
              <a:ea typeface="宋体" panose="02010600030101010101" pitchFamily="2" charset="-122"/>
            </a:endParaRPr>
          </a:p>
        </p:txBody>
      </p:sp>
      <p:sp>
        <p:nvSpPr>
          <p:cNvPr id="257027" name="Rectangle 3"/>
          <p:cNvSpPr>
            <a:spLocks noGrp="1"/>
          </p:cNvSpPr>
          <p:nvPr>
            <p:ph idx="1"/>
          </p:nvPr>
        </p:nvSpPr>
        <p:spPr>
          <a:xfrm>
            <a:off x="990600" y="1371600"/>
            <a:ext cx="7391400" cy="4953000"/>
          </a:xfrm>
        </p:spPr>
        <p:txBody>
          <a:bodyPr vert="horz" wrap="square" lIns="92075" tIns="46038" rIns="92075" bIns="46038" anchor="t" anchorCtr="0"/>
          <a:p>
            <a:r>
              <a:rPr lang="zh-CN" altLang="en-US" sz="2400" b="1" dirty="0">
                <a:ea typeface="宋体" panose="02010600030101010101" pitchFamily="2" charset="-122"/>
              </a:rPr>
              <a:t>一遍扫描实现布尔表达式和控制流语句的语法制导定义</a:t>
            </a:r>
            <a:endParaRPr lang="zh-CN" altLang="en-US" sz="2400" b="1" dirty="0">
              <a:ea typeface="宋体" panose="02010600030101010101" pitchFamily="2" charset="-122"/>
            </a:endParaRPr>
          </a:p>
          <a:p>
            <a:pPr lvl="1"/>
            <a:r>
              <a:rPr lang="zh-CN" altLang="en-US" sz="2200" b="1" dirty="0">
                <a:ea typeface="宋体" panose="02010600030101010101" pitchFamily="2" charset="-122"/>
              </a:rPr>
              <a:t>如何生成标号</a:t>
            </a:r>
            <a:endParaRPr lang="zh-CN" altLang="en-US" sz="2200" b="1" dirty="0">
              <a:ea typeface="宋体" panose="02010600030101010101" pitchFamily="2" charset="-122"/>
            </a:endParaRPr>
          </a:p>
          <a:p>
            <a:pPr lvl="2"/>
            <a:r>
              <a:rPr lang="zh-CN" altLang="en-US" sz="2000" b="1" dirty="0">
                <a:ea typeface="宋体" panose="02010600030101010101" pitchFamily="2" charset="-122"/>
              </a:rPr>
              <a:t>生成某些转移语句时，标号还没有生成，如</a:t>
            </a:r>
            <a:endParaRPr lang="zh-CN" altLang="en-US" sz="2000" b="1" dirty="0">
              <a:ea typeface="宋体" panose="02010600030101010101" pitchFamily="2" charset="-122"/>
            </a:endParaRPr>
          </a:p>
          <a:p>
            <a:pPr lvl="3">
              <a:buFont typeface="Wingdings" panose="05000000000000000000" pitchFamily="2" charset="2"/>
              <a:buNone/>
            </a:pPr>
            <a:r>
              <a:rPr lang="zh-CN" altLang="en-US" sz="1800" b="1" dirty="0">
                <a:ea typeface="宋体" panose="02010600030101010101" pitchFamily="2" charset="-122"/>
              </a:rPr>
              <a:t>	… …			… …</a:t>
            </a:r>
            <a:endParaRPr lang="zh-CN" altLang="en-US"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L: …		           	goto L</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	… …			… …</a:t>
            </a:r>
            <a:endParaRPr lang="en-US" altLang="zh-CN" sz="1800" b="1" dirty="0">
              <a:ea typeface="宋体" panose="02010600030101010101" pitchFamily="2" charset="-122"/>
            </a:endParaRPr>
          </a:p>
          <a:p>
            <a:pPr lvl="3">
              <a:buFont typeface="Wingdings" panose="05000000000000000000" pitchFamily="2" charset="2"/>
              <a:buNone/>
            </a:pPr>
            <a:r>
              <a:rPr lang="en-US" altLang="zh-CN" sz="1800" b="1" dirty="0">
                <a:ea typeface="宋体" panose="02010600030101010101" pitchFamily="2" charset="-122"/>
              </a:rPr>
              <a:t>	goto L		           L: …</a:t>
            </a:r>
            <a:endParaRPr lang="en-US" altLang="zh-CN" sz="1800" b="1" dirty="0">
              <a:ea typeface="宋体" panose="02010600030101010101" pitchFamily="2" charset="-122"/>
            </a:endParaRPr>
          </a:p>
          <a:p>
            <a:pPr lvl="1"/>
            <a:r>
              <a:rPr lang="zh-CN" altLang="en-US" sz="2000" b="1" dirty="0">
                <a:ea typeface="宋体" panose="02010600030101010101" pitchFamily="2" charset="-122"/>
              </a:rPr>
              <a:t>采用回填（</a:t>
            </a:r>
            <a:r>
              <a:rPr lang="en-US" altLang="zh-CN" sz="2000" b="1" dirty="0">
                <a:ea typeface="宋体" panose="02010600030101010101" pitchFamily="2" charset="-122"/>
              </a:rPr>
              <a:t>backpatching</a:t>
            </a:r>
            <a:r>
              <a:rPr lang="zh-CN" altLang="en-US" sz="2000" b="1" dirty="0">
                <a:ea typeface="宋体" panose="02010600030101010101" pitchFamily="2" charset="-122"/>
              </a:rPr>
              <a:t>）技术解决上述问题</a:t>
            </a:r>
            <a:endParaRPr lang="zh-CN" altLang="en-US" sz="2000" b="1" dirty="0">
              <a:ea typeface="宋体" panose="02010600030101010101" pitchFamily="2" charset="-122"/>
            </a:endParaRPr>
          </a:p>
          <a:p>
            <a:pPr lvl="2"/>
            <a:r>
              <a:rPr lang="zh-CN" altLang="en-US" sz="2000" b="1" dirty="0">
                <a:ea typeface="宋体" panose="02010600030101010101" pitchFamily="2" charset="-122"/>
              </a:rPr>
              <a:t>以布尔表达式为例，在文法中引入标记非终结符</a:t>
            </a:r>
            <a:r>
              <a:rPr lang="en-US" altLang="zh-CN" sz="2000" b="1" dirty="0">
                <a:ea typeface="宋体" panose="02010600030101010101" pitchFamily="2" charset="-122"/>
              </a:rPr>
              <a:t>M，</a:t>
            </a:r>
            <a:r>
              <a:rPr lang="zh-CN" altLang="en-US" sz="2000" b="1" dirty="0">
                <a:ea typeface="宋体" panose="02010600030101010101" pitchFamily="2" charset="-122"/>
              </a:rPr>
              <a:t>出现在</a:t>
            </a:r>
            <a:r>
              <a:rPr lang="en-US" altLang="zh-CN" sz="2000" b="1" dirty="0">
                <a:ea typeface="宋体" panose="02010600030101010101" pitchFamily="2" charset="-122"/>
              </a:rPr>
              <a:t>B || B</a:t>
            </a:r>
            <a:r>
              <a:rPr lang="zh-CN" altLang="en-US" sz="2000" b="1" dirty="0">
                <a:ea typeface="宋体" panose="02010600030101010101" pitchFamily="2" charset="-122"/>
              </a:rPr>
              <a:t>或</a:t>
            </a:r>
            <a:r>
              <a:rPr lang="en-US" altLang="zh-CN" sz="2000" b="1" dirty="0">
                <a:ea typeface="宋体" panose="02010600030101010101" pitchFamily="2" charset="-122"/>
              </a:rPr>
              <a:t>B &amp;&amp; B</a:t>
            </a:r>
            <a:r>
              <a:rPr lang="zh-CN" altLang="en-US" sz="2000" b="1" dirty="0">
                <a:ea typeface="宋体" panose="02010600030101010101" pitchFamily="2" charset="-122"/>
              </a:rPr>
              <a:t>的第二个</a:t>
            </a:r>
            <a:r>
              <a:rPr lang="en-US" altLang="zh-CN" sz="2000" b="1" dirty="0">
                <a:ea typeface="宋体" panose="02010600030101010101" pitchFamily="2" charset="-122"/>
              </a:rPr>
              <a:t>B</a:t>
            </a:r>
            <a:r>
              <a:rPr lang="zh-CN" altLang="en-US" sz="2000" b="1" dirty="0">
                <a:ea typeface="宋体" panose="02010600030101010101" pitchFamily="2" charset="-122"/>
              </a:rPr>
              <a:t>之前，指明这个表达式代码的入口</a:t>
            </a:r>
            <a:endParaRPr lang="zh-CN" altLang="en-US" sz="2000" b="1" dirty="0">
              <a:ea typeface="宋体" panose="02010600030101010101" pitchFamily="2" charset="-122"/>
            </a:endParaRPr>
          </a:p>
        </p:txBody>
      </p:sp>
    </p:spTree>
  </p:cSld>
  <p:clrMapOvr>
    <a:masterClrMapping/>
  </p:clrMapOvr>
  <p:transition spd="slow"/>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907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回填技术（</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59075" name="Rectangle 3"/>
          <p:cNvSpPr>
            <a:spLocks noGrp="1"/>
          </p:cNvSpPr>
          <p:nvPr>
            <p:ph idx="1"/>
          </p:nvPr>
        </p:nvSpPr>
        <p:spPr>
          <a:xfrm>
            <a:off x="990600" y="1524000"/>
            <a:ext cx="7391400" cy="4800600"/>
          </a:xfrm>
        </p:spPr>
        <p:txBody>
          <a:bodyPr vert="horz" wrap="square" lIns="92075" tIns="46038" rIns="92075" bIns="46038" anchor="t" anchorCtr="0"/>
          <a:p>
            <a:r>
              <a:rPr lang="zh-CN" altLang="en-US" sz="2400" b="1" dirty="0">
                <a:ea typeface="宋体" panose="02010600030101010101" pitchFamily="2" charset="-122"/>
              </a:rPr>
              <a:t>新的属性和函数</a:t>
            </a:r>
            <a:endParaRPr lang="zh-CN" altLang="en-US" sz="2400" b="1" dirty="0">
              <a:ea typeface="宋体" panose="02010600030101010101" pitchFamily="2" charset="-122"/>
            </a:endParaRPr>
          </a:p>
          <a:p>
            <a:pPr lvl="1"/>
            <a:r>
              <a:rPr lang="zh-CN" altLang="en-US" sz="2200" b="1" dirty="0">
                <a:ea typeface="宋体" panose="02010600030101010101" pitchFamily="2" charset="-122"/>
              </a:rPr>
              <a:t>对于非终结符</a:t>
            </a:r>
            <a:r>
              <a:rPr lang="en-US" altLang="zh-CN" sz="2200" i="1" dirty="0">
                <a:ea typeface="宋体" panose="02010600030101010101" pitchFamily="2" charset="-122"/>
              </a:rPr>
              <a:t>B</a:t>
            </a:r>
            <a:r>
              <a:rPr lang="zh-CN" altLang="en-US" sz="2200" b="1" dirty="0">
                <a:ea typeface="宋体" panose="02010600030101010101" pitchFamily="2" charset="-122"/>
              </a:rPr>
              <a:t>，引入综合属性</a:t>
            </a:r>
            <a:r>
              <a:rPr lang="en-US" altLang="zh-CN" sz="2200" i="1" dirty="0">
                <a:ea typeface="宋体" panose="02010600030101010101" pitchFamily="2" charset="-122"/>
              </a:rPr>
              <a:t>truelist</a:t>
            </a:r>
            <a:r>
              <a:rPr lang="zh-CN" altLang="en-US" sz="2200" b="1" dirty="0">
                <a:ea typeface="宋体" panose="02010600030101010101" pitchFamily="2" charset="-122"/>
              </a:rPr>
              <a:t>和</a:t>
            </a:r>
            <a:r>
              <a:rPr lang="en-US" altLang="zh-CN" sz="2200" i="1" dirty="0">
                <a:ea typeface="宋体" panose="02010600030101010101" pitchFamily="2" charset="-122"/>
              </a:rPr>
              <a:t>falselist</a:t>
            </a:r>
            <a:r>
              <a:rPr lang="zh-CN" altLang="en-US" sz="2200" b="1" dirty="0">
                <a:ea typeface="宋体" panose="02010600030101010101" pitchFamily="2" charset="-122"/>
              </a:rPr>
              <a:t>以管理布尔表达式的跳转代码中的标号</a:t>
            </a:r>
            <a:endParaRPr lang="zh-CN" altLang="en-US" sz="2200" b="1" dirty="0">
              <a:ea typeface="宋体" panose="02010600030101010101" pitchFamily="2" charset="-122"/>
            </a:endParaRPr>
          </a:p>
          <a:p>
            <a:pPr lvl="2"/>
            <a:r>
              <a:rPr lang="en-US" altLang="zh-CN" sz="2000" i="1" dirty="0">
                <a:ea typeface="宋体" panose="02010600030101010101" pitchFamily="2" charset="-122"/>
              </a:rPr>
              <a:t>B</a:t>
            </a:r>
            <a:r>
              <a:rPr lang="en-US" altLang="zh-CN" sz="2000" b="1" i="1" dirty="0">
                <a:ea typeface="宋体" panose="02010600030101010101" pitchFamily="2" charset="-122"/>
              </a:rPr>
              <a:t>.</a:t>
            </a:r>
            <a:r>
              <a:rPr lang="en-US" altLang="zh-CN" sz="2000" i="1" dirty="0">
                <a:ea typeface="宋体" panose="02010600030101010101" pitchFamily="2" charset="-122"/>
              </a:rPr>
              <a:t>truelist</a:t>
            </a:r>
            <a:r>
              <a:rPr lang="zh-CN" altLang="en-US" sz="2000" b="1" dirty="0">
                <a:ea typeface="宋体" panose="02010600030101010101" pitchFamily="2" charset="-122"/>
              </a:rPr>
              <a:t>是</a:t>
            </a:r>
            <a:r>
              <a:rPr lang="en-US" altLang="zh-CN" sz="2000" i="1" dirty="0">
                <a:ea typeface="宋体" panose="02010600030101010101" pitchFamily="2" charset="-122"/>
              </a:rPr>
              <a:t>B</a:t>
            </a:r>
            <a:r>
              <a:rPr lang="zh-CN" altLang="en-US" sz="2000" b="1" dirty="0">
                <a:ea typeface="宋体" panose="02010600030101010101" pitchFamily="2" charset="-122"/>
              </a:rPr>
              <a:t>为真时控制流应该转向的标号列表</a:t>
            </a:r>
            <a:endParaRPr lang="en-US" altLang="zh-CN" sz="2000" b="1" dirty="0">
              <a:ea typeface="宋体" panose="02010600030101010101" pitchFamily="2" charset="-122"/>
            </a:endParaRPr>
          </a:p>
          <a:p>
            <a:pPr lvl="2"/>
            <a:r>
              <a:rPr lang="en-US" altLang="zh-CN" sz="2000" i="1" dirty="0">
                <a:ea typeface="宋体" panose="02010600030101010101" pitchFamily="2" charset="-122"/>
              </a:rPr>
              <a:t>B</a:t>
            </a:r>
            <a:r>
              <a:rPr lang="en-US" altLang="zh-CN" sz="2000" b="1" i="1" dirty="0">
                <a:ea typeface="宋体" panose="02010600030101010101" pitchFamily="2" charset="-122"/>
              </a:rPr>
              <a:t>.</a:t>
            </a:r>
            <a:r>
              <a:rPr lang="en-US" altLang="zh-CN" sz="2000" i="1" dirty="0">
                <a:ea typeface="宋体" panose="02010600030101010101" pitchFamily="2" charset="-122"/>
              </a:rPr>
              <a:t>falselist</a:t>
            </a:r>
            <a:r>
              <a:rPr lang="zh-CN" altLang="en-US" sz="2000" b="1" dirty="0">
                <a:ea typeface="宋体" panose="02010600030101010101" pitchFamily="2" charset="-122"/>
              </a:rPr>
              <a:t>是</a:t>
            </a:r>
            <a:r>
              <a:rPr lang="en-US" altLang="zh-CN" sz="2000" i="1" dirty="0">
                <a:ea typeface="宋体" panose="02010600030101010101" pitchFamily="2" charset="-122"/>
              </a:rPr>
              <a:t>B</a:t>
            </a:r>
            <a:r>
              <a:rPr lang="zh-CN" altLang="en-US" sz="2000" b="1" dirty="0">
                <a:ea typeface="宋体" panose="02010600030101010101" pitchFamily="2" charset="-122"/>
              </a:rPr>
              <a:t>为假时控制流应该转向的标号列表</a:t>
            </a:r>
            <a:endParaRPr lang="zh-CN" altLang="en-US" sz="2000" b="1" dirty="0">
              <a:ea typeface="宋体" panose="02010600030101010101" pitchFamily="2" charset="-122"/>
            </a:endParaRPr>
          </a:p>
          <a:p>
            <a:pPr lvl="1"/>
            <a:r>
              <a:rPr lang="zh-CN" altLang="en-US" sz="2200" b="1" dirty="0">
                <a:ea typeface="宋体" panose="02010600030101010101" pitchFamily="2" charset="-122"/>
              </a:rPr>
              <a:t>类似的，对于语句</a:t>
            </a:r>
            <a:r>
              <a:rPr lang="en-US" altLang="zh-CN" sz="2200" i="1" dirty="0">
                <a:ea typeface="宋体" panose="02010600030101010101" pitchFamily="2" charset="-122"/>
              </a:rPr>
              <a:t>S</a:t>
            </a:r>
            <a:r>
              <a:rPr lang="zh-CN" altLang="en-US" sz="2200" b="1" dirty="0">
                <a:ea typeface="宋体" panose="02010600030101010101" pitchFamily="2" charset="-122"/>
              </a:rPr>
              <a:t>，引入综合属性</a:t>
            </a:r>
            <a:r>
              <a:rPr lang="en-US" altLang="zh-CN" i="1" dirty="0">
                <a:ea typeface="宋体" panose="02010600030101010101" pitchFamily="2" charset="-122"/>
              </a:rPr>
              <a:t>S</a:t>
            </a:r>
            <a:r>
              <a:rPr lang="en-US" altLang="zh-CN" b="1" i="1" dirty="0">
                <a:ea typeface="宋体" panose="02010600030101010101" pitchFamily="2" charset="-122"/>
              </a:rPr>
              <a:t>.</a:t>
            </a:r>
            <a:r>
              <a:rPr lang="en-US" altLang="zh-CN" i="1" dirty="0">
                <a:ea typeface="宋体" panose="02010600030101010101" pitchFamily="2" charset="-122"/>
              </a:rPr>
              <a:t>nextlist</a:t>
            </a:r>
            <a:endParaRPr lang="en-US" altLang="zh-CN" sz="2200" b="1" dirty="0">
              <a:ea typeface="宋体" panose="02010600030101010101" pitchFamily="2" charset="-122"/>
            </a:endParaRPr>
          </a:p>
          <a:p>
            <a:pPr lvl="1"/>
            <a:r>
              <a:rPr lang="zh-CN" altLang="en-US" sz="2200" b="1" dirty="0">
                <a:ea typeface="宋体" panose="02010600030101010101" pitchFamily="2" charset="-122"/>
              </a:rPr>
              <a:t>引入三个函数</a:t>
            </a:r>
            <a:endParaRPr lang="en-US" altLang="zh-CN" sz="2200" b="1" dirty="0">
              <a:ea typeface="宋体" panose="02010600030101010101" pitchFamily="2" charset="-122"/>
            </a:endParaRPr>
          </a:p>
          <a:p>
            <a:pPr lvl="2"/>
            <a:r>
              <a:rPr lang="en-US" altLang="zh-CN" sz="2000" i="1" dirty="0">
                <a:ea typeface="宋体" panose="02010600030101010101" pitchFamily="2" charset="-122"/>
              </a:rPr>
              <a:t>makelist</a:t>
            </a:r>
            <a:r>
              <a:rPr lang="en-US" altLang="zh-CN" sz="2000" b="1" dirty="0">
                <a:ea typeface="宋体" panose="02010600030101010101" pitchFamily="2" charset="-122"/>
              </a:rPr>
              <a:t>( </a:t>
            </a:r>
            <a:r>
              <a:rPr lang="en-US" altLang="zh-CN" sz="2000" i="1" dirty="0">
                <a:ea typeface="宋体" panose="02010600030101010101" pitchFamily="2" charset="-122"/>
              </a:rPr>
              <a:t>i</a:t>
            </a:r>
            <a:r>
              <a:rPr lang="en-US" altLang="zh-CN" sz="2000" b="1" dirty="0">
                <a:ea typeface="宋体" panose="02010600030101010101" pitchFamily="2" charset="-122"/>
              </a:rPr>
              <a:t> )</a:t>
            </a:r>
            <a:r>
              <a:rPr lang="zh-CN" altLang="en-US" sz="2000" b="1" dirty="0">
                <a:ea typeface="宋体" panose="02010600030101010101" pitchFamily="2" charset="-122"/>
              </a:rPr>
              <a:t>，创建一个只包含</a:t>
            </a:r>
            <a:r>
              <a:rPr lang="en-US" altLang="zh-CN" sz="2000" i="1" dirty="0">
                <a:ea typeface="宋体" panose="02010600030101010101" pitchFamily="2" charset="-122"/>
              </a:rPr>
              <a:t>i</a:t>
            </a:r>
            <a:r>
              <a:rPr lang="zh-CN" altLang="en-US" sz="2000" b="1" dirty="0">
                <a:ea typeface="宋体" panose="02010600030101010101" pitchFamily="2" charset="-122"/>
              </a:rPr>
              <a:t>的列表，</a:t>
            </a:r>
            <a:r>
              <a:rPr lang="en-US" altLang="zh-CN" sz="2000" i="1" dirty="0">
                <a:ea typeface="宋体" panose="02010600030101010101" pitchFamily="2" charset="-122"/>
              </a:rPr>
              <a:t> i</a:t>
            </a:r>
            <a:r>
              <a:rPr lang="zh-CN" altLang="en-US" sz="2000" b="1" dirty="0">
                <a:ea typeface="宋体" panose="02010600030101010101" pitchFamily="2" charset="-122"/>
              </a:rPr>
              <a:t>是指令数组的下标，</a:t>
            </a:r>
            <a:r>
              <a:rPr lang="en-US" altLang="zh-CN" sz="2000" i="1" dirty="0">
                <a:ea typeface="宋体" panose="02010600030101010101" pitchFamily="2" charset="-122"/>
              </a:rPr>
              <a:t>makelist</a:t>
            </a:r>
            <a:r>
              <a:rPr lang="zh-CN" altLang="en-US" sz="2000" b="1" dirty="0">
                <a:ea typeface="宋体" panose="02010600030101010101" pitchFamily="2" charset="-122"/>
              </a:rPr>
              <a:t>返回一个指向新创建列表的指针</a:t>
            </a:r>
            <a:endParaRPr lang="en-US" altLang="zh-CN" sz="2000" b="1" dirty="0">
              <a:ea typeface="宋体" panose="02010600030101010101" pitchFamily="2" charset="-122"/>
            </a:endParaRPr>
          </a:p>
          <a:p>
            <a:pPr lvl="2"/>
            <a:r>
              <a:rPr lang="en-US" altLang="zh-CN" sz="2000" i="1" dirty="0">
                <a:ea typeface="宋体" panose="02010600030101010101" pitchFamily="2" charset="-122"/>
              </a:rPr>
              <a:t>merge</a:t>
            </a:r>
            <a:r>
              <a:rPr lang="en-US" altLang="zh-CN" sz="2000" b="1" dirty="0">
                <a:ea typeface="宋体" panose="02010600030101010101" pitchFamily="2" charset="-122"/>
              </a:rPr>
              <a:t>(  </a:t>
            </a:r>
            <a:r>
              <a:rPr lang="en-US" altLang="zh-CN" sz="2000" i="1" dirty="0">
                <a:ea typeface="宋体" panose="02010600030101010101" pitchFamily="2" charset="-122"/>
              </a:rPr>
              <a:t>p</a:t>
            </a:r>
            <a:r>
              <a:rPr lang="en-US" altLang="zh-CN" sz="2000" i="1" baseline="-25000" dirty="0">
                <a:ea typeface="宋体" panose="02010600030101010101" pitchFamily="2" charset="-122"/>
              </a:rPr>
              <a:t>1 </a:t>
            </a:r>
            <a:r>
              <a:rPr lang="en-US" altLang="zh-CN" sz="2000" b="1" dirty="0">
                <a:ea typeface="宋体" panose="02010600030101010101" pitchFamily="2" charset="-122"/>
              </a:rPr>
              <a:t>, </a:t>
            </a:r>
            <a:r>
              <a:rPr lang="en-US" altLang="zh-CN" sz="2000" i="1" dirty="0">
                <a:ea typeface="宋体" panose="02010600030101010101" pitchFamily="2" charset="-122"/>
              </a:rPr>
              <a:t>p</a:t>
            </a:r>
            <a:r>
              <a:rPr lang="en-US" altLang="zh-CN" sz="2000" i="1" baseline="-25000" dirty="0">
                <a:ea typeface="宋体" panose="02010600030101010101" pitchFamily="2" charset="-122"/>
              </a:rPr>
              <a:t>2 </a:t>
            </a:r>
            <a:r>
              <a:rPr lang="en-US" altLang="zh-CN" sz="2000" b="1" dirty="0">
                <a:ea typeface="宋体" panose="02010600030101010101" pitchFamily="2" charset="-122"/>
              </a:rPr>
              <a:t>)</a:t>
            </a:r>
            <a:r>
              <a:rPr lang="zh-CN" altLang="en-US" sz="2000" b="1" dirty="0">
                <a:ea typeface="宋体" panose="02010600030101010101" pitchFamily="2" charset="-122"/>
              </a:rPr>
              <a:t>，将列表</a:t>
            </a:r>
            <a:r>
              <a:rPr lang="en-US" altLang="zh-CN" sz="2000" i="1" dirty="0">
                <a:ea typeface="宋体" panose="02010600030101010101" pitchFamily="2" charset="-122"/>
              </a:rPr>
              <a:t>p</a:t>
            </a:r>
            <a:r>
              <a:rPr lang="en-US" altLang="zh-CN" sz="2000" i="1" baseline="-25000" dirty="0">
                <a:ea typeface="宋体" panose="02010600030101010101" pitchFamily="2" charset="-122"/>
              </a:rPr>
              <a:t>1</a:t>
            </a:r>
            <a:r>
              <a:rPr lang="zh-CN" altLang="en-US" sz="2000" b="1" dirty="0">
                <a:ea typeface="宋体" panose="02010600030101010101" pitchFamily="2" charset="-122"/>
              </a:rPr>
              <a:t>和</a:t>
            </a:r>
            <a:r>
              <a:rPr lang="en-US" altLang="zh-CN" sz="2000" i="1" dirty="0">
                <a:ea typeface="宋体" panose="02010600030101010101" pitchFamily="2" charset="-122"/>
              </a:rPr>
              <a:t>p</a:t>
            </a:r>
            <a:r>
              <a:rPr lang="en-US" altLang="zh-CN" sz="2000" i="1" baseline="-25000" dirty="0">
                <a:ea typeface="宋体" panose="02010600030101010101" pitchFamily="2" charset="-122"/>
              </a:rPr>
              <a:t>2</a:t>
            </a:r>
            <a:r>
              <a:rPr lang="zh-CN" altLang="en-US" sz="2000" b="1" dirty="0">
                <a:ea typeface="宋体" panose="02010600030101010101" pitchFamily="2" charset="-122"/>
              </a:rPr>
              <a:t>合并，并返回指向合并后列表的指针</a:t>
            </a:r>
            <a:endParaRPr lang="en-US" altLang="zh-CN" sz="2000" b="1" dirty="0">
              <a:ea typeface="宋体" panose="02010600030101010101" pitchFamily="2" charset="-122"/>
            </a:endParaRPr>
          </a:p>
          <a:p>
            <a:pPr lvl="2"/>
            <a:r>
              <a:rPr lang="en-US" altLang="zh-CN" sz="2000" b="1" dirty="0">
                <a:ea typeface="宋体" panose="02010600030101010101" pitchFamily="2" charset="-122"/>
              </a:rPr>
              <a:t>backpatch( </a:t>
            </a:r>
            <a:r>
              <a:rPr lang="en-US" altLang="zh-CN" sz="2000" i="1" dirty="0">
                <a:ea typeface="宋体" panose="02010600030101010101" pitchFamily="2" charset="-122"/>
              </a:rPr>
              <a:t>p</a:t>
            </a:r>
            <a:r>
              <a:rPr lang="en-US" altLang="zh-CN" sz="2000" i="1" baseline="-25000" dirty="0">
                <a:ea typeface="宋体" panose="02010600030101010101" pitchFamily="2" charset="-122"/>
              </a:rPr>
              <a:t> </a:t>
            </a:r>
            <a:r>
              <a:rPr lang="en-US" altLang="zh-CN" sz="2000" b="1" dirty="0">
                <a:ea typeface="宋体" panose="02010600030101010101" pitchFamily="2" charset="-122"/>
              </a:rPr>
              <a:t>, </a:t>
            </a:r>
            <a:r>
              <a:rPr lang="en-US" altLang="zh-CN" sz="2000" i="1" dirty="0">
                <a:ea typeface="宋体" panose="02010600030101010101" pitchFamily="2" charset="-122"/>
              </a:rPr>
              <a:t>i </a:t>
            </a:r>
            <a:r>
              <a:rPr lang="en-US" altLang="zh-CN" sz="2000" b="1" dirty="0">
                <a:ea typeface="宋体" panose="02010600030101010101" pitchFamily="2" charset="-122"/>
              </a:rPr>
              <a:t>)</a:t>
            </a:r>
            <a:r>
              <a:rPr lang="zh-CN" altLang="en-US" sz="2000" b="1" dirty="0">
                <a:ea typeface="宋体" panose="02010600030101010101" pitchFamily="2" charset="-122"/>
              </a:rPr>
              <a:t>，将</a:t>
            </a:r>
            <a:r>
              <a:rPr lang="en-US" altLang="zh-CN" sz="2000" i="1" dirty="0">
                <a:ea typeface="宋体" panose="02010600030101010101" pitchFamily="2" charset="-122"/>
              </a:rPr>
              <a:t>i</a:t>
            </a:r>
            <a:r>
              <a:rPr lang="zh-CN" altLang="en-US" sz="2000" b="1" dirty="0">
                <a:ea typeface="宋体" panose="02010600030101010101" pitchFamily="2" charset="-122"/>
              </a:rPr>
              <a:t>作为目标标号插入到</a:t>
            </a:r>
            <a:r>
              <a:rPr lang="en-US" altLang="zh-CN" sz="2000" i="1" dirty="0">
                <a:ea typeface="宋体" panose="02010600030101010101" pitchFamily="2" charset="-122"/>
              </a:rPr>
              <a:t>p</a:t>
            </a:r>
            <a:r>
              <a:rPr lang="zh-CN" altLang="en-US" sz="2000" b="1" dirty="0">
                <a:ea typeface="宋体" panose="02010600030101010101" pitchFamily="2" charset="-122"/>
              </a:rPr>
              <a:t>所指列表中各指令中</a:t>
            </a:r>
            <a:endParaRPr lang="zh-CN" altLang="en-US" sz="2000" b="1" dirty="0">
              <a:ea typeface="宋体" panose="02010600030101010101" pitchFamily="2" charset="-122"/>
            </a:endParaRPr>
          </a:p>
        </p:txBody>
      </p:sp>
    </p:spTree>
  </p:cSld>
  <p:clrMapOvr>
    <a:masterClrMapping/>
  </p:clrMapOvr>
  <p:transition spd="slow"/>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11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回填技术（</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58051" name="Rectangle 3"/>
          <p:cNvSpPr>
            <a:spLocks noGrp="1" noChangeArrowheads="1"/>
          </p:cNvSpPr>
          <p:nvPr>
            <p:ph idx="1"/>
          </p:nvPr>
        </p:nvSpPr>
        <p:spPr>
          <a:xfrm>
            <a:off x="611188" y="1371600"/>
            <a:ext cx="8208963"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改写文法如下：</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5715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B→ 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 M 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  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&amp;&amp;</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M 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  E</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rel</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E</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true | false</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5715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M→ </a:t>
            </a:r>
            <a:r>
              <a:rPr kumimoji="0" lang="el-GR"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ε</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引入标记非终结符</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M</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在适当的时刻获取将要生成的下一条指令的下标（标号）</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翻译方案见下页</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以</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rPr>
              <a:t>B→ B</a:t>
            </a:r>
            <a:r>
              <a:rPr kumimoji="0" lang="en-US" altLang="zh-CN" sz="24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rPr>
              <a:t> || M B</a:t>
            </a:r>
            <a:r>
              <a:rPr kumimoji="0" lang="en-US" altLang="zh-CN" sz="2400" b="0"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为例</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为真，则</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也为真，所以</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truelist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成为</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rPr>
              <a:t>B</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rPr>
              <a:t>truelist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的一部分</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为假，则要测试</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，所以</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falselist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的跳转指令目标必定是</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的代码的起始位置</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这个工作由标记非终结符</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M</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完成</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语义动作</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5</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）中生成了两条指令，其中两个标号都未填写，这两条指令分别加入</a:t>
            </a:r>
            <a:r>
              <a:rPr kumimoji="0" lang="en-US" altLang="zh-CN" sz="2400" b="0" i="1" u="none" strike="noStrike" kern="0" cap="none" spc="0" normalizeH="0" baseline="0" noProof="0" dirty="0" err="1">
                <a:ln>
                  <a:noFill/>
                </a:ln>
                <a:solidFill>
                  <a:schemeClr val="tx1"/>
                </a:solidFill>
                <a:effectLst/>
                <a:uLnTx/>
                <a:uFillTx/>
                <a:latin typeface="+mn-lt"/>
                <a:ea typeface="宋体" panose="02010600030101010101" pitchFamily="2" charset="-122"/>
              </a:rPr>
              <a:t>B</a:t>
            </a:r>
            <a:r>
              <a:rPr kumimoji="0"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rPr>
              <a:t>.</a:t>
            </a:r>
            <a:r>
              <a:rPr kumimoji="0" lang="en-US" altLang="zh-CN" sz="2400" b="0" i="1" u="none" strike="noStrike" kern="0" cap="none" spc="0" normalizeH="0" baseline="0" noProof="0" dirty="0" err="1">
                <a:ln>
                  <a:noFill/>
                </a:ln>
                <a:solidFill>
                  <a:schemeClr val="tx1"/>
                </a:solidFill>
                <a:effectLst/>
                <a:uLnTx/>
                <a:uFillTx/>
                <a:latin typeface="+mn-lt"/>
                <a:ea typeface="宋体" panose="02010600030101010101" pitchFamily="2" charset="-122"/>
              </a:rPr>
              <a:t>truelist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400" b="0" i="1" u="none" strike="noStrike" kern="0" cap="none" spc="0" normalizeH="0" baseline="0" noProof="0" dirty="0" err="1">
                <a:ln>
                  <a:noFill/>
                </a:ln>
                <a:solidFill>
                  <a:schemeClr val="tx1"/>
                </a:solidFill>
                <a:effectLst/>
                <a:uLnTx/>
                <a:uFillTx/>
                <a:latin typeface="+mn-lt"/>
                <a:ea typeface="宋体" panose="02010600030101010101" pitchFamily="2" charset="-122"/>
              </a:rPr>
              <a:t>B</a:t>
            </a:r>
            <a:r>
              <a:rPr kumimoji="0"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rPr>
              <a:t>.</a:t>
            </a:r>
            <a:r>
              <a:rPr kumimoji="0" lang="en-US" altLang="zh-CN" sz="2400" b="0" i="1" u="none" strike="noStrike" kern="0" cap="none" spc="0" normalizeH="0" baseline="0" noProof="0" dirty="0" err="1">
                <a:ln>
                  <a:noFill/>
                </a:ln>
                <a:solidFill>
                  <a:schemeClr val="tx1"/>
                </a:solidFill>
                <a:effectLst/>
                <a:uLnTx/>
                <a:uFillTx/>
                <a:latin typeface="+mn-lt"/>
                <a:ea typeface="宋体" panose="02010600030101010101" pitchFamily="2" charset="-122"/>
              </a:rPr>
              <a:t>falselist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指向的列表，等待回填</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3170" name="Picture 2"/>
          <p:cNvPicPr>
            <a:picLocks noChangeAspect="1"/>
          </p:cNvPicPr>
          <p:nvPr/>
        </p:nvPicPr>
        <p:blipFill>
          <a:blip r:embed="rId1"/>
          <a:stretch>
            <a:fillRect/>
          </a:stretch>
        </p:blipFill>
        <p:spPr>
          <a:xfrm>
            <a:off x="990600" y="304800"/>
            <a:ext cx="7162800" cy="6229350"/>
          </a:xfrm>
          <a:prstGeom prst="rect">
            <a:avLst/>
          </a:prstGeom>
          <a:noFill/>
          <a:ln w="9525">
            <a:noFill/>
          </a:ln>
        </p:spPr>
      </p:pic>
    </p:spTree>
  </p:cSld>
  <p:clrMapOvr>
    <a:masterClrMapping/>
  </p:clrMapOvr>
  <p:transition spd="slow"/>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419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回填技术（4）</a:t>
            </a:r>
            <a:endParaRPr lang="zh-CN" altLang="en-US" dirty="0">
              <a:latin typeface="Times New Roman" panose="02020603050405020304" pitchFamily="18" charset="0"/>
              <a:ea typeface="宋体" panose="02010600030101010101" pitchFamily="2" charset="-122"/>
            </a:endParaRPr>
          </a:p>
        </p:txBody>
      </p:sp>
      <p:sp>
        <p:nvSpPr>
          <p:cNvPr id="264195" name="Rectangle 3"/>
          <p:cNvSpPr>
            <a:spLocks noGrp="1"/>
          </p:cNvSpPr>
          <p:nvPr>
            <p:ph idx="1"/>
          </p:nvPr>
        </p:nvSpPr>
        <p:spPr>
          <a:xfrm>
            <a:off x="755650" y="1524000"/>
            <a:ext cx="7920038" cy="4800600"/>
          </a:xfrm>
        </p:spPr>
        <p:txBody>
          <a:bodyPr vert="horz" wrap="square" lIns="92075" tIns="46038" rIns="92075" bIns="46038" anchor="t" anchorCtr="0"/>
          <a:p>
            <a:r>
              <a:rPr lang="zh-CN" altLang="en-US" sz="2400" b="1" dirty="0">
                <a:ea typeface="宋体" panose="02010600030101010101" pitchFamily="2" charset="-122"/>
              </a:rPr>
              <a:t>例</a:t>
            </a:r>
            <a:r>
              <a:rPr lang="en-US" altLang="zh-CN" sz="2400" b="1" dirty="0">
                <a:ea typeface="宋体" panose="02010600030101010101" pitchFamily="2" charset="-122"/>
              </a:rPr>
              <a:t>6.24</a:t>
            </a:r>
            <a:r>
              <a:rPr lang="zh-CN" altLang="en-US" sz="2400" b="1" dirty="0">
                <a:ea typeface="宋体" panose="02010600030101010101" pitchFamily="2" charset="-122"/>
              </a:rPr>
              <a:t>：再次考虑表达式</a:t>
            </a:r>
            <a:r>
              <a:rPr lang="en-US" altLang="zh-CN" sz="2400" b="1" dirty="0">
                <a:ea typeface="宋体" panose="02010600030101010101" pitchFamily="2" charset="-122"/>
              </a:rPr>
              <a:t>x&lt;100 || x&gt;200 &amp;&amp; x!=y</a:t>
            </a:r>
            <a:endParaRPr lang="en-US" altLang="zh-CN" sz="2400" b="1" dirty="0">
              <a:ea typeface="宋体" panose="02010600030101010101" pitchFamily="2" charset="-122"/>
            </a:endParaRPr>
          </a:p>
          <a:p>
            <a:pPr lvl="1"/>
            <a:r>
              <a:rPr lang="zh-CN" altLang="en-US" sz="2200" b="1" dirty="0">
                <a:ea typeface="宋体" panose="02010600030101010101" pitchFamily="2" charset="-122"/>
              </a:rPr>
              <a:t>首先，在将</a:t>
            </a:r>
            <a:r>
              <a:rPr lang="en-US" altLang="zh-CN" sz="2200" b="1" dirty="0">
                <a:ea typeface="宋体" panose="02010600030101010101" pitchFamily="2" charset="-122"/>
              </a:rPr>
              <a:t>x &lt; 100</a:t>
            </a:r>
            <a:r>
              <a:rPr lang="zh-CN" altLang="en-US" sz="2200" b="1" dirty="0">
                <a:ea typeface="宋体" panose="02010600030101010101" pitchFamily="2" charset="-122"/>
              </a:rPr>
              <a:t>归约为</a:t>
            </a:r>
            <a:r>
              <a:rPr lang="en-US" altLang="zh-CN" sz="2200" b="1" dirty="0">
                <a:ea typeface="宋体" panose="02010600030101010101" pitchFamily="2" charset="-122"/>
              </a:rPr>
              <a:t>B</a:t>
            </a:r>
            <a:r>
              <a:rPr lang="zh-CN" altLang="en-US" sz="2200" b="1" dirty="0">
                <a:ea typeface="宋体" panose="02010600030101010101" pitchFamily="2" charset="-122"/>
              </a:rPr>
              <a:t>时产生</a:t>
            </a:r>
            <a:endParaRPr lang="zh-CN" altLang="en-US" sz="2200" b="1" dirty="0">
              <a:ea typeface="宋体" panose="02010600030101010101" pitchFamily="2" charset="-122"/>
            </a:endParaRPr>
          </a:p>
          <a:p>
            <a:pPr lvl="2">
              <a:buNone/>
            </a:pPr>
            <a:r>
              <a:rPr lang="zh-CN" altLang="en-US" sz="1800" b="1" dirty="0">
                <a:ea typeface="宋体" panose="02010600030101010101" pitchFamily="2" charset="-122"/>
              </a:rPr>
              <a:t>100：  </a:t>
            </a:r>
            <a:r>
              <a:rPr lang="en-US" altLang="zh-CN" sz="1800" b="1" dirty="0">
                <a:ea typeface="宋体" panose="02010600030101010101" pitchFamily="2" charset="-122"/>
              </a:rPr>
              <a:t>if x &lt; 100 goto –</a:t>
            </a:r>
            <a:endParaRPr lang="en-US" altLang="zh-CN" sz="1800" b="1" dirty="0">
              <a:ea typeface="宋体" panose="02010600030101010101" pitchFamily="2" charset="-122"/>
            </a:endParaRPr>
          </a:p>
          <a:p>
            <a:pPr lvl="2">
              <a:buNone/>
            </a:pPr>
            <a:r>
              <a:rPr lang="en-US" altLang="zh-CN" sz="1800" b="1" dirty="0">
                <a:ea typeface="宋体" panose="02010600030101010101" pitchFamily="2" charset="-122"/>
              </a:rPr>
              <a:t>101：  goto –</a:t>
            </a:r>
            <a:endParaRPr lang="en-US" altLang="zh-CN" sz="1800" b="1" dirty="0">
              <a:ea typeface="宋体" panose="02010600030101010101" pitchFamily="2" charset="-122"/>
            </a:endParaRPr>
          </a:p>
          <a:p>
            <a:pPr lvl="1">
              <a:buNone/>
            </a:pPr>
            <a:r>
              <a:rPr lang="en-US" altLang="zh-CN" sz="1800" b="1" dirty="0">
                <a:ea typeface="宋体" panose="02010600030101010101" pitchFamily="2" charset="-122"/>
              </a:rPr>
              <a:t>	</a:t>
            </a:r>
            <a:r>
              <a:rPr lang="zh-CN" altLang="en-US" sz="1800" b="1" dirty="0">
                <a:ea typeface="宋体" panose="02010600030101010101" pitchFamily="2" charset="-122"/>
              </a:rPr>
              <a:t>此时，对应的</a:t>
            </a:r>
            <a:r>
              <a:rPr lang="en-US" altLang="zh-CN" sz="1800" b="1" dirty="0">
                <a:ea typeface="宋体" panose="02010600030101010101" pitchFamily="2" charset="-122"/>
              </a:rPr>
              <a:t>B</a:t>
            </a:r>
            <a:r>
              <a:rPr lang="zh-CN" altLang="en-US" sz="1800" b="1" dirty="0">
                <a:ea typeface="宋体" panose="02010600030101010101" pitchFamily="2" charset="-122"/>
              </a:rPr>
              <a:t>结点处的</a:t>
            </a:r>
            <a:r>
              <a:rPr lang="en-US" altLang="zh-CN" sz="1800" b="1" dirty="0">
                <a:ea typeface="宋体" panose="02010600030101010101" pitchFamily="2" charset="-122"/>
              </a:rPr>
              <a:t>B.truelist</a:t>
            </a:r>
            <a:r>
              <a:rPr lang="zh-CN" altLang="en-US" sz="1800" b="1" dirty="0">
                <a:ea typeface="宋体" panose="02010600030101010101" pitchFamily="2" charset="-122"/>
              </a:rPr>
              <a:t>记录了标号100，</a:t>
            </a:r>
            <a:r>
              <a:rPr lang="en-US" altLang="zh-CN" sz="1800" b="1" dirty="0">
                <a:ea typeface="宋体" panose="02010600030101010101" pitchFamily="2" charset="-122"/>
              </a:rPr>
              <a:t>B.falselist</a:t>
            </a:r>
            <a:r>
              <a:rPr lang="zh-CN" altLang="en-US" sz="1800" b="1" dirty="0">
                <a:ea typeface="宋体" panose="02010600030101010101" pitchFamily="2" charset="-122"/>
              </a:rPr>
              <a:t>记录了标号101，表示这两处对应的标号还未生成，要通过回填来完成</a:t>
            </a:r>
            <a:endParaRPr lang="zh-CN" altLang="en-US" sz="1800" b="1" dirty="0">
              <a:ea typeface="宋体" panose="02010600030101010101" pitchFamily="2" charset="-122"/>
            </a:endParaRPr>
          </a:p>
          <a:p>
            <a:pPr lvl="1"/>
            <a:r>
              <a:rPr lang="zh-CN" altLang="en-US" sz="2200" b="1" dirty="0">
                <a:ea typeface="宋体" panose="02010600030101010101" pitchFamily="2" charset="-122"/>
              </a:rPr>
              <a:t>其次，对产生式</a:t>
            </a:r>
            <a:r>
              <a:rPr lang="en-US" altLang="zh-CN" i="1" dirty="0">
                <a:ea typeface="宋体" panose="02010600030101010101" pitchFamily="2" charset="-122"/>
              </a:rPr>
              <a:t>B→ B</a:t>
            </a:r>
            <a:r>
              <a:rPr lang="en-US" altLang="zh-CN" i="1" baseline="-25000" dirty="0">
                <a:ea typeface="宋体" panose="02010600030101010101" pitchFamily="2" charset="-122"/>
              </a:rPr>
              <a:t>1</a:t>
            </a:r>
            <a:r>
              <a:rPr lang="en-US" altLang="zh-CN" i="1" dirty="0">
                <a:ea typeface="宋体" panose="02010600030101010101" pitchFamily="2" charset="-122"/>
              </a:rPr>
              <a:t> || M B</a:t>
            </a:r>
            <a:r>
              <a:rPr lang="en-US" altLang="zh-CN" i="1" baseline="-25000" dirty="0">
                <a:ea typeface="宋体" panose="02010600030101010101" pitchFamily="2" charset="-122"/>
              </a:rPr>
              <a:t>2</a:t>
            </a:r>
            <a:r>
              <a:rPr lang="en-US" altLang="zh-CN" i="1" dirty="0">
                <a:ea typeface="宋体" panose="02010600030101010101" pitchFamily="2" charset="-122"/>
              </a:rPr>
              <a:t> </a:t>
            </a:r>
            <a:r>
              <a:rPr lang="zh-CN" altLang="en-US" sz="2200" b="1" dirty="0">
                <a:ea typeface="宋体" panose="02010600030101010101" pitchFamily="2" charset="-122"/>
              </a:rPr>
              <a:t>中的标记非终结符</a:t>
            </a:r>
            <a:r>
              <a:rPr lang="en-US" altLang="zh-CN" sz="2200" b="1" dirty="0">
                <a:ea typeface="宋体" panose="02010600030101010101" pitchFamily="2" charset="-122"/>
              </a:rPr>
              <a:t>M</a:t>
            </a:r>
            <a:r>
              <a:rPr lang="zh-CN" altLang="en-US" sz="2200" b="1" dirty="0">
                <a:ea typeface="宋体" panose="02010600030101010101" pitchFamily="2" charset="-122"/>
              </a:rPr>
              <a:t>记录了</a:t>
            </a:r>
            <a:r>
              <a:rPr lang="en-US" altLang="zh-CN" sz="2200" i="1" dirty="0">
                <a:ea typeface="宋体" panose="02010600030101010101" pitchFamily="2" charset="-122"/>
              </a:rPr>
              <a:t>nextinstr</a:t>
            </a:r>
            <a:r>
              <a:rPr lang="zh-CN" altLang="en-US" sz="2200" b="1" dirty="0">
                <a:ea typeface="宋体" panose="02010600030101010101" pitchFamily="2" charset="-122"/>
              </a:rPr>
              <a:t>的值（此时为</a:t>
            </a:r>
            <a:r>
              <a:rPr lang="en-US" altLang="zh-CN" sz="2200" b="1" dirty="0">
                <a:ea typeface="宋体" panose="02010600030101010101" pitchFamily="2" charset="-122"/>
              </a:rPr>
              <a:t>102</a:t>
            </a:r>
            <a:r>
              <a:rPr lang="zh-CN" altLang="en-US" sz="2200" b="1" dirty="0">
                <a:ea typeface="宋体" panose="02010600030101010101" pitchFamily="2" charset="-122"/>
              </a:rPr>
              <a:t>）</a:t>
            </a:r>
            <a:endParaRPr lang="en-US" altLang="zh-CN" sz="2200" b="1" dirty="0">
              <a:ea typeface="宋体" panose="02010600030101010101" pitchFamily="2" charset="-122"/>
            </a:endParaRPr>
          </a:p>
          <a:p>
            <a:pPr lvl="1"/>
            <a:r>
              <a:rPr lang="zh-CN" altLang="en-US" sz="2200" b="1" dirty="0">
                <a:ea typeface="宋体" panose="02010600030101010101" pitchFamily="2" charset="-122"/>
              </a:rPr>
              <a:t>再次，将</a:t>
            </a:r>
            <a:r>
              <a:rPr lang="en-US" altLang="zh-CN" sz="2200" b="1" dirty="0">
                <a:ea typeface="宋体" panose="02010600030101010101" pitchFamily="2" charset="-122"/>
              </a:rPr>
              <a:t>x</a:t>
            </a:r>
            <a:r>
              <a:rPr lang="zh-CN" altLang="en-US" sz="2200" b="1" dirty="0">
                <a:ea typeface="宋体" panose="02010600030101010101" pitchFamily="2" charset="-122"/>
              </a:rPr>
              <a:t> </a:t>
            </a:r>
            <a:r>
              <a:rPr lang="en-US" altLang="zh-CN" sz="2200" b="1" dirty="0">
                <a:ea typeface="宋体" panose="02010600030101010101" pitchFamily="2" charset="-122"/>
              </a:rPr>
              <a:t>&gt; 200</a:t>
            </a:r>
            <a:r>
              <a:rPr lang="zh-CN" altLang="en-US" sz="2200" b="1" dirty="0">
                <a:ea typeface="宋体" panose="02010600030101010101" pitchFamily="2" charset="-122"/>
              </a:rPr>
              <a:t>归约为</a:t>
            </a:r>
            <a:r>
              <a:rPr lang="en-US" altLang="zh-CN" sz="2200" b="1" dirty="0">
                <a:ea typeface="宋体" panose="02010600030101010101" pitchFamily="2" charset="-122"/>
              </a:rPr>
              <a:t>B</a:t>
            </a:r>
            <a:r>
              <a:rPr lang="zh-CN" altLang="en-US" sz="2200" b="1" dirty="0">
                <a:ea typeface="宋体" panose="02010600030101010101" pitchFamily="2" charset="-122"/>
              </a:rPr>
              <a:t>时产生</a:t>
            </a:r>
            <a:endParaRPr lang="zh-CN" altLang="en-US" sz="2200" b="1" dirty="0">
              <a:ea typeface="宋体" panose="02010600030101010101" pitchFamily="2" charset="-122"/>
            </a:endParaRPr>
          </a:p>
          <a:p>
            <a:pPr lvl="2">
              <a:buNone/>
            </a:pPr>
            <a:r>
              <a:rPr lang="zh-CN" altLang="en-US" sz="1800" b="1" dirty="0">
                <a:ea typeface="宋体" panose="02010600030101010101" pitchFamily="2" charset="-122"/>
              </a:rPr>
              <a:t>102：  </a:t>
            </a:r>
            <a:r>
              <a:rPr lang="en-US" altLang="zh-CN" sz="1800" b="1" dirty="0">
                <a:ea typeface="宋体" panose="02010600030101010101" pitchFamily="2" charset="-122"/>
              </a:rPr>
              <a:t>if x &gt; 200 goto –</a:t>
            </a:r>
            <a:endParaRPr lang="en-US" altLang="zh-CN" sz="1800" b="1" dirty="0">
              <a:ea typeface="宋体" panose="02010600030101010101" pitchFamily="2" charset="-122"/>
            </a:endParaRPr>
          </a:p>
          <a:p>
            <a:pPr lvl="2">
              <a:buNone/>
            </a:pPr>
            <a:r>
              <a:rPr lang="en-US" altLang="zh-CN" sz="1800" b="1" dirty="0">
                <a:ea typeface="宋体" panose="02010600030101010101" pitchFamily="2" charset="-122"/>
              </a:rPr>
              <a:t>103：  goto –</a:t>
            </a:r>
            <a:endParaRPr lang="en-US" altLang="zh-CN" sz="1800" b="1" dirty="0">
              <a:ea typeface="宋体" panose="02010600030101010101" pitchFamily="2" charset="-122"/>
            </a:endParaRPr>
          </a:p>
          <a:p>
            <a:pPr lvl="1">
              <a:buNone/>
            </a:pPr>
            <a:r>
              <a:rPr lang="en-US" altLang="zh-CN" sz="1800" b="1" dirty="0">
                <a:ea typeface="宋体" panose="02010600030101010101" pitchFamily="2" charset="-122"/>
              </a:rPr>
              <a:t>	</a:t>
            </a:r>
            <a:r>
              <a:rPr lang="zh-CN" altLang="en-US" sz="1800" b="1" dirty="0">
                <a:ea typeface="宋体" panose="02010600030101010101" pitchFamily="2" charset="-122"/>
              </a:rPr>
              <a:t>此时，对应的</a:t>
            </a:r>
            <a:r>
              <a:rPr lang="en-US" altLang="zh-CN" sz="1800" b="1" dirty="0">
                <a:ea typeface="宋体" panose="02010600030101010101" pitchFamily="2" charset="-122"/>
              </a:rPr>
              <a:t>B</a:t>
            </a:r>
            <a:r>
              <a:rPr lang="zh-CN" altLang="en-US" sz="1800" b="1" dirty="0">
                <a:ea typeface="宋体" panose="02010600030101010101" pitchFamily="2" charset="-122"/>
              </a:rPr>
              <a:t>结点处的</a:t>
            </a:r>
            <a:r>
              <a:rPr lang="en-US" altLang="zh-CN" sz="1800" b="1" dirty="0">
                <a:ea typeface="宋体" panose="02010600030101010101" pitchFamily="2" charset="-122"/>
              </a:rPr>
              <a:t>B.truelist</a:t>
            </a:r>
            <a:r>
              <a:rPr lang="zh-CN" altLang="en-US" sz="1800" b="1" dirty="0">
                <a:ea typeface="宋体" panose="02010600030101010101" pitchFamily="2" charset="-122"/>
              </a:rPr>
              <a:t>记录了标号102，</a:t>
            </a:r>
            <a:r>
              <a:rPr lang="en-US" altLang="zh-CN" sz="1800" b="1" dirty="0">
                <a:ea typeface="宋体" panose="02010600030101010101" pitchFamily="2" charset="-122"/>
              </a:rPr>
              <a:t>B.falselist</a:t>
            </a:r>
            <a:r>
              <a:rPr lang="zh-CN" altLang="en-US" sz="1800" b="1" dirty="0">
                <a:ea typeface="宋体" panose="02010600030101010101" pitchFamily="2" charset="-122"/>
              </a:rPr>
              <a:t>记录了标号103，表示这两处对应的标号还未生成，要通过回填来完成，此时已经分析完了</a:t>
            </a:r>
            <a:r>
              <a:rPr lang="en-US" altLang="zh-CN" sz="1700" i="1" dirty="0">
                <a:ea typeface="宋体" panose="02010600030101010101" pitchFamily="2" charset="-122"/>
              </a:rPr>
              <a:t>B→  B</a:t>
            </a:r>
            <a:r>
              <a:rPr lang="en-US" altLang="zh-CN" sz="1700" i="1" baseline="-25000" dirty="0">
                <a:ea typeface="宋体" panose="02010600030101010101" pitchFamily="2" charset="-122"/>
              </a:rPr>
              <a:t>1</a:t>
            </a:r>
            <a:r>
              <a:rPr lang="en-US" altLang="zh-CN" sz="1700" i="1" dirty="0">
                <a:ea typeface="宋体" panose="02010600030101010101" pitchFamily="2" charset="-122"/>
              </a:rPr>
              <a:t>  &amp;&amp;</a:t>
            </a:r>
            <a:r>
              <a:rPr lang="zh-CN" altLang="en-US" sz="1700" i="1" dirty="0">
                <a:ea typeface="宋体" panose="02010600030101010101" pitchFamily="2" charset="-122"/>
              </a:rPr>
              <a:t> </a:t>
            </a:r>
            <a:r>
              <a:rPr lang="en-US" altLang="zh-CN" sz="1700" i="1" dirty="0">
                <a:ea typeface="宋体" panose="02010600030101010101" pitchFamily="2" charset="-122"/>
              </a:rPr>
              <a:t>M B</a:t>
            </a:r>
            <a:r>
              <a:rPr lang="en-US" altLang="zh-CN" sz="1700" i="1" baseline="-25000" dirty="0">
                <a:ea typeface="宋体" panose="02010600030101010101" pitchFamily="2" charset="-122"/>
              </a:rPr>
              <a:t>2</a:t>
            </a:r>
            <a:r>
              <a:rPr lang="zh-CN" altLang="en-US" sz="1800" b="1" dirty="0">
                <a:ea typeface="宋体" panose="02010600030101010101" pitchFamily="2" charset="-122"/>
              </a:rPr>
              <a:t>的</a:t>
            </a:r>
            <a:r>
              <a:rPr lang="en-US" altLang="zh-CN" sz="1700" b="1" dirty="0">
                <a:ea typeface="宋体" panose="02010600030101010101" pitchFamily="2" charset="-122"/>
              </a:rPr>
              <a:t>B</a:t>
            </a:r>
            <a:r>
              <a:rPr lang="en-US" altLang="zh-CN" sz="1700" b="1" baseline="-25000" dirty="0">
                <a:ea typeface="宋体" panose="02010600030101010101" pitchFamily="2" charset="-122"/>
              </a:rPr>
              <a:t>1</a:t>
            </a:r>
            <a:r>
              <a:rPr lang="zh-CN" altLang="en-US" sz="1800" b="1" dirty="0">
                <a:ea typeface="宋体" panose="02010600030101010101" pitchFamily="2" charset="-122"/>
              </a:rPr>
              <a:t>，</a:t>
            </a:r>
            <a:endParaRPr lang="zh-CN" altLang="en-US" sz="1800" b="1" dirty="0">
              <a:ea typeface="宋体" panose="02010600030101010101" pitchFamily="2" charset="-122"/>
            </a:endParaRPr>
          </a:p>
        </p:txBody>
      </p:sp>
    </p:spTree>
  </p:cSld>
  <p:clrMapOvr>
    <a:masterClrMapping/>
  </p:clrMapOvr>
  <p:transition spd="slow"/>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4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回填技术（</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66243" name="Rectangle 3"/>
          <p:cNvSpPr>
            <a:spLocks noGrp="1"/>
          </p:cNvSpPr>
          <p:nvPr>
            <p:ph idx="1"/>
          </p:nvPr>
        </p:nvSpPr>
        <p:spPr>
          <a:xfrm>
            <a:off x="107950" y="1524000"/>
            <a:ext cx="8928100" cy="4800600"/>
          </a:xfrm>
        </p:spPr>
        <p:txBody>
          <a:bodyPr vert="horz" wrap="square" lIns="92075" tIns="46038" rIns="92075" bIns="46038" anchor="t" anchorCtr="0"/>
          <a:p>
            <a:pPr lvl="1"/>
            <a:r>
              <a:rPr lang="zh-CN" altLang="en-US" sz="2200" b="1" dirty="0">
                <a:ea typeface="宋体" panose="02010600030101010101" pitchFamily="2" charset="-122"/>
              </a:rPr>
              <a:t>又次，</a:t>
            </a:r>
            <a:r>
              <a:rPr lang="en-US" altLang="zh-CN" sz="2200" i="1" dirty="0">
                <a:ea typeface="宋体" panose="02010600030101010101" pitchFamily="2" charset="-122"/>
              </a:rPr>
              <a:t>B→  B</a:t>
            </a:r>
            <a:r>
              <a:rPr lang="en-US" altLang="zh-CN" sz="2200" i="1" baseline="-25000" dirty="0">
                <a:ea typeface="宋体" panose="02010600030101010101" pitchFamily="2" charset="-122"/>
              </a:rPr>
              <a:t>1</a:t>
            </a:r>
            <a:r>
              <a:rPr lang="en-US" altLang="zh-CN" sz="2200" i="1" dirty="0">
                <a:ea typeface="宋体" panose="02010600030101010101" pitchFamily="2" charset="-122"/>
              </a:rPr>
              <a:t>  &amp;&amp;</a:t>
            </a:r>
            <a:r>
              <a:rPr lang="zh-CN" altLang="en-US" sz="2200" i="1" dirty="0">
                <a:ea typeface="宋体" panose="02010600030101010101" pitchFamily="2" charset="-122"/>
              </a:rPr>
              <a:t> </a:t>
            </a:r>
            <a:r>
              <a:rPr lang="en-US" altLang="zh-CN" sz="2200" i="1" dirty="0">
                <a:ea typeface="宋体" panose="02010600030101010101" pitchFamily="2" charset="-122"/>
              </a:rPr>
              <a:t>M B</a:t>
            </a:r>
            <a:r>
              <a:rPr lang="en-US" altLang="zh-CN" sz="2200" i="1" baseline="-25000" dirty="0">
                <a:ea typeface="宋体" panose="02010600030101010101" pitchFamily="2" charset="-122"/>
              </a:rPr>
              <a:t>2</a:t>
            </a:r>
            <a:r>
              <a:rPr lang="zh-CN" altLang="en-US" sz="2200" b="1" dirty="0">
                <a:ea typeface="宋体" panose="02010600030101010101" pitchFamily="2" charset="-122"/>
              </a:rPr>
              <a:t>中的标记非终结符</a:t>
            </a:r>
            <a:r>
              <a:rPr lang="en-US" altLang="zh-CN" sz="2200" i="1" dirty="0">
                <a:ea typeface="宋体" panose="02010600030101010101" pitchFamily="2" charset="-122"/>
              </a:rPr>
              <a:t>M </a:t>
            </a:r>
            <a:r>
              <a:rPr lang="zh-CN" altLang="en-US" sz="2200" b="1" dirty="0">
                <a:ea typeface="宋体" panose="02010600030101010101" pitchFamily="2" charset="-122"/>
              </a:rPr>
              <a:t>记录了</a:t>
            </a:r>
            <a:r>
              <a:rPr lang="en-US" altLang="zh-CN" sz="2200" b="1" dirty="0">
                <a:ea typeface="宋体" panose="02010600030101010101" pitchFamily="2" charset="-122"/>
              </a:rPr>
              <a:t>nextinstr</a:t>
            </a:r>
            <a:r>
              <a:rPr lang="zh-CN" altLang="en-US" sz="2200" b="1" dirty="0">
                <a:ea typeface="宋体" panose="02010600030101010101" pitchFamily="2" charset="-122"/>
              </a:rPr>
              <a:t>的当前值</a:t>
            </a:r>
            <a:r>
              <a:rPr lang="en-US" altLang="zh-CN" sz="2200" b="1" dirty="0">
                <a:ea typeface="宋体" panose="02010600030101010101" pitchFamily="2" charset="-122"/>
              </a:rPr>
              <a:t>104</a:t>
            </a:r>
            <a:endParaRPr lang="en-US" altLang="zh-CN" sz="2200" b="1" dirty="0">
              <a:ea typeface="宋体" panose="02010600030101010101" pitchFamily="2" charset="-122"/>
            </a:endParaRPr>
          </a:p>
          <a:p>
            <a:pPr lvl="1"/>
            <a:r>
              <a:rPr lang="zh-CN" altLang="en-US" sz="2200" b="1" dirty="0">
                <a:ea typeface="宋体" panose="02010600030101010101" pitchFamily="2" charset="-122"/>
              </a:rPr>
              <a:t>其后，使用产生式</a:t>
            </a:r>
            <a:r>
              <a:rPr lang="en-US" altLang="zh-CN" sz="2200" b="1" dirty="0">
                <a:ea typeface="宋体" panose="02010600030101010101" pitchFamily="2" charset="-122"/>
              </a:rPr>
              <a:t>5</a:t>
            </a:r>
            <a:r>
              <a:rPr lang="zh-CN" altLang="en-US" sz="2200" b="1" dirty="0">
                <a:ea typeface="宋体" panose="02010600030101010101" pitchFamily="2" charset="-122"/>
              </a:rPr>
              <a:t>）将</a:t>
            </a:r>
            <a:r>
              <a:rPr lang="en-US" altLang="zh-CN" sz="2200" b="1" dirty="0">
                <a:ea typeface="宋体" panose="02010600030101010101" pitchFamily="2" charset="-122"/>
              </a:rPr>
              <a:t>x != y</a:t>
            </a:r>
            <a:r>
              <a:rPr lang="zh-CN" altLang="en-US" sz="2200" b="1" dirty="0">
                <a:ea typeface="宋体" panose="02010600030101010101" pitchFamily="2" charset="-122"/>
              </a:rPr>
              <a:t>归约为</a:t>
            </a:r>
            <a:r>
              <a:rPr lang="en-US" altLang="zh-CN" sz="2200" i="1" dirty="0">
                <a:ea typeface="宋体" panose="02010600030101010101" pitchFamily="2" charset="-122"/>
              </a:rPr>
              <a:t>B</a:t>
            </a:r>
            <a:r>
              <a:rPr lang="zh-CN" altLang="en-US" sz="2200" b="1" dirty="0">
                <a:ea typeface="宋体" panose="02010600030101010101" pitchFamily="2" charset="-122"/>
              </a:rPr>
              <a:t>产生如下指令</a:t>
            </a:r>
            <a:endParaRPr lang="zh-CN" altLang="en-US" sz="2200" b="1" dirty="0">
              <a:ea typeface="宋体" panose="02010600030101010101" pitchFamily="2" charset="-122"/>
            </a:endParaRPr>
          </a:p>
          <a:p>
            <a:pPr lvl="2">
              <a:buNone/>
            </a:pPr>
            <a:r>
              <a:rPr lang="zh-CN" altLang="en-US" sz="1800" b="1" dirty="0">
                <a:ea typeface="宋体" panose="02010600030101010101" pitchFamily="2" charset="-122"/>
              </a:rPr>
              <a:t>104：  </a:t>
            </a:r>
            <a:r>
              <a:rPr lang="en-US" altLang="zh-CN" sz="1800" b="1" dirty="0">
                <a:ea typeface="宋体" panose="02010600030101010101" pitchFamily="2" charset="-122"/>
              </a:rPr>
              <a:t>if x != y goto –</a:t>
            </a:r>
            <a:endParaRPr lang="en-US" altLang="zh-CN" sz="1800" b="1" dirty="0">
              <a:ea typeface="宋体" panose="02010600030101010101" pitchFamily="2" charset="-122"/>
            </a:endParaRPr>
          </a:p>
          <a:p>
            <a:pPr lvl="2">
              <a:buNone/>
            </a:pPr>
            <a:r>
              <a:rPr lang="en-US" altLang="zh-CN" sz="1800" b="1" dirty="0">
                <a:ea typeface="宋体" panose="02010600030101010101" pitchFamily="2" charset="-122"/>
              </a:rPr>
              <a:t>105：  goto –</a:t>
            </a:r>
            <a:endParaRPr lang="en-US" altLang="zh-CN" sz="1800" b="1" dirty="0">
              <a:ea typeface="宋体" panose="02010600030101010101" pitchFamily="2" charset="-122"/>
            </a:endParaRPr>
          </a:p>
          <a:p>
            <a:pPr lvl="1">
              <a:buNone/>
            </a:pPr>
            <a:r>
              <a:rPr lang="en-US" altLang="zh-CN" sz="1800" b="1" dirty="0">
                <a:ea typeface="宋体" panose="02010600030101010101" pitchFamily="2" charset="-122"/>
              </a:rPr>
              <a:t>	</a:t>
            </a:r>
            <a:r>
              <a:rPr lang="zh-CN" altLang="en-US" sz="1800" b="1" dirty="0">
                <a:ea typeface="宋体" panose="02010600030101010101" pitchFamily="2" charset="-122"/>
              </a:rPr>
              <a:t>此时，对应的</a:t>
            </a:r>
            <a:r>
              <a:rPr lang="en-US" altLang="zh-CN" sz="1800" i="1" dirty="0">
                <a:ea typeface="宋体" panose="02010600030101010101" pitchFamily="2" charset="-122"/>
              </a:rPr>
              <a:t>B</a:t>
            </a:r>
            <a:r>
              <a:rPr lang="zh-CN" altLang="en-US" sz="1800" b="1" dirty="0">
                <a:ea typeface="宋体" panose="02010600030101010101" pitchFamily="2" charset="-122"/>
              </a:rPr>
              <a:t>结点处的</a:t>
            </a:r>
            <a:r>
              <a:rPr lang="en-US" altLang="zh-CN" sz="1800" i="1" dirty="0">
                <a:ea typeface="宋体" panose="02010600030101010101" pitchFamily="2" charset="-122"/>
              </a:rPr>
              <a:t>B.truelist</a:t>
            </a:r>
            <a:r>
              <a:rPr lang="zh-CN" altLang="en-US" sz="1800" b="1" dirty="0">
                <a:ea typeface="宋体" panose="02010600030101010101" pitchFamily="2" charset="-122"/>
              </a:rPr>
              <a:t>记录了标号10</a:t>
            </a:r>
            <a:r>
              <a:rPr lang="en-US" altLang="zh-CN" sz="1800" b="1" dirty="0">
                <a:ea typeface="宋体" panose="02010600030101010101" pitchFamily="2" charset="-122"/>
              </a:rPr>
              <a:t>4</a:t>
            </a:r>
            <a:r>
              <a:rPr lang="zh-CN" altLang="en-US" sz="1800" b="1" dirty="0">
                <a:ea typeface="宋体" panose="02010600030101010101" pitchFamily="2" charset="-122"/>
              </a:rPr>
              <a:t>，</a:t>
            </a:r>
            <a:r>
              <a:rPr lang="en-US" altLang="zh-CN" sz="1800" i="1" dirty="0">
                <a:ea typeface="宋体" panose="02010600030101010101" pitchFamily="2" charset="-122"/>
              </a:rPr>
              <a:t>B.falselist</a:t>
            </a:r>
            <a:r>
              <a:rPr lang="zh-CN" altLang="en-US" sz="1800" b="1" dirty="0">
                <a:ea typeface="宋体" panose="02010600030101010101" pitchFamily="2" charset="-122"/>
              </a:rPr>
              <a:t>记录了标号10</a:t>
            </a:r>
            <a:r>
              <a:rPr lang="en-US" altLang="zh-CN" sz="1800" b="1" dirty="0">
                <a:ea typeface="宋体" panose="02010600030101010101" pitchFamily="2" charset="-122"/>
              </a:rPr>
              <a:t>5</a:t>
            </a:r>
            <a:r>
              <a:rPr lang="zh-CN" altLang="en-US" sz="1800" b="1" dirty="0">
                <a:ea typeface="宋体" panose="02010600030101010101" pitchFamily="2" charset="-122"/>
              </a:rPr>
              <a:t>，表示这两处对应的标号还未生成，要通过回填来完成</a:t>
            </a:r>
            <a:endParaRPr lang="zh-CN" altLang="en-US" sz="1800" b="1" dirty="0">
              <a:ea typeface="宋体" panose="02010600030101010101" pitchFamily="2" charset="-122"/>
            </a:endParaRPr>
          </a:p>
          <a:p>
            <a:pPr lvl="1">
              <a:lnSpc>
                <a:spcPct val="90000"/>
              </a:lnSpc>
            </a:pPr>
            <a:r>
              <a:rPr lang="zh-CN" altLang="en-US" sz="2200" b="1" dirty="0">
                <a:ea typeface="宋体" panose="02010600030101010101" pitchFamily="2" charset="-122"/>
              </a:rPr>
              <a:t>此时，归约</a:t>
            </a:r>
            <a:r>
              <a:rPr lang="en-US" altLang="zh-CN" sz="2200" i="1" dirty="0">
                <a:ea typeface="宋体" panose="02010600030101010101" pitchFamily="2" charset="-122"/>
              </a:rPr>
              <a:t>B→B</a:t>
            </a:r>
            <a:r>
              <a:rPr lang="en-US" altLang="zh-CN" sz="2200" i="1" baseline="-25000" dirty="0">
                <a:ea typeface="宋体" panose="02010600030101010101" pitchFamily="2" charset="-122"/>
              </a:rPr>
              <a:t>1</a:t>
            </a:r>
            <a:r>
              <a:rPr lang="en-US" altLang="zh-CN" sz="2200" i="1" dirty="0">
                <a:ea typeface="宋体" panose="02010600030101010101" pitchFamily="2" charset="-122"/>
              </a:rPr>
              <a:t> </a:t>
            </a:r>
            <a:r>
              <a:rPr lang="en-US" altLang="zh-CN" sz="2200" dirty="0">
                <a:ea typeface="宋体" panose="02010600030101010101" pitchFamily="2" charset="-122"/>
              </a:rPr>
              <a:t>&amp;&amp;</a:t>
            </a:r>
            <a:r>
              <a:rPr lang="en-US" altLang="zh-CN" sz="2200" i="1" dirty="0">
                <a:ea typeface="宋体" panose="02010600030101010101" pitchFamily="2" charset="-122"/>
              </a:rPr>
              <a:t>M B</a:t>
            </a:r>
            <a:r>
              <a:rPr lang="en-US" altLang="zh-CN" sz="2200" i="1" baseline="-25000" dirty="0">
                <a:ea typeface="宋体" panose="02010600030101010101" pitchFamily="2" charset="-122"/>
              </a:rPr>
              <a:t>2</a:t>
            </a:r>
            <a:r>
              <a:rPr lang="zh-CN" altLang="en-US" sz="2200" b="1" dirty="0">
                <a:ea typeface="宋体" panose="02010600030101010101" pitchFamily="2" charset="-122"/>
              </a:rPr>
              <a:t>，执行</a:t>
            </a:r>
            <a:r>
              <a:rPr lang="en-US" altLang="zh-CN" sz="2200" i="1" dirty="0">
                <a:ea typeface="宋体" panose="02010600030101010101" pitchFamily="2" charset="-122"/>
              </a:rPr>
              <a:t>backpatch</a:t>
            </a:r>
            <a:r>
              <a:rPr lang="en-US" altLang="zh-CN" sz="2200" b="1" dirty="0">
                <a:ea typeface="宋体" panose="02010600030101010101" pitchFamily="2" charset="-122"/>
              </a:rPr>
              <a:t>(</a:t>
            </a:r>
            <a:r>
              <a:rPr lang="en-US" altLang="zh-CN" sz="2000" i="1" dirty="0">
                <a:ea typeface="宋体" panose="02010600030101010101" pitchFamily="2" charset="-122"/>
              </a:rPr>
              <a:t>B</a:t>
            </a:r>
            <a:r>
              <a:rPr lang="en-US" altLang="zh-CN" sz="2000" i="1" baseline="-25000" dirty="0">
                <a:ea typeface="宋体" panose="02010600030101010101" pitchFamily="2" charset="-122"/>
              </a:rPr>
              <a:t>1</a:t>
            </a:r>
            <a:r>
              <a:rPr lang="en-US" altLang="zh-CN" sz="2000" i="1" dirty="0">
                <a:ea typeface="宋体" panose="02010600030101010101" pitchFamily="2" charset="-122"/>
              </a:rPr>
              <a:t>.truelist</a:t>
            </a:r>
            <a:r>
              <a:rPr lang="en-US" altLang="zh-CN" sz="2200" b="1" dirty="0">
                <a:ea typeface="宋体" panose="02010600030101010101" pitchFamily="2" charset="-122"/>
              </a:rPr>
              <a:t>, </a:t>
            </a:r>
            <a:r>
              <a:rPr lang="en-US" altLang="zh-CN" sz="2000" i="1" dirty="0">
                <a:ea typeface="宋体" panose="02010600030101010101" pitchFamily="2" charset="-122"/>
              </a:rPr>
              <a:t>M.nextinstr</a:t>
            </a:r>
            <a:r>
              <a:rPr lang="en-US" altLang="zh-CN" sz="2200" b="1" dirty="0">
                <a:ea typeface="宋体" panose="02010600030101010101" pitchFamily="2" charset="-122"/>
              </a:rPr>
              <a:t>)，</a:t>
            </a:r>
            <a:r>
              <a:rPr lang="zh-CN" altLang="en-US" sz="2000" b="1" dirty="0">
                <a:ea typeface="宋体" panose="02010600030101010101" pitchFamily="2" charset="-122"/>
              </a:rPr>
              <a:t>其中</a:t>
            </a:r>
            <a:r>
              <a:rPr lang="en-US" altLang="zh-CN" sz="2000" i="1" dirty="0">
                <a:ea typeface="宋体" panose="02010600030101010101" pitchFamily="2" charset="-122"/>
              </a:rPr>
              <a:t>B</a:t>
            </a:r>
            <a:r>
              <a:rPr lang="en-US" altLang="zh-CN" sz="2000" i="1" baseline="-25000" dirty="0">
                <a:ea typeface="宋体" panose="02010600030101010101" pitchFamily="2" charset="-122"/>
              </a:rPr>
              <a:t>1</a:t>
            </a:r>
            <a:r>
              <a:rPr lang="en-US" altLang="zh-CN" sz="2000" i="1" dirty="0">
                <a:ea typeface="宋体" panose="02010600030101010101" pitchFamily="2" charset="-122"/>
              </a:rPr>
              <a:t>.truelist</a:t>
            </a:r>
            <a:r>
              <a:rPr lang="zh-CN" altLang="en-US" sz="2000" b="1" dirty="0">
                <a:ea typeface="宋体" panose="02010600030101010101" pitchFamily="2" charset="-122"/>
              </a:rPr>
              <a:t>为</a:t>
            </a:r>
            <a:r>
              <a:rPr lang="en-US" altLang="zh-CN" sz="2000" b="1" dirty="0">
                <a:ea typeface="宋体" panose="02010600030101010101" pitchFamily="2" charset="-122"/>
              </a:rPr>
              <a:t>{102}</a:t>
            </a:r>
            <a:r>
              <a:rPr lang="zh-CN" altLang="en-US" sz="2000" b="1" dirty="0">
                <a:ea typeface="宋体" panose="02010600030101010101" pitchFamily="2" charset="-122"/>
              </a:rPr>
              <a:t>，</a:t>
            </a:r>
            <a:r>
              <a:rPr lang="en-US" altLang="zh-CN" sz="2000" i="1" dirty="0">
                <a:ea typeface="宋体" panose="02010600030101010101" pitchFamily="2" charset="-122"/>
              </a:rPr>
              <a:t>M.nextinstr</a:t>
            </a:r>
            <a:r>
              <a:rPr lang="zh-CN" altLang="en-US" sz="2000" b="1" dirty="0">
                <a:ea typeface="宋体" panose="02010600030101010101" pitchFamily="2" charset="-122"/>
              </a:rPr>
              <a:t>为</a:t>
            </a:r>
            <a:r>
              <a:rPr lang="en-US" altLang="zh-CN" sz="2000" b="1" dirty="0">
                <a:ea typeface="宋体" panose="02010600030101010101" pitchFamily="2" charset="-122"/>
              </a:rPr>
              <a:t>104</a:t>
            </a:r>
            <a:r>
              <a:rPr lang="zh-CN" altLang="en-US" sz="2000" b="1" dirty="0">
                <a:ea typeface="宋体" panose="02010600030101010101" pitchFamily="2" charset="-122"/>
              </a:rPr>
              <a:t>，</a:t>
            </a:r>
            <a:r>
              <a:rPr lang="zh-CN" altLang="en-US" sz="2200" b="1" dirty="0">
                <a:ea typeface="宋体" panose="02010600030101010101" pitchFamily="2" charset="-122"/>
              </a:rPr>
              <a:t>因此有：</a:t>
            </a:r>
            <a:endParaRPr lang="zh-CN" altLang="en-US" sz="2200" b="1" dirty="0">
              <a:ea typeface="宋体" panose="02010600030101010101" pitchFamily="2" charset="-122"/>
            </a:endParaRPr>
          </a:p>
          <a:p>
            <a:pPr lvl="2">
              <a:lnSpc>
                <a:spcPct val="90000"/>
              </a:lnSpc>
              <a:buNone/>
            </a:pPr>
            <a:r>
              <a:rPr lang="zh-CN" altLang="en-US" sz="1800" b="1" dirty="0">
                <a:ea typeface="宋体" panose="02010600030101010101" pitchFamily="2" charset="-122"/>
              </a:rPr>
              <a:t>100：  </a:t>
            </a:r>
            <a:r>
              <a:rPr lang="en-US" altLang="zh-CN" sz="1800" b="1" dirty="0">
                <a:ea typeface="宋体" panose="02010600030101010101" pitchFamily="2" charset="-122"/>
              </a:rPr>
              <a:t>if x &lt; 100 goto –</a:t>
            </a:r>
            <a:endParaRPr lang="en-US" altLang="zh-CN" sz="1800" b="1" dirty="0">
              <a:ea typeface="宋体" panose="02010600030101010101" pitchFamily="2" charset="-122"/>
            </a:endParaRPr>
          </a:p>
          <a:p>
            <a:pPr lvl="2">
              <a:lnSpc>
                <a:spcPct val="90000"/>
              </a:lnSpc>
              <a:buNone/>
            </a:pPr>
            <a:r>
              <a:rPr lang="en-US" altLang="zh-CN" sz="1800" b="1" dirty="0">
                <a:ea typeface="宋体" panose="02010600030101010101" pitchFamily="2" charset="-122"/>
              </a:rPr>
              <a:t>101：  goto –</a:t>
            </a:r>
            <a:endParaRPr lang="en-US" altLang="zh-CN" sz="1800" b="1" dirty="0">
              <a:ea typeface="宋体" panose="02010600030101010101" pitchFamily="2" charset="-122"/>
            </a:endParaRPr>
          </a:p>
          <a:p>
            <a:pPr lvl="2">
              <a:lnSpc>
                <a:spcPct val="90000"/>
              </a:lnSpc>
              <a:buNone/>
            </a:pPr>
            <a:r>
              <a:rPr lang="zh-CN" altLang="en-US" sz="1800" b="1" dirty="0">
                <a:ea typeface="宋体" panose="02010600030101010101" pitchFamily="2" charset="-122"/>
              </a:rPr>
              <a:t>102：  </a:t>
            </a:r>
            <a:r>
              <a:rPr lang="en-US" altLang="zh-CN" sz="1800" b="1" dirty="0">
                <a:ea typeface="宋体" panose="02010600030101010101" pitchFamily="2" charset="-122"/>
              </a:rPr>
              <a:t>if x &gt; 200 goto 104</a:t>
            </a:r>
            <a:endParaRPr lang="en-US" altLang="zh-CN" sz="1800" b="1" dirty="0">
              <a:ea typeface="宋体" panose="02010600030101010101" pitchFamily="2" charset="-122"/>
            </a:endParaRPr>
          </a:p>
          <a:p>
            <a:pPr lvl="2">
              <a:lnSpc>
                <a:spcPct val="90000"/>
              </a:lnSpc>
              <a:buNone/>
            </a:pPr>
            <a:r>
              <a:rPr lang="en-US" altLang="zh-CN" sz="1800" b="1" dirty="0">
                <a:ea typeface="宋体" panose="02010600030101010101" pitchFamily="2" charset="-122"/>
              </a:rPr>
              <a:t>103：  goto –</a:t>
            </a:r>
            <a:endParaRPr lang="en-US" altLang="zh-CN" sz="1800" b="1" dirty="0">
              <a:ea typeface="宋体" panose="02010600030101010101" pitchFamily="2" charset="-122"/>
            </a:endParaRPr>
          </a:p>
          <a:p>
            <a:pPr lvl="2">
              <a:lnSpc>
                <a:spcPct val="90000"/>
              </a:lnSpc>
              <a:buNone/>
            </a:pPr>
            <a:r>
              <a:rPr lang="zh-CN" altLang="en-US" sz="1800" b="1" dirty="0">
                <a:ea typeface="宋体" panose="02010600030101010101" pitchFamily="2" charset="-122"/>
              </a:rPr>
              <a:t>104：  </a:t>
            </a:r>
            <a:r>
              <a:rPr lang="en-US" altLang="zh-CN" sz="1800" b="1" dirty="0">
                <a:ea typeface="宋体" panose="02010600030101010101" pitchFamily="2" charset="-122"/>
              </a:rPr>
              <a:t>if x != y goto –</a:t>
            </a:r>
            <a:endParaRPr lang="en-US" altLang="zh-CN" sz="1800" b="1" dirty="0">
              <a:ea typeface="宋体" panose="02010600030101010101" pitchFamily="2" charset="-122"/>
            </a:endParaRPr>
          </a:p>
          <a:p>
            <a:pPr lvl="2">
              <a:lnSpc>
                <a:spcPct val="90000"/>
              </a:lnSpc>
              <a:buNone/>
            </a:pPr>
            <a:r>
              <a:rPr lang="en-US" altLang="zh-CN" sz="1800" b="1" dirty="0">
                <a:ea typeface="宋体" panose="02010600030101010101" pitchFamily="2" charset="-122"/>
              </a:rPr>
              <a:t>105：  goto –</a:t>
            </a:r>
            <a:endParaRPr lang="en-US" altLang="zh-CN" sz="1800" b="1" dirty="0">
              <a:ea typeface="宋体" panose="02010600030101010101" pitchFamily="2" charset="-122"/>
            </a:endParaRPr>
          </a:p>
          <a:p>
            <a:pPr lvl="1">
              <a:lnSpc>
                <a:spcPct val="90000"/>
              </a:lnSpc>
            </a:pPr>
            <a:endParaRPr lang="en-US" altLang="zh-CN" sz="1800" b="1" dirty="0">
              <a:ea typeface="宋体" panose="02010600030101010101" pitchFamily="2" charset="-122"/>
            </a:endParaRPr>
          </a:p>
        </p:txBody>
      </p:sp>
    </p:spTree>
  </p:cSld>
  <p:clrMapOvr>
    <a:masterClrMapping/>
  </p:clrMapOvr>
  <p:transition spd="slow"/>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829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回填技术（</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68291" name="Rectangle 3"/>
          <p:cNvSpPr>
            <a:spLocks noGrp="1"/>
          </p:cNvSpPr>
          <p:nvPr>
            <p:ph idx="1"/>
          </p:nvPr>
        </p:nvSpPr>
        <p:spPr>
          <a:xfrm>
            <a:off x="107950" y="1524000"/>
            <a:ext cx="8785225" cy="4800600"/>
          </a:xfrm>
        </p:spPr>
        <p:txBody>
          <a:bodyPr vert="horz" wrap="square" lIns="92075" tIns="46038" rIns="92075" bIns="46038" anchor="t" anchorCtr="0"/>
          <a:p>
            <a:pPr lvl="1">
              <a:lnSpc>
                <a:spcPct val="90000"/>
              </a:lnSpc>
            </a:pPr>
            <a:r>
              <a:rPr lang="zh-CN" altLang="en-US" sz="2200" b="1" dirty="0">
                <a:ea typeface="宋体" panose="02010600030101010101" pitchFamily="2" charset="-122"/>
              </a:rPr>
              <a:t>最后，用产生式</a:t>
            </a:r>
            <a:r>
              <a:rPr lang="en-US" altLang="zh-CN" sz="2200" b="1" dirty="0">
                <a:ea typeface="宋体" panose="02010600030101010101" pitchFamily="2" charset="-122"/>
              </a:rPr>
              <a:t>B→  B</a:t>
            </a:r>
            <a:r>
              <a:rPr lang="en-US" altLang="zh-CN" sz="2200" b="1" baseline="-25000" dirty="0">
                <a:ea typeface="宋体" panose="02010600030101010101" pitchFamily="2" charset="-122"/>
              </a:rPr>
              <a:t>1</a:t>
            </a:r>
            <a:r>
              <a:rPr lang="en-US" altLang="zh-CN" sz="2200" b="1" dirty="0">
                <a:ea typeface="宋体" panose="02010600030101010101" pitchFamily="2" charset="-122"/>
              </a:rPr>
              <a:t>  ||</a:t>
            </a:r>
            <a:r>
              <a:rPr lang="zh-CN" altLang="en-US" sz="2200" b="1" dirty="0">
                <a:ea typeface="宋体" panose="02010600030101010101" pitchFamily="2" charset="-122"/>
              </a:rPr>
              <a:t> </a:t>
            </a:r>
            <a:r>
              <a:rPr lang="en-US" altLang="zh-CN" sz="2200" b="1" dirty="0">
                <a:ea typeface="宋体" panose="02010600030101010101" pitchFamily="2" charset="-122"/>
              </a:rPr>
              <a:t>M B</a:t>
            </a:r>
            <a:r>
              <a:rPr lang="en-US" altLang="zh-CN" sz="2200" b="1" baseline="-25000" dirty="0">
                <a:ea typeface="宋体" panose="02010600030101010101" pitchFamily="2" charset="-122"/>
              </a:rPr>
              <a:t>2</a:t>
            </a:r>
            <a:r>
              <a:rPr lang="zh-CN" altLang="en-US" sz="2200" b="1" dirty="0">
                <a:ea typeface="宋体" panose="02010600030101010101" pitchFamily="2" charset="-122"/>
              </a:rPr>
              <a:t>归约，其中</a:t>
            </a:r>
            <a:r>
              <a:rPr lang="en-US" altLang="zh-CN" sz="2200" i="1" dirty="0">
                <a:ea typeface="宋体" panose="02010600030101010101" pitchFamily="2" charset="-122"/>
              </a:rPr>
              <a:t>B</a:t>
            </a:r>
            <a:r>
              <a:rPr lang="en-US" altLang="zh-CN" sz="2200" i="1" baseline="-25000" dirty="0">
                <a:ea typeface="宋体" panose="02010600030101010101" pitchFamily="2" charset="-122"/>
              </a:rPr>
              <a:t>1</a:t>
            </a:r>
            <a:r>
              <a:rPr lang="en-US" altLang="zh-CN" sz="2200" i="1" dirty="0">
                <a:ea typeface="宋体" panose="02010600030101010101" pitchFamily="2" charset="-122"/>
              </a:rPr>
              <a:t>.falselist</a:t>
            </a:r>
            <a:r>
              <a:rPr lang="zh-CN" altLang="en-US" sz="2200" b="1" dirty="0">
                <a:ea typeface="宋体" panose="02010600030101010101" pitchFamily="2" charset="-122"/>
              </a:rPr>
              <a:t>为</a:t>
            </a:r>
            <a:r>
              <a:rPr lang="en-US" altLang="zh-CN" sz="2200" b="1" dirty="0">
                <a:ea typeface="宋体" panose="02010600030101010101" pitchFamily="2" charset="-122"/>
              </a:rPr>
              <a:t>{101}</a:t>
            </a:r>
            <a:r>
              <a:rPr lang="zh-CN" altLang="en-US" sz="2200" b="1" dirty="0">
                <a:ea typeface="宋体" panose="02010600030101010101" pitchFamily="2" charset="-122"/>
              </a:rPr>
              <a:t>，</a:t>
            </a:r>
            <a:r>
              <a:rPr lang="en-US" altLang="zh-CN" sz="2200" i="1" dirty="0">
                <a:ea typeface="宋体" panose="02010600030101010101" pitchFamily="2" charset="-122"/>
              </a:rPr>
              <a:t>M.nextinstr</a:t>
            </a:r>
            <a:r>
              <a:rPr lang="zh-CN" altLang="en-US" sz="2200" b="1" dirty="0">
                <a:ea typeface="宋体" panose="02010600030101010101" pitchFamily="2" charset="-122"/>
              </a:rPr>
              <a:t>为</a:t>
            </a:r>
            <a:r>
              <a:rPr lang="en-US" altLang="zh-CN" sz="2200" b="1" dirty="0">
                <a:ea typeface="宋体" panose="02010600030101010101" pitchFamily="2" charset="-122"/>
              </a:rPr>
              <a:t>102</a:t>
            </a:r>
            <a:r>
              <a:rPr lang="zh-CN" altLang="en-US" sz="2200" b="1" dirty="0">
                <a:ea typeface="宋体" panose="02010600030101010101" pitchFamily="2" charset="-122"/>
              </a:rPr>
              <a:t>，执行</a:t>
            </a:r>
            <a:r>
              <a:rPr lang="en-US" altLang="zh-CN" sz="2200" i="1" dirty="0">
                <a:ea typeface="宋体" panose="02010600030101010101" pitchFamily="2" charset="-122"/>
              </a:rPr>
              <a:t>backpatch</a:t>
            </a:r>
            <a:r>
              <a:rPr lang="en-US" altLang="zh-CN" sz="2200" b="1" dirty="0">
                <a:ea typeface="宋体" panose="02010600030101010101" pitchFamily="2" charset="-122"/>
              </a:rPr>
              <a:t>(</a:t>
            </a:r>
            <a:r>
              <a:rPr lang="en-US" altLang="zh-CN" sz="2200" i="1" dirty="0">
                <a:ea typeface="宋体" panose="02010600030101010101" pitchFamily="2" charset="-122"/>
              </a:rPr>
              <a:t>B</a:t>
            </a:r>
            <a:r>
              <a:rPr lang="en-US" altLang="zh-CN" sz="2200" i="1" baseline="-25000" dirty="0">
                <a:ea typeface="宋体" panose="02010600030101010101" pitchFamily="2" charset="-122"/>
              </a:rPr>
              <a:t>1</a:t>
            </a:r>
            <a:r>
              <a:rPr lang="en-US" altLang="zh-CN" sz="2200" i="1" dirty="0">
                <a:ea typeface="宋体" panose="02010600030101010101" pitchFamily="2" charset="-122"/>
              </a:rPr>
              <a:t>.falselist</a:t>
            </a:r>
            <a:r>
              <a:rPr lang="en-US" altLang="zh-CN" sz="2200" b="1" dirty="0">
                <a:ea typeface="宋体" panose="02010600030101010101" pitchFamily="2" charset="-122"/>
              </a:rPr>
              <a:t>, </a:t>
            </a:r>
            <a:r>
              <a:rPr lang="en-US" altLang="zh-CN" sz="2200" i="1" dirty="0">
                <a:ea typeface="宋体" panose="02010600030101010101" pitchFamily="2" charset="-122"/>
              </a:rPr>
              <a:t>M.nextinstr</a:t>
            </a:r>
            <a:r>
              <a:rPr lang="en-US" altLang="zh-CN" sz="2200" b="1" dirty="0">
                <a:ea typeface="宋体" panose="02010600030101010101" pitchFamily="2" charset="-122"/>
              </a:rPr>
              <a:t>)，</a:t>
            </a:r>
            <a:r>
              <a:rPr lang="zh-CN" altLang="en-US" sz="2200" b="1" dirty="0">
                <a:ea typeface="宋体" panose="02010600030101010101" pitchFamily="2" charset="-122"/>
              </a:rPr>
              <a:t>有：</a:t>
            </a:r>
            <a:endParaRPr lang="zh-CN" altLang="en-US" sz="2200" b="1" dirty="0">
              <a:ea typeface="宋体" panose="02010600030101010101" pitchFamily="2" charset="-122"/>
            </a:endParaRPr>
          </a:p>
          <a:p>
            <a:pPr lvl="2">
              <a:lnSpc>
                <a:spcPct val="90000"/>
              </a:lnSpc>
              <a:buNone/>
            </a:pPr>
            <a:r>
              <a:rPr lang="zh-CN" altLang="en-US" sz="1800" b="1" dirty="0">
                <a:ea typeface="宋体" panose="02010600030101010101" pitchFamily="2" charset="-122"/>
              </a:rPr>
              <a:t>100：  </a:t>
            </a:r>
            <a:r>
              <a:rPr lang="en-US" altLang="zh-CN" sz="1800" b="1" dirty="0">
                <a:ea typeface="宋体" panose="02010600030101010101" pitchFamily="2" charset="-122"/>
              </a:rPr>
              <a:t>if x &lt; 100 goto –</a:t>
            </a:r>
            <a:endParaRPr lang="en-US" altLang="zh-CN" sz="1800" b="1" dirty="0">
              <a:ea typeface="宋体" panose="02010600030101010101" pitchFamily="2" charset="-122"/>
            </a:endParaRPr>
          </a:p>
          <a:p>
            <a:pPr lvl="2">
              <a:lnSpc>
                <a:spcPct val="90000"/>
              </a:lnSpc>
              <a:buNone/>
            </a:pPr>
            <a:r>
              <a:rPr lang="en-US" altLang="zh-CN" sz="1800" b="1" dirty="0">
                <a:ea typeface="宋体" panose="02010600030101010101" pitchFamily="2" charset="-122"/>
              </a:rPr>
              <a:t>101：  goto 102</a:t>
            </a:r>
            <a:endParaRPr lang="en-US" altLang="zh-CN" sz="1800" b="1" dirty="0">
              <a:ea typeface="宋体" panose="02010600030101010101" pitchFamily="2" charset="-122"/>
            </a:endParaRPr>
          </a:p>
          <a:p>
            <a:pPr lvl="2">
              <a:lnSpc>
                <a:spcPct val="90000"/>
              </a:lnSpc>
              <a:buNone/>
            </a:pPr>
            <a:r>
              <a:rPr lang="zh-CN" altLang="en-US" sz="1800" b="1" dirty="0">
                <a:ea typeface="宋体" panose="02010600030101010101" pitchFamily="2" charset="-122"/>
              </a:rPr>
              <a:t>102：  </a:t>
            </a:r>
            <a:r>
              <a:rPr lang="en-US" altLang="zh-CN" sz="1800" b="1" dirty="0">
                <a:ea typeface="宋体" panose="02010600030101010101" pitchFamily="2" charset="-122"/>
              </a:rPr>
              <a:t>if x &gt; 200 goto 104</a:t>
            </a:r>
            <a:endParaRPr lang="en-US" altLang="zh-CN" sz="1800" b="1" dirty="0">
              <a:ea typeface="宋体" panose="02010600030101010101" pitchFamily="2" charset="-122"/>
            </a:endParaRPr>
          </a:p>
          <a:p>
            <a:pPr lvl="2">
              <a:lnSpc>
                <a:spcPct val="90000"/>
              </a:lnSpc>
              <a:buNone/>
            </a:pPr>
            <a:r>
              <a:rPr lang="en-US" altLang="zh-CN" sz="1800" b="1" dirty="0">
                <a:ea typeface="宋体" panose="02010600030101010101" pitchFamily="2" charset="-122"/>
              </a:rPr>
              <a:t>103：  goto –</a:t>
            </a:r>
            <a:endParaRPr lang="en-US" altLang="zh-CN" sz="1800" b="1" dirty="0">
              <a:ea typeface="宋体" panose="02010600030101010101" pitchFamily="2" charset="-122"/>
            </a:endParaRPr>
          </a:p>
          <a:p>
            <a:pPr lvl="2">
              <a:lnSpc>
                <a:spcPct val="90000"/>
              </a:lnSpc>
              <a:buNone/>
            </a:pPr>
            <a:r>
              <a:rPr lang="zh-CN" altLang="en-US" sz="1800" b="1" dirty="0">
                <a:ea typeface="宋体" panose="02010600030101010101" pitchFamily="2" charset="-122"/>
              </a:rPr>
              <a:t>104：  </a:t>
            </a:r>
            <a:r>
              <a:rPr lang="en-US" altLang="zh-CN" sz="1800" b="1" dirty="0">
                <a:ea typeface="宋体" panose="02010600030101010101" pitchFamily="2" charset="-122"/>
              </a:rPr>
              <a:t>if x != y goto –</a:t>
            </a:r>
            <a:endParaRPr lang="en-US" altLang="zh-CN" sz="1800" b="1" dirty="0">
              <a:ea typeface="宋体" panose="02010600030101010101" pitchFamily="2" charset="-122"/>
            </a:endParaRPr>
          </a:p>
          <a:p>
            <a:pPr lvl="2">
              <a:lnSpc>
                <a:spcPct val="90000"/>
              </a:lnSpc>
              <a:buNone/>
            </a:pPr>
            <a:r>
              <a:rPr lang="en-US" altLang="zh-CN" sz="1800" b="1" dirty="0">
                <a:ea typeface="宋体" panose="02010600030101010101" pitchFamily="2" charset="-122"/>
              </a:rPr>
              <a:t>105：  goto –</a:t>
            </a:r>
            <a:endParaRPr lang="en-US" altLang="zh-CN" sz="1800" b="1" dirty="0">
              <a:ea typeface="宋体" panose="02010600030101010101" pitchFamily="2" charset="-122"/>
            </a:endParaRPr>
          </a:p>
          <a:p>
            <a:pPr lvl="1">
              <a:lnSpc>
                <a:spcPct val="90000"/>
              </a:lnSpc>
            </a:pPr>
            <a:r>
              <a:rPr lang="zh-CN" altLang="en-US" sz="2200" b="1" dirty="0">
                <a:ea typeface="宋体" panose="02010600030101010101" pitchFamily="2" charset="-122"/>
              </a:rPr>
              <a:t>此时，表达式的真假值如下，目前尚缺失的跳转目标在后续的翻译过程中会适时填充</a:t>
            </a:r>
            <a:endParaRPr lang="en-US" altLang="zh-CN" sz="2200" b="1" dirty="0">
              <a:ea typeface="宋体" panose="02010600030101010101" pitchFamily="2" charset="-122"/>
            </a:endParaRPr>
          </a:p>
          <a:p>
            <a:pPr lvl="2">
              <a:lnSpc>
                <a:spcPct val="90000"/>
              </a:lnSpc>
            </a:pPr>
            <a:r>
              <a:rPr lang="zh-CN" altLang="en-US" sz="2000" b="1" dirty="0">
                <a:ea typeface="宋体" panose="02010600030101010101" pitchFamily="2" charset="-122"/>
              </a:rPr>
              <a:t>整个表达式为真当且仅当控制流到达</a:t>
            </a:r>
            <a:r>
              <a:rPr lang="en-US" altLang="zh-CN" sz="2000" b="1" dirty="0">
                <a:ea typeface="宋体" panose="02010600030101010101" pitchFamily="2" charset="-122"/>
              </a:rPr>
              <a:t>100</a:t>
            </a:r>
            <a:r>
              <a:rPr lang="zh-CN" altLang="en-US" sz="2000" b="1" dirty="0">
                <a:ea typeface="宋体" panose="02010600030101010101" pitchFamily="2" charset="-122"/>
              </a:rPr>
              <a:t>和</a:t>
            </a:r>
            <a:r>
              <a:rPr lang="en-US" altLang="zh-CN" sz="2000" b="1" dirty="0">
                <a:ea typeface="宋体" panose="02010600030101010101" pitchFamily="2" charset="-122"/>
              </a:rPr>
              <a:t>104</a:t>
            </a:r>
            <a:r>
              <a:rPr lang="zh-CN" altLang="en-US" sz="2000" b="1" dirty="0">
                <a:ea typeface="宋体" panose="02010600030101010101" pitchFamily="2" charset="-122"/>
              </a:rPr>
              <a:t>位置上的跳转指令，这些位置由</a:t>
            </a:r>
            <a:r>
              <a:rPr lang="en-US" altLang="zh-CN" sz="2000" i="1" dirty="0">
                <a:ea typeface="宋体" panose="02010600030101010101" pitchFamily="2" charset="-122"/>
              </a:rPr>
              <a:t>B.truelist</a:t>
            </a:r>
            <a:r>
              <a:rPr lang="zh-CN" altLang="en-US" sz="2000" b="1" dirty="0">
                <a:ea typeface="宋体" panose="02010600030101010101" pitchFamily="2" charset="-122"/>
              </a:rPr>
              <a:t>给出</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整个表达式为假当且仅当控制流到达</a:t>
            </a:r>
            <a:r>
              <a:rPr lang="en-US" altLang="zh-CN" sz="2000" b="1" dirty="0">
                <a:ea typeface="宋体" panose="02010600030101010101" pitchFamily="2" charset="-122"/>
              </a:rPr>
              <a:t>103</a:t>
            </a:r>
            <a:r>
              <a:rPr lang="zh-CN" altLang="en-US" sz="2000" b="1" dirty="0">
                <a:ea typeface="宋体" panose="02010600030101010101" pitchFamily="2" charset="-122"/>
              </a:rPr>
              <a:t>和</a:t>
            </a:r>
            <a:r>
              <a:rPr lang="en-US" altLang="zh-CN" sz="2000" b="1" dirty="0">
                <a:ea typeface="宋体" panose="02010600030101010101" pitchFamily="2" charset="-122"/>
              </a:rPr>
              <a:t>105</a:t>
            </a:r>
            <a:r>
              <a:rPr lang="zh-CN" altLang="en-US" sz="2000" b="1" dirty="0">
                <a:ea typeface="宋体" panose="02010600030101010101" pitchFamily="2" charset="-122"/>
              </a:rPr>
              <a:t>位置上的跳转指令，这些位置由</a:t>
            </a:r>
            <a:r>
              <a:rPr lang="en-US" altLang="zh-CN" sz="2000" i="1" dirty="0">
                <a:ea typeface="宋体" panose="02010600030101010101" pitchFamily="2" charset="-122"/>
              </a:rPr>
              <a:t>B.falselist</a:t>
            </a:r>
            <a:r>
              <a:rPr lang="zh-CN" altLang="en-US" sz="2000" b="1" dirty="0">
                <a:ea typeface="宋体" panose="02010600030101010101" pitchFamily="2" charset="-122"/>
              </a:rPr>
              <a:t>给出</a:t>
            </a:r>
            <a:endParaRPr lang="en-US" altLang="zh-CN" sz="2000" b="1" dirty="0">
              <a:ea typeface="宋体" panose="02010600030101010101" pitchFamily="2" charset="-122"/>
            </a:endParaRPr>
          </a:p>
          <a:p>
            <a:pPr lvl="2">
              <a:lnSpc>
                <a:spcPct val="90000"/>
              </a:lnSpc>
            </a:pPr>
            <a:endParaRPr lang="zh-CN" altLang="en-US" b="1" dirty="0">
              <a:ea typeface="宋体" panose="02010600030101010101" pitchFamily="2" charset="-122"/>
            </a:endParaRPr>
          </a:p>
        </p:txBody>
      </p:sp>
    </p:spTree>
  </p:cSld>
  <p:clrMapOvr>
    <a:masterClrMapping/>
  </p:clrMapOvr>
  <p:transition spd="slow"/>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0338" name="Picture 2"/>
          <p:cNvPicPr>
            <a:picLocks noChangeAspect="1"/>
          </p:cNvPicPr>
          <p:nvPr/>
        </p:nvPicPr>
        <p:blipFill>
          <a:blip r:embed="rId1"/>
          <a:stretch>
            <a:fillRect/>
          </a:stretch>
        </p:blipFill>
        <p:spPr>
          <a:xfrm>
            <a:off x="457200" y="609600"/>
            <a:ext cx="8305800" cy="4870450"/>
          </a:xfrm>
          <a:prstGeom prst="rect">
            <a:avLst/>
          </a:prstGeom>
          <a:noFill/>
          <a:ln w="9525">
            <a:noFill/>
          </a:ln>
        </p:spPr>
      </p:pic>
    </p:spTree>
  </p:cSld>
  <p:clrMapOvr>
    <a:masterClrMapping/>
  </p:clrMapOvr>
  <p:transition spd="slow"/>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136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控制转移语句（1）</a:t>
            </a:r>
            <a:endParaRPr lang="zh-CN" altLang="en-US" dirty="0">
              <a:latin typeface="Times New Roman" panose="02020603050405020304" pitchFamily="18" charset="0"/>
              <a:ea typeface="宋体" panose="02010600030101010101" pitchFamily="2" charset="-122"/>
            </a:endParaRPr>
          </a:p>
        </p:txBody>
      </p:sp>
      <p:sp>
        <p:nvSpPr>
          <p:cNvPr id="251907" name="Rectangle 3"/>
          <p:cNvSpPr>
            <a:spLocks noGrp="1" noChangeArrowheads="1"/>
          </p:cNvSpPr>
          <p:nvPr>
            <p:ph idx="1"/>
          </p:nvPr>
        </p:nvSpPr>
        <p:spPr>
          <a:xfrm>
            <a:off x="990600" y="1524000"/>
            <a:ext cx="7391400" cy="48006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用回填技术在一趟扫描中完成控制流语句的翻译</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文法如下：</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if</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if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else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while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S  |  S</a:t>
            </a:r>
            <a:endPar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是一个语句，</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是语句的序列，</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是赋值语句</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语句</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if</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if-else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while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的代码布局如同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6.6</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节的描述</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一个假设：指令序列的代码顺序反映了控制流的自然流动</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否则，需要明确加入跳转指令实现自然的顺序控制流</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3410" name="Picture 2"/>
          <p:cNvPicPr>
            <a:picLocks noChangeAspect="1"/>
          </p:cNvPicPr>
          <p:nvPr/>
        </p:nvPicPr>
        <p:blipFill>
          <a:blip r:embed="rId1"/>
          <a:stretch>
            <a:fillRect/>
          </a:stretch>
        </p:blipFill>
        <p:spPr>
          <a:xfrm>
            <a:off x="1752600" y="152400"/>
            <a:ext cx="5445125" cy="5943600"/>
          </a:xfrm>
          <a:prstGeom prst="rect">
            <a:avLst/>
          </a:prstGeom>
          <a:noFill/>
          <a:ln w="9525">
            <a:noFill/>
          </a:ln>
        </p:spPr>
      </p:pic>
      <p:pic>
        <p:nvPicPr>
          <p:cNvPr id="273411" name="Picture 3"/>
          <p:cNvPicPr>
            <a:picLocks noChangeAspect="1"/>
          </p:cNvPicPr>
          <p:nvPr/>
        </p:nvPicPr>
        <p:blipFill>
          <a:blip r:embed="rId2"/>
          <a:stretch>
            <a:fillRect/>
          </a:stretch>
        </p:blipFill>
        <p:spPr>
          <a:xfrm>
            <a:off x="2362200" y="6477000"/>
            <a:ext cx="3276600" cy="217488"/>
          </a:xfrm>
          <a:prstGeom prst="rect">
            <a:avLst/>
          </a:prstGeom>
          <a:noFill/>
          <a:ln w="9525">
            <a:noFill/>
          </a:ln>
        </p:spPr>
      </p:pic>
    </p:spTree>
  </p:cSld>
  <p:clrMapOvr>
    <a:masterClrMapping/>
  </p:clrMapOvr>
  <p:transition spd="slow"/>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443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控制转移语句（</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74435" name="Rectangle 3"/>
          <p:cNvSpPr>
            <a:spLocks noGrp="1"/>
          </p:cNvSpPr>
          <p:nvPr>
            <p:ph idx="1"/>
          </p:nvPr>
        </p:nvSpPr>
        <p:spPr>
          <a:xfrm>
            <a:off x="827088" y="1484313"/>
            <a:ext cx="7489825" cy="4840287"/>
          </a:xfrm>
        </p:spPr>
        <p:txBody>
          <a:bodyPr vert="horz" wrap="square" lIns="92075" tIns="46038" rIns="92075" bIns="46038" anchor="t" anchorCtr="0"/>
          <a:p>
            <a:pPr marL="495300" indent="-495300"/>
            <a:r>
              <a:rPr lang="zh-CN" altLang="en-US" sz="2400" b="1" dirty="0">
                <a:ea typeface="宋体" panose="02010600030101010101" pitchFamily="2" charset="-122"/>
              </a:rPr>
              <a:t>布尔表达式</a:t>
            </a:r>
            <a:r>
              <a:rPr lang="en-US" altLang="zh-CN" sz="2400" i="1" dirty="0">
                <a:ea typeface="宋体" panose="02010600030101010101" pitchFamily="2" charset="-122"/>
              </a:rPr>
              <a:t>B</a:t>
            </a:r>
            <a:r>
              <a:rPr lang="zh-CN" altLang="en-US" sz="2400" b="1" dirty="0">
                <a:ea typeface="宋体" panose="02010600030101010101" pitchFamily="2" charset="-122"/>
              </a:rPr>
              <a:t>有两个跳转指令列表对应其代码的真假出口：</a:t>
            </a:r>
            <a:r>
              <a:rPr lang="en-US" altLang="zh-CN" sz="2400" i="1" dirty="0">
                <a:ea typeface="宋体" panose="02010600030101010101" pitchFamily="2" charset="-122"/>
              </a:rPr>
              <a:t> B.truelist</a:t>
            </a:r>
            <a:r>
              <a:rPr lang="zh-CN" altLang="en-US" sz="2400" b="1" dirty="0">
                <a:ea typeface="宋体" panose="02010600030101010101" pitchFamily="2" charset="-122"/>
              </a:rPr>
              <a:t>和</a:t>
            </a:r>
            <a:r>
              <a:rPr lang="en-US" altLang="zh-CN" sz="2400" i="1" dirty="0">
                <a:ea typeface="宋体" panose="02010600030101010101" pitchFamily="2" charset="-122"/>
              </a:rPr>
              <a:t>B.falselist</a:t>
            </a:r>
            <a:endParaRPr lang="en-US" altLang="zh-CN" sz="2400" b="1" dirty="0">
              <a:ea typeface="宋体" panose="02010600030101010101" pitchFamily="2" charset="-122"/>
            </a:endParaRPr>
          </a:p>
          <a:p>
            <a:pPr marL="495300" indent="-495300"/>
            <a:r>
              <a:rPr lang="zh-CN" altLang="en-US" sz="2400" b="1" dirty="0">
                <a:ea typeface="宋体" panose="02010600030101010101" pitchFamily="2" charset="-122"/>
              </a:rPr>
              <a:t>由</a:t>
            </a:r>
            <a:r>
              <a:rPr lang="en-US" altLang="zh-CN" sz="2400" i="1" dirty="0">
                <a:ea typeface="宋体" panose="02010600030101010101" pitchFamily="2" charset="-122"/>
              </a:rPr>
              <a:t>S</a:t>
            </a:r>
            <a:r>
              <a:rPr lang="zh-CN" altLang="en-US" sz="2400" b="1" dirty="0">
                <a:ea typeface="宋体" panose="02010600030101010101" pitchFamily="2" charset="-122"/>
              </a:rPr>
              <a:t>和</a:t>
            </a:r>
            <a:r>
              <a:rPr lang="en-US" altLang="zh-CN" sz="2400" i="1" dirty="0">
                <a:ea typeface="宋体" panose="02010600030101010101" pitchFamily="2" charset="-122"/>
              </a:rPr>
              <a:t>L</a:t>
            </a:r>
            <a:r>
              <a:rPr lang="zh-CN" altLang="en-US" sz="2400" b="1" dirty="0">
                <a:ea typeface="宋体" panose="02010600030101010101" pitchFamily="2" charset="-122"/>
              </a:rPr>
              <a:t>生成的语句有一个待回填的跳转指令列表</a:t>
            </a:r>
            <a:r>
              <a:rPr lang="en-US" altLang="zh-CN" sz="2400" i="1" dirty="0">
                <a:ea typeface="宋体" panose="02010600030101010101" pitchFamily="2" charset="-122"/>
              </a:rPr>
              <a:t>nextlist</a:t>
            </a:r>
            <a:endParaRPr lang="zh-CN" altLang="en-US" sz="2400" i="1" dirty="0">
              <a:ea typeface="宋体" panose="02010600030101010101" pitchFamily="2" charset="-122"/>
            </a:endParaRPr>
          </a:p>
          <a:p>
            <a:pPr marL="895350" lvl="1" indent="-495300"/>
            <a:r>
              <a:rPr lang="en-US" altLang="zh-CN" sz="2200" i="1" dirty="0">
                <a:ea typeface="宋体" panose="02010600030101010101" pitchFamily="2" charset="-122"/>
              </a:rPr>
              <a:t>S.</a:t>
            </a:r>
            <a:r>
              <a:rPr lang="en-US" altLang="zh-CN" sz="2000" i="1" dirty="0">
                <a:ea typeface="宋体" panose="02010600030101010101" pitchFamily="2" charset="-122"/>
              </a:rPr>
              <a:t> nextlist</a:t>
            </a:r>
            <a:r>
              <a:rPr lang="zh-CN" altLang="en-US" sz="2200" b="1" dirty="0">
                <a:ea typeface="宋体" panose="02010600030101010101" pitchFamily="2" charset="-122"/>
              </a:rPr>
              <a:t>包含了所有跳转到按照运行顺序紧跟在</a:t>
            </a:r>
            <a:r>
              <a:rPr lang="en-US" altLang="zh-CN" sz="2200" i="1" dirty="0">
                <a:ea typeface="宋体" panose="02010600030101010101" pitchFamily="2" charset="-122"/>
              </a:rPr>
              <a:t>S</a:t>
            </a:r>
            <a:r>
              <a:rPr lang="zh-CN" altLang="en-US" sz="2200" b="1" dirty="0">
                <a:ea typeface="宋体" panose="02010600030101010101" pitchFamily="2" charset="-122"/>
              </a:rPr>
              <a:t>代码之后的指令的条件或无条件转移指令</a:t>
            </a:r>
            <a:endParaRPr lang="en-US" altLang="zh-CN" sz="2200" b="1" dirty="0">
              <a:ea typeface="宋体" panose="02010600030101010101" pitchFamily="2" charset="-122"/>
            </a:endParaRPr>
          </a:p>
          <a:p>
            <a:pPr marL="895350" lvl="1" indent="-495300"/>
            <a:r>
              <a:rPr lang="en-US" altLang="zh-CN" sz="2200" i="1" dirty="0">
                <a:ea typeface="宋体" panose="02010600030101010101" pitchFamily="2" charset="-122"/>
              </a:rPr>
              <a:t>L.</a:t>
            </a:r>
            <a:r>
              <a:rPr lang="en-US" altLang="zh-CN" sz="2000" i="1" dirty="0">
                <a:ea typeface="宋体" panose="02010600030101010101" pitchFamily="2" charset="-122"/>
              </a:rPr>
              <a:t> nextlist</a:t>
            </a:r>
            <a:r>
              <a:rPr lang="zh-CN" altLang="en-US" sz="2200" b="1" dirty="0">
                <a:ea typeface="宋体" panose="02010600030101010101" pitchFamily="2" charset="-122"/>
              </a:rPr>
              <a:t>的定义类似</a:t>
            </a:r>
            <a:endParaRPr lang="en-US" altLang="zh-CN" sz="2200" b="1" dirty="0">
              <a:ea typeface="宋体" panose="02010600030101010101" pitchFamily="2" charset="-122"/>
            </a:endParaRPr>
          </a:p>
          <a:p>
            <a:pPr marL="495300" indent="-495300"/>
            <a:r>
              <a:rPr lang="zh-CN" altLang="en-US" sz="2400" b="1" dirty="0">
                <a:ea typeface="宋体" panose="02010600030101010101" pitchFamily="2" charset="-122"/>
              </a:rPr>
              <a:t>标记非终结符</a:t>
            </a:r>
            <a:r>
              <a:rPr lang="en-US" altLang="zh-CN" sz="2400" i="1" dirty="0">
                <a:ea typeface="宋体" panose="02010600030101010101" pitchFamily="2" charset="-122"/>
              </a:rPr>
              <a:t>M</a:t>
            </a:r>
            <a:r>
              <a:rPr lang="zh-CN" altLang="en-US" sz="2400" b="1" dirty="0">
                <a:ea typeface="宋体" panose="02010600030101010101" pitchFamily="2" charset="-122"/>
              </a:rPr>
              <a:t>，</a:t>
            </a:r>
            <a:endParaRPr lang="en-US" altLang="zh-CN" sz="2400" b="1" dirty="0">
              <a:ea typeface="宋体" panose="02010600030101010101" pitchFamily="2" charset="-122"/>
            </a:endParaRPr>
          </a:p>
          <a:p>
            <a:pPr marL="895350" lvl="1" indent="-495300"/>
            <a:r>
              <a:rPr lang="zh-CN" altLang="en-US" sz="2200" b="1" dirty="0">
                <a:ea typeface="宋体" panose="02010600030101010101" pitchFamily="2" charset="-122"/>
              </a:rPr>
              <a:t>其属性</a:t>
            </a:r>
            <a:r>
              <a:rPr lang="en-US" altLang="zh-CN" sz="2200" i="1" dirty="0">
                <a:ea typeface="宋体" panose="02010600030101010101" pitchFamily="2" charset="-122"/>
              </a:rPr>
              <a:t>M.instr</a:t>
            </a:r>
            <a:r>
              <a:rPr lang="zh-CN" altLang="en-US" sz="2200" b="1" dirty="0">
                <a:ea typeface="宋体" panose="02010600030101010101" pitchFamily="2" charset="-122"/>
              </a:rPr>
              <a:t>的值设为下一条指令的序号，给出特定位置的标号，如</a:t>
            </a:r>
            <a:r>
              <a:rPr lang="en-US" altLang="zh-CN" sz="2200" b="1" dirty="0">
                <a:ea typeface="宋体" panose="02010600030101010101" pitchFamily="2" charset="-122"/>
              </a:rPr>
              <a:t>while</a:t>
            </a:r>
            <a:r>
              <a:rPr lang="zh-CN" altLang="en-US" sz="2200" b="1" dirty="0">
                <a:ea typeface="宋体" panose="02010600030101010101" pitchFamily="2" charset="-122"/>
              </a:rPr>
              <a:t>语句产生式中的</a:t>
            </a:r>
            <a:r>
              <a:rPr lang="en-US" altLang="zh-CN" sz="2200" i="1" dirty="0">
                <a:ea typeface="宋体" panose="02010600030101010101" pitchFamily="2" charset="-122"/>
              </a:rPr>
              <a:t>M</a:t>
            </a:r>
            <a:r>
              <a:rPr lang="en-US" altLang="zh-CN" sz="2200" i="1" baseline="-25000" dirty="0">
                <a:ea typeface="宋体" panose="02010600030101010101" pitchFamily="2" charset="-122"/>
              </a:rPr>
              <a:t>1</a:t>
            </a:r>
            <a:r>
              <a:rPr lang="zh-CN" altLang="en-US" sz="2200" b="1" dirty="0">
                <a:ea typeface="宋体" panose="02010600030101010101" pitchFamily="2" charset="-122"/>
              </a:rPr>
              <a:t>和</a:t>
            </a:r>
            <a:r>
              <a:rPr lang="en-US" altLang="zh-CN" sz="2200" i="1" dirty="0">
                <a:ea typeface="宋体" panose="02010600030101010101" pitchFamily="2" charset="-122"/>
              </a:rPr>
              <a:t>M</a:t>
            </a:r>
            <a:r>
              <a:rPr lang="en-US" altLang="zh-CN" sz="2200" i="1" baseline="-25000" dirty="0">
                <a:ea typeface="宋体" panose="02010600030101010101" pitchFamily="2" charset="-122"/>
              </a:rPr>
              <a:t>2</a:t>
            </a:r>
            <a:endParaRPr lang="en-US" altLang="zh-CN" sz="2200" b="1" dirty="0">
              <a:ea typeface="宋体" panose="02010600030101010101" pitchFamily="2" charset="-122"/>
            </a:endParaRPr>
          </a:p>
          <a:p>
            <a:pPr marL="895350" lvl="1" indent="-495300"/>
            <a:r>
              <a:rPr lang="zh-CN" altLang="en-US" sz="2200" b="1" dirty="0">
                <a:ea typeface="宋体" panose="02010600030101010101" pitchFamily="2" charset="-122"/>
              </a:rPr>
              <a:t>这些标号可以根据需要进行回填</a:t>
            </a:r>
            <a:endParaRPr lang="en-US" altLang="zh-CN" sz="2200" b="1" dirty="0">
              <a:ea typeface="宋体" panose="02010600030101010101" pitchFamily="2" charset="-122"/>
            </a:endParaRPr>
          </a:p>
        </p:txBody>
      </p:sp>
    </p:spTree>
  </p:cSld>
  <p:clrMapOvr>
    <a:masterClrMapping/>
  </p:clrMapOvr>
  <p:transition spd="slow"/>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8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控制转移语句（</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76483" name="Rectangle 3"/>
          <p:cNvSpPr>
            <a:spLocks noGrp="1"/>
          </p:cNvSpPr>
          <p:nvPr>
            <p:ph idx="1"/>
          </p:nvPr>
        </p:nvSpPr>
        <p:spPr>
          <a:xfrm>
            <a:off x="914400" y="1484313"/>
            <a:ext cx="7402513" cy="4840287"/>
          </a:xfrm>
        </p:spPr>
        <p:txBody>
          <a:bodyPr vert="horz" wrap="square" lIns="92075" tIns="46038" rIns="92075" bIns="46038" anchor="t" anchorCtr="0"/>
          <a:p>
            <a:pPr marL="495300" indent="-495300"/>
            <a:r>
              <a:rPr lang="zh-CN" altLang="en-US" sz="2400" b="1" dirty="0">
                <a:ea typeface="宋体" panose="02010600030101010101" pitchFamily="2" charset="-122"/>
              </a:rPr>
              <a:t>标记非终结符</a:t>
            </a:r>
            <a:r>
              <a:rPr lang="en-US" altLang="zh-CN" sz="2400" i="1" dirty="0">
                <a:ea typeface="宋体" panose="02010600030101010101" pitchFamily="2" charset="-122"/>
              </a:rPr>
              <a:t>N</a:t>
            </a:r>
            <a:endParaRPr lang="en-US" altLang="zh-CN" b="1" dirty="0">
              <a:ea typeface="宋体" panose="02010600030101010101" pitchFamily="2" charset="-122"/>
            </a:endParaRPr>
          </a:p>
          <a:p>
            <a:pPr marL="895350" lvl="1" indent="-495300"/>
            <a:r>
              <a:rPr lang="zh-CN" altLang="en-US" sz="2200" b="1" dirty="0">
                <a:ea typeface="宋体" panose="02010600030101010101" pitchFamily="2" charset="-122"/>
              </a:rPr>
              <a:t>实现条件语句</a:t>
            </a:r>
            <a:r>
              <a:rPr lang="en-US" altLang="zh-CN" sz="2200" b="1" dirty="0">
                <a:ea typeface="宋体" panose="02010600030101010101" pitchFamily="2" charset="-122"/>
              </a:rPr>
              <a:t>if (</a:t>
            </a:r>
            <a:r>
              <a:rPr lang="en-US" altLang="zh-CN" sz="2200" i="1" dirty="0">
                <a:ea typeface="宋体" panose="02010600030101010101" pitchFamily="2" charset="-122"/>
              </a:rPr>
              <a:t>B</a:t>
            </a:r>
            <a:r>
              <a:rPr lang="zh-CN" altLang="en-US" sz="2200" b="1" dirty="0">
                <a:ea typeface="宋体" panose="02010600030101010101" pitchFamily="2" charset="-122"/>
              </a:rPr>
              <a:t> </a:t>
            </a:r>
            <a:r>
              <a:rPr lang="en-US" altLang="zh-CN" sz="2200" b="1" dirty="0">
                <a:ea typeface="宋体" panose="02010600030101010101" pitchFamily="2" charset="-122"/>
              </a:rPr>
              <a:t>) </a:t>
            </a:r>
            <a:r>
              <a:rPr lang="en-US" altLang="zh-CN" sz="2200" i="1" dirty="0">
                <a:ea typeface="宋体" panose="02010600030101010101" pitchFamily="2" charset="-122"/>
              </a:rPr>
              <a:t>S</a:t>
            </a:r>
            <a:r>
              <a:rPr lang="en-US" altLang="zh-CN" sz="2200" i="1" baseline="-25000" dirty="0">
                <a:ea typeface="宋体" panose="02010600030101010101" pitchFamily="2" charset="-122"/>
              </a:rPr>
              <a:t>1</a:t>
            </a:r>
            <a:r>
              <a:rPr lang="en-US" altLang="zh-CN" sz="2200" b="1" dirty="0">
                <a:ea typeface="宋体" panose="02010600030101010101" pitchFamily="2" charset="-122"/>
              </a:rPr>
              <a:t> else </a:t>
            </a:r>
            <a:r>
              <a:rPr lang="en-US" altLang="zh-CN" sz="2200" i="1" dirty="0">
                <a:ea typeface="宋体" panose="02010600030101010101" pitchFamily="2" charset="-122"/>
              </a:rPr>
              <a:t>S</a:t>
            </a:r>
            <a:r>
              <a:rPr lang="en-US" altLang="zh-CN" sz="2200" i="1" baseline="-25000" dirty="0">
                <a:ea typeface="宋体" panose="02010600030101010101" pitchFamily="2" charset="-122"/>
              </a:rPr>
              <a:t>2</a:t>
            </a:r>
            <a:r>
              <a:rPr lang="zh-CN" altLang="en-US" sz="2200" b="1" dirty="0">
                <a:ea typeface="宋体" panose="02010600030101010101" pitchFamily="2" charset="-122"/>
              </a:rPr>
              <a:t>的语句执行</a:t>
            </a:r>
            <a:r>
              <a:rPr lang="en-US" altLang="zh-CN" sz="2200" i="1" dirty="0">
                <a:ea typeface="宋体" panose="02010600030101010101" pitchFamily="2" charset="-122"/>
              </a:rPr>
              <a:t>S</a:t>
            </a:r>
            <a:r>
              <a:rPr lang="en-US" altLang="zh-CN" sz="2200" i="1" baseline="-25000" dirty="0">
                <a:ea typeface="宋体" panose="02010600030101010101" pitchFamily="2" charset="-122"/>
              </a:rPr>
              <a:t>1</a:t>
            </a:r>
            <a:r>
              <a:rPr lang="zh-CN" altLang="en-US" sz="2200" b="1" dirty="0">
                <a:ea typeface="宋体" panose="02010600030101010101" pitchFamily="2" charset="-122"/>
              </a:rPr>
              <a:t>后，控制跳过</a:t>
            </a:r>
            <a:r>
              <a:rPr lang="en-US" altLang="zh-CN" sz="2200" i="1" dirty="0">
                <a:ea typeface="宋体" panose="02010600030101010101" pitchFamily="2" charset="-122"/>
              </a:rPr>
              <a:t>S</a:t>
            </a:r>
            <a:r>
              <a:rPr lang="en-US" altLang="zh-CN" sz="2200" i="1" baseline="-25000" dirty="0">
                <a:ea typeface="宋体" panose="02010600030101010101" pitchFamily="2" charset="-122"/>
              </a:rPr>
              <a:t>2</a:t>
            </a:r>
            <a:r>
              <a:rPr lang="zh-CN" altLang="en-US" sz="2200" b="1" dirty="0">
                <a:ea typeface="宋体" panose="02010600030101010101" pitchFamily="2" charset="-122"/>
              </a:rPr>
              <a:t>的动作</a:t>
            </a:r>
            <a:endParaRPr lang="en-US" altLang="zh-CN" sz="2200" b="1" dirty="0">
              <a:ea typeface="宋体" panose="02010600030101010101" pitchFamily="2" charset="-122"/>
            </a:endParaRPr>
          </a:p>
          <a:p>
            <a:pPr marL="895350" lvl="1" indent="-495300"/>
            <a:r>
              <a:rPr lang="en-US" altLang="zh-CN" sz="2200" b="1" dirty="0">
                <a:ea typeface="宋体" panose="02010600030101010101" pitchFamily="2" charset="-122"/>
              </a:rPr>
              <a:t> </a:t>
            </a:r>
            <a:r>
              <a:rPr lang="en-US" altLang="zh-CN" sz="2000" i="1" dirty="0">
                <a:ea typeface="宋体" panose="02010600030101010101" pitchFamily="2" charset="-122"/>
              </a:rPr>
              <a:t>N</a:t>
            </a:r>
            <a:r>
              <a:rPr lang="zh-CN" altLang="en-US" sz="2200" b="1" dirty="0">
                <a:ea typeface="宋体" panose="02010600030101010101" pitchFamily="2" charset="-122"/>
              </a:rPr>
              <a:t>有属性</a:t>
            </a:r>
            <a:r>
              <a:rPr lang="en-US" altLang="zh-CN" sz="2000" i="1" dirty="0">
                <a:ea typeface="宋体" panose="02010600030101010101" pitchFamily="2" charset="-122"/>
              </a:rPr>
              <a:t>N.nextlist</a:t>
            </a:r>
            <a:r>
              <a:rPr lang="zh-CN" altLang="en-US" sz="2200" b="1" dirty="0">
                <a:ea typeface="宋体" panose="02010600030101010101" pitchFamily="2" charset="-122"/>
              </a:rPr>
              <a:t>，表明期待</a:t>
            </a:r>
            <a:r>
              <a:rPr lang="en-US" altLang="zh-CN" sz="2200" b="1" dirty="0">
                <a:ea typeface="宋体" panose="02010600030101010101" pitchFamily="2" charset="-122"/>
              </a:rPr>
              <a:t>if (</a:t>
            </a:r>
            <a:r>
              <a:rPr lang="en-US" altLang="zh-CN" sz="2200" i="1" dirty="0">
                <a:ea typeface="宋体" panose="02010600030101010101" pitchFamily="2" charset="-122"/>
              </a:rPr>
              <a:t>B</a:t>
            </a:r>
            <a:r>
              <a:rPr lang="zh-CN" altLang="en-US" sz="2200" b="1" dirty="0">
                <a:ea typeface="宋体" panose="02010600030101010101" pitchFamily="2" charset="-122"/>
              </a:rPr>
              <a:t> </a:t>
            </a:r>
            <a:r>
              <a:rPr lang="en-US" altLang="zh-CN" sz="2200" b="1" dirty="0">
                <a:ea typeface="宋体" panose="02010600030101010101" pitchFamily="2" charset="-122"/>
              </a:rPr>
              <a:t>) </a:t>
            </a:r>
            <a:r>
              <a:rPr lang="en-US" altLang="zh-CN" sz="2200" i="1" dirty="0">
                <a:ea typeface="宋体" panose="02010600030101010101" pitchFamily="2" charset="-122"/>
              </a:rPr>
              <a:t>S</a:t>
            </a:r>
            <a:r>
              <a:rPr lang="en-US" altLang="zh-CN" sz="2200" i="1" baseline="-25000" dirty="0">
                <a:ea typeface="宋体" panose="02010600030101010101" pitchFamily="2" charset="-122"/>
              </a:rPr>
              <a:t>1</a:t>
            </a:r>
            <a:r>
              <a:rPr lang="en-US" altLang="zh-CN" sz="2200" b="1" dirty="0">
                <a:ea typeface="宋体" panose="02010600030101010101" pitchFamily="2" charset="-122"/>
              </a:rPr>
              <a:t> else </a:t>
            </a:r>
            <a:r>
              <a:rPr lang="en-US" altLang="zh-CN" sz="2200" i="1" dirty="0">
                <a:ea typeface="宋体" panose="02010600030101010101" pitchFamily="2" charset="-122"/>
              </a:rPr>
              <a:t>S</a:t>
            </a:r>
            <a:r>
              <a:rPr lang="en-US" altLang="zh-CN" sz="2200" i="1" baseline="-25000" dirty="0">
                <a:ea typeface="宋体" panose="02010600030101010101" pitchFamily="2" charset="-122"/>
              </a:rPr>
              <a:t>2</a:t>
            </a:r>
            <a:r>
              <a:rPr lang="zh-CN" altLang="en-US" sz="2200" b="1" dirty="0">
                <a:ea typeface="宋体" panose="02010600030101010101" pitchFamily="2" charset="-122"/>
              </a:rPr>
              <a:t>下一语句的出现</a:t>
            </a:r>
            <a:endParaRPr lang="en-US" altLang="zh-CN" sz="2200" b="1" dirty="0">
              <a:ea typeface="宋体" panose="02010600030101010101" pitchFamily="2" charset="-122"/>
            </a:endParaRPr>
          </a:p>
          <a:p>
            <a:pPr marL="495300" indent="-495300"/>
            <a:r>
              <a:rPr lang="zh-CN" altLang="en-US" sz="2400" b="1" dirty="0">
                <a:ea typeface="宋体" panose="02010600030101010101" pitchFamily="2" charset="-122"/>
              </a:rPr>
              <a:t>语句序列的处理</a:t>
            </a:r>
            <a:endParaRPr lang="en-US" altLang="zh-CN" sz="2400" b="1" dirty="0">
              <a:ea typeface="宋体" panose="02010600030101010101" pitchFamily="2" charset="-122"/>
            </a:endParaRPr>
          </a:p>
          <a:p>
            <a:pPr marL="895350" lvl="1" indent="-495300"/>
            <a:r>
              <a:rPr lang="en-US" altLang="zh-CN" sz="2200" i="1" dirty="0">
                <a:ea typeface="宋体" panose="02010600030101010101" pitchFamily="2" charset="-122"/>
              </a:rPr>
              <a:t>L</a:t>
            </a:r>
            <a:r>
              <a:rPr lang="zh-CN" altLang="en-US" sz="2200" b="1" dirty="0">
                <a:ea typeface="宋体" panose="02010600030101010101" pitchFamily="2" charset="-122"/>
              </a:rPr>
              <a:t> → </a:t>
            </a:r>
            <a:r>
              <a:rPr lang="en-US" altLang="zh-CN" sz="2200" i="1" dirty="0">
                <a:ea typeface="宋体" panose="02010600030101010101" pitchFamily="2" charset="-122"/>
              </a:rPr>
              <a:t>L</a:t>
            </a:r>
            <a:r>
              <a:rPr lang="en-US" altLang="zh-CN" sz="2200" i="1" baseline="-25000" dirty="0">
                <a:ea typeface="宋体" panose="02010600030101010101" pitchFamily="2" charset="-122"/>
              </a:rPr>
              <a:t>1</a:t>
            </a:r>
            <a:r>
              <a:rPr lang="zh-CN" altLang="en-US" sz="2200" i="1" dirty="0">
                <a:ea typeface="宋体" panose="02010600030101010101" pitchFamily="2" charset="-122"/>
              </a:rPr>
              <a:t> </a:t>
            </a:r>
            <a:r>
              <a:rPr lang="en-US" altLang="zh-CN" sz="2200" i="1" dirty="0">
                <a:ea typeface="宋体" panose="02010600030101010101" pitchFamily="2" charset="-122"/>
              </a:rPr>
              <a:t>M</a:t>
            </a:r>
            <a:r>
              <a:rPr lang="zh-CN" altLang="en-US" sz="2200" b="1" dirty="0">
                <a:ea typeface="宋体" panose="02010600030101010101" pitchFamily="2" charset="-122"/>
              </a:rPr>
              <a:t> </a:t>
            </a:r>
            <a:r>
              <a:rPr lang="en-US" altLang="zh-CN" sz="2200" i="1" dirty="0">
                <a:ea typeface="宋体" panose="02010600030101010101" pitchFamily="2" charset="-122"/>
              </a:rPr>
              <a:t>S</a:t>
            </a:r>
            <a:endParaRPr lang="en-US" altLang="zh-CN" sz="2200" i="1" dirty="0">
              <a:ea typeface="宋体" panose="02010600030101010101" pitchFamily="2" charset="-122"/>
            </a:endParaRPr>
          </a:p>
          <a:p>
            <a:pPr marL="895350" lvl="1" indent="-495300"/>
            <a:r>
              <a:rPr lang="en-US" altLang="zh-CN" sz="2200" i="1" dirty="0">
                <a:ea typeface="宋体" panose="02010600030101010101" pitchFamily="2" charset="-122"/>
              </a:rPr>
              <a:t>L</a:t>
            </a:r>
            <a:r>
              <a:rPr lang="en-US" altLang="zh-CN" sz="2200" i="1" baseline="-25000" dirty="0">
                <a:ea typeface="宋体" panose="02010600030101010101" pitchFamily="2" charset="-122"/>
              </a:rPr>
              <a:t>1</a:t>
            </a:r>
            <a:r>
              <a:rPr lang="en-US" altLang="zh-CN" sz="2200" i="1" dirty="0">
                <a:ea typeface="宋体" panose="02010600030101010101" pitchFamily="2" charset="-122"/>
              </a:rPr>
              <a:t>.nextlist</a:t>
            </a:r>
            <a:r>
              <a:rPr lang="zh-CN" altLang="en-US" sz="2200" b="1" dirty="0">
                <a:ea typeface="宋体" panose="02010600030101010101" pitchFamily="2" charset="-122"/>
              </a:rPr>
              <a:t>被回填为</a:t>
            </a:r>
            <a:r>
              <a:rPr lang="en-US" altLang="zh-CN" sz="2200" i="1" dirty="0">
                <a:ea typeface="宋体" panose="02010600030101010101" pitchFamily="2" charset="-122"/>
              </a:rPr>
              <a:t>S</a:t>
            </a:r>
            <a:r>
              <a:rPr lang="zh-CN" altLang="en-US" sz="2200" b="1" dirty="0">
                <a:ea typeface="宋体" panose="02010600030101010101" pitchFamily="2" charset="-122"/>
              </a:rPr>
              <a:t>代码的开始位置，这个位置由</a:t>
            </a:r>
            <a:r>
              <a:rPr lang="en-US" altLang="zh-CN" sz="2200" i="1" dirty="0">
                <a:ea typeface="宋体" panose="02010600030101010101" pitchFamily="2" charset="-122"/>
              </a:rPr>
              <a:t>M.instr</a:t>
            </a:r>
            <a:r>
              <a:rPr lang="zh-CN" altLang="en-US" sz="2200" b="1" dirty="0">
                <a:ea typeface="宋体" panose="02010600030101010101" pitchFamily="2" charset="-122"/>
              </a:rPr>
              <a:t>给出</a:t>
            </a:r>
            <a:endParaRPr lang="en-US" altLang="zh-CN" sz="2200" b="1" dirty="0">
              <a:ea typeface="宋体" panose="02010600030101010101" pitchFamily="2" charset="-122"/>
            </a:endParaRPr>
          </a:p>
        </p:txBody>
      </p:sp>
    </p:spTree>
  </p:cSld>
  <p:clrMapOvr>
    <a:masterClrMapping/>
  </p:clrMapOvr>
  <p:transition spd="slow"/>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853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控制转移语句（</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78531" name="Rectangle 3"/>
          <p:cNvSpPr>
            <a:spLocks noGrp="1"/>
          </p:cNvSpPr>
          <p:nvPr>
            <p:ph idx="1"/>
          </p:nvPr>
        </p:nvSpPr>
        <p:spPr>
          <a:xfrm>
            <a:off x="914400" y="1484313"/>
            <a:ext cx="7402513" cy="4840287"/>
          </a:xfrm>
        </p:spPr>
        <p:txBody>
          <a:bodyPr vert="horz" wrap="square" lIns="92075" tIns="46038" rIns="92075" bIns="46038" anchor="t" anchorCtr="0"/>
          <a:p>
            <a:pPr marL="495300" indent="-495300"/>
            <a:r>
              <a:rPr lang="en-US" altLang="zh-CN" sz="2400" b="1" dirty="0">
                <a:ea typeface="宋体" panose="02010600030101010101" pitchFamily="2" charset="-122"/>
              </a:rPr>
              <a:t>goto</a:t>
            </a:r>
            <a:r>
              <a:rPr lang="zh-CN" altLang="en-US" sz="2400" b="1" dirty="0">
                <a:ea typeface="宋体" panose="02010600030101010101" pitchFamily="2" charset="-122"/>
              </a:rPr>
              <a:t>语句：</a:t>
            </a:r>
            <a:r>
              <a:rPr lang="en-US" altLang="zh-CN" sz="2400" b="1" dirty="0">
                <a:ea typeface="宋体" panose="02010600030101010101" pitchFamily="2" charset="-122"/>
              </a:rPr>
              <a:t>goto</a:t>
            </a:r>
            <a:r>
              <a:rPr lang="zh-CN" altLang="en-US" sz="2400" b="1" dirty="0">
                <a:ea typeface="宋体" panose="02010600030101010101" pitchFamily="2" charset="-122"/>
              </a:rPr>
              <a:t> </a:t>
            </a:r>
            <a:r>
              <a:rPr lang="en-US" altLang="zh-CN" sz="2400" b="1" dirty="0">
                <a:ea typeface="宋体" panose="02010600030101010101" pitchFamily="2" charset="-122"/>
              </a:rPr>
              <a:t>L</a:t>
            </a:r>
            <a:endParaRPr lang="en-US" altLang="zh-CN" b="1" dirty="0">
              <a:ea typeface="宋体" panose="02010600030101010101" pitchFamily="2" charset="-122"/>
            </a:endParaRPr>
          </a:p>
          <a:p>
            <a:pPr marL="895350" lvl="1" indent="-495300"/>
            <a:r>
              <a:rPr lang="zh-CN" altLang="en-US" sz="2200" b="1" dirty="0">
                <a:ea typeface="宋体" panose="02010600030101010101" pitchFamily="2" charset="-122"/>
              </a:rPr>
              <a:t>为每个标号维护一个未完成跳转指令的列表，当标号出现时进行回填</a:t>
            </a:r>
            <a:endParaRPr lang="en-US" altLang="zh-CN" sz="2200" b="1" dirty="0">
              <a:ea typeface="宋体" panose="02010600030101010101" pitchFamily="2" charset="-122"/>
            </a:endParaRPr>
          </a:p>
          <a:p>
            <a:pPr marL="495300" indent="-495300"/>
            <a:r>
              <a:rPr lang="en-US" altLang="zh-CN" sz="2400" b="1" dirty="0">
                <a:ea typeface="宋体" panose="02010600030101010101" pitchFamily="2" charset="-122"/>
              </a:rPr>
              <a:t>break</a:t>
            </a:r>
            <a:r>
              <a:rPr lang="zh-CN" altLang="en-US" sz="2400" b="1" dirty="0">
                <a:ea typeface="宋体" panose="02010600030101010101" pitchFamily="2" charset="-122"/>
              </a:rPr>
              <a:t>语句：将控制流跳出到外围的语言结构</a:t>
            </a:r>
            <a:endParaRPr lang="en-US" altLang="zh-CN" sz="2400" b="1" dirty="0">
              <a:ea typeface="宋体" panose="02010600030101010101" pitchFamily="2" charset="-122"/>
            </a:endParaRPr>
          </a:p>
          <a:p>
            <a:pPr marL="895350" lvl="1" indent="-495300"/>
            <a:r>
              <a:rPr lang="zh-CN" altLang="en-US" sz="2200" b="1" dirty="0">
                <a:ea typeface="宋体" panose="02010600030101010101" pitchFamily="2" charset="-122"/>
              </a:rPr>
              <a:t>执行外围语言结构的下一条语句</a:t>
            </a:r>
            <a:endParaRPr lang="en-US" altLang="zh-CN" sz="2200" b="1" dirty="0">
              <a:ea typeface="宋体" panose="02010600030101010101" pitchFamily="2" charset="-122"/>
            </a:endParaRPr>
          </a:p>
          <a:p>
            <a:pPr marL="895350" lvl="1" indent="-495300"/>
            <a:r>
              <a:rPr lang="zh-CN" altLang="en-US" sz="2200" b="1" dirty="0">
                <a:ea typeface="宋体" panose="02010600030101010101" pitchFamily="2" charset="-122"/>
              </a:rPr>
              <a:t>翻译方法</a:t>
            </a:r>
            <a:endParaRPr lang="en-US" altLang="zh-CN" sz="2200" b="1" dirty="0">
              <a:ea typeface="宋体" panose="02010600030101010101" pitchFamily="2" charset="-122"/>
            </a:endParaRPr>
          </a:p>
          <a:p>
            <a:pPr marL="1295400" lvl="2" indent="-495300"/>
            <a:r>
              <a:rPr lang="zh-CN" altLang="en-US" sz="2000" b="1" dirty="0">
                <a:ea typeface="宋体" panose="02010600030101010101" pitchFamily="2" charset="-122"/>
              </a:rPr>
              <a:t>跟踪外围语句</a:t>
            </a:r>
            <a:r>
              <a:rPr lang="en-US" altLang="zh-CN" sz="2000" i="1" dirty="0">
                <a:ea typeface="宋体" panose="02010600030101010101" pitchFamily="2" charset="-122"/>
              </a:rPr>
              <a:t>S</a:t>
            </a:r>
            <a:endParaRPr lang="en-US" altLang="zh-CN" sz="2000" i="1" dirty="0">
              <a:ea typeface="宋体" panose="02010600030101010101" pitchFamily="2" charset="-122"/>
            </a:endParaRPr>
          </a:p>
          <a:p>
            <a:pPr marL="1295400" lvl="2" indent="-495300"/>
            <a:r>
              <a:rPr lang="zh-CN" altLang="en-US" sz="2000" b="1" dirty="0">
                <a:ea typeface="宋体" panose="02010600030101010101" pitchFamily="2" charset="-122"/>
              </a:rPr>
              <a:t>为</a:t>
            </a:r>
            <a:r>
              <a:rPr lang="en-US" altLang="zh-CN" sz="2000" b="1" dirty="0">
                <a:ea typeface="宋体" panose="02010600030101010101" pitchFamily="2" charset="-122"/>
              </a:rPr>
              <a:t>break</a:t>
            </a:r>
            <a:r>
              <a:rPr lang="zh-CN" altLang="en-US" sz="2000" b="1" dirty="0">
                <a:ea typeface="宋体" panose="02010600030101010101" pitchFamily="2" charset="-122"/>
              </a:rPr>
              <a:t>语句生成为完成的跳转指令</a:t>
            </a:r>
            <a:endParaRPr lang="en-US" altLang="zh-CN" sz="2000" b="1" dirty="0">
              <a:ea typeface="宋体" panose="02010600030101010101" pitchFamily="2" charset="-122"/>
            </a:endParaRPr>
          </a:p>
          <a:p>
            <a:pPr marL="1295400" lvl="2" indent="-495300"/>
            <a:r>
              <a:rPr lang="zh-CN" altLang="en-US" sz="2000" b="1" dirty="0">
                <a:ea typeface="宋体" panose="02010600030101010101" pitchFamily="2" charset="-122"/>
              </a:rPr>
              <a:t>将这些指令放到</a:t>
            </a:r>
            <a:r>
              <a:rPr lang="en-US" altLang="zh-CN" sz="2000" i="1" dirty="0">
                <a:ea typeface="宋体" panose="02010600030101010101" pitchFamily="2" charset="-122"/>
              </a:rPr>
              <a:t>S.nextlist</a:t>
            </a:r>
            <a:r>
              <a:rPr lang="zh-CN" altLang="en-US" sz="2000" b="1" dirty="0">
                <a:ea typeface="宋体" panose="02010600030101010101" pitchFamily="2" charset="-122"/>
              </a:rPr>
              <a:t>中</a:t>
            </a:r>
            <a:endParaRPr lang="en-US" altLang="zh-CN" sz="2000" b="1" dirty="0">
              <a:ea typeface="宋体" panose="02010600030101010101" pitchFamily="2" charset="-122"/>
            </a:endParaRPr>
          </a:p>
          <a:p>
            <a:pPr marL="495300" indent="-495300"/>
            <a:r>
              <a:rPr lang="en-US" altLang="zh-CN" sz="2400" b="1" dirty="0">
                <a:ea typeface="宋体" panose="02010600030101010101" pitchFamily="2" charset="-122"/>
              </a:rPr>
              <a:t>Congtinue</a:t>
            </a:r>
            <a:r>
              <a:rPr lang="zh-CN" altLang="en-US" sz="2400" b="1" dirty="0">
                <a:ea typeface="宋体" panose="02010600030101010101" pitchFamily="2" charset="-122"/>
              </a:rPr>
              <a:t>语句：在循环中，触发外围循环的下一次迭代</a:t>
            </a:r>
            <a:endParaRPr lang="en-US" altLang="zh-CN" sz="2400" b="1" dirty="0">
              <a:ea typeface="宋体" panose="02010600030101010101" pitchFamily="2" charset="-122"/>
            </a:endParaRPr>
          </a:p>
          <a:p>
            <a:pPr marL="895350" lvl="1" indent="-495300"/>
            <a:r>
              <a:rPr lang="zh-CN" altLang="en-US" sz="2200" b="1" dirty="0">
                <a:ea typeface="宋体" panose="02010600030101010101" pitchFamily="2" charset="-122"/>
              </a:rPr>
              <a:t>处理方式类似于</a:t>
            </a:r>
            <a:r>
              <a:rPr lang="en-US" altLang="zh-CN" sz="2200" b="1" dirty="0">
                <a:ea typeface="宋体" panose="02010600030101010101" pitchFamily="2" charset="-122"/>
              </a:rPr>
              <a:t>break</a:t>
            </a:r>
            <a:r>
              <a:rPr lang="zh-CN" altLang="en-US" sz="2200" b="1" dirty="0">
                <a:ea typeface="宋体" panose="02010600030101010101" pitchFamily="2" charset="-122"/>
              </a:rPr>
              <a:t>，但是跳转目标是循环的开始位置</a:t>
            </a:r>
            <a:endParaRPr lang="en-US" altLang="zh-CN" sz="2200" b="1" dirty="0">
              <a:ea typeface="宋体" panose="02010600030101010101" pitchFamily="2" charset="-122"/>
            </a:endParaRPr>
          </a:p>
        </p:txBody>
      </p:sp>
    </p:spTree>
  </p:cSld>
  <p:clrMapOvr>
    <a:masterClrMapping/>
  </p:clrMapOvr>
  <p:transition spd="slow"/>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0578"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switch</a:t>
            </a:r>
            <a:r>
              <a:rPr lang="zh-CN" altLang="en-US" dirty="0">
                <a:latin typeface="Times New Roman" panose="02020603050405020304" pitchFamily="18" charset="0"/>
                <a:ea typeface="宋体" panose="02010600030101010101" pitchFamily="2" charset="-122"/>
              </a:rPr>
              <a:t>语句（1）</a:t>
            </a:r>
            <a:endParaRPr lang="zh-CN" altLang="en-US" dirty="0">
              <a:latin typeface="Times New Roman" panose="02020603050405020304" pitchFamily="18" charset="0"/>
              <a:ea typeface="宋体" panose="02010600030101010101" pitchFamily="2" charset="-122"/>
            </a:endParaRPr>
          </a:p>
        </p:txBody>
      </p:sp>
      <p:sp>
        <p:nvSpPr>
          <p:cNvPr id="280579" name="Rectangle 3"/>
          <p:cNvSpPr>
            <a:spLocks noGrp="1"/>
          </p:cNvSpPr>
          <p:nvPr>
            <p:ph idx="1"/>
          </p:nvPr>
        </p:nvSpPr>
        <p:spPr>
          <a:xfrm>
            <a:off x="971550" y="1524000"/>
            <a:ext cx="7613650" cy="4800600"/>
          </a:xfrm>
        </p:spPr>
        <p:txBody>
          <a:bodyPr vert="horz" wrap="square" lIns="92075" tIns="46038" rIns="92075" bIns="46038" anchor="t" anchorCtr="0"/>
          <a:p>
            <a:pPr marL="495300" indent="-495300"/>
            <a:r>
              <a:rPr lang="zh-CN" altLang="en-US" sz="2400" b="1" dirty="0">
                <a:ea typeface="宋体" panose="02010600030101010101" pitchFamily="2" charset="-122"/>
              </a:rPr>
              <a:t>一般表现形式</a:t>
            </a:r>
            <a:endParaRPr lang="zh-CN" altLang="en-US" sz="2400" b="1" dirty="0">
              <a:ea typeface="宋体" panose="02010600030101010101" pitchFamily="2" charset="-122"/>
            </a:endParaRPr>
          </a:p>
          <a:p>
            <a:pPr marL="914400" lvl="1" indent="-457200">
              <a:buNone/>
            </a:pPr>
            <a:r>
              <a:rPr lang="zh-CN" altLang="en-US" sz="1600" b="1" dirty="0">
                <a:ea typeface="宋体" panose="02010600030101010101" pitchFamily="2" charset="-122"/>
              </a:rPr>
              <a:t>	</a:t>
            </a:r>
            <a:r>
              <a:rPr lang="en-US" altLang="zh-CN" sz="1600" b="1" dirty="0">
                <a:ea typeface="宋体" panose="02010600030101010101" pitchFamily="2" charset="-122"/>
              </a:rPr>
              <a:t>switch ( </a:t>
            </a:r>
            <a:r>
              <a:rPr lang="en-US" altLang="zh-CN" sz="1600" i="1" dirty="0">
                <a:ea typeface="宋体" panose="02010600030101010101" pitchFamily="2" charset="-122"/>
              </a:rPr>
              <a:t>E</a:t>
            </a:r>
            <a:r>
              <a:rPr lang="en-US" altLang="zh-CN" sz="1600" b="1" dirty="0">
                <a:ea typeface="宋体" panose="02010600030101010101" pitchFamily="2" charset="-122"/>
              </a:rPr>
              <a:t> ) {</a:t>
            </a:r>
            <a:endParaRPr lang="en-US" altLang="zh-CN" sz="1600" b="1" i="1" dirty="0">
              <a:ea typeface="宋体" panose="02010600030101010101" pitchFamily="2" charset="-122"/>
            </a:endParaRPr>
          </a:p>
          <a:p>
            <a:pPr marL="914400" lvl="1" indent="-457200">
              <a:buNone/>
            </a:pPr>
            <a:r>
              <a:rPr lang="en-US" altLang="zh-CN" sz="1600" b="1" dirty="0">
                <a:ea typeface="宋体" panose="02010600030101010101" pitchFamily="2" charset="-122"/>
              </a:rPr>
              <a:t>		    case </a:t>
            </a:r>
            <a:r>
              <a:rPr lang="en-US" altLang="zh-CN" sz="1600" i="1" dirty="0">
                <a:ea typeface="宋体" panose="02010600030101010101" pitchFamily="2" charset="-122"/>
              </a:rPr>
              <a:t>V</a:t>
            </a:r>
            <a:r>
              <a:rPr lang="en-US" altLang="zh-CN" sz="1600" i="1" baseline="-25000" dirty="0">
                <a:ea typeface="宋体" panose="02010600030101010101" pitchFamily="2" charset="-122"/>
              </a:rPr>
              <a:t>1</a:t>
            </a:r>
            <a:r>
              <a:rPr lang="en-US" altLang="zh-CN" sz="1600" b="1" dirty="0">
                <a:ea typeface="宋体" panose="02010600030101010101" pitchFamily="2" charset="-122"/>
              </a:rPr>
              <a:t>   :  </a:t>
            </a:r>
            <a:r>
              <a:rPr lang="en-US" altLang="zh-CN" sz="1600" i="1" dirty="0">
                <a:ea typeface="宋体" panose="02010600030101010101" pitchFamily="2" charset="-122"/>
              </a:rPr>
              <a:t>S</a:t>
            </a:r>
            <a:r>
              <a:rPr lang="en-US" altLang="zh-CN" sz="1600" i="1" baseline="-25000" dirty="0">
                <a:ea typeface="宋体" panose="02010600030101010101" pitchFamily="2" charset="-122"/>
              </a:rPr>
              <a:t>1</a:t>
            </a:r>
            <a:endParaRPr lang="en-US" altLang="zh-CN" sz="1600" i="1" baseline="-25000" dirty="0">
              <a:ea typeface="宋体" panose="02010600030101010101" pitchFamily="2" charset="-122"/>
            </a:endParaRPr>
          </a:p>
          <a:p>
            <a:pPr marL="914400" lvl="1" indent="-457200">
              <a:buNone/>
            </a:pPr>
            <a:r>
              <a:rPr lang="en-US" altLang="zh-CN" sz="1600" b="1" dirty="0">
                <a:ea typeface="宋体" panose="02010600030101010101" pitchFamily="2" charset="-122"/>
              </a:rPr>
              <a:t>		    case </a:t>
            </a:r>
            <a:r>
              <a:rPr lang="en-US" altLang="zh-CN" sz="1600" i="1" dirty="0">
                <a:ea typeface="宋体" panose="02010600030101010101" pitchFamily="2" charset="-122"/>
              </a:rPr>
              <a:t>V</a:t>
            </a:r>
            <a:r>
              <a:rPr lang="en-US" altLang="zh-CN" sz="1600" i="1" baseline="-25000" dirty="0">
                <a:ea typeface="宋体" panose="02010600030101010101" pitchFamily="2" charset="-122"/>
              </a:rPr>
              <a:t>2</a:t>
            </a:r>
            <a:r>
              <a:rPr lang="en-US" altLang="zh-CN" sz="1600" b="1" dirty="0">
                <a:ea typeface="宋体" panose="02010600030101010101" pitchFamily="2" charset="-122"/>
              </a:rPr>
              <a:t>   :  </a:t>
            </a:r>
            <a:r>
              <a:rPr lang="en-US" altLang="zh-CN" sz="1600" i="1" dirty="0">
                <a:ea typeface="宋体" panose="02010600030101010101" pitchFamily="2" charset="-122"/>
              </a:rPr>
              <a:t>S</a:t>
            </a:r>
            <a:r>
              <a:rPr lang="en-US" altLang="zh-CN" sz="1600" i="1" baseline="-25000" dirty="0">
                <a:ea typeface="宋体" panose="02010600030101010101" pitchFamily="2" charset="-122"/>
              </a:rPr>
              <a:t>2</a:t>
            </a:r>
            <a:endParaRPr lang="en-US" altLang="zh-CN" sz="1600" i="1" baseline="-25000" dirty="0">
              <a:ea typeface="宋体" panose="02010600030101010101" pitchFamily="2" charset="-122"/>
            </a:endParaRPr>
          </a:p>
          <a:p>
            <a:pPr marL="914400" lvl="1" indent="-457200">
              <a:buNone/>
            </a:pPr>
            <a:r>
              <a:rPr lang="en-US" altLang="zh-CN" sz="1600" b="1" dirty="0">
                <a:ea typeface="宋体" panose="02010600030101010101" pitchFamily="2" charset="-122"/>
              </a:rPr>
              <a:t>			… …</a:t>
            </a:r>
            <a:endParaRPr lang="en-US" altLang="zh-CN" sz="1600" b="1" dirty="0">
              <a:ea typeface="宋体" panose="02010600030101010101" pitchFamily="2" charset="-122"/>
            </a:endParaRPr>
          </a:p>
          <a:p>
            <a:pPr marL="914400" lvl="1" indent="-457200">
              <a:buNone/>
            </a:pPr>
            <a:r>
              <a:rPr lang="en-US" altLang="zh-CN" sz="1600" b="1" dirty="0">
                <a:ea typeface="宋体" panose="02010600030101010101" pitchFamily="2" charset="-122"/>
              </a:rPr>
              <a:t>		    case </a:t>
            </a:r>
            <a:r>
              <a:rPr lang="en-US" altLang="zh-CN" sz="1600" i="1" dirty="0">
                <a:ea typeface="宋体" panose="02010600030101010101" pitchFamily="2" charset="-122"/>
              </a:rPr>
              <a:t>V</a:t>
            </a:r>
            <a:r>
              <a:rPr lang="en-US" altLang="zh-CN" sz="1600" i="1" baseline="-25000" dirty="0">
                <a:ea typeface="宋体" panose="02010600030101010101" pitchFamily="2" charset="-122"/>
              </a:rPr>
              <a:t>n-1</a:t>
            </a:r>
            <a:r>
              <a:rPr lang="en-US" altLang="zh-CN" sz="1600" b="1" dirty="0">
                <a:ea typeface="宋体" panose="02010600030101010101" pitchFamily="2" charset="-122"/>
              </a:rPr>
              <a:t>  :  </a:t>
            </a:r>
            <a:r>
              <a:rPr lang="en-US" altLang="zh-CN" sz="1600" i="1" dirty="0">
                <a:ea typeface="宋体" panose="02010600030101010101" pitchFamily="2" charset="-122"/>
              </a:rPr>
              <a:t>S</a:t>
            </a:r>
            <a:r>
              <a:rPr lang="en-US" altLang="zh-CN" sz="1600" i="1" baseline="-25000" dirty="0">
                <a:ea typeface="宋体" panose="02010600030101010101" pitchFamily="2" charset="-122"/>
              </a:rPr>
              <a:t>n-1</a:t>
            </a:r>
            <a:endParaRPr lang="en-US" altLang="zh-CN" sz="1600" i="1" baseline="-25000" dirty="0">
              <a:ea typeface="宋体" panose="02010600030101010101" pitchFamily="2" charset="-122"/>
            </a:endParaRPr>
          </a:p>
          <a:p>
            <a:pPr marL="914400" lvl="1" indent="-457200">
              <a:buNone/>
            </a:pPr>
            <a:r>
              <a:rPr lang="en-US" altLang="zh-CN" sz="1600" b="1" dirty="0">
                <a:ea typeface="宋体" panose="02010600030101010101" pitchFamily="2" charset="-122"/>
              </a:rPr>
              <a:t>		    default    :  </a:t>
            </a:r>
            <a:r>
              <a:rPr lang="en-US" altLang="zh-CN" sz="1600" i="1" dirty="0">
                <a:ea typeface="宋体" panose="02010600030101010101" pitchFamily="2" charset="-122"/>
              </a:rPr>
              <a:t>S</a:t>
            </a:r>
            <a:r>
              <a:rPr lang="en-US" altLang="zh-CN" sz="1600" i="1" baseline="-25000" dirty="0">
                <a:ea typeface="宋体" panose="02010600030101010101" pitchFamily="2" charset="-122"/>
              </a:rPr>
              <a:t>n</a:t>
            </a:r>
            <a:endParaRPr lang="en-US" altLang="zh-CN" sz="1600" b="1" baseline="-25000" dirty="0">
              <a:ea typeface="宋体" panose="02010600030101010101" pitchFamily="2" charset="-122"/>
            </a:endParaRPr>
          </a:p>
          <a:p>
            <a:pPr marL="914400" lvl="1" indent="-457200">
              <a:buNone/>
            </a:pPr>
            <a:r>
              <a:rPr lang="en-US" altLang="zh-CN" sz="1600" b="1" dirty="0">
                <a:ea typeface="宋体" panose="02010600030101010101" pitchFamily="2" charset="-122"/>
              </a:rPr>
              <a:t>		}</a:t>
            </a:r>
            <a:endParaRPr lang="en-US" altLang="zh-CN" sz="1600" b="1" dirty="0">
              <a:ea typeface="宋体" panose="02010600030101010101" pitchFamily="2" charset="-122"/>
            </a:endParaRPr>
          </a:p>
          <a:p>
            <a:pPr marL="495300" indent="-495300"/>
            <a:r>
              <a:rPr lang="zh-CN" altLang="en-US" sz="2400" b="1" dirty="0">
                <a:ea typeface="宋体" panose="02010600030101010101" pitchFamily="2" charset="-122"/>
              </a:rPr>
              <a:t>可翻译成如下的代码</a:t>
            </a:r>
            <a:endParaRPr lang="zh-CN" altLang="en-US" sz="2400" b="1" dirty="0">
              <a:ea typeface="宋体" panose="02010600030101010101" pitchFamily="2" charset="-122"/>
            </a:endParaRPr>
          </a:p>
          <a:p>
            <a:pPr marL="914400" lvl="1" indent="-457200">
              <a:buFont typeface="Monotype Sorts" pitchFamily="2" charset="2"/>
              <a:buAutoNum type="arabicPeriod"/>
            </a:pPr>
            <a:r>
              <a:rPr lang="zh-CN" altLang="en-US" sz="2200" b="1" dirty="0">
                <a:ea typeface="宋体" panose="02010600030101010101" pitchFamily="2" charset="-122"/>
              </a:rPr>
              <a:t>计算表达式的值</a:t>
            </a:r>
            <a:endParaRPr lang="zh-CN" altLang="en-US" sz="2200" b="1" dirty="0">
              <a:ea typeface="宋体" panose="02010600030101010101" pitchFamily="2" charset="-122"/>
            </a:endParaRPr>
          </a:p>
          <a:p>
            <a:pPr marL="914400" lvl="1" indent="-457200">
              <a:buFont typeface="Monotype Sorts" pitchFamily="2" charset="2"/>
              <a:buAutoNum type="arabicPeriod"/>
            </a:pPr>
            <a:r>
              <a:rPr lang="zh-CN" altLang="en-US" sz="2200" b="1" dirty="0">
                <a:ea typeface="宋体" panose="02010600030101010101" pitchFamily="2" charset="-122"/>
              </a:rPr>
              <a:t>在分情况表中查找与表达式值相同的值，如果没有，则缺省值与表达式值匹配</a:t>
            </a:r>
            <a:endParaRPr lang="zh-CN" altLang="en-US" sz="2200" b="1" dirty="0">
              <a:ea typeface="宋体" panose="02010600030101010101" pitchFamily="2" charset="-122"/>
            </a:endParaRPr>
          </a:p>
          <a:p>
            <a:pPr marL="914400" lvl="1" indent="-457200">
              <a:buFont typeface="Monotype Sorts" pitchFamily="2" charset="2"/>
              <a:buAutoNum type="arabicPeriod"/>
            </a:pPr>
            <a:r>
              <a:rPr lang="zh-CN" altLang="en-US" sz="2200" b="1" dirty="0">
                <a:ea typeface="宋体" panose="02010600030101010101" pitchFamily="2" charset="-122"/>
              </a:rPr>
              <a:t>执行与该值相关的语句</a:t>
            </a:r>
            <a:endParaRPr lang="zh-CN" altLang="en-US" sz="2200" b="1" dirty="0">
              <a:ea typeface="宋体" panose="02010600030101010101" pitchFamily="2" charset="-122"/>
            </a:endParaRPr>
          </a:p>
        </p:txBody>
      </p:sp>
    </p:spTree>
  </p:cSld>
  <p:clrMapOvr>
    <a:masterClrMapping/>
  </p:clrMapOvr>
  <p:transition spd="slow"/>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2626"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switch</a:t>
            </a:r>
            <a:r>
              <a:rPr lang="zh-CN" altLang="en-US" dirty="0">
                <a:latin typeface="Times New Roman" panose="02020603050405020304" pitchFamily="18" charset="0"/>
                <a:ea typeface="宋体" panose="02010600030101010101" pitchFamily="2" charset="-122"/>
              </a:rPr>
              <a:t>语句（2）</a:t>
            </a:r>
            <a:endParaRPr lang="zh-CN" altLang="en-US" dirty="0">
              <a:latin typeface="Times New Roman" panose="02020603050405020304" pitchFamily="18" charset="0"/>
              <a:ea typeface="宋体" panose="02010600030101010101" pitchFamily="2" charset="-122"/>
            </a:endParaRPr>
          </a:p>
        </p:txBody>
      </p:sp>
      <p:sp>
        <p:nvSpPr>
          <p:cNvPr id="282627" name="Rectangle 3"/>
          <p:cNvSpPr>
            <a:spLocks noGrp="1"/>
          </p:cNvSpPr>
          <p:nvPr>
            <p:ph idx="1"/>
          </p:nvPr>
        </p:nvSpPr>
        <p:spPr>
          <a:xfrm>
            <a:off x="990600" y="1524000"/>
            <a:ext cx="7391400" cy="4800600"/>
          </a:xfrm>
        </p:spPr>
        <p:txBody>
          <a:bodyPr vert="horz" wrap="square" lIns="92075" tIns="46038" rIns="92075" bIns="46038" anchor="t" anchorCtr="0"/>
          <a:p>
            <a:pPr marL="495300" indent="-495300">
              <a:lnSpc>
                <a:spcPct val="90000"/>
              </a:lnSpc>
              <a:spcAft>
                <a:spcPct val="40000"/>
              </a:spcAft>
              <a:buNone/>
            </a:pPr>
            <a:r>
              <a:rPr lang="zh-CN" altLang="en-US" sz="1800" b="1" dirty="0">
                <a:ea typeface="宋体" panose="02010600030101010101" pitchFamily="2" charset="-122"/>
              </a:rPr>
              <a:t>		</a:t>
            </a:r>
            <a:r>
              <a:rPr lang="en-US" altLang="zh-CN" sz="1800" b="1" dirty="0">
                <a:ea typeface="宋体" panose="02010600030101010101" pitchFamily="2" charset="-122"/>
              </a:rPr>
              <a:t>switch</a:t>
            </a:r>
            <a:r>
              <a:rPr lang="zh-CN" altLang="en-US" sz="1800" b="1" dirty="0">
                <a:ea typeface="宋体" panose="02010600030101010101" pitchFamily="2" charset="-122"/>
              </a:rPr>
              <a:t>语句的一种翻译方式：</a:t>
            </a:r>
            <a:endParaRPr lang="zh-CN" altLang="en-US" sz="1800" b="1" dirty="0">
              <a:ea typeface="宋体" panose="02010600030101010101" pitchFamily="2" charset="-122"/>
            </a:endParaRPr>
          </a:p>
          <a:p>
            <a:pPr marL="495300" indent="-495300">
              <a:lnSpc>
                <a:spcPct val="90000"/>
              </a:lnSpc>
              <a:spcBef>
                <a:spcPct val="0"/>
              </a:spcBef>
              <a:buNone/>
            </a:pPr>
            <a:r>
              <a:rPr lang="zh-CN" altLang="en-US" sz="1800" b="1" dirty="0">
                <a:ea typeface="宋体" panose="02010600030101010101" pitchFamily="2" charset="-122"/>
              </a:rPr>
              <a:t>			计算</a:t>
            </a:r>
            <a:r>
              <a:rPr lang="en-US" altLang="zh-CN" sz="1800" b="1" dirty="0">
                <a:ea typeface="宋体" panose="02010600030101010101" pitchFamily="2" charset="-122"/>
              </a:rPr>
              <a:t>E</a:t>
            </a:r>
            <a:r>
              <a:rPr lang="zh-CN" altLang="en-US" sz="1800" b="1" dirty="0">
                <a:ea typeface="宋体" panose="02010600030101010101" pitchFamily="2" charset="-122"/>
              </a:rPr>
              <a:t>到</a:t>
            </a:r>
            <a:r>
              <a:rPr lang="en-US" altLang="zh-CN" sz="1800" b="1" dirty="0">
                <a:ea typeface="宋体" panose="02010600030101010101" pitchFamily="2" charset="-122"/>
              </a:rPr>
              <a:t>t</a:t>
            </a:r>
            <a:r>
              <a:rPr lang="zh-CN" altLang="en-US" sz="1800" b="1" dirty="0">
                <a:ea typeface="宋体" panose="02010600030101010101" pitchFamily="2" charset="-122"/>
              </a:rPr>
              <a:t>的代码</a:t>
            </a:r>
            <a:endParaRPr lang="zh-CN" altLang="en-US" sz="1800" b="1" dirty="0">
              <a:ea typeface="宋体" panose="02010600030101010101" pitchFamily="2" charset="-122"/>
            </a:endParaRPr>
          </a:p>
          <a:p>
            <a:pPr marL="495300" indent="-495300">
              <a:lnSpc>
                <a:spcPct val="90000"/>
              </a:lnSpc>
              <a:spcBef>
                <a:spcPct val="0"/>
              </a:spcBef>
              <a:buNone/>
            </a:pPr>
            <a:r>
              <a:rPr lang="zh-CN" altLang="en-US" sz="1800" b="1" dirty="0">
                <a:ea typeface="宋体" panose="02010600030101010101" pitchFamily="2" charset="-122"/>
              </a:rPr>
              <a:t>			</a:t>
            </a:r>
            <a:r>
              <a:rPr lang="en-US" altLang="zh-CN" sz="1800" b="1" dirty="0">
                <a:ea typeface="宋体" panose="02010600030101010101" pitchFamily="2" charset="-122"/>
              </a:rPr>
              <a:t>goto test</a:t>
            </a:r>
            <a:endParaRPr lang="en-US" altLang="zh-CN" sz="1800" b="1" dirty="0">
              <a:ea typeface="宋体" panose="02010600030101010101" pitchFamily="2" charset="-122"/>
            </a:endParaRPr>
          </a:p>
          <a:p>
            <a:pPr marL="495300" indent="-495300">
              <a:lnSpc>
                <a:spcPct val="90000"/>
              </a:lnSpc>
              <a:spcBef>
                <a:spcPct val="0"/>
              </a:spcBef>
              <a:buNone/>
            </a:pPr>
            <a:r>
              <a:rPr lang="en-US" altLang="zh-CN" sz="1800" b="1" dirty="0">
                <a:ea typeface="宋体" panose="02010600030101010101" pitchFamily="2" charset="-122"/>
              </a:rPr>
              <a:t>		L</a:t>
            </a:r>
            <a:r>
              <a:rPr lang="en-US" altLang="zh-CN" sz="1800" b="1" baseline="-25000" dirty="0">
                <a:ea typeface="宋体" panose="02010600030101010101" pitchFamily="2" charset="-122"/>
              </a:rPr>
              <a:t>1</a:t>
            </a:r>
            <a:r>
              <a:rPr lang="en-US" altLang="zh-CN" sz="1800" b="1" dirty="0">
                <a:ea typeface="宋体" panose="02010600030101010101" pitchFamily="2" charset="-122"/>
              </a:rPr>
              <a:t>:	S</a:t>
            </a:r>
            <a:r>
              <a:rPr lang="en-US" altLang="zh-CN" sz="1800" b="1" baseline="-25000" dirty="0">
                <a:ea typeface="宋体" panose="02010600030101010101" pitchFamily="2" charset="-122"/>
              </a:rPr>
              <a:t>1</a:t>
            </a:r>
            <a:r>
              <a:rPr lang="zh-CN" altLang="en-US" sz="1800" b="1" dirty="0">
                <a:ea typeface="宋体" panose="02010600030101010101" pitchFamily="2" charset="-122"/>
              </a:rPr>
              <a:t>的代码</a:t>
            </a:r>
            <a:endParaRPr lang="zh-CN" altLang="en-US" sz="1800" b="1" dirty="0">
              <a:ea typeface="宋体" panose="02010600030101010101" pitchFamily="2" charset="-122"/>
            </a:endParaRPr>
          </a:p>
          <a:p>
            <a:pPr marL="495300" indent="-495300">
              <a:lnSpc>
                <a:spcPct val="90000"/>
              </a:lnSpc>
              <a:spcBef>
                <a:spcPct val="0"/>
              </a:spcBef>
              <a:buNone/>
            </a:pPr>
            <a:r>
              <a:rPr lang="zh-CN" altLang="en-US" sz="1800" b="1" dirty="0">
                <a:ea typeface="宋体" panose="02010600030101010101" pitchFamily="2" charset="-122"/>
              </a:rPr>
              <a:t>			</a:t>
            </a:r>
            <a:r>
              <a:rPr lang="en-US" altLang="zh-CN" sz="1800" b="1" dirty="0">
                <a:ea typeface="宋体" panose="02010600030101010101" pitchFamily="2" charset="-122"/>
              </a:rPr>
              <a:t>goto next</a:t>
            </a:r>
            <a:endParaRPr lang="en-US" altLang="zh-CN" sz="1800" b="1" dirty="0">
              <a:ea typeface="宋体" panose="02010600030101010101" pitchFamily="2" charset="-122"/>
            </a:endParaRPr>
          </a:p>
          <a:p>
            <a:pPr marL="495300" indent="-495300">
              <a:lnSpc>
                <a:spcPct val="90000"/>
              </a:lnSpc>
              <a:spcBef>
                <a:spcPct val="0"/>
              </a:spcBef>
              <a:buNone/>
            </a:pPr>
            <a:r>
              <a:rPr lang="en-US" altLang="zh-CN" sz="1800" b="1" dirty="0">
                <a:ea typeface="宋体" panose="02010600030101010101" pitchFamily="2" charset="-122"/>
              </a:rPr>
              <a:t>		L</a:t>
            </a:r>
            <a:r>
              <a:rPr lang="en-US" altLang="zh-CN" sz="1800" b="1" baseline="-25000" dirty="0">
                <a:ea typeface="宋体" panose="02010600030101010101" pitchFamily="2" charset="-122"/>
              </a:rPr>
              <a:t>2</a:t>
            </a:r>
            <a:r>
              <a:rPr lang="en-US" altLang="zh-CN" sz="1800" b="1" dirty="0">
                <a:ea typeface="宋体" panose="02010600030101010101" pitchFamily="2" charset="-122"/>
              </a:rPr>
              <a:t>:	S</a:t>
            </a:r>
            <a:r>
              <a:rPr lang="en-US" altLang="zh-CN" sz="1800" b="1" baseline="-25000" dirty="0">
                <a:ea typeface="宋体" panose="02010600030101010101" pitchFamily="2" charset="-122"/>
              </a:rPr>
              <a:t>2</a:t>
            </a:r>
            <a:r>
              <a:rPr lang="zh-CN" altLang="en-US" sz="1800" b="1" dirty="0">
                <a:ea typeface="宋体" panose="02010600030101010101" pitchFamily="2" charset="-122"/>
              </a:rPr>
              <a:t>的代码</a:t>
            </a:r>
            <a:endParaRPr lang="zh-CN" altLang="en-US" sz="1800" b="1" dirty="0">
              <a:ea typeface="宋体" panose="02010600030101010101" pitchFamily="2" charset="-122"/>
            </a:endParaRPr>
          </a:p>
          <a:p>
            <a:pPr marL="495300" indent="-495300">
              <a:lnSpc>
                <a:spcPct val="90000"/>
              </a:lnSpc>
              <a:spcBef>
                <a:spcPct val="0"/>
              </a:spcBef>
              <a:buNone/>
            </a:pPr>
            <a:r>
              <a:rPr lang="zh-CN" altLang="en-US" sz="1800" b="1" dirty="0">
                <a:ea typeface="宋体" panose="02010600030101010101" pitchFamily="2" charset="-122"/>
              </a:rPr>
              <a:t>			</a:t>
            </a:r>
            <a:r>
              <a:rPr lang="en-US" altLang="zh-CN" sz="1800" b="1" dirty="0">
                <a:ea typeface="宋体" panose="02010600030101010101" pitchFamily="2" charset="-122"/>
              </a:rPr>
              <a:t>goto next</a:t>
            </a:r>
            <a:endParaRPr lang="en-US" altLang="zh-CN" sz="1800" b="1" dirty="0">
              <a:ea typeface="宋体" panose="02010600030101010101" pitchFamily="2" charset="-122"/>
            </a:endParaRPr>
          </a:p>
          <a:p>
            <a:pPr marL="495300" indent="-495300">
              <a:lnSpc>
                <a:spcPct val="90000"/>
              </a:lnSpc>
              <a:spcBef>
                <a:spcPct val="0"/>
              </a:spcBef>
              <a:buNone/>
            </a:pPr>
            <a:r>
              <a:rPr lang="en-US" altLang="zh-CN" sz="1800" b="1" dirty="0">
                <a:ea typeface="宋体" panose="02010600030101010101" pitchFamily="2" charset="-122"/>
              </a:rPr>
              <a:t>			… …</a:t>
            </a:r>
            <a:endParaRPr lang="en-US" altLang="zh-CN" sz="1800" b="1" dirty="0">
              <a:ea typeface="宋体" panose="02010600030101010101" pitchFamily="2" charset="-122"/>
            </a:endParaRPr>
          </a:p>
          <a:p>
            <a:pPr marL="495300" indent="-495300">
              <a:lnSpc>
                <a:spcPct val="90000"/>
              </a:lnSpc>
              <a:spcBef>
                <a:spcPct val="0"/>
              </a:spcBef>
              <a:buNone/>
            </a:pPr>
            <a:r>
              <a:rPr lang="en-US" altLang="zh-CN" sz="1800" b="1" dirty="0">
                <a:ea typeface="宋体" panose="02010600030101010101" pitchFamily="2" charset="-122"/>
              </a:rPr>
              <a:t>		L</a:t>
            </a:r>
            <a:r>
              <a:rPr lang="en-US" altLang="zh-CN" sz="1800" b="1" baseline="-25000" dirty="0">
                <a:ea typeface="宋体" panose="02010600030101010101" pitchFamily="2" charset="-122"/>
              </a:rPr>
              <a:t>n-1</a:t>
            </a:r>
            <a:r>
              <a:rPr lang="en-US" altLang="zh-CN" sz="1800" b="1" dirty="0">
                <a:ea typeface="宋体" panose="02010600030101010101" pitchFamily="2" charset="-122"/>
              </a:rPr>
              <a:t>:	S</a:t>
            </a:r>
            <a:r>
              <a:rPr lang="en-US" altLang="zh-CN" sz="1800" b="1" baseline="-25000" dirty="0">
                <a:ea typeface="宋体" panose="02010600030101010101" pitchFamily="2" charset="-122"/>
              </a:rPr>
              <a:t>n-1</a:t>
            </a:r>
            <a:r>
              <a:rPr lang="zh-CN" altLang="en-US" sz="1800" b="1" dirty="0">
                <a:ea typeface="宋体" panose="02010600030101010101" pitchFamily="2" charset="-122"/>
              </a:rPr>
              <a:t>的代码</a:t>
            </a:r>
            <a:endParaRPr lang="zh-CN" altLang="en-US" sz="1800" b="1" dirty="0">
              <a:ea typeface="宋体" panose="02010600030101010101" pitchFamily="2" charset="-122"/>
            </a:endParaRPr>
          </a:p>
          <a:p>
            <a:pPr marL="495300" indent="-495300">
              <a:lnSpc>
                <a:spcPct val="90000"/>
              </a:lnSpc>
              <a:spcBef>
                <a:spcPct val="0"/>
              </a:spcBef>
              <a:buNone/>
            </a:pPr>
            <a:r>
              <a:rPr lang="zh-CN" altLang="en-US" sz="1800" b="1" dirty="0">
                <a:ea typeface="宋体" panose="02010600030101010101" pitchFamily="2" charset="-122"/>
              </a:rPr>
              <a:t>			</a:t>
            </a:r>
            <a:r>
              <a:rPr lang="en-US" altLang="zh-CN" sz="1800" b="1" dirty="0">
                <a:ea typeface="宋体" panose="02010600030101010101" pitchFamily="2" charset="-122"/>
              </a:rPr>
              <a:t>goto next</a:t>
            </a:r>
            <a:endParaRPr lang="en-US" altLang="zh-CN" sz="1800" b="1" dirty="0">
              <a:ea typeface="宋体" panose="02010600030101010101" pitchFamily="2" charset="-122"/>
            </a:endParaRPr>
          </a:p>
          <a:p>
            <a:pPr marL="495300" indent="-495300">
              <a:lnSpc>
                <a:spcPct val="90000"/>
              </a:lnSpc>
              <a:spcBef>
                <a:spcPct val="0"/>
              </a:spcBef>
              <a:buNone/>
            </a:pPr>
            <a:r>
              <a:rPr lang="en-US" altLang="zh-CN" sz="1800" b="1" dirty="0">
                <a:ea typeface="宋体" panose="02010600030101010101" pitchFamily="2" charset="-122"/>
              </a:rPr>
              <a:t>		L</a:t>
            </a:r>
            <a:r>
              <a:rPr lang="en-US" altLang="zh-CN" sz="1800" b="1" baseline="-25000" dirty="0">
                <a:ea typeface="宋体" panose="02010600030101010101" pitchFamily="2" charset="-122"/>
              </a:rPr>
              <a:t>n</a:t>
            </a:r>
            <a:r>
              <a:rPr lang="en-US" altLang="zh-CN" sz="1800" b="1" dirty="0">
                <a:ea typeface="宋体" panose="02010600030101010101" pitchFamily="2" charset="-122"/>
              </a:rPr>
              <a:t>:	S</a:t>
            </a:r>
            <a:r>
              <a:rPr lang="en-US" altLang="zh-CN" sz="1800" b="1" baseline="-25000" dirty="0">
                <a:ea typeface="宋体" panose="02010600030101010101" pitchFamily="2" charset="-122"/>
              </a:rPr>
              <a:t>n</a:t>
            </a:r>
            <a:r>
              <a:rPr lang="zh-CN" altLang="en-US" sz="1800" b="1" dirty="0">
                <a:ea typeface="宋体" panose="02010600030101010101" pitchFamily="2" charset="-122"/>
              </a:rPr>
              <a:t>的代码</a:t>
            </a:r>
            <a:endParaRPr lang="zh-CN" altLang="en-US" sz="1800" b="1" dirty="0">
              <a:ea typeface="宋体" panose="02010600030101010101" pitchFamily="2" charset="-122"/>
            </a:endParaRPr>
          </a:p>
          <a:p>
            <a:pPr marL="495300" indent="-495300">
              <a:lnSpc>
                <a:spcPct val="90000"/>
              </a:lnSpc>
              <a:spcBef>
                <a:spcPct val="0"/>
              </a:spcBef>
              <a:buNone/>
            </a:pPr>
            <a:r>
              <a:rPr lang="zh-CN" altLang="en-US" sz="1800" b="1" dirty="0">
                <a:ea typeface="宋体" panose="02010600030101010101" pitchFamily="2" charset="-122"/>
              </a:rPr>
              <a:t>			</a:t>
            </a:r>
            <a:r>
              <a:rPr lang="en-US" altLang="zh-CN" sz="1800" b="1" dirty="0">
                <a:ea typeface="宋体" panose="02010600030101010101" pitchFamily="2" charset="-122"/>
              </a:rPr>
              <a:t>goto next</a:t>
            </a:r>
            <a:endParaRPr lang="en-US" altLang="zh-CN" sz="1800" b="1" dirty="0">
              <a:ea typeface="宋体" panose="02010600030101010101" pitchFamily="2" charset="-122"/>
            </a:endParaRPr>
          </a:p>
          <a:p>
            <a:pPr marL="495300" indent="-495300">
              <a:lnSpc>
                <a:spcPct val="90000"/>
              </a:lnSpc>
              <a:spcBef>
                <a:spcPct val="0"/>
              </a:spcBef>
              <a:buNone/>
            </a:pPr>
            <a:r>
              <a:rPr lang="en-US" altLang="zh-CN" sz="1800" b="1" dirty="0">
                <a:ea typeface="宋体" panose="02010600030101010101" pitchFamily="2" charset="-122"/>
              </a:rPr>
              <a:t>		test:	if t = V</a:t>
            </a:r>
            <a:r>
              <a:rPr lang="en-US" altLang="zh-CN" sz="1800" b="1" baseline="-25000" dirty="0">
                <a:ea typeface="宋体" panose="02010600030101010101" pitchFamily="2" charset="-122"/>
              </a:rPr>
              <a:t>1</a:t>
            </a:r>
            <a:r>
              <a:rPr lang="en-US" altLang="zh-CN" sz="1800" b="1" dirty="0">
                <a:ea typeface="宋体" panose="02010600030101010101" pitchFamily="2" charset="-122"/>
              </a:rPr>
              <a:t> goto L</a:t>
            </a:r>
            <a:r>
              <a:rPr lang="en-US" altLang="zh-CN" sz="1800" b="1" baseline="-25000" dirty="0">
                <a:ea typeface="宋体" panose="02010600030101010101" pitchFamily="2" charset="-122"/>
              </a:rPr>
              <a:t>1</a:t>
            </a:r>
            <a:endParaRPr lang="zh-CN" altLang="en-US" sz="1800" b="1" baseline="-25000" dirty="0">
              <a:ea typeface="宋体" panose="02010600030101010101" pitchFamily="2" charset="-122"/>
            </a:endParaRPr>
          </a:p>
          <a:p>
            <a:pPr marL="495300" indent="-495300">
              <a:lnSpc>
                <a:spcPct val="90000"/>
              </a:lnSpc>
              <a:spcBef>
                <a:spcPct val="0"/>
              </a:spcBef>
              <a:buNone/>
            </a:pPr>
            <a:r>
              <a:rPr lang="zh-CN" altLang="en-US" sz="1800" b="1" dirty="0">
                <a:ea typeface="宋体" panose="02010600030101010101" pitchFamily="2" charset="-122"/>
              </a:rPr>
              <a:t>			</a:t>
            </a:r>
            <a:r>
              <a:rPr lang="en-US" altLang="zh-CN" sz="1800" b="1" dirty="0">
                <a:ea typeface="宋体" panose="02010600030101010101" pitchFamily="2" charset="-122"/>
              </a:rPr>
              <a:t>if t = V</a:t>
            </a:r>
            <a:r>
              <a:rPr lang="en-US" altLang="zh-CN" sz="1800" b="1" baseline="-25000" dirty="0">
                <a:ea typeface="宋体" panose="02010600030101010101" pitchFamily="2" charset="-122"/>
              </a:rPr>
              <a:t>2</a:t>
            </a:r>
            <a:r>
              <a:rPr lang="en-US" altLang="zh-CN" sz="1800" b="1" dirty="0">
                <a:ea typeface="宋体" panose="02010600030101010101" pitchFamily="2" charset="-122"/>
              </a:rPr>
              <a:t> goto L</a:t>
            </a:r>
            <a:r>
              <a:rPr lang="en-US" altLang="zh-CN" sz="1800" b="1" baseline="-25000" dirty="0">
                <a:ea typeface="宋体" panose="02010600030101010101" pitchFamily="2" charset="-122"/>
              </a:rPr>
              <a:t>2</a:t>
            </a:r>
            <a:endParaRPr lang="en-US" altLang="zh-CN" sz="1800" b="1" baseline="-25000" dirty="0">
              <a:ea typeface="宋体" panose="02010600030101010101" pitchFamily="2" charset="-122"/>
            </a:endParaRPr>
          </a:p>
          <a:p>
            <a:pPr marL="495300" indent="-495300">
              <a:lnSpc>
                <a:spcPct val="90000"/>
              </a:lnSpc>
              <a:spcBef>
                <a:spcPct val="0"/>
              </a:spcBef>
              <a:buNone/>
            </a:pPr>
            <a:r>
              <a:rPr lang="en-US" altLang="zh-CN" sz="1800" b="1" dirty="0">
                <a:ea typeface="宋体" panose="02010600030101010101" pitchFamily="2" charset="-122"/>
              </a:rPr>
              <a:t>			… …</a:t>
            </a:r>
            <a:endParaRPr lang="en-US" altLang="zh-CN" sz="1800" b="1" dirty="0">
              <a:ea typeface="宋体" panose="02010600030101010101" pitchFamily="2" charset="-122"/>
            </a:endParaRPr>
          </a:p>
          <a:p>
            <a:pPr marL="495300" indent="-495300">
              <a:lnSpc>
                <a:spcPct val="90000"/>
              </a:lnSpc>
              <a:spcBef>
                <a:spcPct val="0"/>
              </a:spcBef>
              <a:buNone/>
            </a:pPr>
            <a:r>
              <a:rPr lang="zh-CN" altLang="en-US" sz="1800" b="1" dirty="0">
                <a:ea typeface="宋体" panose="02010600030101010101" pitchFamily="2" charset="-122"/>
              </a:rPr>
              <a:t>			</a:t>
            </a:r>
            <a:r>
              <a:rPr lang="en-US" altLang="zh-CN" sz="1800" b="1" dirty="0">
                <a:ea typeface="宋体" panose="02010600030101010101" pitchFamily="2" charset="-122"/>
              </a:rPr>
              <a:t>if t = V</a:t>
            </a:r>
            <a:r>
              <a:rPr lang="en-US" altLang="zh-CN" sz="1800" b="1" baseline="-25000" dirty="0">
                <a:ea typeface="宋体" panose="02010600030101010101" pitchFamily="2" charset="-122"/>
              </a:rPr>
              <a:t>n-1</a:t>
            </a:r>
            <a:r>
              <a:rPr lang="en-US" altLang="zh-CN" sz="1800" b="1" dirty="0">
                <a:ea typeface="宋体" panose="02010600030101010101" pitchFamily="2" charset="-122"/>
              </a:rPr>
              <a:t> goto L</a:t>
            </a:r>
            <a:r>
              <a:rPr lang="en-US" altLang="zh-CN" sz="1800" b="1" baseline="-25000" dirty="0">
                <a:ea typeface="宋体" panose="02010600030101010101" pitchFamily="2" charset="-122"/>
              </a:rPr>
              <a:t>n-1</a:t>
            </a:r>
            <a:endParaRPr lang="en-US" altLang="zh-CN" sz="1800" b="1" baseline="-25000" dirty="0">
              <a:ea typeface="宋体" panose="02010600030101010101" pitchFamily="2" charset="-122"/>
            </a:endParaRPr>
          </a:p>
          <a:p>
            <a:pPr marL="495300" indent="-495300">
              <a:lnSpc>
                <a:spcPct val="90000"/>
              </a:lnSpc>
              <a:spcBef>
                <a:spcPct val="0"/>
              </a:spcBef>
              <a:buNone/>
            </a:pPr>
            <a:r>
              <a:rPr lang="en-US" altLang="zh-CN" sz="1800" b="1" dirty="0">
                <a:ea typeface="宋体" panose="02010600030101010101" pitchFamily="2" charset="-122"/>
              </a:rPr>
              <a:t>			goto L</a:t>
            </a:r>
            <a:r>
              <a:rPr lang="en-US" altLang="zh-CN" sz="1800" b="1" baseline="-25000" dirty="0">
                <a:ea typeface="宋体" panose="02010600030101010101" pitchFamily="2" charset="-122"/>
              </a:rPr>
              <a:t>n</a:t>
            </a:r>
            <a:endParaRPr lang="en-US" altLang="zh-CN" sz="1800" b="1" dirty="0">
              <a:ea typeface="宋体" panose="02010600030101010101" pitchFamily="2" charset="-122"/>
            </a:endParaRPr>
          </a:p>
          <a:p>
            <a:pPr marL="495300" indent="-495300">
              <a:lnSpc>
                <a:spcPct val="90000"/>
              </a:lnSpc>
              <a:spcBef>
                <a:spcPct val="0"/>
              </a:spcBef>
              <a:buNone/>
            </a:pPr>
            <a:r>
              <a:rPr lang="en-US" altLang="zh-CN" sz="1800" b="1" dirty="0">
                <a:ea typeface="宋体" panose="02010600030101010101" pitchFamily="2" charset="-122"/>
              </a:rPr>
              <a:t>		next:</a:t>
            </a:r>
            <a:endParaRPr lang="en-US" altLang="zh-CN" sz="1800" b="1" dirty="0">
              <a:ea typeface="宋体" panose="02010600030101010101" pitchFamily="2" charset="-122"/>
            </a:endParaRPr>
          </a:p>
        </p:txBody>
      </p:sp>
    </p:spTree>
  </p:cSld>
  <p:clrMapOvr>
    <a:masterClrMapping/>
  </p:clrMapOvr>
  <p:transition spd="slow"/>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4674"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switch</a:t>
            </a:r>
            <a:r>
              <a:rPr lang="zh-CN" altLang="en-US" dirty="0">
                <a:latin typeface="Times New Roman" panose="02020603050405020304" pitchFamily="18" charset="0"/>
                <a:ea typeface="宋体" panose="02010600030101010101" pitchFamily="2" charset="-122"/>
              </a:rPr>
              <a:t>语句（3）</a:t>
            </a:r>
            <a:endParaRPr lang="zh-CN" altLang="en-US" dirty="0">
              <a:latin typeface="Times New Roman" panose="02020603050405020304" pitchFamily="18" charset="0"/>
              <a:ea typeface="宋体" panose="02010600030101010101" pitchFamily="2" charset="-122"/>
            </a:endParaRPr>
          </a:p>
        </p:txBody>
      </p:sp>
      <p:sp>
        <p:nvSpPr>
          <p:cNvPr id="284675" name="Rectangle 3"/>
          <p:cNvSpPr>
            <a:spLocks noGrp="1"/>
          </p:cNvSpPr>
          <p:nvPr>
            <p:ph idx="1"/>
          </p:nvPr>
        </p:nvSpPr>
        <p:spPr>
          <a:xfrm>
            <a:off x="990600" y="1371600"/>
            <a:ext cx="7391400" cy="4953000"/>
          </a:xfrm>
        </p:spPr>
        <p:txBody>
          <a:bodyPr vert="horz" wrap="square" lIns="92075" tIns="46038" rIns="92075" bIns="46038" anchor="t" anchorCtr="0"/>
          <a:p>
            <a:pPr marL="495300" indent="-495300"/>
            <a:r>
              <a:rPr lang="en-US" altLang="zh-CN" sz="2400" b="1" dirty="0">
                <a:ea typeface="宋体" panose="02010600030101010101" pitchFamily="2" charset="-122"/>
              </a:rPr>
              <a:t>switch</a:t>
            </a:r>
            <a:r>
              <a:rPr lang="zh-CN" altLang="en-US" sz="2400" b="1" dirty="0">
                <a:ea typeface="宋体" panose="02010600030101010101" pitchFamily="2" charset="-122"/>
              </a:rPr>
              <a:t>语句翻译的优化</a:t>
            </a:r>
            <a:endParaRPr lang="zh-CN" altLang="en-US" sz="2400" b="1" dirty="0">
              <a:ea typeface="宋体" panose="02010600030101010101" pitchFamily="2" charset="-122"/>
            </a:endParaRPr>
          </a:p>
          <a:p>
            <a:pPr marL="914400" lvl="1" indent="-457200"/>
            <a:r>
              <a:rPr lang="zh-CN" altLang="en-US" sz="2200" b="1" dirty="0">
                <a:ea typeface="宋体" panose="02010600030101010101" pitchFamily="2" charset="-122"/>
              </a:rPr>
              <a:t>跳转目标的处理</a:t>
            </a:r>
            <a:endParaRPr lang="zh-CN" altLang="en-US" sz="2200" b="1" dirty="0">
              <a:ea typeface="宋体" panose="02010600030101010101" pitchFamily="2" charset="-122"/>
            </a:endParaRPr>
          </a:p>
          <a:p>
            <a:pPr marL="1333500" lvl="2" indent="-419100"/>
            <a:r>
              <a:rPr lang="zh-CN" altLang="en-US" sz="2000" b="1" dirty="0">
                <a:ea typeface="宋体" panose="02010600030101010101" pitchFamily="2" charset="-122"/>
              </a:rPr>
              <a:t>候选值很少时，可直接使用上述方法</a:t>
            </a:r>
            <a:endParaRPr lang="zh-CN" altLang="en-US" sz="2000" b="1" dirty="0">
              <a:ea typeface="宋体" panose="02010600030101010101" pitchFamily="2" charset="-122"/>
            </a:endParaRPr>
          </a:p>
          <a:p>
            <a:pPr marL="1333500" lvl="2" indent="-419100"/>
            <a:r>
              <a:rPr lang="zh-CN" altLang="en-US" sz="2000" b="1" dirty="0">
                <a:ea typeface="宋体" panose="02010600030101010101" pitchFamily="2" charset="-122"/>
              </a:rPr>
              <a:t>如果候选值多时，可使用散列表实现</a:t>
            </a:r>
            <a:endParaRPr lang="zh-CN" altLang="en-US" sz="2000" b="1" dirty="0">
              <a:ea typeface="宋体" panose="02010600030101010101" pitchFamily="2" charset="-122"/>
            </a:endParaRPr>
          </a:p>
          <a:p>
            <a:pPr marL="1333500" lvl="2" indent="-419100"/>
            <a:r>
              <a:rPr lang="zh-CN" altLang="en-US" sz="2000" b="1" dirty="0">
                <a:ea typeface="宋体" panose="02010600030101010101" pitchFamily="2" charset="-122"/>
              </a:rPr>
              <a:t>如果候选值出现在一定范围内，譬如有</a:t>
            </a:r>
            <a:r>
              <a:rPr lang="en-US" altLang="zh-CN" sz="2000" b="1" dirty="0">
                <a:ea typeface="宋体" panose="02010600030101010101" pitchFamily="2" charset="-122"/>
              </a:rPr>
              <a:t>n</a:t>
            </a:r>
            <a:r>
              <a:rPr lang="zh-CN" altLang="en-US" sz="2000" b="1" dirty="0">
                <a:ea typeface="宋体" panose="02010600030101010101" pitchFamily="2" charset="-122"/>
              </a:rPr>
              <a:t>个分支，则可考虑用跳转表间接寻址实现，如下图</a:t>
            </a:r>
            <a:endParaRPr lang="en-US" altLang="zh-CN" sz="2000" b="1" dirty="0">
              <a:ea typeface="宋体" panose="02010600030101010101" pitchFamily="2" charset="-122"/>
            </a:endParaRPr>
          </a:p>
          <a:p>
            <a:pPr marL="1333500" lvl="2" indent="-419100"/>
            <a:endParaRPr lang="en-US" altLang="zh-CN" sz="2000" b="1" dirty="0">
              <a:ea typeface="宋体" panose="02010600030101010101" pitchFamily="2" charset="-122"/>
            </a:endParaRPr>
          </a:p>
          <a:p>
            <a:pPr marL="1333500" lvl="2" indent="-419100"/>
            <a:endParaRPr lang="en-US" altLang="zh-CN" sz="2000" b="1" dirty="0">
              <a:ea typeface="宋体" panose="02010600030101010101" pitchFamily="2" charset="-122"/>
            </a:endParaRPr>
          </a:p>
          <a:p>
            <a:pPr marL="1333500" lvl="2" indent="-419100"/>
            <a:endParaRPr lang="en-US" altLang="zh-CN" sz="2000" b="1" dirty="0">
              <a:ea typeface="宋体" panose="02010600030101010101" pitchFamily="2" charset="-122"/>
            </a:endParaRPr>
          </a:p>
          <a:p>
            <a:pPr marL="1333500" lvl="2" indent="-419100"/>
            <a:endParaRPr lang="en-US" altLang="zh-CN" sz="2000" b="1" dirty="0">
              <a:ea typeface="宋体" panose="02010600030101010101" pitchFamily="2" charset="-122"/>
            </a:endParaRPr>
          </a:p>
          <a:p>
            <a:pPr marL="1333500" lvl="2" indent="-419100"/>
            <a:endParaRPr lang="en-US" altLang="zh-CN" sz="2000" b="1" dirty="0">
              <a:ea typeface="宋体" panose="02010600030101010101" pitchFamily="2" charset="-122"/>
            </a:endParaRPr>
          </a:p>
          <a:p>
            <a:pPr marL="1333500" lvl="2" indent="-419100"/>
            <a:endParaRPr lang="zh-CN" altLang="en-US" sz="2000" b="1" dirty="0">
              <a:ea typeface="宋体" panose="02010600030101010101" pitchFamily="2" charset="-122"/>
            </a:endParaRPr>
          </a:p>
          <a:p>
            <a:pPr marL="914400" lvl="1" indent="-457200"/>
            <a:r>
              <a:rPr lang="zh-CN" altLang="en-US" sz="2200" b="1" dirty="0">
                <a:ea typeface="宋体" panose="02010600030101010101" pitchFamily="2" charset="-122"/>
              </a:rPr>
              <a:t>测试放在末端的考虑</a:t>
            </a:r>
            <a:endParaRPr lang="zh-CN" altLang="en-US" sz="2200" b="1" dirty="0">
              <a:ea typeface="宋体" panose="02010600030101010101" pitchFamily="2" charset="-122"/>
            </a:endParaRPr>
          </a:p>
          <a:p>
            <a:pPr marL="1333500" lvl="2" indent="-419100"/>
            <a:r>
              <a:rPr lang="zh-CN" altLang="en-US" sz="2000" b="1" dirty="0">
                <a:ea typeface="宋体" panose="02010600030101010101" pitchFamily="2" charset="-122"/>
              </a:rPr>
              <a:t>便于代码生成器识别这是多路分支，实施优化</a:t>
            </a:r>
            <a:endParaRPr lang="zh-CN" altLang="en-US" sz="2000" b="1" dirty="0">
              <a:ea typeface="宋体" panose="02010600030101010101" pitchFamily="2" charset="-122"/>
            </a:endParaRPr>
          </a:p>
        </p:txBody>
      </p:sp>
      <p:pic>
        <p:nvPicPr>
          <p:cNvPr id="284676" name="Picture 2"/>
          <p:cNvPicPr>
            <a:picLocks noChangeAspect="1"/>
          </p:cNvPicPr>
          <p:nvPr/>
        </p:nvPicPr>
        <p:blipFill>
          <a:blip r:embed="rId1"/>
          <a:stretch>
            <a:fillRect/>
          </a:stretch>
        </p:blipFill>
        <p:spPr>
          <a:xfrm>
            <a:off x="304800" y="3644900"/>
            <a:ext cx="8458200" cy="2160588"/>
          </a:xfrm>
          <a:prstGeom prst="rect">
            <a:avLst/>
          </a:prstGeom>
          <a:noFill/>
          <a:ln w="9525">
            <a:noFill/>
          </a:ln>
        </p:spPr>
      </p:pic>
    </p:spTree>
  </p:cSld>
  <p:clrMapOvr>
    <a:masterClrMapping/>
  </p:clrMapOvr>
  <p:transition spd="slow"/>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22"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switch</a:t>
            </a:r>
            <a:r>
              <a:rPr lang="zh-CN" altLang="en-US" dirty="0">
                <a:latin typeface="Times New Roman" panose="02020603050405020304" pitchFamily="18" charset="0"/>
                <a:ea typeface="宋体" panose="02010600030101010101" pitchFamily="2" charset="-122"/>
              </a:rPr>
              <a:t>语句（</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86723" name="Rectangle 3"/>
          <p:cNvSpPr>
            <a:spLocks noGrp="1"/>
          </p:cNvSpPr>
          <p:nvPr>
            <p:ph idx="1"/>
          </p:nvPr>
        </p:nvSpPr>
        <p:spPr>
          <a:xfrm>
            <a:off x="990600" y="1524000"/>
            <a:ext cx="7391400" cy="4800600"/>
          </a:xfrm>
        </p:spPr>
        <p:txBody>
          <a:bodyPr vert="horz" wrap="square" lIns="92075" tIns="46038" rIns="92075" bIns="46038" anchor="t" anchorCtr="0"/>
          <a:p>
            <a:pPr marL="495300" indent="-495300"/>
            <a:r>
              <a:rPr lang="en-US" altLang="zh-CN" sz="2400" b="1" dirty="0">
                <a:ea typeface="宋体" panose="02010600030101010101" pitchFamily="2" charset="-122"/>
              </a:rPr>
              <a:t>switch</a:t>
            </a:r>
            <a:r>
              <a:rPr lang="zh-CN" altLang="en-US" sz="2400" b="1" dirty="0">
                <a:ea typeface="宋体" panose="02010600030101010101" pitchFamily="2" charset="-122"/>
              </a:rPr>
              <a:t>语句的另一种翻译</a:t>
            </a:r>
            <a:endParaRPr lang="zh-CN" altLang="en-US" sz="2400" b="1" dirty="0">
              <a:ea typeface="宋体" panose="02010600030101010101" pitchFamily="2" charset="-122"/>
            </a:endParaRPr>
          </a:p>
        </p:txBody>
      </p:sp>
      <p:pic>
        <p:nvPicPr>
          <p:cNvPr id="286724" name="Picture 2"/>
          <p:cNvPicPr>
            <a:picLocks noChangeAspect="1"/>
          </p:cNvPicPr>
          <p:nvPr/>
        </p:nvPicPr>
        <p:blipFill>
          <a:blip r:embed="rId1"/>
          <a:stretch>
            <a:fillRect/>
          </a:stretch>
        </p:blipFill>
        <p:spPr>
          <a:xfrm>
            <a:off x="533400" y="2060575"/>
            <a:ext cx="7834313" cy="4824413"/>
          </a:xfrm>
          <a:prstGeom prst="rect">
            <a:avLst/>
          </a:prstGeom>
          <a:noFill/>
          <a:ln w="9525">
            <a:noFill/>
          </a:ln>
        </p:spPr>
      </p:pic>
    </p:spTree>
  </p:cSld>
  <p:clrMapOvr>
    <a:masterClrMapping/>
  </p:clrMapOvr>
  <p:transition spd="slow"/>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877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过程的中间代码（1）</a:t>
            </a:r>
            <a:endParaRPr lang="zh-CN" altLang="en-US" dirty="0">
              <a:latin typeface="Times New Roman" panose="02020603050405020304" pitchFamily="18" charset="0"/>
              <a:ea typeface="宋体" panose="02010600030101010101" pitchFamily="2" charset="-122"/>
            </a:endParaRPr>
          </a:p>
        </p:txBody>
      </p:sp>
      <p:sp>
        <p:nvSpPr>
          <p:cNvPr id="251907" name="Rectangle 3"/>
          <p:cNvSpPr>
            <a:spLocks noGrp="1" noChangeArrowheads="1"/>
          </p:cNvSpPr>
          <p:nvPr>
            <p:ph idx="1"/>
          </p:nvPr>
        </p:nvSpPr>
        <p:spPr>
          <a:xfrm>
            <a:off x="914400" y="1524000"/>
            <a:ext cx="7761288" cy="48006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过程的翻译</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过程及其实现在第</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7</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章详细讨论</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本节简单讨论函数（有返回值的过程）声明以及函数调用的三地址代码</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函数调用被拆分为准备进行调用时的参数求值，然后是调用本身</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参数传递采用值调用方式</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例子：</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赋值语句</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 = f ( a [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对应的三地址代码如下</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4</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 [ t</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3)</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param</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t</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4)</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3</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call f , 1</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5)</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3</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08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过程的中间代码（1）</a:t>
            </a:r>
            <a:endParaRPr lang="zh-CN" altLang="en-US" dirty="0">
              <a:latin typeface="Times New Roman" panose="02020603050405020304" pitchFamily="18" charset="0"/>
              <a:ea typeface="宋体" panose="02010600030101010101" pitchFamily="2" charset="-122"/>
            </a:endParaRPr>
          </a:p>
        </p:txBody>
      </p:sp>
      <p:sp>
        <p:nvSpPr>
          <p:cNvPr id="290819" name="Rectangle 3"/>
          <p:cNvSpPr>
            <a:spLocks noGrp="1"/>
          </p:cNvSpPr>
          <p:nvPr>
            <p:ph idx="1"/>
          </p:nvPr>
        </p:nvSpPr>
        <p:spPr>
          <a:xfrm>
            <a:off x="914400" y="1524000"/>
            <a:ext cx="7761288" cy="4800600"/>
          </a:xfrm>
        </p:spPr>
        <p:txBody>
          <a:bodyPr vert="horz" wrap="square" lIns="92075" tIns="46038" rIns="92075" bIns="46038" anchor="t" anchorCtr="0"/>
          <a:p>
            <a:pPr marL="495300" indent="-495300"/>
            <a:r>
              <a:rPr lang="zh-CN" altLang="en-US" sz="2400" b="1" dirty="0">
                <a:ea typeface="宋体" panose="02010600030101010101" pitchFamily="2" charset="-122"/>
              </a:rPr>
              <a:t>扩展语言规范，加入函数</a:t>
            </a:r>
            <a:endParaRPr lang="en-US" altLang="zh-CN" sz="2400" b="1" dirty="0">
              <a:ea typeface="宋体" panose="02010600030101010101" pitchFamily="2" charset="-122"/>
            </a:endParaRPr>
          </a:p>
          <a:p>
            <a:pPr marL="895350" lvl="1" indent="-495300"/>
            <a:endParaRPr lang="en-US" altLang="zh-CN" sz="2200" b="1" dirty="0">
              <a:ea typeface="宋体" panose="02010600030101010101" pitchFamily="2" charset="-122"/>
            </a:endParaRPr>
          </a:p>
          <a:p>
            <a:pPr marL="495300" indent="-495300"/>
            <a:endParaRPr lang="en-US" altLang="zh-CN" sz="2200" b="1" dirty="0">
              <a:ea typeface="宋体" panose="02010600030101010101" pitchFamily="2" charset="-122"/>
            </a:endParaRPr>
          </a:p>
          <a:p>
            <a:pPr marL="495300" indent="-495300"/>
            <a:endParaRPr lang="en-US" altLang="zh-CN" sz="2200" b="1" dirty="0">
              <a:ea typeface="宋体" panose="02010600030101010101" pitchFamily="2" charset="-122"/>
            </a:endParaRPr>
          </a:p>
          <a:p>
            <a:pPr marL="495300" indent="-495300"/>
            <a:endParaRPr lang="en-US" altLang="zh-CN" sz="2200" b="1" dirty="0">
              <a:ea typeface="宋体" panose="02010600030101010101" pitchFamily="2" charset="-122"/>
            </a:endParaRPr>
          </a:p>
          <a:p>
            <a:pPr marL="495300" indent="-495300"/>
            <a:endParaRPr lang="en-US" altLang="zh-CN" sz="2200" b="1" dirty="0">
              <a:ea typeface="宋体" panose="02010600030101010101" pitchFamily="2" charset="-122"/>
            </a:endParaRPr>
          </a:p>
          <a:p>
            <a:pPr marL="495300" indent="-495300"/>
            <a:r>
              <a:rPr lang="en-US" altLang="zh-CN" sz="2400" b="1" dirty="0">
                <a:ea typeface="宋体" panose="02010600030101010101" pitchFamily="2" charset="-122"/>
              </a:rPr>
              <a:t>D</a:t>
            </a:r>
            <a:r>
              <a:rPr lang="zh-CN" altLang="en-US" sz="2400" b="1" dirty="0">
                <a:ea typeface="宋体" panose="02010600030101010101" pitchFamily="2" charset="-122"/>
              </a:rPr>
              <a:t>给出了函数定义的规范，</a:t>
            </a:r>
            <a:r>
              <a:rPr lang="en-US" altLang="zh-CN" sz="2400" b="1" dirty="0">
                <a:ea typeface="宋体" panose="02010600030101010101" pitchFamily="2" charset="-122"/>
              </a:rPr>
              <a:t>T</a:t>
            </a:r>
            <a:r>
              <a:rPr lang="zh-CN" altLang="en-US" sz="2400" b="1" dirty="0">
                <a:ea typeface="宋体" panose="02010600030101010101" pitchFamily="2" charset="-122"/>
              </a:rPr>
              <a:t>指明了函数的类型</a:t>
            </a:r>
            <a:endParaRPr lang="en-US" altLang="zh-CN" sz="2400" b="1" dirty="0">
              <a:ea typeface="宋体" panose="02010600030101010101" pitchFamily="2" charset="-122"/>
            </a:endParaRPr>
          </a:p>
          <a:p>
            <a:pPr marL="495300" indent="-495300"/>
            <a:r>
              <a:rPr lang="en-US" altLang="zh-CN" sz="2400" b="1" dirty="0">
                <a:ea typeface="宋体" panose="02010600030101010101" pitchFamily="2" charset="-122"/>
              </a:rPr>
              <a:t>F</a:t>
            </a:r>
            <a:r>
              <a:rPr lang="zh-CN" altLang="en-US" sz="2400" b="1" dirty="0">
                <a:ea typeface="宋体" panose="02010600030101010101" pitchFamily="2" charset="-122"/>
              </a:rPr>
              <a:t>给出过程的形参声明规范，可以有</a:t>
            </a:r>
            <a:r>
              <a:rPr lang="en-US" altLang="zh-CN" sz="2400" b="1" dirty="0">
                <a:ea typeface="宋体" panose="02010600030101010101" pitchFamily="2" charset="-122"/>
              </a:rPr>
              <a:t>0</a:t>
            </a:r>
            <a:r>
              <a:rPr lang="zh-CN" altLang="en-US" sz="2400" b="1" dirty="0">
                <a:ea typeface="宋体" panose="02010600030101010101" pitchFamily="2" charset="-122"/>
              </a:rPr>
              <a:t>个或多个形参</a:t>
            </a:r>
            <a:endParaRPr lang="en-US" altLang="zh-CN" sz="2400" b="1" dirty="0">
              <a:ea typeface="宋体" panose="02010600030101010101" pitchFamily="2" charset="-122"/>
            </a:endParaRPr>
          </a:p>
          <a:p>
            <a:pPr marL="495300" indent="-495300"/>
            <a:r>
              <a:rPr lang="zh-CN" altLang="en-US" sz="2400" b="1" dirty="0">
                <a:ea typeface="宋体" panose="02010600030101010101" pitchFamily="2" charset="-122"/>
              </a:rPr>
              <a:t>语句</a:t>
            </a:r>
            <a:r>
              <a:rPr lang="en-US" altLang="zh-CN" sz="2400" b="1" dirty="0">
                <a:ea typeface="宋体" panose="02010600030101010101" pitchFamily="2" charset="-122"/>
              </a:rPr>
              <a:t>S</a:t>
            </a:r>
            <a:r>
              <a:rPr lang="zh-CN" altLang="en-US" sz="2400" b="1" dirty="0">
                <a:ea typeface="宋体" panose="02010600030101010101" pitchFamily="2" charset="-122"/>
              </a:rPr>
              <a:t>的产生式增加了一个返回表达式值的语句</a:t>
            </a:r>
            <a:endParaRPr lang="en-US" altLang="zh-CN" sz="2400" b="1" dirty="0">
              <a:ea typeface="宋体" panose="02010600030101010101" pitchFamily="2" charset="-122"/>
            </a:endParaRPr>
          </a:p>
          <a:p>
            <a:pPr marL="495300" indent="-495300"/>
            <a:r>
              <a:rPr lang="zh-CN" altLang="en-US" sz="2400" b="1" dirty="0">
                <a:ea typeface="宋体" panose="02010600030101010101" pitchFamily="2" charset="-122"/>
              </a:rPr>
              <a:t>表达式</a:t>
            </a:r>
            <a:r>
              <a:rPr lang="en-US" altLang="zh-CN" sz="2400" b="1" dirty="0">
                <a:ea typeface="宋体" panose="02010600030101010101" pitchFamily="2" charset="-122"/>
              </a:rPr>
              <a:t>E</a:t>
            </a:r>
            <a:r>
              <a:rPr lang="zh-CN" altLang="en-US" sz="2400" b="1" dirty="0">
                <a:ea typeface="宋体" panose="02010600030101010101" pitchFamily="2" charset="-122"/>
              </a:rPr>
              <a:t>的产生式增加了一个函数调用的表达式</a:t>
            </a:r>
            <a:endParaRPr lang="en-US" altLang="zh-CN" sz="2400" b="1" dirty="0">
              <a:ea typeface="宋体" panose="02010600030101010101" pitchFamily="2" charset="-122"/>
            </a:endParaRPr>
          </a:p>
          <a:p>
            <a:pPr marL="895350" lvl="1" indent="-495300"/>
            <a:r>
              <a:rPr lang="zh-CN" altLang="en-US" sz="2200" b="1" dirty="0">
                <a:ea typeface="宋体" panose="02010600030101010101" pitchFamily="2" charset="-122"/>
              </a:rPr>
              <a:t>调用的实参由非终结符</a:t>
            </a:r>
            <a:r>
              <a:rPr lang="en-US" altLang="zh-CN" sz="2200" b="1" dirty="0">
                <a:ea typeface="宋体" panose="02010600030101010101" pitchFamily="2" charset="-122"/>
              </a:rPr>
              <a:t>A</a:t>
            </a:r>
            <a:r>
              <a:rPr lang="zh-CN" altLang="en-US" sz="2200" b="1" dirty="0">
                <a:ea typeface="宋体" panose="02010600030101010101" pitchFamily="2" charset="-122"/>
              </a:rPr>
              <a:t>生成</a:t>
            </a:r>
            <a:endParaRPr lang="en-US" altLang="zh-CN" sz="2200" b="1" dirty="0">
              <a:ea typeface="宋体" panose="02010600030101010101" pitchFamily="2" charset="-122"/>
            </a:endParaRPr>
          </a:p>
        </p:txBody>
      </p:sp>
      <p:pic>
        <p:nvPicPr>
          <p:cNvPr id="290820" name="Picture 3"/>
          <p:cNvPicPr>
            <a:picLocks noChangeAspect="1"/>
          </p:cNvPicPr>
          <p:nvPr/>
        </p:nvPicPr>
        <p:blipFill>
          <a:blip r:embed="rId1"/>
          <a:stretch>
            <a:fillRect/>
          </a:stretch>
        </p:blipFill>
        <p:spPr>
          <a:xfrm>
            <a:off x="1138238" y="1916113"/>
            <a:ext cx="6386512" cy="2089150"/>
          </a:xfrm>
          <a:prstGeom prst="rect">
            <a:avLst/>
          </a:prstGeom>
          <a:noFill/>
          <a:ln w="9525">
            <a:noFill/>
          </a:ln>
        </p:spPr>
      </p:pic>
    </p:spTree>
  </p:cSld>
  <p:clrMapOvr>
    <a:masterClrMapping/>
  </p:clrMapOvr>
  <p:transition spd="slow"/>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286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过程的中间代码（</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51907" name="Rectangle 3"/>
          <p:cNvSpPr>
            <a:spLocks noGrp="1" noChangeArrowheads="1"/>
          </p:cNvSpPr>
          <p:nvPr>
            <p:ph idx="1"/>
          </p:nvPr>
        </p:nvSpPr>
        <p:spPr>
          <a:xfrm>
            <a:off x="914400" y="1371600"/>
            <a:ext cx="7761288" cy="49530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函数定义和调用可用本章介绍的方法翻译</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函数类型：包括返回值类型和形式参数类型</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函数类型可以在返回值类型和有序的参数类型列表上用类型构造算子</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fun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表示</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void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表示没有参数或没有返回值的特殊类型，如返回一个整数的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pop(</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函数的类型是：从</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void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到</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integer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的函数</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符号表：设编译器处理到一个函数定义时，最上层符号表是</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函数名放入</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，以便在程序的其他部分使用</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函数的形参可用类似于记录字段名的方式处理</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的产生式中，在看到关键字</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define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和函数名后，将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压栈，并建立新的符号表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rPr>
              <a:t>Env.push</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top</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top</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new </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rPr>
              <a:t>Env</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top</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52600" marR="0" lvl="3"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top</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指向符号表栈栈顶的符号表，</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top</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new </a:t>
            </a:r>
            <a:r>
              <a:rPr kumimoji="0" lang="en-US" altLang="zh-CN" sz="1800" b="0" i="1" u="none" strike="noStrike" kern="0" cap="none" spc="0" normalizeH="0" baseline="0" noProof="0" dirty="0" err="1">
                <a:ln>
                  <a:noFill/>
                </a:ln>
                <a:solidFill>
                  <a:schemeClr val="tx1"/>
                </a:solidFill>
                <a:effectLst/>
                <a:uLnTx/>
                <a:uFillTx/>
                <a:latin typeface="+mn-lt"/>
                <a:ea typeface="宋体" panose="02010600030101010101" pitchFamily="2" charset="-122"/>
              </a:rPr>
              <a:t>Env</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top</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实现了嵌套</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491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过程的中间代码（</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94915" name="Rectangle 3"/>
          <p:cNvSpPr>
            <a:spLocks noGrp="1"/>
          </p:cNvSpPr>
          <p:nvPr>
            <p:ph idx="1"/>
          </p:nvPr>
        </p:nvSpPr>
        <p:spPr>
          <a:xfrm>
            <a:off x="914400" y="1524000"/>
            <a:ext cx="7834313" cy="4800600"/>
          </a:xfrm>
        </p:spPr>
        <p:txBody>
          <a:bodyPr vert="horz" wrap="square" lIns="92075" tIns="46038" rIns="92075" bIns="46038" anchor="t" anchorCtr="0"/>
          <a:p>
            <a:pPr marL="895350" lvl="1" indent="-495300"/>
            <a:r>
              <a:rPr lang="zh-CN" altLang="en-US" sz="2200" b="1" dirty="0">
                <a:ea typeface="宋体" panose="02010600030101010101" pitchFamily="2" charset="-122"/>
              </a:rPr>
              <a:t>类型检查：在表达式中，函数和运算符的处理方式相同</a:t>
            </a:r>
            <a:endParaRPr lang="en-US" altLang="zh-CN" sz="2200" b="1" dirty="0">
              <a:ea typeface="宋体" panose="02010600030101010101" pitchFamily="2" charset="-122"/>
            </a:endParaRPr>
          </a:p>
          <a:p>
            <a:pPr marL="1295400" lvl="2" indent="-495300"/>
            <a:r>
              <a:rPr lang="zh-CN" altLang="en-US" sz="2000" b="1" dirty="0">
                <a:ea typeface="宋体" panose="02010600030101010101" pitchFamily="2" charset="-122"/>
              </a:rPr>
              <a:t>使用</a:t>
            </a:r>
            <a:r>
              <a:rPr lang="en-US" altLang="zh-CN" sz="2000" b="1" dirty="0">
                <a:ea typeface="宋体" panose="02010600030101010101" pitchFamily="2" charset="-122"/>
              </a:rPr>
              <a:t>6.5.2</a:t>
            </a:r>
            <a:r>
              <a:rPr lang="zh-CN" altLang="en-US" sz="2000" b="1" dirty="0">
                <a:ea typeface="宋体" panose="02010600030101010101" pitchFamily="2" charset="-122"/>
              </a:rPr>
              <a:t>节的方式进行进行类型检查，包括必要的自动类型转换</a:t>
            </a:r>
            <a:endParaRPr lang="en-US" altLang="zh-CN" sz="2000" b="1" dirty="0">
              <a:ea typeface="宋体" panose="02010600030101010101" pitchFamily="2" charset="-122"/>
            </a:endParaRPr>
          </a:p>
          <a:p>
            <a:pPr marL="895350" lvl="1" indent="-495300"/>
            <a:r>
              <a:rPr lang="zh-CN" altLang="en-US" sz="2200" b="1" dirty="0">
                <a:ea typeface="宋体" panose="02010600030101010101" pitchFamily="2" charset="-122"/>
              </a:rPr>
              <a:t>函数调用：对于函数调用</a:t>
            </a:r>
            <a:r>
              <a:rPr lang="en-US" altLang="zh-CN" sz="2200" b="1" dirty="0">
                <a:ea typeface="宋体" panose="02010600030101010101" pitchFamily="2" charset="-122"/>
              </a:rPr>
              <a:t>id( </a:t>
            </a:r>
            <a:r>
              <a:rPr lang="en-US" altLang="zh-CN" sz="2200" i="1" dirty="0">
                <a:ea typeface="宋体" panose="02010600030101010101" pitchFamily="2" charset="-122"/>
              </a:rPr>
              <a:t>E</a:t>
            </a:r>
            <a:r>
              <a:rPr lang="en-US" altLang="zh-CN" sz="2200" b="1" dirty="0">
                <a:ea typeface="宋体" panose="02010600030101010101" pitchFamily="2" charset="-122"/>
              </a:rPr>
              <a:t> ,</a:t>
            </a:r>
            <a:r>
              <a:rPr lang="en-US" altLang="zh-CN" sz="2200" i="1" dirty="0">
                <a:ea typeface="宋体" panose="02010600030101010101" pitchFamily="2" charset="-122"/>
              </a:rPr>
              <a:t> E</a:t>
            </a:r>
            <a:r>
              <a:rPr lang="en-US" altLang="zh-CN" sz="2200" b="1" dirty="0">
                <a:ea typeface="宋体" panose="02010600030101010101" pitchFamily="2" charset="-122"/>
              </a:rPr>
              <a:t> ,</a:t>
            </a:r>
            <a:r>
              <a:rPr lang="en-US" altLang="zh-CN" sz="2200" i="1" dirty="0">
                <a:ea typeface="宋体" panose="02010600030101010101" pitchFamily="2" charset="-122"/>
              </a:rPr>
              <a:t> …</a:t>
            </a:r>
            <a:r>
              <a:rPr lang="en-US" altLang="zh-CN" sz="2200" b="1" dirty="0">
                <a:ea typeface="宋体" panose="02010600030101010101" pitchFamily="2" charset="-122"/>
              </a:rPr>
              <a:t> , </a:t>
            </a:r>
            <a:r>
              <a:rPr lang="en-US" altLang="zh-CN" sz="2200" i="1" dirty="0">
                <a:ea typeface="宋体" panose="02010600030101010101" pitchFamily="2" charset="-122"/>
              </a:rPr>
              <a:t>E</a:t>
            </a:r>
            <a:r>
              <a:rPr lang="en-US" altLang="zh-CN" sz="2200" b="1" dirty="0">
                <a:ea typeface="宋体" panose="02010600030101010101" pitchFamily="2" charset="-122"/>
              </a:rPr>
              <a:t> )</a:t>
            </a:r>
            <a:endParaRPr lang="en-US" altLang="zh-CN" sz="2200" b="1" dirty="0">
              <a:ea typeface="宋体" panose="02010600030101010101" pitchFamily="2" charset="-122"/>
            </a:endParaRPr>
          </a:p>
          <a:p>
            <a:pPr marL="1295400" lvl="2" indent="-495300"/>
            <a:r>
              <a:rPr lang="zh-CN" altLang="en-US" sz="2000" b="1" dirty="0">
                <a:ea typeface="宋体" panose="02010600030101010101" pitchFamily="2" charset="-122"/>
              </a:rPr>
              <a:t>首先生成对各个实参（各个</a:t>
            </a:r>
            <a:r>
              <a:rPr lang="en-US" altLang="zh-CN" sz="2000" i="1" dirty="0">
                <a:ea typeface="宋体" panose="02010600030101010101" pitchFamily="2" charset="-122"/>
              </a:rPr>
              <a:t>E </a:t>
            </a:r>
            <a:r>
              <a:rPr lang="zh-CN" altLang="en-US" sz="2000" b="1" dirty="0">
                <a:ea typeface="宋体" panose="02010600030101010101" pitchFamily="2" charset="-122"/>
              </a:rPr>
              <a:t>）求值得三地址指令，或者生成将各个参数</a:t>
            </a:r>
            <a:r>
              <a:rPr lang="en-US" altLang="zh-CN" sz="2000" i="1" dirty="0">
                <a:ea typeface="宋体" panose="02010600030101010101" pitchFamily="2" charset="-122"/>
              </a:rPr>
              <a:t>E</a:t>
            </a:r>
            <a:r>
              <a:rPr lang="zh-CN" altLang="en-US" sz="2000" b="1" dirty="0">
                <a:ea typeface="宋体" panose="02010600030101010101" pitchFamily="2" charset="-122"/>
              </a:rPr>
              <a:t>归约为地址的三地址指令</a:t>
            </a:r>
            <a:endParaRPr lang="en-US" altLang="zh-CN" sz="2000" b="1" dirty="0">
              <a:ea typeface="宋体" panose="02010600030101010101" pitchFamily="2" charset="-122"/>
            </a:endParaRPr>
          </a:p>
          <a:p>
            <a:pPr marL="1295400" lvl="2" indent="-495300"/>
            <a:r>
              <a:rPr lang="zh-CN" altLang="en-US" sz="2000" b="1" dirty="0">
                <a:ea typeface="宋体" panose="02010600030101010101" pitchFamily="2" charset="-122"/>
              </a:rPr>
              <a:t>然后为每个参数生成一条</a:t>
            </a:r>
            <a:r>
              <a:rPr lang="en-US" altLang="zh-CN" sz="2000" b="1" dirty="0">
                <a:ea typeface="宋体" panose="02010600030101010101" pitchFamily="2" charset="-122"/>
              </a:rPr>
              <a:t>param</a:t>
            </a:r>
            <a:r>
              <a:rPr lang="zh-CN" altLang="en-US" sz="2000" b="1" dirty="0">
                <a:ea typeface="宋体" panose="02010600030101010101" pitchFamily="2" charset="-122"/>
              </a:rPr>
              <a:t>指令</a:t>
            </a:r>
            <a:endParaRPr lang="en-US" altLang="zh-CN" sz="2000" b="1" dirty="0">
              <a:ea typeface="宋体" panose="02010600030101010101" pitchFamily="2" charset="-122"/>
            </a:endParaRPr>
          </a:p>
          <a:p>
            <a:pPr marL="1752600" lvl="3" indent="-495300"/>
            <a:r>
              <a:rPr lang="zh-CN" altLang="en-US" sz="1800" b="1" dirty="0">
                <a:ea typeface="宋体" panose="02010600030101010101" pitchFamily="2" charset="-122"/>
              </a:rPr>
              <a:t>上述方式可能使得参数的求值与</a:t>
            </a:r>
            <a:r>
              <a:rPr lang="en-US" altLang="zh-CN" sz="1800" b="1" dirty="0">
                <a:ea typeface="宋体" panose="02010600030101010101" pitchFamily="2" charset="-122"/>
              </a:rPr>
              <a:t>param</a:t>
            </a:r>
            <a:r>
              <a:rPr lang="zh-CN" altLang="en-US" sz="1800" b="1" dirty="0">
                <a:ea typeface="宋体" panose="02010600030101010101" pitchFamily="2" charset="-122"/>
              </a:rPr>
              <a:t>指令混杂在一起，一种改进方式是：</a:t>
            </a:r>
            <a:endParaRPr lang="en-US" altLang="zh-CN" sz="1800" b="1" dirty="0">
              <a:ea typeface="宋体" panose="02010600030101010101" pitchFamily="2" charset="-122"/>
            </a:endParaRPr>
          </a:p>
          <a:p>
            <a:pPr marL="2209800" lvl="4" indent="-495300"/>
            <a:r>
              <a:rPr lang="zh-CN" altLang="en-US" sz="1600" b="1" dirty="0">
                <a:ea typeface="宋体" panose="02010600030101010101" pitchFamily="2" charset="-122"/>
              </a:rPr>
              <a:t>将每个表达式的属性</a:t>
            </a:r>
            <a:r>
              <a:rPr lang="en-US" altLang="zh-CN" sz="1600" b="1" i="1" dirty="0">
                <a:ea typeface="宋体" panose="02010600030101010101" pitchFamily="2" charset="-122"/>
              </a:rPr>
              <a:t>E.addr</a:t>
            </a:r>
            <a:r>
              <a:rPr lang="zh-CN" altLang="en-US" sz="1600" b="1" dirty="0">
                <a:ea typeface="宋体" panose="02010600030101010101" pitchFamily="2" charset="-122"/>
              </a:rPr>
              <a:t>放在一个数据结构（如队列）中</a:t>
            </a:r>
            <a:endParaRPr lang="en-US" altLang="zh-CN" sz="1600" b="1" dirty="0">
              <a:ea typeface="宋体" panose="02010600030101010101" pitchFamily="2" charset="-122"/>
            </a:endParaRPr>
          </a:p>
          <a:p>
            <a:pPr marL="2209800" lvl="4" indent="-495300"/>
            <a:r>
              <a:rPr lang="zh-CN" altLang="en-US" sz="1600" b="1" dirty="0">
                <a:ea typeface="宋体" panose="02010600030101010101" pitchFamily="2" charset="-122"/>
              </a:rPr>
              <a:t>在所有表达式翻译完成后，一次性生成所有</a:t>
            </a:r>
            <a:r>
              <a:rPr lang="en-US" altLang="zh-CN" sz="1600" b="1" dirty="0">
                <a:ea typeface="宋体" panose="02010600030101010101" pitchFamily="2" charset="-122"/>
              </a:rPr>
              <a:t>param</a:t>
            </a:r>
            <a:r>
              <a:rPr lang="zh-CN" altLang="en-US" sz="1600" b="1" dirty="0">
                <a:ea typeface="宋体" panose="02010600030101010101" pitchFamily="2" charset="-122"/>
              </a:rPr>
              <a:t>指令</a:t>
            </a:r>
            <a:endParaRPr lang="en-US" altLang="zh-CN" sz="1600" b="1" dirty="0">
              <a:ea typeface="宋体" panose="02010600030101010101" pitchFamily="2" charset="-122"/>
            </a:endParaRPr>
          </a:p>
          <a:p>
            <a:pPr marL="1295400" lvl="2" indent="-495300"/>
            <a:r>
              <a:rPr lang="zh-CN" altLang="en-US" sz="2000" b="1" dirty="0">
                <a:ea typeface="宋体" panose="02010600030101010101" pitchFamily="2" charset="-122"/>
              </a:rPr>
              <a:t>生成调用指令（参见第</a:t>
            </a:r>
            <a:r>
              <a:rPr lang="en-US" altLang="zh-CN" sz="2000" b="1" dirty="0">
                <a:ea typeface="宋体" panose="02010600030101010101" pitchFamily="2" charset="-122"/>
              </a:rPr>
              <a:t>7</a:t>
            </a:r>
            <a:r>
              <a:rPr lang="zh-CN" altLang="en-US" sz="2000" b="1" dirty="0">
                <a:ea typeface="宋体" panose="02010600030101010101" pitchFamily="2" charset="-122"/>
              </a:rPr>
              <a:t>章）</a:t>
            </a:r>
            <a:endParaRPr lang="en-US" altLang="zh-CN" sz="2000" b="1" dirty="0">
              <a:ea typeface="宋体" panose="02010600030101010101" pitchFamily="2" charset="-122"/>
            </a:endParaRPr>
          </a:p>
        </p:txBody>
      </p:sp>
    </p:spTree>
  </p:cSld>
  <p:clrMapOvr>
    <a:masterClrMapping/>
  </p:clrMapOvr>
  <p:transition spd="slow"/>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6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作业</a:t>
            </a:r>
            <a:endParaRPr lang="zh-CN" altLang="en-US" dirty="0">
              <a:latin typeface="宋体" panose="02010600030101010101" pitchFamily="2" charset="-122"/>
              <a:ea typeface="宋体" panose="02010600030101010101" pitchFamily="2" charset="-122"/>
            </a:endParaRPr>
          </a:p>
        </p:txBody>
      </p:sp>
      <p:sp>
        <p:nvSpPr>
          <p:cNvPr id="243715" name="Rectangle 3"/>
          <p:cNvSpPr>
            <a:spLocks noGrp="1" noChangeArrowheads="1"/>
          </p:cNvSpPr>
          <p:nvPr>
            <p:ph idx="1"/>
          </p:nvPr>
        </p:nvSpPr>
        <p:spPr>
          <a:xfrm>
            <a:off x="539750" y="1371600"/>
            <a:ext cx="8208963" cy="48768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第一次作业</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6.1.2</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：为下列表达式构建</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DAG</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，且指出它们的每个子表达式的值编码 。假定</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是左结合的</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3) a + a + ( a + a + a + ( a + a + a + a ) )</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6.2.1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：将算术表达式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b + c )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翻译成</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抽象语法树</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四元式序列</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3)</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三元式序列</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4)</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间接三元式序列</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901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作业</a:t>
            </a:r>
            <a:endParaRPr lang="zh-CN" altLang="en-US" dirty="0">
              <a:latin typeface="宋体" panose="02010600030101010101" pitchFamily="2" charset="-122"/>
              <a:ea typeface="宋体" panose="02010600030101010101" pitchFamily="2" charset="-122"/>
            </a:endParaRPr>
          </a:p>
        </p:txBody>
      </p:sp>
      <p:sp>
        <p:nvSpPr>
          <p:cNvPr id="243715" name="Rectangle 3"/>
          <p:cNvSpPr>
            <a:spLocks noGrp="1" noChangeArrowheads="1"/>
          </p:cNvSpPr>
          <p:nvPr>
            <p:ph idx="1"/>
          </p:nvPr>
        </p:nvSpPr>
        <p:spPr>
          <a:xfrm>
            <a:off x="684213" y="1371600"/>
            <a:ext cx="7920038" cy="48768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第二次作业</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6.3.1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：确定下列声明序列中各个标识符的类型和相对地址</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float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record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float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float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p;</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record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int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tag;</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float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float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q;</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6.4.3</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：使用图</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6-22</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的翻译方案翻译下列赋值语句</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b[j]</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2) x = a[</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][j] + b[</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][j]</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6.5.1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：假定图</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6-26</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中的函数</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widen</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可以处理图</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6-26a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的层次结构中的所有类型，翻译下列表达式。假定</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c</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d</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是字符型，</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是短整型，</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j</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是整型，</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是浮点型</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c</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2)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s + c</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3) x = ( s + c ) * ( t + d )</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105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作业</a:t>
            </a:r>
            <a:endParaRPr lang="zh-CN" altLang="en-US" dirty="0">
              <a:latin typeface="宋体" panose="02010600030101010101" pitchFamily="2" charset="-122"/>
              <a:ea typeface="宋体" panose="02010600030101010101" pitchFamily="2" charset="-122"/>
            </a:endParaRPr>
          </a:p>
        </p:txBody>
      </p:sp>
      <p:sp>
        <p:nvSpPr>
          <p:cNvPr id="274435" name="Rectangle 3"/>
          <p:cNvSpPr>
            <a:spLocks noGrp="1" noChangeArrowheads="1"/>
          </p:cNvSpPr>
          <p:nvPr>
            <p:ph idx="1"/>
          </p:nvPr>
        </p:nvSpPr>
        <p:spPr>
          <a:xfrm>
            <a:off x="611188" y="1371600"/>
            <a:ext cx="7993063" cy="48768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第三次作业</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6.6.1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：在图</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6-36</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的语法制导定义中添加处理下列控制流构造的规则：</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1)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一个</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repeat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语句，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repeat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while</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a:t>
            </a:r>
            <a:endPar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2)</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一个</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for</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循环语句，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for</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a:t>
            </a:r>
            <a:r>
              <a:rPr kumimoji="0" lang="en-US" altLang="zh-CN" sz="1800" b="0"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B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S</a:t>
            </a:r>
            <a:r>
              <a:rPr kumimoji="0" lang="en-US" altLang="zh-CN" sz="1800" b="0"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S</a:t>
            </a:r>
            <a:r>
              <a:rPr kumimoji="0" lang="en-US" altLang="zh-CN" sz="1800" b="0"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3</a:t>
            </a:r>
            <a:endParaRPr kumimoji="0" lang="en-US" altLang="zh-CN" sz="1800" b="0"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6.7.1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：使用图</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6-43</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中的翻译方案翻译下列表达式。给出每个子表达式的</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truelist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flaselist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。你可以假设第一条被生成的指令的地址是</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100</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1) 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&amp;&amp;</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c</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d</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2) ( a == b || c == d ) || e == f</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3) ( a == b &amp;&amp; c == d ) &amp;&amp; e == f</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310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采用递推法计算数组元素地址（</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03107" name="Rectangle 3"/>
          <p:cNvSpPr>
            <a:spLocks noGrp="1"/>
          </p:cNvSpPr>
          <p:nvPr>
            <p:ph idx="1"/>
          </p:nvPr>
        </p:nvSpPr>
        <p:spPr>
          <a:xfrm>
            <a:off x="990600" y="1524000"/>
            <a:ext cx="7391400" cy="4724400"/>
          </a:xfrm>
        </p:spPr>
        <p:txBody>
          <a:bodyPr vert="horz" wrap="square" lIns="92075" tIns="46038" rIns="92075" bIns="46038" anchor="t" anchorCtr="0"/>
          <a:p>
            <a:pPr>
              <a:lnSpc>
                <a:spcPct val="90000"/>
              </a:lnSpc>
            </a:pPr>
            <a:r>
              <a:rPr lang="zh-CN" altLang="en-US" sz="2400" b="1" dirty="0">
                <a:ea typeface="宋体" panose="02010600030101010101" pitchFamily="2" charset="-122"/>
              </a:rPr>
              <a:t>数组元素的定址：对于一个数组，某个元素相对于数组存储首地址的偏移</a:t>
            </a:r>
            <a:endParaRPr lang="en-US" altLang="zh-CN" sz="2400" b="1" dirty="0">
              <a:ea typeface="宋体" panose="02010600030101010101" pitchFamily="2" charset="-122"/>
            </a:endParaRPr>
          </a:p>
          <a:p>
            <a:pPr lvl="1">
              <a:lnSpc>
                <a:spcPct val="90000"/>
              </a:lnSpc>
            </a:pPr>
            <a:r>
              <a:rPr lang="zh-CN" altLang="en-US" sz="2200" b="1" dirty="0">
                <a:ea typeface="宋体" panose="02010600030101010101" pitchFamily="2" charset="-122"/>
              </a:rPr>
              <a:t>数组存储在连续的存储块中</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假设每个数组元素的宽度为</a:t>
            </a:r>
            <a:r>
              <a:rPr lang="en-US" altLang="zh-CN" sz="2200" b="1" dirty="0">
                <a:ea typeface="宋体" panose="02010600030101010101" pitchFamily="2" charset="-122"/>
              </a:rPr>
              <a:t>w，</a:t>
            </a:r>
            <a:r>
              <a:rPr lang="zh-CN" altLang="en-US" sz="2200" b="1" dirty="0">
                <a:ea typeface="宋体" panose="02010600030101010101" pitchFamily="2" charset="-122"/>
              </a:rPr>
              <a:t>数组的首地址为</a:t>
            </a:r>
            <a:r>
              <a:rPr lang="en-US" altLang="zh-CN" sz="2200" b="1" dirty="0">
                <a:ea typeface="宋体" panose="02010600030101010101" pitchFamily="2" charset="-122"/>
              </a:rPr>
              <a:t>base</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一维数组元素的定址：</a:t>
            </a:r>
            <a:r>
              <a:rPr lang="en-US" altLang="zh-CN" sz="2200" b="1" dirty="0">
                <a:ea typeface="宋体" panose="02010600030101010101" pitchFamily="2" charset="-122"/>
              </a:rPr>
              <a:t>A[ i ]</a:t>
            </a:r>
            <a:endParaRPr lang="en-US" altLang="zh-CN" sz="2200" b="1" dirty="0">
              <a:ea typeface="宋体" panose="02010600030101010101" pitchFamily="2" charset="-122"/>
            </a:endParaRPr>
          </a:p>
          <a:p>
            <a:pPr lvl="2">
              <a:lnSpc>
                <a:spcPct val="90000"/>
              </a:lnSpc>
            </a:pPr>
            <a:r>
              <a:rPr lang="zh-CN" altLang="en-US" sz="2000" b="1" dirty="0">
                <a:ea typeface="宋体" panose="02010600030101010101" pitchFamily="2" charset="-122"/>
              </a:rPr>
              <a:t>假设数组下标的下界为</a:t>
            </a:r>
            <a:r>
              <a:rPr lang="en-US" altLang="zh-CN" sz="2000" b="1" dirty="0">
                <a:ea typeface="宋体" panose="02010600030101010101" pitchFamily="2" charset="-122"/>
              </a:rPr>
              <a:t>low，</a:t>
            </a:r>
            <a:r>
              <a:rPr lang="zh-CN" altLang="en-US" sz="2000" b="1" dirty="0">
                <a:ea typeface="宋体" panose="02010600030101010101" pitchFamily="2" charset="-122"/>
              </a:rPr>
              <a:t>此时：</a:t>
            </a:r>
            <a:r>
              <a:rPr lang="en-US" altLang="zh-CN" sz="2000" b="1" dirty="0">
                <a:ea typeface="宋体" panose="02010600030101010101" pitchFamily="2" charset="-122"/>
              </a:rPr>
              <a:t>base</a:t>
            </a:r>
            <a:r>
              <a:rPr lang="zh-CN" altLang="en-US" sz="2000" b="1" dirty="0">
                <a:ea typeface="宋体" panose="02010600030101010101" pitchFamily="2" charset="-122"/>
              </a:rPr>
              <a:t>是</a:t>
            </a:r>
            <a:r>
              <a:rPr lang="en-US" altLang="zh-CN" sz="2000" b="1" dirty="0">
                <a:ea typeface="宋体" panose="02010600030101010101" pitchFamily="2" charset="-122"/>
              </a:rPr>
              <a:t>A[ low ]</a:t>
            </a:r>
            <a:r>
              <a:rPr lang="zh-CN" altLang="en-US" sz="2000" b="1" dirty="0">
                <a:ea typeface="宋体" panose="02010600030101010101" pitchFamily="2" charset="-122"/>
              </a:rPr>
              <a:t>的相对地址， </a:t>
            </a:r>
            <a:r>
              <a:rPr lang="en-US" altLang="zh-CN" sz="2000" b="1" dirty="0">
                <a:ea typeface="宋体" panose="02010600030101010101" pitchFamily="2" charset="-122"/>
              </a:rPr>
              <a:t>A[ i ]</a:t>
            </a:r>
            <a:r>
              <a:rPr lang="zh-CN" altLang="en-US" sz="2000" b="1" dirty="0">
                <a:ea typeface="宋体" panose="02010600030101010101" pitchFamily="2" charset="-122"/>
              </a:rPr>
              <a:t>的相对地址是</a:t>
            </a:r>
            <a:r>
              <a:rPr lang="en-US" altLang="zh-CN" sz="2000" b="1" dirty="0">
                <a:ea typeface="宋体" panose="02010600030101010101" pitchFamily="2" charset="-122"/>
              </a:rPr>
              <a:t>base + ( i – low ) * w</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优化的计算方式：</a:t>
            </a:r>
            <a:r>
              <a:rPr lang="en-US" altLang="zh-CN" sz="2000" b="1" dirty="0">
                <a:ea typeface="宋体" panose="02010600030101010101" pitchFamily="2" charset="-122"/>
              </a:rPr>
              <a:t>i * w + (base – low * w)，</a:t>
            </a:r>
            <a:r>
              <a:rPr lang="zh-CN" altLang="en-US" sz="2000" b="1" dirty="0">
                <a:ea typeface="宋体" panose="02010600030101010101" pitchFamily="2" charset="-122"/>
              </a:rPr>
              <a:t>后一部分可以在编译时刻计算</a:t>
            </a:r>
            <a:endParaRPr lang="zh-CN" altLang="en-US" sz="2000" b="1" dirty="0">
              <a:ea typeface="宋体" panose="02010600030101010101" pitchFamily="2" charset="-122"/>
            </a:endParaRPr>
          </a:p>
          <a:p>
            <a:pPr lvl="1">
              <a:lnSpc>
                <a:spcPct val="90000"/>
              </a:lnSpc>
            </a:pPr>
            <a:r>
              <a:rPr lang="zh-CN" altLang="en-US" sz="2200" b="1" dirty="0">
                <a:ea typeface="宋体" panose="02010600030101010101" pitchFamily="2" charset="-122"/>
              </a:rPr>
              <a:t>多维数组的存储方式有两种：数组元组的定址计算方式是不一样的 </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行为主（一行接一行的存放）</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列为主（一列接一列的存放）</a:t>
            </a:r>
            <a:endParaRPr lang="zh-CN" altLang="en-US" sz="2000" b="1" dirty="0">
              <a:ea typeface="宋体" panose="02010600030101010101" pitchFamily="2" charset="-122"/>
            </a:endParaRPr>
          </a:p>
        </p:txBody>
      </p:sp>
    </p:spTree>
  </p:cSld>
  <p:clrMapOvr>
    <a:masterClrMapping/>
  </p:clrMapOvr>
  <p:transition spd="slow"/>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05154" name="Object 5"/>
          <p:cNvGraphicFramePr>
            <a:graphicFrameLocks noChangeAspect="1"/>
          </p:cNvGraphicFramePr>
          <p:nvPr/>
        </p:nvGraphicFramePr>
        <p:xfrm>
          <a:off x="1371600" y="1752600"/>
          <a:ext cx="6057900" cy="3921125"/>
        </p:xfrm>
        <a:graphic>
          <a:graphicData uri="http://schemas.openxmlformats.org/presentationml/2006/ole">
            <mc:AlternateContent xmlns:mc="http://schemas.openxmlformats.org/markup-compatibility/2006">
              <mc:Choice xmlns:v="urn:schemas-microsoft-com:vml" Requires="v">
                <p:oleObj spid="_x0000_s3094" name="" r:id="rId1" imgW="5105400" imgH="3307080" progId="Visio.Drawing.4">
                  <p:embed/>
                </p:oleObj>
              </mc:Choice>
              <mc:Fallback>
                <p:oleObj name="" r:id="rId1" imgW="5105400" imgH="3307080" progId="Visio.Drawing.4">
                  <p:embed/>
                  <p:pic>
                    <p:nvPicPr>
                      <p:cNvPr id="0" name="图片 3093"/>
                      <p:cNvPicPr/>
                      <p:nvPr/>
                    </p:nvPicPr>
                    <p:blipFill>
                      <a:blip r:embed="rId2"/>
                      <a:stretch>
                        <a:fillRect/>
                      </a:stretch>
                    </p:blipFill>
                    <p:spPr>
                      <a:xfrm>
                        <a:off x="1371600" y="1752600"/>
                        <a:ext cx="6057900" cy="3921125"/>
                      </a:xfrm>
                      <a:prstGeom prst="rect">
                        <a:avLst/>
                      </a:prstGeom>
                      <a:noFill/>
                      <a:ln w="38100">
                        <a:noFill/>
                        <a:miter/>
                      </a:ln>
                    </p:spPr>
                  </p:pic>
                </p:oleObj>
              </mc:Fallback>
            </mc:AlternateContent>
          </a:graphicData>
        </a:graphic>
      </p:graphicFrame>
    </p:spTree>
  </p:cSld>
  <p:clrMapOvr>
    <a:masterClrMapping/>
  </p:clrMapOvr>
  <p:transition spd="slow"/>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0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采用递推法计算数组元素地址（</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07203" name="Rectangle 3"/>
          <p:cNvSpPr>
            <a:spLocks noGrp="1"/>
          </p:cNvSpPr>
          <p:nvPr>
            <p:ph idx="1"/>
          </p:nvPr>
        </p:nvSpPr>
        <p:spPr>
          <a:xfrm>
            <a:off x="990600" y="1524000"/>
            <a:ext cx="7391400" cy="4724400"/>
          </a:xfrm>
        </p:spPr>
        <p:txBody>
          <a:bodyPr vert="horz" wrap="square" lIns="92075" tIns="46038" rIns="92075" bIns="46038" anchor="t" anchorCtr="0"/>
          <a:p>
            <a:pPr lvl="1">
              <a:lnSpc>
                <a:spcPct val="90000"/>
              </a:lnSpc>
            </a:pPr>
            <a:r>
              <a:rPr lang="zh-CN" altLang="en-US" sz="2200" b="1" dirty="0">
                <a:ea typeface="宋体" panose="02010600030101010101" pitchFamily="2" charset="-122"/>
              </a:rPr>
              <a:t>行为主的二维数组</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元素的定址公式</a:t>
            </a:r>
            <a:endParaRPr lang="zh-CN" altLang="en-US" sz="2000" b="1" dirty="0">
              <a:ea typeface="宋体" panose="02010600030101010101" pitchFamily="2" charset="-122"/>
            </a:endParaRPr>
          </a:p>
          <a:p>
            <a:pPr lvl="2">
              <a:lnSpc>
                <a:spcPct val="90000"/>
              </a:lnSpc>
              <a:buFont typeface="Wingdings" panose="05000000000000000000" pitchFamily="2" charset="2"/>
              <a:buNone/>
            </a:pPr>
            <a:r>
              <a:rPr lang="en-US" altLang="zh-CN" sz="2000" b="1" dirty="0">
                <a:ea typeface="宋体" panose="02010600030101010101" pitchFamily="2" charset="-122"/>
              </a:rPr>
              <a:t>		A[ i</a:t>
            </a:r>
            <a:r>
              <a:rPr lang="en-US" altLang="zh-CN" sz="2000" b="1" baseline="-25000" dirty="0">
                <a:ea typeface="宋体" panose="02010600030101010101" pitchFamily="2" charset="-122"/>
              </a:rPr>
              <a:t>1</a:t>
            </a:r>
            <a:r>
              <a:rPr lang="en-US" altLang="zh-CN" sz="2000" b="1" dirty="0">
                <a:ea typeface="宋体" panose="02010600030101010101" pitchFamily="2" charset="-122"/>
              </a:rPr>
              <a:t>，i</a:t>
            </a:r>
            <a:r>
              <a:rPr lang="en-US" altLang="zh-CN" sz="2000" b="1" baseline="-25000" dirty="0">
                <a:ea typeface="宋体" panose="02010600030101010101" pitchFamily="2" charset="-122"/>
              </a:rPr>
              <a:t>2</a:t>
            </a:r>
            <a:r>
              <a:rPr lang="en-US" altLang="zh-CN" sz="2000" b="1" dirty="0">
                <a:ea typeface="宋体" panose="02010600030101010101" pitchFamily="2" charset="-122"/>
              </a:rPr>
              <a:t> ]</a:t>
            </a:r>
            <a:r>
              <a:rPr lang="zh-CN" altLang="en-US" sz="2000" b="1" dirty="0">
                <a:ea typeface="宋体" panose="02010600030101010101" pitchFamily="2" charset="-122"/>
              </a:rPr>
              <a:t>的相对地址：</a:t>
            </a:r>
            <a:endParaRPr lang="zh-CN" altLang="en-US" sz="2000" b="1" dirty="0">
              <a:ea typeface="宋体" panose="02010600030101010101" pitchFamily="2" charset="-122"/>
            </a:endParaRPr>
          </a:p>
          <a:p>
            <a:pPr lvl="2">
              <a:lnSpc>
                <a:spcPct val="90000"/>
              </a:lnSpc>
              <a:buFont typeface="Wingdings" panose="05000000000000000000" pitchFamily="2" charset="2"/>
              <a:buNone/>
            </a:pPr>
            <a:r>
              <a:rPr lang="en-US" altLang="zh-CN" sz="2000" b="1" dirty="0">
                <a:ea typeface="宋体" panose="02010600030101010101" pitchFamily="2" charset="-122"/>
              </a:rPr>
              <a:t>		base + ( ( i</a:t>
            </a:r>
            <a:r>
              <a:rPr lang="en-US" altLang="zh-CN" sz="2000" b="1" baseline="-25000" dirty="0">
                <a:ea typeface="宋体" panose="02010600030101010101" pitchFamily="2" charset="-122"/>
              </a:rPr>
              <a:t>1</a:t>
            </a:r>
            <a:r>
              <a:rPr lang="en-US" altLang="zh-CN" sz="2000" b="1" dirty="0">
                <a:ea typeface="宋体" panose="02010600030101010101" pitchFamily="2" charset="-122"/>
              </a:rPr>
              <a:t> – low</a:t>
            </a:r>
            <a:r>
              <a:rPr lang="en-US" altLang="zh-CN" sz="2000" b="1" baseline="-25000" dirty="0">
                <a:ea typeface="宋体" panose="02010600030101010101" pitchFamily="2" charset="-122"/>
              </a:rPr>
              <a:t>1</a:t>
            </a:r>
            <a:r>
              <a:rPr lang="en-US" altLang="zh-CN" sz="2000" b="1" dirty="0">
                <a:ea typeface="宋体" panose="02010600030101010101" pitchFamily="2" charset="-122"/>
              </a:rPr>
              <a:t> ) * n</a:t>
            </a:r>
            <a:r>
              <a:rPr lang="en-US" altLang="zh-CN" sz="2000" b="1" baseline="-25000" dirty="0">
                <a:ea typeface="宋体" panose="02010600030101010101" pitchFamily="2" charset="-122"/>
              </a:rPr>
              <a:t>2</a:t>
            </a:r>
            <a:r>
              <a:rPr lang="en-US" altLang="zh-CN" sz="2000" b="1" dirty="0">
                <a:ea typeface="宋体" panose="02010600030101010101" pitchFamily="2" charset="-122"/>
              </a:rPr>
              <a:t> + ( i</a:t>
            </a:r>
            <a:r>
              <a:rPr lang="en-US" altLang="zh-CN" sz="2000" b="1" baseline="-25000" dirty="0">
                <a:ea typeface="宋体" panose="02010600030101010101" pitchFamily="2" charset="-122"/>
              </a:rPr>
              <a:t>2</a:t>
            </a:r>
            <a:r>
              <a:rPr lang="en-US" altLang="zh-CN" sz="2000" b="1" dirty="0">
                <a:ea typeface="宋体" panose="02010600030101010101" pitchFamily="2" charset="-122"/>
              </a:rPr>
              <a:t> – low</a:t>
            </a:r>
            <a:r>
              <a:rPr lang="en-US" altLang="zh-CN" sz="2000" b="1" baseline="-25000" dirty="0">
                <a:ea typeface="宋体" panose="02010600030101010101" pitchFamily="2" charset="-122"/>
              </a:rPr>
              <a:t>2</a:t>
            </a:r>
            <a:r>
              <a:rPr lang="en-US" altLang="zh-CN" sz="2000" b="1" dirty="0">
                <a:ea typeface="宋体" panose="02010600030101010101" pitchFamily="2" charset="-122"/>
              </a:rPr>
              <a:t> ) ) * w</a:t>
            </a:r>
            <a:endParaRPr lang="en-US" altLang="zh-CN" sz="2000" b="1" dirty="0">
              <a:ea typeface="宋体" panose="02010600030101010101" pitchFamily="2" charset="-122"/>
            </a:endParaRPr>
          </a:p>
          <a:p>
            <a:pPr lvl="3">
              <a:lnSpc>
                <a:spcPct val="90000"/>
              </a:lnSpc>
              <a:buFont typeface="Monotype Sorts" pitchFamily="2" charset="2"/>
              <a:buChar char="ä"/>
            </a:pPr>
            <a:r>
              <a:rPr lang="en-US" altLang="zh-CN" sz="1800" b="1" dirty="0">
                <a:ea typeface="宋体" panose="02010600030101010101" pitchFamily="2" charset="-122"/>
              </a:rPr>
              <a:t>Low</a:t>
            </a:r>
            <a:r>
              <a:rPr lang="en-US" altLang="zh-CN" sz="1800" b="1" baseline="-25000" dirty="0">
                <a:ea typeface="宋体" panose="02010600030101010101" pitchFamily="2" charset="-122"/>
              </a:rPr>
              <a:t>1</a:t>
            </a:r>
            <a:r>
              <a:rPr lang="zh-CN" altLang="en-US" sz="1800" b="1" dirty="0">
                <a:ea typeface="宋体" panose="02010600030101010101" pitchFamily="2" charset="-122"/>
              </a:rPr>
              <a:t>和</a:t>
            </a:r>
            <a:r>
              <a:rPr lang="en-US" altLang="zh-CN" sz="1800" b="1" dirty="0">
                <a:ea typeface="宋体" panose="02010600030101010101" pitchFamily="2" charset="-122"/>
              </a:rPr>
              <a:t>low</a:t>
            </a:r>
            <a:r>
              <a:rPr lang="en-US" altLang="zh-CN" sz="1800" b="1" baseline="-25000" dirty="0">
                <a:ea typeface="宋体" panose="02010600030101010101" pitchFamily="2" charset="-122"/>
              </a:rPr>
              <a:t>2</a:t>
            </a:r>
            <a:r>
              <a:rPr lang="zh-CN" altLang="en-US" sz="1800" b="1" dirty="0">
                <a:ea typeface="宋体" panose="02010600030101010101" pitchFamily="2" charset="-122"/>
              </a:rPr>
              <a:t>分别是两维的下界</a:t>
            </a:r>
            <a:endParaRPr lang="zh-CN" altLang="en-US" sz="1800" b="1" dirty="0">
              <a:ea typeface="宋体" panose="02010600030101010101" pitchFamily="2" charset="-122"/>
            </a:endParaRPr>
          </a:p>
          <a:p>
            <a:pPr lvl="3">
              <a:lnSpc>
                <a:spcPct val="90000"/>
              </a:lnSpc>
              <a:buFont typeface="Monotype Sorts" pitchFamily="2" charset="2"/>
              <a:buChar char="ä"/>
            </a:pPr>
            <a:r>
              <a:rPr lang="en-US" altLang="zh-CN" sz="1800" b="1" dirty="0">
                <a:ea typeface="宋体" panose="02010600030101010101" pitchFamily="2" charset="-122"/>
              </a:rPr>
              <a:t>n</a:t>
            </a:r>
            <a:r>
              <a:rPr lang="en-US" altLang="zh-CN" sz="1800" b="1" baseline="-25000" dirty="0">
                <a:ea typeface="宋体" panose="02010600030101010101" pitchFamily="2" charset="-122"/>
              </a:rPr>
              <a:t>2</a:t>
            </a:r>
            <a:r>
              <a:rPr lang="zh-CN" altLang="en-US" sz="1800" b="1" dirty="0">
                <a:ea typeface="宋体" panose="02010600030101010101" pitchFamily="2" charset="-122"/>
              </a:rPr>
              <a:t>是数组第二维的维展，即</a:t>
            </a:r>
            <a:r>
              <a:rPr lang="en-US" altLang="zh-CN" sz="1800" b="1" dirty="0">
                <a:ea typeface="宋体" panose="02010600030101010101" pitchFamily="2" charset="-122"/>
              </a:rPr>
              <a:t>i</a:t>
            </a:r>
            <a:r>
              <a:rPr lang="en-US" altLang="zh-CN" sz="1800" b="1" baseline="-25000" dirty="0">
                <a:ea typeface="宋体" panose="02010600030101010101" pitchFamily="2" charset="-122"/>
              </a:rPr>
              <a:t>2</a:t>
            </a:r>
            <a:r>
              <a:rPr lang="zh-CN" altLang="en-US" sz="1800" b="1" dirty="0">
                <a:ea typeface="宋体" panose="02010600030101010101" pitchFamily="2" charset="-122"/>
              </a:rPr>
              <a:t>可取值的个数，如果</a:t>
            </a:r>
            <a:r>
              <a:rPr lang="en-US" altLang="zh-CN" sz="1800" b="1" dirty="0">
                <a:ea typeface="宋体" panose="02010600030101010101" pitchFamily="2" charset="-122"/>
              </a:rPr>
              <a:t>high</a:t>
            </a:r>
            <a:r>
              <a:rPr lang="en-US" altLang="zh-CN" sz="1800" b="1" baseline="-25000" dirty="0">
                <a:ea typeface="宋体" panose="02010600030101010101" pitchFamily="2" charset="-122"/>
              </a:rPr>
              <a:t>2</a:t>
            </a:r>
            <a:r>
              <a:rPr lang="zh-CN" altLang="en-US" sz="1800" b="1" dirty="0">
                <a:ea typeface="宋体" panose="02010600030101010101" pitchFamily="2" charset="-122"/>
              </a:rPr>
              <a:t>是</a:t>
            </a:r>
            <a:r>
              <a:rPr lang="en-US" altLang="zh-CN" sz="1800" b="1" dirty="0">
                <a:ea typeface="宋体" panose="02010600030101010101" pitchFamily="2" charset="-122"/>
              </a:rPr>
              <a:t>i</a:t>
            </a:r>
            <a:r>
              <a:rPr lang="en-US" altLang="zh-CN" sz="1800" b="1" baseline="-25000" dirty="0">
                <a:ea typeface="宋体" panose="02010600030101010101" pitchFamily="2" charset="-122"/>
              </a:rPr>
              <a:t>2</a:t>
            </a:r>
            <a:r>
              <a:rPr lang="zh-CN" altLang="en-US" sz="1800" b="1" dirty="0">
                <a:ea typeface="宋体" panose="02010600030101010101" pitchFamily="2" charset="-122"/>
              </a:rPr>
              <a:t>值的上界，且这一维的步长为</a:t>
            </a:r>
            <a:r>
              <a:rPr lang="en-US" altLang="zh-CN" sz="1800" b="1" dirty="0">
                <a:ea typeface="宋体" panose="02010600030101010101" pitchFamily="2" charset="-122"/>
              </a:rPr>
              <a:t>1</a:t>
            </a:r>
            <a:r>
              <a:rPr lang="zh-CN" altLang="en-US" sz="1800" b="1" dirty="0">
                <a:ea typeface="宋体" panose="02010600030101010101" pitchFamily="2" charset="-122"/>
              </a:rPr>
              <a:t>，则</a:t>
            </a:r>
            <a:r>
              <a:rPr lang="en-US" altLang="zh-CN" sz="1800" b="1" dirty="0">
                <a:ea typeface="宋体" panose="02010600030101010101" pitchFamily="2" charset="-122"/>
              </a:rPr>
              <a:t>n</a:t>
            </a:r>
            <a:r>
              <a:rPr lang="en-US" altLang="zh-CN" sz="1800" b="1" baseline="-25000" dirty="0">
                <a:ea typeface="宋体" panose="02010600030101010101" pitchFamily="2" charset="-122"/>
              </a:rPr>
              <a:t>2</a:t>
            </a:r>
            <a:r>
              <a:rPr lang="zh-CN" altLang="en-US" sz="1800" b="1" dirty="0">
                <a:ea typeface="宋体" panose="02010600030101010101" pitchFamily="2" charset="-122"/>
              </a:rPr>
              <a:t>=</a:t>
            </a:r>
            <a:r>
              <a:rPr lang="en-US" altLang="zh-CN" sz="1800" b="1" dirty="0">
                <a:ea typeface="宋体" panose="02010600030101010101" pitchFamily="2" charset="-122"/>
              </a:rPr>
              <a:t>high</a:t>
            </a:r>
            <a:r>
              <a:rPr lang="en-US" altLang="zh-CN" sz="1800" b="1" baseline="-25000" dirty="0">
                <a:ea typeface="宋体" panose="02010600030101010101" pitchFamily="2" charset="-122"/>
              </a:rPr>
              <a:t>2</a:t>
            </a:r>
            <a:r>
              <a:rPr lang="en-US" altLang="zh-CN" sz="1800" b="1" dirty="0">
                <a:ea typeface="宋体" panose="02010600030101010101" pitchFamily="2" charset="-122"/>
              </a:rPr>
              <a:t> - low</a:t>
            </a:r>
            <a:r>
              <a:rPr lang="en-US" altLang="zh-CN" sz="1800" b="1" baseline="-25000" dirty="0">
                <a:ea typeface="宋体" panose="02010600030101010101" pitchFamily="2" charset="-122"/>
              </a:rPr>
              <a:t>2</a:t>
            </a:r>
            <a:r>
              <a:rPr lang="en-US" altLang="zh-CN" sz="1800" b="1" dirty="0">
                <a:ea typeface="宋体" panose="02010600030101010101" pitchFamily="2" charset="-122"/>
              </a:rPr>
              <a:t> +1</a:t>
            </a:r>
            <a:endParaRPr lang="en-US" altLang="zh-CN" sz="1800" b="1" dirty="0">
              <a:ea typeface="宋体" panose="02010600030101010101" pitchFamily="2" charset="-122"/>
            </a:endParaRPr>
          </a:p>
          <a:p>
            <a:pPr lvl="2">
              <a:lnSpc>
                <a:spcPct val="90000"/>
              </a:lnSpc>
              <a:buChar char="•"/>
            </a:pPr>
            <a:r>
              <a:rPr lang="zh-CN" altLang="en-US" sz="2000" b="1" dirty="0">
                <a:ea typeface="宋体" panose="02010600030101010101" pitchFamily="2" charset="-122"/>
              </a:rPr>
              <a:t>地址计算的优化公式：表达式的后一项可以在编译时刻完成计算</a:t>
            </a:r>
            <a:endParaRPr lang="zh-CN" altLang="en-US" sz="2000" b="1" dirty="0">
              <a:ea typeface="宋体" panose="02010600030101010101" pitchFamily="2" charset="-122"/>
            </a:endParaRPr>
          </a:p>
          <a:p>
            <a:pPr lvl="2">
              <a:lnSpc>
                <a:spcPct val="90000"/>
              </a:lnSpc>
              <a:buFont typeface="Wingdings" panose="05000000000000000000" pitchFamily="2" charset="2"/>
              <a:buNone/>
            </a:pPr>
            <a:r>
              <a:rPr lang="en-US" altLang="zh-CN" sz="2000" b="1" dirty="0">
                <a:ea typeface="宋体" panose="02010600030101010101" pitchFamily="2" charset="-122"/>
              </a:rPr>
              <a:t>	 ( ( i</a:t>
            </a:r>
            <a:r>
              <a:rPr lang="en-US" altLang="zh-CN" sz="2000" b="1" baseline="-25000" dirty="0">
                <a:ea typeface="宋体" panose="02010600030101010101" pitchFamily="2" charset="-122"/>
              </a:rPr>
              <a:t>1</a:t>
            </a:r>
            <a:r>
              <a:rPr lang="en-US" altLang="zh-CN" sz="2000" b="1" dirty="0">
                <a:ea typeface="宋体" panose="02010600030101010101" pitchFamily="2" charset="-122"/>
              </a:rPr>
              <a:t> * n</a:t>
            </a:r>
            <a:r>
              <a:rPr lang="en-US" altLang="zh-CN" sz="2000" b="1" baseline="-25000" dirty="0">
                <a:ea typeface="宋体" panose="02010600030101010101" pitchFamily="2" charset="-122"/>
              </a:rPr>
              <a:t>2</a:t>
            </a:r>
            <a:r>
              <a:rPr lang="en-US" altLang="zh-CN" sz="2000" b="1" dirty="0">
                <a:ea typeface="宋体" panose="02010600030101010101" pitchFamily="2" charset="-122"/>
              </a:rPr>
              <a:t> ) + i</a:t>
            </a:r>
            <a:r>
              <a:rPr lang="en-US" altLang="zh-CN" sz="2000" b="1" baseline="-25000" dirty="0">
                <a:ea typeface="宋体" panose="02010600030101010101" pitchFamily="2" charset="-122"/>
              </a:rPr>
              <a:t>2</a:t>
            </a:r>
            <a:r>
              <a:rPr lang="en-US" altLang="zh-CN" sz="2000" b="1" dirty="0">
                <a:ea typeface="宋体" panose="02010600030101010101" pitchFamily="2" charset="-122"/>
              </a:rPr>
              <a:t> ) * w + (base - ( ( low</a:t>
            </a:r>
            <a:r>
              <a:rPr lang="en-US" altLang="zh-CN" sz="2000" b="1" baseline="-25000" dirty="0">
                <a:ea typeface="宋体" panose="02010600030101010101" pitchFamily="2" charset="-122"/>
              </a:rPr>
              <a:t>1</a:t>
            </a:r>
            <a:r>
              <a:rPr lang="en-US" altLang="zh-CN" sz="2000" b="1" dirty="0">
                <a:ea typeface="宋体" panose="02010600030101010101" pitchFamily="2" charset="-122"/>
              </a:rPr>
              <a:t> * n</a:t>
            </a:r>
            <a:r>
              <a:rPr lang="en-US" altLang="zh-CN" sz="2000" b="1" baseline="-25000" dirty="0">
                <a:ea typeface="宋体" panose="02010600030101010101" pitchFamily="2" charset="-122"/>
              </a:rPr>
              <a:t>2</a:t>
            </a:r>
            <a:r>
              <a:rPr lang="en-US" altLang="zh-CN" sz="2000" b="1" dirty="0">
                <a:ea typeface="宋体" panose="02010600030101010101" pitchFamily="2" charset="-122"/>
              </a:rPr>
              <a:t> ) + low</a:t>
            </a:r>
            <a:r>
              <a:rPr lang="en-US" altLang="zh-CN" sz="2000" b="1" baseline="-25000" dirty="0">
                <a:ea typeface="宋体" panose="02010600030101010101" pitchFamily="2" charset="-122"/>
              </a:rPr>
              <a:t>2</a:t>
            </a:r>
            <a:r>
              <a:rPr lang="en-US" altLang="zh-CN" sz="2000" b="1" dirty="0">
                <a:ea typeface="宋体" panose="02010600030101010101" pitchFamily="2" charset="-122"/>
              </a:rPr>
              <a:t> ) * w)</a:t>
            </a:r>
            <a:endParaRPr lang="en-US" altLang="zh-CN" sz="2000" b="1" dirty="0">
              <a:ea typeface="宋体" panose="02010600030101010101" pitchFamily="2" charset="-122"/>
            </a:endParaRPr>
          </a:p>
          <a:p>
            <a:pPr lvl="1">
              <a:lnSpc>
                <a:spcPct val="90000"/>
              </a:lnSpc>
              <a:buFont typeface="Monotype Sorts" pitchFamily="2" charset="2"/>
              <a:buChar char="ä"/>
            </a:pPr>
            <a:r>
              <a:rPr lang="zh-CN" altLang="en-US" sz="2200" b="1" dirty="0">
                <a:ea typeface="宋体" panose="02010600030101010101" pitchFamily="2" charset="-122"/>
              </a:rPr>
              <a:t>列为主的二维数组的元素定址</a:t>
            </a:r>
            <a:endParaRPr lang="zh-CN" altLang="en-US" sz="2200" b="1" dirty="0">
              <a:ea typeface="宋体" panose="02010600030101010101" pitchFamily="2" charset="-122"/>
            </a:endParaRPr>
          </a:p>
          <a:p>
            <a:pPr lvl="2">
              <a:lnSpc>
                <a:spcPct val="90000"/>
              </a:lnSpc>
              <a:buChar char="•"/>
            </a:pPr>
            <a:r>
              <a:rPr lang="zh-CN" altLang="en-US" sz="2000" b="1" dirty="0">
                <a:ea typeface="宋体" panose="02010600030101010101" pitchFamily="2" charset="-122"/>
              </a:rPr>
              <a:t>类似于行为主的二维数组： </a:t>
            </a:r>
            <a:endParaRPr lang="zh-CN" altLang="en-US" sz="2000" b="1" dirty="0">
              <a:ea typeface="宋体" panose="02010600030101010101" pitchFamily="2" charset="-122"/>
            </a:endParaRPr>
          </a:p>
          <a:p>
            <a:pPr lvl="2">
              <a:lnSpc>
                <a:spcPct val="90000"/>
              </a:lnSpc>
              <a:buFont typeface="Wingdings" panose="05000000000000000000" pitchFamily="2" charset="2"/>
              <a:buNone/>
            </a:pPr>
            <a:r>
              <a:rPr lang="en-US" altLang="zh-CN" sz="2000" b="1" dirty="0">
                <a:ea typeface="宋体" panose="02010600030101010101" pitchFamily="2" charset="-122"/>
              </a:rPr>
              <a:t>		base + ( ( i</a:t>
            </a:r>
            <a:r>
              <a:rPr lang="en-US" altLang="zh-CN" sz="2000" b="1" baseline="-25000" dirty="0">
                <a:ea typeface="宋体" panose="02010600030101010101" pitchFamily="2" charset="-122"/>
              </a:rPr>
              <a:t>1</a:t>
            </a:r>
            <a:r>
              <a:rPr lang="en-US" altLang="zh-CN" sz="2000" b="1" dirty="0">
                <a:ea typeface="宋体" panose="02010600030101010101" pitchFamily="2" charset="-122"/>
              </a:rPr>
              <a:t> – low</a:t>
            </a:r>
            <a:r>
              <a:rPr lang="en-US" altLang="zh-CN" sz="2000" b="1" baseline="-25000" dirty="0">
                <a:ea typeface="宋体" panose="02010600030101010101" pitchFamily="2" charset="-122"/>
              </a:rPr>
              <a:t>1</a:t>
            </a:r>
            <a:r>
              <a:rPr lang="en-US" altLang="zh-CN" sz="2000" b="1" dirty="0">
                <a:ea typeface="宋体" panose="02010600030101010101" pitchFamily="2" charset="-122"/>
              </a:rPr>
              <a:t> ) + ( i</a:t>
            </a:r>
            <a:r>
              <a:rPr lang="en-US" altLang="zh-CN" sz="2000" b="1" baseline="-25000" dirty="0">
                <a:ea typeface="宋体" panose="02010600030101010101" pitchFamily="2" charset="-122"/>
              </a:rPr>
              <a:t>2</a:t>
            </a:r>
            <a:r>
              <a:rPr lang="en-US" altLang="zh-CN" sz="2000" b="1" dirty="0">
                <a:ea typeface="宋体" panose="02010600030101010101" pitchFamily="2" charset="-122"/>
              </a:rPr>
              <a:t> – low</a:t>
            </a:r>
            <a:r>
              <a:rPr lang="en-US" altLang="zh-CN" sz="2000" b="1" baseline="-25000" dirty="0">
                <a:ea typeface="宋体" panose="02010600030101010101" pitchFamily="2" charset="-122"/>
              </a:rPr>
              <a:t>2</a:t>
            </a:r>
            <a:r>
              <a:rPr lang="en-US" altLang="zh-CN" sz="2000" b="1" dirty="0">
                <a:ea typeface="宋体" panose="02010600030101010101" pitchFamily="2" charset="-122"/>
              </a:rPr>
              <a:t> ) * n</a:t>
            </a:r>
            <a:r>
              <a:rPr lang="en-US" altLang="zh-CN" sz="2000" b="1" baseline="-25000" dirty="0">
                <a:ea typeface="宋体" panose="02010600030101010101" pitchFamily="2" charset="-122"/>
              </a:rPr>
              <a:t>1</a:t>
            </a:r>
            <a:r>
              <a:rPr lang="en-US" altLang="zh-CN" sz="2000" b="1" dirty="0">
                <a:ea typeface="宋体" panose="02010600030101010101" pitchFamily="2" charset="-122"/>
              </a:rPr>
              <a:t> ) * w</a:t>
            </a:r>
            <a:endParaRPr lang="zh-CN" altLang="en-US" sz="2000" b="1" dirty="0">
              <a:ea typeface="宋体" panose="02010600030101010101" pitchFamily="2" charset="-122"/>
            </a:endParaRPr>
          </a:p>
        </p:txBody>
      </p:sp>
    </p:spTree>
  </p:cSld>
  <p:clrMapOvr>
    <a:masterClrMapping/>
  </p:clrMapOvr>
  <p:transition spd="slow"/>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925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采用递推法计算数组元素地址（</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09251" name="Rectangle 3"/>
          <p:cNvSpPr>
            <a:spLocks noGrp="1"/>
          </p:cNvSpPr>
          <p:nvPr>
            <p:ph idx="1"/>
          </p:nvPr>
        </p:nvSpPr>
        <p:spPr>
          <a:xfrm>
            <a:off x="990600" y="1524000"/>
            <a:ext cx="7391400" cy="4724400"/>
          </a:xfrm>
        </p:spPr>
        <p:txBody>
          <a:bodyPr vert="horz" wrap="square" lIns="92075" tIns="46038" rIns="92075" bIns="46038" anchor="t" anchorCtr="0"/>
          <a:p>
            <a:pPr lvl="1"/>
            <a:r>
              <a:rPr lang="zh-CN" altLang="en-US" sz="2200" b="1" dirty="0">
                <a:ea typeface="宋体" panose="02010600030101010101" pitchFamily="2" charset="-122"/>
              </a:rPr>
              <a:t>多维数组的定址计算</a:t>
            </a:r>
            <a:endParaRPr lang="zh-CN" altLang="en-US" sz="2200" b="1" dirty="0">
              <a:ea typeface="宋体" panose="02010600030101010101" pitchFamily="2" charset="-122"/>
            </a:endParaRPr>
          </a:p>
          <a:p>
            <a:pPr lvl="2"/>
            <a:r>
              <a:rPr lang="zh-CN" altLang="en-US" sz="2000" b="1" dirty="0">
                <a:ea typeface="宋体" panose="02010600030101010101" pitchFamily="2" charset="-122"/>
              </a:rPr>
              <a:t>行为主的数组，最右边的下标变化最快</a:t>
            </a:r>
            <a:endParaRPr lang="zh-CN" altLang="en-US"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	A[ i</a:t>
            </a:r>
            <a:r>
              <a:rPr lang="en-US" altLang="zh-CN" sz="2000" b="1" baseline="-25000" dirty="0">
                <a:ea typeface="宋体" panose="02010600030101010101" pitchFamily="2" charset="-122"/>
              </a:rPr>
              <a:t>1</a:t>
            </a:r>
            <a:r>
              <a:rPr lang="en-US" altLang="zh-CN" sz="2000" b="1" dirty="0">
                <a:ea typeface="宋体" panose="02010600030101010101" pitchFamily="2" charset="-122"/>
              </a:rPr>
              <a:t>，i</a:t>
            </a:r>
            <a:r>
              <a:rPr lang="en-US" altLang="zh-CN" sz="2000" b="1" baseline="-25000" dirty="0">
                <a:ea typeface="宋体" panose="02010600030101010101" pitchFamily="2" charset="-122"/>
              </a:rPr>
              <a:t>2</a:t>
            </a:r>
            <a:r>
              <a:rPr lang="en-US" altLang="zh-CN" sz="2000" b="1" dirty="0">
                <a:ea typeface="宋体" panose="02010600030101010101" pitchFamily="2" charset="-122"/>
              </a:rPr>
              <a:t>，…，i</a:t>
            </a:r>
            <a:r>
              <a:rPr lang="en-US" altLang="zh-CN" sz="2000" b="1" baseline="-25000" dirty="0">
                <a:ea typeface="宋体" panose="02010600030101010101" pitchFamily="2" charset="-122"/>
              </a:rPr>
              <a:t>k </a:t>
            </a:r>
            <a:r>
              <a:rPr lang="en-US" altLang="zh-CN" sz="2000" b="1" dirty="0">
                <a:ea typeface="宋体" panose="02010600030101010101" pitchFamily="2" charset="-122"/>
              </a:rPr>
              <a:t>]</a:t>
            </a:r>
            <a:r>
              <a:rPr lang="zh-CN" altLang="en-US" sz="2000" b="1" dirty="0">
                <a:ea typeface="宋体" panose="02010600030101010101" pitchFamily="2" charset="-122"/>
              </a:rPr>
              <a:t>的相对地址：</a:t>
            </a:r>
            <a:endParaRPr lang="zh-CN" altLang="en-US" sz="2000" b="1" dirty="0">
              <a:ea typeface="宋体" panose="02010600030101010101" pitchFamily="2" charset="-122"/>
            </a:endParaRPr>
          </a:p>
          <a:p>
            <a:pPr lvl="2">
              <a:buFont typeface="Wingdings" panose="05000000000000000000" pitchFamily="2" charset="2"/>
              <a:buNone/>
            </a:pPr>
            <a:r>
              <a:rPr lang="en-US" altLang="zh-CN" sz="1800" b="1" dirty="0">
                <a:ea typeface="宋体" panose="02010600030101010101" pitchFamily="2" charset="-122"/>
              </a:rPr>
              <a:t>( ( … ( ( i</a:t>
            </a:r>
            <a:r>
              <a:rPr lang="en-US" altLang="zh-CN" sz="1800" b="1" baseline="-25000" dirty="0">
                <a:ea typeface="宋体" panose="02010600030101010101" pitchFamily="2" charset="-122"/>
              </a:rPr>
              <a:t>1</a:t>
            </a:r>
            <a:r>
              <a:rPr lang="en-US" altLang="zh-CN" sz="1800" b="1" dirty="0">
                <a:ea typeface="宋体" panose="02010600030101010101" pitchFamily="2" charset="-122"/>
              </a:rPr>
              <a:t> * n</a:t>
            </a:r>
            <a:r>
              <a:rPr lang="en-US" altLang="zh-CN" sz="1800" b="1" baseline="-25000" dirty="0">
                <a:ea typeface="宋体" panose="02010600030101010101" pitchFamily="2" charset="-122"/>
              </a:rPr>
              <a:t>2</a:t>
            </a:r>
            <a:r>
              <a:rPr lang="en-US" altLang="zh-CN" sz="1800" b="1" dirty="0">
                <a:ea typeface="宋体" panose="02010600030101010101" pitchFamily="2" charset="-122"/>
              </a:rPr>
              <a:t>  + i</a:t>
            </a:r>
            <a:r>
              <a:rPr lang="en-US" altLang="zh-CN" sz="1800" b="1" baseline="-25000" dirty="0">
                <a:ea typeface="宋体" panose="02010600030101010101" pitchFamily="2" charset="-122"/>
              </a:rPr>
              <a:t>2</a:t>
            </a:r>
            <a:r>
              <a:rPr lang="en-US" altLang="zh-CN" sz="1800" b="1" dirty="0">
                <a:ea typeface="宋体" panose="02010600030101010101" pitchFamily="2" charset="-122"/>
              </a:rPr>
              <a:t> ) * n</a:t>
            </a:r>
            <a:r>
              <a:rPr lang="en-US" altLang="zh-CN" sz="1800" b="1" baseline="-25000" dirty="0">
                <a:ea typeface="宋体" panose="02010600030101010101" pitchFamily="2" charset="-122"/>
              </a:rPr>
              <a:t>3</a:t>
            </a:r>
            <a:r>
              <a:rPr lang="en-US" altLang="zh-CN" sz="1800" b="1" dirty="0">
                <a:ea typeface="宋体" panose="02010600030101010101" pitchFamily="2" charset="-122"/>
              </a:rPr>
              <a:t> + i</a:t>
            </a:r>
            <a:r>
              <a:rPr lang="en-US" altLang="zh-CN" sz="1800" b="1" baseline="-25000" dirty="0">
                <a:ea typeface="宋体" panose="02010600030101010101" pitchFamily="2" charset="-122"/>
              </a:rPr>
              <a:t>3 </a:t>
            </a:r>
            <a:r>
              <a:rPr lang="en-US" altLang="zh-CN" sz="1800" b="1" dirty="0">
                <a:ea typeface="宋体" panose="02010600030101010101" pitchFamily="2" charset="-122"/>
              </a:rPr>
              <a:t>) … ) * n</a:t>
            </a:r>
            <a:r>
              <a:rPr lang="en-US" altLang="zh-CN" sz="1800" b="1" baseline="-25000" dirty="0">
                <a:ea typeface="宋体" panose="02010600030101010101" pitchFamily="2" charset="-122"/>
              </a:rPr>
              <a:t>k</a:t>
            </a:r>
            <a:r>
              <a:rPr lang="en-US" altLang="zh-CN" sz="1800" b="1" dirty="0">
                <a:ea typeface="宋体" panose="02010600030101010101" pitchFamily="2" charset="-122"/>
              </a:rPr>
              <a:t> + i</a:t>
            </a:r>
            <a:r>
              <a:rPr lang="en-US" altLang="zh-CN" sz="1800" b="1" baseline="-25000" dirty="0">
                <a:ea typeface="宋体" panose="02010600030101010101" pitchFamily="2" charset="-122"/>
              </a:rPr>
              <a:t>k </a:t>
            </a:r>
            <a:r>
              <a:rPr lang="en-US" altLang="zh-CN" sz="1800" b="1" dirty="0">
                <a:ea typeface="宋体" panose="02010600030101010101" pitchFamily="2" charset="-122"/>
              </a:rPr>
              <a:t>)* w</a:t>
            </a:r>
            <a:endParaRPr lang="en-US" altLang="zh-CN" sz="1800" b="1" dirty="0">
              <a:ea typeface="宋体" panose="02010600030101010101" pitchFamily="2" charset="-122"/>
            </a:endParaRPr>
          </a:p>
          <a:p>
            <a:pPr lvl="2">
              <a:buFont typeface="Wingdings" panose="05000000000000000000" pitchFamily="2" charset="2"/>
              <a:buNone/>
            </a:pPr>
            <a:r>
              <a:rPr lang="en-US" altLang="zh-CN" sz="1800" b="1" dirty="0">
                <a:ea typeface="宋体" panose="02010600030101010101" pitchFamily="2" charset="-122"/>
              </a:rPr>
              <a:t>+base–(( … (( low</a:t>
            </a:r>
            <a:r>
              <a:rPr lang="en-US" altLang="zh-CN" sz="1800" b="1" baseline="-25000" dirty="0">
                <a:ea typeface="宋体" panose="02010600030101010101" pitchFamily="2" charset="-122"/>
              </a:rPr>
              <a:t>1</a:t>
            </a:r>
            <a:r>
              <a:rPr lang="en-US" altLang="zh-CN" sz="1800" b="1" dirty="0">
                <a:ea typeface="宋体" panose="02010600030101010101" pitchFamily="2" charset="-122"/>
              </a:rPr>
              <a:t> * n</a:t>
            </a:r>
            <a:r>
              <a:rPr lang="en-US" altLang="zh-CN" sz="1800" b="1" baseline="-25000" dirty="0">
                <a:ea typeface="宋体" panose="02010600030101010101" pitchFamily="2" charset="-122"/>
              </a:rPr>
              <a:t>2</a:t>
            </a:r>
            <a:r>
              <a:rPr lang="en-US" altLang="zh-CN" sz="1800" b="1" dirty="0">
                <a:ea typeface="宋体" panose="02010600030101010101" pitchFamily="2" charset="-122"/>
              </a:rPr>
              <a:t>  + low</a:t>
            </a:r>
            <a:r>
              <a:rPr lang="en-US" altLang="zh-CN" sz="1800" b="1" baseline="-25000" dirty="0">
                <a:ea typeface="宋体" panose="02010600030101010101" pitchFamily="2" charset="-122"/>
              </a:rPr>
              <a:t>2</a:t>
            </a:r>
            <a:r>
              <a:rPr lang="en-US" altLang="zh-CN" sz="1800" b="1" dirty="0">
                <a:ea typeface="宋体" panose="02010600030101010101" pitchFamily="2" charset="-122"/>
              </a:rPr>
              <a:t> ) * n</a:t>
            </a:r>
            <a:r>
              <a:rPr lang="en-US" altLang="zh-CN" sz="1800" b="1" baseline="-25000" dirty="0">
                <a:ea typeface="宋体" panose="02010600030101010101" pitchFamily="2" charset="-122"/>
              </a:rPr>
              <a:t>3</a:t>
            </a:r>
            <a:r>
              <a:rPr lang="en-US" altLang="zh-CN" sz="1800" b="1" dirty="0">
                <a:ea typeface="宋体" panose="02010600030101010101" pitchFamily="2" charset="-122"/>
              </a:rPr>
              <a:t> + low</a:t>
            </a:r>
            <a:r>
              <a:rPr lang="en-US" altLang="zh-CN" sz="1800" b="1" baseline="-25000" dirty="0">
                <a:ea typeface="宋体" panose="02010600030101010101" pitchFamily="2" charset="-122"/>
              </a:rPr>
              <a:t>3</a:t>
            </a:r>
            <a:r>
              <a:rPr lang="en-US" altLang="zh-CN" sz="1800" b="1" dirty="0">
                <a:ea typeface="宋体" panose="02010600030101010101" pitchFamily="2" charset="-122"/>
              </a:rPr>
              <a:t> )…) * n</a:t>
            </a:r>
            <a:r>
              <a:rPr lang="en-US" altLang="zh-CN" sz="1800" b="1" baseline="-25000" dirty="0">
                <a:ea typeface="宋体" panose="02010600030101010101" pitchFamily="2" charset="-122"/>
              </a:rPr>
              <a:t>k</a:t>
            </a:r>
            <a:r>
              <a:rPr lang="en-US" altLang="zh-CN" sz="1800" b="1" dirty="0">
                <a:ea typeface="宋体" panose="02010600030101010101" pitchFamily="2" charset="-122"/>
              </a:rPr>
              <a:t> + low</a:t>
            </a:r>
            <a:r>
              <a:rPr lang="en-US" altLang="zh-CN" sz="1800" b="1" baseline="-25000" dirty="0">
                <a:ea typeface="宋体" panose="02010600030101010101" pitchFamily="2" charset="-122"/>
              </a:rPr>
              <a:t>k</a:t>
            </a:r>
            <a:r>
              <a:rPr lang="en-US" altLang="zh-CN" sz="1800" b="1" dirty="0">
                <a:ea typeface="宋体" panose="02010600030101010101" pitchFamily="2" charset="-122"/>
              </a:rPr>
              <a:t> ) * w</a:t>
            </a:r>
            <a:endParaRPr lang="en-US" altLang="zh-CN" sz="1800" b="1" dirty="0">
              <a:ea typeface="宋体" panose="02010600030101010101" pitchFamily="2" charset="-122"/>
            </a:endParaRPr>
          </a:p>
          <a:p>
            <a:pPr lvl="3">
              <a:buFont typeface="Monotype Sorts" pitchFamily="2" charset="2"/>
              <a:buChar char="ä"/>
            </a:pPr>
            <a:r>
              <a:rPr lang="zh-CN" altLang="en-US" sz="1800" b="1" dirty="0">
                <a:ea typeface="宋体" panose="02010600030101010101" pitchFamily="2" charset="-122"/>
              </a:rPr>
              <a:t>由于在大多数情况下数组各维的维展是一个固定值，所以上述公式的第二行可以在编译时刻计算，并存放在符号表中</a:t>
            </a:r>
            <a:r>
              <a:rPr lang="en-US" altLang="zh-CN" sz="1800" b="1" dirty="0">
                <a:ea typeface="宋体" panose="02010600030101010101" pitchFamily="2" charset="-122"/>
              </a:rPr>
              <a:t>A</a:t>
            </a:r>
            <a:r>
              <a:rPr lang="zh-CN" altLang="en-US" sz="1800" b="1" dirty="0">
                <a:ea typeface="宋体" panose="02010600030101010101" pitchFamily="2" charset="-122"/>
              </a:rPr>
              <a:t>的条目中</a:t>
            </a:r>
            <a:endParaRPr lang="zh-CN" altLang="en-US" sz="1800" b="1" dirty="0">
              <a:ea typeface="宋体" panose="02010600030101010101" pitchFamily="2" charset="-122"/>
            </a:endParaRPr>
          </a:p>
          <a:p>
            <a:pPr lvl="2"/>
            <a:r>
              <a:rPr lang="zh-CN" altLang="en-US" sz="2000" b="1" dirty="0">
                <a:ea typeface="宋体" panose="02010600030101010101" pitchFamily="2" charset="-122"/>
              </a:rPr>
              <a:t>列为主的数组，最左边的下标变化最快，其地址计算公式可以参照上述公式</a:t>
            </a:r>
            <a:endParaRPr lang="zh-CN" altLang="en-US" sz="2000" b="1" dirty="0">
              <a:ea typeface="宋体" panose="02010600030101010101" pitchFamily="2" charset="-122"/>
            </a:endParaRPr>
          </a:p>
          <a:p>
            <a:pPr lvl="1"/>
            <a:r>
              <a:rPr lang="zh-CN" altLang="en-US" sz="2200" b="1" dirty="0">
                <a:ea typeface="宋体" panose="02010600030101010101" pitchFamily="2" charset="-122"/>
              </a:rPr>
              <a:t>动态获得“型”的数组定址方式，也采用上述方法进行数组元素的定址，但是数组维的维展在编译时刻无法知道</a:t>
            </a:r>
            <a:endParaRPr lang="zh-CN" altLang="en-US" sz="2200" b="1" dirty="0">
              <a:ea typeface="宋体" panose="02010600030101010101" pitchFamily="2" charset="-122"/>
            </a:endParaRPr>
          </a:p>
        </p:txBody>
      </p:sp>
    </p:spTree>
  </p:cSld>
  <p:clrMapOvr>
    <a:masterClrMapping/>
  </p:clrMapOvr>
  <p:transition spd="slow"/>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129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采用递推法计算数组元素地址（</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11299" name="Rectangle 3"/>
          <p:cNvSpPr>
            <a:spLocks noGrp="1"/>
          </p:cNvSpPr>
          <p:nvPr>
            <p:ph idx="1"/>
          </p:nvPr>
        </p:nvSpPr>
        <p:spPr>
          <a:xfrm>
            <a:off x="990600" y="1371600"/>
            <a:ext cx="7391400" cy="5105400"/>
          </a:xfrm>
        </p:spPr>
        <p:txBody>
          <a:bodyPr vert="horz" wrap="square" lIns="92075" tIns="46038" rIns="92075" bIns="46038" anchor="t" anchorCtr="0"/>
          <a:p>
            <a:pPr>
              <a:lnSpc>
                <a:spcPct val="90000"/>
              </a:lnSpc>
            </a:pPr>
            <a:r>
              <a:rPr lang="zh-CN" altLang="en-US" sz="2400" b="1" dirty="0">
                <a:ea typeface="宋体" panose="02010600030101010101" pitchFamily="2" charset="-122"/>
              </a:rPr>
              <a:t>数组引用的描述</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基本形式</a:t>
            </a:r>
            <a:endParaRPr lang="zh-CN" altLang="en-US" sz="2200" b="1" dirty="0">
              <a:ea typeface="宋体" panose="02010600030101010101" pitchFamily="2" charset="-122"/>
            </a:endParaRPr>
          </a:p>
          <a:p>
            <a:pPr lvl="2">
              <a:lnSpc>
                <a:spcPct val="90000"/>
              </a:lnSpc>
              <a:buFont typeface="Wingdings" panose="05000000000000000000" pitchFamily="2" charset="2"/>
              <a:buNone/>
            </a:pPr>
            <a:r>
              <a:rPr lang="en-US" altLang="zh-CN" sz="1800" b="1" dirty="0">
                <a:ea typeface="宋体" panose="02010600030101010101" pitchFamily="2" charset="-122"/>
              </a:rPr>
              <a:t>L→ id [ Elist ]  |  id</a:t>
            </a:r>
            <a:endParaRPr lang="en-US" altLang="zh-CN" sz="1800" b="1" dirty="0">
              <a:ea typeface="宋体" panose="02010600030101010101" pitchFamily="2" charset="-122"/>
            </a:endParaRPr>
          </a:p>
          <a:p>
            <a:pPr lvl="2">
              <a:lnSpc>
                <a:spcPct val="90000"/>
              </a:lnSpc>
              <a:buFont typeface="Wingdings" panose="05000000000000000000" pitchFamily="2" charset="2"/>
              <a:buNone/>
            </a:pPr>
            <a:r>
              <a:rPr lang="en-US" altLang="zh-CN" sz="1800" b="1" dirty="0">
                <a:ea typeface="宋体" panose="02010600030101010101" pitchFamily="2" charset="-122"/>
              </a:rPr>
              <a:t>Elist→ Elist , E  |  E</a:t>
            </a:r>
            <a:endParaRPr lang="en-US" altLang="zh-CN" sz="1800" b="1" dirty="0">
              <a:ea typeface="宋体" panose="02010600030101010101" pitchFamily="2" charset="-122"/>
            </a:endParaRPr>
          </a:p>
          <a:p>
            <a:pPr lvl="1">
              <a:lnSpc>
                <a:spcPct val="90000"/>
              </a:lnSpc>
            </a:pPr>
            <a:r>
              <a:rPr lang="zh-CN" altLang="en-US" sz="2200" b="1" dirty="0">
                <a:ea typeface="宋体" panose="02010600030101010101" pitchFamily="2" charset="-122"/>
              </a:rPr>
              <a:t>改写上述产生式，使得数组各维的界在组合下标表达式到</a:t>
            </a:r>
            <a:r>
              <a:rPr lang="en-US" altLang="zh-CN" sz="2200" b="1" dirty="0">
                <a:ea typeface="宋体" panose="02010600030101010101" pitchFamily="2" charset="-122"/>
              </a:rPr>
              <a:t>Elist</a:t>
            </a:r>
            <a:r>
              <a:rPr lang="zh-CN" altLang="en-US" sz="2200" b="1" dirty="0">
                <a:ea typeface="宋体" panose="02010600030101010101" pitchFamily="2" charset="-122"/>
              </a:rPr>
              <a:t>时可用</a:t>
            </a:r>
            <a:endParaRPr lang="zh-CN" altLang="en-US" sz="2200" b="1" dirty="0">
              <a:ea typeface="宋体" panose="02010600030101010101" pitchFamily="2" charset="-122"/>
            </a:endParaRPr>
          </a:p>
          <a:p>
            <a:pPr lvl="2">
              <a:lnSpc>
                <a:spcPct val="90000"/>
              </a:lnSpc>
              <a:buFont typeface="Wingdings" panose="05000000000000000000" pitchFamily="2" charset="2"/>
              <a:buNone/>
            </a:pPr>
            <a:r>
              <a:rPr lang="en-US" altLang="zh-CN" sz="1800" b="1" dirty="0">
                <a:ea typeface="宋体" panose="02010600030101010101" pitchFamily="2" charset="-122"/>
              </a:rPr>
              <a:t>L→ Elist ]  |  id</a:t>
            </a:r>
            <a:endParaRPr lang="en-US" altLang="zh-CN" sz="1800" b="1" dirty="0">
              <a:ea typeface="宋体" panose="02010600030101010101" pitchFamily="2" charset="-122"/>
            </a:endParaRPr>
          </a:p>
          <a:p>
            <a:pPr lvl="2">
              <a:lnSpc>
                <a:spcPct val="90000"/>
              </a:lnSpc>
              <a:buFont typeface="Wingdings" panose="05000000000000000000" pitchFamily="2" charset="2"/>
              <a:buNone/>
            </a:pPr>
            <a:r>
              <a:rPr lang="en-US" altLang="zh-CN" sz="1800" b="1" dirty="0">
                <a:ea typeface="宋体" panose="02010600030101010101" pitchFamily="2" charset="-122"/>
              </a:rPr>
              <a:t>Elist→ Elist , E  |  id [ E</a:t>
            </a:r>
            <a:endParaRPr lang="en-US" altLang="zh-CN" sz="1800" b="1" dirty="0">
              <a:ea typeface="宋体" panose="02010600030101010101" pitchFamily="2" charset="-122"/>
            </a:endParaRPr>
          </a:p>
          <a:p>
            <a:pPr lvl="2">
              <a:lnSpc>
                <a:spcPct val="90000"/>
              </a:lnSpc>
            </a:pPr>
            <a:r>
              <a:rPr lang="zh-CN" altLang="en-US" sz="2000" b="1" dirty="0">
                <a:ea typeface="宋体" panose="02010600030101010101" pitchFamily="2" charset="-122"/>
              </a:rPr>
              <a:t>数组名和最左边的下标表达式结合在一起，使得符号表中数组名条目的指针作为</a:t>
            </a:r>
            <a:r>
              <a:rPr lang="en-US" altLang="zh-CN" sz="2000" b="1" dirty="0">
                <a:ea typeface="宋体" panose="02010600030101010101" pitchFamily="2" charset="-122"/>
              </a:rPr>
              <a:t>Elist</a:t>
            </a:r>
            <a:r>
              <a:rPr lang="zh-CN" altLang="en-US" sz="2000" b="1" dirty="0">
                <a:ea typeface="宋体" panose="02010600030101010101" pitchFamily="2" charset="-122"/>
              </a:rPr>
              <a:t>的综合属性</a:t>
            </a:r>
            <a:r>
              <a:rPr lang="en-US" altLang="zh-CN" sz="2000" b="1" dirty="0">
                <a:ea typeface="宋体" panose="02010600030101010101" pitchFamily="2" charset="-122"/>
              </a:rPr>
              <a:t>array</a:t>
            </a:r>
            <a:r>
              <a:rPr lang="zh-CN" altLang="en-US" sz="2000" b="1" dirty="0">
                <a:ea typeface="宋体" panose="02010600030101010101" pitchFamily="2" charset="-122"/>
              </a:rPr>
              <a:t>传递</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几个定义：</a:t>
            </a:r>
            <a:endParaRPr lang="zh-CN" altLang="en-US" sz="2000" b="1" dirty="0">
              <a:ea typeface="宋体" panose="02010600030101010101" pitchFamily="2" charset="-122"/>
            </a:endParaRPr>
          </a:p>
          <a:p>
            <a:pPr lvl="3">
              <a:lnSpc>
                <a:spcPct val="90000"/>
              </a:lnSpc>
            </a:pPr>
            <a:r>
              <a:rPr lang="en-US" altLang="zh-CN" sz="1800" b="1" dirty="0">
                <a:ea typeface="宋体" panose="02010600030101010101" pitchFamily="2" charset="-122"/>
              </a:rPr>
              <a:t>Elist.ndim</a:t>
            </a:r>
            <a:r>
              <a:rPr lang="zh-CN" altLang="en-US" sz="1800" b="1" dirty="0">
                <a:ea typeface="宋体" panose="02010600030101010101" pitchFamily="2" charset="-122"/>
              </a:rPr>
              <a:t>表示</a:t>
            </a:r>
            <a:r>
              <a:rPr lang="en-US" altLang="zh-CN" sz="1800" b="1" dirty="0">
                <a:ea typeface="宋体" panose="02010600030101010101" pitchFamily="2" charset="-122"/>
              </a:rPr>
              <a:t>Elist</a:t>
            </a:r>
            <a:r>
              <a:rPr lang="zh-CN" altLang="en-US" sz="1800" b="1" dirty="0">
                <a:ea typeface="宋体" panose="02010600030101010101" pitchFamily="2" charset="-122"/>
              </a:rPr>
              <a:t>的维数（下标表达式的个数）</a:t>
            </a:r>
            <a:endParaRPr lang="zh-CN" altLang="en-US" sz="1800" b="1" dirty="0">
              <a:ea typeface="宋体" panose="02010600030101010101" pitchFamily="2" charset="-122"/>
            </a:endParaRPr>
          </a:p>
          <a:p>
            <a:pPr lvl="3">
              <a:lnSpc>
                <a:spcPct val="90000"/>
              </a:lnSpc>
            </a:pPr>
            <a:r>
              <a:rPr lang="en-US" altLang="zh-CN" sz="1800" b="1" dirty="0">
                <a:ea typeface="宋体" panose="02010600030101010101" pitchFamily="2" charset="-122"/>
              </a:rPr>
              <a:t>Limit( array， j )</a:t>
            </a:r>
            <a:r>
              <a:rPr lang="zh-CN" altLang="en-US" sz="1800" b="1" dirty="0">
                <a:ea typeface="宋体" panose="02010600030101010101" pitchFamily="2" charset="-122"/>
              </a:rPr>
              <a:t>返回数组(</a:t>
            </a:r>
            <a:r>
              <a:rPr lang="en-US" altLang="zh-CN" sz="1800" b="1" dirty="0">
                <a:ea typeface="宋体" panose="02010600030101010101" pitchFamily="2" charset="-122"/>
              </a:rPr>
              <a:t>array)</a:t>
            </a:r>
            <a:r>
              <a:rPr lang="zh-CN" altLang="en-US" sz="1800" b="1" dirty="0">
                <a:ea typeface="宋体" panose="02010600030101010101" pitchFamily="2" charset="-122"/>
              </a:rPr>
              <a:t>第</a:t>
            </a:r>
            <a:r>
              <a:rPr lang="en-US" altLang="zh-CN" sz="1800" b="1" dirty="0">
                <a:ea typeface="宋体" panose="02010600030101010101" pitchFamily="2" charset="-122"/>
              </a:rPr>
              <a:t>j</a:t>
            </a:r>
            <a:r>
              <a:rPr lang="zh-CN" altLang="en-US" sz="1800" b="1" dirty="0">
                <a:ea typeface="宋体" panose="02010600030101010101" pitchFamily="2" charset="-122"/>
              </a:rPr>
              <a:t>维的元素个数</a:t>
            </a:r>
            <a:endParaRPr lang="zh-CN" altLang="en-US" sz="1800" b="1" dirty="0">
              <a:ea typeface="宋体" panose="02010600030101010101" pitchFamily="2" charset="-122"/>
            </a:endParaRPr>
          </a:p>
          <a:p>
            <a:pPr lvl="3">
              <a:lnSpc>
                <a:spcPct val="90000"/>
              </a:lnSpc>
            </a:pPr>
            <a:r>
              <a:rPr lang="en-US" altLang="zh-CN" sz="1800" b="1" dirty="0">
                <a:ea typeface="宋体" panose="02010600030101010101" pitchFamily="2" charset="-122"/>
              </a:rPr>
              <a:t>Invariant( array )</a:t>
            </a:r>
            <a:r>
              <a:rPr lang="zh-CN" altLang="en-US" sz="1800" b="1" dirty="0">
                <a:ea typeface="宋体" panose="02010600030101010101" pitchFamily="2" charset="-122"/>
              </a:rPr>
              <a:t>取得数组的地址计算的不变部分，即上页地址计算公式第二行中除</a:t>
            </a:r>
            <a:r>
              <a:rPr lang="en-US" altLang="zh-CN" sz="1800" b="1" dirty="0">
                <a:ea typeface="宋体" panose="02010600030101010101" pitchFamily="2" charset="-122"/>
              </a:rPr>
              <a:t>base</a:t>
            </a:r>
            <a:r>
              <a:rPr lang="zh-CN" altLang="en-US" sz="1800" b="1" dirty="0">
                <a:ea typeface="宋体" panose="02010600030101010101" pitchFamily="2" charset="-122"/>
              </a:rPr>
              <a:t>外的其它部分的值</a:t>
            </a:r>
            <a:endParaRPr lang="zh-CN" altLang="en-US" sz="1800" b="1" dirty="0">
              <a:ea typeface="宋体" panose="02010600030101010101" pitchFamily="2" charset="-122"/>
            </a:endParaRPr>
          </a:p>
          <a:p>
            <a:pPr lvl="3">
              <a:lnSpc>
                <a:spcPct val="90000"/>
              </a:lnSpc>
            </a:pPr>
            <a:r>
              <a:rPr lang="en-US" altLang="zh-CN" sz="1800" b="1" dirty="0">
                <a:ea typeface="宋体" panose="02010600030101010101" pitchFamily="2" charset="-122"/>
              </a:rPr>
              <a:t>Elist.place</a:t>
            </a:r>
            <a:r>
              <a:rPr lang="zh-CN" altLang="en-US" sz="1800" b="1" dirty="0">
                <a:ea typeface="宋体" panose="02010600030101010101" pitchFamily="2" charset="-122"/>
              </a:rPr>
              <a:t>指示临时变量</a:t>
            </a:r>
            <a:endParaRPr lang="zh-CN" altLang="en-US" sz="1800" b="1" dirty="0">
              <a:ea typeface="宋体" panose="02010600030101010101" pitchFamily="2" charset="-122"/>
            </a:endParaRPr>
          </a:p>
        </p:txBody>
      </p:sp>
    </p:spTree>
  </p:cSld>
  <p:clrMapOvr>
    <a:masterClrMapping/>
  </p:clrMapOvr>
  <p:transition spd="slow"/>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334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采用递推法计算数组元素地址（</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13347" name="Rectangle 3"/>
          <p:cNvSpPr>
            <a:spLocks noGrp="1"/>
          </p:cNvSpPr>
          <p:nvPr>
            <p:ph idx="1"/>
          </p:nvPr>
        </p:nvSpPr>
        <p:spPr>
          <a:xfrm>
            <a:off x="990600" y="1524000"/>
            <a:ext cx="7391400" cy="4724400"/>
          </a:xfrm>
        </p:spPr>
        <p:txBody>
          <a:bodyPr vert="horz" wrap="square" lIns="92075" tIns="46038" rIns="92075" bIns="46038" anchor="t" anchorCtr="0"/>
          <a:p>
            <a:pPr lvl="1">
              <a:lnSpc>
                <a:spcPct val="90000"/>
              </a:lnSpc>
            </a:pPr>
            <a:r>
              <a:rPr lang="zh-CN" altLang="en-US" sz="2200" b="1" dirty="0">
                <a:ea typeface="宋体" panose="02010600030101010101" pitchFamily="2" charset="-122"/>
              </a:rPr>
              <a:t>采用递推计算方法实现</a:t>
            </a:r>
            <a:r>
              <a:rPr lang="en-US" altLang="zh-CN" sz="2200" b="1" dirty="0">
                <a:ea typeface="宋体" panose="02010600030101010101" pitchFamily="2" charset="-122"/>
              </a:rPr>
              <a:t>Elist</a:t>
            </a:r>
            <a:r>
              <a:rPr lang="zh-CN" altLang="en-US" sz="2200" b="1" dirty="0">
                <a:ea typeface="宋体" panose="02010600030101010101" pitchFamily="2" charset="-122"/>
              </a:rPr>
              <a:t>的计算：</a:t>
            </a:r>
            <a:endParaRPr lang="zh-CN" altLang="en-US" sz="2200" b="1" dirty="0">
              <a:ea typeface="宋体" panose="02010600030101010101" pitchFamily="2" charset="-122"/>
            </a:endParaRPr>
          </a:p>
          <a:p>
            <a:pPr lvl="2">
              <a:lnSpc>
                <a:spcPct val="90000"/>
              </a:lnSpc>
              <a:buFont typeface="Wingdings" panose="05000000000000000000" pitchFamily="2" charset="2"/>
              <a:buNone/>
            </a:pPr>
            <a:r>
              <a:rPr lang="en-US" altLang="zh-CN" sz="2000" b="1" dirty="0">
                <a:ea typeface="宋体" panose="02010600030101010101" pitchFamily="2" charset="-122"/>
              </a:rPr>
              <a:t>e</a:t>
            </a:r>
            <a:r>
              <a:rPr lang="en-US" altLang="zh-CN" sz="2000" b="1" baseline="-25000" dirty="0">
                <a:ea typeface="宋体" panose="02010600030101010101" pitchFamily="2" charset="-122"/>
              </a:rPr>
              <a:t>1</a:t>
            </a:r>
            <a:r>
              <a:rPr lang="en-US" altLang="zh-CN" sz="2000" b="1" dirty="0">
                <a:ea typeface="宋体" panose="02010600030101010101" pitchFamily="2" charset="-122"/>
              </a:rPr>
              <a:t> = i</a:t>
            </a:r>
            <a:r>
              <a:rPr lang="en-US" altLang="zh-CN" sz="2000" b="1" baseline="-25000" dirty="0">
                <a:ea typeface="宋体" panose="02010600030101010101" pitchFamily="2" charset="-122"/>
              </a:rPr>
              <a:t>1</a:t>
            </a:r>
            <a:endParaRPr lang="en-US" altLang="zh-CN" sz="2000" b="1" baseline="-25000" dirty="0">
              <a:ea typeface="宋体" panose="02010600030101010101" pitchFamily="2" charset="-122"/>
            </a:endParaRPr>
          </a:p>
          <a:p>
            <a:pPr lvl="2">
              <a:lnSpc>
                <a:spcPct val="90000"/>
              </a:lnSpc>
              <a:buFont typeface="Wingdings" panose="05000000000000000000" pitchFamily="2" charset="2"/>
              <a:buNone/>
            </a:pPr>
            <a:r>
              <a:rPr lang="en-US" altLang="zh-CN" sz="2000" b="1" dirty="0">
                <a:ea typeface="宋体" panose="02010600030101010101" pitchFamily="2" charset="-122"/>
              </a:rPr>
              <a:t>e</a:t>
            </a:r>
            <a:r>
              <a:rPr lang="en-US" altLang="zh-CN" sz="2000" b="1" baseline="-25000" dirty="0">
                <a:ea typeface="宋体" panose="02010600030101010101" pitchFamily="2" charset="-122"/>
              </a:rPr>
              <a:t>m</a:t>
            </a:r>
            <a:r>
              <a:rPr lang="en-US" altLang="zh-CN" sz="2000" b="1" dirty="0">
                <a:ea typeface="宋体" panose="02010600030101010101" pitchFamily="2" charset="-122"/>
              </a:rPr>
              <a:t> = e</a:t>
            </a:r>
            <a:r>
              <a:rPr lang="en-US" altLang="zh-CN" sz="2000" b="1" baseline="-25000" dirty="0">
                <a:ea typeface="宋体" panose="02010600030101010101" pitchFamily="2" charset="-122"/>
              </a:rPr>
              <a:t>m-1</a:t>
            </a:r>
            <a:r>
              <a:rPr lang="en-US" altLang="zh-CN" sz="2000" b="1" dirty="0">
                <a:ea typeface="宋体" panose="02010600030101010101" pitchFamily="2" charset="-122"/>
              </a:rPr>
              <a:t> * n</a:t>
            </a:r>
            <a:r>
              <a:rPr lang="en-US" altLang="zh-CN" sz="2000" b="1" baseline="-25000" dirty="0">
                <a:ea typeface="宋体" panose="02010600030101010101" pitchFamily="2" charset="-122"/>
              </a:rPr>
              <a:t>m</a:t>
            </a:r>
            <a:r>
              <a:rPr lang="en-US" altLang="zh-CN" sz="2000" b="1" dirty="0">
                <a:ea typeface="宋体" panose="02010600030101010101" pitchFamily="2" charset="-122"/>
              </a:rPr>
              <a:t> + i</a:t>
            </a:r>
            <a:r>
              <a:rPr lang="en-US" altLang="zh-CN" sz="2000" b="1" baseline="-25000" dirty="0">
                <a:ea typeface="宋体" panose="02010600030101010101" pitchFamily="2" charset="-122"/>
              </a:rPr>
              <a:t>m</a:t>
            </a:r>
            <a:endParaRPr lang="en-US" altLang="zh-CN" sz="2000" b="1" baseline="-25000" dirty="0">
              <a:ea typeface="宋体" panose="02010600030101010101" pitchFamily="2" charset="-122"/>
            </a:endParaRPr>
          </a:p>
          <a:p>
            <a:pPr>
              <a:lnSpc>
                <a:spcPct val="90000"/>
              </a:lnSpc>
            </a:pPr>
            <a:r>
              <a:rPr lang="zh-CN" altLang="en-US" sz="2400" b="1" dirty="0">
                <a:ea typeface="宋体" panose="02010600030101010101" pitchFamily="2" charset="-122"/>
              </a:rPr>
              <a:t>数组定址的翻译方案</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在赋值语句中引用数组的文法</a:t>
            </a:r>
            <a:endParaRPr lang="zh-CN" altLang="en-US" sz="2200" b="1" dirty="0">
              <a:ea typeface="宋体" panose="02010600030101010101" pitchFamily="2" charset="-122"/>
            </a:endParaRPr>
          </a:p>
          <a:p>
            <a:pPr lvl="2">
              <a:lnSpc>
                <a:spcPct val="90000"/>
              </a:lnSpc>
              <a:buFont typeface="Wingdings" panose="05000000000000000000" pitchFamily="2" charset="2"/>
              <a:buNone/>
            </a:pPr>
            <a:r>
              <a:rPr lang="zh-CN" altLang="en-US" sz="2000" b="1" dirty="0">
                <a:ea typeface="宋体" panose="02010600030101010101" pitchFamily="2" charset="-122"/>
              </a:rPr>
              <a:t>	(1) </a:t>
            </a:r>
            <a:r>
              <a:rPr lang="en-US" altLang="zh-CN" sz="2000" b="1" dirty="0">
                <a:ea typeface="宋体" panose="02010600030101010101" pitchFamily="2" charset="-122"/>
              </a:rPr>
              <a:t>S→ L := E</a:t>
            </a:r>
            <a:endParaRPr lang="en-US" altLang="zh-CN" sz="2000" b="1" dirty="0">
              <a:ea typeface="宋体" panose="02010600030101010101" pitchFamily="2" charset="-122"/>
            </a:endParaRPr>
          </a:p>
          <a:p>
            <a:pPr lvl="2">
              <a:lnSpc>
                <a:spcPct val="90000"/>
              </a:lnSpc>
              <a:buFont typeface="Wingdings" panose="05000000000000000000" pitchFamily="2" charset="2"/>
              <a:buNone/>
            </a:pPr>
            <a:r>
              <a:rPr lang="zh-CN" altLang="en-US" sz="2000" b="1" dirty="0">
                <a:ea typeface="宋体" panose="02010600030101010101" pitchFamily="2" charset="-122"/>
              </a:rPr>
              <a:t>	(2) </a:t>
            </a:r>
            <a:r>
              <a:rPr lang="en-US" altLang="zh-CN" sz="2000" b="1" dirty="0">
                <a:ea typeface="宋体" panose="02010600030101010101" pitchFamily="2" charset="-122"/>
              </a:rPr>
              <a:t>E→ E + E</a:t>
            </a:r>
            <a:endParaRPr lang="en-US" altLang="zh-CN" sz="2000" b="1" dirty="0">
              <a:ea typeface="宋体" panose="02010600030101010101" pitchFamily="2" charset="-122"/>
            </a:endParaRPr>
          </a:p>
          <a:p>
            <a:pPr lvl="2">
              <a:lnSpc>
                <a:spcPct val="90000"/>
              </a:lnSpc>
              <a:buFont typeface="Wingdings" panose="05000000000000000000" pitchFamily="2" charset="2"/>
              <a:buNone/>
            </a:pPr>
            <a:r>
              <a:rPr lang="zh-CN" altLang="en-US" sz="2000" b="1" dirty="0">
                <a:ea typeface="宋体" panose="02010600030101010101" pitchFamily="2" charset="-122"/>
              </a:rPr>
              <a:t>	(3) </a:t>
            </a:r>
            <a:r>
              <a:rPr lang="en-US" altLang="zh-CN" sz="2000" b="1" dirty="0">
                <a:ea typeface="宋体" panose="02010600030101010101" pitchFamily="2" charset="-122"/>
              </a:rPr>
              <a:t>E→ ( E )</a:t>
            </a:r>
            <a:endParaRPr lang="en-US" altLang="zh-CN" sz="2000" b="1" dirty="0">
              <a:ea typeface="宋体" panose="02010600030101010101" pitchFamily="2" charset="-122"/>
            </a:endParaRPr>
          </a:p>
          <a:p>
            <a:pPr lvl="2">
              <a:lnSpc>
                <a:spcPct val="90000"/>
              </a:lnSpc>
              <a:buFont typeface="Wingdings" panose="05000000000000000000" pitchFamily="2" charset="2"/>
              <a:buNone/>
            </a:pPr>
            <a:r>
              <a:rPr lang="zh-CN" altLang="en-US" sz="2000" b="1" dirty="0">
                <a:ea typeface="宋体" panose="02010600030101010101" pitchFamily="2" charset="-122"/>
              </a:rPr>
              <a:t>	(4) </a:t>
            </a:r>
            <a:r>
              <a:rPr lang="en-US" altLang="zh-CN" sz="2000" b="1" dirty="0">
                <a:ea typeface="宋体" panose="02010600030101010101" pitchFamily="2" charset="-122"/>
              </a:rPr>
              <a:t>E→ L</a:t>
            </a:r>
            <a:endParaRPr lang="en-US" altLang="zh-CN" sz="2000" b="1" dirty="0">
              <a:ea typeface="宋体" panose="02010600030101010101" pitchFamily="2" charset="-122"/>
            </a:endParaRPr>
          </a:p>
          <a:p>
            <a:pPr lvl="2">
              <a:lnSpc>
                <a:spcPct val="90000"/>
              </a:lnSpc>
              <a:buFont typeface="Wingdings" panose="05000000000000000000" pitchFamily="2" charset="2"/>
              <a:buNone/>
            </a:pPr>
            <a:r>
              <a:rPr lang="zh-CN" altLang="en-US" sz="2000" b="1" dirty="0">
                <a:ea typeface="宋体" panose="02010600030101010101" pitchFamily="2" charset="-122"/>
              </a:rPr>
              <a:t>	(5) </a:t>
            </a:r>
            <a:r>
              <a:rPr lang="en-US" altLang="zh-CN" sz="2000" b="1" dirty="0">
                <a:ea typeface="宋体" panose="02010600030101010101" pitchFamily="2" charset="-122"/>
              </a:rPr>
              <a:t>L→ Elist ]</a:t>
            </a:r>
            <a:endParaRPr lang="en-US" altLang="zh-CN" sz="2000" b="1" dirty="0">
              <a:ea typeface="宋体" panose="02010600030101010101" pitchFamily="2" charset="-122"/>
            </a:endParaRPr>
          </a:p>
          <a:p>
            <a:pPr lvl="2">
              <a:lnSpc>
                <a:spcPct val="90000"/>
              </a:lnSpc>
              <a:buFont typeface="Wingdings" panose="05000000000000000000" pitchFamily="2" charset="2"/>
              <a:buNone/>
            </a:pPr>
            <a:r>
              <a:rPr lang="zh-CN" altLang="en-US" sz="2000" b="1" dirty="0">
                <a:ea typeface="宋体" panose="02010600030101010101" pitchFamily="2" charset="-122"/>
              </a:rPr>
              <a:t>	(6) </a:t>
            </a:r>
            <a:r>
              <a:rPr lang="en-US" altLang="zh-CN" sz="2000" b="1" dirty="0">
                <a:ea typeface="宋体" panose="02010600030101010101" pitchFamily="2" charset="-122"/>
              </a:rPr>
              <a:t>L→ id</a:t>
            </a:r>
            <a:endParaRPr lang="en-US" altLang="zh-CN" sz="2000" b="1" dirty="0">
              <a:ea typeface="宋体" panose="02010600030101010101" pitchFamily="2" charset="-122"/>
            </a:endParaRPr>
          </a:p>
          <a:p>
            <a:pPr lvl="2">
              <a:lnSpc>
                <a:spcPct val="90000"/>
              </a:lnSpc>
              <a:buFont typeface="Wingdings" panose="05000000000000000000" pitchFamily="2" charset="2"/>
              <a:buNone/>
            </a:pPr>
            <a:r>
              <a:rPr lang="zh-CN" altLang="en-US" sz="2000" b="1" dirty="0">
                <a:ea typeface="宋体" panose="02010600030101010101" pitchFamily="2" charset="-122"/>
              </a:rPr>
              <a:t>	(7) </a:t>
            </a:r>
            <a:r>
              <a:rPr lang="en-US" altLang="zh-CN" sz="2000" b="1" dirty="0">
                <a:ea typeface="宋体" panose="02010600030101010101" pitchFamily="2" charset="-122"/>
              </a:rPr>
              <a:t>Elist→ Elist , E</a:t>
            </a:r>
            <a:endParaRPr lang="en-US" altLang="zh-CN" sz="2000" b="1" dirty="0">
              <a:ea typeface="宋体" panose="02010600030101010101" pitchFamily="2" charset="-122"/>
            </a:endParaRPr>
          </a:p>
          <a:p>
            <a:pPr lvl="2">
              <a:lnSpc>
                <a:spcPct val="90000"/>
              </a:lnSpc>
              <a:buFont typeface="Wingdings" panose="05000000000000000000" pitchFamily="2" charset="2"/>
              <a:buNone/>
            </a:pPr>
            <a:r>
              <a:rPr lang="zh-CN" altLang="en-US" sz="2000" b="1" dirty="0">
                <a:ea typeface="宋体" panose="02010600030101010101" pitchFamily="2" charset="-122"/>
              </a:rPr>
              <a:t>	(8) </a:t>
            </a:r>
            <a:r>
              <a:rPr lang="en-US" altLang="zh-CN" sz="2000" b="1" dirty="0">
                <a:ea typeface="宋体" panose="02010600030101010101" pitchFamily="2" charset="-122"/>
              </a:rPr>
              <a:t>Elist→ id [ E</a:t>
            </a:r>
            <a:endParaRPr lang="zh-CN" altLang="en-US" sz="2000" b="1" dirty="0">
              <a:ea typeface="宋体" panose="02010600030101010101" pitchFamily="2" charset="-122"/>
            </a:endParaRPr>
          </a:p>
        </p:txBody>
      </p:sp>
    </p:spTree>
  </p:cSld>
  <p:clrMapOvr>
    <a:masterClrMapping/>
  </p:clrMapOvr>
  <p:transition spd="slow"/>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539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采用递推法计算数组元素地址（</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15395" name="Rectangle 3"/>
          <p:cNvSpPr>
            <a:spLocks noGrp="1"/>
          </p:cNvSpPr>
          <p:nvPr>
            <p:ph idx="1"/>
          </p:nvPr>
        </p:nvSpPr>
        <p:spPr>
          <a:xfrm>
            <a:off x="990600" y="1524000"/>
            <a:ext cx="7391400" cy="4724400"/>
          </a:xfrm>
        </p:spPr>
        <p:txBody>
          <a:bodyPr vert="horz" wrap="square" lIns="92075" tIns="46038" rIns="92075" bIns="46038" anchor="t" anchorCtr="0"/>
          <a:p>
            <a:pPr lvl="1"/>
            <a:r>
              <a:rPr lang="zh-CN" altLang="en-US" sz="2200" b="1" dirty="0">
                <a:ea typeface="宋体" panose="02010600030101010101" pitchFamily="2" charset="-122"/>
              </a:rPr>
              <a:t>各个产生式的三地址代码生成</a:t>
            </a:r>
            <a:endParaRPr lang="zh-CN" altLang="en-US" sz="2200" b="1" dirty="0">
              <a:ea typeface="宋体" panose="02010600030101010101" pitchFamily="2" charset="-122"/>
            </a:endParaRPr>
          </a:p>
          <a:p>
            <a:pPr lvl="1">
              <a:buNone/>
            </a:pPr>
            <a:r>
              <a:rPr lang="zh-CN" altLang="en-US" sz="2000" b="1" dirty="0">
                <a:ea typeface="宋体" panose="02010600030101010101" pitchFamily="2" charset="-122"/>
              </a:rPr>
              <a:t>(1) </a:t>
            </a:r>
            <a:r>
              <a:rPr lang="en-US" altLang="zh-CN" sz="1600" b="1" dirty="0">
                <a:ea typeface="宋体" panose="02010600030101010101" pitchFamily="2" charset="-122"/>
              </a:rPr>
              <a:t>S→ L := E	{ if L.offset = null then	/* L</a:t>
            </a:r>
            <a:r>
              <a:rPr lang="zh-CN" altLang="en-US" sz="1600" b="1" dirty="0">
                <a:ea typeface="宋体" panose="02010600030101010101" pitchFamily="2" charset="-122"/>
              </a:rPr>
              <a:t>是简单名字*/</a:t>
            </a:r>
            <a:endParaRPr lang="zh-CN" altLang="en-US" sz="1600" b="1" dirty="0">
              <a:ea typeface="宋体" panose="02010600030101010101" pitchFamily="2" charset="-122"/>
            </a:endParaRPr>
          </a:p>
          <a:p>
            <a:pPr lvl="1">
              <a:buNone/>
            </a:pPr>
            <a:r>
              <a:rPr lang="zh-CN" altLang="en-US" sz="1600" b="1" dirty="0">
                <a:ea typeface="宋体" panose="02010600030101010101" pitchFamily="2" charset="-122"/>
              </a:rPr>
              <a:t>			      </a:t>
            </a:r>
            <a:r>
              <a:rPr lang="en-US" altLang="zh-CN" sz="1600" b="1" dirty="0">
                <a:ea typeface="宋体" panose="02010600030101010101" pitchFamily="2" charset="-122"/>
              </a:rPr>
              <a:t>emit( L.place ‘:=’ E.place );</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			  else</a:t>
            </a:r>
            <a:endParaRPr lang="en-US" altLang="zh-CN" sz="1600" b="1" dirty="0">
              <a:ea typeface="宋体" panose="02010600030101010101" pitchFamily="2" charset="-122"/>
            </a:endParaRPr>
          </a:p>
          <a:p>
            <a:pPr lvl="1">
              <a:buNone/>
            </a:pPr>
            <a:r>
              <a:rPr lang="zh-CN" altLang="en-US" sz="1600" b="1" dirty="0">
                <a:ea typeface="宋体" panose="02010600030101010101" pitchFamily="2" charset="-122"/>
              </a:rPr>
              <a:t>			      </a:t>
            </a:r>
            <a:r>
              <a:rPr lang="en-US" altLang="zh-CN" sz="1600" b="1" dirty="0">
                <a:ea typeface="宋体" panose="02010600030101010101" pitchFamily="2" charset="-122"/>
              </a:rPr>
              <a:t>emit( L.place ‘[’ L.offset ‘]’ ‘:=’E.place ) }</a:t>
            </a:r>
            <a:endParaRPr lang="en-US" altLang="zh-CN" sz="1600" b="1" dirty="0">
              <a:ea typeface="宋体" panose="02010600030101010101" pitchFamily="2" charset="-122"/>
            </a:endParaRPr>
          </a:p>
          <a:p>
            <a:pPr lvl="1">
              <a:buNone/>
            </a:pPr>
            <a:r>
              <a:rPr lang="zh-CN" altLang="en-US" sz="2000" b="1" dirty="0">
                <a:ea typeface="宋体" panose="02010600030101010101" pitchFamily="2" charset="-122"/>
              </a:rPr>
              <a:t>(2) </a:t>
            </a:r>
            <a:r>
              <a:rPr lang="en-US" altLang="zh-CN" sz="1600" b="1" dirty="0">
                <a:ea typeface="宋体" panose="02010600030101010101" pitchFamily="2" charset="-122"/>
              </a:rPr>
              <a:t>E→E</a:t>
            </a:r>
            <a:r>
              <a:rPr lang="en-US" altLang="zh-CN" sz="1600" b="1" baseline="-25000" dirty="0">
                <a:ea typeface="宋体" panose="02010600030101010101" pitchFamily="2" charset="-122"/>
              </a:rPr>
              <a:t>1</a:t>
            </a:r>
            <a:r>
              <a:rPr lang="en-US" altLang="zh-CN" sz="1600" b="1" dirty="0">
                <a:ea typeface="宋体" panose="02010600030101010101" pitchFamily="2" charset="-122"/>
              </a:rPr>
              <a:t> +E</a:t>
            </a:r>
            <a:r>
              <a:rPr lang="en-US" altLang="zh-CN" sz="1600" b="1" baseline="-25000" dirty="0">
                <a:ea typeface="宋体" panose="02010600030101010101" pitchFamily="2" charset="-122"/>
              </a:rPr>
              <a:t>2	</a:t>
            </a:r>
            <a:r>
              <a:rPr lang="en-US" altLang="zh-CN" sz="1600" b="1" dirty="0">
                <a:ea typeface="宋体" panose="02010600030101010101" pitchFamily="2" charset="-122"/>
              </a:rPr>
              <a:t>{ E.place := newtemp;</a:t>
            </a:r>
            <a:endParaRPr lang="zh-CN" altLang="en-US" sz="1600" b="1" dirty="0">
              <a:ea typeface="宋体" panose="02010600030101010101" pitchFamily="2" charset="-122"/>
            </a:endParaRPr>
          </a:p>
          <a:p>
            <a:pPr lvl="1">
              <a:buNone/>
            </a:pPr>
            <a:r>
              <a:rPr lang="zh-CN" altLang="en-US" sz="1600" b="1" dirty="0">
                <a:ea typeface="宋体" panose="02010600030101010101" pitchFamily="2" charset="-122"/>
              </a:rPr>
              <a:t>			  </a:t>
            </a:r>
            <a:r>
              <a:rPr lang="en-US" altLang="zh-CN" sz="1600" b="1" dirty="0">
                <a:ea typeface="宋体" panose="02010600030101010101" pitchFamily="2" charset="-122"/>
              </a:rPr>
              <a:t>emit( E.place ‘:=’ E</a:t>
            </a:r>
            <a:r>
              <a:rPr lang="en-US" altLang="zh-CN" sz="1600" b="1" baseline="-25000" dirty="0">
                <a:ea typeface="宋体" panose="02010600030101010101" pitchFamily="2" charset="-122"/>
              </a:rPr>
              <a:t>1</a:t>
            </a:r>
            <a:r>
              <a:rPr lang="en-US" altLang="zh-CN" sz="1600" b="1" dirty="0">
                <a:ea typeface="宋体" panose="02010600030101010101" pitchFamily="2" charset="-122"/>
              </a:rPr>
              <a:t>.place ‘+’ E</a:t>
            </a:r>
            <a:r>
              <a:rPr lang="en-US" altLang="zh-CN" sz="1600" b="1" baseline="-25000" dirty="0">
                <a:ea typeface="宋体" panose="02010600030101010101" pitchFamily="2" charset="-122"/>
              </a:rPr>
              <a:t>2</a:t>
            </a:r>
            <a:r>
              <a:rPr lang="en-US" altLang="zh-CN" sz="1600" b="1" dirty="0">
                <a:ea typeface="宋体" panose="02010600030101010101" pitchFamily="2" charset="-122"/>
              </a:rPr>
              <a:t>.place) }</a:t>
            </a:r>
            <a:endParaRPr lang="en-US" altLang="zh-CN" sz="1600" b="1" dirty="0">
              <a:ea typeface="宋体" panose="02010600030101010101" pitchFamily="2" charset="-122"/>
            </a:endParaRPr>
          </a:p>
          <a:p>
            <a:pPr lvl="1">
              <a:buNone/>
            </a:pPr>
            <a:r>
              <a:rPr lang="zh-CN" altLang="en-US" sz="2000" b="1" dirty="0">
                <a:ea typeface="宋体" panose="02010600030101010101" pitchFamily="2" charset="-122"/>
              </a:rPr>
              <a:t>(3) </a:t>
            </a:r>
            <a:r>
              <a:rPr lang="en-US" altLang="zh-CN" sz="1600" b="1" dirty="0">
                <a:ea typeface="宋体" panose="02010600030101010101" pitchFamily="2" charset="-122"/>
              </a:rPr>
              <a:t>E→ ( E )	{ E.place := E</a:t>
            </a:r>
            <a:r>
              <a:rPr lang="en-US" altLang="zh-CN" sz="1600" b="1" baseline="-25000" dirty="0">
                <a:ea typeface="宋体" panose="02010600030101010101" pitchFamily="2" charset="-122"/>
              </a:rPr>
              <a:t>1</a:t>
            </a:r>
            <a:r>
              <a:rPr lang="en-US" altLang="zh-CN" sz="1600" b="1" dirty="0">
                <a:ea typeface="宋体" panose="02010600030101010101" pitchFamily="2" charset="-122"/>
              </a:rPr>
              <a:t>.place }</a:t>
            </a:r>
            <a:endParaRPr lang="en-US" altLang="zh-CN" sz="1600" b="1" dirty="0">
              <a:ea typeface="宋体" panose="02010600030101010101" pitchFamily="2" charset="-122"/>
            </a:endParaRPr>
          </a:p>
          <a:p>
            <a:pPr lvl="1">
              <a:buNone/>
            </a:pPr>
            <a:r>
              <a:rPr lang="zh-CN" altLang="en-US" sz="2000" b="1" dirty="0">
                <a:ea typeface="宋体" panose="02010600030101010101" pitchFamily="2" charset="-122"/>
              </a:rPr>
              <a:t>(4) </a:t>
            </a:r>
            <a:r>
              <a:rPr lang="en-US" altLang="zh-CN" sz="1600" b="1" dirty="0">
                <a:ea typeface="宋体" panose="02010600030101010101" pitchFamily="2" charset="-122"/>
              </a:rPr>
              <a:t>E→ L	{if L.offset = null then	/* L</a:t>
            </a:r>
            <a:r>
              <a:rPr lang="zh-CN" altLang="en-US" sz="1600" b="1" dirty="0">
                <a:ea typeface="宋体" panose="02010600030101010101" pitchFamily="2" charset="-122"/>
              </a:rPr>
              <a:t>是简单名字*/</a:t>
            </a:r>
            <a:endParaRPr lang="zh-CN" altLang="en-US" sz="1600" b="1" dirty="0">
              <a:ea typeface="宋体" panose="02010600030101010101" pitchFamily="2" charset="-122"/>
            </a:endParaRPr>
          </a:p>
          <a:p>
            <a:pPr lvl="1">
              <a:buNone/>
            </a:pPr>
            <a:r>
              <a:rPr lang="zh-CN" altLang="en-US" sz="1600" b="1" dirty="0">
                <a:ea typeface="宋体" panose="02010600030101010101" pitchFamily="2" charset="-122"/>
              </a:rPr>
              <a:t>			      </a:t>
            </a:r>
            <a:r>
              <a:rPr lang="en-US" altLang="zh-CN" sz="1600" b="1" dirty="0">
                <a:ea typeface="宋体" panose="02010600030101010101" pitchFamily="2" charset="-122"/>
              </a:rPr>
              <a:t>E.place := L.place;</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			  else begin</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			      E.place := newtemp;</a:t>
            </a:r>
            <a:endParaRPr lang="en-US" altLang="zh-CN" sz="1600" b="1" dirty="0">
              <a:ea typeface="宋体" panose="02010600030101010101" pitchFamily="2" charset="-122"/>
            </a:endParaRPr>
          </a:p>
          <a:p>
            <a:pPr lvl="1">
              <a:buNone/>
            </a:pPr>
            <a:r>
              <a:rPr lang="zh-CN" altLang="en-US" sz="1600" b="1" dirty="0">
                <a:ea typeface="宋体" panose="02010600030101010101" pitchFamily="2" charset="-122"/>
              </a:rPr>
              <a:t>			      </a:t>
            </a:r>
            <a:r>
              <a:rPr lang="en-US" altLang="zh-CN" sz="1600" b="1" dirty="0">
                <a:ea typeface="宋体" panose="02010600030101010101" pitchFamily="2" charset="-122"/>
              </a:rPr>
              <a:t>emit( E.place ‘:=’ L.place ‘[’ L.offset ‘]’)</a:t>
            </a:r>
            <a:endParaRPr lang="en-US" altLang="zh-CN" sz="1600" b="1" dirty="0">
              <a:ea typeface="宋体" panose="02010600030101010101" pitchFamily="2" charset="-122"/>
            </a:endParaRPr>
          </a:p>
          <a:p>
            <a:pPr lvl="1">
              <a:buNone/>
            </a:pPr>
            <a:r>
              <a:rPr lang="zh-CN" altLang="en-US" sz="1600" b="1" dirty="0">
                <a:ea typeface="宋体" panose="02010600030101010101" pitchFamily="2" charset="-122"/>
              </a:rPr>
              <a:t>			  </a:t>
            </a:r>
            <a:r>
              <a:rPr lang="en-US" altLang="zh-CN" sz="1600" b="1" dirty="0">
                <a:ea typeface="宋体" panose="02010600030101010101" pitchFamily="2" charset="-122"/>
              </a:rPr>
              <a:t>end }</a:t>
            </a:r>
            <a:endParaRPr lang="en-US" altLang="zh-CN" sz="1600" b="1" dirty="0">
              <a:ea typeface="宋体" panose="02010600030101010101" pitchFamily="2" charset="-122"/>
            </a:endParaRPr>
          </a:p>
        </p:txBody>
      </p:sp>
    </p:spTree>
  </p:cSld>
  <p:clrMapOvr>
    <a:masterClrMapping/>
  </p:clrMapOvr>
  <p:transition spd="slow"/>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4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采用递推法计算数组元素地址（</a:t>
            </a:r>
            <a:r>
              <a:rPr lang="en-US" altLang="zh-CN" dirty="0">
                <a:latin typeface="Times New Roman" panose="02020603050405020304" pitchFamily="18" charset="0"/>
                <a:ea typeface="宋体" panose="02010600030101010101" pitchFamily="2" charset="-122"/>
              </a:rPr>
              <a:t>7</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17443" name="Rectangle 3"/>
          <p:cNvSpPr>
            <a:spLocks noGrp="1"/>
          </p:cNvSpPr>
          <p:nvPr>
            <p:ph idx="1"/>
          </p:nvPr>
        </p:nvSpPr>
        <p:spPr>
          <a:xfrm>
            <a:off x="990600" y="1524000"/>
            <a:ext cx="7391400" cy="4724400"/>
          </a:xfrm>
        </p:spPr>
        <p:txBody>
          <a:bodyPr vert="horz" wrap="square" lIns="92075" tIns="46038" rIns="92075" bIns="46038" anchor="t" anchorCtr="0"/>
          <a:p>
            <a:pPr lvl="1">
              <a:buNone/>
            </a:pPr>
            <a:r>
              <a:rPr lang="zh-CN" altLang="en-US" sz="2000" b="1" dirty="0">
                <a:ea typeface="宋体" panose="02010600030101010101" pitchFamily="2" charset="-122"/>
              </a:rPr>
              <a:t>(5) </a:t>
            </a:r>
            <a:r>
              <a:rPr lang="en-US" altLang="zh-CN" sz="1600" b="1" dirty="0">
                <a:ea typeface="宋体" panose="02010600030101010101" pitchFamily="2" charset="-122"/>
              </a:rPr>
              <a:t>L→ Elist ]	         { L.place := newtemp;</a:t>
            </a:r>
            <a:endParaRPr lang="zh-CN" altLang="en-US" sz="1600" b="1" dirty="0">
              <a:ea typeface="宋体" panose="02010600030101010101" pitchFamily="2" charset="-122"/>
            </a:endParaRPr>
          </a:p>
          <a:p>
            <a:pPr lvl="1">
              <a:buNone/>
            </a:pPr>
            <a:r>
              <a:rPr lang="zh-CN" altLang="en-US" sz="1600" b="1" dirty="0">
                <a:ea typeface="宋体" panose="02010600030101010101" pitchFamily="2" charset="-122"/>
              </a:rPr>
              <a:t>			            </a:t>
            </a:r>
            <a:r>
              <a:rPr lang="en-US" altLang="zh-CN" sz="1600" b="1" dirty="0">
                <a:ea typeface="宋体" panose="02010600030101010101" pitchFamily="2" charset="-122"/>
              </a:rPr>
              <a:t>emit( L.place ‘:=’ Elist.array ‘-’ invariant(Elist.array);</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			            L.offset := newtemp;</a:t>
            </a:r>
            <a:endParaRPr lang="en-US" altLang="zh-CN" sz="1600" b="1" dirty="0">
              <a:ea typeface="宋体" panose="02010600030101010101" pitchFamily="2" charset="-122"/>
            </a:endParaRPr>
          </a:p>
          <a:p>
            <a:pPr lvl="1">
              <a:buNone/>
            </a:pPr>
            <a:r>
              <a:rPr lang="zh-CN" altLang="en-US" sz="1600" b="1" dirty="0">
                <a:ea typeface="宋体" panose="02010600030101010101" pitchFamily="2" charset="-122"/>
              </a:rPr>
              <a:t>			            </a:t>
            </a:r>
            <a:r>
              <a:rPr lang="en-US" altLang="zh-CN" sz="1600" b="1" dirty="0">
                <a:ea typeface="宋体" panose="02010600030101010101" pitchFamily="2" charset="-122"/>
              </a:rPr>
              <a:t>emit( L.offset ‘ := ’ w ‘ * ’ Elist.place ) }</a:t>
            </a:r>
            <a:endParaRPr lang="en-US" altLang="zh-CN" sz="1600" b="1" dirty="0">
              <a:ea typeface="宋体" panose="02010600030101010101" pitchFamily="2" charset="-122"/>
            </a:endParaRPr>
          </a:p>
          <a:p>
            <a:pPr lvl="1">
              <a:buNone/>
            </a:pPr>
            <a:r>
              <a:rPr lang="zh-CN" altLang="en-US" sz="2000" b="1" dirty="0">
                <a:ea typeface="宋体" panose="02010600030101010101" pitchFamily="2" charset="-122"/>
              </a:rPr>
              <a:t>(6) </a:t>
            </a:r>
            <a:r>
              <a:rPr lang="en-US" altLang="zh-CN" sz="1600" b="1" dirty="0">
                <a:ea typeface="宋体" panose="02010600030101010101" pitchFamily="2" charset="-122"/>
              </a:rPr>
              <a:t>L→ id	         { L.place := id.place;</a:t>
            </a:r>
            <a:endParaRPr lang="zh-CN" altLang="en-US" sz="1600" b="1" dirty="0">
              <a:ea typeface="宋体" panose="02010600030101010101" pitchFamily="2" charset="-122"/>
            </a:endParaRPr>
          </a:p>
          <a:p>
            <a:pPr lvl="1">
              <a:buNone/>
            </a:pPr>
            <a:r>
              <a:rPr lang="zh-CN" altLang="en-US" sz="1600" b="1" dirty="0">
                <a:ea typeface="宋体" panose="02010600030101010101" pitchFamily="2" charset="-122"/>
              </a:rPr>
              <a:t>			            </a:t>
            </a:r>
            <a:r>
              <a:rPr lang="en-US" altLang="zh-CN" sz="1600" b="1" dirty="0">
                <a:ea typeface="宋体" panose="02010600030101010101" pitchFamily="2" charset="-122"/>
              </a:rPr>
              <a:t>L.offset := null }</a:t>
            </a:r>
            <a:endParaRPr lang="en-US" altLang="zh-CN" sz="1600" b="1" dirty="0">
              <a:ea typeface="宋体" panose="02010600030101010101" pitchFamily="2" charset="-122"/>
            </a:endParaRPr>
          </a:p>
          <a:p>
            <a:pPr lvl="1">
              <a:buNone/>
            </a:pPr>
            <a:r>
              <a:rPr lang="zh-CN" altLang="en-US" sz="2000" b="1" dirty="0">
                <a:ea typeface="宋体" panose="02010600030101010101" pitchFamily="2" charset="-122"/>
              </a:rPr>
              <a:t>(7) </a:t>
            </a:r>
            <a:r>
              <a:rPr lang="en-US" altLang="zh-CN" sz="1600" b="1" dirty="0">
                <a:ea typeface="宋体" panose="02010600030101010101" pitchFamily="2" charset="-122"/>
              </a:rPr>
              <a:t>Elist→ Elist</a:t>
            </a:r>
            <a:r>
              <a:rPr lang="en-US" altLang="zh-CN" sz="1600" b="1" baseline="-25000" dirty="0">
                <a:ea typeface="宋体" panose="02010600030101010101" pitchFamily="2" charset="-122"/>
              </a:rPr>
              <a:t>1</a:t>
            </a:r>
            <a:r>
              <a:rPr lang="en-US" altLang="zh-CN" sz="1600" b="1" dirty="0">
                <a:ea typeface="宋体" panose="02010600030101010101" pitchFamily="2" charset="-122"/>
              </a:rPr>
              <a:t> , E  { t := newtemp;</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			            m := Elist</a:t>
            </a:r>
            <a:r>
              <a:rPr lang="en-US" altLang="zh-CN" sz="1600" b="1" baseline="-25000" dirty="0">
                <a:ea typeface="宋体" panose="02010600030101010101" pitchFamily="2" charset="-122"/>
              </a:rPr>
              <a:t>1</a:t>
            </a:r>
            <a:r>
              <a:rPr lang="en-US" altLang="zh-CN" sz="1600" b="1" dirty="0">
                <a:ea typeface="宋体" panose="02010600030101010101" pitchFamily="2" charset="-122"/>
              </a:rPr>
              <a:t>.ndim + 1;</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			            emit( t ‘ := ’ Elist</a:t>
            </a:r>
            <a:r>
              <a:rPr lang="en-US" altLang="zh-CN" sz="1600" b="1" baseline="-25000" dirty="0">
                <a:ea typeface="宋体" panose="02010600030101010101" pitchFamily="2" charset="-122"/>
              </a:rPr>
              <a:t>1</a:t>
            </a:r>
            <a:r>
              <a:rPr lang="en-US" altLang="zh-CN" sz="1600" b="1" dirty="0">
                <a:ea typeface="宋体" panose="02010600030101010101" pitchFamily="2" charset="-122"/>
              </a:rPr>
              <a:t>.place ‘ * ’ limit( Elist</a:t>
            </a:r>
            <a:r>
              <a:rPr lang="en-US" altLang="zh-CN" sz="1600" b="1" baseline="-25000" dirty="0">
                <a:ea typeface="宋体" panose="02010600030101010101" pitchFamily="2" charset="-122"/>
              </a:rPr>
              <a:t>1</a:t>
            </a:r>
            <a:r>
              <a:rPr lang="en-US" altLang="zh-CN" sz="1600" b="1" dirty="0">
                <a:ea typeface="宋体" panose="02010600030101010101" pitchFamily="2" charset="-122"/>
              </a:rPr>
              <a:t>.array , m ));</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			            emit( t ‘ := ’ t </a:t>
            </a:r>
            <a:r>
              <a:rPr lang="zh-CN" altLang="en-US" sz="1600" b="1" dirty="0">
                <a:ea typeface="宋体" panose="02010600030101010101" pitchFamily="2" charset="-122"/>
              </a:rPr>
              <a:t>‘ + ’ </a:t>
            </a:r>
            <a:r>
              <a:rPr lang="en-US" altLang="zh-CN" sz="1600" b="1" dirty="0">
                <a:ea typeface="宋体" panose="02010600030101010101" pitchFamily="2" charset="-122"/>
              </a:rPr>
              <a:t>E.place);</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			            Elist.array := Elist</a:t>
            </a:r>
            <a:r>
              <a:rPr lang="en-US" altLang="zh-CN" sz="1600" b="1" baseline="-25000" dirty="0">
                <a:ea typeface="宋体" panose="02010600030101010101" pitchFamily="2" charset="-122"/>
              </a:rPr>
              <a:t>1</a:t>
            </a:r>
            <a:r>
              <a:rPr lang="en-US" altLang="zh-CN" sz="1600" b="1" dirty="0">
                <a:ea typeface="宋体" panose="02010600030101010101" pitchFamily="2" charset="-122"/>
              </a:rPr>
              <a:t>.array;</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			            Elist.place := t;</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			            Elist.ndim := m }</a:t>
            </a:r>
            <a:endParaRPr lang="en-US" altLang="zh-CN" sz="1600" b="1" dirty="0">
              <a:ea typeface="宋体" panose="02010600030101010101" pitchFamily="2" charset="-122"/>
            </a:endParaRPr>
          </a:p>
        </p:txBody>
      </p:sp>
    </p:spTree>
  </p:cSld>
  <p:clrMapOvr>
    <a:masterClrMapping/>
  </p:clrMapOvr>
  <p:transition spd="slow"/>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949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采用递推法计算数组元素地址（</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19491" name="Rectangle 3"/>
          <p:cNvSpPr>
            <a:spLocks noGrp="1"/>
          </p:cNvSpPr>
          <p:nvPr>
            <p:ph idx="1"/>
          </p:nvPr>
        </p:nvSpPr>
        <p:spPr>
          <a:xfrm>
            <a:off x="990600" y="1524000"/>
            <a:ext cx="7391400" cy="5029200"/>
          </a:xfrm>
        </p:spPr>
        <p:txBody>
          <a:bodyPr vert="horz" wrap="square" lIns="92075" tIns="46038" rIns="92075" bIns="46038" anchor="t" anchorCtr="0"/>
          <a:p>
            <a:pPr lvl="1">
              <a:lnSpc>
                <a:spcPct val="90000"/>
              </a:lnSpc>
              <a:buNone/>
            </a:pPr>
            <a:r>
              <a:rPr lang="zh-CN" altLang="en-US" sz="2000" b="1" dirty="0">
                <a:ea typeface="宋体" panose="02010600030101010101" pitchFamily="2" charset="-122"/>
              </a:rPr>
              <a:t>(8) </a:t>
            </a:r>
            <a:r>
              <a:rPr lang="en-US" altLang="zh-CN" sz="1600" b="1" dirty="0">
                <a:ea typeface="宋体" panose="02010600030101010101" pitchFamily="2" charset="-122"/>
              </a:rPr>
              <a:t>Elist→ id [ E       { Elist.place := E.place;</a:t>
            </a:r>
            <a:endParaRPr lang="en-US" altLang="zh-CN" sz="1600" b="1" dirty="0">
              <a:ea typeface="宋体" panose="02010600030101010101" pitchFamily="2" charset="-122"/>
            </a:endParaRPr>
          </a:p>
          <a:p>
            <a:pPr lvl="1">
              <a:lnSpc>
                <a:spcPct val="90000"/>
              </a:lnSpc>
              <a:buNone/>
            </a:pPr>
            <a:r>
              <a:rPr lang="en-US" altLang="zh-CN" sz="1600" b="1" dirty="0">
                <a:ea typeface="宋体" panose="02010600030101010101" pitchFamily="2" charset="-122"/>
              </a:rPr>
              <a:t>			            Elist.ndim := 1;</a:t>
            </a:r>
            <a:endParaRPr lang="en-US" altLang="zh-CN" sz="1600" b="1" dirty="0">
              <a:ea typeface="宋体" panose="02010600030101010101" pitchFamily="2" charset="-122"/>
            </a:endParaRPr>
          </a:p>
          <a:p>
            <a:pPr lvl="1">
              <a:lnSpc>
                <a:spcPct val="90000"/>
              </a:lnSpc>
              <a:buNone/>
            </a:pPr>
            <a:r>
              <a:rPr lang="en-US" altLang="zh-CN" sz="1600" b="1" dirty="0">
                <a:ea typeface="宋体" panose="02010600030101010101" pitchFamily="2" charset="-122"/>
              </a:rPr>
              <a:t>			            Elist.array := id.place }</a:t>
            </a:r>
            <a:endParaRPr lang="en-US" altLang="zh-CN" sz="1600" b="1" dirty="0">
              <a:ea typeface="宋体" panose="02010600030101010101" pitchFamily="2" charset="-122"/>
            </a:endParaRPr>
          </a:p>
          <a:p>
            <a:pPr lvl="1">
              <a:lnSpc>
                <a:spcPct val="90000"/>
              </a:lnSpc>
            </a:pPr>
            <a:r>
              <a:rPr lang="zh-CN" altLang="en-US" sz="2200" b="1" dirty="0">
                <a:ea typeface="宋体" panose="02010600030101010101" pitchFamily="2" charset="-122"/>
              </a:rPr>
              <a:t>例：</a:t>
            </a:r>
            <a:r>
              <a:rPr lang="en-US" altLang="zh-CN" sz="2200" b="1" dirty="0">
                <a:ea typeface="宋体" panose="02010600030101010101" pitchFamily="2" charset="-122"/>
              </a:rPr>
              <a:t>A</a:t>
            </a:r>
            <a:r>
              <a:rPr lang="zh-CN" altLang="en-US" sz="2200" b="1" dirty="0">
                <a:ea typeface="宋体" panose="02010600030101010101" pitchFamily="2" charset="-122"/>
              </a:rPr>
              <a:t>是10*20的数组，即</a:t>
            </a:r>
            <a:r>
              <a:rPr lang="en-US" altLang="zh-CN" sz="2200" b="1" dirty="0">
                <a:ea typeface="宋体" panose="02010600030101010101" pitchFamily="2" charset="-122"/>
              </a:rPr>
              <a:t>n</a:t>
            </a:r>
            <a:r>
              <a:rPr lang="en-US" altLang="zh-CN" sz="2200" b="1" baseline="-25000" dirty="0">
                <a:ea typeface="宋体" panose="02010600030101010101" pitchFamily="2" charset="-122"/>
              </a:rPr>
              <a:t>1</a:t>
            </a:r>
            <a:r>
              <a:rPr lang="en-US" altLang="zh-CN" sz="2200" b="1" dirty="0">
                <a:ea typeface="宋体" panose="02010600030101010101" pitchFamily="2" charset="-122"/>
              </a:rPr>
              <a:t>=10，n</a:t>
            </a:r>
            <a:r>
              <a:rPr lang="en-US" altLang="zh-CN" sz="2200" b="1" baseline="-25000" dirty="0">
                <a:ea typeface="宋体" panose="02010600030101010101" pitchFamily="2" charset="-122"/>
              </a:rPr>
              <a:t>2</a:t>
            </a:r>
            <a:r>
              <a:rPr lang="en-US" altLang="zh-CN" sz="2200" b="1" dirty="0">
                <a:ea typeface="宋体" panose="02010600030101010101" pitchFamily="2" charset="-122"/>
              </a:rPr>
              <a:t>=20，</a:t>
            </a:r>
            <a:r>
              <a:rPr lang="zh-CN" altLang="en-US" sz="2200" b="1" dirty="0">
                <a:ea typeface="宋体" panose="02010600030101010101" pitchFamily="2" charset="-122"/>
              </a:rPr>
              <a:t>取</a:t>
            </a:r>
            <a:r>
              <a:rPr lang="en-US" altLang="zh-CN" sz="2200" b="1" dirty="0">
                <a:ea typeface="宋体" panose="02010600030101010101" pitchFamily="2" charset="-122"/>
              </a:rPr>
              <a:t>w=4，</a:t>
            </a:r>
            <a:r>
              <a:rPr lang="zh-CN" altLang="en-US" sz="2200" b="1" dirty="0">
                <a:ea typeface="宋体" panose="02010600030101010101" pitchFamily="2" charset="-122"/>
              </a:rPr>
              <a:t>数组的第一个元素是</a:t>
            </a:r>
            <a:r>
              <a:rPr lang="en-US" altLang="zh-CN" sz="2200" b="1" dirty="0">
                <a:ea typeface="宋体" panose="02010600030101010101" pitchFamily="2" charset="-122"/>
              </a:rPr>
              <a:t>A[ 1 , 1 ]，</a:t>
            </a:r>
            <a:r>
              <a:rPr lang="zh-CN" altLang="en-US" sz="2200" b="1" dirty="0">
                <a:ea typeface="宋体" panose="02010600030101010101" pitchFamily="2" charset="-122"/>
              </a:rPr>
              <a:t>则有：</a:t>
            </a:r>
            <a:endParaRPr lang="zh-CN" altLang="en-US" sz="2200" b="1" dirty="0">
              <a:ea typeface="宋体" panose="02010600030101010101" pitchFamily="2" charset="-122"/>
            </a:endParaRPr>
          </a:p>
          <a:p>
            <a:pPr lvl="2">
              <a:lnSpc>
                <a:spcPct val="90000"/>
              </a:lnSpc>
              <a:buFont typeface="Wingdings" panose="05000000000000000000" pitchFamily="2" charset="2"/>
              <a:buNone/>
            </a:pPr>
            <a:r>
              <a:rPr lang="zh-CN" altLang="en-US" sz="2100" b="1" dirty="0">
                <a:ea typeface="宋体" panose="02010600030101010101" pitchFamily="2" charset="-122"/>
              </a:rPr>
              <a:t>( ( </a:t>
            </a:r>
            <a:r>
              <a:rPr lang="en-US" altLang="zh-CN" sz="2100" b="1" dirty="0">
                <a:ea typeface="宋体" panose="02010600030101010101" pitchFamily="2" charset="-122"/>
              </a:rPr>
              <a:t>low</a:t>
            </a:r>
            <a:r>
              <a:rPr lang="en-US" altLang="zh-CN" sz="2100" b="1" baseline="-25000" dirty="0">
                <a:ea typeface="宋体" panose="02010600030101010101" pitchFamily="2" charset="-122"/>
              </a:rPr>
              <a:t>1</a:t>
            </a:r>
            <a:r>
              <a:rPr lang="en-US" altLang="zh-CN" sz="2100" b="1" dirty="0">
                <a:ea typeface="宋体" panose="02010600030101010101" pitchFamily="2" charset="-122"/>
              </a:rPr>
              <a:t> * n</a:t>
            </a:r>
            <a:r>
              <a:rPr lang="en-US" altLang="zh-CN" sz="2100" b="1" baseline="-25000" dirty="0">
                <a:ea typeface="宋体" panose="02010600030101010101" pitchFamily="2" charset="-122"/>
              </a:rPr>
              <a:t>2</a:t>
            </a:r>
            <a:r>
              <a:rPr lang="en-US" altLang="zh-CN" sz="2100" b="1" dirty="0">
                <a:ea typeface="宋体" panose="02010600030101010101" pitchFamily="2" charset="-122"/>
              </a:rPr>
              <a:t> ) + low</a:t>
            </a:r>
            <a:r>
              <a:rPr lang="en-US" altLang="zh-CN" sz="2100" b="1" baseline="-25000" dirty="0">
                <a:ea typeface="宋体" panose="02010600030101010101" pitchFamily="2" charset="-122"/>
              </a:rPr>
              <a:t>2</a:t>
            </a:r>
            <a:r>
              <a:rPr lang="en-US" altLang="zh-CN" sz="2100" b="1" dirty="0">
                <a:ea typeface="宋体" panose="02010600030101010101" pitchFamily="2" charset="-122"/>
              </a:rPr>
              <a:t> ) * w = ( 1 * 20 + 1 ) * 4 = 84</a:t>
            </a:r>
            <a:endParaRPr lang="en-US" altLang="zh-CN" sz="2100" b="1" dirty="0">
              <a:ea typeface="宋体" panose="02010600030101010101" pitchFamily="2" charset="-122"/>
            </a:endParaRPr>
          </a:p>
          <a:p>
            <a:pPr lvl="1">
              <a:lnSpc>
                <a:spcPct val="90000"/>
              </a:lnSpc>
              <a:buNone/>
            </a:pPr>
            <a:r>
              <a:rPr lang="zh-CN" altLang="en-US" sz="2200" b="1" dirty="0">
                <a:ea typeface="宋体" panose="02010600030101010101" pitchFamily="2" charset="-122"/>
              </a:rPr>
              <a:t>	赋值语句</a:t>
            </a:r>
            <a:r>
              <a:rPr lang="en-US" altLang="zh-CN" sz="2200" b="1" dirty="0">
                <a:ea typeface="宋体" panose="02010600030101010101" pitchFamily="2" charset="-122"/>
              </a:rPr>
              <a:t>x:=A[y , z]</a:t>
            </a:r>
            <a:r>
              <a:rPr lang="zh-CN" altLang="en-US" sz="2200" b="1" dirty="0">
                <a:ea typeface="宋体" panose="02010600030101010101" pitchFamily="2" charset="-122"/>
              </a:rPr>
              <a:t>的三地址代码是：(其中每个变量，用它们的名字来代替</a:t>
            </a:r>
            <a:r>
              <a:rPr lang="en-US" altLang="zh-CN" sz="2200" b="1" dirty="0">
                <a:ea typeface="宋体" panose="02010600030101010101" pitchFamily="2" charset="-122"/>
              </a:rPr>
              <a:t>id.place)</a:t>
            </a:r>
            <a:endParaRPr lang="en-US" altLang="zh-CN" sz="2200" b="1" dirty="0">
              <a:ea typeface="宋体" panose="02010600030101010101" pitchFamily="2" charset="-122"/>
            </a:endParaRPr>
          </a:p>
          <a:p>
            <a:pPr lvl="2">
              <a:lnSpc>
                <a:spcPct val="90000"/>
              </a:lnSpc>
              <a:buFont typeface="Wingdings" panose="05000000000000000000" pitchFamily="2" charset="2"/>
              <a:buNone/>
            </a:pPr>
            <a:r>
              <a:rPr lang="zh-CN" altLang="en-US" sz="2100" b="1" dirty="0">
                <a:ea typeface="宋体" panose="02010600030101010101" pitchFamily="2" charset="-122"/>
              </a:rPr>
              <a:t>	</a:t>
            </a:r>
            <a:r>
              <a:rPr lang="en-US" altLang="zh-CN" sz="2100" b="1" dirty="0">
                <a:ea typeface="宋体" panose="02010600030101010101" pitchFamily="2" charset="-122"/>
              </a:rPr>
              <a:t>t</a:t>
            </a:r>
            <a:r>
              <a:rPr lang="en-US" altLang="zh-CN" sz="2100" b="1" baseline="-25000" dirty="0">
                <a:ea typeface="宋体" panose="02010600030101010101" pitchFamily="2" charset="-122"/>
              </a:rPr>
              <a:t>1</a:t>
            </a:r>
            <a:r>
              <a:rPr lang="en-US" altLang="zh-CN" sz="2100" b="1" dirty="0">
                <a:ea typeface="宋体" panose="02010600030101010101" pitchFamily="2" charset="-122"/>
              </a:rPr>
              <a:t> := y * 20</a:t>
            </a:r>
            <a:endParaRPr lang="en-US" altLang="zh-CN" sz="2100" b="1" dirty="0">
              <a:ea typeface="宋体" panose="02010600030101010101" pitchFamily="2" charset="-122"/>
            </a:endParaRPr>
          </a:p>
          <a:p>
            <a:pPr lvl="2">
              <a:lnSpc>
                <a:spcPct val="90000"/>
              </a:lnSpc>
              <a:buFont typeface="Wingdings" panose="05000000000000000000" pitchFamily="2" charset="2"/>
              <a:buNone/>
            </a:pPr>
            <a:r>
              <a:rPr lang="zh-CN" altLang="en-US" sz="2100" b="1" dirty="0">
                <a:ea typeface="宋体" panose="02010600030101010101" pitchFamily="2" charset="-122"/>
              </a:rPr>
              <a:t>	</a:t>
            </a:r>
            <a:r>
              <a:rPr lang="en-US" altLang="zh-CN" sz="2100" b="1" dirty="0">
                <a:ea typeface="宋体" panose="02010600030101010101" pitchFamily="2" charset="-122"/>
              </a:rPr>
              <a:t>t</a:t>
            </a:r>
            <a:r>
              <a:rPr lang="en-US" altLang="zh-CN" sz="2100" b="1" baseline="-25000" dirty="0">
                <a:ea typeface="宋体" panose="02010600030101010101" pitchFamily="2" charset="-122"/>
              </a:rPr>
              <a:t>1</a:t>
            </a:r>
            <a:r>
              <a:rPr lang="en-US" altLang="zh-CN" sz="2100" b="1" dirty="0">
                <a:ea typeface="宋体" panose="02010600030101010101" pitchFamily="2" charset="-122"/>
              </a:rPr>
              <a:t> := t</a:t>
            </a:r>
            <a:r>
              <a:rPr lang="en-US" altLang="zh-CN" sz="2100" b="1" baseline="-25000" dirty="0">
                <a:ea typeface="宋体" panose="02010600030101010101" pitchFamily="2" charset="-122"/>
              </a:rPr>
              <a:t>1</a:t>
            </a:r>
            <a:r>
              <a:rPr lang="en-US" altLang="zh-CN" sz="2100" b="1" dirty="0">
                <a:ea typeface="宋体" panose="02010600030101010101" pitchFamily="2" charset="-122"/>
              </a:rPr>
              <a:t> + z</a:t>
            </a:r>
            <a:endParaRPr lang="en-US" altLang="zh-CN" sz="2100" b="1" dirty="0">
              <a:ea typeface="宋体" panose="02010600030101010101" pitchFamily="2" charset="-122"/>
            </a:endParaRPr>
          </a:p>
          <a:p>
            <a:pPr lvl="2">
              <a:lnSpc>
                <a:spcPct val="90000"/>
              </a:lnSpc>
              <a:buFont typeface="Wingdings" panose="05000000000000000000" pitchFamily="2" charset="2"/>
              <a:buNone/>
            </a:pPr>
            <a:r>
              <a:rPr lang="zh-CN" altLang="en-US" sz="2100" b="1" dirty="0">
                <a:ea typeface="宋体" panose="02010600030101010101" pitchFamily="2" charset="-122"/>
              </a:rPr>
              <a:t>	</a:t>
            </a:r>
            <a:r>
              <a:rPr lang="en-US" altLang="zh-CN" sz="2100" b="1" dirty="0">
                <a:ea typeface="宋体" panose="02010600030101010101" pitchFamily="2" charset="-122"/>
              </a:rPr>
              <a:t>t</a:t>
            </a:r>
            <a:r>
              <a:rPr lang="en-US" altLang="zh-CN" sz="2100" b="1" baseline="-25000" dirty="0">
                <a:ea typeface="宋体" panose="02010600030101010101" pitchFamily="2" charset="-122"/>
              </a:rPr>
              <a:t>2</a:t>
            </a:r>
            <a:r>
              <a:rPr lang="en-US" altLang="zh-CN" sz="2100" b="1" dirty="0">
                <a:ea typeface="宋体" panose="02010600030101010101" pitchFamily="2" charset="-122"/>
              </a:rPr>
              <a:t> := A – 84</a:t>
            </a:r>
            <a:endParaRPr lang="en-US" altLang="zh-CN" sz="2100" b="1" dirty="0">
              <a:ea typeface="宋体" panose="02010600030101010101" pitchFamily="2" charset="-122"/>
            </a:endParaRPr>
          </a:p>
          <a:p>
            <a:pPr lvl="2">
              <a:lnSpc>
                <a:spcPct val="90000"/>
              </a:lnSpc>
              <a:buFont typeface="Wingdings" panose="05000000000000000000" pitchFamily="2" charset="2"/>
              <a:buNone/>
            </a:pPr>
            <a:r>
              <a:rPr lang="zh-CN" altLang="en-US" sz="2100" b="1" dirty="0">
                <a:ea typeface="宋体" panose="02010600030101010101" pitchFamily="2" charset="-122"/>
              </a:rPr>
              <a:t>	</a:t>
            </a:r>
            <a:r>
              <a:rPr lang="en-US" altLang="zh-CN" sz="2100" b="1" dirty="0">
                <a:ea typeface="宋体" panose="02010600030101010101" pitchFamily="2" charset="-122"/>
              </a:rPr>
              <a:t>t</a:t>
            </a:r>
            <a:r>
              <a:rPr lang="en-US" altLang="zh-CN" sz="2100" b="1" baseline="-25000" dirty="0">
                <a:ea typeface="宋体" panose="02010600030101010101" pitchFamily="2" charset="-122"/>
              </a:rPr>
              <a:t>3</a:t>
            </a:r>
            <a:r>
              <a:rPr lang="en-US" altLang="zh-CN" sz="2100" b="1" dirty="0">
                <a:ea typeface="宋体" panose="02010600030101010101" pitchFamily="2" charset="-122"/>
              </a:rPr>
              <a:t> := 4 * t</a:t>
            </a:r>
            <a:r>
              <a:rPr lang="en-US" altLang="zh-CN" sz="2100" b="1" baseline="-25000" dirty="0">
                <a:ea typeface="宋体" panose="02010600030101010101" pitchFamily="2" charset="-122"/>
              </a:rPr>
              <a:t>1</a:t>
            </a:r>
            <a:endParaRPr lang="en-US" altLang="zh-CN" sz="2100" b="1" baseline="-25000" dirty="0">
              <a:ea typeface="宋体" panose="02010600030101010101" pitchFamily="2" charset="-122"/>
            </a:endParaRPr>
          </a:p>
          <a:p>
            <a:pPr lvl="2">
              <a:lnSpc>
                <a:spcPct val="90000"/>
              </a:lnSpc>
              <a:buFont typeface="Wingdings" panose="05000000000000000000" pitchFamily="2" charset="2"/>
              <a:buNone/>
            </a:pPr>
            <a:r>
              <a:rPr lang="zh-CN" altLang="en-US" sz="2100" b="1" dirty="0">
                <a:ea typeface="宋体" panose="02010600030101010101" pitchFamily="2" charset="-122"/>
              </a:rPr>
              <a:t>	</a:t>
            </a:r>
            <a:r>
              <a:rPr lang="en-US" altLang="zh-CN" sz="2100" b="1" dirty="0">
                <a:ea typeface="宋体" panose="02010600030101010101" pitchFamily="2" charset="-122"/>
              </a:rPr>
              <a:t>t</a:t>
            </a:r>
            <a:r>
              <a:rPr lang="en-US" altLang="zh-CN" sz="2100" b="1" baseline="-25000" dirty="0">
                <a:ea typeface="宋体" panose="02010600030101010101" pitchFamily="2" charset="-122"/>
              </a:rPr>
              <a:t>4</a:t>
            </a:r>
            <a:r>
              <a:rPr lang="en-US" altLang="zh-CN" sz="2100" b="1" dirty="0">
                <a:ea typeface="宋体" panose="02010600030101010101" pitchFamily="2" charset="-122"/>
              </a:rPr>
              <a:t> := t</a:t>
            </a:r>
            <a:r>
              <a:rPr lang="en-US" altLang="zh-CN" sz="2100" b="1" baseline="-25000" dirty="0">
                <a:ea typeface="宋体" panose="02010600030101010101" pitchFamily="2" charset="-122"/>
              </a:rPr>
              <a:t>2</a:t>
            </a:r>
            <a:r>
              <a:rPr lang="en-US" altLang="zh-CN" sz="2100" b="1" dirty="0">
                <a:ea typeface="宋体" panose="02010600030101010101" pitchFamily="2" charset="-122"/>
              </a:rPr>
              <a:t>[ t</a:t>
            </a:r>
            <a:r>
              <a:rPr lang="en-US" altLang="zh-CN" sz="2100" b="1" baseline="-25000" dirty="0">
                <a:ea typeface="宋体" panose="02010600030101010101" pitchFamily="2" charset="-122"/>
              </a:rPr>
              <a:t>3</a:t>
            </a:r>
            <a:r>
              <a:rPr lang="en-US" altLang="zh-CN" sz="2100" b="1" dirty="0">
                <a:ea typeface="宋体" panose="02010600030101010101" pitchFamily="2" charset="-122"/>
              </a:rPr>
              <a:t> ]</a:t>
            </a:r>
            <a:endParaRPr lang="en-US" altLang="zh-CN" sz="2100" b="1" dirty="0">
              <a:ea typeface="宋体" panose="02010600030101010101" pitchFamily="2" charset="-122"/>
            </a:endParaRPr>
          </a:p>
          <a:p>
            <a:pPr lvl="2">
              <a:lnSpc>
                <a:spcPct val="90000"/>
              </a:lnSpc>
              <a:buFont typeface="Wingdings" panose="05000000000000000000" pitchFamily="2" charset="2"/>
              <a:buNone/>
            </a:pPr>
            <a:r>
              <a:rPr lang="en-US" altLang="zh-CN" sz="2100" b="1" dirty="0">
                <a:ea typeface="宋体" panose="02010600030101010101" pitchFamily="2" charset="-122"/>
              </a:rPr>
              <a:t>	x := t</a:t>
            </a:r>
            <a:r>
              <a:rPr lang="en-US" altLang="zh-CN" sz="2100" b="1" baseline="-25000" dirty="0">
                <a:ea typeface="宋体" panose="02010600030101010101" pitchFamily="2" charset="-122"/>
              </a:rPr>
              <a:t>4</a:t>
            </a:r>
            <a:endParaRPr lang="en-US" altLang="zh-CN" sz="2100" b="1" baseline="-25000" dirty="0">
              <a:ea typeface="宋体" panose="02010600030101010101" pitchFamily="2" charset="-122"/>
            </a:endParaRPr>
          </a:p>
        </p:txBody>
      </p:sp>
    </p:spTree>
  </p:cSld>
  <p:clrMapOvr>
    <a:masterClrMapping/>
  </p:clrMapOvr>
  <p:transition spd="slow"/>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21538" name="Object 7"/>
          <p:cNvGraphicFramePr>
            <a:graphicFrameLocks noChangeAspect="1"/>
          </p:cNvGraphicFramePr>
          <p:nvPr/>
        </p:nvGraphicFramePr>
        <p:xfrm>
          <a:off x="1219200" y="304800"/>
          <a:ext cx="5715000" cy="5867400"/>
        </p:xfrm>
        <a:graphic>
          <a:graphicData uri="http://schemas.openxmlformats.org/presentationml/2006/ole">
            <mc:AlternateContent xmlns:mc="http://schemas.openxmlformats.org/markup-compatibility/2006">
              <mc:Choice xmlns:v="urn:schemas-microsoft-com:vml" Requires="v">
                <p:oleObj spid="_x0000_s3095" name="" r:id="rId1" imgW="5466080" imgH="6903720" progId="Visio.Drawing.4">
                  <p:embed/>
                </p:oleObj>
              </mc:Choice>
              <mc:Fallback>
                <p:oleObj name="" r:id="rId1" imgW="5466080" imgH="6903720" progId="Visio.Drawing.4">
                  <p:embed/>
                  <p:pic>
                    <p:nvPicPr>
                      <p:cNvPr id="0" name="图片 3094"/>
                      <p:cNvPicPr/>
                      <p:nvPr/>
                    </p:nvPicPr>
                    <p:blipFill>
                      <a:blip r:embed="rId2"/>
                      <a:stretch>
                        <a:fillRect/>
                      </a:stretch>
                    </p:blipFill>
                    <p:spPr>
                      <a:xfrm>
                        <a:off x="1219200" y="304800"/>
                        <a:ext cx="5715000" cy="5867400"/>
                      </a:xfrm>
                      <a:prstGeom prst="rect">
                        <a:avLst/>
                      </a:prstGeom>
                      <a:noFill/>
                      <a:ln w="38100">
                        <a:noFill/>
                        <a:miter/>
                      </a:ln>
                    </p:spPr>
                  </p:pic>
                </p:oleObj>
              </mc:Fallback>
            </mc:AlternateContent>
          </a:graphicData>
        </a:graphic>
      </p:graphicFrame>
    </p:spTree>
  </p:cSld>
  <p:clrMapOvr>
    <a:masterClrMapping/>
  </p:clrMapOvr>
  <p:transition spd="slow"/>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358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过程声明的处理（1）</a:t>
            </a:r>
            <a:endParaRPr lang="zh-CN" altLang="en-US" dirty="0">
              <a:latin typeface="Times New Roman" panose="02020603050405020304" pitchFamily="18" charset="0"/>
              <a:ea typeface="宋体" panose="02010600030101010101" pitchFamily="2" charset="-122"/>
            </a:endParaRPr>
          </a:p>
        </p:txBody>
      </p:sp>
      <p:sp>
        <p:nvSpPr>
          <p:cNvPr id="323587"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过程的声明</a:t>
            </a:r>
            <a:endParaRPr lang="zh-CN" altLang="en-US" sz="2400" b="1" dirty="0">
              <a:ea typeface="宋体" panose="02010600030101010101" pitchFamily="2" charset="-122"/>
            </a:endParaRPr>
          </a:p>
          <a:p>
            <a:pPr lvl="1"/>
            <a:r>
              <a:rPr lang="zh-CN" altLang="en-US" sz="2200" b="1" dirty="0">
                <a:ea typeface="宋体" panose="02010600030101010101" pitchFamily="2" charset="-122"/>
              </a:rPr>
              <a:t>计算名字的类型和相对地址</a:t>
            </a:r>
            <a:endParaRPr lang="zh-CN" altLang="en-US" sz="2200" b="1" dirty="0">
              <a:ea typeface="宋体" panose="02010600030101010101" pitchFamily="2" charset="-122"/>
            </a:endParaRPr>
          </a:p>
          <a:p>
            <a:pPr lvl="1">
              <a:buNone/>
            </a:pPr>
            <a:r>
              <a:rPr lang="en-US" altLang="zh-CN" sz="1600" b="1" dirty="0">
                <a:ea typeface="宋体" panose="02010600030101010101" pitchFamily="2" charset="-122"/>
              </a:rPr>
              <a:t>P→			{ offset := 0 }</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	    D</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D→D ; D</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D→id : T		{ enter( id.name , T.type , offset );</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				   offset := offset + T.width }</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T→integer		{ T.type := integer;</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				   T.width := 4 }</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T→real		{ T.type := real;</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				   T.width := 8 }</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T→array [num] of T1	{ T.type := array( num.val , T1.type );</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				   T.width := num.val * T1.width }</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T→↑T1		{ T.type := pointer( T1.type );</a:t>
            </a:r>
            <a:endParaRPr lang="en-US" altLang="zh-CN" sz="1600" b="1" dirty="0">
              <a:ea typeface="宋体" panose="02010600030101010101" pitchFamily="2" charset="-122"/>
            </a:endParaRPr>
          </a:p>
          <a:p>
            <a:pPr lvl="1">
              <a:buNone/>
            </a:pPr>
            <a:r>
              <a:rPr lang="en-US" altLang="zh-CN" sz="1600" b="1" dirty="0">
                <a:ea typeface="宋体" panose="02010600030101010101" pitchFamily="2" charset="-122"/>
              </a:rPr>
              <a:t>				   T.width := 4 }</a:t>
            </a:r>
            <a:endParaRPr lang="en-US" altLang="zh-CN" sz="1600" b="1" dirty="0">
              <a:ea typeface="宋体" panose="02010600030101010101" pitchFamily="2" charset="-122"/>
            </a:endParaRPr>
          </a:p>
        </p:txBody>
      </p:sp>
    </p:spTree>
  </p:cSld>
  <p:clrMapOvr>
    <a:masterClrMapping/>
  </p:clrMapOvr>
  <p:transition spd="slow"/>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563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过程声明的处理（2）</a:t>
            </a:r>
            <a:endParaRPr lang="zh-CN" altLang="en-US" dirty="0">
              <a:latin typeface="Times New Roman" panose="02020603050405020304" pitchFamily="18" charset="0"/>
              <a:ea typeface="宋体" panose="02010600030101010101" pitchFamily="2" charset="-122"/>
            </a:endParaRPr>
          </a:p>
        </p:txBody>
      </p:sp>
      <p:sp>
        <p:nvSpPr>
          <p:cNvPr id="325635" name="Rectangle 3"/>
          <p:cNvSpPr>
            <a:spLocks noGrp="1"/>
          </p:cNvSpPr>
          <p:nvPr>
            <p:ph idx="1"/>
          </p:nvPr>
        </p:nvSpPr>
        <p:spPr>
          <a:xfrm>
            <a:off x="990600" y="1524000"/>
            <a:ext cx="7391400" cy="4724400"/>
          </a:xfrm>
        </p:spPr>
        <p:txBody>
          <a:bodyPr vert="horz" wrap="square" lIns="92075" tIns="46038" rIns="92075" bIns="46038" anchor="t" anchorCtr="0"/>
          <a:p>
            <a:pPr lvl="1"/>
            <a:r>
              <a:rPr lang="zh-CN" altLang="en-US" sz="2200" b="1" dirty="0">
                <a:ea typeface="宋体" panose="02010600030101010101" pitchFamily="2" charset="-122"/>
              </a:rPr>
              <a:t>综合属性</a:t>
            </a:r>
            <a:r>
              <a:rPr lang="en-US" altLang="zh-CN" sz="2200" b="1" dirty="0">
                <a:ea typeface="宋体" panose="02010600030101010101" pitchFamily="2" charset="-122"/>
              </a:rPr>
              <a:t>type</a:t>
            </a:r>
            <a:r>
              <a:rPr lang="zh-CN" altLang="en-US" sz="2200" b="1" dirty="0">
                <a:ea typeface="宋体" panose="02010600030101010101" pitchFamily="2" charset="-122"/>
              </a:rPr>
              <a:t>和</a:t>
            </a:r>
            <a:r>
              <a:rPr lang="en-US" altLang="zh-CN" sz="2200" b="1" dirty="0">
                <a:ea typeface="宋体" panose="02010600030101010101" pitchFamily="2" charset="-122"/>
              </a:rPr>
              <a:t>width</a:t>
            </a:r>
            <a:r>
              <a:rPr lang="zh-CN" altLang="en-US" sz="2200" b="1" dirty="0">
                <a:ea typeface="宋体" panose="02010600030101010101" pitchFamily="2" charset="-122"/>
              </a:rPr>
              <a:t>表示非终结符的类型和宽度</a:t>
            </a:r>
            <a:endParaRPr lang="zh-CN" altLang="en-US" sz="2200" b="1" dirty="0">
              <a:ea typeface="宋体" panose="02010600030101010101" pitchFamily="2" charset="-122"/>
            </a:endParaRPr>
          </a:p>
          <a:p>
            <a:pPr lvl="1"/>
            <a:r>
              <a:rPr lang="zh-CN" altLang="en-US" sz="2200" b="1" dirty="0">
                <a:ea typeface="宋体" panose="02010600030101010101" pitchFamily="2" charset="-122"/>
              </a:rPr>
              <a:t>初始化的工作由第一个产生式完成</a:t>
            </a:r>
            <a:endParaRPr lang="zh-CN" altLang="en-US" sz="2200" b="1" dirty="0">
              <a:ea typeface="宋体" panose="02010600030101010101" pitchFamily="2" charset="-122"/>
            </a:endParaRPr>
          </a:p>
          <a:p>
            <a:pPr lvl="1">
              <a:buNone/>
            </a:pPr>
            <a:r>
              <a:rPr lang="en-US" altLang="zh-CN" sz="1800" b="1" dirty="0">
                <a:ea typeface="宋体" panose="02010600030101010101" pitchFamily="2" charset="-122"/>
              </a:rPr>
              <a:t>		P→ { offset := 0 }  D</a:t>
            </a:r>
            <a:endParaRPr lang="en-US" altLang="zh-CN" sz="1800" b="1" dirty="0">
              <a:ea typeface="宋体" panose="02010600030101010101" pitchFamily="2" charset="-122"/>
            </a:endParaRPr>
          </a:p>
          <a:p>
            <a:pPr lvl="1"/>
            <a:r>
              <a:rPr lang="zh-CN" altLang="en-US" sz="2200" b="1" dirty="0">
                <a:ea typeface="宋体" panose="02010600030101010101" pitchFamily="2" charset="-122"/>
              </a:rPr>
              <a:t>改写上述产生式，使得所有动作出现在产生式的右部的末端</a:t>
            </a:r>
            <a:endParaRPr lang="zh-CN" altLang="en-US" sz="2200" b="1" dirty="0">
              <a:ea typeface="宋体" panose="02010600030101010101" pitchFamily="2" charset="-122"/>
            </a:endParaRPr>
          </a:p>
          <a:p>
            <a:pPr lvl="1">
              <a:buNone/>
            </a:pPr>
            <a:r>
              <a:rPr lang="en-US" altLang="zh-CN" sz="1800" b="1" dirty="0">
                <a:ea typeface="宋体" panose="02010600030101010101" pitchFamily="2" charset="-122"/>
              </a:rPr>
              <a:t>	P→ M D</a:t>
            </a:r>
            <a:endParaRPr lang="en-US" altLang="zh-CN" sz="1800" b="1" dirty="0">
              <a:ea typeface="宋体" panose="02010600030101010101" pitchFamily="2" charset="-122"/>
            </a:endParaRPr>
          </a:p>
          <a:p>
            <a:pPr lvl="1">
              <a:buNone/>
            </a:pPr>
            <a:r>
              <a:rPr lang="en-US" altLang="zh-CN" sz="1800" b="1" dirty="0">
                <a:ea typeface="宋体" panose="02010600030101010101" pitchFamily="2" charset="-122"/>
              </a:rPr>
              <a:t>	M→ε 	{ offset := 0 }</a:t>
            </a:r>
            <a:endParaRPr lang="en-US" altLang="zh-CN" sz="1800" b="1" dirty="0">
              <a:ea typeface="宋体" panose="02010600030101010101" pitchFamily="2" charset="-122"/>
            </a:endParaRPr>
          </a:p>
          <a:p>
            <a:pPr lvl="1"/>
            <a:endParaRPr lang="zh-CN" altLang="en-US" sz="2200" b="1" dirty="0">
              <a:ea typeface="宋体" panose="02010600030101010101" pitchFamily="2" charset="-122"/>
            </a:endParaRPr>
          </a:p>
        </p:txBody>
      </p:sp>
    </p:spTree>
  </p:cSld>
  <p:clrMapOvr>
    <a:masterClrMapping/>
  </p:clrMapOvr>
  <p:transition spd="slow"/>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8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作用域信息的保存（1）</a:t>
            </a:r>
            <a:endParaRPr lang="zh-CN" altLang="en-US" dirty="0">
              <a:latin typeface="Times New Roman" panose="02020603050405020304" pitchFamily="18" charset="0"/>
              <a:ea typeface="宋体" panose="02010600030101010101" pitchFamily="2" charset="-122"/>
            </a:endParaRPr>
          </a:p>
        </p:txBody>
      </p:sp>
      <p:sp>
        <p:nvSpPr>
          <p:cNvPr id="327683"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嵌套过程的声明</a:t>
            </a:r>
            <a:endParaRPr lang="zh-CN" altLang="en-US" sz="2400" b="1" dirty="0">
              <a:ea typeface="宋体" panose="02010600030101010101" pitchFamily="2" charset="-122"/>
            </a:endParaRPr>
          </a:p>
          <a:p>
            <a:pPr lvl="1">
              <a:buNone/>
            </a:pPr>
            <a:r>
              <a:rPr lang="en-US" altLang="zh-CN" sz="1800" b="1" dirty="0">
                <a:ea typeface="宋体" panose="02010600030101010101" pitchFamily="2" charset="-122"/>
              </a:rPr>
              <a:t>		P→ D</a:t>
            </a:r>
            <a:endParaRPr lang="en-US" altLang="zh-CN" sz="1800" b="1" dirty="0">
              <a:ea typeface="宋体" panose="02010600030101010101" pitchFamily="2" charset="-122"/>
            </a:endParaRPr>
          </a:p>
          <a:p>
            <a:pPr lvl="1">
              <a:buNone/>
            </a:pPr>
            <a:r>
              <a:rPr lang="en-US" altLang="zh-CN" sz="1800" b="1" dirty="0">
                <a:ea typeface="宋体" panose="02010600030101010101" pitchFamily="2" charset="-122"/>
              </a:rPr>
              <a:t>		D→ D ; D | id : T | proc id ; D ; S</a:t>
            </a:r>
            <a:endParaRPr lang="en-US" altLang="zh-CN" sz="1800" b="1" dirty="0">
              <a:ea typeface="宋体" panose="02010600030101010101" pitchFamily="2" charset="-122"/>
            </a:endParaRPr>
          </a:p>
          <a:p>
            <a:pPr lvl="1"/>
            <a:r>
              <a:rPr lang="zh-CN" altLang="en-US" sz="2200" b="1" dirty="0">
                <a:ea typeface="宋体" panose="02010600030101010101" pitchFamily="2" charset="-122"/>
              </a:rPr>
              <a:t>在处理嵌套过程时，外面过程的处理暂时停止</a:t>
            </a:r>
            <a:endParaRPr lang="zh-CN" altLang="en-US" sz="2200" b="1" dirty="0">
              <a:ea typeface="宋体" panose="02010600030101010101" pitchFamily="2" charset="-122"/>
            </a:endParaRPr>
          </a:p>
          <a:p>
            <a:pPr lvl="1"/>
            <a:r>
              <a:rPr lang="zh-CN" altLang="en-US" sz="2200" b="1" dirty="0">
                <a:ea typeface="宋体" panose="02010600030101010101" pitchFamily="2" charset="-122"/>
              </a:rPr>
              <a:t>符号表的处理：可以简单地为每个过程建立一个独立的符号表</a:t>
            </a:r>
            <a:endParaRPr lang="zh-CN" altLang="en-US" sz="2200" b="1" dirty="0">
              <a:ea typeface="宋体" panose="02010600030101010101" pitchFamily="2" charset="-122"/>
            </a:endParaRPr>
          </a:p>
          <a:p>
            <a:pPr lvl="2"/>
            <a:r>
              <a:rPr lang="en-US" altLang="zh-CN" sz="2000" b="1" dirty="0">
                <a:ea typeface="宋体" panose="02010600030101010101" pitchFamily="2" charset="-122"/>
              </a:rPr>
              <a:t>mktable(previous)</a:t>
            </a:r>
            <a:endParaRPr lang="en-US" altLang="zh-CN" sz="2000" b="1" dirty="0">
              <a:ea typeface="宋体" panose="02010600030101010101" pitchFamily="2" charset="-122"/>
            </a:endParaRPr>
          </a:p>
          <a:p>
            <a:pPr lvl="2"/>
            <a:r>
              <a:rPr lang="en-US" altLang="zh-CN" sz="2000" b="1" dirty="0">
                <a:ea typeface="宋体" panose="02010600030101010101" pitchFamily="2" charset="-122"/>
              </a:rPr>
              <a:t>enter(table, name, type, offset)</a:t>
            </a:r>
            <a:endParaRPr lang="en-US" altLang="zh-CN" sz="2000" b="1" dirty="0">
              <a:ea typeface="宋体" panose="02010600030101010101" pitchFamily="2" charset="-122"/>
            </a:endParaRPr>
          </a:p>
          <a:p>
            <a:pPr lvl="2"/>
            <a:r>
              <a:rPr lang="en-US" altLang="zh-CN" sz="2000" b="1" dirty="0">
                <a:ea typeface="宋体" panose="02010600030101010101" pitchFamily="2" charset="-122"/>
              </a:rPr>
              <a:t>addwidth(table, width)：</a:t>
            </a:r>
            <a:r>
              <a:rPr lang="zh-CN" altLang="en-US" sz="2000" b="1" dirty="0">
                <a:ea typeface="宋体" panose="02010600030101010101" pitchFamily="2" charset="-122"/>
              </a:rPr>
              <a:t>记录符号表</a:t>
            </a:r>
            <a:r>
              <a:rPr lang="en-US" altLang="zh-CN" sz="2000" b="1" dirty="0">
                <a:ea typeface="宋体" panose="02010600030101010101" pitchFamily="2" charset="-122"/>
              </a:rPr>
              <a:t>table</a:t>
            </a:r>
            <a:r>
              <a:rPr lang="zh-CN" altLang="en-US" sz="2000" b="1" dirty="0">
                <a:ea typeface="宋体" panose="02010600030101010101" pitchFamily="2" charset="-122"/>
              </a:rPr>
              <a:t>中所有条目的累加宽度</a:t>
            </a:r>
            <a:endParaRPr lang="zh-CN" altLang="en-US" sz="2000" b="1" dirty="0">
              <a:ea typeface="宋体" panose="02010600030101010101" pitchFamily="2" charset="-122"/>
            </a:endParaRPr>
          </a:p>
          <a:p>
            <a:pPr lvl="2"/>
            <a:r>
              <a:rPr lang="en-US" altLang="zh-CN" sz="2000" b="1" dirty="0">
                <a:ea typeface="宋体" panose="02010600030101010101" pitchFamily="2" charset="-122"/>
              </a:rPr>
              <a:t>enterproc(table, name, newtable)</a:t>
            </a:r>
            <a:endParaRPr lang="zh-CN" altLang="en-US" sz="2000" b="1" dirty="0">
              <a:ea typeface="宋体" panose="02010600030101010101" pitchFamily="2" charset="-122"/>
            </a:endParaRPr>
          </a:p>
        </p:txBody>
      </p:sp>
    </p:spTree>
  </p:cSld>
  <p:clrMapOvr>
    <a:masterClrMapping/>
  </p:clrMapOvr>
  <p:transition spd="slow"/>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973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作用域信息的保存（2）</a:t>
            </a:r>
            <a:endParaRPr lang="zh-CN" altLang="en-US" dirty="0">
              <a:latin typeface="Times New Roman" panose="02020603050405020304" pitchFamily="18" charset="0"/>
              <a:ea typeface="宋体" panose="02010600030101010101" pitchFamily="2" charset="-122"/>
            </a:endParaRPr>
          </a:p>
        </p:txBody>
      </p:sp>
      <p:sp>
        <p:nvSpPr>
          <p:cNvPr id="329731" name="Rectangle 3"/>
          <p:cNvSpPr>
            <a:spLocks noGrp="1"/>
          </p:cNvSpPr>
          <p:nvPr>
            <p:ph idx="1"/>
          </p:nvPr>
        </p:nvSpPr>
        <p:spPr>
          <a:xfrm>
            <a:off x="990600" y="1524000"/>
            <a:ext cx="7391400" cy="4724400"/>
          </a:xfrm>
        </p:spPr>
        <p:txBody>
          <a:bodyPr vert="horz" wrap="square" lIns="92075" tIns="46038" rIns="92075" bIns="46038" anchor="t" anchorCtr="0"/>
          <a:p>
            <a:pPr>
              <a:buNone/>
            </a:pPr>
            <a:r>
              <a:rPr lang="en-US" altLang="zh-CN" sz="1800" b="1" dirty="0">
                <a:ea typeface="宋体" panose="02010600030101010101" pitchFamily="2" charset="-122"/>
              </a:rPr>
              <a:t>P→ M D		        { addwidth( top( tblptr ) , top( offset ) );</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pop( tblptr ); pop( offset ) }</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M→ ε		        { t := mktable( nil );</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push( t , tblptr ); push( 0 , offset ) }</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D→D1 ; D2</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D→proc id ; N D1 ;  S  { t := top( tblptr );</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addwidth( t , top( offset ) );</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pop( tblptr ); pop( offset );</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enterproc( top( tblptr ), id.name, t ) }</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D→id : T	       {enter( top(tblptr), id.name , T.type , top( offset ) );</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top( offset ) := top( offset ) + T.width }</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N→ε		        { t := mktable( top( tblptr ) );</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push( t , tblptr ); push( 0 , offset ) }</a:t>
            </a:r>
            <a:endParaRPr lang="en-US" altLang="zh-CN" sz="1800" b="1" dirty="0">
              <a:ea typeface="宋体" panose="02010600030101010101" pitchFamily="2" charset="-122"/>
            </a:endParaRPr>
          </a:p>
        </p:txBody>
      </p:sp>
    </p:spTree>
  </p:cSld>
  <p:clrMapOvr>
    <a:masterClrMapping/>
  </p:clrMapOvr>
  <p:transition spd="slow"/>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177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作用域信息的保存（3）</a:t>
            </a:r>
            <a:endParaRPr lang="zh-CN" altLang="en-US" dirty="0">
              <a:latin typeface="Times New Roman" panose="02020603050405020304" pitchFamily="18" charset="0"/>
              <a:ea typeface="宋体" panose="02010600030101010101" pitchFamily="2" charset="-122"/>
            </a:endParaRPr>
          </a:p>
        </p:txBody>
      </p:sp>
      <p:sp>
        <p:nvSpPr>
          <p:cNvPr id="331779" name="Rectangle 3"/>
          <p:cNvSpPr>
            <a:spLocks noGrp="1"/>
          </p:cNvSpPr>
          <p:nvPr>
            <p:ph idx="1"/>
          </p:nvPr>
        </p:nvSpPr>
        <p:spPr>
          <a:xfrm>
            <a:off x="990600" y="1524000"/>
            <a:ext cx="7391400" cy="4724400"/>
          </a:xfrm>
        </p:spPr>
        <p:txBody>
          <a:bodyPr vert="horz" wrap="square" lIns="92075" tIns="46038" rIns="92075" bIns="46038" anchor="t" anchorCtr="0"/>
          <a:p>
            <a:pPr>
              <a:lnSpc>
                <a:spcPct val="90000"/>
              </a:lnSpc>
            </a:pPr>
            <a:r>
              <a:rPr lang="zh-CN" altLang="en-US" sz="2000" b="1" dirty="0">
                <a:ea typeface="宋体" panose="02010600030101010101" pitchFamily="2" charset="-122"/>
              </a:rPr>
              <a:t>非终结符</a:t>
            </a:r>
            <a:r>
              <a:rPr lang="en-US" altLang="zh-CN" sz="2000" b="1" dirty="0">
                <a:ea typeface="宋体" panose="02010600030101010101" pitchFamily="2" charset="-122"/>
              </a:rPr>
              <a:t>M</a:t>
            </a:r>
            <a:r>
              <a:rPr lang="zh-CN" altLang="en-US" sz="2000" b="1" dirty="0">
                <a:ea typeface="宋体" panose="02010600030101010101" pitchFamily="2" charset="-122"/>
              </a:rPr>
              <a:t>的语义动作最先完成</a:t>
            </a:r>
            <a:endParaRPr lang="zh-CN" altLang="en-US" sz="2000" b="1" dirty="0">
              <a:ea typeface="宋体" panose="02010600030101010101" pitchFamily="2" charset="-122"/>
            </a:endParaRPr>
          </a:p>
          <a:p>
            <a:pPr lvl="1">
              <a:lnSpc>
                <a:spcPct val="90000"/>
              </a:lnSpc>
            </a:pPr>
            <a:r>
              <a:rPr lang="zh-CN" altLang="en-US" sz="1800" b="1" dirty="0">
                <a:ea typeface="宋体" panose="02010600030101010101" pitchFamily="2" charset="-122"/>
              </a:rPr>
              <a:t>建立最外层作用域的符号表</a:t>
            </a:r>
            <a:endParaRPr lang="zh-CN" altLang="en-US" sz="1800" b="1" dirty="0">
              <a:ea typeface="宋体" panose="02010600030101010101" pitchFamily="2" charset="-122"/>
            </a:endParaRPr>
          </a:p>
          <a:p>
            <a:pPr lvl="1">
              <a:lnSpc>
                <a:spcPct val="90000"/>
              </a:lnSpc>
            </a:pPr>
            <a:r>
              <a:rPr lang="zh-CN" altLang="en-US" sz="1800" b="1" dirty="0">
                <a:ea typeface="宋体" panose="02010600030101010101" pitchFamily="2" charset="-122"/>
              </a:rPr>
              <a:t>用最外层符号表初始栈</a:t>
            </a:r>
            <a:r>
              <a:rPr lang="en-US" altLang="zh-CN" sz="1800" b="1" dirty="0">
                <a:ea typeface="宋体" panose="02010600030101010101" pitchFamily="2" charset="-122"/>
              </a:rPr>
              <a:t>tblptr</a:t>
            </a:r>
            <a:endParaRPr lang="en-US" altLang="zh-CN" sz="1800" b="1" dirty="0">
              <a:ea typeface="宋体" panose="02010600030101010101" pitchFamily="2" charset="-122"/>
            </a:endParaRPr>
          </a:p>
          <a:p>
            <a:pPr lvl="1">
              <a:lnSpc>
                <a:spcPct val="90000"/>
              </a:lnSpc>
            </a:pPr>
            <a:r>
              <a:rPr lang="zh-CN" altLang="en-US" sz="1800" b="1" dirty="0">
                <a:ea typeface="宋体" panose="02010600030101010101" pitchFamily="2" charset="-122"/>
              </a:rPr>
              <a:t>用0初始化</a:t>
            </a:r>
            <a:r>
              <a:rPr lang="en-US" altLang="zh-CN" sz="1800" b="1" dirty="0">
                <a:ea typeface="宋体" panose="02010600030101010101" pitchFamily="2" charset="-122"/>
              </a:rPr>
              <a:t>offset</a:t>
            </a:r>
            <a:r>
              <a:rPr lang="zh-CN" altLang="en-US" sz="1800" b="1" dirty="0">
                <a:ea typeface="宋体" panose="02010600030101010101" pitchFamily="2" charset="-122"/>
              </a:rPr>
              <a:t>栈</a:t>
            </a:r>
            <a:endParaRPr lang="zh-CN" altLang="en-US" sz="1800" b="1" dirty="0">
              <a:ea typeface="宋体" panose="02010600030101010101" pitchFamily="2" charset="-122"/>
            </a:endParaRPr>
          </a:p>
          <a:p>
            <a:pPr>
              <a:lnSpc>
                <a:spcPct val="90000"/>
              </a:lnSpc>
            </a:pPr>
            <a:r>
              <a:rPr lang="zh-CN" altLang="en-US" sz="2000" b="1" dirty="0">
                <a:ea typeface="宋体" panose="02010600030101010101" pitchFamily="2" charset="-122"/>
              </a:rPr>
              <a:t>非终结符</a:t>
            </a:r>
            <a:r>
              <a:rPr lang="en-US" altLang="zh-CN" sz="2000" b="1" dirty="0">
                <a:ea typeface="宋体" panose="02010600030101010101" pitchFamily="2" charset="-122"/>
              </a:rPr>
              <a:t>N</a:t>
            </a:r>
            <a:r>
              <a:rPr lang="zh-CN" altLang="en-US" sz="2000" b="1" dirty="0">
                <a:ea typeface="宋体" panose="02010600030101010101" pitchFamily="2" charset="-122"/>
              </a:rPr>
              <a:t>的语义动作</a:t>
            </a:r>
            <a:endParaRPr lang="zh-CN" altLang="en-US" sz="2000" b="1" dirty="0">
              <a:ea typeface="宋体" panose="02010600030101010101" pitchFamily="2" charset="-122"/>
            </a:endParaRPr>
          </a:p>
          <a:p>
            <a:pPr lvl="1">
              <a:lnSpc>
                <a:spcPct val="90000"/>
              </a:lnSpc>
            </a:pPr>
            <a:r>
              <a:rPr lang="zh-CN" altLang="en-US" sz="1800" b="1" dirty="0">
                <a:ea typeface="宋体" panose="02010600030101010101" pitchFamily="2" charset="-122"/>
              </a:rPr>
              <a:t>建立一个新的作用域的符号表</a:t>
            </a:r>
            <a:endParaRPr lang="zh-CN" altLang="en-US" sz="1800" b="1" dirty="0">
              <a:ea typeface="宋体" panose="02010600030101010101" pitchFamily="2" charset="-122"/>
            </a:endParaRPr>
          </a:p>
          <a:p>
            <a:pPr lvl="1">
              <a:lnSpc>
                <a:spcPct val="90000"/>
              </a:lnSpc>
            </a:pPr>
            <a:r>
              <a:rPr lang="zh-CN" altLang="en-US" sz="1800" b="1" dirty="0">
                <a:ea typeface="宋体" panose="02010600030101010101" pitchFamily="2" charset="-122"/>
              </a:rPr>
              <a:t>在符号表栈中压入新的符号表指针</a:t>
            </a:r>
            <a:endParaRPr lang="zh-CN" altLang="en-US" sz="1800" b="1" dirty="0">
              <a:ea typeface="宋体" panose="02010600030101010101" pitchFamily="2" charset="-122"/>
            </a:endParaRPr>
          </a:p>
          <a:p>
            <a:pPr lvl="1">
              <a:lnSpc>
                <a:spcPct val="90000"/>
              </a:lnSpc>
            </a:pPr>
            <a:r>
              <a:rPr lang="zh-CN" altLang="en-US" sz="1800" b="1" dirty="0">
                <a:ea typeface="宋体" panose="02010600030101010101" pitchFamily="2" charset="-122"/>
              </a:rPr>
              <a:t>用0作为</a:t>
            </a:r>
            <a:r>
              <a:rPr lang="en-US" altLang="zh-CN" sz="1800" b="1" dirty="0">
                <a:ea typeface="宋体" panose="02010600030101010101" pitchFamily="2" charset="-122"/>
              </a:rPr>
              <a:t>offset</a:t>
            </a:r>
            <a:r>
              <a:rPr lang="zh-CN" altLang="en-US" sz="1800" b="1" dirty="0">
                <a:ea typeface="宋体" panose="02010600030101010101" pitchFamily="2" charset="-122"/>
              </a:rPr>
              <a:t>栈顶</a:t>
            </a:r>
            <a:endParaRPr lang="zh-CN" altLang="en-US" sz="1800" b="1" dirty="0">
              <a:ea typeface="宋体" panose="02010600030101010101" pitchFamily="2" charset="-122"/>
            </a:endParaRPr>
          </a:p>
          <a:p>
            <a:pPr>
              <a:lnSpc>
                <a:spcPct val="90000"/>
              </a:lnSpc>
            </a:pPr>
            <a:r>
              <a:rPr lang="zh-CN" altLang="en-US" sz="2000" b="1" dirty="0">
                <a:ea typeface="宋体" panose="02010600030101010101" pitchFamily="2" charset="-122"/>
              </a:rPr>
              <a:t>变量声明</a:t>
            </a:r>
            <a:r>
              <a:rPr lang="en-US" altLang="zh-CN" sz="2000" b="1" dirty="0">
                <a:ea typeface="宋体" panose="02010600030101010101" pitchFamily="2" charset="-122"/>
              </a:rPr>
              <a:t>id : T</a:t>
            </a:r>
            <a:r>
              <a:rPr lang="zh-CN" altLang="en-US" sz="2000" b="1" dirty="0">
                <a:ea typeface="宋体" panose="02010600030101010101" pitchFamily="2" charset="-122"/>
              </a:rPr>
              <a:t>不改变符号表栈</a:t>
            </a:r>
            <a:endParaRPr lang="zh-CN" altLang="en-US" sz="2000" b="1" dirty="0">
              <a:ea typeface="宋体" panose="02010600030101010101" pitchFamily="2" charset="-122"/>
            </a:endParaRPr>
          </a:p>
          <a:p>
            <a:pPr lvl="1">
              <a:lnSpc>
                <a:spcPct val="90000"/>
              </a:lnSpc>
            </a:pPr>
            <a:r>
              <a:rPr lang="zh-CN" altLang="en-US" sz="1800" b="1" dirty="0">
                <a:ea typeface="宋体" panose="02010600030101010101" pitchFamily="2" charset="-122"/>
              </a:rPr>
              <a:t>建立新的符号条目</a:t>
            </a:r>
            <a:endParaRPr lang="zh-CN" altLang="en-US" sz="1800" b="1" dirty="0">
              <a:ea typeface="宋体" panose="02010600030101010101" pitchFamily="2" charset="-122"/>
            </a:endParaRPr>
          </a:p>
          <a:p>
            <a:pPr lvl="1">
              <a:lnSpc>
                <a:spcPct val="90000"/>
              </a:lnSpc>
            </a:pPr>
            <a:r>
              <a:rPr lang="zh-CN" altLang="en-US" sz="1800" b="1" dirty="0">
                <a:ea typeface="宋体" panose="02010600030101010101" pitchFamily="2" charset="-122"/>
              </a:rPr>
              <a:t>累加符号的宽度</a:t>
            </a:r>
            <a:endParaRPr lang="zh-CN" altLang="en-US" sz="1800" b="1" dirty="0">
              <a:ea typeface="宋体" panose="02010600030101010101" pitchFamily="2" charset="-122"/>
            </a:endParaRPr>
          </a:p>
          <a:p>
            <a:pPr>
              <a:lnSpc>
                <a:spcPct val="90000"/>
              </a:lnSpc>
            </a:pPr>
            <a:r>
              <a:rPr lang="zh-CN" altLang="en-US" sz="2000" b="1" dirty="0">
                <a:ea typeface="宋体" panose="02010600030101010101" pitchFamily="2" charset="-122"/>
              </a:rPr>
              <a:t>过程的声明处理结束时</a:t>
            </a:r>
            <a:endParaRPr lang="zh-CN" altLang="en-US" sz="2000" b="1" dirty="0">
              <a:ea typeface="宋体" panose="02010600030101010101" pitchFamily="2" charset="-122"/>
            </a:endParaRPr>
          </a:p>
          <a:p>
            <a:pPr lvl="1">
              <a:lnSpc>
                <a:spcPct val="90000"/>
              </a:lnSpc>
            </a:pPr>
            <a:r>
              <a:rPr lang="en-US" altLang="zh-CN" sz="2000" b="1" dirty="0">
                <a:ea typeface="宋体" panose="02010600030101010101" pitchFamily="2" charset="-122"/>
              </a:rPr>
              <a:t>addwidth</a:t>
            </a:r>
            <a:r>
              <a:rPr lang="zh-CN" altLang="en-US" sz="2000" b="1" dirty="0">
                <a:ea typeface="宋体" panose="02010600030101010101" pitchFamily="2" charset="-122"/>
              </a:rPr>
              <a:t>记录该符号表的所有名字的宽度</a:t>
            </a:r>
            <a:endParaRPr lang="zh-CN" altLang="en-US" sz="2000" b="1" dirty="0">
              <a:ea typeface="宋体" panose="02010600030101010101" pitchFamily="2" charset="-122"/>
            </a:endParaRPr>
          </a:p>
          <a:p>
            <a:pPr lvl="1">
              <a:lnSpc>
                <a:spcPct val="90000"/>
              </a:lnSpc>
            </a:pPr>
            <a:r>
              <a:rPr lang="zh-CN" altLang="en-US" sz="2000" b="1" dirty="0">
                <a:ea typeface="宋体" panose="02010600030101010101" pitchFamily="2" charset="-122"/>
              </a:rPr>
              <a:t>更改符号表栈和</a:t>
            </a:r>
            <a:r>
              <a:rPr lang="en-US" altLang="zh-CN" sz="2000" b="1" dirty="0">
                <a:ea typeface="宋体" panose="02010600030101010101" pitchFamily="2" charset="-122"/>
              </a:rPr>
              <a:t>offset</a:t>
            </a:r>
            <a:r>
              <a:rPr lang="zh-CN" altLang="en-US" sz="2000" b="1" dirty="0">
                <a:ea typeface="宋体" panose="02010600030101010101" pitchFamily="2" charset="-122"/>
              </a:rPr>
              <a:t>栈</a:t>
            </a:r>
            <a:endParaRPr lang="zh-CN" altLang="en-US" sz="2000" b="1" dirty="0">
              <a:ea typeface="宋体" panose="02010600030101010101" pitchFamily="2" charset="-122"/>
            </a:endParaRPr>
          </a:p>
          <a:p>
            <a:pPr lvl="1">
              <a:lnSpc>
                <a:spcPct val="90000"/>
              </a:lnSpc>
            </a:pPr>
            <a:r>
              <a:rPr lang="zh-CN" altLang="en-US" sz="2000" b="1" dirty="0">
                <a:ea typeface="宋体" panose="02010600030101010101" pitchFamily="2" charset="-122"/>
              </a:rPr>
              <a:t>过程名进入外围符号表</a:t>
            </a:r>
            <a:endParaRPr lang="zh-CN" altLang="en-US" sz="2000" b="1" dirty="0">
              <a:ea typeface="宋体" panose="02010600030101010101" pitchFamily="2" charset="-122"/>
            </a:endParaRPr>
          </a:p>
        </p:txBody>
      </p:sp>
    </p:spTree>
  </p:cSld>
  <p:clrMapOvr>
    <a:masterClrMapping/>
  </p:clrMapOvr>
  <p:transition spd="slow"/>
</p:sld>
</file>

<file path=ppt/theme/theme1.xml><?xml version="1.0" encoding="utf-8"?>
<a:theme xmlns:a="http://schemas.openxmlformats.org/drawingml/2006/main" name="ibm0325">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ibm0325">
      <a:majorFont>
        <a:latin typeface="Book Antiqua"/>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2225" cap="flat" cmpd="sng" algn="ctr">
          <a:solidFill>
            <a:schemeClr val="tx1"/>
          </a:solidFill>
          <a:prstDash val="solid"/>
          <a:round/>
          <a:headEnd type="none" w="sm" len="sm"/>
          <a:tailEnd type="triangle" w="lg"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22225" cap="flat" cmpd="sng" algn="ctr">
          <a:solidFill>
            <a:schemeClr val="tx1"/>
          </a:solidFill>
          <a:prstDash val="solid"/>
          <a:round/>
          <a:headEnd type="none" w="sm" len="sm"/>
          <a:tailEnd type="triangle" w="lg"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bm0325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bm0325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ibm0325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bm0325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bm0325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bm0325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ibm0325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E:\weldon\src\ipd_seminar\ibm0325.ppt</Template>
  <TotalTime>0</TotalTime>
  <Words>35363</Words>
  <Application>WPS 演示</Application>
  <PresentationFormat>全屏显示(4:3)</PresentationFormat>
  <Paragraphs>1985</Paragraphs>
  <Slides>166</Slides>
  <Notes>155</Notes>
  <HiddenSlides>0</HiddenSlides>
  <MMClips>0</MMClips>
  <ScaleCrop>false</ScaleCrop>
  <HeadingPairs>
    <vt:vector size="8" baseType="variant">
      <vt:variant>
        <vt:lpstr>已用的字体</vt:lpstr>
      </vt:variant>
      <vt:variant>
        <vt:i4>13</vt:i4>
      </vt:variant>
      <vt:variant>
        <vt:lpstr>主题</vt:lpstr>
      </vt:variant>
      <vt:variant>
        <vt:i4>2</vt:i4>
      </vt:variant>
      <vt:variant>
        <vt:lpstr>嵌入 OLE 服务器</vt:lpstr>
      </vt:variant>
      <vt:variant>
        <vt:i4>21</vt:i4>
      </vt:variant>
      <vt:variant>
        <vt:lpstr>幻灯片标题</vt:lpstr>
      </vt:variant>
      <vt:variant>
        <vt:i4>166</vt:i4>
      </vt:variant>
    </vt:vector>
  </HeadingPairs>
  <TitlesOfParts>
    <vt:vector size="202" baseType="lpstr">
      <vt:lpstr>Arial</vt:lpstr>
      <vt:lpstr>宋体</vt:lpstr>
      <vt:lpstr>Wingdings</vt:lpstr>
      <vt:lpstr>Times New Roman</vt:lpstr>
      <vt:lpstr>Tahoma</vt:lpstr>
      <vt:lpstr>Book Antiqua</vt:lpstr>
      <vt:lpstr>Monotype Sorts</vt:lpstr>
      <vt:lpstr>Wingdings</vt:lpstr>
      <vt:lpstr>等线</vt:lpstr>
      <vt:lpstr>等线 Light</vt:lpstr>
      <vt:lpstr>微软雅黑</vt:lpstr>
      <vt:lpstr>Arial Unicode MS</vt:lpstr>
      <vt:lpstr>Symbol</vt:lpstr>
      <vt:lpstr>ibm0325</vt:lpstr>
      <vt:lpstr>自定义设计方案</vt:lpstr>
      <vt:lpstr>Visio.Drawing.6</vt:lpstr>
      <vt:lpstr>Visio.Drawing.4</vt:lpstr>
      <vt:lpstr>Equation.3</vt:lpstr>
      <vt:lpstr>Equation.3</vt:lpstr>
      <vt:lpstr>Equation.3</vt:lpstr>
      <vt:lpstr>Equation.3</vt:lpstr>
      <vt:lpstr>Equation.3</vt:lpstr>
      <vt:lpstr>Equation.3</vt:lpstr>
      <vt:lpstr>Equation.3</vt:lpstr>
      <vt:lpstr>Equation.3</vt:lpstr>
      <vt:lpstr>Equation.3</vt:lpstr>
      <vt:lpstr>Equation.3</vt:lpstr>
      <vt:lpstr>Visio.Drawing.4</vt:lpstr>
      <vt:lpstr>Visio.Drawing.4</vt:lpstr>
      <vt:lpstr>Visio.Drawing.5</vt:lpstr>
      <vt:lpstr>Visio.Drawing.5</vt:lpstr>
      <vt:lpstr>Visio.Drawing.4</vt:lpstr>
      <vt:lpstr>Visio.Drawing.4</vt:lpstr>
      <vt:lpstr>Visio.Drawing.4</vt:lpstr>
      <vt:lpstr>Visio.Drawing.4</vt:lpstr>
      <vt:lpstr>Visio.Drawing.4</vt:lpstr>
      <vt:lpstr>第六章	中间代码生成 </vt:lpstr>
      <vt:lpstr>第六章	中间代码生成 </vt:lpstr>
      <vt:lpstr>语义分析的基础（1）</vt:lpstr>
      <vt:lpstr>语义分析的基础（2）</vt:lpstr>
      <vt:lpstr>语义分析的基础（3）</vt:lpstr>
      <vt:lpstr>第六章	中间代码生成 </vt:lpstr>
      <vt:lpstr>语法树的变体（1）</vt:lpstr>
      <vt:lpstr>语法树的变体（2）</vt:lpstr>
      <vt:lpstr>PowerPoint 演示文稿</vt:lpstr>
      <vt:lpstr>语法树的变体（3）</vt:lpstr>
      <vt:lpstr>语法树的变体（4）</vt:lpstr>
      <vt:lpstr>语法树的变体（5）</vt:lpstr>
      <vt:lpstr>语法树的变体（6）</vt:lpstr>
      <vt:lpstr>第六章	中间代码生成 </vt:lpstr>
      <vt:lpstr>三地址编码（1）</vt:lpstr>
      <vt:lpstr>三地址编码（2）</vt:lpstr>
      <vt:lpstr>三地址编码（3）</vt:lpstr>
      <vt:lpstr>三地址编码（4）</vt:lpstr>
      <vt:lpstr>三地址编码的实现（1）</vt:lpstr>
      <vt:lpstr>三地址编码的实现（2）</vt:lpstr>
      <vt:lpstr>三地址编码的实现（3）</vt:lpstr>
      <vt:lpstr>三地址编码的实现（4）</vt:lpstr>
      <vt:lpstr>三地址编码的实现（5）</vt:lpstr>
      <vt:lpstr>静态单赋值（1）</vt:lpstr>
      <vt:lpstr>静态单赋值表示(2)</vt:lpstr>
      <vt:lpstr>静态单赋值表示的例子</vt:lpstr>
      <vt:lpstr>第六章	中间代码生成 </vt:lpstr>
      <vt:lpstr>类型检查基础（1）</vt:lpstr>
      <vt:lpstr>类型检查基础（2）</vt:lpstr>
      <vt:lpstr>类型检查基础（3）</vt:lpstr>
      <vt:lpstr>类型系统（1）</vt:lpstr>
      <vt:lpstr>类型系统（2）</vt:lpstr>
      <vt:lpstr>类型系统（3）</vt:lpstr>
      <vt:lpstr>类型系统（4）</vt:lpstr>
      <vt:lpstr>类型系统（5）</vt:lpstr>
      <vt:lpstr>类型系统（6）</vt:lpstr>
      <vt:lpstr>类型系统（7）</vt:lpstr>
      <vt:lpstr>类型系统（8）</vt:lpstr>
      <vt:lpstr>类型系统（9）</vt:lpstr>
      <vt:lpstr>类型系统（10）</vt:lpstr>
      <vt:lpstr>类型系统（11）</vt:lpstr>
      <vt:lpstr>类型系统（12）</vt:lpstr>
      <vt:lpstr>类型表达式的等价（1）</vt:lpstr>
      <vt:lpstr>类型表达式的等价（2）</vt:lpstr>
      <vt:lpstr>类型表达式的等价（3）</vt:lpstr>
      <vt:lpstr>类型表达式的等价（4）</vt:lpstr>
      <vt:lpstr>类型表达式的等价（5）</vt:lpstr>
      <vt:lpstr>类型表达式的等价（6）</vt:lpstr>
      <vt:lpstr>类型表达式的等价（7）</vt:lpstr>
      <vt:lpstr>类型表达式的等价（8）</vt:lpstr>
      <vt:lpstr>类型表达式的等价（9）</vt:lpstr>
      <vt:lpstr>类型表达式的等价（10）</vt:lpstr>
      <vt:lpstr>一个简化的表达声明的文法</vt:lpstr>
      <vt:lpstr>局部变量名的存储布局（1）</vt:lpstr>
      <vt:lpstr>局部变量名的存储布局（2）</vt:lpstr>
      <vt:lpstr>局部变量名的存储布局（3）</vt:lpstr>
      <vt:lpstr>声明的序列（1）</vt:lpstr>
      <vt:lpstr>声明的序列（2）</vt:lpstr>
      <vt:lpstr>记录和类中的字段（1）</vt:lpstr>
      <vt:lpstr>记录和类中的字段（2）</vt:lpstr>
      <vt:lpstr>第六章	中间代码生成 </vt:lpstr>
      <vt:lpstr>表达式中的运算（1）</vt:lpstr>
      <vt:lpstr>表达式中的运算（2）</vt:lpstr>
      <vt:lpstr>表达式中的运算（3）</vt:lpstr>
      <vt:lpstr>数组元素的寻址（1）</vt:lpstr>
      <vt:lpstr>数组元素的寻址（2）</vt:lpstr>
      <vt:lpstr>数组元素的寻址（3）</vt:lpstr>
      <vt:lpstr>数组元素的寻址（4）</vt:lpstr>
      <vt:lpstr>数组引用的翻译（1）</vt:lpstr>
      <vt:lpstr>PowerPoint 演示文稿</vt:lpstr>
      <vt:lpstr>数组引用的翻译（2）</vt:lpstr>
      <vt:lpstr>第六章	中间代码生成 </vt:lpstr>
      <vt:lpstr>类型检查（1）</vt:lpstr>
      <vt:lpstr>类型检查（2）</vt:lpstr>
      <vt:lpstr>类型检查规则</vt:lpstr>
      <vt:lpstr>类型转换（1）</vt:lpstr>
      <vt:lpstr>类型转换（2）</vt:lpstr>
      <vt:lpstr>类型转换（3）</vt:lpstr>
      <vt:lpstr>类型转换（4）</vt:lpstr>
      <vt:lpstr>PowerPoint 演示文稿</vt:lpstr>
      <vt:lpstr>函数和运算符的重载（1）</vt:lpstr>
      <vt:lpstr>函数和运算符的重载（2）</vt:lpstr>
      <vt:lpstr>函数和运算符的重载（3）</vt:lpstr>
      <vt:lpstr>函数和运算符的重载（4）</vt:lpstr>
      <vt:lpstr>函数和运算符的重载（5）</vt:lpstr>
      <vt:lpstr>函数和运算符的重载（6）</vt:lpstr>
      <vt:lpstr>函数和算符的重载（7）</vt:lpstr>
      <vt:lpstr>类型推导和多态函数（1）</vt:lpstr>
      <vt:lpstr>类型推导和多态函数（2）</vt:lpstr>
      <vt:lpstr>类型推导和多态函数（3）</vt:lpstr>
      <vt:lpstr>类型推导和多态函数（4）</vt:lpstr>
      <vt:lpstr>类型推导和多态函数（5）</vt:lpstr>
      <vt:lpstr>PowerPoint 演示文稿</vt:lpstr>
      <vt:lpstr>类型推导和多态函数（6）</vt:lpstr>
      <vt:lpstr>类型推导和多态函数（7）</vt:lpstr>
      <vt:lpstr>类型推导和多态函数（8）</vt:lpstr>
      <vt:lpstr>类型推导和多态函数（9）</vt:lpstr>
      <vt:lpstr>类型推导和多态函数（10）</vt:lpstr>
      <vt:lpstr>类型推导和多态函数（11）</vt:lpstr>
      <vt:lpstr>类型推导和多态函数（12）</vt:lpstr>
      <vt:lpstr>类型推导和多态函数（13）</vt:lpstr>
      <vt:lpstr>类型推导和多态函数（14）</vt:lpstr>
      <vt:lpstr>类型推导和多态函数（15）</vt:lpstr>
      <vt:lpstr>类型推导和多态函数（16）</vt:lpstr>
      <vt:lpstr>类型推导和多态函数（17）</vt:lpstr>
      <vt:lpstr>类型推导和多态函数（18）</vt:lpstr>
      <vt:lpstr>PowerPoint 演示文稿</vt:lpstr>
      <vt:lpstr>类型推导和多态函数（19）</vt:lpstr>
      <vt:lpstr>类型推导和多态函数（20）</vt:lpstr>
      <vt:lpstr>第六章	中间代码生成 </vt:lpstr>
      <vt:lpstr>布尔表达式（1）</vt:lpstr>
      <vt:lpstr>布尔表达式（2）</vt:lpstr>
      <vt:lpstr>布尔表达式（3）</vt:lpstr>
      <vt:lpstr>布尔表达式（4）</vt:lpstr>
      <vt:lpstr>布尔表达式（5）</vt:lpstr>
      <vt:lpstr>布尔表达式（6）</vt:lpstr>
      <vt:lpstr>布尔表达式（7）</vt:lpstr>
      <vt:lpstr>布尔表达式（8）</vt:lpstr>
      <vt:lpstr>PowerPoint 演示文稿</vt:lpstr>
      <vt:lpstr>PowerPoint 演示文稿</vt:lpstr>
      <vt:lpstr>布尔表达式（9）</vt:lpstr>
      <vt:lpstr>PowerPoint 演示文稿</vt:lpstr>
      <vt:lpstr>布尔表达式（10）</vt:lpstr>
      <vt:lpstr>布尔表达式（11）</vt:lpstr>
      <vt:lpstr>布尔表达式（12）</vt:lpstr>
      <vt:lpstr>布尔表达式（13）</vt:lpstr>
      <vt:lpstr>布尔表达式（14）</vt:lpstr>
      <vt:lpstr>回填技术（1）</vt:lpstr>
      <vt:lpstr>回填技术（2）</vt:lpstr>
      <vt:lpstr>回填技术（3）</vt:lpstr>
      <vt:lpstr>PowerPoint 演示文稿</vt:lpstr>
      <vt:lpstr>回填技术（4）</vt:lpstr>
      <vt:lpstr>回填技术（5）</vt:lpstr>
      <vt:lpstr>回填技术（6）</vt:lpstr>
      <vt:lpstr>PowerPoint 演示文稿</vt:lpstr>
      <vt:lpstr>控制转移语句（1）</vt:lpstr>
      <vt:lpstr>PowerPoint 演示文稿</vt:lpstr>
      <vt:lpstr>控制转移语句（2）</vt:lpstr>
      <vt:lpstr>控制转移语句（3）</vt:lpstr>
      <vt:lpstr>控制转移语句（4）</vt:lpstr>
      <vt:lpstr>switch语句（1）</vt:lpstr>
      <vt:lpstr>switch语句（2）</vt:lpstr>
      <vt:lpstr>switch语句（3）</vt:lpstr>
      <vt:lpstr>switch语句（4）</vt:lpstr>
      <vt:lpstr>过程的中间代码（1）</vt:lpstr>
      <vt:lpstr>过程的中间代码（1）</vt:lpstr>
      <vt:lpstr>过程的中间代码（2）</vt:lpstr>
      <vt:lpstr>过程的中间代码（3）</vt:lpstr>
      <vt:lpstr>作业</vt:lpstr>
      <vt:lpstr>作业</vt:lpstr>
      <vt:lpstr>作业</vt:lpstr>
      <vt:lpstr>采用递推法计算数组元素地址（1）</vt:lpstr>
      <vt:lpstr>PowerPoint 演示文稿</vt:lpstr>
      <vt:lpstr>采用递推法计算数组元素地址（2）</vt:lpstr>
      <vt:lpstr>采用递推法计算数组元素地址（3）</vt:lpstr>
      <vt:lpstr>采用递推法计算数组元素地址（4）</vt:lpstr>
      <vt:lpstr>采用递推法计算数组元素地址（5）</vt:lpstr>
      <vt:lpstr>采用递推法计算数组元素地址（6）</vt:lpstr>
      <vt:lpstr>采用递推法计算数组元素地址（7）</vt:lpstr>
      <vt:lpstr>采用递推法计算数组元素地址（8）</vt:lpstr>
      <vt:lpstr>PowerPoint 演示文稿</vt:lpstr>
      <vt:lpstr>过程声明的处理（1）</vt:lpstr>
      <vt:lpstr>过程声明的处理（2）</vt:lpstr>
      <vt:lpstr>作用域信息的保存（1）</vt:lpstr>
      <vt:lpstr>作用域信息的保存（2）</vt:lpstr>
      <vt:lpstr>作用域信息的保存（3）</vt:lpstr>
    </vt:vector>
  </TitlesOfParts>
  <Company>Micron Electronics,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Preferred Customer</dc:creator>
  <cp:lastModifiedBy>朱首赫</cp:lastModifiedBy>
  <cp:revision>969</cp:revision>
  <cp:lastPrinted>2000-08-04T00:01:00Z</cp:lastPrinted>
  <dcterms:created xsi:type="dcterms:W3CDTF">1999-10-09T18:48:00Z</dcterms:created>
  <dcterms:modified xsi:type="dcterms:W3CDTF">2026-05-17T11:21:14Z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87CA95AEEB8147AEBC7529DE02550CF3_13</vt:lpwstr>
  </property>
  <property fmtid="{D5CDD505-2E9C-101B-9397-08002B2CF9AE}" pid="3" name="KSOProductBuildVer">
    <vt:lpwstr>2052-12.1.0.23542</vt:lpwstr>
  </property>
</Properties>
</file>