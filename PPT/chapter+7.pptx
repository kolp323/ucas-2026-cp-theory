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64"/>
  </p:handoutMasterIdLst>
  <p:sldIdLst>
    <p:sldId id="466" r:id="rId3"/>
    <p:sldId id="467" r:id="rId5"/>
    <p:sldId id="468" r:id="rId6"/>
    <p:sldId id="469" r:id="rId7"/>
    <p:sldId id="470" r:id="rId8"/>
    <p:sldId id="471" r:id="rId9"/>
    <p:sldId id="472" r:id="rId10"/>
    <p:sldId id="473" r:id="rId11"/>
    <p:sldId id="474" r:id="rId12"/>
    <p:sldId id="475" r:id="rId13"/>
    <p:sldId id="476" r:id="rId14"/>
    <p:sldId id="477" r:id="rId15"/>
    <p:sldId id="478" r:id="rId16"/>
    <p:sldId id="479" r:id="rId17"/>
    <p:sldId id="480" r:id="rId18"/>
    <p:sldId id="481" r:id="rId19"/>
    <p:sldId id="482" r:id="rId20"/>
    <p:sldId id="483" r:id="rId21"/>
    <p:sldId id="484" r:id="rId22"/>
    <p:sldId id="485" r:id="rId23"/>
    <p:sldId id="486" r:id="rId24"/>
    <p:sldId id="532" r:id="rId25"/>
    <p:sldId id="489" r:id="rId26"/>
    <p:sldId id="490" r:id="rId27"/>
    <p:sldId id="533" r:id="rId28"/>
    <p:sldId id="491" r:id="rId29"/>
    <p:sldId id="492" r:id="rId30"/>
    <p:sldId id="493" r:id="rId31"/>
    <p:sldId id="541" r:id="rId32"/>
    <p:sldId id="494" r:id="rId33"/>
    <p:sldId id="495" r:id="rId34"/>
    <p:sldId id="496" r:id="rId35"/>
    <p:sldId id="497" r:id="rId36"/>
    <p:sldId id="498" r:id="rId37"/>
    <p:sldId id="499" r:id="rId38"/>
    <p:sldId id="500" r:id="rId39"/>
    <p:sldId id="501" r:id="rId40"/>
    <p:sldId id="502" r:id="rId41"/>
    <p:sldId id="503" r:id="rId42"/>
    <p:sldId id="504" r:id="rId43"/>
    <p:sldId id="505" r:id="rId44"/>
    <p:sldId id="506" r:id="rId45"/>
    <p:sldId id="535" r:id="rId46"/>
    <p:sldId id="507" r:id="rId47"/>
    <p:sldId id="536" r:id="rId48"/>
    <p:sldId id="537" r:id="rId49"/>
    <p:sldId id="509" r:id="rId50"/>
    <p:sldId id="510" r:id="rId51"/>
    <p:sldId id="511" r:id="rId52"/>
    <p:sldId id="512" r:id="rId53"/>
    <p:sldId id="539" r:id="rId54"/>
    <p:sldId id="538" r:id="rId55"/>
    <p:sldId id="514" r:id="rId56"/>
    <p:sldId id="540" r:id="rId57"/>
    <p:sldId id="516" r:id="rId58"/>
    <p:sldId id="517" r:id="rId59"/>
    <p:sldId id="518" r:id="rId60"/>
    <p:sldId id="519" r:id="rId61"/>
    <p:sldId id="530" r:id="rId62"/>
    <p:sldId id="531" r:id="rId63"/>
  </p:sldIdLst>
  <p:sldSz cx="9144000" cy="6858000" type="screen4x3"/>
  <p:notesSz cx="6708775" cy="9774555"/>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44" userDrawn="1">
          <p15:clr>
            <a:srgbClr val="A4A3A4"/>
          </p15:clr>
        </p15:guide>
        <p15:guide id="2" pos="575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 f" initials="j" lastIdx="2" clrIdx="0"/>
  <p:cmAuthor id="2" name="f f" initials="f" lastIdx="1" clrIdx="2"/>
  <p:cmAuthor id="3" name="f ja" initials="f" lastIdx="1" clrIdx="5"/>
  <p:cmAuthor id="4" name="f ja" initials="f" lastIdx="4" clrIdx="4"/>
  <p:cmAuthor id="5" name="f ja" initials="f" lastIdx="1" clrIdx="6"/>
  <p:cmAuthor id="6" name="f ja" initials="f" lastIdx="1" clrIdx="8"/>
  <p:cmAuthor id="7" name="lenovo" initials="l" lastIdx="1" clrIdx="7"/>
  <p:cmAuthor id="8" name="f" initials="f" lastIdx="1" clrIdx="1"/>
  <p:cmAuthor id="9" name="ja f" initials="j"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FFFFCC"/>
    <a:srgbClr val="CCFFCC"/>
    <a:srgbClr val="FFCCFF"/>
    <a:srgbClr val="CCFFFF"/>
    <a:srgbClr val="CCECFF"/>
    <a:srgbClr val="66FF66"/>
    <a:srgbClr val="FFFF99"/>
    <a:srgbClr val="063D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18"/>
    <p:restoredTop sz="66784"/>
  </p:normalViewPr>
  <p:slideViewPr>
    <p:cSldViewPr showGuides="1">
      <p:cViewPr varScale="1">
        <p:scale>
          <a:sx n="48" d="100"/>
          <a:sy n="48" d="100"/>
        </p:scale>
        <p:origin x="1134" y="33"/>
      </p:cViewPr>
      <p:guideLst>
        <p:guide orient="horz" pos="144"/>
        <p:guide pos="5759"/>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2003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8" Type="http://schemas.openxmlformats.org/officeDocument/2006/relationships/commentAuthors" Target="commentAuthors.xml"/><Relationship Id="rId67" Type="http://schemas.openxmlformats.org/officeDocument/2006/relationships/tableStyles" Target="tableStyles.xml"/><Relationship Id="rId66" Type="http://schemas.openxmlformats.org/officeDocument/2006/relationships/viewProps" Target="viewProps.xml"/><Relationship Id="rId65" Type="http://schemas.openxmlformats.org/officeDocument/2006/relationships/presProps" Target="presProps.xml"/><Relationship Id="rId64" Type="http://schemas.openxmlformats.org/officeDocument/2006/relationships/handoutMaster" Target="handoutMasters/handoutMaster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31426" name="Rectangle 2"/>
          <p:cNvSpPr>
            <a:spLocks noGrp="1" noChangeArrowheads="1"/>
          </p:cNvSpPr>
          <p:nvPr>
            <p:ph type="hdr" sz="quarter"/>
          </p:nvPr>
        </p:nvSpPr>
        <p:spPr bwMode="auto">
          <a:xfrm>
            <a:off x="0" y="0"/>
            <a:ext cx="2924175" cy="482600"/>
          </a:xfrm>
          <a:prstGeom prst="rect">
            <a:avLst/>
          </a:prstGeom>
          <a:noFill/>
          <a:ln>
            <a:noFill/>
          </a:ln>
          <a:effectLst/>
        </p:spPr>
        <p:txBody>
          <a:bodyPr vert="horz" wrap="square" lIns="90014" tIns="45007" rIns="90014" bIns="45007" numCol="1" anchor="t" anchorCtr="0" compatLnSpc="1"/>
          <a:lstStyle>
            <a:lvl1pPr defTabSz="900430">
              <a:defRPr sz="1200"/>
            </a:lvl1pPr>
          </a:lstStyle>
          <a:p>
            <a:pPr marL="0" marR="0" lvl="0" indent="0" algn="l"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7" name="Rectangle 3"/>
          <p:cNvSpPr>
            <a:spLocks noGrp="1" noChangeArrowheads="1"/>
          </p:cNvSpPr>
          <p:nvPr>
            <p:ph type="dt" sz="quarter" idx="1"/>
          </p:nvPr>
        </p:nvSpPr>
        <p:spPr bwMode="auto">
          <a:xfrm>
            <a:off x="3802063" y="0"/>
            <a:ext cx="2925763" cy="482600"/>
          </a:xfrm>
          <a:prstGeom prst="rect">
            <a:avLst/>
          </a:prstGeom>
          <a:noFill/>
          <a:ln>
            <a:noFill/>
          </a:ln>
          <a:effectLst/>
        </p:spPr>
        <p:txBody>
          <a:bodyPr vert="horz" wrap="square" lIns="90014" tIns="45007" rIns="90014" bIns="45007" numCol="1" anchor="t" anchorCtr="0" compatLnSpc="1"/>
          <a:lstStyle>
            <a:lvl1pPr algn="r" defTabSz="900430">
              <a:defRPr sz="1200"/>
            </a:lvl1pPr>
          </a:lstStyle>
          <a:p>
            <a:pPr marL="0" marR="0" lvl="0" indent="0" algn="r"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8" name="Rectangle 4"/>
          <p:cNvSpPr>
            <a:spLocks noGrp="1" noChangeArrowheads="1"/>
          </p:cNvSpPr>
          <p:nvPr>
            <p:ph type="ftr" sz="quarter" idx="2"/>
          </p:nvPr>
        </p:nvSpPr>
        <p:spPr bwMode="auto">
          <a:xfrm>
            <a:off x="0" y="9307513"/>
            <a:ext cx="2924175" cy="482600"/>
          </a:xfrm>
          <a:prstGeom prst="rect">
            <a:avLst/>
          </a:prstGeom>
          <a:noFill/>
          <a:ln>
            <a:noFill/>
          </a:ln>
          <a:effectLst/>
        </p:spPr>
        <p:txBody>
          <a:bodyPr vert="horz" wrap="square" lIns="90014" tIns="45007" rIns="90014" bIns="45007" numCol="1" anchor="b" anchorCtr="0" compatLnSpc="1"/>
          <a:lstStyle>
            <a:lvl1pPr defTabSz="900430">
              <a:defRPr sz="1200"/>
            </a:lvl1pPr>
          </a:lstStyle>
          <a:p>
            <a:pPr marL="0" marR="0" lvl="0" indent="0" algn="l"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9" name="Rectangle 5"/>
          <p:cNvSpPr>
            <a:spLocks noGrp="1" noChangeArrowheads="1"/>
          </p:cNvSpPr>
          <p:nvPr>
            <p:ph type="sldNum" sz="quarter" idx="3"/>
          </p:nvPr>
        </p:nvSpPr>
        <p:spPr bwMode="auto">
          <a:xfrm>
            <a:off x="3802063" y="9307513"/>
            <a:ext cx="2925763" cy="482600"/>
          </a:xfrm>
          <a:prstGeom prst="rect">
            <a:avLst/>
          </a:prstGeom>
          <a:noFill/>
          <a:ln>
            <a:noFill/>
          </a:ln>
          <a:effectLst/>
        </p:spPr>
        <p:txBody>
          <a:bodyPr vert="horz" wrap="square" lIns="90014" tIns="45007" rIns="90014" bIns="45007" numCol="1" anchor="b" anchorCtr="0" compatLnSpc="1"/>
          <a:p>
            <a:pPr lvl="0" algn="r" defTabSz="900430">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8370" name="Rectangle 2"/>
          <p:cNvSpPr>
            <a:spLocks noGrp="1" noChangeArrowheads="1"/>
          </p:cNvSpPr>
          <p:nvPr>
            <p:ph type="hdr" sz="quarter"/>
          </p:nvPr>
        </p:nvSpPr>
        <p:spPr bwMode="auto">
          <a:xfrm>
            <a:off x="0" y="0"/>
            <a:ext cx="2906713" cy="488950"/>
          </a:xfrm>
          <a:prstGeom prst="rect">
            <a:avLst/>
          </a:prstGeom>
          <a:noFill/>
          <a:ln>
            <a:noFill/>
          </a:ln>
          <a:effectLst/>
        </p:spPr>
        <p:txBody>
          <a:bodyPr vert="horz" wrap="square" lIns="91534" tIns="45768" rIns="91534" bIns="45768" numCol="1" anchor="t" anchorCtr="0" compatLnSpc="1"/>
          <a:lstStyle>
            <a:lvl1pPr defTabSz="916305">
              <a:defRPr sz="1200"/>
            </a:lvl1pPr>
          </a:lstStyle>
          <a:p>
            <a:pPr marL="0" marR="0" lvl="0" indent="0" algn="l"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1" name="Rectangle 3"/>
          <p:cNvSpPr>
            <a:spLocks noGrp="1" noChangeArrowheads="1"/>
          </p:cNvSpPr>
          <p:nvPr>
            <p:ph type="dt" idx="1"/>
          </p:nvPr>
        </p:nvSpPr>
        <p:spPr bwMode="auto">
          <a:xfrm>
            <a:off x="3802063" y="0"/>
            <a:ext cx="2906713" cy="488950"/>
          </a:xfrm>
          <a:prstGeom prst="rect">
            <a:avLst/>
          </a:prstGeom>
          <a:noFill/>
          <a:ln>
            <a:noFill/>
          </a:ln>
          <a:effectLst/>
        </p:spPr>
        <p:txBody>
          <a:bodyPr vert="horz" wrap="square" lIns="91534" tIns="45768" rIns="91534" bIns="45768" numCol="1" anchor="t" anchorCtr="0" compatLnSpc="1"/>
          <a:lstStyle>
            <a:lvl1pPr algn="r" defTabSz="916305">
              <a:defRPr sz="1200"/>
            </a:lvl1pPr>
          </a:lstStyle>
          <a:p>
            <a:pPr marL="0" marR="0" lvl="0" indent="0" algn="r"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052" name="Rectangle 4"/>
          <p:cNvSpPr>
            <a:spLocks noTextEdit="1"/>
          </p:cNvSpPr>
          <p:nvPr>
            <p:ph type="sldImg" idx="2"/>
          </p:nvPr>
        </p:nvSpPr>
        <p:spPr>
          <a:xfrm>
            <a:off x="911225" y="733425"/>
            <a:ext cx="4887913" cy="3665538"/>
          </a:xfrm>
          <a:prstGeom prst="rect">
            <a:avLst/>
          </a:prstGeom>
          <a:noFill/>
          <a:ln w="9525" cap="flat" cmpd="sng">
            <a:solidFill>
              <a:srgbClr val="000000"/>
            </a:solidFill>
            <a:prstDash val="solid"/>
            <a:miter/>
            <a:headEnd type="none" w="med" len="med"/>
            <a:tailEnd type="none" w="med" len="med"/>
          </a:ln>
        </p:spPr>
      </p:sp>
      <p:sp>
        <p:nvSpPr>
          <p:cNvPr id="58373" name="Rectangle 5"/>
          <p:cNvSpPr>
            <a:spLocks noGrp="1" noChangeArrowheads="1"/>
          </p:cNvSpPr>
          <p:nvPr>
            <p:ph type="body" sz="quarter" idx="3"/>
          </p:nvPr>
        </p:nvSpPr>
        <p:spPr bwMode="auto">
          <a:xfrm>
            <a:off x="893763" y="4641850"/>
            <a:ext cx="4921250" cy="4398963"/>
          </a:xfrm>
          <a:prstGeom prst="rect">
            <a:avLst/>
          </a:prstGeom>
          <a:noFill/>
          <a:ln>
            <a:noFill/>
          </a:ln>
          <a:effectLst/>
        </p:spPr>
        <p:txBody>
          <a:bodyPr vert="horz" wrap="square" lIns="91534" tIns="45768" rIns="91534" bIns="45768" numCol="1" anchor="t" anchorCtr="0" compatLnSpc="1"/>
          <a:lstStyle/>
          <a:p>
            <a:pPr marL="0" marR="0" lvl="0"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466725" marR="0" lvl="1"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Second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935355" marR="0" lvl="2"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Third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402080" marR="0" lvl="3"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Fourth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870075" marR="0" lvl="4"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Fifth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4" name="Rectangle 6"/>
          <p:cNvSpPr>
            <a:spLocks noGrp="1" noChangeArrowheads="1"/>
          </p:cNvSpPr>
          <p:nvPr>
            <p:ph type="ftr" sz="quarter" idx="4"/>
          </p:nvPr>
        </p:nvSpPr>
        <p:spPr bwMode="auto">
          <a:xfrm>
            <a:off x="0" y="9285288"/>
            <a:ext cx="2906713" cy="488950"/>
          </a:xfrm>
          <a:prstGeom prst="rect">
            <a:avLst/>
          </a:prstGeom>
          <a:noFill/>
          <a:ln>
            <a:noFill/>
          </a:ln>
          <a:effectLst/>
        </p:spPr>
        <p:txBody>
          <a:bodyPr vert="horz" wrap="square" lIns="91534" tIns="45768" rIns="91534" bIns="45768" numCol="1" anchor="b" anchorCtr="0" compatLnSpc="1"/>
          <a:lstStyle>
            <a:lvl1pPr defTabSz="916305">
              <a:defRPr sz="1200"/>
            </a:lvl1pPr>
          </a:lstStyle>
          <a:p>
            <a:pPr marL="0" marR="0" lvl="0" indent="0" algn="l"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5" name="Rectangle 7"/>
          <p:cNvSpPr>
            <a:spLocks noGrp="1" noChangeArrowheads="1"/>
          </p:cNvSpPr>
          <p:nvPr>
            <p:ph type="sldNum" sz="quarter" idx="5"/>
          </p:nvPr>
        </p:nvSpPr>
        <p:spPr bwMode="auto">
          <a:xfrm>
            <a:off x="3802063" y="9285288"/>
            <a:ext cx="2906713" cy="488950"/>
          </a:xfrm>
          <a:prstGeom prst="rect">
            <a:avLst/>
          </a:prstGeom>
          <a:noFill/>
          <a:ln>
            <a:noFill/>
          </a:ln>
          <a:effectLst/>
        </p:spPr>
        <p:txBody>
          <a:bodyPr vert="horz" wrap="square" lIns="91534" tIns="45768" rIns="91534" bIns="45768" numCol="1" anchor="b" anchorCtr="0" compatLnSpc="1"/>
          <a:p>
            <a:pPr lvl="0" algn="r" defTabSz="916305">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6672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3535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402080"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7007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123" name="Rectangle 2"/>
          <p:cNvSpPr>
            <a:spLocks noTextEdit="1"/>
          </p:cNvSpPr>
          <p:nvPr>
            <p:ph type="sldImg"/>
          </p:nvPr>
        </p:nvSpPr>
        <p:spPr>
          <a:ln/>
        </p:spPr>
      </p:sp>
      <p:sp>
        <p:nvSpPr>
          <p:cNvPr id="512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171" name="Rectangle 2"/>
          <p:cNvSpPr>
            <a:spLocks noTextEdit="1"/>
          </p:cNvSpPr>
          <p:nvPr>
            <p:ph type="sldImg"/>
          </p:nvPr>
        </p:nvSpPr>
        <p:spPr>
          <a:ln/>
        </p:spPr>
      </p:sp>
      <p:sp>
        <p:nvSpPr>
          <p:cNvPr id="717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219" name="Rectangle 2"/>
          <p:cNvSpPr>
            <a:spLocks noTextEdit="1"/>
          </p:cNvSpPr>
          <p:nvPr>
            <p:ph type="sldImg"/>
          </p:nvPr>
        </p:nvSpPr>
        <p:spPr>
          <a:ln/>
        </p:spPr>
      </p:sp>
      <p:sp>
        <p:nvSpPr>
          <p:cNvPr id="922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291" name="Rectangle 2"/>
          <p:cNvSpPr>
            <a:spLocks noTextEdit="1"/>
          </p:cNvSpPr>
          <p:nvPr>
            <p:ph type="sldImg"/>
          </p:nvPr>
        </p:nvSpPr>
        <p:spPr>
          <a:ln/>
        </p:spPr>
      </p:sp>
      <p:sp>
        <p:nvSpPr>
          <p:cNvPr id="1229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339" name="Rectangle 2"/>
          <p:cNvSpPr>
            <a:spLocks noTextEdit="1"/>
          </p:cNvSpPr>
          <p:nvPr>
            <p:ph type="sldImg"/>
          </p:nvPr>
        </p:nvSpPr>
        <p:spPr>
          <a:ln/>
        </p:spPr>
      </p:sp>
      <p:sp>
        <p:nvSpPr>
          <p:cNvPr id="1434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387" name="Rectangle 2"/>
          <p:cNvSpPr>
            <a:spLocks noTextEdit="1"/>
          </p:cNvSpPr>
          <p:nvPr>
            <p:ph type="sldImg"/>
          </p:nvPr>
        </p:nvSpPr>
        <p:spPr>
          <a:ln/>
        </p:spPr>
      </p:sp>
      <p:sp>
        <p:nvSpPr>
          <p:cNvPr id="1638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435" name="Rectangle 2"/>
          <p:cNvSpPr>
            <a:spLocks noTextEdit="1"/>
          </p:cNvSpPr>
          <p:nvPr>
            <p:ph type="sldImg"/>
          </p:nvPr>
        </p:nvSpPr>
        <p:spPr>
          <a:ln/>
        </p:spPr>
      </p:sp>
      <p:sp>
        <p:nvSpPr>
          <p:cNvPr id="1843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0483" name="Rectangle 2"/>
          <p:cNvSpPr>
            <a:spLocks noTextEdit="1"/>
          </p:cNvSpPr>
          <p:nvPr>
            <p:ph type="sldImg"/>
          </p:nvPr>
        </p:nvSpPr>
        <p:spPr>
          <a:ln/>
        </p:spPr>
      </p:sp>
      <p:sp>
        <p:nvSpPr>
          <p:cNvPr id="2048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2531" name="Rectangle 2"/>
          <p:cNvSpPr>
            <a:spLocks noTextEdit="1"/>
          </p:cNvSpPr>
          <p:nvPr>
            <p:ph type="sldImg"/>
          </p:nvPr>
        </p:nvSpPr>
        <p:spPr>
          <a:ln/>
        </p:spPr>
      </p:sp>
      <p:sp>
        <p:nvSpPr>
          <p:cNvPr id="2253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4579" name="Rectangle 2"/>
          <p:cNvSpPr>
            <a:spLocks noTextEdit="1"/>
          </p:cNvSpPr>
          <p:nvPr>
            <p:ph type="sldImg"/>
          </p:nvPr>
        </p:nvSpPr>
        <p:spPr>
          <a:ln/>
        </p:spPr>
      </p:sp>
      <p:sp>
        <p:nvSpPr>
          <p:cNvPr id="2458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6627" name="Rectangle 2"/>
          <p:cNvSpPr>
            <a:spLocks noTextEdit="1"/>
          </p:cNvSpPr>
          <p:nvPr>
            <p:ph type="sldImg"/>
          </p:nvPr>
        </p:nvSpPr>
        <p:spPr>
          <a:ln/>
        </p:spPr>
      </p:sp>
      <p:sp>
        <p:nvSpPr>
          <p:cNvPr id="2662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8675" name="Rectangle 2"/>
          <p:cNvSpPr>
            <a:spLocks noTextEdit="1"/>
          </p:cNvSpPr>
          <p:nvPr>
            <p:ph type="sldImg"/>
          </p:nvPr>
        </p:nvSpPr>
        <p:spPr>
          <a:ln/>
        </p:spPr>
      </p:sp>
      <p:sp>
        <p:nvSpPr>
          <p:cNvPr id="2867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0723" name="Rectangle 2"/>
          <p:cNvSpPr>
            <a:spLocks noTextEdit="1"/>
          </p:cNvSpPr>
          <p:nvPr>
            <p:ph type="sldImg"/>
          </p:nvPr>
        </p:nvSpPr>
        <p:spPr>
          <a:ln/>
        </p:spPr>
      </p:sp>
      <p:sp>
        <p:nvSpPr>
          <p:cNvPr id="3072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2771" name="Rectangle 2"/>
          <p:cNvSpPr>
            <a:spLocks noTextEdit="1"/>
          </p:cNvSpPr>
          <p:nvPr>
            <p:ph type="sldImg"/>
          </p:nvPr>
        </p:nvSpPr>
        <p:spPr>
          <a:ln/>
        </p:spPr>
      </p:sp>
      <p:sp>
        <p:nvSpPr>
          <p:cNvPr id="3277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4819" name="Rectangle 2"/>
          <p:cNvSpPr>
            <a:spLocks noTextEdit="1"/>
          </p:cNvSpPr>
          <p:nvPr>
            <p:ph type="sldImg"/>
          </p:nvPr>
        </p:nvSpPr>
        <p:spPr>
          <a:ln/>
        </p:spPr>
      </p:sp>
      <p:sp>
        <p:nvSpPr>
          <p:cNvPr id="3482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6867" name="Rectangle 2"/>
          <p:cNvSpPr>
            <a:spLocks noTextEdit="1"/>
          </p:cNvSpPr>
          <p:nvPr>
            <p:ph type="sldImg"/>
          </p:nvPr>
        </p:nvSpPr>
        <p:spPr>
          <a:ln/>
        </p:spPr>
      </p:sp>
      <p:sp>
        <p:nvSpPr>
          <p:cNvPr id="3686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8915" name="Rectangle 2"/>
          <p:cNvSpPr>
            <a:spLocks noTextEdit="1"/>
          </p:cNvSpPr>
          <p:nvPr>
            <p:ph type="sldImg"/>
          </p:nvPr>
        </p:nvSpPr>
        <p:spPr>
          <a:ln/>
        </p:spPr>
      </p:sp>
      <p:sp>
        <p:nvSpPr>
          <p:cNvPr id="3891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0963" name="Rectangle 2"/>
          <p:cNvSpPr>
            <a:spLocks noTextEdit="1"/>
          </p:cNvSpPr>
          <p:nvPr>
            <p:ph type="sldImg"/>
          </p:nvPr>
        </p:nvSpPr>
        <p:spPr>
          <a:ln/>
        </p:spPr>
      </p:sp>
      <p:sp>
        <p:nvSpPr>
          <p:cNvPr id="4096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3011" name="Rectangle 2"/>
          <p:cNvSpPr>
            <a:spLocks noTextEdit="1"/>
          </p:cNvSpPr>
          <p:nvPr>
            <p:ph type="sldImg"/>
          </p:nvPr>
        </p:nvSpPr>
        <p:spPr>
          <a:ln/>
        </p:spPr>
      </p:sp>
      <p:sp>
        <p:nvSpPr>
          <p:cNvPr id="4301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5059" name="Rectangle 2"/>
          <p:cNvSpPr>
            <a:spLocks noTextEdit="1"/>
          </p:cNvSpPr>
          <p:nvPr>
            <p:ph type="sldImg"/>
          </p:nvPr>
        </p:nvSpPr>
        <p:spPr>
          <a:ln/>
        </p:spPr>
      </p:sp>
      <p:sp>
        <p:nvSpPr>
          <p:cNvPr id="4506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8131" name="Rectangle 2"/>
          <p:cNvSpPr>
            <a:spLocks noTextEdit="1"/>
          </p:cNvSpPr>
          <p:nvPr>
            <p:ph type="sldImg"/>
          </p:nvPr>
        </p:nvSpPr>
        <p:spPr>
          <a:ln/>
        </p:spPr>
      </p:sp>
      <p:sp>
        <p:nvSpPr>
          <p:cNvPr id="4813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0179" name="Rectangle 2"/>
          <p:cNvSpPr>
            <a:spLocks noTextEdit="1"/>
          </p:cNvSpPr>
          <p:nvPr>
            <p:ph type="sldImg"/>
          </p:nvPr>
        </p:nvSpPr>
        <p:spPr>
          <a:ln/>
        </p:spPr>
      </p:sp>
      <p:sp>
        <p:nvSpPr>
          <p:cNvPr id="50180"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注意此处的动态数组是指其大小和形状受一个或多个参数影响的数组，而不是指动态申请的数组，如</a:t>
            </a:r>
            <a:r>
              <a:rPr lang="en-US" altLang="zh-CN" dirty="0">
                <a:ea typeface="宋体" panose="02010600030101010101" pitchFamily="2" charset="-122"/>
              </a:rPr>
              <a:t>a</a:t>
            </a:r>
            <a:r>
              <a:rPr lang="zh-CN" altLang="en-US" dirty="0">
                <a:ea typeface="宋体" panose="02010600030101010101" pitchFamily="2" charset="-122"/>
              </a:rPr>
              <a:t> </a:t>
            </a:r>
            <a:r>
              <a:rPr lang="en-US" altLang="zh-CN" dirty="0">
                <a:ea typeface="宋体" panose="02010600030101010101" pitchFamily="2" charset="-122"/>
              </a:rPr>
              <a:t>=</a:t>
            </a:r>
            <a:r>
              <a:rPr lang="zh-CN" altLang="en-US" dirty="0">
                <a:ea typeface="宋体" panose="02010600030101010101" pitchFamily="2" charset="-122"/>
              </a:rPr>
              <a:t> </a:t>
            </a:r>
            <a:r>
              <a:rPr lang="en-US" altLang="zh-CN" dirty="0">
                <a:ea typeface="宋体" panose="02010600030101010101" pitchFamily="2" charset="-122"/>
              </a:rPr>
              <a:t>malloc(sizeof(int)*100)</a:t>
            </a:r>
            <a:r>
              <a:rPr lang="zh-CN" altLang="en-US" dirty="0">
                <a:ea typeface="宋体" panose="02010600030101010101" pitchFamily="2" charset="-122"/>
              </a:rPr>
              <a:t>等</a:t>
            </a:r>
            <a:endParaRPr lang="zh-CN" altLang="en-US" dirty="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3251" name="Rectangle 2"/>
          <p:cNvSpPr>
            <a:spLocks noTextEdit="1"/>
          </p:cNvSpPr>
          <p:nvPr>
            <p:ph type="sldImg"/>
          </p:nvPr>
        </p:nvSpPr>
        <p:spPr>
          <a:ln/>
        </p:spPr>
      </p:sp>
      <p:sp>
        <p:nvSpPr>
          <p:cNvPr id="5325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5299" name="Rectangle 2"/>
          <p:cNvSpPr>
            <a:spLocks noTextEdit="1"/>
          </p:cNvSpPr>
          <p:nvPr>
            <p:ph type="sldImg"/>
          </p:nvPr>
        </p:nvSpPr>
        <p:spPr>
          <a:ln/>
        </p:spPr>
      </p:sp>
      <p:sp>
        <p:nvSpPr>
          <p:cNvPr id="5530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7347" name="Rectangle 2"/>
          <p:cNvSpPr>
            <a:spLocks noTextEdit="1"/>
          </p:cNvSpPr>
          <p:nvPr>
            <p:ph type="sldImg"/>
          </p:nvPr>
        </p:nvSpPr>
        <p:spPr>
          <a:ln/>
        </p:spPr>
      </p:sp>
      <p:sp>
        <p:nvSpPr>
          <p:cNvPr id="5734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0419" name="Rectangle 2"/>
          <p:cNvSpPr>
            <a:spLocks noTextEdit="1"/>
          </p:cNvSpPr>
          <p:nvPr>
            <p:ph type="sldImg"/>
          </p:nvPr>
        </p:nvSpPr>
        <p:spPr>
          <a:ln/>
        </p:spPr>
      </p:sp>
      <p:sp>
        <p:nvSpPr>
          <p:cNvPr id="6042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2467" name="Rectangle 2"/>
          <p:cNvSpPr>
            <a:spLocks noTextEdit="1"/>
          </p:cNvSpPr>
          <p:nvPr>
            <p:ph type="sldImg"/>
          </p:nvPr>
        </p:nvSpPr>
        <p:spPr>
          <a:ln/>
        </p:spPr>
      </p:sp>
      <p:sp>
        <p:nvSpPr>
          <p:cNvPr id="6246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4515" name="Rectangle 2"/>
          <p:cNvSpPr>
            <a:spLocks noTextEdit="1"/>
          </p:cNvSpPr>
          <p:nvPr>
            <p:ph type="sldImg"/>
          </p:nvPr>
        </p:nvSpPr>
        <p:spPr>
          <a:ln/>
        </p:spPr>
      </p:sp>
      <p:sp>
        <p:nvSpPr>
          <p:cNvPr id="6451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6563" name="Rectangle 2"/>
          <p:cNvSpPr>
            <a:spLocks noTextEdit="1"/>
          </p:cNvSpPr>
          <p:nvPr>
            <p:ph type="sldImg"/>
          </p:nvPr>
        </p:nvSpPr>
        <p:spPr>
          <a:ln/>
        </p:spPr>
      </p:sp>
      <p:sp>
        <p:nvSpPr>
          <p:cNvPr id="6656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8611" name="Rectangle 2"/>
          <p:cNvSpPr>
            <a:spLocks noTextEdit="1"/>
          </p:cNvSpPr>
          <p:nvPr>
            <p:ph type="sldImg"/>
          </p:nvPr>
        </p:nvSpPr>
        <p:spPr>
          <a:ln/>
        </p:spPr>
      </p:sp>
      <p:sp>
        <p:nvSpPr>
          <p:cNvPr id="6861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0659" name="Rectangle 2"/>
          <p:cNvSpPr>
            <a:spLocks noTextEdit="1"/>
          </p:cNvSpPr>
          <p:nvPr>
            <p:ph type="sldImg"/>
          </p:nvPr>
        </p:nvSpPr>
        <p:spPr>
          <a:ln/>
        </p:spPr>
      </p:sp>
      <p:sp>
        <p:nvSpPr>
          <p:cNvPr id="7066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2707" name="Rectangle 2"/>
          <p:cNvSpPr>
            <a:spLocks noTextEdit="1"/>
          </p:cNvSpPr>
          <p:nvPr>
            <p:ph type="sldImg"/>
          </p:nvPr>
        </p:nvSpPr>
        <p:spPr>
          <a:ln/>
        </p:spPr>
      </p:sp>
      <p:sp>
        <p:nvSpPr>
          <p:cNvPr id="7270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4755" name="Rectangle 2"/>
          <p:cNvSpPr>
            <a:spLocks noTextEdit="1"/>
          </p:cNvSpPr>
          <p:nvPr>
            <p:ph type="sldImg"/>
          </p:nvPr>
        </p:nvSpPr>
        <p:spPr>
          <a:ln/>
        </p:spPr>
      </p:sp>
      <p:sp>
        <p:nvSpPr>
          <p:cNvPr id="7475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6803" name="Rectangle 2"/>
          <p:cNvSpPr>
            <a:spLocks noTextEdit="1"/>
          </p:cNvSpPr>
          <p:nvPr>
            <p:ph type="sldImg"/>
          </p:nvPr>
        </p:nvSpPr>
        <p:spPr>
          <a:solidFill>
            <a:srgbClr val="FFFFFF">
              <a:alpha val="100000"/>
            </a:srgbClr>
          </a:solidFill>
          <a:ln/>
        </p:spPr>
      </p:sp>
      <p:sp>
        <p:nvSpPr>
          <p:cNvPr id="7680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8851" name="Rectangle 2"/>
          <p:cNvSpPr>
            <a:spLocks noTextEdit="1"/>
          </p:cNvSpPr>
          <p:nvPr>
            <p:ph type="sldImg"/>
          </p:nvPr>
        </p:nvSpPr>
        <p:spPr>
          <a:solidFill>
            <a:srgbClr val="FFFFFF">
              <a:alpha val="100000"/>
            </a:srgbClr>
          </a:solidFill>
          <a:ln/>
        </p:spPr>
      </p:sp>
      <p:sp>
        <p:nvSpPr>
          <p:cNvPr id="7885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0899" name="Rectangle 2"/>
          <p:cNvSpPr>
            <a:spLocks noTextEdit="1"/>
          </p:cNvSpPr>
          <p:nvPr>
            <p:ph type="sldImg"/>
          </p:nvPr>
        </p:nvSpPr>
        <p:spPr>
          <a:solidFill>
            <a:srgbClr val="FFFFFF">
              <a:alpha val="100000"/>
            </a:srgbClr>
          </a:solidFill>
          <a:ln/>
        </p:spPr>
      </p:sp>
      <p:sp>
        <p:nvSpPr>
          <p:cNvPr id="8090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2947" name="Rectangle 2050"/>
          <p:cNvSpPr>
            <a:spLocks noTextEdit="1"/>
          </p:cNvSpPr>
          <p:nvPr>
            <p:ph type="sldImg"/>
          </p:nvPr>
        </p:nvSpPr>
        <p:spPr>
          <a:solidFill>
            <a:srgbClr val="FFFFFF">
              <a:alpha val="100000"/>
            </a:srgbClr>
          </a:solidFill>
          <a:ln/>
        </p:spPr>
      </p:sp>
      <p:sp>
        <p:nvSpPr>
          <p:cNvPr id="82948" name="Rectangle 205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4995" name="Rectangle 2"/>
          <p:cNvSpPr>
            <a:spLocks noTextEdit="1"/>
          </p:cNvSpPr>
          <p:nvPr>
            <p:ph type="sldImg"/>
          </p:nvPr>
        </p:nvSpPr>
        <p:spPr>
          <a:solidFill>
            <a:srgbClr val="FFFFFF">
              <a:alpha val="100000"/>
            </a:srgbClr>
          </a:solidFill>
          <a:ln/>
        </p:spPr>
      </p:sp>
      <p:sp>
        <p:nvSpPr>
          <p:cNvPr id="8499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7043" name="Rectangle 2"/>
          <p:cNvSpPr>
            <a:spLocks noTextEdit="1"/>
          </p:cNvSpPr>
          <p:nvPr>
            <p:ph type="sldImg"/>
          </p:nvPr>
        </p:nvSpPr>
        <p:spPr>
          <a:solidFill>
            <a:srgbClr val="FFFFFF">
              <a:alpha val="100000"/>
            </a:srgbClr>
          </a:solidFill>
          <a:ln/>
        </p:spPr>
      </p:sp>
      <p:sp>
        <p:nvSpPr>
          <p:cNvPr id="8704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9091" name="Rectangle 2"/>
          <p:cNvSpPr>
            <a:spLocks noTextEdit="1"/>
          </p:cNvSpPr>
          <p:nvPr>
            <p:ph type="sldImg"/>
          </p:nvPr>
        </p:nvSpPr>
        <p:spPr>
          <a:solidFill>
            <a:srgbClr val="FFFFFF">
              <a:alpha val="100000"/>
            </a:srgbClr>
          </a:solidFill>
          <a:ln/>
        </p:spPr>
      </p:sp>
      <p:sp>
        <p:nvSpPr>
          <p:cNvPr id="8909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1139" name="Rectangle 2"/>
          <p:cNvSpPr>
            <a:spLocks noTextEdit="1"/>
          </p:cNvSpPr>
          <p:nvPr>
            <p:ph type="sldImg"/>
          </p:nvPr>
        </p:nvSpPr>
        <p:spPr>
          <a:solidFill>
            <a:srgbClr val="FFFFFF">
              <a:alpha val="100000"/>
            </a:srgbClr>
          </a:solidFill>
          <a:ln/>
        </p:spPr>
      </p:sp>
      <p:sp>
        <p:nvSpPr>
          <p:cNvPr id="9114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4211" name="Rectangle 2"/>
          <p:cNvSpPr>
            <a:spLocks noTextEdit="1"/>
          </p:cNvSpPr>
          <p:nvPr>
            <p:ph type="sldImg"/>
          </p:nvPr>
        </p:nvSpPr>
        <p:spPr>
          <a:solidFill>
            <a:srgbClr val="FFFFFF">
              <a:alpha val="100000"/>
            </a:srgbClr>
          </a:solidFill>
          <a:ln/>
        </p:spPr>
      </p:sp>
      <p:sp>
        <p:nvSpPr>
          <p:cNvPr id="9421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6259" name="Rectangle 2"/>
          <p:cNvSpPr>
            <a:spLocks noTextEdit="1"/>
          </p:cNvSpPr>
          <p:nvPr>
            <p:ph type="sldImg"/>
          </p:nvPr>
        </p:nvSpPr>
        <p:spPr>
          <a:solidFill>
            <a:srgbClr val="FFFFFF">
              <a:alpha val="100000"/>
            </a:srgbClr>
          </a:solidFill>
          <a:ln/>
        </p:spPr>
      </p:sp>
      <p:sp>
        <p:nvSpPr>
          <p:cNvPr id="9626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8307" name="Rectangle 2"/>
          <p:cNvSpPr>
            <a:spLocks noTextEdit="1"/>
          </p:cNvSpPr>
          <p:nvPr>
            <p:ph type="sldImg"/>
          </p:nvPr>
        </p:nvSpPr>
        <p:spPr>
          <a:solidFill>
            <a:srgbClr val="FFFFFF">
              <a:alpha val="100000"/>
            </a:srgbClr>
          </a:solidFill>
          <a:ln/>
        </p:spPr>
      </p:sp>
      <p:sp>
        <p:nvSpPr>
          <p:cNvPr id="9830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0355" name="Rectangle 2"/>
          <p:cNvSpPr>
            <a:spLocks noTextEdit="1"/>
          </p:cNvSpPr>
          <p:nvPr>
            <p:ph type="sldImg"/>
          </p:nvPr>
        </p:nvSpPr>
        <p:spPr>
          <a:solidFill>
            <a:srgbClr val="FFFFFF">
              <a:alpha val="100000"/>
            </a:srgbClr>
          </a:solidFill>
          <a:ln/>
        </p:spPr>
      </p:sp>
      <p:sp>
        <p:nvSpPr>
          <p:cNvPr id="10035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2403" name="Rectangle 2"/>
          <p:cNvSpPr>
            <a:spLocks noTextEdit="1"/>
          </p:cNvSpPr>
          <p:nvPr>
            <p:ph type="sldImg"/>
          </p:nvPr>
        </p:nvSpPr>
        <p:spPr>
          <a:solidFill>
            <a:srgbClr val="FFFFFF">
              <a:alpha val="100000"/>
            </a:srgbClr>
          </a:solidFill>
          <a:ln/>
        </p:spPr>
      </p:sp>
      <p:sp>
        <p:nvSpPr>
          <p:cNvPr id="10240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5475" name="Rectangle 2"/>
          <p:cNvSpPr>
            <a:spLocks noTextEdit="1"/>
          </p:cNvSpPr>
          <p:nvPr>
            <p:ph type="sldImg"/>
          </p:nvPr>
        </p:nvSpPr>
        <p:spPr>
          <a:solidFill>
            <a:srgbClr val="FFFFFF">
              <a:alpha val="100000"/>
            </a:srgbClr>
          </a:solidFill>
          <a:ln/>
        </p:spPr>
      </p:sp>
      <p:sp>
        <p:nvSpPr>
          <p:cNvPr id="10547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8547" name="Rectangle 2"/>
          <p:cNvSpPr>
            <a:spLocks noTextEdit="1"/>
          </p:cNvSpPr>
          <p:nvPr>
            <p:ph type="sldImg"/>
          </p:nvPr>
        </p:nvSpPr>
        <p:spPr>
          <a:solidFill>
            <a:srgbClr val="FFFFFF">
              <a:alpha val="100000"/>
            </a:srgbClr>
          </a:solidFill>
          <a:ln/>
        </p:spPr>
      </p:sp>
      <p:sp>
        <p:nvSpPr>
          <p:cNvPr id="10854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0595" name="Rectangle 2"/>
          <p:cNvSpPr>
            <a:spLocks noTextEdit="1"/>
          </p:cNvSpPr>
          <p:nvPr>
            <p:ph type="sldImg"/>
          </p:nvPr>
        </p:nvSpPr>
        <p:spPr>
          <a:solidFill>
            <a:srgbClr val="FFFFFF">
              <a:alpha val="100000"/>
            </a:srgbClr>
          </a:solidFill>
          <a:ln/>
        </p:spPr>
      </p:sp>
      <p:sp>
        <p:nvSpPr>
          <p:cNvPr id="11059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2643" name="Rectangle 1026"/>
          <p:cNvSpPr>
            <a:spLocks noTextEdit="1"/>
          </p:cNvSpPr>
          <p:nvPr>
            <p:ph type="sldImg"/>
          </p:nvPr>
        </p:nvSpPr>
        <p:spPr>
          <a:solidFill>
            <a:srgbClr val="FFFFFF">
              <a:alpha val="100000"/>
            </a:srgbClr>
          </a:solidFill>
          <a:ln/>
        </p:spPr>
      </p:sp>
      <p:sp>
        <p:nvSpPr>
          <p:cNvPr id="112644" name="Rectangle 1027"/>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4691" name="Rectangle 2"/>
          <p:cNvSpPr>
            <a:spLocks noTextEdit="1"/>
          </p:cNvSpPr>
          <p:nvPr>
            <p:ph type="sldImg"/>
          </p:nvPr>
        </p:nvSpPr>
        <p:spPr>
          <a:solidFill>
            <a:srgbClr val="FFFFFF">
              <a:alpha val="100000"/>
            </a:srgbClr>
          </a:solidFill>
          <a:ln/>
        </p:spPr>
      </p:sp>
      <p:sp>
        <p:nvSpPr>
          <p:cNvPr id="11469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6739" name="Rectangle 2"/>
          <p:cNvSpPr>
            <a:spLocks noTextEdit="1"/>
          </p:cNvSpPr>
          <p:nvPr>
            <p:ph type="sldImg"/>
          </p:nvPr>
        </p:nvSpPr>
        <p:spPr>
          <a:solidFill>
            <a:srgbClr val="FFFFFF">
              <a:alpha val="100000"/>
            </a:srgbClr>
          </a:solidFill>
          <a:ln/>
        </p:spPr>
      </p:sp>
      <p:sp>
        <p:nvSpPr>
          <p:cNvPr id="11674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8787" name="Rectangle 2"/>
          <p:cNvSpPr>
            <a:spLocks noTextEdit="1"/>
          </p:cNvSpPr>
          <p:nvPr>
            <p:ph type="sldImg"/>
          </p:nvPr>
        </p:nvSpPr>
        <p:spPr>
          <a:solidFill>
            <a:srgbClr val="FFFFFF">
              <a:alpha val="100000"/>
            </a:srgbClr>
          </a:solidFill>
          <a:ln/>
        </p:spPr>
      </p:sp>
      <p:sp>
        <p:nvSpPr>
          <p:cNvPr id="11878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676400"/>
            <a:ext cx="3695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62500" y="1676400"/>
            <a:ext cx="3695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457200"/>
            <a:ext cx="1885950"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914400" y="457200"/>
            <a:ext cx="5505450" cy="5715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122" name="Rectangle 2"/>
          <p:cNvSpPr>
            <a:spLocks noGrp="1" noChangeArrowheads="1"/>
          </p:cNvSpPr>
          <p:nvPr>
            <p:ph type="dt" sz="half" idx="2"/>
          </p:nvPr>
        </p:nvSpPr>
        <p:spPr bwMode="auto">
          <a:xfrm>
            <a:off x="914400" y="6400800"/>
            <a:ext cx="1905000" cy="457200"/>
          </a:xfrm>
          <a:prstGeom prst="rect">
            <a:avLst/>
          </a:prstGeom>
          <a:noFill/>
          <a:ln>
            <a:noFill/>
          </a:ln>
          <a:effectLst/>
        </p:spPr>
        <p:txBody>
          <a:bodyPr vert="horz" wrap="none" lIns="92075" tIns="46038" rIns="92075" bIns="46038" numCol="1" anchor="ctr" anchorCtr="0" compatLnSpc="1"/>
          <a:lstStyle>
            <a:lvl1pPr>
              <a:defRPr sz="140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3" name="Rectangle 3"/>
          <p:cNvSpPr>
            <a:spLocks noGrp="1" noChangeArrowheads="1"/>
          </p:cNvSpPr>
          <p:nvPr>
            <p:ph type="ftr" sz="quarter" idx="3"/>
          </p:nvPr>
        </p:nvSpPr>
        <p:spPr bwMode="auto">
          <a:xfrm>
            <a:off x="3124200" y="6400800"/>
            <a:ext cx="2895600" cy="457200"/>
          </a:xfrm>
          <a:prstGeom prst="rect">
            <a:avLst/>
          </a:prstGeom>
          <a:noFill/>
          <a:ln>
            <a:noFill/>
          </a:ln>
          <a:effectLst/>
        </p:spPr>
        <p:txBody>
          <a:bodyPr vert="horz" wrap="none" lIns="92075" tIns="46038" rIns="92075" bIns="46038" numCol="1" anchor="ctr" anchorCtr="0" compatLnSpc="1"/>
          <a:lstStyle>
            <a:lvl1pPr algn="ctr">
              <a:defRPr sz="1400">
                <a:ea typeface="宋体" panose="02010600030101010101" pitchFamily="2"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4" name="Rectangle 4"/>
          <p:cNvSpPr>
            <a:spLocks noGrp="1" noChangeArrowheads="1"/>
          </p:cNvSpPr>
          <p:nvPr>
            <p:ph type="sldNum" sz="quarter" idx="4"/>
          </p:nvPr>
        </p:nvSpPr>
        <p:spPr bwMode="auto">
          <a:xfrm>
            <a:off x="6553200" y="6400800"/>
            <a:ext cx="1905000" cy="457200"/>
          </a:xfrm>
          <a:prstGeom prst="rect">
            <a:avLst/>
          </a:prstGeom>
          <a:noFill/>
          <a:ln>
            <a:noFill/>
          </a:ln>
          <a:effectLst/>
        </p:spPr>
        <p:txBody>
          <a:bodyPr vert="horz" wrap="none" lIns="92075" tIns="46038" rIns="92075" bIns="46038" numCol="1" anchor="ctr" anchorCtr="0" compatLnSpc="1"/>
          <a:lstStyle>
            <a:lvl1pPr algn="r">
              <a:defRPr sz="140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p:cNvSpPr>
          <p:nvPr>
            <p:ph type="title"/>
          </p:nvPr>
        </p:nvSpPr>
        <p:spPr>
          <a:xfrm>
            <a:off x="914400" y="457200"/>
            <a:ext cx="7543800" cy="914400"/>
          </a:xfrm>
          <a:prstGeom prst="rect">
            <a:avLst/>
          </a:prstGeom>
          <a:noFill/>
          <a:ln w="9525">
            <a:noFill/>
          </a:ln>
        </p:spPr>
        <p:txBody>
          <a:bodyPr lIns="92075" tIns="46038" rIns="92075" bIns="46038" anchor="ctr" anchorCtr="0"/>
          <a:p>
            <a:pPr lvl="0"/>
            <a:r>
              <a:rPr lang="en-US" altLang="zh-CN" dirty="0"/>
              <a:t>Click to edit Master title style</a:t>
            </a:r>
            <a:endParaRPr lang="en-US" altLang="zh-CN" dirty="0"/>
          </a:p>
        </p:txBody>
      </p:sp>
      <p:sp>
        <p:nvSpPr>
          <p:cNvPr id="1030" name="Rectangle 6"/>
          <p:cNvSpPr>
            <a:spLocks noGrp="1"/>
          </p:cNvSpPr>
          <p:nvPr>
            <p:ph type="body" idx="1"/>
          </p:nvPr>
        </p:nvSpPr>
        <p:spPr>
          <a:xfrm>
            <a:off x="914400" y="1676400"/>
            <a:ext cx="7543800" cy="4495800"/>
          </a:xfrm>
          <a:prstGeom prst="rect">
            <a:avLst/>
          </a:prstGeom>
          <a:noFill/>
          <a:ln w="9525">
            <a:noFill/>
          </a:ln>
        </p:spPr>
        <p:txBody>
          <a:bodyPr lIns="92075" tIns="46038" rIns="92075" bIns="46038"/>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31" name="Rectangle 13"/>
          <p:cNvSpPr>
            <a:spLocks noChangeArrowheads="1"/>
          </p:cNvSpPr>
          <p:nvPr/>
        </p:nvSpPr>
        <p:spPr bwMode="auto">
          <a:xfrm>
            <a:off x="288925" y="425450"/>
            <a:ext cx="8574088" cy="1173163"/>
          </a:xfrm>
          <a:prstGeom prst="rect">
            <a:avLst/>
          </a:prstGeom>
          <a:noFill/>
          <a:ln>
            <a:noFill/>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2" name="Rectangle 14"/>
          <p:cNvSpPr>
            <a:spLocks noChangeArrowheads="1"/>
          </p:cNvSpPr>
          <p:nvPr/>
        </p:nvSpPr>
        <p:spPr bwMode="auto">
          <a:xfrm>
            <a:off x="4191000" y="6477000"/>
            <a:ext cx="390525" cy="304800"/>
          </a:xfrm>
          <a:prstGeom prst="rect">
            <a:avLst/>
          </a:prstGeom>
          <a:noFill/>
          <a:ln>
            <a:noFill/>
          </a:ln>
          <a:effectLst/>
        </p:spPr>
        <p:txBody>
          <a:bodyPr wrap="none" lIns="92075" tIns="46038" rIns="92075" bIns="46038">
            <a:spAutoFit/>
          </a:bodyPr>
          <a:p>
            <a:pPr lvl="0">
              <a:buNone/>
            </a:pPr>
            <a:fld id="{9A0DB2DC-4C9A-4742-B13C-FB6460FD3503}" type="slidenum">
              <a:rPr lang="zh-CN" altLang="en-US" sz="1400" dirty="0">
                <a:solidFill>
                  <a:schemeClr val="tx2"/>
                </a:solidFill>
                <a:latin typeface="Times New Roman" panose="02020603050405020304" pitchFamily="18" charset="0"/>
                <a:ea typeface="宋体" panose="02010600030101010101" pitchFamily="2" charset="-122"/>
              </a:rPr>
            </a:fld>
            <a:endParaRPr lang="zh-CN" altLang="en-US" sz="1400" dirty="0">
              <a:solidFill>
                <a:schemeClr val="tx2"/>
              </a:solidFill>
              <a:latin typeface="Arial" panose="020B0604020202020204" pitchFamily="34" charset="0"/>
              <a:ea typeface="宋体" panose="02010600030101010101" pitchFamily="2" charset="-122"/>
            </a:endParaRPr>
          </a:p>
        </p:txBody>
      </p:sp>
      <p:pic>
        <p:nvPicPr>
          <p:cNvPr id="1033" name="Picture 15" descr="ict1"/>
          <p:cNvPicPr>
            <a:picLocks noChangeAspect="1"/>
          </p:cNvPicPr>
          <p:nvPr userDrawn="1"/>
        </p:nvPicPr>
        <p:blipFill>
          <a:blip r:embed="rId12"/>
          <a:stretch>
            <a:fillRect/>
          </a:stretch>
        </p:blipFill>
        <p:spPr>
          <a:xfrm>
            <a:off x="152400" y="223838"/>
            <a:ext cx="3505200" cy="538162"/>
          </a:xfrm>
          <a:prstGeom prst="rect">
            <a:avLst/>
          </a:prstGeom>
          <a:noFill/>
          <a:ln w="9525">
            <a:noFill/>
          </a:ln>
        </p:spPr>
      </p:pic>
      <p:sp>
        <p:nvSpPr>
          <p:cNvPr id="1034" name="Rectangle 17"/>
          <p:cNvSpPr>
            <a:spLocks noChangeArrowheads="1"/>
          </p:cNvSpPr>
          <p:nvPr/>
        </p:nvSpPr>
        <p:spPr bwMode="gray">
          <a:xfrm>
            <a:off x="917575" y="1339850"/>
            <a:ext cx="8226425" cy="31750"/>
          </a:xfrm>
          <a:prstGeom prst="rect">
            <a:avLst/>
          </a:prstGeom>
          <a:gradFill rotWithShape="0">
            <a:gsLst>
              <a:gs pos="0">
                <a:schemeClr val="bg2"/>
              </a:gs>
              <a:gs pos="100000">
                <a:schemeClr val="bg1"/>
              </a:gs>
            </a:gsLst>
            <a:lin ang="0" scaled="1"/>
          </a:gradFill>
          <a:ln>
            <a:noFill/>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hf sldNum="0" hdr="0" ftr="0" dt="0"/>
  <p:txStyles>
    <p:titleStyle>
      <a:lvl1pPr algn="ctr" rtl="0" eaLnBrk="0" fontAlgn="base" hangingPunct="0">
        <a:spcBef>
          <a:spcPct val="0"/>
        </a:spcBef>
        <a:spcAft>
          <a:spcPct val="0"/>
        </a:spcAft>
        <a:defRPr sz="3200" b="1">
          <a:solidFill>
            <a:srgbClr val="063DE8"/>
          </a:solidFill>
          <a:latin typeface="+mj-lt"/>
          <a:ea typeface="+mj-ea"/>
          <a:cs typeface="+mj-cs"/>
        </a:defRPr>
      </a:lvl1pPr>
      <a:lvl2pPr algn="ctr" rtl="0" eaLnBrk="0" fontAlgn="base" hangingPunct="0">
        <a:spcBef>
          <a:spcPct val="0"/>
        </a:spcBef>
        <a:spcAft>
          <a:spcPct val="0"/>
        </a:spcAft>
        <a:defRPr sz="3200" b="1">
          <a:solidFill>
            <a:srgbClr val="063DE8"/>
          </a:solidFill>
          <a:latin typeface="Book Antiqua" panose="02040602050305030304" pitchFamily="18" charset="0"/>
        </a:defRPr>
      </a:lvl2pPr>
      <a:lvl3pPr algn="ctr" rtl="0" eaLnBrk="0" fontAlgn="base" hangingPunct="0">
        <a:spcBef>
          <a:spcPct val="0"/>
        </a:spcBef>
        <a:spcAft>
          <a:spcPct val="0"/>
        </a:spcAft>
        <a:defRPr sz="3200" b="1">
          <a:solidFill>
            <a:srgbClr val="063DE8"/>
          </a:solidFill>
          <a:latin typeface="Book Antiqua" panose="02040602050305030304" pitchFamily="18" charset="0"/>
        </a:defRPr>
      </a:lvl3pPr>
      <a:lvl4pPr algn="ctr" rtl="0" eaLnBrk="0" fontAlgn="base" hangingPunct="0">
        <a:spcBef>
          <a:spcPct val="0"/>
        </a:spcBef>
        <a:spcAft>
          <a:spcPct val="0"/>
        </a:spcAft>
        <a:defRPr sz="3200" b="1">
          <a:solidFill>
            <a:srgbClr val="063DE8"/>
          </a:solidFill>
          <a:latin typeface="Book Antiqua" panose="02040602050305030304" pitchFamily="18" charset="0"/>
        </a:defRPr>
      </a:lvl4pPr>
      <a:lvl5pPr algn="ctr" rtl="0" eaLnBrk="0" fontAlgn="base" hangingPunct="0">
        <a:spcBef>
          <a:spcPct val="0"/>
        </a:spcBef>
        <a:spcAft>
          <a:spcPct val="0"/>
        </a:spcAft>
        <a:defRPr sz="3200" b="1">
          <a:solidFill>
            <a:srgbClr val="063DE8"/>
          </a:solidFill>
          <a:latin typeface="Book Antiqua" panose="02040602050305030304" pitchFamily="18" charset="0"/>
        </a:defRPr>
      </a:lvl5pPr>
      <a:lvl6pPr marL="457200" algn="ctr" rtl="0" eaLnBrk="0" fontAlgn="base" hangingPunct="0">
        <a:spcBef>
          <a:spcPct val="0"/>
        </a:spcBef>
        <a:spcAft>
          <a:spcPct val="0"/>
        </a:spcAft>
        <a:defRPr sz="3200" b="1">
          <a:solidFill>
            <a:srgbClr val="063DE8"/>
          </a:solidFill>
          <a:latin typeface="Book Antiqua" panose="02040602050305030304" pitchFamily="18" charset="0"/>
        </a:defRPr>
      </a:lvl6pPr>
      <a:lvl7pPr marL="914400" algn="ctr" rtl="0" eaLnBrk="0" fontAlgn="base" hangingPunct="0">
        <a:spcBef>
          <a:spcPct val="0"/>
        </a:spcBef>
        <a:spcAft>
          <a:spcPct val="0"/>
        </a:spcAft>
        <a:defRPr sz="3200" b="1">
          <a:solidFill>
            <a:srgbClr val="063DE8"/>
          </a:solidFill>
          <a:latin typeface="Book Antiqua" panose="02040602050305030304" pitchFamily="18" charset="0"/>
        </a:defRPr>
      </a:lvl7pPr>
      <a:lvl8pPr marL="1371600" algn="ctr" rtl="0" eaLnBrk="0" fontAlgn="base" hangingPunct="0">
        <a:spcBef>
          <a:spcPct val="0"/>
        </a:spcBef>
        <a:spcAft>
          <a:spcPct val="0"/>
        </a:spcAft>
        <a:defRPr sz="3200" b="1">
          <a:solidFill>
            <a:srgbClr val="063DE8"/>
          </a:solidFill>
          <a:latin typeface="Book Antiqua" panose="02040602050305030304" pitchFamily="18" charset="0"/>
        </a:defRPr>
      </a:lvl8pPr>
      <a:lvl9pPr marL="1828800" algn="ctr" rtl="0" eaLnBrk="0" fontAlgn="base" hangingPunct="0">
        <a:spcBef>
          <a:spcPct val="0"/>
        </a:spcBef>
        <a:spcAft>
          <a:spcPct val="0"/>
        </a:spcAft>
        <a:defRPr sz="3200" b="1">
          <a:solidFill>
            <a:srgbClr val="063DE8"/>
          </a:solidFill>
          <a:latin typeface="Book Antiqua" panose="02040602050305030304" pitchFamily="18" charset="0"/>
        </a:defRPr>
      </a:lvl9pPr>
    </p:titleStyle>
    <p:body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3.w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wmf"/></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6.emf"/><Relationship Id="rId1"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7.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4.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w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w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3.wmf"/><Relationship Id="rId1" Type="http://schemas.openxmlformats.org/officeDocument/2006/relationships/oleObject" Target="../embeddings/oleObject5.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w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16.w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wmf"/></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wmf"/></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image" Target="../media/image20.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第七章	运行时刻环境 </a:t>
            </a:r>
            <a:endParaRPr lang="en-US" altLang="zh-CN" dirty="0">
              <a:latin typeface="Times New Roman" panose="02020603050405020304" pitchFamily="18" charset="0"/>
              <a:ea typeface="宋体" panose="02010600030101010101" pitchFamily="2" charset="-122"/>
            </a:endParaRPr>
          </a:p>
        </p:txBody>
      </p:sp>
      <p:sp>
        <p:nvSpPr>
          <p:cNvPr id="4099" name="Rectangle 3"/>
          <p:cNvSpPr>
            <a:spLocks noGrp="1"/>
          </p:cNvSpPr>
          <p:nvPr>
            <p:ph idx="1"/>
          </p:nvPr>
        </p:nvSpPr>
        <p:spPr>
          <a:xfrm>
            <a:off x="990600" y="1371600"/>
            <a:ext cx="7391400" cy="4419600"/>
          </a:xfrm>
          <a:ln/>
        </p:spPr>
        <p:txBody>
          <a:bodyPr vert="horz" wrap="square" lIns="92075" tIns="46038" rIns="92075" bIns="46038" anchor="t" anchorCtr="0"/>
          <a:p>
            <a:pPr>
              <a:spcBef>
                <a:spcPct val="40000"/>
              </a:spcBef>
              <a:spcAft>
                <a:spcPct val="20000"/>
              </a:spcAft>
            </a:pPr>
            <a:r>
              <a:rPr lang="zh-CN" altLang="en-US" sz="3000" b="1" dirty="0">
                <a:ea typeface="宋体" panose="02010600030101010101" pitchFamily="2" charset="-122"/>
              </a:rPr>
              <a:t>运行时刻环境</a:t>
            </a:r>
            <a:endParaRPr lang="en-US" altLang="zh-CN" sz="3000" b="1" dirty="0">
              <a:ea typeface="宋体" panose="02010600030101010101" pitchFamily="2" charset="-122"/>
            </a:endParaRPr>
          </a:p>
          <a:p>
            <a:pPr lvl="1">
              <a:spcBef>
                <a:spcPts val="600"/>
              </a:spcBef>
            </a:pPr>
            <a:r>
              <a:rPr lang="zh-CN" altLang="en-US" sz="2800" b="1" dirty="0">
                <a:ea typeface="宋体" panose="02010600030101010101" pitchFamily="2" charset="-122"/>
              </a:rPr>
              <a:t>将程序的静态概念与运行时对象</a:t>
            </a:r>
            <a:r>
              <a:rPr lang="en-US" altLang="zh-CN" sz="2800" b="1" dirty="0">
                <a:ea typeface="宋体" panose="02010600030101010101" pitchFamily="2" charset="-122"/>
              </a:rPr>
              <a:t>/</a:t>
            </a:r>
            <a:r>
              <a:rPr lang="zh-CN" altLang="en-US" sz="2800" b="1" dirty="0">
                <a:ea typeface="宋体" panose="02010600030101010101" pitchFamily="2" charset="-122"/>
              </a:rPr>
              <a:t>机制建立联系</a:t>
            </a:r>
            <a:endParaRPr lang="en-US" altLang="zh-CN" sz="2800" b="1" dirty="0">
              <a:ea typeface="宋体" panose="02010600030101010101" pitchFamily="2" charset="-122"/>
            </a:endParaRPr>
          </a:p>
          <a:p>
            <a:pPr>
              <a:spcBef>
                <a:spcPct val="40000"/>
              </a:spcBef>
              <a:spcAft>
                <a:spcPct val="20000"/>
              </a:spcAft>
            </a:pPr>
            <a:r>
              <a:rPr lang="zh-CN" altLang="en-US" sz="3000" b="1" dirty="0">
                <a:ea typeface="宋体" panose="02010600030101010101" pitchFamily="2" charset="-122"/>
              </a:rPr>
              <a:t>源语言问题</a:t>
            </a:r>
            <a:endParaRPr lang="zh-CN" altLang="en-US" sz="3000" b="1" dirty="0">
              <a:ea typeface="宋体" panose="02010600030101010101" pitchFamily="2" charset="-122"/>
            </a:endParaRPr>
          </a:p>
          <a:p>
            <a:pPr>
              <a:spcBef>
                <a:spcPct val="40000"/>
              </a:spcBef>
              <a:spcAft>
                <a:spcPct val="20000"/>
              </a:spcAft>
            </a:pPr>
            <a:r>
              <a:rPr lang="zh-CN" altLang="en-US" sz="3000" b="1" dirty="0">
                <a:ea typeface="宋体" panose="02010600030101010101" pitchFamily="2" charset="-122"/>
              </a:rPr>
              <a:t>存储组织</a:t>
            </a:r>
            <a:endParaRPr lang="zh-CN" altLang="en-US" sz="3000" b="1" dirty="0">
              <a:ea typeface="宋体" panose="02010600030101010101" pitchFamily="2" charset="-122"/>
            </a:endParaRPr>
          </a:p>
          <a:p>
            <a:pPr>
              <a:spcBef>
                <a:spcPct val="40000"/>
              </a:spcBef>
              <a:spcAft>
                <a:spcPct val="20000"/>
              </a:spcAft>
            </a:pPr>
            <a:r>
              <a:rPr lang="zh-CN" altLang="en-US" sz="3000" b="1" dirty="0">
                <a:ea typeface="宋体" panose="02010600030101010101" pitchFamily="2" charset="-122"/>
              </a:rPr>
              <a:t>存储分配策略</a:t>
            </a:r>
            <a:endParaRPr lang="zh-CN" altLang="en-US" sz="3000" b="1" dirty="0">
              <a:ea typeface="宋体" panose="02010600030101010101" pitchFamily="2" charset="-122"/>
            </a:endParaRPr>
          </a:p>
          <a:p>
            <a:pPr>
              <a:spcBef>
                <a:spcPct val="40000"/>
              </a:spcBef>
              <a:spcAft>
                <a:spcPct val="20000"/>
              </a:spcAft>
            </a:pPr>
            <a:r>
              <a:rPr lang="zh-CN" altLang="en-US" sz="3000" b="1" dirty="0">
                <a:ea typeface="宋体" panose="02010600030101010101" pitchFamily="2" charset="-122"/>
              </a:rPr>
              <a:t>访问非局部名字</a:t>
            </a:r>
            <a:endParaRPr lang="zh-CN" altLang="en-US" sz="3000" b="1" dirty="0">
              <a:ea typeface="宋体" panose="02010600030101010101" pitchFamily="2" charset="-122"/>
            </a:endParaRPr>
          </a:p>
          <a:p>
            <a:pPr>
              <a:spcBef>
                <a:spcPct val="40000"/>
              </a:spcBef>
              <a:spcAft>
                <a:spcPct val="20000"/>
              </a:spcAft>
            </a:pPr>
            <a:r>
              <a:rPr lang="zh-CN" altLang="en-US" sz="3000" b="1" dirty="0">
                <a:ea typeface="宋体" panose="02010600030101010101" pitchFamily="2" charset="-122"/>
              </a:rPr>
              <a:t>参数传递</a:t>
            </a:r>
            <a:endParaRPr lang="zh-CN" altLang="en-US" sz="3000" b="1" dirty="0">
              <a:ea typeface="宋体" panose="02010600030101010101" pitchFamily="2"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静态和动态</a:t>
            </a:r>
            <a:endParaRPr lang="zh-CN" altLang="en-US" dirty="0">
              <a:latin typeface="Times New Roman" panose="02020603050405020304" pitchFamily="18" charset="0"/>
              <a:ea typeface="宋体" panose="02010600030101010101" pitchFamily="2" charset="-122"/>
            </a:endParaRPr>
          </a:p>
        </p:txBody>
      </p:sp>
      <p:sp>
        <p:nvSpPr>
          <p:cNvPr id="6147" name="Rectangle 3"/>
          <p:cNvSpPr>
            <a:spLocks noGrp="1"/>
          </p:cNvSpPr>
          <p:nvPr>
            <p:ph idx="1"/>
          </p:nvPr>
        </p:nvSpPr>
        <p:spPr>
          <a:xfrm>
            <a:off x="990600" y="1524000"/>
            <a:ext cx="7391400" cy="4724400"/>
          </a:xfrm>
          <a:ln/>
        </p:spPr>
        <p:txBody>
          <a:bodyPr vert="horz" wrap="square" lIns="92075" tIns="46038" rIns="92075" bIns="46038" anchor="t" anchorCtr="0"/>
          <a:p>
            <a:r>
              <a:rPr lang="zh-CN" altLang="en-US" sz="2400" b="1" dirty="0">
                <a:ea typeface="宋体" panose="02010600030101010101" pitchFamily="2" charset="-122"/>
              </a:rPr>
              <a:t>静态和动态的联系</a:t>
            </a:r>
            <a:endParaRPr lang="zh-CN" altLang="en-US" sz="2400" b="1" dirty="0">
              <a:ea typeface="宋体" panose="02010600030101010101" pitchFamily="2" charset="-122"/>
            </a:endParaRPr>
          </a:p>
          <a:p>
            <a:pPr lvl="1"/>
            <a:r>
              <a:rPr lang="zh-CN" altLang="en-US" b="1" dirty="0">
                <a:ea typeface="宋体" panose="02010600030101010101" pitchFamily="2" charset="-122"/>
              </a:rPr>
              <a:t>名字和数据对象</a:t>
            </a:r>
            <a:endParaRPr lang="zh-CN" altLang="en-US" b="1" dirty="0">
              <a:ea typeface="宋体" panose="02010600030101010101" pitchFamily="2" charset="-122"/>
            </a:endParaRPr>
          </a:p>
          <a:p>
            <a:pPr lvl="1"/>
            <a:r>
              <a:rPr lang="zh-CN" altLang="en-US" sz="2200" b="1" dirty="0">
                <a:ea typeface="宋体" panose="02010600030101010101" pitchFamily="2" charset="-122"/>
              </a:rPr>
              <a:t>数据对象的动态表示</a:t>
            </a:r>
            <a:endParaRPr lang="zh-CN" altLang="en-US" sz="2200" b="1" dirty="0">
              <a:ea typeface="宋体" panose="02010600030101010101" pitchFamily="2" charset="-122"/>
            </a:endParaRPr>
          </a:p>
          <a:p>
            <a:pPr lvl="1"/>
            <a:r>
              <a:rPr lang="zh-CN" altLang="en-US" sz="2200" b="1" dirty="0">
                <a:ea typeface="宋体" panose="02010600030101010101" pitchFamily="2" charset="-122"/>
              </a:rPr>
              <a:t>名字的作用域</a:t>
            </a:r>
            <a:endParaRPr lang="zh-CN" altLang="en-US" sz="2200" b="1" dirty="0">
              <a:ea typeface="宋体" panose="02010600030101010101" pitchFamily="2" charset="-122"/>
            </a:endParaRPr>
          </a:p>
          <a:p>
            <a:pPr lvl="1"/>
            <a:r>
              <a:rPr lang="zh-CN" altLang="en-US" sz="2200" b="1" dirty="0">
                <a:ea typeface="宋体" panose="02010600030101010101" pitchFamily="2" charset="-122"/>
              </a:rPr>
              <a:t>数据对象的存储分配</a:t>
            </a:r>
            <a:endParaRPr lang="zh-CN" altLang="en-US" sz="2200" b="1" dirty="0">
              <a:ea typeface="宋体" panose="02010600030101010101" pitchFamily="2" charset="-122"/>
            </a:endParaRPr>
          </a:p>
          <a:p>
            <a:pPr lvl="1"/>
            <a:r>
              <a:rPr lang="zh-CN" altLang="en-US" sz="2200" b="1" dirty="0">
                <a:ea typeface="宋体" panose="02010600030101010101" pitchFamily="2" charset="-122"/>
              </a:rPr>
              <a:t>过程和活动</a:t>
            </a:r>
            <a:endParaRPr lang="zh-CN" altLang="en-US" sz="2200" b="1" dirty="0">
              <a:ea typeface="宋体" panose="02010600030101010101" pitchFamily="2" charset="-122"/>
            </a:endParaRPr>
          </a:p>
          <a:p>
            <a:pPr lvl="1"/>
            <a:r>
              <a:rPr lang="zh-CN" altLang="en-US" sz="2200" b="1" dirty="0">
                <a:ea typeface="宋体" panose="02010600030101010101" pitchFamily="2" charset="-122"/>
              </a:rPr>
              <a:t>参数处理</a:t>
            </a:r>
            <a:endParaRPr lang="zh-CN" altLang="en-US" sz="2200" b="1" dirty="0">
              <a:ea typeface="宋体" panose="02010600030101010101" pitchFamily="2" charset="-122"/>
            </a:endParaRPr>
          </a:p>
          <a:p>
            <a:r>
              <a:rPr lang="zh-CN" altLang="en-US" sz="2400" b="1" dirty="0">
                <a:ea typeface="宋体" panose="02010600030101010101" pitchFamily="2" charset="-122"/>
              </a:rPr>
              <a:t>运行时支撑程序包</a:t>
            </a:r>
            <a:endParaRPr lang="zh-CN" altLang="en-US" sz="2400" b="1" dirty="0">
              <a:ea typeface="宋体" panose="02010600030101010101" pitchFamily="2" charset="-122"/>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源语言问题（1）</a:t>
            </a:r>
            <a:endParaRPr lang="zh-CN" altLang="en-US" dirty="0">
              <a:latin typeface="Times New Roman" panose="02020603050405020304" pitchFamily="18" charset="0"/>
              <a:ea typeface="宋体" panose="02010600030101010101" pitchFamily="2" charset="-122"/>
            </a:endParaRPr>
          </a:p>
        </p:txBody>
      </p:sp>
      <p:sp>
        <p:nvSpPr>
          <p:cNvPr id="8195" name="Rectangle 3"/>
          <p:cNvSpPr>
            <a:spLocks noGrp="1"/>
          </p:cNvSpPr>
          <p:nvPr>
            <p:ph idx="1"/>
          </p:nvPr>
        </p:nvSpPr>
        <p:spPr>
          <a:xfrm>
            <a:off x="990600" y="1524000"/>
            <a:ext cx="7391400" cy="4724400"/>
          </a:xfrm>
          <a:ln/>
        </p:spPr>
        <p:txBody>
          <a:bodyPr vert="horz" wrap="square" lIns="92075" tIns="46038" rIns="92075" bIns="46038" anchor="t" anchorCtr="0"/>
          <a:p>
            <a:pPr>
              <a:lnSpc>
                <a:spcPct val="90000"/>
              </a:lnSpc>
            </a:pPr>
            <a:r>
              <a:rPr lang="zh-CN" altLang="en-US" sz="2400" b="1" dirty="0">
                <a:ea typeface="宋体" panose="02010600030101010101" pitchFamily="2" charset="-122"/>
              </a:rPr>
              <a:t>过程及其执行</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过程定义：是一个声明，最简单形式是把一个标识符和一个语句联系起来</a:t>
            </a:r>
            <a:endParaRPr lang="zh-CN" altLang="en-US" sz="2200" b="1" dirty="0">
              <a:ea typeface="宋体" panose="02010600030101010101" pitchFamily="2" charset="-122"/>
            </a:endParaRPr>
          </a:p>
          <a:p>
            <a:pPr lvl="2">
              <a:lnSpc>
                <a:spcPct val="90000"/>
              </a:lnSpc>
            </a:pPr>
            <a:r>
              <a:rPr lang="zh-CN" altLang="en-US" b="1" dirty="0">
                <a:ea typeface="宋体" panose="02010600030101010101" pitchFamily="2" charset="-122"/>
              </a:rPr>
              <a:t>该标识符称为过程名</a:t>
            </a:r>
            <a:endParaRPr lang="zh-CN" altLang="en-US" b="1" dirty="0">
              <a:ea typeface="宋体" panose="02010600030101010101" pitchFamily="2" charset="-122"/>
            </a:endParaRPr>
          </a:p>
          <a:p>
            <a:pPr lvl="2">
              <a:lnSpc>
                <a:spcPct val="90000"/>
              </a:lnSpc>
            </a:pPr>
            <a:r>
              <a:rPr lang="zh-CN" altLang="en-US" sz="2000" b="1" dirty="0">
                <a:ea typeface="宋体" panose="02010600030101010101" pitchFamily="2" charset="-122"/>
              </a:rPr>
              <a:t>语句是过程体</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函数：返回值的过程</a:t>
            </a:r>
            <a:endParaRPr lang="zh-CN" altLang="en-US" sz="2000" b="1" dirty="0">
              <a:ea typeface="宋体" panose="02010600030101010101" pitchFamily="2" charset="-122"/>
            </a:endParaRPr>
          </a:p>
          <a:p>
            <a:pPr lvl="1">
              <a:lnSpc>
                <a:spcPct val="90000"/>
              </a:lnSpc>
            </a:pPr>
            <a:r>
              <a:rPr lang="zh-CN" altLang="en-US" sz="2200" b="1" dirty="0">
                <a:ea typeface="宋体" panose="02010600030101010101" pitchFamily="2" charset="-122"/>
              </a:rPr>
              <a:t>过程调用</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过程名出现在可执行语句中时，则称这个过程在这点</a:t>
            </a:r>
            <a:r>
              <a:rPr lang="zh-CN" altLang="en-US" sz="2000" b="1" dirty="0">
                <a:solidFill>
                  <a:srgbClr val="063DE8"/>
                </a:solidFill>
                <a:ea typeface="宋体" panose="02010600030101010101" pitchFamily="2" charset="-122"/>
              </a:rPr>
              <a:t>被调用</a:t>
            </a:r>
            <a:endParaRPr lang="zh-CN" altLang="en-US" sz="2000" b="1" dirty="0">
              <a:solidFill>
                <a:srgbClr val="063DE8"/>
              </a:solidFill>
              <a:ea typeface="宋体" panose="02010600030101010101" pitchFamily="2" charset="-122"/>
            </a:endParaRPr>
          </a:p>
          <a:p>
            <a:pPr lvl="2">
              <a:lnSpc>
                <a:spcPct val="90000"/>
              </a:lnSpc>
            </a:pPr>
            <a:r>
              <a:rPr lang="zh-CN" altLang="en-US" sz="2000" b="1" dirty="0">
                <a:ea typeface="宋体" panose="02010600030101010101" pitchFamily="2" charset="-122"/>
              </a:rPr>
              <a:t>调用者、被调用者和调用点</a:t>
            </a:r>
            <a:endParaRPr lang="zh-CN" altLang="en-US" sz="2000" b="1" dirty="0">
              <a:ea typeface="宋体" panose="02010600030101010101" pitchFamily="2" charset="-122"/>
            </a:endParaRPr>
          </a:p>
          <a:p>
            <a:pPr lvl="1">
              <a:lnSpc>
                <a:spcPct val="90000"/>
              </a:lnSpc>
            </a:pPr>
            <a:r>
              <a:rPr lang="zh-CN" altLang="en-US" sz="2200" b="1" dirty="0">
                <a:ea typeface="宋体" panose="02010600030101010101" pitchFamily="2" charset="-122"/>
              </a:rPr>
              <a:t>参数</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形式参数：与局部变量有不同</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实在参数：在调用点，将其传递给被调用的过程</a:t>
            </a:r>
            <a:endParaRPr lang="zh-CN" altLang="en-US" sz="2000" b="1" dirty="0">
              <a:ea typeface="宋体" panose="02010600030101010101" pitchFamily="2" charset="-122"/>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2" name="Picture 2"/>
          <p:cNvPicPr>
            <a:picLocks noChangeAspect="1"/>
          </p:cNvPicPr>
          <p:nvPr/>
        </p:nvPicPr>
        <p:blipFill>
          <a:blip r:embed="rId1"/>
          <a:stretch>
            <a:fillRect/>
          </a:stretch>
        </p:blipFill>
        <p:spPr>
          <a:xfrm>
            <a:off x="1600200" y="152400"/>
            <a:ext cx="5832475" cy="6503988"/>
          </a:xfrm>
          <a:prstGeom prst="rect">
            <a:avLst/>
          </a:prstGeom>
          <a:noFill/>
          <a:ln w="9525">
            <a:noFill/>
          </a:ln>
        </p:spPr>
      </p:pic>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源语言问题（3）</a:t>
            </a:r>
            <a:endParaRPr lang="zh-CN" altLang="en-US" dirty="0">
              <a:latin typeface="Times New Roman" panose="02020603050405020304" pitchFamily="18" charset="0"/>
              <a:ea typeface="宋体" panose="02010600030101010101" pitchFamily="2" charset="-122"/>
            </a:endParaRPr>
          </a:p>
        </p:txBody>
      </p:sp>
      <p:sp>
        <p:nvSpPr>
          <p:cNvPr id="11267" name="Rectangle 3"/>
          <p:cNvSpPr>
            <a:spLocks noGrp="1"/>
          </p:cNvSpPr>
          <p:nvPr>
            <p:ph idx="1"/>
          </p:nvPr>
        </p:nvSpPr>
        <p:spPr>
          <a:xfrm>
            <a:off x="179388" y="1371600"/>
            <a:ext cx="8856662" cy="4876800"/>
          </a:xfrm>
          <a:ln/>
        </p:spPr>
        <p:txBody>
          <a:bodyPr vert="horz" wrap="square" lIns="92075" tIns="46038" rIns="92075" bIns="46038" anchor="t" anchorCtr="0"/>
          <a:p>
            <a:pPr lvl="1"/>
            <a:r>
              <a:rPr lang="zh-CN" altLang="en-US" sz="2200" b="1" dirty="0">
                <a:ea typeface="宋体" panose="02010600030101010101" pitchFamily="2" charset="-122"/>
              </a:rPr>
              <a:t>过程的执行的表示：活动树</a:t>
            </a:r>
            <a:endParaRPr lang="zh-CN" altLang="en-US" sz="2200" b="1" dirty="0">
              <a:ea typeface="宋体" panose="02010600030101010101" pitchFamily="2" charset="-122"/>
            </a:endParaRPr>
          </a:p>
          <a:p>
            <a:pPr lvl="2"/>
            <a:r>
              <a:rPr lang="zh-CN" altLang="en-US" sz="2000" b="1" dirty="0">
                <a:ea typeface="宋体" panose="02010600030101010101" pitchFamily="2" charset="-122"/>
              </a:rPr>
              <a:t>控制流的假设</a:t>
            </a:r>
            <a:endParaRPr lang="zh-CN" altLang="en-US" sz="2000" b="1" dirty="0">
              <a:ea typeface="宋体" panose="02010600030101010101" pitchFamily="2" charset="-122"/>
            </a:endParaRPr>
          </a:p>
          <a:p>
            <a:pPr lvl="3"/>
            <a:r>
              <a:rPr lang="zh-CN" altLang="en-US" sz="1800" b="1" dirty="0">
                <a:ea typeface="宋体" panose="02010600030101010101" pitchFamily="2" charset="-122"/>
              </a:rPr>
              <a:t>控制流是连续的</a:t>
            </a:r>
            <a:endParaRPr lang="zh-CN" altLang="en-US" sz="1800" b="1" dirty="0">
              <a:ea typeface="宋体" panose="02010600030101010101" pitchFamily="2" charset="-122"/>
            </a:endParaRPr>
          </a:p>
          <a:p>
            <a:pPr lvl="3"/>
            <a:r>
              <a:rPr lang="zh-CN" altLang="en-US" sz="1800" b="1" dirty="0">
                <a:ea typeface="宋体" panose="02010600030101010101" pitchFamily="2" charset="-122"/>
              </a:rPr>
              <a:t>过程的每次执行都从过程体的起点开始，最后控制返回到直接跟随本次调用点的位置</a:t>
            </a:r>
            <a:endParaRPr lang="zh-CN" altLang="en-US" sz="1800" b="1" dirty="0">
              <a:ea typeface="宋体" panose="02010600030101010101" pitchFamily="2" charset="-122"/>
            </a:endParaRPr>
          </a:p>
          <a:p>
            <a:pPr lvl="2"/>
            <a:r>
              <a:rPr lang="zh-CN" altLang="en-US" sz="2000" b="1" dirty="0">
                <a:ea typeface="宋体" panose="02010600030101010101" pitchFamily="2" charset="-122"/>
              </a:rPr>
              <a:t>过程间的控制流可以用树表示（调用树）</a:t>
            </a:r>
            <a:endParaRPr lang="zh-CN" altLang="en-US" sz="2000" b="1" dirty="0">
              <a:ea typeface="宋体" panose="02010600030101010101" pitchFamily="2" charset="-122"/>
            </a:endParaRPr>
          </a:p>
          <a:p>
            <a:pPr lvl="2"/>
            <a:r>
              <a:rPr lang="zh-CN" altLang="en-US" sz="2000" b="1" dirty="0">
                <a:ea typeface="宋体" panose="02010600030101010101" pitchFamily="2" charset="-122"/>
              </a:rPr>
              <a:t>活动：过程体的一次执行</a:t>
            </a:r>
            <a:endParaRPr lang="zh-CN" altLang="en-US" sz="2000" b="1" dirty="0">
              <a:ea typeface="宋体" panose="02010600030101010101" pitchFamily="2" charset="-122"/>
            </a:endParaRPr>
          </a:p>
          <a:p>
            <a:pPr lvl="3"/>
            <a:r>
              <a:rPr lang="zh-CN" altLang="en-US" sz="1800" b="1" dirty="0">
                <a:ea typeface="宋体" panose="02010600030101010101" pitchFamily="2" charset="-122"/>
              </a:rPr>
              <a:t>活动的生存期：过程体执行的第一步和最后一步之间的步序列</a:t>
            </a:r>
            <a:endParaRPr lang="zh-CN" altLang="en-US" sz="1800" b="1" dirty="0">
              <a:solidFill>
                <a:srgbClr val="063DE8"/>
              </a:solidFill>
              <a:ea typeface="宋体" panose="02010600030101010101" pitchFamily="2" charset="-122"/>
            </a:endParaRPr>
          </a:p>
          <a:p>
            <a:pPr lvl="4"/>
            <a:r>
              <a:rPr lang="zh-CN" altLang="en-US" sz="1600" b="1" dirty="0">
                <a:ea typeface="宋体" panose="02010600030101010101" pitchFamily="2" charset="-122"/>
              </a:rPr>
              <a:t>包括直接或间接被这个过程调用的其它过程的时间</a:t>
            </a:r>
            <a:endParaRPr lang="zh-CN" altLang="en-US" sz="1600" b="1" dirty="0">
              <a:ea typeface="宋体" panose="02010600030101010101" pitchFamily="2" charset="-122"/>
            </a:endParaRPr>
          </a:p>
          <a:p>
            <a:pPr lvl="3"/>
            <a:r>
              <a:rPr lang="zh-CN" altLang="en-US" sz="1800" b="1" dirty="0">
                <a:ea typeface="宋体" panose="02010600030101010101" pitchFamily="2" charset="-122"/>
              </a:rPr>
              <a:t>过程的活动的生存期要么是不重叠的，要么是嵌套的</a:t>
            </a:r>
            <a:r>
              <a:rPr lang="zh-CN" altLang="en-US" sz="1600" b="1" dirty="0">
                <a:ea typeface="宋体" panose="02010600030101010101" pitchFamily="2" charset="-122"/>
              </a:rPr>
              <a:t>，若过程</a:t>
            </a:r>
            <a:r>
              <a:rPr lang="en-US" altLang="zh-CN" sz="1600" b="1" dirty="0">
                <a:ea typeface="宋体" panose="02010600030101010101" pitchFamily="2" charset="-122"/>
              </a:rPr>
              <a:t>p</a:t>
            </a:r>
            <a:r>
              <a:rPr lang="zh-CN" altLang="en-US" sz="1600" b="1" dirty="0">
                <a:ea typeface="宋体" panose="02010600030101010101" pitchFamily="2" charset="-122"/>
              </a:rPr>
              <a:t>调用了</a:t>
            </a:r>
            <a:r>
              <a:rPr lang="en-US" altLang="zh-CN" sz="1600" b="1" dirty="0">
                <a:ea typeface="宋体" panose="02010600030101010101" pitchFamily="2" charset="-122"/>
              </a:rPr>
              <a:t>q</a:t>
            </a:r>
            <a:endParaRPr lang="en-US" altLang="zh-CN" sz="1600" b="1" dirty="0">
              <a:ea typeface="宋体" panose="02010600030101010101" pitchFamily="2" charset="-122"/>
            </a:endParaRPr>
          </a:p>
          <a:p>
            <a:pPr lvl="4"/>
            <a:r>
              <a:rPr lang="en-US" altLang="zh-CN" sz="1600" b="1" dirty="0">
                <a:ea typeface="宋体" panose="02010600030101010101" pitchFamily="2" charset="-122"/>
              </a:rPr>
              <a:t>q</a:t>
            </a:r>
            <a:r>
              <a:rPr lang="zh-CN" altLang="en-US" sz="1600" b="1" dirty="0">
                <a:ea typeface="宋体" panose="02010600030101010101" pitchFamily="2" charset="-122"/>
              </a:rPr>
              <a:t>的该次活动正常结束，控制返回过程</a:t>
            </a:r>
            <a:r>
              <a:rPr lang="en-US" altLang="zh-CN" sz="1600" b="1" dirty="0">
                <a:ea typeface="宋体" panose="02010600030101010101" pitchFamily="2" charset="-122"/>
              </a:rPr>
              <a:t>p</a:t>
            </a:r>
            <a:r>
              <a:rPr lang="zh-CN" altLang="en-US" sz="1600" b="1" dirty="0">
                <a:ea typeface="宋体" panose="02010600030101010101" pitchFamily="2" charset="-122"/>
              </a:rPr>
              <a:t>中调用</a:t>
            </a:r>
            <a:r>
              <a:rPr lang="en-US" altLang="zh-CN" sz="1600" b="1" dirty="0">
                <a:ea typeface="宋体" panose="02010600030101010101" pitchFamily="2" charset="-122"/>
              </a:rPr>
              <a:t>q</a:t>
            </a:r>
            <a:r>
              <a:rPr lang="zh-CN" altLang="en-US" sz="1600" b="1" dirty="0">
                <a:ea typeface="宋体" panose="02010600030101010101" pitchFamily="2" charset="-122"/>
              </a:rPr>
              <a:t>的点之后继续</a:t>
            </a:r>
            <a:endParaRPr lang="en-US" altLang="zh-CN" sz="1600" b="1" dirty="0">
              <a:ea typeface="宋体" panose="02010600030101010101" pitchFamily="2" charset="-122"/>
            </a:endParaRPr>
          </a:p>
          <a:p>
            <a:pPr lvl="4"/>
            <a:r>
              <a:rPr lang="en-US" altLang="zh-CN" sz="1600" b="1" dirty="0">
                <a:ea typeface="宋体" panose="02010600030101010101" pitchFamily="2" charset="-122"/>
              </a:rPr>
              <a:t>q</a:t>
            </a:r>
            <a:r>
              <a:rPr lang="zh-CN" altLang="en-US" sz="1600" b="1" dirty="0">
                <a:ea typeface="宋体" panose="02010600030101010101" pitchFamily="2" charset="-122"/>
              </a:rPr>
              <a:t>的该次活动（或</a:t>
            </a:r>
            <a:r>
              <a:rPr lang="en-US" altLang="zh-CN" sz="1600" b="1" dirty="0">
                <a:ea typeface="宋体" panose="02010600030101010101" pitchFamily="2" charset="-122"/>
              </a:rPr>
              <a:t>q</a:t>
            </a:r>
            <a:r>
              <a:rPr lang="zh-CN" altLang="en-US" sz="1600" b="1" dirty="0">
                <a:ea typeface="宋体" panose="02010600030101010101" pitchFamily="2" charset="-122"/>
              </a:rPr>
              <a:t>调用的某个过程）直接或间接</a:t>
            </a:r>
            <a:r>
              <a:rPr lang="zh-CN" altLang="en-US" sz="1600" b="1" dirty="0">
                <a:solidFill>
                  <a:srgbClr val="FF0000"/>
                </a:solidFill>
                <a:ea typeface="宋体" panose="02010600030101010101" pitchFamily="2" charset="-122"/>
              </a:rPr>
              <a:t>中止</a:t>
            </a:r>
            <a:r>
              <a:rPr lang="zh-CN" altLang="en-US" sz="1600" b="1" dirty="0">
                <a:ea typeface="宋体" panose="02010600030101010101" pitchFamily="2" charset="-122"/>
              </a:rPr>
              <a:t>，</a:t>
            </a:r>
            <a:r>
              <a:rPr lang="en-US" altLang="zh-CN" sz="1600" b="1" dirty="0">
                <a:ea typeface="宋体" panose="02010600030101010101" pitchFamily="2" charset="-122"/>
              </a:rPr>
              <a:t>q</a:t>
            </a:r>
            <a:r>
              <a:rPr lang="zh-CN" altLang="en-US" sz="1600" b="1" dirty="0">
                <a:ea typeface="宋体" panose="02010600030101010101" pitchFamily="2" charset="-122"/>
              </a:rPr>
              <a:t>和</a:t>
            </a:r>
            <a:r>
              <a:rPr lang="en-US" altLang="zh-CN" sz="1600" b="1" dirty="0">
                <a:ea typeface="宋体" panose="02010600030101010101" pitchFamily="2" charset="-122"/>
              </a:rPr>
              <a:t>p</a:t>
            </a:r>
            <a:r>
              <a:rPr lang="zh-CN" altLang="en-US" sz="1600" b="1" dirty="0">
                <a:ea typeface="宋体" panose="02010600030101010101" pitchFamily="2" charset="-122"/>
              </a:rPr>
              <a:t>同时结束</a:t>
            </a:r>
            <a:endParaRPr lang="en-US" altLang="zh-CN" sz="1600" b="1" dirty="0">
              <a:ea typeface="宋体" panose="02010600030101010101" pitchFamily="2" charset="-122"/>
            </a:endParaRPr>
          </a:p>
          <a:p>
            <a:pPr lvl="4"/>
            <a:r>
              <a:rPr lang="en-US" altLang="zh-CN" sz="1600" b="1" dirty="0">
                <a:ea typeface="宋体" panose="02010600030101010101" pitchFamily="2" charset="-122"/>
              </a:rPr>
              <a:t>q</a:t>
            </a:r>
            <a:r>
              <a:rPr lang="zh-CN" altLang="en-US" sz="1600" b="1" dirty="0">
                <a:ea typeface="宋体" panose="02010600030101010101" pitchFamily="2" charset="-122"/>
              </a:rPr>
              <a:t>的该次活动因</a:t>
            </a:r>
            <a:r>
              <a:rPr lang="en-US" altLang="zh-CN" sz="1600" b="1" dirty="0">
                <a:ea typeface="宋体" panose="02010600030101010101" pitchFamily="2" charset="-122"/>
              </a:rPr>
              <a:t>q</a:t>
            </a:r>
            <a:r>
              <a:rPr lang="zh-CN" altLang="en-US" sz="1600" b="1" dirty="0">
                <a:ea typeface="宋体" panose="02010600030101010101" pitchFamily="2" charset="-122"/>
              </a:rPr>
              <a:t>不能处理的某个异常结束，</a:t>
            </a:r>
            <a:r>
              <a:rPr lang="en-US" altLang="zh-CN" sz="1600" b="1" dirty="0">
                <a:ea typeface="宋体" panose="02010600030101010101" pitchFamily="2" charset="-122"/>
              </a:rPr>
              <a:t>p</a:t>
            </a:r>
            <a:r>
              <a:rPr lang="zh-CN" altLang="en-US" sz="1600" b="1" dirty="0">
                <a:ea typeface="宋体" panose="02010600030101010101" pitchFamily="2" charset="-122"/>
              </a:rPr>
              <a:t>可能处理该异常，以此类推</a:t>
            </a:r>
            <a:endParaRPr lang="zh-CN" altLang="en-US" sz="1600" b="1" dirty="0">
              <a:ea typeface="宋体" panose="02010600030101010101" pitchFamily="2" charset="-122"/>
            </a:endParaRPr>
          </a:p>
          <a:p>
            <a:pPr lvl="3"/>
            <a:r>
              <a:rPr lang="zh-CN" altLang="en-US" sz="1800" b="1" dirty="0">
                <a:ea typeface="宋体" panose="02010600030101010101" pitchFamily="2" charset="-122"/>
              </a:rPr>
              <a:t>递归：如果一个过程的前一个活动结束前，它的一个新的活动又开始</a:t>
            </a:r>
            <a:endParaRPr lang="zh-CN" altLang="en-US" sz="1800" b="1" dirty="0">
              <a:ea typeface="宋体" panose="02010600030101010101" pitchFamily="2" charset="-122"/>
            </a:endParaRPr>
          </a:p>
          <a:p>
            <a:pPr lvl="4"/>
            <a:r>
              <a:rPr lang="zh-CN" altLang="en-US" sz="1600" b="1" dirty="0">
                <a:ea typeface="宋体" panose="02010600030101010101" pitchFamily="2" charset="-122"/>
              </a:rPr>
              <a:t>递归的两种缘起</a:t>
            </a:r>
            <a:endParaRPr lang="zh-CN" altLang="en-US" sz="1600" b="1" dirty="0">
              <a:ea typeface="宋体" panose="02010600030101010101" pitchFamily="2" charset="-122"/>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源语言问题（4）</a:t>
            </a:r>
            <a:endParaRPr lang="zh-CN" altLang="en-US" dirty="0">
              <a:latin typeface="Times New Roman" panose="02020603050405020304" pitchFamily="18" charset="0"/>
              <a:ea typeface="宋体" panose="02010600030101010101" pitchFamily="2" charset="-122"/>
            </a:endParaRPr>
          </a:p>
        </p:txBody>
      </p:sp>
      <p:pic>
        <p:nvPicPr>
          <p:cNvPr id="13315" name="Picture 2"/>
          <p:cNvPicPr>
            <a:picLocks noChangeAspect="1"/>
          </p:cNvPicPr>
          <p:nvPr/>
        </p:nvPicPr>
        <p:blipFill>
          <a:blip r:embed="rId1"/>
          <a:stretch>
            <a:fillRect/>
          </a:stretch>
        </p:blipFill>
        <p:spPr>
          <a:xfrm>
            <a:off x="4859338" y="1557338"/>
            <a:ext cx="4284662" cy="5297487"/>
          </a:xfrm>
          <a:prstGeom prst="rect">
            <a:avLst/>
          </a:prstGeom>
          <a:noFill/>
          <a:ln w="9525">
            <a:noFill/>
          </a:ln>
        </p:spPr>
      </p:pic>
      <p:sp>
        <p:nvSpPr>
          <p:cNvPr id="13316" name="Rectangle 3"/>
          <p:cNvSpPr>
            <a:spLocks noGrp="1"/>
          </p:cNvSpPr>
          <p:nvPr>
            <p:ph idx="1"/>
          </p:nvPr>
        </p:nvSpPr>
        <p:spPr>
          <a:xfrm>
            <a:off x="323850" y="1371600"/>
            <a:ext cx="5184775" cy="4572000"/>
          </a:xfrm>
          <a:ln/>
        </p:spPr>
        <p:txBody>
          <a:bodyPr vert="horz" wrap="square" lIns="92075" tIns="46038" rIns="92075" bIns="46038" anchor="t" anchorCtr="0"/>
          <a:p>
            <a:pPr lvl="2"/>
            <a:r>
              <a:rPr lang="zh-CN" altLang="en-US" sz="2000" b="1" dirty="0">
                <a:ea typeface="宋体" panose="02010600030101010101" pitchFamily="2" charset="-122"/>
              </a:rPr>
              <a:t>活动树描述控制进入和离开活动：</a:t>
            </a:r>
            <a:endParaRPr lang="zh-CN" altLang="en-US" sz="2000" b="1" dirty="0">
              <a:ea typeface="宋体" panose="02010600030101010101" pitchFamily="2" charset="-122"/>
            </a:endParaRPr>
          </a:p>
          <a:p>
            <a:pPr lvl="3"/>
            <a:r>
              <a:rPr lang="zh-CN" altLang="en-US" sz="1800" b="1" dirty="0">
                <a:ea typeface="宋体" panose="02010600030101010101" pitchFamily="2" charset="-122"/>
              </a:rPr>
              <a:t>每个结点代表过程的一个活动</a:t>
            </a:r>
            <a:endParaRPr lang="zh-CN" altLang="en-US" sz="1800" b="1" dirty="0">
              <a:ea typeface="宋体" panose="02010600030101010101" pitchFamily="2" charset="-122"/>
            </a:endParaRPr>
          </a:p>
          <a:p>
            <a:pPr lvl="3"/>
            <a:r>
              <a:rPr lang="zh-CN" altLang="en-US" sz="1800" b="1" dirty="0">
                <a:ea typeface="宋体" panose="02010600030101010101" pitchFamily="2" charset="-122"/>
              </a:rPr>
              <a:t>根结点代表主程序的活动</a:t>
            </a:r>
            <a:endParaRPr lang="zh-CN" altLang="en-US" sz="1800" b="1" dirty="0">
              <a:ea typeface="宋体" panose="02010600030101010101" pitchFamily="2" charset="-122"/>
            </a:endParaRPr>
          </a:p>
          <a:p>
            <a:pPr lvl="3"/>
            <a:r>
              <a:rPr lang="zh-CN" altLang="en-US" sz="1800" b="1" dirty="0">
                <a:ea typeface="宋体" panose="02010600030101010101" pitchFamily="2" charset="-122"/>
              </a:rPr>
              <a:t>结点</a:t>
            </a:r>
            <a:r>
              <a:rPr lang="en-US" altLang="zh-CN" sz="1800" b="1" dirty="0">
                <a:ea typeface="宋体" panose="02010600030101010101" pitchFamily="2" charset="-122"/>
              </a:rPr>
              <a:t>p</a:t>
            </a:r>
            <a:r>
              <a:rPr lang="zh-CN" altLang="en-US" sz="1800" b="1" dirty="0">
                <a:ea typeface="宋体" panose="02010600030101010101" pitchFamily="2" charset="-122"/>
              </a:rPr>
              <a:t>是结点</a:t>
            </a:r>
            <a:r>
              <a:rPr lang="en-US" altLang="zh-CN" sz="1800" b="1" dirty="0">
                <a:ea typeface="宋体" panose="02010600030101010101" pitchFamily="2" charset="-122"/>
              </a:rPr>
              <a:t>q</a:t>
            </a:r>
            <a:r>
              <a:rPr lang="zh-CN" altLang="en-US" sz="1800" b="1" dirty="0">
                <a:ea typeface="宋体" panose="02010600030101010101" pitchFamily="2" charset="-122"/>
              </a:rPr>
              <a:t>的父结点，当且仅当控制流从</a:t>
            </a:r>
            <a:r>
              <a:rPr lang="en-US" altLang="zh-CN" sz="1800" b="1" dirty="0">
                <a:ea typeface="宋体" panose="02010600030101010101" pitchFamily="2" charset="-122"/>
              </a:rPr>
              <a:t>p</a:t>
            </a:r>
            <a:r>
              <a:rPr lang="zh-CN" altLang="en-US" sz="1800" b="1" dirty="0">
                <a:ea typeface="宋体" panose="02010600030101010101" pitchFamily="2" charset="-122"/>
              </a:rPr>
              <a:t>的活动进入</a:t>
            </a:r>
            <a:r>
              <a:rPr lang="en-US" altLang="zh-CN" sz="1800" b="1" dirty="0">
                <a:ea typeface="宋体" panose="02010600030101010101" pitchFamily="2" charset="-122"/>
              </a:rPr>
              <a:t>q</a:t>
            </a:r>
            <a:endParaRPr lang="en-US" altLang="zh-CN" sz="1800" b="1" dirty="0">
              <a:ea typeface="宋体" panose="02010600030101010101" pitchFamily="2" charset="-122"/>
            </a:endParaRPr>
          </a:p>
          <a:p>
            <a:pPr lvl="3"/>
            <a:r>
              <a:rPr lang="en-US" altLang="zh-CN" sz="1800" b="1" dirty="0">
                <a:ea typeface="宋体" panose="02010600030101010101" pitchFamily="2" charset="-122"/>
              </a:rPr>
              <a:t>p</a:t>
            </a:r>
            <a:r>
              <a:rPr lang="zh-CN" altLang="en-US" sz="1800" b="1" dirty="0">
                <a:ea typeface="宋体" panose="02010600030101010101" pitchFamily="2" charset="-122"/>
              </a:rPr>
              <a:t>结点处于</a:t>
            </a:r>
            <a:r>
              <a:rPr lang="en-US" altLang="zh-CN" sz="1800" b="1" dirty="0">
                <a:ea typeface="宋体" panose="02010600030101010101" pitchFamily="2" charset="-122"/>
              </a:rPr>
              <a:t>q</a:t>
            </a:r>
            <a:r>
              <a:rPr lang="zh-CN" altLang="en-US" sz="1800" b="1" dirty="0">
                <a:ea typeface="宋体" panose="02010600030101010101" pitchFamily="2" charset="-122"/>
              </a:rPr>
              <a:t>结点的左边，当且仅当</a:t>
            </a:r>
            <a:r>
              <a:rPr lang="en-US" altLang="zh-CN" sz="1800" b="1" dirty="0">
                <a:ea typeface="宋体" panose="02010600030101010101" pitchFamily="2" charset="-122"/>
              </a:rPr>
              <a:t>p</a:t>
            </a:r>
            <a:r>
              <a:rPr lang="zh-CN" altLang="en-US" sz="1800" b="1" dirty="0">
                <a:ea typeface="宋体" panose="02010600030101010101" pitchFamily="2" charset="-122"/>
              </a:rPr>
              <a:t>的生存期先于</a:t>
            </a:r>
            <a:r>
              <a:rPr lang="en-US" altLang="zh-CN" sz="1800" b="1" dirty="0">
                <a:ea typeface="宋体" panose="02010600030101010101" pitchFamily="2" charset="-122"/>
              </a:rPr>
              <a:t>q</a:t>
            </a:r>
            <a:r>
              <a:rPr lang="zh-CN" altLang="en-US" sz="1800" b="1" dirty="0">
                <a:ea typeface="宋体" panose="02010600030101010101" pitchFamily="2" charset="-122"/>
              </a:rPr>
              <a:t>的生存期</a:t>
            </a:r>
            <a:endParaRPr lang="zh-CN" altLang="en-US" sz="1800" b="1" dirty="0">
              <a:ea typeface="宋体" panose="02010600030101010101" pitchFamily="2" charset="-122"/>
            </a:endParaRPr>
          </a:p>
          <a:p>
            <a:pPr lvl="2"/>
            <a:r>
              <a:rPr lang="zh-CN" altLang="en-US" sz="2000" b="1" dirty="0">
                <a:ea typeface="宋体" panose="02010600030101010101" pitchFamily="2" charset="-122"/>
              </a:rPr>
              <a:t>结点和活动是一一对应的</a:t>
            </a:r>
            <a:endParaRPr lang="en-US" altLang="zh-CN" sz="2000" b="1" dirty="0">
              <a:ea typeface="宋体" panose="02010600030101010101" pitchFamily="2" charset="-122"/>
            </a:endParaRPr>
          </a:p>
          <a:p>
            <a:pPr lvl="2"/>
            <a:r>
              <a:rPr lang="zh-CN" altLang="en-US" sz="2000" b="1" dirty="0">
                <a:ea typeface="宋体" panose="02010600030101010101" pitchFamily="2" charset="-122"/>
              </a:rPr>
              <a:t>过程调用的序列和活动树的前序遍历相对应</a:t>
            </a:r>
            <a:endParaRPr lang="en-US" altLang="zh-CN" sz="2000" b="1" dirty="0">
              <a:ea typeface="宋体" panose="02010600030101010101" pitchFamily="2" charset="-122"/>
            </a:endParaRPr>
          </a:p>
          <a:p>
            <a:pPr lvl="2"/>
            <a:r>
              <a:rPr lang="zh-CN" altLang="en-US" sz="2000" b="1" dirty="0">
                <a:ea typeface="宋体" panose="02010600030101010101" pitchFamily="2" charset="-122"/>
              </a:rPr>
              <a:t>过程返回的序列和活动树的后序遍历相对应</a:t>
            </a:r>
            <a:endParaRPr lang="en-US" altLang="zh-CN" sz="2000" dirty="0">
              <a:ea typeface="宋体" panose="02010600030101010101" pitchFamily="2" charset="-122"/>
            </a:endParaRPr>
          </a:p>
          <a:p>
            <a:pPr lvl="2"/>
            <a:r>
              <a:rPr lang="zh-CN" altLang="en-US" sz="2000" b="1" dirty="0">
                <a:ea typeface="宋体" panose="02010600030101010101" pitchFamily="2" charset="-122"/>
              </a:rPr>
              <a:t>右图给出了图</a:t>
            </a:r>
            <a:r>
              <a:rPr lang="en-US" altLang="zh-CN" sz="2000" b="1" dirty="0">
                <a:ea typeface="宋体" panose="02010600030101010101" pitchFamily="2" charset="-122"/>
              </a:rPr>
              <a:t>7-2</a:t>
            </a:r>
            <a:r>
              <a:rPr lang="zh-CN" altLang="en-US" sz="2000" b="1" dirty="0">
                <a:ea typeface="宋体" panose="02010600030101010101" pitchFamily="2" charset="-122"/>
              </a:rPr>
              <a:t>程序的一个可能的活动序列</a:t>
            </a:r>
            <a:endParaRPr lang="zh-CN" altLang="en-US" sz="2000" b="1" dirty="0">
              <a:ea typeface="宋体" panose="02010600030101010101" pitchFamily="2" charset="-122"/>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源语言问题（5）</a:t>
            </a:r>
            <a:endParaRPr lang="zh-CN" altLang="en-US" dirty="0">
              <a:latin typeface="Times New Roman" panose="02020603050405020304" pitchFamily="18" charset="0"/>
              <a:ea typeface="宋体" panose="02010600030101010101" pitchFamily="2" charset="-122"/>
            </a:endParaRPr>
          </a:p>
        </p:txBody>
      </p:sp>
      <p:pic>
        <p:nvPicPr>
          <p:cNvPr id="15363" name="Picture 2"/>
          <p:cNvPicPr>
            <a:picLocks noChangeAspect="1"/>
          </p:cNvPicPr>
          <p:nvPr/>
        </p:nvPicPr>
        <p:blipFill>
          <a:blip r:embed="rId1"/>
          <a:stretch>
            <a:fillRect/>
          </a:stretch>
        </p:blipFill>
        <p:spPr>
          <a:xfrm>
            <a:off x="323850" y="1706563"/>
            <a:ext cx="8483600" cy="3451225"/>
          </a:xfrm>
          <a:prstGeom prst="rect">
            <a:avLst/>
          </a:prstGeom>
          <a:noFill/>
          <a:ln w="9525">
            <a:noFill/>
          </a:ln>
        </p:spPr>
      </p:pic>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源语言问题（6）</a:t>
            </a:r>
            <a:endParaRPr lang="zh-CN" altLang="en-US" dirty="0">
              <a:latin typeface="Times New Roman" panose="02020603050405020304" pitchFamily="18" charset="0"/>
              <a:ea typeface="宋体" panose="02010600030101010101" pitchFamily="2" charset="-122"/>
            </a:endParaRPr>
          </a:p>
        </p:txBody>
      </p:sp>
      <p:sp>
        <p:nvSpPr>
          <p:cNvPr id="17411" name="Rectangle 3"/>
          <p:cNvSpPr>
            <a:spLocks noGrp="1"/>
          </p:cNvSpPr>
          <p:nvPr>
            <p:ph idx="1"/>
          </p:nvPr>
        </p:nvSpPr>
        <p:spPr>
          <a:xfrm>
            <a:off x="990600" y="1524000"/>
            <a:ext cx="7391400" cy="4419600"/>
          </a:xfrm>
          <a:ln/>
        </p:spPr>
        <p:txBody>
          <a:bodyPr vert="horz" wrap="square" lIns="92075" tIns="46038" rIns="92075" bIns="46038" anchor="t" anchorCtr="0"/>
          <a:p>
            <a:pPr lvl="1"/>
            <a:r>
              <a:rPr lang="zh-CN" altLang="en-US" sz="2200" b="1" dirty="0">
                <a:ea typeface="宋体" panose="02010600030101010101" pitchFamily="2" charset="-122"/>
              </a:rPr>
              <a:t>控制栈</a:t>
            </a:r>
            <a:endParaRPr lang="zh-CN" altLang="en-US" sz="2200" b="1" dirty="0">
              <a:ea typeface="宋体" panose="02010600030101010101" pitchFamily="2" charset="-122"/>
            </a:endParaRPr>
          </a:p>
          <a:p>
            <a:pPr lvl="2"/>
            <a:r>
              <a:rPr lang="zh-CN" altLang="en-US" sz="2000" b="1" dirty="0">
                <a:ea typeface="宋体" panose="02010600030101010101" pitchFamily="2" charset="-122"/>
              </a:rPr>
              <a:t>控制栈用于保存活跃着的过程</a:t>
            </a:r>
            <a:endParaRPr lang="zh-CN" altLang="en-US" sz="2000" b="1" dirty="0">
              <a:ea typeface="宋体" panose="02010600030101010101" pitchFamily="2" charset="-122"/>
            </a:endParaRPr>
          </a:p>
          <a:p>
            <a:pPr lvl="2"/>
            <a:r>
              <a:rPr lang="zh-CN" altLang="en-US" sz="2000" b="1" dirty="0">
                <a:ea typeface="宋体" panose="02010600030101010101" pitchFamily="2" charset="-122"/>
              </a:rPr>
              <a:t>栈的内容表示活动树上到根结点的一条路径</a:t>
            </a:r>
            <a:endParaRPr lang="zh-CN" altLang="en-US" sz="2000" b="1" dirty="0">
              <a:ea typeface="宋体" panose="02010600030101010101" pitchFamily="2" charset="-122"/>
            </a:endParaRPr>
          </a:p>
        </p:txBody>
      </p:sp>
      <p:graphicFrame>
        <p:nvGraphicFramePr>
          <p:cNvPr id="17412" name="Object 4"/>
          <p:cNvGraphicFramePr>
            <a:graphicFrameLocks noChangeAspect="1"/>
          </p:cNvGraphicFramePr>
          <p:nvPr/>
        </p:nvGraphicFramePr>
        <p:xfrm>
          <a:off x="2667000" y="2971800"/>
          <a:ext cx="3484563" cy="2319338"/>
        </p:xfrm>
        <a:graphic>
          <a:graphicData uri="http://schemas.openxmlformats.org/presentationml/2006/ole">
            <mc:AlternateContent xmlns:mc="http://schemas.openxmlformats.org/markup-compatibility/2006">
              <mc:Choice xmlns:v="urn:schemas-microsoft-com:vml" Requires="v">
                <p:oleObj spid="_x0000_s3076" name="" r:id="rId1" imgW="3484880" imgH="2316480" progId="Visio.Drawing.4">
                  <p:embed/>
                </p:oleObj>
              </mc:Choice>
              <mc:Fallback>
                <p:oleObj name="" r:id="rId1" imgW="3484880" imgH="2316480" progId="Visio.Drawing.4">
                  <p:embed/>
                  <p:pic>
                    <p:nvPicPr>
                      <p:cNvPr id="0" name="图片 3075"/>
                      <p:cNvPicPr/>
                      <p:nvPr/>
                    </p:nvPicPr>
                    <p:blipFill>
                      <a:blip r:embed="rId2"/>
                      <a:stretch>
                        <a:fillRect/>
                      </a:stretch>
                    </p:blipFill>
                    <p:spPr>
                      <a:xfrm>
                        <a:off x="2667000" y="2971800"/>
                        <a:ext cx="3484563" cy="2319338"/>
                      </a:xfrm>
                      <a:prstGeom prst="rect">
                        <a:avLst/>
                      </a:prstGeom>
                      <a:noFill/>
                      <a:ln w="38100">
                        <a:noFill/>
                        <a:miter/>
                      </a:ln>
                    </p:spPr>
                  </p:pic>
                </p:oleObj>
              </mc:Fallback>
            </mc:AlternateContent>
          </a:graphicData>
        </a:graphic>
      </p:graphicFrame>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源语言问题（7）</a:t>
            </a:r>
            <a:endParaRPr lang="zh-CN" altLang="en-US" dirty="0">
              <a:latin typeface="Times New Roman" panose="02020603050405020304" pitchFamily="18" charset="0"/>
              <a:ea typeface="宋体" panose="02010600030101010101" pitchFamily="2" charset="-122"/>
            </a:endParaRPr>
          </a:p>
        </p:txBody>
      </p:sp>
      <p:sp>
        <p:nvSpPr>
          <p:cNvPr id="19459" name="Rectangle 3"/>
          <p:cNvSpPr>
            <a:spLocks noGrp="1"/>
          </p:cNvSpPr>
          <p:nvPr>
            <p:ph idx="1"/>
          </p:nvPr>
        </p:nvSpPr>
        <p:spPr>
          <a:xfrm>
            <a:off x="990600" y="1524000"/>
            <a:ext cx="7391400" cy="4953000"/>
          </a:xfrm>
          <a:ln/>
        </p:spPr>
        <p:txBody>
          <a:bodyPr vert="horz" wrap="square" lIns="92075" tIns="46038" rIns="92075" bIns="46038" anchor="t" anchorCtr="0"/>
          <a:p>
            <a:pPr>
              <a:lnSpc>
                <a:spcPct val="90000"/>
              </a:lnSpc>
            </a:pPr>
            <a:r>
              <a:rPr lang="zh-CN" altLang="en-US" sz="2400" b="1" dirty="0">
                <a:ea typeface="宋体" panose="02010600030101010101" pitchFamily="2" charset="-122"/>
              </a:rPr>
              <a:t>名字与数据对象</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声明的作用域</a:t>
            </a:r>
            <a:endParaRPr lang="zh-CN" altLang="en-US" sz="2200" b="1" dirty="0">
              <a:ea typeface="宋体" panose="02010600030101010101" pitchFamily="2" charset="-122"/>
            </a:endParaRPr>
          </a:p>
          <a:p>
            <a:pPr lvl="2">
              <a:lnSpc>
                <a:spcPct val="90000"/>
              </a:lnSpc>
            </a:pPr>
            <a:r>
              <a:rPr lang="zh-CN" altLang="en-US" sz="1800" b="1" dirty="0">
                <a:ea typeface="宋体" panose="02010600030101010101" pitchFamily="2" charset="-122"/>
              </a:rPr>
              <a:t>区分同名程序声明：最接近的嵌套规则</a:t>
            </a:r>
            <a:endParaRPr lang="zh-CN" altLang="en-US" sz="1800" b="1" dirty="0">
              <a:ea typeface="宋体" panose="02010600030101010101" pitchFamily="2" charset="-122"/>
            </a:endParaRPr>
          </a:p>
          <a:p>
            <a:pPr lvl="3">
              <a:lnSpc>
                <a:spcPct val="90000"/>
              </a:lnSpc>
              <a:buFont typeface="Wingdings" panose="05000000000000000000" pitchFamily="2" charset="2"/>
              <a:buNone/>
            </a:pPr>
            <a:r>
              <a:rPr lang="zh-CN" altLang="en-US" sz="1600" b="1" dirty="0">
                <a:ea typeface="宋体" panose="02010600030101010101" pitchFamily="2" charset="-122"/>
              </a:rPr>
              <a:t>	</a:t>
            </a:r>
            <a:r>
              <a:rPr lang="en-US" altLang="zh-CN" sz="1600" b="1" dirty="0">
                <a:ea typeface="宋体" panose="02010600030101010101" pitchFamily="2" charset="-122"/>
              </a:rPr>
              <a:t>int a , b;</a:t>
            </a:r>
            <a:endParaRPr lang="en-US" altLang="zh-CN" sz="1600" b="1" dirty="0">
              <a:ea typeface="宋体" panose="02010600030101010101" pitchFamily="2" charset="-122"/>
            </a:endParaRPr>
          </a:p>
          <a:p>
            <a:pPr lvl="3">
              <a:lnSpc>
                <a:spcPct val="90000"/>
              </a:lnSpc>
              <a:buFont typeface="Wingdings" panose="05000000000000000000" pitchFamily="2" charset="2"/>
              <a:buNone/>
            </a:pPr>
            <a:r>
              <a:rPr lang="en-US" altLang="zh-CN" sz="1600" b="1" dirty="0">
                <a:ea typeface="宋体" panose="02010600030101010101" pitchFamily="2" charset="-122"/>
              </a:rPr>
              <a:t>	int *p;</a:t>
            </a:r>
            <a:endParaRPr lang="en-US" altLang="zh-CN" sz="1600" b="1" dirty="0">
              <a:ea typeface="宋体" panose="02010600030101010101" pitchFamily="2" charset="-122"/>
            </a:endParaRPr>
          </a:p>
          <a:p>
            <a:pPr lvl="3">
              <a:lnSpc>
                <a:spcPct val="90000"/>
              </a:lnSpc>
              <a:buFont typeface="Wingdings" panose="05000000000000000000" pitchFamily="2" charset="2"/>
              <a:buNone/>
            </a:pPr>
            <a:r>
              <a:rPr lang="en-US" altLang="zh-CN" sz="1600" b="1" dirty="0">
                <a:ea typeface="宋体" panose="02010600030101010101" pitchFamily="2" charset="-122"/>
              </a:rPr>
              <a:t>	int foo( int a )</a:t>
            </a:r>
            <a:endParaRPr lang="en-US" altLang="zh-CN" sz="1600" b="1" dirty="0">
              <a:ea typeface="宋体" panose="02010600030101010101" pitchFamily="2" charset="-122"/>
            </a:endParaRPr>
          </a:p>
          <a:p>
            <a:pPr lvl="3">
              <a:lnSpc>
                <a:spcPct val="90000"/>
              </a:lnSpc>
              <a:buFont typeface="Wingdings" panose="05000000000000000000" pitchFamily="2" charset="2"/>
              <a:buNone/>
            </a:pPr>
            <a:r>
              <a:rPr lang="en-US" altLang="zh-CN" sz="1600" b="1" dirty="0">
                <a:ea typeface="宋体" panose="02010600030101010101" pitchFamily="2" charset="-122"/>
              </a:rPr>
              <a:t>	{</a:t>
            </a:r>
            <a:endParaRPr lang="en-US" altLang="zh-CN" sz="1600" b="1" dirty="0">
              <a:ea typeface="宋体" panose="02010600030101010101" pitchFamily="2" charset="-122"/>
            </a:endParaRPr>
          </a:p>
          <a:p>
            <a:pPr lvl="3">
              <a:lnSpc>
                <a:spcPct val="90000"/>
              </a:lnSpc>
              <a:buFont typeface="Wingdings" panose="05000000000000000000" pitchFamily="2" charset="2"/>
              <a:buNone/>
            </a:pPr>
            <a:r>
              <a:rPr lang="en-US" altLang="zh-CN" sz="1600" b="1" dirty="0">
                <a:ea typeface="宋体" panose="02010600030101010101" pitchFamily="2" charset="-122"/>
              </a:rPr>
              <a:t>		int b, c;</a:t>
            </a:r>
            <a:endParaRPr lang="en-US" altLang="zh-CN" sz="1600" b="1" dirty="0">
              <a:ea typeface="宋体" panose="02010600030101010101" pitchFamily="2" charset="-122"/>
            </a:endParaRPr>
          </a:p>
          <a:p>
            <a:pPr lvl="3">
              <a:lnSpc>
                <a:spcPct val="90000"/>
              </a:lnSpc>
              <a:buFont typeface="Wingdings" panose="05000000000000000000" pitchFamily="2" charset="2"/>
              <a:buNone/>
            </a:pPr>
            <a:r>
              <a:rPr lang="en-US" altLang="zh-CN" sz="1600" b="1" dirty="0">
                <a:ea typeface="宋体" panose="02010600030101010101" pitchFamily="2" charset="-122"/>
              </a:rPr>
              <a:t>		char</a:t>
            </a:r>
            <a:r>
              <a:rPr lang="zh-CN" altLang="en-US" sz="1600" b="1" dirty="0">
                <a:ea typeface="宋体" panose="02010600030101010101" pitchFamily="2" charset="-122"/>
              </a:rPr>
              <a:t> *</a:t>
            </a:r>
            <a:r>
              <a:rPr lang="en-US" altLang="zh-CN" sz="1600" b="1" dirty="0">
                <a:ea typeface="宋体" panose="02010600030101010101" pitchFamily="2" charset="-122"/>
              </a:rPr>
              <a:t>p;</a:t>
            </a:r>
            <a:endParaRPr lang="en-US" altLang="zh-CN" sz="1600" b="1" dirty="0">
              <a:ea typeface="宋体" panose="02010600030101010101" pitchFamily="2" charset="-122"/>
            </a:endParaRPr>
          </a:p>
          <a:p>
            <a:pPr lvl="3">
              <a:lnSpc>
                <a:spcPct val="90000"/>
              </a:lnSpc>
              <a:buFont typeface="Wingdings" panose="05000000000000000000" pitchFamily="2" charset="2"/>
              <a:buNone/>
            </a:pPr>
            <a:r>
              <a:rPr lang="en-US" altLang="zh-CN" sz="1600" b="1" dirty="0">
                <a:ea typeface="宋体" panose="02010600030101010101" pitchFamily="2" charset="-122"/>
              </a:rPr>
              <a:t>		p = malloc( sizeof( char ) );</a:t>
            </a:r>
            <a:endParaRPr lang="en-US" altLang="zh-CN" sz="1600" b="1" dirty="0">
              <a:ea typeface="宋体" panose="02010600030101010101" pitchFamily="2" charset="-122"/>
            </a:endParaRPr>
          </a:p>
          <a:p>
            <a:pPr lvl="3">
              <a:lnSpc>
                <a:spcPct val="90000"/>
              </a:lnSpc>
              <a:buFont typeface="Wingdings" panose="05000000000000000000" pitchFamily="2" charset="2"/>
              <a:buNone/>
            </a:pPr>
            <a:r>
              <a:rPr lang="en-US" altLang="zh-CN" sz="1600" b="1" dirty="0">
                <a:ea typeface="宋体" panose="02010600030101010101" pitchFamily="2" charset="-122"/>
              </a:rPr>
              <a:t>		b = foo( 1 ); …</a:t>
            </a:r>
            <a:endParaRPr lang="en-US" altLang="zh-CN" sz="1600" b="1" dirty="0">
              <a:ea typeface="宋体" panose="02010600030101010101" pitchFamily="2" charset="-122"/>
            </a:endParaRPr>
          </a:p>
          <a:p>
            <a:pPr lvl="3">
              <a:lnSpc>
                <a:spcPct val="90000"/>
              </a:lnSpc>
              <a:buFont typeface="Wingdings" panose="05000000000000000000" pitchFamily="2" charset="2"/>
              <a:buNone/>
            </a:pPr>
            <a:r>
              <a:rPr lang="en-US" altLang="zh-CN" sz="1600" b="1" dirty="0">
                <a:ea typeface="宋体" panose="02010600030101010101" pitchFamily="2" charset="-122"/>
              </a:rPr>
              <a:t>	}</a:t>
            </a:r>
            <a:endParaRPr lang="en-US" altLang="zh-CN" sz="1600" b="1" dirty="0">
              <a:ea typeface="宋体" panose="02010600030101010101" pitchFamily="2" charset="-122"/>
            </a:endParaRPr>
          </a:p>
          <a:p>
            <a:pPr lvl="2">
              <a:lnSpc>
                <a:spcPct val="90000"/>
              </a:lnSpc>
            </a:pPr>
            <a:r>
              <a:rPr lang="zh-CN" altLang="en-US" sz="1800" b="1" dirty="0">
                <a:ea typeface="宋体" panose="02010600030101010101" pitchFamily="2" charset="-122"/>
              </a:rPr>
              <a:t>作用域：一个声明起作用的程序部分称为该声明的作用域</a:t>
            </a:r>
            <a:endParaRPr lang="zh-CN" altLang="en-US" sz="1800" b="1" dirty="0">
              <a:ea typeface="宋体" panose="02010600030101010101" pitchFamily="2" charset="-122"/>
            </a:endParaRPr>
          </a:p>
          <a:p>
            <a:pPr lvl="2">
              <a:lnSpc>
                <a:spcPct val="90000"/>
              </a:lnSpc>
            </a:pPr>
            <a:r>
              <a:rPr lang="zh-CN" altLang="en-US" sz="1800" b="1" dirty="0">
                <a:ea typeface="宋体" panose="02010600030101010101" pitchFamily="2" charset="-122"/>
              </a:rPr>
              <a:t>局部和非局部：过程中名字的出现，如果是在该过程的一个声明的作用域内，则这个出现称为局部于该过程</a:t>
            </a:r>
            <a:endParaRPr lang="zh-CN" altLang="en-US" sz="1800" b="1" dirty="0">
              <a:ea typeface="宋体" panose="02010600030101010101" pitchFamily="2" charset="-122"/>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源语言问题（8）</a:t>
            </a:r>
            <a:endParaRPr lang="zh-CN" altLang="en-US" dirty="0">
              <a:latin typeface="Times New Roman" panose="02020603050405020304" pitchFamily="18" charset="0"/>
              <a:ea typeface="宋体" panose="02010600030101010101" pitchFamily="2" charset="-122"/>
            </a:endParaRPr>
          </a:p>
        </p:txBody>
      </p:sp>
      <p:sp>
        <p:nvSpPr>
          <p:cNvPr id="21507" name="Rectangle 3"/>
          <p:cNvSpPr>
            <a:spLocks noGrp="1"/>
          </p:cNvSpPr>
          <p:nvPr>
            <p:ph idx="1"/>
          </p:nvPr>
        </p:nvSpPr>
        <p:spPr>
          <a:xfrm>
            <a:off x="990600" y="1524000"/>
            <a:ext cx="7391400" cy="4953000"/>
          </a:xfrm>
          <a:ln/>
        </p:spPr>
        <p:txBody>
          <a:bodyPr vert="horz" wrap="square" lIns="92075" tIns="46038" rIns="92075" bIns="46038" anchor="t" anchorCtr="0"/>
          <a:p>
            <a:pPr lvl="1">
              <a:lnSpc>
                <a:spcPct val="90000"/>
              </a:lnSpc>
            </a:pPr>
            <a:r>
              <a:rPr lang="zh-CN" altLang="en-US" sz="2200" b="1" dirty="0">
                <a:ea typeface="宋体" panose="02010600030101010101" pitchFamily="2" charset="-122"/>
              </a:rPr>
              <a:t>名字的结合</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程序中声明的名字和动态数据对象的关系</a:t>
            </a:r>
            <a:endParaRPr lang="zh-CN" altLang="en-US" sz="2000" b="1" dirty="0">
              <a:ea typeface="宋体" panose="02010600030101010101" pitchFamily="2" charset="-122"/>
            </a:endParaRPr>
          </a:p>
          <a:p>
            <a:pPr lvl="3">
              <a:lnSpc>
                <a:spcPct val="90000"/>
              </a:lnSpc>
            </a:pPr>
            <a:r>
              <a:rPr lang="zh-CN" altLang="en-US" sz="1800" b="1" dirty="0">
                <a:ea typeface="宋体" panose="02010600030101010101" pitchFamily="2" charset="-122"/>
              </a:rPr>
              <a:t>数据对象是保存值的存储单元</a:t>
            </a:r>
            <a:endParaRPr lang="zh-CN" altLang="en-US" sz="1800" b="1" dirty="0">
              <a:ea typeface="宋体" panose="02010600030101010101" pitchFamily="2" charset="-122"/>
            </a:endParaRPr>
          </a:p>
          <a:p>
            <a:pPr lvl="3">
              <a:lnSpc>
                <a:spcPct val="90000"/>
              </a:lnSpc>
            </a:pPr>
            <a:r>
              <a:rPr lang="zh-CN" altLang="en-US" sz="1800" b="1" dirty="0">
                <a:ea typeface="宋体" panose="02010600030101010101" pitchFamily="2" charset="-122"/>
              </a:rPr>
              <a:t>一个名字可能代表不同的数据对象</a:t>
            </a:r>
            <a:endParaRPr lang="zh-CN" altLang="en-US" sz="1800" b="1" dirty="0">
              <a:ea typeface="宋体" panose="02010600030101010101" pitchFamily="2" charset="-122"/>
            </a:endParaRPr>
          </a:p>
          <a:p>
            <a:pPr lvl="2">
              <a:lnSpc>
                <a:spcPct val="90000"/>
              </a:lnSpc>
            </a:pPr>
            <a:r>
              <a:rPr lang="zh-CN" altLang="en-US" sz="2000" b="1" dirty="0">
                <a:ea typeface="宋体" panose="02010600030101010101" pitchFamily="2" charset="-122"/>
              </a:rPr>
              <a:t>环境：表示将名字映射到存储单元（即名字的左值）的函数</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状态：表示将存储单元映射到它所保存的值（即名字的右值）的函数</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赋值操作只改变状态，但不改变环境</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结合：如果环境把存储单元</a:t>
            </a:r>
            <a:r>
              <a:rPr lang="en-US" altLang="zh-CN" sz="2000" b="1" dirty="0">
                <a:ea typeface="宋体" panose="02010600030101010101" pitchFamily="2" charset="-122"/>
              </a:rPr>
              <a:t>s</a:t>
            </a:r>
            <a:r>
              <a:rPr lang="zh-CN" altLang="en-US" sz="2000" b="1" dirty="0">
                <a:ea typeface="宋体" panose="02010600030101010101" pitchFamily="2" charset="-122"/>
              </a:rPr>
              <a:t>联系到名字</a:t>
            </a:r>
            <a:r>
              <a:rPr lang="en-US" altLang="zh-CN" sz="2000" b="1" dirty="0">
                <a:ea typeface="宋体" panose="02010600030101010101" pitchFamily="2" charset="-122"/>
              </a:rPr>
              <a:t>x，</a:t>
            </a:r>
            <a:r>
              <a:rPr lang="zh-CN" altLang="en-US" sz="2000" b="1" dirty="0">
                <a:ea typeface="宋体" panose="02010600030101010101" pitchFamily="2" charset="-122"/>
              </a:rPr>
              <a:t>则称</a:t>
            </a:r>
            <a:r>
              <a:rPr lang="en-US" altLang="zh-CN" sz="2000" b="1" dirty="0">
                <a:ea typeface="宋体" panose="02010600030101010101" pitchFamily="2" charset="-122"/>
              </a:rPr>
              <a:t>x</a:t>
            </a:r>
            <a:r>
              <a:rPr lang="zh-CN" altLang="en-US" sz="2000" b="1" dirty="0">
                <a:ea typeface="宋体" panose="02010600030101010101" pitchFamily="2" charset="-122"/>
              </a:rPr>
              <a:t>结合到</a:t>
            </a:r>
            <a:r>
              <a:rPr lang="en-US" altLang="zh-CN" sz="2000" b="1" dirty="0">
                <a:ea typeface="宋体" panose="02010600030101010101" pitchFamily="2" charset="-122"/>
              </a:rPr>
              <a:t>s，</a:t>
            </a:r>
            <a:r>
              <a:rPr lang="zh-CN" altLang="en-US" sz="2000" b="1" dirty="0">
                <a:ea typeface="宋体" panose="02010600030101010101" pitchFamily="2" charset="-122"/>
              </a:rPr>
              <a:t>这个联系本身称为</a:t>
            </a:r>
            <a:r>
              <a:rPr lang="en-US" altLang="zh-CN" sz="2000" b="1" dirty="0">
                <a:ea typeface="宋体" panose="02010600030101010101" pitchFamily="2" charset="-122"/>
              </a:rPr>
              <a:t>x</a:t>
            </a:r>
            <a:r>
              <a:rPr lang="zh-CN" altLang="en-US" sz="2000" b="1" dirty="0">
                <a:ea typeface="宋体" panose="02010600030101010101" pitchFamily="2" charset="-122"/>
              </a:rPr>
              <a:t>的结合</a:t>
            </a:r>
            <a:endParaRPr lang="zh-CN" altLang="en-US" sz="2000" b="1" dirty="0">
              <a:ea typeface="宋体" panose="02010600030101010101" pitchFamily="2" charset="-122"/>
            </a:endParaRPr>
          </a:p>
          <a:p>
            <a:pPr lvl="2">
              <a:lnSpc>
                <a:spcPct val="90000"/>
              </a:lnSpc>
              <a:spcBef>
                <a:spcPct val="40000"/>
              </a:spcBef>
              <a:spcAft>
                <a:spcPct val="20000"/>
              </a:spcAft>
              <a:buFont typeface="Wingdings" panose="05000000000000000000" pitchFamily="2" charset="2"/>
              <a:buNone/>
            </a:pPr>
            <a:r>
              <a:rPr lang="zh-CN" altLang="en-US" sz="2000" b="1" dirty="0">
                <a:ea typeface="宋体" panose="02010600030101010101" pitchFamily="2" charset="-122"/>
              </a:rPr>
              <a:t>	静态概念		动态概念</a:t>
            </a:r>
            <a:endParaRPr lang="zh-CN" altLang="en-US" sz="2000" b="1" dirty="0">
              <a:ea typeface="宋体" panose="02010600030101010101" pitchFamily="2" charset="-122"/>
            </a:endParaRPr>
          </a:p>
          <a:p>
            <a:pPr lvl="2">
              <a:lnSpc>
                <a:spcPct val="90000"/>
              </a:lnSpc>
              <a:buFont typeface="Wingdings" panose="05000000000000000000" pitchFamily="2" charset="2"/>
              <a:buNone/>
            </a:pPr>
            <a:r>
              <a:rPr lang="zh-CN" altLang="en-US" sz="1800" b="1" dirty="0">
                <a:ea typeface="宋体" panose="02010600030101010101" pitchFamily="2" charset="-122"/>
              </a:rPr>
              <a:t>   过程的定义		过程的活动</a:t>
            </a:r>
            <a:endParaRPr lang="zh-CN" altLang="en-US" sz="1800" b="1" dirty="0">
              <a:ea typeface="宋体" panose="02010600030101010101" pitchFamily="2" charset="-122"/>
            </a:endParaRPr>
          </a:p>
          <a:p>
            <a:pPr lvl="2">
              <a:lnSpc>
                <a:spcPct val="90000"/>
              </a:lnSpc>
              <a:buFont typeface="Wingdings" panose="05000000000000000000" pitchFamily="2" charset="2"/>
              <a:buNone/>
            </a:pPr>
            <a:r>
              <a:rPr lang="zh-CN" altLang="en-US" sz="1800" b="1" dirty="0">
                <a:ea typeface="宋体" panose="02010600030101010101" pitchFamily="2" charset="-122"/>
              </a:rPr>
              <a:t>   名字的声明		名字的结合</a:t>
            </a:r>
            <a:endParaRPr lang="zh-CN" altLang="en-US" sz="1800" b="1" dirty="0">
              <a:ea typeface="宋体" panose="02010600030101010101" pitchFamily="2" charset="-122"/>
            </a:endParaRPr>
          </a:p>
          <a:p>
            <a:pPr lvl="2">
              <a:lnSpc>
                <a:spcPct val="90000"/>
              </a:lnSpc>
              <a:buFont typeface="Wingdings" panose="05000000000000000000" pitchFamily="2" charset="2"/>
              <a:buNone/>
            </a:pPr>
            <a:r>
              <a:rPr lang="zh-CN" altLang="en-US" sz="1800" b="1" dirty="0">
                <a:ea typeface="宋体" panose="02010600030101010101" pitchFamily="2" charset="-122"/>
              </a:rPr>
              <a:t>  声明的作用域		结合的生存期</a:t>
            </a:r>
            <a:endParaRPr lang="zh-CN" altLang="en-US" sz="1800" b="1" dirty="0">
              <a:ea typeface="宋体" panose="02010600030101010101" pitchFamily="2" charset="-122"/>
            </a:endParaRPr>
          </a:p>
        </p:txBody>
      </p:sp>
      <p:sp>
        <p:nvSpPr>
          <p:cNvPr id="21508" name="Line 4"/>
          <p:cNvSpPr/>
          <p:nvPr/>
        </p:nvSpPr>
        <p:spPr>
          <a:xfrm>
            <a:off x="1981200" y="5029200"/>
            <a:ext cx="5029200" cy="0"/>
          </a:xfrm>
          <a:prstGeom prst="line">
            <a:avLst/>
          </a:prstGeom>
          <a:ln w="38100" cap="flat" cmpd="sng">
            <a:solidFill>
              <a:schemeClr val="tx1"/>
            </a:solidFill>
            <a:prstDash val="solid"/>
            <a:headEnd type="none" w="sm" len="sm"/>
            <a:tailEnd type="none" w="lg" len="med"/>
          </a:ln>
        </p:spPr>
      </p:sp>
      <p:sp>
        <p:nvSpPr>
          <p:cNvPr id="21509" name="Line 5"/>
          <p:cNvSpPr/>
          <p:nvPr/>
        </p:nvSpPr>
        <p:spPr>
          <a:xfrm>
            <a:off x="1981200" y="5410200"/>
            <a:ext cx="5029200" cy="0"/>
          </a:xfrm>
          <a:prstGeom prst="line">
            <a:avLst/>
          </a:prstGeom>
          <a:ln w="22225" cap="flat" cmpd="sng">
            <a:solidFill>
              <a:schemeClr val="tx1"/>
            </a:solidFill>
            <a:prstDash val="solid"/>
            <a:headEnd type="none" w="sm" len="sm"/>
            <a:tailEnd type="none" w="lg" len="med"/>
          </a:ln>
        </p:spPr>
      </p:sp>
      <p:sp>
        <p:nvSpPr>
          <p:cNvPr id="21510" name="Line 6"/>
          <p:cNvSpPr/>
          <p:nvPr/>
        </p:nvSpPr>
        <p:spPr>
          <a:xfrm>
            <a:off x="1981200" y="6400800"/>
            <a:ext cx="5029200" cy="0"/>
          </a:xfrm>
          <a:prstGeom prst="line">
            <a:avLst/>
          </a:prstGeom>
          <a:ln w="38100" cap="flat" cmpd="sng">
            <a:solidFill>
              <a:schemeClr val="tx1"/>
            </a:solidFill>
            <a:prstDash val="solid"/>
            <a:headEnd type="none" w="sm" len="sm"/>
            <a:tailEnd type="none" w="lg" len="med"/>
          </a:ln>
        </p:spPr>
      </p:sp>
      <p:sp>
        <p:nvSpPr>
          <p:cNvPr id="21511" name="Line 7"/>
          <p:cNvSpPr/>
          <p:nvPr/>
        </p:nvSpPr>
        <p:spPr>
          <a:xfrm>
            <a:off x="4038600" y="5029200"/>
            <a:ext cx="0" cy="1371600"/>
          </a:xfrm>
          <a:prstGeom prst="line">
            <a:avLst/>
          </a:prstGeom>
          <a:ln w="22225" cap="flat" cmpd="sng">
            <a:solidFill>
              <a:schemeClr val="tx1"/>
            </a:solidFill>
            <a:prstDash val="solid"/>
            <a:headEnd type="none" w="sm" len="sm"/>
            <a:tailEnd type="none" w="lg" len="med"/>
          </a:ln>
        </p:spPr>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源语言问题（9）</a:t>
            </a:r>
            <a:endParaRPr lang="zh-CN" altLang="en-US" dirty="0">
              <a:latin typeface="Times New Roman" panose="02020603050405020304" pitchFamily="18" charset="0"/>
              <a:ea typeface="宋体" panose="02010600030101010101" pitchFamily="2" charset="-122"/>
            </a:endParaRPr>
          </a:p>
        </p:txBody>
      </p:sp>
      <p:sp>
        <p:nvSpPr>
          <p:cNvPr id="23555" name="Rectangle 3"/>
          <p:cNvSpPr>
            <a:spLocks noGrp="1"/>
          </p:cNvSpPr>
          <p:nvPr>
            <p:ph idx="1"/>
          </p:nvPr>
        </p:nvSpPr>
        <p:spPr>
          <a:xfrm>
            <a:off x="990600" y="1524000"/>
            <a:ext cx="7391400" cy="4724400"/>
          </a:xfrm>
          <a:ln/>
        </p:spPr>
        <p:txBody>
          <a:bodyPr vert="horz" wrap="square" lIns="92075" tIns="46038" rIns="92075" bIns="46038" anchor="t" anchorCtr="0"/>
          <a:p>
            <a:pPr lvl="2">
              <a:spcBef>
                <a:spcPct val="30000"/>
              </a:spcBef>
              <a:spcAft>
                <a:spcPct val="10000"/>
              </a:spcAft>
            </a:pPr>
            <a:r>
              <a:rPr lang="zh-CN" altLang="en-US" sz="2000" b="1" dirty="0">
                <a:ea typeface="宋体" panose="02010600030101010101" pitchFamily="2" charset="-122"/>
              </a:rPr>
              <a:t>名字结合要考虑的问题</a:t>
            </a:r>
            <a:endParaRPr lang="zh-CN" altLang="en-US" sz="2000" b="1" dirty="0">
              <a:ea typeface="宋体" panose="02010600030101010101" pitchFamily="2" charset="-122"/>
            </a:endParaRPr>
          </a:p>
          <a:p>
            <a:pPr lvl="3">
              <a:spcBef>
                <a:spcPct val="30000"/>
              </a:spcBef>
              <a:spcAft>
                <a:spcPct val="10000"/>
              </a:spcAft>
            </a:pPr>
            <a:r>
              <a:rPr lang="zh-CN" altLang="en-US" sz="1800" b="1" dirty="0">
                <a:ea typeface="宋体" panose="02010600030101010101" pitchFamily="2" charset="-122"/>
              </a:rPr>
              <a:t>过程是否递归</a:t>
            </a:r>
            <a:endParaRPr lang="zh-CN" altLang="en-US" sz="1800" b="1" dirty="0">
              <a:ea typeface="宋体" panose="02010600030101010101" pitchFamily="2" charset="-122"/>
            </a:endParaRPr>
          </a:p>
          <a:p>
            <a:pPr lvl="3">
              <a:spcBef>
                <a:spcPct val="30000"/>
              </a:spcBef>
              <a:spcAft>
                <a:spcPct val="10000"/>
              </a:spcAft>
            </a:pPr>
            <a:r>
              <a:rPr lang="zh-CN" altLang="en-US" sz="1800" b="1" dirty="0">
                <a:ea typeface="宋体" panose="02010600030101010101" pitchFamily="2" charset="-122"/>
              </a:rPr>
              <a:t>当控制从过程的活动返回时，局部名字的值是否要保留</a:t>
            </a:r>
            <a:endParaRPr lang="zh-CN" altLang="en-US" sz="1800" b="1" dirty="0">
              <a:ea typeface="宋体" panose="02010600030101010101" pitchFamily="2" charset="-122"/>
            </a:endParaRPr>
          </a:p>
          <a:p>
            <a:pPr lvl="3">
              <a:spcBef>
                <a:spcPct val="30000"/>
              </a:spcBef>
              <a:spcAft>
                <a:spcPct val="10000"/>
              </a:spcAft>
            </a:pPr>
            <a:r>
              <a:rPr lang="zh-CN" altLang="en-US" sz="1800" b="1" dirty="0">
                <a:ea typeface="宋体" panose="02010600030101010101" pitchFamily="2" charset="-122"/>
              </a:rPr>
              <a:t>过程能否引用非局部的名字</a:t>
            </a:r>
            <a:endParaRPr lang="zh-CN" altLang="en-US" sz="1800" b="1" dirty="0">
              <a:ea typeface="宋体" panose="02010600030101010101" pitchFamily="2" charset="-122"/>
            </a:endParaRPr>
          </a:p>
          <a:p>
            <a:pPr lvl="3">
              <a:spcBef>
                <a:spcPct val="30000"/>
              </a:spcBef>
              <a:spcAft>
                <a:spcPct val="10000"/>
              </a:spcAft>
            </a:pPr>
            <a:r>
              <a:rPr lang="zh-CN" altLang="en-US" sz="1800" b="1" dirty="0">
                <a:ea typeface="宋体" panose="02010600030101010101" pitchFamily="2" charset="-122"/>
              </a:rPr>
              <a:t>过程调用时参数是如何传递的</a:t>
            </a:r>
            <a:endParaRPr lang="zh-CN" altLang="en-US" sz="1800" b="1" dirty="0">
              <a:ea typeface="宋体" panose="02010600030101010101" pitchFamily="2" charset="-122"/>
            </a:endParaRPr>
          </a:p>
          <a:p>
            <a:pPr lvl="3">
              <a:spcBef>
                <a:spcPct val="30000"/>
              </a:spcBef>
              <a:spcAft>
                <a:spcPct val="10000"/>
              </a:spcAft>
            </a:pPr>
            <a:r>
              <a:rPr lang="zh-CN" altLang="en-US" sz="1800" b="1" dirty="0">
                <a:ea typeface="宋体" panose="02010600030101010101" pitchFamily="2" charset="-122"/>
              </a:rPr>
              <a:t>过程是否可以作为参数被传递</a:t>
            </a:r>
            <a:endParaRPr lang="zh-CN" altLang="en-US" sz="1800" b="1" dirty="0">
              <a:ea typeface="宋体" panose="02010600030101010101" pitchFamily="2" charset="-122"/>
            </a:endParaRPr>
          </a:p>
          <a:p>
            <a:pPr lvl="3">
              <a:spcBef>
                <a:spcPct val="30000"/>
              </a:spcBef>
              <a:spcAft>
                <a:spcPct val="10000"/>
              </a:spcAft>
            </a:pPr>
            <a:r>
              <a:rPr lang="zh-CN" altLang="en-US" sz="1800" b="1" dirty="0">
                <a:ea typeface="宋体" panose="02010600030101010101" pitchFamily="2" charset="-122"/>
              </a:rPr>
              <a:t>过程能否作为结果值返回</a:t>
            </a:r>
            <a:endParaRPr lang="zh-CN" altLang="en-US" sz="1800" b="1" dirty="0">
              <a:ea typeface="宋体" panose="02010600030101010101" pitchFamily="2" charset="-122"/>
            </a:endParaRPr>
          </a:p>
          <a:p>
            <a:pPr lvl="3">
              <a:spcBef>
                <a:spcPct val="30000"/>
              </a:spcBef>
              <a:spcAft>
                <a:spcPct val="10000"/>
              </a:spcAft>
            </a:pPr>
            <a:r>
              <a:rPr lang="zh-CN" altLang="en-US" sz="1800" b="1" dirty="0">
                <a:ea typeface="宋体" panose="02010600030101010101" pitchFamily="2" charset="-122"/>
              </a:rPr>
              <a:t>存储区能否在程序控制下动态地分配</a:t>
            </a:r>
            <a:endParaRPr lang="zh-CN" altLang="en-US" sz="1800" b="1" dirty="0">
              <a:ea typeface="宋体" panose="02010600030101010101" pitchFamily="2" charset="-122"/>
            </a:endParaRPr>
          </a:p>
          <a:p>
            <a:pPr lvl="3">
              <a:spcBef>
                <a:spcPct val="30000"/>
              </a:spcBef>
              <a:spcAft>
                <a:spcPct val="10000"/>
              </a:spcAft>
            </a:pPr>
            <a:r>
              <a:rPr lang="zh-CN" altLang="en-US" sz="1800" b="1" dirty="0">
                <a:ea typeface="宋体" panose="02010600030101010101" pitchFamily="2" charset="-122"/>
              </a:rPr>
              <a:t>存储区是否必须显式地释放</a:t>
            </a:r>
            <a:endParaRPr lang="zh-CN" altLang="en-US" sz="1800" b="1" dirty="0">
              <a:ea typeface="宋体" panose="02010600030101010101" pitchFamily="2" charset="-122"/>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存储组织（1）</a:t>
            </a:r>
            <a:endParaRPr lang="zh-CN" altLang="en-US" dirty="0">
              <a:latin typeface="Times New Roman" panose="02020603050405020304" pitchFamily="18" charset="0"/>
              <a:ea typeface="宋体" panose="02010600030101010101" pitchFamily="2" charset="-122"/>
            </a:endParaRPr>
          </a:p>
        </p:txBody>
      </p:sp>
      <p:sp>
        <p:nvSpPr>
          <p:cNvPr id="25603" name="Rectangle 3"/>
          <p:cNvSpPr>
            <a:spLocks noGrp="1"/>
          </p:cNvSpPr>
          <p:nvPr>
            <p:ph idx="1"/>
          </p:nvPr>
        </p:nvSpPr>
        <p:spPr>
          <a:xfrm>
            <a:off x="468313" y="1524000"/>
            <a:ext cx="5543550" cy="4724400"/>
          </a:xfrm>
          <a:ln/>
        </p:spPr>
        <p:txBody>
          <a:bodyPr vert="horz" wrap="square" lIns="92075" tIns="46038" rIns="92075" bIns="46038" anchor="t" anchorCtr="0"/>
          <a:p>
            <a:r>
              <a:rPr lang="zh-CN" altLang="en-US" sz="2400" b="1" dirty="0">
                <a:ea typeface="宋体" panose="02010600030101010101" pitchFamily="2" charset="-122"/>
              </a:rPr>
              <a:t>运行时内存的划分</a:t>
            </a:r>
            <a:endParaRPr lang="zh-CN" altLang="en-US" sz="2400" b="1" dirty="0">
              <a:ea typeface="宋体" panose="02010600030101010101" pitchFamily="2" charset="-122"/>
            </a:endParaRPr>
          </a:p>
          <a:p>
            <a:pPr lvl="1"/>
            <a:r>
              <a:rPr lang="zh-CN" altLang="en-US" sz="2200" b="1" dirty="0">
                <a:ea typeface="宋体" panose="02010600030101010101" pitchFamily="2" charset="-122"/>
              </a:rPr>
              <a:t>程序运行时如何使用内存：</a:t>
            </a:r>
            <a:endParaRPr lang="zh-CN" altLang="en-US" sz="2200" b="1" dirty="0">
              <a:ea typeface="宋体" panose="02010600030101010101" pitchFamily="2" charset="-122"/>
            </a:endParaRPr>
          </a:p>
          <a:p>
            <a:pPr lvl="2"/>
            <a:r>
              <a:rPr lang="zh-CN" altLang="en-US" sz="2000" b="1" dirty="0">
                <a:ea typeface="宋体" panose="02010600030101010101" pitchFamily="2" charset="-122"/>
              </a:rPr>
              <a:t>目标代码的存放</a:t>
            </a:r>
            <a:endParaRPr lang="zh-CN" altLang="en-US" sz="2000" b="1" dirty="0">
              <a:ea typeface="宋体" panose="02010600030101010101" pitchFamily="2" charset="-122"/>
            </a:endParaRPr>
          </a:p>
          <a:p>
            <a:pPr lvl="3"/>
            <a:r>
              <a:rPr lang="zh-CN" altLang="en-US" sz="1800" b="1" dirty="0">
                <a:ea typeface="宋体" panose="02010600030101010101" pitchFamily="2" charset="-122"/>
              </a:rPr>
              <a:t>目标代码可以存放在静态确定的区域，其长度在编译时即可确定</a:t>
            </a:r>
            <a:endParaRPr lang="en-US" altLang="zh-CN" sz="1800" b="1" dirty="0">
              <a:ea typeface="宋体" panose="02010600030101010101" pitchFamily="2" charset="-122"/>
            </a:endParaRPr>
          </a:p>
          <a:p>
            <a:pPr lvl="3"/>
            <a:r>
              <a:rPr lang="zh-CN" altLang="en-US" sz="1800" b="1" dirty="0">
                <a:ea typeface="宋体" panose="02010600030101010101" pitchFamily="2" charset="-122"/>
              </a:rPr>
              <a:t>通常位于存储的低端</a:t>
            </a:r>
            <a:endParaRPr lang="zh-CN" altLang="en-US" sz="1800" b="1" dirty="0">
              <a:ea typeface="宋体" panose="02010600030101010101" pitchFamily="2" charset="-122"/>
            </a:endParaRPr>
          </a:p>
          <a:p>
            <a:pPr lvl="2"/>
            <a:r>
              <a:rPr lang="zh-CN" altLang="en-US" sz="2000" b="1" dirty="0">
                <a:ea typeface="宋体" panose="02010600030101010101" pitchFamily="2" charset="-122"/>
              </a:rPr>
              <a:t>数据对象</a:t>
            </a:r>
            <a:endParaRPr lang="zh-CN" altLang="en-US" sz="2000" b="1" dirty="0">
              <a:ea typeface="宋体" panose="02010600030101010101" pitchFamily="2" charset="-122"/>
            </a:endParaRPr>
          </a:p>
          <a:p>
            <a:pPr lvl="3"/>
            <a:r>
              <a:rPr lang="zh-CN" altLang="en-US" sz="1800" b="1" dirty="0">
                <a:ea typeface="宋体" panose="02010600030101010101" pitchFamily="2" charset="-122"/>
              </a:rPr>
              <a:t>静态区存放可静态分配的数据对象，其地址可以编译到目标代码中</a:t>
            </a:r>
            <a:endParaRPr lang="zh-CN" altLang="en-US" sz="1800" b="1" dirty="0">
              <a:ea typeface="宋体" panose="02010600030101010101" pitchFamily="2" charset="-122"/>
            </a:endParaRPr>
          </a:p>
          <a:p>
            <a:pPr lvl="3"/>
            <a:r>
              <a:rPr lang="zh-CN" altLang="en-US" sz="1800" b="1" dirty="0">
                <a:ea typeface="宋体" panose="02010600030101010101" pitchFamily="2" charset="-122"/>
              </a:rPr>
              <a:t>动态分配，可以放在栈区或堆区</a:t>
            </a:r>
            <a:endParaRPr lang="en-US" altLang="zh-CN" sz="1800" b="1" dirty="0">
              <a:ea typeface="宋体" panose="02010600030101010101" pitchFamily="2" charset="-122"/>
            </a:endParaRPr>
          </a:p>
          <a:p>
            <a:pPr lvl="3"/>
            <a:r>
              <a:rPr lang="zh-CN" altLang="en-US" sz="1800" b="1" dirty="0">
                <a:ea typeface="宋体" panose="02010600030101010101" pitchFamily="2" charset="-122"/>
              </a:rPr>
              <a:t>由于数据对齐而可能引入补白（</a:t>
            </a:r>
            <a:r>
              <a:rPr lang="en-US" altLang="zh-CN" sz="1800" b="1" dirty="0">
                <a:ea typeface="宋体" panose="02010600030101010101" pitchFamily="2" charset="-122"/>
              </a:rPr>
              <a:t>padding</a:t>
            </a:r>
            <a:r>
              <a:rPr lang="zh-CN" altLang="en-US" sz="1800" b="1" dirty="0">
                <a:ea typeface="宋体" panose="02010600030101010101" pitchFamily="2" charset="-122"/>
              </a:rPr>
              <a:t>）区</a:t>
            </a:r>
            <a:endParaRPr lang="zh-CN" altLang="en-US" sz="1800" b="1" dirty="0">
              <a:ea typeface="宋体" panose="02010600030101010101" pitchFamily="2" charset="-122"/>
            </a:endParaRPr>
          </a:p>
          <a:p>
            <a:pPr lvl="2"/>
            <a:r>
              <a:rPr lang="zh-CN" altLang="en-US" sz="2000" b="1" dirty="0">
                <a:ea typeface="宋体" panose="02010600030101010101" pitchFamily="2" charset="-122"/>
              </a:rPr>
              <a:t>控制栈：记录过程活动</a:t>
            </a:r>
            <a:endParaRPr lang="zh-CN" altLang="en-US" sz="2000" b="1" dirty="0">
              <a:ea typeface="宋体" panose="02010600030101010101" pitchFamily="2" charset="-122"/>
            </a:endParaRPr>
          </a:p>
          <a:p>
            <a:pPr lvl="2"/>
            <a:r>
              <a:rPr lang="zh-CN" altLang="en-US" sz="2000" b="1" dirty="0">
                <a:ea typeface="宋体" panose="02010600030101010101" pitchFamily="2" charset="-122"/>
              </a:rPr>
              <a:t>堆：可以存放动态分配的数据等，但开销要比栈大</a:t>
            </a:r>
            <a:endParaRPr lang="zh-CN" altLang="en-US" sz="2000" b="1" dirty="0">
              <a:ea typeface="宋体" panose="02010600030101010101" pitchFamily="2" charset="-122"/>
            </a:endParaRPr>
          </a:p>
        </p:txBody>
      </p:sp>
      <p:graphicFrame>
        <p:nvGraphicFramePr>
          <p:cNvPr id="25604" name="Object 4"/>
          <p:cNvGraphicFramePr>
            <a:graphicFrameLocks noChangeAspect="1"/>
          </p:cNvGraphicFramePr>
          <p:nvPr/>
        </p:nvGraphicFramePr>
        <p:xfrm>
          <a:off x="5867400" y="1752600"/>
          <a:ext cx="2514600" cy="3429000"/>
        </p:xfrm>
        <a:graphic>
          <a:graphicData uri="http://schemas.openxmlformats.org/presentationml/2006/ole">
            <mc:AlternateContent xmlns:mc="http://schemas.openxmlformats.org/markup-compatibility/2006">
              <mc:Choice xmlns:v="urn:schemas-microsoft-com:vml" Requires="v">
                <p:oleObj spid="_x0000_s3079" name="" r:id="rId1" imgW="3721100" imgH="4508500" progId="Visio.Drawing.11">
                  <p:embed/>
                </p:oleObj>
              </mc:Choice>
              <mc:Fallback>
                <p:oleObj name="" r:id="rId1" imgW="3721100" imgH="4508500" progId="Visio.Drawing.11">
                  <p:embed/>
                  <p:pic>
                    <p:nvPicPr>
                      <p:cNvPr id="0" name="图片 3078"/>
                      <p:cNvPicPr/>
                      <p:nvPr/>
                    </p:nvPicPr>
                    <p:blipFill>
                      <a:blip r:embed="rId2"/>
                      <a:stretch>
                        <a:fillRect/>
                      </a:stretch>
                    </p:blipFill>
                    <p:spPr>
                      <a:xfrm>
                        <a:off x="5867400" y="1752600"/>
                        <a:ext cx="2514600" cy="3429000"/>
                      </a:xfrm>
                      <a:prstGeom prst="rect">
                        <a:avLst/>
                      </a:prstGeom>
                      <a:noFill/>
                      <a:ln w="38100">
                        <a:noFill/>
                        <a:miter/>
                      </a:ln>
                    </p:spPr>
                  </p:pic>
                </p:oleObj>
              </mc:Fallback>
            </mc:AlternateContent>
          </a:graphicData>
        </a:graphic>
      </p:graphicFrame>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存储组织（2）</a:t>
            </a:r>
            <a:endParaRPr lang="zh-CN" altLang="en-US" dirty="0">
              <a:latin typeface="Times New Roman" panose="02020603050405020304" pitchFamily="18" charset="0"/>
              <a:ea typeface="宋体" panose="02010600030101010101" pitchFamily="2" charset="-122"/>
            </a:endParaRPr>
          </a:p>
        </p:txBody>
      </p:sp>
      <p:sp>
        <p:nvSpPr>
          <p:cNvPr id="27651" name="Rectangle 3"/>
          <p:cNvSpPr>
            <a:spLocks noGrp="1"/>
          </p:cNvSpPr>
          <p:nvPr>
            <p:ph idx="1"/>
          </p:nvPr>
        </p:nvSpPr>
        <p:spPr>
          <a:xfrm>
            <a:off x="1042988" y="1524000"/>
            <a:ext cx="4800600" cy="4724400"/>
          </a:xfrm>
          <a:ln/>
        </p:spPr>
        <p:txBody>
          <a:bodyPr vert="horz" wrap="square" lIns="92075" tIns="46038" rIns="92075" bIns="46038" anchor="t" anchorCtr="0"/>
          <a:p>
            <a:r>
              <a:rPr lang="zh-CN" altLang="en-US" sz="2400" b="1" dirty="0">
                <a:ea typeface="宋体" panose="02010600030101010101" pitchFamily="2" charset="-122"/>
              </a:rPr>
              <a:t>活动记录</a:t>
            </a:r>
            <a:endParaRPr lang="zh-CN" altLang="en-US" sz="2400" b="1" dirty="0">
              <a:ea typeface="宋体" panose="02010600030101010101" pitchFamily="2" charset="-122"/>
            </a:endParaRPr>
          </a:p>
          <a:p>
            <a:pPr lvl="1"/>
            <a:r>
              <a:rPr lang="zh-CN" altLang="en-US" sz="2200" b="1" dirty="0">
                <a:ea typeface="宋体" panose="02010600030101010101" pitchFamily="2" charset="-122"/>
              </a:rPr>
              <a:t>定义：过程的一次执行所需要的信息用一块连续的存储区来管理，这块存储区叫做活动记录或帧</a:t>
            </a:r>
            <a:endParaRPr lang="zh-CN" altLang="en-US" sz="2200" b="1" dirty="0">
              <a:ea typeface="宋体" panose="02010600030101010101" pitchFamily="2" charset="-122"/>
            </a:endParaRPr>
          </a:p>
          <a:p>
            <a:pPr lvl="2"/>
            <a:r>
              <a:rPr lang="zh-CN" altLang="en-US" sz="2000" b="1" dirty="0">
                <a:ea typeface="宋体" panose="02010600030101010101" pitchFamily="2" charset="-122"/>
              </a:rPr>
              <a:t>一般的活动记录结构如右图，但不是所有的语言或编译器都是如此</a:t>
            </a:r>
            <a:endParaRPr lang="zh-CN" altLang="en-US" sz="2000" b="1" dirty="0">
              <a:ea typeface="宋体" panose="02010600030101010101" pitchFamily="2" charset="-122"/>
            </a:endParaRPr>
          </a:p>
          <a:p>
            <a:pPr lvl="2"/>
            <a:r>
              <a:rPr lang="zh-CN" altLang="en-US" sz="2000" b="1" dirty="0">
                <a:ea typeface="宋体" panose="02010600030101010101" pitchFamily="2" charset="-122"/>
              </a:rPr>
              <a:t>寄存器的使用</a:t>
            </a:r>
            <a:endParaRPr lang="zh-CN" altLang="en-US" sz="2000" b="1" dirty="0">
              <a:ea typeface="宋体" panose="02010600030101010101" pitchFamily="2" charset="-122"/>
            </a:endParaRPr>
          </a:p>
          <a:p>
            <a:pPr lvl="2"/>
            <a:r>
              <a:rPr lang="zh-CN" altLang="en-US" sz="2000" b="1" dirty="0">
                <a:ea typeface="宋体" panose="02010600030101010101" pitchFamily="2" charset="-122"/>
              </a:rPr>
              <a:t>活动记录的操作：</a:t>
            </a:r>
            <a:endParaRPr lang="zh-CN" altLang="en-US" sz="2000" b="1" dirty="0">
              <a:ea typeface="宋体" panose="02010600030101010101" pitchFamily="2" charset="-122"/>
            </a:endParaRPr>
          </a:p>
          <a:p>
            <a:pPr lvl="3"/>
            <a:r>
              <a:rPr lang="zh-CN" altLang="en-US" sz="1800" b="1" dirty="0">
                <a:ea typeface="宋体" panose="02010600030101010101" pitchFamily="2" charset="-122"/>
              </a:rPr>
              <a:t>过程被调用时入栈</a:t>
            </a:r>
            <a:endParaRPr lang="zh-CN" altLang="en-US" sz="1800" b="1" dirty="0">
              <a:ea typeface="宋体" panose="02010600030101010101" pitchFamily="2" charset="-122"/>
            </a:endParaRPr>
          </a:p>
          <a:p>
            <a:pPr lvl="3"/>
            <a:r>
              <a:rPr lang="zh-CN" altLang="en-US" sz="1800" b="1" dirty="0">
                <a:ea typeface="宋体" panose="02010600030101010101" pitchFamily="2" charset="-122"/>
              </a:rPr>
              <a:t>过程返回时出栈</a:t>
            </a:r>
            <a:endParaRPr lang="zh-CN" altLang="en-US" sz="1800" b="1" dirty="0">
              <a:ea typeface="宋体" panose="02010600030101010101" pitchFamily="2" charset="-122"/>
            </a:endParaRPr>
          </a:p>
        </p:txBody>
      </p:sp>
      <p:pic>
        <p:nvPicPr>
          <p:cNvPr id="27652" name="Picture 2"/>
          <p:cNvPicPr>
            <a:picLocks noChangeAspect="1"/>
          </p:cNvPicPr>
          <p:nvPr/>
        </p:nvPicPr>
        <p:blipFill>
          <a:blip r:embed="rId1"/>
          <a:stretch>
            <a:fillRect/>
          </a:stretch>
        </p:blipFill>
        <p:spPr>
          <a:xfrm>
            <a:off x="5580063" y="1524000"/>
            <a:ext cx="3462337" cy="5265738"/>
          </a:xfrm>
          <a:prstGeom prst="rect">
            <a:avLst/>
          </a:prstGeom>
          <a:noFill/>
          <a:ln w="9525">
            <a:noFill/>
          </a:ln>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存储组织（3）</a:t>
            </a:r>
            <a:endParaRPr lang="zh-CN" altLang="en-US" dirty="0">
              <a:latin typeface="Times New Roman" panose="02020603050405020304" pitchFamily="18" charset="0"/>
              <a:ea typeface="宋体" panose="02010600030101010101" pitchFamily="2" charset="-122"/>
            </a:endParaRPr>
          </a:p>
        </p:txBody>
      </p:sp>
      <p:sp>
        <p:nvSpPr>
          <p:cNvPr id="29699" name="Rectangle 3"/>
          <p:cNvSpPr>
            <a:spLocks noGrp="1"/>
          </p:cNvSpPr>
          <p:nvPr>
            <p:ph idx="1"/>
          </p:nvPr>
        </p:nvSpPr>
        <p:spPr>
          <a:xfrm>
            <a:off x="684213" y="1524000"/>
            <a:ext cx="7920037" cy="4724400"/>
          </a:xfrm>
          <a:ln/>
        </p:spPr>
        <p:txBody>
          <a:bodyPr vert="horz" wrap="square" lIns="92075" tIns="46038" rIns="92075" bIns="46038" anchor="t" anchorCtr="0"/>
          <a:p>
            <a:pPr lvl="1"/>
            <a:r>
              <a:rPr lang="zh-CN" altLang="en-US" sz="2200" b="1" dirty="0">
                <a:ea typeface="宋体" panose="02010600030101010101" pitchFamily="2" charset="-122"/>
              </a:rPr>
              <a:t>活动记录的各个域的作用</a:t>
            </a:r>
            <a:endParaRPr lang="zh-CN" altLang="en-US" sz="2200" b="1" dirty="0">
              <a:ea typeface="宋体" panose="02010600030101010101" pitchFamily="2" charset="-122"/>
            </a:endParaRPr>
          </a:p>
          <a:p>
            <a:pPr lvl="2"/>
            <a:r>
              <a:rPr lang="zh-CN" altLang="en-US" sz="2000" b="1" dirty="0">
                <a:ea typeface="宋体" panose="02010600030101010101" pitchFamily="2" charset="-122"/>
              </a:rPr>
              <a:t>临时数据域：临时变量的存储等</a:t>
            </a:r>
            <a:endParaRPr lang="zh-CN" altLang="en-US" sz="2000" b="1" dirty="0">
              <a:ea typeface="宋体" panose="02010600030101010101" pitchFamily="2" charset="-122"/>
            </a:endParaRPr>
          </a:p>
          <a:p>
            <a:pPr lvl="2"/>
            <a:r>
              <a:rPr lang="zh-CN" altLang="en-US" sz="2000" b="1" dirty="0">
                <a:ea typeface="宋体" panose="02010600030101010101" pitchFamily="2" charset="-122"/>
              </a:rPr>
              <a:t>局部数据域：局部于过程执行的数据</a:t>
            </a:r>
            <a:endParaRPr lang="zh-CN" altLang="en-US" sz="2000" b="1" dirty="0">
              <a:ea typeface="宋体" panose="02010600030101010101" pitchFamily="2" charset="-122"/>
            </a:endParaRPr>
          </a:p>
          <a:p>
            <a:pPr lvl="2"/>
            <a:r>
              <a:rPr lang="zh-CN" altLang="en-US" sz="2000" b="1" dirty="0">
                <a:ea typeface="宋体" panose="02010600030101010101" pitchFamily="2" charset="-122"/>
              </a:rPr>
              <a:t>机器状态：保存过程调用前的机器状态信息</a:t>
            </a:r>
            <a:endParaRPr lang="zh-CN" altLang="en-US" sz="2000" b="1" dirty="0">
              <a:ea typeface="宋体" panose="02010600030101010101" pitchFamily="2" charset="-122"/>
            </a:endParaRPr>
          </a:p>
          <a:p>
            <a:pPr lvl="3"/>
            <a:r>
              <a:rPr lang="zh-CN" altLang="en-US" sz="1800" b="1" dirty="0">
                <a:ea typeface="宋体" panose="02010600030101010101" pitchFamily="2" charset="-122"/>
              </a:rPr>
              <a:t>返回地址和一些寄存器的内容等</a:t>
            </a:r>
            <a:endParaRPr lang="zh-CN" altLang="en-US" sz="1800" b="1" dirty="0">
              <a:ea typeface="宋体" panose="02010600030101010101" pitchFamily="2" charset="-122"/>
            </a:endParaRPr>
          </a:p>
          <a:p>
            <a:pPr lvl="2"/>
            <a:r>
              <a:rPr lang="zh-CN" altLang="en-US" sz="2000" b="1" dirty="0">
                <a:ea typeface="宋体" panose="02010600030101010101" pitchFamily="2" charset="-122"/>
              </a:rPr>
              <a:t>访问链：用于非局部数据的访问</a:t>
            </a:r>
            <a:endParaRPr lang="zh-CN" altLang="en-US" sz="2000" b="1" dirty="0">
              <a:ea typeface="宋体" panose="02010600030101010101" pitchFamily="2" charset="-122"/>
            </a:endParaRPr>
          </a:p>
          <a:p>
            <a:pPr lvl="2"/>
            <a:r>
              <a:rPr lang="zh-CN" altLang="en-US" sz="2000" b="1" dirty="0">
                <a:ea typeface="宋体" panose="02010600030101010101" pitchFamily="2" charset="-122"/>
              </a:rPr>
              <a:t>控制链：指向调用者的活动记录</a:t>
            </a:r>
            <a:endParaRPr lang="zh-CN" altLang="en-US" sz="2000" b="1" dirty="0">
              <a:ea typeface="宋体" panose="02010600030101010101" pitchFamily="2" charset="-122"/>
            </a:endParaRPr>
          </a:p>
          <a:p>
            <a:pPr lvl="2"/>
            <a:r>
              <a:rPr lang="zh-CN" altLang="en-US" sz="2000" b="1" dirty="0">
                <a:ea typeface="宋体" panose="02010600030101010101" pitchFamily="2" charset="-122"/>
              </a:rPr>
              <a:t>实在参数域：参数个数较少时，可以考虑用寄存器传递，效率高；参数多时用用这个域传递</a:t>
            </a:r>
            <a:endParaRPr lang="zh-CN" altLang="en-US" sz="2000" b="1" dirty="0">
              <a:ea typeface="宋体" panose="02010600030101010101" pitchFamily="2" charset="-122"/>
            </a:endParaRPr>
          </a:p>
          <a:p>
            <a:pPr lvl="2"/>
            <a:r>
              <a:rPr lang="zh-CN" altLang="en-US" sz="2000" b="1" dirty="0">
                <a:ea typeface="宋体" panose="02010600030101010101" pitchFamily="2" charset="-122"/>
              </a:rPr>
              <a:t>返回值域：用于存放被调用过程返回给调用过程的值，也可以用寄存器返回（效率高，但形式受限制）</a:t>
            </a:r>
            <a:endParaRPr lang="zh-CN" altLang="en-US" sz="2000" b="1" dirty="0">
              <a:ea typeface="宋体" panose="02010600030101010101" pitchFamily="2" charset="-122"/>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存储组织（4）</a:t>
            </a:r>
            <a:endParaRPr lang="zh-CN" altLang="en-US" dirty="0">
              <a:latin typeface="Times New Roman" panose="02020603050405020304" pitchFamily="18" charset="0"/>
              <a:ea typeface="宋体" panose="02010600030101010101" pitchFamily="2" charset="-122"/>
            </a:endParaRPr>
          </a:p>
        </p:txBody>
      </p:sp>
      <p:sp>
        <p:nvSpPr>
          <p:cNvPr id="31747" name="Rectangle 3"/>
          <p:cNvSpPr>
            <a:spLocks noGrp="1"/>
          </p:cNvSpPr>
          <p:nvPr>
            <p:ph idx="1"/>
          </p:nvPr>
        </p:nvSpPr>
        <p:spPr>
          <a:xfrm>
            <a:off x="990600" y="1524000"/>
            <a:ext cx="7391400" cy="4724400"/>
          </a:xfrm>
          <a:ln/>
        </p:spPr>
        <p:txBody>
          <a:bodyPr vert="horz" wrap="square" lIns="92075" tIns="46038" rIns="92075" bIns="46038" anchor="t" anchorCtr="0"/>
          <a:p>
            <a:pPr lvl="1"/>
            <a:r>
              <a:rPr lang="zh-CN" altLang="en-US" sz="2200" b="1" dirty="0">
                <a:ea typeface="宋体" panose="02010600030101010101" pitchFamily="2" charset="-122"/>
              </a:rPr>
              <a:t>过程调用时，每个域的长度都可以确定，大部分域的长度可以在编译时刻确定</a:t>
            </a:r>
            <a:endParaRPr lang="zh-CN" altLang="en-US" sz="2200" b="1" dirty="0">
              <a:ea typeface="宋体" panose="02010600030101010101" pitchFamily="2" charset="-122"/>
            </a:endParaRPr>
          </a:p>
          <a:p>
            <a:pPr lvl="1"/>
            <a:r>
              <a:rPr lang="zh-CN" altLang="en-US" sz="2200" b="1" dirty="0">
                <a:ea typeface="宋体" panose="02010600030101010101" pitchFamily="2" charset="-122"/>
              </a:rPr>
              <a:t>运行框架安排的设计</a:t>
            </a:r>
            <a:endParaRPr lang="zh-CN" altLang="en-US" sz="2200" b="1" dirty="0">
              <a:ea typeface="宋体" panose="02010600030101010101" pitchFamily="2" charset="-122"/>
            </a:endParaRPr>
          </a:p>
          <a:p>
            <a:pPr lvl="2"/>
            <a:r>
              <a:rPr lang="zh-CN" altLang="en-US" sz="2000" b="1" dirty="0">
                <a:ea typeface="宋体" panose="02010600030101010101" pitchFamily="2" charset="-122"/>
              </a:rPr>
              <a:t>这个框架的设计要考虑指令集体系结构（</a:t>
            </a:r>
            <a:r>
              <a:rPr lang="en-US" altLang="zh-CN" sz="2000" b="1" dirty="0">
                <a:ea typeface="宋体" panose="02010600030101010101" pitchFamily="2" charset="-122"/>
              </a:rPr>
              <a:t>ISA）</a:t>
            </a:r>
            <a:r>
              <a:rPr lang="zh-CN" altLang="en-US" sz="2000" b="1" dirty="0">
                <a:ea typeface="宋体" panose="02010600030101010101" pitchFamily="2" charset="-122"/>
              </a:rPr>
              <a:t>特性和要编译的程序语言本身的特点</a:t>
            </a:r>
            <a:endParaRPr lang="zh-CN" altLang="en-US" sz="2000" b="1" dirty="0">
              <a:ea typeface="宋体" panose="02010600030101010101" pitchFamily="2" charset="-122"/>
            </a:endParaRPr>
          </a:p>
          <a:p>
            <a:pPr lvl="2"/>
            <a:r>
              <a:rPr lang="zh-CN" altLang="en-US" sz="2000" b="1" dirty="0">
                <a:ea typeface="宋体" panose="02010600030101010101" pitchFamily="2" charset="-122"/>
              </a:rPr>
              <a:t>有些系统提供商为他们的体系结构提供一种标准的运行框架安排，使得可以实现不同的语言编写的函数间的调用</a:t>
            </a:r>
            <a:endParaRPr lang="zh-CN" altLang="en-US" sz="2000" b="1" dirty="0">
              <a:ea typeface="宋体" panose="02010600030101010101" pitchFamily="2" charset="-122"/>
            </a:endParaRPr>
          </a:p>
          <a:p>
            <a:pPr lvl="2"/>
            <a:r>
              <a:rPr lang="zh-CN" altLang="en-US" sz="2000" b="1" dirty="0">
                <a:ea typeface="宋体" panose="02010600030101010101" pitchFamily="2" charset="-122"/>
              </a:rPr>
              <a:t>这个运行框架的设计通常在运行时支撑系统要考虑</a:t>
            </a:r>
            <a:endParaRPr lang="zh-CN" altLang="en-US" sz="2000" b="1" dirty="0">
              <a:ea typeface="宋体" panose="02010600030101010101" pitchFamily="2" charset="-122"/>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存储组织（5）</a:t>
            </a:r>
            <a:endParaRPr lang="zh-CN" altLang="en-US" dirty="0">
              <a:latin typeface="Times New Roman" panose="02020603050405020304" pitchFamily="18" charset="0"/>
              <a:ea typeface="宋体" panose="02010600030101010101" pitchFamily="2" charset="-122"/>
            </a:endParaRPr>
          </a:p>
        </p:txBody>
      </p:sp>
      <p:sp>
        <p:nvSpPr>
          <p:cNvPr id="33795" name="Rectangle 3"/>
          <p:cNvSpPr>
            <a:spLocks noGrp="1"/>
          </p:cNvSpPr>
          <p:nvPr>
            <p:ph idx="1"/>
          </p:nvPr>
        </p:nvSpPr>
        <p:spPr>
          <a:xfrm>
            <a:off x="990600" y="1524000"/>
            <a:ext cx="7391400" cy="4953000"/>
          </a:xfrm>
          <a:ln/>
        </p:spPr>
        <p:txBody>
          <a:bodyPr vert="horz" wrap="square" lIns="92075" tIns="46038" rIns="92075" bIns="46038" anchor="t" anchorCtr="0"/>
          <a:p>
            <a:pPr>
              <a:lnSpc>
                <a:spcPct val="90000"/>
              </a:lnSpc>
            </a:pPr>
            <a:r>
              <a:rPr lang="zh-CN" altLang="en-US" sz="2400" b="1" dirty="0">
                <a:ea typeface="宋体" panose="02010600030101010101" pitchFamily="2" charset="-122"/>
              </a:rPr>
              <a:t>编译时的局部数据安排</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名字所需的存储空间的大小可以由它的类型确定</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基本数据对象（字符、整数或实数）可以用几个连续的字节保存</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聚合类型（记录、数组等）</a:t>
            </a:r>
            <a:endParaRPr lang="zh-CN" altLang="en-US" sz="2000" b="1" dirty="0">
              <a:ea typeface="宋体" panose="02010600030101010101" pitchFamily="2" charset="-122"/>
            </a:endParaRPr>
          </a:p>
          <a:p>
            <a:pPr lvl="3">
              <a:lnSpc>
                <a:spcPct val="90000"/>
              </a:lnSpc>
            </a:pPr>
            <a:r>
              <a:rPr lang="zh-CN" altLang="en-US" sz="1800" b="1" dirty="0">
                <a:ea typeface="宋体" panose="02010600030101010101" pitchFamily="2" charset="-122"/>
              </a:rPr>
              <a:t>一块足够大的空间存放所有成分</a:t>
            </a:r>
            <a:endParaRPr lang="zh-CN" altLang="en-US" sz="1800" b="1" dirty="0">
              <a:ea typeface="宋体" panose="02010600030101010101" pitchFamily="2" charset="-122"/>
            </a:endParaRPr>
          </a:p>
          <a:p>
            <a:pPr lvl="3">
              <a:lnSpc>
                <a:spcPct val="90000"/>
              </a:lnSpc>
            </a:pPr>
            <a:r>
              <a:rPr lang="zh-CN" altLang="en-US" sz="1800" b="1" dirty="0">
                <a:ea typeface="宋体" panose="02010600030101010101" pitchFamily="2" charset="-122"/>
              </a:rPr>
              <a:t>连续的字节区</a:t>
            </a:r>
            <a:endParaRPr lang="zh-CN" altLang="en-US" sz="1800" b="1" dirty="0">
              <a:ea typeface="宋体" panose="02010600030101010101" pitchFamily="2" charset="-122"/>
            </a:endParaRPr>
          </a:p>
          <a:p>
            <a:pPr lvl="2">
              <a:lnSpc>
                <a:spcPct val="90000"/>
              </a:lnSpc>
            </a:pPr>
            <a:r>
              <a:rPr lang="zh-CN" altLang="en-US" sz="2000" b="1" dirty="0">
                <a:ea typeface="宋体" panose="02010600030101010101" pitchFamily="2" charset="-122"/>
              </a:rPr>
              <a:t>局部数据域在编译过程中的声明时安排</a:t>
            </a:r>
            <a:endParaRPr lang="zh-CN" altLang="en-US" sz="2000" b="1" dirty="0">
              <a:ea typeface="宋体" panose="02010600030101010101" pitchFamily="2" charset="-122"/>
            </a:endParaRPr>
          </a:p>
          <a:p>
            <a:pPr lvl="3">
              <a:lnSpc>
                <a:spcPct val="90000"/>
              </a:lnSpc>
            </a:pPr>
            <a:r>
              <a:rPr lang="zh-CN" altLang="en-US" sz="1800" b="1" dirty="0">
                <a:ea typeface="宋体" panose="02010600030101010101" pitchFamily="2" charset="-122"/>
              </a:rPr>
              <a:t>长度可变的数据不保存在这个区域</a:t>
            </a:r>
            <a:endParaRPr lang="zh-CN" altLang="en-US" sz="1800" b="1" dirty="0">
              <a:ea typeface="宋体" panose="02010600030101010101" pitchFamily="2" charset="-122"/>
            </a:endParaRPr>
          </a:p>
          <a:p>
            <a:pPr lvl="3">
              <a:lnSpc>
                <a:spcPct val="90000"/>
              </a:lnSpc>
            </a:pPr>
            <a:r>
              <a:rPr lang="zh-CN" altLang="en-US" sz="1800" b="1" dirty="0">
                <a:ea typeface="宋体" panose="02010600030101010101" pitchFamily="2" charset="-122"/>
              </a:rPr>
              <a:t>数据对象的相对地址（偏移）是数据对象地址相对于特定点（例如活动记录的开始点）的地址差</a:t>
            </a:r>
            <a:endParaRPr lang="zh-CN" altLang="en-US" sz="1800" b="1" dirty="0">
              <a:ea typeface="宋体" panose="02010600030101010101" pitchFamily="2" charset="-122"/>
            </a:endParaRPr>
          </a:p>
          <a:p>
            <a:pPr lvl="2">
              <a:lnSpc>
                <a:spcPct val="90000"/>
              </a:lnSpc>
            </a:pPr>
            <a:r>
              <a:rPr lang="zh-CN" altLang="en-US" sz="2000" b="1" dirty="0">
                <a:ea typeface="宋体" panose="02010600030101010101" pitchFamily="2" charset="-122"/>
              </a:rPr>
              <a:t>数据对齐：数据对象的存储安排受目标机器寻址限制的影响</a:t>
            </a:r>
            <a:endParaRPr lang="zh-CN" altLang="en-US" sz="2000" b="1" dirty="0">
              <a:ea typeface="宋体" panose="02010600030101010101" pitchFamily="2" charset="-122"/>
            </a:endParaRPr>
          </a:p>
          <a:p>
            <a:pPr lvl="3">
              <a:lnSpc>
                <a:spcPct val="90000"/>
              </a:lnSpc>
            </a:pPr>
            <a:r>
              <a:rPr lang="zh-CN" altLang="en-US" sz="1800" b="1" dirty="0">
                <a:ea typeface="宋体" panose="02010600030101010101" pitchFamily="2" charset="-122"/>
              </a:rPr>
              <a:t>如10个字符的数组可以被编译器分配12个字节</a:t>
            </a:r>
            <a:endParaRPr lang="zh-CN" altLang="en-US" sz="1800" b="1" dirty="0">
              <a:ea typeface="宋体" panose="02010600030101010101" pitchFamily="2" charset="-122"/>
            </a:endParaRPr>
          </a:p>
          <a:p>
            <a:pPr lvl="3">
              <a:lnSpc>
                <a:spcPct val="90000"/>
              </a:lnSpc>
            </a:pPr>
            <a:r>
              <a:rPr lang="zh-CN" altLang="en-US" sz="1800" b="1" dirty="0">
                <a:ea typeface="宋体" panose="02010600030101010101" pitchFamily="2" charset="-122"/>
              </a:rPr>
              <a:t>不用的2个字节称为衬垫空白区</a:t>
            </a:r>
            <a:endParaRPr lang="zh-CN" altLang="en-US" sz="1800" b="1" dirty="0">
              <a:ea typeface="宋体" panose="02010600030101010101" pitchFamily="2" charset="-122"/>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存储组织（6）</a:t>
            </a:r>
            <a:endParaRPr lang="zh-CN" altLang="en-US" dirty="0">
              <a:latin typeface="Times New Roman" panose="02020603050405020304" pitchFamily="18" charset="0"/>
              <a:ea typeface="宋体" panose="02010600030101010101" pitchFamily="2" charset="-122"/>
            </a:endParaRPr>
          </a:p>
        </p:txBody>
      </p:sp>
      <p:sp>
        <p:nvSpPr>
          <p:cNvPr id="35843" name="Rectangle 3"/>
          <p:cNvSpPr>
            <a:spLocks noGrp="1"/>
          </p:cNvSpPr>
          <p:nvPr>
            <p:ph idx="1"/>
          </p:nvPr>
        </p:nvSpPr>
        <p:spPr>
          <a:xfrm>
            <a:off x="990600" y="1524000"/>
            <a:ext cx="7391400" cy="4800600"/>
          </a:xfrm>
          <a:ln/>
        </p:spPr>
        <p:txBody>
          <a:bodyPr vert="horz" wrap="square" lIns="92075" tIns="46038" rIns="92075" bIns="46038" anchor="t" anchorCtr="0"/>
          <a:p>
            <a:pPr>
              <a:buNone/>
            </a:pPr>
            <a:r>
              <a:rPr lang="zh-CN" altLang="en-US" sz="2400" b="1" dirty="0">
                <a:ea typeface="宋体" panose="02010600030101010101" pitchFamily="2" charset="-122"/>
              </a:rPr>
              <a:t>两个</a:t>
            </a:r>
            <a:r>
              <a:rPr lang="en-US" altLang="zh-CN" sz="2400" b="1" dirty="0">
                <a:ea typeface="宋体" panose="02010600030101010101" pitchFamily="2" charset="-122"/>
              </a:rPr>
              <a:t>C</a:t>
            </a:r>
            <a:r>
              <a:rPr lang="zh-CN" altLang="en-US" sz="2400" b="1" dirty="0">
                <a:ea typeface="宋体" panose="02010600030101010101" pitchFamily="2" charset="-122"/>
              </a:rPr>
              <a:t>编译器的数据布局形式：</a:t>
            </a:r>
            <a:endParaRPr lang="zh-CN" altLang="en-US" sz="2400" b="1" dirty="0">
              <a:ea typeface="宋体" panose="02010600030101010101" pitchFamily="2" charset="-122"/>
            </a:endParaRPr>
          </a:p>
          <a:p>
            <a:pPr>
              <a:buNone/>
            </a:pPr>
            <a:endParaRPr lang="zh-CN" altLang="en-US" sz="2400" b="1" dirty="0">
              <a:ea typeface="宋体" panose="02010600030101010101" pitchFamily="2" charset="-122"/>
            </a:endParaRPr>
          </a:p>
        </p:txBody>
      </p:sp>
      <p:graphicFrame>
        <p:nvGraphicFramePr>
          <p:cNvPr id="35844" name="Object 79"/>
          <p:cNvGraphicFramePr>
            <a:graphicFrameLocks noChangeAspect="1"/>
          </p:cNvGraphicFramePr>
          <p:nvPr/>
        </p:nvGraphicFramePr>
        <p:xfrm>
          <a:off x="1905000" y="2133600"/>
          <a:ext cx="5257800" cy="3343275"/>
        </p:xfrm>
        <a:graphic>
          <a:graphicData uri="http://schemas.openxmlformats.org/presentationml/2006/ole">
            <mc:AlternateContent xmlns:mc="http://schemas.openxmlformats.org/markup-compatibility/2006">
              <mc:Choice xmlns:v="urn:schemas-microsoft-com:vml" Requires="v">
                <p:oleObj spid="_x0000_s3077" name="" r:id="rId1" imgW="4770120" imgH="3041650" progId="Visio.Drawing.4">
                  <p:embed/>
                </p:oleObj>
              </mc:Choice>
              <mc:Fallback>
                <p:oleObj name="" r:id="rId1" imgW="4770120" imgH="3041650" progId="Visio.Drawing.4">
                  <p:embed/>
                  <p:pic>
                    <p:nvPicPr>
                      <p:cNvPr id="0" name="图片 3076"/>
                      <p:cNvPicPr/>
                      <p:nvPr/>
                    </p:nvPicPr>
                    <p:blipFill>
                      <a:blip r:embed="rId2"/>
                      <a:stretch>
                        <a:fillRect/>
                      </a:stretch>
                    </p:blipFill>
                    <p:spPr>
                      <a:xfrm>
                        <a:off x="1905000" y="2133600"/>
                        <a:ext cx="5257800" cy="3343275"/>
                      </a:xfrm>
                      <a:prstGeom prst="rect">
                        <a:avLst/>
                      </a:prstGeom>
                      <a:noFill/>
                      <a:ln w="38100">
                        <a:noFill/>
                        <a:miter/>
                      </a:ln>
                    </p:spPr>
                  </p:pic>
                </p:oleObj>
              </mc:Fallback>
            </mc:AlternateContent>
          </a:graphicData>
        </a:graphic>
      </p:graphicFrame>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存储分配策略（1）</a:t>
            </a:r>
            <a:endParaRPr lang="zh-CN" altLang="en-US" dirty="0">
              <a:latin typeface="Times New Roman" panose="02020603050405020304" pitchFamily="18" charset="0"/>
              <a:ea typeface="宋体" panose="02010600030101010101" pitchFamily="2" charset="-122"/>
            </a:endParaRPr>
          </a:p>
        </p:txBody>
      </p:sp>
      <p:sp>
        <p:nvSpPr>
          <p:cNvPr id="37891" name="Rectangle 3"/>
          <p:cNvSpPr>
            <a:spLocks noGrp="1"/>
          </p:cNvSpPr>
          <p:nvPr>
            <p:ph idx="1"/>
          </p:nvPr>
        </p:nvSpPr>
        <p:spPr>
          <a:xfrm>
            <a:off x="990600" y="1524000"/>
            <a:ext cx="7391400" cy="4953000"/>
          </a:xfrm>
          <a:ln/>
        </p:spPr>
        <p:txBody>
          <a:bodyPr vert="horz" wrap="square" lIns="92075" tIns="46038" rIns="92075" bIns="46038" anchor="t" anchorCtr="0"/>
          <a:p>
            <a:r>
              <a:rPr lang="zh-CN" altLang="en-US" sz="2400" b="1" dirty="0">
                <a:ea typeface="宋体" panose="02010600030101010101" pitchFamily="2" charset="-122"/>
              </a:rPr>
              <a:t>静态分配</a:t>
            </a:r>
            <a:endParaRPr lang="zh-CN" altLang="en-US" sz="2400" b="1" dirty="0">
              <a:ea typeface="宋体" panose="02010600030101010101" pitchFamily="2" charset="-122"/>
            </a:endParaRPr>
          </a:p>
          <a:p>
            <a:pPr lvl="1"/>
            <a:r>
              <a:rPr lang="zh-CN" altLang="en-US" sz="2200" b="1" dirty="0">
                <a:ea typeface="宋体" panose="02010600030101010101" pitchFamily="2" charset="-122"/>
              </a:rPr>
              <a:t>名字的结合：</a:t>
            </a:r>
            <a:endParaRPr lang="zh-CN" altLang="en-US" sz="2200" b="1" dirty="0">
              <a:ea typeface="宋体" panose="02010600030101010101" pitchFamily="2" charset="-122"/>
            </a:endParaRPr>
          </a:p>
          <a:p>
            <a:pPr lvl="2"/>
            <a:r>
              <a:rPr lang="zh-CN" altLang="en-US" sz="2000" b="1" dirty="0">
                <a:ea typeface="宋体" panose="02010600030101010101" pitchFamily="2" charset="-122"/>
              </a:rPr>
              <a:t>编译时实现，不需要运行时支撑程序</a:t>
            </a:r>
            <a:endParaRPr lang="zh-CN" altLang="en-US" sz="2000" b="1" dirty="0">
              <a:ea typeface="宋体" panose="02010600030101010101" pitchFamily="2" charset="-122"/>
            </a:endParaRPr>
          </a:p>
          <a:p>
            <a:pPr lvl="2"/>
            <a:r>
              <a:rPr lang="zh-CN" altLang="en-US" sz="2000" b="1" dirty="0">
                <a:ea typeface="宋体" panose="02010600030101010101" pitchFamily="2" charset="-122"/>
              </a:rPr>
              <a:t>名字和存储的结合是固定的</a:t>
            </a:r>
            <a:endParaRPr lang="zh-CN" altLang="en-US" sz="2000" b="1" dirty="0">
              <a:ea typeface="宋体" panose="02010600030101010101" pitchFamily="2" charset="-122"/>
            </a:endParaRPr>
          </a:p>
          <a:p>
            <a:pPr lvl="3"/>
            <a:r>
              <a:rPr lang="zh-CN" altLang="en-US" sz="1800" b="1" dirty="0">
                <a:ea typeface="宋体" panose="02010600030101010101" pitchFamily="2" charset="-122"/>
              </a:rPr>
              <a:t>允许名字的值在过程停止活动后保持</a:t>
            </a:r>
            <a:endParaRPr lang="zh-CN" altLang="en-US" sz="1800" b="1" dirty="0">
              <a:ea typeface="宋体" panose="02010600030101010101" pitchFamily="2" charset="-122"/>
            </a:endParaRPr>
          </a:p>
          <a:p>
            <a:pPr lvl="2"/>
            <a:r>
              <a:rPr lang="zh-CN" altLang="en-US" sz="2000" b="1" dirty="0">
                <a:ea typeface="宋体" panose="02010600030101010101" pitchFamily="2" charset="-122"/>
              </a:rPr>
              <a:t>根据名字的类型，编译器可以在静态时刻确定该名字所需的存储空间，效率</a:t>
            </a:r>
            <a:endParaRPr lang="zh-CN" altLang="en-US" sz="2000" b="1" dirty="0">
              <a:ea typeface="宋体" panose="02010600030101010101" pitchFamily="2" charset="-122"/>
            </a:endParaRPr>
          </a:p>
          <a:p>
            <a:pPr lvl="2"/>
            <a:r>
              <a:rPr lang="zh-CN" altLang="en-US" sz="2000" b="1" dirty="0">
                <a:ea typeface="宋体" panose="02010600030101010101" pitchFamily="2" charset="-122"/>
              </a:rPr>
              <a:t>局限：</a:t>
            </a:r>
            <a:endParaRPr lang="zh-CN" altLang="en-US" sz="2000" b="1" dirty="0">
              <a:ea typeface="宋体" panose="02010600030101010101" pitchFamily="2" charset="-122"/>
            </a:endParaRPr>
          </a:p>
          <a:p>
            <a:pPr lvl="3"/>
            <a:r>
              <a:rPr lang="zh-CN" altLang="en-US" sz="1800" b="1" dirty="0">
                <a:ea typeface="宋体" panose="02010600030101010101" pitchFamily="2" charset="-122"/>
              </a:rPr>
              <a:t>数据对象的长度和它在内存中位置的限制必须在编译时知道</a:t>
            </a:r>
            <a:endParaRPr lang="zh-CN" altLang="en-US" sz="1800" b="1" dirty="0">
              <a:ea typeface="宋体" panose="02010600030101010101" pitchFamily="2" charset="-122"/>
            </a:endParaRPr>
          </a:p>
          <a:p>
            <a:pPr lvl="3"/>
            <a:r>
              <a:rPr lang="zh-CN" altLang="en-US" sz="1800" b="1" dirty="0">
                <a:ea typeface="宋体" panose="02010600030101010101" pitchFamily="2" charset="-122"/>
              </a:rPr>
              <a:t>不允许递归过程</a:t>
            </a:r>
            <a:endParaRPr lang="zh-CN" altLang="en-US" sz="1800" b="1" dirty="0">
              <a:ea typeface="宋体" panose="02010600030101010101" pitchFamily="2" charset="-122"/>
            </a:endParaRPr>
          </a:p>
          <a:p>
            <a:pPr lvl="3"/>
            <a:r>
              <a:rPr lang="zh-CN" altLang="en-US" sz="1800" b="1" dirty="0">
                <a:ea typeface="宋体" panose="02010600030101010101" pitchFamily="2" charset="-122"/>
              </a:rPr>
              <a:t>不允许有动态数据结构</a:t>
            </a:r>
            <a:endParaRPr lang="zh-CN" altLang="en-US" sz="1800" b="1" dirty="0">
              <a:ea typeface="宋体" panose="02010600030101010101" pitchFamily="2" charset="-122"/>
            </a:endParaRPr>
          </a:p>
          <a:p>
            <a:pPr lvl="1"/>
            <a:r>
              <a:rPr lang="zh-CN" altLang="en-US" sz="2000" b="1" dirty="0">
                <a:ea typeface="宋体" panose="02010600030101010101" pitchFamily="2" charset="-122"/>
              </a:rPr>
              <a:t>在</a:t>
            </a:r>
            <a:r>
              <a:rPr lang="en-US" altLang="zh-CN" sz="2000" b="1" dirty="0">
                <a:ea typeface="宋体" panose="02010600030101010101" pitchFamily="2" charset="-122"/>
              </a:rPr>
              <a:t>FORTRAN77</a:t>
            </a:r>
            <a:r>
              <a:rPr lang="zh-CN" altLang="en-US" sz="2000" b="1" dirty="0">
                <a:ea typeface="宋体" panose="02010600030101010101" pitchFamily="2" charset="-122"/>
              </a:rPr>
              <a:t>中，静态存储分配策略，每个过程的活动记录可以与它的代码放在一起</a:t>
            </a:r>
            <a:endParaRPr lang="zh-CN" altLang="en-US" sz="2000" b="1" dirty="0">
              <a:ea typeface="宋体" panose="02010600030101010101" pitchFamily="2" charset="-122"/>
            </a:endParaRP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存储分配策略（2）</a:t>
            </a:r>
            <a:endParaRPr lang="zh-CN" altLang="en-US" dirty="0">
              <a:latin typeface="Times New Roman" panose="02020603050405020304" pitchFamily="18" charset="0"/>
              <a:ea typeface="宋体" panose="02010600030101010101" pitchFamily="2" charset="-122"/>
            </a:endParaRPr>
          </a:p>
        </p:txBody>
      </p:sp>
      <p:sp>
        <p:nvSpPr>
          <p:cNvPr id="39939" name="Rectangle 3"/>
          <p:cNvSpPr>
            <a:spLocks noGrp="1"/>
          </p:cNvSpPr>
          <p:nvPr>
            <p:ph idx="1"/>
          </p:nvPr>
        </p:nvSpPr>
        <p:spPr>
          <a:xfrm>
            <a:off x="990600" y="1524000"/>
            <a:ext cx="7391400" cy="4953000"/>
          </a:xfrm>
          <a:ln/>
        </p:spPr>
        <p:txBody>
          <a:bodyPr vert="horz" wrap="square" lIns="92075" tIns="46038" rIns="92075" bIns="46038" anchor="t" anchorCtr="0"/>
          <a:p>
            <a:pPr lvl="3">
              <a:lnSpc>
                <a:spcPct val="90000"/>
              </a:lnSpc>
              <a:buFont typeface="Wingdings" panose="05000000000000000000" pitchFamily="2" charset="2"/>
              <a:buNone/>
            </a:pPr>
            <a:r>
              <a:rPr lang="zh-CN" altLang="en-US" sz="1200" b="1" dirty="0">
                <a:ea typeface="宋体" panose="02010600030101010101" pitchFamily="2" charset="-122"/>
              </a:rPr>
              <a:t>	</a:t>
            </a:r>
            <a:r>
              <a:rPr lang="en-US" altLang="zh-CN" sz="1200" b="1" dirty="0">
                <a:ea typeface="宋体" panose="02010600030101010101" pitchFamily="2" charset="-122"/>
              </a:rPr>
              <a:t>PROGRAM  CNSUME</a:t>
            </a:r>
            <a:endParaRPr lang="en-US" altLang="zh-CN" sz="1200" b="1" dirty="0">
              <a:ea typeface="宋体" panose="02010600030101010101" pitchFamily="2" charset="-122"/>
            </a:endParaRPr>
          </a:p>
          <a:p>
            <a:pPr lvl="3">
              <a:lnSpc>
                <a:spcPct val="90000"/>
              </a:lnSpc>
              <a:buFont typeface="Wingdings" panose="05000000000000000000" pitchFamily="2" charset="2"/>
              <a:buNone/>
            </a:pPr>
            <a:r>
              <a:rPr lang="en-US" altLang="zh-CN" sz="1200" b="1" dirty="0">
                <a:ea typeface="宋体" panose="02010600030101010101" pitchFamily="2" charset="-122"/>
              </a:rPr>
              <a:t>		CHARACTER * 50	BUF</a:t>
            </a:r>
            <a:endParaRPr lang="en-US" altLang="zh-CN" sz="1200" b="1" dirty="0">
              <a:ea typeface="宋体" panose="02010600030101010101" pitchFamily="2" charset="-122"/>
            </a:endParaRPr>
          </a:p>
          <a:p>
            <a:pPr lvl="3">
              <a:lnSpc>
                <a:spcPct val="90000"/>
              </a:lnSpc>
              <a:buFont typeface="Wingdings" panose="05000000000000000000" pitchFamily="2" charset="2"/>
              <a:buNone/>
            </a:pPr>
            <a:r>
              <a:rPr lang="en-US" altLang="zh-CN" sz="1200" b="1" dirty="0">
                <a:ea typeface="宋体" panose="02010600030101010101" pitchFamily="2" charset="-122"/>
              </a:rPr>
              <a:t>		INTEGER		NEXT</a:t>
            </a:r>
            <a:endParaRPr lang="en-US" altLang="zh-CN" sz="1200" b="1" dirty="0">
              <a:ea typeface="宋体" panose="02010600030101010101" pitchFamily="2" charset="-122"/>
            </a:endParaRPr>
          </a:p>
          <a:p>
            <a:pPr lvl="3">
              <a:lnSpc>
                <a:spcPct val="90000"/>
              </a:lnSpc>
              <a:buFont typeface="Wingdings" panose="05000000000000000000" pitchFamily="2" charset="2"/>
              <a:buNone/>
            </a:pPr>
            <a:r>
              <a:rPr lang="en-US" altLang="zh-CN" sz="1200" b="1" dirty="0">
                <a:ea typeface="宋体" panose="02010600030101010101" pitchFamily="2" charset="-122"/>
              </a:rPr>
              <a:t>		CHARACTER	C , PRDUCE</a:t>
            </a:r>
            <a:endParaRPr lang="en-US" altLang="zh-CN" sz="1200" b="1" dirty="0">
              <a:ea typeface="宋体" panose="02010600030101010101" pitchFamily="2" charset="-122"/>
            </a:endParaRPr>
          </a:p>
          <a:p>
            <a:pPr lvl="3">
              <a:lnSpc>
                <a:spcPct val="90000"/>
              </a:lnSpc>
              <a:buFont typeface="Wingdings" panose="05000000000000000000" pitchFamily="2" charset="2"/>
              <a:buNone/>
            </a:pPr>
            <a:r>
              <a:rPr lang="en-US" altLang="zh-CN" sz="1200" b="1" dirty="0">
                <a:ea typeface="宋体" panose="02010600030101010101" pitchFamily="2" charset="-122"/>
              </a:rPr>
              <a:t>		DATA       NEXT / 1 /,  BUF /‘ ’/</a:t>
            </a:r>
            <a:endParaRPr lang="en-US" altLang="zh-CN" sz="1200" b="1" dirty="0">
              <a:ea typeface="宋体" panose="02010600030101010101" pitchFamily="2" charset="-122"/>
            </a:endParaRPr>
          </a:p>
          <a:p>
            <a:pPr lvl="3">
              <a:lnSpc>
                <a:spcPct val="90000"/>
              </a:lnSpc>
              <a:buFont typeface="Wingdings" panose="05000000000000000000" pitchFamily="2" charset="2"/>
              <a:buNone/>
            </a:pPr>
            <a:r>
              <a:rPr lang="en-US" altLang="zh-CN" sz="1200" b="1" dirty="0">
                <a:ea typeface="宋体" panose="02010600030101010101" pitchFamily="2" charset="-122"/>
              </a:rPr>
              <a:t>6			C = PRDUCE( )</a:t>
            </a:r>
            <a:endParaRPr lang="en-US" altLang="zh-CN" sz="1200" b="1" dirty="0">
              <a:ea typeface="宋体" panose="02010600030101010101" pitchFamily="2" charset="-122"/>
            </a:endParaRPr>
          </a:p>
          <a:p>
            <a:pPr lvl="3">
              <a:lnSpc>
                <a:spcPct val="90000"/>
              </a:lnSpc>
              <a:buFont typeface="Wingdings" panose="05000000000000000000" pitchFamily="2" charset="2"/>
              <a:buNone/>
            </a:pPr>
            <a:r>
              <a:rPr lang="en-US" altLang="zh-CN" sz="1200" b="1" dirty="0">
                <a:ea typeface="宋体" panose="02010600030101010101" pitchFamily="2" charset="-122"/>
              </a:rPr>
              <a:t>			BUF( NEXT , NEXT ) = C</a:t>
            </a:r>
            <a:endParaRPr lang="en-US" altLang="zh-CN" sz="1200" b="1" dirty="0">
              <a:ea typeface="宋体" panose="02010600030101010101" pitchFamily="2" charset="-122"/>
            </a:endParaRPr>
          </a:p>
          <a:p>
            <a:pPr lvl="3">
              <a:lnSpc>
                <a:spcPct val="90000"/>
              </a:lnSpc>
              <a:buFont typeface="Wingdings" panose="05000000000000000000" pitchFamily="2" charset="2"/>
              <a:buNone/>
            </a:pPr>
            <a:r>
              <a:rPr lang="en-US" altLang="zh-CN" sz="1200" b="1" dirty="0">
                <a:ea typeface="宋体" panose="02010600030101010101" pitchFamily="2" charset="-122"/>
              </a:rPr>
              <a:t>			NEXT = NEXT + 1</a:t>
            </a:r>
            <a:endParaRPr lang="en-US" altLang="zh-CN" sz="1200" b="1" dirty="0">
              <a:ea typeface="宋体" panose="02010600030101010101" pitchFamily="2" charset="-122"/>
            </a:endParaRPr>
          </a:p>
          <a:p>
            <a:pPr lvl="3">
              <a:lnSpc>
                <a:spcPct val="90000"/>
              </a:lnSpc>
              <a:buFont typeface="Wingdings" panose="05000000000000000000" pitchFamily="2" charset="2"/>
              <a:buNone/>
            </a:pPr>
            <a:r>
              <a:rPr lang="en-US" altLang="zh-CN" sz="1200" b="1" dirty="0">
                <a:ea typeface="宋体" panose="02010600030101010101" pitchFamily="2" charset="-122"/>
              </a:rPr>
              <a:t>			IF ( C .NE. ‘ ’ ) GOTO 6</a:t>
            </a:r>
            <a:endParaRPr lang="en-US" altLang="zh-CN" sz="1200" b="1" dirty="0">
              <a:ea typeface="宋体" panose="02010600030101010101" pitchFamily="2" charset="-122"/>
            </a:endParaRPr>
          </a:p>
          <a:p>
            <a:pPr lvl="3">
              <a:lnSpc>
                <a:spcPct val="90000"/>
              </a:lnSpc>
              <a:buFont typeface="Wingdings" panose="05000000000000000000" pitchFamily="2" charset="2"/>
              <a:buNone/>
            </a:pPr>
            <a:r>
              <a:rPr lang="en-US" altLang="zh-CN" sz="1200" b="1" dirty="0">
                <a:ea typeface="宋体" panose="02010600030101010101" pitchFamily="2" charset="-122"/>
              </a:rPr>
              <a:t>			WRITE( * , ‘( A )’ ) BUF</a:t>
            </a:r>
            <a:endParaRPr lang="en-US" altLang="zh-CN" sz="1200" b="1" dirty="0">
              <a:ea typeface="宋体" panose="02010600030101010101" pitchFamily="2" charset="-122"/>
            </a:endParaRPr>
          </a:p>
          <a:p>
            <a:pPr lvl="3">
              <a:lnSpc>
                <a:spcPct val="90000"/>
              </a:lnSpc>
              <a:buFont typeface="Wingdings" panose="05000000000000000000" pitchFamily="2" charset="2"/>
              <a:buNone/>
            </a:pPr>
            <a:r>
              <a:rPr lang="en-US" altLang="zh-CN" sz="1200" b="1" dirty="0">
                <a:ea typeface="宋体" panose="02010600030101010101" pitchFamily="2" charset="-122"/>
              </a:rPr>
              <a:t>			END</a:t>
            </a:r>
            <a:endParaRPr lang="en-US" altLang="zh-CN" sz="1200" b="1" dirty="0">
              <a:ea typeface="宋体" panose="02010600030101010101" pitchFamily="2" charset="-122"/>
            </a:endParaRPr>
          </a:p>
          <a:p>
            <a:pPr lvl="3">
              <a:lnSpc>
                <a:spcPct val="90000"/>
              </a:lnSpc>
              <a:buFont typeface="Wingdings" panose="05000000000000000000" pitchFamily="2" charset="2"/>
              <a:buNone/>
            </a:pPr>
            <a:endParaRPr lang="en-US" altLang="zh-CN" sz="1200" b="1" dirty="0">
              <a:ea typeface="宋体" panose="02010600030101010101" pitchFamily="2" charset="-122"/>
            </a:endParaRPr>
          </a:p>
          <a:p>
            <a:pPr lvl="3">
              <a:lnSpc>
                <a:spcPct val="90000"/>
              </a:lnSpc>
              <a:buFont typeface="Wingdings" panose="05000000000000000000" pitchFamily="2" charset="2"/>
              <a:buNone/>
            </a:pPr>
            <a:r>
              <a:rPr lang="en-US" altLang="zh-CN" sz="1200" b="1" dirty="0">
                <a:ea typeface="宋体" panose="02010600030101010101" pitchFamily="2" charset="-122"/>
              </a:rPr>
              <a:t>	CHARACTER FUNCTION PRDUCE( )</a:t>
            </a:r>
            <a:endParaRPr lang="en-US" altLang="zh-CN" sz="1200" b="1" dirty="0">
              <a:ea typeface="宋体" panose="02010600030101010101" pitchFamily="2" charset="-122"/>
            </a:endParaRPr>
          </a:p>
          <a:p>
            <a:pPr lvl="3">
              <a:lnSpc>
                <a:spcPct val="90000"/>
              </a:lnSpc>
              <a:buFont typeface="Wingdings" panose="05000000000000000000" pitchFamily="2" charset="2"/>
              <a:buNone/>
            </a:pPr>
            <a:r>
              <a:rPr lang="en-US" altLang="zh-CN" sz="1200" b="1" dirty="0">
                <a:ea typeface="宋体" panose="02010600030101010101" pitchFamily="2" charset="-122"/>
              </a:rPr>
              <a:t>		CHARACTER * 80	BUFFER</a:t>
            </a:r>
            <a:endParaRPr lang="en-US" altLang="zh-CN" sz="1200" b="1" dirty="0">
              <a:ea typeface="宋体" panose="02010600030101010101" pitchFamily="2" charset="-122"/>
            </a:endParaRPr>
          </a:p>
          <a:p>
            <a:pPr lvl="3">
              <a:lnSpc>
                <a:spcPct val="90000"/>
              </a:lnSpc>
              <a:buFont typeface="Wingdings" panose="05000000000000000000" pitchFamily="2" charset="2"/>
              <a:buNone/>
            </a:pPr>
            <a:r>
              <a:rPr lang="en-US" altLang="zh-CN" sz="1200" b="1" dirty="0">
                <a:ea typeface="宋体" panose="02010600030101010101" pitchFamily="2" charset="-122"/>
              </a:rPr>
              <a:t>		INTEGER		NEXT</a:t>
            </a:r>
            <a:endParaRPr lang="en-US" altLang="zh-CN" sz="1200" b="1" dirty="0">
              <a:ea typeface="宋体" panose="02010600030101010101" pitchFamily="2" charset="-122"/>
            </a:endParaRPr>
          </a:p>
          <a:p>
            <a:pPr lvl="3">
              <a:lnSpc>
                <a:spcPct val="90000"/>
              </a:lnSpc>
              <a:buFont typeface="Wingdings" panose="05000000000000000000" pitchFamily="2" charset="2"/>
              <a:buNone/>
            </a:pPr>
            <a:r>
              <a:rPr lang="en-US" altLang="zh-CN" sz="1200" b="1" dirty="0">
                <a:ea typeface="宋体" panose="02010600030101010101" pitchFamily="2" charset="-122"/>
              </a:rPr>
              <a:t>		SAVE     BUFFER , NEXT</a:t>
            </a:r>
            <a:endParaRPr lang="en-US" altLang="zh-CN" sz="1200" b="1" dirty="0">
              <a:ea typeface="宋体" panose="02010600030101010101" pitchFamily="2" charset="-122"/>
            </a:endParaRPr>
          </a:p>
          <a:p>
            <a:pPr lvl="3">
              <a:lnSpc>
                <a:spcPct val="90000"/>
              </a:lnSpc>
              <a:buFont typeface="Wingdings" panose="05000000000000000000" pitchFamily="2" charset="2"/>
              <a:buNone/>
            </a:pPr>
            <a:r>
              <a:rPr lang="en-US" altLang="zh-CN" sz="1200" b="1" dirty="0">
                <a:ea typeface="宋体" panose="02010600030101010101" pitchFamily="2" charset="-122"/>
              </a:rPr>
              <a:t>		DATA    NEXT / 81 /</a:t>
            </a:r>
            <a:endParaRPr lang="en-US" altLang="zh-CN" sz="1200" b="1" dirty="0">
              <a:ea typeface="宋体" panose="02010600030101010101" pitchFamily="2" charset="-122"/>
            </a:endParaRPr>
          </a:p>
          <a:p>
            <a:pPr lvl="3">
              <a:lnSpc>
                <a:spcPct val="90000"/>
              </a:lnSpc>
              <a:buFont typeface="Wingdings" panose="05000000000000000000" pitchFamily="2" charset="2"/>
              <a:buNone/>
            </a:pPr>
            <a:r>
              <a:rPr lang="en-US" altLang="zh-CN" sz="1200" b="1" dirty="0">
                <a:ea typeface="宋体" panose="02010600030101010101" pitchFamily="2" charset="-122"/>
              </a:rPr>
              <a:t>			IF  ( NEXT .GT. 80 ) THEN</a:t>
            </a:r>
            <a:endParaRPr lang="en-US" altLang="zh-CN" sz="1200" b="1" dirty="0">
              <a:ea typeface="宋体" panose="02010600030101010101" pitchFamily="2" charset="-122"/>
            </a:endParaRPr>
          </a:p>
          <a:p>
            <a:pPr lvl="3">
              <a:lnSpc>
                <a:spcPct val="90000"/>
              </a:lnSpc>
              <a:buFont typeface="Wingdings" panose="05000000000000000000" pitchFamily="2" charset="2"/>
              <a:buNone/>
            </a:pPr>
            <a:r>
              <a:rPr lang="en-US" altLang="zh-CN" sz="1200" b="1" dirty="0">
                <a:ea typeface="宋体" panose="02010600030101010101" pitchFamily="2" charset="-122"/>
              </a:rPr>
              <a:t>				READ(* , ‘( A )’ ) BUFFER</a:t>
            </a:r>
            <a:endParaRPr lang="en-US" altLang="zh-CN" sz="1200" b="1" dirty="0">
              <a:ea typeface="宋体" panose="02010600030101010101" pitchFamily="2" charset="-122"/>
            </a:endParaRPr>
          </a:p>
          <a:p>
            <a:pPr lvl="3">
              <a:lnSpc>
                <a:spcPct val="90000"/>
              </a:lnSpc>
              <a:buFont typeface="Wingdings" panose="05000000000000000000" pitchFamily="2" charset="2"/>
              <a:buNone/>
            </a:pPr>
            <a:r>
              <a:rPr lang="en-US" altLang="zh-CN" sz="1200" b="1" dirty="0">
                <a:ea typeface="宋体" panose="02010600030101010101" pitchFamily="2" charset="-122"/>
              </a:rPr>
              <a:t>				NEXT = 1</a:t>
            </a:r>
            <a:endParaRPr lang="en-US" altLang="zh-CN" sz="1200" b="1" dirty="0">
              <a:ea typeface="宋体" panose="02010600030101010101" pitchFamily="2" charset="-122"/>
            </a:endParaRPr>
          </a:p>
          <a:p>
            <a:pPr lvl="3">
              <a:lnSpc>
                <a:spcPct val="90000"/>
              </a:lnSpc>
              <a:buFont typeface="Wingdings" panose="05000000000000000000" pitchFamily="2" charset="2"/>
              <a:buNone/>
            </a:pPr>
            <a:r>
              <a:rPr lang="en-US" altLang="zh-CN" sz="1200" b="1" dirty="0">
                <a:ea typeface="宋体" panose="02010600030101010101" pitchFamily="2" charset="-122"/>
              </a:rPr>
              <a:t>			END IF</a:t>
            </a:r>
            <a:endParaRPr lang="en-US" altLang="zh-CN" sz="1200" b="1" dirty="0">
              <a:ea typeface="宋体" panose="02010600030101010101" pitchFamily="2" charset="-122"/>
            </a:endParaRPr>
          </a:p>
          <a:p>
            <a:pPr lvl="3">
              <a:lnSpc>
                <a:spcPct val="90000"/>
              </a:lnSpc>
              <a:buFont typeface="Wingdings" panose="05000000000000000000" pitchFamily="2" charset="2"/>
              <a:buNone/>
            </a:pPr>
            <a:r>
              <a:rPr lang="en-US" altLang="zh-CN" sz="1200" b="1" dirty="0">
                <a:ea typeface="宋体" panose="02010600030101010101" pitchFamily="2" charset="-122"/>
              </a:rPr>
              <a:t>			PRDUCE = BUFFER( NEXT , NEXT )</a:t>
            </a:r>
            <a:endParaRPr lang="en-US" altLang="zh-CN" sz="1200" b="1" dirty="0">
              <a:ea typeface="宋体" panose="02010600030101010101" pitchFamily="2" charset="-122"/>
            </a:endParaRPr>
          </a:p>
          <a:p>
            <a:pPr lvl="3">
              <a:lnSpc>
                <a:spcPct val="90000"/>
              </a:lnSpc>
              <a:buFont typeface="Wingdings" panose="05000000000000000000" pitchFamily="2" charset="2"/>
              <a:buNone/>
            </a:pPr>
            <a:r>
              <a:rPr lang="en-US" altLang="zh-CN" sz="1200" b="1" dirty="0">
                <a:ea typeface="宋体" panose="02010600030101010101" pitchFamily="2" charset="-122"/>
              </a:rPr>
              <a:t>			NEXT = NEXT + 1</a:t>
            </a:r>
            <a:endParaRPr lang="en-US" altLang="zh-CN" sz="1200" b="1" dirty="0">
              <a:ea typeface="宋体" panose="02010600030101010101" pitchFamily="2" charset="-122"/>
            </a:endParaRPr>
          </a:p>
          <a:p>
            <a:pPr lvl="3">
              <a:lnSpc>
                <a:spcPct val="90000"/>
              </a:lnSpc>
              <a:buFont typeface="Wingdings" panose="05000000000000000000" pitchFamily="2" charset="2"/>
              <a:buNone/>
            </a:pPr>
            <a:r>
              <a:rPr lang="en-US" altLang="zh-CN" sz="1200" b="1" dirty="0">
                <a:ea typeface="宋体" panose="02010600030101010101" pitchFamily="2" charset="-122"/>
              </a:rPr>
              <a:t>			END</a:t>
            </a:r>
            <a:endParaRPr lang="en-US" altLang="zh-CN" sz="1200" b="1" dirty="0">
              <a:ea typeface="宋体" panose="02010600030101010101" pitchFamily="2" charset="-122"/>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存储分配策略（3）</a:t>
            </a:r>
            <a:endParaRPr lang="zh-CN" altLang="en-US" dirty="0">
              <a:latin typeface="Times New Roman" panose="02020603050405020304" pitchFamily="18" charset="0"/>
              <a:ea typeface="宋体" panose="02010600030101010101" pitchFamily="2" charset="-122"/>
            </a:endParaRPr>
          </a:p>
        </p:txBody>
      </p:sp>
      <p:graphicFrame>
        <p:nvGraphicFramePr>
          <p:cNvPr id="41987" name="Object 5"/>
          <p:cNvGraphicFramePr>
            <a:graphicFrameLocks noChangeAspect="1"/>
          </p:cNvGraphicFramePr>
          <p:nvPr/>
        </p:nvGraphicFramePr>
        <p:xfrm>
          <a:off x="1905000" y="1524000"/>
          <a:ext cx="5105400" cy="4930775"/>
        </p:xfrm>
        <a:graphic>
          <a:graphicData uri="http://schemas.openxmlformats.org/presentationml/2006/ole">
            <mc:AlternateContent xmlns:mc="http://schemas.openxmlformats.org/markup-compatibility/2006">
              <mc:Choice xmlns:v="urn:schemas-microsoft-com:vml" Requires="v">
                <p:oleObj spid="_x0000_s3078" name="" r:id="rId1" imgW="4216400" imgH="4074160" progId="Visio.Drawing.4">
                  <p:embed/>
                </p:oleObj>
              </mc:Choice>
              <mc:Fallback>
                <p:oleObj name="" r:id="rId1" imgW="4216400" imgH="4074160" progId="Visio.Drawing.4">
                  <p:embed/>
                  <p:pic>
                    <p:nvPicPr>
                      <p:cNvPr id="0" name="图片 3077"/>
                      <p:cNvPicPr/>
                      <p:nvPr/>
                    </p:nvPicPr>
                    <p:blipFill>
                      <a:blip r:embed="rId2"/>
                      <a:stretch>
                        <a:fillRect/>
                      </a:stretch>
                    </p:blipFill>
                    <p:spPr>
                      <a:xfrm>
                        <a:off x="1905000" y="1524000"/>
                        <a:ext cx="5105400" cy="4930775"/>
                      </a:xfrm>
                      <a:prstGeom prst="rect">
                        <a:avLst/>
                      </a:prstGeom>
                      <a:noFill/>
                      <a:ln w="38100">
                        <a:noFill/>
                        <a:miter/>
                      </a:ln>
                    </p:spPr>
                  </p:pic>
                </p:oleObj>
              </mc:Fallback>
            </mc:AlternateContent>
          </a:graphicData>
        </a:graphic>
      </p:graphicFrame>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存储分配策略（4）</a:t>
            </a:r>
            <a:endParaRPr lang="zh-CN" altLang="en-US" dirty="0">
              <a:latin typeface="Times New Roman" panose="02020603050405020304" pitchFamily="18" charset="0"/>
              <a:ea typeface="宋体" panose="02010600030101010101" pitchFamily="2" charset="-122"/>
            </a:endParaRPr>
          </a:p>
        </p:txBody>
      </p:sp>
      <p:sp>
        <p:nvSpPr>
          <p:cNvPr id="44035" name="Rectangle 3"/>
          <p:cNvSpPr>
            <a:spLocks noGrp="1"/>
          </p:cNvSpPr>
          <p:nvPr>
            <p:ph idx="1"/>
          </p:nvPr>
        </p:nvSpPr>
        <p:spPr>
          <a:xfrm>
            <a:off x="990600" y="1524000"/>
            <a:ext cx="7391400" cy="4495800"/>
          </a:xfrm>
          <a:ln/>
        </p:spPr>
        <p:txBody>
          <a:bodyPr vert="horz" wrap="square" lIns="92075" tIns="46038" rIns="92075" bIns="46038" anchor="t" anchorCtr="0"/>
          <a:p>
            <a:r>
              <a:rPr lang="zh-CN" altLang="en-US" sz="2400" b="1" dirty="0">
                <a:ea typeface="宋体" panose="02010600030101010101" pitchFamily="2" charset="-122"/>
              </a:rPr>
              <a:t>栈分配</a:t>
            </a:r>
            <a:endParaRPr lang="zh-CN" altLang="en-US" sz="2400" b="1" dirty="0">
              <a:ea typeface="宋体" panose="02010600030101010101" pitchFamily="2" charset="-122"/>
            </a:endParaRPr>
          </a:p>
          <a:p>
            <a:pPr lvl="1"/>
            <a:r>
              <a:rPr lang="zh-CN" altLang="en-US" sz="2200" b="1" dirty="0">
                <a:ea typeface="宋体" panose="02010600030101010101" pitchFamily="2" charset="-122"/>
              </a:rPr>
              <a:t>递归过程要求栈分配</a:t>
            </a:r>
            <a:endParaRPr lang="zh-CN" altLang="en-US" sz="2200" b="1" dirty="0">
              <a:ea typeface="宋体" panose="02010600030101010101" pitchFamily="2" charset="-122"/>
            </a:endParaRPr>
          </a:p>
          <a:p>
            <a:pPr lvl="1"/>
            <a:r>
              <a:rPr lang="zh-CN" altLang="en-US" sz="2200" b="1" dirty="0">
                <a:ea typeface="宋体" panose="02010600030101010101" pitchFamily="2" charset="-122"/>
              </a:rPr>
              <a:t>允许动态数据对象的存在</a:t>
            </a:r>
            <a:endParaRPr lang="zh-CN" altLang="en-US" sz="2200" b="1" dirty="0">
              <a:ea typeface="宋体" panose="02010600030101010101" pitchFamily="2" charset="-122"/>
            </a:endParaRPr>
          </a:p>
          <a:p>
            <a:pPr lvl="1"/>
            <a:r>
              <a:rPr lang="zh-CN" altLang="en-US" sz="2200" b="1" dirty="0">
                <a:ea typeface="宋体" panose="02010600030101010101" pitchFamily="2" charset="-122"/>
              </a:rPr>
              <a:t>满足先入后出的次序</a:t>
            </a:r>
            <a:endParaRPr lang="zh-CN" altLang="en-US" sz="2200" b="1" dirty="0">
              <a:ea typeface="宋体" panose="02010600030101010101" pitchFamily="2" charset="-122"/>
            </a:endParaRPr>
          </a:p>
          <a:p>
            <a:pPr lvl="1"/>
            <a:r>
              <a:rPr lang="zh-CN" altLang="en-US" sz="2200" b="1" dirty="0">
                <a:ea typeface="宋体" panose="02010600030101010101" pitchFamily="2" charset="-122"/>
              </a:rPr>
              <a:t>控制栈：</a:t>
            </a:r>
            <a:endParaRPr lang="zh-CN" altLang="en-US" sz="2200" b="1" dirty="0">
              <a:ea typeface="宋体" panose="02010600030101010101" pitchFamily="2" charset="-122"/>
            </a:endParaRPr>
          </a:p>
          <a:p>
            <a:pPr lvl="2"/>
            <a:r>
              <a:rPr lang="zh-CN" altLang="en-US" sz="2000" b="1" dirty="0">
                <a:ea typeface="宋体" panose="02010600030101010101" pitchFamily="2" charset="-122"/>
              </a:rPr>
              <a:t>活动记录和栈的关系</a:t>
            </a:r>
            <a:endParaRPr lang="zh-CN" altLang="en-US" sz="2000" b="1" dirty="0">
              <a:ea typeface="宋体" panose="02010600030101010101" pitchFamily="2" charset="-122"/>
            </a:endParaRPr>
          </a:p>
          <a:p>
            <a:pPr lvl="2"/>
            <a:r>
              <a:rPr lang="zh-CN" altLang="en-US" sz="2000" b="1" dirty="0">
                <a:ea typeface="宋体" panose="02010600030101010101" pitchFamily="2" charset="-122"/>
              </a:rPr>
              <a:t>局部量的存储空间包含在对应调用的活动记录中</a:t>
            </a:r>
            <a:endParaRPr lang="zh-CN" altLang="en-US" sz="2000" b="1" dirty="0">
              <a:ea typeface="宋体" panose="02010600030101010101" pitchFamily="2" charset="-122"/>
            </a:endParaRPr>
          </a:p>
          <a:p>
            <a:pPr lvl="2"/>
            <a:r>
              <a:rPr lang="zh-CN" altLang="en-US" sz="2000" b="1" dirty="0">
                <a:ea typeface="宋体" panose="02010600030101010101" pitchFamily="2" charset="-122"/>
              </a:rPr>
              <a:t>局部量的值会随着过程调用结束而丢失</a:t>
            </a:r>
            <a:endParaRPr lang="zh-CN" altLang="en-US" sz="2000" b="1" dirty="0">
              <a:ea typeface="宋体" panose="02010600030101010101" pitchFamily="2" charset="-122"/>
            </a:endParaRPr>
          </a:p>
          <a:p>
            <a:pPr lvl="2"/>
            <a:r>
              <a:rPr lang="zh-CN" altLang="en-US" sz="2000" b="1" dirty="0">
                <a:ea typeface="宋体" panose="02010600030101010101" pitchFamily="2" charset="-122"/>
              </a:rPr>
              <a:t>控制栈</a:t>
            </a:r>
            <a:r>
              <a:rPr lang="en-US" altLang="zh-CN" sz="2000" b="1" dirty="0">
                <a:ea typeface="宋体" panose="02010600030101010101" pitchFamily="2" charset="-122"/>
              </a:rPr>
              <a:t>top</a:t>
            </a:r>
            <a:r>
              <a:rPr lang="zh-CN" altLang="en-US" sz="2000" b="1" dirty="0">
                <a:ea typeface="宋体" panose="02010600030101010101" pitchFamily="2" charset="-122"/>
              </a:rPr>
              <a:t>的变化和活动记录的长度相关</a:t>
            </a:r>
            <a:endParaRPr lang="zh-CN" altLang="en-US" sz="2000" b="1" dirty="0">
              <a:ea typeface="宋体" panose="02010600030101010101" pitchFamily="2" charset="-122"/>
            </a:endParaRPr>
          </a:p>
          <a:p>
            <a:pPr lvl="2"/>
            <a:r>
              <a:rPr lang="zh-CN" altLang="en-US" sz="2000" b="1" dirty="0">
                <a:ea typeface="宋体" panose="02010600030101010101" pitchFamily="2" charset="-122"/>
              </a:rPr>
              <a:t>通常，局部量相对于活动记录开始点的偏移量可以记录在符号表中</a:t>
            </a:r>
            <a:endParaRPr lang="zh-CN" altLang="en-US" sz="2000" b="1" dirty="0">
              <a:ea typeface="宋体" panose="02010600030101010101" pitchFamily="2" charset="-122"/>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6082" name="Picture 2"/>
          <p:cNvPicPr>
            <a:picLocks noChangeAspect="1"/>
          </p:cNvPicPr>
          <p:nvPr/>
        </p:nvPicPr>
        <p:blipFill>
          <a:blip r:embed="rId1"/>
          <a:stretch>
            <a:fillRect/>
          </a:stretch>
        </p:blipFill>
        <p:spPr>
          <a:xfrm>
            <a:off x="457200" y="228600"/>
            <a:ext cx="7772400" cy="6284913"/>
          </a:xfrm>
          <a:prstGeom prst="rect">
            <a:avLst/>
          </a:prstGeom>
          <a:noFill/>
          <a:ln w="9525">
            <a:noFill/>
          </a:ln>
        </p:spPr>
      </p:pic>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存储分配策略（</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7107" name="Rectangle 3"/>
          <p:cNvSpPr>
            <a:spLocks noGrp="1"/>
          </p:cNvSpPr>
          <p:nvPr>
            <p:ph idx="1"/>
          </p:nvPr>
        </p:nvSpPr>
        <p:spPr>
          <a:xfrm>
            <a:off x="755650" y="1371600"/>
            <a:ext cx="7626350" cy="4648200"/>
          </a:xfrm>
          <a:ln/>
        </p:spPr>
        <p:txBody>
          <a:bodyPr vert="horz" wrap="square" lIns="92075" tIns="46038" rIns="92075" bIns="46038" anchor="t" anchorCtr="0"/>
          <a:p>
            <a:pPr lvl="1"/>
            <a:r>
              <a:rPr lang="zh-CN" altLang="en-US" sz="2200" b="1" dirty="0">
                <a:ea typeface="宋体" panose="02010600030101010101" pitchFamily="2" charset="-122"/>
              </a:rPr>
              <a:t>过程调用的实现：通过过程调用代码序列（</a:t>
            </a:r>
            <a:r>
              <a:rPr lang="en-US" altLang="zh-CN" sz="2200" b="1" dirty="0">
                <a:ea typeface="宋体" panose="02010600030101010101" pitchFamily="2" charset="-122"/>
              </a:rPr>
              <a:t>calling sequences）</a:t>
            </a:r>
            <a:r>
              <a:rPr lang="zh-CN" altLang="en-US" sz="2200" b="1" dirty="0">
                <a:ea typeface="宋体" panose="02010600030101010101" pitchFamily="2" charset="-122"/>
              </a:rPr>
              <a:t>实现，包括调用序列和返回序列</a:t>
            </a:r>
            <a:endParaRPr lang="zh-CN" altLang="en-US" sz="2200" b="1" dirty="0">
              <a:ea typeface="宋体" panose="02010600030101010101" pitchFamily="2" charset="-122"/>
            </a:endParaRPr>
          </a:p>
          <a:p>
            <a:pPr lvl="2"/>
            <a:r>
              <a:rPr lang="zh-CN" altLang="en-US" sz="2000" b="1" dirty="0">
                <a:ea typeface="宋体" panose="02010600030101010101" pitchFamily="2" charset="-122"/>
              </a:rPr>
              <a:t>调用序列：分配活动记录，信息的保存和填充</a:t>
            </a:r>
            <a:endParaRPr lang="zh-CN" altLang="en-US" sz="2000" b="1" dirty="0">
              <a:ea typeface="宋体" panose="02010600030101010101" pitchFamily="2" charset="-122"/>
            </a:endParaRPr>
          </a:p>
          <a:p>
            <a:pPr lvl="3"/>
            <a:r>
              <a:rPr lang="zh-CN" altLang="en-US" b="1" dirty="0">
                <a:ea typeface="宋体" panose="02010600030101010101" pitchFamily="2" charset="-122"/>
              </a:rPr>
              <a:t>参数、返回地址、老的控制栈</a:t>
            </a:r>
            <a:r>
              <a:rPr lang="en-US" altLang="zh-CN" b="1" dirty="0">
                <a:ea typeface="宋体" panose="02010600030101010101" pitchFamily="2" charset="-122"/>
              </a:rPr>
              <a:t>top、</a:t>
            </a:r>
            <a:r>
              <a:rPr lang="zh-CN" altLang="en-US" b="1" dirty="0">
                <a:ea typeface="宋体" panose="02010600030101010101" pitchFamily="2" charset="-122"/>
              </a:rPr>
              <a:t>寄存器的保存、局部对象的初始化等</a:t>
            </a:r>
            <a:endParaRPr lang="zh-CN" altLang="en-US" b="1" dirty="0">
              <a:ea typeface="宋体" panose="02010600030101010101" pitchFamily="2" charset="-122"/>
            </a:endParaRPr>
          </a:p>
          <a:p>
            <a:pPr lvl="2"/>
            <a:r>
              <a:rPr lang="zh-CN" altLang="en-US" sz="2000" b="1" dirty="0">
                <a:ea typeface="宋体" panose="02010600030101010101" pitchFamily="2" charset="-122"/>
              </a:rPr>
              <a:t>返回序列：恢复机器状态，使调用者继续执行</a:t>
            </a:r>
            <a:endParaRPr lang="zh-CN" altLang="en-US" sz="2000" b="1" dirty="0">
              <a:ea typeface="宋体" panose="02010600030101010101" pitchFamily="2" charset="-122"/>
            </a:endParaRPr>
          </a:p>
          <a:p>
            <a:pPr lvl="3"/>
            <a:r>
              <a:rPr lang="zh-CN" altLang="en-US" b="1" dirty="0">
                <a:ea typeface="宋体" panose="02010600030101010101" pitchFamily="2" charset="-122"/>
              </a:rPr>
              <a:t>返回值、寄存器的恢复、重置控制栈</a:t>
            </a:r>
            <a:r>
              <a:rPr lang="en-US" altLang="zh-CN" b="1" dirty="0">
                <a:ea typeface="宋体" panose="02010600030101010101" pitchFamily="2" charset="-122"/>
              </a:rPr>
              <a:t>top、</a:t>
            </a:r>
            <a:r>
              <a:rPr lang="zh-CN" altLang="en-US" b="1" dirty="0">
                <a:ea typeface="宋体" panose="02010600030101010101" pitchFamily="2" charset="-122"/>
              </a:rPr>
              <a:t>跳转到返回地址</a:t>
            </a:r>
            <a:endParaRPr lang="zh-CN" altLang="en-US" b="1" dirty="0">
              <a:ea typeface="宋体" panose="02010600030101010101" pitchFamily="2" charset="-122"/>
            </a:endParaRPr>
          </a:p>
          <a:p>
            <a:pPr lvl="2"/>
            <a:r>
              <a:rPr lang="zh-CN" altLang="en-US" sz="2000" b="1" dirty="0">
                <a:ea typeface="宋体" panose="02010600030101010101" pitchFamily="2" charset="-122"/>
              </a:rPr>
              <a:t>调用序列和活动记录不是一成不变的，语言、实现等都会导致不同</a:t>
            </a:r>
            <a:endParaRPr lang="zh-CN" altLang="en-US" sz="2000" b="1" dirty="0">
              <a:ea typeface="宋体" panose="02010600030101010101" pitchFamily="2" charset="-122"/>
            </a:endParaRPr>
          </a:p>
          <a:p>
            <a:pPr lvl="2"/>
            <a:r>
              <a:rPr lang="zh-CN" altLang="en-US" sz="2000" b="1" dirty="0">
                <a:ea typeface="宋体" panose="02010600030101010101" pitchFamily="2" charset="-122"/>
              </a:rPr>
              <a:t>过程调用序列的代码分成两部分，分别由调用过程和被调用过程负责，但划分的界限不是唯一的</a:t>
            </a:r>
            <a:endParaRPr lang="en-US" altLang="zh-CN" sz="2000" b="1" dirty="0">
              <a:ea typeface="宋体" panose="02010600030101010101" pitchFamily="2" charset="-122"/>
            </a:endParaRPr>
          </a:p>
          <a:p>
            <a:pPr lvl="3"/>
            <a:r>
              <a:rPr lang="zh-CN" altLang="en-US" sz="1800" b="1" dirty="0">
                <a:ea typeface="宋体" panose="02010600030101010101" pitchFamily="2" charset="-122"/>
              </a:rPr>
              <a:t>如果一个过程在程序中被调用了</a:t>
            </a:r>
            <a:r>
              <a:rPr lang="en-US" altLang="zh-CN" sz="1800" b="1" dirty="0">
                <a:ea typeface="宋体" panose="02010600030101010101" pitchFamily="2" charset="-122"/>
              </a:rPr>
              <a:t>n</a:t>
            </a:r>
            <a:r>
              <a:rPr lang="zh-CN" altLang="en-US" sz="1800" b="1" dirty="0">
                <a:ea typeface="宋体" panose="02010600030101010101" pitchFamily="2" charset="-122"/>
              </a:rPr>
              <a:t>次，调用者部分的代码会生成</a:t>
            </a:r>
            <a:r>
              <a:rPr lang="en-US" altLang="zh-CN" sz="1800" b="1" dirty="0">
                <a:ea typeface="宋体" panose="02010600030101010101" pitchFamily="2" charset="-122"/>
              </a:rPr>
              <a:t>n</a:t>
            </a:r>
            <a:r>
              <a:rPr lang="zh-CN" altLang="en-US" sz="1800" b="1" dirty="0">
                <a:ea typeface="宋体" panose="02010600030101010101" pitchFamily="2" charset="-122"/>
              </a:rPr>
              <a:t>次，而被调用者部分的代码只生成</a:t>
            </a:r>
            <a:r>
              <a:rPr lang="en-US" altLang="zh-CN" sz="1800" b="1" dirty="0">
                <a:ea typeface="宋体" panose="02010600030101010101" pitchFamily="2" charset="-122"/>
              </a:rPr>
              <a:t>1</a:t>
            </a:r>
            <a:r>
              <a:rPr lang="zh-CN" altLang="en-US" sz="1800" b="1" dirty="0">
                <a:ea typeface="宋体" panose="02010600030101010101" pitchFamily="2" charset="-122"/>
              </a:rPr>
              <a:t>次</a:t>
            </a:r>
            <a:endParaRPr lang="en-US" altLang="zh-CN" sz="1800" b="1" dirty="0">
              <a:ea typeface="宋体" panose="02010600030101010101" pitchFamily="2" charset="-122"/>
            </a:endParaRPr>
          </a:p>
          <a:p>
            <a:pPr lvl="3"/>
            <a:r>
              <a:rPr lang="zh-CN" altLang="en-US" sz="1800" b="1" dirty="0">
                <a:ea typeface="宋体" panose="02010600030101010101" pitchFamily="2" charset="-122"/>
              </a:rPr>
              <a:t>期望将极可能多的代码安排给被调用者，但不可能是全部</a:t>
            </a:r>
            <a:endParaRPr lang="en-US" altLang="zh-CN" sz="1800" b="1" dirty="0">
              <a:ea typeface="宋体" panose="02010600030101010101" pitchFamily="2" charset="-122"/>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存储分配策略（</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9155" name="内容占位符 2"/>
          <p:cNvSpPr>
            <a:spLocks noGrp="1"/>
          </p:cNvSpPr>
          <p:nvPr>
            <p:ph idx="1"/>
          </p:nvPr>
        </p:nvSpPr>
        <p:spPr>
          <a:xfrm>
            <a:off x="539750" y="1371600"/>
            <a:ext cx="8135938" cy="4800600"/>
          </a:xfrm>
          <a:ln/>
        </p:spPr>
        <p:txBody>
          <a:bodyPr vert="horz" wrap="square" lIns="92075" tIns="46038" rIns="92075" bIns="46038" anchor="t" anchorCtr="0"/>
          <a:p>
            <a:r>
              <a:rPr lang="zh-CN" altLang="en-US" sz="2400" b="1" dirty="0">
                <a:ea typeface="宋体" panose="02010600030101010101" pitchFamily="2" charset="-122"/>
              </a:rPr>
              <a:t>调用代码序列和活动记录布局的一些考虑</a:t>
            </a:r>
            <a:endParaRPr lang="en-US" altLang="zh-CN" sz="2400" b="1" dirty="0">
              <a:ea typeface="宋体" panose="02010600030101010101" pitchFamily="2" charset="-122"/>
            </a:endParaRPr>
          </a:p>
          <a:p>
            <a:pPr lvl="1"/>
            <a:r>
              <a:rPr lang="zh-CN" altLang="en-US" sz="2200" b="1" dirty="0">
                <a:ea typeface="宋体" panose="02010600030101010101" pitchFamily="2" charset="-122"/>
              </a:rPr>
              <a:t>在调用者和被调用者之间传递的值一般放在被调用者活动记录的开始位置</a:t>
            </a:r>
            <a:endParaRPr lang="en-US" altLang="zh-CN" sz="2200" b="1" dirty="0">
              <a:ea typeface="宋体" panose="02010600030101010101" pitchFamily="2" charset="-122"/>
            </a:endParaRPr>
          </a:p>
          <a:p>
            <a:pPr lvl="2"/>
            <a:r>
              <a:rPr lang="zh-CN" altLang="en-US" sz="2000" b="1" dirty="0">
                <a:ea typeface="宋体" panose="02010600030101010101" pitchFamily="2" charset="-122"/>
              </a:rPr>
              <a:t>便于调用者在创建被调用者的活动记录前，将实在参数的值等放在合适的位置</a:t>
            </a:r>
            <a:endParaRPr lang="en-US" altLang="zh-CN" sz="2000" b="1" dirty="0">
              <a:ea typeface="宋体" panose="02010600030101010101" pitchFamily="2" charset="-122"/>
            </a:endParaRPr>
          </a:p>
          <a:p>
            <a:pPr lvl="2"/>
            <a:r>
              <a:rPr lang="zh-CN" altLang="en-US" sz="2000" b="1" dirty="0">
                <a:ea typeface="宋体" panose="02010600030101010101" pitchFamily="2" charset="-122"/>
              </a:rPr>
              <a:t>参数在活动记录中顺序出现，参数少时，可以用寄存器传递</a:t>
            </a:r>
            <a:endParaRPr lang="en-US" altLang="zh-CN" sz="2000" b="1" dirty="0">
              <a:ea typeface="宋体" panose="02010600030101010101" pitchFamily="2" charset="-122"/>
            </a:endParaRPr>
          </a:p>
          <a:p>
            <a:pPr lvl="1"/>
            <a:r>
              <a:rPr lang="zh-CN" altLang="en-US" sz="2200" b="1" dirty="0">
                <a:ea typeface="宋体" panose="02010600030101010101" pitchFamily="2" charset="-122"/>
              </a:rPr>
              <a:t>固定长度的项被放置在中间位置，如控制链、访问链等</a:t>
            </a:r>
            <a:endParaRPr lang="en-US" altLang="zh-CN" sz="2200" b="1" dirty="0">
              <a:ea typeface="宋体" panose="02010600030101010101" pitchFamily="2" charset="-122"/>
            </a:endParaRPr>
          </a:p>
          <a:p>
            <a:pPr lvl="1"/>
            <a:r>
              <a:rPr lang="zh-CN" altLang="en-US" sz="2200" b="1" dirty="0">
                <a:ea typeface="宋体" panose="02010600030101010101" pitchFamily="2" charset="-122"/>
              </a:rPr>
              <a:t>在早期不知道大小的项放在活动记录的尾部</a:t>
            </a:r>
            <a:endParaRPr lang="en-US" altLang="zh-CN" sz="2200" b="1" dirty="0">
              <a:ea typeface="宋体" panose="02010600030101010101" pitchFamily="2" charset="-122"/>
            </a:endParaRPr>
          </a:p>
          <a:p>
            <a:pPr lvl="2"/>
            <a:r>
              <a:rPr lang="zh-CN" altLang="en-US" sz="2000" b="1" dirty="0">
                <a:ea typeface="宋体" panose="02010600030101010101" pitchFamily="2" charset="-122"/>
              </a:rPr>
              <a:t>临时数据区</a:t>
            </a:r>
            <a:endParaRPr lang="en-US" altLang="zh-CN" sz="2000" b="1" dirty="0">
              <a:ea typeface="宋体" panose="02010600030101010101" pitchFamily="2" charset="-122"/>
            </a:endParaRPr>
          </a:p>
          <a:p>
            <a:pPr lvl="2"/>
            <a:r>
              <a:rPr lang="zh-CN" altLang="en-US" sz="2000" b="1" dirty="0">
                <a:ea typeface="宋体" panose="02010600030101010101" pitchFamily="2" charset="-122"/>
              </a:rPr>
              <a:t>动态数组</a:t>
            </a:r>
            <a:r>
              <a:rPr lang="zh-CN" altLang="en-US" sz="2000" b="1" baseline="30000" dirty="0">
                <a:ea typeface="宋体" panose="02010600030101010101" pitchFamily="2" charset="-122"/>
              </a:rPr>
              <a:t>*</a:t>
            </a:r>
            <a:endParaRPr lang="en-US" altLang="zh-CN" b="1" baseline="30000" dirty="0">
              <a:ea typeface="宋体" panose="02010600030101010101" pitchFamily="2" charset="-122"/>
            </a:endParaRPr>
          </a:p>
          <a:p>
            <a:pPr lvl="1"/>
            <a:r>
              <a:rPr lang="zh-CN" altLang="en-US" sz="2200" b="1" dirty="0">
                <a:ea typeface="宋体" panose="02010600030101010101" pitchFamily="2" charset="-122"/>
              </a:rPr>
              <a:t>确定栈顶指针的位置要小心</a:t>
            </a:r>
            <a:endParaRPr lang="en-US" altLang="zh-CN" sz="2200" b="1" dirty="0">
              <a:ea typeface="宋体" panose="02010600030101010101" pitchFamily="2" charset="-122"/>
            </a:endParaRPr>
          </a:p>
          <a:p>
            <a:pPr lvl="2"/>
            <a:r>
              <a:rPr lang="zh-CN" altLang="en-US" sz="2000" b="1" dirty="0">
                <a:ea typeface="宋体" panose="02010600030101010101" pitchFamily="2" charset="-122"/>
              </a:rPr>
              <a:t>常用的方法是指向活动记录中固定长度字段的末端，固定长度的数据可以通过相对栈顶指针的偏移访问，而中间代码生成时可以知道这些偏移量</a:t>
            </a:r>
            <a:endParaRPr lang="en-US" altLang="zh-CN" sz="2000" b="1" dirty="0">
              <a:ea typeface="宋体" panose="02010600030101010101" pitchFamily="2" charset="-122"/>
            </a:endParaRPr>
          </a:p>
          <a:p>
            <a:pPr lvl="1"/>
            <a:endParaRPr lang="zh-CN" altLang="en-US" sz="2200" b="1" dirty="0">
              <a:ea typeface="宋体" panose="02010600030101010101" pitchFamily="2" charset="-122"/>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1202" name="Picture 2"/>
          <p:cNvPicPr>
            <a:picLocks noChangeAspect="1"/>
          </p:cNvPicPr>
          <p:nvPr/>
        </p:nvPicPr>
        <p:blipFill>
          <a:blip r:embed="rId1"/>
          <a:stretch>
            <a:fillRect/>
          </a:stretch>
        </p:blipFill>
        <p:spPr>
          <a:xfrm>
            <a:off x="533400" y="658813"/>
            <a:ext cx="7924800" cy="5424487"/>
          </a:xfrm>
          <a:prstGeom prst="rect">
            <a:avLst/>
          </a:prstGeom>
          <a:noFill/>
          <a:ln w="9525">
            <a:noFill/>
          </a:ln>
        </p:spPr>
      </p:pic>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存储分配策略（</a:t>
            </a:r>
            <a:r>
              <a:rPr lang="en-US" altLang="zh-CN" dirty="0">
                <a:latin typeface="Times New Roman" panose="02020603050405020304" pitchFamily="18" charset="0"/>
                <a:ea typeface="宋体" panose="02010600030101010101" pitchFamily="2" charset="-122"/>
              </a:rPr>
              <a:t>7</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52227" name="Rectangle 3"/>
          <p:cNvSpPr>
            <a:spLocks noGrp="1"/>
          </p:cNvSpPr>
          <p:nvPr>
            <p:ph idx="1"/>
          </p:nvPr>
        </p:nvSpPr>
        <p:spPr>
          <a:xfrm>
            <a:off x="990600" y="1752600"/>
            <a:ext cx="7467600" cy="4267200"/>
          </a:xfrm>
          <a:ln/>
        </p:spPr>
        <p:txBody>
          <a:bodyPr vert="horz" wrap="square" lIns="92075" tIns="46038" rIns="92075" bIns="46038" anchor="t" anchorCtr="0"/>
          <a:p>
            <a:pPr lvl="1"/>
            <a:r>
              <a:rPr lang="zh-CN" altLang="en-US" sz="2200" b="1" dirty="0">
                <a:ea typeface="宋体" panose="02010600030101010101" pitchFamily="2" charset="-122"/>
              </a:rPr>
              <a:t>调用序列（</a:t>
            </a:r>
            <a:r>
              <a:rPr lang="en-US" altLang="zh-CN" sz="2200" b="1" dirty="0">
                <a:ea typeface="宋体" panose="02010600030101010101" pitchFamily="2" charset="-122"/>
              </a:rPr>
              <a:t>call sequences），</a:t>
            </a:r>
            <a:r>
              <a:rPr lang="zh-CN" altLang="en-US" sz="2200" b="1" dirty="0">
                <a:ea typeface="宋体" panose="02010600030101010101" pitchFamily="2" charset="-122"/>
              </a:rPr>
              <a:t>过程</a:t>
            </a:r>
            <a:r>
              <a:rPr lang="en-US" altLang="zh-CN" sz="2200" b="1" dirty="0">
                <a:ea typeface="宋体" panose="02010600030101010101" pitchFamily="2" charset="-122"/>
              </a:rPr>
              <a:t>p</a:t>
            </a:r>
            <a:r>
              <a:rPr lang="zh-CN" altLang="en-US" sz="2200" b="1" dirty="0">
                <a:ea typeface="宋体" panose="02010600030101010101" pitchFamily="2" charset="-122"/>
              </a:rPr>
              <a:t>调用过程</a:t>
            </a:r>
            <a:r>
              <a:rPr lang="en-US" altLang="zh-CN" sz="2200" b="1" dirty="0">
                <a:ea typeface="宋体" panose="02010600030101010101" pitchFamily="2" charset="-122"/>
              </a:rPr>
              <a:t>q</a:t>
            </a:r>
            <a:endParaRPr lang="en-US" altLang="zh-CN" sz="2200" b="1" dirty="0">
              <a:ea typeface="宋体" panose="02010600030101010101" pitchFamily="2" charset="-122"/>
            </a:endParaRPr>
          </a:p>
          <a:p>
            <a:pPr lvl="2"/>
            <a:r>
              <a:rPr lang="en-US" altLang="zh-CN" sz="2000" b="1" dirty="0">
                <a:ea typeface="宋体" panose="02010600030101010101" pitchFamily="2" charset="-122"/>
              </a:rPr>
              <a:t>p</a:t>
            </a:r>
            <a:r>
              <a:rPr lang="zh-CN" altLang="en-US" sz="2000" b="1" dirty="0">
                <a:ea typeface="宋体" panose="02010600030101010101" pitchFamily="2" charset="-122"/>
              </a:rPr>
              <a:t>计算实参，依次放入</a:t>
            </a:r>
            <a:r>
              <a:rPr lang="en-US" altLang="zh-CN" sz="2000" b="1" dirty="0">
                <a:ea typeface="宋体" panose="02010600030101010101" pitchFamily="2" charset="-122"/>
              </a:rPr>
              <a:t>q</a:t>
            </a:r>
            <a:r>
              <a:rPr lang="zh-CN" altLang="en-US" sz="2000" b="1" dirty="0">
                <a:ea typeface="宋体" panose="02010600030101010101" pitchFamily="2" charset="-122"/>
              </a:rPr>
              <a:t>的活动记录中（也可以利用寄存器传递参数）</a:t>
            </a:r>
            <a:endParaRPr lang="zh-CN" altLang="en-US" sz="2000" b="1" dirty="0">
              <a:ea typeface="宋体" panose="02010600030101010101" pitchFamily="2" charset="-122"/>
            </a:endParaRPr>
          </a:p>
          <a:p>
            <a:pPr lvl="2"/>
            <a:r>
              <a:rPr lang="en-US" altLang="zh-CN" sz="2000" b="1" dirty="0">
                <a:ea typeface="宋体" panose="02010600030101010101" pitchFamily="2" charset="-122"/>
              </a:rPr>
              <a:t>p</a:t>
            </a:r>
            <a:r>
              <a:rPr lang="zh-CN" altLang="en-US" sz="2000" b="1" dirty="0">
                <a:ea typeface="宋体" panose="02010600030101010101" pitchFamily="2" charset="-122"/>
              </a:rPr>
              <a:t>把返回地址和原来的</a:t>
            </a:r>
            <a:r>
              <a:rPr lang="en-US" altLang="zh-CN" sz="2000" b="1" dirty="0">
                <a:ea typeface="宋体" panose="02010600030101010101" pitchFamily="2" charset="-122"/>
              </a:rPr>
              <a:t>top_sp</a:t>
            </a:r>
            <a:r>
              <a:rPr lang="zh-CN" altLang="en-US" sz="2000" b="1" dirty="0">
                <a:ea typeface="宋体" panose="02010600030101010101" pitchFamily="2" charset="-122"/>
              </a:rPr>
              <a:t>的值存入</a:t>
            </a:r>
            <a:r>
              <a:rPr lang="en-US" altLang="zh-CN" sz="2000" b="1" dirty="0">
                <a:ea typeface="宋体" panose="02010600030101010101" pitchFamily="2" charset="-122"/>
              </a:rPr>
              <a:t>q</a:t>
            </a:r>
            <a:r>
              <a:rPr lang="zh-CN" altLang="en-US" sz="2000" b="1" dirty="0">
                <a:ea typeface="宋体" panose="02010600030101010101" pitchFamily="2" charset="-122"/>
              </a:rPr>
              <a:t>的活动记录中，建立</a:t>
            </a:r>
            <a:r>
              <a:rPr lang="en-US" altLang="zh-CN" sz="2000" b="1" dirty="0">
                <a:ea typeface="宋体" panose="02010600030101010101" pitchFamily="2" charset="-122"/>
              </a:rPr>
              <a:t>q</a:t>
            </a:r>
            <a:r>
              <a:rPr lang="zh-CN" altLang="en-US" sz="2000" b="1" dirty="0">
                <a:ea typeface="宋体" panose="02010600030101010101" pitchFamily="2" charset="-122"/>
              </a:rPr>
              <a:t>的访问链，增加</a:t>
            </a:r>
            <a:r>
              <a:rPr lang="en-US" altLang="zh-CN" sz="2000" b="1" dirty="0">
                <a:ea typeface="宋体" panose="02010600030101010101" pitchFamily="2" charset="-122"/>
              </a:rPr>
              <a:t>top_sp</a:t>
            </a:r>
            <a:r>
              <a:rPr lang="zh-CN" altLang="en-US" sz="2000" b="1" dirty="0">
                <a:ea typeface="宋体" panose="02010600030101010101" pitchFamily="2" charset="-122"/>
              </a:rPr>
              <a:t>的值，使之指向图</a:t>
            </a:r>
            <a:r>
              <a:rPr lang="en-US" altLang="zh-CN" sz="2000" b="1" dirty="0">
                <a:ea typeface="宋体" panose="02010600030101010101" pitchFamily="2" charset="-122"/>
              </a:rPr>
              <a:t>7-8</a:t>
            </a:r>
            <a:r>
              <a:rPr lang="zh-CN" altLang="en-US" sz="2000" b="1" dirty="0">
                <a:ea typeface="宋体" panose="02010600030101010101" pitchFamily="2" charset="-122"/>
              </a:rPr>
              <a:t>所示的位置</a:t>
            </a:r>
            <a:endParaRPr lang="zh-CN" altLang="en-US" sz="2000" b="1" dirty="0">
              <a:ea typeface="宋体" panose="02010600030101010101" pitchFamily="2" charset="-122"/>
            </a:endParaRPr>
          </a:p>
          <a:p>
            <a:pPr lvl="2"/>
            <a:r>
              <a:rPr lang="en-US" altLang="zh-CN" sz="2000" b="1" dirty="0">
                <a:ea typeface="宋体" panose="02010600030101010101" pitchFamily="2" charset="-122"/>
              </a:rPr>
              <a:t>q</a:t>
            </a:r>
            <a:r>
              <a:rPr lang="zh-CN" altLang="en-US" sz="2000" b="1" dirty="0">
                <a:ea typeface="宋体" panose="02010600030101010101" pitchFamily="2" charset="-122"/>
              </a:rPr>
              <a:t>保存寄存器的值和其它机器状态信息</a:t>
            </a:r>
            <a:endParaRPr lang="zh-CN" altLang="en-US" sz="2000" b="1" dirty="0">
              <a:ea typeface="宋体" panose="02010600030101010101" pitchFamily="2" charset="-122"/>
            </a:endParaRPr>
          </a:p>
          <a:p>
            <a:pPr lvl="2"/>
            <a:r>
              <a:rPr lang="en-US" altLang="zh-CN" sz="2000" b="1" dirty="0">
                <a:ea typeface="宋体" panose="02010600030101010101" pitchFamily="2" charset="-122"/>
              </a:rPr>
              <a:t>q</a:t>
            </a:r>
            <a:r>
              <a:rPr lang="zh-CN" altLang="en-US" sz="2000" b="1" dirty="0">
                <a:ea typeface="宋体" panose="02010600030101010101" pitchFamily="2" charset="-122"/>
              </a:rPr>
              <a:t>初始化它的局部数据，并开始执行</a:t>
            </a:r>
            <a:endParaRPr lang="zh-CN" altLang="en-US" sz="2000" b="1" dirty="0">
              <a:ea typeface="宋体" panose="02010600030101010101" pitchFamily="2" charset="-122"/>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存储分配策略（</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54275" name="Rectangle 3"/>
          <p:cNvSpPr>
            <a:spLocks noGrp="1"/>
          </p:cNvSpPr>
          <p:nvPr>
            <p:ph idx="1"/>
          </p:nvPr>
        </p:nvSpPr>
        <p:spPr>
          <a:xfrm>
            <a:off x="990600" y="1752600"/>
            <a:ext cx="7391400" cy="4267200"/>
          </a:xfrm>
          <a:ln/>
        </p:spPr>
        <p:txBody>
          <a:bodyPr vert="horz" wrap="square" lIns="92075" tIns="46038" rIns="92075" bIns="46038" anchor="t" anchorCtr="0"/>
          <a:p>
            <a:pPr lvl="1"/>
            <a:r>
              <a:rPr lang="zh-CN" altLang="en-US" sz="2200" b="1" dirty="0">
                <a:ea typeface="宋体" panose="02010600030101010101" pitchFamily="2" charset="-122"/>
              </a:rPr>
              <a:t>返回序列（</a:t>
            </a:r>
            <a:r>
              <a:rPr lang="en-US" altLang="zh-CN" sz="2200" b="1" dirty="0">
                <a:ea typeface="宋体" panose="02010600030101010101" pitchFamily="2" charset="-122"/>
              </a:rPr>
              <a:t>return sequences），</a:t>
            </a:r>
            <a:r>
              <a:rPr lang="zh-CN" altLang="en-US" sz="2200" b="1" dirty="0">
                <a:ea typeface="宋体" panose="02010600030101010101" pitchFamily="2" charset="-122"/>
              </a:rPr>
              <a:t>过程</a:t>
            </a:r>
            <a:r>
              <a:rPr lang="en-US" altLang="zh-CN" sz="2200" b="1" dirty="0">
                <a:ea typeface="宋体" panose="02010600030101010101" pitchFamily="2" charset="-122"/>
              </a:rPr>
              <a:t>p</a:t>
            </a:r>
            <a:r>
              <a:rPr lang="zh-CN" altLang="en-US" sz="2200" b="1" dirty="0">
                <a:ea typeface="宋体" panose="02010600030101010101" pitchFamily="2" charset="-122"/>
              </a:rPr>
              <a:t>调用过程</a:t>
            </a:r>
            <a:r>
              <a:rPr lang="en-US" altLang="zh-CN" sz="2200" b="1" dirty="0">
                <a:ea typeface="宋体" panose="02010600030101010101" pitchFamily="2" charset="-122"/>
              </a:rPr>
              <a:t>q</a:t>
            </a:r>
            <a:endParaRPr lang="en-US" altLang="zh-CN" sz="2200" b="1" dirty="0">
              <a:ea typeface="宋体" panose="02010600030101010101" pitchFamily="2" charset="-122"/>
            </a:endParaRPr>
          </a:p>
          <a:p>
            <a:pPr lvl="2"/>
            <a:r>
              <a:rPr lang="zh-CN" altLang="en-US" sz="2000" b="1" dirty="0">
                <a:ea typeface="宋体" panose="02010600030101010101" pitchFamily="2" charset="-122"/>
              </a:rPr>
              <a:t>如图</a:t>
            </a:r>
            <a:r>
              <a:rPr lang="en-US" altLang="zh-CN" sz="2000" b="1" dirty="0">
                <a:ea typeface="宋体" panose="02010600030101010101" pitchFamily="2" charset="-122"/>
              </a:rPr>
              <a:t>7-5</a:t>
            </a:r>
            <a:r>
              <a:rPr lang="zh-CN" altLang="en-US" sz="2000" b="1" dirty="0">
                <a:ea typeface="宋体" panose="02010600030101010101" pitchFamily="2" charset="-122"/>
              </a:rPr>
              <a:t>所示，</a:t>
            </a:r>
            <a:r>
              <a:rPr lang="en-US" altLang="zh-CN" sz="2000" b="1" dirty="0">
                <a:ea typeface="宋体" panose="02010600030101010101" pitchFamily="2" charset="-122"/>
              </a:rPr>
              <a:t>q</a:t>
            </a:r>
            <a:r>
              <a:rPr lang="zh-CN" altLang="en-US" sz="2000" b="1" dirty="0">
                <a:ea typeface="宋体" panose="02010600030101010101" pitchFamily="2" charset="-122"/>
              </a:rPr>
              <a:t>把返回值放到</a:t>
            </a:r>
            <a:r>
              <a:rPr lang="en-US" altLang="zh-CN" sz="2000" b="1" dirty="0">
                <a:ea typeface="宋体" panose="02010600030101010101" pitchFamily="2" charset="-122"/>
              </a:rPr>
              <a:t>q</a:t>
            </a:r>
            <a:r>
              <a:rPr lang="zh-CN" altLang="en-US" sz="2000" b="1" dirty="0">
                <a:ea typeface="宋体" panose="02010600030101010101" pitchFamily="2" charset="-122"/>
              </a:rPr>
              <a:t>的活动记录中与参数相邻的地方（也可以利用特定的寄存器传递返回值）</a:t>
            </a:r>
            <a:endParaRPr lang="zh-CN" altLang="en-US" sz="2000" b="1" dirty="0">
              <a:ea typeface="宋体" panose="02010600030101010101" pitchFamily="2" charset="-122"/>
            </a:endParaRPr>
          </a:p>
          <a:p>
            <a:pPr lvl="2"/>
            <a:r>
              <a:rPr lang="en-US" altLang="zh-CN" sz="2000" b="1" dirty="0">
                <a:ea typeface="宋体" panose="02010600030101010101" pitchFamily="2" charset="-122"/>
              </a:rPr>
              <a:t>q</a:t>
            </a:r>
            <a:r>
              <a:rPr lang="zh-CN" altLang="en-US" sz="2000" b="1" dirty="0">
                <a:ea typeface="宋体" panose="02010600030101010101" pitchFamily="2" charset="-122"/>
              </a:rPr>
              <a:t>机器状态字段的信息恢复</a:t>
            </a:r>
            <a:r>
              <a:rPr lang="en-US" altLang="zh-CN" sz="2000" b="1" dirty="0">
                <a:ea typeface="宋体" panose="02010600030101010101" pitchFamily="2" charset="-122"/>
              </a:rPr>
              <a:t>top_sp</a:t>
            </a:r>
            <a:r>
              <a:rPr lang="zh-CN" altLang="en-US" sz="2000" b="1" dirty="0">
                <a:ea typeface="宋体" panose="02010600030101010101" pitchFamily="2" charset="-122"/>
              </a:rPr>
              <a:t>和其它机器状态信息</a:t>
            </a:r>
            <a:endParaRPr lang="zh-CN" altLang="en-US" sz="2000" b="1" dirty="0">
              <a:ea typeface="宋体" panose="02010600030101010101" pitchFamily="2" charset="-122"/>
            </a:endParaRPr>
          </a:p>
          <a:p>
            <a:pPr lvl="2"/>
            <a:r>
              <a:rPr lang="en-US" altLang="zh-CN" sz="2000" b="1" dirty="0">
                <a:ea typeface="宋体" panose="02010600030101010101" pitchFamily="2" charset="-122"/>
              </a:rPr>
              <a:t>q</a:t>
            </a:r>
            <a:r>
              <a:rPr lang="zh-CN" altLang="en-US" sz="2000" b="1" dirty="0">
                <a:ea typeface="宋体" panose="02010600030101010101" pitchFamily="2" charset="-122"/>
              </a:rPr>
              <a:t>根据返回地址将控制返回</a:t>
            </a:r>
            <a:r>
              <a:rPr lang="en-US" altLang="zh-CN" sz="2000" b="1" dirty="0">
                <a:ea typeface="宋体" panose="02010600030101010101" pitchFamily="2" charset="-122"/>
              </a:rPr>
              <a:t>p</a:t>
            </a:r>
            <a:endParaRPr lang="en-US" altLang="zh-CN" sz="2000" b="1" dirty="0">
              <a:ea typeface="宋体" panose="02010600030101010101" pitchFamily="2" charset="-122"/>
            </a:endParaRPr>
          </a:p>
          <a:p>
            <a:pPr lvl="2"/>
            <a:r>
              <a:rPr lang="en-US" altLang="zh-CN" sz="2000" b="1" dirty="0">
                <a:ea typeface="宋体" panose="02010600030101010101" pitchFamily="2" charset="-122"/>
              </a:rPr>
              <a:t>p</a:t>
            </a:r>
            <a:r>
              <a:rPr lang="zh-CN" altLang="en-US" sz="2000" b="1" dirty="0">
                <a:ea typeface="宋体" panose="02010600030101010101" pitchFamily="2" charset="-122"/>
              </a:rPr>
              <a:t>根据参数个数调整</a:t>
            </a:r>
            <a:r>
              <a:rPr lang="en-US" altLang="zh-CN" sz="2000" b="1" dirty="0">
                <a:ea typeface="宋体" panose="02010600030101010101" pitchFamily="2" charset="-122"/>
              </a:rPr>
              <a:t>top_sp</a:t>
            </a:r>
            <a:r>
              <a:rPr lang="zh-CN" altLang="en-US" sz="2000" b="1" dirty="0">
                <a:ea typeface="宋体" panose="02010600030101010101" pitchFamily="2" charset="-122"/>
              </a:rPr>
              <a:t>的值，把返回值放入自己的活动记录中，</a:t>
            </a:r>
            <a:r>
              <a:rPr lang="en-US" altLang="zh-CN" sz="2000" b="1" dirty="0">
                <a:ea typeface="宋体" panose="02010600030101010101" pitchFamily="2" charset="-122"/>
              </a:rPr>
              <a:t>p</a:t>
            </a:r>
            <a:r>
              <a:rPr lang="zh-CN" altLang="en-US" sz="2000" b="1" dirty="0">
                <a:ea typeface="宋体" panose="02010600030101010101" pitchFamily="2" charset="-122"/>
              </a:rPr>
              <a:t>知道返回值相对于当前</a:t>
            </a:r>
            <a:r>
              <a:rPr lang="en-US" altLang="zh-CN" sz="2000" b="1" dirty="0">
                <a:ea typeface="宋体" panose="02010600030101010101" pitchFamily="2" charset="-122"/>
              </a:rPr>
              <a:t>top_sp</a:t>
            </a:r>
            <a:r>
              <a:rPr lang="zh-CN" altLang="en-US" sz="2000" b="1" dirty="0">
                <a:ea typeface="宋体" panose="02010600030101010101" pitchFamily="2" charset="-122"/>
              </a:rPr>
              <a:t>值的位置</a:t>
            </a:r>
            <a:endParaRPr lang="zh-CN" altLang="en-US" sz="2000" b="1" dirty="0">
              <a:ea typeface="宋体" panose="02010600030101010101" pitchFamily="2" charset="-122"/>
            </a:endParaRPr>
          </a:p>
          <a:p>
            <a:pPr lvl="1"/>
            <a:r>
              <a:rPr lang="zh-CN" altLang="en-US" sz="2200" b="1" dirty="0">
                <a:ea typeface="宋体" panose="02010600030101010101" pitchFamily="2" charset="-122"/>
              </a:rPr>
              <a:t>参数个数不确定？</a:t>
            </a:r>
            <a:endParaRPr lang="zh-CN" altLang="en-US" sz="2200" b="1" dirty="0">
              <a:ea typeface="宋体" panose="02010600030101010101" pitchFamily="2" charset="-122"/>
            </a:endParaRPr>
          </a:p>
          <a:p>
            <a:pPr lvl="2"/>
            <a:r>
              <a:rPr lang="en-US" altLang="zh-CN" sz="2000" b="1" dirty="0">
                <a:ea typeface="宋体" panose="02010600030101010101" pitchFamily="2" charset="-122"/>
              </a:rPr>
              <a:t>C</a:t>
            </a:r>
            <a:r>
              <a:rPr lang="zh-CN" altLang="en-US" sz="2000" b="1" dirty="0">
                <a:ea typeface="宋体" panose="02010600030101010101" pitchFamily="2" charset="-122"/>
              </a:rPr>
              <a:t>语言中的</a:t>
            </a:r>
            <a:r>
              <a:rPr lang="en-US" altLang="zh-CN" sz="2000" b="1" dirty="0">
                <a:ea typeface="宋体" panose="02010600030101010101" pitchFamily="2" charset="-122"/>
              </a:rPr>
              <a:t>printf</a:t>
            </a:r>
            <a:endParaRPr lang="en-US" altLang="zh-CN" sz="2000" b="1" dirty="0">
              <a:ea typeface="宋体" panose="02010600030101010101" pitchFamily="2" charset="-122"/>
            </a:endParaRPr>
          </a:p>
          <a:p>
            <a:pPr lvl="2"/>
            <a:r>
              <a:rPr lang="zh-CN" altLang="en-US" sz="2000" b="1" dirty="0">
                <a:ea typeface="宋体" panose="02010600030101010101" pitchFamily="2" charset="-122"/>
              </a:rPr>
              <a:t>保存描述参数的信息，如</a:t>
            </a:r>
            <a:r>
              <a:rPr lang="en-US" altLang="zh-CN" sz="2000" b="1" dirty="0">
                <a:ea typeface="宋体" panose="02010600030101010101" pitchFamily="2" charset="-122"/>
              </a:rPr>
              <a:t>printf</a:t>
            </a:r>
            <a:r>
              <a:rPr lang="zh-CN" altLang="en-US" sz="2000" b="1" dirty="0">
                <a:ea typeface="宋体" panose="02010600030101010101" pitchFamily="2" charset="-122"/>
              </a:rPr>
              <a:t>首先处理的第一个变元（它的位置是确定的）指出了其它参数的性质</a:t>
            </a:r>
            <a:endParaRPr lang="zh-CN" altLang="en-US" sz="2000" b="1" dirty="0">
              <a:ea typeface="宋体" panose="02010600030101010101" pitchFamily="2" charset="-122"/>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存储分配策略（</a:t>
            </a:r>
            <a:r>
              <a:rPr lang="en-US" altLang="zh-CN" dirty="0">
                <a:latin typeface="Times New Roman" panose="02020603050405020304" pitchFamily="18" charset="0"/>
                <a:ea typeface="宋体" panose="02010600030101010101" pitchFamily="2" charset="-122"/>
              </a:rPr>
              <a:t>9</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56323" name="Rectangle 3"/>
          <p:cNvSpPr>
            <a:spLocks noGrp="1"/>
          </p:cNvSpPr>
          <p:nvPr>
            <p:ph idx="1"/>
          </p:nvPr>
        </p:nvSpPr>
        <p:spPr>
          <a:xfrm>
            <a:off x="990600" y="1752600"/>
            <a:ext cx="7391400" cy="4038600"/>
          </a:xfrm>
          <a:ln/>
        </p:spPr>
        <p:txBody>
          <a:bodyPr vert="horz" wrap="square" lIns="92075" tIns="46038" rIns="92075" bIns="46038" anchor="t" anchorCtr="0"/>
          <a:p>
            <a:pPr lvl="1"/>
            <a:r>
              <a:rPr lang="zh-CN" altLang="en-US" sz="2200" b="1" dirty="0">
                <a:ea typeface="宋体" panose="02010600030101010101" pitchFamily="2" charset="-122"/>
              </a:rPr>
              <a:t>栈中的变长数据</a:t>
            </a:r>
            <a:endParaRPr lang="en-US" altLang="zh-CN" sz="2200" b="1" dirty="0">
              <a:ea typeface="宋体" panose="02010600030101010101" pitchFamily="2" charset="-122"/>
            </a:endParaRPr>
          </a:p>
          <a:p>
            <a:pPr lvl="2"/>
            <a:r>
              <a:rPr lang="zh-CN" altLang="en-US" sz="2000" b="1" dirty="0">
                <a:ea typeface="宋体" panose="02010600030101010101" pitchFamily="2" charset="-122"/>
              </a:rPr>
              <a:t>数组的界在编译时刻无法确定，只能在运行时刻根据一个或多个参数确定</a:t>
            </a:r>
            <a:endParaRPr lang="zh-CN" altLang="en-US" sz="2000" b="1" dirty="0">
              <a:ea typeface="宋体" panose="02010600030101010101" pitchFamily="2" charset="-122"/>
            </a:endParaRPr>
          </a:p>
          <a:p>
            <a:pPr lvl="4">
              <a:buFont typeface="Wingdings" panose="05000000000000000000" pitchFamily="2" charset="2"/>
              <a:buNone/>
            </a:pPr>
            <a:r>
              <a:rPr lang="en-US" altLang="zh-CN" sz="1600" b="1" dirty="0">
                <a:ea typeface="宋体" panose="02010600030101010101" pitchFamily="2" charset="-122"/>
              </a:rPr>
              <a:t>procedure f( n )</a:t>
            </a:r>
            <a:endParaRPr lang="en-US" altLang="zh-CN" sz="1600" b="1" dirty="0">
              <a:ea typeface="宋体" panose="02010600030101010101" pitchFamily="2" charset="-122"/>
            </a:endParaRPr>
          </a:p>
          <a:p>
            <a:pPr lvl="4">
              <a:buFont typeface="Wingdings" panose="05000000000000000000" pitchFamily="2" charset="2"/>
              <a:buNone/>
            </a:pPr>
            <a:r>
              <a:rPr lang="en-US" altLang="zh-CN" sz="1600" b="1" dirty="0">
                <a:ea typeface="宋体" panose="02010600030101010101" pitchFamily="2" charset="-122"/>
              </a:rPr>
              <a:t>	integer n, m[n]</a:t>
            </a:r>
            <a:endParaRPr lang="en-US" altLang="zh-CN" sz="1600" b="1" dirty="0">
              <a:ea typeface="宋体" panose="02010600030101010101" pitchFamily="2" charset="-122"/>
            </a:endParaRPr>
          </a:p>
          <a:p>
            <a:pPr lvl="4">
              <a:buFont typeface="Wingdings" panose="05000000000000000000" pitchFamily="2" charset="2"/>
              <a:buNone/>
            </a:pPr>
            <a:r>
              <a:rPr lang="en-US" altLang="zh-CN" sz="1600" b="1" dirty="0">
                <a:ea typeface="宋体" panose="02010600030101010101" pitchFamily="2" charset="-122"/>
              </a:rPr>
              <a:t>	…</a:t>
            </a:r>
            <a:endParaRPr lang="en-US" altLang="zh-CN" sz="1600" b="1" dirty="0">
              <a:ea typeface="宋体" panose="02010600030101010101" pitchFamily="2" charset="-122"/>
            </a:endParaRPr>
          </a:p>
          <a:p>
            <a:pPr lvl="4">
              <a:buFont typeface="Wingdings" panose="05000000000000000000" pitchFamily="2" charset="2"/>
              <a:buNone/>
            </a:pPr>
            <a:r>
              <a:rPr lang="en-US" altLang="zh-CN" sz="1600" b="1" dirty="0">
                <a:ea typeface="宋体" panose="02010600030101010101" pitchFamily="2" charset="-122"/>
              </a:rPr>
              <a:t>end</a:t>
            </a:r>
            <a:endParaRPr lang="en-US" altLang="zh-CN" sz="1600" b="1" dirty="0">
              <a:ea typeface="宋体" panose="02010600030101010101" pitchFamily="2" charset="-122"/>
            </a:endParaRPr>
          </a:p>
          <a:p>
            <a:pPr lvl="2"/>
            <a:r>
              <a:rPr lang="zh-CN" altLang="en-US" sz="2000" b="1" dirty="0">
                <a:ea typeface="宋体" panose="02010600030101010101" pitchFamily="2" charset="-122"/>
              </a:rPr>
              <a:t>动态数组在栈里分配，但不能分配在活动记录中</a:t>
            </a:r>
            <a:endParaRPr lang="zh-CN" altLang="en-US" sz="2000" b="1" dirty="0">
              <a:ea typeface="宋体" panose="02010600030101010101" pitchFamily="2" charset="-122"/>
            </a:endParaRPr>
          </a:p>
          <a:p>
            <a:pPr lvl="2"/>
            <a:r>
              <a:rPr lang="zh-CN" altLang="en-US" sz="2000" b="1" dirty="0">
                <a:ea typeface="宋体" panose="02010600030101010101" pitchFamily="2" charset="-122"/>
              </a:rPr>
              <a:t>在动态数组的大小确定后，在该过程的活动记录紧邻的栈中分配空间</a:t>
            </a:r>
            <a:endParaRPr lang="zh-CN" altLang="en-US" sz="2000" b="1" dirty="0">
              <a:ea typeface="宋体" panose="02010600030101010101" pitchFamily="2" charset="-122"/>
            </a:endParaRPr>
          </a:p>
          <a:p>
            <a:pPr lvl="2"/>
            <a:r>
              <a:rPr lang="zh-CN" altLang="en-US" sz="2000" b="1" dirty="0">
                <a:ea typeface="宋体" panose="02010600030101010101" pitchFamily="2" charset="-122"/>
              </a:rPr>
              <a:t>动态数组的描述也可以考虑用内情向量的方式</a:t>
            </a:r>
            <a:endParaRPr lang="zh-CN" altLang="en-US" sz="2000" b="1" dirty="0">
              <a:ea typeface="宋体" panose="02010600030101010101" pitchFamily="2" charset="-122"/>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8370" name="Picture 2"/>
          <p:cNvPicPr>
            <a:picLocks noChangeAspect="1"/>
          </p:cNvPicPr>
          <p:nvPr/>
        </p:nvPicPr>
        <p:blipFill>
          <a:blip r:embed="rId1"/>
          <a:stretch>
            <a:fillRect/>
          </a:stretch>
        </p:blipFill>
        <p:spPr>
          <a:xfrm>
            <a:off x="1295400" y="381000"/>
            <a:ext cx="6629400" cy="6051550"/>
          </a:xfrm>
          <a:prstGeom prst="rect">
            <a:avLst/>
          </a:prstGeom>
          <a:noFill/>
          <a:ln w="9525">
            <a:noFill/>
          </a:ln>
        </p:spPr>
      </p:pic>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存储分配策略（1</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59395" name="内容占位符 2"/>
          <p:cNvSpPr>
            <a:spLocks noGrp="1"/>
          </p:cNvSpPr>
          <p:nvPr>
            <p:ph idx="1"/>
          </p:nvPr>
        </p:nvSpPr>
        <p:spPr>
          <a:xfrm>
            <a:off x="914400" y="1371600"/>
            <a:ext cx="7543800" cy="4800600"/>
          </a:xfrm>
          <a:ln/>
        </p:spPr>
        <p:txBody>
          <a:bodyPr vert="horz" wrap="square" lIns="92075" tIns="46038" rIns="92075" bIns="46038" anchor="t" anchorCtr="0"/>
          <a:p>
            <a:pPr lvl="2"/>
            <a:r>
              <a:rPr lang="zh-CN" altLang="en-US" b="1" dirty="0">
                <a:ea typeface="宋体" panose="02010600030101010101" pitchFamily="2" charset="-122"/>
              </a:rPr>
              <a:t>图</a:t>
            </a:r>
            <a:r>
              <a:rPr lang="en-US" altLang="zh-CN" b="1" dirty="0">
                <a:ea typeface="宋体" panose="02010600030101010101" pitchFamily="2" charset="-122"/>
              </a:rPr>
              <a:t>7-8</a:t>
            </a:r>
            <a:r>
              <a:rPr lang="zh-CN" altLang="en-US" b="1" dirty="0">
                <a:ea typeface="宋体" panose="02010600030101010101" pitchFamily="2" charset="-122"/>
              </a:rPr>
              <a:t>的解读</a:t>
            </a:r>
            <a:endParaRPr lang="en-US" altLang="zh-CN" b="1" dirty="0">
              <a:ea typeface="宋体" panose="02010600030101010101" pitchFamily="2" charset="-122"/>
            </a:endParaRPr>
          </a:p>
          <a:p>
            <a:pPr lvl="3"/>
            <a:r>
              <a:rPr lang="zh-CN" altLang="en-US" b="1" dirty="0">
                <a:ea typeface="宋体" panose="02010600030101010101" pitchFamily="2" charset="-122"/>
              </a:rPr>
              <a:t>过程</a:t>
            </a:r>
            <a:r>
              <a:rPr lang="en-US" altLang="zh-CN" b="1" dirty="0">
                <a:ea typeface="宋体" panose="02010600030101010101" pitchFamily="2" charset="-122"/>
              </a:rPr>
              <a:t>p</a:t>
            </a:r>
            <a:r>
              <a:rPr lang="zh-CN" altLang="en-US" b="1" dirty="0">
                <a:ea typeface="宋体" panose="02010600030101010101" pitchFamily="2" charset="-122"/>
              </a:rPr>
              <a:t>有三个局部动态数组</a:t>
            </a:r>
            <a:r>
              <a:rPr lang="en-US" altLang="zh-CN" b="1" dirty="0">
                <a:ea typeface="宋体" panose="02010600030101010101" pitchFamily="2" charset="-122"/>
              </a:rPr>
              <a:t>a</a:t>
            </a:r>
            <a:r>
              <a:rPr lang="zh-CN" altLang="en-US" b="1" dirty="0">
                <a:ea typeface="宋体" panose="02010600030101010101" pitchFamily="2" charset="-122"/>
              </a:rPr>
              <a:t>、</a:t>
            </a:r>
            <a:r>
              <a:rPr lang="en-US" altLang="zh-CN" b="1" dirty="0">
                <a:ea typeface="宋体" panose="02010600030101010101" pitchFamily="2" charset="-122"/>
              </a:rPr>
              <a:t>b</a:t>
            </a:r>
            <a:r>
              <a:rPr lang="zh-CN" altLang="en-US" b="1" dirty="0">
                <a:ea typeface="宋体" panose="02010600030101010101" pitchFamily="2" charset="-122"/>
              </a:rPr>
              <a:t>、</a:t>
            </a:r>
            <a:r>
              <a:rPr lang="en-US" altLang="zh-CN" b="1" dirty="0">
                <a:ea typeface="宋体" panose="02010600030101010101" pitchFamily="2" charset="-122"/>
              </a:rPr>
              <a:t>c</a:t>
            </a:r>
            <a:r>
              <a:rPr lang="zh-CN" altLang="en-US" b="1" dirty="0">
                <a:ea typeface="宋体" panose="02010600030101010101" pitchFamily="2" charset="-122"/>
              </a:rPr>
              <a:t>，其大小在</a:t>
            </a:r>
            <a:r>
              <a:rPr lang="en-US" altLang="zh-CN" b="1" dirty="0">
                <a:ea typeface="宋体" panose="02010600030101010101" pitchFamily="2" charset="-122"/>
              </a:rPr>
              <a:t>p</a:t>
            </a:r>
            <a:r>
              <a:rPr lang="zh-CN" altLang="en-US" b="1" dirty="0">
                <a:ea typeface="宋体" panose="02010600030101010101" pitchFamily="2" charset="-122"/>
              </a:rPr>
              <a:t>被调用时刻确定，放在栈里</a:t>
            </a:r>
            <a:r>
              <a:rPr lang="en-US" altLang="zh-CN" b="1" dirty="0">
                <a:ea typeface="宋体" panose="02010600030101010101" pitchFamily="2" charset="-122"/>
              </a:rPr>
              <a:t>p</a:t>
            </a:r>
            <a:r>
              <a:rPr lang="zh-CN" altLang="en-US" b="1" dirty="0">
                <a:ea typeface="宋体" panose="02010600030101010101" pitchFamily="2" charset="-122"/>
              </a:rPr>
              <a:t>的活动记录之上的位置</a:t>
            </a:r>
            <a:endParaRPr lang="en-US" altLang="zh-CN" b="1" dirty="0">
              <a:ea typeface="宋体" panose="02010600030101010101" pitchFamily="2" charset="-122"/>
            </a:endParaRPr>
          </a:p>
          <a:p>
            <a:pPr lvl="4"/>
            <a:r>
              <a:rPr lang="zh-CN" altLang="en-US" b="1" dirty="0">
                <a:ea typeface="宋体" panose="02010600030101010101" pitchFamily="2" charset="-122"/>
              </a:rPr>
              <a:t>活动记录中保存指向这三个数组开始位置的指针</a:t>
            </a:r>
            <a:endParaRPr lang="en-US" altLang="zh-CN" b="1" dirty="0">
              <a:ea typeface="宋体" panose="02010600030101010101" pitchFamily="2" charset="-122"/>
            </a:endParaRPr>
          </a:p>
          <a:p>
            <a:pPr lvl="4"/>
            <a:r>
              <a:rPr lang="en-US" altLang="zh-CN" b="1" dirty="0">
                <a:ea typeface="宋体" panose="02010600030101010101" pitchFamily="2" charset="-122"/>
              </a:rPr>
              <a:t>p</a:t>
            </a:r>
            <a:r>
              <a:rPr lang="zh-CN" altLang="en-US" b="1" dirty="0">
                <a:ea typeface="宋体" panose="02010600030101010101" pitchFamily="2" charset="-122"/>
              </a:rPr>
              <a:t>执行时，指针的指向确定，可以通过指针访问数组</a:t>
            </a:r>
            <a:endParaRPr lang="en-US" altLang="zh-CN" b="1" dirty="0">
              <a:ea typeface="宋体" panose="02010600030101010101" pitchFamily="2" charset="-122"/>
            </a:endParaRPr>
          </a:p>
          <a:p>
            <a:pPr lvl="3"/>
            <a:r>
              <a:rPr lang="zh-CN" altLang="en-US" b="1" dirty="0">
                <a:ea typeface="宋体" panose="02010600030101010101" pitchFamily="2" charset="-122"/>
              </a:rPr>
              <a:t>被</a:t>
            </a:r>
            <a:r>
              <a:rPr lang="en-US" altLang="zh-CN" b="1" dirty="0">
                <a:ea typeface="宋体" panose="02010600030101010101" pitchFamily="2" charset="-122"/>
              </a:rPr>
              <a:t>p</a:t>
            </a:r>
            <a:r>
              <a:rPr lang="zh-CN" altLang="en-US" b="1" dirty="0">
                <a:ea typeface="宋体" panose="02010600030101010101" pitchFamily="2" charset="-122"/>
              </a:rPr>
              <a:t>调用的过程</a:t>
            </a:r>
            <a:r>
              <a:rPr lang="en-US" altLang="zh-CN" b="1" dirty="0">
                <a:ea typeface="宋体" panose="02010600030101010101" pitchFamily="2" charset="-122"/>
              </a:rPr>
              <a:t>q</a:t>
            </a:r>
            <a:r>
              <a:rPr lang="zh-CN" altLang="en-US" b="1" dirty="0">
                <a:ea typeface="宋体" panose="02010600030101010101" pitchFamily="2" charset="-122"/>
              </a:rPr>
              <a:t>的活动记录在栈中上述数组之上的位置，</a:t>
            </a:r>
            <a:r>
              <a:rPr lang="en-US" altLang="zh-CN" b="1" dirty="0">
                <a:ea typeface="宋体" panose="02010600030101010101" pitchFamily="2" charset="-122"/>
              </a:rPr>
              <a:t>q</a:t>
            </a:r>
            <a:r>
              <a:rPr lang="zh-CN" altLang="en-US" b="1" dirty="0">
                <a:ea typeface="宋体" panose="02010600030101010101" pitchFamily="2" charset="-122"/>
              </a:rPr>
              <a:t>中如果有变长数组，也被分配在</a:t>
            </a:r>
            <a:r>
              <a:rPr lang="en-US" altLang="zh-CN" b="1" dirty="0">
                <a:ea typeface="宋体" panose="02010600030101010101" pitchFamily="2" charset="-122"/>
              </a:rPr>
              <a:t>q</a:t>
            </a:r>
            <a:r>
              <a:rPr lang="zh-CN" altLang="en-US" b="1" dirty="0">
                <a:ea typeface="宋体" panose="02010600030101010101" pitchFamily="2" charset="-122"/>
              </a:rPr>
              <a:t>的活动记录之外</a:t>
            </a:r>
            <a:endParaRPr lang="en-US" altLang="zh-CN" b="1" dirty="0">
              <a:ea typeface="宋体" panose="02010600030101010101" pitchFamily="2" charset="-122"/>
            </a:endParaRPr>
          </a:p>
          <a:p>
            <a:pPr lvl="3"/>
            <a:r>
              <a:rPr lang="zh-CN" altLang="en-US" b="1" dirty="0">
                <a:ea typeface="宋体" panose="02010600030101010101" pitchFamily="2" charset="-122"/>
              </a:rPr>
              <a:t>通过</a:t>
            </a:r>
            <a:r>
              <a:rPr lang="en-US" altLang="zh-CN" b="1" dirty="0">
                <a:ea typeface="宋体" panose="02010600030101010101" pitchFamily="2" charset="-122"/>
              </a:rPr>
              <a:t>top</a:t>
            </a:r>
            <a:r>
              <a:rPr lang="zh-CN" altLang="en-US" b="1" dirty="0">
                <a:ea typeface="宋体" panose="02010600030101010101" pitchFamily="2" charset="-122"/>
              </a:rPr>
              <a:t>和</a:t>
            </a:r>
            <a:r>
              <a:rPr lang="en-US" altLang="zh-CN" b="1" dirty="0">
                <a:ea typeface="宋体" panose="02010600030101010101" pitchFamily="2" charset="-122"/>
              </a:rPr>
              <a:t>top_sp</a:t>
            </a:r>
            <a:r>
              <a:rPr lang="zh-CN" altLang="en-US" b="1" dirty="0">
                <a:ea typeface="宋体" panose="02010600030101010101" pitchFamily="2" charset="-122"/>
              </a:rPr>
              <a:t>指针访问数据</a:t>
            </a:r>
            <a:endParaRPr lang="en-US" altLang="zh-CN" b="1" dirty="0">
              <a:ea typeface="宋体" panose="02010600030101010101" pitchFamily="2" charset="-122"/>
            </a:endParaRPr>
          </a:p>
          <a:p>
            <a:pPr lvl="4"/>
            <a:r>
              <a:rPr lang="en-US" altLang="zh-CN" b="1" dirty="0">
                <a:ea typeface="宋体" panose="02010600030101010101" pitchFamily="2" charset="-122"/>
              </a:rPr>
              <a:t>top</a:t>
            </a:r>
            <a:r>
              <a:rPr lang="zh-CN" altLang="en-US" b="1" dirty="0">
                <a:ea typeface="宋体" panose="02010600030101010101" pitchFamily="2" charset="-122"/>
              </a:rPr>
              <a:t>记录了实际的栈顶，指向了下一个活动记录在栈中开始的位置</a:t>
            </a:r>
            <a:endParaRPr lang="en-US" altLang="zh-CN" b="1" dirty="0">
              <a:ea typeface="宋体" panose="02010600030101010101" pitchFamily="2" charset="-122"/>
            </a:endParaRPr>
          </a:p>
          <a:p>
            <a:pPr lvl="4"/>
            <a:r>
              <a:rPr lang="en-US" altLang="zh-CN" b="1" dirty="0">
                <a:ea typeface="宋体" panose="02010600030101010101" pitchFamily="2" charset="-122"/>
              </a:rPr>
              <a:t>top_sp</a:t>
            </a:r>
            <a:r>
              <a:rPr lang="zh-CN" altLang="en-US" b="1" dirty="0">
                <a:ea typeface="宋体" panose="02010600030101010101" pitchFamily="2" charset="-122"/>
              </a:rPr>
              <a:t>用于找到栈顶活动记录的局部的定长字段，此图中指向了机器状态字段的末端</a:t>
            </a:r>
            <a:endParaRPr lang="en-US" altLang="zh-CN" b="1" dirty="0">
              <a:ea typeface="宋体" panose="02010600030101010101" pitchFamily="2" charset="-122"/>
            </a:endParaRPr>
          </a:p>
          <a:p>
            <a:pPr lvl="4"/>
            <a:r>
              <a:rPr lang="zh-CN" altLang="en-US" b="1" dirty="0">
                <a:ea typeface="宋体" panose="02010600030101010101" pitchFamily="2" charset="-122"/>
              </a:rPr>
              <a:t>运行时，根据实际的活动记录的大小及其开始位置等调整</a:t>
            </a:r>
            <a:r>
              <a:rPr lang="en-US" altLang="zh-CN" b="1" dirty="0">
                <a:ea typeface="宋体" panose="02010600030101010101" pitchFamily="2" charset="-122"/>
              </a:rPr>
              <a:t>top</a:t>
            </a:r>
            <a:r>
              <a:rPr lang="zh-CN" altLang="en-US" b="1" dirty="0">
                <a:ea typeface="宋体" panose="02010600030101010101" pitchFamily="2" charset="-122"/>
              </a:rPr>
              <a:t>和</a:t>
            </a:r>
            <a:r>
              <a:rPr lang="en-US" altLang="zh-CN" b="1" dirty="0">
                <a:ea typeface="宋体" panose="02010600030101010101" pitchFamily="2" charset="-122"/>
              </a:rPr>
              <a:t>top_sp</a:t>
            </a:r>
            <a:r>
              <a:rPr lang="zh-CN" altLang="en-US" b="1" dirty="0">
                <a:ea typeface="宋体" panose="02010600030101010101" pitchFamily="2" charset="-122"/>
              </a:rPr>
              <a:t>的值</a:t>
            </a:r>
            <a:endParaRPr lang="zh-CN" altLang="en-US" b="1" dirty="0">
              <a:ea typeface="宋体" panose="02010600030101010101" pitchFamily="2" charset="-122"/>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存储分配策略（1</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61443" name="Rectangle 3"/>
          <p:cNvSpPr>
            <a:spLocks noGrp="1"/>
          </p:cNvSpPr>
          <p:nvPr>
            <p:ph idx="1"/>
          </p:nvPr>
        </p:nvSpPr>
        <p:spPr>
          <a:xfrm>
            <a:off x="990600" y="1447800"/>
            <a:ext cx="7391400" cy="5105400"/>
          </a:xfrm>
          <a:ln/>
        </p:spPr>
        <p:txBody>
          <a:bodyPr vert="horz" wrap="square" lIns="92075" tIns="46038" rIns="92075" bIns="46038" anchor="t" anchorCtr="0"/>
          <a:p>
            <a:pPr lvl="1">
              <a:lnSpc>
                <a:spcPct val="90000"/>
              </a:lnSpc>
            </a:pPr>
            <a:r>
              <a:rPr lang="zh-CN" altLang="en-US" sz="2200" b="1" dirty="0">
                <a:ea typeface="宋体" panose="02010600030101010101" pitchFamily="2" charset="-122"/>
              </a:rPr>
              <a:t>悬空引用</a:t>
            </a:r>
            <a:endParaRPr lang="en-US" altLang="zh-CN" sz="2200" b="1" dirty="0">
              <a:ea typeface="宋体" panose="02010600030101010101" pitchFamily="2" charset="-122"/>
            </a:endParaRPr>
          </a:p>
          <a:p>
            <a:pPr lvl="2">
              <a:lnSpc>
                <a:spcPct val="90000"/>
              </a:lnSpc>
            </a:pPr>
            <a:r>
              <a:rPr lang="zh-CN" altLang="en-US" sz="2000" b="1" dirty="0">
                <a:ea typeface="宋体" panose="02010600030101010101" pitchFamily="2" charset="-122"/>
              </a:rPr>
              <a:t>引用某个已释放的存储单元称为悬空引用</a:t>
            </a:r>
            <a:endParaRPr lang="zh-CN" altLang="en-US" sz="2000" b="1" dirty="0">
              <a:ea typeface="宋体" panose="02010600030101010101" pitchFamily="2" charset="-122"/>
            </a:endParaRPr>
          </a:p>
          <a:p>
            <a:pPr lvl="3">
              <a:lnSpc>
                <a:spcPct val="90000"/>
              </a:lnSpc>
            </a:pPr>
            <a:r>
              <a:rPr lang="zh-CN" altLang="en-US" sz="1800" b="1" dirty="0">
                <a:ea typeface="宋体" panose="02010600030101010101" pitchFamily="2" charset="-122"/>
              </a:rPr>
              <a:t>这是由于存储空间可以释放</a:t>
            </a:r>
            <a:endParaRPr lang="zh-CN" altLang="en-US" sz="1800" b="1" dirty="0">
              <a:ea typeface="宋体" panose="02010600030101010101" pitchFamily="2" charset="-122"/>
            </a:endParaRPr>
          </a:p>
          <a:p>
            <a:pPr lvl="3">
              <a:lnSpc>
                <a:spcPct val="90000"/>
              </a:lnSpc>
            </a:pPr>
            <a:r>
              <a:rPr lang="zh-CN" altLang="en-US" sz="1800" b="1" dirty="0">
                <a:ea typeface="宋体" panose="02010600030101010101" pitchFamily="2" charset="-122"/>
              </a:rPr>
              <a:t>这是一个逻辑错误：在大多数语言中，释放的存储单元的值是没有定义的</a:t>
            </a:r>
            <a:endParaRPr lang="zh-CN" altLang="en-US" sz="1800" b="1" dirty="0">
              <a:ea typeface="宋体" panose="02010600030101010101" pitchFamily="2" charset="-122"/>
            </a:endParaRPr>
          </a:p>
          <a:p>
            <a:pPr lvl="3">
              <a:lnSpc>
                <a:spcPct val="90000"/>
              </a:lnSpc>
              <a:buFont typeface="Wingdings" panose="05000000000000000000" pitchFamily="2" charset="2"/>
              <a:buNone/>
            </a:pPr>
            <a:r>
              <a:rPr lang="zh-CN" altLang="en-US" sz="1800" b="1" dirty="0">
                <a:ea typeface="宋体" panose="02010600030101010101" pitchFamily="2" charset="-122"/>
              </a:rPr>
              <a:t>	</a:t>
            </a:r>
            <a:r>
              <a:rPr lang="en-US" altLang="zh-CN" sz="1800" b="1" dirty="0">
                <a:ea typeface="宋体" panose="02010600030101010101" pitchFamily="2" charset="-122"/>
              </a:rPr>
              <a:t>main( )</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int *p;</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p := dangle( );</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int * dangle( )</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int i = 23;</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return &amp;i;</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en-US" altLang="zh-CN" sz="1800" b="1" dirty="0">
                <a:ea typeface="宋体" panose="02010600030101010101" pitchFamily="2" charset="-122"/>
              </a:rPr>
              <a:t>	}</a:t>
            </a:r>
            <a:endParaRPr lang="en-US" altLang="zh-CN" sz="1800" b="1" dirty="0">
              <a:ea typeface="宋体" panose="02010600030101010101" pitchFamily="2" charset="-122"/>
            </a:endParaRPr>
          </a:p>
          <a:p>
            <a:pPr lvl="3">
              <a:lnSpc>
                <a:spcPct val="90000"/>
              </a:lnSpc>
              <a:buFont typeface="Wingdings" panose="05000000000000000000" pitchFamily="2" charset="2"/>
              <a:buNone/>
            </a:pPr>
            <a:r>
              <a:rPr lang="zh-CN" altLang="en-US" sz="1800" b="1" dirty="0">
                <a:ea typeface="宋体" panose="02010600030101010101" pitchFamily="2" charset="-122"/>
              </a:rPr>
              <a:t>函数</a:t>
            </a:r>
            <a:r>
              <a:rPr lang="en-US" altLang="zh-CN" sz="1800" b="1" dirty="0">
                <a:ea typeface="宋体" panose="02010600030101010101" pitchFamily="2" charset="-122"/>
              </a:rPr>
              <a:t>dangle</a:t>
            </a:r>
            <a:r>
              <a:rPr lang="zh-CN" altLang="en-US" sz="1800" b="1" dirty="0">
                <a:ea typeface="宋体" panose="02010600030101010101" pitchFamily="2" charset="-122"/>
              </a:rPr>
              <a:t>返回后，指针</a:t>
            </a:r>
            <a:r>
              <a:rPr lang="en-US" altLang="zh-CN" sz="1800" b="1" dirty="0">
                <a:ea typeface="宋体" panose="02010600030101010101" pitchFamily="2" charset="-122"/>
              </a:rPr>
              <a:t>p</a:t>
            </a:r>
            <a:r>
              <a:rPr lang="zh-CN" altLang="en-US" sz="1800" b="1" dirty="0">
                <a:ea typeface="宋体" panose="02010600030101010101" pitchFamily="2" charset="-122"/>
              </a:rPr>
              <a:t>指向一个已释放的存储单元</a:t>
            </a:r>
            <a:endParaRPr lang="zh-CN" altLang="en-US" sz="1800" b="1" dirty="0">
              <a:ea typeface="宋体" panose="02010600030101010101" pitchFamily="2" charset="-122"/>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存储分配策略（1</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63491" name="Rectangle 3"/>
          <p:cNvSpPr>
            <a:spLocks noGrp="1"/>
          </p:cNvSpPr>
          <p:nvPr>
            <p:ph idx="1"/>
          </p:nvPr>
        </p:nvSpPr>
        <p:spPr>
          <a:xfrm>
            <a:off x="755650" y="1524000"/>
            <a:ext cx="7626350" cy="4876800"/>
          </a:xfrm>
          <a:ln/>
        </p:spPr>
        <p:txBody>
          <a:bodyPr vert="horz" wrap="square" lIns="92075" tIns="46038" rIns="92075" bIns="46038" anchor="t" anchorCtr="0"/>
          <a:p>
            <a:pPr lvl="1"/>
            <a:r>
              <a:rPr lang="zh-CN" altLang="en-US" sz="2200" b="1" dirty="0">
                <a:ea typeface="宋体" panose="02010600030101010101" pitchFamily="2" charset="-122"/>
              </a:rPr>
              <a:t>堆分配</a:t>
            </a:r>
            <a:endParaRPr lang="en-US" altLang="zh-CN" sz="2200" b="1" dirty="0">
              <a:ea typeface="宋体" panose="02010600030101010101" pitchFamily="2" charset="-122"/>
            </a:endParaRPr>
          </a:p>
          <a:p>
            <a:pPr lvl="2"/>
            <a:r>
              <a:rPr lang="zh-CN" altLang="en-US" sz="2000" b="1" dirty="0">
                <a:ea typeface="宋体" panose="02010600030101010101" pitchFamily="2" charset="-122"/>
              </a:rPr>
              <a:t>栈分配的局限</a:t>
            </a:r>
            <a:endParaRPr lang="zh-CN" altLang="en-US" sz="2000" b="1" dirty="0">
              <a:ea typeface="宋体" panose="02010600030101010101" pitchFamily="2" charset="-122"/>
            </a:endParaRPr>
          </a:p>
          <a:p>
            <a:pPr lvl="3"/>
            <a:r>
              <a:rPr lang="zh-CN" altLang="en-US" sz="1800" b="1" dirty="0">
                <a:ea typeface="宋体" panose="02010600030101010101" pitchFamily="2" charset="-122"/>
              </a:rPr>
              <a:t>不能使得活动停止时，局部名字的值保持</a:t>
            </a:r>
            <a:endParaRPr lang="zh-CN" altLang="en-US" sz="1800" b="1" dirty="0">
              <a:ea typeface="宋体" panose="02010600030101010101" pitchFamily="2" charset="-122"/>
            </a:endParaRPr>
          </a:p>
          <a:p>
            <a:pPr lvl="3"/>
            <a:r>
              <a:rPr lang="zh-CN" altLang="en-US" sz="1800" b="1" dirty="0">
                <a:ea typeface="宋体" panose="02010600030101010101" pitchFamily="2" charset="-122"/>
              </a:rPr>
              <a:t>被调用者的活动不能比调用者的活动活得更长（否则，活动树不能正确描绘过程间的控制流），只能满足先入后出的次序</a:t>
            </a:r>
            <a:endParaRPr lang="zh-CN" altLang="en-US" sz="1800" b="1" dirty="0">
              <a:ea typeface="宋体" panose="02010600030101010101" pitchFamily="2" charset="-122"/>
            </a:endParaRPr>
          </a:p>
          <a:p>
            <a:pPr lvl="2"/>
            <a:r>
              <a:rPr lang="zh-CN" altLang="en-US" sz="2000" b="1" dirty="0">
                <a:ea typeface="宋体" panose="02010600030101010101" pitchFamily="2" charset="-122"/>
              </a:rPr>
              <a:t>堆分配把连续存储区域分成块</a:t>
            </a:r>
            <a:endParaRPr lang="zh-CN" altLang="en-US" sz="2000" b="1" dirty="0">
              <a:ea typeface="宋体" panose="02010600030101010101" pitchFamily="2" charset="-122"/>
            </a:endParaRPr>
          </a:p>
          <a:p>
            <a:pPr lvl="3"/>
            <a:r>
              <a:rPr lang="zh-CN" altLang="en-US" sz="1800" b="1" dirty="0">
                <a:ea typeface="宋体" panose="02010600030101010101" pitchFamily="2" charset="-122"/>
              </a:rPr>
              <a:t>需要时分配（活动记录或其它对象）</a:t>
            </a:r>
            <a:endParaRPr lang="zh-CN" altLang="en-US" sz="1800" b="1" dirty="0">
              <a:ea typeface="宋体" panose="02010600030101010101" pitchFamily="2" charset="-122"/>
            </a:endParaRPr>
          </a:p>
          <a:p>
            <a:pPr lvl="3"/>
            <a:r>
              <a:rPr lang="zh-CN" altLang="en-US" sz="1800" b="1" dirty="0">
                <a:ea typeface="宋体" panose="02010600030101010101" pitchFamily="2" charset="-122"/>
              </a:rPr>
              <a:t>释放次序任意</a:t>
            </a:r>
            <a:endParaRPr lang="zh-CN" altLang="en-US" sz="1800" b="1" dirty="0">
              <a:ea typeface="宋体" panose="02010600030101010101" pitchFamily="2" charset="-122"/>
            </a:endParaRPr>
          </a:p>
          <a:p>
            <a:pPr lvl="2"/>
            <a:r>
              <a:rPr lang="zh-CN" altLang="en-US" sz="2000" b="1" dirty="0">
                <a:ea typeface="宋体" panose="02010600030101010101" pitchFamily="2" charset="-122"/>
              </a:rPr>
              <a:t>堆可以与栈分配结合起来</a:t>
            </a:r>
            <a:endParaRPr lang="zh-CN" altLang="en-US" sz="2000" b="1" dirty="0">
              <a:ea typeface="宋体" panose="02010600030101010101" pitchFamily="2" charset="-122"/>
            </a:endParaRPr>
          </a:p>
          <a:p>
            <a:pPr lvl="3"/>
            <a:r>
              <a:rPr lang="en-US" altLang="zh-CN" sz="1800" b="1" dirty="0">
                <a:ea typeface="宋体" panose="02010600030101010101" pitchFamily="2" charset="-122"/>
              </a:rPr>
              <a:t>C++</a:t>
            </a:r>
            <a:r>
              <a:rPr lang="zh-CN" altLang="en-US" sz="1800" b="1" dirty="0">
                <a:ea typeface="宋体" panose="02010600030101010101" pitchFamily="2" charset="-122"/>
              </a:rPr>
              <a:t>语言中，基本保持栈的形式，堆用于动态对象的分配</a:t>
            </a:r>
            <a:endParaRPr lang="zh-CN" altLang="en-US" sz="1800" b="1" dirty="0">
              <a:ea typeface="宋体" panose="02010600030101010101" pitchFamily="2" charset="-122"/>
            </a:endParaRPr>
          </a:p>
          <a:p>
            <a:pPr lvl="3"/>
            <a:r>
              <a:rPr lang="en-US" altLang="zh-CN" sz="1800" b="1" dirty="0">
                <a:ea typeface="宋体" panose="02010600030101010101" pitchFamily="2" charset="-122"/>
              </a:rPr>
              <a:t>C、Pascal</a:t>
            </a:r>
            <a:r>
              <a:rPr lang="zh-CN" altLang="en-US" sz="1800" b="1" dirty="0">
                <a:ea typeface="宋体" panose="02010600030101010101" pitchFamily="2" charset="-122"/>
              </a:rPr>
              <a:t>语言中的指针的动态分配等</a:t>
            </a:r>
            <a:endParaRPr lang="zh-CN" altLang="en-US" sz="1800" b="1" dirty="0">
              <a:ea typeface="宋体" panose="02010600030101010101" pitchFamily="2" charset="-122"/>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存储分配策略（1</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65539" name="Rectangle 3"/>
          <p:cNvSpPr>
            <a:spLocks noGrp="1"/>
          </p:cNvSpPr>
          <p:nvPr>
            <p:ph idx="1"/>
          </p:nvPr>
        </p:nvSpPr>
        <p:spPr>
          <a:xfrm>
            <a:off x="990600" y="1524000"/>
            <a:ext cx="7391400" cy="4876800"/>
          </a:xfrm>
          <a:ln/>
        </p:spPr>
        <p:txBody>
          <a:bodyPr vert="horz" wrap="square" lIns="92075" tIns="46038" rIns="92075" bIns="46038" anchor="t" anchorCtr="0"/>
          <a:p>
            <a:pPr lvl="1">
              <a:buNone/>
            </a:pPr>
            <a:r>
              <a:rPr lang="zh-CN" altLang="en-US" sz="2200" b="1" dirty="0">
                <a:ea typeface="宋体" panose="02010600030101010101" pitchFamily="2" charset="-122"/>
              </a:rPr>
              <a:t>堆中，活跃的活动记录不一定相临，可能存在空洞</a:t>
            </a:r>
            <a:endParaRPr lang="en-US" altLang="zh-CN" sz="2200" b="1" dirty="0">
              <a:ea typeface="宋体" panose="02010600030101010101" pitchFamily="2" charset="-122"/>
            </a:endParaRPr>
          </a:p>
        </p:txBody>
      </p:sp>
      <p:graphicFrame>
        <p:nvGraphicFramePr>
          <p:cNvPr id="65540" name="Object 4"/>
          <p:cNvGraphicFramePr>
            <a:graphicFrameLocks noChangeAspect="1"/>
          </p:cNvGraphicFramePr>
          <p:nvPr/>
        </p:nvGraphicFramePr>
        <p:xfrm>
          <a:off x="1676400" y="2209800"/>
          <a:ext cx="5849938" cy="3429000"/>
        </p:xfrm>
        <a:graphic>
          <a:graphicData uri="http://schemas.openxmlformats.org/presentationml/2006/ole">
            <mc:AlternateContent xmlns:mc="http://schemas.openxmlformats.org/markup-compatibility/2006">
              <mc:Choice xmlns:v="urn:schemas-microsoft-com:vml" Requires="v">
                <p:oleObj spid="_x0000_s3076" name="" r:id="rId1" imgW="5847080" imgH="2971800" progId="Visio.Drawing.4">
                  <p:embed/>
                </p:oleObj>
              </mc:Choice>
              <mc:Fallback>
                <p:oleObj name="" r:id="rId1" imgW="5847080" imgH="2971800" progId="Visio.Drawing.4">
                  <p:embed/>
                  <p:pic>
                    <p:nvPicPr>
                      <p:cNvPr id="0" name="图片 3075"/>
                      <p:cNvPicPr/>
                      <p:nvPr/>
                    </p:nvPicPr>
                    <p:blipFill>
                      <a:blip r:embed="rId2"/>
                      <a:stretch>
                        <a:fillRect/>
                      </a:stretch>
                    </p:blipFill>
                    <p:spPr>
                      <a:xfrm>
                        <a:off x="1676400" y="2209800"/>
                        <a:ext cx="5849938" cy="3429000"/>
                      </a:xfrm>
                      <a:prstGeom prst="rect">
                        <a:avLst/>
                      </a:prstGeom>
                      <a:noFill/>
                      <a:ln w="38100">
                        <a:noFill/>
                        <a:miter/>
                      </a:ln>
                    </p:spPr>
                  </p:pic>
                </p:oleObj>
              </mc:Fallback>
            </mc:AlternateContent>
          </a:graphicData>
        </a:graphic>
      </p:graphicFrame>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存储分配策略（1</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67587" name="Rectangle 3"/>
          <p:cNvSpPr>
            <a:spLocks noGrp="1"/>
          </p:cNvSpPr>
          <p:nvPr>
            <p:ph idx="1"/>
          </p:nvPr>
        </p:nvSpPr>
        <p:spPr>
          <a:xfrm>
            <a:off x="990600" y="1600200"/>
            <a:ext cx="7391400" cy="4343400"/>
          </a:xfrm>
          <a:ln/>
        </p:spPr>
        <p:txBody>
          <a:bodyPr vert="horz" wrap="square" lIns="92075" tIns="46038" rIns="92075" bIns="46038" anchor="t" anchorCtr="0"/>
          <a:p>
            <a:pPr lvl="2"/>
            <a:r>
              <a:rPr lang="zh-CN" altLang="en-US" sz="2000" b="1" dirty="0">
                <a:ea typeface="宋体" panose="02010600030101010101" pitchFamily="2" charset="-122"/>
              </a:rPr>
              <a:t>堆的释放</a:t>
            </a:r>
            <a:endParaRPr lang="zh-CN" altLang="en-US" sz="2000" b="1" dirty="0">
              <a:ea typeface="宋体" panose="02010600030101010101" pitchFamily="2" charset="-122"/>
            </a:endParaRPr>
          </a:p>
          <a:p>
            <a:pPr lvl="3"/>
            <a:r>
              <a:rPr lang="zh-CN" altLang="en-US" sz="1800" b="1" dirty="0">
                <a:ea typeface="宋体" panose="02010600030101010101" pitchFamily="2" charset="-122"/>
              </a:rPr>
              <a:t>不释放</a:t>
            </a:r>
            <a:endParaRPr lang="zh-CN" altLang="en-US" sz="1800" b="1" dirty="0">
              <a:ea typeface="宋体" panose="02010600030101010101" pitchFamily="2" charset="-122"/>
            </a:endParaRPr>
          </a:p>
          <a:p>
            <a:pPr lvl="4"/>
            <a:r>
              <a:rPr lang="zh-CN" altLang="en-US" sz="1600" b="1" dirty="0">
                <a:ea typeface="宋体" panose="02010600030101010101" pitchFamily="2" charset="-122"/>
              </a:rPr>
              <a:t>存储空间溢出时停止</a:t>
            </a:r>
            <a:endParaRPr lang="zh-CN" altLang="en-US" sz="1600" b="1" dirty="0">
              <a:ea typeface="宋体" panose="02010600030101010101" pitchFamily="2" charset="-122"/>
            </a:endParaRPr>
          </a:p>
          <a:p>
            <a:pPr lvl="3"/>
            <a:r>
              <a:rPr lang="zh-CN" altLang="en-US" sz="1800" b="1" dirty="0">
                <a:ea typeface="宋体" panose="02010600030101010101" pitchFamily="2" charset="-122"/>
              </a:rPr>
              <a:t>显式释放</a:t>
            </a:r>
            <a:endParaRPr lang="zh-CN" altLang="en-US" sz="1800" b="1" dirty="0">
              <a:ea typeface="宋体" panose="02010600030101010101" pitchFamily="2" charset="-122"/>
            </a:endParaRPr>
          </a:p>
          <a:p>
            <a:pPr lvl="4"/>
            <a:r>
              <a:rPr lang="en-US" altLang="zh-CN" sz="1600" b="1" dirty="0">
                <a:ea typeface="宋体" panose="02010600030101010101" pitchFamily="2" charset="-122"/>
              </a:rPr>
              <a:t>Free（C，PL/1），deallocation（Ada）…</a:t>
            </a:r>
            <a:endParaRPr lang="en-US" altLang="zh-CN" sz="1600" b="1" dirty="0">
              <a:ea typeface="宋体" panose="02010600030101010101" pitchFamily="2" charset="-122"/>
            </a:endParaRPr>
          </a:p>
          <a:p>
            <a:pPr lvl="4"/>
            <a:r>
              <a:rPr lang="zh-CN" altLang="en-US" sz="1600" b="1" dirty="0">
                <a:ea typeface="宋体" panose="02010600030101010101" pitchFamily="2" charset="-122"/>
              </a:rPr>
              <a:t>有可能引起悬挂引用</a:t>
            </a:r>
            <a:endParaRPr lang="zh-CN" altLang="en-US" sz="1600" b="1" dirty="0">
              <a:ea typeface="宋体" panose="02010600030101010101" pitchFamily="2" charset="-122"/>
            </a:endParaRPr>
          </a:p>
          <a:p>
            <a:pPr lvl="3"/>
            <a:r>
              <a:rPr lang="zh-CN" altLang="en-US" sz="1800" b="1" dirty="0">
                <a:ea typeface="宋体" panose="02010600030101010101" pitchFamily="2" charset="-122"/>
              </a:rPr>
              <a:t>隐式释放</a:t>
            </a:r>
            <a:endParaRPr lang="zh-CN" altLang="en-US" sz="1800" b="1" dirty="0">
              <a:ea typeface="宋体" panose="02010600030101010101" pitchFamily="2" charset="-122"/>
            </a:endParaRPr>
          </a:p>
          <a:p>
            <a:pPr lvl="4"/>
            <a:r>
              <a:rPr lang="zh-CN" altLang="en-US" sz="1600" b="1" dirty="0">
                <a:ea typeface="宋体" panose="02010600030101010101" pitchFamily="2" charset="-122"/>
              </a:rPr>
              <a:t>单引用</a:t>
            </a:r>
            <a:endParaRPr lang="zh-CN" altLang="en-US" sz="1600" b="1" dirty="0">
              <a:ea typeface="宋体" panose="02010600030101010101" pitchFamily="2" charset="-122"/>
            </a:endParaRPr>
          </a:p>
          <a:p>
            <a:pPr lvl="4"/>
            <a:r>
              <a:rPr lang="zh-CN" altLang="en-US" sz="1600" b="1" dirty="0">
                <a:ea typeface="宋体" panose="02010600030101010101" pitchFamily="2" charset="-122"/>
              </a:rPr>
              <a:t>引用计数</a:t>
            </a:r>
            <a:endParaRPr lang="zh-CN" altLang="en-US" sz="1600" b="1" dirty="0">
              <a:ea typeface="宋体" panose="02010600030101010101" pitchFamily="2" charset="-122"/>
            </a:endParaRPr>
          </a:p>
          <a:p>
            <a:pPr lvl="4"/>
            <a:r>
              <a:rPr lang="zh-CN" altLang="en-US" sz="1600" b="1" dirty="0">
                <a:ea typeface="宋体" panose="02010600030101010101" pitchFamily="2" charset="-122"/>
              </a:rPr>
              <a:t>垃圾收集（</a:t>
            </a:r>
            <a:r>
              <a:rPr lang="en-US" altLang="zh-CN" sz="1600" b="1" dirty="0">
                <a:ea typeface="宋体" panose="02010600030101010101" pitchFamily="2" charset="-122"/>
              </a:rPr>
              <a:t>Garbage collection）</a:t>
            </a:r>
            <a:endParaRPr lang="en-US" altLang="zh-CN" sz="1600" b="1" dirty="0">
              <a:ea typeface="宋体" panose="02010600030101010101" pitchFamily="2" charset="-122"/>
            </a:endParaRPr>
          </a:p>
          <a:p>
            <a:pPr lvl="2"/>
            <a:r>
              <a:rPr lang="zh-CN" altLang="en-US" sz="2000" b="1" dirty="0">
                <a:ea typeface="宋体" panose="02010600030101010101" pitchFamily="2" charset="-122"/>
              </a:rPr>
              <a:t>堆的分配和释放的优化</a:t>
            </a:r>
            <a:endParaRPr lang="zh-CN" altLang="en-US" sz="2000" b="1" dirty="0">
              <a:ea typeface="宋体" panose="02010600030101010101" pitchFamily="2" charset="-122"/>
            </a:endParaRP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访问非局部名字（1）</a:t>
            </a:r>
            <a:endParaRPr lang="zh-CN" altLang="en-US" dirty="0">
              <a:latin typeface="Times New Roman" panose="02020603050405020304" pitchFamily="18" charset="0"/>
              <a:ea typeface="宋体" panose="02010600030101010101" pitchFamily="2" charset="-122"/>
            </a:endParaRPr>
          </a:p>
        </p:txBody>
      </p:sp>
      <p:sp>
        <p:nvSpPr>
          <p:cNvPr id="69635" name="Rectangle 3"/>
          <p:cNvSpPr>
            <a:spLocks noGrp="1"/>
          </p:cNvSpPr>
          <p:nvPr>
            <p:ph idx="1"/>
          </p:nvPr>
        </p:nvSpPr>
        <p:spPr>
          <a:xfrm>
            <a:off x="990600" y="1600200"/>
            <a:ext cx="7391400" cy="4343400"/>
          </a:xfrm>
          <a:ln/>
        </p:spPr>
        <p:txBody>
          <a:bodyPr vert="horz" wrap="square" lIns="92075" tIns="46038" rIns="92075" bIns="46038" anchor="t" anchorCtr="0"/>
          <a:p>
            <a:r>
              <a:rPr lang="zh-CN" altLang="en-US" sz="2400" b="1" dirty="0">
                <a:ea typeface="宋体" panose="02010600030101010101" pitchFamily="2" charset="-122"/>
              </a:rPr>
              <a:t>如何通过活动记录正确访问名字，满足作用域的要求？</a:t>
            </a:r>
            <a:endParaRPr lang="zh-CN" altLang="en-US" sz="2400" b="1" dirty="0">
              <a:ea typeface="宋体" panose="02010600030101010101" pitchFamily="2" charset="-122"/>
            </a:endParaRPr>
          </a:p>
          <a:p>
            <a:r>
              <a:rPr lang="zh-CN" altLang="en-US" sz="2400" b="1" dirty="0">
                <a:ea typeface="宋体" panose="02010600030101010101" pitchFamily="2" charset="-122"/>
              </a:rPr>
              <a:t>两种作用域</a:t>
            </a:r>
            <a:endParaRPr lang="zh-CN" altLang="en-US" sz="2400" b="1" dirty="0">
              <a:ea typeface="宋体" panose="02010600030101010101" pitchFamily="2" charset="-122"/>
            </a:endParaRPr>
          </a:p>
          <a:p>
            <a:pPr lvl="1"/>
            <a:r>
              <a:rPr lang="zh-CN" altLang="en-US" sz="2200" b="1" dirty="0">
                <a:ea typeface="宋体" panose="02010600030101010101" pitchFamily="2" charset="-122"/>
              </a:rPr>
              <a:t>静态作用域</a:t>
            </a:r>
            <a:endParaRPr lang="zh-CN" altLang="en-US" sz="2200" b="1" dirty="0">
              <a:ea typeface="宋体" panose="02010600030101010101" pitchFamily="2" charset="-122"/>
            </a:endParaRPr>
          </a:p>
          <a:p>
            <a:pPr lvl="2"/>
            <a:r>
              <a:rPr lang="zh-CN" altLang="en-US" sz="2000" b="1" dirty="0">
                <a:ea typeface="宋体" panose="02010600030101010101" pitchFamily="2" charset="-122"/>
              </a:rPr>
              <a:t>根据程序正文决定用于名字的声明</a:t>
            </a:r>
            <a:endParaRPr lang="zh-CN" altLang="en-US" sz="2000" b="1" dirty="0">
              <a:ea typeface="宋体" panose="02010600030101010101" pitchFamily="2" charset="-122"/>
            </a:endParaRPr>
          </a:p>
          <a:p>
            <a:pPr lvl="2"/>
            <a:r>
              <a:rPr lang="zh-CN" altLang="en-US" sz="2000" b="1" dirty="0">
                <a:ea typeface="宋体" panose="02010600030101010101" pitchFamily="2" charset="-122"/>
              </a:rPr>
              <a:t>最接近的嵌套规则</a:t>
            </a:r>
            <a:endParaRPr lang="zh-CN" altLang="en-US" sz="2000" b="1" dirty="0">
              <a:ea typeface="宋体" panose="02010600030101010101" pitchFamily="2" charset="-122"/>
            </a:endParaRPr>
          </a:p>
          <a:p>
            <a:pPr lvl="2"/>
            <a:r>
              <a:rPr lang="zh-CN" altLang="en-US" sz="2000" b="1" dirty="0">
                <a:ea typeface="宋体" panose="02010600030101010101" pitchFamily="2" charset="-122"/>
              </a:rPr>
              <a:t>程序块</a:t>
            </a:r>
            <a:endParaRPr lang="zh-CN" altLang="en-US" sz="2000" b="1" dirty="0">
              <a:ea typeface="宋体" panose="02010600030101010101" pitchFamily="2" charset="-122"/>
            </a:endParaRPr>
          </a:p>
          <a:p>
            <a:pPr lvl="2"/>
            <a:r>
              <a:rPr lang="zh-CN" altLang="en-US" sz="2000" b="1" dirty="0">
                <a:ea typeface="宋体" panose="02010600030101010101" pitchFamily="2" charset="-122"/>
              </a:rPr>
              <a:t>非局部名字的访问：访问链</a:t>
            </a:r>
            <a:endParaRPr lang="zh-CN" altLang="en-US" sz="2000" b="1" dirty="0">
              <a:ea typeface="宋体" panose="02010600030101010101" pitchFamily="2" charset="-122"/>
            </a:endParaRPr>
          </a:p>
          <a:p>
            <a:pPr lvl="1"/>
            <a:r>
              <a:rPr lang="zh-CN" altLang="en-US" sz="2200" b="1" dirty="0">
                <a:ea typeface="宋体" panose="02010600030101010101" pitchFamily="2" charset="-122"/>
              </a:rPr>
              <a:t>动态作用域</a:t>
            </a:r>
            <a:endParaRPr lang="zh-CN" altLang="en-US" sz="2200" b="1" dirty="0">
              <a:ea typeface="宋体" panose="02010600030101010101" pitchFamily="2" charset="-122"/>
            </a:endParaRPr>
          </a:p>
          <a:p>
            <a:pPr lvl="2"/>
            <a:r>
              <a:rPr lang="zh-CN" altLang="en-US" sz="2000" b="1" dirty="0">
                <a:ea typeface="宋体" panose="02010600030101010101" pitchFamily="2" charset="-122"/>
              </a:rPr>
              <a:t>在运行时，根据现行的活动来决定用于名字的声明，如</a:t>
            </a:r>
            <a:r>
              <a:rPr lang="en-US" altLang="zh-CN" sz="2000" b="1" dirty="0">
                <a:ea typeface="宋体" panose="02010600030101010101" pitchFamily="2" charset="-122"/>
              </a:rPr>
              <a:t>Lisp</a:t>
            </a:r>
            <a:r>
              <a:rPr lang="zh-CN" altLang="en-US" sz="2000" b="1" dirty="0">
                <a:ea typeface="宋体" panose="02010600030101010101" pitchFamily="2" charset="-122"/>
              </a:rPr>
              <a:t>等</a:t>
            </a:r>
            <a:endParaRPr lang="zh-CN" altLang="en-US" sz="2000" b="1" dirty="0">
              <a:ea typeface="宋体" panose="02010600030101010101" pitchFamily="2" charset="-122"/>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访问非局部名字（2）</a:t>
            </a:r>
            <a:endParaRPr lang="zh-CN" altLang="en-US" dirty="0">
              <a:latin typeface="Times New Roman" panose="02020603050405020304" pitchFamily="18" charset="0"/>
              <a:ea typeface="宋体" panose="02010600030101010101" pitchFamily="2" charset="-122"/>
            </a:endParaRPr>
          </a:p>
        </p:txBody>
      </p:sp>
      <p:sp>
        <p:nvSpPr>
          <p:cNvPr id="71683" name="Rectangle 3"/>
          <p:cNvSpPr>
            <a:spLocks noGrp="1"/>
          </p:cNvSpPr>
          <p:nvPr>
            <p:ph idx="1"/>
          </p:nvPr>
        </p:nvSpPr>
        <p:spPr>
          <a:xfrm>
            <a:off x="990600" y="1600200"/>
            <a:ext cx="7391400" cy="4343400"/>
          </a:xfrm>
          <a:ln/>
        </p:spPr>
        <p:txBody>
          <a:bodyPr vert="horz" wrap="square" lIns="92075" tIns="46038" rIns="92075" bIns="46038" anchor="t" anchorCtr="0"/>
          <a:p>
            <a:r>
              <a:rPr lang="zh-CN" altLang="en-US" sz="2400" b="1" dirty="0">
                <a:ea typeface="宋体" panose="02010600030101010101" pitchFamily="2" charset="-122"/>
              </a:rPr>
              <a:t>程序块</a:t>
            </a:r>
            <a:endParaRPr lang="zh-CN" altLang="en-US" sz="2400" b="1" dirty="0">
              <a:ea typeface="宋体" panose="02010600030101010101" pitchFamily="2" charset="-122"/>
            </a:endParaRPr>
          </a:p>
          <a:p>
            <a:pPr lvl="1"/>
            <a:r>
              <a:rPr lang="zh-CN" altLang="en-US" sz="2200" b="1" dirty="0">
                <a:ea typeface="宋体" panose="02010600030101010101" pitchFamily="2" charset="-122"/>
              </a:rPr>
              <a:t>定义：</a:t>
            </a:r>
            <a:endParaRPr lang="zh-CN" altLang="en-US" sz="2200" b="1" dirty="0">
              <a:ea typeface="宋体" panose="02010600030101010101" pitchFamily="2" charset="-122"/>
            </a:endParaRPr>
          </a:p>
          <a:p>
            <a:pPr lvl="2"/>
            <a:r>
              <a:rPr lang="zh-CN" altLang="en-US" sz="2000" b="1" dirty="0">
                <a:ea typeface="宋体" panose="02010600030101010101" pitchFamily="2" charset="-122"/>
              </a:rPr>
              <a:t>起源于</a:t>
            </a:r>
            <a:r>
              <a:rPr lang="en-US" altLang="zh-CN" sz="2000" b="1" dirty="0">
                <a:ea typeface="宋体" panose="02010600030101010101" pitchFamily="2" charset="-122"/>
              </a:rPr>
              <a:t>Algol</a:t>
            </a:r>
            <a:endParaRPr lang="en-US" altLang="zh-CN" sz="2000" b="1" dirty="0">
              <a:ea typeface="宋体" panose="02010600030101010101" pitchFamily="2" charset="-122"/>
            </a:endParaRPr>
          </a:p>
          <a:p>
            <a:pPr lvl="2"/>
            <a:r>
              <a:rPr lang="en-US" altLang="zh-CN" sz="2000" b="1" dirty="0">
                <a:ea typeface="宋体" panose="02010600030101010101" pitchFamily="2" charset="-122"/>
              </a:rPr>
              <a:t>C</a:t>
            </a:r>
            <a:r>
              <a:rPr lang="zh-CN" altLang="en-US" sz="2000" b="1" dirty="0">
                <a:ea typeface="宋体" panose="02010600030101010101" pitchFamily="2" charset="-122"/>
              </a:rPr>
              <a:t>语言中的定义：{ </a:t>
            </a:r>
            <a:r>
              <a:rPr lang="en-US" altLang="zh-CN" sz="2000" b="1" i="1" dirty="0">
                <a:ea typeface="宋体" panose="02010600030101010101" pitchFamily="2" charset="-122"/>
              </a:rPr>
              <a:t>declarations   statements</a:t>
            </a:r>
            <a:r>
              <a:rPr lang="en-US" altLang="zh-CN" sz="2000" b="1" dirty="0">
                <a:ea typeface="宋体" panose="02010600030101010101" pitchFamily="2" charset="-122"/>
              </a:rPr>
              <a:t> }</a:t>
            </a:r>
            <a:endParaRPr lang="en-US" altLang="zh-CN" sz="2000" b="1" dirty="0">
              <a:ea typeface="宋体" panose="02010600030101010101" pitchFamily="2" charset="-122"/>
            </a:endParaRPr>
          </a:p>
          <a:p>
            <a:pPr lvl="2"/>
            <a:r>
              <a:rPr lang="zh-CN" altLang="en-US" sz="2000" b="1" dirty="0">
                <a:ea typeface="宋体" panose="02010600030101010101" pitchFamily="2" charset="-122"/>
              </a:rPr>
              <a:t>允许嵌套</a:t>
            </a:r>
            <a:endParaRPr lang="zh-CN" altLang="en-US" sz="2000" b="1" dirty="0">
              <a:ea typeface="宋体" panose="02010600030101010101" pitchFamily="2" charset="-122"/>
            </a:endParaRPr>
          </a:p>
          <a:p>
            <a:pPr lvl="1"/>
            <a:r>
              <a:rPr lang="zh-CN" altLang="en-US" sz="2200" b="1" dirty="0">
                <a:ea typeface="宋体" panose="02010600030101010101" pitchFamily="2" charset="-122"/>
              </a:rPr>
              <a:t>最接近的嵌套规则：</a:t>
            </a:r>
            <a:endParaRPr lang="zh-CN" altLang="en-US" sz="2200" b="1" dirty="0">
              <a:ea typeface="宋体" panose="02010600030101010101" pitchFamily="2" charset="-122"/>
            </a:endParaRPr>
          </a:p>
          <a:p>
            <a:pPr lvl="2"/>
            <a:r>
              <a:rPr lang="zh-CN" altLang="en-US" sz="2000" b="1" dirty="0">
                <a:ea typeface="宋体" panose="02010600030101010101" pitchFamily="2" charset="-122"/>
              </a:rPr>
              <a:t>程序块</a:t>
            </a:r>
            <a:r>
              <a:rPr lang="en-US" altLang="zh-CN" sz="2000" b="1" dirty="0">
                <a:ea typeface="宋体" panose="02010600030101010101" pitchFamily="2" charset="-122"/>
              </a:rPr>
              <a:t>B</a:t>
            </a:r>
            <a:r>
              <a:rPr lang="zh-CN" altLang="en-US" sz="2000" b="1" dirty="0">
                <a:ea typeface="宋体" panose="02010600030101010101" pitchFamily="2" charset="-122"/>
              </a:rPr>
              <a:t>中声明的作用域包括</a:t>
            </a:r>
            <a:r>
              <a:rPr lang="en-US" altLang="zh-CN" sz="2000" b="1" dirty="0">
                <a:ea typeface="宋体" panose="02010600030101010101" pitchFamily="2" charset="-122"/>
              </a:rPr>
              <a:t>B</a:t>
            </a:r>
            <a:endParaRPr lang="en-US" altLang="zh-CN" sz="2000" b="1" dirty="0">
              <a:ea typeface="宋体" panose="02010600030101010101" pitchFamily="2" charset="-122"/>
            </a:endParaRPr>
          </a:p>
          <a:p>
            <a:pPr lvl="2"/>
            <a:r>
              <a:rPr lang="zh-CN" altLang="en-US" sz="2000" b="1" dirty="0">
                <a:ea typeface="宋体" panose="02010600030101010101" pitchFamily="2" charset="-122"/>
              </a:rPr>
              <a:t>如果名字</a:t>
            </a:r>
            <a:r>
              <a:rPr lang="en-US" altLang="zh-CN" sz="2000" b="1" dirty="0">
                <a:ea typeface="宋体" panose="02010600030101010101" pitchFamily="2" charset="-122"/>
              </a:rPr>
              <a:t>x</a:t>
            </a:r>
            <a:r>
              <a:rPr lang="zh-CN" altLang="en-US" sz="2000" b="1" dirty="0">
                <a:ea typeface="宋体" panose="02010600030101010101" pitchFamily="2" charset="-122"/>
              </a:rPr>
              <a:t>没有在</a:t>
            </a:r>
            <a:r>
              <a:rPr lang="en-US" altLang="zh-CN" sz="2000" b="1" dirty="0">
                <a:ea typeface="宋体" panose="02010600030101010101" pitchFamily="2" charset="-122"/>
              </a:rPr>
              <a:t>B</a:t>
            </a:r>
            <a:r>
              <a:rPr lang="zh-CN" altLang="en-US" sz="2000" b="1" dirty="0">
                <a:ea typeface="宋体" panose="02010600030101010101" pitchFamily="2" charset="-122"/>
              </a:rPr>
              <a:t>中声明，则</a:t>
            </a:r>
            <a:r>
              <a:rPr lang="en-US" altLang="zh-CN" sz="2000" b="1" dirty="0">
                <a:ea typeface="宋体" panose="02010600030101010101" pitchFamily="2" charset="-122"/>
              </a:rPr>
              <a:t>B</a:t>
            </a:r>
            <a:r>
              <a:rPr lang="zh-CN" altLang="en-US" sz="2000" b="1" dirty="0">
                <a:ea typeface="宋体" panose="02010600030101010101" pitchFamily="2" charset="-122"/>
              </a:rPr>
              <a:t>中</a:t>
            </a:r>
            <a:r>
              <a:rPr lang="en-US" altLang="zh-CN" sz="2000" b="1" dirty="0">
                <a:ea typeface="宋体" panose="02010600030101010101" pitchFamily="2" charset="-122"/>
              </a:rPr>
              <a:t>x</a:t>
            </a:r>
            <a:r>
              <a:rPr lang="zh-CN" altLang="en-US" sz="2000" b="1" dirty="0">
                <a:ea typeface="宋体" panose="02010600030101010101" pitchFamily="2" charset="-122"/>
              </a:rPr>
              <a:t>的出现是在外围程序块</a:t>
            </a:r>
            <a:r>
              <a:rPr lang="en-US" altLang="zh-CN" sz="2000" b="1" dirty="0">
                <a:ea typeface="宋体" panose="02010600030101010101" pitchFamily="2" charset="-122"/>
              </a:rPr>
              <a:t>B’</a:t>
            </a:r>
            <a:r>
              <a:rPr lang="zh-CN" altLang="en-US" sz="2000" b="1" dirty="0">
                <a:ea typeface="宋体" panose="02010600030101010101" pitchFamily="2" charset="-122"/>
              </a:rPr>
              <a:t>的</a:t>
            </a:r>
            <a:r>
              <a:rPr lang="en-US" altLang="zh-CN" sz="2000" b="1" dirty="0">
                <a:ea typeface="宋体" panose="02010600030101010101" pitchFamily="2" charset="-122"/>
              </a:rPr>
              <a:t>x</a:t>
            </a:r>
            <a:r>
              <a:rPr lang="zh-CN" altLang="en-US" sz="2000" b="1" dirty="0">
                <a:ea typeface="宋体" panose="02010600030101010101" pitchFamily="2" charset="-122"/>
              </a:rPr>
              <a:t>声明的作用域中，且满足：</a:t>
            </a:r>
            <a:endParaRPr lang="zh-CN" altLang="en-US" sz="2000" b="1" dirty="0">
              <a:ea typeface="宋体" panose="02010600030101010101" pitchFamily="2" charset="-122"/>
            </a:endParaRPr>
          </a:p>
          <a:p>
            <a:pPr lvl="3"/>
            <a:r>
              <a:rPr lang="en-US" altLang="zh-CN" sz="1800" b="1" dirty="0">
                <a:ea typeface="宋体" panose="02010600030101010101" pitchFamily="2" charset="-122"/>
              </a:rPr>
              <a:t>B’</a:t>
            </a:r>
            <a:r>
              <a:rPr lang="zh-CN" altLang="en-US" sz="1800" b="1" dirty="0">
                <a:ea typeface="宋体" panose="02010600030101010101" pitchFamily="2" charset="-122"/>
              </a:rPr>
              <a:t>有</a:t>
            </a:r>
            <a:r>
              <a:rPr lang="en-US" altLang="zh-CN" sz="1800" b="1" dirty="0">
                <a:ea typeface="宋体" panose="02010600030101010101" pitchFamily="2" charset="-122"/>
              </a:rPr>
              <a:t>x</a:t>
            </a:r>
            <a:r>
              <a:rPr lang="zh-CN" altLang="en-US" sz="1800" b="1" dirty="0">
                <a:ea typeface="宋体" panose="02010600030101010101" pitchFamily="2" charset="-122"/>
              </a:rPr>
              <a:t>的声明</a:t>
            </a:r>
            <a:endParaRPr lang="zh-CN" altLang="en-US" sz="1800" b="1" dirty="0">
              <a:ea typeface="宋体" panose="02010600030101010101" pitchFamily="2" charset="-122"/>
            </a:endParaRPr>
          </a:p>
          <a:p>
            <a:pPr lvl="3"/>
            <a:r>
              <a:rPr lang="en-US" altLang="zh-CN" sz="1800" b="1" dirty="0">
                <a:ea typeface="宋体" panose="02010600030101010101" pitchFamily="2" charset="-122"/>
              </a:rPr>
              <a:t>B’</a:t>
            </a:r>
            <a:r>
              <a:rPr lang="zh-CN" altLang="en-US" sz="1800" b="1" dirty="0">
                <a:ea typeface="宋体" panose="02010600030101010101" pitchFamily="2" charset="-122"/>
              </a:rPr>
              <a:t>比其它任何含</a:t>
            </a:r>
            <a:r>
              <a:rPr lang="en-US" altLang="zh-CN" sz="1800" b="1" dirty="0">
                <a:ea typeface="宋体" panose="02010600030101010101" pitchFamily="2" charset="-122"/>
              </a:rPr>
              <a:t>x</a:t>
            </a:r>
            <a:r>
              <a:rPr lang="zh-CN" altLang="en-US" sz="1800" b="1" dirty="0">
                <a:ea typeface="宋体" panose="02010600030101010101" pitchFamily="2" charset="-122"/>
              </a:rPr>
              <a:t>声明的程序块更接近被嵌套的</a:t>
            </a:r>
            <a:r>
              <a:rPr lang="en-US" altLang="zh-CN" sz="1800" b="1" dirty="0">
                <a:ea typeface="宋体" panose="02010600030101010101" pitchFamily="2" charset="-122"/>
              </a:rPr>
              <a:t>B</a:t>
            </a:r>
            <a:endParaRPr lang="en-US" altLang="zh-CN" sz="1800" b="1" dirty="0">
              <a:ea typeface="宋体" panose="02010600030101010101" pitchFamily="2" charset="-122"/>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访问非局部名字（3）</a:t>
            </a:r>
            <a:endParaRPr lang="zh-CN" altLang="en-US" dirty="0">
              <a:latin typeface="Times New Roman" panose="02020603050405020304" pitchFamily="18" charset="0"/>
              <a:ea typeface="宋体" panose="02010600030101010101" pitchFamily="2" charset="-122"/>
            </a:endParaRPr>
          </a:p>
        </p:txBody>
      </p:sp>
      <p:sp>
        <p:nvSpPr>
          <p:cNvPr id="73731" name="Rectangle 3"/>
          <p:cNvSpPr>
            <a:spLocks noGrp="1"/>
          </p:cNvSpPr>
          <p:nvPr>
            <p:ph idx="1"/>
          </p:nvPr>
        </p:nvSpPr>
        <p:spPr>
          <a:xfrm>
            <a:off x="990600" y="1447800"/>
            <a:ext cx="7391400" cy="4953000"/>
          </a:xfrm>
          <a:ln/>
        </p:spPr>
        <p:txBody>
          <a:bodyPr vert="horz" wrap="square" lIns="92075" tIns="46038" rIns="92075" bIns="46038" anchor="t" anchorCtr="0"/>
          <a:p>
            <a:pPr>
              <a:buNone/>
            </a:pPr>
            <a:r>
              <a:rPr lang="zh-CN" altLang="en-US" sz="2000" b="1" dirty="0">
                <a:ea typeface="宋体" panose="02010600030101010101" pitchFamily="2" charset="-122"/>
              </a:rPr>
              <a:t>例：非局部名字的引用 </a:t>
            </a:r>
            <a:endParaRPr lang="zh-CN" altLang="en-US" sz="2000" b="1" dirty="0">
              <a:ea typeface="宋体" panose="02010600030101010101" pitchFamily="2" charset="-122"/>
            </a:endParaRPr>
          </a:p>
        </p:txBody>
      </p:sp>
      <p:grpSp>
        <p:nvGrpSpPr>
          <p:cNvPr id="73732" name="Group 11"/>
          <p:cNvGrpSpPr>
            <a:grpSpLocks noChangeAspect="1"/>
          </p:cNvGrpSpPr>
          <p:nvPr/>
        </p:nvGrpSpPr>
        <p:grpSpPr>
          <a:xfrm>
            <a:off x="1371600" y="1935163"/>
            <a:ext cx="6705600" cy="4230687"/>
            <a:chOff x="864" y="1200"/>
            <a:chExt cx="4224" cy="2665"/>
          </a:xfrm>
        </p:grpSpPr>
        <p:sp>
          <p:nvSpPr>
            <p:cNvPr id="73733" name="AutoShape 10"/>
            <p:cNvSpPr>
              <a:spLocks noChangeAspect="1" noTextEdit="1"/>
            </p:cNvSpPr>
            <p:nvPr/>
          </p:nvSpPr>
          <p:spPr>
            <a:xfrm>
              <a:off x="864" y="1200"/>
              <a:ext cx="4224" cy="2665"/>
            </a:xfrm>
            <a:prstGeom prst="rect">
              <a:avLst/>
            </a:prstGeom>
            <a:noFill/>
            <a:ln w="9525">
              <a:noFill/>
            </a:ln>
          </p:spPr>
          <p:txBody>
            <a:bodyPr/>
            <a:p>
              <a:endParaRPr lang="zh-CN" altLang="en-US"/>
            </a:p>
          </p:txBody>
        </p:sp>
        <p:sp>
          <p:nvSpPr>
            <p:cNvPr id="73734" name="Rectangle 12"/>
            <p:cNvSpPr/>
            <p:nvPr/>
          </p:nvSpPr>
          <p:spPr>
            <a:xfrm>
              <a:off x="1255" y="1315"/>
              <a:ext cx="392"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宋体" panose="02010600030101010101" pitchFamily="2" charset="-122"/>
                  <a:ea typeface="宋体" panose="02010600030101010101" pitchFamily="2" charset="-122"/>
                </a:rPr>
                <a:t>main( )</a:t>
              </a:r>
              <a:endParaRPr lang="en-US" altLang="zh-CN" sz="2400" dirty="0">
                <a:ea typeface="宋体" panose="02010600030101010101" pitchFamily="2" charset="-122"/>
              </a:endParaRPr>
            </a:p>
          </p:txBody>
        </p:sp>
        <p:sp>
          <p:nvSpPr>
            <p:cNvPr id="73735" name="Rectangle 13"/>
            <p:cNvSpPr/>
            <p:nvPr/>
          </p:nvSpPr>
          <p:spPr>
            <a:xfrm>
              <a:off x="1255" y="1449"/>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宋体" panose="02010600030101010101" pitchFamily="2" charset="-122"/>
                  <a:ea typeface="宋体" panose="02010600030101010101" pitchFamily="2" charset="-122"/>
                </a:rPr>
                <a:t>{</a:t>
              </a:r>
              <a:endParaRPr lang="en-US" altLang="zh-CN" sz="2400" dirty="0">
                <a:ea typeface="宋体" panose="02010600030101010101" pitchFamily="2" charset="-122"/>
              </a:endParaRPr>
            </a:p>
          </p:txBody>
        </p:sp>
        <p:sp>
          <p:nvSpPr>
            <p:cNvPr id="73736" name="Rectangle 14"/>
            <p:cNvSpPr/>
            <p:nvPr/>
          </p:nvSpPr>
          <p:spPr>
            <a:xfrm>
              <a:off x="1593" y="1583"/>
              <a:ext cx="560"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宋体" panose="02010600030101010101" pitchFamily="2" charset="-122"/>
                  <a:ea typeface="宋体" panose="02010600030101010101" pitchFamily="2" charset="-122"/>
                </a:rPr>
                <a:t>int a = 0;</a:t>
              </a:r>
              <a:endParaRPr lang="en-US" altLang="zh-CN" sz="2400" dirty="0">
                <a:ea typeface="宋体" panose="02010600030101010101" pitchFamily="2" charset="-122"/>
              </a:endParaRPr>
            </a:p>
          </p:txBody>
        </p:sp>
        <p:sp>
          <p:nvSpPr>
            <p:cNvPr id="73737" name="Rectangle 15"/>
            <p:cNvSpPr/>
            <p:nvPr/>
          </p:nvSpPr>
          <p:spPr>
            <a:xfrm>
              <a:off x="1593" y="1717"/>
              <a:ext cx="560"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宋体" panose="02010600030101010101" pitchFamily="2" charset="-122"/>
                  <a:ea typeface="宋体" panose="02010600030101010101" pitchFamily="2" charset="-122"/>
                </a:rPr>
                <a:t>int b = 0;</a:t>
              </a:r>
              <a:endParaRPr lang="en-US" altLang="zh-CN" sz="2400" dirty="0">
                <a:ea typeface="宋体" panose="02010600030101010101" pitchFamily="2" charset="-122"/>
              </a:endParaRPr>
            </a:p>
          </p:txBody>
        </p:sp>
        <p:sp>
          <p:nvSpPr>
            <p:cNvPr id="73738" name="Rectangle 16"/>
            <p:cNvSpPr/>
            <p:nvPr/>
          </p:nvSpPr>
          <p:spPr>
            <a:xfrm>
              <a:off x="1593" y="1851"/>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宋体" panose="02010600030101010101" pitchFamily="2" charset="-122"/>
                  <a:ea typeface="宋体" panose="02010600030101010101" pitchFamily="2" charset="-122"/>
                </a:rPr>
                <a:t>{</a:t>
              </a:r>
              <a:endParaRPr lang="en-US" altLang="zh-CN" sz="2400" dirty="0">
                <a:ea typeface="宋体" panose="02010600030101010101" pitchFamily="2" charset="-122"/>
              </a:endParaRPr>
            </a:p>
          </p:txBody>
        </p:sp>
        <p:sp>
          <p:nvSpPr>
            <p:cNvPr id="73739" name="Rectangle 17"/>
            <p:cNvSpPr/>
            <p:nvPr/>
          </p:nvSpPr>
          <p:spPr>
            <a:xfrm>
              <a:off x="1931" y="1985"/>
              <a:ext cx="560"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宋体" panose="02010600030101010101" pitchFamily="2" charset="-122"/>
                  <a:ea typeface="宋体" panose="02010600030101010101" pitchFamily="2" charset="-122"/>
                </a:rPr>
                <a:t>int b = 1;</a:t>
              </a:r>
              <a:endParaRPr lang="en-US" altLang="zh-CN" sz="2400" dirty="0">
                <a:ea typeface="宋体" panose="02010600030101010101" pitchFamily="2" charset="-122"/>
              </a:endParaRPr>
            </a:p>
          </p:txBody>
        </p:sp>
        <p:sp>
          <p:nvSpPr>
            <p:cNvPr id="73740" name="Rectangle 18"/>
            <p:cNvSpPr/>
            <p:nvPr/>
          </p:nvSpPr>
          <p:spPr>
            <a:xfrm>
              <a:off x="1931" y="2119"/>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宋体" panose="02010600030101010101" pitchFamily="2" charset="-122"/>
                  <a:ea typeface="宋体" panose="02010600030101010101" pitchFamily="2" charset="-122"/>
                </a:rPr>
                <a:t>{</a:t>
              </a:r>
              <a:endParaRPr lang="en-US" altLang="zh-CN" sz="2400" dirty="0">
                <a:ea typeface="宋体" panose="02010600030101010101" pitchFamily="2" charset="-122"/>
              </a:endParaRPr>
            </a:p>
          </p:txBody>
        </p:sp>
        <p:sp>
          <p:nvSpPr>
            <p:cNvPr id="73741" name="Rectangle 19"/>
            <p:cNvSpPr/>
            <p:nvPr/>
          </p:nvSpPr>
          <p:spPr>
            <a:xfrm>
              <a:off x="2270" y="2253"/>
              <a:ext cx="560"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宋体" panose="02010600030101010101" pitchFamily="2" charset="-122"/>
                  <a:ea typeface="宋体" panose="02010600030101010101" pitchFamily="2" charset="-122"/>
                </a:rPr>
                <a:t>int a = 2;</a:t>
              </a:r>
              <a:endParaRPr lang="en-US" altLang="zh-CN" sz="2400" dirty="0">
                <a:ea typeface="宋体" panose="02010600030101010101" pitchFamily="2" charset="-122"/>
              </a:endParaRPr>
            </a:p>
          </p:txBody>
        </p:sp>
        <p:sp>
          <p:nvSpPr>
            <p:cNvPr id="73742" name="Rectangle 20"/>
            <p:cNvSpPr/>
            <p:nvPr/>
          </p:nvSpPr>
          <p:spPr>
            <a:xfrm>
              <a:off x="2270" y="2387"/>
              <a:ext cx="1512"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宋体" panose="02010600030101010101" pitchFamily="2" charset="-122"/>
                  <a:ea typeface="宋体" panose="02010600030101010101" pitchFamily="2" charset="-122"/>
                </a:rPr>
                <a:t>printf(“%d, %d\n”, a, b);</a:t>
              </a:r>
              <a:endParaRPr lang="en-US" altLang="zh-CN" sz="2400" dirty="0">
                <a:ea typeface="宋体" panose="02010600030101010101" pitchFamily="2" charset="-122"/>
              </a:endParaRPr>
            </a:p>
          </p:txBody>
        </p:sp>
        <p:sp>
          <p:nvSpPr>
            <p:cNvPr id="73743" name="Rectangle 21"/>
            <p:cNvSpPr/>
            <p:nvPr/>
          </p:nvSpPr>
          <p:spPr>
            <a:xfrm>
              <a:off x="1931" y="2521"/>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宋体" panose="02010600030101010101" pitchFamily="2" charset="-122"/>
                  <a:ea typeface="宋体" panose="02010600030101010101" pitchFamily="2" charset="-122"/>
                </a:rPr>
                <a:t>}</a:t>
              </a:r>
              <a:endParaRPr lang="en-US" altLang="zh-CN" sz="2400" dirty="0">
                <a:ea typeface="宋体" panose="02010600030101010101" pitchFamily="2" charset="-122"/>
              </a:endParaRPr>
            </a:p>
          </p:txBody>
        </p:sp>
        <p:sp>
          <p:nvSpPr>
            <p:cNvPr id="73744" name="Rectangle 22"/>
            <p:cNvSpPr/>
            <p:nvPr/>
          </p:nvSpPr>
          <p:spPr>
            <a:xfrm>
              <a:off x="1931" y="2655"/>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宋体" panose="02010600030101010101" pitchFamily="2" charset="-122"/>
                  <a:ea typeface="宋体" panose="02010600030101010101" pitchFamily="2" charset="-122"/>
                </a:rPr>
                <a:t>{</a:t>
              </a:r>
              <a:endParaRPr lang="en-US" altLang="zh-CN" sz="2400" dirty="0">
                <a:ea typeface="宋体" panose="02010600030101010101" pitchFamily="2" charset="-122"/>
              </a:endParaRPr>
            </a:p>
          </p:txBody>
        </p:sp>
        <p:sp>
          <p:nvSpPr>
            <p:cNvPr id="73745" name="Rectangle 23"/>
            <p:cNvSpPr/>
            <p:nvPr/>
          </p:nvSpPr>
          <p:spPr>
            <a:xfrm>
              <a:off x="2270" y="2788"/>
              <a:ext cx="560"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宋体" panose="02010600030101010101" pitchFamily="2" charset="-122"/>
                  <a:ea typeface="宋体" panose="02010600030101010101" pitchFamily="2" charset="-122"/>
                </a:rPr>
                <a:t>int b = 3;</a:t>
              </a:r>
              <a:endParaRPr lang="en-US" altLang="zh-CN" sz="2400" dirty="0">
                <a:ea typeface="宋体" panose="02010600030101010101" pitchFamily="2" charset="-122"/>
              </a:endParaRPr>
            </a:p>
          </p:txBody>
        </p:sp>
        <p:sp>
          <p:nvSpPr>
            <p:cNvPr id="73746" name="Rectangle 24"/>
            <p:cNvSpPr/>
            <p:nvPr/>
          </p:nvSpPr>
          <p:spPr>
            <a:xfrm>
              <a:off x="2270" y="2922"/>
              <a:ext cx="1512"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宋体" panose="02010600030101010101" pitchFamily="2" charset="-122"/>
                  <a:ea typeface="宋体" panose="02010600030101010101" pitchFamily="2" charset="-122"/>
                </a:rPr>
                <a:t>printf(“%d, %d\n”, a, b);</a:t>
              </a:r>
              <a:endParaRPr lang="en-US" altLang="zh-CN" sz="2400" dirty="0">
                <a:ea typeface="宋体" panose="02010600030101010101" pitchFamily="2" charset="-122"/>
              </a:endParaRPr>
            </a:p>
          </p:txBody>
        </p:sp>
        <p:sp>
          <p:nvSpPr>
            <p:cNvPr id="73747" name="Rectangle 25"/>
            <p:cNvSpPr/>
            <p:nvPr/>
          </p:nvSpPr>
          <p:spPr>
            <a:xfrm>
              <a:off x="1931" y="3056"/>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宋体" panose="02010600030101010101" pitchFamily="2" charset="-122"/>
                  <a:ea typeface="宋体" panose="02010600030101010101" pitchFamily="2" charset="-122"/>
                </a:rPr>
                <a:t>}</a:t>
              </a:r>
              <a:endParaRPr lang="en-US" altLang="zh-CN" sz="2400" dirty="0">
                <a:ea typeface="宋体" panose="02010600030101010101" pitchFamily="2" charset="-122"/>
              </a:endParaRPr>
            </a:p>
          </p:txBody>
        </p:sp>
        <p:sp>
          <p:nvSpPr>
            <p:cNvPr id="73748" name="Rectangle 26"/>
            <p:cNvSpPr/>
            <p:nvPr/>
          </p:nvSpPr>
          <p:spPr>
            <a:xfrm>
              <a:off x="1931" y="3190"/>
              <a:ext cx="1512"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宋体" panose="02010600030101010101" pitchFamily="2" charset="-122"/>
                  <a:ea typeface="宋体" panose="02010600030101010101" pitchFamily="2" charset="-122"/>
                </a:rPr>
                <a:t>printf(“%d, %d\n”, a, b);</a:t>
              </a:r>
              <a:endParaRPr lang="en-US" altLang="zh-CN" sz="2400" dirty="0">
                <a:ea typeface="宋体" panose="02010600030101010101" pitchFamily="2" charset="-122"/>
              </a:endParaRPr>
            </a:p>
          </p:txBody>
        </p:sp>
        <p:sp>
          <p:nvSpPr>
            <p:cNvPr id="73749" name="Rectangle 27"/>
            <p:cNvSpPr/>
            <p:nvPr/>
          </p:nvSpPr>
          <p:spPr>
            <a:xfrm>
              <a:off x="1593" y="3324"/>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宋体" panose="02010600030101010101" pitchFamily="2" charset="-122"/>
                  <a:ea typeface="宋体" panose="02010600030101010101" pitchFamily="2" charset="-122"/>
                </a:rPr>
                <a:t>}</a:t>
              </a:r>
              <a:endParaRPr lang="en-US" altLang="zh-CN" sz="2400" dirty="0">
                <a:ea typeface="宋体" panose="02010600030101010101" pitchFamily="2" charset="-122"/>
              </a:endParaRPr>
            </a:p>
          </p:txBody>
        </p:sp>
        <p:sp>
          <p:nvSpPr>
            <p:cNvPr id="73750" name="Rectangle 28"/>
            <p:cNvSpPr/>
            <p:nvPr/>
          </p:nvSpPr>
          <p:spPr>
            <a:xfrm>
              <a:off x="1593" y="3458"/>
              <a:ext cx="1512"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宋体" panose="02010600030101010101" pitchFamily="2" charset="-122"/>
                  <a:ea typeface="宋体" panose="02010600030101010101" pitchFamily="2" charset="-122"/>
                </a:rPr>
                <a:t>printf(“%d, %d\n”, a, b);</a:t>
              </a:r>
              <a:endParaRPr lang="en-US" altLang="zh-CN" sz="2400" dirty="0">
                <a:ea typeface="宋体" panose="02010600030101010101" pitchFamily="2" charset="-122"/>
              </a:endParaRPr>
            </a:p>
          </p:txBody>
        </p:sp>
        <p:sp>
          <p:nvSpPr>
            <p:cNvPr id="73751" name="Rectangle 29"/>
            <p:cNvSpPr/>
            <p:nvPr/>
          </p:nvSpPr>
          <p:spPr>
            <a:xfrm>
              <a:off x="1255" y="3592"/>
              <a:ext cx="56"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宋体" panose="02010600030101010101" pitchFamily="2" charset="-122"/>
                  <a:ea typeface="宋体" panose="02010600030101010101" pitchFamily="2" charset="-122"/>
                </a:rPr>
                <a:t>}</a:t>
              </a:r>
              <a:endParaRPr lang="en-US" altLang="zh-CN" sz="2400" dirty="0">
                <a:ea typeface="宋体" panose="02010600030101010101" pitchFamily="2" charset="-122"/>
              </a:endParaRPr>
            </a:p>
          </p:txBody>
        </p:sp>
        <p:sp>
          <p:nvSpPr>
            <p:cNvPr id="73752" name="Rectangle 30"/>
            <p:cNvSpPr/>
            <p:nvPr/>
          </p:nvSpPr>
          <p:spPr>
            <a:xfrm>
              <a:off x="1243" y="2418"/>
              <a:ext cx="48"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200" b="1" dirty="0">
                  <a:solidFill>
                    <a:srgbClr val="000000"/>
                  </a:solidFill>
                  <a:latin typeface="宋体" panose="02010600030101010101" pitchFamily="2" charset="-122"/>
                  <a:ea typeface="宋体" panose="02010600030101010101" pitchFamily="2" charset="-122"/>
                </a:rPr>
                <a:t>B</a:t>
              </a:r>
              <a:endParaRPr lang="en-US" altLang="zh-CN" sz="2400" dirty="0">
                <a:ea typeface="宋体" panose="02010600030101010101" pitchFamily="2" charset="-122"/>
              </a:endParaRPr>
            </a:p>
          </p:txBody>
        </p:sp>
        <p:sp>
          <p:nvSpPr>
            <p:cNvPr id="73753" name="Rectangle 31"/>
            <p:cNvSpPr/>
            <p:nvPr/>
          </p:nvSpPr>
          <p:spPr>
            <a:xfrm>
              <a:off x="1293" y="2477"/>
              <a:ext cx="32" cy="7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800" b="1" dirty="0">
                  <a:solidFill>
                    <a:srgbClr val="000000"/>
                  </a:solidFill>
                  <a:latin typeface="宋体" panose="02010600030101010101" pitchFamily="2" charset="-122"/>
                  <a:ea typeface="宋体" panose="02010600030101010101" pitchFamily="2" charset="-122"/>
                </a:rPr>
                <a:t>0</a:t>
              </a:r>
              <a:endParaRPr lang="en-US" altLang="zh-CN" sz="2400" dirty="0">
                <a:ea typeface="宋体" panose="02010600030101010101" pitchFamily="2" charset="-122"/>
              </a:endParaRPr>
            </a:p>
          </p:txBody>
        </p:sp>
        <p:sp>
          <p:nvSpPr>
            <p:cNvPr id="73754" name="Line 32"/>
            <p:cNvSpPr/>
            <p:nvPr/>
          </p:nvSpPr>
          <p:spPr>
            <a:xfrm>
              <a:off x="1280" y="1567"/>
              <a:ext cx="1" cy="10"/>
            </a:xfrm>
            <a:prstGeom prst="line">
              <a:avLst/>
            </a:prstGeom>
            <a:ln w="15875" cap="flat" cmpd="sng">
              <a:solidFill>
                <a:srgbClr val="000000"/>
              </a:solidFill>
              <a:prstDash val="solid"/>
              <a:headEnd type="none" w="med" len="med"/>
              <a:tailEnd type="none" w="med" len="med"/>
            </a:ln>
          </p:spPr>
        </p:sp>
        <p:sp>
          <p:nvSpPr>
            <p:cNvPr id="73755" name="Line 33"/>
            <p:cNvSpPr/>
            <p:nvPr/>
          </p:nvSpPr>
          <p:spPr>
            <a:xfrm>
              <a:off x="1280" y="1625"/>
              <a:ext cx="1" cy="9"/>
            </a:xfrm>
            <a:prstGeom prst="line">
              <a:avLst/>
            </a:prstGeom>
            <a:ln w="15875" cap="flat" cmpd="sng">
              <a:solidFill>
                <a:srgbClr val="000000"/>
              </a:solidFill>
              <a:prstDash val="solid"/>
              <a:headEnd type="none" w="med" len="med"/>
              <a:tailEnd type="none" w="med" len="med"/>
            </a:ln>
          </p:spPr>
        </p:sp>
        <p:sp>
          <p:nvSpPr>
            <p:cNvPr id="73756" name="Line 34"/>
            <p:cNvSpPr/>
            <p:nvPr/>
          </p:nvSpPr>
          <p:spPr>
            <a:xfrm>
              <a:off x="1280" y="1682"/>
              <a:ext cx="1" cy="10"/>
            </a:xfrm>
            <a:prstGeom prst="line">
              <a:avLst/>
            </a:prstGeom>
            <a:ln w="15875" cap="flat" cmpd="sng">
              <a:solidFill>
                <a:srgbClr val="000000"/>
              </a:solidFill>
              <a:prstDash val="solid"/>
              <a:headEnd type="none" w="med" len="med"/>
              <a:tailEnd type="none" w="med" len="med"/>
            </a:ln>
          </p:spPr>
        </p:sp>
        <p:sp>
          <p:nvSpPr>
            <p:cNvPr id="73757" name="Line 35"/>
            <p:cNvSpPr/>
            <p:nvPr/>
          </p:nvSpPr>
          <p:spPr>
            <a:xfrm>
              <a:off x="1280" y="1740"/>
              <a:ext cx="1" cy="9"/>
            </a:xfrm>
            <a:prstGeom prst="line">
              <a:avLst/>
            </a:prstGeom>
            <a:ln w="15875" cap="flat" cmpd="sng">
              <a:solidFill>
                <a:srgbClr val="000000"/>
              </a:solidFill>
              <a:prstDash val="solid"/>
              <a:headEnd type="none" w="med" len="med"/>
              <a:tailEnd type="none" w="med" len="med"/>
            </a:ln>
          </p:spPr>
        </p:sp>
        <p:sp>
          <p:nvSpPr>
            <p:cNvPr id="73758" name="Line 36"/>
            <p:cNvSpPr/>
            <p:nvPr/>
          </p:nvSpPr>
          <p:spPr>
            <a:xfrm>
              <a:off x="1280" y="1797"/>
              <a:ext cx="1" cy="9"/>
            </a:xfrm>
            <a:prstGeom prst="line">
              <a:avLst/>
            </a:prstGeom>
            <a:ln w="15875" cap="flat" cmpd="sng">
              <a:solidFill>
                <a:srgbClr val="000000"/>
              </a:solidFill>
              <a:prstDash val="solid"/>
              <a:headEnd type="none" w="med" len="med"/>
              <a:tailEnd type="none" w="med" len="med"/>
            </a:ln>
          </p:spPr>
        </p:sp>
        <p:sp>
          <p:nvSpPr>
            <p:cNvPr id="73759" name="Line 37"/>
            <p:cNvSpPr/>
            <p:nvPr/>
          </p:nvSpPr>
          <p:spPr>
            <a:xfrm>
              <a:off x="1280" y="1854"/>
              <a:ext cx="1" cy="10"/>
            </a:xfrm>
            <a:prstGeom prst="line">
              <a:avLst/>
            </a:prstGeom>
            <a:ln w="15875" cap="flat" cmpd="sng">
              <a:solidFill>
                <a:srgbClr val="000000"/>
              </a:solidFill>
              <a:prstDash val="solid"/>
              <a:headEnd type="none" w="med" len="med"/>
              <a:tailEnd type="none" w="med" len="med"/>
            </a:ln>
          </p:spPr>
        </p:sp>
        <p:sp>
          <p:nvSpPr>
            <p:cNvPr id="73760" name="Line 38"/>
            <p:cNvSpPr/>
            <p:nvPr/>
          </p:nvSpPr>
          <p:spPr>
            <a:xfrm>
              <a:off x="1280" y="1912"/>
              <a:ext cx="1" cy="9"/>
            </a:xfrm>
            <a:prstGeom prst="line">
              <a:avLst/>
            </a:prstGeom>
            <a:ln w="15875" cap="flat" cmpd="sng">
              <a:solidFill>
                <a:srgbClr val="000000"/>
              </a:solidFill>
              <a:prstDash val="solid"/>
              <a:headEnd type="none" w="med" len="med"/>
              <a:tailEnd type="none" w="med" len="med"/>
            </a:ln>
          </p:spPr>
        </p:sp>
        <p:sp>
          <p:nvSpPr>
            <p:cNvPr id="73761" name="Line 39"/>
            <p:cNvSpPr/>
            <p:nvPr/>
          </p:nvSpPr>
          <p:spPr>
            <a:xfrm>
              <a:off x="1280" y="1969"/>
              <a:ext cx="1" cy="10"/>
            </a:xfrm>
            <a:prstGeom prst="line">
              <a:avLst/>
            </a:prstGeom>
            <a:ln w="15875" cap="flat" cmpd="sng">
              <a:solidFill>
                <a:srgbClr val="000000"/>
              </a:solidFill>
              <a:prstDash val="solid"/>
              <a:headEnd type="none" w="med" len="med"/>
              <a:tailEnd type="none" w="med" len="med"/>
            </a:ln>
          </p:spPr>
        </p:sp>
        <p:sp>
          <p:nvSpPr>
            <p:cNvPr id="73762" name="Line 40"/>
            <p:cNvSpPr/>
            <p:nvPr/>
          </p:nvSpPr>
          <p:spPr>
            <a:xfrm>
              <a:off x="1280" y="2026"/>
              <a:ext cx="1" cy="10"/>
            </a:xfrm>
            <a:prstGeom prst="line">
              <a:avLst/>
            </a:prstGeom>
            <a:ln w="15875" cap="flat" cmpd="sng">
              <a:solidFill>
                <a:srgbClr val="000000"/>
              </a:solidFill>
              <a:prstDash val="solid"/>
              <a:headEnd type="none" w="med" len="med"/>
              <a:tailEnd type="none" w="med" len="med"/>
            </a:ln>
          </p:spPr>
        </p:sp>
        <p:sp>
          <p:nvSpPr>
            <p:cNvPr id="73763" name="Line 41"/>
            <p:cNvSpPr/>
            <p:nvPr/>
          </p:nvSpPr>
          <p:spPr>
            <a:xfrm>
              <a:off x="1280" y="2084"/>
              <a:ext cx="1" cy="9"/>
            </a:xfrm>
            <a:prstGeom prst="line">
              <a:avLst/>
            </a:prstGeom>
            <a:ln w="15875" cap="flat" cmpd="sng">
              <a:solidFill>
                <a:srgbClr val="000000"/>
              </a:solidFill>
              <a:prstDash val="solid"/>
              <a:headEnd type="none" w="med" len="med"/>
              <a:tailEnd type="none" w="med" len="med"/>
            </a:ln>
          </p:spPr>
        </p:sp>
        <p:sp>
          <p:nvSpPr>
            <p:cNvPr id="73764" name="Line 42"/>
            <p:cNvSpPr/>
            <p:nvPr/>
          </p:nvSpPr>
          <p:spPr>
            <a:xfrm>
              <a:off x="1280" y="2141"/>
              <a:ext cx="1" cy="10"/>
            </a:xfrm>
            <a:prstGeom prst="line">
              <a:avLst/>
            </a:prstGeom>
            <a:ln w="15875" cap="flat" cmpd="sng">
              <a:solidFill>
                <a:srgbClr val="000000"/>
              </a:solidFill>
              <a:prstDash val="solid"/>
              <a:headEnd type="none" w="med" len="med"/>
              <a:tailEnd type="none" w="med" len="med"/>
            </a:ln>
          </p:spPr>
        </p:sp>
        <p:sp>
          <p:nvSpPr>
            <p:cNvPr id="73765" name="Line 43"/>
            <p:cNvSpPr/>
            <p:nvPr/>
          </p:nvSpPr>
          <p:spPr>
            <a:xfrm>
              <a:off x="1280" y="2199"/>
              <a:ext cx="1" cy="9"/>
            </a:xfrm>
            <a:prstGeom prst="line">
              <a:avLst/>
            </a:prstGeom>
            <a:ln w="15875" cap="flat" cmpd="sng">
              <a:solidFill>
                <a:srgbClr val="000000"/>
              </a:solidFill>
              <a:prstDash val="solid"/>
              <a:headEnd type="none" w="med" len="med"/>
              <a:tailEnd type="none" w="med" len="med"/>
            </a:ln>
          </p:spPr>
        </p:sp>
        <p:sp>
          <p:nvSpPr>
            <p:cNvPr id="73766" name="Line 44"/>
            <p:cNvSpPr/>
            <p:nvPr/>
          </p:nvSpPr>
          <p:spPr>
            <a:xfrm>
              <a:off x="1280" y="2256"/>
              <a:ext cx="1" cy="10"/>
            </a:xfrm>
            <a:prstGeom prst="line">
              <a:avLst/>
            </a:prstGeom>
            <a:ln w="15875" cap="flat" cmpd="sng">
              <a:solidFill>
                <a:srgbClr val="000000"/>
              </a:solidFill>
              <a:prstDash val="solid"/>
              <a:headEnd type="none" w="med" len="med"/>
              <a:tailEnd type="none" w="med" len="med"/>
            </a:ln>
          </p:spPr>
        </p:sp>
        <p:sp>
          <p:nvSpPr>
            <p:cNvPr id="73767" name="Line 45"/>
            <p:cNvSpPr/>
            <p:nvPr/>
          </p:nvSpPr>
          <p:spPr>
            <a:xfrm>
              <a:off x="1280" y="2313"/>
              <a:ext cx="1" cy="10"/>
            </a:xfrm>
            <a:prstGeom prst="line">
              <a:avLst/>
            </a:prstGeom>
            <a:ln w="15875" cap="flat" cmpd="sng">
              <a:solidFill>
                <a:srgbClr val="000000"/>
              </a:solidFill>
              <a:prstDash val="solid"/>
              <a:headEnd type="none" w="med" len="med"/>
              <a:tailEnd type="none" w="med" len="med"/>
            </a:ln>
          </p:spPr>
        </p:sp>
        <p:sp>
          <p:nvSpPr>
            <p:cNvPr id="73768" name="Line 46"/>
            <p:cNvSpPr/>
            <p:nvPr/>
          </p:nvSpPr>
          <p:spPr>
            <a:xfrm>
              <a:off x="1280" y="2371"/>
              <a:ext cx="1" cy="9"/>
            </a:xfrm>
            <a:prstGeom prst="line">
              <a:avLst/>
            </a:prstGeom>
            <a:ln w="15875" cap="flat" cmpd="sng">
              <a:solidFill>
                <a:srgbClr val="000000"/>
              </a:solidFill>
              <a:prstDash val="solid"/>
              <a:headEnd type="none" w="med" len="med"/>
              <a:tailEnd type="none" w="med" len="med"/>
            </a:ln>
          </p:spPr>
        </p:sp>
        <p:sp>
          <p:nvSpPr>
            <p:cNvPr id="73769" name="Line 47"/>
            <p:cNvSpPr/>
            <p:nvPr/>
          </p:nvSpPr>
          <p:spPr>
            <a:xfrm>
              <a:off x="1280" y="2538"/>
              <a:ext cx="1" cy="10"/>
            </a:xfrm>
            <a:prstGeom prst="line">
              <a:avLst/>
            </a:prstGeom>
            <a:ln w="15875" cap="flat" cmpd="sng">
              <a:solidFill>
                <a:srgbClr val="000000"/>
              </a:solidFill>
              <a:prstDash val="solid"/>
              <a:headEnd type="none" w="med" len="med"/>
              <a:tailEnd type="none" w="med" len="med"/>
            </a:ln>
          </p:spPr>
        </p:sp>
        <p:sp>
          <p:nvSpPr>
            <p:cNvPr id="73770" name="Line 48"/>
            <p:cNvSpPr/>
            <p:nvPr/>
          </p:nvSpPr>
          <p:spPr>
            <a:xfrm>
              <a:off x="1280" y="2596"/>
              <a:ext cx="1" cy="9"/>
            </a:xfrm>
            <a:prstGeom prst="line">
              <a:avLst/>
            </a:prstGeom>
            <a:ln w="15875" cap="flat" cmpd="sng">
              <a:solidFill>
                <a:srgbClr val="000000"/>
              </a:solidFill>
              <a:prstDash val="solid"/>
              <a:headEnd type="none" w="med" len="med"/>
              <a:tailEnd type="none" w="med" len="med"/>
            </a:ln>
          </p:spPr>
        </p:sp>
        <p:sp>
          <p:nvSpPr>
            <p:cNvPr id="73771" name="Line 49"/>
            <p:cNvSpPr/>
            <p:nvPr/>
          </p:nvSpPr>
          <p:spPr>
            <a:xfrm>
              <a:off x="1280" y="2653"/>
              <a:ext cx="1" cy="10"/>
            </a:xfrm>
            <a:prstGeom prst="line">
              <a:avLst/>
            </a:prstGeom>
            <a:ln w="15875" cap="flat" cmpd="sng">
              <a:solidFill>
                <a:srgbClr val="000000"/>
              </a:solidFill>
              <a:prstDash val="solid"/>
              <a:headEnd type="none" w="med" len="med"/>
              <a:tailEnd type="none" w="med" len="med"/>
            </a:ln>
          </p:spPr>
        </p:sp>
        <p:sp>
          <p:nvSpPr>
            <p:cNvPr id="73772" name="Line 50"/>
            <p:cNvSpPr/>
            <p:nvPr/>
          </p:nvSpPr>
          <p:spPr>
            <a:xfrm>
              <a:off x="1280" y="2710"/>
              <a:ext cx="1" cy="10"/>
            </a:xfrm>
            <a:prstGeom prst="line">
              <a:avLst/>
            </a:prstGeom>
            <a:ln w="15875" cap="flat" cmpd="sng">
              <a:solidFill>
                <a:srgbClr val="000000"/>
              </a:solidFill>
              <a:prstDash val="solid"/>
              <a:headEnd type="none" w="med" len="med"/>
              <a:tailEnd type="none" w="med" len="med"/>
            </a:ln>
          </p:spPr>
        </p:sp>
        <p:sp>
          <p:nvSpPr>
            <p:cNvPr id="73773" name="Line 51"/>
            <p:cNvSpPr/>
            <p:nvPr/>
          </p:nvSpPr>
          <p:spPr>
            <a:xfrm>
              <a:off x="1280" y="2768"/>
              <a:ext cx="1" cy="9"/>
            </a:xfrm>
            <a:prstGeom prst="line">
              <a:avLst/>
            </a:prstGeom>
            <a:ln w="15875" cap="flat" cmpd="sng">
              <a:solidFill>
                <a:srgbClr val="000000"/>
              </a:solidFill>
              <a:prstDash val="solid"/>
              <a:headEnd type="none" w="med" len="med"/>
              <a:tailEnd type="none" w="med" len="med"/>
            </a:ln>
          </p:spPr>
        </p:sp>
        <p:sp>
          <p:nvSpPr>
            <p:cNvPr id="73774" name="Line 52"/>
            <p:cNvSpPr/>
            <p:nvPr/>
          </p:nvSpPr>
          <p:spPr>
            <a:xfrm>
              <a:off x="1280" y="2825"/>
              <a:ext cx="1" cy="10"/>
            </a:xfrm>
            <a:prstGeom prst="line">
              <a:avLst/>
            </a:prstGeom>
            <a:ln w="15875" cap="flat" cmpd="sng">
              <a:solidFill>
                <a:srgbClr val="000000"/>
              </a:solidFill>
              <a:prstDash val="solid"/>
              <a:headEnd type="none" w="med" len="med"/>
              <a:tailEnd type="none" w="med" len="med"/>
            </a:ln>
          </p:spPr>
        </p:sp>
        <p:sp>
          <p:nvSpPr>
            <p:cNvPr id="73775" name="Line 53"/>
            <p:cNvSpPr/>
            <p:nvPr/>
          </p:nvSpPr>
          <p:spPr>
            <a:xfrm>
              <a:off x="1280" y="2883"/>
              <a:ext cx="1" cy="9"/>
            </a:xfrm>
            <a:prstGeom prst="line">
              <a:avLst/>
            </a:prstGeom>
            <a:ln w="15875" cap="flat" cmpd="sng">
              <a:solidFill>
                <a:srgbClr val="000000"/>
              </a:solidFill>
              <a:prstDash val="solid"/>
              <a:headEnd type="none" w="med" len="med"/>
              <a:tailEnd type="none" w="med" len="med"/>
            </a:ln>
          </p:spPr>
        </p:sp>
        <p:sp>
          <p:nvSpPr>
            <p:cNvPr id="73776" name="Line 54"/>
            <p:cNvSpPr/>
            <p:nvPr/>
          </p:nvSpPr>
          <p:spPr>
            <a:xfrm>
              <a:off x="1280" y="2940"/>
              <a:ext cx="1" cy="10"/>
            </a:xfrm>
            <a:prstGeom prst="line">
              <a:avLst/>
            </a:prstGeom>
            <a:ln w="15875" cap="flat" cmpd="sng">
              <a:solidFill>
                <a:srgbClr val="000000"/>
              </a:solidFill>
              <a:prstDash val="solid"/>
              <a:headEnd type="none" w="med" len="med"/>
              <a:tailEnd type="none" w="med" len="med"/>
            </a:ln>
          </p:spPr>
        </p:sp>
        <p:sp>
          <p:nvSpPr>
            <p:cNvPr id="73777" name="Line 55"/>
            <p:cNvSpPr/>
            <p:nvPr/>
          </p:nvSpPr>
          <p:spPr>
            <a:xfrm>
              <a:off x="1280" y="2997"/>
              <a:ext cx="1" cy="10"/>
            </a:xfrm>
            <a:prstGeom prst="line">
              <a:avLst/>
            </a:prstGeom>
            <a:ln w="15875" cap="flat" cmpd="sng">
              <a:solidFill>
                <a:srgbClr val="000000"/>
              </a:solidFill>
              <a:prstDash val="solid"/>
              <a:headEnd type="none" w="med" len="med"/>
              <a:tailEnd type="none" w="med" len="med"/>
            </a:ln>
          </p:spPr>
        </p:sp>
        <p:sp>
          <p:nvSpPr>
            <p:cNvPr id="73778" name="Line 56"/>
            <p:cNvSpPr/>
            <p:nvPr/>
          </p:nvSpPr>
          <p:spPr>
            <a:xfrm>
              <a:off x="1280" y="3055"/>
              <a:ext cx="1" cy="9"/>
            </a:xfrm>
            <a:prstGeom prst="line">
              <a:avLst/>
            </a:prstGeom>
            <a:ln w="15875" cap="flat" cmpd="sng">
              <a:solidFill>
                <a:srgbClr val="000000"/>
              </a:solidFill>
              <a:prstDash val="solid"/>
              <a:headEnd type="none" w="med" len="med"/>
              <a:tailEnd type="none" w="med" len="med"/>
            </a:ln>
          </p:spPr>
        </p:sp>
        <p:sp>
          <p:nvSpPr>
            <p:cNvPr id="73779" name="Line 57"/>
            <p:cNvSpPr/>
            <p:nvPr/>
          </p:nvSpPr>
          <p:spPr>
            <a:xfrm>
              <a:off x="1280" y="3112"/>
              <a:ext cx="1" cy="10"/>
            </a:xfrm>
            <a:prstGeom prst="line">
              <a:avLst/>
            </a:prstGeom>
            <a:ln w="15875" cap="flat" cmpd="sng">
              <a:solidFill>
                <a:srgbClr val="000000"/>
              </a:solidFill>
              <a:prstDash val="solid"/>
              <a:headEnd type="none" w="med" len="med"/>
              <a:tailEnd type="none" w="med" len="med"/>
            </a:ln>
          </p:spPr>
        </p:sp>
        <p:sp>
          <p:nvSpPr>
            <p:cNvPr id="73780" name="Line 58"/>
            <p:cNvSpPr/>
            <p:nvPr/>
          </p:nvSpPr>
          <p:spPr>
            <a:xfrm>
              <a:off x="1280" y="3170"/>
              <a:ext cx="1" cy="9"/>
            </a:xfrm>
            <a:prstGeom prst="line">
              <a:avLst/>
            </a:prstGeom>
            <a:ln w="15875" cap="flat" cmpd="sng">
              <a:solidFill>
                <a:srgbClr val="000000"/>
              </a:solidFill>
              <a:prstDash val="solid"/>
              <a:headEnd type="none" w="med" len="med"/>
              <a:tailEnd type="none" w="med" len="med"/>
            </a:ln>
          </p:spPr>
        </p:sp>
        <p:sp>
          <p:nvSpPr>
            <p:cNvPr id="73781" name="Line 59"/>
            <p:cNvSpPr/>
            <p:nvPr/>
          </p:nvSpPr>
          <p:spPr>
            <a:xfrm>
              <a:off x="1280" y="3227"/>
              <a:ext cx="1" cy="10"/>
            </a:xfrm>
            <a:prstGeom prst="line">
              <a:avLst/>
            </a:prstGeom>
            <a:ln w="15875" cap="flat" cmpd="sng">
              <a:solidFill>
                <a:srgbClr val="000000"/>
              </a:solidFill>
              <a:prstDash val="solid"/>
              <a:headEnd type="none" w="med" len="med"/>
              <a:tailEnd type="none" w="med" len="med"/>
            </a:ln>
          </p:spPr>
        </p:sp>
        <p:sp>
          <p:nvSpPr>
            <p:cNvPr id="73782" name="Line 60"/>
            <p:cNvSpPr/>
            <p:nvPr/>
          </p:nvSpPr>
          <p:spPr>
            <a:xfrm>
              <a:off x="1280" y="3284"/>
              <a:ext cx="1" cy="10"/>
            </a:xfrm>
            <a:prstGeom prst="line">
              <a:avLst/>
            </a:prstGeom>
            <a:ln w="15875" cap="flat" cmpd="sng">
              <a:solidFill>
                <a:srgbClr val="000000"/>
              </a:solidFill>
              <a:prstDash val="solid"/>
              <a:headEnd type="none" w="med" len="med"/>
              <a:tailEnd type="none" w="med" len="med"/>
            </a:ln>
          </p:spPr>
        </p:sp>
        <p:sp>
          <p:nvSpPr>
            <p:cNvPr id="73783" name="Line 61"/>
            <p:cNvSpPr/>
            <p:nvPr/>
          </p:nvSpPr>
          <p:spPr>
            <a:xfrm>
              <a:off x="1280" y="3342"/>
              <a:ext cx="1" cy="9"/>
            </a:xfrm>
            <a:prstGeom prst="line">
              <a:avLst/>
            </a:prstGeom>
            <a:ln w="15875" cap="flat" cmpd="sng">
              <a:solidFill>
                <a:srgbClr val="000000"/>
              </a:solidFill>
              <a:prstDash val="solid"/>
              <a:headEnd type="none" w="med" len="med"/>
              <a:tailEnd type="none" w="med" len="med"/>
            </a:ln>
          </p:spPr>
        </p:sp>
        <p:sp>
          <p:nvSpPr>
            <p:cNvPr id="73784" name="Line 62"/>
            <p:cNvSpPr/>
            <p:nvPr/>
          </p:nvSpPr>
          <p:spPr>
            <a:xfrm>
              <a:off x="1280" y="3399"/>
              <a:ext cx="1" cy="10"/>
            </a:xfrm>
            <a:prstGeom prst="line">
              <a:avLst/>
            </a:prstGeom>
            <a:ln w="15875" cap="flat" cmpd="sng">
              <a:solidFill>
                <a:srgbClr val="000000"/>
              </a:solidFill>
              <a:prstDash val="solid"/>
              <a:headEnd type="none" w="med" len="med"/>
              <a:tailEnd type="none" w="med" len="med"/>
            </a:ln>
          </p:spPr>
        </p:sp>
        <p:sp>
          <p:nvSpPr>
            <p:cNvPr id="73785" name="Line 63"/>
            <p:cNvSpPr/>
            <p:nvPr/>
          </p:nvSpPr>
          <p:spPr>
            <a:xfrm>
              <a:off x="1280" y="3457"/>
              <a:ext cx="1" cy="9"/>
            </a:xfrm>
            <a:prstGeom prst="line">
              <a:avLst/>
            </a:prstGeom>
            <a:ln w="15875" cap="flat" cmpd="sng">
              <a:solidFill>
                <a:srgbClr val="000000"/>
              </a:solidFill>
              <a:prstDash val="solid"/>
              <a:headEnd type="none" w="med" len="med"/>
              <a:tailEnd type="none" w="med" len="med"/>
            </a:ln>
          </p:spPr>
        </p:sp>
        <p:sp>
          <p:nvSpPr>
            <p:cNvPr id="73786" name="Line 64"/>
            <p:cNvSpPr/>
            <p:nvPr/>
          </p:nvSpPr>
          <p:spPr>
            <a:xfrm>
              <a:off x="1280" y="3514"/>
              <a:ext cx="1" cy="10"/>
            </a:xfrm>
            <a:prstGeom prst="line">
              <a:avLst/>
            </a:prstGeom>
            <a:ln w="15875" cap="flat" cmpd="sng">
              <a:solidFill>
                <a:srgbClr val="000000"/>
              </a:solidFill>
              <a:prstDash val="solid"/>
              <a:headEnd type="none" w="med" len="med"/>
              <a:tailEnd type="none" w="med" len="med"/>
            </a:ln>
          </p:spPr>
        </p:sp>
        <p:sp>
          <p:nvSpPr>
            <p:cNvPr id="73787" name="Line 65"/>
            <p:cNvSpPr/>
            <p:nvPr/>
          </p:nvSpPr>
          <p:spPr>
            <a:xfrm>
              <a:off x="1280" y="3571"/>
              <a:ext cx="1" cy="10"/>
            </a:xfrm>
            <a:prstGeom prst="line">
              <a:avLst/>
            </a:prstGeom>
            <a:ln w="15875" cap="flat" cmpd="sng">
              <a:solidFill>
                <a:srgbClr val="000000"/>
              </a:solidFill>
              <a:prstDash val="solid"/>
              <a:headEnd type="none" w="med" len="med"/>
              <a:tailEnd type="none" w="med" len="med"/>
            </a:ln>
          </p:spPr>
        </p:sp>
        <p:sp>
          <p:nvSpPr>
            <p:cNvPr id="73788" name="Rectangle 66"/>
            <p:cNvSpPr/>
            <p:nvPr/>
          </p:nvSpPr>
          <p:spPr>
            <a:xfrm>
              <a:off x="1582" y="2485"/>
              <a:ext cx="48"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200" b="1" dirty="0">
                  <a:solidFill>
                    <a:srgbClr val="000000"/>
                  </a:solidFill>
                  <a:latin typeface="宋体" panose="02010600030101010101" pitchFamily="2" charset="-122"/>
                  <a:ea typeface="宋体" panose="02010600030101010101" pitchFamily="2" charset="-122"/>
                </a:rPr>
                <a:t>B</a:t>
              </a:r>
              <a:endParaRPr lang="en-US" altLang="zh-CN" sz="2400" dirty="0">
                <a:ea typeface="宋体" panose="02010600030101010101" pitchFamily="2" charset="-122"/>
              </a:endParaRPr>
            </a:p>
          </p:txBody>
        </p:sp>
        <p:sp>
          <p:nvSpPr>
            <p:cNvPr id="73789" name="Rectangle 67"/>
            <p:cNvSpPr/>
            <p:nvPr/>
          </p:nvSpPr>
          <p:spPr>
            <a:xfrm>
              <a:off x="1632" y="2544"/>
              <a:ext cx="32" cy="7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800" b="1" dirty="0">
                  <a:solidFill>
                    <a:srgbClr val="000000"/>
                  </a:solidFill>
                  <a:latin typeface="宋体" panose="02010600030101010101" pitchFamily="2" charset="-122"/>
                  <a:ea typeface="宋体" panose="02010600030101010101" pitchFamily="2" charset="-122"/>
                </a:rPr>
                <a:t>1</a:t>
              </a:r>
              <a:endParaRPr lang="en-US" altLang="zh-CN" sz="2400" dirty="0">
                <a:ea typeface="宋体" panose="02010600030101010101" pitchFamily="2" charset="-122"/>
              </a:endParaRPr>
            </a:p>
          </p:txBody>
        </p:sp>
        <p:sp>
          <p:nvSpPr>
            <p:cNvPr id="73790" name="Line 68"/>
            <p:cNvSpPr/>
            <p:nvPr/>
          </p:nvSpPr>
          <p:spPr>
            <a:xfrm>
              <a:off x="1618" y="2019"/>
              <a:ext cx="1" cy="9"/>
            </a:xfrm>
            <a:prstGeom prst="line">
              <a:avLst/>
            </a:prstGeom>
            <a:ln w="15875" cap="flat" cmpd="sng">
              <a:solidFill>
                <a:srgbClr val="000000"/>
              </a:solidFill>
              <a:prstDash val="solid"/>
              <a:headEnd type="none" w="med" len="med"/>
              <a:tailEnd type="none" w="med" len="med"/>
            </a:ln>
          </p:spPr>
        </p:sp>
        <p:sp>
          <p:nvSpPr>
            <p:cNvPr id="73791" name="Line 69"/>
            <p:cNvSpPr/>
            <p:nvPr/>
          </p:nvSpPr>
          <p:spPr>
            <a:xfrm>
              <a:off x="1618" y="2076"/>
              <a:ext cx="1" cy="10"/>
            </a:xfrm>
            <a:prstGeom prst="line">
              <a:avLst/>
            </a:prstGeom>
            <a:ln w="15875" cap="flat" cmpd="sng">
              <a:solidFill>
                <a:srgbClr val="000000"/>
              </a:solidFill>
              <a:prstDash val="solid"/>
              <a:headEnd type="none" w="med" len="med"/>
              <a:tailEnd type="none" w="med" len="med"/>
            </a:ln>
          </p:spPr>
        </p:sp>
        <p:sp>
          <p:nvSpPr>
            <p:cNvPr id="73792" name="Line 70"/>
            <p:cNvSpPr/>
            <p:nvPr/>
          </p:nvSpPr>
          <p:spPr>
            <a:xfrm>
              <a:off x="1618" y="2134"/>
              <a:ext cx="1" cy="9"/>
            </a:xfrm>
            <a:prstGeom prst="line">
              <a:avLst/>
            </a:prstGeom>
            <a:ln w="15875" cap="flat" cmpd="sng">
              <a:solidFill>
                <a:srgbClr val="000000"/>
              </a:solidFill>
              <a:prstDash val="solid"/>
              <a:headEnd type="none" w="med" len="med"/>
              <a:tailEnd type="none" w="med" len="med"/>
            </a:ln>
          </p:spPr>
        </p:sp>
        <p:sp>
          <p:nvSpPr>
            <p:cNvPr id="73793" name="Line 71"/>
            <p:cNvSpPr/>
            <p:nvPr/>
          </p:nvSpPr>
          <p:spPr>
            <a:xfrm>
              <a:off x="1618" y="2191"/>
              <a:ext cx="1" cy="10"/>
            </a:xfrm>
            <a:prstGeom prst="line">
              <a:avLst/>
            </a:prstGeom>
            <a:ln w="15875" cap="flat" cmpd="sng">
              <a:solidFill>
                <a:srgbClr val="000000"/>
              </a:solidFill>
              <a:prstDash val="solid"/>
              <a:headEnd type="none" w="med" len="med"/>
              <a:tailEnd type="none" w="med" len="med"/>
            </a:ln>
          </p:spPr>
        </p:sp>
        <p:sp>
          <p:nvSpPr>
            <p:cNvPr id="73794" name="Line 72"/>
            <p:cNvSpPr/>
            <p:nvPr/>
          </p:nvSpPr>
          <p:spPr>
            <a:xfrm>
              <a:off x="1618" y="2248"/>
              <a:ext cx="1" cy="10"/>
            </a:xfrm>
            <a:prstGeom prst="line">
              <a:avLst/>
            </a:prstGeom>
            <a:ln w="15875" cap="flat" cmpd="sng">
              <a:solidFill>
                <a:srgbClr val="000000"/>
              </a:solidFill>
              <a:prstDash val="solid"/>
              <a:headEnd type="none" w="med" len="med"/>
              <a:tailEnd type="none" w="med" len="med"/>
            </a:ln>
          </p:spPr>
        </p:sp>
        <p:sp>
          <p:nvSpPr>
            <p:cNvPr id="73795" name="Line 73"/>
            <p:cNvSpPr/>
            <p:nvPr/>
          </p:nvSpPr>
          <p:spPr>
            <a:xfrm>
              <a:off x="1618" y="2306"/>
              <a:ext cx="1" cy="9"/>
            </a:xfrm>
            <a:prstGeom prst="line">
              <a:avLst/>
            </a:prstGeom>
            <a:ln w="15875" cap="flat" cmpd="sng">
              <a:solidFill>
                <a:srgbClr val="000000"/>
              </a:solidFill>
              <a:prstDash val="solid"/>
              <a:headEnd type="none" w="med" len="med"/>
              <a:tailEnd type="none" w="med" len="med"/>
            </a:ln>
          </p:spPr>
        </p:sp>
        <p:sp>
          <p:nvSpPr>
            <p:cNvPr id="73796" name="Line 74"/>
            <p:cNvSpPr/>
            <p:nvPr/>
          </p:nvSpPr>
          <p:spPr>
            <a:xfrm>
              <a:off x="1618" y="2363"/>
              <a:ext cx="1" cy="10"/>
            </a:xfrm>
            <a:prstGeom prst="line">
              <a:avLst/>
            </a:prstGeom>
            <a:ln w="15875" cap="flat" cmpd="sng">
              <a:solidFill>
                <a:srgbClr val="000000"/>
              </a:solidFill>
              <a:prstDash val="solid"/>
              <a:headEnd type="none" w="med" len="med"/>
              <a:tailEnd type="none" w="med" len="med"/>
            </a:ln>
          </p:spPr>
        </p:sp>
        <p:sp>
          <p:nvSpPr>
            <p:cNvPr id="73797" name="Line 75"/>
            <p:cNvSpPr/>
            <p:nvPr/>
          </p:nvSpPr>
          <p:spPr>
            <a:xfrm>
              <a:off x="1618" y="2421"/>
              <a:ext cx="1" cy="9"/>
            </a:xfrm>
            <a:prstGeom prst="line">
              <a:avLst/>
            </a:prstGeom>
            <a:ln w="15875" cap="flat" cmpd="sng">
              <a:solidFill>
                <a:srgbClr val="000000"/>
              </a:solidFill>
              <a:prstDash val="solid"/>
              <a:headEnd type="none" w="med" len="med"/>
              <a:tailEnd type="none" w="med" len="med"/>
            </a:ln>
          </p:spPr>
        </p:sp>
        <p:sp>
          <p:nvSpPr>
            <p:cNvPr id="73798" name="Line 76"/>
            <p:cNvSpPr/>
            <p:nvPr/>
          </p:nvSpPr>
          <p:spPr>
            <a:xfrm>
              <a:off x="1618" y="2606"/>
              <a:ext cx="1" cy="10"/>
            </a:xfrm>
            <a:prstGeom prst="line">
              <a:avLst/>
            </a:prstGeom>
            <a:ln w="15875" cap="flat" cmpd="sng">
              <a:solidFill>
                <a:srgbClr val="000000"/>
              </a:solidFill>
              <a:prstDash val="solid"/>
              <a:headEnd type="none" w="med" len="med"/>
              <a:tailEnd type="none" w="med" len="med"/>
            </a:ln>
          </p:spPr>
        </p:sp>
        <p:sp>
          <p:nvSpPr>
            <p:cNvPr id="73799" name="Line 77"/>
            <p:cNvSpPr/>
            <p:nvPr/>
          </p:nvSpPr>
          <p:spPr>
            <a:xfrm>
              <a:off x="1618" y="2664"/>
              <a:ext cx="1" cy="9"/>
            </a:xfrm>
            <a:prstGeom prst="line">
              <a:avLst/>
            </a:prstGeom>
            <a:ln w="15875" cap="flat" cmpd="sng">
              <a:solidFill>
                <a:srgbClr val="000000"/>
              </a:solidFill>
              <a:prstDash val="solid"/>
              <a:headEnd type="none" w="med" len="med"/>
              <a:tailEnd type="none" w="med" len="med"/>
            </a:ln>
          </p:spPr>
        </p:sp>
        <p:sp>
          <p:nvSpPr>
            <p:cNvPr id="73800" name="Line 78"/>
            <p:cNvSpPr/>
            <p:nvPr/>
          </p:nvSpPr>
          <p:spPr>
            <a:xfrm>
              <a:off x="1618" y="2721"/>
              <a:ext cx="1" cy="10"/>
            </a:xfrm>
            <a:prstGeom prst="line">
              <a:avLst/>
            </a:prstGeom>
            <a:ln w="15875" cap="flat" cmpd="sng">
              <a:solidFill>
                <a:srgbClr val="000000"/>
              </a:solidFill>
              <a:prstDash val="solid"/>
              <a:headEnd type="none" w="med" len="med"/>
              <a:tailEnd type="none" w="med" len="med"/>
            </a:ln>
          </p:spPr>
        </p:sp>
        <p:sp>
          <p:nvSpPr>
            <p:cNvPr id="73801" name="Line 79"/>
            <p:cNvSpPr/>
            <p:nvPr/>
          </p:nvSpPr>
          <p:spPr>
            <a:xfrm>
              <a:off x="1618" y="2778"/>
              <a:ext cx="1" cy="10"/>
            </a:xfrm>
            <a:prstGeom prst="line">
              <a:avLst/>
            </a:prstGeom>
            <a:ln w="15875" cap="flat" cmpd="sng">
              <a:solidFill>
                <a:srgbClr val="000000"/>
              </a:solidFill>
              <a:prstDash val="solid"/>
              <a:headEnd type="none" w="med" len="med"/>
              <a:tailEnd type="none" w="med" len="med"/>
            </a:ln>
          </p:spPr>
        </p:sp>
        <p:sp>
          <p:nvSpPr>
            <p:cNvPr id="73802" name="Line 80"/>
            <p:cNvSpPr/>
            <p:nvPr/>
          </p:nvSpPr>
          <p:spPr>
            <a:xfrm>
              <a:off x="1618" y="2836"/>
              <a:ext cx="1" cy="9"/>
            </a:xfrm>
            <a:prstGeom prst="line">
              <a:avLst/>
            </a:prstGeom>
            <a:ln w="15875" cap="flat" cmpd="sng">
              <a:solidFill>
                <a:srgbClr val="000000"/>
              </a:solidFill>
              <a:prstDash val="solid"/>
              <a:headEnd type="none" w="med" len="med"/>
              <a:tailEnd type="none" w="med" len="med"/>
            </a:ln>
          </p:spPr>
        </p:sp>
        <p:sp>
          <p:nvSpPr>
            <p:cNvPr id="73803" name="Line 81"/>
            <p:cNvSpPr/>
            <p:nvPr/>
          </p:nvSpPr>
          <p:spPr>
            <a:xfrm>
              <a:off x="1618" y="2893"/>
              <a:ext cx="1" cy="10"/>
            </a:xfrm>
            <a:prstGeom prst="line">
              <a:avLst/>
            </a:prstGeom>
            <a:ln w="15875" cap="flat" cmpd="sng">
              <a:solidFill>
                <a:srgbClr val="000000"/>
              </a:solidFill>
              <a:prstDash val="solid"/>
              <a:headEnd type="none" w="med" len="med"/>
              <a:tailEnd type="none" w="med" len="med"/>
            </a:ln>
          </p:spPr>
        </p:sp>
        <p:sp>
          <p:nvSpPr>
            <p:cNvPr id="73804" name="Line 82"/>
            <p:cNvSpPr/>
            <p:nvPr/>
          </p:nvSpPr>
          <p:spPr>
            <a:xfrm>
              <a:off x="1618" y="2951"/>
              <a:ext cx="1" cy="9"/>
            </a:xfrm>
            <a:prstGeom prst="line">
              <a:avLst/>
            </a:prstGeom>
            <a:ln w="15875" cap="flat" cmpd="sng">
              <a:solidFill>
                <a:srgbClr val="000000"/>
              </a:solidFill>
              <a:prstDash val="solid"/>
              <a:headEnd type="none" w="med" len="med"/>
              <a:tailEnd type="none" w="med" len="med"/>
            </a:ln>
          </p:spPr>
        </p:sp>
        <p:sp>
          <p:nvSpPr>
            <p:cNvPr id="73805" name="Line 83"/>
            <p:cNvSpPr/>
            <p:nvPr/>
          </p:nvSpPr>
          <p:spPr>
            <a:xfrm>
              <a:off x="1618" y="3008"/>
              <a:ext cx="1" cy="9"/>
            </a:xfrm>
            <a:prstGeom prst="line">
              <a:avLst/>
            </a:prstGeom>
            <a:ln w="15875" cap="flat" cmpd="sng">
              <a:solidFill>
                <a:srgbClr val="000000"/>
              </a:solidFill>
              <a:prstDash val="solid"/>
              <a:headEnd type="none" w="med" len="med"/>
              <a:tailEnd type="none" w="med" len="med"/>
            </a:ln>
          </p:spPr>
        </p:sp>
        <p:sp>
          <p:nvSpPr>
            <p:cNvPr id="73806" name="Line 84"/>
            <p:cNvSpPr/>
            <p:nvPr/>
          </p:nvSpPr>
          <p:spPr>
            <a:xfrm>
              <a:off x="1618" y="3065"/>
              <a:ext cx="1" cy="10"/>
            </a:xfrm>
            <a:prstGeom prst="line">
              <a:avLst/>
            </a:prstGeom>
            <a:ln w="15875" cap="flat" cmpd="sng">
              <a:solidFill>
                <a:srgbClr val="000000"/>
              </a:solidFill>
              <a:prstDash val="solid"/>
              <a:headEnd type="none" w="med" len="med"/>
              <a:tailEnd type="none" w="med" len="med"/>
            </a:ln>
          </p:spPr>
        </p:sp>
        <p:sp>
          <p:nvSpPr>
            <p:cNvPr id="73807" name="Line 85"/>
            <p:cNvSpPr/>
            <p:nvPr/>
          </p:nvSpPr>
          <p:spPr>
            <a:xfrm>
              <a:off x="1618" y="3123"/>
              <a:ext cx="1" cy="9"/>
            </a:xfrm>
            <a:prstGeom prst="line">
              <a:avLst/>
            </a:prstGeom>
            <a:ln w="15875" cap="flat" cmpd="sng">
              <a:solidFill>
                <a:srgbClr val="000000"/>
              </a:solidFill>
              <a:prstDash val="solid"/>
              <a:headEnd type="none" w="med" len="med"/>
              <a:tailEnd type="none" w="med" len="med"/>
            </a:ln>
          </p:spPr>
        </p:sp>
        <p:sp>
          <p:nvSpPr>
            <p:cNvPr id="73808" name="Line 86"/>
            <p:cNvSpPr/>
            <p:nvPr/>
          </p:nvSpPr>
          <p:spPr>
            <a:xfrm>
              <a:off x="1618" y="3180"/>
              <a:ext cx="1" cy="10"/>
            </a:xfrm>
            <a:prstGeom prst="line">
              <a:avLst/>
            </a:prstGeom>
            <a:ln w="15875" cap="flat" cmpd="sng">
              <a:solidFill>
                <a:srgbClr val="000000"/>
              </a:solidFill>
              <a:prstDash val="solid"/>
              <a:headEnd type="none" w="med" len="med"/>
              <a:tailEnd type="none" w="med" len="med"/>
            </a:ln>
          </p:spPr>
        </p:sp>
        <p:sp>
          <p:nvSpPr>
            <p:cNvPr id="73809" name="Line 87"/>
            <p:cNvSpPr/>
            <p:nvPr/>
          </p:nvSpPr>
          <p:spPr>
            <a:xfrm>
              <a:off x="1618" y="3237"/>
              <a:ext cx="1" cy="10"/>
            </a:xfrm>
            <a:prstGeom prst="line">
              <a:avLst/>
            </a:prstGeom>
            <a:ln w="15875" cap="flat" cmpd="sng">
              <a:solidFill>
                <a:srgbClr val="000000"/>
              </a:solidFill>
              <a:prstDash val="solid"/>
              <a:headEnd type="none" w="med" len="med"/>
              <a:tailEnd type="none" w="med" len="med"/>
            </a:ln>
          </p:spPr>
        </p:sp>
        <p:sp>
          <p:nvSpPr>
            <p:cNvPr id="73810" name="Line 88"/>
            <p:cNvSpPr/>
            <p:nvPr/>
          </p:nvSpPr>
          <p:spPr>
            <a:xfrm>
              <a:off x="1618" y="3295"/>
              <a:ext cx="1" cy="9"/>
            </a:xfrm>
            <a:prstGeom prst="line">
              <a:avLst/>
            </a:prstGeom>
            <a:ln w="15875" cap="flat" cmpd="sng">
              <a:solidFill>
                <a:srgbClr val="000000"/>
              </a:solidFill>
              <a:prstDash val="solid"/>
              <a:headEnd type="none" w="med" len="med"/>
              <a:tailEnd type="none" w="med" len="med"/>
            </a:ln>
          </p:spPr>
        </p:sp>
        <p:sp>
          <p:nvSpPr>
            <p:cNvPr id="73811" name="Rectangle 89"/>
            <p:cNvSpPr/>
            <p:nvPr/>
          </p:nvSpPr>
          <p:spPr>
            <a:xfrm>
              <a:off x="1921" y="2304"/>
              <a:ext cx="48"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200" b="1" dirty="0">
                  <a:solidFill>
                    <a:srgbClr val="000000"/>
                  </a:solidFill>
                  <a:latin typeface="宋体" panose="02010600030101010101" pitchFamily="2" charset="-122"/>
                  <a:ea typeface="宋体" panose="02010600030101010101" pitchFamily="2" charset="-122"/>
                </a:rPr>
                <a:t>B</a:t>
              </a:r>
              <a:endParaRPr lang="en-US" altLang="zh-CN" sz="2400" dirty="0">
                <a:ea typeface="宋体" panose="02010600030101010101" pitchFamily="2" charset="-122"/>
              </a:endParaRPr>
            </a:p>
          </p:txBody>
        </p:sp>
        <p:sp>
          <p:nvSpPr>
            <p:cNvPr id="73812" name="Rectangle 90"/>
            <p:cNvSpPr/>
            <p:nvPr/>
          </p:nvSpPr>
          <p:spPr>
            <a:xfrm>
              <a:off x="1970" y="2364"/>
              <a:ext cx="32" cy="7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800" b="1" dirty="0">
                  <a:solidFill>
                    <a:srgbClr val="000000"/>
                  </a:solidFill>
                  <a:latin typeface="宋体" panose="02010600030101010101" pitchFamily="2" charset="-122"/>
                  <a:ea typeface="宋体" panose="02010600030101010101" pitchFamily="2" charset="-122"/>
                </a:rPr>
                <a:t>2</a:t>
              </a:r>
              <a:endParaRPr lang="en-US" altLang="zh-CN" sz="2400" dirty="0">
                <a:ea typeface="宋体" panose="02010600030101010101" pitchFamily="2" charset="-122"/>
              </a:endParaRPr>
            </a:p>
          </p:txBody>
        </p:sp>
        <p:sp>
          <p:nvSpPr>
            <p:cNvPr id="73813" name="Line 91"/>
            <p:cNvSpPr/>
            <p:nvPr/>
          </p:nvSpPr>
          <p:spPr>
            <a:xfrm>
              <a:off x="1956" y="2245"/>
              <a:ext cx="1" cy="9"/>
            </a:xfrm>
            <a:prstGeom prst="line">
              <a:avLst/>
            </a:prstGeom>
            <a:ln w="15875" cap="flat" cmpd="sng">
              <a:solidFill>
                <a:srgbClr val="000000"/>
              </a:solidFill>
              <a:prstDash val="solid"/>
              <a:headEnd type="none" w="med" len="med"/>
              <a:tailEnd type="none" w="med" len="med"/>
            </a:ln>
          </p:spPr>
        </p:sp>
        <p:sp>
          <p:nvSpPr>
            <p:cNvPr id="73814" name="Line 92"/>
            <p:cNvSpPr/>
            <p:nvPr/>
          </p:nvSpPr>
          <p:spPr>
            <a:xfrm>
              <a:off x="1956" y="2425"/>
              <a:ext cx="1" cy="10"/>
            </a:xfrm>
            <a:prstGeom prst="line">
              <a:avLst/>
            </a:prstGeom>
            <a:ln w="15875" cap="flat" cmpd="sng">
              <a:solidFill>
                <a:srgbClr val="000000"/>
              </a:solidFill>
              <a:prstDash val="solid"/>
              <a:headEnd type="none" w="med" len="med"/>
              <a:tailEnd type="none" w="med" len="med"/>
            </a:ln>
          </p:spPr>
        </p:sp>
        <p:sp>
          <p:nvSpPr>
            <p:cNvPr id="73815" name="Line 93"/>
            <p:cNvSpPr/>
            <p:nvPr/>
          </p:nvSpPr>
          <p:spPr>
            <a:xfrm>
              <a:off x="1956" y="2483"/>
              <a:ext cx="1" cy="9"/>
            </a:xfrm>
            <a:prstGeom prst="line">
              <a:avLst/>
            </a:prstGeom>
            <a:ln w="15875" cap="flat" cmpd="sng">
              <a:solidFill>
                <a:srgbClr val="000000"/>
              </a:solidFill>
              <a:prstDash val="solid"/>
              <a:headEnd type="none" w="med" len="med"/>
              <a:tailEnd type="none" w="med" len="med"/>
            </a:ln>
          </p:spPr>
        </p:sp>
        <p:sp>
          <p:nvSpPr>
            <p:cNvPr id="73816" name="Rectangle 94"/>
            <p:cNvSpPr/>
            <p:nvPr/>
          </p:nvSpPr>
          <p:spPr>
            <a:xfrm>
              <a:off x="1921" y="2836"/>
              <a:ext cx="48"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200" b="1" dirty="0">
                  <a:solidFill>
                    <a:srgbClr val="000000"/>
                  </a:solidFill>
                  <a:latin typeface="宋体" panose="02010600030101010101" pitchFamily="2" charset="-122"/>
                  <a:ea typeface="宋体" panose="02010600030101010101" pitchFamily="2" charset="-122"/>
                </a:rPr>
                <a:t>B</a:t>
              </a:r>
              <a:endParaRPr lang="en-US" altLang="zh-CN" sz="2400" dirty="0">
                <a:ea typeface="宋体" panose="02010600030101010101" pitchFamily="2" charset="-122"/>
              </a:endParaRPr>
            </a:p>
          </p:txBody>
        </p:sp>
        <p:sp>
          <p:nvSpPr>
            <p:cNvPr id="73817" name="Rectangle 95"/>
            <p:cNvSpPr/>
            <p:nvPr/>
          </p:nvSpPr>
          <p:spPr>
            <a:xfrm>
              <a:off x="1970" y="2895"/>
              <a:ext cx="32" cy="7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800" b="1" dirty="0">
                  <a:solidFill>
                    <a:srgbClr val="000000"/>
                  </a:solidFill>
                  <a:latin typeface="宋体" panose="02010600030101010101" pitchFamily="2" charset="-122"/>
                  <a:ea typeface="宋体" panose="02010600030101010101" pitchFamily="2" charset="-122"/>
                </a:rPr>
                <a:t>3</a:t>
              </a:r>
              <a:endParaRPr lang="en-US" altLang="zh-CN" sz="2400" dirty="0">
                <a:ea typeface="宋体" panose="02010600030101010101" pitchFamily="2" charset="-122"/>
              </a:endParaRPr>
            </a:p>
          </p:txBody>
        </p:sp>
        <p:sp>
          <p:nvSpPr>
            <p:cNvPr id="73818" name="Line 96"/>
            <p:cNvSpPr/>
            <p:nvPr/>
          </p:nvSpPr>
          <p:spPr>
            <a:xfrm>
              <a:off x="1956" y="2775"/>
              <a:ext cx="1" cy="10"/>
            </a:xfrm>
            <a:prstGeom prst="line">
              <a:avLst/>
            </a:prstGeom>
            <a:ln w="15875" cap="flat" cmpd="sng">
              <a:solidFill>
                <a:srgbClr val="000000"/>
              </a:solidFill>
              <a:prstDash val="solid"/>
              <a:headEnd type="none" w="med" len="med"/>
              <a:tailEnd type="none" w="med" len="med"/>
            </a:ln>
          </p:spPr>
        </p:sp>
        <p:sp>
          <p:nvSpPr>
            <p:cNvPr id="73819" name="Line 97"/>
            <p:cNvSpPr/>
            <p:nvPr/>
          </p:nvSpPr>
          <p:spPr>
            <a:xfrm>
              <a:off x="1956" y="2956"/>
              <a:ext cx="1" cy="10"/>
            </a:xfrm>
            <a:prstGeom prst="line">
              <a:avLst/>
            </a:prstGeom>
            <a:ln w="15875" cap="flat" cmpd="sng">
              <a:solidFill>
                <a:srgbClr val="000000"/>
              </a:solidFill>
              <a:prstDash val="solid"/>
              <a:headEnd type="none" w="med" len="med"/>
              <a:tailEnd type="none" w="med" len="med"/>
            </a:ln>
          </p:spPr>
        </p:sp>
        <p:sp>
          <p:nvSpPr>
            <p:cNvPr id="73820" name="Line 98"/>
            <p:cNvSpPr/>
            <p:nvPr/>
          </p:nvSpPr>
          <p:spPr>
            <a:xfrm>
              <a:off x="1956" y="3014"/>
              <a:ext cx="1" cy="9"/>
            </a:xfrm>
            <a:prstGeom prst="line">
              <a:avLst/>
            </a:prstGeom>
            <a:ln w="15875" cap="flat" cmpd="sng">
              <a:solidFill>
                <a:srgbClr val="000000"/>
              </a:solidFill>
              <a:prstDash val="solid"/>
              <a:headEnd type="none" w="med" len="med"/>
              <a:tailEnd type="none" w="med" len="med"/>
            </a:ln>
          </p:spPr>
        </p:sp>
        <p:sp>
          <p:nvSpPr>
            <p:cNvPr id="73821" name="Rectangle 99"/>
            <p:cNvSpPr/>
            <p:nvPr/>
          </p:nvSpPr>
          <p:spPr>
            <a:xfrm>
              <a:off x="4114" y="1310"/>
              <a:ext cx="192"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zh-CN" altLang="en-US" sz="1200" b="1" dirty="0">
                  <a:solidFill>
                    <a:srgbClr val="000000"/>
                  </a:solidFill>
                  <a:latin typeface="宋体" panose="02010600030101010101" pitchFamily="2" charset="-122"/>
                  <a:ea typeface="宋体" panose="02010600030101010101" pitchFamily="2" charset="-122"/>
                </a:rPr>
                <a:t>声明</a:t>
              </a:r>
              <a:endParaRPr lang="zh-CN" altLang="en-US" sz="2400" dirty="0">
                <a:ea typeface="宋体" panose="02010600030101010101" pitchFamily="2" charset="-122"/>
              </a:endParaRPr>
            </a:p>
          </p:txBody>
        </p:sp>
        <p:sp>
          <p:nvSpPr>
            <p:cNvPr id="73822" name="Rectangle 100"/>
            <p:cNvSpPr/>
            <p:nvPr/>
          </p:nvSpPr>
          <p:spPr>
            <a:xfrm>
              <a:off x="4687" y="1310"/>
              <a:ext cx="288"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zh-CN" altLang="en-US" sz="1200" b="1" dirty="0">
                  <a:solidFill>
                    <a:srgbClr val="000000"/>
                  </a:solidFill>
                  <a:latin typeface="宋体" panose="02010600030101010101" pitchFamily="2" charset="-122"/>
                  <a:ea typeface="宋体" panose="02010600030101010101" pitchFamily="2" charset="-122"/>
                </a:rPr>
                <a:t>作用域</a:t>
              </a:r>
              <a:endParaRPr lang="zh-CN" altLang="en-US" sz="2400" dirty="0">
                <a:ea typeface="宋体" panose="02010600030101010101" pitchFamily="2" charset="-122"/>
              </a:endParaRPr>
            </a:p>
          </p:txBody>
        </p:sp>
        <p:sp>
          <p:nvSpPr>
            <p:cNvPr id="73823" name="Rectangle 101"/>
            <p:cNvSpPr/>
            <p:nvPr/>
          </p:nvSpPr>
          <p:spPr>
            <a:xfrm>
              <a:off x="3964" y="1480"/>
              <a:ext cx="480"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200" b="1" dirty="0">
                  <a:solidFill>
                    <a:srgbClr val="000000"/>
                  </a:solidFill>
                  <a:latin typeface="宋体" panose="02010600030101010101" pitchFamily="2" charset="-122"/>
                  <a:ea typeface="宋体" panose="02010600030101010101" pitchFamily="2" charset="-122"/>
                </a:rPr>
                <a:t>int a = 0;</a:t>
              </a:r>
              <a:endParaRPr lang="en-US" altLang="zh-CN" sz="2400" dirty="0">
                <a:ea typeface="宋体" panose="02010600030101010101" pitchFamily="2" charset="-122"/>
              </a:endParaRPr>
            </a:p>
          </p:txBody>
        </p:sp>
        <p:sp>
          <p:nvSpPr>
            <p:cNvPr id="73824" name="Rectangle 102"/>
            <p:cNvSpPr/>
            <p:nvPr/>
          </p:nvSpPr>
          <p:spPr>
            <a:xfrm>
              <a:off x="4725" y="1480"/>
              <a:ext cx="48"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200" b="1" dirty="0">
                  <a:solidFill>
                    <a:srgbClr val="000000"/>
                  </a:solidFill>
                  <a:latin typeface="宋体" panose="02010600030101010101" pitchFamily="2" charset="-122"/>
                  <a:ea typeface="宋体" panose="02010600030101010101" pitchFamily="2" charset="-122"/>
                </a:rPr>
                <a:t>B</a:t>
              </a:r>
              <a:endParaRPr lang="en-US" altLang="zh-CN" sz="2400" dirty="0">
                <a:ea typeface="宋体" panose="02010600030101010101" pitchFamily="2" charset="-122"/>
              </a:endParaRPr>
            </a:p>
          </p:txBody>
        </p:sp>
        <p:sp>
          <p:nvSpPr>
            <p:cNvPr id="73825" name="Rectangle 103"/>
            <p:cNvSpPr/>
            <p:nvPr/>
          </p:nvSpPr>
          <p:spPr>
            <a:xfrm>
              <a:off x="4775" y="1539"/>
              <a:ext cx="32" cy="7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800" b="1" dirty="0">
                  <a:solidFill>
                    <a:srgbClr val="000000"/>
                  </a:solidFill>
                  <a:latin typeface="宋体" panose="02010600030101010101" pitchFamily="2" charset="-122"/>
                  <a:ea typeface="宋体" panose="02010600030101010101" pitchFamily="2" charset="-122"/>
                </a:rPr>
                <a:t>0</a:t>
              </a:r>
              <a:endParaRPr lang="en-US" altLang="zh-CN" sz="2400" dirty="0">
                <a:ea typeface="宋体" panose="02010600030101010101" pitchFamily="2" charset="-122"/>
              </a:endParaRPr>
            </a:p>
          </p:txBody>
        </p:sp>
        <p:sp>
          <p:nvSpPr>
            <p:cNvPr id="73826" name="Rectangle 104"/>
            <p:cNvSpPr/>
            <p:nvPr/>
          </p:nvSpPr>
          <p:spPr>
            <a:xfrm>
              <a:off x="4809" y="1480"/>
              <a:ext cx="96"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200" b="1" dirty="0">
                  <a:solidFill>
                    <a:srgbClr val="000000"/>
                  </a:solidFill>
                  <a:latin typeface="宋体" panose="02010600030101010101" pitchFamily="2" charset="-122"/>
                  <a:ea typeface="宋体" panose="02010600030101010101" pitchFamily="2" charset="-122"/>
                </a:rPr>
                <a:t>-B</a:t>
              </a:r>
              <a:endParaRPr lang="en-US" altLang="zh-CN" sz="2400" dirty="0">
                <a:ea typeface="宋体" panose="02010600030101010101" pitchFamily="2" charset="-122"/>
              </a:endParaRPr>
            </a:p>
          </p:txBody>
        </p:sp>
        <p:sp>
          <p:nvSpPr>
            <p:cNvPr id="73827" name="Rectangle 105"/>
            <p:cNvSpPr/>
            <p:nvPr/>
          </p:nvSpPr>
          <p:spPr>
            <a:xfrm>
              <a:off x="4908" y="1539"/>
              <a:ext cx="32" cy="7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800" b="1" dirty="0">
                  <a:solidFill>
                    <a:srgbClr val="000000"/>
                  </a:solidFill>
                  <a:latin typeface="宋体" panose="02010600030101010101" pitchFamily="2" charset="-122"/>
                  <a:ea typeface="宋体" panose="02010600030101010101" pitchFamily="2" charset="-122"/>
                </a:rPr>
                <a:t>2</a:t>
              </a:r>
              <a:endParaRPr lang="en-US" altLang="zh-CN" sz="2400" dirty="0">
                <a:ea typeface="宋体" panose="02010600030101010101" pitchFamily="2" charset="-122"/>
              </a:endParaRPr>
            </a:p>
          </p:txBody>
        </p:sp>
        <p:sp>
          <p:nvSpPr>
            <p:cNvPr id="73828" name="Rectangle 106"/>
            <p:cNvSpPr/>
            <p:nvPr/>
          </p:nvSpPr>
          <p:spPr>
            <a:xfrm>
              <a:off x="3964" y="1660"/>
              <a:ext cx="480"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200" b="1" dirty="0">
                  <a:solidFill>
                    <a:srgbClr val="000000"/>
                  </a:solidFill>
                  <a:latin typeface="宋体" panose="02010600030101010101" pitchFamily="2" charset="-122"/>
                  <a:ea typeface="宋体" panose="02010600030101010101" pitchFamily="2" charset="-122"/>
                </a:rPr>
                <a:t>int b = 0;</a:t>
              </a:r>
              <a:endParaRPr lang="en-US" altLang="zh-CN" sz="2400" dirty="0">
                <a:ea typeface="宋体" panose="02010600030101010101" pitchFamily="2" charset="-122"/>
              </a:endParaRPr>
            </a:p>
          </p:txBody>
        </p:sp>
        <p:sp>
          <p:nvSpPr>
            <p:cNvPr id="73829" name="Rectangle 107"/>
            <p:cNvSpPr/>
            <p:nvPr/>
          </p:nvSpPr>
          <p:spPr>
            <a:xfrm>
              <a:off x="4725" y="1660"/>
              <a:ext cx="48"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200" b="1" dirty="0">
                  <a:solidFill>
                    <a:srgbClr val="000000"/>
                  </a:solidFill>
                  <a:latin typeface="宋体" panose="02010600030101010101" pitchFamily="2" charset="-122"/>
                  <a:ea typeface="宋体" panose="02010600030101010101" pitchFamily="2" charset="-122"/>
                </a:rPr>
                <a:t>B</a:t>
              </a:r>
              <a:endParaRPr lang="en-US" altLang="zh-CN" sz="2400" dirty="0">
                <a:ea typeface="宋体" panose="02010600030101010101" pitchFamily="2" charset="-122"/>
              </a:endParaRPr>
            </a:p>
          </p:txBody>
        </p:sp>
        <p:sp>
          <p:nvSpPr>
            <p:cNvPr id="73830" name="Rectangle 108"/>
            <p:cNvSpPr/>
            <p:nvPr/>
          </p:nvSpPr>
          <p:spPr>
            <a:xfrm>
              <a:off x="4775" y="1720"/>
              <a:ext cx="32" cy="7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800" b="1" dirty="0">
                  <a:solidFill>
                    <a:srgbClr val="000000"/>
                  </a:solidFill>
                  <a:latin typeface="宋体" panose="02010600030101010101" pitchFamily="2" charset="-122"/>
                  <a:ea typeface="宋体" panose="02010600030101010101" pitchFamily="2" charset="-122"/>
                </a:rPr>
                <a:t>0</a:t>
              </a:r>
              <a:endParaRPr lang="en-US" altLang="zh-CN" sz="2400" dirty="0">
                <a:ea typeface="宋体" panose="02010600030101010101" pitchFamily="2" charset="-122"/>
              </a:endParaRPr>
            </a:p>
          </p:txBody>
        </p:sp>
        <p:sp>
          <p:nvSpPr>
            <p:cNvPr id="73831" name="Rectangle 109"/>
            <p:cNvSpPr/>
            <p:nvPr/>
          </p:nvSpPr>
          <p:spPr>
            <a:xfrm>
              <a:off x="4809" y="1660"/>
              <a:ext cx="96"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200" b="1" dirty="0">
                  <a:solidFill>
                    <a:srgbClr val="000000"/>
                  </a:solidFill>
                  <a:latin typeface="宋体" panose="02010600030101010101" pitchFamily="2" charset="-122"/>
                  <a:ea typeface="宋体" panose="02010600030101010101" pitchFamily="2" charset="-122"/>
                </a:rPr>
                <a:t>-B</a:t>
              </a:r>
              <a:endParaRPr lang="en-US" altLang="zh-CN" sz="2400" dirty="0">
                <a:ea typeface="宋体" panose="02010600030101010101" pitchFamily="2" charset="-122"/>
              </a:endParaRPr>
            </a:p>
          </p:txBody>
        </p:sp>
        <p:sp>
          <p:nvSpPr>
            <p:cNvPr id="73832" name="Rectangle 110"/>
            <p:cNvSpPr/>
            <p:nvPr/>
          </p:nvSpPr>
          <p:spPr>
            <a:xfrm>
              <a:off x="4908" y="1720"/>
              <a:ext cx="32" cy="7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800" b="1" dirty="0">
                  <a:solidFill>
                    <a:srgbClr val="000000"/>
                  </a:solidFill>
                  <a:latin typeface="宋体" panose="02010600030101010101" pitchFamily="2" charset="-122"/>
                  <a:ea typeface="宋体" panose="02010600030101010101" pitchFamily="2" charset="-122"/>
                </a:rPr>
                <a:t>1</a:t>
              </a:r>
              <a:endParaRPr lang="en-US" altLang="zh-CN" sz="2400" dirty="0">
                <a:ea typeface="宋体" panose="02010600030101010101" pitchFamily="2" charset="-122"/>
              </a:endParaRPr>
            </a:p>
          </p:txBody>
        </p:sp>
        <p:sp>
          <p:nvSpPr>
            <p:cNvPr id="73833" name="Rectangle 111"/>
            <p:cNvSpPr/>
            <p:nvPr/>
          </p:nvSpPr>
          <p:spPr>
            <a:xfrm>
              <a:off x="3964" y="1819"/>
              <a:ext cx="480"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200" b="1" dirty="0">
                  <a:solidFill>
                    <a:srgbClr val="000000"/>
                  </a:solidFill>
                  <a:latin typeface="宋体" panose="02010600030101010101" pitchFamily="2" charset="-122"/>
                  <a:ea typeface="宋体" panose="02010600030101010101" pitchFamily="2" charset="-122"/>
                </a:rPr>
                <a:t>int b = 1;</a:t>
              </a:r>
              <a:endParaRPr lang="en-US" altLang="zh-CN" sz="2400" dirty="0">
                <a:ea typeface="宋体" panose="02010600030101010101" pitchFamily="2" charset="-122"/>
              </a:endParaRPr>
            </a:p>
          </p:txBody>
        </p:sp>
        <p:sp>
          <p:nvSpPr>
            <p:cNvPr id="73834" name="Rectangle 112"/>
            <p:cNvSpPr/>
            <p:nvPr/>
          </p:nvSpPr>
          <p:spPr>
            <a:xfrm>
              <a:off x="4725" y="1819"/>
              <a:ext cx="48"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200" b="1" dirty="0">
                  <a:solidFill>
                    <a:srgbClr val="000000"/>
                  </a:solidFill>
                  <a:latin typeface="宋体" panose="02010600030101010101" pitchFamily="2" charset="-122"/>
                  <a:ea typeface="宋体" panose="02010600030101010101" pitchFamily="2" charset="-122"/>
                </a:rPr>
                <a:t>B</a:t>
              </a:r>
              <a:endParaRPr lang="en-US" altLang="zh-CN" sz="2400" dirty="0">
                <a:ea typeface="宋体" panose="02010600030101010101" pitchFamily="2" charset="-122"/>
              </a:endParaRPr>
            </a:p>
          </p:txBody>
        </p:sp>
        <p:sp>
          <p:nvSpPr>
            <p:cNvPr id="73835" name="Rectangle 113"/>
            <p:cNvSpPr/>
            <p:nvPr/>
          </p:nvSpPr>
          <p:spPr>
            <a:xfrm>
              <a:off x="4775" y="1878"/>
              <a:ext cx="32" cy="7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800" b="1" dirty="0">
                  <a:solidFill>
                    <a:srgbClr val="000000"/>
                  </a:solidFill>
                  <a:latin typeface="宋体" panose="02010600030101010101" pitchFamily="2" charset="-122"/>
                  <a:ea typeface="宋体" panose="02010600030101010101" pitchFamily="2" charset="-122"/>
                </a:rPr>
                <a:t>1</a:t>
              </a:r>
              <a:endParaRPr lang="en-US" altLang="zh-CN" sz="2400" dirty="0">
                <a:ea typeface="宋体" panose="02010600030101010101" pitchFamily="2" charset="-122"/>
              </a:endParaRPr>
            </a:p>
          </p:txBody>
        </p:sp>
        <p:sp>
          <p:nvSpPr>
            <p:cNvPr id="73836" name="Rectangle 114"/>
            <p:cNvSpPr/>
            <p:nvPr/>
          </p:nvSpPr>
          <p:spPr>
            <a:xfrm>
              <a:off x="4809" y="1819"/>
              <a:ext cx="96"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200" b="1" dirty="0">
                  <a:solidFill>
                    <a:srgbClr val="000000"/>
                  </a:solidFill>
                  <a:latin typeface="宋体" panose="02010600030101010101" pitchFamily="2" charset="-122"/>
                  <a:ea typeface="宋体" panose="02010600030101010101" pitchFamily="2" charset="-122"/>
                </a:rPr>
                <a:t>-B</a:t>
              </a:r>
              <a:endParaRPr lang="en-US" altLang="zh-CN" sz="2400" dirty="0">
                <a:ea typeface="宋体" panose="02010600030101010101" pitchFamily="2" charset="-122"/>
              </a:endParaRPr>
            </a:p>
          </p:txBody>
        </p:sp>
        <p:sp>
          <p:nvSpPr>
            <p:cNvPr id="73837" name="Rectangle 115"/>
            <p:cNvSpPr/>
            <p:nvPr/>
          </p:nvSpPr>
          <p:spPr>
            <a:xfrm>
              <a:off x="4908" y="1878"/>
              <a:ext cx="32" cy="7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800" b="1" dirty="0">
                  <a:solidFill>
                    <a:srgbClr val="000000"/>
                  </a:solidFill>
                  <a:latin typeface="宋体" panose="02010600030101010101" pitchFamily="2" charset="-122"/>
                  <a:ea typeface="宋体" panose="02010600030101010101" pitchFamily="2" charset="-122"/>
                </a:rPr>
                <a:t>3</a:t>
              </a:r>
              <a:endParaRPr lang="en-US" altLang="zh-CN" sz="2400" dirty="0">
                <a:ea typeface="宋体" panose="02010600030101010101" pitchFamily="2" charset="-122"/>
              </a:endParaRPr>
            </a:p>
          </p:txBody>
        </p:sp>
        <p:sp>
          <p:nvSpPr>
            <p:cNvPr id="73838" name="Rectangle 116"/>
            <p:cNvSpPr/>
            <p:nvPr/>
          </p:nvSpPr>
          <p:spPr>
            <a:xfrm>
              <a:off x="3964" y="2000"/>
              <a:ext cx="480"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200" b="1" dirty="0">
                  <a:solidFill>
                    <a:srgbClr val="000000"/>
                  </a:solidFill>
                  <a:latin typeface="宋体" panose="02010600030101010101" pitchFamily="2" charset="-122"/>
                  <a:ea typeface="宋体" panose="02010600030101010101" pitchFamily="2" charset="-122"/>
                </a:rPr>
                <a:t>int a = 2;</a:t>
              </a:r>
              <a:endParaRPr lang="en-US" altLang="zh-CN" sz="2400" dirty="0">
                <a:ea typeface="宋体" panose="02010600030101010101" pitchFamily="2" charset="-122"/>
              </a:endParaRPr>
            </a:p>
          </p:txBody>
        </p:sp>
        <p:sp>
          <p:nvSpPr>
            <p:cNvPr id="73839" name="Rectangle 117"/>
            <p:cNvSpPr/>
            <p:nvPr/>
          </p:nvSpPr>
          <p:spPr>
            <a:xfrm>
              <a:off x="4792" y="2000"/>
              <a:ext cx="48"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200" b="1" dirty="0">
                  <a:solidFill>
                    <a:srgbClr val="000000"/>
                  </a:solidFill>
                  <a:latin typeface="宋体" panose="02010600030101010101" pitchFamily="2" charset="-122"/>
                  <a:ea typeface="宋体" panose="02010600030101010101" pitchFamily="2" charset="-122"/>
                </a:rPr>
                <a:t>B</a:t>
              </a:r>
              <a:endParaRPr lang="en-US" altLang="zh-CN" sz="2400" dirty="0">
                <a:ea typeface="宋体" panose="02010600030101010101" pitchFamily="2" charset="-122"/>
              </a:endParaRPr>
            </a:p>
          </p:txBody>
        </p:sp>
        <p:sp>
          <p:nvSpPr>
            <p:cNvPr id="73840" name="Rectangle 118"/>
            <p:cNvSpPr/>
            <p:nvPr/>
          </p:nvSpPr>
          <p:spPr>
            <a:xfrm>
              <a:off x="4841" y="2059"/>
              <a:ext cx="32" cy="7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800" b="1" dirty="0">
                  <a:solidFill>
                    <a:srgbClr val="000000"/>
                  </a:solidFill>
                  <a:latin typeface="宋体" panose="02010600030101010101" pitchFamily="2" charset="-122"/>
                  <a:ea typeface="宋体" panose="02010600030101010101" pitchFamily="2" charset="-122"/>
                </a:rPr>
                <a:t>2</a:t>
              </a:r>
              <a:endParaRPr lang="en-US" altLang="zh-CN" sz="2400" dirty="0">
                <a:ea typeface="宋体" panose="02010600030101010101" pitchFamily="2" charset="-122"/>
              </a:endParaRPr>
            </a:p>
          </p:txBody>
        </p:sp>
        <p:sp>
          <p:nvSpPr>
            <p:cNvPr id="73841" name="Rectangle 119"/>
            <p:cNvSpPr/>
            <p:nvPr/>
          </p:nvSpPr>
          <p:spPr>
            <a:xfrm>
              <a:off x="3964" y="2158"/>
              <a:ext cx="480"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200" b="1" dirty="0">
                  <a:solidFill>
                    <a:srgbClr val="000000"/>
                  </a:solidFill>
                  <a:latin typeface="宋体" panose="02010600030101010101" pitchFamily="2" charset="-122"/>
                  <a:ea typeface="宋体" panose="02010600030101010101" pitchFamily="2" charset="-122"/>
                </a:rPr>
                <a:t>int b = 3;</a:t>
              </a:r>
              <a:endParaRPr lang="en-US" altLang="zh-CN" sz="2400" dirty="0">
                <a:ea typeface="宋体" panose="02010600030101010101" pitchFamily="2" charset="-122"/>
              </a:endParaRPr>
            </a:p>
          </p:txBody>
        </p:sp>
        <p:sp>
          <p:nvSpPr>
            <p:cNvPr id="73842" name="Rectangle 120"/>
            <p:cNvSpPr/>
            <p:nvPr/>
          </p:nvSpPr>
          <p:spPr>
            <a:xfrm>
              <a:off x="4792" y="2158"/>
              <a:ext cx="48"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200" b="1" dirty="0">
                  <a:solidFill>
                    <a:srgbClr val="000000"/>
                  </a:solidFill>
                  <a:latin typeface="宋体" panose="02010600030101010101" pitchFamily="2" charset="-122"/>
                  <a:ea typeface="宋体" panose="02010600030101010101" pitchFamily="2" charset="-122"/>
                </a:rPr>
                <a:t>B</a:t>
              </a:r>
              <a:endParaRPr lang="en-US" altLang="zh-CN" sz="2400" dirty="0">
                <a:ea typeface="宋体" panose="02010600030101010101" pitchFamily="2" charset="-122"/>
              </a:endParaRPr>
            </a:p>
          </p:txBody>
        </p:sp>
        <p:sp>
          <p:nvSpPr>
            <p:cNvPr id="73843" name="Rectangle 121"/>
            <p:cNvSpPr/>
            <p:nvPr/>
          </p:nvSpPr>
          <p:spPr>
            <a:xfrm>
              <a:off x="4841" y="2216"/>
              <a:ext cx="32" cy="7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800" b="1" dirty="0">
                  <a:solidFill>
                    <a:srgbClr val="000000"/>
                  </a:solidFill>
                  <a:latin typeface="宋体" panose="02010600030101010101" pitchFamily="2" charset="-122"/>
                  <a:ea typeface="宋体" panose="02010600030101010101" pitchFamily="2" charset="-122"/>
                </a:rPr>
                <a:t>3</a:t>
              </a:r>
              <a:endParaRPr lang="en-US" altLang="zh-CN" sz="2400" dirty="0">
                <a:ea typeface="宋体" panose="02010600030101010101" pitchFamily="2" charset="-122"/>
              </a:endParaRPr>
            </a:p>
          </p:txBody>
        </p:sp>
        <p:sp>
          <p:nvSpPr>
            <p:cNvPr id="73844" name="Line 122"/>
            <p:cNvSpPr/>
            <p:nvPr/>
          </p:nvSpPr>
          <p:spPr>
            <a:xfrm>
              <a:off x="3818" y="1228"/>
              <a:ext cx="1241" cy="1"/>
            </a:xfrm>
            <a:prstGeom prst="line">
              <a:avLst/>
            </a:prstGeom>
            <a:ln w="15875" cap="flat" cmpd="sng">
              <a:solidFill>
                <a:srgbClr val="000000"/>
              </a:solidFill>
              <a:prstDash val="solid"/>
              <a:headEnd type="none" w="med" len="med"/>
              <a:tailEnd type="none" w="med" len="med"/>
            </a:ln>
          </p:spPr>
        </p:sp>
        <p:sp>
          <p:nvSpPr>
            <p:cNvPr id="73845" name="Line 123"/>
            <p:cNvSpPr/>
            <p:nvPr/>
          </p:nvSpPr>
          <p:spPr>
            <a:xfrm>
              <a:off x="3818" y="1454"/>
              <a:ext cx="1241" cy="1"/>
            </a:xfrm>
            <a:prstGeom prst="line">
              <a:avLst/>
            </a:prstGeom>
            <a:ln w="9525" cap="flat" cmpd="sng">
              <a:solidFill>
                <a:srgbClr val="000000"/>
              </a:solidFill>
              <a:prstDash val="solid"/>
              <a:headEnd type="none" w="med" len="med"/>
              <a:tailEnd type="none" w="med" len="med"/>
            </a:ln>
          </p:spPr>
        </p:sp>
        <p:sp>
          <p:nvSpPr>
            <p:cNvPr id="73846" name="Line 124"/>
            <p:cNvSpPr/>
            <p:nvPr/>
          </p:nvSpPr>
          <p:spPr>
            <a:xfrm>
              <a:off x="3818" y="2290"/>
              <a:ext cx="1241" cy="1"/>
            </a:xfrm>
            <a:prstGeom prst="line">
              <a:avLst/>
            </a:prstGeom>
            <a:ln w="15875" cap="flat" cmpd="sng">
              <a:solidFill>
                <a:srgbClr val="000000"/>
              </a:solidFill>
              <a:prstDash val="solid"/>
              <a:headEnd type="none" w="med" len="med"/>
              <a:tailEnd type="none" w="med" len="med"/>
            </a:ln>
          </p:spPr>
        </p:sp>
        <p:sp>
          <p:nvSpPr>
            <p:cNvPr id="73847" name="Line 125"/>
            <p:cNvSpPr/>
            <p:nvPr/>
          </p:nvSpPr>
          <p:spPr>
            <a:xfrm>
              <a:off x="4608" y="1228"/>
              <a:ext cx="1" cy="1062"/>
            </a:xfrm>
            <a:prstGeom prst="line">
              <a:avLst/>
            </a:prstGeom>
            <a:ln w="9525" cap="flat" cmpd="sng">
              <a:solidFill>
                <a:srgbClr val="000000"/>
              </a:solidFill>
              <a:prstDash val="solid"/>
              <a:headEnd type="none" w="med" len="med"/>
              <a:tailEnd type="none" w="med" len="med"/>
            </a:ln>
          </p:spPr>
        </p:sp>
        <p:sp>
          <p:nvSpPr>
            <p:cNvPr id="73848" name="Rectangle 126"/>
            <p:cNvSpPr/>
            <p:nvPr/>
          </p:nvSpPr>
          <p:spPr>
            <a:xfrm>
              <a:off x="4259" y="2418"/>
              <a:ext cx="240"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200" b="1" dirty="0">
                  <a:solidFill>
                    <a:srgbClr val="000000"/>
                  </a:solidFill>
                  <a:latin typeface="宋体" panose="02010600030101010101" pitchFamily="2" charset="-122"/>
                  <a:ea typeface="宋体" panose="02010600030101010101" pitchFamily="2" charset="-122"/>
                </a:rPr>
                <a:t>2   1</a:t>
              </a:r>
              <a:endParaRPr lang="en-US" altLang="zh-CN" sz="2400" dirty="0">
                <a:ea typeface="宋体" panose="02010600030101010101" pitchFamily="2" charset="-122"/>
              </a:endParaRPr>
            </a:p>
          </p:txBody>
        </p:sp>
        <p:sp>
          <p:nvSpPr>
            <p:cNvPr id="73849" name="Rectangle 127"/>
            <p:cNvSpPr/>
            <p:nvPr/>
          </p:nvSpPr>
          <p:spPr>
            <a:xfrm>
              <a:off x="4259" y="2903"/>
              <a:ext cx="240"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200" b="1" dirty="0">
                  <a:solidFill>
                    <a:srgbClr val="000000"/>
                  </a:solidFill>
                  <a:latin typeface="宋体" panose="02010600030101010101" pitchFamily="2" charset="-122"/>
                  <a:ea typeface="宋体" panose="02010600030101010101" pitchFamily="2" charset="-122"/>
                </a:rPr>
                <a:t>0   3</a:t>
              </a:r>
              <a:endParaRPr lang="en-US" altLang="zh-CN" sz="2400" dirty="0">
                <a:ea typeface="宋体" panose="02010600030101010101" pitchFamily="2" charset="-122"/>
              </a:endParaRPr>
            </a:p>
          </p:txBody>
        </p:sp>
        <p:sp>
          <p:nvSpPr>
            <p:cNvPr id="73850" name="Rectangle 128"/>
            <p:cNvSpPr/>
            <p:nvPr/>
          </p:nvSpPr>
          <p:spPr>
            <a:xfrm>
              <a:off x="4259" y="3208"/>
              <a:ext cx="240"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200" b="1" dirty="0">
                  <a:solidFill>
                    <a:srgbClr val="000000"/>
                  </a:solidFill>
                  <a:latin typeface="宋体" panose="02010600030101010101" pitchFamily="2" charset="-122"/>
                  <a:ea typeface="宋体" panose="02010600030101010101" pitchFamily="2" charset="-122"/>
                </a:rPr>
                <a:t>0   1</a:t>
              </a:r>
              <a:endParaRPr lang="en-US" altLang="zh-CN" sz="2400" dirty="0">
                <a:ea typeface="宋体" panose="02010600030101010101" pitchFamily="2" charset="-122"/>
              </a:endParaRPr>
            </a:p>
          </p:txBody>
        </p:sp>
        <p:sp>
          <p:nvSpPr>
            <p:cNvPr id="73851" name="Rectangle 129"/>
            <p:cNvSpPr/>
            <p:nvPr/>
          </p:nvSpPr>
          <p:spPr>
            <a:xfrm>
              <a:off x="4259" y="3468"/>
              <a:ext cx="240"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200" b="1" dirty="0">
                  <a:solidFill>
                    <a:srgbClr val="000000"/>
                  </a:solidFill>
                  <a:latin typeface="宋体" panose="02010600030101010101" pitchFamily="2" charset="-122"/>
                  <a:ea typeface="宋体" panose="02010600030101010101" pitchFamily="2" charset="-122"/>
                </a:rPr>
                <a:t>0   0</a:t>
              </a:r>
              <a:endParaRPr lang="en-US" altLang="zh-CN" sz="2400" dirty="0">
                <a:ea typeface="宋体" panose="02010600030101010101" pitchFamily="2" charset="-122"/>
              </a:endParaRPr>
            </a:p>
          </p:txBody>
        </p:sp>
      </p:gr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访问非局部名字（4）</a:t>
            </a:r>
            <a:endParaRPr lang="zh-CN" altLang="en-US" dirty="0">
              <a:latin typeface="Times New Roman" panose="02020603050405020304" pitchFamily="18" charset="0"/>
              <a:ea typeface="宋体" panose="02010600030101010101" pitchFamily="2" charset="-122"/>
            </a:endParaRPr>
          </a:p>
        </p:txBody>
      </p:sp>
      <p:sp>
        <p:nvSpPr>
          <p:cNvPr id="75779" name="Rectangle 3"/>
          <p:cNvSpPr>
            <a:spLocks noGrp="1"/>
          </p:cNvSpPr>
          <p:nvPr>
            <p:ph idx="1"/>
          </p:nvPr>
        </p:nvSpPr>
        <p:spPr>
          <a:xfrm>
            <a:off x="990600" y="1371600"/>
            <a:ext cx="7391400" cy="4876800"/>
          </a:xfrm>
          <a:ln/>
        </p:spPr>
        <p:txBody>
          <a:bodyPr vert="horz" wrap="square" lIns="92075" tIns="46038" rIns="92075" bIns="46038" anchor="t" anchorCtr="0"/>
          <a:p>
            <a:pPr lvl="1"/>
            <a:r>
              <a:rPr lang="zh-CN" altLang="en-US" sz="2000" b="1" dirty="0">
                <a:ea typeface="宋体" panose="02010600030101010101" pitchFamily="2" charset="-122"/>
              </a:rPr>
              <a:t>名字的存储分配：</a:t>
            </a:r>
            <a:endParaRPr lang="zh-CN" altLang="en-US" sz="2000" b="1" dirty="0">
              <a:ea typeface="宋体" panose="02010600030101010101" pitchFamily="2" charset="-122"/>
            </a:endParaRPr>
          </a:p>
          <a:p>
            <a:pPr lvl="2"/>
            <a:r>
              <a:rPr lang="zh-CN" altLang="en-US" sz="1800" b="1" dirty="0">
                <a:ea typeface="宋体" panose="02010600030101010101" pitchFamily="2" charset="-122"/>
              </a:rPr>
              <a:t>基于栈分配：</a:t>
            </a:r>
            <a:endParaRPr lang="zh-CN" altLang="en-US" sz="1800" b="1" dirty="0">
              <a:ea typeface="宋体" panose="02010600030101010101" pitchFamily="2" charset="-122"/>
            </a:endParaRPr>
          </a:p>
          <a:p>
            <a:pPr lvl="3"/>
            <a:r>
              <a:rPr lang="zh-CN" altLang="en-US" sz="1600" b="1" dirty="0">
                <a:ea typeface="宋体" panose="02010600030101010101" pitchFamily="2" charset="-122"/>
              </a:rPr>
              <a:t>声明的作用域决不超出它所在的程序块</a:t>
            </a:r>
            <a:endParaRPr lang="zh-CN" altLang="en-US" sz="1600" b="1" dirty="0">
              <a:ea typeface="宋体" panose="02010600030101010101" pitchFamily="2" charset="-122"/>
            </a:endParaRPr>
          </a:p>
          <a:p>
            <a:pPr lvl="3"/>
            <a:r>
              <a:rPr lang="zh-CN" altLang="en-US" sz="1600" b="1" dirty="0">
                <a:ea typeface="宋体" panose="02010600030101010101" pitchFamily="2" charset="-122"/>
              </a:rPr>
              <a:t>程序块当作无参的过程，所以活动记录可以是程序块的</a:t>
            </a:r>
            <a:endParaRPr lang="zh-CN" altLang="en-US" sz="1600" b="1" dirty="0">
              <a:ea typeface="宋体" panose="02010600030101010101" pitchFamily="2" charset="-122"/>
            </a:endParaRPr>
          </a:p>
          <a:p>
            <a:pPr lvl="3"/>
            <a:r>
              <a:rPr lang="zh-CN" altLang="en-US" sz="1600" b="1" dirty="0">
                <a:ea typeface="宋体" panose="02010600030101010101" pitchFamily="2" charset="-122"/>
              </a:rPr>
              <a:t>这类“过程”调用不需要参数传递，控制只能沿静态正文进入和退出程序块</a:t>
            </a:r>
            <a:endParaRPr lang="zh-CN" altLang="en-US" sz="1600" b="1" dirty="0">
              <a:ea typeface="宋体" panose="02010600030101010101" pitchFamily="2" charset="-122"/>
            </a:endParaRPr>
          </a:p>
          <a:p>
            <a:pPr lvl="2"/>
            <a:r>
              <a:rPr lang="zh-CN" altLang="en-US" sz="1800" b="1" dirty="0">
                <a:ea typeface="宋体" panose="02010600030101010101" pitchFamily="2" charset="-122"/>
              </a:rPr>
              <a:t>每次为一个完整的过程体分配存储空间</a:t>
            </a:r>
            <a:endParaRPr lang="zh-CN" altLang="en-US" sz="1800" b="1" dirty="0">
              <a:ea typeface="宋体" panose="02010600030101010101" pitchFamily="2" charset="-122"/>
            </a:endParaRPr>
          </a:p>
          <a:p>
            <a:pPr lvl="3"/>
            <a:r>
              <a:rPr lang="zh-CN" altLang="en-US" sz="1600" b="1" dirty="0">
                <a:ea typeface="宋体" panose="02010600030101010101" pitchFamily="2" charset="-122"/>
              </a:rPr>
              <a:t>只为过程分配活动记录</a:t>
            </a:r>
            <a:endParaRPr lang="zh-CN" altLang="en-US" sz="1600" b="1" dirty="0">
              <a:ea typeface="宋体" panose="02010600030101010101" pitchFamily="2" charset="-122"/>
            </a:endParaRPr>
          </a:p>
          <a:p>
            <a:pPr lvl="3"/>
            <a:r>
              <a:rPr lang="zh-CN" altLang="en-US" sz="1600" b="1" dirty="0">
                <a:ea typeface="宋体" panose="02010600030101010101" pitchFamily="2" charset="-122"/>
              </a:rPr>
              <a:t>过程内嵌套的程序块的声明所需要的存储空间由过程负责留出</a:t>
            </a:r>
            <a:endParaRPr lang="zh-CN" altLang="en-US" sz="1600" b="1" dirty="0">
              <a:ea typeface="宋体" panose="02010600030101010101" pitchFamily="2" charset="-122"/>
            </a:endParaRPr>
          </a:p>
          <a:p>
            <a:pPr lvl="3"/>
            <a:r>
              <a:rPr lang="zh-CN" altLang="en-US" sz="1600" b="1" dirty="0">
                <a:ea typeface="宋体" panose="02010600030101010101" pitchFamily="2" charset="-122"/>
              </a:rPr>
              <a:t>要分配的变量在编译时刻确定，不考虑控制流</a:t>
            </a:r>
            <a:endParaRPr lang="zh-CN" altLang="en-US" sz="1600" b="1" dirty="0">
              <a:ea typeface="宋体" panose="02010600030101010101" pitchFamily="2" charset="-122"/>
            </a:endParaRPr>
          </a:p>
          <a:p>
            <a:pPr lvl="3"/>
            <a:r>
              <a:rPr lang="zh-CN" altLang="en-US" sz="1600" b="1" dirty="0">
                <a:ea typeface="宋体" panose="02010600030101010101" pitchFamily="2" charset="-122"/>
              </a:rPr>
              <a:t>作用域不重叠的声明可以共享一个存储区域</a:t>
            </a:r>
            <a:endParaRPr lang="zh-CN" altLang="en-US" sz="1600" b="1" dirty="0">
              <a:ea typeface="宋体" panose="02010600030101010101" pitchFamily="2" charset="-122"/>
            </a:endParaRPr>
          </a:p>
          <a:p>
            <a:pPr lvl="3">
              <a:buFont typeface="Wingdings" panose="05000000000000000000" pitchFamily="2" charset="2"/>
              <a:buNone/>
            </a:pPr>
            <a:r>
              <a:rPr lang="zh-CN" altLang="en-US" sz="1600" b="1" dirty="0">
                <a:ea typeface="宋体" panose="02010600030101010101" pitchFamily="2" charset="-122"/>
              </a:rPr>
              <a:t>			</a:t>
            </a:r>
            <a:r>
              <a:rPr lang="en-US" altLang="zh-CN" sz="1600" b="1" dirty="0">
                <a:ea typeface="宋体" panose="02010600030101010101" pitchFamily="2" charset="-122"/>
              </a:rPr>
              <a:t>a</a:t>
            </a:r>
            <a:r>
              <a:rPr lang="en-US" altLang="zh-CN" sz="1600" b="1" baseline="-25000" dirty="0">
                <a:ea typeface="宋体" panose="02010600030101010101" pitchFamily="2" charset="-122"/>
              </a:rPr>
              <a:t>0</a:t>
            </a:r>
            <a:endParaRPr lang="en-US" altLang="zh-CN" sz="1600" b="1" baseline="-25000" dirty="0">
              <a:ea typeface="宋体" panose="02010600030101010101" pitchFamily="2" charset="-122"/>
            </a:endParaRPr>
          </a:p>
          <a:p>
            <a:pPr lvl="3">
              <a:buFont typeface="Wingdings" panose="05000000000000000000" pitchFamily="2" charset="2"/>
              <a:buNone/>
            </a:pPr>
            <a:r>
              <a:rPr lang="en-US" altLang="zh-CN" sz="1600" b="1" dirty="0">
                <a:ea typeface="宋体" panose="02010600030101010101" pitchFamily="2" charset="-122"/>
              </a:rPr>
              <a:t>			b</a:t>
            </a:r>
            <a:r>
              <a:rPr lang="en-US" altLang="zh-CN" sz="1600" b="1" baseline="-25000" dirty="0">
                <a:ea typeface="宋体" panose="02010600030101010101" pitchFamily="2" charset="-122"/>
              </a:rPr>
              <a:t>0</a:t>
            </a:r>
            <a:endParaRPr lang="en-US" altLang="zh-CN" sz="1600" b="1" dirty="0">
              <a:ea typeface="宋体" panose="02010600030101010101" pitchFamily="2" charset="-122"/>
            </a:endParaRPr>
          </a:p>
          <a:p>
            <a:pPr lvl="3">
              <a:buFont typeface="Wingdings" panose="05000000000000000000" pitchFamily="2" charset="2"/>
              <a:buNone/>
            </a:pPr>
            <a:r>
              <a:rPr lang="en-US" altLang="zh-CN" sz="1600" b="1" dirty="0">
                <a:ea typeface="宋体" panose="02010600030101010101" pitchFamily="2" charset="-122"/>
              </a:rPr>
              <a:t>			b</a:t>
            </a:r>
            <a:r>
              <a:rPr lang="en-US" altLang="zh-CN" sz="1600" b="1" baseline="-25000" dirty="0">
                <a:ea typeface="宋体" panose="02010600030101010101" pitchFamily="2" charset="-122"/>
              </a:rPr>
              <a:t>1</a:t>
            </a:r>
            <a:endParaRPr lang="en-US" altLang="zh-CN" sz="1600" b="1" dirty="0">
              <a:ea typeface="宋体" panose="02010600030101010101" pitchFamily="2" charset="-122"/>
            </a:endParaRPr>
          </a:p>
          <a:p>
            <a:pPr lvl="3">
              <a:buFont typeface="Wingdings" panose="05000000000000000000" pitchFamily="2" charset="2"/>
              <a:buNone/>
            </a:pPr>
            <a:r>
              <a:rPr lang="en-US" altLang="zh-CN" sz="1600" b="1" dirty="0">
                <a:ea typeface="宋体" panose="02010600030101010101" pitchFamily="2" charset="-122"/>
              </a:rPr>
              <a:t>		             a</a:t>
            </a:r>
            <a:r>
              <a:rPr lang="en-US" altLang="zh-CN" sz="1600" b="1" baseline="-25000" dirty="0">
                <a:ea typeface="宋体" panose="02010600030101010101" pitchFamily="2" charset="-122"/>
              </a:rPr>
              <a:t>2</a:t>
            </a:r>
            <a:r>
              <a:rPr lang="en-US" altLang="zh-CN" sz="1600" b="1" dirty="0">
                <a:ea typeface="宋体" panose="02010600030101010101" pitchFamily="2" charset="-122"/>
              </a:rPr>
              <a:t> , b</a:t>
            </a:r>
            <a:r>
              <a:rPr lang="en-US" altLang="zh-CN" sz="1600" b="1" baseline="-25000" dirty="0">
                <a:ea typeface="宋体" panose="02010600030101010101" pitchFamily="2" charset="-122"/>
              </a:rPr>
              <a:t>3</a:t>
            </a:r>
            <a:endParaRPr lang="en-US" altLang="zh-CN" sz="1600" b="1" baseline="-25000" dirty="0">
              <a:ea typeface="宋体" panose="02010600030101010101" pitchFamily="2" charset="-122"/>
            </a:endParaRPr>
          </a:p>
        </p:txBody>
      </p:sp>
      <p:sp>
        <p:nvSpPr>
          <p:cNvPr id="75780" name="Line 4"/>
          <p:cNvSpPr/>
          <p:nvPr/>
        </p:nvSpPr>
        <p:spPr>
          <a:xfrm>
            <a:off x="3048000" y="4724400"/>
            <a:ext cx="1600200" cy="0"/>
          </a:xfrm>
          <a:prstGeom prst="line">
            <a:avLst/>
          </a:prstGeom>
          <a:ln w="28575" cap="flat" cmpd="sng">
            <a:solidFill>
              <a:schemeClr val="tx1"/>
            </a:solidFill>
            <a:prstDash val="solid"/>
            <a:headEnd type="none" w="sm" len="sm"/>
            <a:tailEnd type="none" w="lg" len="med"/>
          </a:ln>
        </p:spPr>
      </p:sp>
      <p:sp>
        <p:nvSpPr>
          <p:cNvPr id="75781" name="Line 5"/>
          <p:cNvSpPr/>
          <p:nvPr/>
        </p:nvSpPr>
        <p:spPr>
          <a:xfrm>
            <a:off x="3048000" y="6019800"/>
            <a:ext cx="1600200" cy="0"/>
          </a:xfrm>
          <a:prstGeom prst="line">
            <a:avLst/>
          </a:prstGeom>
          <a:ln w="28575" cap="flat" cmpd="sng">
            <a:solidFill>
              <a:schemeClr val="tx1"/>
            </a:solidFill>
            <a:prstDash val="solid"/>
            <a:headEnd type="none" w="sm" len="sm"/>
            <a:tailEnd type="none" w="lg" len="med"/>
          </a:ln>
        </p:spPr>
      </p:sp>
      <p:sp>
        <p:nvSpPr>
          <p:cNvPr id="75782" name="Line 6"/>
          <p:cNvSpPr/>
          <p:nvPr/>
        </p:nvSpPr>
        <p:spPr>
          <a:xfrm>
            <a:off x="3048000" y="5029200"/>
            <a:ext cx="1600200" cy="0"/>
          </a:xfrm>
          <a:prstGeom prst="line">
            <a:avLst/>
          </a:prstGeom>
          <a:ln w="28575" cap="flat" cmpd="sng">
            <a:solidFill>
              <a:schemeClr val="tx1"/>
            </a:solidFill>
            <a:prstDash val="sysDot"/>
            <a:headEnd type="none" w="sm" len="sm"/>
            <a:tailEnd type="none" w="lg" len="med"/>
          </a:ln>
        </p:spPr>
      </p:sp>
      <p:sp>
        <p:nvSpPr>
          <p:cNvPr id="75783" name="Line 7"/>
          <p:cNvSpPr/>
          <p:nvPr/>
        </p:nvSpPr>
        <p:spPr>
          <a:xfrm>
            <a:off x="3048000" y="5334000"/>
            <a:ext cx="1600200" cy="0"/>
          </a:xfrm>
          <a:prstGeom prst="line">
            <a:avLst/>
          </a:prstGeom>
          <a:ln w="28575" cap="flat" cmpd="sng">
            <a:solidFill>
              <a:schemeClr val="tx1"/>
            </a:solidFill>
            <a:prstDash val="sysDot"/>
            <a:headEnd type="none" w="sm" len="sm"/>
            <a:tailEnd type="none" w="lg" len="med"/>
          </a:ln>
        </p:spPr>
      </p:sp>
      <p:sp>
        <p:nvSpPr>
          <p:cNvPr id="75784" name="Line 8"/>
          <p:cNvSpPr/>
          <p:nvPr/>
        </p:nvSpPr>
        <p:spPr>
          <a:xfrm>
            <a:off x="3048000" y="5638800"/>
            <a:ext cx="1600200" cy="0"/>
          </a:xfrm>
          <a:prstGeom prst="line">
            <a:avLst/>
          </a:prstGeom>
          <a:ln w="28575" cap="flat" cmpd="sng">
            <a:solidFill>
              <a:schemeClr val="tx1"/>
            </a:solidFill>
            <a:prstDash val="sysDot"/>
            <a:headEnd type="none" w="sm" len="sm"/>
            <a:tailEnd type="none" w="lg" len="med"/>
          </a:ln>
        </p:spPr>
      </p:sp>
      <p:sp>
        <p:nvSpPr>
          <p:cNvPr id="75785" name="Line 9"/>
          <p:cNvSpPr/>
          <p:nvPr/>
        </p:nvSpPr>
        <p:spPr>
          <a:xfrm>
            <a:off x="4648200" y="4724400"/>
            <a:ext cx="0" cy="1295400"/>
          </a:xfrm>
          <a:prstGeom prst="line">
            <a:avLst/>
          </a:prstGeom>
          <a:ln w="28575" cap="flat" cmpd="sng">
            <a:solidFill>
              <a:schemeClr val="tx1"/>
            </a:solidFill>
            <a:prstDash val="solid"/>
            <a:headEnd type="none" w="sm" len="sm"/>
            <a:tailEnd type="none" w="lg" len="med"/>
          </a:ln>
        </p:spPr>
      </p:sp>
      <p:sp>
        <p:nvSpPr>
          <p:cNvPr id="75786" name="Line 10"/>
          <p:cNvSpPr/>
          <p:nvPr/>
        </p:nvSpPr>
        <p:spPr>
          <a:xfrm>
            <a:off x="3048000" y="4724400"/>
            <a:ext cx="0" cy="1295400"/>
          </a:xfrm>
          <a:prstGeom prst="line">
            <a:avLst/>
          </a:prstGeom>
          <a:ln w="28575" cap="flat" cmpd="sng">
            <a:solidFill>
              <a:schemeClr val="tx1"/>
            </a:solidFill>
            <a:prstDash val="solid"/>
            <a:headEnd type="none" w="sm" len="sm"/>
            <a:tailEnd type="none" w="lg" len="med"/>
          </a:ln>
        </p:spPr>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访问非局部名字（5）</a:t>
            </a:r>
            <a:endParaRPr lang="zh-CN" altLang="en-US" dirty="0">
              <a:latin typeface="Times New Roman" panose="02020603050405020304" pitchFamily="18" charset="0"/>
              <a:ea typeface="宋体" panose="02010600030101010101" pitchFamily="2" charset="-122"/>
            </a:endParaRPr>
          </a:p>
        </p:txBody>
      </p:sp>
      <p:sp>
        <p:nvSpPr>
          <p:cNvPr id="77827" name="Rectangle 3"/>
          <p:cNvSpPr>
            <a:spLocks noGrp="1"/>
          </p:cNvSpPr>
          <p:nvPr>
            <p:ph idx="1"/>
          </p:nvPr>
        </p:nvSpPr>
        <p:spPr>
          <a:xfrm>
            <a:off x="990600" y="1371600"/>
            <a:ext cx="7391400" cy="4876800"/>
          </a:xfrm>
          <a:ln/>
        </p:spPr>
        <p:txBody>
          <a:bodyPr vert="horz" wrap="square" lIns="92075" tIns="46038" rIns="92075" bIns="46038" anchor="t" anchorCtr="0"/>
          <a:p>
            <a:r>
              <a:rPr lang="zh-CN" altLang="en-US" sz="2400" b="1" dirty="0">
                <a:ea typeface="宋体" panose="02010600030101010101" pitchFamily="2" charset="-122"/>
              </a:rPr>
              <a:t>无过程嵌套的静态作用域</a:t>
            </a:r>
            <a:endParaRPr lang="zh-CN" altLang="en-US" sz="2400" b="1" dirty="0">
              <a:ea typeface="宋体" panose="02010600030101010101" pitchFamily="2" charset="-122"/>
            </a:endParaRPr>
          </a:p>
          <a:p>
            <a:pPr lvl="1"/>
            <a:r>
              <a:rPr lang="zh-CN" altLang="en-US" sz="2200" b="1" dirty="0">
                <a:ea typeface="宋体" panose="02010600030101010101" pitchFamily="2" charset="-122"/>
              </a:rPr>
              <a:t>一个过程的定义不能出现在另一个过程里面，如</a:t>
            </a:r>
            <a:r>
              <a:rPr lang="en-US" altLang="zh-CN" sz="2200" b="1" dirty="0">
                <a:ea typeface="宋体" panose="02010600030101010101" pitchFamily="2" charset="-122"/>
              </a:rPr>
              <a:t>C</a:t>
            </a:r>
            <a:r>
              <a:rPr lang="zh-CN" altLang="en-US" sz="2200" b="1" dirty="0">
                <a:ea typeface="宋体" panose="02010600030101010101" pitchFamily="2" charset="-122"/>
              </a:rPr>
              <a:t>语言</a:t>
            </a:r>
            <a:endParaRPr lang="zh-CN" altLang="en-US" sz="2200" b="1" dirty="0">
              <a:ea typeface="宋体" panose="02010600030101010101" pitchFamily="2" charset="-122"/>
            </a:endParaRPr>
          </a:p>
          <a:p>
            <a:pPr lvl="2"/>
            <a:r>
              <a:rPr lang="zh-CN" altLang="en-US" sz="2000" b="1" dirty="0">
                <a:ea typeface="宋体" panose="02010600030101010101" pitchFamily="2" charset="-122"/>
              </a:rPr>
              <a:t>对某个过程非局部的名字（过程中程序块的非局部名字的处理见前面的内容），其声明在所有函数之外</a:t>
            </a:r>
            <a:endParaRPr lang="zh-CN" altLang="en-US" sz="2000" b="1" dirty="0">
              <a:ea typeface="宋体" panose="02010600030101010101" pitchFamily="2" charset="-122"/>
            </a:endParaRPr>
          </a:p>
          <a:p>
            <a:pPr lvl="2"/>
            <a:r>
              <a:rPr lang="zh-CN" altLang="en-US" sz="2000" b="1" dirty="0">
                <a:ea typeface="宋体" panose="02010600030101010101" pitchFamily="2" charset="-122"/>
              </a:rPr>
              <a:t>函数外声明的作用域：该声明后的所有函数体，但同名的局部声明的出现将掩盖全局声明的作用</a:t>
            </a:r>
            <a:endParaRPr lang="zh-CN" altLang="en-US" sz="2000" b="1" dirty="0">
              <a:ea typeface="宋体" panose="02010600030101010101" pitchFamily="2" charset="-122"/>
            </a:endParaRPr>
          </a:p>
          <a:p>
            <a:pPr lvl="3">
              <a:buFont typeface="Wingdings" panose="05000000000000000000" pitchFamily="2" charset="2"/>
              <a:buNone/>
            </a:pPr>
            <a:r>
              <a:rPr lang="zh-CN" altLang="en-US" b="1" dirty="0">
                <a:ea typeface="宋体" panose="02010600030101010101" pitchFamily="2" charset="-122"/>
              </a:rPr>
              <a:t>例：</a:t>
            </a:r>
            <a:endParaRPr lang="zh-CN" altLang="en-US" b="1" dirty="0">
              <a:ea typeface="宋体" panose="02010600030101010101" pitchFamily="2" charset="-122"/>
            </a:endParaRPr>
          </a:p>
          <a:p>
            <a:pPr lvl="4">
              <a:buFont typeface="Wingdings" panose="05000000000000000000" pitchFamily="2" charset="2"/>
              <a:buNone/>
            </a:pPr>
            <a:r>
              <a:rPr lang="en-US" altLang="zh-CN" b="1" dirty="0">
                <a:ea typeface="宋体" panose="02010600030101010101" pitchFamily="2" charset="-122"/>
              </a:rPr>
              <a:t>	int a[ 11 ];</a:t>
            </a:r>
            <a:endParaRPr lang="en-US" altLang="zh-CN" b="1" dirty="0">
              <a:ea typeface="宋体" panose="02010600030101010101" pitchFamily="2" charset="-122"/>
            </a:endParaRPr>
          </a:p>
          <a:p>
            <a:pPr lvl="4">
              <a:buFont typeface="Wingdings" panose="05000000000000000000" pitchFamily="2" charset="2"/>
              <a:buNone/>
            </a:pPr>
            <a:r>
              <a:rPr lang="en-US" altLang="zh-CN" b="1" dirty="0">
                <a:ea typeface="宋体" panose="02010600030101010101" pitchFamily="2" charset="-122"/>
              </a:rPr>
              <a:t>	readarray( ) { … … a … … }</a:t>
            </a:r>
            <a:endParaRPr lang="en-US" altLang="zh-CN" b="1" dirty="0">
              <a:ea typeface="宋体" panose="02010600030101010101" pitchFamily="2" charset="-122"/>
            </a:endParaRPr>
          </a:p>
          <a:p>
            <a:pPr lvl="4">
              <a:buFont typeface="Wingdings" panose="05000000000000000000" pitchFamily="2" charset="2"/>
              <a:buNone/>
            </a:pPr>
            <a:r>
              <a:rPr lang="en-US" altLang="zh-CN" b="1" dirty="0">
                <a:ea typeface="宋体" panose="02010600030101010101" pitchFamily="2" charset="-122"/>
              </a:rPr>
              <a:t>	int partition(y , z) int y , z; { … … a … … }</a:t>
            </a:r>
            <a:endParaRPr lang="en-US" altLang="zh-CN" b="1" dirty="0">
              <a:ea typeface="宋体" panose="02010600030101010101" pitchFamily="2" charset="-122"/>
            </a:endParaRPr>
          </a:p>
          <a:p>
            <a:pPr lvl="4">
              <a:buFont typeface="Wingdings" panose="05000000000000000000" pitchFamily="2" charset="2"/>
              <a:buNone/>
            </a:pPr>
            <a:r>
              <a:rPr lang="en-US" altLang="zh-CN" b="1" dirty="0">
                <a:ea typeface="宋体" panose="02010600030101010101" pitchFamily="2" charset="-122"/>
              </a:rPr>
              <a:t>	quicksort(m , n) int m , n; { … … }</a:t>
            </a:r>
            <a:endParaRPr lang="en-US" altLang="zh-CN" b="1" dirty="0">
              <a:ea typeface="宋体" panose="02010600030101010101" pitchFamily="2" charset="-122"/>
            </a:endParaRPr>
          </a:p>
          <a:p>
            <a:pPr lvl="4">
              <a:buFont typeface="Wingdings" panose="05000000000000000000" pitchFamily="2" charset="2"/>
              <a:buNone/>
            </a:pPr>
            <a:r>
              <a:rPr lang="en-US" altLang="zh-CN" b="1" dirty="0">
                <a:ea typeface="宋体" panose="02010600030101010101" pitchFamily="2" charset="-122"/>
              </a:rPr>
              <a:t>	main ( ) { … … a … … }</a:t>
            </a:r>
            <a:endParaRPr lang="en-US" altLang="zh-CN" b="1" dirty="0">
              <a:ea typeface="宋体" panose="02010600030101010101" pitchFamily="2" charset="-122"/>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访问非局部名字（6）</a:t>
            </a:r>
            <a:endParaRPr lang="zh-CN" altLang="en-US" dirty="0">
              <a:latin typeface="Times New Roman" panose="02020603050405020304" pitchFamily="18" charset="0"/>
              <a:ea typeface="宋体" panose="02010600030101010101" pitchFamily="2" charset="-122"/>
            </a:endParaRPr>
          </a:p>
        </p:txBody>
      </p:sp>
      <p:sp>
        <p:nvSpPr>
          <p:cNvPr id="79875" name="Rectangle 3"/>
          <p:cNvSpPr>
            <a:spLocks noGrp="1"/>
          </p:cNvSpPr>
          <p:nvPr>
            <p:ph idx="1"/>
          </p:nvPr>
        </p:nvSpPr>
        <p:spPr>
          <a:xfrm>
            <a:off x="990600" y="1524000"/>
            <a:ext cx="7391400" cy="4419600"/>
          </a:xfrm>
          <a:ln/>
        </p:spPr>
        <p:txBody>
          <a:bodyPr vert="horz" wrap="square" lIns="92075" tIns="46038" rIns="92075" bIns="46038" anchor="t" anchorCtr="0"/>
          <a:p>
            <a:pPr lvl="1"/>
            <a:r>
              <a:rPr lang="zh-CN" altLang="en-US" sz="2200" b="1" dirty="0">
                <a:ea typeface="宋体" panose="02010600030101010101" pitchFamily="2" charset="-122"/>
              </a:rPr>
              <a:t>存储分配比较简单：</a:t>
            </a:r>
            <a:endParaRPr lang="zh-CN" altLang="en-US" sz="2200" b="1" dirty="0">
              <a:ea typeface="宋体" panose="02010600030101010101" pitchFamily="2" charset="-122"/>
            </a:endParaRPr>
          </a:p>
          <a:p>
            <a:pPr lvl="2"/>
            <a:r>
              <a:rPr lang="zh-CN" altLang="en-US" sz="2000" b="1" dirty="0">
                <a:ea typeface="宋体" panose="02010600030101010101" pitchFamily="2" charset="-122"/>
              </a:rPr>
              <a:t>声明在任何过程外的所有名字的存储单元静态分配，其存储位置在编译时可知</a:t>
            </a:r>
            <a:endParaRPr lang="zh-CN" altLang="en-US" sz="2000" b="1" dirty="0">
              <a:ea typeface="宋体" panose="02010600030101010101" pitchFamily="2" charset="-122"/>
            </a:endParaRPr>
          </a:p>
          <a:p>
            <a:pPr lvl="2"/>
            <a:r>
              <a:rPr lang="zh-CN" altLang="en-US" sz="2000" b="1" dirty="0">
                <a:ea typeface="宋体" panose="02010600030101010101" pitchFamily="2" charset="-122"/>
              </a:rPr>
              <a:t>过程中可见的名字：</a:t>
            </a:r>
            <a:endParaRPr lang="zh-CN" altLang="en-US" sz="2000" b="1" dirty="0">
              <a:ea typeface="宋体" panose="02010600030101010101" pitchFamily="2" charset="-122"/>
            </a:endParaRPr>
          </a:p>
          <a:p>
            <a:pPr lvl="3"/>
            <a:r>
              <a:rPr lang="zh-CN" altLang="en-US" sz="1800" b="1" dirty="0">
                <a:ea typeface="宋体" panose="02010600030101010101" pitchFamily="2" charset="-122"/>
              </a:rPr>
              <a:t>非过程局部的，则使用静态确定的地址访问</a:t>
            </a:r>
            <a:endParaRPr lang="zh-CN" altLang="en-US" sz="1800" b="1" dirty="0">
              <a:ea typeface="宋体" panose="02010600030101010101" pitchFamily="2" charset="-122"/>
            </a:endParaRPr>
          </a:p>
          <a:p>
            <a:pPr lvl="3"/>
            <a:r>
              <a:rPr lang="zh-CN" altLang="en-US" sz="1800" b="1" dirty="0">
                <a:ea typeface="宋体" panose="02010600030101010101" pitchFamily="2" charset="-122"/>
              </a:rPr>
              <a:t>其它的名字，局部于栈顶的活动纪录，可以通过</a:t>
            </a:r>
            <a:r>
              <a:rPr lang="en-US" altLang="zh-CN" sz="1800" b="1" dirty="0">
                <a:ea typeface="宋体" panose="02010600030101010101" pitchFamily="2" charset="-122"/>
              </a:rPr>
              <a:t>top_sp</a:t>
            </a:r>
            <a:r>
              <a:rPr lang="zh-CN" altLang="en-US" sz="1800" b="1" dirty="0">
                <a:ea typeface="宋体" panose="02010600030101010101" pitchFamily="2" charset="-122"/>
              </a:rPr>
              <a:t>访问</a:t>
            </a:r>
            <a:endParaRPr lang="zh-CN" altLang="en-US" sz="1800" b="1" dirty="0">
              <a:ea typeface="宋体" panose="02010600030101010101" pitchFamily="2" charset="-122"/>
            </a:endParaRPr>
          </a:p>
          <a:p>
            <a:pPr lvl="1"/>
            <a:r>
              <a:rPr lang="zh-CN" altLang="en-US" sz="2200" b="1" dirty="0">
                <a:ea typeface="宋体" panose="02010600030101010101" pitchFamily="2" charset="-122"/>
              </a:rPr>
              <a:t>重要好处：程序中声明的过程可以作为参数传递和作为结果返回（</a:t>
            </a:r>
            <a:r>
              <a:rPr lang="en-US" altLang="zh-CN" sz="2200" b="1" dirty="0">
                <a:ea typeface="宋体" panose="02010600030101010101" pitchFamily="2" charset="-122"/>
              </a:rPr>
              <a:t>C</a:t>
            </a:r>
            <a:r>
              <a:rPr lang="zh-CN" altLang="en-US" sz="2200" b="1" dirty="0">
                <a:ea typeface="宋体" panose="02010600030101010101" pitchFamily="2" charset="-122"/>
              </a:rPr>
              <a:t>语言中是传递过程的指针）</a:t>
            </a:r>
            <a:endParaRPr lang="zh-CN" altLang="en-US" sz="2200" b="1" dirty="0">
              <a:ea typeface="宋体" panose="02010600030101010101" pitchFamily="2" charset="-122"/>
            </a:endParaRPr>
          </a:p>
          <a:p>
            <a:pPr lvl="2"/>
            <a:r>
              <a:rPr lang="zh-CN" altLang="en-US" sz="2000" b="1" dirty="0">
                <a:ea typeface="宋体" panose="02010600030101010101" pitchFamily="2" charset="-122"/>
              </a:rPr>
              <a:t>非局部名字的访问不受过程激活方式的影响</a:t>
            </a:r>
            <a:endParaRPr lang="en-US" altLang="zh-CN" sz="2000" b="1" dirty="0">
              <a:ea typeface="宋体" panose="02010600030101010101" pitchFamily="2" charset="-122"/>
            </a:endParaRPr>
          </a:p>
          <a:p>
            <a:pPr lvl="2"/>
            <a:r>
              <a:rPr lang="zh-CN" altLang="en-US" sz="2000" b="1" dirty="0">
                <a:ea typeface="宋体" panose="02010600030101010101" pitchFamily="2" charset="-122"/>
              </a:rPr>
              <a:t>对一个过程是非局部的变量，则对其它过程也是非局部的</a:t>
            </a:r>
            <a:endParaRPr lang="zh-CN" altLang="en-US" sz="2000" b="1" dirty="0">
              <a:ea typeface="宋体" panose="02010600030101010101" pitchFamily="2" charset="-122"/>
            </a:endParaRP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访问非局部名字（7）</a:t>
            </a:r>
            <a:endParaRPr lang="zh-CN" altLang="en-US" dirty="0">
              <a:latin typeface="Times New Roman" panose="02020603050405020304" pitchFamily="18" charset="0"/>
              <a:ea typeface="宋体" panose="02010600030101010101" pitchFamily="2" charset="-122"/>
            </a:endParaRPr>
          </a:p>
        </p:txBody>
      </p:sp>
      <p:sp>
        <p:nvSpPr>
          <p:cNvPr id="81923" name="Rectangle 3"/>
          <p:cNvSpPr>
            <a:spLocks noGrp="1"/>
          </p:cNvSpPr>
          <p:nvPr>
            <p:ph idx="1"/>
          </p:nvPr>
        </p:nvSpPr>
        <p:spPr>
          <a:xfrm>
            <a:off x="990600" y="1524000"/>
            <a:ext cx="7391400" cy="4419600"/>
          </a:xfrm>
          <a:ln/>
        </p:spPr>
        <p:txBody>
          <a:bodyPr vert="horz" wrap="square" lIns="92075" tIns="46038" rIns="92075" bIns="46038" anchor="t" anchorCtr="0"/>
          <a:p>
            <a:pPr lvl="2">
              <a:lnSpc>
                <a:spcPct val="90000"/>
              </a:lnSpc>
              <a:buFont typeface="Wingdings" panose="05000000000000000000" pitchFamily="2" charset="2"/>
              <a:buNone/>
            </a:pPr>
            <a:r>
              <a:rPr lang="zh-CN" altLang="en-US" sz="2600" b="1" dirty="0">
                <a:ea typeface="宋体" panose="02010600030101010101" pitchFamily="2" charset="-122"/>
              </a:rPr>
              <a:t>例：	</a:t>
            </a:r>
            <a:r>
              <a:rPr lang="en-US" altLang="zh-CN" sz="1500" b="1" dirty="0">
                <a:ea typeface="宋体" panose="02010600030101010101" pitchFamily="2" charset="-122"/>
              </a:rPr>
              <a:t>program pass( input , output );</a:t>
            </a:r>
            <a:endParaRPr lang="en-US" altLang="zh-CN" sz="1500" b="1" dirty="0">
              <a:ea typeface="宋体" panose="02010600030101010101" pitchFamily="2" charset="-122"/>
            </a:endParaRPr>
          </a:p>
          <a:p>
            <a:pPr lvl="2">
              <a:lnSpc>
                <a:spcPct val="90000"/>
              </a:lnSpc>
              <a:buFont typeface="Wingdings" panose="05000000000000000000" pitchFamily="2" charset="2"/>
              <a:buNone/>
            </a:pPr>
            <a:r>
              <a:rPr lang="en-US" altLang="zh-CN" sz="1500" b="1" dirty="0">
                <a:ea typeface="宋体" panose="02010600030101010101" pitchFamily="2" charset="-122"/>
              </a:rPr>
              <a:t>			var </a:t>
            </a:r>
            <a:r>
              <a:rPr lang="en-US" altLang="zh-CN" sz="1500" b="1" dirty="0">
                <a:solidFill>
                  <a:srgbClr val="063DE8"/>
                </a:solidFill>
                <a:ea typeface="宋体" panose="02010600030101010101" pitchFamily="2" charset="-122"/>
              </a:rPr>
              <a:t>m</a:t>
            </a:r>
            <a:r>
              <a:rPr lang="en-US" altLang="zh-CN" sz="1500" b="1" dirty="0">
                <a:ea typeface="宋体" panose="02010600030101010101" pitchFamily="2" charset="-122"/>
              </a:rPr>
              <a:t> : integer;</a:t>
            </a:r>
            <a:endParaRPr lang="en-US" altLang="zh-CN" sz="1500" b="1" dirty="0">
              <a:ea typeface="宋体" panose="02010600030101010101" pitchFamily="2" charset="-122"/>
            </a:endParaRPr>
          </a:p>
          <a:p>
            <a:pPr lvl="2">
              <a:lnSpc>
                <a:spcPct val="90000"/>
              </a:lnSpc>
              <a:buFont typeface="Wingdings" panose="05000000000000000000" pitchFamily="2" charset="2"/>
              <a:buNone/>
            </a:pPr>
            <a:r>
              <a:rPr lang="en-US" altLang="zh-CN" sz="1500" b="1" dirty="0">
                <a:ea typeface="宋体" panose="02010600030101010101" pitchFamily="2" charset="-122"/>
              </a:rPr>
              <a:t>			function f( n : integer ) : integer;</a:t>
            </a:r>
            <a:endParaRPr lang="en-US" altLang="zh-CN" sz="1500" b="1" dirty="0">
              <a:ea typeface="宋体" panose="02010600030101010101" pitchFamily="2" charset="-122"/>
            </a:endParaRPr>
          </a:p>
          <a:p>
            <a:pPr lvl="2">
              <a:lnSpc>
                <a:spcPct val="90000"/>
              </a:lnSpc>
              <a:buFont typeface="Wingdings" panose="05000000000000000000" pitchFamily="2" charset="2"/>
              <a:buNone/>
            </a:pPr>
            <a:r>
              <a:rPr lang="en-US" altLang="zh-CN" sz="1500" b="1" dirty="0">
                <a:ea typeface="宋体" panose="02010600030101010101" pitchFamily="2" charset="-122"/>
              </a:rPr>
              <a:t>				begin  f := </a:t>
            </a:r>
            <a:r>
              <a:rPr lang="en-US" altLang="zh-CN" sz="1500" b="1" dirty="0">
                <a:solidFill>
                  <a:srgbClr val="063DE8"/>
                </a:solidFill>
                <a:ea typeface="宋体" panose="02010600030101010101" pitchFamily="2" charset="-122"/>
              </a:rPr>
              <a:t>m</a:t>
            </a:r>
            <a:r>
              <a:rPr lang="en-US" altLang="zh-CN" sz="1500" b="1" dirty="0">
                <a:ea typeface="宋体" panose="02010600030101010101" pitchFamily="2" charset="-122"/>
              </a:rPr>
              <a:t> + n    end { f };</a:t>
            </a:r>
            <a:endParaRPr lang="en-US" altLang="zh-CN" sz="1500" b="1" dirty="0">
              <a:ea typeface="宋体" panose="02010600030101010101" pitchFamily="2" charset="-122"/>
            </a:endParaRPr>
          </a:p>
          <a:p>
            <a:pPr lvl="2">
              <a:lnSpc>
                <a:spcPct val="90000"/>
              </a:lnSpc>
              <a:buFont typeface="Wingdings" panose="05000000000000000000" pitchFamily="2" charset="2"/>
              <a:buNone/>
            </a:pPr>
            <a:r>
              <a:rPr lang="en-US" altLang="zh-CN" sz="1500" b="1" dirty="0">
                <a:ea typeface="宋体" panose="02010600030101010101" pitchFamily="2" charset="-122"/>
              </a:rPr>
              <a:t>			function g( n : integer ) : integer;</a:t>
            </a:r>
            <a:endParaRPr lang="en-US" altLang="zh-CN" sz="1500" b="1" dirty="0">
              <a:ea typeface="宋体" panose="02010600030101010101" pitchFamily="2" charset="-122"/>
            </a:endParaRPr>
          </a:p>
          <a:p>
            <a:pPr lvl="2">
              <a:lnSpc>
                <a:spcPct val="90000"/>
              </a:lnSpc>
              <a:buFont typeface="Wingdings" panose="05000000000000000000" pitchFamily="2" charset="2"/>
              <a:buNone/>
            </a:pPr>
            <a:r>
              <a:rPr lang="en-US" altLang="zh-CN" sz="1500" b="1" dirty="0">
                <a:ea typeface="宋体" panose="02010600030101010101" pitchFamily="2" charset="-122"/>
              </a:rPr>
              <a:t>				begin  g := </a:t>
            </a:r>
            <a:r>
              <a:rPr lang="en-US" altLang="zh-CN" sz="1500" b="1" dirty="0">
                <a:solidFill>
                  <a:srgbClr val="063DE8"/>
                </a:solidFill>
                <a:ea typeface="宋体" panose="02010600030101010101" pitchFamily="2" charset="-122"/>
              </a:rPr>
              <a:t>m</a:t>
            </a:r>
            <a:r>
              <a:rPr lang="en-US" altLang="zh-CN" sz="1500" b="1" dirty="0">
                <a:ea typeface="宋体" panose="02010600030101010101" pitchFamily="2" charset="-122"/>
              </a:rPr>
              <a:t> * n    end { g };</a:t>
            </a:r>
            <a:endParaRPr lang="en-US" altLang="zh-CN" sz="1500" b="1" dirty="0">
              <a:ea typeface="宋体" panose="02010600030101010101" pitchFamily="2" charset="-122"/>
            </a:endParaRPr>
          </a:p>
          <a:p>
            <a:pPr lvl="2">
              <a:lnSpc>
                <a:spcPct val="90000"/>
              </a:lnSpc>
              <a:buFont typeface="Wingdings" panose="05000000000000000000" pitchFamily="2" charset="2"/>
              <a:buNone/>
            </a:pPr>
            <a:r>
              <a:rPr lang="en-US" altLang="zh-CN" sz="1500" b="1" dirty="0">
                <a:ea typeface="宋体" panose="02010600030101010101" pitchFamily="2" charset="-122"/>
              </a:rPr>
              <a:t>			procedure b( function h( n : integer ) : integer );</a:t>
            </a:r>
            <a:endParaRPr lang="en-US" altLang="zh-CN" sz="1500" b="1" dirty="0">
              <a:ea typeface="宋体" panose="02010600030101010101" pitchFamily="2" charset="-122"/>
            </a:endParaRPr>
          </a:p>
          <a:p>
            <a:pPr lvl="2">
              <a:lnSpc>
                <a:spcPct val="90000"/>
              </a:lnSpc>
              <a:buFont typeface="Wingdings" panose="05000000000000000000" pitchFamily="2" charset="2"/>
              <a:buNone/>
            </a:pPr>
            <a:r>
              <a:rPr lang="en-US" altLang="zh-CN" sz="1500" b="1" dirty="0">
                <a:ea typeface="宋体" panose="02010600030101010101" pitchFamily="2" charset="-122"/>
              </a:rPr>
              <a:t>				begin write( h (2) )    end  { b };</a:t>
            </a:r>
            <a:endParaRPr lang="en-US" altLang="zh-CN" sz="1500" b="1" dirty="0">
              <a:ea typeface="宋体" panose="02010600030101010101" pitchFamily="2" charset="-122"/>
            </a:endParaRPr>
          </a:p>
          <a:p>
            <a:pPr lvl="2">
              <a:lnSpc>
                <a:spcPct val="90000"/>
              </a:lnSpc>
              <a:buFont typeface="Wingdings" panose="05000000000000000000" pitchFamily="2" charset="2"/>
              <a:buNone/>
            </a:pPr>
            <a:r>
              <a:rPr lang="en-US" altLang="zh-CN" sz="1500" b="1" dirty="0">
                <a:ea typeface="宋体" panose="02010600030101010101" pitchFamily="2" charset="-122"/>
              </a:rPr>
              <a:t>			begin</a:t>
            </a:r>
            <a:endParaRPr lang="en-US" altLang="zh-CN" sz="1500" b="1" dirty="0">
              <a:ea typeface="宋体" panose="02010600030101010101" pitchFamily="2" charset="-122"/>
            </a:endParaRPr>
          </a:p>
          <a:p>
            <a:pPr lvl="2">
              <a:lnSpc>
                <a:spcPct val="90000"/>
              </a:lnSpc>
              <a:buFont typeface="Wingdings" panose="05000000000000000000" pitchFamily="2" charset="2"/>
              <a:buNone/>
            </a:pPr>
            <a:r>
              <a:rPr lang="en-US" altLang="zh-CN" sz="1500" b="1" dirty="0">
                <a:ea typeface="宋体" panose="02010600030101010101" pitchFamily="2" charset="-122"/>
              </a:rPr>
              <a:t>				</a:t>
            </a:r>
            <a:r>
              <a:rPr lang="en-US" altLang="zh-CN" sz="1500" b="1" dirty="0">
                <a:solidFill>
                  <a:srgbClr val="063DE8"/>
                </a:solidFill>
                <a:ea typeface="宋体" panose="02010600030101010101" pitchFamily="2" charset="-122"/>
              </a:rPr>
              <a:t>m</a:t>
            </a:r>
            <a:r>
              <a:rPr lang="en-US" altLang="zh-CN" sz="1500" b="1" dirty="0">
                <a:ea typeface="宋体" panose="02010600030101010101" pitchFamily="2" charset="-122"/>
              </a:rPr>
              <a:t> := 0;</a:t>
            </a:r>
            <a:endParaRPr lang="en-US" altLang="zh-CN" sz="1500" b="1" dirty="0">
              <a:ea typeface="宋体" panose="02010600030101010101" pitchFamily="2" charset="-122"/>
            </a:endParaRPr>
          </a:p>
          <a:p>
            <a:pPr lvl="2">
              <a:lnSpc>
                <a:spcPct val="90000"/>
              </a:lnSpc>
              <a:buFont typeface="Wingdings" panose="05000000000000000000" pitchFamily="2" charset="2"/>
              <a:buNone/>
            </a:pPr>
            <a:r>
              <a:rPr lang="en-US" altLang="zh-CN" sz="1500" b="1" dirty="0">
                <a:ea typeface="宋体" panose="02010600030101010101" pitchFamily="2" charset="-122"/>
              </a:rPr>
              <a:t>				b( f ) ;   b( g ) ;   writeln</a:t>
            </a:r>
            <a:endParaRPr lang="en-US" altLang="zh-CN" sz="1500" b="1" dirty="0">
              <a:ea typeface="宋体" panose="02010600030101010101" pitchFamily="2" charset="-122"/>
            </a:endParaRPr>
          </a:p>
          <a:p>
            <a:pPr lvl="2">
              <a:lnSpc>
                <a:spcPct val="90000"/>
              </a:lnSpc>
              <a:buFont typeface="Wingdings" panose="05000000000000000000" pitchFamily="2" charset="2"/>
              <a:buNone/>
            </a:pPr>
            <a:r>
              <a:rPr lang="en-US" altLang="zh-CN" sz="1500" b="1" dirty="0">
                <a:ea typeface="宋体" panose="02010600030101010101" pitchFamily="2" charset="-122"/>
              </a:rPr>
              <a:t>			end.</a:t>
            </a:r>
            <a:endParaRPr lang="en-US" altLang="zh-CN" sz="1500" b="1" dirty="0">
              <a:ea typeface="宋体" panose="02010600030101010101" pitchFamily="2" charset="-122"/>
            </a:endParaRPr>
          </a:p>
          <a:p>
            <a:pPr lvl="2">
              <a:lnSpc>
                <a:spcPct val="90000"/>
              </a:lnSpc>
              <a:buChar char="•"/>
            </a:pPr>
            <a:r>
              <a:rPr lang="zh-CN" altLang="en-US" sz="2000" b="1" dirty="0">
                <a:ea typeface="宋体" panose="02010600030101010101" pitchFamily="2" charset="-122"/>
              </a:rPr>
              <a:t>变量</a:t>
            </a:r>
            <a:r>
              <a:rPr lang="en-US" altLang="zh-CN" sz="2000" b="1" dirty="0">
                <a:ea typeface="宋体" panose="02010600030101010101" pitchFamily="2" charset="-122"/>
              </a:rPr>
              <a:t>m</a:t>
            </a:r>
            <a:r>
              <a:rPr lang="zh-CN" altLang="en-US" sz="2000" b="1" dirty="0">
                <a:ea typeface="宋体" panose="02010600030101010101" pitchFamily="2" charset="-122"/>
              </a:rPr>
              <a:t>对所有的过程是非局部的，可以静态分配它的存储单元</a:t>
            </a:r>
            <a:endParaRPr lang="zh-CN" altLang="en-US" sz="2000" b="1" dirty="0">
              <a:ea typeface="宋体" panose="02010600030101010101" pitchFamily="2" charset="-122"/>
            </a:endParaRPr>
          </a:p>
          <a:p>
            <a:pPr lvl="2">
              <a:lnSpc>
                <a:spcPct val="90000"/>
              </a:lnSpc>
              <a:buChar char="•"/>
            </a:pPr>
            <a:r>
              <a:rPr lang="zh-CN" altLang="en-US" sz="2000" b="1" dirty="0">
                <a:ea typeface="宋体" panose="02010600030101010101" pitchFamily="2" charset="-122"/>
              </a:rPr>
              <a:t>执行结果是：2     0</a:t>
            </a:r>
            <a:endParaRPr lang="en-US" altLang="zh-CN" sz="2000" b="1" dirty="0">
              <a:ea typeface="宋体" panose="02010600030101010101" pitchFamily="2" charset="-122"/>
            </a:endParaRP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访问非局部名字（8）</a:t>
            </a:r>
            <a:endParaRPr lang="zh-CN" altLang="en-US" dirty="0">
              <a:latin typeface="Times New Roman" panose="02020603050405020304" pitchFamily="18" charset="0"/>
              <a:ea typeface="宋体" panose="02010600030101010101" pitchFamily="2" charset="-122"/>
            </a:endParaRPr>
          </a:p>
        </p:txBody>
      </p:sp>
      <p:sp>
        <p:nvSpPr>
          <p:cNvPr id="83971" name="Rectangle 3"/>
          <p:cNvSpPr>
            <a:spLocks noGrp="1"/>
          </p:cNvSpPr>
          <p:nvPr>
            <p:ph idx="1"/>
          </p:nvPr>
        </p:nvSpPr>
        <p:spPr>
          <a:xfrm>
            <a:off x="755650" y="1371600"/>
            <a:ext cx="7626350" cy="5029200"/>
          </a:xfrm>
          <a:ln/>
        </p:spPr>
        <p:txBody>
          <a:bodyPr vert="horz" wrap="square" lIns="92075" tIns="46038" rIns="92075" bIns="46038" anchor="t" anchorCtr="0"/>
          <a:p>
            <a:pPr>
              <a:lnSpc>
                <a:spcPct val="90000"/>
              </a:lnSpc>
            </a:pPr>
            <a:r>
              <a:rPr lang="zh-CN" altLang="en-US" sz="2000" b="1" dirty="0">
                <a:ea typeface="宋体" panose="02010600030101010101" pitchFamily="2" charset="-122"/>
              </a:rPr>
              <a:t>有过程嵌套的静态作用域</a:t>
            </a:r>
            <a:endParaRPr lang="zh-CN" altLang="en-US" sz="2000" b="1" dirty="0">
              <a:ea typeface="宋体" panose="02010600030101010101" pitchFamily="2" charset="-122"/>
            </a:endParaRPr>
          </a:p>
          <a:p>
            <a:pPr lvl="1">
              <a:lnSpc>
                <a:spcPct val="90000"/>
              </a:lnSpc>
            </a:pPr>
            <a:r>
              <a:rPr lang="zh-CN" altLang="en-US" sz="2000" b="1" dirty="0">
                <a:ea typeface="宋体" panose="02010600030101010101" pitchFamily="2" charset="-122"/>
              </a:rPr>
              <a:t>非局部名字的访问，以</a:t>
            </a:r>
            <a:r>
              <a:rPr lang="en-US" altLang="zh-CN" sz="2000" b="1" dirty="0">
                <a:ea typeface="宋体" panose="02010600030101010101" pitchFamily="2" charset="-122"/>
              </a:rPr>
              <a:t>quicksort</a:t>
            </a:r>
            <a:r>
              <a:rPr lang="zh-CN" altLang="en-US" sz="2000" b="1" dirty="0">
                <a:ea typeface="宋体" panose="02010600030101010101" pitchFamily="2" charset="-122"/>
              </a:rPr>
              <a:t>的</a:t>
            </a:r>
            <a:r>
              <a:rPr lang="en-US" altLang="zh-CN" sz="2000" b="1" dirty="0">
                <a:ea typeface="宋体" panose="02010600030101010101" pitchFamily="2" charset="-122"/>
              </a:rPr>
              <a:t>ML</a:t>
            </a:r>
            <a:r>
              <a:rPr lang="zh-CN" altLang="en-US" sz="2000" b="1" dirty="0">
                <a:ea typeface="宋体" panose="02010600030101010101" pitchFamily="2" charset="-122"/>
              </a:rPr>
              <a:t>语言实现为例：</a:t>
            </a:r>
            <a:endParaRPr lang="zh-CN" altLang="en-US" sz="2000" b="1" dirty="0">
              <a:ea typeface="宋体" panose="02010600030101010101" pitchFamily="2" charset="-122"/>
            </a:endParaRPr>
          </a:p>
          <a:p>
            <a:pPr lvl="2">
              <a:lnSpc>
                <a:spcPct val="90000"/>
              </a:lnSpc>
            </a:pPr>
            <a:r>
              <a:rPr lang="zh-CN" altLang="en-US" sz="1800" b="1" dirty="0">
                <a:ea typeface="宋体" panose="02010600030101010101" pitchFamily="2" charset="-122"/>
              </a:rPr>
              <a:t>寻找最接近的嵌套声明，如下面例子中函数</a:t>
            </a:r>
            <a:r>
              <a:rPr lang="en-US" altLang="zh-CN" sz="1800" b="1" dirty="0">
                <a:ea typeface="宋体" panose="02010600030101010101" pitchFamily="2" charset="-122"/>
              </a:rPr>
              <a:t>readArray</a:t>
            </a:r>
            <a:r>
              <a:rPr lang="zh-CN" altLang="en-US" sz="1800" b="1" dirty="0">
                <a:ea typeface="宋体" panose="02010600030101010101" pitchFamily="2" charset="-122"/>
              </a:rPr>
              <a:t>、</a:t>
            </a:r>
            <a:r>
              <a:rPr lang="en-US" altLang="zh-CN" sz="1800" b="1" dirty="0">
                <a:ea typeface="宋体" panose="02010600030101010101" pitchFamily="2" charset="-122"/>
              </a:rPr>
              <a:t>exchange</a:t>
            </a:r>
            <a:r>
              <a:rPr lang="zh-CN" altLang="en-US" sz="1800" b="1" dirty="0">
                <a:ea typeface="宋体" panose="02010600030101010101" pitchFamily="2" charset="-122"/>
              </a:rPr>
              <a:t>和</a:t>
            </a:r>
            <a:r>
              <a:rPr lang="en-US" altLang="zh-CN" sz="1800" b="1" dirty="0">
                <a:ea typeface="宋体" panose="02010600030101010101" pitchFamily="2" charset="-122"/>
              </a:rPr>
              <a:t>partition</a:t>
            </a:r>
            <a:r>
              <a:rPr lang="zh-CN" altLang="en-US" sz="1800" b="1" dirty="0">
                <a:ea typeface="宋体" panose="02010600030101010101" pitchFamily="2" charset="-122"/>
              </a:rPr>
              <a:t>对</a:t>
            </a:r>
            <a:r>
              <a:rPr lang="en-US" altLang="zh-CN" sz="1800" b="1" dirty="0">
                <a:ea typeface="宋体" panose="02010600030101010101" pitchFamily="2" charset="-122"/>
              </a:rPr>
              <a:t>a</a:t>
            </a:r>
            <a:r>
              <a:rPr lang="zh-CN" altLang="en-US" sz="1800" b="1" dirty="0">
                <a:ea typeface="宋体" panose="02010600030101010101" pitchFamily="2" charset="-122"/>
              </a:rPr>
              <a:t>的访问</a:t>
            </a:r>
            <a:endParaRPr lang="zh-CN" altLang="en-US" sz="1800" b="1" dirty="0">
              <a:ea typeface="宋体" panose="02010600030101010101" pitchFamily="2" charset="-122"/>
            </a:endParaRPr>
          </a:p>
        </p:txBody>
      </p:sp>
      <p:pic>
        <p:nvPicPr>
          <p:cNvPr id="83972" name="Picture 2"/>
          <p:cNvPicPr>
            <a:picLocks noChangeAspect="1"/>
          </p:cNvPicPr>
          <p:nvPr/>
        </p:nvPicPr>
        <p:blipFill>
          <a:blip r:embed="rId1"/>
          <a:stretch>
            <a:fillRect/>
          </a:stretch>
        </p:blipFill>
        <p:spPr>
          <a:xfrm>
            <a:off x="800100" y="2565400"/>
            <a:ext cx="7772400" cy="4278313"/>
          </a:xfrm>
          <a:prstGeom prst="rect">
            <a:avLst/>
          </a:prstGeom>
          <a:noFill/>
          <a:ln w="9525">
            <a:noFill/>
          </a:ln>
        </p:spPr>
      </p:pic>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访问非局部名字（9）</a:t>
            </a:r>
            <a:endParaRPr lang="zh-CN" altLang="en-US" dirty="0">
              <a:latin typeface="Times New Roman" panose="02020603050405020304" pitchFamily="18" charset="0"/>
              <a:ea typeface="宋体" panose="02010600030101010101" pitchFamily="2" charset="-122"/>
            </a:endParaRPr>
          </a:p>
        </p:txBody>
      </p:sp>
      <p:sp>
        <p:nvSpPr>
          <p:cNvPr id="86019" name="Rectangle 3"/>
          <p:cNvSpPr>
            <a:spLocks noGrp="1" noChangeArrowheads="1"/>
          </p:cNvSpPr>
          <p:nvPr>
            <p:ph idx="1"/>
          </p:nvPr>
        </p:nvSpPr>
        <p:spPr>
          <a:xfrm>
            <a:off x="990600" y="1484313"/>
            <a:ext cx="7391400" cy="4459288"/>
          </a:xfrm>
        </p:spPr>
        <p:txBody>
          <a:bodyPr vert="horz" wrap="square" lIns="92075" tIns="46038" rIns="92075" bIns="46038" numCol="1" anchor="t" anchorCtr="0" compatLnSpc="1"/>
          <a:lstStyle/>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ML</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的一些解释</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ML</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是一种函数式语言，变量一旦被声明并初始化就不会再改变，但有少数几个例外，如数组的元素可以通过特殊的函数调用改变</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变量定义：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val</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&lt;name&gt; = &lt;expression&gt;</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函数定义：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fun &lt;name&gt; ( &lt; arguments&gt; ) = &lt; body&gt;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let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语句定义函数体，每个</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definition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的作用域从其出现开始，至本函数体的</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end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为止：</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let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&lt;list of definitions&gt; in &lt;statements&gt; end</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ML</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支持高阶函数，函数可以作为参数</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返回值</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没有迭代语句，而是通过递归实现循环的效果</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ML</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将列表和带标号的树结构作为其基本数据类型</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ML</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不需要声明变量的类型，可以在编译时刻推导</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访问非局部名字（</a:t>
            </a:r>
            <a:r>
              <a:rPr lang="en-US" altLang="zh-CN" dirty="0">
                <a:latin typeface="Times New Roman" panose="02020603050405020304" pitchFamily="18" charset="0"/>
                <a:ea typeface="宋体" panose="02010600030101010101" pitchFamily="2" charset="-122"/>
              </a:rPr>
              <a:t>10</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88067" name="Rectangle 3"/>
          <p:cNvSpPr>
            <a:spLocks noGrp="1"/>
          </p:cNvSpPr>
          <p:nvPr>
            <p:ph idx="1"/>
          </p:nvPr>
        </p:nvSpPr>
        <p:spPr>
          <a:xfrm>
            <a:off x="323850" y="1371600"/>
            <a:ext cx="8569325" cy="4572000"/>
          </a:xfrm>
          <a:ln/>
        </p:spPr>
        <p:txBody>
          <a:bodyPr vert="horz" wrap="square" lIns="92075" tIns="46038" rIns="92075" bIns="46038" anchor="t" anchorCtr="0"/>
          <a:p>
            <a:r>
              <a:rPr lang="zh-CN" altLang="en-US" sz="2400" b="1" dirty="0">
                <a:ea typeface="宋体" panose="02010600030101010101" pitchFamily="2" charset="-122"/>
              </a:rPr>
              <a:t>嵌套深度：</a:t>
            </a:r>
            <a:endParaRPr lang="zh-CN" altLang="en-US" sz="2400" b="1" dirty="0">
              <a:ea typeface="宋体" panose="02010600030101010101" pitchFamily="2" charset="-122"/>
            </a:endParaRPr>
          </a:p>
          <a:p>
            <a:pPr lvl="1"/>
            <a:r>
              <a:rPr lang="zh-CN" altLang="en-US" sz="2000" b="1" dirty="0">
                <a:ea typeface="宋体" panose="02010600030101010101" pitchFamily="2" charset="-122"/>
              </a:rPr>
              <a:t>过程的嵌套深度</a:t>
            </a:r>
            <a:endParaRPr lang="zh-CN" altLang="en-US" sz="2000" b="1" dirty="0">
              <a:ea typeface="宋体" panose="02010600030101010101" pitchFamily="2" charset="-122"/>
            </a:endParaRPr>
          </a:p>
          <a:p>
            <a:pPr lvl="2"/>
            <a:r>
              <a:rPr lang="zh-CN" altLang="en-US" sz="1800" b="1" dirty="0">
                <a:ea typeface="宋体" panose="02010600030101010101" pitchFamily="2" charset="-122"/>
              </a:rPr>
              <a:t>设主程序的嵌套深度是1</a:t>
            </a:r>
            <a:endParaRPr lang="zh-CN" altLang="en-US" sz="1800" b="1" dirty="0">
              <a:ea typeface="宋体" panose="02010600030101010101" pitchFamily="2" charset="-122"/>
            </a:endParaRPr>
          </a:p>
          <a:p>
            <a:pPr lvl="2"/>
            <a:r>
              <a:rPr lang="zh-CN" altLang="en-US" sz="1800" b="1" dirty="0">
                <a:ea typeface="宋体" panose="02010600030101010101" pitchFamily="2" charset="-122"/>
              </a:rPr>
              <a:t>从一个过程进入一个被包围的过程，嵌套深度加1</a:t>
            </a:r>
            <a:endParaRPr lang="zh-CN" altLang="en-US" sz="1800" b="1" dirty="0">
              <a:ea typeface="宋体" panose="02010600030101010101" pitchFamily="2" charset="-122"/>
            </a:endParaRPr>
          </a:p>
          <a:p>
            <a:pPr lvl="1"/>
            <a:r>
              <a:rPr lang="zh-CN" altLang="en-US" sz="2000" b="1" dirty="0">
                <a:ea typeface="宋体" panose="02010600030101010101" pitchFamily="2" charset="-122"/>
              </a:rPr>
              <a:t>名字的每次出现，把其声明所在过程的嵌套深度作为该名字的嵌套深度</a:t>
            </a:r>
            <a:endParaRPr lang="zh-CN" altLang="en-US" sz="2000" b="1" dirty="0">
              <a:ea typeface="宋体" panose="02010600030101010101" pitchFamily="2" charset="-122"/>
            </a:endParaRPr>
          </a:p>
          <a:p>
            <a:pPr lvl="1"/>
            <a:r>
              <a:rPr lang="zh-CN" altLang="en-US" sz="2000" b="1" dirty="0">
                <a:ea typeface="宋体" panose="02010600030101010101" pitchFamily="2" charset="-122"/>
              </a:rPr>
              <a:t>用于实现静态作用域</a:t>
            </a:r>
            <a:endParaRPr lang="zh-CN" altLang="en-US" sz="2000" b="1" dirty="0">
              <a:ea typeface="宋体" panose="02010600030101010101" pitchFamily="2" charset="-122"/>
            </a:endParaRPr>
          </a:p>
          <a:p>
            <a:r>
              <a:rPr lang="en-US" altLang="zh-CN" sz="2400" b="1" dirty="0">
                <a:ea typeface="宋体" panose="02010600030101010101" pitchFamily="2" charset="-122"/>
              </a:rPr>
              <a:t>quicksort</a:t>
            </a:r>
            <a:r>
              <a:rPr lang="zh-CN" altLang="en-US" sz="2400" b="1" dirty="0">
                <a:ea typeface="宋体" panose="02010600030101010101" pitchFamily="2" charset="-122"/>
              </a:rPr>
              <a:t>的解读</a:t>
            </a:r>
            <a:endParaRPr lang="zh-CN" altLang="en-US" sz="2400" b="1" dirty="0">
              <a:ea typeface="宋体" panose="02010600030101010101" pitchFamily="2" charset="-122"/>
            </a:endParaRPr>
          </a:p>
          <a:p>
            <a:pPr lvl="1"/>
            <a:r>
              <a:rPr lang="en-US" altLang="zh-CN" sz="2000" b="1" dirty="0">
                <a:ea typeface="宋体" panose="02010600030101010101" pitchFamily="2" charset="-122"/>
              </a:rPr>
              <a:t>sort</a:t>
            </a:r>
            <a:r>
              <a:rPr lang="zh-CN" altLang="en-US" sz="2000" b="1" dirty="0">
                <a:ea typeface="宋体" panose="02010600030101010101" pitchFamily="2" charset="-122"/>
              </a:rPr>
              <a:t>嵌套深度为</a:t>
            </a:r>
            <a:r>
              <a:rPr lang="en-US" altLang="zh-CN" sz="2000" b="1" dirty="0">
                <a:ea typeface="宋体" panose="02010600030101010101" pitchFamily="2" charset="-122"/>
              </a:rPr>
              <a:t>1</a:t>
            </a:r>
            <a:endParaRPr lang="en-US" altLang="zh-CN" sz="2000" b="1" dirty="0">
              <a:ea typeface="宋体" panose="02010600030101010101" pitchFamily="2" charset="-122"/>
            </a:endParaRPr>
          </a:p>
          <a:p>
            <a:pPr lvl="1"/>
            <a:r>
              <a:rPr lang="zh-CN" altLang="en-US" sz="2000" b="1" dirty="0">
                <a:ea typeface="宋体" panose="02010600030101010101" pitchFamily="2" charset="-122"/>
              </a:rPr>
              <a:t>第</a:t>
            </a:r>
            <a:r>
              <a:rPr lang="en-US" altLang="zh-CN" sz="2000" b="1" dirty="0">
                <a:ea typeface="宋体" panose="02010600030101010101" pitchFamily="2" charset="-122"/>
              </a:rPr>
              <a:t>2</a:t>
            </a:r>
            <a:r>
              <a:rPr lang="zh-CN" altLang="en-US" sz="2000" b="1" dirty="0">
                <a:ea typeface="宋体" panose="02010600030101010101" pitchFamily="2" charset="-122"/>
              </a:rPr>
              <a:t>）行定义了有</a:t>
            </a:r>
            <a:r>
              <a:rPr lang="en-US" altLang="zh-CN" sz="2000" b="1" dirty="0">
                <a:ea typeface="宋体" panose="02010600030101010101" pitchFamily="2" charset="-122"/>
              </a:rPr>
              <a:t>11</a:t>
            </a:r>
            <a:r>
              <a:rPr lang="zh-CN" altLang="en-US" sz="2000" b="1" dirty="0">
                <a:ea typeface="宋体" panose="02010600030101010101" pitchFamily="2" charset="-122"/>
              </a:rPr>
              <a:t>元素，每个元素初值为</a:t>
            </a:r>
            <a:r>
              <a:rPr lang="en-US" altLang="zh-CN" sz="2000" b="1" dirty="0">
                <a:ea typeface="宋体" panose="02010600030101010101" pitchFamily="2" charset="-122"/>
              </a:rPr>
              <a:t>0</a:t>
            </a:r>
            <a:r>
              <a:rPr lang="zh-CN" altLang="en-US" sz="2000" b="1" dirty="0">
                <a:ea typeface="宋体" panose="02010600030101010101" pitchFamily="2" charset="-122"/>
              </a:rPr>
              <a:t>的数组</a:t>
            </a:r>
            <a:r>
              <a:rPr lang="en-US" altLang="zh-CN" sz="2000" b="1" dirty="0">
                <a:ea typeface="宋体" panose="02010600030101010101" pitchFamily="2" charset="-122"/>
              </a:rPr>
              <a:t>a</a:t>
            </a:r>
            <a:endParaRPr lang="en-US" altLang="zh-CN" sz="2000" b="1" dirty="0">
              <a:ea typeface="宋体" panose="02010600030101010101" pitchFamily="2" charset="-122"/>
            </a:endParaRPr>
          </a:p>
          <a:p>
            <a:pPr lvl="2"/>
            <a:r>
              <a:rPr lang="zh-CN" altLang="en-US" sz="1800" b="1" dirty="0">
                <a:ea typeface="宋体" panose="02010600030101010101" pitchFamily="2" charset="-122"/>
              </a:rPr>
              <a:t>编译器可以自动推导知道</a:t>
            </a:r>
            <a:r>
              <a:rPr lang="en-US" altLang="zh-CN" sz="1800" b="1" dirty="0">
                <a:ea typeface="宋体" panose="02010600030101010101" pitchFamily="2" charset="-122"/>
              </a:rPr>
              <a:t>a</a:t>
            </a:r>
            <a:r>
              <a:rPr lang="zh-CN" altLang="en-US" sz="1800" b="1" dirty="0">
                <a:ea typeface="宋体" panose="02010600030101010101" pitchFamily="2" charset="-122"/>
              </a:rPr>
              <a:t>的类型为整型数组</a:t>
            </a:r>
            <a:endParaRPr lang="en-US" altLang="zh-CN" sz="1800" b="1" dirty="0">
              <a:ea typeface="宋体" panose="02010600030101010101" pitchFamily="2" charset="-122"/>
            </a:endParaRPr>
          </a:p>
          <a:p>
            <a:pPr lvl="1"/>
            <a:r>
              <a:rPr lang="en-US" altLang="zh-CN" sz="2000" b="1" dirty="0">
                <a:ea typeface="宋体" panose="02010600030101010101" pitchFamily="2" charset="-122"/>
              </a:rPr>
              <a:t>readArray</a:t>
            </a:r>
            <a:r>
              <a:rPr lang="zh-CN" altLang="en-US" sz="2000" b="1" dirty="0">
                <a:ea typeface="宋体" panose="02010600030101010101" pitchFamily="2" charset="-122"/>
              </a:rPr>
              <a:t>、</a:t>
            </a:r>
            <a:r>
              <a:rPr lang="en-US" altLang="zh-CN" sz="2000" b="1" dirty="0">
                <a:ea typeface="宋体" panose="02010600030101010101" pitchFamily="2" charset="-122"/>
              </a:rPr>
              <a:t>exchange</a:t>
            </a:r>
            <a:r>
              <a:rPr lang="zh-CN" altLang="en-US" sz="2000" b="1" dirty="0">
                <a:ea typeface="宋体" panose="02010600030101010101" pitchFamily="2" charset="-122"/>
              </a:rPr>
              <a:t>和</a:t>
            </a:r>
            <a:r>
              <a:rPr lang="en-US" altLang="zh-CN" sz="2000" b="1" dirty="0">
                <a:ea typeface="宋体" panose="02010600030101010101" pitchFamily="2" charset="-122"/>
              </a:rPr>
              <a:t>quicksort</a:t>
            </a:r>
            <a:r>
              <a:rPr lang="zh-CN" altLang="en-US" sz="2000" b="1" dirty="0">
                <a:ea typeface="宋体" panose="02010600030101010101" pitchFamily="2" charset="-122"/>
              </a:rPr>
              <a:t>的嵌套深度都是</a:t>
            </a:r>
            <a:r>
              <a:rPr lang="en-US" altLang="zh-CN" sz="2000" b="1" dirty="0">
                <a:ea typeface="宋体" panose="02010600030101010101" pitchFamily="2" charset="-122"/>
              </a:rPr>
              <a:t>2</a:t>
            </a:r>
            <a:r>
              <a:rPr lang="zh-CN" altLang="en-US" sz="2000" b="1" dirty="0">
                <a:ea typeface="宋体" panose="02010600030101010101" pitchFamily="2" charset="-122"/>
              </a:rPr>
              <a:t>，第</a:t>
            </a:r>
            <a:r>
              <a:rPr lang="en-US" altLang="zh-CN" sz="2000" b="1" dirty="0">
                <a:ea typeface="宋体" panose="02010600030101010101" pitchFamily="2" charset="-122"/>
              </a:rPr>
              <a:t>4</a:t>
            </a:r>
            <a:r>
              <a:rPr lang="zh-CN" altLang="en-US" sz="2000" b="1" dirty="0">
                <a:ea typeface="宋体" panose="02010600030101010101" pitchFamily="2" charset="-122"/>
              </a:rPr>
              <a:t>）和</a:t>
            </a:r>
            <a:r>
              <a:rPr lang="en-US" altLang="zh-CN" sz="2000" b="1" dirty="0">
                <a:ea typeface="宋体" panose="02010600030101010101" pitchFamily="2" charset="-122"/>
              </a:rPr>
              <a:t>6</a:t>
            </a:r>
            <a:r>
              <a:rPr lang="zh-CN" altLang="en-US" sz="2000" b="1" dirty="0">
                <a:ea typeface="宋体" panose="02010600030101010101" pitchFamily="2" charset="-122"/>
              </a:rPr>
              <a:t>）行改变了数组</a:t>
            </a:r>
            <a:r>
              <a:rPr lang="en-US" altLang="zh-CN" sz="2000" b="1" dirty="0">
                <a:ea typeface="宋体" panose="02010600030101010101" pitchFamily="2" charset="-122"/>
              </a:rPr>
              <a:t>a</a:t>
            </a:r>
            <a:r>
              <a:rPr lang="zh-CN" altLang="en-US" sz="2000" b="1" dirty="0">
                <a:ea typeface="宋体" panose="02010600030101010101" pitchFamily="2" charset="-122"/>
              </a:rPr>
              <a:t>的元素的值 </a:t>
            </a:r>
            <a:endParaRPr lang="en-US" altLang="zh-CN" sz="2000" b="1" dirty="0">
              <a:ea typeface="宋体" panose="02010600030101010101" pitchFamily="2" charset="-122"/>
            </a:endParaRPr>
          </a:p>
          <a:p>
            <a:pPr lvl="1"/>
            <a:r>
              <a:rPr lang="zh-CN" altLang="en-US" sz="2000" b="1" dirty="0">
                <a:ea typeface="宋体" panose="02010600030101010101" pitchFamily="2" charset="-122"/>
              </a:rPr>
              <a:t>第</a:t>
            </a:r>
            <a:r>
              <a:rPr lang="en-US" altLang="zh-CN" sz="2000" b="1" dirty="0">
                <a:ea typeface="宋体" panose="02010600030101010101" pitchFamily="2" charset="-122"/>
              </a:rPr>
              <a:t>7~11</a:t>
            </a:r>
            <a:r>
              <a:rPr lang="zh-CN" altLang="en-US" sz="2000" b="1" dirty="0">
                <a:ea typeface="宋体" panose="02010600030101010101" pitchFamily="2" charset="-122"/>
              </a:rPr>
              <a:t>）行给出了</a:t>
            </a:r>
            <a:r>
              <a:rPr lang="en-US" altLang="zh-CN" sz="2000" b="1" dirty="0">
                <a:ea typeface="宋体" panose="02010600030101010101" pitchFamily="2" charset="-122"/>
              </a:rPr>
              <a:t>quicksort</a:t>
            </a:r>
            <a:r>
              <a:rPr lang="zh-CN" altLang="en-US" sz="2000" b="1" dirty="0">
                <a:ea typeface="宋体" panose="02010600030101010101" pitchFamily="2" charset="-122"/>
              </a:rPr>
              <a:t>的细节概要</a:t>
            </a:r>
            <a:endParaRPr lang="en-US" altLang="zh-CN" sz="2000" b="1" dirty="0">
              <a:ea typeface="宋体" panose="02010600030101010101" pitchFamily="2" charset="-122"/>
            </a:endParaRPr>
          </a:p>
          <a:p>
            <a:pPr lvl="1"/>
            <a:r>
              <a:rPr lang="zh-CN" altLang="en-US" sz="2000" b="1" dirty="0">
                <a:ea typeface="宋体" panose="02010600030101010101" pitchFamily="2" charset="-122"/>
              </a:rPr>
              <a:t>第</a:t>
            </a:r>
            <a:r>
              <a:rPr lang="en-US" altLang="zh-CN" sz="2000" b="1" dirty="0">
                <a:ea typeface="宋体" panose="02010600030101010101" pitchFamily="2" charset="-122"/>
              </a:rPr>
              <a:t>12</a:t>
            </a:r>
            <a:r>
              <a:rPr lang="zh-CN" altLang="en-US" sz="2000" b="1" dirty="0">
                <a:ea typeface="宋体" panose="02010600030101010101" pitchFamily="2" charset="-122"/>
              </a:rPr>
              <a:t>）行给出了</a:t>
            </a:r>
            <a:r>
              <a:rPr lang="en-US" altLang="zh-CN" sz="2000" b="1" dirty="0">
                <a:ea typeface="宋体" panose="02010600030101010101" pitchFamily="2" charset="-122"/>
              </a:rPr>
              <a:t>sort</a:t>
            </a:r>
            <a:r>
              <a:rPr lang="zh-CN" altLang="en-US" sz="2000" b="1" dirty="0">
                <a:ea typeface="宋体" panose="02010600030101010101" pitchFamily="2" charset="-122"/>
              </a:rPr>
              <a:t>的细节概要，访问</a:t>
            </a:r>
            <a:r>
              <a:rPr lang="en-US" altLang="zh-CN" sz="2000" b="1" dirty="0">
                <a:ea typeface="宋体" panose="02010600030101010101" pitchFamily="2" charset="-122"/>
              </a:rPr>
              <a:t>a</a:t>
            </a:r>
            <a:r>
              <a:rPr lang="zh-CN" altLang="en-US" sz="2000" b="1" dirty="0">
                <a:ea typeface="宋体" panose="02010600030101010101" pitchFamily="2" charset="-122"/>
              </a:rPr>
              <a:t>，调用</a:t>
            </a:r>
            <a:r>
              <a:rPr lang="en-US" altLang="zh-CN" sz="2000" b="1" dirty="0">
                <a:ea typeface="宋体" panose="02010600030101010101" pitchFamily="2" charset="-122"/>
              </a:rPr>
              <a:t>readArray</a:t>
            </a:r>
            <a:r>
              <a:rPr lang="zh-CN" altLang="en-US" sz="2000" b="1" dirty="0">
                <a:ea typeface="宋体" panose="02010600030101010101" pitchFamily="2" charset="-122"/>
              </a:rPr>
              <a:t>和</a:t>
            </a:r>
            <a:r>
              <a:rPr lang="en-US" altLang="zh-CN" sz="2000" b="1" dirty="0">
                <a:ea typeface="宋体" panose="02010600030101010101" pitchFamily="2" charset="-122"/>
              </a:rPr>
              <a:t>quicksort</a:t>
            </a:r>
            <a:endParaRPr lang="zh-CN" altLang="en-US" sz="2000" b="1" dirty="0">
              <a:ea typeface="宋体" panose="02010600030101010101" pitchFamily="2" charset="-122"/>
            </a:endParaRP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访问非局部名字（</a:t>
            </a:r>
            <a:r>
              <a:rPr lang="en-US" altLang="zh-CN" dirty="0">
                <a:latin typeface="Times New Roman" panose="02020603050405020304" pitchFamily="18" charset="0"/>
                <a:ea typeface="宋体" panose="02010600030101010101" pitchFamily="2" charset="-122"/>
              </a:rPr>
              <a:t>11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90115" name="Rectangle 3"/>
          <p:cNvSpPr>
            <a:spLocks noGrp="1"/>
          </p:cNvSpPr>
          <p:nvPr>
            <p:ph idx="1"/>
          </p:nvPr>
        </p:nvSpPr>
        <p:spPr>
          <a:xfrm>
            <a:off x="990600" y="1524000"/>
            <a:ext cx="7391400" cy="4419600"/>
          </a:xfrm>
          <a:ln/>
        </p:spPr>
        <p:txBody>
          <a:bodyPr vert="horz" wrap="square" lIns="92075" tIns="46038" rIns="92075" bIns="46038" anchor="t" anchorCtr="0"/>
          <a:p>
            <a:r>
              <a:rPr lang="zh-CN" altLang="en-US" sz="2400" b="1" dirty="0">
                <a:ea typeface="宋体" panose="02010600030101010101" pitchFamily="2" charset="-122"/>
              </a:rPr>
              <a:t>访问链：</a:t>
            </a:r>
            <a:endParaRPr lang="zh-CN" altLang="en-US" sz="2400" b="1" dirty="0">
              <a:ea typeface="宋体" panose="02010600030101010101" pitchFamily="2" charset="-122"/>
            </a:endParaRPr>
          </a:p>
          <a:p>
            <a:pPr lvl="1"/>
            <a:r>
              <a:rPr lang="zh-CN" altLang="en-US" sz="2200" b="1" dirty="0">
                <a:ea typeface="宋体" panose="02010600030101010101" pitchFamily="2" charset="-122"/>
              </a:rPr>
              <a:t>实现过程嵌套的静态作用域</a:t>
            </a:r>
            <a:endParaRPr lang="zh-CN" altLang="en-US" sz="2200" b="1" dirty="0">
              <a:ea typeface="宋体" panose="02010600030101010101" pitchFamily="2" charset="-122"/>
            </a:endParaRPr>
          </a:p>
          <a:p>
            <a:pPr lvl="1"/>
            <a:r>
              <a:rPr lang="zh-CN" altLang="en-US" sz="2200" b="1" dirty="0">
                <a:ea typeface="宋体" panose="02010600030101010101" pitchFamily="2" charset="-122"/>
              </a:rPr>
              <a:t>为每个活动记录增加一个访问链指针，如果过程</a:t>
            </a:r>
            <a:r>
              <a:rPr lang="en-US" altLang="zh-CN" sz="2200" b="1" dirty="0">
                <a:ea typeface="宋体" panose="02010600030101010101" pitchFamily="2" charset="-122"/>
              </a:rPr>
              <a:t>p</a:t>
            </a:r>
            <a:r>
              <a:rPr lang="zh-CN" altLang="en-US" sz="2200" b="1" dirty="0">
                <a:ea typeface="宋体" panose="02010600030101010101" pitchFamily="2" charset="-122"/>
              </a:rPr>
              <a:t>在源程序中直接嵌在</a:t>
            </a:r>
            <a:r>
              <a:rPr lang="en-US" altLang="zh-CN" sz="2200" b="1" dirty="0">
                <a:ea typeface="宋体" panose="02010600030101010101" pitchFamily="2" charset="-122"/>
              </a:rPr>
              <a:t>q</a:t>
            </a:r>
            <a:r>
              <a:rPr lang="zh-CN" altLang="en-US" sz="2200" b="1" dirty="0">
                <a:ea typeface="宋体" panose="02010600030101010101" pitchFamily="2" charset="-122"/>
              </a:rPr>
              <a:t>中，则</a:t>
            </a:r>
            <a:r>
              <a:rPr lang="en-US" altLang="zh-CN" sz="2200" b="1" dirty="0">
                <a:ea typeface="宋体" panose="02010600030101010101" pitchFamily="2" charset="-122"/>
              </a:rPr>
              <a:t>p</a:t>
            </a:r>
            <a:r>
              <a:rPr lang="zh-CN" altLang="en-US" sz="2200" b="1" dirty="0">
                <a:ea typeface="宋体" panose="02010600030101010101" pitchFamily="2" charset="-122"/>
              </a:rPr>
              <a:t>的活动记录的访问链指向最接近的那个</a:t>
            </a:r>
            <a:r>
              <a:rPr lang="en-US" altLang="zh-CN" sz="2200" b="1" dirty="0">
                <a:ea typeface="宋体" panose="02010600030101010101" pitchFamily="2" charset="-122"/>
              </a:rPr>
              <a:t>q</a:t>
            </a:r>
            <a:r>
              <a:rPr lang="zh-CN" altLang="en-US" sz="2200" b="1" dirty="0">
                <a:ea typeface="宋体" panose="02010600030101010101" pitchFamily="2" charset="-122"/>
              </a:rPr>
              <a:t>的活动记录的访问链</a:t>
            </a:r>
            <a:endParaRPr lang="en-US" altLang="zh-CN" sz="2200" b="1" dirty="0">
              <a:ea typeface="宋体" panose="02010600030101010101" pitchFamily="2" charset="-122"/>
            </a:endParaRPr>
          </a:p>
          <a:p>
            <a:pPr lvl="2"/>
            <a:r>
              <a:rPr lang="zh-CN" altLang="en-US" sz="2000" b="1" dirty="0">
                <a:ea typeface="宋体" panose="02010600030101010101" pitchFamily="2" charset="-122"/>
              </a:rPr>
              <a:t>此时，</a:t>
            </a:r>
            <a:r>
              <a:rPr lang="en-US" altLang="zh-CN" sz="2000" b="1" dirty="0">
                <a:ea typeface="宋体" panose="02010600030101010101" pitchFamily="2" charset="-122"/>
              </a:rPr>
              <a:t>q</a:t>
            </a:r>
            <a:r>
              <a:rPr lang="zh-CN" altLang="en-US" sz="2000" b="1" dirty="0">
                <a:ea typeface="宋体" panose="02010600030101010101" pitchFamily="2" charset="-122"/>
              </a:rPr>
              <a:t>的嵌套深度恰好比</a:t>
            </a:r>
            <a:r>
              <a:rPr lang="en-US" altLang="zh-CN" sz="2000" b="1" dirty="0">
                <a:ea typeface="宋体" panose="02010600030101010101" pitchFamily="2" charset="-122"/>
              </a:rPr>
              <a:t>p</a:t>
            </a:r>
            <a:r>
              <a:rPr lang="zh-CN" altLang="en-US" sz="2000" b="1" dirty="0">
                <a:ea typeface="宋体" panose="02010600030101010101" pitchFamily="2" charset="-122"/>
              </a:rPr>
              <a:t>的嵌套深度少</a:t>
            </a:r>
            <a:r>
              <a:rPr lang="en-US" altLang="zh-CN" sz="2000" b="1" dirty="0">
                <a:ea typeface="宋体" panose="02010600030101010101" pitchFamily="2" charset="-122"/>
              </a:rPr>
              <a:t>1</a:t>
            </a:r>
            <a:endParaRPr lang="en-US" altLang="zh-CN" sz="2000" b="1" dirty="0">
              <a:ea typeface="宋体" panose="02010600030101010101" pitchFamily="2" charset="-122"/>
            </a:endParaRPr>
          </a:p>
          <a:p>
            <a:pPr lvl="2"/>
            <a:endParaRPr lang="zh-CN" altLang="en-US" sz="2000" b="1" dirty="0">
              <a:ea typeface="宋体" panose="02010600030101010101" pitchFamily="2" charset="-122"/>
            </a:endParaRP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2162" name="Picture 2"/>
          <p:cNvPicPr>
            <a:picLocks noChangeAspect="1"/>
          </p:cNvPicPr>
          <p:nvPr/>
        </p:nvPicPr>
        <p:blipFill>
          <a:blip r:embed="rId1"/>
          <a:stretch>
            <a:fillRect/>
          </a:stretch>
        </p:blipFill>
        <p:spPr>
          <a:xfrm>
            <a:off x="762000" y="533400"/>
            <a:ext cx="7467600" cy="5746750"/>
          </a:xfrm>
          <a:prstGeom prst="rect">
            <a:avLst/>
          </a:prstGeom>
          <a:noFill/>
          <a:ln w="9525">
            <a:noFill/>
          </a:ln>
        </p:spPr>
      </p:pic>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访问非局部名字（1</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93187" name="Rectangle 3"/>
          <p:cNvSpPr>
            <a:spLocks noGrp="1"/>
          </p:cNvSpPr>
          <p:nvPr>
            <p:ph idx="1"/>
          </p:nvPr>
        </p:nvSpPr>
        <p:spPr>
          <a:xfrm>
            <a:off x="990600" y="1524000"/>
            <a:ext cx="7391400" cy="4419600"/>
          </a:xfrm>
          <a:ln/>
        </p:spPr>
        <p:txBody>
          <a:bodyPr vert="horz" wrap="square" lIns="92075" tIns="46038" rIns="92075" bIns="46038" anchor="t" anchorCtr="0"/>
          <a:p>
            <a:pPr lvl="1"/>
            <a:r>
              <a:rPr lang="zh-CN" altLang="en-US" sz="2200" b="1" dirty="0">
                <a:ea typeface="宋体" panose="02010600030101010101" pitchFamily="2" charset="-122"/>
              </a:rPr>
              <a:t>静态链（访问链）和动态链（控制链）的比较：</a:t>
            </a:r>
            <a:endParaRPr lang="zh-CN" altLang="en-US" sz="2200" b="1" dirty="0">
              <a:ea typeface="宋体" panose="02010600030101010101" pitchFamily="2" charset="-122"/>
            </a:endParaRPr>
          </a:p>
          <a:p>
            <a:pPr lvl="2"/>
            <a:r>
              <a:rPr lang="zh-CN" altLang="en-US" sz="2000" b="1" dirty="0">
                <a:ea typeface="宋体" panose="02010600030101010101" pitchFamily="2" charset="-122"/>
              </a:rPr>
              <a:t> 静态链：</a:t>
            </a:r>
            <a:endParaRPr lang="en-US" altLang="zh-CN" sz="2000" b="1" dirty="0">
              <a:ea typeface="宋体" panose="02010600030101010101" pitchFamily="2" charset="-122"/>
            </a:endParaRPr>
          </a:p>
          <a:p>
            <a:pPr lvl="3"/>
            <a:r>
              <a:rPr lang="zh-CN" altLang="en-US" sz="1800" b="1" dirty="0">
                <a:ea typeface="宋体" panose="02010600030101010101" pitchFamily="2" charset="-122"/>
              </a:rPr>
              <a:t>指向源程序中包围本过程的直接外层过程的一个最近活动记录的访问链</a:t>
            </a:r>
            <a:endParaRPr lang="zh-CN" altLang="en-US" sz="1800" b="1" dirty="0">
              <a:ea typeface="宋体" panose="02010600030101010101" pitchFamily="2" charset="-122"/>
            </a:endParaRPr>
          </a:p>
          <a:p>
            <a:pPr lvl="3"/>
            <a:r>
              <a:rPr lang="zh-CN" altLang="en-US" sz="1800" b="1" dirty="0">
                <a:ea typeface="宋体" panose="02010600030101010101" pitchFamily="2" charset="-122"/>
              </a:rPr>
              <a:t>通过静态链实现非局部名字的访问</a:t>
            </a:r>
            <a:endParaRPr lang="zh-CN" altLang="en-US" sz="1800" b="1" dirty="0">
              <a:ea typeface="宋体" panose="02010600030101010101" pitchFamily="2" charset="-122"/>
            </a:endParaRPr>
          </a:p>
          <a:p>
            <a:pPr lvl="3"/>
            <a:r>
              <a:rPr lang="zh-CN" altLang="en-US" sz="1800" b="1" dirty="0">
                <a:ea typeface="宋体" panose="02010600030101010101" pitchFamily="2" charset="-122"/>
              </a:rPr>
              <a:t>通过静态链访问非局部名字，访问速度慢</a:t>
            </a:r>
            <a:endParaRPr lang="zh-CN" altLang="en-US" sz="1800" b="1" dirty="0">
              <a:ea typeface="宋体" panose="02010600030101010101" pitchFamily="2" charset="-122"/>
            </a:endParaRPr>
          </a:p>
          <a:p>
            <a:pPr lvl="2"/>
            <a:r>
              <a:rPr lang="zh-CN" altLang="en-US" sz="2000" b="1" dirty="0">
                <a:ea typeface="宋体" panose="02010600030101010101" pitchFamily="2" charset="-122"/>
              </a:rPr>
              <a:t>动态链：</a:t>
            </a:r>
            <a:endParaRPr lang="zh-CN" altLang="en-US" sz="2000" b="1" dirty="0">
              <a:ea typeface="宋体" panose="02010600030101010101" pitchFamily="2" charset="-122"/>
            </a:endParaRPr>
          </a:p>
          <a:p>
            <a:pPr lvl="3"/>
            <a:r>
              <a:rPr lang="zh-CN" altLang="en-US" sz="1800" b="1" dirty="0">
                <a:ea typeface="宋体" panose="02010600030101010101" pitchFamily="2" charset="-122"/>
              </a:rPr>
              <a:t>指向调用者的活动记录</a:t>
            </a:r>
            <a:endParaRPr lang="zh-CN" altLang="en-US" sz="1800" b="1" dirty="0">
              <a:ea typeface="宋体" panose="02010600030101010101" pitchFamily="2" charset="-122"/>
            </a:endParaRPr>
          </a:p>
        </p:txBody>
      </p:sp>
      <p:sp>
        <p:nvSpPr>
          <p:cNvPr id="93188" name="Rectangle 4"/>
          <p:cNvSpPr/>
          <p:nvPr/>
        </p:nvSpPr>
        <p:spPr>
          <a:xfrm>
            <a:off x="2438400" y="4343400"/>
            <a:ext cx="1752600" cy="1981200"/>
          </a:xfrm>
          <a:prstGeom prst="rect">
            <a:avLst/>
          </a:prstGeom>
          <a:noFill/>
          <a:ln w="22225" cap="flat" cmpd="sng">
            <a:solidFill>
              <a:schemeClr val="tx1"/>
            </a:solidFill>
            <a:prstDash val="solid"/>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93189" name="Line 5"/>
          <p:cNvSpPr/>
          <p:nvPr/>
        </p:nvSpPr>
        <p:spPr>
          <a:xfrm>
            <a:off x="2743200" y="4495800"/>
            <a:ext cx="0" cy="1600200"/>
          </a:xfrm>
          <a:prstGeom prst="line">
            <a:avLst/>
          </a:prstGeom>
          <a:ln w="22225" cap="flat" cmpd="sng">
            <a:solidFill>
              <a:schemeClr val="tx1"/>
            </a:solidFill>
            <a:prstDash val="solid"/>
            <a:headEnd type="none" w="sm" len="sm"/>
            <a:tailEnd type="none" w="lg" len="med"/>
          </a:ln>
        </p:spPr>
      </p:sp>
      <p:sp>
        <p:nvSpPr>
          <p:cNvPr id="93190" name="Text Box 6"/>
          <p:cNvSpPr txBox="1"/>
          <p:nvPr/>
        </p:nvSpPr>
        <p:spPr>
          <a:xfrm>
            <a:off x="2971800" y="4343400"/>
            <a:ext cx="330200" cy="3365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600" b="1" dirty="0">
                <a:ea typeface="宋体" panose="02010600030101010101" pitchFamily="2" charset="-122"/>
              </a:rPr>
              <a:t>A</a:t>
            </a:r>
            <a:endParaRPr lang="en-US" altLang="zh-CN" sz="1600" b="1" dirty="0">
              <a:ea typeface="宋体" panose="02010600030101010101" pitchFamily="2" charset="-122"/>
            </a:endParaRPr>
          </a:p>
        </p:txBody>
      </p:sp>
      <p:sp>
        <p:nvSpPr>
          <p:cNvPr id="93191" name="Line 7"/>
          <p:cNvSpPr/>
          <p:nvPr/>
        </p:nvSpPr>
        <p:spPr>
          <a:xfrm>
            <a:off x="2743200" y="4495800"/>
            <a:ext cx="304800" cy="0"/>
          </a:xfrm>
          <a:prstGeom prst="line">
            <a:avLst/>
          </a:prstGeom>
          <a:ln w="22225" cap="flat" cmpd="sng">
            <a:solidFill>
              <a:schemeClr val="tx1"/>
            </a:solidFill>
            <a:prstDash val="solid"/>
            <a:headEnd type="none" w="sm" len="sm"/>
            <a:tailEnd type="none" w="lg" len="med"/>
          </a:ln>
        </p:spPr>
      </p:sp>
      <p:sp>
        <p:nvSpPr>
          <p:cNvPr id="93192" name="Line 8"/>
          <p:cNvSpPr/>
          <p:nvPr/>
        </p:nvSpPr>
        <p:spPr>
          <a:xfrm>
            <a:off x="2743200" y="6096000"/>
            <a:ext cx="304800" cy="0"/>
          </a:xfrm>
          <a:prstGeom prst="line">
            <a:avLst/>
          </a:prstGeom>
          <a:ln w="22225" cap="flat" cmpd="sng">
            <a:solidFill>
              <a:schemeClr val="tx1"/>
            </a:solidFill>
            <a:prstDash val="solid"/>
            <a:headEnd type="none" w="sm" len="sm"/>
            <a:tailEnd type="none" w="lg" len="med"/>
          </a:ln>
        </p:spPr>
      </p:sp>
      <p:sp>
        <p:nvSpPr>
          <p:cNvPr id="93193" name="Line 9"/>
          <p:cNvSpPr/>
          <p:nvPr/>
        </p:nvSpPr>
        <p:spPr>
          <a:xfrm>
            <a:off x="2971800" y="5048250"/>
            <a:ext cx="0" cy="914400"/>
          </a:xfrm>
          <a:prstGeom prst="line">
            <a:avLst/>
          </a:prstGeom>
          <a:ln w="22225" cap="flat" cmpd="sng">
            <a:solidFill>
              <a:schemeClr val="tx1"/>
            </a:solidFill>
            <a:prstDash val="solid"/>
            <a:headEnd type="none" w="sm" len="sm"/>
            <a:tailEnd type="none" w="lg" len="med"/>
          </a:ln>
        </p:spPr>
      </p:sp>
      <p:sp>
        <p:nvSpPr>
          <p:cNvPr id="93194" name="Text Box 10"/>
          <p:cNvSpPr txBox="1"/>
          <p:nvPr/>
        </p:nvSpPr>
        <p:spPr>
          <a:xfrm>
            <a:off x="3200400" y="4868863"/>
            <a:ext cx="319088" cy="3365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600" b="1" dirty="0">
                <a:ea typeface="宋体" panose="02010600030101010101" pitchFamily="2" charset="-122"/>
              </a:rPr>
              <a:t>B</a:t>
            </a:r>
            <a:endParaRPr lang="en-US" altLang="zh-CN" sz="1600" b="1" dirty="0">
              <a:ea typeface="宋体" panose="02010600030101010101" pitchFamily="2" charset="-122"/>
            </a:endParaRPr>
          </a:p>
        </p:txBody>
      </p:sp>
      <p:sp>
        <p:nvSpPr>
          <p:cNvPr id="93195" name="Line 11"/>
          <p:cNvSpPr/>
          <p:nvPr/>
        </p:nvSpPr>
        <p:spPr>
          <a:xfrm>
            <a:off x="2971800" y="5048250"/>
            <a:ext cx="304800" cy="0"/>
          </a:xfrm>
          <a:prstGeom prst="line">
            <a:avLst/>
          </a:prstGeom>
          <a:ln w="22225" cap="flat" cmpd="sng">
            <a:solidFill>
              <a:schemeClr val="tx1"/>
            </a:solidFill>
            <a:prstDash val="solid"/>
            <a:headEnd type="none" w="sm" len="sm"/>
            <a:tailEnd type="none" w="lg" len="med"/>
          </a:ln>
        </p:spPr>
      </p:sp>
      <p:sp>
        <p:nvSpPr>
          <p:cNvPr id="93196" name="Line 12"/>
          <p:cNvSpPr/>
          <p:nvPr/>
        </p:nvSpPr>
        <p:spPr>
          <a:xfrm>
            <a:off x="2971800" y="5962650"/>
            <a:ext cx="304800" cy="0"/>
          </a:xfrm>
          <a:prstGeom prst="line">
            <a:avLst/>
          </a:prstGeom>
          <a:ln w="22225" cap="flat" cmpd="sng">
            <a:solidFill>
              <a:schemeClr val="tx1"/>
            </a:solidFill>
            <a:prstDash val="solid"/>
            <a:headEnd type="none" w="sm" len="sm"/>
            <a:tailEnd type="none" w="lg" len="med"/>
          </a:ln>
        </p:spPr>
      </p:sp>
      <p:sp>
        <p:nvSpPr>
          <p:cNvPr id="93197" name="Line 13"/>
          <p:cNvSpPr/>
          <p:nvPr/>
        </p:nvSpPr>
        <p:spPr>
          <a:xfrm>
            <a:off x="3124200" y="5200650"/>
            <a:ext cx="0" cy="304800"/>
          </a:xfrm>
          <a:prstGeom prst="line">
            <a:avLst/>
          </a:prstGeom>
          <a:ln w="22225" cap="flat" cmpd="sng">
            <a:solidFill>
              <a:schemeClr val="tx1"/>
            </a:solidFill>
            <a:prstDash val="solid"/>
            <a:headEnd type="none" w="sm" len="sm"/>
            <a:tailEnd type="none" w="lg" len="med"/>
          </a:ln>
        </p:spPr>
      </p:sp>
      <p:sp>
        <p:nvSpPr>
          <p:cNvPr id="93198" name="Line 14"/>
          <p:cNvSpPr/>
          <p:nvPr/>
        </p:nvSpPr>
        <p:spPr>
          <a:xfrm>
            <a:off x="3124200" y="5200650"/>
            <a:ext cx="304800" cy="0"/>
          </a:xfrm>
          <a:prstGeom prst="line">
            <a:avLst/>
          </a:prstGeom>
          <a:ln w="22225" cap="flat" cmpd="sng">
            <a:solidFill>
              <a:schemeClr val="tx1"/>
            </a:solidFill>
            <a:prstDash val="solid"/>
            <a:headEnd type="none" w="sm" len="sm"/>
            <a:tailEnd type="none" w="lg" len="med"/>
          </a:ln>
        </p:spPr>
      </p:sp>
      <p:sp>
        <p:nvSpPr>
          <p:cNvPr id="93199" name="Line 15"/>
          <p:cNvSpPr/>
          <p:nvPr/>
        </p:nvSpPr>
        <p:spPr>
          <a:xfrm>
            <a:off x="3124200" y="5505450"/>
            <a:ext cx="304800" cy="0"/>
          </a:xfrm>
          <a:prstGeom prst="line">
            <a:avLst/>
          </a:prstGeom>
          <a:ln w="22225" cap="flat" cmpd="sng">
            <a:solidFill>
              <a:schemeClr val="tx1"/>
            </a:solidFill>
            <a:prstDash val="solid"/>
            <a:headEnd type="none" w="sm" len="sm"/>
            <a:tailEnd type="none" w="lg" len="med"/>
          </a:ln>
        </p:spPr>
      </p:sp>
      <p:sp>
        <p:nvSpPr>
          <p:cNvPr id="93200" name="Text Box 16"/>
          <p:cNvSpPr txBox="1"/>
          <p:nvPr/>
        </p:nvSpPr>
        <p:spPr>
          <a:xfrm>
            <a:off x="3352800" y="5200650"/>
            <a:ext cx="330200" cy="3365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600" b="1" dirty="0">
                <a:ea typeface="宋体" panose="02010600030101010101" pitchFamily="2" charset="-122"/>
              </a:rPr>
              <a:t>C</a:t>
            </a:r>
            <a:endParaRPr lang="en-US" altLang="zh-CN" sz="1600" b="1" dirty="0">
              <a:ea typeface="宋体" panose="02010600030101010101" pitchFamily="2" charset="-122"/>
            </a:endParaRPr>
          </a:p>
        </p:txBody>
      </p:sp>
      <p:sp>
        <p:nvSpPr>
          <p:cNvPr id="93201" name="Line 17"/>
          <p:cNvSpPr/>
          <p:nvPr/>
        </p:nvSpPr>
        <p:spPr>
          <a:xfrm>
            <a:off x="3124200" y="5581650"/>
            <a:ext cx="0" cy="304800"/>
          </a:xfrm>
          <a:prstGeom prst="line">
            <a:avLst/>
          </a:prstGeom>
          <a:ln w="22225" cap="flat" cmpd="sng">
            <a:solidFill>
              <a:schemeClr val="tx1"/>
            </a:solidFill>
            <a:prstDash val="solid"/>
            <a:headEnd type="none" w="sm" len="sm"/>
            <a:tailEnd type="none" w="lg" len="med"/>
          </a:ln>
        </p:spPr>
      </p:sp>
      <p:sp>
        <p:nvSpPr>
          <p:cNvPr id="93202" name="Line 18"/>
          <p:cNvSpPr/>
          <p:nvPr/>
        </p:nvSpPr>
        <p:spPr>
          <a:xfrm>
            <a:off x="3124200" y="5581650"/>
            <a:ext cx="304800" cy="0"/>
          </a:xfrm>
          <a:prstGeom prst="line">
            <a:avLst/>
          </a:prstGeom>
          <a:ln w="22225" cap="flat" cmpd="sng">
            <a:solidFill>
              <a:schemeClr val="tx1"/>
            </a:solidFill>
            <a:prstDash val="solid"/>
            <a:headEnd type="none" w="sm" len="sm"/>
            <a:tailEnd type="none" w="lg" len="med"/>
          </a:ln>
        </p:spPr>
      </p:sp>
      <p:sp>
        <p:nvSpPr>
          <p:cNvPr id="93203" name="Line 19"/>
          <p:cNvSpPr/>
          <p:nvPr/>
        </p:nvSpPr>
        <p:spPr>
          <a:xfrm>
            <a:off x="3124200" y="5886450"/>
            <a:ext cx="304800" cy="0"/>
          </a:xfrm>
          <a:prstGeom prst="line">
            <a:avLst/>
          </a:prstGeom>
          <a:ln w="22225" cap="flat" cmpd="sng">
            <a:solidFill>
              <a:schemeClr val="tx1"/>
            </a:solidFill>
            <a:prstDash val="solid"/>
            <a:headEnd type="none" w="sm" len="sm"/>
            <a:tailEnd type="none" w="lg" len="med"/>
          </a:ln>
        </p:spPr>
      </p:sp>
      <p:sp>
        <p:nvSpPr>
          <p:cNvPr id="93204" name="Text Box 20"/>
          <p:cNvSpPr txBox="1"/>
          <p:nvPr/>
        </p:nvSpPr>
        <p:spPr>
          <a:xfrm>
            <a:off x="3352800" y="5581650"/>
            <a:ext cx="330200" cy="3365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600" b="1" dirty="0">
                <a:ea typeface="宋体" panose="02010600030101010101" pitchFamily="2" charset="-122"/>
              </a:rPr>
              <a:t>D</a:t>
            </a:r>
            <a:endParaRPr lang="en-US" altLang="zh-CN" sz="1600" b="1" dirty="0">
              <a:ea typeface="宋体" panose="02010600030101010101" pitchFamily="2" charset="-122"/>
            </a:endParaRPr>
          </a:p>
        </p:txBody>
      </p:sp>
      <p:sp>
        <p:nvSpPr>
          <p:cNvPr id="93205" name="Line 21"/>
          <p:cNvSpPr/>
          <p:nvPr/>
        </p:nvSpPr>
        <p:spPr>
          <a:xfrm>
            <a:off x="2987675" y="4581525"/>
            <a:ext cx="1588" cy="304800"/>
          </a:xfrm>
          <a:prstGeom prst="line">
            <a:avLst/>
          </a:prstGeom>
          <a:ln w="22225" cap="flat" cmpd="sng">
            <a:solidFill>
              <a:schemeClr val="tx1"/>
            </a:solidFill>
            <a:prstDash val="solid"/>
            <a:headEnd type="none" w="sm" len="sm"/>
            <a:tailEnd type="none" w="lg" len="med"/>
          </a:ln>
        </p:spPr>
      </p:sp>
      <p:sp>
        <p:nvSpPr>
          <p:cNvPr id="93206" name="Line 22"/>
          <p:cNvSpPr/>
          <p:nvPr/>
        </p:nvSpPr>
        <p:spPr>
          <a:xfrm>
            <a:off x="2987675" y="4581525"/>
            <a:ext cx="304800" cy="1588"/>
          </a:xfrm>
          <a:prstGeom prst="line">
            <a:avLst/>
          </a:prstGeom>
          <a:ln w="22225" cap="flat" cmpd="sng">
            <a:solidFill>
              <a:schemeClr val="tx1"/>
            </a:solidFill>
            <a:prstDash val="solid"/>
            <a:headEnd type="none" w="sm" len="sm"/>
            <a:tailEnd type="none" w="lg" len="med"/>
          </a:ln>
        </p:spPr>
      </p:sp>
      <p:sp>
        <p:nvSpPr>
          <p:cNvPr id="93207" name="Line 23"/>
          <p:cNvSpPr/>
          <p:nvPr/>
        </p:nvSpPr>
        <p:spPr>
          <a:xfrm>
            <a:off x="2987675" y="4886325"/>
            <a:ext cx="304800" cy="0"/>
          </a:xfrm>
          <a:prstGeom prst="line">
            <a:avLst/>
          </a:prstGeom>
          <a:ln w="22225" cap="flat" cmpd="sng">
            <a:solidFill>
              <a:schemeClr val="tx1"/>
            </a:solidFill>
            <a:prstDash val="solid"/>
            <a:headEnd type="none" w="sm" len="sm"/>
            <a:tailEnd type="none" w="lg" len="med"/>
          </a:ln>
        </p:spPr>
      </p:sp>
      <p:sp>
        <p:nvSpPr>
          <p:cNvPr id="93208" name="Text Box 24"/>
          <p:cNvSpPr txBox="1"/>
          <p:nvPr/>
        </p:nvSpPr>
        <p:spPr>
          <a:xfrm>
            <a:off x="3216275" y="4581525"/>
            <a:ext cx="319088" cy="3365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600" b="1" dirty="0">
                <a:ea typeface="宋体" panose="02010600030101010101" pitchFamily="2" charset="-122"/>
              </a:rPr>
              <a:t>E</a:t>
            </a:r>
            <a:endParaRPr lang="en-US" altLang="zh-CN" sz="1600" b="1" dirty="0">
              <a:ea typeface="宋体" panose="02010600030101010101" pitchFamily="2" charset="-122"/>
            </a:endParaRPr>
          </a:p>
        </p:txBody>
      </p:sp>
      <p:sp>
        <p:nvSpPr>
          <p:cNvPr id="93209" name="Rectangle 25"/>
          <p:cNvSpPr/>
          <p:nvPr/>
        </p:nvSpPr>
        <p:spPr>
          <a:xfrm>
            <a:off x="5029200" y="4343400"/>
            <a:ext cx="1981200" cy="1981200"/>
          </a:xfrm>
          <a:prstGeom prst="rect">
            <a:avLst/>
          </a:prstGeom>
          <a:noFill/>
          <a:ln w="22225" cap="flat" cmpd="sng">
            <a:solidFill>
              <a:schemeClr val="tx1"/>
            </a:solidFill>
            <a:prstDash val="solid"/>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93210" name="Rectangle 26"/>
          <p:cNvSpPr/>
          <p:nvPr/>
        </p:nvSpPr>
        <p:spPr>
          <a:xfrm>
            <a:off x="5638800" y="4419600"/>
            <a:ext cx="838200" cy="381000"/>
          </a:xfrm>
          <a:prstGeom prst="rect">
            <a:avLst/>
          </a:prstGeom>
          <a:noFill/>
          <a:ln w="22225" cap="flat" cmpd="sng">
            <a:solidFill>
              <a:schemeClr val="tx1"/>
            </a:solidFill>
            <a:prstDash val="solid"/>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93211" name="Text Box 27"/>
          <p:cNvSpPr txBox="1"/>
          <p:nvPr/>
        </p:nvSpPr>
        <p:spPr>
          <a:xfrm>
            <a:off x="5638800" y="4419600"/>
            <a:ext cx="893763" cy="3365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600" b="1" dirty="0">
                <a:ea typeface="宋体" panose="02010600030101010101" pitchFamily="2" charset="-122"/>
              </a:rPr>
              <a:t>AR of A</a:t>
            </a:r>
            <a:endParaRPr lang="en-US" altLang="zh-CN" sz="1600" b="1" dirty="0">
              <a:ea typeface="宋体" panose="02010600030101010101" pitchFamily="2" charset="-122"/>
            </a:endParaRPr>
          </a:p>
        </p:txBody>
      </p:sp>
      <p:sp>
        <p:nvSpPr>
          <p:cNvPr id="93212" name="Rectangle 28"/>
          <p:cNvSpPr/>
          <p:nvPr/>
        </p:nvSpPr>
        <p:spPr>
          <a:xfrm>
            <a:off x="5638800" y="4800600"/>
            <a:ext cx="838200" cy="381000"/>
          </a:xfrm>
          <a:prstGeom prst="rect">
            <a:avLst/>
          </a:prstGeom>
          <a:noFill/>
          <a:ln w="22225" cap="flat" cmpd="sng">
            <a:solidFill>
              <a:schemeClr val="tx1"/>
            </a:solidFill>
            <a:prstDash val="solid"/>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93213" name="Text Box 29"/>
          <p:cNvSpPr txBox="1"/>
          <p:nvPr/>
        </p:nvSpPr>
        <p:spPr>
          <a:xfrm>
            <a:off x="5638800" y="4800600"/>
            <a:ext cx="882650" cy="3365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600" b="1" dirty="0">
                <a:ea typeface="宋体" panose="02010600030101010101" pitchFamily="2" charset="-122"/>
              </a:rPr>
              <a:t>AR of B</a:t>
            </a:r>
            <a:endParaRPr lang="en-US" altLang="zh-CN" sz="1600" b="1" dirty="0">
              <a:ea typeface="宋体" panose="02010600030101010101" pitchFamily="2" charset="-122"/>
            </a:endParaRPr>
          </a:p>
        </p:txBody>
      </p:sp>
      <p:sp>
        <p:nvSpPr>
          <p:cNvPr id="93214" name="Rectangle 30"/>
          <p:cNvSpPr/>
          <p:nvPr/>
        </p:nvSpPr>
        <p:spPr>
          <a:xfrm>
            <a:off x="5638800" y="5181600"/>
            <a:ext cx="838200" cy="381000"/>
          </a:xfrm>
          <a:prstGeom prst="rect">
            <a:avLst/>
          </a:prstGeom>
          <a:noFill/>
          <a:ln w="22225" cap="flat" cmpd="sng">
            <a:solidFill>
              <a:schemeClr val="tx1"/>
            </a:solidFill>
            <a:prstDash val="solid"/>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93215" name="Text Box 31"/>
          <p:cNvSpPr txBox="1"/>
          <p:nvPr/>
        </p:nvSpPr>
        <p:spPr>
          <a:xfrm>
            <a:off x="5638800" y="5181600"/>
            <a:ext cx="893763" cy="3365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600" b="1" dirty="0">
                <a:ea typeface="宋体" panose="02010600030101010101" pitchFamily="2" charset="-122"/>
              </a:rPr>
              <a:t>AR of C</a:t>
            </a:r>
            <a:endParaRPr lang="en-US" altLang="zh-CN" sz="1600" b="1" dirty="0">
              <a:ea typeface="宋体" panose="02010600030101010101" pitchFamily="2" charset="-122"/>
            </a:endParaRPr>
          </a:p>
        </p:txBody>
      </p:sp>
      <p:sp>
        <p:nvSpPr>
          <p:cNvPr id="93216" name="Rectangle 32"/>
          <p:cNvSpPr/>
          <p:nvPr/>
        </p:nvSpPr>
        <p:spPr>
          <a:xfrm>
            <a:off x="5638800" y="5562600"/>
            <a:ext cx="838200" cy="381000"/>
          </a:xfrm>
          <a:prstGeom prst="rect">
            <a:avLst/>
          </a:prstGeom>
          <a:noFill/>
          <a:ln w="22225" cap="flat" cmpd="sng">
            <a:solidFill>
              <a:schemeClr val="tx1"/>
            </a:solidFill>
            <a:prstDash val="solid"/>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93217" name="Text Box 33"/>
          <p:cNvSpPr txBox="1"/>
          <p:nvPr/>
        </p:nvSpPr>
        <p:spPr>
          <a:xfrm>
            <a:off x="5638800" y="5562600"/>
            <a:ext cx="893763" cy="3365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600" b="1" dirty="0">
                <a:ea typeface="宋体" panose="02010600030101010101" pitchFamily="2" charset="-122"/>
              </a:rPr>
              <a:t>AR of D</a:t>
            </a:r>
            <a:endParaRPr lang="en-US" altLang="zh-CN" sz="1600" b="1" dirty="0">
              <a:ea typeface="宋体" panose="02010600030101010101" pitchFamily="2" charset="-122"/>
            </a:endParaRPr>
          </a:p>
        </p:txBody>
      </p:sp>
      <p:sp>
        <p:nvSpPr>
          <p:cNvPr id="93218" name="Rectangle 34"/>
          <p:cNvSpPr/>
          <p:nvPr/>
        </p:nvSpPr>
        <p:spPr>
          <a:xfrm>
            <a:off x="5638800" y="5943600"/>
            <a:ext cx="838200" cy="228600"/>
          </a:xfrm>
          <a:prstGeom prst="rect">
            <a:avLst/>
          </a:prstGeom>
          <a:noFill/>
          <a:ln w="22225" cap="flat" cmpd="sng">
            <a:solidFill>
              <a:schemeClr val="tx1"/>
            </a:solidFill>
            <a:prstDash val="solid"/>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93219" name="Line 35"/>
          <p:cNvSpPr/>
          <p:nvPr/>
        </p:nvSpPr>
        <p:spPr>
          <a:xfrm flipH="1">
            <a:off x="5410200" y="5715000"/>
            <a:ext cx="304800" cy="0"/>
          </a:xfrm>
          <a:prstGeom prst="line">
            <a:avLst/>
          </a:prstGeom>
          <a:ln w="28575" cap="flat" cmpd="sng">
            <a:solidFill>
              <a:schemeClr val="tx1"/>
            </a:solidFill>
            <a:prstDash val="solid"/>
            <a:headEnd type="none" w="sm" len="sm"/>
            <a:tailEnd type="none" w="lg" len="med"/>
          </a:ln>
        </p:spPr>
      </p:sp>
      <p:sp>
        <p:nvSpPr>
          <p:cNvPr id="93220" name="Line 36"/>
          <p:cNvSpPr/>
          <p:nvPr/>
        </p:nvSpPr>
        <p:spPr>
          <a:xfrm flipV="1">
            <a:off x="5410200" y="5410200"/>
            <a:ext cx="0" cy="304800"/>
          </a:xfrm>
          <a:prstGeom prst="line">
            <a:avLst/>
          </a:prstGeom>
          <a:ln w="28575" cap="flat" cmpd="sng">
            <a:solidFill>
              <a:schemeClr val="tx1"/>
            </a:solidFill>
            <a:prstDash val="solid"/>
            <a:headEnd type="none" w="sm" len="sm"/>
            <a:tailEnd type="none" w="lg" len="med"/>
          </a:ln>
        </p:spPr>
      </p:sp>
      <p:sp>
        <p:nvSpPr>
          <p:cNvPr id="93221" name="Line 37"/>
          <p:cNvSpPr/>
          <p:nvPr/>
        </p:nvSpPr>
        <p:spPr>
          <a:xfrm>
            <a:off x="5410200" y="5410200"/>
            <a:ext cx="228600" cy="0"/>
          </a:xfrm>
          <a:prstGeom prst="line">
            <a:avLst/>
          </a:prstGeom>
          <a:ln w="28575" cap="flat" cmpd="sng">
            <a:solidFill>
              <a:schemeClr val="tx1"/>
            </a:solidFill>
            <a:prstDash val="solid"/>
            <a:headEnd type="none" w="sm" len="sm"/>
            <a:tailEnd type="triangle" w="med" len="med"/>
          </a:ln>
        </p:spPr>
      </p:sp>
      <p:sp>
        <p:nvSpPr>
          <p:cNvPr id="93222" name="Line 38"/>
          <p:cNvSpPr/>
          <p:nvPr/>
        </p:nvSpPr>
        <p:spPr>
          <a:xfrm flipH="1">
            <a:off x="5410200" y="5334000"/>
            <a:ext cx="304800" cy="0"/>
          </a:xfrm>
          <a:prstGeom prst="line">
            <a:avLst/>
          </a:prstGeom>
          <a:ln w="28575" cap="flat" cmpd="sng">
            <a:solidFill>
              <a:schemeClr val="tx1"/>
            </a:solidFill>
            <a:prstDash val="solid"/>
            <a:headEnd type="none" w="sm" len="sm"/>
            <a:tailEnd type="none" w="lg" len="med"/>
          </a:ln>
        </p:spPr>
      </p:sp>
      <p:sp>
        <p:nvSpPr>
          <p:cNvPr id="93223" name="Line 39"/>
          <p:cNvSpPr/>
          <p:nvPr/>
        </p:nvSpPr>
        <p:spPr>
          <a:xfrm flipV="1">
            <a:off x="5410200" y="5029200"/>
            <a:ext cx="0" cy="304800"/>
          </a:xfrm>
          <a:prstGeom prst="line">
            <a:avLst/>
          </a:prstGeom>
          <a:ln w="28575" cap="flat" cmpd="sng">
            <a:solidFill>
              <a:schemeClr val="tx1"/>
            </a:solidFill>
            <a:prstDash val="solid"/>
            <a:headEnd type="none" w="sm" len="sm"/>
            <a:tailEnd type="none" w="lg" len="med"/>
          </a:ln>
        </p:spPr>
      </p:sp>
      <p:sp>
        <p:nvSpPr>
          <p:cNvPr id="93224" name="Line 40"/>
          <p:cNvSpPr/>
          <p:nvPr/>
        </p:nvSpPr>
        <p:spPr>
          <a:xfrm>
            <a:off x="5410200" y="5029200"/>
            <a:ext cx="228600" cy="0"/>
          </a:xfrm>
          <a:prstGeom prst="line">
            <a:avLst/>
          </a:prstGeom>
          <a:ln w="28575" cap="flat" cmpd="sng">
            <a:solidFill>
              <a:schemeClr val="tx1"/>
            </a:solidFill>
            <a:prstDash val="solid"/>
            <a:headEnd type="none" w="sm" len="sm"/>
            <a:tailEnd type="triangle" w="med" len="med"/>
          </a:ln>
        </p:spPr>
      </p:sp>
      <p:sp>
        <p:nvSpPr>
          <p:cNvPr id="93225" name="Line 41"/>
          <p:cNvSpPr/>
          <p:nvPr/>
        </p:nvSpPr>
        <p:spPr>
          <a:xfrm flipH="1">
            <a:off x="5410200" y="4953000"/>
            <a:ext cx="304800" cy="0"/>
          </a:xfrm>
          <a:prstGeom prst="line">
            <a:avLst/>
          </a:prstGeom>
          <a:ln w="28575" cap="flat" cmpd="sng">
            <a:solidFill>
              <a:schemeClr val="tx1"/>
            </a:solidFill>
            <a:prstDash val="solid"/>
            <a:headEnd type="none" w="sm" len="sm"/>
            <a:tailEnd type="none" w="lg" len="med"/>
          </a:ln>
        </p:spPr>
      </p:sp>
      <p:sp>
        <p:nvSpPr>
          <p:cNvPr id="93226" name="Line 42"/>
          <p:cNvSpPr/>
          <p:nvPr/>
        </p:nvSpPr>
        <p:spPr>
          <a:xfrm flipV="1">
            <a:off x="5410200" y="4648200"/>
            <a:ext cx="0" cy="304800"/>
          </a:xfrm>
          <a:prstGeom prst="line">
            <a:avLst/>
          </a:prstGeom>
          <a:ln w="28575" cap="flat" cmpd="sng">
            <a:solidFill>
              <a:schemeClr val="tx1"/>
            </a:solidFill>
            <a:prstDash val="solid"/>
            <a:headEnd type="none" w="sm" len="sm"/>
            <a:tailEnd type="none" w="lg" len="med"/>
          </a:ln>
        </p:spPr>
      </p:sp>
      <p:sp>
        <p:nvSpPr>
          <p:cNvPr id="93227" name="Line 43"/>
          <p:cNvSpPr/>
          <p:nvPr/>
        </p:nvSpPr>
        <p:spPr>
          <a:xfrm>
            <a:off x="5410200" y="4648200"/>
            <a:ext cx="228600" cy="0"/>
          </a:xfrm>
          <a:prstGeom prst="line">
            <a:avLst/>
          </a:prstGeom>
          <a:ln w="28575" cap="flat" cmpd="sng">
            <a:solidFill>
              <a:schemeClr val="tx1"/>
            </a:solidFill>
            <a:prstDash val="solid"/>
            <a:headEnd type="none" w="sm" len="sm"/>
            <a:tailEnd type="triangle" w="med" len="med"/>
          </a:ln>
        </p:spPr>
      </p:sp>
      <p:sp>
        <p:nvSpPr>
          <p:cNvPr id="93228" name="Line 44"/>
          <p:cNvSpPr/>
          <p:nvPr/>
        </p:nvSpPr>
        <p:spPr>
          <a:xfrm>
            <a:off x="6400800" y="5257800"/>
            <a:ext cx="304800" cy="0"/>
          </a:xfrm>
          <a:prstGeom prst="line">
            <a:avLst/>
          </a:prstGeom>
          <a:ln w="28575" cap="flat" cmpd="sng">
            <a:solidFill>
              <a:schemeClr val="tx1"/>
            </a:solidFill>
            <a:prstDash val="solid"/>
            <a:headEnd type="none" w="sm" len="sm"/>
            <a:tailEnd type="none" w="lg" len="med"/>
          </a:ln>
        </p:spPr>
      </p:sp>
      <p:sp>
        <p:nvSpPr>
          <p:cNvPr id="93229" name="Line 45"/>
          <p:cNvSpPr/>
          <p:nvPr/>
        </p:nvSpPr>
        <p:spPr>
          <a:xfrm flipV="1">
            <a:off x="6705600" y="4953000"/>
            <a:ext cx="0" cy="304800"/>
          </a:xfrm>
          <a:prstGeom prst="line">
            <a:avLst/>
          </a:prstGeom>
          <a:ln w="28575" cap="flat" cmpd="sng">
            <a:solidFill>
              <a:schemeClr val="tx1"/>
            </a:solidFill>
            <a:prstDash val="solid"/>
            <a:headEnd type="none" w="sm" len="sm"/>
            <a:tailEnd type="none" w="lg" len="med"/>
          </a:ln>
        </p:spPr>
      </p:sp>
      <p:sp>
        <p:nvSpPr>
          <p:cNvPr id="93230" name="Line 46"/>
          <p:cNvSpPr/>
          <p:nvPr/>
        </p:nvSpPr>
        <p:spPr>
          <a:xfrm flipH="1">
            <a:off x="6477000" y="4953000"/>
            <a:ext cx="228600" cy="0"/>
          </a:xfrm>
          <a:prstGeom prst="line">
            <a:avLst/>
          </a:prstGeom>
          <a:ln w="28575" cap="flat" cmpd="sng">
            <a:solidFill>
              <a:schemeClr val="tx1"/>
            </a:solidFill>
            <a:prstDash val="solid"/>
            <a:headEnd type="none" w="sm" len="sm"/>
            <a:tailEnd type="triangle" w="med" len="med"/>
          </a:ln>
        </p:spPr>
      </p:sp>
      <p:sp>
        <p:nvSpPr>
          <p:cNvPr id="93231" name="Line 47"/>
          <p:cNvSpPr/>
          <p:nvPr/>
        </p:nvSpPr>
        <p:spPr>
          <a:xfrm>
            <a:off x="6400800" y="5715000"/>
            <a:ext cx="381000" cy="0"/>
          </a:xfrm>
          <a:prstGeom prst="line">
            <a:avLst/>
          </a:prstGeom>
          <a:ln w="28575" cap="flat" cmpd="sng">
            <a:solidFill>
              <a:schemeClr val="tx1"/>
            </a:solidFill>
            <a:prstDash val="solid"/>
            <a:headEnd type="none" w="sm" len="sm"/>
            <a:tailEnd type="none" w="lg" len="med"/>
          </a:ln>
        </p:spPr>
      </p:sp>
      <p:sp>
        <p:nvSpPr>
          <p:cNvPr id="93232" name="Line 48"/>
          <p:cNvSpPr/>
          <p:nvPr/>
        </p:nvSpPr>
        <p:spPr>
          <a:xfrm flipV="1">
            <a:off x="6781800" y="4953000"/>
            <a:ext cx="0" cy="762000"/>
          </a:xfrm>
          <a:prstGeom prst="line">
            <a:avLst/>
          </a:prstGeom>
          <a:ln w="28575" cap="flat" cmpd="sng">
            <a:solidFill>
              <a:schemeClr val="tx1"/>
            </a:solidFill>
            <a:prstDash val="solid"/>
            <a:headEnd type="none" w="sm" len="sm"/>
            <a:tailEnd type="none" w="lg" len="med"/>
          </a:ln>
        </p:spPr>
      </p:sp>
      <p:sp>
        <p:nvSpPr>
          <p:cNvPr id="93233" name="Line 49"/>
          <p:cNvSpPr/>
          <p:nvPr/>
        </p:nvSpPr>
        <p:spPr>
          <a:xfrm flipH="1">
            <a:off x="6400800" y="4941888"/>
            <a:ext cx="403225" cy="11112"/>
          </a:xfrm>
          <a:prstGeom prst="line">
            <a:avLst/>
          </a:prstGeom>
          <a:ln w="28575" cap="flat" cmpd="sng">
            <a:solidFill>
              <a:schemeClr val="tx1"/>
            </a:solidFill>
            <a:prstDash val="solid"/>
            <a:headEnd type="none" w="sm" len="sm"/>
            <a:tailEnd type="triangle" w="med" len="med"/>
          </a:ln>
        </p:spPr>
      </p:sp>
      <p:sp>
        <p:nvSpPr>
          <p:cNvPr id="93234" name="Line 51"/>
          <p:cNvSpPr/>
          <p:nvPr/>
        </p:nvSpPr>
        <p:spPr>
          <a:xfrm>
            <a:off x="6400800" y="4876800"/>
            <a:ext cx="304800" cy="0"/>
          </a:xfrm>
          <a:prstGeom prst="line">
            <a:avLst/>
          </a:prstGeom>
          <a:ln w="28575" cap="flat" cmpd="sng">
            <a:solidFill>
              <a:schemeClr val="tx1"/>
            </a:solidFill>
            <a:prstDash val="solid"/>
            <a:headEnd type="none" w="sm" len="sm"/>
            <a:tailEnd type="none" w="lg" len="med"/>
          </a:ln>
        </p:spPr>
      </p:sp>
      <p:sp>
        <p:nvSpPr>
          <p:cNvPr id="93235" name="Line 52"/>
          <p:cNvSpPr/>
          <p:nvPr/>
        </p:nvSpPr>
        <p:spPr>
          <a:xfrm flipV="1">
            <a:off x="6705600" y="4572000"/>
            <a:ext cx="0" cy="304800"/>
          </a:xfrm>
          <a:prstGeom prst="line">
            <a:avLst/>
          </a:prstGeom>
          <a:ln w="28575" cap="flat" cmpd="sng">
            <a:solidFill>
              <a:schemeClr val="tx1"/>
            </a:solidFill>
            <a:prstDash val="solid"/>
            <a:headEnd type="none" w="sm" len="sm"/>
            <a:tailEnd type="none" w="lg" len="med"/>
          </a:ln>
        </p:spPr>
      </p:sp>
      <p:sp>
        <p:nvSpPr>
          <p:cNvPr id="93236" name="Line 53"/>
          <p:cNvSpPr/>
          <p:nvPr/>
        </p:nvSpPr>
        <p:spPr>
          <a:xfrm flipH="1">
            <a:off x="6477000" y="4572000"/>
            <a:ext cx="228600" cy="0"/>
          </a:xfrm>
          <a:prstGeom prst="line">
            <a:avLst/>
          </a:prstGeom>
          <a:ln w="28575" cap="flat" cmpd="sng">
            <a:solidFill>
              <a:schemeClr val="tx1"/>
            </a:solidFill>
            <a:prstDash val="solid"/>
            <a:headEnd type="none" w="sm" len="sm"/>
            <a:tailEnd type="triangle" w="med" len="med"/>
          </a:ln>
        </p:spPr>
      </p:sp>
      <p:sp>
        <p:nvSpPr>
          <p:cNvPr id="93237" name="Text Box 54"/>
          <p:cNvSpPr txBox="1"/>
          <p:nvPr/>
        </p:nvSpPr>
        <p:spPr>
          <a:xfrm>
            <a:off x="5029200" y="5791200"/>
            <a:ext cx="593725" cy="581025"/>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zh-CN" altLang="en-US" sz="1600" b="1" dirty="0">
                <a:ea typeface="宋体" panose="02010600030101010101" pitchFamily="2" charset="-122"/>
              </a:rPr>
              <a:t>动态</a:t>
            </a:r>
            <a:endParaRPr lang="zh-CN" altLang="en-US" sz="1600" b="1" dirty="0">
              <a:ea typeface="宋体" panose="02010600030101010101" pitchFamily="2" charset="-122"/>
            </a:endParaRPr>
          </a:p>
          <a:p>
            <a:pPr marL="0" lvl="0" indent="0">
              <a:spcBef>
                <a:spcPct val="0"/>
              </a:spcBef>
              <a:buClrTx/>
              <a:buSzTx/>
              <a:buNone/>
            </a:pPr>
            <a:r>
              <a:rPr lang="zh-CN" altLang="en-US" sz="1600" b="1" dirty="0">
                <a:ea typeface="宋体" panose="02010600030101010101" pitchFamily="2" charset="-122"/>
              </a:rPr>
              <a:t>链</a:t>
            </a:r>
            <a:endParaRPr lang="zh-CN" altLang="en-US" sz="1600" b="1" dirty="0">
              <a:ea typeface="宋体" panose="02010600030101010101" pitchFamily="2" charset="-122"/>
            </a:endParaRPr>
          </a:p>
        </p:txBody>
      </p:sp>
      <p:sp>
        <p:nvSpPr>
          <p:cNvPr id="93238" name="Text Box 55"/>
          <p:cNvSpPr txBox="1"/>
          <p:nvPr/>
        </p:nvSpPr>
        <p:spPr>
          <a:xfrm>
            <a:off x="6477000" y="5715000"/>
            <a:ext cx="593725" cy="581025"/>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zh-CN" altLang="en-US" sz="1600" b="1" dirty="0">
                <a:ea typeface="宋体" panose="02010600030101010101" pitchFamily="2" charset="-122"/>
              </a:rPr>
              <a:t>静态</a:t>
            </a:r>
            <a:endParaRPr lang="zh-CN" altLang="en-US" sz="1600" b="1" dirty="0">
              <a:ea typeface="宋体" panose="02010600030101010101" pitchFamily="2" charset="-122"/>
            </a:endParaRPr>
          </a:p>
          <a:p>
            <a:pPr marL="0" lvl="0" indent="0">
              <a:spcBef>
                <a:spcPct val="0"/>
              </a:spcBef>
              <a:buClrTx/>
              <a:buSzTx/>
              <a:buNone/>
            </a:pPr>
            <a:r>
              <a:rPr lang="zh-CN" altLang="en-US" sz="1600" b="1" dirty="0">
                <a:ea typeface="宋体" panose="02010600030101010101" pitchFamily="2" charset="-122"/>
              </a:rPr>
              <a:t>链</a:t>
            </a:r>
            <a:endParaRPr lang="zh-CN" altLang="en-US" sz="1600" b="1" dirty="0">
              <a:ea typeface="宋体" panose="02010600030101010101" pitchFamily="2" charset="-122"/>
            </a:endParaRP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访问非局部名字（1</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95235" name="Rectangle 3"/>
          <p:cNvSpPr>
            <a:spLocks noGrp="1"/>
          </p:cNvSpPr>
          <p:nvPr>
            <p:ph idx="1"/>
          </p:nvPr>
        </p:nvSpPr>
        <p:spPr>
          <a:xfrm>
            <a:off x="395288" y="1371600"/>
            <a:ext cx="8497887" cy="4800600"/>
          </a:xfrm>
          <a:ln/>
        </p:spPr>
        <p:txBody>
          <a:bodyPr vert="horz" wrap="square" lIns="92075" tIns="46038" rIns="92075" bIns="46038" anchor="t" anchorCtr="0"/>
          <a:p>
            <a:pPr lvl="1"/>
            <a:r>
              <a:rPr lang="zh-CN" altLang="en-US" sz="2200" b="1" dirty="0">
                <a:ea typeface="宋体" panose="02010600030101010101" pitchFamily="2" charset="-122"/>
              </a:rPr>
              <a:t>访问链的建立：</a:t>
            </a:r>
            <a:endParaRPr lang="zh-CN" altLang="en-US" sz="2200" b="1" dirty="0">
              <a:ea typeface="宋体" panose="02010600030101010101" pitchFamily="2" charset="-122"/>
            </a:endParaRPr>
          </a:p>
          <a:p>
            <a:pPr lvl="2"/>
            <a:r>
              <a:rPr lang="zh-CN" altLang="en-US" sz="2000" b="1" dirty="0">
                <a:ea typeface="宋体" panose="02010600030101010101" pitchFamily="2" charset="-122"/>
              </a:rPr>
              <a:t>假定过程</a:t>
            </a:r>
            <a:r>
              <a:rPr lang="en-US" altLang="zh-CN" sz="2000" b="1" dirty="0">
                <a:ea typeface="宋体" panose="02010600030101010101" pitchFamily="2" charset="-122"/>
              </a:rPr>
              <a:t>q</a:t>
            </a:r>
            <a:r>
              <a:rPr lang="zh-CN" altLang="en-US" sz="2000" b="1" dirty="0">
                <a:ea typeface="宋体" panose="02010600030101010101" pitchFamily="2" charset="-122"/>
              </a:rPr>
              <a:t>的嵌套深度为</a:t>
            </a:r>
            <a:r>
              <a:rPr lang="en-US" altLang="zh-CN" sz="2000" b="1" i="1" dirty="0">
                <a:ea typeface="宋体" panose="02010600030101010101" pitchFamily="2" charset="-122"/>
              </a:rPr>
              <a:t>n</a:t>
            </a:r>
            <a:r>
              <a:rPr lang="en-US" altLang="zh-CN" sz="2000" b="1" i="1" baseline="-25000" dirty="0">
                <a:ea typeface="宋体" panose="02010600030101010101" pitchFamily="2" charset="-122"/>
              </a:rPr>
              <a:t>q</a:t>
            </a:r>
            <a:r>
              <a:rPr lang="en-US" altLang="zh-CN" sz="2000" b="1" dirty="0">
                <a:ea typeface="宋体" panose="02010600030101010101" pitchFamily="2" charset="-122"/>
              </a:rPr>
              <a:t>，</a:t>
            </a:r>
            <a:r>
              <a:rPr lang="zh-CN" altLang="en-US" sz="2000" b="1" dirty="0">
                <a:ea typeface="宋体" panose="02010600030101010101" pitchFamily="2" charset="-122"/>
              </a:rPr>
              <a:t>它调用一个嵌套深度为</a:t>
            </a:r>
            <a:r>
              <a:rPr lang="en-US" altLang="zh-CN" sz="2000" b="1" i="1" dirty="0">
                <a:ea typeface="宋体" panose="02010600030101010101" pitchFamily="2" charset="-122"/>
              </a:rPr>
              <a:t>n</a:t>
            </a:r>
            <a:r>
              <a:rPr lang="en-US" altLang="zh-CN" sz="2000" b="1" i="1" baseline="-25000" dirty="0">
                <a:ea typeface="宋体" panose="02010600030101010101" pitchFamily="2" charset="-122"/>
              </a:rPr>
              <a:t>p</a:t>
            </a:r>
            <a:r>
              <a:rPr lang="zh-CN" altLang="en-US" sz="2000" b="1" dirty="0">
                <a:ea typeface="宋体" panose="02010600030101010101" pitchFamily="2" charset="-122"/>
              </a:rPr>
              <a:t>的过程</a:t>
            </a:r>
            <a:r>
              <a:rPr lang="en-US" altLang="zh-CN" sz="2000" b="1" dirty="0">
                <a:ea typeface="宋体" panose="02010600030101010101" pitchFamily="2" charset="-122"/>
              </a:rPr>
              <a:t>p</a:t>
            </a:r>
            <a:r>
              <a:rPr lang="zh-CN" altLang="en-US" sz="2000" b="1" dirty="0">
                <a:ea typeface="宋体" panose="02010600030101010101" pitchFamily="2" charset="-122"/>
              </a:rPr>
              <a:t>：</a:t>
            </a:r>
            <a:endParaRPr lang="zh-CN" altLang="en-US" sz="2000" b="1" dirty="0">
              <a:ea typeface="宋体" panose="02010600030101010101" pitchFamily="2" charset="-122"/>
            </a:endParaRPr>
          </a:p>
          <a:p>
            <a:pPr lvl="3"/>
            <a:r>
              <a:rPr lang="zh-CN" altLang="en-US" sz="1800" b="1" dirty="0">
                <a:ea typeface="宋体" panose="02010600030101010101" pitchFamily="2" charset="-122"/>
              </a:rPr>
              <a:t>如果</a:t>
            </a:r>
            <a:r>
              <a:rPr lang="en-US" altLang="zh-CN" sz="1800" b="1" i="1" dirty="0">
                <a:ea typeface="宋体" panose="02010600030101010101" pitchFamily="2" charset="-122"/>
              </a:rPr>
              <a:t>n</a:t>
            </a:r>
            <a:r>
              <a:rPr lang="en-US" altLang="zh-CN" sz="1800" b="1" i="1" baseline="-25000" dirty="0">
                <a:ea typeface="宋体" panose="02010600030101010101" pitchFamily="2" charset="-122"/>
              </a:rPr>
              <a:t>p</a:t>
            </a:r>
            <a:r>
              <a:rPr lang="zh-CN" altLang="en-US" sz="1800" b="1" dirty="0">
                <a:ea typeface="宋体" panose="02010600030101010101" pitchFamily="2" charset="-122"/>
              </a:rPr>
              <a:t> </a:t>
            </a:r>
            <a:r>
              <a:rPr lang="en-US" altLang="zh-CN" sz="1800" b="1" dirty="0">
                <a:ea typeface="宋体" panose="02010600030101010101" pitchFamily="2" charset="-122"/>
              </a:rPr>
              <a:t>&gt;</a:t>
            </a:r>
            <a:r>
              <a:rPr lang="zh-CN" altLang="en-US" sz="1800" b="1" dirty="0">
                <a:ea typeface="宋体" panose="02010600030101010101" pitchFamily="2" charset="-122"/>
              </a:rPr>
              <a:t> </a:t>
            </a:r>
            <a:r>
              <a:rPr lang="en-US" altLang="zh-CN" sz="1800" b="1" i="1" dirty="0">
                <a:ea typeface="宋体" panose="02010600030101010101" pitchFamily="2" charset="-122"/>
              </a:rPr>
              <a:t>n</a:t>
            </a:r>
            <a:r>
              <a:rPr lang="en-US" altLang="zh-CN" sz="1800" b="1" i="1" baseline="-25000" dirty="0">
                <a:ea typeface="宋体" panose="02010600030101010101" pitchFamily="2" charset="-122"/>
              </a:rPr>
              <a:t>q</a:t>
            </a:r>
            <a:r>
              <a:rPr lang="zh-CN" altLang="en-US" sz="1800" b="1" dirty="0">
                <a:ea typeface="宋体" panose="02010600030101010101" pitchFamily="2" charset="-122"/>
              </a:rPr>
              <a:t> </a:t>
            </a:r>
            <a:endParaRPr lang="en-US" altLang="zh-CN" sz="1800" b="1" dirty="0">
              <a:ea typeface="宋体" panose="02010600030101010101" pitchFamily="2" charset="-122"/>
            </a:endParaRPr>
          </a:p>
          <a:p>
            <a:pPr lvl="4"/>
            <a:r>
              <a:rPr lang="zh-CN" altLang="en-US" sz="1600" b="1" dirty="0">
                <a:ea typeface="宋体" panose="02010600030101010101" pitchFamily="2" charset="-122"/>
              </a:rPr>
              <a:t>过程</a:t>
            </a:r>
            <a:r>
              <a:rPr lang="en-US" altLang="zh-CN" sz="1600" b="1" dirty="0">
                <a:ea typeface="宋体" panose="02010600030101010101" pitchFamily="2" charset="-122"/>
              </a:rPr>
              <a:t>p</a:t>
            </a:r>
            <a:r>
              <a:rPr lang="zh-CN" altLang="en-US" sz="1600" b="1" dirty="0">
                <a:ea typeface="宋体" panose="02010600030101010101" pitchFamily="2" charset="-122"/>
              </a:rPr>
              <a:t>比过程</a:t>
            </a:r>
            <a:r>
              <a:rPr lang="en-US" altLang="zh-CN" sz="1600" b="1" dirty="0">
                <a:ea typeface="宋体" panose="02010600030101010101" pitchFamily="2" charset="-122"/>
              </a:rPr>
              <a:t>q</a:t>
            </a:r>
            <a:r>
              <a:rPr lang="zh-CN" altLang="en-US" sz="1600" b="1" dirty="0">
                <a:ea typeface="宋体" panose="02010600030101010101" pitchFamily="2" charset="-122"/>
              </a:rPr>
              <a:t>嵌得更深，</a:t>
            </a:r>
            <a:r>
              <a:rPr lang="en-US" altLang="zh-CN" sz="1600" b="1" dirty="0">
                <a:ea typeface="宋体" panose="02010600030101010101" pitchFamily="2" charset="-122"/>
              </a:rPr>
              <a:t>p</a:t>
            </a:r>
            <a:r>
              <a:rPr lang="zh-CN" altLang="en-US" sz="1600" b="1" dirty="0">
                <a:ea typeface="宋体" panose="02010600030101010101" pitchFamily="2" charset="-122"/>
              </a:rPr>
              <a:t>必定在</a:t>
            </a:r>
            <a:r>
              <a:rPr lang="en-US" altLang="zh-CN" sz="1600" b="1" dirty="0">
                <a:ea typeface="宋体" panose="02010600030101010101" pitchFamily="2" charset="-122"/>
              </a:rPr>
              <a:t>q</a:t>
            </a:r>
            <a:r>
              <a:rPr lang="zh-CN" altLang="en-US" sz="1600" b="1" dirty="0">
                <a:ea typeface="宋体" panose="02010600030101010101" pitchFamily="2" charset="-122"/>
              </a:rPr>
              <a:t>中定义，因此</a:t>
            </a:r>
            <a:r>
              <a:rPr lang="en-US" altLang="zh-CN" sz="1600" b="1" i="1" dirty="0">
                <a:ea typeface="宋体" panose="02010600030101010101" pitchFamily="2" charset="-122"/>
              </a:rPr>
              <a:t>n</a:t>
            </a:r>
            <a:r>
              <a:rPr lang="en-US" altLang="zh-CN" sz="1600" b="1" i="1" baseline="-25000" dirty="0">
                <a:ea typeface="宋体" panose="02010600030101010101" pitchFamily="2" charset="-122"/>
              </a:rPr>
              <a:t>p </a:t>
            </a:r>
            <a:r>
              <a:rPr lang="en-US" altLang="zh-CN" sz="1600" b="1" dirty="0">
                <a:ea typeface="宋体" panose="02010600030101010101" pitchFamily="2" charset="-122"/>
              </a:rPr>
              <a:t>=</a:t>
            </a:r>
            <a:r>
              <a:rPr lang="en-US" altLang="zh-CN" sz="1600" b="1" i="1" dirty="0">
                <a:ea typeface="宋体" panose="02010600030101010101" pitchFamily="2" charset="-122"/>
              </a:rPr>
              <a:t> n</a:t>
            </a:r>
            <a:r>
              <a:rPr lang="en-US" altLang="zh-CN" sz="1600" b="1" i="1" baseline="-25000" dirty="0">
                <a:ea typeface="宋体" panose="02010600030101010101" pitchFamily="2" charset="-122"/>
              </a:rPr>
              <a:t>q</a:t>
            </a:r>
            <a:r>
              <a:rPr lang="en-US" altLang="zh-CN" sz="1600" b="1" dirty="0">
                <a:ea typeface="宋体" panose="02010600030101010101" pitchFamily="2" charset="-122"/>
              </a:rPr>
              <a:t>+1</a:t>
            </a:r>
            <a:endParaRPr lang="zh-CN" altLang="en-US" sz="1600" b="1" dirty="0">
              <a:ea typeface="宋体" panose="02010600030101010101" pitchFamily="2" charset="-122"/>
            </a:endParaRPr>
          </a:p>
          <a:p>
            <a:pPr lvl="4"/>
            <a:r>
              <a:rPr lang="en-US" altLang="zh-CN" sz="1600" b="1" dirty="0">
                <a:ea typeface="宋体" panose="02010600030101010101" pitchFamily="2" charset="-122"/>
              </a:rPr>
              <a:t>p</a:t>
            </a:r>
            <a:r>
              <a:rPr lang="zh-CN" altLang="en-US" sz="1600" b="1" dirty="0">
                <a:ea typeface="宋体" panose="02010600030101010101" pitchFamily="2" charset="-122"/>
              </a:rPr>
              <a:t>的访问链一定指向</a:t>
            </a:r>
            <a:r>
              <a:rPr lang="en-US" altLang="zh-CN" sz="1600" b="1" dirty="0">
                <a:ea typeface="宋体" panose="02010600030101010101" pitchFamily="2" charset="-122"/>
              </a:rPr>
              <a:t>q</a:t>
            </a:r>
            <a:r>
              <a:rPr lang="zh-CN" altLang="en-US" sz="1600" b="1" dirty="0">
                <a:ea typeface="宋体" panose="02010600030101010101" pitchFamily="2" charset="-122"/>
              </a:rPr>
              <a:t>，即栈中刚好在它下面的调用过程的活动记录</a:t>
            </a:r>
            <a:endParaRPr lang="en-US" altLang="zh-CN" sz="1600" b="1" dirty="0">
              <a:ea typeface="宋体" panose="02010600030101010101" pitchFamily="2" charset="-122"/>
            </a:endParaRPr>
          </a:p>
          <a:p>
            <a:pPr lvl="4"/>
            <a:r>
              <a:rPr lang="zh-CN" altLang="en-US" sz="1600" b="1" dirty="0">
                <a:ea typeface="宋体" panose="02010600030101010101" pitchFamily="2" charset="-122"/>
              </a:rPr>
              <a:t>如排序如例子中的</a:t>
            </a:r>
            <a:r>
              <a:rPr lang="en-US" altLang="zh-CN" sz="1600" b="1" dirty="0">
                <a:ea typeface="宋体" panose="02010600030101010101" pitchFamily="2" charset="-122"/>
              </a:rPr>
              <a:t>sort</a:t>
            </a:r>
            <a:r>
              <a:rPr lang="zh-CN" altLang="en-US" sz="1600" b="1" dirty="0">
                <a:ea typeface="宋体" panose="02010600030101010101" pitchFamily="2" charset="-122"/>
              </a:rPr>
              <a:t>调用</a:t>
            </a:r>
            <a:r>
              <a:rPr lang="en-US" altLang="zh-CN" sz="1600" b="1" dirty="0">
                <a:ea typeface="宋体" panose="02010600030101010101" pitchFamily="2" charset="-122"/>
              </a:rPr>
              <a:t>quicksort</a:t>
            </a:r>
            <a:r>
              <a:rPr lang="zh-CN" altLang="en-US" sz="1600" b="1" dirty="0">
                <a:ea typeface="宋体" panose="02010600030101010101" pitchFamily="2" charset="-122"/>
              </a:rPr>
              <a:t>，产生了图</a:t>
            </a:r>
            <a:r>
              <a:rPr lang="en-US" altLang="zh-CN" sz="1600" b="1" dirty="0">
                <a:ea typeface="宋体" panose="02010600030101010101" pitchFamily="2" charset="-122"/>
              </a:rPr>
              <a:t>7-11a</a:t>
            </a:r>
            <a:r>
              <a:rPr lang="zh-CN" altLang="en-US" sz="1600" b="1" dirty="0">
                <a:ea typeface="宋体" panose="02010600030101010101" pitchFamily="2" charset="-122"/>
              </a:rPr>
              <a:t>；以及</a:t>
            </a:r>
            <a:r>
              <a:rPr lang="en-US" altLang="zh-CN" sz="1600" b="1" dirty="0">
                <a:ea typeface="宋体" panose="02010600030101010101" pitchFamily="2" charset="-122"/>
              </a:rPr>
              <a:t>quicksort</a:t>
            </a:r>
            <a:r>
              <a:rPr lang="zh-CN" altLang="en-US" sz="1600" b="1" dirty="0">
                <a:ea typeface="宋体" panose="02010600030101010101" pitchFamily="2" charset="-122"/>
              </a:rPr>
              <a:t>对</a:t>
            </a:r>
            <a:r>
              <a:rPr lang="en-US" altLang="zh-CN" sz="1600" b="1" dirty="0">
                <a:ea typeface="宋体" panose="02010600030101010101" pitchFamily="2" charset="-122"/>
              </a:rPr>
              <a:t>partition</a:t>
            </a:r>
            <a:r>
              <a:rPr lang="zh-CN" altLang="en-US" sz="1600" b="1" dirty="0">
                <a:ea typeface="宋体" panose="02010600030101010101" pitchFamily="2" charset="-122"/>
              </a:rPr>
              <a:t>的调用，产生了图</a:t>
            </a:r>
            <a:r>
              <a:rPr lang="en-US" altLang="zh-CN" sz="1600" b="1" dirty="0">
                <a:ea typeface="宋体" panose="02010600030101010101" pitchFamily="2" charset="-122"/>
              </a:rPr>
              <a:t>7-11c</a:t>
            </a:r>
            <a:endParaRPr lang="zh-CN" altLang="en-US" sz="1600" b="1" dirty="0">
              <a:ea typeface="宋体" panose="02010600030101010101" pitchFamily="2" charset="-122"/>
            </a:endParaRPr>
          </a:p>
          <a:p>
            <a:pPr lvl="3"/>
            <a:r>
              <a:rPr lang="zh-CN" altLang="en-US" sz="1800" b="1" dirty="0">
                <a:ea typeface="宋体" panose="02010600030101010101" pitchFamily="2" charset="-122"/>
              </a:rPr>
              <a:t>如果</a:t>
            </a:r>
            <a:r>
              <a:rPr lang="en-US" altLang="zh-CN" sz="1800" b="1" i="1" dirty="0">
                <a:ea typeface="宋体" panose="02010600030101010101" pitchFamily="2" charset="-122"/>
              </a:rPr>
              <a:t>n</a:t>
            </a:r>
            <a:r>
              <a:rPr lang="en-US" altLang="zh-CN" sz="1800" b="1" i="1" baseline="-25000" dirty="0">
                <a:ea typeface="宋体" panose="02010600030101010101" pitchFamily="2" charset="-122"/>
              </a:rPr>
              <a:t>p</a:t>
            </a:r>
            <a:r>
              <a:rPr lang="zh-CN" altLang="en-US" sz="1800" b="1" dirty="0">
                <a:ea typeface="宋体" panose="02010600030101010101" pitchFamily="2" charset="-122"/>
              </a:rPr>
              <a:t> </a:t>
            </a:r>
            <a:r>
              <a:rPr lang="en-US" altLang="zh-CN" sz="1800" b="1" dirty="0">
                <a:ea typeface="宋体" panose="02010600030101010101" pitchFamily="2" charset="-122"/>
              </a:rPr>
              <a:t>=</a:t>
            </a:r>
            <a:r>
              <a:rPr lang="zh-CN" altLang="en-US" sz="1800" b="1" dirty="0">
                <a:ea typeface="宋体" panose="02010600030101010101" pitchFamily="2" charset="-122"/>
              </a:rPr>
              <a:t> </a:t>
            </a:r>
            <a:r>
              <a:rPr lang="en-US" altLang="zh-CN" sz="1800" b="1" i="1" dirty="0">
                <a:ea typeface="宋体" panose="02010600030101010101" pitchFamily="2" charset="-122"/>
              </a:rPr>
              <a:t>n</a:t>
            </a:r>
            <a:r>
              <a:rPr lang="en-US" altLang="zh-CN" sz="1800" b="1" i="1" baseline="-25000" dirty="0">
                <a:ea typeface="宋体" panose="02010600030101010101" pitchFamily="2" charset="-122"/>
              </a:rPr>
              <a:t>q</a:t>
            </a:r>
            <a:endParaRPr lang="en-US" altLang="zh-CN" sz="1800" b="1" i="1" baseline="-25000" dirty="0">
              <a:ea typeface="宋体" panose="02010600030101010101" pitchFamily="2" charset="-122"/>
            </a:endParaRPr>
          </a:p>
          <a:p>
            <a:pPr lvl="4"/>
            <a:r>
              <a:rPr lang="zh-CN" altLang="en-US" sz="1600" b="1" dirty="0">
                <a:ea typeface="宋体" panose="02010600030101010101" pitchFamily="2" charset="-122"/>
              </a:rPr>
              <a:t>新的活动记录的访问链和它下面的活动记录的访问链相同，如例子中的</a:t>
            </a:r>
            <a:r>
              <a:rPr lang="en-US" altLang="zh-CN" sz="1600" b="1" dirty="0">
                <a:ea typeface="宋体" panose="02010600030101010101" pitchFamily="2" charset="-122"/>
              </a:rPr>
              <a:t>quicksort(1,9)</a:t>
            </a:r>
            <a:r>
              <a:rPr lang="zh-CN" altLang="en-US" sz="1600" b="1" dirty="0">
                <a:ea typeface="宋体" panose="02010600030101010101" pitchFamily="2" charset="-122"/>
              </a:rPr>
              <a:t>调用</a:t>
            </a:r>
            <a:r>
              <a:rPr lang="en-US" altLang="zh-CN" sz="1600" b="1" dirty="0">
                <a:ea typeface="宋体" panose="02010600030101010101" pitchFamily="2" charset="-122"/>
              </a:rPr>
              <a:t>quicksort(1,3)</a:t>
            </a:r>
            <a:r>
              <a:rPr lang="zh-CN" altLang="en-US" sz="1600" b="1" dirty="0">
                <a:ea typeface="宋体" panose="02010600030101010101" pitchFamily="2" charset="-122"/>
              </a:rPr>
              <a:t>，形成了图</a:t>
            </a:r>
            <a:r>
              <a:rPr lang="en-US" altLang="zh-CN" sz="1600" b="1" dirty="0">
                <a:ea typeface="宋体" panose="02010600030101010101" pitchFamily="2" charset="-122"/>
              </a:rPr>
              <a:t>7-11b</a:t>
            </a:r>
            <a:endParaRPr lang="en-US" altLang="zh-CN" sz="1600" b="1" dirty="0">
              <a:ea typeface="宋体" panose="02010600030101010101" pitchFamily="2" charset="-122"/>
            </a:endParaRPr>
          </a:p>
          <a:p>
            <a:pPr lvl="4"/>
            <a:r>
              <a:rPr lang="zh-CN" altLang="en-US" sz="1600" b="1" dirty="0">
                <a:ea typeface="宋体" panose="02010600030101010101" pitchFamily="2" charset="-122"/>
              </a:rPr>
              <a:t>此时，或者是过程的递归调用，或者如同上页中的</a:t>
            </a:r>
            <a:r>
              <a:rPr lang="en-US" altLang="zh-CN" sz="1600" b="1" dirty="0">
                <a:ea typeface="宋体" panose="02010600030101010101" pitchFamily="2" charset="-122"/>
              </a:rPr>
              <a:t>D</a:t>
            </a:r>
            <a:r>
              <a:rPr lang="zh-CN" altLang="en-US" sz="1600" b="1" dirty="0">
                <a:ea typeface="宋体" panose="02010600030101010101" pitchFamily="2" charset="-122"/>
              </a:rPr>
              <a:t>调用</a:t>
            </a:r>
            <a:r>
              <a:rPr lang="en-US" altLang="zh-CN" sz="1600" b="1" dirty="0">
                <a:ea typeface="宋体" panose="02010600030101010101" pitchFamily="2" charset="-122"/>
              </a:rPr>
              <a:t>C</a:t>
            </a:r>
            <a:endParaRPr lang="en-US" altLang="zh-CN" sz="1600" b="1" dirty="0">
              <a:ea typeface="宋体" panose="02010600030101010101" pitchFamily="2" charset="-122"/>
            </a:endParaRPr>
          </a:p>
          <a:p>
            <a:pPr lvl="3"/>
            <a:r>
              <a:rPr lang="zh-CN" altLang="en-US" sz="1800" b="1" dirty="0">
                <a:ea typeface="宋体" panose="02010600030101010101" pitchFamily="2" charset="-122"/>
              </a:rPr>
              <a:t>如果</a:t>
            </a:r>
            <a:r>
              <a:rPr lang="en-US" altLang="zh-CN" sz="1800" b="1" i="1" dirty="0">
                <a:ea typeface="宋体" panose="02010600030101010101" pitchFamily="2" charset="-122"/>
              </a:rPr>
              <a:t>n</a:t>
            </a:r>
            <a:r>
              <a:rPr lang="en-US" altLang="zh-CN" sz="1800" b="1" i="1" baseline="-25000" dirty="0">
                <a:ea typeface="宋体" panose="02010600030101010101" pitchFamily="2" charset="-122"/>
              </a:rPr>
              <a:t>p</a:t>
            </a:r>
            <a:r>
              <a:rPr lang="zh-CN" altLang="en-US" sz="1800" b="1" dirty="0">
                <a:ea typeface="宋体" panose="02010600030101010101" pitchFamily="2" charset="-122"/>
              </a:rPr>
              <a:t> </a:t>
            </a:r>
            <a:r>
              <a:rPr lang="en-US" altLang="zh-CN" sz="1800" b="1" dirty="0">
                <a:ea typeface="宋体" panose="02010600030101010101" pitchFamily="2" charset="-122"/>
              </a:rPr>
              <a:t>&lt;</a:t>
            </a:r>
            <a:r>
              <a:rPr lang="zh-CN" altLang="en-US" sz="1800" b="1" dirty="0">
                <a:ea typeface="宋体" panose="02010600030101010101" pitchFamily="2" charset="-122"/>
              </a:rPr>
              <a:t> </a:t>
            </a:r>
            <a:r>
              <a:rPr lang="en-US" altLang="zh-CN" sz="1800" b="1" i="1" dirty="0">
                <a:ea typeface="宋体" panose="02010600030101010101" pitchFamily="2" charset="-122"/>
              </a:rPr>
              <a:t>n</a:t>
            </a:r>
            <a:r>
              <a:rPr lang="en-US" altLang="zh-CN" sz="1800" b="1" i="1" baseline="-25000" dirty="0">
                <a:ea typeface="宋体" panose="02010600030101010101" pitchFamily="2" charset="-122"/>
              </a:rPr>
              <a:t>q</a:t>
            </a:r>
            <a:r>
              <a:rPr lang="zh-CN" altLang="en-US" sz="1800" b="1" dirty="0">
                <a:ea typeface="宋体" panose="02010600030101010101" pitchFamily="2" charset="-122"/>
              </a:rPr>
              <a:t> </a:t>
            </a:r>
            <a:endParaRPr lang="en-US" altLang="zh-CN" sz="1800" b="1" dirty="0">
              <a:ea typeface="宋体" panose="02010600030101010101" pitchFamily="2" charset="-122"/>
            </a:endParaRPr>
          </a:p>
          <a:p>
            <a:pPr lvl="4"/>
            <a:r>
              <a:rPr lang="zh-CN" altLang="en-US" sz="1600" b="1" dirty="0">
                <a:ea typeface="宋体" panose="02010600030101010101" pitchFamily="2" charset="-122"/>
              </a:rPr>
              <a:t>过程</a:t>
            </a:r>
            <a:r>
              <a:rPr lang="en-US" altLang="zh-CN" sz="1600" b="1" dirty="0">
                <a:ea typeface="宋体" panose="02010600030101010101" pitchFamily="2" charset="-122"/>
              </a:rPr>
              <a:t>q</a:t>
            </a:r>
            <a:r>
              <a:rPr lang="zh-CN" altLang="en-US" sz="1600" b="1" dirty="0">
                <a:ea typeface="宋体" panose="02010600030101010101" pitchFamily="2" charset="-122"/>
              </a:rPr>
              <a:t>和</a:t>
            </a:r>
            <a:r>
              <a:rPr lang="en-US" altLang="zh-CN" sz="1600" b="1" dirty="0">
                <a:ea typeface="宋体" panose="02010600030101010101" pitchFamily="2" charset="-122"/>
              </a:rPr>
              <a:t>p</a:t>
            </a:r>
            <a:r>
              <a:rPr lang="zh-CN" altLang="en-US" sz="1600" b="1" dirty="0">
                <a:ea typeface="宋体" panose="02010600030101010101" pitchFamily="2" charset="-122"/>
              </a:rPr>
              <a:t>的嵌套深度为1，2，…，</a:t>
            </a:r>
            <a:r>
              <a:rPr lang="en-US" altLang="zh-CN" sz="1600" b="1" i="1" dirty="0">
                <a:ea typeface="宋体" panose="02010600030101010101" pitchFamily="2" charset="-122"/>
              </a:rPr>
              <a:t>n</a:t>
            </a:r>
            <a:r>
              <a:rPr lang="en-US" altLang="zh-CN" sz="1600" b="1" i="1" baseline="-25000" dirty="0">
                <a:ea typeface="宋体" panose="02010600030101010101" pitchFamily="2" charset="-122"/>
              </a:rPr>
              <a:t>p</a:t>
            </a:r>
            <a:r>
              <a:rPr lang="zh-CN" altLang="en-US" sz="1600" b="1" dirty="0">
                <a:ea typeface="宋体" panose="02010600030101010101" pitchFamily="2" charset="-122"/>
              </a:rPr>
              <a:t> –1的外围过程必定相同</a:t>
            </a:r>
            <a:endParaRPr lang="zh-CN" altLang="en-US" sz="1600" b="1" dirty="0">
              <a:ea typeface="宋体" panose="02010600030101010101" pitchFamily="2" charset="-122"/>
            </a:endParaRPr>
          </a:p>
          <a:p>
            <a:pPr lvl="4"/>
            <a:r>
              <a:rPr lang="zh-CN" altLang="en-US" sz="1600" b="1" dirty="0">
                <a:ea typeface="宋体" panose="02010600030101010101" pitchFamily="2" charset="-122"/>
              </a:rPr>
              <a:t>从调用过程追踪访问链 </a:t>
            </a:r>
            <a:r>
              <a:rPr lang="en-US" altLang="zh-CN" sz="1600" b="1" i="1" dirty="0">
                <a:ea typeface="宋体" panose="02010600030101010101" pitchFamily="2" charset="-122"/>
              </a:rPr>
              <a:t>n</a:t>
            </a:r>
            <a:r>
              <a:rPr lang="en-US" altLang="zh-CN" sz="1600" b="1" i="1" baseline="-25000" dirty="0">
                <a:ea typeface="宋体" panose="02010600030101010101" pitchFamily="2" charset="-122"/>
              </a:rPr>
              <a:t>q</a:t>
            </a:r>
            <a:r>
              <a:rPr lang="zh-CN" altLang="en-US" sz="1600" b="1" dirty="0">
                <a:ea typeface="宋体" panose="02010600030101010101" pitchFamily="2" charset="-122"/>
              </a:rPr>
              <a:t> - </a:t>
            </a:r>
            <a:r>
              <a:rPr lang="en-US" altLang="zh-CN" sz="1600" b="1" i="1" dirty="0">
                <a:ea typeface="宋体" panose="02010600030101010101" pitchFamily="2" charset="-122"/>
              </a:rPr>
              <a:t>n</a:t>
            </a:r>
            <a:r>
              <a:rPr lang="en-US" altLang="zh-CN" sz="1600" b="1" i="1" baseline="-25000" dirty="0">
                <a:ea typeface="宋体" panose="02010600030101010101" pitchFamily="2" charset="-122"/>
              </a:rPr>
              <a:t>p</a:t>
            </a:r>
            <a:r>
              <a:rPr lang="zh-CN" altLang="en-US" sz="1600" b="1" dirty="0">
                <a:ea typeface="宋体" panose="02010600030101010101" pitchFamily="2" charset="-122"/>
              </a:rPr>
              <a:t> + 1次，即到达静态包围</a:t>
            </a:r>
            <a:r>
              <a:rPr lang="en-US" altLang="zh-CN" sz="1600" b="1" dirty="0">
                <a:ea typeface="宋体" panose="02010600030101010101" pitchFamily="2" charset="-122"/>
              </a:rPr>
              <a:t>q</a:t>
            </a:r>
            <a:r>
              <a:rPr lang="zh-CN" altLang="en-US" sz="1600" b="1" dirty="0">
                <a:ea typeface="宋体" panose="02010600030101010101" pitchFamily="2" charset="-122"/>
              </a:rPr>
              <a:t>和</a:t>
            </a:r>
            <a:r>
              <a:rPr lang="en-US" altLang="zh-CN" sz="1600" b="1" dirty="0">
                <a:ea typeface="宋体" panose="02010600030101010101" pitchFamily="2" charset="-122"/>
              </a:rPr>
              <a:t>p</a:t>
            </a:r>
            <a:r>
              <a:rPr lang="zh-CN" altLang="en-US" sz="1600" b="1" dirty="0">
                <a:ea typeface="宋体" panose="02010600030101010101" pitchFamily="2" charset="-122"/>
              </a:rPr>
              <a:t>的最内过程</a:t>
            </a:r>
            <a:r>
              <a:rPr lang="en-US" altLang="zh-CN" sz="1600" b="1" dirty="0">
                <a:ea typeface="宋体" panose="02010600030101010101" pitchFamily="2" charset="-122"/>
              </a:rPr>
              <a:t>r</a:t>
            </a:r>
            <a:r>
              <a:rPr lang="zh-CN" altLang="en-US" sz="1600" b="1" dirty="0">
                <a:ea typeface="宋体" panose="02010600030101010101" pitchFamily="2" charset="-122"/>
              </a:rPr>
              <a:t>的最新活动记录，这个访问链就是</a:t>
            </a:r>
            <a:r>
              <a:rPr lang="en-US" altLang="zh-CN" sz="1600" b="1" dirty="0">
                <a:ea typeface="宋体" panose="02010600030101010101" pitchFamily="2" charset="-122"/>
              </a:rPr>
              <a:t>p</a:t>
            </a:r>
            <a:r>
              <a:rPr lang="zh-CN" altLang="en-US" sz="1600" b="1" dirty="0">
                <a:ea typeface="宋体" panose="02010600030101010101" pitchFamily="2" charset="-122"/>
              </a:rPr>
              <a:t>必须指向的访问链</a:t>
            </a:r>
            <a:endParaRPr lang="zh-CN" altLang="en-US" sz="1600" b="1" dirty="0">
              <a:ea typeface="宋体" panose="02010600030101010101" pitchFamily="2" charset="-122"/>
            </a:endParaRPr>
          </a:p>
          <a:p>
            <a:pPr lvl="4"/>
            <a:r>
              <a:rPr lang="en-US" altLang="zh-CN" sz="1600" b="1" i="1" dirty="0">
                <a:ea typeface="宋体" panose="02010600030101010101" pitchFamily="2" charset="-122"/>
              </a:rPr>
              <a:t>n</a:t>
            </a:r>
            <a:r>
              <a:rPr lang="en-US" altLang="zh-CN" sz="1600" b="1" i="1" baseline="-25000" dirty="0">
                <a:ea typeface="宋体" panose="02010600030101010101" pitchFamily="2" charset="-122"/>
              </a:rPr>
              <a:t>q</a:t>
            </a:r>
            <a:r>
              <a:rPr lang="zh-CN" altLang="en-US" sz="1600" b="1" dirty="0">
                <a:ea typeface="宋体" panose="02010600030101010101" pitchFamily="2" charset="-122"/>
              </a:rPr>
              <a:t> - </a:t>
            </a:r>
            <a:r>
              <a:rPr lang="en-US" altLang="zh-CN" sz="1600" b="1" i="1" dirty="0">
                <a:ea typeface="宋体" panose="02010600030101010101" pitchFamily="2" charset="-122"/>
              </a:rPr>
              <a:t>n</a:t>
            </a:r>
            <a:r>
              <a:rPr lang="en-US" altLang="zh-CN" sz="1600" b="1" i="1" baseline="-25000" dirty="0">
                <a:ea typeface="宋体" panose="02010600030101010101" pitchFamily="2" charset="-122"/>
              </a:rPr>
              <a:t>p</a:t>
            </a:r>
            <a:r>
              <a:rPr lang="zh-CN" altLang="en-US" sz="1600" b="1" dirty="0">
                <a:ea typeface="宋体" panose="02010600030101010101" pitchFamily="2" charset="-122"/>
              </a:rPr>
              <a:t> + 1可以在编译时计算</a:t>
            </a:r>
            <a:endParaRPr lang="en-US" altLang="zh-CN" sz="1600" b="1" dirty="0">
              <a:ea typeface="宋体" panose="02010600030101010101" pitchFamily="2" charset="-122"/>
            </a:endParaRPr>
          </a:p>
          <a:p>
            <a:pPr lvl="4"/>
            <a:r>
              <a:rPr lang="zh-CN" altLang="en-US" sz="1600" b="1" dirty="0">
                <a:ea typeface="宋体" panose="02010600030101010101" pitchFamily="2" charset="-122"/>
              </a:rPr>
              <a:t>此时，如图</a:t>
            </a:r>
            <a:r>
              <a:rPr lang="en-US" altLang="zh-CN" sz="1600" b="1" dirty="0">
                <a:ea typeface="宋体" panose="02010600030101010101" pitchFamily="2" charset="-122"/>
              </a:rPr>
              <a:t>7-11c</a:t>
            </a:r>
            <a:r>
              <a:rPr lang="zh-CN" altLang="en-US" sz="1600" b="1" dirty="0">
                <a:ea typeface="宋体" panose="02010600030101010101" pitchFamily="2" charset="-122"/>
              </a:rPr>
              <a:t>转变为</a:t>
            </a:r>
            <a:r>
              <a:rPr lang="en-US" altLang="zh-CN" sz="1600" b="1" dirty="0">
                <a:ea typeface="宋体" panose="02010600030101010101" pitchFamily="2" charset="-122"/>
              </a:rPr>
              <a:t>7-11d</a:t>
            </a:r>
            <a:r>
              <a:rPr lang="zh-CN" altLang="en-US" sz="1600" b="1" dirty="0">
                <a:ea typeface="宋体" panose="02010600030101010101" pitchFamily="2" charset="-122"/>
              </a:rPr>
              <a:t>的过程，</a:t>
            </a:r>
            <a:r>
              <a:rPr lang="en-US" altLang="zh-CN" sz="1600" b="1" dirty="0">
                <a:ea typeface="宋体" panose="02010600030101010101" pitchFamily="2" charset="-122"/>
              </a:rPr>
              <a:t>exchange</a:t>
            </a:r>
            <a:r>
              <a:rPr lang="zh-CN" altLang="en-US" sz="1600" b="1" dirty="0">
                <a:ea typeface="宋体" panose="02010600030101010101" pitchFamily="2" charset="-122"/>
              </a:rPr>
              <a:t>的嵌套深度为</a:t>
            </a:r>
            <a:r>
              <a:rPr lang="en-US" altLang="zh-CN" sz="1600" b="1" dirty="0">
                <a:ea typeface="宋体" panose="02010600030101010101" pitchFamily="2" charset="-122"/>
              </a:rPr>
              <a:t>2</a:t>
            </a:r>
            <a:r>
              <a:rPr lang="zh-CN" altLang="en-US" sz="1600" b="1" dirty="0">
                <a:ea typeface="宋体" panose="02010600030101010101" pitchFamily="2" charset="-122"/>
              </a:rPr>
              <a:t>，</a:t>
            </a:r>
            <a:r>
              <a:rPr lang="en-US" altLang="zh-CN" sz="1600" b="1" dirty="0">
                <a:ea typeface="宋体" panose="02010600030101010101" pitchFamily="2" charset="-122"/>
              </a:rPr>
              <a:t>partition</a:t>
            </a:r>
            <a:r>
              <a:rPr lang="zh-CN" altLang="en-US" sz="1600" b="1" dirty="0">
                <a:ea typeface="宋体" panose="02010600030101010101" pitchFamily="2" charset="-122"/>
              </a:rPr>
              <a:t>的嵌套深度为</a:t>
            </a:r>
            <a:r>
              <a:rPr lang="en-US" altLang="zh-CN" sz="1600" b="1" dirty="0">
                <a:ea typeface="宋体" panose="02010600030101010101" pitchFamily="2" charset="-122"/>
              </a:rPr>
              <a:t>3</a:t>
            </a:r>
            <a:r>
              <a:rPr lang="zh-CN" altLang="en-US" sz="1600" b="1" dirty="0">
                <a:ea typeface="宋体" panose="02010600030101010101" pitchFamily="2" charset="-122"/>
              </a:rPr>
              <a:t>，因此要经过两次访问链的转换</a:t>
            </a:r>
            <a:endParaRPr lang="zh-CN" altLang="en-US" sz="1600" b="1" dirty="0">
              <a:ea typeface="宋体" panose="02010600030101010101" pitchFamily="2" charset="-122"/>
            </a:endParaRP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访问非局部名字（1</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97283" name="Rectangle 3"/>
          <p:cNvSpPr>
            <a:spLocks noGrp="1"/>
          </p:cNvSpPr>
          <p:nvPr>
            <p:ph idx="1"/>
          </p:nvPr>
        </p:nvSpPr>
        <p:spPr>
          <a:xfrm>
            <a:off x="990600" y="1524000"/>
            <a:ext cx="7391400" cy="4648200"/>
          </a:xfrm>
          <a:ln/>
        </p:spPr>
        <p:txBody>
          <a:bodyPr vert="horz" wrap="square" lIns="92075" tIns="46038" rIns="92075" bIns="46038" anchor="t" anchorCtr="0"/>
          <a:p>
            <a:pPr lvl="1"/>
            <a:r>
              <a:rPr lang="zh-CN" altLang="en-US" sz="2200" b="1" dirty="0">
                <a:ea typeface="宋体" panose="02010600030101010101" pitchFamily="2" charset="-122"/>
              </a:rPr>
              <a:t>通过访问链访问非局部名字：</a:t>
            </a:r>
            <a:endParaRPr lang="zh-CN" altLang="en-US" sz="2200" b="1" dirty="0">
              <a:ea typeface="宋体" panose="02010600030101010101" pitchFamily="2" charset="-122"/>
            </a:endParaRPr>
          </a:p>
          <a:p>
            <a:pPr lvl="2"/>
            <a:r>
              <a:rPr lang="zh-CN" altLang="en-US" sz="2000" b="1" dirty="0">
                <a:ea typeface="宋体" panose="02010600030101010101" pitchFamily="2" charset="-122"/>
              </a:rPr>
              <a:t>假定过程</a:t>
            </a:r>
            <a:r>
              <a:rPr lang="en-US" altLang="zh-CN" sz="2000" b="1" dirty="0">
                <a:ea typeface="宋体" panose="02010600030101010101" pitchFamily="2" charset="-122"/>
              </a:rPr>
              <a:t>p</a:t>
            </a:r>
            <a:r>
              <a:rPr lang="zh-CN" altLang="en-US" sz="2000" b="1" dirty="0">
                <a:ea typeface="宋体" panose="02010600030101010101" pitchFamily="2" charset="-122"/>
              </a:rPr>
              <a:t>的嵌套深度为</a:t>
            </a:r>
            <a:r>
              <a:rPr lang="en-US" altLang="zh-CN" sz="2000" b="1" i="1" dirty="0">
                <a:ea typeface="宋体" panose="02010600030101010101" pitchFamily="2" charset="-122"/>
              </a:rPr>
              <a:t>n</a:t>
            </a:r>
            <a:r>
              <a:rPr lang="en-US" altLang="zh-CN" sz="2000" b="1" i="1" baseline="-25000" dirty="0">
                <a:ea typeface="宋体" panose="02010600030101010101" pitchFamily="2" charset="-122"/>
              </a:rPr>
              <a:t>p</a:t>
            </a:r>
            <a:r>
              <a:rPr lang="en-US" altLang="zh-CN" sz="2000" b="1" dirty="0">
                <a:ea typeface="宋体" panose="02010600030101010101" pitchFamily="2" charset="-122"/>
              </a:rPr>
              <a:t>，</a:t>
            </a:r>
            <a:r>
              <a:rPr lang="zh-CN" altLang="en-US" sz="2000" b="1" dirty="0">
                <a:ea typeface="宋体" panose="02010600030101010101" pitchFamily="2" charset="-122"/>
              </a:rPr>
              <a:t>它引用一个嵌套深度为</a:t>
            </a:r>
            <a:r>
              <a:rPr lang="en-US" altLang="zh-CN" sz="2000" b="1" i="1" dirty="0">
                <a:ea typeface="宋体" panose="02010600030101010101" pitchFamily="2" charset="-122"/>
              </a:rPr>
              <a:t>n</a:t>
            </a:r>
            <a:r>
              <a:rPr lang="en-US" altLang="zh-CN" sz="2000" b="1" i="1" baseline="-25000" dirty="0">
                <a:ea typeface="宋体" panose="02010600030101010101" pitchFamily="2" charset="-122"/>
              </a:rPr>
              <a:t>a</a:t>
            </a:r>
            <a:r>
              <a:rPr lang="zh-CN" altLang="en-US" sz="2000" b="1" dirty="0">
                <a:ea typeface="宋体" panose="02010600030101010101" pitchFamily="2" charset="-122"/>
              </a:rPr>
              <a:t>的变量</a:t>
            </a:r>
            <a:r>
              <a:rPr lang="en-US" altLang="zh-CN" sz="2000" b="1" dirty="0">
                <a:ea typeface="宋体" panose="02010600030101010101" pitchFamily="2" charset="-122"/>
              </a:rPr>
              <a:t>a，</a:t>
            </a:r>
            <a:r>
              <a:rPr lang="en-US" altLang="zh-CN" sz="2000" b="1" i="1" dirty="0">
                <a:ea typeface="宋体" panose="02010600030101010101" pitchFamily="2" charset="-122"/>
              </a:rPr>
              <a:t>n</a:t>
            </a:r>
            <a:r>
              <a:rPr lang="en-US" altLang="zh-CN" sz="2000" b="1" i="1" baseline="-25000" dirty="0">
                <a:ea typeface="宋体" panose="02010600030101010101" pitchFamily="2" charset="-122"/>
              </a:rPr>
              <a:t>a</a:t>
            </a:r>
            <a:r>
              <a:rPr lang="zh-CN" altLang="en-US" sz="2000" b="1" dirty="0">
                <a:ea typeface="宋体" panose="02010600030101010101" pitchFamily="2" charset="-122"/>
              </a:rPr>
              <a:t> &lt;= </a:t>
            </a:r>
            <a:r>
              <a:rPr lang="en-US" altLang="zh-CN" sz="2000" b="1" i="1" dirty="0">
                <a:ea typeface="宋体" panose="02010600030101010101" pitchFamily="2" charset="-122"/>
              </a:rPr>
              <a:t>n</a:t>
            </a:r>
            <a:r>
              <a:rPr lang="en-US" altLang="zh-CN" sz="2000" b="1" i="1" baseline="-25000" dirty="0">
                <a:ea typeface="宋体" panose="02010600030101010101" pitchFamily="2" charset="-122"/>
              </a:rPr>
              <a:t>p</a:t>
            </a:r>
            <a:r>
              <a:rPr lang="en-US" altLang="zh-CN" sz="2000" b="1" dirty="0">
                <a:ea typeface="宋体" panose="02010600030101010101" pitchFamily="2" charset="-122"/>
              </a:rPr>
              <a:t>，</a:t>
            </a:r>
            <a:r>
              <a:rPr lang="zh-CN" altLang="en-US" sz="2000" b="1" dirty="0">
                <a:ea typeface="宋体" panose="02010600030101010101" pitchFamily="2" charset="-122"/>
              </a:rPr>
              <a:t>则</a:t>
            </a:r>
            <a:r>
              <a:rPr lang="en-US" altLang="zh-CN" sz="2000" b="1" dirty="0">
                <a:ea typeface="宋体" panose="02010600030101010101" pitchFamily="2" charset="-122"/>
              </a:rPr>
              <a:t>a</a:t>
            </a:r>
            <a:r>
              <a:rPr lang="zh-CN" altLang="en-US" sz="2000" b="1" dirty="0">
                <a:ea typeface="宋体" panose="02010600030101010101" pitchFamily="2" charset="-122"/>
              </a:rPr>
              <a:t>的存储单元可以如下找到：</a:t>
            </a:r>
            <a:endParaRPr lang="zh-CN" altLang="en-US" sz="2000" b="1" dirty="0">
              <a:ea typeface="宋体" panose="02010600030101010101" pitchFamily="2" charset="-122"/>
            </a:endParaRPr>
          </a:p>
          <a:p>
            <a:pPr lvl="3"/>
            <a:r>
              <a:rPr lang="zh-CN" altLang="en-US" sz="1800" b="1" dirty="0">
                <a:ea typeface="宋体" panose="02010600030101010101" pitchFamily="2" charset="-122"/>
              </a:rPr>
              <a:t>当控制在</a:t>
            </a:r>
            <a:r>
              <a:rPr lang="en-US" altLang="zh-CN" sz="1800" b="1" dirty="0">
                <a:ea typeface="宋体" panose="02010600030101010101" pitchFamily="2" charset="-122"/>
              </a:rPr>
              <a:t>p</a:t>
            </a:r>
            <a:r>
              <a:rPr lang="zh-CN" altLang="en-US" sz="1800" b="1" dirty="0">
                <a:ea typeface="宋体" panose="02010600030101010101" pitchFamily="2" charset="-122"/>
              </a:rPr>
              <a:t>中时，</a:t>
            </a:r>
            <a:r>
              <a:rPr lang="en-US" altLang="zh-CN" sz="1800" b="1" dirty="0">
                <a:ea typeface="宋体" panose="02010600030101010101" pitchFamily="2" charset="-122"/>
              </a:rPr>
              <a:t>p</a:t>
            </a:r>
            <a:r>
              <a:rPr lang="zh-CN" altLang="en-US" sz="1800" b="1" dirty="0">
                <a:ea typeface="宋体" panose="02010600030101010101" pitchFamily="2" charset="-122"/>
              </a:rPr>
              <a:t>的一个活动记录必定在栈顶</a:t>
            </a:r>
            <a:endParaRPr lang="zh-CN" altLang="en-US" sz="1800" b="1" dirty="0">
              <a:ea typeface="宋体" panose="02010600030101010101" pitchFamily="2" charset="-122"/>
            </a:endParaRPr>
          </a:p>
          <a:p>
            <a:pPr lvl="3"/>
            <a:r>
              <a:rPr lang="zh-CN" altLang="en-US" sz="1800" b="1" dirty="0">
                <a:ea typeface="宋体" panose="02010600030101010101" pitchFamily="2" charset="-122"/>
              </a:rPr>
              <a:t>从栈顶追踪访问链</a:t>
            </a:r>
            <a:r>
              <a:rPr lang="en-US" altLang="zh-CN" sz="1800" b="1" i="1" dirty="0">
                <a:ea typeface="宋体" panose="02010600030101010101" pitchFamily="2" charset="-122"/>
              </a:rPr>
              <a:t>n</a:t>
            </a:r>
            <a:r>
              <a:rPr lang="en-US" altLang="zh-CN" sz="1800" b="1" i="1" baseline="-25000" dirty="0">
                <a:ea typeface="宋体" panose="02010600030101010101" pitchFamily="2" charset="-122"/>
              </a:rPr>
              <a:t>p</a:t>
            </a:r>
            <a:r>
              <a:rPr lang="zh-CN" altLang="en-US" sz="1800" b="1" dirty="0">
                <a:ea typeface="宋体" panose="02010600030101010101" pitchFamily="2" charset="-122"/>
              </a:rPr>
              <a:t> - </a:t>
            </a:r>
            <a:r>
              <a:rPr lang="en-US" altLang="zh-CN" sz="1800" b="1" i="1" dirty="0">
                <a:ea typeface="宋体" panose="02010600030101010101" pitchFamily="2" charset="-122"/>
              </a:rPr>
              <a:t>n</a:t>
            </a:r>
            <a:r>
              <a:rPr lang="en-US" altLang="zh-CN" sz="1800" b="1" i="1" baseline="-25000" dirty="0">
                <a:ea typeface="宋体" panose="02010600030101010101" pitchFamily="2" charset="-122"/>
              </a:rPr>
              <a:t>a</a:t>
            </a:r>
            <a:r>
              <a:rPr lang="zh-CN" altLang="en-US" sz="1800" b="1" dirty="0">
                <a:ea typeface="宋体" panose="02010600030101010101" pitchFamily="2" charset="-122"/>
              </a:rPr>
              <a:t>次（这个次数编译时刻可以计算）</a:t>
            </a:r>
            <a:endParaRPr lang="zh-CN" altLang="en-US" sz="1800" b="1" dirty="0">
              <a:ea typeface="宋体" panose="02010600030101010101" pitchFamily="2" charset="-122"/>
            </a:endParaRPr>
          </a:p>
          <a:p>
            <a:pPr lvl="3"/>
            <a:r>
              <a:rPr lang="zh-CN" altLang="en-US" sz="1800" b="1" dirty="0">
                <a:ea typeface="宋体" panose="02010600030101010101" pitchFamily="2" charset="-122"/>
              </a:rPr>
              <a:t>追踪访问链</a:t>
            </a:r>
            <a:r>
              <a:rPr lang="en-US" altLang="zh-CN" sz="1800" b="1" i="1" dirty="0">
                <a:ea typeface="宋体" panose="02010600030101010101" pitchFamily="2" charset="-122"/>
              </a:rPr>
              <a:t>n</a:t>
            </a:r>
            <a:r>
              <a:rPr lang="en-US" altLang="zh-CN" sz="1800" b="1" i="1" baseline="-25000" dirty="0">
                <a:ea typeface="宋体" panose="02010600030101010101" pitchFamily="2" charset="-122"/>
              </a:rPr>
              <a:t>p</a:t>
            </a:r>
            <a:r>
              <a:rPr lang="zh-CN" altLang="en-US" sz="1800" b="1" dirty="0">
                <a:ea typeface="宋体" panose="02010600030101010101" pitchFamily="2" charset="-122"/>
              </a:rPr>
              <a:t> - </a:t>
            </a:r>
            <a:r>
              <a:rPr lang="en-US" altLang="zh-CN" sz="1800" b="1" i="1" dirty="0">
                <a:ea typeface="宋体" panose="02010600030101010101" pitchFamily="2" charset="-122"/>
              </a:rPr>
              <a:t>n</a:t>
            </a:r>
            <a:r>
              <a:rPr lang="en-US" altLang="zh-CN" sz="1800" b="1" i="1" baseline="-25000" dirty="0">
                <a:ea typeface="宋体" panose="02010600030101010101" pitchFamily="2" charset="-122"/>
              </a:rPr>
              <a:t>a</a:t>
            </a:r>
            <a:r>
              <a:rPr lang="zh-CN" altLang="en-US" sz="1800" b="1" dirty="0">
                <a:ea typeface="宋体" panose="02010600030101010101" pitchFamily="2" charset="-122"/>
              </a:rPr>
              <a:t>次后，到达</a:t>
            </a:r>
            <a:r>
              <a:rPr lang="en-US" altLang="zh-CN" sz="1800" b="1" dirty="0">
                <a:ea typeface="宋体" panose="02010600030101010101" pitchFamily="2" charset="-122"/>
              </a:rPr>
              <a:t>a</a:t>
            </a:r>
            <a:r>
              <a:rPr lang="zh-CN" altLang="en-US" sz="1800" b="1" dirty="0">
                <a:ea typeface="宋体" panose="02010600030101010101" pitchFamily="2" charset="-122"/>
              </a:rPr>
              <a:t>的声明所在过程的活动记录，根据</a:t>
            </a:r>
            <a:r>
              <a:rPr lang="en-US" altLang="zh-CN" sz="1800" b="1" dirty="0">
                <a:ea typeface="宋体" panose="02010600030101010101" pitchFamily="2" charset="-122"/>
              </a:rPr>
              <a:t>a</a:t>
            </a:r>
            <a:r>
              <a:rPr lang="zh-CN" altLang="en-US" sz="1800" b="1" dirty="0">
                <a:ea typeface="宋体" panose="02010600030101010101" pitchFamily="2" charset="-122"/>
              </a:rPr>
              <a:t>的偏移量可以访问</a:t>
            </a:r>
            <a:endParaRPr lang="zh-CN" altLang="en-US" sz="1800" b="1" dirty="0">
              <a:ea typeface="宋体" panose="02010600030101010101" pitchFamily="2" charset="-122"/>
            </a:endParaRPr>
          </a:p>
          <a:p>
            <a:pPr lvl="3"/>
            <a:r>
              <a:rPr lang="zh-CN" altLang="en-US" sz="1800" b="1" dirty="0">
                <a:ea typeface="宋体" panose="02010600030101010101" pitchFamily="2" charset="-122"/>
              </a:rPr>
              <a:t>综述：过程</a:t>
            </a:r>
            <a:r>
              <a:rPr lang="en-US" altLang="zh-CN" sz="1800" b="1" dirty="0">
                <a:ea typeface="宋体" panose="02010600030101010101" pitchFamily="2" charset="-122"/>
              </a:rPr>
              <a:t>p</a:t>
            </a:r>
            <a:r>
              <a:rPr lang="zh-CN" altLang="en-US" sz="1800" b="1" dirty="0">
                <a:ea typeface="宋体" panose="02010600030101010101" pitchFamily="2" charset="-122"/>
              </a:rPr>
              <a:t>中变量</a:t>
            </a:r>
            <a:r>
              <a:rPr lang="en-US" altLang="zh-CN" sz="1800" b="1" dirty="0">
                <a:ea typeface="宋体" panose="02010600030101010101" pitchFamily="2" charset="-122"/>
              </a:rPr>
              <a:t>a</a:t>
            </a:r>
            <a:r>
              <a:rPr lang="zh-CN" altLang="en-US" sz="1800" b="1" dirty="0">
                <a:ea typeface="宋体" panose="02010600030101010101" pitchFamily="2" charset="-122"/>
              </a:rPr>
              <a:t>的地址可以如下表示：</a:t>
            </a:r>
            <a:endParaRPr lang="zh-CN" altLang="en-US" sz="1800" b="1" dirty="0">
              <a:ea typeface="宋体" panose="02010600030101010101" pitchFamily="2" charset="-122"/>
            </a:endParaRPr>
          </a:p>
          <a:p>
            <a:pPr lvl="3">
              <a:buFont typeface="Wingdings" panose="05000000000000000000" pitchFamily="2" charset="2"/>
              <a:buNone/>
            </a:pPr>
            <a:r>
              <a:rPr lang="zh-CN" altLang="en-US" sz="1800" b="1" dirty="0">
                <a:ea typeface="宋体" panose="02010600030101010101" pitchFamily="2" charset="-122"/>
              </a:rPr>
              <a:t>	（ </a:t>
            </a:r>
            <a:r>
              <a:rPr lang="en-US" altLang="zh-CN" sz="1800" b="1" i="1" dirty="0">
                <a:ea typeface="宋体" panose="02010600030101010101" pitchFamily="2" charset="-122"/>
              </a:rPr>
              <a:t>n</a:t>
            </a:r>
            <a:r>
              <a:rPr lang="en-US" altLang="zh-CN" sz="1800" b="1" i="1" baseline="-25000" dirty="0">
                <a:ea typeface="宋体" panose="02010600030101010101" pitchFamily="2" charset="-122"/>
              </a:rPr>
              <a:t>p</a:t>
            </a:r>
            <a:r>
              <a:rPr lang="zh-CN" altLang="en-US" sz="1800" b="1" dirty="0">
                <a:ea typeface="宋体" panose="02010600030101010101" pitchFamily="2" charset="-122"/>
              </a:rPr>
              <a:t> - </a:t>
            </a:r>
            <a:r>
              <a:rPr lang="en-US" altLang="zh-CN" sz="1800" b="1" i="1" dirty="0">
                <a:ea typeface="宋体" panose="02010600030101010101" pitchFamily="2" charset="-122"/>
              </a:rPr>
              <a:t>n</a:t>
            </a:r>
            <a:r>
              <a:rPr lang="en-US" altLang="zh-CN" sz="1800" b="1" i="1" baseline="-25000" dirty="0">
                <a:ea typeface="宋体" panose="02010600030101010101" pitchFamily="2" charset="-122"/>
              </a:rPr>
              <a:t>a</a:t>
            </a:r>
            <a:r>
              <a:rPr lang="en-US" altLang="zh-CN" sz="1800" b="1" dirty="0">
                <a:ea typeface="宋体" panose="02010600030101010101" pitchFamily="2" charset="-122"/>
              </a:rPr>
              <a:t> </a:t>
            </a:r>
            <a:r>
              <a:rPr lang="zh-CN" altLang="en-US" sz="1800" b="1" dirty="0">
                <a:ea typeface="宋体" panose="02010600030101010101" pitchFamily="2" charset="-122"/>
              </a:rPr>
              <a:t>，</a:t>
            </a:r>
            <a:r>
              <a:rPr lang="en-US" altLang="zh-CN" sz="1800" b="1" dirty="0">
                <a:ea typeface="宋体" panose="02010600030101010101" pitchFamily="2" charset="-122"/>
              </a:rPr>
              <a:t>a</a:t>
            </a:r>
            <a:r>
              <a:rPr lang="zh-CN" altLang="en-US" sz="1800" b="1" dirty="0">
                <a:ea typeface="宋体" panose="02010600030101010101" pitchFamily="2" charset="-122"/>
              </a:rPr>
              <a:t>在活动记录中的偏移）</a:t>
            </a:r>
            <a:endParaRPr lang="zh-CN" altLang="en-US" sz="1800" b="1" dirty="0">
              <a:ea typeface="宋体" panose="02010600030101010101" pitchFamily="2" charset="-122"/>
            </a:endParaRPr>
          </a:p>
          <a:p>
            <a:pPr lvl="2"/>
            <a:r>
              <a:rPr lang="zh-CN" altLang="en-US" sz="2000" b="1" dirty="0">
                <a:ea typeface="宋体" panose="02010600030101010101" pitchFamily="2" charset="-122"/>
              </a:rPr>
              <a:t>过程调用发生时，非局部名字到存储单元的结合可能发生变化</a:t>
            </a:r>
            <a:endParaRPr lang="zh-CN" altLang="en-US" sz="2000" b="1" dirty="0">
              <a:ea typeface="宋体" panose="02010600030101010101" pitchFamily="2" charset="-122"/>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访问非局部名字（1</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99331" name="Rectangle 3"/>
          <p:cNvSpPr>
            <a:spLocks noGrp="1"/>
          </p:cNvSpPr>
          <p:nvPr>
            <p:ph idx="1"/>
          </p:nvPr>
        </p:nvSpPr>
        <p:spPr>
          <a:xfrm>
            <a:off x="990600" y="1524000"/>
            <a:ext cx="7391400" cy="4648200"/>
          </a:xfrm>
          <a:ln/>
        </p:spPr>
        <p:txBody>
          <a:bodyPr vert="horz" wrap="square" lIns="92075" tIns="46038" rIns="92075" bIns="46038" anchor="t" anchorCtr="0"/>
          <a:p>
            <a:pPr>
              <a:lnSpc>
                <a:spcPct val="90000"/>
              </a:lnSpc>
            </a:pPr>
            <a:r>
              <a:rPr lang="zh-CN" altLang="en-US" sz="2400" b="1" dirty="0">
                <a:ea typeface="宋体" panose="02010600030101010101" pitchFamily="2" charset="-122"/>
              </a:rPr>
              <a:t>过程作参数的处理：</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作为参数传递的过程必须取它的访问链和它一起传递</a:t>
            </a:r>
            <a:endParaRPr lang="zh-CN" altLang="en-US" sz="2200" b="1" dirty="0">
              <a:ea typeface="宋体" panose="02010600030101010101" pitchFamily="2" charset="-122"/>
            </a:endParaRPr>
          </a:p>
          <a:p>
            <a:pPr lvl="2">
              <a:lnSpc>
                <a:spcPct val="90000"/>
              </a:lnSpc>
              <a:buNone/>
            </a:pPr>
            <a:r>
              <a:rPr lang="zh-CN" altLang="en-US" sz="2000" b="1" dirty="0">
                <a:ea typeface="宋体" panose="02010600030101010101" pitchFamily="2" charset="-122"/>
              </a:rPr>
              <a:t>例：使用函数参数的</a:t>
            </a:r>
            <a:r>
              <a:rPr lang="en-US" altLang="zh-CN" sz="2000" b="1" dirty="0">
                <a:ea typeface="宋体" panose="02010600030101010101" pitchFamily="2" charset="-122"/>
              </a:rPr>
              <a:t>ML</a:t>
            </a:r>
            <a:r>
              <a:rPr lang="zh-CN" altLang="en-US" sz="2000" b="1" dirty="0">
                <a:ea typeface="宋体" panose="02010600030101010101" pitchFamily="2" charset="-122"/>
              </a:rPr>
              <a:t>程序的概要</a:t>
            </a:r>
            <a:endParaRPr lang="zh-CN" altLang="en-US" sz="2000" b="1" dirty="0">
              <a:ea typeface="宋体" panose="02010600030101010101" pitchFamily="2" charset="-122"/>
            </a:endParaRPr>
          </a:p>
        </p:txBody>
      </p:sp>
      <p:pic>
        <p:nvPicPr>
          <p:cNvPr id="99332" name="Picture 2"/>
          <p:cNvPicPr>
            <a:picLocks noChangeAspect="1"/>
          </p:cNvPicPr>
          <p:nvPr/>
        </p:nvPicPr>
        <p:blipFill>
          <a:blip r:embed="rId1"/>
          <a:stretch>
            <a:fillRect/>
          </a:stretch>
        </p:blipFill>
        <p:spPr>
          <a:xfrm>
            <a:off x="457200" y="2636838"/>
            <a:ext cx="8181975" cy="4176712"/>
          </a:xfrm>
          <a:prstGeom prst="rect">
            <a:avLst/>
          </a:prstGeom>
          <a:noFill/>
          <a:ln w="9525">
            <a:noFill/>
          </a:ln>
        </p:spPr>
      </p:pic>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访问非局部名字（1</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01379" name="Rectangle 3"/>
          <p:cNvSpPr>
            <a:spLocks noGrp="1"/>
          </p:cNvSpPr>
          <p:nvPr>
            <p:ph idx="1"/>
          </p:nvPr>
        </p:nvSpPr>
        <p:spPr>
          <a:xfrm>
            <a:off x="990600" y="1524000"/>
            <a:ext cx="7391400" cy="4648200"/>
          </a:xfrm>
          <a:ln/>
        </p:spPr>
        <p:txBody>
          <a:bodyPr vert="horz" wrap="square" lIns="92075" tIns="46038" rIns="92075" bIns="46038" anchor="t" anchorCtr="0"/>
          <a:p>
            <a:pPr lvl="1">
              <a:lnSpc>
                <a:spcPct val="90000"/>
              </a:lnSpc>
            </a:pPr>
            <a:r>
              <a:rPr lang="zh-CN" altLang="en-US" sz="2200" b="1" dirty="0">
                <a:ea typeface="宋体" panose="02010600030101010101" pitchFamily="2" charset="-122"/>
              </a:rPr>
              <a:t>例</a:t>
            </a:r>
            <a:r>
              <a:rPr lang="en-US" altLang="zh-CN" sz="2200" b="1" dirty="0">
                <a:ea typeface="宋体" panose="02010600030101010101" pitchFamily="2" charset="-122"/>
              </a:rPr>
              <a:t>7.8</a:t>
            </a:r>
            <a:r>
              <a:rPr lang="zh-CN" altLang="en-US" sz="2200" b="1" dirty="0">
                <a:ea typeface="宋体" panose="02010600030101010101" pitchFamily="2" charset="-122"/>
              </a:rPr>
              <a:t>，如图</a:t>
            </a:r>
            <a:r>
              <a:rPr lang="en-US" altLang="zh-CN" sz="2200" b="1" dirty="0">
                <a:ea typeface="宋体" panose="02010600030101010101" pitchFamily="2" charset="-122"/>
              </a:rPr>
              <a:t>7-12</a:t>
            </a:r>
            <a:r>
              <a:rPr lang="zh-CN" altLang="en-US" sz="2200" b="1" dirty="0">
                <a:ea typeface="宋体" panose="02010600030101010101" pitchFamily="2" charset="-122"/>
              </a:rPr>
              <a:t>的程序</a:t>
            </a:r>
            <a:endParaRPr lang="en-US" altLang="zh-CN" sz="2200" b="1" dirty="0">
              <a:ea typeface="宋体" panose="02010600030101010101" pitchFamily="2" charset="-122"/>
            </a:endParaRPr>
          </a:p>
          <a:p>
            <a:pPr lvl="2">
              <a:lnSpc>
                <a:spcPct val="90000"/>
              </a:lnSpc>
            </a:pPr>
            <a:r>
              <a:rPr lang="zh-CN" altLang="en-US" sz="2000" b="1" dirty="0">
                <a:ea typeface="宋体" panose="02010600030101010101" pitchFamily="2" charset="-122"/>
              </a:rPr>
              <a:t>函数</a:t>
            </a:r>
            <a:r>
              <a:rPr lang="en-US" altLang="zh-CN" sz="2000" b="1" dirty="0">
                <a:ea typeface="宋体" panose="02010600030101010101" pitchFamily="2" charset="-122"/>
              </a:rPr>
              <a:t>b</a:t>
            </a:r>
            <a:r>
              <a:rPr lang="zh-CN" altLang="en-US" sz="2000" b="1" dirty="0">
                <a:ea typeface="宋体" panose="02010600030101010101" pitchFamily="2" charset="-122"/>
              </a:rPr>
              <a:t>有一个值为函数的参数</a:t>
            </a:r>
            <a:r>
              <a:rPr lang="en-US" altLang="zh-CN" sz="2000" b="1" dirty="0">
                <a:ea typeface="宋体" panose="02010600030101010101" pitchFamily="2" charset="-122"/>
              </a:rPr>
              <a:t>f</a:t>
            </a:r>
            <a:endParaRPr lang="en-US" altLang="zh-CN" sz="2000" b="1" dirty="0">
              <a:ea typeface="宋体" panose="02010600030101010101" pitchFamily="2" charset="-122"/>
            </a:endParaRPr>
          </a:p>
          <a:p>
            <a:pPr lvl="2">
              <a:lnSpc>
                <a:spcPct val="90000"/>
              </a:lnSpc>
            </a:pPr>
            <a:r>
              <a:rPr lang="zh-CN" altLang="en-US" sz="2000" b="1" dirty="0">
                <a:ea typeface="宋体" panose="02010600030101010101" pitchFamily="2" charset="-122"/>
              </a:rPr>
              <a:t>函数</a:t>
            </a:r>
            <a:r>
              <a:rPr lang="en-US" altLang="zh-CN" sz="2000" b="1" dirty="0">
                <a:ea typeface="宋体" panose="02010600030101010101" pitchFamily="2" charset="-122"/>
              </a:rPr>
              <a:t>c</a:t>
            </a:r>
            <a:r>
              <a:rPr lang="zh-CN" altLang="en-US" sz="2000" b="1" dirty="0">
                <a:ea typeface="宋体" panose="02010600030101010101" pitchFamily="2" charset="-122"/>
              </a:rPr>
              <a:t>中定义了函数</a:t>
            </a:r>
            <a:r>
              <a:rPr lang="en-US" altLang="zh-CN" sz="2000" b="1" dirty="0">
                <a:ea typeface="宋体" panose="02010600030101010101" pitchFamily="2" charset="-122"/>
              </a:rPr>
              <a:t>d</a:t>
            </a:r>
            <a:r>
              <a:rPr lang="zh-CN" altLang="en-US" sz="2000" b="1" dirty="0">
                <a:ea typeface="宋体" panose="02010600030101010101" pitchFamily="2" charset="-122"/>
              </a:rPr>
              <a:t>，然后用</a:t>
            </a:r>
            <a:r>
              <a:rPr lang="en-US" altLang="zh-CN" sz="2000" b="1" dirty="0">
                <a:ea typeface="宋体" panose="02010600030101010101" pitchFamily="2" charset="-122"/>
              </a:rPr>
              <a:t>d</a:t>
            </a:r>
            <a:r>
              <a:rPr lang="zh-CN" altLang="en-US" sz="2000" b="1" dirty="0">
                <a:ea typeface="宋体" panose="02010600030101010101" pitchFamily="2" charset="-122"/>
              </a:rPr>
              <a:t>为实参，调用了函数</a:t>
            </a:r>
            <a:r>
              <a:rPr lang="en-US" altLang="zh-CN" sz="2000" b="1" dirty="0">
                <a:ea typeface="宋体" panose="02010600030101010101" pitchFamily="2" charset="-122"/>
              </a:rPr>
              <a:t>b</a:t>
            </a:r>
            <a:endParaRPr lang="en-US" altLang="zh-CN" sz="2000" b="1" dirty="0">
              <a:ea typeface="宋体" panose="02010600030101010101" pitchFamily="2" charset="-122"/>
            </a:endParaRPr>
          </a:p>
          <a:p>
            <a:pPr lvl="2">
              <a:lnSpc>
                <a:spcPct val="90000"/>
              </a:lnSpc>
            </a:pPr>
            <a:r>
              <a:rPr lang="en-US" altLang="zh-CN" sz="2000" b="1" dirty="0">
                <a:ea typeface="宋体" panose="02010600030101010101" pitchFamily="2" charset="-122"/>
              </a:rPr>
              <a:t>c</a:t>
            </a:r>
            <a:r>
              <a:rPr lang="zh-CN" altLang="en-US" sz="2000" b="1" dirty="0">
                <a:ea typeface="宋体" panose="02010600030101010101" pitchFamily="2" charset="-122"/>
              </a:rPr>
              <a:t>调用</a:t>
            </a:r>
            <a:r>
              <a:rPr lang="en-US" altLang="zh-CN" sz="2000" b="1" dirty="0">
                <a:ea typeface="宋体" panose="02010600030101010101" pitchFamily="2" charset="-122"/>
              </a:rPr>
              <a:t>b(d)</a:t>
            </a:r>
            <a:r>
              <a:rPr lang="zh-CN" altLang="en-US" sz="2000" b="1" dirty="0">
                <a:ea typeface="宋体" panose="02010600030101010101" pitchFamily="2" charset="-122"/>
              </a:rPr>
              <a:t>时，</a:t>
            </a:r>
            <a:r>
              <a:rPr lang="en-US" altLang="zh-CN" sz="2000" b="1" dirty="0">
                <a:ea typeface="宋体" panose="02010600030101010101" pitchFamily="2" charset="-122"/>
              </a:rPr>
              <a:t>b</a:t>
            </a:r>
            <a:r>
              <a:rPr lang="zh-CN" altLang="en-US" sz="2000" b="1" dirty="0">
                <a:ea typeface="宋体" panose="02010600030101010101" pitchFamily="2" charset="-122"/>
              </a:rPr>
              <a:t>的活动记录入栈，如图</a:t>
            </a:r>
            <a:r>
              <a:rPr lang="en-US" altLang="zh-CN" sz="2000" b="1" dirty="0">
                <a:ea typeface="宋体" panose="02010600030101010101" pitchFamily="2" charset="-122"/>
              </a:rPr>
              <a:t>7-13a</a:t>
            </a:r>
            <a:endParaRPr lang="en-US" altLang="zh-CN" sz="2000" b="1" dirty="0">
              <a:ea typeface="宋体" panose="02010600030101010101" pitchFamily="2" charset="-122"/>
            </a:endParaRPr>
          </a:p>
          <a:p>
            <a:pPr lvl="3">
              <a:lnSpc>
                <a:spcPct val="90000"/>
              </a:lnSpc>
            </a:pPr>
            <a:r>
              <a:rPr lang="en-US" altLang="zh-CN" sz="1800" b="1" dirty="0">
                <a:ea typeface="宋体" panose="02010600030101010101" pitchFamily="2" charset="-122"/>
              </a:rPr>
              <a:t>b</a:t>
            </a:r>
            <a:r>
              <a:rPr lang="zh-CN" altLang="en-US" sz="1800" b="1" dirty="0">
                <a:ea typeface="宋体" panose="02010600030101010101" pitchFamily="2" charset="-122"/>
              </a:rPr>
              <a:t>的活动记录中记录了形参</a:t>
            </a:r>
            <a:r>
              <a:rPr lang="en-US" altLang="zh-CN" sz="1800" b="1" dirty="0">
                <a:ea typeface="宋体" panose="02010600030101010101" pitchFamily="2" charset="-122"/>
              </a:rPr>
              <a:t>f</a:t>
            </a:r>
            <a:r>
              <a:rPr lang="zh-CN" altLang="en-US" sz="1800" b="1" dirty="0">
                <a:ea typeface="宋体" panose="02010600030101010101" pitchFamily="2" charset="-122"/>
              </a:rPr>
              <a:t>对应的实参为</a:t>
            </a:r>
            <a:r>
              <a:rPr lang="en-US" altLang="zh-CN" sz="1800" b="1" dirty="0">
                <a:ea typeface="宋体" panose="02010600030101010101" pitchFamily="2" charset="-122"/>
              </a:rPr>
              <a:t>d</a:t>
            </a:r>
            <a:r>
              <a:rPr lang="zh-CN" altLang="en-US" sz="1800" b="1" dirty="0">
                <a:ea typeface="宋体" panose="02010600030101010101" pitchFamily="2" charset="-122"/>
              </a:rPr>
              <a:t>及其访问链</a:t>
            </a:r>
            <a:endParaRPr lang="en-US" altLang="zh-CN" sz="1800" b="1" dirty="0">
              <a:ea typeface="宋体" panose="02010600030101010101" pitchFamily="2" charset="-122"/>
            </a:endParaRPr>
          </a:p>
          <a:p>
            <a:pPr lvl="4">
              <a:lnSpc>
                <a:spcPct val="90000"/>
              </a:lnSpc>
            </a:pPr>
            <a:r>
              <a:rPr lang="zh-CN" altLang="en-US" sz="1600" b="1" dirty="0">
                <a:ea typeface="宋体" panose="02010600030101010101" pitchFamily="2" charset="-122"/>
              </a:rPr>
              <a:t>既然</a:t>
            </a:r>
            <a:r>
              <a:rPr lang="en-US" altLang="zh-CN" sz="1600" b="1" dirty="0">
                <a:ea typeface="宋体" panose="02010600030101010101" pitchFamily="2" charset="-122"/>
              </a:rPr>
              <a:t>d</a:t>
            </a:r>
            <a:r>
              <a:rPr lang="zh-CN" altLang="en-US" sz="1600" b="1" dirty="0">
                <a:ea typeface="宋体" panose="02010600030101010101" pitchFamily="2" charset="-122"/>
              </a:rPr>
              <a:t>作为一个名字可以在</a:t>
            </a:r>
            <a:r>
              <a:rPr lang="en-US" altLang="zh-CN" sz="1600" b="1" dirty="0">
                <a:ea typeface="宋体" panose="02010600030101010101" pitchFamily="2" charset="-122"/>
              </a:rPr>
              <a:t>c</a:t>
            </a:r>
            <a:r>
              <a:rPr lang="zh-CN" altLang="en-US" sz="1600" b="1" dirty="0">
                <a:ea typeface="宋体" panose="02010600030101010101" pitchFamily="2" charset="-122"/>
              </a:rPr>
              <a:t>中被正常访问，则</a:t>
            </a:r>
            <a:r>
              <a:rPr lang="en-US" altLang="zh-CN" sz="1600" b="1" dirty="0">
                <a:ea typeface="宋体" panose="02010600030101010101" pitchFamily="2" charset="-122"/>
              </a:rPr>
              <a:t>b</a:t>
            </a:r>
            <a:r>
              <a:rPr lang="zh-CN" altLang="en-US" sz="1600" b="1" dirty="0">
                <a:ea typeface="宋体" panose="02010600030101010101" pitchFamily="2" charset="-122"/>
              </a:rPr>
              <a:t>的调用发生时，</a:t>
            </a:r>
            <a:r>
              <a:rPr lang="en-US" altLang="zh-CN" sz="1600" b="1" dirty="0">
                <a:ea typeface="宋体" panose="02010600030101010101" pitchFamily="2" charset="-122"/>
              </a:rPr>
              <a:t>c</a:t>
            </a:r>
            <a:r>
              <a:rPr lang="zh-CN" altLang="en-US" sz="1600" b="1" dirty="0">
                <a:ea typeface="宋体" panose="02010600030101010101" pitchFamily="2" charset="-122"/>
              </a:rPr>
              <a:t>可以根据前面的访问链建立的方法，确定</a:t>
            </a:r>
            <a:r>
              <a:rPr lang="en-US" altLang="zh-CN" sz="1600" b="1" dirty="0">
                <a:ea typeface="宋体" panose="02010600030101010101" pitchFamily="2" charset="-122"/>
              </a:rPr>
              <a:t>d</a:t>
            </a:r>
            <a:r>
              <a:rPr lang="zh-CN" altLang="en-US" sz="1600" b="1" dirty="0">
                <a:ea typeface="宋体" panose="02010600030101010101" pitchFamily="2" charset="-122"/>
              </a:rPr>
              <a:t>的访问链的指向，并将其作为参数的一部分传递给</a:t>
            </a:r>
            <a:r>
              <a:rPr lang="en-US" altLang="zh-CN" sz="1600" b="1" dirty="0">
                <a:ea typeface="宋体" panose="02010600030101010101" pitchFamily="2" charset="-122"/>
              </a:rPr>
              <a:t>b</a:t>
            </a:r>
            <a:endParaRPr lang="en-US" altLang="zh-CN" sz="1600" b="1" dirty="0">
              <a:ea typeface="宋体" panose="02010600030101010101" pitchFamily="2" charset="-122"/>
            </a:endParaRPr>
          </a:p>
          <a:p>
            <a:pPr lvl="2">
              <a:lnSpc>
                <a:spcPct val="90000"/>
              </a:lnSpc>
            </a:pPr>
            <a:r>
              <a:rPr lang="en-US" altLang="zh-CN" sz="2000" b="1" dirty="0">
                <a:ea typeface="宋体" panose="02010600030101010101" pitchFamily="2" charset="-122"/>
              </a:rPr>
              <a:t>b</a:t>
            </a:r>
            <a:r>
              <a:rPr lang="zh-CN" altLang="en-US" sz="2000" b="1" dirty="0">
                <a:ea typeface="宋体" panose="02010600030101010101" pitchFamily="2" charset="-122"/>
              </a:rPr>
              <a:t>中调用形参</a:t>
            </a:r>
            <a:r>
              <a:rPr lang="en-US" altLang="zh-CN" sz="2000" b="1" dirty="0">
                <a:ea typeface="宋体" panose="02010600030101010101" pitchFamily="2" charset="-122"/>
              </a:rPr>
              <a:t>f</a:t>
            </a:r>
            <a:r>
              <a:rPr lang="zh-CN" altLang="en-US" sz="2000" b="1" dirty="0">
                <a:ea typeface="宋体" panose="02010600030101010101" pitchFamily="2" charset="-122"/>
              </a:rPr>
              <a:t>，实质是调用了</a:t>
            </a:r>
            <a:r>
              <a:rPr lang="en-US" altLang="zh-CN" sz="2000" b="1" dirty="0">
                <a:ea typeface="宋体" panose="02010600030101010101" pitchFamily="2" charset="-122"/>
              </a:rPr>
              <a:t>d</a:t>
            </a:r>
            <a:r>
              <a:rPr lang="zh-CN" altLang="en-US" sz="2000" b="1" dirty="0">
                <a:ea typeface="宋体" panose="02010600030101010101" pitchFamily="2" charset="-122"/>
              </a:rPr>
              <a:t>，此时</a:t>
            </a:r>
            <a:r>
              <a:rPr lang="en-US" altLang="zh-CN" sz="2000" b="1" dirty="0">
                <a:ea typeface="宋体" panose="02010600030101010101" pitchFamily="2" charset="-122"/>
              </a:rPr>
              <a:t>d</a:t>
            </a:r>
            <a:r>
              <a:rPr lang="zh-CN" altLang="en-US" sz="2000" b="1" dirty="0">
                <a:ea typeface="宋体" panose="02010600030101010101" pitchFamily="2" charset="-122"/>
              </a:rPr>
              <a:t>的访问链可以在形参</a:t>
            </a:r>
            <a:r>
              <a:rPr lang="en-US" altLang="zh-CN" sz="2000" b="1" dirty="0">
                <a:ea typeface="宋体" panose="02010600030101010101" pitchFamily="2" charset="-122"/>
              </a:rPr>
              <a:t>f</a:t>
            </a:r>
            <a:r>
              <a:rPr lang="zh-CN" altLang="en-US" sz="2000" b="1" dirty="0">
                <a:ea typeface="宋体" panose="02010600030101010101" pitchFamily="2" charset="-122"/>
              </a:rPr>
              <a:t>处得到，可以为</a:t>
            </a:r>
            <a:r>
              <a:rPr lang="en-US" altLang="zh-CN" sz="2000" b="1" dirty="0">
                <a:ea typeface="宋体" panose="02010600030101010101" pitchFamily="2" charset="-122"/>
              </a:rPr>
              <a:t>d</a:t>
            </a:r>
            <a:r>
              <a:rPr lang="zh-CN" altLang="en-US" sz="2000" b="1" dirty="0">
                <a:ea typeface="宋体" panose="02010600030101010101" pitchFamily="2" charset="-122"/>
              </a:rPr>
              <a:t>建立正确的活动记录和访问链，如图</a:t>
            </a:r>
            <a:r>
              <a:rPr lang="en-US" altLang="zh-CN" sz="2000" b="1" dirty="0">
                <a:ea typeface="宋体" panose="02010600030101010101" pitchFamily="2" charset="-122"/>
              </a:rPr>
              <a:t>7-13b</a:t>
            </a:r>
            <a:endParaRPr lang="en-US" altLang="zh-CN" sz="2000" b="1" dirty="0">
              <a:ea typeface="宋体" panose="02010600030101010101" pitchFamily="2" charset="-122"/>
            </a:endParaRPr>
          </a:p>
          <a:p>
            <a:pPr lvl="3">
              <a:lnSpc>
                <a:spcPct val="90000"/>
              </a:lnSpc>
            </a:pPr>
            <a:r>
              <a:rPr lang="en-US" altLang="zh-CN" sz="1800" b="1" dirty="0">
                <a:ea typeface="宋体" panose="02010600030101010101" pitchFamily="2" charset="-122"/>
              </a:rPr>
              <a:t>b</a:t>
            </a:r>
            <a:r>
              <a:rPr lang="zh-CN" altLang="en-US" sz="1800" b="1" dirty="0">
                <a:ea typeface="宋体" panose="02010600030101010101" pitchFamily="2" charset="-122"/>
              </a:rPr>
              <a:t>可以不在</a:t>
            </a:r>
            <a:r>
              <a:rPr lang="en-US" altLang="zh-CN" sz="1800" b="1" dirty="0">
                <a:ea typeface="宋体" panose="02010600030101010101" pitchFamily="2" charset="-122"/>
              </a:rPr>
              <a:t>c</a:t>
            </a:r>
            <a:r>
              <a:rPr lang="zh-CN" altLang="en-US" sz="1800" b="1" dirty="0">
                <a:ea typeface="宋体" panose="02010600030101010101" pitchFamily="2" charset="-122"/>
              </a:rPr>
              <a:t>的定义的作用域之内，但是访问链等还是正确建立了</a:t>
            </a:r>
            <a:endParaRPr lang="zh-CN" altLang="en-US" sz="1800" b="1" dirty="0">
              <a:ea typeface="宋体" panose="02010600030101010101" pitchFamily="2" charset="-122"/>
            </a:endParaRPr>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3426" name="Picture 2"/>
          <p:cNvPicPr>
            <a:picLocks noChangeAspect="1"/>
          </p:cNvPicPr>
          <p:nvPr/>
        </p:nvPicPr>
        <p:blipFill>
          <a:blip r:embed="rId1"/>
          <a:stretch>
            <a:fillRect/>
          </a:stretch>
        </p:blipFill>
        <p:spPr>
          <a:xfrm>
            <a:off x="838200" y="619125"/>
            <a:ext cx="7391400" cy="5511800"/>
          </a:xfrm>
          <a:prstGeom prst="rect">
            <a:avLst/>
          </a:prstGeom>
          <a:noFill/>
          <a:ln w="9525">
            <a:noFill/>
          </a:ln>
        </p:spPr>
      </p:pic>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访问非局部名字（1</a:t>
            </a:r>
            <a:r>
              <a:rPr lang="en-US" altLang="zh-CN" dirty="0">
                <a:latin typeface="Times New Roman" panose="02020603050405020304" pitchFamily="18" charset="0"/>
                <a:ea typeface="宋体" panose="02010600030101010101" pitchFamily="2" charset="-122"/>
              </a:rPr>
              <a:t>7</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04451" name="Rectangle 3"/>
          <p:cNvSpPr>
            <a:spLocks noGrp="1"/>
          </p:cNvSpPr>
          <p:nvPr>
            <p:ph idx="1"/>
          </p:nvPr>
        </p:nvSpPr>
        <p:spPr>
          <a:xfrm>
            <a:off x="990600" y="1524000"/>
            <a:ext cx="7391400" cy="4648200"/>
          </a:xfrm>
          <a:ln/>
        </p:spPr>
        <p:txBody>
          <a:bodyPr vert="horz" wrap="square" lIns="92075" tIns="46038" rIns="92075" bIns="46038" anchor="t" anchorCtr="0"/>
          <a:p>
            <a:r>
              <a:rPr lang="en-US" altLang="zh-CN" sz="2400" b="1" dirty="0">
                <a:ea typeface="宋体" panose="02010600030101010101" pitchFamily="2" charset="-122"/>
              </a:rPr>
              <a:t>Display</a:t>
            </a:r>
            <a:r>
              <a:rPr lang="zh-CN" altLang="en-US" sz="2400" b="1" dirty="0">
                <a:ea typeface="宋体" panose="02010600030101010101" pitchFamily="2" charset="-122"/>
              </a:rPr>
              <a:t>表：</a:t>
            </a:r>
            <a:r>
              <a:rPr lang="en-US" altLang="zh-CN" sz="2400" b="1" dirty="0">
                <a:ea typeface="宋体" panose="02010600030101010101" pitchFamily="2" charset="-122"/>
              </a:rPr>
              <a:t>d[i]</a:t>
            </a:r>
            <a:endParaRPr lang="en-US" altLang="zh-CN" sz="2400" b="1" dirty="0">
              <a:ea typeface="宋体" panose="02010600030101010101" pitchFamily="2" charset="-122"/>
            </a:endParaRPr>
          </a:p>
          <a:p>
            <a:pPr lvl="1"/>
            <a:r>
              <a:rPr lang="zh-CN" altLang="en-US" sz="2200" b="1" dirty="0">
                <a:ea typeface="宋体" panose="02010600030101010101" pitchFamily="2" charset="-122"/>
              </a:rPr>
              <a:t>通过数组存放访问链，提高对非局部名字的访问效率</a:t>
            </a:r>
            <a:endParaRPr lang="zh-CN" altLang="en-US" sz="2200" b="1" dirty="0">
              <a:ea typeface="宋体" panose="02010600030101010101" pitchFamily="2" charset="-122"/>
            </a:endParaRPr>
          </a:p>
          <a:p>
            <a:pPr lvl="2"/>
            <a:r>
              <a:rPr lang="zh-CN" altLang="en-US" sz="2000" b="1" dirty="0">
                <a:ea typeface="宋体" panose="02010600030101010101" pitchFamily="2" charset="-122"/>
              </a:rPr>
              <a:t>如果当前的活动记录对应的过程</a:t>
            </a:r>
            <a:r>
              <a:rPr lang="en-US" altLang="zh-CN" sz="2000" b="1" dirty="0">
                <a:ea typeface="宋体" panose="02010600030101010101" pitchFamily="2" charset="-122"/>
              </a:rPr>
              <a:t>p</a:t>
            </a:r>
            <a:r>
              <a:rPr lang="zh-CN" altLang="en-US" sz="2000" b="1" dirty="0">
                <a:ea typeface="宋体" panose="02010600030101010101" pitchFamily="2" charset="-122"/>
              </a:rPr>
              <a:t>的嵌套深度为</a:t>
            </a:r>
            <a:r>
              <a:rPr lang="en-US" altLang="zh-CN" sz="2000" b="1" dirty="0">
                <a:ea typeface="宋体" panose="02010600030101010101" pitchFamily="2" charset="-122"/>
              </a:rPr>
              <a:t>j，</a:t>
            </a:r>
            <a:r>
              <a:rPr lang="zh-CN" altLang="en-US" sz="2000" b="1" dirty="0">
                <a:ea typeface="宋体" panose="02010600030101010101" pitchFamily="2" charset="-122"/>
              </a:rPr>
              <a:t>则</a:t>
            </a:r>
            <a:r>
              <a:rPr lang="en-US" altLang="zh-CN" sz="2000" b="1" dirty="0">
                <a:ea typeface="宋体" panose="02010600030101010101" pitchFamily="2" charset="-122"/>
              </a:rPr>
              <a:t>Display</a:t>
            </a:r>
            <a:r>
              <a:rPr lang="zh-CN" altLang="en-US" sz="2000" b="1" dirty="0">
                <a:ea typeface="宋体" panose="02010600030101010101" pitchFamily="2" charset="-122"/>
              </a:rPr>
              <a:t>表有</a:t>
            </a:r>
            <a:r>
              <a:rPr lang="en-US" altLang="zh-CN" sz="2000" b="1" dirty="0">
                <a:ea typeface="宋体" panose="02010600030101010101" pitchFamily="2" charset="-122"/>
              </a:rPr>
              <a:t>j</a:t>
            </a:r>
            <a:r>
              <a:rPr lang="zh-CN" altLang="en-US" sz="2000" b="1" dirty="0">
                <a:ea typeface="宋体" panose="02010600030101010101" pitchFamily="2" charset="-122"/>
              </a:rPr>
              <a:t>项，前</a:t>
            </a:r>
            <a:r>
              <a:rPr lang="en-US" altLang="zh-CN" sz="2000" b="1" dirty="0">
                <a:ea typeface="宋体" panose="02010600030101010101" pitchFamily="2" charset="-122"/>
              </a:rPr>
              <a:t>j-1</a:t>
            </a:r>
            <a:r>
              <a:rPr lang="zh-CN" altLang="en-US" sz="2000" b="1" dirty="0">
                <a:ea typeface="宋体" panose="02010600030101010101" pitchFamily="2" charset="-122"/>
              </a:rPr>
              <a:t>项指向依次嵌套在过程</a:t>
            </a:r>
            <a:r>
              <a:rPr lang="en-US" altLang="zh-CN" sz="2000" b="1" dirty="0">
                <a:ea typeface="宋体" panose="02010600030101010101" pitchFamily="2" charset="-122"/>
              </a:rPr>
              <a:t>p</a:t>
            </a:r>
            <a:r>
              <a:rPr lang="zh-CN" altLang="en-US" sz="2000" b="1" dirty="0">
                <a:ea typeface="宋体" panose="02010600030101010101" pitchFamily="2" charset="-122"/>
              </a:rPr>
              <a:t>外面的过程的最新活动记录，第</a:t>
            </a:r>
            <a:r>
              <a:rPr lang="en-US" altLang="zh-CN" sz="2000" b="1" dirty="0">
                <a:ea typeface="宋体" panose="02010600030101010101" pitchFamily="2" charset="-122"/>
              </a:rPr>
              <a:t>j</a:t>
            </a:r>
            <a:r>
              <a:rPr lang="zh-CN" altLang="en-US" sz="2000" b="1" dirty="0">
                <a:ea typeface="宋体" panose="02010600030101010101" pitchFamily="2" charset="-122"/>
              </a:rPr>
              <a:t>项指向过程</a:t>
            </a:r>
            <a:r>
              <a:rPr lang="en-US" altLang="zh-CN" sz="2000" b="1" dirty="0">
                <a:ea typeface="宋体" panose="02010600030101010101" pitchFamily="2" charset="-122"/>
              </a:rPr>
              <a:t>p</a:t>
            </a:r>
            <a:r>
              <a:rPr lang="zh-CN" altLang="en-US" sz="2000" b="1" dirty="0">
                <a:ea typeface="宋体" panose="02010600030101010101" pitchFamily="2" charset="-122"/>
              </a:rPr>
              <a:t>的这次活动记录</a:t>
            </a:r>
            <a:endParaRPr lang="zh-CN" altLang="en-US" sz="2000" b="1" dirty="0">
              <a:ea typeface="宋体" panose="02010600030101010101" pitchFamily="2" charset="-122"/>
            </a:endParaRPr>
          </a:p>
          <a:p>
            <a:pPr lvl="2"/>
            <a:r>
              <a:rPr lang="zh-CN" altLang="en-US" sz="2000" b="1" dirty="0">
                <a:ea typeface="宋体" panose="02010600030101010101" pitchFamily="2" charset="-122"/>
              </a:rPr>
              <a:t>同一个过程的不同活动记录间可以利用访问链链结，在调用序列和返回序列中进行更新操作</a:t>
            </a:r>
            <a:endParaRPr lang="zh-CN" altLang="en-US" sz="2000" b="1" dirty="0">
              <a:ea typeface="宋体" panose="02010600030101010101" pitchFamily="2" charset="-122"/>
            </a:endParaRPr>
          </a:p>
          <a:p>
            <a:pPr lvl="3"/>
            <a:r>
              <a:rPr lang="zh-CN" altLang="en-US" sz="1800" b="1" dirty="0">
                <a:ea typeface="宋体" panose="02010600030101010101" pitchFamily="2" charset="-122"/>
              </a:rPr>
              <a:t>当一个嵌套深度</a:t>
            </a:r>
            <a:r>
              <a:rPr lang="en-US" altLang="zh-CN" sz="1800" b="1" dirty="0">
                <a:ea typeface="宋体" panose="02010600030101010101" pitchFamily="2" charset="-122"/>
              </a:rPr>
              <a:t>i</a:t>
            </a:r>
            <a:r>
              <a:rPr lang="zh-CN" altLang="en-US" sz="1800" b="1" dirty="0">
                <a:ea typeface="宋体" panose="02010600030101010101" pitchFamily="2" charset="-122"/>
              </a:rPr>
              <a:t>的过程被调用时，建立一个新的活动记录</a:t>
            </a:r>
            <a:endParaRPr lang="zh-CN" altLang="en-US" sz="1800" b="1" dirty="0">
              <a:ea typeface="宋体" panose="02010600030101010101" pitchFamily="2" charset="-122"/>
            </a:endParaRPr>
          </a:p>
          <a:p>
            <a:pPr lvl="4"/>
            <a:r>
              <a:rPr lang="zh-CN" altLang="en-US" sz="1600" b="1" dirty="0">
                <a:ea typeface="宋体" panose="02010600030101010101" pitchFamily="2" charset="-122"/>
              </a:rPr>
              <a:t>在新的活动记录中保存</a:t>
            </a:r>
            <a:r>
              <a:rPr lang="en-US" altLang="zh-CN" sz="1600" b="1" dirty="0">
                <a:ea typeface="宋体" panose="02010600030101010101" pitchFamily="2" charset="-122"/>
              </a:rPr>
              <a:t>d[ i ]</a:t>
            </a:r>
            <a:r>
              <a:rPr lang="zh-CN" altLang="en-US" sz="1600" b="1" dirty="0">
                <a:ea typeface="宋体" panose="02010600030101010101" pitchFamily="2" charset="-122"/>
              </a:rPr>
              <a:t>的值</a:t>
            </a:r>
            <a:endParaRPr lang="zh-CN" altLang="en-US" sz="1600" b="1" dirty="0">
              <a:ea typeface="宋体" panose="02010600030101010101" pitchFamily="2" charset="-122"/>
            </a:endParaRPr>
          </a:p>
          <a:p>
            <a:pPr lvl="4"/>
            <a:r>
              <a:rPr lang="zh-CN" altLang="en-US" sz="1600" b="1" dirty="0">
                <a:ea typeface="宋体" panose="02010600030101010101" pitchFamily="2" charset="-122"/>
              </a:rPr>
              <a:t>令</a:t>
            </a:r>
            <a:r>
              <a:rPr lang="en-US" altLang="zh-CN" sz="1600" b="1" dirty="0">
                <a:ea typeface="宋体" panose="02010600030101010101" pitchFamily="2" charset="-122"/>
              </a:rPr>
              <a:t>d[ i ]</a:t>
            </a:r>
            <a:r>
              <a:rPr lang="zh-CN" altLang="en-US" sz="1600" b="1" dirty="0">
                <a:ea typeface="宋体" panose="02010600030101010101" pitchFamily="2" charset="-122"/>
              </a:rPr>
              <a:t>指向新的活动记录</a:t>
            </a:r>
            <a:endParaRPr lang="zh-CN" altLang="en-US" sz="1600" b="1" dirty="0">
              <a:ea typeface="宋体" panose="02010600030101010101" pitchFamily="2" charset="-122"/>
            </a:endParaRPr>
          </a:p>
          <a:p>
            <a:pPr lvl="3"/>
            <a:r>
              <a:rPr lang="zh-CN" altLang="en-US" sz="1800" b="1" dirty="0">
                <a:ea typeface="宋体" panose="02010600030101010101" pitchFamily="2" charset="-122"/>
              </a:rPr>
              <a:t>在一个活动结束前，恢复</a:t>
            </a:r>
            <a:r>
              <a:rPr lang="en-US" altLang="zh-CN" sz="1800" b="1" dirty="0">
                <a:ea typeface="宋体" panose="02010600030101010101" pitchFamily="2" charset="-122"/>
              </a:rPr>
              <a:t>d[ i ]</a:t>
            </a:r>
            <a:r>
              <a:rPr lang="zh-CN" altLang="en-US" sz="1800" b="1" dirty="0">
                <a:ea typeface="宋体" panose="02010600030101010101" pitchFamily="2" charset="-122"/>
              </a:rPr>
              <a:t>被保存的值</a:t>
            </a:r>
            <a:endParaRPr lang="zh-CN" altLang="en-US" sz="1800" b="1" dirty="0">
              <a:ea typeface="宋体" panose="02010600030101010101" pitchFamily="2" charset="-122"/>
            </a:endParaRP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6498" name="Picture 2"/>
          <p:cNvPicPr>
            <a:picLocks noChangeAspect="1"/>
          </p:cNvPicPr>
          <p:nvPr/>
        </p:nvPicPr>
        <p:blipFill>
          <a:blip r:embed="rId1"/>
          <a:stretch>
            <a:fillRect/>
          </a:stretch>
        </p:blipFill>
        <p:spPr>
          <a:xfrm>
            <a:off x="1447800" y="0"/>
            <a:ext cx="5878513" cy="6629400"/>
          </a:xfrm>
          <a:prstGeom prst="rect">
            <a:avLst/>
          </a:prstGeom>
          <a:noFill/>
          <a:ln w="9525">
            <a:noFill/>
          </a:ln>
        </p:spPr>
      </p:pic>
      <p:pic>
        <p:nvPicPr>
          <p:cNvPr id="106499" name="Picture 3"/>
          <p:cNvPicPr>
            <a:picLocks noChangeAspect="1"/>
          </p:cNvPicPr>
          <p:nvPr/>
        </p:nvPicPr>
        <p:blipFill>
          <a:blip r:embed="rId2"/>
          <a:stretch>
            <a:fillRect/>
          </a:stretch>
        </p:blipFill>
        <p:spPr>
          <a:xfrm>
            <a:off x="228600" y="6400800"/>
            <a:ext cx="3322638" cy="269875"/>
          </a:xfrm>
          <a:prstGeom prst="rect">
            <a:avLst/>
          </a:prstGeom>
          <a:noFill/>
          <a:ln w="9525">
            <a:noFill/>
          </a:ln>
        </p:spPr>
      </p:pic>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访问非局部名字（18）</a:t>
            </a:r>
            <a:endParaRPr lang="zh-CN" altLang="en-US" dirty="0">
              <a:latin typeface="Times New Roman" panose="02020603050405020304" pitchFamily="18" charset="0"/>
              <a:ea typeface="宋体" panose="02010600030101010101" pitchFamily="2" charset="-122"/>
            </a:endParaRPr>
          </a:p>
        </p:txBody>
      </p:sp>
      <p:sp>
        <p:nvSpPr>
          <p:cNvPr id="107523" name="Rectangle 3"/>
          <p:cNvSpPr>
            <a:spLocks noGrp="1"/>
          </p:cNvSpPr>
          <p:nvPr>
            <p:ph idx="1"/>
          </p:nvPr>
        </p:nvSpPr>
        <p:spPr>
          <a:xfrm>
            <a:off x="990600" y="1524000"/>
            <a:ext cx="7391400" cy="4648200"/>
          </a:xfrm>
          <a:ln/>
        </p:spPr>
        <p:txBody>
          <a:bodyPr vert="horz" wrap="square" lIns="92075" tIns="46038" rIns="92075" bIns="46038" anchor="t" anchorCtr="0"/>
          <a:p>
            <a:pPr lvl="1">
              <a:lnSpc>
                <a:spcPct val="90000"/>
              </a:lnSpc>
            </a:pPr>
            <a:r>
              <a:rPr lang="en-US" altLang="zh-CN" sz="2200" b="1" dirty="0">
                <a:ea typeface="宋体" panose="02010600030101010101" pitchFamily="2" charset="-122"/>
              </a:rPr>
              <a:t>Display</a:t>
            </a:r>
            <a:r>
              <a:rPr lang="zh-CN" altLang="en-US" sz="2200" b="1" dirty="0">
                <a:ea typeface="宋体" panose="02010600030101010101" pitchFamily="2" charset="-122"/>
              </a:rPr>
              <a:t>表的维护</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如果 </a:t>
            </a:r>
            <a:r>
              <a:rPr lang="en-US" altLang="zh-CN" sz="2000" b="1" dirty="0">
                <a:ea typeface="宋体" panose="02010600030101010101" pitchFamily="2" charset="-122"/>
              </a:rPr>
              <a:t>j &lt; i ，</a:t>
            </a:r>
            <a:r>
              <a:rPr lang="zh-CN" altLang="en-US" sz="2000" b="1" dirty="0">
                <a:ea typeface="宋体" panose="02010600030101010101" pitchFamily="2" charset="-122"/>
              </a:rPr>
              <a:t>有</a:t>
            </a:r>
            <a:r>
              <a:rPr lang="en-US" altLang="zh-CN" sz="2000" b="1" dirty="0">
                <a:ea typeface="宋体" panose="02010600030101010101" pitchFamily="2" charset="-122"/>
              </a:rPr>
              <a:t>i = j + 1，</a:t>
            </a:r>
            <a:r>
              <a:rPr lang="zh-CN" altLang="en-US" sz="2000" b="1" dirty="0">
                <a:ea typeface="宋体" panose="02010600030101010101" pitchFamily="2" charset="-122"/>
              </a:rPr>
              <a:t>被调用过程嵌套在调用过程中， </a:t>
            </a:r>
            <a:r>
              <a:rPr lang="en-US" altLang="zh-CN" sz="2000" b="1" dirty="0">
                <a:ea typeface="宋体" panose="02010600030101010101" pitchFamily="2" charset="-122"/>
              </a:rPr>
              <a:t>Display</a:t>
            </a:r>
            <a:r>
              <a:rPr lang="zh-CN" altLang="en-US" sz="2000" b="1" dirty="0">
                <a:ea typeface="宋体" panose="02010600030101010101" pitchFamily="2" charset="-122"/>
              </a:rPr>
              <a:t>表的前</a:t>
            </a:r>
            <a:r>
              <a:rPr lang="en-US" altLang="zh-CN" sz="2000" b="1" dirty="0">
                <a:ea typeface="宋体" panose="02010600030101010101" pitchFamily="2" charset="-122"/>
              </a:rPr>
              <a:t>j</a:t>
            </a:r>
            <a:r>
              <a:rPr lang="zh-CN" altLang="en-US" sz="2000" b="1" dirty="0">
                <a:ea typeface="宋体" panose="02010600030101010101" pitchFamily="2" charset="-122"/>
              </a:rPr>
              <a:t>项不需要变更，将</a:t>
            </a:r>
            <a:r>
              <a:rPr lang="en-US" altLang="zh-CN" sz="2000" b="1" dirty="0">
                <a:ea typeface="宋体" panose="02010600030101010101" pitchFamily="2" charset="-122"/>
              </a:rPr>
              <a:t>d[ i ]</a:t>
            </a:r>
            <a:r>
              <a:rPr lang="zh-CN" altLang="en-US" sz="2000" b="1" dirty="0">
                <a:ea typeface="宋体" panose="02010600030101010101" pitchFamily="2" charset="-122"/>
              </a:rPr>
              <a:t>指向新的活动记录，如上页的</a:t>
            </a:r>
            <a:r>
              <a:rPr lang="en-US" altLang="zh-CN" sz="2000" b="1" dirty="0">
                <a:ea typeface="宋体" panose="02010600030101010101" pitchFamily="2" charset="-122"/>
              </a:rPr>
              <a:t>c</a:t>
            </a:r>
            <a:r>
              <a:rPr lang="zh-CN" altLang="en-US" sz="2000" b="1" dirty="0">
                <a:ea typeface="宋体" panose="02010600030101010101" pitchFamily="2" charset="-122"/>
              </a:rPr>
              <a:t>图</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如果 </a:t>
            </a:r>
            <a:r>
              <a:rPr lang="en-US" altLang="zh-CN" sz="2000" b="1" dirty="0">
                <a:ea typeface="宋体" panose="02010600030101010101" pitchFamily="2" charset="-122"/>
              </a:rPr>
              <a:t>j &gt;= i ，</a:t>
            </a:r>
            <a:r>
              <a:rPr lang="zh-CN" altLang="en-US" sz="2000" b="1" dirty="0">
                <a:ea typeface="宋体" panose="02010600030101010101" pitchFamily="2" charset="-122"/>
              </a:rPr>
              <a:t>调用者和被调用者外面包围的嵌套深度为1，2，…，</a:t>
            </a:r>
            <a:r>
              <a:rPr lang="en-US" altLang="zh-CN" sz="2000" b="1" dirty="0">
                <a:ea typeface="宋体" panose="02010600030101010101" pitchFamily="2" charset="-122"/>
              </a:rPr>
              <a:t>i-1</a:t>
            </a:r>
            <a:r>
              <a:rPr lang="zh-CN" altLang="en-US" sz="2000" b="1" dirty="0">
                <a:ea typeface="宋体" panose="02010600030101010101" pitchFamily="2" charset="-122"/>
              </a:rPr>
              <a:t>的过程是同样的，在新的活动记录中保存老的</a:t>
            </a:r>
            <a:r>
              <a:rPr lang="en-US" altLang="zh-CN" sz="2000" b="1" dirty="0">
                <a:ea typeface="宋体" panose="02010600030101010101" pitchFamily="2" charset="-122"/>
              </a:rPr>
              <a:t>d[ i ]，</a:t>
            </a:r>
            <a:r>
              <a:rPr lang="zh-CN" altLang="en-US" sz="2000" b="1" dirty="0">
                <a:ea typeface="宋体" panose="02010600030101010101" pitchFamily="2" charset="-122"/>
              </a:rPr>
              <a:t>置</a:t>
            </a:r>
            <a:r>
              <a:rPr lang="en-US" altLang="zh-CN" sz="2000" b="1" dirty="0">
                <a:ea typeface="宋体" panose="02010600030101010101" pitchFamily="2" charset="-122"/>
              </a:rPr>
              <a:t>d[ i ]</a:t>
            </a:r>
            <a:r>
              <a:rPr lang="zh-CN" altLang="en-US" sz="2000" b="1" dirty="0">
                <a:ea typeface="宋体" panose="02010600030101010101" pitchFamily="2" charset="-122"/>
              </a:rPr>
              <a:t>指向新的活动记录，保持</a:t>
            </a:r>
            <a:r>
              <a:rPr lang="en-US" altLang="zh-CN" sz="2000" b="1" dirty="0">
                <a:ea typeface="宋体" panose="02010600030101010101" pitchFamily="2" charset="-122"/>
              </a:rPr>
              <a:t>Display</a:t>
            </a:r>
            <a:r>
              <a:rPr lang="zh-CN" altLang="en-US" sz="2000" b="1" dirty="0">
                <a:ea typeface="宋体" panose="02010600030101010101" pitchFamily="2" charset="-122"/>
              </a:rPr>
              <a:t>表的前</a:t>
            </a:r>
            <a:r>
              <a:rPr lang="en-US" altLang="zh-CN" sz="2000" b="1" dirty="0">
                <a:ea typeface="宋体" panose="02010600030101010101" pitchFamily="2" charset="-122"/>
              </a:rPr>
              <a:t>i – 1</a:t>
            </a:r>
            <a:r>
              <a:rPr lang="zh-CN" altLang="en-US" sz="2000" b="1" dirty="0">
                <a:ea typeface="宋体" panose="02010600030101010101" pitchFamily="2" charset="-122"/>
              </a:rPr>
              <a:t>项不变，如上页的</a:t>
            </a:r>
            <a:r>
              <a:rPr lang="en-US" altLang="zh-CN" sz="2000" b="1" dirty="0">
                <a:ea typeface="宋体" panose="02010600030101010101" pitchFamily="2" charset="-122"/>
              </a:rPr>
              <a:t>d</a:t>
            </a:r>
            <a:r>
              <a:rPr lang="zh-CN" altLang="en-US" sz="2000" b="1" dirty="0">
                <a:ea typeface="宋体" panose="02010600030101010101" pitchFamily="2" charset="-122"/>
              </a:rPr>
              <a:t>图</a:t>
            </a:r>
            <a:endParaRPr lang="zh-CN" altLang="en-US" sz="2000" b="1" dirty="0">
              <a:ea typeface="宋体" panose="02010600030101010101" pitchFamily="2" charset="-122"/>
            </a:endParaRPr>
          </a:p>
          <a:p>
            <a:pPr lvl="1">
              <a:lnSpc>
                <a:spcPct val="90000"/>
              </a:lnSpc>
            </a:pPr>
            <a:r>
              <a:rPr lang="en-US" altLang="zh-CN" sz="2200" b="1" dirty="0">
                <a:ea typeface="宋体" panose="02010600030101010101" pitchFamily="2" charset="-122"/>
              </a:rPr>
              <a:t>Display</a:t>
            </a:r>
            <a:r>
              <a:rPr lang="zh-CN" altLang="en-US" sz="2200" b="1" dirty="0">
                <a:ea typeface="宋体" panose="02010600030101010101" pitchFamily="2" charset="-122"/>
              </a:rPr>
              <a:t>表的保存</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可以放在寄存器中，受限于寄存器个数和非局部名字访问的频繁程度</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可以在编译时刻知道</a:t>
            </a:r>
            <a:r>
              <a:rPr lang="en-US" altLang="zh-CN" sz="2000" b="1" dirty="0">
                <a:ea typeface="宋体" panose="02010600030101010101" pitchFamily="2" charset="-122"/>
              </a:rPr>
              <a:t>Display</a:t>
            </a:r>
            <a:r>
              <a:rPr lang="zh-CN" altLang="en-US" sz="2000" b="1" dirty="0">
                <a:ea typeface="宋体" panose="02010600030101010101" pitchFamily="2" charset="-122"/>
              </a:rPr>
              <a:t>表的最大长度，因此也可以将</a:t>
            </a:r>
            <a:r>
              <a:rPr lang="en-US" altLang="zh-CN" sz="2000" b="1" dirty="0">
                <a:ea typeface="宋体" panose="02010600030101010101" pitchFamily="2" charset="-122"/>
              </a:rPr>
              <a:t>Display</a:t>
            </a:r>
            <a:r>
              <a:rPr lang="zh-CN" altLang="en-US" sz="2000" b="1" dirty="0">
                <a:ea typeface="宋体" panose="02010600030101010101" pitchFamily="2" charset="-122"/>
              </a:rPr>
              <a:t>表存放为一个单独的表或作为活动记录的一部分</a:t>
            </a:r>
            <a:endParaRPr lang="zh-CN" altLang="en-US" sz="2000" b="1" dirty="0">
              <a:ea typeface="宋体" panose="02010600030101010101" pitchFamily="2" charset="-122"/>
            </a:endParaRPr>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访问非局部名字（19）</a:t>
            </a:r>
            <a:endParaRPr lang="zh-CN" altLang="en-US" dirty="0">
              <a:latin typeface="Times New Roman" panose="02020603050405020304" pitchFamily="18" charset="0"/>
              <a:ea typeface="宋体" panose="02010600030101010101" pitchFamily="2" charset="-122"/>
            </a:endParaRPr>
          </a:p>
        </p:txBody>
      </p:sp>
      <p:sp>
        <p:nvSpPr>
          <p:cNvPr id="109571" name="Rectangle 3"/>
          <p:cNvSpPr>
            <a:spLocks noGrp="1"/>
          </p:cNvSpPr>
          <p:nvPr>
            <p:ph idx="1"/>
          </p:nvPr>
        </p:nvSpPr>
        <p:spPr>
          <a:xfrm>
            <a:off x="990600" y="1524000"/>
            <a:ext cx="7391400" cy="4648200"/>
          </a:xfrm>
          <a:ln/>
        </p:spPr>
        <p:txBody>
          <a:bodyPr vert="horz" wrap="square" lIns="92075" tIns="46038" rIns="92075" bIns="46038" anchor="t" anchorCtr="0"/>
          <a:p>
            <a:r>
              <a:rPr lang="zh-CN" altLang="en-US" sz="2400" b="1" dirty="0">
                <a:ea typeface="宋体" panose="02010600030101010101" pitchFamily="2" charset="-122"/>
              </a:rPr>
              <a:t>动态作用域：</a:t>
            </a:r>
            <a:endParaRPr lang="zh-CN" altLang="en-US" sz="2400" b="1" dirty="0">
              <a:ea typeface="宋体" panose="02010600030101010101" pitchFamily="2" charset="-122"/>
            </a:endParaRPr>
          </a:p>
          <a:p>
            <a:pPr lvl="1"/>
            <a:r>
              <a:rPr lang="zh-CN" altLang="en-US" sz="2200" b="1" dirty="0">
                <a:ea typeface="宋体" panose="02010600030101010101" pitchFamily="2" charset="-122"/>
              </a:rPr>
              <a:t>当一个过程被调用时，它的非局部名字到存储单元的结合不会改变，即被调用过程的非局部名字</a:t>
            </a:r>
            <a:r>
              <a:rPr lang="en-US" altLang="zh-CN" sz="2200" b="1" dirty="0">
                <a:ea typeface="宋体" panose="02010600030101010101" pitchFamily="2" charset="-122"/>
              </a:rPr>
              <a:t>a</a:t>
            </a:r>
            <a:r>
              <a:rPr lang="zh-CN" altLang="en-US" sz="2200" b="1" dirty="0">
                <a:ea typeface="宋体" panose="02010600030101010101" pitchFamily="2" charset="-122"/>
              </a:rPr>
              <a:t>和它在调用过程中引用的是同样的存储单元</a:t>
            </a:r>
            <a:endParaRPr lang="zh-CN" altLang="en-US" sz="2200" b="1" dirty="0">
              <a:ea typeface="宋体" panose="02010600030101010101" pitchFamily="2" charset="-122"/>
            </a:endParaRPr>
          </a:p>
          <a:p>
            <a:pPr lvl="1"/>
            <a:r>
              <a:rPr lang="zh-CN" altLang="en-US" sz="2200" b="1" dirty="0">
                <a:ea typeface="宋体" panose="02010600030101010101" pitchFamily="2" charset="-122"/>
              </a:rPr>
              <a:t>新的结合仅为被调用过程的局部名字建立，这些名字占用新活动记录中的存储单元</a:t>
            </a:r>
            <a:endParaRPr lang="zh-CN" altLang="en-US" sz="2200" b="1" dirty="0">
              <a:ea typeface="宋体" panose="02010600030101010101" pitchFamily="2" charset="-122"/>
            </a:endParaRPr>
          </a:p>
          <a:p>
            <a:pPr lvl="1"/>
            <a:r>
              <a:rPr lang="zh-CN" altLang="en-US" sz="2200" b="1" dirty="0">
                <a:ea typeface="宋体" panose="02010600030101010101" pitchFamily="2" charset="-122"/>
              </a:rPr>
              <a:t>在运行时，一个名字</a:t>
            </a:r>
            <a:r>
              <a:rPr lang="en-US" altLang="zh-CN" sz="2200" b="1" dirty="0">
                <a:ea typeface="宋体" panose="02010600030101010101" pitchFamily="2" charset="-122"/>
              </a:rPr>
              <a:t>a</a:t>
            </a:r>
            <a:r>
              <a:rPr lang="zh-CN" altLang="en-US" sz="2200" b="1" dirty="0">
                <a:ea typeface="宋体" panose="02010600030101010101" pitchFamily="2" charset="-122"/>
              </a:rPr>
              <a:t>实施其影响，直到含</a:t>
            </a:r>
            <a:r>
              <a:rPr lang="en-US" altLang="zh-CN" sz="2200" b="1" dirty="0">
                <a:ea typeface="宋体" panose="02010600030101010101" pitchFamily="2" charset="-122"/>
              </a:rPr>
              <a:t>a</a:t>
            </a:r>
            <a:r>
              <a:rPr lang="zh-CN" altLang="en-US" sz="2200" b="1" dirty="0">
                <a:ea typeface="宋体" panose="02010600030101010101" pitchFamily="2" charset="-122"/>
              </a:rPr>
              <a:t>的声明的一个过程开始执行时暂停；此过程停止时，该影响恢复</a:t>
            </a:r>
            <a:endParaRPr lang="zh-CN" altLang="en-US" sz="2200" b="1" dirty="0">
              <a:ea typeface="宋体" panose="02010600030101010101" pitchFamily="2" charset="-122"/>
            </a:endParaRPr>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访问非局部名字（20）</a:t>
            </a:r>
            <a:endParaRPr lang="zh-CN" altLang="en-US" dirty="0">
              <a:latin typeface="Times New Roman" panose="02020603050405020304" pitchFamily="18" charset="0"/>
              <a:ea typeface="宋体" panose="02010600030101010101" pitchFamily="2" charset="-122"/>
            </a:endParaRPr>
          </a:p>
        </p:txBody>
      </p:sp>
      <p:sp>
        <p:nvSpPr>
          <p:cNvPr id="111619" name="Rectangle 3"/>
          <p:cNvSpPr>
            <a:spLocks noGrp="1"/>
          </p:cNvSpPr>
          <p:nvPr>
            <p:ph idx="1"/>
          </p:nvPr>
        </p:nvSpPr>
        <p:spPr>
          <a:xfrm>
            <a:off x="990600" y="1295400"/>
            <a:ext cx="7391400" cy="5181600"/>
          </a:xfrm>
          <a:ln/>
        </p:spPr>
        <p:txBody>
          <a:bodyPr vert="horz" wrap="square" lIns="92075" tIns="46038" rIns="92075" bIns="46038" anchor="t" anchorCtr="0"/>
          <a:p>
            <a:pPr>
              <a:buNone/>
            </a:pPr>
            <a:r>
              <a:rPr lang="zh-CN" altLang="en-US" sz="1800" b="1" dirty="0">
                <a:ea typeface="宋体" panose="02010600030101010101" pitchFamily="2" charset="-122"/>
              </a:rPr>
              <a:t>例：动态作用域和静态作用域的对比</a:t>
            </a:r>
            <a:endParaRPr lang="zh-CN" altLang="en-US" sz="1800" b="1" dirty="0">
              <a:ea typeface="宋体" panose="02010600030101010101" pitchFamily="2" charset="-122"/>
            </a:endParaRPr>
          </a:p>
          <a:p>
            <a:pPr>
              <a:spcBef>
                <a:spcPct val="0"/>
              </a:spcBef>
              <a:buNone/>
            </a:pPr>
            <a:r>
              <a:rPr lang="zh-CN" altLang="en-US" sz="1600" b="1" dirty="0">
                <a:ea typeface="宋体" panose="02010600030101010101" pitchFamily="2" charset="-122"/>
              </a:rPr>
              <a:t>	</a:t>
            </a:r>
            <a:r>
              <a:rPr lang="en-US" altLang="zh-CN" sz="1600" b="1" dirty="0">
                <a:ea typeface="宋体" panose="02010600030101010101" pitchFamily="2" charset="-122"/>
              </a:rPr>
              <a:t>program dynamic( input , output );</a:t>
            </a:r>
            <a:endParaRPr lang="en-US" altLang="zh-CN" sz="1600" b="1" dirty="0">
              <a:ea typeface="宋体" panose="02010600030101010101" pitchFamily="2" charset="-122"/>
            </a:endParaRPr>
          </a:p>
          <a:p>
            <a:pPr>
              <a:spcBef>
                <a:spcPct val="0"/>
              </a:spcBef>
              <a:buNone/>
            </a:pPr>
            <a:r>
              <a:rPr lang="en-US" altLang="zh-CN" sz="1600" b="1" dirty="0">
                <a:ea typeface="宋体" panose="02010600030101010101" pitchFamily="2" charset="-122"/>
              </a:rPr>
              <a:t>		var r : real;</a:t>
            </a:r>
            <a:endParaRPr lang="en-US" altLang="zh-CN" sz="1600" b="1" dirty="0">
              <a:ea typeface="宋体" panose="02010600030101010101" pitchFamily="2" charset="-122"/>
            </a:endParaRPr>
          </a:p>
          <a:p>
            <a:pPr>
              <a:spcBef>
                <a:spcPct val="0"/>
              </a:spcBef>
              <a:buNone/>
            </a:pPr>
            <a:endParaRPr lang="en-US" altLang="zh-CN" sz="1600" b="1" dirty="0">
              <a:ea typeface="宋体" panose="02010600030101010101" pitchFamily="2" charset="-122"/>
            </a:endParaRPr>
          </a:p>
          <a:p>
            <a:pPr>
              <a:spcBef>
                <a:spcPct val="0"/>
              </a:spcBef>
              <a:buNone/>
            </a:pPr>
            <a:r>
              <a:rPr lang="en-US" altLang="zh-CN" sz="1600" b="1" dirty="0">
                <a:ea typeface="宋体" panose="02010600030101010101" pitchFamily="2" charset="-122"/>
              </a:rPr>
              <a:t>		procedure show;</a:t>
            </a:r>
            <a:endParaRPr lang="en-US" altLang="zh-CN" sz="1600" b="1" dirty="0">
              <a:ea typeface="宋体" panose="02010600030101010101" pitchFamily="2" charset="-122"/>
            </a:endParaRPr>
          </a:p>
          <a:p>
            <a:pPr>
              <a:spcBef>
                <a:spcPct val="0"/>
              </a:spcBef>
              <a:buNone/>
            </a:pPr>
            <a:r>
              <a:rPr lang="en-US" altLang="zh-CN" sz="1600" b="1" dirty="0">
                <a:ea typeface="宋体" panose="02010600030101010101" pitchFamily="2" charset="-122"/>
              </a:rPr>
              <a:t>			begin write( r : 5 : 3 )    end;</a:t>
            </a:r>
            <a:endParaRPr lang="en-US" altLang="zh-CN" sz="1600" b="1" dirty="0">
              <a:ea typeface="宋体" panose="02010600030101010101" pitchFamily="2" charset="-122"/>
            </a:endParaRPr>
          </a:p>
          <a:p>
            <a:pPr>
              <a:spcBef>
                <a:spcPct val="0"/>
              </a:spcBef>
              <a:buNone/>
            </a:pPr>
            <a:endParaRPr lang="en-US" altLang="zh-CN" sz="1600" b="1" dirty="0">
              <a:ea typeface="宋体" panose="02010600030101010101" pitchFamily="2" charset="-122"/>
            </a:endParaRPr>
          </a:p>
          <a:p>
            <a:pPr>
              <a:spcBef>
                <a:spcPct val="0"/>
              </a:spcBef>
              <a:buNone/>
            </a:pPr>
            <a:r>
              <a:rPr lang="en-US" altLang="zh-CN" sz="1600" b="1" dirty="0">
                <a:ea typeface="宋体" panose="02010600030101010101" pitchFamily="2" charset="-122"/>
              </a:rPr>
              <a:t>		procedure small;</a:t>
            </a:r>
            <a:endParaRPr lang="en-US" altLang="zh-CN" sz="1600" b="1" dirty="0">
              <a:ea typeface="宋体" panose="02010600030101010101" pitchFamily="2" charset="-122"/>
            </a:endParaRPr>
          </a:p>
          <a:p>
            <a:pPr>
              <a:spcBef>
                <a:spcPct val="0"/>
              </a:spcBef>
              <a:buNone/>
            </a:pPr>
            <a:r>
              <a:rPr lang="en-US" altLang="zh-CN" sz="1600" b="1" dirty="0">
                <a:ea typeface="宋体" panose="02010600030101010101" pitchFamily="2" charset="-122"/>
              </a:rPr>
              <a:t>			var r : real;</a:t>
            </a:r>
            <a:endParaRPr lang="en-US" altLang="zh-CN" sz="1600" b="1" dirty="0">
              <a:ea typeface="宋体" panose="02010600030101010101" pitchFamily="2" charset="-122"/>
            </a:endParaRPr>
          </a:p>
          <a:p>
            <a:pPr>
              <a:spcBef>
                <a:spcPct val="0"/>
              </a:spcBef>
              <a:buNone/>
            </a:pPr>
            <a:r>
              <a:rPr lang="en-US" altLang="zh-CN" sz="1600" b="1" dirty="0">
                <a:ea typeface="宋体" panose="02010600030101010101" pitchFamily="2" charset="-122"/>
              </a:rPr>
              <a:t>			begin   r := 0.125;   show     end;</a:t>
            </a:r>
            <a:endParaRPr lang="en-US" altLang="zh-CN" sz="1600" b="1" dirty="0">
              <a:ea typeface="宋体" panose="02010600030101010101" pitchFamily="2" charset="-122"/>
            </a:endParaRPr>
          </a:p>
          <a:p>
            <a:pPr>
              <a:spcBef>
                <a:spcPct val="0"/>
              </a:spcBef>
              <a:buNone/>
            </a:pPr>
            <a:endParaRPr lang="en-US" altLang="zh-CN" sz="1600" b="1" dirty="0">
              <a:ea typeface="宋体" panose="02010600030101010101" pitchFamily="2" charset="-122"/>
            </a:endParaRPr>
          </a:p>
          <a:p>
            <a:pPr>
              <a:spcBef>
                <a:spcPct val="0"/>
              </a:spcBef>
              <a:buNone/>
            </a:pPr>
            <a:r>
              <a:rPr lang="en-US" altLang="zh-CN" sz="1600" b="1" dirty="0">
                <a:ea typeface="宋体" panose="02010600030101010101" pitchFamily="2" charset="-122"/>
              </a:rPr>
              <a:t>		begin</a:t>
            </a:r>
            <a:endParaRPr lang="en-US" altLang="zh-CN" sz="1600" b="1" dirty="0">
              <a:ea typeface="宋体" panose="02010600030101010101" pitchFamily="2" charset="-122"/>
            </a:endParaRPr>
          </a:p>
          <a:p>
            <a:pPr>
              <a:spcBef>
                <a:spcPct val="0"/>
              </a:spcBef>
              <a:buNone/>
            </a:pPr>
            <a:r>
              <a:rPr lang="en-US" altLang="zh-CN" sz="1600" b="1" dirty="0">
                <a:ea typeface="宋体" panose="02010600030101010101" pitchFamily="2" charset="-122"/>
              </a:rPr>
              <a:t>			r := 0.25;</a:t>
            </a:r>
            <a:endParaRPr lang="en-US" altLang="zh-CN" sz="1600" b="1" dirty="0">
              <a:ea typeface="宋体" panose="02010600030101010101" pitchFamily="2" charset="-122"/>
            </a:endParaRPr>
          </a:p>
          <a:p>
            <a:pPr>
              <a:spcBef>
                <a:spcPct val="0"/>
              </a:spcBef>
              <a:buNone/>
            </a:pPr>
            <a:r>
              <a:rPr lang="en-US" altLang="zh-CN" sz="1600" b="1" dirty="0">
                <a:ea typeface="宋体" panose="02010600030101010101" pitchFamily="2" charset="-122"/>
              </a:rPr>
              <a:t>			show;   small;    writeln;</a:t>
            </a:r>
            <a:endParaRPr lang="en-US" altLang="zh-CN" sz="1600" b="1" dirty="0">
              <a:ea typeface="宋体" panose="02010600030101010101" pitchFamily="2" charset="-122"/>
            </a:endParaRPr>
          </a:p>
          <a:p>
            <a:pPr>
              <a:spcBef>
                <a:spcPct val="0"/>
              </a:spcBef>
              <a:buNone/>
            </a:pPr>
            <a:r>
              <a:rPr lang="en-US" altLang="zh-CN" sz="1600" b="1" dirty="0">
                <a:ea typeface="宋体" panose="02010600030101010101" pitchFamily="2" charset="-122"/>
              </a:rPr>
              <a:t>			show;   small;    writeln;</a:t>
            </a:r>
            <a:endParaRPr lang="en-US" altLang="zh-CN" sz="1600" b="1" dirty="0">
              <a:ea typeface="宋体" panose="02010600030101010101" pitchFamily="2" charset="-122"/>
            </a:endParaRPr>
          </a:p>
          <a:p>
            <a:pPr>
              <a:spcBef>
                <a:spcPct val="0"/>
              </a:spcBef>
              <a:buNone/>
            </a:pPr>
            <a:r>
              <a:rPr lang="en-US" altLang="zh-CN" sz="1600" b="1" dirty="0">
                <a:ea typeface="宋体" panose="02010600030101010101" pitchFamily="2" charset="-122"/>
              </a:rPr>
              <a:t>		end</a:t>
            </a:r>
            <a:endParaRPr lang="en-US" altLang="zh-CN" sz="1600" b="1" dirty="0">
              <a:ea typeface="宋体" panose="02010600030101010101" pitchFamily="2" charset="-122"/>
            </a:endParaRPr>
          </a:p>
          <a:p>
            <a:pPr>
              <a:spcBef>
                <a:spcPct val="0"/>
              </a:spcBef>
              <a:buNone/>
            </a:pPr>
            <a:endParaRPr lang="en-US" altLang="zh-CN" sz="1600" b="1" dirty="0">
              <a:ea typeface="宋体" panose="02010600030101010101" pitchFamily="2" charset="-122"/>
            </a:endParaRPr>
          </a:p>
          <a:p>
            <a:pPr>
              <a:spcBef>
                <a:spcPct val="0"/>
              </a:spcBef>
              <a:buNone/>
            </a:pPr>
            <a:r>
              <a:rPr lang="zh-CN" altLang="en-US" sz="1600" b="1" dirty="0">
                <a:ea typeface="宋体" panose="02010600030101010101" pitchFamily="2" charset="-122"/>
              </a:rPr>
              <a:t>静态作用域的输出：		动态作用域的输出：</a:t>
            </a:r>
            <a:endParaRPr lang="zh-CN" altLang="en-US" sz="1600" b="1" dirty="0">
              <a:ea typeface="宋体" panose="02010600030101010101" pitchFamily="2" charset="-122"/>
            </a:endParaRPr>
          </a:p>
          <a:p>
            <a:pPr>
              <a:spcBef>
                <a:spcPct val="0"/>
              </a:spcBef>
              <a:buNone/>
            </a:pPr>
            <a:r>
              <a:rPr lang="zh-CN" altLang="en-US" sz="1600" b="1" dirty="0">
                <a:ea typeface="宋体" panose="02010600030101010101" pitchFamily="2" charset="-122"/>
              </a:rPr>
              <a:t>	0.250       0.250			     0.250      0.125</a:t>
            </a:r>
            <a:endParaRPr lang="zh-CN" altLang="en-US" sz="1600" b="1" dirty="0">
              <a:ea typeface="宋体" panose="02010600030101010101" pitchFamily="2" charset="-122"/>
            </a:endParaRPr>
          </a:p>
          <a:p>
            <a:pPr>
              <a:spcBef>
                <a:spcPct val="0"/>
              </a:spcBef>
              <a:buNone/>
            </a:pPr>
            <a:r>
              <a:rPr lang="zh-CN" altLang="en-US" sz="1600" b="1" dirty="0">
                <a:ea typeface="宋体" panose="02010600030101010101" pitchFamily="2" charset="-122"/>
              </a:rPr>
              <a:t>	0.250       0.250			     0.250      0.125</a:t>
            </a:r>
            <a:endParaRPr lang="zh-CN" altLang="en-US" sz="1600" b="1" dirty="0">
              <a:ea typeface="宋体" panose="02010600030101010101" pitchFamily="2" charset="-122"/>
            </a:endParaRPr>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访问非局部名字（21）</a:t>
            </a:r>
            <a:endParaRPr lang="zh-CN" altLang="en-US" dirty="0">
              <a:latin typeface="Times New Roman" panose="02020603050405020304" pitchFamily="18" charset="0"/>
              <a:ea typeface="宋体" panose="02010600030101010101" pitchFamily="2" charset="-122"/>
            </a:endParaRPr>
          </a:p>
        </p:txBody>
      </p:sp>
      <p:sp>
        <p:nvSpPr>
          <p:cNvPr id="113667" name="Rectangle 3"/>
          <p:cNvSpPr>
            <a:spLocks noGrp="1"/>
          </p:cNvSpPr>
          <p:nvPr>
            <p:ph idx="1"/>
          </p:nvPr>
        </p:nvSpPr>
        <p:spPr>
          <a:xfrm>
            <a:off x="990600" y="1524000"/>
            <a:ext cx="7391400" cy="4800600"/>
          </a:xfrm>
          <a:ln/>
        </p:spPr>
        <p:txBody>
          <a:bodyPr vert="horz" wrap="square" lIns="92075" tIns="46038" rIns="92075" bIns="46038" anchor="t" anchorCtr="0"/>
          <a:p>
            <a:pPr lvl="1"/>
            <a:r>
              <a:rPr lang="zh-CN" altLang="en-US" sz="2200" b="1" dirty="0">
                <a:ea typeface="宋体" panose="02010600030101010101" pitchFamily="2" charset="-122"/>
              </a:rPr>
              <a:t>动态作用域的实现：</a:t>
            </a:r>
            <a:endParaRPr lang="zh-CN" altLang="en-US" sz="2200" b="1" dirty="0">
              <a:ea typeface="宋体" panose="02010600030101010101" pitchFamily="2" charset="-122"/>
            </a:endParaRPr>
          </a:p>
          <a:p>
            <a:pPr lvl="2"/>
            <a:r>
              <a:rPr lang="zh-CN" altLang="en-US" sz="2000" b="1" dirty="0">
                <a:ea typeface="宋体" panose="02010600030101010101" pitchFamily="2" charset="-122"/>
              </a:rPr>
              <a:t>深访问</a:t>
            </a:r>
            <a:endParaRPr lang="zh-CN" altLang="en-US" sz="2000" b="1" dirty="0">
              <a:ea typeface="宋体" panose="02010600030101010101" pitchFamily="2" charset="-122"/>
            </a:endParaRPr>
          </a:p>
          <a:p>
            <a:pPr lvl="3"/>
            <a:r>
              <a:rPr lang="zh-CN" altLang="en-US" sz="1800" b="1" dirty="0">
                <a:ea typeface="宋体" panose="02010600030101010101" pitchFamily="2" charset="-122"/>
              </a:rPr>
              <a:t>访问链指向的活动记录和控制链指向的活动记录一样，则实现了动态作用域，因此可以省却访问链，通过控制链搜索栈</a:t>
            </a:r>
            <a:endParaRPr lang="zh-CN" altLang="en-US" sz="1800" b="1" dirty="0">
              <a:ea typeface="宋体" panose="02010600030101010101" pitchFamily="2" charset="-122"/>
            </a:endParaRPr>
          </a:p>
          <a:p>
            <a:pPr lvl="3"/>
            <a:r>
              <a:rPr lang="zh-CN" altLang="en-US" sz="1800" b="1" dirty="0">
                <a:ea typeface="宋体" panose="02010600030101010101" pitchFamily="2" charset="-122"/>
              </a:rPr>
              <a:t>编译时刻不能确定搜索的深度</a:t>
            </a:r>
            <a:endParaRPr lang="zh-CN" altLang="en-US" sz="1800" b="1" dirty="0">
              <a:ea typeface="宋体" panose="02010600030101010101" pitchFamily="2" charset="-122"/>
            </a:endParaRPr>
          </a:p>
          <a:p>
            <a:pPr lvl="3"/>
            <a:r>
              <a:rPr lang="zh-CN" altLang="en-US" sz="1800" b="1" dirty="0">
                <a:ea typeface="宋体" panose="02010600030101010101" pitchFamily="2" charset="-122"/>
              </a:rPr>
              <a:t>访问非局部名字需要较长的时间，但活动的开始和结束不需要额外开销</a:t>
            </a:r>
            <a:endParaRPr lang="zh-CN" altLang="en-US" sz="1800" b="1" dirty="0">
              <a:ea typeface="宋体" panose="02010600030101010101" pitchFamily="2" charset="-122"/>
            </a:endParaRPr>
          </a:p>
          <a:p>
            <a:pPr lvl="2"/>
            <a:r>
              <a:rPr lang="zh-CN" altLang="en-US" sz="2000" b="1" dirty="0">
                <a:ea typeface="宋体" panose="02010600030101010101" pitchFamily="2" charset="-122"/>
              </a:rPr>
              <a:t>浅访问</a:t>
            </a:r>
            <a:endParaRPr lang="zh-CN" altLang="en-US" sz="2000" b="1" dirty="0">
              <a:ea typeface="宋体" panose="02010600030101010101" pitchFamily="2" charset="-122"/>
            </a:endParaRPr>
          </a:p>
          <a:p>
            <a:pPr lvl="3"/>
            <a:r>
              <a:rPr lang="zh-CN" altLang="en-US" sz="1800" b="1" dirty="0">
                <a:ea typeface="宋体" panose="02010600030101010101" pitchFamily="2" charset="-122"/>
              </a:rPr>
              <a:t>为每个名字在静态分配的存储空间中保存它的当前值</a:t>
            </a:r>
            <a:endParaRPr lang="zh-CN" altLang="en-US" sz="1800" b="1" dirty="0">
              <a:ea typeface="宋体" panose="02010600030101010101" pitchFamily="2" charset="-122"/>
            </a:endParaRPr>
          </a:p>
          <a:p>
            <a:pPr lvl="3"/>
            <a:r>
              <a:rPr lang="zh-CN" altLang="en-US" sz="1800" b="1" dirty="0">
                <a:ea typeface="宋体" panose="02010600030101010101" pitchFamily="2" charset="-122"/>
              </a:rPr>
              <a:t>当过程</a:t>
            </a:r>
            <a:r>
              <a:rPr lang="en-US" altLang="zh-CN" sz="1800" b="1" dirty="0">
                <a:ea typeface="宋体" panose="02010600030101010101" pitchFamily="2" charset="-122"/>
              </a:rPr>
              <a:t>p</a:t>
            </a:r>
            <a:r>
              <a:rPr lang="zh-CN" altLang="en-US" sz="1800" b="1" dirty="0">
                <a:ea typeface="宋体" panose="02010600030101010101" pitchFamily="2" charset="-122"/>
              </a:rPr>
              <a:t>的新活动出现时，</a:t>
            </a:r>
            <a:r>
              <a:rPr lang="en-US" altLang="zh-CN" sz="1800" b="1" dirty="0">
                <a:ea typeface="宋体" panose="02010600030101010101" pitchFamily="2" charset="-122"/>
              </a:rPr>
              <a:t>p</a:t>
            </a:r>
            <a:r>
              <a:rPr lang="zh-CN" altLang="en-US" sz="1800" b="1" dirty="0">
                <a:ea typeface="宋体" panose="02010600030101010101" pitchFamily="2" charset="-122"/>
              </a:rPr>
              <a:t>的局部名字</a:t>
            </a:r>
            <a:r>
              <a:rPr lang="en-US" altLang="zh-CN" sz="1800" b="1" dirty="0">
                <a:ea typeface="宋体" panose="02010600030101010101" pitchFamily="2" charset="-122"/>
              </a:rPr>
              <a:t>n</a:t>
            </a:r>
            <a:r>
              <a:rPr lang="zh-CN" altLang="en-US" sz="1800" b="1" dirty="0">
                <a:ea typeface="宋体" panose="02010600030101010101" pitchFamily="2" charset="-122"/>
              </a:rPr>
              <a:t>接管分配给</a:t>
            </a:r>
            <a:r>
              <a:rPr lang="en-US" altLang="zh-CN" sz="1800" b="1" dirty="0">
                <a:ea typeface="宋体" panose="02010600030101010101" pitchFamily="2" charset="-122"/>
              </a:rPr>
              <a:t>n</a:t>
            </a:r>
            <a:r>
              <a:rPr lang="zh-CN" altLang="en-US" sz="1800" b="1" dirty="0">
                <a:ea typeface="宋体" panose="02010600030101010101" pitchFamily="2" charset="-122"/>
              </a:rPr>
              <a:t>的存储单元，</a:t>
            </a:r>
            <a:r>
              <a:rPr lang="en-US" altLang="zh-CN" sz="1800" b="1" dirty="0">
                <a:ea typeface="宋体" panose="02010600030101010101" pitchFamily="2" charset="-122"/>
              </a:rPr>
              <a:t>n</a:t>
            </a:r>
            <a:r>
              <a:rPr lang="zh-CN" altLang="en-US" sz="1800" b="1" dirty="0">
                <a:ea typeface="宋体" panose="02010600030101010101" pitchFamily="2" charset="-122"/>
              </a:rPr>
              <a:t>的先前值可以保存在</a:t>
            </a:r>
            <a:r>
              <a:rPr lang="en-US" altLang="zh-CN" sz="1800" b="1" dirty="0">
                <a:ea typeface="宋体" panose="02010600030101010101" pitchFamily="2" charset="-122"/>
              </a:rPr>
              <a:t>p</a:t>
            </a:r>
            <a:r>
              <a:rPr lang="zh-CN" altLang="en-US" sz="1800" b="1" dirty="0">
                <a:ea typeface="宋体" panose="02010600030101010101" pitchFamily="2" charset="-122"/>
              </a:rPr>
              <a:t>的活动记录中，当</a:t>
            </a:r>
            <a:r>
              <a:rPr lang="en-US" altLang="zh-CN" sz="1800" b="1" dirty="0">
                <a:ea typeface="宋体" panose="02010600030101010101" pitchFamily="2" charset="-122"/>
              </a:rPr>
              <a:t>p</a:t>
            </a:r>
            <a:r>
              <a:rPr lang="zh-CN" altLang="en-US" sz="1800" b="1" dirty="0">
                <a:ea typeface="宋体" panose="02010600030101010101" pitchFamily="2" charset="-122"/>
              </a:rPr>
              <a:t>的活动结束时再恢复</a:t>
            </a:r>
            <a:endParaRPr lang="zh-CN" altLang="en-US" sz="1800" b="1" dirty="0">
              <a:ea typeface="宋体" panose="02010600030101010101" pitchFamily="2" charset="-122"/>
            </a:endParaRPr>
          </a:p>
          <a:p>
            <a:pPr lvl="3"/>
            <a:r>
              <a:rPr lang="zh-CN" altLang="en-US" sz="1800" b="1" dirty="0">
                <a:ea typeface="宋体" panose="02010600030101010101" pitchFamily="2" charset="-122"/>
              </a:rPr>
              <a:t>可以直接访问非局部名字，但活动的开始和结束需要维护的开销</a:t>
            </a:r>
            <a:endParaRPr lang="zh-CN" altLang="en-US" sz="1800" b="1" dirty="0">
              <a:ea typeface="宋体" panose="02010600030101010101" pitchFamily="2" charset="-122"/>
            </a:endParaRP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作业</a:t>
            </a:r>
            <a:endParaRPr lang="zh-CN" altLang="en-US" dirty="0">
              <a:latin typeface="Times New Roman" panose="02020603050405020304" pitchFamily="18" charset="0"/>
              <a:ea typeface="宋体" panose="02010600030101010101" pitchFamily="2" charset="-122"/>
            </a:endParaRPr>
          </a:p>
        </p:txBody>
      </p:sp>
      <p:sp>
        <p:nvSpPr>
          <p:cNvPr id="142339" name="Rectangle 3"/>
          <p:cNvSpPr>
            <a:spLocks noGrp="1" noChangeArrowheads="1"/>
          </p:cNvSpPr>
          <p:nvPr>
            <p:ph idx="1"/>
          </p:nvPr>
        </p:nvSpPr>
        <p:spPr>
          <a:xfrm>
            <a:off x="179388" y="1371600"/>
            <a:ext cx="8856663" cy="50292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7.2.4</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：下面是两个</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语言函数</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f</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g</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的概述：</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001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int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f (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int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x ) {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int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i</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return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i</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+ 1; …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int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g (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int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y ) {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int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j; … f ( j + 1 ); …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函数</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g</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调用</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f</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。画出在</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g</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调用</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f</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而</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f</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即将返回时，运行时刻栈中从</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g</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的活动记录开始的顶端部分。你可以只考虑返回值、参数、控制链以及存放局部数据的空间。你不用考虑存放的机器状态，也不用考虑没有在代码中显示的局部值和临时值。但是你应该指出：</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0005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哪个函数在栈中为各个元素创建了所使用的空间？</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0005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哪个函数写入了各个元素的值？ </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0005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3)</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这些元素属于哪个活动记录？</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7.3.1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：图</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7-15</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（见下页）中给出了一个按照非标准方式计算</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Fibonacci</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数的</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ML</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语言的函数</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main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。函数</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fib0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将计算第</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个</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Fibonacci</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数（</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）。嵌套在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fib0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中的是</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fib1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，它假设</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并计算第</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个</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Fibonacci</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数。嵌套在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fib1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中的是</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fib2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，它假设</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n≥4</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。请注意，</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fib1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fib2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都不需要检查基本情况。我们考虑从对</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main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的调用开始，直到（对</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fib0(1)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的）第一次调用即将返回的时段，请描述出当时的活动记录栈，并给出栈中的各个活动记录的访问链。</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2"/>
          <p:cNvSpPr>
            <a:spLocks noGrp="1"/>
          </p:cNvSpPr>
          <p:nvPr>
            <p:ph type="title"/>
          </p:nvPr>
        </p:nvSpPr>
        <p:spPr>
          <a:ln/>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作业</a:t>
            </a:r>
            <a:endParaRPr lang="zh-CN" altLang="en-US" dirty="0">
              <a:latin typeface="Times New Roman" panose="02020603050405020304" pitchFamily="18" charset="0"/>
              <a:ea typeface="宋体" panose="02010600030101010101" pitchFamily="2" charset="-122"/>
            </a:endParaRPr>
          </a:p>
        </p:txBody>
      </p:sp>
      <p:sp>
        <p:nvSpPr>
          <p:cNvPr id="117763" name="Rectangle 3"/>
          <p:cNvSpPr>
            <a:spLocks noGrp="1"/>
          </p:cNvSpPr>
          <p:nvPr>
            <p:ph idx="1"/>
          </p:nvPr>
        </p:nvSpPr>
        <p:spPr>
          <a:xfrm>
            <a:off x="539750" y="1371600"/>
            <a:ext cx="8064500" cy="5029200"/>
          </a:xfrm>
          <a:ln/>
        </p:spPr>
        <p:txBody>
          <a:bodyPr vert="horz" wrap="square" lIns="92075" tIns="46038" rIns="92075" bIns="46038" anchor="t" anchorCtr="0"/>
          <a:p>
            <a:pPr marL="495300" indent="-495300"/>
            <a:r>
              <a:rPr lang="en-US" altLang="zh-CN" sz="2000" b="1" dirty="0">
                <a:ea typeface="宋体" panose="02010600030101010101" pitchFamily="2" charset="-122"/>
              </a:rPr>
              <a:t>7.3.2</a:t>
            </a:r>
            <a:r>
              <a:rPr lang="zh-CN" altLang="en-US" sz="2000" b="1" dirty="0">
                <a:ea typeface="宋体" panose="02010600030101010101" pitchFamily="2" charset="-122"/>
              </a:rPr>
              <a:t>：假设我们使用</a:t>
            </a:r>
            <a:r>
              <a:rPr lang="en-US" altLang="zh-CN" sz="2000" b="1" dirty="0">
                <a:ea typeface="宋体" panose="02010600030101010101" pitchFamily="2" charset="-122"/>
              </a:rPr>
              <a:t>display</a:t>
            </a:r>
            <a:r>
              <a:rPr lang="zh-CN" altLang="en-US" sz="2000" b="1" dirty="0">
                <a:ea typeface="宋体" panose="02010600030101010101" pitchFamily="2" charset="-122"/>
              </a:rPr>
              <a:t>表来实现下图中的函数。请给出</a:t>
            </a:r>
            <a:r>
              <a:rPr lang="en-US" altLang="zh-CN" sz="2000" b="1" dirty="0">
                <a:ea typeface="宋体" panose="02010600030101010101" pitchFamily="2" charset="-122"/>
              </a:rPr>
              <a:t>fib0(1)</a:t>
            </a:r>
            <a:r>
              <a:rPr lang="zh-CN" altLang="en-US" sz="2000" b="1" dirty="0">
                <a:ea typeface="宋体" panose="02010600030101010101" pitchFamily="2" charset="-122"/>
              </a:rPr>
              <a:t>的第一次调用即将返回时的</a:t>
            </a:r>
            <a:r>
              <a:rPr lang="en-US" altLang="zh-CN" sz="2000" b="1" dirty="0">
                <a:ea typeface="宋体" panose="02010600030101010101" pitchFamily="2" charset="-122"/>
              </a:rPr>
              <a:t>display</a:t>
            </a:r>
            <a:r>
              <a:rPr lang="zh-CN" altLang="en-US" sz="2000" b="1" dirty="0">
                <a:ea typeface="宋体" panose="02010600030101010101" pitchFamily="2" charset="-122"/>
              </a:rPr>
              <a:t>表。同时指明那时在栈中的各个活动记录中保存的</a:t>
            </a:r>
            <a:r>
              <a:rPr lang="en-US" altLang="zh-CN" sz="2000" b="1" dirty="0">
                <a:ea typeface="宋体" panose="02010600030101010101" pitchFamily="2" charset="-122"/>
              </a:rPr>
              <a:t>display</a:t>
            </a:r>
            <a:r>
              <a:rPr lang="zh-CN" altLang="en-US" sz="2000" b="1" dirty="0">
                <a:ea typeface="宋体" panose="02010600030101010101" pitchFamily="2" charset="-122"/>
              </a:rPr>
              <a:t>表条目。</a:t>
            </a:r>
            <a:endParaRPr lang="en-US" altLang="zh-CN" sz="2000" b="1" dirty="0">
              <a:ea typeface="宋体" panose="02010600030101010101" pitchFamily="2" charset="-122"/>
            </a:endParaRPr>
          </a:p>
        </p:txBody>
      </p:sp>
      <p:pic>
        <p:nvPicPr>
          <p:cNvPr id="117764" name="Picture 2"/>
          <p:cNvPicPr>
            <a:picLocks noChangeAspect="1"/>
          </p:cNvPicPr>
          <p:nvPr/>
        </p:nvPicPr>
        <p:blipFill>
          <a:blip r:embed="rId1"/>
          <a:stretch>
            <a:fillRect/>
          </a:stretch>
        </p:blipFill>
        <p:spPr>
          <a:xfrm>
            <a:off x="838200" y="2349500"/>
            <a:ext cx="7494588" cy="4464050"/>
          </a:xfrm>
          <a:prstGeom prst="rect">
            <a:avLst/>
          </a:prstGeom>
          <a:noFill/>
          <a:ln w="9525">
            <a:noFill/>
          </a:ln>
        </p:spPr>
      </p:pic>
    </p:spTree>
  </p:cSld>
  <p:clrMapOvr>
    <a:masterClrMapping/>
  </p:clrMapOvr>
  <p:transition spd="slow"/>
</p:sld>
</file>

<file path=ppt/theme/theme1.xml><?xml version="1.0" encoding="utf-8"?>
<a:theme xmlns:a="http://schemas.openxmlformats.org/drawingml/2006/main" name="ibm0325">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ibm0325">
      <a:majorFont>
        <a:latin typeface="Book Antiqua"/>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2225" cap="flat" cmpd="sng" algn="ctr">
          <a:solidFill>
            <a:schemeClr val="tx1"/>
          </a:solidFill>
          <a:prstDash val="solid"/>
          <a:round/>
          <a:headEnd type="none" w="sm" len="sm"/>
          <a:tailEnd type="triangle" w="lg"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22225" cap="flat" cmpd="sng" algn="ctr">
          <a:solidFill>
            <a:schemeClr val="tx1"/>
          </a:solidFill>
          <a:prstDash val="solid"/>
          <a:round/>
          <a:headEnd type="none" w="sm" len="sm"/>
          <a:tailEnd type="triangle" w="lg"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bm0325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bm0325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ibm0325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bm0325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bm0325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bm0325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ibm0325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E:\weldon\src\ipd_seminar\ibm0325.ppt</Template>
  <TotalTime>0</TotalTime>
  <Words>10676</Words>
  <Application>WPS 演示</Application>
  <PresentationFormat>全屏显示(4:3)</PresentationFormat>
  <Paragraphs>746</Paragraphs>
  <Slides>60</Slides>
  <Notes>53</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5</vt:i4>
      </vt:variant>
      <vt:variant>
        <vt:lpstr>幻灯片标题</vt:lpstr>
      </vt:variant>
      <vt:variant>
        <vt:i4>60</vt:i4>
      </vt:variant>
    </vt:vector>
  </HeadingPairs>
  <TitlesOfParts>
    <vt:vector size="76" baseType="lpstr">
      <vt:lpstr>Arial</vt:lpstr>
      <vt:lpstr>宋体</vt:lpstr>
      <vt:lpstr>Wingdings</vt:lpstr>
      <vt:lpstr>Times New Roman</vt:lpstr>
      <vt:lpstr>Book Antiqua</vt:lpstr>
      <vt:lpstr>Monotype Sorts</vt:lpstr>
      <vt:lpstr>Wingdings</vt:lpstr>
      <vt:lpstr>Tahoma</vt:lpstr>
      <vt:lpstr>微软雅黑</vt:lpstr>
      <vt:lpstr>Arial Unicode MS</vt:lpstr>
      <vt:lpstr>ibm0325</vt:lpstr>
      <vt:lpstr>Visio.Drawing.4</vt:lpstr>
      <vt:lpstr>Visio.Drawing.11</vt:lpstr>
      <vt:lpstr>Visio.Drawing.4</vt:lpstr>
      <vt:lpstr>Visio.Drawing.4</vt:lpstr>
      <vt:lpstr>Visio.Drawing.4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Micron Electronics,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Preferred Customer</dc:creator>
  <cp:lastModifiedBy>朱首赫</cp:lastModifiedBy>
  <cp:revision>533</cp:revision>
  <cp:lastPrinted>2000-08-04T00:01:40Z</cp:lastPrinted>
  <dcterms:created xsi:type="dcterms:W3CDTF">1999-10-09T18:48:57Z</dcterms:created>
  <dcterms:modified xsi:type="dcterms:W3CDTF">2026-04-16T02:50:10Z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A318AE1716544590897EA1C18770622C_13</vt:lpwstr>
  </property>
  <property fmtid="{D5CDD505-2E9C-101B-9397-08002B2CF9AE}" pid="3" name="KSOProductBuildVer">
    <vt:lpwstr>2052-12.1.0.23542</vt:lpwstr>
  </property>
</Properties>
</file>