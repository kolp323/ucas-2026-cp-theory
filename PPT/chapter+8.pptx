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39"/>
  </p:handoutMasterIdLst>
  <p:sldIdLst>
    <p:sldId id="532" r:id="rId3"/>
    <p:sldId id="533" r:id="rId5"/>
    <p:sldId id="613" r:id="rId6"/>
    <p:sldId id="534" r:id="rId7"/>
    <p:sldId id="535" r:id="rId8"/>
    <p:sldId id="536" r:id="rId9"/>
    <p:sldId id="537" r:id="rId10"/>
    <p:sldId id="614" r:id="rId11"/>
    <p:sldId id="619" r:id="rId12"/>
    <p:sldId id="620" r:id="rId13"/>
    <p:sldId id="616" r:id="rId14"/>
    <p:sldId id="617" r:id="rId15"/>
    <p:sldId id="621" r:id="rId16"/>
    <p:sldId id="618" r:id="rId17"/>
    <p:sldId id="622" r:id="rId18"/>
    <p:sldId id="623" r:id="rId19"/>
    <p:sldId id="629" r:id="rId20"/>
    <p:sldId id="630" r:id="rId21"/>
    <p:sldId id="624" r:id="rId22"/>
    <p:sldId id="631" r:id="rId23"/>
    <p:sldId id="632" r:id="rId24"/>
    <p:sldId id="633" r:id="rId25"/>
    <p:sldId id="634" r:id="rId26"/>
    <p:sldId id="625" r:id="rId27"/>
    <p:sldId id="635" r:id="rId28"/>
    <p:sldId id="636" r:id="rId29"/>
    <p:sldId id="639" r:id="rId30"/>
    <p:sldId id="540" r:id="rId31"/>
    <p:sldId id="541" r:id="rId32"/>
    <p:sldId id="642" r:id="rId33"/>
    <p:sldId id="542" r:id="rId34"/>
    <p:sldId id="643" r:id="rId35"/>
    <p:sldId id="543" r:id="rId36"/>
    <p:sldId id="544" r:id="rId37"/>
    <p:sldId id="644" r:id="rId38"/>
    <p:sldId id="546" r:id="rId39"/>
    <p:sldId id="645" r:id="rId40"/>
    <p:sldId id="689" r:id="rId41"/>
    <p:sldId id="690" r:id="rId42"/>
    <p:sldId id="691" r:id="rId43"/>
    <p:sldId id="692" r:id="rId44"/>
    <p:sldId id="693" r:id="rId45"/>
    <p:sldId id="764" r:id="rId46"/>
    <p:sldId id="646" r:id="rId47"/>
    <p:sldId id="647" r:id="rId48"/>
    <p:sldId id="648" r:id="rId49"/>
    <p:sldId id="649" r:id="rId50"/>
    <p:sldId id="840" r:id="rId51"/>
    <p:sldId id="562" r:id="rId52"/>
    <p:sldId id="563" r:id="rId53"/>
    <p:sldId id="564" r:id="rId54"/>
    <p:sldId id="662" r:id="rId55"/>
    <p:sldId id="663" r:id="rId56"/>
    <p:sldId id="664" r:id="rId57"/>
    <p:sldId id="665" r:id="rId58"/>
    <p:sldId id="666" r:id="rId59"/>
    <p:sldId id="667" r:id="rId60"/>
    <p:sldId id="668" r:id="rId61"/>
    <p:sldId id="669" r:id="rId62"/>
    <p:sldId id="670" r:id="rId63"/>
    <p:sldId id="671" r:id="rId64"/>
    <p:sldId id="672" r:id="rId65"/>
    <p:sldId id="673" r:id="rId66"/>
    <p:sldId id="674" r:id="rId67"/>
    <p:sldId id="675" r:id="rId68"/>
    <p:sldId id="676" r:id="rId69"/>
    <p:sldId id="677" r:id="rId70"/>
    <p:sldId id="678" r:id="rId71"/>
    <p:sldId id="660" r:id="rId72"/>
    <p:sldId id="656" r:id="rId73"/>
    <p:sldId id="657" r:id="rId74"/>
    <p:sldId id="658" r:id="rId75"/>
    <p:sldId id="702" r:id="rId76"/>
    <p:sldId id="703" r:id="rId77"/>
    <p:sldId id="704" r:id="rId78"/>
    <p:sldId id="705" r:id="rId79"/>
    <p:sldId id="765" r:id="rId80"/>
    <p:sldId id="766" r:id="rId81"/>
    <p:sldId id="767" r:id="rId82"/>
    <p:sldId id="768" r:id="rId83"/>
    <p:sldId id="769" r:id="rId84"/>
    <p:sldId id="770" r:id="rId85"/>
    <p:sldId id="771" r:id="rId86"/>
    <p:sldId id="772" r:id="rId87"/>
    <p:sldId id="773" r:id="rId88"/>
    <p:sldId id="774" r:id="rId89"/>
    <p:sldId id="841" r:id="rId90"/>
    <p:sldId id="776" r:id="rId91"/>
    <p:sldId id="777" r:id="rId92"/>
    <p:sldId id="778" r:id="rId93"/>
    <p:sldId id="779" r:id="rId94"/>
    <p:sldId id="780" r:id="rId95"/>
    <p:sldId id="781" r:id="rId96"/>
    <p:sldId id="782" r:id="rId97"/>
    <p:sldId id="783" r:id="rId98"/>
    <p:sldId id="784" r:id="rId99"/>
    <p:sldId id="785" r:id="rId100"/>
    <p:sldId id="786" r:id="rId101"/>
    <p:sldId id="787" r:id="rId102"/>
    <p:sldId id="788" r:id="rId103"/>
    <p:sldId id="789" r:id="rId104"/>
    <p:sldId id="790" r:id="rId105"/>
    <p:sldId id="791" r:id="rId106"/>
    <p:sldId id="792" r:id="rId107"/>
    <p:sldId id="793" r:id="rId108"/>
    <p:sldId id="794" r:id="rId109"/>
    <p:sldId id="795" r:id="rId110"/>
    <p:sldId id="796" r:id="rId111"/>
    <p:sldId id="797" r:id="rId112"/>
    <p:sldId id="798" r:id="rId113"/>
    <p:sldId id="799" r:id="rId114"/>
    <p:sldId id="800" r:id="rId115"/>
    <p:sldId id="801" r:id="rId116"/>
    <p:sldId id="802" r:id="rId117"/>
    <p:sldId id="803" r:id="rId118"/>
    <p:sldId id="804" r:id="rId119"/>
    <p:sldId id="805" r:id="rId120"/>
    <p:sldId id="806" r:id="rId121"/>
    <p:sldId id="807" r:id="rId122"/>
    <p:sldId id="763" r:id="rId123"/>
    <p:sldId id="808" r:id="rId124"/>
    <p:sldId id="809" r:id="rId125"/>
    <p:sldId id="810" r:id="rId126"/>
    <p:sldId id="811" r:id="rId127"/>
    <p:sldId id="812" r:id="rId128"/>
    <p:sldId id="813" r:id="rId129"/>
    <p:sldId id="814" r:id="rId130"/>
    <p:sldId id="815" r:id="rId131"/>
    <p:sldId id="816" r:id="rId132"/>
    <p:sldId id="817" r:id="rId133"/>
    <p:sldId id="818" r:id="rId134"/>
    <p:sldId id="819" r:id="rId135"/>
    <p:sldId id="820" r:id="rId136"/>
    <p:sldId id="821" r:id="rId137"/>
    <p:sldId id="822" r:id="rId138"/>
    <p:sldId id="823" r:id="rId139"/>
    <p:sldId id="824" r:id="rId140"/>
    <p:sldId id="825" r:id="rId141"/>
    <p:sldId id="826" r:id="rId142"/>
    <p:sldId id="827" r:id="rId143"/>
    <p:sldId id="828" r:id="rId144"/>
    <p:sldId id="829" r:id="rId145"/>
    <p:sldId id="830" r:id="rId146"/>
    <p:sldId id="831" r:id="rId147"/>
    <p:sldId id="832" r:id="rId148"/>
    <p:sldId id="833" r:id="rId149"/>
    <p:sldId id="834" r:id="rId150"/>
    <p:sldId id="835" r:id="rId151"/>
    <p:sldId id="836" r:id="rId152"/>
    <p:sldId id="837" r:id="rId153"/>
    <p:sldId id="838" r:id="rId154"/>
    <p:sldId id="661" r:id="rId155"/>
    <p:sldId id="567" r:id="rId156"/>
    <p:sldId id="680" r:id="rId157"/>
    <p:sldId id="569" r:id="rId158"/>
    <p:sldId id="681" r:id="rId159"/>
    <p:sldId id="682" r:id="rId160"/>
    <p:sldId id="683" r:id="rId161"/>
    <p:sldId id="570" r:id="rId162"/>
    <p:sldId id="684" r:id="rId163"/>
    <p:sldId id="685" r:id="rId164"/>
    <p:sldId id="572" r:id="rId165"/>
    <p:sldId id="686" r:id="rId166"/>
    <p:sldId id="688" r:id="rId167"/>
    <p:sldId id="707" r:id="rId168"/>
    <p:sldId id="708" r:id="rId169"/>
    <p:sldId id="709" r:id="rId170"/>
    <p:sldId id="710" r:id="rId171"/>
    <p:sldId id="711" r:id="rId172"/>
    <p:sldId id="712" r:id="rId173"/>
    <p:sldId id="713" r:id="rId174"/>
    <p:sldId id="706" r:id="rId175"/>
    <p:sldId id="596" r:id="rId176"/>
    <p:sldId id="714" r:id="rId177"/>
    <p:sldId id="715" r:id="rId178"/>
    <p:sldId id="716" r:id="rId179"/>
    <p:sldId id="717" r:id="rId180"/>
    <p:sldId id="718" r:id="rId181"/>
    <p:sldId id="719" r:id="rId182"/>
    <p:sldId id="720" r:id="rId183"/>
    <p:sldId id="597" r:id="rId184"/>
    <p:sldId id="598" r:id="rId185"/>
    <p:sldId id="599" r:id="rId186"/>
    <p:sldId id="600" r:id="rId187"/>
    <p:sldId id="601" r:id="rId188"/>
    <p:sldId id="602" r:id="rId189"/>
    <p:sldId id="603" r:id="rId190"/>
    <p:sldId id="604" r:id="rId191"/>
    <p:sldId id="605" r:id="rId192"/>
    <p:sldId id="721" r:id="rId193"/>
    <p:sldId id="722" r:id="rId194"/>
    <p:sldId id="745" r:id="rId195"/>
    <p:sldId id="746" r:id="rId196"/>
    <p:sldId id="747" r:id="rId197"/>
    <p:sldId id="749" r:id="rId198"/>
    <p:sldId id="748" r:id="rId199"/>
    <p:sldId id="750" r:id="rId200"/>
    <p:sldId id="752" r:id="rId201"/>
    <p:sldId id="753" r:id="rId202"/>
    <p:sldId id="754" r:id="rId203"/>
    <p:sldId id="755" r:id="rId204"/>
    <p:sldId id="751" r:id="rId205"/>
    <p:sldId id="756" r:id="rId206"/>
    <p:sldId id="757" r:id="rId207"/>
    <p:sldId id="758" r:id="rId208"/>
    <p:sldId id="759" r:id="rId209"/>
    <p:sldId id="760" r:id="rId210"/>
    <p:sldId id="761" r:id="rId211"/>
    <p:sldId id="762" r:id="rId212"/>
    <p:sldId id="743" r:id="rId213"/>
    <p:sldId id="723" r:id="rId214"/>
    <p:sldId id="724" r:id="rId215"/>
    <p:sldId id="725" r:id="rId216"/>
    <p:sldId id="726" r:id="rId217"/>
    <p:sldId id="727" r:id="rId218"/>
    <p:sldId id="728" r:id="rId219"/>
    <p:sldId id="729" r:id="rId220"/>
    <p:sldId id="730" r:id="rId221"/>
    <p:sldId id="731" r:id="rId222"/>
    <p:sldId id="732" r:id="rId223"/>
    <p:sldId id="733" r:id="rId224"/>
    <p:sldId id="734" r:id="rId225"/>
    <p:sldId id="735" r:id="rId226"/>
    <p:sldId id="736" r:id="rId227"/>
    <p:sldId id="737" r:id="rId228"/>
    <p:sldId id="738" r:id="rId229"/>
    <p:sldId id="739" r:id="rId230"/>
    <p:sldId id="744" r:id="rId231"/>
    <p:sldId id="740" r:id="rId232"/>
    <p:sldId id="741" r:id="rId233"/>
    <p:sldId id="742" r:id="rId234"/>
    <p:sldId id="530" r:id="rId235"/>
    <p:sldId id="531" r:id="rId236"/>
    <p:sldId id="839" r:id="rId237"/>
    <p:sldId id="687" r:id="rId238"/>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f" initials="f" lastIdx="2" clrIdx="2"/>
  <p:cmAuthor id="2" name="f" initials="f" lastIdx="1" clrIdx="1"/>
  <p:cmAuthor id="3" name="f ja" initials="f" lastIdx="4" clrIdx="9"/>
  <p:cmAuthor id="5" name="ja f" initials="j" lastIdx="1" clrIdx="4"/>
  <p:cmAuthor id="11" name="lenovo" initials="l" lastIdx="3"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8"/>
    <p:restoredTop sz="66784"/>
  </p:normalViewPr>
  <p:slideViewPr>
    <p:cSldViewPr showGuides="1">
      <p:cViewPr>
        <p:scale>
          <a:sx n="73" d="100"/>
          <a:sy n="73" d="100"/>
        </p:scale>
        <p:origin x="1888" y="56"/>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3" Type="http://schemas.openxmlformats.org/officeDocument/2006/relationships/commentAuthors" Target="commentAuthors.xml"/><Relationship Id="rId242" Type="http://schemas.openxmlformats.org/officeDocument/2006/relationships/tableStyles" Target="tableStyles.xml"/><Relationship Id="rId241" Type="http://schemas.openxmlformats.org/officeDocument/2006/relationships/viewProps" Target="viewProps.xml"/><Relationship Id="rId240" Type="http://schemas.openxmlformats.org/officeDocument/2006/relationships/presProps" Target="presProps.xml"/><Relationship Id="rId24" Type="http://schemas.openxmlformats.org/officeDocument/2006/relationships/slide" Target="slides/slide21.xml"/><Relationship Id="rId239" Type="http://schemas.openxmlformats.org/officeDocument/2006/relationships/handoutMaster" Target="handoutMasters/handoutMaster1.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2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2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2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2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4.xml"/></Relationships>
</file>

<file path=ppt/notesSlides/_rels/notesSlide2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2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2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7.xml"/></Relationships>
</file>

<file path=ppt/notesSlides/_rels/notesSlide2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2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2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2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_rels/notesSlide2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2.xml"/></Relationships>
</file>

<file path=ppt/notesSlides/_rels/notesSlide2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3.xml"/></Relationships>
</file>

<file path=ppt/notesSlides/_rels/notesSlide2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4.xml"/></Relationships>
</file>

<file path=ppt/notesSlides/_rels/notesSlide2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TextEdit="1"/>
          </p:cNvSpPr>
          <p:nvPr>
            <p:ph type="sldImg"/>
          </p:nvPr>
        </p:nvSpPr>
        <p:spPr>
          <a:solidFill>
            <a:srgbClr val="FFFFFF">
              <a:alpha val="100000"/>
            </a:srgbClr>
          </a:solidFill>
        </p:spPr>
      </p:sp>
      <p:sp>
        <p:nvSpPr>
          <p:cNvPr id="51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TextEdit="1"/>
          </p:cNvSpPr>
          <p:nvPr>
            <p:ph type="sldImg"/>
          </p:nvPr>
        </p:nvSpPr>
        <p:spPr>
          <a:solidFill>
            <a:srgbClr val="FFFFFF">
              <a:alpha val="100000"/>
            </a:srgbClr>
          </a:solidFill>
        </p:spPr>
      </p:sp>
      <p:sp>
        <p:nvSpPr>
          <p:cNvPr id="71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TextEdit="1"/>
          </p:cNvSpPr>
          <p:nvPr>
            <p:ph type="sldImg"/>
          </p:nvPr>
        </p:nvSpPr>
        <p:spPr>
          <a:solidFill>
            <a:srgbClr val="FFFFFF">
              <a:alpha val="100000"/>
            </a:srgbClr>
          </a:solidFill>
        </p:spPr>
      </p:sp>
      <p:sp>
        <p:nvSpPr>
          <p:cNvPr id="92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TextEdit="1"/>
          </p:cNvSpPr>
          <p:nvPr>
            <p:ph type="sldImg"/>
          </p:nvPr>
        </p:nvSpPr>
        <p:spPr>
          <a:solidFill>
            <a:srgbClr val="FFFFFF">
              <a:alpha val="100000"/>
            </a:srgbClr>
          </a:solidFill>
        </p:spPr>
      </p:sp>
      <p:sp>
        <p:nvSpPr>
          <p:cNvPr id="112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TextEdit="1"/>
          </p:cNvSpPr>
          <p:nvPr>
            <p:ph type="sldImg"/>
          </p:nvPr>
        </p:nvSpPr>
        <p:spPr>
          <a:solidFill>
            <a:srgbClr val="FFFFFF">
              <a:alpha val="100000"/>
            </a:srgbClr>
          </a:solidFill>
        </p:spPr>
      </p:sp>
      <p:sp>
        <p:nvSpPr>
          <p:cNvPr id="133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3" name="Rectangle 2"/>
          <p:cNvSpPr>
            <a:spLocks noTextEdit="1"/>
          </p:cNvSpPr>
          <p:nvPr>
            <p:ph type="sldImg"/>
          </p:nvPr>
        </p:nvSpPr>
        <p:spPr>
          <a:solidFill>
            <a:srgbClr val="FFFFFF">
              <a:alpha val="100000"/>
            </a:srgbClr>
          </a:solidFill>
        </p:spPr>
      </p:sp>
      <p:sp>
        <p:nvSpPr>
          <p:cNvPr id="153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11" name="Rectangle 2"/>
          <p:cNvSpPr>
            <a:spLocks noTextEdit="1"/>
          </p:cNvSpPr>
          <p:nvPr>
            <p:ph type="sldImg"/>
          </p:nvPr>
        </p:nvSpPr>
        <p:spPr>
          <a:solidFill>
            <a:srgbClr val="FFFFFF">
              <a:alpha val="100000"/>
            </a:srgbClr>
          </a:solidFill>
        </p:spPr>
      </p:sp>
      <p:sp>
        <p:nvSpPr>
          <p:cNvPr id="174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459" name="Rectangle 2"/>
          <p:cNvSpPr>
            <a:spLocks noTextEdit="1"/>
          </p:cNvSpPr>
          <p:nvPr>
            <p:ph type="sldImg"/>
          </p:nvPr>
        </p:nvSpPr>
        <p:spPr/>
      </p:sp>
      <p:sp>
        <p:nvSpPr>
          <p:cNvPr id="19460" name="Rectangle 3"/>
          <p:cNvSpPr>
            <a:spLocks noGrp="1"/>
          </p:cNvSpPr>
          <p:nvPr>
            <p:ph type="body" idx="1"/>
          </p:nvPr>
        </p:nvSpPr>
        <p:spPr>
          <a:ln w="22225"/>
        </p:spPr>
        <p:txBody>
          <a:bodyPr wrap="square" lIns="91534" tIns="45768" rIns="91534" bIns="45768" anchor="t" anchorCtr="0"/>
          <a:p>
            <a:pPr lvl="0"/>
            <a:r>
              <a:rPr lang="zh-CN" altLang="en-US" sz="3600" b="1" dirty="0">
                <a:ea typeface="宋体" panose="02010600030101010101" pitchFamily="2" charset="-122"/>
              </a:rPr>
              <a:t>第二点见后一页，</a:t>
            </a:r>
            <a:endParaRPr lang="zh-CN" altLang="en-US" sz="3600" b="1" dirty="0">
              <a:ea typeface="宋体" panose="02010600030101010101" pitchFamily="2" charset="-122"/>
            </a:endParaRPr>
          </a:p>
          <a:p>
            <a:pPr lvl="0"/>
            <a:endParaRPr lang="zh-CN" altLang="en-US" sz="3600" b="1" dirty="0">
              <a:ea typeface="宋体" panose="02010600030101010101" pitchFamily="2" charset="-122"/>
            </a:endParaRPr>
          </a:p>
          <a:p>
            <a:pPr lvl="0"/>
            <a:r>
              <a:rPr lang="zh-CN" altLang="en-US" sz="3600" b="1" dirty="0">
                <a:ea typeface="宋体" panose="02010600030101010101" pitchFamily="2" charset="-122"/>
              </a:rPr>
              <a:t>第三点中的时间信息是指令速度</a:t>
            </a:r>
            <a:endParaRPr lang="zh-CN" altLang="en-US" sz="3600" b="1"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507" name="Rectangle 2"/>
          <p:cNvSpPr>
            <a:spLocks noTextEdit="1"/>
          </p:cNvSpPr>
          <p:nvPr>
            <p:ph type="sldImg"/>
          </p:nvPr>
        </p:nvSpPr>
        <p:spPr/>
      </p:sp>
      <p:sp>
        <p:nvSpPr>
          <p:cNvPr id="21508" name="Rectangle 3"/>
          <p:cNvSpPr>
            <a:spLocks noGrp="1"/>
          </p:cNvSpPr>
          <p:nvPr>
            <p:ph type="body" idx="1"/>
          </p:nvPr>
        </p:nvSpPr>
        <p:spPr>
          <a:ln w="22225"/>
        </p:spPr>
        <p:txBody>
          <a:bodyPr wrap="square" lIns="91534" tIns="45768" rIns="91534" bIns="45768" anchor="t" anchorCtr="0"/>
          <a:p>
            <a:pPr lvl="0"/>
            <a:endParaRPr lang="zh-CN" altLang="en-US" sz="3600" b="1"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ln w="22225"/>
        </p:spPr>
        <p:txBody>
          <a:bodyPr wrap="square" lIns="91534" tIns="45768" rIns="91534" bIns="45768" anchor="t" anchorCtr="0"/>
          <a:p>
            <a:pPr lvl="0"/>
            <a:endParaRPr lang="zh-CN" altLang="en-US" sz="3600" b="1"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603" name="Rectangle 2"/>
          <p:cNvSpPr>
            <a:spLocks noTextEdit="1"/>
          </p:cNvSpPr>
          <p:nvPr>
            <p:ph type="sldImg"/>
          </p:nvPr>
        </p:nvSpPr>
        <p:spPr/>
      </p:sp>
      <p:sp>
        <p:nvSpPr>
          <p:cNvPr id="256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651" name="Rectangle 2"/>
          <p:cNvSpPr>
            <a:spLocks noTextEdit="1"/>
          </p:cNvSpPr>
          <p:nvPr>
            <p:ph type="sldImg"/>
          </p:nvPr>
        </p:nvSpPr>
        <p:spPr/>
      </p:sp>
      <p:sp>
        <p:nvSpPr>
          <p:cNvPr id="276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723" name="Rectangle 2"/>
          <p:cNvSpPr>
            <a:spLocks noTextEdit="1"/>
          </p:cNvSpPr>
          <p:nvPr>
            <p:ph type="sldImg"/>
          </p:nvPr>
        </p:nvSpPr>
        <p:spPr/>
      </p:sp>
      <p:sp>
        <p:nvSpPr>
          <p:cNvPr id="307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771" name="Rectangle 2"/>
          <p:cNvSpPr>
            <a:spLocks noTextEdit="1"/>
          </p:cNvSpPr>
          <p:nvPr>
            <p:ph type="sldImg"/>
          </p:nvPr>
        </p:nvSpPr>
        <p:spPr>
          <a:solidFill>
            <a:srgbClr val="FFFFFF">
              <a:alpha val="100000"/>
            </a:srgbClr>
          </a:solidFill>
        </p:spPr>
      </p:sp>
      <p:sp>
        <p:nvSpPr>
          <p:cNvPr id="327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819" name="Rectangle 2"/>
          <p:cNvSpPr>
            <a:spLocks noTextEdit="1"/>
          </p:cNvSpPr>
          <p:nvPr>
            <p:ph type="sldImg"/>
          </p:nvPr>
        </p:nvSpPr>
        <p:spPr/>
      </p:sp>
      <p:sp>
        <p:nvSpPr>
          <p:cNvPr id="3482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第二点中的目标机器是指本章中使用的目标机器</a:t>
            </a:r>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867" name="Rectangle 2"/>
          <p:cNvSpPr>
            <a:spLocks noTextEdit="1"/>
          </p:cNvSpPr>
          <p:nvPr>
            <p:ph type="sldImg"/>
          </p:nvPr>
        </p:nvSpPr>
        <p:spPr/>
      </p:sp>
      <p:sp>
        <p:nvSpPr>
          <p:cNvPr id="3686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第二点中的目标机器是指本章中使用的目标机器</a:t>
            </a:r>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915" name="Rectangle 2"/>
          <p:cNvSpPr>
            <a:spLocks noTextEdit="1"/>
          </p:cNvSpPr>
          <p:nvPr>
            <p:ph type="sldImg"/>
          </p:nvPr>
        </p:nvSpPr>
        <p:spPr/>
      </p:sp>
      <p:sp>
        <p:nvSpPr>
          <p:cNvPr id="38916"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第二点中的目标机器是指本章中使用的目标机器</a:t>
            </a:r>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963" name="Rectangle 2"/>
          <p:cNvSpPr>
            <a:spLocks noTextEdit="1"/>
          </p:cNvSpPr>
          <p:nvPr>
            <p:ph type="sldImg"/>
          </p:nvPr>
        </p:nvSpPr>
        <p:spPr/>
      </p:sp>
      <p:sp>
        <p:nvSpPr>
          <p:cNvPr id="409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011" name="Rectangle 2"/>
          <p:cNvSpPr>
            <a:spLocks noTextEdit="1"/>
          </p:cNvSpPr>
          <p:nvPr>
            <p:ph type="sldImg"/>
          </p:nvPr>
        </p:nvSpPr>
        <p:spPr/>
      </p:sp>
      <p:sp>
        <p:nvSpPr>
          <p:cNvPr id="430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059" name="Rectangle 2"/>
          <p:cNvSpPr>
            <a:spLocks noTextEdit="1"/>
          </p:cNvSpPr>
          <p:nvPr>
            <p:ph type="sldImg"/>
          </p:nvPr>
        </p:nvSpPr>
        <p:spPr/>
      </p:sp>
      <p:sp>
        <p:nvSpPr>
          <p:cNvPr id="450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107" name="Rectangle 2"/>
          <p:cNvSpPr>
            <a:spLocks noTextEdit="1"/>
          </p:cNvSpPr>
          <p:nvPr>
            <p:ph type="sldImg"/>
          </p:nvPr>
        </p:nvSpPr>
        <p:spPr/>
      </p:sp>
      <p:sp>
        <p:nvSpPr>
          <p:cNvPr id="471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9155" name="Rectangle 2"/>
          <p:cNvSpPr>
            <a:spLocks noTextEdit="1"/>
          </p:cNvSpPr>
          <p:nvPr>
            <p:ph type="sldImg"/>
          </p:nvPr>
        </p:nvSpPr>
        <p:spPr/>
      </p:sp>
      <p:sp>
        <p:nvSpPr>
          <p:cNvPr id="491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03" name="Rectangle 2"/>
          <p:cNvSpPr>
            <a:spLocks noTextEdit="1"/>
          </p:cNvSpPr>
          <p:nvPr>
            <p:ph type="sldImg"/>
          </p:nvPr>
        </p:nvSpPr>
        <p:spPr/>
      </p:sp>
      <p:sp>
        <p:nvSpPr>
          <p:cNvPr id="512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3251" name="Rectangle 2"/>
          <p:cNvSpPr>
            <a:spLocks noTextEdit="1"/>
          </p:cNvSpPr>
          <p:nvPr>
            <p:ph type="sldImg"/>
          </p:nvPr>
        </p:nvSpPr>
        <p:spPr/>
      </p:sp>
      <p:sp>
        <p:nvSpPr>
          <p:cNvPr id="532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5299" name="Rectangle 2"/>
          <p:cNvSpPr>
            <a:spLocks noTextEdit="1"/>
          </p:cNvSpPr>
          <p:nvPr>
            <p:ph type="sldImg"/>
          </p:nvPr>
        </p:nvSpPr>
        <p:spPr>
          <a:solidFill>
            <a:srgbClr val="FFFFFF">
              <a:alpha val="100000"/>
            </a:srgbClr>
          </a:solidFill>
        </p:spPr>
      </p:sp>
      <p:sp>
        <p:nvSpPr>
          <p:cNvPr id="553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7347" name="Rectangle 2"/>
          <p:cNvSpPr>
            <a:spLocks noTextEdit="1"/>
          </p:cNvSpPr>
          <p:nvPr>
            <p:ph type="sldImg"/>
          </p:nvPr>
        </p:nvSpPr>
        <p:spPr>
          <a:solidFill>
            <a:srgbClr val="FFFFFF">
              <a:alpha val="100000"/>
            </a:srgbClr>
          </a:solidFill>
        </p:spPr>
      </p:sp>
      <p:sp>
        <p:nvSpPr>
          <p:cNvPr id="573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9395" name="Rectangle 2"/>
          <p:cNvSpPr>
            <a:spLocks noTextEdit="1"/>
          </p:cNvSpPr>
          <p:nvPr>
            <p:ph type="sldImg"/>
          </p:nvPr>
        </p:nvSpPr>
        <p:spPr>
          <a:solidFill>
            <a:srgbClr val="FFFFFF">
              <a:alpha val="100000"/>
            </a:srgbClr>
          </a:solidFill>
        </p:spPr>
      </p:sp>
      <p:sp>
        <p:nvSpPr>
          <p:cNvPr id="593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1443" name="Rectangle 2"/>
          <p:cNvSpPr>
            <a:spLocks noTextEdit="1"/>
          </p:cNvSpPr>
          <p:nvPr>
            <p:ph type="sldImg"/>
          </p:nvPr>
        </p:nvSpPr>
        <p:spPr/>
      </p:sp>
      <p:sp>
        <p:nvSpPr>
          <p:cNvPr id="614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TextEdit="1"/>
          </p:cNvSpPr>
          <p:nvPr>
            <p:ph type="sldImg"/>
          </p:nvPr>
        </p:nvSpPr>
        <p:spPr/>
      </p:sp>
      <p:sp>
        <p:nvSpPr>
          <p:cNvPr id="645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p:sp>
      <p:sp>
        <p:nvSpPr>
          <p:cNvPr id="68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0659" name="Rectangle 2"/>
          <p:cNvSpPr>
            <a:spLocks noTextEdit="1"/>
          </p:cNvSpPr>
          <p:nvPr>
            <p:ph type="sldImg"/>
          </p:nvPr>
        </p:nvSpPr>
        <p:spPr/>
      </p:sp>
      <p:sp>
        <p:nvSpPr>
          <p:cNvPr id="70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3731" name="Rectangle 2"/>
          <p:cNvSpPr>
            <a:spLocks noTextEdit="1"/>
          </p:cNvSpPr>
          <p:nvPr>
            <p:ph type="sldImg"/>
          </p:nvPr>
        </p:nvSpPr>
        <p:spPr/>
      </p:sp>
      <p:sp>
        <p:nvSpPr>
          <p:cNvPr id="737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5779" name="Rectangle 2"/>
          <p:cNvSpPr>
            <a:spLocks noTextEdit="1"/>
          </p:cNvSpPr>
          <p:nvPr>
            <p:ph type="sldImg"/>
          </p:nvPr>
        </p:nvSpPr>
        <p:spPr>
          <a:solidFill>
            <a:srgbClr val="FFFFFF">
              <a:alpha val="100000"/>
            </a:srgbClr>
          </a:solidFill>
        </p:spPr>
      </p:sp>
      <p:sp>
        <p:nvSpPr>
          <p:cNvPr id="757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7827" name="Rectangle 2"/>
          <p:cNvSpPr>
            <a:spLocks noTextEdit="1"/>
          </p:cNvSpPr>
          <p:nvPr>
            <p:ph type="sldImg"/>
          </p:nvPr>
        </p:nvSpPr>
        <p:spPr/>
      </p:sp>
      <p:sp>
        <p:nvSpPr>
          <p:cNvPr id="7782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9875" name="Rectangle 2"/>
          <p:cNvSpPr>
            <a:spLocks noTextEdit="1"/>
          </p:cNvSpPr>
          <p:nvPr>
            <p:ph type="sldImg"/>
          </p:nvPr>
        </p:nvSpPr>
        <p:spPr>
          <a:solidFill>
            <a:srgbClr val="FFFFFF">
              <a:alpha val="100000"/>
            </a:srgbClr>
          </a:solidFill>
        </p:spPr>
      </p:sp>
      <p:sp>
        <p:nvSpPr>
          <p:cNvPr id="798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1923" name="Rectangle 2"/>
          <p:cNvSpPr>
            <a:spLocks noTextEdit="1"/>
          </p:cNvSpPr>
          <p:nvPr>
            <p:ph type="sldImg"/>
          </p:nvPr>
        </p:nvSpPr>
        <p:spPr/>
      </p:sp>
      <p:sp>
        <p:nvSpPr>
          <p:cNvPr id="8192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3971" name="Rectangle 2"/>
          <p:cNvSpPr>
            <a:spLocks noTextEdit="1"/>
          </p:cNvSpPr>
          <p:nvPr>
            <p:ph type="sldImg"/>
          </p:nvPr>
        </p:nvSpPr>
        <p:spPr/>
      </p:sp>
      <p:sp>
        <p:nvSpPr>
          <p:cNvPr id="8397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6019" name="Rectangle 1026"/>
          <p:cNvSpPr>
            <a:spLocks noTextEdit="1"/>
          </p:cNvSpPr>
          <p:nvPr>
            <p:ph type="sldImg"/>
          </p:nvPr>
        </p:nvSpPr>
        <p:spPr/>
      </p:sp>
      <p:sp>
        <p:nvSpPr>
          <p:cNvPr id="86020" name="Rectangle 1027"/>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8067" name="Rectangle 2"/>
          <p:cNvSpPr>
            <a:spLocks noTextEdit="1"/>
          </p:cNvSpPr>
          <p:nvPr>
            <p:ph type="sldImg"/>
          </p:nvPr>
        </p:nvSpPr>
        <p:spPr>
          <a:solidFill>
            <a:srgbClr val="FFFFFF">
              <a:alpha val="100000"/>
            </a:srgbClr>
          </a:solidFill>
        </p:spPr>
      </p:sp>
      <p:sp>
        <p:nvSpPr>
          <p:cNvPr id="880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0115" name="Rectangle 2"/>
          <p:cNvSpPr>
            <a:spLocks noTextEdit="1"/>
          </p:cNvSpPr>
          <p:nvPr>
            <p:ph type="sldImg"/>
          </p:nvPr>
        </p:nvSpPr>
        <p:spPr/>
      </p:sp>
      <p:sp>
        <p:nvSpPr>
          <p:cNvPr id="90116"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注</a:t>
            </a:r>
            <a:r>
              <a:rPr lang="en-US" altLang="zh-CN" dirty="0">
                <a:ea typeface="宋体" panose="02010600030101010101" pitchFamily="2" charset="-122"/>
              </a:rPr>
              <a:t>1</a:t>
            </a:r>
            <a:r>
              <a:rPr lang="zh-CN" altLang="en-US" dirty="0">
                <a:ea typeface="宋体" panose="02010600030101010101" pitchFamily="2" charset="-122"/>
              </a:rPr>
              <a:t>：本书介绍的是在通常情况下的情形，中断确实不影响被打断程序的正确性。但是在一些嵌入式程序等场景中，通过终端完成某些特定功能，这些中断会通过寄存器等方式与正常程序间交互数据，如果没有能够很好地进行数据保护（这是很可能发生的），则中断的介入不仅仅会影响程序的执行（这类程序中，中断的作用目的之一就是完成某些特定功能，而这些功能的完成是可能影响程序的执行效果的），也可能影响程序的正确性，如改变了不该影响的寄存器的值</a:t>
            </a:r>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63" name="Rectangle 2"/>
          <p:cNvSpPr>
            <a:spLocks noTextEdit="1"/>
          </p:cNvSpPr>
          <p:nvPr>
            <p:ph type="sldImg"/>
          </p:nvPr>
        </p:nvSpPr>
        <p:spPr/>
      </p:sp>
      <p:sp>
        <p:nvSpPr>
          <p:cNvPr id="921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4211" name="Rectangle 2"/>
          <p:cNvSpPr>
            <a:spLocks noTextEdit="1"/>
          </p:cNvSpPr>
          <p:nvPr>
            <p:ph type="sldImg"/>
          </p:nvPr>
        </p:nvSpPr>
        <p:spPr/>
      </p:sp>
      <p:sp>
        <p:nvSpPr>
          <p:cNvPr id="94212"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无条件转移指令之后的指令是否可以作为入口指令是值得商榷的，因为这个指令未必能够被执行</a:t>
            </a:r>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6259" name="Rectangle 2"/>
          <p:cNvSpPr>
            <a:spLocks noTextEdit="1"/>
          </p:cNvSpPr>
          <p:nvPr>
            <p:ph type="sldImg"/>
          </p:nvPr>
        </p:nvSpPr>
        <p:spPr/>
      </p:sp>
      <p:sp>
        <p:nvSpPr>
          <p:cNvPr id="9626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无条件转移指令之后的指令是否可以作为入口指令是值得商榷的，因为这个指令未必能够被执行</a:t>
            </a:r>
            <a:endParaRPr lang="zh-CN" altLang="en-US" dirty="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9331" name="Rectangle 2"/>
          <p:cNvSpPr>
            <a:spLocks noTextEdit="1"/>
          </p:cNvSpPr>
          <p:nvPr>
            <p:ph type="sldImg"/>
          </p:nvPr>
        </p:nvSpPr>
        <p:spPr>
          <a:solidFill>
            <a:srgbClr val="FFFFFF">
              <a:alpha val="100000"/>
            </a:srgbClr>
          </a:solidFill>
        </p:spPr>
      </p:sp>
      <p:sp>
        <p:nvSpPr>
          <p:cNvPr id="993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1379" name="Rectangle 2"/>
          <p:cNvSpPr>
            <a:spLocks noTextEdit="1"/>
          </p:cNvSpPr>
          <p:nvPr>
            <p:ph type="sldImg"/>
          </p:nvPr>
        </p:nvSpPr>
        <p:spPr>
          <a:solidFill>
            <a:srgbClr val="FFFFFF">
              <a:alpha val="100000"/>
            </a:srgbClr>
          </a:solidFill>
        </p:spPr>
      </p:sp>
      <p:sp>
        <p:nvSpPr>
          <p:cNvPr id="1013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3427" name="Rectangle 2"/>
          <p:cNvSpPr>
            <a:spLocks noTextEdit="1"/>
          </p:cNvSpPr>
          <p:nvPr>
            <p:ph type="sldImg"/>
          </p:nvPr>
        </p:nvSpPr>
        <p:spPr>
          <a:solidFill>
            <a:srgbClr val="FFFFFF">
              <a:alpha val="100000"/>
            </a:srgbClr>
          </a:solidFill>
        </p:spPr>
      </p:sp>
      <p:sp>
        <p:nvSpPr>
          <p:cNvPr id="1034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5475" name="Rectangle 2"/>
          <p:cNvSpPr>
            <a:spLocks noTextEdit="1"/>
          </p:cNvSpPr>
          <p:nvPr>
            <p:ph type="sldImg"/>
          </p:nvPr>
        </p:nvSpPr>
        <p:spPr>
          <a:solidFill>
            <a:srgbClr val="FFFFFF">
              <a:alpha val="100000"/>
            </a:srgbClr>
          </a:solidFill>
        </p:spPr>
      </p:sp>
      <p:sp>
        <p:nvSpPr>
          <p:cNvPr id="98308" name="Rectangle 3"/>
          <p:cNvSpPr>
            <a:spLocks noGrp="1" noChangeArrowheads="1"/>
          </p:cNvSpPr>
          <p:nvPr>
            <p:ph type="body" idx="1"/>
          </p:nvPr>
        </p:nvSpPr>
        <p:spPr>
          <a:solidFill>
            <a:srgbClr val="FFFFFF"/>
          </a:solidFill>
          <a:ln w="22225">
            <a:solidFill>
              <a:srgbClr val="000000"/>
            </a:solidFill>
            <a:miter lim="800000"/>
            <a:headEnd w="sm" len="sm"/>
            <a:tailEnd w="lg"/>
          </a:ln>
        </p:spPr>
        <p:txBody>
          <a:bodyPr wrap="square" lIns="91534" tIns="45768" rIns="91534" bIns="45768" numCol="1" anchor="t" anchorCtr="0" compatLnSpc="1"/>
          <a:lstStyle/>
          <a:p>
            <a:pPr marL="398145" marR="0" lvl="0" indent="-419100" algn="l" defTabSz="955675" rtl="0" eaLnBrk="0" fontAlgn="base" latinLnBrk="0" hangingPunct="0">
              <a:lnSpc>
                <a:spcPct val="9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另一种描述是：</a:t>
            </a:r>
            <a:r>
              <a:rPr kumimoji="0" lang="en-US" altLang="zh-CN" sz="1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a:t>
            </a:r>
            <a:r>
              <a:rPr kumimoji="0" lang="zh-CN" altLang="en-US" sz="1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叶结点表示标识符或常数</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398145" marR="0" lvl="0" indent="-419100" algn="l" defTabSz="955675" rtl="0" eaLnBrk="0" fontAlgn="base" latinLnBrk="0" hangingPunct="0">
              <a:lnSpc>
                <a:spcPct val="90000"/>
              </a:lnSpc>
              <a:spcBef>
                <a:spcPct val="3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）内部结点表示运算</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398145" marR="0" lvl="0" indent="-419100" algn="l" defTabSz="955675" rtl="0" eaLnBrk="0" fontAlgn="base" latinLnBrk="0" hangingPunct="0">
              <a:lnSpc>
                <a:spcPct val="90000"/>
              </a:lnSpc>
              <a:spcBef>
                <a:spcPct val="3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3</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）边表示了操作间的前驱和后继的关系</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0" marR="0" lvl="0" indent="0" algn="l" defTabSz="955675"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7523" name="Rectangle 2"/>
          <p:cNvSpPr>
            <a:spLocks noTextEdit="1"/>
          </p:cNvSpPr>
          <p:nvPr>
            <p:ph type="sldImg"/>
          </p:nvPr>
        </p:nvSpPr>
        <p:spPr>
          <a:solidFill>
            <a:srgbClr val="FFFFFF">
              <a:alpha val="100000"/>
            </a:srgbClr>
          </a:solidFill>
        </p:spPr>
      </p:sp>
      <p:sp>
        <p:nvSpPr>
          <p:cNvPr id="1075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9571" name="Rectangle 2"/>
          <p:cNvSpPr>
            <a:spLocks noTextEdit="1"/>
          </p:cNvSpPr>
          <p:nvPr>
            <p:ph type="sldImg"/>
          </p:nvPr>
        </p:nvSpPr>
        <p:spPr/>
      </p:sp>
      <p:sp>
        <p:nvSpPr>
          <p:cNvPr id="1095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1619" name="Rectangle 2"/>
          <p:cNvSpPr>
            <a:spLocks noTextEdit="1"/>
          </p:cNvSpPr>
          <p:nvPr>
            <p:ph type="sldImg"/>
          </p:nvPr>
        </p:nvSpPr>
        <p:spPr/>
      </p:sp>
      <p:sp>
        <p:nvSpPr>
          <p:cNvPr id="1116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3667" name="Rectangle 2"/>
          <p:cNvSpPr>
            <a:spLocks noTextEdit="1"/>
          </p:cNvSpPr>
          <p:nvPr>
            <p:ph type="sldImg"/>
          </p:nvPr>
        </p:nvSpPr>
        <p:spPr/>
      </p:sp>
      <p:sp>
        <p:nvSpPr>
          <p:cNvPr id="1136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5715" name="Rectangle 2"/>
          <p:cNvSpPr>
            <a:spLocks noTextEdit="1"/>
          </p:cNvSpPr>
          <p:nvPr>
            <p:ph type="sldImg"/>
          </p:nvPr>
        </p:nvSpPr>
        <p:spPr/>
      </p:sp>
      <p:sp>
        <p:nvSpPr>
          <p:cNvPr id="1157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7763" name="Rectangle 2"/>
          <p:cNvSpPr>
            <a:spLocks noTextEdit="1"/>
          </p:cNvSpPr>
          <p:nvPr>
            <p:ph type="sldImg"/>
          </p:nvPr>
        </p:nvSpPr>
        <p:spPr/>
      </p:sp>
      <p:sp>
        <p:nvSpPr>
          <p:cNvPr id="1177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9811" name="Rectangle 2"/>
          <p:cNvSpPr>
            <a:spLocks noTextEdit="1"/>
          </p:cNvSpPr>
          <p:nvPr>
            <p:ph type="sldImg"/>
          </p:nvPr>
        </p:nvSpPr>
        <p:spPr/>
      </p:sp>
      <p:sp>
        <p:nvSpPr>
          <p:cNvPr id="1198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1859" name="Rectangle 2"/>
          <p:cNvSpPr>
            <a:spLocks noTextEdit="1"/>
          </p:cNvSpPr>
          <p:nvPr>
            <p:ph type="sldImg"/>
          </p:nvPr>
        </p:nvSpPr>
        <p:spPr/>
      </p:sp>
      <p:sp>
        <p:nvSpPr>
          <p:cNvPr id="1218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3907" name="Rectangle 2"/>
          <p:cNvSpPr>
            <a:spLocks noTextEdit="1"/>
          </p:cNvSpPr>
          <p:nvPr>
            <p:ph type="sldImg"/>
          </p:nvPr>
        </p:nvSpPr>
        <p:spPr/>
      </p:sp>
      <p:sp>
        <p:nvSpPr>
          <p:cNvPr id="1239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5955" name="Rectangle 2"/>
          <p:cNvSpPr>
            <a:spLocks noTextEdit="1"/>
          </p:cNvSpPr>
          <p:nvPr>
            <p:ph type="sldImg"/>
          </p:nvPr>
        </p:nvSpPr>
        <p:spPr/>
      </p:sp>
      <p:sp>
        <p:nvSpPr>
          <p:cNvPr id="1259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8003" name="Rectangle 2"/>
          <p:cNvSpPr>
            <a:spLocks noTextEdit="1"/>
          </p:cNvSpPr>
          <p:nvPr>
            <p:ph type="sldImg"/>
          </p:nvPr>
        </p:nvSpPr>
        <p:spPr/>
      </p:sp>
      <p:sp>
        <p:nvSpPr>
          <p:cNvPr id="1280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0051" name="Rectangle 2"/>
          <p:cNvSpPr>
            <a:spLocks noTextEdit="1"/>
          </p:cNvSpPr>
          <p:nvPr>
            <p:ph type="sldImg"/>
          </p:nvPr>
        </p:nvSpPr>
        <p:spPr/>
      </p:sp>
      <p:sp>
        <p:nvSpPr>
          <p:cNvPr id="1300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2099" name="Rectangle 2"/>
          <p:cNvSpPr>
            <a:spLocks noTextEdit="1"/>
          </p:cNvSpPr>
          <p:nvPr>
            <p:ph type="sldImg"/>
          </p:nvPr>
        </p:nvSpPr>
        <p:spPr/>
      </p:sp>
      <p:sp>
        <p:nvSpPr>
          <p:cNvPr id="1321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4147" name="Rectangle 2"/>
          <p:cNvSpPr>
            <a:spLocks noTextEdit="1"/>
          </p:cNvSpPr>
          <p:nvPr>
            <p:ph type="sldImg"/>
          </p:nvPr>
        </p:nvSpPr>
        <p:spPr/>
      </p:sp>
      <p:sp>
        <p:nvSpPr>
          <p:cNvPr id="1341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6195" name="Rectangle 2"/>
          <p:cNvSpPr>
            <a:spLocks noTextEdit="1"/>
          </p:cNvSpPr>
          <p:nvPr>
            <p:ph type="sldImg"/>
          </p:nvPr>
        </p:nvSpPr>
        <p:spPr/>
      </p:sp>
      <p:sp>
        <p:nvSpPr>
          <p:cNvPr id="1361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8243" name="Rectangle 2"/>
          <p:cNvSpPr>
            <a:spLocks noTextEdit="1"/>
          </p:cNvSpPr>
          <p:nvPr>
            <p:ph type="sldImg"/>
          </p:nvPr>
        </p:nvSpPr>
        <p:spPr/>
      </p:sp>
      <p:sp>
        <p:nvSpPr>
          <p:cNvPr id="1382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0291" name="Rectangle 2"/>
          <p:cNvSpPr>
            <a:spLocks noTextEdit="1"/>
          </p:cNvSpPr>
          <p:nvPr>
            <p:ph type="sldImg"/>
          </p:nvPr>
        </p:nvSpPr>
        <p:spPr>
          <a:solidFill>
            <a:srgbClr val="FFFFFF">
              <a:alpha val="100000"/>
            </a:srgbClr>
          </a:solidFill>
        </p:spPr>
      </p:sp>
      <p:sp>
        <p:nvSpPr>
          <p:cNvPr id="1402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2339" name="Rectangle 2"/>
          <p:cNvSpPr>
            <a:spLocks noTextEdit="1"/>
          </p:cNvSpPr>
          <p:nvPr>
            <p:ph type="sldImg"/>
          </p:nvPr>
        </p:nvSpPr>
        <p:spPr/>
      </p:sp>
      <p:sp>
        <p:nvSpPr>
          <p:cNvPr id="1423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4387" name="Rectangle 2"/>
          <p:cNvSpPr>
            <a:spLocks noTextEdit="1"/>
          </p:cNvSpPr>
          <p:nvPr>
            <p:ph type="sldImg"/>
          </p:nvPr>
        </p:nvSpPr>
        <p:spPr/>
      </p:sp>
      <p:sp>
        <p:nvSpPr>
          <p:cNvPr id="1443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6435" name="Rectangle 2"/>
          <p:cNvSpPr>
            <a:spLocks noTextEdit="1"/>
          </p:cNvSpPr>
          <p:nvPr>
            <p:ph type="sldImg"/>
          </p:nvPr>
        </p:nvSpPr>
        <p:spPr/>
      </p:sp>
      <p:sp>
        <p:nvSpPr>
          <p:cNvPr id="1464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8483" name="Rectangle 2"/>
          <p:cNvSpPr>
            <a:spLocks noTextEdit="1"/>
          </p:cNvSpPr>
          <p:nvPr>
            <p:ph type="sldImg"/>
          </p:nvPr>
        </p:nvSpPr>
        <p:spPr/>
      </p:sp>
      <p:sp>
        <p:nvSpPr>
          <p:cNvPr id="14848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0531" name="Rectangle 2"/>
          <p:cNvSpPr>
            <a:spLocks noTextEdit="1"/>
          </p:cNvSpPr>
          <p:nvPr>
            <p:ph type="sldImg"/>
          </p:nvPr>
        </p:nvSpPr>
        <p:spPr/>
      </p:sp>
      <p:sp>
        <p:nvSpPr>
          <p:cNvPr id="15053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2579" name="Rectangle 2"/>
          <p:cNvSpPr>
            <a:spLocks noTextEdit="1"/>
          </p:cNvSpPr>
          <p:nvPr>
            <p:ph type="sldImg"/>
          </p:nvPr>
        </p:nvSpPr>
        <p:spPr>
          <a:solidFill>
            <a:srgbClr val="FFFFFF">
              <a:alpha val="100000"/>
            </a:srgbClr>
          </a:solidFill>
        </p:spPr>
      </p:sp>
      <p:sp>
        <p:nvSpPr>
          <p:cNvPr id="1525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4627" name="Rectangle 2"/>
          <p:cNvSpPr>
            <a:spLocks noTextEdit="1"/>
          </p:cNvSpPr>
          <p:nvPr>
            <p:ph type="sldImg"/>
          </p:nvPr>
        </p:nvSpPr>
        <p:spPr>
          <a:solidFill>
            <a:srgbClr val="FFFFFF">
              <a:alpha val="100000"/>
            </a:srgbClr>
          </a:solidFill>
        </p:spPr>
      </p:sp>
      <p:sp>
        <p:nvSpPr>
          <p:cNvPr id="1546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6675" name="Rectangle 2"/>
          <p:cNvSpPr>
            <a:spLocks noTextEdit="1"/>
          </p:cNvSpPr>
          <p:nvPr>
            <p:ph type="sldImg"/>
          </p:nvPr>
        </p:nvSpPr>
        <p:spPr>
          <a:solidFill>
            <a:srgbClr val="FFFFFF">
              <a:alpha val="100000"/>
            </a:srgbClr>
          </a:solidFill>
        </p:spPr>
      </p:sp>
      <p:sp>
        <p:nvSpPr>
          <p:cNvPr id="1566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8723" name="Rectangle 2"/>
          <p:cNvSpPr>
            <a:spLocks noTextEdit="1"/>
          </p:cNvSpPr>
          <p:nvPr>
            <p:ph type="sldImg"/>
          </p:nvPr>
        </p:nvSpPr>
        <p:spPr>
          <a:solidFill>
            <a:srgbClr val="FFFFFF">
              <a:alpha val="100000"/>
            </a:srgbClr>
          </a:solidFill>
        </p:spPr>
      </p:sp>
      <p:sp>
        <p:nvSpPr>
          <p:cNvPr id="1587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0771" name="Rectangle 2"/>
          <p:cNvSpPr>
            <a:spLocks noTextEdit="1"/>
          </p:cNvSpPr>
          <p:nvPr>
            <p:ph type="sldImg"/>
          </p:nvPr>
        </p:nvSpPr>
        <p:spPr>
          <a:solidFill>
            <a:srgbClr val="FFFFFF">
              <a:alpha val="100000"/>
            </a:srgbClr>
          </a:solidFill>
        </p:spPr>
      </p:sp>
      <p:sp>
        <p:nvSpPr>
          <p:cNvPr id="1607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2819" name="Rectangle 2"/>
          <p:cNvSpPr>
            <a:spLocks noTextEdit="1"/>
          </p:cNvSpPr>
          <p:nvPr>
            <p:ph type="sldImg"/>
          </p:nvPr>
        </p:nvSpPr>
        <p:spPr>
          <a:solidFill>
            <a:srgbClr val="FFFFFF">
              <a:alpha val="100000"/>
            </a:srgbClr>
          </a:solidFill>
        </p:spPr>
      </p:sp>
      <p:sp>
        <p:nvSpPr>
          <p:cNvPr id="1628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4867" name="Rectangle 2"/>
          <p:cNvSpPr>
            <a:spLocks noTextEdit="1"/>
          </p:cNvSpPr>
          <p:nvPr>
            <p:ph type="sldImg"/>
          </p:nvPr>
        </p:nvSpPr>
        <p:spPr>
          <a:solidFill>
            <a:srgbClr val="FFFFFF">
              <a:alpha val="100000"/>
            </a:srgbClr>
          </a:solidFill>
        </p:spPr>
      </p:sp>
      <p:sp>
        <p:nvSpPr>
          <p:cNvPr id="1648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6915" name="Rectangle 2"/>
          <p:cNvSpPr>
            <a:spLocks noTextEdit="1"/>
          </p:cNvSpPr>
          <p:nvPr>
            <p:ph type="sldImg"/>
          </p:nvPr>
        </p:nvSpPr>
        <p:spPr>
          <a:solidFill>
            <a:srgbClr val="FFFFFF">
              <a:alpha val="100000"/>
            </a:srgbClr>
          </a:solidFill>
        </p:spPr>
      </p:sp>
      <p:sp>
        <p:nvSpPr>
          <p:cNvPr id="1669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8963" name="Rectangle 2"/>
          <p:cNvSpPr>
            <a:spLocks noTextEdit="1"/>
          </p:cNvSpPr>
          <p:nvPr>
            <p:ph type="sldImg"/>
          </p:nvPr>
        </p:nvSpPr>
        <p:spPr>
          <a:solidFill>
            <a:srgbClr val="FFFFFF">
              <a:alpha val="100000"/>
            </a:srgbClr>
          </a:solidFill>
        </p:spPr>
      </p:sp>
      <p:sp>
        <p:nvSpPr>
          <p:cNvPr id="1689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1011" name="Rectangle 2"/>
          <p:cNvSpPr>
            <a:spLocks noTextEdit="1"/>
          </p:cNvSpPr>
          <p:nvPr>
            <p:ph type="sldImg"/>
          </p:nvPr>
        </p:nvSpPr>
        <p:spPr/>
      </p:sp>
      <p:sp>
        <p:nvSpPr>
          <p:cNvPr id="17101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3059" name="Rectangle 2"/>
          <p:cNvSpPr>
            <a:spLocks noTextEdit="1"/>
          </p:cNvSpPr>
          <p:nvPr>
            <p:ph type="sldImg"/>
          </p:nvPr>
        </p:nvSpPr>
        <p:spPr/>
      </p:sp>
      <p:sp>
        <p:nvSpPr>
          <p:cNvPr id="17306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5107" name="Rectangle 2"/>
          <p:cNvSpPr>
            <a:spLocks noTextEdit="1"/>
          </p:cNvSpPr>
          <p:nvPr>
            <p:ph type="sldImg"/>
          </p:nvPr>
        </p:nvSpPr>
        <p:spPr/>
      </p:sp>
      <p:sp>
        <p:nvSpPr>
          <p:cNvPr id="17510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7155" name="Rectangle 2"/>
          <p:cNvSpPr>
            <a:spLocks noTextEdit="1"/>
          </p:cNvSpPr>
          <p:nvPr>
            <p:ph type="sldImg"/>
          </p:nvPr>
        </p:nvSpPr>
        <p:spPr/>
      </p:sp>
      <p:sp>
        <p:nvSpPr>
          <p:cNvPr id="17715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9203" name="Rectangle 2"/>
          <p:cNvSpPr>
            <a:spLocks noTextEdit="1"/>
          </p:cNvSpPr>
          <p:nvPr>
            <p:ph type="sldImg"/>
          </p:nvPr>
        </p:nvSpPr>
        <p:spPr>
          <a:solidFill>
            <a:srgbClr val="FFFFFF">
              <a:alpha val="100000"/>
            </a:srgbClr>
          </a:solidFill>
        </p:spPr>
      </p:sp>
      <p:sp>
        <p:nvSpPr>
          <p:cNvPr id="1792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1251" name="Rectangle 2"/>
          <p:cNvSpPr>
            <a:spLocks noTextEdit="1"/>
          </p:cNvSpPr>
          <p:nvPr>
            <p:ph type="sldImg"/>
          </p:nvPr>
        </p:nvSpPr>
        <p:spPr>
          <a:solidFill>
            <a:srgbClr val="FFFFFF">
              <a:alpha val="100000"/>
            </a:srgbClr>
          </a:solidFill>
        </p:spPr>
      </p:sp>
      <p:sp>
        <p:nvSpPr>
          <p:cNvPr id="1812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3299" name="Rectangle 2"/>
          <p:cNvSpPr>
            <a:spLocks noTextEdit="1"/>
          </p:cNvSpPr>
          <p:nvPr>
            <p:ph type="sldImg"/>
          </p:nvPr>
        </p:nvSpPr>
        <p:spPr/>
      </p:sp>
      <p:sp>
        <p:nvSpPr>
          <p:cNvPr id="1833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5347" name="Rectangle 2"/>
          <p:cNvSpPr>
            <a:spLocks noTextEdit="1"/>
          </p:cNvSpPr>
          <p:nvPr>
            <p:ph type="sldImg"/>
          </p:nvPr>
        </p:nvSpPr>
        <p:spPr/>
      </p:sp>
      <p:sp>
        <p:nvSpPr>
          <p:cNvPr id="1853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7395" name="Rectangle 2"/>
          <p:cNvSpPr>
            <a:spLocks noTextEdit="1"/>
          </p:cNvSpPr>
          <p:nvPr>
            <p:ph type="sldImg"/>
          </p:nvPr>
        </p:nvSpPr>
        <p:spPr/>
      </p:sp>
      <p:sp>
        <p:nvSpPr>
          <p:cNvPr id="18739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9443" name="Rectangle 2"/>
          <p:cNvSpPr>
            <a:spLocks noTextEdit="1"/>
          </p:cNvSpPr>
          <p:nvPr>
            <p:ph type="sldImg"/>
          </p:nvPr>
        </p:nvSpPr>
        <p:spPr/>
      </p:sp>
      <p:sp>
        <p:nvSpPr>
          <p:cNvPr id="18944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1491" name="Rectangle 2"/>
          <p:cNvSpPr>
            <a:spLocks noTextEdit="1"/>
          </p:cNvSpPr>
          <p:nvPr>
            <p:ph type="sldImg"/>
          </p:nvPr>
        </p:nvSpPr>
        <p:spPr/>
      </p:sp>
      <p:sp>
        <p:nvSpPr>
          <p:cNvPr id="19149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3539" name="Rectangle 2"/>
          <p:cNvSpPr>
            <a:spLocks noTextEdit="1"/>
          </p:cNvSpPr>
          <p:nvPr>
            <p:ph type="sldImg"/>
          </p:nvPr>
        </p:nvSpPr>
        <p:spPr/>
      </p:sp>
      <p:sp>
        <p:nvSpPr>
          <p:cNvPr id="19354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5587" name="Rectangle 2"/>
          <p:cNvSpPr>
            <a:spLocks noTextEdit="1"/>
          </p:cNvSpPr>
          <p:nvPr>
            <p:ph type="sldImg"/>
          </p:nvPr>
        </p:nvSpPr>
        <p:spPr/>
      </p:sp>
      <p:sp>
        <p:nvSpPr>
          <p:cNvPr id="19558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7635" name="Rectangle 2"/>
          <p:cNvSpPr>
            <a:spLocks noTextEdit="1"/>
          </p:cNvSpPr>
          <p:nvPr>
            <p:ph type="sldImg"/>
          </p:nvPr>
        </p:nvSpPr>
        <p:spPr/>
      </p:sp>
      <p:sp>
        <p:nvSpPr>
          <p:cNvPr id="19763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9683" name="Rectangle 2"/>
          <p:cNvSpPr>
            <a:spLocks noTextEdit="1"/>
          </p:cNvSpPr>
          <p:nvPr>
            <p:ph type="sldImg"/>
          </p:nvPr>
        </p:nvSpPr>
        <p:spPr/>
      </p:sp>
      <p:sp>
        <p:nvSpPr>
          <p:cNvPr id="19968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1731" name="Rectangle 2"/>
          <p:cNvSpPr>
            <a:spLocks noTextEdit="1"/>
          </p:cNvSpPr>
          <p:nvPr>
            <p:ph type="sldImg"/>
          </p:nvPr>
        </p:nvSpPr>
        <p:spPr/>
      </p:sp>
      <p:sp>
        <p:nvSpPr>
          <p:cNvPr id="20173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3779" name="Rectangle 2"/>
          <p:cNvSpPr>
            <a:spLocks noTextEdit="1"/>
          </p:cNvSpPr>
          <p:nvPr>
            <p:ph type="sldImg"/>
          </p:nvPr>
        </p:nvSpPr>
        <p:spPr/>
      </p:sp>
      <p:sp>
        <p:nvSpPr>
          <p:cNvPr id="20378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5827" name="Rectangle 2"/>
          <p:cNvSpPr>
            <a:spLocks noTextEdit="1"/>
          </p:cNvSpPr>
          <p:nvPr>
            <p:ph type="sldImg"/>
          </p:nvPr>
        </p:nvSpPr>
        <p:spPr/>
      </p:sp>
      <p:sp>
        <p:nvSpPr>
          <p:cNvPr id="20582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7875" name="Rectangle 2"/>
          <p:cNvSpPr>
            <a:spLocks noTextEdit="1"/>
          </p:cNvSpPr>
          <p:nvPr>
            <p:ph type="sldImg"/>
          </p:nvPr>
        </p:nvSpPr>
        <p:spPr/>
      </p:sp>
      <p:sp>
        <p:nvSpPr>
          <p:cNvPr id="20787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9923" name="Rectangle 2"/>
          <p:cNvSpPr>
            <a:spLocks noTextEdit="1"/>
          </p:cNvSpPr>
          <p:nvPr>
            <p:ph type="sldImg"/>
          </p:nvPr>
        </p:nvSpPr>
        <p:spPr/>
      </p:sp>
      <p:sp>
        <p:nvSpPr>
          <p:cNvPr id="20992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1971" name="Rectangle 2"/>
          <p:cNvSpPr>
            <a:spLocks noTextEdit="1"/>
          </p:cNvSpPr>
          <p:nvPr>
            <p:ph type="sldImg"/>
          </p:nvPr>
        </p:nvSpPr>
        <p:spPr/>
      </p:sp>
      <p:sp>
        <p:nvSpPr>
          <p:cNvPr id="21197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4019" name="Rectangle 2"/>
          <p:cNvSpPr>
            <a:spLocks noTextEdit="1"/>
          </p:cNvSpPr>
          <p:nvPr>
            <p:ph type="sldImg"/>
          </p:nvPr>
        </p:nvSpPr>
        <p:spPr/>
      </p:sp>
      <p:sp>
        <p:nvSpPr>
          <p:cNvPr id="21402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6067" name="Rectangle 2"/>
          <p:cNvSpPr>
            <a:spLocks noTextEdit="1"/>
          </p:cNvSpPr>
          <p:nvPr>
            <p:ph type="sldImg"/>
          </p:nvPr>
        </p:nvSpPr>
        <p:spPr/>
      </p:sp>
      <p:sp>
        <p:nvSpPr>
          <p:cNvPr id="21606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8115" name="Rectangle 2"/>
          <p:cNvSpPr>
            <a:spLocks noTextEdit="1"/>
          </p:cNvSpPr>
          <p:nvPr>
            <p:ph type="sldImg"/>
          </p:nvPr>
        </p:nvSpPr>
        <p:spPr/>
      </p:sp>
      <p:sp>
        <p:nvSpPr>
          <p:cNvPr id="21811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0163" name="Rectangle 2"/>
          <p:cNvSpPr>
            <a:spLocks noTextEdit="1"/>
          </p:cNvSpPr>
          <p:nvPr>
            <p:ph type="sldImg"/>
          </p:nvPr>
        </p:nvSpPr>
        <p:spPr/>
      </p:sp>
      <p:sp>
        <p:nvSpPr>
          <p:cNvPr id="220164"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2211" name="Rectangle 2"/>
          <p:cNvSpPr>
            <a:spLocks noTextEdit="1"/>
          </p:cNvSpPr>
          <p:nvPr>
            <p:ph type="sldImg"/>
          </p:nvPr>
        </p:nvSpPr>
        <p:spPr/>
      </p:sp>
      <p:sp>
        <p:nvSpPr>
          <p:cNvPr id="222212"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4259" name="Rectangle 2"/>
          <p:cNvSpPr>
            <a:spLocks noTextEdit="1"/>
          </p:cNvSpPr>
          <p:nvPr>
            <p:ph type="sldImg"/>
          </p:nvPr>
        </p:nvSpPr>
        <p:spPr/>
      </p:sp>
      <p:sp>
        <p:nvSpPr>
          <p:cNvPr id="22426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6307" name="Rectangle 2"/>
          <p:cNvSpPr>
            <a:spLocks noTextEdit="1"/>
          </p:cNvSpPr>
          <p:nvPr>
            <p:ph type="sldImg"/>
          </p:nvPr>
        </p:nvSpPr>
        <p:spPr>
          <a:solidFill>
            <a:srgbClr val="FFFFFF">
              <a:alpha val="100000"/>
            </a:srgbClr>
          </a:solidFill>
        </p:spPr>
      </p:sp>
      <p:sp>
        <p:nvSpPr>
          <p:cNvPr id="2263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8355" name="Rectangle 2"/>
          <p:cNvSpPr>
            <a:spLocks noTextEdit="1"/>
          </p:cNvSpPr>
          <p:nvPr>
            <p:ph type="sldImg"/>
          </p:nvPr>
        </p:nvSpPr>
        <p:spPr>
          <a:solidFill>
            <a:srgbClr val="FFFFFF">
              <a:alpha val="100000"/>
            </a:srgbClr>
          </a:solidFill>
        </p:spPr>
      </p:sp>
      <p:sp>
        <p:nvSpPr>
          <p:cNvPr id="2283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0403" name="Rectangle 2"/>
          <p:cNvSpPr>
            <a:spLocks noTextEdit="1"/>
          </p:cNvSpPr>
          <p:nvPr>
            <p:ph type="sldImg"/>
          </p:nvPr>
        </p:nvSpPr>
        <p:spPr>
          <a:solidFill>
            <a:srgbClr val="FFFFFF">
              <a:alpha val="100000"/>
            </a:srgbClr>
          </a:solidFill>
        </p:spPr>
      </p:sp>
      <p:sp>
        <p:nvSpPr>
          <p:cNvPr id="2304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对于</a:t>
            </a:r>
            <a:r>
              <a:rPr lang="en-US" altLang="zh-CN" dirty="0">
                <a:ea typeface="宋体" panose="02010600030101010101" pitchFamily="2" charset="-122"/>
              </a:rPr>
              <a:t>B2</a:t>
            </a:r>
            <a:r>
              <a:rPr lang="zh-CN" altLang="en-US" dirty="0">
                <a:ea typeface="宋体" panose="02010600030101010101" pitchFamily="2" charset="-122"/>
              </a:rPr>
              <a:t>，如果初始的</a:t>
            </a:r>
            <a:r>
              <a:rPr lang="en-US" altLang="zh-CN" dirty="0">
                <a:ea typeface="宋体" panose="02010600030101010101" pitchFamily="2" charset="-122"/>
              </a:rPr>
              <a:t>IN</a:t>
            </a:r>
            <a:r>
              <a:rPr lang="zh-CN" altLang="en-US" dirty="0">
                <a:ea typeface="宋体" panose="02010600030101010101" pitchFamily="2" charset="-122"/>
              </a:rPr>
              <a:t>集合定义为空，则得不到希望得到的结果。</a:t>
            </a:r>
            <a:endParaRPr lang="zh-CN" altLang="en-US" dirty="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2451" name="Rectangle 2"/>
          <p:cNvSpPr>
            <a:spLocks noTextEdit="1"/>
          </p:cNvSpPr>
          <p:nvPr>
            <p:ph type="sldImg"/>
          </p:nvPr>
        </p:nvSpPr>
        <p:spPr>
          <a:solidFill>
            <a:srgbClr val="FFFFFF">
              <a:alpha val="100000"/>
            </a:srgbClr>
          </a:solidFill>
        </p:spPr>
      </p:sp>
      <p:sp>
        <p:nvSpPr>
          <p:cNvPr id="2324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4499" name="Rectangle 2"/>
          <p:cNvSpPr>
            <a:spLocks noTextEdit="1"/>
          </p:cNvSpPr>
          <p:nvPr>
            <p:ph type="sldImg"/>
          </p:nvPr>
        </p:nvSpPr>
        <p:spPr>
          <a:solidFill>
            <a:srgbClr val="FFFFFF">
              <a:alpha val="100000"/>
            </a:srgbClr>
          </a:solidFill>
        </p:spPr>
      </p:sp>
      <p:sp>
        <p:nvSpPr>
          <p:cNvPr id="2345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6547" name="Rectangle 2"/>
          <p:cNvSpPr>
            <a:spLocks noTextEdit="1"/>
          </p:cNvSpPr>
          <p:nvPr>
            <p:ph type="sldImg"/>
          </p:nvPr>
        </p:nvSpPr>
        <p:spPr>
          <a:solidFill>
            <a:srgbClr val="FFFFFF">
              <a:alpha val="100000"/>
            </a:srgbClr>
          </a:solidFill>
        </p:spPr>
      </p:sp>
      <p:sp>
        <p:nvSpPr>
          <p:cNvPr id="2365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38595" name="Rectangle 2"/>
          <p:cNvSpPr>
            <a:spLocks noTextEdit="1"/>
          </p:cNvSpPr>
          <p:nvPr>
            <p:ph type="sldImg"/>
          </p:nvPr>
        </p:nvSpPr>
        <p:spPr>
          <a:solidFill>
            <a:srgbClr val="FFFFFF">
              <a:alpha val="100000"/>
            </a:srgbClr>
          </a:solidFill>
        </p:spPr>
      </p:sp>
      <p:sp>
        <p:nvSpPr>
          <p:cNvPr id="2385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0643" name="Rectangle 2"/>
          <p:cNvSpPr>
            <a:spLocks noTextEdit="1"/>
          </p:cNvSpPr>
          <p:nvPr>
            <p:ph type="sldImg"/>
          </p:nvPr>
        </p:nvSpPr>
        <p:spPr>
          <a:solidFill>
            <a:srgbClr val="FFFFFF">
              <a:alpha val="100000"/>
            </a:srgbClr>
          </a:solidFill>
        </p:spPr>
      </p:sp>
      <p:sp>
        <p:nvSpPr>
          <p:cNvPr id="2406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2691" name="Rectangle 2"/>
          <p:cNvSpPr>
            <a:spLocks noTextEdit="1"/>
          </p:cNvSpPr>
          <p:nvPr>
            <p:ph type="sldImg"/>
          </p:nvPr>
        </p:nvSpPr>
        <p:spPr>
          <a:solidFill>
            <a:srgbClr val="FFFFFF">
              <a:alpha val="100000"/>
            </a:srgbClr>
          </a:solidFill>
        </p:spPr>
      </p:sp>
      <p:sp>
        <p:nvSpPr>
          <p:cNvPr id="2426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4739" name="Rectangle 2"/>
          <p:cNvSpPr>
            <a:spLocks noTextEdit="1"/>
          </p:cNvSpPr>
          <p:nvPr>
            <p:ph type="sldImg"/>
          </p:nvPr>
        </p:nvSpPr>
        <p:spPr>
          <a:solidFill>
            <a:srgbClr val="FFFFFF">
              <a:alpha val="100000"/>
            </a:srgbClr>
          </a:solidFill>
        </p:spPr>
      </p:sp>
      <p:sp>
        <p:nvSpPr>
          <p:cNvPr id="2447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6787" name="Rectangle 2"/>
          <p:cNvSpPr>
            <a:spLocks noTextEdit="1"/>
          </p:cNvSpPr>
          <p:nvPr>
            <p:ph type="sldImg"/>
          </p:nvPr>
        </p:nvSpPr>
        <p:spPr>
          <a:solidFill>
            <a:srgbClr val="FFFFFF">
              <a:alpha val="100000"/>
            </a:srgbClr>
          </a:solidFill>
        </p:spPr>
      </p:sp>
      <p:sp>
        <p:nvSpPr>
          <p:cNvPr id="2467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8835" name="Rectangle 2"/>
          <p:cNvSpPr>
            <a:spLocks noTextEdit="1"/>
          </p:cNvSpPr>
          <p:nvPr>
            <p:ph type="sldImg"/>
          </p:nvPr>
        </p:nvSpPr>
        <p:spPr>
          <a:solidFill>
            <a:srgbClr val="FFFFFF">
              <a:alpha val="100000"/>
            </a:srgbClr>
          </a:solidFill>
        </p:spPr>
      </p:sp>
      <p:sp>
        <p:nvSpPr>
          <p:cNvPr id="2488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0883" name="Rectangle 2"/>
          <p:cNvSpPr>
            <a:spLocks noTextEdit="1"/>
          </p:cNvSpPr>
          <p:nvPr>
            <p:ph type="sldImg"/>
          </p:nvPr>
        </p:nvSpPr>
        <p:spPr>
          <a:solidFill>
            <a:srgbClr val="FFFFFF">
              <a:alpha val="100000"/>
            </a:srgbClr>
          </a:solidFill>
        </p:spPr>
      </p:sp>
      <p:sp>
        <p:nvSpPr>
          <p:cNvPr id="25088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2931" name="Rectangle 2"/>
          <p:cNvSpPr>
            <a:spLocks noTextEdit="1"/>
          </p:cNvSpPr>
          <p:nvPr>
            <p:ph type="sldImg"/>
          </p:nvPr>
        </p:nvSpPr>
        <p:spPr>
          <a:solidFill>
            <a:srgbClr val="FFFFFF">
              <a:alpha val="100000"/>
            </a:srgbClr>
          </a:solidFill>
        </p:spPr>
      </p:sp>
      <p:sp>
        <p:nvSpPr>
          <p:cNvPr id="2529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4979" name="Rectangle 2"/>
          <p:cNvSpPr>
            <a:spLocks noTextEdit="1"/>
          </p:cNvSpPr>
          <p:nvPr>
            <p:ph type="sldImg"/>
          </p:nvPr>
        </p:nvSpPr>
        <p:spPr>
          <a:solidFill>
            <a:srgbClr val="FFFFFF">
              <a:alpha val="100000"/>
            </a:srgbClr>
          </a:solidFill>
        </p:spPr>
      </p:sp>
      <p:sp>
        <p:nvSpPr>
          <p:cNvPr id="2549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7027" name="Rectangle 2"/>
          <p:cNvSpPr>
            <a:spLocks noTextEdit="1"/>
          </p:cNvSpPr>
          <p:nvPr>
            <p:ph type="sldImg"/>
          </p:nvPr>
        </p:nvSpPr>
        <p:spPr>
          <a:solidFill>
            <a:srgbClr val="FFFFFF">
              <a:alpha val="100000"/>
            </a:srgbClr>
          </a:solidFill>
        </p:spPr>
      </p:sp>
      <p:sp>
        <p:nvSpPr>
          <p:cNvPr id="2570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59075" name="Rectangle 2"/>
          <p:cNvSpPr>
            <a:spLocks noTextEdit="1"/>
          </p:cNvSpPr>
          <p:nvPr>
            <p:ph type="sldImg"/>
          </p:nvPr>
        </p:nvSpPr>
        <p:spPr>
          <a:solidFill>
            <a:srgbClr val="FFFFFF">
              <a:alpha val="100000"/>
            </a:srgbClr>
          </a:solidFill>
        </p:spPr>
      </p:sp>
      <p:sp>
        <p:nvSpPr>
          <p:cNvPr id="2590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1123" name="Rectangle 2"/>
          <p:cNvSpPr>
            <a:spLocks noTextEdit="1"/>
          </p:cNvSpPr>
          <p:nvPr>
            <p:ph type="sldImg"/>
          </p:nvPr>
        </p:nvSpPr>
        <p:spPr>
          <a:solidFill>
            <a:srgbClr val="FFFFFF">
              <a:alpha val="100000"/>
            </a:srgbClr>
          </a:solidFill>
        </p:spPr>
      </p:sp>
      <p:sp>
        <p:nvSpPr>
          <p:cNvPr id="2611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3171" name="Rectangle 2"/>
          <p:cNvSpPr>
            <a:spLocks noTextEdit="1"/>
          </p:cNvSpPr>
          <p:nvPr>
            <p:ph type="sldImg"/>
          </p:nvPr>
        </p:nvSpPr>
        <p:spPr>
          <a:solidFill>
            <a:srgbClr val="FFFFFF">
              <a:alpha val="100000"/>
            </a:srgbClr>
          </a:solidFill>
        </p:spPr>
      </p:sp>
      <p:sp>
        <p:nvSpPr>
          <p:cNvPr id="2631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5219" name="Rectangle 2"/>
          <p:cNvSpPr>
            <a:spLocks noTextEdit="1"/>
          </p:cNvSpPr>
          <p:nvPr>
            <p:ph type="sldImg"/>
          </p:nvPr>
        </p:nvSpPr>
        <p:spPr>
          <a:solidFill>
            <a:srgbClr val="FFFFFF">
              <a:alpha val="100000"/>
            </a:srgbClr>
          </a:solidFill>
        </p:spPr>
      </p:sp>
      <p:sp>
        <p:nvSpPr>
          <p:cNvPr id="2652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7267" name="Rectangle 2"/>
          <p:cNvSpPr>
            <a:spLocks noTextEdit="1"/>
          </p:cNvSpPr>
          <p:nvPr>
            <p:ph type="sldImg"/>
          </p:nvPr>
        </p:nvSpPr>
        <p:spPr>
          <a:solidFill>
            <a:srgbClr val="FFFFFF">
              <a:alpha val="100000"/>
            </a:srgbClr>
          </a:solidFill>
        </p:spPr>
      </p:sp>
      <p:sp>
        <p:nvSpPr>
          <p:cNvPr id="2672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9315" name="Rectangle 2"/>
          <p:cNvSpPr>
            <a:spLocks noTextEdit="1"/>
          </p:cNvSpPr>
          <p:nvPr>
            <p:ph type="sldImg"/>
          </p:nvPr>
        </p:nvSpPr>
        <p:spPr>
          <a:solidFill>
            <a:srgbClr val="FFFFFF">
              <a:alpha val="100000"/>
            </a:srgbClr>
          </a:solidFill>
        </p:spPr>
      </p:sp>
      <p:sp>
        <p:nvSpPr>
          <p:cNvPr id="2693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1363" name="Rectangle 2"/>
          <p:cNvSpPr>
            <a:spLocks noTextEdit="1"/>
          </p:cNvSpPr>
          <p:nvPr>
            <p:ph type="sldImg"/>
          </p:nvPr>
        </p:nvSpPr>
        <p:spPr>
          <a:solidFill>
            <a:srgbClr val="FFFFFF">
              <a:alpha val="100000"/>
            </a:srgbClr>
          </a:solidFill>
        </p:spPr>
      </p:sp>
      <p:sp>
        <p:nvSpPr>
          <p:cNvPr id="2713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3411" name="Rectangle 2"/>
          <p:cNvSpPr>
            <a:spLocks noTextEdit="1"/>
          </p:cNvSpPr>
          <p:nvPr>
            <p:ph type="sldImg"/>
          </p:nvPr>
        </p:nvSpPr>
        <p:spPr>
          <a:solidFill>
            <a:srgbClr val="FFFFFF">
              <a:alpha val="100000"/>
            </a:srgbClr>
          </a:solidFill>
        </p:spPr>
      </p:sp>
      <p:sp>
        <p:nvSpPr>
          <p:cNvPr id="2734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5459" name="Rectangle 2"/>
          <p:cNvSpPr>
            <a:spLocks noTextEdit="1"/>
          </p:cNvSpPr>
          <p:nvPr>
            <p:ph type="sldImg"/>
          </p:nvPr>
        </p:nvSpPr>
        <p:spPr>
          <a:solidFill>
            <a:srgbClr val="FFFFFF">
              <a:alpha val="100000"/>
            </a:srgbClr>
          </a:solidFill>
        </p:spPr>
      </p:sp>
      <p:sp>
        <p:nvSpPr>
          <p:cNvPr id="2754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7507" name="Rectangle 2"/>
          <p:cNvSpPr>
            <a:spLocks noTextEdit="1"/>
          </p:cNvSpPr>
          <p:nvPr>
            <p:ph type="sldImg"/>
          </p:nvPr>
        </p:nvSpPr>
        <p:spPr>
          <a:solidFill>
            <a:srgbClr val="FFFFFF">
              <a:alpha val="100000"/>
            </a:srgbClr>
          </a:solidFill>
        </p:spPr>
      </p:sp>
      <p:sp>
        <p:nvSpPr>
          <p:cNvPr id="2775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2"/>
            <a:r>
              <a:rPr lang="zh-CN" altLang="en-US" sz="1300" b="1" dirty="0">
                <a:ea typeface="宋体" panose="02010600030101010101" pitchFamily="2" charset="-122"/>
              </a:rPr>
              <a:t>含</a:t>
            </a:r>
            <a:r>
              <a:rPr lang="en-US" altLang="zh-CN" sz="1300" b="1" dirty="0">
                <a:ea typeface="宋体" panose="02010600030101010101" pitchFamily="2" charset="-122"/>
              </a:rPr>
              <a:t>s</a:t>
            </a:r>
            <a:r>
              <a:rPr lang="zh-CN" altLang="en-US" sz="1300" b="1" dirty="0">
                <a:ea typeface="宋体" panose="02010600030101010101" pitchFamily="2" charset="-122"/>
              </a:rPr>
              <a:t>的块是循环中所有出口结点的必经结点</a:t>
            </a:r>
            <a:endParaRPr lang="zh-CN" altLang="en-US" sz="1300" b="1" dirty="0">
              <a:ea typeface="宋体" panose="02010600030101010101" pitchFamily="2" charset="-122"/>
            </a:endParaRPr>
          </a:p>
          <a:p>
            <a:pPr lvl="3"/>
            <a:r>
              <a:rPr lang="zh-CN" altLang="en-US" b="1" dirty="0">
                <a:ea typeface="宋体" panose="02010600030101010101" pitchFamily="2" charset="-122"/>
              </a:rPr>
              <a:t>出口结点是有后继不在循环中的结点</a:t>
            </a:r>
            <a:endParaRPr lang="zh-CN" altLang="en-US" b="1" dirty="0">
              <a:ea typeface="宋体" panose="02010600030101010101" pitchFamily="2" charset="-122"/>
            </a:endParaRPr>
          </a:p>
          <a:p>
            <a:pPr lvl="3"/>
            <a:r>
              <a:rPr lang="zh-CN" altLang="en-US" b="1" dirty="0">
                <a:ea typeface="宋体" panose="02010600030101010101" pitchFamily="2" charset="-122"/>
              </a:rPr>
              <a:t>只要循环不是无限循环，则所有出口的必经结点一定会执行</a:t>
            </a:r>
            <a:endParaRPr lang="zh-CN" altLang="en-US" b="1"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79555" name="Rectangle 2"/>
          <p:cNvSpPr>
            <a:spLocks noTextEdit="1"/>
          </p:cNvSpPr>
          <p:nvPr>
            <p:ph type="sldImg"/>
          </p:nvPr>
        </p:nvSpPr>
        <p:spPr>
          <a:solidFill>
            <a:srgbClr val="FFFFFF">
              <a:alpha val="100000"/>
            </a:srgbClr>
          </a:solidFill>
        </p:spPr>
      </p:sp>
      <p:sp>
        <p:nvSpPr>
          <p:cNvPr id="2795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2"/>
            <a:r>
              <a:rPr lang="zh-CN" altLang="en-US" sz="1300" b="1" dirty="0">
                <a:ea typeface="宋体" panose="02010600030101010101" pitchFamily="2" charset="-122"/>
              </a:rPr>
              <a:t>循环中没有其它语句对</a:t>
            </a:r>
            <a:r>
              <a:rPr lang="en-US" altLang="zh-CN" sz="1300" b="1" dirty="0">
                <a:ea typeface="宋体" panose="02010600030101010101" pitchFamily="2" charset="-122"/>
              </a:rPr>
              <a:t>x</a:t>
            </a:r>
            <a:r>
              <a:rPr lang="zh-CN" altLang="en-US" sz="1300" b="1" dirty="0">
                <a:ea typeface="宋体" panose="02010600030101010101" pitchFamily="2" charset="-122"/>
              </a:rPr>
              <a:t>定值</a:t>
            </a:r>
            <a:endParaRPr lang="zh-CN" altLang="en-US" sz="1300" b="1" dirty="0">
              <a:ea typeface="宋体" panose="02010600030101010101" pitchFamily="2" charset="-122"/>
            </a:endParaRPr>
          </a:p>
          <a:p>
            <a:pPr lvl="3"/>
            <a:r>
              <a:rPr lang="zh-CN" altLang="en-US" b="1" dirty="0">
                <a:ea typeface="宋体" panose="02010600030101010101" pitchFamily="2" charset="-122"/>
              </a:rPr>
              <a:t>如果</a:t>
            </a:r>
            <a:r>
              <a:rPr lang="en-US" altLang="zh-CN" b="1" dirty="0">
                <a:ea typeface="宋体" panose="02010600030101010101" pitchFamily="2" charset="-122"/>
              </a:rPr>
              <a:t>x</a:t>
            </a:r>
            <a:r>
              <a:rPr lang="zh-CN" altLang="en-US" b="1" dirty="0">
                <a:ea typeface="宋体" panose="02010600030101010101" pitchFamily="2" charset="-122"/>
              </a:rPr>
              <a:t>是只赋值一次的临时变量，这个条件肯定满足</a:t>
            </a:r>
            <a:endParaRPr lang="zh-CN" altLang="en-US" b="1" dirty="0">
              <a:ea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1603" name="Rectangle 2"/>
          <p:cNvSpPr>
            <a:spLocks noTextEdit="1"/>
          </p:cNvSpPr>
          <p:nvPr>
            <p:ph type="sldImg"/>
          </p:nvPr>
        </p:nvSpPr>
        <p:spPr>
          <a:solidFill>
            <a:srgbClr val="FFFFFF">
              <a:alpha val="100000"/>
            </a:srgbClr>
          </a:solidFill>
        </p:spPr>
      </p:sp>
      <p:sp>
        <p:nvSpPr>
          <p:cNvPr id="2816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2"/>
            <a:r>
              <a:rPr lang="zh-CN" altLang="en-US" sz="1300" b="1" dirty="0">
                <a:ea typeface="宋体" panose="02010600030101010101" pitchFamily="2" charset="-122"/>
              </a:rPr>
              <a:t>循环中</a:t>
            </a:r>
            <a:r>
              <a:rPr lang="en-US" altLang="zh-CN" sz="1300" b="1" dirty="0">
                <a:ea typeface="宋体" panose="02010600030101010101" pitchFamily="2" charset="-122"/>
              </a:rPr>
              <a:t>x</a:t>
            </a:r>
            <a:r>
              <a:rPr lang="zh-CN" altLang="en-US" sz="1300" b="1" dirty="0">
                <a:ea typeface="宋体" panose="02010600030101010101" pitchFamily="2" charset="-122"/>
              </a:rPr>
              <a:t>的引用仅由</a:t>
            </a:r>
            <a:r>
              <a:rPr lang="en-US" altLang="zh-CN" sz="1300" b="1" dirty="0">
                <a:ea typeface="宋体" panose="02010600030101010101" pitchFamily="2" charset="-122"/>
              </a:rPr>
              <a:t>s</a:t>
            </a:r>
            <a:r>
              <a:rPr lang="zh-CN" altLang="en-US" sz="1300" b="1" dirty="0">
                <a:ea typeface="宋体" panose="02010600030101010101" pitchFamily="2" charset="-122"/>
              </a:rPr>
              <a:t>到达</a:t>
            </a:r>
            <a:endParaRPr lang="zh-CN" altLang="en-US" sz="1300" b="1" dirty="0">
              <a:ea typeface="宋体" panose="02010600030101010101" pitchFamily="2" charset="-122"/>
            </a:endParaRPr>
          </a:p>
          <a:p>
            <a:pPr lvl="3"/>
            <a:r>
              <a:rPr lang="zh-CN" altLang="en-US" b="1" dirty="0">
                <a:ea typeface="宋体" panose="02010600030101010101" pitchFamily="2" charset="-122"/>
              </a:rPr>
              <a:t>如果</a:t>
            </a:r>
            <a:r>
              <a:rPr lang="en-US" altLang="zh-CN" b="1" dirty="0">
                <a:ea typeface="宋体" panose="02010600030101010101" pitchFamily="2" charset="-122"/>
              </a:rPr>
              <a:t>x</a:t>
            </a:r>
            <a:r>
              <a:rPr lang="zh-CN" altLang="en-US" b="1" dirty="0">
                <a:ea typeface="宋体" panose="02010600030101010101" pitchFamily="2" charset="-122"/>
              </a:rPr>
              <a:t>是临时变量，这个条件一般也满足</a:t>
            </a:r>
            <a:endParaRPr lang="zh-CN" altLang="en-US" b="1"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3651" name="Rectangle 2"/>
          <p:cNvSpPr>
            <a:spLocks noTextEdit="1"/>
          </p:cNvSpPr>
          <p:nvPr>
            <p:ph type="sldImg"/>
          </p:nvPr>
        </p:nvSpPr>
        <p:spPr>
          <a:solidFill>
            <a:srgbClr val="FFFFFF">
              <a:alpha val="100000"/>
            </a:srgbClr>
          </a:solidFill>
        </p:spPr>
      </p:sp>
      <p:sp>
        <p:nvSpPr>
          <p:cNvPr id="2836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5699" name="Rectangle 2"/>
          <p:cNvSpPr>
            <a:spLocks noTextEdit="1"/>
          </p:cNvSpPr>
          <p:nvPr>
            <p:ph type="sldImg"/>
          </p:nvPr>
        </p:nvSpPr>
        <p:spPr>
          <a:solidFill>
            <a:srgbClr val="FFFFFF">
              <a:alpha val="100000"/>
            </a:srgbClr>
          </a:solidFill>
        </p:spPr>
      </p:sp>
      <p:sp>
        <p:nvSpPr>
          <p:cNvPr id="2857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7747" name="Rectangle 2"/>
          <p:cNvSpPr>
            <a:spLocks noTextEdit="1"/>
          </p:cNvSpPr>
          <p:nvPr>
            <p:ph type="sldImg"/>
          </p:nvPr>
        </p:nvSpPr>
        <p:spPr>
          <a:solidFill>
            <a:srgbClr val="FFFFFF">
              <a:alpha val="100000"/>
            </a:srgbClr>
          </a:solidFill>
        </p:spPr>
      </p:sp>
      <p:sp>
        <p:nvSpPr>
          <p:cNvPr id="2877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979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89795" name="Rectangle 2"/>
          <p:cNvSpPr>
            <a:spLocks noTextEdit="1"/>
          </p:cNvSpPr>
          <p:nvPr>
            <p:ph type="sldImg"/>
          </p:nvPr>
        </p:nvSpPr>
        <p:spPr>
          <a:solidFill>
            <a:srgbClr val="FFFFFF">
              <a:alpha val="100000"/>
            </a:srgbClr>
          </a:solidFill>
        </p:spPr>
      </p:sp>
      <p:sp>
        <p:nvSpPr>
          <p:cNvPr id="2897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1843" name="Rectangle 2"/>
          <p:cNvSpPr>
            <a:spLocks noTextEdit="1"/>
          </p:cNvSpPr>
          <p:nvPr>
            <p:ph type="sldImg"/>
          </p:nvPr>
        </p:nvSpPr>
        <p:spPr>
          <a:solidFill>
            <a:srgbClr val="FFFFFF">
              <a:alpha val="100000"/>
            </a:srgbClr>
          </a:solidFill>
        </p:spPr>
      </p:sp>
      <p:sp>
        <p:nvSpPr>
          <p:cNvPr id="2918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9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3891" name="Rectangle 2"/>
          <p:cNvSpPr>
            <a:spLocks noTextEdit="1"/>
          </p:cNvSpPr>
          <p:nvPr>
            <p:ph type="sldImg"/>
          </p:nvPr>
        </p:nvSpPr>
        <p:spPr>
          <a:solidFill>
            <a:srgbClr val="FFFFFF">
              <a:alpha val="100000"/>
            </a:srgbClr>
          </a:solidFill>
        </p:spPr>
      </p:sp>
      <p:sp>
        <p:nvSpPr>
          <p:cNvPr id="2938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593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5939" name="Rectangle 2"/>
          <p:cNvSpPr>
            <a:spLocks noTextEdit="1"/>
          </p:cNvSpPr>
          <p:nvPr>
            <p:ph type="sldImg"/>
          </p:nvPr>
        </p:nvSpPr>
        <p:spPr>
          <a:solidFill>
            <a:srgbClr val="FFFFFF">
              <a:alpha val="100000"/>
            </a:srgbClr>
          </a:solidFill>
        </p:spPr>
      </p:sp>
      <p:sp>
        <p:nvSpPr>
          <p:cNvPr id="2959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7987" name="Rectangle 2"/>
          <p:cNvSpPr>
            <a:spLocks noTextEdit="1"/>
          </p:cNvSpPr>
          <p:nvPr>
            <p:ph type="sldImg"/>
          </p:nvPr>
        </p:nvSpPr>
        <p:spPr>
          <a:solidFill>
            <a:srgbClr val="FFFFFF">
              <a:alpha val="100000"/>
            </a:srgbClr>
          </a:solidFill>
        </p:spPr>
      </p:sp>
      <p:sp>
        <p:nvSpPr>
          <p:cNvPr id="2979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0035" name="Rectangle 2"/>
          <p:cNvSpPr>
            <a:spLocks noTextEdit="1"/>
          </p:cNvSpPr>
          <p:nvPr>
            <p:ph type="sldImg"/>
          </p:nvPr>
        </p:nvSpPr>
        <p:spPr>
          <a:solidFill>
            <a:srgbClr val="FFFFFF">
              <a:alpha val="100000"/>
            </a:srgbClr>
          </a:solidFill>
        </p:spPr>
      </p:sp>
      <p:sp>
        <p:nvSpPr>
          <p:cNvPr id="3000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2"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2083" name="Rectangle 2"/>
          <p:cNvSpPr>
            <a:spLocks noTextEdit="1"/>
          </p:cNvSpPr>
          <p:nvPr>
            <p:ph type="sldImg"/>
          </p:nvPr>
        </p:nvSpPr>
        <p:spPr>
          <a:solidFill>
            <a:srgbClr val="FFFFFF">
              <a:alpha val="100000"/>
            </a:srgbClr>
          </a:solidFill>
        </p:spPr>
      </p:sp>
      <p:sp>
        <p:nvSpPr>
          <p:cNvPr id="30208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4130"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4131" name="Rectangle 2"/>
          <p:cNvSpPr>
            <a:spLocks noTextEdit="1"/>
          </p:cNvSpPr>
          <p:nvPr>
            <p:ph type="sldImg"/>
          </p:nvPr>
        </p:nvSpPr>
        <p:spPr>
          <a:solidFill>
            <a:srgbClr val="FFFFFF">
              <a:alpha val="100000"/>
            </a:srgbClr>
          </a:solidFill>
        </p:spPr>
      </p:sp>
      <p:sp>
        <p:nvSpPr>
          <p:cNvPr id="3041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6178"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6179" name="Rectangle 2"/>
          <p:cNvSpPr>
            <a:spLocks noTextEdit="1"/>
          </p:cNvSpPr>
          <p:nvPr>
            <p:ph type="sldImg"/>
          </p:nvPr>
        </p:nvSpPr>
        <p:spPr>
          <a:solidFill>
            <a:srgbClr val="FFFFFF">
              <a:alpha val="100000"/>
            </a:srgbClr>
          </a:solidFill>
        </p:spPr>
      </p:sp>
      <p:sp>
        <p:nvSpPr>
          <p:cNvPr id="3061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08227" name="Rectangle 2"/>
          <p:cNvSpPr>
            <a:spLocks noTextEdit="1"/>
          </p:cNvSpPr>
          <p:nvPr>
            <p:ph type="sldImg"/>
          </p:nvPr>
        </p:nvSpPr>
        <p:spPr>
          <a:solidFill>
            <a:srgbClr val="FFFFFF">
              <a:alpha val="100000"/>
            </a:srgbClr>
          </a:solidFill>
        </p:spPr>
      </p:sp>
      <p:sp>
        <p:nvSpPr>
          <p:cNvPr id="3082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0275" name="Rectangle 2"/>
          <p:cNvSpPr>
            <a:spLocks noTextEdit="1"/>
          </p:cNvSpPr>
          <p:nvPr>
            <p:ph type="sldImg"/>
          </p:nvPr>
        </p:nvSpPr>
        <p:spPr>
          <a:solidFill>
            <a:srgbClr val="FFFFFF">
              <a:alpha val="100000"/>
            </a:srgbClr>
          </a:solidFill>
        </p:spPr>
      </p:sp>
      <p:sp>
        <p:nvSpPr>
          <p:cNvPr id="3102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2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2323" name="Rectangle 2"/>
          <p:cNvSpPr>
            <a:spLocks noTextEdit="1"/>
          </p:cNvSpPr>
          <p:nvPr>
            <p:ph type="sldImg"/>
          </p:nvPr>
        </p:nvSpPr>
        <p:spPr>
          <a:solidFill>
            <a:srgbClr val="FFFFFF">
              <a:alpha val="100000"/>
            </a:srgbClr>
          </a:solidFill>
        </p:spPr>
      </p:sp>
      <p:sp>
        <p:nvSpPr>
          <p:cNvPr id="3123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4371" name="Rectangle 2"/>
          <p:cNvSpPr>
            <a:spLocks noTextEdit="1"/>
          </p:cNvSpPr>
          <p:nvPr>
            <p:ph type="sldImg"/>
          </p:nvPr>
        </p:nvSpPr>
        <p:spPr>
          <a:solidFill>
            <a:srgbClr val="FFFFFF">
              <a:alpha val="100000"/>
            </a:srgbClr>
          </a:solidFill>
        </p:spPr>
      </p:sp>
      <p:sp>
        <p:nvSpPr>
          <p:cNvPr id="3143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6419" name="Rectangle 2"/>
          <p:cNvSpPr>
            <a:spLocks noTextEdit="1"/>
          </p:cNvSpPr>
          <p:nvPr>
            <p:ph type="sldImg"/>
          </p:nvPr>
        </p:nvSpPr>
        <p:spPr>
          <a:solidFill>
            <a:srgbClr val="FFFFFF">
              <a:alpha val="100000"/>
            </a:srgbClr>
          </a:solidFill>
        </p:spPr>
      </p:sp>
      <p:sp>
        <p:nvSpPr>
          <p:cNvPr id="3164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8467" name="Rectangle 2"/>
          <p:cNvSpPr>
            <a:spLocks noTextEdit="1"/>
          </p:cNvSpPr>
          <p:nvPr>
            <p:ph type="sldImg"/>
          </p:nvPr>
        </p:nvSpPr>
        <p:spPr>
          <a:solidFill>
            <a:srgbClr val="FFFFFF">
              <a:alpha val="100000"/>
            </a:srgbClr>
          </a:solidFill>
        </p:spPr>
      </p:sp>
      <p:sp>
        <p:nvSpPr>
          <p:cNvPr id="3184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0515" name="Rectangle 2"/>
          <p:cNvSpPr>
            <a:spLocks noTextEdit="1"/>
          </p:cNvSpPr>
          <p:nvPr>
            <p:ph type="sldImg"/>
          </p:nvPr>
        </p:nvSpPr>
        <p:spPr>
          <a:solidFill>
            <a:srgbClr val="FFFFFF">
              <a:alpha val="100000"/>
            </a:srgbClr>
          </a:solidFill>
        </p:spPr>
      </p:sp>
      <p:sp>
        <p:nvSpPr>
          <p:cNvPr id="3205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2563" name="Rectangle 2"/>
          <p:cNvSpPr>
            <a:spLocks noTextEdit="1"/>
          </p:cNvSpPr>
          <p:nvPr>
            <p:ph type="sldImg"/>
          </p:nvPr>
        </p:nvSpPr>
        <p:spPr>
          <a:solidFill>
            <a:srgbClr val="FFFFFF">
              <a:alpha val="100000"/>
            </a:srgbClr>
          </a:solidFill>
        </p:spPr>
      </p:sp>
      <p:sp>
        <p:nvSpPr>
          <p:cNvPr id="3225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4611" name="Rectangle 2"/>
          <p:cNvSpPr>
            <a:spLocks noTextEdit="1"/>
          </p:cNvSpPr>
          <p:nvPr>
            <p:ph type="sldImg"/>
          </p:nvPr>
        </p:nvSpPr>
        <p:spPr>
          <a:solidFill>
            <a:srgbClr val="FFFFFF">
              <a:alpha val="100000"/>
            </a:srgbClr>
          </a:solidFill>
        </p:spPr>
      </p:sp>
      <p:sp>
        <p:nvSpPr>
          <p:cNvPr id="3246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6659" name="Rectangle 2"/>
          <p:cNvSpPr>
            <a:spLocks noTextEdit="1"/>
          </p:cNvSpPr>
          <p:nvPr>
            <p:ph type="sldImg"/>
          </p:nvPr>
        </p:nvSpPr>
        <p:spPr>
          <a:solidFill>
            <a:srgbClr val="FFFFFF">
              <a:alpha val="100000"/>
            </a:srgbClr>
          </a:solidFill>
        </p:spPr>
      </p:sp>
      <p:sp>
        <p:nvSpPr>
          <p:cNvPr id="3266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28707" name="Rectangle 2"/>
          <p:cNvSpPr>
            <a:spLocks noTextEdit="1"/>
          </p:cNvSpPr>
          <p:nvPr>
            <p:ph type="sldImg"/>
          </p:nvPr>
        </p:nvSpPr>
        <p:spPr>
          <a:solidFill>
            <a:srgbClr val="FFFFFF">
              <a:alpha val="100000"/>
            </a:srgbClr>
          </a:solidFill>
        </p:spPr>
      </p:sp>
      <p:sp>
        <p:nvSpPr>
          <p:cNvPr id="3287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变量</a:t>
            </a:r>
            <a:r>
              <a:rPr lang="en-US" altLang="zh-CN" dirty="0">
                <a:ea typeface="宋体" panose="02010600030101010101" pitchFamily="2" charset="-122"/>
              </a:rPr>
              <a:t>b</a:t>
            </a:r>
            <a:r>
              <a:rPr lang="zh-CN" altLang="en-US" dirty="0">
                <a:ea typeface="宋体" panose="02010600030101010101" pitchFamily="2" charset="-122"/>
              </a:rPr>
              <a:t>在基本块内不再被使用，所以在指令</a:t>
            </a:r>
            <a:r>
              <a:rPr lang="en-US" altLang="zh-CN" dirty="0">
                <a:ea typeface="宋体" panose="02010600030101010101" pitchFamily="2" charset="-122"/>
              </a:rPr>
              <a:t>1</a:t>
            </a:r>
            <a:r>
              <a:rPr lang="zh-CN" altLang="en-US" dirty="0">
                <a:ea typeface="宋体" panose="02010600030101010101" pitchFamily="2" charset="-122"/>
              </a:rPr>
              <a:t>中复用</a:t>
            </a:r>
            <a:r>
              <a:rPr lang="en-US" altLang="zh-CN" dirty="0">
                <a:ea typeface="宋体" panose="02010600030101010101" pitchFamily="2" charset="-122"/>
              </a:rPr>
              <a:t>R2</a:t>
            </a:r>
            <a:r>
              <a:rPr lang="zh-CN" altLang="en-US" dirty="0">
                <a:ea typeface="宋体" panose="02010600030101010101" pitchFamily="2" charset="-122"/>
              </a:rPr>
              <a:t>来保存临时变量</a:t>
            </a:r>
            <a:r>
              <a:rPr lang="en-US" altLang="zh-CN" dirty="0">
                <a:ea typeface="宋体" panose="02010600030101010101" pitchFamily="2" charset="-122"/>
              </a:rPr>
              <a:t>t</a:t>
            </a:r>
            <a:r>
              <a:rPr lang="zh-CN" altLang="en-US" dirty="0">
                <a:ea typeface="宋体" panose="02010600030101010101" pitchFamily="2" charset="-122"/>
              </a:rPr>
              <a:t>的值</a:t>
            </a:r>
            <a:endParaRPr lang="zh-CN" altLang="en-US" dirty="0">
              <a:ea typeface="宋体" panose="02010600030101010101" pitchFamily="2" charset="-122"/>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0755" name="Rectangle 2"/>
          <p:cNvSpPr>
            <a:spLocks noTextEdit="1"/>
          </p:cNvSpPr>
          <p:nvPr>
            <p:ph type="sldImg"/>
          </p:nvPr>
        </p:nvSpPr>
        <p:spPr>
          <a:solidFill>
            <a:srgbClr val="FFFFFF">
              <a:alpha val="100000"/>
            </a:srgbClr>
          </a:solidFill>
        </p:spPr>
      </p:sp>
      <p:sp>
        <p:nvSpPr>
          <p:cNvPr id="3307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2803" name="Rectangle 2"/>
          <p:cNvSpPr>
            <a:spLocks noTextEdit="1"/>
          </p:cNvSpPr>
          <p:nvPr>
            <p:ph type="sldImg"/>
          </p:nvPr>
        </p:nvSpPr>
        <p:spPr>
          <a:solidFill>
            <a:srgbClr val="FFFFFF">
              <a:alpha val="100000"/>
            </a:srgbClr>
          </a:solidFill>
        </p:spPr>
      </p:sp>
      <p:sp>
        <p:nvSpPr>
          <p:cNvPr id="3328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4851" name="Rectangle 2"/>
          <p:cNvSpPr>
            <a:spLocks noTextEdit="1"/>
          </p:cNvSpPr>
          <p:nvPr>
            <p:ph type="sldImg"/>
          </p:nvPr>
        </p:nvSpPr>
        <p:spPr>
          <a:solidFill>
            <a:srgbClr val="FFFFFF">
              <a:alpha val="100000"/>
            </a:srgbClr>
          </a:solidFill>
        </p:spPr>
      </p:sp>
      <p:sp>
        <p:nvSpPr>
          <p:cNvPr id="3348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6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6899" name="Rectangle 2"/>
          <p:cNvSpPr>
            <a:spLocks noTextEdit="1"/>
          </p:cNvSpPr>
          <p:nvPr>
            <p:ph type="sldImg"/>
          </p:nvPr>
        </p:nvSpPr>
        <p:spPr/>
      </p:sp>
      <p:sp>
        <p:nvSpPr>
          <p:cNvPr id="3369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8947" name="Rectangle 2"/>
          <p:cNvSpPr>
            <a:spLocks noTextEdit="1"/>
          </p:cNvSpPr>
          <p:nvPr>
            <p:ph type="sldImg"/>
          </p:nvPr>
        </p:nvSpPr>
        <p:spPr/>
      </p:sp>
      <p:sp>
        <p:nvSpPr>
          <p:cNvPr id="3389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0995" name="Rectangle 2"/>
          <p:cNvSpPr>
            <a:spLocks noTextEdit="1"/>
          </p:cNvSpPr>
          <p:nvPr>
            <p:ph type="sldImg"/>
          </p:nvPr>
        </p:nvSpPr>
        <p:spPr/>
      </p:sp>
      <p:sp>
        <p:nvSpPr>
          <p:cNvPr id="3409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3043" name="Rectangle 2"/>
          <p:cNvSpPr>
            <a:spLocks noTextEdit="1"/>
          </p:cNvSpPr>
          <p:nvPr>
            <p:ph type="sldImg"/>
          </p:nvPr>
        </p:nvSpPr>
        <p:spPr/>
      </p:sp>
      <p:sp>
        <p:nvSpPr>
          <p:cNvPr id="3430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5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5091" name="Rectangle 2"/>
          <p:cNvSpPr>
            <a:spLocks noTextEdit="1"/>
          </p:cNvSpPr>
          <p:nvPr>
            <p:ph type="sldImg"/>
          </p:nvPr>
        </p:nvSpPr>
        <p:spPr/>
      </p:sp>
      <p:sp>
        <p:nvSpPr>
          <p:cNvPr id="3450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7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7139" name="Rectangle 2"/>
          <p:cNvSpPr>
            <a:spLocks noTextEdit="1"/>
          </p:cNvSpPr>
          <p:nvPr>
            <p:ph type="sldImg"/>
          </p:nvPr>
        </p:nvSpPr>
        <p:spPr/>
      </p:sp>
      <p:sp>
        <p:nvSpPr>
          <p:cNvPr id="3471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91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49187" name="Rectangle 2"/>
          <p:cNvSpPr>
            <a:spLocks noTextEdit="1"/>
          </p:cNvSpPr>
          <p:nvPr>
            <p:ph type="sldImg"/>
          </p:nvPr>
        </p:nvSpPr>
        <p:spPr/>
      </p:sp>
      <p:sp>
        <p:nvSpPr>
          <p:cNvPr id="3491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1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1235" name="Rectangle 2"/>
          <p:cNvSpPr>
            <a:spLocks noTextEdit="1"/>
          </p:cNvSpPr>
          <p:nvPr>
            <p:ph type="sldImg"/>
          </p:nvPr>
        </p:nvSpPr>
        <p:spPr>
          <a:solidFill>
            <a:srgbClr val="FFFFFF">
              <a:alpha val="100000"/>
            </a:srgbClr>
          </a:solidFill>
        </p:spPr>
      </p:sp>
      <p:sp>
        <p:nvSpPr>
          <p:cNvPr id="3512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32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3283" name="Rectangle 2"/>
          <p:cNvSpPr>
            <a:spLocks noTextEdit="1"/>
          </p:cNvSpPr>
          <p:nvPr>
            <p:ph type="sldImg"/>
          </p:nvPr>
        </p:nvSpPr>
        <p:spPr>
          <a:solidFill>
            <a:srgbClr val="FFFFFF">
              <a:alpha val="100000"/>
            </a:srgbClr>
          </a:solidFill>
        </p:spPr>
      </p:sp>
      <p:sp>
        <p:nvSpPr>
          <p:cNvPr id="353284"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5331" name="Rectangle 2"/>
          <p:cNvSpPr>
            <a:spLocks noTextEdit="1"/>
          </p:cNvSpPr>
          <p:nvPr>
            <p:ph type="sldImg"/>
          </p:nvPr>
        </p:nvSpPr>
        <p:spPr>
          <a:solidFill>
            <a:srgbClr val="FFFFFF">
              <a:alpha val="100000"/>
            </a:srgbClr>
          </a:solidFill>
        </p:spPr>
      </p:sp>
      <p:sp>
        <p:nvSpPr>
          <p:cNvPr id="355332"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7379" name="Rectangle 2"/>
          <p:cNvSpPr>
            <a:spLocks noTextEdit="1"/>
          </p:cNvSpPr>
          <p:nvPr>
            <p:ph type="sldImg"/>
          </p:nvPr>
        </p:nvSpPr>
        <p:spPr>
          <a:solidFill>
            <a:srgbClr val="FFFFFF">
              <a:alpha val="100000"/>
            </a:srgbClr>
          </a:solidFill>
        </p:spPr>
      </p:sp>
      <p:sp>
        <p:nvSpPr>
          <p:cNvPr id="357380"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9427" name="Rectangle 2"/>
          <p:cNvSpPr>
            <a:spLocks noTextEdit="1"/>
          </p:cNvSpPr>
          <p:nvPr>
            <p:ph type="sldImg"/>
          </p:nvPr>
        </p:nvSpPr>
        <p:spPr>
          <a:solidFill>
            <a:srgbClr val="FFFFFF">
              <a:alpha val="100000"/>
            </a:srgbClr>
          </a:solidFill>
        </p:spPr>
      </p:sp>
      <p:sp>
        <p:nvSpPr>
          <p:cNvPr id="359428"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14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1475" name="Rectangle 2"/>
          <p:cNvSpPr>
            <a:spLocks noTextEdit="1"/>
          </p:cNvSpPr>
          <p:nvPr>
            <p:ph type="sldImg"/>
          </p:nvPr>
        </p:nvSpPr>
        <p:spPr>
          <a:solidFill>
            <a:srgbClr val="FFFFFF">
              <a:alpha val="100000"/>
            </a:srgbClr>
          </a:solidFill>
        </p:spPr>
      </p:sp>
      <p:sp>
        <p:nvSpPr>
          <p:cNvPr id="361476"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3523" name="Rectangle 2"/>
          <p:cNvSpPr>
            <a:spLocks noTextEdit="1"/>
          </p:cNvSpPr>
          <p:nvPr>
            <p:ph type="sldImg"/>
          </p:nvPr>
        </p:nvSpPr>
        <p:spPr>
          <a:solidFill>
            <a:srgbClr val="FFFFFF">
              <a:alpha val="100000"/>
            </a:srgbClr>
          </a:solidFill>
        </p:spPr>
      </p:sp>
      <p:sp>
        <p:nvSpPr>
          <p:cNvPr id="363524"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5571" name="Rectangle 2"/>
          <p:cNvSpPr>
            <a:spLocks noTextEdit="1"/>
          </p:cNvSpPr>
          <p:nvPr>
            <p:ph type="sldImg"/>
          </p:nvPr>
        </p:nvSpPr>
        <p:spPr>
          <a:solidFill>
            <a:srgbClr val="FFFFFF">
              <a:alpha val="100000"/>
            </a:srgbClr>
          </a:solidFill>
        </p:spPr>
      </p:sp>
      <p:sp>
        <p:nvSpPr>
          <p:cNvPr id="365572"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7619" name="Rectangle 2"/>
          <p:cNvSpPr>
            <a:spLocks noTextEdit="1"/>
          </p:cNvSpPr>
          <p:nvPr>
            <p:ph type="sldImg"/>
          </p:nvPr>
        </p:nvSpPr>
        <p:spPr>
          <a:solidFill>
            <a:srgbClr val="FFFFFF">
              <a:alpha val="100000"/>
            </a:srgbClr>
          </a:solidFill>
        </p:spPr>
      </p:sp>
      <p:sp>
        <p:nvSpPr>
          <p:cNvPr id="367620"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96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69667" name="Rectangle 2"/>
          <p:cNvSpPr>
            <a:spLocks noTextEdit="1"/>
          </p:cNvSpPr>
          <p:nvPr>
            <p:ph type="sldImg"/>
          </p:nvPr>
        </p:nvSpPr>
        <p:spPr/>
      </p:sp>
      <p:sp>
        <p:nvSpPr>
          <p:cNvPr id="3696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1715" name="Rectangle 2"/>
          <p:cNvSpPr>
            <a:spLocks noTextEdit="1"/>
          </p:cNvSpPr>
          <p:nvPr>
            <p:ph type="sldImg"/>
          </p:nvPr>
        </p:nvSpPr>
        <p:spPr>
          <a:solidFill>
            <a:srgbClr val="FFFFFF">
              <a:alpha val="100000"/>
            </a:srgbClr>
          </a:solidFill>
        </p:spPr>
      </p:sp>
      <p:sp>
        <p:nvSpPr>
          <p:cNvPr id="371716"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GB" dirty="0">
                <a:latin typeface="黑体" panose="02010609060101010101" pitchFamily="49" charset="-122"/>
                <a:ea typeface="黑体" panose="02010609060101010101" pitchFamily="49" charset="-122"/>
              </a:rPr>
              <a:t>当前占统治地位的寄存器分配方法是图着色方法</a:t>
            </a:r>
            <a:r>
              <a:rPr lang="en-GB" altLang="zh-CN" dirty="0">
                <a:latin typeface="黑体" panose="02010609060101010101" pitchFamily="49" charset="-122"/>
                <a:ea typeface="黑体" panose="02010609060101010101" pitchFamily="49" charset="-122"/>
              </a:rPr>
              <a:t>，</a:t>
            </a:r>
            <a:r>
              <a:rPr lang="zh-CN" altLang="en-GB" dirty="0">
                <a:latin typeface="黑体" panose="02010609060101010101" pitchFamily="49" charset="-122"/>
                <a:ea typeface="黑体" panose="02010609060101010101" pitchFamily="49" charset="-122"/>
              </a:rPr>
              <a:t>其想法是将寄存器分配归结为用给定数目的颜色为图着色的问题</a:t>
            </a:r>
            <a:r>
              <a:rPr lang="zh-CN" altLang="en-US" dirty="0">
                <a:ea typeface="黑体" panose="02010609060101010101" pitchFamily="49" charset="-122"/>
              </a:rPr>
              <a:t>。</a:t>
            </a:r>
            <a:endParaRPr lang="zh-CN" altLang="en-US" dirty="0">
              <a:ea typeface="黑体" panose="02010609060101010101" pitchFamily="49" charset="-122"/>
            </a:endParaRPr>
          </a:p>
          <a:p>
            <a:pPr lvl="0"/>
            <a:r>
              <a:rPr lang="zh-CN" altLang="en-GB" dirty="0">
                <a:latin typeface="黑体" panose="02010609060101010101" pitchFamily="49" charset="-122"/>
                <a:ea typeface="黑体" panose="02010609060101010101" pitchFamily="49" charset="-122"/>
              </a:rPr>
              <a:t>图的</a:t>
            </a:r>
            <a:r>
              <a:rPr lang="en-GB" altLang="zh-CN" dirty="0">
                <a:latin typeface="黑体" panose="02010609060101010101" pitchFamily="49" charset="-122"/>
                <a:ea typeface="黑体" panose="02010609060101010101" pitchFamily="49" charset="-122"/>
              </a:rPr>
              <a:t>k</a:t>
            </a:r>
            <a:r>
              <a:rPr lang="zh-CN" altLang="en-GB" dirty="0">
                <a:latin typeface="黑体" panose="02010609060101010101" pitchFamily="49" charset="-122"/>
                <a:ea typeface="黑体" panose="02010609060101010101" pitchFamily="49" charset="-122"/>
              </a:rPr>
              <a:t>着色</a:t>
            </a:r>
            <a:r>
              <a:rPr lang="zh-CN" altLang="en-US" dirty="0">
                <a:latin typeface="黑体" panose="02010609060101010101" pitchFamily="49" charset="-122"/>
                <a:ea typeface="黑体" panose="02010609060101010101" pitchFamily="49" charset="-122"/>
              </a:rPr>
              <a:t>问题是指对于一个给定的图和给定数目为</a:t>
            </a:r>
            <a:r>
              <a:rPr lang="en-US" altLang="zh-CN" dirty="0">
                <a:latin typeface="黑体" panose="02010609060101010101" pitchFamily="49" charset="-122"/>
                <a:ea typeface="黑体" panose="02010609060101010101" pitchFamily="49" charset="-122"/>
              </a:rPr>
              <a:t>k</a:t>
            </a:r>
            <a:r>
              <a:rPr lang="zh-CN" altLang="en-US" dirty="0">
                <a:latin typeface="黑体" panose="02010609060101010101" pitchFamily="49" charset="-122"/>
                <a:ea typeface="黑体" panose="02010609060101010101" pitchFamily="49" charset="-122"/>
              </a:rPr>
              <a:t>的颜色，找到一种着色方法，使得任意两个相邻的节点（有边相连）有不同的颜色。</a:t>
            </a:r>
            <a:r>
              <a:rPr lang="zh-CN" altLang="en-US" dirty="0">
                <a:ea typeface="黑体" panose="02010609060101010101" pitchFamily="49" charset="-122"/>
              </a:rPr>
              <a:t> </a:t>
            </a:r>
            <a:endParaRPr lang="zh-CN" altLang="en-US" dirty="0">
              <a:latin typeface="黑体" panose="02010609060101010101" pitchFamily="49" charset="-122"/>
              <a:ea typeface="黑体" panose="02010609060101010101" pitchFamily="49" charset="-122"/>
            </a:endParaRPr>
          </a:p>
          <a:p>
            <a:pPr lvl="0"/>
            <a:endParaRPr lang="zh-CN" altLang="en-US" dirty="0">
              <a:ea typeface="黑体" panose="02010609060101010101" pitchFamily="49" charset="-122"/>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3763" name="Rectangle 2"/>
          <p:cNvSpPr>
            <a:spLocks noTextEdit="1"/>
          </p:cNvSpPr>
          <p:nvPr>
            <p:ph type="sldImg"/>
          </p:nvPr>
        </p:nvSpPr>
        <p:spPr/>
      </p:sp>
      <p:sp>
        <p:nvSpPr>
          <p:cNvPr id="3737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5811" name="Rectangle 2"/>
          <p:cNvSpPr>
            <a:spLocks noTextEdit="1"/>
          </p:cNvSpPr>
          <p:nvPr>
            <p:ph type="sldImg"/>
          </p:nvPr>
        </p:nvSpPr>
        <p:spPr/>
      </p:sp>
      <p:sp>
        <p:nvSpPr>
          <p:cNvPr id="3758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7859" name="Rectangle 2"/>
          <p:cNvSpPr>
            <a:spLocks noTextEdit="1"/>
          </p:cNvSpPr>
          <p:nvPr>
            <p:ph type="sldImg"/>
          </p:nvPr>
        </p:nvSpPr>
        <p:spPr/>
      </p:sp>
      <p:sp>
        <p:nvSpPr>
          <p:cNvPr id="3778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9907" name="Rectangle 2"/>
          <p:cNvSpPr>
            <a:spLocks noTextEdit="1"/>
          </p:cNvSpPr>
          <p:nvPr>
            <p:ph type="sldImg"/>
          </p:nvPr>
        </p:nvSpPr>
        <p:spPr>
          <a:solidFill>
            <a:srgbClr val="FFFFFF">
              <a:alpha val="100000"/>
            </a:srgbClr>
          </a:solidFill>
        </p:spPr>
      </p:sp>
      <p:sp>
        <p:nvSpPr>
          <p:cNvPr id="379908"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latin typeface="黑体" panose="02010609060101010101" pitchFamily="49" charset="-122"/>
                <a:ea typeface="黑体" panose="02010609060101010101" pitchFamily="49" charset="-122"/>
              </a:rPr>
              <a:t>例4.2中的(</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表示例4.1中</a:t>
            </a:r>
            <a:r>
              <a:rPr lang="en-US" altLang="zh-CN" dirty="0">
                <a:latin typeface="黑体" panose="02010609060101010101" pitchFamily="49" charset="-122"/>
                <a:ea typeface="黑体" panose="02010609060101010101" pitchFamily="49" charset="-122"/>
              </a:rPr>
              <a:t>a，b，c，d</a:t>
            </a:r>
            <a:r>
              <a:rPr lang="zh-CN" altLang="en-US" dirty="0">
                <a:latin typeface="黑体" panose="02010609060101010101" pitchFamily="49" charset="-122"/>
                <a:ea typeface="黑体" panose="02010609060101010101" pitchFamily="49" charset="-122"/>
              </a:rPr>
              <a:t>四个变量之间的干涉关系，要对这个图进行着色，至少需要４种颜色，即这个图是可4</a:t>
            </a:r>
            <a:r>
              <a:rPr lang="zh-CN" altLang="en-US" dirty="0">
                <a:latin typeface="Arial" panose="020B060402020202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着色的。经过重命名以后，</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被分裂成</a:t>
            </a:r>
            <a:r>
              <a:rPr lang="en-US" altLang="zh-CN" dirty="0">
                <a:latin typeface="黑体" panose="02010609060101010101" pitchFamily="49" charset="-122"/>
                <a:ea typeface="黑体" panose="02010609060101010101" pitchFamily="49" charset="-122"/>
              </a:rPr>
              <a:t>a1</a:t>
            </a:r>
            <a:r>
              <a:rPr lang="zh-CN" altLang="en-US" dirty="0">
                <a:latin typeface="黑体" panose="02010609060101010101" pitchFamily="49" charset="-122"/>
                <a:ea typeface="黑体" panose="02010609060101010101" pitchFamily="49" charset="-122"/>
              </a:rPr>
              <a:t>和</a:t>
            </a:r>
            <a:r>
              <a:rPr lang="en-US" altLang="zh-CN" dirty="0">
                <a:latin typeface="黑体" panose="02010609060101010101" pitchFamily="49" charset="-122"/>
                <a:ea typeface="黑体" panose="02010609060101010101" pitchFamily="49" charset="-122"/>
              </a:rPr>
              <a:t>a2</a:t>
            </a:r>
            <a:r>
              <a:rPr lang="zh-CN" altLang="en-US" dirty="0">
                <a:latin typeface="黑体" panose="02010609060101010101" pitchFamily="49" charset="-122"/>
                <a:ea typeface="黑体" panose="02010609060101010101" pitchFamily="49" charset="-122"/>
              </a:rPr>
              <a:t>两个变量，源程序被变换成如例4.2中的(</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变换后的程序中，</a:t>
            </a:r>
            <a:r>
              <a:rPr lang="en-US" altLang="zh-CN" dirty="0">
                <a:latin typeface="黑体" panose="02010609060101010101" pitchFamily="49" charset="-122"/>
                <a:ea typeface="黑体" panose="02010609060101010101" pitchFamily="49" charset="-122"/>
              </a:rPr>
              <a:t>a1，a2，b，c，d</a:t>
            </a:r>
            <a:r>
              <a:rPr lang="zh-CN" altLang="en-US" dirty="0">
                <a:latin typeface="黑体" panose="02010609060101010101" pitchFamily="49" charset="-122"/>
                <a:ea typeface="黑体" panose="02010609060101010101" pitchFamily="49" charset="-122"/>
              </a:rPr>
              <a:t>之间的干涉关系如例4.2中的(</a:t>
            </a:r>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所示，这个图是可3</a:t>
            </a:r>
            <a:r>
              <a:rPr lang="zh-CN" altLang="en-US" dirty="0">
                <a:latin typeface="Arial" panose="020B0604020202020204" pitchFamily="34"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着色的。</a:t>
            </a:r>
            <a:endParaRPr lang="zh-CN" altLang="en-US" dirty="0">
              <a:latin typeface="黑体" panose="02010609060101010101" pitchFamily="49" charset="-122"/>
              <a:ea typeface="黑体" panose="02010609060101010101" pitchFamily="49" charset="-122"/>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1955" name="Rectangle 2"/>
          <p:cNvSpPr>
            <a:spLocks noTextEdit="1"/>
          </p:cNvSpPr>
          <p:nvPr>
            <p:ph type="sldImg"/>
          </p:nvPr>
        </p:nvSpPr>
        <p:spPr/>
      </p:sp>
      <p:sp>
        <p:nvSpPr>
          <p:cNvPr id="3819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40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4003" name="Rectangle 2"/>
          <p:cNvSpPr>
            <a:spLocks noTextEdit="1"/>
          </p:cNvSpPr>
          <p:nvPr>
            <p:ph type="sldImg"/>
          </p:nvPr>
        </p:nvSpPr>
        <p:spPr/>
      </p:sp>
      <p:sp>
        <p:nvSpPr>
          <p:cNvPr id="3840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60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6051" name="Rectangle 2"/>
          <p:cNvSpPr>
            <a:spLocks noTextEdit="1"/>
          </p:cNvSpPr>
          <p:nvPr>
            <p:ph type="sldImg"/>
          </p:nvPr>
        </p:nvSpPr>
        <p:spPr/>
      </p:sp>
      <p:sp>
        <p:nvSpPr>
          <p:cNvPr id="3860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80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88099" name="Rectangle 2"/>
          <p:cNvSpPr>
            <a:spLocks noTextEdit="1"/>
          </p:cNvSpPr>
          <p:nvPr>
            <p:ph type="sldImg"/>
          </p:nvPr>
        </p:nvSpPr>
        <p:spPr>
          <a:solidFill>
            <a:srgbClr val="FFFFFF">
              <a:alpha val="100000"/>
            </a:srgbClr>
          </a:solidFill>
        </p:spPr>
      </p:sp>
      <p:sp>
        <p:nvSpPr>
          <p:cNvPr id="3881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01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0147" name="Rectangle 2"/>
          <p:cNvSpPr>
            <a:spLocks noTextEdit="1"/>
          </p:cNvSpPr>
          <p:nvPr>
            <p:ph type="sldImg"/>
          </p:nvPr>
        </p:nvSpPr>
        <p:spPr/>
      </p:sp>
      <p:sp>
        <p:nvSpPr>
          <p:cNvPr id="3901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21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2195" name="Rectangle 2"/>
          <p:cNvSpPr>
            <a:spLocks noTextEdit="1"/>
          </p:cNvSpPr>
          <p:nvPr>
            <p:ph type="sldImg"/>
          </p:nvPr>
        </p:nvSpPr>
        <p:spPr/>
      </p:sp>
      <p:sp>
        <p:nvSpPr>
          <p:cNvPr id="3921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4243" name="Rectangle 2"/>
          <p:cNvSpPr>
            <a:spLocks noTextEdit="1"/>
          </p:cNvSpPr>
          <p:nvPr>
            <p:ph type="sldImg"/>
          </p:nvPr>
        </p:nvSpPr>
        <p:spPr/>
      </p:sp>
      <p:sp>
        <p:nvSpPr>
          <p:cNvPr id="3942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62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6291" name="Rectangle 2"/>
          <p:cNvSpPr>
            <a:spLocks noTextEdit="1"/>
          </p:cNvSpPr>
          <p:nvPr>
            <p:ph type="sldImg"/>
          </p:nvPr>
        </p:nvSpPr>
        <p:spPr/>
      </p:sp>
      <p:sp>
        <p:nvSpPr>
          <p:cNvPr id="3962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63" name="Rectangle 2"/>
          <p:cNvSpPr>
            <a:spLocks noTextEdit="1"/>
          </p:cNvSpPr>
          <p:nvPr>
            <p:ph type="sldImg"/>
          </p:nvPr>
        </p:nvSpPr>
        <p:spPr/>
      </p:sp>
      <p:sp>
        <p:nvSpPr>
          <p:cNvPr id="3993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1411" name="Rectangle 2"/>
          <p:cNvSpPr>
            <a:spLocks noTextEdit="1"/>
          </p:cNvSpPr>
          <p:nvPr>
            <p:ph type="sldImg"/>
          </p:nvPr>
        </p:nvSpPr>
        <p:spPr/>
      </p:sp>
      <p:sp>
        <p:nvSpPr>
          <p:cNvPr id="4014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3459" name="Rectangle 2"/>
          <p:cNvSpPr>
            <a:spLocks noTextEdit="1"/>
          </p:cNvSpPr>
          <p:nvPr>
            <p:ph type="sldImg"/>
          </p:nvPr>
        </p:nvSpPr>
        <p:spPr/>
      </p:sp>
      <p:sp>
        <p:nvSpPr>
          <p:cNvPr id="4034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5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5507" name="Rectangle 2"/>
          <p:cNvSpPr>
            <a:spLocks noTextEdit="1"/>
          </p:cNvSpPr>
          <p:nvPr>
            <p:ph type="sldImg"/>
          </p:nvPr>
        </p:nvSpPr>
        <p:spPr/>
      </p:sp>
      <p:sp>
        <p:nvSpPr>
          <p:cNvPr id="4055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7555" name="Rectangle 2"/>
          <p:cNvSpPr>
            <a:spLocks noTextEdit="1"/>
          </p:cNvSpPr>
          <p:nvPr>
            <p:ph type="sldImg"/>
          </p:nvPr>
        </p:nvSpPr>
        <p:spPr/>
      </p:sp>
      <p:sp>
        <p:nvSpPr>
          <p:cNvPr id="4075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09603" name="Rectangle 2"/>
          <p:cNvSpPr>
            <a:spLocks noTextEdit="1"/>
          </p:cNvSpPr>
          <p:nvPr>
            <p:ph type="sldImg"/>
          </p:nvPr>
        </p:nvSpPr>
        <p:spPr/>
      </p:sp>
      <p:sp>
        <p:nvSpPr>
          <p:cNvPr id="4096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1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1651" name="Rectangle 2"/>
          <p:cNvSpPr>
            <a:spLocks noTextEdit="1"/>
          </p:cNvSpPr>
          <p:nvPr>
            <p:ph type="sldImg"/>
          </p:nvPr>
        </p:nvSpPr>
        <p:spPr/>
      </p:sp>
      <p:sp>
        <p:nvSpPr>
          <p:cNvPr id="41165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3699" name="Rectangle 2"/>
          <p:cNvSpPr>
            <a:spLocks noTextEdit="1"/>
          </p:cNvSpPr>
          <p:nvPr>
            <p:ph type="sldImg"/>
          </p:nvPr>
        </p:nvSpPr>
        <p:spPr/>
      </p:sp>
      <p:sp>
        <p:nvSpPr>
          <p:cNvPr id="4137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5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5747" name="Rectangle 2"/>
          <p:cNvSpPr>
            <a:spLocks noTextEdit="1"/>
          </p:cNvSpPr>
          <p:nvPr>
            <p:ph type="sldImg"/>
          </p:nvPr>
        </p:nvSpPr>
        <p:spPr/>
      </p:sp>
      <p:sp>
        <p:nvSpPr>
          <p:cNvPr id="4157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7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7795" name="Rectangle 2"/>
          <p:cNvSpPr>
            <a:spLocks noTextEdit="1"/>
          </p:cNvSpPr>
          <p:nvPr>
            <p:ph type="sldImg"/>
          </p:nvPr>
        </p:nvSpPr>
        <p:spPr/>
      </p:sp>
      <p:sp>
        <p:nvSpPr>
          <p:cNvPr id="4177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43" name="Rectangle 2"/>
          <p:cNvSpPr>
            <a:spLocks noTextEdit="1"/>
          </p:cNvSpPr>
          <p:nvPr>
            <p:ph type="sldImg"/>
          </p:nvPr>
        </p:nvSpPr>
        <p:spPr/>
      </p:sp>
      <p:sp>
        <p:nvSpPr>
          <p:cNvPr id="4198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21891" name="Rectangle 2"/>
          <p:cNvSpPr>
            <a:spLocks noTextEdit="1"/>
          </p:cNvSpPr>
          <p:nvPr>
            <p:ph type="sldImg"/>
          </p:nvPr>
        </p:nvSpPr>
        <p:spPr/>
      </p:sp>
      <p:sp>
        <p:nvSpPr>
          <p:cNvPr id="4218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23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23939" name="Rectangle 2"/>
          <p:cNvSpPr>
            <a:spLocks noTextEdit="1"/>
          </p:cNvSpPr>
          <p:nvPr>
            <p:ph type="sldImg"/>
          </p:nvPr>
        </p:nvSpPr>
        <p:spPr/>
      </p:sp>
      <p:sp>
        <p:nvSpPr>
          <p:cNvPr id="42394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串</a:t>
            </a:r>
            <a:r>
              <a:rPr lang="en-US" altLang="zh-CN" dirty="0">
                <a:ea typeface="宋体" panose="02010600030101010101" pitchFamily="2" charset="-122"/>
              </a:rPr>
              <a:t>C</a:t>
            </a:r>
            <a:r>
              <a:rPr lang="zh-CN" altLang="en-US" dirty="0">
                <a:ea typeface="宋体" panose="02010600030101010101" pitchFamily="2" charset="-122"/>
              </a:rPr>
              <a:t>表示以</a:t>
            </a:r>
            <a:r>
              <a:rPr lang="en-US" altLang="zh-CN" dirty="0">
                <a:ea typeface="宋体" panose="02010600030101010101" pitchFamily="2" charset="-122"/>
              </a:rPr>
              <a:t>C</a:t>
            </a:r>
            <a:r>
              <a:rPr lang="zh-CN" altLang="en-US" dirty="0">
                <a:ea typeface="宋体" panose="02010600030101010101" pitchFamily="2" charset="-122"/>
              </a:rPr>
              <a:t>为根的模板</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串</a:t>
            </a:r>
            <a:r>
              <a:rPr lang="en-US" altLang="zh-CN" dirty="0">
                <a:ea typeface="宋体" panose="02010600030101010101" pitchFamily="2" charset="-122"/>
              </a:rPr>
              <a:t>+1</a:t>
            </a:r>
            <a:r>
              <a:rPr lang="zh-CN" altLang="en-US" dirty="0">
                <a:ea typeface="宋体" panose="02010600030101010101" pitchFamily="2" charset="-122"/>
              </a:rPr>
              <a:t> </a:t>
            </a:r>
            <a:r>
              <a:rPr lang="en-US" altLang="zh-CN" dirty="0">
                <a:ea typeface="宋体" panose="02010600030101010101" pitchFamily="2" charset="-122"/>
              </a:rPr>
              <a:t>R</a:t>
            </a:r>
            <a:r>
              <a:rPr lang="zh-CN" altLang="en-US" dirty="0">
                <a:ea typeface="宋体" panose="02010600030101010101" pitchFamily="2" charset="-122"/>
              </a:rPr>
              <a:t>表示以</a:t>
            </a:r>
            <a:r>
              <a:rPr lang="en-US" altLang="zh-CN" dirty="0">
                <a:ea typeface="宋体" panose="02010600030101010101" pitchFamily="2" charset="-122"/>
              </a:rPr>
              <a:t>+</a:t>
            </a:r>
            <a:r>
              <a:rPr lang="zh-CN" altLang="en-US" dirty="0">
                <a:ea typeface="宋体" panose="02010600030101010101" pitchFamily="2" charset="-122"/>
              </a:rPr>
              <a:t>为根的两个模板中的</a:t>
            </a:r>
            <a:r>
              <a:rPr lang="en-US" altLang="zh-CN" dirty="0">
                <a:ea typeface="宋体" panose="02010600030101010101" pitchFamily="2" charset="-122"/>
              </a:rPr>
              <a:t>+</a:t>
            </a:r>
            <a:r>
              <a:rPr lang="zh-CN" altLang="en-US" dirty="0">
                <a:ea typeface="宋体" panose="02010600030101010101" pitchFamily="2" charset="-122"/>
              </a:rPr>
              <a:t>号和它的左运算分量</a:t>
            </a:r>
            <a:r>
              <a:rPr lang="en-US" altLang="zh-CN" dirty="0">
                <a:ea typeface="宋体" panose="02010600030101010101" pitchFamily="2" charset="-122"/>
              </a:rPr>
              <a:t>R</a:t>
            </a:r>
            <a:endParaRPr lang="zh-CN" altLang="en-US" dirty="0">
              <a:ea typeface="宋体" panose="02010600030101010101" pitchFamily="2" charset="-122"/>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25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25987" name="Rectangle 2"/>
          <p:cNvSpPr>
            <a:spLocks noTextEdit="1"/>
          </p:cNvSpPr>
          <p:nvPr>
            <p:ph type="sldImg"/>
          </p:nvPr>
        </p:nvSpPr>
        <p:spPr/>
      </p:sp>
      <p:sp>
        <p:nvSpPr>
          <p:cNvPr id="4259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28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28035" name="Rectangle 2"/>
          <p:cNvSpPr>
            <a:spLocks noTextEdit="1"/>
          </p:cNvSpPr>
          <p:nvPr>
            <p:ph type="sldImg"/>
          </p:nvPr>
        </p:nvSpPr>
        <p:spPr>
          <a:solidFill>
            <a:srgbClr val="FFFFFF">
              <a:alpha val="100000"/>
            </a:srgbClr>
          </a:solidFill>
        </p:spPr>
      </p:sp>
      <p:sp>
        <p:nvSpPr>
          <p:cNvPr id="4280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0083" name="Rectangle 2"/>
          <p:cNvSpPr>
            <a:spLocks noTextEdit="1"/>
          </p:cNvSpPr>
          <p:nvPr>
            <p:ph type="sldImg"/>
          </p:nvPr>
        </p:nvSpPr>
        <p:spPr/>
      </p:sp>
      <p:sp>
        <p:nvSpPr>
          <p:cNvPr id="4300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2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2131" name="Rectangle 2"/>
          <p:cNvSpPr>
            <a:spLocks noTextEdit="1"/>
          </p:cNvSpPr>
          <p:nvPr>
            <p:ph type="sldImg"/>
          </p:nvPr>
        </p:nvSpPr>
        <p:spPr/>
      </p:sp>
      <p:sp>
        <p:nvSpPr>
          <p:cNvPr id="432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4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4179" name="Rectangle 2"/>
          <p:cNvSpPr>
            <a:spLocks noTextEdit="1"/>
          </p:cNvSpPr>
          <p:nvPr>
            <p:ph type="sldImg"/>
          </p:nvPr>
        </p:nvSpPr>
        <p:spPr/>
      </p:sp>
      <p:sp>
        <p:nvSpPr>
          <p:cNvPr id="4341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6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6227" name="Rectangle 2"/>
          <p:cNvSpPr>
            <a:spLocks noTextEdit="1"/>
          </p:cNvSpPr>
          <p:nvPr>
            <p:ph type="sldImg"/>
          </p:nvPr>
        </p:nvSpPr>
        <p:spPr>
          <a:solidFill>
            <a:srgbClr val="FFFFFF">
              <a:alpha val="100000"/>
            </a:srgbClr>
          </a:solidFill>
        </p:spPr>
      </p:sp>
      <p:sp>
        <p:nvSpPr>
          <p:cNvPr id="436228"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8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38275" name="Rectangle 2"/>
          <p:cNvSpPr>
            <a:spLocks noTextEdit="1"/>
          </p:cNvSpPr>
          <p:nvPr>
            <p:ph type="sldImg"/>
          </p:nvPr>
        </p:nvSpPr>
        <p:spPr>
          <a:solidFill>
            <a:srgbClr val="FFFFFF">
              <a:alpha val="100000"/>
            </a:srgbClr>
          </a:solidFill>
        </p:spPr>
      </p:sp>
      <p:sp>
        <p:nvSpPr>
          <p:cNvPr id="438276"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23" name="Rectangle 2"/>
          <p:cNvSpPr>
            <a:spLocks noTextEdit="1"/>
          </p:cNvSpPr>
          <p:nvPr>
            <p:ph type="sldImg"/>
          </p:nvPr>
        </p:nvSpPr>
        <p:spPr/>
      </p:sp>
      <p:sp>
        <p:nvSpPr>
          <p:cNvPr id="4403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2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2371" name="Rectangle 2"/>
          <p:cNvSpPr>
            <a:spLocks noTextEdit="1"/>
          </p:cNvSpPr>
          <p:nvPr>
            <p:ph type="sldImg"/>
          </p:nvPr>
        </p:nvSpPr>
        <p:spPr>
          <a:solidFill>
            <a:srgbClr val="FFFFFF">
              <a:alpha val="100000"/>
            </a:srgbClr>
          </a:solidFill>
        </p:spPr>
      </p:sp>
      <p:sp>
        <p:nvSpPr>
          <p:cNvPr id="442372"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4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4419" name="Rectangle 2"/>
          <p:cNvSpPr>
            <a:spLocks noTextEdit="1"/>
          </p:cNvSpPr>
          <p:nvPr>
            <p:ph type="sldImg"/>
          </p:nvPr>
        </p:nvSpPr>
        <p:spPr>
          <a:solidFill>
            <a:srgbClr val="FFFFFF">
              <a:alpha val="100000"/>
            </a:srgbClr>
          </a:solidFill>
        </p:spPr>
      </p:sp>
      <p:sp>
        <p:nvSpPr>
          <p:cNvPr id="444420"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6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6467" name="Rectangle 2"/>
          <p:cNvSpPr>
            <a:spLocks noTextEdit="1"/>
          </p:cNvSpPr>
          <p:nvPr>
            <p:ph type="sldImg"/>
          </p:nvPr>
        </p:nvSpPr>
        <p:spPr>
          <a:solidFill>
            <a:srgbClr val="FFFFFF">
              <a:alpha val="100000"/>
            </a:srgbClr>
          </a:solidFill>
        </p:spPr>
      </p:sp>
      <p:sp>
        <p:nvSpPr>
          <p:cNvPr id="446468"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8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8515" name="Rectangle 2"/>
          <p:cNvSpPr>
            <a:spLocks noTextEdit="1"/>
          </p:cNvSpPr>
          <p:nvPr>
            <p:ph type="sldImg"/>
          </p:nvPr>
        </p:nvSpPr>
        <p:spPr>
          <a:solidFill>
            <a:srgbClr val="FFFFFF">
              <a:alpha val="100000"/>
            </a:srgbClr>
          </a:solidFill>
        </p:spPr>
      </p:sp>
      <p:sp>
        <p:nvSpPr>
          <p:cNvPr id="448516"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0563" name="Rectangle 2"/>
          <p:cNvSpPr>
            <a:spLocks noTextEdit="1"/>
          </p:cNvSpPr>
          <p:nvPr>
            <p:ph type="sldImg"/>
          </p:nvPr>
        </p:nvSpPr>
        <p:spPr>
          <a:solidFill>
            <a:srgbClr val="FFFFFF">
              <a:alpha val="100000"/>
            </a:srgbClr>
          </a:solidFill>
        </p:spPr>
      </p:sp>
      <p:sp>
        <p:nvSpPr>
          <p:cNvPr id="450564"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2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2611" name="Rectangle 2"/>
          <p:cNvSpPr>
            <a:spLocks noTextEdit="1"/>
          </p:cNvSpPr>
          <p:nvPr>
            <p:ph type="sldImg"/>
          </p:nvPr>
        </p:nvSpPr>
        <p:spPr>
          <a:solidFill>
            <a:srgbClr val="FFFFFF">
              <a:alpha val="100000"/>
            </a:srgbClr>
          </a:solidFill>
        </p:spPr>
      </p:sp>
      <p:sp>
        <p:nvSpPr>
          <p:cNvPr id="452612" name="Rectangle 3"/>
          <p:cNvSpPr/>
          <p:nvPr>
            <p:ph type="body" idx="1"/>
          </p:nvPr>
        </p:nvSpPr>
        <p:spPr>
          <a:xfrm>
            <a:off x="893763" y="4643438"/>
            <a:ext cx="4921250" cy="4397375"/>
          </a:xfrm>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en-US" altLang="zh-CN" dirty="0">
              <a:ea typeface="黑体" panose="02010609060101010101" pitchFamily="49" charset="-122"/>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46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4659" name="Rectangle 2"/>
          <p:cNvSpPr>
            <a:spLocks noTextEdit="1"/>
          </p:cNvSpPr>
          <p:nvPr>
            <p:ph type="sldImg"/>
          </p:nvPr>
        </p:nvSpPr>
        <p:spPr/>
      </p:sp>
      <p:sp>
        <p:nvSpPr>
          <p:cNvPr id="45466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67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6707" name="Rectangle 2"/>
          <p:cNvSpPr>
            <a:spLocks noTextEdit="1"/>
          </p:cNvSpPr>
          <p:nvPr>
            <p:ph type="sldImg"/>
          </p:nvPr>
        </p:nvSpPr>
        <p:spPr/>
      </p:sp>
      <p:sp>
        <p:nvSpPr>
          <p:cNvPr id="45670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87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58755" name="Rectangle 2"/>
          <p:cNvSpPr>
            <a:spLocks noTextEdit="1"/>
          </p:cNvSpPr>
          <p:nvPr>
            <p:ph type="sldImg"/>
          </p:nvPr>
        </p:nvSpPr>
        <p:spPr/>
      </p:sp>
      <p:sp>
        <p:nvSpPr>
          <p:cNvPr id="45875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03" name="Rectangle 2"/>
          <p:cNvSpPr>
            <a:spLocks noTextEdit="1"/>
          </p:cNvSpPr>
          <p:nvPr>
            <p:ph type="sldImg"/>
          </p:nvPr>
        </p:nvSpPr>
        <p:spPr/>
      </p:sp>
      <p:sp>
        <p:nvSpPr>
          <p:cNvPr id="46080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28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2851" name="Rectangle 2"/>
          <p:cNvSpPr>
            <a:spLocks noTextEdit="1"/>
          </p:cNvSpPr>
          <p:nvPr>
            <p:ph type="sldImg"/>
          </p:nvPr>
        </p:nvSpPr>
        <p:spPr>
          <a:xfrm>
            <a:off x="912813" y="736600"/>
            <a:ext cx="4884737" cy="3663950"/>
          </a:xfrm>
          <a:ln w="12700">
            <a:solidFill>
              <a:schemeClr val="tx1">
                <a:alpha val="100000"/>
              </a:schemeClr>
            </a:solidFill>
          </a:ln>
        </p:spPr>
      </p:sp>
      <p:sp>
        <p:nvSpPr>
          <p:cNvPr id="462852" name="Rectangle 3"/>
          <p:cNvSpPr/>
          <p:nvPr>
            <p:ph type="body" idx="1"/>
          </p:nvPr>
        </p:nvSpPr>
        <p:spPr>
          <a:xfrm>
            <a:off x="893763" y="4637088"/>
            <a:ext cx="4921250" cy="4987925"/>
          </a:xfrm>
        </p:spPr>
        <p:txBody>
          <a:bodyPr wrap="square" lIns="92075" tIns="46038" rIns="92075" bIns="46038" anchor="t" anchorCtr="0"/>
          <a:p>
            <a:pPr lvl="0"/>
            <a:endParaRPr lang="zh-CN" altLang="en-US" dirty="0">
              <a:ea typeface="黑体" panose="02010609060101010101" pitchFamily="49" charset="-122"/>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48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4899" name="Rectangle 2"/>
          <p:cNvSpPr>
            <a:spLocks noTextEdit="1"/>
          </p:cNvSpPr>
          <p:nvPr>
            <p:ph type="sldImg"/>
          </p:nvPr>
        </p:nvSpPr>
        <p:spPr/>
      </p:sp>
      <p:sp>
        <p:nvSpPr>
          <p:cNvPr id="46490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69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6947" name="Rectangle 2"/>
          <p:cNvSpPr>
            <a:spLocks noTextEdit="1"/>
          </p:cNvSpPr>
          <p:nvPr>
            <p:ph type="sldImg"/>
          </p:nvPr>
        </p:nvSpPr>
        <p:spPr/>
      </p:sp>
      <p:sp>
        <p:nvSpPr>
          <p:cNvPr id="46694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89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8995" name="Rectangle 2"/>
          <p:cNvSpPr>
            <a:spLocks noTextEdit="1"/>
          </p:cNvSpPr>
          <p:nvPr>
            <p:ph type="sldImg"/>
          </p:nvPr>
        </p:nvSpPr>
        <p:spPr/>
      </p:sp>
      <p:sp>
        <p:nvSpPr>
          <p:cNvPr id="46899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1043" name="Rectangle 2"/>
          <p:cNvSpPr>
            <a:spLocks noTextEdit="1"/>
          </p:cNvSpPr>
          <p:nvPr>
            <p:ph type="sldImg"/>
          </p:nvPr>
        </p:nvSpPr>
        <p:spPr/>
      </p:sp>
      <p:sp>
        <p:nvSpPr>
          <p:cNvPr id="4710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30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3091" name="Rectangle 2"/>
          <p:cNvSpPr>
            <a:spLocks noTextEdit="1"/>
          </p:cNvSpPr>
          <p:nvPr>
            <p:ph type="sldImg"/>
          </p:nvPr>
        </p:nvSpPr>
        <p:spPr>
          <a:solidFill>
            <a:srgbClr val="FFFFFF">
              <a:alpha val="100000"/>
            </a:srgbClr>
          </a:solidFill>
        </p:spPr>
      </p:sp>
      <p:sp>
        <p:nvSpPr>
          <p:cNvPr id="4730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5139" name="Rectangle 2"/>
          <p:cNvSpPr>
            <a:spLocks noTextEdit="1"/>
          </p:cNvSpPr>
          <p:nvPr>
            <p:ph type="sldImg"/>
          </p:nvPr>
        </p:nvSpPr>
        <p:spPr>
          <a:solidFill>
            <a:srgbClr val="FFFFFF">
              <a:alpha val="100000"/>
            </a:srgbClr>
          </a:solidFill>
        </p:spPr>
      </p:sp>
      <p:sp>
        <p:nvSpPr>
          <p:cNvPr id="4751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6" name="Rectangle 7"/>
          <p:cNvSpPr txBox="1">
            <a:spLocks noGrp="1"/>
          </p:cNvSpPr>
          <p:nvPr>
            <p:ph type="sldNum" sz="quarter"/>
          </p:nvPr>
        </p:nvSpPr>
        <p:spPr>
          <a:xfrm>
            <a:off x="3802063" y="9285288"/>
            <a:ext cx="2906712" cy="488950"/>
          </a:xfrm>
          <a:prstGeom prst="rect">
            <a:avLst/>
          </a:prstGeom>
          <a:noFill/>
          <a:ln w="95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7187" name="Rectangle 2"/>
          <p:cNvSpPr>
            <a:spLocks noTextEdit="1"/>
          </p:cNvSpPr>
          <p:nvPr>
            <p:ph type="sldImg"/>
          </p:nvPr>
        </p:nvSpPr>
        <p:spPr>
          <a:solidFill>
            <a:srgbClr val="FFFFFF">
              <a:alpha val="100000"/>
            </a:srgbClr>
          </a:solidFill>
        </p:spPr>
      </p:sp>
      <p:sp>
        <p:nvSpPr>
          <p:cNvPr id="4771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92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79235" name="Rectangle 2"/>
          <p:cNvSpPr>
            <a:spLocks noTextEdit="1"/>
          </p:cNvSpPr>
          <p:nvPr>
            <p:ph type="sldImg"/>
          </p:nvPr>
        </p:nvSpPr>
        <p:spPr>
          <a:solidFill>
            <a:srgbClr val="FFFFFF">
              <a:alpha val="100000"/>
            </a:srgbClr>
          </a:solidFill>
        </p:spPr>
      </p:sp>
      <p:sp>
        <p:nvSpPr>
          <p:cNvPr id="4792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914400" y="457200"/>
            <a:ext cx="75438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676400"/>
            <a:ext cx="36957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图表占位符 3"/>
          <p:cNvSpPr>
            <a:spLocks noGrp="1"/>
          </p:cNvSpPr>
          <p:nvPr>
            <p:ph type="chart" sz="half" idx="2"/>
          </p:nvPr>
        </p:nvSpPr>
        <p:spPr>
          <a:xfrm>
            <a:off x="4762500" y="1676400"/>
            <a:ext cx="3695700" cy="4495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3"/>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image" Target="../media/image8.w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2.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7" Type="http://schemas.openxmlformats.org/officeDocument/2006/relationships/notesSlide" Target="../notesSlides/notesSlide94.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7.wmf"/><Relationship Id="rId3" Type="http://schemas.openxmlformats.org/officeDocument/2006/relationships/oleObject" Target="../embeddings/oleObject4.bin"/><Relationship Id="rId2" Type="http://schemas.openxmlformats.org/officeDocument/2006/relationships/image" Target="../media/image16.wmf"/><Relationship Id="rId1" Type="http://schemas.openxmlformats.org/officeDocument/2006/relationships/oleObject" Target="../embeddings/oleObject3.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97.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5.bin"/></Relationships>
</file>

<file path=ppt/slides/_rels/slide102.xml.rels><?xml version="1.0" encoding="UTF-8" standalone="yes"?>
<Relationships xmlns="http://schemas.openxmlformats.org/package/2006/relationships"><Relationship Id="rId5" Type="http://schemas.openxmlformats.org/officeDocument/2006/relationships/notesSlide" Target="../notesSlides/notesSlide9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6.bin"/></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5" Type="http://schemas.openxmlformats.org/officeDocument/2006/relationships/notesSlide" Target="../notesSlides/notesSlide100.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7.bin"/></Relationships>
</file>

<file path=ppt/slides/_rels/slide105.xml.rels><?xml version="1.0" encoding="UTF-8" standalone="yes"?>
<Relationships xmlns="http://schemas.openxmlformats.org/package/2006/relationships"><Relationship Id="rId5" Type="http://schemas.openxmlformats.org/officeDocument/2006/relationships/notesSlide" Target="../notesSlides/notesSlide101.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8.bin"/></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104.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9.bin"/></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5" Type="http://schemas.openxmlformats.org/officeDocument/2006/relationships/notesSlide" Target="../notesSlides/notesSlide107.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10.bin"/></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109.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11.bin"/></Relationships>
</file>

<file path=ppt/slides/_rels/slide114.xml.rels><?xml version="1.0" encoding="UTF-8" standalone="yes"?>
<Relationships xmlns="http://schemas.openxmlformats.org/package/2006/relationships"><Relationship Id="rId5" Type="http://schemas.openxmlformats.org/officeDocument/2006/relationships/notesSlide" Target="../notesSlides/notesSlide110.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12.bin"/></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5" Type="http://schemas.openxmlformats.org/officeDocument/2006/relationships/notesSlide" Target="../notesSlides/notesSlide112.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13.bin"/></Relationships>
</file>

<file path=ppt/slides/_rels/slide117.xml.rels><?xml version="1.0" encoding="UTF-8" standalone="yes"?>
<Relationships xmlns="http://schemas.openxmlformats.org/package/2006/relationships"><Relationship Id="rId5" Type="http://schemas.openxmlformats.org/officeDocument/2006/relationships/notesSlide" Target="../notesSlides/notesSlide113.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14.bin"/></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5" Type="http://schemas.openxmlformats.org/officeDocument/2006/relationships/notesSlide" Target="../notesSlides/notesSlide117.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15.bin"/></Relationships>
</file>

<file path=ppt/slides/_rels/slide122.xml.rels><?xml version="1.0" encoding="UTF-8" standalone="yes"?>
<Relationships xmlns="http://schemas.openxmlformats.org/package/2006/relationships"><Relationship Id="rId7" Type="http://schemas.openxmlformats.org/officeDocument/2006/relationships/notesSlide" Target="../notesSlides/notesSlide118.xml"/><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17.bin"/><Relationship Id="rId2" Type="http://schemas.openxmlformats.org/officeDocument/2006/relationships/image" Target="../media/image29.wmf"/><Relationship Id="rId1" Type="http://schemas.openxmlformats.org/officeDocument/2006/relationships/oleObject" Target="../embeddings/oleObject16.bin"/></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122.xml"/><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8.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5" Type="http://schemas.openxmlformats.org/officeDocument/2006/relationships/notesSlide" Target="../notesSlides/notesSlide125.xml"/><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9.bin"/></Relationships>
</file>

<file path=ppt/slides/_rels/slide130.xml.rels><?xml version="1.0" encoding="UTF-8" standalone="yes"?>
<Relationships xmlns="http://schemas.openxmlformats.org/package/2006/relationships"><Relationship Id="rId5" Type="http://schemas.openxmlformats.org/officeDocument/2006/relationships/notesSlide" Target="../notesSlides/notesSlide126.xml"/><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20.bin"/></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5" Type="http://schemas.openxmlformats.org/officeDocument/2006/relationships/notesSlide" Target="../notesSlides/notesSlide132.xml"/><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34.wmf"/><Relationship Id="rId1" Type="http://schemas.openxmlformats.org/officeDocument/2006/relationships/oleObject" Target="../embeddings/oleObject21.bin"/></Relationships>
</file>

<file path=ppt/slides/_rels/slide137.xml.rels><?xml version="1.0" encoding="UTF-8" standalone="yes"?>
<Relationships xmlns="http://schemas.openxmlformats.org/package/2006/relationships"><Relationship Id="rId5" Type="http://schemas.openxmlformats.org/officeDocument/2006/relationships/notesSlide" Target="../notesSlides/notesSlide133.xml"/><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22.bin"/></Relationships>
</file>

<file path=ppt/slides/_rels/slide138.xml.rels><?xml version="1.0" encoding="UTF-8" standalone="yes"?>
<Relationships xmlns="http://schemas.openxmlformats.org/package/2006/relationships"><Relationship Id="rId5" Type="http://schemas.openxmlformats.org/officeDocument/2006/relationships/notesSlide" Target="../notesSlides/notesSlide134.xml"/><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36.wmf"/><Relationship Id="rId1" Type="http://schemas.openxmlformats.org/officeDocument/2006/relationships/oleObject" Target="../embeddings/oleObject23.bin"/></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5" Type="http://schemas.openxmlformats.org/officeDocument/2006/relationships/notesSlide" Target="../notesSlides/notesSlide142.xml"/><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oleObject" Target="../embeddings/oleObject24.bin"/></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5" Type="http://schemas.openxmlformats.org/officeDocument/2006/relationships/notesSlide" Target="../notesSlides/notesSlide146.xml"/><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38.wmf"/><Relationship Id="rId1" Type="http://schemas.openxmlformats.org/officeDocument/2006/relationships/oleObject" Target="../embeddings/oleObject25.bin"/></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2.xml"/><Relationship Id="rId1" Type="http://schemas.openxmlformats.org/officeDocument/2006/relationships/image" Target="../media/image39.wmf"/></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2.xml"/><Relationship Id="rId1" Type="http://schemas.openxmlformats.org/officeDocument/2006/relationships/image" Target="../media/image41.wmf"/></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5" Type="http://schemas.openxmlformats.org/officeDocument/2006/relationships/notesSlide" Target="../notesSlides/notesSlide180.xml"/><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26.bin"/></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88.xml"/><Relationship Id="rId2" Type="http://schemas.openxmlformats.org/officeDocument/2006/relationships/slideLayout" Target="../slideLayouts/slideLayout2.xml"/><Relationship Id="rId1" Type="http://schemas.openxmlformats.org/officeDocument/2006/relationships/image" Target="../media/image44.wmf"/></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190.xml"/><Relationship Id="rId2" Type="http://schemas.openxmlformats.org/officeDocument/2006/relationships/slideLayout" Target="../slideLayouts/slideLayout2.xml"/><Relationship Id="rId1" Type="http://schemas.openxmlformats.org/officeDocument/2006/relationships/image" Target="../media/image45.emf"/></Relationships>
</file>

<file path=ppt/slides/_rels/slide1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wmf"/></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92.xml"/><Relationship Id="rId2" Type="http://schemas.openxmlformats.org/officeDocument/2006/relationships/slideLayout" Target="../slideLayouts/slideLayout2.xml"/><Relationship Id="rId1" Type="http://schemas.openxmlformats.org/officeDocument/2006/relationships/image" Target="../media/image47.emf"/></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2.xml"/><Relationship Id="rId1" Type="http://schemas.openxmlformats.org/officeDocument/2006/relationships/image" Target="../media/image48.emf"/></Relationships>
</file>

<file path=ppt/slides/_rels/slide199.xml.rels><?xml version="1.0" encoding="UTF-8" standalone="yes"?>
<Relationships xmlns="http://schemas.openxmlformats.org/package/2006/relationships"><Relationship Id="rId4" Type="http://schemas.openxmlformats.org/officeDocument/2006/relationships/notesSlide" Target="../notesSlides/notesSlide194.xml"/><Relationship Id="rId3" Type="http://schemas.openxmlformats.org/officeDocument/2006/relationships/slideLayout" Target="../slideLayouts/slideLayout2.xml"/><Relationship Id="rId2" Type="http://schemas.openxmlformats.org/officeDocument/2006/relationships/image" Target="../media/image50.emf"/><Relationship Id="rId1" Type="http://schemas.openxmlformats.org/officeDocument/2006/relationships/image" Target="../media/image49.emf"/></Relationships>
</file>

<file path=ppt/slides/_rels/slide200.xml.rels><?xml version="1.0" encoding="UTF-8" standalone="yes"?>
<Relationships xmlns="http://schemas.openxmlformats.org/package/2006/relationships"><Relationship Id="rId5" Type="http://schemas.openxmlformats.org/officeDocument/2006/relationships/notesSlide" Target="../notesSlides/notesSlide195.xml"/><Relationship Id="rId4" Type="http://schemas.openxmlformats.org/officeDocument/2006/relationships/slideLayout" Target="../slideLayouts/slideLayout2.xml"/><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199.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201.xml"/><Relationship Id="rId2" Type="http://schemas.openxmlformats.org/officeDocument/2006/relationships/slideLayout" Target="../slideLayouts/slideLayout2.xml"/><Relationship Id="rId1" Type="http://schemas.openxmlformats.org/officeDocument/2006/relationships/image" Target="../media/image55.emf"/></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203.xml"/><Relationship Id="rId2" Type="http://schemas.openxmlformats.org/officeDocument/2006/relationships/slideLayout" Target="../slideLayouts/slideLayout2.xml"/><Relationship Id="rId1" Type="http://schemas.openxmlformats.org/officeDocument/2006/relationships/image" Target="../media/image56.wmf"/></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4.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notesSlide" Target="../notesSlides/notesSlide228.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234.xml.rels><?xml version="1.0" encoding="UTF-8" standalone="yes"?>
<Relationships xmlns="http://schemas.openxmlformats.org/package/2006/relationships"><Relationship Id="rId3" Type="http://schemas.openxmlformats.org/officeDocument/2006/relationships/notesSlide" Target="../notesSlides/notesSlide229.xml"/><Relationship Id="rId2" Type="http://schemas.openxmlformats.org/officeDocument/2006/relationships/slideLayout" Target="../slideLayouts/slideLayout2.xml"/><Relationship Id="rId1" Type="http://schemas.openxmlformats.org/officeDocument/2006/relationships/image" Target="../media/image58.jpeg"/></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4099"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3000" b="1" dirty="0">
                <a:ea typeface="宋体" panose="02010600030101010101" pitchFamily="2" charset="-122"/>
              </a:rPr>
              <a:t>代码生成器设计中的问题</a:t>
            </a:r>
            <a:endParaRPr lang="zh-CN" altLang="en-US"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目标语言</a:t>
            </a:r>
            <a:endParaRPr lang="zh-CN" altLang="en-US"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目标代码中的地址</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基本块及其优化</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控制流图及流分析</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跨越基本块的优化</a:t>
            </a:r>
            <a:endParaRPr lang="zh-CN" altLang="en-US"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一个简单的代码生成器</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窥孔优化</a:t>
            </a:r>
            <a:endParaRPr lang="zh-CN" altLang="en-US"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寄存器分配和指派</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通过树重写来选择指令</a:t>
            </a:r>
            <a:endParaRPr lang="en-US" altLang="zh-CN" sz="3000" b="1" dirty="0">
              <a:ea typeface="宋体" panose="02010600030101010101" pitchFamily="2" charset="-122"/>
            </a:endParaRPr>
          </a:p>
          <a:p>
            <a:pPr>
              <a:lnSpc>
                <a:spcPct val="90000"/>
              </a:lnSpc>
              <a:spcBef>
                <a:spcPts val="600"/>
              </a:spcBef>
            </a:pPr>
            <a:r>
              <a:rPr lang="zh-CN" altLang="en-US" sz="30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代码生成器的位置</a:t>
            </a:r>
            <a:endParaRPr lang="zh-CN" altLang="en-US" dirty="0">
              <a:latin typeface="Times New Roman" panose="02020603050405020304" pitchFamily="18" charset="0"/>
              <a:ea typeface="宋体" panose="02010600030101010101" pitchFamily="2" charset="-122"/>
            </a:endParaRPr>
          </a:p>
        </p:txBody>
      </p:sp>
      <p:sp>
        <p:nvSpPr>
          <p:cNvPr id="6147"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buNone/>
            </a:pPr>
            <a:endParaRPr lang="zh-CN" altLang="en-US" sz="2200" b="1" dirty="0">
              <a:ea typeface="宋体" panose="02010600030101010101" pitchFamily="2" charset="-122"/>
            </a:endParaRPr>
          </a:p>
          <a:p>
            <a:pPr>
              <a:lnSpc>
                <a:spcPct val="90000"/>
              </a:lnSpc>
            </a:pPr>
            <a:r>
              <a:rPr lang="zh-CN" altLang="en-US" sz="2200" b="1" dirty="0">
                <a:ea typeface="宋体" panose="02010600030101010101" pitchFamily="2" charset="-122"/>
              </a:rPr>
              <a:t>代码生成器的作用</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接收前端生成的中间表示，产生语义等价的目标代码</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符号表信息是重要的</a:t>
            </a:r>
            <a:endParaRPr lang="zh-CN" altLang="en-US" sz="2200" b="1" dirty="0">
              <a:ea typeface="宋体" panose="02010600030101010101" pitchFamily="2" charset="-122"/>
            </a:endParaRPr>
          </a:p>
          <a:p>
            <a:pPr>
              <a:lnSpc>
                <a:spcPct val="90000"/>
              </a:lnSpc>
            </a:pPr>
            <a:r>
              <a:rPr lang="zh-CN" altLang="en-US" sz="2200" b="1" dirty="0">
                <a:ea typeface="宋体" panose="02010600030101010101" pitchFamily="2" charset="-122"/>
              </a:rPr>
              <a:t>代码生成器的输出必须是正确和高质量的</a:t>
            </a:r>
            <a:endParaRPr lang="en-US" altLang="zh-CN" sz="2200" b="1" dirty="0">
              <a:ea typeface="宋体" panose="02010600030101010101" pitchFamily="2" charset="-122"/>
            </a:endParaRPr>
          </a:p>
          <a:p>
            <a:pPr>
              <a:lnSpc>
                <a:spcPct val="90000"/>
              </a:lnSpc>
            </a:pPr>
            <a:r>
              <a:rPr lang="zh-CN" altLang="en-US" sz="2200" b="1" dirty="0">
                <a:ea typeface="宋体" panose="02010600030101010101" pitchFamily="2" charset="-122"/>
              </a:rPr>
              <a:t>代码生成器的本身应该是高效的</a:t>
            </a:r>
            <a:endParaRPr lang="zh-CN" altLang="en-US" sz="2200" b="1" dirty="0">
              <a:ea typeface="宋体" panose="02010600030101010101" pitchFamily="2" charset="-122"/>
            </a:endParaRPr>
          </a:p>
          <a:p>
            <a:pPr>
              <a:lnSpc>
                <a:spcPct val="90000"/>
              </a:lnSpc>
            </a:pPr>
            <a:r>
              <a:rPr lang="zh-CN" altLang="en-US" sz="2200" b="1" dirty="0">
                <a:ea typeface="宋体" panose="02010600030101010101" pitchFamily="2" charset="-122"/>
              </a:rPr>
              <a:t>产生最优化代码的问题是不可判定的</a:t>
            </a:r>
            <a:endParaRPr lang="zh-CN" altLang="en-US" sz="2200" b="1" dirty="0">
              <a:ea typeface="宋体" panose="02010600030101010101" pitchFamily="2" charset="-122"/>
            </a:endParaRPr>
          </a:p>
        </p:txBody>
      </p:sp>
      <p:pic>
        <p:nvPicPr>
          <p:cNvPr id="6148" name="Picture 2"/>
          <p:cNvPicPr>
            <a:picLocks noChangeAspect="1"/>
          </p:cNvPicPr>
          <p:nvPr/>
        </p:nvPicPr>
        <p:blipFill>
          <a:blip r:embed="rId1"/>
          <a:stretch>
            <a:fillRect/>
          </a:stretch>
        </p:blipFill>
        <p:spPr>
          <a:xfrm>
            <a:off x="107950" y="1660525"/>
            <a:ext cx="8763000" cy="1624013"/>
          </a:xfrm>
          <a:prstGeom prst="rect">
            <a:avLst/>
          </a:prstGeom>
          <a:noFill/>
          <a:ln w="9525">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8195"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3000" b="1" dirty="0">
                <a:solidFill>
                  <a:srgbClr val="FF0000"/>
                </a:solidFill>
                <a:ea typeface="宋体" panose="02010600030101010101" pitchFamily="2" charset="-122"/>
              </a:rPr>
              <a:t>代码生成器设计中的问题</a:t>
            </a:r>
            <a:endParaRPr lang="zh-CN" altLang="en-US" sz="30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目标语言</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目标代码中的地址</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基本块及其优化</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控制流图及流分析</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跨越基本块的优化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代码生成器设计中的问题</a:t>
            </a:r>
            <a:endParaRPr lang="zh-CN" altLang="en-US" dirty="0">
              <a:latin typeface="Times New Roman" panose="02020603050405020304" pitchFamily="18" charset="0"/>
              <a:ea typeface="宋体" panose="02010600030101010101" pitchFamily="2" charset="-122"/>
            </a:endParaRPr>
          </a:p>
        </p:txBody>
      </p:sp>
      <p:sp>
        <p:nvSpPr>
          <p:cNvPr id="10243" name="Rectangle 3"/>
          <p:cNvSpPr>
            <a:spLocks noGrp="1"/>
          </p:cNvSpPr>
          <p:nvPr>
            <p:ph idx="1"/>
          </p:nvPr>
        </p:nvSpPr>
        <p:spPr>
          <a:xfrm>
            <a:off x="684213" y="1524000"/>
            <a:ext cx="7697787" cy="4724400"/>
          </a:xfrm>
        </p:spPr>
        <p:txBody>
          <a:bodyPr vert="horz" wrap="square" lIns="92075" tIns="46038" rIns="92075" bIns="46038" anchor="t" anchorCtr="0"/>
          <a:p>
            <a:r>
              <a:rPr lang="zh-CN" altLang="en-US" sz="2400" b="1" dirty="0">
                <a:ea typeface="宋体" panose="02010600030101010101" pitchFamily="2" charset="-122"/>
              </a:rPr>
              <a:t>代码生成器</a:t>
            </a:r>
            <a:endParaRPr lang="zh-CN" altLang="en-US" sz="2400" b="1" dirty="0">
              <a:ea typeface="宋体" panose="02010600030101010101" pitchFamily="2" charset="-122"/>
            </a:endParaRPr>
          </a:p>
          <a:p>
            <a:pPr lvl="1"/>
            <a:r>
              <a:rPr lang="zh-CN" altLang="en-US" sz="2200" b="1" dirty="0">
                <a:ea typeface="宋体" panose="02010600030101010101" pitchFamily="2" charset="-122"/>
              </a:rPr>
              <a:t>依赖于目标机器和操作系统</a:t>
            </a:r>
            <a:endParaRPr lang="zh-CN" altLang="en-US" sz="2200" b="1" dirty="0">
              <a:ea typeface="宋体" panose="02010600030101010101" pitchFamily="2" charset="-122"/>
            </a:endParaRPr>
          </a:p>
          <a:p>
            <a:pPr lvl="1"/>
            <a:r>
              <a:rPr lang="zh-CN" altLang="en-US" sz="2200" b="1" dirty="0">
                <a:ea typeface="宋体" panose="02010600030101010101" pitchFamily="2" charset="-122"/>
              </a:rPr>
              <a:t>要充分发挥目标机器的能力：充分利用目标机器的资源</a:t>
            </a:r>
            <a:endParaRPr lang="zh-CN" altLang="en-US" sz="2200" b="1" dirty="0">
              <a:ea typeface="宋体" panose="02010600030101010101" pitchFamily="2" charset="-122"/>
            </a:endParaRPr>
          </a:p>
          <a:p>
            <a:pPr lvl="1"/>
            <a:r>
              <a:rPr lang="zh-CN" altLang="en-US" sz="2200" b="1" dirty="0">
                <a:ea typeface="宋体" panose="02010600030101010101" pitchFamily="2" charset="-122"/>
              </a:rPr>
              <a:t>代码生成器固有的问题</a:t>
            </a:r>
            <a:endParaRPr lang="zh-CN" altLang="en-US" sz="2200" b="1" dirty="0">
              <a:ea typeface="宋体" panose="02010600030101010101" pitchFamily="2" charset="-122"/>
            </a:endParaRPr>
          </a:p>
          <a:p>
            <a:pPr lvl="2"/>
            <a:r>
              <a:rPr lang="zh-CN" altLang="en-US" sz="2000" b="1" dirty="0">
                <a:ea typeface="宋体" panose="02010600030101010101" pitchFamily="2" charset="-122"/>
              </a:rPr>
              <a:t>存储管理</a:t>
            </a:r>
            <a:endParaRPr lang="zh-CN" altLang="en-US" sz="2000" b="1" dirty="0">
              <a:ea typeface="宋体" panose="02010600030101010101" pitchFamily="2" charset="-122"/>
            </a:endParaRPr>
          </a:p>
          <a:p>
            <a:pPr lvl="2"/>
            <a:r>
              <a:rPr lang="zh-CN" altLang="en-US" sz="2000" b="1" dirty="0">
                <a:ea typeface="宋体" panose="02010600030101010101" pitchFamily="2" charset="-122"/>
              </a:rPr>
              <a:t>指令选择</a:t>
            </a:r>
            <a:endParaRPr lang="zh-CN" altLang="en-US" sz="2000" b="1" dirty="0">
              <a:ea typeface="宋体" panose="02010600030101010101" pitchFamily="2" charset="-122"/>
            </a:endParaRPr>
          </a:p>
          <a:p>
            <a:pPr lvl="2"/>
            <a:r>
              <a:rPr lang="zh-CN" altLang="en-US" sz="2000" b="1" dirty="0">
                <a:ea typeface="宋体" panose="02010600030101010101" pitchFamily="2" charset="-122"/>
              </a:rPr>
              <a:t>寄存器分配</a:t>
            </a:r>
            <a:endParaRPr lang="zh-CN" altLang="en-US" sz="2000" b="1" dirty="0">
              <a:ea typeface="宋体" panose="02010600030101010101" pitchFamily="2" charset="-122"/>
            </a:endParaRPr>
          </a:p>
          <a:p>
            <a:pPr lvl="2"/>
            <a:r>
              <a:rPr lang="zh-CN" altLang="en-US" sz="2000" b="1" dirty="0">
                <a:ea typeface="宋体" panose="02010600030101010101" pitchFamily="2" charset="-122"/>
              </a:rPr>
              <a:t>计算次序选择</a:t>
            </a:r>
            <a:endParaRPr lang="zh-CN" altLang="en-US" sz="2000" b="1" dirty="0">
              <a:ea typeface="宋体" panose="02010600030101010101" pitchFamily="2" charset="-122"/>
            </a:endParaRPr>
          </a:p>
          <a:p>
            <a:pPr lvl="1"/>
            <a:r>
              <a:rPr lang="zh-CN" altLang="en-US" sz="2200" b="1" dirty="0">
                <a:ea typeface="宋体" panose="02010600030101010101" pitchFamily="2" charset="-122"/>
              </a:rPr>
              <a:t>可移植的代码生成器</a:t>
            </a:r>
            <a:endParaRPr lang="zh-CN" altLang="en-US" sz="2200" b="1" dirty="0">
              <a:ea typeface="宋体" panose="02010600030101010101" pitchFamily="2" charset="-122"/>
            </a:endParaRPr>
          </a:p>
          <a:p>
            <a:pPr lvl="2"/>
            <a:r>
              <a:rPr lang="zh-CN" altLang="en-US" sz="2000" b="1" dirty="0">
                <a:ea typeface="宋体" panose="02010600030101010101" pitchFamily="2" charset="-122"/>
              </a:rPr>
              <a:t>机器描述</a:t>
            </a:r>
            <a:endParaRPr lang="zh-CN" altLang="en-US" sz="2000" b="1" dirty="0">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代码生成器的输入</a:t>
            </a:r>
            <a:endParaRPr lang="zh-CN" altLang="en-US" dirty="0">
              <a:latin typeface="Times New Roman" panose="02020603050405020304" pitchFamily="18" charset="0"/>
              <a:ea typeface="宋体" panose="02010600030101010101" pitchFamily="2" charset="-122"/>
            </a:endParaRPr>
          </a:p>
        </p:txBody>
      </p:sp>
      <p:sp>
        <p:nvSpPr>
          <p:cNvPr id="12291"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符号表信息</a:t>
            </a:r>
            <a:endParaRPr lang="zh-CN" altLang="en-US" sz="2400" b="1" dirty="0">
              <a:ea typeface="宋体" panose="02010600030101010101" pitchFamily="2" charset="-122"/>
            </a:endParaRPr>
          </a:p>
          <a:p>
            <a:pPr lvl="1"/>
            <a:r>
              <a:rPr lang="zh-CN" altLang="en-US" sz="2200" b="1" dirty="0">
                <a:ea typeface="宋体" panose="02010600030101010101" pitchFamily="2" charset="-122"/>
              </a:rPr>
              <a:t>决定中间表示中名字所代表的数据对象的运行地址</a:t>
            </a:r>
            <a:endParaRPr lang="zh-CN" altLang="en-US" sz="2200" b="1" dirty="0">
              <a:ea typeface="宋体" panose="02010600030101010101" pitchFamily="2" charset="-122"/>
            </a:endParaRPr>
          </a:p>
          <a:p>
            <a:pPr lvl="2"/>
            <a:r>
              <a:rPr lang="zh-CN" altLang="en-US" sz="2000" b="1" dirty="0">
                <a:ea typeface="宋体" panose="02010600030101010101" pitchFamily="2" charset="-122"/>
              </a:rPr>
              <a:t>偏移量</a:t>
            </a:r>
            <a:endParaRPr lang="zh-CN" altLang="en-US" sz="2000" b="1" dirty="0">
              <a:ea typeface="宋体" panose="02010600030101010101" pitchFamily="2" charset="-122"/>
            </a:endParaRPr>
          </a:p>
          <a:p>
            <a:pPr lvl="2"/>
            <a:r>
              <a:rPr lang="zh-CN" altLang="en-US" sz="2000" b="1" dirty="0">
                <a:ea typeface="宋体" panose="02010600030101010101" pitchFamily="2" charset="-122"/>
              </a:rPr>
              <a:t>作用域</a:t>
            </a:r>
            <a:endParaRPr lang="zh-CN" altLang="en-US" sz="2000" b="1" dirty="0">
              <a:ea typeface="宋体" panose="02010600030101010101" pitchFamily="2" charset="-122"/>
            </a:endParaRPr>
          </a:p>
          <a:p>
            <a:pPr lvl="1"/>
            <a:r>
              <a:rPr lang="zh-CN" altLang="en-US" sz="2200" b="1" dirty="0">
                <a:ea typeface="宋体" panose="02010600030101010101" pitchFamily="2" charset="-122"/>
              </a:rPr>
              <a:t>可能在动态时刻作为调试信息存在</a:t>
            </a:r>
            <a:endParaRPr lang="zh-CN" altLang="en-US" sz="2200" b="1" dirty="0">
              <a:ea typeface="宋体" panose="02010600030101010101" pitchFamily="2" charset="-122"/>
            </a:endParaRPr>
          </a:p>
          <a:p>
            <a:r>
              <a:rPr lang="zh-CN" altLang="en-US" sz="2400" b="1" dirty="0">
                <a:ea typeface="宋体" panose="02010600030101010101" pitchFamily="2" charset="-122"/>
              </a:rPr>
              <a:t>中间表示</a:t>
            </a:r>
            <a:endParaRPr lang="zh-CN" altLang="en-US" sz="2400" b="1" dirty="0">
              <a:ea typeface="宋体" panose="02010600030101010101" pitchFamily="2" charset="-122"/>
            </a:endParaRPr>
          </a:p>
          <a:p>
            <a:pPr lvl="1"/>
            <a:r>
              <a:rPr lang="zh-CN" altLang="en-US" sz="2200" b="1" dirty="0">
                <a:ea typeface="宋体" panose="02010600030101010101" pitchFamily="2" charset="-122"/>
              </a:rPr>
              <a:t>代码生成的很多技术是可以用于不同的中间表示的</a:t>
            </a:r>
            <a:endParaRPr lang="zh-CN" altLang="en-US" sz="2200" b="1" dirty="0">
              <a:ea typeface="宋体" panose="02010600030101010101" pitchFamily="2" charset="-122"/>
            </a:endParaRPr>
          </a:p>
          <a:p>
            <a:pPr lvl="1"/>
            <a:r>
              <a:rPr lang="zh-CN" altLang="en-US" sz="2200" b="1" dirty="0">
                <a:ea typeface="宋体" panose="02010600030101010101" pitchFamily="2" charset="-122"/>
              </a:rPr>
              <a:t>代码生成前，中间表示记录了足够详细的程序信息</a:t>
            </a:r>
            <a:endParaRPr lang="zh-CN" altLang="en-US" sz="2200" b="1" dirty="0">
              <a:ea typeface="宋体" panose="02010600030101010101" pitchFamily="2" charset="-122"/>
            </a:endParaRPr>
          </a:p>
          <a:p>
            <a:pPr lvl="2"/>
            <a:r>
              <a:rPr lang="zh-CN" altLang="en-US" sz="2000" b="1" dirty="0">
                <a:ea typeface="宋体" panose="02010600030101010101" pitchFamily="2" charset="-122"/>
              </a:rPr>
              <a:t>名字的值可以表示为目标机器能够直接操作的数</a:t>
            </a:r>
            <a:endParaRPr lang="zh-CN" altLang="en-US" sz="2000" b="1" dirty="0">
              <a:ea typeface="宋体" panose="02010600030101010101" pitchFamily="2" charset="-122"/>
            </a:endParaRPr>
          </a:p>
          <a:p>
            <a:pPr lvl="2"/>
            <a:r>
              <a:rPr lang="zh-CN" altLang="en-US" sz="2000" b="1" dirty="0">
                <a:ea typeface="宋体" panose="02010600030101010101" pitchFamily="2" charset="-122"/>
              </a:rPr>
              <a:t>类型检查已经完成</a:t>
            </a:r>
            <a:endParaRPr lang="zh-CN" altLang="en-US" sz="2000" b="1" dirty="0">
              <a:ea typeface="宋体" panose="02010600030101010101" pitchFamily="2" charset="-122"/>
            </a:endParaRPr>
          </a:p>
          <a:p>
            <a:pPr lvl="2"/>
            <a:r>
              <a:rPr lang="zh-CN" altLang="en-US" sz="2000" b="1" dirty="0">
                <a:ea typeface="宋体" panose="02010600030101010101" pitchFamily="2" charset="-122"/>
              </a:rPr>
              <a:t>明显的语义错误已经发现</a:t>
            </a:r>
            <a:endParaRPr lang="zh-CN" altLang="en-US" sz="2000"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目标程序（</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339" name="Rectangle 3"/>
          <p:cNvSpPr>
            <a:spLocks noGrp="1"/>
          </p:cNvSpPr>
          <p:nvPr>
            <p:ph idx="1"/>
          </p:nvPr>
        </p:nvSpPr>
        <p:spPr>
          <a:xfrm>
            <a:off x="762000" y="1473200"/>
            <a:ext cx="7842250" cy="4764088"/>
          </a:xfrm>
        </p:spPr>
        <p:txBody>
          <a:bodyPr vert="horz" wrap="square" lIns="92075" tIns="46038" rIns="92075" bIns="46038" anchor="t" anchorCtr="0"/>
          <a:p>
            <a:pPr>
              <a:lnSpc>
                <a:spcPct val="90000"/>
              </a:lnSpc>
            </a:pPr>
            <a:r>
              <a:rPr lang="zh-CN" altLang="en-US" sz="2400" b="1" dirty="0">
                <a:ea typeface="宋体" panose="02010600030101010101" pitchFamily="2" charset="-122"/>
              </a:rPr>
              <a:t>代码生成的目标机器</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目标机器的微体系结构对代码生成有着巨大的影响</a:t>
            </a:r>
            <a:endParaRPr lang="zh-CN" altLang="en-US" sz="2200" b="1" dirty="0">
              <a:ea typeface="宋体" panose="02010600030101010101" pitchFamily="2" charset="-122"/>
            </a:endParaRPr>
          </a:p>
          <a:p>
            <a:pPr lvl="2">
              <a:lnSpc>
                <a:spcPct val="90000"/>
              </a:lnSpc>
            </a:pPr>
            <a:r>
              <a:rPr lang="en-US" altLang="zh-CN" sz="2000" b="1" dirty="0">
                <a:ea typeface="宋体" panose="02010600030101010101" pitchFamily="2" charset="-122"/>
              </a:rPr>
              <a:t>RISC</a:t>
            </a:r>
            <a:r>
              <a:rPr lang="zh-CN" altLang="en-US" sz="2000" b="1" dirty="0">
                <a:ea typeface="宋体" panose="02010600030101010101" pitchFamily="2" charset="-122"/>
              </a:rPr>
              <a:t>：寄存器较多、三地址指令、简单寻址、简单的</a:t>
            </a:r>
            <a:r>
              <a:rPr lang="en-US" altLang="zh-CN" sz="2000" b="1" dirty="0">
                <a:ea typeface="宋体" panose="02010600030101010101" pitchFamily="2" charset="-122"/>
              </a:rPr>
              <a:t>ISA</a:t>
            </a:r>
            <a:endParaRPr lang="zh-CN" altLang="en-US" sz="2000" b="1" dirty="0">
              <a:ea typeface="宋体" panose="02010600030101010101" pitchFamily="2" charset="-122"/>
            </a:endParaRPr>
          </a:p>
          <a:p>
            <a:pPr lvl="2">
              <a:lnSpc>
                <a:spcPct val="90000"/>
              </a:lnSpc>
            </a:pPr>
            <a:r>
              <a:rPr lang="en-US" altLang="zh-CN" sz="2000" b="1" dirty="0">
                <a:ea typeface="宋体" panose="02010600030101010101" pitchFamily="2" charset="-122"/>
              </a:rPr>
              <a:t>CISC</a:t>
            </a:r>
            <a:r>
              <a:rPr lang="zh-CN" altLang="en-US" sz="2000" b="1" dirty="0">
                <a:ea typeface="宋体" panose="02010600030101010101" pitchFamily="2" charset="-122"/>
              </a:rPr>
              <a:t>：寄存器少但种类较多、两地址指令、较多的寻址方式、指令可变长、指令可能具有副作用</a:t>
            </a:r>
            <a:endParaRPr lang="en-US" altLang="zh-CN" sz="2000" b="1" dirty="0">
              <a:ea typeface="宋体" panose="02010600030101010101" pitchFamily="2" charset="-122"/>
            </a:endParaRPr>
          </a:p>
          <a:p>
            <a:pPr lvl="2">
              <a:lnSpc>
                <a:spcPct val="90000"/>
              </a:lnSpc>
            </a:pPr>
            <a:r>
              <a:rPr lang="en-US" altLang="zh-CN" sz="2000" b="1" dirty="0">
                <a:ea typeface="宋体" panose="02010600030101010101" pitchFamily="2" charset="-122"/>
              </a:rPr>
              <a:t>VLIW</a:t>
            </a:r>
            <a:r>
              <a:rPr lang="zh-CN" altLang="en-US" sz="2000" b="1" dirty="0">
                <a:ea typeface="宋体" panose="02010600030101010101" pitchFamily="2" charset="-122"/>
              </a:rPr>
              <a:t>：显式并行，寄存器多，需要编译器的充分支持</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基于堆栈的结构</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利用栈实现运算，栈顶元素通常保存在寄存器中</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早期在函数式语言等的实现中有较多应用，后逐渐式微</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随着</a:t>
            </a:r>
            <a:r>
              <a:rPr lang="en-US" altLang="zh-CN" sz="1800" b="1" dirty="0">
                <a:ea typeface="宋体" panose="02010600030101010101" pitchFamily="2" charset="-122"/>
              </a:rPr>
              <a:t>Java</a:t>
            </a:r>
            <a:r>
              <a:rPr lang="zh-CN" altLang="en-US" sz="1800" b="1" dirty="0">
                <a:ea typeface="宋体" panose="02010600030101010101" pitchFamily="2" charset="-122"/>
              </a:rPr>
              <a:t>的推广而复兴，</a:t>
            </a:r>
            <a:r>
              <a:rPr lang="en-US" altLang="zh-CN" sz="1800" b="1" dirty="0">
                <a:ea typeface="宋体" panose="02010600030101010101" pitchFamily="2" charset="-122"/>
              </a:rPr>
              <a:t>JVM</a:t>
            </a:r>
            <a:r>
              <a:rPr lang="zh-CN" altLang="en-US" sz="1800" b="1" dirty="0">
                <a:ea typeface="宋体" panose="02010600030101010101" pitchFamily="2" charset="-122"/>
              </a:rPr>
              <a:t>提供了跨平台的软件兼容性</a:t>
            </a:r>
            <a:endParaRPr lang="zh-CN" altLang="en-US" sz="1800" b="1" dirty="0">
              <a:ea typeface="宋体" panose="02010600030101010101" pitchFamily="2" charset="-122"/>
            </a:endParaRPr>
          </a:p>
          <a:p>
            <a:pPr lvl="3">
              <a:lnSpc>
                <a:spcPct val="90000"/>
              </a:lnSpc>
            </a:pPr>
            <a:r>
              <a:rPr lang="en-US" altLang="zh-CN" sz="1800" b="1" dirty="0">
                <a:ea typeface="宋体" panose="02010600030101010101" pitchFamily="2" charset="-122"/>
              </a:rPr>
              <a:t>JIT</a:t>
            </a:r>
            <a:r>
              <a:rPr lang="zh-CN" altLang="en-US" sz="1800" b="1" dirty="0">
                <a:ea typeface="宋体" panose="02010600030101010101" pitchFamily="2" charset="-122"/>
              </a:rPr>
              <a:t>的出现，较好地弥补了</a:t>
            </a:r>
            <a:r>
              <a:rPr lang="en-US" altLang="zh-CN" sz="1800" b="1" dirty="0">
                <a:ea typeface="宋体" panose="02010600030101010101" pitchFamily="2" charset="-122"/>
              </a:rPr>
              <a:t>JVM</a:t>
            </a:r>
            <a:r>
              <a:rPr lang="zh-CN" altLang="en-US" sz="1800" b="1" dirty="0">
                <a:ea typeface="宋体" panose="02010600030101010101" pitchFamily="2" charset="-122"/>
              </a:rPr>
              <a:t>带来的性能损耗</a:t>
            </a:r>
            <a:endParaRPr lang="zh-CN" altLang="en-US" sz="1800" b="1" dirty="0">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目标程序（</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6387" name="Rectangle 3"/>
          <p:cNvSpPr>
            <a:spLocks noGrp="1"/>
          </p:cNvSpPr>
          <p:nvPr>
            <p:ph idx="1"/>
          </p:nvPr>
        </p:nvSpPr>
        <p:spPr>
          <a:xfrm>
            <a:off x="990600" y="1219200"/>
            <a:ext cx="7391400" cy="5029200"/>
          </a:xfrm>
        </p:spPr>
        <p:txBody>
          <a:bodyPr vert="horz" wrap="square" lIns="92075" tIns="46038" rIns="92075" bIns="46038" anchor="t" anchorCtr="0"/>
          <a:p>
            <a:pPr>
              <a:lnSpc>
                <a:spcPct val="90000"/>
              </a:lnSpc>
            </a:pPr>
            <a:r>
              <a:rPr lang="zh-CN" altLang="en-US" sz="2200" b="1" dirty="0">
                <a:ea typeface="宋体" panose="02010600030101010101" pitchFamily="2" charset="-122"/>
              </a:rPr>
              <a:t>目标程序的主要形式：</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绝对机器语言</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可以放在内存中固定地方，并立即执行</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小程序、需要迅速编译和执行</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可重定位的机器语言</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程序可以分为多个目标模块，分别编译</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需要连接装配器将一组可重定位模块一起装入执行</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需要额外的开销，但灵活：可分别编译子程序和从目标模块中调用其它先前编译好的程序模块</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如果目标机器不能自动处理重定位，则编译器必须提供显式的重定位信息给装配程序</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汇编语言</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代码生成的过程容易：可以产生符号指令和利用汇编器的宏</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避免了重复汇编器的工作</a:t>
            </a:r>
            <a:endParaRPr lang="en-US" altLang="zh-CN" sz="2000" b="1" dirty="0">
              <a:ea typeface="宋体" panose="02010600030101010101" pitchFamily="2" charset="-122"/>
            </a:endParaRPr>
          </a:p>
          <a:p>
            <a:pPr lvl="1">
              <a:lnSpc>
                <a:spcPct val="90000"/>
              </a:lnSpc>
            </a:pPr>
            <a:r>
              <a:rPr lang="zh-CN" altLang="en-US" sz="2200" b="1" dirty="0">
                <a:ea typeface="宋体" panose="02010600030101010101" pitchFamily="2" charset="-122"/>
              </a:rPr>
              <a:t>字节码</a:t>
            </a:r>
            <a:endParaRPr lang="zh-CN" altLang="en-US" sz="2200"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指令选择（</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8435" name="Rectangle 3"/>
          <p:cNvSpPr>
            <a:spLocks noGrp="1"/>
          </p:cNvSpPr>
          <p:nvPr>
            <p:ph idx="1"/>
          </p:nvPr>
        </p:nvSpPr>
        <p:spPr>
          <a:xfrm>
            <a:off x="755650" y="1628775"/>
            <a:ext cx="7777163" cy="4848225"/>
          </a:xfrm>
        </p:spPr>
        <p:txBody>
          <a:bodyPr vert="horz" wrap="square" lIns="92075" tIns="46038" rIns="92075" bIns="46038" anchor="t" anchorCtr="0"/>
          <a:p>
            <a:pPr>
              <a:lnSpc>
                <a:spcPct val="90000"/>
              </a:lnSpc>
            </a:pPr>
            <a:r>
              <a:rPr lang="zh-CN" altLang="en-US" sz="2400" b="1" dirty="0">
                <a:ea typeface="宋体" panose="02010600030101010101" pitchFamily="2" charset="-122"/>
              </a:rPr>
              <a:t>指令选择的影响因素</a:t>
            </a:r>
            <a:endParaRPr lang="en-US" altLang="zh-CN" sz="2400" b="1" dirty="0">
              <a:ea typeface="宋体" panose="02010600030101010101" pitchFamily="2" charset="-122"/>
            </a:endParaRPr>
          </a:p>
          <a:p>
            <a:pPr lvl="1">
              <a:lnSpc>
                <a:spcPct val="90000"/>
              </a:lnSpc>
            </a:pPr>
            <a:r>
              <a:rPr lang="en-US" altLang="zh-CN" sz="2200" b="1" dirty="0">
                <a:ea typeface="宋体" panose="02010600030101010101" pitchFamily="2" charset="-122"/>
              </a:rPr>
              <a:t>IR</a:t>
            </a:r>
            <a:r>
              <a:rPr lang="zh-CN" altLang="en-US" sz="2200" b="1" dirty="0">
                <a:ea typeface="宋体" panose="02010600030101010101" pitchFamily="2" charset="-122"/>
              </a:rPr>
              <a:t>的层次</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指令集体系结构本身的特性</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想要达到的生成代码的质量</a:t>
            </a:r>
            <a:endParaRPr lang="en-US" altLang="zh-CN" sz="2200" b="1" dirty="0">
              <a:ea typeface="宋体" panose="02010600030101010101" pitchFamily="2" charset="-122"/>
            </a:endParaRPr>
          </a:p>
          <a:p>
            <a:pPr>
              <a:lnSpc>
                <a:spcPct val="90000"/>
              </a:lnSpc>
            </a:pPr>
            <a:r>
              <a:rPr lang="en-US" altLang="zh-CN" sz="2400" b="1" dirty="0">
                <a:ea typeface="宋体" panose="02010600030101010101" pitchFamily="2" charset="-122"/>
              </a:rPr>
              <a:t>IR</a:t>
            </a:r>
            <a:r>
              <a:rPr lang="zh-CN" altLang="en-US" sz="2400" b="1" dirty="0">
                <a:ea typeface="宋体" panose="02010600030101010101" pitchFamily="2" charset="-122"/>
              </a:rPr>
              <a:t>的层次的影响</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高层次的</a:t>
            </a:r>
            <a:r>
              <a:rPr lang="en-US" altLang="zh-CN" sz="2200" b="1" dirty="0">
                <a:ea typeface="宋体" panose="02010600030101010101" pitchFamily="2" charset="-122"/>
              </a:rPr>
              <a:t>IR</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代码生成器可以采用代码模板为每个</a:t>
            </a:r>
            <a:r>
              <a:rPr lang="en-US" altLang="zh-CN" sz="2000" b="1" dirty="0">
                <a:ea typeface="宋体" panose="02010600030101010101" pitchFamily="2" charset="-122"/>
              </a:rPr>
              <a:t>IR</a:t>
            </a:r>
            <a:r>
              <a:rPr lang="zh-CN" altLang="en-US" sz="2000" b="1" dirty="0">
                <a:ea typeface="宋体" panose="02010600030101010101" pitchFamily="2" charset="-122"/>
              </a:rPr>
              <a:t>语句生成对应的机器指令序列</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仅割裂地考虑每个语句自身的翻译，目标代码质量堪忧</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需要后续的代码优化</a:t>
            </a:r>
            <a:endParaRPr lang="zh-CN" altLang="en-US" sz="1800" b="1" dirty="0">
              <a:ea typeface="宋体" panose="02010600030101010101" pitchFamily="2" charset="-122"/>
            </a:endParaRPr>
          </a:p>
          <a:p>
            <a:pPr lvl="1">
              <a:lnSpc>
                <a:spcPct val="90000"/>
              </a:lnSpc>
            </a:pPr>
            <a:r>
              <a:rPr lang="en-US" altLang="zh-CN" sz="2200" b="1" dirty="0">
                <a:ea typeface="宋体" panose="02010600030101010101" pitchFamily="2" charset="-122"/>
              </a:rPr>
              <a:t>IR</a:t>
            </a:r>
            <a:r>
              <a:rPr lang="zh-CN" altLang="en-US" sz="2200" b="1" dirty="0">
                <a:ea typeface="宋体" panose="02010600030101010101" pitchFamily="2" charset="-122"/>
              </a:rPr>
              <a:t>中包含某些低层次细节，代码生成器可以应用这些信息生成更好的代码</a:t>
            </a:r>
            <a:endParaRPr lang="en-US" altLang="zh-CN" sz="2200" b="1" dirty="0">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指令选择（</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0483" name="Rectangle 3"/>
          <p:cNvSpPr>
            <a:spLocks noGrp="1"/>
          </p:cNvSpPr>
          <p:nvPr>
            <p:ph idx="1"/>
          </p:nvPr>
        </p:nvSpPr>
        <p:spPr>
          <a:xfrm>
            <a:off x="755650" y="1371600"/>
            <a:ext cx="7777163" cy="5105400"/>
          </a:xfrm>
        </p:spPr>
        <p:txBody>
          <a:bodyPr vert="horz" wrap="square" lIns="92075" tIns="46038" rIns="92075" bIns="46038" anchor="t" anchorCtr="0"/>
          <a:p>
            <a:pPr>
              <a:lnSpc>
                <a:spcPct val="90000"/>
              </a:lnSpc>
            </a:pPr>
            <a:r>
              <a:rPr lang="zh-CN" altLang="en-US" sz="2400" b="1" dirty="0">
                <a:ea typeface="宋体" panose="02010600030101010101" pitchFamily="2" charset="-122"/>
              </a:rPr>
              <a:t>目标机指令体协结构特性极大影响指令选择难易程度</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指令系统的一致性和完整性是重要因素</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如果目标机器不能以一致的方式支持各种数据类型，则每种例外都要专门的处理</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指令的速度和机器的特点是另一些重要的因素</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如果不考虑目标程序的效率，则指令选择是直截了当的</a:t>
            </a:r>
            <a:endParaRPr lang="en-US" altLang="zh-CN" sz="20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逐条语句地产生代码的方法常常产生低质量的代码</a:t>
            </a:r>
            <a:endParaRPr lang="zh-CN" altLang="en-US"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a := b + c;  d := a + e</a:t>
            </a:r>
            <a:endParaRPr lang="en-US" altLang="zh-CN" sz="2000" b="1" dirty="0">
              <a:ea typeface="宋体" panose="02010600030101010101" pitchFamily="2" charset="-122"/>
            </a:endParaRPr>
          </a:p>
          <a:p>
            <a:pPr lvl="2">
              <a:buFont typeface="Wingdings" panose="05000000000000000000" pitchFamily="2" charset="2"/>
              <a:buNone/>
            </a:pP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LD	R0</a:t>
            </a:r>
            <a:r>
              <a:rPr lang="zh-CN" altLang="en-US" sz="2000" b="1" dirty="0">
                <a:ea typeface="宋体" panose="02010600030101010101" pitchFamily="2" charset="-122"/>
              </a:rPr>
              <a:t> </a:t>
            </a:r>
            <a:r>
              <a:rPr lang="en-US" altLang="zh-CN" sz="2000" b="1" dirty="0">
                <a:ea typeface="宋体" panose="02010600030101010101" pitchFamily="2" charset="-122"/>
              </a:rPr>
              <a:t>, b</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ADD	R0 , R0 , c</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ST	a , R0</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solidFill>
                  <a:srgbClr val="063DE8"/>
                </a:solidFill>
                <a:ea typeface="宋体" panose="02010600030101010101" pitchFamily="2" charset="-122"/>
              </a:rPr>
              <a:t>	LD	R0 , a</a:t>
            </a:r>
            <a:endParaRPr lang="en-US" altLang="zh-CN" sz="2000" b="1" dirty="0">
              <a:solidFill>
                <a:srgbClr val="063DE8"/>
              </a:solidFill>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ADD	R0 , R0 , e</a:t>
            </a:r>
            <a:endParaRPr lang="en-US" altLang="zh-CN" sz="2000" b="1" dirty="0">
              <a:ea typeface="宋体" panose="02010600030101010101" pitchFamily="2" charset="-122"/>
            </a:endParaRPr>
          </a:p>
          <a:p>
            <a:pPr lvl="2">
              <a:buFont typeface="Wingdings" panose="05000000000000000000" pitchFamily="2" charset="2"/>
              <a:buNone/>
            </a:pPr>
            <a:r>
              <a:rPr lang="en-US" altLang="zh-CN" sz="2000" b="1" dirty="0">
                <a:ea typeface="宋体" panose="02010600030101010101" pitchFamily="2" charset="-122"/>
              </a:rPr>
              <a:t>	ST	d , R0</a:t>
            </a:r>
            <a:endParaRPr lang="zh-CN" altLang="en-US" sz="2000" b="1" dirty="0">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指令选择（</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2531" name="Rectangle 3"/>
          <p:cNvSpPr>
            <a:spLocks noGrp="1"/>
          </p:cNvSpPr>
          <p:nvPr>
            <p:ph idx="1"/>
          </p:nvPr>
        </p:nvSpPr>
        <p:spPr>
          <a:xfrm>
            <a:off x="755650" y="1557338"/>
            <a:ext cx="7777163" cy="4919662"/>
          </a:xfrm>
        </p:spPr>
        <p:txBody>
          <a:bodyPr vert="horz" wrap="square" lIns="92075" tIns="46038" rIns="92075" bIns="46038" anchor="t" anchorCtr="0"/>
          <a:p>
            <a:pPr lvl="1">
              <a:lnSpc>
                <a:spcPct val="90000"/>
              </a:lnSpc>
            </a:pPr>
            <a:r>
              <a:rPr lang="zh-CN" altLang="en-US" sz="2200" b="1" dirty="0">
                <a:ea typeface="宋体" panose="02010600030101010101" pitchFamily="2" charset="-122"/>
              </a:rPr>
              <a:t>代码的质量取决于它的执行速度和长度</a:t>
            </a:r>
            <a:endParaRPr lang="zh-CN" altLang="en-US" sz="2200" b="1" dirty="0">
              <a:ea typeface="宋体" panose="02010600030101010101" pitchFamily="2" charset="-122"/>
            </a:endParaRPr>
          </a:p>
          <a:p>
            <a:pPr lvl="2">
              <a:lnSpc>
                <a:spcPct val="90000"/>
              </a:lnSpc>
            </a:pPr>
            <a:r>
              <a:rPr lang="zh-CN" altLang="en-US" sz="2000" b="1" dirty="0">
                <a:ea typeface="宋体" panose="02010600030101010101" pitchFamily="2" charset="-122"/>
              </a:rPr>
              <a:t>可以从多种指令中选择合适的：</a:t>
            </a:r>
            <a:r>
              <a:rPr lang="en-US" altLang="zh-CN" sz="2000" b="1" dirty="0">
                <a:ea typeface="宋体" panose="02010600030101010101" pitchFamily="2" charset="-122"/>
              </a:rPr>
              <a:t>a=a+1</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LD	R0</a:t>
            </a:r>
            <a:r>
              <a:rPr lang="zh-CN" altLang="en-US" sz="2000" b="1" dirty="0">
                <a:ea typeface="宋体" panose="02010600030101010101" pitchFamily="2" charset="-122"/>
              </a:rPr>
              <a:t> </a:t>
            </a:r>
            <a:r>
              <a:rPr lang="en-US" altLang="zh-CN" sz="2000" b="1" dirty="0">
                <a:ea typeface="宋体" panose="02010600030101010101" pitchFamily="2" charset="-122"/>
              </a:rPr>
              <a:t>, a</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ADD	R0</a:t>
            </a:r>
            <a:r>
              <a:rPr lang="zh-CN" altLang="en-US" sz="2000" b="1" dirty="0">
                <a:ea typeface="宋体" panose="02010600030101010101" pitchFamily="2" charset="-122"/>
              </a:rPr>
              <a:t> </a:t>
            </a:r>
            <a:r>
              <a:rPr lang="en-US" altLang="zh-CN" sz="2000" b="1" dirty="0">
                <a:ea typeface="宋体" panose="02010600030101010101" pitchFamily="2" charset="-122"/>
              </a:rPr>
              <a:t>, R0 , #1		INC	a</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ST	a , R0</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要设计良好的代码序列，必须知道指令的代价，但该信息是难以获得的</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代价可能是时间、功耗等</a:t>
            </a:r>
            <a:endParaRPr lang="en-US" altLang="zh-CN" sz="1800" b="1" dirty="0">
              <a:ea typeface="宋体" panose="02010600030101010101" pitchFamily="2" charset="-122"/>
            </a:endParaRPr>
          </a:p>
          <a:p>
            <a:pPr lvl="2">
              <a:lnSpc>
                <a:spcPct val="90000"/>
              </a:lnSpc>
            </a:pPr>
            <a:r>
              <a:rPr lang="zh-CN" altLang="en-US" sz="2000" b="1" dirty="0">
                <a:ea typeface="宋体" panose="02010600030101010101" pitchFamily="2" charset="-122"/>
              </a:rPr>
              <a:t>对于一个给定的三地址构造，可能要根据其上下文才能最终确定其对应的最好的机器代码序列</a:t>
            </a:r>
            <a:endParaRPr lang="en-US" altLang="zh-CN" sz="2000" b="1" dirty="0">
              <a:ea typeface="宋体" panose="02010600030101010101"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寄存器分配</a:t>
            </a:r>
            <a:endParaRPr lang="zh-CN" altLang="en-US" dirty="0">
              <a:latin typeface="Times New Roman" panose="02020603050405020304" pitchFamily="18" charset="0"/>
              <a:ea typeface="宋体" panose="02010600030101010101" pitchFamily="2" charset="-122"/>
            </a:endParaRPr>
          </a:p>
        </p:txBody>
      </p:sp>
      <p:sp>
        <p:nvSpPr>
          <p:cNvPr id="2457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快速的寄存器</a:t>
            </a:r>
            <a:endParaRPr lang="zh-CN" altLang="en-US" sz="2400" b="1" dirty="0">
              <a:ea typeface="宋体" panose="02010600030101010101" pitchFamily="2" charset="-122"/>
            </a:endParaRPr>
          </a:p>
          <a:p>
            <a:pPr lvl="1"/>
            <a:r>
              <a:rPr lang="zh-CN" altLang="en-US" sz="2200" b="1" dirty="0">
                <a:ea typeface="宋体" panose="02010600030101010101" pitchFamily="2" charset="-122"/>
              </a:rPr>
              <a:t>通常，利用寄存器放置运算对象的指令比运算对象在内存中的指令短些</a:t>
            </a:r>
            <a:endParaRPr lang="zh-CN" altLang="en-US" sz="2200" b="1" dirty="0">
              <a:ea typeface="宋体" panose="02010600030101010101" pitchFamily="2" charset="-122"/>
            </a:endParaRPr>
          </a:p>
          <a:p>
            <a:pPr lvl="1"/>
            <a:r>
              <a:rPr lang="zh-CN" altLang="en-US" sz="2200" b="1" dirty="0">
                <a:ea typeface="宋体" panose="02010600030101010101" pitchFamily="2" charset="-122"/>
              </a:rPr>
              <a:t>执行也快些</a:t>
            </a:r>
            <a:endParaRPr lang="zh-CN" altLang="en-US" sz="2200" b="1" dirty="0">
              <a:ea typeface="宋体" panose="02010600030101010101" pitchFamily="2" charset="-122"/>
            </a:endParaRPr>
          </a:p>
          <a:p>
            <a:pPr lvl="1"/>
            <a:r>
              <a:rPr lang="zh-CN" altLang="en-US" sz="2200" b="1" dirty="0">
                <a:ea typeface="宋体" panose="02010600030101010101" pitchFamily="2" charset="-122"/>
              </a:rPr>
              <a:t>充分利用寄存器对高质量的代码生成是重要的</a:t>
            </a:r>
            <a:endParaRPr lang="en-US" altLang="zh-CN" sz="2200" b="1" dirty="0">
              <a:ea typeface="宋体" panose="02010600030101010101" pitchFamily="2" charset="-122"/>
            </a:endParaRPr>
          </a:p>
        </p:txBody>
      </p:sp>
      <p:sp>
        <p:nvSpPr>
          <p:cNvPr id="24580" name="Text Box 4"/>
          <p:cNvSpPr txBox="1"/>
          <p:nvPr/>
        </p:nvSpPr>
        <p:spPr>
          <a:xfrm>
            <a:off x="2209800" y="3657600"/>
            <a:ext cx="1898650" cy="250190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Aft>
                <a:spcPct val="20000"/>
              </a:spcAft>
              <a:buClrTx/>
              <a:buSzTx/>
              <a:buNone/>
            </a:pPr>
            <a:r>
              <a:rPr lang="zh-CN" altLang="en-US" sz="2400" b="1" dirty="0">
                <a:ea typeface="宋体" panose="02010600030101010101" pitchFamily="2" charset="-122"/>
              </a:rPr>
              <a:t>寄存器</a:t>
            </a:r>
            <a:endParaRPr lang="zh-CN" altLang="en-US" sz="2400" b="1" dirty="0">
              <a:ea typeface="宋体" panose="02010600030101010101" pitchFamily="2" charset="-122"/>
            </a:endParaRPr>
          </a:p>
          <a:p>
            <a:pPr marL="0" lvl="0" indent="0" algn="ctr">
              <a:spcAft>
                <a:spcPct val="20000"/>
              </a:spcAft>
              <a:buClrTx/>
              <a:buSzTx/>
              <a:buNone/>
            </a:pPr>
            <a:r>
              <a:rPr lang="zh-CN" altLang="en-US" sz="2400" b="1" dirty="0">
                <a:ea typeface="宋体" panose="02010600030101010101" pitchFamily="2" charset="-122"/>
              </a:rPr>
              <a:t>片内</a:t>
            </a:r>
            <a:r>
              <a:rPr lang="en-US" altLang="zh-CN" sz="2400" b="1" dirty="0">
                <a:ea typeface="宋体" panose="02010600030101010101" pitchFamily="2" charset="-122"/>
              </a:rPr>
              <a:t>CACHE</a:t>
            </a:r>
            <a:endParaRPr lang="en-US" altLang="zh-CN" sz="2400" b="1" dirty="0">
              <a:ea typeface="宋体" panose="02010600030101010101" pitchFamily="2" charset="-122"/>
            </a:endParaRPr>
          </a:p>
          <a:p>
            <a:pPr marL="0" lvl="0" indent="0" algn="ctr">
              <a:spcAft>
                <a:spcPct val="20000"/>
              </a:spcAft>
              <a:buClrTx/>
              <a:buSzTx/>
              <a:buNone/>
            </a:pPr>
            <a:r>
              <a:rPr lang="zh-CN" altLang="en-US" sz="2400" b="1" dirty="0">
                <a:ea typeface="宋体" panose="02010600030101010101" pitchFamily="2" charset="-122"/>
              </a:rPr>
              <a:t>片外</a:t>
            </a:r>
            <a:r>
              <a:rPr lang="en-US" altLang="zh-CN" sz="2400" b="1" dirty="0">
                <a:ea typeface="宋体" panose="02010600030101010101" pitchFamily="2" charset="-122"/>
              </a:rPr>
              <a:t>CACHE</a:t>
            </a:r>
            <a:endParaRPr lang="en-US" altLang="zh-CN" sz="2400" b="1" dirty="0">
              <a:ea typeface="宋体" panose="02010600030101010101" pitchFamily="2" charset="-122"/>
            </a:endParaRPr>
          </a:p>
          <a:p>
            <a:pPr marL="0" lvl="0" indent="0" algn="ctr">
              <a:spcAft>
                <a:spcPct val="20000"/>
              </a:spcAft>
              <a:buClrTx/>
              <a:buSzTx/>
              <a:buNone/>
            </a:pPr>
            <a:r>
              <a:rPr lang="zh-CN" altLang="en-US" sz="2400" b="1" dirty="0">
                <a:ea typeface="宋体" panose="02010600030101010101" pitchFamily="2" charset="-122"/>
              </a:rPr>
              <a:t>主存</a:t>
            </a:r>
            <a:endParaRPr lang="zh-CN" altLang="en-US" sz="2400" b="1" dirty="0">
              <a:ea typeface="宋体" panose="02010600030101010101" pitchFamily="2" charset="-122"/>
            </a:endParaRPr>
          </a:p>
          <a:p>
            <a:pPr marL="0" lvl="0" indent="0" algn="ctr">
              <a:spcAft>
                <a:spcPct val="20000"/>
              </a:spcAft>
              <a:buClrTx/>
              <a:buSzTx/>
              <a:buNone/>
            </a:pPr>
            <a:r>
              <a:rPr lang="zh-CN" altLang="en-US" sz="2400" b="1" dirty="0">
                <a:ea typeface="宋体" panose="02010600030101010101" pitchFamily="2" charset="-122"/>
              </a:rPr>
              <a:t>外存</a:t>
            </a:r>
            <a:endParaRPr lang="zh-CN" altLang="en-US" sz="2400" b="1" dirty="0">
              <a:ea typeface="宋体" panose="02010600030101010101" pitchFamily="2" charset="-122"/>
            </a:endParaRPr>
          </a:p>
        </p:txBody>
      </p:sp>
      <p:sp>
        <p:nvSpPr>
          <p:cNvPr id="24581" name="Rectangle 5"/>
          <p:cNvSpPr/>
          <p:nvPr/>
        </p:nvSpPr>
        <p:spPr>
          <a:xfrm>
            <a:off x="2438400" y="3581400"/>
            <a:ext cx="1447800" cy="5334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24582" name="Rectangle 6"/>
          <p:cNvSpPr/>
          <p:nvPr/>
        </p:nvSpPr>
        <p:spPr>
          <a:xfrm>
            <a:off x="2209800" y="4114800"/>
            <a:ext cx="1905000" cy="5334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24583" name="Rectangle 7"/>
          <p:cNvSpPr/>
          <p:nvPr/>
        </p:nvSpPr>
        <p:spPr>
          <a:xfrm>
            <a:off x="2057400" y="4648200"/>
            <a:ext cx="2209800" cy="5334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24584" name="Rectangle 8"/>
          <p:cNvSpPr/>
          <p:nvPr/>
        </p:nvSpPr>
        <p:spPr>
          <a:xfrm>
            <a:off x="1828800" y="5181600"/>
            <a:ext cx="2667000" cy="5334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24585" name="Rectangle 9"/>
          <p:cNvSpPr/>
          <p:nvPr/>
        </p:nvSpPr>
        <p:spPr>
          <a:xfrm>
            <a:off x="1447800" y="5715000"/>
            <a:ext cx="3352800" cy="60960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24586" name="Text Box 10"/>
          <p:cNvSpPr txBox="1"/>
          <p:nvPr/>
        </p:nvSpPr>
        <p:spPr>
          <a:xfrm>
            <a:off x="5715000" y="3581400"/>
            <a:ext cx="1716088" cy="250190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Aft>
                <a:spcPct val="20000"/>
              </a:spcAft>
              <a:buClrTx/>
              <a:buSzTx/>
              <a:buNone/>
            </a:pPr>
            <a:r>
              <a:rPr lang="zh-CN" altLang="en-US" sz="2400" b="1" dirty="0">
                <a:ea typeface="宋体" panose="02010600030101010101" pitchFamily="2" charset="-122"/>
              </a:rPr>
              <a:t>寄存器优化</a:t>
            </a:r>
            <a:endParaRPr lang="zh-CN" altLang="en-US" sz="2400" b="1" dirty="0">
              <a:ea typeface="宋体" panose="02010600030101010101" pitchFamily="2" charset="-122"/>
            </a:endParaRPr>
          </a:p>
          <a:p>
            <a:pPr marL="0" lvl="0" indent="0" algn="ctr">
              <a:spcAft>
                <a:spcPct val="20000"/>
              </a:spcAft>
              <a:buClrTx/>
              <a:buSzTx/>
              <a:buNone/>
            </a:pPr>
            <a:endParaRPr lang="zh-CN" altLang="en-US" sz="2400" b="1" dirty="0">
              <a:ea typeface="宋体" panose="02010600030101010101" pitchFamily="2" charset="-122"/>
            </a:endParaRPr>
          </a:p>
          <a:p>
            <a:pPr marL="0" lvl="0" indent="0" algn="ctr">
              <a:spcAft>
                <a:spcPct val="20000"/>
              </a:spcAft>
              <a:buClrTx/>
              <a:buSzTx/>
              <a:buNone/>
            </a:pPr>
            <a:endParaRPr lang="zh-CN" altLang="en-US" sz="2400" b="1" dirty="0">
              <a:ea typeface="宋体" panose="02010600030101010101" pitchFamily="2" charset="-122"/>
            </a:endParaRPr>
          </a:p>
          <a:p>
            <a:pPr marL="0" lvl="0" indent="0" algn="ctr">
              <a:spcAft>
                <a:spcPct val="20000"/>
              </a:spcAft>
              <a:buClrTx/>
              <a:buSzTx/>
              <a:buNone/>
            </a:pPr>
            <a:r>
              <a:rPr lang="zh-CN" altLang="en-US" sz="2400" b="1" dirty="0">
                <a:ea typeface="宋体" panose="02010600030101010101" pitchFamily="2" charset="-122"/>
              </a:rPr>
              <a:t>局部性优化</a:t>
            </a:r>
            <a:endParaRPr lang="en-US" altLang="zh-CN" sz="2400" b="1" dirty="0">
              <a:ea typeface="宋体" panose="02010600030101010101" pitchFamily="2" charset="-122"/>
            </a:endParaRPr>
          </a:p>
          <a:p>
            <a:pPr marL="0" lvl="0" indent="0" algn="ctr">
              <a:spcAft>
                <a:spcPct val="20000"/>
              </a:spcAft>
              <a:buClrTx/>
              <a:buSzTx/>
              <a:buNone/>
            </a:pPr>
            <a:endParaRPr lang="zh-CN" altLang="en-US" sz="2400" b="1" dirty="0">
              <a:ea typeface="宋体" panose="02010600030101010101" pitchFamily="2" charset="-122"/>
            </a:endParaRPr>
          </a:p>
        </p:txBody>
      </p:sp>
      <p:sp>
        <p:nvSpPr>
          <p:cNvPr id="24587" name="AutoShape 11"/>
          <p:cNvSpPr/>
          <p:nvPr/>
        </p:nvSpPr>
        <p:spPr>
          <a:xfrm>
            <a:off x="5334000" y="4267200"/>
            <a:ext cx="228600" cy="1828800"/>
          </a:xfrm>
          <a:prstGeom prst="rightBrace">
            <a:avLst>
              <a:gd name="adj1" fmla="val 66666"/>
              <a:gd name="adj2" fmla="val 50000"/>
            </a:avLst>
          </a:prstGeom>
          <a:noFill/>
          <a:ln w="22225" cap="flat" cmpd="sng">
            <a:solidFill>
              <a:schemeClr val="tx1"/>
            </a:solidFill>
            <a:prstDash val="solid"/>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寄存器分配（续）</a:t>
            </a:r>
            <a:endParaRPr lang="zh-CN" altLang="en-US" dirty="0">
              <a:latin typeface="Times New Roman" panose="02020603050405020304" pitchFamily="18" charset="0"/>
              <a:ea typeface="宋体" panose="02010600030101010101" pitchFamily="2" charset="-122"/>
            </a:endParaRPr>
          </a:p>
        </p:txBody>
      </p:sp>
      <p:sp>
        <p:nvSpPr>
          <p:cNvPr id="26627" name="Rectangle 3"/>
          <p:cNvSpPr>
            <a:spLocks noGrp="1"/>
          </p:cNvSpPr>
          <p:nvPr>
            <p:ph idx="1"/>
          </p:nvPr>
        </p:nvSpPr>
        <p:spPr>
          <a:xfrm>
            <a:off x="250825" y="1371600"/>
            <a:ext cx="8642350" cy="4876800"/>
          </a:xfrm>
        </p:spPr>
        <p:txBody>
          <a:bodyPr vert="horz" wrap="square" lIns="92075" tIns="46038" rIns="92075" bIns="46038" anchor="t" anchorCtr="0"/>
          <a:p>
            <a:r>
              <a:rPr lang="zh-CN" altLang="en-US" sz="2400" b="1" dirty="0">
                <a:ea typeface="宋体" panose="02010600030101010101" pitchFamily="2" charset="-122"/>
              </a:rPr>
              <a:t>寄存器使用的两个子问题</a:t>
            </a:r>
            <a:endParaRPr lang="zh-CN" altLang="en-US" sz="2400" b="1" dirty="0">
              <a:ea typeface="宋体" panose="02010600030101010101" pitchFamily="2" charset="-122"/>
            </a:endParaRPr>
          </a:p>
          <a:p>
            <a:pPr lvl="1"/>
            <a:r>
              <a:rPr lang="zh-CN" altLang="en-US" sz="2200" b="1" dirty="0">
                <a:ea typeface="宋体" panose="02010600030101010101" pitchFamily="2" charset="-122"/>
              </a:rPr>
              <a:t>寄存器分配：对源程序的每个点，选择驻留在寄存器中的一组变量</a:t>
            </a:r>
            <a:endParaRPr lang="zh-CN" altLang="en-US" sz="2200" b="1" dirty="0">
              <a:ea typeface="宋体" panose="02010600030101010101" pitchFamily="2" charset="-122"/>
            </a:endParaRPr>
          </a:p>
          <a:p>
            <a:pPr lvl="1"/>
            <a:r>
              <a:rPr lang="zh-CN" altLang="en-US" sz="2200" b="1" dirty="0">
                <a:ea typeface="宋体" panose="02010600030101010101" pitchFamily="2" charset="-122"/>
              </a:rPr>
              <a:t>寄存器指派：挑出变量将要驻留的具体寄存器</a:t>
            </a:r>
            <a:endParaRPr lang="zh-CN" altLang="en-US" sz="2200" b="1" dirty="0">
              <a:ea typeface="宋体" panose="02010600030101010101" pitchFamily="2" charset="-122"/>
            </a:endParaRPr>
          </a:p>
          <a:p>
            <a:r>
              <a:rPr lang="zh-CN" altLang="en-US" sz="2400" b="1" dirty="0">
                <a:ea typeface="宋体" panose="02010600030101010101" pitchFamily="2" charset="-122"/>
              </a:rPr>
              <a:t>寄存器分配的最优化是</a:t>
            </a:r>
            <a:r>
              <a:rPr lang="en-US" altLang="zh-CN" sz="2400" b="1" dirty="0">
                <a:ea typeface="宋体" panose="02010600030101010101" pitchFamily="2" charset="-122"/>
              </a:rPr>
              <a:t>NP</a:t>
            </a:r>
            <a:r>
              <a:rPr lang="zh-CN" altLang="en-US" sz="2400" b="1" dirty="0">
                <a:ea typeface="宋体" panose="02010600030101010101" pitchFamily="2" charset="-122"/>
              </a:rPr>
              <a:t>完全的</a:t>
            </a:r>
            <a:endParaRPr lang="zh-CN" altLang="en-US" sz="2400" b="1" dirty="0">
              <a:ea typeface="宋体" panose="02010600030101010101" pitchFamily="2" charset="-122"/>
            </a:endParaRPr>
          </a:p>
          <a:p>
            <a:r>
              <a:rPr lang="zh-CN" altLang="en-US" sz="2400" b="1" dirty="0">
                <a:ea typeface="宋体" panose="02010600030101010101" pitchFamily="2" charset="-122"/>
              </a:rPr>
              <a:t>特定要求的满足，如下页</a:t>
            </a:r>
            <a:endParaRPr lang="en-US" altLang="zh-CN" sz="2400" b="1" dirty="0">
              <a:ea typeface="宋体" panose="02010600030101010101" pitchFamily="2" charset="-122"/>
            </a:endParaRPr>
          </a:p>
          <a:p>
            <a:pPr lvl="1"/>
            <a:r>
              <a:rPr lang="zh-CN" altLang="en-US" sz="2200" b="1" dirty="0">
                <a:ea typeface="宋体" panose="02010600030101010101" pitchFamily="2" charset="-122"/>
              </a:rPr>
              <a:t>运算分量和结果使用寄存器对（一个偶数号寄存器和相邻的奇数号寄存器）</a:t>
            </a:r>
            <a:endParaRPr lang="en-US" altLang="zh-CN" sz="2200" b="1" dirty="0">
              <a:ea typeface="宋体" panose="02010600030101010101" pitchFamily="2" charset="-122"/>
            </a:endParaRPr>
          </a:p>
          <a:p>
            <a:pPr lvl="2"/>
            <a:r>
              <a:rPr lang="zh-CN" altLang="en-US" sz="2000" b="1" dirty="0">
                <a:ea typeface="宋体" panose="02010600030101010101" pitchFamily="2" charset="-122"/>
              </a:rPr>
              <a:t>乘法指令：</a:t>
            </a:r>
            <a:r>
              <a:rPr lang="en-US" altLang="zh-CN" sz="2000" b="1" dirty="0">
                <a:ea typeface="宋体" panose="02010600030101010101" pitchFamily="2" charset="-122"/>
              </a:rPr>
              <a:t>M</a:t>
            </a:r>
            <a:r>
              <a:rPr lang="zh-CN" altLang="en-US" sz="2000" b="1" dirty="0">
                <a:ea typeface="宋体" panose="02010600030101010101" pitchFamily="2" charset="-122"/>
              </a:rPr>
              <a:t> </a:t>
            </a:r>
            <a:r>
              <a:rPr lang="en-US" altLang="zh-CN" sz="2000" b="1" dirty="0">
                <a:ea typeface="宋体" panose="02010600030101010101" pitchFamily="2" charset="-122"/>
              </a:rPr>
              <a:t>x , y</a:t>
            </a:r>
            <a:r>
              <a:rPr lang="zh-CN" altLang="en-US" sz="2000" b="1" dirty="0">
                <a:ea typeface="宋体" panose="02010600030101010101" pitchFamily="2" charset="-122"/>
              </a:rPr>
              <a:t>，乘数</a:t>
            </a:r>
            <a:r>
              <a:rPr lang="en-US" altLang="zh-CN" sz="2000" b="1" dirty="0">
                <a:ea typeface="宋体" panose="02010600030101010101" pitchFamily="2" charset="-122"/>
              </a:rPr>
              <a:t>x</a:t>
            </a:r>
            <a:r>
              <a:rPr lang="zh-CN" altLang="en-US" sz="2000" b="1" dirty="0">
                <a:ea typeface="宋体" panose="02010600030101010101" pitchFamily="2" charset="-122"/>
              </a:rPr>
              <a:t>是寄存器对的奇数号寄存器，</a:t>
            </a:r>
            <a:r>
              <a:rPr lang="en-US" altLang="zh-CN" sz="2000" b="1" dirty="0">
                <a:ea typeface="宋体" panose="02010600030101010101" pitchFamily="2" charset="-122"/>
              </a:rPr>
              <a:t>y</a:t>
            </a:r>
            <a:r>
              <a:rPr lang="zh-CN" altLang="en-US" sz="2000" b="1" dirty="0">
                <a:ea typeface="宋体" panose="02010600030101010101" pitchFamily="2" charset="-122"/>
              </a:rPr>
              <a:t>可以在任意位置，结果占据整个寄存器对</a:t>
            </a:r>
            <a:endParaRPr lang="en-US" altLang="zh-CN" sz="2000" b="1" dirty="0">
              <a:ea typeface="宋体" panose="02010600030101010101" pitchFamily="2" charset="-122"/>
            </a:endParaRPr>
          </a:p>
          <a:p>
            <a:pPr lvl="2"/>
            <a:r>
              <a:rPr lang="zh-CN" altLang="en-US" sz="2000" b="1" dirty="0">
                <a:ea typeface="宋体" panose="02010600030101010101" pitchFamily="2" charset="-122"/>
              </a:rPr>
              <a:t>除法指令：</a:t>
            </a:r>
            <a:r>
              <a:rPr lang="en-US" altLang="zh-CN" sz="2000" b="1" dirty="0">
                <a:ea typeface="宋体" panose="02010600030101010101" pitchFamily="2" charset="-122"/>
              </a:rPr>
              <a:t>D</a:t>
            </a:r>
            <a:r>
              <a:rPr lang="zh-CN" altLang="en-US" sz="2000" b="1" dirty="0">
                <a:ea typeface="宋体" panose="02010600030101010101" pitchFamily="2" charset="-122"/>
              </a:rPr>
              <a:t> </a:t>
            </a:r>
            <a:r>
              <a:rPr lang="en-US" altLang="zh-CN" sz="2000" b="1" dirty="0">
                <a:ea typeface="宋体" panose="02010600030101010101" pitchFamily="2" charset="-122"/>
              </a:rPr>
              <a:t>x , y</a:t>
            </a:r>
            <a:r>
              <a:rPr lang="zh-CN" altLang="en-US" sz="2000" b="1" dirty="0">
                <a:ea typeface="宋体" panose="02010600030101010101" pitchFamily="2" charset="-122"/>
              </a:rPr>
              <a:t>，被除数占据整个寄存器对，</a:t>
            </a:r>
            <a:r>
              <a:rPr lang="en-US" altLang="zh-CN" sz="2000" b="1" dirty="0">
                <a:ea typeface="宋体" panose="02010600030101010101" pitchFamily="2" charset="-122"/>
              </a:rPr>
              <a:t>x</a:t>
            </a:r>
            <a:r>
              <a:rPr lang="zh-CN" altLang="en-US" sz="2000" b="1" dirty="0">
                <a:ea typeface="宋体" panose="02010600030101010101" pitchFamily="2" charset="-122"/>
              </a:rPr>
              <a:t>是其偶数号寄存器，</a:t>
            </a:r>
            <a:r>
              <a:rPr lang="en-US" altLang="zh-CN" sz="2000" b="1" dirty="0">
                <a:ea typeface="宋体" panose="02010600030101010101" pitchFamily="2" charset="-122"/>
              </a:rPr>
              <a:t>y</a:t>
            </a:r>
            <a:r>
              <a:rPr lang="zh-CN" altLang="en-US" sz="2000" b="1" dirty="0">
                <a:ea typeface="宋体" panose="02010600030101010101" pitchFamily="2" charset="-122"/>
              </a:rPr>
              <a:t>是除数，结果的余数放在偶数号寄存器，商在奇数号寄存器</a:t>
            </a:r>
            <a:endParaRPr lang="en-US" altLang="zh-CN" sz="2000" b="1" dirty="0">
              <a:ea typeface="宋体" panose="02010600030101010101" pitchFamily="2" charset="-122"/>
            </a:endParaRPr>
          </a:p>
          <a:p>
            <a:pPr lvl="2"/>
            <a:r>
              <a:rPr lang="en-US" altLang="zh-CN" sz="2000" b="1" dirty="0">
                <a:ea typeface="宋体" panose="02010600030101010101" pitchFamily="2" charset="-122"/>
              </a:rPr>
              <a:t>SRDA</a:t>
            </a:r>
            <a:r>
              <a:rPr lang="zh-CN" altLang="en-US" sz="2000" b="1" dirty="0">
                <a:ea typeface="宋体" panose="02010600030101010101" pitchFamily="2" charset="-122"/>
              </a:rPr>
              <a:t> </a:t>
            </a:r>
            <a:r>
              <a:rPr lang="en-US" altLang="zh-CN" sz="2000" b="1" dirty="0">
                <a:ea typeface="宋体" panose="02010600030101010101" pitchFamily="2" charset="-122"/>
              </a:rPr>
              <a:t>R0 , 32</a:t>
            </a:r>
            <a:r>
              <a:rPr lang="zh-CN" altLang="en-US" sz="2000" b="1" dirty="0">
                <a:ea typeface="宋体" panose="02010600030101010101" pitchFamily="2" charset="-122"/>
              </a:rPr>
              <a:t>表示将被除数移入</a:t>
            </a:r>
            <a:r>
              <a:rPr lang="en-US" altLang="zh-CN" sz="2000" b="1" dirty="0">
                <a:ea typeface="宋体" panose="02010600030101010101" pitchFamily="2" charset="-122"/>
              </a:rPr>
              <a:t>R1</a:t>
            </a:r>
            <a:r>
              <a:rPr lang="zh-CN" altLang="en-US" sz="2000" b="1" dirty="0">
                <a:ea typeface="宋体" panose="02010600030101010101" pitchFamily="2" charset="-122"/>
              </a:rPr>
              <a:t>，并将</a:t>
            </a:r>
            <a:r>
              <a:rPr lang="en-US" altLang="zh-CN" sz="2000" b="1" dirty="0">
                <a:ea typeface="宋体" panose="02010600030101010101" pitchFamily="2" charset="-122"/>
              </a:rPr>
              <a:t>R0</a:t>
            </a:r>
            <a:r>
              <a:rPr lang="zh-CN" altLang="en-US" sz="2000" b="1" dirty="0">
                <a:ea typeface="宋体" panose="02010600030101010101" pitchFamily="2" charset="-122"/>
              </a:rPr>
              <a:t>清空，使得所有位都等于被除数的正负号位</a:t>
            </a:r>
            <a:endParaRPr lang="en-US" altLang="zh-CN" sz="2000" b="1" dirty="0">
              <a:ea typeface="宋体" panose="02010600030101010101" pitchFamily="2"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2"/>
          <p:cNvPicPr>
            <a:picLocks noChangeAspect="1"/>
          </p:cNvPicPr>
          <p:nvPr/>
        </p:nvPicPr>
        <p:blipFill>
          <a:blip r:embed="rId1"/>
          <a:stretch>
            <a:fillRect/>
          </a:stretch>
        </p:blipFill>
        <p:spPr>
          <a:xfrm>
            <a:off x="1676400" y="228600"/>
            <a:ext cx="5430838" cy="6170613"/>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求值顺序</a:t>
            </a:r>
            <a:endParaRPr lang="zh-CN" altLang="en-US" dirty="0">
              <a:latin typeface="Times New Roman" panose="02020603050405020304" pitchFamily="18" charset="0"/>
              <a:ea typeface="宋体" panose="02010600030101010101" pitchFamily="2" charset="-122"/>
            </a:endParaRPr>
          </a:p>
        </p:txBody>
      </p:sp>
      <p:sp>
        <p:nvSpPr>
          <p:cNvPr id="29699" name="Rectangle 3"/>
          <p:cNvSpPr>
            <a:spLocks noGrp="1"/>
          </p:cNvSpPr>
          <p:nvPr>
            <p:ph idx="1"/>
          </p:nvPr>
        </p:nvSpPr>
        <p:spPr>
          <a:xfrm>
            <a:off x="990600" y="1524000"/>
            <a:ext cx="7391400" cy="4724400"/>
          </a:xfrm>
        </p:spPr>
        <p:txBody>
          <a:bodyPr vert="horz" wrap="square" lIns="92075" tIns="46038" rIns="92075" bIns="46038" anchor="t" anchorCtr="0"/>
          <a:p>
            <a:pPr marL="495300" indent="-495300"/>
            <a:r>
              <a:rPr lang="zh-CN" altLang="en-US" sz="2400" b="1" dirty="0">
                <a:ea typeface="宋体" panose="02010600030101010101" pitchFamily="2" charset="-122"/>
              </a:rPr>
              <a:t>计算执行的次序会影响目标代码的效率</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选择最佳次序是一个</a:t>
            </a:r>
            <a:r>
              <a:rPr lang="en-US" altLang="zh-CN" sz="2200" b="1" dirty="0">
                <a:ea typeface="宋体" panose="02010600030101010101" pitchFamily="2" charset="-122"/>
              </a:rPr>
              <a:t>NP</a:t>
            </a:r>
            <a:r>
              <a:rPr lang="zh-CN" altLang="en-US" sz="2200" b="1" dirty="0">
                <a:ea typeface="宋体" panose="02010600030101010101" pitchFamily="2" charset="-122"/>
              </a:rPr>
              <a:t>完全问题</a:t>
            </a:r>
            <a:endParaRPr lang="zh-CN" altLang="en-US" sz="2200" b="1" dirty="0">
              <a:ea typeface="宋体" panose="02010600030101010101" pitchFamily="2" charset="-122"/>
            </a:endParaRPr>
          </a:p>
          <a:p>
            <a:pPr marL="914400" lvl="1" indent="-457200">
              <a:buNone/>
            </a:pPr>
            <a:r>
              <a:rPr lang="zh-CN" altLang="en-US" sz="2000" b="1" dirty="0">
                <a:ea typeface="宋体" panose="02010600030101010101" pitchFamily="2" charset="-122"/>
              </a:rPr>
              <a:t>	</a:t>
            </a:r>
            <a:endParaRPr lang="zh-CN" altLang="en-US" sz="2000" b="1" dirty="0">
              <a:ea typeface="宋体" panose="02010600030101010101" pitchFamily="2" charset="-122"/>
            </a:endParaRPr>
          </a:p>
          <a:p>
            <a:pPr marL="914400" lvl="1" indent="-457200">
              <a:buNone/>
            </a:pPr>
            <a:r>
              <a:rPr lang="zh-CN" altLang="en-US" sz="2000" b="1" dirty="0">
                <a:ea typeface="宋体" panose="02010600030101010101" pitchFamily="2" charset="-122"/>
              </a:rPr>
              <a:t>	</a:t>
            </a:r>
            <a:r>
              <a:rPr lang="en-US" altLang="zh-CN" sz="2000" b="1" dirty="0">
                <a:ea typeface="宋体" panose="02010600030101010101" pitchFamily="2" charset="-122"/>
              </a:rPr>
              <a:t>ld     r1 , &amp;a		ld    r1 , &amp;a</a:t>
            </a:r>
            <a:endParaRPr lang="en-US" altLang="zh-CN" sz="2000" b="1" dirty="0">
              <a:ea typeface="宋体" panose="02010600030101010101" pitchFamily="2" charset="-122"/>
            </a:endParaRPr>
          </a:p>
          <a:p>
            <a:pPr marL="914400" lvl="1" indent="-457200">
              <a:buNone/>
            </a:pPr>
            <a:r>
              <a:rPr lang="en-US" altLang="zh-CN" sz="2000" b="1" dirty="0">
                <a:ea typeface="宋体" panose="02010600030101010101" pitchFamily="2" charset="-122"/>
              </a:rPr>
              <a:t>	add  r1 , r0		mul r2 , r3</a:t>
            </a:r>
            <a:endParaRPr lang="en-US" altLang="zh-CN" sz="2000" b="1" dirty="0">
              <a:ea typeface="宋体" panose="02010600030101010101" pitchFamily="2" charset="-122"/>
            </a:endParaRPr>
          </a:p>
          <a:p>
            <a:pPr marL="914400" lvl="1" indent="-457200">
              <a:buNone/>
            </a:pPr>
            <a:r>
              <a:rPr lang="en-US" altLang="zh-CN" sz="2000" b="1" dirty="0">
                <a:ea typeface="宋体" panose="02010600030101010101" pitchFamily="2" charset="-122"/>
              </a:rPr>
              <a:t>	mul  r2 , r3		add r1 , r0</a:t>
            </a:r>
            <a:endParaRPr lang="en-US" altLang="zh-CN" sz="2000" b="1" dirty="0">
              <a:ea typeface="宋体" panose="02010600030101010101" pitchFamily="2" charset="-122"/>
            </a:endParaRPr>
          </a:p>
          <a:p>
            <a:pPr marL="914400" lvl="1" indent="-457200">
              <a:buNone/>
            </a:pPr>
            <a:r>
              <a:rPr lang="en-US" altLang="zh-CN" sz="2000" b="1" dirty="0">
                <a:ea typeface="宋体" panose="02010600030101010101" pitchFamily="2" charset="-122"/>
              </a:rPr>
              <a:t>	add  r1 , r2		add r1 , r2</a:t>
            </a:r>
            <a:endParaRPr lang="en-US" altLang="zh-CN" sz="2000" b="1" dirty="0">
              <a:ea typeface="宋体" panose="02010600030101010101" pitchFamily="2"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31747"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3000" b="1" dirty="0">
                <a:solidFill>
                  <a:srgbClr val="FF0000"/>
                </a:solidFill>
                <a:ea typeface="宋体" panose="02010600030101010101" pitchFamily="2" charset="-122"/>
              </a:rPr>
              <a:t>目标语言</a:t>
            </a:r>
            <a:endParaRPr lang="zh-CN" altLang="en-US" sz="30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目标代码中的地址</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基本块及其优化</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控制流图及流分析</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跨越基本块的优化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目标语言</a:t>
            </a:r>
            <a:endParaRPr lang="zh-CN" altLang="en-US" dirty="0">
              <a:latin typeface="Times New Roman" panose="02020603050405020304" pitchFamily="18" charset="0"/>
              <a:ea typeface="宋体" panose="02010600030101010101" pitchFamily="2" charset="-122"/>
            </a:endParaRPr>
          </a:p>
        </p:txBody>
      </p:sp>
      <p:sp>
        <p:nvSpPr>
          <p:cNvPr id="33795" name="Rectangle 3"/>
          <p:cNvSpPr>
            <a:spLocks noGrp="1"/>
          </p:cNvSpPr>
          <p:nvPr>
            <p:ph idx="1"/>
          </p:nvPr>
        </p:nvSpPr>
        <p:spPr>
          <a:xfrm>
            <a:off x="990600" y="1484313"/>
            <a:ext cx="7391400" cy="4764087"/>
          </a:xfrm>
        </p:spPr>
        <p:txBody>
          <a:bodyPr vert="horz" wrap="square" lIns="92075" tIns="46038" rIns="92075" bIns="46038" anchor="t" anchorCtr="0"/>
          <a:p>
            <a:pPr marL="495300" indent="-495300"/>
            <a:r>
              <a:rPr lang="zh-CN" altLang="en-US" sz="2400" b="1" dirty="0">
                <a:ea typeface="宋体" panose="02010600030101010101" pitchFamily="2" charset="-122"/>
              </a:rPr>
              <a:t>熟悉目标机器和它的指令系统</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这是设计一个好的代码生成器的先决条件</a:t>
            </a:r>
            <a:endParaRPr lang="zh-CN" altLang="en-US" sz="2200" b="1" dirty="0">
              <a:ea typeface="宋体" panose="02010600030101010101" pitchFamily="2" charset="-122"/>
            </a:endParaRPr>
          </a:p>
          <a:p>
            <a:pPr marL="914400" lvl="1" indent="-457200"/>
            <a:r>
              <a:rPr lang="zh-CN" altLang="en-US" sz="2200" b="1" dirty="0">
                <a:ea typeface="宋体" panose="02010600030101010101" pitchFamily="2" charset="-122"/>
              </a:rPr>
              <a:t>但不存在通用的有效的机器描述</a:t>
            </a:r>
            <a:endParaRPr lang="en-US" altLang="zh-CN" sz="2200" b="1" dirty="0">
              <a:ea typeface="宋体" panose="02010600030101010101" pitchFamily="2" charset="-122"/>
            </a:endParaRPr>
          </a:p>
          <a:p>
            <a:pPr marL="914400" lvl="1" indent="-457200"/>
            <a:r>
              <a:rPr lang="zh-CN" altLang="en-US" sz="2200" b="1" dirty="0">
                <a:ea typeface="宋体" panose="02010600030101010101" pitchFamily="2" charset="-122"/>
              </a:rPr>
              <a:t>本节介绍一个简单计算机的汇编语言作为目标语言</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可以概要代表很多寄存器机器</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本章的很多代码生成技术也可以用于其它类型的机器</a:t>
            </a:r>
            <a:endParaRPr lang="zh-CN" altLang="en-US" sz="2000" b="1" dirty="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9155" name="Rectangle 3"/>
          <p:cNvSpPr>
            <a:spLocks noGrp="1" noChangeArrowheads="1"/>
          </p:cNvSpPr>
          <p:nvPr>
            <p:ph idx="1"/>
          </p:nvPr>
        </p:nvSpPr>
        <p:spPr>
          <a:xfrm>
            <a:off x="611188" y="1371600"/>
            <a:ext cx="8208963"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一个简单的目标机模型</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三地址机器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具有加载和保存操作、计算操作、跳转操作和条件跳转</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字节寻址</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个通用寄存器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R0 , R1 , … , Rn-1</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有限的指令集，且假设所有运算分量都是整数</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指令形式：大部分指令包括一个运算符、一个目标地址，最后是一个源运算分量列表，指令前可能有一个标号</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label</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op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dst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src</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加载运算：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dst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addr</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把位置</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addr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上的值加载到位置</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dst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表示赋值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dst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addr</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保存操作：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 , r</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把寄存器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的值保存到位置</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，表示赋值</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7891" name="Rectangle 3"/>
          <p:cNvSpPr>
            <a:spLocks noGrp="1"/>
          </p:cNvSpPr>
          <p:nvPr>
            <p:ph idx="1"/>
          </p:nvPr>
        </p:nvSpPr>
        <p:spPr>
          <a:xfrm>
            <a:off x="611188" y="1371600"/>
            <a:ext cx="8208962" cy="4876800"/>
          </a:xfrm>
        </p:spPr>
        <p:txBody>
          <a:bodyPr vert="horz" wrap="square" lIns="92075" tIns="46038" rIns="92075" bIns="46038" anchor="t" anchorCtr="0"/>
          <a:p>
            <a:pPr marL="1333500" lvl="2" indent="-419100"/>
            <a:r>
              <a:rPr lang="zh-CN" altLang="en-US" sz="2000" b="1" dirty="0">
                <a:ea typeface="宋体" panose="02010600030101010101" pitchFamily="2" charset="-122"/>
              </a:rPr>
              <a:t>计算运算：指令形式如同</a:t>
            </a:r>
            <a:r>
              <a:rPr lang="en-US" altLang="zh-CN" sz="2000" b="1" dirty="0">
                <a:ea typeface="宋体" panose="02010600030101010101" pitchFamily="2" charset="-122"/>
              </a:rPr>
              <a:t>OP</a:t>
            </a:r>
            <a:r>
              <a:rPr lang="zh-CN" altLang="en-US" sz="2000" b="1" dirty="0">
                <a:ea typeface="宋体" panose="02010600030101010101" pitchFamily="2" charset="-122"/>
              </a:rPr>
              <a:t> </a:t>
            </a:r>
            <a:r>
              <a:rPr lang="en-US" altLang="zh-CN" sz="2000" b="1" i="1" dirty="0">
                <a:ea typeface="宋体" panose="02010600030101010101" pitchFamily="2" charset="-122"/>
              </a:rPr>
              <a:t>dst</a:t>
            </a:r>
            <a:r>
              <a:rPr lang="en-US" altLang="zh-CN" sz="2000" b="1" dirty="0">
                <a:ea typeface="宋体" panose="02010600030101010101" pitchFamily="2" charset="-122"/>
              </a:rPr>
              <a:t> , </a:t>
            </a:r>
            <a:r>
              <a:rPr lang="en-US" altLang="zh-CN" sz="2000" b="1" i="1" dirty="0">
                <a:ea typeface="宋体" panose="02010600030101010101" pitchFamily="2" charset="-122"/>
              </a:rPr>
              <a:t>src</a:t>
            </a:r>
            <a:r>
              <a:rPr lang="en-US" altLang="zh-CN" sz="2000" b="1" i="1" baseline="-25000" dirty="0">
                <a:ea typeface="宋体" panose="02010600030101010101" pitchFamily="2" charset="-122"/>
              </a:rPr>
              <a:t>1</a:t>
            </a:r>
            <a:r>
              <a:rPr lang="zh-CN" altLang="en-US" sz="2000" b="1" i="1" dirty="0">
                <a:ea typeface="宋体" panose="02010600030101010101" pitchFamily="2" charset="-122"/>
              </a:rPr>
              <a:t> </a:t>
            </a:r>
            <a:r>
              <a:rPr lang="en-US" altLang="zh-CN" sz="2000" b="1" dirty="0">
                <a:ea typeface="宋体" panose="02010600030101010101" pitchFamily="2" charset="-122"/>
              </a:rPr>
              <a:t>, </a:t>
            </a:r>
            <a:r>
              <a:rPr lang="en-US" altLang="zh-CN" sz="2000" b="1" i="1" dirty="0">
                <a:ea typeface="宋体" panose="02010600030101010101" pitchFamily="2" charset="-122"/>
              </a:rPr>
              <a:t>src</a:t>
            </a:r>
            <a:r>
              <a:rPr lang="en-US" altLang="zh-CN" sz="2000" b="1" i="1" baseline="-25000" dirty="0">
                <a:ea typeface="宋体" panose="02010600030101010101" pitchFamily="2" charset="-122"/>
              </a:rPr>
              <a:t>2</a:t>
            </a:r>
            <a:endParaRPr lang="en-US" altLang="zh-CN" sz="2000" b="1" i="1" dirty="0">
              <a:ea typeface="宋体" panose="02010600030101010101" pitchFamily="2" charset="-122"/>
            </a:endParaRPr>
          </a:p>
          <a:p>
            <a:pPr marL="1790700" lvl="3" indent="-419100"/>
            <a:r>
              <a:rPr lang="en-US" altLang="zh-CN" sz="1800" b="1" dirty="0">
                <a:ea typeface="宋体" panose="02010600030101010101" pitchFamily="2" charset="-122"/>
              </a:rPr>
              <a:t>OP</a:t>
            </a:r>
            <a:r>
              <a:rPr lang="zh-CN" altLang="en-US" sz="1800" b="1" dirty="0">
                <a:ea typeface="宋体" panose="02010600030101010101" pitchFamily="2" charset="-122"/>
              </a:rPr>
              <a:t>是一个诸如</a:t>
            </a:r>
            <a:r>
              <a:rPr lang="en-US" altLang="zh-CN" sz="1800" b="1" dirty="0">
                <a:ea typeface="宋体" panose="02010600030101010101" pitchFamily="2" charset="-122"/>
              </a:rPr>
              <a:t>ADD</a:t>
            </a:r>
            <a:r>
              <a:rPr lang="zh-CN" altLang="en-US" sz="1800" b="1" dirty="0">
                <a:ea typeface="宋体" panose="02010600030101010101" pitchFamily="2" charset="-122"/>
              </a:rPr>
              <a:t>或</a:t>
            </a:r>
            <a:r>
              <a:rPr lang="en-US" altLang="zh-CN" sz="1800" b="1" dirty="0">
                <a:ea typeface="宋体" panose="02010600030101010101" pitchFamily="2" charset="-122"/>
              </a:rPr>
              <a:t>SUB</a:t>
            </a:r>
            <a:r>
              <a:rPr lang="zh-CN" altLang="en-US" sz="1800" b="1" dirty="0">
                <a:ea typeface="宋体" panose="02010600030101010101" pitchFamily="2" charset="-122"/>
              </a:rPr>
              <a:t>的运算符</a:t>
            </a:r>
            <a:endParaRPr lang="en-US" altLang="zh-CN" sz="1800" b="1" dirty="0">
              <a:ea typeface="宋体" panose="02010600030101010101" pitchFamily="2" charset="-122"/>
            </a:endParaRPr>
          </a:p>
          <a:p>
            <a:pPr marL="1790700" lvl="3" indent="-419100"/>
            <a:r>
              <a:rPr lang="en-US" altLang="zh-CN" sz="1800" b="1" i="1" dirty="0">
                <a:ea typeface="宋体" panose="02010600030101010101" pitchFamily="2" charset="-122"/>
              </a:rPr>
              <a:t>dst</a:t>
            </a:r>
            <a:r>
              <a:rPr lang="en-US" altLang="zh-CN" sz="1800" b="1" dirty="0">
                <a:ea typeface="宋体" panose="02010600030101010101" pitchFamily="2" charset="-122"/>
              </a:rPr>
              <a:t> , </a:t>
            </a:r>
            <a:r>
              <a:rPr lang="en-US" altLang="zh-CN" sz="1800" b="1" i="1" dirty="0">
                <a:ea typeface="宋体" panose="02010600030101010101" pitchFamily="2" charset="-122"/>
              </a:rPr>
              <a:t>src</a:t>
            </a:r>
            <a:r>
              <a:rPr lang="en-US" altLang="zh-CN" sz="1800" b="1" i="1" baseline="-25000" dirty="0">
                <a:ea typeface="宋体" panose="02010600030101010101" pitchFamily="2" charset="-122"/>
              </a:rPr>
              <a:t>1</a:t>
            </a:r>
            <a:r>
              <a:rPr lang="zh-CN" altLang="en-US" sz="1800" b="1" dirty="0">
                <a:ea typeface="宋体" panose="02010600030101010101" pitchFamily="2" charset="-122"/>
              </a:rPr>
              <a:t>和</a:t>
            </a:r>
            <a:r>
              <a:rPr lang="en-US" altLang="zh-CN" sz="1800" b="1" i="1" dirty="0">
                <a:ea typeface="宋体" panose="02010600030101010101" pitchFamily="2" charset="-122"/>
              </a:rPr>
              <a:t>src</a:t>
            </a:r>
            <a:r>
              <a:rPr lang="en-US" altLang="zh-CN" sz="1800" b="1" i="1" baseline="-25000" dirty="0">
                <a:ea typeface="宋体" panose="02010600030101010101" pitchFamily="2" charset="-122"/>
              </a:rPr>
              <a:t>2</a:t>
            </a:r>
            <a:r>
              <a:rPr lang="zh-CN" altLang="en-US" sz="1800" b="1" dirty="0">
                <a:ea typeface="宋体" panose="02010600030101010101" pitchFamily="2" charset="-122"/>
              </a:rPr>
              <a:t>是内存位置</a:t>
            </a:r>
            <a:endParaRPr lang="en-US" altLang="zh-CN" sz="1800" b="1" dirty="0">
              <a:ea typeface="宋体" panose="02010600030101010101" pitchFamily="2" charset="-122"/>
            </a:endParaRPr>
          </a:p>
          <a:p>
            <a:pPr marL="2247900" lvl="4" indent="-419100"/>
            <a:r>
              <a:rPr lang="zh-CN" altLang="en-US" sz="1600" b="1" dirty="0">
                <a:ea typeface="宋体" panose="02010600030101010101" pitchFamily="2" charset="-122"/>
              </a:rPr>
              <a:t>这些位置不一定互相不同</a:t>
            </a:r>
            <a:endParaRPr lang="en-US" altLang="zh-CN" sz="1600" b="1" dirty="0">
              <a:ea typeface="宋体" panose="02010600030101010101" pitchFamily="2" charset="-122"/>
            </a:endParaRPr>
          </a:p>
          <a:p>
            <a:pPr marL="1790700" lvl="3" indent="-419100"/>
            <a:r>
              <a:rPr lang="zh-CN" altLang="en-US" sz="1800" b="1" dirty="0">
                <a:ea typeface="宋体" panose="02010600030101010101" pitchFamily="2" charset="-122"/>
              </a:rPr>
              <a:t>把运算</a:t>
            </a:r>
            <a:r>
              <a:rPr lang="en-US" altLang="zh-CN" sz="1800" b="1" dirty="0">
                <a:ea typeface="宋体" panose="02010600030101010101" pitchFamily="2" charset="-122"/>
              </a:rPr>
              <a:t>OP</a:t>
            </a:r>
            <a:r>
              <a:rPr lang="zh-CN" altLang="en-US" sz="1800" b="1" dirty="0">
                <a:ea typeface="宋体" panose="02010600030101010101" pitchFamily="2" charset="-122"/>
              </a:rPr>
              <a:t>作用到</a:t>
            </a:r>
            <a:r>
              <a:rPr lang="en-US" altLang="zh-CN" sz="1800" b="1" i="1" dirty="0">
                <a:ea typeface="宋体" panose="02010600030101010101" pitchFamily="2" charset="-122"/>
              </a:rPr>
              <a:t>src</a:t>
            </a:r>
            <a:r>
              <a:rPr lang="en-US" altLang="zh-CN" sz="1800" b="1" i="1" baseline="-25000" dirty="0">
                <a:ea typeface="宋体" panose="02010600030101010101" pitchFamily="2" charset="-122"/>
              </a:rPr>
              <a:t>1</a:t>
            </a:r>
            <a:r>
              <a:rPr lang="zh-CN" altLang="en-US" sz="1800" b="1" dirty="0">
                <a:ea typeface="宋体" panose="02010600030101010101" pitchFamily="2" charset="-122"/>
              </a:rPr>
              <a:t>和</a:t>
            </a:r>
            <a:r>
              <a:rPr lang="en-US" altLang="zh-CN" sz="1800" b="1" i="1" dirty="0">
                <a:ea typeface="宋体" panose="02010600030101010101" pitchFamily="2" charset="-122"/>
              </a:rPr>
              <a:t>src</a:t>
            </a:r>
            <a:r>
              <a:rPr lang="en-US" altLang="zh-CN" sz="1800" b="1" i="1" baseline="-25000" dirty="0">
                <a:ea typeface="宋体" panose="02010600030101010101" pitchFamily="2" charset="-122"/>
              </a:rPr>
              <a:t>2</a:t>
            </a:r>
            <a:r>
              <a:rPr lang="zh-CN" altLang="en-US" sz="1800" b="1" dirty="0">
                <a:ea typeface="宋体" panose="02010600030101010101" pitchFamily="2" charset="-122"/>
              </a:rPr>
              <a:t>中的值上，结果放在位置</a:t>
            </a:r>
            <a:r>
              <a:rPr lang="en-US" altLang="zh-CN" sz="1800" b="1" i="1" dirty="0">
                <a:ea typeface="宋体" panose="02010600030101010101" pitchFamily="2" charset="-122"/>
              </a:rPr>
              <a:t>dst</a:t>
            </a:r>
            <a:endParaRPr lang="en-US" altLang="zh-CN" sz="1800" b="1" dirty="0">
              <a:ea typeface="宋体" panose="02010600030101010101" pitchFamily="2" charset="-122"/>
            </a:endParaRPr>
          </a:p>
          <a:p>
            <a:pPr marL="2247900" lvl="4" indent="-419100"/>
            <a:r>
              <a:rPr lang="zh-CN" altLang="en-US" sz="1600" b="1" dirty="0">
                <a:ea typeface="宋体" panose="02010600030101010101" pitchFamily="2" charset="-122"/>
              </a:rPr>
              <a:t>如果</a:t>
            </a:r>
            <a:r>
              <a:rPr lang="en-US" altLang="zh-CN" sz="1600" b="1" i="1" dirty="0">
                <a:ea typeface="宋体" panose="02010600030101010101" pitchFamily="2" charset="-122"/>
              </a:rPr>
              <a:t>dst</a:t>
            </a:r>
            <a:r>
              <a:rPr lang="zh-CN" altLang="en-US" sz="1600" b="1" dirty="0">
                <a:ea typeface="宋体" panose="02010600030101010101" pitchFamily="2" charset="-122"/>
              </a:rPr>
              <a:t>与</a:t>
            </a:r>
            <a:r>
              <a:rPr lang="en-US" altLang="zh-CN" sz="1600" b="1" i="1" dirty="0">
                <a:ea typeface="宋体" panose="02010600030101010101" pitchFamily="2" charset="-122"/>
              </a:rPr>
              <a:t>src</a:t>
            </a:r>
            <a:r>
              <a:rPr lang="en-US" altLang="zh-CN" sz="1600" b="1" i="1" baseline="-25000" dirty="0">
                <a:ea typeface="宋体" panose="02010600030101010101" pitchFamily="2" charset="-122"/>
              </a:rPr>
              <a:t>1</a:t>
            </a:r>
            <a:r>
              <a:rPr lang="zh-CN" altLang="en-US" sz="1600" b="1" dirty="0">
                <a:ea typeface="宋体" panose="02010600030101010101" pitchFamily="2" charset="-122"/>
              </a:rPr>
              <a:t>或</a:t>
            </a:r>
            <a:r>
              <a:rPr lang="en-US" altLang="zh-CN" sz="1600" b="1" i="1" dirty="0">
                <a:ea typeface="宋体" panose="02010600030101010101" pitchFamily="2" charset="-122"/>
              </a:rPr>
              <a:t>src</a:t>
            </a:r>
            <a:r>
              <a:rPr lang="en-US" altLang="zh-CN" sz="1600" b="1" i="1" baseline="-25000" dirty="0">
                <a:ea typeface="宋体" panose="02010600030101010101" pitchFamily="2" charset="-122"/>
              </a:rPr>
              <a:t>2</a:t>
            </a:r>
            <a:r>
              <a:rPr lang="zh-CN" altLang="en-US" sz="1600" b="1" dirty="0">
                <a:ea typeface="宋体" panose="02010600030101010101" pitchFamily="2" charset="-122"/>
              </a:rPr>
              <a:t>中的某一个相同，则先读出原来的值运算，在完成赋值</a:t>
            </a:r>
            <a:endParaRPr lang="en-US" altLang="zh-CN" sz="1600" b="1" dirty="0">
              <a:ea typeface="宋体" panose="02010600030101010101" pitchFamily="2" charset="-122"/>
            </a:endParaRPr>
          </a:p>
          <a:p>
            <a:pPr marL="1790700" lvl="3" indent="-419100"/>
            <a:r>
              <a:rPr lang="zh-CN" altLang="en-US" sz="1800" b="1" dirty="0">
                <a:ea typeface="宋体" panose="02010600030101010101" pitchFamily="2" charset="-122"/>
              </a:rPr>
              <a:t>单目运算没有</a:t>
            </a:r>
            <a:r>
              <a:rPr lang="en-US" altLang="zh-CN" sz="1800" b="1" i="1" dirty="0">
                <a:ea typeface="宋体" panose="02010600030101010101" pitchFamily="2" charset="-122"/>
              </a:rPr>
              <a:t>src</a:t>
            </a:r>
            <a:r>
              <a:rPr lang="en-US" altLang="zh-CN" sz="1800" b="1" i="1" baseline="-25000" dirty="0">
                <a:ea typeface="宋体" panose="02010600030101010101" pitchFamily="2" charset="-122"/>
              </a:rPr>
              <a:t>2</a:t>
            </a:r>
            <a:endParaRPr lang="en-US" altLang="zh-CN" sz="1800" b="1" dirty="0">
              <a:ea typeface="宋体" panose="02010600030101010101" pitchFamily="2" charset="-122"/>
            </a:endParaRPr>
          </a:p>
          <a:p>
            <a:pPr marL="1333500" lvl="2" indent="-419100"/>
            <a:r>
              <a:rPr lang="zh-CN" altLang="en-US" sz="2000" b="1" dirty="0">
                <a:ea typeface="宋体" panose="02010600030101010101" pitchFamily="2" charset="-122"/>
              </a:rPr>
              <a:t>无条件跳转：</a:t>
            </a:r>
            <a:r>
              <a:rPr lang="en-US" altLang="zh-CN" sz="2000" b="1" dirty="0">
                <a:ea typeface="宋体" panose="02010600030101010101" pitchFamily="2" charset="-122"/>
              </a:rPr>
              <a:t>BR</a:t>
            </a:r>
            <a:r>
              <a:rPr lang="zh-CN" altLang="en-US" sz="2000" b="1" dirty="0">
                <a:ea typeface="宋体" panose="02010600030101010101" pitchFamily="2" charset="-122"/>
              </a:rPr>
              <a:t> </a:t>
            </a:r>
            <a:r>
              <a:rPr lang="en-US" altLang="zh-CN" sz="2000" b="1" i="1" dirty="0">
                <a:ea typeface="宋体" panose="02010600030101010101" pitchFamily="2" charset="-122"/>
              </a:rPr>
              <a:t>L</a:t>
            </a:r>
            <a:endParaRPr lang="en-US" altLang="zh-CN" sz="2000" b="1" i="1" dirty="0">
              <a:ea typeface="宋体" panose="02010600030101010101" pitchFamily="2" charset="-122"/>
            </a:endParaRPr>
          </a:p>
          <a:p>
            <a:pPr marL="1790700" lvl="3" indent="-419100"/>
            <a:r>
              <a:rPr lang="zh-CN" altLang="en-US" sz="1800" b="1" dirty="0">
                <a:ea typeface="宋体" panose="02010600030101010101" pitchFamily="2" charset="-122"/>
              </a:rPr>
              <a:t>使得控制流转向标号为</a:t>
            </a:r>
            <a:r>
              <a:rPr lang="en-US" altLang="zh-CN" sz="1800" b="1" i="1" dirty="0">
                <a:ea typeface="宋体" panose="02010600030101010101" pitchFamily="2" charset="-122"/>
              </a:rPr>
              <a:t>L</a:t>
            </a:r>
            <a:r>
              <a:rPr lang="zh-CN" altLang="en-US" sz="1800" b="1" dirty="0">
                <a:ea typeface="宋体" panose="02010600030101010101" pitchFamily="2" charset="-122"/>
              </a:rPr>
              <a:t>的机器指令</a:t>
            </a:r>
            <a:endParaRPr lang="en-US" altLang="zh-CN" sz="1800" b="1" dirty="0">
              <a:ea typeface="宋体" panose="02010600030101010101" pitchFamily="2" charset="-122"/>
            </a:endParaRPr>
          </a:p>
          <a:p>
            <a:pPr marL="1333500" lvl="2" indent="-419100"/>
            <a:r>
              <a:rPr lang="zh-CN" altLang="en-US" sz="2000" b="1" dirty="0">
                <a:ea typeface="宋体" panose="02010600030101010101" pitchFamily="2" charset="-122"/>
              </a:rPr>
              <a:t>条件跳转：</a:t>
            </a:r>
            <a:r>
              <a:rPr lang="en-US" altLang="zh-CN" sz="2000" b="1" dirty="0">
                <a:ea typeface="宋体" panose="02010600030101010101" pitchFamily="2" charset="-122"/>
              </a:rPr>
              <a:t>Bcond</a:t>
            </a:r>
            <a:r>
              <a:rPr lang="zh-CN" altLang="en-US" sz="2000" b="1" dirty="0">
                <a:ea typeface="宋体" panose="02010600030101010101" pitchFamily="2" charset="-122"/>
              </a:rPr>
              <a:t> </a:t>
            </a:r>
            <a:r>
              <a:rPr lang="en-US" altLang="zh-CN" sz="2000" b="1" i="1" dirty="0">
                <a:ea typeface="宋体" panose="02010600030101010101" pitchFamily="2" charset="-122"/>
              </a:rPr>
              <a:t>r</a:t>
            </a:r>
            <a:r>
              <a:rPr lang="zh-CN" altLang="en-US" sz="2000" b="1" dirty="0">
                <a:ea typeface="宋体" panose="02010600030101010101" pitchFamily="2" charset="-122"/>
              </a:rPr>
              <a:t> </a:t>
            </a:r>
            <a:r>
              <a:rPr lang="en-US" altLang="zh-CN" sz="2000" b="1" dirty="0">
                <a:ea typeface="宋体" panose="02010600030101010101" pitchFamily="2" charset="-122"/>
              </a:rPr>
              <a:t>, </a:t>
            </a:r>
            <a:r>
              <a:rPr lang="en-US" altLang="zh-CN" sz="2000" b="1" i="1" dirty="0">
                <a:ea typeface="宋体" panose="02010600030101010101" pitchFamily="2" charset="-122"/>
              </a:rPr>
              <a:t>L</a:t>
            </a:r>
            <a:endParaRPr lang="en-US" altLang="zh-CN" sz="2000" b="1" dirty="0">
              <a:ea typeface="宋体" panose="02010600030101010101" pitchFamily="2" charset="-122"/>
            </a:endParaRPr>
          </a:p>
          <a:p>
            <a:pPr marL="1790700" lvl="3" indent="-419100"/>
            <a:r>
              <a:rPr lang="en-US" altLang="zh-CN" sz="1800" b="1" i="1" dirty="0">
                <a:ea typeface="宋体" panose="02010600030101010101" pitchFamily="2" charset="-122"/>
              </a:rPr>
              <a:t>r</a:t>
            </a:r>
            <a:r>
              <a:rPr lang="zh-CN" altLang="en-US" sz="1800" b="1" dirty="0">
                <a:ea typeface="宋体" panose="02010600030101010101" pitchFamily="2" charset="-122"/>
              </a:rPr>
              <a:t>是寄存器，</a:t>
            </a:r>
            <a:r>
              <a:rPr lang="en-US" altLang="zh-CN" sz="1800" b="1" i="1" dirty="0">
                <a:ea typeface="宋体" panose="02010600030101010101" pitchFamily="2" charset="-122"/>
              </a:rPr>
              <a:t> L</a:t>
            </a:r>
            <a:r>
              <a:rPr lang="zh-CN" altLang="en-US" sz="1800" b="1" dirty="0">
                <a:ea typeface="宋体" panose="02010600030101010101" pitchFamily="2" charset="-122"/>
              </a:rPr>
              <a:t>是一个标号，</a:t>
            </a:r>
            <a:r>
              <a:rPr lang="en-US" altLang="zh-CN" sz="1800" b="1" dirty="0">
                <a:ea typeface="宋体" panose="02010600030101010101" pitchFamily="2" charset="-122"/>
              </a:rPr>
              <a:t>cond</a:t>
            </a:r>
            <a:r>
              <a:rPr lang="zh-CN" altLang="en-US" sz="1800" b="1" dirty="0">
                <a:ea typeface="宋体" panose="02010600030101010101" pitchFamily="2" charset="-122"/>
              </a:rPr>
              <a:t>代表了对寄存器</a:t>
            </a:r>
            <a:r>
              <a:rPr lang="en-US" altLang="zh-CN" sz="1800" b="1" i="1" dirty="0">
                <a:ea typeface="宋体" panose="02010600030101010101" pitchFamily="2" charset="-122"/>
              </a:rPr>
              <a:t>r</a:t>
            </a:r>
            <a:r>
              <a:rPr lang="zh-CN" altLang="en-US" sz="1800" b="1" dirty="0">
                <a:ea typeface="宋体" panose="02010600030101010101" pitchFamily="2" charset="-122"/>
              </a:rPr>
              <a:t>中的值所做的某个常见测试</a:t>
            </a:r>
            <a:endParaRPr lang="en-US" altLang="zh-CN" sz="1800" b="1" dirty="0">
              <a:ea typeface="宋体" panose="02010600030101010101" pitchFamily="2" charset="-122"/>
            </a:endParaRPr>
          </a:p>
          <a:p>
            <a:pPr marL="1790700" lvl="3" indent="-419100"/>
            <a:r>
              <a:rPr lang="zh-CN" altLang="en-US" sz="1800" b="1" dirty="0">
                <a:ea typeface="宋体" panose="02010600030101010101" pitchFamily="2" charset="-122"/>
              </a:rPr>
              <a:t>如：当寄存器</a:t>
            </a:r>
            <a:r>
              <a:rPr lang="en-US" altLang="zh-CN" sz="1800" b="1" i="1" dirty="0">
                <a:ea typeface="宋体" panose="02010600030101010101" pitchFamily="2" charset="-122"/>
              </a:rPr>
              <a:t>r</a:t>
            </a:r>
            <a:r>
              <a:rPr lang="zh-CN" altLang="en-US" sz="1800" b="1" dirty="0">
                <a:ea typeface="宋体" panose="02010600030101010101" pitchFamily="2" charset="-122"/>
              </a:rPr>
              <a:t>中的值小于</a:t>
            </a:r>
            <a:r>
              <a:rPr lang="en-US" altLang="zh-CN" sz="1800" b="1" dirty="0">
                <a:ea typeface="宋体" panose="02010600030101010101" pitchFamily="2" charset="-122"/>
              </a:rPr>
              <a:t>0</a:t>
            </a:r>
            <a:r>
              <a:rPr lang="zh-CN" altLang="en-US" sz="1800" b="1" dirty="0">
                <a:ea typeface="宋体" panose="02010600030101010101" pitchFamily="2" charset="-122"/>
              </a:rPr>
              <a:t>时，</a:t>
            </a:r>
            <a:r>
              <a:rPr lang="en-US" altLang="zh-CN" sz="1800" b="1" dirty="0">
                <a:ea typeface="宋体" panose="02010600030101010101" pitchFamily="2" charset="-122"/>
              </a:rPr>
              <a:t>BLTZ</a:t>
            </a:r>
            <a:r>
              <a:rPr lang="zh-CN" altLang="en-US" sz="1800" b="1" dirty="0">
                <a:ea typeface="宋体" panose="02010600030101010101" pitchFamily="2" charset="-122"/>
              </a:rPr>
              <a:t> </a:t>
            </a:r>
            <a:r>
              <a:rPr lang="en-US" altLang="zh-CN" sz="1800" b="1" i="1" dirty="0">
                <a:ea typeface="宋体" panose="02010600030101010101" pitchFamily="2" charset="-122"/>
              </a:rPr>
              <a:t>r</a:t>
            </a:r>
            <a:r>
              <a:rPr lang="zh-CN" altLang="en-US" sz="1800" b="1" dirty="0">
                <a:ea typeface="宋体" panose="02010600030101010101" pitchFamily="2" charset="-122"/>
              </a:rPr>
              <a:t> </a:t>
            </a:r>
            <a:r>
              <a:rPr lang="en-US" altLang="zh-CN" sz="1800" b="1" dirty="0">
                <a:ea typeface="宋体" panose="02010600030101010101" pitchFamily="2" charset="-122"/>
              </a:rPr>
              <a:t>, </a:t>
            </a:r>
            <a:r>
              <a:rPr lang="en-US" altLang="zh-CN" sz="1800" b="1" i="1" dirty="0">
                <a:ea typeface="宋体" panose="02010600030101010101" pitchFamily="2" charset="-122"/>
              </a:rPr>
              <a:t>L</a:t>
            </a:r>
            <a:r>
              <a:rPr lang="zh-CN" altLang="en-US" sz="1800" b="1" dirty="0">
                <a:ea typeface="宋体" panose="02010600030101010101" pitchFamily="2" charset="-122"/>
              </a:rPr>
              <a:t>使得控制流跳转到标号</a:t>
            </a:r>
            <a:r>
              <a:rPr lang="en-US" altLang="zh-CN" sz="1800" b="1" i="1" dirty="0">
                <a:ea typeface="宋体" panose="02010600030101010101" pitchFamily="2" charset="-122"/>
              </a:rPr>
              <a:t>L </a:t>
            </a:r>
            <a:r>
              <a:rPr lang="zh-CN" altLang="en-US" sz="1800" b="1" dirty="0">
                <a:ea typeface="宋体" panose="02010600030101010101" pitchFamily="2" charset="-122"/>
              </a:rPr>
              <a:t>；否则，控制流传递到下一个机器指令</a:t>
            </a:r>
            <a:endParaRPr lang="zh-CN" altLang="en-US" sz="1800" b="1" dirty="0">
              <a:ea typeface="宋体" panose="02010600030101010101" pitchFamily="2" charset="-122"/>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9939" name="Rectangle 3"/>
          <p:cNvSpPr>
            <a:spLocks noGrp="1"/>
          </p:cNvSpPr>
          <p:nvPr>
            <p:ph idx="1"/>
          </p:nvPr>
        </p:nvSpPr>
        <p:spPr>
          <a:xfrm>
            <a:off x="250825" y="1371600"/>
            <a:ext cx="8785225" cy="4876800"/>
          </a:xfrm>
        </p:spPr>
        <p:txBody>
          <a:bodyPr vert="horz" wrap="square" lIns="92075" tIns="46038" rIns="92075" bIns="46038" anchor="t" anchorCtr="0"/>
          <a:p>
            <a:pPr marL="914400" lvl="1" indent="-457200">
              <a:lnSpc>
                <a:spcPct val="90000"/>
              </a:lnSpc>
            </a:pPr>
            <a:r>
              <a:rPr lang="zh-CN" altLang="en-US" b="1" dirty="0">
                <a:ea typeface="宋体" panose="02010600030101010101" pitchFamily="2" charset="-122"/>
              </a:rPr>
              <a:t>目标机有多种寻址模式</a:t>
            </a:r>
            <a:endParaRPr lang="en-US" altLang="zh-CN" b="1" dirty="0">
              <a:ea typeface="宋体" panose="02010600030101010101" pitchFamily="2" charset="-122"/>
            </a:endParaRPr>
          </a:p>
          <a:p>
            <a:pPr marL="1314450" lvl="2" indent="-457200">
              <a:lnSpc>
                <a:spcPct val="90000"/>
              </a:lnSpc>
            </a:pPr>
            <a:r>
              <a:rPr lang="zh-CN" altLang="en-US" sz="2400" b="1" dirty="0">
                <a:ea typeface="宋体" panose="02010600030101010101" pitchFamily="2" charset="-122"/>
              </a:rPr>
              <a:t>一个位置可以是一个变量名</a:t>
            </a:r>
            <a:r>
              <a:rPr lang="en-US" altLang="zh-CN" sz="2400" b="1" i="1" dirty="0">
                <a:ea typeface="宋体" panose="02010600030101010101" pitchFamily="2" charset="-122"/>
              </a:rPr>
              <a:t>x</a:t>
            </a:r>
            <a:r>
              <a:rPr lang="zh-CN" altLang="en-US" sz="2400" b="1" dirty="0">
                <a:ea typeface="宋体" panose="02010600030101010101" pitchFamily="2" charset="-122"/>
              </a:rPr>
              <a:t>，它指向分配给</a:t>
            </a:r>
            <a:r>
              <a:rPr lang="en-US" altLang="zh-CN" sz="2400" b="1" i="1" dirty="0">
                <a:ea typeface="宋体" panose="02010600030101010101" pitchFamily="2" charset="-122"/>
              </a:rPr>
              <a:t>x</a:t>
            </a:r>
            <a:r>
              <a:rPr lang="zh-CN" altLang="en-US" sz="2400" b="1" dirty="0">
                <a:ea typeface="宋体" panose="02010600030101010101" pitchFamily="2" charset="-122"/>
              </a:rPr>
              <a:t>的内存位置（即</a:t>
            </a:r>
            <a:r>
              <a:rPr lang="en-US" altLang="zh-CN" sz="2400" b="1" i="1" dirty="0">
                <a:ea typeface="宋体" panose="02010600030101010101" pitchFamily="2" charset="-122"/>
              </a:rPr>
              <a:t>x</a:t>
            </a:r>
            <a:r>
              <a:rPr lang="zh-CN" altLang="en-US" sz="2400" b="1" dirty="0">
                <a:ea typeface="宋体" panose="02010600030101010101" pitchFamily="2" charset="-122"/>
              </a:rPr>
              <a:t>的左值）</a:t>
            </a:r>
            <a:endParaRPr lang="en-US" altLang="zh-CN" sz="2400" b="1" dirty="0">
              <a:ea typeface="宋体" panose="02010600030101010101" pitchFamily="2" charset="-122"/>
            </a:endParaRPr>
          </a:p>
          <a:p>
            <a:pPr marL="1314450" lvl="2" indent="-457200">
              <a:lnSpc>
                <a:spcPct val="90000"/>
              </a:lnSpc>
            </a:pPr>
            <a:r>
              <a:rPr lang="zh-CN" altLang="en-US" sz="2400" b="1" dirty="0">
                <a:ea typeface="宋体" panose="02010600030101010101" pitchFamily="2" charset="-122"/>
              </a:rPr>
              <a:t>一个位置可以是一个带有下标的形如</a:t>
            </a:r>
            <a:r>
              <a:rPr lang="en-US" altLang="zh-CN" sz="2400" b="1" i="1" dirty="0">
                <a:ea typeface="宋体" panose="02010600030101010101" pitchFamily="2" charset="-122"/>
              </a:rPr>
              <a:t>a</a:t>
            </a:r>
            <a:r>
              <a:rPr lang="en-US" altLang="zh-CN" sz="2400" b="1" dirty="0">
                <a:ea typeface="宋体" panose="02010600030101010101" pitchFamily="2" charset="-122"/>
              </a:rPr>
              <a:t>(</a:t>
            </a:r>
            <a:r>
              <a:rPr lang="en-US" altLang="zh-CN" sz="2400" b="1" i="1" dirty="0">
                <a:ea typeface="宋体" panose="02010600030101010101" pitchFamily="2" charset="-122"/>
              </a:rPr>
              <a:t>r</a:t>
            </a:r>
            <a:r>
              <a:rPr lang="en-US" altLang="zh-CN" sz="2400" b="1" dirty="0">
                <a:ea typeface="宋体" panose="02010600030101010101" pitchFamily="2" charset="-122"/>
              </a:rPr>
              <a:t>)</a:t>
            </a:r>
            <a:r>
              <a:rPr lang="zh-CN" altLang="en-US" sz="2400" b="1" dirty="0">
                <a:ea typeface="宋体" panose="02010600030101010101" pitchFamily="2" charset="-122"/>
              </a:rPr>
              <a:t>的地址</a:t>
            </a:r>
            <a:endParaRPr lang="en-US" altLang="zh-CN" sz="2400" b="1" dirty="0">
              <a:ea typeface="宋体" panose="02010600030101010101" pitchFamily="2" charset="-122"/>
            </a:endParaRPr>
          </a:p>
          <a:p>
            <a:pPr marL="1771650" lvl="3" indent="-457200">
              <a:lnSpc>
                <a:spcPct val="90000"/>
              </a:lnSpc>
            </a:pPr>
            <a:r>
              <a:rPr lang="en-US" altLang="zh-CN" b="1" i="1" dirty="0">
                <a:ea typeface="宋体" panose="02010600030101010101" pitchFamily="2" charset="-122"/>
              </a:rPr>
              <a:t>a</a:t>
            </a:r>
            <a:r>
              <a:rPr lang="zh-CN" altLang="en-US" b="1" dirty="0">
                <a:ea typeface="宋体" panose="02010600030101010101" pitchFamily="2" charset="-122"/>
              </a:rPr>
              <a:t>是一个变量，</a:t>
            </a:r>
            <a:r>
              <a:rPr lang="en-US" altLang="zh-CN" b="1" i="1" dirty="0">
                <a:ea typeface="宋体" panose="02010600030101010101" pitchFamily="2" charset="-122"/>
              </a:rPr>
              <a:t> r</a:t>
            </a:r>
            <a:r>
              <a:rPr lang="zh-CN" altLang="en-US" b="1" dirty="0">
                <a:ea typeface="宋体" panose="02010600030101010101" pitchFamily="2" charset="-122"/>
              </a:rPr>
              <a:t>是一个寄存器</a:t>
            </a:r>
            <a:endParaRPr lang="en-US" altLang="zh-CN" b="1" dirty="0">
              <a:ea typeface="宋体" panose="02010600030101010101" pitchFamily="2" charset="-122"/>
            </a:endParaRPr>
          </a:p>
          <a:p>
            <a:pPr marL="1771650" lvl="3" indent="-457200">
              <a:lnSpc>
                <a:spcPct val="90000"/>
              </a:lnSpc>
            </a:pPr>
            <a:r>
              <a:rPr lang="en-US" altLang="zh-CN" b="1" i="1" dirty="0">
                <a:ea typeface="宋体" panose="02010600030101010101" pitchFamily="2" charset="-122"/>
              </a:rPr>
              <a:t>a</a:t>
            </a:r>
            <a:r>
              <a:rPr lang="en-US" altLang="zh-CN" b="1" dirty="0">
                <a:ea typeface="宋体" panose="02010600030101010101" pitchFamily="2" charset="-122"/>
              </a:rPr>
              <a:t>(</a:t>
            </a:r>
            <a:r>
              <a:rPr lang="en-US" altLang="zh-CN" b="1" i="1" dirty="0">
                <a:ea typeface="宋体" panose="02010600030101010101" pitchFamily="2" charset="-122"/>
              </a:rPr>
              <a:t>r</a:t>
            </a:r>
            <a:r>
              <a:rPr lang="en-US" altLang="zh-CN" b="1" dirty="0">
                <a:ea typeface="宋体" panose="02010600030101010101" pitchFamily="2" charset="-122"/>
              </a:rPr>
              <a:t>)</a:t>
            </a:r>
            <a:r>
              <a:rPr lang="zh-CN" altLang="en-US" b="1" dirty="0">
                <a:ea typeface="宋体" panose="02010600030101010101" pitchFamily="2" charset="-122"/>
              </a:rPr>
              <a:t>所表示的内存位置按照如下方式计算得到</a:t>
            </a:r>
            <a:endParaRPr lang="en-US" altLang="zh-CN" b="1" dirty="0">
              <a:ea typeface="宋体" panose="02010600030101010101" pitchFamily="2" charset="-122"/>
            </a:endParaRPr>
          </a:p>
          <a:p>
            <a:pPr marL="2228850" lvl="4" indent="-457200">
              <a:lnSpc>
                <a:spcPct val="90000"/>
              </a:lnSpc>
            </a:pPr>
            <a:r>
              <a:rPr lang="en-US" altLang="zh-CN" b="1" i="1" dirty="0">
                <a:ea typeface="宋体" panose="02010600030101010101" pitchFamily="2" charset="-122"/>
              </a:rPr>
              <a:t>a</a:t>
            </a:r>
            <a:r>
              <a:rPr lang="zh-CN" altLang="en-US" b="1" dirty="0">
                <a:ea typeface="宋体" panose="02010600030101010101" pitchFamily="2" charset="-122"/>
              </a:rPr>
              <a:t>的左值加上存放在寄存器</a:t>
            </a:r>
            <a:r>
              <a:rPr lang="en-US" altLang="zh-CN" b="1" i="1" dirty="0">
                <a:ea typeface="宋体" panose="02010600030101010101" pitchFamily="2" charset="-122"/>
              </a:rPr>
              <a:t>r</a:t>
            </a:r>
            <a:r>
              <a:rPr lang="zh-CN" altLang="en-US" b="1" dirty="0">
                <a:ea typeface="宋体" panose="02010600030101010101" pitchFamily="2" charset="-122"/>
              </a:rPr>
              <a:t>中的值</a:t>
            </a:r>
            <a:endParaRPr lang="en-US" altLang="zh-CN" b="1" dirty="0">
              <a:ea typeface="宋体" panose="02010600030101010101" pitchFamily="2" charset="-122"/>
            </a:endParaRPr>
          </a:p>
          <a:p>
            <a:pPr marL="1771650" lvl="3" indent="-457200">
              <a:lnSpc>
                <a:spcPct val="90000"/>
              </a:lnSpc>
            </a:pPr>
            <a:r>
              <a:rPr lang="en-US" altLang="zh-CN" b="1" dirty="0">
                <a:ea typeface="宋体" panose="02010600030101010101" pitchFamily="2" charset="-122"/>
              </a:rPr>
              <a:t>LD</a:t>
            </a:r>
            <a:r>
              <a:rPr lang="zh-CN" altLang="en-US" b="1" dirty="0">
                <a:ea typeface="宋体" panose="02010600030101010101" pitchFamily="2" charset="-122"/>
              </a:rPr>
              <a:t> </a:t>
            </a:r>
            <a:r>
              <a:rPr lang="en-US" altLang="zh-CN" b="1" dirty="0">
                <a:ea typeface="宋体" panose="02010600030101010101" pitchFamily="2" charset="-122"/>
              </a:rPr>
              <a:t>R1 , a(R2)</a:t>
            </a:r>
            <a:r>
              <a:rPr lang="zh-CN" altLang="en-US" b="1" dirty="0">
                <a:ea typeface="宋体" panose="02010600030101010101" pitchFamily="2" charset="-122"/>
              </a:rPr>
              <a:t>的效果是</a:t>
            </a:r>
            <a:r>
              <a:rPr lang="en-US" altLang="zh-CN" b="1" dirty="0">
                <a:ea typeface="宋体" panose="02010600030101010101" pitchFamily="2" charset="-122"/>
              </a:rPr>
              <a:t>R1=</a:t>
            </a:r>
            <a:r>
              <a:rPr lang="en-US" altLang="zh-CN" b="1" i="1" dirty="0">
                <a:ea typeface="宋体" panose="02010600030101010101" pitchFamily="2" charset="-122"/>
              </a:rPr>
              <a:t>contents</a:t>
            </a:r>
            <a:r>
              <a:rPr lang="en-US" altLang="zh-CN" b="1" dirty="0">
                <a:ea typeface="宋体" panose="02010600030101010101" pitchFamily="2" charset="-122"/>
              </a:rPr>
              <a:t> ( a + </a:t>
            </a:r>
            <a:r>
              <a:rPr lang="en-US" altLang="zh-CN" b="1" i="1" dirty="0">
                <a:ea typeface="宋体" panose="02010600030101010101" pitchFamily="2" charset="-122"/>
              </a:rPr>
              <a:t>contents</a:t>
            </a:r>
            <a:r>
              <a:rPr lang="en-US" altLang="zh-CN" b="1" dirty="0">
                <a:ea typeface="宋体" panose="02010600030101010101" pitchFamily="2" charset="-122"/>
              </a:rPr>
              <a:t>( R2 ) )</a:t>
            </a:r>
            <a:endParaRPr lang="en-US" altLang="zh-CN" b="1" dirty="0">
              <a:ea typeface="宋体" panose="02010600030101010101" pitchFamily="2" charset="-122"/>
            </a:endParaRPr>
          </a:p>
          <a:p>
            <a:pPr marL="2228850" lvl="4" indent="-457200">
              <a:lnSpc>
                <a:spcPct val="90000"/>
              </a:lnSpc>
            </a:pPr>
            <a:r>
              <a:rPr lang="en-US" altLang="zh-CN" b="1" i="1" dirty="0">
                <a:ea typeface="宋体" panose="02010600030101010101" pitchFamily="2" charset="-122"/>
              </a:rPr>
              <a:t>contents</a:t>
            </a:r>
            <a:r>
              <a:rPr lang="en-US" altLang="zh-CN" b="1" dirty="0">
                <a:ea typeface="宋体" panose="02010600030101010101" pitchFamily="2" charset="-122"/>
              </a:rPr>
              <a:t>(</a:t>
            </a:r>
            <a:r>
              <a:rPr lang="en-US" altLang="zh-CN" b="1" i="1" dirty="0">
                <a:ea typeface="宋体" panose="02010600030101010101" pitchFamily="2" charset="-122"/>
              </a:rPr>
              <a:t>x</a:t>
            </a:r>
            <a:r>
              <a:rPr lang="en-US" altLang="zh-CN" b="1" dirty="0">
                <a:ea typeface="宋体" panose="02010600030101010101" pitchFamily="2" charset="-122"/>
              </a:rPr>
              <a:t>)</a:t>
            </a:r>
            <a:r>
              <a:rPr lang="zh-CN" altLang="en-US" b="1" dirty="0">
                <a:ea typeface="宋体" panose="02010600030101010101" pitchFamily="2" charset="-122"/>
              </a:rPr>
              <a:t>表示</a:t>
            </a:r>
            <a:r>
              <a:rPr lang="en-US" altLang="zh-CN" b="1" i="1" dirty="0">
                <a:ea typeface="宋体" panose="02010600030101010101" pitchFamily="2" charset="-122"/>
              </a:rPr>
              <a:t>x</a:t>
            </a:r>
            <a:r>
              <a:rPr lang="zh-CN" altLang="en-US" b="1" dirty="0">
                <a:ea typeface="宋体" panose="02010600030101010101" pitchFamily="2" charset="-122"/>
              </a:rPr>
              <a:t>所代表的寄存器或内存位置中存放的内容</a:t>
            </a:r>
            <a:endParaRPr lang="en-US" altLang="zh-CN" b="1" dirty="0">
              <a:ea typeface="宋体" panose="02010600030101010101" pitchFamily="2" charset="-122"/>
            </a:endParaRPr>
          </a:p>
          <a:p>
            <a:pPr marL="1771650" lvl="3" indent="-457200">
              <a:lnSpc>
                <a:spcPct val="90000"/>
              </a:lnSpc>
            </a:pPr>
            <a:r>
              <a:rPr lang="zh-CN" altLang="en-US" b="1" dirty="0">
                <a:ea typeface="宋体" panose="02010600030101010101" pitchFamily="2" charset="-122"/>
              </a:rPr>
              <a:t>可用于数组访问的描述，</a:t>
            </a:r>
            <a:r>
              <a:rPr lang="en-US" altLang="zh-CN" b="1" i="1" dirty="0">
                <a:ea typeface="宋体" panose="02010600030101010101" pitchFamily="2" charset="-122"/>
              </a:rPr>
              <a:t> a</a:t>
            </a:r>
            <a:r>
              <a:rPr lang="zh-CN" altLang="en-US" b="1" dirty="0">
                <a:ea typeface="宋体" panose="02010600030101010101" pitchFamily="2" charset="-122"/>
              </a:rPr>
              <a:t>是数组基地址，</a:t>
            </a:r>
            <a:r>
              <a:rPr lang="en-US" altLang="zh-CN" b="1" i="1" dirty="0">
                <a:ea typeface="宋体" panose="02010600030101010101" pitchFamily="2" charset="-122"/>
              </a:rPr>
              <a:t> r</a:t>
            </a:r>
            <a:r>
              <a:rPr lang="zh-CN" altLang="en-US" b="1" dirty="0">
                <a:ea typeface="宋体" panose="02010600030101010101" pitchFamily="2" charset="-122"/>
              </a:rPr>
              <a:t>是偏移</a:t>
            </a:r>
            <a:endParaRPr lang="en-US" altLang="zh-CN" b="1" dirty="0">
              <a:ea typeface="宋体" panose="02010600030101010101" pitchFamily="2" charset="-122"/>
            </a:endParaRPr>
          </a:p>
          <a:p>
            <a:pPr marL="1314450" lvl="2" indent="-457200">
              <a:lnSpc>
                <a:spcPct val="90000"/>
              </a:lnSpc>
            </a:pPr>
            <a:r>
              <a:rPr lang="zh-CN" altLang="en-US" sz="2400" b="1" dirty="0">
                <a:ea typeface="宋体" panose="02010600030101010101" pitchFamily="2" charset="-122"/>
              </a:rPr>
              <a:t>一个内存位置可以是一个以寄存器为下标的整数</a:t>
            </a:r>
            <a:endParaRPr lang="en-US" altLang="zh-CN" sz="2400" b="1" dirty="0">
              <a:ea typeface="宋体" panose="02010600030101010101" pitchFamily="2" charset="-122"/>
            </a:endParaRPr>
          </a:p>
          <a:p>
            <a:pPr marL="1771650" lvl="3" indent="-457200">
              <a:lnSpc>
                <a:spcPct val="90000"/>
              </a:lnSpc>
            </a:pPr>
            <a:r>
              <a:rPr lang="en-US" altLang="zh-CN" b="1" dirty="0">
                <a:ea typeface="宋体" panose="02010600030101010101" pitchFamily="2" charset="-122"/>
              </a:rPr>
              <a:t>LD</a:t>
            </a:r>
            <a:r>
              <a:rPr lang="zh-CN" altLang="en-US" b="1" dirty="0">
                <a:ea typeface="宋体" panose="02010600030101010101" pitchFamily="2" charset="-122"/>
              </a:rPr>
              <a:t> </a:t>
            </a:r>
            <a:r>
              <a:rPr lang="en-US" altLang="zh-CN" b="1" dirty="0">
                <a:ea typeface="宋体" panose="02010600030101010101" pitchFamily="2" charset="-122"/>
              </a:rPr>
              <a:t>R1 , 100(R2)</a:t>
            </a:r>
            <a:r>
              <a:rPr lang="zh-CN" altLang="en-US" b="1" dirty="0">
                <a:ea typeface="宋体" panose="02010600030101010101" pitchFamily="2" charset="-122"/>
              </a:rPr>
              <a:t>的效果是</a:t>
            </a:r>
            <a:r>
              <a:rPr lang="en-US" altLang="zh-CN" b="1" dirty="0">
                <a:ea typeface="宋体" panose="02010600030101010101" pitchFamily="2" charset="-122"/>
              </a:rPr>
              <a:t>R1=</a:t>
            </a:r>
            <a:r>
              <a:rPr lang="en-US" altLang="zh-CN" b="1" i="1" dirty="0">
                <a:ea typeface="宋体" panose="02010600030101010101" pitchFamily="2" charset="-122"/>
              </a:rPr>
              <a:t>contents</a:t>
            </a:r>
            <a:r>
              <a:rPr lang="en-US" altLang="zh-CN" b="1" dirty="0">
                <a:ea typeface="宋体" panose="02010600030101010101" pitchFamily="2" charset="-122"/>
              </a:rPr>
              <a:t> ( 100 + </a:t>
            </a:r>
            <a:r>
              <a:rPr lang="en-US" altLang="zh-CN" b="1" i="1" dirty="0">
                <a:ea typeface="宋体" panose="02010600030101010101" pitchFamily="2" charset="-122"/>
              </a:rPr>
              <a:t>contents</a:t>
            </a:r>
            <a:r>
              <a:rPr lang="en-US" altLang="zh-CN" b="1" dirty="0">
                <a:ea typeface="宋体" panose="02010600030101010101" pitchFamily="2" charset="-122"/>
              </a:rPr>
              <a:t>( R2 ) )</a:t>
            </a:r>
            <a:endParaRPr lang="en-US" altLang="zh-CN" b="1" dirty="0">
              <a:ea typeface="宋体" panose="02010600030101010101" pitchFamily="2" charset="-122"/>
            </a:endParaRPr>
          </a:p>
          <a:p>
            <a:pPr marL="1771650" lvl="3" indent="-457200">
              <a:lnSpc>
                <a:spcPct val="90000"/>
              </a:lnSpc>
            </a:pPr>
            <a:r>
              <a:rPr lang="zh-CN" altLang="en-US" b="1" dirty="0">
                <a:ea typeface="宋体" panose="02010600030101010101" pitchFamily="2" charset="-122"/>
              </a:rPr>
              <a:t>可用于指针操作</a:t>
            </a:r>
            <a:endParaRPr lang="en-US" altLang="zh-CN" b="1"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1203" name="Rectangle 3"/>
          <p:cNvSpPr>
            <a:spLocks noGrp="1" noChangeArrowheads="1"/>
          </p:cNvSpPr>
          <p:nvPr>
            <p:ph idx="1"/>
          </p:nvPr>
        </p:nvSpPr>
        <p:spPr>
          <a:xfrm>
            <a:off x="685800" y="1484313"/>
            <a:ext cx="7924800" cy="4764088"/>
          </a:xfrm>
        </p:spPr>
        <p:txBody>
          <a:bodyPr vert="horz" wrap="square" lIns="92075" tIns="46038" rIns="92075" bIns="46038" numCol="1" anchor="t" anchorCtr="0" compatLnSpc="1"/>
          <a:lstStyle/>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另外两种间接寻址模式</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表示寄存器</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的内容所表示的位置上存放的内存位置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表示在</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中内容加上</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的和所代表的位置上的内容所代表的位置</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R1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100(R2)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的效果是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3"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R1=</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 contents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contents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( 100 +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contents</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R2 )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支持直接常数寻址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在常数前面有一个前缀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表示把整数</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赋给寄存器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R1</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R1 , #100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表示把</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加到寄存器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中去</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3251" name="Rectangle 3"/>
          <p:cNvSpPr>
            <a:spLocks noGrp="1" noChangeArrowheads="1"/>
          </p:cNvSpPr>
          <p:nvPr>
            <p:ph idx="1"/>
          </p:nvPr>
        </p:nvSpPr>
        <p:spPr>
          <a:xfrm>
            <a:off x="990600" y="1557338"/>
            <a:ext cx="7467600" cy="4691063"/>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几个例子</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三地址语句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y – 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的指令序列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 , y		// R1 = 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    R2 , z		// R2 = z</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SUB  R1 , R1 , R2		// R1 = R1 – R2</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ST    x , R1		// x = R1</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可以考虑的优化</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在寄存器中，则可以省略相应的</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LD</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90700" marR="0" lvl="3" indent="-4191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的值被使用时都存放在寄存器中，且之后不再使用，则可消除</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指令</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6083" name="Rectangle 3"/>
          <p:cNvSpPr>
            <a:spLocks noGrp="1"/>
          </p:cNvSpPr>
          <p:nvPr>
            <p:ph idx="1"/>
          </p:nvPr>
        </p:nvSpPr>
        <p:spPr>
          <a:xfrm>
            <a:off x="990600" y="1371600"/>
            <a:ext cx="7467600" cy="4876800"/>
          </a:xfrm>
        </p:spPr>
        <p:txBody>
          <a:bodyPr vert="horz" wrap="square" lIns="92075" tIns="46038" rIns="92075" bIns="46038" anchor="t" anchorCtr="0"/>
          <a:p>
            <a:pPr marL="495300" indent="-495300">
              <a:lnSpc>
                <a:spcPct val="90000"/>
              </a:lnSpc>
            </a:pPr>
            <a:r>
              <a:rPr lang="zh-CN" altLang="en-US" sz="2200" b="1" dirty="0">
                <a:ea typeface="宋体" panose="02010600030101010101" pitchFamily="2" charset="-122"/>
              </a:rPr>
              <a:t>几个例子（续）</a:t>
            </a:r>
            <a:endParaRPr lang="zh-CN" altLang="en-US" sz="2200" b="1" dirty="0">
              <a:ea typeface="宋体" panose="02010600030101010101" pitchFamily="2" charset="-122"/>
            </a:endParaRPr>
          </a:p>
          <a:p>
            <a:pPr marL="914400" lvl="1" indent="-457200">
              <a:lnSpc>
                <a:spcPct val="90000"/>
              </a:lnSpc>
            </a:pPr>
            <a:r>
              <a:rPr lang="zh-CN" altLang="en-US" sz="2000" b="1" dirty="0">
                <a:ea typeface="宋体" panose="02010600030101010101" pitchFamily="2" charset="-122"/>
              </a:rPr>
              <a:t>如果</a:t>
            </a:r>
            <a:r>
              <a:rPr lang="en-US" altLang="zh-CN" sz="2000" b="1" dirty="0">
                <a:ea typeface="宋体" panose="02010600030101010101" pitchFamily="2" charset="-122"/>
              </a:rPr>
              <a:t>a</a:t>
            </a:r>
            <a:r>
              <a:rPr lang="zh-CN" altLang="en-US" sz="2000" b="1" dirty="0">
                <a:ea typeface="宋体" panose="02010600030101010101" pitchFamily="2" charset="-122"/>
              </a:rPr>
              <a:t>是一个元素为</a:t>
            </a:r>
            <a:r>
              <a:rPr lang="en-US" altLang="zh-CN" sz="2000" b="1" dirty="0">
                <a:ea typeface="宋体" panose="02010600030101010101" pitchFamily="2" charset="-122"/>
              </a:rPr>
              <a:t>8</a:t>
            </a:r>
            <a:r>
              <a:rPr lang="zh-CN" altLang="en-US" sz="2000" b="1" dirty="0">
                <a:ea typeface="宋体" panose="02010600030101010101" pitchFamily="2" charset="-122"/>
              </a:rPr>
              <a:t>字节值（如实数）的数组，</a:t>
            </a:r>
            <a:r>
              <a:rPr lang="en-US" altLang="zh-CN" sz="2000" b="1" dirty="0">
                <a:ea typeface="宋体" panose="02010600030101010101" pitchFamily="2" charset="-122"/>
              </a:rPr>
              <a:t>a</a:t>
            </a:r>
            <a:r>
              <a:rPr lang="zh-CN" altLang="en-US" sz="2000" b="1" dirty="0">
                <a:ea typeface="宋体" panose="02010600030101010101" pitchFamily="2" charset="-122"/>
              </a:rPr>
              <a:t>的元素的下标从</a:t>
            </a:r>
            <a:r>
              <a:rPr lang="en-US" altLang="zh-CN" sz="2000" b="1" dirty="0">
                <a:ea typeface="宋体" panose="02010600030101010101" pitchFamily="2" charset="-122"/>
              </a:rPr>
              <a:t>0</a:t>
            </a:r>
            <a:r>
              <a:rPr lang="zh-CN" altLang="en-US" sz="2000" b="1" dirty="0">
                <a:ea typeface="宋体" panose="02010600030101010101" pitchFamily="2" charset="-122"/>
              </a:rPr>
              <a:t>开始，则三地址语句 </a:t>
            </a:r>
            <a:r>
              <a:rPr lang="en-US" altLang="zh-CN" sz="2000" b="1" dirty="0">
                <a:ea typeface="宋体" panose="02010600030101010101" pitchFamily="2" charset="-122"/>
              </a:rPr>
              <a:t>b</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a [ i ] </a:t>
            </a:r>
            <a:r>
              <a:rPr lang="zh-CN" altLang="en-US" sz="2000" b="1" dirty="0">
                <a:ea typeface="宋体" panose="02010600030101010101" pitchFamily="2" charset="-122"/>
              </a:rPr>
              <a:t>的指令序列</a:t>
            </a:r>
            <a:endParaRPr lang="zh-CN" altLang="en-US" sz="20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LD</a:t>
            </a:r>
            <a:r>
              <a:rPr lang="zh-CN" altLang="en-US" sz="1800" b="1" dirty="0">
                <a:ea typeface="宋体" panose="02010600030101010101" pitchFamily="2" charset="-122"/>
              </a:rPr>
              <a:t>     </a:t>
            </a:r>
            <a:r>
              <a:rPr lang="en-US" altLang="zh-CN" sz="1800" b="1" dirty="0">
                <a:ea typeface="宋体" panose="02010600030101010101" pitchFamily="2" charset="-122"/>
              </a:rPr>
              <a:t>R1 , i		// R1 = i</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MUL</a:t>
            </a:r>
            <a:r>
              <a:rPr lang="zh-CN" altLang="en-US" sz="1800" b="1" dirty="0">
                <a:ea typeface="宋体" panose="02010600030101010101" pitchFamily="2" charset="-122"/>
              </a:rPr>
              <a:t> </a:t>
            </a:r>
            <a:r>
              <a:rPr lang="en-US" altLang="zh-CN" sz="1800" b="1" dirty="0">
                <a:ea typeface="宋体" panose="02010600030101010101" pitchFamily="2" charset="-122"/>
              </a:rPr>
              <a:t>R1 , R1</a:t>
            </a:r>
            <a:r>
              <a:rPr lang="zh-CN" altLang="en-US" sz="1800" b="1" dirty="0">
                <a:ea typeface="宋体" panose="02010600030101010101" pitchFamily="2" charset="-122"/>
              </a:rPr>
              <a:t> </a:t>
            </a:r>
            <a:r>
              <a:rPr lang="en-US" altLang="zh-CN" sz="1800" b="1" dirty="0">
                <a:ea typeface="宋体" panose="02010600030101010101" pitchFamily="2" charset="-122"/>
              </a:rPr>
              <a:t>, 8		// R1 = R1 * 8</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LD    </a:t>
            </a:r>
            <a:r>
              <a:rPr lang="zh-CN" altLang="en-US" sz="1800" b="1" dirty="0">
                <a:ea typeface="宋体" panose="02010600030101010101" pitchFamily="2" charset="-122"/>
              </a:rPr>
              <a:t> </a:t>
            </a:r>
            <a:r>
              <a:rPr lang="en-US" altLang="zh-CN" sz="1800" b="1" dirty="0">
                <a:ea typeface="宋体" panose="02010600030101010101" pitchFamily="2" charset="-122"/>
              </a:rPr>
              <a:t>R2 , a( R1) 		// R2 = contents ( a + contents ( R1 ) )</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ST    </a:t>
            </a:r>
            <a:r>
              <a:rPr lang="zh-CN" altLang="en-US" sz="1800" b="1" dirty="0">
                <a:ea typeface="宋体" panose="02010600030101010101" pitchFamily="2" charset="-122"/>
              </a:rPr>
              <a:t>  </a:t>
            </a:r>
            <a:r>
              <a:rPr lang="en-US" altLang="zh-CN" sz="1800" b="1" dirty="0">
                <a:ea typeface="宋体" panose="02010600030101010101" pitchFamily="2" charset="-122"/>
              </a:rPr>
              <a:t>b , R2		// b = R2</a:t>
            </a:r>
            <a:endParaRPr lang="en-US" altLang="zh-CN" sz="1800" b="1" dirty="0">
              <a:ea typeface="宋体" panose="02010600030101010101" pitchFamily="2" charset="-122"/>
            </a:endParaRPr>
          </a:p>
          <a:p>
            <a:pPr marL="914400" lvl="1" indent="-457200">
              <a:lnSpc>
                <a:spcPct val="90000"/>
              </a:lnSpc>
            </a:pPr>
            <a:r>
              <a:rPr lang="zh-CN" altLang="en-US" sz="2000" b="1" dirty="0">
                <a:ea typeface="宋体" panose="02010600030101010101" pitchFamily="2" charset="-122"/>
              </a:rPr>
              <a:t>类似地，三地址语句 </a:t>
            </a:r>
            <a:r>
              <a:rPr lang="en-US" altLang="zh-CN" sz="2000" b="1" dirty="0">
                <a:ea typeface="宋体" panose="02010600030101010101" pitchFamily="2" charset="-122"/>
              </a:rPr>
              <a:t>a [ j ]</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c </a:t>
            </a:r>
            <a:r>
              <a:rPr lang="zh-CN" altLang="en-US" sz="2000" b="1" dirty="0">
                <a:ea typeface="宋体" panose="02010600030101010101" pitchFamily="2" charset="-122"/>
              </a:rPr>
              <a:t>的指令序列</a:t>
            </a:r>
            <a:endParaRPr lang="zh-CN" altLang="en-US" sz="20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LD</a:t>
            </a:r>
            <a:r>
              <a:rPr lang="zh-CN" altLang="en-US" sz="1800" b="1" dirty="0">
                <a:ea typeface="宋体" panose="02010600030101010101" pitchFamily="2" charset="-122"/>
              </a:rPr>
              <a:t>     </a:t>
            </a:r>
            <a:r>
              <a:rPr lang="en-US" altLang="zh-CN" sz="1800" b="1" dirty="0">
                <a:ea typeface="宋体" panose="02010600030101010101" pitchFamily="2" charset="-122"/>
              </a:rPr>
              <a:t>R1 , c		// R1 = c</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LD</a:t>
            </a:r>
            <a:r>
              <a:rPr lang="zh-CN" altLang="en-US" sz="1800" b="1" dirty="0">
                <a:ea typeface="宋体" panose="02010600030101010101" pitchFamily="2" charset="-122"/>
              </a:rPr>
              <a:t>     </a:t>
            </a:r>
            <a:r>
              <a:rPr lang="en-US" altLang="zh-CN" sz="1800" b="1" dirty="0">
                <a:ea typeface="宋体" panose="02010600030101010101" pitchFamily="2" charset="-122"/>
              </a:rPr>
              <a:t>R2 , j		// R2 = j</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MUL</a:t>
            </a:r>
            <a:r>
              <a:rPr lang="zh-CN" altLang="en-US" sz="1800" b="1" dirty="0">
                <a:ea typeface="宋体" panose="02010600030101010101" pitchFamily="2" charset="-122"/>
              </a:rPr>
              <a:t> </a:t>
            </a:r>
            <a:r>
              <a:rPr lang="en-US" altLang="zh-CN" sz="1800" b="1" dirty="0">
                <a:ea typeface="宋体" panose="02010600030101010101" pitchFamily="2" charset="-122"/>
              </a:rPr>
              <a:t>R2 , R2</a:t>
            </a:r>
            <a:r>
              <a:rPr lang="zh-CN" altLang="en-US" sz="1800" b="1" dirty="0">
                <a:ea typeface="宋体" panose="02010600030101010101" pitchFamily="2" charset="-122"/>
              </a:rPr>
              <a:t> </a:t>
            </a:r>
            <a:r>
              <a:rPr lang="en-US" altLang="zh-CN" sz="1800" b="1" dirty="0">
                <a:ea typeface="宋体" panose="02010600030101010101" pitchFamily="2" charset="-122"/>
              </a:rPr>
              <a:t>, 8		// R2 = R2 * 8</a:t>
            </a:r>
            <a:endParaRPr lang="en-US" altLang="zh-CN" sz="1800" b="1" dirty="0">
              <a:ea typeface="宋体" panose="02010600030101010101" pitchFamily="2" charset="-122"/>
            </a:endParaRPr>
          </a:p>
          <a:p>
            <a:pPr marL="857250" lvl="2" indent="0">
              <a:lnSpc>
                <a:spcPct val="90000"/>
              </a:lnSpc>
              <a:buNone/>
            </a:pPr>
            <a:r>
              <a:rPr lang="en-US" altLang="zh-CN" sz="1800" b="1" dirty="0">
                <a:ea typeface="宋体" panose="02010600030101010101" pitchFamily="2" charset="-122"/>
              </a:rPr>
              <a:t>ST    </a:t>
            </a:r>
            <a:r>
              <a:rPr lang="zh-CN" altLang="en-US" sz="1800" b="1" dirty="0">
                <a:ea typeface="宋体" panose="02010600030101010101" pitchFamily="2" charset="-122"/>
              </a:rPr>
              <a:t> </a:t>
            </a:r>
            <a:r>
              <a:rPr lang="en-US" altLang="zh-CN" sz="1800" b="1" dirty="0">
                <a:ea typeface="宋体" panose="02010600030101010101" pitchFamily="2" charset="-122"/>
              </a:rPr>
              <a:t>a( R2) , R1 		// contents ( a + contents ( R2 ) ) = R1</a:t>
            </a:r>
            <a:endParaRPr lang="en-US" altLang="zh-CN" sz="1800" b="1" dirty="0">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一个简单的目标机模型（</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3251" name="Rectangle 3"/>
          <p:cNvSpPr>
            <a:spLocks noGrp="1" noChangeArrowheads="1"/>
          </p:cNvSpPr>
          <p:nvPr>
            <p:ph idx="1"/>
          </p:nvPr>
        </p:nvSpPr>
        <p:spPr>
          <a:xfrm>
            <a:off x="990600" y="1371600"/>
            <a:ext cx="7467600"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几个例子（续）</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三地址语句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的指令序列</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 , p		// R1 = p</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R2 , 0( R1) 		// R2 = contents ( 0 + contents ( R1 )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 , R2		// x = R2</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三地址语句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y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的指令序列</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 , p		// R1 = p</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R2 , y		// R2 = 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0( R1) , R2 		// contents ( 0 + contents ( R1 ) ) = R2</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三地址语句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if x &lt; y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goto</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L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的指令序列</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 , x		// R1 = x</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R2 , y		// R2 = 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SUB   R1 , R1 , R2		// R1 = R1 – R2</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9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BLTZ</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 , M 		// if R1 &lt; 0 jump to M</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8575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是从标号</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的三地址语句所产生的机器指令序列中的第一个指令的标号</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程序和指令的代价（</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3251" name="Rectangle 3"/>
          <p:cNvSpPr>
            <a:spLocks noGrp="1" noChangeArrowheads="1"/>
          </p:cNvSpPr>
          <p:nvPr>
            <p:ph idx="1"/>
          </p:nvPr>
        </p:nvSpPr>
        <p:spPr>
          <a:xfrm>
            <a:off x="990600" y="1557338"/>
            <a:ext cx="7467600" cy="4691063"/>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程序和指令的代价</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目标程序的“代价”是编译器考虑的一个重要指标</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根据编译器目标的不同，而采用不同的度量</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常用的一些度量有：编译时间、代码大小、运行时间或能耗等的某个或某几个的组合</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确定编译和运行一个程序的实际代价是一个复杂的问题</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为给定源程序找到最优目标程序是一个不可判定问题，且很多相关的子问题是</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NP</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困难的</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各类启发式方法可以帮助编译器找到较优的目标程序</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本章对程序代价度量的选择</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把指令代价置为1，加上上述的地址模式的附加代价，就是对应指令的长度（以字计算）</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寄存器地址模式的代价为0</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含内存单元和常数的地址模式的代价是1，因为这种运算对象必须和指令存在一起</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程序和指令的代价（</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53251" name="Rectangle 3"/>
          <p:cNvSpPr>
            <a:spLocks noGrp="1" noChangeArrowheads="1"/>
          </p:cNvSpPr>
          <p:nvPr>
            <p:ph idx="1"/>
          </p:nvPr>
        </p:nvSpPr>
        <p:spPr>
          <a:xfrm>
            <a:off x="990600" y="1371600"/>
            <a:ext cx="7467600"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程序和指令的代价（续）</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指令代价的例子</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R0 , R1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指令代价是1，只占一个内存字</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R5 , M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代价是2，</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要独占一个内存字</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*100(R2)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代价是</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，常数1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00</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占一个内存字</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本章中，程序代价的计算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对于一个指定的输入，目标语言程序的代价是当此程序在该输入上运行时所执行的所有指令的代价总和</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如果空间是至关重要的，则应使指令的长度极小化</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此种优化有如下的两个额外好处：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节省取指的开销，从而减少指令的执行时间</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52600" marR="0" lvl="3" indent="-3810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提高指令</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cache</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的使用效率</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54275"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目标代码中的地址</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基本块及其优化</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控制流图及流分析</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跨越基本块的优化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目标代码中的地址</a:t>
            </a:r>
            <a:endParaRPr lang="zh-CN" altLang="en-US" dirty="0">
              <a:latin typeface="Times New Roman" panose="02020603050405020304" pitchFamily="18" charset="0"/>
              <a:ea typeface="宋体" panose="02010600030101010101" pitchFamily="2" charset="-122"/>
            </a:endParaRPr>
          </a:p>
        </p:txBody>
      </p:sp>
      <p:sp>
        <p:nvSpPr>
          <p:cNvPr id="56323" name="Rectangle 3"/>
          <p:cNvSpPr>
            <a:spLocks noGrp="1"/>
          </p:cNvSpPr>
          <p:nvPr>
            <p:ph idx="1"/>
          </p:nvPr>
        </p:nvSpPr>
        <p:spPr>
          <a:xfrm>
            <a:off x="990600" y="1371600"/>
            <a:ext cx="7391400" cy="5105400"/>
          </a:xfrm>
        </p:spPr>
        <p:txBody>
          <a:bodyPr vert="horz" wrap="square" lIns="92075" tIns="46038" rIns="92075" bIns="46038" anchor="t" anchorCtr="0"/>
          <a:p>
            <a:r>
              <a:rPr lang="zh-CN" altLang="en-US" sz="2200" b="1" dirty="0">
                <a:ea typeface="宋体" panose="02010600030101010101" pitchFamily="2" charset="-122"/>
              </a:rPr>
              <a:t>本节介绍：</a:t>
            </a:r>
            <a:endParaRPr lang="en-US" altLang="zh-CN" sz="2200" b="1" dirty="0">
              <a:ea typeface="宋体" panose="02010600030101010101" pitchFamily="2" charset="-122"/>
            </a:endParaRPr>
          </a:p>
          <a:p>
            <a:pPr lvl="1"/>
            <a:r>
              <a:rPr lang="zh-CN" altLang="en-US" sz="2000" b="1" dirty="0">
                <a:ea typeface="宋体" panose="02010600030101010101" pitchFamily="2" charset="-122"/>
              </a:rPr>
              <a:t>如何使用静态和栈式内存分配为简单的过程调用和返回生成代码</a:t>
            </a:r>
            <a:endParaRPr lang="en-US" altLang="zh-CN" sz="2000" b="1" dirty="0">
              <a:ea typeface="宋体" panose="02010600030101010101" pitchFamily="2" charset="-122"/>
            </a:endParaRPr>
          </a:p>
          <a:p>
            <a:pPr lvl="1"/>
            <a:r>
              <a:rPr lang="en-US" altLang="zh-CN" sz="2000" b="1" dirty="0">
                <a:ea typeface="宋体" panose="02010600030101010101" pitchFamily="2" charset="-122"/>
              </a:rPr>
              <a:t>IR</a:t>
            </a:r>
            <a:r>
              <a:rPr lang="zh-CN" altLang="en-US" sz="2000" b="1" dirty="0">
                <a:ea typeface="宋体" panose="02010600030101010101" pitchFamily="2" charset="-122"/>
              </a:rPr>
              <a:t>中的名字转换成目标代码中的地址</a:t>
            </a:r>
            <a:endParaRPr lang="zh-CN" altLang="en-US" sz="2000" b="1" dirty="0">
              <a:ea typeface="宋体" panose="02010600030101010101" pitchFamily="2" charset="-122"/>
            </a:endParaRPr>
          </a:p>
          <a:p>
            <a:pPr lvl="1"/>
            <a:r>
              <a:rPr lang="zh-CN" altLang="en-US" sz="2000" b="1" dirty="0">
                <a:ea typeface="宋体" panose="02010600030101010101" pitchFamily="2" charset="-122"/>
              </a:rPr>
              <a:t>背景：第</a:t>
            </a:r>
            <a:r>
              <a:rPr lang="en-US" altLang="zh-CN" sz="2000" b="1" dirty="0">
                <a:ea typeface="宋体" panose="02010600030101010101" pitchFamily="2" charset="-122"/>
              </a:rPr>
              <a:t>7</a:t>
            </a:r>
            <a:r>
              <a:rPr lang="zh-CN" altLang="en-US" sz="2000" b="1" dirty="0">
                <a:ea typeface="宋体" panose="02010600030101010101" pitchFamily="2" charset="-122"/>
              </a:rPr>
              <a:t>章中介绍了每个正在执行的程序的逻辑空间的分割：</a:t>
            </a:r>
            <a:endParaRPr lang="en-US" altLang="zh-CN" sz="2200" b="1" dirty="0">
              <a:ea typeface="宋体" panose="02010600030101010101" pitchFamily="2" charset="-122"/>
            </a:endParaRPr>
          </a:p>
          <a:p>
            <a:pPr lvl="2"/>
            <a:r>
              <a:rPr lang="zh-CN" altLang="en-US" sz="1800" b="1" dirty="0">
                <a:ea typeface="宋体" panose="02010600030101010101" pitchFamily="2" charset="-122"/>
              </a:rPr>
              <a:t>静态确定的代码区</a:t>
            </a:r>
            <a:endParaRPr lang="en-US" altLang="zh-CN" sz="1800" b="1" dirty="0">
              <a:ea typeface="宋体" panose="02010600030101010101" pitchFamily="2" charset="-122"/>
            </a:endParaRPr>
          </a:p>
          <a:p>
            <a:pPr lvl="2"/>
            <a:r>
              <a:rPr lang="zh-CN" altLang="en-US" sz="1800" b="1" dirty="0">
                <a:ea typeface="宋体" panose="02010600030101010101" pitchFamily="2" charset="-122"/>
              </a:rPr>
              <a:t>静态确定的静态数据区，存放全局变量和编译器生成的其它数据，这些数据的大小在编译时刻确定</a:t>
            </a:r>
            <a:endParaRPr lang="en-US" altLang="zh-CN" sz="1800" b="1" dirty="0">
              <a:ea typeface="宋体" panose="02010600030101010101" pitchFamily="2" charset="-122"/>
            </a:endParaRPr>
          </a:p>
          <a:p>
            <a:pPr lvl="2"/>
            <a:r>
              <a:rPr lang="zh-CN" altLang="en-US" sz="1800" b="1" dirty="0">
                <a:ea typeface="宋体" panose="02010600030101010101" pitchFamily="2" charset="-122"/>
              </a:rPr>
              <a:t>动态管理的堆区，存放运行时分配和释放的数据对象</a:t>
            </a:r>
            <a:endParaRPr lang="en-US" altLang="zh-CN" sz="1800" b="1" dirty="0">
              <a:ea typeface="宋体" panose="02010600030101010101" pitchFamily="2" charset="-122"/>
            </a:endParaRPr>
          </a:p>
          <a:p>
            <a:pPr lvl="2"/>
            <a:r>
              <a:rPr lang="zh-CN" altLang="en-US" sz="1800" b="1" dirty="0">
                <a:ea typeface="宋体" panose="02010600030101010101" pitchFamily="2" charset="-122"/>
              </a:rPr>
              <a:t>动态管理的栈区，存放过程的活动记录</a:t>
            </a:r>
            <a:endParaRPr lang="en-US" altLang="zh-CN" sz="1800" b="1" dirty="0">
              <a:ea typeface="宋体" panose="02010600030101010101" pitchFamily="2" charset="-122"/>
            </a:endParaRPr>
          </a:p>
          <a:p>
            <a:pPr lvl="1"/>
            <a:r>
              <a:rPr lang="zh-CN" altLang="en-US" sz="2000" b="1" dirty="0">
                <a:ea typeface="宋体" panose="02010600030101010101" pitchFamily="2" charset="-122"/>
              </a:rPr>
              <a:t>过程的调用和返回代码用如下的三地址语句：</a:t>
            </a:r>
            <a:endParaRPr lang="en-US" altLang="zh-CN" sz="2000" b="1" dirty="0">
              <a:ea typeface="宋体" panose="02010600030101010101" pitchFamily="2" charset="-122"/>
            </a:endParaRPr>
          </a:p>
          <a:p>
            <a:pPr lvl="2"/>
            <a:r>
              <a:rPr lang="en-US" altLang="zh-CN" sz="1800" b="1" dirty="0">
                <a:ea typeface="宋体" panose="02010600030101010101" pitchFamily="2" charset="-122"/>
              </a:rPr>
              <a:t>call</a:t>
            </a:r>
            <a:r>
              <a:rPr lang="zh-CN" altLang="en-US" sz="1800" b="1" dirty="0">
                <a:ea typeface="宋体" panose="02010600030101010101" pitchFamily="2" charset="-122"/>
              </a:rPr>
              <a:t>  </a:t>
            </a:r>
            <a:r>
              <a:rPr lang="en-US" altLang="zh-CN" sz="1800" i="1" dirty="0">
                <a:ea typeface="宋体" panose="02010600030101010101" pitchFamily="2" charset="-122"/>
              </a:rPr>
              <a:t>callee	</a:t>
            </a:r>
            <a:r>
              <a:rPr lang="zh-CN" altLang="en-US" sz="1800" b="1" dirty="0">
                <a:ea typeface="宋体" panose="02010600030101010101" pitchFamily="2" charset="-122"/>
              </a:rPr>
              <a:t>，调用</a:t>
            </a:r>
            <a:endParaRPr lang="zh-CN" altLang="en-US" sz="1800" b="1" dirty="0">
              <a:ea typeface="宋体" panose="02010600030101010101" pitchFamily="2" charset="-122"/>
            </a:endParaRPr>
          </a:p>
          <a:p>
            <a:pPr lvl="2"/>
            <a:r>
              <a:rPr lang="en-US" altLang="zh-CN" sz="1800" b="1" dirty="0">
                <a:ea typeface="宋体" panose="02010600030101010101" pitchFamily="2" charset="-122"/>
              </a:rPr>
              <a:t>return		</a:t>
            </a:r>
            <a:r>
              <a:rPr lang="zh-CN" altLang="en-US" sz="1800" b="1" dirty="0">
                <a:ea typeface="宋体" panose="02010600030101010101" pitchFamily="2" charset="-122"/>
              </a:rPr>
              <a:t>，返回</a:t>
            </a:r>
            <a:endParaRPr lang="zh-CN" altLang="en-US" sz="1800" b="1" dirty="0">
              <a:ea typeface="宋体" panose="02010600030101010101" pitchFamily="2" charset="-122"/>
            </a:endParaRPr>
          </a:p>
          <a:p>
            <a:pPr lvl="2"/>
            <a:r>
              <a:rPr lang="en-US" altLang="zh-CN" sz="1800" b="1" dirty="0">
                <a:ea typeface="宋体" panose="02010600030101010101" pitchFamily="2" charset="-122"/>
              </a:rPr>
              <a:t>halt		</a:t>
            </a:r>
            <a:r>
              <a:rPr lang="zh-CN" altLang="en-US" sz="1800" b="1" dirty="0">
                <a:ea typeface="宋体" panose="02010600030101010101" pitchFamily="2" charset="-122"/>
              </a:rPr>
              <a:t>，停机</a:t>
            </a:r>
            <a:endParaRPr lang="zh-CN" altLang="en-US" sz="1800" b="1" dirty="0">
              <a:ea typeface="宋体" panose="02010600030101010101" pitchFamily="2" charset="-122"/>
            </a:endParaRPr>
          </a:p>
          <a:p>
            <a:pPr lvl="2"/>
            <a:r>
              <a:rPr lang="en-US" altLang="zh-CN" sz="1800" b="1" dirty="0">
                <a:ea typeface="宋体" panose="02010600030101010101" pitchFamily="2" charset="-122"/>
              </a:rPr>
              <a:t>action		</a:t>
            </a:r>
            <a:r>
              <a:rPr lang="zh-CN" altLang="en-US" sz="1800" b="1" dirty="0">
                <a:ea typeface="宋体" panose="02010600030101010101" pitchFamily="2" charset="-122"/>
              </a:rPr>
              <a:t>，为其它语句占有位置</a:t>
            </a:r>
            <a:endParaRPr lang="zh-CN" altLang="en-US" sz="1800" b="1" dirty="0">
              <a:ea typeface="宋体" panose="0201060003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914400" y="3810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静态分配管理</a:t>
            </a:r>
            <a:endParaRPr lang="zh-CN" altLang="en-US" dirty="0">
              <a:latin typeface="Times New Roman" panose="02020603050405020304" pitchFamily="18" charset="0"/>
              <a:ea typeface="宋体" panose="02010600030101010101" pitchFamily="2" charset="-122"/>
            </a:endParaRPr>
          </a:p>
        </p:txBody>
      </p:sp>
      <p:sp>
        <p:nvSpPr>
          <p:cNvPr id="58371" name="Rectangle 3"/>
          <p:cNvSpPr>
            <a:spLocks noGrp="1"/>
          </p:cNvSpPr>
          <p:nvPr>
            <p:ph idx="1"/>
          </p:nvPr>
        </p:nvSpPr>
        <p:spPr>
          <a:xfrm>
            <a:off x="914400" y="1295400"/>
            <a:ext cx="7772400" cy="4953000"/>
          </a:xfrm>
        </p:spPr>
        <p:txBody>
          <a:bodyPr vert="horz" wrap="square" lIns="92075" tIns="46038" rIns="92075" bIns="46038" anchor="t" anchorCtr="0"/>
          <a:p>
            <a:r>
              <a:rPr lang="en-US" altLang="zh-CN" sz="2200" b="1" dirty="0">
                <a:ea typeface="宋体" panose="02010600030101010101" pitchFamily="2" charset="-122"/>
              </a:rPr>
              <a:t>call</a:t>
            </a:r>
            <a:r>
              <a:rPr lang="zh-CN" altLang="en-US" sz="2200" b="1" dirty="0">
                <a:ea typeface="宋体" panose="02010600030101010101" pitchFamily="2" charset="-122"/>
              </a:rPr>
              <a:t>调用语句用两条目标机器指令实现</a:t>
            </a:r>
            <a:endParaRPr lang="zh-CN" altLang="en-US" sz="2200" b="1" dirty="0">
              <a:ea typeface="宋体" panose="02010600030101010101" pitchFamily="2" charset="-122"/>
            </a:endParaRPr>
          </a:p>
          <a:p>
            <a:pPr lvl="1">
              <a:buNone/>
            </a:pPr>
            <a:r>
              <a:rPr lang="en-US" altLang="zh-CN" sz="2000" b="1" dirty="0">
                <a:ea typeface="宋体" panose="02010600030101010101" pitchFamily="2" charset="-122"/>
              </a:rPr>
              <a:t>ST 	  </a:t>
            </a:r>
            <a:r>
              <a:rPr lang="en-US" altLang="zh-CN" sz="2000" b="1" i="1" dirty="0">
                <a:ea typeface="宋体" panose="02010600030101010101" pitchFamily="2" charset="-122"/>
              </a:rPr>
              <a:t>callee. staticArea</a:t>
            </a:r>
            <a:r>
              <a:rPr lang="zh-CN" altLang="en-US" sz="2000" b="1" dirty="0">
                <a:ea typeface="宋体" panose="02010600030101010101" pitchFamily="2" charset="-122"/>
              </a:rPr>
              <a:t> </a:t>
            </a:r>
            <a:r>
              <a:rPr lang="en-US" altLang="zh-CN" sz="2000" b="1" dirty="0">
                <a:ea typeface="宋体" panose="02010600030101010101" pitchFamily="2" charset="-122"/>
              </a:rPr>
              <a:t>, #</a:t>
            </a:r>
            <a:r>
              <a:rPr lang="en-US" altLang="zh-CN" sz="2000" b="1" i="1" dirty="0">
                <a:ea typeface="宋体" panose="02010600030101010101" pitchFamily="2" charset="-122"/>
              </a:rPr>
              <a:t>here</a:t>
            </a:r>
            <a:r>
              <a:rPr lang="en-US" altLang="zh-CN" sz="2000" b="1" dirty="0">
                <a:ea typeface="宋体" panose="02010600030101010101" pitchFamily="2" charset="-122"/>
              </a:rPr>
              <a:t> + 20 ,  </a:t>
            </a:r>
            <a:endParaRPr lang="en-US" altLang="zh-CN" sz="2000" b="1" dirty="0">
              <a:ea typeface="宋体" panose="02010600030101010101" pitchFamily="2" charset="-122"/>
            </a:endParaRPr>
          </a:p>
          <a:p>
            <a:pPr lvl="1">
              <a:buNone/>
            </a:pPr>
            <a:r>
              <a:rPr lang="en-US" altLang="zh-CN" sz="2000" b="1" dirty="0">
                <a:ea typeface="宋体" panose="02010600030101010101" pitchFamily="2" charset="-122"/>
              </a:rPr>
              <a:t>BR   </a:t>
            </a:r>
            <a:r>
              <a:rPr lang="en-US" altLang="zh-CN" sz="2000" b="1" i="1" dirty="0">
                <a:ea typeface="宋体" panose="02010600030101010101" pitchFamily="2" charset="-122"/>
              </a:rPr>
              <a:t>callee. codeArea</a:t>
            </a:r>
            <a:endParaRPr lang="en-US" altLang="zh-CN" sz="2000" b="1" i="1" dirty="0">
              <a:ea typeface="宋体" panose="02010600030101010101" pitchFamily="2" charset="-122"/>
            </a:endParaRPr>
          </a:p>
          <a:p>
            <a:pPr lvl="1"/>
            <a:r>
              <a:rPr lang="en-US" altLang="zh-CN" sz="2000" b="1" dirty="0">
                <a:ea typeface="宋体" panose="02010600030101010101" pitchFamily="2" charset="-122"/>
              </a:rPr>
              <a:t>ST</a:t>
            </a:r>
            <a:r>
              <a:rPr lang="zh-CN" altLang="en-US" sz="2000" b="1" dirty="0">
                <a:ea typeface="宋体" panose="02010600030101010101" pitchFamily="2" charset="-122"/>
              </a:rPr>
              <a:t>指令存放返回地址（#</a:t>
            </a:r>
            <a:r>
              <a:rPr lang="en-US" altLang="zh-CN" sz="2000" b="1" dirty="0">
                <a:ea typeface="宋体" panose="02010600030101010101" pitchFamily="2" charset="-122"/>
              </a:rPr>
              <a:t>here + 20</a:t>
            </a:r>
            <a:r>
              <a:rPr lang="zh-CN" altLang="en-US" sz="2000" b="1" dirty="0">
                <a:ea typeface="宋体" panose="02010600030101010101" pitchFamily="2" charset="-122"/>
              </a:rPr>
              <a:t>是一个字面常数，指向</a:t>
            </a:r>
            <a:r>
              <a:rPr lang="en-US" altLang="zh-CN" sz="2000" b="1" dirty="0">
                <a:ea typeface="宋体" panose="02010600030101010101" pitchFamily="2" charset="-122"/>
              </a:rPr>
              <a:t>BR</a:t>
            </a:r>
            <a:r>
              <a:rPr lang="zh-CN" altLang="en-US" sz="2000" b="1" dirty="0">
                <a:ea typeface="宋体" panose="02010600030101010101" pitchFamily="2" charset="-122"/>
              </a:rPr>
              <a:t>后的那条指令的地址，即返回地址）</a:t>
            </a:r>
            <a:endParaRPr lang="en-US" altLang="zh-CN" sz="2000" b="1" dirty="0">
              <a:ea typeface="宋体" panose="02010600030101010101" pitchFamily="2" charset="-122"/>
            </a:endParaRPr>
          </a:p>
          <a:p>
            <a:pPr lvl="2"/>
            <a:r>
              <a:rPr lang="en-US" altLang="zh-CN" sz="1800" b="1" dirty="0">
                <a:ea typeface="宋体" panose="02010600030101010101" pitchFamily="2" charset="-122"/>
              </a:rPr>
              <a:t>20</a:t>
            </a:r>
            <a:r>
              <a:rPr lang="zh-CN" altLang="en-US" sz="1800" b="1" dirty="0">
                <a:ea typeface="宋体" panose="02010600030101010101" pitchFamily="2" charset="-122"/>
              </a:rPr>
              <a:t>包括了</a:t>
            </a:r>
            <a:r>
              <a:rPr lang="en-US" altLang="zh-CN" sz="1800" b="1" dirty="0">
                <a:ea typeface="宋体" panose="02010600030101010101" pitchFamily="2" charset="-122"/>
              </a:rPr>
              <a:t>2</a:t>
            </a:r>
            <a:r>
              <a:rPr lang="zh-CN" altLang="en-US" sz="1800" b="1" dirty="0">
                <a:ea typeface="宋体" panose="02010600030101010101" pitchFamily="2" charset="-122"/>
              </a:rPr>
              <a:t>条指令、</a:t>
            </a:r>
            <a:r>
              <a:rPr lang="en-US" altLang="zh-CN" sz="1800" b="1" dirty="0">
                <a:ea typeface="宋体" panose="02010600030101010101" pitchFamily="2" charset="-122"/>
              </a:rPr>
              <a:t>3</a:t>
            </a:r>
            <a:r>
              <a:rPr lang="zh-CN" altLang="en-US" sz="1800" b="1" dirty="0">
                <a:ea typeface="宋体" panose="02010600030101010101" pitchFamily="2" charset="-122"/>
              </a:rPr>
              <a:t>个地址</a:t>
            </a:r>
            <a:r>
              <a:rPr lang="en-US" altLang="zh-CN" sz="1800" b="1" dirty="0">
                <a:ea typeface="宋体" panose="02010600030101010101" pitchFamily="2" charset="-122"/>
              </a:rPr>
              <a:t>/</a:t>
            </a:r>
            <a:r>
              <a:rPr lang="zh-CN" altLang="en-US" sz="1800" b="1" dirty="0">
                <a:ea typeface="宋体" panose="02010600030101010101" pitchFamily="2" charset="-122"/>
              </a:rPr>
              <a:t>常数的代价</a:t>
            </a:r>
            <a:endParaRPr lang="zh-CN" altLang="en-US" sz="2000" b="1" dirty="0">
              <a:ea typeface="宋体" panose="02010600030101010101" pitchFamily="2" charset="-122"/>
            </a:endParaRPr>
          </a:p>
          <a:p>
            <a:pPr lvl="1"/>
            <a:r>
              <a:rPr lang="en-US" altLang="zh-CN" sz="2000" b="1" dirty="0">
                <a:ea typeface="宋体" panose="02010600030101010101" pitchFamily="2" charset="-122"/>
              </a:rPr>
              <a:t>BR</a:t>
            </a:r>
            <a:r>
              <a:rPr lang="zh-CN" altLang="en-US" sz="2000" b="1" dirty="0">
                <a:ea typeface="宋体" panose="02010600030101010101" pitchFamily="2" charset="-122"/>
              </a:rPr>
              <a:t>指令将控制转移到被调用过程的目标代码</a:t>
            </a:r>
            <a:endParaRPr lang="en-US" altLang="zh-CN" sz="2000" b="1" dirty="0">
              <a:ea typeface="宋体" panose="02010600030101010101" pitchFamily="2" charset="-122"/>
            </a:endParaRPr>
          </a:p>
          <a:p>
            <a:pPr lvl="1"/>
            <a:r>
              <a:rPr lang="en-US" altLang="zh-CN" sz="2000" b="1" i="1" dirty="0">
                <a:ea typeface="宋体" panose="02010600030101010101" pitchFamily="2" charset="-122"/>
              </a:rPr>
              <a:t>callee. staticArea</a:t>
            </a:r>
            <a:r>
              <a:rPr lang="zh-CN" altLang="en-US" sz="2000" b="1" dirty="0">
                <a:ea typeface="宋体" panose="02010600030101010101" pitchFamily="2" charset="-122"/>
              </a:rPr>
              <a:t>指向</a:t>
            </a:r>
            <a:r>
              <a:rPr lang="en-US" altLang="zh-CN" sz="2000" b="1" i="1" dirty="0">
                <a:ea typeface="宋体" panose="02010600030101010101" pitchFamily="2" charset="-122"/>
              </a:rPr>
              <a:t>callee</a:t>
            </a:r>
            <a:r>
              <a:rPr lang="zh-CN" altLang="en-US" sz="2000" b="1" dirty="0">
                <a:ea typeface="宋体" panose="02010600030101010101" pitchFamily="2" charset="-122"/>
              </a:rPr>
              <a:t>活动记录的开始处地址，是常量</a:t>
            </a:r>
            <a:endParaRPr lang="en-US" altLang="zh-CN" sz="2000" b="1" dirty="0">
              <a:ea typeface="宋体" panose="02010600030101010101" pitchFamily="2" charset="-122"/>
            </a:endParaRPr>
          </a:p>
          <a:p>
            <a:pPr lvl="1"/>
            <a:r>
              <a:rPr lang="en-US" altLang="zh-CN" sz="2000" b="1" i="1" dirty="0">
                <a:ea typeface="宋体" panose="02010600030101010101" pitchFamily="2" charset="-122"/>
              </a:rPr>
              <a:t>callee. codeArea</a:t>
            </a:r>
            <a:r>
              <a:rPr lang="zh-CN" altLang="en-US" sz="2000" b="1" dirty="0">
                <a:ea typeface="宋体" panose="02010600030101010101" pitchFamily="2" charset="-122"/>
              </a:rPr>
              <a:t>指向代码区中运行时刻</a:t>
            </a:r>
            <a:r>
              <a:rPr lang="en-US" altLang="zh-CN" sz="2000" b="1" i="1" dirty="0">
                <a:ea typeface="宋体" panose="02010600030101010101" pitchFamily="2" charset="-122"/>
              </a:rPr>
              <a:t>callee</a:t>
            </a:r>
            <a:r>
              <a:rPr lang="zh-CN" altLang="en-US" sz="2000" b="1" dirty="0">
                <a:ea typeface="宋体" panose="02010600030101010101" pitchFamily="2" charset="-122"/>
              </a:rPr>
              <a:t>的第一条指令的地址，是一个常量</a:t>
            </a:r>
            <a:endParaRPr lang="zh-CN" altLang="en-US" sz="2000" b="1" dirty="0">
              <a:ea typeface="宋体" panose="02010600030101010101" pitchFamily="2" charset="-122"/>
            </a:endParaRPr>
          </a:p>
          <a:p>
            <a:r>
              <a:rPr lang="zh-CN" altLang="en-US" sz="2200" b="1" dirty="0">
                <a:ea typeface="宋体" panose="02010600030101010101" pitchFamily="2" charset="-122"/>
              </a:rPr>
              <a:t>过程的返回</a:t>
            </a:r>
            <a:endParaRPr lang="zh-CN" altLang="en-US" sz="2200" b="1" dirty="0">
              <a:ea typeface="宋体" panose="02010600030101010101" pitchFamily="2" charset="-122"/>
            </a:endParaRPr>
          </a:p>
          <a:p>
            <a:pPr lvl="1"/>
            <a:r>
              <a:rPr lang="zh-CN" altLang="en-US" sz="2200" b="1" dirty="0">
                <a:ea typeface="宋体" panose="02010600030101010101" pitchFamily="2" charset="-122"/>
              </a:rPr>
              <a:t>过程的返回指令表明一个过程的结束</a:t>
            </a:r>
            <a:endParaRPr lang="zh-CN" altLang="en-US" sz="2200" b="1" dirty="0">
              <a:ea typeface="宋体" panose="02010600030101010101" pitchFamily="2" charset="-122"/>
            </a:endParaRPr>
          </a:p>
          <a:p>
            <a:pPr lvl="2"/>
            <a:r>
              <a:rPr lang="zh-CN" altLang="en-US" sz="2000" b="1" dirty="0">
                <a:ea typeface="宋体" panose="02010600030101010101" pitchFamily="2" charset="-122"/>
              </a:rPr>
              <a:t>第一个过程没有调用者，以</a:t>
            </a:r>
            <a:r>
              <a:rPr lang="en-US" altLang="zh-CN" sz="2000" b="1" dirty="0">
                <a:ea typeface="宋体" panose="02010600030101010101" pitchFamily="2" charset="-122"/>
              </a:rPr>
              <a:t>halt</a:t>
            </a:r>
            <a:r>
              <a:rPr lang="zh-CN" altLang="en-US" sz="2000" b="1" dirty="0">
                <a:ea typeface="宋体" panose="02010600030101010101" pitchFamily="2" charset="-122"/>
              </a:rPr>
              <a:t>指令结束，控制返回给</a:t>
            </a:r>
            <a:r>
              <a:rPr lang="en-US" altLang="zh-CN" sz="2000" b="1" dirty="0">
                <a:ea typeface="宋体" panose="02010600030101010101" pitchFamily="2" charset="-122"/>
              </a:rPr>
              <a:t>OS</a:t>
            </a:r>
            <a:endParaRPr lang="zh-CN" altLang="en-US" sz="2000" b="1" dirty="0">
              <a:ea typeface="宋体" panose="02010600030101010101" pitchFamily="2" charset="-122"/>
            </a:endParaRPr>
          </a:p>
          <a:p>
            <a:pPr lvl="1">
              <a:buNone/>
            </a:pPr>
            <a:r>
              <a:rPr lang="en-US" altLang="zh-CN" sz="2000" b="1" dirty="0">
                <a:ea typeface="宋体" panose="02010600030101010101" pitchFamily="2" charset="-122"/>
              </a:rPr>
              <a:t>BR   * </a:t>
            </a:r>
            <a:r>
              <a:rPr lang="en-US" altLang="zh-CN" sz="2000" b="1" i="1" dirty="0">
                <a:ea typeface="宋体" panose="02010600030101010101" pitchFamily="2" charset="-122"/>
              </a:rPr>
              <a:t>callee. staticArea</a:t>
            </a:r>
            <a:endParaRPr lang="en-US" altLang="zh-CN" sz="2000" b="1" dirty="0">
              <a:ea typeface="宋体" panose="02010600030101010101" pitchFamily="2" charset="-122"/>
            </a:endParaRPr>
          </a:p>
          <a:p>
            <a:pPr lvl="2"/>
            <a:r>
              <a:rPr lang="zh-CN" altLang="en-US" sz="2000" b="1" dirty="0">
                <a:ea typeface="宋体" panose="02010600030101010101" pitchFamily="2" charset="-122"/>
              </a:rPr>
              <a:t>按照活动记录中记录的返回地址返回</a:t>
            </a:r>
            <a:endParaRPr lang="zh-CN" altLang="en-US" sz="2000" b="1"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静态存储管理的例子</a:t>
            </a:r>
            <a:endParaRPr lang="zh-CN" altLang="en-US" dirty="0">
              <a:latin typeface="Times New Roman" panose="02020603050405020304" pitchFamily="18" charset="0"/>
              <a:ea typeface="宋体" panose="02010600030101010101" pitchFamily="2" charset="-122"/>
            </a:endParaRPr>
          </a:p>
        </p:txBody>
      </p:sp>
      <p:sp>
        <p:nvSpPr>
          <p:cNvPr id="60419" name="Rectangle 3"/>
          <p:cNvSpPr>
            <a:spLocks noGrp="1"/>
          </p:cNvSpPr>
          <p:nvPr>
            <p:ph idx="1"/>
          </p:nvPr>
        </p:nvSpPr>
        <p:spPr>
          <a:xfrm>
            <a:off x="990600" y="1371600"/>
            <a:ext cx="7391400" cy="5181600"/>
          </a:xfrm>
        </p:spPr>
        <p:txBody>
          <a:bodyPr vert="horz" wrap="square" lIns="92075" tIns="46038" rIns="92075" bIns="46038" anchor="t" anchorCtr="0"/>
          <a:p>
            <a:pPr>
              <a:lnSpc>
                <a:spcPct val="90000"/>
              </a:lnSpc>
              <a:buNone/>
            </a:pP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c</a:t>
            </a:r>
            <a:r>
              <a:rPr lang="zh-CN" altLang="en-US" sz="2000" b="1" dirty="0">
                <a:ea typeface="宋体" panose="02010600030101010101" pitchFamily="2" charset="-122"/>
              </a:rPr>
              <a:t>的代码</a:t>
            </a: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	</a:t>
            </a:r>
            <a:r>
              <a:rPr lang="en-US" altLang="zh-CN" sz="2000" b="1" dirty="0">
                <a:ea typeface="宋体" panose="02010600030101010101" pitchFamily="2" charset="-122"/>
              </a:rPr>
              <a:t>action1</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call</a:t>
            </a:r>
            <a:r>
              <a:rPr lang="zh-CN" altLang="en-US" sz="2000" b="1" dirty="0">
                <a:ea typeface="宋体" panose="02010600030101010101" pitchFamily="2" charset="-122"/>
              </a:rPr>
              <a:t> </a:t>
            </a:r>
            <a:r>
              <a:rPr lang="en-US" altLang="zh-CN" sz="2000" b="1" dirty="0">
                <a:ea typeface="宋体" panose="02010600030101010101" pitchFamily="2" charset="-122"/>
              </a:rPr>
              <a:t>p</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action2</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halt</a:t>
            </a:r>
            <a:endParaRPr lang="en-US" altLang="zh-CN" sz="2000" b="1" dirty="0">
              <a:ea typeface="宋体" panose="02010600030101010101" pitchFamily="2" charset="-122"/>
            </a:endParaRPr>
          </a:p>
          <a:p>
            <a:pPr>
              <a:lnSpc>
                <a:spcPct val="90000"/>
              </a:lnSpc>
              <a:buNone/>
            </a:pP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a:t>
            </a:r>
            <a:r>
              <a:rPr lang="zh-CN" altLang="en-US" sz="2000" b="1" dirty="0">
                <a:ea typeface="宋体" panose="02010600030101010101" pitchFamily="2" charset="-122"/>
              </a:rPr>
              <a:t> </a:t>
            </a:r>
            <a:r>
              <a:rPr lang="en-US" altLang="zh-CN" sz="2000" b="1" dirty="0">
                <a:ea typeface="宋体" panose="02010600030101010101" pitchFamily="2" charset="-122"/>
              </a:rPr>
              <a:t>p</a:t>
            </a:r>
            <a:r>
              <a:rPr lang="zh-CN" altLang="en-US" sz="2000" b="1" dirty="0">
                <a:ea typeface="宋体" panose="02010600030101010101" pitchFamily="2" charset="-122"/>
              </a:rPr>
              <a:t>的代码</a:t>
            </a:r>
            <a:endParaRPr lang="zh-CN" altLang="en-US" sz="2000" b="1" dirty="0">
              <a:ea typeface="宋体" panose="02010600030101010101" pitchFamily="2" charset="-122"/>
            </a:endParaRPr>
          </a:p>
          <a:p>
            <a:pPr>
              <a:lnSpc>
                <a:spcPct val="90000"/>
              </a:lnSpc>
              <a:buNone/>
            </a:pPr>
            <a:r>
              <a:rPr lang="en-US" altLang="zh-CN" sz="2000" b="1" dirty="0">
                <a:ea typeface="宋体" panose="02010600030101010101" pitchFamily="2" charset="-122"/>
              </a:rPr>
              <a:t>	action3</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return</a:t>
            </a:r>
            <a:endParaRPr lang="en-US" altLang="zh-CN" sz="2000" b="1" dirty="0">
              <a:ea typeface="宋体" panose="02010600030101010101" pitchFamily="2" charset="-122"/>
            </a:endParaRPr>
          </a:p>
          <a:p>
            <a:pPr>
              <a:lnSpc>
                <a:spcPct val="90000"/>
              </a:lnSpc>
              <a:buNone/>
            </a:pPr>
            <a:endParaRPr lang="en-US" altLang="zh-CN" sz="2000" b="1" dirty="0">
              <a:ea typeface="宋体" panose="02010600030101010101" pitchFamily="2" charset="-122"/>
            </a:endParaRPr>
          </a:p>
          <a:p>
            <a:pPr>
              <a:lnSpc>
                <a:spcPct val="90000"/>
              </a:lnSpc>
              <a:buNone/>
            </a:pPr>
            <a:r>
              <a:rPr lang="zh-CN" altLang="en-US" sz="2000" b="1" dirty="0">
                <a:ea typeface="宋体" panose="02010600030101010101" pitchFamily="2" charset="-122"/>
              </a:rPr>
              <a:t>对应的目标程序见下页</a:t>
            </a:r>
            <a:endParaRPr lang="en-US" altLang="zh-CN" sz="2000" b="1" dirty="0">
              <a:ea typeface="宋体" panose="02010600030101010101" pitchFamily="2" charset="-122"/>
            </a:endParaRPr>
          </a:p>
          <a:p>
            <a:pPr lvl="1">
              <a:lnSpc>
                <a:spcPct val="90000"/>
              </a:lnSpc>
            </a:pPr>
            <a:r>
              <a:rPr lang="zh-CN" altLang="en-US" sz="1800" b="1" dirty="0">
                <a:ea typeface="宋体" panose="02010600030101010101" pitchFamily="2" charset="-122"/>
              </a:rPr>
              <a:t>用伪指令</a:t>
            </a:r>
            <a:r>
              <a:rPr lang="en-US" altLang="zh-CN" sz="1800" b="1" dirty="0">
                <a:ea typeface="宋体" panose="02010600030101010101" pitchFamily="2" charset="-122"/>
              </a:rPr>
              <a:t>ACTION</a:t>
            </a:r>
            <a:r>
              <a:rPr lang="zh-CN" altLang="en-US" sz="1800" b="1" dirty="0">
                <a:ea typeface="宋体" panose="02010600030101010101" pitchFamily="2" charset="-122"/>
              </a:rPr>
              <a:t>表示执行语句</a:t>
            </a:r>
            <a:r>
              <a:rPr lang="en-US" altLang="zh-CN" sz="1800" b="1" dirty="0">
                <a:ea typeface="宋体" panose="02010600030101010101" pitchFamily="2" charset="-122"/>
              </a:rPr>
              <a:t>action</a:t>
            </a:r>
            <a:r>
              <a:rPr lang="zh-CN" altLang="en-US" sz="1800" b="1" dirty="0">
                <a:ea typeface="宋体" panose="02010600030101010101" pitchFamily="2" charset="-122"/>
              </a:rPr>
              <a:t>的机器指令序列，假定每个</a:t>
            </a:r>
            <a:r>
              <a:rPr lang="en-US" altLang="zh-CN" sz="1800" b="1" dirty="0">
                <a:ea typeface="宋体" panose="02010600030101010101" pitchFamily="2" charset="-122"/>
              </a:rPr>
              <a:t>ACTION</a:t>
            </a:r>
            <a:r>
              <a:rPr lang="zh-CN" altLang="en-US" sz="1800" b="1" dirty="0">
                <a:ea typeface="宋体" panose="02010600030101010101" pitchFamily="2" charset="-122"/>
              </a:rPr>
              <a:t>伪指令占用</a:t>
            </a:r>
            <a:r>
              <a:rPr lang="en-US" altLang="zh-CN" sz="1800" b="1" dirty="0">
                <a:ea typeface="宋体" panose="02010600030101010101" pitchFamily="2" charset="-122"/>
              </a:rPr>
              <a:t>20</a:t>
            </a:r>
            <a:r>
              <a:rPr lang="zh-CN" altLang="en-US" sz="1800" b="1" dirty="0">
                <a:ea typeface="宋体" panose="02010600030101010101" pitchFamily="2" charset="-122"/>
              </a:rPr>
              <a:t>字节</a:t>
            </a:r>
            <a:endParaRPr lang="en-US" altLang="zh-CN" sz="1800" b="1" dirty="0">
              <a:ea typeface="宋体" panose="02010600030101010101" pitchFamily="2" charset="-122"/>
            </a:endParaRPr>
          </a:p>
          <a:p>
            <a:pPr lvl="1">
              <a:lnSpc>
                <a:spcPct val="90000"/>
              </a:lnSpc>
            </a:pPr>
            <a:r>
              <a:rPr lang="zh-CN" altLang="en-US" sz="1800" b="1" dirty="0">
                <a:ea typeface="宋体" panose="02010600030101010101" pitchFamily="2" charset="-122"/>
              </a:rPr>
              <a:t>过程</a:t>
            </a:r>
            <a:r>
              <a:rPr lang="en-US" altLang="zh-CN" sz="1800" b="1" dirty="0">
                <a:ea typeface="宋体" panose="02010600030101010101" pitchFamily="2" charset="-122"/>
              </a:rPr>
              <a:t>c</a:t>
            </a:r>
            <a:r>
              <a:rPr lang="zh-CN" altLang="en-US" sz="1800" b="1" dirty="0">
                <a:ea typeface="宋体" panose="02010600030101010101" pitchFamily="2" charset="-122"/>
              </a:rPr>
              <a:t>的代码从地址</a:t>
            </a:r>
            <a:r>
              <a:rPr lang="en-US" altLang="zh-CN" sz="1800" b="1" dirty="0">
                <a:ea typeface="宋体" panose="02010600030101010101" pitchFamily="2" charset="-122"/>
              </a:rPr>
              <a:t>100</a:t>
            </a:r>
            <a:r>
              <a:rPr lang="zh-CN" altLang="en-US" sz="1800" b="1" dirty="0">
                <a:ea typeface="宋体" panose="02010600030101010101" pitchFamily="2" charset="-122"/>
              </a:rPr>
              <a:t>开始</a:t>
            </a:r>
            <a:endParaRPr lang="en-US" altLang="zh-CN" sz="1800" b="1" dirty="0">
              <a:ea typeface="宋体" panose="02010600030101010101" pitchFamily="2" charset="-122"/>
            </a:endParaRPr>
          </a:p>
          <a:p>
            <a:pPr lvl="1">
              <a:lnSpc>
                <a:spcPct val="90000"/>
              </a:lnSpc>
            </a:pPr>
            <a:r>
              <a:rPr lang="zh-CN" altLang="en-US" sz="1800" b="1" dirty="0">
                <a:ea typeface="宋体" panose="02010600030101010101" pitchFamily="2" charset="-122"/>
              </a:rPr>
              <a:t>过程</a:t>
            </a:r>
            <a:r>
              <a:rPr lang="en-US" altLang="zh-CN" sz="1800" b="1" dirty="0">
                <a:ea typeface="宋体" panose="02010600030101010101" pitchFamily="2" charset="-122"/>
              </a:rPr>
              <a:t>p</a:t>
            </a:r>
            <a:r>
              <a:rPr lang="zh-CN" altLang="en-US" sz="1800" b="1" dirty="0">
                <a:ea typeface="宋体" panose="02010600030101010101" pitchFamily="2" charset="-122"/>
              </a:rPr>
              <a:t>的代码从地址</a:t>
            </a:r>
            <a:r>
              <a:rPr lang="en-US" altLang="zh-CN" sz="1800" b="1" dirty="0">
                <a:ea typeface="宋体" panose="02010600030101010101" pitchFamily="2" charset="-122"/>
              </a:rPr>
              <a:t>200</a:t>
            </a:r>
            <a:r>
              <a:rPr lang="zh-CN" altLang="en-US" sz="1800" b="1" dirty="0">
                <a:ea typeface="宋体" panose="02010600030101010101" pitchFamily="2" charset="-122"/>
              </a:rPr>
              <a:t>开始</a:t>
            </a:r>
            <a:endParaRPr lang="en-US" altLang="zh-CN" sz="1800" b="1" dirty="0">
              <a:ea typeface="宋体" panose="02010600030101010101" pitchFamily="2" charset="-122"/>
            </a:endParaRPr>
          </a:p>
          <a:p>
            <a:pPr lvl="1">
              <a:lnSpc>
                <a:spcPct val="90000"/>
              </a:lnSpc>
            </a:pPr>
            <a:r>
              <a:rPr lang="zh-CN" altLang="en-US" sz="1800" b="1" dirty="0">
                <a:ea typeface="宋体" panose="02010600030101010101" pitchFamily="2" charset="-122"/>
              </a:rPr>
              <a:t>活动记录以静态方式分配，位置分别为</a:t>
            </a:r>
            <a:r>
              <a:rPr lang="en-US" altLang="zh-CN" sz="1800" b="1" dirty="0">
                <a:ea typeface="宋体" panose="02010600030101010101" pitchFamily="2" charset="-122"/>
              </a:rPr>
              <a:t>300</a:t>
            </a:r>
            <a:r>
              <a:rPr lang="zh-CN" altLang="en-US" sz="1800" b="1" dirty="0">
                <a:ea typeface="宋体" panose="02010600030101010101" pitchFamily="2" charset="-122"/>
              </a:rPr>
              <a:t>和</a:t>
            </a:r>
            <a:r>
              <a:rPr lang="en-US" altLang="zh-CN" sz="1800" b="1" dirty="0">
                <a:ea typeface="宋体" panose="02010600030101010101" pitchFamily="2" charset="-122"/>
              </a:rPr>
              <a:t>364</a:t>
            </a:r>
            <a:endParaRPr lang="en-US" altLang="zh-CN" sz="1800" b="1" dirty="0">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6" name="Picture 2"/>
          <p:cNvPicPr>
            <a:picLocks noChangeAspect="1"/>
          </p:cNvPicPr>
          <p:nvPr/>
        </p:nvPicPr>
        <p:blipFill>
          <a:blip r:embed="rId1"/>
          <a:stretch>
            <a:fillRect/>
          </a:stretch>
        </p:blipFill>
        <p:spPr>
          <a:xfrm>
            <a:off x="609600" y="457200"/>
            <a:ext cx="7848600" cy="5959475"/>
          </a:xfrm>
          <a:prstGeom prst="rect">
            <a:avLst/>
          </a:prstGeom>
          <a:noFill/>
          <a:ln w="9525">
            <a:noFill/>
          </a:ln>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栈式分配管理（</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3491" name="Rectangle 3"/>
          <p:cNvSpPr>
            <a:spLocks noGrp="1"/>
          </p:cNvSpPr>
          <p:nvPr>
            <p:ph idx="1"/>
          </p:nvPr>
        </p:nvSpPr>
        <p:spPr>
          <a:xfrm>
            <a:off x="990600" y="1447800"/>
            <a:ext cx="7543800" cy="4953000"/>
          </a:xfrm>
        </p:spPr>
        <p:txBody>
          <a:bodyPr vert="horz" wrap="square" lIns="92075" tIns="46038" rIns="92075" bIns="46038" anchor="t" anchorCtr="0"/>
          <a:p>
            <a:pPr>
              <a:lnSpc>
                <a:spcPct val="90000"/>
              </a:lnSpc>
            </a:pPr>
            <a:r>
              <a:rPr lang="zh-CN" altLang="en-US" sz="2400" b="1" dirty="0">
                <a:ea typeface="宋体" panose="02010600030101010101" pitchFamily="2" charset="-122"/>
              </a:rPr>
              <a:t>一个过程活动记录的位置只有在运行时才知道</a:t>
            </a:r>
            <a:endParaRPr lang="en-US" altLang="zh-CN" sz="2400" b="1" dirty="0">
              <a:ea typeface="宋体" panose="02010600030101010101" pitchFamily="2" charset="-122"/>
            </a:endParaRPr>
          </a:p>
          <a:p>
            <a:pPr>
              <a:lnSpc>
                <a:spcPct val="90000"/>
              </a:lnSpc>
            </a:pPr>
            <a:r>
              <a:rPr lang="zh-CN" altLang="en-US" sz="2400" b="1" dirty="0">
                <a:ea typeface="宋体" panose="02010600030101010101" pitchFamily="2" charset="-122"/>
              </a:rPr>
              <a:t>活动记录的存储单元采用偏移量访问</a:t>
            </a:r>
            <a:endParaRPr lang="zh-CN" altLang="en-US" sz="2400" b="1" dirty="0">
              <a:ea typeface="宋体" panose="02010600030101010101" pitchFamily="2" charset="-122"/>
            </a:endParaRPr>
          </a:p>
          <a:p>
            <a:pPr>
              <a:lnSpc>
                <a:spcPct val="90000"/>
              </a:lnSpc>
            </a:pPr>
            <a:r>
              <a:rPr lang="zh-CN" altLang="en-US" sz="2400" b="1" dirty="0">
                <a:ea typeface="宋体" panose="02010600030101010101" pitchFamily="2" charset="-122"/>
              </a:rPr>
              <a:t>寄存器</a:t>
            </a:r>
            <a:r>
              <a:rPr lang="en-US" altLang="zh-CN" sz="2400" b="1" dirty="0">
                <a:ea typeface="宋体" panose="02010600030101010101" pitchFamily="2" charset="-122"/>
              </a:rPr>
              <a:t>SP：</a:t>
            </a:r>
            <a:r>
              <a:rPr lang="zh-CN" altLang="en-US" sz="2400" b="1" dirty="0">
                <a:ea typeface="宋体" panose="02010600030101010101" pitchFamily="2" charset="-122"/>
              </a:rPr>
              <a:t>指向栈顶活动记录开始的指针</a:t>
            </a:r>
            <a:endParaRPr lang="en-US" altLang="zh-CN" sz="2400" b="1" dirty="0">
              <a:ea typeface="宋体" panose="02010600030101010101" pitchFamily="2" charset="-122"/>
            </a:endParaRPr>
          </a:p>
          <a:p>
            <a:pPr lvl="1">
              <a:lnSpc>
                <a:spcPct val="90000"/>
              </a:lnSpc>
            </a:pPr>
            <a:r>
              <a:rPr lang="en-US" altLang="zh-CN" sz="2200" b="1" dirty="0">
                <a:ea typeface="宋体" panose="02010600030101010101" pitchFamily="2" charset="-122"/>
              </a:rPr>
              <a:t>SP</a:t>
            </a:r>
            <a:r>
              <a:rPr lang="zh-CN" altLang="en-US" sz="2200" b="1" dirty="0">
                <a:ea typeface="宋体" panose="02010600030101010101" pitchFamily="2" charset="-122"/>
              </a:rPr>
              <a:t>的增加或减少来表现过程调用的发生和返回</a:t>
            </a:r>
            <a:endParaRPr lang="zh-CN" altLang="en-US" sz="2200" b="1" dirty="0">
              <a:ea typeface="宋体" panose="02010600030101010101" pitchFamily="2" charset="-122"/>
            </a:endParaRPr>
          </a:p>
          <a:p>
            <a:pPr>
              <a:lnSpc>
                <a:spcPct val="90000"/>
              </a:lnSpc>
            </a:pPr>
            <a:r>
              <a:rPr lang="zh-CN" altLang="en-US" sz="2400" b="1" dirty="0">
                <a:ea typeface="宋体" panose="02010600030101010101" pitchFamily="2" charset="-122"/>
              </a:rPr>
              <a:t>过程调用的处理</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第一个过程的代码通过将</a:t>
            </a:r>
            <a:r>
              <a:rPr lang="en-US" altLang="zh-CN" sz="2200" b="1" dirty="0">
                <a:ea typeface="宋体" panose="02010600030101010101" pitchFamily="2" charset="-122"/>
              </a:rPr>
              <a:t>SP</a:t>
            </a:r>
            <a:r>
              <a:rPr lang="zh-CN" altLang="en-US" sz="2200" b="1" dirty="0">
                <a:ea typeface="宋体" panose="02010600030101010101" pitchFamily="2" charset="-122"/>
              </a:rPr>
              <a:t>置为存储器中栈区的开始位置来初始化栈：</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LD	SP , #</a:t>
            </a:r>
            <a:r>
              <a:rPr lang="en-US" altLang="zh-CN" sz="2000" b="1" i="1" dirty="0">
                <a:ea typeface="宋体" panose="02010600030101010101" pitchFamily="2" charset="-122"/>
              </a:rPr>
              <a:t>stackstart</a:t>
            </a:r>
            <a:r>
              <a:rPr lang="en-US" altLang="zh-CN" sz="2000" b="1" dirty="0">
                <a:ea typeface="宋体" panose="02010600030101010101" pitchFamily="2" charset="-122"/>
              </a:rPr>
              <a:t>	// </a:t>
            </a:r>
            <a:r>
              <a:rPr lang="zh-CN" altLang="en-US" sz="2000" b="1" dirty="0">
                <a:ea typeface="宋体" panose="02010600030101010101" pitchFamily="2" charset="-122"/>
              </a:rPr>
              <a:t>初始化栈</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code for the first procedure</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HALT			// </a:t>
            </a:r>
            <a:r>
              <a:rPr lang="zh-CN" altLang="en-US" sz="2000" b="1" dirty="0">
                <a:ea typeface="宋体" panose="02010600030101010101" pitchFamily="2" charset="-122"/>
              </a:rPr>
              <a:t>结束运行</a:t>
            </a:r>
            <a:endParaRPr lang="zh-CN" altLang="en-US" sz="2000" b="1" dirty="0">
              <a:ea typeface="宋体" panose="02010600030101010101" pitchFamily="2"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栈式分配管理（</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5539" name="Rectangle 3"/>
          <p:cNvSpPr>
            <a:spLocks noGrp="1"/>
          </p:cNvSpPr>
          <p:nvPr>
            <p:ph idx="1"/>
          </p:nvPr>
        </p:nvSpPr>
        <p:spPr>
          <a:xfrm>
            <a:off x="755650" y="1447800"/>
            <a:ext cx="7931150" cy="4953000"/>
          </a:xfrm>
        </p:spPr>
        <p:txBody>
          <a:bodyPr vert="horz" wrap="square" lIns="92075" tIns="46038" rIns="92075" bIns="46038" anchor="t" anchorCtr="0"/>
          <a:p>
            <a:pPr>
              <a:lnSpc>
                <a:spcPct val="90000"/>
              </a:lnSpc>
            </a:pPr>
            <a:r>
              <a:rPr lang="zh-CN" altLang="en-US" sz="2400" b="1" dirty="0">
                <a:ea typeface="宋体" panose="02010600030101010101" pitchFamily="2" charset="-122"/>
              </a:rPr>
              <a:t>过程调用的处理（续）</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其它的过程调用序列给</a:t>
            </a:r>
            <a:r>
              <a:rPr lang="en-US" altLang="zh-CN" sz="2200" b="1" dirty="0">
                <a:ea typeface="宋体" panose="02010600030101010101" pitchFamily="2" charset="-122"/>
              </a:rPr>
              <a:t>SP</a:t>
            </a:r>
            <a:r>
              <a:rPr lang="zh-CN" altLang="en-US" sz="2200" b="1" dirty="0">
                <a:ea typeface="宋体" panose="02010600030101010101" pitchFamily="2" charset="-122"/>
              </a:rPr>
              <a:t>一个增量，并存储返回地址及将控制转移到被调用过程</a:t>
            </a:r>
            <a:endParaRPr lang="zh-CN" altLang="en-US" sz="22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ADD SP , SP , #</a:t>
            </a:r>
            <a:r>
              <a:rPr lang="en-US" altLang="zh-CN" sz="2000" b="1" i="1" dirty="0">
                <a:ea typeface="宋体" panose="02010600030101010101" pitchFamily="2" charset="-122"/>
              </a:rPr>
              <a:t>caller.recordSize  </a:t>
            </a:r>
            <a:r>
              <a:rPr lang="en-US" altLang="zh-CN" sz="2000" b="1" dirty="0">
                <a:ea typeface="宋体" panose="02010600030101010101" pitchFamily="2" charset="-122"/>
              </a:rPr>
              <a:t>// </a:t>
            </a:r>
            <a:r>
              <a:rPr lang="zh-CN" altLang="en-US" sz="2000" b="1" dirty="0">
                <a:ea typeface="宋体" panose="02010600030101010101" pitchFamily="2" charset="-122"/>
              </a:rPr>
              <a:t>增加</a:t>
            </a:r>
            <a:r>
              <a:rPr lang="en-US" altLang="zh-CN" sz="2000" b="1" dirty="0">
                <a:ea typeface="宋体" panose="02010600030101010101" pitchFamily="2" charset="-122"/>
              </a:rPr>
              <a:t>SP</a:t>
            </a:r>
            <a:endParaRPr lang="en-US" altLang="zh-CN" sz="2000" b="1" dirty="0">
              <a:ea typeface="宋体" panose="02010600030101010101" pitchFamily="2" charset="-122"/>
            </a:endParaRPr>
          </a:p>
          <a:p>
            <a:pPr lvl="2">
              <a:lnSpc>
                <a:spcPct val="90000"/>
              </a:lnSpc>
              <a:buFont typeface="Wingdings" panose="05000000000000000000" pitchFamily="2" charset="2"/>
              <a:buNone/>
            </a:pPr>
            <a:r>
              <a:rPr lang="en-US" altLang="zh-CN" sz="2000" b="1" dirty="0">
                <a:ea typeface="宋体" panose="02010600030101010101" pitchFamily="2" charset="-122"/>
              </a:rPr>
              <a:t>		ST     0(SP) , #</a:t>
            </a:r>
            <a:r>
              <a:rPr lang="en-US" altLang="zh-CN" sz="2000" b="1" i="1" dirty="0">
                <a:ea typeface="宋体" panose="02010600030101010101" pitchFamily="2" charset="-122"/>
              </a:rPr>
              <a:t>here</a:t>
            </a:r>
            <a:r>
              <a:rPr lang="en-US" altLang="zh-CN" sz="2000" b="1" dirty="0">
                <a:ea typeface="宋体" panose="02010600030101010101" pitchFamily="2" charset="-122"/>
              </a:rPr>
              <a:t> + 16	             // </a:t>
            </a:r>
            <a:r>
              <a:rPr lang="zh-CN" altLang="en-US" sz="2000" b="1" dirty="0">
                <a:ea typeface="宋体" panose="02010600030101010101" pitchFamily="2" charset="-122"/>
              </a:rPr>
              <a:t>保存返回地址</a:t>
            </a:r>
            <a:endParaRPr lang="zh-CN" altLang="en-US" sz="2000" b="1" dirty="0">
              <a:ea typeface="宋体" panose="02010600030101010101" pitchFamily="2" charset="-122"/>
            </a:endParaRPr>
          </a:p>
          <a:p>
            <a:pPr lvl="2">
              <a:lnSpc>
                <a:spcPct val="90000"/>
              </a:lnSpc>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BR</a:t>
            </a:r>
            <a:r>
              <a:rPr lang="zh-CN" altLang="en-US" sz="2000" b="1" dirty="0">
                <a:ea typeface="宋体" panose="02010600030101010101" pitchFamily="2" charset="-122"/>
              </a:rPr>
              <a:t>    </a:t>
            </a:r>
            <a:r>
              <a:rPr lang="en-US" altLang="zh-CN" sz="2000" b="1" i="1" dirty="0">
                <a:ea typeface="宋体" panose="02010600030101010101" pitchFamily="2" charset="-122"/>
              </a:rPr>
              <a:t>callee. codeArea</a:t>
            </a:r>
            <a:r>
              <a:rPr lang="en-US" altLang="zh-CN" sz="2000" b="1" dirty="0">
                <a:ea typeface="宋体" panose="02010600030101010101" pitchFamily="2" charset="-122"/>
              </a:rPr>
              <a:t>	</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转移到被调用过程</a:t>
            </a:r>
            <a:endParaRPr lang="en-US" altLang="zh-CN" sz="2000" b="1" dirty="0">
              <a:ea typeface="宋体" panose="02010600030101010101" pitchFamily="2" charset="-122"/>
            </a:endParaRPr>
          </a:p>
          <a:p>
            <a:pPr lvl="2">
              <a:lnSpc>
                <a:spcPct val="90000"/>
              </a:lnSpc>
              <a:buChar char="•"/>
            </a:pPr>
            <a:r>
              <a:rPr lang="en-US" altLang="zh-CN" sz="2000" b="1" dirty="0">
                <a:ea typeface="宋体" panose="02010600030101010101" pitchFamily="2" charset="-122"/>
              </a:rPr>
              <a:t>#</a:t>
            </a:r>
            <a:r>
              <a:rPr lang="en-US" altLang="zh-CN" sz="2000" b="1" i="1" dirty="0">
                <a:ea typeface="宋体" panose="02010600030101010101" pitchFamily="2" charset="-122"/>
              </a:rPr>
              <a:t>caller.recordSize</a:t>
            </a:r>
            <a:r>
              <a:rPr lang="zh-CN" altLang="en-US" sz="2000" b="1" dirty="0">
                <a:ea typeface="宋体" panose="02010600030101010101" pitchFamily="2" charset="-122"/>
              </a:rPr>
              <a:t>表示调用者活动记录的大小，</a:t>
            </a:r>
            <a:r>
              <a:rPr lang="en-US" altLang="zh-CN" sz="2000" b="1" dirty="0">
                <a:ea typeface="宋体" panose="02010600030101010101" pitchFamily="2" charset="-122"/>
              </a:rPr>
              <a:t>ADD</a:t>
            </a:r>
            <a:r>
              <a:rPr lang="zh-CN" altLang="en-US" sz="2000" b="1" dirty="0">
                <a:ea typeface="宋体" panose="02010600030101010101" pitchFamily="2" charset="-122"/>
              </a:rPr>
              <a:t>使得</a:t>
            </a:r>
            <a:r>
              <a:rPr lang="en-US" altLang="zh-CN" sz="2000" b="1" dirty="0">
                <a:ea typeface="宋体" panose="02010600030101010101" pitchFamily="2" charset="-122"/>
              </a:rPr>
              <a:t>SP</a:t>
            </a:r>
            <a:r>
              <a:rPr lang="zh-CN" altLang="en-US" sz="2000" b="1" dirty="0">
                <a:ea typeface="宋体" panose="02010600030101010101" pitchFamily="2" charset="-122"/>
              </a:rPr>
              <a:t>指向下一个活动记录</a:t>
            </a:r>
            <a:endParaRPr lang="en-US" altLang="zh-CN" sz="2000" b="1" dirty="0">
              <a:ea typeface="宋体" panose="02010600030101010101" pitchFamily="2" charset="-122"/>
            </a:endParaRPr>
          </a:p>
          <a:p>
            <a:pPr lvl="2">
              <a:lnSpc>
                <a:spcPct val="90000"/>
              </a:lnSpc>
              <a:buChar char="•"/>
            </a:pPr>
            <a:r>
              <a:rPr lang="en-US" altLang="zh-CN" sz="2000" b="1" dirty="0">
                <a:ea typeface="宋体" panose="02010600030101010101" pitchFamily="2" charset="-122"/>
              </a:rPr>
              <a:t>#</a:t>
            </a:r>
            <a:r>
              <a:rPr lang="en-US" altLang="zh-CN" sz="2000" b="1" i="1" dirty="0">
                <a:ea typeface="宋体" panose="02010600030101010101" pitchFamily="2" charset="-122"/>
              </a:rPr>
              <a:t>here</a:t>
            </a:r>
            <a:r>
              <a:rPr lang="en-US" altLang="zh-CN" sz="2000" b="1" dirty="0">
                <a:ea typeface="宋体" panose="02010600030101010101" pitchFamily="2" charset="-122"/>
              </a:rPr>
              <a:t> + 16</a:t>
            </a:r>
            <a:r>
              <a:rPr lang="zh-CN" altLang="en-US" sz="2000" b="1" dirty="0">
                <a:ea typeface="宋体" panose="02010600030101010101" pitchFamily="2" charset="-122"/>
              </a:rPr>
              <a:t>时跟随在</a:t>
            </a:r>
            <a:r>
              <a:rPr lang="en-US" altLang="zh-CN" sz="2000" b="1" dirty="0">
                <a:ea typeface="宋体" panose="02010600030101010101" pitchFamily="2" charset="-122"/>
              </a:rPr>
              <a:t>BR</a:t>
            </a:r>
            <a:r>
              <a:rPr lang="zh-CN" altLang="en-US" sz="2000" b="1" dirty="0">
                <a:ea typeface="宋体" panose="02010600030101010101" pitchFamily="2" charset="-122"/>
              </a:rPr>
              <a:t>之后的指令的地址，被存放在</a:t>
            </a:r>
            <a:r>
              <a:rPr lang="en-US" altLang="zh-CN" sz="2000" b="1" dirty="0">
                <a:ea typeface="宋体" panose="02010600030101010101" pitchFamily="2" charset="-122"/>
              </a:rPr>
              <a:t>SP</a:t>
            </a:r>
            <a:r>
              <a:rPr lang="zh-CN" altLang="en-US" sz="2000" b="1" dirty="0">
                <a:ea typeface="宋体" panose="02010600030101010101" pitchFamily="2" charset="-122"/>
              </a:rPr>
              <a:t>指向的地址中</a:t>
            </a:r>
            <a:endParaRPr lang="en-US" altLang="zh-CN" sz="2000" b="1" dirty="0">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栈式分配管理（续）</a:t>
            </a:r>
            <a:endParaRPr lang="zh-CN" altLang="en-US" dirty="0">
              <a:latin typeface="Times New Roman" panose="02020603050405020304" pitchFamily="18" charset="0"/>
              <a:ea typeface="宋体" panose="02010600030101010101" pitchFamily="2" charset="-122"/>
            </a:endParaRPr>
          </a:p>
        </p:txBody>
      </p:sp>
      <p:sp>
        <p:nvSpPr>
          <p:cNvPr id="6758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过程返回的处理</a:t>
            </a:r>
            <a:endParaRPr lang="zh-CN" altLang="en-US" sz="2400" b="1" dirty="0">
              <a:ea typeface="宋体" panose="02010600030101010101" pitchFamily="2" charset="-122"/>
            </a:endParaRPr>
          </a:p>
          <a:p>
            <a:pPr lvl="1"/>
            <a:r>
              <a:rPr lang="zh-CN" altLang="en-US" sz="2200" b="1" dirty="0">
                <a:ea typeface="宋体" panose="02010600030101010101" pitchFamily="2" charset="-122"/>
              </a:rPr>
              <a:t>在被调用过程中</a:t>
            </a:r>
            <a:endParaRPr lang="zh-CN" altLang="en-US" sz="22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BR   * 0 ( SP )		// </a:t>
            </a:r>
            <a:r>
              <a:rPr lang="zh-CN" altLang="en-US" sz="2000" b="1" dirty="0">
                <a:ea typeface="宋体" panose="02010600030101010101" pitchFamily="2" charset="-122"/>
              </a:rPr>
              <a:t>返回到调用过程</a:t>
            </a:r>
            <a:endParaRPr lang="zh-CN" altLang="en-US" sz="2000" b="1" dirty="0">
              <a:ea typeface="宋体" panose="02010600030101010101" pitchFamily="2" charset="-122"/>
            </a:endParaRPr>
          </a:p>
          <a:p>
            <a:pPr lvl="1"/>
            <a:r>
              <a:rPr lang="zh-CN" altLang="en-US" sz="2200" b="1" dirty="0">
                <a:ea typeface="宋体" panose="02010600030101010101" pitchFamily="2" charset="-122"/>
              </a:rPr>
              <a:t>在调用过程中，恢复</a:t>
            </a:r>
            <a:r>
              <a:rPr lang="en-US" altLang="zh-CN" sz="2200" b="1" dirty="0">
                <a:ea typeface="宋体" panose="02010600030101010101" pitchFamily="2" charset="-122"/>
              </a:rPr>
              <a:t>SP</a:t>
            </a:r>
            <a:endParaRPr lang="en-US" altLang="zh-CN" sz="22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SUB  SP , SP ,  #</a:t>
            </a:r>
            <a:r>
              <a:rPr lang="en-US" altLang="zh-CN" sz="2000" b="1" i="1" dirty="0">
                <a:ea typeface="宋体" panose="02010600030101010101" pitchFamily="2" charset="-122"/>
              </a:rPr>
              <a:t>caller. recordsize</a:t>
            </a:r>
            <a:endParaRPr lang="en-US" altLang="zh-CN" sz="2000" b="1" i="1" dirty="0">
              <a:ea typeface="宋体" panose="02010600030101010101" pitchFamily="2" charset="-122"/>
            </a:endParaRPr>
          </a:p>
          <a:p>
            <a:pPr lvl="2">
              <a:buChar char="•"/>
            </a:pPr>
            <a:r>
              <a:rPr lang="zh-CN" altLang="en-US" sz="2000" b="1" dirty="0">
                <a:ea typeface="宋体" panose="02010600030101010101" pitchFamily="2" charset="-122"/>
              </a:rPr>
              <a:t>将</a:t>
            </a:r>
            <a:r>
              <a:rPr lang="en-US" altLang="zh-CN" sz="2000" b="1" dirty="0">
                <a:ea typeface="宋体" panose="02010600030101010101" pitchFamily="2" charset="-122"/>
              </a:rPr>
              <a:t>SP</a:t>
            </a:r>
            <a:r>
              <a:rPr lang="zh-CN" altLang="en-US" sz="2000" b="1" dirty="0">
                <a:ea typeface="宋体" panose="02010600030101010101" pitchFamily="2" charset="-122"/>
              </a:rPr>
              <a:t>指针指向调用者活动记录的开始处</a:t>
            </a:r>
            <a:endParaRPr lang="zh-CN" altLang="en-US" sz="2000" b="1" dirty="0">
              <a:ea typeface="宋体" panose="02010600030101010101" pitchFamily="2"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栈式分配管理的例子</a:t>
            </a:r>
            <a:endParaRPr lang="zh-CN" altLang="en-US" dirty="0">
              <a:latin typeface="Times New Roman" panose="02020603050405020304" pitchFamily="18" charset="0"/>
              <a:ea typeface="宋体" panose="02010600030101010101" pitchFamily="2" charset="-122"/>
            </a:endParaRPr>
          </a:p>
        </p:txBody>
      </p:sp>
      <p:pic>
        <p:nvPicPr>
          <p:cNvPr id="69635" name="Picture 2"/>
          <p:cNvPicPr>
            <a:picLocks noChangeAspect="1"/>
          </p:cNvPicPr>
          <p:nvPr/>
        </p:nvPicPr>
        <p:blipFill>
          <a:blip r:embed="rId1"/>
          <a:stretch>
            <a:fillRect/>
          </a:stretch>
        </p:blipFill>
        <p:spPr>
          <a:xfrm>
            <a:off x="2338388" y="1484313"/>
            <a:ext cx="4394200" cy="5329237"/>
          </a:xfrm>
          <a:prstGeom prst="rect">
            <a:avLst/>
          </a:prstGeom>
          <a:noFill/>
          <a:ln w="9525">
            <a:noFill/>
          </a:ln>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82" name="Picture 2"/>
          <p:cNvPicPr>
            <a:picLocks noChangeAspect="1"/>
          </p:cNvPicPr>
          <p:nvPr/>
        </p:nvPicPr>
        <p:blipFill>
          <a:blip r:embed="rId1"/>
          <a:stretch>
            <a:fillRect/>
          </a:stretch>
        </p:blipFill>
        <p:spPr>
          <a:xfrm>
            <a:off x="2133600" y="228600"/>
            <a:ext cx="4921250" cy="6477000"/>
          </a:xfrm>
          <a:prstGeom prst="rect">
            <a:avLst/>
          </a:prstGeom>
          <a:noFill/>
          <a:ln w="9525">
            <a:noFill/>
          </a:ln>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名字的运行时刻地址</a:t>
            </a:r>
            <a:endParaRPr lang="zh-CN" altLang="en-US" dirty="0">
              <a:latin typeface="Times New Roman" panose="02020603050405020304" pitchFamily="18" charset="0"/>
              <a:ea typeface="宋体" panose="02010600030101010101" pitchFamily="2" charset="-122"/>
            </a:endParaRPr>
          </a:p>
        </p:txBody>
      </p:sp>
      <p:sp>
        <p:nvSpPr>
          <p:cNvPr id="32771" name="Rectangle 3"/>
          <p:cNvSpPr>
            <a:spLocks noGrp="1" noChangeArrowheads="1"/>
          </p:cNvSpPr>
          <p:nvPr>
            <p:ph idx="1"/>
          </p:nvPr>
        </p:nvSpPr>
        <p:spPr>
          <a:xfrm>
            <a:off x="990600" y="1371600"/>
            <a:ext cx="73914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存储分配策略及过程的活动记录中局部数据的布局决定了如何访问名字对应的内存位置</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三地址代码中的名字</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用一个指向该名字符号表条目的指针表示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便于编译器的移植</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（在生成中间代码时）用特定的访问步骤表示名字</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可以见到三地址代码遗失的访问细节，便于优化</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名字最终必须被替代为访问存储位置的代码</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以三地址拷贝语句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为例</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假设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的相对偏移是</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，被分配到一个从地址</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static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开始的静态分配区域中，在生成代码时，尚不知道静态区域的位置，此时生成三地址语句：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static[12]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如果静态区从地址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100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开始，这个语句的目标代码是：</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ST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112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#0</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74755" name="Rectangle 3"/>
          <p:cNvSpPr>
            <a:spLocks noGrp="1" noChangeArrowheads="1"/>
          </p:cNvSpPr>
          <p:nvPr>
            <p:ph idx="1"/>
          </p:nvPr>
        </p:nvSpPr>
        <p:spPr>
          <a:xfrm>
            <a:off x="990600" y="1371600"/>
            <a:ext cx="7391400" cy="44196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rPr>
              <a:t>代码生成器设计中的问题</a:t>
            </a:r>
            <a:endParaRPr kumimoji="0" lang="zh-CN" altLang="en-US"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rPr>
              <a:t>目标语言</a:t>
            </a:r>
            <a:endParaRPr kumimoji="0" lang="zh-CN" altLang="en-US"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rPr>
              <a:t>目标代码中的地址</a:t>
            </a:r>
            <a:endParaRPr kumimoji="0" lang="en-US" altLang="zh-CN" sz="2400" b="1" i="0" u="none" strike="noStrike" kern="0" cap="none" spc="0" normalizeH="0" baseline="0" noProof="0" dirty="0">
              <a:ln>
                <a:noFill/>
              </a:ln>
              <a:solidFill>
                <a:schemeClr val="bg2"/>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32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程序分析</a:t>
            </a:r>
            <a:endParaRPr kumimoji="0" lang="en-US" altLang="zh-CN" sz="32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bg1">
                    <a:lumMod val="75000"/>
                  </a:schemeClr>
                </a:solidFill>
                <a:effectLst/>
                <a:uLnTx/>
                <a:uFillTx/>
                <a:latin typeface="+mn-lt"/>
                <a:ea typeface="宋体" panose="02010600030101010101" pitchFamily="2" charset="-122"/>
                <a:cs typeface="+mn-cs"/>
              </a:rPr>
              <a:t>基本块及其优化</a:t>
            </a:r>
            <a:endParaRPr kumimoji="0" lang="en-US" altLang="zh-CN" sz="2400" b="1" i="0" u="none" strike="noStrike" kern="0" cap="none" spc="0" normalizeH="0" baseline="0" noProof="0" dirty="0">
              <a:ln>
                <a:noFill/>
              </a:ln>
              <a:solidFill>
                <a:schemeClr val="bg1">
                  <a:lumMod val="75000"/>
                </a:schemeClr>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控制流图及流分析</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跨越基本块的优化</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一个简单的代码生成器</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窥孔优化</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寄存器分配和指派</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通过树重写来选择指令</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90000"/>
              </a:lnSpc>
              <a:spcBef>
                <a:spcPts val="6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指令调度</a:t>
            </a:r>
            <a:endParaRPr kumimoji="0" lang="zh-CN" altLang="en-US" sz="3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程序分析技术（1）</a:t>
            </a:r>
            <a:endParaRPr lang="zh-CN" altLang="en-US" dirty="0">
              <a:latin typeface="Times New Roman" panose="02020603050405020304" pitchFamily="18" charset="0"/>
              <a:ea typeface="宋体" panose="02010600030101010101" pitchFamily="2" charset="-122"/>
            </a:endParaRPr>
          </a:p>
        </p:txBody>
      </p:sp>
      <p:sp>
        <p:nvSpPr>
          <p:cNvPr id="7680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分析是优化的基础</a:t>
            </a:r>
            <a:endParaRPr lang="zh-CN" altLang="en-US" sz="2400" b="1" dirty="0">
              <a:ea typeface="宋体" panose="02010600030101010101" pitchFamily="2" charset="-122"/>
            </a:endParaRPr>
          </a:p>
          <a:p>
            <a:pPr lvl="1"/>
            <a:r>
              <a:rPr lang="zh-CN" altLang="en-US" sz="2200" b="1" dirty="0">
                <a:ea typeface="宋体" panose="02010600030101010101" pitchFamily="2" charset="-122"/>
              </a:rPr>
              <a:t>如何提高编译程序生成的目标代码的执行性能？</a:t>
            </a:r>
            <a:endParaRPr lang="zh-CN" altLang="en-US" sz="2200" b="1" dirty="0">
              <a:ea typeface="宋体" panose="02010600030101010101" pitchFamily="2" charset="-122"/>
            </a:endParaRPr>
          </a:p>
          <a:p>
            <a:pPr lvl="2"/>
            <a:r>
              <a:rPr lang="zh-CN" altLang="en-US" sz="2000" b="1" dirty="0">
                <a:solidFill>
                  <a:schemeClr val="hlink"/>
                </a:solidFill>
                <a:ea typeface="宋体" panose="02010600030101010101" pitchFamily="2" charset="-122"/>
              </a:rPr>
              <a:t>优化</a:t>
            </a:r>
            <a:r>
              <a:rPr lang="zh-CN" altLang="en-US" sz="2000" b="1" dirty="0">
                <a:ea typeface="宋体" panose="02010600030101010101" pitchFamily="2" charset="-122"/>
              </a:rPr>
              <a:t>：程序的等价变换</a:t>
            </a:r>
            <a:endParaRPr lang="zh-CN" altLang="en-US" sz="2000" b="1" dirty="0">
              <a:solidFill>
                <a:schemeClr val="hlink"/>
              </a:solidFill>
              <a:ea typeface="宋体" panose="02010600030101010101" pitchFamily="2" charset="-122"/>
            </a:endParaRPr>
          </a:p>
        </p:txBody>
      </p:sp>
      <p:grpSp>
        <p:nvGrpSpPr>
          <p:cNvPr id="76804" name="Group 4"/>
          <p:cNvGrpSpPr/>
          <p:nvPr/>
        </p:nvGrpSpPr>
        <p:grpSpPr>
          <a:xfrm>
            <a:off x="609600" y="2819400"/>
            <a:ext cx="7848600" cy="3748088"/>
            <a:chOff x="384" y="864"/>
            <a:chExt cx="4944" cy="3299"/>
          </a:xfrm>
        </p:grpSpPr>
        <p:sp>
          <p:nvSpPr>
            <p:cNvPr id="76805" name="Text Box 5"/>
            <p:cNvSpPr txBox="1"/>
            <p:nvPr/>
          </p:nvSpPr>
          <p:spPr>
            <a:xfrm>
              <a:off x="2981" y="865"/>
              <a:ext cx="2347" cy="2831"/>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r>
                <a:rPr lang="zh-CN" altLang="en-US" sz="900" dirty="0">
                  <a:ea typeface="宋体" panose="02010600030101010101" pitchFamily="2" charset="-122"/>
                </a:rPr>
                <a:t>        </a:t>
              </a:r>
              <a:endParaRPr lang="zh-CN" altLang="en-US" sz="900" dirty="0">
                <a:ea typeface="宋体" panose="02010600030101010101" pitchFamily="2" charset="-122"/>
              </a:endParaRPr>
            </a:p>
            <a:p>
              <a:pPr marL="0" lvl="0" indent="0" algn="just">
                <a:spcBef>
                  <a:spcPct val="0"/>
                </a:spcBef>
                <a:buClrTx/>
                <a:buSzTx/>
                <a:buNone/>
              </a:pPr>
              <a:r>
                <a:rPr lang="zh-CN" altLang="en-US" sz="900" dirty="0">
                  <a:ea typeface="宋体" panose="02010600030101010101" pitchFamily="2" charset="-122"/>
                </a:rPr>
                <a:t>         </a:t>
              </a:r>
              <a:endParaRPr lang="zh-CN" altLang="en-US" sz="1000" dirty="0">
                <a:ea typeface="宋体" panose="02010600030101010101" pitchFamily="2" charset="-122"/>
              </a:endParaRPr>
            </a:p>
            <a:p>
              <a:pPr marL="0" lvl="0" indent="0" algn="just">
                <a:spcBef>
                  <a:spcPct val="0"/>
                </a:spcBef>
                <a:buClrTx/>
                <a:buSzTx/>
                <a:buNone/>
              </a:pPr>
              <a:endParaRPr lang="zh-CN" altLang="en-US" sz="900" dirty="0">
                <a:ea typeface="宋体" panose="02010600030101010101" pitchFamily="2" charset="-122"/>
              </a:endParaRPr>
            </a:p>
          </p:txBody>
        </p:sp>
        <p:graphicFrame>
          <p:nvGraphicFramePr>
            <p:cNvPr id="76806" name="Object 6"/>
            <p:cNvGraphicFramePr>
              <a:graphicFrameLocks noChangeAspect="1"/>
            </p:cNvGraphicFramePr>
            <p:nvPr/>
          </p:nvGraphicFramePr>
          <p:xfrm>
            <a:off x="3072" y="999"/>
            <a:ext cx="2222" cy="2266"/>
          </p:xfrm>
          <a:graphic>
            <a:graphicData uri="http://schemas.openxmlformats.org/presentationml/2006/ole">
              <mc:AlternateContent xmlns:mc="http://schemas.openxmlformats.org/markup-compatibility/2006">
                <mc:Choice xmlns:v="urn:schemas-microsoft-com:vml" Requires="v">
                  <p:oleObj spid="_x0000_s3076" name="" r:id="rId1" imgW="2944495" imgH="3191510" progId="Visio.Drawing.5">
                    <p:embed/>
                  </p:oleObj>
                </mc:Choice>
                <mc:Fallback>
                  <p:oleObj name="" r:id="rId1" imgW="2944495" imgH="3191510" progId="Visio.Drawing.5">
                    <p:embed/>
                    <p:pic>
                      <p:nvPicPr>
                        <p:cNvPr id="0" name="图片 3075"/>
                        <p:cNvPicPr/>
                        <p:nvPr/>
                      </p:nvPicPr>
                      <p:blipFill>
                        <a:blip r:embed="rId2"/>
                        <a:stretch>
                          <a:fillRect/>
                        </a:stretch>
                      </p:blipFill>
                      <p:spPr>
                        <a:xfrm>
                          <a:off x="3072" y="999"/>
                          <a:ext cx="2222" cy="2266"/>
                        </a:xfrm>
                        <a:prstGeom prst="rect">
                          <a:avLst/>
                        </a:prstGeom>
                        <a:noFill/>
                        <a:ln w="38100">
                          <a:noFill/>
                          <a:miter/>
                        </a:ln>
                      </p:spPr>
                    </p:pic>
                  </p:oleObj>
                </mc:Fallback>
              </mc:AlternateContent>
            </a:graphicData>
          </a:graphic>
        </p:graphicFrame>
        <p:sp>
          <p:nvSpPr>
            <p:cNvPr id="76807" name="Text Box 7"/>
            <p:cNvSpPr txBox="1"/>
            <p:nvPr/>
          </p:nvSpPr>
          <p:spPr>
            <a:xfrm>
              <a:off x="384" y="864"/>
              <a:ext cx="2347" cy="2831"/>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endParaRPr lang="zh-CN" altLang="en-US" sz="1000" dirty="0">
                <a:ea typeface="宋体" panose="02010600030101010101" pitchFamily="2" charset="-122"/>
              </a:endParaRPr>
            </a:p>
            <a:p>
              <a:pPr marL="0" lvl="0" indent="0" algn="just">
                <a:spcBef>
                  <a:spcPct val="0"/>
                </a:spcBef>
                <a:buClrTx/>
                <a:buSzTx/>
                <a:buNone/>
              </a:pPr>
              <a:r>
                <a:rPr lang="zh-CN" altLang="en-US" sz="900" dirty="0">
                  <a:ea typeface="宋体" panose="02010600030101010101" pitchFamily="2" charset="-122"/>
                </a:rPr>
                <a:t>        </a:t>
              </a:r>
              <a:endParaRPr lang="zh-CN" altLang="en-US" sz="900" dirty="0">
                <a:ea typeface="宋体" panose="02010600030101010101" pitchFamily="2" charset="-122"/>
              </a:endParaRPr>
            </a:p>
            <a:p>
              <a:pPr marL="0" lvl="0" indent="0" algn="just">
                <a:spcBef>
                  <a:spcPct val="0"/>
                </a:spcBef>
                <a:buClrTx/>
                <a:buSzTx/>
                <a:buNone/>
              </a:pPr>
              <a:r>
                <a:rPr lang="zh-CN" altLang="en-US" sz="900" dirty="0">
                  <a:ea typeface="宋体" panose="02010600030101010101" pitchFamily="2" charset="-122"/>
                </a:rPr>
                <a:t>     </a:t>
              </a:r>
              <a:endParaRPr lang="zh-CN" altLang="en-US" sz="1000" dirty="0">
                <a:ea typeface="宋体" panose="02010600030101010101" pitchFamily="2" charset="-122"/>
              </a:endParaRPr>
            </a:p>
            <a:p>
              <a:pPr marL="0" lvl="0" indent="0" algn="just">
                <a:spcBef>
                  <a:spcPct val="0"/>
                </a:spcBef>
                <a:buClrTx/>
                <a:buSzTx/>
                <a:buNone/>
              </a:pPr>
              <a:endParaRPr lang="zh-CN" altLang="en-US" sz="900" dirty="0">
                <a:ea typeface="宋体" panose="02010600030101010101" pitchFamily="2" charset="-122"/>
              </a:endParaRPr>
            </a:p>
          </p:txBody>
        </p:sp>
        <p:sp>
          <p:nvSpPr>
            <p:cNvPr id="76808" name="Rectangle 8"/>
            <p:cNvSpPr/>
            <p:nvPr/>
          </p:nvSpPr>
          <p:spPr>
            <a:xfrm>
              <a:off x="1032" y="1021"/>
              <a:ext cx="476" cy="191"/>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09" name="Rectangle 9"/>
            <p:cNvSpPr/>
            <p:nvPr/>
          </p:nvSpPr>
          <p:spPr>
            <a:xfrm>
              <a:off x="1124" y="1046"/>
              <a:ext cx="292" cy="142"/>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10" name="Rectangle 10"/>
            <p:cNvSpPr/>
            <p:nvPr/>
          </p:nvSpPr>
          <p:spPr>
            <a:xfrm>
              <a:off x="1131" y="1048"/>
              <a:ext cx="273" cy="1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entry</a:t>
              </a:r>
              <a:endParaRPr lang="en-US" altLang="zh-CN" sz="2400" dirty="0">
                <a:ea typeface="宋体" panose="02010600030101010101" pitchFamily="2" charset="-122"/>
              </a:endParaRPr>
            </a:p>
          </p:txBody>
        </p:sp>
        <p:sp>
          <p:nvSpPr>
            <p:cNvPr id="76811" name="Rectangle 11"/>
            <p:cNvSpPr/>
            <p:nvPr/>
          </p:nvSpPr>
          <p:spPr>
            <a:xfrm>
              <a:off x="924" y="1404"/>
              <a:ext cx="693" cy="575"/>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12" name="Rectangle 12"/>
            <p:cNvSpPr/>
            <p:nvPr/>
          </p:nvSpPr>
          <p:spPr>
            <a:xfrm>
              <a:off x="1108" y="1425"/>
              <a:ext cx="325" cy="533"/>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13" name="Rectangle 13"/>
            <p:cNvSpPr/>
            <p:nvPr/>
          </p:nvSpPr>
          <p:spPr>
            <a:xfrm>
              <a:off x="1173" y="1429"/>
              <a:ext cx="189" cy="1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a=1</a:t>
              </a:r>
              <a:endParaRPr lang="en-US" altLang="zh-CN" sz="2400" dirty="0">
                <a:ea typeface="宋体" panose="02010600030101010101" pitchFamily="2" charset="-122"/>
              </a:endParaRPr>
            </a:p>
          </p:txBody>
        </p:sp>
        <p:sp>
          <p:nvSpPr>
            <p:cNvPr id="76814" name="Rectangle 14"/>
            <p:cNvSpPr/>
            <p:nvPr/>
          </p:nvSpPr>
          <p:spPr>
            <a:xfrm>
              <a:off x="1169" y="1558"/>
              <a:ext cx="195" cy="1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b=3</a:t>
              </a:r>
              <a:endParaRPr lang="en-US" altLang="zh-CN" sz="2400" dirty="0">
                <a:ea typeface="宋体" panose="02010600030101010101" pitchFamily="2" charset="-122"/>
              </a:endParaRPr>
            </a:p>
          </p:txBody>
        </p:sp>
        <p:sp>
          <p:nvSpPr>
            <p:cNvPr id="76815" name="Rectangle 15"/>
            <p:cNvSpPr/>
            <p:nvPr/>
          </p:nvSpPr>
          <p:spPr>
            <a:xfrm>
              <a:off x="1115" y="1688"/>
              <a:ext cx="301" cy="1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c=b*a</a:t>
              </a:r>
              <a:endParaRPr lang="en-US" altLang="zh-CN" sz="2400" dirty="0">
                <a:ea typeface="宋体" panose="02010600030101010101" pitchFamily="2" charset="-122"/>
              </a:endParaRPr>
            </a:p>
          </p:txBody>
        </p:sp>
        <p:sp>
          <p:nvSpPr>
            <p:cNvPr id="76816" name="Rectangle 16"/>
            <p:cNvSpPr/>
            <p:nvPr/>
          </p:nvSpPr>
          <p:spPr>
            <a:xfrm>
              <a:off x="1119" y="1818"/>
              <a:ext cx="294" cy="1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if c&gt;b</a:t>
              </a:r>
              <a:endParaRPr lang="en-US" altLang="zh-CN" sz="2400" dirty="0">
                <a:ea typeface="宋体" panose="02010600030101010101" pitchFamily="2" charset="-122"/>
              </a:endParaRPr>
            </a:p>
          </p:txBody>
        </p:sp>
        <p:sp>
          <p:nvSpPr>
            <p:cNvPr id="76817" name="Rectangle 17"/>
            <p:cNvSpPr/>
            <p:nvPr/>
          </p:nvSpPr>
          <p:spPr>
            <a:xfrm>
              <a:off x="1712" y="2203"/>
              <a:ext cx="475" cy="192"/>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18" name="Rectangle 18"/>
            <p:cNvSpPr/>
            <p:nvPr/>
          </p:nvSpPr>
          <p:spPr>
            <a:xfrm>
              <a:off x="1776" y="2227"/>
              <a:ext cx="347" cy="143"/>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19" name="Rectangle 19"/>
            <p:cNvSpPr/>
            <p:nvPr/>
          </p:nvSpPr>
          <p:spPr>
            <a:xfrm>
              <a:off x="1783" y="2231"/>
              <a:ext cx="322" cy="1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c=b+2</a:t>
              </a:r>
              <a:endParaRPr lang="en-US" altLang="zh-CN" sz="2400" dirty="0">
                <a:ea typeface="宋体" panose="02010600030101010101" pitchFamily="2" charset="-122"/>
              </a:endParaRPr>
            </a:p>
          </p:txBody>
        </p:sp>
        <p:sp>
          <p:nvSpPr>
            <p:cNvPr id="76820" name="Rectangle 20"/>
            <p:cNvSpPr/>
            <p:nvPr/>
          </p:nvSpPr>
          <p:spPr>
            <a:xfrm>
              <a:off x="1032" y="2644"/>
              <a:ext cx="476" cy="167"/>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21" name="Rectangle 21"/>
            <p:cNvSpPr/>
            <p:nvPr/>
          </p:nvSpPr>
          <p:spPr>
            <a:xfrm>
              <a:off x="1094" y="2656"/>
              <a:ext cx="352" cy="143"/>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22" name="Rectangle 22"/>
            <p:cNvSpPr/>
            <p:nvPr/>
          </p:nvSpPr>
          <p:spPr>
            <a:xfrm>
              <a:off x="1101" y="2660"/>
              <a:ext cx="328" cy="1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d=c+b</a:t>
              </a:r>
              <a:endParaRPr lang="en-US" altLang="zh-CN" sz="2400" dirty="0">
                <a:ea typeface="宋体" panose="02010600030101010101" pitchFamily="2" charset="-122"/>
              </a:endParaRPr>
            </a:p>
          </p:txBody>
        </p:sp>
        <p:sp>
          <p:nvSpPr>
            <p:cNvPr id="76823" name="Rectangle 23"/>
            <p:cNvSpPr/>
            <p:nvPr/>
          </p:nvSpPr>
          <p:spPr>
            <a:xfrm>
              <a:off x="1032" y="3072"/>
              <a:ext cx="476" cy="172"/>
            </a:xfrm>
            <a:prstGeom prst="rect">
              <a:avLst/>
            </a:prstGeom>
            <a:solidFill>
              <a:srgbClr val="FFFFFF"/>
            </a:solid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24" name="Rectangle 24"/>
            <p:cNvSpPr/>
            <p:nvPr/>
          </p:nvSpPr>
          <p:spPr>
            <a:xfrm>
              <a:off x="1163" y="3086"/>
              <a:ext cx="213" cy="143"/>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25" name="Rectangle 25"/>
            <p:cNvSpPr/>
            <p:nvPr/>
          </p:nvSpPr>
          <p:spPr>
            <a:xfrm>
              <a:off x="1170" y="3088"/>
              <a:ext cx="192" cy="1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solidFill>
                    <a:srgbClr val="000000"/>
                  </a:solidFill>
                  <a:latin typeface="Arial" panose="020B0604020202020204" pitchFamily="34" charset="0"/>
                  <a:ea typeface="宋体" panose="02010600030101010101" pitchFamily="2" charset="-122"/>
                </a:rPr>
                <a:t>exit</a:t>
              </a:r>
              <a:endParaRPr lang="en-US" altLang="zh-CN" sz="2400" dirty="0">
                <a:ea typeface="宋体" panose="02010600030101010101" pitchFamily="2" charset="-122"/>
              </a:endParaRPr>
            </a:p>
          </p:txBody>
        </p:sp>
        <p:sp>
          <p:nvSpPr>
            <p:cNvPr id="76826" name="Line 26"/>
            <p:cNvSpPr/>
            <p:nvPr/>
          </p:nvSpPr>
          <p:spPr>
            <a:xfrm>
              <a:off x="1270" y="1212"/>
              <a:ext cx="1" cy="118"/>
            </a:xfrm>
            <a:prstGeom prst="line">
              <a:avLst/>
            </a:prstGeom>
            <a:ln w="19050" cap="flat" cmpd="sng">
              <a:solidFill>
                <a:srgbClr val="000000"/>
              </a:solidFill>
              <a:prstDash val="solid"/>
              <a:headEnd type="none" w="med" len="med"/>
              <a:tailEnd type="none" w="med" len="med"/>
            </a:ln>
          </p:spPr>
        </p:sp>
        <p:sp>
          <p:nvSpPr>
            <p:cNvPr id="76827" name="Freeform 27"/>
            <p:cNvSpPr/>
            <p:nvPr/>
          </p:nvSpPr>
          <p:spPr>
            <a:xfrm>
              <a:off x="1242" y="1323"/>
              <a:ext cx="57" cy="81"/>
            </a:xfrm>
            <a:custGeom>
              <a:avLst/>
              <a:gdLst/>
              <a:ahLst/>
              <a:cxnLst>
                <a:cxn ang="0">
                  <a:pos x="0" y="0"/>
                </a:cxn>
                <a:cxn ang="0">
                  <a:pos x="28" y="81"/>
                </a:cxn>
                <a:cxn ang="0">
                  <a:pos x="57" y="0"/>
                </a:cxn>
                <a:cxn ang="0">
                  <a:pos x="0" y="0"/>
                </a:cxn>
              </a:cxnLst>
              <a:pathLst>
                <a:path w="57" h="81">
                  <a:moveTo>
                    <a:pt x="0" y="0"/>
                  </a:moveTo>
                  <a:lnTo>
                    <a:pt x="28" y="81"/>
                  </a:lnTo>
                  <a:lnTo>
                    <a:pt x="57" y="0"/>
                  </a:lnTo>
                  <a:lnTo>
                    <a:pt x="0" y="0"/>
                  </a:lnTo>
                  <a:close/>
                </a:path>
              </a:pathLst>
            </a:custGeom>
            <a:solidFill>
              <a:srgbClr val="000000">
                <a:alpha val="100000"/>
              </a:srgbClr>
            </a:solidFill>
            <a:ln w="9525">
              <a:noFill/>
            </a:ln>
          </p:spPr>
          <p:txBody>
            <a:bodyPr/>
            <a:p>
              <a:endParaRPr lang="zh-CN" altLang="en-US"/>
            </a:p>
          </p:txBody>
        </p:sp>
        <p:sp>
          <p:nvSpPr>
            <p:cNvPr id="76828" name="Line 28"/>
            <p:cNvSpPr/>
            <p:nvPr/>
          </p:nvSpPr>
          <p:spPr>
            <a:xfrm>
              <a:off x="1270" y="1979"/>
              <a:ext cx="605" cy="200"/>
            </a:xfrm>
            <a:prstGeom prst="line">
              <a:avLst/>
            </a:prstGeom>
            <a:ln w="19050" cap="flat" cmpd="sng">
              <a:solidFill>
                <a:srgbClr val="000000"/>
              </a:solidFill>
              <a:prstDash val="solid"/>
              <a:headEnd type="none" w="med" len="med"/>
              <a:tailEnd type="none" w="med" len="med"/>
            </a:ln>
          </p:spPr>
        </p:sp>
        <p:sp>
          <p:nvSpPr>
            <p:cNvPr id="76829" name="Freeform 29"/>
            <p:cNvSpPr/>
            <p:nvPr/>
          </p:nvSpPr>
          <p:spPr>
            <a:xfrm>
              <a:off x="1858" y="2150"/>
              <a:ext cx="91" cy="53"/>
            </a:xfrm>
            <a:custGeom>
              <a:avLst/>
              <a:gdLst/>
              <a:ahLst/>
              <a:cxnLst>
                <a:cxn ang="0">
                  <a:pos x="20" y="0"/>
                </a:cxn>
                <a:cxn ang="0">
                  <a:pos x="91" y="53"/>
                </a:cxn>
                <a:cxn ang="0">
                  <a:pos x="0" y="51"/>
                </a:cxn>
                <a:cxn ang="0">
                  <a:pos x="20" y="0"/>
                </a:cxn>
              </a:cxnLst>
              <a:pathLst>
                <a:path w="91" h="53">
                  <a:moveTo>
                    <a:pt x="20" y="0"/>
                  </a:moveTo>
                  <a:lnTo>
                    <a:pt x="91" y="53"/>
                  </a:lnTo>
                  <a:lnTo>
                    <a:pt x="0" y="51"/>
                  </a:lnTo>
                  <a:lnTo>
                    <a:pt x="20" y="0"/>
                  </a:lnTo>
                  <a:close/>
                </a:path>
              </a:pathLst>
            </a:custGeom>
            <a:solidFill>
              <a:srgbClr val="000000">
                <a:alpha val="100000"/>
              </a:srgbClr>
            </a:solidFill>
            <a:ln w="9525">
              <a:noFill/>
            </a:ln>
          </p:spPr>
          <p:txBody>
            <a:bodyPr/>
            <a:p>
              <a:endParaRPr lang="zh-CN" altLang="en-US"/>
            </a:p>
          </p:txBody>
        </p:sp>
        <p:sp>
          <p:nvSpPr>
            <p:cNvPr id="76830" name="Rectangle 30"/>
            <p:cNvSpPr/>
            <p:nvPr/>
          </p:nvSpPr>
          <p:spPr>
            <a:xfrm>
              <a:off x="1582" y="2041"/>
              <a:ext cx="55" cy="100"/>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31" name="Rectangle 31"/>
            <p:cNvSpPr/>
            <p:nvPr/>
          </p:nvSpPr>
          <p:spPr>
            <a:xfrm>
              <a:off x="1589" y="2050"/>
              <a:ext cx="36" cy="12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900" b="1" dirty="0">
                  <a:solidFill>
                    <a:srgbClr val="000000"/>
                  </a:solidFill>
                  <a:latin typeface="宋体" panose="02010600030101010101" pitchFamily="2" charset="-122"/>
                  <a:ea typeface="宋体" panose="02010600030101010101" pitchFamily="2" charset="-122"/>
                </a:rPr>
                <a:t>Y</a:t>
              </a:r>
              <a:endParaRPr lang="en-US" altLang="zh-CN" sz="2400" dirty="0">
                <a:ea typeface="宋体" panose="02010600030101010101" pitchFamily="2" charset="-122"/>
              </a:endParaRPr>
            </a:p>
          </p:txBody>
        </p:sp>
        <p:sp>
          <p:nvSpPr>
            <p:cNvPr id="76832" name="Line 32"/>
            <p:cNvSpPr/>
            <p:nvPr/>
          </p:nvSpPr>
          <p:spPr>
            <a:xfrm>
              <a:off x="1270" y="1979"/>
              <a:ext cx="1" cy="590"/>
            </a:xfrm>
            <a:prstGeom prst="line">
              <a:avLst/>
            </a:prstGeom>
            <a:ln w="19050" cap="flat" cmpd="sng">
              <a:solidFill>
                <a:srgbClr val="000000"/>
              </a:solidFill>
              <a:prstDash val="solid"/>
              <a:headEnd type="none" w="med" len="med"/>
              <a:tailEnd type="none" w="med" len="med"/>
            </a:ln>
          </p:spPr>
        </p:sp>
        <p:sp>
          <p:nvSpPr>
            <p:cNvPr id="76833" name="Freeform 33"/>
            <p:cNvSpPr/>
            <p:nvPr/>
          </p:nvSpPr>
          <p:spPr>
            <a:xfrm>
              <a:off x="1242" y="2563"/>
              <a:ext cx="57" cy="81"/>
            </a:xfrm>
            <a:custGeom>
              <a:avLst/>
              <a:gdLst/>
              <a:ahLst/>
              <a:cxnLst>
                <a:cxn ang="0">
                  <a:pos x="0" y="0"/>
                </a:cxn>
                <a:cxn ang="0">
                  <a:pos x="28" y="81"/>
                </a:cxn>
                <a:cxn ang="0">
                  <a:pos x="57" y="0"/>
                </a:cxn>
                <a:cxn ang="0">
                  <a:pos x="0" y="0"/>
                </a:cxn>
              </a:cxnLst>
              <a:pathLst>
                <a:path w="57" h="81">
                  <a:moveTo>
                    <a:pt x="0" y="0"/>
                  </a:moveTo>
                  <a:lnTo>
                    <a:pt x="28" y="81"/>
                  </a:lnTo>
                  <a:lnTo>
                    <a:pt x="57" y="0"/>
                  </a:lnTo>
                  <a:lnTo>
                    <a:pt x="0" y="0"/>
                  </a:lnTo>
                  <a:close/>
                </a:path>
              </a:pathLst>
            </a:custGeom>
            <a:solidFill>
              <a:srgbClr val="000000">
                <a:alpha val="100000"/>
              </a:srgbClr>
            </a:solidFill>
            <a:ln w="9525">
              <a:noFill/>
            </a:ln>
          </p:spPr>
          <p:txBody>
            <a:bodyPr/>
            <a:p>
              <a:endParaRPr lang="zh-CN" altLang="en-US"/>
            </a:p>
          </p:txBody>
        </p:sp>
        <p:sp>
          <p:nvSpPr>
            <p:cNvPr id="76834" name="Rectangle 34"/>
            <p:cNvSpPr/>
            <p:nvPr/>
          </p:nvSpPr>
          <p:spPr>
            <a:xfrm>
              <a:off x="1243" y="2262"/>
              <a:ext cx="55" cy="99"/>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35" name="Rectangle 35"/>
            <p:cNvSpPr/>
            <p:nvPr/>
          </p:nvSpPr>
          <p:spPr>
            <a:xfrm>
              <a:off x="1250" y="2270"/>
              <a:ext cx="36" cy="12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900" b="1" dirty="0">
                  <a:solidFill>
                    <a:srgbClr val="000000"/>
                  </a:solidFill>
                  <a:latin typeface="宋体" panose="02010600030101010101" pitchFamily="2" charset="-122"/>
                  <a:ea typeface="宋体" panose="02010600030101010101" pitchFamily="2" charset="-122"/>
                </a:rPr>
                <a:t>N</a:t>
              </a:r>
              <a:endParaRPr lang="en-US" altLang="zh-CN" sz="2400" dirty="0">
                <a:ea typeface="宋体" panose="02010600030101010101" pitchFamily="2" charset="-122"/>
              </a:endParaRPr>
            </a:p>
          </p:txBody>
        </p:sp>
        <p:sp>
          <p:nvSpPr>
            <p:cNvPr id="76836" name="Line 36"/>
            <p:cNvSpPr/>
            <p:nvPr/>
          </p:nvSpPr>
          <p:spPr>
            <a:xfrm flipH="1">
              <a:off x="1347" y="2395"/>
              <a:ext cx="602" cy="142"/>
            </a:xfrm>
            <a:prstGeom prst="line">
              <a:avLst/>
            </a:prstGeom>
            <a:ln w="19050" cap="flat" cmpd="sng">
              <a:solidFill>
                <a:srgbClr val="000000"/>
              </a:solidFill>
              <a:prstDash val="solid"/>
              <a:headEnd type="none" w="med" len="med"/>
              <a:tailEnd type="none" w="med" len="med"/>
            </a:ln>
          </p:spPr>
        </p:sp>
        <p:sp>
          <p:nvSpPr>
            <p:cNvPr id="76837" name="Freeform 37"/>
            <p:cNvSpPr/>
            <p:nvPr/>
          </p:nvSpPr>
          <p:spPr>
            <a:xfrm>
              <a:off x="1270" y="2509"/>
              <a:ext cx="91" cy="52"/>
            </a:xfrm>
            <a:custGeom>
              <a:avLst/>
              <a:gdLst/>
              <a:ahLst/>
              <a:cxnLst>
                <a:cxn ang="0">
                  <a:pos x="77" y="0"/>
                </a:cxn>
                <a:cxn ang="0">
                  <a:pos x="0" y="45"/>
                </a:cxn>
                <a:cxn ang="0">
                  <a:pos x="91" y="52"/>
                </a:cxn>
                <a:cxn ang="0">
                  <a:pos x="77" y="0"/>
                </a:cxn>
              </a:cxnLst>
              <a:pathLst>
                <a:path w="91" h="52">
                  <a:moveTo>
                    <a:pt x="77" y="0"/>
                  </a:moveTo>
                  <a:lnTo>
                    <a:pt x="0" y="45"/>
                  </a:lnTo>
                  <a:lnTo>
                    <a:pt x="91" y="52"/>
                  </a:lnTo>
                  <a:lnTo>
                    <a:pt x="77" y="0"/>
                  </a:lnTo>
                  <a:close/>
                </a:path>
              </a:pathLst>
            </a:custGeom>
            <a:solidFill>
              <a:srgbClr val="000000">
                <a:alpha val="100000"/>
              </a:srgbClr>
            </a:solidFill>
            <a:ln w="9525">
              <a:noFill/>
            </a:ln>
          </p:spPr>
          <p:txBody>
            <a:bodyPr/>
            <a:p>
              <a:endParaRPr lang="zh-CN" altLang="en-US"/>
            </a:p>
          </p:txBody>
        </p:sp>
        <p:sp>
          <p:nvSpPr>
            <p:cNvPr id="76838" name="Line 38"/>
            <p:cNvSpPr/>
            <p:nvPr/>
          </p:nvSpPr>
          <p:spPr>
            <a:xfrm>
              <a:off x="1270" y="2811"/>
              <a:ext cx="1" cy="187"/>
            </a:xfrm>
            <a:prstGeom prst="line">
              <a:avLst/>
            </a:prstGeom>
            <a:ln w="19050" cap="flat" cmpd="sng">
              <a:solidFill>
                <a:srgbClr val="000000"/>
              </a:solidFill>
              <a:prstDash val="solid"/>
              <a:headEnd type="none" w="med" len="med"/>
              <a:tailEnd type="none" w="med" len="med"/>
            </a:ln>
          </p:spPr>
        </p:sp>
        <p:sp>
          <p:nvSpPr>
            <p:cNvPr id="76839" name="Freeform 39"/>
            <p:cNvSpPr/>
            <p:nvPr/>
          </p:nvSpPr>
          <p:spPr>
            <a:xfrm>
              <a:off x="1242" y="2991"/>
              <a:ext cx="57" cy="81"/>
            </a:xfrm>
            <a:custGeom>
              <a:avLst/>
              <a:gdLst/>
              <a:ahLst/>
              <a:cxnLst>
                <a:cxn ang="0">
                  <a:pos x="0" y="0"/>
                </a:cxn>
                <a:cxn ang="0">
                  <a:pos x="28" y="81"/>
                </a:cxn>
                <a:cxn ang="0">
                  <a:pos x="57" y="0"/>
                </a:cxn>
                <a:cxn ang="0">
                  <a:pos x="0" y="0"/>
                </a:cxn>
              </a:cxnLst>
              <a:pathLst>
                <a:path w="57" h="81">
                  <a:moveTo>
                    <a:pt x="0" y="0"/>
                  </a:moveTo>
                  <a:lnTo>
                    <a:pt x="28" y="81"/>
                  </a:lnTo>
                  <a:lnTo>
                    <a:pt x="57" y="0"/>
                  </a:lnTo>
                  <a:lnTo>
                    <a:pt x="0" y="0"/>
                  </a:lnTo>
                  <a:close/>
                </a:path>
              </a:pathLst>
            </a:custGeom>
            <a:solidFill>
              <a:srgbClr val="000000">
                <a:alpha val="100000"/>
              </a:srgbClr>
            </a:solidFill>
            <a:ln w="9525">
              <a:noFill/>
            </a:ln>
          </p:spPr>
          <p:txBody>
            <a:bodyPr/>
            <a:p>
              <a:endParaRPr lang="zh-CN" altLang="en-US"/>
            </a:p>
          </p:txBody>
        </p:sp>
        <p:sp>
          <p:nvSpPr>
            <p:cNvPr id="76840" name="Freeform 40"/>
            <p:cNvSpPr/>
            <p:nvPr/>
          </p:nvSpPr>
          <p:spPr>
            <a:xfrm>
              <a:off x="1824" y="1242"/>
              <a:ext cx="71" cy="68"/>
            </a:xfrm>
            <a:custGeom>
              <a:avLst/>
              <a:gdLst/>
              <a:ahLst/>
              <a:cxnLst>
                <a:cxn ang="0">
                  <a:pos x="71" y="34"/>
                </a:cxn>
                <a:cxn ang="0">
                  <a:pos x="0" y="68"/>
                </a:cxn>
                <a:cxn ang="0">
                  <a:pos x="7" y="51"/>
                </a:cxn>
                <a:cxn ang="0">
                  <a:pos x="9" y="34"/>
                </a:cxn>
                <a:cxn ang="0">
                  <a:pos x="7" y="17"/>
                </a:cxn>
                <a:cxn ang="0">
                  <a:pos x="0" y="0"/>
                </a:cxn>
                <a:cxn ang="0">
                  <a:pos x="71" y="34"/>
                </a:cxn>
              </a:cxnLst>
              <a:pathLst>
                <a:path w="71" h="68">
                  <a:moveTo>
                    <a:pt x="71" y="34"/>
                  </a:moveTo>
                  <a:lnTo>
                    <a:pt x="0" y="68"/>
                  </a:lnTo>
                  <a:lnTo>
                    <a:pt x="7" y="51"/>
                  </a:lnTo>
                  <a:lnTo>
                    <a:pt x="9" y="34"/>
                  </a:lnTo>
                  <a:lnTo>
                    <a:pt x="7" y="17"/>
                  </a:lnTo>
                  <a:lnTo>
                    <a:pt x="0" y="0"/>
                  </a:lnTo>
                  <a:lnTo>
                    <a:pt x="71" y="34"/>
                  </a:lnTo>
                  <a:close/>
                </a:path>
              </a:pathLst>
            </a:custGeom>
            <a:solidFill>
              <a:srgbClr val="000000">
                <a:alpha val="100000"/>
              </a:srgbClr>
            </a:solidFill>
            <a:ln w="9525">
              <a:noFill/>
            </a:ln>
          </p:spPr>
          <p:txBody>
            <a:bodyPr/>
            <a:p>
              <a:endParaRPr lang="zh-CN" altLang="en-US"/>
            </a:p>
          </p:txBody>
        </p:sp>
        <p:sp>
          <p:nvSpPr>
            <p:cNvPr id="76841" name="Rectangle 41"/>
            <p:cNvSpPr/>
            <p:nvPr/>
          </p:nvSpPr>
          <p:spPr>
            <a:xfrm>
              <a:off x="1703" y="1169"/>
              <a:ext cx="384" cy="21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76842" name="Text Box 42"/>
            <p:cNvSpPr txBox="1"/>
            <p:nvPr/>
          </p:nvSpPr>
          <p:spPr>
            <a:xfrm>
              <a:off x="1968" y="3840"/>
              <a:ext cx="1536" cy="323"/>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800" b="1" dirty="0">
                  <a:ea typeface="宋体" panose="02010600030101010101" pitchFamily="2" charset="-122"/>
                </a:rPr>
                <a:t>例1：程序优化的例子</a:t>
              </a:r>
              <a:endParaRPr lang="zh-CN" altLang="en-US" sz="1800" b="1" dirty="0">
                <a:ea typeface="宋体" panose="02010600030101010101" pitchFamily="2" charset="-122"/>
              </a:endParaRPr>
            </a:p>
          </p:txBody>
        </p:sp>
      </p:gr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程序分析技术（2）</a:t>
            </a:r>
            <a:endParaRPr lang="zh-CN" altLang="en-US" dirty="0">
              <a:latin typeface="Times New Roman" panose="02020603050405020304" pitchFamily="18" charset="0"/>
              <a:ea typeface="宋体" panose="02010600030101010101" pitchFamily="2" charset="-122"/>
            </a:endParaRPr>
          </a:p>
        </p:txBody>
      </p:sp>
      <p:sp>
        <p:nvSpPr>
          <p:cNvPr id="78851" name="Rectangle 3"/>
          <p:cNvSpPr>
            <a:spLocks noGrp="1"/>
          </p:cNvSpPr>
          <p:nvPr>
            <p:ph idx="1"/>
          </p:nvPr>
        </p:nvSpPr>
        <p:spPr>
          <a:xfrm>
            <a:off x="990600" y="1524000"/>
            <a:ext cx="7391400" cy="4724400"/>
          </a:xfrm>
        </p:spPr>
        <p:txBody>
          <a:bodyPr vert="horz" wrap="square" lIns="92075" tIns="46038" rIns="92075" bIns="46038" anchor="t" anchorCtr="0"/>
          <a:p>
            <a:pPr lvl="1"/>
            <a:r>
              <a:rPr lang="zh-CN" altLang="en-US" sz="2200" b="1" dirty="0">
                <a:ea typeface="宋体" panose="02010600030101010101" pitchFamily="2" charset="-122"/>
              </a:rPr>
              <a:t>分析：程序中各种量的每次出现间的关系</a:t>
            </a:r>
            <a:endParaRPr lang="zh-CN" altLang="en-US" sz="2200" b="1" dirty="0">
              <a:ea typeface="宋体" panose="02010600030101010101" pitchFamily="2" charset="-122"/>
            </a:endParaRPr>
          </a:p>
          <a:p>
            <a:pPr lvl="2"/>
            <a:r>
              <a:rPr lang="zh-CN" altLang="en-US" sz="2000" b="1" dirty="0">
                <a:ea typeface="宋体" panose="02010600030101010101" pitchFamily="2" charset="-122"/>
              </a:rPr>
              <a:t>试图从静态分析得到程序的动态行为属性</a:t>
            </a:r>
            <a:endParaRPr lang="zh-CN" altLang="en-US" sz="2000" b="1" dirty="0">
              <a:ea typeface="宋体" panose="02010600030101010101" pitchFamily="2" charset="-122"/>
            </a:endParaRPr>
          </a:p>
          <a:p>
            <a:pPr lvl="2"/>
            <a:r>
              <a:rPr lang="zh-CN" altLang="en-US" sz="2000" b="1" dirty="0">
                <a:ea typeface="宋体" panose="02010600030101010101" pitchFamily="2" charset="-122"/>
              </a:rPr>
              <a:t>寻找优化机会：可优化的代码</a:t>
            </a:r>
            <a:endParaRPr lang="zh-CN" altLang="en-US" sz="2000" b="1" dirty="0">
              <a:ea typeface="宋体" panose="02010600030101010101" pitchFamily="2" charset="-122"/>
            </a:endParaRPr>
          </a:p>
          <a:p>
            <a:pPr lvl="2"/>
            <a:r>
              <a:rPr lang="zh-CN" altLang="en-US" sz="2000" b="1" dirty="0">
                <a:ea typeface="宋体" panose="02010600030101010101" pitchFamily="2" charset="-122"/>
              </a:rPr>
              <a:t>优化的合法性：优化的正确性</a:t>
            </a:r>
            <a:endParaRPr lang="zh-CN" altLang="en-US" sz="2000" b="1" dirty="0">
              <a:ea typeface="宋体" panose="02010600030101010101" pitchFamily="2" charset="-122"/>
            </a:endParaRPr>
          </a:p>
          <a:p>
            <a:pPr lvl="2"/>
            <a:r>
              <a:rPr lang="zh-CN" altLang="en-US" sz="2000" b="1" dirty="0">
                <a:ea typeface="宋体" panose="02010600030101010101" pitchFamily="2" charset="-122"/>
              </a:rPr>
              <a:t>优化的有效性：优化并不总是可以改进程序的性能的</a:t>
            </a:r>
            <a:endParaRPr lang="zh-CN" altLang="en-US" sz="2000" b="1" dirty="0">
              <a:ea typeface="宋体" panose="02010600030101010101" pitchFamily="2" charset="-122"/>
            </a:endParaRPr>
          </a:p>
          <a:p>
            <a:pPr lvl="1"/>
            <a:r>
              <a:rPr lang="zh-CN" altLang="en-US" sz="2200" b="1" dirty="0">
                <a:ea typeface="宋体" panose="02010600030101010101" pitchFamily="2" charset="-122"/>
              </a:rPr>
              <a:t>分析的有效性</a:t>
            </a:r>
            <a:endParaRPr lang="zh-CN" altLang="en-US" sz="2200" b="1" dirty="0">
              <a:ea typeface="宋体" panose="02010600030101010101" pitchFamily="2" charset="-122"/>
            </a:endParaRPr>
          </a:p>
          <a:p>
            <a:pPr lvl="2"/>
            <a:r>
              <a:rPr lang="zh-CN" altLang="en-US" sz="2000" b="1" dirty="0">
                <a:ea typeface="宋体" panose="02010600030101010101" pitchFamily="2" charset="-122"/>
              </a:rPr>
              <a:t>开销和收益的抉择</a:t>
            </a:r>
            <a:endParaRPr lang="zh-CN" altLang="en-US" sz="2000" b="1" dirty="0">
              <a:ea typeface="宋体" panose="02010600030101010101" pitchFamily="2" charset="-122"/>
            </a:endParaRPr>
          </a:p>
          <a:p>
            <a:pPr lvl="2"/>
            <a:r>
              <a:rPr lang="zh-CN" altLang="en-US" sz="2000" b="1" dirty="0">
                <a:ea typeface="宋体" panose="02010600030101010101" pitchFamily="2" charset="-122"/>
              </a:rPr>
              <a:t>保守的要求：分析不清楚的，就作保守估计，以保证程序优化的正确性</a:t>
            </a:r>
            <a:endParaRPr lang="zh-CN" altLang="en-US" sz="2000" b="1" dirty="0">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程序分析技术（3）</a:t>
            </a:r>
            <a:endParaRPr lang="zh-CN" altLang="en-US" dirty="0">
              <a:latin typeface="Times New Roman" panose="02020603050405020304" pitchFamily="18" charset="0"/>
              <a:ea typeface="宋体" panose="02010600030101010101" pitchFamily="2" charset="-122"/>
            </a:endParaRPr>
          </a:p>
        </p:txBody>
      </p:sp>
      <p:grpSp>
        <p:nvGrpSpPr>
          <p:cNvPr id="80899" name="Group 33"/>
          <p:cNvGrpSpPr/>
          <p:nvPr/>
        </p:nvGrpSpPr>
        <p:grpSpPr>
          <a:xfrm>
            <a:off x="1295400" y="1752600"/>
            <a:ext cx="2830513" cy="3567113"/>
            <a:chOff x="816" y="1104"/>
            <a:chExt cx="1783" cy="2247"/>
          </a:xfrm>
        </p:grpSpPr>
        <p:grpSp>
          <p:nvGrpSpPr>
            <p:cNvPr id="80914" name="Group 4"/>
            <p:cNvGrpSpPr/>
            <p:nvPr/>
          </p:nvGrpSpPr>
          <p:grpSpPr>
            <a:xfrm>
              <a:off x="912" y="1104"/>
              <a:ext cx="1488" cy="1776"/>
              <a:chOff x="816" y="1680"/>
              <a:chExt cx="1296" cy="1488"/>
            </a:xfrm>
          </p:grpSpPr>
          <p:sp>
            <p:nvSpPr>
              <p:cNvPr id="80916" name="Rectangle 5"/>
              <p:cNvSpPr/>
              <p:nvPr/>
            </p:nvSpPr>
            <p:spPr>
              <a:xfrm>
                <a:off x="816" y="1680"/>
                <a:ext cx="1296" cy="1488"/>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200" dirty="0">
                  <a:latin typeface="Tahoma" panose="020B0604030504040204" pitchFamily="34" charset="0"/>
                  <a:ea typeface="宋体" panose="02010600030101010101" pitchFamily="2" charset="-122"/>
                </a:endParaRPr>
              </a:p>
            </p:txBody>
          </p:sp>
          <p:sp>
            <p:nvSpPr>
              <p:cNvPr id="80917" name="Rectangle 6"/>
              <p:cNvSpPr/>
              <p:nvPr/>
            </p:nvSpPr>
            <p:spPr>
              <a:xfrm>
                <a:off x="960" y="1920"/>
                <a:ext cx="528"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a = b+ c</a:t>
                </a:r>
                <a:endParaRPr lang="en-US" altLang="zh-CN" sz="1400" dirty="0">
                  <a:latin typeface="Tahoma" panose="020B0604030504040204" pitchFamily="34" charset="0"/>
                  <a:ea typeface="宋体" panose="02010600030101010101" pitchFamily="2" charset="-122"/>
                </a:endParaRPr>
              </a:p>
            </p:txBody>
          </p:sp>
          <p:sp>
            <p:nvSpPr>
              <p:cNvPr id="80918" name="Rectangle 7"/>
              <p:cNvSpPr/>
              <p:nvPr/>
            </p:nvSpPr>
            <p:spPr>
              <a:xfrm>
                <a:off x="1488" y="1920"/>
                <a:ext cx="528"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400" dirty="0">
                  <a:latin typeface="Tahoma" panose="020B0604030504040204" pitchFamily="34" charset="0"/>
                  <a:ea typeface="宋体" panose="02010600030101010101" pitchFamily="2" charset="-122"/>
                </a:endParaRPr>
              </a:p>
            </p:txBody>
          </p:sp>
          <p:sp>
            <p:nvSpPr>
              <p:cNvPr id="80919" name="Line 8"/>
              <p:cNvSpPr/>
              <p:nvPr/>
            </p:nvSpPr>
            <p:spPr>
              <a:xfrm>
                <a:off x="960" y="2208"/>
                <a:ext cx="1008" cy="0"/>
              </a:xfrm>
              <a:prstGeom prst="line">
                <a:avLst/>
              </a:prstGeom>
              <a:ln w="19050" cap="flat" cmpd="sng">
                <a:solidFill>
                  <a:schemeClr val="tx1"/>
                </a:solidFill>
                <a:prstDash val="dash"/>
                <a:miter/>
                <a:headEnd type="none" w="med" len="med"/>
                <a:tailEnd type="none" w="med" len="med"/>
              </a:ln>
            </p:spPr>
          </p:sp>
          <p:sp>
            <p:nvSpPr>
              <p:cNvPr id="80920" name="Line 9"/>
              <p:cNvSpPr/>
              <p:nvPr/>
            </p:nvSpPr>
            <p:spPr>
              <a:xfrm>
                <a:off x="960" y="2304"/>
                <a:ext cx="1008" cy="0"/>
              </a:xfrm>
              <a:prstGeom prst="line">
                <a:avLst/>
              </a:prstGeom>
              <a:ln w="19050" cap="flat" cmpd="sng">
                <a:solidFill>
                  <a:schemeClr val="tx1"/>
                </a:solidFill>
                <a:prstDash val="dash"/>
                <a:miter/>
                <a:headEnd type="none" w="med" len="med"/>
                <a:tailEnd type="none" w="med" len="med"/>
              </a:ln>
            </p:spPr>
          </p:sp>
          <p:sp>
            <p:nvSpPr>
              <p:cNvPr id="80921" name="Line 10"/>
              <p:cNvSpPr/>
              <p:nvPr/>
            </p:nvSpPr>
            <p:spPr>
              <a:xfrm>
                <a:off x="960" y="2400"/>
                <a:ext cx="1008" cy="0"/>
              </a:xfrm>
              <a:prstGeom prst="line">
                <a:avLst/>
              </a:prstGeom>
              <a:ln w="19050" cap="flat" cmpd="sng">
                <a:solidFill>
                  <a:schemeClr val="tx1"/>
                </a:solidFill>
                <a:prstDash val="dash"/>
                <a:miter/>
                <a:headEnd type="none" w="med" len="med"/>
                <a:tailEnd type="none" w="med" len="med"/>
              </a:ln>
            </p:spPr>
          </p:sp>
          <p:sp>
            <p:nvSpPr>
              <p:cNvPr id="80922" name="Line 11"/>
              <p:cNvSpPr/>
              <p:nvPr/>
            </p:nvSpPr>
            <p:spPr>
              <a:xfrm>
                <a:off x="960" y="2496"/>
                <a:ext cx="1008" cy="0"/>
              </a:xfrm>
              <a:prstGeom prst="line">
                <a:avLst/>
              </a:prstGeom>
              <a:ln w="19050" cap="flat" cmpd="sng">
                <a:solidFill>
                  <a:schemeClr val="tx1"/>
                </a:solidFill>
                <a:prstDash val="dash"/>
                <a:miter/>
                <a:headEnd type="none" w="med" len="med"/>
                <a:tailEnd type="none" w="med" len="med"/>
              </a:ln>
            </p:spPr>
          </p:sp>
          <p:sp>
            <p:nvSpPr>
              <p:cNvPr id="80923" name="Line 12"/>
              <p:cNvSpPr/>
              <p:nvPr/>
            </p:nvSpPr>
            <p:spPr>
              <a:xfrm>
                <a:off x="960" y="2592"/>
                <a:ext cx="1008" cy="0"/>
              </a:xfrm>
              <a:prstGeom prst="line">
                <a:avLst/>
              </a:prstGeom>
              <a:ln w="19050" cap="flat" cmpd="sng">
                <a:solidFill>
                  <a:schemeClr val="tx1"/>
                </a:solidFill>
                <a:prstDash val="dash"/>
                <a:miter/>
                <a:headEnd type="none" w="med" len="med"/>
                <a:tailEnd type="none" w="med" len="med"/>
              </a:ln>
            </p:spPr>
          </p:sp>
          <p:sp>
            <p:nvSpPr>
              <p:cNvPr id="80924" name="Line 13"/>
              <p:cNvSpPr/>
              <p:nvPr/>
            </p:nvSpPr>
            <p:spPr>
              <a:xfrm>
                <a:off x="960" y="2688"/>
                <a:ext cx="1008" cy="0"/>
              </a:xfrm>
              <a:prstGeom prst="line">
                <a:avLst/>
              </a:prstGeom>
              <a:ln w="19050" cap="flat" cmpd="sng">
                <a:solidFill>
                  <a:schemeClr val="tx1"/>
                </a:solidFill>
                <a:prstDash val="dash"/>
                <a:miter/>
                <a:headEnd type="none" w="med" len="med"/>
                <a:tailEnd type="none" w="med" len="med"/>
              </a:ln>
            </p:spPr>
          </p:sp>
          <p:sp>
            <p:nvSpPr>
              <p:cNvPr id="80925" name="Line 14"/>
              <p:cNvSpPr/>
              <p:nvPr/>
            </p:nvSpPr>
            <p:spPr>
              <a:xfrm>
                <a:off x="960" y="2784"/>
                <a:ext cx="1008" cy="0"/>
              </a:xfrm>
              <a:prstGeom prst="line">
                <a:avLst/>
              </a:prstGeom>
              <a:ln w="19050" cap="flat" cmpd="sng">
                <a:solidFill>
                  <a:schemeClr val="tx1"/>
                </a:solidFill>
                <a:prstDash val="dash"/>
                <a:miter/>
                <a:headEnd type="none" w="med" len="med"/>
                <a:tailEnd type="none" w="med" len="med"/>
              </a:ln>
            </p:spPr>
          </p:sp>
          <p:sp>
            <p:nvSpPr>
              <p:cNvPr id="80926" name="Rectangle 15"/>
              <p:cNvSpPr/>
              <p:nvPr/>
            </p:nvSpPr>
            <p:spPr>
              <a:xfrm>
                <a:off x="960" y="2880"/>
                <a:ext cx="528"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x =y + z</a:t>
                </a:r>
                <a:endParaRPr lang="en-US" altLang="zh-CN" sz="1400" dirty="0">
                  <a:latin typeface="Tahoma" panose="020B0604030504040204" pitchFamily="34" charset="0"/>
                  <a:ea typeface="宋体" panose="02010600030101010101" pitchFamily="2" charset="-122"/>
                </a:endParaRPr>
              </a:p>
            </p:txBody>
          </p:sp>
          <p:sp>
            <p:nvSpPr>
              <p:cNvPr id="80927" name="Freeform 16"/>
              <p:cNvSpPr/>
              <p:nvPr/>
            </p:nvSpPr>
            <p:spPr>
              <a:xfrm>
                <a:off x="1488" y="2112"/>
                <a:ext cx="248" cy="816"/>
              </a:xfrm>
              <a:custGeom>
                <a:avLst/>
                <a:gdLst/>
                <a:ahLst/>
                <a:cxnLst>
                  <a:cxn ang="0">
                    <a:pos x="0" y="816"/>
                  </a:cxn>
                  <a:cxn ang="0">
                    <a:pos x="192" y="672"/>
                  </a:cxn>
                  <a:cxn ang="0">
                    <a:pos x="240" y="336"/>
                  </a:cxn>
                  <a:cxn ang="0">
                    <a:pos x="240" y="0"/>
                  </a:cxn>
                </a:cxnLst>
                <a:pathLst>
                  <a:path w="248" h="816">
                    <a:moveTo>
                      <a:pt x="0" y="816"/>
                    </a:moveTo>
                    <a:cubicBezTo>
                      <a:pt x="76" y="784"/>
                      <a:pt x="152" y="752"/>
                      <a:pt x="192" y="672"/>
                    </a:cubicBezTo>
                    <a:cubicBezTo>
                      <a:pt x="232" y="592"/>
                      <a:pt x="232" y="448"/>
                      <a:pt x="240" y="336"/>
                    </a:cubicBezTo>
                    <a:cubicBezTo>
                      <a:pt x="248" y="224"/>
                      <a:pt x="240" y="56"/>
                      <a:pt x="240" y="0"/>
                    </a:cubicBezTo>
                  </a:path>
                </a:pathLst>
              </a:custGeom>
              <a:noFill/>
              <a:ln w="28575" cap="flat" cmpd="sng">
                <a:solidFill>
                  <a:schemeClr val="hlink">
                    <a:alpha val="100000"/>
                  </a:schemeClr>
                </a:solidFill>
                <a:prstDash val="solid"/>
                <a:miter lim="800000"/>
                <a:headEnd type="none" w="med" len="med"/>
                <a:tailEnd type="triangle" w="med" len="med"/>
              </a:ln>
            </p:spPr>
            <p:txBody>
              <a:bodyPr/>
              <a:p>
                <a:endParaRPr lang="zh-CN" altLang="en-US"/>
              </a:p>
            </p:txBody>
          </p:sp>
          <p:sp>
            <p:nvSpPr>
              <p:cNvPr id="80928" name="Rectangle 17"/>
              <p:cNvSpPr/>
              <p:nvPr/>
            </p:nvSpPr>
            <p:spPr>
              <a:xfrm>
                <a:off x="1776" y="2448"/>
                <a:ext cx="240" cy="336"/>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2000" dirty="0">
                    <a:solidFill>
                      <a:schemeClr val="hlink"/>
                    </a:solidFill>
                    <a:latin typeface="Tahoma" panose="020B0604030504040204" pitchFamily="34" charset="0"/>
                    <a:ea typeface="宋体" panose="02010600030101010101" pitchFamily="2" charset="-122"/>
                  </a:rPr>
                  <a:t>???</a:t>
                </a:r>
                <a:endParaRPr lang="zh-CN" altLang="en-US" sz="2000" dirty="0">
                  <a:solidFill>
                    <a:schemeClr val="hlink"/>
                  </a:solidFill>
                  <a:latin typeface="Tahoma" panose="020B0604030504040204" pitchFamily="34" charset="0"/>
                  <a:ea typeface="宋体" panose="02010600030101010101" pitchFamily="2" charset="-122"/>
                </a:endParaRPr>
              </a:p>
            </p:txBody>
          </p:sp>
        </p:grpSp>
        <p:sp>
          <p:nvSpPr>
            <p:cNvPr id="80915" name="Text Box 18"/>
            <p:cNvSpPr txBox="1"/>
            <p:nvPr/>
          </p:nvSpPr>
          <p:spPr>
            <a:xfrm>
              <a:off x="816" y="3120"/>
              <a:ext cx="1783" cy="231"/>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800" b="1" dirty="0">
                  <a:ea typeface="宋体" panose="02010600030101010101" pitchFamily="2" charset="-122"/>
                </a:rPr>
                <a:t>例2：代码移动是否合法？</a:t>
              </a:r>
              <a:endParaRPr lang="zh-CN" altLang="en-US" sz="1800" b="1" dirty="0">
                <a:ea typeface="宋体" panose="02010600030101010101" pitchFamily="2" charset="-122"/>
              </a:endParaRPr>
            </a:p>
          </p:txBody>
        </p:sp>
      </p:grpSp>
      <p:grpSp>
        <p:nvGrpSpPr>
          <p:cNvPr id="80900" name="Group 19"/>
          <p:cNvGrpSpPr/>
          <p:nvPr/>
        </p:nvGrpSpPr>
        <p:grpSpPr>
          <a:xfrm>
            <a:off x="5029200" y="1752600"/>
            <a:ext cx="3041650" cy="3567113"/>
            <a:chOff x="3168" y="1104"/>
            <a:chExt cx="1916" cy="2247"/>
          </a:xfrm>
        </p:grpSpPr>
        <p:grpSp>
          <p:nvGrpSpPr>
            <p:cNvPr id="80901" name="Group 20"/>
            <p:cNvGrpSpPr/>
            <p:nvPr/>
          </p:nvGrpSpPr>
          <p:grpSpPr>
            <a:xfrm>
              <a:off x="3216" y="1104"/>
              <a:ext cx="1776" cy="1776"/>
              <a:chOff x="3264" y="1680"/>
              <a:chExt cx="1584" cy="1488"/>
            </a:xfrm>
          </p:grpSpPr>
          <p:sp>
            <p:nvSpPr>
              <p:cNvPr id="80903" name="Rectangle 21"/>
              <p:cNvSpPr/>
              <p:nvPr/>
            </p:nvSpPr>
            <p:spPr>
              <a:xfrm>
                <a:off x="3264" y="1680"/>
                <a:ext cx="1296" cy="1488"/>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200" dirty="0">
                  <a:latin typeface="Tahoma" panose="020B0604030504040204" pitchFamily="34" charset="0"/>
                  <a:ea typeface="宋体" panose="02010600030101010101" pitchFamily="2" charset="-122"/>
                </a:endParaRPr>
              </a:p>
            </p:txBody>
          </p:sp>
          <p:sp>
            <p:nvSpPr>
              <p:cNvPr id="80904" name="Rectangle 22"/>
              <p:cNvSpPr/>
              <p:nvPr/>
            </p:nvSpPr>
            <p:spPr>
              <a:xfrm>
                <a:off x="3408" y="1920"/>
                <a:ext cx="864"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a = </a:t>
                </a:r>
                <a:r>
                  <a:rPr lang="en-US" altLang="zh-CN" sz="1400" dirty="0">
                    <a:ea typeface="宋体" panose="02010600030101010101" pitchFamily="2" charset="-122"/>
                  </a:rPr>
                  <a:t>…</a:t>
                </a:r>
                <a:r>
                  <a:rPr lang="en-US" altLang="zh-CN" sz="1400" dirty="0">
                    <a:latin typeface="Tahoma" panose="020B0604030504040204" pitchFamily="34" charset="0"/>
                    <a:ea typeface="宋体" panose="02010600030101010101" pitchFamily="2" charset="-122"/>
                  </a:rPr>
                  <a:t> </a:t>
                </a:r>
                <a:r>
                  <a:rPr lang="en-US" altLang="zh-CN" sz="1400" dirty="0">
                    <a:ea typeface="宋体" panose="02010600030101010101" pitchFamily="2" charset="-122"/>
                  </a:rPr>
                  <a:t>…</a:t>
                </a:r>
                <a:endParaRPr lang="en-US" altLang="zh-CN" sz="1400" dirty="0">
                  <a:latin typeface="Tahoma" panose="020B0604030504040204" pitchFamily="34" charset="0"/>
                  <a:ea typeface="宋体" panose="02010600030101010101" pitchFamily="2" charset="-122"/>
                </a:endParaRPr>
              </a:p>
            </p:txBody>
          </p:sp>
          <p:sp>
            <p:nvSpPr>
              <p:cNvPr id="80905" name="Rectangle 23"/>
              <p:cNvSpPr/>
              <p:nvPr/>
            </p:nvSpPr>
            <p:spPr>
              <a:xfrm>
                <a:off x="3408" y="2064"/>
                <a:ext cx="864"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b = </a:t>
                </a:r>
                <a:r>
                  <a:rPr lang="en-US" altLang="zh-CN" sz="1400" dirty="0">
                    <a:ea typeface="宋体" panose="02010600030101010101" pitchFamily="2" charset="-122"/>
                  </a:rPr>
                  <a:t>…</a:t>
                </a:r>
                <a:r>
                  <a:rPr lang="en-US" altLang="zh-CN" sz="1400" dirty="0">
                    <a:latin typeface="Tahoma" panose="020B0604030504040204" pitchFamily="34" charset="0"/>
                    <a:ea typeface="宋体" panose="02010600030101010101" pitchFamily="2" charset="-122"/>
                  </a:rPr>
                  <a:t> </a:t>
                </a:r>
                <a:r>
                  <a:rPr lang="en-US" altLang="zh-CN" sz="1400" dirty="0">
                    <a:ea typeface="宋体" panose="02010600030101010101" pitchFamily="2" charset="-122"/>
                  </a:rPr>
                  <a:t>…</a:t>
                </a:r>
                <a:endParaRPr lang="en-US" altLang="zh-CN" sz="1400" dirty="0">
                  <a:latin typeface="Tahoma" panose="020B0604030504040204" pitchFamily="34" charset="0"/>
                  <a:ea typeface="宋体" panose="02010600030101010101" pitchFamily="2" charset="-122"/>
                </a:endParaRPr>
              </a:p>
            </p:txBody>
          </p:sp>
          <p:sp>
            <p:nvSpPr>
              <p:cNvPr id="80906" name="Line 24"/>
              <p:cNvSpPr/>
              <p:nvPr/>
            </p:nvSpPr>
            <p:spPr>
              <a:xfrm>
                <a:off x="3408" y="2304"/>
                <a:ext cx="1008" cy="0"/>
              </a:xfrm>
              <a:prstGeom prst="line">
                <a:avLst/>
              </a:prstGeom>
              <a:ln w="19050" cap="flat" cmpd="sng">
                <a:solidFill>
                  <a:schemeClr val="tx1"/>
                </a:solidFill>
                <a:prstDash val="dash"/>
                <a:miter/>
                <a:headEnd type="none" w="med" len="med"/>
                <a:tailEnd type="none" w="med" len="med"/>
              </a:ln>
            </p:spPr>
          </p:sp>
          <p:sp>
            <p:nvSpPr>
              <p:cNvPr id="80907" name="Line 25"/>
              <p:cNvSpPr/>
              <p:nvPr/>
            </p:nvSpPr>
            <p:spPr>
              <a:xfrm>
                <a:off x="3408" y="2400"/>
                <a:ext cx="1008" cy="0"/>
              </a:xfrm>
              <a:prstGeom prst="line">
                <a:avLst/>
              </a:prstGeom>
              <a:ln w="19050" cap="flat" cmpd="sng">
                <a:solidFill>
                  <a:schemeClr val="tx1"/>
                </a:solidFill>
                <a:prstDash val="dash"/>
                <a:miter/>
                <a:headEnd type="none" w="med" len="med"/>
                <a:tailEnd type="none" w="med" len="med"/>
              </a:ln>
            </p:spPr>
          </p:sp>
          <p:sp>
            <p:nvSpPr>
              <p:cNvPr id="80908" name="Line 26"/>
              <p:cNvSpPr/>
              <p:nvPr/>
            </p:nvSpPr>
            <p:spPr>
              <a:xfrm>
                <a:off x="3408" y="2496"/>
                <a:ext cx="1008" cy="0"/>
              </a:xfrm>
              <a:prstGeom prst="line">
                <a:avLst/>
              </a:prstGeom>
              <a:ln w="19050" cap="flat" cmpd="sng">
                <a:solidFill>
                  <a:schemeClr val="tx1"/>
                </a:solidFill>
                <a:prstDash val="dash"/>
                <a:miter/>
                <a:headEnd type="none" w="med" len="med"/>
                <a:tailEnd type="none" w="med" len="med"/>
              </a:ln>
            </p:spPr>
          </p:sp>
          <p:sp>
            <p:nvSpPr>
              <p:cNvPr id="80909" name="Line 27"/>
              <p:cNvSpPr/>
              <p:nvPr/>
            </p:nvSpPr>
            <p:spPr>
              <a:xfrm>
                <a:off x="3408" y="2592"/>
                <a:ext cx="1008" cy="0"/>
              </a:xfrm>
              <a:prstGeom prst="line">
                <a:avLst/>
              </a:prstGeom>
              <a:ln w="19050" cap="flat" cmpd="sng">
                <a:solidFill>
                  <a:schemeClr val="tx1"/>
                </a:solidFill>
                <a:prstDash val="dash"/>
                <a:miter/>
                <a:headEnd type="none" w="med" len="med"/>
                <a:tailEnd type="none" w="med" len="med"/>
              </a:ln>
            </p:spPr>
          </p:sp>
          <p:sp>
            <p:nvSpPr>
              <p:cNvPr id="80910" name="Line 28"/>
              <p:cNvSpPr/>
              <p:nvPr/>
            </p:nvSpPr>
            <p:spPr>
              <a:xfrm>
                <a:off x="3408" y="2688"/>
                <a:ext cx="1008" cy="0"/>
              </a:xfrm>
              <a:prstGeom prst="line">
                <a:avLst/>
              </a:prstGeom>
              <a:ln w="19050" cap="flat" cmpd="sng">
                <a:solidFill>
                  <a:schemeClr val="tx1"/>
                </a:solidFill>
                <a:prstDash val="dash"/>
                <a:miter/>
                <a:headEnd type="none" w="med" len="med"/>
                <a:tailEnd type="none" w="med" len="med"/>
              </a:ln>
            </p:spPr>
          </p:sp>
          <p:sp>
            <p:nvSpPr>
              <p:cNvPr id="80911" name="Rectangle 29"/>
              <p:cNvSpPr/>
              <p:nvPr/>
            </p:nvSpPr>
            <p:spPr>
              <a:xfrm>
                <a:off x="3408" y="2880"/>
                <a:ext cx="864"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DO i = 1,  c</a:t>
                </a:r>
                <a:endParaRPr lang="en-US" altLang="zh-CN" sz="1400" dirty="0">
                  <a:latin typeface="Tahoma" panose="020B0604030504040204" pitchFamily="34" charset="0"/>
                  <a:ea typeface="宋体" panose="02010600030101010101" pitchFamily="2" charset="-122"/>
                </a:endParaRPr>
              </a:p>
            </p:txBody>
          </p:sp>
          <p:sp>
            <p:nvSpPr>
              <p:cNvPr id="80912" name="Rectangle 30"/>
              <p:cNvSpPr/>
              <p:nvPr/>
            </p:nvSpPr>
            <p:spPr>
              <a:xfrm>
                <a:off x="3408" y="2736"/>
                <a:ext cx="864" cy="144"/>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dirty="0">
                    <a:latin typeface="Tahoma" panose="020B0604030504040204" pitchFamily="34" charset="0"/>
                    <a:ea typeface="宋体" panose="02010600030101010101" pitchFamily="2" charset="-122"/>
                  </a:rPr>
                  <a:t>c = a + b</a:t>
                </a:r>
                <a:endParaRPr lang="en-US" altLang="zh-CN" sz="1400" dirty="0">
                  <a:latin typeface="Tahoma" panose="020B0604030504040204" pitchFamily="34" charset="0"/>
                  <a:ea typeface="宋体" panose="02010600030101010101" pitchFamily="2" charset="-122"/>
                </a:endParaRPr>
              </a:p>
            </p:txBody>
          </p:sp>
          <p:sp>
            <p:nvSpPr>
              <p:cNvPr id="80913" name="AutoShape 31"/>
              <p:cNvSpPr/>
              <p:nvPr/>
            </p:nvSpPr>
            <p:spPr>
              <a:xfrm>
                <a:off x="4128" y="2448"/>
                <a:ext cx="720" cy="336"/>
              </a:xfrm>
              <a:prstGeom prst="cloudCallout">
                <a:avLst>
                  <a:gd name="adj1" fmla="val -45417"/>
                  <a:gd name="adj2" fmla="val 80356"/>
                </a:avLst>
              </a:prstGeom>
              <a:solidFill>
                <a:srgbClr val="FFFFCC"/>
              </a:solidFill>
              <a:ln w="127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200" dirty="0">
                    <a:latin typeface="Tahoma" panose="020B0604030504040204" pitchFamily="34" charset="0"/>
                    <a:ea typeface="宋体" panose="02010600030101010101" pitchFamily="2" charset="-122"/>
                  </a:rPr>
                  <a:t>Constant?</a:t>
                </a:r>
                <a:endParaRPr lang="en-US" altLang="zh-CN" sz="1200" dirty="0">
                  <a:latin typeface="Tahoma" panose="020B0604030504040204" pitchFamily="34" charset="0"/>
                  <a:ea typeface="宋体" panose="02010600030101010101" pitchFamily="2" charset="-122"/>
                </a:endParaRPr>
              </a:p>
            </p:txBody>
          </p:sp>
        </p:grpSp>
        <p:sp>
          <p:nvSpPr>
            <p:cNvPr id="80902" name="Text Box 32"/>
            <p:cNvSpPr txBox="1"/>
            <p:nvPr/>
          </p:nvSpPr>
          <p:spPr>
            <a:xfrm>
              <a:off x="3168" y="3120"/>
              <a:ext cx="1916" cy="231"/>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800" b="1" dirty="0">
                  <a:ea typeface="宋体" panose="02010600030101010101" pitchFamily="2" charset="-122"/>
                </a:rPr>
                <a:t>例</a:t>
              </a:r>
              <a:r>
                <a:rPr lang="en-US" altLang="zh-CN" sz="1800" b="1" dirty="0">
                  <a:ea typeface="宋体" panose="02010600030101010101" pitchFamily="2" charset="-122"/>
                </a:rPr>
                <a:t>3</a:t>
              </a:r>
              <a:r>
                <a:rPr lang="zh-CN" altLang="en-US" sz="1800" b="1" dirty="0">
                  <a:ea typeface="宋体" panose="02010600030101010101" pitchFamily="2" charset="-122"/>
                </a:rPr>
                <a:t>：可以进行常数传播吗？</a:t>
              </a:r>
              <a:endParaRPr lang="en-US" altLang="zh-CN" sz="1800" b="1" dirty="0">
                <a:ea typeface="宋体" panose="02010600030101010101" pitchFamily="2" charset="-122"/>
              </a:endParaRPr>
            </a:p>
          </p:txBody>
        </p:sp>
      </p:gr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程序分析技术（4）</a:t>
            </a:r>
            <a:endParaRPr lang="zh-CN" altLang="en-US" dirty="0">
              <a:latin typeface="Times New Roman" panose="02020603050405020304" pitchFamily="18" charset="0"/>
              <a:ea typeface="宋体" panose="02010600030101010101" pitchFamily="2" charset="-122"/>
            </a:endParaRPr>
          </a:p>
        </p:txBody>
      </p:sp>
      <p:sp>
        <p:nvSpPr>
          <p:cNvPr id="8294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分析的主要种类</a:t>
            </a:r>
            <a:endParaRPr lang="en-US" altLang="zh-CN" sz="2400" b="1" dirty="0">
              <a:ea typeface="宋体" panose="02010600030101010101" pitchFamily="2" charset="-122"/>
            </a:endParaRPr>
          </a:p>
          <a:p>
            <a:pPr lvl="1"/>
            <a:r>
              <a:rPr lang="zh-CN" altLang="en-US" sz="2200" b="1" dirty="0">
                <a:ea typeface="宋体" panose="02010600030101010101" pitchFamily="2" charset="-122"/>
              </a:rPr>
              <a:t>流分析</a:t>
            </a:r>
            <a:endParaRPr lang="zh-CN" altLang="en-US" sz="2200" b="1" dirty="0">
              <a:ea typeface="宋体" panose="02010600030101010101" pitchFamily="2" charset="-122"/>
            </a:endParaRPr>
          </a:p>
          <a:p>
            <a:pPr lvl="2"/>
            <a:r>
              <a:rPr lang="zh-CN" altLang="en-US" sz="2000" b="1" dirty="0">
                <a:ea typeface="宋体" panose="02010600030101010101" pitchFamily="2" charset="-122"/>
              </a:rPr>
              <a:t>控制流分析</a:t>
            </a:r>
            <a:endParaRPr lang="zh-CN" altLang="en-US" sz="2000" b="1" dirty="0">
              <a:ea typeface="宋体" panose="02010600030101010101" pitchFamily="2" charset="-122"/>
            </a:endParaRPr>
          </a:p>
          <a:p>
            <a:pPr lvl="2"/>
            <a:r>
              <a:rPr lang="zh-CN" altLang="en-US" sz="2000" b="1" dirty="0">
                <a:ea typeface="宋体" panose="02010600030101010101" pitchFamily="2" charset="-122"/>
              </a:rPr>
              <a:t>数据流分析</a:t>
            </a:r>
            <a:endParaRPr lang="zh-CN" altLang="en-US" sz="2000" b="1" dirty="0">
              <a:ea typeface="宋体" panose="02010600030101010101" pitchFamily="2" charset="-122"/>
            </a:endParaRPr>
          </a:p>
          <a:p>
            <a:pPr lvl="1"/>
            <a:r>
              <a:rPr lang="zh-CN" altLang="en-US" sz="2200" b="1" dirty="0">
                <a:ea typeface="宋体" panose="02010600030101010101" pitchFamily="2" charset="-122"/>
              </a:rPr>
              <a:t>依赖分析</a:t>
            </a:r>
            <a:endParaRPr lang="zh-CN" altLang="en-US" sz="2200" b="1" dirty="0">
              <a:ea typeface="宋体" panose="02010600030101010101" pitchFamily="2" charset="-122"/>
            </a:endParaRPr>
          </a:p>
          <a:p>
            <a:pPr lvl="2"/>
            <a:r>
              <a:rPr lang="zh-CN" altLang="en-US" sz="2000" b="1" dirty="0">
                <a:ea typeface="宋体" panose="02010600030101010101" pitchFamily="2" charset="-122"/>
              </a:rPr>
              <a:t>控制依赖分析</a:t>
            </a:r>
            <a:endParaRPr lang="zh-CN" altLang="en-US" sz="2000" b="1" dirty="0">
              <a:ea typeface="宋体" panose="02010600030101010101" pitchFamily="2" charset="-122"/>
            </a:endParaRPr>
          </a:p>
          <a:p>
            <a:pPr lvl="2"/>
            <a:r>
              <a:rPr lang="zh-CN" altLang="en-US" sz="2000" b="1" dirty="0">
                <a:ea typeface="宋体" panose="02010600030101010101" pitchFamily="2" charset="-122"/>
              </a:rPr>
              <a:t>数据依赖分析</a:t>
            </a:r>
            <a:endParaRPr lang="zh-CN" altLang="en-US" sz="2000" b="1" dirty="0">
              <a:ea typeface="宋体" panose="02010600030101010101" pitchFamily="2" charset="-122"/>
            </a:endParaRPr>
          </a:p>
          <a:p>
            <a:pPr lvl="1"/>
            <a:r>
              <a:rPr lang="zh-CN" altLang="en-US" sz="2200" b="1" dirty="0">
                <a:ea typeface="宋体" panose="02010600030101010101" pitchFamily="2" charset="-122"/>
              </a:rPr>
              <a:t>指针分析和别名分析</a:t>
            </a:r>
            <a:endParaRPr lang="zh-CN" altLang="en-US" sz="2200" b="1" dirty="0">
              <a:ea typeface="宋体" panose="02010600030101010101" pitchFamily="2" charset="-122"/>
            </a:endParaRPr>
          </a:p>
          <a:p>
            <a:pPr lvl="2"/>
            <a:r>
              <a:rPr lang="zh-CN" altLang="en-US" sz="2000" b="1" dirty="0">
                <a:ea typeface="宋体" panose="02010600030101010101" pitchFamily="2" charset="-122"/>
              </a:rPr>
              <a:t>指向（</a:t>
            </a:r>
            <a:r>
              <a:rPr lang="en-US" altLang="zh-CN" sz="2000" b="1" dirty="0">
                <a:ea typeface="宋体" panose="02010600030101010101" pitchFamily="2" charset="-122"/>
              </a:rPr>
              <a:t>Pointe-to）</a:t>
            </a:r>
            <a:r>
              <a:rPr lang="zh-CN" altLang="en-US" sz="2000" b="1" dirty="0">
                <a:ea typeface="宋体" panose="02010600030101010101" pitchFamily="2" charset="-122"/>
              </a:rPr>
              <a:t>关系</a:t>
            </a:r>
            <a:endParaRPr lang="zh-CN" altLang="en-US" sz="2000" b="1" dirty="0">
              <a:ea typeface="宋体" panose="02010600030101010101" pitchFamily="2" charset="-122"/>
            </a:endParaRPr>
          </a:p>
          <a:p>
            <a:pPr lvl="2"/>
            <a:r>
              <a:rPr lang="zh-CN" altLang="en-US" sz="2000" b="1" dirty="0">
                <a:ea typeface="宋体" panose="02010600030101010101" pitchFamily="2" charset="-122"/>
              </a:rPr>
              <a:t>别名关系</a:t>
            </a:r>
            <a:endParaRPr lang="zh-CN" altLang="en-US" sz="2000" b="1" dirty="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流分析</a:t>
            </a:r>
            <a:endParaRPr lang="en-US" altLang="zh-CN" dirty="0">
              <a:latin typeface="Times New Roman" panose="02020603050405020304" pitchFamily="18" charset="0"/>
              <a:ea typeface="宋体" panose="02010600030101010101" pitchFamily="2" charset="-122"/>
            </a:endParaRPr>
          </a:p>
        </p:txBody>
      </p:sp>
      <p:sp>
        <p:nvSpPr>
          <p:cNvPr id="8499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流分析：应用静态程序分析技术给出动态时刻程序中变量的使用情况</a:t>
            </a:r>
            <a:endParaRPr lang="zh-CN" altLang="en-US" sz="2400" b="1" dirty="0">
              <a:ea typeface="宋体" panose="02010600030101010101" pitchFamily="2" charset="-122"/>
            </a:endParaRPr>
          </a:p>
          <a:p>
            <a:r>
              <a:rPr lang="zh-CN" altLang="en-US" sz="2400" b="1" dirty="0">
                <a:ea typeface="宋体" panose="02010600030101010101" pitchFamily="2" charset="-122"/>
              </a:rPr>
              <a:t>流分析的分类</a:t>
            </a:r>
            <a:endParaRPr lang="zh-CN" altLang="en-US" sz="2400" b="1" dirty="0">
              <a:ea typeface="宋体" panose="02010600030101010101" pitchFamily="2" charset="-122"/>
            </a:endParaRPr>
          </a:p>
          <a:p>
            <a:pPr lvl="1"/>
            <a:r>
              <a:rPr lang="zh-CN" altLang="en-US" sz="2200" b="1" dirty="0">
                <a:ea typeface="宋体" panose="02010600030101010101" pitchFamily="2" charset="-122"/>
              </a:rPr>
              <a:t>根据分析对象的不同</a:t>
            </a:r>
            <a:endParaRPr lang="zh-CN" altLang="en-US" sz="2200" b="1" dirty="0">
              <a:ea typeface="宋体" panose="02010600030101010101" pitchFamily="2" charset="-122"/>
            </a:endParaRPr>
          </a:p>
          <a:p>
            <a:pPr lvl="2"/>
            <a:r>
              <a:rPr lang="zh-CN" altLang="en-US" sz="2000" b="1" dirty="0">
                <a:ea typeface="宋体" panose="02010600030101010101" pitchFamily="2" charset="-122"/>
              </a:rPr>
              <a:t>控制流分析</a:t>
            </a:r>
            <a:endParaRPr lang="zh-CN" altLang="en-US" sz="2000" b="1" dirty="0">
              <a:ea typeface="宋体" panose="02010600030101010101" pitchFamily="2" charset="-122"/>
            </a:endParaRPr>
          </a:p>
          <a:p>
            <a:pPr lvl="2"/>
            <a:r>
              <a:rPr lang="zh-CN" altLang="en-US" sz="2000" b="1" dirty="0">
                <a:ea typeface="宋体" panose="02010600030101010101" pitchFamily="2" charset="-122"/>
              </a:rPr>
              <a:t>数据流分析</a:t>
            </a:r>
            <a:endParaRPr lang="zh-CN" altLang="en-US" sz="2000" b="1" dirty="0">
              <a:ea typeface="宋体" panose="02010600030101010101" pitchFamily="2" charset="-122"/>
            </a:endParaRPr>
          </a:p>
          <a:p>
            <a:pPr lvl="3"/>
            <a:r>
              <a:rPr lang="zh-CN" altLang="en-US" sz="1800" b="1" dirty="0">
                <a:ea typeface="宋体" panose="02010600030101010101" pitchFamily="2" charset="-122"/>
              </a:rPr>
              <a:t>标量分析</a:t>
            </a:r>
            <a:endParaRPr lang="zh-CN" altLang="en-US" sz="1800" b="1" dirty="0">
              <a:ea typeface="宋体" panose="02010600030101010101" pitchFamily="2" charset="-122"/>
            </a:endParaRPr>
          </a:p>
          <a:p>
            <a:pPr lvl="3"/>
            <a:r>
              <a:rPr lang="zh-CN" altLang="en-US" sz="1800" b="1" dirty="0">
                <a:ea typeface="宋体" panose="02010600030101010101" pitchFamily="2" charset="-122"/>
              </a:rPr>
              <a:t>向量分析</a:t>
            </a:r>
            <a:endParaRPr lang="zh-CN" altLang="en-US" sz="1800" b="1" dirty="0">
              <a:ea typeface="宋体" panose="02010600030101010101" pitchFamily="2" charset="-122"/>
            </a:endParaRPr>
          </a:p>
          <a:p>
            <a:pPr lvl="1"/>
            <a:r>
              <a:rPr lang="zh-CN" altLang="en-US" sz="2200" b="1" dirty="0">
                <a:ea typeface="宋体" panose="02010600030101010101" pitchFamily="2" charset="-122"/>
              </a:rPr>
              <a:t>根据分析范围的不同</a:t>
            </a:r>
            <a:endParaRPr lang="zh-CN" altLang="en-US" sz="2200" b="1" dirty="0">
              <a:ea typeface="宋体" panose="02010600030101010101" pitchFamily="2" charset="-122"/>
            </a:endParaRPr>
          </a:p>
          <a:p>
            <a:pPr lvl="2"/>
            <a:r>
              <a:rPr lang="zh-CN" altLang="en-US" sz="2000" b="1" dirty="0">
                <a:ea typeface="宋体" panose="02010600030101010101" pitchFamily="2" charset="-122"/>
              </a:rPr>
              <a:t>局部流分析</a:t>
            </a:r>
            <a:endParaRPr lang="zh-CN" altLang="en-US" sz="2000" b="1" dirty="0">
              <a:ea typeface="宋体" panose="02010600030101010101" pitchFamily="2" charset="-122"/>
            </a:endParaRPr>
          </a:p>
          <a:p>
            <a:pPr lvl="2"/>
            <a:r>
              <a:rPr lang="zh-CN" altLang="en-US" sz="2000" b="1" dirty="0">
                <a:ea typeface="宋体" panose="02010600030101010101" pitchFamily="2" charset="-122"/>
              </a:rPr>
              <a:t>过程内流分析</a:t>
            </a:r>
            <a:endParaRPr lang="zh-CN" altLang="en-US" sz="2000" b="1" dirty="0">
              <a:ea typeface="宋体" panose="02010600030101010101" pitchFamily="2" charset="-122"/>
            </a:endParaRPr>
          </a:p>
          <a:p>
            <a:pPr lvl="2"/>
            <a:r>
              <a:rPr lang="zh-CN" altLang="en-US" sz="2000" b="1" dirty="0">
                <a:ea typeface="宋体" panose="02010600030101010101" pitchFamily="2" charset="-122"/>
              </a:rPr>
              <a:t>过程间流分析</a:t>
            </a:r>
            <a:endParaRPr lang="zh-CN" altLang="en-US" sz="2000" b="1" dirty="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87043"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基本块及其优化</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控制流图及流分析</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跨越基本块的优化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基本块和流图</a:t>
            </a:r>
            <a:endParaRPr lang="zh-CN" altLang="en-US" dirty="0">
              <a:latin typeface="Times New Roman" panose="02020603050405020304" pitchFamily="18" charset="0"/>
              <a:ea typeface="宋体" panose="02010600030101010101" pitchFamily="2" charset="-122"/>
            </a:endParaRPr>
          </a:p>
        </p:txBody>
      </p:sp>
      <p:sp>
        <p:nvSpPr>
          <p:cNvPr id="76803" name="Rectangle 3"/>
          <p:cNvSpPr>
            <a:spLocks noGrp="1" noChangeArrowheads="1"/>
          </p:cNvSpPr>
          <p:nvPr>
            <p:ph idx="1"/>
          </p:nvPr>
        </p:nvSpPr>
        <p:spPr>
          <a:xfrm>
            <a:off x="990600" y="1371600"/>
            <a:ext cx="73914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采用图的方式表示中间代码，</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有助于生成更好的代码</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构造方法</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1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把中间代码划分成基本块（</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basic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block</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），每个基本块满足如下条件：</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14500" marR="0" lvl="3" indent="-342900" algn="l" defTabSz="914400" rtl="0" eaLnBrk="0" fontAlgn="base" latinLnBrk="0" hangingPunct="0">
              <a:lnSpc>
                <a:spcPct val="100000"/>
              </a:lnSpc>
              <a:spcBef>
                <a:spcPct val="20000"/>
              </a:spcBef>
              <a:spcAft>
                <a:spcPct val="0"/>
              </a:spcAft>
              <a:buClr>
                <a:srgbClr val="063DE8"/>
              </a:buClr>
              <a:buSzPct val="100000"/>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控制流只能从基本块的第一个指令进入</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14500" marR="0" lvl="3" indent="-342900" algn="l" defTabSz="914400" rtl="0" eaLnBrk="0" fontAlgn="base" latinLnBrk="0" hangingPunct="0">
              <a:lnSpc>
                <a:spcPct val="100000"/>
              </a:lnSpc>
              <a:spcBef>
                <a:spcPct val="20000"/>
              </a:spcBef>
              <a:spcAft>
                <a:spcPct val="0"/>
              </a:spcAft>
              <a:buClr>
                <a:srgbClr val="063DE8"/>
              </a:buClr>
              <a:buSzPct val="100000"/>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除了基本块的最后一条指令，控制流在离开基本块前不会停机或者跳转</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10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基本块形成了流图（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flow</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graph</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）的结点，流图的边指明了哪些基本块可能紧随一个基本块之后执行</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中断等程序行为可能打破基本块的上述约定</a:t>
            </a:r>
            <a:r>
              <a:rPr kumimoji="0" lang="en-US" altLang="zh-CN" sz="2200" b="1" i="0" u="none" strike="noStrike" kern="0" cap="none" spc="0" normalizeH="0" baseline="30000" noProof="0" dirty="0">
                <a:ln>
                  <a:noFill/>
                </a:ln>
                <a:solidFill>
                  <a:schemeClr val="tx1"/>
                </a:solidFill>
                <a:effectLst/>
                <a:uLnTx/>
                <a:uFillTx/>
                <a:latin typeface="+mn-lt"/>
                <a:ea typeface="宋体" panose="02010600030101010101" pitchFamily="2" charset="-122"/>
              </a:rPr>
              <a:t>1</a:t>
            </a:r>
            <a:endParaRPr kumimoji="0" lang="en-US" altLang="zh-CN" sz="2200" b="1" i="0" u="none" strike="noStrike" kern="0" cap="none" spc="0" normalizeH="0" baseline="3000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构造基本块和流图的目的是对代码进行优化</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如果中断正常返回，则中断本身的保护机制可以使程序正常执行下去，不影响正确性，但可能影响优化效果</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如果中断导致异常退出，优化的结果也不会有错，程序本身非正常终止 </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基本块（１）</a:t>
            </a:r>
            <a:endParaRPr lang="zh-CN" altLang="en-US" dirty="0">
              <a:latin typeface="Times New Roman" panose="02020603050405020304" pitchFamily="18" charset="0"/>
              <a:ea typeface="宋体" panose="02010600030101010101" pitchFamily="2" charset="-122"/>
            </a:endParaRPr>
          </a:p>
        </p:txBody>
      </p:sp>
      <p:sp>
        <p:nvSpPr>
          <p:cNvPr id="91139" name="Rectangle 3"/>
          <p:cNvSpPr>
            <a:spLocks noGrp="1"/>
          </p:cNvSpPr>
          <p:nvPr>
            <p:ph idx="1"/>
          </p:nvPr>
        </p:nvSpPr>
        <p:spPr>
          <a:xfrm>
            <a:off x="762000" y="1371600"/>
            <a:ext cx="7697788" cy="4876800"/>
          </a:xfrm>
        </p:spPr>
        <p:txBody>
          <a:bodyPr vert="horz" wrap="square" lIns="92075" tIns="46038" rIns="92075" bIns="46038" anchor="t" anchorCtr="0"/>
          <a:p>
            <a:r>
              <a:rPr lang="zh-CN" altLang="en-US" sz="2400" b="1" dirty="0">
                <a:ea typeface="宋体" panose="02010600030101010101" pitchFamily="2" charset="-122"/>
              </a:rPr>
              <a:t>基本块：</a:t>
            </a:r>
            <a:endParaRPr lang="en-US" altLang="zh-CN" sz="2400" b="1" dirty="0">
              <a:ea typeface="宋体" panose="02010600030101010101" pitchFamily="2" charset="-122"/>
            </a:endParaRPr>
          </a:p>
          <a:p>
            <a:pPr lvl="1"/>
            <a:r>
              <a:rPr lang="zh-CN" altLang="en-US" sz="2200" b="1" dirty="0">
                <a:ea typeface="宋体" panose="02010600030101010101" pitchFamily="2" charset="-122"/>
              </a:rPr>
              <a:t>定义：基本块是程序中最大限度顺序执行的语句序列，其中只有一个入口和出口，入口是其第一个语句，出口是其最后一个语句</a:t>
            </a:r>
            <a:endParaRPr lang="en-US" altLang="zh-CN" sz="2200" b="1" dirty="0">
              <a:ea typeface="宋体" panose="02010600030101010101" pitchFamily="2" charset="-122"/>
            </a:endParaRPr>
          </a:p>
          <a:p>
            <a:pPr lvl="1"/>
            <a:r>
              <a:rPr lang="zh-CN" altLang="en-US" sz="2200" b="1" dirty="0">
                <a:ea typeface="宋体" panose="02010600030101010101" pitchFamily="2" charset="-122"/>
              </a:rPr>
              <a:t>基本块的入口语句可能是</a:t>
            </a:r>
            <a:endParaRPr lang="en-US" altLang="zh-CN" sz="2200" b="1" dirty="0">
              <a:ea typeface="宋体" panose="02010600030101010101" pitchFamily="2" charset="-122"/>
            </a:endParaRPr>
          </a:p>
          <a:p>
            <a:pPr lvl="2"/>
            <a:r>
              <a:rPr lang="zh-CN" altLang="en-US" sz="2000" b="1" dirty="0">
                <a:ea typeface="宋体" panose="02010600030101010101" pitchFamily="2" charset="-122"/>
              </a:rPr>
              <a:t>程序的第一个语句</a:t>
            </a:r>
            <a:endParaRPr lang="en-US" altLang="zh-CN" sz="2000" b="1" dirty="0">
              <a:ea typeface="宋体" panose="02010600030101010101" pitchFamily="2" charset="-122"/>
            </a:endParaRPr>
          </a:p>
          <a:p>
            <a:pPr lvl="2"/>
            <a:r>
              <a:rPr lang="zh-CN" altLang="en-US" sz="2000" b="1" dirty="0">
                <a:ea typeface="宋体" panose="02010600030101010101" pitchFamily="2" charset="-122"/>
              </a:rPr>
              <a:t>跳转的目标语句</a:t>
            </a:r>
            <a:endParaRPr lang="en-US" altLang="zh-CN" sz="2000" b="1" dirty="0">
              <a:ea typeface="宋体" panose="02010600030101010101" pitchFamily="2" charset="-122"/>
            </a:endParaRPr>
          </a:p>
          <a:p>
            <a:pPr lvl="2"/>
            <a:r>
              <a:rPr lang="zh-CN" altLang="en-US" sz="2000" b="1" dirty="0">
                <a:ea typeface="宋体" panose="02010600030101010101" pitchFamily="2" charset="-122"/>
              </a:rPr>
              <a:t>条件跳转的下一条语句</a:t>
            </a:r>
            <a:endParaRPr lang="en-US" altLang="zh-CN" sz="2000" b="1" dirty="0">
              <a:ea typeface="宋体" panose="02010600030101010101" pitchFamily="2" charset="-122"/>
            </a:endParaRPr>
          </a:p>
          <a:p>
            <a:pPr lvl="1"/>
            <a:r>
              <a:rPr lang="zh-CN" altLang="en-US" sz="2200" b="1" dirty="0">
                <a:ea typeface="宋体" panose="02010600030101010101" pitchFamily="2" charset="-122"/>
              </a:rPr>
              <a:t>基本块的结束语句可能是</a:t>
            </a:r>
            <a:endParaRPr lang="en-US" altLang="zh-CN" sz="2200" b="1" dirty="0">
              <a:ea typeface="宋体" panose="02010600030101010101" pitchFamily="2" charset="-122"/>
            </a:endParaRPr>
          </a:p>
          <a:p>
            <a:pPr lvl="2"/>
            <a:r>
              <a:rPr lang="zh-CN" altLang="en-US" sz="2000" b="1" dirty="0">
                <a:ea typeface="宋体" panose="02010600030101010101" pitchFamily="2" charset="-122"/>
              </a:rPr>
              <a:t>停机语句</a:t>
            </a:r>
            <a:endParaRPr lang="en-US" altLang="zh-CN" sz="2000" b="1" dirty="0">
              <a:ea typeface="宋体" panose="02010600030101010101" pitchFamily="2" charset="-122"/>
            </a:endParaRPr>
          </a:p>
          <a:p>
            <a:pPr lvl="2"/>
            <a:r>
              <a:rPr lang="zh-CN" altLang="en-US" sz="2000" b="1" dirty="0">
                <a:ea typeface="宋体" panose="02010600030101010101" pitchFamily="2" charset="-122"/>
              </a:rPr>
              <a:t>跳转语句</a:t>
            </a:r>
            <a:endParaRPr lang="en-US" altLang="zh-CN" sz="2000" b="1" dirty="0">
              <a:ea typeface="宋体" panose="02010600030101010101" pitchFamily="2" charset="-122"/>
            </a:endParaRPr>
          </a:p>
          <a:p>
            <a:pPr lvl="2"/>
            <a:r>
              <a:rPr lang="zh-CN" altLang="en-US" sz="2000" b="1" dirty="0">
                <a:ea typeface="宋体" panose="02010600030101010101" pitchFamily="2" charset="-122"/>
              </a:rPr>
              <a:t>跳转目标语句的前一个语句（词法序）</a:t>
            </a:r>
            <a:endParaRPr lang="zh-CN" altLang="en-US" sz="2000" b="1" dirty="0">
              <a:ea typeface="宋体" panose="02010600030101010101" pitchFamily="2"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3187" name="Rectangle 3"/>
          <p:cNvSpPr>
            <a:spLocks noGrp="1"/>
          </p:cNvSpPr>
          <p:nvPr>
            <p:ph idx="1"/>
          </p:nvPr>
        </p:nvSpPr>
        <p:spPr>
          <a:xfrm>
            <a:off x="762000" y="1371600"/>
            <a:ext cx="7697788" cy="4876800"/>
          </a:xfrm>
        </p:spPr>
        <p:txBody>
          <a:bodyPr vert="horz" wrap="square" lIns="92075" tIns="46038" rIns="92075" bIns="46038" anchor="t" anchorCtr="0"/>
          <a:p>
            <a:r>
              <a:rPr lang="zh-CN" altLang="en-US" sz="2400" b="1" dirty="0">
                <a:ea typeface="宋体" panose="02010600030101010101" pitchFamily="2" charset="-122"/>
              </a:rPr>
              <a:t>基本块（续）</a:t>
            </a:r>
            <a:endParaRPr lang="en-US" altLang="zh-CN" sz="2400" b="1" dirty="0">
              <a:ea typeface="宋体" panose="02010600030101010101" pitchFamily="2" charset="-122"/>
            </a:endParaRPr>
          </a:p>
          <a:p>
            <a:pPr lvl="1"/>
            <a:r>
              <a:rPr lang="zh-CN" altLang="en-US" sz="2200" b="1" dirty="0">
                <a:ea typeface="宋体" panose="02010600030101010101" pitchFamily="2" charset="-122"/>
              </a:rPr>
              <a:t>构造方法</a:t>
            </a:r>
            <a:endParaRPr lang="en-US" altLang="zh-CN" sz="2200" b="1" dirty="0">
              <a:ea typeface="宋体" panose="02010600030101010101" pitchFamily="2" charset="-122"/>
            </a:endParaRPr>
          </a:p>
          <a:p>
            <a:pPr lvl="2"/>
            <a:r>
              <a:rPr lang="zh-CN" altLang="en-US" sz="2000" b="1" dirty="0">
                <a:ea typeface="宋体" panose="02010600030101010101" pitchFamily="2" charset="-122"/>
              </a:rPr>
              <a:t>输入：一个三地址指令序列</a:t>
            </a:r>
            <a:endParaRPr lang="en-US" altLang="zh-CN" sz="2000" b="1" dirty="0">
              <a:ea typeface="宋体" panose="02010600030101010101" pitchFamily="2" charset="-122"/>
            </a:endParaRPr>
          </a:p>
          <a:p>
            <a:pPr lvl="2"/>
            <a:r>
              <a:rPr lang="zh-CN" altLang="en-US" sz="2000" b="1" dirty="0">
                <a:ea typeface="宋体" panose="02010600030101010101" pitchFamily="2" charset="-122"/>
              </a:rPr>
              <a:t>输出：与之对应的基本块列表，每个指令恰好被分到一个基本块中</a:t>
            </a:r>
            <a:endParaRPr lang="en-US" altLang="zh-CN" sz="2000" b="1" dirty="0">
              <a:ea typeface="宋体" panose="02010600030101010101" pitchFamily="2" charset="-122"/>
            </a:endParaRPr>
          </a:p>
          <a:p>
            <a:pPr lvl="2"/>
            <a:r>
              <a:rPr lang="zh-CN" altLang="en-US" sz="2000" b="1" dirty="0">
                <a:ea typeface="宋体" panose="02010600030101010101" pitchFamily="2" charset="-122"/>
              </a:rPr>
              <a:t>方法：</a:t>
            </a:r>
            <a:endParaRPr lang="en-US" altLang="zh-CN" sz="2000" b="1" dirty="0">
              <a:ea typeface="宋体" panose="02010600030101010101" pitchFamily="2" charset="-122"/>
            </a:endParaRPr>
          </a:p>
          <a:p>
            <a:pPr lvl="3"/>
            <a:r>
              <a:rPr lang="zh-CN" altLang="en-US" sz="1800" b="1" dirty="0">
                <a:ea typeface="宋体" panose="02010600030101010101" pitchFamily="2" charset="-122"/>
              </a:rPr>
              <a:t>首先，确定中间代码序列中哪些指令是首指令（</a:t>
            </a:r>
            <a:r>
              <a:rPr lang="en-US" altLang="zh-CN" sz="1800" b="1" dirty="0">
                <a:ea typeface="宋体" panose="02010600030101010101" pitchFamily="2" charset="-122"/>
              </a:rPr>
              <a:t>leader</a:t>
            </a:r>
            <a:r>
              <a:rPr lang="zh-CN" altLang="en-US" sz="1800" b="1" dirty="0">
                <a:ea typeface="宋体" panose="02010600030101010101" pitchFamily="2" charset="-122"/>
              </a:rPr>
              <a:t>，入口指令，基本块的第一条指令）</a:t>
            </a:r>
            <a:endParaRPr lang="en-US" altLang="zh-CN" sz="1800" b="1" dirty="0">
              <a:ea typeface="宋体" panose="02010600030101010101" pitchFamily="2" charset="-122"/>
            </a:endParaRPr>
          </a:p>
          <a:p>
            <a:pPr marL="2171700" lvl="4" indent="-342900">
              <a:buFont typeface="Book Antiqua" panose="02040602050305030304" pitchFamily="18" charset="0"/>
              <a:buAutoNum type="arabicPeriod"/>
            </a:pPr>
            <a:r>
              <a:rPr lang="zh-CN" altLang="en-US" sz="1600" b="1" dirty="0">
                <a:ea typeface="宋体" panose="02010600030101010101" pitchFamily="2" charset="-122"/>
              </a:rPr>
              <a:t>中间代码的第一个三地址指令是一个首指令</a:t>
            </a:r>
            <a:endParaRPr lang="en-US" altLang="zh-CN" sz="1600" b="1" dirty="0">
              <a:ea typeface="宋体" panose="02010600030101010101" pitchFamily="2" charset="-122"/>
            </a:endParaRPr>
          </a:p>
          <a:p>
            <a:pPr marL="2171700" lvl="4" indent="-342900">
              <a:buFont typeface="Book Antiqua" panose="02040602050305030304" pitchFamily="18" charset="0"/>
              <a:buAutoNum type="arabicPeriod"/>
            </a:pPr>
            <a:r>
              <a:rPr lang="zh-CN" altLang="en-US" sz="1600" b="1" dirty="0">
                <a:ea typeface="宋体" panose="02010600030101010101" pitchFamily="2" charset="-122"/>
              </a:rPr>
              <a:t>任意一个条件或无条件转移指令的目标指令是一个首指令</a:t>
            </a:r>
            <a:endParaRPr lang="en-US" altLang="zh-CN" sz="1600" b="1" dirty="0">
              <a:ea typeface="宋体" panose="02010600030101010101" pitchFamily="2" charset="-122"/>
            </a:endParaRPr>
          </a:p>
          <a:p>
            <a:pPr marL="2171700" lvl="4" indent="-342900">
              <a:buFont typeface="Book Antiqua" panose="02040602050305030304" pitchFamily="18" charset="0"/>
              <a:buAutoNum type="arabicPeriod"/>
            </a:pPr>
            <a:r>
              <a:rPr lang="zh-CN" altLang="en-US" sz="1600" b="1" dirty="0">
                <a:ea typeface="宋体" panose="02010600030101010101" pitchFamily="2" charset="-122"/>
              </a:rPr>
              <a:t>紧跟在一个条件或无条件转移指令之后的指令是一个首指令</a:t>
            </a:r>
            <a:endParaRPr lang="en-US" altLang="zh-CN" sz="1600" b="1" dirty="0">
              <a:ea typeface="宋体" panose="02010600030101010101" pitchFamily="2" charset="-122"/>
            </a:endParaRPr>
          </a:p>
          <a:p>
            <a:pPr lvl="3"/>
            <a:r>
              <a:rPr lang="zh-CN" altLang="en-US" sz="1800" b="1" dirty="0">
                <a:ea typeface="宋体" panose="02010600030101010101" pitchFamily="2" charset="-122"/>
              </a:rPr>
              <a:t>然后，每个首指令对应的基本块包括了从它自己开始，直到下一个首指令（不含）或者中间程序的结尾指令之间的所有指令</a:t>
            </a:r>
            <a:endParaRPr lang="en-US" altLang="zh-CN" sz="1800" b="1" dirty="0">
              <a:ea typeface="宋体" panose="02010600030101010101" pitchFamily="2" charset="-122"/>
            </a:endParaRPr>
          </a:p>
          <a:p>
            <a:pPr lvl="1"/>
            <a:r>
              <a:rPr lang="zh-CN" altLang="en-US" sz="2200" b="1" dirty="0">
                <a:ea typeface="宋体" panose="02010600030101010101" pitchFamily="2" charset="-122"/>
              </a:rPr>
              <a:t>一个特殊情况：过程调用语句作为一个新的基本块的开始，甚至独立成为一个基本块</a:t>
            </a:r>
            <a:endParaRPr lang="en-US" altLang="zh-CN" sz="2200" b="1" dirty="0">
              <a:ea typeface="宋体" panose="02010600030101010101"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5234" name="Picture 2"/>
          <p:cNvPicPr>
            <a:picLocks noChangeAspect="1"/>
          </p:cNvPicPr>
          <p:nvPr/>
        </p:nvPicPr>
        <p:blipFill>
          <a:blip r:embed="rId1"/>
          <a:stretch>
            <a:fillRect/>
          </a:stretch>
        </p:blipFill>
        <p:spPr>
          <a:xfrm>
            <a:off x="2692400" y="1371600"/>
            <a:ext cx="6451600" cy="5370513"/>
          </a:xfrm>
          <a:prstGeom prst="rect">
            <a:avLst/>
          </a:prstGeom>
          <a:noFill/>
          <a:ln w="9525">
            <a:noFill/>
          </a:ln>
        </p:spPr>
      </p:pic>
      <p:sp>
        <p:nvSpPr>
          <p:cNvPr id="95235"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95236" name="Rectangle 3"/>
          <p:cNvSpPr>
            <a:spLocks noGrp="1"/>
          </p:cNvSpPr>
          <p:nvPr>
            <p:ph idx="1"/>
          </p:nvPr>
        </p:nvSpPr>
        <p:spPr>
          <a:xfrm>
            <a:off x="179388" y="1371600"/>
            <a:ext cx="4176712" cy="3641725"/>
          </a:xfrm>
        </p:spPr>
        <p:txBody>
          <a:bodyPr vert="horz" wrap="square" lIns="92075" tIns="46038" rIns="92075" bIns="46038" anchor="t" anchorCtr="0"/>
          <a:p>
            <a:r>
              <a:rPr lang="zh-CN" altLang="en-US" sz="2400" b="1" dirty="0">
                <a:ea typeface="宋体" panose="02010600030101010101" pitchFamily="2" charset="-122"/>
              </a:rPr>
              <a:t>例子</a:t>
            </a:r>
            <a:r>
              <a:rPr lang="en-US" altLang="zh-CN" sz="2400" b="1" dirty="0">
                <a:ea typeface="宋体" panose="02010600030101010101" pitchFamily="2" charset="-122"/>
              </a:rPr>
              <a:t>8.6</a:t>
            </a:r>
            <a:endParaRPr lang="en-US" altLang="zh-CN" sz="2400" b="1" dirty="0">
              <a:ea typeface="宋体" panose="02010600030101010101" pitchFamily="2" charset="-122"/>
            </a:endParaRPr>
          </a:p>
          <a:p>
            <a:pPr lvl="1"/>
            <a:r>
              <a:rPr lang="zh-CN" altLang="en-US" sz="2200" b="1" dirty="0">
                <a:ea typeface="宋体" panose="02010600030101010101" pitchFamily="2" charset="-122"/>
              </a:rPr>
              <a:t>图</a:t>
            </a:r>
            <a:r>
              <a:rPr lang="en-US" altLang="zh-CN" sz="2200" b="1" dirty="0">
                <a:ea typeface="宋体" panose="02010600030101010101" pitchFamily="2" charset="-122"/>
              </a:rPr>
              <a:t>8-7</a:t>
            </a:r>
            <a:r>
              <a:rPr lang="zh-CN" altLang="en-US" sz="2200" b="1" dirty="0">
                <a:ea typeface="宋体" panose="02010600030101010101" pitchFamily="2" charset="-122"/>
              </a:rPr>
              <a:t>的首指令包括</a:t>
            </a:r>
            <a:r>
              <a:rPr lang="en-US" altLang="zh-CN" sz="2200" b="1" dirty="0">
                <a:ea typeface="宋体" panose="02010600030101010101" pitchFamily="2" charset="-122"/>
              </a:rPr>
              <a:t>1</a:t>
            </a:r>
            <a:r>
              <a:rPr lang="zh-CN" altLang="en-US" sz="2200" b="1" dirty="0">
                <a:ea typeface="宋体" panose="02010600030101010101" pitchFamily="2" charset="-122"/>
              </a:rPr>
              <a:t>、</a:t>
            </a:r>
            <a:r>
              <a:rPr lang="en-US" altLang="zh-CN" sz="2200" b="1" dirty="0">
                <a:ea typeface="宋体" panose="02010600030101010101" pitchFamily="2" charset="-122"/>
              </a:rPr>
              <a:t>2</a:t>
            </a:r>
            <a:r>
              <a:rPr lang="zh-CN" altLang="en-US" sz="2200" b="1" dirty="0">
                <a:ea typeface="宋体" panose="02010600030101010101" pitchFamily="2" charset="-122"/>
              </a:rPr>
              <a:t>、</a:t>
            </a:r>
            <a:r>
              <a:rPr lang="en-US" altLang="zh-CN" sz="2200" b="1" dirty="0">
                <a:ea typeface="宋体" panose="02010600030101010101" pitchFamily="2" charset="-122"/>
              </a:rPr>
              <a:t>3</a:t>
            </a:r>
            <a:r>
              <a:rPr lang="zh-CN" altLang="en-US" sz="2200" b="1" dirty="0">
                <a:ea typeface="宋体" panose="02010600030101010101" pitchFamily="2" charset="-122"/>
              </a:rPr>
              <a:t>、</a:t>
            </a:r>
            <a:r>
              <a:rPr lang="en-US" altLang="zh-CN" sz="2200" b="1" dirty="0">
                <a:ea typeface="宋体" panose="02010600030101010101" pitchFamily="2" charset="-122"/>
              </a:rPr>
              <a:t>10</a:t>
            </a:r>
            <a:r>
              <a:rPr lang="zh-CN" altLang="en-US" sz="2200" b="1" dirty="0">
                <a:ea typeface="宋体" panose="02010600030101010101" pitchFamily="2" charset="-122"/>
              </a:rPr>
              <a:t>、</a:t>
            </a:r>
            <a:r>
              <a:rPr lang="en-US" altLang="zh-CN" sz="2200" b="1" dirty="0">
                <a:ea typeface="宋体" panose="02010600030101010101" pitchFamily="2" charset="-122"/>
              </a:rPr>
              <a:t>12</a:t>
            </a:r>
            <a:r>
              <a:rPr lang="zh-CN" altLang="en-US" sz="2200" b="1" dirty="0">
                <a:ea typeface="宋体" panose="02010600030101010101" pitchFamily="2" charset="-122"/>
              </a:rPr>
              <a:t>、</a:t>
            </a:r>
            <a:r>
              <a:rPr lang="en-US" altLang="zh-CN" sz="2200" b="1" dirty="0">
                <a:ea typeface="宋体" panose="02010600030101010101" pitchFamily="2" charset="-122"/>
              </a:rPr>
              <a:t>13</a:t>
            </a:r>
            <a:endParaRPr lang="en-US" altLang="zh-CN" sz="2200" b="1" dirty="0">
              <a:ea typeface="宋体" panose="02010600030101010101" pitchFamily="2" charset="-122"/>
            </a:endParaRPr>
          </a:p>
          <a:p>
            <a:pPr lvl="1"/>
            <a:r>
              <a:rPr lang="zh-CN" altLang="en-US" sz="2200" b="1" dirty="0">
                <a:ea typeface="宋体" panose="02010600030101010101" pitchFamily="2" charset="-122"/>
              </a:rPr>
              <a:t>对应的基本块有</a:t>
            </a:r>
            <a:r>
              <a:rPr lang="en-US" altLang="zh-CN" sz="2200" b="1" dirty="0">
                <a:ea typeface="宋体" panose="02010600030101010101" pitchFamily="2" charset="-122"/>
              </a:rPr>
              <a:t>{1}</a:t>
            </a:r>
            <a:r>
              <a:rPr lang="zh-CN" altLang="en-US" sz="2200" b="1" dirty="0">
                <a:ea typeface="宋体" panose="02010600030101010101" pitchFamily="2" charset="-122"/>
              </a:rPr>
              <a:t>、</a:t>
            </a:r>
            <a:r>
              <a:rPr lang="en-US" altLang="zh-CN" sz="2200" b="1" dirty="0">
                <a:ea typeface="宋体" panose="02010600030101010101" pitchFamily="2" charset="-122"/>
              </a:rPr>
              <a:t>{2}</a:t>
            </a:r>
            <a:r>
              <a:rPr lang="zh-CN" altLang="en-US" sz="2200" b="1" dirty="0">
                <a:ea typeface="宋体" panose="02010600030101010101" pitchFamily="2" charset="-122"/>
              </a:rPr>
              <a:t>、</a:t>
            </a:r>
            <a:r>
              <a:rPr lang="en-US" altLang="zh-CN" sz="2200" b="1" dirty="0">
                <a:ea typeface="宋体" panose="02010600030101010101" pitchFamily="2" charset="-122"/>
              </a:rPr>
              <a:t>{3</a:t>
            </a:r>
            <a:r>
              <a:rPr lang="zh-CN" altLang="en-US" sz="2200" b="1" dirty="0">
                <a:ea typeface="宋体" panose="02010600030101010101" pitchFamily="2" charset="-122"/>
              </a:rPr>
              <a:t>，</a:t>
            </a:r>
            <a:r>
              <a:rPr lang="en-US" altLang="zh-CN" sz="2200" b="1" dirty="0">
                <a:ea typeface="宋体" panose="02010600030101010101" pitchFamily="2" charset="-122"/>
              </a:rPr>
              <a:t>4</a:t>
            </a:r>
            <a:r>
              <a:rPr lang="zh-CN" altLang="en-US" sz="2200" b="1" dirty="0">
                <a:ea typeface="宋体" panose="02010600030101010101" pitchFamily="2" charset="-122"/>
              </a:rPr>
              <a:t>，</a:t>
            </a:r>
            <a:r>
              <a:rPr lang="en-US" altLang="zh-CN" sz="2200" b="1" dirty="0">
                <a:ea typeface="宋体" panose="02010600030101010101" pitchFamily="2" charset="-122"/>
              </a:rPr>
              <a:t>5</a:t>
            </a:r>
            <a:r>
              <a:rPr lang="zh-CN" altLang="en-US" sz="2200" b="1" dirty="0">
                <a:ea typeface="宋体" panose="02010600030101010101" pitchFamily="2" charset="-122"/>
              </a:rPr>
              <a:t>，</a:t>
            </a:r>
            <a:r>
              <a:rPr lang="en-US" altLang="zh-CN" sz="2200" b="1" dirty="0">
                <a:ea typeface="宋体" panose="02010600030101010101" pitchFamily="2" charset="-122"/>
              </a:rPr>
              <a:t>6</a:t>
            </a:r>
            <a:r>
              <a:rPr lang="zh-CN" altLang="en-US" sz="2200" b="1" dirty="0">
                <a:ea typeface="宋体" panose="02010600030101010101" pitchFamily="2" charset="-122"/>
              </a:rPr>
              <a:t>，</a:t>
            </a:r>
            <a:r>
              <a:rPr lang="en-US" altLang="zh-CN" sz="2200" b="1" dirty="0">
                <a:ea typeface="宋体" panose="02010600030101010101" pitchFamily="2" charset="-122"/>
              </a:rPr>
              <a:t>7</a:t>
            </a:r>
            <a:r>
              <a:rPr lang="zh-CN" altLang="en-US" sz="2200" b="1" dirty="0">
                <a:ea typeface="宋体" panose="02010600030101010101" pitchFamily="2" charset="-122"/>
              </a:rPr>
              <a:t>，</a:t>
            </a:r>
            <a:r>
              <a:rPr lang="en-US" altLang="zh-CN" sz="2200" b="1" dirty="0">
                <a:ea typeface="宋体" panose="02010600030101010101" pitchFamily="2" charset="-122"/>
              </a:rPr>
              <a:t>8</a:t>
            </a:r>
            <a:r>
              <a:rPr lang="zh-CN" altLang="en-US" sz="2200" b="1" dirty="0">
                <a:ea typeface="宋体" panose="02010600030101010101" pitchFamily="2" charset="-122"/>
              </a:rPr>
              <a:t>，</a:t>
            </a:r>
            <a:r>
              <a:rPr lang="en-US" altLang="zh-CN" sz="2200" b="1" dirty="0">
                <a:ea typeface="宋体" panose="02010600030101010101" pitchFamily="2" charset="-122"/>
              </a:rPr>
              <a:t>9}</a:t>
            </a:r>
            <a:r>
              <a:rPr lang="zh-CN" altLang="en-US" sz="2200" b="1" dirty="0">
                <a:ea typeface="宋体" panose="02010600030101010101" pitchFamily="2" charset="-122"/>
              </a:rPr>
              <a:t>、</a:t>
            </a:r>
            <a:r>
              <a:rPr lang="en-US" altLang="zh-CN" sz="2200" b="1" dirty="0">
                <a:ea typeface="宋体" panose="02010600030101010101" pitchFamily="2" charset="-122"/>
              </a:rPr>
              <a:t>{10</a:t>
            </a:r>
            <a:r>
              <a:rPr lang="zh-CN" altLang="en-US" sz="2200" b="1" dirty="0">
                <a:ea typeface="宋体" panose="02010600030101010101" pitchFamily="2" charset="-122"/>
              </a:rPr>
              <a:t>，</a:t>
            </a:r>
            <a:r>
              <a:rPr lang="en-US" altLang="zh-CN" sz="2200" b="1" dirty="0">
                <a:ea typeface="宋体" panose="02010600030101010101" pitchFamily="2" charset="-122"/>
              </a:rPr>
              <a:t>11}</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12}</a:t>
            </a:r>
            <a:r>
              <a:rPr lang="zh-CN" altLang="en-US" sz="2200" b="1" dirty="0">
                <a:ea typeface="宋体" panose="02010600030101010101" pitchFamily="2" charset="-122"/>
              </a:rPr>
              <a:t>、 </a:t>
            </a:r>
            <a:r>
              <a:rPr lang="en-US" altLang="zh-CN" sz="2200" b="1" dirty="0">
                <a:ea typeface="宋体" panose="02010600030101010101" pitchFamily="2" charset="-122"/>
              </a:rPr>
              <a:t>{13</a:t>
            </a:r>
            <a:r>
              <a:rPr lang="zh-CN" altLang="en-US" sz="2200" b="1" dirty="0">
                <a:ea typeface="宋体" panose="02010600030101010101" pitchFamily="2" charset="-122"/>
              </a:rPr>
              <a:t>、</a:t>
            </a:r>
            <a:r>
              <a:rPr lang="en-US" altLang="zh-CN" sz="2200" b="1" dirty="0">
                <a:ea typeface="宋体" panose="02010600030101010101" pitchFamily="2" charset="-122"/>
              </a:rPr>
              <a:t>14</a:t>
            </a:r>
            <a:r>
              <a:rPr lang="zh-CN" altLang="en-US" sz="2200" b="1" dirty="0">
                <a:ea typeface="宋体" panose="02010600030101010101" pitchFamily="2" charset="-122"/>
              </a:rPr>
              <a:t>、</a:t>
            </a:r>
            <a:r>
              <a:rPr lang="en-US" altLang="zh-CN" sz="2200" b="1" dirty="0">
                <a:ea typeface="宋体" panose="02010600030101010101" pitchFamily="2" charset="-122"/>
              </a:rPr>
              <a:t>15</a:t>
            </a:r>
            <a:r>
              <a:rPr lang="zh-CN" altLang="en-US" sz="2200" b="1" dirty="0">
                <a:ea typeface="宋体" panose="02010600030101010101" pitchFamily="2" charset="-122"/>
              </a:rPr>
              <a:t>、</a:t>
            </a:r>
            <a:r>
              <a:rPr lang="en-US" altLang="zh-CN" sz="2200" b="1" dirty="0">
                <a:ea typeface="宋体" panose="02010600030101010101" pitchFamily="2" charset="-122"/>
              </a:rPr>
              <a:t>16</a:t>
            </a:r>
            <a:r>
              <a:rPr lang="zh-CN" altLang="en-US" sz="2200" b="1" dirty="0">
                <a:ea typeface="宋体" panose="02010600030101010101" pitchFamily="2" charset="-122"/>
              </a:rPr>
              <a:t>、</a:t>
            </a:r>
            <a:r>
              <a:rPr lang="en-US" altLang="zh-CN" sz="2200" b="1" dirty="0">
                <a:ea typeface="宋体" panose="02010600030101010101" pitchFamily="2" charset="-122"/>
              </a:rPr>
              <a:t>17}</a:t>
            </a:r>
            <a:endParaRPr lang="en-US" altLang="zh-CN" sz="2200" b="1" dirty="0">
              <a:ea typeface="宋体" panose="02010600030101010101" pitchFamily="2" charset="-122"/>
            </a:endParaRPr>
          </a:p>
        </p:txBody>
      </p:sp>
      <p:pic>
        <p:nvPicPr>
          <p:cNvPr id="95237" name="Picture 2"/>
          <p:cNvPicPr>
            <a:picLocks noChangeAspect="1"/>
          </p:cNvPicPr>
          <p:nvPr/>
        </p:nvPicPr>
        <p:blipFill>
          <a:blip r:embed="rId2"/>
          <a:stretch>
            <a:fillRect/>
          </a:stretch>
        </p:blipFill>
        <p:spPr>
          <a:xfrm>
            <a:off x="395288" y="4076700"/>
            <a:ext cx="4105275" cy="2705100"/>
          </a:xfrm>
          <a:prstGeom prst="rect">
            <a:avLst/>
          </a:prstGeom>
          <a:noFill/>
          <a:ln w="9525">
            <a:noFill/>
          </a:ln>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7282" name="Picture 2"/>
          <p:cNvPicPr>
            <a:picLocks noChangeAspect="1"/>
          </p:cNvPicPr>
          <p:nvPr/>
        </p:nvPicPr>
        <p:blipFill>
          <a:blip r:embed="rId1"/>
          <a:stretch>
            <a:fillRect/>
          </a:stretch>
        </p:blipFill>
        <p:spPr>
          <a:xfrm>
            <a:off x="2339975" y="115888"/>
            <a:ext cx="5024438" cy="6437312"/>
          </a:xfrm>
          <a:prstGeom prst="rect">
            <a:avLst/>
          </a:prstGeom>
          <a:noFill/>
          <a:ln w="9525">
            <a:noFill/>
          </a:ln>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后续使用信息（1）</a:t>
            </a:r>
            <a:endParaRPr lang="zh-CN" altLang="en-US" dirty="0">
              <a:latin typeface="Times New Roman" panose="02020603050405020304" pitchFamily="18" charset="0"/>
              <a:ea typeface="宋体" panose="02010600030101010101" pitchFamily="2" charset="-122"/>
            </a:endParaRPr>
          </a:p>
        </p:txBody>
      </p:sp>
      <p:sp>
        <p:nvSpPr>
          <p:cNvPr id="98307" name="Rectangle 3"/>
          <p:cNvSpPr>
            <a:spLocks noGrp="1"/>
          </p:cNvSpPr>
          <p:nvPr>
            <p:ph idx="1"/>
          </p:nvPr>
        </p:nvSpPr>
        <p:spPr>
          <a:xfrm>
            <a:off x="990600" y="1371600"/>
            <a:ext cx="7467600" cy="4876800"/>
          </a:xfrm>
        </p:spPr>
        <p:txBody>
          <a:bodyPr vert="horz" wrap="square" lIns="92075" tIns="46038" rIns="92075" bIns="46038" anchor="t" anchorCtr="0"/>
          <a:p>
            <a:pPr marL="495300" indent="-495300">
              <a:lnSpc>
                <a:spcPct val="90000"/>
              </a:lnSpc>
            </a:pPr>
            <a:r>
              <a:rPr lang="zh-CN" altLang="en-US" sz="2400" b="1" dirty="0">
                <a:ea typeface="宋体" panose="02010600030101010101" pitchFamily="2" charset="-122"/>
              </a:rPr>
              <a:t>下次不再引用意味着优化的机会</a:t>
            </a:r>
            <a:endParaRPr lang="zh-CN" altLang="en-US"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寄存器优化</a:t>
            </a:r>
            <a:endParaRPr lang="zh-CN" altLang="en-US" sz="22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临时名字存储单元的指派</a:t>
            </a:r>
            <a:endParaRPr lang="zh-CN" altLang="en-US" sz="2200" b="1" dirty="0">
              <a:ea typeface="宋体" panose="02010600030101010101" pitchFamily="2" charset="-122"/>
            </a:endParaRPr>
          </a:p>
          <a:p>
            <a:pPr marL="495300" indent="-495300">
              <a:lnSpc>
                <a:spcPct val="90000"/>
              </a:lnSpc>
            </a:pPr>
            <a:r>
              <a:rPr lang="zh-CN" altLang="en-US" sz="2400" b="1" dirty="0">
                <a:ea typeface="宋体" panose="02010600030101010101" pitchFamily="2" charset="-122"/>
              </a:rPr>
              <a:t>计算后续使用信息</a:t>
            </a:r>
            <a:endParaRPr lang="zh-CN" altLang="en-US"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三地址语句中名字的</a:t>
            </a:r>
            <a:r>
              <a:rPr lang="zh-CN" altLang="en-US" sz="2200" b="1" dirty="0">
                <a:solidFill>
                  <a:srgbClr val="063DE8"/>
                </a:solidFill>
                <a:ea typeface="宋体" panose="02010600030101010101" pitchFamily="2" charset="-122"/>
              </a:rPr>
              <a:t>使用（</a:t>
            </a:r>
            <a:r>
              <a:rPr lang="en-US" altLang="zh-CN" sz="2200" b="1" dirty="0">
                <a:solidFill>
                  <a:srgbClr val="063DE8"/>
                </a:solidFill>
                <a:ea typeface="宋体" panose="02010600030101010101" pitchFamily="2" charset="-122"/>
              </a:rPr>
              <a:t>use</a:t>
            </a:r>
            <a:r>
              <a:rPr lang="zh-CN" altLang="en-US" sz="2200" b="1" dirty="0">
                <a:solidFill>
                  <a:srgbClr val="063DE8"/>
                </a:solidFill>
                <a:ea typeface="宋体" panose="02010600030101010101" pitchFamily="2" charset="-122"/>
              </a:rPr>
              <a:t>）</a:t>
            </a:r>
            <a:r>
              <a:rPr lang="zh-CN" altLang="en-US" sz="2200" b="1" dirty="0">
                <a:ea typeface="宋体" panose="02010600030101010101" pitchFamily="2" charset="-122"/>
              </a:rPr>
              <a:t>定义：</a:t>
            </a:r>
            <a:endParaRPr lang="zh-CN" altLang="en-US" sz="2200" b="1" dirty="0">
              <a:ea typeface="宋体" panose="02010600030101010101" pitchFamily="2" charset="-122"/>
            </a:endParaRPr>
          </a:p>
          <a:p>
            <a:pPr marL="1333500" lvl="2" indent="-419100">
              <a:lnSpc>
                <a:spcPct val="90000"/>
              </a:lnSpc>
            </a:pPr>
            <a:r>
              <a:rPr lang="zh-CN" altLang="en-US" sz="2000" b="1" dirty="0">
                <a:ea typeface="宋体" panose="02010600030101010101" pitchFamily="2" charset="-122"/>
              </a:rPr>
              <a:t>假定三地址语句</a:t>
            </a:r>
            <a:r>
              <a:rPr lang="en-US" altLang="zh-CN" sz="2000" b="1" dirty="0">
                <a:ea typeface="宋体" panose="02010600030101010101" pitchFamily="2" charset="-122"/>
              </a:rPr>
              <a:t>i</a:t>
            </a:r>
            <a:r>
              <a:rPr lang="zh-CN" altLang="en-US" sz="2000" b="1" dirty="0">
                <a:ea typeface="宋体" panose="02010600030101010101" pitchFamily="2" charset="-122"/>
              </a:rPr>
              <a:t>把</a:t>
            </a:r>
            <a:r>
              <a:rPr lang="en-US" altLang="zh-CN" sz="2000" b="1" dirty="0">
                <a:ea typeface="宋体" panose="02010600030101010101" pitchFamily="2" charset="-122"/>
              </a:rPr>
              <a:t>a</a:t>
            </a:r>
            <a:r>
              <a:rPr lang="zh-CN" altLang="en-US" sz="2000" b="1" dirty="0">
                <a:ea typeface="宋体" panose="02010600030101010101" pitchFamily="2" charset="-122"/>
              </a:rPr>
              <a:t>的值赋给</a:t>
            </a:r>
            <a:r>
              <a:rPr lang="en-US" altLang="zh-CN" sz="2000" b="1" dirty="0">
                <a:ea typeface="宋体" panose="02010600030101010101" pitchFamily="2" charset="-122"/>
              </a:rPr>
              <a:t>x，</a:t>
            </a:r>
            <a:r>
              <a:rPr lang="zh-CN" altLang="en-US" sz="2000" b="1" dirty="0">
                <a:ea typeface="宋体" panose="02010600030101010101" pitchFamily="2" charset="-122"/>
              </a:rPr>
              <a:t>如果语句</a:t>
            </a:r>
            <a:r>
              <a:rPr lang="en-US" altLang="zh-CN" sz="2000" b="1" dirty="0">
                <a:ea typeface="宋体" panose="02010600030101010101" pitchFamily="2" charset="-122"/>
              </a:rPr>
              <a:t>j</a:t>
            </a:r>
            <a:r>
              <a:rPr lang="zh-CN" altLang="en-US" sz="2000" b="1" dirty="0">
                <a:ea typeface="宋体" panose="02010600030101010101" pitchFamily="2" charset="-122"/>
              </a:rPr>
              <a:t>用</a:t>
            </a:r>
            <a:r>
              <a:rPr lang="en-US" altLang="zh-CN" sz="2000" b="1" dirty="0">
                <a:ea typeface="宋体" panose="02010600030101010101" pitchFamily="2" charset="-122"/>
              </a:rPr>
              <a:t>x</a:t>
            </a:r>
            <a:r>
              <a:rPr lang="zh-CN" altLang="en-US" sz="2000" b="1" dirty="0">
                <a:ea typeface="宋体" panose="02010600030101010101" pitchFamily="2" charset="-122"/>
              </a:rPr>
              <a:t>作为运算对象，并且控制从</a:t>
            </a:r>
            <a:r>
              <a:rPr lang="en-US" altLang="zh-CN" sz="2000" b="1" dirty="0">
                <a:ea typeface="宋体" panose="02010600030101010101" pitchFamily="2" charset="-122"/>
              </a:rPr>
              <a:t>i</a:t>
            </a:r>
            <a:r>
              <a:rPr lang="zh-CN" altLang="en-US" sz="2000" b="1" dirty="0">
                <a:ea typeface="宋体" panose="02010600030101010101" pitchFamily="2" charset="-122"/>
              </a:rPr>
              <a:t>流到</a:t>
            </a:r>
            <a:r>
              <a:rPr lang="en-US" altLang="zh-CN" sz="2000" b="1" dirty="0">
                <a:ea typeface="宋体" panose="02010600030101010101" pitchFamily="2" charset="-122"/>
              </a:rPr>
              <a:t>j，</a:t>
            </a:r>
            <a:r>
              <a:rPr lang="zh-CN" altLang="en-US" sz="2000" b="1" dirty="0">
                <a:ea typeface="宋体" panose="02010600030101010101" pitchFamily="2" charset="-122"/>
              </a:rPr>
              <a:t>这条路径中没有</a:t>
            </a:r>
            <a:r>
              <a:rPr lang="en-US" altLang="zh-CN" sz="2000" b="1" dirty="0">
                <a:ea typeface="宋体" panose="02010600030101010101" pitchFamily="2" charset="-122"/>
              </a:rPr>
              <a:t>x</a:t>
            </a:r>
            <a:r>
              <a:rPr lang="zh-CN" altLang="en-US" sz="2000" b="1" dirty="0">
                <a:ea typeface="宋体" panose="02010600030101010101" pitchFamily="2" charset="-122"/>
              </a:rPr>
              <a:t>的其它赋值，则称</a:t>
            </a:r>
            <a:r>
              <a:rPr lang="en-US" altLang="zh-CN" sz="2000" b="1" dirty="0">
                <a:ea typeface="宋体" panose="02010600030101010101" pitchFamily="2" charset="-122"/>
              </a:rPr>
              <a:t>j</a:t>
            </a:r>
            <a:r>
              <a:rPr lang="zh-CN" altLang="en-US" sz="2000" b="1" dirty="0">
                <a:ea typeface="宋体" panose="02010600030101010101" pitchFamily="2" charset="-122"/>
              </a:rPr>
              <a:t>引用</a:t>
            </a:r>
            <a:r>
              <a:rPr lang="en-US" altLang="zh-CN" sz="2000" b="1" dirty="0">
                <a:ea typeface="宋体" panose="02010600030101010101" pitchFamily="2" charset="-122"/>
              </a:rPr>
              <a:t>x</a:t>
            </a:r>
            <a:r>
              <a:rPr lang="zh-CN" altLang="en-US" sz="2000" b="1" dirty="0">
                <a:ea typeface="宋体" panose="02010600030101010101" pitchFamily="2" charset="-122"/>
              </a:rPr>
              <a:t>在</a:t>
            </a:r>
            <a:r>
              <a:rPr lang="en-US" altLang="zh-CN" sz="2000" b="1" dirty="0">
                <a:ea typeface="宋体" panose="02010600030101010101" pitchFamily="2" charset="-122"/>
              </a:rPr>
              <a:t>i</a:t>
            </a:r>
            <a:r>
              <a:rPr lang="zh-CN" altLang="en-US" sz="2000" b="1" dirty="0">
                <a:ea typeface="宋体" panose="02010600030101010101" pitchFamily="2" charset="-122"/>
              </a:rPr>
              <a:t>定的值</a:t>
            </a:r>
            <a:endParaRPr lang="en-US" altLang="zh-CN" sz="2000" b="1" dirty="0">
              <a:ea typeface="宋体" panose="02010600030101010101" pitchFamily="2" charset="-122"/>
            </a:endParaRPr>
          </a:p>
          <a:p>
            <a:pPr marL="1333500" lvl="2" indent="-419100">
              <a:lnSpc>
                <a:spcPct val="90000"/>
              </a:lnSpc>
            </a:pPr>
            <a:r>
              <a:rPr lang="zh-CN" altLang="en-US" sz="2000" b="1" dirty="0">
                <a:ea typeface="宋体" panose="02010600030101010101" pitchFamily="2" charset="-122"/>
              </a:rPr>
              <a:t>此时，称</a:t>
            </a:r>
            <a:r>
              <a:rPr lang="en-US" altLang="zh-CN" sz="2000" b="1" dirty="0">
                <a:ea typeface="宋体" panose="02010600030101010101" pitchFamily="2" charset="-122"/>
              </a:rPr>
              <a:t>x</a:t>
            </a:r>
            <a:r>
              <a:rPr lang="zh-CN" altLang="en-US" sz="2000" b="1" dirty="0">
                <a:ea typeface="宋体" panose="02010600030101010101" pitchFamily="2" charset="-122"/>
              </a:rPr>
              <a:t>在语句</a:t>
            </a:r>
            <a:r>
              <a:rPr lang="en-US" altLang="zh-CN" sz="2000" b="1" dirty="0">
                <a:ea typeface="宋体" panose="02010600030101010101" pitchFamily="2" charset="-122"/>
              </a:rPr>
              <a:t>i</a:t>
            </a:r>
            <a:r>
              <a:rPr lang="zh-CN" altLang="en-US" sz="2000" b="1" dirty="0">
                <a:ea typeface="宋体" panose="02010600030101010101" pitchFamily="2" charset="-122"/>
              </a:rPr>
              <a:t>处活跃（</a:t>
            </a:r>
            <a:r>
              <a:rPr lang="en-US" altLang="zh-CN" sz="2000" b="1" dirty="0">
                <a:ea typeface="宋体" panose="02010600030101010101" pitchFamily="2" charset="-122"/>
              </a:rPr>
              <a:t>live</a:t>
            </a:r>
            <a:r>
              <a:rPr lang="zh-CN" altLang="en-US" sz="2000" b="1" dirty="0">
                <a:ea typeface="宋体" panose="02010600030101010101" pitchFamily="2" charset="-122"/>
              </a:rPr>
              <a:t>）</a:t>
            </a:r>
            <a:endParaRPr lang="zh-CN" altLang="en-US" sz="20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在基本块内：后续使用信息</a:t>
            </a:r>
            <a:endParaRPr lang="zh-CN" altLang="en-US" sz="2200" b="1" dirty="0">
              <a:ea typeface="宋体" panose="02010600030101010101" pitchFamily="2" charset="-122"/>
            </a:endParaRPr>
          </a:p>
          <a:p>
            <a:pPr marL="1333500" lvl="2" indent="-419100">
              <a:lnSpc>
                <a:spcPct val="90000"/>
              </a:lnSpc>
            </a:pPr>
            <a:r>
              <a:rPr lang="zh-CN" altLang="en-US" sz="2000" b="1" dirty="0">
                <a:ea typeface="宋体" panose="02010600030101010101" pitchFamily="2" charset="-122"/>
              </a:rPr>
              <a:t>对每个基本块反向扫描</a:t>
            </a:r>
            <a:endParaRPr lang="zh-CN" altLang="en-US" sz="2000" b="1" dirty="0">
              <a:ea typeface="宋体" panose="02010600030101010101" pitchFamily="2" charset="-122"/>
            </a:endParaRPr>
          </a:p>
          <a:p>
            <a:pPr marL="1333500" lvl="2" indent="-419100">
              <a:lnSpc>
                <a:spcPct val="90000"/>
              </a:lnSpc>
            </a:pPr>
            <a:r>
              <a:rPr lang="zh-CN" altLang="en-US" sz="2000" b="1" dirty="0">
                <a:ea typeface="宋体" panose="02010600030101010101" pitchFamily="2" charset="-122"/>
              </a:rPr>
              <a:t>为每个名字</a:t>
            </a:r>
            <a:r>
              <a:rPr lang="en-US" altLang="zh-CN" sz="2000" b="1" dirty="0">
                <a:ea typeface="宋体" panose="02010600030101010101" pitchFamily="2" charset="-122"/>
              </a:rPr>
              <a:t>x</a:t>
            </a:r>
            <a:r>
              <a:rPr lang="zh-CN" altLang="en-US" sz="2000" b="1" dirty="0">
                <a:ea typeface="宋体" panose="02010600030101010101" pitchFamily="2" charset="-122"/>
              </a:rPr>
              <a:t>在符号表中登记它是否在本块中有后续使用</a:t>
            </a:r>
            <a:endParaRPr lang="zh-CN" altLang="en-US" sz="2000" b="1" dirty="0">
              <a:ea typeface="宋体" panose="02010600030101010101" pitchFamily="2" charset="-122"/>
            </a:endParaRPr>
          </a:p>
          <a:p>
            <a:pPr marL="1333500" lvl="2" indent="-419100">
              <a:lnSpc>
                <a:spcPct val="90000"/>
              </a:lnSpc>
            </a:pPr>
            <a:r>
              <a:rPr lang="zh-CN" altLang="en-US" sz="2000" b="1" dirty="0">
                <a:ea typeface="宋体" panose="02010600030101010101" pitchFamily="2" charset="-122"/>
              </a:rPr>
              <a:t>如果在本块中没有后续使用，则登记它是否在本块的出口活跃。缺省认为所有的非临时变量在出口都是活跃的</a:t>
            </a:r>
            <a:endParaRPr lang="zh-CN" altLang="en-US" sz="2000"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后续使用信息（2）</a:t>
            </a:r>
            <a:endParaRPr lang="zh-CN" altLang="en-US" dirty="0">
              <a:latin typeface="Times New Roman" panose="02020603050405020304" pitchFamily="18" charset="0"/>
              <a:ea typeface="宋体" panose="02010600030101010101" pitchFamily="2" charset="-122"/>
            </a:endParaRPr>
          </a:p>
        </p:txBody>
      </p:sp>
      <p:sp>
        <p:nvSpPr>
          <p:cNvPr id="100355" name="Rectangle 3"/>
          <p:cNvSpPr>
            <a:spLocks noGrp="1"/>
          </p:cNvSpPr>
          <p:nvPr>
            <p:ph idx="1"/>
          </p:nvPr>
        </p:nvSpPr>
        <p:spPr>
          <a:xfrm>
            <a:off x="990600" y="1371600"/>
            <a:ext cx="7467600" cy="4876800"/>
          </a:xfrm>
        </p:spPr>
        <p:txBody>
          <a:bodyPr vert="horz" wrap="square" lIns="92075" tIns="46038" rIns="92075" bIns="46038" anchor="t" anchorCtr="0"/>
          <a:p>
            <a:pPr marL="933450" lvl="1" indent="-419100"/>
            <a:r>
              <a:rPr lang="zh-CN" altLang="en-US" sz="2200" b="1" dirty="0">
                <a:ea typeface="宋体" panose="02010600030101010101" pitchFamily="2" charset="-122"/>
              </a:rPr>
              <a:t>算法</a:t>
            </a:r>
            <a:r>
              <a:rPr lang="en-US" altLang="zh-CN" sz="2200" b="1" dirty="0">
                <a:ea typeface="宋体" panose="02010600030101010101" pitchFamily="2" charset="-122"/>
              </a:rPr>
              <a:t>8.7</a:t>
            </a:r>
            <a:r>
              <a:rPr lang="zh-CN" altLang="en-US" sz="2200" b="1" dirty="0">
                <a:ea typeface="宋体" panose="02010600030101010101" pitchFamily="2" charset="-122"/>
              </a:rPr>
              <a:t>：对一个基本块中的每一个语句确定活跃性与后续使用信息</a:t>
            </a:r>
            <a:endParaRPr lang="en-US" altLang="zh-CN" sz="2200" b="1" dirty="0">
              <a:ea typeface="宋体" panose="02010600030101010101" pitchFamily="2" charset="-122"/>
            </a:endParaRPr>
          </a:p>
          <a:p>
            <a:pPr marL="1333500" lvl="2" indent="-419100"/>
            <a:r>
              <a:rPr lang="zh-CN" altLang="en-US" sz="2000" b="1" dirty="0">
                <a:ea typeface="宋体" panose="02010600030101010101" pitchFamily="2" charset="-122"/>
              </a:rPr>
              <a:t>输入：一个三地址语句的基本块</a:t>
            </a:r>
            <a:r>
              <a:rPr lang="en-US" altLang="zh-CN" sz="2000" b="1" dirty="0">
                <a:ea typeface="宋体" panose="02010600030101010101" pitchFamily="2" charset="-122"/>
              </a:rPr>
              <a:t>B</a:t>
            </a:r>
            <a:r>
              <a:rPr lang="zh-CN" altLang="en-US" sz="2000" b="1" dirty="0">
                <a:ea typeface="宋体" panose="02010600030101010101" pitchFamily="2" charset="-122"/>
              </a:rPr>
              <a:t>，假设在基本块</a:t>
            </a:r>
            <a:r>
              <a:rPr lang="en-US" altLang="zh-CN" sz="2000" b="1" dirty="0">
                <a:ea typeface="宋体" panose="02010600030101010101" pitchFamily="2" charset="-122"/>
              </a:rPr>
              <a:t>B</a:t>
            </a:r>
            <a:r>
              <a:rPr lang="zh-CN" altLang="en-US" sz="2000" b="1" dirty="0">
                <a:ea typeface="宋体" panose="02010600030101010101" pitchFamily="2" charset="-122"/>
              </a:rPr>
              <a:t>开始时，所有的非临时变量都是活跃的</a:t>
            </a:r>
            <a:endParaRPr lang="en-US" altLang="zh-CN" sz="2000" b="1" dirty="0">
              <a:ea typeface="宋体" panose="02010600030101010101" pitchFamily="2" charset="-122"/>
            </a:endParaRPr>
          </a:p>
          <a:p>
            <a:pPr marL="1333500" lvl="2" indent="-419100"/>
            <a:r>
              <a:rPr lang="zh-CN" altLang="en-US" sz="2000" b="1" dirty="0">
                <a:ea typeface="宋体" panose="02010600030101010101" pitchFamily="2" charset="-122"/>
              </a:rPr>
              <a:t>输出：对于每一个语句</a:t>
            </a:r>
            <a:r>
              <a:rPr lang="en-US" altLang="zh-CN" sz="2000" b="1" dirty="0">
                <a:latin typeface="System"/>
                <a:ea typeface="宋体" panose="02010600030101010101" pitchFamily="2" charset="-122"/>
              </a:rPr>
              <a:t>i</a:t>
            </a:r>
            <a:r>
              <a:rPr lang="en-US" altLang="zh-CN" sz="2000" b="1" dirty="0">
                <a:ea typeface="宋体" panose="02010600030101010101" pitchFamily="2" charset="-122"/>
              </a:rPr>
              <a:t>：</a:t>
            </a:r>
            <a:r>
              <a:rPr lang="en-US" altLang="zh-CN" sz="2000" b="1" dirty="0">
                <a:latin typeface="System"/>
                <a:ea typeface="宋体" panose="02010600030101010101" pitchFamily="2" charset="-122"/>
              </a:rPr>
              <a:t>x  = y op z</a:t>
            </a:r>
            <a:r>
              <a:rPr lang="en-US" altLang="zh-CN" sz="2000" b="1" dirty="0">
                <a:ea typeface="宋体" panose="02010600030101010101" pitchFamily="2" charset="-122"/>
              </a:rPr>
              <a:t>，</a:t>
            </a:r>
            <a:r>
              <a:rPr lang="zh-CN" altLang="en-US" sz="2000" b="1" dirty="0">
                <a:ea typeface="宋体" panose="02010600030101010101" pitchFamily="2" charset="-122"/>
              </a:rPr>
              <a:t>将</a:t>
            </a:r>
            <a:r>
              <a:rPr lang="en-US" altLang="zh-CN" sz="2000" b="1" dirty="0">
                <a:ea typeface="宋体" panose="02010600030101010101" pitchFamily="2" charset="-122"/>
              </a:rPr>
              <a:t>x</a:t>
            </a:r>
            <a:r>
              <a:rPr lang="zh-CN" altLang="en-US" sz="2000" b="1" dirty="0">
                <a:ea typeface="宋体" panose="02010600030101010101" pitchFamily="2" charset="-122"/>
              </a:rPr>
              <a:t>、</a:t>
            </a:r>
            <a:r>
              <a:rPr lang="en-US" altLang="zh-CN" sz="2000" b="1" dirty="0">
                <a:ea typeface="宋体" panose="02010600030101010101" pitchFamily="2" charset="-122"/>
              </a:rPr>
              <a:t>y</a:t>
            </a:r>
            <a:r>
              <a:rPr lang="zh-CN" altLang="en-US" sz="2000" b="1" dirty="0">
                <a:ea typeface="宋体" panose="02010600030101010101" pitchFamily="2" charset="-122"/>
              </a:rPr>
              <a:t>及</a:t>
            </a:r>
            <a:r>
              <a:rPr lang="en-US" altLang="zh-CN" sz="2000" b="1" dirty="0">
                <a:ea typeface="宋体" panose="02010600030101010101" pitchFamily="2" charset="-122"/>
              </a:rPr>
              <a:t>z</a:t>
            </a:r>
            <a:r>
              <a:rPr lang="zh-CN" altLang="en-US" sz="2000" b="1" dirty="0">
                <a:ea typeface="宋体" panose="02010600030101010101" pitchFamily="2" charset="-122"/>
              </a:rPr>
              <a:t>的活跃性信息及后续使用信息关联到</a:t>
            </a:r>
            <a:r>
              <a:rPr lang="en-US" altLang="zh-CN" sz="2000" b="1" dirty="0">
                <a:ea typeface="宋体" panose="02010600030101010101" pitchFamily="2" charset="-122"/>
              </a:rPr>
              <a:t>i</a:t>
            </a:r>
            <a:endParaRPr lang="en-US" altLang="zh-CN" sz="2000" b="1" dirty="0">
              <a:ea typeface="宋体" panose="02010600030101010101" pitchFamily="2" charset="-122"/>
            </a:endParaRPr>
          </a:p>
          <a:p>
            <a:pPr marL="1333500" lvl="2" indent="-419100"/>
            <a:r>
              <a:rPr lang="zh-CN" altLang="en-US" sz="2000" b="1" dirty="0">
                <a:ea typeface="宋体" panose="02010600030101010101" pitchFamily="2" charset="-122"/>
              </a:rPr>
              <a:t>方法：从基本块</a:t>
            </a:r>
            <a:r>
              <a:rPr lang="en-US" altLang="zh-CN" sz="2000" b="1" dirty="0">
                <a:ea typeface="宋体" panose="02010600030101010101" pitchFamily="2" charset="-122"/>
              </a:rPr>
              <a:t>B</a:t>
            </a:r>
            <a:r>
              <a:rPr lang="zh-CN" altLang="en-US" sz="2000" b="1" dirty="0">
                <a:ea typeface="宋体" panose="02010600030101010101" pitchFamily="2" charset="-122"/>
              </a:rPr>
              <a:t>的最后一个语句开始，反向扫描到</a:t>
            </a:r>
            <a:r>
              <a:rPr lang="en-US" altLang="zh-CN" sz="2000" b="1" dirty="0">
                <a:ea typeface="宋体" panose="02010600030101010101" pitchFamily="2" charset="-122"/>
              </a:rPr>
              <a:t>B</a:t>
            </a:r>
            <a:r>
              <a:rPr lang="zh-CN" altLang="en-US" sz="2000" b="1" dirty="0">
                <a:ea typeface="宋体" panose="02010600030101010101" pitchFamily="2" charset="-122"/>
              </a:rPr>
              <a:t>的开始处。对每一个三地址语句 </a:t>
            </a:r>
            <a:r>
              <a:rPr lang="en-US" altLang="zh-CN" sz="2000" b="1" dirty="0">
                <a:latin typeface="System"/>
                <a:ea typeface="宋体" panose="02010600030101010101" pitchFamily="2" charset="-122"/>
              </a:rPr>
              <a:t>i</a:t>
            </a:r>
            <a:r>
              <a:rPr lang="en-US" altLang="zh-CN" sz="2000" b="1" dirty="0">
                <a:ea typeface="宋体" panose="02010600030101010101" pitchFamily="2" charset="-122"/>
              </a:rPr>
              <a:t>：</a:t>
            </a:r>
            <a:r>
              <a:rPr lang="en-US" altLang="zh-CN" sz="2000" b="1" dirty="0">
                <a:latin typeface="System"/>
                <a:ea typeface="宋体" panose="02010600030101010101" pitchFamily="2" charset="-122"/>
              </a:rPr>
              <a:t>x  := y op z</a:t>
            </a:r>
            <a:r>
              <a:rPr lang="en-US" altLang="zh-CN" sz="2000" b="1" dirty="0">
                <a:ea typeface="宋体" panose="02010600030101010101" pitchFamily="2" charset="-122"/>
              </a:rPr>
              <a:t>，</a:t>
            </a:r>
            <a:r>
              <a:rPr lang="zh-CN" altLang="en-US" sz="2000" b="1" dirty="0">
                <a:ea typeface="宋体" panose="02010600030101010101" pitchFamily="2" charset="-122"/>
              </a:rPr>
              <a:t>依次执行下述步骤：</a:t>
            </a:r>
            <a:endParaRPr lang="zh-CN" altLang="en-US" sz="2000" b="1" dirty="0">
              <a:ea typeface="宋体" panose="02010600030101010101" pitchFamily="2" charset="-122"/>
            </a:endParaRPr>
          </a:p>
          <a:p>
            <a:pPr marL="1752600" lvl="3" indent="-381000"/>
            <a:r>
              <a:rPr lang="zh-CN" altLang="en-US" sz="1800" b="1" dirty="0">
                <a:ea typeface="宋体" panose="02010600030101010101" pitchFamily="2" charset="-122"/>
              </a:rPr>
              <a:t>把当前符号表中</a:t>
            </a:r>
            <a:r>
              <a:rPr lang="en-US" altLang="zh-CN" sz="1800" b="1" dirty="0">
                <a:latin typeface="System"/>
                <a:ea typeface="宋体" panose="02010600030101010101" pitchFamily="2" charset="-122"/>
              </a:rPr>
              <a:t>x</a:t>
            </a:r>
            <a:r>
              <a:rPr lang="zh-CN" altLang="en-US" sz="1800" b="1" dirty="0">
                <a:latin typeface="System"/>
                <a:ea typeface="宋体" panose="02010600030101010101" pitchFamily="2" charset="-122"/>
              </a:rPr>
              <a:t>、</a:t>
            </a:r>
            <a:r>
              <a:rPr lang="en-US" altLang="zh-CN" sz="1800" b="1" dirty="0">
                <a:latin typeface="System"/>
                <a:ea typeface="宋体" panose="02010600030101010101" pitchFamily="2" charset="-122"/>
              </a:rPr>
              <a:t>y</a:t>
            </a:r>
            <a:r>
              <a:rPr lang="zh-CN" altLang="en-US" sz="1800" b="1" dirty="0">
                <a:latin typeface="System"/>
                <a:ea typeface="宋体" panose="02010600030101010101" pitchFamily="2" charset="-122"/>
              </a:rPr>
              <a:t>和</a:t>
            </a:r>
            <a:r>
              <a:rPr lang="en-US" altLang="zh-CN" sz="1800" b="1" dirty="0">
                <a:latin typeface="System"/>
                <a:ea typeface="宋体" panose="02010600030101010101" pitchFamily="2" charset="-122"/>
              </a:rPr>
              <a:t>z</a:t>
            </a:r>
            <a:r>
              <a:rPr lang="zh-CN" altLang="en-US" sz="1800" b="1" dirty="0">
                <a:ea typeface="宋体" panose="02010600030101010101" pitchFamily="2" charset="-122"/>
              </a:rPr>
              <a:t>的后续使用信息和活跃信息附加到语句</a:t>
            </a:r>
            <a:r>
              <a:rPr lang="en-US" altLang="zh-CN" sz="1800" b="1" dirty="0">
                <a:latin typeface="System"/>
                <a:ea typeface="宋体" panose="02010600030101010101" pitchFamily="2" charset="-122"/>
              </a:rPr>
              <a:t>i</a:t>
            </a:r>
            <a:r>
              <a:rPr lang="zh-CN" altLang="en-US" sz="1800" b="1" dirty="0">
                <a:ea typeface="宋体" panose="02010600030101010101" pitchFamily="2" charset="-122"/>
              </a:rPr>
              <a:t>上；（若</a:t>
            </a:r>
            <a:r>
              <a:rPr lang="en-US" altLang="zh-CN" sz="1800" b="1" dirty="0">
                <a:ea typeface="宋体" panose="02010600030101010101" pitchFamily="2" charset="-122"/>
              </a:rPr>
              <a:t>x</a:t>
            </a:r>
            <a:r>
              <a:rPr lang="zh-CN" altLang="en-US" sz="1800" b="1" dirty="0">
                <a:ea typeface="宋体" panose="02010600030101010101" pitchFamily="2" charset="-122"/>
              </a:rPr>
              <a:t>不活跃，则这个语句可以删掉）</a:t>
            </a:r>
            <a:endParaRPr lang="zh-CN" altLang="en-US" sz="1800" b="1" dirty="0">
              <a:ea typeface="宋体" panose="02010600030101010101" pitchFamily="2" charset="-122"/>
            </a:endParaRPr>
          </a:p>
          <a:p>
            <a:pPr marL="1752600" lvl="3" indent="-381000"/>
            <a:r>
              <a:rPr lang="zh-CN" altLang="en-US" sz="1800" b="1" dirty="0">
                <a:ea typeface="宋体" panose="02010600030101010101" pitchFamily="2" charset="-122"/>
              </a:rPr>
              <a:t>在符号表中设置</a:t>
            </a:r>
            <a:r>
              <a:rPr lang="en-US" altLang="zh-CN" sz="1800" b="1" dirty="0">
                <a:latin typeface="System"/>
                <a:ea typeface="宋体" panose="02010600030101010101" pitchFamily="2" charset="-122"/>
              </a:rPr>
              <a:t>x</a:t>
            </a:r>
            <a:r>
              <a:rPr lang="zh-CN" altLang="en-US" sz="1800" b="1" dirty="0">
                <a:latin typeface="System"/>
                <a:ea typeface="宋体" panose="02010600030101010101" pitchFamily="2" charset="-122"/>
              </a:rPr>
              <a:t>为</a:t>
            </a:r>
            <a:r>
              <a:rPr lang="zh-CN" altLang="en-US" sz="1800" b="1" dirty="0">
                <a:ea typeface="宋体" panose="02010600030101010101" pitchFamily="2" charset="-122"/>
              </a:rPr>
              <a:t>“无后续使用”和“不活跃”；</a:t>
            </a:r>
            <a:endParaRPr lang="zh-CN" altLang="en-US" sz="1800" b="1" dirty="0">
              <a:ea typeface="宋体" panose="02010600030101010101" pitchFamily="2" charset="-122"/>
            </a:endParaRPr>
          </a:p>
          <a:p>
            <a:pPr marL="1752600" lvl="3" indent="-381000"/>
            <a:r>
              <a:rPr lang="zh-CN" altLang="en-US" sz="1800" b="1" dirty="0">
                <a:ea typeface="宋体" panose="02010600030101010101" pitchFamily="2" charset="-122"/>
              </a:rPr>
              <a:t>把符号表中</a:t>
            </a:r>
            <a:r>
              <a:rPr lang="en-US" altLang="zh-CN" sz="1800" b="1" dirty="0">
                <a:latin typeface="System"/>
                <a:ea typeface="宋体" panose="02010600030101010101" pitchFamily="2" charset="-122"/>
              </a:rPr>
              <a:t>y</a:t>
            </a:r>
            <a:r>
              <a:rPr lang="zh-CN" altLang="en-US" sz="1800" b="1" dirty="0">
                <a:ea typeface="宋体" panose="02010600030101010101" pitchFamily="2" charset="-122"/>
              </a:rPr>
              <a:t>和</a:t>
            </a:r>
            <a:r>
              <a:rPr lang="en-US" altLang="zh-CN" sz="1800" b="1" dirty="0">
                <a:latin typeface="System"/>
                <a:ea typeface="宋体" panose="02010600030101010101" pitchFamily="2" charset="-122"/>
              </a:rPr>
              <a:t>z</a:t>
            </a:r>
            <a:r>
              <a:rPr lang="zh-CN" altLang="en-US" sz="1800" b="1" dirty="0">
                <a:ea typeface="宋体" panose="02010600030101010101" pitchFamily="2" charset="-122"/>
              </a:rPr>
              <a:t>的后续使用信息均置为</a:t>
            </a:r>
            <a:r>
              <a:rPr lang="en-US" altLang="zh-CN" sz="1800" b="1" dirty="0">
                <a:latin typeface="System"/>
                <a:ea typeface="宋体" panose="02010600030101010101" pitchFamily="2" charset="-122"/>
              </a:rPr>
              <a:t>i，</a:t>
            </a:r>
            <a:r>
              <a:rPr lang="zh-CN" altLang="en-US" sz="1800" b="1" dirty="0">
                <a:ea typeface="宋体" panose="02010600030101010101" pitchFamily="2" charset="-122"/>
              </a:rPr>
              <a:t>活跃信息均置为“活跃”。 </a:t>
            </a:r>
            <a:endParaRPr lang="zh-CN" altLang="en-US" sz="1800" b="1" dirty="0">
              <a:ea typeface="宋体" panose="02010600030101010101" pitchFamily="2" charset="-122"/>
            </a:endParaRPr>
          </a:p>
          <a:p>
            <a:pPr marL="1752600" lvl="3" indent="-381000">
              <a:buFont typeface="Wingdings" panose="05000000000000000000" pitchFamily="2" charset="2"/>
              <a:buNone/>
            </a:pPr>
            <a:r>
              <a:rPr lang="zh-CN" altLang="en-US" sz="1800" b="1" dirty="0">
                <a:solidFill>
                  <a:srgbClr val="063DE8"/>
                </a:solidFill>
                <a:ea typeface="宋体" panose="02010600030101010101" pitchFamily="2" charset="-122"/>
              </a:rPr>
              <a:t>注意：上述次序不能颠倒，因为</a:t>
            </a:r>
            <a:r>
              <a:rPr lang="en-US" altLang="zh-CN" sz="1800" b="1" dirty="0">
                <a:solidFill>
                  <a:srgbClr val="063DE8"/>
                </a:solidFill>
                <a:ea typeface="宋体" panose="02010600030101010101" pitchFamily="2" charset="-122"/>
              </a:rPr>
              <a:t>x</a:t>
            </a:r>
            <a:r>
              <a:rPr lang="zh-CN" altLang="en-US" sz="1800" b="1" dirty="0">
                <a:solidFill>
                  <a:srgbClr val="063DE8"/>
                </a:solidFill>
                <a:ea typeface="宋体" panose="02010600030101010101" pitchFamily="2" charset="-122"/>
              </a:rPr>
              <a:t>可能是</a:t>
            </a:r>
            <a:r>
              <a:rPr lang="en-US" altLang="zh-CN" sz="1800" b="1" dirty="0">
                <a:solidFill>
                  <a:srgbClr val="063DE8"/>
                </a:solidFill>
                <a:ea typeface="宋体" panose="02010600030101010101" pitchFamily="2" charset="-122"/>
              </a:rPr>
              <a:t>y</a:t>
            </a:r>
            <a:r>
              <a:rPr lang="zh-CN" altLang="en-US" sz="1800" b="1" dirty="0">
                <a:solidFill>
                  <a:srgbClr val="063DE8"/>
                </a:solidFill>
                <a:ea typeface="宋体" panose="02010600030101010101" pitchFamily="2" charset="-122"/>
              </a:rPr>
              <a:t>或</a:t>
            </a:r>
            <a:r>
              <a:rPr lang="en-US" altLang="zh-CN" sz="1800" b="1" dirty="0">
                <a:solidFill>
                  <a:srgbClr val="063DE8"/>
                </a:solidFill>
                <a:ea typeface="宋体" panose="02010600030101010101" pitchFamily="2" charset="-122"/>
              </a:rPr>
              <a:t>z</a:t>
            </a:r>
            <a:endParaRPr lang="en-US" altLang="zh-CN" sz="1800" b="1" dirty="0">
              <a:solidFill>
                <a:srgbClr val="063DE8"/>
              </a:solidFill>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后续使用信息（3）</a:t>
            </a:r>
            <a:endParaRPr lang="zh-CN" altLang="en-US" dirty="0">
              <a:latin typeface="Times New Roman" panose="02020603050405020304" pitchFamily="18" charset="0"/>
              <a:ea typeface="宋体" panose="02010600030101010101" pitchFamily="2" charset="-122"/>
            </a:endParaRPr>
          </a:p>
        </p:txBody>
      </p:sp>
      <p:sp>
        <p:nvSpPr>
          <p:cNvPr id="102403" name="Text Box 5"/>
          <p:cNvSpPr txBox="1"/>
          <p:nvPr/>
        </p:nvSpPr>
        <p:spPr>
          <a:xfrm>
            <a:off x="1063625" y="1662113"/>
            <a:ext cx="3594100" cy="43005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zh-CN" sz="2400" b="1" dirty="0">
                <a:ea typeface="宋体" panose="02010600030101010101" pitchFamily="2" charset="-122"/>
              </a:rPr>
              <a:t>（1）</a:t>
            </a:r>
            <a:r>
              <a:rPr lang="en-US" altLang="zh-CN" sz="2400" b="1" dirty="0">
                <a:ea typeface="宋体" panose="02010600030101010101" pitchFamily="2" charset="-122"/>
              </a:rPr>
              <a:t>t:=a+b</a:t>
            </a:r>
            <a:endParaRPr lang="zh-CN" altLang="zh-CN" sz="2400" b="1" dirty="0">
              <a:ea typeface="宋体" panose="02010600030101010101" pitchFamily="2" charset="-122"/>
            </a:endParaRPr>
          </a:p>
          <a:p>
            <a:pPr marL="0" lvl="0" indent="0" eaLnBrk="1" hangingPunct="1">
              <a:spcBef>
                <a:spcPct val="50000"/>
              </a:spcBef>
              <a:buClrTx/>
              <a:buSzTx/>
              <a:buNone/>
            </a:pPr>
            <a:endParaRPr lang="zh-CN" altLang="zh-CN" sz="2400" b="1" dirty="0">
              <a:ea typeface="宋体" panose="02010600030101010101" pitchFamily="2" charset="-122"/>
            </a:endParaRPr>
          </a:p>
          <a:p>
            <a:pPr marL="0" lvl="0" indent="0" eaLnBrk="1" hangingPunct="1">
              <a:spcBef>
                <a:spcPct val="50000"/>
              </a:spcBef>
              <a:buClrTx/>
              <a:buSzTx/>
              <a:buNone/>
            </a:pPr>
            <a:r>
              <a:rPr lang="zh-CN" altLang="zh-CN" sz="2400" b="1" dirty="0">
                <a:ea typeface="宋体" panose="02010600030101010101" pitchFamily="2" charset="-122"/>
              </a:rPr>
              <a:t>（2）</a:t>
            </a:r>
            <a:r>
              <a:rPr lang="en-US" altLang="zh-CN" sz="2400" b="1" dirty="0">
                <a:ea typeface="宋体" panose="02010600030101010101" pitchFamily="2" charset="-122"/>
              </a:rPr>
              <a:t>u:=a-c</a:t>
            </a:r>
            <a:endParaRPr lang="en-US" altLang="zh-CN" sz="2400" b="1" dirty="0">
              <a:ea typeface="宋体" panose="02010600030101010101" pitchFamily="2" charset="-122"/>
            </a:endParaRPr>
          </a:p>
          <a:p>
            <a:pPr marL="0" lvl="0" indent="0" eaLnBrk="1" hangingPunct="1">
              <a:spcBef>
                <a:spcPct val="50000"/>
              </a:spcBef>
              <a:buClrTx/>
              <a:buSzTx/>
              <a:buNone/>
            </a:pPr>
            <a:endParaRPr lang="en-US" altLang="zh-CN" sz="2400" b="1" dirty="0">
              <a:ea typeface="宋体" panose="02010600030101010101" pitchFamily="2" charset="-122"/>
            </a:endParaRPr>
          </a:p>
          <a:p>
            <a:pPr marL="0" lvl="0" indent="0" eaLnBrk="1" hangingPunct="1">
              <a:spcBef>
                <a:spcPct val="50000"/>
              </a:spcBef>
              <a:buClrTx/>
              <a:buSzTx/>
              <a:buNone/>
            </a:pPr>
            <a:r>
              <a:rPr lang="en-US" altLang="zh-CN" sz="2400" b="1" dirty="0">
                <a:ea typeface="宋体" panose="02010600030101010101" pitchFamily="2" charset="-122"/>
              </a:rPr>
              <a:t>（3）v:=t+u</a:t>
            </a:r>
            <a:endParaRPr lang="en-US" altLang="zh-CN" sz="2400" b="1" dirty="0">
              <a:ea typeface="宋体" panose="02010600030101010101" pitchFamily="2" charset="-122"/>
            </a:endParaRPr>
          </a:p>
          <a:p>
            <a:pPr marL="0" lvl="0" indent="0" eaLnBrk="1" hangingPunct="1">
              <a:spcBef>
                <a:spcPct val="50000"/>
              </a:spcBef>
              <a:buClrTx/>
              <a:buSzTx/>
              <a:buNone/>
            </a:pPr>
            <a:endParaRPr lang="en-US" altLang="zh-CN" sz="2400" b="1" dirty="0">
              <a:ea typeface="宋体" panose="02010600030101010101" pitchFamily="2" charset="-122"/>
            </a:endParaRPr>
          </a:p>
          <a:p>
            <a:pPr marL="0" lvl="0" indent="0" eaLnBrk="1" hangingPunct="1">
              <a:spcBef>
                <a:spcPct val="50000"/>
              </a:spcBef>
              <a:buClrTx/>
              <a:buSzTx/>
              <a:buNone/>
            </a:pPr>
            <a:r>
              <a:rPr lang="en-US" altLang="zh-CN" sz="2400" b="1" dirty="0">
                <a:ea typeface="宋体" panose="02010600030101010101" pitchFamily="2" charset="-122"/>
              </a:rPr>
              <a:t>（4）d:=v+u</a:t>
            </a:r>
            <a:endParaRPr lang="en-US" altLang="zh-CN" sz="2400" b="1" dirty="0">
              <a:ea typeface="宋体" panose="02010600030101010101" pitchFamily="2" charset="-122"/>
            </a:endParaRPr>
          </a:p>
          <a:p>
            <a:pPr marL="0" lvl="0" indent="0" eaLnBrk="1" hangingPunct="1">
              <a:spcBef>
                <a:spcPct val="50000"/>
              </a:spcBef>
              <a:buClrTx/>
              <a:buSzTx/>
              <a:buNone/>
            </a:pPr>
            <a:endParaRPr lang="zh-CN" altLang="zh-CN" sz="2400" b="1" dirty="0">
              <a:ea typeface="宋体" panose="02010600030101010101" pitchFamily="2" charset="-122"/>
            </a:endParaRPr>
          </a:p>
        </p:txBody>
      </p:sp>
      <p:sp>
        <p:nvSpPr>
          <p:cNvPr id="102404" name="Text Box 6"/>
          <p:cNvSpPr txBox="1"/>
          <p:nvPr/>
        </p:nvSpPr>
        <p:spPr>
          <a:xfrm>
            <a:off x="4800600" y="1600200"/>
            <a:ext cx="3810000" cy="4462463"/>
          </a:xfrm>
          <a:prstGeom prst="rect">
            <a:avLst/>
          </a:prstGeom>
          <a:solidFill>
            <a:srgbClr val="FFFFCC"/>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spcAft>
                <a:spcPct val="40000"/>
              </a:spcAft>
              <a:buClrTx/>
              <a:buSzTx/>
              <a:buNone/>
            </a:pPr>
            <a:r>
              <a:rPr lang="zh-CN" altLang="en-US" sz="2000" b="1" dirty="0">
                <a:ea typeface="宋体" panose="02010600030101010101" pitchFamily="2" charset="-122"/>
              </a:rPr>
              <a:t>名字         后续使用          活跃</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t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 非</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a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活</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b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活</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c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活</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d                  </a:t>
            </a:r>
            <a:r>
              <a:rPr lang="zh-CN" altLang="zh-CN" sz="2000" b="1" dirty="0">
                <a:ea typeface="宋体" panose="02010600030101010101" pitchFamily="2" charset="-122"/>
              </a:rPr>
              <a:t>无         </a:t>
            </a:r>
            <a:r>
              <a:rPr lang="zh-CN" altLang="en-US" sz="2000" b="1" dirty="0">
                <a:ea typeface="宋体" panose="02010600030101010101" pitchFamily="2" charset="-122"/>
              </a:rPr>
              <a:t>         活</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u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活</a:t>
            </a:r>
            <a:endParaRPr lang="zh-CN" altLang="en-US" sz="2000" b="1" dirty="0">
              <a:ea typeface="宋体" panose="02010600030101010101" pitchFamily="2" charset="-122"/>
            </a:endParaRPr>
          </a:p>
          <a:p>
            <a:pPr marL="0" lvl="0" indent="0" eaLnBrk="1" hangingPunct="1">
              <a:spcBef>
                <a:spcPct val="50000"/>
              </a:spcBef>
              <a:spcAft>
                <a:spcPct val="40000"/>
              </a:spcAft>
              <a:buClrTx/>
              <a:buSzTx/>
              <a:buNone/>
            </a:pPr>
            <a:r>
              <a:rPr lang="zh-CN" altLang="en-US" sz="2000" b="1" dirty="0">
                <a:ea typeface="宋体" panose="02010600030101010101" pitchFamily="2" charset="-122"/>
              </a:rPr>
              <a:t>    </a:t>
            </a:r>
            <a:r>
              <a:rPr lang="en-US" altLang="en-US" sz="2000" b="1" dirty="0">
                <a:ea typeface="宋体" panose="02010600030101010101" pitchFamily="2" charset="-122"/>
              </a:rPr>
              <a:t>v                  </a:t>
            </a:r>
            <a:r>
              <a:rPr lang="zh-CN" altLang="zh-CN" sz="2000" b="1" dirty="0">
                <a:ea typeface="宋体" panose="02010600030101010101" pitchFamily="2" charset="-122"/>
              </a:rPr>
              <a:t>无       </a:t>
            </a:r>
            <a:r>
              <a:rPr lang="zh-CN" altLang="en-US" sz="2000" b="1" dirty="0">
                <a:ea typeface="宋体" panose="02010600030101010101" pitchFamily="2" charset="-122"/>
              </a:rPr>
              <a:t>          </a:t>
            </a:r>
            <a:r>
              <a:rPr lang="zh-CN" altLang="zh-CN" sz="2000" b="1" dirty="0">
                <a:ea typeface="宋体" panose="02010600030101010101" pitchFamily="2" charset="-122"/>
              </a:rPr>
              <a:t> </a:t>
            </a:r>
            <a:r>
              <a:rPr lang="zh-CN" altLang="en-US" sz="2000" b="1" dirty="0">
                <a:ea typeface="宋体" panose="02010600030101010101" pitchFamily="2" charset="-122"/>
              </a:rPr>
              <a:t>活</a:t>
            </a:r>
            <a:endParaRPr lang="zh-CN" altLang="en-US" sz="2000" b="1" dirty="0">
              <a:ea typeface="宋体" panose="02010600030101010101" pitchFamily="2" charset="-122"/>
            </a:endParaRPr>
          </a:p>
        </p:txBody>
      </p:sp>
      <p:sp>
        <p:nvSpPr>
          <p:cNvPr id="102405" name="Line 7"/>
          <p:cNvSpPr/>
          <p:nvPr/>
        </p:nvSpPr>
        <p:spPr>
          <a:xfrm>
            <a:off x="4800600" y="2157413"/>
            <a:ext cx="3736975" cy="0"/>
          </a:xfrm>
          <a:prstGeom prst="line">
            <a:avLst/>
          </a:prstGeom>
          <a:ln w="9525" cap="flat" cmpd="sng">
            <a:solidFill>
              <a:schemeClr val="tx1"/>
            </a:solidFill>
            <a:prstDash val="solid"/>
            <a:headEnd type="none" w="med" len="med"/>
            <a:tailEnd type="none" w="med" len="med"/>
          </a:ln>
        </p:spPr>
      </p:sp>
      <p:sp>
        <p:nvSpPr>
          <p:cNvPr id="102406" name="Line 8"/>
          <p:cNvSpPr/>
          <p:nvPr/>
        </p:nvSpPr>
        <p:spPr>
          <a:xfrm>
            <a:off x="4800600" y="2716213"/>
            <a:ext cx="3736975" cy="0"/>
          </a:xfrm>
          <a:prstGeom prst="line">
            <a:avLst/>
          </a:prstGeom>
          <a:ln w="9525" cap="flat" cmpd="sng">
            <a:solidFill>
              <a:schemeClr val="tx1"/>
            </a:solidFill>
            <a:prstDash val="solid"/>
            <a:headEnd type="none" w="med" len="med"/>
            <a:tailEnd type="none" w="med" len="med"/>
          </a:ln>
        </p:spPr>
      </p:sp>
      <p:sp>
        <p:nvSpPr>
          <p:cNvPr id="102407" name="Line 10"/>
          <p:cNvSpPr/>
          <p:nvPr/>
        </p:nvSpPr>
        <p:spPr>
          <a:xfrm>
            <a:off x="4876800" y="3733800"/>
            <a:ext cx="3736975" cy="0"/>
          </a:xfrm>
          <a:prstGeom prst="line">
            <a:avLst/>
          </a:prstGeom>
          <a:ln w="9525" cap="flat" cmpd="sng">
            <a:solidFill>
              <a:schemeClr val="tx1"/>
            </a:solidFill>
            <a:prstDash val="solid"/>
            <a:headEnd type="none" w="med" len="med"/>
            <a:tailEnd type="none" w="med" len="med"/>
          </a:ln>
        </p:spPr>
      </p:sp>
      <p:sp>
        <p:nvSpPr>
          <p:cNvPr id="102408" name="Line 11"/>
          <p:cNvSpPr/>
          <p:nvPr/>
        </p:nvSpPr>
        <p:spPr>
          <a:xfrm>
            <a:off x="4800600" y="4343400"/>
            <a:ext cx="3736975" cy="0"/>
          </a:xfrm>
          <a:prstGeom prst="line">
            <a:avLst/>
          </a:prstGeom>
          <a:ln w="9525" cap="flat" cmpd="sng">
            <a:solidFill>
              <a:schemeClr val="tx1"/>
            </a:solidFill>
            <a:prstDash val="solid"/>
            <a:headEnd type="none" w="med" len="med"/>
            <a:tailEnd type="none" w="med" len="med"/>
          </a:ln>
        </p:spPr>
      </p:sp>
      <p:sp>
        <p:nvSpPr>
          <p:cNvPr id="102409" name="Line 12"/>
          <p:cNvSpPr/>
          <p:nvPr/>
        </p:nvSpPr>
        <p:spPr>
          <a:xfrm>
            <a:off x="4876800" y="4953000"/>
            <a:ext cx="3736975" cy="0"/>
          </a:xfrm>
          <a:prstGeom prst="line">
            <a:avLst/>
          </a:prstGeom>
          <a:ln w="9525" cap="flat" cmpd="sng">
            <a:solidFill>
              <a:schemeClr val="tx1"/>
            </a:solidFill>
            <a:prstDash val="solid"/>
            <a:headEnd type="none" w="med" len="med"/>
            <a:tailEnd type="none" w="med" len="med"/>
          </a:ln>
        </p:spPr>
      </p:sp>
      <p:sp>
        <p:nvSpPr>
          <p:cNvPr id="102410" name="Line 13"/>
          <p:cNvSpPr/>
          <p:nvPr/>
        </p:nvSpPr>
        <p:spPr>
          <a:xfrm>
            <a:off x="4876800" y="5562600"/>
            <a:ext cx="3736975" cy="0"/>
          </a:xfrm>
          <a:prstGeom prst="line">
            <a:avLst/>
          </a:prstGeom>
          <a:ln w="9525" cap="flat" cmpd="sng">
            <a:solidFill>
              <a:schemeClr val="tx1"/>
            </a:solidFill>
            <a:prstDash val="solid"/>
            <a:headEnd type="none" w="med" len="med"/>
            <a:tailEnd type="none" w="med" len="med"/>
          </a:ln>
        </p:spPr>
      </p:sp>
      <p:sp>
        <p:nvSpPr>
          <p:cNvPr id="102411" name="Line 14"/>
          <p:cNvSpPr/>
          <p:nvPr/>
        </p:nvSpPr>
        <p:spPr>
          <a:xfrm flipH="1">
            <a:off x="5791200" y="1600200"/>
            <a:ext cx="15875" cy="4419600"/>
          </a:xfrm>
          <a:prstGeom prst="line">
            <a:avLst/>
          </a:prstGeom>
          <a:ln w="9525" cap="flat" cmpd="sng">
            <a:solidFill>
              <a:schemeClr val="tx1"/>
            </a:solidFill>
            <a:prstDash val="solid"/>
            <a:headEnd type="none" w="med" len="med"/>
            <a:tailEnd type="none" w="med" len="med"/>
          </a:ln>
        </p:spPr>
      </p:sp>
      <p:sp>
        <p:nvSpPr>
          <p:cNvPr id="102412" name="Line 15"/>
          <p:cNvSpPr/>
          <p:nvPr/>
        </p:nvSpPr>
        <p:spPr>
          <a:xfrm>
            <a:off x="7461250" y="1600200"/>
            <a:ext cx="6350" cy="4419600"/>
          </a:xfrm>
          <a:prstGeom prst="line">
            <a:avLst/>
          </a:prstGeom>
          <a:ln w="9525" cap="flat" cmpd="sng">
            <a:solidFill>
              <a:schemeClr val="tx1"/>
            </a:solidFill>
            <a:prstDash val="solid"/>
            <a:headEnd type="none" w="med" len="med"/>
            <a:tailEnd type="none" w="med" len="med"/>
          </a:ln>
        </p:spPr>
      </p:sp>
      <p:sp>
        <p:nvSpPr>
          <p:cNvPr id="1381392" name="Rectangle 16"/>
          <p:cNvSpPr/>
          <p:nvPr/>
        </p:nvSpPr>
        <p:spPr>
          <a:xfrm>
            <a:off x="1295400" y="3886200"/>
            <a:ext cx="2082800" cy="371475"/>
          </a:xfrm>
          <a:prstGeom prst="rect">
            <a:avLst/>
          </a:prstGeom>
          <a:noFill/>
          <a:ln w="952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381393" name="Text Box 17"/>
          <p:cNvSpPr txBox="1"/>
          <p:nvPr/>
        </p:nvSpPr>
        <p:spPr>
          <a:xfrm>
            <a:off x="1295400" y="5334000"/>
            <a:ext cx="25876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zh-CN" sz="2400" b="1" dirty="0">
                <a:ea typeface="宋体" panose="02010600030101010101" pitchFamily="2" charset="-122"/>
              </a:rPr>
              <a:t>{</a:t>
            </a:r>
            <a:r>
              <a:rPr lang="en-US" altLang="zh-CN" sz="2400" b="1" dirty="0">
                <a:ea typeface="宋体" panose="02010600030101010101" pitchFamily="2" charset="-122"/>
              </a:rPr>
              <a:t>d,u,v</a:t>
            </a:r>
            <a:r>
              <a:rPr lang="en-US" altLang="en-US" sz="2400" b="1" dirty="0">
                <a:ea typeface="宋体" panose="02010600030101010101" pitchFamily="2" charset="-122"/>
              </a:rPr>
              <a:t>:</a:t>
            </a:r>
            <a:r>
              <a:rPr lang="zh-CN" altLang="en-US" sz="2400" b="1" dirty="0">
                <a:ea typeface="宋体" panose="02010600030101010101" pitchFamily="2" charset="-122"/>
              </a:rPr>
              <a:t>无，活}</a:t>
            </a:r>
            <a:endParaRPr lang="zh-CN" altLang="en-US" sz="2400" b="1" dirty="0">
              <a:ea typeface="宋体" panose="02010600030101010101" pitchFamily="2" charset="-122"/>
            </a:endParaRPr>
          </a:p>
        </p:txBody>
      </p:sp>
      <p:sp>
        <p:nvSpPr>
          <p:cNvPr id="1381394" name="Text Box 18"/>
          <p:cNvSpPr txBox="1"/>
          <p:nvPr/>
        </p:nvSpPr>
        <p:spPr>
          <a:xfrm>
            <a:off x="6324600" y="4419600"/>
            <a:ext cx="50165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无</a:t>
            </a:r>
            <a:endParaRPr lang="zh-CN" altLang="en-US" sz="2400" b="1" dirty="0">
              <a:solidFill>
                <a:schemeClr val="accent2"/>
              </a:solidFill>
              <a:ea typeface="宋体" panose="02010600030101010101" pitchFamily="2" charset="-122"/>
            </a:endParaRPr>
          </a:p>
        </p:txBody>
      </p:sp>
      <p:sp>
        <p:nvSpPr>
          <p:cNvPr id="1381395" name="Text Box 19"/>
          <p:cNvSpPr txBox="1"/>
          <p:nvPr/>
        </p:nvSpPr>
        <p:spPr>
          <a:xfrm>
            <a:off x="7696200" y="4419600"/>
            <a:ext cx="5746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非</a:t>
            </a:r>
            <a:endParaRPr lang="zh-CN" altLang="en-US" sz="2400" b="1" dirty="0">
              <a:solidFill>
                <a:schemeClr val="accent2"/>
              </a:solidFill>
              <a:ea typeface="宋体" panose="02010600030101010101" pitchFamily="2" charset="-122"/>
            </a:endParaRPr>
          </a:p>
        </p:txBody>
      </p:sp>
      <p:sp>
        <p:nvSpPr>
          <p:cNvPr id="1381396" name="Text Box 20"/>
          <p:cNvSpPr txBox="1"/>
          <p:nvPr/>
        </p:nvSpPr>
        <p:spPr>
          <a:xfrm>
            <a:off x="6324600" y="5029200"/>
            <a:ext cx="4730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4</a:t>
            </a:r>
            <a:endParaRPr lang="zh-CN" altLang="en-US" sz="2400" b="1" dirty="0">
              <a:solidFill>
                <a:schemeClr val="accent2"/>
              </a:solidFill>
              <a:ea typeface="宋体" panose="02010600030101010101" pitchFamily="2" charset="-122"/>
            </a:endParaRPr>
          </a:p>
        </p:txBody>
      </p:sp>
      <p:sp>
        <p:nvSpPr>
          <p:cNvPr id="1381397" name="Text Box 21"/>
          <p:cNvSpPr txBox="1"/>
          <p:nvPr/>
        </p:nvSpPr>
        <p:spPr>
          <a:xfrm>
            <a:off x="6400800" y="5638800"/>
            <a:ext cx="42545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4</a:t>
            </a:r>
            <a:endParaRPr lang="zh-CN" altLang="en-US" sz="2400" b="1" dirty="0">
              <a:solidFill>
                <a:schemeClr val="accent2"/>
              </a:solidFill>
              <a:ea typeface="宋体" panose="02010600030101010101" pitchFamily="2" charset="-122"/>
            </a:endParaRPr>
          </a:p>
        </p:txBody>
      </p:sp>
      <p:sp>
        <p:nvSpPr>
          <p:cNvPr id="1381398" name="Text Box 22"/>
          <p:cNvSpPr txBox="1"/>
          <p:nvPr/>
        </p:nvSpPr>
        <p:spPr>
          <a:xfrm>
            <a:off x="7772400" y="5638800"/>
            <a:ext cx="46990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活</a:t>
            </a:r>
            <a:endParaRPr lang="zh-CN" altLang="en-US" sz="2400" b="1" dirty="0">
              <a:solidFill>
                <a:schemeClr val="accent2"/>
              </a:solidFill>
              <a:ea typeface="宋体" panose="02010600030101010101" pitchFamily="2" charset="-122"/>
            </a:endParaRPr>
          </a:p>
        </p:txBody>
      </p:sp>
      <p:sp>
        <p:nvSpPr>
          <p:cNvPr id="1381399" name="Text Box 23"/>
          <p:cNvSpPr txBox="1"/>
          <p:nvPr/>
        </p:nvSpPr>
        <p:spPr>
          <a:xfrm>
            <a:off x="7696200" y="5029200"/>
            <a:ext cx="4222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accent2"/>
                </a:solidFill>
                <a:ea typeface="宋体" panose="02010600030101010101" pitchFamily="2" charset="-122"/>
              </a:rPr>
              <a:t>活</a:t>
            </a:r>
            <a:endParaRPr lang="zh-CN" altLang="en-US" sz="2400" b="1" dirty="0">
              <a:solidFill>
                <a:schemeClr val="accent2"/>
              </a:solidFill>
              <a:ea typeface="宋体" panose="02010600030101010101" pitchFamily="2" charset="-122"/>
            </a:endParaRPr>
          </a:p>
        </p:txBody>
      </p:sp>
      <p:sp>
        <p:nvSpPr>
          <p:cNvPr id="1381400" name="Text Box 24"/>
          <p:cNvSpPr txBox="1"/>
          <p:nvPr/>
        </p:nvSpPr>
        <p:spPr>
          <a:xfrm>
            <a:off x="1219200" y="4343400"/>
            <a:ext cx="33051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a:t>
            </a:r>
            <a:r>
              <a:rPr lang="en-US" altLang="en-US" sz="2400" b="1" dirty="0">
                <a:ea typeface="宋体" panose="02010600030101010101" pitchFamily="2" charset="-122"/>
              </a:rPr>
              <a:t>u,v:4,</a:t>
            </a:r>
            <a:r>
              <a:rPr lang="zh-CN" altLang="en-US" sz="2400" b="1" dirty="0">
                <a:ea typeface="宋体" panose="02010600030101010101" pitchFamily="2" charset="-122"/>
              </a:rPr>
              <a:t>活;</a:t>
            </a:r>
            <a:r>
              <a:rPr lang="en-US" altLang="zh-CN" sz="2400" b="1" dirty="0">
                <a:ea typeface="宋体" panose="02010600030101010101" pitchFamily="2" charset="-122"/>
              </a:rPr>
              <a:t>t:</a:t>
            </a:r>
            <a:r>
              <a:rPr lang="zh-CN" altLang="zh-CN" sz="2400" b="1" dirty="0">
                <a:ea typeface="宋体" panose="02010600030101010101" pitchFamily="2" charset="-122"/>
              </a:rPr>
              <a:t>无，非}</a:t>
            </a:r>
            <a:endParaRPr lang="zh-CN" altLang="en-US" sz="2400" b="1" dirty="0">
              <a:ea typeface="宋体" panose="02010600030101010101" pitchFamily="2" charset="-122"/>
            </a:endParaRPr>
          </a:p>
        </p:txBody>
      </p:sp>
      <p:sp>
        <p:nvSpPr>
          <p:cNvPr id="1381401" name="Text Box 25"/>
          <p:cNvSpPr txBox="1"/>
          <p:nvPr/>
        </p:nvSpPr>
        <p:spPr>
          <a:xfrm>
            <a:off x="6324600" y="5638800"/>
            <a:ext cx="496888"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无</a:t>
            </a:r>
            <a:endParaRPr lang="zh-CN" altLang="en-US" sz="2400" b="1" dirty="0">
              <a:solidFill>
                <a:schemeClr val="hlink"/>
              </a:solidFill>
              <a:ea typeface="宋体" panose="02010600030101010101" pitchFamily="2" charset="-122"/>
            </a:endParaRPr>
          </a:p>
        </p:txBody>
      </p:sp>
      <p:sp>
        <p:nvSpPr>
          <p:cNvPr id="1381402" name="Text Box 26"/>
          <p:cNvSpPr txBox="1"/>
          <p:nvPr/>
        </p:nvSpPr>
        <p:spPr>
          <a:xfrm>
            <a:off x="7848600" y="5638800"/>
            <a:ext cx="39370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非</a:t>
            </a:r>
            <a:endParaRPr lang="zh-CN" altLang="en-US" sz="2400" b="1" dirty="0">
              <a:solidFill>
                <a:schemeClr val="hlink"/>
              </a:solidFill>
              <a:ea typeface="宋体" panose="02010600030101010101" pitchFamily="2" charset="-122"/>
            </a:endParaRPr>
          </a:p>
        </p:txBody>
      </p:sp>
      <p:sp>
        <p:nvSpPr>
          <p:cNvPr id="1381403" name="Text Box 27"/>
          <p:cNvSpPr txBox="1"/>
          <p:nvPr/>
        </p:nvSpPr>
        <p:spPr>
          <a:xfrm>
            <a:off x="6248400" y="2209800"/>
            <a:ext cx="40005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3</a:t>
            </a:r>
            <a:endParaRPr lang="zh-CN" altLang="en-US" sz="2400" b="1" dirty="0">
              <a:solidFill>
                <a:schemeClr val="hlink"/>
              </a:solidFill>
              <a:ea typeface="宋体" panose="02010600030101010101" pitchFamily="2" charset="-122"/>
            </a:endParaRPr>
          </a:p>
        </p:txBody>
      </p:sp>
      <p:sp>
        <p:nvSpPr>
          <p:cNvPr id="1381404" name="Text Box 28"/>
          <p:cNvSpPr txBox="1"/>
          <p:nvPr/>
        </p:nvSpPr>
        <p:spPr>
          <a:xfrm>
            <a:off x="7696200" y="2209800"/>
            <a:ext cx="46990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活</a:t>
            </a:r>
            <a:endParaRPr lang="zh-CN" altLang="en-US" sz="2400" b="1" dirty="0">
              <a:solidFill>
                <a:schemeClr val="hlink"/>
              </a:solidFill>
              <a:ea typeface="宋体" panose="02010600030101010101" pitchFamily="2" charset="-122"/>
            </a:endParaRPr>
          </a:p>
        </p:txBody>
      </p:sp>
      <p:sp>
        <p:nvSpPr>
          <p:cNvPr id="1381405" name="Text Box 29"/>
          <p:cNvSpPr txBox="1"/>
          <p:nvPr/>
        </p:nvSpPr>
        <p:spPr>
          <a:xfrm>
            <a:off x="7772400" y="5029200"/>
            <a:ext cx="4222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活</a:t>
            </a:r>
            <a:endParaRPr lang="zh-CN" altLang="en-US" sz="2400" b="1" dirty="0">
              <a:solidFill>
                <a:schemeClr val="hlink"/>
              </a:solidFill>
              <a:ea typeface="宋体" panose="02010600030101010101" pitchFamily="2" charset="-122"/>
            </a:endParaRPr>
          </a:p>
        </p:txBody>
      </p:sp>
      <p:sp>
        <p:nvSpPr>
          <p:cNvPr id="1381406" name="Text Box 30"/>
          <p:cNvSpPr txBox="1"/>
          <p:nvPr/>
        </p:nvSpPr>
        <p:spPr>
          <a:xfrm>
            <a:off x="6324600" y="5029200"/>
            <a:ext cx="42545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hlink"/>
                </a:solidFill>
                <a:ea typeface="宋体" panose="02010600030101010101" pitchFamily="2" charset="-122"/>
              </a:rPr>
              <a:t>3</a:t>
            </a:r>
            <a:endParaRPr lang="zh-CN" altLang="en-US" sz="2400" b="1" dirty="0">
              <a:solidFill>
                <a:schemeClr val="hlink"/>
              </a:solidFill>
              <a:ea typeface="宋体" panose="02010600030101010101" pitchFamily="2" charset="-122"/>
            </a:endParaRPr>
          </a:p>
        </p:txBody>
      </p:sp>
      <p:sp>
        <p:nvSpPr>
          <p:cNvPr id="1381407" name="Rectangle 31"/>
          <p:cNvSpPr/>
          <p:nvPr/>
        </p:nvSpPr>
        <p:spPr>
          <a:xfrm>
            <a:off x="1295400" y="5029200"/>
            <a:ext cx="2298700" cy="373063"/>
          </a:xfrm>
          <a:prstGeom prst="rect">
            <a:avLst/>
          </a:prstGeom>
          <a:noFill/>
          <a:ln w="9525" cap="flat" cmpd="sng">
            <a:solidFill>
              <a:schemeClr val="accent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381408" name="Text Box 32"/>
          <p:cNvSpPr txBox="1"/>
          <p:nvPr/>
        </p:nvSpPr>
        <p:spPr>
          <a:xfrm>
            <a:off x="990600" y="3352800"/>
            <a:ext cx="3810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a:t>
            </a:r>
            <a:r>
              <a:rPr lang="en-US" altLang="en-US" sz="2400" b="1" dirty="0">
                <a:ea typeface="宋体" panose="02010600030101010101" pitchFamily="2" charset="-122"/>
              </a:rPr>
              <a:t>u:3,</a:t>
            </a:r>
            <a:r>
              <a:rPr lang="zh-CN" altLang="en-US" sz="2400" b="1" dirty="0">
                <a:ea typeface="宋体" panose="02010600030101010101" pitchFamily="2" charset="-122"/>
              </a:rPr>
              <a:t>活；</a:t>
            </a:r>
            <a:r>
              <a:rPr lang="en-US" altLang="zh-CN" sz="2400" b="1" dirty="0">
                <a:ea typeface="宋体" panose="02010600030101010101" pitchFamily="2" charset="-122"/>
              </a:rPr>
              <a:t>a,c:</a:t>
            </a:r>
            <a:r>
              <a:rPr lang="zh-CN" altLang="zh-CN" sz="2400" b="1" dirty="0">
                <a:ea typeface="宋体" panose="02010600030101010101" pitchFamily="2" charset="-122"/>
              </a:rPr>
              <a:t>无，活}</a:t>
            </a:r>
            <a:endParaRPr lang="zh-CN" altLang="en-US" sz="2400" b="1" dirty="0">
              <a:ea typeface="宋体" panose="02010600030101010101" pitchFamily="2" charset="-122"/>
            </a:endParaRPr>
          </a:p>
        </p:txBody>
      </p:sp>
      <p:sp>
        <p:nvSpPr>
          <p:cNvPr id="1381409" name="Rectangle 33"/>
          <p:cNvSpPr/>
          <p:nvPr/>
        </p:nvSpPr>
        <p:spPr>
          <a:xfrm>
            <a:off x="1295400" y="2819400"/>
            <a:ext cx="1870075" cy="433388"/>
          </a:xfrm>
          <a:prstGeom prst="rect">
            <a:avLst/>
          </a:prstGeom>
          <a:noFill/>
          <a:ln w="9525" cap="flat" cmpd="sng">
            <a:solidFill>
              <a:srgbClr val="9900CC"/>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381410" name="Text Box 34"/>
          <p:cNvSpPr txBox="1"/>
          <p:nvPr/>
        </p:nvSpPr>
        <p:spPr>
          <a:xfrm>
            <a:off x="6324600" y="5029200"/>
            <a:ext cx="420688"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无</a:t>
            </a:r>
            <a:endParaRPr lang="zh-CN" altLang="en-US" sz="2400" b="1" dirty="0">
              <a:ea typeface="宋体" panose="02010600030101010101" pitchFamily="2" charset="-122"/>
            </a:endParaRPr>
          </a:p>
        </p:txBody>
      </p:sp>
      <p:sp>
        <p:nvSpPr>
          <p:cNvPr id="1381411" name="Text Box 35"/>
          <p:cNvSpPr txBox="1"/>
          <p:nvPr/>
        </p:nvSpPr>
        <p:spPr>
          <a:xfrm>
            <a:off x="7848600" y="5029200"/>
            <a:ext cx="4222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非</a:t>
            </a:r>
            <a:endParaRPr lang="zh-CN" altLang="en-US" sz="2400" b="1" dirty="0">
              <a:ea typeface="宋体" panose="02010600030101010101" pitchFamily="2" charset="-122"/>
            </a:endParaRPr>
          </a:p>
        </p:txBody>
      </p:sp>
      <p:sp>
        <p:nvSpPr>
          <p:cNvPr id="1381412" name="Text Box 36"/>
          <p:cNvSpPr txBox="1"/>
          <p:nvPr/>
        </p:nvSpPr>
        <p:spPr>
          <a:xfrm>
            <a:off x="6172200" y="2743200"/>
            <a:ext cx="4730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2</a:t>
            </a:r>
            <a:endParaRPr lang="zh-CN" altLang="en-US" sz="2400" b="1" dirty="0">
              <a:ea typeface="宋体" panose="02010600030101010101" pitchFamily="2" charset="-122"/>
            </a:endParaRPr>
          </a:p>
        </p:txBody>
      </p:sp>
      <p:sp>
        <p:nvSpPr>
          <p:cNvPr id="1381413" name="Text Box 37"/>
          <p:cNvSpPr txBox="1"/>
          <p:nvPr/>
        </p:nvSpPr>
        <p:spPr>
          <a:xfrm>
            <a:off x="6324600" y="3810000"/>
            <a:ext cx="31432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2</a:t>
            </a:r>
            <a:endParaRPr lang="zh-CN" altLang="en-US" sz="2400" b="1" dirty="0">
              <a:ea typeface="宋体" panose="02010600030101010101" pitchFamily="2" charset="-122"/>
            </a:endParaRPr>
          </a:p>
        </p:txBody>
      </p:sp>
      <p:sp>
        <p:nvSpPr>
          <p:cNvPr id="1381414" name="Text Box 38"/>
          <p:cNvSpPr txBox="1"/>
          <p:nvPr/>
        </p:nvSpPr>
        <p:spPr>
          <a:xfrm>
            <a:off x="7696200" y="3810000"/>
            <a:ext cx="39370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rgbClr val="9900CC"/>
                </a:solidFill>
                <a:ea typeface="宋体" panose="02010600030101010101" pitchFamily="2" charset="-122"/>
              </a:rPr>
              <a:t>活</a:t>
            </a:r>
            <a:endParaRPr lang="zh-CN" altLang="en-US" sz="2400" b="1" dirty="0">
              <a:solidFill>
                <a:srgbClr val="9900CC"/>
              </a:solidFill>
              <a:ea typeface="宋体" panose="02010600030101010101" pitchFamily="2" charset="-122"/>
            </a:endParaRPr>
          </a:p>
        </p:txBody>
      </p:sp>
      <p:sp>
        <p:nvSpPr>
          <p:cNvPr id="1381415" name="Text Box 39"/>
          <p:cNvSpPr txBox="1"/>
          <p:nvPr/>
        </p:nvSpPr>
        <p:spPr>
          <a:xfrm>
            <a:off x="7696200" y="2743200"/>
            <a:ext cx="3968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rgbClr val="9900CC"/>
                </a:solidFill>
                <a:ea typeface="宋体" panose="02010600030101010101" pitchFamily="2" charset="-122"/>
              </a:rPr>
              <a:t>活</a:t>
            </a:r>
            <a:endParaRPr lang="zh-CN" altLang="en-US" sz="2400" b="1" dirty="0">
              <a:solidFill>
                <a:srgbClr val="9900CC"/>
              </a:solidFill>
              <a:ea typeface="宋体" panose="02010600030101010101" pitchFamily="2" charset="-122"/>
            </a:endParaRPr>
          </a:p>
        </p:txBody>
      </p:sp>
      <p:sp>
        <p:nvSpPr>
          <p:cNvPr id="1381416" name="Rectangle 40"/>
          <p:cNvSpPr/>
          <p:nvPr/>
        </p:nvSpPr>
        <p:spPr>
          <a:xfrm>
            <a:off x="1279525" y="1662113"/>
            <a:ext cx="1939925" cy="43497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381417" name="Text Box 41"/>
          <p:cNvSpPr txBox="1"/>
          <p:nvPr/>
        </p:nvSpPr>
        <p:spPr>
          <a:xfrm>
            <a:off x="1133475" y="2219325"/>
            <a:ext cx="31638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en-US" altLang="zh-CN" sz="2400" b="1" dirty="0">
                <a:ea typeface="宋体" panose="02010600030101010101" pitchFamily="2" charset="-122"/>
              </a:rPr>
              <a:t>a:2,</a:t>
            </a:r>
            <a:r>
              <a:rPr lang="zh-CN" altLang="zh-CN" sz="2400" b="1" dirty="0">
                <a:ea typeface="宋体" panose="02010600030101010101" pitchFamily="2" charset="-122"/>
              </a:rPr>
              <a:t>活；b:无，活}</a:t>
            </a:r>
            <a:endParaRPr lang="zh-CN" altLang="zh-CN" sz="2400" b="1" dirty="0">
              <a:ea typeface="宋体" panose="02010600030101010101" pitchFamily="2" charset="-122"/>
            </a:endParaRPr>
          </a:p>
        </p:txBody>
      </p:sp>
      <p:sp>
        <p:nvSpPr>
          <p:cNvPr id="1381418" name="Text Box 42"/>
          <p:cNvSpPr txBox="1"/>
          <p:nvPr/>
        </p:nvSpPr>
        <p:spPr>
          <a:xfrm>
            <a:off x="6172200" y="2209800"/>
            <a:ext cx="57785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tx2"/>
                </a:solidFill>
                <a:ea typeface="宋体" panose="02010600030101010101" pitchFamily="2" charset="-122"/>
              </a:rPr>
              <a:t>无</a:t>
            </a:r>
            <a:endParaRPr lang="zh-CN" altLang="en-US" sz="2400" b="1" dirty="0">
              <a:solidFill>
                <a:schemeClr val="tx2"/>
              </a:solidFill>
              <a:ea typeface="宋体" panose="02010600030101010101" pitchFamily="2" charset="-122"/>
            </a:endParaRPr>
          </a:p>
        </p:txBody>
      </p:sp>
      <p:sp>
        <p:nvSpPr>
          <p:cNvPr id="1381419" name="Text Box 43"/>
          <p:cNvSpPr txBox="1"/>
          <p:nvPr/>
        </p:nvSpPr>
        <p:spPr>
          <a:xfrm>
            <a:off x="7696200" y="2209800"/>
            <a:ext cx="5746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solidFill>
                  <a:schemeClr val="tx2"/>
                </a:solidFill>
                <a:ea typeface="宋体" panose="02010600030101010101" pitchFamily="2" charset="-122"/>
              </a:rPr>
              <a:t>非</a:t>
            </a:r>
            <a:endParaRPr lang="zh-CN" altLang="en-US" sz="2400" b="1" dirty="0">
              <a:solidFill>
                <a:schemeClr val="tx2"/>
              </a:solidFill>
              <a:ea typeface="宋体" panose="02010600030101010101" pitchFamily="2" charset="-122"/>
            </a:endParaRPr>
          </a:p>
        </p:txBody>
      </p:sp>
      <p:sp>
        <p:nvSpPr>
          <p:cNvPr id="1381420" name="Text Box 44"/>
          <p:cNvSpPr txBox="1"/>
          <p:nvPr/>
        </p:nvSpPr>
        <p:spPr>
          <a:xfrm>
            <a:off x="6248400" y="2743200"/>
            <a:ext cx="420688"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1</a:t>
            </a:r>
            <a:endParaRPr lang="zh-CN" altLang="en-US" sz="2400" b="1" dirty="0">
              <a:ea typeface="宋体" panose="02010600030101010101" pitchFamily="2" charset="-122"/>
            </a:endParaRPr>
          </a:p>
        </p:txBody>
      </p:sp>
      <p:sp>
        <p:nvSpPr>
          <p:cNvPr id="1381421" name="Text Box 45"/>
          <p:cNvSpPr txBox="1"/>
          <p:nvPr/>
        </p:nvSpPr>
        <p:spPr>
          <a:xfrm>
            <a:off x="6172200" y="3276600"/>
            <a:ext cx="3968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1</a:t>
            </a:r>
            <a:endParaRPr lang="zh-CN" altLang="en-US" sz="2400" b="1" dirty="0">
              <a:ea typeface="宋体" panose="02010600030101010101" pitchFamily="2" charset="-122"/>
            </a:endParaRPr>
          </a:p>
        </p:txBody>
      </p:sp>
      <p:sp>
        <p:nvSpPr>
          <p:cNvPr id="1381422" name="Text Box 46"/>
          <p:cNvSpPr txBox="1"/>
          <p:nvPr/>
        </p:nvSpPr>
        <p:spPr>
          <a:xfrm>
            <a:off x="7620000" y="3276600"/>
            <a:ext cx="469900"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活</a:t>
            </a:r>
            <a:endParaRPr lang="zh-CN" altLang="en-US" sz="2400" b="1" dirty="0">
              <a:ea typeface="宋体" panose="02010600030101010101" pitchFamily="2" charset="-122"/>
            </a:endParaRPr>
          </a:p>
        </p:txBody>
      </p:sp>
      <p:sp>
        <p:nvSpPr>
          <p:cNvPr id="1381423" name="Text Box 47"/>
          <p:cNvSpPr txBox="1"/>
          <p:nvPr/>
        </p:nvSpPr>
        <p:spPr>
          <a:xfrm>
            <a:off x="7772400" y="2743200"/>
            <a:ext cx="396875" cy="457200"/>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50000"/>
              </a:spcBef>
              <a:buClrTx/>
              <a:buSzTx/>
              <a:buNone/>
            </a:pPr>
            <a:r>
              <a:rPr lang="zh-CN" altLang="en-US" sz="2400" b="1" dirty="0">
                <a:ea typeface="宋体" panose="02010600030101010101" pitchFamily="2" charset="-122"/>
              </a:rPr>
              <a:t>活</a:t>
            </a:r>
            <a:endParaRPr lang="zh-CN" altLang="en-US" sz="2400" b="1" dirty="0">
              <a:ea typeface="宋体" panose="02010600030101010101" pitchFamily="2" charset="-122"/>
            </a:endParaRPr>
          </a:p>
        </p:txBody>
      </p:sp>
      <p:sp>
        <p:nvSpPr>
          <p:cNvPr id="1381424" name="Rectangle 48"/>
          <p:cNvSpPr/>
          <p:nvPr/>
        </p:nvSpPr>
        <p:spPr>
          <a:xfrm>
            <a:off x="3219450" y="1804988"/>
            <a:ext cx="13493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2400" b="1" dirty="0">
                <a:ea typeface="宋体" panose="02010600030101010101" pitchFamily="2" charset="-122"/>
              </a:rPr>
              <a:t>{t:3,</a:t>
            </a:r>
            <a:r>
              <a:rPr lang="zh-CN" altLang="zh-CN" sz="2400" b="1" dirty="0">
                <a:ea typeface="宋体" panose="02010600030101010101" pitchFamily="2" charset="-122"/>
              </a:rPr>
              <a:t>活；</a:t>
            </a:r>
            <a:endParaRPr lang="zh-CN" altLang="en-US" sz="2400" b="1" dirty="0">
              <a:ea typeface="宋体" panose="02010600030101010101" pitchFamily="2" charset="-122"/>
            </a:endParaRPr>
          </a:p>
        </p:txBody>
      </p:sp>
      <p:sp>
        <p:nvSpPr>
          <p:cNvPr id="102446" name="Line 9"/>
          <p:cNvSpPr/>
          <p:nvPr/>
        </p:nvSpPr>
        <p:spPr>
          <a:xfrm>
            <a:off x="4876800" y="3200400"/>
            <a:ext cx="3736975" cy="0"/>
          </a:xfrm>
          <a:prstGeom prst="line">
            <a:avLst/>
          </a:prstGeom>
          <a:ln w="9525" cap="flat" cmpd="sng">
            <a:solidFill>
              <a:schemeClr val="tx1"/>
            </a:solidFill>
            <a:prstDash val="solid"/>
            <a:headEnd type="none" w="med" len="med"/>
            <a:tailEnd type="none" w="med" len="med"/>
          </a:ln>
        </p:spPr>
      </p:sp>
      <p:sp>
        <p:nvSpPr>
          <p:cNvPr id="2" name="文本框 1"/>
          <p:cNvSpPr txBox="1"/>
          <p:nvPr/>
        </p:nvSpPr>
        <p:spPr>
          <a:xfrm>
            <a:off x="4135120" y="174625"/>
            <a:ext cx="5131435" cy="460375"/>
          </a:xfrm>
          <a:prstGeom prst="rect">
            <a:avLst/>
          </a:prstGeom>
          <a:noFill/>
        </p:spPr>
        <p:txBody>
          <a:bodyPr wrap="square" rtlCol="0">
            <a:spAutoFit/>
          </a:bodyPr>
          <a:p>
            <a:r>
              <a:rPr lang="en-US" altLang="zh-CN"/>
              <a:t>t</a:t>
            </a:r>
            <a:r>
              <a:rPr lang="zh-CN" altLang="en-US"/>
              <a:t>为临时变量，认为</a:t>
            </a:r>
            <a:r>
              <a:rPr lang="zh-CN" altLang="en-US"/>
              <a:t>无后续使用</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81407"/>
                                        </p:tgtEl>
                                        <p:attrNameLst>
                                          <p:attrName>style.visibility</p:attrName>
                                        </p:attrNameLst>
                                      </p:cBhvr>
                                      <p:to>
                                        <p:strVal val="visible"/>
                                      </p:to>
                                    </p:set>
                                    <p:anim calcmode="lin" valueType="num">
                                      <p:cBhvr additive="base">
                                        <p:cTn id="7" dur="500" fill="hold"/>
                                        <p:tgtEl>
                                          <p:spTgt spid="1381407"/>
                                        </p:tgtEl>
                                        <p:attrNameLst>
                                          <p:attrName>ppt_x</p:attrName>
                                        </p:attrNameLst>
                                      </p:cBhvr>
                                      <p:tavLst>
                                        <p:tav tm="0">
                                          <p:val>
                                            <p:strVal val="0-#ppt_w/2"/>
                                          </p:val>
                                        </p:tav>
                                        <p:tav tm="100000">
                                          <p:val>
                                            <p:strVal val="#ppt_x"/>
                                          </p:val>
                                        </p:tav>
                                      </p:tavLst>
                                    </p:anim>
                                    <p:anim calcmode="lin" valueType="num">
                                      <p:cBhvr additive="base">
                                        <p:cTn id="8" dur="500" fill="hold"/>
                                        <p:tgtEl>
                                          <p:spTgt spid="13814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81393"/>
                                        </p:tgtEl>
                                        <p:attrNameLst>
                                          <p:attrName>style.visibility</p:attrName>
                                        </p:attrNameLst>
                                      </p:cBhvr>
                                      <p:to>
                                        <p:strVal val="visible"/>
                                      </p:to>
                                    </p:set>
                                    <p:anim calcmode="lin" valueType="num">
                                      <p:cBhvr additive="base">
                                        <p:cTn id="13" dur="500" fill="hold"/>
                                        <p:tgtEl>
                                          <p:spTgt spid="1381393"/>
                                        </p:tgtEl>
                                        <p:attrNameLst>
                                          <p:attrName>ppt_x</p:attrName>
                                        </p:attrNameLst>
                                      </p:cBhvr>
                                      <p:tavLst>
                                        <p:tav tm="0">
                                          <p:val>
                                            <p:strVal val="0-#ppt_w/2"/>
                                          </p:val>
                                        </p:tav>
                                        <p:tav tm="100000">
                                          <p:val>
                                            <p:strVal val="#ppt_x"/>
                                          </p:val>
                                        </p:tav>
                                      </p:tavLst>
                                    </p:anim>
                                    <p:anim calcmode="lin" valueType="num">
                                      <p:cBhvr additive="base">
                                        <p:cTn id="14" dur="500" fill="hold"/>
                                        <p:tgtEl>
                                          <p:spTgt spid="13813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81394"/>
                                        </p:tgtEl>
                                        <p:attrNameLst>
                                          <p:attrName>style.visibility</p:attrName>
                                        </p:attrNameLst>
                                      </p:cBhvr>
                                      <p:to>
                                        <p:strVal val="visible"/>
                                      </p:to>
                                    </p:set>
                                    <p:anim calcmode="lin" valueType="num">
                                      <p:cBhvr additive="base">
                                        <p:cTn id="19" dur="500" fill="hold"/>
                                        <p:tgtEl>
                                          <p:spTgt spid="1381394"/>
                                        </p:tgtEl>
                                        <p:attrNameLst>
                                          <p:attrName>ppt_x</p:attrName>
                                        </p:attrNameLst>
                                      </p:cBhvr>
                                      <p:tavLst>
                                        <p:tav tm="0">
                                          <p:val>
                                            <p:strVal val="0-#ppt_w/2"/>
                                          </p:val>
                                        </p:tav>
                                        <p:tav tm="100000">
                                          <p:val>
                                            <p:strVal val="#ppt_x"/>
                                          </p:val>
                                        </p:tav>
                                      </p:tavLst>
                                    </p:anim>
                                    <p:anim calcmode="lin" valueType="num">
                                      <p:cBhvr additive="base">
                                        <p:cTn id="20" dur="500" fill="hold"/>
                                        <p:tgtEl>
                                          <p:spTgt spid="138139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381395"/>
                                        </p:tgtEl>
                                        <p:attrNameLst>
                                          <p:attrName>style.visibility</p:attrName>
                                        </p:attrNameLst>
                                      </p:cBhvr>
                                      <p:to>
                                        <p:strVal val="visible"/>
                                      </p:to>
                                    </p:set>
                                    <p:anim calcmode="lin" valueType="num">
                                      <p:cBhvr additive="base">
                                        <p:cTn id="25" dur="500" fill="hold"/>
                                        <p:tgtEl>
                                          <p:spTgt spid="1381395"/>
                                        </p:tgtEl>
                                        <p:attrNameLst>
                                          <p:attrName>ppt_x</p:attrName>
                                        </p:attrNameLst>
                                      </p:cBhvr>
                                      <p:tavLst>
                                        <p:tav tm="0">
                                          <p:val>
                                            <p:strVal val="0-#ppt_w/2"/>
                                          </p:val>
                                        </p:tav>
                                        <p:tav tm="100000">
                                          <p:val>
                                            <p:strVal val="#ppt_x"/>
                                          </p:val>
                                        </p:tav>
                                      </p:tavLst>
                                    </p:anim>
                                    <p:anim calcmode="lin" valueType="num">
                                      <p:cBhvr additive="base">
                                        <p:cTn id="26" dur="500" fill="hold"/>
                                        <p:tgtEl>
                                          <p:spTgt spid="138139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381396"/>
                                        </p:tgtEl>
                                        <p:attrNameLst>
                                          <p:attrName>style.visibility</p:attrName>
                                        </p:attrNameLst>
                                      </p:cBhvr>
                                      <p:to>
                                        <p:strVal val="visible"/>
                                      </p:to>
                                    </p:set>
                                    <p:anim calcmode="lin" valueType="num">
                                      <p:cBhvr additive="base">
                                        <p:cTn id="31" dur="500" fill="hold"/>
                                        <p:tgtEl>
                                          <p:spTgt spid="1381396"/>
                                        </p:tgtEl>
                                        <p:attrNameLst>
                                          <p:attrName>ppt_x</p:attrName>
                                        </p:attrNameLst>
                                      </p:cBhvr>
                                      <p:tavLst>
                                        <p:tav tm="0">
                                          <p:val>
                                            <p:strVal val="0-#ppt_w/2"/>
                                          </p:val>
                                        </p:tav>
                                        <p:tav tm="100000">
                                          <p:val>
                                            <p:strVal val="#ppt_x"/>
                                          </p:val>
                                        </p:tav>
                                      </p:tavLst>
                                    </p:anim>
                                    <p:anim calcmode="lin" valueType="num">
                                      <p:cBhvr additive="base">
                                        <p:cTn id="32" dur="500" fill="hold"/>
                                        <p:tgtEl>
                                          <p:spTgt spid="138139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381397"/>
                                        </p:tgtEl>
                                        <p:attrNameLst>
                                          <p:attrName>style.visibility</p:attrName>
                                        </p:attrNameLst>
                                      </p:cBhvr>
                                      <p:to>
                                        <p:strVal val="visible"/>
                                      </p:to>
                                    </p:set>
                                    <p:anim calcmode="lin" valueType="num">
                                      <p:cBhvr additive="base">
                                        <p:cTn id="37" dur="500" fill="hold"/>
                                        <p:tgtEl>
                                          <p:spTgt spid="1381397"/>
                                        </p:tgtEl>
                                        <p:attrNameLst>
                                          <p:attrName>ppt_x</p:attrName>
                                        </p:attrNameLst>
                                      </p:cBhvr>
                                      <p:tavLst>
                                        <p:tav tm="0">
                                          <p:val>
                                            <p:strVal val="0-#ppt_w/2"/>
                                          </p:val>
                                        </p:tav>
                                        <p:tav tm="100000">
                                          <p:val>
                                            <p:strVal val="#ppt_x"/>
                                          </p:val>
                                        </p:tav>
                                      </p:tavLst>
                                    </p:anim>
                                    <p:anim calcmode="lin" valueType="num">
                                      <p:cBhvr additive="base">
                                        <p:cTn id="38" dur="500" fill="hold"/>
                                        <p:tgtEl>
                                          <p:spTgt spid="138139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381398"/>
                                        </p:tgtEl>
                                        <p:attrNameLst>
                                          <p:attrName>style.visibility</p:attrName>
                                        </p:attrNameLst>
                                      </p:cBhvr>
                                      <p:to>
                                        <p:strVal val="visible"/>
                                      </p:to>
                                    </p:set>
                                    <p:anim calcmode="lin" valueType="num">
                                      <p:cBhvr additive="base">
                                        <p:cTn id="43" dur="500" fill="hold"/>
                                        <p:tgtEl>
                                          <p:spTgt spid="1381398"/>
                                        </p:tgtEl>
                                        <p:attrNameLst>
                                          <p:attrName>ppt_x</p:attrName>
                                        </p:attrNameLst>
                                      </p:cBhvr>
                                      <p:tavLst>
                                        <p:tav tm="0">
                                          <p:val>
                                            <p:strVal val="0-#ppt_w/2"/>
                                          </p:val>
                                        </p:tav>
                                        <p:tav tm="100000">
                                          <p:val>
                                            <p:strVal val="#ppt_x"/>
                                          </p:val>
                                        </p:tav>
                                      </p:tavLst>
                                    </p:anim>
                                    <p:anim calcmode="lin" valueType="num">
                                      <p:cBhvr additive="base">
                                        <p:cTn id="44" dur="500" fill="hold"/>
                                        <p:tgtEl>
                                          <p:spTgt spid="138139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381399"/>
                                        </p:tgtEl>
                                        <p:attrNameLst>
                                          <p:attrName>style.visibility</p:attrName>
                                        </p:attrNameLst>
                                      </p:cBhvr>
                                      <p:to>
                                        <p:strVal val="visible"/>
                                      </p:to>
                                    </p:set>
                                    <p:anim calcmode="lin" valueType="num">
                                      <p:cBhvr additive="base">
                                        <p:cTn id="49" dur="500" fill="hold"/>
                                        <p:tgtEl>
                                          <p:spTgt spid="1381399"/>
                                        </p:tgtEl>
                                        <p:attrNameLst>
                                          <p:attrName>ppt_x</p:attrName>
                                        </p:attrNameLst>
                                      </p:cBhvr>
                                      <p:tavLst>
                                        <p:tav tm="0">
                                          <p:val>
                                            <p:strVal val="0-#ppt_w/2"/>
                                          </p:val>
                                        </p:tav>
                                        <p:tav tm="100000">
                                          <p:val>
                                            <p:strVal val="#ppt_x"/>
                                          </p:val>
                                        </p:tav>
                                      </p:tavLst>
                                    </p:anim>
                                    <p:anim calcmode="lin" valueType="num">
                                      <p:cBhvr additive="base">
                                        <p:cTn id="50" dur="500" fill="hold"/>
                                        <p:tgtEl>
                                          <p:spTgt spid="138139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381392"/>
                                        </p:tgtEl>
                                        <p:attrNameLst>
                                          <p:attrName>style.visibility</p:attrName>
                                        </p:attrNameLst>
                                      </p:cBhvr>
                                      <p:to>
                                        <p:strVal val="visible"/>
                                      </p:to>
                                    </p:set>
                                    <p:anim calcmode="lin" valueType="num">
                                      <p:cBhvr additive="base">
                                        <p:cTn id="55" dur="500" fill="hold"/>
                                        <p:tgtEl>
                                          <p:spTgt spid="1381392"/>
                                        </p:tgtEl>
                                        <p:attrNameLst>
                                          <p:attrName>ppt_x</p:attrName>
                                        </p:attrNameLst>
                                      </p:cBhvr>
                                      <p:tavLst>
                                        <p:tav tm="0">
                                          <p:val>
                                            <p:strVal val="0-#ppt_w/2"/>
                                          </p:val>
                                        </p:tav>
                                        <p:tav tm="100000">
                                          <p:val>
                                            <p:strVal val="#ppt_x"/>
                                          </p:val>
                                        </p:tav>
                                      </p:tavLst>
                                    </p:anim>
                                    <p:anim calcmode="lin" valueType="num">
                                      <p:cBhvr additive="base">
                                        <p:cTn id="56" dur="500" fill="hold"/>
                                        <p:tgtEl>
                                          <p:spTgt spid="138139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381400"/>
                                        </p:tgtEl>
                                        <p:attrNameLst>
                                          <p:attrName>style.visibility</p:attrName>
                                        </p:attrNameLst>
                                      </p:cBhvr>
                                      <p:to>
                                        <p:strVal val="visible"/>
                                      </p:to>
                                    </p:set>
                                    <p:anim calcmode="lin" valueType="num">
                                      <p:cBhvr additive="base">
                                        <p:cTn id="61" dur="500" fill="hold"/>
                                        <p:tgtEl>
                                          <p:spTgt spid="1381400"/>
                                        </p:tgtEl>
                                        <p:attrNameLst>
                                          <p:attrName>ppt_x</p:attrName>
                                        </p:attrNameLst>
                                      </p:cBhvr>
                                      <p:tavLst>
                                        <p:tav tm="0">
                                          <p:val>
                                            <p:strVal val="0-#ppt_w/2"/>
                                          </p:val>
                                        </p:tav>
                                        <p:tav tm="100000">
                                          <p:val>
                                            <p:strVal val="#ppt_x"/>
                                          </p:val>
                                        </p:tav>
                                      </p:tavLst>
                                    </p:anim>
                                    <p:anim calcmode="lin" valueType="num">
                                      <p:cBhvr additive="base">
                                        <p:cTn id="62" dur="500" fill="hold"/>
                                        <p:tgtEl>
                                          <p:spTgt spid="138140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381401"/>
                                        </p:tgtEl>
                                        <p:attrNameLst>
                                          <p:attrName>style.visibility</p:attrName>
                                        </p:attrNameLst>
                                      </p:cBhvr>
                                      <p:to>
                                        <p:strVal val="visible"/>
                                      </p:to>
                                    </p:set>
                                    <p:anim calcmode="lin" valueType="num">
                                      <p:cBhvr additive="base">
                                        <p:cTn id="67" dur="500" fill="hold"/>
                                        <p:tgtEl>
                                          <p:spTgt spid="1381401"/>
                                        </p:tgtEl>
                                        <p:attrNameLst>
                                          <p:attrName>ppt_x</p:attrName>
                                        </p:attrNameLst>
                                      </p:cBhvr>
                                      <p:tavLst>
                                        <p:tav tm="0">
                                          <p:val>
                                            <p:strVal val="0-#ppt_w/2"/>
                                          </p:val>
                                        </p:tav>
                                        <p:tav tm="100000">
                                          <p:val>
                                            <p:strVal val="#ppt_x"/>
                                          </p:val>
                                        </p:tav>
                                      </p:tavLst>
                                    </p:anim>
                                    <p:anim calcmode="lin" valueType="num">
                                      <p:cBhvr additive="base">
                                        <p:cTn id="68" dur="500" fill="hold"/>
                                        <p:tgtEl>
                                          <p:spTgt spid="1381401"/>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1381402"/>
                                        </p:tgtEl>
                                        <p:attrNameLst>
                                          <p:attrName>style.visibility</p:attrName>
                                        </p:attrNameLst>
                                      </p:cBhvr>
                                      <p:to>
                                        <p:strVal val="visible"/>
                                      </p:to>
                                    </p:set>
                                    <p:anim calcmode="lin" valueType="num">
                                      <p:cBhvr additive="base">
                                        <p:cTn id="73" dur="500" fill="hold"/>
                                        <p:tgtEl>
                                          <p:spTgt spid="1381402"/>
                                        </p:tgtEl>
                                        <p:attrNameLst>
                                          <p:attrName>ppt_x</p:attrName>
                                        </p:attrNameLst>
                                      </p:cBhvr>
                                      <p:tavLst>
                                        <p:tav tm="0">
                                          <p:val>
                                            <p:strVal val="0-#ppt_w/2"/>
                                          </p:val>
                                        </p:tav>
                                        <p:tav tm="100000">
                                          <p:val>
                                            <p:strVal val="#ppt_x"/>
                                          </p:val>
                                        </p:tav>
                                      </p:tavLst>
                                    </p:anim>
                                    <p:anim calcmode="lin" valueType="num">
                                      <p:cBhvr additive="base">
                                        <p:cTn id="74" dur="500" fill="hold"/>
                                        <p:tgtEl>
                                          <p:spTgt spid="1381402"/>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1381403"/>
                                        </p:tgtEl>
                                        <p:attrNameLst>
                                          <p:attrName>style.visibility</p:attrName>
                                        </p:attrNameLst>
                                      </p:cBhvr>
                                      <p:to>
                                        <p:strVal val="visible"/>
                                      </p:to>
                                    </p:set>
                                    <p:anim calcmode="lin" valueType="num">
                                      <p:cBhvr additive="base">
                                        <p:cTn id="79" dur="500" fill="hold"/>
                                        <p:tgtEl>
                                          <p:spTgt spid="1381403"/>
                                        </p:tgtEl>
                                        <p:attrNameLst>
                                          <p:attrName>ppt_x</p:attrName>
                                        </p:attrNameLst>
                                      </p:cBhvr>
                                      <p:tavLst>
                                        <p:tav tm="0">
                                          <p:val>
                                            <p:strVal val="0-#ppt_w/2"/>
                                          </p:val>
                                        </p:tav>
                                        <p:tav tm="100000">
                                          <p:val>
                                            <p:strVal val="#ppt_x"/>
                                          </p:val>
                                        </p:tav>
                                      </p:tavLst>
                                    </p:anim>
                                    <p:anim calcmode="lin" valueType="num">
                                      <p:cBhvr additive="base">
                                        <p:cTn id="80" dur="500" fill="hold"/>
                                        <p:tgtEl>
                                          <p:spTgt spid="138140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nodeType="clickEffect">
                                  <p:stCondLst>
                                    <p:cond delay="0"/>
                                  </p:stCondLst>
                                  <p:childTnLst>
                                    <p:set>
                                      <p:cBhvr>
                                        <p:cTn id="84" dur="1" fill="hold">
                                          <p:stCondLst>
                                            <p:cond delay="0"/>
                                          </p:stCondLst>
                                        </p:cTn>
                                        <p:tgtEl>
                                          <p:spTgt spid="1381404"/>
                                        </p:tgtEl>
                                        <p:attrNameLst>
                                          <p:attrName>style.visibility</p:attrName>
                                        </p:attrNameLst>
                                      </p:cBhvr>
                                      <p:to>
                                        <p:strVal val="visible"/>
                                      </p:to>
                                    </p:set>
                                    <p:anim calcmode="lin" valueType="num">
                                      <p:cBhvr additive="base">
                                        <p:cTn id="85" dur="500" fill="hold"/>
                                        <p:tgtEl>
                                          <p:spTgt spid="1381404"/>
                                        </p:tgtEl>
                                        <p:attrNameLst>
                                          <p:attrName>ppt_x</p:attrName>
                                        </p:attrNameLst>
                                      </p:cBhvr>
                                      <p:tavLst>
                                        <p:tav tm="0">
                                          <p:val>
                                            <p:strVal val="0-#ppt_w/2"/>
                                          </p:val>
                                        </p:tav>
                                        <p:tav tm="100000">
                                          <p:val>
                                            <p:strVal val="#ppt_x"/>
                                          </p:val>
                                        </p:tav>
                                      </p:tavLst>
                                    </p:anim>
                                    <p:anim calcmode="lin" valueType="num">
                                      <p:cBhvr additive="base">
                                        <p:cTn id="86" dur="500" fill="hold"/>
                                        <p:tgtEl>
                                          <p:spTgt spid="1381404"/>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1381405"/>
                                        </p:tgtEl>
                                        <p:attrNameLst>
                                          <p:attrName>style.visibility</p:attrName>
                                        </p:attrNameLst>
                                      </p:cBhvr>
                                      <p:to>
                                        <p:strVal val="visible"/>
                                      </p:to>
                                    </p:set>
                                    <p:anim calcmode="lin" valueType="num">
                                      <p:cBhvr additive="base">
                                        <p:cTn id="91" dur="500" fill="hold"/>
                                        <p:tgtEl>
                                          <p:spTgt spid="1381405"/>
                                        </p:tgtEl>
                                        <p:attrNameLst>
                                          <p:attrName>ppt_x</p:attrName>
                                        </p:attrNameLst>
                                      </p:cBhvr>
                                      <p:tavLst>
                                        <p:tav tm="0">
                                          <p:val>
                                            <p:strVal val="0-#ppt_w/2"/>
                                          </p:val>
                                        </p:tav>
                                        <p:tav tm="100000">
                                          <p:val>
                                            <p:strVal val="#ppt_x"/>
                                          </p:val>
                                        </p:tav>
                                      </p:tavLst>
                                    </p:anim>
                                    <p:anim calcmode="lin" valueType="num">
                                      <p:cBhvr additive="base">
                                        <p:cTn id="92" dur="500" fill="hold"/>
                                        <p:tgtEl>
                                          <p:spTgt spid="1381405"/>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nodeType="clickEffect">
                                  <p:stCondLst>
                                    <p:cond delay="0"/>
                                  </p:stCondLst>
                                  <p:childTnLst>
                                    <p:set>
                                      <p:cBhvr>
                                        <p:cTn id="96" dur="1" fill="hold">
                                          <p:stCondLst>
                                            <p:cond delay="0"/>
                                          </p:stCondLst>
                                        </p:cTn>
                                        <p:tgtEl>
                                          <p:spTgt spid="1381406"/>
                                        </p:tgtEl>
                                        <p:attrNameLst>
                                          <p:attrName>style.visibility</p:attrName>
                                        </p:attrNameLst>
                                      </p:cBhvr>
                                      <p:to>
                                        <p:strVal val="visible"/>
                                      </p:to>
                                    </p:set>
                                    <p:anim calcmode="lin" valueType="num">
                                      <p:cBhvr additive="base">
                                        <p:cTn id="97" dur="500" fill="hold"/>
                                        <p:tgtEl>
                                          <p:spTgt spid="1381406"/>
                                        </p:tgtEl>
                                        <p:attrNameLst>
                                          <p:attrName>ppt_x</p:attrName>
                                        </p:attrNameLst>
                                      </p:cBhvr>
                                      <p:tavLst>
                                        <p:tav tm="0">
                                          <p:val>
                                            <p:strVal val="0-#ppt_w/2"/>
                                          </p:val>
                                        </p:tav>
                                        <p:tav tm="100000">
                                          <p:val>
                                            <p:strVal val="#ppt_x"/>
                                          </p:val>
                                        </p:tav>
                                      </p:tavLst>
                                    </p:anim>
                                    <p:anim calcmode="lin" valueType="num">
                                      <p:cBhvr additive="base">
                                        <p:cTn id="98" dur="500" fill="hold"/>
                                        <p:tgtEl>
                                          <p:spTgt spid="1381406"/>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nodeType="clickEffect">
                                  <p:stCondLst>
                                    <p:cond delay="0"/>
                                  </p:stCondLst>
                                  <p:childTnLst>
                                    <p:set>
                                      <p:cBhvr>
                                        <p:cTn id="102" dur="1" fill="hold">
                                          <p:stCondLst>
                                            <p:cond delay="0"/>
                                          </p:stCondLst>
                                        </p:cTn>
                                        <p:tgtEl>
                                          <p:spTgt spid="1381409"/>
                                        </p:tgtEl>
                                        <p:attrNameLst>
                                          <p:attrName>style.visibility</p:attrName>
                                        </p:attrNameLst>
                                      </p:cBhvr>
                                      <p:to>
                                        <p:strVal val="visible"/>
                                      </p:to>
                                    </p:set>
                                    <p:anim calcmode="lin" valueType="num">
                                      <p:cBhvr additive="base">
                                        <p:cTn id="103" dur="500" fill="hold"/>
                                        <p:tgtEl>
                                          <p:spTgt spid="1381409"/>
                                        </p:tgtEl>
                                        <p:attrNameLst>
                                          <p:attrName>ppt_x</p:attrName>
                                        </p:attrNameLst>
                                      </p:cBhvr>
                                      <p:tavLst>
                                        <p:tav tm="0">
                                          <p:val>
                                            <p:strVal val="0-#ppt_w/2"/>
                                          </p:val>
                                        </p:tav>
                                        <p:tav tm="100000">
                                          <p:val>
                                            <p:strVal val="#ppt_x"/>
                                          </p:val>
                                        </p:tav>
                                      </p:tavLst>
                                    </p:anim>
                                    <p:anim calcmode="lin" valueType="num">
                                      <p:cBhvr additive="base">
                                        <p:cTn id="104" dur="500" fill="hold"/>
                                        <p:tgtEl>
                                          <p:spTgt spid="1381409"/>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nodeType="clickEffect">
                                  <p:stCondLst>
                                    <p:cond delay="0"/>
                                  </p:stCondLst>
                                  <p:childTnLst>
                                    <p:set>
                                      <p:cBhvr>
                                        <p:cTn id="108" dur="1" fill="hold">
                                          <p:stCondLst>
                                            <p:cond delay="0"/>
                                          </p:stCondLst>
                                        </p:cTn>
                                        <p:tgtEl>
                                          <p:spTgt spid="1381408"/>
                                        </p:tgtEl>
                                        <p:attrNameLst>
                                          <p:attrName>style.visibility</p:attrName>
                                        </p:attrNameLst>
                                      </p:cBhvr>
                                      <p:to>
                                        <p:strVal val="visible"/>
                                      </p:to>
                                    </p:set>
                                    <p:anim calcmode="lin" valueType="num">
                                      <p:cBhvr additive="base">
                                        <p:cTn id="109" dur="500" fill="hold"/>
                                        <p:tgtEl>
                                          <p:spTgt spid="1381408"/>
                                        </p:tgtEl>
                                        <p:attrNameLst>
                                          <p:attrName>ppt_x</p:attrName>
                                        </p:attrNameLst>
                                      </p:cBhvr>
                                      <p:tavLst>
                                        <p:tav tm="0">
                                          <p:val>
                                            <p:strVal val="0-#ppt_w/2"/>
                                          </p:val>
                                        </p:tav>
                                        <p:tav tm="100000">
                                          <p:val>
                                            <p:strVal val="#ppt_x"/>
                                          </p:val>
                                        </p:tav>
                                      </p:tavLst>
                                    </p:anim>
                                    <p:anim calcmode="lin" valueType="num">
                                      <p:cBhvr additive="base">
                                        <p:cTn id="110" dur="500" fill="hold"/>
                                        <p:tgtEl>
                                          <p:spTgt spid="138140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8" fill="hold" nodeType="clickEffect">
                                  <p:stCondLst>
                                    <p:cond delay="0"/>
                                  </p:stCondLst>
                                  <p:childTnLst>
                                    <p:set>
                                      <p:cBhvr>
                                        <p:cTn id="114" dur="1" fill="hold">
                                          <p:stCondLst>
                                            <p:cond delay="0"/>
                                          </p:stCondLst>
                                        </p:cTn>
                                        <p:tgtEl>
                                          <p:spTgt spid="1381410"/>
                                        </p:tgtEl>
                                        <p:attrNameLst>
                                          <p:attrName>style.visibility</p:attrName>
                                        </p:attrNameLst>
                                      </p:cBhvr>
                                      <p:to>
                                        <p:strVal val="visible"/>
                                      </p:to>
                                    </p:set>
                                    <p:anim calcmode="lin" valueType="num">
                                      <p:cBhvr additive="base">
                                        <p:cTn id="115" dur="500" fill="hold"/>
                                        <p:tgtEl>
                                          <p:spTgt spid="1381410"/>
                                        </p:tgtEl>
                                        <p:attrNameLst>
                                          <p:attrName>ppt_x</p:attrName>
                                        </p:attrNameLst>
                                      </p:cBhvr>
                                      <p:tavLst>
                                        <p:tav tm="0">
                                          <p:val>
                                            <p:strVal val="0-#ppt_w/2"/>
                                          </p:val>
                                        </p:tav>
                                        <p:tav tm="100000">
                                          <p:val>
                                            <p:strVal val="#ppt_x"/>
                                          </p:val>
                                        </p:tav>
                                      </p:tavLst>
                                    </p:anim>
                                    <p:anim calcmode="lin" valueType="num">
                                      <p:cBhvr additive="base">
                                        <p:cTn id="116" dur="500" fill="hold"/>
                                        <p:tgtEl>
                                          <p:spTgt spid="1381410"/>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8" fill="hold" nodeType="clickEffect">
                                  <p:stCondLst>
                                    <p:cond delay="0"/>
                                  </p:stCondLst>
                                  <p:childTnLst>
                                    <p:set>
                                      <p:cBhvr>
                                        <p:cTn id="120" dur="1" fill="hold">
                                          <p:stCondLst>
                                            <p:cond delay="0"/>
                                          </p:stCondLst>
                                        </p:cTn>
                                        <p:tgtEl>
                                          <p:spTgt spid="1381411"/>
                                        </p:tgtEl>
                                        <p:attrNameLst>
                                          <p:attrName>style.visibility</p:attrName>
                                        </p:attrNameLst>
                                      </p:cBhvr>
                                      <p:to>
                                        <p:strVal val="visible"/>
                                      </p:to>
                                    </p:set>
                                    <p:anim calcmode="lin" valueType="num">
                                      <p:cBhvr additive="base">
                                        <p:cTn id="121" dur="500" fill="hold"/>
                                        <p:tgtEl>
                                          <p:spTgt spid="1381411"/>
                                        </p:tgtEl>
                                        <p:attrNameLst>
                                          <p:attrName>ppt_x</p:attrName>
                                        </p:attrNameLst>
                                      </p:cBhvr>
                                      <p:tavLst>
                                        <p:tav tm="0">
                                          <p:val>
                                            <p:strVal val="0-#ppt_w/2"/>
                                          </p:val>
                                        </p:tav>
                                        <p:tav tm="100000">
                                          <p:val>
                                            <p:strVal val="#ppt_x"/>
                                          </p:val>
                                        </p:tav>
                                      </p:tavLst>
                                    </p:anim>
                                    <p:anim calcmode="lin" valueType="num">
                                      <p:cBhvr additive="base">
                                        <p:cTn id="122" dur="500" fill="hold"/>
                                        <p:tgtEl>
                                          <p:spTgt spid="1381411"/>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8" fill="hold" nodeType="clickEffect">
                                  <p:stCondLst>
                                    <p:cond delay="0"/>
                                  </p:stCondLst>
                                  <p:childTnLst>
                                    <p:set>
                                      <p:cBhvr>
                                        <p:cTn id="126" dur="1" fill="hold">
                                          <p:stCondLst>
                                            <p:cond delay="0"/>
                                          </p:stCondLst>
                                        </p:cTn>
                                        <p:tgtEl>
                                          <p:spTgt spid="1381412"/>
                                        </p:tgtEl>
                                        <p:attrNameLst>
                                          <p:attrName>style.visibility</p:attrName>
                                        </p:attrNameLst>
                                      </p:cBhvr>
                                      <p:to>
                                        <p:strVal val="visible"/>
                                      </p:to>
                                    </p:set>
                                    <p:anim calcmode="lin" valueType="num">
                                      <p:cBhvr additive="base">
                                        <p:cTn id="127" dur="500" fill="hold"/>
                                        <p:tgtEl>
                                          <p:spTgt spid="1381412"/>
                                        </p:tgtEl>
                                        <p:attrNameLst>
                                          <p:attrName>ppt_x</p:attrName>
                                        </p:attrNameLst>
                                      </p:cBhvr>
                                      <p:tavLst>
                                        <p:tav tm="0">
                                          <p:val>
                                            <p:strVal val="0-#ppt_w/2"/>
                                          </p:val>
                                        </p:tav>
                                        <p:tav tm="100000">
                                          <p:val>
                                            <p:strVal val="#ppt_x"/>
                                          </p:val>
                                        </p:tav>
                                      </p:tavLst>
                                    </p:anim>
                                    <p:anim calcmode="lin" valueType="num">
                                      <p:cBhvr additive="base">
                                        <p:cTn id="128" dur="500" fill="hold"/>
                                        <p:tgtEl>
                                          <p:spTgt spid="1381412"/>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8" fill="hold" nodeType="clickEffect">
                                  <p:stCondLst>
                                    <p:cond delay="0"/>
                                  </p:stCondLst>
                                  <p:childTnLst>
                                    <p:set>
                                      <p:cBhvr>
                                        <p:cTn id="132" dur="1" fill="hold">
                                          <p:stCondLst>
                                            <p:cond delay="0"/>
                                          </p:stCondLst>
                                        </p:cTn>
                                        <p:tgtEl>
                                          <p:spTgt spid="1381413"/>
                                        </p:tgtEl>
                                        <p:attrNameLst>
                                          <p:attrName>style.visibility</p:attrName>
                                        </p:attrNameLst>
                                      </p:cBhvr>
                                      <p:to>
                                        <p:strVal val="visible"/>
                                      </p:to>
                                    </p:set>
                                    <p:anim calcmode="lin" valueType="num">
                                      <p:cBhvr additive="base">
                                        <p:cTn id="133" dur="500" fill="hold"/>
                                        <p:tgtEl>
                                          <p:spTgt spid="1381413"/>
                                        </p:tgtEl>
                                        <p:attrNameLst>
                                          <p:attrName>ppt_x</p:attrName>
                                        </p:attrNameLst>
                                      </p:cBhvr>
                                      <p:tavLst>
                                        <p:tav tm="0">
                                          <p:val>
                                            <p:strVal val="0-#ppt_w/2"/>
                                          </p:val>
                                        </p:tav>
                                        <p:tav tm="100000">
                                          <p:val>
                                            <p:strVal val="#ppt_x"/>
                                          </p:val>
                                        </p:tav>
                                      </p:tavLst>
                                    </p:anim>
                                    <p:anim calcmode="lin" valueType="num">
                                      <p:cBhvr additive="base">
                                        <p:cTn id="134" dur="500" fill="hold"/>
                                        <p:tgtEl>
                                          <p:spTgt spid="1381413"/>
                                        </p:tgtEl>
                                        <p:attrNameLst>
                                          <p:attrName>ppt_y</p:attrName>
                                        </p:attrNameLst>
                                      </p:cBhvr>
                                      <p:tavLst>
                                        <p:tav tm="0">
                                          <p:val>
                                            <p:strVal val="#ppt_y"/>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8" fill="hold" nodeType="clickEffect">
                                  <p:stCondLst>
                                    <p:cond delay="0"/>
                                  </p:stCondLst>
                                  <p:childTnLst>
                                    <p:set>
                                      <p:cBhvr>
                                        <p:cTn id="138" dur="1" fill="hold">
                                          <p:stCondLst>
                                            <p:cond delay="0"/>
                                          </p:stCondLst>
                                        </p:cTn>
                                        <p:tgtEl>
                                          <p:spTgt spid="1381414"/>
                                        </p:tgtEl>
                                        <p:attrNameLst>
                                          <p:attrName>style.visibility</p:attrName>
                                        </p:attrNameLst>
                                      </p:cBhvr>
                                      <p:to>
                                        <p:strVal val="visible"/>
                                      </p:to>
                                    </p:set>
                                    <p:anim calcmode="lin" valueType="num">
                                      <p:cBhvr additive="base">
                                        <p:cTn id="139" dur="500" fill="hold"/>
                                        <p:tgtEl>
                                          <p:spTgt spid="1381414"/>
                                        </p:tgtEl>
                                        <p:attrNameLst>
                                          <p:attrName>ppt_x</p:attrName>
                                        </p:attrNameLst>
                                      </p:cBhvr>
                                      <p:tavLst>
                                        <p:tav tm="0">
                                          <p:val>
                                            <p:strVal val="0-#ppt_w/2"/>
                                          </p:val>
                                        </p:tav>
                                        <p:tav tm="100000">
                                          <p:val>
                                            <p:strVal val="#ppt_x"/>
                                          </p:val>
                                        </p:tav>
                                      </p:tavLst>
                                    </p:anim>
                                    <p:anim calcmode="lin" valueType="num">
                                      <p:cBhvr additive="base">
                                        <p:cTn id="140" dur="500" fill="hold"/>
                                        <p:tgtEl>
                                          <p:spTgt spid="1381414"/>
                                        </p:tgtEl>
                                        <p:attrNameLst>
                                          <p:attrName>ppt_y</p:attrName>
                                        </p:attrNameLst>
                                      </p:cBhvr>
                                      <p:tavLst>
                                        <p:tav tm="0">
                                          <p:val>
                                            <p:strVal val="#ppt_y"/>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nodeType="clickEffect">
                                  <p:stCondLst>
                                    <p:cond delay="0"/>
                                  </p:stCondLst>
                                  <p:childTnLst>
                                    <p:set>
                                      <p:cBhvr>
                                        <p:cTn id="144" dur="1" fill="hold">
                                          <p:stCondLst>
                                            <p:cond delay="0"/>
                                          </p:stCondLst>
                                        </p:cTn>
                                        <p:tgtEl>
                                          <p:spTgt spid="1381415"/>
                                        </p:tgtEl>
                                        <p:attrNameLst>
                                          <p:attrName>style.visibility</p:attrName>
                                        </p:attrNameLst>
                                      </p:cBhvr>
                                      <p:to>
                                        <p:strVal val="visible"/>
                                      </p:to>
                                    </p:set>
                                    <p:anim calcmode="lin" valueType="num">
                                      <p:cBhvr additive="base">
                                        <p:cTn id="145" dur="500" fill="hold"/>
                                        <p:tgtEl>
                                          <p:spTgt spid="1381415"/>
                                        </p:tgtEl>
                                        <p:attrNameLst>
                                          <p:attrName>ppt_x</p:attrName>
                                        </p:attrNameLst>
                                      </p:cBhvr>
                                      <p:tavLst>
                                        <p:tav tm="0">
                                          <p:val>
                                            <p:strVal val="0-#ppt_w/2"/>
                                          </p:val>
                                        </p:tav>
                                        <p:tav tm="100000">
                                          <p:val>
                                            <p:strVal val="#ppt_x"/>
                                          </p:val>
                                        </p:tav>
                                      </p:tavLst>
                                    </p:anim>
                                    <p:anim calcmode="lin" valueType="num">
                                      <p:cBhvr additive="base">
                                        <p:cTn id="146" dur="500" fill="hold"/>
                                        <p:tgtEl>
                                          <p:spTgt spid="1381415"/>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8" fill="hold" nodeType="clickEffect">
                                  <p:stCondLst>
                                    <p:cond delay="0"/>
                                  </p:stCondLst>
                                  <p:childTnLst>
                                    <p:set>
                                      <p:cBhvr>
                                        <p:cTn id="150" dur="1" fill="hold">
                                          <p:stCondLst>
                                            <p:cond delay="0"/>
                                          </p:stCondLst>
                                        </p:cTn>
                                        <p:tgtEl>
                                          <p:spTgt spid="1381416"/>
                                        </p:tgtEl>
                                        <p:attrNameLst>
                                          <p:attrName>style.visibility</p:attrName>
                                        </p:attrNameLst>
                                      </p:cBhvr>
                                      <p:to>
                                        <p:strVal val="visible"/>
                                      </p:to>
                                    </p:set>
                                    <p:anim calcmode="lin" valueType="num">
                                      <p:cBhvr additive="base">
                                        <p:cTn id="151" dur="500" fill="hold"/>
                                        <p:tgtEl>
                                          <p:spTgt spid="1381416"/>
                                        </p:tgtEl>
                                        <p:attrNameLst>
                                          <p:attrName>ppt_x</p:attrName>
                                        </p:attrNameLst>
                                      </p:cBhvr>
                                      <p:tavLst>
                                        <p:tav tm="0">
                                          <p:val>
                                            <p:strVal val="0-#ppt_w/2"/>
                                          </p:val>
                                        </p:tav>
                                        <p:tav tm="100000">
                                          <p:val>
                                            <p:strVal val="#ppt_x"/>
                                          </p:val>
                                        </p:tav>
                                      </p:tavLst>
                                    </p:anim>
                                    <p:anim calcmode="lin" valueType="num">
                                      <p:cBhvr additive="base">
                                        <p:cTn id="152" dur="500" fill="hold"/>
                                        <p:tgtEl>
                                          <p:spTgt spid="1381416"/>
                                        </p:tgtEl>
                                        <p:attrNameLst>
                                          <p:attrName>ppt_y</p:attrName>
                                        </p:attrNameLst>
                                      </p:cBhvr>
                                      <p:tavLst>
                                        <p:tav tm="0">
                                          <p:val>
                                            <p:strVal val="#ppt_y"/>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8" fill="hold" nodeType="clickEffect">
                                  <p:stCondLst>
                                    <p:cond delay="0"/>
                                  </p:stCondLst>
                                  <p:childTnLst>
                                    <p:set>
                                      <p:cBhvr>
                                        <p:cTn id="156" dur="1" fill="hold">
                                          <p:stCondLst>
                                            <p:cond delay="0"/>
                                          </p:stCondLst>
                                        </p:cTn>
                                        <p:tgtEl>
                                          <p:spTgt spid="1381424"/>
                                        </p:tgtEl>
                                        <p:attrNameLst>
                                          <p:attrName>style.visibility</p:attrName>
                                        </p:attrNameLst>
                                      </p:cBhvr>
                                      <p:to>
                                        <p:strVal val="visible"/>
                                      </p:to>
                                    </p:set>
                                    <p:anim calcmode="lin" valueType="num">
                                      <p:cBhvr additive="base">
                                        <p:cTn id="157" dur="500" fill="hold"/>
                                        <p:tgtEl>
                                          <p:spTgt spid="1381424"/>
                                        </p:tgtEl>
                                        <p:attrNameLst>
                                          <p:attrName>ppt_x</p:attrName>
                                        </p:attrNameLst>
                                      </p:cBhvr>
                                      <p:tavLst>
                                        <p:tav tm="0">
                                          <p:val>
                                            <p:strVal val="0-#ppt_w/2"/>
                                          </p:val>
                                        </p:tav>
                                        <p:tav tm="100000">
                                          <p:val>
                                            <p:strVal val="#ppt_x"/>
                                          </p:val>
                                        </p:tav>
                                      </p:tavLst>
                                    </p:anim>
                                    <p:anim calcmode="lin" valueType="num">
                                      <p:cBhvr additive="base">
                                        <p:cTn id="158" dur="500" fill="hold"/>
                                        <p:tgtEl>
                                          <p:spTgt spid="1381424"/>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nodeType="clickEffect">
                                  <p:stCondLst>
                                    <p:cond delay="0"/>
                                  </p:stCondLst>
                                  <p:childTnLst>
                                    <p:set>
                                      <p:cBhvr>
                                        <p:cTn id="162" dur="1" fill="hold">
                                          <p:stCondLst>
                                            <p:cond delay="0"/>
                                          </p:stCondLst>
                                        </p:cTn>
                                        <p:tgtEl>
                                          <p:spTgt spid="1381417"/>
                                        </p:tgtEl>
                                        <p:attrNameLst>
                                          <p:attrName>style.visibility</p:attrName>
                                        </p:attrNameLst>
                                      </p:cBhvr>
                                      <p:to>
                                        <p:strVal val="visible"/>
                                      </p:to>
                                    </p:set>
                                    <p:anim calcmode="lin" valueType="num">
                                      <p:cBhvr additive="base">
                                        <p:cTn id="163" dur="500" fill="hold"/>
                                        <p:tgtEl>
                                          <p:spTgt spid="1381417"/>
                                        </p:tgtEl>
                                        <p:attrNameLst>
                                          <p:attrName>ppt_x</p:attrName>
                                        </p:attrNameLst>
                                      </p:cBhvr>
                                      <p:tavLst>
                                        <p:tav tm="0">
                                          <p:val>
                                            <p:strVal val="0-#ppt_w/2"/>
                                          </p:val>
                                        </p:tav>
                                        <p:tav tm="100000">
                                          <p:val>
                                            <p:strVal val="#ppt_x"/>
                                          </p:val>
                                        </p:tav>
                                      </p:tavLst>
                                    </p:anim>
                                    <p:anim calcmode="lin" valueType="num">
                                      <p:cBhvr additive="base">
                                        <p:cTn id="164" dur="500" fill="hold"/>
                                        <p:tgtEl>
                                          <p:spTgt spid="1381417"/>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nodeType="clickEffect">
                                  <p:stCondLst>
                                    <p:cond delay="0"/>
                                  </p:stCondLst>
                                  <p:childTnLst>
                                    <p:set>
                                      <p:cBhvr>
                                        <p:cTn id="168" dur="1" fill="hold">
                                          <p:stCondLst>
                                            <p:cond delay="0"/>
                                          </p:stCondLst>
                                        </p:cTn>
                                        <p:tgtEl>
                                          <p:spTgt spid="1381418"/>
                                        </p:tgtEl>
                                        <p:attrNameLst>
                                          <p:attrName>style.visibility</p:attrName>
                                        </p:attrNameLst>
                                      </p:cBhvr>
                                      <p:to>
                                        <p:strVal val="visible"/>
                                      </p:to>
                                    </p:set>
                                    <p:anim calcmode="lin" valueType="num">
                                      <p:cBhvr additive="base">
                                        <p:cTn id="169" dur="500" fill="hold"/>
                                        <p:tgtEl>
                                          <p:spTgt spid="1381418"/>
                                        </p:tgtEl>
                                        <p:attrNameLst>
                                          <p:attrName>ppt_x</p:attrName>
                                        </p:attrNameLst>
                                      </p:cBhvr>
                                      <p:tavLst>
                                        <p:tav tm="0">
                                          <p:val>
                                            <p:strVal val="0-#ppt_w/2"/>
                                          </p:val>
                                        </p:tav>
                                        <p:tav tm="100000">
                                          <p:val>
                                            <p:strVal val="#ppt_x"/>
                                          </p:val>
                                        </p:tav>
                                      </p:tavLst>
                                    </p:anim>
                                    <p:anim calcmode="lin" valueType="num">
                                      <p:cBhvr additive="base">
                                        <p:cTn id="170" dur="500" fill="hold"/>
                                        <p:tgtEl>
                                          <p:spTgt spid="1381418"/>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nodeType="clickEffect">
                                  <p:stCondLst>
                                    <p:cond delay="0"/>
                                  </p:stCondLst>
                                  <p:childTnLst>
                                    <p:set>
                                      <p:cBhvr>
                                        <p:cTn id="174" dur="1" fill="hold">
                                          <p:stCondLst>
                                            <p:cond delay="0"/>
                                          </p:stCondLst>
                                        </p:cTn>
                                        <p:tgtEl>
                                          <p:spTgt spid="1381419"/>
                                        </p:tgtEl>
                                        <p:attrNameLst>
                                          <p:attrName>style.visibility</p:attrName>
                                        </p:attrNameLst>
                                      </p:cBhvr>
                                      <p:to>
                                        <p:strVal val="visible"/>
                                      </p:to>
                                    </p:set>
                                    <p:anim calcmode="lin" valueType="num">
                                      <p:cBhvr additive="base">
                                        <p:cTn id="175" dur="500" fill="hold"/>
                                        <p:tgtEl>
                                          <p:spTgt spid="1381419"/>
                                        </p:tgtEl>
                                        <p:attrNameLst>
                                          <p:attrName>ppt_x</p:attrName>
                                        </p:attrNameLst>
                                      </p:cBhvr>
                                      <p:tavLst>
                                        <p:tav tm="0">
                                          <p:val>
                                            <p:strVal val="0-#ppt_w/2"/>
                                          </p:val>
                                        </p:tav>
                                        <p:tav tm="100000">
                                          <p:val>
                                            <p:strVal val="#ppt_x"/>
                                          </p:val>
                                        </p:tav>
                                      </p:tavLst>
                                    </p:anim>
                                    <p:anim calcmode="lin" valueType="num">
                                      <p:cBhvr additive="base">
                                        <p:cTn id="176" dur="500" fill="hold"/>
                                        <p:tgtEl>
                                          <p:spTgt spid="1381419"/>
                                        </p:tgtEl>
                                        <p:attrNameLst>
                                          <p:attrName>ppt_y</p:attrName>
                                        </p:attrNameLst>
                                      </p:cBhvr>
                                      <p:tavLst>
                                        <p:tav tm="0">
                                          <p:val>
                                            <p:strVal val="#ppt_y"/>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8" fill="hold" nodeType="clickEffect">
                                  <p:stCondLst>
                                    <p:cond delay="0"/>
                                  </p:stCondLst>
                                  <p:childTnLst>
                                    <p:set>
                                      <p:cBhvr>
                                        <p:cTn id="180" dur="1" fill="hold">
                                          <p:stCondLst>
                                            <p:cond delay="0"/>
                                          </p:stCondLst>
                                        </p:cTn>
                                        <p:tgtEl>
                                          <p:spTgt spid="1381420"/>
                                        </p:tgtEl>
                                        <p:attrNameLst>
                                          <p:attrName>style.visibility</p:attrName>
                                        </p:attrNameLst>
                                      </p:cBhvr>
                                      <p:to>
                                        <p:strVal val="visible"/>
                                      </p:to>
                                    </p:set>
                                    <p:anim calcmode="lin" valueType="num">
                                      <p:cBhvr additive="base">
                                        <p:cTn id="181" dur="500" fill="hold"/>
                                        <p:tgtEl>
                                          <p:spTgt spid="1381420"/>
                                        </p:tgtEl>
                                        <p:attrNameLst>
                                          <p:attrName>ppt_x</p:attrName>
                                        </p:attrNameLst>
                                      </p:cBhvr>
                                      <p:tavLst>
                                        <p:tav tm="0">
                                          <p:val>
                                            <p:strVal val="0-#ppt_w/2"/>
                                          </p:val>
                                        </p:tav>
                                        <p:tav tm="100000">
                                          <p:val>
                                            <p:strVal val="#ppt_x"/>
                                          </p:val>
                                        </p:tav>
                                      </p:tavLst>
                                    </p:anim>
                                    <p:anim calcmode="lin" valueType="num">
                                      <p:cBhvr additive="base">
                                        <p:cTn id="182" dur="500" fill="hold"/>
                                        <p:tgtEl>
                                          <p:spTgt spid="1381420"/>
                                        </p:tgtEl>
                                        <p:attrNameLst>
                                          <p:attrName>ppt_y</p:attrName>
                                        </p:attrNameLst>
                                      </p:cBhvr>
                                      <p:tavLst>
                                        <p:tav tm="0">
                                          <p:val>
                                            <p:strVal val="#ppt_y"/>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nodeType="clickEffect">
                                  <p:stCondLst>
                                    <p:cond delay="0"/>
                                  </p:stCondLst>
                                  <p:childTnLst>
                                    <p:set>
                                      <p:cBhvr>
                                        <p:cTn id="186" dur="1" fill="hold">
                                          <p:stCondLst>
                                            <p:cond delay="0"/>
                                          </p:stCondLst>
                                        </p:cTn>
                                        <p:tgtEl>
                                          <p:spTgt spid="1381421"/>
                                        </p:tgtEl>
                                        <p:attrNameLst>
                                          <p:attrName>style.visibility</p:attrName>
                                        </p:attrNameLst>
                                      </p:cBhvr>
                                      <p:to>
                                        <p:strVal val="visible"/>
                                      </p:to>
                                    </p:set>
                                    <p:anim calcmode="lin" valueType="num">
                                      <p:cBhvr additive="base">
                                        <p:cTn id="187" dur="500" fill="hold"/>
                                        <p:tgtEl>
                                          <p:spTgt spid="1381421"/>
                                        </p:tgtEl>
                                        <p:attrNameLst>
                                          <p:attrName>ppt_x</p:attrName>
                                        </p:attrNameLst>
                                      </p:cBhvr>
                                      <p:tavLst>
                                        <p:tav tm="0">
                                          <p:val>
                                            <p:strVal val="0-#ppt_w/2"/>
                                          </p:val>
                                        </p:tav>
                                        <p:tav tm="100000">
                                          <p:val>
                                            <p:strVal val="#ppt_x"/>
                                          </p:val>
                                        </p:tav>
                                      </p:tavLst>
                                    </p:anim>
                                    <p:anim calcmode="lin" valueType="num">
                                      <p:cBhvr additive="base">
                                        <p:cTn id="188" dur="500" fill="hold"/>
                                        <p:tgtEl>
                                          <p:spTgt spid="1381421"/>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nodeType="clickEffect">
                                  <p:stCondLst>
                                    <p:cond delay="0"/>
                                  </p:stCondLst>
                                  <p:childTnLst>
                                    <p:set>
                                      <p:cBhvr>
                                        <p:cTn id="192" dur="1" fill="hold">
                                          <p:stCondLst>
                                            <p:cond delay="0"/>
                                          </p:stCondLst>
                                        </p:cTn>
                                        <p:tgtEl>
                                          <p:spTgt spid="1381422"/>
                                        </p:tgtEl>
                                        <p:attrNameLst>
                                          <p:attrName>style.visibility</p:attrName>
                                        </p:attrNameLst>
                                      </p:cBhvr>
                                      <p:to>
                                        <p:strVal val="visible"/>
                                      </p:to>
                                    </p:set>
                                    <p:anim calcmode="lin" valueType="num">
                                      <p:cBhvr additive="base">
                                        <p:cTn id="193" dur="500" fill="hold"/>
                                        <p:tgtEl>
                                          <p:spTgt spid="1381422"/>
                                        </p:tgtEl>
                                        <p:attrNameLst>
                                          <p:attrName>ppt_x</p:attrName>
                                        </p:attrNameLst>
                                      </p:cBhvr>
                                      <p:tavLst>
                                        <p:tav tm="0">
                                          <p:val>
                                            <p:strVal val="0-#ppt_w/2"/>
                                          </p:val>
                                        </p:tav>
                                        <p:tav tm="100000">
                                          <p:val>
                                            <p:strVal val="#ppt_x"/>
                                          </p:val>
                                        </p:tav>
                                      </p:tavLst>
                                    </p:anim>
                                    <p:anim calcmode="lin" valueType="num">
                                      <p:cBhvr additive="base">
                                        <p:cTn id="194" dur="500" fill="hold"/>
                                        <p:tgtEl>
                                          <p:spTgt spid="1381422"/>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nodeType="clickEffect">
                                  <p:stCondLst>
                                    <p:cond delay="0"/>
                                  </p:stCondLst>
                                  <p:childTnLst>
                                    <p:set>
                                      <p:cBhvr>
                                        <p:cTn id="198" dur="1" fill="hold">
                                          <p:stCondLst>
                                            <p:cond delay="0"/>
                                          </p:stCondLst>
                                        </p:cTn>
                                        <p:tgtEl>
                                          <p:spTgt spid="1381423"/>
                                        </p:tgtEl>
                                        <p:attrNameLst>
                                          <p:attrName>style.visibility</p:attrName>
                                        </p:attrNameLst>
                                      </p:cBhvr>
                                      <p:to>
                                        <p:strVal val="visible"/>
                                      </p:to>
                                    </p:set>
                                    <p:anim calcmode="lin" valueType="num">
                                      <p:cBhvr additive="base">
                                        <p:cTn id="199" dur="500" fill="hold"/>
                                        <p:tgtEl>
                                          <p:spTgt spid="1381423"/>
                                        </p:tgtEl>
                                        <p:attrNameLst>
                                          <p:attrName>ppt_x</p:attrName>
                                        </p:attrNameLst>
                                      </p:cBhvr>
                                      <p:tavLst>
                                        <p:tav tm="0">
                                          <p:val>
                                            <p:strVal val="0-#ppt_w/2"/>
                                          </p:val>
                                        </p:tav>
                                        <p:tav tm="100000">
                                          <p:val>
                                            <p:strVal val="#ppt_x"/>
                                          </p:val>
                                        </p:tav>
                                      </p:tavLst>
                                    </p:anim>
                                    <p:anim calcmode="lin" valueType="num">
                                      <p:cBhvr additive="base">
                                        <p:cTn id="200" dur="500" fill="hold"/>
                                        <p:tgtEl>
                                          <p:spTgt spid="13814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392" grpId="0" animBg="1"/>
      <p:bldP spid="1381393" grpId="0"/>
      <p:bldP spid="1381394" grpId="0" animBg="1"/>
      <p:bldP spid="1381395" grpId="0" animBg="1"/>
      <p:bldP spid="1381396" grpId="0" animBg="1"/>
      <p:bldP spid="1381397" grpId="0" animBg="1"/>
      <p:bldP spid="1381398" grpId="0" animBg="1"/>
      <p:bldP spid="1381399" grpId="0" animBg="1"/>
      <p:bldP spid="1381400" grpId="0"/>
      <p:bldP spid="1381401" grpId="0" animBg="1"/>
      <p:bldP spid="1381402" grpId="0" animBg="1"/>
      <p:bldP spid="1381403" grpId="0" animBg="1"/>
      <p:bldP spid="1381404" grpId="0" animBg="1"/>
      <p:bldP spid="1381405" grpId="0" animBg="1"/>
      <p:bldP spid="1381406" grpId="0" animBg="1"/>
      <p:bldP spid="1381407" grpId="0" animBg="1"/>
      <p:bldP spid="1381408" grpId="0"/>
      <p:bldP spid="1381409" grpId="0" animBg="1"/>
      <p:bldP spid="1381410" grpId="0" animBg="1"/>
      <p:bldP spid="1381411" grpId="0" animBg="1"/>
      <p:bldP spid="1381412" grpId="0" animBg="1"/>
      <p:bldP spid="1381413" grpId="0" animBg="1"/>
      <p:bldP spid="1381414" grpId="0" animBg="1"/>
      <p:bldP spid="1381415" grpId="0" animBg="1"/>
      <p:bldP spid="1381416" grpId="0" animBg="1"/>
      <p:bldP spid="1381417" grpId="0"/>
      <p:bldP spid="1381418" grpId="0" animBg="1"/>
      <p:bldP spid="1381419" grpId="0" animBg="1"/>
      <p:bldP spid="1381420" grpId="0" animBg="1"/>
      <p:bldP spid="1381421" grpId="0" animBg="1"/>
      <p:bldP spid="1381422" grpId="0" animBg="1"/>
      <p:bldP spid="1381423" grpId="0" animBg="1"/>
      <p:bldP spid="138142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基本块的优化</a:t>
            </a:r>
            <a:endParaRPr lang="zh-CN" altLang="en-US" dirty="0">
              <a:latin typeface="Times New Roman" panose="02020603050405020304" pitchFamily="18" charset="0"/>
              <a:ea typeface="宋体" panose="02010600030101010101" pitchFamily="2" charset="-122"/>
            </a:endParaRPr>
          </a:p>
        </p:txBody>
      </p:sp>
      <p:sp>
        <p:nvSpPr>
          <p:cNvPr id="104451" name="Rectangle 3"/>
          <p:cNvSpPr>
            <a:spLocks noGrp="1"/>
          </p:cNvSpPr>
          <p:nvPr>
            <p:ph idx="1"/>
          </p:nvPr>
        </p:nvSpPr>
        <p:spPr>
          <a:xfrm>
            <a:off x="684213" y="1447800"/>
            <a:ext cx="8135937" cy="4800600"/>
          </a:xfrm>
        </p:spPr>
        <p:txBody>
          <a:bodyPr vert="horz" wrap="square" lIns="92075" tIns="46038" rIns="92075" bIns="46038" anchor="t" anchorCtr="0"/>
          <a:p>
            <a:pPr marL="514350" indent="-457200"/>
            <a:r>
              <a:rPr lang="zh-CN" altLang="en-US" sz="2400" b="1" dirty="0">
                <a:ea typeface="宋体" panose="02010600030101010101" pitchFamily="2" charset="-122"/>
              </a:rPr>
              <a:t>仅考虑基本块内的优化</a:t>
            </a:r>
            <a:endParaRPr lang="en-US" altLang="zh-CN" sz="2400" b="1" dirty="0">
              <a:ea typeface="宋体" panose="02010600030101010101" pitchFamily="2" charset="-122"/>
            </a:endParaRPr>
          </a:p>
          <a:p>
            <a:pPr marL="514350" indent="-457200"/>
            <a:r>
              <a:rPr lang="zh-CN" altLang="en-US" sz="2400" b="1" dirty="0">
                <a:ea typeface="宋体" panose="02010600030101010101" pitchFamily="2" charset="-122"/>
              </a:rPr>
              <a:t>基本块的</a:t>
            </a:r>
            <a:r>
              <a:rPr lang="en-US" altLang="zh-CN" sz="2400" b="1" dirty="0">
                <a:ea typeface="宋体" panose="02010600030101010101" pitchFamily="2" charset="-122"/>
              </a:rPr>
              <a:t>DAG</a:t>
            </a:r>
            <a:r>
              <a:rPr lang="zh-CN" altLang="en-US" sz="2400" b="1" dirty="0">
                <a:ea typeface="宋体" panose="02010600030101010101" pitchFamily="2" charset="-122"/>
              </a:rPr>
              <a:t>表示：基本块中</a:t>
            </a:r>
            <a:endParaRPr lang="en-US" altLang="zh-CN" sz="2400" b="1" dirty="0">
              <a:ea typeface="宋体" panose="02010600030101010101" pitchFamily="2" charset="-122"/>
            </a:endParaRPr>
          </a:p>
          <a:p>
            <a:pPr marL="933450" lvl="1" indent="-419100"/>
            <a:r>
              <a:rPr lang="zh-CN" altLang="en-US" sz="2200" b="1" dirty="0">
                <a:ea typeface="宋体" panose="02010600030101010101" pitchFamily="2" charset="-122"/>
              </a:rPr>
              <a:t>出现的每个变量有一个对应的</a:t>
            </a:r>
            <a:r>
              <a:rPr lang="en-US" altLang="zh-CN" sz="2200" b="1" dirty="0">
                <a:ea typeface="宋体" panose="02010600030101010101" pitchFamily="2" charset="-122"/>
              </a:rPr>
              <a:t>DAG</a:t>
            </a:r>
            <a:r>
              <a:rPr lang="zh-CN" altLang="en-US" sz="2200" b="1" dirty="0">
                <a:ea typeface="宋体" panose="02010600030101010101" pitchFamily="2" charset="-122"/>
              </a:rPr>
              <a:t>结点表示初始值</a:t>
            </a:r>
            <a:endParaRPr lang="en-US" altLang="zh-CN" sz="2200" b="1" dirty="0">
              <a:ea typeface="宋体" panose="02010600030101010101" pitchFamily="2" charset="-122"/>
            </a:endParaRPr>
          </a:p>
          <a:p>
            <a:pPr marL="933450" lvl="1" indent="-419100"/>
            <a:r>
              <a:rPr lang="zh-CN" altLang="en-US" sz="2200" b="1" dirty="0">
                <a:ea typeface="宋体" panose="02010600030101010101" pitchFamily="2" charset="-122"/>
              </a:rPr>
              <a:t>每个语句</a:t>
            </a:r>
            <a:r>
              <a:rPr lang="en-US" altLang="zh-CN" sz="2200" b="1" dirty="0">
                <a:ea typeface="宋体" panose="02010600030101010101" pitchFamily="2" charset="-122"/>
              </a:rPr>
              <a:t>s</a:t>
            </a:r>
            <a:r>
              <a:rPr lang="zh-CN" altLang="en-US" sz="2200" b="1" dirty="0">
                <a:ea typeface="宋体" panose="02010600030101010101" pitchFamily="2" charset="-122"/>
              </a:rPr>
              <a:t>都有一个相关的结点</a:t>
            </a:r>
            <a:r>
              <a:rPr lang="en-US" altLang="zh-CN" sz="2200" b="1" dirty="0">
                <a:ea typeface="宋体" panose="02010600030101010101" pitchFamily="2" charset="-122"/>
              </a:rPr>
              <a:t>N</a:t>
            </a:r>
            <a:r>
              <a:rPr lang="zh-CN" altLang="en-US" sz="2200" b="1" dirty="0">
                <a:ea typeface="宋体" panose="02010600030101010101" pitchFamily="2" charset="-122"/>
              </a:rPr>
              <a:t>，</a:t>
            </a:r>
            <a:r>
              <a:rPr lang="en-US" altLang="zh-CN" sz="2200" b="1" dirty="0">
                <a:ea typeface="宋体" panose="02010600030101010101" pitchFamily="2" charset="-122"/>
              </a:rPr>
              <a:t>N</a:t>
            </a:r>
            <a:r>
              <a:rPr lang="zh-CN" altLang="en-US" sz="2200" b="1" dirty="0">
                <a:ea typeface="宋体" panose="02010600030101010101" pitchFamily="2" charset="-122"/>
              </a:rPr>
              <a:t>的子结点是基本块中的其他语句的对应结点，这些语句在</a:t>
            </a:r>
            <a:r>
              <a:rPr lang="en-US" altLang="zh-CN" sz="2200" b="1" dirty="0">
                <a:ea typeface="宋体" panose="02010600030101010101" pitchFamily="2" charset="-122"/>
              </a:rPr>
              <a:t>s</a:t>
            </a:r>
            <a:r>
              <a:rPr lang="zh-CN" altLang="en-US" sz="2200" b="1" dirty="0">
                <a:ea typeface="宋体" panose="02010600030101010101" pitchFamily="2" charset="-122"/>
              </a:rPr>
              <a:t>之前，且是最后一个对</a:t>
            </a:r>
            <a:r>
              <a:rPr lang="en-US" altLang="zh-CN" sz="2200" b="1" dirty="0">
                <a:ea typeface="宋体" panose="02010600030101010101" pitchFamily="2" charset="-122"/>
              </a:rPr>
              <a:t>s</a:t>
            </a:r>
            <a:r>
              <a:rPr lang="zh-CN" altLang="en-US" sz="2200" b="1" dirty="0">
                <a:ea typeface="宋体" panose="02010600030101010101" pitchFamily="2" charset="-122"/>
              </a:rPr>
              <a:t>所使用的某个运算分量进行定值的语句</a:t>
            </a:r>
            <a:endParaRPr lang="en-US" altLang="zh-CN" sz="2200" b="1" dirty="0">
              <a:ea typeface="宋体" panose="02010600030101010101" pitchFamily="2" charset="-122"/>
            </a:endParaRPr>
          </a:p>
          <a:p>
            <a:pPr marL="1333500" lvl="2" indent="-419100"/>
            <a:r>
              <a:rPr lang="zh-CN" altLang="en-US" sz="2000" b="1" dirty="0">
                <a:ea typeface="宋体" panose="02010600030101010101" pitchFamily="2" charset="-122"/>
              </a:rPr>
              <a:t>如果</a:t>
            </a:r>
            <a:r>
              <a:rPr lang="en-US" altLang="zh-CN" sz="2000" b="1" dirty="0">
                <a:ea typeface="宋体" panose="02010600030101010101" pitchFamily="2" charset="-122"/>
              </a:rPr>
              <a:t>s</a:t>
            </a:r>
            <a:r>
              <a:rPr lang="zh-CN" altLang="en-US" sz="2000" b="1" dirty="0">
                <a:ea typeface="宋体" panose="02010600030101010101" pitchFamily="2" charset="-122"/>
              </a:rPr>
              <a:t>的某个运算分量没有在基本块内定义值，则对应的子结点是表示其初始值的结点</a:t>
            </a:r>
            <a:endParaRPr lang="en-US" altLang="zh-CN" sz="2000" b="1" dirty="0">
              <a:ea typeface="宋体" panose="02010600030101010101" pitchFamily="2" charset="-122"/>
            </a:endParaRPr>
          </a:p>
          <a:p>
            <a:pPr marL="933450" lvl="1" indent="-419100"/>
            <a:r>
              <a:rPr lang="zh-CN" altLang="en-US" sz="2200" b="1" dirty="0">
                <a:ea typeface="宋体" panose="02010600030101010101" pitchFamily="2" charset="-122"/>
              </a:rPr>
              <a:t>结点</a:t>
            </a:r>
            <a:r>
              <a:rPr lang="en-US" altLang="zh-CN" sz="2200" b="1" dirty="0">
                <a:ea typeface="宋体" panose="02010600030101010101" pitchFamily="2" charset="-122"/>
              </a:rPr>
              <a:t>N</a:t>
            </a:r>
            <a:r>
              <a:rPr lang="zh-CN" altLang="en-US" sz="2200" b="1" dirty="0">
                <a:ea typeface="宋体" panose="02010600030101010101" pitchFamily="2" charset="-122"/>
              </a:rPr>
              <a:t>的标号是</a:t>
            </a:r>
            <a:r>
              <a:rPr lang="en-US" altLang="zh-CN" sz="2200" b="1" dirty="0">
                <a:ea typeface="宋体" panose="02010600030101010101" pitchFamily="2" charset="-122"/>
              </a:rPr>
              <a:t>s</a:t>
            </a:r>
            <a:r>
              <a:rPr lang="zh-CN" altLang="en-US" sz="2200" b="1" dirty="0">
                <a:ea typeface="宋体" panose="02010600030101010101" pitchFamily="2" charset="-122"/>
              </a:rPr>
              <a:t>中的运算符，且有一组变量被关联到</a:t>
            </a:r>
            <a:r>
              <a:rPr lang="en-US" altLang="zh-CN" sz="2200" b="1" dirty="0">
                <a:ea typeface="宋体" panose="02010600030101010101" pitchFamily="2" charset="-122"/>
              </a:rPr>
              <a:t>N</a:t>
            </a:r>
            <a:r>
              <a:rPr lang="zh-CN" altLang="en-US" sz="2200" b="1" dirty="0">
                <a:ea typeface="宋体" panose="02010600030101010101" pitchFamily="2" charset="-122"/>
              </a:rPr>
              <a:t>，表示</a:t>
            </a:r>
            <a:r>
              <a:rPr lang="en-US" altLang="zh-CN" sz="2200" b="1" dirty="0">
                <a:ea typeface="宋体" panose="02010600030101010101" pitchFamily="2" charset="-122"/>
              </a:rPr>
              <a:t>s</a:t>
            </a:r>
            <a:r>
              <a:rPr lang="zh-CN" altLang="en-US" sz="2200" b="1" dirty="0">
                <a:ea typeface="宋体" panose="02010600030101010101" pitchFamily="2" charset="-122"/>
              </a:rPr>
              <a:t>是在此基本块内最后对这些变量进行定值的语句</a:t>
            </a:r>
            <a:endParaRPr lang="en-US" altLang="zh-CN" sz="2200" b="1" dirty="0">
              <a:ea typeface="宋体" panose="02010600030101010101" pitchFamily="2" charset="-122"/>
            </a:endParaRPr>
          </a:p>
          <a:p>
            <a:pPr marL="933450" lvl="1" indent="-419100"/>
            <a:r>
              <a:rPr lang="zh-CN" altLang="en-US" sz="2200" b="1" dirty="0">
                <a:ea typeface="宋体" panose="02010600030101010101" pitchFamily="2" charset="-122"/>
              </a:rPr>
              <a:t>某些结点被指名为输出结点（</a:t>
            </a:r>
            <a:r>
              <a:rPr lang="en-US" altLang="zh-CN" sz="2200" b="1" dirty="0">
                <a:ea typeface="宋体" panose="02010600030101010101" pitchFamily="2" charset="-122"/>
              </a:rPr>
              <a:t>output</a:t>
            </a:r>
            <a:r>
              <a:rPr lang="zh-CN" altLang="en-US" sz="2200" b="1" dirty="0">
                <a:ea typeface="宋体" panose="02010600030101010101" pitchFamily="2" charset="-122"/>
              </a:rPr>
              <a:t> </a:t>
            </a:r>
            <a:r>
              <a:rPr lang="en-US" altLang="zh-CN" sz="2200" b="1" dirty="0">
                <a:ea typeface="宋体" panose="02010600030101010101" pitchFamily="2" charset="-122"/>
              </a:rPr>
              <a:t>node</a:t>
            </a:r>
            <a:r>
              <a:rPr lang="zh-CN" altLang="en-US" sz="2200" b="1" dirty="0">
                <a:ea typeface="宋体" panose="02010600030101010101" pitchFamily="2" charset="-122"/>
              </a:rPr>
              <a:t>），这些结点的变量在基本块的出口处活跃</a:t>
            </a:r>
            <a:endParaRPr lang="en-US" altLang="zh-CN" sz="2200" b="1" dirty="0">
              <a:ea typeface="宋体" panose="02010600030101010101" pitchFamily="2"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基本块的</a:t>
            </a:r>
            <a:r>
              <a:rPr lang="en-US" altLang="zh-CN" dirty="0">
                <a:latin typeface="Times New Roman" panose="02020603050405020304" pitchFamily="18" charset="0"/>
                <a:ea typeface="宋体" panose="02010600030101010101" pitchFamily="2" charset="-122"/>
              </a:rPr>
              <a:t>DAG</a:t>
            </a:r>
            <a:r>
              <a:rPr lang="zh-CN" altLang="en-US" dirty="0">
                <a:latin typeface="Times New Roman" panose="02020603050405020304" pitchFamily="18" charset="0"/>
                <a:ea typeface="宋体" panose="02010600030101010101" pitchFamily="2" charset="-122"/>
              </a:rPr>
              <a:t>表示的例子</a:t>
            </a:r>
            <a:endParaRPr lang="en-US" altLang="zh-CN" dirty="0">
              <a:latin typeface="Times New Roman" panose="02020603050405020304" pitchFamily="18" charset="0"/>
              <a:ea typeface="宋体" panose="02010600030101010101" pitchFamily="2" charset="-122"/>
            </a:endParaRPr>
          </a:p>
        </p:txBody>
      </p:sp>
      <p:sp>
        <p:nvSpPr>
          <p:cNvPr id="106499" name="Rectangle 3"/>
          <p:cNvSpPr>
            <a:spLocks noGrp="1"/>
          </p:cNvSpPr>
          <p:nvPr>
            <p:ph idx="1"/>
          </p:nvPr>
        </p:nvSpPr>
        <p:spPr>
          <a:xfrm>
            <a:off x="990600" y="1524000"/>
            <a:ext cx="7391400" cy="4953000"/>
          </a:xfrm>
        </p:spPr>
        <p:txBody>
          <a:bodyPr vert="horz" wrap="square" lIns="92075" tIns="46038" rIns="92075" bIns="46038" anchor="t" anchorCtr="0"/>
          <a:p>
            <a:pPr marL="1333500" lvl="2" indent="-419100">
              <a:lnSpc>
                <a:spcPct val="90000"/>
              </a:lnSpc>
              <a:buFont typeface="Wingdings" panose="05000000000000000000" pitchFamily="2" charset="2"/>
              <a:buNone/>
            </a:pPr>
            <a:endParaRPr lang="zh-CN" altLang="en-US" sz="20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T0 := 3.14</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T1 := 2 * T0</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T2 := R + r</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A := T1 * T2</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B := A</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T3 := 2 * T0</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T4 := R + r</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T5 := T3 * T4</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T6 := R – r</a:t>
            </a:r>
            <a:endParaRPr lang="en-US" altLang="zh-CN" sz="1600" b="1" dirty="0">
              <a:ea typeface="宋体" panose="02010600030101010101" pitchFamily="2" charset="-122"/>
            </a:endParaRPr>
          </a:p>
          <a:p>
            <a:pPr marL="495300" indent="-495300">
              <a:lnSpc>
                <a:spcPct val="90000"/>
              </a:lnSpc>
              <a:buFontTx/>
              <a:buAutoNum type="arabicParenBoth"/>
            </a:pPr>
            <a:r>
              <a:rPr lang="en-US" altLang="zh-CN" sz="1600" b="1" dirty="0">
                <a:ea typeface="宋体" panose="02010600030101010101" pitchFamily="2" charset="-122"/>
              </a:rPr>
              <a:t>B := T5 * T6</a:t>
            </a:r>
            <a:endParaRPr lang="en-US" altLang="zh-CN" sz="1600" b="1" dirty="0">
              <a:ea typeface="宋体" panose="02010600030101010101" pitchFamily="2" charset="-122"/>
            </a:endParaRPr>
          </a:p>
        </p:txBody>
      </p:sp>
      <p:graphicFrame>
        <p:nvGraphicFramePr>
          <p:cNvPr id="106500" name="Object 4"/>
          <p:cNvGraphicFramePr>
            <a:graphicFrameLocks noChangeAspect="1"/>
          </p:cNvGraphicFramePr>
          <p:nvPr/>
        </p:nvGraphicFramePr>
        <p:xfrm>
          <a:off x="3733800" y="1700213"/>
          <a:ext cx="3487738" cy="3344862"/>
        </p:xfrm>
        <a:graphic>
          <a:graphicData uri="http://schemas.openxmlformats.org/presentationml/2006/ole">
            <mc:AlternateContent xmlns:mc="http://schemas.openxmlformats.org/markup-compatibility/2006">
              <mc:Choice xmlns:v="urn:schemas-microsoft-com:vml" Requires="v">
                <p:oleObj spid="_x0000_s3077" name="" r:id="rId1" imgW="4384040" imgH="4206240" progId="Visio.Drawing.4">
                  <p:embed/>
                </p:oleObj>
              </mc:Choice>
              <mc:Fallback>
                <p:oleObj name="" r:id="rId1" imgW="4384040" imgH="4206240" progId="Visio.Drawing.4">
                  <p:embed/>
                  <p:pic>
                    <p:nvPicPr>
                      <p:cNvPr id="0" name="图片 3076"/>
                      <p:cNvPicPr/>
                      <p:nvPr/>
                    </p:nvPicPr>
                    <p:blipFill>
                      <a:blip r:embed="rId2"/>
                      <a:stretch>
                        <a:fillRect/>
                      </a:stretch>
                    </p:blipFill>
                    <p:spPr>
                      <a:xfrm>
                        <a:off x="3733800" y="1700213"/>
                        <a:ext cx="3487738" cy="3344862"/>
                      </a:xfrm>
                      <a:prstGeom prst="rect">
                        <a:avLst/>
                      </a:prstGeom>
                      <a:noFill/>
                      <a:ln w="38100">
                        <a:noFill/>
                        <a:miter/>
                      </a:ln>
                    </p:spPr>
                  </p:pic>
                </p:oleObj>
              </mc:Fallback>
            </mc:AlternateContent>
          </a:graphicData>
        </a:graphic>
      </p:graphicFrame>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DAG</a:t>
            </a:r>
            <a:r>
              <a:rPr lang="zh-CN" altLang="en-US" dirty="0">
                <a:latin typeface="Times New Roman" panose="02020603050405020304" pitchFamily="18" charset="0"/>
                <a:ea typeface="宋体" panose="02010600030101010101" pitchFamily="2" charset="-122"/>
              </a:rPr>
              <a:t>的应用</a:t>
            </a:r>
            <a:endParaRPr lang="en-US" altLang="zh-CN" dirty="0">
              <a:latin typeface="Times New Roman" panose="02020603050405020304" pitchFamily="18" charset="0"/>
              <a:ea typeface="宋体" panose="02010600030101010101" pitchFamily="2" charset="-122"/>
            </a:endParaRPr>
          </a:p>
        </p:txBody>
      </p:sp>
      <p:sp>
        <p:nvSpPr>
          <p:cNvPr id="108547" name="Rectangle 3"/>
          <p:cNvSpPr>
            <a:spLocks noGrp="1"/>
          </p:cNvSpPr>
          <p:nvPr>
            <p:ph idx="1"/>
          </p:nvPr>
        </p:nvSpPr>
        <p:spPr>
          <a:xfrm>
            <a:off x="755650" y="1557338"/>
            <a:ext cx="7702550" cy="4691062"/>
          </a:xfrm>
        </p:spPr>
        <p:txBody>
          <a:bodyPr vert="horz" wrap="square" lIns="92075" tIns="46038" rIns="92075" bIns="46038" anchor="t" anchorCtr="0"/>
          <a:p>
            <a:r>
              <a:rPr lang="zh-CN" altLang="en-US" sz="2400" b="1" dirty="0">
                <a:ea typeface="宋体" panose="02010600030101010101" pitchFamily="2" charset="-122"/>
              </a:rPr>
              <a:t>可以利用</a:t>
            </a:r>
            <a:r>
              <a:rPr lang="en-US" altLang="zh-CN" sz="2400" b="1" dirty="0">
                <a:ea typeface="宋体" panose="02010600030101010101" pitchFamily="2" charset="-122"/>
              </a:rPr>
              <a:t>DAG</a:t>
            </a:r>
            <a:r>
              <a:rPr lang="zh-CN" altLang="en-US" sz="2400" b="1" dirty="0">
                <a:ea typeface="宋体" panose="02010600030101010101" pitchFamily="2" charset="-122"/>
              </a:rPr>
              <a:t>进行一些简单的代码变换，改善代码质量</a:t>
            </a:r>
            <a:endParaRPr lang="en-US" altLang="zh-CN" sz="2400" b="1" dirty="0">
              <a:ea typeface="宋体" panose="02010600030101010101" pitchFamily="2" charset="-122"/>
            </a:endParaRPr>
          </a:p>
          <a:p>
            <a:pPr lvl="1"/>
            <a:r>
              <a:rPr lang="zh-CN" altLang="en-US" sz="2200" b="1" dirty="0">
                <a:ea typeface="宋体" panose="02010600030101010101" pitchFamily="2" charset="-122"/>
              </a:rPr>
              <a:t>消除局部公共子表达式（</a:t>
            </a:r>
            <a:r>
              <a:rPr lang="en-US" altLang="zh-CN" sz="2200" b="1" dirty="0">
                <a:ea typeface="宋体" panose="02010600030101010101" pitchFamily="2" charset="-122"/>
              </a:rPr>
              <a:t>local common subexpression</a:t>
            </a:r>
            <a:r>
              <a:rPr lang="zh-CN" altLang="en-US" sz="2200" b="1" dirty="0">
                <a:ea typeface="宋体" panose="02010600030101010101" pitchFamily="2" charset="-122"/>
              </a:rPr>
              <a:t>）</a:t>
            </a:r>
            <a:endParaRPr lang="en-US" altLang="zh-CN" sz="2200" b="1" dirty="0">
              <a:ea typeface="宋体" panose="02010600030101010101" pitchFamily="2" charset="-122"/>
            </a:endParaRPr>
          </a:p>
          <a:p>
            <a:pPr lvl="2"/>
            <a:r>
              <a:rPr lang="zh-CN" altLang="en-US" sz="2000" b="1" dirty="0">
                <a:ea typeface="宋体" panose="02010600030101010101" pitchFamily="2" charset="-122"/>
              </a:rPr>
              <a:t>避免重复计算</a:t>
            </a:r>
            <a:endParaRPr lang="en-US" altLang="zh-CN" sz="2000" b="1" dirty="0">
              <a:ea typeface="宋体" panose="02010600030101010101" pitchFamily="2" charset="-122"/>
            </a:endParaRPr>
          </a:p>
          <a:p>
            <a:pPr lvl="1"/>
            <a:r>
              <a:rPr lang="zh-CN" altLang="en-US" sz="2200" b="1" dirty="0">
                <a:ea typeface="宋体" panose="02010600030101010101" pitchFamily="2" charset="-122"/>
              </a:rPr>
              <a:t>消除死代码（</a:t>
            </a:r>
            <a:r>
              <a:rPr lang="en-US" altLang="zh-CN" sz="2200" b="1" dirty="0">
                <a:ea typeface="宋体" panose="02010600030101010101" pitchFamily="2" charset="-122"/>
              </a:rPr>
              <a:t>dead</a:t>
            </a:r>
            <a:r>
              <a:rPr lang="zh-CN" altLang="en-US" sz="2200" b="1" dirty="0">
                <a:ea typeface="宋体" panose="02010600030101010101" pitchFamily="2" charset="-122"/>
              </a:rPr>
              <a:t> </a:t>
            </a:r>
            <a:r>
              <a:rPr lang="en-US" altLang="zh-CN" sz="2200" b="1" dirty="0">
                <a:ea typeface="宋体" panose="02010600030101010101" pitchFamily="2" charset="-122"/>
              </a:rPr>
              <a:t>code</a:t>
            </a:r>
            <a:r>
              <a:rPr lang="zh-CN" altLang="en-US" sz="2200" b="1" dirty="0">
                <a:ea typeface="宋体" panose="02010600030101010101" pitchFamily="2" charset="-122"/>
              </a:rPr>
              <a:t>）</a:t>
            </a:r>
            <a:endParaRPr lang="en-US" altLang="zh-CN" sz="2200" b="1" dirty="0">
              <a:ea typeface="宋体" panose="02010600030101010101" pitchFamily="2" charset="-122"/>
            </a:endParaRPr>
          </a:p>
          <a:p>
            <a:pPr lvl="2"/>
            <a:r>
              <a:rPr lang="zh-CN" altLang="en-US" sz="2000" b="1" dirty="0">
                <a:ea typeface="宋体" panose="02010600030101010101" pitchFamily="2" charset="-122"/>
              </a:rPr>
              <a:t>计算得到的值不会被使用的指令</a:t>
            </a:r>
            <a:endParaRPr lang="en-US" altLang="zh-CN" sz="2000" b="1" dirty="0">
              <a:ea typeface="宋体" panose="02010600030101010101" pitchFamily="2" charset="-122"/>
            </a:endParaRPr>
          </a:p>
          <a:p>
            <a:pPr lvl="1"/>
            <a:r>
              <a:rPr lang="zh-CN" altLang="en-US" sz="2200" b="1" dirty="0">
                <a:ea typeface="宋体" panose="02010600030101010101" pitchFamily="2" charset="-122"/>
              </a:rPr>
              <a:t>进行语句重排</a:t>
            </a:r>
            <a:endParaRPr lang="en-US" altLang="zh-CN" sz="2200" b="1" dirty="0">
              <a:ea typeface="宋体" panose="02010600030101010101" pitchFamily="2" charset="-122"/>
            </a:endParaRPr>
          </a:p>
          <a:p>
            <a:pPr lvl="2"/>
            <a:r>
              <a:rPr lang="zh-CN" altLang="en-US" sz="2000" b="1" dirty="0">
                <a:ea typeface="宋体" panose="02010600030101010101" pitchFamily="2" charset="-122"/>
              </a:rPr>
              <a:t>重排的语句间没有依赖关系</a:t>
            </a:r>
            <a:endParaRPr lang="en-US" altLang="zh-CN" sz="2000" b="1" dirty="0">
              <a:ea typeface="宋体" panose="02010600030101010101" pitchFamily="2" charset="-122"/>
            </a:endParaRPr>
          </a:p>
          <a:p>
            <a:pPr lvl="2"/>
            <a:r>
              <a:rPr lang="zh-CN" altLang="en-US" sz="2000" b="1" dirty="0">
                <a:ea typeface="宋体" panose="02010600030101010101" pitchFamily="2" charset="-122"/>
              </a:rPr>
              <a:t>改善执行时间</a:t>
            </a:r>
            <a:endParaRPr lang="en-US" altLang="zh-CN" sz="2000" b="1" dirty="0">
              <a:ea typeface="宋体" panose="02010600030101010101" pitchFamily="2" charset="-122"/>
            </a:endParaRPr>
          </a:p>
          <a:p>
            <a:pPr lvl="2"/>
            <a:r>
              <a:rPr lang="zh-CN" altLang="en-US" sz="2000" b="1" dirty="0">
                <a:ea typeface="宋体" panose="02010600030101010101" pitchFamily="2" charset="-122"/>
              </a:rPr>
              <a:t>缩短变量的活跃区间，减少某个量占用寄存器的时间</a:t>
            </a:r>
            <a:endParaRPr lang="en-US" altLang="zh-CN" sz="2000" b="1" dirty="0">
              <a:ea typeface="宋体" panose="02010600030101010101" pitchFamily="2" charset="-122"/>
            </a:endParaRPr>
          </a:p>
          <a:p>
            <a:pPr lvl="1"/>
            <a:r>
              <a:rPr lang="zh-CN" altLang="en-US" sz="2200" b="1" dirty="0">
                <a:ea typeface="宋体" panose="02010600030101010101" pitchFamily="2" charset="-122"/>
              </a:rPr>
              <a:t>利用代数规则，重新排列三地址语句中运算分量的顺序</a:t>
            </a:r>
            <a:endParaRPr lang="en-US" altLang="zh-CN" sz="2200" b="1" dirty="0">
              <a:ea typeface="宋体" panose="02010600030101010101" pitchFamily="2" charset="-122"/>
            </a:endParaRPr>
          </a:p>
          <a:p>
            <a:pPr lvl="2"/>
            <a:r>
              <a:rPr lang="zh-CN" altLang="en-US" sz="2000" b="1" dirty="0">
                <a:ea typeface="宋体" panose="02010600030101010101" pitchFamily="2" charset="-122"/>
              </a:rPr>
              <a:t>有可能简化计算过程</a:t>
            </a:r>
            <a:endParaRPr lang="zh-CN" altLang="en-US" sz="2000" b="1" dirty="0">
              <a:ea typeface="宋体" panose="02010600030101010101" pitchFamily="2"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0594" name="Picture 2"/>
          <p:cNvPicPr>
            <a:picLocks noChangeAspect="1"/>
          </p:cNvPicPr>
          <p:nvPr/>
        </p:nvPicPr>
        <p:blipFill>
          <a:blip r:embed="rId1"/>
          <a:stretch>
            <a:fillRect/>
          </a:stretch>
        </p:blipFill>
        <p:spPr>
          <a:xfrm>
            <a:off x="3708400" y="3816350"/>
            <a:ext cx="5310188" cy="2781300"/>
          </a:xfrm>
          <a:prstGeom prst="rect">
            <a:avLst/>
          </a:prstGeom>
          <a:noFill/>
          <a:ln w="9525">
            <a:noFill/>
          </a:ln>
        </p:spPr>
      </p:pic>
      <p:sp>
        <p:nvSpPr>
          <p:cNvPr id="110595"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寻找局部公共子表达式（</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990600" y="1557338"/>
            <a:ext cx="7391400" cy="4691063"/>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方法：检测公共子表达式的“值编码”方法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当一个新的结点</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将被加入到</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DAG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中时</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检查是否存在一个结点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，它和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具有同样的运算符和子结点，且子结点顺序相同</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71600" marR="0" lvl="2"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若存在，则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计算的值和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计算的值是一样的，可以用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替换</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M</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8.10</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14350" marR="0" lvl="1" indent="0" algn="l" defTabSz="914400" rtl="0" eaLnBrk="0" fontAlgn="base" latinLnBrk="0" hangingPunct="0">
              <a:lnSpc>
                <a:spcPct val="100000"/>
              </a:lnSpc>
              <a:spcBef>
                <a:spcPts val="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 = b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1" indent="0" algn="l" defTabSz="914400" rtl="0" eaLnBrk="0" fontAlgn="base" latinLnBrk="0" hangingPunct="0">
              <a:lnSpc>
                <a:spcPct val="100000"/>
              </a:lnSpc>
              <a:spcBef>
                <a:spcPts val="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 = a – 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1" indent="0" algn="l" defTabSz="914400" rtl="0" eaLnBrk="0" fontAlgn="base" latinLnBrk="0" hangingPunct="0">
              <a:lnSpc>
                <a:spcPct val="100000"/>
              </a:lnSpc>
              <a:spcBef>
                <a:spcPts val="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 = b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1" indent="0" algn="l" defTabSz="914400" rtl="0" eaLnBrk="0" fontAlgn="base" latinLnBrk="0" hangingPunct="0">
              <a:lnSpc>
                <a:spcPct val="100000"/>
              </a:lnSpc>
              <a:spcBef>
                <a:spcPts val="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 = a – 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两个</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b+c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不是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CSE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两个</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CSE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寻找局部公共子表达式（</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12643" name="Rectangle 3"/>
          <p:cNvSpPr>
            <a:spLocks noGrp="1"/>
          </p:cNvSpPr>
          <p:nvPr>
            <p:ph idx="1"/>
          </p:nvPr>
        </p:nvSpPr>
        <p:spPr>
          <a:xfrm>
            <a:off x="827088" y="1371600"/>
            <a:ext cx="7554912" cy="4876800"/>
          </a:xfrm>
        </p:spPr>
        <p:txBody>
          <a:bodyPr vert="horz" wrap="square" lIns="92075" tIns="46038" rIns="92075" bIns="46038" anchor="t" anchorCtr="0"/>
          <a:p>
            <a:r>
              <a:rPr lang="zh-CN" altLang="en-US" sz="2400" b="1" dirty="0">
                <a:ea typeface="宋体" panose="02010600030101010101" pitchFamily="2" charset="-122"/>
              </a:rPr>
              <a:t>图</a:t>
            </a:r>
            <a:r>
              <a:rPr lang="en-US" altLang="zh-CN" sz="2400" b="1" dirty="0">
                <a:ea typeface="宋体" panose="02010600030101010101" pitchFamily="2" charset="-122"/>
              </a:rPr>
              <a:t>8-12</a:t>
            </a:r>
            <a:r>
              <a:rPr lang="zh-CN" altLang="en-US" sz="2400" b="1" dirty="0">
                <a:ea typeface="宋体" panose="02010600030101010101" pitchFamily="2" charset="-122"/>
              </a:rPr>
              <a:t>中只有</a:t>
            </a:r>
            <a:r>
              <a:rPr lang="en-US" altLang="zh-CN" sz="2400" b="1" dirty="0">
                <a:ea typeface="宋体" panose="02010600030101010101" pitchFamily="2" charset="-122"/>
              </a:rPr>
              <a:t>3</a:t>
            </a:r>
            <a:r>
              <a:rPr lang="zh-CN" altLang="en-US" sz="2400" b="1" dirty="0">
                <a:ea typeface="宋体" panose="02010600030101010101" pitchFamily="2" charset="-122"/>
              </a:rPr>
              <a:t>个非叶子结点，是否只用</a:t>
            </a:r>
            <a:r>
              <a:rPr lang="en-US" altLang="zh-CN" sz="2400" b="1" dirty="0">
                <a:ea typeface="宋体" panose="02010600030101010101" pitchFamily="2" charset="-122"/>
              </a:rPr>
              <a:t>3</a:t>
            </a:r>
            <a:r>
              <a:rPr lang="zh-CN" altLang="en-US" sz="2400" b="1" dirty="0">
                <a:ea typeface="宋体" panose="02010600030101010101" pitchFamily="2" charset="-122"/>
              </a:rPr>
              <a:t>个三地址语句实现？</a:t>
            </a:r>
            <a:endParaRPr lang="en-US" altLang="zh-CN" sz="2400" b="1" dirty="0">
              <a:ea typeface="宋体" panose="02010600030101010101" pitchFamily="2" charset="-122"/>
            </a:endParaRPr>
          </a:p>
          <a:p>
            <a:pPr lvl="1"/>
            <a:r>
              <a:rPr lang="zh-CN" altLang="en-US" sz="2200" b="1" dirty="0">
                <a:ea typeface="宋体" panose="02010600030101010101" pitchFamily="2" charset="-122"/>
              </a:rPr>
              <a:t>如果</a:t>
            </a:r>
            <a:r>
              <a:rPr lang="en-US" altLang="zh-CN" sz="2200" b="1" dirty="0">
                <a:ea typeface="宋体" panose="02010600030101010101" pitchFamily="2" charset="-122"/>
              </a:rPr>
              <a:t>b</a:t>
            </a:r>
            <a:r>
              <a:rPr lang="zh-CN" altLang="en-US" sz="2200" b="1" dirty="0">
                <a:ea typeface="宋体" panose="02010600030101010101" pitchFamily="2" charset="-122"/>
              </a:rPr>
              <a:t>在基本块出口处不活跃，则可等价变换为</a:t>
            </a:r>
            <a:endParaRPr lang="en-US" altLang="zh-CN" sz="22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a = b + c</a:t>
            </a:r>
            <a:endParaRPr lang="en-US" altLang="zh-CN" sz="20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d = a – d</a:t>
            </a:r>
            <a:endParaRPr lang="en-US" altLang="zh-CN" sz="20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c = d + c</a:t>
            </a:r>
            <a:endParaRPr lang="en-US" altLang="zh-CN" sz="2000" b="1" dirty="0">
              <a:ea typeface="宋体" panose="02010600030101010101" pitchFamily="2" charset="-122"/>
            </a:endParaRPr>
          </a:p>
          <a:p>
            <a:pPr lvl="1"/>
            <a:r>
              <a:rPr lang="zh-CN" altLang="en-US" sz="2200" b="1" dirty="0">
                <a:ea typeface="宋体" panose="02010600030101010101" pitchFamily="2" charset="-122"/>
              </a:rPr>
              <a:t>如果</a:t>
            </a:r>
            <a:r>
              <a:rPr lang="en-US" altLang="zh-CN" sz="2200" b="1" dirty="0">
                <a:ea typeface="宋体" panose="02010600030101010101" pitchFamily="2" charset="-122"/>
              </a:rPr>
              <a:t>d</a:t>
            </a:r>
            <a:r>
              <a:rPr lang="zh-CN" altLang="en-US" sz="2200" b="1" dirty="0">
                <a:ea typeface="宋体" panose="02010600030101010101" pitchFamily="2" charset="-122"/>
              </a:rPr>
              <a:t>不活跃，则可直接删除第</a:t>
            </a:r>
            <a:r>
              <a:rPr lang="en-US" altLang="zh-CN" sz="2200" b="1" dirty="0">
                <a:ea typeface="宋体" panose="02010600030101010101" pitchFamily="2" charset="-122"/>
              </a:rPr>
              <a:t>4</a:t>
            </a:r>
            <a:r>
              <a:rPr lang="zh-CN" altLang="en-US" sz="2200" b="1" dirty="0">
                <a:ea typeface="宋体" panose="02010600030101010101" pitchFamily="2" charset="-122"/>
              </a:rPr>
              <a:t>个语句</a:t>
            </a:r>
            <a:endParaRPr lang="en-US" altLang="zh-CN" sz="2200" b="1" dirty="0">
              <a:ea typeface="宋体" panose="02010600030101010101" pitchFamily="2" charset="-122"/>
            </a:endParaRPr>
          </a:p>
          <a:p>
            <a:pPr lvl="1"/>
            <a:r>
              <a:rPr lang="zh-CN" altLang="en-US" sz="2200" b="1" dirty="0">
                <a:ea typeface="宋体" panose="02010600030101010101" pitchFamily="2" charset="-122"/>
              </a:rPr>
              <a:t>如果二者均活跃，则不能作上述优化</a:t>
            </a:r>
            <a:endParaRPr lang="en-US" altLang="zh-CN" sz="2200" b="1" dirty="0">
              <a:ea typeface="宋体" panose="02010600030101010101" pitchFamily="2" charset="-122"/>
            </a:endParaRPr>
          </a:p>
          <a:p>
            <a:pPr lvl="1"/>
            <a:r>
              <a:rPr lang="zh-CN" altLang="en-US" sz="2200" b="1" dirty="0">
                <a:ea typeface="宋体" panose="02010600030101010101" pitchFamily="2" charset="-122"/>
              </a:rPr>
              <a:t>如果变量</a:t>
            </a:r>
            <a:r>
              <a:rPr lang="en-US" altLang="zh-CN" sz="2200" b="1" dirty="0">
                <a:ea typeface="宋体" panose="02010600030101010101" pitchFamily="2" charset="-122"/>
              </a:rPr>
              <a:t>x</a:t>
            </a:r>
            <a:r>
              <a:rPr lang="zh-CN" altLang="en-US" sz="2200" b="1" dirty="0">
                <a:ea typeface="宋体" panose="02010600030101010101" pitchFamily="2" charset="-122"/>
              </a:rPr>
              <a:t>被定值两次，或者虽然只赋值一次，但初始值</a:t>
            </a:r>
            <a:r>
              <a:rPr lang="en-US" altLang="zh-CN" sz="2200" b="1" dirty="0">
                <a:ea typeface="宋体" panose="02010600030101010101" pitchFamily="2" charset="-122"/>
              </a:rPr>
              <a:t>x</a:t>
            </a:r>
            <a:r>
              <a:rPr lang="en-US" altLang="zh-CN" sz="2200" b="1" baseline="-25000" dirty="0">
                <a:ea typeface="宋体" panose="02010600030101010101" pitchFamily="2" charset="-122"/>
              </a:rPr>
              <a:t>0</a:t>
            </a:r>
            <a:r>
              <a:rPr lang="zh-CN" altLang="en-US" sz="2200" b="1" dirty="0">
                <a:ea typeface="宋体" panose="02010600030101010101" pitchFamily="2" charset="-122"/>
              </a:rPr>
              <a:t>被使用过，则必须保证不会在原先存放</a:t>
            </a:r>
            <a:r>
              <a:rPr lang="en-US" altLang="zh-CN" sz="2200" b="1" dirty="0">
                <a:ea typeface="宋体" panose="02010600030101010101" pitchFamily="2" charset="-122"/>
              </a:rPr>
              <a:t>x</a:t>
            </a:r>
            <a:r>
              <a:rPr lang="zh-CN" altLang="en-US" sz="2200" b="1" dirty="0">
                <a:ea typeface="宋体" panose="02010600030101010101" pitchFamily="2" charset="-122"/>
              </a:rPr>
              <a:t>值的结点被全部使用之前改变</a:t>
            </a:r>
            <a:r>
              <a:rPr lang="en-US" altLang="zh-CN" sz="2200" b="1" dirty="0">
                <a:ea typeface="宋体" panose="02010600030101010101" pitchFamily="2" charset="-122"/>
              </a:rPr>
              <a:t>x</a:t>
            </a:r>
            <a:r>
              <a:rPr lang="zh-CN" altLang="en-US" sz="2200" b="1" dirty="0">
                <a:ea typeface="宋体" panose="02010600030101010101" pitchFamily="2" charset="-122"/>
              </a:rPr>
              <a:t>的值（</a:t>
            </a:r>
            <a:r>
              <a:rPr lang="zh-CN" altLang="en-US" sz="2200" b="1" dirty="0">
                <a:solidFill>
                  <a:srgbClr val="FF0000"/>
                </a:solidFill>
                <a:ea typeface="宋体" panose="02010600030101010101" pitchFamily="2" charset="-122"/>
              </a:rPr>
              <a:t>保证正确的依赖关系</a:t>
            </a:r>
            <a:r>
              <a:rPr lang="zh-CN" altLang="en-US" sz="2200" b="1" dirty="0">
                <a:ea typeface="宋体" panose="02010600030101010101" pitchFamily="2" charset="-122"/>
              </a:rPr>
              <a:t>）</a:t>
            </a:r>
            <a:endParaRPr lang="zh-CN" altLang="en-US" sz="2200" b="1" dirty="0">
              <a:ea typeface="宋体" panose="02010600030101010101" pitchFamily="2" charset="-122"/>
            </a:endParaRPr>
          </a:p>
          <a:p>
            <a:pPr lvl="1"/>
            <a:endParaRPr lang="zh-CN" altLang="en-US" sz="2200" b="1" dirty="0">
              <a:ea typeface="宋体" panose="02010600030101010101" pitchFamily="2"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寻找局部公共子表达式（</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14691" name="Rectangle 3"/>
          <p:cNvSpPr>
            <a:spLocks noGrp="1"/>
          </p:cNvSpPr>
          <p:nvPr>
            <p:ph idx="1"/>
          </p:nvPr>
        </p:nvSpPr>
        <p:spPr>
          <a:xfrm>
            <a:off x="684213" y="1371600"/>
            <a:ext cx="7697787" cy="4876800"/>
          </a:xfrm>
        </p:spPr>
        <p:txBody>
          <a:bodyPr vert="horz" wrap="square" lIns="92075" tIns="46038" rIns="92075" bIns="46038" anchor="t" anchorCtr="0"/>
          <a:p>
            <a:r>
              <a:rPr lang="zh-CN" altLang="en-US" sz="2400" b="1" dirty="0">
                <a:ea typeface="宋体" panose="02010600030101010101" pitchFamily="2" charset="-122"/>
              </a:rPr>
              <a:t>例</a:t>
            </a:r>
            <a:r>
              <a:rPr lang="en-US" altLang="zh-CN" sz="2400" b="1" dirty="0">
                <a:ea typeface="宋体" panose="02010600030101010101" pitchFamily="2" charset="-122"/>
              </a:rPr>
              <a:t>8.11</a:t>
            </a:r>
            <a:r>
              <a:rPr lang="zh-CN" altLang="en-US" sz="2400" b="1" dirty="0">
                <a:ea typeface="宋体" panose="02010600030101010101" pitchFamily="2" charset="-122"/>
              </a:rPr>
              <a:t>，现有方法无效的例子（图</a:t>
            </a:r>
            <a:r>
              <a:rPr lang="en-US" altLang="zh-CN" sz="2400" b="1" dirty="0">
                <a:ea typeface="宋体" panose="02010600030101010101" pitchFamily="2" charset="-122"/>
              </a:rPr>
              <a:t>8-13</a:t>
            </a:r>
            <a:r>
              <a:rPr lang="zh-CN" altLang="en-US" sz="2400" b="1" dirty="0">
                <a:ea typeface="宋体" panose="02010600030101010101" pitchFamily="2" charset="-122"/>
              </a:rPr>
              <a:t>）</a:t>
            </a:r>
            <a:endParaRPr lang="en-US" altLang="zh-CN" sz="2400" b="1" dirty="0">
              <a:ea typeface="宋体" panose="02010600030101010101" pitchFamily="2" charset="-122"/>
            </a:endParaRPr>
          </a:p>
          <a:p>
            <a:pPr lvl="1"/>
            <a:r>
              <a:rPr lang="en-US" altLang="zh-CN" sz="2200" b="1" dirty="0">
                <a:ea typeface="宋体" panose="02010600030101010101" pitchFamily="2" charset="-122"/>
              </a:rPr>
              <a:t>DAG</a:t>
            </a:r>
            <a:r>
              <a:rPr lang="zh-CN" altLang="en-US" sz="2200" b="1" dirty="0">
                <a:ea typeface="宋体" panose="02010600030101010101" pitchFamily="2" charset="-122"/>
              </a:rPr>
              <a:t>方法不能发现下述第一和第四语句计算同一个表达式的值</a:t>
            </a:r>
            <a:endParaRPr lang="en-US" altLang="zh-CN" sz="22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a = b + c</a:t>
            </a:r>
            <a:endParaRPr lang="en-US" altLang="zh-CN" sz="20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b</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b – d</a:t>
            </a:r>
            <a:endParaRPr lang="en-US" altLang="zh-CN" sz="20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c = c + d</a:t>
            </a:r>
            <a:endParaRPr lang="en-US" altLang="zh-CN" sz="2000" b="1" dirty="0">
              <a:ea typeface="宋体" panose="02010600030101010101" pitchFamily="2" charset="-122"/>
            </a:endParaRPr>
          </a:p>
          <a:p>
            <a:pPr marL="914400" lvl="2" indent="0">
              <a:spcBef>
                <a:spcPct val="0"/>
              </a:spcBef>
              <a:buNone/>
            </a:pPr>
            <a:r>
              <a:rPr lang="en-US" altLang="zh-CN" sz="2000" b="1" dirty="0">
                <a:ea typeface="宋体" panose="02010600030101010101" pitchFamily="2" charset="-122"/>
              </a:rPr>
              <a:t>e = b + c</a:t>
            </a:r>
            <a:endParaRPr lang="en-US" altLang="zh-CN" sz="2000" b="1" dirty="0">
              <a:ea typeface="宋体" panose="02010600030101010101" pitchFamily="2" charset="-122"/>
            </a:endParaRPr>
          </a:p>
          <a:p>
            <a:pPr marL="914400" lvl="2" indent="0">
              <a:spcBef>
                <a:spcPct val="0"/>
              </a:spcBef>
              <a:buNone/>
            </a:pPr>
            <a:endParaRPr lang="en-US" altLang="zh-CN" sz="2000" b="1" dirty="0">
              <a:ea typeface="宋体" panose="02010600030101010101" pitchFamily="2" charset="-122"/>
            </a:endParaRPr>
          </a:p>
          <a:p>
            <a:pPr marL="914400" lvl="2" indent="0">
              <a:spcBef>
                <a:spcPct val="0"/>
              </a:spcBef>
              <a:buNone/>
            </a:pPr>
            <a:endParaRPr lang="en-US" altLang="zh-CN" sz="2000" b="1" dirty="0">
              <a:ea typeface="宋体" panose="02010600030101010101" pitchFamily="2" charset="-122"/>
            </a:endParaRPr>
          </a:p>
          <a:p>
            <a:pPr lvl="1"/>
            <a:r>
              <a:rPr lang="en-US" altLang="zh-CN" sz="2200" b="1"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e</a:t>
            </a:r>
            <a:r>
              <a:rPr lang="zh-CN" altLang="en-US" sz="2200" b="1" dirty="0">
                <a:ea typeface="宋体" panose="02010600030101010101" pitchFamily="2" charset="-122"/>
              </a:rPr>
              <a:t>计算的是同一个表达式（</a:t>
            </a:r>
            <a:r>
              <a:rPr lang="en-US" altLang="zh-CN" sz="2200" b="1" dirty="0">
                <a:ea typeface="宋体" panose="02010600030101010101" pitchFamily="2" charset="-122"/>
              </a:rPr>
              <a:t>b</a:t>
            </a:r>
            <a:r>
              <a:rPr lang="en-US" altLang="zh-CN" sz="2200" b="1" baseline="-25000" dirty="0">
                <a:ea typeface="宋体" panose="02010600030101010101" pitchFamily="2" charset="-122"/>
              </a:rPr>
              <a:t>0</a:t>
            </a:r>
            <a:r>
              <a:rPr lang="en-US" altLang="zh-CN" sz="2200" b="1" dirty="0">
                <a:ea typeface="宋体" panose="02010600030101010101" pitchFamily="2" charset="-122"/>
              </a:rPr>
              <a:t>+c</a:t>
            </a:r>
            <a:r>
              <a:rPr lang="en-US" altLang="zh-CN" sz="2200" b="1" baseline="-25000" dirty="0">
                <a:ea typeface="宋体" panose="02010600030101010101" pitchFamily="2" charset="-122"/>
              </a:rPr>
              <a:t>0</a:t>
            </a:r>
            <a:r>
              <a:rPr lang="zh-CN" altLang="en-US" sz="2200" b="1" dirty="0">
                <a:ea typeface="宋体" panose="02010600030101010101" pitchFamily="2" charset="-122"/>
              </a:rPr>
              <a:t>）的值，但在图</a:t>
            </a:r>
            <a:r>
              <a:rPr lang="en-US" altLang="zh-CN" sz="2200" b="1" dirty="0">
                <a:ea typeface="宋体" panose="02010600030101010101" pitchFamily="2" charset="-122"/>
              </a:rPr>
              <a:t>8-13</a:t>
            </a:r>
            <a:r>
              <a:rPr lang="zh-CN" altLang="en-US" sz="2200" b="1" dirty="0">
                <a:ea typeface="宋体" panose="02010600030101010101" pitchFamily="2" charset="-122"/>
              </a:rPr>
              <a:t>中无法识别</a:t>
            </a:r>
            <a:r>
              <a:rPr lang="en-US" altLang="zh-CN" sz="2200" b="1" dirty="0">
                <a:ea typeface="宋体" panose="02010600030101010101" pitchFamily="2" charset="-122"/>
              </a:rPr>
              <a:t>CSE</a:t>
            </a:r>
            <a:endParaRPr lang="en-US" altLang="zh-CN" sz="2200" b="1" dirty="0">
              <a:ea typeface="宋体" panose="02010600030101010101" pitchFamily="2" charset="-122"/>
            </a:endParaRPr>
          </a:p>
          <a:p>
            <a:pPr lvl="1"/>
            <a:r>
              <a:rPr lang="zh-CN" altLang="en-US" sz="2200" b="1" dirty="0">
                <a:ea typeface="宋体" panose="02010600030101010101" pitchFamily="2" charset="-122"/>
              </a:rPr>
              <a:t>可能可以通过代数恒等式的变换，进而揭示</a:t>
            </a:r>
            <a:r>
              <a:rPr lang="en-US" altLang="zh-CN" sz="2200" b="1"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e</a:t>
            </a:r>
            <a:r>
              <a:rPr lang="zh-CN" altLang="en-US" sz="2200" b="1" dirty="0">
                <a:ea typeface="宋体" panose="02010600030101010101" pitchFamily="2" charset="-122"/>
              </a:rPr>
              <a:t>的关系</a:t>
            </a:r>
            <a:endParaRPr lang="en-US" altLang="zh-CN" sz="2200" b="1" dirty="0">
              <a:ea typeface="宋体" panose="02010600030101010101" pitchFamily="2" charset="-122"/>
            </a:endParaRPr>
          </a:p>
        </p:txBody>
      </p:sp>
      <p:pic>
        <p:nvPicPr>
          <p:cNvPr id="114692" name="Picture 2"/>
          <p:cNvPicPr>
            <a:picLocks noChangeAspect="1"/>
          </p:cNvPicPr>
          <p:nvPr/>
        </p:nvPicPr>
        <p:blipFill>
          <a:blip r:embed="rId1"/>
          <a:stretch>
            <a:fillRect/>
          </a:stretch>
        </p:blipFill>
        <p:spPr>
          <a:xfrm>
            <a:off x="3276600" y="2133600"/>
            <a:ext cx="5688013" cy="2159000"/>
          </a:xfrm>
          <a:prstGeom prst="rect">
            <a:avLst/>
          </a:prstGeom>
          <a:noFill/>
          <a:ln w="9525">
            <a:noFill/>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消除死代码</a:t>
            </a:r>
            <a:endParaRPr lang="en-US" altLang="zh-CN" dirty="0">
              <a:latin typeface="Times New Roman" panose="02020603050405020304" pitchFamily="18" charset="0"/>
              <a:ea typeface="宋体" panose="02010600030101010101" pitchFamily="2" charset="-122"/>
            </a:endParaRPr>
          </a:p>
        </p:txBody>
      </p:sp>
      <p:sp>
        <p:nvSpPr>
          <p:cNvPr id="116739" name="Rectangle 3"/>
          <p:cNvSpPr>
            <a:spLocks noGrp="1"/>
          </p:cNvSpPr>
          <p:nvPr>
            <p:ph idx="1"/>
          </p:nvPr>
        </p:nvSpPr>
        <p:spPr>
          <a:xfrm>
            <a:off x="990600" y="1557338"/>
            <a:ext cx="7391400" cy="4691062"/>
          </a:xfrm>
        </p:spPr>
        <p:txBody>
          <a:bodyPr vert="horz" wrap="square" lIns="92075" tIns="46038" rIns="92075" bIns="46038" anchor="t" anchorCtr="0"/>
          <a:p>
            <a:r>
              <a:rPr lang="zh-CN" altLang="en-US" sz="2400" b="1" dirty="0">
                <a:ea typeface="宋体" panose="02010600030101010101" pitchFamily="2" charset="-122"/>
              </a:rPr>
              <a:t>定义：在</a:t>
            </a:r>
            <a:r>
              <a:rPr lang="en-US" altLang="zh-CN" sz="2400" b="1" dirty="0">
                <a:ea typeface="宋体" panose="02010600030101010101" pitchFamily="2" charset="-122"/>
              </a:rPr>
              <a:t>DAG</a:t>
            </a:r>
            <a:r>
              <a:rPr lang="zh-CN" altLang="en-US" sz="2400" b="1" dirty="0">
                <a:ea typeface="宋体" panose="02010600030101010101" pitchFamily="2" charset="-122"/>
              </a:rPr>
              <a:t>图上没有附加活跃变量的根结点（即没有父结点的结点）是死代码结点</a:t>
            </a:r>
            <a:endParaRPr lang="en-US" altLang="zh-CN" sz="2400" b="1" dirty="0">
              <a:ea typeface="宋体" panose="02010600030101010101" pitchFamily="2" charset="-122"/>
            </a:endParaRPr>
          </a:p>
          <a:p>
            <a:r>
              <a:rPr lang="zh-CN" altLang="en-US" sz="2400" b="1" dirty="0">
                <a:ea typeface="宋体" panose="02010600030101010101" pitchFamily="2" charset="-122"/>
              </a:rPr>
              <a:t>消除方法：</a:t>
            </a:r>
            <a:endParaRPr lang="en-US" altLang="zh-CN" sz="2400" b="1" dirty="0">
              <a:ea typeface="宋体" panose="02010600030101010101" pitchFamily="2" charset="-122"/>
            </a:endParaRPr>
          </a:p>
          <a:p>
            <a:pPr lvl="1"/>
            <a:r>
              <a:rPr lang="zh-CN" altLang="en-US" sz="2200" b="1" dirty="0">
                <a:ea typeface="宋体" panose="02010600030101010101" pitchFamily="2" charset="-122"/>
              </a:rPr>
              <a:t>在</a:t>
            </a:r>
            <a:r>
              <a:rPr lang="en-US" altLang="zh-CN" sz="2200" b="1" dirty="0">
                <a:ea typeface="宋体" panose="02010600030101010101" pitchFamily="2" charset="-122"/>
              </a:rPr>
              <a:t>DAG</a:t>
            </a:r>
            <a:r>
              <a:rPr lang="zh-CN" altLang="en-US" sz="2200" b="1" dirty="0">
                <a:ea typeface="宋体" panose="02010600030101010101" pitchFamily="2" charset="-122"/>
              </a:rPr>
              <a:t>图上删除死代码结点</a:t>
            </a:r>
            <a:endParaRPr lang="en-US" altLang="zh-CN" sz="2200" b="1" dirty="0">
              <a:ea typeface="宋体" panose="02010600030101010101" pitchFamily="2" charset="-122"/>
            </a:endParaRPr>
          </a:p>
          <a:p>
            <a:pPr lvl="1"/>
            <a:r>
              <a:rPr lang="zh-CN" altLang="en-US" sz="2200" b="1" dirty="0">
                <a:ea typeface="宋体" panose="02010600030101010101" pitchFamily="2" charset="-122"/>
              </a:rPr>
              <a:t>重复上述步骤，直至消除所有该类结点</a:t>
            </a:r>
            <a:endParaRPr lang="en-US" altLang="zh-CN" sz="2200" b="1" dirty="0">
              <a:ea typeface="宋体" panose="02010600030101010101" pitchFamily="2" charset="-122"/>
            </a:endParaRPr>
          </a:p>
          <a:p>
            <a:r>
              <a:rPr lang="zh-CN" altLang="en-US" sz="2400" b="1" dirty="0">
                <a:ea typeface="宋体" panose="02010600030101010101" pitchFamily="2" charset="-122"/>
              </a:rPr>
              <a:t>例</a:t>
            </a:r>
            <a:r>
              <a:rPr lang="en-US" altLang="zh-CN" sz="2400" b="1" dirty="0">
                <a:ea typeface="宋体" panose="02010600030101010101" pitchFamily="2" charset="-122"/>
              </a:rPr>
              <a:t>8.12</a:t>
            </a:r>
            <a:r>
              <a:rPr lang="zh-CN" altLang="en-US" sz="2400" b="1" dirty="0">
                <a:ea typeface="宋体" panose="02010600030101010101" pitchFamily="2" charset="-122"/>
              </a:rPr>
              <a:t>：若图</a:t>
            </a:r>
            <a:r>
              <a:rPr lang="en-US" altLang="zh-CN" sz="2400" b="1" dirty="0">
                <a:ea typeface="宋体" panose="02010600030101010101" pitchFamily="2" charset="-122"/>
              </a:rPr>
              <a:t>8-13</a:t>
            </a:r>
            <a:r>
              <a:rPr lang="zh-CN" altLang="en-US" sz="2400" b="1" dirty="0">
                <a:ea typeface="宋体" panose="02010600030101010101" pitchFamily="2" charset="-122"/>
              </a:rPr>
              <a:t>的</a:t>
            </a:r>
            <a:r>
              <a:rPr lang="en-US" altLang="zh-CN" sz="2400" b="1" dirty="0">
                <a:ea typeface="宋体" panose="02010600030101010101" pitchFamily="2" charset="-122"/>
              </a:rPr>
              <a:t>a</a:t>
            </a:r>
            <a:r>
              <a:rPr lang="zh-CN" altLang="en-US" sz="2400" b="1" dirty="0">
                <a:ea typeface="宋体" panose="02010600030101010101" pitchFamily="2" charset="-122"/>
              </a:rPr>
              <a:t>和</a:t>
            </a:r>
            <a:r>
              <a:rPr lang="en-US" altLang="zh-CN" sz="2400" b="1" dirty="0">
                <a:ea typeface="宋体" panose="02010600030101010101" pitchFamily="2" charset="-122"/>
              </a:rPr>
              <a:t>b</a:t>
            </a:r>
            <a:r>
              <a:rPr lang="zh-CN" altLang="en-US" sz="2400" b="1" dirty="0">
                <a:ea typeface="宋体" panose="02010600030101010101" pitchFamily="2" charset="-122"/>
              </a:rPr>
              <a:t>是活跃变量，</a:t>
            </a:r>
            <a:r>
              <a:rPr lang="en-US" altLang="zh-CN" sz="2400" b="1" dirty="0">
                <a:ea typeface="宋体" panose="02010600030101010101" pitchFamily="2" charset="-122"/>
              </a:rPr>
              <a:t>c</a:t>
            </a:r>
            <a:r>
              <a:rPr lang="zh-CN" altLang="en-US" sz="2400" b="1" dirty="0">
                <a:ea typeface="宋体" panose="02010600030101010101" pitchFamily="2" charset="-122"/>
              </a:rPr>
              <a:t>和</a:t>
            </a:r>
            <a:r>
              <a:rPr lang="en-US" altLang="zh-CN" sz="2400" b="1" dirty="0">
                <a:ea typeface="宋体" panose="02010600030101010101" pitchFamily="2" charset="-122"/>
              </a:rPr>
              <a:t>e</a:t>
            </a:r>
            <a:r>
              <a:rPr lang="zh-CN" altLang="en-US" sz="2400" b="1" dirty="0">
                <a:ea typeface="宋体" panose="02010600030101010101" pitchFamily="2" charset="-122"/>
              </a:rPr>
              <a:t>不是</a:t>
            </a:r>
            <a:endParaRPr lang="en-US" altLang="zh-CN" sz="2400" b="1" dirty="0">
              <a:ea typeface="宋体" panose="02010600030101010101" pitchFamily="2" charset="-122"/>
            </a:endParaRPr>
          </a:p>
          <a:p>
            <a:pPr lvl="1"/>
            <a:r>
              <a:rPr lang="zh-CN" altLang="en-US" sz="2200" b="1" dirty="0">
                <a:ea typeface="宋体" panose="02010600030101010101" pitchFamily="2" charset="-122"/>
              </a:rPr>
              <a:t>消除死代码时，首先看到标记为</a:t>
            </a:r>
            <a:r>
              <a:rPr lang="en-US" altLang="zh-CN" sz="2200" b="1" dirty="0">
                <a:ea typeface="宋体" panose="02010600030101010101" pitchFamily="2" charset="-122"/>
              </a:rPr>
              <a:t>e</a:t>
            </a:r>
            <a:r>
              <a:rPr lang="zh-CN" altLang="en-US" sz="2200" b="1" dirty="0">
                <a:ea typeface="宋体" panose="02010600030101010101" pitchFamily="2" charset="-122"/>
              </a:rPr>
              <a:t>的根结点，由于只标记了</a:t>
            </a:r>
            <a:r>
              <a:rPr lang="en-US" altLang="zh-CN" sz="2200" b="1" dirty="0">
                <a:ea typeface="宋体" panose="02010600030101010101" pitchFamily="2" charset="-122"/>
              </a:rPr>
              <a:t>e</a:t>
            </a:r>
            <a:r>
              <a:rPr lang="zh-CN" altLang="en-US" sz="2200" b="1" dirty="0">
                <a:ea typeface="宋体" panose="02010600030101010101" pitchFamily="2" charset="-122"/>
              </a:rPr>
              <a:t>，且</a:t>
            </a:r>
            <a:r>
              <a:rPr lang="en-US" altLang="zh-CN" sz="2200" b="1" dirty="0">
                <a:ea typeface="宋体" panose="02010600030101010101" pitchFamily="2" charset="-122"/>
              </a:rPr>
              <a:t>e</a:t>
            </a:r>
            <a:r>
              <a:rPr lang="zh-CN" altLang="en-US" sz="2200" b="1" dirty="0">
                <a:ea typeface="宋体" panose="02010600030101010101" pitchFamily="2" charset="-122"/>
              </a:rPr>
              <a:t>不活跃，将这个结点消除</a:t>
            </a:r>
            <a:endParaRPr lang="en-US" altLang="zh-CN" sz="2200" b="1" dirty="0">
              <a:ea typeface="宋体" panose="02010600030101010101" pitchFamily="2" charset="-122"/>
            </a:endParaRPr>
          </a:p>
          <a:p>
            <a:pPr lvl="1"/>
            <a:r>
              <a:rPr lang="zh-CN" altLang="en-US" sz="2200" b="1" dirty="0">
                <a:ea typeface="宋体" panose="02010600030101010101" pitchFamily="2" charset="-122"/>
              </a:rPr>
              <a:t>此时标记为</a:t>
            </a:r>
            <a:r>
              <a:rPr lang="en-US" altLang="zh-CN" sz="2200" b="1" dirty="0">
                <a:ea typeface="宋体" panose="02010600030101010101" pitchFamily="2" charset="-122"/>
              </a:rPr>
              <a:t>c</a:t>
            </a:r>
            <a:r>
              <a:rPr lang="zh-CN" altLang="en-US" sz="2200" b="1" dirty="0">
                <a:ea typeface="宋体" panose="02010600030101010101" pitchFamily="2" charset="-122"/>
              </a:rPr>
              <a:t>的结点成为根结点，且只标记了</a:t>
            </a:r>
            <a:r>
              <a:rPr lang="en-US" altLang="zh-CN" sz="2200" b="1" dirty="0">
                <a:ea typeface="宋体" panose="02010600030101010101" pitchFamily="2" charset="-122"/>
              </a:rPr>
              <a:t>c</a:t>
            </a:r>
            <a:r>
              <a:rPr lang="zh-CN" altLang="en-US" sz="2200" b="1" dirty="0">
                <a:ea typeface="宋体" panose="02010600030101010101" pitchFamily="2" charset="-122"/>
              </a:rPr>
              <a:t>，</a:t>
            </a:r>
            <a:r>
              <a:rPr lang="en-US" altLang="zh-CN" sz="2200" b="1" dirty="0">
                <a:ea typeface="宋体" panose="02010600030101010101" pitchFamily="2" charset="-122"/>
              </a:rPr>
              <a:t>c</a:t>
            </a:r>
            <a:r>
              <a:rPr lang="zh-CN" altLang="en-US" sz="2200" b="1" dirty="0">
                <a:ea typeface="宋体" panose="02010600030101010101" pitchFamily="2" charset="-122"/>
              </a:rPr>
              <a:t>也不活跃，将这个结点消除</a:t>
            </a:r>
            <a:endParaRPr lang="en-US" altLang="zh-CN" sz="2200" b="1" dirty="0">
              <a:ea typeface="宋体" panose="02010600030101010101" pitchFamily="2" charset="-122"/>
            </a:endParaRPr>
          </a:p>
          <a:p>
            <a:pPr lvl="1"/>
            <a:r>
              <a:rPr lang="zh-CN" altLang="en-US" sz="2200" b="1" dirty="0">
                <a:ea typeface="宋体" panose="02010600030101010101" pitchFamily="2" charset="-122"/>
              </a:rPr>
              <a:t>此时内部结点只剩标记为</a:t>
            </a:r>
            <a:r>
              <a:rPr lang="en-US" altLang="zh-CN" sz="2200" b="1"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b</a:t>
            </a:r>
            <a:r>
              <a:rPr lang="zh-CN" altLang="en-US" sz="2200" b="1" dirty="0">
                <a:ea typeface="宋体" panose="02010600030101010101" pitchFamily="2" charset="-122"/>
              </a:rPr>
              <a:t>的两个结点，二者均活跃，所以保留着两个结点</a:t>
            </a:r>
            <a:endParaRPr lang="en-US" altLang="zh-CN" sz="2200" b="1" dirty="0">
              <a:ea typeface="宋体"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代数恒等式的使用（</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990600" y="1557338"/>
            <a:ext cx="7391400" cy="4691063"/>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利用代数恒等式消除计算步骤</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一类重要的优化方法，一些恒等式如</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		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		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局部强度削弱（</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reduction in strength</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）是另外一类代数优化</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将代价较高的运算替换等价的但代价较低的运算，如</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代价较高的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代价较低的</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2</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		=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0.5</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代数恒等式的使用（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990600" y="1557338"/>
            <a:ext cx="7391400" cy="4691063"/>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常量合并（</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constant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folding</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）也是常用的代数变换</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在编译时刻对常量表达式求值，并将常量表达式替换为求出的值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编译时刻求值必须使用和运行时刻相同的求值方法</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可以对常量表达式进行编译，在目标机上执行，然后将表达式替换为执行结果</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例如：将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3.14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替换为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6.28</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代数恒等式的使用（</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22883" name="Rectangle 3"/>
          <p:cNvSpPr>
            <a:spLocks noGrp="1"/>
          </p:cNvSpPr>
          <p:nvPr>
            <p:ph idx="1"/>
          </p:nvPr>
        </p:nvSpPr>
        <p:spPr>
          <a:xfrm>
            <a:off x="755650" y="1371600"/>
            <a:ext cx="7777163" cy="4876800"/>
          </a:xfrm>
        </p:spPr>
        <p:txBody>
          <a:bodyPr vert="horz" wrap="square" lIns="92075" tIns="46038" rIns="92075" bIns="46038" anchor="t" anchorCtr="0"/>
          <a:p>
            <a:r>
              <a:rPr lang="en-US" altLang="zh-CN" sz="2400" b="1" dirty="0">
                <a:ea typeface="宋体" panose="02010600030101010101" pitchFamily="2" charset="-122"/>
              </a:rPr>
              <a:t>DAG</a:t>
            </a:r>
            <a:r>
              <a:rPr lang="zh-CN" altLang="en-US" sz="2400" b="1" dirty="0">
                <a:ea typeface="宋体" panose="02010600030101010101" pitchFamily="2" charset="-122"/>
              </a:rPr>
              <a:t>可以帮助实现代数变换，及交换律或结合律等</a:t>
            </a:r>
            <a:endParaRPr lang="en-US" altLang="zh-CN" sz="2400" b="1" dirty="0">
              <a:ea typeface="宋体" panose="02010600030101010101" pitchFamily="2" charset="-122"/>
            </a:endParaRPr>
          </a:p>
          <a:p>
            <a:pPr lvl="1"/>
            <a:r>
              <a:rPr lang="zh-CN" altLang="en-US" sz="2200" b="1" dirty="0">
                <a:ea typeface="宋体" panose="02010600030101010101" pitchFamily="2" charset="-122"/>
              </a:rPr>
              <a:t>例如：若语言规定*是可交换的，则在构造</a:t>
            </a:r>
            <a:r>
              <a:rPr lang="en-US" altLang="zh-CN" sz="2200" b="1" dirty="0">
                <a:ea typeface="宋体" panose="02010600030101010101" pitchFamily="2" charset="-122"/>
              </a:rPr>
              <a:t>M</a:t>
            </a:r>
            <a:r>
              <a:rPr lang="zh-CN" altLang="en-US" sz="2200" b="1" dirty="0">
                <a:ea typeface="宋体" panose="02010600030101010101" pitchFamily="2" charset="-122"/>
              </a:rPr>
              <a:t>*</a:t>
            </a:r>
            <a:r>
              <a:rPr lang="en-US" altLang="zh-CN" sz="2200" b="1" dirty="0">
                <a:ea typeface="宋体" panose="02010600030101010101" pitchFamily="2" charset="-122"/>
              </a:rPr>
              <a:t>N</a:t>
            </a:r>
            <a:r>
              <a:rPr lang="zh-CN" altLang="en-US" sz="2200" b="1" dirty="0">
                <a:ea typeface="宋体" panose="02010600030101010101" pitchFamily="2" charset="-122"/>
              </a:rPr>
              <a:t>的结点时，同时检查是否存在</a:t>
            </a:r>
            <a:r>
              <a:rPr lang="en-US" altLang="zh-CN" sz="2200" b="1" dirty="0">
                <a:ea typeface="宋体" panose="02010600030101010101" pitchFamily="2" charset="-122"/>
              </a:rPr>
              <a:t>N</a:t>
            </a:r>
            <a:r>
              <a:rPr lang="zh-CN" altLang="en-US" sz="2200" b="1" dirty="0">
                <a:ea typeface="宋体" panose="02010600030101010101" pitchFamily="2" charset="-122"/>
              </a:rPr>
              <a:t>*</a:t>
            </a:r>
            <a:r>
              <a:rPr lang="en-US" altLang="zh-CN" sz="2200" b="1" dirty="0">
                <a:ea typeface="宋体" panose="02010600030101010101" pitchFamily="2" charset="-122"/>
              </a:rPr>
              <a:t>M</a:t>
            </a:r>
            <a:r>
              <a:rPr lang="zh-CN" altLang="en-US" sz="2200" b="1" dirty="0">
                <a:ea typeface="宋体" panose="02010600030101010101" pitchFamily="2" charset="-122"/>
              </a:rPr>
              <a:t>结点</a:t>
            </a:r>
            <a:endParaRPr lang="en-US" altLang="zh-CN" sz="2200" b="1" dirty="0">
              <a:ea typeface="宋体" panose="02010600030101010101" pitchFamily="2" charset="-122"/>
            </a:endParaRPr>
          </a:p>
          <a:p>
            <a:pPr lvl="1"/>
            <a:r>
              <a:rPr lang="zh-CN" altLang="en-US" sz="2200" b="1" dirty="0">
                <a:ea typeface="宋体" panose="02010600030101010101" pitchFamily="2" charset="-122"/>
              </a:rPr>
              <a:t>再如：关系算符也可能产生</a:t>
            </a:r>
            <a:r>
              <a:rPr lang="en-US" altLang="zh-CN" sz="2200" b="1" dirty="0">
                <a:ea typeface="宋体" panose="02010600030101010101" pitchFamily="2" charset="-122"/>
              </a:rPr>
              <a:t>CSE</a:t>
            </a:r>
            <a:r>
              <a:rPr lang="zh-CN" altLang="en-US" sz="2200" b="1" dirty="0">
                <a:ea typeface="宋体" panose="02010600030101010101" pitchFamily="2" charset="-122"/>
              </a:rPr>
              <a:t>，如</a:t>
            </a:r>
            <a:r>
              <a:rPr lang="en-US" altLang="zh-CN" sz="2200" b="1" dirty="0">
                <a:ea typeface="宋体" panose="02010600030101010101" pitchFamily="2" charset="-122"/>
              </a:rPr>
              <a:t>x&gt;y</a:t>
            </a:r>
            <a:r>
              <a:rPr lang="zh-CN" altLang="en-US" sz="2200" b="1" dirty="0">
                <a:ea typeface="宋体" panose="02010600030101010101" pitchFamily="2" charset="-122"/>
              </a:rPr>
              <a:t>也可以通过将</a:t>
            </a:r>
            <a:r>
              <a:rPr lang="en-US" altLang="zh-CN" sz="2200" b="1" dirty="0">
                <a:ea typeface="宋体" panose="02010600030101010101" pitchFamily="2" charset="-122"/>
              </a:rPr>
              <a:t>x</a:t>
            </a:r>
            <a:r>
              <a:rPr lang="zh-CN" altLang="en-US" sz="2200" b="1" dirty="0">
                <a:ea typeface="宋体" panose="02010600030101010101" pitchFamily="2" charset="-122"/>
              </a:rPr>
              <a:t>和</a:t>
            </a:r>
            <a:r>
              <a:rPr lang="en-US" altLang="zh-CN" sz="2200" b="1" dirty="0">
                <a:ea typeface="宋体" panose="02010600030101010101" pitchFamily="2" charset="-122"/>
              </a:rPr>
              <a:t>y</a:t>
            </a:r>
            <a:r>
              <a:rPr lang="zh-CN" altLang="en-US" sz="2200" b="1" dirty="0">
                <a:ea typeface="宋体" panose="02010600030101010101" pitchFamily="2" charset="-122"/>
              </a:rPr>
              <a:t>相减，并测试由这个减法计算设置的条件码来测试</a:t>
            </a:r>
            <a:endParaRPr lang="en-US" altLang="zh-CN" sz="2200" b="1" dirty="0">
              <a:ea typeface="宋体" panose="02010600030101010101" pitchFamily="2" charset="-122"/>
            </a:endParaRPr>
          </a:p>
          <a:p>
            <a:pPr lvl="2"/>
            <a:r>
              <a:rPr lang="zh-CN" altLang="en-US" sz="2000" b="1" dirty="0">
                <a:ea typeface="宋体" panose="02010600030101010101" pitchFamily="2" charset="-122"/>
              </a:rPr>
              <a:t>因此，对于</a:t>
            </a:r>
            <a:r>
              <a:rPr lang="en-US" altLang="zh-CN" sz="2000" b="1" dirty="0">
                <a:ea typeface="宋体" panose="02010600030101010101" pitchFamily="2" charset="-122"/>
              </a:rPr>
              <a:t>x-y</a:t>
            </a:r>
            <a:r>
              <a:rPr lang="zh-CN" altLang="en-US" sz="2000" b="1" dirty="0">
                <a:ea typeface="宋体" panose="02010600030101010101" pitchFamily="2" charset="-122"/>
              </a:rPr>
              <a:t>和</a:t>
            </a:r>
            <a:r>
              <a:rPr lang="en-US" altLang="zh-CN" sz="2000" b="1" dirty="0">
                <a:ea typeface="宋体" panose="02010600030101010101" pitchFamily="2" charset="-122"/>
              </a:rPr>
              <a:t>x&gt;y</a:t>
            </a:r>
            <a:r>
              <a:rPr lang="zh-CN" altLang="en-US" sz="2000" b="1" dirty="0">
                <a:ea typeface="宋体" panose="02010600030101010101" pitchFamily="2" charset="-122"/>
              </a:rPr>
              <a:t>，只需要生成一个</a:t>
            </a:r>
            <a:r>
              <a:rPr lang="en-US" altLang="zh-CN" sz="2000" b="1" dirty="0">
                <a:ea typeface="宋体" panose="02010600030101010101" pitchFamily="2" charset="-122"/>
              </a:rPr>
              <a:t>DAG</a:t>
            </a:r>
            <a:r>
              <a:rPr lang="zh-CN" altLang="en-US" sz="2000" b="1" dirty="0">
                <a:ea typeface="宋体" panose="02010600030101010101" pitchFamily="2" charset="-122"/>
              </a:rPr>
              <a:t>结点</a:t>
            </a:r>
            <a:endParaRPr lang="en-US" altLang="zh-CN" sz="2000" b="1" dirty="0">
              <a:ea typeface="宋体" panose="02010600030101010101" pitchFamily="2" charset="-122"/>
            </a:endParaRPr>
          </a:p>
          <a:p>
            <a:pPr lvl="2"/>
            <a:r>
              <a:rPr lang="zh-CN" altLang="en-US" sz="2000" b="1" dirty="0">
                <a:ea typeface="宋体" panose="02010600030101010101" pitchFamily="2" charset="-122"/>
              </a:rPr>
              <a:t>但</a:t>
            </a:r>
            <a:r>
              <a:rPr lang="en-US" altLang="zh-CN" sz="2000" b="1" dirty="0">
                <a:ea typeface="宋体" panose="02010600030101010101" pitchFamily="2" charset="-122"/>
              </a:rPr>
              <a:t>x-y</a:t>
            </a:r>
            <a:r>
              <a:rPr lang="zh-CN" altLang="en-US" sz="2000" b="1" dirty="0">
                <a:ea typeface="宋体" panose="02010600030101010101" pitchFamily="2" charset="-122"/>
              </a:rPr>
              <a:t>可能引起溢出，而比较指令不会</a:t>
            </a:r>
            <a:endParaRPr lang="en-US" altLang="zh-CN" sz="2000" b="1" dirty="0">
              <a:ea typeface="宋体" panose="02010600030101010101" pitchFamily="2" charset="-122"/>
            </a:endParaRPr>
          </a:p>
          <a:p>
            <a:pPr lvl="1"/>
            <a:r>
              <a:rPr lang="zh-CN" altLang="en-US" sz="2200" b="1" dirty="0">
                <a:ea typeface="宋体" panose="02010600030101010101" pitchFamily="2" charset="-122"/>
              </a:rPr>
              <a:t>结合律也可能帮助发现</a:t>
            </a:r>
            <a:r>
              <a:rPr lang="en-US" altLang="zh-CN" sz="2200" b="1" dirty="0">
                <a:ea typeface="宋体" panose="02010600030101010101" pitchFamily="2" charset="-122"/>
              </a:rPr>
              <a:t>CSE</a:t>
            </a:r>
            <a:r>
              <a:rPr lang="zh-CN" altLang="en-US" sz="2200" b="1" dirty="0">
                <a:ea typeface="宋体" panose="02010600030101010101" pitchFamily="2" charset="-122"/>
              </a:rPr>
              <a:t>，如</a:t>
            </a:r>
            <a:endParaRPr lang="en-US" altLang="zh-CN" sz="2200" b="1" dirty="0">
              <a:ea typeface="宋体" panose="02010600030101010101" pitchFamily="2" charset="-122"/>
            </a:endParaRPr>
          </a:p>
          <a:p>
            <a:pPr lvl="2"/>
            <a:r>
              <a:rPr lang="en-US" altLang="zh-CN" sz="2000" b="1" dirty="0">
                <a:ea typeface="宋体" panose="02010600030101010101" pitchFamily="2" charset="-122"/>
              </a:rPr>
              <a:t>a = b + c;  e = c + d + b;</a:t>
            </a:r>
            <a:endParaRPr lang="en-US" altLang="zh-CN" sz="2000" b="1" dirty="0">
              <a:ea typeface="宋体" panose="02010600030101010101" pitchFamily="2" charset="-122"/>
            </a:endParaRPr>
          </a:p>
          <a:p>
            <a:pPr lvl="2"/>
            <a:r>
              <a:rPr lang="zh-CN" altLang="en-US" sz="2000" b="1" dirty="0">
                <a:ea typeface="宋体" panose="02010600030101010101" pitchFamily="2" charset="-122"/>
              </a:rPr>
              <a:t>三地址序列为：</a:t>
            </a:r>
            <a:r>
              <a:rPr lang="en-US" altLang="zh-CN" sz="2000" b="1" dirty="0">
                <a:ea typeface="宋体" panose="02010600030101010101" pitchFamily="2" charset="-122"/>
              </a:rPr>
              <a:t>a</a:t>
            </a:r>
            <a:r>
              <a:rPr lang="zh-CN" altLang="en-US" sz="2000" b="1" dirty="0">
                <a:ea typeface="宋体" panose="02010600030101010101" pitchFamily="2" charset="-122"/>
              </a:rPr>
              <a:t> </a:t>
            </a:r>
            <a:r>
              <a:rPr lang="en-US" altLang="zh-CN" sz="2000" b="1" dirty="0">
                <a:ea typeface="宋体" panose="02010600030101010101" pitchFamily="2" charset="-122"/>
              </a:rPr>
              <a:t>= b + c; t = c + d; e = t + b</a:t>
            </a:r>
            <a:endParaRPr lang="en-US" altLang="zh-CN" sz="2000" b="1" dirty="0">
              <a:ea typeface="宋体" panose="02010600030101010101" pitchFamily="2" charset="-122"/>
            </a:endParaRPr>
          </a:p>
          <a:p>
            <a:pPr lvl="2"/>
            <a:r>
              <a:rPr lang="zh-CN" altLang="en-US" sz="2000" b="1" dirty="0">
                <a:ea typeface="宋体" panose="02010600030101010101" pitchFamily="2" charset="-122"/>
              </a:rPr>
              <a:t>若</a:t>
            </a:r>
            <a:r>
              <a:rPr lang="en-US" altLang="zh-CN" sz="2000" b="1" dirty="0">
                <a:ea typeface="宋体" panose="02010600030101010101" pitchFamily="2" charset="-122"/>
              </a:rPr>
              <a:t>t</a:t>
            </a:r>
            <a:r>
              <a:rPr lang="zh-CN" altLang="en-US" sz="2000" b="1" dirty="0">
                <a:ea typeface="宋体" panose="02010600030101010101" pitchFamily="2" charset="-122"/>
              </a:rPr>
              <a:t>在基本块外不用，综合利用</a:t>
            </a:r>
            <a:r>
              <a:rPr lang="en-US" altLang="zh-CN" sz="2000" b="1" dirty="0">
                <a:ea typeface="宋体" panose="02010600030101010101" pitchFamily="2" charset="-122"/>
              </a:rPr>
              <a:t>+</a:t>
            </a:r>
            <a:r>
              <a:rPr lang="zh-CN" altLang="en-US" sz="2000" b="1" dirty="0">
                <a:ea typeface="宋体" panose="02010600030101010101" pitchFamily="2" charset="-122"/>
              </a:rPr>
              <a:t>的结合律和交换律，可以将序列优化为 </a:t>
            </a:r>
            <a:r>
              <a:rPr lang="en-US" altLang="zh-CN" sz="2000" b="1" dirty="0">
                <a:ea typeface="宋体" panose="02010600030101010101" pitchFamily="2" charset="-122"/>
              </a:rPr>
              <a:t>a</a:t>
            </a:r>
            <a:r>
              <a:rPr lang="zh-CN" altLang="en-US" sz="2000" b="1" dirty="0">
                <a:ea typeface="宋体" panose="02010600030101010101" pitchFamily="2" charset="-122"/>
              </a:rPr>
              <a:t> </a:t>
            </a:r>
            <a:r>
              <a:rPr lang="en-US" altLang="zh-CN" sz="2000" b="1" dirty="0">
                <a:ea typeface="宋体" panose="02010600030101010101" pitchFamily="2" charset="-122"/>
              </a:rPr>
              <a:t>= b + c; e = a + d</a:t>
            </a:r>
            <a:endParaRPr lang="en-US" altLang="zh-CN" sz="2000" b="1" dirty="0">
              <a:ea typeface="宋体" panose="02010600030101010101" pitchFamily="2" charset="-122"/>
            </a:endParaRPr>
          </a:p>
          <a:p>
            <a:r>
              <a:rPr lang="zh-CN" altLang="en-US" sz="2400" b="1" dirty="0">
                <a:ea typeface="宋体" panose="02010600030101010101" pitchFamily="2" charset="-122"/>
              </a:rPr>
              <a:t>计算机算术可能不一定遵守数学上的恒等式</a:t>
            </a:r>
            <a:endParaRPr lang="en-US" altLang="zh-CN" sz="2400" b="1" dirty="0">
              <a:ea typeface="宋体" panose="02010600030101010101" pitchFamily="2" charset="-122"/>
            </a:endParaRPr>
          </a:p>
          <a:p>
            <a:pPr lvl="1"/>
            <a:r>
              <a:rPr lang="zh-CN" altLang="en-US" sz="2200" b="1" dirty="0">
                <a:ea typeface="宋体" panose="02010600030101010101" pitchFamily="2" charset="-122"/>
              </a:rPr>
              <a:t>是否实施代数恒等式类优化要参考语言手册的规定</a:t>
            </a:r>
            <a:endParaRPr lang="en-US" altLang="zh-CN" sz="2200" b="1" dirty="0">
              <a:ea typeface="宋体" panose="02010600030101010101" pitchFamily="2" charset="-122"/>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数组引用的表示（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323850" y="1371600"/>
            <a:ext cx="8640763"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考虑下述的三地址指令中</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a:t>
            </a:r>
            <a:r>
              <a:rPr kumimoji="0"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的两次出现是</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CSE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吗？</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 = a[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 j ] = 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z = a[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由于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可能就是</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，因此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的赋值可能改变</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，所以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的两次出现不是</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CSE</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DAG</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中，表示数组访问的正确方法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取数组元素的右值（如</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 = a[ </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），用新创建的运算符为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的结点表示，其左右子结点分别代表数组初始值（本例中为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）和下标</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，变量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是该结点标号之一</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取数组元素的左值（如</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 j ] = 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），用新创建的运算符为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的结点表示，这个结点的三个子结点分别表示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200" b="1" i="0" u="none" strike="noStrike" kern="0" cap="none" spc="0" normalizeH="0" baseline="-25000" noProof="0" dirty="0">
                <a:ln>
                  <a:noFill/>
                </a:ln>
                <a:solidFill>
                  <a:schemeClr val="tx1"/>
                </a:solidFill>
                <a:effectLst/>
                <a:uLnTx/>
                <a:uFillTx/>
                <a:latin typeface="+mn-lt"/>
                <a:ea typeface="宋体" panose="02010600030101010101" pitchFamily="2" charset="-122"/>
              </a:rPr>
              <a:t>0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，没有变量用这个结点标号</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左值结点的创建杀死了所有当前已建立的，其值依赖于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被杀死的结点都不再有标号，且不能作为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CSE</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数组引用的表示（</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26979" name="Rectangle 3"/>
          <p:cNvSpPr>
            <a:spLocks noGrp="1"/>
          </p:cNvSpPr>
          <p:nvPr>
            <p:ph idx="1"/>
          </p:nvPr>
        </p:nvSpPr>
        <p:spPr>
          <a:xfrm>
            <a:off x="990600" y="1557338"/>
            <a:ext cx="3294063" cy="4691062"/>
          </a:xfrm>
        </p:spPr>
        <p:txBody>
          <a:bodyPr vert="horz" wrap="square" lIns="92075" tIns="46038" rIns="92075" bIns="46038" anchor="t" anchorCtr="0"/>
          <a:p>
            <a:r>
              <a:rPr lang="zh-CN" altLang="en-US" sz="2400" b="1" dirty="0">
                <a:ea typeface="宋体" panose="02010600030101010101" pitchFamily="2" charset="-122"/>
              </a:rPr>
              <a:t>例</a:t>
            </a:r>
            <a:r>
              <a:rPr lang="en-US" altLang="zh-CN" sz="2400" b="1" dirty="0">
                <a:ea typeface="宋体" panose="02010600030101010101" pitchFamily="2" charset="-122"/>
              </a:rPr>
              <a:t>8.13</a:t>
            </a:r>
            <a:r>
              <a:rPr lang="zh-CN" altLang="en-US" sz="2400" b="1" dirty="0">
                <a:ea typeface="宋体" panose="02010600030101010101" pitchFamily="2" charset="-122"/>
              </a:rPr>
              <a:t>：基本块</a:t>
            </a:r>
            <a:endParaRPr lang="en-US" altLang="zh-CN" sz="2400" b="1" dirty="0">
              <a:ea typeface="宋体" panose="02010600030101010101" pitchFamily="2" charset="-122"/>
            </a:endParaRPr>
          </a:p>
          <a:p>
            <a:pPr marL="800100" lvl="2" indent="0">
              <a:spcBef>
                <a:spcPct val="0"/>
              </a:spcBef>
              <a:buNone/>
            </a:pPr>
            <a:r>
              <a:rPr lang="en-US" altLang="zh-CN" sz="1800" b="1" dirty="0">
                <a:ea typeface="宋体" panose="02010600030101010101" pitchFamily="2" charset="-122"/>
              </a:rPr>
              <a:t>x = a[ i ]</a:t>
            </a:r>
            <a:endParaRPr lang="en-US" altLang="zh-CN" sz="1800" b="1" dirty="0">
              <a:ea typeface="宋体" panose="02010600030101010101" pitchFamily="2" charset="-122"/>
            </a:endParaRPr>
          </a:p>
          <a:p>
            <a:pPr marL="800100" lvl="2" indent="0">
              <a:spcBef>
                <a:spcPct val="0"/>
              </a:spcBef>
              <a:buNone/>
            </a:pPr>
            <a:r>
              <a:rPr lang="en-US" altLang="zh-CN" sz="1800" b="1" dirty="0">
                <a:ea typeface="宋体" panose="02010600030101010101" pitchFamily="2" charset="-122"/>
              </a:rPr>
              <a:t>a[ j ] = y</a:t>
            </a:r>
            <a:endParaRPr lang="en-US" altLang="zh-CN" sz="1800" b="1" dirty="0">
              <a:ea typeface="宋体" panose="02010600030101010101" pitchFamily="2" charset="-122"/>
            </a:endParaRPr>
          </a:p>
          <a:p>
            <a:pPr marL="800100" lvl="2" indent="0">
              <a:spcBef>
                <a:spcPct val="0"/>
              </a:spcBef>
              <a:buNone/>
            </a:pPr>
            <a:r>
              <a:rPr lang="en-US" altLang="zh-CN" sz="1800" b="1" dirty="0">
                <a:ea typeface="宋体" panose="02010600030101010101" pitchFamily="2" charset="-122"/>
              </a:rPr>
              <a:t>z = a[ i ]</a:t>
            </a:r>
            <a:endParaRPr lang="en-US" altLang="zh-CN" sz="1800" b="1" dirty="0">
              <a:ea typeface="宋体" panose="02010600030101010101" pitchFamily="2" charset="-122"/>
            </a:endParaRPr>
          </a:p>
          <a:p>
            <a:pPr lvl="1"/>
            <a:r>
              <a:rPr lang="en-US" altLang="zh-CN" sz="2200" b="1" dirty="0">
                <a:ea typeface="宋体" panose="02010600030101010101" pitchFamily="2" charset="-122"/>
              </a:rPr>
              <a:t>x</a:t>
            </a:r>
            <a:r>
              <a:rPr lang="zh-CN" altLang="en-US" sz="2200" b="1" dirty="0">
                <a:ea typeface="宋体" panose="02010600030101010101" pitchFamily="2" charset="-122"/>
              </a:rPr>
              <a:t>的结点先被创建</a:t>
            </a:r>
            <a:endParaRPr lang="en-US" altLang="zh-CN" sz="2200" b="1" dirty="0">
              <a:ea typeface="宋体" panose="02010600030101010101" pitchFamily="2" charset="-122"/>
            </a:endParaRPr>
          </a:p>
          <a:p>
            <a:pPr lvl="1"/>
            <a:r>
              <a:rPr lang="zh-CN" altLang="en-US" sz="2200" b="1" dirty="0">
                <a:ea typeface="宋体" panose="02010600030101010101" pitchFamily="2" charset="-122"/>
              </a:rPr>
              <a:t>在</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的结点创建时，</a:t>
            </a:r>
            <a:r>
              <a:rPr lang="en-US" altLang="zh-CN" sz="2200" b="1" dirty="0">
                <a:ea typeface="宋体" panose="02010600030101010101" pitchFamily="2" charset="-122"/>
              </a:rPr>
              <a:t>x</a:t>
            </a:r>
            <a:r>
              <a:rPr lang="zh-CN" altLang="en-US" sz="2200" b="1" dirty="0">
                <a:ea typeface="宋体" panose="02010600030101010101" pitchFamily="2" charset="-122"/>
              </a:rPr>
              <a:t>的结点被杀死</a:t>
            </a:r>
            <a:endParaRPr lang="en-US" altLang="zh-CN" sz="2200" b="1" dirty="0">
              <a:ea typeface="宋体" panose="02010600030101010101" pitchFamily="2" charset="-122"/>
            </a:endParaRPr>
          </a:p>
          <a:p>
            <a:pPr lvl="1"/>
            <a:r>
              <a:rPr lang="en-US" altLang="zh-CN" sz="2200" b="1" dirty="0">
                <a:ea typeface="宋体" panose="02010600030101010101" pitchFamily="2" charset="-122"/>
              </a:rPr>
              <a:t>z</a:t>
            </a:r>
            <a:r>
              <a:rPr lang="zh-CN" altLang="en-US" sz="2200" b="1" dirty="0">
                <a:ea typeface="宋体" panose="02010600030101010101" pitchFamily="2" charset="-122"/>
              </a:rPr>
              <a:t>结点创建时，没有可用的</a:t>
            </a:r>
            <a:r>
              <a:rPr lang="en-US" altLang="zh-CN" sz="2200" b="1" dirty="0">
                <a:ea typeface="宋体" panose="02010600030101010101" pitchFamily="2" charset="-122"/>
              </a:rPr>
              <a:t>CSE</a:t>
            </a:r>
            <a:r>
              <a:rPr lang="zh-CN" altLang="en-US" sz="2200" b="1" dirty="0">
                <a:ea typeface="宋体" panose="02010600030101010101" pitchFamily="2" charset="-122"/>
              </a:rPr>
              <a:t>，要重新创建结点</a:t>
            </a:r>
            <a:endParaRPr lang="en-US" altLang="zh-CN" sz="2200" b="1" dirty="0">
              <a:ea typeface="宋体" panose="02010600030101010101" pitchFamily="2" charset="-122"/>
            </a:endParaRPr>
          </a:p>
        </p:txBody>
      </p:sp>
      <p:pic>
        <p:nvPicPr>
          <p:cNvPr id="126980" name="Picture 2"/>
          <p:cNvPicPr>
            <a:picLocks noChangeAspect="1"/>
          </p:cNvPicPr>
          <p:nvPr/>
        </p:nvPicPr>
        <p:blipFill>
          <a:blip r:embed="rId1"/>
          <a:stretch>
            <a:fillRect/>
          </a:stretch>
        </p:blipFill>
        <p:spPr>
          <a:xfrm>
            <a:off x="4140200" y="1916113"/>
            <a:ext cx="4845050" cy="3878262"/>
          </a:xfrm>
          <a:prstGeom prst="rect">
            <a:avLst/>
          </a:prstGeom>
          <a:noFill/>
          <a:ln w="9525">
            <a:noFill/>
          </a:ln>
        </p:spPr>
      </p:pic>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数组引用的表示（</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107950" y="1371600"/>
            <a:ext cx="4608513"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8.14</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：更复杂的情况</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 = 12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 j ] = 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被定值为数组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中的一个位置</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此例中，如</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的元素长度为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字节，则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对应了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的第四个元素</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表示同一个值，则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en-US" altLang="zh-CN" sz="22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b[j]</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指向同一位置</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第三个指令杀死了带有附加变量</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的结点</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此时</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是这两个结点的孙结点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例</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8.13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是子结点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129028" name="Picture 2"/>
          <p:cNvPicPr>
            <a:picLocks noChangeAspect="1"/>
          </p:cNvPicPr>
          <p:nvPr/>
        </p:nvPicPr>
        <p:blipFill>
          <a:blip r:embed="rId1"/>
          <a:stretch>
            <a:fillRect/>
          </a:stretch>
        </p:blipFill>
        <p:spPr>
          <a:xfrm>
            <a:off x="4716463" y="1587500"/>
            <a:ext cx="4392612" cy="3929063"/>
          </a:xfrm>
          <a:prstGeom prst="rect">
            <a:avLst/>
          </a:prstGeom>
          <a:noFill/>
          <a:ln w="9525">
            <a:noFill/>
          </a:ln>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指针赋值和过程调用</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755650" y="1371600"/>
            <a:ext cx="78486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对于赋值语句</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 =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q</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通过指针进行间接赋值，指针</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q</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的指向不确定</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*必须把当前所有带有附加标识符的结点当作其参数，会影响死代码消除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会把迄今为止构造出来的</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DAG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中的其他结点全部杀死</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可进行指针分析，将指向关系确定在一个较小集合中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 = &amp;x</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y</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进行指针分析后，可知*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的赋值只影响</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，所以只需杀死以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为附加变量的结点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调用过程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类似，如果不分析，则认为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改变了它访问的所有变量，影响过大</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可考虑过程间分析，缩小影响范围</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DAG</a:t>
            </a:r>
            <a:r>
              <a:rPr lang="zh-CN" altLang="en-US" dirty="0">
                <a:latin typeface="Times New Roman" panose="02020603050405020304" pitchFamily="18" charset="0"/>
                <a:ea typeface="宋体" panose="02010600030101010101" pitchFamily="2" charset="-122"/>
              </a:rPr>
              <a:t>到基本块的重组（</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33123" name="Rectangle 3"/>
          <p:cNvSpPr>
            <a:spLocks noGrp="1"/>
          </p:cNvSpPr>
          <p:nvPr>
            <p:ph idx="1"/>
          </p:nvPr>
        </p:nvSpPr>
        <p:spPr>
          <a:xfrm>
            <a:off x="990600" y="1557338"/>
            <a:ext cx="7391400" cy="4691062"/>
          </a:xfrm>
        </p:spPr>
        <p:txBody>
          <a:bodyPr vert="horz" wrap="square" lIns="92075" tIns="46038" rIns="92075" bIns="46038" anchor="t" anchorCtr="0"/>
          <a:p>
            <a:r>
              <a:rPr lang="en-US" altLang="zh-CN" sz="2400" b="1" dirty="0">
                <a:ea typeface="宋体" panose="02010600030101010101" pitchFamily="2" charset="-122"/>
              </a:rPr>
              <a:t>DAG</a:t>
            </a:r>
            <a:r>
              <a:rPr lang="zh-CN" altLang="en-US" sz="2400" b="1" dirty="0">
                <a:ea typeface="宋体" panose="02010600030101010101" pitchFamily="2" charset="-122"/>
              </a:rPr>
              <a:t>优化的时机</a:t>
            </a:r>
            <a:endParaRPr lang="en-US" altLang="zh-CN" sz="2400" b="1" dirty="0">
              <a:ea typeface="宋体" panose="02010600030101010101" pitchFamily="2" charset="-122"/>
            </a:endParaRPr>
          </a:p>
          <a:p>
            <a:pPr lvl="1"/>
            <a:r>
              <a:rPr lang="zh-CN" altLang="en-US" sz="2200" b="1" dirty="0">
                <a:ea typeface="宋体" panose="02010600030101010101" pitchFamily="2" charset="-122"/>
              </a:rPr>
              <a:t>在</a:t>
            </a:r>
            <a:r>
              <a:rPr lang="en-US" altLang="zh-CN" sz="2200" b="1" dirty="0">
                <a:ea typeface="宋体" panose="02010600030101010101" pitchFamily="2" charset="-122"/>
              </a:rPr>
              <a:t>DAG</a:t>
            </a:r>
            <a:r>
              <a:rPr lang="zh-CN" altLang="en-US" sz="2200" b="1" dirty="0">
                <a:ea typeface="宋体" panose="02010600030101010101" pitchFamily="2" charset="-122"/>
              </a:rPr>
              <a:t>生成的同时进行，或</a:t>
            </a:r>
            <a:endParaRPr lang="en-US" altLang="zh-CN" sz="2200" b="1" dirty="0">
              <a:ea typeface="宋体" panose="02010600030101010101" pitchFamily="2" charset="-122"/>
            </a:endParaRPr>
          </a:p>
          <a:p>
            <a:pPr lvl="1"/>
            <a:r>
              <a:rPr lang="zh-CN" altLang="en-US" sz="2200" b="1" dirty="0">
                <a:ea typeface="宋体" panose="02010600030101010101" pitchFamily="2" charset="-122"/>
              </a:rPr>
              <a:t>在</a:t>
            </a:r>
            <a:r>
              <a:rPr lang="en-US" altLang="zh-CN" sz="2200" b="1" dirty="0">
                <a:ea typeface="宋体" panose="02010600030101010101" pitchFamily="2" charset="-122"/>
              </a:rPr>
              <a:t>DAG</a:t>
            </a:r>
            <a:r>
              <a:rPr lang="zh-CN" altLang="en-US" sz="2200" b="1" dirty="0">
                <a:ea typeface="宋体" panose="02010600030101010101" pitchFamily="2" charset="-122"/>
              </a:rPr>
              <a:t>构造完成后实施</a:t>
            </a:r>
            <a:endParaRPr lang="en-US" altLang="zh-CN" sz="2200" b="1" dirty="0">
              <a:ea typeface="宋体" panose="02010600030101010101" pitchFamily="2" charset="-122"/>
            </a:endParaRPr>
          </a:p>
          <a:p>
            <a:pPr lvl="2"/>
            <a:r>
              <a:rPr lang="zh-CN" altLang="en-US" sz="2000" b="1" dirty="0">
                <a:ea typeface="宋体" panose="02010600030101010101" pitchFamily="2" charset="-122"/>
              </a:rPr>
              <a:t>根据优化后的</a:t>
            </a:r>
            <a:r>
              <a:rPr lang="en-US" altLang="zh-CN" sz="2000" b="1" dirty="0">
                <a:ea typeface="宋体" panose="02010600030101010101" pitchFamily="2" charset="-122"/>
              </a:rPr>
              <a:t>DAG</a:t>
            </a:r>
            <a:r>
              <a:rPr lang="zh-CN" altLang="en-US" sz="2000" b="1" dirty="0">
                <a:ea typeface="宋体" panose="02010600030101010101" pitchFamily="2" charset="-122"/>
              </a:rPr>
              <a:t>重组基本块</a:t>
            </a:r>
            <a:endParaRPr lang="en-US" altLang="zh-CN" sz="2000" b="1" dirty="0">
              <a:ea typeface="宋体" panose="02010600030101010101" pitchFamily="2" charset="-122"/>
            </a:endParaRPr>
          </a:p>
          <a:p>
            <a:r>
              <a:rPr lang="zh-CN" altLang="en-US" sz="2400" b="1" dirty="0">
                <a:ea typeface="宋体" panose="02010600030101010101" pitchFamily="2" charset="-122"/>
              </a:rPr>
              <a:t>重组过程中对</a:t>
            </a:r>
            <a:r>
              <a:rPr lang="en-US" altLang="zh-CN" sz="2400" b="1" dirty="0">
                <a:ea typeface="宋体" panose="02010600030101010101" pitchFamily="2" charset="-122"/>
              </a:rPr>
              <a:t>DAG</a:t>
            </a:r>
            <a:r>
              <a:rPr lang="zh-CN" altLang="en-US" sz="2400" b="1" dirty="0">
                <a:ea typeface="宋体" panose="02010600030101010101" pitchFamily="2" charset="-122"/>
              </a:rPr>
              <a:t>中每个结点的处理方法</a:t>
            </a:r>
            <a:endParaRPr lang="en-US" altLang="zh-CN" sz="2400" b="1" dirty="0">
              <a:ea typeface="宋体" panose="02010600030101010101" pitchFamily="2" charset="-122"/>
            </a:endParaRPr>
          </a:p>
          <a:p>
            <a:pPr lvl="1"/>
            <a:r>
              <a:rPr lang="zh-CN" altLang="en-US" sz="2200" b="1" dirty="0">
                <a:ea typeface="宋体" panose="02010600030101010101" pitchFamily="2" charset="-122"/>
              </a:rPr>
              <a:t>对每个具有一个或多个附加变量的结点，构造一个三地址语句计算其中某个变量的值</a:t>
            </a:r>
            <a:endParaRPr lang="en-US" altLang="zh-CN" sz="2200" b="1" dirty="0">
              <a:ea typeface="宋体" panose="02010600030101010101" pitchFamily="2" charset="-122"/>
            </a:endParaRPr>
          </a:p>
          <a:p>
            <a:pPr lvl="2"/>
            <a:r>
              <a:rPr lang="zh-CN" altLang="en-US" sz="2000" b="1" dirty="0">
                <a:ea typeface="宋体" panose="02010600030101010101" pitchFamily="2" charset="-122"/>
              </a:rPr>
              <a:t>优先选择在基本块出口活跃的变量</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如果没有全局活跃变量的信息，则假设所有变量在基本块出口都活跃</a:t>
            </a:r>
            <a:endParaRPr lang="en-US" altLang="zh-CN" sz="2000" b="1" dirty="0">
              <a:ea typeface="宋体" panose="02010600030101010101" pitchFamily="2" charset="-122"/>
            </a:endParaRPr>
          </a:p>
          <a:p>
            <a:pPr lvl="3"/>
            <a:r>
              <a:rPr lang="zh-CN" altLang="en-US" sz="1800" b="1" dirty="0">
                <a:ea typeface="宋体" panose="02010600030101010101" pitchFamily="2" charset="-122"/>
              </a:rPr>
              <a:t>编译器为了处理表达式而生成的临时量不在此列</a:t>
            </a:r>
            <a:endParaRPr lang="en-US" altLang="zh-CN" sz="1800" b="1" dirty="0">
              <a:ea typeface="宋体" panose="02010600030101010101" pitchFamily="2" charset="-122"/>
            </a:endParaRPr>
          </a:p>
          <a:p>
            <a:pPr lvl="1"/>
            <a:r>
              <a:rPr lang="zh-CN" altLang="en-US" sz="2200" b="1" dirty="0">
                <a:ea typeface="宋体" panose="02010600030101010101" pitchFamily="2" charset="-122"/>
              </a:rPr>
              <a:t>如果一个结点有多个附加的活跃变量，则需要利用复制语句</a:t>
            </a:r>
            <a:endParaRPr lang="en-US" altLang="zh-CN" sz="2200" b="1" dirty="0">
              <a:ea typeface="宋体" panose="02010600030101010101" pitchFamily="2" charset="-122"/>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5170" name="Picture 2"/>
          <p:cNvPicPr>
            <a:picLocks noChangeAspect="1"/>
          </p:cNvPicPr>
          <p:nvPr/>
        </p:nvPicPr>
        <p:blipFill>
          <a:blip r:embed="rId1"/>
          <a:stretch>
            <a:fillRect/>
          </a:stretch>
        </p:blipFill>
        <p:spPr>
          <a:xfrm>
            <a:off x="5057775" y="1341438"/>
            <a:ext cx="4051300" cy="2159000"/>
          </a:xfrm>
          <a:prstGeom prst="rect">
            <a:avLst/>
          </a:prstGeom>
          <a:noFill/>
          <a:ln w="9525">
            <a:noFill/>
          </a:ln>
        </p:spPr>
      </p:pic>
      <p:sp>
        <p:nvSpPr>
          <p:cNvPr id="135171"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DAG</a:t>
            </a:r>
            <a:r>
              <a:rPr lang="zh-CN" altLang="en-US" dirty="0">
                <a:latin typeface="Times New Roman" panose="02020603050405020304" pitchFamily="18" charset="0"/>
                <a:ea typeface="宋体" panose="02010600030101010101" pitchFamily="2" charset="-122"/>
              </a:rPr>
              <a:t>到基本块的重组（</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95235" name="Rectangle 3"/>
          <p:cNvSpPr>
            <a:spLocks noGrp="1" noChangeArrowheads="1"/>
          </p:cNvSpPr>
          <p:nvPr>
            <p:ph idx="1"/>
          </p:nvPr>
        </p:nvSpPr>
        <p:spPr>
          <a:xfrm>
            <a:off x="990600" y="1371600"/>
            <a:ext cx="7391400" cy="48768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8.15</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，考虑图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8-12</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DAG</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在出口不活跃，而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活跃，则生成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 = b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 = a – 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 = d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消除了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的赋值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若</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在出口处均活跃，则生成</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 = b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 = a – 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d</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ts val="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 = d + c</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该代码仍然比原代码高效</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在多数机器上，复制操作比减法操作高效</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可在后续代码中，尝试将对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的引用换成对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的引用，进而消除该复制操作</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DAG</a:t>
            </a:r>
            <a:r>
              <a:rPr lang="zh-CN" altLang="en-US" dirty="0">
                <a:latin typeface="Times New Roman" panose="02020603050405020304" pitchFamily="18" charset="0"/>
                <a:ea typeface="宋体" panose="02010600030101010101" pitchFamily="2" charset="-122"/>
              </a:rPr>
              <a:t>到基本块的重组（</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37219" name="Rectangle 3"/>
          <p:cNvSpPr>
            <a:spLocks noGrp="1"/>
          </p:cNvSpPr>
          <p:nvPr>
            <p:ph idx="1"/>
          </p:nvPr>
        </p:nvSpPr>
        <p:spPr>
          <a:xfrm>
            <a:off x="990600" y="1557338"/>
            <a:ext cx="7391400" cy="4691062"/>
          </a:xfrm>
        </p:spPr>
        <p:txBody>
          <a:bodyPr vert="horz" wrap="square" lIns="92075" tIns="46038" rIns="92075" bIns="46038" anchor="t" anchorCtr="0"/>
          <a:p>
            <a:r>
              <a:rPr lang="zh-CN" altLang="en-US" sz="2400" b="1" dirty="0">
                <a:ea typeface="宋体" panose="02010600030101010101" pitchFamily="2" charset="-122"/>
              </a:rPr>
              <a:t>重组过程中对指令顺序的考虑：要满足依赖关系</a:t>
            </a:r>
            <a:endParaRPr lang="en-US" altLang="zh-CN" sz="2400" b="1" dirty="0">
              <a:ea typeface="宋体" panose="02010600030101010101" pitchFamily="2" charset="-122"/>
            </a:endParaRPr>
          </a:p>
          <a:p>
            <a:pPr lvl="1"/>
            <a:r>
              <a:rPr lang="zh-CN" altLang="en-US" sz="2200" b="1" dirty="0">
                <a:ea typeface="宋体" panose="02010600030101010101" pitchFamily="2" charset="-122"/>
              </a:rPr>
              <a:t>指令的顺序必须满足</a:t>
            </a:r>
            <a:r>
              <a:rPr lang="en-US" altLang="zh-CN" sz="2200" b="1" dirty="0">
                <a:ea typeface="宋体" panose="02010600030101010101" pitchFamily="2" charset="-122"/>
              </a:rPr>
              <a:t>DAG</a:t>
            </a:r>
            <a:r>
              <a:rPr lang="zh-CN" altLang="en-US" sz="2200" b="1" dirty="0">
                <a:ea typeface="宋体" panose="02010600030101010101" pitchFamily="2" charset="-122"/>
              </a:rPr>
              <a:t>中结点的顺序</a:t>
            </a:r>
            <a:endParaRPr lang="en-US" altLang="zh-CN" sz="2200" b="1" dirty="0">
              <a:ea typeface="宋体" panose="02010600030101010101" pitchFamily="2" charset="-122"/>
            </a:endParaRPr>
          </a:p>
          <a:p>
            <a:pPr lvl="2"/>
            <a:r>
              <a:rPr lang="zh-CN" altLang="en-US" sz="2000" b="1" dirty="0">
                <a:ea typeface="宋体" panose="02010600030101010101" pitchFamily="2" charset="-122"/>
              </a:rPr>
              <a:t>父结点计算在子结点计算之后</a:t>
            </a:r>
            <a:endParaRPr lang="en-US" altLang="zh-CN" sz="2000" b="1" dirty="0">
              <a:ea typeface="宋体" panose="02010600030101010101" pitchFamily="2" charset="-122"/>
            </a:endParaRPr>
          </a:p>
          <a:p>
            <a:pPr lvl="1"/>
            <a:r>
              <a:rPr lang="zh-CN" altLang="en-US" sz="2200" b="1" dirty="0">
                <a:ea typeface="宋体" panose="02010600030101010101" pitchFamily="2" charset="-122"/>
              </a:rPr>
              <a:t>对数组的赋值必须跟在所有（按照原基本块中的指令顺序）在它之前的对同一数组的赋值或求值之后</a:t>
            </a:r>
            <a:endParaRPr lang="en-US" altLang="zh-CN" sz="2200" b="1" dirty="0">
              <a:ea typeface="宋体" panose="02010600030101010101" pitchFamily="2" charset="-122"/>
            </a:endParaRPr>
          </a:p>
          <a:p>
            <a:pPr lvl="1"/>
            <a:r>
              <a:rPr lang="zh-CN" altLang="en-US" sz="2200" b="1" dirty="0">
                <a:ea typeface="宋体" panose="02010600030101010101" pitchFamily="2" charset="-122"/>
              </a:rPr>
              <a:t>对数组元素的求值必须跟在所有（在原基本块中）在它之前的对同一数组的赋值指令之后</a:t>
            </a:r>
            <a:endParaRPr lang="en-US" altLang="zh-CN" sz="2200" b="1" dirty="0">
              <a:ea typeface="宋体" panose="02010600030101010101" pitchFamily="2" charset="-122"/>
            </a:endParaRPr>
          </a:p>
          <a:p>
            <a:pPr lvl="2"/>
            <a:r>
              <a:rPr lang="zh-CN" altLang="en-US" sz="2000" b="1" dirty="0">
                <a:ea typeface="宋体" panose="02010600030101010101" pitchFamily="2" charset="-122"/>
              </a:rPr>
              <a:t>同一个数组的两个求值计算可以交换顺序，但不能越过对该数组的赋值操作</a:t>
            </a:r>
            <a:endParaRPr lang="en-US" altLang="zh-CN" sz="2000" b="1" dirty="0">
              <a:ea typeface="宋体" panose="02010600030101010101" pitchFamily="2" charset="-122"/>
            </a:endParaRPr>
          </a:p>
          <a:p>
            <a:pPr lvl="1"/>
            <a:r>
              <a:rPr lang="zh-CN" altLang="en-US" sz="2200" b="1" dirty="0">
                <a:ea typeface="宋体" panose="02010600030101010101" pitchFamily="2" charset="-122"/>
              </a:rPr>
              <a:t>一个变量的使用必须跟在所有（在原基本块中）在它之前的过程调用和指针间接赋值运算之后</a:t>
            </a:r>
            <a:endParaRPr lang="en-US" altLang="zh-CN" sz="2200" b="1" dirty="0">
              <a:ea typeface="宋体" panose="02010600030101010101" pitchFamily="2" charset="-122"/>
            </a:endParaRPr>
          </a:p>
          <a:p>
            <a:pPr lvl="1"/>
            <a:r>
              <a:rPr lang="zh-CN" altLang="en-US" sz="2200" b="1" dirty="0">
                <a:ea typeface="宋体" panose="02010600030101010101" pitchFamily="2" charset="-122"/>
              </a:rPr>
              <a:t>任何过程调用或者指针间接赋值都必须跟在所有（在原基本块中）在它之前的对任何变量的求值运算之后</a:t>
            </a:r>
            <a:endParaRPr lang="en-US" altLang="zh-CN" sz="2200" b="1" dirty="0">
              <a:ea typeface="宋体" panose="02010600030101010101" pitchFamily="2"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139267"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3000" b="1" dirty="0">
                <a:solidFill>
                  <a:srgbClr val="FF0000"/>
                </a:solidFill>
                <a:ea typeface="宋体" panose="02010600030101010101" pitchFamily="2" charset="-122"/>
              </a:rPr>
              <a:t>控制流图及流分析</a:t>
            </a:r>
            <a:endParaRPr lang="en-US" altLang="zh-CN" sz="30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跨越基本块的优化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控制流图（</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41315" name="Rectangle 3"/>
          <p:cNvSpPr>
            <a:spLocks noGrp="1"/>
          </p:cNvSpPr>
          <p:nvPr>
            <p:ph idx="1"/>
          </p:nvPr>
        </p:nvSpPr>
        <p:spPr>
          <a:xfrm>
            <a:off x="990600" y="1371600"/>
            <a:ext cx="7391400" cy="4876800"/>
          </a:xfrm>
        </p:spPr>
        <p:txBody>
          <a:bodyPr vert="horz" wrap="square" lIns="92075" tIns="46038" rIns="92075" bIns="46038" anchor="t" anchorCtr="0"/>
          <a:p>
            <a:r>
              <a:rPr lang="zh-CN" altLang="en-US" sz="2400" b="1" dirty="0">
                <a:ea typeface="宋体" panose="02010600030101010101" pitchFamily="2" charset="-122"/>
              </a:rPr>
              <a:t>定义：控制流图或流图</a:t>
            </a:r>
            <a:endParaRPr lang="zh-CN" altLang="en-US" sz="2400" b="1" dirty="0">
              <a:ea typeface="宋体" panose="02010600030101010101" pitchFamily="2" charset="-122"/>
            </a:endParaRPr>
          </a:p>
          <a:p>
            <a:pPr lvl="1"/>
            <a:r>
              <a:rPr lang="zh-CN" altLang="en-US" sz="2200" b="1" dirty="0">
                <a:ea typeface="宋体" panose="02010600030101010101" pitchFamily="2" charset="-122"/>
              </a:rPr>
              <a:t>结点是基本块的有向图</a:t>
            </a:r>
            <a:r>
              <a:rPr lang="en-US" altLang="zh-CN" sz="2200" b="1" i="1" dirty="0">
                <a:ea typeface="宋体" panose="02010600030101010101" pitchFamily="2" charset="-122"/>
              </a:rPr>
              <a:t>G </a:t>
            </a:r>
            <a:r>
              <a:rPr lang="en-US" altLang="zh-CN" sz="2200" b="1" dirty="0">
                <a:ea typeface="宋体" panose="02010600030101010101" pitchFamily="2" charset="-122"/>
              </a:rPr>
              <a:t>= ( </a:t>
            </a:r>
            <a:r>
              <a:rPr lang="en-US" altLang="zh-CN" sz="2200" b="1" i="1" dirty="0">
                <a:ea typeface="宋体" panose="02010600030101010101" pitchFamily="2" charset="-122"/>
              </a:rPr>
              <a:t>N</a:t>
            </a:r>
            <a:r>
              <a:rPr lang="en-US" altLang="zh-CN" sz="2200" b="1" dirty="0">
                <a:ea typeface="宋体" panose="02010600030101010101" pitchFamily="2" charset="-122"/>
              </a:rPr>
              <a:t>, </a:t>
            </a:r>
            <a:r>
              <a:rPr lang="en-US" altLang="zh-CN" sz="2200" b="1" i="1" dirty="0">
                <a:ea typeface="宋体" panose="02010600030101010101" pitchFamily="2" charset="-122"/>
              </a:rPr>
              <a:t>E</a:t>
            </a:r>
            <a:r>
              <a:rPr lang="en-US" altLang="zh-CN" sz="2200" b="1" dirty="0">
                <a:ea typeface="宋体" panose="02010600030101010101" pitchFamily="2" charset="-122"/>
              </a:rPr>
              <a:t>, </a:t>
            </a:r>
            <a:r>
              <a:rPr lang="en-US" altLang="zh-CN" sz="2200" b="1" i="1" dirty="0">
                <a:ea typeface="宋体" panose="02010600030101010101" pitchFamily="2" charset="-122"/>
              </a:rPr>
              <a:t>root</a:t>
            </a:r>
            <a:r>
              <a:rPr lang="en-US" altLang="zh-CN" sz="2200" b="1" dirty="0">
                <a:ea typeface="宋体" panose="02010600030101010101" pitchFamily="2" charset="-122"/>
              </a:rPr>
              <a:t>)</a:t>
            </a:r>
            <a:endParaRPr lang="zh-CN" altLang="en-US" sz="2200" b="1" dirty="0">
              <a:ea typeface="宋体" panose="02010600030101010101" pitchFamily="2" charset="-122"/>
            </a:endParaRPr>
          </a:p>
          <a:p>
            <a:pPr lvl="2"/>
            <a:r>
              <a:rPr lang="en-US" altLang="zh-CN" sz="2000" b="1" i="1" dirty="0">
                <a:ea typeface="宋体" panose="02010600030101010101" pitchFamily="2" charset="-122"/>
              </a:rPr>
              <a:t>N</a:t>
            </a:r>
            <a:r>
              <a:rPr lang="zh-CN" altLang="en-US" sz="2000" b="1" dirty="0">
                <a:ea typeface="宋体" panose="02010600030101010101" pitchFamily="2" charset="-122"/>
              </a:rPr>
              <a:t>是结点的集合，每个结点表示一个基本块</a:t>
            </a:r>
            <a:endParaRPr lang="zh-CN" altLang="en-US" sz="2000" b="1" dirty="0">
              <a:ea typeface="宋体" panose="02010600030101010101" pitchFamily="2" charset="-122"/>
            </a:endParaRPr>
          </a:p>
          <a:p>
            <a:pPr lvl="2"/>
            <a:r>
              <a:rPr lang="en-US" altLang="zh-CN" sz="2000" b="1" i="1" dirty="0">
                <a:ea typeface="宋体" panose="02010600030101010101" pitchFamily="2" charset="-122"/>
              </a:rPr>
              <a:t>E</a:t>
            </a:r>
            <a:r>
              <a:rPr lang="zh-CN" altLang="en-US" sz="2000" b="1" dirty="0">
                <a:ea typeface="宋体" panose="02010600030101010101" pitchFamily="2" charset="-122"/>
              </a:rPr>
              <a:t>是边的集合，如果结点</a:t>
            </a:r>
            <a:r>
              <a:rPr lang="en-US" altLang="zh-CN" sz="2000" b="1" dirty="0">
                <a:ea typeface="宋体" panose="02010600030101010101" pitchFamily="2" charset="-122"/>
              </a:rPr>
              <a:t>n</a:t>
            </a:r>
            <a:r>
              <a:rPr lang="en-US" altLang="zh-CN" sz="2000" b="1" baseline="-25000" dirty="0">
                <a:ea typeface="宋体" panose="02010600030101010101" pitchFamily="2" charset="-122"/>
              </a:rPr>
              <a:t>i</a:t>
            </a:r>
            <a:r>
              <a:rPr lang="zh-CN" altLang="en-US" sz="2000" b="1" dirty="0">
                <a:ea typeface="宋体" panose="02010600030101010101" pitchFamily="2" charset="-122"/>
              </a:rPr>
              <a:t>和</a:t>
            </a:r>
            <a:r>
              <a:rPr lang="en-US" altLang="zh-CN" sz="2000" b="1" dirty="0">
                <a:ea typeface="宋体" panose="02010600030101010101" pitchFamily="2" charset="-122"/>
              </a:rPr>
              <a:t>n</a:t>
            </a:r>
            <a:r>
              <a:rPr lang="en-US" altLang="zh-CN" sz="2000" b="1" baseline="-25000" dirty="0">
                <a:ea typeface="宋体" panose="02010600030101010101" pitchFamily="2" charset="-122"/>
              </a:rPr>
              <a:t>j</a:t>
            </a:r>
            <a:r>
              <a:rPr lang="zh-CN" altLang="en-US" sz="2000" b="1" dirty="0">
                <a:ea typeface="宋体" panose="02010600030101010101" pitchFamily="2" charset="-122"/>
              </a:rPr>
              <a:t>间存在前驱和后继的关系，则在存在一条从</a:t>
            </a:r>
            <a:r>
              <a:rPr lang="en-US" altLang="zh-CN" sz="2000" b="1" dirty="0">
                <a:ea typeface="宋体" panose="02010600030101010101" pitchFamily="2" charset="-122"/>
              </a:rPr>
              <a:t>n</a:t>
            </a:r>
            <a:r>
              <a:rPr lang="en-US" altLang="zh-CN" sz="2000" b="1" baseline="-25000" dirty="0">
                <a:ea typeface="宋体" panose="02010600030101010101" pitchFamily="2" charset="-122"/>
              </a:rPr>
              <a:t>i</a:t>
            </a:r>
            <a:r>
              <a:rPr lang="zh-CN" altLang="en-US" sz="2000" b="1" dirty="0">
                <a:ea typeface="宋体" panose="02010600030101010101" pitchFamily="2" charset="-122"/>
              </a:rPr>
              <a:t>到</a:t>
            </a:r>
            <a:r>
              <a:rPr lang="en-US" altLang="zh-CN" sz="2000" b="1" dirty="0">
                <a:ea typeface="宋体" panose="02010600030101010101" pitchFamily="2" charset="-122"/>
              </a:rPr>
              <a:t>n</a:t>
            </a:r>
            <a:r>
              <a:rPr lang="en-US" altLang="zh-CN" sz="2000" b="1" baseline="-25000" dirty="0">
                <a:ea typeface="宋体" panose="02010600030101010101" pitchFamily="2" charset="-122"/>
              </a:rPr>
              <a:t>j</a:t>
            </a:r>
            <a:r>
              <a:rPr lang="zh-CN" altLang="en-US" sz="2000" b="1" dirty="0">
                <a:ea typeface="宋体" panose="02010600030101010101" pitchFamily="2" charset="-122"/>
              </a:rPr>
              <a:t>的有向边（此时意味着，在</a:t>
            </a:r>
            <a:r>
              <a:rPr lang="en-US" altLang="zh-CN" sz="2000" b="1" dirty="0">
                <a:ea typeface="宋体" panose="02010600030101010101" pitchFamily="2" charset="-122"/>
              </a:rPr>
              <a:t>n</a:t>
            </a:r>
            <a:r>
              <a:rPr lang="en-US" altLang="zh-CN" sz="2000" b="1" baseline="-25000" dirty="0">
                <a:ea typeface="宋体" panose="02010600030101010101" pitchFamily="2" charset="-122"/>
              </a:rPr>
              <a:t>i</a:t>
            </a:r>
            <a:r>
              <a:rPr lang="zh-CN" altLang="en-US" sz="2000" b="1" dirty="0">
                <a:ea typeface="宋体" panose="02010600030101010101" pitchFamily="2" charset="-122"/>
              </a:rPr>
              <a:t>执行后，可能会执行</a:t>
            </a:r>
            <a:r>
              <a:rPr lang="en-US" altLang="zh-CN" sz="2000" b="1" dirty="0">
                <a:ea typeface="宋体" panose="02010600030101010101" pitchFamily="2" charset="-122"/>
              </a:rPr>
              <a:t>n</a:t>
            </a:r>
            <a:r>
              <a:rPr lang="en-US" altLang="zh-CN" sz="2000" b="1" baseline="-25000" dirty="0">
                <a:ea typeface="宋体" panose="02010600030101010101" pitchFamily="2" charset="-122"/>
              </a:rPr>
              <a:t>j</a:t>
            </a:r>
            <a:r>
              <a:rPr lang="zh-CN" altLang="en-US" sz="2000" b="1" dirty="0">
                <a:ea typeface="宋体" panose="02010600030101010101" pitchFamily="2" charset="-122"/>
              </a:rPr>
              <a:t>）</a:t>
            </a:r>
            <a:endParaRPr lang="zh-CN" altLang="en-US" sz="2000" b="1" dirty="0">
              <a:ea typeface="宋体" panose="02010600030101010101" pitchFamily="2" charset="-122"/>
            </a:endParaRPr>
          </a:p>
          <a:p>
            <a:pPr lvl="3"/>
            <a:r>
              <a:rPr lang="en-US" altLang="zh-CN" b="1" dirty="0">
                <a:ea typeface="宋体" panose="02010600030101010101" pitchFamily="2" charset="-122"/>
              </a:rPr>
              <a:t>n</a:t>
            </a:r>
            <a:r>
              <a:rPr lang="en-US" altLang="zh-CN" b="1" baseline="-25000" dirty="0">
                <a:ea typeface="宋体" panose="02010600030101010101" pitchFamily="2" charset="-122"/>
              </a:rPr>
              <a:t>i</a:t>
            </a:r>
            <a:r>
              <a:rPr lang="zh-CN" altLang="en-US" b="1" dirty="0">
                <a:ea typeface="宋体" panose="02010600030101010101" pitchFamily="2" charset="-122"/>
              </a:rPr>
              <a:t>的出口语句是</a:t>
            </a:r>
            <a:r>
              <a:rPr lang="en-US" altLang="zh-CN" b="1" dirty="0">
                <a:ea typeface="宋体" panose="02010600030101010101" pitchFamily="2" charset="-122"/>
              </a:rPr>
              <a:t>goto(s)</a:t>
            </a:r>
            <a:r>
              <a:rPr lang="zh-CN" altLang="en-US" b="1" dirty="0">
                <a:ea typeface="宋体" panose="02010600030101010101" pitchFamily="2" charset="-122"/>
              </a:rPr>
              <a:t>或</a:t>
            </a:r>
            <a:r>
              <a:rPr lang="en-US" altLang="zh-CN" b="1" dirty="0">
                <a:ea typeface="宋体" panose="02010600030101010101" pitchFamily="2" charset="-122"/>
              </a:rPr>
              <a:t>if … goto(s)，</a:t>
            </a:r>
            <a:r>
              <a:rPr lang="zh-CN" altLang="en-US" b="1" dirty="0">
                <a:ea typeface="宋体" panose="02010600030101010101" pitchFamily="2" charset="-122"/>
              </a:rPr>
              <a:t>且(</a:t>
            </a:r>
            <a:r>
              <a:rPr lang="en-US" altLang="zh-CN" b="1" dirty="0">
                <a:ea typeface="宋体" panose="02010600030101010101" pitchFamily="2" charset="-122"/>
              </a:rPr>
              <a:t>s)</a:t>
            </a:r>
            <a:r>
              <a:rPr lang="zh-CN" altLang="en-US" b="1" dirty="0">
                <a:ea typeface="宋体" panose="02010600030101010101" pitchFamily="2" charset="-122"/>
              </a:rPr>
              <a:t>是的</a:t>
            </a:r>
            <a:r>
              <a:rPr lang="en-US" altLang="zh-CN" b="1" dirty="0">
                <a:ea typeface="宋体" panose="02010600030101010101" pitchFamily="2" charset="-122"/>
              </a:rPr>
              <a:t>n</a:t>
            </a:r>
            <a:r>
              <a:rPr lang="en-US" altLang="zh-CN" b="1" baseline="-25000" dirty="0">
                <a:ea typeface="宋体" panose="02010600030101010101" pitchFamily="2" charset="-122"/>
              </a:rPr>
              <a:t>j</a:t>
            </a:r>
            <a:r>
              <a:rPr lang="zh-CN" altLang="en-US" b="1" dirty="0">
                <a:ea typeface="宋体" panose="02010600030101010101" pitchFamily="2" charset="-122"/>
              </a:rPr>
              <a:t>入口语句</a:t>
            </a:r>
            <a:endParaRPr lang="zh-CN" altLang="en-US" b="1" dirty="0">
              <a:ea typeface="宋体" panose="02010600030101010101" pitchFamily="2" charset="-122"/>
            </a:endParaRPr>
          </a:p>
          <a:p>
            <a:pPr lvl="3"/>
            <a:r>
              <a:rPr lang="en-US" altLang="zh-CN" b="1" dirty="0">
                <a:ea typeface="宋体" panose="02010600030101010101" pitchFamily="2" charset="-122"/>
              </a:rPr>
              <a:t>n</a:t>
            </a:r>
            <a:r>
              <a:rPr lang="en-US" altLang="zh-CN" b="1" baseline="-25000" dirty="0">
                <a:ea typeface="宋体" panose="02010600030101010101" pitchFamily="2" charset="-122"/>
              </a:rPr>
              <a:t>j</a:t>
            </a:r>
            <a:r>
              <a:rPr lang="zh-CN" altLang="en-US" b="1" dirty="0">
                <a:ea typeface="宋体" panose="02010600030101010101" pitchFamily="2" charset="-122"/>
              </a:rPr>
              <a:t>在程序中的位置紧跟在</a:t>
            </a:r>
            <a:r>
              <a:rPr lang="en-US" altLang="zh-CN" b="1" dirty="0">
                <a:ea typeface="宋体" panose="02010600030101010101" pitchFamily="2" charset="-122"/>
              </a:rPr>
              <a:t>n</a:t>
            </a:r>
            <a:r>
              <a:rPr lang="en-US" altLang="zh-CN" b="1" baseline="-25000" dirty="0">
                <a:ea typeface="宋体" panose="02010600030101010101" pitchFamily="2" charset="-122"/>
              </a:rPr>
              <a:t>i</a:t>
            </a:r>
            <a:r>
              <a:rPr lang="zh-CN" altLang="en-US" b="1" dirty="0">
                <a:ea typeface="宋体" panose="02010600030101010101" pitchFamily="2" charset="-122"/>
              </a:rPr>
              <a:t>后，且</a:t>
            </a:r>
            <a:r>
              <a:rPr lang="en-US" altLang="zh-CN" b="1" dirty="0">
                <a:ea typeface="宋体" panose="02010600030101010101" pitchFamily="2" charset="-122"/>
              </a:rPr>
              <a:t>n</a:t>
            </a:r>
            <a:r>
              <a:rPr lang="en-US" altLang="zh-CN" b="1" baseline="-25000" dirty="0">
                <a:ea typeface="宋体" panose="02010600030101010101" pitchFamily="2" charset="-122"/>
              </a:rPr>
              <a:t>i</a:t>
            </a:r>
            <a:r>
              <a:rPr lang="zh-CN" altLang="en-US" b="1" dirty="0">
                <a:ea typeface="宋体" panose="02010600030101010101" pitchFamily="2" charset="-122"/>
              </a:rPr>
              <a:t>的出口语句不是无条件转移语句和停语句</a:t>
            </a:r>
            <a:endParaRPr lang="zh-CN" altLang="en-US" b="1" dirty="0">
              <a:ea typeface="宋体" panose="02010600030101010101" pitchFamily="2" charset="-122"/>
            </a:endParaRPr>
          </a:p>
          <a:p>
            <a:pPr lvl="2"/>
            <a:r>
              <a:rPr lang="en-US" altLang="zh-CN" sz="2000" b="1" i="1" dirty="0">
                <a:ea typeface="宋体" panose="02010600030101010101" pitchFamily="2" charset="-122"/>
              </a:rPr>
              <a:t>root</a:t>
            </a:r>
            <a:r>
              <a:rPr lang="zh-CN" altLang="en-US" sz="2000" b="1" dirty="0">
                <a:ea typeface="宋体" panose="02010600030101010101" pitchFamily="2" charset="-122"/>
              </a:rPr>
              <a:t>是流图的首结点（或称为根结点），是包含程序第一个语句的基本块</a:t>
            </a:r>
            <a:endParaRPr lang="zh-CN" altLang="en-US" sz="2000" b="1" dirty="0">
              <a:ea typeface="宋体" panose="02010600030101010101" pitchFamily="2" charset="-122"/>
            </a:endParaRPr>
          </a:p>
          <a:p>
            <a:pPr lvl="1"/>
            <a:r>
              <a:rPr lang="zh-CN" altLang="en-US" sz="2200" b="1" dirty="0">
                <a:ea typeface="宋体" panose="02010600030101010101" pitchFamily="2" charset="-122"/>
              </a:rPr>
              <a:t>每个流图都可以等价变换为单入口，且每个结点最多有两个后继的图</a:t>
            </a:r>
            <a:endParaRPr lang="zh-CN" altLang="en-US" sz="2200" b="1" dirty="0">
              <a:ea typeface="宋体" panose="02010600030101010101" pitchFamily="2"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控制流图（</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143363" name="Rectangle 3"/>
          <p:cNvSpPr>
            <a:spLocks noGrp="1"/>
          </p:cNvSpPr>
          <p:nvPr>
            <p:ph idx="1"/>
          </p:nvPr>
        </p:nvSpPr>
        <p:spPr>
          <a:xfrm>
            <a:off x="611188" y="1371600"/>
            <a:ext cx="4032250" cy="4876800"/>
          </a:xfrm>
        </p:spPr>
        <p:txBody>
          <a:bodyPr vert="horz" wrap="square" lIns="92075" tIns="46038" rIns="92075" bIns="46038" anchor="t" anchorCtr="0"/>
          <a:p>
            <a:r>
              <a:rPr lang="zh-CN" altLang="en-US" sz="2400" b="1" dirty="0">
                <a:ea typeface="宋体" panose="02010600030101010101" pitchFamily="2" charset="-122"/>
              </a:rPr>
              <a:t>通常会增加两个分别称为“入口”（</a:t>
            </a:r>
            <a:r>
              <a:rPr lang="en-US" altLang="zh-CN" sz="2400" b="1" dirty="0">
                <a:ea typeface="宋体" panose="02010600030101010101" pitchFamily="2" charset="-122"/>
              </a:rPr>
              <a:t>entry</a:t>
            </a:r>
            <a:r>
              <a:rPr lang="zh-CN" altLang="en-US" sz="2400" b="1" dirty="0">
                <a:ea typeface="宋体" panose="02010600030101010101" pitchFamily="2" charset="-122"/>
              </a:rPr>
              <a:t>）和“出口”（</a:t>
            </a:r>
            <a:r>
              <a:rPr lang="en-US" altLang="zh-CN" sz="2400" b="1" dirty="0">
                <a:ea typeface="宋体" panose="02010600030101010101" pitchFamily="2" charset="-122"/>
              </a:rPr>
              <a:t>exit</a:t>
            </a:r>
            <a:r>
              <a:rPr lang="zh-CN" altLang="en-US" sz="2400" b="1" dirty="0">
                <a:ea typeface="宋体" panose="02010600030101010101" pitchFamily="2" charset="-122"/>
              </a:rPr>
              <a:t>）的结点</a:t>
            </a:r>
            <a:endParaRPr lang="en-US" altLang="zh-CN" sz="2400" b="1" dirty="0">
              <a:ea typeface="宋体" panose="02010600030101010101" pitchFamily="2" charset="-122"/>
            </a:endParaRPr>
          </a:p>
          <a:p>
            <a:pPr lvl="1"/>
            <a:r>
              <a:rPr lang="zh-CN" altLang="en-US" sz="2200" b="1" dirty="0">
                <a:ea typeface="宋体" panose="02010600030101010101" pitchFamily="2" charset="-122"/>
              </a:rPr>
              <a:t>从入口结点到第一个可执行结点间有一条边</a:t>
            </a:r>
            <a:endParaRPr lang="en-US" altLang="zh-CN" sz="2200" b="1" dirty="0">
              <a:ea typeface="宋体" panose="02010600030101010101" pitchFamily="2" charset="-122"/>
            </a:endParaRPr>
          </a:p>
          <a:p>
            <a:pPr lvl="1"/>
            <a:r>
              <a:rPr lang="zh-CN" altLang="en-US" sz="2200" b="1" dirty="0">
                <a:ea typeface="宋体" panose="02010600030101010101" pitchFamily="2" charset="-122"/>
              </a:rPr>
              <a:t>从所有包含了可能是程序的最后执行指令基本块到出口结点间有一条边</a:t>
            </a:r>
            <a:endParaRPr lang="en-US" altLang="zh-CN" sz="2200" b="1" dirty="0">
              <a:ea typeface="宋体" panose="02010600030101010101" pitchFamily="2" charset="-122"/>
            </a:endParaRPr>
          </a:p>
          <a:p>
            <a:pPr lvl="2"/>
            <a:r>
              <a:rPr lang="zh-CN" altLang="en-US" sz="2000" b="1" dirty="0">
                <a:ea typeface="宋体" panose="02010600030101010101" pitchFamily="2" charset="-122"/>
              </a:rPr>
              <a:t>任何包含了跳转到程序之外的跳转指令的基本块都是出口结点的前驱</a:t>
            </a:r>
            <a:endParaRPr lang="en-US" altLang="zh-CN" sz="2000" b="1" dirty="0">
              <a:ea typeface="宋体" panose="02010600030101010101" pitchFamily="2" charset="-122"/>
            </a:endParaRPr>
          </a:p>
          <a:p>
            <a:endParaRPr lang="en-US" altLang="zh-CN" sz="2400" b="1" dirty="0">
              <a:ea typeface="宋体" panose="02010600030101010101" pitchFamily="2" charset="-122"/>
            </a:endParaRPr>
          </a:p>
          <a:p>
            <a:r>
              <a:rPr lang="zh-CN" altLang="en-US" sz="2400" b="1" dirty="0">
                <a:ea typeface="宋体" panose="02010600030101010101" pitchFamily="2" charset="-122"/>
              </a:rPr>
              <a:t>右图给出了例</a:t>
            </a:r>
            <a:r>
              <a:rPr lang="en-US" altLang="zh-CN" sz="2400" b="1" dirty="0">
                <a:ea typeface="宋体" panose="02010600030101010101" pitchFamily="2" charset="-122"/>
              </a:rPr>
              <a:t>8.6</a:t>
            </a:r>
            <a:r>
              <a:rPr lang="zh-CN" altLang="en-US" sz="2400" b="1" dirty="0">
                <a:ea typeface="宋体" panose="02010600030101010101" pitchFamily="2" charset="-122"/>
              </a:rPr>
              <a:t>的流图</a:t>
            </a:r>
            <a:endParaRPr lang="zh-CN" altLang="en-US" sz="2400" b="1" dirty="0">
              <a:ea typeface="宋体" panose="02010600030101010101" pitchFamily="2" charset="-122"/>
            </a:endParaRPr>
          </a:p>
        </p:txBody>
      </p:sp>
      <p:pic>
        <p:nvPicPr>
          <p:cNvPr id="143364" name="Picture 2"/>
          <p:cNvPicPr>
            <a:picLocks noChangeAspect="1"/>
          </p:cNvPicPr>
          <p:nvPr/>
        </p:nvPicPr>
        <p:blipFill>
          <a:blip r:embed="rId1"/>
          <a:stretch>
            <a:fillRect/>
          </a:stretch>
        </p:blipFill>
        <p:spPr>
          <a:xfrm>
            <a:off x="4875213" y="1484313"/>
            <a:ext cx="4160837" cy="5329237"/>
          </a:xfrm>
          <a:prstGeom prst="rect">
            <a:avLst/>
          </a:prstGeom>
          <a:noFill/>
          <a:ln w="9525">
            <a:noFill/>
          </a:ln>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控制流图的表示方式</a:t>
            </a:r>
            <a:endParaRPr lang="en-US" altLang="zh-CN" dirty="0">
              <a:latin typeface="Times New Roman" panose="02020603050405020304" pitchFamily="18" charset="0"/>
              <a:ea typeface="宋体" panose="02010600030101010101" pitchFamily="2" charset="-122"/>
            </a:endParaRPr>
          </a:p>
        </p:txBody>
      </p:sp>
      <p:sp>
        <p:nvSpPr>
          <p:cNvPr id="145411" name="Rectangle 3"/>
          <p:cNvSpPr>
            <a:spLocks noGrp="1"/>
          </p:cNvSpPr>
          <p:nvPr>
            <p:ph idx="1"/>
          </p:nvPr>
        </p:nvSpPr>
        <p:spPr>
          <a:xfrm>
            <a:off x="990600" y="1557338"/>
            <a:ext cx="7391400" cy="4691062"/>
          </a:xfrm>
        </p:spPr>
        <p:txBody>
          <a:bodyPr vert="horz" wrap="square" lIns="92075" tIns="46038" rIns="92075" bIns="46038" anchor="t" anchorCtr="0"/>
          <a:p>
            <a:r>
              <a:rPr lang="zh-CN" altLang="en-US" sz="2400" b="1" dirty="0">
                <a:ea typeface="宋体" panose="02010600030101010101" pitchFamily="2" charset="-122"/>
              </a:rPr>
              <a:t>可以用任意的表示图的数据结构表示流图</a:t>
            </a:r>
            <a:endParaRPr lang="en-US" altLang="zh-CN" sz="2400" b="1" dirty="0">
              <a:ea typeface="宋体" panose="02010600030101010101" pitchFamily="2" charset="-122"/>
            </a:endParaRPr>
          </a:p>
          <a:p>
            <a:r>
              <a:rPr lang="zh-CN" altLang="en-US" sz="2400" b="1" dirty="0">
                <a:ea typeface="宋体" panose="02010600030101010101" pitchFamily="2" charset="-122"/>
              </a:rPr>
              <a:t>结点（基本块）</a:t>
            </a:r>
            <a:endParaRPr lang="en-US" altLang="zh-CN" sz="2400" b="1" dirty="0">
              <a:ea typeface="宋体" panose="02010600030101010101" pitchFamily="2" charset="-122"/>
            </a:endParaRPr>
          </a:p>
          <a:p>
            <a:pPr lvl="1"/>
            <a:r>
              <a:rPr lang="zh-CN" altLang="en-US" sz="2200" b="1" dirty="0">
                <a:ea typeface="宋体" panose="02010600030101010101" pitchFamily="2" charset="-122"/>
              </a:rPr>
              <a:t>基本块是一个指令序列</a:t>
            </a:r>
            <a:endParaRPr lang="en-US" altLang="zh-CN" sz="2200" b="1" dirty="0">
              <a:ea typeface="宋体" panose="02010600030101010101" pitchFamily="2" charset="-122"/>
            </a:endParaRPr>
          </a:p>
          <a:p>
            <a:pPr lvl="1"/>
            <a:r>
              <a:rPr lang="zh-CN" altLang="en-US" sz="2200" b="1" dirty="0">
                <a:ea typeface="宋体" panose="02010600030101010101" pitchFamily="2" charset="-122"/>
              </a:rPr>
              <a:t>可能要频繁改变这个指令序列</a:t>
            </a:r>
            <a:endParaRPr lang="en-US" altLang="zh-CN" sz="2200" b="1" dirty="0">
              <a:ea typeface="宋体" panose="02010600030101010101" pitchFamily="2" charset="-122"/>
            </a:endParaRPr>
          </a:p>
          <a:p>
            <a:pPr lvl="2"/>
            <a:r>
              <a:rPr lang="zh-CN" altLang="en-US" sz="2000" b="1" dirty="0">
                <a:ea typeface="宋体" panose="02010600030101010101" pitchFamily="2" charset="-122"/>
              </a:rPr>
              <a:t>数量或组成的指令</a:t>
            </a:r>
            <a:endParaRPr lang="en-US" altLang="zh-CN" sz="2000" b="1" dirty="0">
              <a:ea typeface="宋体" panose="02010600030101010101" pitchFamily="2" charset="-122"/>
            </a:endParaRPr>
          </a:p>
          <a:p>
            <a:pPr lvl="2"/>
            <a:r>
              <a:rPr lang="zh-CN" altLang="en-US" sz="2000" b="1" dirty="0">
                <a:ea typeface="宋体" panose="02010600030101010101" pitchFamily="2" charset="-122"/>
              </a:rPr>
              <a:t>目的之一是优化</a:t>
            </a:r>
            <a:endParaRPr lang="en-US" altLang="zh-CN" sz="2000" b="1" dirty="0">
              <a:ea typeface="宋体" panose="02010600030101010101" pitchFamily="2" charset="-122"/>
            </a:endParaRPr>
          </a:p>
          <a:p>
            <a:pPr lvl="1"/>
            <a:r>
              <a:rPr lang="zh-CN" altLang="en-US" sz="2200" b="1" dirty="0">
                <a:ea typeface="宋体" panose="02010600030101010101" pitchFamily="2" charset="-122"/>
              </a:rPr>
              <a:t>采用指令链表的形式较为高效</a:t>
            </a:r>
            <a:endParaRPr lang="zh-CN" altLang="en-US" sz="2200" b="1" dirty="0">
              <a:ea typeface="宋体" panose="02010600030101010101" pitchFamily="2" charset="-122"/>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流图的遍历</a:t>
            </a:r>
            <a:endParaRPr lang="en-US" altLang="zh-CN" dirty="0">
              <a:latin typeface="Times New Roman" panose="02020603050405020304" pitchFamily="18" charset="0"/>
              <a:ea typeface="宋体" panose="02010600030101010101" pitchFamily="2" charset="-122"/>
            </a:endParaRPr>
          </a:p>
        </p:txBody>
      </p:sp>
      <p:sp>
        <p:nvSpPr>
          <p:cNvPr id="14745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为什么要遍历流图？</a:t>
            </a:r>
            <a:endParaRPr lang="zh-CN" altLang="en-US" sz="2400" b="1" dirty="0">
              <a:ea typeface="宋体" panose="02010600030101010101" pitchFamily="2" charset="-122"/>
            </a:endParaRPr>
          </a:p>
          <a:p>
            <a:pPr lvl="1"/>
            <a:r>
              <a:rPr lang="zh-CN" altLang="en-US" sz="2200" b="1" dirty="0">
                <a:ea typeface="宋体" panose="02010600030101010101" pitchFamily="2" charset="-122"/>
              </a:rPr>
              <a:t>某些编译算法要求按一定次序扫描流图中的每个结点</a:t>
            </a:r>
            <a:endParaRPr lang="zh-CN" altLang="en-US" sz="2200" b="1" dirty="0">
              <a:ea typeface="宋体" panose="02010600030101010101" pitchFamily="2" charset="-122"/>
            </a:endParaRPr>
          </a:p>
          <a:p>
            <a:pPr lvl="2"/>
            <a:r>
              <a:rPr lang="zh-CN" altLang="en-US" sz="2000" b="1" dirty="0">
                <a:ea typeface="宋体" panose="02010600030101010101" pitchFamily="2" charset="-122"/>
              </a:rPr>
              <a:t>在某些算法中，流图中结点的访问次序与算法效率紧密相关</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如求引用—定义链的迭代算法，按深度优先序则迭代次数最少</a:t>
            </a:r>
            <a:endParaRPr lang="zh-CN" altLang="en-US" sz="2000" b="1" dirty="0">
              <a:ea typeface="宋体" panose="02010600030101010101" pitchFamily="2" charset="-122"/>
            </a:endParaRPr>
          </a:p>
          <a:p>
            <a:r>
              <a:rPr lang="zh-CN" altLang="en-US" sz="2400" b="1" dirty="0">
                <a:ea typeface="宋体" panose="02010600030101010101" pitchFamily="2" charset="-122"/>
              </a:rPr>
              <a:t>深度优先遍历</a:t>
            </a:r>
            <a:endParaRPr lang="en-US" altLang="zh-CN" sz="2400" b="1" dirty="0">
              <a:ea typeface="宋体" panose="02010600030101010101" pitchFamily="2" charset="-122"/>
            </a:endParaRPr>
          </a:p>
          <a:p>
            <a:pPr lvl="1"/>
            <a:r>
              <a:rPr lang="zh-CN" altLang="en-US" sz="2200" b="1" dirty="0">
                <a:ea typeface="宋体" panose="02010600030101010101" pitchFamily="2" charset="-122"/>
              </a:rPr>
              <a:t>以深度优先的次序访问结点：访问后继结点优先于访问兄弟结点</a:t>
            </a:r>
            <a:endParaRPr lang="zh-CN" altLang="en-US" sz="2200" b="1" dirty="0">
              <a:ea typeface="宋体" panose="02010600030101010101" pitchFamily="2" charset="-122"/>
            </a:endParaRPr>
          </a:p>
          <a:p>
            <a:pPr lvl="2"/>
            <a:r>
              <a:rPr lang="zh-CN" altLang="en-US" sz="2000" b="1" dirty="0">
                <a:ea typeface="宋体" panose="02010600030101010101" pitchFamily="2" charset="-122"/>
              </a:rPr>
              <a:t>沿着从首结点开始的通路访问各个结点的过程中，始终沿着某通路尽量前进</a:t>
            </a:r>
            <a:endParaRPr lang="zh-CN" altLang="en-US" sz="2000" b="1" dirty="0">
              <a:ea typeface="宋体" panose="02010600030101010101" pitchFamily="2" charset="-122"/>
            </a:endParaRPr>
          </a:p>
          <a:p>
            <a:pPr lvl="2"/>
            <a:r>
              <a:rPr lang="zh-CN" altLang="en-US" sz="2000" b="1" dirty="0">
                <a:ea typeface="宋体" panose="02010600030101010101" pitchFamily="2" charset="-122"/>
              </a:rPr>
              <a:t>直到访问不到新的结点时，才退回到前驱结点，然后再访问另一条通路</a:t>
            </a:r>
            <a:endParaRPr lang="zh-CN" altLang="en-US" sz="2000" b="1" dirty="0">
              <a:ea typeface="宋体" panose="02010600030101010101" pitchFamily="2" charset="-122"/>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深度优先遍历的例子</a:t>
            </a:r>
            <a:endParaRPr lang="en-US" altLang="zh-CN" dirty="0">
              <a:latin typeface="Times New Roman" panose="02020603050405020304" pitchFamily="18" charset="0"/>
              <a:ea typeface="宋体" panose="02010600030101010101" pitchFamily="2" charset="-122"/>
            </a:endParaRPr>
          </a:p>
        </p:txBody>
      </p:sp>
      <p:grpSp>
        <p:nvGrpSpPr>
          <p:cNvPr id="149507" name="Group 5"/>
          <p:cNvGrpSpPr/>
          <p:nvPr/>
        </p:nvGrpSpPr>
        <p:grpSpPr>
          <a:xfrm>
            <a:off x="762000" y="1447800"/>
            <a:ext cx="2362200" cy="4953000"/>
            <a:chOff x="528" y="864"/>
            <a:chExt cx="1488" cy="3120"/>
          </a:xfrm>
        </p:grpSpPr>
        <p:sp>
          <p:nvSpPr>
            <p:cNvPr id="149546" name="Rectangle 6"/>
            <p:cNvSpPr/>
            <p:nvPr/>
          </p:nvSpPr>
          <p:spPr>
            <a:xfrm>
              <a:off x="528" y="864"/>
              <a:ext cx="1488"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49547" name="Oval 7"/>
            <p:cNvSpPr/>
            <p:nvPr/>
          </p:nvSpPr>
          <p:spPr>
            <a:xfrm>
              <a:off x="1056" y="96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49548" name="Oval 8"/>
            <p:cNvSpPr/>
            <p:nvPr/>
          </p:nvSpPr>
          <p:spPr>
            <a:xfrm>
              <a:off x="1056" y="129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49549" name="Oval 9"/>
            <p:cNvSpPr/>
            <p:nvPr/>
          </p:nvSpPr>
          <p:spPr>
            <a:xfrm>
              <a:off x="1056" y="163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49550" name="Oval 10"/>
            <p:cNvSpPr/>
            <p:nvPr/>
          </p:nvSpPr>
          <p:spPr>
            <a:xfrm>
              <a:off x="1056" y="196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49551" name="Oval 11"/>
            <p:cNvSpPr/>
            <p:nvPr/>
          </p:nvSpPr>
          <p:spPr>
            <a:xfrm>
              <a:off x="1056" y="230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5</a:t>
              </a:r>
              <a:endParaRPr lang="zh-CN" altLang="en-US" sz="1800" dirty="0">
                <a:latin typeface="Tahoma" panose="020B0604030504040204" pitchFamily="34" charset="0"/>
                <a:ea typeface="宋体" panose="02010600030101010101" pitchFamily="2" charset="-122"/>
              </a:endParaRPr>
            </a:p>
          </p:txBody>
        </p:sp>
        <p:sp>
          <p:nvSpPr>
            <p:cNvPr id="149552" name="Oval 12"/>
            <p:cNvSpPr/>
            <p:nvPr/>
          </p:nvSpPr>
          <p:spPr>
            <a:xfrm>
              <a:off x="864"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6</a:t>
              </a:r>
              <a:endParaRPr lang="zh-CN" altLang="en-US" sz="1800" dirty="0">
                <a:latin typeface="Tahoma" panose="020B0604030504040204" pitchFamily="34" charset="0"/>
                <a:ea typeface="宋体" panose="02010600030101010101" pitchFamily="2" charset="-122"/>
              </a:endParaRPr>
            </a:p>
          </p:txBody>
        </p:sp>
        <p:sp>
          <p:nvSpPr>
            <p:cNvPr id="149553" name="Oval 13"/>
            <p:cNvSpPr/>
            <p:nvPr/>
          </p:nvSpPr>
          <p:spPr>
            <a:xfrm>
              <a:off x="1248"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7</a:t>
              </a:r>
              <a:endParaRPr lang="zh-CN" altLang="en-US" sz="1800" dirty="0">
                <a:latin typeface="Tahoma" panose="020B0604030504040204" pitchFamily="34" charset="0"/>
                <a:ea typeface="宋体" panose="02010600030101010101" pitchFamily="2" charset="-122"/>
              </a:endParaRPr>
            </a:p>
          </p:txBody>
        </p:sp>
        <p:sp>
          <p:nvSpPr>
            <p:cNvPr id="149554" name="Oval 14"/>
            <p:cNvSpPr/>
            <p:nvPr/>
          </p:nvSpPr>
          <p:spPr>
            <a:xfrm>
              <a:off x="1056" y="297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8</a:t>
              </a:r>
              <a:endParaRPr lang="zh-CN" altLang="en-US" sz="1800" dirty="0">
                <a:latin typeface="Tahoma" panose="020B0604030504040204" pitchFamily="34" charset="0"/>
                <a:ea typeface="宋体" panose="02010600030101010101" pitchFamily="2" charset="-122"/>
              </a:endParaRPr>
            </a:p>
          </p:txBody>
        </p:sp>
        <p:sp>
          <p:nvSpPr>
            <p:cNvPr id="149555" name="Oval 15"/>
            <p:cNvSpPr/>
            <p:nvPr/>
          </p:nvSpPr>
          <p:spPr>
            <a:xfrm>
              <a:off x="105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9</a:t>
              </a:r>
              <a:endParaRPr lang="zh-CN" altLang="en-US" sz="1800" dirty="0">
                <a:latin typeface="Tahoma" panose="020B0604030504040204" pitchFamily="34" charset="0"/>
                <a:ea typeface="宋体" panose="02010600030101010101" pitchFamily="2" charset="-122"/>
              </a:endParaRPr>
            </a:p>
          </p:txBody>
        </p:sp>
        <p:sp>
          <p:nvSpPr>
            <p:cNvPr id="149556" name="Oval 16"/>
            <p:cNvSpPr/>
            <p:nvPr/>
          </p:nvSpPr>
          <p:spPr>
            <a:xfrm>
              <a:off x="1056" y="36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10</a:t>
              </a:r>
              <a:endParaRPr lang="zh-CN" altLang="en-US" sz="1800" dirty="0">
                <a:latin typeface="Tahoma" panose="020B0604030504040204" pitchFamily="34" charset="0"/>
                <a:ea typeface="宋体" panose="02010600030101010101" pitchFamily="2" charset="-122"/>
              </a:endParaRPr>
            </a:p>
          </p:txBody>
        </p:sp>
        <p:sp>
          <p:nvSpPr>
            <p:cNvPr id="149557" name="Line 17"/>
            <p:cNvSpPr/>
            <p:nvPr/>
          </p:nvSpPr>
          <p:spPr>
            <a:xfrm>
              <a:off x="1152" y="1152"/>
              <a:ext cx="0" cy="144"/>
            </a:xfrm>
            <a:prstGeom prst="line">
              <a:avLst/>
            </a:prstGeom>
            <a:ln w="9525" cap="flat" cmpd="sng">
              <a:solidFill>
                <a:schemeClr val="tx1"/>
              </a:solidFill>
              <a:prstDash val="solid"/>
              <a:miter/>
              <a:headEnd type="none" w="med" len="med"/>
              <a:tailEnd type="stealth" w="sm" len="sm"/>
            </a:ln>
          </p:spPr>
        </p:sp>
        <p:sp>
          <p:nvSpPr>
            <p:cNvPr id="149558" name="Line 18"/>
            <p:cNvSpPr/>
            <p:nvPr/>
          </p:nvSpPr>
          <p:spPr>
            <a:xfrm>
              <a:off x="1152" y="1488"/>
              <a:ext cx="0" cy="144"/>
            </a:xfrm>
            <a:prstGeom prst="line">
              <a:avLst/>
            </a:prstGeom>
            <a:ln w="9525" cap="flat" cmpd="sng">
              <a:solidFill>
                <a:schemeClr val="tx1"/>
              </a:solidFill>
              <a:prstDash val="solid"/>
              <a:miter/>
              <a:headEnd type="none" w="med" len="med"/>
              <a:tailEnd type="stealth" w="sm" len="sm"/>
            </a:ln>
          </p:spPr>
        </p:sp>
        <p:sp>
          <p:nvSpPr>
            <p:cNvPr id="149559" name="Line 19"/>
            <p:cNvSpPr/>
            <p:nvPr/>
          </p:nvSpPr>
          <p:spPr>
            <a:xfrm>
              <a:off x="1152" y="1824"/>
              <a:ext cx="0" cy="144"/>
            </a:xfrm>
            <a:prstGeom prst="line">
              <a:avLst/>
            </a:prstGeom>
            <a:ln w="9525" cap="flat" cmpd="sng">
              <a:solidFill>
                <a:schemeClr val="tx1"/>
              </a:solidFill>
              <a:prstDash val="solid"/>
              <a:miter/>
              <a:headEnd type="none" w="med" len="med"/>
              <a:tailEnd type="stealth" w="sm" len="sm"/>
            </a:ln>
          </p:spPr>
        </p:sp>
        <p:sp>
          <p:nvSpPr>
            <p:cNvPr id="149560" name="Line 20"/>
            <p:cNvSpPr/>
            <p:nvPr/>
          </p:nvSpPr>
          <p:spPr>
            <a:xfrm>
              <a:off x="1152" y="2160"/>
              <a:ext cx="0" cy="144"/>
            </a:xfrm>
            <a:prstGeom prst="line">
              <a:avLst/>
            </a:prstGeom>
            <a:ln w="9525" cap="flat" cmpd="sng">
              <a:solidFill>
                <a:schemeClr val="tx1"/>
              </a:solidFill>
              <a:prstDash val="solid"/>
              <a:miter/>
              <a:headEnd type="none" w="med" len="med"/>
              <a:tailEnd type="stealth" w="sm" len="sm"/>
            </a:ln>
          </p:spPr>
        </p:sp>
        <p:sp>
          <p:nvSpPr>
            <p:cNvPr id="149561" name="Line 21"/>
            <p:cNvSpPr/>
            <p:nvPr/>
          </p:nvSpPr>
          <p:spPr>
            <a:xfrm flipH="1">
              <a:off x="960" y="2496"/>
              <a:ext cx="192" cy="144"/>
            </a:xfrm>
            <a:prstGeom prst="line">
              <a:avLst/>
            </a:prstGeom>
            <a:ln w="9525" cap="flat" cmpd="sng">
              <a:solidFill>
                <a:schemeClr val="tx1"/>
              </a:solidFill>
              <a:prstDash val="solid"/>
              <a:miter/>
              <a:headEnd type="none" w="med" len="med"/>
              <a:tailEnd type="stealth" w="sm" len="sm"/>
            </a:ln>
          </p:spPr>
        </p:sp>
        <p:sp>
          <p:nvSpPr>
            <p:cNvPr id="149562" name="Line 22"/>
            <p:cNvSpPr/>
            <p:nvPr/>
          </p:nvSpPr>
          <p:spPr>
            <a:xfrm>
              <a:off x="1200" y="2496"/>
              <a:ext cx="144" cy="144"/>
            </a:xfrm>
            <a:prstGeom prst="line">
              <a:avLst/>
            </a:prstGeom>
            <a:ln w="9525" cap="flat" cmpd="sng">
              <a:solidFill>
                <a:schemeClr val="tx1"/>
              </a:solidFill>
              <a:prstDash val="solid"/>
              <a:miter/>
              <a:headEnd type="none" w="med" len="med"/>
              <a:tailEnd type="stealth" w="sm" len="sm"/>
            </a:ln>
          </p:spPr>
        </p:sp>
        <p:sp>
          <p:nvSpPr>
            <p:cNvPr id="149563" name="Line 23"/>
            <p:cNvSpPr/>
            <p:nvPr/>
          </p:nvSpPr>
          <p:spPr>
            <a:xfrm>
              <a:off x="960" y="2832"/>
              <a:ext cx="144" cy="144"/>
            </a:xfrm>
            <a:prstGeom prst="line">
              <a:avLst/>
            </a:prstGeom>
            <a:ln w="9525" cap="flat" cmpd="sng">
              <a:solidFill>
                <a:schemeClr val="tx1"/>
              </a:solidFill>
              <a:prstDash val="solid"/>
              <a:miter/>
              <a:headEnd type="none" w="med" len="med"/>
              <a:tailEnd type="stealth" w="sm" len="sm"/>
            </a:ln>
          </p:spPr>
        </p:sp>
        <p:sp>
          <p:nvSpPr>
            <p:cNvPr id="149564" name="Line 24"/>
            <p:cNvSpPr/>
            <p:nvPr/>
          </p:nvSpPr>
          <p:spPr>
            <a:xfrm flipH="1">
              <a:off x="1200" y="2832"/>
              <a:ext cx="144" cy="144"/>
            </a:xfrm>
            <a:prstGeom prst="line">
              <a:avLst/>
            </a:prstGeom>
            <a:ln w="9525" cap="flat" cmpd="sng">
              <a:solidFill>
                <a:schemeClr val="tx1"/>
              </a:solidFill>
              <a:prstDash val="solid"/>
              <a:miter/>
              <a:headEnd type="none" w="med" len="med"/>
              <a:tailEnd type="stealth" w="sm" len="sm"/>
            </a:ln>
          </p:spPr>
        </p:sp>
        <p:sp>
          <p:nvSpPr>
            <p:cNvPr id="149565" name="Line 25"/>
            <p:cNvSpPr/>
            <p:nvPr/>
          </p:nvSpPr>
          <p:spPr>
            <a:xfrm flipH="1">
              <a:off x="1248" y="3744"/>
              <a:ext cx="480" cy="0"/>
            </a:xfrm>
            <a:prstGeom prst="line">
              <a:avLst/>
            </a:prstGeom>
            <a:ln w="9525" cap="flat" cmpd="sng">
              <a:solidFill>
                <a:schemeClr val="tx1"/>
              </a:solidFill>
              <a:prstDash val="solid"/>
              <a:miter/>
              <a:headEnd type="none" w="med" len="med"/>
              <a:tailEnd type="triangle" w="med" len="med"/>
            </a:ln>
          </p:spPr>
        </p:sp>
        <p:sp>
          <p:nvSpPr>
            <p:cNvPr id="149566" name="Line 26"/>
            <p:cNvSpPr/>
            <p:nvPr/>
          </p:nvSpPr>
          <p:spPr>
            <a:xfrm flipH="1">
              <a:off x="768" y="3072"/>
              <a:ext cx="288" cy="0"/>
            </a:xfrm>
            <a:prstGeom prst="line">
              <a:avLst/>
            </a:prstGeom>
            <a:ln w="9525" cap="flat" cmpd="sng">
              <a:solidFill>
                <a:schemeClr val="tx1"/>
              </a:solidFill>
              <a:prstDash val="solid"/>
              <a:miter/>
              <a:headEnd type="none" w="med" len="med"/>
              <a:tailEnd type="none" w="med" len="med"/>
            </a:ln>
          </p:spPr>
        </p:sp>
        <p:sp>
          <p:nvSpPr>
            <p:cNvPr id="149567" name="Line 27"/>
            <p:cNvSpPr/>
            <p:nvPr/>
          </p:nvSpPr>
          <p:spPr>
            <a:xfrm flipV="1">
              <a:off x="768" y="2064"/>
              <a:ext cx="0" cy="1008"/>
            </a:xfrm>
            <a:prstGeom prst="line">
              <a:avLst/>
            </a:prstGeom>
            <a:ln w="9525" cap="flat" cmpd="sng">
              <a:solidFill>
                <a:schemeClr val="tx1"/>
              </a:solidFill>
              <a:prstDash val="solid"/>
              <a:miter/>
              <a:headEnd type="none" w="med" len="med"/>
              <a:tailEnd type="none" w="med" len="med"/>
            </a:ln>
          </p:spPr>
        </p:sp>
        <p:sp>
          <p:nvSpPr>
            <p:cNvPr id="149568" name="Line 28"/>
            <p:cNvSpPr/>
            <p:nvPr/>
          </p:nvSpPr>
          <p:spPr>
            <a:xfrm>
              <a:off x="768" y="2064"/>
              <a:ext cx="288" cy="0"/>
            </a:xfrm>
            <a:prstGeom prst="line">
              <a:avLst/>
            </a:prstGeom>
            <a:ln w="9525" cap="flat" cmpd="sng">
              <a:solidFill>
                <a:schemeClr val="tx1"/>
              </a:solidFill>
              <a:prstDash val="solid"/>
              <a:miter/>
              <a:headEnd type="none" w="med" len="med"/>
              <a:tailEnd type="triangle" w="med" len="med"/>
            </a:ln>
          </p:spPr>
        </p:sp>
        <p:sp>
          <p:nvSpPr>
            <p:cNvPr id="149569" name="Line 29"/>
            <p:cNvSpPr/>
            <p:nvPr/>
          </p:nvSpPr>
          <p:spPr>
            <a:xfrm flipH="1">
              <a:off x="672" y="3408"/>
              <a:ext cx="384" cy="0"/>
            </a:xfrm>
            <a:prstGeom prst="line">
              <a:avLst/>
            </a:prstGeom>
            <a:ln w="9525" cap="flat" cmpd="sng">
              <a:solidFill>
                <a:schemeClr val="tx1"/>
              </a:solidFill>
              <a:prstDash val="solid"/>
              <a:miter/>
              <a:headEnd type="none" w="med" len="med"/>
              <a:tailEnd type="none" w="med" len="med"/>
            </a:ln>
          </p:spPr>
        </p:sp>
        <p:sp>
          <p:nvSpPr>
            <p:cNvPr id="149570" name="Line 30"/>
            <p:cNvSpPr/>
            <p:nvPr/>
          </p:nvSpPr>
          <p:spPr>
            <a:xfrm flipV="1">
              <a:off x="672" y="1392"/>
              <a:ext cx="0" cy="2016"/>
            </a:xfrm>
            <a:prstGeom prst="line">
              <a:avLst/>
            </a:prstGeom>
            <a:ln w="9525" cap="flat" cmpd="sng">
              <a:solidFill>
                <a:schemeClr val="tx1"/>
              </a:solidFill>
              <a:prstDash val="solid"/>
              <a:miter/>
              <a:headEnd type="none" w="med" len="med"/>
              <a:tailEnd type="none" w="med" len="med"/>
            </a:ln>
          </p:spPr>
        </p:sp>
        <p:sp>
          <p:nvSpPr>
            <p:cNvPr id="149571" name="Line 31"/>
            <p:cNvSpPr/>
            <p:nvPr/>
          </p:nvSpPr>
          <p:spPr>
            <a:xfrm>
              <a:off x="672" y="1392"/>
              <a:ext cx="384" cy="0"/>
            </a:xfrm>
            <a:prstGeom prst="line">
              <a:avLst/>
            </a:prstGeom>
            <a:ln w="9525" cap="flat" cmpd="sng">
              <a:solidFill>
                <a:schemeClr val="tx1"/>
              </a:solidFill>
              <a:prstDash val="solid"/>
              <a:miter/>
              <a:headEnd type="none" w="med" len="med"/>
              <a:tailEnd type="triangle" w="med" len="med"/>
            </a:ln>
          </p:spPr>
        </p:sp>
        <p:sp>
          <p:nvSpPr>
            <p:cNvPr id="149572" name="Line 32"/>
            <p:cNvSpPr/>
            <p:nvPr/>
          </p:nvSpPr>
          <p:spPr>
            <a:xfrm>
              <a:off x="1248" y="1392"/>
              <a:ext cx="480" cy="0"/>
            </a:xfrm>
            <a:prstGeom prst="line">
              <a:avLst/>
            </a:prstGeom>
            <a:ln w="9525" cap="flat" cmpd="sng">
              <a:solidFill>
                <a:schemeClr val="tx1"/>
              </a:solidFill>
              <a:prstDash val="solid"/>
              <a:miter/>
              <a:headEnd type="none" w="med" len="med"/>
              <a:tailEnd type="none" w="med" len="med"/>
            </a:ln>
          </p:spPr>
        </p:sp>
        <p:sp>
          <p:nvSpPr>
            <p:cNvPr id="149573" name="Line 33"/>
            <p:cNvSpPr/>
            <p:nvPr/>
          </p:nvSpPr>
          <p:spPr>
            <a:xfrm>
              <a:off x="1728" y="1392"/>
              <a:ext cx="0" cy="2352"/>
            </a:xfrm>
            <a:prstGeom prst="line">
              <a:avLst/>
            </a:prstGeom>
            <a:ln w="9525" cap="flat" cmpd="sng">
              <a:solidFill>
                <a:schemeClr val="tx1"/>
              </a:solidFill>
              <a:prstDash val="solid"/>
              <a:miter/>
              <a:headEnd type="none" w="med" len="med"/>
              <a:tailEnd type="none" w="med" len="med"/>
            </a:ln>
          </p:spPr>
        </p:sp>
        <p:sp>
          <p:nvSpPr>
            <p:cNvPr id="149574" name="Line 34"/>
            <p:cNvSpPr/>
            <p:nvPr/>
          </p:nvSpPr>
          <p:spPr>
            <a:xfrm>
              <a:off x="1248" y="2064"/>
              <a:ext cx="336" cy="0"/>
            </a:xfrm>
            <a:prstGeom prst="line">
              <a:avLst/>
            </a:prstGeom>
            <a:ln w="9525" cap="flat" cmpd="sng">
              <a:solidFill>
                <a:schemeClr val="tx1"/>
              </a:solidFill>
              <a:prstDash val="solid"/>
              <a:miter/>
              <a:headEnd type="none" w="med" len="med"/>
              <a:tailEnd type="none" w="med" len="med"/>
            </a:ln>
          </p:spPr>
        </p:sp>
        <p:sp>
          <p:nvSpPr>
            <p:cNvPr id="149575" name="Line 35"/>
            <p:cNvSpPr/>
            <p:nvPr/>
          </p:nvSpPr>
          <p:spPr>
            <a:xfrm>
              <a:off x="1584" y="2064"/>
              <a:ext cx="0" cy="1344"/>
            </a:xfrm>
            <a:prstGeom prst="line">
              <a:avLst/>
            </a:prstGeom>
            <a:ln w="9525" cap="flat" cmpd="sng">
              <a:solidFill>
                <a:schemeClr val="tx1"/>
              </a:solidFill>
              <a:prstDash val="solid"/>
              <a:miter/>
              <a:headEnd type="none" w="med" len="med"/>
              <a:tailEnd type="none" w="med" len="med"/>
            </a:ln>
          </p:spPr>
        </p:sp>
        <p:sp>
          <p:nvSpPr>
            <p:cNvPr id="149576" name="Line 36"/>
            <p:cNvSpPr/>
            <p:nvPr/>
          </p:nvSpPr>
          <p:spPr>
            <a:xfrm flipH="1">
              <a:off x="1248" y="3408"/>
              <a:ext cx="336" cy="0"/>
            </a:xfrm>
            <a:prstGeom prst="line">
              <a:avLst/>
            </a:prstGeom>
            <a:ln w="9525" cap="flat" cmpd="sng">
              <a:solidFill>
                <a:schemeClr val="tx1"/>
              </a:solidFill>
              <a:prstDash val="solid"/>
              <a:miter/>
              <a:headEnd type="none" w="med" len="med"/>
              <a:tailEnd type="triangle" w="med" len="med"/>
            </a:ln>
          </p:spPr>
        </p:sp>
      </p:grpSp>
      <p:grpSp>
        <p:nvGrpSpPr>
          <p:cNvPr id="149508" name="Group 75"/>
          <p:cNvGrpSpPr/>
          <p:nvPr/>
        </p:nvGrpSpPr>
        <p:grpSpPr>
          <a:xfrm>
            <a:off x="4495800" y="1447800"/>
            <a:ext cx="4038600" cy="4953000"/>
            <a:chOff x="2832" y="912"/>
            <a:chExt cx="2544" cy="3120"/>
          </a:xfrm>
        </p:grpSpPr>
        <p:sp>
          <p:nvSpPr>
            <p:cNvPr id="149509" name="Rectangle 38"/>
            <p:cNvSpPr/>
            <p:nvPr/>
          </p:nvSpPr>
          <p:spPr>
            <a:xfrm>
              <a:off x="2832" y="912"/>
              <a:ext cx="2544"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49510" name="Oval 39"/>
            <p:cNvSpPr/>
            <p:nvPr/>
          </p:nvSpPr>
          <p:spPr>
            <a:xfrm>
              <a:off x="3984" y="129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49511" name="Oval 40"/>
            <p:cNvSpPr/>
            <p:nvPr/>
          </p:nvSpPr>
          <p:spPr>
            <a:xfrm>
              <a:off x="3984" y="168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49512" name="Oval 41"/>
            <p:cNvSpPr/>
            <p:nvPr/>
          </p:nvSpPr>
          <p:spPr>
            <a:xfrm>
              <a:off x="3648" y="196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49513" name="Oval 42"/>
            <p:cNvSpPr/>
            <p:nvPr/>
          </p:nvSpPr>
          <p:spPr>
            <a:xfrm>
              <a:off x="3648" y="230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49514" name="Oval 43"/>
            <p:cNvSpPr/>
            <p:nvPr/>
          </p:nvSpPr>
          <p:spPr>
            <a:xfrm>
              <a:off x="3408" y="259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5</a:t>
              </a:r>
              <a:endParaRPr lang="zh-CN" altLang="en-US" sz="1800" dirty="0">
                <a:latin typeface="Tahoma" panose="020B0604030504040204" pitchFamily="34" charset="0"/>
                <a:ea typeface="宋体" panose="02010600030101010101" pitchFamily="2" charset="-122"/>
              </a:endParaRPr>
            </a:p>
          </p:txBody>
        </p:sp>
        <p:sp>
          <p:nvSpPr>
            <p:cNvPr id="149515" name="Oval 44"/>
            <p:cNvSpPr/>
            <p:nvPr/>
          </p:nvSpPr>
          <p:spPr>
            <a:xfrm>
              <a:off x="3216" y="292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6</a:t>
              </a:r>
              <a:endParaRPr lang="zh-CN" altLang="en-US" sz="1800" dirty="0">
                <a:latin typeface="Tahoma" panose="020B0604030504040204" pitchFamily="34" charset="0"/>
                <a:ea typeface="宋体" panose="02010600030101010101" pitchFamily="2" charset="-122"/>
              </a:endParaRPr>
            </a:p>
          </p:txBody>
        </p:sp>
        <p:sp>
          <p:nvSpPr>
            <p:cNvPr id="149516" name="Oval 45"/>
            <p:cNvSpPr/>
            <p:nvPr/>
          </p:nvSpPr>
          <p:spPr>
            <a:xfrm>
              <a:off x="3600" y="292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7</a:t>
              </a:r>
              <a:endParaRPr lang="zh-CN" altLang="en-US" sz="1800" dirty="0">
                <a:latin typeface="Tahoma" panose="020B0604030504040204" pitchFamily="34" charset="0"/>
                <a:ea typeface="宋体" panose="02010600030101010101" pitchFamily="2" charset="-122"/>
              </a:endParaRPr>
            </a:p>
          </p:txBody>
        </p:sp>
        <p:sp>
          <p:nvSpPr>
            <p:cNvPr id="149517" name="Oval 46"/>
            <p:cNvSpPr/>
            <p:nvPr/>
          </p:nvSpPr>
          <p:spPr>
            <a:xfrm>
              <a:off x="321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8</a:t>
              </a:r>
              <a:endParaRPr lang="zh-CN" altLang="en-US" sz="1800" dirty="0">
                <a:latin typeface="Tahoma" panose="020B0604030504040204" pitchFamily="34" charset="0"/>
                <a:ea typeface="宋体" panose="02010600030101010101" pitchFamily="2" charset="-122"/>
              </a:endParaRPr>
            </a:p>
          </p:txBody>
        </p:sp>
        <p:sp>
          <p:nvSpPr>
            <p:cNvPr id="149518" name="Oval 47"/>
            <p:cNvSpPr/>
            <p:nvPr/>
          </p:nvSpPr>
          <p:spPr>
            <a:xfrm>
              <a:off x="3936" y="259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9</a:t>
              </a:r>
              <a:endParaRPr lang="zh-CN" altLang="en-US" sz="1800" dirty="0">
                <a:latin typeface="Tahoma" panose="020B0604030504040204" pitchFamily="34" charset="0"/>
                <a:ea typeface="宋体" panose="02010600030101010101" pitchFamily="2" charset="-122"/>
              </a:endParaRPr>
            </a:p>
          </p:txBody>
        </p:sp>
        <p:sp>
          <p:nvSpPr>
            <p:cNvPr id="149519" name="Oval 48"/>
            <p:cNvSpPr/>
            <p:nvPr/>
          </p:nvSpPr>
          <p:spPr>
            <a:xfrm>
              <a:off x="4368" y="201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10</a:t>
              </a:r>
              <a:endParaRPr lang="zh-CN" altLang="en-US" sz="1800" dirty="0">
                <a:latin typeface="Tahoma" panose="020B0604030504040204" pitchFamily="34" charset="0"/>
                <a:ea typeface="宋体" panose="02010600030101010101" pitchFamily="2" charset="-122"/>
              </a:endParaRPr>
            </a:p>
          </p:txBody>
        </p:sp>
        <p:sp>
          <p:nvSpPr>
            <p:cNvPr id="149520" name="Line 49"/>
            <p:cNvSpPr/>
            <p:nvPr/>
          </p:nvSpPr>
          <p:spPr>
            <a:xfrm>
              <a:off x="4080" y="1488"/>
              <a:ext cx="0" cy="192"/>
            </a:xfrm>
            <a:prstGeom prst="line">
              <a:avLst/>
            </a:prstGeom>
            <a:ln w="9525" cap="flat" cmpd="sng">
              <a:solidFill>
                <a:schemeClr val="tx1"/>
              </a:solidFill>
              <a:prstDash val="solid"/>
              <a:miter/>
              <a:headEnd type="none" w="med" len="med"/>
              <a:tailEnd type="stealth" w="sm" len="sm"/>
            </a:ln>
          </p:spPr>
        </p:sp>
        <p:sp>
          <p:nvSpPr>
            <p:cNvPr id="149521" name="Line 50"/>
            <p:cNvSpPr/>
            <p:nvPr/>
          </p:nvSpPr>
          <p:spPr>
            <a:xfrm flipH="1">
              <a:off x="3744" y="1824"/>
              <a:ext cx="240" cy="144"/>
            </a:xfrm>
            <a:prstGeom prst="line">
              <a:avLst/>
            </a:prstGeom>
            <a:ln w="9525" cap="flat" cmpd="sng">
              <a:solidFill>
                <a:schemeClr val="tx1"/>
              </a:solidFill>
              <a:prstDash val="solid"/>
              <a:miter/>
              <a:headEnd type="none" w="med" len="med"/>
              <a:tailEnd type="triangle" w="med" len="sm"/>
            </a:ln>
          </p:spPr>
        </p:sp>
        <p:sp>
          <p:nvSpPr>
            <p:cNvPr id="149522" name="Line 51"/>
            <p:cNvSpPr/>
            <p:nvPr/>
          </p:nvSpPr>
          <p:spPr>
            <a:xfrm>
              <a:off x="3744" y="2160"/>
              <a:ext cx="0" cy="144"/>
            </a:xfrm>
            <a:prstGeom prst="line">
              <a:avLst/>
            </a:prstGeom>
            <a:ln w="9525" cap="flat" cmpd="sng">
              <a:solidFill>
                <a:schemeClr val="tx1"/>
              </a:solidFill>
              <a:prstDash val="solid"/>
              <a:miter/>
              <a:headEnd type="none" w="med" len="med"/>
              <a:tailEnd type="stealth" w="sm" len="sm"/>
            </a:ln>
          </p:spPr>
        </p:sp>
        <p:sp>
          <p:nvSpPr>
            <p:cNvPr id="149523" name="Line 52"/>
            <p:cNvSpPr/>
            <p:nvPr/>
          </p:nvSpPr>
          <p:spPr>
            <a:xfrm flipH="1">
              <a:off x="3504" y="2496"/>
              <a:ext cx="240" cy="96"/>
            </a:xfrm>
            <a:prstGeom prst="line">
              <a:avLst/>
            </a:prstGeom>
            <a:ln w="9525" cap="flat" cmpd="sng">
              <a:solidFill>
                <a:schemeClr val="tx1"/>
              </a:solidFill>
              <a:prstDash val="solid"/>
              <a:miter/>
              <a:headEnd type="none" w="med" len="med"/>
              <a:tailEnd type="triangle" w="sm" len="sm"/>
            </a:ln>
          </p:spPr>
        </p:sp>
        <p:sp>
          <p:nvSpPr>
            <p:cNvPr id="149524" name="Line 53"/>
            <p:cNvSpPr/>
            <p:nvPr/>
          </p:nvSpPr>
          <p:spPr>
            <a:xfrm flipH="1">
              <a:off x="3312" y="2784"/>
              <a:ext cx="192" cy="144"/>
            </a:xfrm>
            <a:prstGeom prst="line">
              <a:avLst/>
            </a:prstGeom>
            <a:ln w="9525" cap="flat" cmpd="sng">
              <a:solidFill>
                <a:schemeClr val="tx1"/>
              </a:solidFill>
              <a:prstDash val="solid"/>
              <a:miter/>
              <a:headEnd type="none" w="med" len="med"/>
              <a:tailEnd type="stealth" w="sm" len="sm"/>
            </a:ln>
          </p:spPr>
        </p:sp>
        <p:sp>
          <p:nvSpPr>
            <p:cNvPr id="149525" name="Line 54"/>
            <p:cNvSpPr/>
            <p:nvPr/>
          </p:nvSpPr>
          <p:spPr>
            <a:xfrm>
              <a:off x="3552" y="2784"/>
              <a:ext cx="144" cy="144"/>
            </a:xfrm>
            <a:prstGeom prst="line">
              <a:avLst/>
            </a:prstGeom>
            <a:ln w="9525" cap="flat" cmpd="sng">
              <a:solidFill>
                <a:schemeClr val="tx1"/>
              </a:solidFill>
              <a:prstDash val="solid"/>
              <a:miter/>
              <a:headEnd type="none" w="med" len="med"/>
              <a:tailEnd type="stealth" w="sm" len="sm"/>
            </a:ln>
          </p:spPr>
        </p:sp>
        <p:sp>
          <p:nvSpPr>
            <p:cNvPr id="149526" name="Line 55"/>
            <p:cNvSpPr/>
            <p:nvPr/>
          </p:nvSpPr>
          <p:spPr>
            <a:xfrm>
              <a:off x="3312" y="3120"/>
              <a:ext cx="0" cy="192"/>
            </a:xfrm>
            <a:prstGeom prst="line">
              <a:avLst/>
            </a:prstGeom>
            <a:ln w="9525" cap="flat" cmpd="sng">
              <a:solidFill>
                <a:schemeClr val="tx1"/>
              </a:solidFill>
              <a:prstDash val="solid"/>
              <a:miter/>
              <a:headEnd type="none" w="med" len="med"/>
              <a:tailEnd type="stealth" w="sm" len="sm"/>
            </a:ln>
          </p:spPr>
        </p:sp>
        <p:sp>
          <p:nvSpPr>
            <p:cNvPr id="149527" name="Line 56"/>
            <p:cNvSpPr/>
            <p:nvPr/>
          </p:nvSpPr>
          <p:spPr>
            <a:xfrm flipH="1">
              <a:off x="3408" y="3120"/>
              <a:ext cx="288" cy="240"/>
            </a:xfrm>
            <a:prstGeom prst="line">
              <a:avLst/>
            </a:prstGeom>
            <a:ln w="38100" cap="flat" cmpd="dbl">
              <a:solidFill>
                <a:schemeClr val="tx1"/>
              </a:solidFill>
              <a:prstDash val="dashDot"/>
              <a:miter/>
              <a:headEnd type="none" w="med" len="med"/>
              <a:tailEnd type="stealth" w="sm" len="sm"/>
            </a:ln>
          </p:spPr>
        </p:sp>
        <p:sp>
          <p:nvSpPr>
            <p:cNvPr id="149528" name="Line 57"/>
            <p:cNvSpPr/>
            <p:nvPr/>
          </p:nvSpPr>
          <p:spPr>
            <a:xfrm>
              <a:off x="4176" y="1824"/>
              <a:ext cx="288" cy="192"/>
            </a:xfrm>
            <a:prstGeom prst="line">
              <a:avLst/>
            </a:prstGeom>
            <a:ln w="9525" cap="flat" cmpd="sng">
              <a:solidFill>
                <a:schemeClr val="tx1"/>
              </a:solidFill>
              <a:prstDash val="solid"/>
              <a:miter/>
              <a:headEnd type="none" w="med" len="med"/>
              <a:tailEnd type="triangle" w="med" len="med"/>
            </a:ln>
          </p:spPr>
        </p:sp>
        <p:sp>
          <p:nvSpPr>
            <p:cNvPr id="149529" name="Line 58"/>
            <p:cNvSpPr/>
            <p:nvPr/>
          </p:nvSpPr>
          <p:spPr>
            <a:xfrm flipH="1">
              <a:off x="3024" y="3408"/>
              <a:ext cx="192" cy="0"/>
            </a:xfrm>
            <a:prstGeom prst="line">
              <a:avLst/>
            </a:prstGeom>
            <a:ln w="9525" cap="flat" cmpd="sng">
              <a:solidFill>
                <a:schemeClr val="tx1"/>
              </a:solidFill>
              <a:prstDash val="dash"/>
              <a:miter/>
              <a:headEnd type="none" w="med" len="med"/>
              <a:tailEnd type="none" w="med" len="med"/>
            </a:ln>
          </p:spPr>
        </p:sp>
        <p:sp>
          <p:nvSpPr>
            <p:cNvPr id="149530" name="Line 59"/>
            <p:cNvSpPr/>
            <p:nvPr/>
          </p:nvSpPr>
          <p:spPr>
            <a:xfrm flipV="1">
              <a:off x="3024" y="2400"/>
              <a:ext cx="0" cy="1008"/>
            </a:xfrm>
            <a:prstGeom prst="line">
              <a:avLst/>
            </a:prstGeom>
            <a:ln w="9525" cap="flat" cmpd="sng">
              <a:solidFill>
                <a:schemeClr val="tx1"/>
              </a:solidFill>
              <a:prstDash val="dash"/>
              <a:miter/>
              <a:headEnd type="none" w="med" len="med"/>
              <a:tailEnd type="none" w="med" len="med"/>
            </a:ln>
          </p:spPr>
        </p:sp>
        <p:sp>
          <p:nvSpPr>
            <p:cNvPr id="149531" name="Line 60"/>
            <p:cNvSpPr/>
            <p:nvPr/>
          </p:nvSpPr>
          <p:spPr>
            <a:xfrm>
              <a:off x="3024" y="2400"/>
              <a:ext cx="624" cy="0"/>
            </a:xfrm>
            <a:prstGeom prst="line">
              <a:avLst/>
            </a:prstGeom>
            <a:ln w="9525" cap="flat" cmpd="sng">
              <a:solidFill>
                <a:schemeClr val="tx1"/>
              </a:solidFill>
              <a:prstDash val="dash"/>
              <a:miter/>
              <a:headEnd type="none" w="med" len="med"/>
              <a:tailEnd type="triangle" w="med" len="med"/>
            </a:ln>
          </p:spPr>
        </p:sp>
        <p:sp>
          <p:nvSpPr>
            <p:cNvPr id="149532" name="Line 61"/>
            <p:cNvSpPr/>
            <p:nvPr/>
          </p:nvSpPr>
          <p:spPr>
            <a:xfrm flipH="1">
              <a:off x="4128" y="2688"/>
              <a:ext cx="864" cy="0"/>
            </a:xfrm>
            <a:prstGeom prst="line">
              <a:avLst/>
            </a:prstGeom>
            <a:ln w="9525" cap="flat" cmpd="sng">
              <a:solidFill>
                <a:schemeClr val="tx1"/>
              </a:solidFill>
              <a:prstDash val="dash"/>
              <a:miter/>
              <a:headEnd type="none" w="med" len="med"/>
              <a:tailEnd type="none" w="med" len="med"/>
            </a:ln>
          </p:spPr>
        </p:sp>
        <p:sp>
          <p:nvSpPr>
            <p:cNvPr id="149533" name="Line 62"/>
            <p:cNvSpPr/>
            <p:nvPr/>
          </p:nvSpPr>
          <p:spPr>
            <a:xfrm flipV="1">
              <a:off x="4992" y="1728"/>
              <a:ext cx="0" cy="960"/>
            </a:xfrm>
            <a:prstGeom prst="line">
              <a:avLst/>
            </a:prstGeom>
            <a:ln w="9525" cap="flat" cmpd="sng">
              <a:solidFill>
                <a:schemeClr val="tx1"/>
              </a:solidFill>
              <a:prstDash val="dash"/>
              <a:miter/>
              <a:headEnd type="none" w="med" len="med"/>
              <a:tailEnd type="none" w="med" len="med"/>
            </a:ln>
          </p:spPr>
        </p:sp>
        <p:sp>
          <p:nvSpPr>
            <p:cNvPr id="149534" name="Line 63"/>
            <p:cNvSpPr/>
            <p:nvPr/>
          </p:nvSpPr>
          <p:spPr>
            <a:xfrm flipH="1">
              <a:off x="4176" y="1728"/>
              <a:ext cx="816" cy="0"/>
            </a:xfrm>
            <a:prstGeom prst="line">
              <a:avLst/>
            </a:prstGeom>
            <a:ln w="9525" cap="flat" cmpd="sng">
              <a:solidFill>
                <a:schemeClr val="tx1"/>
              </a:solidFill>
              <a:prstDash val="dash"/>
              <a:miter/>
              <a:headEnd type="none" w="med" len="med"/>
              <a:tailEnd type="triangle" w="med" len="med"/>
            </a:ln>
          </p:spPr>
        </p:sp>
        <p:sp>
          <p:nvSpPr>
            <p:cNvPr id="149535" name="Line 64"/>
            <p:cNvSpPr/>
            <p:nvPr/>
          </p:nvSpPr>
          <p:spPr>
            <a:xfrm>
              <a:off x="3744" y="2496"/>
              <a:ext cx="288" cy="96"/>
            </a:xfrm>
            <a:prstGeom prst="line">
              <a:avLst/>
            </a:prstGeom>
            <a:ln w="9525" cap="flat" cmpd="sng">
              <a:solidFill>
                <a:schemeClr val="tx1"/>
              </a:solidFill>
              <a:prstDash val="solid"/>
              <a:miter/>
              <a:headEnd type="none" w="med" len="med"/>
              <a:tailEnd type="triangle" w="med" len="med"/>
            </a:ln>
          </p:spPr>
        </p:sp>
        <p:sp>
          <p:nvSpPr>
            <p:cNvPr id="149536" name="Rectangle 65"/>
            <p:cNvSpPr/>
            <p:nvPr/>
          </p:nvSpPr>
          <p:spPr>
            <a:xfrm>
              <a:off x="4224" y="1344"/>
              <a:ext cx="240"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1</a:t>
              </a:r>
              <a:endParaRPr lang="zh-CN" altLang="en-US" sz="1400" dirty="0">
                <a:latin typeface="Tahoma" panose="020B0604030504040204" pitchFamily="34" charset="0"/>
                <a:ea typeface="宋体" panose="02010600030101010101" pitchFamily="2" charset="-122"/>
              </a:endParaRPr>
            </a:p>
          </p:txBody>
        </p:sp>
        <p:sp>
          <p:nvSpPr>
            <p:cNvPr id="149537" name="Rectangle 66"/>
            <p:cNvSpPr/>
            <p:nvPr/>
          </p:nvSpPr>
          <p:spPr>
            <a:xfrm>
              <a:off x="4224" y="1680"/>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2</a:t>
              </a:r>
              <a:endParaRPr lang="zh-CN" altLang="en-US" sz="1400" dirty="0">
                <a:latin typeface="Tahoma" panose="020B0604030504040204" pitchFamily="34" charset="0"/>
                <a:ea typeface="宋体" panose="02010600030101010101" pitchFamily="2" charset="-122"/>
              </a:endParaRPr>
            </a:p>
          </p:txBody>
        </p:sp>
        <p:sp>
          <p:nvSpPr>
            <p:cNvPr id="149538" name="Rectangle 67"/>
            <p:cNvSpPr/>
            <p:nvPr/>
          </p:nvSpPr>
          <p:spPr>
            <a:xfrm>
              <a:off x="4704" y="1968"/>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3</a:t>
              </a:r>
              <a:endParaRPr lang="zh-CN" altLang="en-US" sz="1400" dirty="0">
                <a:latin typeface="Tahoma" panose="020B0604030504040204" pitchFamily="34" charset="0"/>
                <a:ea typeface="宋体" panose="02010600030101010101" pitchFamily="2" charset="-122"/>
              </a:endParaRPr>
            </a:p>
          </p:txBody>
        </p:sp>
        <p:sp>
          <p:nvSpPr>
            <p:cNvPr id="149539" name="Rectangle 68"/>
            <p:cNvSpPr/>
            <p:nvPr/>
          </p:nvSpPr>
          <p:spPr>
            <a:xfrm>
              <a:off x="3888" y="2016"/>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4</a:t>
              </a:r>
              <a:endParaRPr lang="zh-CN" altLang="en-US" sz="1400" dirty="0">
                <a:latin typeface="Tahoma" panose="020B0604030504040204" pitchFamily="34" charset="0"/>
                <a:ea typeface="宋体" panose="02010600030101010101" pitchFamily="2" charset="-122"/>
              </a:endParaRPr>
            </a:p>
          </p:txBody>
        </p:sp>
        <p:sp>
          <p:nvSpPr>
            <p:cNvPr id="149540" name="Rectangle 69"/>
            <p:cNvSpPr/>
            <p:nvPr/>
          </p:nvSpPr>
          <p:spPr>
            <a:xfrm>
              <a:off x="3888" y="2304"/>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5</a:t>
              </a:r>
              <a:endParaRPr lang="zh-CN" altLang="en-US" sz="1400" dirty="0">
                <a:latin typeface="Tahoma" panose="020B0604030504040204" pitchFamily="34" charset="0"/>
                <a:ea typeface="宋体" panose="02010600030101010101" pitchFamily="2" charset="-122"/>
              </a:endParaRPr>
            </a:p>
          </p:txBody>
        </p:sp>
        <p:sp>
          <p:nvSpPr>
            <p:cNvPr id="149541" name="Rectangle 70"/>
            <p:cNvSpPr/>
            <p:nvPr/>
          </p:nvSpPr>
          <p:spPr>
            <a:xfrm>
              <a:off x="4176" y="2640"/>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6</a:t>
              </a:r>
              <a:endParaRPr lang="zh-CN" altLang="en-US" sz="1400" dirty="0">
                <a:latin typeface="Tahoma" panose="020B0604030504040204" pitchFamily="34" charset="0"/>
                <a:ea typeface="宋体" panose="02010600030101010101" pitchFamily="2" charset="-122"/>
              </a:endParaRPr>
            </a:p>
          </p:txBody>
        </p:sp>
        <p:sp>
          <p:nvSpPr>
            <p:cNvPr id="149542" name="Rectangle 71"/>
            <p:cNvSpPr/>
            <p:nvPr/>
          </p:nvSpPr>
          <p:spPr>
            <a:xfrm>
              <a:off x="3600" y="2640"/>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7</a:t>
              </a:r>
              <a:endParaRPr lang="zh-CN" altLang="en-US" sz="1400" dirty="0">
                <a:latin typeface="Tahoma" panose="020B0604030504040204" pitchFamily="34" charset="0"/>
                <a:ea typeface="宋体" panose="02010600030101010101" pitchFamily="2" charset="-122"/>
              </a:endParaRPr>
            </a:p>
          </p:txBody>
        </p:sp>
        <p:sp>
          <p:nvSpPr>
            <p:cNvPr id="149543" name="Rectangle 72"/>
            <p:cNvSpPr/>
            <p:nvPr/>
          </p:nvSpPr>
          <p:spPr>
            <a:xfrm>
              <a:off x="3792" y="2976"/>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8</a:t>
              </a:r>
              <a:endParaRPr lang="zh-CN" altLang="en-US" sz="1400" dirty="0">
                <a:latin typeface="Tahoma" panose="020B0604030504040204" pitchFamily="34" charset="0"/>
                <a:ea typeface="宋体" panose="02010600030101010101" pitchFamily="2" charset="-122"/>
              </a:endParaRPr>
            </a:p>
          </p:txBody>
        </p:sp>
        <p:sp>
          <p:nvSpPr>
            <p:cNvPr id="149544" name="Rectangle 73"/>
            <p:cNvSpPr/>
            <p:nvPr/>
          </p:nvSpPr>
          <p:spPr>
            <a:xfrm>
              <a:off x="3072" y="3072"/>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9</a:t>
              </a:r>
              <a:endParaRPr lang="zh-CN" altLang="en-US" sz="1400" dirty="0">
                <a:latin typeface="Tahoma" panose="020B0604030504040204" pitchFamily="34" charset="0"/>
                <a:ea typeface="宋体" panose="02010600030101010101" pitchFamily="2" charset="-122"/>
              </a:endParaRPr>
            </a:p>
          </p:txBody>
        </p:sp>
        <p:sp>
          <p:nvSpPr>
            <p:cNvPr id="149545" name="Rectangle 74"/>
            <p:cNvSpPr/>
            <p:nvPr/>
          </p:nvSpPr>
          <p:spPr>
            <a:xfrm>
              <a:off x="3408" y="3408"/>
              <a:ext cx="192" cy="14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10</a:t>
              </a:r>
              <a:endParaRPr lang="zh-CN" altLang="en-US" sz="1400" dirty="0">
                <a:latin typeface="Tahoma" panose="020B0604030504040204" pitchFamily="34" charset="0"/>
                <a:ea typeface="宋体" panose="02010600030101010101" pitchFamily="2" charset="-122"/>
              </a:endParaRPr>
            </a:p>
          </p:txBody>
        </p:sp>
      </p:gr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深度优先搜索树</a:t>
            </a:r>
            <a:endParaRPr lang="en-US" altLang="zh-CN" dirty="0">
              <a:latin typeface="Times New Roman" panose="02020603050405020304" pitchFamily="18" charset="0"/>
              <a:ea typeface="宋体" panose="02010600030101010101" pitchFamily="2" charset="-122"/>
            </a:endParaRPr>
          </a:p>
        </p:txBody>
      </p:sp>
      <p:sp>
        <p:nvSpPr>
          <p:cNvPr id="15155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深度优先树</a:t>
            </a:r>
            <a:endParaRPr lang="zh-CN" altLang="en-US" sz="2400" b="1" dirty="0">
              <a:ea typeface="宋体" panose="02010600030101010101" pitchFamily="2" charset="-122"/>
            </a:endParaRPr>
          </a:p>
          <a:p>
            <a:pPr lvl="1"/>
            <a:r>
              <a:rPr lang="zh-CN" altLang="en-US" sz="2200" b="1" dirty="0">
                <a:ea typeface="宋体" panose="02010600030101010101" pitchFamily="2" charset="-122"/>
              </a:rPr>
              <a:t>在深度优先访问中依次访问到的各个新结点，用有向边联结成一个图，它就是深度优先树或称为深度优先搜索树(</a:t>
            </a:r>
            <a:r>
              <a:rPr lang="en-US" altLang="zh-CN" sz="2200" b="1" dirty="0">
                <a:ea typeface="宋体" panose="02010600030101010101" pitchFamily="2" charset="-122"/>
              </a:rPr>
              <a:t>depth-first spanning tree)</a:t>
            </a:r>
            <a:endParaRPr lang="zh-CN" altLang="en-US" sz="2200" b="1" dirty="0">
              <a:ea typeface="宋体" panose="02010600030101010101" pitchFamily="2" charset="-122"/>
            </a:endParaRPr>
          </a:p>
          <a:p>
            <a:pPr lvl="2"/>
            <a:r>
              <a:rPr lang="zh-CN" altLang="en-US" sz="2000" b="1" dirty="0">
                <a:ea typeface="宋体" panose="02010600030101010101" pitchFamily="2" charset="-122"/>
              </a:rPr>
              <a:t>深度优先搜索树包括图中所有的结点和部分边</a:t>
            </a:r>
            <a:endParaRPr lang="zh-CN" altLang="en-US" sz="2000" b="1" dirty="0">
              <a:ea typeface="宋体" panose="02010600030101010101" pitchFamily="2" charset="-122"/>
            </a:endParaRPr>
          </a:p>
          <a:p>
            <a:pPr lvl="1"/>
            <a:r>
              <a:rPr lang="zh-CN" altLang="en-US" sz="2200" b="1" dirty="0">
                <a:ea typeface="宋体" panose="02010600030101010101" pitchFamily="2" charset="-122"/>
              </a:rPr>
              <a:t>根据深度优先搜索树可以将流图中的边分为三类：</a:t>
            </a:r>
            <a:endParaRPr lang="en-US" altLang="zh-CN" sz="2200" b="1" dirty="0">
              <a:ea typeface="宋体" panose="02010600030101010101" pitchFamily="2" charset="-122"/>
            </a:endParaRPr>
          </a:p>
          <a:p>
            <a:pPr lvl="2"/>
            <a:r>
              <a:rPr lang="zh-CN" altLang="en-US" sz="2000" b="1" dirty="0">
                <a:ea typeface="宋体" panose="02010600030101010101" pitchFamily="2" charset="-122"/>
              </a:rPr>
              <a:t>前向边(</a:t>
            </a:r>
            <a:r>
              <a:rPr lang="en-US" altLang="zh-CN" sz="2000" b="1" dirty="0">
                <a:ea typeface="宋体" panose="02010600030101010101" pitchFamily="2" charset="-122"/>
              </a:rPr>
              <a:t>forward edges)：</a:t>
            </a:r>
            <a:r>
              <a:rPr lang="zh-CN" altLang="en-US" sz="2000" b="1" dirty="0">
                <a:ea typeface="宋体" panose="02010600030101010101" pitchFamily="2" charset="-122"/>
              </a:rPr>
              <a:t>深度优先搜索树上, 前驱指向后继的边</a:t>
            </a:r>
            <a:endParaRPr lang="zh-CN" altLang="en-US" sz="2000" b="1" dirty="0">
              <a:ea typeface="宋体" panose="02010600030101010101" pitchFamily="2" charset="-122"/>
            </a:endParaRPr>
          </a:p>
          <a:p>
            <a:pPr lvl="2"/>
            <a:r>
              <a:rPr lang="zh-CN" altLang="en-US" sz="2000" b="1" dirty="0">
                <a:ea typeface="宋体" panose="02010600030101010101" pitchFamily="2" charset="-122"/>
              </a:rPr>
              <a:t>回边(</a:t>
            </a:r>
            <a:r>
              <a:rPr lang="en-US" altLang="zh-CN" sz="2000" b="1" dirty="0">
                <a:ea typeface="宋体" panose="02010600030101010101" pitchFamily="2" charset="-122"/>
              </a:rPr>
              <a:t>back edges)：</a:t>
            </a:r>
            <a:r>
              <a:rPr lang="zh-CN" altLang="en-US" sz="2000" b="1" dirty="0">
                <a:ea typeface="宋体" panose="02010600030101010101" pitchFamily="2" charset="-122"/>
              </a:rPr>
              <a:t>深度优先搜索树上, 后继指向前驱的边</a:t>
            </a:r>
            <a:endParaRPr lang="zh-CN" altLang="en-US" sz="2000" b="1" dirty="0">
              <a:ea typeface="宋体" panose="02010600030101010101" pitchFamily="2" charset="-122"/>
            </a:endParaRPr>
          </a:p>
          <a:p>
            <a:pPr lvl="2"/>
            <a:r>
              <a:rPr lang="zh-CN" altLang="en-US" sz="2000" b="1" dirty="0">
                <a:ea typeface="宋体" panose="02010600030101010101" pitchFamily="2" charset="-122"/>
              </a:rPr>
              <a:t>交叉边(</a:t>
            </a:r>
            <a:r>
              <a:rPr lang="en-US" altLang="zh-CN" sz="2000" b="1" dirty="0">
                <a:ea typeface="宋体" panose="02010600030101010101" pitchFamily="2" charset="-122"/>
              </a:rPr>
              <a:t>cross edges)：</a:t>
            </a:r>
            <a:r>
              <a:rPr lang="zh-CN" altLang="en-US" sz="2000" b="1" dirty="0">
                <a:ea typeface="宋体" panose="02010600030101010101" pitchFamily="2" charset="-122"/>
              </a:rPr>
              <a:t>不属于前两种的边</a:t>
            </a:r>
            <a:endParaRPr lang="zh-CN" altLang="en-US" sz="2000" b="1" dirty="0">
              <a:ea typeface="宋体" panose="02010600030101010101" pitchFamily="2"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求深度优先序的算法</a:t>
            </a:r>
            <a:endParaRPr lang="en-US" altLang="zh-CN" dirty="0">
              <a:latin typeface="Times New Roman" panose="02020603050405020304" pitchFamily="18" charset="0"/>
              <a:ea typeface="宋体" panose="02010600030101010101" pitchFamily="2" charset="-122"/>
            </a:endParaRPr>
          </a:p>
        </p:txBody>
      </p:sp>
      <p:sp>
        <p:nvSpPr>
          <p:cNvPr id="153603"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buNone/>
            </a:pPr>
            <a:r>
              <a:rPr lang="en-US" altLang="zh-CN" sz="1800" b="1" dirty="0">
                <a:ea typeface="宋体" panose="02010600030101010101" pitchFamily="2" charset="-122"/>
              </a:rPr>
              <a:t>Depth_First_Search()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for each i </a:t>
            </a:r>
            <a:r>
              <a:rPr lang="en-US" altLang="zh-CN" sz="1800" b="1" dirty="0">
                <a:ea typeface="宋体" panose="02010600030101010101" pitchFamily="2" charset="-122"/>
                <a:sym typeface="Symbol" panose="05050102010706020507" pitchFamily="18" charset="2"/>
              </a:rPr>
              <a:t></a:t>
            </a:r>
            <a:r>
              <a:rPr lang="en-US" altLang="zh-CN" sz="1800" b="1" dirty="0">
                <a:ea typeface="宋体" panose="02010600030101010101" pitchFamily="2" charset="-122"/>
              </a:rPr>
              <a:t>N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visit(i) = false;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Depth_First_Search_Helper(root);</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a:t>
            </a:r>
            <a:endParaRPr lang="en-US" altLang="zh-CN" sz="1800" b="1" dirty="0">
              <a:ea typeface="宋体" panose="02010600030101010101" pitchFamily="2" charset="-122"/>
            </a:endParaRPr>
          </a:p>
          <a:p>
            <a:pPr>
              <a:lnSpc>
                <a:spcPct val="90000"/>
              </a:lnSpc>
              <a:buNone/>
            </a:pP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Depth_First_Search_Helper(x) {  /* </a:t>
            </a:r>
            <a:r>
              <a:rPr lang="zh-CN" altLang="en-US" sz="1800" b="1" dirty="0">
                <a:ea typeface="宋体" panose="02010600030101010101" pitchFamily="2" charset="-122"/>
              </a:rPr>
              <a:t>对结点</a:t>
            </a:r>
            <a:r>
              <a:rPr lang="en-US" altLang="zh-CN" sz="1800" b="1" dirty="0">
                <a:ea typeface="宋体" panose="02010600030101010101" pitchFamily="2" charset="-122"/>
              </a:rPr>
              <a:t>x</a:t>
            </a:r>
            <a:r>
              <a:rPr lang="zh-CN" altLang="en-US" sz="1800" b="1" dirty="0">
                <a:ea typeface="宋体" panose="02010600030101010101" pitchFamily="2" charset="-122"/>
              </a:rPr>
              <a:t>本身的操作，根据需要插入				下面的程序中恰当位置*/</a:t>
            </a:r>
            <a:endParaRPr lang="zh-CN" altLang="en-US" sz="1800" b="1" dirty="0">
              <a:ea typeface="宋体" panose="02010600030101010101" pitchFamily="2" charset="-122"/>
            </a:endParaRPr>
          </a:p>
          <a:p>
            <a:pPr>
              <a:lnSpc>
                <a:spcPct val="90000"/>
              </a:lnSpc>
              <a:buNone/>
            </a:pPr>
            <a:r>
              <a:rPr lang="en-US" altLang="zh-CN" sz="1800" b="1" dirty="0">
                <a:ea typeface="宋体" panose="02010600030101010101" pitchFamily="2" charset="-122"/>
              </a:rPr>
              <a:t>    visit(x) = true;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for each y </a:t>
            </a:r>
            <a:r>
              <a:rPr lang="en-US" altLang="zh-CN" sz="1800" b="1" dirty="0">
                <a:ea typeface="宋体" panose="02010600030101010101" pitchFamily="2" charset="-122"/>
                <a:sym typeface="Symbol" panose="05050102010706020507" pitchFamily="18" charset="2"/>
              </a:rPr>
              <a:t></a:t>
            </a:r>
            <a:r>
              <a:rPr lang="en-US" altLang="zh-CN" sz="1800" b="1" dirty="0">
                <a:ea typeface="宋体" panose="02010600030101010101" pitchFamily="2" charset="-122"/>
              </a:rPr>
              <a:t> Succ(x)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if ( ! visit(y) )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Depth_First_Search_Helper(y</a:t>
            </a:r>
            <a:r>
              <a:rPr lang="zh-CN" altLang="en-US" sz="1800" b="1" dirty="0">
                <a:ea typeface="宋体" panose="02010600030101010101" pitchFamily="2" charset="-122"/>
              </a:rPr>
              <a:t>);</a:t>
            </a:r>
            <a:endParaRPr lang="zh-CN" altLang="en-US" sz="1800" b="1" dirty="0">
              <a:ea typeface="宋体" panose="02010600030101010101" pitchFamily="2" charset="-122"/>
            </a:endParaRPr>
          </a:p>
          <a:p>
            <a:pPr>
              <a:lnSpc>
                <a:spcPct val="90000"/>
              </a:lnSpc>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a:t>
            </a:r>
            <a:endParaRPr lang="en-US" altLang="zh-CN" sz="1800" b="1" dirty="0">
              <a:ea typeface="宋体" panose="02010600030101010101" pitchFamily="2"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深度优先序</a:t>
            </a:r>
            <a:endParaRPr lang="en-US" altLang="zh-CN" dirty="0">
              <a:latin typeface="Times New Roman" panose="02020603050405020304" pitchFamily="18" charset="0"/>
              <a:ea typeface="宋体" panose="02010600030101010101" pitchFamily="2" charset="-122"/>
            </a:endParaRPr>
          </a:p>
        </p:txBody>
      </p:sp>
      <p:sp>
        <p:nvSpPr>
          <p:cNvPr id="155651"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深度优先序不是唯一的，依赖于后继结点的选择次序</a:t>
            </a:r>
            <a:endParaRPr lang="zh-CN" altLang="en-US"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a:p>
            <a:r>
              <a:rPr lang="zh-CN" altLang="en-US" sz="2400" b="1" dirty="0">
                <a:ea typeface="宋体" panose="02010600030101010101" pitchFamily="2" charset="-122"/>
              </a:rPr>
              <a:t>深度优先遍历顺序是编译中最经常用到的遍历顺序</a:t>
            </a:r>
            <a:endParaRPr lang="zh-CN" altLang="en-US" sz="2400" b="1" dirty="0">
              <a:ea typeface="宋体" panose="02010600030101010101" pitchFamily="2" charset="-122"/>
            </a:endParaRPr>
          </a:p>
        </p:txBody>
      </p:sp>
      <p:grpSp>
        <p:nvGrpSpPr>
          <p:cNvPr id="155652" name="Group 42"/>
          <p:cNvGrpSpPr/>
          <p:nvPr/>
        </p:nvGrpSpPr>
        <p:grpSpPr>
          <a:xfrm>
            <a:off x="533400" y="2438400"/>
            <a:ext cx="7620000" cy="2209800"/>
            <a:chOff x="336" y="1536"/>
            <a:chExt cx="4800" cy="1392"/>
          </a:xfrm>
        </p:grpSpPr>
        <p:grpSp>
          <p:nvGrpSpPr>
            <p:cNvPr id="155653" name="Group 4"/>
            <p:cNvGrpSpPr/>
            <p:nvPr/>
          </p:nvGrpSpPr>
          <p:grpSpPr>
            <a:xfrm>
              <a:off x="336" y="1536"/>
              <a:ext cx="1344" cy="1392"/>
              <a:chOff x="288" y="2304"/>
              <a:chExt cx="1344" cy="1392"/>
            </a:xfrm>
          </p:grpSpPr>
          <p:sp>
            <p:nvSpPr>
              <p:cNvPr id="155682" name="Rectangle 5"/>
              <p:cNvSpPr/>
              <p:nvPr/>
            </p:nvSpPr>
            <p:spPr>
              <a:xfrm>
                <a:off x="288" y="2304"/>
                <a:ext cx="1344" cy="1392"/>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55683" name="Oval 6"/>
              <p:cNvSpPr/>
              <p:nvPr/>
            </p:nvSpPr>
            <p:spPr>
              <a:xfrm>
                <a:off x="864" y="24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55684" name="Oval 7"/>
              <p:cNvSpPr/>
              <p:nvPr/>
            </p:nvSpPr>
            <p:spPr>
              <a:xfrm>
                <a:off x="864" y="292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55685" name="Oval 8"/>
              <p:cNvSpPr/>
              <p:nvPr/>
            </p:nvSpPr>
            <p:spPr>
              <a:xfrm>
                <a:off x="480"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55686" name="Line 9"/>
              <p:cNvSpPr/>
              <p:nvPr/>
            </p:nvSpPr>
            <p:spPr>
              <a:xfrm flipH="1">
                <a:off x="624" y="3120"/>
                <a:ext cx="288" cy="192"/>
              </a:xfrm>
              <a:prstGeom prst="line">
                <a:avLst/>
              </a:prstGeom>
              <a:ln w="9525" cap="flat" cmpd="sng">
                <a:solidFill>
                  <a:schemeClr val="tx1"/>
                </a:solidFill>
                <a:prstDash val="solid"/>
                <a:miter/>
                <a:headEnd type="none" w="med" len="med"/>
                <a:tailEnd type="stealth" w="sm" len="sm"/>
              </a:ln>
            </p:spPr>
          </p:sp>
          <p:sp>
            <p:nvSpPr>
              <p:cNvPr id="155687" name="Line 10"/>
              <p:cNvSpPr/>
              <p:nvPr/>
            </p:nvSpPr>
            <p:spPr>
              <a:xfrm>
                <a:off x="960" y="2640"/>
                <a:ext cx="0" cy="288"/>
              </a:xfrm>
              <a:prstGeom prst="line">
                <a:avLst/>
              </a:prstGeom>
              <a:ln w="9525" cap="flat" cmpd="sng">
                <a:solidFill>
                  <a:schemeClr val="tx1"/>
                </a:solidFill>
                <a:prstDash val="solid"/>
                <a:miter/>
                <a:headEnd type="none" w="med" len="med"/>
                <a:tailEnd type="stealth" w="sm" len="sm"/>
              </a:ln>
            </p:spPr>
          </p:sp>
          <p:sp>
            <p:nvSpPr>
              <p:cNvPr id="155688" name="Line 11"/>
              <p:cNvSpPr/>
              <p:nvPr/>
            </p:nvSpPr>
            <p:spPr>
              <a:xfrm>
                <a:off x="960" y="3120"/>
                <a:ext cx="336" cy="192"/>
              </a:xfrm>
              <a:prstGeom prst="line">
                <a:avLst/>
              </a:prstGeom>
              <a:ln w="9525" cap="flat" cmpd="sng">
                <a:solidFill>
                  <a:schemeClr val="tx1"/>
                </a:solidFill>
                <a:prstDash val="solid"/>
                <a:miter/>
                <a:headEnd type="none" w="med" len="med"/>
                <a:tailEnd type="stealth" w="sm" len="sm"/>
              </a:ln>
            </p:spPr>
          </p:sp>
          <p:sp>
            <p:nvSpPr>
              <p:cNvPr id="155689" name="Oval 12"/>
              <p:cNvSpPr/>
              <p:nvPr/>
            </p:nvSpPr>
            <p:spPr>
              <a:xfrm>
                <a:off x="1200"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55690" name="Freeform 13"/>
              <p:cNvSpPr/>
              <p:nvPr/>
            </p:nvSpPr>
            <p:spPr>
              <a:xfrm>
                <a:off x="1056" y="2544"/>
                <a:ext cx="288" cy="768"/>
              </a:xfrm>
              <a:custGeom>
                <a:avLst/>
                <a:gdLst/>
                <a:ahLst/>
                <a:cxnLst>
                  <a:cxn ang="0">
                    <a:pos x="0" y="0"/>
                  </a:cxn>
                  <a:cxn ang="0">
                    <a:pos x="144" y="96"/>
                  </a:cxn>
                  <a:cxn ang="0">
                    <a:pos x="240" y="336"/>
                  </a:cxn>
                  <a:cxn ang="0">
                    <a:pos x="288" y="768"/>
                  </a:cxn>
                </a:cxnLst>
                <a:pathLst>
                  <a:path w="288" h="768">
                    <a:moveTo>
                      <a:pt x="0" y="0"/>
                    </a:moveTo>
                    <a:cubicBezTo>
                      <a:pt x="52" y="20"/>
                      <a:pt x="104" y="40"/>
                      <a:pt x="144" y="96"/>
                    </a:cubicBezTo>
                    <a:cubicBezTo>
                      <a:pt x="184" y="152"/>
                      <a:pt x="216" y="224"/>
                      <a:pt x="240" y="336"/>
                    </a:cubicBezTo>
                    <a:cubicBezTo>
                      <a:pt x="264" y="448"/>
                      <a:pt x="280" y="696"/>
                      <a:pt x="288" y="768"/>
                    </a:cubicBezTo>
                  </a:path>
                </a:pathLst>
              </a:custGeom>
              <a:noFill/>
              <a:ln w="9525" cap="flat" cmpd="sng">
                <a:solidFill>
                  <a:schemeClr val="tx1">
                    <a:alpha val="100000"/>
                  </a:schemeClr>
                </a:solidFill>
                <a:prstDash val="solid"/>
                <a:miter lim="800000"/>
                <a:headEnd type="none" w="med" len="med"/>
                <a:tailEnd type="stealth" w="sm" len="sm"/>
              </a:ln>
            </p:spPr>
            <p:txBody>
              <a:bodyPr/>
              <a:p>
                <a:endParaRPr lang="zh-CN" altLang="en-US"/>
              </a:p>
            </p:txBody>
          </p:sp>
        </p:grpSp>
        <p:grpSp>
          <p:nvGrpSpPr>
            <p:cNvPr id="155654" name="Group 14"/>
            <p:cNvGrpSpPr/>
            <p:nvPr/>
          </p:nvGrpSpPr>
          <p:grpSpPr>
            <a:xfrm>
              <a:off x="3792" y="1536"/>
              <a:ext cx="1344" cy="1392"/>
              <a:chOff x="3744" y="2304"/>
              <a:chExt cx="1344" cy="1392"/>
            </a:xfrm>
          </p:grpSpPr>
          <p:sp>
            <p:nvSpPr>
              <p:cNvPr id="155673" name="Rectangle 15"/>
              <p:cNvSpPr/>
              <p:nvPr/>
            </p:nvSpPr>
            <p:spPr>
              <a:xfrm>
                <a:off x="3744" y="2304"/>
                <a:ext cx="1344" cy="1392"/>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55674" name="Oval 16"/>
              <p:cNvSpPr/>
              <p:nvPr/>
            </p:nvSpPr>
            <p:spPr>
              <a:xfrm>
                <a:off x="4320" y="24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55675" name="Oval 17"/>
              <p:cNvSpPr/>
              <p:nvPr/>
            </p:nvSpPr>
            <p:spPr>
              <a:xfrm>
                <a:off x="4320" y="292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55676" name="Oval 18"/>
              <p:cNvSpPr/>
              <p:nvPr/>
            </p:nvSpPr>
            <p:spPr>
              <a:xfrm>
                <a:off x="393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55677" name="Line 19"/>
              <p:cNvSpPr/>
              <p:nvPr/>
            </p:nvSpPr>
            <p:spPr>
              <a:xfrm flipH="1">
                <a:off x="4080" y="3120"/>
                <a:ext cx="288" cy="192"/>
              </a:xfrm>
              <a:prstGeom prst="line">
                <a:avLst/>
              </a:prstGeom>
              <a:ln w="9525" cap="flat" cmpd="sng">
                <a:solidFill>
                  <a:schemeClr val="tx1"/>
                </a:solidFill>
                <a:prstDash val="solid"/>
                <a:miter/>
                <a:headEnd type="none" w="med" len="med"/>
                <a:tailEnd type="stealth" w="sm" len="sm"/>
              </a:ln>
            </p:spPr>
          </p:sp>
          <p:sp>
            <p:nvSpPr>
              <p:cNvPr id="155678" name="Line 20"/>
              <p:cNvSpPr/>
              <p:nvPr/>
            </p:nvSpPr>
            <p:spPr>
              <a:xfrm>
                <a:off x="4416" y="2640"/>
                <a:ext cx="0" cy="288"/>
              </a:xfrm>
              <a:prstGeom prst="line">
                <a:avLst/>
              </a:prstGeom>
              <a:ln w="9525" cap="flat" cmpd="sng">
                <a:solidFill>
                  <a:schemeClr val="tx1"/>
                </a:solidFill>
                <a:prstDash val="solid"/>
                <a:miter/>
                <a:headEnd type="none" w="med" len="med"/>
                <a:tailEnd type="stealth" w="sm" len="sm"/>
              </a:ln>
            </p:spPr>
          </p:sp>
          <p:sp>
            <p:nvSpPr>
              <p:cNvPr id="155679" name="Line 21"/>
              <p:cNvSpPr/>
              <p:nvPr/>
            </p:nvSpPr>
            <p:spPr>
              <a:xfrm>
                <a:off x="4416" y="3120"/>
                <a:ext cx="336" cy="192"/>
              </a:xfrm>
              <a:prstGeom prst="line">
                <a:avLst/>
              </a:prstGeom>
              <a:ln w="38100" cap="flat" cmpd="dbl">
                <a:solidFill>
                  <a:schemeClr val="tx1"/>
                </a:solidFill>
                <a:prstDash val="dashDot"/>
                <a:miter/>
                <a:headEnd type="none" w="med" len="med"/>
                <a:tailEnd type="stealth" w="sm" len="sm"/>
              </a:ln>
            </p:spPr>
          </p:sp>
          <p:sp>
            <p:nvSpPr>
              <p:cNvPr id="155680" name="Oval 22"/>
              <p:cNvSpPr/>
              <p:nvPr/>
            </p:nvSpPr>
            <p:spPr>
              <a:xfrm>
                <a:off x="465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55681" name="Freeform 23"/>
              <p:cNvSpPr/>
              <p:nvPr/>
            </p:nvSpPr>
            <p:spPr>
              <a:xfrm>
                <a:off x="4512" y="2544"/>
                <a:ext cx="288" cy="768"/>
              </a:xfrm>
              <a:custGeom>
                <a:avLst/>
                <a:gdLst/>
                <a:ahLst/>
                <a:cxnLst>
                  <a:cxn ang="0">
                    <a:pos x="0" y="0"/>
                  </a:cxn>
                  <a:cxn ang="0">
                    <a:pos x="144" y="96"/>
                  </a:cxn>
                  <a:cxn ang="0">
                    <a:pos x="240" y="336"/>
                  </a:cxn>
                  <a:cxn ang="0">
                    <a:pos x="288" y="768"/>
                  </a:cxn>
                </a:cxnLst>
                <a:pathLst>
                  <a:path w="288" h="768">
                    <a:moveTo>
                      <a:pt x="0" y="0"/>
                    </a:moveTo>
                    <a:cubicBezTo>
                      <a:pt x="52" y="20"/>
                      <a:pt x="104" y="40"/>
                      <a:pt x="144" y="96"/>
                    </a:cubicBezTo>
                    <a:cubicBezTo>
                      <a:pt x="184" y="152"/>
                      <a:pt x="216" y="224"/>
                      <a:pt x="240" y="336"/>
                    </a:cubicBezTo>
                    <a:cubicBezTo>
                      <a:pt x="264" y="448"/>
                      <a:pt x="280" y="696"/>
                      <a:pt x="288" y="768"/>
                    </a:cubicBezTo>
                  </a:path>
                </a:pathLst>
              </a:custGeom>
              <a:noFill/>
              <a:ln w="9525" cap="flat" cmpd="sng">
                <a:solidFill>
                  <a:schemeClr val="tx1">
                    <a:alpha val="100000"/>
                  </a:schemeClr>
                </a:solidFill>
                <a:prstDash val="solid"/>
                <a:miter lim="800000"/>
                <a:headEnd type="none" w="med" len="med"/>
                <a:tailEnd type="stealth" w="sm" len="sm"/>
              </a:ln>
            </p:spPr>
            <p:txBody>
              <a:bodyPr/>
              <a:p>
                <a:endParaRPr lang="zh-CN" altLang="en-US"/>
              </a:p>
            </p:txBody>
          </p:sp>
        </p:grpSp>
        <p:grpSp>
          <p:nvGrpSpPr>
            <p:cNvPr id="155655" name="Group 24"/>
            <p:cNvGrpSpPr/>
            <p:nvPr/>
          </p:nvGrpSpPr>
          <p:grpSpPr>
            <a:xfrm>
              <a:off x="2064" y="1536"/>
              <a:ext cx="1344" cy="1392"/>
              <a:chOff x="2016" y="2304"/>
              <a:chExt cx="1344" cy="1392"/>
            </a:xfrm>
          </p:grpSpPr>
          <p:sp>
            <p:nvSpPr>
              <p:cNvPr id="155664" name="Rectangle 25"/>
              <p:cNvSpPr/>
              <p:nvPr/>
            </p:nvSpPr>
            <p:spPr>
              <a:xfrm>
                <a:off x="2016" y="2304"/>
                <a:ext cx="1344" cy="1392"/>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55665" name="Oval 26"/>
              <p:cNvSpPr/>
              <p:nvPr/>
            </p:nvSpPr>
            <p:spPr>
              <a:xfrm>
                <a:off x="2592" y="24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55666" name="Oval 27"/>
              <p:cNvSpPr/>
              <p:nvPr/>
            </p:nvSpPr>
            <p:spPr>
              <a:xfrm>
                <a:off x="2592" y="292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55667" name="Oval 28"/>
              <p:cNvSpPr/>
              <p:nvPr/>
            </p:nvSpPr>
            <p:spPr>
              <a:xfrm>
                <a:off x="2208"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55668" name="Line 29"/>
              <p:cNvSpPr/>
              <p:nvPr/>
            </p:nvSpPr>
            <p:spPr>
              <a:xfrm flipH="1">
                <a:off x="2352" y="3120"/>
                <a:ext cx="288" cy="192"/>
              </a:xfrm>
              <a:prstGeom prst="line">
                <a:avLst/>
              </a:prstGeom>
              <a:ln w="9525" cap="flat" cmpd="sng">
                <a:solidFill>
                  <a:schemeClr val="tx1"/>
                </a:solidFill>
                <a:prstDash val="solid"/>
                <a:miter/>
                <a:headEnd type="none" w="med" len="med"/>
                <a:tailEnd type="stealth" w="sm" len="sm"/>
              </a:ln>
            </p:spPr>
          </p:sp>
          <p:sp>
            <p:nvSpPr>
              <p:cNvPr id="155669" name="Line 30"/>
              <p:cNvSpPr/>
              <p:nvPr/>
            </p:nvSpPr>
            <p:spPr>
              <a:xfrm>
                <a:off x="2688" y="2640"/>
                <a:ext cx="0" cy="288"/>
              </a:xfrm>
              <a:prstGeom prst="line">
                <a:avLst/>
              </a:prstGeom>
              <a:ln w="9525" cap="flat" cmpd="sng">
                <a:solidFill>
                  <a:schemeClr val="tx1"/>
                </a:solidFill>
                <a:prstDash val="solid"/>
                <a:miter/>
                <a:headEnd type="none" w="med" len="med"/>
                <a:tailEnd type="stealth" w="sm" len="sm"/>
              </a:ln>
            </p:spPr>
          </p:sp>
          <p:sp>
            <p:nvSpPr>
              <p:cNvPr id="155670" name="Line 31"/>
              <p:cNvSpPr/>
              <p:nvPr/>
            </p:nvSpPr>
            <p:spPr>
              <a:xfrm>
                <a:off x="2688" y="3120"/>
                <a:ext cx="336" cy="192"/>
              </a:xfrm>
              <a:prstGeom prst="line">
                <a:avLst/>
              </a:prstGeom>
              <a:ln w="9525" cap="flat" cmpd="sng">
                <a:solidFill>
                  <a:schemeClr val="tx1"/>
                </a:solidFill>
                <a:prstDash val="solid"/>
                <a:miter/>
                <a:headEnd type="none" w="med" len="med"/>
                <a:tailEnd type="stealth" w="sm" len="sm"/>
              </a:ln>
            </p:spPr>
          </p:sp>
          <p:sp>
            <p:nvSpPr>
              <p:cNvPr id="155671" name="Oval 32"/>
              <p:cNvSpPr/>
              <p:nvPr/>
            </p:nvSpPr>
            <p:spPr>
              <a:xfrm>
                <a:off x="2928"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55672" name="Line 33"/>
              <p:cNvSpPr/>
              <p:nvPr/>
            </p:nvSpPr>
            <p:spPr>
              <a:xfrm>
                <a:off x="2784" y="2592"/>
                <a:ext cx="288" cy="720"/>
              </a:xfrm>
              <a:prstGeom prst="line">
                <a:avLst/>
              </a:prstGeom>
              <a:ln w="38100" cap="flat" cmpd="dbl">
                <a:solidFill>
                  <a:schemeClr val="tx1"/>
                </a:solidFill>
                <a:prstDash val="dashDot"/>
                <a:miter/>
                <a:headEnd type="none" w="med" len="med"/>
                <a:tailEnd type="stealth" w="sm" len="sm"/>
              </a:ln>
            </p:spPr>
          </p:sp>
        </p:grpSp>
        <p:sp>
          <p:nvSpPr>
            <p:cNvPr id="155656" name="Rectangle 34"/>
            <p:cNvSpPr/>
            <p:nvPr/>
          </p:nvSpPr>
          <p:spPr>
            <a:xfrm>
              <a:off x="2448" y="1728"/>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1</a:t>
              </a:r>
              <a:endParaRPr lang="zh-CN" altLang="en-US" sz="1400" dirty="0">
                <a:latin typeface="Tahoma" panose="020B0604030504040204" pitchFamily="34" charset="0"/>
                <a:ea typeface="宋体" panose="02010600030101010101" pitchFamily="2" charset="-122"/>
              </a:endParaRPr>
            </a:p>
          </p:txBody>
        </p:sp>
        <p:sp>
          <p:nvSpPr>
            <p:cNvPr id="155657" name="Rectangle 35"/>
            <p:cNvSpPr/>
            <p:nvPr/>
          </p:nvSpPr>
          <p:spPr>
            <a:xfrm>
              <a:off x="2400" y="2160"/>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2</a:t>
              </a:r>
              <a:endParaRPr lang="zh-CN" altLang="en-US" sz="1400" dirty="0">
                <a:latin typeface="Tahoma" panose="020B0604030504040204" pitchFamily="34" charset="0"/>
                <a:ea typeface="宋体" panose="02010600030101010101" pitchFamily="2" charset="-122"/>
              </a:endParaRPr>
            </a:p>
          </p:txBody>
        </p:sp>
        <p:sp>
          <p:nvSpPr>
            <p:cNvPr id="155658" name="Rectangle 36"/>
            <p:cNvSpPr/>
            <p:nvPr/>
          </p:nvSpPr>
          <p:spPr>
            <a:xfrm>
              <a:off x="2736" y="2544"/>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4</a:t>
              </a:r>
              <a:endParaRPr lang="zh-CN" altLang="en-US" sz="1400" dirty="0">
                <a:latin typeface="Tahoma" panose="020B0604030504040204" pitchFamily="34" charset="0"/>
                <a:ea typeface="宋体" panose="02010600030101010101" pitchFamily="2" charset="-122"/>
              </a:endParaRPr>
            </a:p>
          </p:txBody>
        </p:sp>
        <p:sp>
          <p:nvSpPr>
            <p:cNvPr id="155659" name="Rectangle 37"/>
            <p:cNvSpPr/>
            <p:nvPr/>
          </p:nvSpPr>
          <p:spPr>
            <a:xfrm>
              <a:off x="2064" y="2544"/>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3</a:t>
              </a:r>
              <a:endParaRPr lang="zh-CN" altLang="en-US" sz="1400" dirty="0">
                <a:latin typeface="Tahoma" panose="020B0604030504040204" pitchFamily="34" charset="0"/>
                <a:ea typeface="宋体" panose="02010600030101010101" pitchFamily="2" charset="-122"/>
              </a:endParaRPr>
            </a:p>
          </p:txBody>
        </p:sp>
        <p:sp>
          <p:nvSpPr>
            <p:cNvPr id="155660" name="Rectangle 38"/>
            <p:cNvSpPr/>
            <p:nvPr/>
          </p:nvSpPr>
          <p:spPr>
            <a:xfrm>
              <a:off x="4176" y="1680"/>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1</a:t>
              </a:r>
              <a:endParaRPr lang="zh-CN" altLang="en-US" sz="1400" dirty="0">
                <a:latin typeface="Tahoma" panose="020B0604030504040204" pitchFamily="34" charset="0"/>
                <a:ea typeface="宋体" panose="02010600030101010101" pitchFamily="2" charset="-122"/>
              </a:endParaRPr>
            </a:p>
          </p:txBody>
        </p:sp>
        <p:sp>
          <p:nvSpPr>
            <p:cNvPr id="155661" name="Rectangle 39"/>
            <p:cNvSpPr/>
            <p:nvPr/>
          </p:nvSpPr>
          <p:spPr>
            <a:xfrm>
              <a:off x="4896" y="2448"/>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2</a:t>
              </a:r>
              <a:endParaRPr lang="zh-CN" altLang="en-US" sz="1400" dirty="0">
                <a:latin typeface="Tahoma" panose="020B0604030504040204" pitchFamily="34" charset="0"/>
                <a:ea typeface="宋体" panose="02010600030101010101" pitchFamily="2" charset="-122"/>
              </a:endParaRPr>
            </a:p>
          </p:txBody>
        </p:sp>
        <p:sp>
          <p:nvSpPr>
            <p:cNvPr id="155662" name="Rectangle 40"/>
            <p:cNvSpPr/>
            <p:nvPr/>
          </p:nvSpPr>
          <p:spPr>
            <a:xfrm>
              <a:off x="4128" y="2160"/>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3</a:t>
              </a:r>
              <a:endParaRPr lang="zh-CN" altLang="en-US" sz="1400" dirty="0">
                <a:latin typeface="Tahoma" panose="020B0604030504040204" pitchFamily="34" charset="0"/>
                <a:ea typeface="宋体" panose="02010600030101010101" pitchFamily="2" charset="-122"/>
              </a:endParaRPr>
            </a:p>
          </p:txBody>
        </p:sp>
        <p:sp>
          <p:nvSpPr>
            <p:cNvPr id="155663" name="Rectangle 41"/>
            <p:cNvSpPr/>
            <p:nvPr/>
          </p:nvSpPr>
          <p:spPr>
            <a:xfrm>
              <a:off x="3792" y="2448"/>
              <a:ext cx="192" cy="192"/>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dirty="0">
                  <a:latin typeface="Tahoma" panose="020B0604030504040204" pitchFamily="34" charset="0"/>
                  <a:ea typeface="宋体" panose="02010600030101010101" pitchFamily="2" charset="-122"/>
                </a:rPr>
                <a:t>4</a:t>
              </a:r>
              <a:endParaRPr lang="zh-CN" altLang="en-US" sz="1400" dirty="0">
                <a:latin typeface="Tahoma" panose="020B0604030504040204" pitchFamily="34" charset="0"/>
                <a:ea typeface="宋体" panose="02010600030101010101" pitchFamily="2" charset="-122"/>
              </a:endParaRPr>
            </a:p>
          </p:txBody>
        </p:sp>
      </p:gr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控制结点（1）</a:t>
            </a:r>
            <a:endParaRPr lang="en-US" altLang="zh-CN" dirty="0">
              <a:latin typeface="Times New Roman" panose="02020603050405020304" pitchFamily="18" charset="0"/>
              <a:ea typeface="宋体" panose="02010600030101010101" pitchFamily="2" charset="-122"/>
            </a:endParaRPr>
          </a:p>
        </p:txBody>
      </p:sp>
      <p:sp>
        <p:nvSpPr>
          <p:cNvPr id="157699"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控制结点（必经结点）描述了流图上如下关系</a:t>
            </a:r>
            <a:endParaRPr lang="en-US" altLang="zh-CN" sz="2400" b="1" dirty="0">
              <a:ea typeface="宋体" panose="02010600030101010101" pitchFamily="2" charset="-122"/>
            </a:endParaRPr>
          </a:p>
          <a:p>
            <a:pPr lvl="1">
              <a:lnSpc>
                <a:spcPct val="90000"/>
              </a:lnSpc>
            </a:pPr>
            <a:r>
              <a:rPr lang="en-US" altLang="zh-CN" sz="2200" b="1" dirty="0">
                <a:ea typeface="宋体" panose="02010600030101010101" pitchFamily="2" charset="-122"/>
              </a:rPr>
              <a:t>n dominates m (n dom m) &lt;==&gt; </a:t>
            </a:r>
            <a:r>
              <a:rPr lang="zh-CN" altLang="en-US" sz="2200" b="1" dirty="0">
                <a:ea typeface="宋体" panose="02010600030101010101" pitchFamily="2" charset="-122"/>
              </a:rPr>
              <a:t>从</a:t>
            </a:r>
            <a:r>
              <a:rPr lang="en-US" altLang="zh-CN" sz="2200" b="1" dirty="0">
                <a:ea typeface="宋体" panose="02010600030101010101" pitchFamily="2" charset="-122"/>
              </a:rPr>
              <a:t>root</a:t>
            </a:r>
            <a:r>
              <a:rPr lang="zh-CN" altLang="en-US" sz="2200" b="1" dirty="0">
                <a:ea typeface="宋体" panose="02010600030101010101" pitchFamily="2" charset="-122"/>
              </a:rPr>
              <a:t>到 </a:t>
            </a:r>
            <a:r>
              <a:rPr lang="en-US" altLang="zh-CN" sz="2200" b="1" dirty="0">
                <a:ea typeface="宋体" panose="02010600030101010101" pitchFamily="2" charset="-122"/>
              </a:rPr>
              <a:t>m</a:t>
            </a:r>
            <a:r>
              <a:rPr lang="zh-CN" altLang="en-US" sz="2200" b="1" dirty="0">
                <a:ea typeface="宋体" panose="02010600030101010101" pitchFamily="2" charset="-122"/>
              </a:rPr>
              <a:t>的所有路径都经过</a:t>
            </a:r>
            <a:r>
              <a:rPr lang="en-US" altLang="zh-CN" sz="2200" b="1" dirty="0">
                <a:ea typeface="宋体" panose="02010600030101010101" pitchFamily="2" charset="-122"/>
              </a:rPr>
              <a:t>n</a:t>
            </a:r>
            <a:endParaRPr lang="en-US" altLang="zh-CN" sz="2200" b="1" dirty="0">
              <a:ea typeface="宋体" panose="02010600030101010101" pitchFamily="2" charset="-122"/>
            </a:endParaRPr>
          </a:p>
          <a:p>
            <a:pPr lvl="2">
              <a:lnSpc>
                <a:spcPct val="90000"/>
              </a:lnSpc>
            </a:pPr>
            <a:r>
              <a:rPr lang="en-US" altLang="zh-CN" sz="2000" b="1" dirty="0">
                <a:ea typeface="宋体" panose="02010600030101010101" pitchFamily="2" charset="-122"/>
              </a:rPr>
              <a:t>n </a:t>
            </a:r>
            <a:r>
              <a:rPr lang="zh-CN" altLang="en-US" sz="2000" b="1" dirty="0">
                <a:ea typeface="宋体" panose="02010600030101010101" pitchFamily="2" charset="-122"/>
              </a:rPr>
              <a:t>是 </a:t>
            </a:r>
            <a:r>
              <a:rPr lang="en-US" altLang="zh-CN" sz="2000" b="1" dirty="0">
                <a:ea typeface="宋体" panose="02010600030101010101" pitchFamily="2" charset="-122"/>
              </a:rPr>
              <a:t>m </a:t>
            </a:r>
            <a:r>
              <a:rPr lang="zh-CN" altLang="en-US" sz="2000" b="1" dirty="0">
                <a:ea typeface="宋体" panose="02010600030101010101" pitchFamily="2" charset="-122"/>
              </a:rPr>
              <a:t>的</a:t>
            </a:r>
            <a:r>
              <a:rPr lang="en-US" altLang="zh-CN" sz="2000" b="1" dirty="0">
                <a:ea typeface="宋体" panose="02010600030101010101" pitchFamily="2" charset="-122"/>
              </a:rPr>
              <a:t>dominator</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真控制：如果</a:t>
            </a:r>
            <a:r>
              <a:rPr lang="en-US" altLang="zh-CN" sz="2000" b="1" dirty="0">
                <a:ea typeface="宋体" panose="02010600030101010101" pitchFamily="2" charset="-122"/>
              </a:rPr>
              <a:t>n != m，</a:t>
            </a:r>
            <a:r>
              <a:rPr lang="zh-CN" altLang="en-US" sz="2000" b="1" dirty="0">
                <a:ea typeface="宋体" panose="02010600030101010101" pitchFamily="2" charset="-122"/>
              </a:rPr>
              <a:t>则 </a:t>
            </a:r>
            <a:r>
              <a:rPr lang="en-US" altLang="zh-CN" sz="2000" b="1" dirty="0">
                <a:ea typeface="宋体" panose="02010600030101010101" pitchFamily="2" charset="-122"/>
              </a:rPr>
              <a:t>n strictly dominate m</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直接控制：如果不存在</a:t>
            </a:r>
            <a:r>
              <a:rPr lang="en-US" altLang="zh-CN" sz="2000" b="1" dirty="0">
                <a:ea typeface="宋体" panose="02010600030101010101" pitchFamily="2" charset="-122"/>
              </a:rPr>
              <a:t>n’, </a:t>
            </a:r>
            <a:r>
              <a:rPr lang="zh-CN" altLang="en-US" sz="2000" b="1" dirty="0">
                <a:ea typeface="宋体" panose="02010600030101010101" pitchFamily="2" charset="-122"/>
              </a:rPr>
              <a:t>使</a:t>
            </a:r>
            <a:r>
              <a:rPr lang="en-US" altLang="zh-CN" sz="2000" b="1" dirty="0">
                <a:ea typeface="宋体" panose="02010600030101010101" pitchFamily="2" charset="-122"/>
              </a:rPr>
              <a:t>n dom n’, n’ dom m, </a:t>
            </a:r>
            <a:r>
              <a:rPr lang="zh-CN" altLang="en-US" sz="2000" b="1" dirty="0">
                <a:ea typeface="宋体" panose="02010600030101010101" pitchFamily="2" charset="-122"/>
              </a:rPr>
              <a:t>则</a:t>
            </a:r>
            <a:r>
              <a:rPr lang="en-US" altLang="zh-CN" sz="2000" b="1" dirty="0">
                <a:ea typeface="宋体" panose="02010600030101010101" pitchFamily="2" charset="-122"/>
              </a:rPr>
              <a:t>n immediate dominate m</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控制关系构成偏序关系</a:t>
            </a:r>
            <a:endParaRPr lang="zh-CN" altLang="en-US" sz="2000" b="1" dirty="0">
              <a:ea typeface="宋体" panose="02010600030101010101" pitchFamily="2" charset="-122"/>
            </a:endParaRPr>
          </a:p>
          <a:p>
            <a:pPr lvl="3">
              <a:lnSpc>
                <a:spcPct val="90000"/>
              </a:lnSpc>
            </a:pPr>
            <a:r>
              <a:rPr lang="zh-CN" altLang="en-US" sz="1800" b="1" dirty="0">
                <a:ea typeface="宋体" panose="02010600030101010101" pitchFamily="2" charset="-122"/>
              </a:rPr>
              <a:t>自反：每个结点</a:t>
            </a:r>
            <a:r>
              <a:rPr lang="en-US" altLang="zh-CN" sz="1800" b="1" dirty="0">
                <a:ea typeface="宋体" panose="02010600030101010101" pitchFamily="2" charset="-122"/>
              </a:rPr>
              <a:t>dominate </a:t>
            </a:r>
            <a:r>
              <a:rPr lang="zh-CN" altLang="en-US" sz="1800" b="1" dirty="0">
                <a:ea typeface="宋体" panose="02010600030101010101" pitchFamily="2" charset="-122"/>
              </a:rPr>
              <a:t>自己</a:t>
            </a:r>
            <a:endParaRPr lang="zh-CN" altLang="en-US" sz="1800" b="1" dirty="0">
              <a:ea typeface="宋体" panose="02010600030101010101" pitchFamily="2" charset="-122"/>
            </a:endParaRPr>
          </a:p>
          <a:p>
            <a:pPr lvl="3">
              <a:lnSpc>
                <a:spcPct val="90000"/>
              </a:lnSpc>
            </a:pPr>
            <a:r>
              <a:rPr lang="zh-CN" altLang="en-US" sz="1800" b="1" dirty="0">
                <a:ea typeface="宋体" panose="02010600030101010101" pitchFamily="2" charset="-122"/>
              </a:rPr>
              <a:t>传递：</a:t>
            </a:r>
            <a:r>
              <a:rPr lang="en-US" altLang="zh-CN" sz="1800" b="1" dirty="0">
                <a:ea typeface="宋体" panose="02010600030101010101" pitchFamily="2" charset="-122"/>
              </a:rPr>
              <a:t>a dom b, b dom c ==&gt; a dom c</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反对称：</a:t>
            </a:r>
            <a:r>
              <a:rPr lang="en-US" altLang="zh-CN" sz="1800" b="1" dirty="0">
                <a:ea typeface="宋体" panose="02010600030101010101" pitchFamily="2" charset="-122"/>
              </a:rPr>
              <a:t>a dom b and b dom a ==&gt; b = a</a:t>
            </a:r>
            <a:endParaRPr lang="en-US" altLang="zh-CN" sz="1800" b="1" dirty="0">
              <a:ea typeface="宋体" panose="02010600030101010101" pitchFamily="2" charset="-122"/>
            </a:endParaRPr>
          </a:p>
          <a:p>
            <a:pPr lvl="2">
              <a:lnSpc>
                <a:spcPct val="90000"/>
              </a:lnSpc>
            </a:pPr>
            <a:r>
              <a:rPr lang="zh-CN" altLang="en-US" sz="2000" b="1" dirty="0">
                <a:ea typeface="宋体" panose="02010600030101010101" pitchFamily="2" charset="-122"/>
              </a:rPr>
              <a:t>对于每个结点</a:t>
            </a:r>
            <a:r>
              <a:rPr lang="en-US" altLang="zh-CN" sz="2000" b="1" dirty="0">
                <a:ea typeface="宋体" panose="02010600030101010101" pitchFamily="2" charset="-122"/>
              </a:rPr>
              <a:t>n∈N，</a:t>
            </a:r>
            <a:r>
              <a:rPr lang="zh-CN" altLang="en-US" sz="2000" b="1" dirty="0">
                <a:ea typeface="宋体" panose="02010600030101010101" pitchFamily="2" charset="-122"/>
              </a:rPr>
              <a:t>可以按控制关系排序</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对于每个结点</a:t>
            </a:r>
            <a:r>
              <a:rPr lang="en-US" altLang="zh-CN" sz="2000" b="1" dirty="0">
                <a:ea typeface="宋体" panose="02010600030101010101" pitchFamily="2" charset="-122"/>
              </a:rPr>
              <a:t>n’∈N – { s }，</a:t>
            </a:r>
            <a:r>
              <a:rPr lang="zh-CN" altLang="en-US" sz="2000" b="1" dirty="0">
                <a:ea typeface="宋体" panose="02010600030101010101" pitchFamily="2" charset="-122"/>
              </a:rPr>
              <a:t>它的直接控制结点是唯一的</a:t>
            </a:r>
            <a:endParaRPr lang="zh-CN" altLang="en-US" sz="2000" b="1" dirty="0">
              <a:ea typeface="宋体" panose="02010600030101010101" pitchFamily="2" charset="-122"/>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控制结点（2）</a:t>
            </a:r>
            <a:endParaRPr lang="en-US" altLang="zh-CN" dirty="0">
              <a:latin typeface="Times New Roman" panose="02020603050405020304" pitchFamily="18" charset="0"/>
              <a:ea typeface="宋体" panose="02010600030101010101" pitchFamily="2" charset="-122"/>
            </a:endParaRPr>
          </a:p>
        </p:txBody>
      </p:sp>
      <p:sp>
        <p:nvSpPr>
          <p:cNvPr id="159747" name="Rectangle 3"/>
          <p:cNvSpPr>
            <a:spLocks noGrp="1"/>
          </p:cNvSpPr>
          <p:nvPr>
            <p:ph idx="1"/>
          </p:nvPr>
        </p:nvSpPr>
        <p:spPr>
          <a:xfrm>
            <a:off x="990600" y="1524000"/>
            <a:ext cx="7391400" cy="4724400"/>
          </a:xfrm>
        </p:spPr>
        <p:txBody>
          <a:bodyPr vert="horz" wrap="square" lIns="92075" tIns="46038" rIns="92075" bIns="46038" anchor="t" anchorCtr="0"/>
          <a:p>
            <a:pPr lvl="2"/>
            <a:r>
              <a:rPr lang="en-US" altLang="zh-CN" sz="2000" b="1" dirty="0">
                <a:ea typeface="宋体" panose="02010600030101010101" pitchFamily="2" charset="-122"/>
              </a:rPr>
              <a:t>n’∈N – { s }，</a:t>
            </a:r>
            <a:r>
              <a:rPr lang="zh-CN" altLang="en-US" sz="2000" b="1" dirty="0">
                <a:ea typeface="宋体" panose="02010600030101010101" pitchFamily="2" charset="-122"/>
              </a:rPr>
              <a:t>如果</a:t>
            </a:r>
            <a:r>
              <a:rPr lang="en-US" altLang="zh-CN" sz="2000" b="1" dirty="0">
                <a:ea typeface="宋体" panose="02010600030101010101" pitchFamily="2" charset="-122"/>
              </a:rPr>
              <a:t>n</a:t>
            </a:r>
            <a:r>
              <a:rPr lang="zh-CN" altLang="en-US" sz="2000" b="1" dirty="0">
                <a:ea typeface="宋体" panose="02010600030101010101" pitchFamily="2" charset="-122"/>
              </a:rPr>
              <a:t>直接控制</a:t>
            </a:r>
            <a:r>
              <a:rPr lang="en-US" altLang="zh-CN" sz="2000" b="1" dirty="0">
                <a:ea typeface="宋体" panose="02010600030101010101" pitchFamily="2" charset="-122"/>
              </a:rPr>
              <a:t>n’，</a:t>
            </a:r>
            <a:r>
              <a:rPr lang="zh-CN" altLang="en-US" sz="2000" b="1" dirty="0">
                <a:ea typeface="宋体" panose="02010600030101010101" pitchFamily="2" charset="-122"/>
              </a:rPr>
              <a:t>则</a:t>
            </a:r>
            <a:r>
              <a:rPr lang="en-US" altLang="zh-CN" sz="2000" b="1" dirty="0">
                <a:ea typeface="宋体" panose="02010600030101010101" pitchFamily="2" charset="-122"/>
              </a:rPr>
              <a:t>n</a:t>
            </a:r>
            <a:r>
              <a:rPr lang="zh-CN" altLang="en-US" sz="2000" b="1" dirty="0">
                <a:ea typeface="宋体" panose="02010600030101010101" pitchFamily="2" charset="-122"/>
              </a:rPr>
              <a:t>是每条从</a:t>
            </a:r>
            <a:r>
              <a:rPr lang="en-US" altLang="zh-CN" sz="2000" b="1" dirty="0">
                <a:ea typeface="宋体" panose="02010600030101010101" pitchFamily="2" charset="-122"/>
              </a:rPr>
              <a:t>s</a:t>
            </a:r>
            <a:r>
              <a:rPr lang="zh-CN" altLang="en-US" sz="2000" b="1" dirty="0">
                <a:ea typeface="宋体" panose="02010600030101010101" pitchFamily="2" charset="-122"/>
              </a:rPr>
              <a:t>到</a:t>
            </a:r>
            <a:r>
              <a:rPr lang="en-US" altLang="zh-CN" sz="2000" b="1" dirty="0">
                <a:ea typeface="宋体" panose="02010600030101010101" pitchFamily="2" charset="-122"/>
              </a:rPr>
              <a:t>n’</a:t>
            </a:r>
            <a:r>
              <a:rPr lang="zh-CN" altLang="en-US" sz="2000" b="1" dirty="0">
                <a:ea typeface="宋体" panose="02010600030101010101" pitchFamily="2" charset="-122"/>
              </a:rPr>
              <a:t>的路径上的最后一个控制结点，而且</a:t>
            </a:r>
            <a:r>
              <a:rPr lang="en-US" altLang="zh-CN" sz="2000" b="1" dirty="0">
                <a:ea typeface="宋体" panose="02010600030101010101" pitchFamily="2" charset="-122"/>
              </a:rPr>
              <a:t>n</a:t>
            </a:r>
            <a:r>
              <a:rPr lang="zh-CN" altLang="en-US" sz="2000" b="1" dirty="0">
                <a:ea typeface="宋体" panose="02010600030101010101" pitchFamily="2" charset="-122"/>
              </a:rPr>
              <a:t>是唯一的，</a:t>
            </a:r>
            <a:r>
              <a:rPr lang="en-US" altLang="zh-CN" sz="2000" b="1" dirty="0">
                <a:ea typeface="宋体" panose="02010600030101010101" pitchFamily="2" charset="-122"/>
              </a:rPr>
              <a:t>n’</a:t>
            </a:r>
            <a:r>
              <a:rPr lang="zh-CN" altLang="en-US" sz="2000" b="1" dirty="0">
                <a:ea typeface="宋体" panose="02010600030101010101" pitchFamily="2" charset="-122"/>
              </a:rPr>
              <a:t>的其它控制结点都是</a:t>
            </a:r>
            <a:r>
              <a:rPr lang="en-US" altLang="zh-CN" sz="2000" b="1" dirty="0">
                <a:ea typeface="宋体" panose="02010600030101010101" pitchFamily="2" charset="-122"/>
              </a:rPr>
              <a:t>n</a:t>
            </a:r>
            <a:r>
              <a:rPr lang="zh-CN" altLang="en-US" sz="2000" b="1" dirty="0">
                <a:ea typeface="宋体" panose="02010600030101010101" pitchFamily="2" charset="-122"/>
              </a:rPr>
              <a:t>的控制结点</a:t>
            </a:r>
            <a:endParaRPr lang="zh-CN" altLang="en-US" sz="2000" b="1" dirty="0">
              <a:ea typeface="宋体" panose="02010600030101010101" pitchFamily="2" charset="-122"/>
            </a:endParaRPr>
          </a:p>
          <a:p>
            <a:pPr lvl="1"/>
            <a:r>
              <a:rPr lang="zh-CN" altLang="en-US" sz="2200" b="1" dirty="0">
                <a:ea typeface="宋体" panose="02010600030101010101" pitchFamily="2" charset="-122"/>
              </a:rPr>
              <a:t>控制结点可用于求变量特性，找归纳变量和确定循环等</a:t>
            </a:r>
            <a:endParaRPr lang="zh-CN" altLang="en-US" sz="2200" b="1" dirty="0">
              <a:ea typeface="宋体" panose="02010600030101010101" pitchFamily="2"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求控制结点的算法</a:t>
            </a:r>
            <a:endParaRPr lang="en-US" altLang="zh-CN" dirty="0">
              <a:latin typeface="Times New Roman" panose="02020603050405020304" pitchFamily="18" charset="0"/>
              <a:ea typeface="宋体" panose="02010600030101010101" pitchFamily="2" charset="-122"/>
            </a:endParaRPr>
          </a:p>
        </p:txBody>
      </p:sp>
      <p:sp>
        <p:nvSpPr>
          <p:cNvPr id="161795" name="Rectangle 3"/>
          <p:cNvSpPr>
            <a:spLocks noGrp="1"/>
          </p:cNvSpPr>
          <p:nvPr>
            <p:ph idx="1"/>
          </p:nvPr>
        </p:nvSpPr>
        <p:spPr>
          <a:xfrm>
            <a:off x="990600" y="1371600"/>
            <a:ext cx="7391400" cy="5181600"/>
          </a:xfrm>
        </p:spPr>
        <p:txBody>
          <a:bodyPr vert="horz" wrap="square" lIns="92075" tIns="46038" rIns="92075" bIns="46038" anchor="t" anchorCtr="0"/>
          <a:p>
            <a:pPr>
              <a:lnSpc>
                <a:spcPct val="80000"/>
              </a:lnSpc>
              <a:buNone/>
            </a:pPr>
            <a:r>
              <a:rPr lang="en-US" altLang="zh-CN" sz="1600" b="1" dirty="0">
                <a:ea typeface="宋体" panose="02010600030101010101" pitchFamily="2" charset="-122"/>
              </a:rPr>
              <a:t>Compute_Dominator()</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for each n </a:t>
            </a:r>
            <a:r>
              <a:rPr lang="en-US" altLang="zh-CN" sz="1600" b="1" dirty="0">
                <a:ea typeface="宋体" panose="02010600030101010101" pitchFamily="2" charset="-122"/>
                <a:sym typeface="Symbol" panose="05050102010706020507" pitchFamily="18" charset="2"/>
              </a:rPr>
              <a:t></a:t>
            </a:r>
            <a:r>
              <a:rPr lang="en-US" altLang="zh-CN" sz="1600" b="1" dirty="0">
                <a:ea typeface="宋体" panose="02010600030101010101" pitchFamily="2" charset="-122"/>
              </a:rPr>
              <a:t> N – {r} { DOM( n ) = N };</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DOM( r ) = { r }</a:t>
            </a:r>
            <a:endParaRPr lang="zh-CN" altLang="en-US" sz="1600" b="1" dirty="0">
              <a:ea typeface="宋体" panose="02010600030101010101" pitchFamily="2" charset="-122"/>
            </a:endParaRPr>
          </a:p>
          <a:p>
            <a:pPr>
              <a:lnSpc>
                <a:spcPct val="80000"/>
              </a:lnSpc>
              <a:buNone/>
            </a:pPr>
            <a:r>
              <a:rPr lang="en-US" altLang="zh-CN" sz="1600" b="1" dirty="0">
                <a:ea typeface="宋体" panose="02010600030101010101" pitchFamily="2" charset="-122"/>
              </a:rPr>
              <a:t>     change = true;</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while (change) {</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change = false;</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for each n </a:t>
            </a:r>
            <a:r>
              <a:rPr lang="en-US" altLang="zh-CN" sz="1600" b="1" dirty="0">
                <a:ea typeface="宋体" panose="02010600030101010101" pitchFamily="2" charset="-122"/>
                <a:sym typeface="Symbol" panose="05050102010706020507" pitchFamily="18" charset="2"/>
              </a:rPr>
              <a:t></a:t>
            </a:r>
            <a:r>
              <a:rPr lang="en-US" altLang="zh-CN" sz="1600" b="1" dirty="0">
                <a:ea typeface="宋体" panose="02010600030101010101" pitchFamily="2" charset="-122"/>
              </a:rPr>
              <a:t> N-{r} { </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D = N;</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for each p </a:t>
            </a:r>
            <a:r>
              <a:rPr lang="en-US" altLang="zh-CN" sz="1600" b="1" dirty="0">
                <a:ea typeface="宋体" panose="02010600030101010101" pitchFamily="2" charset="-122"/>
                <a:sym typeface="Symbol" panose="05050102010706020507" pitchFamily="18" charset="2"/>
              </a:rPr>
              <a:t></a:t>
            </a:r>
            <a:r>
              <a:rPr lang="en-US" altLang="zh-CN" sz="1600" b="1" dirty="0">
                <a:ea typeface="宋体" panose="02010600030101010101" pitchFamily="2" charset="-122"/>
              </a:rPr>
              <a:t> pred(n) { //</a:t>
            </a:r>
            <a:r>
              <a:rPr lang="zh-CN" altLang="en-US" sz="1600" b="1" dirty="0">
                <a:ea typeface="宋体" panose="02010600030101010101" pitchFamily="2" charset="-122"/>
              </a:rPr>
              <a:t>取所有前驱的</a:t>
            </a:r>
            <a:r>
              <a:rPr lang="en-US" altLang="zh-CN" sz="1600" b="1" dirty="0">
                <a:ea typeface="宋体" panose="02010600030101010101" pitchFamily="2" charset="-122"/>
              </a:rPr>
              <a:t>dom</a:t>
            </a:r>
            <a:r>
              <a:rPr lang="zh-CN" altLang="en-US" sz="1600" b="1" dirty="0">
                <a:ea typeface="宋体" panose="02010600030101010101" pitchFamily="2" charset="-122"/>
              </a:rPr>
              <a:t>相交</a:t>
            </a:r>
            <a:endParaRPr lang="zh-CN" altLang="en-US" sz="1600" b="1" dirty="0">
              <a:ea typeface="宋体" panose="02010600030101010101" pitchFamily="2" charset="-122"/>
            </a:endParaRPr>
          </a:p>
          <a:p>
            <a:pPr>
              <a:lnSpc>
                <a:spcPct val="80000"/>
              </a:lnSpc>
              <a:buNone/>
            </a:pPr>
            <a:r>
              <a:rPr lang="zh-CN" altLang="en-US" sz="1600" b="1" dirty="0">
                <a:ea typeface="宋体" panose="02010600030101010101" pitchFamily="2" charset="-122"/>
              </a:rPr>
              <a:t>                   </a:t>
            </a:r>
            <a:r>
              <a:rPr lang="en-US" altLang="zh-CN" sz="1600" b="1" dirty="0">
                <a:ea typeface="宋体" panose="02010600030101010101" pitchFamily="2" charset="-122"/>
              </a:rPr>
              <a:t>D </a:t>
            </a:r>
            <a:r>
              <a:rPr lang="en-US" altLang="zh-CN" sz="1600" b="1" dirty="0">
                <a:ea typeface="宋体" panose="02010600030101010101" pitchFamily="2" charset="-122"/>
                <a:sym typeface="Symbol" panose="05050102010706020507" pitchFamily="18" charset="2"/>
              </a:rPr>
              <a:t></a:t>
            </a:r>
            <a:r>
              <a:rPr lang="en-US" altLang="zh-CN" sz="1600" b="1" dirty="0">
                <a:ea typeface="宋体" panose="02010600030101010101" pitchFamily="2" charset="-122"/>
              </a:rPr>
              <a:t>= Dom(p)</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D = {n} </a:t>
            </a:r>
            <a:r>
              <a:rPr lang="en-US" altLang="zh-CN" sz="1600" b="1" dirty="0">
                <a:ea typeface="宋体" panose="02010600030101010101" pitchFamily="2" charset="-122"/>
                <a:sym typeface="Symbol" panose="05050102010706020507" pitchFamily="18" charset="2"/>
              </a:rPr>
              <a:t> </a:t>
            </a:r>
            <a:r>
              <a:rPr lang="en-US" altLang="zh-CN" sz="1600" b="1" dirty="0">
                <a:ea typeface="宋体" panose="02010600030101010101" pitchFamily="2" charset="-122"/>
              </a:rPr>
              <a:t>D                  // </a:t>
            </a:r>
            <a:r>
              <a:rPr lang="zh-CN" altLang="en-US" sz="1600" b="1" dirty="0">
                <a:ea typeface="宋体" panose="02010600030101010101" pitchFamily="2" charset="-122"/>
              </a:rPr>
              <a:t>并上本结点</a:t>
            </a:r>
            <a:endParaRPr lang="zh-CN" altLang="en-US" sz="1600" b="1" dirty="0">
              <a:ea typeface="宋体" panose="02010600030101010101" pitchFamily="2" charset="-122"/>
            </a:endParaRPr>
          </a:p>
          <a:p>
            <a:pPr>
              <a:lnSpc>
                <a:spcPct val="80000"/>
              </a:lnSpc>
              <a:buNone/>
            </a:pPr>
            <a:r>
              <a:rPr lang="zh-CN" altLang="en-US" sz="1600" b="1" dirty="0">
                <a:ea typeface="宋体" panose="02010600030101010101" pitchFamily="2" charset="-122"/>
              </a:rPr>
              <a:t>              </a:t>
            </a:r>
            <a:r>
              <a:rPr lang="en-US" altLang="zh-CN" sz="1600" b="1" dirty="0">
                <a:ea typeface="宋体" panose="02010600030101010101" pitchFamily="2" charset="-122"/>
              </a:rPr>
              <a:t>if  D != Dom(n) {</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change = true;</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                      Dom(n) = D;        // </a:t>
            </a:r>
            <a:r>
              <a:rPr lang="zh-CN" altLang="en-US" sz="1600" b="1" dirty="0">
                <a:ea typeface="宋体" panose="02010600030101010101" pitchFamily="2" charset="-122"/>
              </a:rPr>
              <a:t>更新</a:t>
            </a:r>
            <a:r>
              <a:rPr lang="en-US" altLang="zh-CN" sz="1600" b="1" dirty="0">
                <a:ea typeface="宋体" panose="02010600030101010101" pitchFamily="2" charset="-122"/>
              </a:rPr>
              <a:t>dom</a:t>
            </a:r>
            <a:r>
              <a:rPr lang="zh-CN" altLang="en-US" sz="1600" b="1" dirty="0">
                <a:ea typeface="宋体" panose="02010600030101010101" pitchFamily="2" charset="-122"/>
              </a:rPr>
              <a:t>集</a:t>
            </a:r>
            <a:endParaRPr lang="zh-CN" altLang="en-US" sz="1600" b="1" dirty="0">
              <a:ea typeface="宋体" panose="02010600030101010101" pitchFamily="2" charset="-122"/>
            </a:endParaRPr>
          </a:p>
          <a:p>
            <a:pPr>
              <a:lnSpc>
                <a:spcPct val="80000"/>
              </a:lnSpc>
              <a:buNone/>
            </a:pPr>
            <a:r>
              <a:rPr lang="zh-CN" altLang="en-US" sz="1600" b="1" dirty="0">
                <a:ea typeface="宋体" panose="02010600030101010101" pitchFamily="2" charset="-122"/>
              </a:rPr>
              <a:t>              }</a:t>
            </a:r>
            <a:endParaRPr lang="zh-CN" altLang="en-US" sz="1600" b="1" dirty="0">
              <a:ea typeface="宋体" panose="02010600030101010101" pitchFamily="2" charset="-122"/>
            </a:endParaRPr>
          </a:p>
          <a:p>
            <a:pPr>
              <a:lnSpc>
                <a:spcPct val="80000"/>
              </a:lnSpc>
              <a:buNone/>
            </a:pPr>
            <a:r>
              <a:rPr lang="zh-CN" altLang="en-US" sz="1600" b="1" dirty="0">
                <a:ea typeface="宋体" panose="02010600030101010101" pitchFamily="2" charset="-122"/>
              </a:rPr>
              <a:t>      }</a:t>
            </a:r>
            <a:endParaRPr lang="zh-CN" altLang="en-US" sz="1600" b="1" dirty="0">
              <a:ea typeface="宋体" panose="02010600030101010101" pitchFamily="2" charset="-122"/>
            </a:endParaRPr>
          </a:p>
          <a:p>
            <a:pPr>
              <a:lnSpc>
                <a:spcPct val="80000"/>
              </a:lnSpc>
              <a:buNone/>
            </a:pPr>
            <a:r>
              <a:rPr lang="zh-CN" altLang="en-US" sz="1600" b="1" dirty="0">
                <a:ea typeface="宋体" panose="02010600030101010101" pitchFamily="2" charset="-122"/>
              </a:rPr>
              <a:t>      </a:t>
            </a:r>
            <a:r>
              <a:rPr lang="en-US" altLang="zh-CN" sz="1600" b="1" dirty="0">
                <a:ea typeface="宋体" panose="02010600030101010101" pitchFamily="2" charset="-122"/>
              </a:rPr>
              <a:t>return DOM;</a:t>
            </a:r>
            <a:endParaRPr lang="en-US" altLang="zh-CN" sz="1600" b="1" dirty="0">
              <a:ea typeface="宋体" panose="02010600030101010101" pitchFamily="2" charset="-122"/>
            </a:endParaRPr>
          </a:p>
          <a:p>
            <a:pPr>
              <a:lnSpc>
                <a:spcPct val="80000"/>
              </a:lnSpc>
              <a:buNone/>
            </a:pPr>
            <a:r>
              <a:rPr lang="en-US" altLang="zh-CN" sz="1600" b="1" dirty="0">
                <a:ea typeface="宋体" panose="02010600030101010101" pitchFamily="2" charset="-122"/>
              </a:rPr>
              <a:t>}</a:t>
            </a:r>
            <a:endParaRPr lang="en-US" altLang="zh-CN" sz="1600" b="1" dirty="0">
              <a:ea typeface="宋体" panose="02010600030101010101" pitchFamily="2"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求控制结点的例子</a:t>
            </a:r>
            <a:endParaRPr lang="en-US" altLang="zh-CN" dirty="0">
              <a:latin typeface="Times New Roman" panose="02020603050405020304" pitchFamily="18" charset="0"/>
              <a:ea typeface="宋体" panose="02010600030101010101" pitchFamily="2" charset="-122"/>
            </a:endParaRPr>
          </a:p>
        </p:txBody>
      </p:sp>
      <p:sp>
        <p:nvSpPr>
          <p:cNvPr id="163843" name="Rectangle 5"/>
          <p:cNvSpPr>
            <a:spLocks noGrp="1"/>
          </p:cNvSpPr>
          <p:nvPr>
            <p:ph idx="1"/>
          </p:nvPr>
        </p:nvSpPr>
        <p:spPr>
          <a:xfrm>
            <a:off x="4495800" y="1447800"/>
            <a:ext cx="3733800" cy="4876800"/>
          </a:xfrm>
        </p:spPr>
        <p:txBody>
          <a:bodyPr vert="horz" wrap="square" lIns="92075" tIns="46038" rIns="92075" bIns="46038" anchor="t" anchorCtr="0"/>
          <a:p>
            <a:pPr>
              <a:buNone/>
            </a:pPr>
            <a:r>
              <a:rPr lang="zh-CN" altLang="en-US" sz="2000" dirty="0">
                <a:ea typeface="宋体" panose="02010600030101010101" pitchFamily="2" charset="-122"/>
              </a:rPr>
              <a:t>   </a:t>
            </a:r>
            <a:r>
              <a:rPr lang="en-US" altLang="zh-CN" sz="2000" dirty="0">
                <a:ea typeface="宋体" panose="02010600030101010101" pitchFamily="2" charset="-122"/>
              </a:rPr>
              <a:t>n        Dom(i)</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1        { 1 } </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2        { 1, 2 }</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3        { 1, 2, 3 }</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4        { 1,  2, 3, 4}</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5        { 1, 2, 3, 4, 5}</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6        { 1, 2, 3, 4, 5, 6}</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7        { 1, 2, 3, 4, 5, 7}</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8        { 1, 2, 3, 4, 5, 8}</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9        { 1, 2, 3, 4, 9}</a:t>
            </a:r>
            <a:endParaRPr lang="en-US" altLang="zh-CN" sz="2000" dirty="0">
              <a:ea typeface="宋体" panose="02010600030101010101" pitchFamily="2" charset="-122"/>
            </a:endParaRPr>
          </a:p>
          <a:p>
            <a:pPr>
              <a:buNone/>
            </a:pPr>
            <a:r>
              <a:rPr lang="en-US" altLang="zh-CN" sz="2000" dirty="0">
                <a:ea typeface="宋体" panose="02010600030101010101" pitchFamily="2" charset="-122"/>
              </a:rPr>
              <a:t>   10      { 1, 2, 10}</a:t>
            </a:r>
            <a:endParaRPr lang="en-US" altLang="zh-CN" sz="2000" dirty="0">
              <a:ea typeface="宋体" panose="02010600030101010101" pitchFamily="2" charset="-122"/>
            </a:endParaRPr>
          </a:p>
        </p:txBody>
      </p:sp>
      <p:grpSp>
        <p:nvGrpSpPr>
          <p:cNvPr id="163844" name="Group 6"/>
          <p:cNvGrpSpPr/>
          <p:nvPr/>
        </p:nvGrpSpPr>
        <p:grpSpPr>
          <a:xfrm>
            <a:off x="1219200" y="1447800"/>
            <a:ext cx="2362200" cy="4953000"/>
            <a:chOff x="528" y="864"/>
            <a:chExt cx="1488" cy="3120"/>
          </a:xfrm>
        </p:grpSpPr>
        <p:sp>
          <p:nvSpPr>
            <p:cNvPr id="163846" name="Rectangle 7"/>
            <p:cNvSpPr/>
            <p:nvPr/>
          </p:nvSpPr>
          <p:spPr>
            <a:xfrm>
              <a:off x="528" y="864"/>
              <a:ext cx="1488"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63847" name="Oval 8"/>
            <p:cNvSpPr/>
            <p:nvPr/>
          </p:nvSpPr>
          <p:spPr>
            <a:xfrm>
              <a:off x="1056" y="96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63848" name="Oval 9"/>
            <p:cNvSpPr/>
            <p:nvPr/>
          </p:nvSpPr>
          <p:spPr>
            <a:xfrm>
              <a:off x="1056" y="129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63849" name="Oval 10"/>
            <p:cNvSpPr/>
            <p:nvPr/>
          </p:nvSpPr>
          <p:spPr>
            <a:xfrm>
              <a:off x="1056" y="163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63850" name="Oval 11"/>
            <p:cNvSpPr/>
            <p:nvPr/>
          </p:nvSpPr>
          <p:spPr>
            <a:xfrm>
              <a:off x="1056" y="196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63851" name="Oval 12"/>
            <p:cNvSpPr/>
            <p:nvPr/>
          </p:nvSpPr>
          <p:spPr>
            <a:xfrm>
              <a:off x="1056" y="230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5</a:t>
              </a:r>
              <a:endParaRPr lang="zh-CN" altLang="en-US" sz="1800" dirty="0">
                <a:latin typeface="Tahoma" panose="020B0604030504040204" pitchFamily="34" charset="0"/>
                <a:ea typeface="宋体" panose="02010600030101010101" pitchFamily="2" charset="-122"/>
              </a:endParaRPr>
            </a:p>
          </p:txBody>
        </p:sp>
        <p:sp>
          <p:nvSpPr>
            <p:cNvPr id="163852" name="Oval 13"/>
            <p:cNvSpPr/>
            <p:nvPr/>
          </p:nvSpPr>
          <p:spPr>
            <a:xfrm>
              <a:off x="864"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6</a:t>
              </a:r>
              <a:endParaRPr lang="zh-CN" altLang="en-US" sz="1800" dirty="0">
                <a:latin typeface="Tahoma" panose="020B0604030504040204" pitchFamily="34" charset="0"/>
                <a:ea typeface="宋体" panose="02010600030101010101" pitchFamily="2" charset="-122"/>
              </a:endParaRPr>
            </a:p>
          </p:txBody>
        </p:sp>
        <p:sp>
          <p:nvSpPr>
            <p:cNvPr id="163853" name="Oval 14"/>
            <p:cNvSpPr/>
            <p:nvPr/>
          </p:nvSpPr>
          <p:spPr>
            <a:xfrm>
              <a:off x="1248"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7</a:t>
              </a:r>
              <a:endParaRPr lang="zh-CN" altLang="en-US" sz="1800" dirty="0">
                <a:latin typeface="Tahoma" panose="020B0604030504040204" pitchFamily="34" charset="0"/>
                <a:ea typeface="宋体" panose="02010600030101010101" pitchFamily="2" charset="-122"/>
              </a:endParaRPr>
            </a:p>
          </p:txBody>
        </p:sp>
        <p:sp>
          <p:nvSpPr>
            <p:cNvPr id="163854" name="Oval 15"/>
            <p:cNvSpPr/>
            <p:nvPr/>
          </p:nvSpPr>
          <p:spPr>
            <a:xfrm>
              <a:off x="1056" y="297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8</a:t>
              </a:r>
              <a:endParaRPr lang="zh-CN" altLang="en-US" sz="1800" dirty="0">
                <a:latin typeface="Tahoma" panose="020B0604030504040204" pitchFamily="34" charset="0"/>
                <a:ea typeface="宋体" panose="02010600030101010101" pitchFamily="2" charset="-122"/>
              </a:endParaRPr>
            </a:p>
          </p:txBody>
        </p:sp>
        <p:sp>
          <p:nvSpPr>
            <p:cNvPr id="163855" name="Oval 16"/>
            <p:cNvSpPr/>
            <p:nvPr/>
          </p:nvSpPr>
          <p:spPr>
            <a:xfrm>
              <a:off x="105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9</a:t>
              </a:r>
              <a:endParaRPr lang="zh-CN" altLang="en-US" sz="1800" dirty="0">
                <a:latin typeface="Tahoma" panose="020B0604030504040204" pitchFamily="34" charset="0"/>
                <a:ea typeface="宋体" panose="02010600030101010101" pitchFamily="2" charset="-122"/>
              </a:endParaRPr>
            </a:p>
          </p:txBody>
        </p:sp>
        <p:sp>
          <p:nvSpPr>
            <p:cNvPr id="163856" name="Oval 17"/>
            <p:cNvSpPr/>
            <p:nvPr/>
          </p:nvSpPr>
          <p:spPr>
            <a:xfrm>
              <a:off x="1056" y="36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10</a:t>
              </a:r>
              <a:endParaRPr lang="zh-CN" altLang="en-US" sz="1800" dirty="0">
                <a:latin typeface="Tahoma" panose="020B0604030504040204" pitchFamily="34" charset="0"/>
                <a:ea typeface="宋体" panose="02010600030101010101" pitchFamily="2" charset="-122"/>
              </a:endParaRPr>
            </a:p>
          </p:txBody>
        </p:sp>
        <p:sp>
          <p:nvSpPr>
            <p:cNvPr id="163857" name="Line 18"/>
            <p:cNvSpPr/>
            <p:nvPr/>
          </p:nvSpPr>
          <p:spPr>
            <a:xfrm>
              <a:off x="1152" y="1152"/>
              <a:ext cx="0" cy="144"/>
            </a:xfrm>
            <a:prstGeom prst="line">
              <a:avLst/>
            </a:prstGeom>
            <a:ln w="9525" cap="flat" cmpd="sng">
              <a:solidFill>
                <a:schemeClr val="tx1"/>
              </a:solidFill>
              <a:prstDash val="solid"/>
              <a:miter/>
              <a:headEnd type="none" w="med" len="med"/>
              <a:tailEnd type="stealth" w="sm" len="sm"/>
            </a:ln>
          </p:spPr>
        </p:sp>
        <p:sp>
          <p:nvSpPr>
            <p:cNvPr id="163858" name="Line 19"/>
            <p:cNvSpPr/>
            <p:nvPr/>
          </p:nvSpPr>
          <p:spPr>
            <a:xfrm>
              <a:off x="1152" y="1488"/>
              <a:ext cx="0" cy="144"/>
            </a:xfrm>
            <a:prstGeom prst="line">
              <a:avLst/>
            </a:prstGeom>
            <a:ln w="9525" cap="flat" cmpd="sng">
              <a:solidFill>
                <a:schemeClr val="tx1"/>
              </a:solidFill>
              <a:prstDash val="solid"/>
              <a:miter/>
              <a:headEnd type="none" w="med" len="med"/>
              <a:tailEnd type="stealth" w="sm" len="sm"/>
            </a:ln>
          </p:spPr>
        </p:sp>
        <p:sp>
          <p:nvSpPr>
            <p:cNvPr id="163859" name="Line 20"/>
            <p:cNvSpPr/>
            <p:nvPr/>
          </p:nvSpPr>
          <p:spPr>
            <a:xfrm>
              <a:off x="1152" y="1824"/>
              <a:ext cx="0" cy="144"/>
            </a:xfrm>
            <a:prstGeom prst="line">
              <a:avLst/>
            </a:prstGeom>
            <a:ln w="9525" cap="flat" cmpd="sng">
              <a:solidFill>
                <a:schemeClr val="tx1"/>
              </a:solidFill>
              <a:prstDash val="solid"/>
              <a:miter/>
              <a:headEnd type="none" w="med" len="med"/>
              <a:tailEnd type="stealth" w="sm" len="sm"/>
            </a:ln>
          </p:spPr>
        </p:sp>
        <p:sp>
          <p:nvSpPr>
            <p:cNvPr id="163860" name="Line 21"/>
            <p:cNvSpPr/>
            <p:nvPr/>
          </p:nvSpPr>
          <p:spPr>
            <a:xfrm>
              <a:off x="1152" y="2160"/>
              <a:ext cx="0" cy="144"/>
            </a:xfrm>
            <a:prstGeom prst="line">
              <a:avLst/>
            </a:prstGeom>
            <a:ln w="9525" cap="flat" cmpd="sng">
              <a:solidFill>
                <a:schemeClr val="tx1"/>
              </a:solidFill>
              <a:prstDash val="solid"/>
              <a:miter/>
              <a:headEnd type="none" w="med" len="med"/>
              <a:tailEnd type="stealth" w="sm" len="sm"/>
            </a:ln>
          </p:spPr>
        </p:sp>
        <p:sp>
          <p:nvSpPr>
            <p:cNvPr id="163861" name="Line 22"/>
            <p:cNvSpPr/>
            <p:nvPr/>
          </p:nvSpPr>
          <p:spPr>
            <a:xfrm flipH="1">
              <a:off x="960" y="2496"/>
              <a:ext cx="192" cy="144"/>
            </a:xfrm>
            <a:prstGeom prst="line">
              <a:avLst/>
            </a:prstGeom>
            <a:ln w="9525" cap="flat" cmpd="sng">
              <a:solidFill>
                <a:schemeClr val="tx1"/>
              </a:solidFill>
              <a:prstDash val="solid"/>
              <a:miter/>
              <a:headEnd type="none" w="med" len="med"/>
              <a:tailEnd type="stealth" w="sm" len="sm"/>
            </a:ln>
          </p:spPr>
        </p:sp>
        <p:sp>
          <p:nvSpPr>
            <p:cNvPr id="163862" name="Line 23"/>
            <p:cNvSpPr/>
            <p:nvPr/>
          </p:nvSpPr>
          <p:spPr>
            <a:xfrm>
              <a:off x="1200" y="2496"/>
              <a:ext cx="144" cy="144"/>
            </a:xfrm>
            <a:prstGeom prst="line">
              <a:avLst/>
            </a:prstGeom>
            <a:ln w="9525" cap="flat" cmpd="sng">
              <a:solidFill>
                <a:schemeClr val="tx1"/>
              </a:solidFill>
              <a:prstDash val="solid"/>
              <a:miter/>
              <a:headEnd type="none" w="med" len="med"/>
              <a:tailEnd type="stealth" w="sm" len="sm"/>
            </a:ln>
          </p:spPr>
        </p:sp>
        <p:sp>
          <p:nvSpPr>
            <p:cNvPr id="163863" name="Line 24"/>
            <p:cNvSpPr/>
            <p:nvPr/>
          </p:nvSpPr>
          <p:spPr>
            <a:xfrm>
              <a:off x="960" y="2832"/>
              <a:ext cx="144" cy="144"/>
            </a:xfrm>
            <a:prstGeom prst="line">
              <a:avLst/>
            </a:prstGeom>
            <a:ln w="9525" cap="flat" cmpd="sng">
              <a:solidFill>
                <a:schemeClr val="tx1"/>
              </a:solidFill>
              <a:prstDash val="solid"/>
              <a:miter/>
              <a:headEnd type="none" w="med" len="med"/>
              <a:tailEnd type="stealth" w="sm" len="sm"/>
            </a:ln>
          </p:spPr>
        </p:sp>
        <p:sp>
          <p:nvSpPr>
            <p:cNvPr id="163864" name="Line 25"/>
            <p:cNvSpPr/>
            <p:nvPr/>
          </p:nvSpPr>
          <p:spPr>
            <a:xfrm flipH="1">
              <a:off x="1200" y="2832"/>
              <a:ext cx="144" cy="144"/>
            </a:xfrm>
            <a:prstGeom prst="line">
              <a:avLst/>
            </a:prstGeom>
            <a:ln w="9525" cap="flat" cmpd="sng">
              <a:solidFill>
                <a:schemeClr val="tx1"/>
              </a:solidFill>
              <a:prstDash val="solid"/>
              <a:miter/>
              <a:headEnd type="none" w="med" len="med"/>
              <a:tailEnd type="stealth" w="sm" len="sm"/>
            </a:ln>
          </p:spPr>
        </p:sp>
        <p:sp>
          <p:nvSpPr>
            <p:cNvPr id="163865" name="Line 26"/>
            <p:cNvSpPr/>
            <p:nvPr/>
          </p:nvSpPr>
          <p:spPr>
            <a:xfrm flipH="1">
              <a:off x="1248" y="3744"/>
              <a:ext cx="480" cy="0"/>
            </a:xfrm>
            <a:prstGeom prst="line">
              <a:avLst/>
            </a:prstGeom>
            <a:ln w="9525" cap="flat" cmpd="sng">
              <a:solidFill>
                <a:schemeClr val="tx1"/>
              </a:solidFill>
              <a:prstDash val="solid"/>
              <a:miter/>
              <a:headEnd type="none" w="med" len="med"/>
              <a:tailEnd type="triangle" w="med" len="med"/>
            </a:ln>
          </p:spPr>
        </p:sp>
        <p:sp>
          <p:nvSpPr>
            <p:cNvPr id="163866" name="Line 27"/>
            <p:cNvSpPr/>
            <p:nvPr/>
          </p:nvSpPr>
          <p:spPr>
            <a:xfrm flipH="1">
              <a:off x="768" y="3072"/>
              <a:ext cx="288" cy="0"/>
            </a:xfrm>
            <a:prstGeom prst="line">
              <a:avLst/>
            </a:prstGeom>
            <a:ln w="9525" cap="flat" cmpd="sng">
              <a:solidFill>
                <a:schemeClr val="tx1"/>
              </a:solidFill>
              <a:prstDash val="solid"/>
              <a:miter/>
              <a:headEnd type="none" w="med" len="med"/>
              <a:tailEnd type="none" w="med" len="med"/>
            </a:ln>
          </p:spPr>
        </p:sp>
        <p:sp>
          <p:nvSpPr>
            <p:cNvPr id="163867" name="Line 28"/>
            <p:cNvSpPr/>
            <p:nvPr/>
          </p:nvSpPr>
          <p:spPr>
            <a:xfrm flipV="1">
              <a:off x="768" y="2064"/>
              <a:ext cx="0" cy="1008"/>
            </a:xfrm>
            <a:prstGeom prst="line">
              <a:avLst/>
            </a:prstGeom>
            <a:ln w="9525" cap="flat" cmpd="sng">
              <a:solidFill>
                <a:schemeClr val="tx1"/>
              </a:solidFill>
              <a:prstDash val="solid"/>
              <a:miter/>
              <a:headEnd type="none" w="med" len="med"/>
              <a:tailEnd type="none" w="med" len="med"/>
            </a:ln>
          </p:spPr>
        </p:sp>
        <p:sp>
          <p:nvSpPr>
            <p:cNvPr id="163868" name="Line 29"/>
            <p:cNvSpPr/>
            <p:nvPr/>
          </p:nvSpPr>
          <p:spPr>
            <a:xfrm>
              <a:off x="768" y="2064"/>
              <a:ext cx="288" cy="0"/>
            </a:xfrm>
            <a:prstGeom prst="line">
              <a:avLst/>
            </a:prstGeom>
            <a:ln w="9525" cap="flat" cmpd="sng">
              <a:solidFill>
                <a:schemeClr val="tx1"/>
              </a:solidFill>
              <a:prstDash val="solid"/>
              <a:miter/>
              <a:headEnd type="none" w="med" len="med"/>
              <a:tailEnd type="triangle" w="med" len="med"/>
            </a:ln>
          </p:spPr>
        </p:sp>
        <p:sp>
          <p:nvSpPr>
            <p:cNvPr id="163869" name="Line 30"/>
            <p:cNvSpPr/>
            <p:nvPr/>
          </p:nvSpPr>
          <p:spPr>
            <a:xfrm flipH="1">
              <a:off x="672" y="3408"/>
              <a:ext cx="384" cy="0"/>
            </a:xfrm>
            <a:prstGeom prst="line">
              <a:avLst/>
            </a:prstGeom>
            <a:ln w="9525" cap="flat" cmpd="sng">
              <a:solidFill>
                <a:schemeClr val="tx1"/>
              </a:solidFill>
              <a:prstDash val="solid"/>
              <a:miter/>
              <a:headEnd type="none" w="med" len="med"/>
              <a:tailEnd type="none" w="med" len="med"/>
            </a:ln>
          </p:spPr>
        </p:sp>
        <p:sp>
          <p:nvSpPr>
            <p:cNvPr id="163870" name="Line 31"/>
            <p:cNvSpPr/>
            <p:nvPr/>
          </p:nvSpPr>
          <p:spPr>
            <a:xfrm flipV="1">
              <a:off x="672" y="1392"/>
              <a:ext cx="0" cy="2016"/>
            </a:xfrm>
            <a:prstGeom prst="line">
              <a:avLst/>
            </a:prstGeom>
            <a:ln w="9525" cap="flat" cmpd="sng">
              <a:solidFill>
                <a:schemeClr val="tx1"/>
              </a:solidFill>
              <a:prstDash val="solid"/>
              <a:miter/>
              <a:headEnd type="none" w="med" len="med"/>
              <a:tailEnd type="none" w="med" len="med"/>
            </a:ln>
          </p:spPr>
        </p:sp>
        <p:sp>
          <p:nvSpPr>
            <p:cNvPr id="163871" name="Line 32"/>
            <p:cNvSpPr/>
            <p:nvPr/>
          </p:nvSpPr>
          <p:spPr>
            <a:xfrm>
              <a:off x="672" y="1392"/>
              <a:ext cx="384" cy="0"/>
            </a:xfrm>
            <a:prstGeom prst="line">
              <a:avLst/>
            </a:prstGeom>
            <a:ln w="9525" cap="flat" cmpd="sng">
              <a:solidFill>
                <a:schemeClr val="tx1"/>
              </a:solidFill>
              <a:prstDash val="solid"/>
              <a:miter/>
              <a:headEnd type="none" w="med" len="med"/>
              <a:tailEnd type="triangle" w="med" len="med"/>
            </a:ln>
          </p:spPr>
        </p:sp>
        <p:sp>
          <p:nvSpPr>
            <p:cNvPr id="163872" name="Line 33"/>
            <p:cNvSpPr/>
            <p:nvPr/>
          </p:nvSpPr>
          <p:spPr>
            <a:xfrm>
              <a:off x="1248" y="1392"/>
              <a:ext cx="480" cy="0"/>
            </a:xfrm>
            <a:prstGeom prst="line">
              <a:avLst/>
            </a:prstGeom>
            <a:ln w="9525" cap="flat" cmpd="sng">
              <a:solidFill>
                <a:schemeClr val="tx1"/>
              </a:solidFill>
              <a:prstDash val="solid"/>
              <a:miter/>
              <a:headEnd type="none" w="med" len="med"/>
              <a:tailEnd type="none" w="med" len="med"/>
            </a:ln>
          </p:spPr>
        </p:sp>
        <p:sp>
          <p:nvSpPr>
            <p:cNvPr id="163873" name="Line 34"/>
            <p:cNvSpPr/>
            <p:nvPr/>
          </p:nvSpPr>
          <p:spPr>
            <a:xfrm>
              <a:off x="1728" y="1392"/>
              <a:ext cx="0" cy="2352"/>
            </a:xfrm>
            <a:prstGeom prst="line">
              <a:avLst/>
            </a:prstGeom>
            <a:ln w="9525" cap="flat" cmpd="sng">
              <a:solidFill>
                <a:schemeClr val="tx1"/>
              </a:solidFill>
              <a:prstDash val="solid"/>
              <a:miter/>
              <a:headEnd type="none" w="med" len="med"/>
              <a:tailEnd type="none" w="med" len="med"/>
            </a:ln>
          </p:spPr>
        </p:sp>
        <p:sp>
          <p:nvSpPr>
            <p:cNvPr id="163874" name="Line 35"/>
            <p:cNvSpPr/>
            <p:nvPr/>
          </p:nvSpPr>
          <p:spPr>
            <a:xfrm>
              <a:off x="1248" y="2064"/>
              <a:ext cx="336" cy="0"/>
            </a:xfrm>
            <a:prstGeom prst="line">
              <a:avLst/>
            </a:prstGeom>
            <a:ln w="9525" cap="flat" cmpd="sng">
              <a:solidFill>
                <a:schemeClr val="tx1"/>
              </a:solidFill>
              <a:prstDash val="solid"/>
              <a:miter/>
              <a:headEnd type="none" w="med" len="med"/>
              <a:tailEnd type="none" w="med" len="med"/>
            </a:ln>
          </p:spPr>
        </p:sp>
        <p:sp>
          <p:nvSpPr>
            <p:cNvPr id="163875" name="Line 36"/>
            <p:cNvSpPr/>
            <p:nvPr/>
          </p:nvSpPr>
          <p:spPr>
            <a:xfrm>
              <a:off x="1584" y="2064"/>
              <a:ext cx="0" cy="1344"/>
            </a:xfrm>
            <a:prstGeom prst="line">
              <a:avLst/>
            </a:prstGeom>
            <a:ln w="9525" cap="flat" cmpd="sng">
              <a:solidFill>
                <a:schemeClr val="tx1"/>
              </a:solidFill>
              <a:prstDash val="solid"/>
              <a:miter/>
              <a:headEnd type="none" w="med" len="med"/>
              <a:tailEnd type="none" w="med" len="med"/>
            </a:ln>
          </p:spPr>
        </p:sp>
        <p:sp>
          <p:nvSpPr>
            <p:cNvPr id="163876" name="Line 37"/>
            <p:cNvSpPr/>
            <p:nvPr/>
          </p:nvSpPr>
          <p:spPr>
            <a:xfrm flipH="1">
              <a:off x="1248" y="3408"/>
              <a:ext cx="336" cy="0"/>
            </a:xfrm>
            <a:prstGeom prst="line">
              <a:avLst/>
            </a:prstGeom>
            <a:ln w="9525" cap="flat" cmpd="sng">
              <a:solidFill>
                <a:schemeClr val="tx1"/>
              </a:solidFill>
              <a:prstDash val="solid"/>
              <a:miter/>
              <a:headEnd type="none" w="med" len="med"/>
              <a:tailEnd type="triangle" w="med" len="med"/>
            </a:ln>
          </p:spPr>
        </p:sp>
      </p:grpSp>
      <p:sp>
        <p:nvSpPr>
          <p:cNvPr id="163845" name="Line 38"/>
          <p:cNvSpPr/>
          <p:nvPr/>
        </p:nvSpPr>
        <p:spPr>
          <a:xfrm>
            <a:off x="4419600" y="1828800"/>
            <a:ext cx="3505200" cy="0"/>
          </a:xfrm>
          <a:prstGeom prst="line">
            <a:avLst/>
          </a:prstGeom>
          <a:ln w="9525" cap="flat" cmpd="sng">
            <a:solidFill>
              <a:schemeClr val="tx1"/>
            </a:solidFill>
            <a:prstDash val="solid"/>
            <a:miter/>
            <a:headEnd type="none" w="med" len="med"/>
            <a:tailEnd type="none" w="med" len="med"/>
          </a:ln>
        </p:spPr>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控制树</a:t>
            </a:r>
            <a:endParaRPr lang="en-US" altLang="zh-CN" dirty="0">
              <a:latin typeface="Times New Roman" panose="02020603050405020304" pitchFamily="18" charset="0"/>
              <a:ea typeface="宋体" panose="02010600030101010101" pitchFamily="2" charset="-122"/>
            </a:endParaRPr>
          </a:p>
        </p:txBody>
      </p:sp>
      <p:grpSp>
        <p:nvGrpSpPr>
          <p:cNvPr id="165891" name="Group 4"/>
          <p:cNvGrpSpPr/>
          <p:nvPr/>
        </p:nvGrpSpPr>
        <p:grpSpPr>
          <a:xfrm>
            <a:off x="1219200" y="1447800"/>
            <a:ext cx="2362200" cy="4953000"/>
            <a:chOff x="528" y="864"/>
            <a:chExt cx="1488" cy="3120"/>
          </a:xfrm>
        </p:grpSpPr>
        <p:sp>
          <p:nvSpPr>
            <p:cNvPr id="165913" name="Rectangle 5"/>
            <p:cNvSpPr/>
            <p:nvPr/>
          </p:nvSpPr>
          <p:spPr>
            <a:xfrm>
              <a:off x="528" y="864"/>
              <a:ext cx="1488"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65914" name="Oval 6"/>
            <p:cNvSpPr/>
            <p:nvPr/>
          </p:nvSpPr>
          <p:spPr>
            <a:xfrm>
              <a:off x="1056" y="96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65915" name="Oval 7"/>
            <p:cNvSpPr/>
            <p:nvPr/>
          </p:nvSpPr>
          <p:spPr>
            <a:xfrm>
              <a:off x="1056" y="129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65916" name="Oval 8"/>
            <p:cNvSpPr/>
            <p:nvPr/>
          </p:nvSpPr>
          <p:spPr>
            <a:xfrm>
              <a:off x="1056" y="163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65917" name="Oval 9"/>
            <p:cNvSpPr/>
            <p:nvPr/>
          </p:nvSpPr>
          <p:spPr>
            <a:xfrm>
              <a:off x="1056" y="196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65918" name="Oval 10"/>
            <p:cNvSpPr/>
            <p:nvPr/>
          </p:nvSpPr>
          <p:spPr>
            <a:xfrm>
              <a:off x="1056" y="230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5</a:t>
              </a:r>
              <a:endParaRPr lang="zh-CN" altLang="en-US" sz="1800" dirty="0">
                <a:latin typeface="Tahoma" panose="020B0604030504040204" pitchFamily="34" charset="0"/>
                <a:ea typeface="宋体" panose="02010600030101010101" pitchFamily="2" charset="-122"/>
              </a:endParaRPr>
            </a:p>
          </p:txBody>
        </p:sp>
        <p:sp>
          <p:nvSpPr>
            <p:cNvPr id="165919" name="Oval 11"/>
            <p:cNvSpPr/>
            <p:nvPr/>
          </p:nvSpPr>
          <p:spPr>
            <a:xfrm>
              <a:off x="864"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6</a:t>
              </a:r>
              <a:endParaRPr lang="zh-CN" altLang="en-US" sz="1800" dirty="0">
                <a:latin typeface="Tahoma" panose="020B0604030504040204" pitchFamily="34" charset="0"/>
                <a:ea typeface="宋体" panose="02010600030101010101" pitchFamily="2" charset="-122"/>
              </a:endParaRPr>
            </a:p>
          </p:txBody>
        </p:sp>
        <p:sp>
          <p:nvSpPr>
            <p:cNvPr id="165920" name="Oval 12"/>
            <p:cNvSpPr/>
            <p:nvPr/>
          </p:nvSpPr>
          <p:spPr>
            <a:xfrm>
              <a:off x="1248" y="26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7</a:t>
              </a:r>
              <a:endParaRPr lang="zh-CN" altLang="en-US" sz="1800" dirty="0">
                <a:latin typeface="Tahoma" panose="020B0604030504040204" pitchFamily="34" charset="0"/>
                <a:ea typeface="宋体" panose="02010600030101010101" pitchFamily="2" charset="-122"/>
              </a:endParaRPr>
            </a:p>
          </p:txBody>
        </p:sp>
        <p:sp>
          <p:nvSpPr>
            <p:cNvPr id="165921" name="Oval 13"/>
            <p:cNvSpPr/>
            <p:nvPr/>
          </p:nvSpPr>
          <p:spPr>
            <a:xfrm>
              <a:off x="1056" y="297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8</a:t>
              </a:r>
              <a:endParaRPr lang="zh-CN" altLang="en-US" sz="1800" dirty="0">
                <a:latin typeface="Tahoma" panose="020B0604030504040204" pitchFamily="34" charset="0"/>
                <a:ea typeface="宋体" panose="02010600030101010101" pitchFamily="2" charset="-122"/>
              </a:endParaRPr>
            </a:p>
          </p:txBody>
        </p:sp>
        <p:sp>
          <p:nvSpPr>
            <p:cNvPr id="165922" name="Oval 14"/>
            <p:cNvSpPr/>
            <p:nvPr/>
          </p:nvSpPr>
          <p:spPr>
            <a:xfrm>
              <a:off x="1056" y="331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9</a:t>
              </a:r>
              <a:endParaRPr lang="zh-CN" altLang="en-US" sz="1800" dirty="0">
                <a:latin typeface="Tahoma" panose="020B0604030504040204" pitchFamily="34" charset="0"/>
                <a:ea typeface="宋体" panose="02010600030101010101" pitchFamily="2" charset="-122"/>
              </a:endParaRPr>
            </a:p>
          </p:txBody>
        </p:sp>
        <p:sp>
          <p:nvSpPr>
            <p:cNvPr id="165923" name="Oval 15"/>
            <p:cNvSpPr/>
            <p:nvPr/>
          </p:nvSpPr>
          <p:spPr>
            <a:xfrm>
              <a:off x="1056" y="364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10</a:t>
              </a:r>
              <a:endParaRPr lang="zh-CN" altLang="en-US" sz="1800" dirty="0">
                <a:latin typeface="Tahoma" panose="020B0604030504040204" pitchFamily="34" charset="0"/>
                <a:ea typeface="宋体" panose="02010600030101010101" pitchFamily="2" charset="-122"/>
              </a:endParaRPr>
            </a:p>
          </p:txBody>
        </p:sp>
        <p:sp>
          <p:nvSpPr>
            <p:cNvPr id="165924" name="Line 16"/>
            <p:cNvSpPr/>
            <p:nvPr/>
          </p:nvSpPr>
          <p:spPr>
            <a:xfrm>
              <a:off x="1152" y="1152"/>
              <a:ext cx="0" cy="144"/>
            </a:xfrm>
            <a:prstGeom prst="line">
              <a:avLst/>
            </a:prstGeom>
            <a:ln w="9525" cap="flat" cmpd="sng">
              <a:solidFill>
                <a:schemeClr val="tx1"/>
              </a:solidFill>
              <a:prstDash val="solid"/>
              <a:miter/>
              <a:headEnd type="none" w="med" len="med"/>
              <a:tailEnd type="stealth" w="sm" len="sm"/>
            </a:ln>
          </p:spPr>
        </p:sp>
        <p:sp>
          <p:nvSpPr>
            <p:cNvPr id="165925" name="Line 17"/>
            <p:cNvSpPr/>
            <p:nvPr/>
          </p:nvSpPr>
          <p:spPr>
            <a:xfrm>
              <a:off x="1152" y="1488"/>
              <a:ext cx="0" cy="144"/>
            </a:xfrm>
            <a:prstGeom prst="line">
              <a:avLst/>
            </a:prstGeom>
            <a:ln w="9525" cap="flat" cmpd="sng">
              <a:solidFill>
                <a:schemeClr val="tx1"/>
              </a:solidFill>
              <a:prstDash val="solid"/>
              <a:miter/>
              <a:headEnd type="none" w="med" len="med"/>
              <a:tailEnd type="stealth" w="sm" len="sm"/>
            </a:ln>
          </p:spPr>
        </p:sp>
        <p:sp>
          <p:nvSpPr>
            <p:cNvPr id="165926" name="Line 18"/>
            <p:cNvSpPr/>
            <p:nvPr/>
          </p:nvSpPr>
          <p:spPr>
            <a:xfrm>
              <a:off x="1152" y="1824"/>
              <a:ext cx="0" cy="144"/>
            </a:xfrm>
            <a:prstGeom prst="line">
              <a:avLst/>
            </a:prstGeom>
            <a:ln w="9525" cap="flat" cmpd="sng">
              <a:solidFill>
                <a:schemeClr val="tx1"/>
              </a:solidFill>
              <a:prstDash val="solid"/>
              <a:miter/>
              <a:headEnd type="none" w="med" len="med"/>
              <a:tailEnd type="stealth" w="sm" len="sm"/>
            </a:ln>
          </p:spPr>
        </p:sp>
        <p:sp>
          <p:nvSpPr>
            <p:cNvPr id="165927" name="Line 19"/>
            <p:cNvSpPr/>
            <p:nvPr/>
          </p:nvSpPr>
          <p:spPr>
            <a:xfrm>
              <a:off x="1152" y="2160"/>
              <a:ext cx="0" cy="144"/>
            </a:xfrm>
            <a:prstGeom prst="line">
              <a:avLst/>
            </a:prstGeom>
            <a:ln w="9525" cap="flat" cmpd="sng">
              <a:solidFill>
                <a:schemeClr val="tx1"/>
              </a:solidFill>
              <a:prstDash val="solid"/>
              <a:miter/>
              <a:headEnd type="none" w="med" len="med"/>
              <a:tailEnd type="stealth" w="sm" len="sm"/>
            </a:ln>
          </p:spPr>
        </p:sp>
        <p:sp>
          <p:nvSpPr>
            <p:cNvPr id="165928" name="Line 20"/>
            <p:cNvSpPr/>
            <p:nvPr/>
          </p:nvSpPr>
          <p:spPr>
            <a:xfrm flipH="1">
              <a:off x="960" y="2496"/>
              <a:ext cx="192" cy="144"/>
            </a:xfrm>
            <a:prstGeom prst="line">
              <a:avLst/>
            </a:prstGeom>
            <a:ln w="9525" cap="flat" cmpd="sng">
              <a:solidFill>
                <a:schemeClr val="tx1"/>
              </a:solidFill>
              <a:prstDash val="solid"/>
              <a:miter/>
              <a:headEnd type="none" w="med" len="med"/>
              <a:tailEnd type="stealth" w="sm" len="sm"/>
            </a:ln>
          </p:spPr>
        </p:sp>
        <p:sp>
          <p:nvSpPr>
            <p:cNvPr id="165929" name="Line 21"/>
            <p:cNvSpPr/>
            <p:nvPr/>
          </p:nvSpPr>
          <p:spPr>
            <a:xfrm>
              <a:off x="1200" y="2496"/>
              <a:ext cx="144" cy="144"/>
            </a:xfrm>
            <a:prstGeom prst="line">
              <a:avLst/>
            </a:prstGeom>
            <a:ln w="9525" cap="flat" cmpd="sng">
              <a:solidFill>
                <a:schemeClr val="tx1"/>
              </a:solidFill>
              <a:prstDash val="solid"/>
              <a:miter/>
              <a:headEnd type="none" w="med" len="med"/>
              <a:tailEnd type="stealth" w="sm" len="sm"/>
            </a:ln>
          </p:spPr>
        </p:sp>
        <p:sp>
          <p:nvSpPr>
            <p:cNvPr id="165930" name="Line 22"/>
            <p:cNvSpPr/>
            <p:nvPr/>
          </p:nvSpPr>
          <p:spPr>
            <a:xfrm>
              <a:off x="960" y="2832"/>
              <a:ext cx="144" cy="144"/>
            </a:xfrm>
            <a:prstGeom prst="line">
              <a:avLst/>
            </a:prstGeom>
            <a:ln w="9525" cap="flat" cmpd="sng">
              <a:solidFill>
                <a:schemeClr val="tx1"/>
              </a:solidFill>
              <a:prstDash val="solid"/>
              <a:miter/>
              <a:headEnd type="none" w="med" len="med"/>
              <a:tailEnd type="stealth" w="sm" len="sm"/>
            </a:ln>
          </p:spPr>
        </p:sp>
        <p:sp>
          <p:nvSpPr>
            <p:cNvPr id="165931" name="Line 23"/>
            <p:cNvSpPr/>
            <p:nvPr/>
          </p:nvSpPr>
          <p:spPr>
            <a:xfrm flipH="1">
              <a:off x="1200" y="2832"/>
              <a:ext cx="144" cy="144"/>
            </a:xfrm>
            <a:prstGeom prst="line">
              <a:avLst/>
            </a:prstGeom>
            <a:ln w="9525" cap="flat" cmpd="sng">
              <a:solidFill>
                <a:schemeClr val="tx1"/>
              </a:solidFill>
              <a:prstDash val="solid"/>
              <a:miter/>
              <a:headEnd type="none" w="med" len="med"/>
              <a:tailEnd type="stealth" w="sm" len="sm"/>
            </a:ln>
          </p:spPr>
        </p:sp>
        <p:sp>
          <p:nvSpPr>
            <p:cNvPr id="165932" name="Line 24"/>
            <p:cNvSpPr/>
            <p:nvPr/>
          </p:nvSpPr>
          <p:spPr>
            <a:xfrm flipH="1">
              <a:off x="1248" y="3744"/>
              <a:ext cx="480" cy="0"/>
            </a:xfrm>
            <a:prstGeom prst="line">
              <a:avLst/>
            </a:prstGeom>
            <a:ln w="9525" cap="flat" cmpd="sng">
              <a:solidFill>
                <a:schemeClr val="tx1"/>
              </a:solidFill>
              <a:prstDash val="solid"/>
              <a:miter/>
              <a:headEnd type="none" w="med" len="med"/>
              <a:tailEnd type="triangle" w="med" len="med"/>
            </a:ln>
          </p:spPr>
        </p:sp>
        <p:sp>
          <p:nvSpPr>
            <p:cNvPr id="165933" name="Line 25"/>
            <p:cNvSpPr/>
            <p:nvPr/>
          </p:nvSpPr>
          <p:spPr>
            <a:xfrm flipH="1">
              <a:off x="768" y="3072"/>
              <a:ext cx="288" cy="0"/>
            </a:xfrm>
            <a:prstGeom prst="line">
              <a:avLst/>
            </a:prstGeom>
            <a:ln w="9525" cap="flat" cmpd="sng">
              <a:solidFill>
                <a:schemeClr val="tx1"/>
              </a:solidFill>
              <a:prstDash val="solid"/>
              <a:miter/>
              <a:headEnd type="none" w="med" len="med"/>
              <a:tailEnd type="none" w="med" len="med"/>
            </a:ln>
          </p:spPr>
        </p:sp>
        <p:sp>
          <p:nvSpPr>
            <p:cNvPr id="165934" name="Line 26"/>
            <p:cNvSpPr/>
            <p:nvPr/>
          </p:nvSpPr>
          <p:spPr>
            <a:xfrm flipV="1">
              <a:off x="768" y="2064"/>
              <a:ext cx="0" cy="1008"/>
            </a:xfrm>
            <a:prstGeom prst="line">
              <a:avLst/>
            </a:prstGeom>
            <a:ln w="9525" cap="flat" cmpd="sng">
              <a:solidFill>
                <a:schemeClr val="tx1"/>
              </a:solidFill>
              <a:prstDash val="solid"/>
              <a:miter/>
              <a:headEnd type="none" w="med" len="med"/>
              <a:tailEnd type="none" w="med" len="med"/>
            </a:ln>
          </p:spPr>
        </p:sp>
        <p:sp>
          <p:nvSpPr>
            <p:cNvPr id="165935" name="Line 27"/>
            <p:cNvSpPr/>
            <p:nvPr/>
          </p:nvSpPr>
          <p:spPr>
            <a:xfrm>
              <a:off x="768" y="2064"/>
              <a:ext cx="288" cy="0"/>
            </a:xfrm>
            <a:prstGeom prst="line">
              <a:avLst/>
            </a:prstGeom>
            <a:ln w="9525" cap="flat" cmpd="sng">
              <a:solidFill>
                <a:schemeClr val="tx1"/>
              </a:solidFill>
              <a:prstDash val="solid"/>
              <a:miter/>
              <a:headEnd type="none" w="med" len="med"/>
              <a:tailEnd type="triangle" w="med" len="med"/>
            </a:ln>
          </p:spPr>
        </p:sp>
        <p:sp>
          <p:nvSpPr>
            <p:cNvPr id="165936" name="Line 28"/>
            <p:cNvSpPr/>
            <p:nvPr/>
          </p:nvSpPr>
          <p:spPr>
            <a:xfrm flipH="1">
              <a:off x="672" y="3408"/>
              <a:ext cx="384" cy="0"/>
            </a:xfrm>
            <a:prstGeom prst="line">
              <a:avLst/>
            </a:prstGeom>
            <a:ln w="9525" cap="flat" cmpd="sng">
              <a:solidFill>
                <a:schemeClr val="tx1"/>
              </a:solidFill>
              <a:prstDash val="solid"/>
              <a:miter/>
              <a:headEnd type="none" w="med" len="med"/>
              <a:tailEnd type="none" w="med" len="med"/>
            </a:ln>
          </p:spPr>
        </p:sp>
        <p:sp>
          <p:nvSpPr>
            <p:cNvPr id="165937" name="Line 29"/>
            <p:cNvSpPr/>
            <p:nvPr/>
          </p:nvSpPr>
          <p:spPr>
            <a:xfrm flipV="1">
              <a:off x="672" y="1392"/>
              <a:ext cx="0" cy="2016"/>
            </a:xfrm>
            <a:prstGeom prst="line">
              <a:avLst/>
            </a:prstGeom>
            <a:ln w="9525" cap="flat" cmpd="sng">
              <a:solidFill>
                <a:schemeClr val="tx1"/>
              </a:solidFill>
              <a:prstDash val="solid"/>
              <a:miter/>
              <a:headEnd type="none" w="med" len="med"/>
              <a:tailEnd type="none" w="med" len="med"/>
            </a:ln>
          </p:spPr>
        </p:sp>
        <p:sp>
          <p:nvSpPr>
            <p:cNvPr id="165938" name="Line 30"/>
            <p:cNvSpPr/>
            <p:nvPr/>
          </p:nvSpPr>
          <p:spPr>
            <a:xfrm>
              <a:off x="672" y="1392"/>
              <a:ext cx="384" cy="0"/>
            </a:xfrm>
            <a:prstGeom prst="line">
              <a:avLst/>
            </a:prstGeom>
            <a:ln w="9525" cap="flat" cmpd="sng">
              <a:solidFill>
                <a:schemeClr val="tx1"/>
              </a:solidFill>
              <a:prstDash val="solid"/>
              <a:miter/>
              <a:headEnd type="none" w="med" len="med"/>
              <a:tailEnd type="triangle" w="med" len="med"/>
            </a:ln>
          </p:spPr>
        </p:sp>
        <p:sp>
          <p:nvSpPr>
            <p:cNvPr id="165939" name="Line 31"/>
            <p:cNvSpPr/>
            <p:nvPr/>
          </p:nvSpPr>
          <p:spPr>
            <a:xfrm>
              <a:off x="1248" y="1392"/>
              <a:ext cx="480" cy="0"/>
            </a:xfrm>
            <a:prstGeom prst="line">
              <a:avLst/>
            </a:prstGeom>
            <a:ln w="9525" cap="flat" cmpd="sng">
              <a:solidFill>
                <a:schemeClr val="tx1"/>
              </a:solidFill>
              <a:prstDash val="solid"/>
              <a:miter/>
              <a:headEnd type="none" w="med" len="med"/>
              <a:tailEnd type="none" w="med" len="med"/>
            </a:ln>
          </p:spPr>
        </p:sp>
        <p:sp>
          <p:nvSpPr>
            <p:cNvPr id="165940" name="Line 32"/>
            <p:cNvSpPr/>
            <p:nvPr/>
          </p:nvSpPr>
          <p:spPr>
            <a:xfrm>
              <a:off x="1728" y="1392"/>
              <a:ext cx="0" cy="2352"/>
            </a:xfrm>
            <a:prstGeom prst="line">
              <a:avLst/>
            </a:prstGeom>
            <a:ln w="9525" cap="flat" cmpd="sng">
              <a:solidFill>
                <a:schemeClr val="tx1"/>
              </a:solidFill>
              <a:prstDash val="solid"/>
              <a:miter/>
              <a:headEnd type="none" w="med" len="med"/>
              <a:tailEnd type="none" w="med" len="med"/>
            </a:ln>
          </p:spPr>
        </p:sp>
        <p:sp>
          <p:nvSpPr>
            <p:cNvPr id="165941" name="Line 33"/>
            <p:cNvSpPr/>
            <p:nvPr/>
          </p:nvSpPr>
          <p:spPr>
            <a:xfrm>
              <a:off x="1248" y="2064"/>
              <a:ext cx="336" cy="0"/>
            </a:xfrm>
            <a:prstGeom prst="line">
              <a:avLst/>
            </a:prstGeom>
            <a:ln w="9525" cap="flat" cmpd="sng">
              <a:solidFill>
                <a:schemeClr val="tx1"/>
              </a:solidFill>
              <a:prstDash val="solid"/>
              <a:miter/>
              <a:headEnd type="none" w="med" len="med"/>
              <a:tailEnd type="none" w="med" len="med"/>
            </a:ln>
          </p:spPr>
        </p:sp>
        <p:sp>
          <p:nvSpPr>
            <p:cNvPr id="165942" name="Line 34"/>
            <p:cNvSpPr/>
            <p:nvPr/>
          </p:nvSpPr>
          <p:spPr>
            <a:xfrm>
              <a:off x="1584" y="2064"/>
              <a:ext cx="0" cy="1344"/>
            </a:xfrm>
            <a:prstGeom prst="line">
              <a:avLst/>
            </a:prstGeom>
            <a:ln w="9525" cap="flat" cmpd="sng">
              <a:solidFill>
                <a:schemeClr val="tx1"/>
              </a:solidFill>
              <a:prstDash val="solid"/>
              <a:miter/>
              <a:headEnd type="none" w="med" len="med"/>
              <a:tailEnd type="none" w="med" len="med"/>
            </a:ln>
          </p:spPr>
        </p:sp>
        <p:sp>
          <p:nvSpPr>
            <p:cNvPr id="165943" name="Line 35"/>
            <p:cNvSpPr/>
            <p:nvPr/>
          </p:nvSpPr>
          <p:spPr>
            <a:xfrm flipH="1">
              <a:off x="1248" y="3408"/>
              <a:ext cx="336" cy="0"/>
            </a:xfrm>
            <a:prstGeom prst="line">
              <a:avLst/>
            </a:prstGeom>
            <a:ln w="9525" cap="flat" cmpd="sng">
              <a:solidFill>
                <a:schemeClr val="tx1"/>
              </a:solidFill>
              <a:prstDash val="solid"/>
              <a:miter/>
              <a:headEnd type="none" w="med" len="med"/>
              <a:tailEnd type="triangle" w="med" len="med"/>
            </a:ln>
          </p:spPr>
        </p:sp>
      </p:grpSp>
      <p:grpSp>
        <p:nvGrpSpPr>
          <p:cNvPr id="165892" name="Group 58"/>
          <p:cNvGrpSpPr/>
          <p:nvPr/>
        </p:nvGrpSpPr>
        <p:grpSpPr>
          <a:xfrm>
            <a:off x="4724400" y="1447800"/>
            <a:ext cx="2895600" cy="4953000"/>
            <a:chOff x="2976" y="912"/>
            <a:chExt cx="1824" cy="3120"/>
          </a:xfrm>
        </p:grpSpPr>
        <p:sp>
          <p:nvSpPr>
            <p:cNvPr id="165893" name="Rectangle 38"/>
            <p:cNvSpPr/>
            <p:nvPr/>
          </p:nvSpPr>
          <p:spPr>
            <a:xfrm>
              <a:off x="2976" y="912"/>
              <a:ext cx="1824"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65894" name="Oval 39"/>
            <p:cNvSpPr/>
            <p:nvPr/>
          </p:nvSpPr>
          <p:spPr>
            <a:xfrm>
              <a:off x="3840" y="1008"/>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65895" name="Oval 40"/>
            <p:cNvSpPr/>
            <p:nvPr/>
          </p:nvSpPr>
          <p:spPr>
            <a:xfrm>
              <a:off x="3840" y="144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65896" name="Oval 41"/>
            <p:cNvSpPr/>
            <p:nvPr/>
          </p:nvSpPr>
          <p:spPr>
            <a:xfrm>
              <a:off x="3504" y="182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65897" name="Oval 42"/>
            <p:cNvSpPr/>
            <p:nvPr/>
          </p:nvSpPr>
          <p:spPr>
            <a:xfrm>
              <a:off x="3504" y="2352"/>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4</a:t>
              </a:r>
              <a:endParaRPr lang="zh-CN" altLang="en-US" sz="1800" dirty="0">
                <a:latin typeface="Tahoma" panose="020B0604030504040204" pitchFamily="34" charset="0"/>
                <a:ea typeface="宋体" panose="02010600030101010101" pitchFamily="2" charset="-122"/>
              </a:endParaRPr>
            </a:p>
          </p:txBody>
        </p:sp>
        <p:sp>
          <p:nvSpPr>
            <p:cNvPr id="165898" name="Oval 43"/>
            <p:cNvSpPr/>
            <p:nvPr/>
          </p:nvSpPr>
          <p:spPr>
            <a:xfrm>
              <a:off x="3504" y="288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5</a:t>
              </a:r>
              <a:endParaRPr lang="zh-CN" altLang="en-US" sz="1800" dirty="0">
                <a:latin typeface="Tahoma" panose="020B0604030504040204" pitchFamily="34" charset="0"/>
                <a:ea typeface="宋体" panose="02010600030101010101" pitchFamily="2" charset="-122"/>
              </a:endParaRPr>
            </a:p>
          </p:txBody>
        </p:sp>
        <p:sp>
          <p:nvSpPr>
            <p:cNvPr id="165899" name="Oval 44"/>
            <p:cNvSpPr/>
            <p:nvPr/>
          </p:nvSpPr>
          <p:spPr>
            <a:xfrm>
              <a:off x="3024" y="345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6</a:t>
              </a:r>
              <a:endParaRPr lang="zh-CN" altLang="en-US" sz="1800" dirty="0">
                <a:latin typeface="Tahoma" panose="020B0604030504040204" pitchFamily="34" charset="0"/>
                <a:ea typeface="宋体" panose="02010600030101010101" pitchFamily="2" charset="-122"/>
              </a:endParaRPr>
            </a:p>
          </p:txBody>
        </p:sp>
        <p:sp>
          <p:nvSpPr>
            <p:cNvPr id="165900" name="Oval 45"/>
            <p:cNvSpPr/>
            <p:nvPr/>
          </p:nvSpPr>
          <p:spPr>
            <a:xfrm>
              <a:off x="3936" y="345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7</a:t>
              </a:r>
              <a:endParaRPr lang="zh-CN" altLang="en-US" sz="1800" dirty="0">
                <a:latin typeface="Tahoma" panose="020B0604030504040204" pitchFamily="34" charset="0"/>
                <a:ea typeface="宋体" panose="02010600030101010101" pitchFamily="2" charset="-122"/>
              </a:endParaRPr>
            </a:p>
          </p:txBody>
        </p:sp>
        <p:sp>
          <p:nvSpPr>
            <p:cNvPr id="165901" name="Oval 46"/>
            <p:cNvSpPr/>
            <p:nvPr/>
          </p:nvSpPr>
          <p:spPr>
            <a:xfrm>
              <a:off x="3504" y="3456"/>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8</a:t>
              </a:r>
              <a:endParaRPr lang="zh-CN" altLang="en-US" sz="1800" dirty="0">
                <a:latin typeface="Tahoma" panose="020B0604030504040204" pitchFamily="34" charset="0"/>
                <a:ea typeface="宋体" panose="02010600030101010101" pitchFamily="2" charset="-122"/>
              </a:endParaRPr>
            </a:p>
          </p:txBody>
        </p:sp>
        <p:sp>
          <p:nvSpPr>
            <p:cNvPr id="165902" name="Oval 47"/>
            <p:cNvSpPr/>
            <p:nvPr/>
          </p:nvSpPr>
          <p:spPr>
            <a:xfrm>
              <a:off x="4080" y="288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9</a:t>
              </a:r>
              <a:endParaRPr lang="zh-CN" altLang="en-US" sz="1800" dirty="0">
                <a:latin typeface="Tahoma" panose="020B0604030504040204" pitchFamily="34" charset="0"/>
                <a:ea typeface="宋体" panose="02010600030101010101" pitchFamily="2" charset="-122"/>
              </a:endParaRPr>
            </a:p>
          </p:txBody>
        </p:sp>
        <p:sp>
          <p:nvSpPr>
            <p:cNvPr id="165903" name="Oval 48"/>
            <p:cNvSpPr/>
            <p:nvPr/>
          </p:nvSpPr>
          <p:spPr>
            <a:xfrm>
              <a:off x="4272" y="182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10</a:t>
              </a:r>
              <a:endParaRPr lang="zh-CN" altLang="en-US" sz="1800" dirty="0">
                <a:latin typeface="Tahoma" panose="020B0604030504040204" pitchFamily="34" charset="0"/>
                <a:ea typeface="宋体" panose="02010600030101010101" pitchFamily="2" charset="-122"/>
              </a:endParaRPr>
            </a:p>
          </p:txBody>
        </p:sp>
        <p:sp>
          <p:nvSpPr>
            <p:cNvPr id="165904" name="Line 49"/>
            <p:cNvSpPr/>
            <p:nvPr/>
          </p:nvSpPr>
          <p:spPr>
            <a:xfrm>
              <a:off x="3936" y="1200"/>
              <a:ext cx="0" cy="240"/>
            </a:xfrm>
            <a:prstGeom prst="line">
              <a:avLst/>
            </a:prstGeom>
            <a:ln w="9525" cap="flat" cmpd="sng">
              <a:solidFill>
                <a:schemeClr val="tx1"/>
              </a:solidFill>
              <a:prstDash val="solid"/>
              <a:miter/>
              <a:headEnd type="none" w="med" len="med"/>
              <a:tailEnd type="stealth" w="sm" len="sm"/>
            </a:ln>
          </p:spPr>
        </p:sp>
        <p:sp>
          <p:nvSpPr>
            <p:cNvPr id="165905" name="Line 50"/>
            <p:cNvSpPr/>
            <p:nvPr/>
          </p:nvSpPr>
          <p:spPr>
            <a:xfrm flipH="1">
              <a:off x="3552" y="1584"/>
              <a:ext cx="288" cy="240"/>
            </a:xfrm>
            <a:prstGeom prst="line">
              <a:avLst/>
            </a:prstGeom>
            <a:ln w="9525" cap="flat" cmpd="sng">
              <a:solidFill>
                <a:schemeClr val="tx1"/>
              </a:solidFill>
              <a:prstDash val="solid"/>
              <a:miter/>
              <a:headEnd type="none" w="med" len="med"/>
              <a:tailEnd type="stealth" w="sm" len="sm"/>
            </a:ln>
          </p:spPr>
        </p:sp>
        <p:sp>
          <p:nvSpPr>
            <p:cNvPr id="165906" name="Line 51"/>
            <p:cNvSpPr/>
            <p:nvPr/>
          </p:nvSpPr>
          <p:spPr>
            <a:xfrm>
              <a:off x="3600" y="2016"/>
              <a:ext cx="0" cy="336"/>
            </a:xfrm>
            <a:prstGeom prst="line">
              <a:avLst/>
            </a:prstGeom>
            <a:ln w="9525" cap="flat" cmpd="sng">
              <a:solidFill>
                <a:schemeClr val="tx1"/>
              </a:solidFill>
              <a:prstDash val="solid"/>
              <a:miter/>
              <a:headEnd type="none" w="med" len="med"/>
              <a:tailEnd type="stealth" w="sm" len="sm"/>
            </a:ln>
          </p:spPr>
        </p:sp>
        <p:sp>
          <p:nvSpPr>
            <p:cNvPr id="165907" name="Line 52"/>
            <p:cNvSpPr/>
            <p:nvPr/>
          </p:nvSpPr>
          <p:spPr>
            <a:xfrm>
              <a:off x="3600" y="2544"/>
              <a:ext cx="0" cy="336"/>
            </a:xfrm>
            <a:prstGeom prst="line">
              <a:avLst/>
            </a:prstGeom>
            <a:ln w="9525" cap="flat" cmpd="sng">
              <a:solidFill>
                <a:schemeClr val="tx1"/>
              </a:solidFill>
              <a:prstDash val="solid"/>
              <a:miter/>
              <a:headEnd type="none" w="med" len="med"/>
              <a:tailEnd type="stealth" w="sm" len="sm"/>
            </a:ln>
          </p:spPr>
        </p:sp>
        <p:sp>
          <p:nvSpPr>
            <p:cNvPr id="165908" name="Line 53"/>
            <p:cNvSpPr/>
            <p:nvPr/>
          </p:nvSpPr>
          <p:spPr>
            <a:xfrm flipH="1">
              <a:off x="3168" y="3072"/>
              <a:ext cx="384" cy="384"/>
            </a:xfrm>
            <a:prstGeom prst="line">
              <a:avLst/>
            </a:prstGeom>
            <a:ln w="9525" cap="flat" cmpd="sng">
              <a:solidFill>
                <a:schemeClr val="tx1"/>
              </a:solidFill>
              <a:prstDash val="solid"/>
              <a:miter/>
              <a:headEnd type="none" w="med" len="med"/>
              <a:tailEnd type="stealth" w="sm" len="sm"/>
            </a:ln>
          </p:spPr>
        </p:sp>
        <p:sp>
          <p:nvSpPr>
            <p:cNvPr id="165909" name="Line 54"/>
            <p:cNvSpPr/>
            <p:nvPr/>
          </p:nvSpPr>
          <p:spPr>
            <a:xfrm>
              <a:off x="3648" y="3072"/>
              <a:ext cx="384" cy="384"/>
            </a:xfrm>
            <a:prstGeom prst="line">
              <a:avLst/>
            </a:prstGeom>
            <a:ln w="9525" cap="flat" cmpd="sng">
              <a:solidFill>
                <a:schemeClr val="tx1"/>
              </a:solidFill>
              <a:prstDash val="solid"/>
              <a:miter/>
              <a:headEnd type="none" w="med" len="med"/>
              <a:tailEnd type="stealth" w="sm" len="sm"/>
            </a:ln>
          </p:spPr>
        </p:sp>
        <p:sp>
          <p:nvSpPr>
            <p:cNvPr id="165910" name="Line 55"/>
            <p:cNvSpPr/>
            <p:nvPr/>
          </p:nvSpPr>
          <p:spPr>
            <a:xfrm>
              <a:off x="3648" y="2544"/>
              <a:ext cx="528" cy="336"/>
            </a:xfrm>
            <a:prstGeom prst="line">
              <a:avLst/>
            </a:prstGeom>
            <a:ln w="9525" cap="flat" cmpd="sng">
              <a:solidFill>
                <a:schemeClr val="tx1"/>
              </a:solidFill>
              <a:prstDash val="solid"/>
              <a:miter/>
              <a:headEnd type="none" w="med" len="med"/>
              <a:tailEnd type="stealth" w="sm" len="sm"/>
            </a:ln>
          </p:spPr>
        </p:sp>
        <p:sp>
          <p:nvSpPr>
            <p:cNvPr id="165911" name="Line 56"/>
            <p:cNvSpPr/>
            <p:nvPr/>
          </p:nvSpPr>
          <p:spPr>
            <a:xfrm flipH="1">
              <a:off x="3600" y="3072"/>
              <a:ext cx="0" cy="384"/>
            </a:xfrm>
            <a:prstGeom prst="line">
              <a:avLst/>
            </a:prstGeom>
            <a:ln w="9525" cap="flat" cmpd="sng">
              <a:solidFill>
                <a:schemeClr val="tx1"/>
              </a:solidFill>
              <a:prstDash val="solid"/>
              <a:miter/>
              <a:headEnd type="none" w="med" len="med"/>
              <a:tailEnd type="stealth" w="sm" len="sm"/>
            </a:ln>
          </p:spPr>
        </p:sp>
        <p:sp>
          <p:nvSpPr>
            <p:cNvPr id="165912" name="Line 57"/>
            <p:cNvSpPr/>
            <p:nvPr/>
          </p:nvSpPr>
          <p:spPr>
            <a:xfrm>
              <a:off x="4032" y="1584"/>
              <a:ext cx="336" cy="240"/>
            </a:xfrm>
            <a:prstGeom prst="line">
              <a:avLst/>
            </a:prstGeom>
            <a:ln w="9525" cap="flat" cmpd="sng">
              <a:solidFill>
                <a:schemeClr val="tx1"/>
              </a:solidFill>
              <a:prstDash val="solid"/>
              <a:miter/>
              <a:headEnd type="none" w="med" len="med"/>
              <a:tailEnd type="stealth" w="sm" len="sm"/>
            </a:ln>
          </p:spPr>
        </p:sp>
      </p:gr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后控制结点</a:t>
            </a:r>
            <a:endParaRPr lang="en-US" altLang="zh-CN" dirty="0">
              <a:latin typeface="Times New Roman" panose="02020603050405020304" pitchFamily="18" charset="0"/>
              <a:ea typeface="宋体" panose="02010600030101010101" pitchFamily="2" charset="-122"/>
            </a:endParaRPr>
          </a:p>
        </p:txBody>
      </p:sp>
      <p:sp>
        <p:nvSpPr>
          <p:cNvPr id="16793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后控制结点：描述了流图中结点间的如下关系</a:t>
            </a:r>
            <a:endParaRPr lang="zh-CN" altLang="en-US" sz="2400" b="1" dirty="0">
              <a:ea typeface="宋体" panose="02010600030101010101" pitchFamily="2" charset="-122"/>
            </a:endParaRPr>
          </a:p>
          <a:p>
            <a:pPr lvl="1"/>
            <a:r>
              <a:rPr lang="en-US" altLang="zh-CN" sz="2200" b="1" dirty="0">
                <a:ea typeface="宋体" panose="02010600030101010101" pitchFamily="2" charset="-122"/>
              </a:rPr>
              <a:t>n post-dominates m (n pdom m) &lt;==&gt; </a:t>
            </a:r>
            <a:r>
              <a:rPr lang="zh-CN" altLang="en-US" sz="2200" b="1" dirty="0">
                <a:ea typeface="宋体" panose="02010600030101010101" pitchFamily="2" charset="-122"/>
              </a:rPr>
              <a:t>从</a:t>
            </a:r>
            <a:r>
              <a:rPr lang="en-US" altLang="zh-CN" sz="2200" b="1" dirty="0">
                <a:ea typeface="宋体" panose="02010600030101010101" pitchFamily="2" charset="-122"/>
              </a:rPr>
              <a:t>m</a:t>
            </a:r>
            <a:r>
              <a:rPr lang="zh-CN" altLang="en-US" sz="2200" b="1" dirty="0">
                <a:ea typeface="宋体" panose="02010600030101010101" pitchFamily="2" charset="-122"/>
              </a:rPr>
              <a:t>到 </a:t>
            </a:r>
            <a:r>
              <a:rPr lang="en-US" altLang="zh-CN" sz="2200" b="1" dirty="0">
                <a:ea typeface="宋体" panose="02010600030101010101" pitchFamily="2" charset="-122"/>
              </a:rPr>
              <a:t>exit</a:t>
            </a:r>
            <a:r>
              <a:rPr lang="zh-CN" altLang="en-US" sz="2200" b="1" dirty="0">
                <a:ea typeface="宋体" panose="02010600030101010101" pitchFamily="2" charset="-122"/>
              </a:rPr>
              <a:t>的所有路径都经过</a:t>
            </a:r>
            <a:r>
              <a:rPr lang="en-US" altLang="zh-CN" sz="2200" b="1" dirty="0">
                <a:ea typeface="宋体" panose="02010600030101010101" pitchFamily="2" charset="-122"/>
              </a:rPr>
              <a:t>n</a:t>
            </a:r>
            <a:endParaRPr lang="en-US" altLang="zh-CN" sz="2200" b="1" dirty="0">
              <a:ea typeface="宋体" panose="02010600030101010101" pitchFamily="2" charset="-122"/>
            </a:endParaRPr>
          </a:p>
          <a:p>
            <a:pPr lvl="1"/>
            <a:r>
              <a:rPr lang="zh-CN" altLang="en-US" sz="2200" b="1" dirty="0">
                <a:ea typeface="宋体" panose="02010600030101010101" pitchFamily="2" charset="-122"/>
              </a:rPr>
              <a:t>其他特性都与</a:t>
            </a:r>
            <a:r>
              <a:rPr lang="en-US" altLang="zh-CN" sz="2200" b="1" dirty="0">
                <a:ea typeface="宋体" panose="02010600030101010101" pitchFamily="2" charset="-122"/>
              </a:rPr>
              <a:t>dominator </a:t>
            </a:r>
            <a:r>
              <a:rPr lang="zh-CN" altLang="en-US" sz="2200" b="1" dirty="0">
                <a:ea typeface="宋体" panose="02010600030101010101" pitchFamily="2" charset="-122"/>
              </a:rPr>
              <a:t>相似</a:t>
            </a:r>
            <a:endParaRPr lang="zh-CN" altLang="en-US" sz="2200" b="1" dirty="0">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循环（1）</a:t>
            </a:r>
            <a:endParaRPr lang="zh-CN" altLang="en-US" dirty="0">
              <a:latin typeface="Times New Roman" panose="02020603050405020304" pitchFamily="18" charset="0"/>
              <a:ea typeface="宋体" panose="02010600030101010101" pitchFamily="2" charset="-122"/>
            </a:endParaRPr>
          </a:p>
        </p:txBody>
      </p:sp>
      <p:sp>
        <p:nvSpPr>
          <p:cNvPr id="169987" name="Rectangle 3"/>
          <p:cNvSpPr>
            <a:spLocks noGrp="1"/>
          </p:cNvSpPr>
          <p:nvPr>
            <p:ph idx="1"/>
          </p:nvPr>
        </p:nvSpPr>
        <p:spPr>
          <a:xfrm>
            <a:off x="990600" y="1447800"/>
            <a:ext cx="7315200" cy="4724400"/>
          </a:xfrm>
        </p:spPr>
        <p:txBody>
          <a:bodyPr vert="horz" wrap="square" lIns="92075" tIns="46038" rIns="92075" bIns="46038" anchor="t" anchorCtr="0"/>
          <a:p>
            <a:r>
              <a:rPr lang="zh-CN" altLang="en-US" sz="2400" b="1" dirty="0">
                <a:ea typeface="宋体" panose="02010600030101010101" pitchFamily="2" charset="-122"/>
              </a:rPr>
              <a:t>强连通分量（</a:t>
            </a:r>
            <a:r>
              <a:rPr lang="en-US" altLang="zh-CN" sz="2400" b="1" dirty="0">
                <a:ea typeface="宋体" panose="02010600030101010101" pitchFamily="2" charset="-122"/>
              </a:rPr>
              <a:t>strongly connected component）：  </a:t>
            </a:r>
            <a:r>
              <a:rPr lang="en-US" altLang="zh-CN" sz="2000" b="1" dirty="0">
                <a:ea typeface="宋体" panose="02010600030101010101" pitchFamily="2" charset="-122"/>
              </a:rPr>
              <a:t>G</a:t>
            </a:r>
            <a:r>
              <a:rPr lang="en-US" altLang="zh-CN" sz="2000" b="1" baseline="-25000" dirty="0">
                <a:ea typeface="宋体" panose="02010600030101010101" pitchFamily="2" charset="-122"/>
              </a:rPr>
              <a:t>s</a:t>
            </a:r>
            <a:r>
              <a:rPr lang="en-US" altLang="zh-CN" sz="2000" b="1" dirty="0">
                <a:ea typeface="宋体" panose="02010600030101010101" pitchFamily="2" charset="-122"/>
              </a:rPr>
              <a:t> = &lt; N</a:t>
            </a:r>
            <a:r>
              <a:rPr lang="en-US" altLang="zh-CN" sz="2000" b="1" baseline="-25000" dirty="0">
                <a:ea typeface="宋体" panose="02010600030101010101" pitchFamily="2" charset="-122"/>
              </a:rPr>
              <a:t>s</a:t>
            </a:r>
            <a:r>
              <a:rPr lang="en-US" altLang="zh-CN" sz="2000" b="1" dirty="0">
                <a:ea typeface="宋体" panose="02010600030101010101" pitchFamily="2" charset="-122"/>
              </a:rPr>
              <a:t>, E</a:t>
            </a:r>
            <a:r>
              <a:rPr lang="en-US" altLang="zh-CN" sz="2000" b="1" baseline="-25000" dirty="0">
                <a:ea typeface="宋体" panose="02010600030101010101" pitchFamily="2" charset="-122"/>
              </a:rPr>
              <a:t>s</a:t>
            </a:r>
            <a:r>
              <a:rPr lang="en-US" altLang="zh-CN" sz="2000" b="1" dirty="0">
                <a:ea typeface="宋体" panose="02010600030101010101" pitchFamily="2" charset="-122"/>
              </a:rPr>
              <a:t>&gt;, </a:t>
            </a:r>
            <a:r>
              <a:rPr lang="zh-CN" altLang="en-US" sz="2000" b="1" dirty="0">
                <a:ea typeface="宋体" panose="02010600030101010101" pitchFamily="2" charset="-122"/>
              </a:rPr>
              <a:t>其中， </a:t>
            </a:r>
            <a:r>
              <a:rPr lang="en-US" altLang="zh-CN" sz="2000" b="1" dirty="0">
                <a:ea typeface="宋体" panose="02010600030101010101" pitchFamily="2" charset="-122"/>
              </a:rPr>
              <a:t>N</a:t>
            </a:r>
            <a:r>
              <a:rPr lang="en-US" altLang="zh-CN" sz="2000" b="1" baseline="-25000" dirty="0">
                <a:ea typeface="宋体" panose="02010600030101010101" pitchFamily="2" charset="-122"/>
              </a:rPr>
              <a:t>s</a:t>
            </a:r>
            <a:r>
              <a:rPr lang="zh-CN" altLang="en-US" sz="2000" b="1" dirty="0">
                <a:ea typeface="宋体" panose="02010600030101010101" pitchFamily="2" charset="-122"/>
              </a:rPr>
              <a:t>中任何一点对于其中其它点来说都可达， 且路径中只包括</a:t>
            </a:r>
            <a:r>
              <a:rPr lang="en-US" altLang="zh-CN" sz="2000" b="1" dirty="0">
                <a:ea typeface="宋体" panose="02010600030101010101" pitchFamily="2" charset="-122"/>
              </a:rPr>
              <a:t>E</a:t>
            </a:r>
            <a:r>
              <a:rPr lang="en-US" altLang="zh-CN" sz="2000" b="1" baseline="-25000" dirty="0">
                <a:ea typeface="宋体" panose="02010600030101010101" pitchFamily="2" charset="-122"/>
              </a:rPr>
              <a:t>s</a:t>
            </a:r>
            <a:r>
              <a:rPr lang="zh-CN" altLang="en-US" sz="2000" b="1" dirty="0">
                <a:ea typeface="宋体" panose="02010600030101010101" pitchFamily="2" charset="-122"/>
              </a:rPr>
              <a:t>中的边。</a:t>
            </a:r>
            <a:endParaRPr lang="zh-CN" altLang="en-US" sz="2000" b="1" dirty="0">
              <a:ea typeface="宋体" panose="02010600030101010101" pitchFamily="2" charset="-122"/>
            </a:endParaRPr>
          </a:p>
          <a:p>
            <a:r>
              <a:rPr lang="zh-CN" altLang="en-US" sz="2400" b="1" dirty="0">
                <a:ea typeface="宋体" panose="02010600030101010101" pitchFamily="2" charset="-122"/>
              </a:rPr>
              <a:t>循环(</a:t>
            </a:r>
            <a:r>
              <a:rPr lang="en-US" altLang="zh-CN" sz="2400" b="1" dirty="0">
                <a:ea typeface="宋体" panose="02010600030101010101" pitchFamily="2" charset="-122"/>
              </a:rPr>
              <a:t>loop)：</a:t>
            </a:r>
            <a:r>
              <a:rPr lang="zh-CN" altLang="en-US" sz="2400" b="1" dirty="0">
                <a:ea typeface="宋体" panose="02010600030101010101" pitchFamily="2" charset="-122"/>
              </a:rPr>
              <a:t>控制流图中单入口的强连通分量。</a:t>
            </a:r>
            <a:endParaRPr lang="en-US" altLang="zh-CN" sz="2400" b="1" dirty="0">
              <a:ea typeface="宋体" panose="02010600030101010101" pitchFamily="2" charset="-122"/>
            </a:endParaRPr>
          </a:p>
          <a:p>
            <a:pPr lvl="1"/>
            <a:r>
              <a:rPr lang="zh-CN" altLang="en-US" sz="2200" b="1" dirty="0">
                <a:ea typeface="宋体" panose="02010600030101010101" pitchFamily="2" charset="-122"/>
              </a:rPr>
              <a:t>入口点(</a:t>
            </a:r>
            <a:r>
              <a:rPr lang="en-US" altLang="zh-CN" sz="2200" b="1" dirty="0">
                <a:ea typeface="宋体" panose="02010600030101010101" pitchFamily="2" charset="-122"/>
              </a:rPr>
              <a:t>entry point or loop header )</a:t>
            </a:r>
            <a:r>
              <a:rPr lang="zh-CN" altLang="en-US" sz="2200" b="1" dirty="0">
                <a:ea typeface="宋体" panose="02010600030101010101" pitchFamily="2" charset="-122"/>
              </a:rPr>
              <a:t>唯一，且</a:t>
            </a:r>
            <a:r>
              <a:rPr lang="en-US" altLang="zh-CN" sz="2200" b="1" dirty="0">
                <a:ea typeface="宋体" panose="02010600030101010101" pitchFamily="2" charset="-122"/>
              </a:rPr>
              <a:t>dominate</a:t>
            </a:r>
            <a:r>
              <a:rPr lang="zh-CN" altLang="en-US" sz="2200" b="1" dirty="0">
                <a:ea typeface="宋体" panose="02010600030101010101" pitchFamily="2" charset="-122"/>
              </a:rPr>
              <a:t>所有循环中其它点</a:t>
            </a:r>
            <a:endParaRPr lang="zh-CN" altLang="en-US" sz="2200" b="1" dirty="0">
              <a:ea typeface="宋体" panose="02010600030101010101" pitchFamily="2" charset="-122"/>
            </a:endParaRPr>
          </a:p>
          <a:p>
            <a:pPr lvl="1"/>
            <a:r>
              <a:rPr lang="zh-CN" altLang="en-US" sz="2200" b="1" dirty="0">
                <a:ea typeface="宋体" panose="02010600030101010101" pitchFamily="2" charset="-122"/>
              </a:rPr>
              <a:t>不是所有强连通分量都是循环。如图：</a:t>
            </a:r>
            <a:endParaRPr lang="zh-CN" altLang="en-US" sz="2200" b="1" dirty="0">
              <a:ea typeface="宋体" panose="02010600030101010101" pitchFamily="2" charset="-122"/>
            </a:endParaRPr>
          </a:p>
        </p:txBody>
      </p:sp>
      <p:sp>
        <p:nvSpPr>
          <p:cNvPr id="169988" name="Rectangle 7"/>
          <p:cNvSpPr/>
          <p:nvPr/>
        </p:nvSpPr>
        <p:spPr>
          <a:xfrm>
            <a:off x="3124200" y="4114800"/>
            <a:ext cx="2362200" cy="190500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69989" name="Oval 8"/>
          <p:cNvSpPr/>
          <p:nvPr/>
        </p:nvSpPr>
        <p:spPr>
          <a:xfrm>
            <a:off x="4038600" y="4572000"/>
            <a:ext cx="304800" cy="304800"/>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69990" name="Oval 9"/>
          <p:cNvSpPr/>
          <p:nvPr/>
        </p:nvSpPr>
        <p:spPr>
          <a:xfrm>
            <a:off x="4800600" y="5562600"/>
            <a:ext cx="304800" cy="304800"/>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69991" name="Oval 10"/>
          <p:cNvSpPr/>
          <p:nvPr/>
        </p:nvSpPr>
        <p:spPr>
          <a:xfrm>
            <a:off x="3429000" y="5562600"/>
            <a:ext cx="304800" cy="304800"/>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69992" name="Line 11"/>
          <p:cNvSpPr/>
          <p:nvPr/>
        </p:nvSpPr>
        <p:spPr>
          <a:xfrm flipH="1">
            <a:off x="3657600" y="4876800"/>
            <a:ext cx="533400" cy="685800"/>
          </a:xfrm>
          <a:prstGeom prst="line">
            <a:avLst/>
          </a:prstGeom>
          <a:ln w="38100" cap="flat" cmpd="sng">
            <a:solidFill>
              <a:schemeClr val="tx1"/>
            </a:solidFill>
            <a:prstDash val="solid"/>
            <a:miter/>
            <a:headEnd type="none" w="med" len="med"/>
            <a:tailEnd type="stealth" w="sm" len="sm"/>
          </a:ln>
        </p:spPr>
      </p:sp>
      <p:sp>
        <p:nvSpPr>
          <p:cNvPr id="169993" name="Line 12"/>
          <p:cNvSpPr/>
          <p:nvPr/>
        </p:nvSpPr>
        <p:spPr>
          <a:xfrm>
            <a:off x="4191000" y="4876800"/>
            <a:ext cx="685800" cy="685800"/>
          </a:xfrm>
          <a:prstGeom prst="line">
            <a:avLst/>
          </a:prstGeom>
          <a:ln w="38100" cap="flat" cmpd="sng">
            <a:solidFill>
              <a:schemeClr val="tx1"/>
            </a:solidFill>
            <a:prstDash val="solid"/>
            <a:miter/>
            <a:headEnd type="none" w="med" len="med"/>
            <a:tailEnd type="stealth" w="sm" len="sm"/>
          </a:ln>
        </p:spPr>
      </p:sp>
      <p:sp>
        <p:nvSpPr>
          <p:cNvPr id="169994" name="Freeform 13"/>
          <p:cNvSpPr/>
          <p:nvPr/>
        </p:nvSpPr>
        <p:spPr>
          <a:xfrm>
            <a:off x="3733800" y="5410200"/>
            <a:ext cx="1066800" cy="228600"/>
          </a:xfrm>
          <a:custGeom>
            <a:avLst/>
            <a:gdLst/>
            <a:ahLst/>
            <a:cxnLst>
              <a:cxn ang="0">
                <a:pos x="0" y="2147483646"/>
              </a:cxn>
              <a:cxn ang="0">
                <a:pos x="2147483646" y="2147483646"/>
              </a:cxn>
              <a:cxn ang="0">
                <a:pos x="2147483646" y="2147483646"/>
              </a:cxn>
              <a:cxn ang="0">
                <a:pos x="2147483646" y="2147483646"/>
              </a:cxn>
              <a:cxn ang="0">
                <a:pos x="2147483646" y="2147483646"/>
              </a:cxn>
            </a:cxnLst>
            <a:pathLst>
              <a:path w="768" h="200">
                <a:moveTo>
                  <a:pt x="0" y="200"/>
                </a:moveTo>
                <a:cubicBezTo>
                  <a:pt x="56" y="144"/>
                  <a:pt x="112" y="88"/>
                  <a:pt x="192" y="56"/>
                </a:cubicBezTo>
                <a:cubicBezTo>
                  <a:pt x="272" y="24"/>
                  <a:pt x="400" y="0"/>
                  <a:pt x="480" y="8"/>
                </a:cubicBezTo>
                <a:cubicBezTo>
                  <a:pt x="560" y="16"/>
                  <a:pt x="624" y="72"/>
                  <a:pt x="672" y="104"/>
                </a:cubicBezTo>
                <a:cubicBezTo>
                  <a:pt x="720" y="136"/>
                  <a:pt x="752" y="184"/>
                  <a:pt x="768" y="200"/>
                </a:cubicBezTo>
              </a:path>
            </a:pathLst>
          </a:custGeom>
          <a:noFill/>
          <a:ln w="38100" cap="flat" cmpd="sng">
            <a:solidFill>
              <a:schemeClr val="tx1">
                <a:alpha val="100000"/>
              </a:schemeClr>
            </a:solidFill>
            <a:prstDash val="solid"/>
            <a:miter lim="800000"/>
            <a:headEnd type="none" w="med" len="med"/>
            <a:tailEnd type="stealth" w="sm" len="sm"/>
          </a:ln>
        </p:spPr>
        <p:txBody>
          <a:bodyPr/>
          <a:p>
            <a:endParaRPr lang="zh-CN" altLang="en-US"/>
          </a:p>
        </p:txBody>
      </p:sp>
      <p:sp>
        <p:nvSpPr>
          <p:cNvPr id="169995" name="Freeform 14"/>
          <p:cNvSpPr/>
          <p:nvPr/>
        </p:nvSpPr>
        <p:spPr>
          <a:xfrm>
            <a:off x="3733800" y="5791200"/>
            <a:ext cx="1066800" cy="228600"/>
          </a:xfrm>
          <a:custGeom>
            <a:avLst/>
            <a:gdLst/>
            <a:ahLst/>
            <a:cxnLst>
              <a:cxn ang="0">
                <a:pos x="2147483646" y="0"/>
              </a:cxn>
              <a:cxn ang="0">
                <a:pos x="2147483646" y="2147483646"/>
              </a:cxn>
              <a:cxn ang="0">
                <a:pos x="2147483646" y="2147483646"/>
              </a:cxn>
              <a:cxn ang="0">
                <a:pos x="0" y="0"/>
              </a:cxn>
            </a:cxnLst>
            <a:pathLst>
              <a:path w="720" h="168">
                <a:moveTo>
                  <a:pt x="720" y="0"/>
                </a:moveTo>
                <a:cubicBezTo>
                  <a:pt x="640" y="60"/>
                  <a:pt x="560" y="120"/>
                  <a:pt x="480" y="144"/>
                </a:cubicBezTo>
                <a:cubicBezTo>
                  <a:pt x="400" y="168"/>
                  <a:pt x="320" y="168"/>
                  <a:pt x="240" y="144"/>
                </a:cubicBezTo>
                <a:cubicBezTo>
                  <a:pt x="160" y="120"/>
                  <a:pt x="40" y="24"/>
                  <a:pt x="0" y="0"/>
                </a:cubicBezTo>
              </a:path>
            </a:pathLst>
          </a:custGeom>
          <a:noFill/>
          <a:ln w="38100" cap="flat" cmpd="sng">
            <a:solidFill>
              <a:schemeClr val="tx1">
                <a:alpha val="100000"/>
              </a:schemeClr>
            </a:solidFill>
            <a:prstDash val="solid"/>
            <a:miter lim="800000"/>
            <a:headEnd type="none" w="med" len="med"/>
            <a:tailEnd type="stealth" w="sm" len="sm"/>
          </a:ln>
        </p:spPr>
        <p:txBody>
          <a:bodyPr/>
          <a:p>
            <a:endParaRPr lang="zh-CN" altLang="en-US"/>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循环（2）</a:t>
            </a:r>
            <a:endParaRPr lang="zh-CN" altLang="en-US" dirty="0">
              <a:latin typeface="Times New Roman" panose="02020603050405020304" pitchFamily="18" charset="0"/>
              <a:ea typeface="宋体" panose="02010600030101010101" pitchFamily="2" charset="-122"/>
            </a:endParaRPr>
          </a:p>
        </p:txBody>
      </p:sp>
      <p:sp>
        <p:nvSpPr>
          <p:cNvPr id="172035" name="Rectangle 3"/>
          <p:cNvSpPr>
            <a:spLocks noGrp="1"/>
          </p:cNvSpPr>
          <p:nvPr>
            <p:ph idx="1"/>
          </p:nvPr>
        </p:nvSpPr>
        <p:spPr>
          <a:xfrm>
            <a:off x="755650" y="1447800"/>
            <a:ext cx="7848600" cy="5029200"/>
          </a:xfrm>
        </p:spPr>
        <p:txBody>
          <a:bodyPr vert="horz" wrap="square" lIns="92075" tIns="46038" rIns="92075" bIns="46038" anchor="t" anchorCtr="0"/>
          <a:p>
            <a:r>
              <a:rPr lang="zh-CN" altLang="en-US" sz="2400" b="1" dirty="0">
                <a:ea typeface="宋体" panose="02010600030101010101" pitchFamily="2" charset="-122"/>
              </a:rPr>
              <a:t>回边( </a:t>
            </a:r>
            <a:r>
              <a:rPr lang="en-US" altLang="zh-CN" sz="2400" b="1" dirty="0">
                <a:ea typeface="宋体" panose="02010600030101010101" pitchFamily="2" charset="-122"/>
              </a:rPr>
              <a:t>back edge)：</a:t>
            </a:r>
            <a:r>
              <a:rPr lang="zh-CN" altLang="en-US" sz="2400" b="1" dirty="0">
                <a:ea typeface="宋体" panose="02010600030101010101" pitchFamily="2" charset="-122"/>
              </a:rPr>
              <a:t>循环中终点</a:t>
            </a:r>
            <a:r>
              <a:rPr lang="en-US" altLang="zh-CN" sz="2400" b="1" dirty="0">
                <a:ea typeface="宋体" panose="02010600030101010101" pitchFamily="2" charset="-122"/>
              </a:rPr>
              <a:t>dominate</a:t>
            </a:r>
            <a:r>
              <a:rPr lang="zh-CN" altLang="en-US" sz="2400" b="1" dirty="0">
                <a:ea typeface="宋体" panose="02010600030101010101" pitchFamily="2" charset="-122"/>
              </a:rPr>
              <a:t>起点的边</a:t>
            </a:r>
            <a:endParaRPr lang="zh-CN" altLang="en-US" sz="2400" b="1" dirty="0">
              <a:ea typeface="宋体" panose="02010600030101010101" pitchFamily="2" charset="-122"/>
            </a:endParaRPr>
          </a:p>
          <a:p>
            <a:pPr lvl="1"/>
            <a:r>
              <a:rPr lang="zh-CN" altLang="en-US" sz="2200" b="1" dirty="0">
                <a:ea typeface="宋体" panose="02010600030101010101" pitchFamily="2" charset="-122"/>
              </a:rPr>
              <a:t>一个回边可以构成一个自然循环</a:t>
            </a:r>
            <a:endParaRPr lang="zh-CN" altLang="en-US" sz="2200" b="1" dirty="0">
              <a:ea typeface="宋体" panose="02010600030101010101" pitchFamily="2" charset="-122"/>
            </a:endParaRPr>
          </a:p>
          <a:p>
            <a:r>
              <a:rPr lang="zh-CN" altLang="en-US" sz="2400" b="1" dirty="0">
                <a:ea typeface="宋体" panose="02010600030101010101" pitchFamily="2" charset="-122"/>
              </a:rPr>
              <a:t>循环是程序中反复执行的语句集，也是优化的重点</a:t>
            </a:r>
            <a:endParaRPr lang="zh-CN" altLang="en-US" sz="2400" b="1" dirty="0">
              <a:ea typeface="宋体" panose="02010600030101010101" pitchFamily="2" charset="-122"/>
            </a:endParaRPr>
          </a:p>
          <a:p>
            <a:r>
              <a:rPr lang="zh-CN" altLang="en-US" sz="2400" b="1" dirty="0">
                <a:ea typeface="宋体" panose="02010600030101010101" pitchFamily="2" charset="-122"/>
              </a:rPr>
              <a:t>流图中识别循环的条件：流图的结点集合</a:t>
            </a:r>
            <a:r>
              <a:rPr lang="en-US" altLang="zh-CN" sz="2400" b="1" dirty="0">
                <a:ea typeface="宋体" panose="02010600030101010101" pitchFamily="2" charset="-122"/>
              </a:rPr>
              <a:t>L</a:t>
            </a:r>
            <a:r>
              <a:rPr lang="zh-CN" altLang="en-US" sz="2400" b="1" dirty="0">
                <a:ea typeface="宋体" panose="02010600030101010101" pitchFamily="2" charset="-122"/>
              </a:rPr>
              <a:t>，若</a:t>
            </a:r>
            <a:endParaRPr lang="en-US" altLang="zh-CN" sz="2400" b="1" dirty="0">
              <a:ea typeface="宋体" panose="02010600030101010101" pitchFamily="2" charset="-122"/>
            </a:endParaRPr>
          </a:p>
          <a:p>
            <a:pPr lvl="1"/>
            <a:r>
              <a:rPr lang="zh-CN" altLang="en-US" sz="2200" b="1" dirty="0">
                <a:ea typeface="宋体" panose="02010600030101010101" pitchFamily="2" charset="-122"/>
              </a:rPr>
              <a:t>在</a:t>
            </a:r>
            <a:r>
              <a:rPr lang="en-US" altLang="zh-CN" sz="2200" b="1" dirty="0">
                <a:ea typeface="宋体" panose="02010600030101010101" pitchFamily="2" charset="-122"/>
              </a:rPr>
              <a:t>L</a:t>
            </a:r>
            <a:r>
              <a:rPr lang="zh-CN" altLang="en-US" sz="2200" b="1" dirty="0">
                <a:ea typeface="宋体" panose="02010600030101010101" pitchFamily="2" charset="-122"/>
              </a:rPr>
              <a:t>中有一个被称为循环入口（</a:t>
            </a:r>
            <a:r>
              <a:rPr lang="en-US" altLang="zh-CN" sz="2200" b="1" dirty="0">
                <a:ea typeface="宋体" panose="02010600030101010101" pitchFamily="2" charset="-122"/>
              </a:rPr>
              <a:t>loop</a:t>
            </a:r>
            <a:r>
              <a:rPr lang="zh-CN" altLang="en-US" sz="2200" b="1" dirty="0">
                <a:ea typeface="宋体" panose="02010600030101010101" pitchFamily="2" charset="-122"/>
              </a:rPr>
              <a:t> </a:t>
            </a:r>
            <a:r>
              <a:rPr lang="en-US" altLang="zh-CN" sz="2200" b="1" dirty="0">
                <a:ea typeface="宋体" panose="02010600030101010101" pitchFamily="2" charset="-122"/>
              </a:rPr>
              <a:t>entry</a:t>
            </a:r>
            <a:r>
              <a:rPr lang="zh-CN" altLang="en-US" sz="2200" b="1" dirty="0">
                <a:ea typeface="宋体" panose="02010600030101010101" pitchFamily="2" charset="-122"/>
              </a:rPr>
              <a:t>）的结点，它是唯一的其前驱可能在</a:t>
            </a:r>
            <a:r>
              <a:rPr lang="en-US" altLang="zh-CN" sz="2200" b="1" dirty="0">
                <a:ea typeface="宋体" panose="02010600030101010101" pitchFamily="2" charset="-122"/>
              </a:rPr>
              <a:t>L</a:t>
            </a:r>
            <a:r>
              <a:rPr lang="zh-CN" altLang="en-US" sz="2200" b="1" dirty="0">
                <a:ea typeface="宋体" panose="02010600030101010101" pitchFamily="2" charset="-122"/>
              </a:rPr>
              <a:t>之外的结点</a:t>
            </a:r>
            <a:endParaRPr lang="en-US" altLang="zh-CN" sz="2200" b="1" dirty="0">
              <a:ea typeface="宋体" panose="02010600030101010101" pitchFamily="2" charset="-122"/>
            </a:endParaRPr>
          </a:p>
          <a:p>
            <a:pPr lvl="1"/>
            <a:r>
              <a:rPr lang="en-US" altLang="zh-CN" sz="2200" b="1" dirty="0">
                <a:ea typeface="宋体" panose="02010600030101010101" pitchFamily="2" charset="-122"/>
              </a:rPr>
              <a:t>L</a:t>
            </a:r>
            <a:r>
              <a:rPr lang="zh-CN" altLang="en-US" sz="2200" b="1" dirty="0">
                <a:ea typeface="宋体" panose="02010600030101010101" pitchFamily="2" charset="-122"/>
              </a:rPr>
              <a:t>中的每个结点都有一个到达</a:t>
            </a:r>
            <a:r>
              <a:rPr lang="en-US" altLang="zh-CN" sz="2200" b="1" dirty="0">
                <a:ea typeface="宋体" panose="02010600030101010101" pitchFamily="2" charset="-122"/>
              </a:rPr>
              <a:t>L</a:t>
            </a:r>
            <a:r>
              <a:rPr lang="zh-CN" altLang="en-US" sz="2200" b="1" dirty="0">
                <a:ea typeface="宋体" panose="02010600030101010101" pitchFamily="2" charset="-122"/>
              </a:rPr>
              <a:t>的入口结点的非空路径，且该路径全部在</a:t>
            </a:r>
            <a:r>
              <a:rPr lang="en-US" altLang="zh-CN" sz="2200" b="1" dirty="0">
                <a:ea typeface="宋体" panose="02010600030101010101" pitchFamily="2" charset="-122"/>
              </a:rPr>
              <a:t>L</a:t>
            </a:r>
            <a:r>
              <a:rPr lang="zh-CN" altLang="en-US" sz="2200" b="1" dirty="0">
                <a:ea typeface="宋体" panose="02010600030101010101" pitchFamily="2" charset="-122"/>
              </a:rPr>
              <a:t>中</a:t>
            </a:r>
            <a:endParaRPr lang="en-US" altLang="zh-CN" sz="2200" b="1" dirty="0">
              <a:ea typeface="宋体" panose="02010600030101010101" pitchFamily="2" charset="-122"/>
            </a:endParaRPr>
          </a:p>
          <a:p>
            <a:r>
              <a:rPr lang="zh-CN" altLang="en-US" sz="2400" b="1" dirty="0">
                <a:ea typeface="宋体" panose="02010600030101010101" pitchFamily="2" charset="-122"/>
              </a:rPr>
              <a:t>图</a:t>
            </a:r>
            <a:r>
              <a:rPr lang="en-US" altLang="zh-CN" sz="2400" b="1" dirty="0">
                <a:ea typeface="宋体" panose="02010600030101010101" pitchFamily="2" charset="-122"/>
              </a:rPr>
              <a:t>8-9</a:t>
            </a:r>
            <a:r>
              <a:rPr lang="zh-CN" altLang="en-US" sz="2400" b="1" dirty="0">
                <a:ea typeface="宋体" panose="02010600030101010101" pitchFamily="2" charset="-122"/>
              </a:rPr>
              <a:t>中的循环</a:t>
            </a:r>
            <a:endParaRPr lang="en-US" altLang="zh-CN" sz="2400" b="1" dirty="0">
              <a:ea typeface="宋体" panose="02010600030101010101" pitchFamily="2" charset="-122"/>
            </a:endParaRPr>
          </a:p>
          <a:p>
            <a:pPr lvl="1"/>
            <a:r>
              <a:rPr lang="en-US" altLang="zh-CN" sz="2200" b="1" dirty="0">
                <a:ea typeface="宋体" panose="02010600030101010101" pitchFamily="2" charset="-122"/>
              </a:rPr>
              <a:t>B</a:t>
            </a:r>
            <a:r>
              <a:rPr lang="en-US" altLang="zh-CN" sz="2200" b="1" baseline="-25000" dirty="0">
                <a:ea typeface="宋体" panose="02010600030101010101" pitchFamily="2" charset="-122"/>
              </a:rPr>
              <a:t>3</a:t>
            </a:r>
            <a:r>
              <a:rPr lang="zh-CN" altLang="en-US" sz="2200" b="1" dirty="0">
                <a:ea typeface="宋体" panose="02010600030101010101" pitchFamily="2" charset="-122"/>
              </a:rPr>
              <a:t>自身</a:t>
            </a:r>
            <a:endParaRPr lang="en-US" altLang="zh-CN" sz="2200" b="1" dirty="0">
              <a:ea typeface="宋体" panose="02010600030101010101" pitchFamily="2" charset="-122"/>
            </a:endParaRPr>
          </a:p>
          <a:p>
            <a:pPr lvl="1"/>
            <a:r>
              <a:rPr lang="en-US" altLang="zh-CN" sz="2200" b="1" dirty="0">
                <a:ea typeface="宋体" panose="02010600030101010101" pitchFamily="2" charset="-122"/>
              </a:rPr>
              <a:t>B</a:t>
            </a:r>
            <a:r>
              <a:rPr lang="en-US" altLang="zh-CN" sz="2200" b="1" baseline="-25000" dirty="0">
                <a:ea typeface="宋体" panose="02010600030101010101" pitchFamily="2" charset="-122"/>
              </a:rPr>
              <a:t>6</a:t>
            </a:r>
            <a:r>
              <a:rPr lang="zh-CN" altLang="en-US" sz="2200" b="1" dirty="0">
                <a:ea typeface="宋体" panose="02010600030101010101" pitchFamily="2" charset="-122"/>
              </a:rPr>
              <a:t>自身</a:t>
            </a:r>
            <a:endParaRPr lang="zh-CN" altLang="en-US" sz="2200" b="1" dirty="0">
              <a:ea typeface="宋体" panose="02010600030101010101" pitchFamily="2" charset="-122"/>
            </a:endParaRPr>
          </a:p>
          <a:p>
            <a:pPr lvl="1"/>
            <a:r>
              <a:rPr lang="en-US" altLang="zh-CN" sz="2200" b="1" dirty="0">
                <a:ea typeface="宋体" panose="02010600030101010101" pitchFamily="2" charset="-122"/>
              </a:rPr>
              <a:t>{B</a:t>
            </a:r>
            <a:r>
              <a:rPr lang="en-US" altLang="zh-CN" sz="2200" b="1" baseline="-25000" dirty="0">
                <a:ea typeface="宋体" panose="02010600030101010101" pitchFamily="2" charset="-122"/>
              </a:rPr>
              <a:t>2</a:t>
            </a:r>
            <a:r>
              <a:rPr lang="zh-CN" altLang="en-US" sz="2200" b="1" dirty="0">
                <a:ea typeface="宋体" panose="02010600030101010101" pitchFamily="2" charset="-122"/>
              </a:rPr>
              <a:t>，</a:t>
            </a:r>
            <a:r>
              <a:rPr lang="en-US" altLang="zh-CN" sz="2200" b="1" dirty="0">
                <a:ea typeface="宋体" panose="02010600030101010101" pitchFamily="2" charset="-122"/>
              </a:rPr>
              <a:t>B</a:t>
            </a:r>
            <a:r>
              <a:rPr lang="en-US" altLang="zh-CN" sz="2200" b="1" baseline="-25000" dirty="0">
                <a:ea typeface="宋体" panose="02010600030101010101" pitchFamily="2" charset="-122"/>
              </a:rPr>
              <a:t>3</a:t>
            </a:r>
            <a:r>
              <a:rPr lang="zh-CN" altLang="en-US" sz="2200" b="1" dirty="0">
                <a:ea typeface="宋体" panose="02010600030101010101" pitchFamily="2" charset="-122"/>
              </a:rPr>
              <a:t>，</a:t>
            </a:r>
            <a:r>
              <a:rPr lang="en-US" altLang="zh-CN" sz="2200" b="1" dirty="0">
                <a:ea typeface="宋体" panose="02010600030101010101" pitchFamily="2" charset="-122"/>
              </a:rPr>
              <a:t>B</a:t>
            </a:r>
            <a:r>
              <a:rPr lang="en-US" altLang="zh-CN" sz="2200" b="1" baseline="-25000" dirty="0">
                <a:ea typeface="宋体" panose="02010600030101010101" pitchFamily="2" charset="-122"/>
              </a:rPr>
              <a:t>4</a:t>
            </a:r>
            <a:r>
              <a:rPr lang="en-US" altLang="zh-CN" sz="2200" b="1" dirty="0">
                <a:ea typeface="宋体" panose="02010600030101010101" pitchFamily="2" charset="-122"/>
              </a:rPr>
              <a:t>}</a:t>
            </a:r>
            <a:endParaRPr lang="zh-CN" altLang="en-US" sz="2200" b="1" dirty="0">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寻找循环的算法</a:t>
            </a:r>
            <a:endParaRPr lang="en-US" altLang="zh-CN" dirty="0">
              <a:latin typeface="Times New Roman" panose="02020603050405020304" pitchFamily="18" charset="0"/>
              <a:ea typeface="宋体" panose="02010600030101010101" pitchFamily="2" charset="-122"/>
            </a:endParaRPr>
          </a:p>
        </p:txBody>
      </p:sp>
      <p:sp>
        <p:nvSpPr>
          <p:cNvPr id="174083" name="Rectangle 3"/>
          <p:cNvSpPr>
            <a:spLocks noGrp="1"/>
          </p:cNvSpPr>
          <p:nvPr>
            <p:ph idx="1"/>
          </p:nvPr>
        </p:nvSpPr>
        <p:spPr>
          <a:xfrm>
            <a:off x="990600" y="1524000"/>
            <a:ext cx="7391400" cy="4724400"/>
          </a:xfrm>
        </p:spPr>
        <p:txBody>
          <a:bodyPr vert="horz" wrap="square" lIns="92075" tIns="46038" rIns="92075" bIns="46038" anchor="t" anchorCtr="0"/>
          <a:p>
            <a:pPr>
              <a:lnSpc>
                <a:spcPct val="90000"/>
              </a:lnSpc>
              <a:buNone/>
            </a:pPr>
            <a:r>
              <a:rPr lang="en-US" altLang="zh-CN" sz="2000" b="1" dirty="0">
                <a:ea typeface="宋体" panose="02010600030101010101" pitchFamily="2" charset="-122"/>
              </a:rPr>
              <a:t>Construct_loop( G = &lt;N, E, s&gt;, back_edge)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s’ = the sink of back_edge; n’ = the source of back edge;</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stack = an</a:t>
            </a:r>
            <a:r>
              <a:rPr lang="zh-CN" altLang="en-US" sz="2000" b="1" dirty="0">
                <a:ea typeface="宋体" panose="02010600030101010101" pitchFamily="2" charset="-122"/>
              </a:rPr>
              <a:t> </a:t>
            </a:r>
            <a:r>
              <a:rPr lang="en-US" altLang="zh-CN" sz="2000" b="1" dirty="0">
                <a:ea typeface="宋体" panose="02010600030101010101" pitchFamily="2" charset="-122"/>
              </a:rPr>
              <a:t>empty stack;</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loop = { s’};</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insert n’ into loop and push n’ into stack;</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while  ( stack is not empty)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n = top of stack;</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pop stack;</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for every n’’ </a:t>
            </a:r>
            <a:r>
              <a:rPr lang="en-US" altLang="zh-CN" sz="2000" b="1" dirty="0">
                <a:ea typeface="宋体" panose="02010600030101010101" pitchFamily="2" charset="-122"/>
                <a:sym typeface="Symbol" panose="05050102010706020507" pitchFamily="18" charset="2"/>
              </a:rPr>
              <a:t></a:t>
            </a:r>
            <a:r>
              <a:rPr lang="en-US" altLang="zh-CN" sz="2000" b="1" dirty="0">
                <a:ea typeface="宋体" panose="02010600030101010101" pitchFamily="2" charset="-122"/>
              </a:rPr>
              <a:t>pred(n)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if ( n’’ is not in loop)</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insert n’’ into loop and push n’’ into stack;</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return loop;</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a:t>
            </a:r>
            <a:endParaRPr lang="en-US" altLang="zh-CN" sz="2000" b="1" dirty="0">
              <a:ea typeface="宋体" panose="02010600030101010101" pitchFamily="2" charset="-122"/>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寻找循环的例子</a:t>
            </a:r>
            <a:endParaRPr lang="en-US" altLang="zh-CN" dirty="0">
              <a:latin typeface="Times New Roman" panose="02020603050405020304" pitchFamily="18" charset="0"/>
              <a:ea typeface="宋体" panose="02010600030101010101" pitchFamily="2" charset="-122"/>
            </a:endParaRPr>
          </a:p>
        </p:txBody>
      </p:sp>
      <p:grpSp>
        <p:nvGrpSpPr>
          <p:cNvPr id="176131" name="Group 6"/>
          <p:cNvGrpSpPr/>
          <p:nvPr/>
        </p:nvGrpSpPr>
        <p:grpSpPr>
          <a:xfrm>
            <a:off x="914400" y="1412875"/>
            <a:ext cx="2800350" cy="5184775"/>
            <a:chOff x="528" y="864"/>
            <a:chExt cx="1488" cy="3120"/>
          </a:xfrm>
        </p:grpSpPr>
        <p:sp>
          <p:nvSpPr>
            <p:cNvPr id="176162" name="Rectangle 7"/>
            <p:cNvSpPr/>
            <p:nvPr/>
          </p:nvSpPr>
          <p:spPr>
            <a:xfrm>
              <a:off x="528" y="864"/>
              <a:ext cx="1488" cy="312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1800" dirty="0">
                <a:ea typeface="宋体" panose="02010600030101010101" pitchFamily="2" charset="-122"/>
              </a:endParaRPr>
            </a:p>
          </p:txBody>
        </p:sp>
        <p:sp>
          <p:nvSpPr>
            <p:cNvPr id="63524" name="Oval 8"/>
            <p:cNvSpPr>
              <a:spLocks noChangeArrowheads="1"/>
            </p:cNvSpPr>
            <p:nvPr/>
          </p:nvSpPr>
          <p:spPr bwMode="auto">
            <a:xfrm>
              <a:off x="1056" y="960"/>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1</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25" name="Oval 9"/>
            <p:cNvSpPr>
              <a:spLocks noChangeArrowheads="1"/>
            </p:cNvSpPr>
            <p:nvPr/>
          </p:nvSpPr>
          <p:spPr bwMode="auto">
            <a:xfrm>
              <a:off x="1056" y="1296"/>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26" name="Oval 10"/>
            <p:cNvSpPr>
              <a:spLocks noChangeArrowheads="1"/>
            </p:cNvSpPr>
            <p:nvPr/>
          </p:nvSpPr>
          <p:spPr bwMode="auto">
            <a:xfrm>
              <a:off x="1056" y="1632"/>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3</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27" name="Oval 11"/>
            <p:cNvSpPr>
              <a:spLocks noChangeArrowheads="1"/>
            </p:cNvSpPr>
            <p:nvPr/>
          </p:nvSpPr>
          <p:spPr bwMode="auto">
            <a:xfrm>
              <a:off x="1056" y="1968"/>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4</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28" name="Oval 12"/>
            <p:cNvSpPr>
              <a:spLocks noChangeArrowheads="1"/>
            </p:cNvSpPr>
            <p:nvPr/>
          </p:nvSpPr>
          <p:spPr bwMode="auto">
            <a:xfrm>
              <a:off x="1056" y="2304"/>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5</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29" name="Oval 13"/>
            <p:cNvSpPr>
              <a:spLocks noChangeArrowheads="1"/>
            </p:cNvSpPr>
            <p:nvPr/>
          </p:nvSpPr>
          <p:spPr bwMode="auto">
            <a:xfrm>
              <a:off x="864" y="2640"/>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6</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30" name="Oval 14"/>
            <p:cNvSpPr>
              <a:spLocks noChangeArrowheads="1"/>
            </p:cNvSpPr>
            <p:nvPr/>
          </p:nvSpPr>
          <p:spPr bwMode="auto">
            <a:xfrm>
              <a:off x="1248" y="2640"/>
              <a:ext cx="191"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7</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31" name="Oval 15"/>
            <p:cNvSpPr>
              <a:spLocks noChangeArrowheads="1"/>
            </p:cNvSpPr>
            <p:nvPr/>
          </p:nvSpPr>
          <p:spPr bwMode="auto">
            <a:xfrm>
              <a:off x="1056" y="2976"/>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8</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32" name="Oval 16"/>
            <p:cNvSpPr>
              <a:spLocks noChangeArrowheads="1"/>
            </p:cNvSpPr>
            <p:nvPr/>
          </p:nvSpPr>
          <p:spPr bwMode="auto">
            <a:xfrm>
              <a:off x="1056" y="3312"/>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9</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3533" name="Oval 17"/>
            <p:cNvSpPr>
              <a:spLocks noChangeArrowheads="1"/>
            </p:cNvSpPr>
            <p:nvPr/>
          </p:nvSpPr>
          <p:spPr bwMode="auto">
            <a:xfrm>
              <a:off x="1056" y="3648"/>
              <a:ext cx="192" cy="192"/>
            </a:xfrm>
            <a:prstGeom prst="ellipse">
              <a:avLst/>
            </a:prstGeom>
            <a:solidFill>
              <a:srgbClr val="EAEAEA"/>
            </a:solidFill>
            <a:ln w="19050">
              <a:solidFill>
                <a:schemeClr val="tx1"/>
              </a:solidFill>
              <a:miter lim="800000"/>
            </a:ln>
            <a:effectLst/>
          </p:spPr>
          <p:txBody>
            <a:bodyPr wrap="none" anchor="ctr"/>
            <a:lstStyle>
              <a:lvl1pPr>
                <a:spcBef>
                  <a:spcPct val="20000"/>
                </a:spcBef>
                <a:buClr>
                  <a:srgbClr val="063DE8"/>
                </a:buClr>
                <a:buSzPct val="125000"/>
                <a:buChar char="•"/>
                <a:defRPr sz="2600">
                  <a:solidFill>
                    <a:schemeClr val="tx1"/>
                  </a:solidFill>
                  <a:latin typeface="Times New Roman" panose="02020603050405020304" pitchFamily="18" charset="0"/>
                </a:defRPr>
              </a:lvl1pPr>
              <a:lvl2pPr marL="742950" indent="-285750">
                <a:spcBef>
                  <a:spcPct val="20000"/>
                </a:spcBef>
                <a:buClr>
                  <a:srgbClr val="063DE8"/>
                </a:buClr>
                <a:buSzPct val="70000"/>
                <a:buFont typeface="Monotype Sorts" pitchFamily="2" charset="2"/>
                <a:buChar char="ä"/>
                <a:defRPr sz="2400">
                  <a:solidFill>
                    <a:schemeClr val="tx1"/>
                  </a:solidFill>
                  <a:latin typeface="Times New Roman" panose="02020603050405020304" pitchFamily="18" charset="0"/>
                </a:defRPr>
              </a:lvl2pPr>
              <a:lvl3pPr marL="1143000" indent="-228600">
                <a:spcBef>
                  <a:spcPct val="20000"/>
                </a:spcBef>
                <a:buClr>
                  <a:srgbClr val="063DE8"/>
                </a:buClr>
                <a:buSzPct val="125000"/>
                <a:buChar char="•"/>
                <a:defRPr sz="2200">
                  <a:solidFill>
                    <a:schemeClr val="tx1"/>
                  </a:solidFill>
                  <a:latin typeface="Times New Roman" panose="02020603050405020304" pitchFamily="18" charset="0"/>
                </a:defRPr>
              </a:lvl3pPr>
              <a:lvl4pPr marL="1600200" indent="-228600">
                <a:spcBef>
                  <a:spcPct val="20000"/>
                </a:spcBef>
                <a:buClr>
                  <a:srgbClr val="063DE8"/>
                </a:buClr>
                <a:buSzPct val="70000"/>
                <a:buFont typeface="Monotype Sorts" pitchFamily="2" charset="2"/>
                <a:buChar char="ä"/>
                <a:defRPr sz="2000">
                  <a:solidFill>
                    <a:schemeClr val="tx1"/>
                  </a:solidFill>
                  <a:latin typeface="Times New Roman" panose="02020603050405020304" pitchFamily="18" charset="0"/>
                </a:defRPr>
              </a:lvl4pPr>
              <a:lvl5pPr marL="2057400" indent="-228600">
                <a:spcBef>
                  <a:spcPct val="20000"/>
                </a:spcBef>
                <a:buClr>
                  <a:srgbClr val="063DE8"/>
                </a:buClr>
                <a:buSzPct val="125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063DE8"/>
                </a:buClr>
                <a:buSzPct val="125000"/>
                <a:buChar cha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10</a:t>
              </a:r>
              <a:endParaRPr kumimoji="1" lang="zh-CN" altLang="en-US" sz="135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76173" name="Line 18"/>
            <p:cNvSpPr/>
            <p:nvPr/>
          </p:nvSpPr>
          <p:spPr>
            <a:xfrm>
              <a:off x="1152" y="1152"/>
              <a:ext cx="0" cy="144"/>
            </a:xfrm>
            <a:prstGeom prst="line">
              <a:avLst/>
            </a:prstGeom>
            <a:ln w="9525" cap="flat" cmpd="sng">
              <a:solidFill>
                <a:schemeClr val="tx1"/>
              </a:solidFill>
              <a:prstDash val="solid"/>
              <a:miter/>
              <a:headEnd type="none" w="med" len="med"/>
              <a:tailEnd type="stealth" w="sm" len="sm"/>
            </a:ln>
          </p:spPr>
        </p:sp>
        <p:sp>
          <p:nvSpPr>
            <p:cNvPr id="176174" name="Line 19"/>
            <p:cNvSpPr/>
            <p:nvPr/>
          </p:nvSpPr>
          <p:spPr>
            <a:xfrm>
              <a:off x="1152" y="1488"/>
              <a:ext cx="0" cy="144"/>
            </a:xfrm>
            <a:prstGeom prst="line">
              <a:avLst/>
            </a:prstGeom>
            <a:ln w="9525" cap="flat" cmpd="sng">
              <a:solidFill>
                <a:schemeClr val="tx1"/>
              </a:solidFill>
              <a:prstDash val="solid"/>
              <a:miter/>
              <a:headEnd type="none" w="med" len="med"/>
              <a:tailEnd type="stealth" w="sm" len="sm"/>
            </a:ln>
          </p:spPr>
        </p:sp>
        <p:sp>
          <p:nvSpPr>
            <p:cNvPr id="176175" name="Line 20"/>
            <p:cNvSpPr/>
            <p:nvPr/>
          </p:nvSpPr>
          <p:spPr>
            <a:xfrm>
              <a:off x="1152" y="1824"/>
              <a:ext cx="0" cy="144"/>
            </a:xfrm>
            <a:prstGeom prst="line">
              <a:avLst/>
            </a:prstGeom>
            <a:ln w="9525" cap="flat" cmpd="sng">
              <a:solidFill>
                <a:schemeClr val="tx1"/>
              </a:solidFill>
              <a:prstDash val="solid"/>
              <a:miter/>
              <a:headEnd type="none" w="med" len="med"/>
              <a:tailEnd type="stealth" w="sm" len="sm"/>
            </a:ln>
          </p:spPr>
        </p:sp>
        <p:sp>
          <p:nvSpPr>
            <p:cNvPr id="176176" name="Line 21"/>
            <p:cNvSpPr/>
            <p:nvPr/>
          </p:nvSpPr>
          <p:spPr>
            <a:xfrm>
              <a:off x="1152" y="2160"/>
              <a:ext cx="0" cy="144"/>
            </a:xfrm>
            <a:prstGeom prst="line">
              <a:avLst/>
            </a:prstGeom>
            <a:ln w="9525" cap="flat" cmpd="sng">
              <a:solidFill>
                <a:schemeClr val="tx1"/>
              </a:solidFill>
              <a:prstDash val="solid"/>
              <a:miter/>
              <a:headEnd type="none" w="med" len="med"/>
              <a:tailEnd type="stealth" w="sm" len="sm"/>
            </a:ln>
          </p:spPr>
        </p:sp>
        <p:sp>
          <p:nvSpPr>
            <p:cNvPr id="176177" name="Line 22"/>
            <p:cNvSpPr/>
            <p:nvPr/>
          </p:nvSpPr>
          <p:spPr>
            <a:xfrm flipH="1">
              <a:off x="960" y="2496"/>
              <a:ext cx="192" cy="144"/>
            </a:xfrm>
            <a:prstGeom prst="line">
              <a:avLst/>
            </a:prstGeom>
            <a:ln w="9525" cap="flat" cmpd="sng">
              <a:solidFill>
                <a:schemeClr val="tx1"/>
              </a:solidFill>
              <a:prstDash val="solid"/>
              <a:miter/>
              <a:headEnd type="none" w="med" len="med"/>
              <a:tailEnd type="stealth" w="sm" len="sm"/>
            </a:ln>
          </p:spPr>
        </p:sp>
        <p:sp>
          <p:nvSpPr>
            <p:cNvPr id="176178" name="Line 23"/>
            <p:cNvSpPr/>
            <p:nvPr/>
          </p:nvSpPr>
          <p:spPr>
            <a:xfrm>
              <a:off x="1200" y="2496"/>
              <a:ext cx="144" cy="144"/>
            </a:xfrm>
            <a:prstGeom prst="line">
              <a:avLst/>
            </a:prstGeom>
            <a:ln w="9525" cap="flat" cmpd="sng">
              <a:solidFill>
                <a:schemeClr val="tx1"/>
              </a:solidFill>
              <a:prstDash val="solid"/>
              <a:miter/>
              <a:headEnd type="none" w="med" len="med"/>
              <a:tailEnd type="stealth" w="sm" len="sm"/>
            </a:ln>
          </p:spPr>
        </p:sp>
        <p:sp>
          <p:nvSpPr>
            <p:cNvPr id="176179" name="Line 24"/>
            <p:cNvSpPr/>
            <p:nvPr/>
          </p:nvSpPr>
          <p:spPr>
            <a:xfrm>
              <a:off x="960" y="2832"/>
              <a:ext cx="144" cy="144"/>
            </a:xfrm>
            <a:prstGeom prst="line">
              <a:avLst/>
            </a:prstGeom>
            <a:ln w="9525" cap="flat" cmpd="sng">
              <a:solidFill>
                <a:schemeClr val="tx1"/>
              </a:solidFill>
              <a:prstDash val="solid"/>
              <a:miter/>
              <a:headEnd type="none" w="med" len="med"/>
              <a:tailEnd type="stealth" w="sm" len="sm"/>
            </a:ln>
          </p:spPr>
        </p:sp>
        <p:sp>
          <p:nvSpPr>
            <p:cNvPr id="176180" name="Line 25"/>
            <p:cNvSpPr/>
            <p:nvPr/>
          </p:nvSpPr>
          <p:spPr>
            <a:xfrm flipH="1">
              <a:off x="1200" y="2832"/>
              <a:ext cx="144" cy="144"/>
            </a:xfrm>
            <a:prstGeom prst="line">
              <a:avLst/>
            </a:prstGeom>
            <a:ln w="9525" cap="flat" cmpd="sng">
              <a:solidFill>
                <a:schemeClr val="tx1"/>
              </a:solidFill>
              <a:prstDash val="solid"/>
              <a:miter/>
              <a:headEnd type="none" w="med" len="med"/>
              <a:tailEnd type="stealth" w="sm" len="sm"/>
            </a:ln>
          </p:spPr>
        </p:sp>
        <p:sp>
          <p:nvSpPr>
            <p:cNvPr id="176181" name="Line 26"/>
            <p:cNvSpPr/>
            <p:nvPr/>
          </p:nvSpPr>
          <p:spPr>
            <a:xfrm flipH="1">
              <a:off x="1248" y="3744"/>
              <a:ext cx="480" cy="0"/>
            </a:xfrm>
            <a:prstGeom prst="line">
              <a:avLst/>
            </a:prstGeom>
            <a:ln w="9525" cap="flat" cmpd="sng">
              <a:solidFill>
                <a:schemeClr val="tx1"/>
              </a:solidFill>
              <a:prstDash val="solid"/>
              <a:miter/>
              <a:headEnd type="none" w="med" len="med"/>
              <a:tailEnd type="triangle" w="med" len="med"/>
            </a:ln>
          </p:spPr>
        </p:sp>
        <p:sp>
          <p:nvSpPr>
            <p:cNvPr id="176182" name="Line 27"/>
            <p:cNvSpPr/>
            <p:nvPr/>
          </p:nvSpPr>
          <p:spPr>
            <a:xfrm flipH="1">
              <a:off x="768" y="3072"/>
              <a:ext cx="288" cy="0"/>
            </a:xfrm>
            <a:prstGeom prst="line">
              <a:avLst/>
            </a:prstGeom>
            <a:ln w="9525" cap="flat" cmpd="sng">
              <a:solidFill>
                <a:schemeClr val="tx1"/>
              </a:solidFill>
              <a:prstDash val="solid"/>
              <a:miter/>
              <a:headEnd type="none" w="med" len="med"/>
              <a:tailEnd type="none" w="med" len="med"/>
            </a:ln>
          </p:spPr>
        </p:sp>
        <p:sp>
          <p:nvSpPr>
            <p:cNvPr id="176183" name="Line 28"/>
            <p:cNvSpPr/>
            <p:nvPr/>
          </p:nvSpPr>
          <p:spPr>
            <a:xfrm flipV="1">
              <a:off x="768" y="2064"/>
              <a:ext cx="0" cy="1008"/>
            </a:xfrm>
            <a:prstGeom prst="line">
              <a:avLst/>
            </a:prstGeom>
            <a:ln w="9525" cap="flat" cmpd="sng">
              <a:solidFill>
                <a:schemeClr val="tx1"/>
              </a:solidFill>
              <a:prstDash val="solid"/>
              <a:miter/>
              <a:headEnd type="none" w="med" len="med"/>
              <a:tailEnd type="none" w="med" len="med"/>
            </a:ln>
          </p:spPr>
        </p:sp>
        <p:sp>
          <p:nvSpPr>
            <p:cNvPr id="176184" name="Line 29"/>
            <p:cNvSpPr/>
            <p:nvPr/>
          </p:nvSpPr>
          <p:spPr>
            <a:xfrm>
              <a:off x="768" y="2064"/>
              <a:ext cx="288" cy="0"/>
            </a:xfrm>
            <a:prstGeom prst="line">
              <a:avLst/>
            </a:prstGeom>
            <a:ln w="9525" cap="flat" cmpd="sng">
              <a:solidFill>
                <a:schemeClr val="tx1"/>
              </a:solidFill>
              <a:prstDash val="solid"/>
              <a:miter/>
              <a:headEnd type="none" w="med" len="med"/>
              <a:tailEnd type="triangle" w="med" len="med"/>
            </a:ln>
          </p:spPr>
        </p:sp>
        <p:sp>
          <p:nvSpPr>
            <p:cNvPr id="176185" name="Line 30"/>
            <p:cNvSpPr/>
            <p:nvPr/>
          </p:nvSpPr>
          <p:spPr>
            <a:xfrm flipH="1">
              <a:off x="672" y="3408"/>
              <a:ext cx="384" cy="0"/>
            </a:xfrm>
            <a:prstGeom prst="line">
              <a:avLst/>
            </a:prstGeom>
            <a:ln w="9525" cap="flat" cmpd="sng">
              <a:solidFill>
                <a:schemeClr val="tx1"/>
              </a:solidFill>
              <a:prstDash val="solid"/>
              <a:miter/>
              <a:headEnd type="none" w="med" len="med"/>
              <a:tailEnd type="none" w="med" len="med"/>
            </a:ln>
          </p:spPr>
        </p:sp>
        <p:sp>
          <p:nvSpPr>
            <p:cNvPr id="176186" name="Line 31"/>
            <p:cNvSpPr/>
            <p:nvPr/>
          </p:nvSpPr>
          <p:spPr>
            <a:xfrm flipV="1">
              <a:off x="672" y="1392"/>
              <a:ext cx="0" cy="2016"/>
            </a:xfrm>
            <a:prstGeom prst="line">
              <a:avLst/>
            </a:prstGeom>
            <a:ln w="9525" cap="flat" cmpd="sng">
              <a:solidFill>
                <a:schemeClr val="tx1"/>
              </a:solidFill>
              <a:prstDash val="solid"/>
              <a:miter/>
              <a:headEnd type="none" w="med" len="med"/>
              <a:tailEnd type="none" w="med" len="med"/>
            </a:ln>
          </p:spPr>
        </p:sp>
        <p:sp>
          <p:nvSpPr>
            <p:cNvPr id="176187" name="Line 32"/>
            <p:cNvSpPr/>
            <p:nvPr/>
          </p:nvSpPr>
          <p:spPr>
            <a:xfrm>
              <a:off x="672" y="1392"/>
              <a:ext cx="384" cy="0"/>
            </a:xfrm>
            <a:prstGeom prst="line">
              <a:avLst/>
            </a:prstGeom>
            <a:ln w="9525" cap="flat" cmpd="sng">
              <a:solidFill>
                <a:schemeClr val="tx1"/>
              </a:solidFill>
              <a:prstDash val="solid"/>
              <a:miter/>
              <a:headEnd type="none" w="med" len="med"/>
              <a:tailEnd type="triangle" w="med" len="med"/>
            </a:ln>
          </p:spPr>
        </p:sp>
        <p:sp>
          <p:nvSpPr>
            <p:cNvPr id="176188" name="Line 33"/>
            <p:cNvSpPr/>
            <p:nvPr/>
          </p:nvSpPr>
          <p:spPr>
            <a:xfrm>
              <a:off x="1248" y="1392"/>
              <a:ext cx="480" cy="0"/>
            </a:xfrm>
            <a:prstGeom prst="line">
              <a:avLst/>
            </a:prstGeom>
            <a:ln w="9525" cap="flat" cmpd="sng">
              <a:solidFill>
                <a:schemeClr val="tx1"/>
              </a:solidFill>
              <a:prstDash val="solid"/>
              <a:miter/>
              <a:headEnd type="none" w="med" len="med"/>
              <a:tailEnd type="none" w="med" len="med"/>
            </a:ln>
          </p:spPr>
        </p:sp>
        <p:sp>
          <p:nvSpPr>
            <p:cNvPr id="176189" name="Line 34"/>
            <p:cNvSpPr/>
            <p:nvPr/>
          </p:nvSpPr>
          <p:spPr>
            <a:xfrm>
              <a:off x="1728" y="1392"/>
              <a:ext cx="0" cy="2352"/>
            </a:xfrm>
            <a:prstGeom prst="line">
              <a:avLst/>
            </a:prstGeom>
            <a:ln w="9525" cap="flat" cmpd="sng">
              <a:solidFill>
                <a:schemeClr val="tx1"/>
              </a:solidFill>
              <a:prstDash val="solid"/>
              <a:miter/>
              <a:headEnd type="none" w="med" len="med"/>
              <a:tailEnd type="none" w="med" len="med"/>
            </a:ln>
          </p:spPr>
        </p:sp>
        <p:sp>
          <p:nvSpPr>
            <p:cNvPr id="176190" name="Line 35"/>
            <p:cNvSpPr/>
            <p:nvPr/>
          </p:nvSpPr>
          <p:spPr>
            <a:xfrm>
              <a:off x="1248" y="2064"/>
              <a:ext cx="336" cy="0"/>
            </a:xfrm>
            <a:prstGeom prst="line">
              <a:avLst/>
            </a:prstGeom>
            <a:ln w="9525" cap="flat" cmpd="sng">
              <a:solidFill>
                <a:schemeClr val="tx1"/>
              </a:solidFill>
              <a:prstDash val="solid"/>
              <a:miter/>
              <a:headEnd type="none" w="med" len="med"/>
              <a:tailEnd type="none" w="med" len="med"/>
            </a:ln>
          </p:spPr>
        </p:sp>
        <p:sp>
          <p:nvSpPr>
            <p:cNvPr id="176191" name="Line 36"/>
            <p:cNvSpPr/>
            <p:nvPr/>
          </p:nvSpPr>
          <p:spPr>
            <a:xfrm>
              <a:off x="1584" y="2064"/>
              <a:ext cx="0" cy="1344"/>
            </a:xfrm>
            <a:prstGeom prst="line">
              <a:avLst/>
            </a:prstGeom>
            <a:ln w="9525" cap="flat" cmpd="sng">
              <a:solidFill>
                <a:schemeClr val="tx1"/>
              </a:solidFill>
              <a:prstDash val="solid"/>
              <a:miter/>
              <a:headEnd type="none" w="med" len="med"/>
              <a:tailEnd type="none" w="med" len="med"/>
            </a:ln>
          </p:spPr>
        </p:sp>
        <p:sp>
          <p:nvSpPr>
            <p:cNvPr id="176192" name="Line 37"/>
            <p:cNvSpPr/>
            <p:nvPr/>
          </p:nvSpPr>
          <p:spPr>
            <a:xfrm flipH="1">
              <a:off x="1248" y="3408"/>
              <a:ext cx="336" cy="0"/>
            </a:xfrm>
            <a:prstGeom prst="line">
              <a:avLst/>
            </a:prstGeom>
            <a:ln w="9525" cap="flat" cmpd="sng">
              <a:solidFill>
                <a:schemeClr val="tx1"/>
              </a:solidFill>
              <a:prstDash val="solid"/>
              <a:miter/>
              <a:headEnd type="none" w="med" len="med"/>
              <a:tailEnd type="triangle" w="med" len="med"/>
            </a:ln>
          </p:spPr>
        </p:sp>
      </p:grpSp>
      <p:sp>
        <p:nvSpPr>
          <p:cNvPr id="66" name="Rectangle 5"/>
          <p:cNvSpPr txBox="1">
            <a:spLocks noChangeArrowheads="1"/>
          </p:cNvSpPr>
          <p:nvPr/>
        </p:nvSpPr>
        <p:spPr bwMode="auto">
          <a:xfrm>
            <a:off x="4211638" y="1557338"/>
            <a:ext cx="4038600" cy="4876800"/>
          </a:xfrm>
          <a:prstGeom prst="rect">
            <a:avLst/>
          </a:prstGeom>
          <a:noFill/>
          <a:ln>
            <a:noFill/>
          </a:ln>
          <a:effectLst/>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对于回边9</a:t>
            </a: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2：</a:t>
            </a:r>
            <a:endParaRPr kumimoji="0" lang="zh-CN" altLang="en-US" sz="2000" b="1"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a:ln>
                  <a:noFill/>
                </a:ln>
                <a:solidFill>
                  <a:schemeClr val="tx1"/>
                </a:solidFill>
                <a:effectLst/>
                <a:uLnTx/>
                <a:uFillTx/>
                <a:latin typeface="+mn-lt"/>
                <a:ea typeface="宋体" panose="02010600030101010101" pitchFamily="2" charset="-122"/>
                <a:cs typeface="+mn-cs"/>
              </a:rPr>
              <a:t>N’ = {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76133" name="Line 38"/>
          <p:cNvSpPr/>
          <p:nvPr/>
        </p:nvSpPr>
        <p:spPr>
          <a:xfrm>
            <a:off x="5811838" y="2776538"/>
            <a:ext cx="0" cy="1676400"/>
          </a:xfrm>
          <a:prstGeom prst="line">
            <a:avLst/>
          </a:prstGeom>
          <a:ln w="19050" cap="flat" cmpd="sng">
            <a:solidFill>
              <a:schemeClr val="tx1"/>
            </a:solidFill>
            <a:prstDash val="solid"/>
            <a:miter/>
            <a:headEnd type="none" w="med" len="med"/>
            <a:tailEnd type="none" w="med" len="med"/>
          </a:ln>
        </p:spPr>
      </p:sp>
      <p:sp>
        <p:nvSpPr>
          <p:cNvPr id="176134" name="Line 39"/>
          <p:cNvSpPr/>
          <p:nvPr/>
        </p:nvSpPr>
        <p:spPr>
          <a:xfrm>
            <a:off x="5811838" y="4452938"/>
            <a:ext cx="457200" cy="0"/>
          </a:xfrm>
          <a:prstGeom prst="line">
            <a:avLst/>
          </a:prstGeom>
          <a:ln w="19050" cap="flat" cmpd="sng">
            <a:solidFill>
              <a:schemeClr val="tx1"/>
            </a:solidFill>
            <a:prstDash val="solid"/>
            <a:miter/>
            <a:headEnd type="none" w="med" len="med"/>
            <a:tailEnd type="none" w="med" len="med"/>
          </a:ln>
        </p:spPr>
      </p:sp>
      <p:sp>
        <p:nvSpPr>
          <p:cNvPr id="176135" name="Line 40"/>
          <p:cNvSpPr/>
          <p:nvPr/>
        </p:nvSpPr>
        <p:spPr>
          <a:xfrm flipV="1">
            <a:off x="6269038" y="2776538"/>
            <a:ext cx="0" cy="1676400"/>
          </a:xfrm>
          <a:prstGeom prst="line">
            <a:avLst/>
          </a:prstGeom>
          <a:ln w="19050" cap="flat" cmpd="sng">
            <a:solidFill>
              <a:schemeClr val="tx1"/>
            </a:solidFill>
            <a:prstDash val="solid"/>
            <a:miter/>
            <a:headEnd type="none" w="med" len="med"/>
            <a:tailEnd type="none" w="med" len="med"/>
          </a:ln>
        </p:spPr>
      </p:sp>
      <p:sp>
        <p:nvSpPr>
          <p:cNvPr id="176136" name="Rectangle 41"/>
          <p:cNvSpPr/>
          <p:nvPr/>
        </p:nvSpPr>
        <p:spPr>
          <a:xfrm>
            <a:off x="50498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2,</a:t>
            </a:r>
            <a:endParaRPr lang="zh-CN" altLang="en-US" sz="1800" b="1" dirty="0">
              <a:latin typeface="Tahoma" panose="020B0604030504040204" pitchFamily="34" charset="0"/>
              <a:ea typeface="宋体" panose="02010600030101010101" pitchFamily="2" charset="-122"/>
            </a:endParaRPr>
          </a:p>
        </p:txBody>
      </p:sp>
      <p:sp>
        <p:nvSpPr>
          <p:cNvPr id="71" name="Rectangle 42"/>
          <p:cNvSpPr/>
          <p:nvPr/>
        </p:nvSpPr>
        <p:spPr>
          <a:xfrm>
            <a:off x="5811838" y="41481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9</a:t>
            </a:r>
            <a:endParaRPr lang="zh-CN" altLang="en-US" sz="1800" b="1" dirty="0">
              <a:latin typeface="Tahoma" panose="020B0604030504040204" pitchFamily="34" charset="0"/>
              <a:ea typeface="宋体" panose="02010600030101010101" pitchFamily="2" charset="-122"/>
            </a:endParaRPr>
          </a:p>
        </p:txBody>
      </p:sp>
      <p:sp>
        <p:nvSpPr>
          <p:cNvPr id="72" name="Rectangle 43"/>
          <p:cNvSpPr/>
          <p:nvPr/>
        </p:nvSpPr>
        <p:spPr>
          <a:xfrm>
            <a:off x="53546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9,</a:t>
            </a:r>
            <a:endParaRPr lang="zh-CN" altLang="en-US" sz="1800" b="1" dirty="0">
              <a:latin typeface="Tahoma" panose="020B0604030504040204" pitchFamily="34" charset="0"/>
              <a:ea typeface="宋体" panose="02010600030101010101" pitchFamily="2" charset="-122"/>
            </a:endParaRPr>
          </a:p>
        </p:txBody>
      </p:sp>
      <p:sp>
        <p:nvSpPr>
          <p:cNvPr id="73" name="Rectangle 44"/>
          <p:cNvSpPr/>
          <p:nvPr/>
        </p:nvSpPr>
        <p:spPr>
          <a:xfrm>
            <a:off x="56594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4,</a:t>
            </a:r>
            <a:endParaRPr lang="zh-CN" altLang="en-US" sz="1800" b="1" dirty="0">
              <a:latin typeface="Tahoma" panose="020B0604030504040204" pitchFamily="34" charset="0"/>
              <a:ea typeface="宋体" panose="02010600030101010101" pitchFamily="2" charset="-122"/>
            </a:endParaRPr>
          </a:p>
        </p:txBody>
      </p:sp>
      <p:sp>
        <p:nvSpPr>
          <p:cNvPr id="74" name="Rectangle 45"/>
          <p:cNvSpPr/>
          <p:nvPr/>
        </p:nvSpPr>
        <p:spPr>
          <a:xfrm>
            <a:off x="59642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3,</a:t>
            </a:r>
            <a:endParaRPr lang="zh-CN" altLang="en-US" sz="1800" b="1" dirty="0">
              <a:latin typeface="Tahoma" panose="020B0604030504040204" pitchFamily="34" charset="0"/>
              <a:ea typeface="宋体" panose="02010600030101010101" pitchFamily="2" charset="-122"/>
            </a:endParaRPr>
          </a:p>
        </p:txBody>
      </p:sp>
      <p:sp>
        <p:nvSpPr>
          <p:cNvPr id="75" name="Rectangle 46"/>
          <p:cNvSpPr/>
          <p:nvPr/>
        </p:nvSpPr>
        <p:spPr>
          <a:xfrm>
            <a:off x="62690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8,</a:t>
            </a:r>
            <a:endParaRPr lang="zh-CN" altLang="en-US" sz="1800" b="1" dirty="0">
              <a:latin typeface="Tahoma" panose="020B0604030504040204" pitchFamily="34" charset="0"/>
              <a:ea typeface="宋体" panose="02010600030101010101" pitchFamily="2" charset="-122"/>
            </a:endParaRPr>
          </a:p>
        </p:txBody>
      </p:sp>
      <p:sp>
        <p:nvSpPr>
          <p:cNvPr id="76" name="Rectangle 47"/>
          <p:cNvSpPr/>
          <p:nvPr/>
        </p:nvSpPr>
        <p:spPr>
          <a:xfrm>
            <a:off x="71834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5,</a:t>
            </a:r>
            <a:endParaRPr lang="zh-CN" altLang="en-US" sz="1800" b="1" dirty="0">
              <a:latin typeface="Tahoma" panose="020B0604030504040204" pitchFamily="34" charset="0"/>
              <a:ea typeface="宋体" panose="02010600030101010101" pitchFamily="2" charset="-122"/>
            </a:endParaRPr>
          </a:p>
        </p:txBody>
      </p:sp>
      <p:sp>
        <p:nvSpPr>
          <p:cNvPr id="77" name="Rectangle 48"/>
          <p:cNvSpPr/>
          <p:nvPr/>
        </p:nvSpPr>
        <p:spPr>
          <a:xfrm>
            <a:off x="65738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6,</a:t>
            </a:r>
            <a:endParaRPr lang="zh-CN" altLang="en-US" sz="1800" b="1" dirty="0">
              <a:latin typeface="Tahoma" panose="020B0604030504040204" pitchFamily="34" charset="0"/>
              <a:ea typeface="宋体" panose="02010600030101010101" pitchFamily="2" charset="-122"/>
            </a:endParaRPr>
          </a:p>
        </p:txBody>
      </p:sp>
      <p:sp>
        <p:nvSpPr>
          <p:cNvPr id="78" name="Rectangle 49"/>
          <p:cNvSpPr/>
          <p:nvPr/>
        </p:nvSpPr>
        <p:spPr>
          <a:xfrm>
            <a:off x="6878638" y="1938338"/>
            <a:ext cx="3048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7,</a:t>
            </a:r>
            <a:endParaRPr lang="zh-CN" altLang="en-US" sz="1800" b="1" dirty="0">
              <a:latin typeface="Tahoma" panose="020B0604030504040204" pitchFamily="34" charset="0"/>
              <a:ea typeface="宋体" panose="02010600030101010101" pitchFamily="2" charset="-122"/>
            </a:endParaRPr>
          </a:p>
        </p:txBody>
      </p:sp>
      <p:sp>
        <p:nvSpPr>
          <p:cNvPr id="176145" name="Line 50"/>
          <p:cNvSpPr/>
          <p:nvPr/>
        </p:nvSpPr>
        <p:spPr>
          <a:xfrm>
            <a:off x="5811838" y="4452938"/>
            <a:ext cx="457200" cy="0"/>
          </a:xfrm>
          <a:prstGeom prst="line">
            <a:avLst/>
          </a:prstGeom>
          <a:ln w="19050" cap="flat" cmpd="sng">
            <a:solidFill>
              <a:schemeClr val="tx1"/>
            </a:solidFill>
            <a:prstDash val="solid"/>
            <a:miter/>
            <a:headEnd type="none" w="med" len="med"/>
            <a:tailEnd type="none" w="med" len="med"/>
          </a:ln>
        </p:spPr>
      </p:sp>
      <p:sp>
        <p:nvSpPr>
          <p:cNvPr id="80" name="Rectangle 51"/>
          <p:cNvSpPr/>
          <p:nvPr/>
        </p:nvSpPr>
        <p:spPr>
          <a:xfrm>
            <a:off x="5811838" y="41481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4</a:t>
            </a:r>
            <a:endParaRPr lang="zh-CN" altLang="en-US" sz="1800" b="1" dirty="0">
              <a:latin typeface="Tahoma" panose="020B0604030504040204" pitchFamily="34" charset="0"/>
              <a:ea typeface="宋体" panose="02010600030101010101" pitchFamily="2" charset="-122"/>
            </a:endParaRPr>
          </a:p>
        </p:txBody>
      </p:sp>
      <p:sp>
        <p:nvSpPr>
          <p:cNvPr id="176147" name="Line 52"/>
          <p:cNvSpPr/>
          <p:nvPr/>
        </p:nvSpPr>
        <p:spPr>
          <a:xfrm>
            <a:off x="5811838" y="4452938"/>
            <a:ext cx="457200" cy="0"/>
          </a:xfrm>
          <a:prstGeom prst="line">
            <a:avLst/>
          </a:prstGeom>
          <a:ln w="19050" cap="flat" cmpd="sng">
            <a:solidFill>
              <a:schemeClr val="tx1"/>
            </a:solidFill>
            <a:prstDash val="solid"/>
            <a:miter/>
            <a:headEnd type="none" w="med" len="med"/>
            <a:tailEnd type="none" w="med" len="med"/>
          </a:ln>
        </p:spPr>
      </p:sp>
      <p:sp>
        <p:nvSpPr>
          <p:cNvPr id="82" name="Rectangle 53"/>
          <p:cNvSpPr/>
          <p:nvPr/>
        </p:nvSpPr>
        <p:spPr>
          <a:xfrm>
            <a:off x="5811838" y="38433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8</a:t>
            </a:r>
            <a:endParaRPr lang="zh-CN" altLang="en-US" sz="1800" b="1" dirty="0">
              <a:latin typeface="Tahoma" panose="020B0604030504040204" pitchFamily="34" charset="0"/>
              <a:ea typeface="宋体" panose="02010600030101010101" pitchFamily="2" charset="-122"/>
            </a:endParaRPr>
          </a:p>
        </p:txBody>
      </p:sp>
      <p:sp>
        <p:nvSpPr>
          <p:cNvPr id="83" name="Rectangle 54"/>
          <p:cNvSpPr/>
          <p:nvPr/>
        </p:nvSpPr>
        <p:spPr>
          <a:xfrm>
            <a:off x="5811838" y="41481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3</a:t>
            </a:r>
            <a:endParaRPr lang="zh-CN" altLang="en-US" sz="1800" b="1" dirty="0">
              <a:latin typeface="Tahoma" panose="020B0604030504040204" pitchFamily="34" charset="0"/>
              <a:ea typeface="宋体" panose="02010600030101010101" pitchFamily="2" charset="-122"/>
            </a:endParaRPr>
          </a:p>
        </p:txBody>
      </p:sp>
      <p:sp>
        <p:nvSpPr>
          <p:cNvPr id="176150" name="Line 55"/>
          <p:cNvSpPr/>
          <p:nvPr/>
        </p:nvSpPr>
        <p:spPr>
          <a:xfrm>
            <a:off x="5811838" y="4452938"/>
            <a:ext cx="457200" cy="0"/>
          </a:xfrm>
          <a:prstGeom prst="line">
            <a:avLst/>
          </a:prstGeom>
          <a:ln w="19050" cap="flat" cmpd="sng">
            <a:solidFill>
              <a:schemeClr val="tx1"/>
            </a:solidFill>
            <a:prstDash val="solid"/>
            <a:miter/>
            <a:headEnd type="none" w="med" len="med"/>
            <a:tailEnd type="none" w="med" len="med"/>
          </a:ln>
        </p:spPr>
      </p:sp>
      <p:sp>
        <p:nvSpPr>
          <p:cNvPr id="85" name="Rectangle 56"/>
          <p:cNvSpPr/>
          <p:nvPr/>
        </p:nvSpPr>
        <p:spPr>
          <a:xfrm>
            <a:off x="5811838" y="38433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6</a:t>
            </a:r>
            <a:endParaRPr lang="zh-CN" altLang="en-US" sz="1800" b="1" dirty="0">
              <a:latin typeface="Tahoma" panose="020B0604030504040204" pitchFamily="34" charset="0"/>
              <a:ea typeface="宋体" panose="02010600030101010101" pitchFamily="2" charset="-122"/>
            </a:endParaRPr>
          </a:p>
        </p:txBody>
      </p:sp>
      <p:sp>
        <p:nvSpPr>
          <p:cNvPr id="176152" name="Line 57"/>
          <p:cNvSpPr/>
          <p:nvPr/>
        </p:nvSpPr>
        <p:spPr>
          <a:xfrm>
            <a:off x="5811838" y="4452938"/>
            <a:ext cx="457200" cy="0"/>
          </a:xfrm>
          <a:prstGeom prst="line">
            <a:avLst/>
          </a:prstGeom>
          <a:ln w="19050" cap="flat" cmpd="sng">
            <a:solidFill>
              <a:schemeClr val="tx1"/>
            </a:solidFill>
            <a:prstDash val="solid"/>
            <a:miter/>
            <a:headEnd type="none" w="med" len="med"/>
            <a:tailEnd type="none" w="med" len="med"/>
          </a:ln>
        </p:spPr>
      </p:sp>
      <p:sp>
        <p:nvSpPr>
          <p:cNvPr id="87" name="Rectangle 58"/>
          <p:cNvSpPr/>
          <p:nvPr/>
        </p:nvSpPr>
        <p:spPr>
          <a:xfrm>
            <a:off x="5811838" y="35385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7</a:t>
            </a:r>
            <a:endParaRPr lang="zh-CN" altLang="en-US" sz="1800" b="1" dirty="0">
              <a:latin typeface="Tahoma" panose="020B0604030504040204" pitchFamily="34" charset="0"/>
              <a:ea typeface="宋体" panose="02010600030101010101" pitchFamily="2" charset="-122"/>
            </a:endParaRPr>
          </a:p>
        </p:txBody>
      </p:sp>
      <p:sp>
        <p:nvSpPr>
          <p:cNvPr id="88" name="Rectangle 59"/>
          <p:cNvSpPr/>
          <p:nvPr/>
        </p:nvSpPr>
        <p:spPr>
          <a:xfrm>
            <a:off x="5811838" y="3538538"/>
            <a:ext cx="457200" cy="304800"/>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b="1" dirty="0">
                <a:latin typeface="Tahoma" panose="020B0604030504040204" pitchFamily="34" charset="0"/>
                <a:ea typeface="宋体" panose="02010600030101010101" pitchFamily="2" charset="-122"/>
              </a:rPr>
              <a:t>5</a:t>
            </a:r>
            <a:endParaRPr lang="zh-CN" altLang="en-US" sz="1800" b="1" dirty="0">
              <a:latin typeface="Tahoma" panose="020B0604030504040204" pitchFamily="34" charset="0"/>
              <a:ea typeface="宋体" panose="02010600030101010101" pitchFamily="2" charset="-122"/>
            </a:endParaRPr>
          </a:p>
        </p:txBody>
      </p:sp>
      <p:sp>
        <p:nvSpPr>
          <p:cNvPr id="89" name="Rectangle 60"/>
          <p:cNvSpPr/>
          <p:nvPr/>
        </p:nvSpPr>
        <p:spPr>
          <a:xfrm>
            <a:off x="5821363" y="3843338"/>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90" name="Rectangle 61"/>
          <p:cNvSpPr/>
          <p:nvPr/>
        </p:nvSpPr>
        <p:spPr>
          <a:xfrm>
            <a:off x="5821363" y="4148138"/>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176157" name="Rectangle 64"/>
          <p:cNvSpPr/>
          <p:nvPr/>
        </p:nvSpPr>
        <p:spPr>
          <a:xfrm>
            <a:off x="7729538" y="4833938"/>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92" name="Rectangle 65"/>
          <p:cNvSpPr/>
          <p:nvPr/>
        </p:nvSpPr>
        <p:spPr>
          <a:xfrm>
            <a:off x="5821363" y="4157663"/>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93" name="Rectangle 66"/>
          <p:cNvSpPr/>
          <p:nvPr/>
        </p:nvSpPr>
        <p:spPr>
          <a:xfrm>
            <a:off x="5818188" y="4138613"/>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94" name="Rectangle 67"/>
          <p:cNvSpPr/>
          <p:nvPr/>
        </p:nvSpPr>
        <p:spPr>
          <a:xfrm>
            <a:off x="5811838" y="3843338"/>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
        <p:nvSpPr>
          <p:cNvPr id="95" name="Rectangle 68"/>
          <p:cNvSpPr/>
          <p:nvPr/>
        </p:nvSpPr>
        <p:spPr>
          <a:xfrm>
            <a:off x="5811838" y="3538538"/>
            <a:ext cx="431800" cy="287337"/>
          </a:xfrm>
          <a:prstGeom prst="rect">
            <a:avLst/>
          </a:prstGeom>
          <a:solidFill>
            <a:schemeClr val="bg1"/>
          </a:solidFill>
          <a:ln w="19050">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1800" b="1" dirty="0">
              <a:latin typeface="Tahoma" panose="020B060403050404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1"/>
                                        </p:tgtEl>
                                        <p:attrNameLst>
                                          <p:attrName>style.visibility</p:attrName>
                                        </p:attrNameLst>
                                      </p:cBhvr>
                                      <p:to>
                                        <p:strVal val="visible"/>
                                      </p:to>
                                    </p:set>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2"/>
                                        </p:tgtEl>
                                        <p:attrNameLst>
                                          <p:attrName>style.visibility</p:attrName>
                                        </p:attrNameLst>
                                      </p:cBhvr>
                                      <p:to>
                                        <p:strVal val="visible"/>
                                      </p:to>
                                    </p:se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80"/>
                                        </p:tgtEl>
                                        <p:attrNameLst>
                                          <p:attrName>style.visibility</p:attrName>
                                        </p:attrNameLst>
                                      </p:cBhvr>
                                      <p:to>
                                        <p:strVal val="visible"/>
                                      </p:to>
                                    </p:set>
                                  </p:childTnLst>
                                  <p:subTnLst>
                                    <p:set>
                                      <p:cBhvr override="childStyle">
                                        <p:cTn dur="1" fill="hold" display="0" masterRel="nextClick" afterEffect="1"/>
                                        <p:tgtEl>
                                          <p:spTgt spid="8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93"/>
                                        </p:tgtEl>
                                        <p:attrNameLst>
                                          <p:attrName>style.visibility</p:attrName>
                                        </p:attrNameLst>
                                      </p:cBhvr>
                                      <p:to>
                                        <p:strVal val="visible"/>
                                      </p:to>
                                    </p:set>
                                  </p:childTnLst>
                                  <p:subTnLst>
                                    <p:set>
                                      <p:cBhvr override="childStyle">
                                        <p:cTn dur="1" fill="hold" display="0" masterRel="nextClick" afterEffect="1"/>
                                        <p:tgtEl>
                                          <p:spTgt spid="93"/>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7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82"/>
                                        </p:tgtEl>
                                        <p:attrNameLst>
                                          <p:attrName>style.visibility</p:attrName>
                                        </p:attrNameLst>
                                      </p:cBhvr>
                                      <p:to>
                                        <p:strVal val="visible"/>
                                      </p:to>
                                    </p:set>
                                  </p:childTnLst>
                                  <p:subTnLst>
                                    <p:set>
                                      <p:cBhvr override="childStyle">
                                        <p:cTn dur="1" fill="hold" display="0" masterRel="nextClick" afterEffect="1"/>
                                        <p:tgtEl>
                                          <p:spTgt spid="82"/>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94"/>
                                        </p:tgtEl>
                                        <p:attrNameLst>
                                          <p:attrName>style.visibility</p:attrName>
                                        </p:attrNameLst>
                                      </p:cBhvr>
                                      <p:to>
                                        <p:strVal val="visible"/>
                                      </p:to>
                                    </p:se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7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8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87"/>
                                        </p:tgtEl>
                                        <p:attrNameLst>
                                          <p:attrName>style.visibility</p:attrName>
                                        </p:attrNameLst>
                                      </p:cBhvr>
                                      <p:to>
                                        <p:strVal val="visible"/>
                                      </p:to>
                                    </p:set>
                                  </p:childTnLst>
                                  <p:subTnLst>
                                    <p:set>
                                      <p:cBhvr override="childStyle">
                                        <p:cTn dur="1" fill="hold" display="0" masterRel="nextClick" afterEffect="1"/>
                                        <p:tgtEl>
                                          <p:spTgt spid="87"/>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95"/>
                                        </p:tgtEl>
                                        <p:attrNameLst>
                                          <p:attrName>style.visibility</p:attrName>
                                        </p:attrNameLst>
                                      </p:cBhvr>
                                      <p:to>
                                        <p:strVal val="visible"/>
                                      </p:to>
                                    </p:set>
                                  </p:childTnLst>
                                  <p:subTnLst>
                                    <p:set>
                                      <p:cBhvr override="childStyle">
                                        <p:cTn dur="1" fill="hold" display="0" masterRel="nextClick" afterEffect="1"/>
                                        <p:tgtEl>
                                          <p:spTgt spid="95"/>
                                        </p:tgtEl>
                                        <p:attrNameLst>
                                          <p:attrName>style.visibility</p:attrName>
                                        </p:attrNameLst>
                                      </p:cBhvr>
                                      <p:to>
                                        <p:strVal val="hidden"/>
                                      </p:to>
                                    </p:set>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7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88"/>
                                        </p:tgtEl>
                                        <p:attrNameLst>
                                          <p:attrName>style.visibility</p:attrName>
                                        </p:attrNameLst>
                                      </p:cBhvr>
                                      <p:to>
                                        <p:strVal val="visible"/>
                                      </p:to>
                                    </p:set>
                                  </p:childTnLst>
                                  <p:subTnLst>
                                    <p:set>
                                      <p:cBhvr override="childStyle">
                                        <p:cTn dur="1" fill="hold" display="0" masterRel="nextClick" afterEffect="1"/>
                                        <p:tgtEl>
                                          <p:spTgt spid="88"/>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8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p:bldP spid="73" grpId="0"/>
      <p:bldP spid="74" grpId="0"/>
      <p:bldP spid="75" grpId="0"/>
      <p:bldP spid="76" grpId="0"/>
      <p:bldP spid="77" grpId="0"/>
      <p:bldP spid="78" grpId="0"/>
      <p:bldP spid="80" grpId="0" animBg="1"/>
      <p:bldP spid="82" grpId="0" animBg="1"/>
      <p:bldP spid="83" grpId="0" animBg="1"/>
      <p:bldP spid="85" grpId="0" animBg="1"/>
      <p:bldP spid="87" grpId="0" animBg="1"/>
      <p:bldP spid="88" grpId="0" animBg="1"/>
      <p:bldP spid="89" grpId="0" animBg="1"/>
      <p:bldP spid="90" grpId="0" animBg="1"/>
      <p:bldP spid="92" grpId="0" animBg="1"/>
      <p:bldP spid="93" grpId="0" animBg="1"/>
      <p:bldP spid="94" grpId="0" animBg="1"/>
      <p:bldP spid="9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循环的性质</a:t>
            </a:r>
            <a:endParaRPr lang="en-US" altLang="zh-CN" dirty="0">
              <a:latin typeface="Times New Roman" panose="02020603050405020304" pitchFamily="18" charset="0"/>
              <a:ea typeface="宋体" panose="02010600030101010101" pitchFamily="2" charset="-122"/>
            </a:endParaRPr>
          </a:p>
        </p:txBody>
      </p:sp>
      <p:sp>
        <p:nvSpPr>
          <p:cNvPr id="17817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两个循环的关系：</a:t>
            </a:r>
            <a:endParaRPr lang="zh-CN" altLang="en-US" sz="2400" b="1" dirty="0">
              <a:ea typeface="宋体" panose="02010600030101010101" pitchFamily="2" charset="-122"/>
            </a:endParaRPr>
          </a:p>
          <a:p>
            <a:pPr lvl="1"/>
            <a:r>
              <a:rPr lang="zh-CN" altLang="en-US" sz="2200" b="1" dirty="0">
                <a:ea typeface="宋体" panose="02010600030101010101" pitchFamily="2" charset="-122"/>
              </a:rPr>
              <a:t>任意两个循环要么是嵌套的，要么不相交（可能有公共的入口结点）</a:t>
            </a:r>
            <a:endParaRPr lang="zh-CN" altLang="en-US" sz="2200" b="1" dirty="0">
              <a:ea typeface="宋体" panose="02010600030101010101" pitchFamily="2" charset="-122"/>
            </a:endParaRPr>
          </a:p>
          <a:p>
            <a:r>
              <a:rPr lang="zh-CN" altLang="en-US" sz="2400" b="1" dirty="0">
                <a:ea typeface="宋体" panose="02010600030101010101" pitchFamily="2" charset="-122"/>
              </a:rPr>
              <a:t>内循环：不包含任何其它循环的循环</a:t>
            </a:r>
            <a:endParaRPr lang="zh-CN" altLang="en-US" sz="2400" b="1" dirty="0">
              <a:ea typeface="宋体" panose="02010600030101010101" pitchFamily="2" charset="-122"/>
            </a:endParaRPr>
          </a:p>
          <a:p>
            <a:pPr lvl="1"/>
            <a:r>
              <a:rPr lang="zh-CN" altLang="en-US" sz="2200" b="1" dirty="0">
                <a:ea typeface="宋体" panose="02010600030101010101" pitchFamily="2" charset="-122"/>
              </a:rPr>
              <a:t>如果两个自然循环有相同的首结点，且两个循环不是一个嵌在另一个里面时，可以考虑将二者合并，当成是一个循环</a:t>
            </a:r>
            <a:endParaRPr lang="zh-CN" altLang="en-US" sz="2200" b="1" dirty="0">
              <a:ea typeface="宋体" panose="02010600030101010101" pitchFamily="2" charset="-122"/>
            </a:endParaRPr>
          </a:p>
        </p:txBody>
      </p:sp>
      <p:grpSp>
        <p:nvGrpSpPr>
          <p:cNvPr id="178180" name="Group 23"/>
          <p:cNvGrpSpPr/>
          <p:nvPr/>
        </p:nvGrpSpPr>
        <p:grpSpPr>
          <a:xfrm>
            <a:off x="2565400" y="3962400"/>
            <a:ext cx="4838700" cy="2590800"/>
            <a:chOff x="1616" y="2496"/>
            <a:chExt cx="3048" cy="1632"/>
          </a:xfrm>
        </p:grpSpPr>
        <p:sp>
          <p:nvSpPr>
            <p:cNvPr id="178181" name="Text Box 5"/>
            <p:cNvSpPr txBox="1"/>
            <p:nvPr/>
          </p:nvSpPr>
          <p:spPr>
            <a:xfrm>
              <a:off x="2870" y="2666"/>
              <a:ext cx="340" cy="28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400" dirty="0">
                  <a:ea typeface="宋体" panose="02010600030101010101" pitchFamily="2" charset="-122"/>
                </a:rPr>
                <a:t>B0</a:t>
              </a:r>
              <a:endParaRPr lang="en-US" altLang="zh-CN" sz="2400" dirty="0">
                <a:ea typeface="宋体" panose="02010600030101010101" pitchFamily="2" charset="-122"/>
              </a:endParaRPr>
            </a:p>
          </p:txBody>
        </p:sp>
        <p:sp>
          <p:nvSpPr>
            <p:cNvPr id="178182" name="Rectangle 6"/>
            <p:cNvSpPr/>
            <p:nvPr/>
          </p:nvSpPr>
          <p:spPr>
            <a:xfrm>
              <a:off x="2880" y="2688"/>
              <a:ext cx="288"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78183" name="Text Box 7"/>
            <p:cNvSpPr txBox="1"/>
            <p:nvPr/>
          </p:nvSpPr>
          <p:spPr>
            <a:xfrm>
              <a:off x="2880" y="3168"/>
              <a:ext cx="340" cy="28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400" dirty="0">
                  <a:ea typeface="宋体" panose="02010600030101010101" pitchFamily="2" charset="-122"/>
                </a:rPr>
                <a:t>B1</a:t>
              </a:r>
              <a:endParaRPr lang="en-US" altLang="zh-CN" sz="2400" dirty="0">
                <a:ea typeface="宋体" panose="02010600030101010101" pitchFamily="2" charset="-122"/>
              </a:endParaRPr>
            </a:p>
          </p:txBody>
        </p:sp>
        <p:sp>
          <p:nvSpPr>
            <p:cNvPr id="178184" name="Rectangle 8"/>
            <p:cNvSpPr/>
            <p:nvPr/>
          </p:nvSpPr>
          <p:spPr>
            <a:xfrm>
              <a:off x="2890" y="3190"/>
              <a:ext cx="288"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78185" name="Text Box 9"/>
            <p:cNvSpPr txBox="1"/>
            <p:nvPr/>
          </p:nvSpPr>
          <p:spPr>
            <a:xfrm>
              <a:off x="2304" y="3600"/>
              <a:ext cx="340" cy="28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400" dirty="0">
                  <a:ea typeface="宋体" panose="02010600030101010101" pitchFamily="2" charset="-122"/>
                </a:rPr>
                <a:t>B2</a:t>
              </a:r>
              <a:endParaRPr lang="en-US" altLang="zh-CN" sz="2400" dirty="0">
                <a:ea typeface="宋体" panose="02010600030101010101" pitchFamily="2" charset="-122"/>
              </a:endParaRPr>
            </a:p>
          </p:txBody>
        </p:sp>
        <p:sp>
          <p:nvSpPr>
            <p:cNvPr id="178186" name="Rectangle 10"/>
            <p:cNvSpPr/>
            <p:nvPr/>
          </p:nvSpPr>
          <p:spPr>
            <a:xfrm>
              <a:off x="2314" y="3622"/>
              <a:ext cx="288"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78187" name="Text Box 11"/>
            <p:cNvSpPr txBox="1"/>
            <p:nvPr/>
          </p:nvSpPr>
          <p:spPr>
            <a:xfrm>
              <a:off x="3552" y="3600"/>
              <a:ext cx="340" cy="28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2400" dirty="0">
                  <a:ea typeface="宋体" panose="02010600030101010101" pitchFamily="2" charset="-122"/>
                </a:rPr>
                <a:t>B3</a:t>
              </a:r>
              <a:endParaRPr lang="en-US" altLang="zh-CN" sz="2400" dirty="0">
                <a:ea typeface="宋体" panose="02010600030101010101" pitchFamily="2" charset="-122"/>
              </a:endParaRPr>
            </a:p>
          </p:txBody>
        </p:sp>
        <p:sp>
          <p:nvSpPr>
            <p:cNvPr id="178188" name="Rectangle 12"/>
            <p:cNvSpPr/>
            <p:nvPr/>
          </p:nvSpPr>
          <p:spPr>
            <a:xfrm>
              <a:off x="3562" y="3622"/>
              <a:ext cx="288"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78189" name="Line 13"/>
            <p:cNvSpPr/>
            <p:nvPr/>
          </p:nvSpPr>
          <p:spPr>
            <a:xfrm>
              <a:off x="3024" y="2928"/>
              <a:ext cx="0" cy="240"/>
            </a:xfrm>
            <a:prstGeom prst="line">
              <a:avLst/>
            </a:prstGeom>
            <a:ln w="28575" cap="flat" cmpd="sng">
              <a:solidFill>
                <a:schemeClr val="tx1"/>
              </a:solidFill>
              <a:prstDash val="solid"/>
              <a:headEnd type="none" w="sm" len="sm"/>
              <a:tailEnd type="triangle" w="med" len="med"/>
            </a:ln>
          </p:spPr>
        </p:sp>
        <p:sp>
          <p:nvSpPr>
            <p:cNvPr id="178190" name="Line 14"/>
            <p:cNvSpPr/>
            <p:nvPr/>
          </p:nvSpPr>
          <p:spPr>
            <a:xfrm flipH="1">
              <a:off x="2448" y="3456"/>
              <a:ext cx="576" cy="144"/>
            </a:xfrm>
            <a:prstGeom prst="line">
              <a:avLst/>
            </a:prstGeom>
            <a:ln w="28575" cap="flat" cmpd="sng">
              <a:solidFill>
                <a:schemeClr val="tx1"/>
              </a:solidFill>
              <a:prstDash val="solid"/>
              <a:headEnd type="none" w="sm" len="sm"/>
              <a:tailEnd type="triangle" w="med" len="med"/>
            </a:ln>
          </p:spPr>
        </p:sp>
        <p:sp>
          <p:nvSpPr>
            <p:cNvPr id="178191" name="Line 15"/>
            <p:cNvSpPr/>
            <p:nvPr/>
          </p:nvSpPr>
          <p:spPr>
            <a:xfrm>
              <a:off x="3072" y="3456"/>
              <a:ext cx="624" cy="144"/>
            </a:xfrm>
            <a:prstGeom prst="line">
              <a:avLst/>
            </a:prstGeom>
            <a:ln w="28575" cap="flat" cmpd="sng">
              <a:solidFill>
                <a:schemeClr val="tx1"/>
              </a:solidFill>
              <a:prstDash val="solid"/>
              <a:headEnd type="none" w="sm" len="sm"/>
              <a:tailEnd type="triangle" w="med" len="med"/>
            </a:ln>
          </p:spPr>
        </p:sp>
        <p:sp>
          <p:nvSpPr>
            <p:cNvPr id="178192" name="Line 16"/>
            <p:cNvSpPr/>
            <p:nvPr/>
          </p:nvSpPr>
          <p:spPr>
            <a:xfrm>
              <a:off x="2832" y="2496"/>
              <a:ext cx="192" cy="192"/>
            </a:xfrm>
            <a:prstGeom prst="line">
              <a:avLst/>
            </a:prstGeom>
            <a:ln w="28575" cap="flat" cmpd="sng">
              <a:solidFill>
                <a:schemeClr val="tx1"/>
              </a:solidFill>
              <a:prstDash val="solid"/>
              <a:headEnd type="none" w="sm" len="sm"/>
              <a:tailEnd type="triangle" w="med" len="med"/>
            </a:ln>
          </p:spPr>
        </p:sp>
        <p:sp>
          <p:nvSpPr>
            <p:cNvPr id="178193" name="Line 17"/>
            <p:cNvSpPr/>
            <p:nvPr/>
          </p:nvSpPr>
          <p:spPr>
            <a:xfrm flipH="1">
              <a:off x="3024" y="2496"/>
              <a:ext cx="192" cy="192"/>
            </a:xfrm>
            <a:prstGeom prst="line">
              <a:avLst/>
            </a:prstGeom>
            <a:ln w="28575" cap="flat" cmpd="sng">
              <a:solidFill>
                <a:schemeClr val="tx1"/>
              </a:solidFill>
              <a:prstDash val="solid"/>
              <a:headEnd type="none" w="sm" len="sm"/>
              <a:tailEnd type="triangle" w="med" len="med"/>
            </a:ln>
          </p:spPr>
        </p:sp>
        <p:sp>
          <p:nvSpPr>
            <p:cNvPr id="178194" name="Freeform 21"/>
            <p:cNvSpPr/>
            <p:nvPr/>
          </p:nvSpPr>
          <p:spPr>
            <a:xfrm>
              <a:off x="1616" y="2496"/>
              <a:ext cx="1264" cy="1632"/>
            </a:xfrm>
            <a:custGeom>
              <a:avLst/>
              <a:gdLst/>
              <a:ahLst/>
              <a:cxnLst>
                <a:cxn ang="0">
                  <a:pos x="244" y="477"/>
                </a:cxn>
                <a:cxn ang="0">
                  <a:pos x="159" y="522"/>
                </a:cxn>
                <a:cxn ang="0">
                  <a:pos x="19" y="287"/>
                </a:cxn>
                <a:cxn ang="0">
                  <a:pos x="273" y="36"/>
                </a:cxn>
                <a:cxn ang="0">
                  <a:pos x="383" y="82"/>
                </a:cxn>
              </a:cxnLst>
              <a:pathLst>
                <a:path w="1312" h="1688">
                  <a:moveTo>
                    <a:pt x="832" y="1448"/>
                  </a:moveTo>
                  <a:cubicBezTo>
                    <a:pt x="752" y="1568"/>
                    <a:pt x="672" y="1688"/>
                    <a:pt x="544" y="1592"/>
                  </a:cubicBezTo>
                  <a:cubicBezTo>
                    <a:pt x="416" y="1496"/>
                    <a:pt x="0" y="1120"/>
                    <a:pt x="64" y="872"/>
                  </a:cubicBezTo>
                  <a:cubicBezTo>
                    <a:pt x="128" y="624"/>
                    <a:pt x="720" y="208"/>
                    <a:pt x="928" y="104"/>
                  </a:cubicBezTo>
                  <a:cubicBezTo>
                    <a:pt x="1136" y="0"/>
                    <a:pt x="1248" y="224"/>
                    <a:pt x="1312" y="248"/>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sp>
          <p:nvSpPr>
            <p:cNvPr id="178195" name="Freeform 22"/>
            <p:cNvSpPr/>
            <p:nvPr/>
          </p:nvSpPr>
          <p:spPr>
            <a:xfrm>
              <a:off x="3168" y="2496"/>
              <a:ext cx="1496" cy="1616"/>
            </a:xfrm>
            <a:custGeom>
              <a:avLst/>
              <a:gdLst/>
              <a:ahLst/>
              <a:cxnLst>
                <a:cxn ang="0">
                  <a:pos x="220" y="390"/>
                </a:cxn>
                <a:cxn ang="0">
                  <a:pos x="355" y="445"/>
                </a:cxn>
                <a:cxn ang="0">
                  <a:pos x="507" y="258"/>
                </a:cxn>
                <a:cxn ang="0">
                  <a:pos x="135" y="32"/>
                </a:cxn>
                <a:cxn ang="0">
                  <a:pos x="0" y="72"/>
                </a:cxn>
              </a:cxnLst>
              <a:pathLst>
                <a:path w="1544" h="1680">
                  <a:moveTo>
                    <a:pt x="624" y="1408"/>
                  </a:moveTo>
                  <a:cubicBezTo>
                    <a:pt x="748" y="1544"/>
                    <a:pt x="872" y="1680"/>
                    <a:pt x="1008" y="1600"/>
                  </a:cubicBezTo>
                  <a:cubicBezTo>
                    <a:pt x="1144" y="1520"/>
                    <a:pt x="1544" y="1176"/>
                    <a:pt x="1440" y="928"/>
                  </a:cubicBezTo>
                  <a:cubicBezTo>
                    <a:pt x="1336" y="680"/>
                    <a:pt x="624" y="224"/>
                    <a:pt x="384" y="112"/>
                  </a:cubicBezTo>
                  <a:cubicBezTo>
                    <a:pt x="144" y="0"/>
                    <a:pt x="72" y="128"/>
                    <a:pt x="0" y="256"/>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gr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前置结点</a:t>
            </a:r>
            <a:endParaRPr lang="zh-CN" altLang="en-US" dirty="0">
              <a:latin typeface="Times New Roman" panose="02020603050405020304" pitchFamily="18" charset="0"/>
              <a:ea typeface="宋体" panose="02010600030101010101" pitchFamily="2" charset="-122"/>
            </a:endParaRPr>
          </a:p>
        </p:txBody>
      </p:sp>
      <p:sp>
        <p:nvSpPr>
          <p:cNvPr id="18022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原因：</a:t>
            </a:r>
            <a:endParaRPr lang="zh-CN" altLang="en-US" sz="2400" b="1" dirty="0">
              <a:ea typeface="宋体" panose="02010600030101010101" pitchFamily="2" charset="-122"/>
            </a:endParaRPr>
          </a:p>
          <a:p>
            <a:pPr lvl="1"/>
            <a:r>
              <a:rPr lang="zh-CN" altLang="en-US" sz="2200" b="1" dirty="0">
                <a:ea typeface="宋体" panose="02010600030101010101" pitchFamily="2" charset="-122"/>
              </a:rPr>
              <a:t>某些变换要求将语句移动到首结点的前面，因此再开始处理一个循环</a:t>
            </a:r>
            <a:r>
              <a:rPr lang="en-US" altLang="zh-CN" sz="2200" b="1" dirty="0">
                <a:ea typeface="宋体" panose="02010600030101010101" pitchFamily="2" charset="-122"/>
              </a:rPr>
              <a:t>L</a:t>
            </a:r>
            <a:r>
              <a:rPr lang="zh-CN" altLang="en-US" sz="2200" b="1" dirty="0">
                <a:ea typeface="宋体" panose="02010600030101010101" pitchFamily="2" charset="-122"/>
              </a:rPr>
              <a:t>时，创建一个新块，称为前置结点</a:t>
            </a:r>
            <a:endParaRPr lang="zh-CN" altLang="en-US" sz="2200" b="1" dirty="0">
              <a:ea typeface="宋体" panose="02010600030101010101" pitchFamily="2" charset="-122"/>
            </a:endParaRPr>
          </a:p>
          <a:p>
            <a:pPr lvl="1"/>
            <a:r>
              <a:rPr lang="zh-CN" altLang="en-US" sz="2200" b="1" dirty="0">
                <a:ea typeface="宋体" panose="02010600030101010101" pitchFamily="2" charset="-122"/>
              </a:rPr>
              <a:t>前置结点唯一的后继是</a:t>
            </a:r>
            <a:r>
              <a:rPr lang="en-US" altLang="zh-CN" sz="2200" b="1" dirty="0">
                <a:ea typeface="宋体" panose="02010600030101010101" pitchFamily="2" charset="-122"/>
              </a:rPr>
              <a:t>L</a:t>
            </a:r>
            <a:r>
              <a:rPr lang="zh-CN" altLang="en-US" sz="2200" b="1" dirty="0">
                <a:ea typeface="宋体" panose="02010600030101010101" pitchFamily="2" charset="-122"/>
              </a:rPr>
              <a:t>的首结点</a:t>
            </a:r>
            <a:endParaRPr lang="zh-CN" altLang="en-US" sz="2200" b="1" dirty="0">
              <a:ea typeface="宋体" panose="02010600030101010101" pitchFamily="2" charset="-122"/>
            </a:endParaRPr>
          </a:p>
          <a:p>
            <a:pPr lvl="1"/>
            <a:r>
              <a:rPr lang="zh-CN" altLang="en-US" sz="2200" b="1" dirty="0">
                <a:ea typeface="宋体" panose="02010600030101010101" pitchFamily="2" charset="-122"/>
              </a:rPr>
              <a:t>将原来从</a:t>
            </a:r>
            <a:r>
              <a:rPr lang="en-US" altLang="zh-CN" sz="2200" b="1" dirty="0">
                <a:ea typeface="宋体" panose="02010600030101010101" pitchFamily="2" charset="-122"/>
              </a:rPr>
              <a:t>L</a:t>
            </a:r>
            <a:r>
              <a:rPr lang="zh-CN" altLang="en-US" sz="2200" b="1" dirty="0">
                <a:ea typeface="宋体" panose="02010600030101010101" pitchFamily="2" charset="-122"/>
              </a:rPr>
              <a:t>外到达</a:t>
            </a:r>
            <a:r>
              <a:rPr lang="en-US" altLang="zh-CN" sz="2200" b="1" dirty="0">
                <a:ea typeface="宋体" panose="02010600030101010101" pitchFamily="2" charset="-122"/>
              </a:rPr>
              <a:t>L</a:t>
            </a:r>
            <a:r>
              <a:rPr lang="zh-CN" altLang="en-US" sz="2200" b="1" dirty="0">
                <a:ea typeface="宋体" panose="02010600030101010101" pitchFamily="2" charset="-122"/>
              </a:rPr>
              <a:t>首结点的边都改成进入前置结点</a:t>
            </a:r>
            <a:endParaRPr lang="zh-CN" altLang="en-US" sz="2200" b="1" dirty="0">
              <a:ea typeface="宋体" panose="02010600030101010101" pitchFamily="2" charset="-122"/>
            </a:endParaRPr>
          </a:p>
          <a:p>
            <a:pPr lvl="1"/>
            <a:r>
              <a:rPr lang="zh-CN" altLang="en-US" sz="2200" b="1" dirty="0">
                <a:ea typeface="宋体" panose="02010600030101010101" pitchFamily="2" charset="-122"/>
              </a:rPr>
              <a:t>从</a:t>
            </a:r>
            <a:r>
              <a:rPr lang="en-US" altLang="zh-CN" sz="2200" b="1" dirty="0">
                <a:ea typeface="宋体" panose="02010600030101010101" pitchFamily="2" charset="-122"/>
              </a:rPr>
              <a:t>L</a:t>
            </a:r>
            <a:r>
              <a:rPr lang="zh-CN" altLang="en-US" sz="2200" b="1" dirty="0">
                <a:ea typeface="宋体" panose="02010600030101010101" pitchFamily="2" charset="-122"/>
              </a:rPr>
              <a:t>内到达首结点的边不变</a:t>
            </a:r>
            <a:endParaRPr lang="zh-CN" altLang="en-US" sz="2200" b="1" dirty="0">
              <a:ea typeface="宋体" panose="02010600030101010101" pitchFamily="2" charset="-122"/>
            </a:endParaRPr>
          </a:p>
        </p:txBody>
      </p:sp>
      <p:grpSp>
        <p:nvGrpSpPr>
          <p:cNvPr id="180228" name="Group 36"/>
          <p:cNvGrpSpPr/>
          <p:nvPr/>
        </p:nvGrpSpPr>
        <p:grpSpPr>
          <a:xfrm>
            <a:off x="1752600" y="3581400"/>
            <a:ext cx="6134100" cy="2835275"/>
            <a:chOff x="1104" y="2256"/>
            <a:chExt cx="3864" cy="1786"/>
          </a:xfrm>
        </p:grpSpPr>
        <p:sp>
          <p:nvSpPr>
            <p:cNvPr id="180229" name="Text Box 5"/>
            <p:cNvSpPr txBox="1"/>
            <p:nvPr/>
          </p:nvSpPr>
          <p:spPr>
            <a:xfrm>
              <a:off x="1632" y="2832"/>
              <a:ext cx="599"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首结点</a:t>
              </a:r>
              <a:endParaRPr lang="zh-CN" altLang="en-US" sz="2000" b="1" dirty="0">
                <a:ea typeface="宋体" panose="02010600030101010101" pitchFamily="2" charset="-122"/>
              </a:endParaRPr>
            </a:p>
          </p:txBody>
        </p:sp>
        <p:sp>
          <p:nvSpPr>
            <p:cNvPr id="180230" name="Rectangle 6"/>
            <p:cNvSpPr/>
            <p:nvPr/>
          </p:nvSpPr>
          <p:spPr>
            <a:xfrm>
              <a:off x="1642" y="2834"/>
              <a:ext cx="576"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80231" name="Line 16"/>
            <p:cNvSpPr/>
            <p:nvPr/>
          </p:nvSpPr>
          <p:spPr>
            <a:xfrm>
              <a:off x="1728" y="2640"/>
              <a:ext cx="192" cy="192"/>
            </a:xfrm>
            <a:prstGeom prst="line">
              <a:avLst/>
            </a:prstGeom>
            <a:ln w="28575" cap="flat" cmpd="sng">
              <a:solidFill>
                <a:schemeClr val="tx1"/>
              </a:solidFill>
              <a:prstDash val="solid"/>
              <a:headEnd type="none" w="sm" len="sm"/>
              <a:tailEnd type="triangle" w="med" len="med"/>
            </a:ln>
          </p:spPr>
        </p:sp>
        <p:sp>
          <p:nvSpPr>
            <p:cNvPr id="180232" name="Line 17"/>
            <p:cNvSpPr/>
            <p:nvPr/>
          </p:nvSpPr>
          <p:spPr>
            <a:xfrm flipH="1">
              <a:off x="1920" y="2640"/>
              <a:ext cx="192" cy="192"/>
            </a:xfrm>
            <a:prstGeom prst="line">
              <a:avLst/>
            </a:prstGeom>
            <a:ln w="28575" cap="flat" cmpd="sng">
              <a:solidFill>
                <a:schemeClr val="tx1"/>
              </a:solidFill>
              <a:prstDash val="solid"/>
              <a:headEnd type="none" w="sm" len="sm"/>
              <a:tailEnd type="triangle" w="med" len="med"/>
            </a:ln>
          </p:spPr>
        </p:sp>
        <p:sp>
          <p:nvSpPr>
            <p:cNvPr id="180233" name="Text Box 20"/>
            <p:cNvSpPr txBox="1"/>
            <p:nvPr/>
          </p:nvSpPr>
          <p:spPr>
            <a:xfrm>
              <a:off x="1680" y="3371"/>
              <a:ext cx="545"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循环</a:t>
              </a:r>
              <a:r>
                <a:rPr lang="en-US" altLang="zh-CN" sz="2000" b="1" dirty="0">
                  <a:ea typeface="宋体" panose="02010600030101010101" pitchFamily="2" charset="-122"/>
                </a:rPr>
                <a:t>L</a:t>
              </a:r>
              <a:endParaRPr lang="en-US" altLang="zh-CN" sz="2000" b="1" dirty="0">
                <a:ea typeface="宋体" panose="02010600030101010101" pitchFamily="2" charset="-122"/>
              </a:endParaRPr>
            </a:p>
          </p:txBody>
        </p:sp>
        <p:sp>
          <p:nvSpPr>
            <p:cNvPr id="180234" name="Freeform 22"/>
            <p:cNvSpPr/>
            <p:nvPr/>
          </p:nvSpPr>
          <p:spPr>
            <a:xfrm>
              <a:off x="1104" y="2603"/>
              <a:ext cx="576" cy="1176"/>
            </a:xfrm>
            <a:custGeom>
              <a:avLst/>
              <a:gdLst/>
              <a:ahLst/>
              <a:cxnLst>
                <a:cxn ang="0">
                  <a:pos x="576" y="960"/>
                </a:cxn>
                <a:cxn ang="0">
                  <a:pos x="336" y="1104"/>
                </a:cxn>
                <a:cxn ang="0">
                  <a:pos x="0" y="528"/>
                </a:cxn>
                <a:cxn ang="0">
                  <a:pos x="336" y="48"/>
                </a:cxn>
                <a:cxn ang="0">
                  <a:pos x="576" y="240"/>
                </a:cxn>
              </a:cxnLst>
              <a:pathLst>
                <a:path w="576" h="1176">
                  <a:moveTo>
                    <a:pt x="576" y="960"/>
                  </a:moveTo>
                  <a:cubicBezTo>
                    <a:pt x="504" y="1068"/>
                    <a:pt x="432" y="1176"/>
                    <a:pt x="336" y="1104"/>
                  </a:cubicBezTo>
                  <a:cubicBezTo>
                    <a:pt x="240" y="1032"/>
                    <a:pt x="0" y="704"/>
                    <a:pt x="0" y="528"/>
                  </a:cubicBezTo>
                  <a:cubicBezTo>
                    <a:pt x="0" y="352"/>
                    <a:pt x="240" y="96"/>
                    <a:pt x="336" y="48"/>
                  </a:cubicBezTo>
                  <a:cubicBezTo>
                    <a:pt x="432" y="0"/>
                    <a:pt x="504" y="120"/>
                    <a:pt x="576" y="240"/>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sp>
          <p:nvSpPr>
            <p:cNvPr id="180235" name="Freeform 23"/>
            <p:cNvSpPr/>
            <p:nvPr/>
          </p:nvSpPr>
          <p:spPr>
            <a:xfrm>
              <a:off x="2160" y="2651"/>
              <a:ext cx="648" cy="1120"/>
            </a:xfrm>
            <a:custGeom>
              <a:avLst/>
              <a:gdLst/>
              <a:ahLst/>
              <a:cxnLst>
                <a:cxn ang="0">
                  <a:pos x="48" y="156"/>
                </a:cxn>
                <a:cxn ang="0">
                  <a:pos x="384" y="179"/>
                </a:cxn>
                <a:cxn ang="0">
                  <a:pos x="624" y="96"/>
                </a:cxn>
                <a:cxn ang="0">
                  <a:pos x="240" y="9"/>
                </a:cxn>
                <a:cxn ang="0">
                  <a:pos x="0" y="34"/>
                </a:cxn>
              </a:cxnLst>
              <a:pathLst>
                <a:path w="648" h="1184">
                  <a:moveTo>
                    <a:pt x="48" y="976"/>
                  </a:moveTo>
                  <a:cubicBezTo>
                    <a:pt x="168" y="1080"/>
                    <a:pt x="288" y="1184"/>
                    <a:pt x="384" y="1120"/>
                  </a:cubicBezTo>
                  <a:cubicBezTo>
                    <a:pt x="480" y="1056"/>
                    <a:pt x="648" y="768"/>
                    <a:pt x="624" y="592"/>
                  </a:cubicBezTo>
                  <a:cubicBezTo>
                    <a:pt x="600" y="416"/>
                    <a:pt x="344" y="128"/>
                    <a:pt x="240" y="64"/>
                  </a:cubicBezTo>
                  <a:cubicBezTo>
                    <a:pt x="136" y="0"/>
                    <a:pt x="68" y="104"/>
                    <a:pt x="0" y="208"/>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sp>
          <p:nvSpPr>
            <p:cNvPr id="180236" name="Text Box 24"/>
            <p:cNvSpPr txBox="1"/>
            <p:nvPr/>
          </p:nvSpPr>
          <p:spPr>
            <a:xfrm>
              <a:off x="1536" y="3792"/>
              <a:ext cx="825"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a:t>
              </a:r>
              <a:r>
                <a:rPr lang="en-US" altLang="zh-CN" sz="2000" b="1" dirty="0">
                  <a:ea typeface="宋体" panose="02010600030101010101" pitchFamily="2" charset="-122"/>
                </a:rPr>
                <a:t>a) </a:t>
              </a:r>
              <a:r>
                <a:rPr lang="zh-CN" altLang="en-US" sz="2000" b="1" dirty="0">
                  <a:ea typeface="宋体" panose="02010600030101010101" pitchFamily="2" charset="-122"/>
                </a:rPr>
                <a:t>整理前</a:t>
              </a:r>
              <a:endParaRPr lang="en-US" altLang="zh-CN" sz="2000" b="1" dirty="0">
                <a:ea typeface="宋体" panose="02010600030101010101" pitchFamily="2" charset="-122"/>
              </a:endParaRPr>
            </a:p>
          </p:txBody>
        </p:sp>
        <p:sp>
          <p:nvSpPr>
            <p:cNvPr id="180237" name="Text Box 25"/>
            <p:cNvSpPr txBox="1"/>
            <p:nvPr/>
          </p:nvSpPr>
          <p:spPr>
            <a:xfrm>
              <a:off x="3792" y="2928"/>
              <a:ext cx="599"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首结点</a:t>
              </a:r>
              <a:endParaRPr lang="zh-CN" altLang="en-US" sz="2000" b="1" dirty="0">
                <a:ea typeface="宋体" panose="02010600030101010101" pitchFamily="2" charset="-122"/>
              </a:endParaRPr>
            </a:p>
          </p:txBody>
        </p:sp>
        <p:sp>
          <p:nvSpPr>
            <p:cNvPr id="180238" name="Rectangle 26"/>
            <p:cNvSpPr/>
            <p:nvPr/>
          </p:nvSpPr>
          <p:spPr>
            <a:xfrm>
              <a:off x="3792" y="2928"/>
              <a:ext cx="576"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80239" name="Line 27"/>
            <p:cNvSpPr/>
            <p:nvPr/>
          </p:nvSpPr>
          <p:spPr>
            <a:xfrm>
              <a:off x="3888" y="2256"/>
              <a:ext cx="192" cy="192"/>
            </a:xfrm>
            <a:prstGeom prst="line">
              <a:avLst/>
            </a:prstGeom>
            <a:ln w="28575" cap="flat" cmpd="sng">
              <a:solidFill>
                <a:schemeClr val="tx1"/>
              </a:solidFill>
              <a:prstDash val="solid"/>
              <a:headEnd type="none" w="sm" len="sm"/>
              <a:tailEnd type="triangle" w="med" len="med"/>
            </a:ln>
          </p:spPr>
        </p:sp>
        <p:sp>
          <p:nvSpPr>
            <p:cNvPr id="180240" name="Line 28"/>
            <p:cNvSpPr/>
            <p:nvPr/>
          </p:nvSpPr>
          <p:spPr>
            <a:xfrm flipH="1">
              <a:off x="4080" y="2256"/>
              <a:ext cx="192" cy="192"/>
            </a:xfrm>
            <a:prstGeom prst="line">
              <a:avLst/>
            </a:prstGeom>
            <a:ln w="28575" cap="flat" cmpd="sng">
              <a:solidFill>
                <a:schemeClr val="tx1"/>
              </a:solidFill>
              <a:prstDash val="solid"/>
              <a:headEnd type="none" w="sm" len="sm"/>
              <a:tailEnd type="triangle" w="med" len="med"/>
            </a:ln>
          </p:spPr>
        </p:sp>
        <p:sp>
          <p:nvSpPr>
            <p:cNvPr id="180241" name="Text Box 29"/>
            <p:cNvSpPr txBox="1"/>
            <p:nvPr/>
          </p:nvSpPr>
          <p:spPr>
            <a:xfrm>
              <a:off x="3840" y="3323"/>
              <a:ext cx="545"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循环</a:t>
              </a:r>
              <a:r>
                <a:rPr lang="en-US" altLang="zh-CN" sz="2000" b="1" dirty="0">
                  <a:ea typeface="宋体" panose="02010600030101010101" pitchFamily="2" charset="-122"/>
                </a:rPr>
                <a:t>L</a:t>
              </a:r>
              <a:endParaRPr lang="en-US" altLang="zh-CN" sz="2000" b="1" dirty="0">
                <a:ea typeface="宋体" panose="02010600030101010101" pitchFamily="2" charset="-122"/>
              </a:endParaRPr>
            </a:p>
          </p:txBody>
        </p:sp>
        <p:sp>
          <p:nvSpPr>
            <p:cNvPr id="180242" name="Freeform 30"/>
            <p:cNvSpPr/>
            <p:nvPr/>
          </p:nvSpPr>
          <p:spPr>
            <a:xfrm>
              <a:off x="3264" y="2736"/>
              <a:ext cx="576" cy="995"/>
            </a:xfrm>
            <a:custGeom>
              <a:avLst/>
              <a:gdLst/>
              <a:ahLst/>
              <a:cxnLst>
                <a:cxn ang="0">
                  <a:pos x="576" y="4"/>
                </a:cxn>
                <a:cxn ang="0">
                  <a:pos x="336" y="4"/>
                </a:cxn>
                <a:cxn ang="0">
                  <a:pos x="0" y="3"/>
                </a:cxn>
                <a:cxn ang="0">
                  <a:pos x="336" y="3"/>
                </a:cxn>
                <a:cxn ang="0">
                  <a:pos x="576" y="3"/>
                </a:cxn>
              </a:cxnLst>
              <a:pathLst>
                <a:path w="576" h="1176">
                  <a:moveTo>
                    <a:pt x="576" y="960"/>
                  </a:moveTo>
                  <a:cubicBezTo>
                    <a:pt x="504" y="1068"/>
                    <a:pt x="432" y="1176"/>
                    <a:pt x="336" y="1104"/>
                  </a:cubicBezTo>
                  <a:cubicBezTo>
                    <a:pt x="240" y="1032"/>
                    <a:pt x="0" y="704"/>
                    <a:pt x="0" y="528"/>
                  </a:cubicBezTo>
                  <a:cubicBezTo>
                    <a:pt x="0" y="352"/>
                    <a:pt x="240" y="96"/>
                    <a:pt x="336" y="48"/>
                  </a:cubicBezTo>
                  <a:cubicBezTo>
                    <a:pt x="432" y="0"/>
                    <a:pt x="504" y="120"/>
                    <a:pt x="576" y="240"/>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sp>
          <p:nvSpPr>
            <p:cNvPr id="180243" name="Freeform 31"/>
            <p:cNvSpPr/>
            <p:nvPr/>
          </p:nvSpPr>
          <p:spPr>
            <a:xfrm>
              <a:off x="4320" y="2784"/>
              <a:ext cx="648" cy="939"/>
            </a:xfrm>
            <a:custGeom>
              <a:avLst/>
              <a:gdLst/>
              <a:ahLst/>
              <a:cxnLst>
                <a:cxn ang="0">
                  <a:pos x="48" y="2"/>
                </a:cxn>
                <a:cxn ang="0">
                  <a:pos x="384" y="2"/>
                </a:cxn>
                <a:cxn ang="0">
                  <a:pos x="624" y="2"/>
                </a:cxn>
                <a:cxn ang="0">
                  <a:pos x="240" y="2"/>
                </a:cxn>
                <a:cxn ang="0">
                  <a:pos x="0" y="2"/>
                </a:cxn>
              </a:cxnLst>
              <a:pathLst>
                <a:path w="648" h="1184">
                  <a:moveTo>
                    <a:pt x="48" y="976"/>
                  </a:moveTo>
                  <a:cubicBezTo>
                    <a:pt x="168" y="1080"/>
                    <a:pt x="288" y="1184"/>
                    <a:pt x="384" y="1120"/>
                  </a:cubicBezTo>
                  <a:cubicBezTo>
                    <a:pt x="480" y="1056"/>
                    <a:pt x="648" y="768"/>
                    <a:pt x="624" y="592"/>
                  </a:cubicBezTo>
                  <a:cubicBezTo>
                    <a:pt x="600" y="416"/>
                    <a:pt x="344" y="128"/>
                    <a:pt x="240" y="64"/>
                  </a:cubicBezTo>
                  <a:cubicBezTo>
                    <a:pt x="136" y="0"/>
                    <a:pt x="68" y="104"/>
                    <a:pt x="0" y="208"/>
                  </a:cubicBezTo>
                </a:path>
              </a:pathLst>
            </a:custGeom>
            <a:noFill/>
            <a:ln w="28575" cap="flat" cmpd="sng">
              <a:solidFill>
                <a:schemeClr val="tx1">
                  <a:alpha val="100000"/>
                </a:schemeClr>
              </a:solidFill>
              <a:prstDash val="solid"/>
              <a:round/>
              <a:headEnd type="none" w="sm" len="sm"/>
              <a:tailEnd type="triangle" w="lg" len="med"/>
            </a:ln>
          </p:spPr>
          <p:txBody>
            <a:bodyPr/>
            <a:p>
              <a:endParaRPr lang="zh-CN" altLang="en-US"/>
            </a:p>
          </p:txBody>
        </p:sp>
        <p:sp>
          <p:nvSpPr>
            <p:cNvPr id="180244" name="Text Box 32"/>
            <p:cNvSpPr txBox="1"/>
            <p:nvPr/>
          </p:nvSpPr>
          <p:spPr>
            <a:xfrm>
              <a:off x="3696" y="3744"/>
              <a:ext cx="834"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a:t>
              </a:r>
              <a:r>
                <a:rPr lang="en-US" altLang="zh-CN" sz="2000" b="1" dirty="0">
                  <a:ea typeface="宋体" panose="02010600030101010101" pitchFamily="2" charset="-122"/>
                </a:rPr>
                <a:t>b) </a:t>
              </a:r>
              <a:r>
                <a:rPr lang="zh-CN" altLang="en-US" sz="2000" b="1" dirty="0">
                  <a:ea typeface="宋体" panose="02010600030101010101" pitchFamily="2" charset="-122"/>
                </a:rPr>
                <a:t>整理后</a:t>
              </a:r>
              <a:endParaRPr lang="en-US" altLang="zh-CN" sz="2000" b="1" dirty="0">
                <a:ea typeface="宋体" panose="02010600030101010101" pitchFamily="2" charset="-122"/>
              </a:endParaRPr>
            </a:p>
          </p:txBody>
        </p:sp>
        <p:sp>
          <p:nvSpPr>
            <p:cNvPr id="180245" name="Text Box 33"/>
            <p:cNvSpPr txBox="1"/>
            <p:nvPr/>
          </p:nvSpPr>
          <p:spPr>
            <a:xfrm>
              <a:off x="3696" y="2448"/>
              <a:ext cx="760" cy="25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b="1" dirty="0">
                  <a:ea typeface="宋体" panose="02010600030101010101" pitchFamily="2" charset="-122"/>
                </a:rPr>
                <a:t>前置结点</a:t>
              </a:r>
              <a:endParaRPr lang="zh-CN" altLang="en-US" sz="2000" b="1" dirty="0">
                <a:ea typeface="宋体" panose="02010600030101010101" pitchFamily="2" charset="-122"/>
              </a:endParaRPr>
            </a:p>
          </p:txBody>
        </p:sp>
        <p:sp>
          <p:nvSpPr>
            <p:cNvPr id="180246" name="Rectangle 34"/>
            <p:cNvSpPr/>
            <p:nvPr/>
          </p:nvSpPr>
          <p:spPr>
            <a:xfrm>
              <a:off x="3696" y="2448"/>
              <a:ext cx="720" cy="240"/>
            </a:xfrm>
            <a:prstGeom prst="rect">
              <a:avLst/>
            </a:prstGeom>
            <a:noFill/>
            <a:ln w="22225" cap="flat" cmpd="sng">
              <a:solidFill>
                <a:schemeClr val="tx1"/>
              </a:solidFill>
              <a:prstDash val="solid"/>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80247" name="Line 35"/>
            <p:cNvSpPr/>
            <p:nvPr/>
          </p:nvSpPr>
          <p:spPr>
            <a:xfrm flipH="1">
              <a:off x="4080" y="2688"/>
              <a:ext cx="0" cy="240"/>
            </a:xfrm>
            <a:prstGeom prst="line">
              <a:avLst/>
            </a:prstGeom>
            <a:ln w="28575" cap="flat" cmpd="sng">
              <a:solidFill>
                <a:schemeClr val="tx1"/>
              </a:solidFill>
              <a:prstDash val="solid"/>
              <a:headEnd type="none" w="sm" len="sm"/>
              <a:tailEnd type="triangle" w="med" len="med"/>
            </a:ln>
          </p:spPr>
        </p:sp>
      </p:gr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可归约流图和不可归约流图</a:t>
            </a:r>
            <a:endParaRPr lang="en-US" altLang="zh-CN" dirty="0">
              <a:latin typeface="Times New Roman" panose="02020603050405020304" pitchFamily="18" charset="0"/>
              <a:ea typeface="宋体" panose="02010600030101010101" pitchFamily="2" charset="-122"/>
            </a:endParaRPr>
          </a:p>
        </p:txBody>
      </p:sp>
      <p:sp>
        <p:nvSpPr>
          <p:cNvPr id="18227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可归约性是流图的一个重要特性</a:t>
            </a:r>
            <a:endParaRPr lang="zh-CN" altLang="en-US" sz="2400" b="1" dirty="0">
              <a:ea typeface="宋体" panose="02010600030101010101" pitchFamily="2" charset="-122"/>
            </a:endParaRPr>
          </a:p>
          <a:p>
            <a:pPr lvl="1"/>
            <a:r>
              <a:rPr lang="zh-CN" altLang="en-US" sz="2200" b="1" dirty="0">
                <a:ea typeface="宋体" panose="02010600030101010101" pitchFamily="2" charset="-122"/>
              </a:rPr>
              <a:t>结构化程序的流图是可归约的，如</a:t>
            </a:r>
            <a:r>
              <a:rPr lang="en-US" altLang="zh-CN" sz="2200" b="1" dirty="0">
                <a:ea typeface="宋体" panose="02010600030101010101" pitchFamily="2" charset="-122"/>
              </a:rPr>
              <a:t>do, while, repeat, if ,break, continue</a:t>
            </a:r>
            <a:r>
              <a:rPr lang="zh-CN" altLang="en-US" sz="2200" b="1" dirty="0">
                <a:ea typeface="宋体" panose="02010600030101010101" pitchFamily="2" charset="-122"/>
              </a:rPr>
              <a:t>等。</a:t>
            </a:r>
            <a:endParaRPr lang="zh-CN" altLang="en-US" sz="2200" b="1" dirty="0">
              <a:ea typeface="宋体" panose="02010600030101010101" pitchFamily="2" charset="-122"/>
            </a:endParaRPr>
          </a:p>
          <a:p>
            <a:pPr lvl="1"/>
            <a:r>
              <a:rPr lang="zh-CN" altLang="en-US" sz="2200" b="1" dirty="0">
                <a:ea typeface="宋体" panose="02010600030101010101" pitchFamily="2" charset="-122"/>
              </a:rPr>
              <a:t>数据流分析的许多方法只适用于可归约流图</a:t>
            </a:r>
            <a:endParaRPr lang="zh-CN" altLang="en-US" sz="2200" b="1" dirty="0">
              <a:ea typeface="宋体" panose="02010600030101010101" pitchFamily="2" charset="-122"/>
            </a:endParaRPr>
          </a:p>
          <a:p>
            <a:r>
              <a:rPr lang="zh-CN" altLang="en-US" sz="2400" b="1" dirty="0">
                <a:ea typeface="宋体" panose="02010600030101010101" pitchFamily="2" charset="-122"/>
              </a:rPr>
              <a:t>流图</a:t>
            </a:r>
            <a:r>
              <a:rPr lang="en-US" altLang="zh-CN" sz="2400" b="1" dirty="0">
                <a:ea typeface="宋体" panose="02010600030101010101" pitchFamily="2" charset="-122"/>
              </a:rPr>
              <a:t>G</a:t>
            </a:r>
            <a:r>
              <a:rPr lang="zh-CN" altLang="en-US" sz="2400" b="1" dirty="0">
                <a:ea typeface="宋体" panose="02010600030101010101" pitchFamily="2" charset="-122"/>
              </a:rPr>
              <a:t>是可归约的&lt;==&gt;它的边集 </a:t>
            </a:r>
            <a:r>
              <a:rPr lang="en-US" altLang="zh-CN" sz="2400" b="1" dirty="0">
                <a:ea typeface="宋体" panose="02010600030101010101" pitchFamily="2" charset="-122"/>
              </a:rPr>
              <a:t>E</a:t>
            </a:r>
            <a:r>
              <a:rPr lang="zh-CN" altLang="en-US" sz="2400" b="1" dirty="0">
                <a:ea typeface="宋体" panose="02010600030101010101" pitchFamily="2" charset="-122"/>
              </a:rPr>
              <a:t>可以被分割成两个集合</a:t>
            </a:r>
            <a:r>
              <a:rPr lang="en-US" altLang="zh-CN" sz="2400" b="1" dirty="0">
                <a:ea typeface="宋体" panose="02010600030101010101" pitchFamily="2" charset="-122"/>
              </a:rPr>
              <a:t>E1,E2, </a:t>
            </a:r>
            <a:r>
              <a:rPr lang="zh-CN" altLang="en-US" sz="2400" b="1" dirty="0">
                <a:ea typeface="宋体" panose="02010600030101010101" pitchFamily="2" charset="-122"/>
              </a:rPr>
              <a:t>使得	</a:t>
            </a:r>
            <a:endParaRPr lang="zh-CN" altLang="en-US" sz="2400" b="1" dirty="0">
              <a:ea typeface="宋体" panose="02010600030101010101" pitchFamily="2" charset="-122"/>
            </a:endParaRPr>
          </a:p>
          <a:p>
            <a:pPr lvl="1"/>
            <a:r>
              <a:rPr lang="en-US" altLang="zh-CN" sz="2200" b="1" dirty="0">
                <a:ea typeface="宋体" panose="02010600030101010101" pitchFamily="2" charset="-122"/>
              </a:rPr>
              <a:t>D = ( N, E1, s )</a:t>
            </a:r>
            <a:r>
              <a:rPr lang="zh-CN" altLang="en-US" sz="2200" b="1" dirty="0">
                <a:ea typeface="宋体" panose="02010600030101010101" pitchFamily="2" charset="-122"/>
              </a:rPr>
              <a:t>是一个</a:t>
            </a:r>
            <a:r>
              <a:rPr lang="en-US" altLang="zh-CN" sz="2200" b="1" dirty="0">
                <a:ea typeface="宋体" panose="02010600030101010101" pitchFamily="2" charset="-122"/>
              </a:rPr>
              <a:t>G</a:t>
            </a:r>
            <a:r>
              <a:rPr lang="zh-CN" altLang="en-US" sz="2200" b="1" dirty="0">
                <a:ea typeface="宋体" panose="02010600030101010101" pitchFamily="2" charset="-122"/>
              </a:rPr>
              <a:t>的最大无环子图</a:t>
            </a:r>
            <a:endParaRPr lang="zh-CN" altLang="en-US" sz="2200" b="1" dirty="0">
              <a:ea typeface="宋体" panose="02010600030101010101" pitchFamily="2" charset="-122"/>
            </a:endParaRPr>
          </a:p>
          <a:p>
            <a:pPr lvl="1"/>
            <a:r>
              <a:rPr lang="en-US" altLang="zh-CN" sz="2200" b="1" dirty="0">
                <a:ea typeface="宋体" panose="02010600030101010101" pitchFamily="2" charset="-122"/>
              </a:rPr>
              <a:t>E2</a:t>
            </a:r>
            <a:r>
              <a:rPr lang="zh-CN" altLang="en-US" sz="2200" b="1" dirty="0">
                <a:ea typeface="宋体" panose="02010600030101010101" pitchFamily="2" charset="-122"/>
              </a:rPr>
              <a:t>中的每条边都是回边</a:t>
            </a:r>
            <a:endParaRPr lang="zh-CN" altLang="en-US" sz="2200" b="1" dirty="0">
              <a:ea typeface="宋体" panose="02010600030101010101" pitchFamily="2" charset="-122"/>
            </a:endParaRPr>
          </a:p>
          <a:p>
            <a:r>
              <a:rPr lang="zh-CN" altLang="en-US" sz="2400" b="1" dirty="0">
                <a:ea typeface="宋体" panose="02010600030101010101" pitchFamily="2" charset="-122"/>
              </a:rPr>
              <a:t>不可归约流图的例子</a:t>
            </a:r>
            <a:endParaRPr lang="zh-CN" altLang="en-US" sz="2400" b="1" dirty="0">
              <a:ea typeface="宋体" panose="02010600030101010101" pitchFamily="2" charset="-122"/>
            </a:endParaRPr>
          </a:p>
        </p:txBody>
      </p:sp>
      <p:grpSp>
        <p:nvGrpSpPr>
          <p:cNvPr id="182276" name="Group 4"/>
          <p:cNvGrpSpPr/>
          <p:nvPr/>
        </p:nvGrpSpPr>
        <p:grpSpPr>
          <a:xfrm>
            <a:off x="4495800" y="4648200"/>
            <a:ext cx="2362200" cy="1905000"/>
            <a:chOff x="3600" y="1056"/>
            <a:chExt cx="1488" cy="1200"/>
          </a:xfrm>
        </p:grpSpPr>
        <p:sp>
          <p:nvSpPr>
            <p:cNvPr id="182277" name="Rectangle 5"/>
            <p:cNvSpPr/>
            <p:nvPr/>
          </p:nvSpPr>
          <p:spPr>
            <a:xfrm>
              <a:off x="3600" y="1056"/>
              <a:ext cx="1488" cy="1200"/>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182278" name="Oval 6"/>
            <p:cNvSpPr/>
            <p:nvPr/>
          </p:nvSpPr>
          <p:spPr>
            <a:xfrm>
              <a:off x="4176" y="1200"/>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1</a:t>
              </a:r>
              <a:endParaRPr lang="zh-CN" altLang="en-US" sz="1800" dirty="0">
                <a:latin typeface="Tahoma" panose="020B0604030504040204" pitchFamily="34" charset="0"/>
                <a:ea typeface="宋体" panose="02010600030101010101" pitchFamily="2" charset="-122"/>
              </a:endParaRPr>
            </a:p>
          </p:txBody>
        </p:sp>
        <p:sp>
          <p:nvSpPr>
            <p:cNvPr id="182279" name="Oval 7"/>
            <p:cNvSpPr/>
            <p:nvPr/>
          </p:nvSpPr>
          <p:spPr>
            <a:xfrm>
              <a:off x="4656" y="182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2</a:t>
              </a:r>
              <a:endParaRPr lang="zh-CN" altLang="en-US" sz="1800" dirty="0">
                <a:latin typeface="Tahoma" panose="020B0604030504040204" pitchFamily="34" charset="0"/>
                <a:ea typeface="宋体" panose="02010600030101010101" pitchFamily="2" charset="-122"/>
              </a:endParaRPr>
            </a:p>
          </p:txBody>
        </p:sp>
        <p:sp>
          <p:nvSpPr>
            <p:cNvPr id="182280" name="Oval 8"/>
            <p:cNvSpPr/>
            <p:nvPr/>
          </p:nvSpPr>
          <p:spPr>
            <a:xfrm>
              <a:off x="3792" y="1824"/>
              <a:ext cx="192" cy="192"/>
            </a:xfrm>
            <a:prstGeom prst="ellipse">
              <a:avLst/>
            </a:prstGeom>
            <a:solidFill>
              <a:srgbClr val="EAEAEA"/>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800" dirty="0">
                  <a:latin typeface="Tahoma" panose="020B0604030504040204" pitchFamily="34" charset="0"/>
                  <a:ea typeface="宋体" panose="02010600030101010101" pitchFamily="2" charset="-122"/>
                </a:rPr>
                <a:t>3</a:t>
              </a:r>
              <a:endParaRPr lang="zh-CN" altLang="en-US" sz="1800" dirty="0">
                <a:latin typeface="Tahoma" panose="020B0604030504040204" pitchFamily="34" charset="0"/>
                <a:ea typeface="宋体" panose="02010600030101010101" pitchFamily="2" charset="-122"/>
              </a:endParaRPr>
            </a:p>
          </p:txBody>
        </p:sp>
        <p:sp>
          <p:nvSpPr>
            <p:cNvPr id="182281" name="Line 9"/>
            <p:cNvSpPr/>
            <p:nvPr/>
          </p:nvSpPr>
          <p:spPr>
            <a:xfrm flipH="1">
              <a:off x="3936" y="1392"/>
              <a:ext cx="336" cy="432"/>
            </a:xfrm>
            <a:prstGeom prst="line">
              <a:avLst/>
            </a:prstGeom>
            <a:ln w="9525" cap="flat" cmpd="sng">
              <a:solidFill>
                <a:schemeClr val="tx1"/>
              </a:solidFill>
              <a:prstDash val="solid"/>
              <a:miter/>
              <a:headEnd type="none" w="med" len="med"/>
              <a:tailEnd type="stealth" w="sm" len="sm"/>
            </a:ln>
          </p:spPr>
        </p:sp>
        <p:sp>
          <p:nvSpPr>
            <p:cNvPr id="182282" name="Line 10"/>
            <p:cNvSpPr/>
            <p:nvPr/>
          </p:nvSpPr>
          <p:spPr>
            <a:xfrm>
              <a:off x="4272" y="1392"/>
              <a:ext cx="432" cy="432"/>
            </a:xfrm>
            <a:prstGeom prst="line">
              <a:avLst/>
            </a:prstGeom>
            <a:ln w="9525" cap="flat" cmpd="sng">
              <a:solidFill>
                <a:schemeClr val="tx1"/>
              </a:solidFill>
              <a:prstDash val="solid"/>
              <a:miter/>
              <a:headEnd type="none" w="med" len="med"/>
              <a:tailEnd type="stealth" w="sm" len="sm"/>
            </a:ln>
          </p:spPr>
        </p:sp>
        <p:sp>
          <p:nvSpPr>
            <p:cNvPr id="182283" name="Freeform 11"/>
            <p:cNvSpPr/>
            <p:nvPr/>
          </p:nvSpPr>
          <p:spPr>
            <a:xfrm>
              <a:off x="3984" y="1728"/>
              <a:ext cx="672" cy="144"/>
            </a:xfrm>
            <a:custGeom>
              <a:avLst/>
              <a:gdLst/>
              <a:ahLst/>
              <a:cxnLst>
                <a:cxn ang="0">
                  <a:pos x="0" y="1"/>
                </a:cxn>
                <a:cxn ang="0">
                  <a:pos x="4" y="1"/>
                </a:cxn>
                <a:cxn ang="0">
                  <a:pos x="7" y="1"/>
                </a:cxn>
                <a:cxn ang="0">
                  <a:pos x="9" y="1"/>
                </a:cxn>
                <a:cxn ang="0">
                  <a:pos x="10" y="1"/>
                </a:cxn>
              </a:cxnLst>
              <a:pathLst>
                <a:path w="768" h="200">
                  <a:moveTo>
                    <a:pt x="0" y="200"/>
                  </a:moveTo>
                  <a:cubicBezTo>
                    <a:pt x="56" y="144"/>
                    <a:pt x="112" y="88"/>
                    <a:pt x="192" y="56"/>
                  </a:cubicBezTo>
                  <a:cubicBezTo>
                    <a:pt x="272" y="24"/>
                    <a:pt x="400" y="0"/>
                    <a:pt x="480" y="8"/>
                  </a:cubicBezTo>
                  <a:cubicBezTo>
                    <a:pt x="560" y="16"/>
                    <a:pt x="624" y="72"/>
                    <a:pt x="672" y="104"/>
                  </a:cubicBezTo>
                  <a:cubicBezTo>
                    <a:pt x="720" y="136"/>
                    <a:pt x="752" y="184"/>
                    <a:pt x="768" y="200"/>
                  </a:cubicBezTo>
                </a:path>
              </a:pathLst>
            </a:custGeom>
            <a:noFill/>
            <a:ln w="9525" cap="flat" cmpd="sng">
              <a:solidFill>
                <a:schemeClr val="tx1">
                  <a:alpha val="100000"/>
                </a:schemeClr>
              </a:solidFill>
              <a:prstDash val="solid"/>
              <a:miter lim="800000"/>
              <a:headEnd type="none" w="med" len="med"/>
              <a:tailEnd type="stealth" w="sm" len="sm"/>
            </a:ln>
          </p:spPr>
          <p:txBody>
            <a:bodyPr/>
            <a:p>
              <a:endParaRPr lang="zh-CN" altLang="en-US"/>
            </a:p>
          </p:txBody>
        </p:sp>
        <p:sp>
          <p:nvSpPr>
            <p:cNvPr id="182284" name="Freeform 12"/>
            <p:cNvSpPr/>
            <p:nvPr/>
          </p:nvSpPr>
          <p:spPr>
            <a:xfrm>
              <a:off x="3984" y="1968"/>
              <a:ext cx="672" cy="144"/>
            </a:xfrm>
            <a:custGeom>
              <a:avLst/>
              <a:gdLst/>
              <a:ahLst/>
              <a:cxnLst>
                <a:cxn ang="0">
                  <a:pos x="74" y="0"/>
                </a:cxn>
                <a:cxn ang="0">
                  <a:pos x="49" y="3"/>
                </a:cxn>
                <a:cxn ang="0">
                  <a:pos x="25" y="3"/>
                </a:cxn>
                <a:cxn ang="0">
                  <a:pos x="0" y="0"/>
                </a:cxn>
              </a:cxnLst>
              <a:pathLst>
                <a:path w="720" h="168">
                  <a:moveTo>
                    <a:pt x="720" y="0"/>
                  </a:moveTo>
                  <a:cubicBezTo>
                    <a:pt x="640" y="60"/>
                    <a:pt x="560" y="120"/>
                    <a:pt x="480" y="144"/>
                  </a:cubicBezTo>
                  <a:cubicBezTo>
                    <a:pt x="400" y="168"/>
                    <a:pt x="320" y="168"/>
                    <a:pt x="240" y="144"/>
                  </a:cubicBezTo>
                  <a:cubicBezTo>
                    <a:pt x="160" y="120"/>
                    <a:pt x="40" y="24"/>
                    <a:pt x="0" y="0"/>
                  </a:cubicBezTo>
                </a:path>
              </a:pathLst>
            </a:custGeom>
            <a:noFill/>
            <a:ln w="9525" cap="flat" cmpd="sng">
              <a:solidFill>
                <a:schemeClr val="tx1">
                  <a:alpha val="100000"/>
                </a:schemeClr>
              </a:solidFill>
              <a:prstDash val="solid"/>
              <a:miter lim="800000"/>
              <a:headEnd type="none" w="med" len="med"/>
              <a:tailEnd type="stealth" w="sm" len="sm"/>
            </a:ln>
          </p:spPr>
          <p:txBody>
            <a:bodyPr/>
            <a:p>
              <a:endParaRPr lang="zh-CN" altLang="en-US"/>
            </a:p>
          </p:txBody>
        </p:sp>
      </p:gr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可归约流图的性质</a:t>
            </a:r>
            <a:endParaRPr lang="en-US" altLang="zh-CN" dirty="0">
              <a:latin typeface="Times New Roman" panose="02020603050405020304" pitchFamily="18" charset="0"/>
              <a:ea typeface="宋体" panose="02010600030101010101" pitchFamily="2" charset="-122"/>
            </a:endParaRPr>
          </a:p>
        </p:txBody>
      </p:sp>
      <p:sp>
        <p:nvSpPr>
          <p:cNvPr id="18432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性质</a:t>
            </a:r>
            <a:endParaRPr lang="zh-CN" altLang="en-US" sz="2400" b="1" dirty="0">
              <a:ea typeface="宋体" panose="02010600030101010101" pitchFamily="2" charset="-122"/>
            </a:endParaRPr>
          </a:p>
          <a:p>
            <a:pPr lvl="1"/>
            <a:r>
              <a:rPr lang="zh-CN" altLang="en-US" sz="2200" b="1" dirty="0">
                <a:ea typeface="宋体" panose="02010600030101010101" pitchFamily="2" charset="-122"/>
              </a:rPr>
              <a:t>可归约流图中任何直观意义下的环路，都属于前面定义的循环</a:t>
            </a:r>
            <a:endParaRPr lang="zh-CN" altLang="en-US" sz="2200" b="1" dirty="0">
              <a:ea typeface="宋体" panose="02010600030101010101" pitchFamily="2" charset="-122"/>
            </a:endParaRPr>
          </a:p>
          <a:p>
            <a:pPr lvl="1"/>
            <a:r>
              <a:rPr lang="zh-CN" altLang="en-US" sz="2200" b="1" dirty="0">
                <a:ea typeface="宋体" panose="02010600030101010101" pitchFamily="2" charset="-122"/>
              </a:rPr>
              <a:t>只要找出图中所有回边，对回边应用前述算法，就可得到流图中所有的循环</a:t>
            </a:r>
            <a:endParaRPr lang="zh-CN" altLang="en-US" sz="2200" b="1" dirty="0">
              <a:ea typeface="宋体" panose="02010600030101010101" pitchFamily="2" charset="-122"/>
            </a:endParaRPr>
          </a:p>
          <a:p>
            <a:pPr lvl="1"/>
            <a:r>
              <a:rPr lang="zh-CN" altLang="en-US" sz="2200" b="1" dirty="0">
                <a:ea typeface="宋体" panose="02010600030101010101" pitchFamily="2" charset="-122"/>
              </a:rPr>
              <a:t>判断一个流图是否是可归约的，只需检查所有前向边是否构成无环有向图即可</a:t>
            </a:r>
            <a:endParaRPr lang="en-US" altLang="zh-CN" sz="2200" b="1" dirty="0">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过程间的控制流图：调用图</a:t>
            </a:r>
            <a:endParaRPr lang="en-US" altLang="zh-CN" dirty="0">
              <a:latin typeface="Times New Roman" panose="02020603050405020304" pitchFamily="18" charset="0"/>
              <a:ea typeface="宋体" panose="02010600030101010101" pitchFamily="2" charset="-122"/>
            </a:endParaRPr>
          </a:p>
        </p:txBody>
      </p:sp>
      <p:sp>
        <p:nvSpPr>
          <p:cNvPr id="186371" name="Rectangle 3"/>
          <p:cNvSpPr>
            <a:spLocks noGrp="1"/>
          </p:cNvSpPr>
          <p:nvPr>
            <p:ph idx="1"/>
          </p:nvPr>
        </p:nvSpPr>
        <p:spPr>
          <a:xfrm>
            <a:off x="990600" y="1524000"/>
            <a:ext cx="7391400" cy="4953000"/>
          </a:xfrm>
        </p:spPr>
        <p:txBody>
          <a:bodyPr vert="horz" wrap="square" lIns="92075" tIns="46038" rIns="92075" bIns="46038" anchor="t" anchorCtr="0"/>
          <a:p>
            <a:r>
              <a:rPr lang="zh-CN" altLang="en-US" sz="2400" b="1" dirty="0">
                <a:ea typeface="宋体" panose="02010600030101010101" pitchFamily="2" charset="-122"/>
              </a:rPr>
              <a:t>调用图：反映了过程间的调用关系</a:t>
            </a:r>
            <a:endParaRPr lang="zh-CN" altLang="en-US" sz="2400" b="1" dirty="0">
              <a:ea typeface="宋体" panose="02010600030101010101" pitchFamily="2" charset="-122"/>
            </a:endParaRPr>
          </a:p>
          <a:p>
            <a:pPr lvl="1"/>
            <a:r>
              <a:rPr lang="zh-CN" altLang="en-US" sz="2200" b="1" dirty="0">
                <a:ea typeface="宋体" panose="02010600030101010101" pitchFamily="2" charset="-122"/>
              </a:rPr>
              <a:t>结点：每次调用的出现以一个结点表示</a:t>
            </a:r>
            <a:endParaRPr lang="zh-CN" altLang="en-US" sz="2200" b="1" dirty="0">
              <a:ea typeface="宋体" panose="02010600030101010101" pitchFamily="2" charset="-122"/>
            </a:endParaRPr>
          </a:p>
          <a:p>
            <a:pPr lvl="1"/>
            <a:r>
              <a:rPr lang="zh-CN" altLang="en-US" sz="2200" b="1" dirty="0">
                <a:ea typeface="宋体" panose="02010600030101010101" pitchFamily="2" charset="-122"/>
              </a:rPr>
              <a:t>边：过程</a:t>
            </a:r>
            <a:r>
              <a:rPr lang="en-US" altLang="zh-CN" sz="2200" b="1" dirty="0">
                <a:ea typeface="宋体" panose="02010600030101010101" pitchFamily="2" charset="-122"/>
              </a:rPr>
              <a:t>f</a:t>
            </a:r>
            <a:r>
              <a:rPr lang="zh-CN" altLang="en-US" sz="2200" b="1" dirty="0">
                <a:ea typeface="宋体" panose="02010600030101010101" pitchFamily="2" charset="-122"/>
              </a:rPr>
              <a:t>调用了过程</a:t>
            </a:r>
            <a:r>
              <a:rPr lang="en-US" altLang="zh-CN" sz="2200" b="1" dirty="0">
                <a:ea typeface="宋体" panose="02010600030101010101" pitchFamily="2" charset="-122"/>
              </a:rPr>
              <a:t>g，</a:t>
            </a:r>
            <a:r>
              <a:rPr lang="zh-CN" altLang="en-US" sz="2200" b="1" dirty="0">
                <a:ea typeface="宋体" panose="02010600030101010101" pitchFamily="2" charset="-122"/>
              </a:rPr>
              <a:t>存在一条从</a:t>
            </a:r>
            <a:r>
              <a:rPr lang="en-US" altLang="zh-CN" sz="2200" b="1" dirty="0">
                <a:ea typeface="宋体" panose="02010600030101010101" pitchFamily="2" charset="-122"/>
              </a:rPr>
              <a:t>f</a:t>
            </a:r>
            <a:r>
              <a:rPr lang="zh-CN" altLang="en-US" sz="2200" b="1" dirty="0">
                <a:ea typeface="宋体" panose="02010600030101010101" pitchFamily="2" charset="-122"/>
              </a:rPr>
              <a:t>到</a:t>
            </a:r>
            <a:r>
              <a:rPr lang="en-US" altLang="zh-CN" sz="2200" b="1" dirty="0">
                <a:ea typeface="宋体" panose="02010600030101010101" pitchFamily="2" charset="-122"/>
              </a:rPr>
              <a:t>g</a:t>
            </a:r>
            <a:r>
              <a:rPr lang="zh-CN" altLang="en-US" sz="2200" b="1" dirty="0">
                <a:ea typeface="宋体" panose="02010600030101010101" pitchFamily="2" charset="-122"/>
              </a:rPr>
              <a:t>的有向边</a:t>
            </a:r>
            <a:endParaRPr lang="zh-CN" altLang="en-US" sz="2200" b="1" dirty="0">
              <a:ea typeface="宋体" panose="02010600030101010101" pitchFamily="2" charset="-122"/>
            </a:endParaRPr>
          </a:p>
          <a:p>
            <a:pPr lvl="1"/>
            <a:r>
              <a:rPr lang="zh-CN" altLang="en-US" sz="2200" b="1" dirty="0">
                <a:ea typeface="宋体" panose="02010600030101010101" pitchFamily="2" charset="-122"/>
              </a:rPr>
              <a:t>一个过程</a:t>
            </a:r>
            <a:r>
              <a:rPr lang="en-US" altLang="zh-CN" sz="2200" b="1" dirty="0">
                <a:ea typeface="宋体" panose="02010600030101010101" pitchFamily="2" charset="-122"/>
              </a:rPr>
              <a:t>f</a:t>
            </a:r>
            <a:r>
              <a:rPr lang="zh-CN" altLang="en-US" sz="2200" b="1" dirty="0">
                <a:ea typeface="宋体" panose="02010600030101010101" pitchFamily="2" charset="-122"/>
              </a:rPr>
              <a:t>多次调用另一个过程</a:t>
            </a:r>
            <a:r>
              <a:rPr lang="en-US" altLang="zh-CN" sz="2200" b="1" dirty="0">
                <a:ea typeface="宋体" panose="02010600030101010101" pitchFamily="2" charset="-122"/>
              </a:rPr>
              <a:t>g</a:t>
            </a:r>
            <a:r>
              <a:rPr lang="zh-CN" altLang="en-US" sz="2200" b="1" dirty="0">
                <a:ea typeface="宋体" panose="02010600030101010101" pitchFamily="2" charset="-122"/>
              </a:rPr>
              <a:t>的处理</a:t>
            </a:r>
            <a:endParaRPr lang="zh-CN" altLang="en-US" sz="2200" b="1" dirty="0">
              <a:ea typeface="宋体" panose="02010600030101010101" pitchFamily="2" charset="-122"/>
            </a:endParaRPr>
          </a:p>
          <a:p>
            <a:pPr lvl="2"/>
            <a:r>
              <a:rPr lang="zh-CN" altLang="en-US" sz="2000" b="1" dirty="0">
                <a:ea typeface="宋体" panose="02010600030101010101" pitchFamily="2" charset="-122"/>
              </a:rPr>
              <a:t>每个调用对应一条边</a:t>
            </a:r>
            <a:endParaRPr lang="zh-CN" altLang="en-US" sz="2000" b="1" dirty="0">
              <a:ea typeface="宋体" panose="02010600030101010101" pitchFamily="2" charset="-122"/>
            </a:endParaRPr>
          </a:p>
          <a:p>
            <a:pPr lvl="2"/>
            <a:r>
              <a:rPr lang="zh-CN" altLang="en-US" sz="2000" b="1" dirty="0">
                <a:ea typeface="宋体" panose="02010600030101010101" pitchFamily="2" charset="-122"/>
              </a:rPr>
              <a:t>一条边对应了多次调用</a:t>
            </a:r>
            <a:endParaRPr lang="zh-CN" altLang="en-US" sz="2000" b="1" dirty="0">
              <a:ea typeface="宋体" panose="02010600030101010101" pitchFamily="2" charset="-122"/>
            </a:endParaRPr>
          </a:p>
          <a:p>
            <a:pPr lvl="1"/>
            <a:r>
              <a:rPr lang="zh-CN" altLang="en-US" sz="2200" b="1" dirty="0">
                <a:ea typeface="宋体" panose="02010600030101010101" pitchFamily="2" charset="-122"/>
              </a:rPr>
              <a:t>过程变量的处理：如函数指针</a:t>
            </a:r>
            <a:endParaRPr lang="zh-CN" altLang="en-US" sz="2200" b="1" dirty="0">
              <a:ea typeface="宋体" panose="02010600030101010101" pitchFamily="2" charset="-122"/>
            </a:endParaRPr>
          </a:p>
          <a:p>
            <a:pPr lvl="2"/>
            <a:r>
              <a:rPr lang="zh-CN" altLang="en-US" sz="2000" b="1" dirty="0">
                <a:ea typeface="宋体" panose="02010600030101010101" pitchFamily="2" charset="-122"/>
              </a:rPr>
              <a:t>在静态编译时刻分析过程变量的指向</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如果不精确，就要保守估计，在某个调用点可能调用多个候选过程</a:t>
            </a:r>
            <a:endParaRPr lang="zh-CN" altLang="en-US" sz="2000" b="1" dirty="0">
              <a:ea typeface="宋体" panose="02010600030101010101" pitchFamily="2" charset="-122"/>
            </a:endParaRPr>
          </a:p>
          <a:p>
            <a:pPr lvl="1"/>
            <a:r>
              <a:rPr lang="zh-CN" altLang="en-US" sz="2200" b="1" dirty="0">
                <a:ea typeface="宋体" panose="02010600030101010101" pitchFamily="2" charset="-122"/>
              </a:rPr>
              <a:t>环的存在：由于递归调用的存在</a:t>
            </a:r>
            <a:endParaRPr lang="zh-CN" altLang="en-US" sz="2200" b="1" dirty="0">
              <a:ea typeface="宋体" panose="02010600030101010101" pitchFamily="2" charset="-122"/>
            </a:endParaRPr>
          </a:p>
          <a:p>
            <a:pPr lvl="1"/>
            <a:r>
              <a:rPr lang="zh-CN" altLang="en-US" sz="2200" b="1" dirty="0">
                <a:ea typeface="宋体" panose="02010600030101010101" pitchFamily="2" charset="-122"/>
              </a:rPr>
              <a:t>调用树</a:t>
            </a:r>
            <a:endParaRPr lang="zh-CN" altLang="en-US" sz="2200" b="1" dirty="0">
              <a:ea typeface="宋体" panose="02010600030101010101" pitchFamily="2"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数据流分析基础</a:t>
            </a:r>
            <a:endParaRPr lang="en-US" altLang="zh-CN" dirty="0">
              <a:latin typeface="Times New Roman" panose="02020603050405020304" pitchFamily="18" charset="0"/>
              <a:ea typeface="宋体" panose="02010600030101010101" pitchFamily="2" charset="-122"/>
            </a:endParaRPr>
          </a:p>
        </p:txBody>
      </p:sp>
      <p:sp>
        <p:nvSpPr>
          <p:cNvPr id="188419" name="Rectangle 3"/>
          <p:cNvSpPr>
            <a:spLocks noGrp="1"/>
          </p:cNvSpPr>
          <p:nvPr>
            <p:ph idx="1"/>
          </p:nvPr>
        </p:nvSpPr>
        <p:spPr>
          <a:xfrm>
            <a:off x="990600" y="1371600"/>
            <a:ext cx="7391400" cy="5257800"/>
          </a:xfrm>
        </p:spPr>
        <p:txBody>
          <a:bodyPr vert="horz" wrap="square" lIns="92075" tIns="46038" rIns="92075" bIns="46038" anchor="t" anchorCtr="0"/>
          <a:p>
            <a:pPr>
              <a:spcBef>
                <a:spcPct val="10000"/>
              </a:spcBef>
            </a:pPr>
            <a:r>
              <a:rPr lang="zh-CN" altLang="en-US" sz="2400" b="1" dirty="0">
                <a:ea typeface="宋体" panose="02010600030101010101" pitchFamily="2" charset="-122"/>
              </a:rPr>
              <a:t>数据流分析给出程序优化或变换所需的信息</a:t>
            </a:r>
            <a:endParaRPr lang="zh-CN" altLang="en-US" sz="2400" b="1" dirty="0">
              <a:ea typeface="宋体" panose="02010600030101010101" pitchFamily="2" charset="-122"/>
            </a:endParaRPr>
          </a:p>
          <a:p>
            <a:pPr lvl="1">
              <a:spcBef>
                <a:spcPct val="10000"/>
              </a:spcBef>
            </a:pPr>
            <a:r>
              <a:rPr lang="zh-CN" altLang="en-US" sz="2200" b="1" dirty="0">
                <a:ea typeface="宋体" panose="02010600030101010101" pitchFamily="2" charset="-122"/>
              </a:rPr>
              <a:t>到达定值问题：分析程序中到达某点的定值</a:t>
            </a:r>
            <a:endParaRPr lang="zh-CN" altLang="en-US" sz="2200" b="1" dirty="0">
              <a:ea typeface="宋体" panose="02010600030101010101" pitchFamily="2" charset="-122"/>
            </a:endParaRPr>
          </a:p>
          <a:p>
            <a:pPr lvl="2">
              <a:spcBef>
                <a:spcPct val="10000"/>
              </a:spcBef>
            </a:pPr>
            <a:r>
              <a:rPr lang="zh-CN" altLang="en-US" sz="2000" b="1" dirty="0">
                <a:ea typeface="宋体" panose="02010600030101010101" pitchFamily="2" charset="-122"/>
              </a:rPr>
              <a:t>定值：给一个变量赋值</a:t>
            </a:r>
            <a:endParaRPr lang="zh-CN" altLang="en-US" sz="2000" b="1" dirty="0">
              <a:ea typeface="宋体" panose="02010600030101010101" pitchFamily="2" charset="-122"/>
            </a:endParaRPr>
          </a:p>
          <a:p>
            <a:pPr lvl="2">
              <a:spcBef>
                <a:spcPct val="10000"/>
              </a:spcBef>
            </a:pPr>
            <a:r>
              <a:rPr lang="zh-CN" altLang="en-US" sz="2000" b="1" dirty="0">
                <a:ea typeface="宋体" panose="02010600030101010101" pitchFamily="2" charset="-122"/>
              </a:rPr>
              <a:t>某定值到达程序中某点：执行时，存在一条从该定值到该点的路径，在这条路径上，被定值的变量的值保持为该定值所赋的值。</a:t>
            </a:r>
            <a:endParaRPr lang="zh-CN" altLang="en-US" sz="2000" b="1" dirty="0">
              <a:ea typeface="宋体" panose="02010600030101010101" pitchFamily="2" charset="-122"/>
            </a:endParaRPr>
          </a:p>
          <a:p>
            <a:pPr lvl="1">
              <a:spcBef>
                <a:spcPct val="10000"/>
              </a:spcBef>
            </a:pPr>
            <a:r>
              <a:rPr lang="zh-CN" altLang="en-US" sz="2200" b="1" dirty="0">
                <a:ea typeface="宋体" panose="02010600030101010101" pitchFamily="2" charset="-122"/>
              </a:rPr>
              <a:t>活跃变量问题：分析在程序的某点有哪些变量活跃</a:t>
            </a:r>
            <a:endParaRPr lang="zh-CN" altLang="en-US" sz="2200" b="1" dirty="0">
              <a:ea typeface="宋体" panose="02010600030101010101" pitchFamily="2" charset="-122"/>
            </a:endParaRPr>
          </a:p>
          <a:p>
            <a:pPr lvl="2">
              <a:spcBef>
                <a:spcPct val="10000"/>
              </a:spcBef>
            </a:pPr>
            <a:r>
              <a:rPr lang="zh-CN" altLang="en-US" sz="2000" b="1" dirty="0">
                <a:ea typeface="宋体" panose="02010600030101010101" pitchFamily="2" charset="-122"/>
              </a:rPr>
              <a:t>变量在某点活跃：在此点开始的路径上有对该变量的引用，否则，称为该变量在该点死亡</a:t>
            </a:r>
            <a:endParaRPr lang="zh-CN" altLang="en-US" sz="2000" b="1" dirty="0">
              <a:ea typeface="宋体" panose="02010600030101010101" pitchFamily="2" charset="-122"/>
            </a:endParaRPr>
          </a:p>
          <a:p>
            <a:pPr lvl="1">
              <a:spcBef>
                <a:spcPct val="10000"/>
              </a:spcBef>
            </a:pPr>
            <a:r>
              <a:rPr lang="zh-CN" altLang="en-US" sz="2200" b="1" dirty="0">
                <a:ea typeface="宋体" panose="02010600030101010101" pitchFamily="2" charset="-122"/>
              </a:rPr>
              <a:t>可用表达式问题：分析在程序的某点有哪些表达式可用</a:t>
            </a:r>
            <a:endParaRPr lang="zh-CN" altLang="en-US" sz="2200" b="1" dirty="0">
              <a:ea typeface="宋体" panose="02010600030101010101" pitchFamily="2" charset="-122"/>
            </a:endParaRPr>
          </a:p>
          <a:p>
            <a:pPr lvl="2">
              <a:spcBef>
                <a:spcPct val="10000"/>
              </a:spcBef>
            </a:pPr>
            <a:r>
              <a:rPr lang="zh-CN" altLang="en-US" sz="2000" b="1" dirty="0">
                <a:ea typeface="宋体" panose="02010600030101010101" pitchFamily="2" charset="-122"/>
              </a:rPr>
              <a:t>表达式在某点可用：从程序的初始点到该点的每条路径上都有对该表达式的计算，且在最后一个这样的计算和该点之间没有对此表达式中所用到的变量的赋值</a:t>
            </a:r>
            <a:endParaRPr lang="zh-CN" altLang="en-US" sz="2000" b="1" dirty="0">
              <a:ea typeface="宋体" panose="02010600030101010101" pitchFamily="2" charset="-122"/>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数据流分析的例子</a:t>
            </a:r>
            <a:endParaRPr lang="en-US" altLang="zh-CN" dirty="0">
              <a:latin typeface="Times New Roman" panose="02020603050405020304" pitchFamily="18" charset="0"/>
              <a:ea typeface="宋体" panose="02010600030101010101" pitchFamily="2" charset="-122"/>
            </a:endParaRPr>
          </a:p>
        </p:txBody>
      </p:sp>
      <p:sp>
        <p:nvSpPr>
          <p:cNvPr id="190467" name="Rectangle 5"/>
          <p:cNvSpPr>
            <a:spLocks noGrp="1"/>
          </p:cNvSpPr>
          <p:nvPr>
            <p:ph idx="1"/>
          </p:nvPr>
        </p:nvSpPr>
        <p:spPr>
          <a:xfrm>
            <a:off x="304800" y="1600200"/>
            <a:ext cx="8610600" cy="4191000"/>
          </a:xfrm>
        </p:spPr>
        <p:txBody>
          <a:bodyPr vert="horz" wrap="square" lIns="92075" tIns="46038" rIns="92075" bIns="46038" anchor="t" anchorCtr="0"/>
          <a:p>
            <a:pPr>
              <a:buNone/>
            </a:pPr>
            <a:r>
              <a:rPr lang="zh-CN" altLang="en-US" sz="1500" dirty="0">
                <a:ea typeface="宋体" panose="02010600030101010101" pitchFamily="2" charset="-122"/>
              </a:rPr>
              <a:t> </a:t>
            </a:r>
            <a:endParaRPr lang="zh-CN" altLang="en-US" sz="1500" dirty="0">
              <a:ea typeface="宋体" panose="02010600030101010101" pitchFamily="2" charset="-122"/>
            </a:endParaRPr>
          </a:p>
          <a:p>
            <a:pPr>
              <a:buNone/>
            </a:pPr>
            <a:endParaRPr lang="zh-CN" altLang="en-US" sz="1500" dirty="0">
              <a:ea typeface="宋体" panose="02010600030101010101" pitchFamily="2" charset="-122"/>
            </a:endParaRPr>
          </a:p>
          <a:p>
            <a:pPr>
              <a:buNone/>
            </a:pPr>
            <a:endParaRPr lang="zh-CN" altLang="en-US" sz="1600" b="1" dirty="0">
              <a:ea typeface="宋体" panose="02010600030101010101" pitchFamily="2" charset="-122"/>
            </a:endParaRPr>
          </a:p>
          <a:p>
            <a:pPr>
              <a:buNone/>
            </a:pPr>
            <a:r>
              <a:rPr lang="zh-CN" altLang="en-US" sz="1600" b="1" dirty="0">
                <a:ea typeface="宋体" panose="02010600030101010101" pitchFamily="2" charset="-122"/>
              </a:rPr>
              <a:t>                                          到达定值                       活跃变量                             可用表达式</a:t>
            </a:r>
            <a:endParaRPr lang="zh-CN" altLang="en-US" sz="1600" b="1" dirty="0">
              <a:ea typeface="宋体" panose="02010600030101010101" pitchFamily="2" charset="-122"/>
            </a:endParaRPr>
          </a:p>
          <a:p>
            <a:pPr>
              <a:buNone/>
            </a:pPr>
            <a:r>
              <a:rPr lang="zh-CN" altLang="en-US" sz="1600" b="1" dirty="0">
                <a:ea typeface="宋体" panose="02010600030101010101" pitchFamily="2" charset="-122"/>
              </a:rPr>
              <a:t>  </a:t>
            </a:r>
            <a:r>
              <a:rPr lang="en-US" altLang="zh-CN" sz="1600" b="1" dirty="0">
                <a:ea typeface="宋体" panose="02010600030101010101" pitchFamily="2" charset="-122"/>
              </a:rPr>
              <a:t>int   f ( a, b )</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  {                                                                              y, z, a, b                                   </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1    x = a + b ;                                                           x, y, z, a, b                               </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      if ( a )                             1                                   x,y,z,a,b                                     a+b</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2          y = a + b;                 1                                   x, y, z, b                                  a+b</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3    a = x;                             1,2                                y, z, a, b                                  a+b</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4    x = a + b;                      1, 2, 3                           x, y , z                                       </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      return x+y+z;               2, 3, 4                                                                           a+b   </a:t>
            </a:r>
            <a:endParaRPr lang="en-US" altLang="zh-CN" sz="1600" b="1" dirty="0">
              <a:ea typeface="宋体" panose="02010600030101010101" pitchFamily="2" charset="-122"/>
            </a:endParaRPr>
          </a:p>
          <a:p>
            <a:pPr>
              <a:buNone/>
            </a:pPr>
            <a:r>
              <a:rPr lang="en-US" altLang="zh-CN" sz="1600" b="1" dirty="0">
                <a:ea typeface="宋体" panose="02010600030101010101" pitchFamily="2" charset="-122"/>
              </a:rPr>
              <a:t>}</a:t>
            </a:r>
            <a:endParaRPr lang="en-US" altLang="zh-CN" sz="1600" b="1" dirty="0">
              <a:ea typeface="宋体" panose="02010600030101010101" pitchFamily="2" charset="-122"/>
            </a:endParaRPr>
          </a:p>
        </p:txBody>
      </p:sp>
      <p:sp>
        <p:nvSpPr>
          <p:cNvPr id="190468" name="Line 6"/>
          <p:cNvSpPr/>
          <p:nvPr/>
        </p:nvSpPr>
        <p:spPr>
          <a:xfrm>
            <a:off x="304800" y="2819400"/>
            <a:ext cx="7924800" cy="0"/>
          </a:xfrm>
          <a:prstGeom prst="line">
            <a:avLst/>
          </a:prstGeom>
          <a:ln w="9525" cap="flat" cmpd="sng">
            <a:solidFill>
              <a:schemeClr val="tx1"/>
            </a:solidFill>
            <a:prstDash val="solid"/>
            <a:miter/>
            <a:headEnd type="none" w="med" len="med"/>
            <a:tailEnd type="none" w="med" len="med"/>
          </a:ln>
        </p:spPr>
      </p:sp>
      <p:sp>
        <p:nvSpPr>
          <p:cNvPr id="190469" name="Line 7"/>
          <p:cNvSpPr/>
          <p:nvPr/>
        </p:nvSpPr>
        <p:spPr>
          <a:xfrm>
            <a:off x="304800" y="3048000"/>
            <a:ext cx="7924800" cy="0"/>
          </a:xfrm>
          <a:prstGeom prst="line">
            <a:avLst/>
          </a:prstGeom>
          <a:ln w="9525" cap="flat" cmpd="sng">
            <a:solidFill>
              <a:schemeClr val="tx1"/>
            </a:solidFill>
            <a:prstDash val="solid"/>
            <a:miter/>
            <a:headEnd type="none" w="med" len="med"/>
            <a:tailEnd type="none" w="med" len="med"/>
          </a:ln>
        </p:spPr>
      </p:sp>
      <p:sp>
        <p:nvSpPr>
          <p:cNvPr id="190470" name="Line 8"/>
          <p:cNvSpPr/>
          <p:nvPr/>
        </p:nvSpPr>
        <p:spPr>
          <a:xfrm>
            <a:off x="304800" y="3352800"/>
            <a:ext cx="7924800" cy="0"/>
          </a:xfrm>
          <a:prstGeom prst="line">
            <a:avLst/>
          </a:prstGeom>
          <a:ln w="9525" cap="flat" cmpd="sng">
            <a:solidFill>
              <a:schemeClr val="tx1"/>
            </a:solidFill>
            <a:prstDash val="solid"/>
            <a:miter/>
            <a:headEnd type="none" w="med" len="med"/>
            <a:tailEnd type="none" w="med" len="med"/>
          </a:ln>
        </p:spPr>
      </p:sp>
      <p:sp>
        <p:nvSpPr>
          <p:cNvPr id="190471" name="Line 9"/>
          <p:cNvSpPr/>
          <p:nvPr/>
        </p:nvSpPr>
        <p:spPr>
          <a:xfrm>
            <a:off x="304800" y="3657600"/>
            <a:ext cx="7924800" cy="0"/>
          </a:xfrm>
          <a:prstGeom prst="line">
            <a:avLst/>
          </a:prstGeom>
          <a:ln w="9525" cap="flat" cmpd="sng">
            <a:solidFill>
              <a:schemeClr val="tx1"/>
            </a:solidFill>
            <a:prstDash val="solid"/>
            <a:miter/>
            <a:headEnd type="none" w="med" len="med"/>
            <a:tailEnd type="none" w="med" len="med"/>
          </a:ln>
        </p:spPr>
      </p:sp>
      <p:sp>
        <p:nvSpPr>
          <p:cNvPr id="190472" name="Line 10"/>
          <p:cNvSpPr/>
          <p:nvPr/>
        </p:nvSpPr>
        <p:spPr>
          <a:xfrm>
            <a:off x="304800" y="3962400"/>
            <a:ext cx="7924800" cy="0"/>
          </a:xfrm>
          <a:prstGeom prst="line">
            <a:avLst/>
          </a:prstGeom>
          <a:ln w="9525" cap="flat" cmpd="sng">
            <a:solidFill>
              <a:schemeClr val="tx1"/>
            </a:solidFill>
            <a:prstDash val="solid"/>
            <a:miter/>
            <a:headEnd type="none" w="med" len="med"/>
            <a:tailEnd type="none" w="med" len="med"/>
          </a:ln>
        </p:spPr>
      </p:sp>
      <p:sp>
        <p:nvSpPr>
          <p:cNvPr id="190473" name="Line 11"/>
          <p:cNvSpPr/>
          <p:nvPr/>
        </p:nvSpPr>
        <p:spPr>
          <a:xfrm>
            <a:off x="304800" y="4267200"/>
            <a:ext cx="7924800" cy="0"/>
          </a:xfrm>
          <a:prstGeom prst="line">
            <a:avLst/>
          </a:prstGeom>
          <a:ln w="9525" cap="flat" cmpd="sng">
            <a:solidFill>
              <a:schemeClr val="tx1"/>
            </a:solidFill>
            <a:prstDash val="solid"/>
            <a:miter/>
            <a:headEnd type="none" w="med" len="med"/>
            <a:tailEnd type="none" w="med" len="med"/>
          </a:ln>
        </p:spPr>
      </p:sp>
      <p:sp>
        <p:nvSpPr>
          <p:cNvPr id="190474" name="Line 12"/>
          <p:cNvSpPr/>
          <p:nvPr/>
        </p:nvSpPr>
        <p:spPr>
          <a:xfrm>
            <a:off x="304800" y="4495800"/>
            <a:ext cx="7924800" cy="0"/>
          </a:xfrm>
          <a:prstGeom prst="line">
            <a:avLst/>
          </a:prstGeom>
          <a:ln w="9525" cap="flat" cmpd="sng">
            <a:solidFill>
              <a:schemeClr val="tx1"/>
            </a:solidFill>
            <a:prstDash val="solid"/>
            <a:miter/>
            <a:headEnd type="none" w="med" len="med"/>
            <a:tailEnd type="none" w="med" len="med"/>
          </a:ln>
        </p:spPr>
      </p:sp>
      <p:sp>
        <p:nvSpPr>
          <p:cNvPr id="190475" name="Line 13"/>
          <p:cNvSpPr/>
          <p:nvPr/>
        </p:nvSpPr>
        <p:spPr>
          <a:xfrm>
            <a:off x="304800" y="4800600"/>
            <a:ext cx="7924800" cy="0"/>
          </a:xfrm>
          <a:prstGeom prst="line">
            <a:avLst/>
          </a:prstGeom>
          <a:ln w="9525" cap="flat" cmpd="sng">
            <a:solidFill>
              <a:schemeClr val="tx1"/>
            </a:solidFill>
            <a:prstDash val="solid"/>
            <a:miter/>
            <a:headEnd type="none" w="med" len="med"/>
            <a:tailEnd type="none" w="med" len="med"/>
          </a:ln>
        </p:spPr>
      </p:sp>
      <p:sp>
        <p:nvSpPr>
          <p:cNvPr id="190476" name="Line 14"/>
          <p:cNvSpPr/>
          <p:nvPr/>
        </p:nvSpPr>
        <p:spPr>
          <a:xfrm>
            <a:off x="304800" y="5105400"/>
            <a:ext cx="7924800" cy="0"/>
          </a:xfrm>
          <a:prstGeom prst="line">
            <a:avLst/>
          </a:prstGeom>
          <a:ln w="9525" cap="flat" cmpd="sng">
            <a:solidFill>
              <a:schemeClr val="tx1"/>
            </a:solidFill>
            <a:prstDash val="solid"/>
            <a:miter/>
            <a:headEnd type="none" w="med" len="med"/>
            <a:tailEnd type="none" w="med" len="med"/>
          </a:ln>
        </p:spPr>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数据流分析基础（续）</a:t>
            </a:r>
            <a:endParaRPr lang="en-US" altLang="zh-CN" dirty="0">
              <a:latin typeface="Times New Roman" panose="02020603050405020304" pitchFamily="18" charset="0"/>
              <a:ea typeface="宋体" panose="02010600030101010101" pitchFamily="2" charset="-122"/>
            </a:endParaRPr>
          </a:p>
        </p:txBody>
      </p:sp>
      <p:sp>
        <p:nvSpPr>
          <p:cNvPr id="192515"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数据流分析问题的归类</a:t>
            </a:r>
            <a:endParaRPr lang="zh-CN" altLang="en-US" sz="2400" b="1" dirty="0">
              <a:ea typeface="宋体" panose="02010600030101010101" pitchFamily="2" charset="-122"/>
            </a:endParaRPr>
          </a:p>
          <a:p>
            <a:pPr lvl="1"/>
            <a:r>
              <a:rPr lang="zh-CN" altLang="en-US" sz="2200" b="1" dirty="0">
                <a:ea typeface="宋体" panose="02010600030101010101" pitchFamily="2" charset="-122"/>
              </a:rPr>
              <a:t>传播的方向</a:t>
            </a:r>
            <a:endParaRPr lang="zh-CN" altLang="en-US" sz="2200" b="1" dirty="0">
              <a:ea typeface="宋体" panose="02010600030101010101" pitchFamily="2" charset="-122"/>
            </a:endParaRPr>
          </a:p>
          <a:p>
            <a:pPr lvl="2"/>
            <a:r>
              <a:rPr lang="zh-CN" altLang="en-US" sz="2000" b="1" dirty="0">
                <a:ea typeface="宋体" panose="02010600030101010101" pitchFamily="2" charset="-122"/>
              </a:rPr>
              <a:t>前向（</a:t>
            </a:r>
            <a:r>
              <a:rPr lang="en-US" altLang="zh-CN" sz="2000" b="1" dirty="0">
                <a:ea typeface="宋体" panose="02010600030101010101" pitchFamily="2" charset="-122"/>
              </a:rPr>
              <a:t>forward）：</a:t>
            </a:r>
            <a:r>
              <a:rPr lang="zh-CN" altLang="en-US" sz="2000" b="1" dirty="0">
                <a:ea typeface="宋体" panose="02010600030101010101" pitchFamily="2" charset="-122"/>
              </a:rPr>
              <a:t>按深度优先序分析，如常数传播</a:t>
            </a:r>
            <a:endParaRPr lang="zh-CN" altLang="en-US" sz="2000" b="1" dirty="0">
              <a:ea typeface="宋体" panose="02010600030101010101" pitchFamily="2" charset="-122"/>
            </a:endParaRPr>
          </a:p>
          <a:p>
            <a:pPr lvl="2"/>
            <a:r>
              <a:rPr lang="zh-CN" altLang="en-US" sz="2000" b="1" dirty="0">
                <a:ea typeface="宋体" panose="02010600030101010101" pitchFamily="2" charset="-122"/>
              </a:rPr>
              <a:t>后向（</a:t>
            </a:r>
            <a:r>
              <a:rPr lang="en-US" altLang="zh-CN" sz="2000" b="1" dirty="0">
                <a:ea typeface="宋体" panose="02010600030101010101" pitchFamily="2" charset="-122"/>
              </a:rPr>
              <a:t>backward）：</a:t>
            </a:r>
            <a:r>
              <a:rPr lang="zh-CN" altLang="en-US" sz="2000" b="1" dirty="0">
                <a:ea typeface="宋体" panose="02010600030101010101" pitchFamily="2" charset="-122"/>
              </a:rPr>
              <a:t>按逆深度优先序分析</a:t>
            </a:r>
            <a:endParaRPr lang="zh-CN" altLang="en-US" sz="2000" b="1" dirty="0">
              <a:ea typeface="宋体" panose="02010600030101010101" pitchFamily="2" charset="-122"/>
            </a:endParaRPr>
          </a:p>
          <a:p>
            <a:pPr lvl="1"/>
            <a:r>
              <a:rPr lang="zh-CN" altLang="en-US" sz="2200" b="1" dirty="0">
                <a:ea typeface="宋体" panose="02010600030101010101" pitchFamily="2" charset="-122"/>
              </a:rPr>
              <a:t>信息的合流操作方式</a:t>
            </a:r>
            <a:endParaRPr lang="zh-CN" altLang="en-US" sz="2200" b="1" dirty="0">
              <a:ea typeface="宋体" panose="02010600030101010101" pitchFamily="2" charset="-122"/>
            </a:endParaRPr>
          </a:p>
          <a:p>
            <a:pPr lvl="2"/>
            <a:r>
              <a:rPr lang="en-US" altLang="zh-CN" sz="2000" b="1" dirty="0">
                <a:ea typeface="宋体" panose="02010600030101010101" pitchFamily="2" charset="-122"/>
              </a:rPr>
              <a:t>Must</a:t>
            </a:r>
            <a:r>
              <a:rPr lang="zh-CN" altLang="en-US" sz="2000" b="1" dirty="0">
                <a:ea typeface="宋体" panose="02010600030101010101" pitchFamily="2" charset="-122"/>
              </a:rPr>
              <a:t>操作：采用∩的操作</a:t>
            </a:r>
            <a:endParaRPr lang="zh-CN" altLang="en-US" sz="2000" b="1" dirty="0">
              <a:ea typeface="宋体" panose="02010600030101010101" pitchFamily="2" charset="-122"/>
            </a:endParaRPr>
          </a:p>
          <a:p>
            <a:pPr lvl="2"/>
            <a:r>
              <a:rPr lang="en-US" altLang="zh-CN" sz="2000" b="1" dirty="0">
                <a:ea typeface="宋体" panose="02010600030101010101" pitchFamily="2" charset="-122"/>
              </a:rPr>
              <a:t>May</a:t>
            </a:r>
            <a:r>
              <a:rPr lang="zh-CN" altLang="en-US" sz="2000" b="1" dirty="0">
                <a:ea typeface="宋体" panose="02010600030101010101" pitchFamily="2" charset="-122"/>
              </a:rPr>
              <a:t>操作：采用∪的操作</a:t>
            </a:r>
            <a:endParaRPr lang="zh-CN" altLang="en-US" sz="2000" b="1" dirty="0">
              <a:ea typeface="宋体" panose="02010600030101010101" pitchFamily="2" charset="-122"/>
            </a:endParaRPr>
          </a:p>
          <a:p>
            <a:pPr lvl="1"/>
            <a:r>
              <a:rPr lang="zh-CN" altLang="en-US" sz="2200" b="1" dirty="0">
                <a:ea typeface="宋体" panose="02010600030101010101" pitchFamily="2" charset="-122"/>
              </a:rPr>
              <a:t>借助于“格（</a:t>
            </a:r>
            <a:r>
              <a:rPr lang="en-US" altLang="zh-CN" sz="2200" b="1" dirty="0">
                <a:ea typeface="宋体" panose="02010600030101010101" pitchFamily="2" charset="-122"/>
              </a:rPr>
              <a:t>Lattice）”</a:t>
            </a:r>
            <a:r>
              <a:rPr lang="zh-CN" altLang="en-US" sz="2200" b="1" dirty="0">
                <a:ea typeface="宋体" panose="02010600030101010101" pitchFamily="2" charset="-122"/>
              </a:rPr>
              <a:t>可以描述各种数据流分析问题的最坏复杂性</a:t>
            </a:r>
            <a:endParaRPr lang="zh-CN" altLang="en-US" sz="2200" b="1" dirty="0">
              <a:ea typeface="宋体" panose="02010600030101010101" pitchFamily="2" charset="-122"/>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数据流分析的原则</a:t>
            </a:r>
            <a:endParaRPr lang="en-US" altLang="zh-CN" dirty="0">
              <a:latin typeface="Times New Roman" panose="02020603050405020304" pitchFamily="18" charset="0"/>
              <a:ea typeface="宋体" panose="02010600030101010101" pitchFamily="2" charset="-122"/>
            </a:endParaRPr>
          </a:p>
        </p:txBody>
      </p:sp>
      <p:sp>
        <p:nvSpPr>
          <p:cNvPr id="194563"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保守原则：给出的信息必须是安全的，即不能给出某种导致非法变换的信息。</a:t>
            </a:r>
            <a:endParaRPr lang="zh-CN" altLang="en-US" sz="2400" b="1" dirty="0">
              <a:ea typeface="宋体" panose="02010600030101010101" pitchFamily="2" charset="-122"/>
            </a:endParaRPr>
          </a:p>
          <a:p>
            <a:pPr lvl="1"/>
            <a:r>
              <a:rPr lang="zh-CN" altLang="en-US" sz="2200" b="1" dirty="0">
                <a:ea typeface="宋体" panose="02010600030101010101" pitchFamily="2" charset="-122"/>
              </a:rPr>
              <a:t>例如，在进行到达定值分析时，如果我们不能在编译时决定某个定值是否到达某引用点， 我们必须保守地说， 该定值可能到达该引用点</a:t>
            </a:r>
            <a:endParaRPr lang="zh-CN" altLang="en-US" sz="2200" b="1" dirty="0">
              <a:ea typeface="宋体" panose="02010600030101010101" pitchFamily="2" charset="-122"/>
            </a:endParaRPr>
          </a:p>
          <a:p>
            <a:pPr lvl="2">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a := …			(1)</a:t>
            </a:r>
            <a:endParaRPr lang="en-US" altLang="zh-CN" b="1" dirty="0">
              <a:ea typeface="宋体" panose="02010600030101010101" pitchFamily="2" charset="-122"/>
            </a:endParaRPr>
          </a:p>
          <a:p>
            <a:pPr lvl="2">
              <a:buFont typeface="Wingdings" panose="05000000000000000000" pitchFamily="2" charset="2"/>
              <a:buNone/>
            </a:pPr>
            <a:r>
              <a:rPr lang="en-US" altLang="zh-CN" b="1" dirty="0">
                <a:ea typeface="宋体" panose="02010600030101010101" pitchFamily="2" charset="-122"/>
              </a:rPr>
              <a:t>	if ( … ) then a = …		(2)</a:t>
            </a:r>
            <a:endParaRPr lang="en-US" altLang="zh-CN" b="1" dirty="0">
              <a:ea typeface="宋体" panose="02010600030101010101" pitchFamily="2" charset="-122"/>
            </a:endParaRPr>
          </a:p>
          <a:p>
            <a:pPr lvl="2">
              <a:buFont typeface="Wingdings" panose="05000000000000000000" pitchFamily="2" charset="2"/>
              <a:buNone/>
            </a:pPr>
            <a:r>
              <a:rPr lang="en-US" altLang="zh-CN" b="1" dirty="0">
                <a:ea typeface="宋体" panose="02010600030101010101" pitchFamily="2" charset="-122"/>
              </a:rPr>
              <a:t>	b = a + 2    </a:t>
            </a:r>
            <a:r>
              <a:rPr lang="en-US" altLang="zh-CN" sz="2000" b="1" dirty="0">
                <a:ea typeface="宋体" panose="02010600030101010101" pitchFamily="2" charset="-122"/>
              </a:rPr>
              <a:t>/* </a:t>
            </a:r>
            <a:r>
              <a:rPr lang="zh-CN" altLang="en-US" sz="2000" b="1" dirty="0">
                <a:ea typeface="宋体" panose="02010600030101010101" pitchFamily="2" charset="-122"/>
              </a:rPr>
              <a:t>到达的</a:t>
            </a:r>
            <a:r>
              <a:rPr lang="en-US" altLang="zh-CN" sz="2000" b="1" dirty="0">
                <a:ea typeface="宋体" panose="02010600030101010101" pitchFamily="2" charset="-122"/>
              </a:rPr>
              <a:t>a</a:t>
            </a:r>
            <a:r>
              <a:rPr lang="zh-CN" altLang="en-US" sz="2000" b="1" dirty="0">
                <a:ea typeface="宋体" panose="02010600030101010101" pitchFamily="2" charset="-122"/>
              </a:rPr>
              <a:t>的定值可能是(1)也可能是(2) */</a:t>
            </a:r>
            <a:endParaRPr lang="zh-CN" altLang="en-US" sz="2000" b="1" dirty="0">
              <a:ea typeface="宋体" panose="02010600030101010101" pitchFamily="2" charset="-122"/>
            </a:endParaRPr>
          </a:p>
          <a:p>
            <a:r>
              <a:rPr lang="zh-CN" altLang="en-US" sz="2400" b="1" dirty="0">
                <a:ea typeface="宋体" panose="02010600030101010101" pitchFamily="2" charset="-122"/>
              </a:rPr>
              <a:t>精确原则：在保证安全的情况下，我们必须尽可能地给出精确的结果，以发现更多的优化机会。</a:t>
            </a:r>
            <a:endParaRPr lang="zh-CN" altLang="en-US" sz="2400" b="1" dirty="0">
              <a:ea typeface="宋体" panose="02010600030101010101" pitchFamily="2" charset="-122"/>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过程内数据流分析（1）</a:t>
            </a:r>
            <a:endParaRPr lang="en-US" altLang="zh-CN" dirty="0">
              <a:latin typeface="Times New Roman" panose="02020603050405020304" pitchFamily="18" charset="0"/>
              <a:ea typeface="宋体" panose="02010600030101010101" pitchFamily="2" charset="-122"/>
            </a:endParaRPr>
          </a:p>
        </p:txBody>
      </p:sp>
      <p:sp>
        <p:nvSpPr>
          <p:cNvPr id="196611"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过程内数据流问题一般是在过程的控制流图上进行的。</a:t>
            </a:r>
            <a:endParaRPr lang="zh-CN" altLang="en-US" sz="2400" b="1" dirty="0">
              <a:ea typeface="宋体" panose="02010600030101010101" pitchFamily="2" charset="-122"/>
            </a:endParaRPr>
          </a:p>
          <a:p>
            <a:pPr lvl="1"/>
            <a:r>
              <a:rPr lang="zh-CN" altLang="en-US" sz="2200" b="1" dirty="0">
                <a:ea typeface="宋体" panose="02010600030101010101" pitchFamily="2" charset="-122"/>
              </a:rPr>
              <a:t>解决全局数据流问题时，我们认为基本块内的分析在局部数据流分析时完成</a:t>
            </a:r>
            <a:endParaRPr lang="zh-CN" altLang="en-US" sz="2200" b="1" dirty="0">
              <a:ea typeface="宋体" panose="02010600030101010101" pitchFamily="2" charset="-122"/>
            </a:endParaRPr>
          </a:p>
          <a:p>
            <a:pPr lvl="1"/>
            <a:r>
              <a:rPr lang="zh-CN" altLang="en-US" sz="2200" b="1" dirty="0">
                <a:ea typeface="宋体" panose="02010600030101010101" pitchFamily="2" charset="-122"/>
              </a:rPr>
              <a:t>在全局数据流分析时，我们只关心基本块的副作用。</a:t>
            </a:r>
            <a:endParaRPr lang="zh-CN" altLang="en-US" sz="2200" b="1" dirty="0">
              <a:ea typeface="宋体" panose="02010600030101010101" pitchFamily="2" charset="-122"/>
            </a:endParaRPr>
          </a:p>
          <a:p>
            <a:r>
              <a:rPr lang="zh-CN" altLang="en-US" sz="2400" b="1" dirty="0">
                <a:ea typeface="宋体" panose="02010600030101010101" pitchFamily="2" charset="-122"/>
              </a:rPr>
              <a:t>过程内数据流问题的描述</a:t>
            </a:r>
            <a:endParaRPr lang="zh-CN" altLang="en-US" sz="2400" b="1" dirty="0">
              <a:ea typeface="宋体" panose="02010600030101010101" pitchFamily="2" charset="-122"/>
            </a:endParaRPr>
          </a:p>
          <a:p>
            <a:pPr lvl="1"/>
            <a:r>
              <a:rPr lang="zh-CN" altLang="en-US" sz="2200" b="1" dirty="0">
                <a:ea typeface="宋体" panose="02010600030101010101" pitchFamily="2" charset="-122"/>
              </a:rPr>
              <a:t>流值：流值描述程序中的变量、表达式或其它程序结构的语法抽象性质。</a:t>
            </a:r>
            <a:endParaRPr lang="zh-CN" altLang="en-US" sz="2200" b="1" dirty="0">
              <a:ea typeface="宋体" panose="02010600030101010101" pitchFamily="2" charset="-122"/>
            </a:endParaRPr>
          </a:p>
          <a:p>
            <a:pPr lvl="2"/>
            <a:r>
              <a:rPr lang="zh-CN" altLang="en-US" sz="2000" b="1" dirty="0">
                <a:ea typeface="宋体" panose="02010600030101010101" pitchFamily="2" charset="-122"/>
              </a:rPr>
              <a:t>在数据流问题的模型中，流值是半格中的元素上。（半格包括一组元素和最小上界操作和最大下界操作，这两个操作都符合闭包性质，交换性质和结合性质）</a:t>
            </a:r>
            <a:endParaRPr lang="zh-CN" altLang="en-US" sz="2000" b="1" dirty="0">
              <a:ea typeface="宋体" panose="02010600030101010101" pitchFamily="2" charset="-122"/>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过程内数据流分析（2）</a:t>
            </a:r>
            <a:endParaRPr lang="en-US" altLang="zh-CN" dirty="0">
              <a:latin typeface="Times New Roman" panose="02020603050405020304" pitchFamily="18" charset="0"/>
              <a:ea typeface="宋体" panose="02010600030101010101" pitchFamily="2" charset="-122"/>
            </a:endParaRPr>
          </a:p>
        </p:txBody>
      </p:sp>
      <p:sp>
        <p:nvSpPr>
          <p:cNvPr id="198659" name="Rectangle 3"/>
          <p:cNvSpPr>
            <a:spLocks noGrp="1"/>
          </p:cNvSpPr>
          <p:nvPr>
            <p:ph idx="1"/>
          </p:nvPr>
        </p:nvSpPr>
        <p:spPr>
          <a:xfrm>
            <a:off x="990600" y="1524000"/>
            <a:ext cx="7391400" cy="4648200"/>
          </a:xfrm>
        </p:spPr>
        <p:txBody>
          <a:bodyPr vert="horz" wrap="square" lIns="92075" tIns="46038" rIns="92075" bIns="46038" anchor="t" anchorCtr="0"/>
          <a:p>
            <a:pPr lvl="1"/>
            <a:r>
              <a:rPr lang="zh-CN" altLang="en-US" sz="2200" b="1" dirty="0">
                <a:ea typeface="宋体" panose="02010600030101010101" pitchFamily="2" charset="-122"/>
              </a:rPr>
              <a:t>流函数：流函数反映各个基本块对所分析问题的影响。它是流值到流值的映射，在全局数据流分析时，每个基本块都有对应的流函数。</a:t>
            </a:r>
            <a:endParaRPr lang="zh-CN" altLang="en-US" sz="2200" b="1" dirty="0">
              <a:ea typeface="宋体" panose="02010600030101010101" pitchFamily="2" charset="-122"/>
            </a:endParaRPr>
          </a:p>
          <a:p>
            <a:pPr lvl="1"/>
            <a:r>
              <a:rPr lang="zh-CN" altLang="en-US" sz="2200" b="1" dirty="0">
                <a:ea typeface="宋体" panose="02010600030101010101" pitchFamily="2" charset="-122"/>
              </a:rPr>
              <a:t>控制流图：一般地，控制流图中每个基本块都对应两个流值--出口流值和入口流值， 用</a:t>
            </a:r>
            <a:r>
              <a:rPr lang="en-US" altLang="zh-CN" sz="2200" b="1" dirty="0">
                <a:ea typeface="宋体" panose="02010600030101010101" pitchFamily="2" charset="-122"/>
              </a:rPr>
              <a:t>O(u</a:t>
            </a:r>
            <a:r>
              <a:rPr lang="en-US" altLang="zh-CN" sz="2200" b="1" baseline="-25000" dirty="0">
                <a:ea typeface="宋体" panose="02010600030101010101" pitchFamily="2" charset="-122"/>
              </a:rPr>
              <a:t>i</a:t>
            </a:r>
            <a:r>
              <a:rPr lang="en-US" altLang="zh-CN" sz="2200" b="1" dirty="0">
                <a:ea typeface="宋体" panose="02010600030101010101" pitchFamily="2" charset="-122"/>
              </a:rPr>
              <a:t>)</a:t>
            </a:r>
            <a:r>
              <a:rPr lang="zh-CN" altLang="en-US" sz="2200" b="1" dirty="0">
                <a:ea typeface="宋体" panose="02010600030101010101" pitchFamily="2" charset="-122"/>
              </a:rPr>
              <a:t>和</a:t>
            </a:r>
            <a:r>
              <a:rPr lang="en-US" altLang="zh-CN" sz="2200" b="1" dirty="0">
                <a:ea typeface="宋体" panose="02010600030101010101" pitchFamily="2" charset="-122"/>
              </a:rPr>
              <a:t>I(u</a:t>
            </a:r>
            <a:r>
              <a:rPr lang="en-US" altLang="zh-CN" sz="2200" b="1" baseline="-25000" dirty="0">
                <a:ea typeface="宋体" panose="02010600030101010101" pitchFamily="2" charset="-122"/>
              </a:rPr>
              <a:t>i</a:t>
            </a:r>
            <a:r>
              <a:rPr lang="en-US" altLang="zh-CN" sz="2200" b="1" dirty="0">
                <a:ea typeface="宋体" panose="02010600030101010101" pitchFamily="2" charset="-122"/>
              </a:rPr>
              <a:t>)</a:t>
            </a:r>
            <a:r>
              <a:rPr lang="zh-CN" altLang="en-US" sz="2200" b="1" dirty="0">
                <a:ea typeface="宋体" panose="02010600030101010101" pitchFamily="2" charset="-122"/>
              </a:rPr>
              <a:t>表示</a:t>
            </a:r>
            <a:endParaRPr lang="en-US" altLang="zh-CN" sz="2200" b="1" dirty="0">
              <a:ea typeface="宋体" panose="02010600030101010101" pitchFamily="2" charset="-122"/>
            </a:endParaRPr>
          </a:p>
          <a:p>
            <a:pPr lvl="1"/>
            <a:r>
              <a:rPr lang="zh-CN" altLang="en-US" sz="2200" b="1" dirty="0">
                <a:ea typeface="宋体" panose="02010600030101010101" pitchFamily="2" charset="-122"/>
              </a:rPr>
              <a:t>流方程：流方程反映各点流值之间的关系。一般来说，前向数据流问题和后向数据流问题的流方程分别是：（2</a:t>
            </a:r>
            <a:r>
              <a:rPr lang="en-US" altLang="zh-CN" sz="2200" b="1" dirty="0">
                <a:ea typeface="宋体" panose="02010600030101010101" pitchFamily="2" charset="-122"/>
              </a:rPr>
              <a:t>n</a:t>
            </a:r>
            <a:r>
              <a:rPr lang="zh-CN" altLang="en-US" sz="2200" b="1" dirty="0">
                <a:ea typeface="宋体" panose="02010600030101010101" pitchFamily="2" charset="-122"/>
              </a:rPr>
              <a:t>个未知数，2</a:t>
            </a:r>
            <a:r>
              <a:rPr lang="en-US" altLang="zh-CN" sz="2200" b="1" dirty="0">
                <a:ea typeface="宋体" panose="02010600030101010101" pitchFamily="2" charset="-122"/>
              </a:rPr>
              <a:t>n</a:t>
            </a:r>
            <a:r>
              <a:rPr lang="zh-CN" altLang="en-US" sz="2200" b="1" dirty="0">
                <a:ea typeface="宋体" panose="02010600030101010101" pitchFamily="2" charset="-122"/>
              </a:rPr>
              <a:t>个方程）</a:t>
            </a:r>
            <a:endParaRPr lang="zh-CN" altLang="en-US" sz="2200" b="1" dirty="0">
              <a:ea typeface="宋体" panose="02010600030101010101" pitchFamily="2" charset="-122"/>
            </a:endParaRPr>
          </a:p>
        </p:txBody>
      </p:sp>
      <p:graphicFrame>
        <p:nvGraphicFramePr>
          <p:cNvPr id="198660" name="Object 4"/>
          <p:cNvGraphicFramePr>
            <a:graphicFrameLocks noChangeAspect="1"/>
          </p:cNvGraphicFramePr>
          <p:nvPr/>
        </p:nvGraphicFramePr>
        <p:xfrm>
          <a:off x="1752600" y="4665663"/>
          <a:ext cx="2438400" cy="1354137"/>
        </p:xfrm>
        <a:graphic>
          <a:graphicData uri="http://schemas.openxmlformats.org/presentationml/2006/ole">
            <mc:AlternateContent xmlns:mc="http://schemas.openxmlformats.org/markup-compatibility/2006">
              <mc:Choice xmlns:v="urn:schemas-microsoft-com:vml" Requires="v">
                <p:oleObj spid="_x0000_s3085" name="" r:id="rId1" imgW="1409700" imgH="838200" progId="Equation.3">
                  <p:embed/>
                </p:oleObj>
              </mc:Choice>
              <mc:Fallback>
                <p:oleObj name="" r:id="rId1" imgW="1409700" imgH="838200" progId="Equation.3">
                  <p:embed/>
                  <p:pic>
                    <p:nvPicPr>
                      <p:cNvPr id="0" name="图片 3084"/>
                      <p:cNvPicPr/>
                      <p:nvPr/>
                    </p:nvPicPr>
                    <p:blipFill>
                      <a:blip r:embed="rId2"/>
                      <a:stretch>
                        <a:fillRect/>
                      </a:stretch>
                    </p:blipFill>
                    <p:spPr>
                      <a:xfrm>
                        <a:off x="1752600" y="4665663"/>
                        <a:ext cx="2438400" cy="1354137"/>
                      </a:xfrm>
                      <a:prstGeom prst="rect">
                        <a:avLst/>
                      </a:prstGeom>
                      <a:noFill/>
                      <a:ln w="38100">
                        <a:noFill/>
                        <a:miter/>
                      </a:ln>
                    </p:spPr>
                  </p:pic>
                </p:oleObj>
              </mc:Fallback>
            </mc:AlternateContent>
          </a:graphicData>
        </a:graphic>
      </p:graphicFrame>
      <p:graphicFrame>
        <p:nvGraphicFramePr>
          <p:cNvPr id="198661" name="Object 5"/>
          <p:cNvGraphicFramePr>
            <a:graphicFrameLocks noChangeAspect="1"/>
          </p:cNvGraphicFramePr>
          <p:nvPr/>
        </p:nvGraphicFramePr>
        <p:xfrm>
          <a:off x="4800600" y="4575175"/>
          <a:ext cx="2438400" cy="1444625"/>
        </p:xfrm>
        <a:graphic>
          <a:graphicData uri="http://schemas.openxmlformats.org/presentationml/2006/ole">
            <mc:AlternateContent xmlns:mc="http://schemas.openxmlformats.org/markup-compatibility/2006">
              <mc:Choice xmlns:v="urn:schemas-microsoft-com:vml" Requires="v">
                <p:oleObj spid="_x0000_s3084" name="" r:id="rId3" imgW="1371600" imgH="838200" progId="Equation.3">
                  <p:embed/>
                </p:oleObj>
              </mc:Choice>
              <mc:Fallback>
                <p:oleObj name="" r:id="rId3" imgW="1371600" imgH="838200" progId="Equation.3">
                  <p:embed/>
                  <p:pic>
                    <p:nvPicPr>
                      <p:cNvPr id="0" name="图片 3083"/>
                      <p:cNvPicPr/>
                      <p:nvPr/>
                    </p:nvPicPr>
                    <p:blipFill>
                      <a:blip r:embed="rId4"/>
                      <a:stretch>
                        <a:fillRect/>
                      </a:stretch>
                    </p:blipFill>
                    <p:spPr>
                      <a:xfrm>
                        <a:off x="4800600" y="4575175"/>
                        <a:ext cx="2438400" cy="1444625"/>
                      </a:xfrm>
                      <a:prstGeom prst="rect">
                        <a:avLst/>
                      </a:prstGeom>
                      <a:noFill/>
                      <a:ln w="38100">
                        <a:noFill/>
                        <a:miter/>
                      </a:ln>
                    </p:spPr>
                  </p:pic>
                </p:oleObj>
              </mc:Fallback>
            </mc:AlternateContent>
          </a:graphicData>
        </a:graphic>
      </p:graphicFrame>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a:t>
            </a:r>
            <a:endParaRPr lang="en-US" altLang="zh-CN" dirty="0">
              <a:latin typeface="Times New Roman" panose="02020603050405020304" pitchFamily="18" charset="0"/>
              <a:ea typeface="宋体" panose="02010600030101010101" pitchFamily="2" charset="-122"/>
            </a:endParaRPr>
          </a:p>
        </p:txBody>
      </p:sp>
      <p:sp>
        <p:nvSpPr>
          <p:cNvPr id="200707"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相关概念</a:t>
            </a:r>
            <a:endParaRPr lang="zh-CN" altLang="en-US" sz="2400" b="1" dirty="0">
              <a:ea typeface="宋体" panose="02010600030101010101" pitchFamily="2" charset="-122"/>
            </a:endParaRPr>
          </a:p>
          <a:p>
            <a:pPr lvl="1"/>
            <a:r>
              <a:rPr lang="zh-CN" altLang="en-US" sz="2200" b="1" dirty="0">
                <a:ea typeface="宋体" panose="02010600030101010101" pitchFamily="2" charset="-122"/>
              </a:rPr>
              <a:t>变量</a:t>
            </a:r>
            <a:r>
              <a:rPr lang="en-US" altLang="zh-CN" sz="2200" b="1" dirty="0">
                <a:ea typeface="宋体" panose="02010600030101010101" pitchFamily="2" charset="-122"/>
              </a:rPr>
              <a:t>x</a:t>
            </a:r>
            <a:r>
              <a:rPr lang="zh-CN" altLang="en-US" sz="2200" b="1" dirty="0">
                <a:ea typeface="宋体" panose="02010600030101010101" pitchFamily="2" charset="-122"/>
              </a:rPr>
              <a:t>的定值：是一个语句，它（可能）赋值给</a:t>
            </a:r>
            <a:r>
              <a:rPr lang="en-US" altLang="zh-CN" sz="2200" b="1" dirty="0">
                <a:ea typeface="宋体" panose="02010600030101010101" pitchFamily="2" charset="-122"/>
              </a:rPr>
              <a:t>x</a:t>
            </a:r>
            <a:endParaRPr lang="en-US" altLang="zh-CN" sz="2200" b="1" dirty="0">
              <a:ea typeface="宋体" panose="02010600030101010101" pitchFamily="2" charset="-122"/>
            </a:endParaRPr>
          </a:p>
          <a:p>
            <a:pPr lvl="2"/>
            <a:r>
              <a:rPr lang="zh-CN" altLang="en-US" sz="2000" b="1" dirty="0">
                <a:ea typeface="宋体" panose="02010600030101010101" pitchFamily="2" charset="-122"/>
              </a:rPr>
              <a:t>无二义的定值：语句真正对</a:t>
            </a:r>
            <a:r>
              <a:rPr lang="en-US" altLang="zh-CN" sz="2000" b="1" dirty="0">
                <a:ea typeface="宋体" panose="02010600030101010101" pitchFamily="2" charset="-122"/>
              </a:rPr>
              <a:t>x</a:t>
            </a:r>
            <a:r>
              <a:rPr lang="zh-CN" altLang="en-US" sz="2000" b="1" dirty="0">
                <a:ea typeface="宋体" panose="02010600030101010101" pitchFamily="2" charset="-122"/>
              </a:rPr>
              <a:t>定一个值</a:t>
            </a:r>
            <a:endParaRPr lang="zh-CN" altLang="en-US" sz="2000" b="1" dirty="0">
              <a:ea typeface="宋体" panose="02010600030101010101" pitchFamily="2" charset="-122"/>
            </a:endParaRPr>
          </a:p>
          <a:p>
            <a:pPr lvl="2"/>
            <a:r>
              <a:rPr lang="zh-CN" altLang="en-US" sz="2000" b="1" dirty="0">
                <a:ea typeface="宋体" panose="02010600030101010101" pitchFamily="2" charset="-122"/>
              </a:rPr>
              <a:t>二义的定值：</a:t>
            </a:r>
            <a:endParaRPr lang="zh-CN" altLang="en-US" sz="2000" b="1" dirty="0">
              <a:ea typeface="宋体" panose="02010600030101010101" pitchFamily="2" charset="-122"/>
            </a:endParaRPr>
          </a:p>
          <a:p>
            <a:pPr lvl="3"/>
            <a:r>
              <a:rPr lang="en-US" altLang="zh-CN" sz="1800" b="1" dirty="0">
                <a:ea typeface="宋体" panose="02010600030101010101" pitchFamily="2" charset="-122"/>
              </a:rPr>
              <a:t>x</a:t>
            </a:r>
            <a:r>
              <a:rPr lang="zh-CN" altLang="en-US" sz="1800" b="1" dirty="0">
                <a:ea typeface="宋体" panose="02010600030101010101" pitchFamily="2" charset="-122"/>
              </a:rPr>
              <a:t>作为形式参数，或由于别名的关系</a:t>
            </a:r>
            <a:endParaRPr lang="zh-CN" altLang="en-US" sz="1800" b="1" dirty="0">
              <a:ea typeface="宋体" panose="02010600030101010101" pitchFamily="2" charset="-122"/>
            </a:endParaRPr>
          </a:p>
          <a:p>
            <a:pPr lvl="3"/>
            <a:r>
              <a:rPr lang="zh-CN" altLang="en-US" sz="1800" b="1" dirty="0">
                <a:ea typeface="宋体" panose="02010600030101010101" pitchFamily="2" charset="-122"/>
              </a:rPr>
              <a:t>通过引用</a:t>
            </a:r>
            <a:r>
              <a:rPr lang="en-US" altLang="zh-CN" sz="1800" b="1" dirty="0">
                <a:ea typeface="宋体" panose="02010600030101010101" pitchFamily="2" charset="-122"/>
              </a:rPr>
              <a:t>x</a:t>
            </a:r>
            <a:r>
              <a:rPr lang="zh-CN" altLang="en-US" sz="1800" b="1" dirty="0">
                <a:ea typeface="宋体" panose="02010600030101010101" pitchFamily="2" charset="-122"/>
              </a:rPr>
              <a:t>的指针对</a:t>
            </a:r>
            <a:r>
              <a:rPr lang="en-US" altLang="zh-CN" sz="1800" b="1" dirty="0">
                <a:ea typeface="宋体" panose="02010600030101010101" pitchFamily="2" charset="-122"/>
              </a:rPr>
              <a:t>x</a:t>
            </a:r>
            <a:r>
              <a:rPr lang="zh-CN" altLang="en-US" sz="1800" b="1" dirty="0">
                <a:ea typeface="宋体" panose="02010600030101010101" pitchFamily="2" charset="-122"/>
              </a:rPr>
              <a:t>赋值</a:t>
            </a:r>
            <a:endParaRPr lang="zh-CN" altLang="en-US" sz="1800" b="1" dirty="0">
              <a:ea typeface="宋体" panose="02010600030101010101" pitchFamily="2" charset="-122"/>
            </a:endParaRPr>
          </a:p>
          <a:p>
            <a:pPr lvl="1"/>
            <a:r>
              <a:rPr lang="zh-CN" altLang="en-US" sz="2200" b="1" dirty="0">
                <a:ea typeface="宋体" panose="02010600030101010101" pitchFamily="2" charset="-122"/>
              </a:rPr>
              <a:t>变量</a:t>
            </a:r>
            <a:r>
              <a:rPr lang="en-US" altLang="zh-CN" sz="2200" b="1" dirty="0">
                <a:ea typeface="宋体" panose="02010600030101010101" pitchFamily="2" charset="-122"/>
              </a:rPr>
              <a:t>a</a:t>
            </a:r>
            <a:r>
              <a:rPr lang="zh-CN" altLang="en-US" sz="2200" b="1" dirty="0">
                <a:ea typeface="宋体" panose="02010600030101010101" pitchFamily="2" charset="-122"/>
              </a:rPr>
              <a:t>的定值</a:t>
            </a:r>
            <a:r>
              <a:rPr lang="en-US" altLang="zh-CN" sz="2200" b="1" dirty="0">
                <a:ea typeface="宋体" panose="02010600030101010101" pitchFamily="2" charset="-122"/>
              </a:rPr>
              <a:t>d</a:t>
            </a:r>
            <a:r>
              <a:rPr lang="zh-CN" altLang="en-US" sz="2200" b="1" dirty="0">
                <a:ea typeface="宋体" panose="02010600030101010101" pitchFamily="2" charset="-122"/>
              </a:rPr>
              <a:t>到达一点</a:t>
            </a:r>
            <a:r>
              <a:rPr lang="en-US" altLang="zh-CN" sz="2200" b="1" dirty="0">
                <a:ea typeface="宋体" panose="02010600030101010101" pitchFamily="2" charset="-122"/>
              </a:rPr>
              <a:t>p：</a:t>
            </a:r>
            <a:r>
              <a:rPr lang="zh-CN" altLang="en-US" sz="2200" b="1" dirty="0">
                <a:ea typeface="宋体" panose="02010600030101010101" pitchFamily="2" charset="-122"/>
              </a:rPr>
              <a:t>如果有路径从紧跟</a:t>
            </a:r>
            <a:r>
              <a:rPr lang="en-US" altLang="zh-CN" sz="2200" b="1" dirty="0">
                <a:ea typeface="宋体" panose="02010600030101010101" pitchFamily="2" charset="-122"/>
              </a:rPr>
              <a:t>d</a:t>
            </a:r>
            <a:r>
              <a:rPr lang="zh-CN" altLang="en-US" sz="2200" b="1" dirty="0">
                <a:ea typeface="宋体" panose="02010600030101010101" pitchFamily="2" charset="-122"/>
              </a:rPr>
              <a:t>的点到达</a:t>
            </a:r>
            <a:r>
              <a:rPr lang="en-US" altLang="zh-CN" sz="2200" b="1" dirty="0">
                <a:ea typeface="宋体" panose="02010600030101010101" pitchFamily="2" charset="-122"/>
              </a:rPr>
              <a:t>p，</a:t>
            </a:r>
            <a:r>
              <a:rPr lang="zh-CN" altLang="en-US" sz="2200" b="1" dirty="0">
                <a:ea typeface="宋体" panose="02010600030101010101" pitchFamily="2" charset="-122"/>
              </a:rPr>
              <a:t>并且在这条路径上</a:t>
            </a:r>
            <a:r>
              <a:rPr lang="en-US" altLang="zh-CN" sz="2200" b="1" dirty="0">
                <a:ea typeface="宋体" panose="02010600030101010101" pitchFamily="2" charset="-122"/>
              </a:rPr>
              <a:t>d</a:t>
            </a:r>
            <a:r>
              <a:rPr lang="zh-CN" altLang="en-US" sz="2200" b="1" dirty="0">
                <a:ea typeface="宋体" panose="02010600030101010101" pitchFamily="2" charset="-122"/>
              </a:rPr>
              <a:t>没有被注销</a:t>
            </a:r>
            <a:endParaRPr lang="zh-CN" altLang="en-US" sz="2200" b="1" dirty="0">
              <a:ea typeface="宋体" panose="02010600030101010101" pitchFamily="2" charset="-122"/>
            </a:endParaRPr>
          </a:p>
          <a:p>
            <a:pPr lvl="1"/>
            <a:r>
              <a:rPr lang="zh-CN" altLang="en-US" sz="2200" b="1" dirty="0">
                <a:ea typeface="宋体" panose="02010600030101010101" pitchFamily="2" charset="-122"/>
              </a:rPr>
              <a:t>定值的注销：如果在这条路径上有对变量</a:t>
            </a:r>
            <a:r>
              <a:rPr lang="en-US" altLang="zh-CN" sz="2200" b="1" dirty="0">
                <a:ea typeface="宋体" panose="02010600030101010101" pitchFamily="2" charset="-122"/>
              </a:rPr>
              <a:t>a</a:t>
            </a:r>
            <a:r>
              <a:rPr lang="zh-CN" altLang="en-US" sz="2200" b="1" dirty="0">
                <a:ea typeface="宋体" panose="02010600030101010101" pitchFamily="2" charset="-122"/>
              </a:rPr>
              <a:t>的其它定值，则称前面的定值被注销</a:t>
            </a:r>
            <a:endParaRPr lang="zh-CN" altLang="en-US" sz="2200" b="1" dirty="0">
              <a:ea typeface="宋体" panose="02010600030101010101" pitchFamily="2" charset="-122"/>
            </a:endParaRPr>
          </a:p>
          <a:p>
            <a:pPr lvl="2"/>
            <a:r>
              <a:rPr lang="zh-CN" altLang="en-US" sz="2000" b="1" dirty="0">
                <a:ea typeface="宋体" panose="02010600030101010101" pitchFamily="2" charset="-122"/>
              </a:rPr>
              <a:t>只有控制结点的无二义的定值才能注销其它的定值</a:t>
            </a:r>
            <a:endParaRPr lang="zh-CN" altLang="en-US" sz="2000" b="1" dirty="0">
              <a:ea typeface="宋体" panose="02010600030101010101" pitchFamily="2" charset="-122"/>
            </a:endParaRPr>
          </a:p>
          <a:p>
            <a:pPr lvl="2"/>
            <a:r>
              <a:rPr lang="zh-CN" altLang="en-US" sz="2000" b="1" dirty="0">
                <a:ea typeface="宋体" panose="02010600030101010101" pitchFamily="2" charset="-122"/>
              </a:rPr>
              <a:t>到达-定值可能是不精确的</a:t>
            </a:r>
            <a:endParaRPr lang="zh-CN" altLang="en-US" sz="2000" b="1" dirty="0">
              <a:ea typeface="宋体" panose="02010600030101010101" pitchFamily="2" charset="-122"/>
            </a:endParaRP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到达-定值的例子</a:t>
            </a:r>
            <a:endParaRPr lang="en-US" altLang="zh-CN" dirty="0">
              <a:latin typeface="Times New Roman" panose="02020603050405020304" pitchFamily="18" charset="0"/>
              <a:ea typeface="宋体" panose="02010600030101010101" pitchFamily="2" charset="-122"/>
            </a:endParaRPr>
          </a:p>
        </p:txBody>
      </p:sp>
      <p:sp>
        <p:nvSpPr>
          <p:cNvPr id="202755" name="Rectangle 3"/>
          <p:cNvSpPr>
            <a:spLocks noGrp="1"/>
          </p:cNvSpPr>
          <p:nvPr>
            <p:ph idx="1"/>
          </p:nvPr>
        </p:nvSpPr>
        <p:spPr>
          <a:xfrm>
            <a:off x="990600" y="1524000"/>
            <a:ext cx="7391400" cy="4648200"/>
          </a:xfrm>
        </p:spPr>
        <p:txBody>
          <a:bodyPr vert="horz" wrap="square" lIns="92075" tIns="46038" rIns="92075" bIns="46038" anchor="t" anchorCtr="0"/>
          <a:p>
            <a:pPr>
              <a:buNone/>
            </a:pPr>
            <a:r>
              <a:rPr lang="zh-CN" altLang="en-US" sz="1800" b="1" dirty="0">
                <a:ea typeface="宋体" panose="02010600030101010101" pitchFamily="2" charset="-122"/>
              </a:rPr>
              <a:t>	</a:t>
            </a:r>
            <a:r>
              <a:rPr lang="en-US" altLang="zh-CN" sz="1800" b="1" dirty="0">
                <a:ea typeface="宋体" panose="02010600030101010101" pitchFamily="2" charset="-122"/>
              </a:rPr>
              <a:t>	… …</a:t>
            </a:r>
            <a:endParaRPr lang="en-US" altLang="zh-CN"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d1:	a := 4</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d2:	if (a == b) a := 2</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c := a + 2</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t>
            </a:r>
            <a:r>
              <a:rPr lang="zh-CN" altLang="en-US" sz="1800" b="1" dirty="0">
                <a:ea typeface="宋体" panose="02010600030101010101" pitchFamily="2" charset="-122"/>
              </a:rPr>
              <a:t>此时到达-定值是{</a:t>
            </a:r>
            <a:r>
              <a:rPr lang="en-US" altLang="zh-CN" sz="1800" b="1" dirty="0">
                <a:ea typeface="宋体" panose="02010600030101010101" pitchFamily="2" charset="-122"/>
              </a:rPr>
              <a:t>d1, d2}，a</a:t>
            </a:r>
            <a:r>
              <a:rPr lang="zh-CN" altLang="en-US" sz="1800" b="1" dirty="0">
                <a:ea typeface="宋体" panose="02010600030101010101" pitchFamily="2" charset="-122"/>
              </a:rPr>
              <a:t>可能取值4，也可能取值2</a:t>
            </a:r>
            <a:endParaRPr lang="en-US" altLang="zh-CN" sz="1800" b="1" dirty="0">
              <a:ea typeface="宋体" panose="02010600030101010101" pitchFamily="2" charset="-122"/>
            </a:endParaRPr>
          </a:p>
          <a:p>
            <a:pPr>
              <a:buNone/>
            </a:pP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	…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d1:	if (a == b) a := 2</a:t>
            </a:r>
            <a:endParaRPr lang="en-US" altLang="zh-CN"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d2:	a := 4</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c := a + 2</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t>
            </a:r>
            <a:r>
              <a:rPr lang="zh-CN" altLang="en-US" sz="1800" b="1" dirty="0">
                <a:ea typeface="宋体" panose="02010600030101010101" pitchFamily="2" charset="-122"/>
              </a:rPr>
              <a:t>此时到达-定值是{</a:t>
            </a:r>
            <a:r>
              <a:rPr lang="en-US" altLang="zh-CN" sz="1800" b="1" dirty="0">
                <a:ea typeface="宋体" panose="02010600030101010101" pitchFamily="2" charset="-122"/>
              </a:rPr>
              <a:t>d2}，a</a:t>
            </a:r>
            <a:r>
              <a:rPr lang="zh-CN" altLang="en-US" sz="1800" b="1" dirty="0">
                <a:ea typeface="宋体" panose="02010600030101010101" pitchFamily="2" charset="-122"/>
              </a:rPr>
              <a:t>只可能取值4</a:t>
            </a:r>
            <a:endParaRPr lang="zh-CN" altLang="en-US" sz="1800" b="1" dirty="0">
              <a:ea typeface="宋体" panose="02010600030101010101" pitchFamily="2" charset="-122"/>
            </a:endParaRPr>
          </a:p>
          <a:p>
            <a:pPr>
              <a:buNone/>
            </a:pPr>
            <a:endParaRPr lang="zh-CN" altLang="en-US" sz="1800" b="1" dirty="0">
              <a:ea typeface="宋体" panose="02010600030101010101" pitchFamily="2" charset="-122"/>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到达-定值的数据流方程</a:t>
            </a:r>
            <a:endParaRPr lang="en-US" altLang="zh-CN" dirty="0">
              <a:latin typeface="Times New Roman" panose="02020603050405020304" pitchFamily="18" charset="0"/>
              <a:ea typeface="宋体" panose="02010600030101010101" pitchFamily="2" charset="-122"/>
            </a:endParaRPr>
          </a:p>
        </p:txBody>
      </p:sp>
      <p:sp>
        <p:nvSpPr>
          <p:cNvPr id="204803"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200" b="1" dirty="0">
                <a:ea typeface="宋体" panose="02010600030101010101" pitchFamily="2" charset="-122"/>
              </a:rPr>
              <a:t>几个集合：</a:t>
            </a:r>
            <a:endParaRPr lang="zh-CN" altLang="en-US" sz="2200" b="1" dirty="0">
              <a:ea typeface="宋体" panose="02010600030101010101" pitchFamily="2" charset="-122"/>
            </a:endParaRPr>
          </a:p>
          <a:p>
            <a:pPr lvl="1"/>
            <a:r>
              <a:rPr lang="en-US" altLang="zh-CN" sz="2000" b="1" dirty="0">
                <a:ea typeface="宋体" panose="02010600030101010101" pitchFamily="2" charset="-122"/>
              </a:rPr>
              <a:t>gen[B]：</a:t>
            </a:r>
            <a:r>
              <a:rPr lang="zh-CN" altLang="en-US" sz="2000" b="1" dirty="0">
                <a:ea typeface="宋体" panose="02010600030101010101" pitchFamily="2" charset="-122"/>
              </a:rPr>
              <a:t>基本块</a:t>
            </a:r>
            <a:r>
              <a:rPr lang="en-US" altLang="zh-CN" sz="2000" b="1" dirty="0">
                <a:ea typeface="宋体" panose="02010600030101010101" pitchFamily="2" charset="-122"/>
              </a:rPr>
              <a:t>B</a:t>
            </a:r>
            <a:r>
              <a:rPr lang="zh-CN" altLang="en-US" sz="2000" b="1" dirty="0">
                <a:ea typeface="宋体" panose="02010600030101010101" pitchFamily="2" charset="-122"/>
              </a:rPr>
              <a:t>中的定值</a:t>
            </a:r>
            <a:r>
              <a:rPr lang="en-US" altLang="zh-CN" sz="2000" b="1" dirty="0">
                <a:ea typeface="宋体" panose="02010600030101010101" pitchFamily="2" charset="-122"/>
              </a:rPr>
              <a:t>d</a:t>
            </a:r>
            <a:r>
              <a:rPr lang="zh-CN" altLang="en-US" sz="2000" b="1" dirty="0">
                <a:ea typeface="宋体" panose="02010600030101010101" pitchFamily="2" charset="-122"/>
              </a:rPr>
              <a:t>到达</a:t>
            </a:r>
            <a:r>
              <a:rPr lang="en-US" altLang="zh-CN" sz="2000" b="1" dirty="0">
                <a:ea typeface="宋体" panose="02010600030101010101" pitchFamily="2" charset="-122"/>
              </a:rPr>
              <a:t>B</a:t>
            </a:r>
            <a:r>
              <a:rPr lang="zh-CN" altLang="en-US" sz="2000" b="1" dirty="0">
                <a:ea typeface="宋体" panose="02010600030101010101" pitchFamily="2" charset="-122"/>
              </a:rPr>
              <a:t>的结束点，则</a:t>
            </a:r>
            <a:r>
              <a:rPr lang="en-US" altLang="zh-CN" sz="2000" b="1" dirty="0">
                <a:ea typeface="宋体" panose="02010600030101010101" pitchFamily="2" charset="-122"/>
              </a:rPr>
              <a:t>d</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gen[B]</a:t>
            </a:r>
            <a:endParaRPr lang="en-US" altLang="zh-CN" sz="2000" b="1" dirty="0">
              <a:ea typeface="宋体" panose="02010600030101010101" pitchFamily="2" charset="-122"/>
            </a:endParaRPr>
          </a:p>
          <a:p>
            <a:pPr lvl="1"/>
            <a:r>
              <a:rPr lang="en-US" altLang="zh-CN" sz="2000" b="1" dirty="0">
                <a:ea typeface="宋体" panose="02010600030101010101" pitchFamily="2" charset="-122"/>
              </a:rPr>
              <a:t>kill[B]：</a:t>
            </a:r>
            <a:r>
              <a:rPr lang="zh-CN" altLang="en-US" sz="2000" b="1" dirty="0">
                <a:ea typeface="宋体" panose="02010600030101010101" pitchFamily="2" charset="-122"/>
              </a:rPr>
              <a:t>程序中不能到达</a:t>
            </a:r>
            <a:r>
              <a:rPr lang="en-US" altLang="zh-CN" sz="2000" b="1" dirty="0">
                <a:ea typeface="宋体" panose="02010600030101010101" pitchFamily="2" charset="-122"/>
              </a:rPr>
              <a:t>B</a:t>
            </a:r>
            <a:r>
              <a:rPr lang="zh-CN" altLang="en-US" sz="2000" b="1" dirty="0">
                <a:ea typeface="宋体" panose="02010600030101010101" pitchFamily="2" charset="-122"/>
              </a:rPr>
              <a:t>的结束点的定值</a:t>
            </a:r>
            <a:r>
              <a:rPr lang="en-US" altLang="zh-CN" sz="2000" b="1" dirty="0">
                <a:ea typeface="宋体" panose="02010600030101010101" pitchFamily="2" charset="-122"/>
              </a:rPr>
              <a:t>d，</a:t>
            </a:r>
            <a:r>
              <a:rPr lang="zh-CN" altLang="en-US" sz="2000" b="1" dirty="0">
                <a:ea typeface="宋体" panose="02010600030101010101" pitchFamily="2" charset="-122"/>
              </a:rPr>
              <a:t>则</a:t>
            </a:r>
            <a:r>
              <a:rPr lang="en-US" altLang="zh-CN" sz="2000" b="1" dirty="0">
                <a:ea typeface="宋体" panose="02010600030101010101" pitchFamily="2" charset="-122"/>
              </a:rPr>
              <a:t>d</a:t>
            </a:r>
            <a:r>
              <a:rPr lang="en-US" altLang="zh-CN" sz="2000" b="1" dirty="0">
                <a:latin typeface="宋体" panose="02010600030101010101" pitchFamily="2" charset="-122"/>
                <a:ea typeface="宋体" panose="02010600030101010101" pitchFamily="2" charset="-122"/>
              </a:rPr>
              <a:t>∈</a:t>
            </a:r>
            <a:r>
              <a:rPr lang="en-US" altLang="zh-CN" sz="2000" b="1" dirty="0">
                <a:ea typeface="宋体" panose="02010600030101010101" pitchFamily="2" charset="-122"/>
              </a:rPr>
              <a:t>kill[B]</a:t>
            </a:r>
            <a:endParaRPr lang="en-US" altLang="zh-CN" sz="2000" b="1" dirty="0">
              <a:ea typeface="宋体" panose="02010600030101010101" pitchFamily="2" charset="-122"/>
            </a:endParaRPr>
          </a:p>
          <a:p>
            <a:pPr lvl="1"/>
            <a:r>
              <a:rPr lang="en-US" altLang="zh-CN" sz="2000" b="1" dirty="0">
                <a:ea typeface="宋体" panose="02010600030101010101" pitchFamily="2" charset="-122"/>
              </a:rPr>
              <a:t>in[B]：</a:t>
            </a:r>
            <a:r>
              <a:rPr lang="zh-CN" altLang="en-US" sz="2000" b="1" dirty="0">
                <a:ea typeface="宋体" panose="02010600030101010101" pitchFamily="2" charset="-122"/>
              </a:rPr>
              <a:t>到达</a:t>
            </a:r>
            <a:r>
              <a:rPr lang="en-US" altLang="zh-CN" sz="2000" b="1" dirty="0">
                <a:ea typeface="宋体" panose="02010600030101010101" pitchFamily="2" charset="-122"/>
              </a:rPr>
              <a:t>B</a:t>
            </a:r>
            <a:r>
              <a:rPr lang="zh-CN" altLang="en-US" sz="2000" b="1" dirty="0">
                <a:ea typeface="宋体" panose="02010600030101010101" pitchFamily="2" charset="-122"/>
              </a:rPr>
              <a:t>的开始点的定值集合</a:t>
            </a:r>
            <a:endParaRPr lang="en-US" altLang="zh-CN" sz="2000" b="1" dirty="0">
              <a:ea typeface="宋体" panose="02010600030101010101" pitchFamily="2" charset="-122"/>
            </a:endParaRPr>
          </a:p>
          <a:p>
            <a:pPr lvl="1"/>
            <a:r>
              <a:rPr lang="en-US" altLang="zh-CN" sz="2000" b="1" dirty="0">
                <a:ea typeface="宋体" panose="02010600030101010101" pitchFamily="2" charset="-122"/>
              </a:rPr>
              <a:t>out[B]：</a:t>
            </a:r>
            <a:r>
              <a:rPr lang="zh-CN" altLang="en-US" sz="2000" b="1" dirty="0">
                <a:ea typeface="宋体" panose="02010600030101010101" pitchFamily="2" charset="-122"/>
              </a:rPr>
              <a:t>到达</a:t>
            </a:r>
            <a:r>
              <a:rPr lang="en-US" altLang="zh-CN" sz="2000" b="1" dirty="0">
                <a:ea typeface="宋体" panose="02010600030101010101" pitchFamily="2" charset="-122"/>
              </a:rPr>
              <a:t>B</a:t>
            </a:r>
            <a:r>
              <a:rPr lang="zh-CN" altLang="en-US" sz="2000" b="1" dirty="0">
                <a:ea typeface="宋体" panose="02010600030101010101" pitchFamily="2" charset="-122"/>
              </a:rPr>
              <a:t>的结束点的定值集合</a:t>
            </a:r>
            <a:endParaRPr lang="en-US" altLang="zh-CN" sz="2000" b="1" dirty="0">
              <a:ea typeface="宋体" panose="02010600030101010101" pitchFamily="2" charset="-122"/>
            </a:endParaRPr>
          </a:p>
          <a:p>
            <a:r>
              <a:rPr lang="zh-CN" altLang="en-US" sz="2200" b="1" dirty="0">
                <a:ea typeface="宋体" panose="02010600030101010101" pitchFamily="2" charset="-122"/>
              </a:rPr>
              <a:t>流方程：</a:t>
            </a:r>
            <a:endParaRPr lang="en-US" altLang="zh-CN" sz="2200" b="1" dirty="0">
              <a:ea typeface="宋体" panose="02010600030101010101" pitchFamily="2" charset="-122"/>
            </a:endParaRPr>
          </a:p>
        </p:txBody>
      </p:sp>
      <p:graphicFrame>
        <p:nvGraphicFramePr>
          <p:cNvPr id="204804" name="Object 11"/>
          <p:cNvGraphicFramePr>
            <a:graphicFrameLocks noChangeAspect="1"/>
          </p:cNvGraphicFramePr>
          <p:nvPr/>
        </p:nvGraphicFramePr>
        <p:xfrm>
          <a:off x="2460625" y="3733800"/>
          <a:ext cx="3992563" cy="1047750"/>
        </p:xfrm>
        <a:graphic>
          <a:graphicData uri="http://schemas.openxmlformats.org/presentationml/2006/ole">
            <mc:AlternateContent xmlns:mc="http://schemas.openxmlformats.org/markup-compatibility/2006">
              <mc:Choice xmlns:v="urn:schemas-microsoft-com:vml" Requires="v">
                <p:oleObj spid="_x0000_s3086" name="" r:id="rId1" imgW="2209800" imgH="584200" progId="Equation.3">
                  <p:embed/>
                </p:oleObj>
              </mc:Choice>
              <mc:Fallback>
                <p:oleObj name="" r:id="rId1" imgW="2209800" imgH="584200" progId="Equation.3">
                  <p:embed/>
                  <p:pic>
                    <p:nvPicPr>
                      <p:cNvPr id="0" name="图片 3085"/>
                      <p:cNvPicPr/>
                      <p:nvPr/>
                    </p:nvPicPr>
                    <p:blipFill>
                      <a:blip r:embed="rId2"/>
                      <a:stretch>
                        <a:fillRect/>
                      </a:stretch>
                    </p:blipFill>
                    <p:spPr>
                      <a:xfrm>
                        <a:off x="2460625" y="3733800"/>
                        <a:ext cx="3992563" cy="1047750"/>
                      </a:xfrm>
                      <a:prstGeom prst="rect">
                        <a:avLst/>
                      </a:prstGeom>
                      <a:noFill/>
                      <a:ln w="38100">
                        <a:noFill/>
                        <a:miter/>
                      </a:ln>
                    </p:spPr>
                  </p:pic>
                </p:oleObj>
              </mc:Fallback>
            </mc:AlternateContent>
          </a:graphicData>
        </a:graphic>
      </p:graphicFrame>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到达-定值的数据流方程迭代算法</a:t>
            </a:r>
            <a:endParaRPr lang="en-US" altLang="zh-CN" dirty="0">
              <a:latin typeface="Times New Roman" panose="02020603050405020304" pitchFamily="18" charset="0"/>
              <a:ea typeface="宋体" panose="02010600030101010101" pitchFamily="2" charset="-122"/>
            </a:endParaRPr>
          </a:p>
        </p:txBody>
      </p:sp>
      <p:sp>
        <p:nvSpPr>
          <p:cNvPr id="206851" name="Rectangle 3"/>
          <p:cNvSpPr>
            <a:spLocks noGrp="1"/>
          </p:cNvSpPr>
          <p:nvPr>
            <p:ph idx="1"/>
          </p:nvPr>
        </p:nvSpPr>
        <p:spPr>
          <a:xfrm>
            <a:off x="990600" y="1524000"/>
            <a:ext cx="7391400" cy="4648200"/>
          </a:xfrm>
        </p:spPr>
        <p:txBody>
          <a:bodyPr vert="horz" wrap="square" lIns="92075" tIns="46038" rIns="92075" bIns="46038" anchor="t" anchorCtr="0"/>
          <a:p>
            <a:pPr>
              <a:lnSpc>
                <a:spcPct val="90000"/>
              </a:lnSpc>
              <a:buNone/>
            </a:pPr>
            <a:r>
              <a:rPr lang="zh-CN" altLang="en-US" sz="1800" b="1" dirty="0">
                <a:ea typeface="宋体" panose="02010600030101010101" pitchFamily="2" charset="-122"/>
              </a:rPr>
              <a:t>输入：每个基本块</a:t>
            </a:r>
            <a:r>
              <a:rPr lang="en-US" altLang="zh-CN" sz="1800" b="1" dirty="0">
                <a:ea typeface="宋体" panose="02010600030101010101" pitchFamily="2" charset="-122"/>
              </a:rPr>
              <a:t>B</a:t>
            </a:r>
            <a:r>
              <a:rPr lang="zh-CN" altLang="en-US" sz="1800" b="1" dirty="0">
                <a:ea typeface="宋体" panose="02010600030101010101" pitchFamily="2" charset="-122"/>
              </a:rPr>
              <a:t>的</a:t>
            </a:r>
            <a:r>
              <a:rPr lang="en-US" altLang="zh-CN" sz="1800" b="1" dirty="0">
                <a:ea typeface="宋体" panose="02010600030101010101" pitchFamily="2" charset="-122"/>
              </a:rPr>
              <a:t>kill[B]</a:t>
            </a:r>
            <a:r>
              <a:rPr lang="zh-CN" altLang="en-US" sz="1800" b="1" dirty="0">
                <a:ea typeface="宋体" panose="02010600030101010101" pitchFamily="2" charset="-122"/>
              </a:rPr>
              <a:t>和</a:t>
            </a:r>
            <a:r>
              <a:rPr lang="en-US" altLang="zh-CN" sz="1800" b="1" dirty="0">
                <a:ea typeface="宋体" panose="02010600030101010101" pitchFamily="2" charset="-122"/>
              </a:rPr>
              <a:t>gen[B]</a:t>
            </a:r>
            <a:r>
              <a:rPr lang="zh-CN" altLang="en-US" sz="1800" b="1" dirty="0">
                <a:ea typeface="宋体" panose="02010600030101010101" pitchFamily="2" charset="-122"/>
              </a:rPr>
              <a:t>已经算好的流图</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输出：每个基本块</a:t>
            </a:r>
            <a:r>
              <a:rPr lang="en-US" altLang="zh-CN" sz="1800" b="1" dirty="0">
                <a:ea typeface="宋体" panose="02010600030101010101" pitchFamily="2" charset="-122"/>
              </a:rPr>
              <a:t>B</a:t>
            </a:r>
            <a:r>
              <a:rPr lang="zh-CN" altLang="en-US" sz="1800" b="1" dirty="0">
                <a:ea typeface="宋体" panose="02010600030101010101" pitchFamily="2" charset="-122"/>
              </a:rPr>
              <a:t>的</a:t>
            </a:r>
            <a:r>
              <a:rPr lang="en-US" altLang="zh-CN" sz="1800" b="1" dirty="0">
                <a:ea typeface="宋体" panose="02010600030101010101" pitchFamily="2" charset="-122"/>
              </a:rPr>
              <a:t>in[B]</a:t>
            </a:r>
            <a:r>
              <a:rPr lang="zh-CN" altLang="en-US" sz="1800" b="1" dirty="0">
                <a:ea typeface="宋体" panose="02010600030101010101" pitchFamily="2" charset="-122"/>
              </a:rPr>
              <a:t>和</a:t>
            </a:r>
            <a:r>
              <a:rPr lang="en-US" altLang="zh-CN" sz="1800" b="1" dirty="0">
                <a:ea typeface="宋体" panose="02010600030101010101" pitchFamily="2" charset="-122"/>
              </a:rPr>
              <a:t>out[B]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 </a:t>
            </a:r>
            <a:r>
              <a:rPr lang="zh-CN" altLang="en-US" sz="1800" b="1" dirty="0">
                <a:ea typeface="宋体" panose="02010600030101010101" pitchFamily="2" charset="-122"/>
              </a:rPr>
              <a:t>假定对所有基本块</a:t>
            </a:r>
            <a:r>
              <a:rPr lang="en-US" altLang="zh-CN" sz="1800" b="1" dirty="0">
                <a:ea typeface="宋体" panose="02010600030101010101" pitchFamily="2" charset="-122"/>
              </a:rPr>
              <a:t>B，in[B]</a:t>
            </a:r>
            <a:r>
              <a:rPr lang="zh-CN" altLang="en-US" sz="1800" b="1" dirty="0">
                <a:ea typeface="宋体" panose="02010600030101010101" pitchFamily="2" charset="-122"/>
              </a:rPr>
              <a:t>均置为空集，给</a:t>
            </a:r>
            <a:r>
              <a:rPr lang="en-US" altLang="zh-CN" sz="1800" b="1" dirty="0">
                <a:ea typeface="宋体" panose="02010600030101010101" pitchFamily="2" charset="-122"/>
              </a:rPr>
              <a:t>out</a:t>
            </a:r>
            <a:r>
              <a:rPr lang="zh-CN" altLang="en-US" sz="1800" b="1" dirty="0">
                <a:ea typeface="宋体" panose="02010600030101010101" pitchFamily="2" charset="-122"/>
              </a:rPr>
              <a:t>置初值 */</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	</a:t>
            </a:r>
            <a:r>
              <a:rPr lang="en-US" altLang="zh-CN" sz="1800" b="1" dirty="0">
                <a:ea typeface="宋体" panose="02010600030101010101" pitchFamily="2" charset="-122"/>
              </a:rPr>
              <a:t>for </a:t>
            </a:r>
            <a:r>
              <a:rPr lang="zh-CN" altLang="en-US" sz="1800" b="1" dirty="0">
                <a:ea typeface="宋体" panose="02010600030101010101" pitchFamily="2" charset="-122"/>
              </a:rPr>
              <a:t>每个基本块</a:t>
            </a:r>
            <a:r>
              <a:rPr lang="en-US" altLang="zh-CN" sz="1800" b="1" dirty="0">
                <a:ea typeface="宋体" panose="02010600030101010101" pitchFamily="2" charset="-122"/>
              </a:rPr>
              <a:t>B do out[B] := gen[B]</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(2)	</a:t>
            </a:r>
            <a:r>
              <a:rPr lang="en-US" altLang="zh-CN" sz="1800" b="1" i="1" dirty="0">
                <a:ea typeface="宋体" panose="02010600030101010101" pitchFamily="2" charset="-122"/>
              </a:rPr>
              <a:t>change</a:t>
            </a:r>
            <a:r>
              <a:rPr lang="en-US" altLang="zh-CN" sz="1800" b="1" dirty="0">
                <a:ea typeface="宋体" panose="02010600030101010101" pitchFamily="2" charset="-122"/>
              </a:rPr>
              <a:t> := true;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(3)	while </a:t>
            </a:r>
            <a:r>
              <a:rPr lang="en-US" altLang="zh-CN" sz="1800" b="1" i="1" dirty="0">
                <a:ea typeface="宋体" panose="02010600030101010101" pitchFamily="2" charset="-122"/>
              </a:rPr>
              <a:t>change</a:t>
            </a:r>
            <a:r>
              <a:rPr lang="en-US" altLang="zh-CN" sz="1800" b="1" dirty="0">
                <a:ea typeface="宋体" panose="02010600030101010101" pitchFamily="2" charset="-122"/>
              </a:rPr>
              <a:t> do begin</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(4)		</a:t>
            </a:r>
            <a:r>
              <a:rPr lang="en-US" altLang="zh-CN" sz="1800" b="1" i="1" dirty="0">
                <a:ea typeface="宋体" panose="02010600030101010101" pitchFamily="2" charset="-122"/>
              </a:rPr>
              <a:t>change</a:t>
            </a:r>
            <a:r>
              <a:rPr lang="en-US" altLang="zh-CN" sz="1800" b="1" dirty="0">
                <a:ea typeface="宋体" panose="02010600030101010101" pitchFamily="2" charset="-122"/>
              </a:rPr>
              <a:t> := false;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(5)		for </a:t>
            </a:r>
            <a:r>
              <a:rPr lang="zh-CN" altLang="en-US" sz="1800" b="1" dirty="0">
                <a:ea typeface="宋体" panose="02010600030101010101" pitchFamily="2" charset="-122"/>
              </a:rPr>
              <a:t>每个基本块</a:t>
            </a:r>
            <a:r>
              <a:rPr lang="en-US" altLang="zh-CN" sz="1800" b="1" dirty="0">
                <a:ea typeface="宋体" panose="02010600030101010101" pitchFamily="2" charset="-122"/>
              </a:rPr>
              <a:t>B do begin</a:t>
            </a:r>
            <a:endParaRPr lang="en-US" altLang="zh-CN" sz="1800" b="1" dirty="0">
              <a:ea typeface="宋体" panose="02010600030101010101" pitchFamily="2" charset="-122"/>
            </a:endParaRPr>
          </a:p>
          <a:p>
            <a:pPr>
              <a:lnSpc>
                <a:spcPct val="90000"/>
              </a:lnSpc>
              <a:spcBef>
                <a:spcPct val="30000"/>
              </a:spcBef>
              <a:spcAft>
                <a:spcPct val="20000"/>
              </a:spcAft>
              <a:buNone/>
            </a:pPr>
            <a:r>
              <a:rPr lang="en-US" altLang="zh-CN" sz="1800" b="1" dirty="0">
                <a:ea typeface="宋体" panose="02010600030101010101" pitchFamily="2" charset="-122"/>
              </a:rPr>
              <a:t>	(6)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(7)			oldout := out[B]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(8)			out[B] := gen[B]</a:t>
            </a:r>
            <a:r>
              <a:rPr lang="en-US" altLang="zh-CN" sz="1800" b="1" dirty="0">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(in[B] – kill[B])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(9)			if out[B] &lt;&gt; oldout then </a:t>
            </a:r>
            <a:r>
              <a:rPr lang="en-US" altLang="zh-CN" sz="1800" b="1" i="1" dirty="0">
                <a:ea typeface="宋体" panose="02010600030101010101" pitchFamily="2" charset="-122"/>
              </a:rPr>
              <a:t>change</a:t>
            </a:r>
            <a:r>
              <a:rPr lang="en-US" altLang="zh-CN" sz="1800" b="1" dirty="0">
                <a:ea typeface="宋体" panose="02010600030101010101" pitchFamily="2" charset="-122"/>
              </a:rPr>
              <a:t> := ture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end for</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end while</a:t>
            </a:r>
            <a:endParaRPr lang="en-US" altLang="zh-CN" sz="1800" b="1" dirty="0">
              <a:ea typeface="宋体" panose="02010600030101010101" pitchFamily="2" charset="-122"/>
            </a:endParaRPr>
          </a:p>
        </p:txBody>
      </p:sp>
      <p:graphicFrame>
        <p:nvGraphicFramePr>
          <p:cNvPr id="206852" name="Object 5"/>
          <p:cNvGraphicFramePr>
            <a:graphicFrameLocks noChangeAspect="1"/>
          </p:cNvGraphicFramePr>
          <p:nvPr/>
        </p:nvGraphicFramePr>
        <p:xfrm>
          <a:off x="3819525" y="3962400"/>
          <a:ext cx="1885950" cy="528638"/>
        </p:xfrm>
        <a:graphic>
          <a:graphicData uri="http://schemas.openxmlformats.org/presentationml/2006/ole">
            <mc:AlternateContent xmlns:mc="http://schemas.openxmlformats.org/markup-compatibility/2006">
              <mc:Choice xmlns:v="urn:schemas-microsoft-com:vml" Requires="v">
                <p:oleObj spid="_x0000_s3088" name="" r:id="rId1" imgW="1256665" imgH="355600" progId="Equation.3">
                  <p:embed/>
                </p:oleObj>
              </mc:Choice>
              <mc:Fallback>
                <p:oleObj name="" r:id="rId1" imgW="1256665" imgH="355600" progId="Equation.3">
                  <p:embed/>
                  <p:pic>
                    <p:nvPicPr>
                      <p:cNvPr id="0" name="图片 3087"/>
                      <p:cNvPicPr/>
                      <p:nvPr/>
                    </p:nvPicPr>
                    <p:blipFill>
                      <a:blip r:embed="rId2"/>
                      <a:stretch>
                        <a:fillRect/>
                      </a:stretch>
                    </p:blipFill>
                    <p:spPr>
                      <a:xfrm>
                        <a:off x="3819525" y="3962400"/>
                        <a:ext cx="1885950" cy="528638"/>
                      </a:xfrm>
                      <a:prstGeom prst="rect">
                        <a:avLst/>
                      </a:prstGeom>
                      <a:noFill/>
                      <a:ln w="38100">
                        <a:noFill/>
                        <a:miter/>
                      </a:ln>
                    </p:spPr>
                  </p:pic>
                </p:oleObj>
              </mc:Fallback>
            </mc:AlternateContent>
          </a:graphicData>
        </a:graphic>
      </p:graphicFrame>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到达-定值的迭代算法的讨论</a:t>
            </a:r>
            <a:endParaRPr lang="en-US" altLang="zh-CN" dirty="0">
              <a:latin typeface="Times New Roman" panose="02020603050405020304" pitchFamily="18" charset="0"/>
              <a:ea typeface="宋体" panose="02010600030101010101" pitchFamily="2" charset="-122"/>
            </a:endParaRPr>
          </a:p>
        </p:txBody>
      </p:sp>
      <p:sp>
        <p:nvSpPr>
          <p:cNvPr id="208899" name="Rectangle 6"/>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算法的终止：</a:t>
            </a:r>
            <a:endParaRPr lang="zh-CN" altLang="en-US" sz="2400" b="1" dirty="0">
              <a:ea typeface="宋体" panose="02010600030101010101" pitchFamily="2" charset="-122"/>
            </a:endParaRPr>
          </a:p>
          <a:p>
            <a:pPr lvl="1"/>
            <a:r>
              <a:rPr lang="zh-CN" altLang="en-US" sz="2200" b="1" dirty="0">
                <a:ea typeface="宋体" panose="02010600030101010101" pitchFamily="2" charset="-122"/>
              </a:rPr>
              <a:t>上述算法最终是收敛的，所以它是可以终止的</a:t>
            </a:r>
            <a:endParaRPr lang="zh-CN" altLang="en-US" sz="2200" b="1" dirty="0">
              <a:ea typeface="宋体" panose="02010600030101010101" pitchFamily="2" charset="-122"/>
            </a:endParaRPr>
          </a:p>
          <a:p>
            <a:pPr lvl="1"/>
            <a:r>
              <a:rPr lang="en-US" altLang="zh-CN" sz="2200" b="1" dirty="0">
                <a:ea typeface="宋体" panose="02010600030101010101" pitchFamily="2" charset="-122"/>
              </a:rPr>
              <a:t>While</a:t>
            </a:r>
            <a:r>
              <a:rPr lang="zh-CN" altLang="en-US" sz="2200" b="1" dirty="0">
                <a:ea typeface="宋体" panose="02010600030101010101" pitchFamily="2" charset="-122"/>
              </a:rPr>
              <a:t>循环次数的上界是流图中结点数</a:t>
            </a:r>
            <a:endParaRPr lang="zh-CN" altLang="en-US" sz="2200" b="1" dirty="0">
              <a:ea typeface="宋体" panose="02010600030101010101" pitchFamily="2" charset="-122"/>
            </a:endParaRPr>
          </a:p>
          <a:p>
            <a:pPr lvl="2"/>
            <a:r>
              <a:rPr lang="zh-CN" altLang="en-US" sz="2000" b="1" dirty="0">
                <a:ea typeface="宋体" panose="02010600030101010101" pitchFamily="2" charset="-122"/>
              </a:rPr>
              <a:t>经验表明，恰当地选择块的顺序，实际的迭代次数小于5</a:t>
            </a:r>
            <a:endParaRPr lang="zh-CN" altLang="en-US" sz="2000" b="1" dirty="0">
              <a:ea typeface="宋体" panose="02010600030101010101" pitchFamily="2" charset="-122"/>
            </a:endParaRPr>
          </a:p>
          <a:p>
            <a:r>
              <a:rPr lang="zh-CN" altLang="en-US" sz="2400" b="1" dirty="0">
                <a:ea typeface="宋体" panose="02010600030101010101" pitchFamily="2" charset="-122"/>
              </a:rPr>
              <a:t>定值集合的位向量表示：</a:t>
            </a:r>
            <a:endParaRPr lang="zh-CN" altLang="en-US" sz="2400" b="1" dirty="0">
              <a:ea typeface="宋体" panose="02010600030101010101" pitchFamily="2" charset="-122"/>
            </a:endParaRPr>
          </a:p>
          <a:p>
            <a:pPr lvl="1"/>
            <a:r>
              <a:rPr lang="zh-CN" altLang="en-US" sz="2200" b="1" dirty="0">
                <a:ea typeface="宋体" panose="02010600030101010101" pitchFamily="2" charset="-122"/>
              </a:rPr>
              <a:t>从左边开始的第</a:t>
            </a:r>
            <a:r>
              <a:rPr lang="en-US" altLang="zh-CN" sz="2200" b="1" dirty="0">
                <a:ea typeface="宋体" panose="02010600030101010101" pitchFamily="2" charset="-122"/>
              </a:rPr>
              <a:t>i</a:t>
            </a:r>
            <a:r>
              <a:rPr lang="zh-CN" altLang="en-US" sz="2200" b="1" dirty="0">
                <a:ea typeface="宋体" panose="02010600030101010101" pitchFamily="2" charset="-122"/>
              </a:rPr>
              <a:t>位表示第</a:t>
            </a:r>
            <a:r>
              <a:rPr lang="en-US" altLang="zh-CN" sz="2200" b="1" dirty="0">
                <a:ea typeface="宋体" panose="02010600030101010101" pitchFamily="2" charset="-122"/>
              </a:rPr>
              <a:t>i</a:t>
            </a:r>
            <a:r>
              <a:rPr lang="zh-CN" altLang="en-US" sz="2200" b="1" dirty="0">
                <a:ea typeface="宋体" panose="02010600030101010101" pitchFamily="2" charset="-122"/>
              </a:rPr>
              <a:t>个定值</a:t>
            </a:r>
            <a:r>
              <a:rPr lang="en-US" altLang="zh-CN" sz="2200" b="1" dirty="0">
                <a:ea typeface="宋体" panose="02010600030101010101" pitchFamily="2" charset="-122"/>
              </a:rPr>
              <a:t>d</a:t>
            </a:r>
            <a:r>
              <a:rPr lang="en-US" altLang="zh-CN" sz="2200" b="1" baseline="-25000" dirty="0">
                <a:ea typeface="宋体" panose="02010600030101010101" pitchFamily="2" charset="-122"/>
              </a:rPr>
              <a:t>i</a:t>
            </a:r>
            <a:endParaRPr lang="en-US" altLang="zh-CN" sz="2200" b="1" baseline="-25000" dirty="0">
              <a:ea typeface="宋体" panose="02010600030101010101" pitchFamily="2" charset="-122"/>
            </a:endParaRPr>
          </a:p>
          <a:p>
            <a:r>
              <a:rPr lang="zh-CN" altLang="en-US" sz="2400" b="1" dirty="0">
                <a:ea typeface="宋体" panose="02010600030101010101" pitchFamily="2" charset="-122"/>
              </a:rPr>
              <a:t>引用—定值链（</a:t>
            </a:r>
            <a:r>
              <a:rPr lang="en-US" altLang="zh-CN" sz="2400" b="1" dirty="0">
                <a:ea typeface="宋体" panose="02010600030101010101" pitchFamily="2" charset="-122"/>
              </a:rPr>
              <a:t>ud</a:t>
            </a:r>
            <a:r>
              <a:rPr lang="zh-CN" altLang="en-US" sz="2400" b="1" dirty="0">
                <a:ea typeface="宋体" panose="02010600030101010101" pitchFamily="2" charset="-122"/>
              </a:rPr>
              <a:t>链）</a:t>
            </a:r>
            <a:endParaRPr lang="zh-CN" altLang="en-US" sz="2400" b="1" dirty="0">
              <a:ea typeface="宋体" panose="02010600030101010101" pitchFamily="2" charset="-122"/>
            </a:endParaRPr>
          </a:p>
          <a:p>
            <a:pPr lvl="1"/>
            <a:r>
              <a:rPr lang="zh-CN" altLang="en-US" sz="2200" b="1" dirty="0">
                <a:ea typeface="宋体" panose="02010600030101010101" pitchFamily="2" charset="-122"/>
              </a:rPr>
              <a:t>是到达—定值信息的一种存储方式</a:t>
            </a:r>
            <a:endParaRPr lang="zh-CN" altLang="en-US" sz="2200" b="1" dirty="0">
              <a:ea typeface="宋体" panose="02010600030101010101" pitchFamily="2" charset="-122"/>
            </a:endParaRPr>
          </a:p>
          <a:p>
            <a:pPr lvl="1"/>
            <a:r>
              <a:rPr lang="zh-CN" altLang="en-US" sz="2200" b="1" dirty="0">
                <a:ea typeface="宋体" panose="02010600030101010101" pitchFamily="2" charset="-122"/>
              </a:rPr>
              <a:t>记录到达变量的某个引用的所有可能的定值集合</a:t>
            </a:r>
            <a:endParaRPr lang="zh-CN" altLang="en-US" sz="2200" b="1" dirty="0">
              <a:ea typeface="宋体" panose="02010600030101010101" pitchFamily="2" charset="-122"/>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到达-定值的迭代算法的例子</a:t>
            </a:r>
            <a:endParaRPr lang="en-US" altLang="zh-CN" dirty="0">
              <a:latin typeface="Times New Roman" panose="02020603050405020304" pitchFamily="18" charset="0"/>
              <a:ea typeface="宋体" panose="02010600030101010101" pitchFamily="2" charset="-122"/>
            </a:endParaRPr>
          </a:p>
        </p:txBody>
      </p:sp>
      <p:graphicFrame>
        <p:nvGraphicFramePr>
          <p:cNvPr id="210947" name="Object 4"/>
          <p:cNvGraphicFramePr>
            <a:graphicFrameLocks noChangeAspect="1"/>
          </p:cNvGraphicFramePr>
          <p:nvPr/>
        </p:nvGraphicFramePr>
        <p:xfrm>
          <a:off x="1600200" y="1676400"/>
          <a:ext cx="6477000" cy="4392613"/>
        </p:xfrm>
        <a:graphic>
          <a:graphicData uri="http://schemas.openxmlformats.org/presentationml/2006/ole">
            <mc:AlternateContent xmlns:mc="http://schemas.openxmlformats.org/markup-compatibility/2006">
              <mc:Choice xmlns:v="urn:schemas-microsoft-com:vml" Requires="v">
                <p:oleObj spid="_x0000_s3089" name="" r:id="rId1" imgW="7264400" imgH="4927600" progId="Visio.Drawing.4">
                  <p:embed/>
                </p:oleObj>
              </mc:Choice>
              <mc:Fallback>
                <p:oleObj name="" r:id="rId1" imgW="7264400" imgH="4927600" progId="Visio.Drawing.4">
                  <p:embed/>
                  <p:pic>
                    <p:nvPicPr>
                      <p:cNvPr id="0" name="图片 3088"/>
                      <p:cNvPicPr/>
                      <p:nvPr/>
                    </p:nvPicPr>
                    <p:blipFill>
                      <a:blip r:embed="rId2"/>
                      <a:stretch>
                        <a:fillRect/>
                      </a:stretch>
                    </p:blipFill>
                    <p:spPr>
                      <a:xfrm>
                        <a:off x="1600200" y="1676400"/>
                        <a:ext cx="6477000" cy="4392613"/>
                      </a:xfrm>
                      <a:prstGeom prst="rect">
                        <a:avLst/>
                      </a:prstGeom>
                      <a:noFill/>
                      <a:ln w="38100">
                        <a:noFill/>
                        <a:miter/>
                      </a:ln>
                    </p:spPr>
                  </p:pic>
                </p:oleObj>
              </mc:Fallback>
            </mc:AlternateContent>
          </a:graphicData>
        </a:graphic>
      </p:graphicFrame>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到达-定值的迭代算法的例子的解</a:t>
            </a:r>
            <a:endParaRPr lang="en-US" altLang="zh-CN" dirty="0">
              <a:latin typeface="Times New Roman" panose="02020603050405020304" pitchFamily="18" charset="0"/>
              <a:ea typeface="宋体" panose="02010600030101010101" pitchFamily="2" charset="-122"/>
            </a:endParaRPr>
          </a:p>
        </p:txBody>
      </p:sp>
      <p:graphicFrame>
        <p:nvGraphicFramePr>
          <p:cNvPr id="212995" name="Object 4"/>
          <p:cNvGraphicFramePr>
            <a:graphicFrameLocks noChangeAspect="1"/>
          </p:cNvGraphicFramePr>
          <p:nvPr/>
        </p:nvGraphicFramePr>
        <p:xfrm>
          <a:off x="838200" y="1981200"/>
          <a:ext cx="7205663" cy="2747963"/>
        </p:xfrm>
        <a:graphic>
          <a:graphicData uri="http://schemas.openxmlformats.org/presentationml/2006/ole">
            <mc:AlternateContent xmlns:mc="http://schemas.openxmlformats.org/markup-compatibility/2006">
              <mc:Choice xmlns:v="urn:schemas-microsoft-com:vml" Requires="v">
                <p:oleObj spid="_x0000_s3087" name="" r:id="rId1" imgW="7289165" imgH="2237105" progId="Visio.Drawing.4">
                  <p:embed/>
                </p:oleObj>
              </mc:Choice>
              <mc:Fallback>
                <p:oleObj name="" r:id="rId1" imgW="7289165" imgH="2237105" progId="Visio.Drawing.4">
                  <p:embed/>
                  <p:pic>
                    <p:nvPicPr>
                      <p:cNvPr id="0" name="图片 3086"/>
                      <p:cNvPicPr/>
                      <p:nvPr/>
                    </p:nvPicPr>
                    <p:blipFill>
                      <a:blip r:embed="rId2"/>
                      <a:stretch>
                        <a:fillRect/>
                      </a:stretch>
                    </p:blipFill>
                    <p:spPr>
                      <a:xfrm>
                        <a:off x="838200" y="1981200"/>
                        <a:ext cx="7205663" cy="2747963"/>
                      </a:xfrm>
                      <a:prstGeom prst="rect">
                        <a:avLst/>
                      </a:prstGeom>
                      <a:noFill/>
                      <a:ln w="38100">
                        <a:noFill/>
                        <a:miter/>
                      </a:ln>
                    </p:spPr>
                  </p:pic>
                </p:oleObj>
              </mc:Fallback>
            </mc:AlternateContent>
          </a:graphicData>
        </a:graphic>
      </p:graphicFrame>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迭代法的一般形式</a:t>
            </a:r>
            <a:endParaRPr lang="en-US" altLang="zh-CN" dirty="0">
              <a:latin typeface="Times New Roman" panose="02020603050405020304" pitchFamily="18" charset="0"/>
              <a:ea typeface="宋体" panose="02010600030101010101" pitchFamily="2" charset="-122"/>
            </a:endParaRPr>
          </a:p>
        </p:txBody>
      </p:sp>
      <p:sp>
        <p:nvSpPr>
          <p:cNvPr id="215043" name="Rectangle 3"/>
          <p:cNvSpPr>
            <a:spLocks noGrp="1"/>
          </p:cNvSpPr>
          <p:nvPr>
            <p:ph idx="1"/>
          </p:nvPr>
        </p:nvSpPr>
        <p:spPr>
          <a:xfrm>
            <a:off x="990600" y="1447800"/>
            <a:ext cx="7391400" cy="4724400"/>
          </a:xfrm>
        </p:spPr>
        <p:txBody>
          <a:bodyPr vert="horz" wrap="square" lIns="92075" tIns="46038" rIns="92075" bIns="46038" anchor="t" anchorCtr="0"/>
          <a:p>
            <a:pPr>
              <a:spcBef>
                <a:spcPct val="10000"/>
              </a:spcBef>
            </a:pPr>
            <a:r>
              <a:rPr lang="zh-CN" altLang="en-US" sz="2000" b="1" dirty="0">
                <a:ea typeface="宋体" panose="02010600030101010101" pitchFamily="2" charset="-122"/>
              </a:rPr>
              <a:t>利用了流函数的单调特性， 重复计算每个基本块所对应的流值，到达稳定点后，可得该问题的解。</a:t>
            </a:r>
            <a:endParaRPr lang="zh-CN" altLang="en-US" sz="20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Iterator()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initialization();</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change = true;</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while (change)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change = false;</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for all node n </a:t>
            </a:r>
            <a:r>
              <a:rPr lang="en-US" altLang="zh-CN" sz="1600" b="1" dirty="0">
                <a:latin typeface="宋体" panose="02010600030101010101" pitchFamily="2" charset="-122"/>
                <a:ea typeface="宋体" panose="02010600030101010101" pitchFamily="2" charset="-122"/>
              </a:rPr>
              <a:t>∈</a:t>
            </a:r>
            <a:r>
              <a:rPr lang="en-US" altLang="zh-CN" sz="1600" b="1" dirty="0">
                <a:ea typeface="宋体" panose="02010600030101010101" pitchFamily="2" charset="-122"/>
              </a:rPr>
              <a:t> N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I(n) = …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O(n) = .. . …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if any change happened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change = true</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lvl="1">
              <a:spcBef>
                <a:spcPct val="10000"/>
              </a:spcBef>
              <a:buNone/>
            </a:pPr>
            <a:r>
              <a:rPr lang="en-US" altLang="zh-CN" sz="1600" b="1" dirty="0">
                <a:ea typeface="宋体" panose="02010600030101010101" pitchFamily="2" charset="-122"/>
              </a:rPr>
              <a:t>}</a:t>
            </a:r>
            <a:endParaRPr lang="en-US" altLang="zh-CN" sz="1600" b="1" dirty="0">
              <a:ea typeface="宋体" panose="02010600030101010101" pitchFamily="2" charset="-122"/>
            </a:endParaRPr>
          </a:p>
          <a:p>
            <a:pPr>
              <a:spcBef>
                <a:spcPct val="10000"/>
              </a:spcBef>
            </a:pPr>
            <a:r>
              <a:rPr lang="zh-CN" altLang="en-US" sz="2000" b="1" dirty="0">
                <a:ea typeface="宋体" panose="02010600030101010101" pitchFamily="2" charset="-122"/>
              </a:rPr>
              <a:t>迭代法的优点是容易实现，和适用于任何类型的流图</a:t>
            </a:r>
            <a:endParaRPr lang="zh-CN" altLang="en-US" sz="2000" b="1" dirty="0">
              <a:ea typeface="宋体" panose="02010600030101010101" pitchFamily="2" charset="-122"/>
            </a:endParaRPr>
          </a:p>
          <a:p>
            <a:pPr>
              <a:spcBef>
                <a:spcPct val="10000"/>
              </a:spcBef>
            </a:pPr>
            <a:r>
              <a:rPr lang="zh-CN" altLang="en-US" sz="2000" b="1" dirty="0">
                <a:ea typeface="宋体" panose="02010600030101010101" pitchFamily="2" charset="-122"/>
              </a:rPr>
              <a:t>缺点是算法复杂度比较高-- </a:t>
            </a:r>
            <a:r>
              <a:rPr lang="en-US" altLang="zh-CN" sz="2000" b="1" dirty="0">
                <a:ea typeface="宋体" panose="02010600030101010101" pitchFamily="2" charset="-122"/>
              </a:rPr>
              <a:t>O(n</a:t>
            </a:r>
            <a:r>
              <a:rPr lang="en-US" altLang="zh-CN" sz="2000" b="1" baseline="30000" dirty="0">
                <a:ea typeface="宋体" panose="02010600030101010101" pitchFamily="2" charset="-122"/>
              </a:rPr>
              <a:t>2</a:t>
            </a:r>
            <a:r>
              <a:rPr lang="en-US" altLang="zh-CN" sz="2000" b="1" dirty="0">
                <a:ea typeface="宋体" panose="02010600030101010101" pitchFamily="2" charset="-122"/>
              </a:rPr>
              <a:t>)</a:t>
            </a:r>
            <a:endParaRPr lang="en-US" altLang="zh-CN" sz="2000" b="1" dirty="0">
              <a:ea typeface="宋体" panose="02010600030101010101" pitchFamily="2" charset="-122"/>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p:cNvSpPr>
          <p:nvPr>
            <p:ph type="title"/>
          </p:nvPr>
        </p:nvSpPr>
        <p:spPr>
          <a:xfrm>
            <a:off x="900113" y="476250"/>
            <a:ext cx="75438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a:t>
            </a:r>
            <a:endParaRPr lang="en-US" altLang="zh-CN" dirty="0">
              <a:latin typeface="Times New Roman" panose="02020603050405020304" pitchFamily="18" charset="0"/>
              <a:ea typeface="宋体" panose="02010600030101010101" pitchFamily="2" charset="-122"/>
            </a:endParaRPr>
          </a:p>
        </p:txBody>
      </p:sp>
      <p:sp>
        <p:nvSpPr>
          <p:cNvPr id="217091" name="Rectangle 3"/>
          <p:cNvSpPr>
            <a:spLocks noGrp="1"/>
          </p:cNvSpPr>
          <p:nvPr>
            <p:ph idx="1"/>
          </p:nvPr>
        </p:nvSpPr>
        <p:spPr>
          <a:xfrm>
            <a:off x="990600" y="1524000"/>
            <a:ext cx="7391400" cy="4648200"/>
          </a:xfrm>
        </p:spPr>
        <p:txBody>
          <a:bodyPr vert="horz" wrap="square" lIns="92075" tIns="46038" rIns="92075" bIns="46038" anchor="t" anchorCtr="0"/>
          <a:p>
            <a:r>
              <a:rPr lang="zh-CN" altLang="en-US" sz="2400" b="1" dirty="0">
                <a:ea typeface="宋体" panose="02010600030101010101" pitchFamily="2" charset="-122"/>
              </a:rPr>
              <a:t>相关概念</a:t>
            </a:r>
            <a:endParaRPr lang="zh-CN" altLang="en-US" sz="2400" b="1" dirty="0">
              <a:ea typeface="宋体" panose="02010600030101010101" pitchFamily="2" charset="-122"/>
            </a:endParaRPr>
          </a:p>
          <a:p>
            <a:pPr lvl="1"/>
            <a:r>
              <a:rPr lang="zh-CN" altLang="en-US" sz="2200" b="1" dirty="0">
                <a:ea typeface="宋体" panose="02010600030101010101" pitchFamily="2" charset="-122"/>
              </a:rPr>
              <a:t>表达式</a:t>
            </a:r>
            <a:r>
              <a:rPr lang="en-US" altLang="zh-CN" sz="2200" b="1" dirty="0">
                <a:ea typeface="宋体" panose="02010600030101010101" pitchFamily="2" charset="-122"/>
              </a:rPr>
              <a:t>x+y</a:t>
            </a:r>
            <a:r>
              <a:rPr lang="zh-CN" altLang="en-US" sz="2200" b="1" dirty="0">
                <a:ea typeface="宋体" panose="02010600030101010101" pitchFamily="2" charset="-122"/>
              </a:rPr>
              <a:t>在点</a:t>
            </a:r>
            <a:r>
              <a:rPr lang="en-US" altLang="zh-CN" sz="2200" b="1" dirty="0">
                <a:ea typeface="宋体" panose="02010600030101010101" pitchFamily="2" charset="-122"/>
              </a:rPr>
              <a:t>p</a:t>
            </a:r>
            <a:r>
              <a:rPr lang="zh-CN" altLang="en-US" sz="2200" b="1" dirty="0">
                <a:solidFill>
                  <a:schemeClr val="hlink"/>
                </a:solidFill>
                <a:ea typeface="宋体" panose="02010600030101010101" pitchFamily="2" charset="-122"/>
              </a:rPr>
              <a:t>可用</a:t>
            </a:r>
            <a:r>
              <a:rPr lang="zh-CN" altLang="en-US" sz="2200" b="1" dirty="0">
                <a:ea typeface="宋体" panose="02010600030101010101" pitchFamily="2" charset="-122"/>
              </a:rPr>
              <a:t>：如果从初始结点到</a:t>
            </a:r>
            <a:r>
              <a:rPr lang="en-US" altLang="zh-CN" sz="2200" b="1" dirty="0">
                <a:ea typeface="宋体" panose="02010600030101010101" pitchFamily="2" charset="-122"/>
              </a:rPr>
              <a:t>p</a:t>
            </a:r>
            <a:r>
              <a:rPr lang="zh-CN" altLang="en-US" sz="2200" b="1" dirty="0">
                <a:ea typeface="宋体" panose="02010600030101010101" pitchFamily="2" charset="-122"/>
              </a:rPr>
              <a:t>的每条路径上（不必是无环）都计算</a:t>
            </a:r>
            <a:r>
              <a:rPr lang="en-US" altLang="zh-CN" sz="2200" b="1" dirty="0">
                <a:ea typeface="宋体" panose="02010600030101010101" pitchFamily="2" charset="-122"/>
              </a:rPr>
              <a:t>x+y，</a:t>
            </a:r>
            <a:r>
              <a:rPr lang="zh-CN" altLang="en-US" sz="2200" b="1" dirty="0">
                <a:ea typeface="宋体" panose="02010600030101010101" pitchFamily="2" charset="-122"/>
              </a:rPr>
              <a:t>并且在最后一个这样的计算和</a:t>
            </a:r>
            <a:r>
              <a:rPr lang="en-US" altLang="zh-CN" sz="2200" b="1" dirty="0">
                <a:ea typeface="宋体" panose="02010600030101010101" pitchFamily="2" charset="-122"/>
              </a:rPr>
              <a:t>p</a:t>
            </a:r>
            <a:r>
              <a:rPr lang="zh-CN" altLang="en-US" sz="2200" b="1" dirty="0">
                <a:ea typeface="宋体" panose="02010600030101010101" pitchFamily="2" charset="-122"/>
              </a:rPr>
              <a:t>之间没有对</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的赋值</a:t>
            </a:r>
            <a:endParaRPr lang="zh-CN" altLang="en-US" sz="2200" b="1" dirty="0">
              <a:ea typeface="宋体" panose="02010600030101010101" pitchFamily="2" charset="-122"/>
            </a:endParaRPr>
          </a:p>
          <a:p>
            <a:pPr lvl="1"/>
            <a:r>
              <a:rPr lang="zh-CN" altLang="en-US" sz="2200" b="1" dirty="0">
                <a:ea typeface="宋体" panose="02010600030101010101" pitchFamily="2" charset="-122"/>
              </a:rPr>
              <a:t>基本块</a:t>
            </a:r>
            <a:r>
              <a:rPr lang="zh-CN" altLang="en-US" sz="2200" b="1" dirty="0">
                <a:solidFill>
                  <a:schemeClr val="hlink"/>
                </a:solidFill>
                <a:ea typeface="宋体" panose="02010600030101010101" pitchFamily="2" charset="-122"/>
              </a:rPr>
              <a:t>注销</a:t>
            </a:r>
            <a:r>
              <a:rPr lang="zh-CN" altLang="en-US" sz="2200" b="1" dirty="0">
                <a:ea typeface="宋体" panose="02010600030101010101" pitchFamily="2" charset="-122"/>
              </a:rPr>
              <a:t>表达式</a:t>
            </a:r>
            <a:r>
              <a:rPr lang="en-US" altLang="zh-CN" sz="2200" b="1" dirty="0">
                <a:ea typeface="宋体" panose="02010600030101010101" pitchFamily="2" charset="-122"/>
              </a:rPr>
              <a:t>x+y：</a:t>
            </a:r>
            <a:r>
              <a:rPr lang="zh-CN" altLang="en-US" sz="2200" b="1" dirty="0">
                <a:ea typeface="宋体" panose="02010600030101010101" pitchFamily="2" charset="-122"/>
              </a:rPr>
              <a:t>如果它对</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赋值（或可能赋值），并且随后没有重新计算</a:t>
            </a:r>
            <a:r>
              <a:rPr lang="en-US" altLang="zh-CN" sz="2200" b="1" dirty="0">
                <a:ea typeface="宋体" panose="02010600030101010101" pitchFamily="2" charset="-122"/>
              </a:rPr>
              <a:t>x+y</a:t>
            </a:r>
            <a:endParaRPr lang="en-US" altLang="zh-CN" sz="2200" b="1" dirty="0">
              <a:ea typeface="宋体" panose="02010600030101010101" pitchFamily="2" charset="-122"/>
            </a:endParaRPr>
          </a:p>
          <a:p>
            <a:pPr lvl="1"/>
            <a:r>
              <a:rPr lang="zh-CN" altLang="en-US" sz="2200" b="1" dirty="0">
                <a:ea typeface="宋体" panose="02010600030101010101" pitchFamily="2" charset="-122"/>
              </a:rPr>
              <a:t>基本块</a:t>
            </a:r>
            <a:r>
              <a:rPr lang="zh-CN" altLang="en-US" sz="2200" b="1" dirty="0">
                <a:solidFill>
                  <a:schemeClr val="hlink"/>
                </a:solidFill>
                <a:ea typeface="宋体" panose="02010600030101010101" pitchFamily="2" charset="-122"/>
              </a:rPr>
              <a:t>产生</a:t>
            </a:r>
            <a:r>
              <a:rPr lang="zh-CN" altLang="en-US" sz="2200" b="1" dirty="0">
                <a:ea typeface="宋体" panose="02010600030101010101" pitchFamily="2" charset="-122"/>
              </a:rPr>
              <a:t>表达式</a:t>
            </a:r>
            <a:r>
              <a:rPr lang="en-US" altLang="zh-CN" sz="2200" b="1" dirty="0">
                <a:ea typeface="宋体" panose="02010600030101010101" pitchFamily="2" charset="-122"/>
              </a:rPr>
              <a:t>x+y：</a:t>
            </a:r>
            <a:r>
              <a:rPr lang="zh-CN" altLang="en-US" sz="2200" b="1" dirty="0">
                <a:ea typeface="宋体" panose="02010600030101010101" pitchFamily="2" charset="-122"/>
              </a:rPr>
              <a:t>如果它计算</a:t>
            </a:r>
            <a:r>
              <a:rPr lang="en-US" altLang="zh-CN" sz="2200" b="1" dirty="0">
                <a:ea typeface="宋体" panose="02010600030101010101" pitchFamily="2" charset="-122"/>
              </a:rPr>
              <a:t>x+y</a:t>
            </a:r>
            <a:r>
              <a:rPr lang="zh-CN" altLang="en-US" sz="2200" b="1" dirty="0">
                <a:ea typeface="宋体" panose="02010600030101010101" pitchFamily="2" charset="-122"/>
              </a:rPr>
              <a:t>，并且随后没有重新对</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定义</a:t>
            </a:r>
            <a:endParaRPr lang="zh-CN" altLang="en-US" sz="2200" b="1" dirty="0">
              <a:ea typeface="宋体" panose="02010600030101010101" pitchFamily="2" charset="-122"/>
            </a:endParaRPr>
          </a:p>
          <a:p>
            <a:r>
              <a:rPr lang="zh-CN" altLang="en-US" sz="2400" b="1" dirty="0">
                <a:ea typeface="宋体" panose="02010600030101010101" pitchFamily="2" charset="-122"/>
              </a:rPr>
              <a:t>可用表达式的基本应用是寻找公共子表达式</a:t>
            </a:r>
            <a:endParaRPr lang="zh-CN" altLang="en-US" sz="2400" b="1" dirty="0">
              <a:ea typeface="宋体" panose="02010600030101010101" pitchFamily="2" charset="-122"/>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例子</a:t>
            </a:r>
            <a:endParaRPr lang="en-US" altLang="zh-CN" dirty="0">
              <a:latin typeface="Times New Roman" panose="02020603050405020304" pitchFamily="18" charset="0"/>
              <a:ea typeface="宋体" panose="02010600030101010101" pitchFamily="2" charset="-122"/>
            </a:endParaRPr>
          </a:p>
        </p:txBody>
      </p:sp>
      <p:sp>
        <p:nvSpPr>
          <p:cNvPr id="219139"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穿越块的潜在的公共子表达式</a:t>
            </a:r>
            <a:endParaRPr lang="zh-CN" altLang="en-US" sz="24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zh-CN" altLang="en-US" sz="2200" b="1" dirty="0">
              <a:ea typeface="宋体" panose="02010600030101010101" pitchFamily="2" charset="-122"/>
            </a:endParaRPr>
          </a:p>
          <a:p>
            <a:pPr lvl="1">
              <a:lnSpc>
                <a:spcPct val="90000"/>
              </a:lnSpc>
            </a:pPr>
            <a:endParaRPr lang="en-US" altLang="zh-CN" sz="2200" b="1" dirty="0">
              <a:ea typeface="宋体" panose="02010600030101010101" pitchFamily="2" charset="-122"/>
            </a:endParaRPr>
          </a:p>
          <a:p>
            <a:pPr lvl="1">
              <a:lnSpc>
                <a:spcPct val="90000"/>
              </a:lnSpc>
            </a:pPr>
            <a:r>
              <a:rPr lang="en-US" altLang="zh-CN" sz="2200" b="1" dirty="0">
                <a:ea typeface="宋体" panose="02010600030101010101" pitchFamily="2" charset="-122"/>
              </a:rPr>
              <a:t>B3</a:t>
            </a:r>
            <a:r>
              <a:rPr lang="zh-CN" altLang="en-US" sz="2200" b="1" dirty="0">
                <a:ea typeface="宋体" panose="02010600030101010101" pitchFamily="2" charset="-122"/>
              </a:rPr>
              <a:t>的表达式4*</a:t>
            </a:r>
            <a:r>
              <a:rPr lang="en-US" altLang="zh-CN" sz="2200" b="1" dirty="0">
                <a:ea typeface="宋体" panose="02010600030101010101" pitchFamily="2" charset="-122"/>
              </a:rPr>
              <a:t>i</a:t>
            </a:r>
            <a:r>
              <a:rPr lang="zh-CN" altLang="en-US" sz="2200" b="1" dirty="0">
                <a:ea typeface="宋体" panose="02010600030101010101" pitchFamily="2" charset="-122"/>
              </a:rPr>
              <a:t>是公共子表达式，如果4*</a:t>
            </a:r>
            <a:r>
              <a:rPr lang="en-US" altLang="zh-CN" sz="2200" b="1" dirty="0">
                <a:ea typeface="宋体" panose="02010600030101010101" pitchFamily="2" charset="-122"/>
              </a:rPr>
              <a:t>i</a:t>
            </a:r>
            <a:r>
              <a:rPr lang="zh-CN" altLang="en-US" sz="2200" b="1" dirty="0">
                <a:ea typeface="宋体" panose="02010600030101010101" pitchFamily="2" charset="-122"/>
              </a:rPr>
              <a:t>在块</a:t>
            </a:r>
            <a:r>
              <a:rPr lang="en-US" altLang="zh-CN" sz="2200" b="1" dirty="0">
                <a:ea typeface="宋体" panose="02010600030101010101" pitchFamily="2" charset="-122"/>
              </a:rPr>
              <a:t>B3</a:t>
            </a:r>
            <a:r>
              <a:rPr lang="zh-CN" altLang="en-US" sz="2200" b="1" dirty="0">
                <a:ea typeface="宋体" panose="02010600030101010101" pitchFamily="2" charset="-122"/>
              </a:rPr>
              <a:t>的开始点可用</a:t>
            </a:r>
            <a:endParaRPr lang="zh-CN" altLang="en-US" sz="2200" b="1" dirty="0">
              <a:ea typeface="宋体" panose="02010600030101010101" pitchFamily="2" charset="-122"/>
            </a:endParaRPr>
          </a:p>
          <a:p>
            <a:pPr lvl="2">
              <a:lnSpc>
                <a:spcPct val="90000"/>
              </a:lnSpc>
            </a:pPr>
            <a:r>
              <a:rPr lang="en-US" altLang="zh-CN" sz="2000" b="1" dirty="0">
                <a:ea typeface="宋体" panose="02010600030101010101" pitchFamily="2" charset="-122"/>
              </a:rPr>
              <a:t>B2</a:t>
            </a:r>
            <a:r>
              <a:rPr lang="zh-CN" altLang="en-US" sz="2000" b="1" dirty="0">
                <a:ea typeface="宋体" panose="02010600030101010101" pitchFamily="2" charset="-122"/>
              </a:rPr>
              <a:t>中没有对</a:t>
            </a:r>
            <a:r>
              <a:rPr lang="en-US" altLang="zh-CN" sz="2000" b="1" dirty="0">
                <a:ea typeface="宋体" panose="02010600030101010101" pitchFamily="2" charset="-122"/>
              </a:rPr>
              <a:t>i</a:t>
            </a:r>
            <a:r>
              <a:rPr lang="zh-CN" altLang="en-US" sz="2000" b="1" dirty="0">
                <a:ea typeface="宋体" panose="02010600030101010101" pitchFamily="2" charset="-122"/>
              </a:rPr>
              <a:t>赋值</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或如(</a:t>
            </a:r>
            <a:r>
              <a:rPr lang="en-US" altLang="zh-CN" sz="2000" b="1" dirty="0">
                <a:ea typeface="宋体" panose="02010600030101010101" pitchFamily="2" charset="-122"/>
              </a:rPr>
              <a:t>b)</a:t>
            </a:r>
            <a:r>
              <a:rPr lang="zh-CN" altLang="en-US" sz="2000" b="1" dirty="0">
                <a:ea typeface="宋体" panose="02010600030101010101" pitchFamily="2" charset="-122"/>
              </a:rPr>
              <a:t>中所示</a:t>
            </a:r>
            <a:endParaRPr lang="zh-CN" altLang="en-US" sz="2000" b="1" dirty="0">
              <a:ea typeface="宋体" panose="02010600030101010101" pitchFamily="2" charset="-122"/>
            </a:endParaRPr>
          </a:p>
        </p:txBody>
      </p:sp>
      <p:graphicFrame>
        <p:nvGraphicFramePr>
          <p:cNvPr id="219140" name="Object 4"/>
          <p:cNvGraphicFramePr>
            <a:graphicFrameLocks noChangeAspect="1"/>
          </p:cNvGraphicFramePr>
          <p:nvPr/>
        </p:nvGraphicFramePr>
        <p:xfrm>
          <a:off x="1371600" y="1981200"/>
          <a:ext cx="6230938" cy="2882900"/>
        </p:xfrm>
        <a:graphic>
          <a:graphicData uri="http://schemas.openxmlformats.org/presentationml/2006/ole">
            <mc:AlternateContent xmlns:mc="http://schemas.openxmlformats.org/markup-compatibility/2006">
              <mc:Choice xmlns:v="urn:schemas-microsoft-com:vml" Requires="v">
                <p:oleObj spid="_x0000_s3090" name="" r:id="rId1" imgW="6365240" imgH="2946400" progId="Visio.Drawing.4">
                  <p:embed/>
                </p:oleObj>
              </mc:Choice>
              <mc:Fallback>
                <p:oleObj name="" r:id="rId1" imgW="6365240" imgH="2946400" progId="Visio.Drawing.4">
                  <p:embed/>
                  <p:pic>
                    <p:nvPicPr>
                      <p:cNvPr id="0" name="图片 3089"/>
                      <p:cNvPicPr/>
                      <p:nvPr/>
                    </p:nvPicPr>
                    <p:blipFill>
                      <a:blip r:embed="rId2"/>
                      <a:stretch>
                        <a:fillRect/>
                      </a:stretch>
                    </p:blipFill>
                    <p:spPr>
                      <a:xfrm>
                        <a:off x="1371600" y="1981200"/>
                        <a:ext cx="6230938" cy="2882900"/>
                      </a:xfrm>
                      <a:prstGeom prst="rect">
                        <a:avLst/>
                      </a:prstGeom>
                      <a:noFill/>
                      <a:ln w="38100">
                        <a:noFill/>
                        <a:miter/>
                      </a:ln>
                    </p:spPr>
                  </p:pic>
                </p:oleObj>
              </mc:Fallback>
            </mc:AlternateContent>
          </a:graphicData>
        </a:graphic>
      </p:graphicFrame>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可用表达式计算的非形式化描述</a:t>
            </a:r>
            <a:endParaRPr lang="en-US" altLang="zh-CN" dirty="0">
              <a:latin typeface="Times New Roman" panose="02020603050405020304" pitchFamily="18" charset="0"/>
              <a:ea typeface="宋体" panose="02010600030101010101" pitchFamily="2" charset="-122"/>
            </a:endParaRPr>
          </a:p>
        </p:txBody>
      </p:sp>
      <p:sp>
        <p:nvSpPr>
          <p:cNvPr id="221187"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400" b="1" dirty="0">
                <a:ea typeface="宋体" panose="02010600030101010101" pitchFamily="2" charset="-122"/>
              </a:rPr>
              <a:t>在块的开始点，假定可用表达式集合为空</a:t>
            </a:r>
            <a:endParaRPr lang="zh-CN" altLang="en-US" sz="2400" b="1" dirty="0">
              <a:ea typeface="宋体" panose="02010600030101010101" pitchFamily="2" charset="-122"/>
            </a:endParaRPr>
          </a:p>
          <a:p>
            <a:r>
              <a:rPr lang="zh-CN" altLang="en-US" sz="2400" b="1" dirty="0">
                <a:ea typeface="宋体" panose="02010600030101010101" pitchFamily="2" charset="-122"/>
              </a:rPr>
              <a:t>从头到尾扫描块中所有语句，如果在</a:t>
            </a:r>
            <a:r>
              <a:rPr lang="en-US" altLang="zh-CN" sz="2400" b="1" dirty="0">
                <a:ea typeface="宋体" panose="02010600030101010101" pitchFamily="2" charset="-122"/>
              </a:rPr>
              <a:t>p</a:t>
            </a:r>
            <a:r>
              <a:rPr lang="zh-CN" altLang="en-US" sz="2400" b="1" dirty="0">
                <a:ea typeface="宋体" panose="02010600030101010101" pitchFamily="2" charset="-122"/>
              </a:rPr>
              <a:t>点可用表达式集合为</a:t>
            </a:r>
            <a:r>
              <a:rPr lang="en-US" altLang="zh-CN" sz="2400" b="1" dirty="0">
                <a:ea typeface="宋体" panose="02010600030101010101" pitchFamily="2" charset="-122"/>
              </a:rPr>
              <a:t>A，q</a:t>
            </a:r>
            <a:r>
              <a:rPr lang="zh-CN" altLang="en-US" sz="2400" b="1" dirty="0">
                <a:ea typeface="宋体" panose="02010600030101010101" pitchFamily="2" charset="-122"/>
              </a:rPr>
              <a:t>是</a:t>
            </a:r>
            <a:r>
              <a:rPr lang="en-US" altLang="zh-CN" sz="2400" b="1" dirty="0">
                <a:ea typeface="宋体" panose="02010600030101010101" pitchFamily="2" charset="-122"/>
              </a:rPr>
              <a:t>p</a:t>
            </a:r>
            <a:r>
              <a:rPr lang="zh-CN" altLang="en-US" sz="2400" b="1" dirty="0">
                <a:ea typeface="宋体" panose="02010600030101010101" pitchFamily="2" charset="-122"/>
              </a:rPr>
              <a:t>的下一点，</a:t>
            </a:r>
            <a:r>
              <a:rPr lang="en-US" altLang="zh-CN" sz="2400" b="1" dirty="0">
                <a:ea typeface="宋体" panose="02010600030101010101" pitchFamily="2" charset="-122"/>
              </a:rPr>
              <a:t>p</a:t>
            </a:r>
            <a:r>
              <a:rPr lang="zh-CN" altLang="en-US" sz="2400" b="1" dirty="0">
                <a:ea typeface="宋体" panose="02010600030101010101" pitchFamily="2" charset="-122"/>
              </a:rPr>
              <a:t>和</a:t>
            </a:r>
            <a:r>
              <a:rPr lang="en-US" altLang="zh-CN" sz="2400" b="1" dirty="0">
                <a:ea typeface="宋体" panose="02010600030101010101" pitchFamily="2" charset="-122"/>
              </a:rPr>
              <a:t>q</a:t>
            </a:r>
            <a:r>
              <a:rPr lang="zh-CN" altLang="en-US" sz="2400" b="1" dirty="0">
                <a:ea typeface="宋体" panose="02010600030101010101" pitchFamily="2" charset="-122"/>
              </a:rPr>
              <a:t>之间的语句是</a:t>
            </a:r>
            <a:r>
              <a:rPr lang="en-US" altLang="zh-CN" sz="2400" b="1" dirty="0">
                <a:ea typeface="宋体" panose="02010600030101010101" pitchFamily="2" charset="-122"/>
              </a:rPr>
              <a:t>x:=y+z，</a:t>
            </a:r>
            <a:r>
              <a:rPr lang="zh-CN" altLang="en-US" sz="2400" b="1" dirty="0">
                <a:ea typeface="宋体" panose="02010600030101010101" pitchFamily="2" charset="-122"/>
              </a:rPr>
              <a:t>则</a:t>
            </a:r>
            <a:r>
              <a:rPr lang="en-US" altLang="zh-CN" sz="2400" b="1" dirty="0">
                <a:ea typeface="宋体" panose="02010600030101010101" pitchFamily="2" charset="-122"/>
              </a:rPr>
              <a:t>q</a:t>
            </a:r>
            <a:r>
              <a:rPr lang="zh-CN" altLang="en-US" sz="2400" b="1" dirty="0">
                <a:ea typeface="宋体" panose="02010600030101010101" pitchFamily="2" charset="-122"/>
              </a:rPr>
              <a:t>点的可用表达式集合由下列两步计算（必须按下面的次序完成，因为</a:t>
            </a:r>
            <a:r>
              <a:rPr lang="en-US" altLang="zh-CN" sz="2400" b="1" dirty="0">
                <a:ea typeface="宋体" panose="02010600030101010101" pitchFamily="2" charset="-122"/>
              </a:rPr>
              <a:t>x</a:t>
            </a:r>
            <a:r>
              <a:rPr lang="zh-CN" altLang="en-US" sz="2400" b="1" dirty="0">
                <a:ea typeface="宋体" panose="02010600030101010101" pitchFamily="2" charset="-122"/>
              </a:rPr>
              <a:t>可能是</a:t>
            </a:r>
            <a:r>
              <a:rPr lang="en-US" altLang="zh-CN" sz="2400" b="1" dirty="0">
                <a:ea typeface="宋体" panose="02010600030101010101" pitchFamily="2" charset="-122"/>
              </a:rPr>
              <a:t>y</a:t>
            </a:r>
            <a:r>
              <a:rPr lang="zh-CN" altLang="en-US" sz="2400" b="1" dirty="0">
                <a:ea typeface="宋体" panose="02010600030101010101" pitchFamily="2" charset="-122"/>
              </a:rPr>
              <a:t>或</a:t>
            </a:r>
            <a:r>
              <a:rPr lang="en-US" altLang="zh-CN" sz="2400" b="1" dirty="0">
                <a:ea typeface="宋体" panose="02010600030101010101" pitchFamily="2" charset="-122"/>
              </a:rPr>
              <a:t>z）</a:t>
            </a:r>
            <a:endParaRPr lang="en-US" altLang="zh-CN" sz="2400" b="1" dirty="0">
              <a:ea typeface="宋体" panose="02010600030101010101" pitchFamily="2" charset="-122"/>
            </a:endParaRPr>
          </a:p>
          <a:p>
            <a:pPr lvl="1"/>
            <a:r>
              <a:rPr lang="zh-CN" altLang="en-US" sz="2200" b="1" dirty="0">
                <a:ea typeface="宋体" panose="02010600030101010101" pitchFamily="2" charset="-122"/>
              </a:rPr>
              <a:t>把表达式</a:t>
            </a:r>
            <a:r>
              <a:rPr lang="en-US" altLang="zh-CN" sz="2200" b="1" dirty="0">
                <a:ea typeface="宋体" panose="02010600030101010101" pitchFamily="2" charset="-122"/>
              </a:rPr>
              <a:t>y+z</a:t>
            </a:r>
            <a:r>
              <a:rPr lang="zh-CN" altLang="en-US" sz="2200" b="1" dirty="0">
                <a:ea typeface="宋体" panose="02010600030101010101" pitchFamily="2" charset="-122"/>
              </a:rPr>
              <a:t>加入</a:t>
            </a:r>
            <a:r>
              <a:rPr lang="en-US" altLang="zh-CN" sz="2200" b="1" dirty="0">
                <a:ea typeface="宋体" panose="02010600030101010101" pitchFamily="2" charset="-122"/>
              </a:rPr>
              <a:t>A</a:t>
            </a:r>
            <a:r>
              <a:rPr lang="zh-CN" altLang="en-US" sz="2200" b="1" dirty="0">
                <a:ea typeface="宋体" panose="02010600030101010101" pitchFamily="2" charset="-122"/>
              </a:rPr>
              <a:t>中</a:t>
            </a:r>
            <a:endParaRPr lang="zh-CN" altLang="en-US" sz="2200" b="1" dirty="0">
              <a:ea typeface="宋体" panose="02010600030101010101" pitchFamily="2" charset="-122"/>
            </a:endParaRPr>
          </a:p>
          <a:p>
            <a:pPr lvl="1"/>
            <a:r>
              <a:rPr lang="zh-CN" altLang="en-US" sz="2200" b="1" dirty="0">
                <a:ea typeface="宋体" panose="02010600030101010101" pitchFamily="2" charset="-122"/>
              </a:rPr>
              <a:t>删掉</a:t>
            </a:r>
            <a:r>
              <a:rPr lang="en-US" altLang="zh-CN" sz="2200" b="1" dirty="0">
                <a:ea typeface="宋体" panose="02010600030101010101" pitchFamily="2" charset="-122"/>
              </a:rPr>
              <a:t>A</a:t>
            </a:r>
            <a:r>
              <a:rPr lang="zh-CN" altLang="en-US" sz="2200" b="1" dirty="0">
                <a:ea typeface="宋体" panose="02010600030101010101" pitchFamily="2" charset="-122"/>
              </a:rPr>
              <a:t>中任何含</a:t>
            </a:r>
            <a:r>
              <a:rPr lang="en-US" altLang="zh-CN" sz="2200" b="1" dirty="0">
                <a:ea typeface="宋体" panose="02010600030101010101" pitchFamily="2" charset="-122"/>
              </a:rPr>
              <a:t>x</a:t>
            </a:r>
            <a:r>
              <a:rPr lang="zh-CN" altLang="en-US" sz="2200" b="1" dirty="0">
                <a:ea typeface="宋体" panose="02010600030101010101" pitchFamily="2" charset="-122"/>
              </a:rPr>
              <a:t>的表达式</a:t>
            </a:r>
            <a:endParaRPr lang="zh-CN" altLang="en-US" sz="2200" b="1" dirty="0">
              <a:ea typeface="宋体" panose="02010600030101010101" pitchFamily="2" charset="-122"/>
            </a:endParaRPr>
          </a:p>
          <a:p>
            <a:r>
              <a:rPr lang="zh-CN" altLang="en-US" sz="2400" b="1" dirty="0">
                <a:ea typeface="宋体" panose="02010600030101010101" pitchFamily="2" charset="-122"/>
              </a:rPr>
              <a:t>到达块的结束点后，</a:t>
            </a:r>
            <a:r>
              <a:rPr lang="en-US" altLang="zh-CN" sz="2400" b="1" dirty="0">
                <a:ea typeface="宋体" panose="02010600030101010101" pitchFamily="2" charset="-122"/>
              </a:rPr>
              <a:t>A</a:t>
            </a:r>
            <a:r>
              <a:rPr lang="zh-CN" altLang="en-US" sz="2400" b="1" dirty="0">
                <a:ea typeface="宋体" panose="02010600030101010101" pitchFamily="2" charset="-122"/>
              </a:rPr>
              <a:t>是由此块产生的表达式集合</a:t>
            </a:r>
            <a:endParaRPr lang="zh-CN" altLang="en-US" sz="2400" b="1" dirty="0">
              <a:ea typeface="宋体" panose="02010600030101010101" pitchFamily="2" charset="-122"/>
            </a:endParaRPr>
          </a:p>
          <a:p>
            <a:r>
              <a:rPr lang="zh-CN" altLang="en-US" sz="2400" b="1" dirty="0">
                <a:ea typeface="宋体" panose="02010600030101010101" pitchFamily="2" charset="-122"/>
              </a:rPr>
              <a:t>注销表达式的集合是所有的表达式</a:t>
            </a:r>
            <a:r>
              <a:rPr lang="en-US" altLang="zh-CN" sz="2400" b="1" dirty="0">
                <a:ea typeface="宋体" panose="02010600030101010101" pitchFamily="2" charset="-122"/>
              </a:rPr>
              <a:t>y+z，</a:t>
            </a:r>
            <a:r>
              <a:rPr lang="zh-CN" altLang="en-US" sz="2400" b="1" dirty="0">
                <a:ea typeface="宋体" panose="02010600030101010101" pitchFamily="2" charset="-122"/>
              </a:rPr>
              <a:t>其中</a:t>
            </a:r>
            <a:r>
              <a:rPr lang="en-US" altLang="zh-CN" sz="2400" b="1" dirty="0">
                <a:ea typeface="宋体" panose="02010600030101010101" pitchFamily="2" charset="-122"/>
              </a:rPr>
              <a:t>y</a:t>
            </a:r>
            <a:r>
              <a:rPr lang="zh-CN" altLang="en-US" sz="2400" b="1" dirty="0">
                <a:ea typeface="宋体" panose="02010600030101010101" pitchFamily="2" charset="-122"/>
              </a:rPr>
              <a:t>或</a:t>
            </a:r>
            <a:r>
              <a:rPr lang="en-US" altLang="zh-CN" sz="2400" b="1" dirty="0">
                <a:ea typeface="宋体" panose="02010600030101010101" pitchFamily="2" charset="-122"/>
              </a:rPr>
              <a:t>z</a:t>
            </a:r>
            <a:r>
              <a:rPr lang="zh-CN" altLang="en-US" sz="2400" b="1" dirty="0">
                <a:ea typeface="宋体" panose="02010600030101010101" pitchFamily="2" charset="-122"/>
              </a:rPr>
              <a:t>在本块中定值，并且该块中没有产生</a:t>
            </a:r>
            <a:r>
              <a:rPr lang="en-US" altLang="zh-CN" sz="2400" b="1" dirty="0">
                <a:ea typeface="宋体" panose="02010600030101010101" pitchFamily="2" charset="-122"/>
              </a:rPr>
              <a:t>y+z</a:t>
            </a:r>
            <a:endParaRPr lang="en-US" altLang="zh-CN" sz="2400" b="1" dirty="0">
              <a:ea typeface="宋体" panose="02010600030101010101" pitchFamily="2" charset="-122"/>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可用表达式计算的例子</a:t>
            </a:r>
            <a:endParaRPr lang="en-US" altLang="zh-CN" dirty="0">
              <a:latin typeface="Times New Roman" panose="02020603050405020304" pitchFamily="18" charset="0"/>
              <a:ea typeface="宋体" panose="02010600030101010101" pitchFamily="2" charset="-122"/>
            </a:endParaRPr>
          </a:p>
        </p:txBody>
      </p:sp>
      <p:sp>
        <p:nvSpPr>
          <p:cNvPr id="223235" name="Rectangle 3"/>
          <p:cNvSpPr>
            <a:spLocks noGrp="1"/>
          </p:cNvSpPr>
          <p:nvPr>
            <p:ph idx="1"/>
          </p:nvPr>
        </p:nvSpPr>
        <p:spPr>
          <a:xfrm>
            <a:off x="990600" y="1524000"/>
            <a:ext cx="7391400" cy="4800600"/>
          </a:xfrm>
        </p:spPr>
        <p:txBody>
          <a:bodyPr vert="horz" wrap="square" lIns="92075" tIns="46038" rIns="92075" bIns="46038" anchor="t" anchorCtr="0"/>
          <a:p>
            <a:pPr>
              <a:buNone/>
            </a:pPr>
            <a:r>
              <a:rPr lang="zh-CN" altLang="en-US" sz="2000" b="1" dirty="0">
                <a:ea typeface="宋体" panose="02010600030101010101" pitchFamily="2" charset="-122"/>
              </a:rPr>
              <a:t>	语     句		可用表达式</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…………………………无</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a := b + c</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…………………………仅有</a:t>
            </a:r>
            <a:r>
              <a:rPr lang="en-US" altLang="zh-CN" sz="2000" b="1" dirty="0">
                <a:ea typeface="宋体" panose="02010600030101010101" pitchFamily="2" charset="-122"/>
              </a:rPr>
              <a:t>b + c</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b := a - d</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…………………………仅有</a:t>
            </a:r>
            <a:r>
              <a:rPr lang="en-US" altLang="zh-CN" sz="2000" b="1" dirty="0">
                <a:ea typeface="宋体" panose="02010600030101010101" pitchFamily="2" charset="-122"/>
              </a:rPr>
              <a:t>a - d</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c := b + c</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…………………………仅有</a:t>
            </a:r>
            <a:r>
              <a:rPr lang="en-US" altLang="zh-CN" sz="2000" b="1" dirty="0">
                <a:ea typeface="宋体" panose="02010600030101010101" pitchFamily="2" charset="-122"/>
              </a:rPr>
              <a:t>a - d</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d := a - d</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…………………………无</a:t>
            </a:r>
            <a:endParaRPr lang="en-US" altLang="zh-CN" sz="2000" b="1" dirty="0">
              <a:ea typeface="宋体" panose="02010600030101010101" pitchFamily="2" charset="-122"/>
            </a:endParaRPr>
          </a:p>
        </p:txBody>
      </p:sp>
      <p:sp>
        <p:nvSpPr>
          <p:cNvPr id="223236" name="Line 4"/>
          <p:cNvSpPr/>
          <p:nvPr/>
        </p:nvSpPr>
        <p:spPr>
          <a:xfrm>
            <a:off x="1295400" y="1447800"/>
            <a:ext cx="4267200" cy="0"/>
          </a:xfrm>
          <a:prstGeom prst="line">
            <a:avLst/>
          </a:prstGeom>
          <a:ln w="38100" cap="flat" cmpd="sng">
            <a:solidFill>
              <a:schemeClr val="tx1"/>
            </a:solidFill>
            <a:prstDash val="solid"/>
            <a:headEnd type="none" w="sm" len="sm"/>
            <a:tailEnd type="none" w="lg" len="med"/>
          </a:ln>
        </p:spPr>
      </p:sp>
      <p:sp>
        <p:nvSpPr>
          <p:cNvPr id="223237" name="Line 5"/>
          <p:cNvSpPr/>
          <p:nvPr/>
        </p:nvSpPr>
        <p:spPr>
          <a:xfrm>
            <a:off x="1295400" y="5334000"/>
            <a:ext cx="4267200" cy="0"/>
          </a:xfrm>
          <a:prstGeom prst="line">
            <a:avLst/>
          </a:prstGeom>
          <a:ln w="38100" cap="flat" cmpd="sng">
            <a:solidFill>
              <a:schemeClr val="tx1"/>
            </a:solidFill>
            <a:prstDash val="solid"/>
            <a:headEnd type="none" w="sm" len="sm"/>
            <a:tailEnd type="none" w="lg" len="med"/>
          </a:ln>
        </p:spPr>
      </p:sp>
      <p:sp>
        <p:nvSpPr>
          <p:cNvPr id="223238" name="Line 6"/>
          <p:cNvSpPr/>
          <p:nvPr/>
        </p:nvSpPr>
        <p:spPr>
          <a:xfrm>
            <a:off x="1295400" y="1905000"/>
            <a:ext cx="4267200" cy="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可用表达式的数据流方程</a:t>
            </a:r>
            <a:endParaRPr lang="en-US" altLang="zh-CN" dirty="0">
              <a:latin typeface="Times New Roman" panose="02020603050405020304" pitchFamily="18" charset="0"/>
              <a:ea typeface="宋体" panose="02010600030101010101" pitchFamily="2" charset="-122"/>
            </a:endParaRPr>
          </a:p>
        </p:txBody>
      </p:sp>
      <p:sp>
        <p:nvSpPr>
          <p:cNvPr id="225283"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400" b="1" dirty="0">
                <a:ea typeface="宋体" panose="02010600030101010101" pitchFamily="2" charset="-122"/>
              </a:rPr>
              <a:t>相关的集合定义：对于每个基本块</a:t>
            </a:r>
            <a:r>
              <a:rPr lang="en-US" altLang="zh-CN" sz="2400" b="1" dirty="0">
                <a:ea typeface="宋体" panose="02010600030101010101" pitchFamily="2" charset="-122"/>
              </a:rPr>
              <a:t>B，U</a:t>
            </a:r>
            <a:r>
              <a:rPr lang="zh-CN" altLang="en-US" sz="2400" b="1" dirty="0">
                <a:ea typeface="宋体" panose="02010600030101010101" pitchFamily="2" charset="-122"/>
              </a:rPr>
              <a:t>是程序中出现在语句右部的所有表达式集合</a:t>
            </a:r>
            <a:endParaRPr lang="zh-CN" altLang="en-US" sz="2400" b="1" dirty="0">
              <a:ea typeface="宋体" panose="02010600030101010101" pitchFamily="2" charset="-122"/>
            </a:endParaRPr>
          </a:p>
          <a:p>
            <a:pPr lvl="1"/>
            <a:r>
              <a:rPr lang="en-US" altLang="zh-CN" sz="2200" b="1" dirty="0">
                <a:ea typeface="宋体" panose="02010600030101010101" pitchFamily="2" charset="-122"/>
              </a:rPr>
              <a:t>in[B]：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开始点的可用表达式集合</a:t>
            </a:r>
            <a:endParaRPr lang="zh-CN" altLang="en-US" sz="2200" b="1" dirty="0">
              <a:ea typeface="宋体" panose="02010600030101010101" pitchFamily="2" charset="-122"/>
            </a:endParaRPr>
          </a:p>
          <a:p>
            <a:pPr lvl="1"/>
            <a:r>
              <a:rPr lang="en-US" altLang="zh-CN" sz="2200" b="1" dirty="0">
                <a:ea typeface="宋体" panose="02010600030101010101" pitchFamily="2" charset="-122"/>
              </a:rPr>
              <a:t>out[B]：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结束点的可用表达式集合</a:t>
            </a:r>
            <a:endParaRPr lang="zh-CN" altLang="en-US" sz="2200" b="1" dirty="0">
              <a:ea typeface="宋体" panose="02010600030101010101" pitchFamily="2" charset="-122"/>
            </a:endParaRPr>
          </a:p>
          <a:p>
            <a:pPr lvl="1"/>
            <a:r>
              <a:rPr lang="en-US" altLang="zh-CN" sz="2200" b="1" dirty="0">
                <a:ea typeface="宋体" panose="02010600030101010101" pitchFamily="2" charset="-122"/>
              </a:rPr>
              <a:t>e_gen[B]：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生成的可用表达式集合</a:t>
            </a:r>
            <a:endParaRPr lang="zh-CN" altLang="en-US" sz="2200" b="1" dirty="0">
              <a:ea typeface="宋体" panose="02010600030101010101" pitchFamily="2" charset="-122"/>
            </a:endParaRPr>
          </a:p>
          <a:p>
            <a:pPr lvl="1"/>
            <a:r>
              <a:rPr lang="en-US" altLang="zh-CN" sz="2200" b="1" dirty="0">
                <a:ea typeface="宋体" panose="02010600030101010101" pitchFamily="2" charset="-122"/>
              </a:rPr>
              <a:t>e_kill[B]：U</a:t>
            </a:r>
            <a:r>
              <a:rPr lang="zh-CN" altLang="en-US" sz="2200" b="1" dirty="0">
                <a:ea typeface="宋体" panose="02010600030101010101" pitchFamily="2" charset="-122"/>
              </a:rPr>
              <a:t>中被块</a:t>
            </a:r>
            <a:r>
              <a:rPr lang="en-US" altLang="zh-CN" sz="2200" b="1" dirty="0">
                <a:ea typeface="宋体" panose="02010600030101010101" pitchFamily="2" charset="-122"/>
              </a:rPr>
              <a:t>B</a:t>
            </a:r>
            <a:r>
              <a:rPr lang="zh-CN" altLang="en-US" sz="2200" b="1" dirty="0">
                <a:ea typeface="宋体" panose="02010600030101010101" pitchFamily="2" charset="-122"/>
              </a:rPr>
              <a:t>注销的可用表达式集合</a:t>
            </a:r>
            <a:endParaRPr lang="zh-CN" altLang="en-US" sz="2200" b="1" dirty="0">
              <a:ea typeface="宋体" panose="02010600030101010101" pitchFamily="2" charset="-122"/>
            </a:endParaRPr>
          </a:p>
          <a:p>
            <a:r>
              <a:rPr lang="zh-CN" altLang="en-US" sz="2400" b="1" dirty="0">
                <a:ea typeface="宋体" panose="02010600030101010101" pitchFamily="2" charset="-122"/>
              </a:rPr>
              <a:t>数据流方程</a:t>
            </a:r>
            <a:endParaRPr lang="zh-CN" altLang="en-US" sz="2400" b="1" dirty="0">
              <a:ea typeface="宋体" panose="02010600030101010101" pitchFamily="2" charset="-122"/>
            </a:endParaRPr>
          </a:p>
        </p:txBody>
      </p:sp>
      <p:graphicFrame>
        <p:nvGraphicFramePr>
          <p:cNvPr id="225284" name="Object 6"/>
          <p:cNvGraphicFramePr>
            <a:graphicFrameLocks noChangeAspect="1"/>
          </p:cNvGraphicFramePr>
          <p:nvPr/>
        </p:nvGraphicFramePr>
        <p:xfrm>
          <a:off x="1846263" y="4437063"/>
          <a:ext cx="4756150" cy="1512887"/>
        </p:xfrm>
        <a:graphic>
          <a:graphicData uri="http://schemas.openxmlformats.org/presentationml/2006/ole">
            <mc:AlternateContent xmlns:mc="http://schemas.openxmlformats.org/markup-compatibility/2006">
              <mc:Choice xmlns:v="urn:schemas-microsoft-com:vml" Requires="v">
                <p:oleObj spid="_x0000_s3092" name="" r:id="rId1" imgW="2514600" imgH="800100" progId="Equation.3">
                  <p:embed/>
                </p:oleObj>
              </mc:Choice>
              <mc:Fallback>
                <p:oleObj name="" r:id="rId1" imgW="2514600" imgH="800100" progId="Equation.3">
                  <p:embed/>
                  <p:pic>
                    <p:nvPicPr>
                      <p:cNvPr id="0" name="图片 3091"/>
                      <p:cNvPicPr/>
                      <p:nvPr/>
                    </p:nvPicPr>
                    <p:blipFill>
                      <a:blip r:embed="rId2"/>
                      <a:stretch>
                        <a:fillRect/>
                      </a:stretch>
                    </p:blipFill>
                    <p:spPr>
                      <a:xfrm>
                        <a:off x="1846263" y="4437063"/>
                        <a:ext cx="4756150" cy="1512887"/>
                      </a:xfrm>
                      <a:prstGeom prst="rect">
                        <a:avLst/>
                      </a:prstGeom>
                      <a:noFill/>
                      <a:ln w="38100">
                        <a:noFill/>
                        <a:miter/>
                      </a:ln>
                    </p:spPr>
                  </p:pic>
                </p:oleObj>
              </mc:Fallback>
            </mc:AlternateContent>
          </a:graphicData>
        </a:graphic>
      </p:graphicFrame>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可用表达式的数据流方程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与到达—定值数据流方程的比较</a:t>
            </a:r>
            <a:endParaRPr lang="en-US" altLang="zh-CN" dirty="0">
              <a:latin typeface="Times New Roman" panose="02020603050405020304" pitchFamily="18" charset="0"/>
              <a:ea typeface="宋体" panose="02010600030101010101" pitchFamily="2" charset="-122"/>
            </a:endParaRPr>
          </a:p>
        </p:txBody>
      </p:sp>
      <p:sp>
        <p:nvSpPr>
          <p:cNvPr id="227331" name="Rectangle 3"/>
          <p:cNvSpPr>
            <a:spLocks noGrp="1"/>
          </p:cNvSpPr>
          <p:nvPr>
            <p:ph idx="1"/>
          </p:nvPr>
        </p:nvSpPr>
        <p:spPr>
          <a:xfrm>
            <a:off x="990600" y="1524000"/>
            <a:ext cx="7391400" cy="4800600"/>
          </a:xfrm>
        </p:spPr>
        <p:txBody>
          <a:bodyPr vert="horz" wrap="square" lIns="92075" tIns="46038" rIns="92075" bIns="46038" anchor="t" anchorCtr="0"/>
          <a:p>
            <a:r>
              <a:rPr lang="zh-CN" altLang="en-US" sz="2400" b="1" dirty="0">
                <a:ea typeface="宋体" panose="02010600030101010101" pitchFamily="2" charset="-122"/>
              </a:rPr>
              <a:t>初值设置不一样</a:t>
            </a:r>
            <a:endParaRPr lang="zh-CN" altLang="en-US" sz="2400" b="1" dirty="0">
              <a:ea typeface="宋体" panose="02010600030101010101" pitchFamily="2" charset="-122"/>
            </a:endParaRPr>
          </a:p>
          <a:p>
            <a:pPr lvl="1"/>
            <a:r>
              <a:rPr lang="zh-CN" altLang="en-US" sz="2200" b="1" dirty="0">
                <a:ea typeface="宋体" panose="02010600030101010101" pitchFamily="2" charset="-122"/>
              </a:rPr>
              <a:t>到达—定值</a:t>
            </a:r>
            <a:r>
              <a:rPr lang="en-US" altLang="zh-CN" sz="2200" b="1" dirty="0">
                <a:ea typeface="宋体" panose="02010600030101010101" pitchFamily="2" charset="-122"/>
              </a:rPr>
              <a:t>in[B1]</a:t>
            </a:r>
            <a:r>
              <a:rPr lang="zh-CN" altLang="en-US" sz="2200" b="1" dirty="0">
                <a:ea typeface="宋体" panose="02010600030101010101" pitchFamily="2" charset="-122"/>
              </a:rPr>
              <a:t>的初值未特殊定义</a:t>
            </a:r>
            <a:endParaRPr lang="en-US" altLang="zh-CN" sz="2200" b="1" dirty="0">
              <a:ea typeface="宋体" panose="02010600030101010101" pitchFamily="2" charset="-122"/>
            </a:endParaRPr>
          </a:p>
          <a:p>
            <a:pPr lvl="1"/>
            <a:r>
              <a:rPr lang="zh-CN" altLang="en-US" sz="2200" b="1" dirty="0">
                <a:ea typeface="宋体" panose="02010600030101010101" pitchFamily="2" charset="-122"/>
              </a:rPr>
              <a:t>可用表达式的</a:t>
            </a:r>
            <a:r>
              <a:rPr lang="en-US" altLang="zh-CN" sz="2200" b="1" dirty="0">
                <a:ea typeface="宋体" panose="02010600030101010101" pitchFamily="2" charset="-122"/>
              </a:rPr>
              <a:t>in[B1]</a:t>
            </a:r>
            <a:r>
              <a:rPr lang="zh-CN" altLang="en-US" sz="2200" b="1" dirty="0">
                <a:ea typeface="宋体" panose="02010600030101010101" pitchFamily="2" charset="-122"/>
              </a:rPr>
              <a:t>的初值定义</a:t>
            </a:r>
            <a:r>
              <a:rPr lang="en-US" altLang="zh-CN" sz="2200" b="1" dirty="0">
                <a:ea typeface="宋体" panose="02010600030101010101" pitchFamily="2" charset="-122"/>
              </a:rPr>
              <a:t>:</a:t>
            </a:r>
            <a:r>
              <a:rPr lang="zh-CN" altLang="en-US" sz="2200" b="1" dirty="0">
                <a:ea typeface="宋体" panose="02010600030101010101" pitchFamily="2" charset="-122"/>
              </a:rPr>
              <a:t>开始块必须定义为空集</a:t>
            </a:r>
            <a:endParaRPr lang="zh-CN" altLang="en-US" sz="2200" b="1" dirty="0">
              <a:ea typeface="宋体" panose="02010600030101010101" pitchFamily="2" charset="-122"/>
            </a:endParaRPr>
          </a:p>
          <a:p>
            <a:r>
              <a:rPr lang="zh-CN" altLang="en-US" sz="2400" b="1" dirty="0">
                <a:ea typeface="宋体" panose="02010600030101010101" pitchFamily="2" charset="-122"/>
              </a:rPr>
              <a:t>合流算符不一样</a:t>
            </a:r>
            <a:endParaRPr lang="zh-CN" altLang="en-US" sz="2400" b="1" dirty="0">
              <a:ea typeface="宋体" panose="02010600030101010101" pitchFamily="2" charset="-122"/>
            </a:endParaRPr>
          </a:p>
          <a:p>
            <a:pPr lvl="1"/>
            <a:r>
              <a:rPr lang="zh-CN" altLang="en-US" sz="2200" b="1" dirty="0">
                <a:ea typeface="宋体" panose="02010600030101010101" pitchFamily="2" charset="-122"/>
              </a:rPr>
              <a:t>到达—定值的算符为集合并，因为是求</a:t>
            </a:r>
            <a:r>
              <a:rPr lang="en-US" altLang="zh-CN" sz="2200" b="1" dirty="0">
                <a:ea typeface="宋体" panose="02010600030101010101" pitchFamily="2" charset="-122"/>
              </a:rPr>
              <a:t>May</a:t>
            </a:r>
            <a:endParaRPr lang="en-US" altLang="zh-CN" sz="2200" b="1" dirty="0">
              <a:ea typeface="宋体" panose="02010600030101010101" pitchFamily="2" charset="-122"/>
            </a:endParaRPr>
          </a:p>
          <a:p>
            <a:pPr lvl="2"/>
            <a:r>
              <a:rPr lang="zh-CN" altLang="en-US" sz="2000" b="1" dirty="0">
                <a:ea typeface="宋体" panose="02010600030101010101" pitchFamily="2" charset="-122"/>
              </a:rPr>
              <a:t>计算从小集合开始，迭代得到最终的解，集合是扩大的</a:t>
            </a:r>
            <a:endParaRPr lang="zh-CN" altLang="en-US" sz="2000" b="1" dirty="0">
              <a:ea typeface="宋体" panose="02010600030101010101" pitchFamily="2" charset="-122"/>
            </a:endParaRPr>
          </a:p>
          <a:p>
            <a:pPr lvl="1"/>
            <a:r>
              <a:rPr lang="zh-CN" altLang="en-US" sz="2200" b="1" dirty="0">
                <a:ea typeface="宋体" panose="02010600030101010101" pitchFamily="2" charset="-122"/>
              </a:rPr>
              <a:t>可用表达式的算符为集合交，因为是求</a:t>
            </a:r>
            <a:r>
              <a:rPr lang="en-US" altLang="zh-CN" sz="2200" b="1" dirty="0">
                <a:ea typeface="宋体" panose="02010600030101010101" pitchFamily="2" charset="-122"/>
              </a:rPr>
              <a:t>Must</a:t>
            </a:r>
            <a:endParaRPr lang="en-US" altLang="zh-CN" sz="2200" b="1" dirty="0">
              <a:ea typeface="宋体" panose="02010600030101010101" pitchFamily="2" charset="-122"/>
            </a:endParaRPr>
          </a:p>
          <a:p>
            <a:pPr lvl="2"/>
            <a:r>
              <a:rPr lang="zh-CN" altLang="en-US" sz="2000" b="1" dirty="0">
                <a:ea typeface="宋体" panose="02010600030101010101" pitchFamily="2" charset="-122"/>
              </a:rPr>
              <a:t>计算从大集合开始，逐步削减集合中的元素，最终得到解</a:t>
            </a:r>
            <a:endParaRPr lang="zh-CN" altLang="en-US" sz="2000" b="1" dirty="0">
              <a:ea typeface="宋体" panose="02010600030101010101" pitchFamily="2" charset="-122"/>
            </a:endParaRP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可用表达式数据流方程求解的例子</a:t>
            </a:r>
            <a:endParaRPr lang="en-US" altLang="zh-CN" dirty="0">
              <a:latin typeface="Times New Roman" panose="02020603050405020304" pitchFamily="18" charset="0"/>
              <a:ea typeface="宋体" panose="02010600030101010101" pitchFamily="2" charset="-122"/>
            </a:endParaRPr>
          </a:p>
        </p:txBody>
      </p:sp>
      <p:graphicFrame>
        <p:nvGraphicFramePr>
          <p:cNvPr id="229379" name="Object 5"/>
          <p:cNvGraphicFramePr>
            <a:graphicFrameLocks noChangeAspect="1"/>
          </p:cNvGraphicFramePr>
          <p:nvPr/>
        </p:nvGraphicFramePr>
        <p:xfrm>
          <a:off x="1066800" y="1447800"/>
          <a:ext cx="6781800" cy="4643438"/>
        </p:xfrm>
        <a:graphic>
          <a:graphicData uri="http://schemas.openxmlformats.org/presentationml/2006/ole">
            <mc:AlternateContent xmlns:mc="http://schemas.openxmlformats.org/markup-compatibility/2006">
              <mc:Choice xmlns:v="urn:schemas-microsoft-com:vml" Requires="v">
                <p:oleObj spid="_x0000_s3091" name="" r:id="rId1" imgW="4561840" imgH="3124200" progId="Visio.Drawing.4">
                  <p:embed/>
                </p:oleObj>
              </mc:Choice>
              <mc:Fallback>
                <p:oleObj name="" r:id="rId1" imgW="4561840" imgH="3124200" progId="Visio.Drawing.4">
                  <p:embed/>
                  <p:pic>
                    <p:nvPicPr>
                      <p:cNvPr id="0" name="图片 3090"/>
                      <p:cNvPicPr/>
                      <p:nvPr/>
                    </p:nvPicPr>
                    <p:blipFill>
                      <a:blip r:embed="rId2"/>
                      <a:stretch>
                        <a:fillRect/>
                      </a:stretch>
                    </p:blipFill>
                    <p:spPr>
                      <a:xfrm>
                        <a:off x="1066800" y="1447800"/>
                        <a:ext cx="6781800" cy="4643438"/>
                      </a:xfrm>
                      <a:prstGeom prst="rect">
                        <a:avLst/>
                      </a:prstGeom>
                      <a:noFill/>
                      <a:ln w="38100">
                        <a:noFill/>
                        <a:miter/>
                      </a:ln>
                    </p:spPr>
                  </p:pic>
                </p:oleObj>
              </mc:Fallback>
            </mc:AlternateContent>
          </a:graphicData>
        </a:graphic>
      </p:graphicFrame>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可用表达式算法</a:t>
            </a:r>
            <a:endParaRPr lang="en-US" altLang="zh-CN" dirty="0">
              <a:latin typeface="Times New Roman" panose="02020603050405020304" pitchFamily="18" charset="0"/>
              <a:ea typeface="宋体" panose="02010600030101010101" pitchFamily="2" charset="-122"/>
            </a:endParaRPr>
          </a:p>
        </p:txBody>
      </p:sp>
      <p:sp>
        <p:nvSpPr>
          <p:cNvPr id="231427" name="Rectangle 5"/>
          <p:cNvSpPr>
            <a:spLocks noGrp="1"/>
          </p:cNvSpPr>
          <p:nvPr>
            <p:ph idx="1"/>
          </p:nvPr>
        </p:nvSpPr>
        <p:spPr>
          <a:xfrm>
            <a:off x="990600" y="1524000"/>
            <a:ext cx="7391400" cy="4648200"/>
          </a:xfrm>
        </p:spPr>
        <p:txBody>
          <a:bodyPr vert="horz" wrap="square" lIns="92075" tIns="46038" rIns="92075" bIns="46038" anchor="t" anchorCtr="0"/>
          <a:p>
            <a:pPr>
              <a:lnSpc>
                <a:spcPct val="90000"/>
              </a:lnSpc>
              <a:buNone/>
            </a:pPr>
            <a:r>
              <a:rPr lang="zh-CN" altLang="en-US" sz="1800" b="1" dirty="0">
                <a:ea typeface="宋体" panose="02010600030101010101" pitchFamily="2" charset="-122"/>
              </a:rPr>
              <a:t>输入：每个基本块</a:t>
            </a:r>
            <a:r>
              <a:rPr lang="en-US" altLang="zh-CN" sz="1800" b="1" dirty="0">
                <a:ea typeface="宋体" panose="02010600030101010101" pitchFamily="2" charset="-122"/>
              </a:rPr>
              <a:t>B</a:t>
            </a:r>
            <a:r>
              <a:rPr lang="zh-CN" altLang="en-US" sz="1800" b="1" dirty="0">
                <a:ea typeface="宋体" panose="02010600030101010101" pitchFamily="2" charset="-122"/>
              </a:rPr>
              <a:t>的</a:t>
            </a:r>
            <a:r>
              <a:rPr lang="en-US" altLang="zh-CN" sz="1800" b="1" dirty="0">
                <a:ea typeface="宋体" panose="02010600030101010101" pitchFamily="2" charset="-122"/>
              </a:rPr>
              <a:t>e_kill[B]</a:t>
            </a:r>
            <a:r>
              <a:rPr lang="zh-CN" altLang="en-US" sz="1800" b="1" dirty="0">
                <a:ea typeface="宋体" panose="02010600030101010101" pitchFamily="2" charset="-122"/>
              </a:rPr>
              <a:t>和</a:t>
            </a:r>
            <a:r>
              <a:rPr lang="en-US" altLang="zh-CN" sz="1800" b="1" dirty="0">
                <a:ea typeface="宋体" panose="02010600030101010101" pitchFamily="2" charset="-122"/>
              </a:rPr>
              <a:t>e_gen[B]</a:t>
            </a:r>
            <a:r>
              <a:rPr lang="zh-CN" altLang="en-US" sz="1800" b="1" dirty="0">
                <a:ea typeface="宋体" panose="02010600030101010101" pitchFamily="2" charset="-122"/>
              </a:rPr>
              <a:t>已经计算，开始块是</a:t>
            </a:r>
            <a:r>
              <a:rPr lang="en-US" altLang="zh-CN" sz="1800" b="1" dirty="0">
                <a:ea typeface="宋体" panose="02010600030101010101" pitchFamily="2" charset="-122"/>
              </a:rPr>
              <a:t>B1</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输出：每个基本块</a:t>
            </a:r>
            <a:r>
              <a:rPr lang="en-US" altLang="zh-CN" sz="1800" b="1" dirty="0">
                <a:ea typeface="宋体" panose="02010600030101010101" pitchFamily="2" charset="-122"/>
              </a:rPr>
              <a:t>B</a:t>
            </a:r>
            <a:r>
              <a:rPr lang="zh-CN" altLang="en-US" sz="1800" b="1" dirty="0">
                <a:ea typeface="宋体" panose="02010600030101010101" pitchFamily="2" charset="-122"/>
              </a:rPr>
              <a:t>的</a:t>
            </a:r>
            <a:r>
              <a:rPr lang="en-US" altLang="zh-CN" sz="1800" b="1" dirty="0">
                <a:ea typeface="宋体" panose="02010600030101010101" pitchFamily="2" charset="-122"/>
              </a:rPr>
              <a:t>in[B]</a:t>
            </a:r>
            <a:r>
              <a:rPr lang="zh-CN" altLang="en-US" sz="1800" b="1" dirty="0">
                <a:ea typeface="宋体" panose="02010600030101010101" pitchFamily="2" charset="-122"/>
              </a:rPr>
              <a:t>集合</a:t>
            </a:r>
            <a:endParaRPr lang="zh-CN" altLang="en-US" sz="1800" b="1" dirty="0">
              <a:ea typeface="宋体" panose="02010600030101010101" pitchFamily="2" charset="-122"/>
            </a:endParaRPr>
          </a:p>
          <a:p>
            <a:pPr>
              <a:lnSpc>
                <a:spcPct val="90000"/>
              </a:lnSpc>
              <a:buNone/>
            </a:pPr>
            <a:r>
              <a:rPr lang="en-US" altLang="zh-CN" sz="1800" b="1" dirty="0">
                <a:ea typeface="宋体" panose="02010600030101010101" pitchFamily="2" charset="-122"/>
              </a:rPr>
              <a:t>	in[B1] := Φ;</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out[B1] := e_gen[B1];  /* </a:t>
            </a:r>
            <a:r>
              <a:rPr lang="zh-CN" altLang="en-US" sz="1800" b="1" dirty="0">
                <a:ea typeface="宋体" panose="02010600030101010101" pitchFamily="2" charset="-122"/>
              </a:rPr>
              <a:t>对于初始结点</a:t>
            </a:r>
            <a:r>
              <a:rPr lang="en-US" altLang="zh-CN" sz="1800" b="1" dirty="0">
                <a:ea typeface="宋体" panose="02010600030101010101" pitchFamily="2" charset="-122"/>
              </a:rPr>
              <a:t>B1，in</a:t>
            </a:r>
            <a:r>
              <a:rPr lang="zh-CN" altLang="en-US" sz="1800" b="1" dirty="0">
                <a:ea typeface="宋体" panose="02010600030101010101" pitchFamily="2" charset="-122"/>
              </a:rPr>
              <a:t>和</a:t>
            </a:r>
            <a:r>
              <a:rPr lang="en-US" altLang="zh-CN" sz="1800" b="1" dirty="0">
                <a:ea typeface="宋体" panose="02010600030101010101" pitchFamily="2" charset="-122"/>
              </a:rPr>
              <a:t>out</a:t>
            </a:r>
            <a:r>
              <a:rPr lang="zh-CN" altLang="en-US" sz="1800" b="1" dirty="0">
                <a:ea typeface="宋体" panose="02010600030101010101" pitchFamily="2" charset="-122"/>
              </a:rPr>
              <a:t>不改变 */</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for </a:t>
            </a:r>
            <a:r>
              <a:rPr lang="zh-CN" altLang="en-US" sz="1800" b="1" dirty="0">
                <a:ea typeface="宋体" panose="02010600030101010101" pitchFamily="2" charset="-122"/>
              </a:rPr>
              <a:t>每个基本块</a:t>
            </a:r>
            <a:r>
              <a:rPr lang="en-US" altLang="zh-CN" sz="1800" b="1" dirty="0">
                <a:ea typeface="宋体" panose="02010600030101010101" pitchFamily="2" charset="-122"/>
              </a:rPr>
              <a:t>B &lt;&gt; B1  do out[B] := U – e_kill[B]</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i="1" dirty="0">
                <a:ea typeface="宋体" panose="02010600030101010101" pitchFamily="2" charset="-122"/>
              </a:rPr>
              <a:t>change</a:t>
            </a:r>
            <a:r>
              <a:rPr lang="en-US" altLang="zh-CN" sz="1800" b="1" dirty="0">
                <a:ea typeface="宋体" panose="02010600030101010101" pitchFamily="2" charset="-122"/>
              </a:rPr>
              <a:t> := true;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while </a:t>
            </a:r>
            <a:r>
              <a:rPr lang="en-US" altLang="zh-CN" sz="1800" b="1" i="1" dirty="0">
                <a:ea typeface="宋体" panose="02010600030101010101" pitchFamily="2" charset="-122"/>
              </a:rPr>
              <a:t>change</a:t>
            </a:r>
            <a:r>
              <a:rPr lang="en-US" altLang="zh-CN" sz="1800" b="1" dirty="0">
                <a:ea typeface="宋体" panose="02010600030101010101" pitchFamily="2" charset="-122"/>
              </a:rPr>
              <a:t> do begin</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a:t>
            </a:r>
            <a:r>
              <a:rPr lang="en-US" altLang="zh-CN" sz="1800" b="1" i="1" dirty="0">
                <a:ea typeface="宋体" panose="02010600030101010101" pitchFamily="2" charset="-122"/>
              </a:rPr>
              <a:t>change</a:t>
            </a:r>
            <a:r>
              <a:rPr lang="en-US" altLang="zh-CN" sz="1800" b="1" dirty="0">
                <a:ea typeface="宋体" panose="02010600030101010101" pitchFamily="2" charset="-122"/>
              </a:rPr>
              <a:t> := false;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for </a:t>
            </a:r>
            <a:r>
              <a:rPr lang="zh-CN" altLang="en-US" sz="1800" b="1" dirty="0">
                <a:ea typeface="宋体" panose="02010600030101010101" pitchFamily="2" charset="-122"/>
              </a:rPr>
              <a:t>每个基本块</a:t>
            </a:r>
            <a:r>
              <a:rPr lang="en-US" altLang="zh-CN" sz="1800" b="1" dirty="0">
                <a:ea typeface="宋体" panose="02010600030101010101" pitchFamily="2" charset="-122"/>
              </a:rPr>
              <a:t>B &lt;&gt; B1 do begin</a:t>
            </a:r>
            <a:endParaRPr lang="en-US" altLang="zh-CN" sz="1800" b="1" dirty="0">
              <a:ea typeface="宋体" panose="02010600030101010101" pitchFamily="2" charset="-122"/>
            </a:endParaRPr>
          </a:p>
          <a:p>
            <a:pPr>
              <a:lnSpc>
                <a:spcPct val="90000"/>
              </a:lnSpc>
              <a:spcBef>
                <a:spcPct val="30000"/>
              </a:spcBef>
              <a:spcAft>
                <a:spcPct val="20000"/>
              </a:spcAft>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oldout := out[B]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out[B] := e_gen[B]</a:t>
            </a:r>
            <a:r>
              <a:rPr lang="en-US" altLang="zh-CN" sz="1800" b="1" dirty="0">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(in[B] – e_kill[B])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if out[B] &lt;&gt; oldout then </a:t>
            </a:r>
            <a:r>
              <a:rPr lang="en-US" altLang="zh-CN" sz="1800" b="1" i="1" dirty="0">
                <a:ea typeface="宋体" panose="02010600030101010101" pitchFamily="2" charset="-122"/>
              </a:rPr>
              <a:t>change</a:t>
            </a:r>
            <a:r>
              <a:rPr lang="en-US" altLang="zh-CN" sz="1800" b="1" dirty="0">
                <a:ea typeface="宋体" panose="02010600030101010101" pitchFamily="2" charset="-122"/>
              </a:rPr>
              <a:t> := ture</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end for</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end while</a:t>
            </a:r>
            <a:endParaRPr lang="en-US" altLang="zh-CN" sz="1800" b="1" dirty="0">
              <a:ea typeface="宋体" panose="02010600030101010101" pitchFamily="2" charset="-122"/>
            </a:endParaRPr>
          </a:p>
        </p:txBody>
      </p:sp>
      <p:graphicFrame>
        <p:nvGraphicFramePr>
          <p:cNvPr id="231428" name="Object 6"/>
          <p:cNvGraphicFramePr>
            <a:graphicFrameLocks noChangeAspect="1"/>
          </p:cNvGraphicFramePr>
          <p:nvPr/>
        </p:nvGraphicFramePr>
        <p:xfrm>
          <a:off x="2886075" y="4191000"/>
          <a:ext cx="1924050" cy="528638"/>
        </p:xfrm>
        <a:graphic>
          <a:graphicData uri="http://schemas.openxmlformats.org/presentationml/2006/ole">
            <mc:AlternateContent xmlns:mc="http://schemas.openxmlformats.org/markup-compatibility/2006">
              <mc:Choice xmlns:v="urn:schemas-microsoft-com:vml" Requires="v">
                <p:oleObj spid="_x0000_s3094" name="" r:id="rId1" imgW="1282700" imgH="355600" progId="Equation.3">
                  <p:embed/>
                </p:oleObj>
              </mc:Choice>
              <mc:Fallback>
                <p:oleObj name="" r:id="rId1" imgW="1282700" imgH="355600" progId="Equation.3">
                  <p:embed/>
                  <p:pic>
                    <p:nvPicPr>
                      <p:cNvPr id="0" name="图片 3093"/>
                      <p:cNvPicPr/>
                      <p:nvPr/>
                    </p:nvPicPr>
                    <p:blipFill>
                      <a:blip r:embed="rId2"/>
                      <a:stretch>
                        <a:fillRect/>
                      </a:stretch>
                    </p:blipFill>
                    <p:spPr>
                      <a:xfrm>
                        <a:off x="2886075" y="4191000"/>
                        <a:ext cx="1924050" cy="528638"/>
                      </a:xfrm>
                      <a:prstGeom prst="rect">
                        <a:avLst/>
                      </a:prstGeom>
                      <a:noFill/>
                      <a:ln w="38100">
                        <a:noFill/>
                        <a:miter/>
                      </a:ln>
                    </p:spPr>
                  </p:pic>
                </p:oleObj>
              </mc:Fallback>
            </mc:AlternateContent>
          </a:graphicData>
        </a:graphic>
      </p:graphicFrame>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活跃变量分析</a:t>
            </a:r>
            <a:endParaRPr lang="zh-CN" altLang="en-US" dirty="0">
              <a:latin typeface="Times New Roman" panose="02020603050405020304" pitchFamily="18" charset="0"/>
              <a:ea typeface="宋体" panose="02010600030101010101" pitchFamily="2" charset="-122"/>
            </a:endParaRPr>
          </a:p>
        </p:txBody>
      </p:sp>
      <p:sp>
        <p:nvSpPr>
          <p:cNvPr id="233475" name="Rectangle 3"/>
          <p:cNvSpPr>
            <a:spLocks noGrp="1"/>
          </p:cNvSpPr>
          <p:nvPr>
            <p:ph idx="1"/>
          </p:nvPr>
        </p:nvSpPr>
        <p:spPr>
          <a:xfrm>
            <a:off x="990600" y="1524000"/>
            <a:ext cx="73914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活跃变量：反向计算流信息</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如果对于变量</a:t>
            </a:r>
            <a:r>
              <a:rPr lang="en-US" altLang="zh-CN" sz="2200" b="1" dirty="0">
                <a:ea typeface="宋体" panose="02010600030101010101" pitchFamily="2" charset="-122"/>
              </a:rPr>
              <a:t>x</a:t>
            </a:r>
            <a:r>
              <a:rPr lang="zh-CN" altLang="en-US" sz="2200" b="1" dirty="0">
                <a:ea typeface="宋体" panose="02010600030101010101" pitchFamily="2" charset="-122"/>
              </a:rPr>
              <a:t>和点</a:t>
            </a:r>
            <a:r>
              <a:rPr lang="en-US" altLang="zh-CN" sz="2200" b="1" dirty="0">
                <a:ea typeface="宋体" panose="02010600030101010101" pitchFamily="2" charset="-122"/>
              </a:rPr>
              <a:t>p，x</a:t>
            </a:r>
            <a:r>
              <a:rPr lang="zh-CN" altLang="en-US" sz="2200" b="1" dirty="0">
                <a:ea typeface="宋体" panose="02010600030101010101" pitchFamily="2" charset="-122"/>
              </a:rPr>
              <a:t>的值在由</a:t>
            </a:r>
            <a:r>
              <a:rPr lang="en-US" altLang="zh-CN" sz="2200" b="1" dirty="0">
                <a:ea typeface="宋体" panose="02010600030101010101" pitchFamily="2" charset="-122"/>
              </a:rPr>
              <a:t>p</a:t>
            </a:r>
            <a:r>
              <a:rPr lang="zh-CN" altLang="en-US" sz="2200" b="1" dirty="0">
                <a:ea typeface="宋体" panose="02010600030101010101" pitchFamily="2" charset="-122"/>
              </a:rPr>
              <a:t>点开始的路径上是否引用，如果引用，则称</a:t>
            </a:r>
            <a:r>
              <a:rPr lang="en-US" altLang="zh-CN" sz="2200" b="1" dirty="0">
                <a:ea typeface="宋体" panose="02010600030101010101" pitchFamily="2" charset="-122"/>
              </a:rPr>
              <a:t>x</a:t>
            </a:r>
            <a:r>
              <a:rPr lang="zh-CN" altLang="en-US" sz="2200" b="1" dirty="0">
                <a:ea typeface="宋体" panose="02010600030101010101" pitchFamily="2" charset="-122"/>
              </a:rPr>
              <a:t>在</a:t>
            </a:r>
            <a:r>
              <a:rPr lang="en-US" altLang="zh-CN" sz="2200" b="1" dirty="0">
                <a:ea typeface="宋体" panose="02010600030101010101" pitchFamily="2" charset="-122"/>
              </a:rPr>
              <a:t>p</a:t>
            </a:r>
            <a:r>
              <a:rPr lang="zh-CN" altLang="en-US" sz="2200" b="1" dirty="0">
                <a:ea typeface="宋体" panose="02010600030101010101" pitchFamily="2" charset="-122"/>
              </a:rPr>
              <a:t>点</a:t>
            </a:r>
            <a:r>
              <a:rPr lang="zh-CN" altLang="en-US" sz="2200" b="1" dirty="0">
                <a:solidFill>
                  <a:schemeClr val="hlink"/>
                </a:solidFill>
                <a:ea typeface="宋体" panose="02010600030101010101" pitchFamily="2" charset="-122"/>
              </a:rPr>
              <a:t>活跃</a:t>
            </a:r>
            <a:endParaRPr lang="zh-CN" altLang="en-US" sz="2200" b="1" dirty="0">
              <a:solidFill>
                <a:schemeClr val="hlink"/>
              </a:solidFill>
              <a:ea typeface="宋体" panose="02010600030101010101" pitchFamily="2" charset="-122"/>
            </a:endParaRPr>
          </a:p>
          <a:p>
            <a:pPr lvl="1">
              <a:lnSpc>
                <a:spcPct val="90000"/>
              </a:lnSpc>
            </a:pPr>
            <a:r>
              <a:rPr lang="zh-CN" altLang="en-US" sz="2200" b="1" dirty="0">
                <a:ea typeface="宋体" panose="02010600030101010101" pitchFamily="2" charset="-122"/>
              </a:rPr>
              <a:t>否则称</a:t>
            </a:r>
            <a:r>
              <a:rPr lang="en-US" altLang="zh-CN" sz="2200" b="1" dirty="0">
                <a:ea typeface="宋体" panose="02010600030101010101" pitchFamily="2" charset="-122"/>
              </a:rPr>
              <a:t>x</a:t>
            </a:r>
            <a:r>
              <a:rPr lang="zh-CN" altLang="en-US" sz="2200" b="1" dirty="0">
                <a:ea typeface="宋体" panose="02010600030101010101" pitchFamily="2" charset="-122"/>
              </a:rPr>
              <a:t>在</a:t>
            </a:r>
            <a:r>
              <a:rPr lang="en-US" altLang="zh-CN" sz="2200" b="1" dirty="0">
                <a:ea typeface="宋体" panose="02010600030101010101" pitchFamily="2" charset="-122"/>
              </a:rPr>
              <a:t>p</a:t>
            </a:r>
            <a:r>
              <a:rPr lang="zh-CN" altLang="en-US" sz="2200" b="1" dirty="0">
                <a:ea typeface="宋体" panose="02010600030101010101" pitchFamily="2" charset="-122"/>
              </a:rPr>
              <a:t>点</a:t>
            </a:r>
            <a:r>
              <a:rPr lang="zh-CN" altLang="en-US" sz="2200" b="1" dirty="0">
                <a:solidFill>
                  <a:schemeClr val="hlink"/>
                </a:solidFill>
                <a:ea typeface="宋体" panose="02010600030101010101" pitchFamily="2" charset="-122"/>
              </a:rPr>
              <a:t>死亡</a:t>
            </a:r>
            <a:endParaRPr lang="zh-CN" altLang="en-US" sz="2200" b="1" dirty="0">
              <a:solidFill>
                <a:schemeClr val="hlink"/>
              </a:solidFill>
              <a:ea typeface="宋体" panose="02010600030101010101" pitchFamily="2" charset="-122"/>
            </a:endParaRPr>
          </a:p>
          <a:p>
            <a:pPr lvl="1">
              <a:lnSpc>
                <a:spcPct val="90000"/>
              </a:lnSpc>
            </a:pPr>
            <a:r>
              <a:rPr lang="zh-CN" altLang="en-US" sz="2200" b="1" dirty="0">
                <a:ea typeface="宋体" panose="02010600030101010101" pitchFamily="2" charset="-122"/>
              </a:rPr>
              <a:t>如果寄存器中的值在基本块结束死亡，则不用写回内存，这个寄存器也可以优先被分配它用</a:t>
            </a:r>
            <a:endParaRPr lang="zh-CN" altLang="en-US" sz="2200" b="1" dirty="0">
              <a:solidFill>
                <a:schemeClr val="hlink"/>
              </a:solidFill>
              <a:ea typeface="宋体" panose="02010600030101010101" pitchFamily="2" charset="-122"/>
            </a:endParaRPr>
          </a:p>
          <a:p>
            <a:pPr>
              <a:lnSpc>
                <a:spcPct val="90000"/>
              </a:lnSpc>
            </a:pPr>
            <a:r>
              <a:rPr lang="zh-CN" altLang="en-US" sz="2400" b="1" dirty="0">
                <a:ea typeface="宋体" panose="02010600030101010101" pitchFamily="2" charset="-122"/>
              </a:rPr>
              <a:t>几个集合</a:t>
            </a:r>
            <a:endParaRPr lang="zh-CN" altLang="en-US" sz="2400" b="1" dirty="0">
              <a:ea typeface="宋体" panose="02010600030101010101" pitchFamily="2" charset="-122"/>
            </a:endParaRPr>
          </a:p>
          <a:p>
            <a:pPr lvl="1">
              <a:lnSpc>
                <a:spcPct val="90000"/>
              </a:lnSpc>
            </a:pPr>
            <a:r>
              <a:rPr lang="en-US" altLang="zh-CN" sz="2200" b="1" dirty="0">
                <a:ea typeface="宋体" panose="02010600030101010101" pitchFamily="2" charset="-122"/>
              </a:rPr>
              <a:t>in[B]：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开始点的活跃变量集合</a:t>
            </a:r>
            <a:endParaRPr lang="zh-CN" altLang="en-US" sz="2200" b="1" dirty="0">
              <a:ea typeface="宋体" panose="02010600030101010101" pitchFamily="2" charset="-122"/>
            </a:endParaRPr>
          </a:p>
          <a:p>
            <a:pPr lvl="1">
              <a:lnSpc>
                <a:spcPct val="90000"/>
              </a:lnSpc>
            </a:pPr>
            <a:r>
              <a:rPr lang="en-US" altLang="zh-CN" sz="2200" b="1" dirty="0">
                <a:ea typeface="宋体" panose="02010600030101010101" pitchFamily="2" charset="-122"/>
              </a:rPr>
              <a:t>out[B]：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结束点的活跃变量集合</a:t>
            </a:r>
            <a:endParaRPr lang="zh-CN" altLang="en-US" sz="2200" b="1" dirty="0">
              <a:ea typeface="宋体" panose="02010600030101010101" pitchFamily="2" charset="-122"/>
            </a:endParaRPr>
          </a:p>
          <a:p>
            <a:pPr lvl="1">
              <a:lnSpc>
                <a:spcPct val="90000"/>
              </a:lnSpc>
            </a:pPr>
            <a:r>
              <a:rPr lang="en-US" altLang="zh-CN" sz="2200" b="1" dirty="0">
                <a:ea typeface="宋体" panose="02010600030101010101" pitchFamily="2" charset="-122"/>
              </a:rPr>
              <a:t>def[B]：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中无二义定值且在该定值前没有引用的变量集</a:t>
            </a:r>
            <a:endParaRPr lang="zh-CN" altLang="en-US" sz="2200" b="1" dirty="0">
              <a:ea typeface="宋体" panose="02010600030101010101" pitchFamily="2" charset="-122"/>
            </a:endParaRPr>
          </a:p>
          <a:p>
            <a:pPr lvl="1">
              <a:lnSpc>
                <a:spcPct val="90000"/>
              </a:lnSpc>
            </a:pPr>
            <a:r>
              <a:rPr lang="en-US" altLang="zh-CN" sz="2200" b="1" dirty="0">
                <a:ea typeface="宋体" panose="02010600030101010101" pitchFamily="2" charset="-122"/>
              </a:rPr>
              <a:t>use[B]：</a:t>
            </a:r>
            <a:r>
              <a:rPr lang="zh-CN" altLang="en-US" sz="2200" b="1" dirty="0">
                <a:ea typeface="宋体" panose="02010600030101010101" pitchFamily="2" charset="-122"/>
              </a:rPr>
              <a:t>块</a:t>
            </a:r>
            <a:r>
              <a:rPr lang="en-US" altLang="zh-CN" sz="2200" b="1" dirty="0">
                <a:ea typeface="宋体" panose="02010600030101010101" pitchFamily="2" charset="-122"/>
              </a:rPr>
              <a:t>B</a:t>
            </a:r>
            <a:r>
              <a:rPr lang="zh-CN" altLang="en-US" sz="2200" b="1" dirty="0">
                <a:ea typeface="宋体" panose="02010600030101010101" pitchFamily="2" charset="-122"/>
              </a:rPr>
              <a:t>中可能引用且在该引用前没有定值的变量集</a:t>
            </a:r>
            <a:endParaRPr lang="zh-CN" altLang="en-US" sz="2200" b="1" dirty="0">
              <a:ea typeface="宋体" panose="02010600030101010101" pitchFamily="2" charset="-122"/>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活跃变量数据流方程</a:t>
            </a:r>
            <a:endParaRPr lang="zh-CN" altLang="en-US" dirty="0">
              <a:latin typeface="Times New Roman" panose="02020603050405020304" pitchFamily="18" charset="0"/>
              <a:ea typeface="宋体" panose="02010600030101010101" pitchFamily="2" charset="-122"/>
            </a:endParaRPr>
          </a:p>
        </p:txBody>
      </p:sp>
      <p:graphicFrame>
        <p:nvGraphicFramePr>
          <p:cNvPr id="235523" name="Object 5"/>
          <p:cNvGraphicFramePr>
            <a:graphicFrameLocks noChangeAspect="1"/>
          </p:cNvGraphicFramePr>
          <p:nvPr/>
        </p:nvGraphicFramePr>
        <p:xfrm>
          <a:off x="1752600" y="1600200"/>
          <a:ext cx="4876800" cy="1276350"/>
        </p:xfrm>
        <a:graphic>
          <a:graphicData uri="http://schemas.openxmlformats.org/presentationml/2006/ole">
            <mc:AlternateContent xmlns:mc="http://schemas.openxmlformats.org/markup-compatibility/2006">
              <mc:Choice xmlns:v="urn:schemas-microsoft-com:vml" Requires="v">
                <p:oleObj spid="_x0000_s3093" name="" r:id="rId1" imgW="2222500" imgH="584200" progId="Equation.3">
                  <p:embed/>
                </p:oleObj>
              </mc:Choice>
              <mc:Fallback>
                <p:oleObj name="" r:id="rId1" imgW="2222500" imgH="584200" progId="Equation.3">
                  <p:embed/>
                  <p:pic>
                    <p:nvPicPr>
                      <p:cNvPr id="0" name="图片 3092"/>
                      <p:cNvPicPr/>
                      <p:nvPr/>
                    </p:nvPicPr>
                    <p:blipFill>
                      <a:blip r:embed="rId2"/>
                      <a:stretch>
                        <a:fillRect/>
                      </a:stretch>
                    </p:blipFill>
                    <p:spPr>
                      <a:xfrm>
                        <a:off x="1752600" y="1600200"/>
                        <a:ext cx="4876800" cy="1276350"/>
                      </a:xfrm>
                      <a:prstGeom prst="rect">
                        <a:avLst/>
                      </a:prstGeom>
                      <a:noFill/>
                      <a:ln w="38100">
                        <a:noFill/>
                        <a:miter/>
                      </a:ln>
                    </p:spPr>
                  </p:pic>
                </p:oleObj>
              </mc:Fallback>
            </mc:AlternateContent>
          </a:graphicData>
        </a:graphic>
      </p:graphicFrame>
      <p:sp>
        <p:nvSpPr>
          <p:cNvPr id="235524" name="Rectangle 7"/>
          <p:cNvSpPr/>
          <p:nvPr/>
        </p:nvSpPr>
        <p:spPr>
          <a:xfrm>
            <a:off x="1066800" y="3352800"/>
            <a:ext cx="6705600" cy="960438"/>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pPr>
            <a:r>
              <a:rPr lang="zh-CN" altLang="en-US" sz="2400" b="1" dirty="0">
                <a:ea typeface="宋体" panose="02010600030101010101" pitchFamily="2" charset="-122"/>
              </a:rPr>
              <a:t>定值-引用链（</a:t>
            </a:r>
            <a:r>
              <a:rPr lang="en-US" altLang="zh-CN" sz="2400" b="1" dirty="0">
                <a:ea typeface="宋体" panose="02010600030101010101" pitchFamily="2" charset="-122"/>
              </a:rPr>
              <a:t>du</a:t>
            </a:r>
            <a:r>
              <a:rPr lang="zh-CN" altLang="en-US" sz="2400" b="1" dirty="0">
                <a:ea typeface="宋体" panose="02010600030101010101" pitchFamily="2" charset="-122"/>
              </a:rPr>
              <a:t>链）：</a:t>
            </a:r>
            <a:endParaRPr lang="zh-CN" altLang="en-US" sz="2400" b="1" dirty="0">
              <a:ea typeface="宋体" panose="02010600030101010101" pitchFamily="2" charset="-122"/>
            </a:endParaRPr>
          </a:p>
          <a:p>
            <a:pPr marL="457200" lvl="1" indent="0">
              <a:spcBef>
                <a:spcPct val="50000"/>
              </a:spcBef>
            </a:pPr>
            <a:r>
              <a:rPr lang="zh-CN" altLang="en-US" sz="2200" b="1" dirty="0">
                <a:ea typeface="宋体" panose="02010600030101010101" pitchFamily="2" charset="-122"/>
              </a:rPr>
              <a:t>给出变量的某个定值可以到达的引用点的集合</a:t>
            </a:r>
            <a:endParaRPr lang="zh-CN" altLang="en-US" sz="2200" b="1" dirty="0">
              <a:ea typeface="宋体" panose="02010600030101010101" pitchFamily="2" charset="-122"/>
            </a:endParaRPr>
          </a:p>
        </p:txBody>
      </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活跃变量分析的算法</a:t>
            </a:r>
            <a:endParaRPr lang="zh-CN" altLang="en-US" dirty="0">
              <a:latin typeface="Times New Roman" panose="02020603050405020304" pitchFamily="18" charset="0"/>
              <a:ea typeface="宋体" panose="02010600030101010101" pitchFamily="2" charset="-122"/>
            </a:endParaRPr>
          </a:p>
        </p:txBody>
      </p:sp>
      <p:sp>
        <p:nvSpPr>
          <p:cNvPr id="237571" name="Rectangle 5"/>
          <p:cNvSpPr>
            <a:spLocks noGrp="1"/>
          </p:cNvSpPr>
          <p:nvPr>
            <p:ph idx="1"/>
          </p:nvPr>
        </p:nvSpPr>
        <p:spPr>
          <a:xfrm>
            <a:off x="990600" y="1524000"/>
            <a:ext cx="7391400" cy="4648200"/>
          </a:xfrm>
        </p:spPr>
        <p:txBody>
          <a:bodyPr vert="horz" wrap="square" lIns="92075" tIns="46038" rIns="92075" bIns="46038" anchor="t" anchorCtr="0"/>
          <a:p>
            <a:pPr>
              <a:buNone/>
            </a:pPr>
            <a:r>
              <a:rPr lang="zh-CN" altLang="en-US" sz="2000" b="1" dirty="0">
                <a:ea typeface="宋体" panose="02010600030101010101" pitchFamily="2" charset="-122"/>
              </a:rPr>
              <a:t>输入：每个基本块</a:t>
            </a:r>
            <a:r>
              <a:rPr lang="en-US" altLang="zh-CN" sz="2000" b="1" dirty="0">
                <a:ea typeface="宋体" panose="02010600030101010101" pitchFamily="2" charset="-122"/>
              </a:rPr>
              <a:t>B</a:t>
            </a:r>
            <a:r>
              <a:rPr lang="zh-CN" altLang="en-US" sz="2000" b="1" dirty="0">
                <a:ea typeface="宋体" panose="02010600030101010101" pitchFamily="2" charset="-122"/>
              </a:rPr>
              <a:t>的</a:t>
            </a:r>
            <a:r>
              <a:rPr lang="en-US" altLang="zh-CN" sz="2000" b="1" dirty="0">
                <a:ea typeface="宋体" panose="02010600030101010101" pitchFamily="2" charset="-122"/>
              </a:rPr>
              <a:t>def</a:t>
            </a:r>
            <a:r>
              <a:rPr lang="zh-CN" altLang="en-US" sz="2000" b="1" dirty="0">
                <a:ea typeface="宋体" panose="02010600030101010101" pitchFamily="2" charset="-122"/>
              </a:rPr>
              <a:t>和</a:t>
            </a:r>
            <a:r>
              <a:rPr lang="en-US" altLang="zh-CN" sz="2000" b="1" dirty="0">
                <a:ea typeface="宋体" panose="02010600030101010101" pitchFamily="2" charset="-122"/>
              </a:rPr>
              <a:t>use</a:t>
            </a:r>
            <a:r>
              <a:rPr lang="zh-CN" altLang="en-US" sz="2000" b="1" dirty="0">
                <a:ea typeface="宋体" panose="02010600030101010101" pitchFamily="2" charset="-122"/>
              </a:rPr>
              <a:t>已经计算的流图</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输出：</a:t>
            </a:r>
            <a:r>
              <a:rPr lang="en-US" altLang="zh-CN" sz="2000" b="1" dirty="0">
                <a:ea typeface="宋体" panose="02010600030101010101" pitchFamily="2" charset="-122"/>
              </a:rPr>
              <a:t>out[B]，</a:t>
            </a:r>
            <a:r>
              <a:rPr lang="zh-CN" altLang="en-US" sz="2000" b="1" dirty="0">
                <a:ea typeface="宋体" panose="02010600030101010101" pitchFamily="2" charset="-122"/>
              </a:rPr>
              <a:t>即在流图的每个基本块</a:t>
            </a:r>
            <a:r>
              <a:rPr lang="en-US" altLang="zh-CN" sz="2000" b="1" dirty="0">
                <a:ea typeface="宋体" panose="02010600030101010101" pitchFamily="2" charset="-122"/>
              </a:rPr>
              <a:t>B</a:t>
            </a:r>
            <a:r>
              <a:rPr lang="zh-CN" altLang="en-US" sz="2000" b="1" dirty="0">
                <a:ea typeface="宋体" panose="02010600030101010101" pitchFamily="2" charset="-122"/>
              </a:rPr>
              <a:t>出口的活跃变量集合</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for </a:t>
            </a:r>
            <a:r>
              <a:rPr lang="zh-CN" altLang="en-US" sz="2000" b="1" dirty="0">
                <a:ea typeface="宋体" panose="02010600030101010101" pitchFamily="2" charset="-122"/>
              </a:rPr>
              <a:t>每个基本块</a:t>
            </a:r>
            <a:r>
              <a:rPr lang="en-US" altLang="zh-CN" sz="2000" b="1" dirty="0">
                <a:ea typeface="宋体" panose="02010600030101010101" pitchFamily="2" charset="-122"/>
              </a:rPr>
              <a:t>B  do in[B] := Φ；</a:t>
            </a: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while </a:t>
            </a:r>
            <a:r>
              <a:rPr lang="zh-CN" altLang="en-US" sz="2000" b="1" dirty="0">
                <a:ea typeface="宋体" panose="02010600030101010101" pitchFamily="2" charset="-122"/>
              </a:rPr>
              <a:t>任何一个</a:t>
            </a:r>
            <a:r>
              <a:rPr lang="en-US" altLang="zh-CN" sz="2000" b="1" dirty="0">
                <a:ea typeface="宋体" panose="02010600030101010101" pitchFamily="2" charset="-122"/>
              </a:rPr>
              <a:t>in</a:t>
            </a:r>
            <a:r>
              <a:rPr lang="zh-CN" altLang="en-US" sz="2000" b="1" dirty="0">
                <a:ea typeface="宋体" panose="02010600030101010101" pitchFamily="2" charset="-122"/>
              </a:rPr>
              <a:t>有变化  </a:t>
            </a:r>
            <a:r>
              <a:rPr lang="en-US" altLang="zh-CN" sz="2000" b="1" dirty="0">
                <a:ea typeface="宋体" panose="02010600030101010101" pitchFamily="2" charset="-122"/>
              </a:rPr>
              <a:t>do begin</a:t>
            </a: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for </a:t>
            </a:r>
            <a:r>
              <a:rPr lang="zh-CN" altLang="en-US" sz="2000" b="1" dirty="0">
                <a:ea typeface="宋体" panose="02010600030101010101" pitchFamily="2" charset="-122"/>
              </a:rPr>
              <a:t>每个基本块</a:t>
            </a:r>
            <a:r>
              <a:rPr lang="en-US" altLang="zh-CN" sz="2000" b="1" dirty="0">
                <a:ea typeface="宋体" panose="02010600030101010101" pitchFamily="2" charset="-122"/>
              </a:rPr>
              <a:t>B do begin</a:t>
            </a:r>
            <a:endParaRPr lang="en-US" altLang="zh-CN" sz="2000" b="1" dirty="0">
              <a:ea typeface="宋体" panose="02010600030101010101" pitchFamily="2" charset="-122"/>
            </a:endParaRPr>
          </a:p>
          <a:p>
            <a:pPr>
              <a:buNone/>
            </a:pPr>
            <a:endParaRPr lang="en-US" altLang="zh-CN" sz="2000" b="1" dirty="0">
              <a:ea typeface="宋体" panose="02010600030101010101" pitchFamily="2" charset="-122"/>
            </a:endParaRPr>
          </a:p>
          <a:p>
            <a:pPr>
              <a:buNone/>
            </a:pPr>
            <a:endParaRPr lang="en-US" altLang="zh-CN" sz="2000" b="1" dirty="0">
              <a:ea typeface="宋体" panose="02010600030101010101" pitchFamily="2" charset="-122"/>
            </a:endParaRPr>
          </a:p>
          <a:p>
            <a:pPr>
              <a:buNone/>
            </a:pP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end for</a:t>
            </a: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end while</a:t>
            </a:r>
            <a:endParaRPr lang="en-US" altLang="zh-CN" sz="2000" b="1" dirty="0">
              <a:ea typeface="宋体" panose="02010600030101010101" pitchFamily="2" charset="-122"/>
            </a:endParaRPr>
          </a:p>
        </p:txBody>
      </p:sp>
      <p:graphicFrame>
        <p:nvGraphicFramePr>
          <p:cNvPr id="237572" name="Object 7"/>
          <p:cNvGraphicFramePr>
            <a:graphicFrameLocks noChangeAspect="1"/>
          </p:cNvGraphicFramePr>
          <p:nvPr/>
        </p:nvGraphicFramePr>
        <p:xfrm>
          <a:off x="2611438" y="3352800"/>
          <a:ext cx="3690937" cy="977900"/>
        </p:xfrm>
        <a:graphic>
          <a:graphicData uri="http://schemas.openxmlformats.org/presentationml/2006/ole">
            <mc:AlternateContent xmlns:mc="http://schemas.openxmlformats.org/markup-compatibility/2006">
              <mc:Choice xmlns:v="urn:schemas-microsoft-com:vml" Requires="v">
                <p:oleObj spid="_x0000_s3095" name="" r:id="rId1" imgW="2197100" imgH="584200" progId="Equation.3">
                  <p:embed/>
                </p:oleObj>
              </mc:Choice>
              <mc:Fallback>
                <p:oleObj name="" r:id="rId1" imgW="2197100" imgH="584200" progId="Equation.3">
                  <p:embed/>
                  <p:pic>
                    <p:nvPicPr>
                      <p:cNvPr id="0" name="图片 3094"/>
                      <p:cNvPicPr/>
                      <p:nvPr/>
                    </p:nvPicPr>
                    <p:blipFill>
                      <a:blip r:embed="rId2"/>
                      <a:stretch>
                        <a:fillRect/>
                      </a:stretch>
                    </p:blipFill>
                    <p:spPr>
                      <a:xfrm>
                        <a:off x="2611438" y="3352800"/>
                        <a:ext cx="3690937" cy="977900"/>
                      </a:xfrm>
                      <a:prstGeom prst="rect">
                        <a:avLst/>
                      </a:prstGeom>
                      <a:noFill/>
                      <a:ln w="38100">
                        <a:noFill/>
                        <a:miter/>
                      </a:ln>
                    </p:spPr>
                  </p:pic>
                </p:oleObj>
              </mc:Fallback>
            </mc:AlternateContent>
          </a:graphicData>
        </a:graphic>
      </p:graphicFrame>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处理更复杂的数据类型（1）</a:t>
            </a:r>
            <a:endParaRPr lang="zh-CN" altLang="en-US" dirty="0">
              <a:latin typeface="宋体" panose="02010600030101010101" pitchFamily="2" charset="-122"/>
              <a:ea typeface="宋体" panose="02010600030101010101" pitchFamily="2" charset="-122"/>
            </a:endParaRPr>
          </a:p>
        </p:txBody>
      </p:sp>
      <p:sp>
        <p:nvSpPr>
          <p:cNvPr id="239619" name="Rectangle 3"/>
          <p:cNvSpPr>
            <a:spLocks noGrp="1"/>
          </p:cNvSpPr>
          <p:nvPr>
            <p:ph idx="1"/>
          </p:nvPr>
        </p:nvSpPr>
        <p:spPr>
          <a:xfrm>
            <a:off x="990600" y="1524000"/>
            <a:ext cx="7391400" cy="4953000"/>
          </a:xfrm>
        </p:spPr>
        <p:txBody>
          <a:bodyPr vert="horz" wrap="square" lIns="92075" tIns="46038" rIns="92075" bIns="46038" anchor="t" anchorCtr="0"/>
          <a:p>
            <a:r>
              <a:rPr lang="zh-CN" altLang="en-US" sz="2400" b="1" dirty="0">
                <a:ea typeface="宋体" panose="02010600030101010101" pitchFamily="2" charset="-122"/>
              </a:rPr>
              <a:t>数组</a:t>
            </a:r>
            <a:r>
              <a:rPr lang="en-US" altLang="zh-CN" sz="2400" b="1" dirty="0">
                <a:ea typeface="宋体" panose="02010600030101010101" pitchFamily="2" charset="-122"/>
              </a:rPr>
              <a:t>array	</a:t>
            </a:r>
            <a:endParaRPr lang="en-US" altLang="zh-CN" sz="2400" b="1" dirty="0">
              <a:ea typeface="宋体" panose="02010600030101010101" pitchFamily="2" charset="-122"/>
            </a:endParaRPr>
          </a:p>
          <a:p>
            <a:pPr lvl="1"/>
            <a:r>
              <a:rPr lang="zh-CN" altLang="en-US" sz="2200" b="1" dirty="0">
                <a:ea typeface="宋体" panose="02010600030101010101" pitchFamily="2" charset="-122"/>
              </a:rPr>
              <a:t>对某数组的任何元素定值时，都看作是对整个数组的定值, 如</a:t>
            </a:r>
            <a:r>
              <a:rPr lang="en-US" altLang="zh-CN" sz="2200" b="1" dirty="0">
                <a:ea typeface="宋体" panose="02010600030101010101" pitchFamily="2" charset="-122"/>
              </a:rPr>
              <a:t>a[i]</a:t>
            </a:r>
            <a:endParaRPr lang="en-US" altLang="zh-CN" sz="2200" b="1" dirty="0">
              <a:ea typeface="宋体" panose="02010600030101010101" pitchFamily="2" charset="-122"/>
            </a:endParaRPr>
          </a:p>
          <a:p>
            <a:pPr lvl="1"/>
            <a:r>
              <a:rPr lang="zh-CN" altLang="en-US" sz="2200" b="1" dirty="0">
                <a:ea typeface="宋体" panose="02010600030101010101" pitchFamily="2" charset="-122"/>
              </a:rPr>
              <a:t>对某些单个数组元素的定值，如</a:t>
            </a:r>
            <a:r>
              <a:rPr lang="en-US" altLang="zh-CN" sz="2200" b="1" dirty="0">
                <a:ea typeface="宋体" panose="02010600030101010101" pitchFamily="2" charset="-122"/>
              </a:rPr>
              <a:t>a[1], b[3], </a:t>
            </a:r>
            <a:r>
              <a:rPr lang="zh-CN" altLang="en-US" sz="2200" b="1" dirty="0">
                <a:ea typeface="宋体" panose="02010600030101010101" pitchFamily="2" charset="-122"/>
              </a:rPr>
              <a:t>给予特殊的处理</a:t>
            </a:r>
            <a:endParaRPr lang="zh-CN" altLang="en-US" sz="2200" b="1" dirty="0">
              <a:ea typeface="宋体" panose="02010600030101010101" pitchFamily="2" charset="-122"/>
            </a:endParaRPr>
          </a:p>
          <a:p>
            <a:pPr lvl="1"/>
            <a:r>
              <a:rPr lang="zh-CN" altLang="en-US" sz="2200" b="1" dirty="0">
                <a:ea typeface="宋体" panose="02010600030101010101" pitchFamily="2" charset="-122"/>
              </a:rPr>
              <a:t>遇到数组时用依赖(</a:t>
            </a:r>
            <a:r>
              <a:rPr lang="en-US" altLang="zh-CN" sz="2200" b="1" dirty="0">
                <a:ea typeface="宋体" panose="02010600030101010101" pitchFamily="2" charset="-122"/>
              </a:rPr>
              <a:t>dependence)</a:t>
            </a:r>
            <a:r>
              <a:rPr lang="zh-CN" altLang="en-US" sz="2200" b="1" dirty="0">
                <a:ea typeface="宋体" panose="02010600030101010101" pitchFamily="2" charset="-122"/>
              </a:rPr>
              <a:t>分析信息</a:t>
            </a:r>
            <a:endParaRPr lang="zh-CN" altLang="en-US" sz="2200" b="1" dirty="0">
              <a:ea typeface="宋体" panose="02010600030101010101" pitchFamily="2" charset="-122"/>
            </a:endParaRPr>
          </a:p>
          <a:p>
            <a:r>
              <a:rPr lang="zh-CN" altLang="en-US" sz="2400" b="1" dirty="0">
                <a:ea typeface="宋体" panose="02010600030101010101" pitchFamily="2" charset="-122"/>
              </a:rPr>
              <a:t>指针</a:t>
            </a:r>
            <a:r>
              <a:rPr lang="en-US" altLang="zh-CN" sz="2400" b="1" dirty="0">
                <a:ea typeface="宋体" panose="02010600030101010101" pitchFamily="2" charset="-122"/>
              </a:rPr>
              <a:t>pointer</a:t>
            </a:r>
            <a:endParaRPr lang="en-US" altLang="zh-CN" sz="2400" b="1" dirty="0">
              <a:ea typeface="宋体" panose="02010600030101010101" pitchFamily="2" charset="-122"/>
            </a:endParaRPr>
          </a:p>
          <a:p>
            <a:pPr lvl="1"/>
            <a:r>
              <a:rPr lang="zh-CN" altLang="en-US" sz="2200" b="1" dirty="0">
                <a:ea typeface="宋体" panose="02010600030101010101" pitchFamily="2" charset="-122"/>
              </a:rPr>
              <a:t>认为通过指针的定值可以影响任何变量</a:t>
            </a:r>
            <a:endParaRPr lang="zh-CN" altLang="en-US" sz="2200" b="1" dirty="0">
              <a:ea typeface="宋体" panose="02010600030101010101" pitchFamily="2" charset="-122"/>
            </a:endParaRPr>
          </a:p>
          <a:p>
            <a:pPr lvl="1"/>
            <a:r>
              <a:rPr lang="zh-CN" altLang="en-US" sz="2200" b="1" dirty="0">
                <a:ea typeface="宋体" panose="02010600030101010101" pitchFamily="2" charset="-122"/>
              </a:rPr>
              <a:t>利用语言的特性加以限制，如某种类型的</a:t>
            </a:r>
            <a:r>
              <a:rPr lang="en-US" altLang="zh-CN" sz="2200" b="1" dirty="0">
                <a:ea typeface="宋体" panose="02010600030101010101" pitchFamily="2" charset="-122"/>
              </a:rPr>
              <a:t>pointer</a:t>
            </a:r>
            <a:r>
              <a:rPr lang="zh-CN" altLang="en-US" sz="2200" b="1" dirty="0">
                <a:ea typeface="宋体" panose="02010600030101010101" pitchFamily="2" charset="-122"/>
              </a:rPr>
              <a:t>只能指向某种类型的</a:t>
            </a:r>
            <a:r>
              <a:rPr lang="en-US" altLang="zh-CN" sz="2200" b="1" dirty="0">
                <a:ea typeface="宋体" panose="02010600030101010101" pitchFamily="2" charset="-122"/>
              </a:rPr>
              <a:t>object</a:t>
            </a:r>
            <a:endParaRPr lang="en-US" altLang="zh-CN" sz="2200" b="1" dirty="0">
              <a:ea typeface="宋体" panose="02010600030101010101" pitchFamily="2" charset="-122"/>
            </a:endParaRPr>
          </a:p>
          <a:p>
            <a:pPr lvl="1"/>
            <a:r>
              <a:rPr lang="zh-CN" altLang="en-US" sz="2200" b="1" dirty="0">
                <a:ea typeface="宋体" panose="02010600030101010101" pitchFamily="2" charset="-122"/>
              </a:rPr>
              <a:t>利用</a:t>
            </a:r>
            <a:r>
              <a:rPr lang="en-US" altLang="zh-CN" sz="2200" b="1" dirty="0">
                <a:ea typeface="宋体" panose="02010600030101010101" pitchFamily="2" charset="-122"/>
              </a:rPr>
              <a:t>pointer/alias</a:t>
            </a:r>
            <a:r>
              <a:rPr lang="zh-CN" altLang="en-US" sz="2200" b="1" dirty="0">
                <a:ea typeface="宋体" panose="02010600030101010101" pitchFamily="2" charset="-122"/>
              </a:rPr>
              <a:t>分析的结果</a:t>
            </a:r>
            <a:endParaRPr lang="zh-CN" altLang="en-US" sz="2200" b="1" dirty="0">
              <a:ea typeface="宋体" panose="02010600030101010101" pitchFamily="2" charset="-122"/>
            </a:endParaRPr>
          </a:p>
        </p:txBody>
      </p:sp>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处理更复杂的数据类型（2）</a:t>
            </a:r>
            <a:endParaRPr lang="zh-CN" altLang="en-US" dirty="0">
              <a:latin typeface="宋体" panose="02010600030101010101" pitchFamily="2" charset="-122"/>
              <a:ea typeface="宋体" panose="02010600030101010101" pitchFamily="2" charset="-122"/>
            </a:endParaRPr>
          </a:p>
        </p:txBody>
      </p:sp>
      <p:sp>
        <p:nvSpPr>
          <p:cNvPr id="24166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结构</a:t>
            </a:r>
            <a:r>
              <a:rPr lang="en-US" altLang="zh-CN" sz="2400" b="1" dirty="0">
                <a:ea typeface="宋体" panose="02010600030101010101" pitchFamily="2" charset="-122"/>
              </a:rPr>
              <a:t>struct/record</a:t>
            </a:r>
            <a:endParaRPr lang="en-US" altLang="zh-CN" sz="2400" b="1" dirty="0">
              <a:ea typeface="宋体" panose="02010600030101010101" pitchFamily="2" charset="-122"/>
            </a:endParaRPr>
          </a:p>
          <a:p>
            <a:pPr lvl="1"/>
            <a:r>
              <a:rPr lang="zh-CN" altLang="en-US" sz="2200" b="1" dirty="0">
                <a:ea typeface="宋体" panose="02010600030101010101" pitchFamily="2" charset="-122"/>
              </a:rPr>
              <a:t>将</a:t>
            </a:r>
            <a:r>
              <a:rPr lang="en-US" altLang="zh-CN" sz="2200" b="1" dirty="0">
                <a:ea typeface="宋体" panose="02010600030101010101" pitchFamily="2" charset="-122"/>
              </a:rPr>
              <a:t>struct/record</a:t>
            </a:r>
            <a:r>
              <a:rPr lang="zh-CN" altLang="en-US" sz="2200" b="1" dirty="0">
                <a:ea typeface="宋体" panose="02010600030101010101" pitchFamily="2" charset="-122"/>
              </a:rPr>
              <a:t>看做整体 </a:t>
            </a:r>
            <a:endParaRPr lang="zh-CN" altLang="en-US" sz="2200" b="1" dirty="0">
              <a:ea typeface="宋体" panose="02010600030101010101" pitchFamily="2" charset="-122"/>
            </a:endParaRPr>
          </a:p>
          <a:p>
            <a:pPr lvl="1"/>
            <a:r>
              <a:rPr lang="zh-CN" altLang="en-US" sz="2200" b="1" dirty="0">
                <a:ea typeface="宋体" panose="02010600030101010101" pitchFamily="2" charset="-122"/>
              </a:rPr>
              <a:t>单独处理其中的每个</a:t>
            </a:r>
            <a:r>
              <a:rPr lang="en-US" altLang="zh-CN" sz="2200" b="1" dirty="0">
                <a:ea typeface="宋体" panose="02010600030101010101" pitchFamily="2" charset="-122"/>
              </a:rPr>
              <a:t>member</a:t>
            </a:r>
            <a:endParaRPr lang="en-US" altLang="zh-CN" sz="2200" b="1" dirty="0">
              <a:ea typeface="宋体" panose="02010600030101010101" pitchFamily="2" charset="-122"/>
            </a:endParaRPr>
          </a:p>
          <a:p>
            <a:r>
              <a:rPr lang="en-US" altLang="zh-CN" sz="2400" b="1" dirty="0">
                <a:ea typeface="宋体" panose="02010600030101010101" pitchFamily="2" charset="-122"/>
              </a:rPr>
              <a:t>Must</a:t>
            </a:r>
            <a:r>
              <a:rPr lang="zh-CN" altLang="en-US" sz="2400" b="1" dirty="0">
                <a:ea typeface="宋体" panose="02010600030101010101" pitchFamily="2" charset="-122"/>
              </a:rPr>
              <a:t>定值和</a:t>
            </a:r>
            <a:r>
              <a:rPr lang="en-US" altLang="zh-CN" sz="2400" b="1" dirty="0">
                <a:ea typeface="宋体" panose="02010600030101010101" pitchFamily="2" charset="-122"/>
              </a:rPr>
              <a:t>may</a:t>
            </a:r>
            <a:r>
              <a:rPr lang="zh-CN" altLang="en-US" sz="2400" b="1" dirty="0">
                <a:ea typeface="宋体" panose="02010600030101010101" pitchFamily="2" charset="-122"/>
              </a:rPr>
              <a:t>定值</a:t>
            </a:r>
            <a:endParaRPr lang="zh-CN" altLang="en-US" sz="2400" b="1" dirty="0">
              <a:ea typeface="宋体" panose="02010600030101010101" pitchFamily="2" charset="-122"/>
            </a:endParaRPr>
          </a:p>
          <a:p>
            <a:pPr lvl="1"/>
            <a:r>
              <a:rPr lang="en-US" altLang="zh-CN" sz="2200" b="1" dirty="0">
                <a:ea typeface="宋体" panose="02010600030101010101" pitchFamily="2" charset="-122"/>
              </a:rPr>
              <a:t>Must</a:t>
            </a:r>
            <a:r>
              <a:rPr lang="zh-CN" altLang="en-US" sz="2200" b="1" dirty="0">
                <a:ea typeface="宋体" panose="02010600030101010101" pitchFamily="2" charset="-122"/>
              </a:rPr>
              <a:t>定值：</a:t>
            </a:r>
            <a:r>
              <a:rPr lang="en-US" altLang="zh-CN" sz="2200" b="1" dirty="0">
                <a:ea typeface="宋体" panose="02010600030101010101" pitchFamily="2" charset="-122"/>
              </a:rPr>
              <a:t>a = …, b[3] = …, s.a = …</a:t>
            </a:r>
            <a:endParaRPr lang="en-US" altLang="zh-CN" sz="2200" b="1" dirty="0">
              <a:ea typeface="宋体" panose="02010600030101010101" pitchFamily="2" charset="-122"/>
            </a:endParaRPr>
          </a:p>
          <a:p>
            <a:pPr lvl="1"/>
            <a:r>
              <a:rPr lang="en-US" altLang="zh-CN" sz="2200" b="1" dirty="0">
                <a:ea typeface="宋体" panose="02010600030101010101" pitchFamily="2" charset="-122"/>
              </a:rPr>
              <a:t>May</a:t>
            </a:r>
            <a:r>
              <a:rPr lang="zh-CN" altLang="en-US" sz="2200" b="1" dirty="0">
                <a:ea typeface="宋体" panose="02010600030101010101" pitchFamily="2" charset="-122"/>
              </a:rPr>
              <a:t>定值：</a:t>
            </a:r>
            <a:r>
              <a:rPr lang="en-US" altLang="zh-CN" sz="2200" b="1" dirty="0">
                <a:ea typeface="宋体" panose="02010600030101010101" pitchFamily="2" charset="-122"/>
              </a:rPr>
              <a:t>a[i] = …, *p = …,</a:t>
            </a:r>
            <a:endParaRPr lang="en-US" altLang="zh-CN" sz="2200" b="1" dirty="0">
              <a:ea typeface="宋体" panose="02010600030101010101" pitchFamily="2" charset="-122"/>
            </a:endParaRPr>
          </a:p>
          <a:p>
            <a:pPr lvl="1"/>
            <a:r>
              <a:rPr lang="en-US" altLang="zh-CN" sz="2200" b="1" dirty="0">
                <a:ea typeface="宋体" panose="02010600030101010101" pitchFamily="2" charset="-122"/>
              </a:rPr>
              <a:t>must</a:t>
            </a:r>
            <a:r>
              <a:rPr lang="zh-CN" altLang="en-US" sz="2200" b="1" dirty="0">
                <a:ea typeface="宋体" panose="02010600030101010101" pitchFamily="2" charset="-122"/>
              </a:rPr>
              <a:t>定值 </a:t>
            </a:r>
            <a:r>
              <a:rPr lang="en-US" altLang="zh-CN" sz="2200" b="1" dirty="0">
                <a:ea typeface="宋体" panose="02010600030101010101" pitchFamily="2" charset="-122"/>
              </a:rPr>
              <a:t>vs. may</a:t>
            </a:r>
            <a:r>
              <a:rPr lang="zh-CN" altLang="en-US" sz="2200" b="1" dirty="0">
                <a:ea typeface="宋体" panose="02010600030101010101" pitchFamily="2" charset="-122"/>
              </a:rPr>
              <a:t>定值</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如右图:</a:t>
            </a:r>
            <a:endParaRPr lang="zh-CN" altLang="en-US" sz="2000" b="1" dirty="0">
              <a:ea typeface="宋体" panose="02010600030101010101" pitchFamily="2" charset="-122"/>
            </a:endParaRPr>
          </a:p>
        </p:txBody>
      </p:sp>
      <p:grpSp>
        <p:nvGrpSpPr>
          <p:cNvPr id="241668" name="Group 10"/>
          <p:cNvGrpSpPr/>
          <p:nvPr/>
        </p:nvGrpSpPr>
        <p:grpSpPr>
          <a:xfrm>
            <a:off x="5562600" y="3962400"/>
            <a:ext cx="2209800" cy="2590800"/>
            <a:chOff x="3696" y="2496"/>
            <a:chExt cx="1392" cy="1632"/>
          </a:xfrm>
        </p:grpSpPr>
        <p:sp>
          <p:nvSpPr>
            <p:cNvPr id="241669" name="Rectangle 4"/>
            <p:cNvSpPr/>
            <p:nvPr/>
          </p:nvSpPr>
          <p:spPr>
            <a:xfrm>
              <a:off x="3696" y="2496"/>
              <a:ext cx="1392" cy="1632"/>
            </a:xfrm>
            <a:prstGeom prst="rect">
              <a:avLst/>
            </a:prstGeom>
            <a:solidFill>
              <a:srgbClr val="EAEAEA"/>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1200" dirty="0">
                  <a:latin typeface="Tahoma" panose="020B0604030504040204" pitchFamily="34" charset="0"/>
                  <a:ea typeface="宋体" panose="02010600030101010101" pitchFamily="2" charset="-122"/>
                </a:rPr>
                <a:t>           </a:t>
              </a:r>
              <a:r>
                <a:rPr lang="en-US" altLang="zh-CN" sz="1200" dirty="0">
                  <a:latin typeface="Tahoma" panose="020B0604030504040204" pitchFamily="34" charset="0"/>
                  <a:ea typeface="宋体" panose="02010600030101010101" pitchFamily="2" charset="-122"/>
                </a:rPr>
                <a:t>a =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a =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if (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p = &amp;a</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else </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p = &amp;b</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*p =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endParaRPr lang="en-US" altLang="zh-CN" sz="1200" dirty="0">
                <a:latin typeface="Tahoma" panose="020B0604030504040204" pitchFamily="34" charset="0"/>
                <a:ea typeface="宋体" panose="02010600030101010101" pitchFamily="2" charset="-122"/>
              </a:endParaRPr>
            </a:p>
            <a:p>
              <a:pPr marL="0" lvl="0" indent="0" eaLnBrk="1" hangingPunct="1">
                <a:spcBef>
                  <a:spcPct val="0"/>
                </a:spcBef>
                <a:buClrTx/>
                <a:buSzTx/>
                <a:buNone/>
              </a:pP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a:t>
              </a:r>
              <a:r>
                <a:rPr lang="en-US" altLang="zh-CN" sz="1200" dirty="0">
                  <a:ea typeface="宋体" panose="02010600030101010101" pitchFamily="2" charset="-122"/>
                </a:rPr>
                <a:t>…</a:t>
              </a:r>
              <a:r>
                <a:rPr lang="en-US" altLang="zh-CN" sz="1200" dirty="0">
                  <a:latin typeface="Tahoma" panose="020B0604030504040204" pitchFamily="34" charset="0"/>
                  <a:ea typeface="宋体" panose="02010600030101010101" pitchFamily="2" charset="-122"/>
                </a:rPr>
                <a:t> = a   </a:t>
              </a:r>
              <a:endParaRPr lang="en-US" altLang="zh-CN" sz="1200" dirty="0">
                <a:latin typeface="Tahoma" panose="020B0604030504040204" pitchFamily="34" charset="0"/>
                <a:ea typeface="宋体" panose="02010600030101010101" pitchFamily="2" charset="-122"/>
              </a:endParaRPr>
            </a:p>
          </p:txBody>
        </p:sp>
        <p:sp>
          <p:nvSpPr>
            <p:cNvPr id="241670" name="Line 5"/>
            <p:cNvSpPr/>
            <p:nvPr/>
          </p:nvSpPr>
          <p:spPr>
            <a:xfrm>
              <a:off x="4080" y="3024"/>
              <a:ext cx="384" cy="816"/>
            </a:xfrm>
            <a:prstGeom prst="line">
              <a:avLst/>
            </a:prstGeom>
            <a:ln w="28575" cap="flat" cmpd="sng">
              <a:solidFill>
                <a:schemeClr val="hlink"/>
              </a:solidFill>
              <a:prstDash val="solid"/>
              <a:miter/>
              <a:headEnd type="none" w="med" len="med"/>
              <a:tailEnd type="stealth" w="sm" len="lg"/>
            </a:ln>
          </p:spPr>
        </p:sp>
        <p:sp>
          <p:nvSpPr>
            <p:cNvPr id="241671" name="Line 6"/>
            <p:cNvSpPr/>
            <p:nvPr/>
          </p:nvSpPr>
          <p:spPr>
            <a:xfrm>
              <a:off x="4128" y="3696"/>
              <a:ext cx="288" cy="144"/>
            </a:xfrm>
            <a:prstGeom prst="line">
              <a:avLst/>
            </a:prstGeom>
            <a:ln w="28575" cap="flat" cmpd="sng">
              <a:solidFill>
                <a:schemeClr val="hlink"/>
              </a:solidFill>
              <a:prstDash val="solid"/>
              <a:miter/>
              <a:headEnd type="none" w="med" len="med"/>
              <a:tailEnd type="stealth" w="sm" len="lg"/>
            </a:ln>
          </p:spPr>
        </p:sp>
        <p:sp>
          <p:nvSpPr>
            <p:cNvPr id="241672" name="Line 7"/>
            <p:cNvSpPr/>
            <p:nvPr/>
          </p:nvSpPr>
          <p:spPr>
            <a:xfrm>
              <a:off x="3984" y="2784"/>
              <a:ext cx="0" cy="144"/>
            </a:xfrm>
            <a:prstGeom prst="line">
              <a:avLst/>
            </a:prstGeom>
            <a:ln w="28575" cap="flat" cmpd="sng">
              <a:solidFill>
                <a:srgbClr val="0000CC"/>
              </a:solidFill>
              <a:prstDash val="solid"/>
              <a:miter/>
              <a:headEnd type="none" w="med" len="med"/>
              <a:tailEnd type="stealth" w="sm" len="sm"/>
            </a:ln>
          </p:spPr>
        </p:sp>
        <p:sp>
          <p:nvSpPr>
            <p:cNvPr id="241673" name="Line 8"/>
            <p:cNvSpPr/>
            <p:nvPr/>
          </p:nvSpPr>
          <p:spPr>
            <a:xfrm flipH="1">
              <a:off x="3936" y="2928"/>
              <a:ext cx="96" cy="96"/>
            </a:xfrm>
            <a:prstGeom prst="line">
              <a:avLst/>
            </a:prstGeom>
            <a:ln w="28575" cap="flat" cmpd="sng">
              <a:solidFill>
                <a:srgbClr val="0000CC"/>
              </a:solidFill>
              <a:prstDash val="solid"/>
              <a:miter/>
              <a:headEnd type="none" w="med" len="med"/>
              <a:tailEnd type="none" w="med" len="med"/>
            </a:ln>
          </p:spPr>
        </p:sp>
        <p:sp>
          <p:nvSpPr>
            <p:cNvPr id="241674" name="Line 9"/>
            <p:cNvSpPr/>
            <p:nvPr/>
          </p:nvSpPr>
          <p:spPr>
            <a:xfrm>
              <a:off x="3936" y="2928"/>
              <a:ext cx="96" cy="96"/>
            </a:xfrm>
            <a:prstGeom prst="line">
              <a:avLst/>
            </a:prstGeom>
            <a:ln w="28575" cap="flat" cmpd="sng">
              <a:solidFill>
                <a:srgbClr val="0000CC"/>
              </a:solidFill>
              <a:prstDash val="solid"/>
              <a:miter/>
              <a:headEnd type="none" w="med" len="med"/>
              <a:tailEnd type="none" w="med" len="med"/>
            </a:ln>
          </p:spPr>
        </p:sp>
      </p:gr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243715"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跨越基本块的优化</a:t>
            </a:r>
            <a:endParaRPr lang="zh-CN" altLang="en-US"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一个简单的代码生成器</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公共子表达式</a:t>
            </a:r>
            <a:endParaRPr lang="zh-CN" altLang="en-US" dirty="0">
              <a:latin typeface="宋体" panose="02010600030101010101" pitchFamily="2" charset="-122"/>
              <a:ea typeface="宋体" panose="02010600030101010101" pitchFamily="2" charset="-122"/>
            </a:endParaRPr>
          </a:p>
        </p:txBody>
      </p:sp>
      <p:sp>
        <p:nvSpPr>
          <p:cNvPr id="245763" name="Rectangle 3"/>
          <p:cNvSpPr>
            <a:spLocks noGrp="1"/>
          </p:cNvSpPr>
          <p:nvPr>
            <p:ph idx="1"/>
          </p:nvPr>
        </p:nvSpPr>
        <p:spPr>
          <a:xfrm>
            <a:off x="990600" y="1371600"/>
            <a:ext cx="7391400" cy="5105400"/>
          </a:xfrm>
        </p:spPr>
        <p:txBody>
          <a:bodyPr vert="horz" wrap="square" lIns="92075" tIns="46038" rIns="92075" bIns="46038" anchor="t" anchorCtr="0"/>
          <a:p>
            <a:pPr>
              <a:lnSpc>
                <a:spcPct val="90000"/>
              </a:lnSpc>
            </a:pPr>
            <a:r>
              <a:rPr lang="zh-CN" altLang="en-US" sz="2400" b="1" dirty="0">
                <a:ea typeface="宋体" panose="02010600030101010101" pitchFamily="2" charset="-122"/>
              </a:rPr>
              <a:t>定义：</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如果表达式</a:t>
            </a:r>
            <a:r>
              <a:rPr lang="en-US" altLang="zh-CN" sz="2200" b="1" dirty="0">
                <a:ea typeface="宋体" panose="02010600030101010101" pitchFamily="2" charset="-122"/>
              </a:rPr>
              <a:t>E</a:t>
            </a:r>
            <a:r>
              <a:rPr lang="zh-CN" altLang="en-US" sz="2200" b="1" dirty="0">
                <a:ea typeface="宋体" panose="02010600030101010101" pitchFamily="2" charset="-122"/>
              </a:rPr>
              <a:t>先前已计算，并且从先前的计算到现在，</a:t>
            </a:r>
            <a:r>
              <a:rPr lang="en-US" altLang="zh-CN" sz="2200" b="1" dirty="0">
                <a:ea typeface="宋体" panose="02010600030101010101" pitchFamily="2" charset="-122"/>
              </a:rPr>
              <a:t>E</a:t>
            </a:r>
            <a:r>
              <a:rPr lang="zh-CN" altLang="en-US" sz="2200" b="1" dirty="0">
                <a:ea typeface="宋体" panose="02010600030101010101" pitchFamily="2" charset="-122"/>
              </a:rPr>
              <a:t>中变量的值没有改变，则</a:t>
            </a:r>
            <a:r>
              <a:rPr lang="en-US" altLang="zh-CN" sz="2200" b="1" dirty="0">
                <a:ea typeface="宋体" panose="02010600030101010101" pitchFamily="2" charset="-122"/>
              </a:rPr>
              <a:t>E</a:t>
            </a:r>
            <a:r>
              <a:rPr lang="zh-CN" altLang="en-US" sz="2200" b="1" dirty="0">
                <a:ea typeface="宋体" panose="02010600030101010101" pitchFamily="2" charset="-122"/>
              </a:rPr>
              <a:t>的这次出现就称为</a:t>
            </a:r>
            <a:r>
              <a:rPr lang="zh-CN" altLang="en-US" sz="2200" b="1" dirty="0">
                <a:solidFill>
                  <a:schemeClr val="hlink"/>
                </a:solidFill>
                <a:ea typeface="宋体" panose="02010600030101010101" pitchFamily="2" charset="-122"/>
              </a:rPr>
              <a:t>公共子表达式</a:t>
            </a:r>
            <a:endParaRPr lang="en-US" altLang="zh-CN" sz="2200" b="1" dirty="0">
              <a:solidFill>
                <a:schemeClr val="hlink"/>
              </a:solidFill>
              <a:ea typeface="宋体" panose="02010600030101010101" pitchFamily="2" charset="-122"/>
            </a:endParaRPr>
          </a:p>
          <a:p>
            <a:pPr lvl="2">
              <a:lnSpc>
                <a:spcPct val="90000"/>
              </a:lnSpc>
            </a:pPr>
            <a:r>
              <a:rPr lang="zh-CN" altLang="en-US" sz="2000" b="1" dirty="0">
                <a:ea typeface="宋体" panose="02010600030101010101" pitchFamily="2" charset="-122"/>
              </a:rPr>
              <a:t>避免表达式的重复计算</a:t>
            </a:r>
            <a:endParaRPr lang="zh-CN" altLang="en-US" sz="2000" b="1" dirty="0">
              <a:ea typeface="宋体" panose="02010600030101010101" pitchFamily="2" charset="-122"/>
            </a:endParaRPr>
          </a:p>
          <a:p>
            <a:pPr lvl="2">
              <a:lnSpc>
                <a:spcPct val="90000"/>
              </a:lnSpc>
              <a:buFont typeface="Wingdings" panose="05000000000000000000" pitchFamily="2" charset="2"/>
              <a:buNone/>
            </a:pPr>
            <a:endParaRPr lang="zh-CN" altLang="en-US" sz="2000" b="1" dirty="0">
              <a:ea typeface="宋体" panose="02010600030101010101" pitchFamily="2" charset="-122"/>
            </a:endParaRPr>
          </a:p>
          <a:p>
            <a:pPr lvl="2">
              <a:lnSpc>
                <a:spcPct val="90000"/>
              </a:lnSpc>
              <a:buFont typeface="Wingdings" panose="05000000000000000000" pitchFamily="2" charset="2"/>
              <a:buNone/>
            </a:pPr>
            <a:endParaRPr lang="zh-CN" altLang="en-US" sz="3000" b="1" dirty="0">
              <a:ea typeface="宋体" panose="02010600030101010101" pitchFamily="2" charset="-122"/>
            </a:endParaRPr>
          </a:p>
          <a:p>
            <a:pPr lvl="2">
              <a:lnSpc>
                <a:spcPct val="90000"/>
              </a:lnSpc>
              <a:buFont typeface="Wingdings" panose="05000000000000000000" pitchFamily="2" charset="2"/>
              <a:buNone/>
            </a:pPr>
            <a:endParaRPr lang="zh-CN" altLang="en-US" sz="3000" b="1" dirty="0">
              <a:ea typeface="宋体" panose="02010600030101010101" pitchFamily="2" charset="-122"/>
            </a:endParaRPr>
          </a:p>
          <a:p>
            <a:pPr lvl="2">
              <a:lnSpc>
                <a:spcPct val="90000"/>
              </a:lnSpc>
              <a:buFont typeface="Wingdings" panose="05000000000000000000" pitchFamily="2" charset="2"/>
              <a:buNone/>
            </a:pPr>
            <a:endParaRPr lang="zh-CN" altLang="en-US" sz="3000" b="1" dirty="0">
              <a:ea typeface="宋体" panose="02010600030101010101" pitchFamily="2" charset="-122"/>
            </a:endParaRPr>
          </a:p>
          <a:p>
            <a:pPr lvl="2">
              <a:lnSpc>
                <a:spcPct val="90000"/>
              </a:lnSpc>
              <a:buFont typeface="Wingdings" panose="05000000000000000000" pitchFamily="2" charset="2"/>
              <a:buNone/>
            </a:pPr>
            <a:endParaRPr lang="zh-CN" altLang="en-US" sz="3000" b="1" dirty="0">
              <a:ea typeface="宋体" panose="02010600030101010101" pitchFamily="2" charset="-122"/>
            </a:endParaRPr>
          </a:p>
          <a:p>
            <a:pPr lvl="2">
              <a:lnSpc>
                <a:spcPct val="90000"/>
              </a:lnSpc>
              <a:buFont typeface="Wingdings" panose="05000000000000000000" pitchFamily="2" charset="2"/>
              <a:buNone/>
            </a:pPr>
            <a:endParaRPr lang="zh-CN" altLang="en-US" sz="3000" b="1" dirty="0">
              <a:ea typeface="宋体" panose="02010600030101010101" pitchFamily="2" charset="-122"/>
            </a:endParaRPr>
          </a:p>
          <a:p>
            <a:pPr lvl="2">
              <a:lnSpc>
                <a:spcPct val="90000"/>
              </a:lnSpc>
              <a:buFont typeface="Wingdings" panose="05000000000000000000" pitchFamily="2" charset="2"/>
              <a:buNone/>
            </a:pPr>
            <a:r>
              <a:rPr lang="zh-CN" altLang="en-US" sz="3000" b="1" dirty="0">
                <a:ea typeface="宋体" panose="02010600030101010101" pitchFamily="2" charset="-122"/>
              </a:rPr>
              <a:t>		  </a:t>
            </a:r>
            <a:r>
              <a:rPr lang="zh-CN" altLang="en-US" b="1" dirty="0">
                <a:ea typeface="宋体" panose="02010600030101010101" pitchFamily="2" charset="-122"/>
              </a:rPr>
              <a:t>局部优化的例子</a:t>
            </a:r>
            <a:endParaRPr lang="zh-CN" altLang="en-US" b="1" dirty="0">
              <a:ea typeface="宋体" panose="02010600030101010101" pitchFamily="2" charset="-122"/>
            </a:endParaRPr>
          </a:p>
        </p:txBody>
      </p:sp>
      <p:graphicFrame>
        <p:nvGraphicFramePr>
          <p:cNvPr id="245764" name="Object 4"/>
          <p:cNvGraphicFramePr>
            <a:graphicFrameLocks noChangeAspect="1"/>
          </p:cNvGraphicFramePr>
          <p:nvPr/>
        </p:nvGraphicFramePr>
        <p:xfrm>
          <a:off x="1981200" y="2895600"/>
          <a:ext cx="4495800" cy="3148013"/>
        </p:xfrm>
        <a:graphic>
          <a:graphicData uri="http://schemas.openxmlformats.org/presentationml/2006/ole">
            <mc:AlternateContent xmlns:mc="http://schemas.openxmlformats.org/markup-compatibility/2006">
              <mc:Choice xmlns:v="urn:schemas-microsoft-com:vml" Requires="v">
                <p:oleObj spid="_x0000_s3078" name="" r:id="rId1" imgW="4206240" imgH="2946400" progId="Visio.Drawing.4">
                  <p:embed/>
                </p:oleObj>
              </mc:Choice>
              <mc:Fallback>
                <p:oleObj name="" r:id="rId1" imgW="4206240" imgH="2946400" progId="Visio.Drawing.4">
                  <p:embed/>
                  <p:pic>
                    <p:nvPicPr>
                      <p:cNvPr id="0" name="图片 3077"/>
                      <p:cNvPicPr/>
                      <p:nvPr/>
                    </p:nvPicPr>
                    <p:blipFill>
                      <a:blip r:embed="rId2"/>
                      <a:stretch>
                        <a:fillRect/>
                      </a:stretch>
                    </p:blipFill>
                    <p:spPr>
                      <a:xfrm>
                        <a:off x="1981200" y="2895600"/>
                        <a:ext cx="4495800" cy="3148013"/>
                      </a:xfrm>
                      <a:prstGeom prst="rect">
                        <a:avLst/>
                      </a:prstGeom>
                      <a:noFill/>
                      <a:ln w="38100">
                        <a:noFill/>
                        <a:miter/>
                      </a:ln>
                    </p:spPr>
                  </p:pic>
                </p:oleObj>
              </mc:Fallback>
            </mc:AlternateContent>
          </a:graphicData>
        </a:graphic>
      </p:graphicFrame>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公共子表达式全局优化的例子</a:t>
            </a:r>
            <a:endParaRPr lang="en-US" altLang="zh-CN" dirty="0">
              <a:latin typeface="宋体" panose="02010600030101010101" pitchFamily="2" charset="-122"/>
              <a:ea typeface="宋体" panose="02010600030101010101" pitchFamily="2" charset="-122"/>
            </a:endParaRPr>
          </a:p>
        </p:txBody>
      </p:sp>
      <p:graphicFrame>
        <p:nvGraphicFramePr>
          <p:cNvPr id="247811" name="Object 5"/>
          <p:cNvGraphicFramePr>
            <a:graphicFrameLocks noChangeAspect="1"/>
          </p:cNvGraphicFramePr>
          <p:nvPr/>
        </p:nvGraphicFramePr>
        <p:xfrm>
          <a:off x="1295400" y="1143000"/>
          <a:ext cx="2878138" cy="5410200"/>
        </p:xfrm>
        <a:graphic>
          <a:graphicData uri="http://schemas.openxmlformats.org/presentationml/2006/ole">
            <mc:AlternateContent xmlns:mc="http://schemas.openxmlformats.org/markup-compatibility/2006">
              <mc:Choice xmlns:v="urn:schemas-microsoft-com:vml" Requires="v">
                <p:oleObj spid="_x0000_s3080" name="" r:id="rId1" imgW="3891280" imgH="7320280" progId="Visio.Drawing.4">
                  <p:embed/>
                </p:oleObj>
              </mc:Choice>
              <mc:Fallback>
                <p:oleObj name="" r:id="rId1" imgW="3891280" imgH="7320280" progId="Visio.Drawing.4">
                  <p:embed/>
                  <p:pic>
                    <p:nvPicPr>
                      <p:cNvPr id="0" name="图片 3079"/>
                      <p:cNvPicPr/>
                      <p:nvPr/>
                    </p:nvPicPr>
                    <p:blipFill>
                      <a:blip r:embed="rId2"/>
                      <a:stretch>
                        <a:fillRect/>
                      </a:stretch>
                    </p:blipFill>
                    <p:spPr>
                      <a:xfrm>
                        <a:off x="1295400" y="1143000"/>
                        <a:ext cx="2878138" cy="5410200"/>
                      </a:xfrm>
                      <a:prstGeom prst="rect">
                        <a:avLst/>
                      </a:prstGeom>
                      <a:noFill/>
                      <a:ln w="38100">
                        <a:noFill/>
                        <a:miter/>
                      </a:ln>
                    </p:spPr>
                  </p:pic>
                </p:oleObj>
              </mc:Fallback>
            </mc:AlternateContent>
          </a:graphicData>
        </a:graphic>
      </p:graphicFrame>
      <p:graphicFrame>
        <p:nvGraphicFramePr>
          <p:cNvPr id="247812" name="Object 6"/>
          <p:cNvGraphicFramePr>
            <a:graphicFrameLocks noChangeAspect="1"/>
          </p:cNvGraphicFramePr>
          <p:nvPr/>
        </p:nvGraphicFramePr>
        <p:xfrm>
          <a:off x="4648200" y="1066800"/>
          <a:ext cx="3451225" cy="5257800"/>
        </p:xfrm>
        <a:graphic>
          <a:graphicData uri="http://schemas.openxmlformats.org/presentationml/2006/ole">
            <mc:AlternateContent xmlns:mc="http://schemas.openxmlformats.org/markup-compatibility/2006">
              <mc:Choice xmlns:v="urn:schemas-microsoft-com:vml" Requires="v">
                <p:oleObj spid="_x0000_s3079" name="" r:id="rId3" imgW="3972560" imgH="6055360" progId="Visio.Drawing.4">
                  <p:embed/>
                </p:oleObj>
              </mc:Choice>
              <mc:Fallback>
                <p:oleObj name="" r:id="rId3" imgW="3972560" imgH="6055360" progId="Visio.Drawing.4">
                  <p:embed/>
                  <p:pic>
                    <p:nvPicPr>
                      <p:cNvPr id="0" name="图片 3078"/>
                      <p:cNvPicPr/>
                      <p:nvPr/>
                    </p:nvPicPr>
                    <p:blipFill>
                      <a:blip r:embed="rId4"/>
                      <a:stretch>
                        <a:fillRect/>
                      </a:stretch>
                    </p:blipFill>
                    <p:spPr>
                      <a:xfrm>
                        <a:off x="4648200" y="1066800"/>
                        <a:ext cx="3451225" cy="5257800"/>
                      </a:xfrm>
                      <a:prstGeom prst="rect">
                        <a:avLst/>
                      </a:prstGeom>
                      <a:noFill/>
                      <a:ln w="38100">
                        <a:noFill/>
                        <a:miter/>
                      </a:ln>
                    </p:spPr>
                  </p:pic>
                </p:oleObj>
              </mc:Fallback>
            </mc:AlternateContent>
          </a:graphicData>
        </a:graphic>
      </p:graphicFrame>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公共子表达式（续）</a:t>
            </a:r>
            <a:endParaRPr lang="zh-CN" altLang="en-US" dirty="0">
              <a:latin typeface="宋体" panose="02010600030101010101" pitchFamily="2" charset="-122"/>
              <a:ea typeface="宋体" panose="02010600030101010101" pitchFamily="2" charset="-122"/>
            </a:endParaRPr>
          </a:p>
        </p:txBody>
      </p:sp>
      <p:sp>
        <p:nvSpPr>
          <p:cNvPr id="24985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为什么上例中</a:t>
            </a:r>
            <a:r>
              <a:rPr lang="en-US" altLang="zh-CN" sz="2400" b="1" dirty="0">
                <a:ea typeface="宋体" panose="02010600030101010101" pitchFamily="2" charset="-122"/>
              </a:rPr>
              <a:t>B6</a:t>
            </a:r>
            <a:r>
              <a:rPr lang="zh-CN" altLang="en-US" sz="2400" b="1" dirty="0">
                <a:ea typeface="宋体" panose="02010600030101010101" pitchFamily="2" charset="-122"/>
              </a:rPr>
              <a:t>中的</a:t>
            </a:r>
            <a:r>
              <a:rPr lang="en-US" altLang="zh-CN" sz="2400" b="1" dirty="0">
                <a:ea typeface="宋体" panose="02010600030101010101" pitchFamily="2" charset="-122"/>
              </a:rPr>
              <a:t>a[ t1 ]</a:t>
            </a:r>
            <a:r>
              <a:rPr lang="zh-CN" altLang="en-US" sz="2400" b="1" dirty="0">
                <a:ea typeface="宋体" panose="02010600030101010101" pitchFamily="2" charset="-122"/>
              </a:rPr>
              <a:t>不能被</a:t>
            </a:r>
            <a:r>
              <a:rPr lang="en-US" altLang="zh-CN" sz="2400" b="1" dirty="0">
                <a:ea typeface="宋体" panose="02010600030101010101" pitchFamily="2" charset="-122"/>
              </a:rPr>
              <a:t>v</a:t>
            </a:r>
            <a:r>
              <a:rPr lang="zh-CN" altLang="en-US" sz="2400" b="1" dirty="0">
                <a:ea typeface="宋体" panose="02010600030101010101" pitchFamily="2" charset="-122"/>
              </a:rPr>
              <a:t>替换？</a:t>
            </a:r>
            <a:endParaRPr lang="zh-CN" altLang="en-US" sz="2400" b="1" dirty="0">
              <a:ea typeface="宋体" panose="02010600030101010101" pitchFamily="2" charset="-122"/>
            </a:endParaRPr>
          </a:p>
          <a:p>
            <a:pPr lvl="1"/>
            <a:r>
              <a:rPr lang="zh-CN" altLang="en-US" sz="2200" b="1" dirty="0">
                <a:ea typeface="宋体" panose="02010600030101010101" pitchFamily="2" charset="-122"/>
              </a:rPr>
              <a:t>因为</a:t>
            </a:r>
            <a:r>
              <a:rPr lang="en-US" altLang="zh-CN" sz="2200" b="1" dirty="0">
                <a:ea typeface="宋体" panose="02010600030101010101" pitchFamily="2" charset="-122"/>
              </a:rPr>
              <a:t>B5</a:t>
            </a:r>
            <a:r>
              <a:rPr lang="zh-CN" altLang="en-US" sz="2200" b="1" dirty="0">
                <a:ea typeface="宋体" panose="02010600030101010101" pitchFamily="2" charset="-122"/>
              </a:rPr>
              <a:t>中的对数组</a:t>
            </a:r>
            <a:r>
              <a:rPr lang="en-US" altLang="zh-CN" sz="2200" b="1" dirty="0">
                <a:ea typeface="宋体" panose="02010600030101010101" pitchFamily="2" charset="-122"/>
              </a:rPr>
              <a:t>a</a:t>
            </a:r>
            <a:r>
              <a:rPr lang="zh-CN" altLang="en-US" sz="2200" b="1" dirty="0">
                <a:ea typeface="宋体" panose="02010600030101010101" pitchFamily="2" charset="-122"/>
              </a:rPr>
              <a:t>赋值</a:t>
            </a:r>
            <a:endParaRPr lang="zh-CN" altLang="en-US" sz="2200" b="1" dirty="0">
              <a:ea typeface="宋体" panose="02010600030101010101" pitchFamily="2" charset="-122"/>
            </a:endParaRPr>
          </a:p>
          <a:p>
            <a:endParaRPr lang="zh-CN" altLang="en-US" sz="2400" b="1" dirty="0">
              <a:solidFill>
                <a:schemeClr val="hlink"/>
              </a:solidFill>
              <a:ea typeface="宋体" panose="02010600030101010101" pitchFamily="2" charset="-122"/>
            </a:endParaRPr>
          </a:p>
          <a:p>
            <a:r>
              <a:rPr lang="zh-CN" altLang="en-US" sz="2400" b="1" dirty="0">
                <a:ea typeface="宋体" panose="02010600030101010101" pitchFamily="2" charset="-122"/>
              </a:rPr>
              <a:t>借助于可用表达式实现公共子表达式的删除</a:t>
            </a:r>
            <a:endParaRPr lang="zh-CN" altLang="en-US" sz="2400" b="1" dirty="0">
              <a:ea typeface="宋体" panose="02010600030101010101" pitchFamily="2" charset="-122"/>
            </a:endParaRP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公共子表达式删除的算法</a:t>
            </a:r>
            <a:endParaRPr lang="zh-CN" altLang="en-US" dirty="0">
              <a:latin typeface="宋体" panose="02010600030101010101" pitchFamily="2" charset="-122"/>
              <a:ea typeface="宋体" panose="02010600030101010101" pitchFamily="2" charset="-122"/>
            </a:endParaRPr>
          </a:p>
        </p:txBody>
      </p:sp>
      <p:sp>
        <p:nvSpPr>
          <p:cNvPr id="251907" name="Rectangle 5"/>
          <p:cNvSpPr>
            <a:spLocks noGrp="1"/>
          </p:cNvSpPr>
          <p:nvPr>
            <p:ph idx="1"/>
          </p:nvPr>
        </p:nvSpPr>
        <p:spPr>
          <a:xfrm>
            <a:off x="827088" y="1524000"/>
            <a:ext cx="7554912" cy="4648200"/>
          </a:xfrm>
        </p:spPr>
        <p:txBody>
          <a:bodyPr vert="horz" wrap="square" lIns="92075" tIns="46038" rIns="92075" bIns="46038" anchor="t" anchorCtr="0"/>
          <a:p>
            <a:pPr>
              <a:buNone/>
            </a:pPr>
            <a:r>
              <a:rPr lang="zh-CN" altLang="en-US" sz="2000" b="1" dirty="0">
                <a:ea typeface="宋体" panose="02010600030101010101" pitchFamily="2" charset="-122"/>
              </a:rPr>
              <a:t>输入：有可用表达式信息的流图</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输出：修改后的流图</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方法：对每个形如</a:t>
            </a:r>
            <a:r>
              <a:rPr lang="en-US" altLang="zh-CN" sz="2000" b="1" dirty="0">
                <a:ea typeface="宋体" panose="02010600030101010101" pitchFamily="2" charset="-122"/>
              </a:rPr>
              <a:t>x := y + z（+</a:t>
            </a:r>
            <a:r>
              <a:rPr lang="zh-CN" altLang="en-US" sz="2000" b="1" dirty="0">
                <a:ea typeface="宋体" panose="02010600030101010101" pitchFamily="2" charset="-122"/>
              </a:rPr>
              <a:t>表示一般的算符）的语句</a:t>
            </a:r>
            <a:r>
              <a:rPr lang="en-US" altLang="zh-CN" sz="2000" b="1" dirty="0">
                <a:ea typeface="宋体" panose="02010600030101010101" pitchFamily="2" charset="-122"/>
              </a:rPr>
              <a:t>s，</a:t>
            </a:r>
            <a:r>
              <a:rPr lang="zh-CN" altLang="en-US" sz="2000" b="1" dirty="0">
                <a:ea typeface="宋体" panose="02010600030101010101" pitchFamily="2" charset="-122"/>
              </a:rPr>
              <a:t>如果   </a:t>
            </a:r>
            <a:r>
              <a:rPr lang="en-US" altLang="zh-CN" sz="2000" b="1" dirty="0">
                <a:ea typeface="宋体" panose="02010600030101010101" pitchFamily="2" charset="-122"/>
              </a:rPr>
              <a:t>y + z</a:t>
            </a:r>
            <a:r>
              <a:rPr lang="zh-CN" altLang="en-US" sz="2000" b="1" dirty="0">
                <a:ea typeface="宋体" panose="02010600030101010101" pitchFamily="2" charset="-122"/>
              </a:rPr>
              <a:t>在</a:t>
            </a:r>
            <a:r>
              <a:rPr lang="en-US" altLang="zh-CN" sz="2000" b="1" dirty="0">
                <a:ea typeface="宋体" panose="02010600030101010101" pitchFamily="2" charset="-122"/>
              </a:rPr>
              <a:t>s</a:t>
            </a:r>
            <a:r>
              <a:rPr lang="zh-CN" altLang="en-US" sz="2000" b="1" dirty="0">
                <a:ea typeface="宋体" panose="02010600030101010101" pitchFamily="2" charset="-122"/>
              </a:rPr>
              <a:t>所在块的开始点可用，且在该块中</a:t>
            </a:r>
            <a:r>
              <a:rPr lang="en-US" altLang="zh-CN" sz="2000" b="1" dirty="0">
                <a:ea typeface="宋体" panose="02010600030101010101" pitchFamily="2" charset="-122"/>
              </a:rPr>
              <a:t>s</a:t>
            </a:r>
            <a:r>
              <a:rPr lang="zh-CN" altLang="en-US" sz="2000" b="1" dirty="0">
                <a:ea typeface="宋体" panose="02010600030101010101" pitchFamily="2" charset="-122"/>
              </a:rPr>
              <a:t>前没有</a:t>
            </a:r>
            <a:r>
              <a:rPr lang="en-US" altLang="zh-CN" sz="2000" b="1" dirty="0">
                <a:ea typeface="宋体" panose="02010600030101010101" pitchFamily="2" charset="-122"/>
              </a:rPr>
              <a:t>y</a:t>
            </a:r>
            <a:r>
              <a:rPr lang="zh-CN" altLang="en-US" sz="2000" b="1" dirty="0">
                <a:ea typeface="宋体" panose="02010600030101010101" pitchFamily="2" charset="-122"/>
              </a:rPr>
              <a:t>和</a:t>
            </a:r>
            <a:r>
              <a:rPr lang="en-US" altLang="zh-CN" sz="2000" b="1" dirty="0">
                <a:ea typeface="宋体" panose="02010600030101010101" pitchFamily="2" charset="-122"/>
              </a:rPr>
              <a:t>z</a:t>
            </a:r>
            <a:r>
              <a:rPr lang="zh-CN" altLang="en-US" sz="2000" b="1" dirty="0">
                <a:ea typeface="宋体" panose="02010600030101010101" pitchFamily="2" charset="-122"/>
              </a:rPr>
              <a:t>的定值，则执行下面的步骤：</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(1)	为了寻找到达</a:t>
            </a:r>
            <a:r>
              <a:rPr lang="en-US" altLang="zh-CN" sz="2000" b="1" dirty="0">
                <a:ea typeface="宋体" panose="02010600030101010101" pitchFamily="2" charset="-122"/>
              </a:rPr>
              <a:t>s</a:t>
            </a:r>
            <a:r>
              <a:rPr lang="zh-CN" altLang="en-US" sz="2000" b="1" dirty="0">
                <a:ea typeface="宋体" panose="02010600030101010101" pitchFamily="2" charset="-122"/>
              </a:rPr>
              <a:t>所在块的</a:t>
            </a:r>
            <a:r>
              <a:rPr lang="en-US" altLang="zh-CN" sz="2000" b="1" dirty="0">
                <a:ea typeface="宋体" panose="02010600030101010101" pitchFamily="2" charset="-122"/>
              </a:rPr>
              <a:t>y + z</a:t>
            </a:r>
            <a:r>
              <a:rPr lang="zh-CN" altLang="en-US" sz="2000" b="1" dirty="0">
                <a:ea typeface="宋体" panose="02010600030101010101" pitchFamily="2" charset="-122"/>
              </a:rPr>
              <a:t>的计算，顺着流图的边，从该块开始反向搜索，但不穿过任何计算</a:t>
            </a:r>
            <a:r>
              <a:rPr lang="en-US" altLang="zh-CN" sz="2000" b="1" dirty="0">
                <a:ea typeface="宋体" panose="02010600030101010101" pitchFamily="2" charset="-122"/>
              </a:rPr>
              <a:t>y + z</a:t>
            </a:r>
            <a:r>
              <a:rPr lang="zh-CN" altLang="en-US" sz="2000" b="1" dirty="0">
                <a:ea typeface="宋体" panose="02010600030101010101" pitchFamily="2" charset="-122"/>
              </a:rPr>
              <a:t>的块。在遇到的每个块中，</a:t>
            </a:r>
            <a:r>
              <a:rPr lang="en-US" altLang="zh-CN" sz="2000" b="1" dirty="0">
                <a:ea typeface="宋体" panose="02010600030101010101" pitchFamily="2" charset="-122"/>
              </a:rPr>
              <a:t>y + z</a:t>
            </a:r>
            <a:r>
              <a:rPr lang="zh-CN" altLang="en-US" sz="2000" b="1" dirty="0">
                <a:ea typeface="宋体" panose="02010600030101010101" pitchFamily="2" charset="-122"/>
              </a:rPr>
              <a:t>的最后一个计算是到达</a:t>
            </a:r>
            <a:r>
              <a:rPr lang="en-US" altLang="zh-CN" sz="2000" b="1" dirty="0">
                <a:ea typeface="宋体" panose="02010600030101010101" pitchFamily="2" charset="-122"/>
              </a:rPr>
              <a:t>s</a:t>
            </a:r>
            <a:r>
              <a:rPr lang="zh-CN" altLang="en-US" sz="2000" b="1" dirty="0">
                <a:ea typeface="宋体" panose="02010600030101010101" pitchFamily="2" charset="-122"/>
              </a:rPr>
              <a:t>的</a:t>
            </a:r>
            <a:r>
              <a:rPr lang="en-US" altLang="zh-CN" sz="2000" b="1" dirty="0">
                <a:ea typeface="宋体" panose="02010600030101010101" pitchFamily="2" charset="-122"/>
              </a:rPr>
              <a:t>y + z</a:t>
            </a:r>
            <a:r>
              <a:rPr lang="zh-CN" altLang="en-US" sz="2000" b="1" dirty="0">
                <a:ea typeface="宋体" panose="02010600030101010101" pitchFamily="2" charset="-122"/>
              </a:rPr>
              <a:t>的计算</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(2)	</a:t>
            </a:r>
            <a:r>
              <a:rPr lang="zh-CN" altLang="en-US" sz="2000" b="1" dirty="0">
                <a:ea typeface="宋体" panose="02010600030101010101" pitchFamily="2" charset="-122"/>
              </a:rPr>
              <a:t>建立新变量</a:t>
            </a:r>
            <a:r>
              <a:rPr lang="en-US" altLang="zh-CN" sz="2000" b="1" dirty="0">
                <a:ea typeface="宋体" panose="02010600030101010101" pitchFamily="2" charset="-122"/>
              </a:rPr>
              <a:t>u</a:t>
            </a: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(3)	</a:t>
            </a:r>
            <a:r>
              <a:rPr lang="zh-CN" altLang="en-US" sz="2000" b="1" dirty="0">
                <a:ea typeface="宋体" panose="02010600030101010101" pitchFamily="2" charset="-122"/>
              </a:rPr>
              <a:t>把(1)中找到的每个语句</a:t>
            </a:r>
            <a:r>
              <a:rPr lang="en-US" altLang="zh-CN" sz="2000" b="1" dirty="0">
                <a:ea typeface="宋体" panose="02010600030101010101" pitchFamily="2" charset="-122"/>
              </a:rPr>
              <a:t>w := y + z</a:t>
            </a:r>
            <a:r>
              <a:rPr lang="zh-CN" altLang="en-US" sz="2000" b="1" dirty="0">
                <a:ea typeface="宋体" panose="02010600030101010101" pitchFamily="2" charset="-122"/>
              </a:rPr>
              <a:t>用下面的两个语句代替</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u := y + z</a:t>
            </a:r>
            <a:endParaRPr lang="en-US" altLang="zh-CN" sz="2000" b="1" dirty="0">
              <a:ea typeface="宋体" panose="02010600030101010101" pitchFamily="2" charset="-122"/>
            </a:endParaRPr>
          </a:p>
          <a:p>
            <a:pPr>
              <a:buNone/>
            </a:pPr>
            <a:r>
              <a:rPr lang="en-US" altLang="zh-CN" sz="2000" b="1" dirty="0">
                <a:ea typeface="宋体" panose="02010600030101010101" pitchFamily="2" charset="-122"/>
              </a:rPr>
              <a:t>			w := u</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(4)	用</a:t>
            </a:r>
            <a:r>
              <a:rPr lang="en-US" altLang="zh-CN" sz="2000" b="1" dirty="0">
                <a:ea typeface="宋体" panose="02010600030101010101" pitchFamily="2" charset="-122"/>
              </a:rPr>
              <a:t>x := u</a:t>
            </a:r>
            <a:r>
              <a:rPr lang="zh-CN" altLang="en-US" sz="2000" b="1" dirty="0">
                <a:ea typeface="宋体" panose="02010600030101010101" pitchFamily="2" charset="-122"/>
              </a:rPr>
              <a:t>代替语句</a:t>
            </a:r>
            <a:r>
              <a:rPr lang="en-US" altLang="zh-CN" sz="2000" b="1" dirty="0">
                <a:ea typeface="宋体" panose="02010600030101010101" pitchFamily="2" charset="-122"/>
              </a:rPr>
              <a:t>s</a:t>
            </a:r>
            <a:endParaRPr lang="en-US" altLang="zh-CN" sz="2000" b="1" dirty="0">
              <a:ea typeface="宋体" panose="02010600030101010101" pitchFamily="2" charset="-122"/>
            </a:endParaRPr>
          </a:p>
        </p:txBody>
      </p: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算法的讨论</a:t>
            </a:r>
            <a:endParaRPr lang="zh-CN" altLang="en-US" dirty="0">
              <a:latin typeface="宋体" panose="02010600030101010101" pitchFamily="2" charset="-122"/>
              <a:ea typeface="宋体" panose="02010600030101010101" pitchFamily="2" charset="-122"/>
            </a:endParaRPr>
          </a:p>
        </p:txBody>
      </p:sp>
      <p:sp>
        <p:nvSpPr>
          <p:cNvPr id="25395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为了减少无关信息的收集，不将步骤(1)中寻找到达</a:t>
            </a:r>
            <a:r>
              <a:rPr lang="en-US" altLang="zh-CN" sz="2400" b="1" dirty="0">
                <a:ea typeface="宋体" panose="02010600030101010101" pitchFamily="2" charset="-122"/>
              </a:rPr>
              <a:t>s</a:t>
            </a:r>
            <a:r>
              <a:rPr lang="zh-CN" altLang="en-US" sz="2400" b="1" dirty="0">
                <a:ea typeface="宋体" panose="02010600030101010101" pitchFamily="2" charset="-122"/>
              </a:rPr>
              <a:t>的</a:t>
            </a:r>
            <a:r>
              <a:rPr lang="en-US" altLang="zh-CN" sz="2400" b="1" dirty="0">
                <a:ea typeface="宋体" panose="02010600030101010101" pitchFamily="2" charset="-122"/>
              </a:rPr>
              <a:t>y + z</a:t>
            </a:r>
            <a:r>
              <a:rPr lang="zh-CN" altLang="en-US" sz="2400" b="1" dirty="0">
                <a:ea typeface="宋体" panose="02010600030101010101" pitchFamily="2" charset="-122"/>
              </a:rPr>
              <a:t>的计算形式化为一个数据流分析问题</a:t>
            </a:r>
            <a:endParaRPr lang="zh-CN" altLang="en-US" sz="2400" b="1" dirty="0">
              <a:solidFill>
                <a:schemeClr val="hlink"/>
              </a:solidFill>
              <a:ea typeface="宋体" panose="02010600030101010101" pitchFamily="2" charset="-122"/>
            </a:endParaRPr>
          </a:p>
          <a:p>
            <a:r>
              <a:rPr lang="zh-CN" altLang="en-US" sz="2400" b="1" dirty="0">
                <a:ea typeface="宋体" panose="02010600030101010101" pitchFamily="2" charset="-122"/>
              </a:rPr>
              <a:t>上述算法完成的修改不一定是改进</a:t>
            </a:r>
            <a:endParaRPr lang="zh-CN" altLang="en-US" sz="2400" b="1" dirty="0">
              <a:ea typeface="宋体" panose="02010600030101010101" pitchFamily="2" charset="-122"/>
            </a:endParaRPr>
          </a:p>
          <a:p>
            <a:r>
              <a:rPr lang="zh-CN" altLang="en-US" sz="2400" b="1" dirty="0">
                <a:ea typeface="宋体" panose="02010600030101010101" pitchFamily="2" charset="-122"/>
              </a:rPr>
              <a:t>上述算法可能不能识别下面两组赋值语句中</a:t>
            </a:r>
            <a:r>
              <a:rPr lang="en-US" altLang="zh-CN" sz="2400" b="1" dirty="0">
                <a:ea typeface="宋体" panose="02010600030101010101" pitchFamily="2" charset="-122"/>
              </a:rPr>
              <a:t>a*z</a:t>
            </a:r>
            <a:r>
              <a:rPr lang="zh-CN" altLang="en-US" sz="2400" b="1" dirty="0">
                <a:ea typeface="宋体" panose="02010600030101010101" pitchFamily="2" charset="-122"/>
              </a:rPr>
              <a:t>和</a:t>
            </a:r>
            <a:r>
              <a:rPr lang="en-US" altLang="zh-CN" sz="2400" b="1" dirty="0">
                <a:ea typeface="宋体" panose="02010600030101010101" pitchFamily="2" charset="-122"/>
              </a:rPr>
              <a:t>c*z</a:t>
            </a:r>
            <a:r>
              <a:rPr lang="zh-CN" altLang="en-US" sz="2400" b="1" dirty="0">
                <a:ea typeface="宋体" panose="02010600030101010101" pitchFamily="2" charset="-122"/>
              </a:rPr>
              <a:t>的等价性：</a:t>
            </a:r>
            <a:endParaRPr lang="zh-CN" altLang="en-US" sz="2400" b="1" dirty="0">
              <a:ea typeface="宋体" panose="02010600030101010101" pitchFamily="2" charset="-122"/>
            </a:endParaRPr>
          </a:p>
          <a:p>
            <a:pPr>
              <a:buNone/>
            </a:pPr>
            <a:r>
              <a:rPr lang="zh-CN" altLang="en-US" sz="2400" b="1" dirty="0">
                <a:ea typeface="宋体" panose="02010600030101010101" pitchFamily="2" charset="-122"/>
              </a:rPr>
              <a:t>	(1)	</a:t>
            </a:r>
            <a:r>
              <a:rPr lang="en-US" altLang="zh-CN" sz="2400" b="1" dirty="0">
                <a:ea typeface="宋体" panose="02010600030101010101" pitchFamily="2" charset="-122"/>
              </a:rPr>
              <a:t>a := x + y		(2)	c := x + y</a:t>
            </a:r>
            <a:endParaRPr lang="en-US" altLang="zh-CN" sz="2400" b="1" dirty="0">
              <a:ea typeface="宋体" panose="02010600030101010101" pitchFamily="2" charset="-122"/>
            </a:endParaRPr>
          </a:p>
          <a:p>
            <a:pPr>
              <a:buNone/>
            </a:pPr>
            <a:r>
              <a:rPr lang="en-US" altLang="zh-CN" sz="2400" b="1" dirty="0">
                <a:ea typeface="宋体" panose="02010600030101010101" pitchFamily="2" charset="-122"/>
              </a:rPr>
              <a:t>		b: = a * z			d := c * z</a:t>
            </a:r>
            <a:endParaRPr lang="en-US" altLang="zh-CN" sz="2400" b="1" dirty="0">
              <a:ea typeface="宋体" panose="02010600030101010101" pitchFamily="2" charset="-122"/>
            </a:endParaRPr>
          </a:p>
          <a:p>
            <a:pPr lvl="1"/>
            <a:r>
              <a:rPr lang="zh-CN" altLang="en-US" sz="2200" b="1" dirty="0">
                <a:ea typeface="宋体" panose="02010600030101010101" pitchFamily="2" charset="-122"/>
              </a:rPr>
              <a:t>当用上述算法多遍扫描时，这个等价性是可能被发现的</a:t>
            </a:r>
            <a:endParaRPr lang="zh-CN" altLang="en-US" sz="2200" b="1" dirty="0">
              <a:ea typeface="宋体" panose="02010600030101010101" pitchFamily="2" charset="-122"/>
            </a:endParaRPr>
          </a:p>
          <a:p>
            <a:pPr lvl="1"/>
            <a:r>
              <a:rPr lang="zh-CN" altLang="en-US" sz="2200" b="1" dirty="0">
                <a:ea typeface="宋体" panose="02010600030101010101" pitchFamily="2" charset="-122"/>
              </a:rPr>
              <a:t>可以采用值计数的方法优化</a:t>
            </a:r>
            <a:endParaRPr lang="zh-CN" altLang="en-US" sz="2200" b="1" dirty="0">
              <a:ea typeface="宋体" panose="02010600030101010101" pitchFamily="2" charset="-122"/>
            </a:endParaRPr>
          </a:p>
          <a:p>
            <a:pPr lvl="1"/>
            <a:r>
              <a:rPr lang="zh-CN" altLang="en-US" sz="2200" b="1" dirty="0">
                <a:ea typeface="宋体" panose="02010600030101010101" pitchFamily="2" charset="-122"/>
              </a:rPr>
              <a:t>如果</a:t>
            </a:r>
            <a:r>
              <a:rPr lang="en-US" altLang="zh-CN" sz="2200" b="1"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c</a:t>
            </a:r>
            <a:r>
              <a:rPr lang="zh-CN" altLang="en-US" sz="2200" b="1" dirty="0">
                <a:ea typeface="宋体" panose="02010600030101010101" pitchFamily="2" charset="-122"/>
              </a:rPr>
              <a:t>是临时变量，则可以采用特殊方式优化</a:t>
            </a:r>
            <a:endParaRPr lang="zh-CN" altLang="en-US" sz="2200" b="1" dirty="0">
              <a:ea typeface="宋体" panose="02010600030101010101" pitchFamily="2" charset="-122"/>
            </a:endParaRPr>
          </a:p>
        </p:txBody>
      </p: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关于临时变量公共子表达式的优化</a:t>
            </a:r>
            <a:endParaRPr lang="zh-CN" altLang="en-US" dirty="0">
              <a:latin typeface="宋体" panose="02010600030101010101" pitchFamily="2" charset="-122"/>
              <a:ea typeface="宋体" panose="02010600030101010101" pitchFamily="2" charset="-122"/>
            </a:endParaRPr>
          </a:p>
        </p:txBody>
      </p:sp>
      <p:graphicFrame>
        <p:nvGraphicFramePr>
          <p:cNvPr id="256003" name="Object 6"/>
          <p:cNvGraphicFramePr>
            <a:graphicFrameLocks noChangeAspect="1"/>
          </p:cNvGraphicFramePr>
          <p:nvPr/>
        </p:nvGraphicFramePr>
        <p:xfrm>
          <a:off x="1066800" y="2209800"/>
          <a:ext cx="7180263" cy="2965450"/>
        </p:xfrm>
        <a:graphic>
          <a:graphicData uri="http://schemas.openxmlformats.org/presentationml/2006/ole">
            <mc:AlternateContent xmlns:mc="http://schemas.openxmlformats.org/markup-compatibility/2006">
              <mc:Choice xmlns:v="urn:schemas-microsoft-com:vml" Requires="v">
                <p:oleObj spid="_x0000_s3083" name="" r:id="rId1" imgW="5826760" imgH="2402840" progId="Visio.Drawing.4">
                  <p:embed/>
                </p:oleObj>
              </mc:Choice>
              <mc:Fallback>
                <p:oleObj name="" r:id="rId1" imgW="5826760" imgH="2402840" progId="Visio.Drawing.4">
                  <p:embed/>
                  <p:pic>
                    <p:nvPicPr>
                      <p:cNvPr id="0" name="图片 3082"/>
                      <p:cNvPicPr/>
                      <p:nvPr/>
                    </p:nvPicPr>
                    <p:blipFill>
                      <a:blip r:embed="rId2"/>
                      <a:stretch>
                        <a:fillRect/>
                      </a:stretch>
                    </p:blipFill>
                    <p:spPr>
                      <a:xfrm>
                        <a:off x="1066800" y="2209800"/>
                        <a:ext cx="7180263" cy="2965450"/>
                      </a:xfrm>
                      <a:prstGeom prst="rect">
                        <a:avLst/>
                      </a:prstGeom>
                      <a:noFill/>
                      <a:ln w="38100">
                        <a:noFill/>
                        <a:miter/>
                      </a:ln>
                    </p:spPr>
                  </p:pic>
                </p:oleObj>
              </mc:Fallback>
            </mc:AlternateContent>
          </a:graphicData>
        </a:graphic>
      </p:graphicFrame>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复写传播</a:t>
            </a:r>
            <a:endParaRPr lang="zh-CN" altLang="en-US" dirty="0">
              <a:latin typeface="宋体" panose="02010600030101010101" pitchFamily="2" charset="-122"/>
              <a:ea typeface="宋体" panose="02010600030101010101" pitchFamily="2" charset="-122"/>
            </a:endParaRPr>
          </a:p>
        </p:txBody>
      </p:sp>
      <p:sp>
        <p:nvSpPr>
          <p:cNvPr id="258051" name="Rectangle 3"/>
          <p:cNvSpPr>
            <a:spLocks noGrp="1"/>
          </p:cNvSpPr>
          <p:nvPr>
            <p:ph idx="1"/>
          </p:nvPr>
        </p:nvSpPr>
        <p:spPr>
          <a:xfrm>
            <a:off x="838200" y="1524000"/>
            <a:ext cx="7696200" cy="4724400"/>
          </a:xfrm>
        </p:spPr>
        <p:txBody>
          <a:bodyPr vert="horz" wrap="square" lIns="92075" tIns="46038" rIns="92075" bIns="46038" anchor="t" anchorCtr="0"/>
          <a:p>
            <a:r>
              <a:rPr lang="zh-CN" altLang="en-US" sz="2400" b="1" dirty="0">
                <a:ea typeface="宋体" panose="02010600030101010101" pitchFamily="2" charset="-122"/>
              </a:rPr>
              <a:t>复写形式的赋值语句的删除</a:t>
            </a:r>
            <a:endParaRPr lang="zh-CN" altLang="en-US" sz="2400" b="1" dirty="0">
              <a:ea typeface="宋体" panose="02010600030101010101" pitchFamily="2" charset="-122"/>
            </a:endParaRPr>
          </a:p>
          <a:p>
            <a:pPr lvl="1"/>
            <a:r>
              <a:rPr lang="zh-CN" altLang="en-US" sz="2200" b="1" dirty="0">
                <a:ea typeface="宋体" panose="02010600030101010101" pitchFamily="2" charset="-122"/>
              </a:rPr>
              <a:t>形如</a:t>
            </a:r>
            <a:r>
              <a:rPr lang="en-US" altLang="zh-CN" sz="2200" b="1" dirty="0">
                <a:ea typeface="宋体" panose="02010600030101010101" pitchFamily="2" charset="-122"/>
              </a:rPr>
              <a:t>x := y</a:t>
            </a:r>
            <a:r>
              <a:rPr lang="zh-CN" altLang="en-US" sz="2200" b="1" dirty="0">
                <a:ea typeface="宋体" panose="02010600030101010101" pitchFamily="2" charset="-122"/>
              </a:rPr>
              <a:t>的复写语句</a:t>
            </a:r>
            <a:endParaRPr lang="zh-CN" altLang="en-US" sz="2200" b="1" dirty="0">
              <a:ea typeface="宋体" panose="02010600030101010101" pitchFamily="2" charset="-122"/>
            </a:endParaRPr>
          </a:p>
          <a:p>
            <a:pPr lvl="2"/>
            <a:r>
              <a:rPr lang="zh-CN" altLang="en-US" sz="2000" b="1" dirty="0">
                <a:ea typeface="宋体" panose="02010600030101010101" pitchFamily="2" charset="-122"/>
              </a:rPr>
              <a:t>可能是优化引入的（如前面</a:t>
            </a:r>
            <a:r>
              <a:rPr lang="en-US" altLang="zh-CN" sz="2000" b="1" dirty="0">
                <a:ea typeface="宋体" panose="02010600030101010101" pitchFamily="2" charset="-122"/>
              </a:rPr>
              <a:t>CSE</a:t>
            </a:r>
            <a:r>
              <a:rPr lang="zh-CN" altLang="en-US" sz="2000" b="1" dirty="0">
                <a:ea typeface="宋体" panose="02010600030101010101" pitchFamily="2" charset="-122"/>
              </a:rPr>
              <a:t>算法）</a:t>
            </a:r>
            <a:endParaRPr lang="zh-CN" altLang="en-US" sz="2000" b="1" dirty="0">
              <a:ea typeface="宋体" panose="02010600030101010101" pitchFamily="2" charset="-122"/>
            </a:endParaRPr>
          </a:p>
          <a:p>
            <a:pPr lvl="2"/>
            <a:r>
              <a:rPr lang="zh-CN" altLang="en-US" sz="2000" b="1" dirty="0">
                <a:ea typeface="宋体" panose="02010600030101010101" pitchFamily="2" charset="-122"/>
              </a:rPr>
              <a:t>中间代码生成时产生</a:t>
            </a:r>
            <a:endParaRPr lang="zh-CN" altLang="en-US" sz="2000" b="1" dirty="0">
              <a:ea typeface="宋体" panose="02010600030101010101" pitchFamily="2" charset="-122"/>
            </a:endParaRPr>
          </a:p>
          <a:p>
            <a:pPr lvl="1"/>
            <a:r>
              <a:rPr lang="zh-CN" altLang="en-US" sz="2200" b="1" dirty="0">
                <a:ea typeface="宋体" panose="02010600030101010101" pitchFamily="2" charset="-122"/>
              </a:rPr>
              <a:t>优化：可以考虑在这个语句(</a:t>
            </a:r>
            <a:r>
              <a:rPr lang="en-US" altLang="zh-CN" sz="2200" b="1" dirty="0">
                <a:ea typeface="宋体" panose="02010600030101010101" pitchFamily="2" charset="-122"/>
              </a:rPr>
              <a:t>s)</a:t>
            </a:r>
            <a:r>
              <a:rPr lang="zh-CN" altLang="en-US" sz="2200" b="1" dirty="0">
                <a:ea typeface="宋体" panose="02010600030101010101" pitchFamily="2" charset="-122"/>
              </a:rPr>
              <a:t>中</a:t>
            </a:r>
            <a:r>
              <a:rPr lang="en-US" altLang="zh-CN" sz="2200" b="1" dirty="0">
                <a:ea typeface="宋体" panose="02010600030101010101" pitchFamily="2" charset="-122"/>
              </a:rPr>
              <a:t>x</a:t>
            </a:r>
            <a:r>
              <a:rPr lang="zh-CN" altLang="en-US" sz="2200" b="1" dirty="0">
                <a:ea typeface="宋体" panose="02010600030101010101" pitchFamily="2" charset="-122"/>
              </a:rPr>
              <a:t>定值的所有引用点用</a:t>
            </a:r>
            <a:r>
              <a:rPr lang="en-US" altLang="zh-CN" sz="2200" b="1" dirty="0">
                <a:ea typeface="宋体" panose="02010600030101010101" pitchFamily="2" charset="-122"/>
              </a:rPr>
              <a:t>y</a:t>
            </a:r>
            <a:r>
              <a:rPr lang="zh-CN" altLang="en-US" sz="2200" b="1" dirty="0">
                <a:ea typeface="宋体" panose="02010600030101010101" pitchFamily="2" charset="-122"/>
              </a:rPr>
              <a:t>代替，从而可以删除这个复写语句，但是每个</a:t>
            </a:r>
            <a:r>
              <a:rPr lang="en-US" altLang="zh-CN" sz="2200" b="1" dirty="0">
                <a:ea typeface="宋体" panose="02010600030101010101" pitchFamily="2" charset="-122"/>
              </a:rPr>
              <a:t>x</a:t>
            </a:r>
            <a:r>
              <a:rPr lang="zh-CN" altLang="en-US" sz="2200" b="1" dirty="0">
                <a:ea typeface="宋体" panose="02010600030101010101" pitchFamily="2" charset="-122"/>
              </a:rPr>
              <a:t>的引用</a:t>
            </a:r>
            <a:r>
              <a:rPr lang="en-US" altLang="zh-CN" sz="2200" b="1" dirty="0">
                <a:ea typeface="宋体" panose="02010600030101010101" pitchFamily="2" charset="-122"/>
              </a:rPr>
              <a:t>u</a:t>
            </a:r>
            <a:r>
              <a:rPr lang="zh-CN" altLang="en-US" sz="2200" b="1" dirty="0">
                <a:ea typeface="宋体" panose="02010600030101010101" pitchFamily="2" charset="-122"/>
              </a:rPr>
              <a:t>必须满足：</a:t>
            </a:r>
            <a:endParaRPr lang="zh-CN" altLang="en-US" sz="2200" b="1" dirty="0">
              <a:ea typeface="宋体" panose="02010600030101010101" pitchFamily="2" charset="-122"/>
            </a:endParaRPr>
          </a:p>
          <a:p>
            <a:pPr lvl="2"/>
            <a:r>
              <a:rPr lang="zh-CN" altLang="en-US" sz="2000" b="1" dirty="0">
                <a:ea typeface="宋体" panose="02010600030101010101" pitchFamily="2" charset="-122"/>
              </a:rPr>
              <a:t>语句</a:t>
            </a:r>
            <a:r>
              <a:rPr lang="en-US" altLang="zh-CN" sz="2000" b="1" dirty="0">
                <a:ea typeface="宋体" panose="02010600030101010101" pitchFamily="2" charset="-122"/>
              </a:rPr>
              <a:t>s</a:t>
            </a:r>
            <a:r>
              <a:rPr lang="zh-CN" altLang="en-US" sz="2000" b="1" dirty="0">
                <a:ea typeface="宋体" panose="02010600030101010101" pitchFamily="2" charset="-122"/>
              </a:rPr>
              <a:t>是到达</a:t>
            </a:r>
            <a:r>
              <a:rPr lang="en-US" altLang="zh-CN" sz="2000" b="1" dirty="0">
                <a:ea typeface="宋体" panose="02010600030101010101" pitchFamily="2" charset="-122"/>
              </a:rPr>
              <a:t>u</a:t>
            </a:r>
            <a:r>
              <a:rPr lang="zh-CN" altLang="en-US" sz="2000" b="1" dirty="0">
                <a:ea typeface="宋体" panose="02010600030101010101" pitchFamily="2" charset="-122"/>
              </a:rPr>
              <a:t>的唯一的</a:t>
            </a:r>
            <a:r>
              <a:rPr lang="en-US" altLang="zh-CN" sz="2000" b="1" dirty="0">
                <a:ea typeface="宋体" panose="02010600030101010101" pitchFamily="2" charset="-122"/>
              </a:rPr>
              <a:t>x</a:t>
            </a:r>
            <a:r>
              <a:rPr lang="zh-CN" altLang="en-US" sz="2000" b="1" dirty="0">
                <a:ea typeface="宋体" panose="02010600030101010101" pitchFamily="2" charset="-122"/>
              </a:rPr>
              <a:t>定值（即引用</a:t>
            </a:r>
            <a:r>
              <a:rPr lang="en-US" altLang="zh-CN" sz="2000" b="1" dirty="0">
                <a:ea typeface="宋体" panose="02010600030101010101" pitchFamily="2" charset="-122"/>
              </a:rPr>
              <a:t>u</a:t>
            </a:r>
            <a:r>
              <a:rPr lang="zh-CN" altLang="en-US" sz="2000" b="1" dirty="0">
                <a:ea typeface="宋体" panose="02010600030101010101" pitchFamily="2" charset="-122"/>
              </a:rPr>
              <a:t>的</a:t>
            </a:r>
            <a:r>
              <a:rPr lang="en-US" altLang="zh-CN" sz="2000" b="1" dirty="0">
                <a:ea typeface="宋体" panose="02010600030101010101" pitchFamily="2" charset="-122"/>
              </a:rPr>
              <a:t>ud</a:t>
            </a:r>
            <a:r>
              <a:rPr lang="zh-CN" altLang="en-US" sz="2000" b="1" dirty="0">
                <a:ea typeface="宋体" panose="02010600030101010101" pitchFamily="2" charset="-122"/>
              </a:rPr>
              <a:t>链只含</a:t>
            </a:r>
            <a:r>
              <a:rPr lang="en-US" altLang="zh-CN" sz="2000" b="1" dirty="0">
                <a:ea typeface="宋体" panose="02010600030101010101" pitchFamily="2" charset="-122"/>
              </a:rPr>
              <a:t>s）；</a:t>
            </a:r>
            <a:endParaRPr lang="en-US" altLang="zh-CN" sz="2000" b="1" dirty="0">
              <a:ea typeface="宋体" panose="02010600030101010101" pitchFamily="2" charset="-122"/>
            </a:endParaRPr>
          </a:p>
          <a:p>
            <a:pPr lvl="2"/>
            <a:r>
              <a:rPr lang="zh-CN" altLang="en-US" sz="2000" b="1" dirty="0">
                <a:ea typeface="宋体" panose="02010600030101010101" pitchFamily="2" charset="-122"/>
              </a:rPr>
              <a:t>从</a:t>
            </a:r>
            <a:r>
              <a:rPr lang="en-US" altLang="zh-CN" sz="2000" b="1" dirty="0">
                <a:ea typeface="宋体" panose="02010600030101010101" pitchFamily="2" charset="-122"/>
              </a:rPr>
              <a:t>s</a:t>
            </a:r>
            <a:r>
              <a:rPr lang="zh-CN" altLang="en-US" sz="2000" b="1" dirty="0">
                <a:ea typeface="宋体" panose="02010600030101010101" pitchFamily="2" charset="-122"/>
              </a:rPr>
              <a:t>到</a:t>
            </a:r>
            <a:r>
              <a:rPr lang="en-US" altLang="zh-CN" sz="2000" b="1" dirty="0">
                <a:ea typeface="宋体" panose="02010600030101010101" pitchFamily="2" charset="-122"/>
              </a:rPr>
              <a:t>u</a:t>
            </a:r>
            <a:r>
              <a:rPr lang="zh-CN" altLang="en-US" sz="2000" b="1" dirty="0">
                <a:ea typeface="宋体" panose="02010600030101010101" pitchFamily="2" charset="-122"/>
              </a:rPr>
              <a:t>的每条路径，包括穿过</a:t>
            </a:r>
            <a:r>
              <a:rPr lang="en-US" altLang="zh-CN" sz="2000" b="1" dirty="0">
                <a:ea typeface="宋体" panose="02010600030101010101" pitchFamily="2" charset="-122"/>
              </a:rPr>
              <a:t>u</a:t>
            </a:r>
            <a:r>
              <a:rPr lang="zh-CN" altLang="en-US" sz="2000" b="1" dirty="0">
                <a:ea typeface="宋体" panose="02010600030101010101" pitchFamily="2" charset="-122"/>
              </a:rPr>
              <a:t>若干次（但没有第二次穿过</a:t>
            </a:r>
            <a:r>
              <a:rPr lang="en-US" altLang="zh-CN" sz="2000" b="1" dirty="0">
                <a:ea typeface="宋体" panose="02010600030101010101" pitchFamily="2" charset="-122"/>
              </a:rPr>
              <a:t>s</a:t>
            </a:r>
            <a:r>
              <a:rPr lang="zh-CN" altLang="en-US" sz="2000" b="1" dirty="0">
                <a:ea typeface="宋体" panose="02010600030101010101" pitchFamily="2" charset="-122"/>
              </a:rPr>
              <a:t>）的路径上，没有对</a:t>
            </a:r>
            <a:r>
              <a:rPr lang="en-US" altLang="zh-CN" sz="2000" b="1" dirty="0">
                <a:ea typeface="宋体" panose="02010600030101010101" pitchFamily="2" charset="-122"/>
              </a:rPr>
              <a:t>y</a:t>
            </a:r>
            <a:r>
              <a:rPr lang="zh-CN" altLang="en-US" sz="2000" b="1" dirty="0">
                <a:ea typeface="宋体" panose="02010600030101010101" pitchFamily="2" charset="-122"/>
              </a:rPr>
              <a:t>的赋值，这也是一个数据流问题</a:t>
            </a:r>
            <a:endParaRPr lang="zh-CN" altLang="en-US" sz="2000" b="1" dirty="0">
              <a:ea typeface="宋体" panose="02010600030101010101" pitchFamily="2" charset="-122"/>
            </a:endParaRPr>
          </a:p>
        </p:txBody>
      </p: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复写传播的数据流方程（1）</a:t>
            </a:r>
            <a:endParaRPr lang="zh-CN" altLang="en-US" dirty="0">
              <a:latin typeface="宋体" panose="02010600030101010101" pitchFamily="2" charset="-122"/>
              <a:ea typeface="宋体" panose="02010600030101010101" pitchFamily="2" charset="-122"/>
            </a:endParaRPr>
          </a:p>
        </p:txBody>
      </p:sp>
      <p:sp>
        <p:nvSpPr>
          <p:cNvPr id="260099" name="Rectangle 3"/>
          <p:cNvSpPr>
            <a:spLocks noGrp="1"/>
          </p:cNvSpPr>
          <p:nvPr>
            <p:ph idx="1"/>
          </p:nvPr>
        </p:nvSpPr>
        <p:spPr>
          <a:xfrm>
            <a:off x="755650" y="1524000"/>
            <a:ext cx="7626350" cy="4724400"/>
          </a:xfrm>
        </p:spPr>
        <p:txBody>
          <a:bodyPr vert="horz" wrap="square" lIns="92075" tIns="46038" rIns="92075" bIns="46038" anchor="t" anchorCtr="0"/>
          <a:p>
            <a:r>
              <a:rPr lang="zh-CN" altLang="en-US" sz="2400" b="1" dirty="0">
                <a:ea typeface="宋体" panose="02010600030101010101" pitchFamily="2" charset="-122"/>
              </a:rPr>
              <a:t>几个集合的定义</a:t>
            </a:r>
            <a:endParaRPr lang="zh-CN" altLang="en-US" sz="2400" b="1" dirty="0">
              <a:ea typeface="宋体" panose="02010600030101010101" pitchFamily="2" charset="-122"/>
            </a:endParaRPr>
          </a:p>
          <a:p>
            <a:pPr lvl="1"/>
            <a:r>
              <a:rPr lang="en-US" altLang="zh-CN" sz="2200" b="1" dirty="0">
                <a:ea typeface="宋体" panose="02010600030101010101" pitchFamily="2" charset="-122"/>
              </a:rPr>
              <a:t>in[B]：</a:t>
            </a:r>
            <a:r>
              <a:rPr lang="zh-CN" altLang="en-US" sz="2200" b="1" dirty="0">
                <a:ea typeface="宋体" panose="02010600030101010101" pitchFamily="2" charset="-122"/>
              </a:rPr>
              <a:t>是复写语句</a:t>
            </a:r>
            <a:r>
              <a:rPr lang="en-US" altLang="zh-CN" sz="2200" b="1" dirty="0">
                <a:ea typeface="宋体" panose="02010600030101010101" pitchFamily="2" charset="-122"/>
              </a:rPr>
              <a:t>s: x := y</a:t>
            </a:r>
            <a:r>
              <a:rPr lang="zh-CN" altLang="en-US" sz="2200" b="1" dirty="0">
                <a:ea typeface="宋体" panose="02010600030101010101" pitchFamily="2" charset="-122"/>
              </a:rPr>
              <a:t>的集合，即从初始结点到块</a:t>
            </a:r>
            <a:r>
              <a:rPr lang="en-US" altLang="zh-CN" sz="2200" b="1" dirty="0">
                <a:ea typeface="宋体" panose="02010600030101010101" pitchFamily="2" charset="-122"/>
              </a:rPr>
              <a:t>B</a:t>
            </a:r>
            <a:r>
              <a:rPr lang="zh-CN" altLang="en-US" sz="2200" b="1" dirty="0">
                <a:ea typeface="宋体" panose="02010600030101010101" pitchFamily="2" charset="-122"/>
              </a:rPr>
              <a:t>的开始点的每条路径上都有语句</a:t>
            </a:r>
            <a:r>
              <a:rPr lang="en-US" altLang="zh-CN" sz="2200" b="1" dirty="0">
                <a:ea typeface="宋体" panose="02010600030101010101" pitchFamily="2" charset="-122"/>
              </a:rPr>
              <a:t>s，</a:t>
            </a:r>
            <a:r>
              <a:rPr lang="zh-CN" altLang="en-US" sz="2200" b="1" dirty="0">
                <a:ea typeface="宋体" panose="02010600030101010101" pitchFamily="2" charset="-122"/>
              </a:rPr>
              <a:t>且最后出现的</a:t>
            </a:r>
            <a:r>
              <a:rPr lang="en-US" altLang="zh-CN" sz="2200" b="1" dirty="0">
                <a:ea typeface="宋体" panose="02010600030101010101" pitchFamily="2" charset="-122"/>
              </a:rPr>
              <a:t>s</a:t>
            </a:r>
            <a:r>
              <a:rPr lang="zh-CN" altLang="en-US" sz="2200" b="1" dirty="0">
                <a:ea typeface="宋体" panose="02010600030101010101" pitchFamily="2" charset="-122"/>
              </a:rPr>
              <a:t>后面没有对</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的赋值，在这个集合中只可能含有一个</a:t>
            </a:r>
            <a:r>
              <a:rPr lang="en-US" altLang="zh-CN" sz="2200" b="1" dirty="0">
                <a:ea typeface="宋体" panose="02010600030101010101" pitchFamily="2" charset="-122"/>
              </a:rPr>
              <a:t>x</a:t>
            </a:r>
            <a:r>
              <a:rPr lang="zh-CN" altLang="en-US" sz="2200" b="1" dirty="0">
                <a:ea typeface="宋体" panose="02010600030101010101" pitchFamily="2" charset="-122"/>
              </a:rPr>
              <a:t>在左边的复写语句（因为对</a:t>
            </a:r>
            <a:r>
              <a:rPr lang="en-US" altLang="zh-CN" sz="2200" b="1" dirty="0">
                <a:ea typeface="宋体" panose="02010600030101010101" pitchFamily="2" charset="-122"/>
              </a:rPr>
              <a:t>x</a:t>
            </a:r>
            <a:r>
              <a:rPr lang="zh-CN" altLang="en-US" sz="2200" b="1" dirty="0">
                <a:ea typeface="宋体" panose="02010600030101010101" pitchFamily="2" charset="-122"/>
              </a:rPr>
              <a:t>的重新赋值也会改变复写语句的影响范围）</a:t>
            </a:r>
            <a:endParaRPr lang="zh-CN" altLang="en-US" sz="2200" b="1" dirty="0">
              <a:ea typeface="宋体" panose="02010600030101010101" pitchFamily="2" charset="-122"/>
            </a:endParaRPr>
          </a:p>
          <a:p>
            <a:pPr lvl="1"/>
            <a:r>
              <a:rPr lang="en-US" altLang="zh-CN" sz="2200" b="1" dirty="0">
                <a:ea typeface="宋体" panose="02010600030101010101" pitchFamily="2" charset="-122"/>
              </a:rPr>
              <a:t>out[B]：</a:t>
            </a:r>
            <a:r>
              <a:rPr lang="zh-CN" altLang="en-US" sz="2200" b="1" dirty="0">
                <a:ea typeface="宋体" panose="02010600030101010101" pitchFamily="2" charset="-122"/>
              </a:rPr>
              <a:t>类似于</a:t>
            </a:r>
            <a:r>
              <a:rPr lang="en-US" altLang="zh-CN" sz="2200" b="1" dirty="0">
                <a:ea typeface="宋体" panose="02010600030101010101" pitchFamily="2" charset="-122"/>
              </a:rPr>
              <a:t>in[B]，</a:t>
            </a:r>
            <a:r>
              <a:rPr lang="zh-CN" altLang="en-US" sz="2200" b="1" dirty="0">
                <a:ea typeface="宋体" panose="02010600030101010101" pitchFamily="2" charset="-122"/>
              </a:rPr>
              <a:t>只是定义在块</a:t>
            </a:r>
            <a:r>
              <a:rPr lang="en-US" altLang="zh-CN" sz="2200" b="1" dirty="0">
                <a:ea typeface="宋体" panose="02010600030101010101" pitchFamily="2" charset="-122"/>
              </a:rPr>
              <a:t>B</a:t>
            </a:r>
            <a:r>
              <a:rPr lang="zh-CN" altLang="en-US" sz="2200" b="1" dirty="0">
                <a:ea typeface="宋体" panose="02010600030101010101" pitchFamily="2" charset="-122"/>
              </a:rPr>
              <a:t>的结束点</a:t>
            </a:r>
            <a:endParaRPr lang="zh-CN" altLang="en-US" sz="2200" b="1" dirty="0">
              <a:ea typeface="宋体" panose="02010600030101010101" pitchFamily="2" charset="-122"/>
            </a:endParaRPr>
          </a:p>
          <a:p>
            <a:pPr lvl="1"/>
            <a:r>
              <a:rPr lang="en-US" altLang="zh-CN" sz="2200" b="1" dirty="0">
                <a:ea typeface="宋体" panose="02010600030101010101" pitchFamily="2" charset="-122"/>
              </a:rPr>
              <a:t>c_gen[B]：</a:t>
            </a:r>
            <a:r>
              <a:rPr lang="zh-CN" altLang="en-US" sz="2200" b="1" dirty="0">
                <a:ea typeface="宋体" panose="02010600030101010101" pitchFamily="2" charset="-122"/>
              </a:rPr>
              <a:t>如果复写语句</a:t>
            </a:r>
            <a:r>
              <a:rPr lang="en-US" altLang="zh-CN" sz="2200" b="1" dirty="0">
                <a:ea typeface="宋体" panose="02010600030101010101" pitchFamily="2" charset="-122"/>
              </a:rPr>
              <a:t>s: x := y</a:t>
            </a:r>
            <a:r>
              <a:rPr lang="zh-CN" altLang="en-US" sz="2200" b="1" dirty="0">
                <a:ea typeface="宋体" panose="02010600030101010101" pitchFamily="2" charset="-122"/>
              </a:rPr>
              <a:t>出现在块</a:t>
            </a:r>
            <a:r>
              <a:rPr lang="en-US" altLang="zh-CN" sz="2200" b="1" dirty="0">
                <a:ea typeface="宋体" panose="02010600030101010101" pitchFamily="2" charset="-122"/>
              </a:rPr>
              <a:t>B</a:t>
            </a:r>
            <a:r>
              <a:rPr lang="zh-CN" altLang="en-US" sz="2200" b="1" dirty="0">
                <a:ea typeface="宋体" panose="02010600030101010101" pitchFamily="2" charset="-122"/>
              </a:rPr>
              <a:t>中，且块</a:t>
            </a:r>
            <a:r>
              <a:rPr lang="en-US" altLang="zh-CN" sz="2200" b="1" dirty="0">
                <a:ea typeface="宋体" panose="02010600030101010101" pitchFamily="2" charset="-122"/>
              </a:rPr>
              <a:t>B</a:t>
            </a:r>
            <a:r>
              <a:rPr lang="zh-CN" altLang="en-US" sz="2200" b="1" dirty="0">
                <a:ea typeface="宋体" panose="02010600030101010101" pitchFamily="2" charset="-122"/>
              </a:rPr>
              <a:t>中后面没有对</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的赋值，则称</a:t>
            </a:r>
            <a:r>
              <a:rPr lang="en-US" altLang="zh-CN" sz="2200" b="1" dirty="0">
                <a:ea typeface="宋体" panose="02010600030101010101" pitchFamily="2" charset="-122"/>
              </a:rPr>
              <a:t>s</a:t>
            </a:r>
            <a:r>
              <a:rPr lang="zh-CN" altLang="en-US" sz="2200" b="1" dirty="0">
                <a:ea typeface="宋体" panose="02010600030101010101" pitchFamily="2" charset="-122"/>
              </a:rPr>
              <a:t>在块</a:t>
            </a:r>
            <a:r>
              <a:rPr lang="en-US" altLang="zh-CN" sz="2200" b="1" dirty="0">
                <a:ea typeface="宋体" panose="02010600030101010101" pitchFamily="2" charset="-122"/>
              </a:rPr>
              <a:t>B</a:t>
            </a:r>
            <a:r>
              <a:rPr lang="zh-CN" altLang="en-US" sz="2200" b="1" dirty="0">
                <a:ea typeface="宋体" panose="02010600030101010101" pitchFamily="2" charset="-122"/>
              </a:rPr>
              <a:t>中生成</a:t>
            </a:r>
            <a:endParaRPr lang="zh-CN" altLang="en-US" sz="2200" b="1" dirty="0">
              <a:ea typeface="宋体" panose="02010600030101010101" pitchFamily="2" charset="-122"/>
            </a:endParaRPr>
          </a:p>
          <a:p>
            <a:pPr lvl="1"/>
            <a:r>
              <a:rPr lang="en-US" altLang="zh-CN" sz="2200" b="1" dirty="0">
                <a:ea typeface="宋体" panose="02010600030101010101" pitchFamily="2" charset="-122"/>
              </a:rPr>
              <a:t>c_kill[B]：</a:t>
            </a:r>
            <a:r>
              <a:rPr lang="zh-CN" altLang="en-US" sz="2200" b="1" dirty="0">
                <a:ea typeface="宋体" panose="02010600030101010101" pitchFamily="2" charset="-122"/>
              </a:rPr>
              <a:t>如果</a:t>
            </a:r>
            <a:r>
              <a:rPr lang="en-US" altLang="zh-CN" sz="2200" b="1" dirty="0">
                <a:ea typeface="宋体" panose="02010600030101010101" pitchFamily="2" charset="-122"/>
              </a:rPr>
              <a:t>x</a:t>
            </a:r>
            <a:r>
              <a:rPr lang="zh-CN" altLang="en-US" sz="2200" b="1" dirty="0">
                <a:ea typeface="宋体" panose="02010600030101010101" pitchFamily="2" charset="-122"/>
              </a:rPr>
              <a:t>或</a:t>
            </a:r>
            <a:r>
              <a:rPr lang="en-US" altLang="zh-CN" sz="2200" b="1" dirty="0">
                <a:ea typeface="宋体" panose="02010600030101010101" pitchFamily="2" charset="-122"/>
              </a:rPr>
              <a:t>y</a:t>
            </a:r>
            <a:r>
              <a:rPr lang="zh-CN" altLang="en-US" sz="2200" b="1" dirty="0">
                <a:ea typeface="宋体" panose="02010600030101010101" pitchFamily="2" charset="-122"/>
              </a:rPr>
              <a:t>在</a:t>
            </a:r>
            <a:r>
              <a:rPr lang="en-US" altLang="zh-CN" sz="2200" b="1" dirty="0">
                <a:ea typeface="宋体" panose="02010600030101010101" pitchFamily="2" charset="-122"/>
              </a:rPr>
              <a:t>B</a:t>
            </a:r>
            <a:r>
              <a:rPr lang="zh-CN" altLang="en-US" sz="2200" b="1" dirty="0">
                <a:ea typeface="宋体" panose="02010600030101010101" pitchFamily="2" charset="-122"/>
              </a:rPr>
              <a:t>中赋值，且</a:t>
            </a:r>
            <a:r>
              <a:rPr lang="en-US" altLang="zh-CN" sz="2200" b="1" dirty="0">
                <a:ea typeface="宋体" panose="02010600030101010101" pitchFamily="2" charset="-122"/>
              </a:rPr>
              <a:t>s</a:t>
            </a:r>
            <a:r>
              <a:rPr lang="zh-CN" altLang="en-US" sz="2200" b="1" dirty="0">
                <a:ea typeface="宋体" panose="02010600030101010101" pitchFamily="2" charset="-122"/>
              </a:rPr>
              <a:t>不在块</a:t>
            </a:r>
            <a:r>
              <a:rPr lang="en-US" altLang="zh-CN" sz="2200" b="1" dirty="0">
                <a:ea typeface="宋体" panose="02010600030101010101" pitchFamily="2" charset="-122"/>
              </a:rPr>
              <a:t>B</a:t>
            </a:r>
            <a:r>
              <a:rPr lang="zh-CN" altLang="en-US" sz="2200" b="1" dirty="0">
                <a:ea typeface="宋体" panose="02010600030101010101" pitchFamily="2" charset="-122"/>
              </a:rPr>
              <a:t>中，则称</a:t>
            </a:r>
            <a:r>
              <a:rPr lang="en-US" altLang="zh-CN" sz="2200" b="1" dirty="0">
                <a:ea typeface="宋体" panose="02010600030101010101" pitchFamily="2" charset="-122"/>
              </a:rPr>
              <a:t>s: x := y</a:t>
            </a:r>
            <a:r>
              <a:rPr lang="zh-CN" altLang="en-US" sz="2200" b="1" dirty="0">
                <a:ea typeface="宋体" panose="02010600030101010101" pitchFamily="2" charset="-122"/>
              </a:rPr>
              <a:t>在块</a:t>
            </a:r>
            <a:r>
              <a:rPr lang="en-US" altLang="zh-CN" sz="2200" b="1" dirty="0">
                <a:ea typeface="宋体" panose="02010600030101010101" pitchFamily="2" charset="-122"/>
              </a:rPr>
              <a:t>B</a:t>
            </a:r>
            <a:r>
              <a:rPr lang="zh-CN" altLang="en-US" sz="2200" b="1" dirty="0">
                <a:ea typeface="宋体" panose="02010600030101010101" pitchFamily="2" charset="-122"/>
              </a:rPr>
              <a:t>中注销</a:t>
            </a:r>
            <a:endParaRPr lang="zh-CN" altLang="en-US" sz="2200" b="1" dirty="0">
              <a:ea typeface="宋体" panose="02010600030101010101" pitchFamily="2" charset="-122"/>
            </a:endParaRPr>
          </a:p>
        </p:txBody>
      </p: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复写传播的数据流方程（2）</a:t>
            </a:r>
            <a:endParaRPr lang="zh-CN" altLang="en-US" dirty="0">
              <a:latin typeface="宋体" panose="02010600030101010101" pitchFamily="2" charset="-122"/>
              <a:ea typeface="宋体" panose="02010600030101010101" pitchFamily="2" charset="-122"/>
            </a:endParaRPr>
          </a:p>
        </p:txBody>
      </p:sp>
      <p:sp>
        <p:nvSpPr>
          <p:cNvPr id="26214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方程定义：</a:t>
            </a:r>
            <a:endParaRPr lang="zh-CN" altLang="en-US" sz="24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r>
              <a:rPr lang="zh-CN" altLang="en-US" sz="2200" b="1" dirty="0">
                <a:ea typeface="宋体" panose="02010600030101010101" pitchFamily="2" charset="-122"/>
              </a:rPr>
              <a:t>这个方程与求可用表达式的方程很类似（只是结合</a:t>
            </a:r>
            <a:r>
              <a:rPr lang="en-US" altLang="zh-CN" sz="2200" b="1" dirty="0">
                <a:ea typeface="宋体" panose="02010600030101010101" pitchFamily="2" charset="-122"/>
              </a:rPr>
              <a:t>c_gen</a:t>
            </a:r>
            <a:r>
              <a:rPr lang="zh-CN" altLang="en-US" sz="2200" b="1" dirty="0">
                <a:ea typeface="宋体" panose="02010600030101010101" pitchFamily="2" charset="-122"/>
              </a:rPr>
              <a:t>和</a:t>
            </a:r>
            <a:r>
              <a:rPr lang="en-US" altLang="zh-CN" sz="2200" b="1" dirty="0">
                <a:ea typeface="宋体" panose="02010600030101010101" pitchFamily="2" charset="-122"/>
              </a:rPr>
              <a:t>c_kill</a:t>
            </a:r>
            <a:r>
              <a:rPr lang="zh-CN" altLang="en-US" sz="2200" b="1" dirty="0">
                <a:ea typeface="宋体" panose="02010600030101010101" pitchFamily="2" charset="-122"/>
              </a:rPr>
              <a:t>定义的不同），所以方程求解的算法也与可用表达式的一样</a:t>
            </a:r>
            <a:endParaRPr lang="zh-CN" altLang="en-US" sz="2200" b="1" dirty="0">
              <a:ea typeface="宋体" panose="02010600030101010101" pitchFamily="2" charset="-122"/>
            </a:endParaRPr>
          </a:p>
        </p:txBody>
      </p:sp>
      <p:graphicFrame>
        <p:nvGraphicFramePr>
          <p:cNvPr id="262148" name="Object 4"/>
          <p:cNvGraphicFramePr>
            <a:graphicFrameLocks noChangeAspect="1"/>
          </p:cNvGraphicFramePr>
          <p:nvPr/>
        </p:nvGraphicFramePr>
        <p:xfrm>
          <a:off x="1779588" y="2057400"/>
          <a:ext cx="5203825" cy="1679575"/>
        </p:xfrm>
        <a:graphic>
          <a:graphicData uri="http://schemas.openxmlformats.org/presentationml/2006/ole">
            <mc:AlternateContent xmlns:mc="http://schemas.openxmlformats.org/markup-compatibility/2006">
              <mc:Choice xmlns:v="urn:schemas-microsoft-com:vml" Requires="v">
                <p:oleObj spid="_x0000_s3082" name="" r:id="rId1" imgW="2476500" imgH="800100" progId="Equation.3">
                  <p:embed/>
                </p:oleObj>
              </mc:Choice>
              <mc:Fallback>
                <p:oleObj name="" r:id="rId1" imgW="2476500" imgH="800100" progId="Equation.3">
                  <p:embed/>
                  <p:pic>
                    <p:nvPicPr>
                      <p:cNvPr id="0" name="图片 3081"/>
                      <p:cNvPicPr/>
                      <p:nvPr/>
                    </p:nvPicPr>
                    <p:blipFill>
                      <a:blip r:embed="rId2"/>
                      <a:stretch>
                        <a:fillRect/>
                      </a:stretch>
                    </p:blipFill>
                    <p:spPr>
                      <a:xfrm>
                        <a:off x="1779588" y="2057400"/>
                        <a:ext cx="5203825" cy="1679575"/>
                      </a:xfrm>
                      <a:prstGeom prst="rect">
                        <a:avLst/>
                      </a:prstGeom>
                      <a:noFill/>
                      <a:ln w="38100">
                        <a:noFill/>
                        <a:miter/>
                      </a:ln>
                    </p:spPr>
                  </p:pic>
                </p:oleObj>
              </mc:Fallback>
            </mc:AlternateContent>
          </a:graphicData>
        </a:graphic>
      </p:graphicFrame>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复写传播的例子</a:t>
            </a:r>
            <a:endParaRPr lang="zh-CN" altLang="en-US" dirty="0">
              <a:latin typeface="宋体" panose="02010600030101010101" pitchFamily="2" charset="-122"/>
              <a:ea typeface="宋体" panose="02010600030101010101" pitchFamily="2" charset="-122"/>
            </a:endParaRPr>
          </a:p>
        </p:txBody>
      </p:sp>
      <p:sp>
        <p:nvSpPr>
          <p:cNvPr id="264195" name="Rectangle 3"/>
          <p:cNvSpPr>
            <a:spLocks noGrp="1"/>
          </p:cNvSpPr>
          <p:nvPr>
            <p:ph idx="1"/>
          </p:nvPr>
        </p:nvSpPr>
        <p:spPr>
          <a:xfrm>
            <a:off x="762000" y="1524000"/>
            <a:ext cx="7848600" cy="4724400"/>
          </a:xfrm>
        </p:spPr>
        <p:txBody>
          <a:bodyPr vert="horz" wrap="square" lIns="92075" tIns="46038" rIns="92075" bIns="46038" anchor="t" anchorCtr="0"/>
          <a:p>
            <a:pPr>
              <a:lnSpc>
                <a:spcPct val="90000"/>
              </a:lnSpc>
              <a:buNone/>
            </a:pPr>
            <a:r>
              <a:rPr lang="zh-CN" altLang="en-US" sz="2000" b="1" dirty="0">
                <a:ea typeface="宋体" panose="02010600030101010101" pitchFamily="2" charset="-122"/>
              </a:rPr>
              <a:t>	在下面的流图中，</a:t>
            </a:r>
            <a:r>
              <a:rPr lang="en-US" altLang="zh-CN" sz="2000" b="1" dirty="0">
                <a:ea typeface="宋体" panose="02010600030101010101" pitchFamily="2" charset="-122"/>
              </a:rPr>
              <a:t>c_gen[B1] = { x := y }，c_gen[B3] = { x := z }；c_kill[B2] = { x := y}，c_kill[B1] = { x := z}，c_kill[B3] = { x := y }，</a:t>
            </a:r>
            <a:r>
              <a:rPr lang="zh-CN" altLang="en-US" sz="2000" b="1" dirty="0">
                <a:ea typeface="宋体" panose="02010600030101010101" pitchFamily="2" charset="-122"/>
              </a:rPr>
              <a:t>其它的</a:t>
            </a:r>
            <a:r>
              <a:rPr lang="en-US" altLang="zh-CN" sz="2000" b="1" dirty="0">
                <a:ea typeface="宋体" panose="02010600030101010101" pitchFamily="2" charset="-122"/>
              </a:rPr>
              <a:t>c_gen</a:t>
            </a:r>
            <a:r>
              <a:rPr lang="zh-CN" altLang="en-US" sz="2000" b="1" dirty="0">
                <a:ea typeface="宋体" panose="02010600030101010101" pitchFamily="2" charset="-122"/>
              </a:rPr>
              <a:t>和</a:t>
            </a:r>
            <a:r>
              <a:rPr lang="en-US" altLang="zh-CN" sz="2000" b="1" dirty="0">
                <a:ea typeface="宋体" panose="02010600030101010101" pitchFamily="2" charset="-122"/>
              </a:rPr>
              <a:t>c_kill</a:t>
            </a:r>
            <a:r>
              <a:rPr lang="zh-CN" altLang="en-US" sz="2000" b="1" dirty="0">
                <a:ea typeface="宋体" panose="02010600030101010101" pitchFamily="2" charset="-122"/>
              </a:rPr>
              <a:t>是空集</a:t>
            </a: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	在第一遍扫描后有：</a:t>
            </a:r>
            <a:r>
              <a:rPr lang="en-US" altLang="zh-CN" sz="2000" b="1" dirty="0">
                <a:ea typeface="宋体" panose="02010600030101010101" pitchFamily="2" charset="-122"/>
              </a:rPr>
              <a:t>in[B2] = in[B3] = out[B1] = { x := y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out[B2] = Φ，out[B3] = in[B4] = out[B4] = { x := z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in[B5] = out[B2] ∩out[B4] = Φ</a:t>
            </a:r>
            <a:endParaRPr lang="en-US" altLang="zh-CN" sz="2000" b="1" dirty="0">
              <a:ea typeface="宋体" panose="02010600030101010101" pitchFamily="2" charset="-122"/>
            </a:endParaRPr>
          </a:p>
        </p:txBody>
      </p:sp>
      <p:graphicFrame>
        <p:nvGraphicFramePr>
          <p:cNvPr id="264196" name="Object 4"/>
          <p:cNvGraphicFramePr>
            <a:graphicFrameLocks noChangeAspect="1"/>
          </p:cNvGraphicFramePr>
          <p:nvPr/>
        </p:nvGraphicFramePr>
        <p:xfrm>
          <a:off x="2057400" y="2438400"/>
          <a:ext cx="3962400" cy="2635250"/>
        </p:xfrm>
        <a:graphic>
          <a:graphicData uri="http://schemas.openxmlformats.org/presentationml/2006/ole">
            <mc:AlternateContent xmlns:mc="http://schemas.openxmlformats.org/markup-compatibility/2006">
              <mc:Choice xmlns:v="urn:schemas-microsoft-com:vml" Requires="v">
                <p:oleObj spid="_x0000_s3081" name="" r:id="rId1" imgW="4178300" imgH="3365500" progId="Visio.Drawing.11">
                  <p:embed/>
                </p:oleObj>
              </mc:Choice>
              <mc:Fallback>
                <p:oleObj name="" r:id="rId1" imgW="4178300" imgH="3365500" progId="Visio.Drawing.11">
                  <p:embed/>
                  <p:pic>
                    <p:nvPicPr>
                      <p:cNvPr id="0" name="图片 3080"/>
                      <p:cNvPicPr/>
                      <p:nvPr/>
                    </p:nvPicPr>
                    <p:blipFill>
                      <a:blip r:embed="rId2"/>
                      <a:stretch>
                        <a:fillRect/>
                      </a:stretch>
                    </p:blipFill>
                    <p:spPr>
                      <a:xfrm>
                        <a:off x="2057400" y="2438400"/>
                        <a:ext cx="3962400" cy="2635250"/>
                      </a:xfrm>
                      <a:prstGeom prst="rect">
                        <a:avLst/>
                      </a:prstGeom>
                      <a:noFill/>
                      <a:ln w="38100">
                        <a:noFill/>
                        <a:miter/>
                      </a:ln>
                    </p:spPr>
                  </p:pic>
                </p:oleObj>
              </mc:Fallback>
            </mc:AlternateContent>
          </a:graphicData>
        </a:graphic>
      </p:graphicFrame>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复写传播的算法</a:t>
            </a:r>
            <a:endParaRPr lang="en-US" altLang="zh-CN" dirty="0">
              <a:latin typeface="宋体" panose="02010600030101010101" pitchFamily="2" charset="-122"/>
              <a:ea typeface="宋体" panose="02010600030101010101" pitchFamily="2" charset="-122"/>
            </a:endParaRPr>
          </a:p>
        </p:txBody>
      </p:sp>
      <p:sp>
        <p:nvSpPr>
          <p:cNvPr id="266243" name="Rectangle 5"/>
          <p:cNvSpPr>
            <a:spLocks noGrp="1"/>
          </p:cNvSpPr>
          <p:nvPr>
            <p:ph idx="1"/>
          </p:nvPr>
        </p:nvSpPr>
        <p:spPr>
          <a:xfrm>
            <a:off x="990600" y="1524000"/>
            <a:ext cx="7391400" cy="4648200"/>
          </a:xfrm>
        </p:spPr>
        <p:txBody>
          <a:bodyPr vert="horz" wrap="square" lIns="92075" tIns="46038" rIns="92075" bIns="46038" anchor="t" anchorCtr="0"/>
          <a:p>
            <a:pPr>
              <a:buNone/>
            </a:pPr>
            <a:r>
              <a:rPr lang="zh-CN" altLang="en-US" sz="2000" b="1" dirty="0">
                <a:ea typeface="宋体" panose="02010600030101010101" pitchFamily="2" charset="-122"/>
              </a:rPr>
              <a:t>输入：流图</a:t>
            </a:r>
            <a:r>
              <a:rPr lang="en-US" altLang="zh-CN" sz="2000" b="1" dirty="0">
                <a:ea typeface="宋体" panose="02010600030101010101" pitchFamily="2" charset="-122"/>
              </a:rPr>
              <a:t>G，</a:t>
            </a:r>
            <a:r>
              <a:rPr lang="zh-CN" altLang="en-US" sz="2000" b="1" dirty="0">
                <a:ea typeface="宋体" panose="02010600030101010101" pitchFamily="2" charset="-122"/>
              </a:rPr>
              <a:t>表示出到达块</a:t>
            </a:r>
            <a:r>
              <a:rPr lang="en-US" altLang="zh-CN" sz="2000" b="1" dirty="0">
                <a:ea typeface="宋体" panose="02010600030101010101" pitchFamily="2" charset="-122"/>
              </a:rPr>
              <a:t>B</a:t>
            </a:r>
            <a:r>
              <a:rPr lang="zh-CN" altLang="en-US" sz="2000" b="1" dirty="0">
                <a:ea typeface="宋体" panose="02010600030101010101" pitchFamily="2" charset="-122"/>
              </a:rPr>
              <a:t>的定值的</a:t>
            </a:r>
            <a:r>
              <a:rPr lang="en-US" altLang="zh-CN" sz="2000" b="1" dirty="0">
                <a:ea typeface="宋体" panose="02010600030101010101" pitchFamily="2" charset="-122"/>
              </a:rPr>
              <a:t>ud</a:t>
            </a:r>
            <a:r>
              <a:rPr lang="zh-CN" altLang="en-US" sz="2000" b="1" dirty="0">
                <a:ea typeface="宋体" panose="02010600030101010101" pitchFamily="2" charset="-122"/>
              </a:rPr>
              <a:t>链，代表复写传播数据流方程的解的</a:t>
            </a:r>
            <a:r>
              <a:rPr lang="en-US" altLang="zh-CN" sz="2000" b="1" dirty="0">
                <a:ea typeface="宋体" panose="02010600030101010101" pitchFamily="2" charset="-122"/>
              </a:rPr>
              <a:t>c_in[B]</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输出：修改后的流图</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方法：对每个复写</a:t>
            </a:r>
            <a:r>
              <a:rPr lang="en-US" altLang="zh-CN" sz="2000" b="1" dirty="0">
                <a:ea typeface="宋体" panose="02010600030101010101" pitchFamily="2" charset="-122"/>
              </a:rPr>
              <a:t>s:  x := y</a:t>
            </a:r>
            <a:r>
              <a:rPr lang="zh-CN" altLang="en-US" sz="2000" b="1" dirty="0">
                <a:ea typeface="宋体" panose="02010600030101010101" pitchFamily="2" charset="-122"/>
              </a:rPr>
              <a:t>执行下面的步骤：</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(1)	找出该</a:t>
            </a:r>
            <a:r>
              <a:rPr lang="en-US" altLang="zh-CN" sz="2000" b="1" dirty="0">
                <a:ea typeface="宋体" panose="02010600030101010101" pitchFamily="2" charset="-122"/>
              </a:rPr>
              <a:t>x</a:t>
            </a:r>
            <a:r>
              <a:rPr lang="zh-CN" altLang="en-US" sz="2000" b="1" dirty="0">
                <a:ea typeface="宋体" panose="02010600030101010101" pitchFamily="2" charset="-122"/>
              </a:rPr>
              <a:t>的定值能够到达的那些</a:t>
            </a:r>
            <a:r>
              <a:rPr lang="en-US" altLang="zh-CN" sz="2000" b="1" dirty="0">
                <a:ea typeface="宋体" panose="02010600030101010101" pitchFamily="2" charset="-122"/>
              </a:rPr>
              <a:t>x</a:t>
            </a:r>
            <a:r>
              <a:rPr lang="zh-CN" altLang="en-US" sz="2000" b="1" dirty="0">
                <a:ea typeface="宋体" panose="02010600030101010101" pitchFamily="2" charset="-122"/>
              </a:rPr>
              <a:t>的引用</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(2)	</a:t>
            </a:r>
            <a:r>
              <a:rPr lang="zh-CN" altLang="en-US" sz="2000" b="1" dirty="0">
                <a:ea typeface="宋体" panose="02010600030101010101" pitchFamily="2" charset="-122"/>
              </a:rPr>
              <a:t>对(1)中找到的每个</a:t>
            </a:r>
            <a:r>
              <a:rPr lang="en-US" altLang="zh-CN" sz="2000" b="1" dirty="0">
                <a:ea typeface="宋体" panose="02010600030101010101" pitchFamily="2" charset="-122"/>
              </a:rPr>
              <a:t>x</a:t>
            </a:r>
            <a:r>
              <a:rPr lang="zh-CN" altLang="en-US" sz="2000" b="1" dirty="0">
                <a:ea typeface="宋体" panose="02010600030101010101" pitchFamily="2" charset="-122"/>
              </a:rPr>
              <a:t>引用，确定</a:t>
            </a:r>
            <a:r>
              <a:rPr lang="en-US" altLang="zh-CN" sz="2000" b="1" dirty="0">
                <a:ea typeface="宋体" panose="02010600030101010101" pitchFamily="2" charset="-122"/>
              </a:rPr>
              <a:t>s</a:t>
            </a:r>
            <a:r>
              <a:rPr lang="zh-CN" altLang="en-US" sz="2000" b="1" dirty="0">
                <a:ea typeface="宋体" panose="02010600030101010101" pitchFamily="2" charset="-122"/>
              </a:rPr>
              <a:t>是否在</a:t>
            </a:r>
            <a:r>
              <a:rPr lang="en-US" altLang="zh-CN" sz="2000" b="1" dirty="0">
                <a:ea typeface="宋体" panose="02010600030101010101" pitchFamily="2" charset="-122"/>
              </a:rPr>
              <a:t>c_in[B]</a:t>
            </a:r>
            <a:r>
              <a:rPr lang="zh-CN" altLang="en-US" sz="2000" b="1" dirty="0">
                <a:ea typeface="宋体" panose="02010600030101010101" pitchFamily="2" charset="-122"/>
              </a:rPr>
              <a:t>中（块</a:t>
            </a:r>
            <a:r>
              <a:rPr lang="en-US" altLang="zh-CN" sz="2000" b="1" dirty="0">
                <a:ea typeface="宋体" panose="02010600030101010101" pitchFamily="2" charset="-122"/>
              </a:rPr>
              <a:t>B</a:t>
            </a:r>
            <a:r>
              <a:rPr lang="zh-CN" altLang="en-US" sz="2000" b="1" dirty="0">
                <a:ea typeface="宋体" panose="02010600030101010101" pitchFamily="2" charset="-122"/>
              </a:rPr>
              <a:t>是含这个</a:t>
            </a:r>
            <a:r>
              <a:rPr lang="en-US" altLang="zh-CN" sz="2000" b="1" dirty="0">
                <a:ea typeface="宋体" panose="02010600030101010101" pitchFamily="2" charset="-122"/>
              </a:rPr>
              <a:t>x</a:t>
            </a:r>
            <a:r>
              <a:rPr lang="zh-CN" altLang="en-US" sz="2000" b="1" dirty="0">
                <a:ea typeface="宋体" panose="02010600030101010101" pitchFamily="2" charset="-122"/>
              </a:rPr>
              <a:t>引用的基本块，且块</a:t>
            </a:r>
            <a:r>
              <a:rPr lang="en-US" altLang="zh-CN" sz="2000" b="1" dirty="0">
                <a:ea typeface="宋体" panose="02010600030101010101" pitchFamily="2" charset="-122"/>
              </a:rPr>
              <a:t>B</a:t>
            </a:r>
            <a:r>
              <a:rPr lang="zh-CN" altLang="en-US" sz="2000" b="1" dirty="0">
                <a:ea typeface="宋体" panose="02010600030101010101" pitchFamily="2" charset="-122"/>
              </a:rPr>
              <a:t>中该引用的前面没有</a:t>
            </a:r>
            <a:r>
              <a:rPr lang="en-US" altLang="zh-CN" sz="2000" b="1" dirty="0">
                <a:ea typeface="宋体" panose="02010600030101010101" pitchFamily="2" charset="-122"/>
              </a:rPr>
              <a:t>x</a:t>
            </a:r>
            <a:r>
              <a:rPr lang="zh-CN" altLang="en-US" sz="2000" b="1" dirty="0">
                <a:ea typeface="宋体" panose="02010600030101010101" pitchFamily="2" charset="-122"/>
              </a:rPr>
              <a:t>或</a:t>
            </a:r>
            <a:r>
              <a:rPr lang="en-US" altLang="zh-CN" sz="2000" b="1" dirty="0">
                <a:ea typeface="宋体" panose="02010600030101010101" pitchFamily="2" charset="-122"/>
              </a:rPr>
              <a:t>y</a:t>
            </a:r>
            <a:r>
              <a:rPr lang="zh-CN" altLang="en-US" sz="2000" b="1" dirty="0">
                <a:ea typeface="宋体" panose="02010600030101010101" pitchFamily="2" charset="-122"/>
              </a:rPr>
              <a:t>的定值），如果</a:t>
            </a:r>
            <a:r>
              <a:rPr lang="en-US" altLang="zh-CN" sz="2000" b="1" dirty="0">
                <a:ea typeface="宋体" panose="02010600030101010101" pitchFamily="2" charset="-122"/>
              </a:rPr>
              <a:t>s</a:t>
            </a:r>
            <a:r>
              <a:rPr lang="zh-CN" altLang="en-US" sz="2000" b="1" dirty="0">
                <a:ea typeface="宋体" panose="02010600030101010101" pitchFamily="2" charset="-122"/>
              </a:rPr>
              <a:t>在</a:t>
            </a:r>
            <a:r>
              <a:rPr lang="en-US" altLang="zh-CN" sz="2000" b="1" dirty="0">
                <a:ea typeface="宋体" panose="02010600030101010101" pitchFamily="2" charset="-122"/>
              </a:rPr>
              <a:t>c_in[B]</a:t>
            </a:r>
            <a:r>
              <a:rPr lang="zh-CN" altLang="en-US" sz="2000" b="1" dirty="0">
                <a:ea typeface="宋体" panose="02010600030101010101" pitchFamily="2" charset="-122"/>
              </a:rPr>
              <a:t>中，则</a:t>
            </a:r>
            <a:r>
              <a:rPr lang="en-US" altLang="zh-CN" sz="2000" b="1" dirty="0">
                <a:ea typeface="宋体" panose="02010600030101010101" pitchFamily="2" charset="-122"/>
              </a:rPr>
              <a:t>x</a:t>
            </a:r>
            <a:r>
              <a:rPr lang="zh-CN" altLang="en-US" sz="2000" b="1" dirty="0">
                <a:ea typeface="宋体" panose="02010600030101010101" pitchFamily="2" charset="-122"/>
              </a:rPr>
              <a:t>是到达块</a:t>
            </a:r>
            <a:r>
              <a:rPr lang="en-US" altLang="zh-CN" sz="2000" b="1" dirty="0">
                <a:ea typeface="宋体" panose="02010600030101010101" pitchFamily="2" charset="-122"/>
              </a:rPr>
              <a:t>B</a:t>
            </a:r>
            <a:r>
              <a:rPr lang="zh-CN" altLang="en-US" sz="2000" b="1" dirty="0">
                <a:ea typeface="宋体" panose="02010600030101010101" pitchFamily="2" charset="-122"/>
              </a:rPr>
              <a:t>的唯一的</a:t>
            </a:r>
            <a:r>
              <a:rPr lang="en-US" altLang="zh-CN" sz="2000" b="1" dirty="0">
                <a:ea typeface="宋体" panose="02010600030101010101" pitchFamily="2" charset="-122"/>
              </a:rPr>
              <a:t>x</a:t>
            </a:r>
            <a:r>
              <a:rPr lang="zh-CN" altLang="en-US" sz="2000" b="1" dirty="0">
                <a:ea typeface="宋体" panose="02010600030101010101" pitchFamily="2" charset="-122"/>
              </a:rPr>
              <a:t>定值</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(3)	</a:t>
            </a:r>
            <a:r>
              <a:rPr lang="zh-CN" altLang="en-US" sz="2000" b="1" dirty="0">
                <a:ea typeface="宋体" panose="02010600030101010101" pitchFamily="2" charset="-122"/>
              </a:rPr>
              <a:t>如果</a:t>
            </a:r>
            <a:r>
              <a:rPr lang="en-US" altLang="zh-CN" sz="2000" b="1" dirty="0">
                <a:ea typeface="宋体" panose="02010600030101010101" pitchFamily="2" charset="-122"/>
              </a:rPr>
              <a:t>s</a:t>
            </a:r>
            <a:r>
              <a:rPr lang="zh-CN" altLang="en-US" sz="2000" b="1" dirty="0">
                <a:ea typeface="宋体" panose="02010600030101010101" pitchFamily="2" charset="-122"/>
              </a:rPr>
              <a:t>满足(2)的条件，则删掉</a:t>
            </a:r>
            <a:r>
              <a:rPr lang="en-US" altLang="zh-CN" sz="2000" b="1" dirty="0">
                <a:ea typeface="宋体" panose="02010600030101010101" pitchFamily="2" charset="-122"/>
              </a:rPr>
              <a:t>s，</a:t>
            </a:r>
            <a:r>
              <a:rPr lang="zh-CN" altLang="en-US" sz="2000" b="1" dirty="0">
                <a:ea typeface="宋体" panose="02010600030101010101" pitchFamily="2" charset="-122"/>
              </a:rPr>
              <a:t>且把(1)中找出的所有</a:t>
            </a:r>
            <a:r>
              <a:rPr lang="en-US" altLang="zh-CN" sz="2000" b="1" dirty="0">
                <a:ea typeface="宋体" panose="02010600030101010101" pitchFamily="2" charset="-122"/>
              </a:rPr>
              <a:t>x</a:t>
            </a:r>
            <a:r>
              <a:rPr lang="zh-CN" altLang="en-US" sz="2000" b="1" dirty="0">
                <a:ea typeface="宋体" panose="02010600030101010101" pitchFamily="2" charset="-122"/>
              </a:rPr>
              <a:t>引用以</a:t>
            </a:r>
            <a:r>
              <a:rPr lang="en-US" altLang="zh-CN" sz="2000" b="1" dirty="0">
                <a:ea typeface="宋体" panose="02010600030101010101" pitchFamily="2" charset="-122"/>
              </a:rPr>
              <a:t>y</a:t>
            </a:r>
            <a:r>
              <a:rPr lang="zh-CN" altLang="en-US" sz="2000" b="1" dirty="0">
                <a:ea typeface="宋体" panose="02010600030101010101" pitchFamily="2" charset="-122"/>
              </a:rPr>
              <a:t>代替</a:t>
            </a:r>
            <a:endParaRPr lang="zh-CN" altLang="en-US" sz="2000" b="1" dirty="0">
              <a:ea typeface="宋体" panose="02010600030101010101" pitchFamily="2" charset="-122"/>
            </a:endParaRP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寻找循环不变计算</a:t>
            </a:r>
            <a:endParaRPr lang="zh-CN" altLang="en-US" dirty="0">
              <a:latin typeface="宋体" panose="02010600030101010101" pitchFamily="2" charset="-122"/>
              <a:ea typeface="宋体" panose="02010600030101010101" pitchFamily="2" charset="-122"/>
            </a:endParaRPr>
          </a:p>
        </p:txBody>
      </p:sp>
      <p:sp>
        <p:nvSpPr>
          <p:cNvPr id="268291"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循环不变计算</a:t>
            </a:r>
            <a:endParaRPr lang="zh-CN" altLang="en-US" sz="2400" b="1" dirty="0">
              <a:ea typeface="宋体" panose="02010600030101010101" pitchFamily="2" charset="-122"/>
            </a:endParaRPr>
          </a:p>
          <a:p>
            <a:pPr lvl="1"/>
            <a:r>
              <a:rPr lang="zh-CN" altLang="en-US" sz="2200" b="1" dirty="0">
                <a:ea typeface="宋体" panose="02010600030101010101" pitchFamily="2" charset="-122"/>
              </a:rPr>
              <a:t>只要控制不离开循环，它的值就不改变</a:t>
            </a:r>
            <a:endParaRPr lang="zh-CN" altLang="en-US" sz="2200" b="1" dirty="0">
              <a:ea typeface="宋体" panose="02010600030101010101" pitchFamily="2" charset="-122"/>
            </a:endParaRPr>
          </a:p>
          <a:p>
            <a:pPr lvl="1"/>
            <a:r>
              <a:rPr lang="zh-CN" altLang="en-US" sz="2200" b="1" dirty="0">
                <a:ea typeface="宋体" panose="02010600030101010101" pitchFamily="2" charset="-122"/>
              </a:rPr>
              <a:t>可以用</a:t>
            </a:r>
            <a:r>
              <a:rPr lang="en-US" altLang="zh-CN" sz="2200" b="1" dirty="0">
                <a:ea typeface="宋体" panose="02010600030101010101" pitchFamily="2" charset="-122"/>
              </a:rPr>
              <a:t>ud</a:t>
            </a:r>
            <a:r>
              <a:rPr lang="zh-CN" altLang="en-US" sz="2200" b="1" dirty="0">
                <a:ea typeface="宋体" panose="02010600030101010101" pitchFamily="2" charset="-122"/>
              </a:rPr>
              <a:t>链寻找循环不变计算</a:t>
            </a:r>
            <a:endParaRPr lang="zh-CN" altLang="en-US" sz="2200" b="1" dirty="0">
              <a:ea typeface="宋体" panose="02010600030101010101" pitchFamily="2" charset="-122"/>
            </a:endParaRPr>
          </a:p>
          <a:p>
            <a:pPr lvl="1"/>
            <a:r>
              <a:rPr lang="zh-CN" altLang="en-US" sz="2200" b="1" dirty="0">
                <a:ea typeface="宋体" panose="02010600030101010101" pitchFamily="2" charset="-122"/>
              </a:rPr>
              <a:t>如何通过</a:t>
            </a:r>
            <a:r>
              <a:rPr lang="en-US" altLang="zh-CN" sz="2200" b="1" dirty="0">
                <a:ea typeface="宋体" panose="02010600030101010101" pitchFamily="2" charset="-122"/>
              </a:rPr>
              <a:t>ud</a:t>
            </a:r>
            <a:r>
              <a:rPr lang="zh-CN" altLang="en-US" sz="2200" b="1" dirty="0">
                <a:ea typeface="宋体" panose="02010600030101010101" pitchFamily="2" charset="-122"/>
              </a:rPr>
              <a:t>链寻找循环不变计算</a:t>
            </a:r>
            <a:endParaRPr lang="zh-CN" altLang="en-US" sz="2200" b="1" dirty="0">
              <a:ea typeface="宋体" panose="02010600030101010101" pitchFamily="2" charset="-122"/>
            </a:endParaRPr>
          </a:p>
          <a:p>
            <a:pPr lvl="2"/>
            <a:r>
              <a:rPr lang="zh-CN" altLang="en-US" sz="2000" b="1" dirty="0">
                <a:ea typeface="宋体" panose="02010600030101010101" pitchFamily="2" charset="-122"/>
              </a:rPr>
              <a:t>循环的特点：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由一组基本块组成，首结点是所有其它块的控制节点</a:t>
            </a:r>
            <a:endParaRPr lang="zh-CN" altLang="en-US" sz="1800" b="1" dirty="0">
              <a:ea typeface="宋体" panose="02010600030101010101" pitchFamily="2" charset="-122"/>
            </a:endParaRPr>
          </a:p>
          <a:p>
            <a:pPr lvl="3"/>
            <a:r>
              <a:rPr lang="zh-CN" altLang="en-US" sz="1800" b="1" dirty="0">
                <a:ea typeface="宋体" panose="02010600030101010101" pitchFamily="2" charset="-122"/>
              </a:rPr>
              <a:t>循环中的任何块至少有一条路径回到首结点</a:t>
            </a:r>
            <a:endParaRPr lang="zh-CN" altLang="en-US" sz="1800" b="1" dirty="0">
              <a:ea typeface="宋体" panose="02010600030101010101" pitchFamily="2" charset="-122"/>
            </a:endParaRPr>
          </a:p>
          <a:p>
            <a:pPr lvl="2"/>
            <a:r>
              <a:rPr lang="zh-CN" altLang="en-US" sz="2000" b="1" dirty="0">
                <a:ea typeface="宋体" panose="02010600030101010101" pitchFamily="2" charset="-122"/>
              </a:rPr>
              <a:t>如果循环中有赋值</a:t>
            </a:r>
            <a:r>
              <a:rPr lang="en-US" altLang="zh-CN" sz="2000" b="1" dirty="0">
                <a:ea typeface="宋体" panose="02010600030101010101" pitchFamily="2" charset="-122"/>
              </a:rPr>
              <a:t>x := y + z，</a:t>
            </a:r>
            <a:r>
              <a:rPr lang="zh-CN" altLang="en-US" sz="2000" b="1" dirty="0">
                <a:ea typeface="宋体" panose="02010600030101010101" pitchFamily="2" charset="-122"/>
              </a:rPr>
              <a:t>而</a:t>
            </a:r>
            <a:r>
              <a:rPr lang="en-US" altLang="zh-CN" sz="2000" b="1" dirty="0">
                <a:ea typeface="宋体" panose="02010600030101010101" pitchFamily="2" charset="-122"/>
              </a:rPr>
              <a:t>y</a:t>
            </a:r>
            <a:r>
              <a:rPr lang="zh-CN" altLang="en-US" sz="2000" b="1" dirty="0">
                <a:ea typeface="宋体" panose="02010600030101010101" pitchFamily="2" charset="-122"/>
              </a:rPr>
              <a:t>和</a:t>
            </a:r>
            <a:r>
              <a:rPr lang="en-US" altLang="zh-CN" sz="2000" b="1" dirty="0">
                <a:ea typeface="宋体" panose="02010600030101010101" pitchFamily="2" charset="-122"/>
              </a:rPr>
              <a:t>z</a:t>
            </a:r>
            <a:r>
              <a:rPr lang="zh-CN" altLang="en-US" sz="2000" b="1" dirty="0">
                <a:ea typeface="宋体" panose="02010600030101010101" pitchFamily="2" charset="-122"/>
              </a:rPr>
              <a:t>的所有可能的定值都在循环外或者是常数，则</a:t>
            </a:r>
            <a:r>
              <a:rPr lang="en-US" altLang="zh-CN" sz="2000" b="1" dirty="0">
                <a:ea typeface="宋体" panose="02010600030101010101" pitchFamily="2" charset="-122"/>
              </a:rPr>
              <a:t>y + z</a:t>
            </a:r>
            <a:r>
              <a:rPr lang="zh-CN" altLang="en-US" sz="2000" b="1" dirty="0">
                <a:ea typeface="宋体" panose="02010600030101010101" pitchFamily="2" charset="-122"/>
              </a:rPr>
              <a:t>是循环不变计算 </a:t>
            </a:r>
            <a:endParaRPr lang="zh-CN" altLang="en-US" sz="2000" b="1" dirty="0">
              <a:ea typeface="宋体" panose="02010600030101010101" pitchFamily="2" charset="-122"/>
            </a:endParaRPr>
          </a:p>
          <a:p>
            <a:pPr lvl="2"/>
            <a:r>
              <a:rPr lang="zh-CN" altLang="en-US" sz="2000" b="1" dirty="0">
                <a:ea typeface="宋体" panose="02010600030101010101" pitchFamily="2" charset="-122"/>
              </a:rPr>
              <a:t>即</a:t>
            </a:r>
            <a:r>
              <a:rPr lang="en-US" altLang="zh-CN" sz="2000" b="1" dirty="0">
                <a:ea typeface="宋体" panose="02010600030101010101" pitchFamily="2" charset="-122"/>
              </a:rPr>
              <a:t>ud</a:t>
            </a:r>
            <a:r>
              <a:rPr lang="zh-CN" altLang="en-US" sz="2000" b="1" dirty="0">
                <a:ea typeface="宋体" panose="02010600030101010101" pitchFamily="2" charset="-122"/>
              </a:rPr>
              <a:t>链中的所有的</a:t>
            </a:r>
            <a:r>
              <a:rPr lang="en-US" altLang="zh-CN" sz="2000" b="1" dirty="0">
                <a:ea typeface="宋体" panose="02010600030101010101" pitchFamily="2" charset="-122"/>
              </a:rPr>
              <a:t>def</a:t>
            </a:r>
            <a:r>
              <a:rPr lang="zh-CN" altLang="en-US" sz="2000" b="1" dirty="0">
                <a:ea typeface="宋体" panose="02010600030101010101" pitchFamily="2" charset="-122"/>
              </a:rPr>
              <a:t>都不在循环体中</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如果在识别了</a:t>
            </a:r>
            <a:r>
              <a:rPr lang="en-US" altLang="zh-CN" sz="2000" b="1" dirty="0">
                <a:ea typeface="宋体" panose="02010600030101010101" pitchFamily="2" charset="-122"/>
              </a:rPr>
              <a:t>x := y + z</a:t>
            </a:r>
            <a:r>
              <a:rPr lang="zh-CN" altLang="en-US" sz="2000" b="1" dirty="0">
                <a:ea typeface="宋体" panose="02010600030101010101" pitchFamily="2" charset="-122"/>
              </a:rPr>
              <a:t>计算的</a:t>
            </a:r>
            <a:r>
              <a:rPr lang="en-US" altLang="zh-CN" sz="2000" b="1" dirty="0">
                <a:ea typeface="宋体" panose="02010600030101010101" pitchFamily="2" charset="-122"/>
              </a:rPr>
              <a:t>x</a:t>
            </a:r>
            <a:r>
              <a:rPr lang="zh-CN" altLang="en-US" sz="2000" b="1" dirty="0">
                <a:ea typeface="宋体" panose="02010600030101010101" pitchFamily="2" charset="-122"/>
              </a:rPr>
              <a:t>值是循环不变后，循环中有另一条语句</a:t>
            </a:r>
            <a:r>
              <a:rPr lang="en-US" altLang="zh-CN" sz="2000" b="1" dirty="0">
                <a:ea typeface="宋体" panose="02010600030101010101" pitchFamily="2" charset="-122"/>
              </a:rPr>
              <a:t>v := x + w，</a:t>
            </a:r>
            <a:r>
              <a:rPr lang="zh-CN" altLang="en-US" sz="2000" b="1" dirty="0">
                <a:ea typeface="宋体" panose="02010600030101010101" pitchFamily="2" charset="-122"/>
              </a:rPr>
              <a:t>且</a:t>
            </a:r>
            <a:r>
              <a:rPr lang="en-US" altLang="zh-CN" sz="2000" b="1" dirty="0">
                <a:ea typeface="宋体" panose="02010600030101010101" pitchFamily="2" charset="-122"/>
              </a:rPr>
              <a:t>w</a:t>
            </a:r>
            <a:r>
              <a:rPr lang="zh-CN" altLang="en-US" sz="2000" b="1" dirty="0">
                <a:ea typeface="宋体" panose="02010600030101010101" pitchFamily="2" charset="-122"/>
              </a:rPr>
              <a:t>也只在循环外定值，则</a:t>
            </a:r>
            <a:r>
              <a:rPr lang="en-US" altLang="zh-CN" sz="2000" b="1" dirty="0">
                <a:ea typeface="宋体" panose="02010600030101010101" pitchFamily="2" charset="-122"/>
              </a:rPr>
              <a:t>x + w</a:t>
            </a:r>
            <a:r>
              <a:rPr lang="zh-CN" altLang="en-US" sz="2000" b="1" dirty="0">
                <a:ea typeface="宋体" panose="02010600030101010101" pitchFamily="2" charset="-122"/>
              </a:rPr>
              <a:t>也是循环不变计算</a:t>
            </a:r>
            <a:endParaRPr lang="zh-CN" altLang="en-US" sz="2000" b="1" dirty="0">
              <a:ea typeface="宋体" panose="02010600030101010101" pitchFamily="2" charset="-122"/>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寻找循环不变计算的算法</a:t>
            </a:r>
            <a:endParaRPr lang="zh-CN" altLang="en-US" dirty="0">
              <a:latin typeface="宋体" panose="02010600030101010101" pitchFamily="2" charset="-122"/>
              <a:ea typeface="宋体" panose="02010600030101010101" pitchFamily="2" charset="-122"/>
            </a:endParaRPr>
          </a:p>
        </p:txBody>
      </p:sp>
      <p:sp>
        <p:nvSpPr>
          <p:cNvPr id="270339" name="Rectangle 5"/>
          <p:cNvSpPr>
            <a:spLocks noGrp="1"/>
          </p:cNvSpPr>
          <p:nvPr>
            <p:ph idx="1"/>
          </p:nvPr>
        </p:nvSpPr>
        <p:spPr>
          <a:xfrm>
            <a:off x="990600" y="1524000"/>
            <a:ext cx="7391400" cy="4648200"/>
          </a:xfrm>
        </p:spPr>
        <p:txBody>
          <a:bodyPr vert="horz" wrap="square" lIns="92075" tIns="46038" rIns="92075" bIns="46038" anchor="t" anchorCtr="0"/>
          <a:p>
            <a:pPr>
              <a:buNone/>
            </a:pPr>
            <a:r>
              <a:rPr lang="zh-CN" altLang="en-US" sz="2000" b="1" dirty="0">
                <a:ea typeface="宋体" panose="02010600030101010101" pitchFamily="2" charset="-122"/>
              </a:rPr>
              <a:t>输入：由一组基本块构成的循环</a:t>
            </a:r>
            <a:r>
              <a:rPr lang="en-US" altLang="zh-CN" sz="2000" b="1" dirty="0">
                <a:ea typeface="宋体" panose="02010600030101010101" pitchFamily="2" charset="-122"/>
              </a:rPr>
              <a:t>L，</a:t>
            </a:r>
            <a:r>
              <a:rPr lang="zh-CN" altLang="en-US" sz="2000" b="1" dirty="0">
                <a:ea typeface="宋体" panose="02010600030101010101" pitchFamily="2" charset="-122"/>
              </a:rPr>
              <a:t>对循环中的每个三地址语句，</a:t>
            </a:r>
            <a:r>
              <a:rPr lang="en-US" altLang="zh-CN" sz="2000" b="1" dirty="0">
                <a:ea typeface="宋体" panose="02010600030101010101" pitchFamily="2" charset="-122"/>
              </a:rPr>
              <a:t>ud</a:t>
            </a:r>
            <a:r>
              <a:rPr lang="zh-CN" altLang="en-US" sz="2000" b="1" dirty="0">
                <a:ea typeface="宋体" panose="02010600030101010101" pitchFamily="2" charset="-122"/>
              </a:rPr>
              <a:t>链可用</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输出：从控制进入循环</a:t>
            </a:r>
            <a:r>
              <a:rPr lang="en-US" altLang="zh-CN" sz="2000" b="1" dirty="0">
                <a:ea typeface="宋体" panose="02010600030101010101" pitchFamily="2" charset="-122"/>
              </a:rPr>
              <a:t>L</a:t>
            </a:r>
            <a:r>
              <a:rPr lang="zh-CN" altLang="en-US" sz="2000" b="1" dirty="0">
                <a:ea typeface="宋体" panose="02010600030101010101" pitchFamily="2" charset="-122"/>
              </a:rPr>
              <a:t>一直到离开</a:t>
            </a:r>
            <a:r>
              <a:rPr lang="en-US" altLang="zh-CN" sz="2000" b="1" dirty="0">
                <a:ea typeface="宋体" panose="02010600030101010101" pitchFamily="2" charset="-122"/>
              </a:rPr>
              <a:t>L，</a:t>
            </a:r>
            <a:r>
              <a:rPr lang="zh-CN" altLang="en-US" sz="2000" b="1" dirty="0">
                <a:ea typeface="宋体" panose="02010600030101010101" pitchFamily="2" charset="-122"/>
              </a:rPr>
              <a:t>每次都计算同样值的三地址语句被输出</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方法：非形式化的说明：</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(1)	对所有下列语句标记“不变”：它的运算对象是常数，和所有的到达—定值在循环</a:t>
            </a:r>
            <a:r>
              <a:rPr lang="en-US" altLang="zh-CN" sz="2000" b="1" dirty="0">
                <a:ea typeface="宋体" panose="02010600030101010101" pitchFamily="2" charset="-122"/>
              </a:rPr>
              <a:t>L</a:t>
            </a:r>
            <a:r>
              <a:rPr lang="zh-CN" altLang="en-US" sz="2000" b="1" dirty="0">
                <a:ea typeface="宋体" panose="02010600030101010101" pitchFamily="2" charset="-122"/>
              </a:rPr>
              <a:t>外</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(2)	</a:t>
            </a:r>
            <a:r>
              <a:rPr lang="zh-CN" altLang="en-US" sz="2000" b="1" dirty="0">
                <a:ea typeface="宋体" panose="02010600030101010101" pitchFamily="2" charset="-122"/>
              </a:rPr>
              <a:t>给下面的语句标记“不变”：它们先前没有标记，所有运算对象是常数，或到达—定值都在循环</a:t>
            </a:r>
            <a:r>
              <a:rPr lang="en-US" altLang="zh-CN" sz="2000" b="1" dirty="0">
                <a:ea typeface="宋体" panose="02010600030101010101" pitchFamily="2" charset="-122"/>
              </a:rPr>
              <a:t>L</a:t>
            </a:r>
            <a:r>
              <a:rPr lang="zh-CN" altLang="en-US" sz="2000" b="1" dirty="0">
                <a:ea typeface="宋体" panose="02010600030101010101" pitchFamily="2" charset="-122"/>
              </a:rPr>
              <a:t>外，或者只有一个到达—定值，这个定值是循环</a:t>
            </a:r>
            <a:r>
              <a:rPr lang="en-US" altLang="zh-CN" sz="2000" b="1" dirty="0">
                <a:ea typeface="宋体" panose="02010600030101010101" pitchFamily="2" charset="-122"/>
              </a:rPr>
              <a:t>L</a:t>
            </a:r>
            <a:r>
              <a:rPr lang="zh-CN" altLang="en-US" sz="2000" b="1" dirty="0">
                <a:ea typeface="宋体" panose="02010600030101010101" pitchFamily="2" charset="-122"/>
              </a:rPr>
              <a:t>中已标记为“不变”的语句</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(3)	</a:t>
            </a:r>
            <a:r>
              <a:rPr lang="zh-CN" altLang="en-US" sz="2000" b="1" dirty="0">
                <a:ea typeface="宋体" panose="02010600030101010101" pitchFamily="2" charset="-122"/>
              </a:rPr>
              <a:t>重复(2)，知道某次重复没有新的语句可标记为“不变”为止</a:t>
            </a:r>
            <a:endParaRPr lang="zh-CN" altLang="en-US" sz="2000" b="1" dirty="0">
              <a:ea typeface="宋体" panose="02010600030101010101" pitchFamily="2" charset="-122"/>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寻找循环不变计算的例子</a:t>
            </a:r>
            <a:endParaRPr lang="zh-CN" altLang="en-US" dirty="0">
              <a:latin typeface="宋体" panose="02010600030101010101" pitchFamily="2" charset="-122"/>
              <a:ea typeface="宋体" panose="02010600030101010101" pitchFamily="2" charset="-122"/>
            </a:endParaRPr>
          </a:p>
        </p:txBody>
      </p:sp>
      <p:sp>
        <p:nvSpPr>
          <p:cNvPr id="272387"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循环不变计算可以移到前置块</a:t>
            </a:r>
            <a:endParaRPr lang="zh-CN" altLang="en-US" sz="2400" b="1" dirty="0">
              <a:ea typeface="宋体" panose="02010600030101010101" pitchFamily="2" charset="-122"/>
            </a:endParaRPr>
          </a:p>
          <a:p>
            <a:r>
              <a:rPr lang="zh-CN" altLang="en-US" sz="2400" b="1" dirty="0">
                <a:ea typeface="宋体" panose="02010600030101010101" pitchFamily="2" charset="-122"/>
              </a:rPr>
              <a:t>例子：</a:t>
            </a:r>
            <a:endParaRPr lang="zh-CN" altLang="en-US" sz="2400" b="1" dirty="0">
              <a:ea typeface="宋体" panose="02010600030101010101" pitchFamily="2" charset="-122"/>
            </a:endParaRPr>
          </a:p>
          <a:p>
            <a:pPr>
              <a:buNone/>
            </a:pPr>
            <a:r>
              <a:rPr lang="zh-CN" altLang="en-US" sz="2400" b="1" dirty="0">
                <a:ea typeface="宋体" panose="02010600030101010101" pitchFamily="2" charset="-122"/>
              </a:rPr>
              <a:t>	</a:t>
            </a:r>
            <a:r>
              <a:rPr lang="en-US" altLang="zh-CN" sz="1800" b="1" dirty="0">
                <a:ea typeface="宋体" panose="02010600030101010101" pitchFamily="2" charset="-122"/>
              </a:rPr>
              <a:t>do i = 1 , 100				t1 = 10 * ( n + 2 )</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m = i * ( n + 2 )			t2 = 100 * n</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do j = i , 100			do i = 1 , 100</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 i , j ) = 100 * n		         t3 = t2 + i * t1</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+ 10 * m + j		         do j = 1 , 100</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enddo					a( i , j ) = t3 + j</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enddo				         enddo</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enddo</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t>
            </a:r>
            <a:r>
              <a:rPr lang="zh-CN" altLang="en-US" sz="1800" b="1" dirty="0">
                <a:ea typeface="宋体" panose="02010600030101010101" pitchFamily="2" charset="-122"/>
              </a:rPr>
              <a:t>需要各20100次乘法和加法		需要</a:t>
            </a:r>
            <a:r>
              <a:rPr lang="en-US" altLang="zh-CN" sz="1800" b="1" dirty="0">
                <a:ea typeface="宋体" panose="02010600030101010101" pitchFamily="2" charset="-122"/>
              </a:rPr>
              <a:t>102</a:t>
            </a:r>
            <a:r>
              <a:rPr lang="zh-CN" altLang="en-US" sz="1800" b="1" dirty="0">
                <a:ea typeface="宋体" panose="02010600030101010101" pitchFamily="2" charset="-122"/>
              </a:rPr>
              <a:t>次乘法和10101次					加法</a:t>
            </a:r>
            <a:endParaRPr lang="en-US" altLang="zh-CN" sz="2400" b="1" dirty="0">
              <a:ea typeface="宋体" panose="02010600030101010101" pitchFamily="2" charset="-122"/>
            </a:endParaRP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代码外提</a:t>
            </a:r>
            <a:endParaRPr lang="zh-CN" altLang="en-US" dirty="0">
              <a:latin typeface="宋体" panose="02010600030101010101" pitchFamily="2" charset="-122"/>
              <a:ea typeface="宋体" panose="02010600030101010101" pitchFamily="2" charset="-122"/>
            </a:endParaRPr>
          </a:p>
        </p:txBody>
      </p:sp>
      <p:sp>
        <p:nvSpPr>
          <p:cNvPr id="27443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循环不变计算代码可以实施代码外提的优化，放在前置结点</a:t>
            </a:r>
            <a:endParaRPr lang="zh-CN" altLang="en-US" sz="2400" b="1" dirty="0">
              <a:ea typeface="宋体" panose="02010600030101010101" pitchFamily="2" charset="-122"/>
            </a:endParaRPr>
          </a:p>
          <a:p>
            <a:pPr lvl="1"/>
            <a:r>
              <a:rPr lang="zh-CN" altLang="en-US" sz="2200" b="1" dirty="0">
                <a:ea typeface="宋体" panose="02010600030101010101" pitchFamily="2" charset="-122"/>
              </a:rPr>
              <a:t>外提语句</a:t>
            </a:r>
            <a:r>
              <a:rPr lang="en-US" altLang="zh-CN" sz="2200" b="1" dirty="0">
                <a:ea typeface="宋体" panose="02010600030101010101" pitchFamily="2" charset="-122"/>
              </a:rPr>
              <a:t>s: x := y + z</a:t>
            </a:r>
            <a:r>
              <a:rPr lang="zh-CN" altLang="en-US" sz="2200" b="1" dirty="0">
                <a:ea typeface="宋体" panose="02010600030101010101" pitchFamily="2" charset="-122"/>
              </a:rPr>
              <a:t>的条件（这3个条件都不是必要的）</a:t>
            </a:r>
            <a:endParaRPr lang="en-US" altLang="zh-CN" sz="2200" b="1" dirty="0">
              <a:ea typeface="宋体" panose="02010600030101010101" pitchFamily="2" charset="-122"/>
            </a:endParaRPr>
          </a:p>
          <a:p>
            <a:pPr lvl="2"/>
            <a:r>
              <a:rPr lang="zh-CN" altLang="en-US" sz="2000" b="1" dirty="0">
                <a:ea typeface="宋体" panose="02010600030101010101" pitchFamily="2" charset="-122"/>
              </a:rPr>
              <a:t>含</a:t>
            </a:r>
            <a:r>
              <a:rPr lang="en-US" altLang="zh-CN" sz="2000" b="1" dirty="0">
                <a:ea typeface="宋体" panose="02010600030101010101" pitchFamily="2" charset="-122"/>
              </a:rPr>
              <a:t>s</a:t>
            </a:r>
            <a:r>
              <a:rPr lang="zh-CN" altLang="en-US" sz="2000" b="1" dirty="0">
                <a:ea typeface="宋体" panose="02010600030101010101" pitchFamily="2" charset="-122"/>
              </a:rPr>
              <a:t>的块是循环中所有出口结点的必经结点</a:t>
            </a:r>
            <a:endParaRPr lang="zh-CN" altLang="en-US" sz="2000" b="1" dirty="0">
              <a:ea typeface="宋体" panose="02010600030101010101" pitchFamily="2" charset="-122"/>
            </a:endParaRPr>
          </a:p>
          <a:p>
            <a:pPr lvl="3"/>
            <a:r>
              <a:rPr lang="zh-CN" altLang="en-US" sz="1800" b="1" dirty="0">
                <a:ea typeface="宋体" panose="02010600030101010101" pitchFamily="2" charset="-122"/>
              </a:rPr>
              <a:t>出口结点是有后继不在循环中的结点</a:t>
            </a:r>
            <a:endParaRPr lang="zh-CN" altLang="en-US" sz="1800" b="1" dirty="0">
              <a:ea typeface="宋体" panose="02010600030101010101" pitchFamily="2" charset="-122"/>
            </a:endParaRPr>
          </a:p>
          <a:p>
            <a:pPr lvl="3"/>
            <a:r>
              <a:rPr lang="zh-CN" altLang="en-US" sz="1800" b="1" dirty="0">
                <a:ea typeface="宋体" panose="02010600030101010101" pitchFamily="2" charset="-122"/>
              </a:rPr>
              <a:t>只要循环不是无限循环，则所有出口的必经结点一定会执行</a:t>
            </a:r>
            <a:endParaRPr lang="zh-CN" altLang="en-US" sz="1800" b="1" dirty="0">
              <a:ea typeface="宋体" panose="02010600030101010101" pitchFamily="2" charset="-122"/>
            </a:endParaRPr>
          </a:p>
          <a:p>
            <a:pPr lvl="2"/>
            <a:r>
              <a:rPr lang="zh-CN" altLang="en-US" sz="2000" b="1" dirty="0">
                <a:ea typeface="宋体" panose="02010600030101010101" pitchFamily="2" charset="-122"/>
              </a:rPr>
              <a:t>循环中没有其它语句对</a:t>
            </a:r>
            <a:r>
              <a:rPr lang="en-US" altLang="zh-CN" sz="2000" b="1" dirty="0">
                <a:ea typeface="宋体" panose="02010600030101010101" pitchFamily="2" charset="-122"/>
              </a:rPr>
              <a:t>x</a:t>
            </a:r>
            <a:r>
              <a:rPr lang="zh-CN" altLang="en-US" sz="2000" b="1" dirty="0">
                <a:ea typeface="宋体" panose="02010600030101010101" pitchFamily="2" charset="-122"/>
              </a:rPr>
              <a:t>定值</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dirty="0">
                <a:ea typeface="宋体" panose="02010600030101010101" pitchFamily="2" charset="-122"/>
              </a:rPr>
              <a:t>x</a:t>
            </a:r>
            <a:r>
              <a:rPr lang="zh-CN" altLang="en-US" sz="1800" b="1" dirty="0">
                <a:ea typeface="宋体" panose="02010600030101010101" pitchFamily="2" charset="-122"/>
              </a:rPr>
              <a:t>是只赋值一次的临时变量，这个条件肯定满足</a:t>
            </a:r>
            <a:endParaRPr lang="zh-CN" altLang="en-US" sz="1800" b="1" dirty="0">
              <a:ea typeface="宋体" panose="02010600030101010101" pitchFamily="2" charset="-122"/>
            </a:endParaRPr>
          </a:p>
          <a:p>
            <a:pPr lvl="2"/>
            <a:r>
              <a:rPr lang="zh-CN" altLang="en-US" sz="2000" b="1" dirty="0">
                <a:ea typeface="宋体" panose="02010600030101010101" pitchFamily="2" charset="-122"/>
              </a:rPr>
              <a:t>循环中</a:t>
            </a:r>
            <a:r>
              <a:rPr lang="en-US" altLang="zh-CN" sz="2000" b="1" dirty="0">
                <a:ea typeface="宋体" panose="02010600030101010101" pitchFamily="2" charset="-122"/>
              </a:rPr>
              <a:t>x</a:t>
            </a:r>
            <a:r>
              <a:rPr lang="zh-CN" altLang="en-US" sz="2000" b="1" dirty="0">
                <a:ea typeface="宋体" panose="02010600030101010101" pitchFamily="2" charset="-122"/>
              </a:rPr>
              <a:t>的引用仅由</a:t>
            </a:r>
            <a:r>
              <a:rPr lang="en-US" altLang="zh-CN" sz="2000" b="1" dirty="0">
                <a:ea typeface="宋体" panose="02010600030101010101" pitchFamily="2" charset="-122"/>
              </a:rPr>
              <a:t>s</a:t>
            </a:r>
            <a:r>
              <a:rPr lang="zh-CN" altLang="en-US" sz="2000" b="1" dirty="0">
                <a:ea typeface="宋体" panose="02010600030101010101" pitchFamily="2" charset="-122"/>
              </a:rPr>
              <a:t>到达</a:t>
            </a:r>
            <a:endParaRPr lang="zh-CN" altLang="en-US" sz="2000" b="1" dirty="0">
              <a:ea typeface="宋体" panose="02010600030101010101" pitchFamily="2" charset="-122"/>
            </a:endParaRPr>
          </a:p>
          <a:p>
            <a:pPr lvl="3"/>
            <a:r>
              <a:rPr lang="zh-CN" altLang="en-US" sz="1800" b="1" dirty="0">
                <a:ea typeface="宋体" panose="02010600030101010101" pitchFamily="2" charset="-122"/>
              </a:rPr>
              <a:t>如果</a:t>
            </a:r>
            <a:r>
              <a:rPr lang="en-US" altLang="zh-CN" sz="1800" b="1" dirty="0">
                <a:ea typeface="宋体" panose="02010600030101010101" pitchFamily="2" charset="-122"/>
              </a:rPr>
              <a:t>x</a:t>
            </a:r>
            <a:r>
              <a:rPr lang="zh-CN" altLang="en-US" sz="1800" b="1" dirty="0">
                <a:ea typeface="宋体" panose="02010600030101010101" pitchFamily="2" charset="-122"/>
              </a:rPr>
              <a:t>是临时变量，这个条件一般也满足</a:t>
            </a:r>
            <a:endParaRPr lang="zh-CN" altLang="en-US" sz="1800" b="1" dirty="0">
              <a:ea typeface="宋体" panose="02010600030101010101" pitchFamily="2" charset="-122"/>
            </a:endParaRPr>
          </a:p>
        </p:txBody>
      </p: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非法的代码外提例子（1）</a:t>
            </a:r>
            <a:endParaRPr lang="zh-CN" altLang="en-US" dirty="0">
              <a:latin typeface="宋体" panose="02010600030101010101" pitchFamily="2" charset="-122"/>
              <a:ea typeface="宋体" panose="02010600030101010101" pitchFamily="2" charset="-122"/>
            </a:endParaRPr>
          </a:p>
        </p:txBody>
      </p:sp>
      <p:sp>
        <p:nvSpPr>
          <p:cNvPr id="27648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不满足第一个条件，错误</a:t>
            </a:r>
            <a:endParaRPr lang="zh-CN" altLang="en-US" sz="2400" b="1" dirty="0">
              <a:ea typeface="宋体" panose="02010600030101010101" pitchFamily="2" charset="-122"/>
            </a:endParaRPr>
          </a:p>
        </p:txBody>
      </p:sp>
      <p:graphicFrame>
        <p:nvGraphicFramePr>
          <p:cNvPr id="276484" name="Object 4"/>
          <p:cNvGraphicFramePr>
            <a:graphicFrameLocks noChangeAspect="1"/>
          </p:cNvGraphicFramePr>
          <p:nvPr/>
        </p:nvGraphicFramePr>
        <p:xfrm>
          <a:off x="1066800" y="2057400"/>
          <a:ext cx="6953250" cy="4213225"/>
        </p:xfrm>
        <a:graphic>
          <a:graphicData uri="http://schemas.openxmlformats.org/presentationml/2006/ole">
            <mc:AlternateContent xmlns:mc="http://schemas.openxmlformats.org/markup-compatibility/2006">
              <mc:Choice xmlns:v="urn:schemas-microsoft-com:vml" Requires="v">
                <p:oleObj spid="_x0000_s3096" name="" r:id="rId1" imgW="6954520" imgH="4211320" progId="Visio.Drawing.4">
                  <p:embed/>
                </p:oleObj>
              </mc:Choice>
              <mc:Fallback>
                <p:oleObj name="" r:id="rId1" imgW="6954520" imgH="4211320" progId="Visio.Drawing.4">
                  <p:embed/>
                  <p:pic>
                    <p:nvPicPr>
                      <p:cNvPr id="0" name="图片 3095"/>
                      <p:cNvPicPr/>
                      <p:nvPr/>
                    </p:nvPicPr>
                    <p:blipFill>
                      <a:blip r:embed="rId2"/>
                      <a:stretch>
                        <a:fillRect/>
                      </a:stretch>
                    </p:blipFill>
                    <p:spPr>
                      <a:xfrm>
                        <a:off x="1066800" y="2057400"/>
                        <a:ext cx="6953250" cy="4213225"/>
                      </a:xfrm>
                      <a:prstGeom prst="rect">
                        <a:avLst/>
                      </a:prstGeom>
                      <a:noFill/>
                      <a:ln w="38100">
                        <a:noFill/>
                        <a:miter/>
                      </a:ln>
                    </p:spPr>
                  </p:pic>
                </p:oleObj>
              </mc:Fallback>
            </mc:AlternateContent>
          </a:graphicData>
        </a:graphic>
      </p:graphicFrame>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非法的代码外提例子（2）</a:t>
            </a:r>
            <a:endParaRPr lang="zh-CN" altLang="en-US" dirty="0">
              <a:latin typeface="宋体" panose="02010600030101010101" pitchFamily="2" charset="-122"/>
              <a:ea typeface="宋体" panose="02010600030101010101" pitchFamily="2" charset="-122"/>
            </a:endParaRPr>
          </a:p>
        </p:txBody>
      </p:sp>
      <p:sp>
        <p:nvSpPr>
          <p:cNvPr id="278531"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不满足第二个条件，错误</a:t>
            </a:r>
            <a:endParaRPr lang="zh-CN" altLang="en-US" sz="2400" b="1" dirty="0">
              <a:ea typeface="宋体" panose="02010600030101010101" pitchFamily="2" charset="-122"/>
            </a:endParaRPr>
          </a:p>
        </p:txBody>
      </p:sp>
      <p:graphicFrame>
        <p:nvGraphicFramePr>
          <p:cNvPr id="278532" name="Object 6"/>
          <p:cNvGraphicFramePr>
            <a:graphicFrameLocks noChangeAspect="1"/>
          </p:cNvGraphicFramePr>
          <p:nvPr/>
        </p:nvGraphicFramePr>
        <p:xfrm>
          <a:off x="1066800" y="1905000"/>
          <a:ext cx="6953250" cy="4565650"/>
        </p:xfrm>
        <a:graphic>
          <a:graphicData uri="http://schemas.openxmlformats.org/presentationml/2006/ole">
            <mc:AlternateContent xmlns:mc="http://schemas.openxmlformats.org/markup-compatibility/2006">
              <mc:Choice xmlns:v="urn:schemas-microsoft-com:vml" Requires="v">
                <p:oleObj spid="_x0000_s3098" name="" r:id="rId1" imgW="6954520" imgH="4566920" progId="Visio.Drawing.4">
                  <p:embed/>
                </p:oleObj>
              </mc:Choice>
              <mc:Fallback>
                <p:oleObj name="" r:id="rId1" imgW="6954520" imgH="4566920" progId="Visio.Drawing.4">
                  <p:embed/>
                  <p:pic>
                    <p:nvPicPr>
                      <p:cNvPr id="0" name="图片 3097"/>
                      <p:cNvPicPr/>
                      <p:nvPr/>
                    </p:nvPicPr>
                    <p:blipFill>
                      <a:blip r:embed="rId2"/>
                      <a:stretch>
                        <a:fillRect/>
                      </a:stretch>
                    </p:blipFill>
                    <p:spPr>
                      <a:xfrm>
                        <a:off x="1066800" y="1905000"/>
                        <a:ext cx="6953250" cy="4565650"/>
                      </a:xfrm>
                      <a:prstGeom prst="rect">
                        <a:avLst/>
                      </a:prstGeom>
                      <a:noFill/>
                      <a:ln w="38100">
                        <a:noFill/>
                        <a:miter/>
                      </a:ln>
                    </p:spPr>
                  </p:pic>
                </p:oleObj>
              </mc:Fallback>
            </mc:AlternateContent>
          </a:graphicData>
        </a:graphic>
      </p:graphicFrame>
    </p:spTree>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非法的代码外提例子（3）</a:t>
            </a:r>
            <a:endParaRPr lang="zh-CN" altLang="en-US" dirty="0">
              <a:latin typeface="宋体" panose="02010600030101010101" pitchFamily="2" charset="-122"/>
              <a:ea typeface="宋体" panose="02010600030101010101" pitchFamily="2" charset="-122"/>
            </a:endParaRPr>
          </a:p>
        </p:txBody>
      </p:sp>
      <p:sp>
        <p:nvSpPr>
          <p:cNvPr id="280579"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不满足第三个条件，错误</a:t>
            </a:r>
            <a:endParaRPr lang="zh-CN" altLang="en-US" sz="2400" b="1" dirty="0">
              <a:ea typeface="宋体" panose="02010600030101010101" pitchFamily="2" charset="-122"/>
            </a:endParaRPr>
          </a:p>
        </p:txBody>
      </p:sp>
      <p:graphicFrame>
        <p:nvGraphicFramePr>
          <p:cNvPr id="280580" name="Object 5"/>
          <p:cNvGraphicFramePr>
            <a:graphicFrameLocks noChangeAspect="1"/>
          </p:cNvGraphicFramePr>
          <p:nvPr/>
        </p:nvGraphicFramePr>
        <p:xfrm>
          <a:off x="1066800" y="1981200"/>
          <a:ext cx="6953250" cy="4133850"/>
        </p:xfrm>
        <a:graphic>
          <a:graphicData uri="http://schemas.openxmlformats.org/presentationml/2006/ole">
            <mc:AlternateContent xmlns:mc="http://schemas.openxmlformats.org/markup-compatibility/2006">
              <mc:Choice xmlns:v="urn:schemas-microsoft-com:vml" Requires="v">
                <p:oleObj spid="_x0000_s3097" name="" r:id="rId1" imgW="6954520" imgH="4135120" progId="Visio.Drawing.4">
                  <p:embed/>
                </p:oleObj>
              </mc:Choice>
              <mc:Fallback>
                <p:oleObj name="" r:id="rId1" imgW="6954520" imgH="4135120" progId="Visio.Drawing.4">
                  <p:embed/>
                  <p:pic>
                    <p:nvPicPr>
                      <p:cNvPr id="0" name="图片 3096"/>
                      <p:cNvPicPr/>
                      <p:nvPr/>
                    </p:nvPicPr>
                    <p:blipFill>
                      <a:blip r:embed="rId2"/>
                      <a:stretch>
                        <a:fillRect/>
                      </a:stretch>
                    </p:blipFill>
                    <p:spPr>
                      <a:xfrm>
                        <a:off x="1066800" y="1981200"/>
                        <a:ext cx="6953250" cy="4133850"/>
                      </a:xfrm>
                      <a:prstGeom prst="rect">
                        <a:avLst/>
                      </a:prstGeom>
                      <a:noFill/>
                      <a:ln w="38100">
                        <a:noFill/>
                        <a:miter/>
                      </a:ln>
                    </p:spPr>
                  </p:pic>
                </p:oleObj>
              </mc:Fallback>
            </mc:AlternateContent>
          </a:graphicData>
        </a:graphic>
      </p:graphicFrame>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代码外提的算法</a:t>
            </a:r>
            <a:endParaRPr lang="zh-CN" altLang="en-US" dirty="0">
              <a:latin typeface="宋体" panose="02010600030101010101" pitchFamily="2" charset="-122"/>
              <a:ea typeface="宋体" panose="02010600030101010101" pitchFamily="2" charset="-122"/>
            </a:endParaRPr>
          </a:p>
        </p:txBody>
      </p:sp>
      <p:sp>
        <p:nvSpPr>
          <p:cNvPr id="282627" name="Rectangle 3"/>
          <p:cNvSpPr>
            <a:spLocks noGrp="1"/>
          </p:cNvSpPr>
          <p:nvPr>
            <p:ph idx="1"/>
          </p:nvPr>
        </p:nvSpPr>
        <p:spPr>
          <a:xfrm>
            <a:off x="990600" y="1524000"/>
            <a:ext cx="7391400" cy="4648200"/>
          </a:xfrm>
        </p:spPr>
        <p:txBody>
          <a:bodyPr vert="horz" wrap="square" lIns="92075" tIns="46038" rIns="92075" bIns="46038" anchor="t" anchorCtr="0"/>
          <a:p>
            <a:pPr>
              <a:buNone/>
            </a:pPr>
            <a:r>
              <a:rPr lang="zh-CN" altLang="en-US" sz="2000" b="1" dirty="0">
                <a:ea typeface="宋体" panose="02010600030101010101" pitchFamily="2" charset="-122"/>
              </a:rPr>
              <a:t>输入：循环</a:t>
            </a:r>
            <a:r>
              <a:rPr lang="en-US" altLang="zh-CN" sz="2000" b="1" dirty="0">
                <a:ea typeface="宋体" panose="02010600030101010101" pitchFamily="2" charset="-122"/>
              </a:rPr>
              <a:t>L，</a:t>
            </a:r>
            <a:r>
              <a:rPr lang="zh-CN" altLang="en-US" sz="2000" b="1" dirty="0">
                <a:ea typeface="宋体" panose="02010600030101010101" pitchFamily="2" charset="-122"/>
              </a:rPr>
              <a:t>包含</a:t>
            </a:r>
            <a:r>
              <a:rPr lang="en-US" altLang="zh-CN" sz="2000" b="1" dirty="0">
                <a:ea typeface="宋体" panose="02010600030101010101" pitchFamily="2" charset="-122"/>
              </a:rPr>
              <a:t>ud</a:t>
            </a:r>
            <a:r>
              <a:rPr lang="zh-CN" altLang="en-US" sz="2000" b="1" dirty="0">
                <a:ea typeface="宋体" panose="02010600030101010101" pitchFamily="2" charset="-122"/>
              </a:rPr>
              <a:t>链和必经结点信息</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输出：循环的修改版本，增加了前置块，可能有一些语句外提到前置块中</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方法：</a:t>
            </a:r>
            <a:endParaRPr lang="en-US" altLang="zh-CN" sz="2000" b="1" dirty="0">
              <a:ea typeface="宋体" panose="02010600030101010101" pitchFamily="2" charset="-122"/>
            </a:endParaRPr>
          </a:p>
          <a:p>
            <a:pPr>
              <a:buNone/>
            </a:pPr>
            <a:r>
              <a:rPr lang="zh-CN" altLang="en-US" sz="2000" b="1" dirty="0">
                <a:ea typeface="宋体" panose="02010600030101010101" pitchFamily="2" charset="-122"/>
              </a:rPr>
              <a:t>	(1)	用前面的算法寻找循环不变计算</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(2)	</a:t>
            </a:r>
            <a:r>
              <a:rPr lang="zh-CN" altLang="en-US" sz="2000" b="1" dirty="0">
                <a:ea typeface="宋体" panose="02010600030101010101" pitchFamily="2" charset="-122"/>
              </a:rPr>
              <a:t>对(1)中找到的每个</a:t>
            </a:r>
            <a:r>
              <a:rPr lang="en-US" altLang="zh-CN" sz="2000" b="1" dirty="0">
                <a:ea typeface="宋体" panose="02010600030101010101" pitchFamily="2" charset="-122"/>
              </a:rPr>
              <a:t>x</a:t>
            </a:r>
            <a:r>
              <a:rPr lang="zh-CN" altLang="en-US" sz="2000" b="1" dirty="0">
                <a:ea typeface="宋体" panose="02010600030101010101" pitchFamily="2" charset="-122"/>
              </a:rPr>
              <a:t>定值语句</a:t>
            </a:r>
            <a:r>
              <a:rPr lang="en-US" altLang="zh-CN" sz="2000" b="1" dirty="0">
                <a:ea typeface="宋体" panose="02010600030101010101" pitchFamily="2" charset="-122"/>
              </a:rPr>
              <a:t>s，</a:t>
            </a:r>
            <a:r>
              <a:rPr lang="zh-CN" altLang="en-US" sz="2000" b="1" dirty="0">
                <a:ea typeface="宋体" panose="02010600030101010101" pitchFamily="2" charset="-122"/>
              </a:rPr>
              <a:t>检查是否满足</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a)   s</a:t>
            </a:r>
            <a:r>
              <a:rPr lang="zh-CN" altLang="en-US" sz="2000" b="1" dirty="0">
                <a:ea typeface="宋体" panose="02010600030101010101" pitchFamily="2" charset="-122"/>
              </a:rPr>
              <a:t>所在的块是</a:t>
            </a:r>
            <a:r>
              <a:rPr lang="en-US" altLang="zh-CN" sz="2000" b="1" dirty="0">
                <a:ea typeface="宋体" panose="02010600030101010101" pitchFamily="2" charset="-122"/>
              </a:rPr>
              <a:t>L</a:t>
            </a:r>
            <a:r>
              <a:rPr lang="zh-CN" altLang="en-US" sz="2000" b="1" dirty="0">
                <a:ea typeface="宋体" panose="02010600030101010101" pitchFamily="2" charset="-122"/>
              </a:rPr>
              <a:t>所有出口的必经块</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b)   x</a:t>
            </a:r>
            <a:r>
              <a:rPr lang="zh-CN" altLang="en-US" sz="2000" b="1" dirty="0">
                <a:ea typeface="宋体" panose="02010600030101010101" pitchFamily="2" charset="-122"/>
              </a:rPr>
              <a:t>在</a:t>
            </a:r>
            <a:r>
              <a:rPr lang="en-US" altLang="zh-CN" sz="2000" b="1" dirty="0">
                <a:ea typeface="宋体" panose="02010600030101010101" pitchFamily="2" charset="-122"/>
              </a:rPr>
              <a:t>L</a:t>
            </a:r>
            <a:r>
              <a:rPr lang="zh-CN" altLang="en-US" sz="2000" b="1" dirty="0">
                <a:ea typeface="宋体" panose="02010600030101010101" pitchFamily="2" charset="-122"/>
              </a:rPr>
              <a:t>的其它地方没有定值</a:t>
            </a:r>
            <a:endParaRPr lang="zh-CN" altLang="en-US" sz="2000" b="1" dirty="0">
              <a:ea typeface="宋体" panose="02010600030101010101" pitchFamily="2" charset="-122"/>
            </a:endParaRPr>
          </a:p>
          <a:p>
            <a:pPr>
              <a:buNone/>
            </a:pPr>
            <a:r>
              <a:rPr lang="zh-CN" altLang="en-US" sz="2000" b="1" dirty="0">
                <a:ea typeface="宋体" panose="02010600030101010101" pitchFamily="2" charset="-122"/>
              </a:rPr>
              <a:t>		(</a:t>
            </a:r>
            <a:r>
              <a:rPr lang="en-US" altLang="zh-CN" sz="2000" b="1" dirty="0">
                <a:ea typeface="宋体" panose="02010600030101010101" pitchFamily="2" charset="-122"/>
              </a:rPr>
              <a:t>c)   L</a:t>
            </a:r>
            <a:r>
              <a:rPr lang="zh-CN" altLang="en-US" sz="2000" b="1" dirty="0">
                <a:ea typeface="宋体" panose="02010600030101010101" pitchFamily="2" charset="-122"/>
              </a:rPr>
              <a:t>中所有</a:t>
            </a:r>
            <a:r>
              <a:rPr lang="en-US" altLang="zh-CN" sz="2000" b="1" dirty="0">
                <a:ea typeface="宋体" panose="02010600030101010101" pitchFamily="2" charset="-122"/>
              </a:rPr>
              <a:t>x</a:t>
            </a:r>
            <a:r>
              <a:rPr lang="zh-CN" altLang="en-US" sz="2000" b="1" dirty="0">
                <a:ea typeface="宋体" panose="02010600030101010101" pitchFamily="2" charset="-122"/>
              </a:rPr>
              <a:t>的引用只有</a:t>
            </a:r>
            <a:r>
              <a:rPr lang="en-US" altLang="zh-CN" sz="2000" b="1" dirty="0">
                <a:ea typeface="宋体" panose="02010600030101010101" pitchFamily="2" charset="-122"/>
              </a:rPr>
              <a:t>s</a:t>
            </a:r>
            <a:r>
              <a:rPr lang="zh-CN" altLang="en-US" sz="2000" b="1" dirty="0">
                <a:ea typeface="宋体" panose="02010600030101010101" pitchFamily="2" charset="-122"/>
              </a:rPr>
              <a:t>的</a:t>
            </a:r>
            <a:r>
              <a:rPr lang="en-US" altLang="zh-CN" sz="2000" b="1" dirty="0">
                <a:ea typeface="宋体" panose="02010600030101010101" pitchFamily="2" charset="-122"/>
              </a:rPr>
              <a:t>x</a:t>
            </a:r>
            <a:r>
              <a:rPr lang="zh-CN" altLang="en-US" sz="2000" b="1" dirty="0">
                <a:ea typeface="宋体" panose="02010600030101010101" pitchFamily="2" charset="-122"/>
              </a:rPr>
              <a:t>定值才能到达</a:t>
            </a:r>
            <a:endParaRPr lang="zh-CN" altLang="en-US" sz="2000" b="1" dirty="0">
              <a:ea typeface="宋体" panose="02010600030101010101" pitchFamily="2" charset="-122"/>
            </a:endParaRPr>
          </a:p>
          <a:p>
            <a:pPr>
              <a:buNone/>
            </a:pPr>
            <a:r>
              <a:rPr lang="en-US" altLang="zh-CN" sz="2000" b="1" dirty="0">
                <a:ea typeface="宋体" panose="02010600030101010101" pitchFamily="2" charset="-122"/>
              </a:rPr>
              <a:t>	(3)	</a:t>
            </a:r>
            <a:r>
              <a:rPr lang="zh-CN" altLang="en-US" sz="2000" b="1" dirty="0">
                <a:ea typeface="宋体" panose="02010600030101010101" pitchFamily="2" charset="-122"/>
              </a:rPr>
              <a:t>按寻找循环不变计算的算法找出次序，把(1)中找出的满	足(2)中3个条件的每个语句移到新的前置块，但是若</a:t>
            </a:r>
            <a:r>
              <a:rPr lang="en-US" altLang="zh-CN" sz="2000" b="1" dirty="0">
                <a:ea typeface="宋体" panose="02010600030101010101" pitchFamily="2" charset="-122"/>
              </a:rPr>
              <a:t>s</a:t>
            </a:r>
            <a:r>
              <a:rPr lang="zh-CN" altLang="en-US" sz="2000" b="1" dirty="0">
                <a:ea typeface="宋体" panose="02010600030101010101" pitchFamily="2" charset="-122"/>
              </a:rPr>
              <a:t>的	运算对象在</a:t>
            </a:r>
            <a:r>
              <a:rPr lang="en-US" altLang="zh-CN" sz="2000" b="1" dirty="0">
                <a:ea typeface="宋体" panose="02010600030101010101" pitchFamily="2" charset="-122"/>
              </a:rPr>
              <a:t>L</a:t>
            </a:r>
            <a:r>
              <a:rPr lang="zh-CN" altLang="en-US" sz="2000" b="1" dirty="0">
                <a:ea typeface="宋体" panose="02010600030101010101" pitchFamily="2" charset="-122"/>
              </a:rPr>
              <a:t>中定义（有前面的算法找出这种</a:t>
            </a:r>
            <a:r>
              <a:rPr lang="en-US" altLang="zh-CN" sz="2000" b="1" dirty="0">
                <a:ea typeface="宋体" panose="02010600030101010101" pitchFamily="2" charset="-122"/>
              </a:rPr>
              <a:t>s），</a:t>
            </a:r>
            <a:r>
              <a:rPr lang="zh-CN" altLang="en-US" sz="2000" b="1" dirty="0">
                <a:ea typeface="宋体" panose="02010600030101010101" pitchFamily="2" charset="-122"/>
              </a:rPr>
              <a:t>则只	有这种对象的定值语句外提到前置块后，才能外提</a:t>
            </a:r>
            <a:r>
              <a:rPr lang="en-US" altLang="zh-CN" sz="2000" b="1" dirty="0">
                <a:ea typeface="宋体" panose="02010600030101010101" pitchFamily="2" charset="-122"/>
              </a:rPr>
              <a:t>s</a:t>
            </a:r>
            <a:endParaRPr lang="en-US" altLang="zh-CN" sz="2000" b="1" dirty="0">
              <a:ea typeface="宋体" panose="02010600030101010101" pitchFamily="2" charset="-122"/>
            </a:endParaRP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46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代码外提算法的讨论</a:t>
            </a:r>
            <a:endParaRPr lang="zh-CN" altLang="en-US" dirty="0">
              <a:latin typeface="宋体" panose="02010600030101010101" pitchFamily="2" charset="-122"/>
              <a:ea typeface="宋体" panose="02010600030101010101" pitchFamily="2" charset="-122"/>
            </a:endParaRPr>
          </a:p>
        </p:txBody>
      </p:sp>
      <p:sp>
        <p:nvSpPr>
          <p:cNvPr id="28467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条件(2</a:t>
            </a:r>
            <a:r>
              <a:rPr lang="en-US" altLang="zh-CN" sz="2400" b="1" dirty="0">
                <a:ea typeface="宋体" panose="02010600030101010101" pitchFamily="2" charset="-122"/>
              </a:rPr>
              <a:t>a)</a:t>
            </a:r>
            <a:r>
              <a:rPr lang="zh-CN" altLang="en-US" sz="2400" b="1" dirty="0">
                <a:ea typeface="宋体" panose="02010600030101010101" pitchFamily="2" charset="-122"/>
              </a:rPr>
              <a:t>和(2</a:t>
            </a:r>
            <a:r>
              <a:rPr lang="en-US" altLang="zh-CN" sz="2400" b="1" dirty="0">
                <a:ea typeface="宋体" panose="02010600030101010101" pitchFamily="2" charset="-122"/>
              </a:rPr>
              <a:t>b)</a:t>
            </a:r>
            <a:r>
              <a:rPr lang="zh-CN" altLang="en-US" sz="2400" b="1" dirty="0">
                <a:ea typeface="宋体" panose="02010600030101010101" pitchFamily="2" charset="-122"/>
              </a:rPr>
              <a:t>保证在</a:t>
            </a:r>
            <a:r>
              <a:rPr lang="en-US" altLang="zh-CN" sz="2400" b="1" dirty="0">
                <a:ea typeface="宋体" panose="02010600030101010101" pitchFamily="2" charset="-122"/>
              </a:rPr>
              <a:t>s</a:t>
            </a:r>
            <a:r>
              <a:rPr lang="zh-CN" altLang="en-US" sz="2400" b="1" dirty="0">
                <a:ea typeface="宋体" panose="02010600030101010101" pitchFamily="2" charset="-122"/>
              </a:rPr>
              <a:t>中计算的</a:t>
            </a:r>
            <a:r>
              <a:rPr lang="en-US" altLang="zh-CN" sz="2400" b="1" dirty="0">
                <a:ea typeface="宋体" panose="02010600030101010101" pitchFamily="2" charset="-122"/>
              </a:rPr>
              <a:t>x</a:t>
            </a:r>
            <a:r>
              <a:rPr lang="zh-CN" altLang="en-US" sz="2400" b="1" dirty="0">
                <a:ea typeface="宋体" panose="02010600030101010101" pitchFamily="2" charset="-122"/>
              </a:rPr>
              <a:t>值必定是</a:t>
            </a:r>
            <a:r>
              <a:rPr lang="en-US" altLang="zh-CN" sz="2400" b="1" dirty="0">
                <a:ea typeface="宋体" panose="02010600030101010101" pitchFamily="2" charset="-122"/>
              </a:rPr>
              <a:t>L</a:t>
            </a:r>
            <a:r>
              <a:rPr lang="zh-CN" altLang="en-US" sz="2400" b="1" dirty="0">
                <a:ea typeface="宋体" panose="02010600030101010101" pitchFamily="2" charset="-122"/>
              </a:rPr>
              <a:t>任何出口的</a:t>
            </a:r>
            <a:r>
              <a:rPr lang="en-US" altLang="zh-CN" sz="2400" b="1" dirty="0">
                <a:ea typeface="宋体" panose="02010600030101010101" pitchFamily="2" charset="-122"/>
              </a:rPr>
              <a:t>x</a:t>
            </a:r>
            <a:r>
              <a:rPr lang="zh-CN" altLang="en-US" sz="2400" b="1" dirty="0">
                <a:ea typeface="宋体" panose="02010600030101010101" pitchFamily="2" charset="-122"/>
              </a:rPr>
              <a:t>的定值</a:t>
            </a:r>
            <a:endParaRPr lang="zh-CN" altLang="en-US" sz="2400" b="1" dirty="0">
              <a:ea typeface="宋体" panose="02010600030101010101" pitchFamily="2" charset="-122"/>
            </a:endParaRPr>
          </a:p>
          <a:p>
            <a:r>
              <a:rPr lang="zh-CN" altLang="en-US" sz="2400" b="1" dirty="0">
                <a:ea typeface="宋体" panose="02010600030101010101" pitchFamily="2" charset="-122"/>
              </a:rPr>
              <a:t>条件(2</a:t>
            </a:r>
            <a:r>
              <a:rPr lang="en-US" altLang="zh-CN" sz="2400" b="1" dirty="0">
                <a:ea typeface="宋体" panose="02010600030101010101" pitchFamily="2" charset="-122"/>
              </a:rPr>
              <a:t>c)</a:t>
            </a:r>
            <a:r>
              <a:rPr lang="zh-CN" altLang="en-US" sz="2400" b="1" dirty="0">
                <a:ea typeface="宋体" panose="02010600030101010101" pitchFamily="2" charset="-122"/>
              </a:rPr>
              <a:t>保证</a:t>
            </a:r>
            <a:r>
              <a:rPr lang="en-US" altLang="zh-CN" sz="2400" b="1" dirty="0">
                <a:ea typeface="宋体" panose="02010600030101010101" pitchFamily="2" charset="-122"/>
              </a:rPr>
              <a:t>L</a:t>
            </a:r>
            <a:r>
              <a:rPr lang="zh-CN" altLang="en-US" sz="2400" b="1" dirty="0">
                <a:ea typeface="宋体" panose="02010600030101010101" pitchFamily="2" charset="-122"/>
              </a:rPr>
              <a:t>中任何</a:t>
            </a:r>
            <a:r>
              <a:rPr lang="en-US" altLang="zh-CN" sz="2400" b="1" dirty="0">
                <a:ea typeface="宋体" panose="02010600030101010101" pitchFamily="2" charset="-122"/>
              </a:rPr>
              <a:t>x</a:t>
            </a:r>
            <a:r>
              <a:rPr lang="zh-CN" altLang="en-US" sz="2400" b="1" dirty="0">
                <a:ea typeface="宋体" panose="02010600030101010101" pitchFamily="2" charset="-122"/>
              </a:rPr>
              <a:t>的引用在外提前后</a:t>
            </a:r>
            <a:r>
              <a:rPr lang="en-US" altLang="zh-CN" sz="2400" b="1" dirty="0">
                <a:ea typeface="宋体" panose="02010600030101010101" pitchFamily="2" charset="-122"/>
              </a:rPr>
              <a:t>x</a:t>
            </a:r>
            <a:r>
              <a:rPr lang="zh-CN" altLang="en-US" sz="2400" b="1" dirty="0">
                <a:ea typeface="宋体" panose="02010600030101010101" pitchFamily="2" charset="-122"/>
              </a:rPr>
              <a:t>都引用</a:t>
            </a:r>
            <a:r>
              <a:rPr lang="en-US" altLang="zh-CN" sz="2400" b="1" dirty="0">
                <a:ea typeface="宋体" panose="02010600030101010101" pitchFamily="2" charset="-122"/>
              </a:rPr>
              <a:t>s</a:t>
            </a:r>
            <a:r>
              <a:rPr lang="zh-CN" altLang="en-US" sz="2400" b="1" dirty="0">
                <a:ea typeface="宋体" panose="02010600030101010101" pitchFamily="2" charset="-122"/>
              </a:rPr>
              <a:t>计算的</a:t>
            </a:r>
            <a:r>
              <a:rPr lang="en-US" altLang="zh-CN" sz="2400" b="1" dirty="0">
                <a:ea typeface="宋体" panose="02010600030101010101" pitchFamily="2" charset="-122"/>
              </a:rPr>
              <a:t>x</a:t>
            </a:r>
            <a:r>
              <a:rPr lang="zh-CN" altLang="en-US" sz="2400" b="1" dirty="0">
                <a:ea typeface="宋体" panose="02010600030101010101" pitchFamily="2" charset="-122"/>
              </a:rPr>
              <a:t>值</a:t>
            </a:r>
            <a:endParaRPr lang="zh-CN" altLang="en-US" sz="2400" b="1" dirty="0">
              <a:ea typeface="宋体" panose="02010600030101010101" pitchFamily="2" charset="-122"/>
            </a:endParaRPr>
          </a:p>
          <a:p>
            <a:r>
              <a:rPr lang="zh-CN" altLang="en-US" sz="2400" b="1" dirty="0">
                <a:ea typeface="宋体" panose="02010600030101010101" pitchFamily="2" charset="-122"/>
              </a:rPr>
              <a:t>代码外提至少不会增加程序的运行时间（因为外提的代码在每次进入循环时至少要执行一次），而且可能在很大程度上减少运行时间</a:t>
            </a:r>
            <a:endParaRPr lang="zh-CN" altLang="en-US" sz="2400" b="1" dirty="0">
              <a:ea typeface="宋体" panose="02010600030101010101" pitchFamily="2" charset="-122"/>
            </a:endParaRPr>
          </a:p>
        </p:txBody>
      </p:sp>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代码外提后数据流信息的维护</a:t>
            </a:r>
            <a:endParaRPr lang="zh-CN" altLang="en-US" dirty="0">
              <a:latin typeface="宋体" panose="02010600030101010101" pitchFamily="2" charset="-122"/>
              <a:ea typeface="宋体" panose="02010600030101010101" pitchFamily="2" charset="-122"/>
            </a:endParaRPr>
          </a:p>
        </p:txBody>
      </p:sp>
      <p:sp>
        <p:nvSpPr>
          <p:cNvPr id="286723" name="Rectangle 3"/>
          <p:cNvSpPr>
            <a:spLocks noGrp="1"/>
          </p:cNvSpPr>
          <p:nvPr>
            <p:ph idx="1"/>
          </p:nvPr>
        </p:nvSpPr>
        <p:spPr>
          <a:xfrm>
            <a:off x="990600" y="1371600"/>
            <a:ext cx="7391400" cy="5181600"/>
          </a:xfrm>
        </p:spPr>
        <p:txBody>
          <a:bodyPr vert="horz" wrap="square" lIns="92075" tIns="46038" rIns="92075" bIns="46038" anchor="t" anchorCtr="0"/>
          <a:p>
            <a:pPr>
              <a:spcBef>
                <a:spcPct val="0"/>
              </a:spcBef>
            </a:pPr>
            <a:r>
              <a:rPr lang="zh-CN" altLang="en-US" sz="2400" b="1" dirty="0">
                <a:ea typeface="宋体" panose="02010600030101010101" pitchFamily="2" charset="-122"/>
              </a:rPr>
              <a:t>上述代码外提的算法并没有改变</a:t>
            </a:r>
            <a:r>
              <a:rPr lang="en-US" altLang="zh-CN" sz="2400" b="1" dirty="0">
                <a:ea typeface="宋体" panose="02010600030101010101" pitchFamily="2" charset="-122"/>
              </a:rPr>
              <a:t>ud</a:t>
            </a:r>
            <a:r>
              <a:rPr lang="zh-CN" altLang="en-US" sz="2400" b="1" dirty="0">
                <a:ea typeface="宋体" panose="02010600030101010101" pitchFamily="2" charset="-122"/>
              </a:rPr>
              <a:t>链信息</a:t>
            </a:r>
            <a:endParaRPr lang="zh-CN" altLang="en-US" sz="2400" b="1" dirty="0">
              <a:ea typeface="宋体" panose="02010600030101010101" pitchFamily="2" charset="-122"/>
            </a:endParaRPr>
          </a:p>
          <a:p>
            <a:pPr lvl="1">
              <a:spcBef>
                <a:spcPct val="0"/>
              </a:spcBef>
            </a:pPr>
            <a:r>
              <a:rPr lang="zh-CN" altLang="en-US" sz="2200" b="1" dirty="0">
                <a:ea typeface="宋体" panose="02010600030101010101" pitchFamily="2" charset="-122"/>
              </a:rPr>
              <a:t>根据条件(2</a:t>
            </a:r>
            <a:r>
              <a:rPr lang="en-US" altLang="zh-CN" sz="2200" b="1" dirty="0">
                <a:ea typeface="宋体" panose="02010600030101010101" pitchFamily="2" charset="-122"/>
              </a:rPr>
              <a:t>a)，(2b)</a:t>
            </a:r>
            <a:r>
              <a:rPr lang="zh-CN" altLang="en-US" sz="2200" b="1" dirty="0">
                <a:ea typeface="宋体" panose="02010600030101010101" pitchFamily="2" charset="-122"/>
              </a:rPr>
              <a:t>和(2</a:t>
            </a:r>
            <a:r>
              <a:rPr lang="en-US" altLang="zh-CN" sz="2200" b="1" dirty="0">
                <a:ea typeface="宋体" panose="02010600030101010101" pitchFamily="2" charset="-122"/>
              </a:rPr>
              <a:t>c)</a:t>
            </a:r>
            <a:endParaRPr lang="zh-CN" altLang="en-US" sz="2200" b="1" dirty="0">
              <a:ea typeface="宋体" panose="02010600030101010101" pitchFamily="2" charset="-122"/>
            </a:endParaRPr>
          </a:p>
          <a:p>
            <a:pPr lvl="2">
              <a:spcBef>
                <a:spcPct val="0"/>
              </a:spcBef>
            </a:pPr>
            <a:r>
              <a:rPr lang="zh-CN" altLang="en-US" sz="2000" b="1" dirty="0">
                <a:ea typeface="宋体" panose="02010600030101010101" pitchFamily="2" charset="-122"/>
              </a:rPr>
              <a:t>原来由</a:t>
            </a:r>
            <a:r>
              <a:rPr lang="en-US" altLang="zh-CN" sz="2000" b="1" dirty="0">
                <a:ea typeface="宋体" panose="02010600030101010101" pitchFamily="2" charset="-122"/>
              </a:rPr>
              <a:t>s</a:t>
            </a:r>
            <a:r>
              <a:rPr lang="zh-CN" altLang="en-US" sz="2000" b="1" dirty="0">
                <a:ea typeface="宋体" panose="02010600030101010101" pitchFamily="2" charset="-122"/>
              </a:rPr>
              <a:t>的定值到达的引用，在</a:t>
            </a:r>
            <a:r>
              <a:rPr lang="en-US" altLang="zh-CN" sz="2000" b="1" dirty="0">
                <a:ea typeface="宋体" panose="02010600030101010101" pitchFamily="2" charset="-122"/>
              </a:rPr>
              <a:t>s</a:t>
            </a:r>
            <a:r>
              <a:rPr lang="zh-CN" altLang="en-US" sz="2000" b="1" dirty="0">
                <a:ea typeface="宋体" panose="02010600030101010101" pitchFamily="2" charset="-122"/>
              </a:rPr>
              <a:t>移动位置后，定值仍然能到达</a:t>
            </a:r>
            <a:endParaRPr lang="zh-CN" altLang="en-US" sz="2000" b="1" dirty="0">
              <a:ea typeface="宋体" panose="02010600030101010101" pitchFamily="2" charset="-122"/>
            </a:endParaRPr>
          </a:p>
          <a:p>
            <a:pPr lvl="2">
              <a:spcBef>
                <a:spcPct val="0"/>
              </a:spcBef>
            </a:pPr>
            <a:r>
              <a:rPr lang="en-US" altLang="zh-CN" sz="2000" b="1" dirty="0">
                <a:ea typeface="宋体" panose="02010600030101010101" pitchFamily="2" charset="-122"/>
              </a:rPr>
              <a:t>s</a:t>
            </a:r>
            <a:r>
              <a:rPr lang="zh-CN" altLang="en-US" sz="2000" b="1" dirty="0">
                <a:ea typeface="宋体" panose="02010600030101010101" pitchFamily="2" charset="-122"/>
              </a:rPr>
              <a:t>应用的变量的定值</a:t>
            </a:r>
            <a:endParaRPr lang="zh-CN" altLang="en-US" sz="2000" b="1" dirty="0">
              <a:ea typeface="宋体" panose="02010600030101010101" pitchFamily="2" charset="-122"/>
            </a:endParaRPr>
          </a:p>
          <a:p>
            <a:pPr lvl="3">
              <a:spcBef>
                <a:spcPct val="0"/>
              </a:spcBef>
            </a:pPr>
            <a:r>
              <a:rPr lang="zh-CN" altLang="en-US" sz="1800" b="1" dirty="0">
                <a:ea typeface="宋体" panose="02010600030101010101" pitchFamily="2" charset="-122"/>
              </a:rPr>
              <a:t>在循环</a:t>
            </a:r>
            <a:r>
              <a:rPr lang="en-US" altLang="zh-CN" sz="1800" b="1" dirty="0">
                <a:ea typeface="宋体" panose="02010600030101010101" pitchFamily="2" charset="-122"/>
              </a:rPr>
              <a:t>L</a:t>
            </a:r>
            <a:r>
              <a:rPr lang="zh-CN" altLang="en-US" sz="1800" b="1" dirty="0">
                <a:ea typeface="宋体" panose="02010600030101010101" pitchFamily="2" charset="-122"/>
              </a:rPr>
              <a:t>外，可以到达前置块</a:t>
            </a:r>
            <a:endParaRPr lang="zh-CN" altLang="en-US" sz="1800" b="1" dirty="0">
              <a:ea typeface="宋体" panose="02010600030101010101" pitchFamily="2" charset="-122"/>
            </a:endParaRPr>
          </a:p>
          <a:p>
            <a:pPr lvl="3">
              <a:spcBef>
                <a:spcPct val="0"/>
              </a:spcBef>
            </a:pPr>
            <a:r>
              <a:rPr lang="zh-CN" altLang="en-US" sz="1800" b="1" dirty="0">
                <a:ea typeface="宋体" panose="02010600030101010101" pitchFamily="2" charset="-122"/>
              </a:rPr>
              <a:t>原来在循环</a:t>
            </a:r>
            <a:r>
              <a:rPr lang="en-US" altLang="zh-CN" sz="1800" b="1" dirty="0">
                <a:ea typeface="宋体" panose="02010600030101010101" pitchFamily="2" charset="-122"/>
              </a:rPr>
              <a:t>L</a:t>
            </a:r>
            <a:r>
              <a:rPr lang="zh-CN" altLang="en-US" sz="1800" b="1" dirty="0">
                <a:ea typeface="宋体" panose="02010600030101010101" pitchFamily="2" charset="-122"/>
              </a:rPr>
              <a:t>内，由步骤(3)知道，它们已经移到前置块</a:t>
            </a:r>
            <a:r>
              <a:rPr lang="en-US" altLang="zh-CN" sz="1800" b="1" dirty="0">
                <a:ea typeface="宋体" panose="02010600030101010101" pitchFamily="2" charset="-122"/>
              </a:rPr>
              <a:t>s</a:t>
            </a:r>
            <a:r>
              <a:rPr lang="zh-CN" altLang="en-US" sz="1800" b="1" dirty="0">
                <a:ea typeface="宋体" panose="02010600030101010101" pitchFamily="2" charset="-122"/>
              </a:rPr>
              <a:t>的前面</a:t>
            </a:r>
            <a:endParaRPr lang="zh-CN" altLang="en-US" sz="1800" b="1" dirty="0">
              <a:ea typeface="宋体" panose="02010600030101010101" pitchFamily="2" charset="-122"/>
            </a:endParaRPr>
          </a:p>
          <a:p>
            <a:pPr lvl="1">
              <a:spcBef>
                <a:spcPct val="0"/>
              </a:spcBef>
            </a:pPr>
            <a:r>
              <a:rPr lang="en-US" altLang="zh-CN" sz="2200" b="1" dirty="0">
                <a:ea typeface="宋体" panose="02010600030101010101" pitchFamily="2" charset="-122"/>
              </a:rPr>
              <a:t>ud</a:t>
            </a:r>
            <a:r>
              <a:rPr lang="zh-CN" altLang="en-US" sz="2200" b="1" dirty="0">
                <a:ea typeface="宋体" panose="02010600030101010101" pitchFamily="2" charset="-122"/>
              </a:rPr>
              <a:t>链的维护</a:t>
            </a:r>
            <a:endParaRPr lang="zh-CN" altLang="en-US" sz="2200" b="1" dirty="0">
              <a:ea typeface="宋体" panose="02010600030101010101" pitchFamily="2" charset="-122"/>
            </a:endParaRPr>
          </a:p>
          <a:p>
            <a:pPr lvl="2">
              <a:spcBef>
                <a:spcPct val="0"/>
              </a:spcBef>
            </a:pPr>
            <a:r>
              <a:rPr lang="zh-CN" altLang="en-US" sz="2000" b="1" dirty="0">
                <a:ea typeface="宋体" panose="02010600030101010101" pitchFamily="2" charset="-122"/>
              </a:rPr>
              <a:t>通过指针间址，只需改变指向</a:t>
            </a:r>
            <a:r>
              <a:rPr lang="en-US" altLang="zh-CN" sz="2000" b="1" dirty="0">
                <a:ea typeface="宋体" panose="02010600030101010101" pitchFamily="2" charset="-122"/>
              </a:rPr>
              <a:t>s</a:t>
            </a:r>
            <a:r>
              <a:rPr lang="zh-CN" altLang="en-US" sz="2000" b="1" dirty="0">
                <a:ea typeface="宋体" panose="02010600030101010101" pitchFamily="2" charset="-122"/>
              </a:rPr>
              <a:t>的指针即可</a:t>
            </a:r>
            <a:endParaRPr lang="zh-CN" altLang="en-US" sz="2000" b="1" dirty="0">
              <a:ea typeface="宋体" panose="02010600030101010101" pitchFamily="2" charset="-122"/>
            </a:endParaRPr>
          </a:p>
          <a:p>
            <a:pPr lvl="2">
              <a:spcBef>
                <a:spcPct val="0"/>
              </a:spcBef>
            </a:pPr>
            <a:r>
              <a:rPr lang="zh-CN" altLang="en-US" sz="2000" b="1" dirty="0">
                <a:ea typeface="宋体" panose="02010600030101010101" pitchFamily="2" charset="-122"/>
              </a:rPr>
              <a:t>直接使用语句指针，则需要根据</a:t>
            </a:r>
            <a:r>
              <a:rPr lang="en-US" altLang="zh-CN" sz="2000" b="1" dirty="0">
                <a:ea typeface="宋体" panose="02010600030101010101" pitchFamily="2" charset="-122"/>
              </a:rPr>
              <a:t>du</a:t>
            </a:r>
            <a:r>
              <a:rPr lang="zh-CN" altLang="en-US" sz="2000" b="1" dirty="0">
                <a:ea typeface="宋体" panose="02010600030101010101" pitchFamily="2" charset="-122"/>
              </a:rPr>
              <a:t>链改变所有引用</a:t>
            </a:r>
            <a:r>
              <a:rPr lang="en-US" altLang="zh-CN" sz="2000" b="1" dirty="0">
                <a:ea typeface="宋体" panose="02010600030101010101" pitchFamily="2" charset="-122"/>
              </a:rPr>
              <a:t>s</a:t>
            </a:r>
            <a:r>
              <a:rPr lang="zh-CN" altLang="en-US" sz="2000" b="1" dirty="0">
                <a:ea typeface="宋体" panose="02010600030101010101" pitchFamily="2" charset="-122"/>
              </a:rPr>
              <a:t>的</a:t>
            </a:r>
            <a:r>
              <a:rPr lang="en-US" altLang="zh-CN" sz="2000" b="1" dirty="0">
                <a:ea typeface="宋体" panose="02010600030101010101" pitchFamily="2" charset="-122"/>
              </a:rPr>
              <a:t>ud</a:t>
            </a:r>
            <a:r>
              <a:rPr lang="zh-CN" altLang="en-US" sz="2000" b="1" dirty="0">
                <a:ea typeface="宋体" panose="02010600030101010101" pitchFamily="2" charset="-122"/>
              </a:rPr>
              <a:t>链</a:t>
            </a:r>
            <a:endParaRPr lang="zh-CN" altLang="en-US" sz="2000" b="1" dirty="0">
              <a:ea typeface="宋体" panose="02010600030101010101" pitchFamily="2" charset="-122"/>
            </a:endParaRPr>
          </a:p>
          <a:p>
            <a:pPr>
              <a:spcBef>
                <a:spcPct val="0"/>
              </a:spcBef>
            </a:pPr>
            <a:r>
              <a:rPr lang="zh-CN" altLang="en-US" sz="2400" b="1" dirty="0">
                <a:ea typeface="宋体" panose="02010600030101010101" pitchFamily="2" charset="-122"/>
              </a:rPr>
              <a:t>必经结点信息</a:t>
            </a:r>
            <a:endParaRPr lang="zh-CN" altLang="en-US" sz="2400" b="1" dirty="0">
              <a:ea typeface="宋体" panose="02010600030101010101" pitchFamily="2" charset="-122"/>
            </a:endParaRPr>
          </a:p>
          <a:p>
            <a:pPr lvl="1">
              <a:spcBef>
                <a:spcPct val="0"/>
              </a:spcBef>
            </a:pPr>
            <a:r>
              <a:rPr lang="zh-CN" altLang="en-US" sz="2200" b="1" dirty="0">
                <a:ea typeface="宋体" panose="02010600030101010101" pitchFamily="2" charset="-122"/>
              </a:rPr>
              <a:t>前置结点称为循环首结点的直接必经结点</a:t>
            </a:r>
            <a:endParaRPr lang="zh-CN" altLang="en-US" sz="2200" b="1" dirty="0">
              <a:ea typeface="宋体" panose="02010600030101010101" pitchFamily="2" charset="-122"/>
            </a:endParaRPr>
          </a:p>
          <a:p>
            <a:pPr lvl="1">
              <a:spcBef>
                <a:spcPct val="0"/>
              </a:spcBef>
            </a:pPr>
            <a:r>
              <a:rPr lang="zh-CN" altLang="en-US" sz="2200" b="1" dirty="0">
                <a:ea typeface="宋体" panose="02010600030101010101" pitchFamily="2" charset="-122"/>
              </a:rPr>
              <a:t>首结点的原来的必经结点称为前置结点的直接必经结点</a:t>
            </a:r>
            <a:endParaRPr lang="zh-CN" altLang="en-US" sz="2200" b="1" dirty="0">
              <a:ea typeface="宋体" panose="02010600030101010101" pitchFamily="2" charset="-122"/>
            </a:endParaRPr>
          </a:p>
        </p:txBody>
      </p: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a:t>
            </a:r>
            <a:endParaRPr lang="zh-CN" altLang="en-US" dirty="0">
              <a:latin typeface="宋体" panose="02010600030101010101" pitchFamily="2" charset="-122"/>
              <a:ea typeface="宋体" panose="02010600030101010101" pitchFamily="2" charset="-122"/>
            </a:endParaRPr>
          </a:p>
        </p:txBody>
      </p:sp>
      <p:sp>
        <p:nvSpPr>
          <p:cNvPr id="288771"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归纳变量定义</a:t>
            </a:r>
            <a:endParaRPr lang="zh-CN" altLang="en-US" sz="2400" b="1" dirty="0">
              <a:ea typeface="宋体" panose="02010600030101010101" pitchFamily="2" charset="-122"/>
            </a:endParaRPr>
          </a:p>
          <a:p>
            <a:pPr lvl="1"/>
            <a:r>
              <a:rPr lang="zh-CN" altLang="en-US" sz="2200" b="1" dirty="0">
                <a:ea typeface="宋体" panose="02010600030101010101" pitchFamily="2" charset="-122"/>
              </a:rPr>
              <a:t>在循环中，若变量</a:t>
            </a:r>
            <a:r>
              <a:rPr lang="en-US" altLang="zh-CN" sz="2200" b="1" dirty="0">
                <a:ea typeface="宋体" panose="02010600030101010101" pitchFamily="2" charset="-122"/>
              </a:rPr>
              <a:t>x</a:t>
            </a:r>
            <a:r>
              <a:rPr lang="zh-CN" altLang="en-US" sz="2200" b="1" dirty="0">
                <a:ea typeface="宋体" panose="02010600030101010101" pitchFamily="2" charset="-122"/>
              </a:rPr>
              <a:t>值的每次改变都是增加和减少某个固定的常数，则</a:t>
            </a:r>
            <a:r>
              <a:rPr lang="en-US" altLang="zh-CN" sz="2200" b="1" dirty="0">
                <a:ea typeface="宋体" panose="02010600030101010101" pitchFamily="2" charset="-122"/>
              </a:rPr>
              <a:t>x</a:t>
            </a:r>
            <a:r>
              <a:rPr lang="zh-CN" altLang="en-US" sz="2200" b="1" dirty="0">
                <a:ea typeface="宋体" panose="02010600030101010101" pitchFamily="2" charset="-122"/>
              </a:rPr>
              <a:t>叫做循环的归纳变量</a:t>
            </a:r>
            <a:endParaRPr lang="zh-CN" altLang="en-US" sz="2200" b="1" dirty="0">
              <a:ea typeface="宋体" panose="02010600030101010101" pitchFamily="2" charset="-122"/>
            </a:endParaRPr>
          </a:p>
          <a:p>
            <a:pPr lvl="2"/>
            <a:r>
              <a:rPr lang="zh-CN" altLang="en-US" sz="2000" b="1" dirty="0">
                <a:ea typeface="宋体" panose="02010600030101010101" pitchFamily="2" charset="-122"/>
              </a:rPr>
              <a:t>循环索引变量是一种典型的归纳变量</a:t>
            </a:r>
            <a:endParaRPr lang="zh-CN" altLang="en-US" sz="2000" b="1" dirty="0">
              <a:ea typeface="宋体" panose="02010600030101010101" pitchFamily="2" charset="-122"/>
            </a:endParaRPr>
          </a:p>
          <a:p>
            <a:pPr lvl="2">
              <a:buFont typeface="Wingdings" panose="05000000000000000000" pitchFamily="2" charset="2"/>
              <a:buNone/>
            </a:pPr>
            <a:r>
              <a:rPr lang="zh-CN" altLang="en-US" sz="2000" b="1" dirty="0">
                <a:ea typeface="宋体" panose="02010600030101010101" pitchFamily="2" charset="-122"/>
              </a:rPr>
              <a:t>	</a:t>
            </a:r>
            <a:r>
              <a:rPr lang="en-US" altLang="zh-CN" sz="2000" b="1" dirty="0">
                <a:ea typeface="宋体" panose="02010600030101010101" pitchFamily="2" charset="-122"/>
              </a:rPr>
              <a:t>for j := 1 to n</a:t>
            </a:r>
            <a:r>
              <a:rPr lang="zh-CN" altLang="en-US" sz="2000" b="1" dirty="0">
                <a:ea typeface="宋体" panose="02010600030101010101" pitchFamily="2" charset="-122"/>
              </a:rPr>
              <a:t>中的</a:t>
            </a:r>
            <a:r>
              <a:rPr lang="en-US" altLang="zh-CN" sz="2000" b="1" dirty="0">
                <a:ea typeface="宋体" panose="02010600030101010101" pitchFamily="2" charset="-122"/>
              </a:rPr>
              <a:t>j，</a:t>
            </a:r>
            <a:r>
              <a:rPr lang="zh-CN" altLang="en-US" sz="2000" b="1" dirty="0">
                <a:ea typeface="宋体" panose="02010600030101010101" pitchFamily="2" charset="-122"/>
              </a:rPr>
              <a:t>每次增加1</a:t>
            </a:r>
            <a:endParaRPr lang="zh-CN" altLang="en-US" sz="2000" b="1" dirty="0">
              <a:ea typeface="宋体" panose="02010600030101010101" pitchFamily="2" charset="-122"/>
            </a:endParaRPr>
          </a:p>
          <a:p>
            <a:pPr lvl="2"/>
            <a:r>
              <a:rPr lang="zh-CN" altLang="en-US" sz="2000" b="1" dirty="0">
                <a:ea typeface="宋体" panose="02010600030101010101" pitchFamily="2" charset="-122"/>
              </a:rPr>
              <a:t>归纳变量常见于数组的下标</a:t>
            </a:r>
            <a:endParaRPr lang="zh-CN" altLang="en-US" sz="2000" b="1" dirty="0">
              <a:ea typeface="宋体" panose="02010600030101010101" pitchFamily="2" charset="-122"/>
            </a:endParaRPr>
          </a:p>
          <a:p>
            <a:pPr lvl="1"/>
            <a:r>
              <a:rPr lang="zh-CN" altLang="en-US" sz="2200" b="1" dirty="0">
                <a:ea typeface="宋体" panose="02010600030101010101" pitchFamily="2" charset="-122"/>
              </a:rPr>
              <a:t>如果循环中的变量</a:t>
            </a:r>
            <a:r>
              <a:rPr lang="en-US" altLang="zh-CN" sz="2200" b="1" dirty="0">
                <a:ea typeface="宋体" panose="02010600030101010101" pitchFamily="2" charset="-122"/>
              </a:rPr>
              <a:t>i</a:t>
            </a:r>
            <a:r>
              <a:rPr lang="zh-CN" altLang="en-US" sz="2200" b="1" dirty="0">
                <a:ea typeface="宋体" panose="02010600030101010101" pitchFamily="2" charset="-122"/>
              </a:rPr>
              <a:t>只有唯一形如</a:t>
            </a:r>
            <a:r>
              <a:rPr lang="en-US" altLang="zh-CN" sz="2200" b="1" dirty="0">
                <a:ea typeface="宋体" panose="02010600030101010101" pitchFamily="2" charset="-122"/>
              </a:rPr>
              <a:t>i := i ± c</a:t>
            </a:r>
            <a:r>
              <a:rPr lang="zh-CN" altLang="en-US" sz="2200" b="1" dirty="0">
                <a:ea typeface="宋体" panose="02010600030101010101" pitchFamily="2" charset="-122"/>
              </a:rPr>
              <a:t>的赋值，其中</a:t>
            </a:r>
            <a:r>
              <a:rPr lang="en-US" altLang="zh-CN" sz="2200" b="1" dirty="0">
                <a:ea typeface="宋体" panose="02010600030101010101" pitchFamily="2" charset="-122"/>
              </a:rPr>
              <a:t>c</a:t>
            </a:r>
            <a:r>
              <a:rPr lang="zh-CN" altLang="en-US" sz="2200" b="1" dirty="0">
                <a:ea typeface="宋体" panose="02010600030101010101" pitchFamily="2" charset="-122"/>
              </a:rPr>
              <a:t>是常量，则</a:t>
            </a:r>
            <a:r>
              <a:rPr lang="en-US" altLang="zh-CN" sz="2200" b="1" dirty="0">
                <a:ea typeface="宋体" panose="02010600030101010101" pitchFamily="2" charset="-122"/>
              </a:rPr>
              <a:t>i</a:t>
            </a:r>
            <a:r>
              <a:rPr lang="zh-CN" altLang="en-US" sz="2200" b="1" dirty="0">
                <a:ea typeface="宋体" panose="02010600030101010101" pitchFamily="2" charset="-122"/>
              </a:rPr>
              <a:t>是循环的基本归纳变量</a:t>
            </a:r>
            <a:endParaRPr lang="zh-CN" altLang="en-US" sz="2200" b="1" dirty="0">
              <a:ea typeface="宋体" panose="02010600030101010101" pitchFamily="2" charset="-122"/>
            </a:endParaRPr>
          </a:p>
          <a:p>
            <a:r>
              <a:rPr lang="zh-CN" altLang="en-US" sz="2400" b="1" dirty="0">
                <a:ea typeface="宋体" panose="02010600030101010101" pitchFamily="2" charset="-122"/>
              </a:rPr>
              <a:t>归纳变量的应用</a:t>
            </a:r>
            <a:endParaRPr lang="zh-CN" altLang="en-US" sz="2400" b="1" dirty="0">
              <a:ea typeface="宋体" panose="02010600030101010101" pitchFamily="2" charset="-122"/>
            </a:endParaRPr>
          </a:p>
          <a:p>
            <a:pPr lvl="1"/>
            <a:r>
              <a:rPr lang="zh-CN" altLang="en-US" sz="2200" b="1" dirty="0">
                <a:ea typeface="宋体" panose="02010600030101010101" pitchFamily="2" charset="-122"/>
              </a:rPr>
              <a:t>强度削弱</a:t>
            </a:r>
            <a:endParaRPr lang="zh-CN" altLang="en-US" sz="2200" b="1" dirty="0">
              <a:ea typeface="宋体" panose="02010600030101010101" pitchFamily="2" charset="-122"/>
            </a:endParaRPr>
          </a:p>
          <a:p>
            <a:pPr lvl="1"/>
            <a:r>
              <a:rPr lang="zh-CN" altLang="en-US" sz="2200" b="1" dirty="0">
                <a:ea typeface="宋体" panose="02010600030101010101" pitchFamily="2" charset="-122"/>
              </a:rPr>
              <a:t>归纳变量的删除</a:t>
            </a:r>
            <a:endParaRPr lang="zh-CN" altLang="en-US" sz="2200" b="1" dirty="0">
              <a:ea typeface="宋体" panose="02010600030101010101" pitchFamily="2" charset="-122"/>
            </a:endParaRPr>
          </a:p>
          <a:p>
            <a:pPr lvl="1"/>
            <a:r>
              <a:rPr lang="zh-CN" altLang="en-US" sz="2200" b="1" dirty="0">
                <a:ea typeface="宋体" panose="02010600030101010101" pitchFamily="2" charset="-122"/>
              </a:rPr>
              <a:t>自然循环的规范化</a:t>
            </a:r>
            <a:endParaRPr lang="zh-CN" altLang="en-US" sz="2200" b="1" dirty="0">
              <a:ea typeface="宋体" panose="02010600030101010101" pitchFamily="2" charset="-122"/>
            </a:endParaRPr>
          </a:p>
        </p:txBody>
      </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归纳变量识别算法</a:t>
            </a:r>
            <a:endParaRPr lang="zh-CN" altLang="en-US" dirty="0">
              <a:latin typeface="宋体" panose="02010600030101010101" pitchFamily="2" charset="-122"/>
              <a:ea typeface="宋体" panose="02010600030101010101" pitchFamily="2" charset="-122"/>
            </a:endParaRPr>
          </a:p>
        </p:txBody>
      </p:sp>
      <p:sp>
        <p:nvSpPr>
          <p:cNvPr id="290819" name="Rectangle 5"/>
          <p:cNvSpPr>
            <a:spLocks noGrp="1"/>
          </p:cNvSpPr>
          <p:nvPr>
            <p:ph idx="1"/>
          </p:nvPr>
        </p:nvSpPr>
        <p:spPr>
          <a:xfrm>
            <a:off x="914400" y="1447800"/>
            <a:ext cx="7391400" cy="5029200"/>
          </a:xfrm>
        </p:spPr>
        <p:txBody>
          <a:bodyPr vert="horz" wrap="square" lIns="92075" tIns="46038" rIns="92075" bIns="46038" anchor="t" anchorCtr="0"/>
          <a:p>
            <a:pPr>
              <a:buNone/>
            </a:pPr>
            <a:r>
              <a:rPr lang="zh-CN" altLang="en-US" sz="1800" b="1" dirty="0">
                <a:ea typeface="宋体" panose="02010600030101010101" pitchFamily="2" charset="-122"/>
              </a:rPr>
              <a:t>输入：有到达—定值信息和循环不变信息的循环</a:t>
            </a:r>
            <a:r>
              <a:rPr lang="en-US" altLang="zh-CN" sz="1800" b="1" dirty="0">
                <a:ea typeface="宋体" panose="02010600030101010101" pitchFamily="2" charset="-122"/>
              </a:rPr>
              <a:t>L</a:t>
            </a:r>
            <a:endParaRPr lang="en-US" altLang="zh-CN" sz="1800" b="1" dirty="0">
              <a:ea typeface="宋体" panose="02010600030101010101" pitchFamily="2" charset="-122"/>
            </a:endParaRPr>
          </a:p>
          <a:p>
            <a:pPr>
              <a:buNone/>
            </a:pPr>
            <a:r>
              <a:rPr lang="zh-CN" altLang="en-US" sz="1800" b="1" dirty="0">
                <a:ea typeface="宋体" panose="02010600030101010101" pitchFamily="2" charset="-122"/>
              </a:rPr>
              <a:t>输出：一组归纳变量，联系到每个归纳变量</a:t>
            </a:r>
            <a:r>
              <a:rPr lang="en-US" altLang="zh-CN" sz="1800" b="1" dirty="0">
                <a:ea typeface="宋体" panose="02010600030101010101" pitchFamily="2" charset="-122"/>
              </a:rPr>
              <a:t>j</a:t>
            </a:r>
            <a:r>
              <a:rPr lang="zh-CN" altLang="en-US" sz="1800" b="1" dirty="0">
                <a:ea typeface="宋体" panose="02010600030101010101" pitchFamily="2" charset="-122"/>
              </a:rPr>
              <a:t>的三元组(</a:t>
            </a:r>
            <a:r>
              <a:rPr lang="en-US" altLang="zh-CN" sz="1800" b="1" dirty="0">
                <a:ea typeface="宋体" panose="02010600030101010101" pitchFamily="2" charset="-122"/>
              </a:rPr>
              <a:t>i, c, d),</a:t>
            </a:r>
            <a:r>
              <a:rPr lang="zh-CN" altLang="en-US" sz="1800" b="1" dirty="0">
                <a:ea typeface="宋体" panose="02010600030101010101" pitchFamily="2" charset="-122"/>
              </a:rPr>
              <a:t>其中</a:t>
            </a:r>
            <a:r>
              <a:rPr lang="en-US" altLang="zh-CN" sz="1800" b="1" dirty="0">
                <a:ea typeface="宋体" panose="02010600030101010101" pitchFamily="2" charset="-122"/>
              </a:rPr>
              <a:t>i</a:t>
            </a:r>
            <a:r>
              <a:rPr lang="zh-CN" altLang="en-US" sz="1800" b="1" dirty="0">
                <a:ea typeface="宋体" panose="02010600030101010101" pitchFamily="2" charset="-122"/>
              </a:rPr>
              <a:t>是基本归纳变量，</a:t>
            </a:r>
            <a:r>
              <a:rPr lang="en-US" altLang="zh-CN" sz="1800" b="1" dirty="0">
                <a:ea typeface="宋体" panose="02010600030101010101" pitchFamily="2" charset="-122"/>
              </a:rPr>
              <a:t>c</a:t>
            </a:r>
            <a:r>
              <a:rPr lang="zh-CN" altLang="en-US" sz="1800" b="1" dirty="0">
                <a:ea typeface="宋体" panose="02010600030101010101" pitchFamily="2" charset="-122"/>
              </a:rPr>
              <a:t>和</a:t>
            </a:r>
            <a:r>
              <a:rPr lang="en-US" altLang="zh-CN" sz="1800" b="1" dirty="0">
                <a:ea typeface="宋体" panose="02010600030101010101" pitchFamily="2" charset="-122"/>
              </a:rPr>
              <a:t>d</a:t>
            </a:r>
            <a:r>
              <a:rPr lang="zh-CN" altLang="en-US" sz="1800" b="1" dirty="0">
                <a:ea typeface="宋体" panose="02010600030101010101" pitchFamily="2" charset="-122"/>
              </a:rPr>
              <a:t>是常量，在</a:t>
            </a:r>
            <a:r>
              <a:rPr lang="en-US" altLang="zh-CN" sz="1800" b="1" dirty="0">
                <a:ea typeface="宋体" panose="02010600030101010101" pitchFamily="2" charset="-122"/>
              </a:rPr>
              <a:t>j</a:t>
            </a:r>
            <a:r>
              <a:rPr lang="zh-CN" altLang="en-US" sz="1800" b="1" dirty="0">
                <a:ea typeface="宋体" panose="02010600030101010101" pitchFamily="2" charset="-122"/>
              </a:rPr>
              <a:t>的定值点，</a:t>
            </a:r>
            <a:r>
              <a:rPr lang="en-US" altLang="zh-CN" sz="1800" b="1" dirty="0">
                <a:ea typeface="宋体" panose="02010600030101010101" pitchFamily="2" charset="-122"/>
              </a:rPr>
              <a:t>j</a:t>
            </a:r>
            <a:r>
              <a:rPr lang="zh-CN" altLang="en-US" sz="1800" b="1" dirty="0">
                <a:ea typeface="宋体" panose="02010600030101010101" pitchFamily="2" charset="-122"/>
              </a:rPr>
              <a:t>的值是</a:t>
            </a:r>
            <a:r>
              <a:rPr lang="en-US" altLang="zh-CN" sz="1800" b="1" dirty="0">
                <a:ea typeface="宋体" panose="02010600030101010101" pitchFamily="2" charset="-122"/>
              </a:rPr>
              <a:t>c*i+d。</a:t>
            </a:r>
            <a:r>
              <a:rPr lang="zh-CN" altLang="en-US" sz="1800" b="1" dirty="0">
                <a:ea typeface="宋体" panose="02010600030101010101" pitchFamily="2" charset="-122"/>
              </a:rPr>
              <a:t>称</a:t>
            </a:r>
            <a:r>
              <a:rPr lang="en-US" altLang="zh-CN" sz="1800" b="1" dirty="0">
                <a:ea typeface="宋体" panose="02010600030101010101" pitchFamily="2" charset="-122"/>
              </a:rPr>
              <a:t>j</a:t>
            </a:r>
            <a:r>
              <a:rPr lang="zh-CN" altLang="en-US" sz="1800" b="1" dirty="0">
                <a:ea typeface="宋体" panose="02010600030101010101" pitchFamily="2" charset="-122"/>
              </a:rPr>
              <a:t>属于</a:t>
            </a:r>
            <a:r>
              <a:rPr lang="en-US" altLang="zh-CN" sz="1800" b="1" dirty="0">
                <a:ea typeface="宋体" panose="02010600030101010101" pitchFamily="2" charset="-122"/>
              </a:rPr>
              <a:t>i</a:t>
            </a:r>
            <a:r>
              <a:rPr lang="zh-CN" altLang="en-US" sz="1800" b="1" dirty="0">
                <a:ea typeface="宋体" panose="02010600030101010101" pitchFamily="2" charset="-122"/>
              </a:rPr>
              <a:t>族。基本归纳变量属于自己的族</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方法：</a:t>
            </a:r>
            <a:endParaRPr lang="en-US" altLang="zh-CN" sz="1800" b="1" dirty="0">
              <a:ea typeface="宋体" panose="02010600030101010101" pitchFamily="2" charset="-122"/>
            </a:endParaRPr>
          </a:p>
          <a:p>
            <a:pPr>
              <a:buNone/>
            </a:pPr>
            <a:r>
              <a:rPr lang="zh-CN" altLang="en-US" sz="1800" b="1" dirty="0">
                <a:ea typeface="宋体" panose="02010600030101010101" pitchFamily="2" charset="-122"/>
              </a:rPr>
              <a:t>	(1)	扫描</a:t>
            </a:r>
            <a:r>
              <a:rPr lang="en-US" altLang="zh-CN" sz="1800" b="1" dirty="0">
                <a:ea typeface="宋体" panose="02010600030101010101" pitchFamily="2" charset="-122"/>
              </a:rPr>
              <a:t>L</a:t>
            </a:r>
            <a:r>
              <a:rPr lang="zh-CN" altLang="en-US" sz="1800" b="1" dirty="0">
                <a:ea typeface="宋体" panose="02010600030101010101" pitchFamily="2" charset="-122"/>
              </a:rPr>
              <a:t>的语句，找出所有基本归纳变量（使用循环不变计	算的信息）。对应于基本归纳变量</a:t>
            </a:r>
            <a:r>
              <a:rPr lang="en-US" altLang="zh-CN" sz="1800" b="1" dirty="0">
                <a:ea typeface="宋体" panose="02010600030101010101" pitchFamily="2" charset="-122"/>
              </a:rPr>
              <a:t>i</a:t>
            </a:r>
            <a:r>
              <a:rPr lang="zh-CN" altLang="en-US" sz="1800" b="1" dirty="0">
                <a:ea typeface="宋体" panose="02010600030101010101" pitchFamily="2" charset="-122"/>
              </a:rPr>
              <a:t>的是三元组（</a:t>
            </a:r>
            <a:r>
              <a:rPr lang="en-US" altLang="zh-CN" sz="1800" b="1" dirty="0">
                <a:ea typeface="宋体" panose="02010600030101010101" pitchFamily="2" charset="-122"/>
              </a:rPr>
              <a:t>i, 1, 0）</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(2)	</a:t>
            </a:r>
            <a:r>
              <a:rPr lang="zh-CN" altLang="en-US" sz="1800" b="1" dirty="0">
                <a:ea typeface="宋体" panose="02010600030101010101" pitchFamily="2" charset="-122"/>
              </a:rPr>
              <a:t>寻找</a:t>
            </a:r>
            <a:r>
              <a:rPr lang="en-US" altLang="zh-CN" sz="1800" b="1" dirty="0">
                <a:ea typeface="宋体" panose="02010600030101010101" pitchFamily="2" charset="-122"/>
              </a:rPr>
              <a:t>L</a:t>
            </a:r>
            <a:r>
              <a:rPr lang="zh-CN" altLang="en-US" sz="1800" b="1" dirty="0">
                <a:ea typeface="宋体" panose="02010600030101010101" pitchFamily="2" charset="-122"/>
              </a:rPr>
              <a:t>中只有一个赋值的变量</a:t>
            </a:r>
            <a:r>
              <a:rPr lang="en-US" altLang="zh-CN" sz="1800" b="1" dirty="0">
                <a:ea typeface="宋体" panose="02010600030101010101" pitchFamily="2" charset="-122"/>
              </a:rPr>
              <a:t>k，</a:t>
            </a:r>
            <a:r>
              <a:rPr lang="zh-CN" altLang="en-US" sz="1800" b="1" dirty="0">
                <a:ea typeface="宋体" panose="02010600030101010101" pitchFamily="2" charset="-122"/>
              </a:rPr>
              <a:t>它具有下面的形式之一：</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k := j * b,  k := b * j,  k := j / b,   k := j ± b,  k := b ± j</a:t>
            </a:r>
            <a:endParaRPr lang="en-US" altLang="zh-CN" sz="1800" b="1" dirty="0">
              <a:ea typeface="宋体" panose="02010600030101010101" pitchFamily="2" charset="-122"/>
            </a:endParaRPr>
          </a:p>
          <a:p>
            <a:pPr>
              <a:buNone/>
            </a:pPr>
            <a:r>
              <a:rPr lang="zh-CN" altLang="en-US" sz="1800" b="1" dirty="0">
                <a:ea typeface="宋体" panose="02010600030101010101" pitchFamily="2" charset="-122"/>
              </a:rPr>
              <a:t>		其中，</a:t>
            </a:r>
            <a:r>
              <a:rPr lang="en-US" altLang="zh-CN" sz="1800" b="1" dirty="0">
                <a:ea typeface="宋体" panose="02010600030101010101" pitchFamily="2" charset="-122"/>
              </a:rPr>
              <a:t>b</a:t>
            </a:r>
            <a:r>
              <a:rPr lang="zh-CN" altLang="en-US" sz="1800" b="1" dirty="0">
                <a:ea typeface="宋体" panose="02010600030101010101" pitchFamily="2" charset="-122"/>
              </a:rPr>
              <a:t>是常数，</a:t>
            </a:r>
            <a:r>
              <a:rPr lang="en-US" altLang="zh-CN" sz="1800" b="1" dirty="0">
                <a:ea typeface="宋体" panose="02010600030101010101" pitchFamily="2" charset="-122"/>
              </a:rPr>
              <a:t>j</a:t>
            </a:r>
            <a:r>
              <a:rPr lang="zh-CN" altLang="en-US" sz="1800" b="1" dirty="0">
                <a:ea typeface="宋体" panose="02010600030101010101" pitchFamily="2" charset="-122"/>
              </a:rPr>
              <a:t>是基本的和非基本的归纳变量，如果</a:t>
            </a:r>
            <a:r>
              <a:rPr lang="en-US" altLang="zh-CN" sz="1800" b="1" dirty="0">
                <a:ea typeface="宋体" panose="02010600030101010101" pitchFamily="2" charset="-122"/>
              </a:rPr>
              <a:t>j</a:t>
            </a:r>
            <a:r>
              <a:rPr lang="zh-CN" altLang="en-US" sz="1800" b="1" dirty="0">
                <a:ea typeface="宋体" panose="02010600030101010101" pitchFamily="2" charset="-122"/>
              </a:rPr>
              <a:t>是	基本的，对应的三元组定义简单；</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如果</a:t>
            </a:r>
            <a:r>
              <a:rPr lang="en-US" altLang="zh-CN" sz="1800" b="1" dirty="0">
                <a:ea typeface="宋体" panose="02010600030101010101" pitchFamily="2" charset="-122"/>
              </a:rPr>
              <a:t>j</a:t>
            </a:r>
            <a:r>
              <a:rPr lang="zh-CN" altLang="en-US" sz="1800" b="1" dirty="0">
                <a:ea typeface="宋体" panose="02010600030101010101" pitchFamily="2" charset="-122"/>
              </a:rPr>
              <a:t>是非基本的，它属于</a:t>
            </a:r>
            <a:r>
              <a:rPr lang="en-US" altLang="zh-CN" sz="1800" b="1" dirty="0">
                <a:ea typeface="宋体" panose="02010600030101010101" pitchFamily="2" charset="-122"/>
              </a:rPr>
              <a:t>i</a:t>
            </a:r>
            <a:r>
              <a:rPr lang="zh-CN" altLang="en-US" sz="1800" b="1" dirty="0">
                <a:ea typeface="宋体" panose="02010600030101010101" pitchFamily="2" charset="-122"/>
              </a:rPr>
              <a:t>族，则附加如下要求：</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a) </a:t>
            </a:r>
            <a:r>
              <a:rPr lang="zh-CN" altLang="en-US" sz="1800" b="1" dirty="0">
                <a:ea typeface="宋体" panose="02010600030101010101" pitchFamily="2" charset="-122"/>
              </a:rPr>
              <a:t>在循环</a:t>
            </a:r>
            <a:r>
              <a:rPr lang="en-US" altLang="zh-CN" sz="1800" b="1" dirty="0">
                <a:ea typeface="宋体" panose="02010600030101010101" pitchFamily="2" charset="-122"/>
              </a:rPr>
              <a:t>L</a:t>
            </a:r>
            <a:r>
              <a:rPr lang="zh-CN" altLang="en-US" sz="1800" b="1" dirty="0">
                <a:ea typeface="宋体" panose="02010600030101010101" pitchFamily="2" charset="-122"/>
              </a:rPr>
              <a:t>中对</a:t>
            </a:r>
            <a:r>
              <a:rPr lang="en-US" altLang="zh-CN" sz="1800" b="1" dirty="0">
                <a:ea typeface="宋体" panose="02010600030101010101" pitchFamily="2" charset="-122"/>
              </a:rPr>
              <a:t>j</a:t>
            </a:r>
            <a:r>
              <a:rPr lang="zh-CN" altLang="en-US" sz="1800" b="1" dirty="0">
                <a:ea typeface="宋体" panose="02010600030101010101" pitchFamily="2" charset="-122"/>
              </a:rPr>
              <a:t>唯一赋值和对</a:t>
            </a:r>
            <a:r>
              <a:rPr lang="en-US" altLang="zh-CN" sz="1800" b="1" dirty="0">
                <a:ea typeface="宋体" panose="02010600030101010101" pitchFamily="2" charset="-122"/>
              </a:rPr>
              <a:t>k</a:t>
            </a:r>
            <a:r>
              <a:rPr lang="zh-CN" altLang="en-US" sz="1800" b="1" dirty="0">
                <a:ea typeface="宋体" panose="02010600030101010101" pitchFamily="2" charset="-122"/>
              </a:rPr>
              <a:t>的赋值之间没有对</a:t>
            </a:r>
            <a:r>
              <a:rPr lang="en-US" altLang="zh-CN" sz="1800" b="1" dirty="0">
                <a:ea typeface="宋体" panose="02010600030101010101" pitchFamily="2" charset="-122"/>
              </a:rPr>
              <a:t>i</a:t>
            </a:r>
            <a:r>
              <a:rPr lang="zh-CN" altLang="en-US" sz="1800" b="1" dirty="0">
                <a:ea typeface="宋体" panose="02010600030101010101" pitchFamily="2" charset="-122"/>
              </a:rPr>
              <a:t>的赋值</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a:t>
            </a:r>
            <a:r>
              <a:rPr lang="en-US" altLang="zh-CN" sz="1800" b="1" dirty="0">
                <a:ea typeface="宋体" panose="02010600030101010101" pitchFamily="2" charset="-122"/>
              </a:rPr>
              <a:t>b) </a:t>
            </a:r>
            <a:r>
              <a:rPr lang="zh-CN" altLang="en-US" sz="1800" b="1" dirty="0">
                <a:ea typeface="宋体" panose="02010600030101010101" pitchFamily="2" charset="-122"/>
              </a:rPr>
              <a:t>循环</a:t>
            </a:r>
            <a:r>
              <a:rPr lang="en-US" altLang="zh-CN" sz="1800" b="1" dirty="0">
                <a:ea typeface="宋体" panose="02010600030101010101" pitchFamily="2" charset="-122"/>
              </a:rPr>
              <a:t>L</a:t>
            </a:r>
            <a:r>
              <a:rPr lang="zh-CN" altLang="en-US" sz="1800" b="1" dirty="0">
                <a:ea typeface="宋体" panose="02010600030101010101" pitchFamily="2" charset="-122"/>
              </a:rPr>
              <a:t>外没有</a:t>
            </a:r>
            <a:r>
              <a:rPr lang="en-US" altLang="zh-CN" sz="1800" b="1" dirty="0">
                <a:ea typeface="宋体" panose="02010600030101010101" pitchFamily="2" charset="-122"/>
              </a:rPr>
              <a:t>j</a:t>
            </a:r>
            <a:r>
              <a:rPr lang="zh-CN" altLang="en-US" sz="1800" b="1" dirty="0">
                <a:ea typeface="宋体" panose="02010600030101010101" pitchFamily="2" charset="-122"/>
              </a:rPr>
              <a:t>的定值可到达</a:t>
            </a:r>
            <a:r>
              <a:rPr lang="en-US" altLang="zh-CN" sz="1800" b="1" dirty="0">
                <a:ea typeface="宋体" panose="02010600030101010101" pitchFamily="2" charset="-122"/>
              </a:rPr>
              <a:t>k</a:t>
            </a:r>
            <a:r>
              <a:rPr lang="zh-CN" altLang="en-US" sz="1800" b="1" dirty="0">
                <a:ea typeface="宋体" panose="02010600030101010101" pitchFamily="2" charset="-122"/>
              </a:rPr>
              <a:t>的这个定值点</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如果</a:t>
            </a:r>
            <a:r>
              <a:rPr lang="en-US" altLang="zh-CN" sz="1800" b="1" dirty="0">
                <a:ea typeface="宋体" panose="02010600030101010101" pitchFamily="2" charset="-122"/>
              </a:rPr>
              <a:t>j</a:t>
            </a:r>
            <a:r>
              <a:rPr lang="zh-CN" altLang="en-US" sz="1800" b="1" dirty="0">
                <a:ea typeface="宋体" panose="02010600030101010101" pitchFamily="2" charset="-122"/>
              </a:rPr>
              <a:t>的三元组( </a:t>
            </a:r>
            <a:r>
              <a:rPr lang="en-US" altLang="zh-CN" sz="1800" b="1" dirty="0">
                <a:ea typeface="宋体" panose="02010600030101010101" pitchFamily="2" charset="-122"/>
              </a:rPr>
              <a:t>i, c, d)，k := b * j，</a:t>
            </a:r>
            <a:r>
              <a:rPr lang="zh-CN" altLang="en-US" sz="1800" b="1" dirty="0">
                <a:ea typeface="宋体" panose="02010600030101010101" pitchFamily="2" charset="-122"/>
              </a:rPr>
              <a:t>则</a:t>
            </a:r>
            <a:r>
              <a:rPr lang="en-US" altLang="zh-CN" sz="1800" b="1" dirty="0">
                <a:ea typeface="宋体" panose="02010600030101010101" pitchFamily="2" charset="-122"/>
              </a:rPr>
              <a:t>k</a:t>
            </a:r>
            <a:r>
              <a:rPr lang="zh-CN" altLang="en-US" sz="1800" b="1" dirty="0">
                <a:ea typeface="宋体" panose="02010600030101010101" pitchFamily="2" charset="-122"/>
              </a:rPr>
              <a:t>的三元组( </a:t>
            </a:r>
            <a:r>
              <a:rPr lang="en-US" altLang="zh-CN" sz="1800" b="1" dirty="0">
                <a:ea typeface="宋体" panose="02010600030101010101" pitchFamily="2" charset="-122"/>
              </a:rPr>
              <a:t>i, b*c, b*d)</a:t>
            </a:r>
            <a:endParaRPr lang="en-US" altLang="zh-CN" sz="1800" b="1" dirty="0">
              <a:ea typeface="宋体" panose="02010600030101010101" pitchFamily="2" charset="-122"/>
            </a:endParaRP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归纳变量的例子</a:t>
            </a:r>
            <a:endParaRPr lang="en-US" altLang="zh-CN" dirty="0">
              <a:latin typeface="宋体" panose="02010600030101010101" pitchFamily="2" charset="-122"/>
              <a:ea typeface="宋体" panose="02010600030101010101" pitchFamily="2" charset="-122"/>
            </a:endParaRPr>
          </a:p>
        </p:txBody>
      </p:sp>
      <p:sp>
        <p:nvSpPr>
          <p:cNvPr id="292867" name="Rectangle 4"/>
          <p:cNvSpPr>
            <a:spLocks noGrp="1"/>
          </p:cNvSpPr>
          <p:nvPr>
            <p:ph idx="1"/>
          </p:nvPr>
        </p:nvSpPr>
        <p:spPr>
          <a:xfrm>
            <a:off x="3276600" y="1676400"/>
            <a:ext cx="2209800" cy="4724400"/>
          </a:xfrm>
        </p:spPr>
        <p:txBody>
          <a:bodyPr vert="horz" wrap="square" lIns="92075" tIns="46038" rIns="92075" bIns="46038" anchor="t" anchorCtr="0"/>
          <a:p>
            <a:pPr>
              <a:spcBef>
                <a:spcPct val="10000"/>
              </a:spcBef>
              <a:buNone/>
            </a:pPr>
            <a:r>
              <a:rPr lang="zh-CN" altLang="en-US" sz="1800" dirty="0">
                <a:ea typeface="宋体" panose="02010600030101010101" pitchFamily="2" charset="-122"/>
              </a:rPr>
              <a:t>	</a:t>
            </a:r>
            <a:r>
              <a:rPr lang="en-US" altLang="zh-CN" sz="1800" b="1" dirty="0">
                <a:ea typeface="宋体" panose="02010600030101010101" pitchFamily="2" charset="-122"/>
              </a:rPr>
              <a:t>t1 := 202</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i := 1</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L1:t2 := i &gt; 100</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if t2 goto L2</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t1 := t1 – 2</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t3 := addr a</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t4 := t3 – 4</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t5 := 4 * i</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t6 := t4 + t5</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*t6 := t1</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i := i + 1</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	goto L1</a:t>
            </a:r>
            <a:endParaRPr lang="en-US" altLang="zh-CN" sz="1800" b="1" dirty="0">
              <a:ea typeface="宋体" panose="02010600030101010101" pitchFamily="2" charset="-122"/>
            </a:endParaRPr>
          </a:p>
          <a:p>
            <a:pPr>
              <a:spcBef>
                <a:spcPct val="10000"/>
              </a:spcBef>
              <a:buNone/>
            </a:pPr>
            <a:r>
              <a:rPr lang="en-US" altLang="zh-CN" sz="1800" b="1" dirty="0">
                <a:ea typeface="宋体" panose="02010600030101010101" pitchFamily="2" charset="-122"/>
              </a:rPr>
              <a:t>L2:</a:t>
            </a:r>
            <a:endParaRPr lang="en-US" altLang="zh-CN" sz="1800" b="1" dirty="0">
              <a:ea typeface="宋体" panose="02010600030101010101" pitchFamily="2" charset="-122"/>
            </a:endParaRPr>
          </a:p>
        </p:txBody>
      </p:sp>
      <p:sp>
        <p:nvSpPr>
          <p:cNvPr id="292868" name="Rectangle 5"/>
          <p:cNvSpPr/>
          <p:nvPr/>
        </p:nvSpPr>
        <p:spPr>
          <a:xfrm>
            <a:off x="5795963" y="1676400"/>
            <a:ext cx="2433637" cy="47244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spcBef>
                <a:spcPct val="10000"/>
              </a:spcBef>
              <a:buNone/>
            </a:pPr>
            <a:r>
              <a:rPr lang="en-US" altLang="zh-CN" sz="1800" b="1" dirty="0">
                <a:solidFill>
                  <a:srgbClr val="000000"/>
                </a:solidFill>
                <a:ea typeface="宋体" panose="02010600030101010101" pitchFamily="2" charset="-122"/>
              </a:rPr>
              <a:t>	t1 := 202</a:t>
            </a:r>
            <a:endParaRPr lang="en-US" altLang="zh-CN" sz="1800" b="1" dirty="0">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t3 := addr a</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t4 := t3 – 4</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t5 := 4</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t6 := t4</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t7 := t3 + 396</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L1:  t2 := t6 &gt; t7</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if t2 goto L2</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t1 := t1 – 2</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t6 := t6 + t5</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*t6 := t1</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	goto L1</a:t>
            </a:r>
            <a:endParaRPr lang="en-US" altLang="zh-CN" sz="1800" b="1" dirty="0">
              <a:solidFill>
                <a:srgbClr val="000000"/>
              </a:solidFill>
              <a:ea typeface="宋体" panose="02010600030101010101" pitchFamily="2" charset="-122"/>
            </a:endParaRPr>
          </a:p>
          <a:p>
            <a:pPr marL="342900" lvl="0" indent="-342900" algn="just">
              <a:spcBef>
                <a:spcPct val="10000"/>
              </a:spcBef>
              <a:buNone/>
            </a:pPr>
            <a:r>
              <a:rPr lang="en-US" altLang="zh-CN" sz="1800" b="1" dirty="0">
                <a:solidFill>
                  <a:srgbClr val="000000"/>
                </a:solidFill>
                <a:ea typeface="宋体" panose="02010600030101010101" pitchFamily="2" charset="-122"/>
              </a:rPr>
              <a:t>L2:</a:t>
            </a:r>
            <a:endParaRPr lang="en-US" altLang="zh-CN" sz="1800" b="1" dirty="0">
              <a:solidFill>
                <a:srgbClr val="000000"/>
              </a:solidFill>
              <a:ea typeface="宋体" panose="02010600030101010101" pitchFamily="2" charset="-122"/>
            </a:endParaRPr>
          </a:p>
        </p:txBody>
      </p:sp>
      <p:sp>
        <p:nvSpPr>
          <p:cNvPr id="292869" name="Rectangle 6"/>
          <p:cNvSpPr/>
          <p:nvPr/>
        </p:nvSpPr>
        <p:spPr>
          <a:xfrm>
            <a:off x="838200" y="1752600"/>
            <a:ext cx="2209800" cy="47244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spcBef>
                <a:spcPct val="10000"/>
              </a:spcBef>
              <a:buNone/>
            </a:pPr>
            <a:r>
              <a:rPr lang="en-US" altLang="zh-CN" sz="1800" b="1" dirty="0">
                <a:solidFill>
                  <a:srgbClr val="000000"/>
                </a:solidFill>
                <a:ea typeface="宋体" panose="02010600030101010101" pitchFamily="2" charset="-122"/>
              </a:rPr>
              <a:t>Integer  a(100)</a:t>
            </a:r>
            <a:endParaRPr lang="en-US" altLang="zh-CN" sz="1800" b="1" dirty="0">
              <a:solidFill>
                <a:srgbClr val="000000"/>
              </a:solidFill>
              <a:ea typeface="宋体" panose="02010600030101010101" pitchFamily="2" charset="-122"/>
            </a:endParaRPr>
          </a:p>
          <a:p>
            <a:pPr marL="342900" lvl="0" indent="-342900">
              <a:spcBef>
                <a:spcPct val="10000"/>
              </a:spcBef>
              <a:buNone/>
            </a:pPr>
            <a:r>
              <a:rPr lang="en-US" altLang="zh-CN" sz="1800" b="1" dirty="0">
                <a:solidFill>
                  <a:srgbClr val="000000"/>
                </a:solidFill>
                <a:ea typeface="宋体" panose="02010600030101010101" pitchFamily="2" charset="-122"/>
              </a:rPr>
              <a:t>Do i = 1 , 100</a:t>
            </a:r>
            <a:endParaRPr lang="en-US" altLang="zh-CN" sz="1800" b="1" dirty="0">
              <a:solidFill>
                <a:srgbClr val="000000"/>
              </a:solidFill>
              <a:ea typeface="宋体" panose="02010600030101010101" pitchFamily="2" charset="-122"/>
            </a:endParaRPr>
          </a:p>
          <a:p>
            <a:pPr marL="342900" lvl="0" indent="-342900">
              <a:spcBef>
                <a:spcPct val="10000"/>
              </a:spcBef>
              <a:buNone/>
            </a:pPr>
            <a:r>
              <a:rPr lang="en-US" altLang="zh-CN" sz="1800" b="1" dirty="0">
                <a:solidFill>
                  <a:srgbClr val="000000"/>
                </a:solidFill>
                <a:ea typeface="宋体" panose="02010600030101010101" pitchFamily="2" charset="-122"/>
              </a:rPr>
              <a:t>	a( i ) = 202 – 2 * i</a:t>
            </a:r>
            <a:endParaRPr lang="en-US" altLang="zh-CN" sz="1800" b="1" dirty="0">
              <a:solidFill>
                <a:srgbClr val="000000"/>
              </a:solidFill>
              <a:ea typeface="宋体" panose="02010600030101010101" pitchFamily="2" charset="-122"/>
            </a:endParaRPr>
          </a:p>
          <a:p>
            <a:pPr marL="342900" lvl="0" indent="-342900">
              <a:spcBef>
                <a:spcPct val="10000"/>
              </a:spcBef>
              <a:buNone/>
            </a:pPr>
            <a:r>
              <a:rPr lang="en-US" altLang="zh-CN" sz="1800" b="1" dirty="0">
                <a:solidFill>
                  <a:srgbClr val="000000"/>
                </a:solidFill>
                <a:ea typeface="宋体" panose="02010600030101010101" pitchFamily="2" charset="-122"/>
              </a:rPr>
              <a:t>end</a:t>
            </a:r>
            <a:endParaRPr lang="en-US" altLang="zh-CN" sz="1800" b="1" dirty="0">
              <a:solidFill>
                <a:srgbClr val="000000"/>
              </a:solidFill>
              <a:ea typeface="宋体" panose="02010600030101010101" pitchFamily="2" charset="-122"/>
            </a:endParaRP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强度削弱</a:t>
            </a:r>
            <a:endParaRPr lang="zh-CN" altLang="en-US" dirty="0">
              <a:latin typeface="宋体" panose="02010600030101010101" pitchFamily="2" charset="-122"/>
              <a:ea typeface="宋体" panose="02010600030101010101" pitchFamily="2" charset="-122"/>
            </a:endParaRPr>
          </a:p>
        </p:txBody>
      </p:sp>
      <p:sp>
        <p:nvSpPr>
          <p:cNvPr id="294915"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强度削弱</a:t>
            </a:r>
            <a:endParaRPr lang="zh-CN" altLang="en-US" sz="2400" b="1" dirty="0">
              <a:ea typeface="宋体" panose="02010600030101010101" pitchFamily="2" charset="-122"/>
            </a:endParaRPr>
          </a:p>
          <a:p>
            <a:pPr lvl="1"/>
            <a:r>
              <a:rPr lang="zh-CN" altLang="en-US" sz="2200" b="1" dirty="0">
                <a:ea typeface="宋体" panose="02010600030101010101" pitchFamily="2" charset="-122"/>
              </a:rPr>
              <a:t>用执行较快的指令代替执行较慢的指令</a:t>
            </a:r>
            <a:endParaRPr lang="zh-CN" altLang="en-US" sz="2200" b="1" dirty="0">
              <a:ea typeface="宋体" panose="02010600030101010101" pitchFamily="2" charset="-122"/>
            </a:endParaRPr>
          </a:p>
          <a:p>
            <a:pPr lvl="2"/>
            <a:r>
              <a:rPr lang="zh-CN" altLang="en-US" sz="2000" b="1" dirty="0">
                <a:ea typeface="宋体" panose="02010600030101010101" pitchFamily="2" charset="-122"/>
              </a:rPr>
              <a:t>如在识别了一族归纳变量后，可以修改计算归纳变量，用加法或减法代替乘除法</a:t>
            </a:r>
            <a:endParaRPr lang="zh-CN" altLang="en-US" sz="2000" b="1" dirty="0">
              <a:ea typeface="宋体" panose="02010600030101010101" pitchFamily="2" charset="-122"/>
            </a:endParaRPr>
          </a:p>
          <a:p>
            <a:pPr lvl="1"/>
            <a:r>
              <a:rPr lang="zh-CN" altLang="en-US" sz="2200" b="1" dirty="0">
                <a:ea typeface="宋体" panose="02010600030101010101" pitchFamily="2" charset="-122"/>
              </a:rPr>
              <a:t>强度削弱后，有些归纳变量仅用于测试，考虑到归纳变量间存在的一些关系（如</a:t>
            </a:r>
            <a:r>
              <a:rPr lang="en-US" altLang="zh-CN" sz="2200" b="1" dirty="0">
                <a:ea typeface="宋体" panose="02010600030101010101" pitchFamily="2" charset="-122"/>
              </a:rPr>
              <a:t>t = 4 * i ），</a:t>
            </a:r>
            <a:r>
              <a:rPr lang="zh-CN" altLang="en-US" sz="2200" b="1" dirty="0">
                <a:ea typeface="宋体" panose="02010600030101010101" pitchFamily="2" charset="-122"/>
              </a:rPr>
              <a:t>因此可以用某个归纳变量的测试（如</a:t>
            </a:r>
            <a:r>
              <a:rPr lang="en-US" altLang="zh-CN" sz="2200" b="1" dirty="0">
                <a:ea typeface="宋体" panose="02010600030101010101" pitchFamily="2" charset="-122"/>
              </a:rPr>
              <a:t>t）</a:t>
            </a:r>
            <a:r>
              <a:rPr lang="zh-CN" altLang="en-US" sz="2200" b="1" dirty="0">
                <a:ea typeface="宋体" panose="02010600030101010101" pitchFamily="2" charset="-122"/>
              </a:rPr>
              <a:t>代替这个归纳变量的测试（如</a:t>
            </a:r>
            <a:r>
              <a:rPr lang="en-US" altLang="zh-CN" sz="2200" b="1" dirty="0">
                <a:ea typeface="宋体" panose="02010600030101010101" pitchFamily="2" charset="-122"/>
              </a:rPr>
              <a:t>i），</a:t>
            </a:r>
            <a:r>
              <a:rPr lang="zh-CN" altLang="en-US" sz="2200" b="1" dirty="0">
                <a:ea typeface="宋体" panose="02010600030101010101" pitchFamily="2" charset="-122"/>
              </a:rPr>
              <a:t>从而可以删除这个归纳变量</a:t>
            </a:r>
            <a:endParaRPr lang="zh-CN" altLang="en-US" sz="2200" b="1" dirty="0">
              <a:ea typeface="宋体" panose="02010600030101010101" pitchFamily="2" charset="-122"/>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强度削弱的例子</a:t>
            </a:r>
            <a:endParaRPr lang="zh-CN" altLang="en-US" dirty="0">
              <a:latin typeface="宋体" panose="02010600030101010101" pitchFamily="2" charset="-122"/>
              <a:ea typeface="宋体" panose="02010600030101010101" pitchFamily="2" charset="-122"/>
            </a:endParaRPr>
          </a:p>
        </p:txBody>
      </p:sp>
      <p:graphicFrame>
        <p:nvGraphicFramePr>
          <p:cNvPr id="296963" name="Object 5"/>
          <p:cNvGraphicFramePr>
            <a:graphicFrameLocks noChangeAspect="1"/>
          </p:cNvGraphicFramePr>
          <p:nvPr/>
        </p:nvGraphicFramePr>
        <p:xfrm>
          <a:off x="1327150" y="1295400"/>
          <a:ext cx="6491288" cy="5502275"/>
        </p:xfrm>
        <a:graphic>
          <a:graphicData uri="http://schemas.openxmlformats.org/presentationml/2006/ole">
            <mc:AlternateContent xmlns:mc="http://schemas.openxmlformats.org/markup-compatibility/2006">
              <mc:Choice xmlns:v="urn:schemas-microsoft-com:vml" Requires="v">
                <p:oleObj spid="_x0000_s3099" name="" r:id="rId1" imgW="6492240" imgH="6736080" progId="Visio.Drawing.4">
                  <p:embed/>
                </p:oleObj>
              </mc:Choice>
              <mc:Fallback>
                <p:oleObj name="" r:id="rId1" imgW="6492240" imgH="6736080" progId="Visio.Drawing.4">
                  <p:embed/>
                  <p:pic>
                    <p:nvPicPr>
                      <p:cNvPr id="0" name="图片 3098"/>
                      <p:cNvPicPr/>
                      <p:nvPr/>
                    </p:nvPicPr>
                    <p:blipFill>
                      <a:blip r:embed="rId2"/>
                      <a:stretch>
                        <a:fillRect/>
                      </a:stretch>
                    </p:blipFill>
                    <p:spPr>
                      <a:xfrm>
                        <a:off x="1327150" y="1295400"/>
                        <a:ext cx="6491288" cy="5502275"/>
                      </a:xfrm>
                      <a:prstGeom prst="rect">
                        <a:avLst/>
                      </a:prstGeom>
                      <a:noFill/>
                      <a:ln w="38100">
                        <a:noFill/>
                        <a:miter/>
                      </a:ln>
                    </p:spPr>
                  </p:pic>
                </p:oleObj>
              </mc:Fallback>
            </mc:AlternateContent>
          </a:graphicData>
        </a:graphic>
      </p:graphicFrame>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强度削弱的算法</a:t>
            </a:r>
            <a:endParaRPr lang="zh-CN" altLang="en-US" dirty="0">
              <a:latin typeface="宋体" panose="02010600030101010101" pitchFamily="2" charset="-122"/>
              <a:ea typeface="宋体" panose="02010600030101010101" pitchFamily="2" charset="-122"/>
            </a:endParaRPr>
          </a:p>
        </p:txBody>
      </p:sp>
      <p:sp>
        <p:nvSpPr>
          <p:cNvPr id="299011" name="Rectangle 5"/>
          <p:cNvSpPr>
            <a:spLocks noGrp="1"/>
          </p:cNvSpPr>
          <p:nvPr>
            <p:ph idx="1"/>
          </p:nvPr>
        </p:nvSpPr>
        <p:spPr>
          <a:xfrm>
            <a:off x="914400" y="1447800"/>
            <a:ext cx="7391400" cy="5029200"/>
          </a:xfrm>
        </p:spPr>
        <p:txBody>
          <a:bodyPr vert="horz" wrap="square" lIns="92075" tIns="46038" rIns="92075" bIns="46038" anchor="t" anchorCtr="0"/>
          <a:p>
            <a:pPr>
              <a:lnSpc>
                <a:spcPct val="90000"/>
              </a:lnSpc>
              <a:buNone/>
            </a:pPr>
            <a:r>
              <a:rPr lang="zh-CN" altLang="en-US" sz="2000" b="1" dirty="0">
                <a:ea typeface="宋体" panose="02010600030101010101" pitchFamily="2" charset="-122"/>
              </a:rPr>
              <a:t>输入：循环</a:t>
            </a:r>
            <a:r>
              <a:rPr lang="en-US" altLang="zh-CN" sz="2000" b="1" dirty="0">
                <a:ea typeface="宋体" panose="02010600030101010101" pitchFamily="2" charset="-122"/>
              </a:rPr>
              <a:t>L，</a:t>
            </a:r>
            <a:r>
              <a:rPr lang="zh-CN" altLang="en-US" sz="2000" b="1" dirty="0">
                <a:ea typeface="宋体" panose="02010600030101010101" pitchFamily="2" charset="-122"/>
              </a:rPr>
              <a:t>附带到达—定值信息和归纳变量族</a:t>
            </a: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输出：强度削弱后的循环</a:t>
            </a: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方法：依次考虑基本归纳变量</a:t>
            </a:r>
            <a:r>
              <a:rPr lang="en-US" altLang="zh-CN" sz="2000" b="1" dirty="0">
                <a:ea typeface="宋体" panose="02010600030101010101" pitchFamily="2" charset="-122"/>
              </a:rPr>
              <a:t>i，</a:t>
            </a:r>
            <a:r>
              <a:rPr lang="zh-CN" altLang="en-US" sz="2000" b="1" dirty="0">
                <a:ea typeface="宋体" panose="02010600030101010101" pitchFamily="2" charset="-122"/>
              </a:rPr>
              <a:t>对每个三元组为（</a:t>
            </a:r>
            <a:r>
              <a:rPr lang="en-US" altLang="zh-CN" sz="2000" b="1" dirty="0">
                <a:ea typeface="宋体" panose="02010600030101010101" pitchFamily="2" charset="-122"/>
              </a:rPr>
              <a:t>i , c , d）</a:t>
            </a:r>
            <a:r>
              <a:rPr lang="zh-CN" altLang="en-US" sz="2000" b="1" dirty="0">
                <a:ea typeface="宋体" panose="02010600030101010101" pitchFamily="2" charset="-122"/>
              </a:rPr>
              <a:t>的 </a:t>
            </a:r>
            <a:r>
              <a:rPr lang="en-US" altLang="zh-CN" sz="2000" b="1" dirty="0">
                <a:ea typeface="宋体" panose="02010600030101010101" pitchFamily="2" charset="-122"/>
              </a:rPr>
              <a:t>i </a:t>
            </a:r>
            <a:r>
              <a:rPr lang="zh-CN" altLang="en-US" sz="2000" b="1" dirty="0">
                <a:ea typeface="宋体" panose="02010600030101010101" pitchFamily="2" charset="-122"/>
              </a:rPr>
              <a:t>族归纳变量</a:t>
            </a:r>
            <a:r>
              <a:rPr lang="en-US" altLang="zh-CN" sz="2000" b="1" dirty="0">
                <a:ea typeface="宋体" panose="02010600030101010101" pitchFamily="2" charset="-122"/>
              </a:rPr>
              <a:t>j：</a:t>
            </a:r>
            <a:endParaRPr lang="en-US" altLang="zh-CN" sz="2000" b="1" dirty="0">
              <a:ea typeface="宋体" panose="02010600030101010101" pitchFamily="2" charset="-122"/>
            </a:endParaRPr>
          </a:p>
          <a:p>
            <a:pPr>
              <a:lnSpc>
                <a:spcPct val="90000"/>
              </a:lnSpc>
              <a:buNone/>
            </a:pPr>
            <a:r>
              <a:rPr lang="zh-CN" altLang="en-US" sz="2000" b="1" dirty="0">
                <a:ea typeface="宋体" panose="02010600030101010101" pitchFamily="2" charset="-122"/>
              </a:rPr>
              <a:t>	(1)	建立新变量</a:t>
            </a:r>
            <a:r>
              <a:rPr lang="en-US" altLang="zh-CN" sz="2000" b="1" dirty="0">
                <a:ea typeface="宋体" panose="02010600030101010101" pitchFamily="2" charset="-122"/>
              </a:rPr>
              <a:t>s，</a:t>
            </a:r>
            <a:r>
              <a:rPr lang="zh-CN" altLang="en-US" sz="2000" b="1" dirty="0">
                <a:ea typeface="宋体" panose="02010600030101010101" pitchFamily="2" charset="-122"/>
              </a:rPr>
              <a:t>但如果变量</a:t>
            </a:r>
            <a:r>
              <a:rPr lang="en-US" altLang="zh-CN" sz="2000" b="1" dirty="0">
                <a:ea typeface="宋体" panose="02010600030101010101" pitchFamily="2" charset="-122"/>
              </a:rPr>
              <a:t>j1</a:t>
            </a:r>
            <a:r>
              <a:rPr lang="zh-CN" altLang="en-US" sz="2000" b="1" dirty="0">
                <a:ea typeface="宋体" panose="02010600030101010101" pitchFamily="2" charset="-122"/>
              </a:rPr>
              <a:t>和</a:t>
            </a:r>
            <a:r>
              <a:rPr lang="en-US" altLang="zh-CN" sz="2000" b="1" dirty="0">
                <a:ea typeface="宋体" panose="02010600030101010101" pitchFamily="2" charset="-122"/>
              </a:rPr>
              <a:t>j2</a:t>
            </a:r>
            <a:r>
              <a:rPr lang="zh-CN" altLang="en-US" sz="2000" b="1" dirty="0">
                <a:ea typeface="宋体" panose="02010600030101010101" pitchFamily="2" charset="-122"/>
              </a:rPr>
              <a:t>有同样的三元组，则仅	建一个新变量用于两者</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(2)	</a:t>
            </a:r>
            <a:r>
              <a:rPr lang="zh-CN" altLang="en-US" sz="2000" b="1" dirty="0">
                <a:ea typeface="宋体" panose="02010600030101010101" pitchFamily="2" charset="-122"/>
              </a:rPr>
              <a:t>用 </a:t>
            </a:r>
            <a:r>
              <a:rPr lang="en-US" altLang="zh-CN" sz="2000" b="1" dirty="0">
                <a:ea typeface="宋体" panose="02010600030101010101" pitchFamily="2" charset="-122"/>
              </a:rPr>
              <a:t>j := s </a:t>
            </a:r>
            <a:r>
              <a:rPr lang="zh-CN" altLang="en-US" sz="2000" b="1" dirty="0">
                <a:ea typeface="宋体" panose="02010600030101010101" pitchFamily="2" charset="-122"/>
              </a:rPr>
              <a:t>代替 </a:t>
            </a:r>
            <a:r>
              <a:rPr lang="en-US" altLang="zh-CN" sz="2000" b="1" dirty="0">
                <a:ea typeface="宋体" panose="02010600030101010101" pitchFamily="2" charset="-122"/>
              </a:rPr>
              <a:t>j </a:t>
            </a:r>
            <a:r>
              <a:rPr lang="zh-CN" altLang="en-US" sz="2000" b="1" dirty="0">
                <a:ea typeface="宋体" panose="02010600030101010101" pitchFamily="2" charset="-122"/>
              </a:rPr>
              <a:t>的赋值</a:t>
            </a:r>
            <a:endParaRPr lang="zh-CN" altLang="en-US" sz="2000" b="1" dirty="0">
              <a:ea typeface="宋体" panose="02010600030101010101" pitchFamily="2" charset="-122"/>
            </a:endParaRPr>
          </a:p>
          <a:p>
            <a:pPr>
              <a:lnSpc>
                <a:spcPct val="90000"/>
              </a:lnSpc>
              <a:buNone/>
            </a:pPr>
            <a:r>
              <a:rPr lang="en-US" altLang="zh-CN" sz="2000" b="1" dirty="0">
                <a:ea typeface="宋体" panose="02010600030101010101" pitchFamily="2" charset="-122"/>
              </a:rPr>
              <a:t>	(3)	</a:t>
            </a:r>
            <a:r>
              <a:rPr lang="zh-CN" altLang="en-US" sz="2000" b="1" dirty="0">
                <a:ea typeface="宋体" panose="02010600030101010101" pitchFamily="2" charset="-122"/>
              </a:rPr>
              <a:t>在</a:t>
            </a:r>
            <a:r>
              <a:rPr lang="en-US" altLang="zh-CN" sz="2000" b="1" dirty="0">
                <a:ea typeface="宋体" panose="02010600030101010101" pitchFamily="2" charset="-122"/>
              </a:rPr>
              <a:t>L</a:t>
            </a:r>
            <a:r>
              <a:rPr lang="zh-CN" altLang="en-US" sz="2000" b="1" dirty="0">
                <a:ea typeface="宋体" panose="02010600030101010101" pitchFamily="2" charset="-122"/>
              </a:rPr>
              <a:t>中每个赋值 </a:t>
            </a:r>
            <a:r>
              <a:rPr lang="en-US" altLang="zh-CN" sz="2000" b="1" dirty="0">
                <a:ea typeface="宋体" panose="02010600030101010101" pitchFamily="2" charset="-122"/>
              </a:rPr>
              <a:t>i := i + n</a:t>
            </a:r>
            <a:r>
              <a:rPr lang="zh-CN" altLang="en-US" sz="2000" b="1" dirty="0">
                <a:ea typeface="宋体" panose="02010600030101010101" pitchFamily="2" charset="-122"/>
              </a:rPr>
              <a:t>后面（</a:t>
            </a:r>
            <a:r>
              <a:rPr lang="en-US" altLang="zh-CN" sz="2000" b="1" dirty="0">
                <a:ea typeface="宋体" panose="02010600030101010101" pitchFamily="2" charset="-122"/>
              </a:rPr>
              <a:t>n</a:t>
            </a:r>
            <a:r>
              <a:rPr lang="zh-CN" altLang="en-US" sz="2000" b="1" dirty="0">
                <a:ea typeface="宋体" panose="02010600030101010101" pitchFamily="2" charset="-122"/>
              </a:rPr>
              <a:t>是常数），紧接它加上:</a:t>
            </a: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			</a:t>
            </a:r>
            <a:r>
              <a:rPr lang="en-US" altLang="zh-CN" sz="2000" b="1" dirty="0">
                <a:ea typeface="宋体" panose="02010600030101010101" pitchFamily="2" charset="-122"/>
              </a:rPr>
              <a:t>s := s + c * n</a:t>
            </a:r>
            <a:endParaRPr lang="en-US" altLang="zh-CN" sz="2000" b="1" dirty="0">
              <a:ea typeface="宋体" panose="02010600030101010101" pitchFamily="2" charset="-122"/>
            </a:endParaRPr>
          </a:p>
          <a:p>
            <a:pPr>
              <a:lnSpc>
                <a:spcPct val="90000"/>
              </a:lnSpc>
              <a:buNone/>
            </a:pPr>
            <a:r>
              <a:rPr lang="zh-CN" altLang="en-US" sz="2000" b="1" dirty="0">
                <a:ea typeface="宋体" panose="02010600030101010101" pitchFamily="2" charset="-122"/>
              </a:rPr>
              <a:t>		其中的表达式 </a:t>
            </a:r>
            <a:r>
              <a:rPr lang="en-US" altLang="zh-CN" sz="2000" b="1" dirty="0">
                <a:ea typeface="宋体" panose="02010600030101010101" pitchFamily="2" charset="-122"/>
              </a:rPr>
              <a:t>c * n </a:t>
            </a:r>
            <a:r>
              <a:rPr lang="zh-CN" altLang="en-US" sz="2000" b="1" dirty="0">
                <a:ea typeface="宋体" panose="02010600030101010101" pitchFamily="2" charset="-122"/>
              </a:rPr>
              <a:t>计算为一个常数（</a:t>
            </a:r>
            <a:r>
              <a:rPr lang="en-US" altLang="zh-CN" sz="2000" b="1" dirty="0">
                <a:ea typeface="宋体" panose="02010600030101010101" pitchFamily="2" charset="-122"/>
              </a:rPr>
              <a:t>c</a:t>
            </a:r>
            <a:r>
              <a:rPr lang="zh-CN" altLang="en-US" sz="2000" b="1" dirty="0">
                <a:ea typeface="宋体" panose="02010600030101010101" pitchFamily="2" charset="-122"/>
              </a:rPr>
              <a:t>和</a:t>
            </a:r>
            <a:r>
              <a:rPr lang="en-US" altLang="zh-CN" sz="2000" b="1" dirty="0">
                <a:ea typeface="宋体" panose="02010600030101010101" pitchFamily="2" charset="-122"/>
              </a:rPr>
              <a:t>n</a:t>
            </a:r>
            <a:r>
              <a:rPr lang="zh-CN" altLang="en-US" sz="2000" b="1" dirty="0">
                <a:ea typeface="宋体" panose="02010600030101010101" pitchFamily="2" charset="-122"/>
              </a:rPr>
              <a:t>都是常数）,	把</a:t>
            </a:r>
            <a:r>
              <a:rPr lang="en-US" altLang="zh-CN" sz="2000" b="1" dirty="0">
                <a:ea typeface="宋体" panose="02010600030101010101" pitchFamily="2" charset="-122"/>
              </a:rPr>
              <a:t>s</a:t>
            </a:r>
            <a:r>
              <a:rPr lang="zh-CN" altLang="en-US" sz="2000" b="1" dirty="0">
                <a:ea typeface="宋体" panose="02010600030101010101" pitchFamily="2" charset="-122"/>
              </a:rPr>
              <a:t>加入</a:t>
            </a:r>
            <a:r>
              <a:rPr lang="en-US" altLang="zh-CN" sz="2000" b="1" dirty="0">
                <a:ea typeface="宋体" panose="02010600030101010101" pitchFamily="2" charset="-122"/>
              </a:rPr>
              <a:t>i</a:t>
            </a:r>
            <a:r>
              <a:rPr lang="zh-CN" altLang="en-US" sz="2000" b="1" dirty="0">
                <a:ea typeface="宋体" panose="02010600030101010101" pitchFamily="2" charset="-122"/>
              </a:rPr>
              <a:t>族，三元组为（ </a:t>
            </a:r>
            <a:r>
              <a:rPr lang="en-US" altLang="zh-CN" sz="2000" b="1" dirty="0">
                <a:ea typeface="宋体" panose="02010600030101010101" pitchFamily="2" charset="-122"/>
              </a:rPr>
              <a:t>i , c , d</a:t>
            </a:r>
            <a:r>
              <a:rPr lang="zh-CN" altLang="en-US" sz="2000" b="1" dirty="0">
                <a:ea typeface="宋体" panose="02010600030101010101" pitchFamily="2" charset="-122"/>
              </a:rPr>
              <a:t> ）</a:t>
            </a:r>
            <a:endParaRPr lang="zh-CN" altLang="en-US" sz="2000" b="1" dirty="0">
              <a:ea typeface="宋体" panose="02010600030101010101" pitchFamily="2" charset="-122"/>
            </a:endParaRPr>
          </a:p>
          <a:p>
            <a:pPr>
              <a:lnSpc>
                <a:spcPct val="90000"/>
              </a:lnSpc>
              <a:buNone/>
            </a:pPr>
            <a:r>
              <a:rPr lang="en-US" altLang="zh-CN" sz="2000" b="1" dirty="0">
                <a:ea typeface="宋体" panose="02010600030101010101" pitchFamily="2" charset="-122"/>
              </a:rPr>
              <a:t>	(4)	</a:t>
            </a:r>
            <a:r>
              <a:rPr lang="zh-CN" altLang="en-US" sz="2000" b="1" dirty="0">
                <a:ea typeface="宋体" panose="02010600030101010101" pitchFamily="2" charset="-122"/>
              </a:rPr>
              <a:t>还必须保证在循环的入口处</a:t>
            </a:r>
            <a:r>
              <a:rPr lang="en-US" altLang="zh-CN" sz="2000" b="1" dirty="0">
                <a:ea typeface="宋体" panose="02010600030101010101" pitchFamily="2" charset="-122"/>
              </a:rPr>
              <a:t>s</a:t>
            </a:r>
            <a:r>
              <a:rPr lang="zh-CN" altLang="en-US" sz="2000" b="1" dirty="0">
                <a:ea typeface="宋体" panose="02010600030101010101" pitchFamily="2" charset="-122"/>
              </a:rPr>
              <a:t>的初值为</a:t>
            </a:r>
            <a:r>
              <a:rPr lang="en-US" altLang="zh-CN" sz="2000" b="1" dirty="0">
                <a:ea typeface="宋体" panose="02010600030101010101" pitchFamily="2" charset="-122"/>
              </a:rPr>
              <a:t>c * i + d，</a:t>
            </a:r>
            <a:r>
              <a:rPr lang="zh-CN" altLang="en-US" sz="2000" b="1" dirty="0">
                <a:ea typeface="宋体" panose="02010600030101010101" pitchFamily="2" charset="-122"/>
              </a:rPr>
              <a:t>这个初	始化可以放在前置块的末尾，它由：</a:t>
            </a:r>
            <a:endParaRPr lang="zh-CN" altLang="en-US" sz="2000" b="1" dirty="0">
              <a:ea typeface="宋体" panose="02010600030101010101" pitchFamily="2" charset="-122"/>
            </a:endParaRPr>
          </a:p>
          <a:p>
            <a:pPr>
              <a:lnSpc>
                <a:spcPct val="90000"/>
              </a:lnSpc>
              <a:buNone/>
            </a:pPr>
            <a:r>
              <a:rPr lang="zh-CN" altLang="en-US" sz="2000" b="1" dirty="0">
                <a:ea typeface="宋体" panose="02010600030101010101" pitchFamily="2" charset="-122"/>
              </a:rPr>
              <a:t>			</a:t>
            </a:r>
            <a:r>
              <a:rPr lang="en-US" altLang="zh-CN" sz="2000" b="1" dirty="0">
                <a:ea typeface="宋体" panose="02010600030101010101" pitchFamily="2" charset="-122"/>
              </a:rPr>
              <a:t>s := c * i		/* </a:t>
            </a:r>
            <a:r>
              <a:rPr lang="zh-CN" altLang="en-US" sz="2000" b="1" dirty="0">
                <a:ea typeface="宋体" panose="02010600030101010101" pitchFamily="2" charset="-122"/>
              </a:rPr>
              <a:t>如果</a:t>
            </a:r>
            <a:r>
              <a:rPr lang="en-US" altLang="zh-CN" sz="2000" b="1" dirty="0">
                <a:ea typeface="宋体" panose="02010600030101010101" pitchFamily="2" charset="-122"/>
              </a:rPr>
              <a:t>c</a:t>
            </a:r>
            <a:r>
              <a:rPr lang="zh-CN" altLang="en-US" sz="2000" b="1" dirty="0">
                <a:ea typeface="宋体" panose="02010600030101010101" pitchFamily="2" charset="-122"/>
              </a:rPr>
              <a:t>为1，则</a:t>
            </a:r>
            <a:r>
              <a:rPr lang="en-US" altLang="zh-CN" sz="2000" b="1" dirty="0">
                <a:ea typeface="宋体" panose="02010600030101010101" pitchFamily="2" charset="-122"/>
              </a:rPr>
              <a:t>s := i */</a:t>
            </a:r>
            <a:endParaRPr lang="en-US" altLang="zh-CN" sz="2000" b="1" dirty="0">
              <a:ea typeface="宋体" panose="02010600030101010101" pitchFamily="2" charset="-122"/>
            </a:endParaRPr>
          </a:p>
          <a:p>
            <a:pPr>
              <a:lnSpc>
                <a:spcPct val="90000"/>
              </a:lnSpc>
              <a:buNone/>
            </a:pPr>
            <a:r>
              <a:rPr lang="en-US" altLang="zh-CN" sz="2000" b="1" dirty="0">
                <a:ea typeface="宋体" panose="02010600030101010101" pitchFamily="2" charset="-122"/>
              </a:rPr>
              <a:t>			s := s + d	/* </a:t>
            </a:r>
            <a:r>
              <a:rPr lang="zh-CN" altLang="en-US" sz="2000" b="1" dirty="0">
                <a:ea typeface="宋体" panose="02010600030101010101" pitchFamily="2" charset="-122"/>
              </a:rPr>
              <a:t>如果</a:t>
            </a:r>
            <a:r>
              <a:rPr lang="en-US" altLang="zh-CN" sz="2000" b="1" dirty="0">
                <a:ea typeface="宋体" panose="02010600030101010101" pitchFamily="2" charset="-122"/>
              </a:rPr>
              <a:t>d</a:t>
            </a:r>
            <a:r>
              <a:rPr lang="zh-CN" altLang="en-US" sz="2000" b="1" dirty="0">
                <a:ea typeface="宋体" panose="02010600030101010101" pitchFamily="2" charset="-122"/>
              </a:rPr>
              <a:t>为0，则省略</a:t>
            </a:r>
            <a:r>
              <a:rPr lang="en-US" altLang="zh-CN" sz="2000" b="1" dirty="0">
                <a:ea typeface="宋体" panose="02010600030101010101" pitchFamily="2" charset="-122"/>
              </a:rPr>
              <a:t> */</a:t>
            </a:r>
            <a:endParaRPr lang="en-US" altLang="zh-CN" sz="2000" b="1" dirty="0">
              <a:ea typeface="宋体" panose="02010600030101010101" pitchFamily="2" charset="-122"/>
            </a:endParaRPr>
          </a:p>
          <a:p>
            <a:pPr>
              <a:lnSpc>
                <a:spcPct val="90000"/>
              </a:lnSpc>
              <a:buNone/>
            </a:pPr>
            <a:r>
              <a:rPr lang="zh-CN" altLang="en-US" sz="2000" b="1" dirty="0">
                <a:ea typeface="宋体" panose="02010600030101010101" pitchFamily="2" charset="-122"/>
              </a:rPr>
              <a:t>		组成。注意</a:t>
            </a:r>
            <a:r>
              <a:rPr lang="en-US" altLang="zh-CN" sz="2000" b="1" dirty="0">
                <a:ea typeface="宋体" panose="02010600030101010101" pitchFamily="2" charset="-122"/>
              </a:rPr>
              <a:t>s</a:t>
            </a:r>
            <a:r>
              <a:rPr lang="zh-CN" altLang="en-US" sz="2000" b="1" dirty="0">
                <a:ea typeface="宋体" panose="02010600030101010101" pitchFamily="2" charset="-122"/>
              </a:rPr>
              <a:t>是</a:t>
            </a:r>
            <a:r>
              <a:rPr lang="en-US" altLang="zh-CN" sz="2000" b="1" dirty="0">
                <a:ea typeface="宋体" panose="02010600030101010101" pitchFamily="2" charset="-122"/>
              </a:rPr>
              <a:t>i</a:t>
            </a:r>
            <a:r>
              <a:rPr lang="zh-CN" altLang="en-US" sz="2000" b="1" dirty="0">
                <a:ea typeface="宋体" panose="02010600030101010101" pitchFamily="2" charset="-122"/>
              </a:rPr>
              <a:t>族的归纳变量</a:t>
            </a:r>
            <a:endParaRPr lang="zh-CN" altLang="en-US" sz="2000" b="1" dirty="0">
              <a:ea typeface="宋体" panose="02010600030101010101" pitchFamily="2" charset="-122"/>
            </a:endParaRPr>
          </a:p>
        </p:txBody>
      </p:sp>
    </p:spTree>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归纳变量删除的算法</a:t>
            </a:r>
            <a:endParaRPr lang="zh-CN" altLang="en-US" dirty="0">
              <a:latin typeface="宋体" panose="02010600030101010101" pitchFamily="2" charset="-122"/>
              <a:ea typeface="宋体" panose="02010600030101010101" pitchFamily="2" charset="-122"/>
            </a:endParaRPr>
          </a:p>
        </p:txBody>
      </p:sp>
      <p:sp>
        <p:nvSpPr>
          <p:cNvPr id="301059" name="Rectangle 3"/>
          <p:cNvSpPr>
            <a:spLocks noGrp="1"/>
          </p:cNvSpPr>
          <p:nvPr>
            <p:ph idx="1"/>
          </p:nvPr>
        </p:nvSpPr>
        <p:spPr>
          <a:xfrm>
            <a:off x="914400" y="1447800"/>
            <a:ext cx="7391400" cy="5029200"/>
          </a:xfrm>
        </p:spPr>
        <p:txBody>
          <a:bodyPr vert="horz" wrap="square" lIns="92075" tIns="46038" rIns="92075" bIns="46038" anchor="t" anchorCtr="0"/>
          <a:p>
            <a:pPr>
              <a:lnSpc>
                <a:spcPct val="90000"/>
              </a:lnSpc>
              <a:buNone/>
            </a:pPr>
            <a:r>
              <a:rPr lang="zh-CN" altLang="en-US" sz="1800" b="1" dirty="0">
                <a:ea typeface="宋体" panose="02010600030101010101" pitchFamily="2" charset="-122"/>
              </a:rPr>
              <a:t>输入：循环</a:t>
            </a:r>
            <a:r>
              <a:rPr lang="en-US" altLang="zh-CN" sz="1800" b="1" dirty="0">
                <a:ea typeface="宋体" panose="02010600030101010101" pitchFamily="2" charset="-122"/>
              </a:rPr>
              <a:t>L，</a:t>
            </a:r>
            <a:r>
              <a:rPr lang="zh-CN" altLang="en-US" sz="1800" b="1" dirty="0">
                <a:ea typeface="宋体" panose="02010600030101010101" pitchFamily="2" charset="-122"/>
              </a:rPr>
              <a:t>附带到达—定值信息、循环不变计算信息和活跃变量信息</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输出：归纳变量删除后的循环</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方法：</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(1)	考虑每个仅用于计算同族中其它归纳变量和条件分支的基本归	纳变量</a:t>
            </a:r>
            <a:r>
              <a:rPr lang="en-US" altLang="zh-CN" sz="1800" b="1" dirty="0">
                <a:ea typeface="宋体" panose="02010600030101010101" pitchFamily="2" charset="-122"/>
              </a:rPr>
              <a:t>i。</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(a) </a:t>
            </a:r>
            <a:r>
              <a:rPr lang="zh-CN" altLang="en-US" sz="1800" b="1" dirty="0">
                <a:ea typeface="宋体" panose="02010600030101010101" pitchFamily="2" charset="-122"/>
              </a:rPr>
              <a:t>取</a:t>
            </a:r>
            <a:r>
              <a:rPr lang="en-US" altLang="zh-CN" sz="1800" b="1" dirty="0">
                <a:ea typeface="宋体" panose="02010600030101010101" pitchFamily="2" charset="-122"/>
              </a:rPr>
              <a:t>i</a:t>
            </a:r>
            <a:r>
              <a:rPr lang="zh-CN" altLang="en-US" sz="1800" b="1" dirty="0">
                <a:ea typeface="宋体" panose="02010600030101010101" pitchFamily="2" charset="-122"/>
              </a:rPr>
              <a:t>族的某个</a:t>
            </a:r>
            <a:r>
              <a:rPr lang="en-US" altLang="zh-CN" sz="1800" b="1" dirty="0">
                <a:ea typeface="宋体" panose="02010600030101010101" pitchFamily="2" charset="-122"/>
              </a:rPr>
              <a:t>j，</a:t>
            </a:r>
            <a:r>
              <a:rPr lang="zh-CN" altLang="en-US" sz="1800" b="1" dirty="0">
                <a:ea typeface="宋体" panose="02010600030101010101" pitchFamily="2" charset="-122"/>
              </a:rPr>
              <a:t>优先于其三元组( </a:t>
            </a:r>
            <a:r>
              <a:rPr lang="en-US" altLang="zh-CN" sz="1800" b="1" dirty="0">
                <a:ea typeface="宋体" panose="02010600030101010101" pitchFamily="2" charset="-122"/>
              </a:rPr>
              <a:t>i, c, d )</a:t>
            </a:r>
            <a:r>
              <a:rPr lang="zh-CN" altLang="en-US" sz="1800" b="1" dirty="0">
                <a:ea typeface="宋体" panose="02010600030101010101" pitchFamily="2" charset="-122"/>
              </a:rPr>
              <a:t>中的</a:t>
            </a:r>
            <a:r>
              <a:rPr lang="en-US" altLang="zh-CN" sz="1800" b="1" dirty="0">
                <a:ea typeface="宋体" panose="02010600030101010101" pitchFamily="2" charset="-122"/>
              </a:rPr>
              <a:t>c = 1</a:t>
            </a:r>
            <a:r>
              <a:rPr lang="zh-CN" altLang="en-US" sz="1800" b="1" dirty="0">
                <a:ea typeface="宋体" panose="02010600030101010101" pitchFamily="2" charset="-122"/>
              </a:rPr>
              <a:t>或</a:t>
            </a:r>
            <a:r>
              <a:rPr lang="en-US" altLang="zh-CN" sz="1800" b="1" dirty="0">
                <a:ea typeface="宋体" panose="02010600030101010101" pitchFamily="2" charset="-122"/>
              </a:rPr>
              <a:t>d = 0</a:t>
            </a:r>
            <a:r>
              <a:rPr lang="zh-CN" altLang="en-US" sz="1800" b="1" dirty="0">
                <a:ea typeface="宋体" panose="02010600030101010101" pitchFamily="2" charset="-122"/>
              </a:rPr>
              <a:t>这	     种尽可能简单的</a:t>
            </a:r>
            <a:r>
              <a:rPr lang="en-US" altLang="zh-CN" sz="1800" b="1" dirty="0">
                <a:ea typeface="宋体" panose="02010600030101010101" pitchFamily="2" charset="-122"/>
              </a:rPr>
              <a:t>j，</a:t>
            </a:r>
            <a:r>
              <a:rPr lang="zh-CN" altLang="en-US" sz="1800" b="1" dirty="0">
                <a:ea typeface="宋体" panose="02010600030101010101" pitchFamily="2" charset="-122"/>
              </a:rPr>
              <a:t>把每个含</a:t>
            </a:r>
            <a:r>
              <a:rPr lang="en-US" altLang="zh-CN" sz="1800" b="1" dirty="0">
                <a:ea typeface="宋体" panose="02010600030101010101" pitchFamily="2" charset="-122"/>
              </a:rPr>
              <a:t>i</a:t>
            </a:r>
            <a:r>
              <a:rPr lang="zh-CN" altLang="en-US" sz="1800" b="1" dirty="0">
                <a:ea typeface="宋体" panose="02010600030101010101" pitchFamily="2" charset="-122"/>
              </a:rPr>
              <a:t>的测试改成用</a:t>
            </a:r>
            <a:r>
              <a:rPr lang="en-US" altLang="zh-CN" sz="1800" b="1" dirty="0">
                <a:ea typeface="宋体" panose="02010600030101010101" pitchFamily="2" charset="-122"/>
              </a:rPr>
              <a:t>j</a:t>
            </a:r>
            <a:r>
              <a:rPr lang="zh-CN" altLang="en-US" sz="1800" b="1" dirty="0">
                <a:ea typeface="宋体" panose="02010600030101010101" pitchFamily="2" charset="-122"/>
              </a:rPr>
              <a:t>代替</a:t>
            </a:r>
            <a:r>
              <a:rPr lang="en-US" altLang="zh-CN" sz="1800" b="1" dirty="0">
                <a:ea typeface="宋体" panose="02010600030101010101" pitchFamily="2" charset="-122"/>
              </a:rPr>
              <a:t>i。</a:t>
            </a:r>
            <a:r>
              <a:rPr lang="zh-CN" altLang="en-US" sz="1800" b="1" dirty="0">
                <a:ea typeface="宋体" panose="02010600030101010101" pitchFamily="2" charset="-122"/>
              </a:rPr>
              <a:t>假定</a:t>
            </a:r>
            <a:r>
              <a:rPr lang="en-US" altLang="zh-CN" sz="1800" b="1" dirty="0">
                <a:ea typeface="宋体" panose="02010600030101010101" pitchFamily="2" charset="-122"/>
              </a:rPr>
              <a:t>c&gt;0	    ，</a:t>
            </a:r>
            <a:r>
              <a:rPr lang="zh-CN" altLang="en-US" sz="1800" b="1" dirty="0">
                <a:ea typeface="宋体" panose="02010600030101010101" pitchFamily="2" charset="-122"/>
              </a:rPr>
              <a:t>则测试</a:t>
            </a:r>
            <a:r>
              <a:rPr lang="en-US" altLang="zh-CN" sz="1800" b="1" dirty="0">
                <a:ea typeface="宋体" panose="02010600030101010101" pitchFamily="2" charset="-122"/>
              </a:rPr>
              <a:t>if i relop x goto B</a:t>
            </a:r>
            <a:r>
              <a:rPr lang="zh-CN" altLang="en-US" sz="1800" b="1" dirty="0">
                <a:ea typeface="宋体" panose="02010600030101010101" pitchFamily="2" charset="-122"/>
              </a:rPr>
              <a:t>等价于(其中，</a:t>
            </a:r>
            <a:r>
              <a:rPr lang="en-US" altLang="zh-CN" sz="1800" b="1" dirty="0">
                <a:ea typeface="宋体" panose="02010600030101010101" pitchFamily="2" charset="-122"/>
              </a:rPr>
              <a:t>x</a:t>
            </a:r>
            <a:r>
              <a:rPr lang="zh-CN" altLang="en-US" sz="1800" b="1" dirty="0">
                <a:ea typeface="宋体" panose="02010600030101010101" pitchFamily="2" charset="-122"/>
              </a:rPr>
              <a:t>不是归纳变量)：</a:t>
            </a:r>
            <a:endParaRPr lang="zh-CN" altLang="en-US"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r := c * x		/* </a:t>
            </a:r>
            <a:r>
              <a:rPr lang="zh-CN" altLang="en-US" sz="1800" b="1" dirty="0">
                <a:ea typeface="宋体" panose="02010600030101010101" pitchFamily="2" charset="-122"/>
              </a:rPr>
              <a:t>如果</a:t>
            </a:r>
            <a:r>
              <a:rPr lang="en-US" altLang="zh-CN" sz="1800" b="1" dirty="0">
                <a:ea typeface="宋体" panose="02010600030101010101" pitchFamily="2" charset="-122"/>
              </a:rPr>
              <a:t>c = 1，</a:t>
            </a:r>
            <a:r>
              <a:rPr lang="zh-CN" altLang="en-US" sz="1800" b="1" dirty="0">
                <a:ea typeface="宋体" panose="02010600030101010101" pitchFamily="2" charset="-122"/>
              </a:rPr>
              <a:t>则</a:t>
            </a:r>
            <a:r>
              <a:rPr lang="en-US" altLang="zh-CN" sz="1800" b="1" dirty="0">
                <a:ea typeface="宋体" panose="02010600030101010101" pitchFamily="2" charset="-122"/>
              </a:rPr>
              <a:t>r := x */</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r := r + d		/* </a:t>
            </a:r>
            <a:r>
              <a:rPr lang="zh-CN" altLang="en-US" sz="1800" b="1" dirty="0">
                <a:ea typeface="宋体" panose="02010600030101010101" pitchFamily="2" charset="-122"/>
              </a:rPr>
              <a:t>如果</a:t>
            </a:r>
            <a:r>
              <a:rPr lang="en-US" altLang="zh-CN" sz="1800" b="1" dirty="0">
                <a:ea typeface="宋体" panose="02010600030101010101" pitchFamily="2" charset="-122"/>
              </a:rPr>
              <a:t>d = 0，</a:t>
            </a:r>
            <a:r>
              <a:rPr lang="zh-CN" altLang="en-US" sz="1800" b="1" dirty="0">
                <a:ea typeface="宋体" panose="02010600030101010101" pitchFamily="2" charset="-122"/>
              </a:rPr>
              <a:t>则省略</a:t>
            </a:r>
            <a:r>
              <a:rPr lang="en-US" altLang="zh-CN" sz="1800" b="1" dirty="0">
                <a:ea typeface="宋体" panose="02010600030101010101" pitchFamily="2" charset="-122"/>
              </a:rPr>
              <a:t> */</a:t>
            </a:r>
            <a:endParaRPr lang="en-US" altLang="zh-CN" sz="1800" b="1" dirty="0">
              <a:ea typeface="宋体" panose="02010600030101010101" pitchFamily="2" charset="-122"/>
            </a:endParaRPr>
          </a:p>
          <a:p>
            <a:pPr>
              <a:lnSpc>
                <a:spcPct val="90000"/>
              </a:lnSpc>
              <a:buNone/>
            </a:pPr>
            <a:r>
              <a:rPr lang="zh-CN" altLang="en-US" sz="1800" b="1" dirty="0">
                <a:ea typeface="宋体" panose="02010600030101010101" pitchFamily="2" charset="-122"/>
              </a:rPr>
              <a:t>			</a:t>
            </a:r>
            <a:r>
              <a:rPr lang="en-US" altLang="zh-CN" sz="1800" b="1" dirty="0">
                <a:ea typeface="宋体" panose="02010600030101010101" pitchFamily="2" charset="-122"/>
              </a:rPr>
              <a:t>if j relop r goto B</a:t>
            </a:r>
            <a:endParaRPr lang="en-US" altLang="zh-CN" sz="1800" b="1" dirty="0">
              <a:ea typeface="宋体" panose="02010600030101010101" pitchFamily="2" charset="-122"/>
            </a:endParaRPr>
          </a:p>
          <a:p>
            <a:pPr>
              <a:lnSpc>
                <a:spcPct val="90000"/>
              </a:lnSpc>
              <a:buNone/>
            </a:pPr>
            <a:r>
              <a:rPr lang="en-US" altLang="zh-CN" sz="1800" b="1" dirty="0">
                <a:ea typeface="宋体" panose="02010600030101010101" pitchFamily="2" charset="-122"/>
              </a:rPr>
              <a:t>		(b) if x relop i goto B</a:t>
            </a:r>
            <a:r>
              <a:rPr lang="zh-CN" altLang="en-US" sz="1800" b="1" dirty="0">
                <a:ea typeface="宋体" panose="02010600030101010101" pitchFamily="2" charset="-122"/>
              </a:rPr>
              <a:t>的处理类似</a:t>
            </a:r>
            <a:endParaRPr lang="zh-CN" altLang="en-US" sz="1800" b="1" dirty="0">
              <a:ea typeface="宋体" panose="02010600030101010101" pitchFamily="2" charset="-122"/>
            </a:endParaRPr>
          </a:p>
          <a:p>
            <a:pPr>
              <a:lnSpc>
                <a:spcPct val="90000"/>
              </a:lnSpc>
              <a:buNone/>
            </a:pPr>
            <a:r>
              <a:rPr lang="en-US" altLang="zh-CN" sz="1800" b="1" dirty="0">
                <a:ea typeface="宋体" panose="02010600030101010101" pitchFamily="2" charset="-122"/>
              </a:rPr>
              <a:t>		(c) </a:t>
            </a:r>
            <a:r>
              <a:rPr lang="zh-CN" altLang="en-US" sz="1800" b="1" dirty="0">
                <a:ea typeface="宋体" panose="02010600030101010101" pitchFamily="2" charset="-122"/>
              </a:rPr>
              <a:t>如果</a:t>
            </a:r>
            <a:r>
              <a:rPr lang="en-US" altLang="zh-CN" sz="1800" b="1" dirty="0">
                <a:ea typeface="宋体" panose="02010600030101010101" pitchFamily="2" charset="-122"/>
              </a:rPr>
              <a:t>if  i1 relop i2 goto B</a:t>
            </a:r>
            <a:r>
              <a:rPr lang="zh-CN" altLang="en-US" sz="1800" b="1" dirty="0">
                <a:ea typeface="宋体" panose="02010600030101010101" pitchFamily="2" charset="-122"/>
              </a:rPr>
              <a:t>中</a:t>
            </a:r>
            <a:r>
              <a:rPr lang="en-US" altLang="zh-CN" sz="1800" b="1" dirty="0">
                <a:ea typeface="宋体" panose="02010600030101010101" pitchFamily="2" charset="-122"/>
              </a:rPr>
              <a:t>i1</a:t>
            </a:r>
            <a:r>
              <a:rPr lang="zh-CN" altLang="en-US" sz="1800" b="1" dirty="0">
                <a:ea typeface="宋体" panose="02010600030101010101" pitchFamily="2" charset="-122"/>
              </a:rPr>
              <a:t>和</a:t>
            </a:r>
            <a:r>
              <a:rPr lang="en-US" altLang="zh-CN" sz="1800" b="1" dirty="0">
                <a:ea typeface="宋体" panose="02010600030101010101" pitchFamily="2" charset="-122"/>
              </a:rPr>
              <a:t>i2</a:t>
            </a:r>
            <a:r>
              <a:rPr lang="zh-CN" altLang="en-US" sz="1800" b="1" dirty="0">
                <a:ea typeface="宋体" panose="02010600030101010101" pitchFamily="2" charset="-122"/>
              </a:rPr>
              <a:t>都是归纳变量，也可以考虑	     借鉴上述方法处理，特别是存在三元组( </a:t>
            </a:r>
            <a:r>
              <a:rPr lang="en-US" altLang="zh-CN" sz="1800" b="1" dirty="0">
                <a:ea typeface="宋体" panose="02010600030101010101" pitchFamily="2" charset="-122"/>
              </a:rPr>
              <a:t>i1, c1, d1 )</a:t>
            </a:r>
            <a:r>
              <a:rPr lang="zh-CN" altLang="en-US" sz="1800" b="1" dirty="0">
                <a:ea typeface="宋体" panose="02010600030101010101" pitchFamily="2" charset="-122"/>
              </a:rPr>
              <a:t>的</a:t>
            </a:r>
            <a:r>
              <a:rPr lang="en-US" altLang="zh-CN" sz="1800" b="1" dirty="0">
                <a:ea typeface="宋体" panose="02010600030101010101" pitchFamily="2" charset="-122"/>
              </a:rPr>
              <a:t>j1</a:t>
            </a:r>
            <a:r>
              <a:rPr lang="zh-CN" altLang="en-US" sz="1800" b="1" dirty="0">
                <a:ea typeface="宋体" panose="02010600030101010101" pitchFamily="2" charset="-122"/>
              </a:rPr>
              <a:t>和三	     元组( </a:t>
            </a:r>
            <a:r>
              <a:rPr lang="en-US" altLang="zh-CN" sz="1800" b="1" dirty="0">
                <a:ea typeface="宋体" panose="02010600030101010101" pitchFamily="2" charset="-122"/>
              </a:rPr>
              <a:t>i2, c2, d2 )</a:t>
            </a:r>
            <a:r>
              <a:rPr lang="zh-CN" altLang="en-US" sz="1800" b="1" dirty="0">
                <a:ea typeface="宋体" panose="02010600030101010101" pitchFamily="2" charset="-122"/>
              </a:rPr>
              <a:t>的</a:t>
            </a:r>
            <a:r>
              <a:rPr lang="en-US" altLang="zh-CN" sz="1800" b="1" dirty="0">
                <a:ea typeface="宋体" panose="02010600030101010101" pitchFamily="2" charset="-122"/>
              </a:rPr>
              <a:t>j2，</a:t>
            </a:r>
            <a:r>
              <a:rPr lang="zh-CN" altLang="en-US" sz="1800" b="1" dirty="0">
                <a:ea typeface="宋体" panose="02010600030101010101" pitchFamily="2" charset="-122"/>
              </a:rPr>
              <a:t>且</a:t>
            </a:r>
            <a:r>
              <a:rPr lang="en-US" altLang="zh-CN" sz="1800" b="1" dirty="0">
                <a:ea typeface="宋体" panose="02010600030101010101" pitchFamily="2" charset="-122"/>
              </a:rPr>
              <a:t>c1 = c2, d1 = d2，</a:t>
            </a:r>
            <a:r>
              <a:rPr lang="zh-CN" altLang="en-US" sz="1800" b="1" dirty="0">
                <a:ea typeface="宋体" panose="02010600030101010101" pitchFamily="2" charset="-122"/>
              </a:rPr>
              <a:t>则</a:t>
            </a:r>
            <a:r>
              <a:rPr lang="en-US" altLang="zh-CN" sz="1800" b="1" dirty="0">
                <a:ea typeface="宋体" panose="02010600030101010101" pitchFamily="2" charset="-122"/>
              </a:rPr>
              <a:t>i1 relop i2</a:t>
            </a:r>
            <a:r>
              <a:rPr lang="zh-CN" altLang="en-US" sz="1800" b="1" dirty="0">
                <a:ea typeface="宋体" panose="02010600030101010101" pitchFamily="2" charset="-122"/>
              </a:rPr>
              <a:t>等价	    于</a:t>
            </a:r>
            <a:r>
              <a:rPr lang="en-US" altLang="zh-CN" sz="1800" b="1" dirty="0">
                <a:ea typeface="宋体" panose="02010600030101010101" pitchFamily="2" charset="-122"/>
              </a:rPr>
              <a:t>j1 relop j2</a:t>
            </a:r>
            <a:endParaRPr lang="en-US" altLang="zh-CN" sz="1800" b="1" dirty="0">
              <a:ea typeface="宋体" panose="02010600030101010101" pitchFamily="2" charset="-122"/>
            </a:endParaRPr>
          </a:p>
        </p:txBody>
      </p:sp>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归纳变量删除的算法（续）</a:t>
            </a:r>
            <a:endParaRPr lang="en-US" altLang="zh-CN" dirty="0">
              <a:latin typeface="宋体" panose="02010600030101010101" pitchFamily="2" charset="-122"/>
              <a:ea typeface="宋体" panose="02010600030101010101" pitchFamily="2" charset="-122"/>
            </a:endParaRPr>
          </a:p>
        </p:txBody>
      </p:sp>
      <p:sp>
        <p:nvSpPr>
          <p:cNvPr id="303107" name="Rectangle 3"/>
          <p:cNvSpPr>
            <a:spLocks noGrp="1"/>
          </p:cNvSpPr>
          <p:nvPr>
            <p:ph idx="1"/>
          </p:nvPr>
        </p:nvSpPr>
        <p:spPr>
          <a:xfrm>
            <a:off x="914400" y="1600200"/>
            <a:ext cx="7391400" cy="4724400"/>
          </a:xfrm>
        </p:spPr>
        <p:txBody>
          <a:bodyPr vert="horz" wrap="square" lIns="92075" tIns="46038" rIns="92075" bIns="46038" anchor="t" anchorCtr="0"/>
          <a:p>
            <a:pPr>
              <a:buNone/>
            </a:pPr>
            <a:r>
              <a:rPr lang="en-US" altLang="zh-CN" sz="1800" b="1" dirty="0">
                <a:ea typeface="宋体" panose="02010600030101010101" pitchFamily="2" charset="-122"/>
              </a:rPr>
              <a:t>		(d)  </a:t>
            </a:r>
            <a:r>
              <a:rPr lang="zh-CN" altLang="en-US" sz="1800" b="1" dirty="0">
                <a:ea typeface="宋体" panose="02010600030101010101" pitchFamily="2" charset="-122"/>
              </a:rPr>
              <a:t>当被删掉的归纳变量不再引用时，从循环中删去所有对它	      的赋值</a:t>
            </a:r>
            <a:endParaRPr lang="zh-CN" altLang="en-US" sz="1800" b="1" dirty="0">
              <a:ea typeface="宋体" panose="02010600030101010101" pitchFamily="2" charset="-122"/>
            </a:endParaRPr>
          </a:p>
          <a:p>
            <a:pPr>
              <a:buNone/>
            </a:pPr>
            <a:r>
              <a:rPr lang="zh-CN" altLang="en-US" sz="1800" b="1" dirty="0">
                <a:ea typeface="宋体" panose="02010600030101010101" pitchFamily="2" charset="-122"/>
              </a:rPr>
              <a:t>	(2)	考虑前面算法引入的赋值语句</a:t>
            </a:r>
            <a:r>
              <a:rPr lang="en-US" altLang="zh-CN" sz="1800" b="1" dirty="0">
                <a:ea typeface="宋体" panose="02010600030101010101" pitchFamily="2" charset="-122"/>
              </a:rPr>
              <a:t>j := s</a:t>
            </a:r>
            <a:r>
              <a:rPr lang="zh-CN" altLang="en-US" sz="1800" b="1" dirty="0">
                <a:ea typeface="宋体" panose="02010600030101010101" pitchFamily="2" charset="-122"/>
              </a:rPr>
              <a:t>的每个归纳变量</a:t>
            </a:r>
            <a:r>
              <a:rPr lang="en-US" altLang="zh-CN" sz="1800" b="1" dirty="0">
                <a:ea typeface="宋体" panose="02010600030101010101" pitchFamily="2" charset="-122"/>
              </a:rPr>
              <a:t>j</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(a)</a:t>
            </a:r>
            <a:r>
              <a:rPr lang="zh-CN" altLang="en-US" sz="1800" b="1" dirty="0">
                <a:ea typeface="宋体" panose="02010600030101010101" pitchFamily="2" charset="-122"/>
              </a:rPr>
              <a:t>如果在引入的</a:t>
            </a:r>
            <a:r>
              <a:rPr lang="en-US" altLang="zh-CN" sz="1800" b="1" dirty="0">
                <a:ea typeface="宋体" panose="02010600030101010101" pitchFamily="2" charset="-122"/>
              </a:rPr>
              <a:t>j := s</a:t>
            </a:r>
            <a:r>
              <a:rPr lang="zh-CN" altLang="en-US" sz="1800" b="1" dirty="0">
                <a:ea typeface="宋体" panose="02010600030101010101" pitchFamily="2" charset="-122"/>
              </a:rPr>
              <a:t>和任何</a:t>
            </a:r>
            <a:r>
              <a:rPr lang="en-US" altLang="zh-CN" sz="1800" b="1" dirty="0">
                <a:ea typeface="宋体" panose="02010600030101010101" pitchFamily="2" charset="-122"/>
              </a:rPr>
              <a:t>j</a:t>
            </a:r>
            <a:r>
              <a:rPr lang="zh-CN" altLang="en-US" sz="1800" b="1" dirty="0">
                <a:ea typeface="宋体" panose="02010600030101010101" pitchFamily="2" charset="-122"/>
              </a:rPr>
              <a:t>的引用间没有对</a:t>
            </a:r>
            <a:r>
              <a:rPr lang="en-US" altLang="zh-CN" sz="1800" b="1" dirty="0">
                <a:ea typeface="宋体" panose="02010600030101010101" pitchFamily="2" charset="-122"/>
              </a:rPr>
              <a:t>s</a:t>
            </a:r>
            <a:r>
              <a:rPr lang="zh-CN" altLang="en-US" sz="1800" b="1" dirty="0">
                <a:ea typeface="宋体" panose="02010600030101010101" pitchFamily="2" charset="-122"/>
              </a:rPr>
              <a:t>的赋值（一般是	     没有这种赋值的），则用引用</a:t>
            </a:r>
            <a:r>
              <a:rPr lang="en-US" altLang="zh-CN" sz="1800" b="1" dirty="0">
                <a:ea typeface="宋体" panose="02010600030101010101" pitchFamily="2" charset="-122"/>
              </a:rPr>
              <a:t>s</a:t>
            </a:r>
            <a:r>
              <a:rPr lang="zh-CN" altLang="en-US" sz="1800" b="1" dirty="0">
                <a:ea typeface="宋体" panose="02010600030101010101" pitchFamily="2" charset="-122"/>
              </a:rPr>
              <a:t>代替所有</a:t>
            </a:r>
            <a:r>
              <a:rPr lang="en-US" altLang="zh-CN" sz="1800" b="1" dirty="0">
                <a:ea typeface="宋体" panose="02010600030101010101" pitchFamily="2" charset="-122"/>
              </a:rPr>
              <a:t>j</a:t>
            </a:r>
            <a:r>
              <a:rPr lang="zh-CN" altLang="en-US" sz="1800" b="1" dirty="0">
                <a:ea typeface="宋体" panose="02010600030101010101" pitchFamily="2" charset="-122"/>
              </a:rPr>
              <a:t>的引用，并删除语	     句</a:t>
            </a:r>
            <a:r>
              <a:rPr lang="en-US" altLang="zh-CN" sz="1800" b="1" dirty="0">
                <a:ea typeface="宋体" panose="02010600030101010101" pitchFamily="2" charset="-122"/>
              </a:rPr>
              <a:t>j := s</a:t>
            </a:r>
            <a:endParaRPr lang="en-US" altLang="zh-CN" sz="1800" b="1" dirty="0">
              <a:ea typeface="宋体" panose="02010600030101010101" pitchFamily="2" charset="-122"/>
            </a:endParaRPr>
          </a:p>
          <a:p>
            <a:pPr>
              <a:buNone/>
            </a:pPr>
            <a:r>
              <a:rPr lang="en-US" altLang="zh-CN" sz="1800" b="1" dirty="0">
                <a:ea typeface="宋体" panose="02010600030101010101" pitchFamily="2" charset="-122"/>
              </a:rPr>
              <a:t>		(b) </a:t>
            </a:r>
            <a:r>
              <a:rPr lang="zh-CN" altLang="en-US" sz="1800" b="1" dirty="0">
                <a:ea typeface="宋体" panose="02010600030101010101" pitchFamily="2" charset="-122"/>
              </a:rPr>
              <a:t>如果存在对</a:t>
            </a:r>
            <a:r>
              <a:rPr lang="en-US" altLang="zh-CN" sz="1800" b="1" dirty="0">
                <a:ea typeface="宋体" panose="02010600030101010101" pitchFamily="2" charset="-122"/>
              </a:rPr>
              <a:t>s</a:t>
            </a:r>
            <a:r>
              <a:rPr lang="zh-CN" altLang="en-US" sz="1800" b="1" dirty="0">
                <a:ea typeface="宋体" panose="02010600030101010101" pitchFamily="2" charset="-122"/>
              </a:rPr>
              <a:t>的赋值，则要考虑到达—定值信息等，进行检	     查，以决定是否可以进行删除</a:t>
            </a:r>
            <a:endParaRPr lang="zh-CN" altLang="en-US" sz="1800" b="1" dirty="0">
              <a:ea typeface="宋体" panose="02010600030101010101" pitchFamily="2" charset="-122"/>
            </a:endParaRPr>
          </a:p>
        </p:txBody>
      </p:sp>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归纳变量删除的例子</a:t>
            </a:r>
            <a:endParaRPr lang="en-US" altLang="zh-CN" dirty="0">
              <a:latin typeface="宋体" panose="02010600030101010101" pitchFamily="2" charset="-122"/>
              <a:ea typeface="宋体" panose="02010600030101010101" pitchFamily="2" charset="-122"/>
            </a:endParaRPr>
          </a:p>
        </p:txBody>
      </p:sp>
      <p:graphicFrame>
        <p:nvGraphicFramePr>
          <p:cNvPr id="305155" name="Object 5"/>
          <p:cNvGraphicFramePr>
            <a:graphicFrameLocks noChangeAspect="1"/>
          </p:cNvGraphicFramePr>
          <p:nvPr/>
        </p:nvGraphicFramePr>
        <p:xfrm>
          <a:off x="1295400" y="1295400"/>
          <a:ext cx="6491288" cy="5273675"/>
        </p:xfrm>
        <a:graphic>
          <a:graphicData uri="http://schemas.openxmlformats.org/presentationml/2006/ole">
            <mc:AlternateContent xmlns:mc="http://schemas.openxmlformats.org/markup-compatibility/2006">
              <mc:Choice xmlns:v="urn:schemas-microsoft-com:vml" Requires="v">
                <p:oleObj spid="_x0000_s3100" name="" r:id="rId1" imgW="6492240" imgH="6736080" progId="Visio.Drawing.4">
                  <p:embed/>
                </p:oleObj>
              </mc:Choice>
              <mc:Fallback>
                <p:oleObj name="" r:id="rId1" imgW="6492240" imgH="6736080" progId="Visio.Drawing.4">
                  <p:embed/>
                  <p:pic>
                    <p:nvPicPr>
                      <p:cNvPr id="0" name="图片 3099"/>
                      <p:cNvPicPr/>
                      <p:nvPr/>
                    </p:nvPicPr>
                    <p:blipFill>
                      <a:blip r:embed="rId2"/>
                      <a:stretch>
                        <a:fillRect/>
                      </a:stretch>
                    </p:blipFill>
                    <p:spPr>
                      <a:xfrm>
                        <a:off x="1295400" y="1295400"/>
                        <a:ext cx="6491288" cy="5273675"/>
                      </a:xfrm>
                      <a:prstGeom prst="rect">
                        <a:avLst/>
                      </a:prstGeom>
                      <a:noFill/>
                      <a:ln w="38100">
                        <a:noFill/>
                        <a:miter/>
                      </a:ln>
                    </p:spPr>
                  </p:pic>
                </p:oleObj>
              </mc:Fallback>
            </mc:AlternateContent>
          </a:graphicData>
        </a:graphic>
      </p:graphicFrame>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循环不变计算的归纳变量</a:t>
            </a:r>
            <a:endParaRPr lang="zh-CN" altLang="en-US" dirty="0">
              <a:latin typeface="宋体" panose="02010600030101010101" pitchFamily="2" charset="-122"/>
              <a:ea typeface="宋体" panose="02010600030101010101" pitchFamily="2" charset="-122"/>
            </a:endParaRPr>
          </a:p>
        </p:txBody>
      </p:sp>
      <p:sp>
        <p:nvSpPr>
          <p:cNvPr id="307203" name="Rectangle 3"/>
          <p:cNvSpPr>
            <a:spLocks noGrp="1"/>
          </p:cNvSpPr>
          <p:nvPr>
            <p:ph idx="1"/>
          </p:nvPr>
        </p:nvSpPr>
        <p:spPr>
          <a:xfrm>
            <a:off x="990600" y="1524000"/>
            <a:ext cx="7391400" cy="4724400"/>
          </a:xfrm>
        </p:spPr>
        <p:txBody>
          <a:bodyPr vert="horz" wrap="square" lIns="92075" tIns="46038" rIns="92075" bIns="46038" anchor="t" anchorCtr="0"/>
          <a:p>
            <a:r>
              <a:rPr lang="zh-CN" altLang="en-US" sz="2400" b="1" dirty="0">
                <a:ea typeface="宋体" panose="02010600030101010101" pitchFamily="2" charset="-122"/>
              </a:rPr>
              <a:t>对于循环的计算，可以把循环不变计算认为是运行时的常量</a:t>
            </a:r>
            <a:endParaRPr lang="zh-CN" altLang="en-US" sz="2400" b="1" dirty="0">
              <a:ea typeface="宋体" panose="02010600030101010101" pitchFamily="2" charset="-122"/>
            </a:endParaRPr>
          </a:p>
          <a:p>
            <a:pPr lvl="1"/>
            <a:r>
              <a:rPr lang="zh-CN" altLang="en-US" sz="2200" b="1" dirty="0">
                <a:ea typeface="宋体" panose="02010600030101010101" pitchFamily="2" charset="-122"/>
              </a:rPr>
              <a:t>可以将循环不变计算提到循环外进行，将结果赋给一个临时变量，在循环中，将这个变量作为常量处理（因此有些值可能在编译时刻不能计算，如前面介绍的</a:t>
            </a:r>
            <a:r>
              <a:rPr lang="en-US" altLang="zh-CN" sz="2200" b="1" dirty="0">
                <a:ea typeface="宋体" panose="02010600030101010101" pitchFamily="2" charset="-122"/>
              </a:rPr>
              <a:t>b * c</a:t>
            </a:r>
            <a:r>
              <a:rPr lang="zh-CN" altLang="en-US" sz="2200" b="1" dirty="0">
                <a:ea typeface="宋体" panose="02010600030101010101" pitchFamily="2" charset="-122"/>
              </a:rPr>
              <a:t>和</a:t>
            </a:r>
            <a:r>
              <a:rPr lang="en-US" altLang="zh-CN" sz="2200" b="1" dirty="0">
                <a:ea typeface="宋体" panose="02010600030101010101" pitchFamily="2" charset="-122"/>
              </a:rPr>
              <a:t>c * n</a:t>
            </a:r>
            <a:r>
              <a:rPr lang="zh-CN" altLang="en-US" sz="2200" b="1" dirty="0">
                <a:ea typeface="宋体" panose="02010600030101010101" pitchFamily="2" charset="-122"/>
              </a:rPr>
              <a:t>等）</a:t>
            </a:r>
            <a:endParaRPr lang="zh-CN" altLang="en-US" sz="2200" b="1" dirty="0">
              <a:ea typeface="宋体" panose="02010600030101010101" pitchFamily="2" charset="-122"/>
            </a:endParaRPr>
          </a:p>
          <a:p>
            <a:pPr lvl="1"/>
            <a:r>
              <a:rPr lang="zh-CN" altLang="en-US" sz="2200" b="1" dirty="0">
                <a:ea typeface="宋体" panose="02010600030101010101" pitchFamily="2" charset="-122"/>
              </a:rPr>
              <a:t>在有的算法中要求知道乘法常量</a:t>
            </a:r>
            <a:r>
              <a:rPr lang="en-US" altLang="zh-CN" sz="2200" b="1" dirty="0">
                <a:ea typeface="宋体" panose="02010600030101010101" pitchFamily="2" charset="-122"/>
              </a:rPr>
              <a:t>c</a:t>
            </a:r>
            <a:r>
              <a:rPr lang="zh-CN" altLang="en-US" sz="2200" b="1" dirty="0">
                <a:ea typeface="宋体" panose="02010600030101010101" pitchFamily="2" charset="-122"/>
              </a:rPr>
              <a:t>的符号，因此对于</a:t>
            </a:r>
            <a:r>
              <a:rPr lang="en-US" altLang="zh-CN" sz="2200" b="1" dirty="0">
                <a:ea typeface="宋体" panose="02010600030101010101" pitchFamily="2" charset="-122"/>
              </a:rPr>
              <a:t>c，</a:t>
            </a:r>
            <a:r>
              <a:rPr lang="zh-CN" altLang="en-US" sz="2200" b="1" dirty="0">
                <a:ea typeface="宋体" panose="02010600030101010101" pitchFamily="2" charset="-122"/>
              </a:rPr>
              <a:t>可以限制为已知常数</a:t>
            </a:r>
            <a:endParaRPr lang="zh-CN" altLang="en-US" sz="2200" b="1" dirty="0">
              <a:ea typeface="宋体" panose="02010600030101010101" pitchFamily="2" charset="-122"/>
            </a:endParaRPr>
          </a:p>
          <a:p>
            <a:pPr lvl="1"/>
            <a:r>
              <a:rPr lang="zh-CN" altLang="en-US" sz="2200" b="1" dirty="0">
                <a:ea typeface="宋体" panose="02010600030101010101" pitchFamily="2" charset="-122"/>
              </a:rPr>
              <a:t>可以考虑利用常数传播</a:t>
            </a:r>
            <a:endParaRPr lang="zh-CN" altLang="en-US" sz="2200" b="1" dirty="0">
              <a:ea typeface="宋体" panose="02010600030101010101" pitchFamily="2" charset="-122"/>
            </a:endParaRPr>
          </a:p>
        </p:txBody>
      </p:sp>
    </p:spTree>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309251"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跨越基本块的优化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一个简单的代码生成器</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窥孔优化</a:t>
            </a:r>
            <a:endParaRPr lang="zh-CN" altLang="en-US"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一个简单的代码生成器（1）</a:t>
            </a:r>
            <a:endParaRPr lang="zh-CN" altLang="en-US" dirty="0">
              <a:latin typeface="Times New Roman" panose="02020603050405020304" pitchFamily="18" charset="0"/>
              <a:ea typeface="宋体" panose="02010600030101010101" pitchFamily="2" charset="-122"/>
            </a:endParaRPr>
          </a:p>
        </p:txBody>
      </p:sp>
      <p:sp>
        <p:nvSpPr>
          <p:cNvPr id="138243" name="Rectangle 3"/>
          <p:cNvSpPr>
            <a:spLocks noGrp="1" noChangeArrowheads="1"/>
          </p:cNvSpPr>
          <p:nvPr>
            <p:ph idx="1"/>
          </p:nvPr>
        </p:nvSpPr>
        <p:spPr>
          <a:xfrm>
            <a:off x="990600" y="1447800"/>
            <a:ext cx="7467600"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简单的代码生成器的考虑</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依次考虑各个三地址代码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跟踪记录哪个值存放在哪个寄存器中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避免生成不必要的加载和保存指令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最大限度地利用寄存器是代码生成的主要问题之一</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一些常见用法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在大多数机器中，指令的运算对象必须全部或部分放在寄存器中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寄存器适合做临时变量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不需要在内存中申请位置、进行访存操作等</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用于存放跨越基本块范围的变量，如循环索引变量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帮助实现运行时刻的存储管理</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寄存器数量有限，如何分配是一个重要问题</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38243" name="Rectangle 3"/>
          <p:cNvSpPr>
            <a:spLocks noGrp="1" noChangeArrowheads="1"/>
          </p:cNvSpPr>
          <p:nvPr>
            <p:ph idx="1"/>
          </p:nvPr>
        </p:nvSpPr>
        <p:spPr>
          <a:xfrm>
            <a:off x="990600" y="1447800"/>
            <a:ext cx="7467600"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这个代码生成器的假设条件：</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有一组寄存器存放在基本块内使用的值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这组寄存器不包括机器的所有寄存器，如用于栈管理的寄存器等不在此列</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计算结果留在寄存器中尽可能长的时间</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基本块已经实施了公共子表达式合并等优化</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三地址语句的每种算符都有且只有一个对应的目标机器指令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指令格式如下：对存放在寄存器中的运算对象进行运算，结果放在一个寄存器中</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reg</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mem</a:t>
            </a:r>
            <a:endParaRPr kumimoji="0" lang="zh-CN" altLang="en-US" sz="20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mem</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reg</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33500" marR="0" lvl="2" indent="-4191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OP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reg</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reg</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reg</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一个简单的代码生成器（3）</a:t>
            </a:r>
            <a:endParaRPr lang="zh-CN" altLang="en-US" dirty="0">
              <a:latin typeface="Times New Roman" panose="02020603050405020304" pitchFamily="18" charset="0"/>
              <a:ea typeface="宋体" panose="02010600030101010101" pitchFamily="2" charset="-122"/>
            </a:endParaRPr>
          </a:p>
        </p:txBody>
      </p:sp>
      <p:sp>
        <p:nvSpPr>
          <p:cNvPr id="142339" name="Rectangle 3"/>
          <p:cNvSpPr>
            <a:spLocks noGrp="1" noChangeArrowheads="1"/>
          </p:cNvSpPr>
          <p:nvPr>
            <p:ph idx="1"/>
          </p:nvPr>
        </p:nvSpPr>
        <p:spPr>
          <a:xfrm>
            <a:off x="990600" y="1371600"/>
            <a:ext cx="7467600"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代码生成的一般过程</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依次考察每个三地址指令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通过加载指令将需要的运算对象加载进寄存器，并生成这些指令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生成运算指令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95400" marR="0" lvl="2"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如果需要把结果写回内存对应的位置，生成相应的保存指令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寄存器和地址描述符的作用</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需要一个数据结构描述哪些程序变量的值当前被存放在哪个或哪些寄存器中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当前存放在一个给定变量的内存位置的值是否就是这个变量的正确值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内存一致性的问题，当一个变量在内存体系中存在多个副本时，各个副本的值未必时时相同</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7443" name="Rectangle 3"/>
          <p:cNvSpPr>
            <a:spLocks noGrp="1"/>
          </p:cNvSpPr>
          <p:nvPr>
            <p:ph idx="1"/>
          </p:nvPr>
        </p:nvSpPr>
        <p:spPr>
          <a:xfrm>
            <a:off x="990600" y="1371600"/>
            <a:ext cx="7467600" cy="4876800"/>
          </a:xfrm>
        </p:spPr>
        <p:txBody>
          <a:bodyPr vert="horz" wrap="square" lIns="92075" tIns="46038" rIns="92075" bIns="46038" anchor="t" anchorCtr="0"/>
          <a:p>
            <a:pPr marL="495300" indent="-495300">
              <a:lnSpc>
                <a:spcPct val="90000"/>
              </a:lnSpc>
            </a:pPr>
            <a:r>
              <a:rPr lang="zh-CN" altLang="en-US" sz="2400" b="1" dirty="0">
                <a:ea typeface="宋体" panose="02010600030101010101" pitchFamily="2" charset="-122"/>
              </a:rPr>
              <a:t>寄存器和地址描述符的结构</a:t>
            </a:r>
            <a:endParaRPr lang="en-US" altLang="zh-CN" sz="24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每个可用的寄存器都有一个寄存器描述符（</a:t>
            </a:r>
            <a:r>
              <a:rPr lang="en-US" altLang="zh-CN" sz="2200" b="1" dirty="0">
                <a:ea typeface="宋体" panose="02010600030101010101" pitchFamily="2" charset="-122"/>
              </a:rPr>
              <a:t>register</a:t>
            </a:r>
            <a:r>
              <a:rPr lang="zh-CN" altLang="en-US" sz="2200" b="1" dirty="0">
                <a:ea typeface="宋体" panose="02010600030101010101" pitchFamily="2" charset="-122"/>
              </a:rPr>
              <a:t> </a:t>
            </a:r>
            <a:r>
              <a:rPr lang="en-US" altLang="zh-CN" sz="2200" b="1" dirty="0">
                <a:ea typeface="宋体" panose="02010600030101010101" pitchFamily="2" charset="-122"/>
              </a:rPr>
              <a:t>descriptor</a:t>
            </a:r>
            <a:r>
              <a:rPr lang="zh-CN" altLang="en-US" sz="2200" b="1" dirty="0">
                <a:ea typeface="宋体" panose="02010600030101010101" pitchFamily="2" charset="-122"/>
              </a:rPr>
              <a:t>），描述有哪些变量放在该寄存器中</a:t>
            </a:r>
            <a:endParaRPr lang="en-US" altLang="zh-CN" sz="2200" b="1" dirty="0">
              <a:ea typeface="宋体" panose="02010600030101010101" pitchFamily="2" charset="-122"/>
            </a:endParaRPr>
          </a:p>
          <a:p>
            <a:pPr marL="1314450" lvl="2" indent="-457200">
              <a:lnSpc>
                <a:spcPct val="90000"/>
              </a:lnSpc>
            </a:pPr>
            <a:r>
              <a:rPr lang="zh-CN" altLang="en-US" sz="2000" b="1" dirty="0">
                <a:ea typeface="宋体" panose="02010600030101010101" pitchFamily="2" charset="-122"/>
              </a:rPr>
              <a:t>暂时只考虑用于存放基本块内部的局部值的寄存器，所以可以假设在基本块开始处，每个寄存器的描述符是空的</a:t>
            </a:r>
            <a:endParaRPr lang="en-US" altLang="zh-CN" sz="2000" b="1" dirty="0">
              <a:ea typeface="宋体" panose="02010600030101010101" pitchFamily="2" charset="-122"/>
            </a:endParaRPr>
          </a:p>
          <a:p>
            <a:pPr marL="1314450" lvl="2" indent="-457200">
              <a:lnSpc>
                <a:spcPct val="90000"/>
              </a:lnSpc>
            </a:pPr>
            <a:r>
              <a:rPr lang="zh-CN" altLang="en-US" sz="2000" b="1" dirty="0">
                <a:ea typeface="宋体" panose="02010600030101010101" pitchFamily="2" charset="-122"/>
              </a:rPr>
              <a:t>在处理基本块的过程中，每个寄存器可以保有零个或多个变量名字的值</a:t>
            </a:r>
            <a:endParaRPr lang="en-US" altLang="zh-CN" sz="2000" b="1" dirty="0">
              <a:ea typeface="宋体" panose="02010600030101010101" pitchFamily="2" charset="-122"/>
            </a:endParaRPr>
          </a:p>
          <a:p>
            <a:pPr marL="1771650" lvl="3" indent="-457200">
              <a:lnSpc>
                <a:spcPct val="90000"/>
              </a:lnSpc>
            </a:pPr>
            <a:r>
              <a:rPr lang="zh-CN" altLang="en-US" sz="1800" b="1" dirty="0">
                <a:ea typeface="宋体" panose="02010600030101010101" pitchFamily="2" charset="-122"/>
              </a:rPr>
              <a:t>一个寄存器在某一时刻保有多个变量的值是可能的，参见例</a:t>
            </a:r>
            <a:r>
              <a:rPr lang="en-US" altLang="zh-CN" sz="1800" b="1" dirty="0">
                <a:ea typeface="宋体" panose="02010600030101010101" pitchFamily="2" charset="-122"/>
              </a:rPr>
              <a:t>8.16</a:t>
            </a:r>
            <a:r>
              <a:rPr lang="zh-CN" altLang="en-US" sz="1800" b="1" dirty="0">
                <a:ea typeface="宋体" panose="02010600030101010101" pitchFamily="2" charset="-122"/>
              </a:rPr>
              <a:t>（图</a:t>
            </a:r>
            <a:r>
              <a:rPr lang="en-US" altLang="zh-CN" sz="1800" b="1" dirty="0">
                <a:ea typeface="宋体" panose="02010600030101010101" pitchFamily="2" charset="-122"/>
              </a:rPr>
              <a:t>8.16</a:t>
            </a:r>
            <a:r>
              <a:rPr lang="zh-CN" altLang="en-US" sz="1800" b="1" dirty="0">
                <a:ea typeface="宋体" panose="02010600030101010101" pitchFamily="2" charset="-122"/>
              </a:rPr>
              <a:t>）完成“</a:t>
            </a:r>
            <a:r>
              <a:rPr lang="en-US" altLang="zh-CN" sz="1800" b="1" dirty="0">
                <a:ea typeface="宋体" panose="02010600030101010101" pitchFamily="2" charset="-122"/>
              </a:rPr>
              <a:t>a=d</a:t>
            </a:r>
            <a:r>
              <a:rPr lang="zh-CN" altLang="en-US" sz="1800" b="1" dirty="0">
                <a:ea typeface="宋体" panose="02010600030101010101" pitchFamily="2" charset="-122"/>
              </a:rPr>
              <a:t>”赋值后的寄存器</a:t>
            </a:r>
            <a:r>
              <a:rPr lang="en-US" altLang="zh-CN" sz="1800" b="1" dirty="0">
                <a:ea typeface="宋体" panose="02010600030101010101" pitchFamily="2" charset="-122"/>
              </a:rPr>
              <a:t>R2</a:t>
            </a:r>
            <a:endParaRPr lang="en-US" altLang="zh-CN" sz="1800" b="1" dirty="0">
              <a:ea typeface="宋体" panose="02010600030101010101" pitchFamily="2" charset="-122"/>
            </a:endParaRPr>
          </a:p>
          <a:p>
            <a:pPr marL="914400" lvl="1" indent="-457200">
              <a:lnSpc>
                <a:spcPct val="90000"/>
              </a:lnSpc>
            </a:pPr>
            <a:r>
              <a:rPr lang="zh-CN" altLang="en-US" sz="2200" b="1" dirty="0">
                <a:ea typeface="宋体" panose="02010600030101010101" pitchFamily="2" charset="-122"/>
              </a:rPr>
              <a:t>每一个程序变量都有一个地址描述符（</a:t>
            </a:r>
            <a:r>
              <a:rPr lang="en-US" altLang="zh-CN" sz="2200" b="1" dirty="0">
                <a:ea typeface="宋体" panose="02010600030101010101" pitchFamily="2" charset="-122"/>
              </a:rPr>
              <a:t>address descriptor</a:t>
            </a:r>
            <a:r>
              <a:rPr lang="zh-CN" altLang="en-US" sz="2200" b="1" dirty="0">
                <a:ea typeface="宋体" panose="02010600030101010101" pitchFamily="2" charset="-122"/>
              </a:rPr>
              <a:t>），描述在哪个或哪些位置上可以找到该变量的当前值</a:t>
            </a:r>
            <a:endParaRPr lang="en-US" altLang="zh-CN" sz="2200" b="1" dirty="0">
              <a:ea typeface="宋体" panose="02010600030101010101" pitchFamily="2" charset="-122"/>
            </a:endParaRPr>
          </a:p>
          <a:p>
            <a:pPr marL="1314450" lvl="2" indent="-457200">
              <a:lnSpc>
                <a:spcPct val="90000"/>
              </a:lnSpc>
            </a:pPr>
            <a:r>
              <a:rPr lang="zh-CN" altLang="en-US" sz="2000" b="1" dirty="0">
                <a:ea typeface="宋体" panose="02010600030101010101" pitchFamily="2" charset="-122"/>
              </a:rPr>
              <a:t>此处的位置可以是寄存器、内存地址、栈中的位置，也可以是这些位置的一个集合</a:t>
            </a:r>
            <a:endParaRPr lang="en-US" altLang="zh-CN" sz="2000" b="1" dirty="0">
              <a:ea typeface="宋体" panose="02010600030101010101" pitchFamily="2" charset="-122"/>
            </a:endParaRPr>
          </a:p>
          <a:p>
            <a:pPr marL="1314450" lvl="2" indent="-457200">
              <a:lnSpc>
                <a:spcPct val="90000"/>
              </a:lnSpc>
            </a:pPr>
            <a:r>
              <a:rPr lang="zh-CN" altLang="en-US" sz="2000" b="1" dirty="0">
                <a:ea typeface="宋体" panose="02010600030101010101" pitchFamily="2" charset="-122"/>
              </a:rPr>
              <a:t>这个信息可存放在这个变量名字对应的符号表条目中</a:t>
            </a:r>
            <a:endParaRPr lang="zh-CN" altLang="en-US" sz="2000" b="1" dirty="0">
              <a:ea typeface="宋体" panose="02010600030101010101" pitchFamily="2" charset="-122"/>
            </a:endParaRP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19491" name="Rectangle 3"/>
          <p:cNvSpPr>
            <a:spLocks noGrp="1"/>
          </p:cNvSpPr>
          <p:nvPr>
            <p:ph idx="1"/>
          </p:nvPr>
        </p:nvSpPr>
        <p:spPr>
          <a:xfrm>
            <a:off x="539750" y="1524000"/>
            <a:ext cx="8280400" cy="4724400"/>
          </a:xfrm>
        </p:spPr>
        <p:txBody>
          <a:bodyPr vert="horz" wrap="square" lIns="92075" tIns="46038" rIns="92075" bIns="46038" anchor="t" anchorCtr="0"/>
          <a:p>
            <a:pPr marL="495300" indent="-495300"/>
            <a:r>
              <a:rPr lang="zh-CN" altLang="en-US" sz="2400" b="1" dirty="0">
                <a:ea typeface="宋体" panose="02010600030101010101" pitchFamily="2" charset="-122"/>
              </a:rPr>
              <a:t>代码生成算法的考虑</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利用函数</a:t>
            </a:r>
            <a:r>
              <a:rPr lang="en-US" altLang="zh-CN" sz="2200" i="1" dirty="0">
                <a:ea typeface="宋体" panose="02010600030101010101" pitchFamily="2" charset="-122"/>
              </a:rPr>
              <a:t>getReg</a:t>
            </a:r>
            <a:r>
              <a:rPr lang="en-US" altLang="zh-CN" sz="2200" b="1" dirty="0">
                <a:ea typeface="宋体" panose="02010600030101010101" pitchFamily="2" charset="-122"/>
              </a:rPr>
              <a:t>(</a:t>
            </a:r>
            <a:r>
              <a:rPr lang="en-US" altLang="zh-CN" sz="2200" i="1" dirty="0">
                <a:ea typeface="宋体" panose="02010600030101010101" pitchFamily="2" charset="-122"/>
              </a:rPr>
              <a:t>I</a:t>
            </a:r>
            <a:r>
              <a:rPr lang="en-US" altLang="zh-CN" sz="2200" b="1" dirty="0">
                <a:ea typeface="宋体" panose="02010600030101010101" pitchFamily="2" charset="-122"/>
              </a:rPr>
              <a:t>)</a:t>
            </a:r>
            <a:r>
              <a:rPr lang="zh-CN" altLang="en-US" sz="2200" b="1" dirty="0">
                <a:ea typeface="宋体" panose="02010600030101010101" pitchFamily="2" charset="-122"/>
              </a:rPr>
              <a:t>为指令</a:t>
            </a:r>
            <a:r>
              <a:rPr lang="en-US" altLang="zh-CN" sz="2200" i="1" dirty="0">
                <a:ea typeface="宋体" panose="02010600030101010101" pitchFamily="2" charset="-122"/>
              </a:rPr>
              <a:t>I</a:t>
            </a:r>
            <a:r>
              <a:rPr lang="zh-CN" altLang="en-US" sz="2200" b="1" dirty="0">
                <a:ea typeface="宋体" panose="02010600030101010101" pitchFamily="2" charset="-122"/>
              </a:rPr>
              <a:t>的有关内存位置选择寄存器</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访问该基本块的所有变量对应的寄存器和地址描述符</a:t>
            </a:r>
            <a:endParaRPr lang="en-US" altLang="zh-CN" sz="2000" b="1" dirty="0">
              <a:ea typeface="宋体" panose="02010600030101010101" pitchFamily="2" charset="-122"/>
            </a:endParaRPr>
          </a:p>
          <a:p>
            <a:pPr marL="1295400" lvl="2" indent="-495300"/>
            <a:r>
              <a:rPr lang="zh-CN" altLang="en-US" sz="2000" b="1" dirty="0">
                <a:ea typeface="宋体" panose="02010600030101010101" pitchFamily="2" charset="-122"/>
              </a:rPr>
              <a:t>处理过程中需要一些数据流信息，如基本块的出口活跃信息</a:t>
            </a:r>
            <a:endParaRPr lang="en-US" altLang="zh-CN" sz="2000" b="1" dirty="0">
              <a:ea typeface="宋体" panose="02010600030101010101" pitchFamily="2" charset="-122"/>
            </a:endParaRPr>
          </a:p>
          <a:p>
            <a:pPr marL="895350" lvl="1" indent="-495300"/>
            <a:r>
              <a:rPr lang="zh-CN" altLang="en-US" sz="2200" b="1" dirty="0">
                <a:ea typeface="宋体" panose="02010600030101010101" pitchFamily="2" charset="-122"/>
              </a:rPr>
              <a:t>假设有足够多的寄存器用于完成三地址运算</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在需要的时候，将寄存器中的值存放回内存</a:t>
            </a:r>
            <a:endParaRPr lang="en-US" altLang="zh-CN" sz="2000" b="1" dirty="0">
              <a:ea typeface="宋体" panose="02010600030101010101" pitchFamily="2" charset="-122"/>
            </a:endParaRPr>
          </a:p>
          <a:p>
            <a:pPr marL="1295400" lvl="2" indent="-495300"/>
            <a:r>
              <a:rPr lang="zh-CN" altLang="en-US" sz="2000" b="1" dirty="0">
                <a:ea typeface="宋体" panose="02010600030101010101" pitchFamily="2" charset="-122"/>
              </a:rPr>
              <a:t>事先难以确切知道需要多少个寄存器</a:t>
            </a:r>
            <a:endParaRPr lang="en-US" altLang="zh-CN" sz="2000" b="1" dirty="0">
              <a:ea typeface="宋体" panose="02010600030101010101" pitchFamily="2" charset="-122"/>
            </a:endParaRPr>
          </a:p>
          <a:p>
            <a:pPr marL="895350" lvl="1" indent="-495300"/>
            <a:r>
              <a:rPr lang="zh-CN" altLang="en-US" sz="2200" b="1" dirty="0">
                <a:ea typeface="宋体" panose="02010600030101010101" pitchFamily="2" charset="-122"/>
              </a:rPr>
              <a:t>三地址指令的抽象形式：</a:t>
            </a:r>
            <a:r>
              <a:rPr lang="en-US" altLang="zh-CN" sz="2200" b="1" dirty="0">
                <a:ea typeface="宋体" panose="02010600030101010101" pitchFamily="2" charset="-122"/>
              </a:rPr>
              <a:t>x</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y</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z</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a:t>
            </a:r>
            <a:r>
              <a:rPr lang="en-US" altLang="zh-CN" sz="2000" b="1" dirty="0">
                <a:ea typeface="宋体" panose="02010600030101010101" pitchFamily="2" charset="-122"/>
              </a:rPr>
              <a:t>+</a:t>
            </a:r>
            <a:r>
              <a:rPr lang="zh-CN" altLang="en-US" sz="2000" b="1" dirty="0">
                <a:ea typeface="宋体" panose="02010600030101010101" pitchFamily="2" charset="-122"/>
              </a:rPr>
              <a:t>”作为一般运算符的抽象，</a:t>
            </a:r>
            <a:r>
              <a:rPr lang="en-US" altLang="zh-CN" sz="2000" b="1" dirty="0">
                <a:ea typeface="宋体" panose="02010600030101010101" pitchFamily="2" charset="-122"/>
              </a:rPr>
              <a:t>ADD</a:t>
            </a:r>
            <a:r>
              <a:rPr lang="zh-CN" altLang="en-US" sz="2000" b="1" dirty="0">
                <a:ea typeface="宋体" panose="02010600030101010101" pitchFamily="2" charset="-122"/>
              </a:rPr>
              <a:t>作为等价的机器指令，因此不能利用交换性</a:t>
            </a:r>
            <a:endParaRPr lang="en-US" altLang="zh-CN" sz="2000" b="1" dirty="0">
              <a:ea typeface="宋体" panose="02010600030101010101" pitchFamily="2" charset="-122"/>
            </a:endParaRPr>
          </a:p>
          <a:p>
            <a:pPr marL="1752600" lvl="3" indent="-495300"/>
            <a:r>
              <a:rPr lang="zh-CN" altLang="en-US" sz="1800" b="1" dirty="0">
                <a:ea typeface="宋体" panose="02010600030101010101" pitchFamily="2" charset="-122"/>
              </a:rPr>
              <a:t>因此对于满足交换律的运算符，同时为</a:t>
            </a:r>
            <a:r>
              <a:rPr lang="en-US" altLang="zh-CN" sz="1800" b="1" dirty="0">
                <a:ea typeface="宋体" panose="02010600030101010101" pitchFamily="2" charset="-122"/>
              </a:rPr>
              <a:t>x</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y</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z</a:t>
            </a:r>
            <a:r>
              <a:rPr lang="zh-CN" altLang="en-US" sz="1800" b="1" dirty="0">
                <a:ea typeface="宋体" panose="02010600030101010101" pitchFamily="2" charset="-122"/>
              </a:rPr>
              <a:t>和</a:t>
            </a:r>
            <a:r>
              <a:rPr lang="en-US" altLang="zh-CN" sz="1800" b="1" dirty="0">
                <a:ea typeface="宋体" panose="02010600030101010101" pitchFamily="2" charset="-122"/>
              </a:rPr>
              <a:t>x</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z</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y</a:t>
            </a:r>
            <a:r>
              <a:rPr lang="zh-CN" altLang="en-US" sz="1800" b="1" dirty="0">
                <a:ea typeface="宋体" panose="02010600030101010101" pitchFamily="2" charset="-122"/>
              </a:rPr>
              <a:t>生成代码，随后选择一个较好的代码序列</a:t>
            </a:r>
            <a:endParaRPr lang="en-US" altLang="zh-CN" sz="1800" b="1" dirty="0">
              <a:ea typeface="宋体" panose="02010600030101010101" pitchFamily="2" charset="-122"/>
            </a:endParaRPr>
          </a:p>
          <a:p>
            <a:pPr marL="1295400" lvl="2" indent="-495300"/>
            <a:r>
              <a:rPr lang="en-US" altLang="zh-CN" sz="2000" b="1" dirty="0">
                <a:ea typeface="宋体" panose="02010600030101010101" pitchFamily="2" charset="-122"/>
              </a:rPr>
              <a:t>y</a:t>
            </a:r>
            <a:r>
              <a:rPr lang="zh-CN" altLang="en-US" sz="2000" b="1" dirty="0">
                <a:ea typeface="宋体" panose="02010600030101010101" pitchFamily="2" charset="-122"/>
              </a:rPr>
              <a:t>的值必须在</a:t>
            </a:r>
            <a:r>
              <a:rPr lang="en-US" altLang="zh-CN" sz="2000" b="1" dirty="0">
                <a:ea typeface="宋体" panose="02010600030101010101" pitchFamily="2" charset="-122"/>
              </a:rPr>
              <a:t>ADD</a:t>
            </a:r>
            <a:r>
              <a:rPr lang="zh-CN" altLang="en-US" sz="2000" b="1" dirty="0">
                <a:ea typeface="宋体" panose="02010600030101010101" pitchFamily="2" charset="-122"/>
              </a:rPr>
              <a:t>指令中给出的第二个寄存器，不能是第三个寄存器</a:t>
            </a:r>
            <a:endParaRPr lang="en-US" altLang="zh-CN" sz="2000" b="1" dirty="0">
              <a:ea typeface="宋体" panose="02010600030101010101" pitchFamily="2" charset="-122"/>
            </a:endParaRP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8483" name="Rectangle 3"/>
          <p:cNvSpPr>
            <a:spLocks noGrp="1" noChangeArrowheads="1"/>
          </p:cNvSpPr>
          <p:nvPr>
            <p:ph idx="1"/>
          </p:nvPr>
        </p:nvSpPr>
        <p:spPr>
          <a:xfrm>
            <a:off x="755650" y="1371600"/>
            <a:ext cx="8064500"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运算的机器指令</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对每个形如</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的三地址指令，完成下列步骤：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）使用</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getReg</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来为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选择寄存器，为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err="1">
                <a:ln>
                  <a:noFill/>
                </a:ln>
                <a:solidFill>
                  <a:schemeClr val="tx1"/>
                </a:solidFill>
                <a:effectLst/>
                <a:uLnTx/>
                <a:uFillTx/>
                <a:latin typeface="+mn-lt"/>
                <a:ea typeface="宋体" panose="02010600030101010101" pitchFamily="2" charset="-122"/>
              </a:rPr>
              <a:t>z</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）如果（根据</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的寄存器描述符）</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中，则生成一个指令“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”，其中</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是存放</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的内存位置之一（</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可以根据</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的地址描述符得到）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不在</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err="1">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中，则生成一个指令“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err="1">
                <a:ln>
                  <a:noFill/>
                </a:ln>
                <a:solidFill>
                  <a:schemeClr val="tx1"/>
                </a:solidFill>
                <a:effectLst/>
                <a:uLnTx/>
                <a:uFillTx/>
                <a:latin typeface="+mn-lt"/>
                <a:ea typeface="宋体" panose="02010600030101010101" pitchFamily="2" charset="-122"/>
              </a:rPr>
              <a:t>z</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”，其中</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是存放</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的内存位置之一</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）生成指令“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x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err="1">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复制语句的机器指令：形如</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y</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的语句称为复制语句</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在优化中可能引入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假设</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rPr>
              <a:t>getReg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总是为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选择同一个寄存器</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不在寄存器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中，生成机器指令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endPar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修改</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的寄存器描述符，表明</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2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中也存放了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的值</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23587" name="Rectangle 3"/>
          <p:cNvSpPr>
            <a:spLocks noGrp="1"/>
          </p:cNvSpPr>
          <p:nvPr>
            <p:ph idx="1"/>
          </p:nvPr>
        </p:nvSpPr>
        <p:spPr>
          <a:xfrm>
            <a:off x="990600" y="1524000"/>
            <a:ext cx="7467600" cy="4724400"/>
          </a:xfrm>
        </p:spPr>
        <p:txBody>
          <a:bodyPr vert="horz" wrap="square" lIns="92075" tIns="46038" rIns="92075" bIns="46038" anchor="t" anchorCtr="0"/>
          <a:p>
            <a:pPr marL="495300" indent="-495300"/>
            <a:r>
              <a:rPr lang="zh-CN" altLang="en-US" sz="2400" b="1" dirty="0">
                <a:ea typeface="宋体" panose="02010600030101010101" pitchFamily="2" charset="-122"/>
              </a:rPr>
              <a:t>基本块的收尾处理</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代码生成算法表明：在代码结束时，基本块中使用到的某些变量可能仅存放在寄存器中</a:t>
            </a:r>
            <a:endParaRPr lang="en-US" altLang="zh-CN" sz="2200" b="1" dirty="0">
              <a:ea typeface="宋体" panose="02010600030101010101" pitchFamily="2" charset="-122"/>
            </a:endParaRPr>
          </a:p>
          <a:p>
            <a:pPr marL="1295400" lvl="2" indent="-495300"/>
            <a:r>
              <a:rPr lang="zh-CN" altLang="en-US" sz="2000" b="1" dirty="0">
                <a:ea typeface="宋体" panose="02010600030101010101" pitchFamily="2" charset="-122"/>
              </a:rPr>
              <a:t>如果这些量只是在该基本块中使用的临时量，或其在基本块出口处肯定不活跃</a:t>
            </a:r>
            <a:endParaRPr lang="en-US" altLang="zh-CN" sz="2000" b="1" dirty="0">
              <a:ea typeface="宋体" panose="02010600030101010101" pitchFamily="2" charset="-122"/>
            </a:endParaRPr>
          </a:p>
          <a:p>
            <a:pPr marL="1752600" lvl="3" indent="-495300"/>
            <a:r>
              <a:rPr lang="zh-CN" altLang="en-US" sz="1800" b="1" dirty="0">
                <a:ea typeface="宋体" panose="02010600030101010101" pitchFamily="2" charset="-122"/>
              </a:rPr>
              <a:t>这些值可以被直接抛弃</a:t>
            </a:r>
            <a:endParaRPr lang="en-US" altLang="zh-CN" sz="1800" b="1" dirty="0">
              <a:ea typeface="宋体" panose="02010600030101010101" pitchFamily="2" charset="-122"/>
            </a:endParaRPr>
          </a:p>
          <a:p>
            <a:pPr marL="1752600" lvl="3" indent="-495300"/>
            <a:r>
              <a:rPr lang="zh-CN" altLang="en-US" sz="1800" b="1" dirty="0">
                <a:ea typeface="宋体" panose="02010600030101010101" pitchFamily="2" charset="-122"/>
              </a:rPr>
              <a:t>在对应的寄存器描述符中，将这些量去掉，有些寄存器的描述符可能被清空了</a:t>
            </a:r>
            <a:endParaRPr lang="en-US" altLang="zh-CN" sz="1800" b="1" dirty="0">
              <a:ea typeface="宋体" panose="02010600030101010101" pitchFamily="2" charset="-122"/>
            </a:endParaRPr>
          </a:p>
          <a:p>
            <a:pPr marL="1295400" lvl="2" indent="-495300"/>
            <a:r>
              <a:rPr lang="zh-CN" altLang="en-US" sz="2000" b="1" dirty="0">
                <a:ea typeface="宋体" panose="02010600030101010101" pitchFamily="2" charset="-122"/>
              </a:rPr>
              <a:t>如果一个变量在基本块出口处可能活跃（保守假设）</a:t>
            </a:r>
            <a:endParaRPr lang="en-US" altLang="zh-CN" sz="2000" b="1" dirty="0">
              <a:ea typeface="宋体" panose="02010600030101010101" pitchFamily="2" charset="-122"/>
            </a:endParaRPr>
          </a:p>
          <a:p>
            <a:pPr marL="1752600" lvl="3" indent="-495300"/>
            <a:r>
              <a:rPr lang="zh-CN" altLang="en-US" sz="1800" b="1" dirty="0">
                <a:ea typeface="宋体" panose="02010600030101010101" pitchFamily="2" charset="-122"/>
              </a:rPr>
              <a:t>这些量可能在基本块外被使用</a:t>
            </a:r>
            <a:endParaRPr lang="en-US" altLang="zh-CN" sz="1800" b="1" dirty="0">
              <a:ea typeface="宋体" panose="02010600030101010101" pitchFamily="2" charset="-122"/>
            </a:endParaRPr>
          </a:p>
          <a:p>
            <a:pPr marL="1752600" lvl="3" indent="-495300"/>
            <a:r>
              <a:rPr lang="zh-CN" altLang="en-US" sz="1800" b="1" dirty="0">
                <a:ea typeface="宋体" panose="02010600030101010101" pitchFamily="2" charset="-122"/>
              </a:rPr>
              <a:t>对于每个这样的变量</a:t>
            </a:r>
            <a:r>
              <a:rPr lang="en-US" altLang="zh-CN" sz="1800" b="1" dirty="0">
                <a:ea typeface="宋体" panose="02010600030101010101" pitchFamily="2" charset="-122"/>
              </a:rPr>
              <a:t>x</a:t>
            </a:r>
            <a:r>
              <a:rPr lang="zh-CN" altLang="en-US" sz="1800" b="1" dirty="0">
                <a:ea typeface="宋体" panose="02010600030101010101" pitchFamily="2" charset="-122"/>
              </a:rPr>
              <a:t>，如果其地址描述符表明它的值没有存放在</a:t>
            </a:r>
            <a:r>
              <a:rPr lang="en-US" altLang="zh-CN" sz="1800" b="1" dirty="0">
                <a:ea typeface="宋体" panose="02010600030101010101" pitchFamily="2" charset="-122"/>
              </a:rPr>
              <a:t>x</a:t>
            </a:r>
            <a:r>
              <a:rPr lang="zh-CN" altLang="en-US" sz="1800" b="1" dirty="0">
                <a:ea typeface="宋体" panose="02010600030101010101" pitchFamily="2" charset="-122"/>
              </a:rPr>
              <a:t>的内存位置上</a:t>
            </a:r>
            <a:endParaRPr lang="en-US" altLang="zh-CN" sz="1800" b="1" dirty="0">
              <a:ea typeface="宋体" panose="02010600030101010101" pitchFamily="2" charset="-122"/>
            </a:endParaRPr>
          </a:p>
          <a:p>
            <a:pPr marL="2209800" lvl="4" indent="-495300"/>
            <a:r>
              <a:rPr lang="zh-CN" altLang="en-US" sz="1600" b="1" dirty="0">
                <a:ea typeface="宋体" panose="02010600030101010101" pitchFamily="2" charset="-122"/>
              </a:rPr>
              <a:t>生成指令</a:t>
            </a:r>
            <a:r>
              <a:rPr lang="en-US" altLang="zh-CN" sz="1600" b="1" dirty="0">
                <a:ea typeface="宋体" panose="02010600030101010101" pitchFamily="2" charset="-122"/>
              </a:rPr>
              <a:t>ST</a:t>
            </a:r>
            <a:r>
              <a:rPr lang="zh-CN" altLang="en-US" sz="1600" b="1" dirty="0">
                <a:ea typeface="宋体" panose="02010600030101010101" pitchFamily="2" charset="-122"/>
              </a:rPr>
              <a:t>  </a:t>
            </a:r>
            <a:r>
              <a:rPr lang="en-US" altLang="zh-CN" sz="1600" b="1" dirty="0">
                <a:ea typeface="宋体" panose="02010600030101010101" pitchFamily="2" charset="-122"/>
              </a:rPr>
              <a:t>x</a:t>
            </a:r>
            <a:r>
              <a:rPr lang="zh-CN" altLang="en-US" sz="1600" b="1" dirty="0">
                <a:ea typeface="宋体" panose="02010600030101010101" pitchFamily="2" charset="-122"/>
              </a:rPr>
              <a:t>  </a:t>
            </a:r>
            <a:r>
              <a:rPr lang="en-US" altLang="zh-CN" sz="1600" b="1" dirty="0">
                <a:ea typeface="宋体" panose="02010600030101010101" pitchFamily="2" charset="-122"/>
              </a:rPr>
              <a:t>,  R</a:t>
            </a:r>
            <a:endParaRPr lang="en-US" altLang="zh-CN" sz="1600" b="1" dirty="0">
              <a:ea typeface="宋体" panose="02010600030101010101" pitchFamily="2" charset="-122"/>
            </a:endParaRPr>
          </a:p>
          <a:p>
            <a:pPr marL="2209800" lvl="4" indent="-495300"/>
            <a:r>
              <a:rPr lang="en-US" altLang="zh-CN" sz="1600" b="1" dirty="0">
                <a:ea typeface="宋体" panose="02010600030101010101" pitchFamily="2" charset="-122"/>
              </a:rPr>
              <a:t>R</a:t>
            </a:r>
            <a:r>
              <a:rPr lang="zh-CN" altLang="en-US" sz="1600" b="1" dirty="0">
                <a:ea typeface="宋体" panose="02010600030101010101" pitchFamily="2" charset="-122"/>
              </a:rPr>
              <a:t>是在基本块结尾处存放</a:t>
            </a:r>
            <a:r>
              <a:rPr lang="en-US" altLang="zh-CN" sz="1600" b="1" dirty="0">
                <a:ea typeface="宋体" panose="02010600030101010101" pitchFamily="2" charset="-122"/>
              </a:rPr>
              <a:t>x</a:t>
            </a:r>
            <a:r>
              <a:rPr lang="zh-CN" altLang="en-US" sz="1600" b="1" dirty="0">
                <a:ea typeface="宋体" panose="02010600030101010101" pitchFamily="2" charset="-122"/>
              </a:rPr>
              <a:t>值的寄存器</a:t>
            </a:r>
            <a:endParaRPr lang="en-US" altLang="zh-CN" sz="1600" b="1" dirty="0">
              <a:ea typeface="宋体" panose="02010600030101010101" pitchFamily="2" charset="-122"/>
            </a:endParaRPr>
          </a:p>
        </p:txBody>
      </p:sp>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25635" name="Rectangle 3"/>
          <p:cNvSpPr>
            <a:spLocks noGrp="1"/>
          </p:cNvSpPr>
          <p:nvPr>
            <p:ph idx="1"/>
          </p:nvPr>
        </p:nvSpPr>
        <p:spPr>
          <a:xfrm>
            <a:off x="215900" y="1268413"/>
            <a:ext cx="8820150" cy="4979987"/>
          </a:xfrm>
        </p:spPr>
        <p:txBody>
          <a:bodyPr vert="horz" wrap="square" lIns="92075" tIns="46038" rIns="92075" bIns="46038" anchor="t" anchorCtr="0"/>
          <a:p>
            <a:pPr marL="495300" indent="-495300"/>
            <a:r>
              <a:rPr lang="zh-CN" altLang="en-US" sz="2400" b="1" dirty="0">
                <a:ea typeface="宋体" panose="02010600030101010101" pitchFamily="2" charset="-122"/>
              </a:rPr>
              <a:t>管理寄存器和地址描述符</a:t>
            </a:r>
            <a:endParaRPr lang="en-US" altLang="zh-CN" sz="2400" b="1" dirty="0">
              <a:ea typeface="宋体" panose="02010600030101010101" pitchFamily="2" charset="-122"/>
            </a:endParaRPr>
          </a:p>
          <a:p>
            <a:pPr marL="895350" lvl="1" indent="-495300"/>
            <a:r>
              <a:rPr lang="zh-CN" altLang="en-US" sz="2200" b="1" dirty="0">
                <a:ea typeface="宋体" panose="02010600030101010101" pitchFamily="2" charset="-122"/>
              </a:rPr>
              <a:t>代码生成算法生成加载、保存和其它机器指令时，必须同时更新寄存器和地址描述符</a:t>
            </a:r>
            <a:endParaRPr lang="en-US" altLang="zh-CN" sz="2200" b="1" dirty="0">
              <a:ea typeface="宋体" panose="02010600030101010101" pitchFamily="2" charset="-122"/>
            </a:endParaRPr>
          </a:p>
          <a:p>
            <a:pPr marL="1295400" lvl="2" indent="-495300">
              <a:buFont typeface="Book Antiqua" panose="02040602050305030304" pitchFamily="18" charset="0"/>
              <a:buAutoNum type="arabicPeriod"/>
            </a:pPr>
            <a:r>
              <a:rPr lang="zh-CN" altLang="en-US" sz="2000" b="1" dirty="0">
                <a:ea typeface="宋体" panose="02010600030101010101" pitchFamily="2" charset="-122"/>
              </a:rPr>
              <a:t>对于指令“</a:t>
            </a:r>
            <a:r>
              <a:rPr lang="en-US" altLang="zh-CN" sz="2000" b="1" dirty="0">
                <a:ea typeface="宋体" panose="02010600030101010101" pitchFamily="2" charset="-122"/>
              </a:rPr>
              <a:t>LD</a:t>
            </a:r>
            <a:r>
              <a:rPr lang="zh-CN" altLang="en-US" sz="2000" b="1" dirty="0">
                <a:ea typeface="宋体" panose="02010600030101010101" pitchFamily="2" charset="-122"/>
              </a:rPr>
              <a:t> </a:t>
            </a:r>
            <a:r>
              <a:rPr lang="en-US" altLang="zh-CN" sz="2000" i="1" dirty="0">
                <a:ea typeface="宋体" panose="02010600030101010101" pitchFamily="2" charset="-122"/>
              </a:rPr>
              <a:t>R</a:t>
            </a:r>
            <a:r>
              <a:rPr lang="en-US" altLang="zh-CN" sz="2000" b="1" dirty="0">
                <a:ea typeface="宋体" panose="02010600030101010101" pitchFamily="2" charset="-122"/>
              </a:rPr>
              <a:t>  ,  </a:t>
            </a:r>
            <a:r>
              <a:rPr lang="en-US" altLang="zh-CN" sz="2000" i="1" dirty="0">
                <a:ea typeface="宋体" panose="02010600030101010101" pitchFamily="2" charset="-122"/>
              </a:rPr>
              <a:t>x</a:t>
            </a:r>
            <a:r>
              <a:rPr lang="zh-CN" altLang="en-US" sz="2000" b="1" dirty="0">
                <a:ea typeface="宋体" panose="02010600030101010101" pitchFamily="2" charset="-122"/>
              </a:rPr>
              <a:t>”</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修改寄存器</a:t>
            </a:r>
            <a:r>
              <a:rPr lang="en-US" altLang="zh-CN" sz="1800" i="1" dirty="0">
                <a:ea typeface="宋体" panose="02010600030101010101" pitchFamily="2" charset="-122"/>
              </a:rPr>
              <a:t>R</a:t>
            </a:r>
            <a:r>
              <a:rPr lang="zh-CN" altLang="en-US" sz="1800" b="1" dirty="0">
                <a:ea typeface="宋体" panose="02010600030101010101" pitchFamily="2" charset="-122"/>
              </a:rPr>
              <a:t>的寄存器描述符，使之只包含</a:t>
            </a:r>
            <a:r>
              <a:rPr lang="en-US" altLang="zh-CN" sz="1800" i="1" dirty="0">
                <a:ea typeface="宋体" panose="02010600030101010101" pitchFamily="2" charset="-122"/>
              </a:rPr>
              <a:t>x</a:t>
            </a:r>
            <a:endParaRPr lang="en-US" altLang="zh-CN" sz="18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修改</a:t>
            </a:r>
            <a:r>
              <a:rPr lang="en-US" altLang="zh-CN" sz="1800" i="1" dirty="0">
                <a:ea typeface="宋体" panose="02010600030101010101" pitchFamily="2" charset="-122"/>
              </a:rPr>
              <a:t>x</a:t>
            </a:r>
            <a:r>
              <a:rPr lang="zh-CN" altLang="en-US" sz="1800" b="1" dirty="0">
                <a:ea typeface="宋体" panose="02010600030101010101" pitchFamily="2" charset="-122"/>
              </a:rPr>
              <a:t>的地址描述符，把寄存器</a:t>
            </a:r>
            <a:r>
              <a:rPr lang="en-US" altLang="zh-CN" sz="1800" i="1" dirty="0">
                <a:ea typeface="宋体" panose="02010600030101010101" pitchFamily="2" charset="-122"/>
              </a:rPr>
              <a:t>R</a:t>
            </a:r>
            <a:r>
              <a:rPr lang="zh-CN" altLang="en-US" sz="1800" b="1" dirty="0">
                <a:ea typeface="宋体" panose="02010600030101010101" pitchFamily="2" charset="-122"/>
              </a:rPr>
              <a:t>作为新增位置加入到</a:t>
            </a:r>
            <a:r>
              <a:rPr lang="en-US" altLang="zh-CN" sz="1800" i="1" dirty="0">
                <a:ea typeface="宋体" panose="02010600030101010101" pitchFamily="2" charset="-122"/>
              </a:rPr>
              <a:t>x</a:t>
            </a:r>
            <a:r>
              <a:rPr lang="zh-CN" altLang="en-US" sz="1800" b="1" dirty="0">
                <a:ea typeface="宋体" panose="02010600030101010101" pitchFamily="2" charset="-122"/>
              </a:rPr>
              <a:t>的位置集合中</a:t>
            </a:r>
            <a:endParaRPr lang="en-US" altLang="zh-CN" sz="18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从任何不同于</a:t>
            </a:r>
            <a:r>
              <a:rPr lang="en-US" altLang="zh-CN" sz="1800" i="1" dirty="0">
                <a:ea typeface="宋体" panose="02010600030101010101" pitchFamily="2" charset="-122"/>
              </a:rPr>
              <a:t>x</a:t>
            </a:r>
            <a:r>
              <a:rPr lang="zh-CN" altLang="en-US" sz="1800" b="1" dirty="0">
                <a:ea typeface="宋体" panose="02010600030101010101" pitchFamily="2" charset="-122"/>
              </a:rPr>
              <a:t>的变量的地址描述符中删除</a:t>
            </a:r>
            <a:r>
              <a:rPr lang="en-US" altLang="zh-CN" sz="1800" i="1" dirty="0">
                <a:ea typeface="宋体" panose="02010600030101010101" pitchFamily="2" charset="-122"/>
              </a:rPr>
              <a:t>R</a:t>
            </a:r>
            <a:endParaRPr lang="en-US" altLang="zh-CN" sz="1800" b="1" dirty="0">
              <a:ea typeface="宋体" panose="02010600030101010101" pitchFamily="2" charset="-122"/>
            </a:endParaRPr>
          </a:p>
          <a:p>
            <a:pPr marL="1295400" lvl="2" indent="-495300">
              <a:buFont typeface="Book Antiqua" panose="02040602050305030304" pitchFamily="18" charset="0"/>
              <a:buAutoNum type="arabicPeriod"/>
            </a:pPr>
            <a:r>
              <a:rPr lang="zh-CN" altLang="en-US" sz="2000" b="1" dirty="0">
                <a:ea typeface="宋体" panose="02010600030101010101" pitchFamily="2" charset="-122"/>
              </a:rPr>
              <a:t>对于“</a:t>
            </a:r>
            <a:r>
              <a:rPr lang="en-US" altLang="zh-CN" sz="2000" b="1" dirty="0">
                <a:ea typeface="宋体" panose="02010600030101010101" pitchFamily="2" charset="-122"/>
              </a:rPr>
              <a:t>ST</a:t>
            </a:r>
            <a:r>
              <a:rPr lang="zh-CN" altLang="en-US" sz="2000" b="1" dirty="0">
                <a:ea typeface="宋体" panose="02010600030101010101" pitchFamily="2" charset="-122"/>
              </a:rPr>
              <a:t> </a:t>
            </a:r>
            <a:r>
              <a:rPr lang="en-US" altLang="zh-CN" sz="2000" i="1" dirty="0">
                <a:ea typeface="宋体" panose="02010600030101010101" pitchFamily="2" charset="-122"/>
              </a:rPr>
              <a:t>x</a:t>
            </a:r>
            <a:r>
              <a:rPr lang="en-US" altLang="zh-CN" sz="2000" b="1" dirty="0">
                <a:ea typeface="宋体" panose="02010600030101010101" pitchFamily="2" charset="-122"/>
              </a:rPr>
              <a:t> , </a:t>
            </a:r>
            <a:r>
              <a:rPr lang="en-US" altLang="zh-CN" sz="2000" i="1" dirty="0">
                <a:ea typeface="宋体" panose="02010600030101010101" pitchFamily="2" charset="-122"/>
              </a:rPr>
              <a:t>R</a:t>
            </a:r>
            <a:r>
              <a:rPr lang="zh-CN" altLang="en-US" sz="2000" b="1" dirty="0">
                <a:ea typeface="宋体" panose="02010600030101010101" pitchFamily="2" charset="-122"/>
              </a:rPr>
              <a:t>”，修改</a:t>
            </a:r>
            <a:r>
              <a:rPr lang="en-US" altLang="zh-CN" sz="2000" b="1" dirty="0">
                <a:ea typeface="宋体" panose="02010600030101010101" pitchFamily="2" charset="-122"/>
              </a:rPr>
              <a:t>x</a:t>
            </a:r>
            <a:r>
              <a:rPr lang="zh-CN" altLang="en-US" sz="2000" b="1" dirty="0">
                <a:ea typeface="宋体" panose="02010600030101010101" pitchFamily="2" charset="-122"/>
              </a:rPr>
              <a:t>的地址描述符，使之包含其内存位置</a:t>
            </a:r>
            <a:endParaRPr lang="en-US" altLang="zh-CN" sz="2000" b="1" dirty="0">
              <a:ea typeface="宋体" panose="02010600030101010101" pitchFamily="2" charset="-122"/>
            </a:endParaRPr>
          </a:p>
          <a:p>
            <a:pPr marL="1295400" lvl="2" indent="-495300">
              <a:buFont typeface="Book Antiqua" panose="02040602050305030304" pitchFamily="18" charset="0"/>
              <a:buAutoNum type="arabicPeriod"/>
            </a:pPr>
            <a:r>
              <a:rPr lang="zh-CN" altLang="en-US" sz="2000" b="1" dirty="0">
                <a:ea typeface="宋体" panose="02010600030101010101" pitchFamily="2" charset="-122"/>
              </a:rPr>
              <a:t>对于实现三地址语句</a:t>
            </a:r>
            <a:r>
              <a:rPr lang="en-US" altLang="zh-CN" sz="2000" i="1" dirty="0">
                <a:ea typeface="宋体" panose="02010600030101010101" pitchFamily="2" charset="-122"/>
              </a:rPr>
              <a:t>x</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y</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z</a:t>
            </a:r>
            <a:r>
              <a:rPr lang="zh-CN" altLang="en-US" sz="2000" b="1" dirty="0">
                <a:ea typeface="宋体" panose="02010600030101010101" pitchFamily="2" charset="-122"/>
              </a:rPr>
              <a:t>的“</a:t>
            </a:r>
            <a:r>
              <a:rPr lang="en-US" altLang="zh-CN" sz="2000" b="1" dirty="0">
                <a:ea typeface="宋体" panose="02010600030101010101" pitchFamily="2" charset="-122"/>
              </a:rPr>
              <a:t>ADD</a:t>
            </a:r>
            <a:r>
              <a:rPr lang="zh-CN" altLang="en-US" sz="2000" b="1" dirty="0">
                <a:ea typeface="宋体" panose="02010600030101010101" pitchFamily="2" charset="-122"/>
              </a:rPr>
              <a:t> </a:t>
            </a:r>
            <a:r>
              <a:rPr lang="en-US" altLang="zh-CN" sz="2000" i="1" dirty="0">
                <a:ea typeface="宋体" panose="02010600030101010101" pitchFamily="2" charset="-122"/>
              </a:rPr>
              <a:t>R</a:t>
            </a:r>
            <a:r>
              <a:rPr lang="en-US" altLang="zh-CN" sz="2000" i="1" baseline="-25000" dirty="0">
                <a:ea typeface="宋体" panose="02010600030101010101" pitchFamily="2" charset="-122"/>
              </a:rPr>
              <a:t>x  </a:t>
            </a:r>
            <a:r>
              <a:rPr lang="en-US" altLang="zh-CN" sz="2000" b="1" dirty="0">
                <a:ea typeface="宋体" panose="02010600030101010101" pitchFamily="2" charset="-122"/>
              </a:rPr>
              <a:t>,</a:t>
            </a:r>
            <a:r>
              <a:rPr lang="en-US" altLang="zh-CN" sz="2000" i="1" dirty="0">
                <a:ea typeface="宋体" panose="02010600030101010101" pitchFamily="2" charset="-122"/>
              </a:rPr>
              <a:t> R</a:t>
            </a:r>
            <a:r>
              <a:rPr lang="en-US" altLang="zh-CN" sz="2000" i="1" baseline="-25000" dirty="0">
                <a:ea typeface="宋体" panose="02010600030101010101" pitchFamily="2" charset="-122"/>
              </a:rPr>
              <a:t>y  </a:t>
            </a:r>
            <a:r>
              <a:rPr lang="en-US" altLang="zh-CN" sz="2000" b="1" dirty="0">
                <a:ea typeface="宋体" panose="02010600030101010101" pitchFamily="2" charset="-122"/>
              </a:rPr>
              <a:t>, </a:t>
            </a:r>
            <a:r>
              <a:rPr lang="en-US" altLang="zh-CN" sz="2000" i="1" dirty="0">
                <a:ea typeface="宋体" panose="02010600030101010101" pitchFamily="2" charset="-122"/>
              </a:rPr>
              <a:t>R</a:t>
            </a:r>
            <a:r>
              <a:rPr lang="en-US" altLang="zh-CN" sz="2000" i="1" baseline="-25000" dirty="0">
                <a:ea typeface="宋体" panose="02010600030101010101" pitchFamily="2" charset="-122"/>
              </a:rPr>
              <a:t>z</a:t>
            </a:r>
            <a:r>
              <a:rPr lang="zh-CN" altLang="en-US" sz="2000" b="1" dirty="0">
                <a:ea typeface="宋体" panose="02010600030101010101" pitchFamily="2" charset="-122"/>
              </a:rPr>
              <a:t>”指令</a:t>
            </a:r>
            <a:endParaRPr lang="en-US" altLang="zh-CN" sz="20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修改寄存器</a:t>
            </a:r>
            <a:r>
              <a:rPr lang="en-US" altLang="zh-CN" sz="1800" i="1" dirty="0">
                <a:ea typeface="宋体" panose="02010600030101010101" pitchFamily="2" charset="-122"/>
              </a:rPr>
              <a:t>R</a:t>
            </a:r>
            <a:r>
              <a:rPr lang="en-US" altLang="zh-CN" sz="1800" i="1" baseline="-25000" dirty="0">
                <a:ea typeface="宋体" panose="02010600030101010101" pitchFamily="2" charset="-122"/>
              </a:rPr>
              <a:t>x</a:t>
            </a:r>
            <a:r>
              <a:rPr lang="zh-CN" altLang="en-US" sz="1800" b="1" dirty="0">
                <a:ea typeface="宋体" panose="02010600030101010101" pitchFamily="2" charset="-122"/>
              </a:rPr>
              <a:t>的寄存器描述符，使之只包含</a:t>
            </a:r>
            <a:r>
              <a:rPr lang="en-US" altLang="zh-CN" sz="1800" i="1" dirty="0">
                <a:ea typeface="宋体" panose="02010600030101010101" pitchFamily="2" charset="-122"/>
              </a:rPr>
              <a:t>x</a:t>
            </a:r>
            <a:endParaRPr lang="en-US" altLang="zh-CN" sz="18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修改</a:t>
            </a:r>
            <a:r>
              <a:rPr lang="en-US" altLang="zh-CN" sz="1800" i="1" dirty="0">
                <a:ea typeface="宋体" panose="02010600030101010101" pitchFamily="2" charset="-122"/>
              </a:rPr>
              <a:t>x</a:t>
            </a:r>
            <a:r>
              <a:rPr lang="zh-CN" altLang="en-US" sz="1800" b="1" dirty="0">
                <a:ea typeface="宋体" panose="02010600030101010101" pitchFamily="2" charset="-122"/>
              </a:rPr>
              <a:t>的地址描述符，使之只包含位置</a:t>
            </a:r>
            <a:r>
              <a:rPr lang="en-US" altLang="zh-CN" sz="1800" i="1" dirty="0">
                <a:ea typeface="宋体" panose="02010600030101010101" pitchFamily="2" charset="-122"/>
              </a:rPr>
              <a:t>R</a:t>
            </a:r>
            <a:r>
              <a:rPr lang="en-US" altLang="zh-CN" sz="1800" i="1" baseline="-25000" dirty="0">
                <a:ea typeface="宋体" panose="02010600030101010101" pitchFamily="2" charset="-122"/>
              </a:rPr>
              <a:t>x</a:t>
            </a:r>
            <a:endParaRPr lang="en-US" altLang="zh-CN" sz="18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从任何不同于</a:t>
            </a:r>
            <a:r>
              <a:rPr lang="en-US" altLang="zh-CN" sz="1800" i="1" dirty="0">
                <a:ea typeface="宋体" panose="02010600030101010101" pitchFamily="2" charset="-122"/>
              </a:rPr>
              <a:t>x</a:t>
            </a:r>
            <a:r>
              <a:rPr lang="zh-CN" altLang="en-US" sz="1800" b="1" dirty="0">
                <a:ea typeface="宋体" panose="02010600030101010101" pitchFamily="2" charset="-122"/>
              </a:rPr>
              <a:t>的变量的地址描述符中删除</a:t>
            </a:r>
            <a:r>
              <a:rPr lang="en-US" altLang="zh-CN" sz="1800" i="1" dirty="0">
                <a:ea typeface="宋体" panose="02010600030101010101" pitchFamily="2" charset="-122"/>
              </a:rPr>
              <a:t>R</a:t>
            </a:r>
            <a:r>
              <a:rPr lang="en-US" altLang="zh-CN" sz="1800" i="1" baseline="-25000" dirty="0">
                <a:ea typeface="宋体" panose="02010600030101010101" pitchFamily="2" charset="-122"/>
              </a:rPr>
              <a:t>x</a:t>
            </a:r>
            <a:endParaRPr lang="en-US" altLang="zh-CN" sz="1800" b="1" dirty="0">
              <a:ea typeface="宋体" panose="02010600030101010101" pitchFamily="2" charset="-122"/>
            </a:endParaRPr>
          </a:p>
          <a:p>
            <a:pPr marL="1295400" lvl="2" indent="-495300">
              <a:buFont typeface="Book Antiqua" panose="02040602050305030304" pitchFamily="18" charset="0"/>
              <a:buAutoNum type="arabicPeriod"/>
            </a:pPr>
            <a:r>
              <a:rPr lang="zh-CN" altLang="en-US" sz="2000" b="1" dirty="0">
                <a:ea typeface="宋体" panose="02010600030101010101" pitchFamily="2" charset="-122"/>
              </a:rPr>
              <a:t>对于复制语句</a:t>
            </a:r>
            <a:r>
              <a:rPr lang="en-US" altLang="zh-CN" sz="2000" i="1" dirty="0">
                <a:ea typeface="宋体" panose="02010600030101010101" pitchFamily="2" charset="-122"/>
              </a:rPr>
              <a:t>x</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y</a:t>
            </a:r>
            <a:r>
              <a:rPr lang="zh-CN" altLang="en-US" sz="2000" b="1" dirty="0">
                <a:ea typeface="宋体" panose="02010600030101010101" pitchFamily="2" charset="-122"/>
              </a:rPr>
              <a:t>，如有必要，先生成将</a:t>
            </a:r>
            <a:r>
              <a:rPr lang="en-US" altLang="zh-CN" sz="2000" i="1" dirty="0">
                <a:ea typeface="宋体" panose="02010600030101010101" pitchFamily="2" charset="-122"/>
              </a:rPr>
              <a:t>y</a:t>
            </a:r>
            <a:r>
              <a:rPr lang="zh-CN" altLang="en-US" sz="2000" b="1" dirty="0">
                <a:ea typeface="宋体" panose="02010600030101010101" pitchFamily="2" charset="-122"/>
              </a:rPr>
              <a:t>加载的</a:t>
            </a:r>
            <a:r>
              <a:rPr lang="en-US" altLang="zh-CN" sz="2000" i="1" dirty="0">
                <a:ea typeface="宋体" panose="02010600030101010101" pitchFamily="2" charset="-122"/>
              </a:rPr>
              <a:t>R</a:t>
            </a:r>
            <a:r>
              <a:rPr lang="en-US" altLang="zh-CN" sz="2000" i="1" baseline="-25000" dirty="0">
                <a:ea typeface="宋体" panose="02010600030101010101" pitchFamily="2" charset="-122"/>
              </a:rPr>
              <a:t>y</a:t>
            </a:r>
            <a:r>
              <a:rPr lang="zh-CN" altLang="en-US" sz="2000" b="1" dirty="0">
                <a:ea typeface="宋体" panose="02010600030101010101" pitchFamily="2" charset="-122"/>
              </a:rPr>
              <a:t>指令，并按照规则</a:t>
            </a:r>
            <a:r>
              <a:rPr lang="en-US" altLang="zh-CN" sz="2000" b="1" dirty="0">
                <a:ea typeface="宋体" panose="02010600030101010101" pitchFamily="2" charset="-122"/>
              </a:rPr>
              <a:t>1</a:t>
            </a:r>
            <a:r>
              <a:rPr lang="zh-CN" altLang="en-US" sz="2000" b="1" dirty="0">
                <a:ea typeface="宋体" panose="02010600030101010101" pitchFamily="2" charset="-122"/>
              </a:rPr>
              <a:t>处理</a:t>
            </a:r>
            <a:r>
              <a:rPr lang="en-US" altLang="zh-CN" sz="2000" i="1" dirty="0">
                <a:ea typeface="宋体" panose="02010600030101010101" pitchFamily="2" charset="-122"/>
              </a:rPr>
              <a:t>y</a:t>
            </a:r>
            <a:r>
              <a:rPr lang="zh-CN" altLang="en-US" sz="2000" b="1" dirty="0">
                <a:ea typeface="宋体" panose="02010600030101010101" pitchFamily="2" charset="-122"/>
              </a:rPr>
              <a:t>和</a:t>
            </a:r>
            <a:r>
              <a:rPr lang="en-US" altLang="zh-CN" sz="2000" i="1" dirty="0">
                <a:ea typeface="宋体" panose="02010600030101010101" pitchFamily="2" charset="-122"/>
              </a:rPr>
              <a:t>R</a:t>
            </a:r>
            <a:r>
              <a:rPr lang="en-US" altLang="zh-CN" sz="2000" i="1" baseline="-25000" dirty="0">
                <a:ea typeface="宋体" panose="02010600030101010101" pitchFamily="2" charset="-122"/>
              </a:rPr>
              <a:t>y </a:t>
            </a:r>
            <a:r>
              <a:rPr lang="zh-CN" altLang="en-US" sz="2000" b="1" dirty="0">
                <a:ea typeface="宋体" panose="02010600030101010101" pitchFamily="2" charset="-122"/>
              </a:rPr>
              <a:t>的描述符，然后：</a:t>
            </a:r>
            <a:endParaRPr lang="en-US" altLang="zh-CN" sz="20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把</a:t>
            </a:r>
            <a:r>
              <a:rPr lang="en-US" altLang="zh-CN" sz="1800" i="1" dirty="0">
                <a:ea typeface="宋体" panose="02010600030101010101" pitchFamily="2" charset="-122"/>
              </a:rPr>
              <a:t>x</a:t>
            </a:r>
            <a:r>
              <a:rPr lang="zh-CN" altLang="en-US" sz="1800" b="1" dirty="0">
                <a:ea typeface="宋体" panose="02010600030101010101" pitchFamily="2" charset="-122"/>
              </a:rPr>
              <a:t>加到</a:t>
            </a:r>
            <a:r>
              <a:rPr lang="en-US" altLang="zh-CN" sz="1800" i="1" dirty="0">
                <a:ea typeface="宋体" panose="02010600030101010101" pitchFamily="2" charset="-122"/>
              </a:rPr>
              <a:t>R</a:t>
            </a:r>
            <a:r>
              <a:rPr lang="en-US" altLang="zh-CN" sz="1800" i="1" baseline="-25000" dirty="0">
                <a:ea typeface="宋体" panose="02010600030101010101" pitchFamily="2" charset="-122"/>
              </a:rPr>
              <a:t>y</a:t>
            </a:r>
            <a:r>
              <a:rPr lang="zh-CN" altLang="en-US" sz="1800" b="1" dirty="0">
                <a:ea typeface="宋体" panose="02010600030101010101" pitchFamily="2" charset="-122"/>
              </a:rPr>
              <a:t>的寄存器描述符中</a:t>
            </a:r>
            <a:endParaRPr lang="en-US" altLang="zh-CN" sz="1800" b="1" dirty="0">
              <a:ea typeface="宋体" panose="02010600030101010101" pitchFamily="2" charset="-122"/>
            </a:endParaRPr>
          </a:p>
          <a:p>
            <a:pPr marL="1752600" lvl="3" indent="-495300">
              <a:buSzPct val="90000"/>
              <a:buFontTx/>
              <a:buAutoNum type="circleNumDbPlain"/>
            </a:pPr>
            <a:r>
              <a:rPr lang="zh-CN" altLang="en-US" sz="1800" b="1" dirty="0">
                <a:ea typeface="宋体" panose="02010600030101010101" pitchFamily="2" charset="-122"/>
              </a:rPr>
              <a:t>修改</a:t>
            </a:r>
            <a:r>
              <a:rPr lang="en-US" altLang="zh-CN" sz="1800" i="1" dirty="0">
                <a:ea typeface="宋体" panose="02010600030101010101" pitchFamily="2" charset="-122"/>
              </a:rPr>
              <a:t>x</a:t>
            </a:r>
            <a:r>
              <a:rPr lang="zh-CN" altLang="en-US" sz="1800" b="1" dirty="0">
                <a:ea typeface="宋体" panose="02010600030101010101" pitchFamily="2" charset="-122"/>
              </a:rPr>
              <a:t>的地址描述符，使之只包含位置</a:t>
            </a:r>
            <a:r>
              <a:rPr lang="en-US" altLang="zh-CN" sz="1800" i="1" dirty="0">
                <a:ea typeface="宋体" panose="02010600030101010101" pitchFamily="2" charset="-122"/>
              </a:rPr>
              <a:t>R</a:t>
            </a:r>
            <a:r>
              <a:rPr lang="en-US" altLang="zh-CN" sz="1800" i="1" baseline="-25000" dirty="0">
                <a:ea typeface="宋体" panose="02010600030101010101" pitchFamily="2" charset="-122"/>
              </a:rPr>
              <a:t>y</a:t>
            </a:r>
            <a:endParaRPr lang="en-US" altLang="zh-CN" sz="1800" b="1" dirty="0">
              <a:ea typeface="宋体" panose="02010600030101010101" pitchFamily="2" charset="-122"/>
            </a:endParaRPr>
          </a:p>
        </p:txBody>
      </p:sp>
    </p:spTree>
  </p:cSld>
  <p:clrMapOvr>
    <a:masterClrMapping/>
  </p:clrMapOvr>
  <p:transition spd="slow"/>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48483" name="Rectangle 3"/>
          <p:cNvSpPr>
            <a:spLocks noGrp="1" noChangeArrowheads="1"/>
          </p:cNvSpPr>
          <p:nvPr>
            <p:ph idx="1"/>
          </p:nvPr>
        </p:nvSpPr>
        <p:spPr>
          <a:xfrm>
            <a:off x="395288" y="1524000"/>
            <a:ext cx="1584325" cy="47244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8.16</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 = a – b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u = a – c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v = t + u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 = d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d = v + u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本基本块翻译的代码，以及寄存器和地址描述符如图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8-16</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所示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27684" name="Picture 2"/>
          <p:cNvPicPr>
            <a:picLocks noChangeAspect="1"/>
          </p:cNvPicPr>
          <p:nvPr/>
        </p:nvPicPr>
        <p:blipFill>
          <a:blip r:embed="rId1"/>
          <a:stretch>
            <a:fillRect/>
          </a:stretch>
        </p:blipFill>
        <p:spPr>
          <a:xfrm>
            <a:off x="2195513" y="1136650"/>
            <a:ext cx="6858000" cy="5499100"/>
          </a:xfrm>
          <a:prstGeom prst="rect">
            <a:avLst/>
          </a:prstGeom>
          <a:noFill/>
          <a:ln w="9525">
            <a:noFill/>
          </a:ln>
        </p:spPr>
      </p:pic>
    </p:spTree>
  </p:cSld>
  <p:clrMapOvr>
    <a:masterClrMapping/>
  </p:clrMapOvr>
  <p:transition spd="slow"/>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29731" name="Rectangle 3"/>
          <p:cNvSpPr>
            <a:spLocks noGrp="1"/>
          </p:cNvSpPr>
          <p:nvPr>
            <p:ph idx="1"/>
          </p:nvPr>
        </p:nvSpPr>
        <p:spPr>
          <a:xfrm>
            <a:off x="468313" y="1371600"/>
            <a:ext cx="8351837" cy="4876800"/>
          </a:xfrm>
        </p:spPr>
        <p:txBody>
          <a:bodyPr vert="horz" wrap="square" lIns="92075" tIns="46038" rIns="92075" bIns="46038" anchor="t" anchorCtr="0"/>
          <a:p>
            <a:pPr marL="495300" indent="-495300"/>
            <a:r>
              <a:rPr lang="zh-CN" altLang="en-US" sz="2200" b="1" dirty="0">
                <a:ea typeface="宋体" panose="02010600030101010101" pitchFamily="2" charset="-122"/>
              </a:rPr>
              <a:t>函数</a:t>
            </a:r>
            <a:r>
              <a:rPr lang="en-US" altLang="zh-CN" sz="2200" i="1" dirty="0">
                <a:ea typeface="宋体" panose="02010600030101010101" pitchFamily="2" charset="-122"/>
              </a:rPr>
              <a:t>getReg</a:t>
            </a:r>
            <a:r>
              <a:rPr lang="zh-CN" altLang="en-US" sz="2200" b="1" dirty="0">
                <a:ea typeface="宋体" panose="02010600030101010101" pitchFamily="2" charset="-122"/>
              </a:rPr>
              <a:t>的设计</a:t>
            </a:r>
            <a:endParaRPr lang="en-US" altLang="zh-CN" sz="2200" b="1" dirty="0">
              <a:ea typeface="宋体" panose="02010600030101010101" pitchFamily="2" charset="-122"/>
            </a:endParaRPr>
          </a:p>
          <a:p>
            <a:pPr marL="914400" lvl="1" indent="-457200"/>
            <a:r>
              <a:rPr lang="zh-CN" altLang="en-US" sz="2000" b="1" dirty="0">
                <a:ea typeface="宋体" panose="02010600030101010101" pitchFamily="2" charset="-122"/>
              </a:rPr>
              <a:t>有多个实现方法，但选择不当会生成错误代码</a:t>
            </a:r>
            <a:endParaRPr lang="en-US" altLang="zh-CN" sz="2000" b="1" dirty="0">
              <a:ea typeface="宋体" panose="02010600030101010101" pitchFamily="2" charset="-122"/>
            </a:endParaRPr>
          </a:p>
          <a:p>
            <a:pPr marL="914400" lvl="1" indent="-457200"/>
            <a:r>
              <a:rPr lang="zh-CN" altLang="en-US" sz="2000" b="1" dirty="0">
                <a:ea typeface="宋体" panose="02010600030101010101" pitchFamily="2" charset="-122"/>
              </a:rPr>
              <a:t>以</a:t>
            </a:r>
            <a:r>
              <a:rPr lang="en-US" altLang="zh-CN" sz="2000" i="1" dirty="0">
                <a:ea typeface="宋体" panose="02010600030101010101" pitchFamily="2" charset="-122"/>
              </a:rPr>
              <a:t>x</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y</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z</a:t>
            </a:r>
            <a:r>
              <a:rPr lang="zh-CN" altLang="en-US" sz="2000" b="1" dirty="0">
                <a:ea typeface="宋体" panose="02010600030101010101" pitchFamily="2" charset="-122"/>
              </a:rPr>
              <a:t>为例，先考虑为</a:t>
            </a:r>
            <a:r>
              <a:rPr lang="en-US" altLang="zh-CN" sz="2000" i="1" dirty="0">
                <a:ea typeface="宋体" panose="02010600030101010101" pitchFamily="2" charset="-122"/>
              </a:rPr>
              <a:t>y</a:t>
            </a:r>
            <a:r>
              <a:rPr lang="zh-CN" altLang="en-US" sz="2000" b="1" dirty="0">
                <a:ea typeface="宋体" panose="02010600030101010101" pitchFamily="2" charset="-122"/>
              </a:rPr>
              <a:t>和</a:t>
            </a:r>
            <a:r>
              <a:rPr lang="en-US" altLang="zh-CN" sz="2000" i="1" dirty="0">
                <a:ea typeface="宋体" panose="02010600030101010101" pitchFamily="2" charset="-122"/>
              </a:rPr>
              <a:t>z</a:t>
            </a:r>
            <a:r>
              <a:rPr lang="zh-CN" altLang="en-US" sz="2000" b="1" dirty="0">
                <a:ea typeface="宋体" panose="02010600030101010101" pitchFamily="2" charset="-122"/>
              </a:rPr>
              <a:t>分别选择寄存器，选择方法雷同，如考虑为</a:t>
            </a:r>
            <a:r>
              <a:rPr lang="en-US" altLang="zh-CN" sz="2000" i="1" dirty="0">
                <a:ea typeface="宋体" panose="02010600030101010101" pitchFamily="2" charset="-122"/>
              </a:rPr>
              <a:t>y</a:t>
            </a:r>
            <a:r>
              <a:rPr lang="zh-CN" altLang="en-US" sz="2000" b="1" dirty="0">
                <a:ea typeface="宋体" panose="02010600030101010101" pitchFamily="2" charset="-122"/>
              </a:rPr>
              <a:t>选择寄存器</a:t>
            </a:r>
            <a:r>
              <a:rPr lang="en-US" altLang="zh-CN" sz="2000" i="1" dirty="0">
                <a:ea typeface="宋体" panose="02010600030101010101" pitchFamily="2" charset="-122"/>
              </a:rPr>
              <a:t>R</a:t>
            </a:r>
            <a:r>
              <a:rPr lang="en-US" altLang="zh-CN" sz="2000" i="1" baseline="-25000" dirty="0">
                <a:ea typeface="宋体" panose="02010600030101010101" pitchFamily="2" charset="-122"/>
              </a:rPr>
              <a:t>y</a:t>
            </a:r>
            <a:r>
              <a:rPr lang="zh-CN" altLang="en-US" sz="2000" b="1" dirty="0">
                <a:ea typeface="宋体" panose="02010600030101010101" pitchFamily="2" charset="-122"/>
              </a:rPr>
              <a:t>的方法：</a:t>
            </a:r>
            <a:endParaRPr lang="en-US" altLang="zh-CN" sz="2000" b="1" dirty="0">
              <a:ea typeface="宋体" panose="02010600030101010101" pitchFamily="2" charset="-122"/>
            </a:endParaRPr>
          </a:p>
          <a:p>
            <a:pPr marL="1314450" lvl="2" indent="-457200">
              <a:buFont typeface="Book Antiqua" panose="02040602050305030304" pitchFamily="18" charset="0"/>
              <a:buAutoNum type="arabicPeriod"/>
            </a:pPr>
            <a:r>
              <a:rPr lang="zh-CN" altLang="en-US" sz="1800" b="1" dirty="0">
                <a:ea typeface="宋体" panose="02010600030101010101" pitchFamily="2" charset="-122"/>
              </a:rPr>
              <a:t>若</a:t>
            </a:r>
            <a:r>
              <a:rPr lang="en-US" altLang="zh-CN" sz="1800" i="1" dirty="0">
                <a:ea typeface="宋体" panose="02010600030101010101" pitchFamily="2" charset="-122"/>
              </a:rPr>
              <a:t>y</a:t>
            </a:r>
            <a:r>
              <a:rPr lang="zh-CN" altLang="en-US" sz="1800" b="1" dirty="0">
                <a:ea typeface="宋体" panose="02010600030101010101" pitchFamily="2" charset="-122"/>
              </a:rPr>
              <a:t>当前在寄存器中，则选择一个已经包含了</a:t>
            </a:r>
            <a:r>
              <a:rPr lang="en-US" altLang="zh-CN" sz="1800" i="1" dirty="0">
                <a:ea typeface="宋体" panose="02010600030101010101" pitchFamily="2" charset="-122"/>
              </a:rPr>
              <a:t>y</a:t>
            </a:r>
            <a:r>
              <a:rPr lang="zh-CN" altLang="en-US" sz="1800" b="1" dirty="0">
                <a:ea typeface="宋体" panose="02010600030101010101" pitchFamily="2" charset="-122"/>
              </a:rPr>
              <a:t>的寄存器</a:t>
            </a:r>
            <a:r>
              <a:rPr lang="en-US" altLang="zh-CN" sz="1800" i="1" dirty="0">
                <a:ea typeface="宋体" panose="02010600030101010101" pitchFamily="2" charset="-122"/>
              </a:rPr>
              <a:t>R</a:t>
            </a:r>
            <a:r>
              <a:rPr lang="en-US" altLang="zh-CN" sz="1800" i="1" baseline="-25000" dirty="0">
                <a:ea typeface="宋体" panose="02010600030101010101" pitchFamily="2" charset="-122"/>
              </a:rPr>
              <a:t>y</a:t>
            </a:r>
            <a:endParaRPr lang="en-US" altLang="zh-CN" sz="1800" b="1" dirty="0">
              <a:ea typeface="宋体" panose="02010600030101010101" pitchFamily="2" charset="-122"/>
            </a:endParaRPr>
          </a:p>
          <a:p>
            <a:pPr marL="1314450" lvl="2" indent="-457200">
              <a:buFont typeface="Book Antiqua" panose="02040602050305030304" pitchFamily="18" charset="0"/>
              <a:buAutoNum type="arabicPeriod"/>
            </a:pPr>
            <a:r>
              <a:rPr lang="zh-CN" altLang="en-US" sz="1800" b="1" dirty="0">
                <a:ea typeface="宋体" panose="02010600030101010101" pitchFamily="2" charset="-122"/>
              </a:rPr>
              <a:t>若</a:t>
            </a:r>
            <a:r>
              <a:rPr lang="en-US" altLang="zh-CN" sz="1800" i="1" dirty="0">
                <a:ea typeface="宋体" panose="02010600030101010101" pitchFamily="2" charset="-122"/>
              </a:rPr>
              <a:t>y</a:t>
            </a:r>
            <a:r>
              <a:rPr lang="zh-CN" altLang="en-US" sz="1800" b="1" dirty="0">
                <a:ea typeface="宋体" panose="02010600030101010101" pitchFamily="2" charset="-122"/>
              </a:rPr>
              <a:t>不在寄存器中，但当前有空闲寄存器，则选一个空闲寄存器为</a:t>
            </a:r>
            <a:r>
              <a:rPr lang="en-US" altLang="zh-CN" sz="1800" i="1" dirty="0">
                <a:ea typeface="宋体" panose="02010600030101010101" pitchFamily="2" charset="-122"/>
              </a:rPr>
              <a:t>R</a:t>
            </a:r>
            <a:r>
              <a:rPr lang="en-US" altLang="zh-CN" sz="1800" i="1" baseline="-25000" dirty="0">
                <a:ea typeface="宋体" panose="02010600030101010101" pitchFamily="2" charset="-122"/>
              </a:rPr>
              <a:t>y</a:t>
            </a:r>
            <a:endParaRPr lang="en-US" altLang="zh-CN" sz="1800" b="1" dirty="0">
              <a:ea typeface="宋体" panose="02010600030101010101" pitchFamily="2" charset="-122"/>
            </a:endParaRPr>
          </a:p>
          <a:p>
            <a:pPr marL="1314450" lvl="2" indent="-457200">
              <a:buFont typeface="Book Antiqua" panose="02040602050305030304" pitchFamily="18" charset="0"/>
              <a:buAutoNum type="arabicPeriod"/>
            </a:pPr>
            <a:r>
              <a:rPr lang="zh-CN" altLang="en-US" sz="1800" b="1" dirty="0">
                <a:ea typeface="宋体" panose="02010600030101010101" pitchFamily="2" charset="-122"/>
              </a:rPr>
              <a:t>如果</a:t>
            </a:r>
            <a:r>
              <a:rPr lang="en-US" altLang="zh-CN" sz="1800" i="1" dirty="0">
                <a:ea typeface="宋体" panose="02010600030101010101" pitchFamily="2" charset="-122"/>
              </a:rPr>
              <a:t>y</a:t>
            </a:r>
            <a:r>
              <a:rPr lang="zh-CN" altLang="en-US" sz="1800" b="1" dirty="0">
                <a:ea typeface="宋体" panose="02010600030101010101" pitchFamily="2" charset="-122"/>
              </a:rPr>
              <a:t>不在寄存器中且当前没有空闲寄存器，此时</a:t>
            </a:r>
            <a:r>
              <a:rPr lang="zh-CN" altLang="en-US" sz="2000" b="1" dirty="0">
                <a:ea typeface="宋体" panose="02010600030101010101" pitchFamily="2" charset="-122"/>
              </a:rPr>
              <a:t>需要为</a:t>
            </a:r>
            <a:r>
              <a:rPr lang="en-US" altLang="zh-CN" sz="2000" i="1" dirty="0">
                <a:ea typeface="宋体" panose="02010600030101010101" pitchFamily="2" charset="-122"/>
              </a:rPr>
              <a:t>y</a:t>
            </a:r>
            <a:r>
              <a:rPr lang="zh-CN" altLang="en-US" sz="2000" b="1" dirty="0">
                <a:ea typeface="宋体" panose="02010600030101010101" pitchFamily="2" charset="-122"/>
              </a:rPr>
              <a:t>选择一个可行的且可安全复用的寄存器</a:t>
            </a:r>
            <a:r>
              <a:rPr lang="en-US" altLang="zh-CN" sz="2000" i="1" dirty="0">
                <a:ea typeface="宋体" panose="02010600030101010101" pitchFamily="2" charset="-122"/>
              </a:rPr>
              <a:t>R</a:t>
            </a:r>
            <a:r>
              <a:rPr lang="zh-CN" altLang="en-US" sz="2000" b="1" dirty="0">
                <a:ea typeface="宋体" panose="02010600030101010101" pitchFamily="2" charset="-122"/>
              </a:rPr>
              <a:t>，对于</a:t>
            </a:r>
            <a:r>
              <a:rPr lang="en-US" altLang="zh-CN" sz="2000" i="1" dirty="0">
                <a:ea typeface="宋体" panose="02010600030101010101" pitchFamily="2" charset="-122"/>
              </a:rPr>
              <a:t>R</a:t>
            </a:r>
            <a:r>
              <a:rPr lang="zh-CN" altLang="en-US" sz="2000" b="1" dirty="0">
                <a:ea typeface="宋体" panose="02010600030101010101" pitchFamily="2" charset="-122"/>
              </a:rPr>
              <a:t>的寄存器描述符表明的存放在</a:t>
            </a:r>
            <a:r>
              <a:rPr lang="en-US" altLang="zh-CN" sz="2000" i="1" dirty="0">
                <a:ea typeface="宋体" panose="02010600030101010101" pitchFamily="2" charset="-122"/>
              </a:rPr>
              <a:t>R</a:t>
            </a:r>
            <a:r>
              <a:rPr lang="zh-CN" altLang="en-US" sz="2000" b="1" dirty="0">
                <a:ea typeface="宋体" panose="02010600030101010101" pitchFamily="2" charset="-122"/>
              </a:rPr>
              <a:t>中的变量</a:t>
            </a:r>
            <a:r>
              <a:rPr lang="en-US" altLang="zh-CN" sz="2000" i="1" dirty="0">
                <a:ea typeface="宋体" panose="02010600030101010101" pitchFamily="2" charset="-122"/>
              </a:rPr>
              <a:t>v</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若</a:t>
            </a:r>
            <a:r>
              <a:rPr lang="en-US" altLang="zh-CN" sz="1800" i="1" dirty="0">
                <a:ea typeface="宋体" panose="02010600030101010101" pitchFamily="2" charset="-122"/>
              </a:rPr>
              <a:t>v</a:t>
            </a:r>
            <a:r>
              <a:rPr lang="zh-CN" altLang="en-US" sz="1800" b="1" dirty="0">
                <a:ea typeface="宋体" panose="02010600030101010101" pitchFamily="2" charset="-122"/>
              </a:rPr>
              <a:t>的地址描述符说</a:t>
            </a:r>
            <a:r>
              <a:rPr lang="en-US" altLang="zh-CN" sz="1800" i="1" dirty="0">
                <a:ea typeface="宋体" panose="02010600030101010101" pitchFamily="2" charset="-122"/>
              </a:rPr>
              <a:t>v</a:t>
            </a:r>
            <a:r>
              <a:rPr lang="zh-CN" altLang="en-US" sz="1800" b="1" dirty="0">
                <a:ea typeface="宋体" panose="02010600030101010101" pitchFamily="2" charset="-122"/>
              </a:rPr>
              <a:t>还保存在</a:t>
            </a:r>
            <a:r>
              <a:rPr lang="en-US" altLang="zh-CN" sz="1800" i="1" dirty="0">
                <a:ea typeface="宋体" panose="02010600030101010101" pitchFamily="2" charset="-122"/>
              </a:rPr>
              <a:t>R</a:t>
            </a:r>
            <a:r>
              <a:rPr lang="zh-CN" altLang="en-US" sz="1800" b="1" dirty="0">
                <a:ea typeface="宋体" panose="02010600030101010101" pitchFamily="2" charset="-122"/>
              </a:rPr>
              <a:t>之外的其它地方，</a:t>
            </a:r>
            <a:r>
              <a:rPr lang="en-US" altLang="zh-CN" sz="1800" i="1" dirty="0">
                <a:ea typeface="宋体" panose="02010600030101010101" pitchFamily="2" charset="-122"/>
              </a:rPr>
              <a:t>R</a:t>
            </a:r>
            <a:r>
              <a:rPr lang="zh-CN" altLang="en-US" sz="1800" b="1" dirty="0">
                <a:ea typeface="宋体" panose="02010600030101010101" pitchFamily="2" charset="-122"/>
              </a:rPr>
              <a:t>即为所选</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若</a:t>
            </a:r>
            <a:r>
              <a:rPr lang="en-US" altLang="zh-CN" sz="1800" i="1" dirty="0">
                <a:ea typeface="宋体" panose="02010600030101010101" pitchFamily="2" charset="-122"/>
              </a:rPr>
              <a:t>v</a:t>
            </a:r>
            <a:r>
              <a:rPr lang="zh-CN" altLang="en-US" sz="1800" b="1" dirty="0">
                <a:ea typeface="宋体" panose="02010600030101010101" pitchFamily="2" charset="-122"/>
              </a:rPr>
              <a:t>是</a:t>
            </a:r>
            <a:r>
              <a:rPr lang="en-US" altLang="zh-CN" sz="1800" i="1" dirty="0">
                <a:ea typeface="宋体" panose="02010600030101010101" pitchFamily="2" charset="-122"/>
              </a:rPr>
              <a:t>x</a:t>
            </a:r>
            <a:r>
              <a:rPr lang="zh-CN" altLang="en-US" sz="1800" b="1" dirty="0">
                <a:ea typeface="宋体" panose="02010600030101010101" pitchFamily="2" charset="-122"/>
              </a:rPr>
              <a:t>，即由正在处理的指令计算的变量，且</a:t>
            </a:r>
            <a:r>
              <a:rPr lang="en-US" altLang="zh-CN" sz="1800" i="1" dirty="0">
                <a:ea typeface="宋体" panose="02010600030101010101" pitchFamily="2" charset="-122"/>
              </a:rPr>
              <a:t>x</a:t>
            </a:r>
            <a:r>
              <a:rPr lang="zh-CN" altLang="en-US" sz="1800" b="1" dirty="0">
                <a:ea typeface="宋体" panose="02010600030101010101" pitchFamily="2" charset="-122"/>
              </a:rPr>
              <a:t>不是该指令的运算分量之一（如</a:t>
            </a:r>
            <a:r>
              <a:rPr lang="en-US" altLang="zh-CN" sz="1800" i="1" dirty="0">
                <a:ea typeface="宋体" panose="02010600030101010101" pitchFamily="2" charset="-122"/>
              </a:rPr>
              <a:t>z</a:t>
            </a:r>
            <a:r>
              <a:rPr lang="zh-CN" altLang="en-US" sz="1800" b="1" dirty="0">
                <a:ea typeface="宋体" panose="02010600030101010101" pitchFamily="2" charset="-122"/>
              </a:rPr>
              <a:t>），</a:t>
            </a:r>
            <a:r>
              <a:rPr lang="en-US" altLang="zh-CN" sz="1800" i="1" dirty="0">
                <a:ea typeface="宋体" panose="02010600030101010101" pitchFamily="2" charset="-122"/>
              </a:rPr>
              <a:t> R</a:t>
            </a:r>
            <a:r>
              <a:rPr lang="zh-CN" altLang="en-US" sz="1800" b="1" dirty="0">
                <a:ea typeface="宋体" panose="02010600030101010101" pitchFamily="2" charset="-122"/>
              </a:rPr>
              <a:t>即为所选</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否则，若</a:t>
            </a:r>
            <a:r>
              <a:rPr lang="en-US" altLang="zh-CN" sz="1800" i="1" dirty="0">
                <a:ea typeface="宋体" panose="02010600030101010101" pitchFamily="2" charset="-122"/>
              </a:rPr>
              <a:t>v</a:t>
            </a:r>
            <a:r>
              <a:rPr lang="zh-CN" altLang="en-US" sz="1800" b="1" dirty="0">
                <a:ea typeface="宋体" panose="02010600030101010101" pitchFamily="2" charset="-122"/>
              </a:rPr>
              <a:t>不会在此之后使用，</a:t>
            </a:r>
            <a:r>
              <a:rPr lang="en-US" altLang="zh-CN" sz="1800" i="1" dirty="0">
                <a:ea typeface="宋体" panose="02010600030101010101" pitchFamily="2" charset="-122"/>
              </a:rPr>
              <a:t> R</a:t>
            </a:r>
            <a:r>
              <a:rPr lang="zh-CN" altLang="en-US" sz="1800" b="1" dirty="0">
                <a:ea typeface="宋体" panose="02010600030101010101" pitchFamily="2" charset="-122"/>
              </a:rPr>
              <a:t>即为所选</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若上次三个条件都不满足，则需要生成保存指令</a:t>
            </a:r>
            <a:r>
              <a:rPr lang="en-US" altLang="zh-CN" sz="1800" b="1" dirty="0">
                <a:ea typeface="宋体" panose="02010600030101010101" pitchFamily="2" charset="-122"/>
              </a:rPr>
              <a:t>ST</a:t>
            </a:r>
            <a:r>
              <a:rPr lang="zh-CN" altLang="en-US" sz="1800" b="1" dirty="0">
                <a:ea typeface="宋体" panose="02010600030101010101" pitchFamily="2" charset="-122"/>
              </a:rPr>
              <a:t> </a:t>
            </a:r>
            <a:r>
              <a:rPr lang="en-US" altLang="zh-CN" sz="1800" i="1" dirty="0">
                <a:ea typeface="宋体" panose="02010600030101010101" pitchFamily="2" charset="-122"/>
              </a:rPr>
              <a:t>v</a:t>
            </a:r>
            <a:r>
              <a:rPr lang="zh-CN" altLang="en-US" sz="1800" i="1" dirty="0">
                <a:ea typeface="宋体" panose="02010600030101010101" pitchFamily="2" charset="-122"/>
              </a:rPr>
              <a:t> </a:t>
            </a:r>
            <a:r>
              <a:rPr lang="en-US" altLang="zh-CN" sz="1800" i="1" dirty="0">
                <a:ea typeface="宋体" panose="02010600030101010101" pitchFamily="2" charset="-122"/>
              </a:rPr>
              <a:t>, R</a:t>
            </a:r>
            <a:r>
              <a:rPr lang="zh-CN" altLang="en-US" sz="1800" b="1" dirty="0">
                <a:ea typeface="宋体" panose="02010600030101010101" pitchFamily="2" charset="-122"/>
              </a:rPr>
              <a:t>把</a:t>
            </a:r>
            <a:r>
              <a:rPr lang="en-US" altLang="zh-CN" sz="1800" i="1" dirty="0">
                <a:ea typeface="宋体" panose="02010600030101010101" pitchFamily="2" charset="-122"/>
              </a:rPr>
              <a:t>v</a:t>
            </a:r>
            <a:r>
              <a:rPr lang="zh-CN" altLang="en-US" sz="1800" b="1" dirty="0">
                <a:ea typeface="宋体" panose="02010600030101010101" pitchFamily="2" charset="-122"/>
              </a:rPr>
              <a:t>的值保存到其自己的内存位置上</a:t>
            </a:r>
            <a:endParaRPr lang="en-US" altLang="zh-CN" sz="1800" b="1" dirty="0">
              <a:ea typeface="宋体" panose="02010600030101010101" pitchFamily="2" charset="-122"/>
            </a:endParaRPr>
          </a:p>
          <a:p>
            <a:pPr marL="2228850" lvl="4" indent="-457200"/>
            <a:r>
              <a:rPr lang="zh-CN" altLang="en-US" sz="1600" b="1" dirty="0">
                <a:ea typeface="宋体" panose="02010600030101010101" pitchFamily="2" charset="-122"/>
              </a:rPr>
              <a:t>称为溢出（</a:t>
            </a:r>
            <a:r>
              <a:rPr lang="en-US" altLang="zh-CN" sz="1600" b="1" dirty="0">
                <a:ea typeface="宋体" panose="02010600030101010101" pitchFamily="2" charset="-122"/>
              </a:rPr>
              <a:t>spill</a:t>
            </a:r>
            <a:r>
              <a:rPr lang="zh-CN" altLang="en-US" sz="1600" b="1" dirty="0">
                <a:ea typeface="宋体" panose="02010600030101010101" pitchFamily="2" charset="-122"/>
              </a:rPr>
              <a:t>）操作，但选择哪个</a:t>
            </a:r>
            <a:r>
              <a:rPr lang="en-US" altLang="zh-CN" sz="1600" i="1" dirty="0">
                <a:ea typeface="宋体" panose="02010600030101010101" pitchFamily="2" charset="-122"/>
              </a:rPr>
              <a:t>R</a:t>
            </a:r>
            <a:r>
              <a:rPr lang="zh-CN" altLang="en-US" sz="1600" b="1" dirty="0">
                <a:ea typeface="宋体" panose="02010600030101010101" pitchFamily="2" charset="-122"/>
              </a:rPr>
              <a:t>作溢出要慎重</a:t>
            </a:r>
            <a:endParaRPr lang="en-US" altLang="zh-CN" sz="1600" b="1" dirty="0">
              <a:ea typeface="宋体" panose="02010600030101010101" pitchFamily="2" charset="-122"/>
            </a:endParaRPr>
          </a:p>
        </p:txBody>
      </p:sp>
    </p:spTree>
  </p:cSld>
  <p:clrMapOvr>
    <a:masterClrMapping/>
  </p:clrMapOvr>
  <p:transition spd="slow"/>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Rectangle 2"/>
          <p:cNvSpPr>
            <a:spLocks noGrp="1"/>
          </p:cNvSpPr>
          <p:nvPr>
            <p:ph type="title"/>
          </p:nvPr>
        </p:nvSpPr>
        <p:spPr>
          <a:xfrm>
            <a:off x="914400" y="457200"/>
            <a:ext cx="7772400" cy="914400"/>
          </a:xfrm>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一个简单的代码生成器（</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2579" name="Rectangle 3"/>
          <p:cNvSpPr>
            <a:spLocks noGrp="1" noChangeArrowheads="1"/>
          </p:cNvSpPr>
          <p:nvPr>
            <p:ph idx="1"/>
          </p:nvPr>
        </p:nvSpPr>
        <p:spPr>
          <a:xfrm>
            <a:off x="468313" y="1371600"/>
            <a:ext cx="8351838"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函数</a:t>
            </a:r>
            <a:r>
              <a:rPr kumimoji="0" lang="en-US" altLang="zh-CN" sz="2200" b="0" i="1"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getReg</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的设计（续）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考虑为</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中的</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选择寄存器</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的方法，与</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的选择类似，区别是：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因为</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的一个新值在被计算，所以只存放了</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的值的寄存器对</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总是可接受的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771650" marR="0" lvl="3"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就是</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或</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之一，这个选择仍然成立（本书的机器指令允许一个指令中的两个寄存器相同）</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如果</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在目前处理的指令后不再使用，且（在必要时加载</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之后）</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18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中仅仅保存了</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的值</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，则</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同时也可以用作</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x</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，对</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0" i="1" u="none" strike="noStrike" kern="0" cap="none" spc="0" normalizeH="0" baseline="0" noProof="0" dirty="0" err="1">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err="1">
                <a:ln>
                  <a:noFill/>
                </a:ln>
                <a:solidFill>
                  <a:schemeClr val="tx1"/>
                </a:solidFill>
                <a:effectLst/>
                <a:uLnTx/>
                <a:uFillTx/>
                <a:latin typeface="+mn-lt"/>
                <a:ea typeface="宋体" panose="02010600030101010101" pitchFamily="2" charset="-122"/>
              </a:rPr>
              <a:t>z</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也有类似选择</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对于复制指令</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0" i="1" u="none" strike="noStrike" kern="0" cap="none" spc="0" normalizeH="0" baseline="0" noProof="0" dirty="0">
                <a:ln>
                  <a:noFill/>
                </a:ln>
                <a:solidFill>
                  <a:schemeClr val="tx1"/>
                </a:solidFill>
                <a:effectLst/>
                <a:uLnTx/>
                <a:uFillTx/>
                <a:latin typeface="+mn-lt"/>
                <a:ea typeface="宋体" panose="02010600030101010101" pitchFamily="2" charset="-122"/>
              </a:rPr>
              <a:t>y</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的特殊处理：</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使用前述的方法选择</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令</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x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 R</a:t>
            </a:r>
            <a:r>
              <a:rPr kumimoji="0" lang="en-US" altLang="zh-CN" sz="2000" b="0" i="1" u="none" strike="noStrike" kern="0" cap="none" spc="0" normalizeH="0" baseline="-25000" noProof="0" dirty="0">
                <a:ln>
                  <a:noFill/>
                </a:ln>
                <a:solidFill>
                  <a:schemeClr val="tx1"/>
                </a:solidFill>
                <a:effectLst/>
                <a:uLnTx/>
                <a:uFillTx/>
                <a:latin typeface="+mn-lt"/>
                <a:ea typeface="宋体" panose="02010600030101010101" pitchFamily="2" charset="-122"/>
              </a:rPr>
              <a:t>y</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333827"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跨越基本块的优化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一个简单的代码生成器</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窥孔优化</a:t>
            </a:r>
            <a:endParaRPr lang="zh-CN" altLang="en-US"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寄存器分配和指派</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窥孔优化（</a:t>
            </a:r>
            <a:r>
              <a:rPr lang="en-US" altLang="zh-CN" dirty="0">
                <a:latin typeface="Times New Roman" panose="02020603050405020304" pitchFamily="18" charset="0"/>
                <a:ea typeface="宋体" panose="02010600030101010101" pitchFamily="2" charset="-122"/>
              </a:rPr>
              <a:t>peephole optimization</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35875" name="Rectangle 3"/>
          <p:cNvSpPr>
            <a:spLocks noGrp="1"/>
          </p:cNvSpPr>
          <p:nvPr>
            <p:ph idx="1"/>
          </p:nvPr>
        </p:nvSpPr>
        <p:spPr>
          <a:xfrm>
            <a:off x="990600" y="1371600"/>
            <a:ext cx="7391400" cy="4876800"/>
          </a:xfrm>
        </p:spPr>
        <p:txBody>
          <a:bodyPr vert="horz" wrap="square" lIns="92075" tIns="46038" rIns="92075" bIns="46038" anchor="t" anchorCtr="0"/>
          <a:p>
            <a:r>
              <a:rPr lang="zh-CN" altLang="en-US" sz="2200" b="1" dirty="0">
                <a:ea typeface="宋体" panose="02010600030101010101" pitchFamily="2" charset="-122"/>
              </a:rPr>
              <a:t>生成优质目标码的策略，策略可结合使用</a:t>
            </a:r>
            <a:endParaRPr lang="zh-CN" altLang="en-US" sz="2200" b="1" dirty="0">
              <a:ea typeface="宋体" panose="02010600030101010101" pitchFamily="2" charset="-122"/>
            </a:endParaRPr>
          </a:p>
          <a:p>
            <a:pPr lvl="1"/>
            <a:r>
              <a:rPr lang="zh-CN" altLang="en-US" sz="2000" b="1" dirty="0">
                <a:ea typeface="宋体" panose="02010600030101010101" pitchFamily="2" charset="-122"/>
              </a:rPr>
              <a:t>策略一：在代码生成时，仔细考虑指令选择和寄存器分配，获得优质代码</a:t>
            </a:r>
            <a:endParaRPr lang="zh-CN" altLang="en-US" sz="2000" b="1" dirty="0">
              <a:ea typeface="宋体" panose="02010600030101010101" pitchFamily="2" charset="-122"/>
            </a:endParaRPr>
          </a:p>
          <a:p>
            <a:pPr lvl="1"/>
            <a:r>
              <a:rPr lang="zh-CN" altLang="en-US" sz="2000" b="1" dirty="0">
                <a:ea typeface="宋体" panose="02010600030101010101" pitchFamily="2" charset="-122"/>
              </a:rPr>
              <a:t>策略二：先生成原始代码，然后再优化</a:t>
            </a:r>
            <a:endParaRPr lang="zh-CN" altLang="en-US" sz="2000" b="1" dirty="0">
              <a:ea typeface="宋体" panose="02010600030101010101" pitchFamily="2" charset="-122"/>
            </a:endParaRPr>
          </a:p>
          <a:p>
            <a:pPr lvl="1"/>
            <a:r>
              <a:rPr lang="zh-CN" altLang="en-US" sz="2000" b="1" dirty="0">
                <a:ea typeface="宋体" panose="02010600030101010101" pitchFamily="2" charset="-122"/>
              </a:rPr>
              <a:t>不能保证代码在任何时间点或任何度量下都是最优的</a:t>
            </a:r>
            <a:endParaRPr lang="zh-CN" altLang="en-US" sz="2000" b="1" dirty="0">
              <a:ea typeface="宋体" panose="02010600030101010101" pitchFamily="2" charset="-122"/>
            </a:endParaRPr>
          </a:p>
          <a:p>
            <a:r>
              <a:rPr lang="zh-CN" altLang="en-US" sz="2200" b="1" dirty="0">
                <a:ea typeface="宋体" panose="02010600030101010101" pitchFamily="2" charset="-122"/>
              </a:rPr>
              <a:t>窥孔优化：用于局部改进代码</a:t>
            </a:r>
            <a:endParaRPr lang="en-US" altLang="zh-CN" sz="2200" b="1" dirty="0">
              <a:ea typeface="宋体" panose="02010600030101010101" pitchFamily="2" charset="-122"/>
            </a:endParaRPr>
          </a:p>
          <a:p>
            <a:pPr lvl="1"/>
            <a:r>
              <a:rPr lang="zh-CN" altLang="en-US" sz="2000" b="1" dirty="0">
                <a:ea typeface="宋体" panose="02010600030101010101" pitchFamily="2" charset="-122"/>
              </a:rPr>
              <a:t>利用一个滑动窗口检查代码，改善窗口内的代码质量</a:t>
            </a:r>
            <a:endParaRPr lang="en-US" altLang="zh-CN" sz="2000" b="1" dirty="0">
              <a:ea typeface="宋体" panose="02010600030101010101" pitchFamily="2" charset="-122"/>
            </a:endParaRPr>
          </a:p>
          <a:p>
            <a:pPr lvl="1"/>
            <a:r>
              <a:rPr lang="zh-CN" altLang="en-US" sz="2000" b="1" dirty="0">
                <a:ea typeface="宋体" panose="02010600030101010101" pitchFamily="2" charset="-122"/>
              </a:rPr>
              <a:t>不要求窥孔内的代码是连续的</a:t>
            </a:r>
            <a:endParaRPr lang="en-US" altLang="zh-CN" sz="2000" b="1" dirty="0">
              <a:ea typeface="宋体" panose="02010600030101010101" pitchFamily="2" charset="-122"/>
            </a:endParaRPr>
          </a:p>
          <a:p>
            <a:pPr lvl="2"/>
            <a:r>
              <a:rPr lang="zh-CN" altLang="en-US" sz="1800" b="1" dirty="0">
                <a:ea typeface="宋体" panose="02010600030101010101" pitchFamily="2" charset="-122"/>
              </a:rPr>
              <a:t>有些优化算法可能要求代码是连续的</a:t>
            </a:r>
            <a:endParaRPr lang="en-US" altLang="zh-CN" sz="1800" b="1" dirty="0">
              <a:ea typeface="宋体" panose="02010600030101010101" pitchFamily="2" charset="-122"/>
            </a:endParaRPr>
          </a:p>
          <a:p>
            <a:pPr lvl="1"/>
            <a:r>
              <a:rPr lang="zh-CN" altLang="en-US" sz="2000" b="1" dirty="0">
                <a:ea typeface="宋体" panose="02010600030101010101" pitchFamily="2" charset="-122"/>
              </a:rPr>
              <a:t>常见例子</a:t>
            </a:r>
            <a:endParaRPr lang="en-US" altLang="zh-CN" sz="2000" b="1" dirty="0">
              <a:ea typeface="宋体" panose="02010600030101010101" pitchFamily="2" charset="-122"/>
            </a:endParaRPr>
          </a:p>
          <a:p>
            <a:pPr lvl="2"/>
            <a:r>
              <a:rPr lang="zh-CN" altLang="en-US" sz="1800" b="1" dirty="0">
                <a:ea typeface="宋体" panose="02010600030101010101" pitchFamily="2" charset="-122"/>
              </a:rPr>
              <a:t>冗余指令消除</a:t>
            </a:r>
            <a:endParaRPr lang="en-US" altLang="zh-CN" sz="1800" b="1" dirty="0">
              <a:ea typeface="宋体" panose="02010600030101010101" pitchFamily="2" charset="-122"/>
            </a:endParaRPr>
          </a:p>
          <a:p>
            <a:pPr lvl="2"/>
            <a:r>
              <a:rPr lang="zh-CN" altLang="en-US" sz="1800" b="1" dirty="0">
                <a:ea typeface="宋体" panose="02010600030101010101" pitchFamily="2" charset="-122"/>
              </a:rPr>
              <a:t>控制流优化</a:t>
            </a:r>
            <a:endParaRPr lang="en-US" altLang="zh-CN" sz="1800" b="1" dirty="0">
              <a:ea typeface="宋体" panose="02010600030101010101" pitchFamily="2" charset="-122"/>
            </a:endParaRPr>
          </a:p>
          <a:p>
            <a:pPr lvl="2"/>
            <a:r>
              <a:rPr lang="zh-CN" altLang="en-US" sz="1800" b="1" dirty="0">
                <a:ea typeface="宋体" panose="02010600030101010101" pitchFamily="2" charset="-122"/>
              </a:rPr>
              <a:t>代数化简</a:t>
            </a:r>
            <a:endParaRPr lang="en-US" altLang="zh-CN" sz="1800" b="1" dirty="0">
              <a:ea typeface="宋体" panose="02010600030101010101" pitchFamily="2" charset="-122"/>
            </a:endParaRPr>
          </a:p>
          <a:p>
            <a:pPr lvl="2"/>
            <a:r>
              <a:rPr lang="zh-CN" altLang="en-US" sz="1800" b="1" dirty="0">
                <a:ea typeface="宋体" panose="02010600030101010101" pitchFamily="2" charset="-122"/>
              </a:rPr>
              <a:t>机器特有指令的使用</a:t>
            </a:r>
            <a:endParaRPr lang="zh-CN" altLang="en-US" sz="1800" b="1" dirty="0">
              <a:ea typeface="宋体" panose="02010600030101010101" pitchFamily="2" charset="-122"/>
            </a:endParaRPr>
          </a:p>
        </p:txBody>
      </p:sp>
    </p:spTree>
  </p:cSld>
  <p:clrMapOvr>
    <a:masterClrMapping/>
  </p:clrMapOvr>
  <p:transition spd="slow"/>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消除冗余的加载和保存指令</a:t>
            </a:r>
            <a:endParaRPr lang="zh-CN" altLang="en-US" dirty="0">
              <a:latin typeface="Times New Roman" panose="02020603050405020304" pitchFamily="18" charset="0"/>
              <a:ea typeface="宋体" panose="02010600030101010101" pitchFamily="2" charset="-122"/>
            </a:endParaRPr>
          </a:p>
        </p:txBody>
      </p:sp>
      <p:sp>
        <p:nvSpPr>
          <p:cNvPr id="228355" name="Rectangle 3"/>
          <p:cNvSpPr>
            <a:spLocks noGrp="1" noChangeArrowheads="1"/>
          </p:cNvSpPr>
          <p:nvPr>
            <p:ph idx="1"/>
          </p:nvPr>
        </p:nvSpPr>
        <p:spPr>
          <a:xfrm>
            <a:off x="914400" y="1447800"/>
            <a:ext cx="75438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对于指令序列</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9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ST      a  ,  R0</a:t>
            </a:r>
            <a:endParaRPr kumimoji="0" lang="zh-CN" altLang="en-GB"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如果这两个指令在同一个基本块内，可以考虑删除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指令</a:t>
            </a:r>
            <a:endParaRPr kumimoji="0" lang="zh-CN" altLang="en-GB"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如果不在同一个基本块内，如</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指令之前有标号，则简单地删除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指令可能带来问题</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此时，到达这个</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指令的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的值可能不仅来源于此例中的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LD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指令</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90000"/>
              </a:lnSpc>
              <a:spcBef>
                <a:spcPct val="20000"/>
              </a:spcBef>
              <a:spcAft>
                <a:spcPct val="0"/>
              </a:spcAft>
              <a:buClr>
                <a:srgbClr val="063DE8"/>
              </a:buClr>
              <a:buSzPct val="125000"/>
              <a:buFontTx/>
              <a:buNone/>
              <a:defRPr/>
            </a:pPr>
            <a:endParaRPr kumimoji="0" lang="zh-CN" altLang="en-GB"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消除不可达代码</a:t>
            </a:r>
            <a:endParaRPr lang="zh-CN" altLang="en-US" dirty="0">
              <a:latin typeface="Times New Roman" panose="02020603050405020304" pitchFamily="18" charset="0"/>
              <a:ea typeface="宋体" panose="02010600030101010101" pitchFamily="2" charset="-122"/>
            </a:endParaRPr>
          </a:p>
        </p:txBody>
      </p:sp>
      <p:sp>
        <p:nvSpPr>
          <p:cNvPr id="339971" name="Rectangle 3"/>
          <p:cNvSpPr>
            <a:spLocks noGrp="1"/>
          </p:cNvSpPr>
          <p:nvPr>
            <p:ph idx="1"/>
          </p:nvPr>
        </p:nvSpPr>
        <p:spPr>
          <a:xfrm>
            <a:off x="827088" y="1371600"/>
            <a:ext cx="7631112" cy="4800600"/>
          </a:xfrm>
        </p:spPr>
        <p:txBody>
          <a:bodyPr vert="horz" wrap="square" lIns="92075" tIns="46038" rIns="92075" bIns="46038" anchor="t" anchorCtr="0"/>
          <a:p>
            <a:pPr>
              <a:lnSpc>
                <a:spcPct val="90000"/>
              </a:lnSpc>
            </a:pPr>
            <a:r>
              <a:rPr lang="zh-CN" altLang="en-US" sz="2200" b="1" dirty="0">
                <a:ea typeface="宋体" panose="02010600030101010101" pitchFamily="2" charset="-122"/>
              </a:rPr>
              <a:t>一个紧跟在无条件跳转之后的不带标号的指令可以被删除</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重复上述操作，可能会删除一个指令序列</a:t>
            </a:r>
            <a:endParaRPr lang="zh-CN" altLang="en-GB" sz="2000" b="1" dirty="0">
              <a:ea typeface="宋体" panose="02010600030101010101" pitchFamily="2" charset="-122"/>
            </a:endParaRPr>
          </a:p>
          <a:p>
            <a:pPr lvl="1">
              <a:lnSpc>
                <a:spcPct val="90000"/>
              </a:lnSpc>
            </a:pPr>
            <a:r>
              <a:rPr lang="zh-CN" altLang="en-US" sz="2000" b="1" dirty="0">
                <a:ea typeface="宋体" panose="02010600030101010101" pitchFamily="2" charset="-122"/>
              </a:rPr>
              <a:t>可以做控制流图，将图上的不可达结点都删掉</a:t>
            </a:r>
            <a:endParaRPr lang="en-US" altLang="zh-CN" sz="2000" b="1" dirty="0">
              <a:ea typeface="宋体" panose="02010600030101010101" pitchFamily="2" charset="-122"/>
            </a:endParaRPr>
          </a:p>
          <a:p>
            <a:pPr>
              <a:lnSpc>
                <a:spcPct val="90000"/>
              </a:lnSpc>
            </a:pPr>
            <a:r>
              <a:rPr lang="zh-CN" altLang="en-US" sz="2200" b="1" dirty="0">
                <a:ea typeface="宋体" panose="02010600030101010101" pitchFamily="2" charset="-122"/>
              </a:rPr>
              <a:t>例子：对用于调试的代码的优化处理</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调试代码（如设置</a:t>
            </a:r>
            <a:r>
              <a:rPr lang="en-US" altLang="zh-CN" sz="2000" b="1" dirty="0">
                <a:ea typeface="宋体" panose="02010600030101010101" pitchFamily="2" charset="-122"/>
              </a:rPr>
              <a:t>debug</a:t>
            </a:r>
            <a:r>
              <a:rPr lang="zh-CN" altLang="en-US" sz="2000" b="1" dirty="0">
                <a:ea typeface="宋体" panose="02010600030101010101" pitchFamily="2" charset="-122"/>
              </a:rPr>
              <a:t>值为</a:t>
            </a:r>
            <a:r>
              <a:rPr lang="en-US" altLang="zh-CN" sz="2000" b="1" dirty="0">
                <a:ea typeface="宋体" panose="02010600030101010101" pitchFamily="2" charset="-122"/>
              </a:rPr>
              <a:t>1</a:t>
            </a:r>
            <a:r>
              <a:rPr lang="zh-CN" altLang="en-US" sz="2000" b="1" dirty="0">
                <a:ea typeface="宋体" panose="02010600030101010101" pitchFamily="2" charset="-122"/>
              </a:rPr>
              <a:t>时才执行）</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debug == 1 goto L1</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print debugging information</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L2:</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消除级联跳转指令，上述代码变为：</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debug != 1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print debugging information</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L2:</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如果在程序开始时，</a:t>
            </a:r>
            <a:r>
              <a:rPr lang="en-US" altLang="zh-CN" sz="2000" b="1" dirty="0">
                <a:ea typeface="宋体" panose="02010600030101010101" pitchFamily="2" charset="-122"/>
              </a:rPr>
              <a:t>debug</a:t>
            </a:r>
            <a:r>
              <a:rPr lang="zh-CN" altLang="en-US" sz="2000" b="1" dirty="0">
                <a:ea typeface="宋体" panose="02010600030101010101" pitchFamily="2" charset="-122"/>
              </a:rPr>
              <a:t>被置为</a:t>
            </a:r>
            <a:r>
              <a:rPr lang="en-US" altLang="zh-CN" sz="2000" b="1" dirty="0">
                <a:ea typeface="宋体" panose="02010600030101010101" pitchFamily="2" charset="-122"/>
              </a:rPr>
              <a:t>0</a:t>
            </a:r>
            <a:r>
              <a:rPr lang="zh-CN" altLang="en-US" sz="2000" b="1" dirty="0">
                <a:ea typeface="宋体" panose="02010600030101010101" pitchFamily="2" charset="-122"/>
              </a:rPr>
              <a:t>，在下述第一条指令被替换为</a:t>
            </a:r>
            <a:r>
              <a:rPr lang="en-US" altLang="zh-CN" sz="2000" b="1" dirty="0">
                <a:ea typeface="宋体" panose="02010600030101010101" pitchFamily="2" charset="-122"/>
              </a:rPr>
              <a:t>goto</a:t>
            </a:r>
            <a:r>
              <a:rPr lang="zh-CN" altLang="en-US" sz="2000" b="1" dirty="0">
                <a:ea typeface="宋体" panose="02010600030101010101" pitchFamily="2" charset="-122"/>
              </a:rPr>
              <a:t> </a:t>
            </a:r>
            <a:r>
              <a:rPr lang="en-US" altLang="zh-CN" sz="2000" b="1" dirty="0">
                <a:ea typeface="宋体" panose="02010600030101010101" pitchFamily="2" charset="-122"/>
              </a:rPr>
              <a:t>L2</a:t>
            </a:r>
            <a:r>
              <a:rPr lang="zh-CN" altLang="en-US" sz="2000" b="1" dirty="0">
                <a:ea typeface="宋体" panose="02010600030101010101" pitchFamily="2" charset="-122"/>
              </a:rPr>
              <a:t>，而打印语句不可达，被消除</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0 != 1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print debugging information</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L2:</a:t>
            </a:r>
            <a:endParaRPr lang="en-US" altLang="zh-CN" sz="1800" b="1" dirty="0">
              <a:ea typeface="宋体" panose="02010600030101010101" pitchFamily="2" charset="-122"/>
            </a:endParaRPr>
          </a:p>
        </p:txBody>
      </p:sp>
    </p:spTree>
  </p:cSld>
  <p:clrMapOvr>
    <a:masterClrMapping/>
  </p:clrMapOvr>
  <p:transition spd="slow"/>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控制流优化（</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42019"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zh-CN" altLang="en-US" sz="2200" b="1" dirty="0">
                <a:ea typeface="宋体" panose="02010600030101010101" pitchFamily="2" charset="-122"/>
              </a:rPr>
              <a:t>简单代码生成可能生成连续跳转指令，如</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目标为无条件跳转指令的无条件跳转指令</a:t>
            </a:r>
            <a:endParaRPr lang="zh-CN" altLang="en-GB" sz="2000" b="1" dirty="0">
              <a:ea typeface="宋体" panose="02010600030101010101" pitchFamily="2" charset="-122"/>
            </a:endParaRPr>
          </a:p>
          <a:p>
            <a:pPr lvl="1">
              <a:lnSpc>
                <a:spcPct val="90000"/>
              </a:lnSpc>
            </a:pPr>
            <a:r>
              <a:rPr lang="zh-CN" altLang="en-US" sz="2000" b="1" dirty="0">
                <a:ea typeface="宋体" panose="02010600030101010101" pitchFamily="2" charset="-122"/>
              </a:rPr>
              <a:t>到达条件跳转指令的无条件跳转指令</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到达无条件跳转指令的条件跳转指令</a:t>
            </a:r>
            <a:endParaRPr lang="en-US" altLang="zh-CN" sz="2000" b="1" dirty="0">
              <a:ea typeface="宋体" panose="02010600030101010101" pitchFamily="2" charset="-122"/>
            </a:endParaRPr>
          </a:p>
          <a:p>
            <a:pPr>
              <a:lnSpc>
                <a:spcPct val="90000"/>
              </a:lnSpc>
            </a:pPr>
            <a:r>
              <a:rPr lang="zh-CN" altLang="en-US" sz="2200" b="1" dirty="0">
                <a:ea typeface="宋体" panose="02010600030101010101" pitchFamily="2" charset="-122"/>
              </a:rPr>
              <a:t>连续的无条件跳转优化</a:t>
            </a:r>
            <a:endParaRPr lang="en-US" altLang="zh-CN" sz="2200" b="1" dirty="0">
              <a:ea typeface="宋体" panose="02010600030101010101" pitchFamily="2" charset="-122"/>
            </a:endParaRPr>
          </a:p>
          <a:p>
            <a:pPr lvl="1">
              <a:lnSpc>
                <a:spcPct val="90000"/>
              </a:lnSpc>
            </a:pPr>
            <a:r>
              <a:rPr lang="zh-CN" altLang="en-US" sz="2000" b="1" dirty="0">
                <a:ea typeface="宋体" panose="02010600030101010101" pitchFamily="2" charset="-122"/>
              </a:rPr>
              <a:t>把序列</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goto L1</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goto L2</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替换为</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goto L2</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此时，如果没有跳转到</a:t>
            </a:r>
            <a:r>
              <a:rPr lang="en-US" altLang="zh-CN" sz="2000" b="1" dirty="0">
                <a:ea typeface="宋体" panose="02010600030101010101" pitchFamily="2" charset="-122"/>
              </a:rPr>
              <a:t>L1</a:t>
            </a:r>
            <a:r>
              <a:rPr lang="zh-CN" altLang="en-US" sz="2000" b="1" dirty="0">
                <a:ea typeface="宋体" panose="02010600030101010101" pitchFamily="2" charset="-122"/>
              </a:rPr>
              <a:t>的指令，且语句</a:t>
            </a:r>
            <a:r>
              <a:rPr lang="en-US" altLang="zh-CN" sz="2000" b="1" dirty="0">
                <a:ea typeface="宋体" panose="02010600030101010101" pitchFamily="2" charset="-122"/>
              </a:rPr>
              <a:t>L1</a:t>
            </a:r>
            <a:r>
              <a:rPr lang="zh-CN" altLang="en-US" sz="2000" b="1" dirty="0">
                <a:ea typeface="宋体" panose="02010600030101010101" pitchFamily="2" charset="-122"/>
              </a:rPr>
              <a:t>：</a:t>
            </a:r>
            <a:r>
              <a:rPr lang="en-US" altLang="zh-CN" sz="2000" b="1" dirty="0">
                <a:ea typeface="宋体" panose="02010600030101010101" pitchFamily="2" charset="-122"/>
              </a:rPr>
              <a:t>goto</a:t>
            </a:r>
            <a:r>
              <a:rPr lang="zh-CN" altLang="en-US" sz="2000" b="1" dirty="0">
                <a:ea typeface="宋体" panose="02010600030101010101" pitchFamily="2" charset="-122"/>
              </a:rPr>
              <a:t> </a:t>
            </a:r>
            <a:r>
              <a:rPr lang="en-US" altLang="zh-CN" sz="2000" b="1" dirty="0">
                <a:ea typeface="宋体" panose="02010600030101010101" pitchFamily="2" charset="-122"/>
              </a:rPr>
              <a:t>L2</a:t>
            </a:r>
            <a:r>
              <a:rPr lang="zh-CN" altLang="en-US" sz="2000" b="1" dirty="0">
                <a:ea typeface="宋体" panose="02010600030101010101" pitchFamily="2" charset="-122"/>
              </a:rPr>
              <a:t>之前是无条件跳转指令，则这个指令可以消除</a:t>
            </a:r>
            <a:endParaRPr lang="en-US" altLang="zh-CN" sz="2000" b="1" dirty="0">
              <a:ea typeface="宋体" panose="02010600030101010101" pitchFamily="2" charset="-122"/>
            </a:endParaRPr>
          </a:p>
        </p:txBody>
      </p:sp>
    </p:spTree>
  </p:cSld>
  <p:clrMapOvr>
    <a:masterClrMapping/>
  </p:clrMapOvr>
  <p:transition spd="slow"/>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控制流优化（</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44067" name="Rectangle 3"/>
          <p:cNvSpPr>
            <a:spLocks noGrp="1"/>
          </p:cNvSpPr>
          <p:nvPr>
            <p:ph idx="1"/>
          </p:nvPr>
        </p:nvSpPr>
        <p:spPr>
          <a:xfrm>
            <a:off x="684213" y="1371600"/>
            <a:ext cx="8064500" cy="4800600"/>
          </a:xfrm>
        </p:spPr>
        <p:txBody>
          <a:bodyPr vert="horz" wrap="square" lIns="92075" tIns="46038" rIns="92075" bIns="46038" anchor="t" anchorCtr="0"/>
          <a:p>
            <a:pPr>
              <a:lnSpc>
                <a:spcPct val="90000"/>
              </a:lnSpc>
            </a:pPr>
            <a:r>
              <a:rPr lang="zh-CN" altLang="en-US" sz="2200" b="1" dirty="0">
                <a:ea typeface="宋体" panose="02010600030101010101" pitchFamily="2" charset="-122"/>
              </a:rPr>
              <a:t>到达无条件跳转指令的条件跳转指令</a:t>
            </a:r>
            <a:endParaRPr lang="en-US" altLang="zh-CN" sz="22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a &lt; b  goto L1</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goto L2</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替换为</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a &lt; b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goto L2</a:t>
            </a:r>
            <a:endParaRPr lang="en-US" altLang="zh-CN" sz="1800" b="1" dirty="0">
              <a:ea typeface="宋体" panose="02010600030101010101" pitchFamily="2" charset="-122"/>
            </a:endParaRPr>
          </a:p>
          <a:p>
            <a:pPr>
              <a:lnSpc>
                <a:spcPct val="90000"/>
              </a:lnSpc>
            </a:pPr>
            <a:r>
              <a:rPr lang="zh-CN" altLang="en-US" sz="2200" b="1" dirty="0">
                <a:ea typeface="宋体" panose="02010600030101010101" pitchFamily="2" charset="-122"/>
              </a:rPr>
              <a:t>若仅有一个到达</a:t>
            </a:r>
            <a:r>
              <a:rPr lang="en-US" altLang="zh-CN" sz="2200" b="1" dirty="0">
                <a:ea typeface="宋体" panose="02010600030101010101" pitchFamily="2" charset="-122"/>
              </a:rPr>
              <a:t>L1</a:t>
            </a:r>
            <a:r>
              <a:rPr lang="zh-CN" altLang="en-US" sz="2200" b="1" dirty="0">
                <a:ea typeface="宋体" panose="02010600030101010101" pitchFamily="2" charset="-122"/>
              </a:rPr>
              <a:t>的跳转指令，且</a:t>
            </a:r>
            <a:r>
              <a:rPr lang="en-US" altLang="zh-CN" sz="2200" b="1" dirty="0">
                <a:ea typeface="宋体" panose="02010600030101010101" pitchFamily="2" charset="-122"/>
              </a:rPr>
              <a:t>L1</a:t>
            </a:r>
            <a:r>
              <a:rPr lang="zh-CN" altLang="en-US" sz="2200" b="1" dirty="0">
                <a:ea typeface="宋体" panose="02010600030101010101" pitchFamily="2" charset="-122"/>
              </a:rPr>
              <a:t>之前是无条件跳转指令</a:t>
            </a:r>
            <a:endParaRPr lang="en-US" altLang="zh-CN" sz="22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goto L1</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L1: 	 if</a:t>
            </a:r>
            <a:r>
              <a:rPr lang="zh-CN" altLang="en-US" sz="1800" b="1" dirty="0">
                <a:ea typeface="宋体" panose="02010600030101010101" pitchFamily="2" charset="-122"/>
              </a:rPr>
              <a:t>  </a:t>
            </a:r>
            <a:r>
              <a:rPr lang="en-US" altLang="zh-CN" sz="1800" b="1" dirty="0">
                <a:ea typeface="宋体" panose="02010600030101010101" pitchFamily="2" charset="-122"/>
              </a:rPr>
              <a:t>a &lt; b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L3</a:t>
            </a:r>
            <a:r>
              <a:rPr lang="zh-CN" altLang="en-US" sz="1800" b="1" dirty="0">
                <a:ea typeface="宋体" panose="02010600030101010101" pitchFamily="2" charset="-122"/>
              </a:rPr>
              <a:t>：</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替换为</a:t>
            </a:r>
            <a:endParaRPr lang="en-US" altLang="zh-CN" sz="20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if</a:t>
            </a:r>
            <a:r>
              <a:rPr lang="zh-CN" altLang="en-US" sz="1800" b="1" dirty="0">
                <a:ea typeface="宋体" panose="02010600030101010101" pitchFamily="2" charset="-122"/>
              </a:rPr>
              <a:t>  </a:t>
            </a:r>
            <a:r>
              <a:rPr lang="en-US" altLang="zh-CN" sz="1800" b="1" dirty="0">
                <a:ea typeface="宋体" panose="02010600030101010101" pitchFamily="2" charset="-122"/>
              </a:rPr>
              <a:t>a &lt; b goto L2</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goto</a:t>
            </a:r>
            <a:r>
              <a:rPr lang="zh-CN" altLang="en-US" sz="1800" b="1" dirty="0">
                <a:ea typeface="宋体" panose="02010600030101010101" pitchFamily="2" charset="-122"/>
              </a:rPr>
              <a:t> </a:t>
            </a:r>
            <a:r>
              <a:rPr lang="en-US" altLang="zh-CN" sz="1800" b="1" dirty="0">
                <a:ea typeface="宋体" panose="02010600030101010101" pitchFamily="2" charset="-122"/>
              </a:rPr>
              <a:t>L3</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	…</a:t>
            </a:r>
            <a:endParaRPr lang="en-US" altLang="zh-CN" sz="1800" b="1" dirty="0">
              <a:ea typeface="宋体" panose="02010600030101010101" pitchFamily="2" charset="-122"/>
            </a:endParaRPr>
          </a:p>
          <a:p>
            <a:pPr marL="914400" lvl="2" indent="0">
              <a:lnSpc>
                <a:spcPct val="90000"/>
              </a:lnSpc>
              <a:spcBef>
                <a:spcPct val="0"/>
              </a:spcBef>
              <a:buNone/>
            </a:pPr>
            <a:r>
              <a:rPr lang="en-US" altLang="zh-CN" sz="1800" b="1" dirty="0">
                <a:ea typeface="宋体" panose="02010600030101010101" pitchFamily="2" charset="-122"/>
              </a:rPr>
              <a:t>L3:</a:t>
            </a:r>
            <a:endParaRPr lang="en-US" altLang="zh-CN" sz="1800" b="1" dirty="0">
              <a:ea typeface="宋体" panose="02010600030101010101" pitchFamily="2" charset="-122"/>
            </a:endParaRPr>
          </a:p>
          <a:p>
            <a:pPr lvl="1">
              <a:lnSpc>
                <a:spcPct val="90000"/>
              </a:lnSpc>
            </a:pPr>
            <a:r>
              <a:rPr lang="zh-CN" altLang="en-US" sz="2000" b="1" dirty="0">
                <a:ea typeface="宋体" panose="02010600030101010101" pitchFamily="2" charset="-122"/>
              </a:rPr>
              <a:t>第二个序列可能可以避免执行</a:t>
            </a:r>
            <a:r>
              <a:rPr lang="en-US" altLang="zh-CN" sz="2000" b="1" dirty="0">
                <a:ea typeface="宋体" panose="02010600030101010101" pitchFamily="2" charset="-122"/>
              </a:rPr>
              <a:t>goto</a:t>
            </a:r>
            <a:r>
              <a:rPr lang="zh-CN" altLang="en-US" sz="2000" b="1" dirty="0">
                <a:ea typeface="宋体" panose="02010600030101010101" pitchFamily="2" charset="-122"/>
              </a:rPr>
              <a:t> </a:t>
            </a:r>
            <a:r>
              <a:rPr lang="en-US" altLang="zh-CN" sz="2000" b="1" dirty="0">
                <a:ea typeface="宋体" panose="02010600030101010101" pitchFamily="2" charset="-122"/>
              </a:rPr>
              <a:t>L3</a:t>
            </a:r>
            <a:r>
              <a:rPr lang="zh-CN" altLang="en-US" sz="2000" b="1" dirty="0">
                <a:ea typeface="宋体" panose="02010600030101010101" pitchFamily="2" charset="-122"/>
              </a:rPr>
              <a:t>，执行时间可能更优</a:t>
            </a:r>
            <a:endParaRPr lang="en-US" altLang="zh-CN" sz="2000" b="1" dirty="0">
              <a:ea typeface="宋体" panose="02010600030101010101" pitchFamily="2" charset="-122"/>
            </a:endParaRPr>
          </a:p>
        </p:txBody>
      </p:sp>
    </p:spTree>
  </p:cSld>
  <p:clrMapOvr>
    <a:masterClrMapping/>
  </p:clrMapOvr>
  <p:transition spd="slow"/>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1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代数化简和强度消减</a:t>
            </a:r>
            <a:endParaRPr lang="zh-CN" altLang="en-US" dirty="0">
              <a:latin typeface="Times New Roman" panose="02020603050405020304" pitchFamily="18" charset="0"/>
              <a:ea typeface="宋体" panose="02010600030101010101" pitchFamily="2" charset="-122"/>
            </a:endParaRPr>
          </a:p>
        </p:txBody>
      </p:sp>
      <p:sp>
        <p:nvSpPr>
          <p:cNvPr id="346115"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en-US" altLang="zh-CN" sz="2400" b="1" dirty="0">
                <a:ea typeface="宋体" panose="02010600030101010101" pitchFamily="2" charset="-122"/>
              </a:rPr>
              <a:t>8.5</a:t>
            </a:r>
            <a:r>
              <a:rPr lang="zh-CN" altLang="en-US" sz="2400" b="1" dirty="0">
                <a:ea typeface="宋体" panose="02010600030101010101" pitchFamily="2" charset="-122"/>
              </a:rPr>
              <a:t>节中的代数恒等式（</a:t>
            </a:r>
            <a:r>
              <a:rPr lang="en-US" altLang="zh-CN" sz="2400" b="1" dirty="0">
                <a:ea typeface="宋体" panose="02010600030101010101" pitchFamily="2" charset="-122"/>
              </a:rPr>
              <a:t>PPT</a:t>
            </a:r>
            <a:r>
              <a:rPr lang="zh-CN" altLang="en-US" sz="2400" b="1" dirty="0">
                <a:ea typeface="宋体" panose="02010600030101010101" pitchFamily="2" charset="-122"/>
              </a:rPr>
              <a:t>的</a:t>
            </a:r>
            <a:r>
              <a:rPr lang="en-US" altLang="zh-CN" sz="2400" b="1" dirty="0">
                <a:ea typeface="宋体" panose="02010600030101010101" pitchFamily="2" charset="-122"/>
              </a:rPr>
              <a:t>57~59</a:t>
            </a:r>
            <a:r>
              <a:rPr lang="zh-CN" altLang="en-US" sz="2400" b="1" dirty="0">
                <a:ea typeface="宋体" panose="02010600030101010101" pitchFamily="2" charset="-122"/>
              </a:rPr>
              <a:t>页）可用于窥孔优化</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消除类似于</a:t>
            </a:r>
            <a:r>
              <a:rPr lang="en-US" altLang="zh-CN" sz="2200" b="1" dirty="0">
                <a:ea typeface="宋体" panose="02010600030101010101" pitchFamily="2" charset="-122"/>
              </a:rPr>
              <a:t>x</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x</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0</a:t>
            </a:r>
            <a:r>
              <a:rPr lang="zh-CN" altLang="en-US" sz="2200" b="1" dirty="0">
                <a:ea typeface="宋体" panose="02010600030101010101" pitchFamily="2" charset="-122"/>
              </a:rPr>
              <a:t>或</a:t>
            </a:r>
            <a:r>
              <a:rPr lang="en-US" altLang="zh-CN" sz="2200" b="1" dirty="0">
                <a:ea typeface="宋体" panose="02010600030101010101" pitchFamily="2" charset="-122"/>
              </a:rPr>
              <a:t>x</a:t>
            </a:r>
            <a:r>
              <a:rPr lang="zh-CN" altLang="en-US" sz="2200" b="1" dirty="0">
                <a:ea typeface="宋体" panose="02010600030101010101" pitchFamily="2" charset="-122"/>
              </a:rPr>
              <a:t> </a:t>
            </a:r>
            <a:r>
              <a:rPr lang="en-US" altLang="zh-CN" sz="2200" b="1" dirty="0">
                <a:ea typeface="宋体" panose="02010600030101010101" pitchFamily="2" charset="-122"/>
              </a:rPr>
              <a:t>=</a:t>
            </a:r>
            <a:r>
              <a:rPr lang="zh-CN" altLang="en-US" sz="2200" b="1" dirty="0">
                <a:ea typeface="宋体" panose="02010600030101010101" pitchFamily="2" charset="-122"/>
              </a:rPr>
              <a:t> </a:t>
            </a:r>
            <a:r>
              <a:rPr lang="en-US" altLang="zh-CN" sz="2200" b="1" dirty="0">
                <a:ea typeface="宋体" panose="02010600030101010101" pitchFamily="2" charset="-122"/>
              </a:rPr>
              <a:t>x</a:t>
            </a:r>
            <a:r>
              <a:rPr lang="zh-CN" altLang="en-US" sz="2200" b="1" dirty="0">
                <a:ea typeface="宋体" panose="02010600030101010101" pitchFamily="2" charset="-122"/>
              </a:rPr>
              <a:t> * </a:t>
            </a:r>
            <a:r>
              <a:rPr lang="en-US" altLang="zh-CN" sz="2200" b="1" dirty="0">
                <a:ea typeface="宋体" panose="02010600030101010101" pitchFamily="2" charset="-122"/>
              </a:rPr>
              <a:t>1</a:t>
            </a:r>
            <a:r>
              <a:rPr lang="zh-CN" altLang="en-US" sz="2200" b="1" dirty="0">
                <a:ea typeface="宋体" panose="02010600030101010101" pitchFamily="2" charset="-122"/>
              </a:rPr>
              <a:t>之类的指令</a:t>
            </a:r>
            <a:endParaRPr lang="zh-CN" altLang="en-GB" sz="2200" b="1" dirty="0">
              <a:ea typeface="宋体" panose="02010600030101010101" pitchFamily="2" charset="-122"/>
            </a:endParaRPr>
          </a:p>
          <a:p>
            <a:pPr>
              <a:lnSpc>
                <a:spcPct val="90000"/>
              </a:lnSpc>
            </a:pPr>
            <a:r>
              <a:rPr lang="zh-CN" altLang="en-US" sz="2400" b="1" dirty="0">
                <a:ea typeface="宋体" panose="02010600030101010101" pitchFamily="2" charset="-122"/>
              </a:rPr>
              <a:t>强度消减</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将乘幂运算用乘法替代</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将乘数（除数）为</a:t>
            </a:r>
            <a:r>
              <a:rPr lang="en-US" altLang="zh-CN" sz="2200" b="1" dirty="0">
                <a:ea typeface="宋体" panose="02010600030101010101" pitchFamily="2" charset="-122"/>
              </a:rPr>
              <a:t>2</a:t>
            </a:r>
            <a:r>
              <a:rPr lang="zh-CN" altLang="en-US" sz="2200" b="1" dirty="0">
                <a:ea typeface="宋体" panose="02010600030101010101" pitchFamily="2" charset="-122"/>
              </a:rPr>
              <a:t>的幂的定点数乘法（除法）转换为等价的移位操作</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除数为常数的浮点除法可以通过乘数为该常量倒数的乘法来求近似值</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对精度敏感的应用，这个优化要谨慎</a:t>
            </a:r>
            <a:endParaRPr lang="en-US" altLang="zh-CN" sz="2000" b="1" dirty="0">
              <a:ea typeface="宋体" panose="02010600030101010101" pitchFamily="2" charset="-122"/>
            </a:endParaRPr>
          </a:p>
          <a:p>
            <a:pPr>
              <a:lnSpc>
                <a:spcPct val="90000"/>
              </a:lnSpc>
            </a:pPr>
            <a:r>
              <a:rPr lang="zh-CN" altLang="en-US" sz="2400" b="1" dirty="0">
                <a:ea typeface="宋体" panose="02010600030101010101" pitchFamily="2" charset="-122"/>
              </a:rPr>
              <a:t>这类优化可能导致代码规模变大，因此对于嵌入式应用等存储资源非常稀缺的场景，要慎重</a:t>
            </a:r>
            <a:endParaRPr lang="en-US" altLang="zh-CN" sz="2400" b="1" dirty="0">
              <a:ea typeface="宋体" panose="02010600030101010101" pitchFamily="2" charset="-122"/>
            </a:endParaRPr>
          </a:p>
        </p:txBody>
      </p:sp>
    </p:spTree>
  </p:cSld>
  <p:clrMapOvr>
    <a:masterClrMapping/>
  </p:clrMapOvr>
  <p:transition spd="slow"/>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使用机器特有的指令</a:t>
            </a:r>
            <a:endParaRPr lang="zh-CN" altLang="en-US" dirty="0">
              <a:latin typeface="Times New Roman" panose="02020603050405020304" pitchFamily="18" charset="0"/>
              <a:ea typeface="宋体" panose="02010600030101010101" pitchFamily="2" charset="-122"/>
            </a:endParaRPr>
          </a:p>
        </p:txBody>
      </p:sp>
      <p:sp>
        <p:nvSpPr>
          <p:cNvPr id="348163"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有效利用机器特有的指令可以显著降低执行时间</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有的机器具有自动增量和自动减量的寻址方式，可显著提高连续访存的效率（如参数的连续压栈或出栈）</a:t>
            </a:r>
            <a:endParaRPr lang="zh-CN" altLang="en-GB" sz="2200" b="1" dirty="0">
              <a:ea typeface="宋体" panose="02010600030101010101" pitchFamily="2" charset="-122"/>
            </a:endParaRPr>
          </a:p>
          <a:p>
            <a:pPr lvl="1">
              <a:lnSpc>
                <a:spcPct val="90000"/>
              </a:lnSpc>
            </a:pPr>
            <a:r>
              <a:rPr lang="en-US" altLang="zh-CN" sz="2200" b="1" dirty="0">
                <a:ea typeface="宋体" panose="02010600030101010101" pitchFamily="2" charset="-122"/>
              </a:rPr>
              <a:t>X86</a:t>
            </a:r>
            <a:r>
              <a:rPr lang="zh-CN" altLang="en-US" sz="2200" b="1" dirty="0">
                <a:ea typeface="宋体" panose="02010600030101010101" pitchFamily="2" charset="-122"/>
              </a:rPr>
              <a:t>的</a:t>
            </a:r>
            <a:r>
              <a:rPr lang="en-US" altLang="zh-CN" sz="2200" b="1" dirty="0">
                <a:ea typeface="宋体" panose="02010600030101010101" pitchFamily="2" charset="-122"/>
              </a:rPr>
              <a:t>INC</a:t>
            </a:r>
            <a:r>
              <a:rPr lang="zh-CN" altLang="en-US" sz="2200" b="1" dirty="0">
                <a:ea typeface="宋体" panose="02010600030101010101" pitchFamily="2" charset="-122"/>
              </a:rPr>
              <a:t>指令</a:t>
            </a:r>
            <a:endParaRPr lang="en-US" altLang="zh-CN" sz="2200" b="1" dirty="0">
              <a:ea typeface="宋体" panose="02010600030101010101" pitchFamily="2" charset="-122"/>
            </a:endParaRPr>
          </a:p>
          <a:p>
            <a:pPr lvl="1">
              <a:lnSpc>
                <a:spcPct val="90000"/>
              </a:lnSpc>
            </a:pPr>
            <a:r>
              <a:rPr lang="en-US" altLang="zh-CN" sz="2200" b="1" dirty="0">
                <a:ea typeface="宋体" panose="02010600030101010101" pitchFamily="2" charset="-122"/>
              </a:rPr>
              <a:t>MIPS</a:t>
            </a:r>
            <a:r>
              <a:rPr lang="zh-CN" altLang="en-US" sz="2200" b="1" dirty="0">
                <a:ea typeface="宋体" panose="02010600030101010101" pitchFamily="2" charset="-122"/>
              </a:rPr>
              <a:t>的平方根指令等</a:t>
            </a:r>
            <a:endParaRPr lang="en-US" altLang="zh-CN" sz="2200" b="1" dirty="0">
              <a:ea typeface="宋体" panose="02010600030101010101" pitchFamily="2" charset="-122"/>
            </a:endParaRPr>
          </a:p>
          <a:p>
            <a:pPr>
              <a:lnSpc>
                <a:spcPct val="90000"/>
              </a:lnSpc>
            </a:pPr>
            <a:r>
              <a:rPr lang="zh-CN" altLang="en-US" sz="2400" b="1" dirty="0">
                <a:ea typeface="宋体" panose="02010600030101010101" pitchFamily="2" charset="-122"/>
              </a:rPr>
              <a:t>窥孔优化阶段对特有指令的发掘使用受限于优化器“看到的”指令条数，能做的优化是简单的</a:t>
            </a:r>
            <a:endParaRPr lang="en-US" altLang="zh-CN" sz="2400" b="1" dirty="0">
              <a:ea typeface="宋体" panose="02010600030101010101" pitchFamily="2" charset="-122"/>
            </a:endParaRPr>
          </a:p>
          <a:p>
            <a:pPr lvl="1">
              <a:lnSpc>
                <a:spcPct val="90000"/>
              </a:lnSpc>
            </a:pPr>
            <a:r>
              <a:rPr lang="en-US" altLang="zh-CN" sz="2200" b="1" dirty="0">
                <a:ea typeface="宋体" panose="02010600030101010101" pitchFamily="2" charset="-122"/>
              </a:rPr>
              <a:t>SIMD</a:t>
            </a:r>
            <a:r>
              <a:rPr lang="zh-CN" altLang="en-US" sz="2200" b="1" dirty="0">
                <a:ea typeface="宋体" panose="02010600030101010101" pitchFamily="2" charset="-122"/>
              </a:rPr>
              <a:t>部件的充分利用在窥孔优化阶段就难以取得好的效果</a:t>
            </a:r>
            <a:endParaRPr lang="en-US" altLang="zh-CN" sz="2200" b="1" dirty="0">
              <a:ea typeface="宋体" panose="02010600030101010101" pitchFamily="2" charset="-122"/>
            </a:endParaRPr>
          </a:p>
        </p:txBody>
      </p:sp>
    </p:spTree>
  </p:cSld>
  <p:clrMapOvr>
    <a:masterClrMapping/>
  </p:clrMapOvr>
  <p:transition spd="slow"/>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02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350211"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跨越基本块的优化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一个简单的代码生成器</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窥孔优化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寄存器分配和指派</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通过树重写来选择指令</a:t>
            </a:r>
            <a:endParaRPr lang="en-US" altLang="zh-CN" sz="2400" b="1" dirty="0">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22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寄存器分配和指派</a:t>
            </a:r>
            <a:endParaRPr lang="zh-CN" altLang="en-US" dirty="0">
              <a:latin typeface="Times New Roman" panose="02020603050405020304" pitchFamily="18" charset="0"/>
              <a:ea typeface="宋体" panose="02010600030101010101" pitchFamily="2" charset="-122"/>
            </a:endParaRPr>
          </a:p>
        </p:txBody>
      </p:sp>
      <p:sp>
        <p:nvSpPr>
          <p:cNvPr id="352259" name="Rectangle 3"/>
          <p:cNvSpPr>
            <a:spLocks noGrp="1"/>
          </p:cNvSpPr>
          <p:nvPr>
            <p:ph idx="1"/>
          </p:nvPr>
        </p:nvSpPr>
        <p:spPr>
          <a:xfrm>
            <a:off x="914400" y="1484313"/>
            <a:ext cx="7543800" cy="4687887"/>
          </a:xfrm>
        </p:spPr>
        <p:txBody>
          <a:bodyPr vert="horz" wrap="square" lIns="92075" tIns="46038" rIns="92075" bIns="46038" anchor="t" anchorCtr="0"/>
          <a:p>
            <a:pPr>
              <a:lnSpc>
                <a:spcPct val="90000"/>
              </a:lnSpc>
            </a:pPr>
            <a:r>
              <a:rPr lang="zh-CN" altLang="en-GB" sz="2400" b="1" dirty="0">
                <a:ea typeface="宋体" panose="02010600030101010101" pitchFamily="2" charset="-122"/>
              </a:rPr>
              <a:t>决定程序中哪些变量的值应该存放在寄存器中</a:t>
            </a:r>
            <a:endParaRPr lang="zh-CN" altLang="en-GB" sz="2400" b="1" dirty="0">
              <a:ea typeface="宋体" panose="02010600030101010101" pitchFamily="2" charset="-122"/>
            </a:endParaRPr>
          </a:p>
          <a:p>
            <a:pPr lvl="1">
              <a:lnSpc>
                <a:spcPct val="90000"/>
              </a:lnSpc>
            </a:pPr>
            <a:r>
              <a:rPr lang="zh-CN" altLang="en-GB" sz="2200" b="1" dirty="0">
                <a:ea typeface="宋体" panose="02010600030101010101" pitchFamily="2" charset="-122"/>
              </a:rPr>
              <a:t>最重要的编译优化之一</a:t>
            </a:r>
            <a:r>
              <a:rPr lang="zh-CN" altLang="en-US" sz="2200" b="1" dirty="0">
                <a:ea typeface="宋体" panose="02010600030101010101" pitchFamily="2" charset="-122"/>
              </a:rPr>
              <a:t>，可有效</a:t>
            </a:r>
            <a:r>
              <a:rPr lang="zh-CN" altLang="en-GB" sz="2200" b="1" dirty="0">
                <a:ea typeface="宋体" panose="02010600030101010101" pitchFamily="2" charset="-122"/>
              </a:rPr>
              <a:t>减少访存</a:t>
            </a:r>
            <a:r>
              <a:rPr lang="zh-CN" altLang="en-US" sz="2200" b="1" dirty="0">
                <a:ea typeface="宋体" panose="02010600030101010101" pitchFamily="2" charset="-122"/>
              </a:rPr>
              <a:t>和复制</a:t>
            </a:r>
            <a:r>
              <a:rPr lang="zh-CN" altLang="en-GB" sz="2200" b="1" dirty="0">
                <a:ea typeface="宋体" panose="02010600030101010101" pitchFamily="2" charset="-122"/>
              </a:rPr>
              <a:t>操作</a:t>
            </a:r>
            <a:endParaRPr lang="zh-CN" altLang="en-US" sz="2200" b="1" dirty="0">
              <a:ea typeface="宋体" panose="02010600030101010101" pitchFamily="2" charset="-122"/>
            </a:endParaRPr>
          </a:p>
          <a:p>
            <a:pPr lvl="1">
              <a:lnSpc>
                <a:spcPct val="90000"/>
              </a:lnSpc>
            </a:pPr>
            <a:r>
              <a:rPr lang="zh-CN" altLang="en-GB" sz="2200" b="1" dirty="0">
                <a:ea typeface="宋体" panose="02010600030101010101" pitchFamily="2" charset="-122"/>
              </a:rPr>
              <a:t>访问寄存器和存储器的代价相差在一个数量级以上</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寄存器的</a:t>
            </a:r>
            <a:r>
              <a:rPr lang="zh-CN" altLang="en-GB" sz="2200" b="1" dirty="0">
                <a:ea typeface="宋体" panose="02010600030101010101" pitchFamily="2" charset="-122"/>
              </a:rPr>
              <a:t>数目虽已大为增加，但仍是十分稀缺的资源</a:t>
            </a:r>
            <a:endParaRPr lang="zh-CN" altLang="en-US" sz="2200" b="1" dirty="0">
              <a:ea typeface="宋体" panose="02010600030101010101" pitchFamily="2" charset="-122"/>
            </a:endParaRPr>
          </a:p>
          <a:p>
            <a:pPr>
              <a:lnSpc>
                <a:spcPct val="90000"/>
              </a:lnSpc>
            </a:pPr>
            <a:r>
              <a:rPr lang="zh-CN" altLang="en-GB" sz="2400" b="1" dirty="0">
                <a:ea typeface="宋体" panose="02010600030101010101" pitchFamily="2" charset="-122"/>
              </a:rPr>
              <a:t>许多优化的效果依赖寄存器分配的结果</a:t>
            </a:r>
            <a:r>
              <a:rPr lang="zh-CN" altLang="en-US" sz="2400" b="1" dirty="0">
                <a:ea typeface="宋体" panose="02010600030101010101" pitchFamily="2" charset="-122"/>
              </a:rPr>
              <a:t> </a:t>
            </a:r>
            <a:endParaRPr lang="zh-CN" altLang="en-US" sz="2400" b="1" dirty="0">
              <a:ea typeface="宋体" panose="02010600030101010101" pitchFamily="2" charset="-122"/>
            </a:endParaRPr>
          </a:p>
          <a:p>
            <a:pPr>
              <a:lnSpc>
                <a:spcPct val="90000"/>
              </a:lnSpc>
            </a:pPr>
            <a:r>
              <a:rPr lang="zh-CN" altLang="en-GB" sz="2400" b="1" dirty="0">
                <a:ea typeface="宋体" panose="02010600030101010101" pitchFamily="2" charset="-122"/>
              </a:rPr>
              <a:t>寄存器分配与寄存器指派</a:t>
            </a:r>
            <a:endParaRPr lang="en-GB"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寄存器分配：决定哪些变量该占用寄存器</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寄存器指派：决定变量该使用哪个寄存器</a:t>
            </a:r>
            <a:endParaRPr lang="zh-CN" altLang="en-US" sz="2200" b="1" dirty="0">
              <a:ea typeface="宋体" panose="02010600030101010101" pitchFamily="2" charset="-122"/>
            </a:endParaRPr>
          </a:p>
          <a:p>
            <a:pPr lvl="2">
              <a:lnSpc>
                <a:spcPct val="90000"/>
              </a:lnSpc>
            </a:pPr>
            <a:r>
              <a:rPr lang="en-US" altLang="zh-CN" sz="2000" b="1" dirty="0">
                <a:ea typeface="宋体" panose="02010600030101010101" pitchFamily="2" charset="-122"/>
              </a:rPr>
              <a:t>Caller-Save</a:t>
            </a:r>
            <a:r>
              <a:rPr lang="zh-CN" altLang="en-US" sz="2000" b="1" dirty="0">
                <a:ea typeface="宋体" panose="02010600030101010101" pitchFamily="2" charset="-122"/>
              </a:rPr>
              <a:t>与</a:t>
            </a:r>
            <a:r>
              <a:rPr lang="en-US" altLang="zh-CN" sz="2000" b="1" dirty="0">
                <a:ea typeface="宋体" panose="02010600030101010101" pitchFamily="2" charset="-122"/>
              </a:rPr>
              <a:t>Callee-Save</a:t>
            </a:r>
            <a:r>
              <a:rPr lang="zh-CN" altLang="en-US" sz="2000" b="1" dirty="0">
                <a:ea typeface="宋体" panose="02010600030101010101" pitchFamily="2" charset="-122"/>
              </a:rPr>
              <a:t>寄存器</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传递参数与返回值的寄存器</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叶过程与非叶过程</a:t>
            </a:r>
            <a:endParaRPr lang="zh-CN" altLang="en-US" sz="2000" b="1" dirty="0">
              <a:ea typeface="宋体" panose="02010600030101010101" pitchFamily="2" charset="-122"/>
            </a:endParaRPr>
          </a:p>
        </p:txBody>
      </p:sp>
    </p:spTree>
  </p:cSld>
  <p:clrMapOvr>
    <a:masterClrMapping/>
  </p:clrMapOvr>
  <p:transition spd="slow"/>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简单粗暴的分配方法</a:t>
            </a:r>
            <a:endParaRPr lang="zh-CN" altLang="en-US" dirty="0">
              <a:latin typeface="Times New Roman" panose="02020603050405020304" pitchFamily="18" charset="0"/>
              <a:ea typeface="宋体" panose="02010600030101010101" pitchFamily="2" charset="-122"/>
            </a:endParaRPr>
          </a:p>
        </p:txBody>
      </p:sp>
      <p:sp>
        <p:nvSpPr>
          <p:cNvPr id="354307" name="Rectangle 3"/>
          <p:cNvSpPr>
            <a:spLocks noGrp="1"/>
          </p:cNvSpPr>
          <p:nvPr>
            <p:ph idx="1"/>
          </p:nvPr>
        </p:nvSpPr>
        <p:spPr>
          <a:xfrm>
            <a:off x="914400" y="1484313"/>
            <a:ext cx="7543800" cy="4687887"/>
          </a:xfrm>
        </p:spPr>
        <p:txBody>
          <a:bodyPr vert="horz" wrap="square" lIns="92075" tIns="46038" rIns="92075" bIns="46038" anchor="t" anchorCtr="0"/>
          <a:p>
            <a:pPr>
              <a:lnSpc>
                <a:spcPct val="90000"/>
              </a:lnSpc>
            </a:pPr>
            <a:r>
              <a:rPr lang="zh-CN" altLang="en-US" sz="2400" b="1" dirty="0">
                <a:ea typeface="宋体" panose="02010600030101010101" pitchFamily="2" charset="-122"/>
              </a:rPr>
              <a:t>将目标程序中的特定值分配给特定的寄存器</a:t>
            </a:r>
            <a:endParaRPr lang="zh-CN" altLang="en-GB" sz="2400" b="1" dirty="0">
              <a:ea typeface="宋体" panose="02010600030101010101" pitchFamily="2" charset="-122"/>
            </a:endParaRPr>
          </a:p>
          <a:p>
            <a:pPr lvl="1">
              <a:lnSpc>
                <a:spcPct val="90000"/>
              </a:lnSpc>
            </a:pPr>
            <a:r>
              <a:rPr lang="zh-CN" altLang="en-US" sz="2200" b="1" dirty="0">
                <a:ea typeface="宋体" panose="02010600030101010101" pitchFamily="2" charset="-122"/>
              </a:rPr>
              <a:t>如：</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基地址指派给一组寄存器</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算术计算使用另一组寄存器</a:t>
            </a:r>
            <a:endParaRPr lang="zh-CN" altLang="en-US" sz="2000" b="1" dirty="0">
              <a:ea typeface="宋体" panose="02010600030101010101" pitchFamily="2" charset="-122"/>
            </a:endParaRPr>
          </a:p>
          <a:p>
            <a:pPr lvl="2">
              <a:lnSpc>
                <a:spcPct val="90000"/>
              </a:lnSpc>
            </a:pPr>
            <a:r>
              <a:rPr lang="zh-CN" altLang="en-US" sz="2000" b="1" dirty="0">
                <a:ea typeface="宋体" panose="02010600030101010101" pitchFamily="2" charset="-122"/>
              </a:rPr>
              <a:t>栈顶指针指派给一个固定的寄存器等</a:t>
            </a:r>
            <a:endParaRPr lang="zh-CN" altLang="en-US" sz="2000" b="1" dirty="0">
              <a:ea typeface="宋体" panose="02010600030101010101" pitchFamily="2" charset="-122"/>
            </a:endParaRPr>
          </a:p>
          <a:p>
            <a:pPr lvl="1">
              <a:lnSpc>
                <a:spcPct val="90000"/>
              </a:lnSpc>
            </a:pPr>
            <a:r>
              <a:rPr lang="zh-CN" altLang="en-US" sz="2200" b="1" dirty="0">
                <a:ea typeface="宋体" panose="02010600030101010101" pitchFamily="2" charset="-122"/>
              </a:rPr>
              <a:t>缺点：</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寄存器使用效率非常低，由于寄存器分组的约束，即便有些寄存器处于空闲状态，也不能用于其他类型的计算</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可能会生成很多不必要的寄存器加载和保存指令</a:t>
            </a:r>
            <a:endParaRPr lang="en-US" altLang="zh-CN" sz="2000" b="1" dirty="0">
              <a:ea typeface="宋体" panose="02010600030101010101" pitchFamily="2" charset="-122"/>
            </a:endParaRPr>
          </a:p>
          <a:p>
            <a:pPr lvl="1">
              <a:lnSpc>
                <a:spcPct val="90000"/>
              </a:lnSpc>
            </a:pPr>
            <a:r>
              <a:rPr lang="zh-CN" altLang="en-US" sz="2200" b="1" dirty="0">
                <a:ea typeface="宋体" panose="02010600030101010101" pitchFamily="2" charset="-122"/>
              </a:rPr>
              <a:t>实际使用中，保留少量的寄存器用作特殊用途，而其它寄存器则由代码生成器决定其使用</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保留的寄存器可能有基址寄存器、栈顶指针寄存器等</a:t>
            </a:r>
            <a:endParaRPr lang="zh-CN" altLang="en-US" sz="2000" b="1" dirty="0">
              <a:ea typeface="宋体" panose="02010600030101010101" pitchFamily="2" charset="-122"/>
            </a:endParaRPr>
          </a:p>
        </p:txBody>
      </p:sp>
    </p:spTree>
  </p:cSld>
  <p:clrMapOvr>
    <a:masterClrMapping/>
  </p:clrMapOvr>
  <p:transition spd="slow"/>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全局寄存器分配</a:t>
            </a:r>
            <a:endParaRPr lang="zh-CN" altLang="en-US" dirty="0">
              <a:latin typeface="Times New Roman" panose="02020603050405020304" pitchFamily="18" charset="0"/>
              <a:ea typeface="宋体" panose="02010600030101010101" pitchFamily="2" charset="-122"/>
            </a:endParaRPr>
          </a:p>
        </p:txBody>
      </p:sp>
      <p:sp>
        <p:nvSpPr>
          <p:cNvPr id="356355" name="Rectangle 3"/>
          <p:cNvSpPr>
            <a:spLocks noGrp="1"/>
          </p:cNvSpPr>
          <p:nvPr>
            <p:ph idx="1"/>
          </p:nvPr>
        </p:nvSpPr>
        <p:spPr>
          <a:xfrm>
            <a:off x="914400" y="1484313"/>
            <a:ext cx="7543800" cy="4687887"/>
          </a:xfrm>
        </p:spPr>
        <p:txBody>
          <a:bodyPr vert="horz" wrap="square" lIns="92075" tIns="46038" rIns="92075" bIns="46038" anchor="t" anchorCtr="0"/>
          <a:p>
            <a:pPr>
              <a:lnSpc>
                <a:spcPct val="90000"/>
              </a:lnSpc>
            </a:pPr>
            <a:r>
              <a:rPr lang="zh-CN" altLang="en-US" sz="2400" b="1" dirty="0">
                <a:ea typeface="宋体" panose="02010600030101010101" pitchFamily="2" charset="-122"/>
              </a:rPr>
              <a:t>进行全局寄存器分配的理由</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为每个基本块独立分配寄存器，结尾处要把活跃变量保存到内存，代价大</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程序频繁执行的部分是循环等</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是一组基本块</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寄存器分配应该考虑整个循环程序片段的分配效果</a:t>
            </a:r>
            <a:endParaRPr lang="en-US" altLang="zh-CN" sz="2000" b="1" dirty="0">
              <a:ea typeface="宋体" panose="02010600030101010101" pitchFamily="2" charset="-122"/>
            </a:endParaRPr>
          </a:p>
          <a:p>
            <a:pPr>
              <a:lnSpc>
                <a:spcPct val="90000"/>
              </a:lnSpc>
            </a:pPr>
            <a:r>
              <a:rPr lang="zh-CN" altLang="en-US" sz="2400" b="1" dirty="0">
                <a:ea typeface="宋体" panose="02010600030101010101" pitchFamily="2" charset="-122"/>
              </a:rPr>
              <a:t>简单的全局寄存器分配策略</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分配固定多个寄存器给循环中最活跃的变量，其它寄存器用于基本块的局部值</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程序千变万化，难以有一个普适的固定的寄存器个数</a:t>
            </a:r>
            <a:endParaRPr lang="en-US" altLang="zh-CN" sz="2200" b="1" dirty="0">
              <a:ea typeface="宋体" panose="02010600030101010101" pitchFamily="2" charset="-122"/>
            </a:endParaRPr>
          </a:p>
          <a:p>
            <a:pPr>
              <a:lnSpc>
                <a:spcPct val="90000"/>
              </a:lnSpc>
            </a:pPr>
            <a:r>
              <a:rPr lang="zh-CN" altLang="en-US" sz="2400" b="1" dirty="0">
                <a:ea typeface="宋体" panose="02010600030101010101" pitchFamily="2" charset="-122"/>
              </a:rPr>
              <a:t>程序员给出分配建议</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如</a:t>
            </a:r>
            <a:r>
              <a:rPr lang="en-US" altLang="zh-CN" sz="2200" b="1" dirty="0">
                <a:ea typeface="宋体" panose="02010600030101010101" pitchFamily="2" charset="-122"/>
              </a:rPr>
              <a:t>C</a:t>
            </a:r>
            <a:r>
              <a:rPr lang="zh-CN" altLang="en-US" sz="2200" b="1" dirty="0">
                <a:ea typeface="宋体" panose="02010600030101010101" pitchFamily="2" charset="-122"/>
              </a:rPr>
              <a:t>语言中的</a:t>
            </a:r>
            <a:r>
              <a:rPr lang="en-US" altLang="zh-CN" sz="2200" b="1" dirty="0">
                <a:ea typeface="宋体" panose="02010600030101010101" pitchFamily="2" charset="-122"/>
              </a:rPr>
              <a:t>register</a:t>
            </a:r>
            <a:r>
              <a:rPr lang="zh-CN" altLang="en-US" sz="2200" b="1" dirty="0">
                <a:ea typeface="宋体" panose="02010600030101010101" pitchFamily="2" charset="-122"/>
              </a:rPr>
              <a:t>修饰符</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要起到很好的效果，程序员必须对程序的执行特征有充分的了解</a:t>
            </a:r>
            <a:endParaRPr lang="zh-CN" altLang="en-GB" sz="2200" b="1" dirty="0">
              <a:ea typeface="宋体" panose="02010600030101010101" pitchFamily="2" charset="-122"/>
            </a:endParaRPr>
          </a:p>
        </p:txBody>
      </p:sp>
    </p:spTree>
  </p:cSld>
  <p:clrMapOvr>
    <a:masterClrMapping/>
  </p:clrMapOvr>
  <p:transition spd="slow"/>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使用计数法（</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58403" name="Rectangle 3"/>
          <p:cNvSpPr>
            <a:spLocks noGrp="1"/>
          </p:cNvSpPr>
          <p:nvPr>
            <p:ph idx="1"/>
          </p:nvPr>
        </p:nvSpPr>
        <p:spPr>
          <a:xfrm>
            <a:off x="468313" y="1371600"/>
            <a:ext cx="8351837"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把变量</a:t>
            </a:r>
            <a:r>
              <a:rPr lang="en-US" altLang="zh-CN" sz="2400" b="1" dirty="0">
                <a:ea typeface="宋体" panose="02010600030101010101" pitchFamily="2" charset="-122"/>
              </a:rPr>
              <a:t>x</a:t>
            </a:r>
            <a:r>
              <a:rPr lang="zh-CN" altLang="en-US" sz="2400" b="1" dirty="0">
                <a:ea typeface="宋体" panose="02010600030101010101" pitchFamily="2" charset="-122"/>
              </a:rPr>
              <a:t>保存在一个寄存器中的收益计算方法</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如果</a:t>
            </a:r>
            <a:r>
              <a:rPr lang="en-US" altLang="zh-CN" sz="2200" b="1" dirty="0">
                <a:ea typeface="宋体" panose="02010600030101010101" pitchFamily="2" charset="-122"/>
              </a:rPr>
              <a:t>x</a:t>
            </a:r>
            <a:r>
              <a:rPr lang="zh-CN" altLang="en-US" sz="2200" b="1" dirty="0">
                <a:ea typeface="宋体" panose="02010600030101010101" pitchFamily="2" charset="-122"/>
              </a:rPr>
              <a:t>分配在寄存器中，对其每一次引用都节省一个单位的用于加载的开销</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只有当</a:t>
            </a:r>
            <a:r>
              <a:rPr lang="en-US" altLang="zh-CN" sz="2000" b="1" dirty="0">
                <a:ea typeface="宋体" panose="02010600030101010101" pitchFamily="2" charset="-122"/>
              </a:rPr>
              <a:t>x</a:t>
            </a:r>
            <a:r>
              <a:rPr lang="zh-CN" altLang="en-US" sz="2000" b="1" dirty="0">
                <a:ea typeface="宋体" panose="02010600030101010101" pitchFamily="2" charset="-122"/>
              </a:rPr>
              <a:t>在循环</a:t>
            </a:r>
            <a:r>
              <a:rPr lang="en-US" altLang="zh-CN" sz="2000" b="1" dirty="0">
                <a:ea typeface="宋体" panose="02010600030101010101" pitchFamily="2" charset="-122"/>
              </a:rPr>
              <a:t>L</a:t>
            </a:r>
            <a:r>
              <a:rPr lang="zh-CN" altLang="en-US" sz="2000" b="1" dirty="0">
                <a:ea typeface="宋体" panose="02010600030101010101" pitchFamily="2" charset="-122"/>
              </a:rPr>
              <a:t>的某个基本块内被使用，且在同一基本块中</a:t>
            </a:r>
            <a:r>
              <a:rPr lang="en-US" altLang="zh-CN" sz="2000" b="1" dirty="0">
                <a:ea typeface="宋体" panose="02010600030101010101" pitchFamily="2" charset="-122"/>
              </a:rPr>
              <a:t>x</a:t>
            </a:r>
            <a:r>
              <a:rPr lang="zh-CN" altLang="en-US" sz="2000" b="1" dirty="0">
                <a:ea typeface="宋体" panose="02010600030101010101" pitchFamily="2" charset="-122"/>
              </a:rPr>
              <a:t>没有被先行赋值，才认为这次引用节省了一个单位的开销</a:t>
            </a:r>
            <a:endParaRPr lang="en-US" altLang="zh-CN" sz="2000" b="1" dirty="0">
              <a:ea typeface="宋体" panose="02010600030101010101" pitchFamily="2" charset="-122"/>
            </a:endParaRPr>
          </a:p>
          <a:p>
            <a:pPr lvl="1">
              <a:lnSpc>
                <a:spcPct val="90000"/>
              </a:lnSpc>
            </a:pPr>
            <a:r>
              <a:rPr lang="zh-CN" altLang="en-US" sz="2200" b="1" dirty="0">
                <a:ea typeface="宋体" panose="02010600030101010101" pitchFamily="2" charset="-122"/>
              </a:rPr>
              <a:t>如果</a:t>
            </a:r>
            <a:r>
              <a:rPr lang="en-US" altLang="zh-CN" sz="2200" b="1" dirty="0">
                <a:ea typeface="宋体" panose="02010600030101010101" pitchFamily="2" charset="-122"/>
              </a:rPr>
              <a:t>x</a:t>
            </a:r>
            <a:r>
              <a:rPr lang="zh-CN" altLang="en-US" sz="2200" b="1" dirty="0">
                <a:ea typeface="宋体" panose="02010600030101010101" pitchFamily="2" charset="-122"/>
              </a:rPr>
              <a:t>在基本块中定值且在出口活跃，则</a:t>
            </a:r>
            <a:r>
              <a:rPr lang="en-US" altLang="zh-CN" sz="2200" b="1" dirty="0">
                <a:ea typeface="宋体" panose="02010600030101010101" pitchFamily="2" charset="-122"/>
              </a:rPr>
              <a:t>x</a:t>
            </a:r>
            <a:r>
              <a:rPr lang="zh-CN" altLang="en-US" sz="2200" b="1" dirty="0">
                <a:ea typeface="宋体" panose="02010600030101010101" pitchFamily="2" charset="-122"/>
              </a:rPr>
              <a:t>分配在寄存器中可以节省两个单位的开销</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保存指令和之后的加载指令</a:t>
            </a:r>
            <a:endParaRPr lang="en-US" altLang="zh-CN" sz="2000" b="1" dirty="0">
              <a:ea typeface="宋体" panose="02010600030101010101" pitchFamily="2" charset="-122"/>
            </a:endParaRPr>
          </a:p>
          <a:p>
            <a:pPr>
              <a:lnSpc>
                <a:spcPct val="90000"/>
              </a:lnSpc>
            </a:pPr>
            <a:r>
              <a:rPr lang="zh-CN" altLang="en-US" sz="2400" b="1" dirty="0">
                <a:ea typeface="宋体" panose="02010600030101010101" pitchFamily="2" charset="-122"/>
              </a:rPr>
              <a:t>对于循环入口基本块和出口基本块的特殊处理</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如果</a:t>
            </a:r>
            <a:r>
              <a:rPr lang="en-US" altLang="zh-CN" sz="2200" b="1" dirty="0">
                <a:ea typeface="宋体" panose="02010600030101010101" pitchFamily="2" charset="-122"/>
              </a:rPr>
              <a:t>x</a:t>
            </a:r>
            <a:r>
              <a:rPr lang="zh-CN" altLang="en-US" sz="2200" b="1" dirty="0">
                <a:ea typeface="宋体" panose="02010600030101010101" pitchFamily="2" charset="-122"/>
              </a:rPr>
              <a:t>在循环头部的入口活跃，需要在进入循环前把</a:t>
            </a:r>
            <a:r>
              <a:rPr lang="en-US" altLang="zh-CN" sz="2200" b="1" dirty="0">
                <a:ea typeface="宋体" panose="02010600030101010101" pitchFamily="2" charset="-122"/>
              </a:rPr>
              <a:t>x</a:t>
            </a:r>
            <a:r>
              <a:rPr lang="zh-CN" altLang="en-US" sz="2200" b="1" dirty="0">
                <a:ea typeface="宋体" panose="02010600030101010101" pitchFamily="2" charset="-122"/>
              </a:rPr>
              <a:t>加载到寄存器，需要两个单位的开销</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如果</a:t>
            </a:r>
            <a:r>
              <a:rPr lang="en-US" altLang="zh-CN" sz="2200" b="1" dirty="0">
                <a:ea typeface="宋体" panose="02010600030101010101" pitchFamily="2" charset="-122"/>
              </a:rPr>
              <a:t>x</a:t>
            </a:r>
            <a:r>
              <a:rPr lang="zh-CN" altLang="en-US" sz="2200" b="1" dirty="0">
                <a:ea typeface="宋体" panose="02010600030101010101" pitchFamily="2" charset="-122"/>
              </a:rPr>
              <a:t>在循环出口活跃，需要两个单位的开销将</a:t>
            </a:r>
            <a:r>
              <a:rPr lang="en-US" altLang="zh-CN" sz="2200" b="1" dirty="0">
                <a:ea typeface="宋体" panose="02010600030101010101" pitchFamily="2" charset="-122"/>
              </a:rPr>
              <a:t>x</a:t>
            </a:r>
            <a:r>
              <a:rPr lang="zh-CN" altLang="en-US" sz="2200" b="1" dirty="0">
                <a:ea typeface="宋体" panose="02010600030101010101" pitchFamily="2" charset="-122"/>
              </a:rPr>
              <a:t>保存起来</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但考虑到循环可能被迭代执行多次，而循环入口</a:t>
            </a:r>
            <a:r>
              <a:rPr lang="en-US" altLang="zh-CN" sz="2200" b="1" dirty="0">
                <a:ea typeface="宋体" panose="02010600030101010101" pitchFamily="2" charset="-122"/>
              </a:rPr>
              <a:t>/</a:t>
            </a:r>
            <a:r>
              <a:rPr lang="zh-CN" altLang="en-US" sz="2200" b="1" dirty="0">
                <a:ea typeface="宋体" panose="02010600030101010101" pitchFamily="2" charset="-122"/>
              </a:rPr>
              <a:t>出口基本块的特殊处理指令只执行一次，所以可以考虑忽略这些开销</a:t>
            </a:r>
            <a:endParaRPr lang="zh-CN" altLang="en-GB" sz="2200" b="1" dirty="0">
              <a:ea typeface="宋体" panose="02010600030101010101" pitchFamily="2" charset="-122"/>
            </a:endParaRPr>
          </a:p>
        </p:txBody>
      </p:sp>
    </p:spTree>
  </p:cSld>
  <p:clrMapOvr>
    <a:masterClrMapping/>
  </p:clrMapOvr>
  <p:transition spd="slow"/>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使用计数法（</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60451" name="内容占位符 1"/>
          <p:cNvSpPr>
            <a:spLocks noGrp="1"/>
          </p:cNvSpPr>
          <p:nvPr>
            <p:ph idx="1"/>
          </p:nvPr>
        </p:nvSpPr>
        <p:spPr>
          <a:xfrm>
            <a:off x="539750" y="1484313"/>
            <a:ext cx="8353425" cy="4692650"/>
          </a:xfrm>
        </p:spPr>
        <p:txBody>
          <a:bodyPr vert="horz" wrap="square" lIns="92075" tIns="46038" rIns="92075" bIns="46038" anchor="t" anchorCtr="0"/>
          <a:p>
            <a:r>
              <a:rPr lang="zh-CN" altLang="en-US" b="1" dirty="0">
                <a:ea typeface="宋体" panose="02010600030101010101" pitchFamily="2" charset="-122"/>
              </a:rPr>
              <a:t>在循环</a:t>
            </a:r>
            <a:r>
              <a:rPr lang="en-US" altLang="zh-CN" b="1" dirty="0">
                <a:ea typeface="宋体" panose="02010600030101010101" pitchFamily="2" charset="-122"/>
              </a:rPr>
              <a:t>L</a:t>
            </a:r>
            <a:r>
              <a:rPr lang="zh-CN" altLang="en-US" b="1" dirty="0">
                <a:ea typeface="宋体" panose="02010600030101010101" pitchFamily="2" charset="-122"/>
              </a:rPr>
              <a:t>中把一个寄存器分配给变量</a:t>
            </a:r>
            <a:r>
              <a:rPr lang="en-US" altLang="zh-CN" b="1" dirty="0">
                <a:ea typeface="宋体" panose="02010600030101010101" pitchFamily="2" charset="-122"/>
              </a:rPr>
              <a:t>x</a:t>
            </a:r>
            <a:r>
              <a:rPr lang="zh-CN" altLang="en-US" b="1" dirty="0">
                <a:ea typeface="宋体" panose="02010600030101010101" pitchFamily="2" charset="-122"/>
              </a:rPr>
              <a:t>的收益估算公式</a:t>
            </a:r>
            <a:endParaRPr lang="en-US" altLang="zh-CN" b="1" dirty="0">
              <a:ea typeface="宋体" panose="02010600030101010101" pitchFamily="2" charset="-122"/>
            </a:endParaRPr>
          </a:p>
          <a:p>
            <a:endParaRPr lang="en-US" altLang="zh-CN" b="1" dirty="0">
              <a:ea typeface="宋体" panose="02010600030101010101" pitchFamily="2" charset="-122"/>
            </a:endParaRPr>
          </a:p>
          <a:p>
            <a:endParaRPr lang="en-US" altLang="zh-CN" b="1" dirty="0">
              <a:ea typeface="宋体" panose="02010600030101010101" pitchFamily="2" charset="-122"/>
            </a:endParaRPr>
          </a:p>
          <a:p>
            <a:pPr lvl="1"/>
            <a:r>
              <a:rPr lang="en-US" altLang="zh-CN" b="1" dirty="0">
                <a:ea typeface="宋体" panose="02010600030101010101" pitchFamily="2" charset="-122"/>
              </a:rPr>
              <a:t>use(x , B)</a:t>
            </a:r>
            <a:r>
              <a:rPr lang="zh-CN" altLang="en-US" b="1" dirty="0">
                <a:ea typeface="宋体" panose="02010600030101010101" pitchFamily="2" charset="-122"/>
              </a:rPr>
              <a:t>：是</a:t>
            </a:r>
            <a:r>
              <a:rPr lang="en-US" altLang="zh-CN" b="1" dirty="0">
                <a:ea typeface="宋体" panose="02010600030101010101" pitchFamily="2" charset="-122"/>
              </a:rPr>
              <a:t>x</a:t>
            </a:r>
            <a:r>
              <a:rPr lang="zh-CN" altLang="en-US" b="1" dirty="0">
                <a:ea typeface="宋体" panose="02010600030101010101" pitchFamily="2" charset="-122"/>
              </a:rPr>
              <a:t>在基本块</a:t>
            </a:r>
            <a:r>
              <a:rPr lang="en-US" altLang="zh-CN" b="1" dirty="0">
                <a:ea typeface="宋体" panose="02010600030101010101" pitchFamily="2" charset="-122"/>
              </a:rPr>
              <a:t>B</a:t>
            </a:r>
            <a:r>
              <a:rPr lang="zh-CN" altLang="en-US" b="1" dirty="0">
                <a:ea typeface="宋体" panose="02010600030101010101" pitchFamily="2" charset="-122"/>
              </a:rPr>
              <a:t>中被定值之前被使用的次数</a:t>
            </a:r>
            <a:endParaRPr lang="en-US" altLang="zh-CN" b="1" dirty="0">
              <a:ea typeface="宋体" panose="02010600030101010101" pitchFamily="2" charset="-122"/>
            </a:endParaRPr>
          </a:p>
          <a:p>
            <a:pPr lvl="1"/>
            <a:r>
              <a:rPr lang="en-US" altLang="zh-CN" b="1" dirty="0">
                <a:ea typeface="宋体" panose="02010600030101010101" pitchFamily="2" charset="-122"/>
              </a:rPr>
              <a:t>live(x</a:t>
            </a:r>
            <a:r>
              <a:rPr lang="zh-CN" altLang="en-US" b="1" dirty="0">
                <a:ea typeface="宋体" panose="02010600030101010101" pitchFamily="2" charset="-122"/>
              </a:rPr>
              <a:t> </a:t>
            </a:r>
            <a:r>
              <a:rPr lang="en-US" altLang="zh-CN" b="1" dirty="0">
                <a:ea typeface="宋体" panose="02010600030101010101" pitchFamily="2" charset="-122"/>
              </a:rPr>
              <a:t>, B)</a:t>
            </a:r>
            <a:r>
              <a:rPr lang="zh-CN" altLang="en-US" b="1" dirty="0">
                <a:ea typeface="宋体" panose="02010600030101010101" pitchFamily="2" charset="-122"/>
              </a:rPr>
              <a:t>：若</a:t>
            </a:r>
            <a:r>
              <a:rPr lang="en-US" altLang="zh-CN" b="1" dirty="0">
                <a:ea typeface="宋体" panose="02010600030101010101" pitchFamily="2" charset="-122"/>
              </a:rPr>
              <a:t>x</a:t>
            </a:r>
            <a:r>
              <a:rPr lang="zh-CN" altLang="en-US" b="1" dirty="0">
                <a:ea typeface="宋体" panose="02010600030101010101" pitchFamily="2" charset="-122"/>
              </a:rPr>
              <a:t>在</a:t>
            </a:r>
            <a:r>
              <a:rPr lang="en-US" altLang="zh-CN" b="1" dirty="0">
                <a:ea typeface="宋体" panose="02010600030101010101" pitchFamily="2" charset="-122"/>
              </a:rPr>
              <a:t>B</a:t>
            </a:r>
            <a:r>
              <a:rPr lang="zh-CN" altLang="en-US" b="1" dirty="0">
                <a:ea typeface="宋体" panose="02010600030101010101" pitchFamily="2" charset="-122"/>
              </a:rPr>
              <a:t>的出口处活跃，且</a:t>
            </a:r>
            <a:r>
              <a:rPr lang="en-US" altLang="zh-CN" b="1" dirty="0">
                <a:ea typeface="宋体" panose="02010600030101010101" pitchFamily="2" charset="-122"/>
              </a:rPr>
              <a:t>x</a:t>
            </a:r>
            <a:r>
              <a:rPr lang="zh-CN" altLang="en-US" b="1" dirty="0">
                <a:ea typeface="宋体" panose="02010600030101010101" pitchFamily="2" charset="-122"/>
              </a:rPr>
              <a:t>在</a:t>
            </a:r>
            <a:r>
              <a:rPr lang="en-US" altLang="zh-CN" b="1" dirty="0">
                <a:ea typeface="宋体" panose="02010600030101010101" pitchFamily="2" charset="-122"/>
              </a:rPr>
              <a:t>B</a:t>
            </a:r>
            <a:r>
              <a:rPr lang="zh-CN" altLang="en-US" b="1" dirty="0">
                <a:ea typeface="宋体" panose="02010600030101010101" pitchFamily="2" charset="-122"/>
              </a:rPr>
              <a:t>中被赋值，则</a:t>
            </a:r>
            <a:r>
              <a:rPr lang="en-US" altLang="zh-CN" b="1" dirty="0">
                <a:ea typeface="宋体" panose="02010600030101010101" pitchFamily="2" charset="-122"/>
              </a:rPr>
              <a:t>live(x</a:t>
            </a:r>
            <a:r>
              <a:rPr lang="zh-CN" altLang="en-US" b="1" dirty="0">
                <a:ea typeface="宋体" panose="02010600030101010101" pitchFamily="2" charset="-122"/>
              </a:rPr>
              <a:t> </a:t>
            </a:r>
            <a:r>
              <a:rPr lang="en-US" altLang="zh-CN" b="1" dirty="0">
                <a:ea typeface="宋体" panose="02010600030101010101" pitchFamily="2" charset="-122"/>
              </a:rPr>
              <a:t>, B)</a:t>
            </a:r>
            <a:r>
              <a:rPr lang="zh-CN" altLang="en-US" b="1" dirty="0">
                <a:ea typeface="宋体" panose="02010600030101010101" pitchFamily="2" charset="-122"/>
              </a:rPr>
              <a:t>为</a:t>
            </a:r>
            <a:r>
              <a:rPr lang="en-US" altLang="zh-CN" b="1" dirty="0">
                <a:ea typeface="宋体" panose="02010600030101010101" pitchFamily="2" charset="-122"/>
              </a:rPr>
              <a:t>1</a:t>
            </a:r>
            <a:r>
              <a:rPr lang="zh-CN" altLang="en-US" b="1" dirty="0">
                <a:ea typeface="宋体" panose="02010600030101010101" pitchFamily="2" charset="-122"/>
              </a:rPr>
              <a:t>，否则，</a:t>
            </a:r>
            <a:r>
              <a:rPr lang="en-US" altLang="zh-CN" b="1" dirty="0">
                <a:ea typeface="宋体" panose="02010600030101010101" pitchFamily="2" charset="-122"/>
              </a:rPr>
              <a:t> live(x</a:t>
            </a:r>
            <a:r>
              <a:rPr lang="zh-CN" altLang="en-US" b="1" dirty="0">
                <a:ea typeface="宋体" panose="02010600030101010101" pitchFamily="2" charset="-122"/>
              </a:rPr>
              <a:t> </a:t>
            </a:r>
            <a:r>
              <a:rPr lang="en-US" altLang="zh-CN" b="1" dirty="0">
                <a:ea typeface="宋体" panose="02010600030101010101" pitchFamily="2" charset="-122"/>
              </a:rPr>
              <a:t>, B)</a:t>
            </a:r>
            <a:r>
              <a:rPr lang="zh-CN" altLang="en-US" b="1" dirty="0">
                <a:ea typeface="宋体" panose="02010600030101010101" pitchFamily="2" charset="-122"/>
              </a:rPr>
              <a:t>为</a:t>
            </a:r>
            <a:r>
              <a:rPr lang="en-US" altLang="zh-CN" b="1" dirty="0">
                <a:ea typeface="宋体" panose="02010600030101010101" pitchFamily="2" charset="-122"/>
              </a:rPr>
              <a:t>0</a:t>
            </a:r>
            <a:endParaRPr lang="en-US" altLang="zh-CN" b="1" dirty="0">
              <a:ea typeface="宋体" panose="02010600030101010101" pitchFamily="2" charset="-122"/>
            </a:endParaRPr>
          </a:p>
          <a:p>
            <a:pPr lvl="1"/>
            <a:endParaRPr lang="en-US" altLang="zh-CN" b="1" dirty="0">
              <a:ea typeface="宋体" panose="02010600030101010101" pitchFamily="2" charset="-122"/>
            </a:endParaRPr>
          </a:p>
          <a:p>
            <a:r>
              <a:rPr lang="zh-CN" altLang="en-US" b="1" dirty="0">
                <a:ea typeface="宋体" panose="02010600030101010101" pitchFamily="2" charset="-122"/>
              </a:rPr>
              <a:t>公式</a:t>
            </a:r>
            <a:r>
              <a:rPr lang="en-US" altLang="zh-CN" b="1" dirty="0">
                <a:ea typeface="宋体" panose="02010600030101010101" pitchFamily="2" charset="-122"/>
              </a:rPr>
              <a:t>8.1</a:t>
            </a:r>
            <a:r>
              <a:rPr lang="zh-CN" altLang="en-US" b="1" dirty="0">
                <a:ea typeface="宋体" panose="02010600030101010101" pitchFamily="2" charset="-122"/>
              </a:rPr>
              <a:t>仅是一个估算公式</a:t>
            </a:r>
            <a:endParaRPr lang="en-US" altLang="zh-CN" b="1" dirty="0">
              <a:ea typeface="宋体" panose="02010600030101010101" pitchFamily="2" charset="-122"/>
            </a:endParaRPr>
          </a:p>
          <a:p>
            <a:pPr lvl="1"/>
            <a:r>
              <a:rPr lang="zh-CN" altLang="en-US" b="1" dirty="0">
                <a:ea typeface="宋体" panose="02010600030101010101" pitchFamily="2" charset="-122"/>
              </a:rPr>
              <a:t>在实际使用中，要根据机器参数调整</a:t>
            </a:r>
            <a:endParaRPr lang="zh-CN" altLang="en-US" b="1" dirty="0">
              <a:ea typeface="宋体" panose="02010600030101010101" pitchFamily="2" charset="-122"/>
            </a:endParaRPr>
          </a:p>
        </p:txBody>
      </p:sp>
      <p:sp>
        <p:nvSpPr>
          <p:cNvPr id="7" name="矩形 6"/>
          <p:cNvSpPr>
            <a:spLocks noRot="1" noChangeAspect="1" noMove="1" noResize="1" noEditPoints="1" noAdjustHandles="1" noChangeArrowheads="1" noChangeShapeType="1" noTextEdit="1"/>
          </p:cNvSpPr>
          <p:nvPr/>
        </p:nvSpPr>
        <p:spPr>
          <a:xfrm>
            <a:off x="1115616" y="1916832"/>
            <a:ext cx="6910536" cy="1105174"/>
          </a:xfrm>
          <a:prstGeom prst="rect">
            <a:avLst/>
          </a:prstGeom>
          <a:blipFill>
            <a:blip r:embed="rId1"/>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noFill/>
                <a:effectLst/>
                <a:uLnTx/>
                <a:uFillTx/>
                <a:latin typeface="Times New Roman" panose="02020603050405020304" pitchFamily="18" charset="0"/>
                <a:ea typeface="+mn-ea"/>
                <a:cs typeface="+mn-cs"/>
              </a:rPr>
              <a:t> </a:t>
            </a:r>
            <a:endParaRPr kumimoji="0" lang="zh-CN" altLang="en-US" sz="2400" b="0" i="0" u="none" strike="noStrike" kern="1200" cap="none" spc="0" normalizeH="0" baseline="0" noProof="0">
              <a:ln>
                <a:noFill/>
              </a:ln>
              <a:noFill/>
              <a:effectLst/>
              <a:uLnTx/>
              <a:uFillTx/>
              <a:latin typeface="Times New Roman" panose="02020603050405020304" pitchFamily="18" charset="0"/>
              <a:ea typeface="+mn-ea"/>
              <a:cs typeface="+mn-cs"/>
            </a:endParaRPr>
          </a:p>
        </p:txBody>
      </p:sp>
    </p:spTree>
  </p:cSld>
  <p:clrMapOvr>
    <a:masterClrMapping/>
  </p:clrMapOvr>
  <p:transition spd="slow"/>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使用计数法（</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62499" name="Rectangle 3"/>
          <p:cNvSpPr>
            <a:spLocks noGrp="1"/>
          </p:cNvSpPr>
          <p:nvPr>
            <p:ph idx="1"/>
          </p:nvPr>
        </p:nvSpPr>
        <p:spPr>
          <a:xfrm>
            <a:off x="179388" y="1484313"/>
            <a:ext cx="2879725" cy="4687887"/>
          </a:xfrm>
        </p:spPr>
        <p:txBody>
          <a:bodyPr vert="horz" wrap="square" lIns="92075" tIns="46038" rIns="92075" bIns="46038" anchor="t" anchorCtr="0"/>
          <a:p>
            <a:pPr>
              <a:lnSpc>
                <a:spcPct val="90000"/>
              </a:lnSpc>
            </a:pPr>
            <a:r>
              <a:rPr lang="zh-CN" altLang="en-US" sz="2400" b="1" dirty="0">
                <a:ea typeface="宋体" panose="02010600030101010101" pitchFamily="2" charset="-122"/>
              </a:rPr>
              <a:t>例</a:t>
            </a:r>
            <a:r>
              <a:rPr lang="en-US" altLang="zh-CN" sz="2400" b="1" dirty="0">
                <a:ea typeface="宋体" panose="02010600030101010101" pitchFamily="2" charset="-122"/>
              </a:rPr>
              <a:t>8.17</a:t>
            </a:r>
            <a:r>
              <a:rPr lang="zh-CN" altLang="en-US" sz="2400" b="1" dirty="0">
                <a:ea typeface="宋体" panose="02010600030101010101" pitchFamily="2" charset="-122"/>
              </a:rPr>
              <a:t>，图</a:t>
            </a:r>
            <a:r>
              <a:rPr lang="en-US" altLang="zh-CN" sz="2400" b="1" dirty="0">
                <a:ea typeface="宋体" panose="02010600030101010101" pitchFamily="2" charset="-122"/>
              </a:rPr>
              <a:t>8-17</a:t>
            </a:r>
            <a:r>
              <a:rPr lang="zh-CN" altLang="en-US" sz="2400" b="1" dirty="0">
                <a:ea typeface="宋体" panose="02010600030101010101" pitchFamily="2" charset="-122"/>
              </a:rPr>
              <a:t>所示例子</a:t>
            </a:r>
            <a:endParaRPr lang="en-US" altLang="zh-CN" sz="2400" b="1" dirty="0">
              <a:ea typeface="宋体" panose="02010600030101010101" pitchFamily="2" charset="-122"/>
            </a:endParaRPr>
          </a:p>
          <a:p>
            <a:pPr lvl="1">
              <a:lnSpc>
                <a:spcPct val="90000"/>
              </a:lnSpc>
            </a:pPr>
            <a:r>
              <a:rPr lang="zh-CN" altLang="en-US" sz="2000" b="1" dirty="0">
                <a:ea typeface="宋体" panose="02010600030101010101" pitchFamily="2" charset="-122"/>
              </a:rPr>
              <a:t>假设寄存器</a:t>
            </a:r>
            <a:r>
              <a:rPr lang="en-US" altLang="zh-CN" sz="2000" b="1" dirty="0">
                <a:ea typeface="宋体" panose="02010600030101010101" pitchFamily="2" charset="-122"/>
              </a:rPr>
              <a:t>R0</a:t>
            </a:r>
            <a:r>
              <a:rPr lang="zh-CN" altLang="en-US" sz="2000" b="1" dirty="0">
                <a:ea typeface="宋体" panose="02010600030101010101" pitchFamily="2" charset="-122"/>
              </a:rPr>
              <a:t>、</a:t>
            </a:r>
            <a:r>
              <a:rPr lang="en-US" altLang="zh-CN" sz="2000" b="1" dirty="0">
                <a:ea typeface="宋体" panose="02010600030101010101" pitchFamily="2" charset="-122"/>
              </a:rPr>
              <a:t>R1</a:t>
            </a:r>
            <a:r>
              <a:rPr lang="zh-CN" altLang="en-US" sz="2000" b="1" dirty="0">
                <a:ea typeface="宋体" panose="02010600030101010101" pitchFamily="2" charset="-122"/>
              </a:rPr>
              <a:t>、</a:t>
            </a:r>
            <a:r>
              <a:rPr lang="en-US" altLang="zh-CN" sz="2000" b="1" dirty="0">
                <a:ea typeface="宋体" panose="02010600030101010101" pitchFamily="2" charset="-122"/>
              </a:rPr>
              <a:t>R2</a:t>
            </a:r>
            <a:r>
              <a:rPr lang="zh-CN" altLang="en-US" sz="2000" b="1" dirty="0">
                <a:ea typeface="宋体" panose="02010600030101010101" pitchFamily="2" charset="-122"/>
              </a:rPr>
              <a:t>用于存放整个循环范围内的值</a:t>
            </a:r>
            <a:endParaRPr lang="en-US" altLang="zh-CN" sz="2000" b="1" dirty="0">
              <a:ea typeface="宋体" panose="02010600030101010101" pitchFamily="2" charset="-122"/>
            </a:endParaRPr>
          </a:p>
          <a:p>
            <a:pPr lvl="1">
              <a:lnSpc>
                <a:spcPct val="90000"/>
              </a:lnSpc>
            </a:pPr>
            <a:r>
              <a:rPr lang="en-US" altLang="zh-CN" sz="2000" b="1" dirty="0">
                <a:ea typeface="宋体" panose="02010600030101010101" pitchFamily="2" charset="-122"/>
              </a:rPr>
              <a:t>a</a:t>
            </a:r>
            <a:r>
              <a:rPr lang="zh-CN" altLang="en-US" sz="2000" b="1" dirty="0">
                <a:ea typeface="宋体" panose="02010600030101010101" pitchFamily="2" charset="-122"/>
              </a:rPr>
              <a:t>在</a:t>
            </a:r>
            <a:r>
              <a:rPr lang="en-US" altLang="zh-CN" sz="2000" b="1" dirty="0">
                <a:ea typeface="宋体" panose="02010600030101010101" pitchFamily="2" charset="-122"/>
              </a:rPr>
              <a:t>B</a:t>
            </a:r>
            <a:r>
              <a:rPr lang="en-US" altLang="zh-CN" sz="2000" b="1" baseline="-25000" dirty="0">
                <a:ea typeface="宋体" panose="02010600030101010101" pitchFamily="2" charset="-122"/>
              </a:rPr>
              <a:t>1</a:t>
            </a:r>
            <a:r>
              <a:rPr lang="zh-CN" altLang="en-US" sz="2000" b="1" dirty="0">
                <a:ea typeface="宋体" panose="02010600030101010101" pitchFamily="2" charset="-122"/>
              </a:rPr>
              <a:t>出口活跃且在</a:t>
            </a:r>
            <a:r>
              <a:rPr lang="en-US" altLang="zh-CN" sz="2000" b="1" dirty="0">
                <a:ea typeface="宋体" panose="02010600030101010101" pitchFamily="2" charset="-122"/>
              </a:rPr>
              <a:t>B</a:t>
            </a:r>
            <a:r>
              <a:rPr lang="en-US" altLang="zh-CN" sz="2000" b="1" baseline="-25000" dirty="0">
                <a:ea typeface="宋体" panose="02010600030101010101" pitchFamily="2" charset="-122"/>
              </a:rPr>
              <a:t>1</a:t>
            </a:r>
            <a:r>
              <a:rPr lang="zh-CN" altLang="en-US" sz="2000" b="1" dirty="0">
                <a:ea typeface="宋体" panose="02010600030101010101" pitchFamily="2" charset="-122"/>
              </a:rPr>
              <a:t>中被赋值，不在</a:t>
            </a:r>
            <a:r>
              <a:rPr lang="en-US" altLang="zh-CN" sz="2000" b="1" dirty="0">
                <a:ea typeface="宋体" panose="02010600030101010101" pitchFamily="2" charset="-122"/>
              </a:rPr>
              <a:t>B</a:t>
            </a:r>
            <a:r>
              <a:rPr lang="en-US" altLang="zh-CN" sz="2000" b="1" baseline="-25000" dirty="0">
                <a:ea typeface="宋体" panose="02010600030101010101" pitchFamily="2" charset="-122"/>
              </a:rPr>
              <a:t>2</a:t>
            </a:r>
            <a:r>
              <a:rPr lang="zh-CN" altLang="en-US" sz="2000" b="1" dirty="0">
                <a:ea typeface="宋体" panose="02010600030101010101" pitchFamily="2" charset="-122"/>
              </a:rPr>
              <a:t>、</a:t>
            </a:r>
            <a:r>
              <a:rPr lang="en-US" altLang="zh-CN" sz="2000" b="1" dirty="0">
                <a:ea typeface="宋体" panose="02010600030101010101" pitchFamily="2" charset="-122"/>
              </a:rPr>
              <a:t> B</a:t>
            </a:r>
            <a:r>
              <a:rPr lang="en-US" altLang="zh-CN" sz="2000" b="1" baseline="-25000" dirty="0">
                <a:ea typeface="宋体" panose="02010600030101010101" pitchFamily="2" charset="-122"/>
              </a:rPr>
              <a:t>3</a:t>
            </a:r>
            <a:r>
              <a:rPr lang="zh-CN" altLang="en-US" sz="2000" b="1" dirty="0">
                <a:ea typeface="宋体" panose="02010600030101010101" pitchFamily="2" charset="-122"/>
              </a:rPr>
              <a:t>、</a:t>
            </a:r>
            <a:r>
              <a:rPr lang="en-US" altLang="zh-CN" sz="2000" b="1" dirty="0">
                <a:ea typeface="宋体" panose="02010600030101010101" pitchFamily="2" charset="-122"/>
              </a:rPr>
              <a:t> B</a:t>
            </a:r>
            <a:r>
              <a:rPr lang="en-US" altLang="zh-CN" sz="2000" b="1" baseline="-25000" dirty="0">
                <a:ea typeface="宋体" panose="02010600030101010101" pitchFamily="2" charset="-122"/>
              </a:rPr>
              <a:t>4</a:t>
            </a:r>
            <a:r>
              <a:rPr lang="zh-CN" altLang="en-US" sz="2000" b="1" dirty="0">
                <a:ea typeface="宋体" panose="02010600030101010101" pitchFamily="2" charset="-122"/>
              </a:rPr>
              <a:t>的出口处活跃，而其</a:t>
            </a:r>
            <a:r>
              <a:rPr lang="en-US" altLang="zh-CN" sz="2000" b="1" dirty="0">
                <a:ea typeface="宋体" panose="02010600030101010101" pitchFamily="2" charset="-122"/>
              </a:rPr>
              <a:t>use(a,B)</a:t>
            </a:r>
            <a:r>
              <a:rPr lang="zh-CN" altLang="en-US" sz="2000" b="1" dirty="0">
                <a:ea typeface="宋体" panose="02010600030101010101" pitchFamily="2" charset="-122"/>
              </a:rPr>
              <a:t>的和为</a:t>
            </a:r>
            <a:r>
              <a:rPr lang="en-US" altLang="zh-CN" sz="2000" b="1" dirty="0">
                <a:ea typeface="宋体" panose="02010600030101010101" pitchFamily="2" charset="-122"/>
              </a:rPr>
              <a:t>2</a:t>
            </a:r>
            <a:r>
              <a:rPr lang="zh-CN" altLang="en-US" sz="2000" b="1" dirty="0">
                <a:ea typeface="宋体" panose="02010600030101010101" pitchFamily="2" charset="-122"/>
              </a:rPr>
              <a:t>，所以根据</a:t>
            </a:r>
            <a:r>
              <a:rPr lang="en-US" altLang="zh-CN" sz="2000" b="1" dirty="0">
                <a:ea typeface="宋体" panose="02010600030101010101" pitchFamily="2" charset="-122"/>
              </a:rPr>
              <a:t>8.1</a:t>
            </a:r>
            <a:r>
              <a:rPr lang="zh-CN" altLang="en-US" sz="2000" b="1" dirty="0">
                <a:ea typeface="宋体" panose="02010600030101010101" pitchFamily="2" charset="-122"/>
              </a:rPr>
              <a:t>计算可得</a:t>
            </a:r>
            <a:r>
              <a:rPr lang="en-US" altLang="zh-CN" sz="2000" b="1" dirty="0">
                <a:ea typeface="宋体" panose="02010600030101010101" pitchFamily="2" charset="-122"/>
              </a:rPr>
              <a:t>a</a:t>
            </a:r>
            <a:r>
              <a:rPr lang="zh-CN" altLang="en-US" sz="2000" b="1" dirty="0">
                <a:ea typeface="宋体" panose="02010600030101010101" pitchFamily="2" charset="-122"/>
              </a:rPr>
              <a:t>的收益为</a:t>
            </a:r>
            <a:r>
              <a:rPr lang="en-US" altLang="zh-CN" sz="2000" b="1" dirty="0">
                <a:ea typeface="宋体" panose="02010600030101010101" pitchFamily="2" charset="-122"/>
              </a:rPr>
              <a:t>4</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同理，</a:t>
            </a:r>
            <a:r>
              <a:rPr lang="en-US" altLang="zh-CN" sz="2000" b="1" dirty="0">
                <a:ea typeface="宋体" panose="02010600030101010101" pitchFamily="2" charset="-122"/>
              </a:rPr>
              <a:t>b</a:t>
            </a:r>
            <a:r>
              <a:rPr lang="zh-CN" altLang="en-US" sz="2000" b="1" dirty="0">
                <a:ea typeface="宋体" panose="02010600030101010101" pitchFamily="2" charset="-122"/>
              </a:rPr>
              <a:t>、</a:t>
            </a:r>
            <a:r>
              <a:rPr lang="en-US" altLang="zh-CN" sz="2000" b="1" dirty="0">
                <a:ea typeface="宋体" panose="02010600030101010101" pitchFamily="2" charset="-122"/>
              </a:rPr>
              <a:t>c</a:t>
            </a:r>
            <a:r>
              <a:rPr lang="zh-CN" altLang="en-US" sz="2000" b="1" dirty="0">
                <a:ea typeface="宋体" panose="02010600030101010101" pitchFamily="2" charset="-122"/>
              </a:rPr>
              <a:t>、</a:t>
            </a:r>
            <a:r>
              <a:rPr lang="en-US" altLang="zh-CN" sz="2000" b="1" dirty="0">
                <a:ea typeface="宋体" panose="02010600030101010101" pitchFamily="2" charset="-122"/>
              </a:rPr>
              <a:t>d</a:t>
            </a:r>
            <a:r>
              <a:rPr lang="zh-CN" altLang="en-US" sz="2000" b="1" dirty="0">
                <a:ea typeface="宋体" panose="02010600030101010101" pitchFamily="2" charset="-122"/>
              </a:rPr>
              <a:t>、</a:t>
            </a:r>
            <a:r>
              <a:rPr lang="en-US" altLang="zh-CN" sz="2000" b="1" dirty="0">
                <a:ea typeface="宋体" panose="02010600030101010101" pitchFamily="2" charset="-122"/>
              </a:rPr>
              <a:t>e</a:t>
            </a:r>
            <a:r>
              <a:rPr lang="zh-CN" altLang="en-US" sz="2000" b="1" dirty="0">
                <a:ea typeface="宋体" panose="02010600030101010101" pitchFamily="2" charset="-122"/>
              </a:rPr>
              <a:t>、</a:t>
            </a:r>
            <a:r>
              <a:rPr lang="en-US" altLang="zh-CN" sz="2000" b="1" dirty="0">
                <a:ea typeface="宋体" panose="02010600030101010101" pitchFamily="2" charset="-122"/>
              </a:rPr>
              <a:t>f</a:t>
            </a:r>
            <a:r>
              <a:rPr lang="zh-CN" altLang="en-US" sz="2000" b="1" dirty="0">
                <a:ea typeface="宋体" panose="02010600030101010101" pitchFamily="2" charset="-122"/>
              </a:rPr>
              <a:t>的收益分别为</a:t>
            </a:r>
            <a:r>
              <a:rPr lang="en-US" altLang="zh-CN" sz="2000" b="1" dirty="0">
                <a:ea typeface="宋体" panose="02010600030101010101" pitchFamily="2" charset="-122"/>
              </a:rPr>
              <a:t>5</a:t>
            </a:r>
            <a:r>
              <a:rPr lang="zh-CN" altLang="en-US" sz="2000" b="1" dirty="0">
                <a:ea typeface="宋体" panose="02010600030101010101" pitchFamily="2" charset="-122"/>
              </a:rPr>
              <a:t>、</a:t>
            </a:r>
            <a:r>
              <a:rPr lang="en-US" altLang="zh-CN" sz="2000" b="1" dirty="0">
                <a:ea typeface="宋体" panose="02010600030101010101" pitchFamily="2" charset="-122"/>
              </a:rPr>
              <a:t>3</a:t>
            </a:r>
            <a:r>
              <a:rPr lang="zh-CN" altLang="en-US" sz="2000" b="1" dirty="0">
                <a:ea typeface="宋体" panose="02010600030101010101" pitchFamily="2" charset="-122"/>
              </a:rPr>
              <a:t>、</a:t>
            </a:r>
            <a:r>
              <a:rPr lang="en-US" altLang="zh-CN" sz="2000" b="1" dirty="0">
                <a:ea typeface="宋体" panose="02010600030101010101" pitchFamily="2" charset="-122"/>
              </a:rPr>
              <a:t>6</a:t>
            </a:r>
            <a:r>
              <a:rPr lang="zh-CN" altLang="en-US" sz="2000" b="1" dirty="0">
                <a:ea typeface="宋体" panose="02010600030101010101" pitchFamily="2" charset="-122"/>
              </a:rPr>
              <a:t>、</a:t>
            </a:r>
            <a:r>
              <a:rPr lang="en-US" altLang="zh-CN" sz="2000" b="1" dirty="0">
                <a:ea typeface="宋体" panose="02010600030101010101" pitchFamily="2" charset="-122"/>
              </a:rPr>
              <a:t>4</a:t>
            </a:r>
            <a:r>
              <a:rPr lang="zh-CN" altLang="en-US" sz="2000" b="1" dirty="0">
                <a:ea typeface="宋体" panose="02010600030101010101" pitchFamily="2" charset="-122"/>
              </a:rPr>
              <a:t>、</a:t>
            </a:r>
            <a:r>
              <a:rPr lang="en-US" altLang="zh-CN" sz="2000" b="1" dirty="0">
                <a:ea typeface="宋体" panose="02010600030101010101" pitchFamily="2" charset="-122"/>
              </a:rPr>
              <a:t>4</a:t>
            </a:r>
            <a:endParaRPr lang="en-US" altLang="zh-CN" sz="2000" b="1" dirty="0">
              <a:ea typeface="宋体" panose="02010600030101010101" pitchFamily="2" charset="-122"/>
            </a:endParaRPr>
          </a:p>
        </p:txBody>
      </p:sp>
      <p:pic>
        <p:nvPicPr>
          <p:cNvPr id="362500" name="Picture 2"/>
          <p:cNvPicPr>
            <a:picLocks noChangeAspect="1"/>
          </p:cNvPicPr>
          <p:nvPr/>
        </p:nvPicPr>
        <p:blipFill>
          <a:blip r:embed="rId1"/>
          <a:stretch>
            <a:fillRect/>
          </a:stretch>
        </p:blipFill>
        <p:spPr>
          <a:xfrm>
            <a:off x="3073400" y="1349375"/>
            <a:ext cx="6307138" cy="5440363"/>
          </a:xfrm>
          <a:prstGeom prst="rect">
            <a:avLst/>
          </a:prstGeom>
          <a:noFill/>
          <a:ln w="9525">
            <a:noFill/>
          </a:ln>
        </p:spPr>
      </p:pic>
    </p:spTree>
  </p:cSld>
  <p:clrMapOvr>
    <a:masterClrMapping/>
  </p:clrMapOvr>
  <p:transition spd="slow"/>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使用计数法（</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64547" name="Rectangle 3"/>
          <p:cNvSpPr>
            <a:spLocks noGrp="1"/>
          </p:cNvSpPr>
          <p:nvPr>
            <p:ph idx="1"/>
          </p:nvPr>
        </p:nvSpPr>
        <p:spPr>
          <a:xfrm>
            <a:off x="179388" y="1484313"/>
            <a:ext cx="2376487" cy="4687887"/>
          </a:xfrm>
        </p:spPr>
        <p:txBody>
          <a:bodyPr vert="horz" wrap="square" lIns="92075" tIns="46038" rIns="92075" bIns="46038" anchor="t" anchorCtr="0"/>
          <a:p>
            <a:pPr>
              <a:lnSpc>
                <a:spcPct val="90000"/>
              </a:lnSpc>
            </a:pPr>
            <a:r>
              <a:rPr lang="zh-CN" altLang="en-US" sz="2400" b="1" dirty="0">
                <a:ea typeface="宋体" panose="02010600030101010101" pitchFamily="2" charset="-122"/>
              </a:rPr>
              <a:t>例</a:t>
            </a:r>
            <a:r>
              <a:rPr lang="en-US" altLang="zh-CN" sz="2400" b="1" dirty="0">
                <a:ea typeface="宋体" panose="02010600030101010101" pitchFamily="2" charset="-122"/>
              </a:rPr>
              <a:t>8.17</a:t>
            </a:r>
            <a:r>
              <a:rPr lang="zh-CN" altLang="en-US" sz="2400" b="1" dirty="0">
                <a:ea typeface="宋体" panose="02010600030101010101" pitchFamily="2" charset="-122"/>
              </a:rPr>
              <a:t>的分配结果</a:t>
            </a:r>
            <a:endParaRPr lang="en-US" altLang="zh-CN" sz="2400" b="1" dirty="0">
              <a:ea typeface="宋体" panose="02010600030101010101" pitchFamily="2" charset="-122"/>
            </a:endParaRPr>
          </a:p>
          <a:p>
            <a:pPr lvl="1">
              <a:lnSpc>
                <a:spcPct val="90000"/>
              </a:lnSpc>
            </a:pPr>
            <a:r>
              <a:rPr lang="en-US" altLang="zh-CN" sz="2000" b="1" dirty="0">
                <a:ea typeface="宋体" panose="02010600030101010101" pitchFamily="2" charset="-122"/>
              </a:rPr>
              <a:t>R0</a:t>
            </a:r>
            <a:r>
              <a:rPr lang="zh-CN" altLang="en-US" sz="2000" b="1" dirty="0">
                <a:ea typeface="宋体" panose="02010600030101010101" pitchFamily="2" charset="-122"/>
              </a:rPr>
              <a:t>、</a:t>
            </a:r>
            <a:r>
              <a:rPr lang="en-US" altLang="zh-CN" sz="2000" b="1" dirty="0">
                <a:ea typeface="宋体" panose="02010600030101010101" pitchFamily="2" charset="-122"/>
              </a:rPr>
              <a:t>R1</a:t>
            </a:r>
            <a:r>
              <a:rPr lang="zh-CN" altLang="en-US" sz="2000" b="1" dirty="0">
                <a:ea typeface="宋体" panose="02010600030101010101" pitchFamily="2" charset="-122"/>
              </a:rPr>
              <a:t>、</a:t>
            </a:r>
            <a:r>
              <a:rPr lang="en-US" altLang="zh-CN" sz="2000" b="1" dirty="0">
                <a:ea typeface="宋体" panose="02010600030101010101" pitchFamily="2" charset="-122"/>
              </a:rPr>
              <a:t>R2</a:t>
            </a:r>
            <a:r>
              <a:rPr lang="zh-CN" altLang="en-US" sz="2000" b="1" dirty="0">
                <a:ea typeface="宋体" panose="02010600030101010101" pitchFamily="2" charset="-122"/>
              </a:rPr>
              <a:t>分别存放</a:t>
            </a:r>
            <a:r>
              <a:rPr lang="en-US" altLang="zh-CN" sz="2000" b="1" dirty="0">
                <a:ea typeface="宋体" panose="02010600030101010101" pitchFamily="2" charset="-122"/>
              </a:rPr>
              <a:t>a</a:t>
            </a:r>
            <a:r>
              <a:rPr lang="zh-CN" altLang="en-US" sz="2000" b="1" dirty="0">
                <a:ea typeface="宋体" panose="02010600030101010101" pitchFamily="2" charset="-122"/>
              </a:rPr>
              <a:t>、</a:t>
            </a:r>
            <a:r>
              <a:rPr lang="en-US" altLang="zh-CN" sz="2000" b="1" dirty="0">
                <a:ea typeface="宋体" panose="02010600030101010101" pitchFamily="2" charset="-122"/>
              </a:rPr>
              <a:t>b</a:t>
            </a:r>
            <a:r>
              <a:rPr lang="zh-CN" altLang="en-US" sz="2000" b="1" dirty="0">
                <a:ea typeface="宋体" panose="02010600030101010101" pitchFamily="2" charset="-122"/>
              </a:rPr>
              <a:t>、</a:t>
            </a:r>
            <a:r>
              <a:rPr lang="en-US" altLang="zh-CN" sz="2000" b="1" dirty="0">
                <a:ea typeface="宋体" panose="02010600030101010101" pitchFamily="2" charset="-122"/>
              </a:rPr>
              <a:t>d</a:t>
            </a:r>
            <a:endParaRPr lang="en-US" altLang="zh-CN" sz="2000" b="1" dirty="0">
              <a:ea typeface="宋体" panose="02010600030101010101" pitchFamily="2" charset="-122"/>
            </a:endParaRPr>
          </a:p>
          <a:p>
            <a:pPr lvl="1">
              <a:lnSpc>
                <a:spcPct val="90000"/>
              </a:lnSpc>
            </a:pPr>
            <a:r>
              <a:rPr lang="zh-CN" altLang="en-US" sz="2000" b="1" dirty="0">
                <a:ea typeface="宋体" panose="02010600030101010101" pitchFamily="2" charset="-122"/>
              </a:rPr>
              <a:t>图</a:t>
            </a:r>
            <a:r>
              <a:rPr lang="en-US" altLang="zh-CN" sz="2000" b="1" dirty="0">
                <a:ea typeface="宋体" panose="02010600030101010101" pitchFamily="2" charset="-122"/>
              </a:rPr>
              <a:t>8-18</a:t>
            </a:r>
            <a:r>
              <a:rPr lang="zh-CN" altLang="en-US" sz="2000" b="1" dirty="0">
                <a:ea typeface="宋体" panose="02010600030101010101" pitchFamily="2" charset="-122"/>
              </a:rPr>
              <a:t>中没有为被省略的跳转语句生成代码</a:t>
            </a:r>
            <a:endParaRPr lang="en-US" altLang="zh-CN" sz="2000" b="1" dirty="0">
              <a:ea typeface="宋体" panose="02010600030101010101" pitchFamily="2" charset="-122"/>
            </a:endParaRPr>
          </a:p>
        </p:txBody>
      </p:sp>
      <p:pic>
        <p:nvPicPr>
          <p:cNvPr id="364548" name="Picture 2"/>
          <p:cNvPicPr>
            <a:picLocks noChangeAspect="1"/>
          </p:cNvPicPr>
          <p:nvPr/>
        </p:nvPicPr>
        <p:blipFill>
          <a:blip r:embed="rId1"/>
          <a:stretch>
            <a:fillRect/>
          </a:stretch>
        </p:blipFill>
        <p:spPr>
          <a:xfrm>
            <a:off x="2771775" y="1274763"/>
            <a:ext cx="6337300" cy="5576887"/>
          </a:xfrm>
          <a:prstGeom prst="rect">
            <a:avLst/>
          </a:prstGeom>
          <a:noFill/>
          <a:ln w="9525">
            <a:noFill/>
          </a:ln>
        </p:spPr>
      </p:pic>
    </p:spTree>
  </p:cSld>
  <p:clrMapOvr>
    <a:masterClrMapping/>
  </p:clrMapOvr>
  <p:transition spd="slow"/>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利用图着色方法进行寄存器分配</a:t>
            </a:r>
            <a:endParaRPr lang="zh-CN" altLang="en-US" dirty="0">
              <a:latin typeface="Times New Roman" panose="02020603050405020304" pitchFamily="18" charset="0"/>
              <a:ea typeface="宋体" panose="02010600030101010101" pitchFamily="2" charset="-122"/>
            </a:endParaRPr>
          </a:p>
        </p:txBody>
      </p:sp>
      <p:sp>
        <p:nvSpPr>
          <p:cNvPr id="366595" name="Rectangle 3"/>
          <p:cNvSpPr>
            <a:spLocks noGrp="1"/>
          </p:cNvSpPr>
          <p:nvPr>
            <p:ph idx="1"/>
          </p:nvPr>
        </p:nvSpPr>
        <p:spPr>
          <a:xfrm>
            <a:off x="684213" y="1371600"/>
            <a:ext cx="7773987"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简单计数的一些问题</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倾向于把频繁使用的变量分配寄存器</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未考虑不同变量有可能共享使用某个寄存器</a:t>
            </a:r>
            <a:endParaRPr lang="en-US" altLang="zh-CN" sz="2200" b="1" dirty="0">
              <a:ea typeface="宋体" panose="02010600030101010101" pitchFamily="2" charset="-122"/>
            </a:endParaRPr>
          </a:p>
          <a:p>
            <a:pPr lvl="2">
              <a:lnSpc>
                <a:spcPct val="90000"/>
              </a:lnSpc>
            </a:pPr>
            <a:r>
              <a:rPr lang="zh-CN" altLang="en-US" sz="2000" b="1" dirty="0">
                <a:ea typeface="宋体" panose="02010600030101010101" pitchFamily="2" charset="-122"/>
              </a:rPr>
              <a:t>哪些变量可以共享使用一个寄存器？</a:t>
            </a:r>
            <a:endParaRPr lang="en-US" altLang="zh-CN" sz="2000" b="1" dirty="0">
              <a:ea typeface="宋体" panose="02010600030101010101" pitchFamily="2" charset="-122"/>
            </a:endParaRPr>
          </a:p>
          <a:p>
            <a:pPr lvl="2">
              <a:lnSpc>
                <a:spcPct val="90000"/>
              </a:lnSpc>
            </a:pPr>
            <a:r>
              <a:rPr lang="zh-CN" altLang="en-US" sz="2000" b="1" dirty="0">
                <a:ea typeface="宋体" panose="02010600030101010101" pitchFamily="2" charset="-122"/>
              </a:rPr>
              <a:t>当寄存器正在被某个变量使用过程中，这个寄存器被征用</a:t>
            </a:r>
            <a:endParaRPr lang="en-US" altLang="zh-CN" sz="2000" b="1" dirty="0">
              <a:ea typeface="宋体" panose="02010600030101010101" pitchFamily="2" charset="-122"/>
            </a:endParaRPr>
          </a:p>
          <a:p>
            <a:pPr lvl="3">
              <a:lnSpc>
                <a:spcPct val="90000"/>
              </a:lnSpc>
            </a:pPr>
            <a:r>
              <a:rPr lang="zh-CN" altLang="en-US" sz="1800" b="1" dirty="0">
                <a:ea typeface="宋体" panose="02010600030101010101" pitchFamily="2" charset="-122"/>
              </a:rPr>
              <a:t>由于某个变量更重要</a:t>
            </a:r>
            <a:r>
              <a:rPr lang="en-US" altLang="zh-CN" sz="1800" b="1" dirty="0">
                <a:ea typeface="宋体" panose="02010600030101010101" pitchFamily="2" charset="-122"/>
              </a:rPr>
              <a:t>/</a:t>
            </a:r>
            <a:r>
              <a:rPr lang="zh-CN" altLang="en-US" sz="1800" b="1" dirty="0">
                <a:ea typeface="宋体" panose="02010600030101010101" pitchFamily="2" charset="-122"/>
              </a:rPr>
              <a:t>某个操作必须使用寄存器或特定的寄存器，寄存器分配算法选择这个寄存器作为分配目标</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需要把该寄存器原有的内容写回内存，称为溢出（</a:t>
            </a:r>
            <a:r>
              <a:rPr lang="en-US" altLang="zh-CN" sz="1800" b="1" dirty="0">
                <a:ea typeface="宋体" panose="02010600030101010101" pitchFamily="2" charset="-122"/>
              </a:rPr>
              <a:t>spill</a:t>
            </a:r>
            <a:r>
              <a:rPr lang="zh-CN" altLang="en-US" sz="1800" b="1" dirty="0">
                <a:ea typeface="宋体" panose="02010600030101010101" pitchFamily="2" charset="-122"/>
              </a:rPr>
              <a:t>）</a:t>
            </a:r>
            <a:endParaRPr lang="en-US" altLang="zh-CN" sz="1800" b="1" dirty="0">
              <a:ea typeface="宋体" panose="02010600030101010101" pitchFamily="2" charset="-122"/>
            </a:endParaRPr>
          </a:p>
          <a:p>
            <a:pPr lvl="3">
              <a:lnSpc>
                <a:spcPct val="90000"/>
              </a:lnSpc>
            </a:pPr>
            <a:r>
              <a:rPr lang="zh-CN" altLang="en-US" sz="1800" b="1" dirty="0">
                <a:ea typeface="宋体" panose="02010600030101010101" pitchFamily="2" charset="-122"/>
              </a:rPr>
              <a:t>问题是，此时该选择哪个寄存器？</a:t>
            </a:r>
            <a:endParaRPr lang="en-US" altLang="zh-CN" sz="1800" b="1" dirty="0">
              <a:ea typeface="宋体" panose="02010600030101010101" pitchFamily="2" charset="-122"/>
            </a:endParaRPr>
          </a:p>
          <a:p>
            <a:pPr lvl="1">
              <a:lnSpc>
                <a:spcPct val="90000"/>
              </a:lnSpc>
            </a:pPr>
            <a:r>
              <a:rPr lang="zh-CN" altLang="en-US" sz="2200" b="1" dirty="0">
                <a:ea typeface="宋体" panose="02010600030101010101" pitchFamily="2" charset="-122"/>
              </a:rPr>
              <a:t>总收益高  </a:t>
            </a:r>
            <a:r>
              <a:rPr lang="en-US" altLang="zh-CN" sz="2200" b="1" dirty="0">
                <a:ea typeface="宋体" panose="02010600030101010101" pitchFamily="2" charset="-122"/>
              </a:rPr>
              <a:t>vs</a:t>
            </a:r>
            <a:r>
              <a:rPr lang="zh-CN" altLang="en-US" sz="2200" b="1" dirty="0">
                <a:ea typeface="宋体" panose="02010600030101010101" pitchFamily="2" charset="-122"/>
              </a:rPr>
              <a:t>  单位代码大小内的收益？</a:t>
            </a:r>
            <a:endParaRPr lang="en-US" altLang="zh-CN" sz="2200" b="1" dirty="0">
              <a:ea typeface="宋体" panose="02010600030101010101" pitchFamily="2" charset="-122"/>
            </a:endParaRPr>
          </a:p>
          <a:p>
            <a:pPr>
              <a:lnSpc>
                <a:spcPct val="90000"/>
              </a:lnSpc>
            </a:pPr>
            <a:r>
              <a:rPr lang="zh-CN" altLang="en-US" sz="2400" b="1" dirty="0">
                <a:ea typeface="宋体" panose="02010600030101010101" pitchFamily="2" charset="-122"/>
              </a:rPr>
              <a:t>图着色寄存器分配的思路</a:t>
            </a:r>
            <a:endParaRPr lang="en-US" altLang="zh-CN" sz="2400" b="1" dirty="0">
              <a:ea typeface="宋体" panose="02010600030101010101" pitchFamily="2" charset="-122"/>
            </a:endParaRPr>
          </a:p>
          <a:p>
            <a:pPr lvl="1">
              <a:lnSpc>
                <a:spcPct val="90000"/>
              </a:lnSpc>
            </a:pPr>
            <a:r>
              <a:rPr lang="zh-CN" altLang="en-US" sz="2200" b="1" dirty="0">
                <a:ea typeface="宋体" panose="02010600030101010101" pitchFamily="2" charset="-122"/>
              </a:rPr>
              <a:t>第一遍，扫描代码，将三地址代码中的变量名转换为符号化寄存器的名字（假定有无穷多的符号化寄存器）</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第二遍，构造变量使用的干涉图，利用图的</a:t>
            </a:r>
            <a:r>
              <a:rPr lang="en-US" altLang="zh-CN" sz="2200" b="1" dirty="0">
                <a:ea typeface="宋体" panose="02010600030101010101" pitchFamily="2" charset="-122"/>
              </a:rPr>
              <a:t>k-</a:t>
            </a:r>
            <a:r>
              <a:rPr lang="zh-CN" altLang="en-US" sz="2200" b="1" dirty="0">
                <a:ea typeface="宋体" panose="02010600030101010101" pitchFamily="2" charset="-122"/>
              </a:rPr>
              <a:t>着色方法（可以把</a:t>
            </a:r>
            <a:r>
              <a:rPr lang="en-US" altLang="zh-CN" sz="2200" b="1" dirty="0">
                <a:ea typeface="宋体" panose="02010600030101010101" pitchFamily="2" charset="-122"/>
              </a:rPr>
              <a:t>k</a:t>
            </a:r>
            <a:r>
              <a:rPr lang="zh-CN" altLang="en-US" sz="2200" b="1" dirty="0">
                <a:ea typeface="宋体" panose="02010600030101010101" pitchFamily="2" charset="-122"/>
              </a:rPr>
              <a:t>看成是寄存器的个数）</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尽可能减少访存的次数</a:t>
            </a:r>
            <a:endParaRPr lang="en-US" altLang="zh-CN" sz="2200" b="1" dirty="0">
              <a:ea typeface="宋体" panose="02010600030101010101" pitchFamily="2" charset="-122"/>
            </a:endParaRPr>
          </a:p>
        </p:txBody>
      </p:sp>
    </p:spTree>
  </p:cSld>
  <p:clrMapOvr>
    <a:masterClrMapping/>
  </p:clrMapOvr>
  <p:transition spd="slow"/>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活跃区间与干涉</a:t>
            </a:r>
            <a:endParaRPr lang="zh-CN" altLang="en-US" dirty="0">
              <a:latin typeface="Times New Roman" panose="02020603050405020304" pitchFamily="18" charset="0"/>
              <a:ea typeface="宋体" panose="02010600030101010101" pitchFamily="2" charset="-122"/>
            </a:endParaRPr>
          </a:p>
        </p:txBody>
      </p:sp>
      <p:sp>
        <p:nvSpPr>
          <p:cNvPr id="368643"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一个变量的活跃区间：</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一个变量的（极小化）活跃区间是变量的定值与引用的一个子集，对于此集合中的任意定值</a:t>
            </a:r>
            <a:r>
              <a:rPr lang="en-US" altLang="zh-CN" sz="2200" b="1" dirty="0">
                <a:ea typeface="宋体" panose="02010600030101010101" pitchFamily="2" charset="-122"/>
              </a:rPr>
              <a:t>d</a:t>
            </a:r>
            <a:r>
              <a:rPr lang="en-US" altLang="zh-CN" sz="2200" b="1" baseline="-30000" dirty="0">
                <a:ea typeface="宋体" panose="02010600030101010101" pitchFamily="2" charset="-122"/>
              </a:rPr>
              <a:t>m</a:t>
            </a:r>
            <a:r>
              <a:rPr lang="zh-CN" altLang="en-US" sz="2200" b="1" dirty="0">
                <a:ea typeface="宋体" panose="02010600030101010101" pitchFamily="2" charset="-122"/>
              </a:rPr>
              <a:t>和引用</a:t>
            </a:r>
            <a:r>
              <a:rPr lang="en-US" altLang="zh-CN" sz="2200" b="1" dirty="0">
                <a:ea typeface="宋体" panose="02010600030101010101" pitchFamily="2" charset="-122"/>
              </a:rPr>
              <a:t>u</a:t>
            </a:r>
            <a:r>
              <a:rPr lang="en-US" altLang="zh-CN" sz="2200" b="1" baseline="-30000" dirty="0">
                <a:ea typeface="宋体" panose="02010600030101010101" pitchFamily="2" charset="-122"/>
              </a:rPr>
              <a:t>n</a:t>
            </a:r>
            <a:r>
              <a:rPr lang="en-US" altLang="zh-CN" sz="2200" b="1" dirty="0">
                <a:ea typeface="宋体" panose="02010600030101010101" pitchFamily="2" charset="-122"/>
              </a:rPr>
              <a:t>，</a:t>
            </a:r>
            <a:r>
              <a:rPr lang="zh-CN" altLang="en-US" sz="2200" b="1" dirty="0">
                <a:ea typeface="宋体" panose="02010600030101010101" pitchFamily="2" charset="-122"/>
              </a:rPr>
              <a:t>或者</a:t>
            </a:r>
            <a:r>
              <a:rPr lang="en-US" altLang="zh-CN" sz="2200" b="1" dirty="0">
                <a:ea typeface="宋体" panose="02010600030101010101" pitchFamily="2" charset="-122"/>
              </a:rPr>
              <a:t>u</a:t>
            </a:r>
            <a:r>
              <a:rPr lang="en-US" altLang="zh-CN" sz="2200" b="1" baseline="-30000" dirty="0">
                <a:ea typeface="宋体" panose="02010600030101010101" pitchFamily="2" charset="-122"/>
              </a:rPr>
              <a:t>n</a:t>
            </a:r>
            <a:r>
              <a:rPr lang="zh-CN" altLang="en-US" sz="2200" b="1" dirty="0">
                <a:ea typeface="宋体" panose="02010600030101010101" pitchFamily="2" charset="-122"/>
              </a:rPr>
              <a:t>在</a:t>
            </a:r>
            <a:r>
              <a:rPr lang="en-US" altLang="zh-CN" sz="2200" b="1" dirty="0">
                <a:ea typeface="宋体" panose="02010600030101010101" pitchFamily="2" charset="-122"/>
              </a:rPr>
              <a:t>d</a:t>
            </a:r>
            <a:r>
              <a:rPr lang="en-US" altLang="zh-CN" sz="2200" b="1" baseline="-30000" dirty="0">
                <a:ea typeface="宋体" panose="02010600030101010101" pitchFamily="2" charset="-122"/>
              </a:rPr>
              <a:t>m</a:t>
            </a:r>
            <a:r>
              <a:rPr lang="zh-CN" altLang="en-US" sz="2200" b="1" dirty="0">
                <a:ea typeface="宋体" panose="02010600030101010101" pitchFamily="2" charset="-122"/>
              </a:rPr>
              <a:t>的</a:t>
            </a:r>
            <a:r>
              <a:rPr lang="en-US" altLang="zh-CN" sz="2200" b="1" dirty="0">
                <a:ea typeface="宋体" panose="02010600030101010101" pitchFamily="2" charset="-122"/>
              </a:rPr>
              <a:t>du</a:t>
            </a:r>
            <a:r>
              <a:rPr lang="zh-CN" altLang="en-US" sz="2200" b="1" dirty="0">
                <a:ea typeface="宋体" panose="02010600030101010101" pitchFamily="2" charset="-122"/>
              </a:rPr>
              <a:t>链上，或者存在一个由此集合中的定值与引用组成的交错序列</a:t>
            </a:r>
            <a:r>
              <a:rPr lang="en-US" altLang="zh-CN" sz="2200" b="1" dirty="0">
                <a:ea typeface="宋体" panose="02010600030101010101" pitchFamily="2" charset="-122"/>
              </a:rPr>
              <a:t>d</a:t>
            </a:r>
            <a:r>
              <a:rPr lang="en-US" altLang="zh-CN" sz="2200" b="1" baseline="-30000" dirty="0">
                <a:ea typeface="宋体" panose="02010600030101010101" pitchFamily="2" charset="-122"/>
              </a:rPr>
              <a:t>m</a:t>
            </a:r>
            <a:r>
              <a:rPr lang="en-US" altLang="zh-CN" sz="2200" b="1" dirty="0">
                <a:ea typeface="宋体" panose="02010600030101010101" pitchFamily="2" charset="-122"/>
              </a:rPr>
              <a:t>=d</a:t>
            </a:r>
            <a:r>
              <a:rPr lang="en-US" altLang="zh-CN" sz="2200" b="1" baseline="-30000" dirty="0">
                <a:ea typeface="宋体" panose="02010600030101010101" pitchFamily="2" charset="-122"/>
              </a:rPr>
              <a:t>0</a:t>
            </a:r>
            <a:r>
              <a:rPr lang="en-US" altLang="zh-CN" sz="2200" b="1" dirty="0">
                <a:ea typeface="宋体" panose="02010600030101010101" pitchFamily="2" charset="-122"/>
              </a:rPr>
              <a:t>、u</a:t>
            </a:r>
            <a:r>
              <a:rPr lang="en-US" altLang="zh-CN" sz="2200" b="1" baseline="-30000" dirty="0">
                <a:ea typeface="宋体" panose="02010600030101010101" pitchFamily="2" charset="-122"/>
              </a:rPr>
              <a:t>0</a:t>
            </a:r>
            <a:r>
              <a:rPr lang="en-US" altLang="zh-CN" sz="2200" b="1" dirty="0">
                <a:ea typeface="宋体" panose="02010600030101010101" pitchFamily="2" charset="-122"/>
              </a:rPr>
              <a:t>、d</a:t>
            </a:r>
            <a:r>
              <a:rPr lang="en-US" altLang="zh-CN" sz="2200" b="1" baseline="-30000" dirty="0">
                <a:ea typeface="宋体" panose="02010600030101010101" pitchFamily="2" charset="-122"/>
              </a:rPr>
              <a:t>1</a:t>
            </a:r>
            <a:r>
              <a:rPr lang="en-US" altLang="zh-CN" sz="2200" b="1" dirty="0">
                <a:ea typeface="宋体" panose="02010600030101010101" pitchFamily="2" charset="-122"/>
              </a:rPr>
              <a:t>、u</a:t>
            </a:r>
            <a:r>
              <a:rPr lang="en-US" altLang="zh-CN" sz="2200" b="1" baseline="-30000" dirty="0">
                <a:ea typeface="宋体" panose="02010600030101010101" pitchFamily="2" charset="-122"/>
              </a:rPr>
              <a:t>1</a:t>
            </a:r>
            <a:r>
              <a:rPr lang="en-US" altLang="zh-CN" sz="2200" b="1" dirty="0">
                <a:ea typeface="宋体" panose="02010600030101010101" pitchFamily="2" charset="-122"/>
              </a:rPr>
              <a:t>、、、d</a:t>
            </a:r>
            <a:r>
              <a:rPr lang="en-US" altLang="zh-CN" sz="2200" b="1" baseline="-30000" dirty="0">
                <a:ea typeface="宋体" panose="02010600030101010101" pitchFamily="2" charset="-122"/>
              </a:rPr>
              <a:t>k</a:t>
            </a:r>
            <a:r>
              <a:rPr lang="en-US" altLang="zh-CN" sz="2200" b="1" dirty="0">
                <a:ea typeface="宋体" panose="02010600030101010101" pitchFamily="2" charset="-122"/>
              </a:rPr>
              <a:t>、u</a:t>
            </a:r>
            <a:r>
              <a:rPr lang="en-US" altLang="zh-CN" sz="2200" b="1" baseline="-30000" dirty="0">
                <a:ea typeface="宋体" panose="02010600030101010101" pitchFamily="2" charset="-122"/>
              </a:rPr>
              <a:t>k</a:t>
            </a:r>
            <a:r>
              <a:rPr lang="en-US" altLang="zh-CN" sz="2200" b="1" dirty="0">
                <a:ea typeface="宋体" panose="02010600030101010101" pitchFamily="2" charset="-122"/>
              </a:rPr>
              <a:t>= u</a:t>
            </a:r>
            <a:r>
              <a:rPr lang="en-US" altLang="zh-CN" sz="2200" b="1" baseline="-30000" dirty="0">
                <a:ea typeface="宋体" panose="02010600030101010101" pitchFamily="2" charset="-122"/>
              </a:rPr>
              <a:t>n</a:t>
            </a:r>
            <a:r>
              <a:rPr lang="en-US" altLang="zh-CN" sz="2200" b="1" dirty="0">
                <a:ea typeface="宋体" panose="02010600030101010101" pitchFamily="2" charset="-122"/>
              </a:rPr>
              <a:t>，</a:t>
            </a:r>
            <a:r>
              <a:rPr lang="zh-CN" altLang="en-US" sz="2200" b="1" dirty="0">
                <a:ea typeface="宋体" panose="02010600030101010101" pitchFamily="2" charset="-122"/>
              </a:rPr>
              <a:t>其中的任何一个</a:t>
            </a:r>
            <a:r>
              <a:rPr lang="en-US" altLang="zh-CN" sz="2200" b="1" dirty="0">
                <a:ea typeface="宋体" panose="02010600030101010101" pitchFamily="2" charset="-122"/>
              </a:rPr>
              <a:t>u</a:t>
            </a:r>
            <a:r>
              <a:rPr lang="en-US" altLang="zh-CN" sz="2200" b="1" baseline="-30000" dirty="0">
                <a:ea typeface="宋体" panose="02010600030101010101" pitchFamily="2" charset="-122"/>
              </a:rPr>
              <a:t>i</a:t>
            </a:r>
            <a:r>
              <a:rPr lang="en-US" altLang="zh-CN" sz="2200" b="1" dirty="0">
                <a:ea typeface="宋体" panose="02010600030101010101" pitchFamily="2" charset="-122"/>
              </a:rPr>
              <a:t>、</a:t>
            </a:r>
            <a:r>
              <a:rPr lang="zh-CN" altLang="en-US" sz="2200" b="1" dirty="0">
                <a:ea typeface="宋体" panose="02010600030101010101" pitchFamily="2" charset="-122"/>
              </a:rPr>
              <a:t>同时在</a:t>
            </a:r>
            <a:r>
              <a:rPr lang="en-US" altLang="zh-CN" sz="2200" b="1" dirty="0">
                <a:ea typeface="宋体" panose="02010600030101010101" pitchFamily="2" charset="-122"/>
              </a:rPr>
              <a:t>d</a:t>
            </a:r>
            <a:r>
              <a:rPr lang="en-US" altLang="zh-CN" sz="2200" b="1" baseline="-30000" dirty="0">
                <a:ea typeface="宋体" panose="02010600030101010101" pitchFamily="2" charset="-122"/>
              </a:rPr>
              <a:t>i</a:t>
            </a:r>
            <a:r>
              <a:rPr lang="zh-CN" altLang="en-US" sz="2200" b="1" dirty="0">
                <a:ea typeface="宋体" panose="02010600030101010101" pitchFamily="2" charset="-122"/>
              </a:rPr>
              <a:t>和</a:t>
            </a:r>
            <a:r>
              <a:rPr lang="en-US" altLang="zh-CN" sz="2200" b="1" dirty="0">
                <a:ea typeface="宋体" panose="02010600030101010101" pitchFamily="2" charset="-122"/>
              </a:rPr>
              <a:t>d</a:t>
            </a:r>
            <a:r>
              <a:rPr lang="en-US" altLang="zh-CN" sz="2200" b="1" baseline="-30000" dirty="0">
                <a:ea typeface="宋体" panose="02010600030101010101" pitchFamily="2" charset="-122"/>
              </a:rPr>
              <a:t>i+1</a:t>
            </a:r>
            <a:r>
              <a:rPr lang="zh-CN" altLang="en-US" sz="2200" b="1" dirty="0">
                <a:ea typeface="宋体" panose="02010600030101010101" pitchFamily="2" charset="-122"/>
              </a:rPr>
              <a:t>的</a:t>
            </a:r>
            <a:r>
              <a:rPr lang="en-US" altLang="zh-CN" sz="2200" b="1" dirty="0">
                <a:ea typeface="宋体" panose="02010600030101010101" pitchFamily="2" charset="-122"/>
              </a:rPr>
              <a:t>du</a:t>
            </a:r>
            <a:r>
              <a:rPr lang="zh-CN" altLang="en-US" sz="2200" b="1" dirty="0">
                <a:ea typeface="宋体" panose="02010600030101010101" pitchFamily="2" charset="-122"/>
              </a:rPr>
              <a:t>链上。</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直观上，变量的活跃区间对应于流图上联结变量的定值点和引用点的一个连通区域。</a:t>
            </a:r>
            <a:endParaRPr lang="zh-CN" altLang="en-US" sz="2200" b="1" dirty="0">
              <a:ea typeface="宋体" panose="02010600030101010101" pitchFamily="2" charset="-122"/>
            </a:endParaRPr>
          </a:p>
          <a:p>
            <a:pPr>
              <a:lnSpc>
                <a:spcPct val="90000"/>
              </a:lnSpc>
            </a:pPr>
            <a:r>
              <a:rPr lang="zh-CN" altLang="en-US" sz="2400" b="1" dirty="0">
                <a:ea typeface="宋体" panose="02010600030101010101" pitchFamily="2" charset="-122"/>
              </a:rPr>
              <a:t>干涉：</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两个变量的活跃区间干涉（简称两个变量干涉），若在其中某个变量的定值处，另一个变量是定值到达和活跃的。</a:t>
            </a:r>
            <a:endParaRPr lang="zh-CN" altLang="en-US" sz="2200" b="1" dirty="0">
              <a:ea typeface="宋体" panose="02010600030101010101" pitchFamily="2" charset="-122"/>
            </a:endParaRPr>
          </a:p>
        </p:txBody>
      </p:sp>
    </p:spTree>
  </p:cSld>
  <p:clrMapOvr>
    <a:masterClrMapping/>
  </p:clrMapOvr>
  <p:transition spd="slow"/>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图的着色与寄存器分配</a:t>
            </a:r>
            <a:endParaRPr lang="en-US" altLang="zh-CN" dirty="0">
              <a:latin typeface="Times New Roman" panose="02020603050405020304" pitchFamily="18" charset="0"/>
              <a:ea typeface="宋体" panose="02010600030101010101" pitchFamily="2" charset="-122"/>
            </a:endParaRPr>
          </a:p>
        </p:txBody>
      </p:sp>
      <p:sp>
        <p:nvSpPr>
          <p:cNvPr id="370691" name="Rectangle 3"/>
          <p:cNvSpPr>
            <a:spLocks noGrp="1"/>
          </p:cNvSpPr>
          <p:nvPr>
            <p:ph type="body" sz="half" idx="1"/>
          </p:nvPr>
        </p:nvSpPr>
        <p:spPr>
          <a:xfrm>
            <a:off x="914400" y="1447800"/>
            <a:ext cx="4267200" cy="4953000"/>
          </a:xfrm>
        </p:spPr>
        <p:txBody>
          <a:bodyPr vert="horz" wrap="square" lIns="92075" tIns="46038" rIns="92075" bIns="46038" anchor="t" anchorCtr="0"/>
          <a:p>
            <a:pPr>
              <a:lnSpc>
                <a:spcPct val="90000"/>
              </a:lnSpc>
              <a:buClr>
                <a:srgbClr val="063DE8"/>
              </a:buClr>
              <a:buSzPct val="125000"/>
              <a:buFontTx/>
            </a:pPr>
            <a:r>
              <a:rPr lang="zh-CN" altLang="en-GB" sz="2400" b="1" dirty="0">
                <a:ea typeface="宋体" panose="02010600030101010101" pitchFamily="2" charset="-122"/>
              </a:rPr>
              <a:t>当前占统治地位的寄存器分配方法是图着色方法</a:t>
            </a:r>
            <a:r>
              <a:rPr lang="zh-CN" altLang="en-US" sz="2400" b="1" dirty="0">
                <a:ea typeface="宋体" panose="02010600030101010101" pitchFamily="2" charset="-122"/>
              </a:rPr>
              <a:t>。</a:t>
            </a:r>
            <a:endParaRPr lang="zh-CN" altLang="en-US" sz="2400" b="1" dirty="0">
              <a:ea typeface="宋体" panose="02010600030101010101" pitchFamily="2" charset="-122"/>
            </a:endParaRPr>
          </a:p>
          <a:p>
            <a:pPr>
              <a:lnSpc>
                <a:spcPct val="90000"/>
              </a:lnSpc>
              <a:buClr>
                <a:srgbClr val="063DE8"/>
              </a:buClr>
              <a:buSzPct val="125000"/>
              <a:buFontTx/>
            </a:pPr>
            <a:r>
              <a:rPr lang="zh-CN" altLang="en-GB" sz="2400" b="1" dirty="0">
                <a:ea typeface="宋体" panose="02010600030101010101" pitchFamily="2" charset="-122"/>
              </a:rPr>
              <a:t>图的</a:t>
            </a:r>
            <a:r>
              <a:rPr lang="en-GB" altLang="zh-CN" sz="2400" b="1" dirty="0">
                <a:ea typeface="宋体" panose="02010600030101010101" pitchFamily="2" charset="-122"/>
              </a:rPr>
              <a:t>k</a:t>
            </a:r>
            <a:r>
              <a:rPr lang="zh-CN" altLang="en-GB" sz="2400" b="1" dirty="0">
                <a:ea typeface="宋体" panose="02010600030101010101" pitchFamily="2" charset="-122"/>
              </a:rPr>
              <a:t>着色</a:t>
            </a:r>
            <a:r>
              <a:rPr lang="zh-CN" altLang="en-US" sz="2400" b="1" dirty="0">
                <a:ea typeface="宋体" panose="02010600030101010101" pitchFamily="2" charset="-122"/>
              </a:rPr>
              <a:t>问题</a:t>
            </a:r>
            <a:endParaRPr lang="zh-CN" altLang="en-US" sz="2400" b="1" dirty="0">
              <a:ea typeface="宋体" panose="02010600030101010101" pitchFamily="2" charset="-122"/>
            </a:endParaRPr>
          </a:p>
          <a:p>
            <a:pPr>
              <a:lnSpc>
                <a:spcPct val="90000"/>
              </a:lnSpc>
              <a:buClr>
                <a:srgbClr val="063DE8"/>
              </a:buClr>
              <a:buSzPct val="125000"/>
              <a:buFontTx/>
            </a:pPr>
            <a:r>
              <a:rPr lang="zh-CN" altLang="en-US" sz="2400" b="1" dirty="0">
                <a:ea typeface="宋体" panose="02010600030101010101" pitchFamily="2" charset="-122"/>
              </a:rPr>
              <a:t>寄存器分配归结为图着色问题：</a:t>
            </a:r>
            <a:endParaRPr lang="zh-CN" altLang="en-US" sz="2400" b="1" dirty="0">
              <a:ea typeface="宋体" panose="02010600030101010101" pitchFamily="2" charset="-122"/>
            </a:endParaRPr>
          </a:p>
          <a:p>
            <a:pPr lvl="1">
              <a:lnSpc>
                <a:spcPct val="90000"/>
              </a:lnSpc>
              <a:buClr>
                <a:srgbClr val="063DE8"/>
              </a:buClr>
              <a:buSzPct val="70000"/>
              <a:buFont typeface="Monotype Sorts" pitchFamily="2" charset="2"/>
            </a:pPr>
            <a:r>
              <a:rPr lang="zh-CN" altLang="en-US" sz="2200" b="1" dirty="0">
                <a:ea typeface="宋体" panose="02010600030101010101" pitchFamily="2" charset="-122"/>
              </a:rPr>
              <a:t>首先构造干涉图，图中每个结点代表一个变量的活跃区间，如果两个变量干涉，则在相应的结点</a:t>
            </a:r>
            <a:r>
              <a:rPr lang="en-US" altLang="zh-CN" sz="2200" b="1" dirty="0">
                <a:ea typeface="宋体" panose="02010600030101010101" pitchFamily="2" charset="-122"/>
              </a:rPr>
              <a:t>v</a:t>
            </a:r>
            <a:r>
              <a:rPr lang="en-US" altLang="zh-CN" sz="2200" b="1" baseline="-30000" dirty="0">
                <a:ea typeface="宋体" panose="02010600030101010101" pitchFamily="2" charset="-122"/>
              </a:rPr>
              <a:t>i</a:t>
            </a:r>
            <a:r>
              <a:rPr lang="zh-CN" altLang="en-US" sz="2200" b="1" dirty="0">
                <a:ea typeface="宋体" panose="02010600030101010101" pitchFamily="2" charset="-122"/>
              </a:rPr>
              <a:t>和</a:t>
            </a:r>
            <a:r>
              <a:rPr lang="en-US" altLang="zh-CN" sz="2200" b="1" dirty="0">
                <a:ea typeface="宋体" panose="02010600030101010101" pitchFamily="2" charset="-122"/>
              </a:rPr>
              <a:t>v</a:t>
            </a:r>
            <a:r>
              <a:rPr lang="en-US" altLang="zh-CN" sz="2200" b="1" baseline="-30000" dirty="0">
                <a:ea typeface="宋体" panose="02010600030101010101" pitchFamily="2" charset="-122"/>
              </a:rPr>
              <a:t>j</a:t>
            </a:r>
            <a:r>
              <a:rPr lang="zh-CN" altLang="en-US" sz="2200" b="1" dirty="0">
                <a:ea typeface="宋体" panose="02010600030101010101" pitchFamily="2" charset="-122"/>
              </a:rPr>
              <a:t>之间用边</a:t>
            </a:r>
            <a:r>
              <a:rPr lang="en-US" altLang="zh-CN" sz="2200" b="1" dirty="0">
                <a:ea typeface="宋体" panose="02010600030101010101" pitchFamily="2" charset="-122"/>
              </a:rPr>
              <a:t>e</a:t>
            </a:r>
            <a:r>
              <a:rPr lang="en-US" altLang="zh-CN" sz="2200" b="1" baseline="-30000" dirty="0">
                <a:ea typeface="宋体" panose="02010600030101010101" pitchFamily="2" charset="-122"/>
              </a:rPr>
              <a:t>ij</a:t>
            </a:r>
            <a:r>
              <a:rPr lang="zh-CN" altLang="en-US" sz="2200" b="1" dirty="0">
                <a:ea typeface="宋体" panose="02010600030101010101" pitchFamily="2" charset="-122"/>
              </a:rPr>
              <a:t>连接。</a:t>
            </a:r>
            <a:endParaRPr lang="zh-CN" altLang="en-US" sz="2200" b="1" dirty="0">
              <a:ea typeface="宋体" panose="02010600030101010101" pitchFamily="2" charset="-122"/>
            </a:endParaRPr>
          </a:p>
          <a:p>
            <a:pPr lvl="1">
              <a:lnSpc>
                <a:spcPct val="90000"/>
              </a:lnSpc>
              <a:buClr>
                <a:srgbClr val="063DE8"/>
              </a:buClr>
              <a:buSzPct val="70000"/>
              <a:buFont typeface="Monotype Sorts" pitchFamily="2" charset="2"/>
            </a:pPr>
            <a:r>
              <a:rPr lang="zh-CN" altLang="en-US" sz="2200" b="1" dirty="0">
                <a:ea typeface="宋体" panose="02010600030101010101" pitchFamily="2" charset="-122"/>
              </a:rPr>
              <a:t>假设目标机有</a:t>
            </a:r>
            <a:r>
              <a:rPr lang="en-US" altLang="zh-CN" sz="2200" b="1" dirty="0">
                <a:ea typeface="宋体" panose="02010600030101010101" pitchFamily="2" charset="-122"/>
              </a:rPr>
              <a:t>k</a:t>
            </a:r>
            <a:r>
              <a:rPr lang="zh-CN" altLang="en-US" sz="2200" b="1" dirty="0">
                <a:ea typeface="宋体" panose="02010600030101010101" pitchFamily="2" charset="-122"/>
              </a:rPr>
              <a:t>个寄存器可用，则寄存器分配的问题就变成对这个图找一个</a:t>
            </a:r>
            <a:r>
              <a:rPr lang="en-US" altLang="zh-CN" sz="2200" b="1" dirty="0">
                <a:ea typeface="宋体" panose="02010600030101010101" pitchFamily="2" charset="-122"/>
              </a:rPr>
              <a:t>k–</a:t>
            </a:r>
            <a:r>
              <a:rPr lang="zh-CN" altLang="en-US" sz="2200" b="1" dirty="0">
                <a:ea typeface="宋体" panose="02010600030101010101" pitchFamily="2" charset="-122"/>
              </a:rPr>
              <a:t>着色的方案。</a:t>
            </a:r>
            <a:endParaRPr lang="zh-CN" altLang="en-US" sz="2200" b="1" dirty="0">
              <a:ea typeface="宋体" panose="02010600030101010101" pitchFamily="2" charset="-122"/>
            </a:endParaRPr>
          </a:p>
        </p:txBody>
      </p:sp>
      <p:sp>
        <p:nvSpPr>
          <p:cNvPr id="370692" name="Text Box 4"/>
          <p:cNvSpPr txBox="1"/>
          <p:nvPr/>
        </p:nvSpPr>
        <p:spPr>
          <a:xfrm>
            <a:off x="5499100" y="1879600"/>
            <a:ext cx="1012825" cy="1816100"/>
          </a:xfrm>
          <a:prstGeom prst="rect">
            <a:avLst/>
          </a:prstGeom>
          <a:solidFill>
            <a:schemeClr val="bg1"/>
          </a:solidFill>
          <a:ln w="12700" cap="flat" cmpd="sng">
            <a:solidFill>
              <a:schemeClr val="tx1"/>
            </a:solidFill>
            <a:prstDash val="solid"/>
            <a:miter/>
            <a:headEnd type="none" w="sm" len="sm"/>
            <a:tailEnd type="none" w="sm" len="sm"/>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x = ...</a:t>
            </a: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y = ...</a:t>
            </a: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 ... x</a:t>
            </a: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z  = ...</a:t>
            </a: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    = … y</a:t>
            </a:r>
            <a:endParaRPr lang="en-US" altLang="zh-CN" sz="1600" b="1"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b="1" dirty="0">
                <a:latin typeface="Arial" panose="020B0604020202020204" pitchFamily="34" charset="0"/>
                <a:ea typeface="黑体" panose="02010609060101010101" pitchFamily="49" charset="-122"/>
              </a:rPr>
              <a:t>    = … z</a:t>
            </a:r>
            <a:r>
              <a:rPr lang="en-US" altLang="zh-CN" sz="1400" dirty="0">
                <a:latin typeface="Arial" panose="020B0604020202020204" pitchFamily="34" charset="0"/>
                <a:ea typeface="黑体" panose="02010609060101010101" pitchFamily="49" charset="-122"/>
              </a:rPr>
              <a:t> </a:t>
            </a:r>
            <a:endParaRPr lang="en-US" altLang="zh-CN" sz="1400" dirty="0">
              <a:latin typeface="Arial" panose="020B0604020202020204" pitchFamily="34" charset="0"/>
              <a:ea typeface="黑体" panose="02010609060101010101" pitchFamily="49" charset="-122"/>
            </a:endParaRPr>
          </a:p>
        </p:txBody>
      </p:sp>
      <p:sp>
        <p:nvSpPr>
          <p:cNvPr id="370693" name="Oval 5"/>
          <p:cNvSpPr/>
          <p:nvPr/>
        </p:nvSpPr>
        <p:spPr>
          <a:xfrm>
            <a:off x="6381750" y="4019550"/>
            <a:ext cx="466725" cy="447675"/>
          </a:xfrm>
          <a:prstGeom prst="ellipse">
            <a:avLst/>
          </a:prstGeom>
          <a:solidFill>
            <a:srgbClr val="CCECFF"/>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y</a:t>
            </a:r>
            <a:endParaRPr lang="en-US" altLang="zh-CN" sz="2400" dirty="0">
              <a:latin typeface="Arial" panose="020B0604020202020204" pitchFamily="34" charset="0"/>
              <a:ea typeface="黑体" panose="02010609060101010101" pitchFamily="49" charset="-122"/>
            </a:endParaRPr>
          </a:p>
        </p:txBody>
      </p:sp>
      <p:sp>
        <p:nvSpPr>
          <p:cNvPr id="370694" name="Line 6"/>
          <p:cNvSpPr/>
          <p:nvPr/>
        </p:nvSpPr>
        <p:spPr>
          <a:xfrm>
            <a:off x="6562725" y="2019300"/>
            <a:ext cx="209550" cy="0"/>
          </a:xfrm>
          <a:prstGeom prst="line">
            <a:avLst/>
          </a:prstGeom>
          <a:ln w="28575" cap="flat" cmpd="sng">
            <a:solidFill>
              <a:srgbClr val="CC0099"/>
            </a:solidFill>
            <a:prstDash val="solid"/>
            <a:headEnd type="none" w="sm" len="sm"/>
            <a:tailEnd type="none" w="sm" len="sm"/>
          </a:ln>
        </p:spPr>
      </p:sp>
      <p:sp>
        <p:nvSpPr>
          <p:cNvPr id="370695" name="Line 7"/>
          <p:cNvSpPr/>
          <p:nvPr/>
        </p:nvSpPr>
        <p:spPr>
          <a:xfrm flipH="1">
            <a:off x="6657975" y="2019300"/>
            <a:ext cx="0" cy="781050"/>
          </a:xfrm>
          <a:prstGeom prst="line">
            <a:avLst/>
          </a:prstGeom>
          <a:ln w="28575" cap="flat" cmpd="sng">
            <a:solidFill>
              <a:srgbClr val="CC0099"/>
            </a:solidFill>
            <a:prstDash val="solid"/>
            <a:headEnd type="none" w="sm" len="sm"/>
            <a:tailEnd type="none" w="sm" len="sm"/>
          </a:ln>
        </p:spPr>
      </p:sp>
      <p:sp>
        <p:nvSpPr>
          <p:cNvPr id="370696" name="Line 8"/>
          <p:cNvSpPr/>
          <p:nvPr/>
        </p:nvSpPr>
        <p:spPr>
          <a:xfrm>
            <a:off x="6562725" y="2781300"/>
            <a:ext cx="209550" cy="0"/>
          </a:xfrm>
          <a:prstGeom prst="line">
            <a:avLst/>
          </a:prstGeom>
          <a:ln w="28575" cap="flat" cmpd="sng">
            <a:solidFill>
              <a:srgbClr val="CC0099"/>
            </a:solidFill>
            <a:prstDash val="solid"/>
            <a:headEnd type="none" w="sm" len="sm"/>
            <a:tailEnd type="none" w="sm" len="sm"/>
          </a:ln>
        </p:spPr>
      </p:sp>
      <p:sp>
        <p:nvSpPr>
          <p:cNvPr id="370697" name="Line 9"/>
          <p:cNvSpPr/>
          <p:nvPr/>
        </p:nvSpPr>
        <p:spPr>
          <a:xfrm>
            <a:off x="6829425" y="2295525"/>
            <a:ext cx="209550" cy="0"/>
          </a:xfrm>
          <a:prstGeom prst="line">
            <a:avLst/>
          </a:prstGeom>
          <a:ln w="28575" cap="flat" cmpd="sng">
            <a:solidFill>
              <a:srgbClr val="99CCFF"/>
            </a:solidFill>
            <a:prstDash val="solid"/>
            <a:headEnd type="none" w="sm" len="sm"/>
            <a:tailEnd type="none" w="sm" len="sm"/>
          </a:ln>
        </p:spPr>
      </p:sp>
      <p:sp>
        <p:nvSpPr>
          <p:cNvPr id="370698" name="Line 10"/>
          <p:cNvSpPr/>
          <p:nvPr/>
        </p:nvSpPr>
        <p:spPr>
          <a:xfrm>
            <a:off x="6934200" y="2286000"/>
            <a:ext cx="0" cy="1009650"/>
          </a:xfrm>
          <a:prstGeom prst="line">
            <a:avLst/>
          </a:prstGeom>
          <a:ln w="28575" cap="flat" cmpd="sng">
            <a:solidFill>
              <a:srgbClr val="99CCFF"/>
            </a:solidFill>
            <a:prstDash val="solid"/>
            <a:headEnd type="none" w="sm" len="sm"/>
            <a:tailEnd type="none" w="sm" len="sm"/>
          </a:ln>
        </p:spPr>
      </p:sp>
      <p:sp>
        <p:nvSpPr>
          <p:cNvPr id="370699" name="Line 11"/>
          <p:cNvSpPr/>
          <p:nvPr/>
        </p:nvSpPr>
        <p:spPr>
          <a:xfrm>
            <a:off x="6838950" y="3305175"/>
            <a:ext cx="209550" cy="0"/>
          </a:xfrm>
          <a:prstGeom prst="line">
            <a:avLst/>
          </a:prstGeom>
          <a:ln w="28575" cap="flat" cmpd="sng">
            <a:solidFill>
              <a:srgbClr val="99CCFF"/>
            </a:solidFill>
            <a:prstDash val="solid"/>
            <a:headEnd type="none" w="sm" len="sm"/>
            <a:tailEnd type="none" w="sm" len="sm"/>
          </a:ln>
        </p:spPr>
      </p:sp>
      <p:sp>
        <p:nvSpPr>
          <p:cNvPr id="370700" name="Line 12"/>
          <p:cNvSpPr/>
          <p:nvPr/>
        </p:nvSpPr>
        <p:spPr>
          <a:xfrm>
            <a:off x="7096125" y="3038475"/>
            <a:ext cx="209550" cy="0"/>
          </a:xfrm>
          <a:prstGeom prst="line">
            <a:avLst/>
          </a:prstGeom>
          <a:ln w="28575" cap="flat" cmpd="sng">
            <a:solidFill>
              <a:srgbClr val="CC0099"/>
            </a:solidFill>
            <a:prstDash val="solid"/>
            <a:headEnd type="none" w="sm" len="sm"/>
            <a:tailEnd type="none" w="sm" len="sm"/>
          </a:ln>
        </p:spPr>
      </p:sp>
      <p:sp>
        <p:nvSpPr>
          <p:cNvPr id="370701" name="Line 13"/>
          <p:cNvSpPr/>
          <p:nvPr/>
        </p:nvSpPr>
        <p:spPr>
          <a:xfrm flipH="1">
            <a:off x="7191375" y="3038475"/>
            <a:ext cx="0" cy="504825"/>
          </a:xfrm>
          <a:prstGeom prst="line">
            <a:avLst/>
          </a:prstGeom>
          <a:ln w="28575" cap="flat" cmpd="sng">
            <a:solidFill>
              <a:srgbClr val="CC0099"/>
            </a:solidFill>
            <a:prstDash val="solid"/>
            <a:headEnd type="none" w="sm" len="sm"/>
            <a:tailEnd type="none" w="sm" len="sm"/>
          </a:ln>
        </p:spPr>
      </p:sp>
      <p:sp>
        <p:nvSpPr>
          <p:cNvPr id="370702" name="Line 14"/>
          <p:cNvSpPr/>
          <p:nvPr/>
        </p:nvSpPr>
        <p:spPr>
          <a:xfrm>
            <a:off x="7096125" y="3543300"/>
            <a:ext cx="209550" cy="0"/>
          </a:xfrm>
          <a:prstGeom prst="line">
            <a:avLst/>
          </a:prstGeom>
          <a:ln w="28575" cap="flat" cmpd="sng">
            <a:solidFill>
              <a:srgbClr val="CC0099"/>
            </a:solidFill>
            <a:prstDash val="solid"/>
            <a:headEnd type="none" w="sm" len="sm"/>
            <a:tailEnd type="none" w="sm" len="sm"/>
          </a:ln>
        </p:spPr>
      </p:sp>
      <p:sp>
        <p:nvSpPr>
          <p:cNvPr id="370703" name="Oval 15"/>
          <p:cNvSpPr/>
          <p:nvPr/>
        </p:nvSpPr>
        <p:spPr>
          <a:xfrm>
            <a:off x="7029450" y="5038725"/>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z</a:t>
            </a:r>
            <a:endParaRPr lang="en-US" altLang="zh-CN" sz="2400" dirty="0">
              <a:latin typeface="Arial" panose="020B0604020202020204" pitchFamily="34" charset="0"/>
              <a:ea typeface="黑体" panose="02010609060101010101" pitchFamily="49" charset="-122"/>
            </a:endParaRPr>
          </a:p>
        </p:txBody>
      </p:sp>
      <p:sp>
        <p:nvSpPr>
          <p:cNvPr id="370704" name="Oval 16"/>
          <p:cNvSpPr/>
          <p:nvPr/>
        </p:nvSpPr>
        <p:spPr>
          <a:xfrm>
            <a:off x="5734050" y="5048250"/>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x</a:t>
            </a:r>
            <a:endParaRPr lang="en-US" altLang="zh-CN" sz="2400" dirty="0">
              <a:latin typeface="Arial" panose="020B0604020202020204" pitchFamily="34" charset="0"/>
              <a:ea typeface="黑体" panose="02010609060101010101" pitchFamily="49" charset="-122"/>
            </a:endParaRPr>
          </a:p>
        </p:txBody>
      </p:sp>
      <p:sp>
        <p:nvSpPr>
          <p:cNvPr id="370705" name="Line 17"/>
          <p:cNvSpPr/>
          <p:nvPr/>
        </p:nvSpPr>
        <p:spPr>
          <a:xfrm flipH="1">
            <a:off x="6076950" y="4429125"/>
            <a:ext cx="428625" cy="647700"/>
          </a:xfrm>
          <a:prstGeom prst="line">
            <a:avLst/>
          </a:prstGeom>
          <a:ln w="28575" cap="flat" cmpd="sng">
            <a:solidFill>
              <a:schemeClr val="tx1"/>
            </a:solidFill>
            <a:prstDash val="solid"/>
            <a:headEnd type="none" w="sm" len="sm"/>
            <a:tailEnd type="none" w="sm" len="sm"/>
          </a:ln>
        </p:spPr>
      </p:sp>
      <p:sp>
        <p:nvSpPr>
          <p:cNvPr id="370706" name="Line 18"/>
          <p:cNvSpPr/>
          <p:nvPr/>
        </p:nvSpPr>
        <p:spPr>
          <a:xfrm>
            <a:off x="6753225" y="4419600"/>
            <a:ext cx="409575" cy="638175"/>
          </a:xfrm>
          <a:prstGeom prst="line">
            <a:avLst/>
          </a:prstGeom>
          <a:ln w="28575" cap="flat" cmpd="sng">
            <a:solidFill>
              <a:schemeClr val="tx1"/>
            </a:solidFill>
            <a:prstDash val="solid"/>
            <a:headEnd type="none" w="sm" len="sm"/>
            <a:tailEnd type="none" w="sm" len="sm"/>
          </a:ln>
        </p:spPr>
      </p:sp>
      <p:sp>
        <p:nvSpPr>
          <p:cNvPr id="370707" name="Text Box 19"/>
          <p:cNvSpPr txBox="1"/>
          <p:nvPr/>
        </p:nvSpPr>
        <p:spPr>
          <a:xfrm>
            <a:off x="5270500" y="5811838"/>
            <a:ext cx="3033713"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2400" dirty="0">
                <a:solidFill>
                  <a:schemeClr val="bg1"/>
                </a:solidFill>
                <a:latin typeface="Arial" panose="020B0604020202020204" pitchFamily="34" charset="0"/>
                <a:ea typeface="黑体" panose="02010609060101010101" pitchFamily="49" charset="-122"/>
              </a:rPr>
              <a:t>Requires Two Colors</a:t>
            </a:r>
            <a:endParaRPr lang="en-US" altLang="zh-CN" sz="2400" dirty="0">
              <a:solidFill>
                <a:schemeClr val="bg1"/>
              </a:solidFill>
              <a:latin typeface="Arial" panose="020B0604020202020204" pitchFamily="34" charset="0"/>
              <a:ea typeface="黑体" panose="02010609060101010101" pitchFamily="49" charset="-122"/>
            </a:endParaRPr>
          </a:p>
        </p:txBody>
      </p:sp>
      <p:sp>
        <p:nvSpPr>
          <p:cNvPr id="370708" name="Text Box 20"/>
          <p:cNvSpPr txBox="1"/>
          <p:nvPr/>
        </p:nvSpPr>
        <p:spPr>
          <a:xfrm>
            <a:off x="6794500" y="2058988"/>
            <a:ext cx="282575"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b="1" dirty="0">
                <a:latin typeface="Arial" panose="020B0604020202020204" pitchFamily="34" charset="0"/>
                <a:ea typeface="黑体" panose="02010609060101010101" pitchFamily="49" charset="-122"/>
              </a:rPr>
              <a:t>y</a:t>
            </a:r>
            <a:endParaRPr lang="en-US" altLang="zh-CN" sz="2400" dirty="0">
              <a:latin typeface="Arial" panose="020B0604020202020204" pitchFamily="34" charset="0"/>
              <a:ea typeface="黑体" panose="02010609060101010101" pitchFamily="49" charset="-122"/>
            </a:endParaRPr>
          </a:p>
        </p:txBody>
      </p:sp>
      <p:sp>
        <p:nvSpPr>
          <p:cNvPr id="370709" name="Text Box 21"/>
          <p:cNvSpPr txBox="1"/>
          <p:nvPr/>
        </p:nvSpPr>
        <p:spPr>
          <a:xfrm>
            <a:off x="7070725" y="2782888"/>
            <a:ext cx="273050"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b="1" dirty="0">
                <a:latin typeface="Arial" panose="020B0604020202020204" pitchFamily="34" charset="0"/>
                <a:ea typeface="黑体" panose="02010609060101010101" pitchFamily="49" charset="-122"/>
              </a:rPr>
              <a:t>z</a:t>
            </a:r>
            <a:endParaRPr lang="en-US" altLang="zh-CN" sz="2400" dirty="0">
              <a:latin typeface="Arial" panose="020B0604020202020204" pitchFamily="34" charset="0"/>
              <a:ea typeface="黑体" panose="02010609060101010101" pitchFamily="49" charset="-122"/>
            </a:endParaRPr>
          </a:p>
        </p:txBody>
      </p:sp>
      <p:sp>
        <p:nvSpPr>
          <p:cNvPr id="370710" name="Text Box 22"/>
          <p:cNvSpPr txBox="1"/>
          <p:nvPr/>
        </p:nvSpPr>
        <p:spPr>
          <a:xfrm>
            <a:off x="6527800" y="1782763"/>
            <a:ext cx="282575"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b="1" dirty="0">
                <a:latin typeface="Arial" panose="020B0604020202020204" pitchFamily="34" charset="0"/>
                <a:ea typeface="黑体" panose="02010609060101010101" pitchFamily="49" charset="-122"/>
              </a:rPr>
              <a:t>x</a:t>
            </a:r>
            <a:endParaRPr lang="en-US" altLang="zh-CN" sz="2400" dirty="0">
              <a:latin typeface="Arial" panose="020B0604020202020204" pitchFamily="34" charset="0"/>
              <a:ea typeface="黑体" panose="02010609060101010101" pitchFamily="49" charset="-122"/>
            </a:endParaRPr>
          </a:p>
        </p:txBody>
      </p:sp>
    </p:spTree>
  </p:cSld>
  <p:clrMapOvr>
    <a:masterClrMapping/>
  </p:clrMapOvr>
  <p:transition spd="slow"/>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干涉图的例子</a:t>
            </a:r>
            <a:endParaRPr lang="en-US" altLang="zh-CN" dirty="0">
              <a:latin typeface="Times New Roman" panose="02020603050405020304" pitchFamily="18" charset="0"/>
              <a:ea typeface="宋体" panose="02010600030101010101" pitchFamily="2" charset="-122"/>
            </a:endParaRPr>
          </a:p>
        </p:txBody>
      </p:sp>
      <p:grpSp>
        <p:nvGrpSpPr>
          <p:cNvPr id="372739" name="Group 3"/>
          <p:cNvGrpSpPr/>
          <p:nvPr/>
        </p:nvGrpSpPr>
        <p:grpSpPr>
          <a:xfrm>
            <a:off x="1466850" y="2257425"/>
            <a:ext cx="1028700" cy="790575"/>
            <a:chOff x="708" y="1452"/>
            <a:chExt cx="648" cy="1248"/>
          </a:xfrm>
        </p:grpSpPr>
        <p:sp>
          <p:nvSpPr>
            <p:cNvPr id="372776" name="Rectangle 4"/>
            <p:cNvSpPr/>
            <p:nvPr/>
          </p:nvSpPr>
          <p:spPr>
            <a:xfrm>
              <a:off x="708" y="1452"/>
              <a:ext cx="648" cy="1248"/>
            </a:xfrm>
            <a:prstGeom prst="rect">
              <a:avLst/>
            </a:prstGeom>
            <a:solidFill>
              <a:schemeClr val="bg1"/>
            </a:solidFill>
            <a:ln w="254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2400" dirty="0">
                <a:latin typeface="Arial" panose="020B0604020202020204" pitchFamily="34" charset="0"/>
                <a:ea typeface="黑体" panose="02010609060101010101" pitchFamily="49" charset="-122"/>
              </a:endParaRPr>
            </a:p>
          </p:txBody>
        </p:sp>
        <p:sp>
          <p:nvSpPr>
            <p:cNvPr id="372777" name="Text Box 5"/>
            <p:cNvSpPr txBox="1"/>
            <p:nvPr/>
          </p:nvSpPr>
          <p:spPr>
            <a:xfrm>
              <a:off x="752" y="1515"/>
              <a:ext cx="435" cy="917"/>
            </a:xfrm>
            <a:prstGeom prst="rect">
              <a:avLst/>
            </a:prstGeom>
            <a:solidFill>
              <a:schemeClr val="bg1"/>
            </a:solid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600" dirty="0">
                  <a:latin typeface="Arial" panose="020B0604020202020204" pitchFamily="34" charset="0"/>
                  <a:ea typeface="黑体" panose="02010609060101010101" pitchFamily="49" charset="-122"/>
                </a:rPr>
                <a:t>x = ...</a:t>
              </a:r>
              <a:endParaRPr lang="en-US" altLang="zh-CN" sz="1600"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dirty="0">
                  <a:latin typeface="Arial" panose="020B0604020202020204" pitchFamily="34" charset="0"/>
                  <a:ea typeface="黑体" panose="02010609060101010101" pitchFamily="49" charset="-122"/>
                </a:rPr>
                <a:t>y = ...</a:t>
              </a:r>
              <a:endParaRPr lang="en-US" altLang="zh-CN" sz="1600" dirty="0">
                <a:latin typeface="Arial" panose="020B0604020202020204" pitchFamily="34" charset="0"/>
                <a:ea typeface="黑体" panose="02010609060101010101" pitchFamily="49" charset="-122"/>
              </a:endParaRPr>
            </a:p>
          </p:txBody>
        </p:sp>
      </p:grpSp>
      <p:sp>
        <p:nvSpPr>
          <p:cNvPr id="372740" name="Oval 6"/>
          <p:cNvSpPr/>
          <p:nvPr/>
        </p:nvSpPr>
        <p:spPr>
          <a:xfrm>
            <a:off x="6381750" y="2143125"/>
            <a:ext cx="466725" cy="447675"/>
          </a:xfrm>
          <a:prstGeom prst="ellipse">
            <a:avLst/>
          </a:prstGeom>
          <a:solidFill>
            <a:srgbClr val="00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x</a:t>
            </a:r>
            <a:endParaRPr lang="en-US" altLang="zh-CN" sz="2400" dirty="0">
              <a:latin typeface="Arial" panose="020B0604020202020204" pitchFamily="34" charset="0"/>
              <a:ea typeface="黑体" panose="02010609060101010101" pitchFamily="49" charset="-122"/>
            </a:endParaRPr>
          </a:p>
        </p:txBody>
      </p:sp>
      <p:sp>
        <p:nvSpPr>
          <p:cNvPr id="372741" name="Line 7"/>
          <p:cNvSpPr/>
          <p:nvPr/>
        </p:nvSpPr>
        <p:spPr>
          <a:xfrm>
            <a:off x="3829050" y="3857625"/>
            <a:ext cx="209550" cy="0"/>
          </a:xfrm>
          <a:prstGeom prst="line">
            <a:avLst/>
          </a:prstGeom>
          <a:ln w="28575" cap="flat" cmpd="sng">
            <a:solidFill>
              <a:schemeClr val="hlink"/>
            </a:solidFill>
            <a:prstDash val="solid"/>
            <a:headEnd type="none" w="sm" len="sm"/>
            <a:tailEnd type="none" w="sm" len="sm"/>
          </a:ln>
        </p:spPr>
      </p:sp>
      <p:sp>
        <p:nvSpPr>
          <p:cNvPr id="372742" name="Line 8"/>
          <p:cNvSpPr/>
          <p:nvPr/>
        </p:nvSpPr>
        <p:spPr>
          <a:xfrm>
            <a:off x="3924300" y="3867150"/>
            <a:ext cx="0" cy="304800"/>
          </a:xfrm>
          <a:prstGeom prst="line">
            <a:avLst/>
          </a:prstGeom>
          <a:ln w="28575" cap="flat" cmpd="sng">
            <a:solidFill>
              <a:schemeClr val="hlink"/>
            </a:solidFill>
            <a:prstDash val="solid"/>
            <a:headEnd type="none" w="sm" len="sm"/>
            <a:tailEnd type="none" w="sm" len="sm"/>
          </a:ln>
        </p:spPr>
      </p:sp>
      <p:sp>
        <p:nvSpPr>
          <p:cNvPr id="372743" name="Line 9"/>
          <p:cNvSpPr/>
          <p:nvPr/>
        </p:nvSpPr>
        <p:spPr>
          <a:xfrm>
            <a:off x="3829050" y="4171950"/>
            <a:ext cx="209550" cy="0"/>
          </a:xfrm>
          <a:prstGeom prst="line">
            <a:avLst/>
          </a:prstGeom>
          <a:ln w="28575" cap="flat" cmpd="sng">
            <a:solidFill>
              <a:schemeClr val="hlink"/>
            </a:solidFill>
            <a:prstDash val="solid"/>
            <a:headEnd type="none" w="sm" len="sm"/>
            <a:tailEnd type="none" w="sm" len="sm"/>
          </a:ln>
        </p:spPr>
      </p:sp>
      <p:sp>
        <p:nvSpPr>
          <p:cNvPr id="372744" name="Line 10"/>
          <p:cNvSpPr/>
          <p:nvPr/>
        </p:nvSpPr>
        <p:spPr>
          <a:xfrm>
            <a:off x="2933700" y="2476500"/>
            <a:ext cx="209550" cy="0"/>
          </a:xfrm>
          <a:prstGeom prst="line">
            <a:avLst/>
          </a:prstGeom>
          <a:ln w="28575" cap="flat" cmpd="sng">
            <a:solidFill>
              <a:schemeClr val="accent2"/>
            </a:solidFill>
            <a:prstDash val="solid"/>
            <a:headEnd type="none" w="sm" len="sm"/>
            <a:tailEnd type="none" w="sm" len="sm"/>
          </a:ln>
        </p:spPr>
      </p:sp>
      <p:sp>
        <p:nvSpPr>
          <p:cNvPr id="372745" name="Line 11"/>
          <p:cNvSpPr/>
          <p:nvPr/>
        </p:nvSpPr>
        <p:spPr>
          <a:xfrm>
            <a:off x="3038475" y="2466975"/>
            <a:ext cx="0" cy="581025"/>
          </a:xfrm>
          <a:prstGeom prst="line">
            <a:avLst/>
          </a:prstGeom>
          <a:ln w="28575" cap="flat" cmpd="sng">
            <a:solidFill>
              <a:schemeClr val="accent2"/>
            </a:solidFill>
            <a:prstDash val="solid"/>
            <a:headEnd type="none" w="sm" len="sm"/>
            <a:tailEnd type="none" w="sm" len="sm"/>
          </a:ln>
        </p:spPr>
      </p:sp>
      <p:sp>
        <p:nvSpPr>
          <p:cNvPr id="372746" name="Line 12"/>
          <p:cNvSpPr/>
          <p:nvPr/>
        </p:nvSpPr>
        <p:spPr>
          <a:xfrm>
            <a:off x="2590800" y="2743200"/>
            <a:ext cx="285750" cy="0"/>
          </a:xfrm>
          <a:prstGeom prst="line">
            <a:avLst/>
          </a:prstGeom>
          <a:ln w="28575" cap="flat" cmpd="sng">
            <a:solidFill>
              <a:schemeClr val="hlink"/>
            </a:solidFill>
            <a:prstDash val="solid"/>
            <a:headEnd type="none" w="sm" len="sm"/>
            <a:tailEnd type="none" w="sm" len="sm"/>
          </a:ln>
        </p:spPr>
      </p:sp>
      <p:sp>
        <p:nvSpPr>
          <p:cNvPr id="372747" name="Line 13"/>
          <p:cNvSpPr/>
          <p:nvPr/>
        </p:nvSpPr>
        <p:spPr>
          <a:xfrm flipH="1">
            <a:off x="2743200" y="2743200"/>
            <a:ext cx="0" cy="304800"/>
          </a:xfrm>
          <a:prstGeom prst="line">
            <a:avLst/>
          </a:prstGeom>
          <a:ln w="28575" cap="flat" cmpd="sng">
            <a:solidFill>
              <a:schemeClr val="hlink"/>
            </a:solidFill>
            <a:prstDash val="solid"/>
            <a:headEnd type="none" w="sm" len="sm"/>
            <a:tailEnd type="none" w="sm" len="sm"/>
          </a:ln>
        </p:spPr>
      </p:sp>
      <p:sp>
        <p:nvSpPr>
          <p:cNvPr id="372748" name="Line 14"/>
          <p:cNvSpPr/>
          <p:nvPr/>
        </p:nvSpPr>
        <p:spPr>
          <a:xfrm>
            <a:off x="1752600" y="4267200"/>
            <a:ext cx="209550" cy="0"/>
          </a:xfrm>
          <a:prstGeom prst="line">
            <a:avLst/>
          </a:prstGeom>
          <a:ln w="28575" cap="flat" cmpd="sng">
            <a:solidFill>
              <a:schemeClr val="accent2"/>
            </a:solidFill>
            <a:prstDash val="solid"/>
            <a:headEnd type="none" w="sm" len="sm"/>
            <a:tailEnd type="none" w="sm" len="sm"/>
          </a:ln>
        </p:spPr>
      </p:sp>
      <p:sp>
        <p:nvSpPr>
          <p:cNvPr id="372749" name="Oval 15"/>
          <p:cNvSpPr/>
          <p:nvPr/>
        </p:nvSpPr>
        <p:spPr>
          <a:xfrm>
            <a:off x="7029450" y="3162300"/>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z</a:t>
            </a:r>
            <a:endParaRPr lang="en-US" altLang="zh-CN" sz="2400" dirty="0">
              <a:latin typeface="Arial" panose="020B0604020202020204" pitchFamily="34" charset="0"/>
              <a:ea typeface="黑体" panose="02010609060101010101" pitchFamily="49" charset="-122"/>
            </a:endParaRPr>
          </a:p>
        </p:txBody>
      </p:sp>
      <p:sp>
        <p:nvSpPr>
          <p:cNvPr id="372750" name="Oval 16"/>
          <p:cNvSpPr/>
          <p:nvPr/>
        </p:nvSpPr>
        <p:spPr>
          <a:xfrm>
            <a:off x="5734050" y="3171825"/>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y</a:t>
            </a:r>
            <a:endParaRPr lang="en-US" altLang="zh-CN" sz="2400" dirty="0">
              <a:latin typeface="Arial" panose="020B0604020202020204" pitchFamily="34" charset="0"/>
              <a:ea typeface="黑体" panose="02010609060101010101" pitchFamily="49" charset="-122"/>
            </a:endParaRPr>
          </a:p>
        </p:txBody>
      </p:sp>
      <p:sp>
        <p:nvSpPr>
          <p:cNvPr id="372751" name="Line 17"/>
          <p:cNvSpPr/>
          <p:nvPr/>
        </p:nvSpPr>
        <p:spPr>
          <a:xfrm flipH="1">
            <a:off x="6076950" y="2552700"/>
            <a:ext cx="428625" cy="647700"/>
          </a:xfrm>
          <a:prstGeom prst="line">
            <a:avLst/>
          </a:prstGeom>
          <a:ln w="28575" cap="flat" cmpd="sng">
            <a:solidFill>
              <a:schemeClr val="tx1"/>
            </a:solidFill>
            <a:prstDash val="solid"/>
            <a:headEnd type="none" w="sm" len="sm"/>
            <a:tailEnd type="none" w="sm" len="sm"/>
          </a:ln>
        </p:spPr>
      </p:sp>
      <p:sp>
        <p:nvSpPr>
          <p:cNvPr id="372752" name="Line 18"/>
          <p:cNvSpPr/>
          <p:nvPr/>
        </p:nvSpPr>
        <p:spPr>
          <a:xfrm>
            <a:off x="6753225" y="2543175"/>
            <a:ext cx="409575" cy="638175"/>
          </a:xfrm>
          <a:prstGeom prst="line">
            <a:avLst/>
          </a:prstGeom>
          <a:ln w="28575" cap="flat" cmpd="sng">
            <a:solidFill>
              <a:schemeClr val="tx1"/>
            </a:solidFill>
            <a:prstDash val="solid"/>
            <a:headEnd type="none" w="sm" len="sm"/>
            <a:tailEnd type="none" w="sm" len="sm"/>
          </a:ln>
        </p:spPr>
      </p:sp>
      <p:sp>
        <p:nvSpPr>
          <p:cNvPr id="372753" name="Text Box 19"/>
          <p:cNvSpPr txBox="1"/>
          <p:nvPr/>
        </p:nvSpPr>
        <p:spPr>
          <a:xfrm>
            <a:off x="914400" y="1428750"/>
            <a:ext cx="23177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400" dirty="0">
                <a:latin typeface="Arial" panose="020B0604020202020204" pitchFamily="34" charset="0"/>
                <a:ea typeface="黑体" panose="02010609060101010101" pitchFamily="49" charset="-122"/>
              </a:rPr>
              <a:t>有控制流的情形</a:t>
            </a:r>
            <a:endParaRPr lang="zh-CN" altLang="en-US" sz="2400" dirty="0">
              <a:latin typeface="Arial" panose="020B0604020202020204" pitchFamily="34" charset="0"/>
              <a:ea typeface="黑体" panose="02010609060101010101" pitchFamily="49" charset="-122"/>
            </a:endParaRPr>
          </a:p>
        </p:txBody>
      </p:sp>
      <p:grpSp>
        <p:nvGrpSpPr>
          <p:cNvPr id="372754" name="Group 20"/>
          <p:cNvGrpSpPr/>
          <p:nvPr/>
        </p:nvGrpSpPr>
        <p:grpSpPr>
          <a:xfrm>
            <a:off x="2657475" y="3676650"/>
            <a:ext cx="1028700" cy="771525"/>
            <a:chOff x="708" y="1452"/>
            <a:chExt cx="648" cy="1248"/>
          </a:xfrm>
        </p:grpSpPr>
        <p:sp>
          <p:nvSpPr>
            <p:cNvPr id="372774" name="Rectangle 21"/>
            <p:cNvSpPr/>
            <p:nvPr/>
          </p:nvSpPr>
          <p:spPr>
            <a:xfrm>
              <a:off x="708" y="1452"/>
              <a:ext cx="648" cy="1248"/>
            </a:xfrm>
            <a:prstGeom prst="rect">
              <a:avLst/>
            </a:prstGeom>
            <a:solidFill>
              <a:schemeClr val="folHlink"/>
            </a:solidFill>
            <a:ln w="254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2400" dirty="0">
                <a:latin typeface="Arial" panose="020B0604020202020204" pitchFamily="34" charset="0"/>
                <a:ea typeface="黑体" panose="02010609060101010101" pitchFamily="49" charset="-122"/>
              </a:endParaRPr>
            </a:p>
          </p:txBody>
        </p:sp>
        <p:sp>
          <p:nvSpPr>
            <p:cNvPr id="372775" name="Text Box 22"/>
            <p:cNvSpPr txBox="1"/>
            <p:nvPr/>
          </p:nvSpPr>
          <p:spPr>
            <a:xfrm>
              <a:off x="752" y="1514"/>
              <a:ext cx="599" cy="939"/>
            </a:xfrm>
            <a:prstGeom prst="rect">
              <a:avLst/>
            </a:prstGeom>
            <a:solidFill>
              <a:schemeClr val="folHlink"/>
            </a:solid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600" dirty="0">
                  <a:latin typeface="Arial" panose="020B0604020202020204" pitchFamily="34" charset="0"/>
                  <a:ea typeface="黑体" panose="02010609060101010101" pitchFamily="49" charset="-122"/>
                </a:rPr>
                <a:t>z  = ...</a:t>
              </a:r>
              <a:endParaRPr lang="en-US" altLang="zh-CN" sz="1600"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dirty="0">
                  <a:latin typeface="Arial" panose="020B0604020202020204" pitchFamily="34" charset="0"/>
                  <a:ea typeface="黑体" panose="02010609060101010101" pitchFamily="49" charset="-122"/>
                </a:rPr>
                <a:t>    = … z</a:t>
              </a:r>
              <a:endParaRPr lang="en-US" altLang="zh-CN" sz="1400" dirty="0">
                <a:latin typeface="Arial" panose="020B0604020202020204" pitchFamily="34" charset="0"/>
                <a:ea typeface="黑体" panose="02010609060101010101" pitchFamily="49" charset="-122"/>
              </a:endParaRPr>
            </a:p>
          </p:txBody>
        </p:sp>
      </p:grpSp>
      <p:grpSp>
        <p:nvGrpSpPr>
          <p:cNvPr id="372755" name="Group 23"/>
          <p:cNvGrpSpPr/>
          <p:nvPr/>
        </p:nvGrpSpPr>
        <p:grpSpPr>
          <a:xfrm>
            <a:off x="609600" y="3733800"/>
            <a:ext cx="1028700" cy="762000"/>
            <a:chOff x="708" y="1452"/>
            <a:chExt cx="648" cy="1248"/>
          </a:xfrm>
        </p:grpSpPr>
        <p:sp>
          <p:nvSpPr>
            <p:cNvPr id="372772" name="Rectangle 24"/>
            <p:cNvSpPr/>
            <p:nvPr/>
          </p:nvSpPr>
          <p:spPr>
            <a:xfrm>
              <a:off x="708" y="1452"/>
              <a:ext cx="648" cy="1248"/>
            </a:xfrm>
            <a:prstGeom prst="rect">
              <a:avLst/>
            </a:prstGeom>
            <a:solidFill>
              <a:srgbClr val="99CCFF"/>
            </a:solidFill>
            <a:ln w="254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2400" dirty="0">
                <a:latin typeface="Arial" panose="020B0604020202020204" pitchFamily="34" charset="0"/>
                <a:ea typeface="黑体" panose="02010609060101010101" pitchFamily="49" charset="-122"/>
              </a:endParaRPr>
            </a:p>
          </p:txBody>
        </p:sp>
        <p:sp>
          <p:nvSpPr>
            <p:cNvPr id="372773" name="Text Box 25"/>
            <p:cNvSpPr txBox="1"/>
            <p:nvPr/>
          </p:nvSpPr>
          <p:spPr>
            <a:xfrm>
              <a:off x="752" y="1514"/>
              <a:ext cx="599" cy="952"/>
            </a:xfrm>
            <a:prstGeom prst="rect">
              <a:avLst/>
            </a:prstGeom>
            <a:solidFill>
              <a:srgbClr val="99CCFF"/>
            </a:solid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1600" dirty="0">
                  <a:latin typeface="Arial" panose="020B0604020202020204" pitchFamily="34" charset="0"/>
                  <a:ea typeface="黑体" panose="02010609060101010101" pitchFamily="49" charset="-122"/>
                </a:rPr>
                <a:t>    = … </a:t>
              </a:r>
              <a:r>
                <a:rPr lang="en-US" altLang="zh-CN" sz="1600" dirty="0">
                  <a:latin typeface="Arial" panose="020B0604020202020204" pitchFamily="34" charset="0"/>
                  <a:ea typeface="黑体" panose="02010609060101010101" pitchFamily="49" charset="-122"/>
                </a:rPr>
                <a:t>y</a:t>
              </a:r>
              <a:endParaRPr lang="en-US" altLang="zh-CN" sz="1600" dirty="0">
                <a:latin typeface="Arial" panose="020B0604020202020204" pitchFamily="34" charset="0"/>
                <a:ea typeface="黑体" panose="02010609060101010101" pitchFamily="49" charset="-122"/>
              </a:endParaRPr>
            </a:p>
            <a:p>
              <a:pPr marL="0" lvl="0" indent="0" eaLnBrk="1" hangingPunct="1">
                <a:spcBef>
                  <a:spcPct val="0"/>
                </a:spcBef>
                <a:buClrTx/>
                <a:buSzTx/>
                <a:buNone/>
              </a:pPr>
              <a:r>
                <a:rPr lang="en-US" altLang="zh-CN" sz="1600" dirty="0">
                  <a:latin typeface="Arial" panose="020B0604020202020204" pitchFamily="34" charset="0"/>
                  <a:ea typeface="黑体" panose="02010609060101010101" pitchFamily="49" charset="-122"/>
                </a:rPr>
                <a:t>x  = ...</a:t>
              </a:r>
              <a:endParaRPr lang="en-US" altLang="zh-CN" sz="1400" dirty="0">
                <a:latin typeface="Arial" panose="020B0604020202020204" pitchFamily="34" charset="0"/>
                <a:ea typeface="黑体" panose="02010609060101010101" pitchFamily="49" charset="-122"/>
              </a:endParaRPr>
            </a:p>
          </p:txBody>
        </p:sp>
      </p:grpSp>
      <p:grpSp>
        <p:nvGrpSpPr>
          <p:cNvPr id="372756" name="Group 26"/>
          <p:cNvGrpSpPr/>
          <p:nvPr/>
        </p:nvGrpSpPr>
        <p:grpSpPr>
          <a:xfrm>
            <a:off x="1419225" y="5067300"/>
            <a:ext cx="1028700" cy="790575"/>
            <a:chOff x="708" y="1452"/>
            <a:chExt cx="648" cy="1248"/>
          </a:xfrm>
        </p:grpSpPr>
        <p:sp>
          <p:nvSpPr>
            <p:cNvPr id="372770" name="Rectangle 27"/>
            <p:cNvSpPr/>
            <p:nvPr/>
          </p:nvSpPr>
          <p:spPr>
            <a:xfrm>
              <a:off x="708" y="1452"/>
              <a:ext cx="648" cy="1248"/>
            </a:xfrm>
            <a:prstGeom prst="rect">
              <a:avLst/>
            </a:prstGeom>
            <a:solidFill>
              <a:schemeClr val="bg1"/>
            </a:solidFill>
            <a:ln w="254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endParaRPr lang="zh-CN" altLang="en-US" sz="2400" dirty="0">
                <a:latin typeface="Arial" panose="020B0604020202020204" pitchFamily="34" charset="0"/>
                <a:ea typeface="黑体" panose="02010609060101010101" pitchFamily="49" charset="-122"/>
              </a:endParaRPr>
            </a:p>
          </p:txBody>
        </p:sp>
        <p:sp>
          <p:nvSpPr>
            <p:cNvPr id="372771" name="Text Box 28"/>
            <p:cNvSpPr txBox="1"/>
            <p:nvPr/>
          </p:nvSpPr>
          <p:spPr>
            <a:xfrm>
              <a:off x="752" y="1515"/>
              <a:ext cx="599" cy="531"/>
            </a:xfrm>
            <a:prstGeom prst="rect">
              <a:avLst/>
            </a:prstGeom>
            <a:solidFill>
              <a:schemeClr val="bg1"/>
            </a:solid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1600" dirty="0">
                  <a:latin typeface="Arial" panose="020B0604020202020204" pitchFamily="34" charset="0"/>
                  <a:ea typeface="黑体" panose="02010609060101010101" pitchFamily="49" charset="-122"/>
                </a:rPr>
                <a:t>    = … </a:t>
              </a:r>
              <a:r>
                <a:rPr lang="en-US" altLang="zh-CN" sz="1600" dirty="0">
                  <a:latin typeface="Arial" panose="020B0604020202020204" pitchFamily="34" charset="0"/>
                  <a:ea typeface="黑体" panose="02010609060101010101" pitchFamily="49" charset="-122"/>
                </a:rPr>
                <a:t>x</a:t>
              </a:r>
              <a:endParaRPr lang="en-US" altLang="zh-CN" sz="1400" dirty="0">
                <a:latin typeface="Arial" panose="020B0604020202020204" pitchFamily="34" charset="0"/>
                <a:ea typeface="黑体" panose="02010609060101010101" pitchFamily="49" charset="-122"/>
              </a:endParaRPr>
            </a:p>
          </p:txBody>
        </p:sp>
      </p:grpSp>
      <p:sp>
        <p:nvSpPr>
          <p:cNvPr id="372757" name="Line 29"/>
          <p:cNvSpPr/>
          <p:nvPr/>
        </p:nvSpPr>
        <p:spPr>
          <a:xfrm flipH="1">
            <a:off x="1143000" y="3067050"/>
            <a:ext cx="590550" cy="666750"/>
          </a:xfrm>
          <a:prstGeom prst="line">
            <a:avLst/>
          </a:prstGeom>
          <a:ln w="28575" cap="flat" cmpd="sng">
            <a:solidFill>
              <a:schemeClr val="tx1"/>
            </a:solidFill>
            <a:prstDash val="solid"/>
            <a:headEnd type="none" w="sm" len="sm"/>
            <a:tailEnd type="triangle" w="sm" len="lg"/>
          </a:ln>
        </p:spPr>
      </p:sp>
      <p:sp>
        <p:nvSpPr>
          <p:cNvPr id="372758" name="Line 30"/>
          <p:cNvSpPr/>
          <p:nvPr/>
        </p:nvSpPr>
        <p:spPr>
          <a:xfrm>
            <a:off x="952500" y="4457700"/>
            <a:ext cx="733425" cy="609600"/>
          </a:xfrm>
          <a:prstGeom prst="line">
            <a:avLst/>
          </a:prstGeom>
          <a:ln w="28575" cap="flat" cmpd="sng">
            <a:solidFill>
              <a:schemeClr val="tx1"/>
            </a:solidFill>
            <a:prstDash val="solid"/>
            <a:headEnd type="none" w="sm" len="sm"/>
            <a:tailEnd type="triangle" w="sm" len="lg"/>
          </a:ln>
        </p:spPr>
      </p:sp>
      <p:sp>
        <p:nvSpPr>
          <p:cNvPr id="372759" name="Line 31"/>
          <p:cNvSpPr/>
          <p:nvPr/>
        </p:nvSpPr>
        <p:spPr>
          <a:xfrm>
            <a:off x="2219325" y="3057525"/>
            <a:ext cx="733425" cy="609600"/>
          </a:xfrm>
          <a:prstGeom prst="line">
            <a:avLst/>
          </a:prstGeom>
          <a:ln w="28575" cap="flat" cmpd="sng">
            <a:solidFill>
              <a:schemeClr val="tx1"/>
            </a:solidFill>
            <a:prstDash val="solid"/>
            <a:headEnd type="none" w="sm" len="sm"/>
            <a:tailEnd type="triangle" w="sm" len="lg"/>
          </a:ln>
        </p:spPr>
      </p:sp>
      <p:sp>
        <p:nvSpPr>
          <p:cNvPr id="372760" name="Line 32"/>
          <p:cNvSpPr/>
          <p:nvPr/>
        </p:nvSpPr>
        <p:spPr>
          <a:xfrm flipH="1">
            <a:off x="2209800" y="4457700"/>
            <a:ext cx="733425" cy="609600"/>
          </a:xfrm>
          <a:prstGeom prst="line">
            <a:avLst/>
          </a:prstGeom>
          <a:ln w="28575" cap="flat" cmpd="sng">
            <a:solidFill>
              <a:schemeClr val="tx1"/>
            </a:solidFill>
            <a:prstDash val="solid"/>
            <a:headEnd type="none" w="sm" len="sm"/>
            <a:tailEnd type="triangle" w="sm" len="lg"/>
          </a:ln>
        </p:spPr>
      </p:sp>
      <p:sp>
        <p:nvSpPr>
          <p:cNvPr id="372761" name="Freeform 33"/>
          <p:cNvSpPr/>
          <p:nvPr/>
        </p:nvSpPr>
        <p:spPr>
          <a:xfrm>
            <a:off x="3038475" y="3048000"/>
            <a:ext cx="1285875" cy="2209800"/>
          </a:xfrm>
          <a:custGeom>
            <a:avLst/>
            <a:gdLst/>
            <a:ahLst/>
            <a:cxnLst>
              <a:cxn ang="0">
                <a:pos x="0" y="0"/>
              </a:cxn>
              <a:cxn ang="0">
                <a:pos x="2147483646" y="2147483646"/>
              </a:cxn>
              <a:cxn ang="0">
                <a:pos x="2147483646" y="2147483646"/>
              </a:cxn>
              <a:cxn ang="0">
                <a:pos x="2147483646" y="2147483646"/>
              </a:cxn>
              <a:cxn ang="0">
                <a:pos x="2147483646" y="2147483646"/>
              </a:cxn>
            </a:cxnLst>
            <a:pathLst>
              <a:path w="810" h="1428">
                <a:moveTo>
                  <a:pt x="0" y="0"/>
                </a:moveTo>
                <a:lnTo>
                  <a:pt x="810" y="396"/>
                </a:lnTo>
                <a:lnTo>
                  <a:pt x="810" y="906"/>
                </a:lnTo>
                <a:lnTo>
                  <a:pt x="24" y="1278"/>
                </a:lnTo>
                <a:lnTo>
                  <a:pt x="24" y="1428"/>
                </a:lnTo>
              </a:path>
            </a:pathLst>
          </a:custGeom>
          <a:noFill/>
          <a:ln w="28575" cap="flat" cmpd="sng">
            <a:solidFill>
              <a:schemeClr val="accent2">
                <a:alpha val="100000"/>
              </a:schemeClr>
            </a:solidFill>
            <a:prstDash val="solid"/>
            <a:round/>
            <a:headEnd type="none" w="sm" len="sm"/>
            <a:tailEnd type="none" w="sm" len="sm"/>
          </a:ln>
        </p:spPr>
        <p:txBody>
          <a:bodyPr/>
          <a:p>
            <a:endParaRPr lang="zh-CN" altLang="en-US"/>
          </a:p>
        </p:txBody>
      </p:sp>
      <p:sp>
        <p:nvSpPr>
          <p:cNvPr id="372762" name="Line 34"/>
          <p:cNvSpPr/>
          <p:nvPr/>
        </p:nvSpPr>
        <p:spPr>
          <a:xfrm>
            <a:off x="2971800" y="5257800"/>
            <a:ext cx="209550" cy="0"/>
          </a:xfrm>
          <a:prstGeom prst="line">
            <a:avLst/>
          </a:prstGeom>
          <a:ln w="28575" cap="flat" cmpd="sng">
            <a:solidFill>
              <a:schemeClr val="accent2"/>
            </a:solidFill>
            <a:prstDash val="solid"/>
            <a:headEnd type="none" w="sm" len="sm"/>
            <a:tailEnd type="none" w="sm" len="sm"/>
          </a:ln>
        </p:spPr>
      </p:sp>
      <p:sp>
        <p:nvSpPr>
          <p:cNvPr id="372763" name="Freeform 35"/>
          <p:cNvSpPr/>
          <p:nvPr/>
        </p:nvSpPr>
        <p:spPr>
          <a:xfrm>
            <a:off x="1752600" y="3048000"/>
            <a:ext cx="990600" cy="762000"/>
          </a:xfrm>
          <a:custGeom>
            <a:avLst/>
            <a:gdLst/>
            <a:ahLst/>
            <a:cxnLst>
              <a:cxn ang="0">
                <a:pos x="2147483646" y="0"/>
              </a:cxn>
              <a:cxn ang="0">
                <a:pos x="0" y="2147483646"/>
              </a:cxn>
              <a:cxn ang="0">
                <a:pos x="0" y="2147483646"/>
              </a:cxn>
            </a:cxnLst>
            <a:pathLst>
              <a:path w="798" h="402">
                <a:moveTo>
                  <a:pt x="798" y="0"/>
                </a:moveTo>
                <a:lnTo>
                  <a:pt x="0" y="258"/>
                </a:lnTo>
                <a:lnTo>
                  <a:pt x="0" y="402"/>
                </a:lnTo>
              </a:path>
            </a:pathLst>
          </a:custGeom>
          <a:noFill/>
          <a:ln w="28575" cap="flat" cmpd="sng">
            <a:solidFill>
              <a:schemeClr val="hlink">
                <a:alpha val="100000"/>
              </a:schemeClr>
            </a:solidFill>
            <a:prstDash val="solid"/>
            <a:round/>
            <a:headEnd type="none" w="sm" len="sm"/>
            <a:tailEnd type="none" w="sm" len="sm"/>
          </a:ln>
        </p:spPr>
        <p:txBody>
          <a:bodyPr/>
          <a:p>
            <a:endParaRPr lang="zh-CN" altLang="en-US"/>
          </a:p>
        </p:txBody>
      </p:sp>
      <p:sp>
        <p:nvSpPr>
          <p:cNvPr id="372764" name="Line 36"/>
          <p:cNvSpPr/>
          <p:nvPr/>
        </p:nvSpPr>
        <p:spPr>
          <a:xfrm>
            <a:off x="1676400" y="3810000"/>
            <a:ext cx="209550" cy="0"/>
          </a:xfrm>
          <a:prstGeom prst="line">
            <a:avLst/>
          </a:prstGeom>
          <a:ln w="28575" cap="flat" cmpd="sng">
            <a:solidFill>
              <a:schemeClr val="hlink"/>
            </a:solidFill>
            <a:prstDash val="solid"/>
            <a:headEnd type="none" w="sm" len="sm"/>
            <a:tailEnd type="none" w="sm" len="sm"/>
          </a:ln>
        </p:spPr>
      </p:sp>
      <p:sp>
        <p:nvSpPr>
          <p:cNvPr id="372765" name="Text Box 37"/>
          <p:cNvSpPr txBox="1"/>
          <p:nvPr/>
        </p:nvSpPr>
        <p:spPr>
          <a:xfrm>
            <a:off x="2908300" y="2249488"/>
            <a:ext cx="273050"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dirty="0">
                <a:latin typeface="Arial" panose="020B0604020202020204" pitchFamily="34" charset="0"/>
                <a:ea typeface="黑体" panose="02010609060101010101" pitchFamily="49" charset="-122"/>
              </a:rPr>
              <a:t>x</a:t>
            </a:r>
            <a:endParaRPr lang="en-US" altLang="zh-CN" sz="2400" dirty="0">
              <a:latin typeface="Arial" panose="020B0604020202020204" pitchFamily="34" charset="0"/>
              <a:ea typeface="黑体" panose="02010609060101010101" pitchFamily="49" charset="-122"/>
            </a:endParaRPr>
          </a:p>
        </p:txBody>
      </p:sp>
      <p:sp>
        <p:nvSpPr>
          <p:cNvPr id="372766" name="Rectangle 38"/>
          <p:cNvSpPr/>
          <p:nvPr/>
        </p:nvSpPr>
        <p:spPr>
          <a:xfrm>
            <a:off x="2667000" y="2514600"/>
            <a:ext cx="273050"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dirty="0">
                <a:latin typeface="Arial" panose="020B0604020202020204" pitchFamily="34" charset="0"/>
                <a:ea typeface="黑体" panose="02010609060101010101" pitchFamily="49" charset="-122"/>
              </a:rPr>
              <a:t>y</a:t>
            </a:r>
            <a:endParaRPr lang="en-US" altLang="zh-CN" sz="1400" dirty="0">
              <a:latin typeface="Arial" panose="020B0604020202020204" pitchFamily="34" charset="0"/>
              <a:ea typeface="黑体" panose="02010609060101010101" pitchFamily="49" charset="-122"/>
            </a:endParaRPr>
          </a:p>
        </p:txBody>
      </p:sp>
      <p:sp>
        <p:nvSpPr>
          <p:cNvPr id="372767" name="Rectangle 39"/>
          <p:cNvSpPr/>
          <p:nvPr/>
        </p:nvSpPr>
        <p:spPr>
          <a:xfrm>
            <a:off x="3790950" y="3629025"/>
            <a:ext cx="273050" cy="3048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1400" dirty="0">
                <a:latin typeface="Arial" panose="020B0604020202020204" pitchFamily="34" charset="0"/>
                <a:ea typeface="黑体" panose="02010609060101010101" pitchFamily="49" charset="-122"/>
              </a:rPr>
              <a:t>z</a:t>
            </a:r>
            <a:endParaRPr lang="en-US" altLang="zh-CN" sz="1400" dirty="0">
              <a:latin typeface="Arial" panose="020B0604020202020204" pitchFamily="34" charset="0"/>
              <a:ea typeface="黑体" panose="02010609060101010101" pitchFamily="49" charset="-122"/>
            </a:endParaRPr>
          </a:p>
        </p:txBody>
      </p:sp>
      <p:sp>
        <p:nvSpPr>
          <p:cNvPr id="372768" name="Text Box 40"/>
          <p:cNvSpPr txBox="1"/>
          <p:nvPr/>
        </p:nvSpPr>
        <p:spPr>
          <a:xfrm>
            <a:off x="5638800" y="4267200"/>
            <a:ext cx="2012950" cy="45720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400" dirty="0">
                <a:latin typeface="Arial" panose="020B0604020202020204" pitchFamily="34" charset="0"/>
                <a:ea typeface="黑体" panose="02010609060101010101" pitchFamily="49" charset="-122"/>
              </a:rPr>
              <a:t>需要两种颜色</a:t>
            </a:r>
            <a:endParaRPr lang="zh-CN" altLang="en-US" sz="2400" dirty="0">
              <a:latin typeface="Arial" panose="020B0604020202020204" pitchFamily="34" charset="0"/>
              <a:ea typeface="黑体" panose="02010609060101010101" pitchFamily="49" charset="-122"/>
            </a:endParaRPr>
          </a:p>
        </p:txBody>
      </p:sp>
      <p:sp>
        <p:nvSpPr>
          <p:cNvPr id="372769" name="Freeform 41"/>
          <p:cNvSpPr/>
          <p:nvPr/>
        </p:nvSpPr>
        <p:spPr>
          <a:xfrm>
            <a:off x="1828800" y="4267200"/>
            <a:ext cx="1219200" cy="762000"/>
          </a:xfrm>
          <a:custGeom>
            <a:avLst/>
            <a:gdLst/>
            <a:ahLst/>
            <a:cxnLst>
              <a:cxn ang="0">
                <a:pos x="0" y="0"/>
              </a:cxn>
              <a:cxn ang="0">
                <a:pos x="0" y="2147483646"/>
              </a:cxn>
              <a:cxn ang="0">
                <a:pos x="2147483646" y="2147483646"/>
              </a:cxn>
            </a:cxnLst>
            <a:pathLst>
              <a:path w="1002" h="576">
                <a:moveTo>
                  <a:pt x="0" y="0"/>
                </a:moveTo>
                <a:lnTo>
                  <a:pt x="0" y="180"/>
                </a:lnTo>
                <a:lnTo>
                  <a:pt x="1002" y="576"/>
                </a:lnTo>
              </a:path>
            </a:pathLst>
          </a:custGeom>
          <a:noFill/>
          <a:ln w="28575" cap="flat" cmpd="sng">
            <a:solidFill>
              <a:schemeClr val="accent2">
                <a:alpha val="100000"/>
              </a:schemeClr>
            </a:solidFill>
            <a:prstDash val="solid"/>
            <a:round/>
            <a:headEnd type="none" w="sm" len="sm"/>
            <a:tailEnd type="none" w="sm" len="sm"/>
          </a:ln>
        </p:spPr>
        <p:txBody>
          <a:bodyPr/>
          <a:p>
            <a:endParaRPr lang="zh-CN" altLang="en-US"/>
          </a:p>
        </p:txBody>
      </p:sp>
    </p:spTree>
  </p:cSld>
  <p:clrMapOvr>
    <a:masterClrMapping/>
  </p:clrMapOvr>
  <p:transition spd="slow"/>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4786" name="Object 2"/>
          <p:cNvGraphicFramePr>
            <a:graphicFrameLocks noChangeAspect="1"/>
          </p:cNvGraphicFramePr>
          <p:nvPr/>
        </p:nvGraphicFramePr>
        <p:xfrm>
          <a:off x="990600" y="4572000"/>
          <a:ext cx="7543800" cy="1406525"/>
        </p:xfrm>
        <a:graphic>
          <a:graphicData uri="http://schemas.openxmlformats.org/presentationml/2006/ole">
            <mc:AlternateContent xmlns:mc="http://schemas.openxmlformats.org/markup-compatibility/2006">
              <mc:Choice xmlns:v="urn:schemas-microsoft-com:vml" Requires="v">
                <p:oleObj spid="_x0000_s3101" name="" r:id="rId1" imgW="6544310" imgH="1219200" progId="Word.Picture.8">
                  <p:embed/>
                </p:oleObj>
              </mc:Choice>
              <mc:Fallback>
                <p:oleObj name="" r:id="rId1" imgW="6544310" imgH="1219200" progId="Word.Picture.8">
                  <p:embed/>
                  <p:pic>
                    <p:nvPicPr>
                      <p:cNvPr id="0" name="图片 3100"/>
                      <p:cNvPicPr/>
                      <p:nvPr/>
                    </p:nvPicPr>
                    <p:blipFill>
                      <a:blip r:embed="rId2"/>
                      <a:stretch>
                        <a:fillRect/>
                      </a:stretch>
                    </p:blipFill>
                    <p:spPr>
                      <a:xfrm>
                        <a:off x="990600" y="4572000"/>
                        <a:ext cx="7543800" cy="1406525"/>
                      </a:xfrm>
                      <a:prstGeom prst="rect">
                        <a:avLst/>
                      </a:prstGeom>
                      <a:noFill/>
                      <a:ln w="38100">
                        <a:noFill/>
                        <a:miter/>
                      </a:ln>
                    </p:spPr>
                  </p:pic>
                </p:oleObj>
              </mc:Fallback>
            </mc:AlternateContent>
          </a:graphicData>
        </a:graphic>
      </p:graphicFrame>
      <p:sp>
        <p:nvSpPr>
          <p:cNvPr id="374787" name="Rectangle 3"/>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图着色寄存器分配－</a:t>
            </a:r>
            <a:r>
              <a:rPr lang="en-US" altLang="zh-CN" dirty="0">
                <a:latin typeface="Times New Roman" panose="02020603050405020304" pitchFamily="18" charset="0"/>
                <a:ea typeface="宋体" panose="02010600030101010101" pitchFamily="2" charset="-122"/>
              </a:rPr>
              <a:t>Chaitin’s</a:t>
            </a:r>
            <a:endParaRPr lang="zh-CN" altLang="en-US" dirty="0">
              <a:latin typeface="Times New Roman" panose="02020603050405020304" pitchFamily="18" charset="0"/>
              <a:ea typeface="宋体" panose="02010600030101010101" pitchFamily="2" charset="-122"/>
            </a:endParaRPr>
          </a:p>
        </p:txBody>
      </p:sp>
      <p:sp>
        <p:nvSpPr>
          <p:cNvPr id="374788" name="Rectangle 4"/>
          <p:cNvSpPr>
            <a:spLocks noGrp="1"/>
          </p:cNvSpPr>
          <p:nvPr>
            <p:ph idx="1"/>
          </p:nvPr>
        </p:nvSpPr>
        <p:spPr>
          <a:xfrm>
            <a:off x="914400" y="1447800"/>
            <a:ext cx="7543800" cy="4724400"/>
          </a:xfrm>
        </p:spPr>
        <p:txBody>
          <a:bodyPr vert="horz" wrap="square" lIns="92075" tIns="46038" rIns="92075" bIns="46038" anchor="t" anchorCtr="0"/>
          <a:p>
            <a:r>
              <a:rPr lang="zh-CN" altLang="en-GB" sz="2400" b="1" dirty="0">
                <a:ea typeface="宋体" panose="02010600030101010101" pitchFamily="2" charset="-122"/>
              </a:rPr>
              <a:t>判断一个图是否</a:t>
            </a:r>
            <a:r>
              <a:rPr lang="en-US" altLang="zh-CN" sz="2400" b="1" dirty="0">
                <a:ea typeface="宋体" panose="02010600030101010101" pitchFamily="2" charset="-122"/>
              </a:rPr>
              <a:t>k–</a:t>
            </a:r>
            <a:r>
              <a:rPr lang="zh-CN" altLang="en-US" sz="2400" b="1" dirty="0">
                <a:ea typeface="宋体" panose="02010600030101010101" pitchFamily="2" charset="-122"/>
              </a:rPr>
              <a:t>可着色是一个</a:t>
            </a:r>
            <a:r>
              <a:rPr lang="en-US" altLang="zh-CN" sz="2400" b="1" dirty="0">
                <a:ea typeface="宋体" panose="02010600030101010101" pitchFamily="2" charset="-122"/>
              </a:rPr>
              <a:t>NP</a:t>
            </a:r>
            <a:r>
              <a:rPr lang="zh-CN" altLang="en-US" sz="2400" b="1" dirty="0">
                <a:ea typeface="宋体" panose="02010600030101010101" pitchFamily="2" charset="-122"/>
              </a:rPr>
              <a:t>完全问题。</a:t>
            </a:r>
            <a:endParaRPr lang="zh-CN" altLang="en-US" sz="2400" b="1" dirty="0">
              <a:ea typeface="宋体" panose="02010600030101010101" pitchFamily="2" charset="-122"/>
            </a:endParaRPr>
          </a:p>
          <a:p>
            <a:r>
              <a:rPr lang="zh-CN" altLang="en-US" sz="2400" b="1" dirty="0">
                <a:ea typeface="宋体" panose="02010600030101010101" pitchFamily="2" charset="-122"/>
              </a:rPr>
              <a:t>注意到图中度不大于</a:t>
            </a:r>
            <a:r>
              <a:rPr lang="en-US" altLang="zh-CN" sz="2400" b="1" dirty="0">
                <a:ea typeface="宋体" panose="02010600030101010101" pitchFamily="2" charset="-122"/>
              </a:rPr>
              <a:t>k</a:t>
            </a:r>
            <a:r>
              <a:rPr lang="zh-CN" altLang="en-US" sz="2400" b="1" dirty="0">
                <a:ea typeface="宋体" panose="02010600030101010101" pitchFamily="2" charset="-122"/>
              </a:rPr>
              <a:t>的节点总可以被着色，</a:t>
            </a:r>
            <a:r>
              <a:rPr lang="en-US" altLang="zh-CN" sz="2400" b="1" dirty="0">
                <a:ea typeface="宋体" panose="02010600030101010101" pitchFamily="2" charset="-122"/>
              </a:rPr>
              <a:t>Chaitin</a:t>
            </a:r>
            <a:r>
              <a:rPr lang="zh-CN" altLang="en-US" sz="2400" b="1" dirty="0">
                <a:ea typeface="宋体" panose="02010600030101010101" pitchFamily="2" charset="-122"/>
              </a:rPr>
              <a:t>提出了一种启发式方法：持续地从图中删掉度小于</a:t>
            </a:r>
            <a:r>
              <a:rPr lang="en-US" altLang="zh-CN" sz="2400" b="1" dirty="0">
                <a:ea typeface="宋体" panose="02010600030101010101" pitchFamily="2" charset="-122"/>
              </a:rPr>
              <a:t>k</a:t>
            </a:r>
            <a:r>
              <a:rPr lang="zh-CN" altLang="en-US" sz="2400" b="1" dirty="0">
                <a:ea typeface="宋体" panose="02010600030101010101" pitchFamily="2" charset="-122"/>
              </a:rPr>
              <a:t>的节点，若此过程一直进行到所有的节点均被删除，则图是</a:t>
            </a:r>
            <a:r>
              <a:rPr lang="en-US" altLang="zh-CN" sz="2400" b="1" dirty="0">
                <a:ea typeface="宋体" panose="02010600030101010101" pitchFamily="2" charset="-122"/>
              </a:rPr>
              <a:t>k–</a:t>
            </a:r>
            <a:r>
              <a:rPr lang="zh-CN" altLang="en-US" sz="2400" b="1" dirty="0">
                <a:ea typeface="宋体" panose="02010600030101010101" pitchFamily="2" charset="-122"/>
              </a:rPr>
              <a:t>可着色的。若此过程阻塞，即图中所有节点的度均不小于</a:t>
            </a:r>
            <a:r>
              <a:rPr lang="en-US" altLang="zh-CN" sz="2400" b="1" dirty="0">
                <a:ea typeface="宋体" panose="02010600030101010101" pitchFamily="2" charset="-122"/>
              </a:rPr>
              <a:t>k，</a:t>
            </a:r>
            <a:r>
              <a:rPr lang="zh-CN" altLang="en-US" sz="2400" b="1" dirty="0">
                <a:ea typeface="宋体" panose="02010600030101010101" pitchFamily="2" charset="-122"/>
              </a:rPr>
              <a:t>则依据溢出代价大小，从图中选择某个节点，删除该节点及其相连的边。然后重复上述过程。</a:t>
            </a:r>
            <a:endParaRPr lang="zh-CN" altLang="en-US" sz="2400" b="1" dirty="0">
              <a:ea typeface="宋体" panose="02010600030101010101" pitchFamily="2" charset="-122"/>
            </a:endParaRPr>
          </a:p>
        </p:txBody>
      </p:sp>
    </p:spTree>
  </p:cSld>
  <p:clrMapOvr>
    <a:masterClrMapping/>
  </p:clrMapOvr>
  <p:transition spd="slow"/>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极小化活跃区间</a:t>
            </a:r>
            <a:endParaRPr lang="zh-CN" altLang="en-US" dirty="0">
              <a:latin typeface="Times New Roman" panose="02020603050405020304" pitchFamily="18" charset="0"/>
              <a:ea typeface="宋体" panose="02010600030101010101" pitchFamily="2" charset="-122"/>
            </a:endParaRPr>
          </a:p>
        </p:txBody>
      </p:sp>
      <p:sp>
        <p:nvSpPr>
          <p:cNvPr id="376835" name="Text Box 3"/>
          <p:cNvSpPr txBox="1"/>
          <p:nvPr/>
        </p:nvSpPr>
        <p:spPr>
          <a:xfrm>
            <a:off x="4495800" y="1371600"/>
            <a:ext cx="4343400" cy="4143375"/>
          </a:xfrm>
          <a:prstGeom prst="rect">
            <a:avLst/>
          </a:prstGeom>
          <a:noFill/>
          <a:ln w="12700">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Rename(CFG)</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for each (var)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lrs[var] =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for each (d in dd_chain(var))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 = new_a_lr(du_chain(d));</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lrs[var] += lr;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endfor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do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for each (lr1 in lrs[var])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for each (lr2 in lrs[var] &amp;&amp; lr2 != lr1)</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if (lr1.uses </a:t>
            </a:r>
            <a:r>
              <a:rPr lang="en-GB" altLang="zh-CN" sz="1600" dirty="0">
                <a:latin typeface="Arial" panose="020B0604020202020204" pitchFamily="34" charset="0"/>
                <a:ea typeface="黑体" panose="02010609060101010101" pitchFamily="49" charset="-122"/>
              </a:rPr>
              <a:t>∩</a:t>
            </a:r>
            <a:r>
              <a:rPr lang="en-US" altLang="zh-CN" sz="1600" dirty="0">
                <a:latin typeface="Arial" panose="020B0604020202020204" pitchFamily="34" charset="0"/>
                <a:ea typeface="宋体" panose="02010600030101010101" pitchFamily="2" charset="-122"/>
              </a:rPr>
              <a:t> lr2.uses not empty)</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lr1.defs </a:t>
            </a:r>
            <a:r>
              <a:rPr lang="en-GB" altLang="zh-CN" sz="1600" dirty="0">
                <a:latin typeface="Arial" panose="020B0604020202020204" pitchFamily="34" charset="0"/>
                <a:ea typeface="黑体" panose="02010609060101010101" pitchFamily="49" charset="-122"/>
              </a:rPr>
              <a:t>∪</a:t>
            </a:r>
            <a:r>
              <a:rPr lang="en-US" altLang="zh-CN" sz="1600" dirty="0">
                <a:latin typeface="Arial" panose="020B0604020202020204" pitchFamily="34" charset="0"/>
                <a:ea typeface="宋体" panose="02010600030101010101" pitchFamily="2" charset="-122"/>
              </a:rPr>
              <a:t>= lr2.defs;</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lr1.uses </a:t>
            </a:r>
            <a:r>
              <a:rPr lang="en-GB" altLang="zh-CN" sz="1600" dirty="0">
                <a:latin typeface="Arial" panose="020B0604020202020204" pitchFamily="34" charset="0"/>
                <a:ea typeface="黑体" panose="02010609060101010101" pitchFamily="49" charset="-122"/>
              </a:rPr>
              <a:t>∪</a:t>
            </a:r>
            <a:r>
              <a:rPr lang="en-US" altLang="zh-CN" sz="1600" dirty="0">
                <a:latin typeface="Arial" panose="020B0604020202020204" pitchFamily="34" charset="0"/>
                <a:ea typeface="宋体" panose="02010600030101010101" pitchFamily="2" charset="-122"/>
              </a:rPr>
              <a:t>= lr2.uses;</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lrs[var] </a:t>
            </a:r>
            <a:r>
              <a:rPr lang="en-US" altLang="zh-CN" sz="1600" dirty="0">
                <a:latin typeface="Arial" panose="020B0604020202020204" pitchFamily="34" charset="0"/>
                <a:ea typeface="黑体" panose="02010609060101010101" pitchFamily="49" charset="-122"/>
              </a:rPr>
              <a:t>-</a:t>
            </a:r>
            <a:r>
              <a:rPr lang="en-US" altLang="zh-CN" sz="1600" dirty="0">
                <a:latin typeface="Arial" panose="020B0604020202020204" pitchFamily="34" charset="0"/>
                <a:ea typeface="宋体" panose="02010600030101010101" pitchFamily="2" charset="-122"/>
              </a:rPr>
              <a:t>= lr2;</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endif</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endfor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endfor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while (lrs[var] not changed);</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endfor</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    lrs = </a:t>
            </a:r>
            <a:r>
              <a:rPr lang="en-GB" altLang="zh-CN" sz="1600" dirty="0">
                <a:latin typeface="Arial" panose="020B0604020202020204" pitchFamily="34" charset="0"/>
                <a:ea typeface="黑体" panose="02010609060101010101" pitchFamily="49" charset="-122"/>
              </a:rPr>
              <a:t>∪</a:t>
            </a:r>
            <a:r>
              <a:rPr lang="en-US" altLang="zh-CN" sz="1600" dirty="0">
                <a:latin typeface="Arial" panose="020B0604020202020204" pitchFamily="34" charset="0"/>
                <a:ea typeface="宋体" panose="02010600030101010101" pitchFamily="2" charset="-122"/>
              </a:rPr>
              <a:t> lrs[var];</a:t>
            </a:r>
            <a:endParaRPr lang="en-US" altLang="zh-CN" sz="1600" dirty="0">
              <a:latin typeface="Arial" panose="020B0604020202020204" pitchFamily="34" charset="0"/>
              <a:ea typeface="宋体" panose="02010600030101010101" pitchFamily="2" charset="-122"/>
            </a:endParaRPr>
          </a:p>
          <a:p>
            <a:pPr marL="0" lvl="0" indent="0" eaLnBrk="1" hangingPunct="1">
              <a:lnSpc>
                <a:spcPct val="75000"/>
              </a:lnSpc>
              <a:spcBef>
                <a:spcPct val="0"/>
              </a:spcBef>
              <a:buClrTx/>
              <a:buSzTx/>
              <a:buNone/>
            </a:pPr>
            <a:r>
              <a:rPr lang="en-US" altLang="zh-CN" sz="1600" dirty="0">
                <a:latin typeface="Arial" panose="020B0604020202020204" pitchFamily="34" charset="0"/>
                <a:ea typeface="宋体" panose="02010600030101010101" pitchFamily="2" charset="-122"/>
              </a:rPr>
              <a:t>}</a:t>
            </a:r>
            <a:r>
              <a:rPr lang="en-US" altLang="zh-CN" sz="1600" dirty="0">
                <a:latin typeface="Arial" panose="020B0604020202020204" pitchFamily="34" charset="0"/>
                <a:ea typeface="黑体" panose="02010609060101010101" pitchFamily="49" charset="-122"/>
              </a:rPr>
              <a:t> </a:t>
            </a:r>
            <a:endParaRPr lang="en-US" altLang="zh-CN" sz="1600" dirty="0">
              <a:latin typeface="Arial" panose="020B0604020202020204" pitchFamily="34" charset="0"/>
              <a:ea typeface="黑体" panose="02010609060101010101" pitchFamily="49" charset="-122"/>
            </a:endParaRPr>
          </a:p>
        </p:txBody>
      </p:sp>
      <p:sp>
        <p:nvSpPr>
          <p:cNvPr id="376836" name="Rectangle 4"/>
          <p:cNvSpPr/>
          <p:nvPr/>
        </p:nvSpPr>
        <p:spPr>
          <a:xfrm>
            <a:off x="914400" y="1219200"/>
            <a:ext cx="3429000" cy="44958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r>
              <a:rPr lang="zh-CN" altLang="en-US" sz="2400" dirty="0">
                <a:latin typeface="黑体" panose="02010609060101010101" pitchFamily="49" charset="-122"/>
                <a:ea typeface="黑体" panose="02010609060101010101" pitchFamily="49" charset="-122"/>
              </a:rPr>
              <a:t>首先每个变量的每个</a:t>
            </a:r>
            <a:r>
              <a:rPr lang="en-US" altLang="zh-CN" sz="2400" dirty="0">
                <a:latin typeface="Arial" panose="020B0604020202020204" pitchFamily="34" charset="0"/>
                <a:ea typeface="宋体" panose="02010600030101010101" pitchFamily="2" charset="-122"/>
              </a:rPr>
              <a:t>du</a:t>
            </a:r>
            <a:r>
              <a:rPr lang="zh-CN" altLang="en-US" sz="2400" dirty="0">
                <a:latin typeface="黑体" panose="02010609060101010101" pitchFamily="49" charset="-122"/>
                <a:ea typeface="黑体" panose="02010609060101010101" pitchFamily="49" charset="-122"/>
              </a:rPr>
              <a:t>链都被初始化为一个活跃区间。</a:t>
            </a:r>
            <a:endParaRPr lang="zh-CN" altLang="en-US" sz="2400" dirty="0">
              <a:latin typeface="黑体" panose="02010609060101010101" pitchFamily="49" charset="-122"/>
              <a:ea typeface="黑体" panose="02010609060101010101" pitchFamily="49" charset="-122"/>
            </a:endParaRPr>
          </a:p>
          <a:p>
            <a:pPr marL="342900" lvl="0" indent="-342900"/>
            <a:r>
              <a:rPr lang="zh-CN" altLang="en-US" sz="2400" dirty="0">
                <a:latin typeface="黑体" panose="02010609060101010101" pitchFamily="49" charset="-122"/>
                <a:ea typeface="黑体" panose="02010609060101010101" pitchFamily="49" charset="-122"/>
              </a:rPr>
              <a:t>其次，若同一个变量的两个</a:t>
            </a:r>
            <a:r>
              <a:rPr lang="en-US" altLang="zh-CN" sz="2400" dirty="0">
                <a:latin typeface="Arial" panose="020B0604020202020204" pitchFamily="34" charset="0"/>
                <a:ea typeface="宋体" panose="02010600030101010101" pitchFamily="2" charset="-122"/>
              </a:rPr>
              <a:t>du</a:t>
            </a:r>
            <a:r>
              <a:rPr lang="zh-CN" altLang="en-US" sz="2400" dirty="0">
                <a:latin typeface="黑体" panose="02010609060101010101" pitchFamily="49" charset="-122"/>
                <a:ea typeface="黑体" panose="02010609060101010101" pitchFamily="49" charset="-122"/>
              </a:rPr>
              <a:t>链包含公共的引用点，则将相应的两个活跃区间合并成一个活跃区间。</a:t>
            </a:r>
            <a:endParaRPr lang="zh-CN" altLang="en-US" sz="2400" dirty="0">
              <a:latin typeface="黑体" panose="02010609060101010101" pitchFamily="49" charset="-122"/>
              <a:ea typeface="黑体" panose="02010609060101010101" pitchFamily="49" charset="-122"/>
            </a:endParaRPr>
          </a:p>
          <a:p>
            <a:pPr marL="342900" lvl="0" indent="-342900"/>
            <a:r>
              <a:rPr lang="zh-CN" altLang="en-US" sz="2400" dirty="0">
                <a:latin typeface="黑体" panose="02010609060101010101" pitchFamily="49" charset="-122"/>
                <a:ea typeface="黑体" panose="02010609060101010101" pitchFamily="49" charset="-122"/>
              </a:rPr>
              <a:t>叠代直到活跃区间的集合稳定。</a:t>
            </a:r>
            <a:r>
              <a:rPr lang="zh-CN" altLang="en-US" sz="2400" dirty="0">
                <a:latin typeface="Arial" panose="020B0604020202020204" pitchFamily="34" charset="0"/>
                <a:ea typeface="黑体" panose="02010609060101010101" pitchFamily="49" charset="-122"/>
              </a:rPr>
              <a:t> </a:t>
            </a:r>
            <a:endParaRPr lang="zh-CN" altLang="en-US" sz="2400" dirty="0">
              <a:latin typeface="Arial" panose="020B0604020202020204" pitchFamily="34" charset="0"/>
              <a:ea typeface="黑体" panose="02010609060101010101" pitchFamily="49" charset="-122"/>
            </a:endParaRPr>
          </a:p>
        </p:txBody>
      </p:sp>
    </p:spTree>
  </p:cSld>
  <p:clrMapOvr>
    <a:masterClrMapping/>
  </p:clrMapOvr>
  <p:transition spd="slow"/>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Line 2"/>
          <p:cNvSpPr/>
          <p:nvPr/>
        </p:nvSpPr>
        <p:spPr>
          <a:xfrm flipV="1">
            <a:off x="2209800" y="4648200"/>
            <a:ext cx="914400" cy="914400"/>
          </a:xfrm>
          <a:prstGeom prst="line">
            <a:avLst/>
          </a:prstGeom>
          <a:ln w="28575" cap="flat" cmpd="sng">
            <a:solidFill>
              <a:schemeClr val="tx1"/>
            </a:solidFill>
            <a:prstDash val="solid"/>
            <a:headEnd type="none" w="sm" len="sm"/>
            <a:tailEnd type="none" w="sm" len="sm"/>
          </a:ln>
        </p:spPr>
      </p:sp>
      <p:sp>
        <p:nvSpPr>
          <p:cNvPr id="378883" name="Rectangle 3"/>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极小化活跃区间</a:t>
            </a:r>
            <a:endParaRPr lang="zh-CN" altLang="en-US" dirty="0">
              <a:latin typeface="Times New Roman" panose="02020603050405020304" pitchFamily="18" charset="0"/>
              <a:ea typeface="宋体" panose="02010600030101010101" pitchFamily="2" charset="-122"/>
            </a:endParaRPr>
          </a:p>
        </p:txBody>
      </p:sp>
      <p:sp>
        <p:nvSpPr>
          <p:cNvPr id="378884" name="Rectangle 4"/>
          <p:cNvSpPr>
            <a:spLocks noGrp="1"/>
          </p:cNvSpPr>
          <p:nvPr>
            <p:ph idx="1"/>
          </p:nvPr>
        </p:nvSpPr>
        <p:spPr>
          <a:xfrm>
            <a:off x="914400" y="1447800"/>
            <a:ext cx="7543800" cy="4495800"/>
          </a:xfrm>
        </p:spPr>
        <p:txBody>
          <a:bodyPr vert="horz" wrap="square" lIns="92075" tIns="46038" rIns="92075" bIns="46038" anchor="t" anchorCtr="0"/>
          <a:p>
            <a:r>
              <a:rPr lang="zh-CN" altLang="en-US" sz="2400" b="1" dirty="0">
                <a:ea typeface="宋体" panose="02010600030101010101" pitchFamily="2" charset="-122"/>
              </a:rPr>
              <a:t>活跃区间的极小化有利于减轻变量间的干涉，减小干涉图的颜色数。</a:t>
            </a:r>
            <a:endParaRPr lang="zh-CN" altLang="en-US" sz="2400" b="1" dirty="0">
              <a:ea typeface="宋体" panose="02010600030101010101" pitchFamily="2" charset="-122"/>
            </a:endParaRPr>
          </a:p>
        </p:txBody>
      </p:sp>
      <p:sp>
        <p:nvSpPr>
          <p:cNvPr id="378885" name="Text Box 5"/>
          <p:cNvSpPr txBox="1"/>
          <p:nvPr/>
        </p:nvSpPr>
        <p:spPr>
          <a:xfrm>
            <a:off x="1752600" y="2209800"/>
            <a:ext cx="3124200" cy="1870075"/>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for ( i=0; i&lt;n; i++ )</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a = b + d; </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b = a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a = c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c = a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a:t>
            </a:r>
            <a:endParaRPr lang="en-US" altLang="zh-CN" sz="1800" dirty="0">
              <a:latin typeface="Arial" panose="020B0604020202020204" pitchFamily="34" charset="0"/>
              <a:ea typeface="黑体" panose="02010609060101010101" pitchFamily="49" charset="-122"/>
            </a:endParaRPr>
          </a:p>
        </p:txBody>
      </p:sp>
      <p:sp>
        <p:nvSpPr>
          <p:cNvPr id="378886" name="Text Box 6"/>
          <p:cNvSpPr txBox="1"/>
          <p:nvPr/>
        </p:nvSpPr>
        <p:spPr>
          <a:xfrm>
            <a:off x="4953000" y="2209800"/>
            <a:ext cx="3124200" cy="1870075"/>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for ( i=0; i&lt;n; i++ )</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a1 = b + d; </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b = a1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a2 = c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    c = a2 + d;</a:t>
            </a:r>
            <a:endParaRPr lang="en-US" altLang="zh-CN" sz="1800" dirty="0">
              <a:latin typeface="Arial" panose="020B0604020202020204" pitchFamily="34" charset="0"/>
              <a:ea typeface="黑体" panose="02010609060101010101" pitchFamily="49" charset="-122"/>
            </a:endParaRPr>
          </a:p>
          <a:p>
            <a:pPr marL="0" lvl="0" indent="0" algn="just">
              <a:lnSpc>
                <a:spcPct val="75000"/>
              </a:lnSpc>
              <a:buClrTx/>
              <a:buSzTx/>
              <a:buNone/>
            </a:pPr>
            <a:r>
              <a:rPr lang="en-US" altLang="zh-CN" sz="1800" dirty="0">
                <a:latin typeface="Arial" panose="020B0604020202020204" pitchFamily="34" charset="0"/>
                <a:ea typeface="黑体" panose="02010609060101010101" pitchFamily="49" charset="-122"/>
              </a:rPr>
              <a:t>}</a:t>
            </a:r>
            <a:endParaRPr lang="en-US" altLang="zh-CN" sz="1800" dirty="0">
              <a:latin typeface="Arial" panose="020B0604020202020204" pitchFamily="34" charset="0"/>
              <a:ea typeface="黑体" panose="02010609060101010101" pitchFamily="49" charset="-122"/>
            </a:endParaRPr>
          </a:p>
        </p:txBody>
      </p:sp>
      <p:sp>
        <p:nvSpPr>
          <p:cNvPr id="378887" name="Oval 7"/>
          <p:cNvSpPr/>
          <p:nvPr/>
        </p:nvSpPr>
        <p:spPr>
          <a:xfrm>
            <a:off x="1828800" y="4267200"/>
            <a:ext cx="466725" cy="447675"/>
          </a:xfrm>
          <a:prstGeom prst="ellipse">
            <a:avLst/>
          </a:prstGeom>
          <a:solidFill>
            <a:srgbClr val="FF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a</a:t>
            </a:r>
            <a:endParaRPr lang="en-US" altLang="zh-CN" sz="2400" dirty="0">
              <a:latin typeface="Arial" panose="020B0604020202020204" pitchFamily="34" charset="0"/>
              <a:ea typeface="黑体" panose="02010609060101010101" pitchFamily="49" charset="-122"/>
            </a:endParaRPr>
          </a:p>
        </p:txBody>
      </p:sp>
      <p:sp>
        <p:nvSpPr>
          <p:cNvPr id="378888" name="Oval 8"/>
          <p:cNvSpPr/>
          <p:nvPr/>
        </p:nvSpPr>
        <p:spPr>
          <a:xfrm>
            <a:off x="3048000" y="4267200"/>
            <a:ext cx="466725" cy="447675"/>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b</a:t>
            </a:r>
            <a:endParaRPr lang="en-US" altLang="zh-CN" sz="2400" dirty="0">
              <a:latin typeface="Arial" panose="020B0604020202020204" pitchFamily="34" charset="0"/>
              <a:ea typeface="黑体" panose="02010609060101010101" pitchFamily="49" charset="-122"/>
            </a:endParaRPr>
          </a:p>
        </p:txBody>
      </p:sp>
      <p:sp>
        <p:nvSpPr>
          <p:cNvPr id="378889" name="Oval 9"/>
          <p:cNvSpPr/>
          <p:nvPr/>
        </p:nvSpPr>
        <p:spPr>
          <a:xfrm>
            <a:off x="1828800" y="5410200"/>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c</a:t>
            </a:r>
            <a:endParaRPr lang="en-US" altLang="zh-CN" sz="2400" dirty="0">
              <a:latin typeface="Arial" panose="020B0604020202020204" pitchFamily="34" charset="0"/>
              <a:ea typeface="黑体" panose="02010609060101010101" pitchFamily="49" charset="-122"/>
            </a:endParaRPr>
          </a:p>
        </p:txBody>
      </p:sp>
      <p:sp>
        <p:nvSpPr>
          <p:cNvPr id="378890" name="Line 10"/>
          <p:cNvSpPr/>
          <p:nvPr/>
        </p:nvSpPr>
        <p:spPr>
          <a:xfrm flipH="1">
            <a:off x="2057400" y="4724400"/>
            <a:ext cx="0" cy="685800"/>
          </a:xfrm>
          <a:prstGeom prst="line">
            <a:avLst/>
          </a:prstGeom>
          <a:ln w="28575" cap="flat" cmpd="sng">
            <a:solidFill>
              <a:schemeClr val="tx1"/>
            </a:solidFill>
            <a:prstDash val="solid"/>
            <a:headEnd type="none" w="sm" len="sm"/>
            <a:tailEnd type="none" w="sm" len="sm"/>
          </a:ln>
        </p:spPr>
      </p:sp>
      <p:sp>
        <p:nvSpPr>
          <p:cNvPr id="378891" name="Line 11"/>
          <p:cNvSpPr/>
          <p:nvPr/>
        </p:nvSpPr>
        <p:spPr>
          <a:xfrm>
            <a:off x="2200275" y="4667250"/>
            <a:ext cx="923925" cy="819150"/>
          </a:xfrm>
          <a:prstGeom prst="line">
            <a:avLst/>
          </a:prstGeom>
          <a:ln w="28575" cap="flat" cmpd="sng">
            <a:solidFill>
              <a:schemeClr val="tx1"/>
            </a:solidFill>
            <a:prstDash val="solid"/>
            <a:headEnd type="none" w="sm" len="sm"/>
            <a:tailEnd type="none" w="sm" len="sm"/>
          </a:ln>
        </p:spPr>
      </p:sp>
      <p:sp>
        <p:nvSpPr>
          <p:cNvPr id="378892" name="Oval 12"/>
          <p:cNvSpPr/>
          <p:nvPr/>
        </p:nvSpPr>
        <p:spPr>
          <a:xfrm>
            <a:off x="3048000" y="5410200"/>
            <a:ext cx="466725" cy="447675"/>
          </a:xfrm>
          <a:prstGeom prst="ellipse">
            <a:avLst/>
          </a:prstGeom>
          <a:solidFill>
            <a:srgbClr val="00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d</a:t>
            </a:r>
            <a:endParaRPr lang="en-US" altLang="zh-CN" sz="2400" dirty="0">
              <a:latin typeface="Arial" panose="020B0604020202020204" pitchFamily="34" charset="0"/>
              <a:ea typeface="黑体" panose="02010609060101010101" pitchFamily="49" charset="-122"/>
            </a:endParaRPr>
          </a:p>
        </p:txBody>
      </p:sp>
      <p:sp>
        <p:nvSpPr>
          <p:cNvPr id="378893" name="Line 13"/>
          <p:cNvSpPr/>
          <p:nvPr/>
        </p:nvSpPr>
        <p:spPr>
          <a:xfrm flipH="1">
            <a:off x="3276600" y="4724400"/>
            <a:ext cx="0" cy="685800"/>
          </a:xfrm>
          <a:prstGeom prst="line">
            <a:avLst/>
          </a:prstGeom>
          <a:ln w="28575" cap="flat" cmpd="sng">
            <a:solidFill>
              <a:schemeClr val="tx1"/>
            </a:solidFill>
            <a:prstDash val="solid"/>
            <a:headEnd type="none" w="sm" len="sm"/>
            <a:tailEnd type="none" w="sm" len="sm"/>
          </a:ln>
        </p:spPr>
      </p:sp>
      <p:sp>
        <p:nvSpPr>
          <p:cNvPr id="378894" name="Line 14"/>
          <p:cNvSpPr/>
          <p:nvPr/>
        </p:nvSpPr>
        <p:spPr>
          <a:xfrm>
            <a:off x="2286000" y="4495800"/>
            <a:ext cx="762000" cy="0"/>
          </a:xfrm>
          <a:prstGeom prst="line">
            <a:avLst/>
          </a:prstGeom>
          <a:ln w="28575" cap="flat" cmpd="sng">
            <a:solidFill>
              <a:schemeClr val="tx1"/>
            </a:solidFill>
            <a:prstDash val="solid"/>
            <a:headEnd type="none" w="sm" len="sm"/>
            <a:tailEnd type="none" w="sm" len="sm"/>
          </a:ln>
        </p:spPr>
      </p:sp>
      <p:sp>
        <p:nvSpPr>
          <p:cNvPr id="378895" name="Line 15"/>
          <p:cNvSpPr/>
          <p:nvPr/>
        </p:nvSpPr>
        <p:spPr>
          <a:xfrm>
            <a:off x="2286000" y="5638800"/>
            <a:ext cx="762000" cy="0"/>
          </a:xfrm>
          <a:prstGeom prst="line">
            <a:avLst/>
          </a:prstGeom>
          <a:ln w="28575" cap="flat" cmpd="sng">
            <a:solidFill>
              <a:schemeClr val="tx1"/>
            </a:solidFill>
            <a:prstDash val="solid"/>
            <a:headEnd type="none" w="sm" len="sm"/>
            <a:tailEnd type="none" w="sm" len="sm"/>
          </a:ln>
        </p:spPr>
      </p:sp>
      <p:sp>
        <p:nvSpPr>
          <p:cNvPr id="378896" name="Line 16"/>
          <p:cNvSpPr/>
          <p:nvPr/>
        </p:nvSpPr>
        <p:spPr>
          <a:xfrm flipV="1">
            <a:off x="5410200" y="4648200"/>
            <a:ext cx="914400" cy="914400"/>
          </a:xfrm>
          <a:prstGeom prst="line">
            <a:avLst/>
          </a:prstGeom>
          <a:ln w="28575" cap="flat" cmpd="sng">
            <a:solidFill>
              <a:schemeClr val="tx1"/>
            </a:solidFill>
            <a:prstDash val="solid"/>
            <a:headEnd type="none" w="sm" len="sm"/>
            <a:tailEnd type="none" w="sm" len="sm"/>
          </a:ln>
        </p:spPr>
      </p:sp>
      <p:sp>
        <p:nvSpPr>
          <p:cNvPr id="378897" name="Oval 17"/>
          <p:cNvSpPr/>
          <p:nvPr/>
        </p:nvSpPr>
        <p:spPr>
          <a:xfrm>
            <a:off x="5029200" y="4267200"/>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a1</a:t>
            </a:r>
            <a:endParaRPr lang="en-US" altLang="zh-CN" sz="2400" dirty="0">
              <a:latin typeface="Arial" panose="020B0604020202020204" pitchFamily="34" charset="0"/>
              <a:ea typeface="黑体" panose="02010609060101010101" pitchFamily="49" charset="-122"/>
            </a:endParaRPr>
          </a:p>
        </p:txBody>
      </p:sp>
      <p:sp>
        <p:nvSpPr>
          <p:cNvPr id="378898" name="Oval 18"/>
          <p:cNvSpPr/>
          <p:nvPr/>
        </p:nvSpPr>
        <p:spPr>
          <a:xfrm>
            <a:off x="6248400" y="4267200"/>
            <a:ext cx="466725" cy="447675"/>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b</a:t>
            </a:r>
            <a:endParaRPr lang="en-US" altLang="zh-CN" sz="2400" dirty="0">
              <a:latin typeface="Arial" panose="020B0604020202020204" pitchFamily="34" charset="0"/>
              <a:ea typeface="黑体" panose="02010609060101010101" pitchFamily="49" charset="-122"/>
            </a:endParaRPr>
          </a:p>
        </p:txBody>
      </p:sp>
      <p:sp>
        <p:nvSpPr>
          <p:cNvPr id="378899" name="Oval 19"/>
          <p:cNvSpPr/>
          <p:nvPr/>
        </p:nvSpPr>
        <p:spPr>
          <a:xfrm>
            <a:off x="5029200" y="5410200"/>
            <a:ext cx="466725" cy="447675"/>
          </a:xfrm>
          <a:prstGeom prst="ellipse">
            <a:avLst/>
          </a:prstGeom>
          <a:solidFill>
            <a:srgbClr val="FF99CC"/>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c</a:t>
            </a:r>
            <a:endParaRPr lang="en-US" altLang="zh-CN" sz="2400" dirty="0">
              <a:latin typeface="Arial" panose="020B0604020202020204" pitchFamily="34" charset="0"/>
              <a:ea typeface="黑体" panose="02010609060101010101" pitchFamily="49" charset="-122"/>
            </a:endParaRPr>
          </a:p>
        </p:txBody>
      </p:sp>
      <p:sp>
        <p:nvSpPr>
          <p:cNvPr id="378900" name="Line 20"/>
          <p:cNvSpPr/>
          <p:nvPr/>
        </p:nvSpPr>
        <p:spPr>
          <a:xfrm>
            <a:off x="4953000" y="5105400"/>
            <a:ext cx="1447800" cy="457200"/>
          </a:xfrm>
          <a:prstGeom prst="line">
            <a:avLst/>
          </a:prstGeom>
          <a:ln w="28575" cap="flat" cmpd="sng">
            <a:solidFill>
              <a:schemeClr val="tx1"/>
            </a:solidFill>
            <a:prstDash val="solid"/>
            <a:headEnd type="none" w="sm" len="sm"/>
            <a:tailEnd type="none" w="sm" len="sm"/>
          </a:ln>
        </p:spPr>
      </p:sp>
      <p:sp>
        <p:nvSpPr>
          <p:cNvPr id="378901" name="Line 21"/>
          <p:cNvSpPr/>
          <p:nvPr/>
        </p:nvSpPr>
        <p:spPr>
          <a:xfrm>
            <a:off x="5400675" y="4667250"/>
            <a:ext cx="923925" cy="819150"/>
          </a:xfrm>
          <a:prstGeom prst="line">
            <a:avLst/>
          </a:prstGeom>
          <a:ln w="28575" cap="flat" cmpd="sng">
            <a:solidFill>
              <a:schemeClr val="tx1"/>
            </a:solidFill>
            <a:prstDash val="solid"/>
            <a:headEnd type="none" w="sm" len="sm"/>
            <a:tailEnd type="none" w="sm" len="sm"/>
          </a:ln>
        </p:spPr>
      </p:sp>
      <p:sp>
        <p:nvSpPr>
          <p:cNvPr id="378902" name="Oval 22"/>
          <p:cNvSpPr/>
          <p:nvPr/>
        </p:nvSpPr>
        <p:spPr>
          <a:xfrm>
            <a:off x="6248400" y="5410200"/>
            <a:ext cx="466725" cy="447675"/>
          </a:xfrm>
          <a:prstGeom prst="ellipse">
            <a:avLst/>
          </a:prstGeom>
          <a:solidFill>
            <a:srgbClr val="00FF00"/>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d</a:t>
            </a:r>
            <a:endParaRPr lang="en-US" altLang="zh-CN" sz="2400" dirty="0">
              <a:latin typeface="Arial" panose="020B0604020202020204" pitchFamily="34" charset="0"/>
              <a:ea typeface="黑体" panose="02010609060101010101" pitchFamily="49" charset="-122"/>
            </a:endParaRPr>
          </a:p>
        </p:txBody>
      </p:sp>
      <p:sp>
        <p:nvSpPr>
          <p:cNvPr id="378903" name="Line 23"/>
          <p:cNvSpPr/>
          <p:nvPr/>
        </p:nvSpPr>
        <p:spPr>
          <a:xfrm flipH="1">
            <a:off x="6477000" y="4724400"/>
            <a:ext cx="0" cy="685800"/>
          </a:xfrm>
          <a:prstGeom prst="line">
            <a:avLst/>
          </a:prstGeom>
          <a:ln w="28575" cap="flat" cmpd="sng">
            <a:solidFill>
              <a:schemeClr val="tx1"/>
            </a:solidFill>
            <a:prstDash val="solid"/>
            <a:headEnd type="none" w="sm" len="sm"/>
            <a:tailEnd type="none" w="sm" len="sm"/>
          </a:ln>
        </p:spPr>
      </p:sp>
      <p:sp>
        <p:nvSpPr>
          <p:cNvPr id="378904" name="Line 24"/>
          <p:cNvSpPr/>
          <p:nvPr/>
        </p:nvSpPr>
        <p:spPr>
          <a:xfrm>
            <a:off x="5486400" y="4495800"/>
            <a:ext cx="762000" cy="0"/>
          </a:xfrm>
          <a:prstGeom prst="line">
            <a:avLst/>
          </a:prstGeom>
          <a:ln w="28575" cap="flat" cmpd="sng">
            <a:solidFill>
              <a:schemeClr val="tx1"/>
            </a:solidFill>
            <a:prstDash val="solid"/>
            <a:headEnd type="none" w="sm" len="sm"/>
            <a:tailEnd type="none" w="sm" len="sm"/>
          </a:ln>
        </p:spPr>
      </p:sp>
      <p:sp>
        <p:nvSpPr>
          <p:cNvPr id="378905" name="Line 25"/>
          <p:cNvSpPr/>
          <p:nvPr/>
        </p:nvSpPr>
        <p:spPr>
          <a:xfrm>
            <a:off x="5486400" y="5638800"/>
            <a:ext cx="762000" cy="0"/>
          </a:xfrm>
          <a:prstGeom prst="line">
            <a:avLst/>
          </a:prstGeom>
          <a:ln w="28575" cap="flat" cmpd="sng">
            <a:solidFill>
              <a:schemeClr val="tx1"/>
            </a:solidFill>
            <a:prstDash val="solid"/>
            <a:headEnd type="none" w="sm" len="sm"/>
            <a:tailEnd type="none" w="sm" len="sm"/>
          </a:ln>
        </p:spPr>
      </p:sp>
      <p:sp>
        <p:nvSpPr>
          <p:cNvPr id="378906" name="Oval 26"/>
          <p:cNvSpPr/>
          <p:nvPr/>
        </p:nvSpPr>
        <p:spPr>
          <a:xfrm>
            <a:off x="4495800" y="4876800"/>
            <a:ext cx="466725" cy="447675"/>
          </a:xfrm>
          <a:prstGeom prst="ellipse">
            <a:avLst/>
          </a:prstGeom>
          <a:solidFill>
            <a:schemeClr val="accent1"/>
          </a:solidFill>
          <a:ln w="12700" cap="flat"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2400" dirty="0">
                <a:latin typeface="Arial" panose="020B0604020202020204" pitchFamily="34" charset="0"/>
                <a:ea typeface="黑体" panose="02010609060101010101" pitchFamily="49" charset="-122"/>
              </a:rPr>
              <a:t>a2</a:t>
            </a:r>
            <a:endParaRPr lang="en-US" altLang="zh-CN" sz="2400" dirty="0">
              <a:latin typeface="Arial" panose="020B0604020202020204" pitchFamily="34" charset="0"/>
              <a:ea typeface="黑体" panose="02010609060101010101" pitchFamily="49" charset="-122"/>
            </a:endParaRPr>
          </a:p>
        </p:txBody>
      </p:sp>
      <p:sp>
        <p:nvSpPr>
          <p:cNvPr id="378907" name="Line 27"/>
          <p:cNvSpPr/>
          <p:nvPr/>
        </p:nvSpPr>
        <p:spPr>
          <a:xfrm>
            <a:off x="4876800" y="5257800"/>
            <a:ext cx="228600" cy="228600"/>
          </a:xfrm>
          <a:prstGeom prst="line">
            <a:avLst/>
          </a:prstGeom>
          <a:ln w="28575" cap="flat" cmpd="sng">
            <a:solidFill>
              <a:schemeClr val="tx1"/>
            </a:solidFill>
            <a:prstDash val="solid"/>
            <a:headEnd type="none" w="sm" len="sm"/>
            <a:tailEnd type="none" w="sm" len="sm"/>
          </a:ln>
        </p:spPr>
      </p:sp>
    </p:spTree>
  </p:cSld>
  <p:clrMapOvr>
    <a:masterClrMapping/>
  </p:clrMapOvr>
  <p:transition spd="slow"/>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建干涉图</a:t>
            </a:r>
            <a:endParaRPr lang="zh-CN" altLang="en-US" dirty="0">
              <a:latin typeface="Times New Roman" panose="02020603050405020304" pitchFamily="18" charset="0"/>
              <a:ea typeface="宋体" panose="02010600030101010101" pitchFamily="2" charset="-122"/>
            </a:endParaRPr>
          </a:p>
        </p:txBody>
      </p:sp>
      <p:sp>
        <p:nvSpPr>
          <p:cNvPr id="380931" name="Text Box 3"/>
          <p:cNvSpPr txBox="1"/>
          <p:nvPr/>
        </p:nvSpPr>
        <p:spPr>
          <a:xfrm>
            <a:off x="914400" y="1600200"/>
            <a:ext cx="7467600" cy="3076575"/>
          </a:xfrm>
          <a:prstGeom prst="rect">
            <a:avLst/>
          </a:prstGeom>
          <a:noFill/>
          <a:ln w="12700">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Build_Interference_Graph_For_BB(block)</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live_var = { var | var is live at the end of block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for each statements </a:t>
            </a:r>
            <a:r>
              <a:rPr lang="en-US" altLang="zh-CN" sz="1600" i="1" dirty="0">
                <a:latin typeface="Arial" panose="020B0604020202020204" pitchFamily="34" charset="0"/>
                <a:ea typeface="宋体" panose="02010600030101010101" pitchFamily="2" charset="-122"/>
              </a:rPr>
              <a:t>S</a:t>
            </a:r>
            <a:r>
              <a:rPr lang="en-US" altLang="zh-CN" sz="1600" dirty="0">
                <a:latin typeface="Arial" panose="020B0604020202020204" pitchFamily="34" charset="0"/>
                <a:ea typeface="宋体" panose="02010600030101010101" pitchFamily="2" charset="-122"/>
              </a:rPr>
              <a:t>, from tail to the head of block</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live_var = live_var - { variable used by definition in </a:t>
            </a:r>
            <a:r>
              <a:rPr lang="en-US" altLang="zh-CN" sz="1600" i="1" dirty="0">
                <a:latin typeface="Arial" panose="020B0604020202020204" pitchFamily="34" charset="0"/>
                <a:ea typeface="宋体" panose="02010600030101010101" pitchFamily="2" charset="-122"/>
              </a:rPr>
              <a:t>S</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if </a:t>
            </a:r>
            <a:r>
              <a:rPr lang="en-US" altLang="zh-CN" sz="1600" i="1" dirty="0">
                <a:latin typeface="Arial" panose="020B0604020202020204" pitchFamily="34" charset="0"/>
                <a:ea typeface="宋体" panose="02010600030101010101" pitchFamily="2" charset="-122"/>
              </a:rPr>
              <a:t>S</a:t>
            </a:r>
            <a:r>
              <a:rPr lang="en-US" altLang="zh-CN" sz="1600" dirty="0">
                <a:latin typeface="Arial" panose="020B0604020202020204" pitchFamily="34" charset="0"/>
                <a:ea typeface="宋体" panose="02010600030101010101" pitchFamily="2" charset="-122"/>
              </a:rPr>
              <a:t> is not of the form a = b;</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make every var in live_var interfere with the variables defined in </a:t>
            </a:r>
            <a:r>
              <a:rPr lang="en-US" altLang="zh-CN" sz="1600" i="1" dirty="0">
                <a:latin typeface="Arial" panose="020B0604020202020204" pitchFamily="34" charset="0"/>
                <a:ea typeface="宋体" panose="02010600030101010101" pitchFamily="2" charset="-122"/>
              </a:rPr>
              <a:t>S</a:t>
            </a:r>
            <a:r>
              <a:rPr lang="en-US" altLang="zh-CN"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live_var = live_var </a:t>
            </a:r>
            <a:r>
              <a:rPr lang="en-US" altLang="zh-CN" sz="1600" dirty="0">
                <a:latin typeface="Arial" panose="020B0604020202020204" pitchFamily="34" charset="0"/>
                <a:ea typeface="宋体" panose="02010600030101010101" pitchFamily="2" charset="-122"/>
                <a:sym typeface="Symbol" panose="05050102010706020507" pitchFamily="18" charset="2"/>
              </a:rPr>
              <a:t></a:t>
            </a:r>
            <a:r>
              <a:rPr lang="en-US" altLang="zh-CN" sz="1600" dirty="0">
                <a:latin typeface="Arial" panose="020B0604020202020204" pitchFamily="34" charset="0"/>
                <a:ea typeface="宋体" panose="02010600030101010101" pitchFamily="2" charset="-122"/>
              </a:rPr>
              <a:t> all the variables used by reference in </a:t>
            </a:r>
            <a:r>
              <a:rPr lang="en-US" altLang="zh-CN" sz="1600" i="1" dirty="0">
                <a:latin typeface="Arial" panose="020B0604020202020204" pitchFamily="34" charset="0"/>
                <a:ea typeface="宋体" panose="02010600030101010101" pitchFamily="2" charset="-122"/>
              </a:rPr>
              <a:t>S</a:t>
            </a:r>
            <a:r>
              <a:rPr lang="en-US" altLang="zh-CN"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0" lvl="0" indent="0" algn="just" eaLnBrk="1" hangingPunct="1">
              <a:lnSpc>
                <a:spcPct val="75000"/>
              </a:lnSpc>
              <a:buClrTx/>
              <a:buSzTx/>
              <a:buNone/>
            </a:pPr>
            <a:r>
              <a:rPr lang="en-US" altLang="zh-CN" sz="1600" dirty="0">
                <a:latin typeface="Arial" panose="020B0604020202020204" pitchFamily="34" charset="0"/>
                <a:ea typeface="宋体" panose="02010600030101010101" pitchFamily="2" charset="-122"/>
              </a:rPr>
              <a:t>}</a:t>
            </a:r>
            <a:endParaRPr lang="en-US" altLang="zh-CN" sz="160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29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计算溢出代价</a:t>
            </a:r>
            <a:endParaRPr lang="zh-CN" altLang="en-US" dirty="0">
              <a:latin typeface="Times New Roman" panose="02020603050405020304" pitchFamily="18" charset="0"/>
              <a:ea typeface="宋体" panose="02010600030101010101" pitchFamily="2" charset="-122"/>
            </a:endParaRPr>
          </a:p>
        </p:txBody>
      </p:sp>
      <p:sp>
        <p:nvSpPr>
          <p:cNvPr id="382979"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最小化被溢出变量的代价值的和</a:t>
            </a:r>
            <a:endParaRPr lang="zh-CN" altLang="en-US" sz="2400" b="1" dirty="0">
              <a:ea typeface="宋体" panose="02010600030101010101" pitchFamily="2" charset="-122"/>
            </a:endParaRPr>
          </a:p>
          <a:p>
            <a:r>
              <a:rPr lang="zh-CN" altLang="en-US" sz="2400" b="1" dirty="0">
                <a:ea typeface="宋体" panose="02010600030101010101" pitchFamily="2" charset="-122"/>
              </a:rPr>
              <a:t>溢出代价：</a:t>
            </a:r>
            <a:endParaRPr lang="zh-CN" altLang="en-US" sz="2400" b="1" dirty="0">
              <a:ea typeface="宋体" panose="02010600030101010101" pitchFamily="2" charset="-122"/>
            </a:endParaRPr>
          </a:p>
          <a:p>
            <a:endParaRPr lang="zh-CN" altLang="en-US" sz="2400" b="1" dirty="0">
              <a:ea typeface="宋体" panose="02010600030101010101" pitchFamily="2" charset="-122"/>
            </a:endParaRPr>
          </a:p>
          <a:p>
            <a:r>
              <a:rPr lang="zh-CN" altLang="en-US" sz="2400" b="1" dirty="0">
                <a:ea typeface="宋体" panose="02010600030101010101" pitchFamily="2" charset="-122"/>
              </a:rPr>
              <a:t>分配的优先序：</a:t>
            </a:r>
            <a:endParaRPr lang="zh-CN" altLang="en-US" sz="2400" b="1" dirty="0">
              <a:ea typeface="宋体" panose="02010600030101010101" pitchFamily="2" charset="-122"/>
            </a:endParaRPr>
          </a:p>
          <a:p>
            <a:pPr lvl="1"/>
            <a:r>
              <a:rPr lang="zh-CN" altLang="en-US" sz="2200" b="1" dirty="0">
                <a:ea typeface="宋体" panose="02010600030101010101" pitchFamily="2" charset="-122"/>
              </a:rPr>
              <a:t>代价较大的变量的优先级也较大</a:t>
            </a:r>
            <a:endParaRPr lang="zh-CN" altLang="en-US" sz="2200" b="1" dirty="0">
              <a:ea typeface="宋体" panose="02010600030101010101" pitchFamily="2" charset="-122"/>
            </a:endParaRPr>
          </a:p>
          <a:p>
            <a:pPr lvl="1"/>
            <a:r>
              <a:rPr lang="zh-CN" altLang="en-US" sz="2200" b="1" dirty="0">
                <a:ea typeface="宋体" panose="02010600030101010101" pitchFamily="2" charset="-122"/>
              </a:rPr>
              <a:t>干涉图上度较大的变量的优先级较低</a:t>
            </a:r>
            <a:endParaRPr lang="zh-CN" altLang="en-US" sz="2200" b="1" dirty="0">
              <a:ea typeface="宋体" panose="02010600030101010101" pitchFamily="2" charset="-122"/>
            </a:endParaRPr>
          </a:p>
        </p:txBody>
      </p:sp>
      <p:sp>
        <p:nvSpPr>
          <p:cNvPr id="382980" name="Text Box 4"/>
          <p:cNvSpPr txBox="1"/>
          <p:nvPr/>
        </p:nvSpPr>
        <p:spPr>
          <a:xfrm>
            <a:off x="1371600" y="2209800"/>
            <a:ext cx="6878638" cy="274638"/>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200" dirty="0">
                <a:latin typeface="Arial" panose="020B0604020202020204" pitchFamily="34" charset="0"/>
                <a:ea typeface="宋体" panose="02010600030101010101" pitchFamily="2" charset="-122"/>
              </a:rPr>
              <a:t>Cost(lr) = LOAD_COST x LoadTimes + STORE_COST x StoreTimes + MOVECOST x MoveTimes</a:t>
            </a:r>
            <a:r>
              <a:rPr lang="en-US" altLang="zh-CN" sz="1200" dirty="0">
                <a:latin typeface="Arial" panose="020B0604020202020204" pitchFamily="34" charset="0"/>
                <a:ea typeface="黑体" panose="02010609060101010101" pitchFamily="49" charset="-122"/>
              </a:rPr>
              <a:t> </a:t>
            </a:r>
            <a:endParaRPr lang="zh-CN" altLang="en-US" sz="1200" dirty="0">
              <a:latin typeface="Arial" panose="020B0604020202020204" pitchFamily="34" charset="0"/>
              <a:ea typeface="黑体" panose="02010609060101010101" pitchFamily="49" charset="-122"/>
            </a:endParaRPr>
          </a:p>
        </p:txBody>
      </p:sp>
      <p:sp>
        <p:nvSpPr>
          <p:cNvPr id="382981" name="Text Box 5"/>
          <p:cNvSpPr txBox="1"/>
          <p:nvPr/>
        </p:nvSpPr>
        <p:spPr>
          <a:xfrm>
            <a:off x="3148013" y="2590800"/>
            <a:ext cx="2814637" cy="3365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600" dirty="0">
                <a:latin typeface="Arial" panose="020B0604020202020204" pitchFamily="34" charset="0"/>
                <a:ea typeface="宋体" panose="02010600030101010101" pitchFamily="2" charset="-122"/>
              </a:rPr>
              <a:t>Priority(lr) = Cost(lr) / Deg(lr)</a:t>
            </a:r>
            <a:r>
              <a:rPr lang="en-US" altLang="zh-CN" sz="1600" dirty="0">
                <a:latin typeface="Arial" panose="020B0604020202020204" pitchFamily="34" charset="0"/>
                <a:ea typeface="黑体" panose="02010609060101010101" pitchFamily="49" charset="-122"/>
              </a:rPr>
              <a:t> </a:t>
            </a:r>
            <a:endParaRPr lang="zh-CN" altLang="en-US" sz="1600" dirty="0">
              <a:latin typeface="Arial" panose="020B0604020202020204" pitchFamily="34" charset="0"/>
              <a:ea typeface="黑体" panose="02010609060101010101" pitchFamily="49" charset="-122"/>
            </a:endParaRPr>
          </a:p>
        </p:txBody>
      </p:sp>
    </p:spTree>
  </p:cSld>
  <p:clrMapOvr>
    <a:masterClrMapping/>
  </p:clrMapOvr>
  <p:transition spd="slow"/>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50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图着色寄存器分配－</a:t>
            </a:r>
            <a:r>
              <a:rPr lang="en-US" altLang="zh-CN" dirty="0">
                <a:latin typeface="Times New Roman" panose="02020603050405020304" pitchFamily="18" charset="0"/>
                <a:ea typeface="宋体" panose="02010600030101010101" pitchFamily="2" charset="-122"/>
              </a:rPr>
              <a:t>Priority-Based</a:t>
            </a:r>
            <a:endParaRPr lang="zh-CN" altLang="en-US" dirty="0">
              <a:latin typeface="Times New Roman" panose="02020603050405020304" pitchFamily="18" charset="0"/>
              <a:ea typeface="宋体" panose="02010600030101010101" pitchFamily="2" charset="-122"/>
            </a:endParaRPr>
          </a:p>
        </p:txBody>
      </p:sp>
      <p:sp>
        <p:nvSpPr>
          <p:cNvPr id="385027" name="Rectangle 3"/>
          <p:cNvSpPr>
            <a:spLocks noGrp="1"/>
          </p:cNvSpPr>
          <p:nvPr>
            <p:ph idx="1"/>
          </p:nvPr>
        </p:nvSpPr>
        <p:spPr>
          <a:xfrm>
            <a:off x="827088" y="1447800"/>
            <a:ext cx="7631112" cy="4724400"/>
          </a:xfrm>
        </p:spPr>
        <p:txBody>
          <a:bodyPr vert="horz" wrap="square" lIns="92075" tIns="46038" rIns="92075" bIns="46038" anchor="t" anchorCtr="0"/>
          <a:p>
            <a:r>
              <a:rPr lang="en-GB" altLang="zh-CN" sz="2400" b="1" dirty="0">
                <a:ea typeface="宋体" panose="02010600030101010101" pitchFamily="2" charset="-122"/>
              </a:rPr>
              <a:t>Chow</a:t>
            </a:r>
            <a:r>
              <a:rPr lang="zh-CN" altLang="en-GB" sz="2400" b="1" dirty="0">
                <a:ea typeface="宋体" panose="02010600030101010101" pitchFamily="2" charset="-122"/>
              </a:rPr>
              <a:t>和</a:t>
            </a:r>
            <a:r>
              <a:rPr lang="en-GB" altLang="zh-CN" sz="2400" b="1" dirty="0">
                <a:ea typeface="宋体" panose="02010600030101010101" pitchFamily="2" charset="-122"/>
              </a:rPr>
              <a:t>Hennessy</a:t>
            </a:r>
            <a:r>
              <a:rPr lang="zh-CN" altLang="en-GB" sz="2400" b="1" dirty="0">
                <a:ea typeface="宋体" panose="02010600030101010101" pitchFamily="2" charset="-122"/>
              </a:rPr>
              <a:t>提出按活跃区间的优先级从高到低的顺序对图进行着色</a:t>
            </a:r>
            <a:endParaRPr lang="en-GB" altLang="zh-CN" sz="2400" b="1" dirty="0">
              <a:ea typeface="宋体" panose="02010600030101010101" pitchFamily="2" charset="-122"/>
            </a:endParaRPr>
          </a:p>
          <a:p>
            <a:pPr lvl="1"/>
            <a:r>
              <a:rPr lang="zh-CN" altLang="en-GB" sz="2200" b="1" dirty="0">
                <a:ea typeface="宋体" panose="02010600030101010101" pitchFamily="2" charset="-122"/>
              </a:rPr>
              <a:t>假定变量原本在内存中</a:t>
            </a:r>
            <a:endParaRPr lang="zh-CN" altLang="en-GB" sz="2200" b="1" dirty="0">
              <a:ea typeface="宋体" panose="02010600030101010101" pitchFamily="2" charset="-122"/>
            </a:endParaRPr>
          </a:p>
          <a:p>
            <a:pPr lvl="1"/>
            <a:r>
              <a:rPr lang="zh-CN" altLang="en-GB" sz="2200" b="1" dirty="0">
                <a:ea typeface="宋体" panose="02010600030101010101" pitchFamily="2" charset="-122"/>
              </a:rPr>
              <a:t>全局与局部两遍寄存器分配，</a:t>
            </a:r>
            <a:r>
              <a:rPr lang="en-GB" altLang="zh-CN" sz="2200" b="1" dirty="0">
                <a:ea typeface="宋体" panose="02010600030101010101" pitchFamily="2" charset="-122"/>
              </a:rPr>
              <a:t>GRA</a:t>
            </a:r>
            <a:r>
              <a:rPr lang="zh-CN" altLang="en-GB" sz="2200" b="1" dirty="0">
                <a:ea typeface="宋体" panose="02010600030101010101" pitchFamily="2" charset="-122"/>
              </a:rPr>
              <a:t>为</a:t>
            </a:r>
            <a:r>
              <a:rPr lang="en-GB" altLang="zh-CN" sz="2200" b="1" dirty="0">
                <a:ea typeface="宋体" panose="02010600030101010101" pitchFamily="2" charset="-122"/>
              </a:rPr>
              <a:t>LRA</a:t>
            </a:r>
            <a:r>
              <a:rPr lang="zh-CN" altLang="en-GB" sz="2200" b="1" dirty="0">
                <a:ea typeface="宋体" panose="02010600030101010101" pitchFamily="2" charset="-122"/>
              </a:rPr>
              <a:t>预留寄存器</a:t>
            </a:r>
            <a:endParaRPr lang="zh-CN" altLang="en-GB" sz="2200" b="1" dirty="0">
              <a:ea typeface="宋体" panose="02010600030101010101" pitchFamily="2" charset="-122"/>
            </a:endParaRPr>
          </a:p>
          <a:p>
            <a:pPr lvl="1"/>
            <a:r>
              <a:rPr lang="zh-CN" altLang="en-GB" sz="2200" b="1" dirty="0">
                <a:ea typeface="宋体" panose="02010600030101010101" pitchFamily="2" charset="-122"/>
              </a:rPr>
              <a:t>粗粒度：以基本块为分配单位</a:t>
            </a:r>
            <a:endParaRPr lang="zh-CN" altLang="en-GB" sz="2200" b="1" dirty="0">
              <a:ea typeface="宋体" panose="02010600030101010101" pitchFamily="2" charset="-122"/>
            </a:endParaRPr>
          </a:p>
          <a:p>
            <a:pPr lvl="1"/>
            <a:r>
              <a:rPr lang="zh-CN" altLang="en-GB" sz="2200" b="1" dirty="0">
                <a:ea typeface="宋体" panose="02010600030101010101" pitchFamily="2" charset="-122"/>
              </a:rPr>
              <a:t>优先级根据为变量分配寄存器能够减少的访存操作决定</a:t>
            </a:r>
            <a:endParaRPr lang="zh-CN" altLang="en-GB" sz="2200" b="1" dirty="0">
              <a:ea typeface="宋体" panose="02010600030101010101" pitchFamily="2" charset="-122"/>
            </a:endParaRPr>
          </a:p>
          <a:p>
            <a:pPr lvl="1"/>
            <a:r>
              <a:rPr lang="zh-CN" altLang="en-GB" sz="2200" b="1" dirty="0">
                <a:ea typeface="宋体" panose="02010600030101010101" pitchFamily="2" charset="-122"/>
              </a:rPr>
              <a:t>一遍着色，没有</a:t>
            </a:r>
            <a:r>
              <a:rPr lang="en-GB" altLang="zh-CN" sz="2200" b="1" dirty="0">
                <a:ea typeface="宋体" panose="02010600030101010101" pitchFamily="2" charset="-122"/>
              </a:rPr>
              <a:t>Chaitin</a:t>
            </a:r>
            <a:r>
              <a:rPr lang="zh-CN" altLang="en-GB" sz="2200" b="1" dirty="0">
                <a:ea typeface="宋体" panose="02010600030101010101" pitchFamily="2" charset="-122"/>
              </a:rPr>
              <a:t>式的先化简后回溯</a:t>
            </a:r>
            <a:endParaRPr lang="zh-CN" altLang="en-GB" sz="2200" b="1" dirty="0">
              <a:ea typeface="宋体" panose="02010600030101010101" pitchFamily="2" charset="-122"/>
            </a:endParaRPr>
          </a:p>
          <a:p>
            <a:pPr lvl="1"/>
            <a:r>
              <a:rPr lang="zh-CN" altLang="en-GB" sz="2200" b="1" dirty="0">
                <a:ea typeface="宋体" panose="02010600030101010101" pitchFamily="2" charset="-122"/>
              </a:rPr>
              <a:t>提出活跃区间分割（</a:t>
            </a:r>
            <a:r>
              <a:rPr lang="en-US" altLang="zh-CN" sz="2200" b="1" dirty="0">
                <a:ea typeface="宋体" panose="02010600030101010101" pitchFamily="2" charset="-122"/>
              </a:rPr>
              <a:t>Live Range Splitting）</a:t>
            </a:r>
            <a:r>
              <a:rPr lang="zh-CN" altLang="en-GB" sz="2200" b="1" dirty="0">
                <a:ea typeface="宋体" panose="02010600030101010101" pitchFamily="2" charset="-122"/>
              </a:rPr>
              <a:t>，即当着色过程阻塞时，把活跃区间分成若干较小的活跃区间。这样可以产生较少的</a:t>
            </a:r>
            <a:r>
              <a:rPr lang="zh-CN" altLang="en-US" sz="2200" b="1" dirty="0">
                <a:ea typeface="宋体" panose="02010600030101010101" pitchFamily="2" charset="-122"/>
              </a:rPr>
              <a:t>溢出</a:t>
            </a:r>
            <a:endParaRPr lang="zh-CN" altLang="en-US" sz="2200" b="1" dirty="0">
              <a:ea typeface="宋体" panose="02010600030101010101" pitchFamily="2" charset="-122"/>
            </a:endParaRPr>
          </a:p>
        </p:txBody>
      </p:sp>
    </p:spTree>
  </p:cSld>
  <p:clrMapOvr>
    <a:masterClrMapping/>
  </p:clrMapOvr>
  <p:transition spd="slow"/>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70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387075"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跨越基本块的优化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一个简单的代码生成器</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窥孔优化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寄存器分配和指派</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3200" b="1" dirty="0">
                <a:solidFill>
                  <a:srgbClr val="FF0000"/>
                </a:solidFill>
                <a:ea typeface="宋体" panose="02010600030101010101" pitchFamily="2" charset="-122"/>
              </a:rPr>
              <a:t>通过树重写来选择指令</a:t>
            </a:r>
            <a:endParaRPr lang="en-US" altLang="zh-CN" sz="3200" b="1" dirty="0">
              <a:solidFill>
                <a:srgbClr val="FF0000"/>
              </a:solidFill>
              <a:ea typeface="宋体" panose="02010600030101010101" pitchFamily="2" charset="-122"/>
            </a:endParaRPr>
          </a:p>
          <a:p>
            <a:pPr>
              <a:lnSpc>
                <a:spcPct val="90000"/>
              </a:lnSpc>
              <a:spcBef>
                <a:spcPts val="600"/>
              </a:spcBef>
            </a:pPr>
            <a:r>
              <a:rPr lang="zh-CN" altLang="en-US" sz="2400" b="1" dirty="0">
                <a:ea typeface="宋体" panose="02010600030101010101" pitchFamily="2" charset="-122"/>
              </a:rPr>
              <a:t>指令调度</a:t>
            </a:r>
            <a:endParaRPr lang="zh-CN" altLang="en-US" sz="3000" b="1" dirty="0">
              <a:ea typeface="宋体" panose="02010600030101010101" pitchFamily="2" charset="-122"/>
            </a:endParaRPr>
          </a:p>
        </p:txBody>
      </p:sp>
    </p:spTree>
  </p:cSld>
  <p:clrMapOvr>
    <a:masterClrMapping/>
  </p:clrMapOvr>
  <p:transition spd="slow"/>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指令选择</a:t>
            </a:r>
            <a:endParaRPr lang="zh-CN" altLang="en-US" dirty="0">
              <a:latin typeface="Times New Roman" panose="02020603050405020304" pitchFamily="18" charset="0"/>
              <a:ea typeface="宋体" panose="02010600030101010101" pitchFamily="2" charset="-122"/>
            </a:endParaRPr>
          </a:p>
        </p:txBody>
      </p:sp>
      <p:sp>
        <p:nvSpPr>
          <p:cNvPr id="389123"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指令选择的挑战</a:t>
            </a:r>
            <a:endParaRPr lang="en-GB" altLang="zh-CN" sz="2400" b="1" dirty="0">
              <a:ea typeface="宋体" panose="02010600030101010101" pitchFamily="2" charset="-122"/>
            </a:endParaRPr>
          </a:p>
          <a:p>
            <a:pPr lvl="1"/>
            <a:r>
              <a:rPr lang="zh-CN" altLang="en-US" sz="2200" b="1" dirty="0">
                <a:ea typeface="宋体" panose="02010600030101010101" pitchFamily="2" charset="-122"/>
              </a:rPr>
              <a:t>形式多样性带来的问题；完成同一个操作有多种不同的形式，如寻址方式，可能导致指令选择的困难</a:t>
            </a:r>
            <a:endParaRPr lang="zh-CN" altLang="en-GB" sz="2200" b="1" dirty="0">
              <a:ea typeface="宋体" panose="02010600030101010101" pitchFamily="2" charset="-122"/>
            </a:endParaRPr>
          </a:p>
          <a:p>
            <a:pPr lvl="1"/>
            <a:r>
              <a:rPr lang="zh-CN" altLang="en-US" sz="2200" b="1" dirty="0">
                <a:ea typeface="宋体" panose="02010600030101010101" pitchFamily="2" charset="-122"/>
              </a:rPr>
              <a:t>特殊指令格式的约束，使得发掘并有效利用这类指令也是一个难题</a:t>
            </a:r>
            <a:endParaRPr lang="zh-CN" altLang="en-GB" sz="2200" b="1" dirty="0">
              <a:ea typeface="宋体" panose="02010600030101010101" pitchFamily="2" charset="-122"/>
            </a:endParaRPr>
          </a:p>
          <a:p>
            <a:pPr lvl="2"/>
            <a:r>
              <a:rPr lang="zh-CN" altLang="en-US" sz="2000" b="1" dirty="0">
                <a:ea typeface="宋体" panose="02010600030101010101" pitchFamily="2" charset="-122"/>
              </a:rPr>
              <a:t>如安腾架构中的谓词执行等机制</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a:t>
            </a:r>
            <a:r>
              <a:rPr lang="en-US" altLang="zh-CN" sz="2000" b="1" dirty="0">
                <a:ea typeface="宋体" panose="02010600030101010101" pitchFamily="2" charset="-122"/>
              </a:rPr>
              <a:t>SIMD</a:t>
            </a:r>
            <a:r>
              <a:rPr lang="zh-CN" altLang="en-US" sz="2000" b="1" dirty="0">
                <a:ea typeface="宋体" panose="02010600030101010101" pitchFamily="2" charset="-122"/>
              </a:rPr>
              <a:t>等部件</a:t>
            </a:r>
            <a:endParaRPr lang="zh-CN" altLang="en-GB" sz="2000" b="1" dirty="0">
              <a:ea typeface="宋体" panose="02010600030101010101" pitchFamily="2" charset="-122"/>
            </a:endParaRPr>
          </a:p>
          <a:p>
            <a:pPr lvl="1"/>
            <a:r>
              <a:rPr lang="zh-CN" altLang="en-US" sz="2200" b="1" dirty="0">
                <a:ea typeface="宋体" panose="02010600030101010101" pitchFamily="2" charset="-122"/>
              </a:rPr>
              <a:t>如何为给定的中间表示代码选择等价的指令序列是一个大型的排列组合任务</a:t>
            </a:r>
            <a:endParaRPr lang="zh-CN" altLang="en-GB" sz="2200" b="1" dirty="0">
              <a:ea typeface="宋体" panose="02010600030101010101" pitchFamily="2" charset="-122"/>
            </a:endParaRPr>
          </a:p>
          <a:p>
            <a:r>
              <a:rPr lang="zh-CN" altLang="en-US" sz="2400" b="1" dirty="0">
                <a:ea typeface="宋体" panose="02010600030101010101" pitchFamily="2" charset="-122"/>
              </a:rPr>
              <a:t>一种可行的方法：通过树重写方法实现指令选择</a:t>
            </a:r>
            <a:endParaRPr lang="en-US" altLang="zh-CN" sz="2400" b="1" dirty="0">
              <a:ea typeface="宋体" panose="02010600030101010101" pitchFamily="2" charset="-122"/>
            </a:endParaRPr>
          </a:p>
          <a:p>
            <a:pPr lvl="1"/>
            <a:r>
              <a:rPr lang="zh-CN" altLang="en-US" sz="2200" b="1" dirty="0">
                <a:ea typeface="宋体" panose="02010600030101010101" pitchFamily="2" charset="-122"/>
              </a:rPr>
              <a:t>可以根据目标机器的高层规范自动构造代码生成器的指令选择模块</a:t>
            </a:r>
            <a:endParaRPr lang="en-US" altLang="zh-CN" sz="2200" b="1" dirty="0">
              <a:ea typeface="宋体" panose="02010600030101010101" pitchFamily="2" charset="-122"/>
            </a:endParaRPr>
          </a:p>
          <a:p>
            <a:pPr lvl="1"/>
            <a:r>
              <a:rPr lang="zh-CN" altLang="en-US" sz="2200" b="1" dirty="0">
                <a:ea typeface="宋体" panose="02010600030101010101" pitchFamily="2" charset="-122"/>
              </a:rPr>
              <a:t>效果未必最佳</a:t>
            </a:r>
            <a:endParaRPr lang="zh-CN" altLang="en-US" sz="2200" b="1" dirty="0">
              <a:ea typeface="宋体" panose="02010600030101010101" pitchFamily="2" charset="-122"/>
            </a:endParaRPr>
          </a:p>
        </p:txBody>
      </p:sp>
    </p:spTree>
  </p:cSld>
  <p:clrMapOvr>
    <a:masterClrMapping/>
  </p:clrMapOvr>
  <p:transition spd="slow"/>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1170" name="Picture 2"/>
          <p:cNvPicPr>
            <a:picLocks noChangeAspect="1"/>
          </p:cNvPicPr>
          <p:nvPr/>
        </p:nvPicPr>
        <p:blipFill>
          <a:blip r:embed="rId1"/>
          <a:stretch>
            <a:fillRect/>
          </a:stretch>
        </p:blipFill>
        <p:spPr>
          <a:xfrm>
            <a:off x="4284663" y="3425825"/>
            <a:ext cx="4679950" cy="3171825"/>
          </a:xfrm>
          <a:prstGeom prst="rect">
            <a:avLst/>
          </a:prstGeom>
          <a:noFill/>
          <a:ln w="9525">
            <a:noFill/>
          </a:ln>
        </p:spPr>
      </p:pic>
      <p:sp>
        <p:nvSpPr>
          <p:cNvPr id="391171"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树翻译方案（</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91172"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利用树重写方法实现代码生成</a:t>
            </a:r>
            <a:endParaRPr lang="en-US" altLang="zh-CN" sz="2400" b="1" dirty="0">
              <a:ea typeface="宋体" panose="02010600030101010101" pitchFamily="2" charset="-122"/>
            </a:endParaRPr>
          </a:p>
          <a:p>
            <a:pPr lvl="1"/>
            <a:r>
              <a:rPr lang="zh-CN" altLang="en-US" sz="2200" b="1" dirty="0">
                <a:ea typeface="宋体" panose="02010600030101010101" pitchFamily="2" charset="-122"/>
              </a:rPr>
              <a:t>输入是由目标机器的语义层次上的树组成的序列</a:t>
            </a:r>
            <a:endParaRPr lang="en-US" altLang="zh-CN" sz="2200" b="1" dirty="0">
              <a:ea typeface="宋体" panose="02010600030101010101" pitchFamily="2" charset="-122"/>
            </a:endParaRPr>
          </a:p>
          <a:p>
            <a:pPr lvl="2"/>
            <a:r>
              <a:rPr lang="zh-CN" altLang="en-US" sz="2000" b="1" dirty="0">
                <a:ea typeface="宋体" panose="02010600030101010101" pitchFamily="2" charset="-122"/>
              </a:rPr>
              <a:t>这些树可以在中间代码中插入运行时刻地址（方法见</a:t>
            </a:r>
            <a:r>
              <a:rPr lang="en-US" altLang="zh-CN" sz="2000" b="1" dirty="0">
                <a:ea typeface="宋体" panose="02010600030101010101" pitchFamily="2" charset="-122"/>
              </a:rPr>
              <a:t>8.3</a:t>
            </a:r>
            <a:r>
              <a:rPr lang="zh-CN" altLang="en-US" sz="2000" b="1" dirty="0">
                <a:ea typeface="宋体" panose="02010600030101010101" pitchFamily="2" charset="-122"/>
              </a:rPr>
              <a:t>节）得到</a:t>
            </a:r>
            <a:endParaRPr lang="en-US" altLang="zh-CN" sz="2000" b="1" dirty="0">
              <a:ea typeface="宋体" panose="02010600030101010101" pitchFamily="2" charset="-122"/>
            </a:endParaRPr>
          </a:p>
          <a:p>
            <a:pPr lvl="2"/>
            <a:r>
              <a:rPr lang="zh-CN" altLang="en-US" sz="2000" b="1" dirty="0">
                <a:ea typeface="宋体" panose="02010600030101010101" pitchFamily="2" charset="-122"/>
              </a:rPr>
              <a:t>叶子包含有关它们的标号的存储类型的信息</a:t>
            </a:r>
            <a:endParaRPr lang="en-US" altLang="zh-CN" sz="2000" b="1" dirty="0">
              <a:ea typeface="宋体" panose="02010600030101010101" pitchFamily="2" charset="-122"/>
            </a:endParaRPr>
          </a:p>
          <a:p>
            <a:r>
              <a:rPr lang="zh-CN" altLang="en-US" sz="2400" b="1" dirty="0">
                <a:ea typeface="宋体" panose="02010600030101010101" pitchFamily="2" charset="-122"/>
              </a:rPr>
              <a:t>例</a:t>
            </a:r>
            <a:r>
              <a:rPr lang="en-US" altLang="zh-CN" sz="2400" b="1" dirty="0">
                <a:ea typeface="宋体" panose="02010600030101010101" pitchFamily="2" charset="-122"/>
              </a:rPr>
              <a:t>8.18</a:t>
            </a:r>
            <a:r>
              <a:rPr lang="zh-CN" altLang="en-US" sz="2400" b="1" dirty="0">
                <a:ea typeface="宋体" panose="02010600030101010101" pitchFamily="2" charset="-122"/>
              </a:rPr>
              <a:t>：</a:t>
            </a:r>
            <a:r>
              <a:rPr lang="en-US" altLang="zh-CN" sz="2400" b="1" dirty="0">
                <a:ea typeface="宋体" panose="02010600030101010101" pitchFamily="2" charset="-122"/>
              </a:rPr>
              <a:t>a</a:t>
            </a:r>
            <a:r>
              <a:rPr lang="zh-CN" altLang="en-US" sz="2400" b="1" dirty="0">
                <a:ea typeface="宋体" panose="02010600030101010101" pitchFamily="2" charset="-122"/>
              </a:rPr>
              <a:t> </a:t>
            </a:r>
            <a:r>
              <a:rPr lang="en-US" altLang="zh-CN" sz="2400" b="1" dirty="0">
                <a:ea typeface="宋体" panose="02010600030101010101" pitchFamily="2" charset="-122"/>
              </a:rPr>
              <a:t>[</a:t>
            </a:r>
            <a:r>
              <a:rPr lang="zh-CN" altLang="en-US" sz="2400" b="1" dirty="0">
                <a:ea typeface="宋体" panose="02010600030101010101" pitchFamily="2" charset="-122"/>
              </a:rPr>
              <a:t> </a:t>
            </a:r>
            <a:r>
              <a:rPr lang="en-US" altLang="zh-CN" sz="2400" b="1" dirty="0">
                <a:ea typeface="宋体" panose="02010600030101010101" pitchFamily="2" charset="-122"/>
              </a:rPr>
              <a:t>i</a:t>
            </a:r>
            <a:r>
              <a:rPr lang="zh-CN" altLang="en-US" sz="2400" b="1" dirty="0">
                <a:ea typeface="宋体" panose="02010600030101010101" pitchFamily="2" charset="-122"/>
              </a:rPr>
              <a:t> </a:t>
            </a:r>
            <a:r>
              <a:rPr lang="en-US" altLang="zh-CN" sz="2400" b="1" dirty="0">
                <a:ea typeface="宋体" panose="02010600030101010101" pitchFamily="2" charset="-122"/>
              </a:rPr>
              <a:t>]</a:t>
            </a:r>
            <a:r>
              <a:rPr lang="zh-CN" altLang="en-US" sz="2400" b="1" dirty="0">
                <a:ea typeface="宋体" panose="02010600030101010101" pitchFamily="2" charset="-122"/>
              </a:rPr>
              <a:t> </a:t>
            </a:r>
            <a:r>
              <a:rPr lang="en-US" altLang="zh-CN" sz="2400" b="1" dirty="0">
                <a:ea typeface="宋体" panose="02010600030101010101" pitchFamily="2" charset="-122"/>
              </a:rPr>
              <a:t>=</a:t>
            </a:r>
            <a:r>
              <a:rPr lang="zh-CN" altLang="en-US" sz="2400" b="1" dirty="0">
                <a:ea typeface="宋体" panose="02010600030101010101" pitchFamily="2" charset="-122"/>
              </a:rPr>
              <a:t> </a:t>
            </a:r>
            <a:r>
              <a:rPr lang="en-US" altLang="zh-CN" sz="2400" b="1" dirty="0">
                <a:ea typeface="宋体" panose="02010600030101010101" pitchFamily="2" charset="-122"/>
              </a:rPr>
              <a:t>b</a:t>
            </a:r>
            <a:r>
              <a:rPr lang="zh-CN" altLang="en-US" sz="2400" b="1" dirty="0">
                <a:ea typeface="宋体" panose="02010600030101010101" pitchFamily="2" charset="-122"/>
              </a:rPr>
              <a:t> </a:t>
            </a:r>
            <a:r>
              <a:rPr lang="en-US" altLang="zh-CN" sz="2400" b="1" dirty="0">
                <a:ea typeface="宋体" panose="02010600030101010101" pitchFamily="2" charset="-122"/>
              </a:rPr>
              <a:t>+</a:t>
            </a:r>
            <a:r>
              <a:rPr lang="zh-CN" altLang="en-US" sz="2400" b="1" dirty="0">
                <a:ea typeface="宋体" panose="02010600030101010101" pitchFamily="2" charset="-122"/>
              </a:rPr>
              <a:t> </a:t>
            </a:r>
            <a:r>
              <a:rPr lang="en-US" altLang="zh-CN" sz="2400" b="1" dirty="0">
                <a:ea typeface="宋体" panose="02010600030101010101" pitchFamily="2" charset="-122"/>
              </a:rPr>
              <a:t>1</a:t>
            </a:r>
            <a:endParaRPr lang="en-US" altLang="zh-CN" sz="2400" b="1" dirty="0">
              <a:ea typeface="宋体" panose="02010600030101010101" pitchFamily="2" charset="-122"/>
            </a:endParaRPr>
          </a:p>
          <a:p>
            <a:pPr lvl="1"/>
            <a:r>
              <a:rPr lang="en-US" altLang="zh-CN" sz="2200" b="1" dirty="0">
                <a:ea typeface="宋体" panose="02010600030101010101" pitchFamily="2" charset="-122"/>
              </a:rPr>
              <a:t>C</a:t>
            </a:r>
            <a:r>
              <a:rPr lang="en-US" altLang="zh-CN" sz="2200" b="1" baseline="-25000"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C</a:t>
            </a:r>
            <a:r>
              <a:rPr lang="en-US" altLang="zh-CN" sz="2200" b="1" baseline="-25000" dirty="0">
                <a:ea typeface="宋体" panose="02010600030101010101" pitchFamily="2" charset="-122"/>
              </a:rPr>
              <a:t>i</a:t>
            </a:r>
            <a:r>
              <a:rPr lang="zh-CN" altLang="en-US" sz="2200" b="1" dirty="0">
                <a:ea typeface="宋体" panose="02010600030101010101" pitchFamily="2" charset="-122"/>
              </a:rPr>
              <a:t>分别表示在运行</a:t>
            </a:r>
            <a:r>
              <a:rPr lang="en-US" altLang="zh-CN" sz="2200" b="1" dirty="0">
                <a:ea typeface="宋体" panose="02010600030101010101" pitchFamily="2" charset="-122"/>
              </a:rPr>
              <a:t>				</a:t>
            </a:r>
            <a:r>
              <a:rPr lang="zh-CN" altLang="en-US" sz="2200" b="1" dirty="0">
                <a:ea typeface="宋体" panose="02010600030101010101" pitchFamily="2" charset="-122"/>
              </a:rPr>
              <a:t>          时刻局部变量</a:t>
            </a:r>
            <a:r>
              <a:rPr lang="en-US" altLang="zh-CN" sz="2200" b="1" dirty="0">
                <a:ea typeface="宋体" panose="02010600030101010101" pitchFamily="2" charset="-122"/>
              </a:rPr>
              <a:t>a</a:t>
            </a:r>
            <a:r>
              <a:rPr lang="zh-CN" altLang="en-US" sz="2200" b="1" dirty="0">
                <a:ea typeface="宋体" panose="02010600030101010101" pitchFamily="2" charset="-122"/>
              </a:rPr>
              <a:t>和</a:t>
            </a:r>
            <a:r>
              <a:rPr lang="en-US" altLang="zh-CN" sz="2200" b="1" dirty="0">
                <a:ea typeface="宋体" panose="02010600030101010101" pitchFamily="2" charset="-122"/>
              </a:rPr>
              <a:t>i</a:t>
            </a:r>
            <a:r>
              <a:rPr lang="zh-CN" altLang="en-US" sz="2200" b="1" dirty="0">
                <a:ea typeface="宋体" panose="02010600030101010101" pitchFamily="2" charset="-122"/>
              </a:rPr>
              <a:t>相对</a:t>
            </a:r>
            <a:r>
              <a:rPr lang="en-US" altLang="zh-CN" sz="2200" b="1" dirty="0">
                <a:ea typeface="宋体" panose="02010600030101010101" pitchFamily="2" charset="-122"/>
              </a:rPr>
              <a:t>				</a:t>
            </a:r>
            <a:r>
              <a:rPr lang="zh-CN" altLang="en-US" sz="2200" b="1" dirty="0">
                <a:ea typeface="宋体" panose="02010600030101010101" pitchFamily="2" charset="-122"/>
              </a:rPr>
              <a:t>          于</a:t>
            </a:r>
            <a:r>
              <a:rPr lang="en-US" altLang="zh-CN" sz="2200" b="1" dirty="0">
                <a:ea typeface="宋体" panose="02010600030101010101" pitchFamily="2" charset="-122"/>
              </a:rPr>
              <a:t>SP</a:t>
            </a:r>
            <a:r>
              <a:rPr lang="zh-CN" altLang="en-US" sz="2200" b="1" dirty="0">
                <a:ea typeface="宋体" panose="02010600030101010101" pitchFamily="2" charset="-122"/>
              </a:rPr>
              <a:t>的偏移量</a:t>
            </a:r>
            <a:endParaRPr lang="en-US" altLang="zh-CN" sz="2200" b="1" dirty="0">
              <a:ea typeface="宋体" panose="02010600030101010101" pitchFamily="2" charset="-122"/>
            </a:endParaRPr>
          </a:p>
          <a:p>
            <a:pPr lvl="1"/>
            <a:r>
              <a:rPr lang="en-US" altLang="zh-CN" sz="2200" b="1" dirty="0">
                <a:ea typeface="宋体" panose="02010600030101010101" pitchFamily="2" charset="-122"/>
              </a:rPr>
              <a:t>R</a:t>
            </a:r>
            <a:r>
              <a:rPr lang="en-US" altLang="zh-CN" sz="2200" b="1" baseline="-25000" dirty="0">
                <a:ea typeface="宋体" panose="02010600030101010101" pitchFamily="2" charset="-122"/>
              </a:rPr>
              <a:t>SP</a:t>
            </a:r>
            <a:r>
              <a:rPr lang="zh-CN" altLang="en-US" sz="2200" b="1" dirty="0">
                <a:ea typeface="宋体" panose="02010600030101010101" pitchFamily="2" charset="-122"/>
              </a:rPr>
              <a:t>表示寄存器</a:t>
            </a:r>
            <a:r>
              <a:rPr lang="en-US" altLang="zh-CN" sz="2200" b="1" dirty="0">
                <a:ea typeface="宋体" panose="02010600030101010101" pitchFamily="2" charset="-122"/>
              </a:rPr>
              <a:t>SP</a:t>
            </a:r>
            <a:endParaRPr lang="en-US" altLang="zh-CN" sz="2200" b="1" dirty="0">
              <a:ea typeface="宋体" panose="02010600030101010101" pitchFamily="2" charset="-122"/>
            </a:endParaRPr>
          </a:p>
          <a:p>
            <a:pPr lvl="1"/>
            <a:r>
              <a:rPr lang="en-US" altLang="zh-CN" sz="2200" b="1" dirty="0">
                <a:ea typeface="宋体" panose="02010600030101010101" pitchFamily="2" charset="-122"/>
              </a:rPr>
              <a:t>ind</a:t>
            </a:r>
            <a:r>
              <a:rPr lang="zh-CN" altLang="en-US" sz="2200" b="1" dirty="0">
                <a:ea typeface="宋体" panose="02010600030101010101" pitchFamily="2" charset="-122"/>
              </a:rPr>
              <a:t>表示把其参数作为</a:t>
            </a:r>
            <a:r>
              <a:rPr lang="en-US" altLang="zh-CN" sz="2200" b="1" dirty="0">
                <a:ea typeface="宋体" panose="02010600030101010101" pitchFamily="2" charset="-122"/>
              </a:rPr>
              <a:t>				</a:t>
            </a:r>
            <a:r>
              <a:rPr lang="zh-CN" altLang="en-US" sz="2200" b="1" dirty="0">
                <a:ea typeface="宋体" panose="02010600030101010101" pitchFamily="2" charset="-122"/>
              </a:rPr>
              <a:t>          内存地址处理</a:t>
            </a:r>
            <a:endParaRPr lang="en-US" altLang="zh-CN" sz="2200" b="1" dirty="0">
              <a:ea typeface="宋体" panose="02010600030101010101" pitchFamily="2" charset="-122"/>
            </a:endParaRPr>
          </a:p>
        </p:txBody>
      </p:sp>
    </p:spTree>
  </p:cSld>
  <p:clrMapOvr>
    <a:masterClrMapping/>
  </p:clrMapOvr>
  <p:transition spd="slow"/>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32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树翻译方案（</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468313" y="1447800"/>
            <a:ext cx="82804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目标代码是通过应用一个树重写规则来生成的</a:t>
            </a:r>
            <a:endParaRPr kumimoji="0" lang="en-GB"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最终会把输入的树归约为单个结点</a:t>
            </a:r>
            <a:endParaRPr kumimoji="0" lang="zh-CN" altLang="en-GB"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重写规则形式如</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replacement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template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action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replacement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（被替换结点）是一个结点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template</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（模板）是一棵树</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叶子带有下标属性</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有时会对下标值进行一些约束，只有满足约束才可匹配</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可通过断言等实现</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如常数必须在某个取值范围之内</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000" b="0" i="1" u="none" strike="noStrike" kern="0" cap="none" spc="0" normalizeH="0" baseline="0" noProof="0" dirty="0">
                <a:ln>
                  <a:noFill/>
                </a:ln>
                <a:solidFill>
                  <a:schemeClr val="tx1"/>
                </a:solidFill>
                <a:effectLst/>
                <a:uLnTx/>
                <a:uFillTx/>
                <a:latin typeface="+mn-lt"/>
                <a:ea typeface="宋体" panose="02010600030101010101" pitchFamily="2" charset="-122"/>
              </a:rPr>
              <a:t>action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（动作）是一个类似于语法制导翻译方案中那样的代码片断，可以为空</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一组树重写规则被称为一个</a:t>
            </a:r>
            <a:r>
              <a:rPr kumimoji="0" lang="zh-CN" altLang="en-US" sz="24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树翻译方案</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tree-translation scheme</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endParaRPr kumimoji="0" lang="zh-CN" altLang="en-GB"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52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树翻译方案（</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95267"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200" b="1" dirty="0">
                <a:ea typeface="宋体" panose="02010600030101010101" pitchFamily="2" charset="-122"/>
              </a:rPr>
              <a:t>树重写方案可以方便地表示指令选择</a:t>
            </a:r>
            <a:endParaRPr lang="en-GB" altLang="zh-CN" sz="2200" b="1" dirty="0">
              <a:ea typeface="宋体" panose="02010600030101010101" pitchFamily="2" charset="-122"/>
            </a:endParaRPr>
          </a:p>
          <a:p>
            <a:pPr lvl="1"/>
            <a:r>
              <a:rPr lang="zh-CN" altLang="en-US" sz="2000" b="1" dirty="0">
                <a:ea typeface="宋体" panose="02010600030101010101" pitchFamily="2" charset="-122"/>
              </a:rPr>
              <a:t>考虑下述寄存器到寄存器加法指令的规则：</a:t>
            </a:r>
            <a:endParaRPr lang="en-US" altLang="zh-CN" sz="20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endParaRPr lang="en-US" altLang="zh-CN" sz="2200" b="1" dirty="0">
              <a:ea typeface="宋体" panose="02010600030101010101" pitchFamily="2" charset="-122"/>
            </a:endParaRPr>
          </a:p>
          <a:p>
            <a:pPr lvl="1"/>
            <a:r>
              <a:rPr lang="zh-CN" altLang="en-US" sz="2000" b="1" dirty="0">
                <a:ea typeface="宋体" panose="02010600030101010101" pitchFamily="2" charset="-122"/>
              </a:rPr>
              <a:t>如果输入树包含一个和上面的模板匹配的子树，则把这个子树替换为标号为</a:t>
            </a:r>
            <a:r>
              <a:rPr lang="en-US" altLang="zh-CN" sz="2000" b="1" i="1" dirty="0">
                <a:ea typeface="宋体" panose="02010600030101010101" pitchFamily="2" charset="-122"/>
              </a:rPr>
              <a:t>R</a:t>
            </a:r>
            <a:r>
              <a:rPr lang="en-US" altLang="zh-CN" sz="2000" b="1" i="1" baseline="-25000" dirty="0">
                <a:ea typeface="宋体" panose="02010600030101010101" pitchFamily="2" charset="-122"/>
              </a:rPr>
              <a:t>i</a:t>
            </a:r>
            <a:r>
              <a:rPr lang="zh-CN" altLang="en-US" sz="2000" b="1" dirty="0">
                <a:ea typeface="宋体" panose="02010600030101010101" pitchFamily="2" charset="-122"/>
              </a:rPr>
              <a:t>的单一结点，并输出指令</a:t>
            </a:r>
            <a:r>
              <a:rPr lang="en-US" altLang="zh-CN" sz="2000" b="1" dirty="0">
                <a:ea typeface="宋体" panose="02010600030101010101" pitchFamily="2" charset="-122"/>
              </a:rPr>
              <a:t>ADD</a:t>
            </a:r>
            <a:r>
              <a:rPr lang="zh-CN" altLang="en-US" sz="2000" b="1" dirty="0">
                <a:ea typeface="宋体" panose="02010600030101010101" pitchFamily="2" charset="-122"/>
              </a:rPr>
              <a:t> </a:t>
            </a:r>
            <a:r>
              <a:rPr lang="en-US" altLang="zh-CN" sz="2000" b="1" i="1" dirty="0">
                <a:ea typeface="宋体" panose="02010600030101010101" pitchFamily="2" charset="-122"/>
              </a:rPr>
              <a:t>R</a:t>
            </a:r>
            <a:r>
              <a:rPr lang="en-US" altLang="zh-CN" sz="2000" b="1" i="1" baseline="-25000" dirty="0">
                <a:ea typeface="宋体" panose="02010600030101010101" pitchFamily="2" charset="-122"/>
              </a:rPr>
              <a:t>i </a:t>
            </a:r>
            <a:r>
              <a:rPr lang="en-US" altLang="zh-CN" sz="2000" b="1" dirty="0">
                <a:ea typeface="宋体" panose="02010600030101010101" pitchFamily="2" charset="-122"/>
              </a:rPr>
              <a:t>, </a:t>
            </a:r>
            <a:r>
              <a:rPr lang="en-US" altLang="zh-CN" sz="2000" b="1" i="1" dirty="0">
                <a:ea typeface="宋体" panose="02010600030101010101" pitchFamily="2" charset="-122"/>
              </a:rPr>
              <a:t>R</a:t>
            </a:r>
            <a:r>
              <a:rPr lang="en-US" altLang="zh-CN" sz="2000" b="1" i="1" baseline="-25000" dirty="0">
                <a:ea typeface="宋体" panose="02010600030101010101" pitchFamily="2" charset="-122"/>
              </a:rPr>
              <a:t>i</a:t>
            </a:r>
            <a:r>
              <a:rPr lang="en-US" altLang="zh-CN" sz="2000" b="1" dirty="0">
                <a:ea typeface="宋体" panose="02010600030101010101" pitchFamily="2" charset="-122"/>
              </a:rPr>
              <a:t> , </a:t>
            </a:r>
            <a:r>
              <a:rPr lang="en-US" altLang="zh-CN" sz="2000" b="1" i="1" dirty="0">
                <a:ea typeface="宋体" panose="02010600030101010101" pitchFamily="2" charset="-122"/>
              </a:rPr>
              <a:t>R</a:t>
            </a:r>
            <a:r>
              <a:rPr lang="en-US" altLang="zh-CN" sz="2000" b="1" i="1" baseline="-25000" dirty="0">
                <a:ea typeface="宋体" panose="02010600030101010101" pitchFamily="2" charset="-122"/>
              </a:rPr>
              <a:t>j</a:t>
            </a:r>
            <a:r>
              <a:rPr lang="en-US" altLang="zh-CN" sz="2000" b="1" dirty="0">
                <a:ea typeface="宋体" panose="02010600030101010101" pitchFamily="2" charset="-122"/>
              </a:rPr>
              <a:t> </a:t>
            </a:r>
            <a:endParaRPr lang="en-US" altLang="zh-CN" sz="2000" b="1" dirty="0">
              <a:ea typeface="宋体" panose="02010600030101010101" pitchFamily="2" charset="-122"/>
            </a:endParaRPr>
          </a:p>
          <a:p>
            <a:pPr lvl="1"/>
            <a:r>
              <a:rPr lang="zh-CN" altLang="en-US" sz="2000" b="1" dirty="0">
                <a:ea typeface="宋体" panose="02010600030101010101" pitchFamily="2" charset="-122"/>
              </a:rPr>
              <a:t>该替换称为一次</a:t>
            </a:r>
            <a:r>
              <a:rPr lang="zh-CN" altLang="en-US" sz="2000" b="1" dirty="0">
                <a:latin typeface="华文新魏" panose="02010800040101010101" pitchFamily="2" charset="-122"/>
                <a:ea typeface="华文新魏" panose="02010800040101010101" pitchFamily="2" charset="-122"/>
              </a:rPr>
              <a:t>覆盖</a:t>
            </a:r>
            <a:r>
              <a:rPr lang="zh-CN" altLang="en-US" sz="2000" b="1" dirty="0">
                <a:ea typeface="宋体" panose="02010600030101010101" pitchFamily="2" charset="-122"/>
              </a:rPr>
              <a:t>（</a:t>
            </a:r>
            <a:r>
              <a:rPr lang="en-US" altLang="zh-CN" sz="2000" b="1" dirty="0">
                <a:ea typeface="宋体" panose="02010600030101010101" pitchFamily="2" charset="-122"/>
              </a:rPr>
              <a:t>tiling</a:t>
            </a:r>
            <a:r>
              <a:rPr lang="zh-CN" altLang="en-US" sz="2000" b="1" dirty="0">
                <a:ea typeface="宋体" panose="02010600030101010101" pitchFamily="2" charset="-122"/>
              </a:rPr>
              <a:t>）</a:t>
            </a:r>
            <a:endParaRPr lang="en-US" altLang="zh-CN" sz="2000" b="1" dirty="0">
              <a:ea typeface="宋体" panose="02010600030101010101" pitchFamily="2" charset="-122"/>
            </a:endParaRPr>
          </a:p>
          <a:p>
            <a:pPr lvl="1"/>
            <a:r>
              <a:rPr lang="zh-CN" altLang="en-US" sz="2000" b="1" dirty="0">
                <a:ea typeface="宋体" panose="02010600030101010101" pitchFamily="2" charset="-122"/>
              </a:rPr>
              <a:t>存在多个模板与一棵子树匹配的可能，后续简要介绍冲突处理机制</a:t>
            </a:r>
            <a:endParaRPr lang="en-US" altLang="zh-CN" sz="2000" b="1" dirty="0">
              <a:ea typeface="宋体" panose="02010600030101010101" pitchFamily="2" charset="-122"/>
            </a:endParaRPr>
          </a:p>
          <a:p>
            <a:r>
              <a:rPr lang="zh-CN" altLang="en-US" sz="2200" b="1" dirty="0">
                <a:ea typeface="宋体" panose="02010600030101010101" pitchFamily="2" charset="-122"/>
              </a:rPr>
              <a:t>下页（例</a:t>
            </a:r>
            <a:r>
              <a:rPr lang="en-US" altLang="zh-CN" sz="2200" b="1" dirty="0">
                <a:ea typeface="宋体" panose="02010600030101010101" pitchFamily="2" charset="-122"/>
              </a:rPr>
              <a:t>8.19</a:t>
            </a:r>
            <a:r>
              <a:rPr lang="zh-CN" altLang="en-US" sz="2200" b="1" dirty="0">
                <a:ea typeface="宋体" panose="02010600030101010101" pitchFamily="2" charset="-122"/>
              </a:rPr>
              <a:t>（图</a:t>
            </a:r>
            <a:r>
              <a:rPr lang="en-US" altLang="zh-CN" sz="2200" b="1" dirty="0">
                <a:ea typeface="宋体" panose="02010600030101010101" pitchFamily="2" charset="-122"/>
              </a:rPr>
              <a:t>8-20</a:t>
            </a:r>
            <a:r>
              <a:rPr lang="zh-CN" altLang="en-US" sz="2200" b="1" dirty="0">
                <a:ea typeface="宋体" panose="02010600030101010101" pitchFamily="2" charset="-122"/>
              </a:rPr>
              <a:t>））介绍了课程选择的目标机的一部分指令的树重写规则</a:t>
            </a:r>
            <a:endParaRPr lang="en-US" altLang="zh-CN" sz="2200" b="1" dirty="0">
              <a:ea typeface="宋体" panose="02010600030101010101" pitchFamily="2" charset="-122"/>
            </a:endParaRPr>
          </a:p>
          <a:p>
            <a:pPr lvl="1"/>
            <a:r>
              <a:rPr lang="zh-CN" altLang="en-US" sz="2000" b="1" dirty="0">
                <a:ea typeface="宋体" panose="02010600030101010101" pitchFamily="2" charset="-122"/>
              </a:rPr>
              <a:t>规则</a:t>
            </a:r>
            <a:r>
              <a:rPr lang="en-US" altLang="zh-CN" sz="2000" b="1" dirty="0">
                <a:ea typeface="宋体" panose="02010600030101010101" pitchFamily="2" charset="-122"/>
              </a:rPr>
              <a:t>8</a:t>
            </a:r>
            <a:r>
              <a:rPr lang="zh-CN" altLang="en-US" sz="2000" b="1" dirty="0">
                <a:ea typeface="宋体" panose="02010600030101010101" pitchFamily="2" charset="-122"/>
              </a:rPr>
              <a:t>要求常量的值必须是</a:t>
            </a:r>
            <a:r>
              <a:rPr lang="en-US" altLang="zh-CN" sz="2000" b="1" dirty="0">
                <a:ea typeface="宋体" panose="02010600030101010101" pitchFamily="2" charset="-122"/>
              </a:rPr>
              <a:t>1</a:t>
            </a:r>
            <a:r>
              <a:rPr lang="zh-CN" altLang="en-US" sz="2000" b="1" dirty="0">
                <a:ea typeface="宋体" panose="02010600030101010101" pitchFamily="2" charset="-122"/>
              </a:rPr>
              <a:t>，可通过断言实现</a:t>
            </a:r>
            <a:endParaRPr lang="en-US" altLang="zh-CN" sz="2000" b="1" dirty="0">
              <a:ea typeface="宋体" panose="02010600030101010101" pitchFamily="2" charset="-122"/>
            </a:endParaRPr>
          </a:p>
        </p:txBody>
      </p:sp>
      <p:pic>
        <p:nvPicPr>
          <p:cNvPr id="395268" name="图片 1"/>
          <p:cNvPicPr>
            <a:picLocks noChangeAspect="1"/>
          </p:cNvPicPr>
          <p:nvPr/>
        </p:nvPicPr>
        <p:blipFill>
          <a:blip r:embed="rId1"/>
          <a:stretch>
            <a:fillRect/>
          </a:stretch>
        </p:blipFill>
        <p:spPr>
          <a:xfrm>
            <a:off x="1619250" y="2217738"/>
            <a:ext cx="6084888" cy="1282700"/>
          </a:xfrm>
          <a:prstGeom prst="rect">
            <a:avLst/>
          </a:prstGeom>
          <a:noFill/>
          <a:ln w="9525">
            <a:noFill/>
          </a:ln>
        </p:spPr>
      </p:pic>
    </p:spTree>
  </p:cSld>
  <p:clrMapOvr>
    <a:masterClrMapping/>
  </p:clrMapOvr>
  <p:transition spd="slow"/>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7314" name="Picture 2"/>
          <p:cNvPicPr>
            <a:picLocks noChangeAspect="1"/>
          </p:cNvPicPr>
          <p:nvPr/>
        </p:nvPicPr>
        <p:blipFill>
          <a:blip r:embed="rId1"/>
          <a:stretch>
            <a:fillRect/>
          </a:stretch>
        </p:blipFill>
        <p:spPr>
          <a:xfrm>
            <a:off x="1981200" y="152400"/>
            <a:ext cx="4849813" cy="6477000"/>
          </a:xfrm>
          <a:prstGeom prst="rect">
            <a:avLst/>
          </a:prstGeom>
          <a:noFill/>
          <a:ln w="9525">
            <a:noFill/>
          </a:ln>
        </p:spPr>
      </p:pic>
    </p:spTree>
  </p:cSld>
  <p:clrMapOvr>
    <a:masterClrMapping/>
  </p:clrMapOvr>
  <p:transition spd="slow"/>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98339" name="Rectangle 3"/>
          <p:cNvSpPr>
            <a:spLocks noGrp="1"/>
          </p:cNvSpPr>
          <p:nvPr>
            <p:ph idx="1"/>
          </p:nvPr>
        </p:nvSpPr>
        <p:spPr>
          <a:xfrm>
            <a:off x="914400" y="1371600"/>
            <a:ext cx="7543800" cy="4800600"/>
          </a:xfrm>
        </p:spPr>
        <p:txBody>
          <a:bodyPr vert="horz" wrap="square" lIns="92075" tIns="46038" rIns="92075" bIns="46038" anchor="t" anchorCtr="0"/>
          <a:p>
            <a:r>
              <a:rPr lang="zh-CN" altLang="en-US" sz="2200" b="1" dirty="0">
                <a:ea typeface="宋体" panose="02010600030101010101" pitchFamily="2" charset="-122"/>
              </a:rPr>
              <a:t>树翻译方案的工作流程</a:t>
            </a:r>
            <a:endParaRPr lang="en-US" altLang="zh-CN" sz="2200" b="1" dirty="0">
              <a:ea typeface="宋体" panose="02010600030101010101" pitchFamily="2" charset="-122"/>
            </a:endParaRPr>
          </a:p>
          <a:p>
            <a:pPr lvl="1"/>
            <a:r>
              <a:rPr lang="zh-CN" altLang="en-US" sz="2000" b="1" dirty="0">
                <a:ea typeface="宋体" panose="02010600030101010101" pitchFamily="2" charset="-122"/>
              </a:rPr>
              <a:t>给定一棵输入树，利用重写规则的模板覆盖输入树的子树</a:t>
            </a:r>
            <a:endParaRPr lang="en-US" altLang="zh-CN" sz="2000" b="1" dirty="0">
              <a:ea typeface="宋体" panose="02010600030101010101" pitchFamily="2" charset="-122"/>
            </a:endParaRPr>
          </a:p>
          <a:p>
            <a:pPr lvl="2"/>
            <a:r>
              <a:rPr lang="zh-CN" altLang="en-US" sz="1800" b="1" dirty="0">
                <a:ea typeface="宋体" panose="02010600030101010101" pitchFamily="2" charset="-122"/>
              </a:rPr>
              <a:t>如果找到一个匹配的模板</a:t>
            </a:r>
            <a:endParaRPr lang="en-US" altLang="zh-CN" sz="1800" b="1" dirty="0">
              <a:ea typeface="宋体" panose="02010600030101010101" pitchFamily="2" charset="-122"/>
            </a:endParaRPr>
          </a:p>
          <a:p>
            <a:pPr lvl="3"/>
            <a:r>
              <a:rPr lang="zh-CN" altLang="en-US" sz="1800" b="1" dirty="0">
                <a:ea typeface="宋体" panose="02010600030101010101" pitchFamily="2" charset="-122"/>
              </a:rPr>
              <a:t>输入树中匹配的子树将被替换为相应规则中的替换结点</a:t>
            </a:r>
            <a:endParaRPr lang="en-US" altLang="zh-CN" sz="1800" b="1" dirty="0">
              <a:ea typeface="宋体" panose="02010600030101010101" pitchFamily="2" charset="-122"/>
            </a:endParaRPr>
          </a:p>
          <a:p>
            <a:pPr lvl="3"/>
            <a:r>
              <a:rPr lang="zh-CN" altLang="en-US" sz="1800" b="1" dirty="0">
                <a:ea typeface="宋体" panose="02010600030101010101" pitchFamily="2" charset="-122"/>
              </a:rPr>
              <a:t>执行规则的相关动作</a:t>
            </a:r>
            <a:endParaRPr lang="en-US" altLang="zh-CN" sz="1800" b="1" dirty="0">
              <a:ea typeface="宋体" panose="02010600030101010101" pitchFamily="2" charset="-122"/>
            </a:endParaRPr>
          </a:p>
          <a:p>
            <a:pPr lvl="4"/>
            <a:r>
              <a:rPr lang="zh-CN" altLang="en-US" sz="1600" b="1" dirty="0">
                <a:ea typeface="宋体" panose="02010600030101010101" pitchFamily="2" charset="-122"/>
              </a:rPr>
              <a:t>如果该动作包含了一个机器指令序列，则生成这些指令</a:t>
            </a:r>
            <a:endParaRPr lang="en-US" altLang="zh-CN" sz="1600" b="1" dirty="0">
              <a:ea typeface="宋体" panose="02010600030101010101" pitchFamily="2" charset="-122"/>
            </a:endParaRPr>
          </a:p>
          <a:p>
            <a:pPr lvl="2"/>
            <a:r>
              <a:rPr lang="zh-CN" altLang="en-US" sz="1800" b="1" dirty="0">
                <a:ea typeface="宋体" panose="02010600030101010101" pitchFamily="2" charset="-122"/>
              </a:rPr>
              <a:t>重复上述过程，直至将输入树归约为单个结点，或找不到匹配的模板为止</a:t>
            </a:r>
            <a:endParaRPr lang="en-US" altLang="zh-CN" sz="1800" b="1" dirty="0">
              <a:ea typeface="宋体" panose="02010600030101010101" pitchFamily="2" charset="-122"/>
            </a:endParaRPr>
          </a:p>
          <a:p>
            <a:pPr lvl="1"/>
            <a:r>
              <a:rPr lang="zh-CN" altLang="en-US" sz="2000" b="1" dirty="0">
                <a:ea typeface="宋体" panose="02010600030101010101" pitchFamily="2" charset="-122"/>
              </a:rPr>
              <a:t>该过程中生成的机器指令序列就是树翻译方案作用于给定输入树而得到的输出</a:t>
            </a:r>
            <a:endParaRPr lang="en-US" altLang="zh-CN" sz="2000" b="1" dirty="0">
              <a:ea typeface="宋体" panose="02010600030101010101" pitchFamily="2" charset="-122"/>
            </a:endParaRPr>
          </a:p>
          <a:p>
            <a:pPr lvl="1"/>
            <a:r>
              <a:rPr lang="zh-CN" altLang="en-US" sz="2000" b="1" dirty="0">
                <a:ea typeface="宋体" panose="02010600030101010101" pitchFamily="2" charset="-122"/>
              </a:rPr>
              <a:t>实践中试图寻找一个能够对每个输入树生成代价最小的指令序列的树翻译方案</a:t>
            </a:r>
            <a:endParaRPr lang="en-US" altLang="zh-CN" sz="2000" b="1" dirty="0">
              <a:ea typeface="宋体" panose="02010600030101010101" pitchFamily="2" charset="-122"/>
            </a:endParaRPr>
          </a:p>
          <a:p>
            <a:r>
              <a:rPr lang="zh-CN" altLang="en-US" sz="2200" b="1" dirty="0">
                <a:ea typeface="宋体" panose="02010600030101010101" pitchFamily="2" charset="-122"/>
              </a:rPr>
              <a:t>有多种工具帮助实现根据一个树翻译方案自动生成代码生成器</a:t>
            </a:r>
            <a:endParaRPr lang="en-GB" altLang="zh-CN" sz="2200" b="1" dirty="0">
              <a:ea typeface="宋体" panose="02010600030101010101" pitchFamily="2" charset="-122"/>
            </a:endParaRPr>
          </a:p>
        </p:txBody>
      </p:sp>
    </p:spTree>
  </p:cSld>
  <p:clrMapOvr>
    <a:masterClrMapping/>
  </p:clrMapOvr>
  <p:transition spd="slow"/>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03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539750" y="1484313"/>
            <a:ext cx="8064500" cy="4687888"/>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8.20</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用图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8-20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的树翻译方案为图</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8-19</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中的输入树生成代码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首先一个规则用于把常量</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加载到寄存器</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中：</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 R</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0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a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 LD R0, #a }</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最左边叶子结点的标号由</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变成</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0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，同时生成指令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LD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2"/>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其次，由第七个规则和最左边的根标号为</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的子树匹配：</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将子树重写为一个标号为</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的单一结点，同时生成指令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ADD</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R0  ,  R0  ,  SP</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400388" name="图片 1"/>
          <p:cNvPicPr>
            <a:picLocks noChangeAspect="1"/>
          </p:cNvPicPr>
          <p:nvPr/>
        </p:nvPicPr>
        <p:blipFill>
          <a:blip r:embed="rId1"/>
          <a:stretch>
            <a:fillRect/>
          </a:stretch>
        </p:blipFill>
        <p:spPr>
          <a:xfrm>
            <a:off x="2087563" y="4346575"/>
            <a:ext cx="5005387" cy="1027113"/>
          </a:xfrm>
          <a:prstGeom prst="rect">
            <a:avLst/>
          </a:prstGeom>
          <a:noFill/>
          <a:ln w="9525">
            <a:noFill/>
          </a:ln>
        </p:spPr>
      </p:pic>
    </p:spTree>
  </p:cSld>
  <p:clrMapOvr>
    <a:masterClrMapping/>
  </p:clrMapOvr>
  <p:transition spd="slow"/>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243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02435" name="Rectangle 3"/>
          <p:cNvSpPr>
            <a:spLocks noGrp="1"/>
          </p:cNvSpPr>
          <p:nvPr>
            <p:ph idx="1"/>
          </p:nvPr>
        </p:nvSpPr>
        <p:spPr>
          <a:xfrm>
            <a:off x="539750" y="1484313"/>
            <a:ext cx="8064500" cy="4687887"/>
          </a:xfrm>
        </p:spPr>
        <p:txBody>
          <a:bodyPr vert="horz" wrap="square" lIns="92075" tIns="46038" rIns="92075" bIns="46038" anchor="t" anchorCtr="0"/>
          <a:p>
            <a:pPr marL="457200" lvl="1" indent="0">
              <a:buNone/>
            </a:pPr>
            <a:r>
              <a:rPr lang="en-US" altLang="zh-CN" sz="2200" b="1" dirty="0">
                <a:ea typeface="宋体" panose="02010600030101010101" pitchFamily="2" charset="-122"/>
              </a:rPr>
              <a:t>	</a:t>
            </a:r>
            <a:r>
              <a:rPr lang="zh-CN" altLang="en-US" sz="2200" b="1" dirty="0">
                <a:ea typeface="宋体" panose="02010600030101010101" pitchFamily="2" charset="-122"/>
              </a:rPr>
              <a:t>此时的树如下图所示：</a:t>
            </a: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a:p>
            <a:pPr marL="457200" lvl="1" indent="0">
              <a:buNone/>
            </a:pPr>
            <a:endParaRPr lang="en-US" altLang="zh-CN" sz="2200" b="1" dirty="0">
              <a:ea typeface="宋体" panose="02010600030101010101" pitchFamily="2" charset="-122"/>
            </a:endParaRPr>
          </a:p>
        </p:txBody>
      </p:sp>
      <p:pic>
        <p:nvPicPr>
          <p:cNvPr id="402436" name="图片 2"/>
          <p:cNvPicPr>
            <a:picLocks noChangeAspect="1"/>
          </p:cNvPicPr>
          <p:nvPr/>
        </p:nvPicPr>
        <p:blipFill>
          <a:blip r:embed="rId1"/>
          <a:stretch>
            <a:fillRect/>
          </a:stretch>
        </p:blipFill>
        <p:spPr>
          <a:xfrm>
            <a:off x="1619250" y="1989138"/>
            <a:ext cx="6202363" cy="3600450"/>
          </a:xfrm>
          <a:prstGeom prst="rect">
            <a:avLst/>
          </a:prstGeom>
          <a:noFill/>
          <a:ln w="9525">
            <a:noFill/>
          </a:ln>
        </p:spPr>
      </p:pic>
    </p:spTree>
  </p:cSld>
  <p:clrMapOvr>
    <a:masterClrMapping/>
  </p:clrMapOvr>
  <p:transition spd="slow"/>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539750" y="1484313"/>
            <a:ext cx="8064500" cy="4687888"/>
          </a:xfrm>
        </p:spPr>
        <p:txBody>
          <a:bodyPr vert="horz" wrap="square" lIns="92075" tIns="46038" rIns="92075" bIns="46038" numCol="1" anchor="t" anchorCtr="0" compatLnSpc="1"/>
          <a:lstStyle/>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3"/>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此时面临选择</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）利用规则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将如下子树归约为单个结点：</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5725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）利用规则</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6</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将更大的子树归约为单个结点</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0</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，并生成指令</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ADD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R0 ,  R0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(SP)</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rgbClr val="FF0000"/>
                </a:solidFill>
                <a:effectLst/>
                <a:uLnTx/>
                <a:uFillTx/>
                <a:latin typeface="+mn-lt"/>
                <a:ea typeface="宋体" panose="02010600030101010101" pitchFamily="2" charset="-122"/>
              </a:rPr>
              <a:t>选择利用规则</a:t>
            </a:r>
            <a:r>
              <a:rPr kumimoji="0" lang="en-US" altLang="zh-CN" sz="2200" b="1" i="0" u="none" strike="noStrike" kern="0" cap="none" spc="0" normalizeH="0" baseline="0" noProof="0" dirty="0">
                <a:ln>
                  <a:noFill/>
                </a:ln>
                <a:solidFill>
                  <a:srgbClr val="FF0000"/>
                </a:solidFill>
                <a:effectLst/>
                <a:uLnTx/>
                <a:uFillTx/>
                <a:latin typeface="+mn-lt"/>
                <a:ea typeface="宋体" panose="02010600030101010101" pitchFamily="2" charset="-122"/>
              </a:rPr>
              <a:t>6</a:t>
            </a:r>
            <a:endParaRPr kumimoji="0" lang="en-US" altLang="zh-CN" sz="2200" b="1" i="0" u="none" strike="noStrike" kern="0" cap="none" spc="0" normalizeH="0" baseline="0" noProof="0" dirty="0">
              <a:ln>
                <a:noFill/>
              </a:ln>
              <a:solidFill>
                <a:srgbClr val="FF0000"/>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背景假设：用一个指令计算较大的子树比计算较小的子树更高效</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404484" name="图片 3"/>
          <p:cNvPicPr>
            <a:picLocks noChangeAspect="1"/>
          </p:cNvPicPr>
          <p:nvPr/>
        </p:nvPicPr>
        <p:blipFill>
          <a:blip r:embed="rId1"/>
          <a:stretch>
            <a:fillRect/>
          </a:stretch>
        </p:blipFill>
        <p:spPr>
          <a:xfrm>
            <a:off x="3132138" y="2276475"/>
            <a:ext cx="2371725" cy="1125538"/>
          </a:xfrm>
          <a:prstGeom prst="rect">
            <a:avLst/>
          </a:prstGeom>
          <a:noFill/>
          <a:ln w="9525">
            <a:noFill/>
          </a:ln>
        </p:spPr>
      </p:pic>
      <p:pic>
        <p:nvPicPr>
          <p:cNvPr id="404485" name="图片 4"/>
          <p:cNvPicPr>
            <a:picLocks noChangeAspect="1"/>
          </p:cNvPicPr>
          <p:nvPr/>
        </p:nvPicPr>
        <p:blipFill>
          <a:blip r:embed="rId2"/>
          <a:stretch>
            <a:fillRect/>
          </a:stretch>
        </p:blipFill>
        <p:spPr>
          <a:xfrm>
            <a:off x="2916238" y="4005263"/>
            <a:ext cx="3600450" cy="1295400"/>
          </a:xfrm>
          <a:prstGeom prst="rect">
            <a:avLst/>
          </a:prstGeom>
          <a:noFill/>
          <a:ln w="9525">
            <a:noFill/>
          </a:ln>
        </p:spPr>
      </p:pic>
    </p:spTree>
  </p:cSld>
  <p:clrMapOvr>
    <a:masterClrMapping/>
  </p:clrMapOvr>
  <p:transition spd="slow"/>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653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539750" y="1371600"/>
            <a:ext cx="8064500" cy="4800600"/>
          </a:xfrm>
        </p:spPr>
        <p:txBody>
          <a:bodyPr vert="horz" wrap="square" lIns="92075" tIns="46038" rIns="92075" bIns="46038" numCol="1" anchor="t" anchorCtr="0" compatLnSpc="1"/>
          <a:lstStyle/>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此时的树如下图所示：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3"/>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4"/>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此时，将规则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应用于叶结点</a:t>
            </a:r>
            <a:r>
              <a:rPr kumimoji="0" lang="en-US" altLang="zh-CN" sz="2200" b="1" i="1"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en-US" altLang="zh-CN" sz="2200" b="1" i="1" u="none" strike="noStrike" kern="0" cap="none" spc="0" normalizeH="0" baseline="-2500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，并产生将</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加载到某个寄存器（如</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R1</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）的指令</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4"/>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使用规则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8</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，可以匹配如下子树，生成指令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INC</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R1</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4"/>
              <a:defRPr/>
            </a:pP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228850" marR="0" lvl="4"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startAt="4"/>
              <a:defRPr/>
            </a:pP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输入树被归约为如下图所示：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228850" marR="0" lvl="4" indent="-457200" algn="l" defTabSz="914400" rtl="0" eaLnBrk="0" fontAlgn="base" latinLnBrk="0" hangingPunct="0">
              <a:lnSpc>
                <a:spcPct val="100000"/>
              </a:lnSpc>
              <a:spcBef>
                <a:spcPct val="20000"/>
              </a:spcBef>
              <a:spcAft>
                <a:spcPct val="0"/>
              </a:spcAft>
              <a:buClr>
                <a:srgbClr val="063DE8"/>
              </a:buClr>
              <a:buSzPct val="125000"/>
              <a:buFont typeface="+mj-lt"/>
              <a:buAutoNum type="arabicPeriod" startAt="4"/>
              <a:defRPr/>
            </a:pP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j-lt"/>
              <a:buAutoNum type="arabicPeriod" startAt="6"/>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使用规则</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4</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匹配最后的树，把树归约为单个结点，并生成指令</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ST</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*R0  ,  R1</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406532" name="图片 1"/>
          <p:cNvPicPr>
            <a:picLocks noChangeAspect="1"/>
          </p:cNvPicPr>
          <p:nvPr/>
        </p:nvPicPr>
        <p:blipFill>
          <a:blip r:embed="rId1"/>
          <a:stretch>
            <a:fillRect/>
          </a:stretch>
        </p:blipFill>
        <p:spPr>
          <a:xfrm>
            <a:off x="2987675" y="1412875"/>
            <a:ext cx="3529013" cy="1223963"/>
          </a:xfrm>
          <a:prstGeom prst="rect">
            <a:avLst/>
          </a:prstGeom>
          <a:noFill/>
          <a:ln w="9525">
            <a:noFill/>
          </a:ln>
        </p:spPr>
      </p:pic>
      <p:pic>
        <p:nvPicPr>
          <p:cNvPr id="406533" name="图片 2"/>
          <p:cNvPicPr>
            <a:picLocks noChangeAspect="1"/>
          </p:cNvPicPr>
          <p:nvPr/>
        </p:nvPicPr>
        <p:blipFill>
          <a:blip r:embed="rId2"/>
          <a:stretch>
            <a:fillRect/>
          </a:stretch>
        </p:blipFill>
        <p:spPr>
          <a:xfrm>
            <a:off x="3887788" y="3629025"/>
            <a:ext cx="1597025" cy="736600"/>
          </a:xfrm>
          <a:prstGeom prst="rect">
            <a:avLst/>
          </a:prstGeom>
          <a:noFill/>
          <a:ln w="9525">
            <a:noFill/>
          </a:ln>
        </p:spPr>
      </p:pic>
      <p:pic>
        <p:nvPicPr>
          <p:cNvPr id="406534" name="图片 5"/>
          <p:cNvPicPr>
            <a:picLocks noChangeAspect="1"/>
          </p:cNvPicPr>
          <p:nvPr/>
        </p:nvPicPr>
        <p:blipFill>
          <a:blip r:embed="rId3"/>
          <a:stretch>
            <a:fillRect/>
          </a:stretch>
        </p:blipFill>
        <p:spPr>
          <a:xfrm>
            <a:off x="3995738" y="4652963"/>
            <a:ext cx="3244850" cy="1284287"/>
          </a:xfrm>
          <a:prstGeom prst="rect">
            <a:avLst/>
          </a:prstGeom>
          <a:noFill/>
          <a:ln w="9525">
            <a:noFill/>
          </a:ln>
        </p:spPr>
      </p:pic>
    </p:spTree>
  </p:cSld>
  <p:clrMapOvr>
    <a:masterClrMapping/>
  </p:clrMapOvr>
  <p:transition spd="slow"/>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08579" name="Rectangle 3"/>
          <p:cNvSpPr>
            <a:spLocks noGrp="1"/>
          </p:cNvSpPr>
          <p:nvPr>
            <p:ph idx="1"/>
          </p:nvPr>
        </p:nvSpPr>
        <p:spPr>
          <a:xfrm>
            <a:off x="539750" y="1484313"/>
            <a:ext cx="8064500" cy="4687887"/>
          </a:xfrm>
        </p:spPr>
        <p:txBody>
          <a:bodyPr vert="horz" wrap="square" lIns="92075" tIns="46038" rIns="92075" bIns="46038" anchor="t" anchorCtr="0"/>
          <a:p>
            <a:r>
              <a:rPr lang="zh-CN" altLang="en-US" sz="2400" b="1" dirty="0">
                <a:ea typeface="宋体" panose="02010600030101010101" pitchFamily="2" charset="-122"/>
              </a:rPr>
              <a:t>在上述匹配、归约为单个结点的过程中，生成了如下代码序列：</a:t>
            </a:r>
            <a:endParaRPr lang="en-US" altLang="zh-CN" sz="2400" b="1" dirty="0">
              <a:ea typeface="宋体" panose="02010600030101010101" pitchFamily="2" charset="-122"/>
            </a:endParaRPr>
          </a:p>
          <a:p>
            <a:pPr marL="914400" lvl="2" indent="0">
              <a:buNone/>
            </a:pPr>
            <a:r>
              <a:rPr lang="en-US" altLang="zh-CN" sz="2000" b="1" dirty="0">
                <a:ea typeface="宋体" panose="02010600030101010101" pitchFamily="2" charset="-122"/>
              </a:rPr>
              <a:t>LD</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#a</a:t>
            </a:r>
            <a:endParaRPr lang="en-US" altLang="zh-CN" sz="2000" b="1" dirty="0">
              <a:ea typeface="宋体" panose="02010600030101010101" pitchFamily="2" charset="-122"/>
            </a:endParaRPr>
          </a:p>
          <a:p>
            <a:pPr marL="914400" lvl="2" indent="0">
              <a:buNone/>
            </a:pPr>
            <a:r>
              <a:rPr lang="en-US" altLang="zh-CN" sz="2000" b="1" dirty="0">
                <a:ea typeface="宋体" panose="02010600030101010101" pitchFamily="2" charset="-122"/>
              </a:rPr>
              <a:t>ADD</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SP</a:t>
            </a:r>
            <a:endParaRPr lang="en-US" altLang="zh-CN" sz="2000" b="1" dirty="0">
              <a:ea typeface="宋体" panose="02010600030101010101" pitchFamily="2" charset="-122"/>
            </a:endParaRPr>
          </a:p>
          <a:p>
            <a:pPr marL="914400" lvl="2" indent="0">
              <a:buNone/>
            </a:pPr>
            <a:r>
              <a:rPr lang="en-US" altLang="zh-CN" sz="2000" b="1" dirty="0">
                <a:ea typeface="宋体" panose="02010600030101010101" pitchFamily="2" charset="-122"/>
              </a:rPr>
              <a:t>ADD</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1(SP)</a:t>
            </a:r>
            <a:endParaRPr lang="en-US" altLang="zh-CN" sz="2000" b="1" dirty="0">
              <a:ea typeface="宋体" panose="02010600030101010101" pitchFamily="2" charset="-122"/>
            </a:endParaRPr>
          </a:p>
          <a:p>
            <a:pPr marL="914400" lvl="2" indent="0">
              <a:buNone/>
            </a:pPr>
            <a:r>
              <a:rPr lang="en-US" altLang="zh-CN" sz="2000" b="1" dirty="0">
                <a:ea typeface="宋体" panose="02010600030101010101" pitchFamily="2" charset="-122"/>
              </a:rPr>
              <a:t>LD</a:t>
            </a:r>
            <a:r>
              <a:rPr lang="zh-CN" altLang="en-US" sz="2000" b="1" dirty="0">
                <a:ea typeface="宋体" panose="02010600030101010101" pitchFamily="2" charset="-122"/>
              </a:rPr>
              <a:t>    </a:t>
            </a:r>
            <a:r>
              <a:rPr lang="en-US" altLang="zh-CN" sz="2000" b="1" dirty="0">
                <a:ea typeface="宋体" panose="02010600030101010101" pitchFamily="2" charset="-122"/>
              </a:rPr>
              <a:t>R1</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b</a:t>
            </a:r>
            <a:endParaRPr lang="en-US" altLang="zh-CN" sz="2000" b="1" dirty="0">
              <a:ea typeface="宋体" panose="02010600030101010101" pitchFamily="2" charset="-122"/>
            </a:endParaRPr>
          </a:p>
          <a:p>
            <a:pPr marL="914400" lvl="2" indent="0">
              <a:buNone/>
            </a:pPr>
            <a:r>
              <a:rPr lang="en-US" altLang="zh-CN" sz="2000" b="1" dirty="0">
                <a:ea typeface="宋体" panose="02010600030101010101" pitchFamily="2" charset="-122"/>
              </a:rPr>
              <a:t>INC</a:t>
            </a:r>
            <a:r>
              <a:rPr lang="zh-CN" altLang="en-US" sz="2000" b="1" dirty="0">
                <a:ea typeface="宋体" panose="02010600030101010101" pitchFamily="2" charset="-122"/>
              </a:rPr>
              <a:t>  </a:t>
            </a:r>
            <a:r>
              <a:rPr lang="en-US" altLang="zh-CN" sz="2000" b="1" dirty="0">
                <a:ea typeface="宋体" panose="02010600030101010101" pitchFamily="2" charset="-122"/>
              </a:rPr>
              <a:t>R1</a:t>
            </a:r>
            <a:endParaRPr lang="en-US" altLang="zh-CN" sz="2000" b="1" dirty="0">
              <a:ea typeface="宋体" panose="02010600030101010101" pitchFamily="2" charset="-122"/>
            </a:endParaRPr>
          </a:p>
          <a:p>
            <a:pPr marL="914400" lvl="2" indent="0">
              <a:buNone/>
            </a:pPr>
            <a:r>
              <a:rPr lang="en-US" altLang="zh-CN" sz="2000" b="1" dirty="0">
                <a:ea typeface="宋体" panose="02010600030101010101" pitchFamily="2" charset="-122"/>
              </a:rPr>
              <a:t>ST</a:t>
            </a:r>
            <a:r>
              <a:rPr lang="zh-CN" altLang="en-US" sz="2000" b="1" dirty="0">
                <a:ea typeface="宋体" panose="02010600030101010101" pitchFamily="2" charset="-122"/>
              </a:rPr>
              <a:t>     *</a:t>
            </a:r>
            <a:r>
              <a:rPr lang="en-US" altLang="zh-CN" sz="2000" b="1" dirty="0">
                <a:ea typeface="宋体" panose="02010600030101010101" pitchFamily="2" charset="-122"/>
              </a:rPr>
              <a:t>R0</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R1</a:t>
            </a:r>
            <a:endParaRPr lang="en-US" altLang="zh-CN" sz="2000" b="1" dirty="0">
              <a:ea typeface="宋体" panose="02010600030101010101" pitchFamily="2" charset="-122"/>
            </a:endParaRPr>
          </a:p>
        </p:txBody>
      </p:sp>
    </p:spTree>
  </p:cSld>
  <p:clrMapOvr>
    <a:masterClrMapping/>
  </p:clrMapOvr>
  <p:transition spd="slow"/>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62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通过覆盖一个输入树来生成代码（</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10627" name="Rectangle 3"/>
          <p:cNvSpPr>
            <a:spLocks noGrp="1"/>
          </p:cNvSpPr>
          <p:nvPr>
            <p:ph idx="1"/>
          </p:nvPr>
        </p:nvSpPr>
        <p:spPr>
          <a:xfrm>
            <a:off x="107950" y="1371600"/>
            <a:ext cx="8891588" cy="4800600"/>
          </a:xfrm>
        </p:spPr>
        <p:txBody>
          <a:bodyPr vert="horz" wrap="square" lIns="92075" tIns="46038" rIns="92075" bIns="46038" anchor="t" anchorCtr="0"/>
          <a:p>
            <a:r>
              <a:rPr lang="zh-CN" altLang="en-US" sz="2400" b="1" dirty="0">
                <a:ea typeface="宋体" panose="02010600030101010101" pitchFamily="2" charset="-122"/>
              </a:rPr>
              <a:t>关于树重写归约过程的一些问题：</a:t>
            </a:r>
            <a:endParaRPr lang="en-US" altLang="zh-CN" sz="2400" b="1" dirty="0">
              <a:ea typeface="宋体" panose="02010600030101010101" pitchFamily="2" charset="-122"/>
            </a:endParaRPr>
          </a:p>
          <a:p>
            <a:pPr lvl="1"/>
            <a:r>
              <a:rPr lang="zh-CN" altLang="en-US" sz="2200" b="1" dirty="0">
                <a:ea typeface="宋体" panose="02010600030101010101" pitchFamily="2" charset="-122"/>
              </a:rPr>
              <a:t>如何选定树模式匹配？</a:t>
            </a:r>
            <a:endParaRPr lang="en-US" altLang="zh-CN" sz="2200" b="1" dirty="0">
              <a:ea typeface="宋体" panose="02010600030101010101" pitchFamily="2" charset="-122"/>
            </a:endParaRPr>
          </a:p>
          <a:p>
            <a:pPr lvl="2"/>
            <a:r>
              <a:rPr lang="zh-CN" altLang="en-US" sz="2000" b="1" dirty="0">
                <a:ea typeface="宋体" panose="02010600030101010101" pitchFamily="2" charset="-122"/>
              </a:rPr>
              <a:t>代码生成过程效率依赖于树匹配算法的效率</a:t>
            </a:r>
            <a:endParaRPr lang="en-US" altLang="zh-CN" sz="2000" b="1" dirty="0">
              <a:ea typeface="宋体" panose="02010600030101010101" pitchFamily="2" charset="-122"/>
            </a:endParaRPr>
          </a:p>
          <a:p>
            <a:pPr lvl="1"/>
            <a:r>
              <a:rPr lang="zh-CN" altLang="en-US" sz="2200" b="1" dirty="0">
                <a:ea typeface="宋体" panose="02010600030101010101" pitchFamily="2" charset="-122"/>
              </a:rPr>
              <a:t>如果在某个给定时刻有多个模板可以匹配，怎么办？</a:t>
            </a:r>
            <a:endParaRPr lang="en-US" altLang="zh-CN" sz="2200" b="1" dirty="0">
              <a:ea typeface="宋体" panose="02010600030101010101" pitchFamily="2" charset="-122"/>
            </a:endParaRPr>
          </a:p>
          <a:p>
            <a:pPr lvl="2"/>
            <a:r>
              <a:rPr lang="zh-CN" altLang="en-US" sz="2000" b="1" dirty="0">
                <a:ea typeface="宋体" panose="02010600030101010101" pitchFamily="2" charset="-122"/>
              </a:rPr>
              <a:t>生成的代码的效率依赖于模板被匹配的顺序</a:t>
            </a:r>
            <a:endParaRPr lang="en-US" altLang="zh-CN" sz="2000" b="1" dirty="0">
              <a:ea typeface="宋体" panose="02010600030101010101" pitchFamily="2" charset="-122"/>
            </a:endParaRPr>
          </a:p>
          <a:p>
            <a:pPr lvl="3"/>
            <a:r>
              <a:rPr lang="zh-CN" altLang="en-US" sz="1800" b="1" dirty="0">
                <a:ea typeface="宋体" panose="02010600030101010101" pitchFamily="2" charset="-122"/>
              </a:rPr>
              <a:t>不同的匹配序列生成不同的机器代码，效率不同</a:t>
            </a:r>
            <a:endParaRPr lang="en-US" altLang="zh-CN" sz="1800" b="1" dirty="0">
              <a:ea typeface="宋体" panose="02010600030101010101" pitchFamily="2" charset="-122"/>
            </a:endParaRPr>
          </a:p>
          <a:p>
            <a:r>
              <a:rPr lang="zh-CN" altLang="en-US" sz="2400" b="1" dirty="0">
                <a:ea typeface="宋体" panose="02010600030101010101" pitchFamily="2" charset="-122"/>
              </a:rPr>
              <a:t>归约过程的阻塞及避免</a:t>
            </a:r>
            <a:endParaRPr lang="en-US" altLang="zh-CN" sz="2400" b="1" dirty="0">
              <a:ea typeface="宋体" panose="02010600030101010101" pitchFamily="2" charset="-122"/>
            </a:endParaRPr>
          </a:p>
          <a:p>
            <a:pPr lvl="1"/>
            <a:r>
              <a:rPr lang="zh-CN" altLang="en-US" sz="2200" b="1" dirty="0">
                <a:ea typeface="宋体" panose="02010600030101010101" pitchFamily="2" charset="-122"/>
              </a:rPr>
              <a:t>阻塞，要避免出现如下状况</a:t>
            </a:r>
            <a:endParaRPr lang="en-US" altLang="zh-CN" sz="2200" b="1" dirty="0">
              <a:ea typeface="宋体" panose="02010600030101010101" pitchFamily="2" charset="-122"/>
            </a:endParaRPr>
          </a:p>
          <a:p>
            <a:pPr lvl="2"/>
            <a:r>
              <a:rPr lang="zh-CN" altLang="en-US" sz="2000" b="1" dirty="0">
                <a:ea typeface="宋体" panose="02010600030101010101" pitchFamily="2" charset="-122"/>
              </a:rPr>
              <a:t>没有可以匹配的模板</a:t>
            </a:r>
            <a:endParaRPr lang="en-US" altLang="zh-CN" sz="2000" b="1" dirty="0">
              <a:ea typeface="宋体" panose="02010600030101010101" pitchFamily="2" charset="-122"/>
            </a:endParaRPr>
          </a:p>
          <a:p>
            <a:pPr lvl="2"/>
            <a:r>
              <a:rPr lang="zh-CN" altLang="en-US" sz="2000" b="1" dirty="0">
                <a:ea typeface="宋体" panose="02010600030101010101" pitchFamily="2" charset="-122"/>
              </a:rPr>
              <a:t>或，某结点被重写无穷多次（产生无穷多的数据移动指令等）</a:t>
            </a:r>
            <a:endParaRPr lang="en-US" altLang="zh-CN" sz="2000" b="1" dirty="0">
              <a:ea typeface="宋体" panose="02010600030101010101" pitchFamily="2" charset="-122"/>
            </a:endParaRPr>
          </a:p>
          <a:p>
            <a:pPr lvl="1"/>
            <a:r>
              <a:rPr lang="zh-CN" altLang="en-US" sz="2200" b="1" dirty="0">
                <a:ea typeface="宋体" panose="02010600030101010101" pitchFamily="2" charset="-122"/>
              </a:rPr>
              <a:t>避免的思路，以保证总可以将树翻译为目标机器指令序列</a:t>
            </a:r>
            <a:endParaRPr lang="en-US" altLang="zh-CN" sz="2200" b="1" dirty="0">
              <a:ea typeface="宋体" panose="02010600030101010101" pitchFamily="2" charset="-122"/>
            </a:endParaRPr>
          </a:p>
          <a:p>
            <a:pPr lvl="2"/>
            <a:r>
              <a:rPr lang="zh-CN" altLang="en-US" sz="2000" b="1" dirty="0">
                <a:ea typeface="宋体" panose="02010600030101010101" pitchFamily="2" charset="-122"/>
              </a:rPr>
              <a:t>假设中间代码的每个运算符都可使用一个或多个目标机的指令实现</a:t>
            </a:r>
            <a:endParaRPr lang="en-US" altLang="zh-CN" sz="2000" b="1" dirty="0">
              <a:ea typeface="宋体" panose="02010600030101010101" pitchFamily="2" charset="-122"/>
            </a:endParaRPr>
          </a:p>
          <a:p>
            <a:pPr lvl="2"/>
            <a:r>
              <a:rPr lang="zh-CN" altLang="en-US" sz="2000" b="1" dirty="0">
                <a:ea typeface="宋体" panose="02010600030101010101" pitchFamily="2" charset="-122"/>
              </a:rPr>
              <a:t>假设有足够多的寄存器用于计算树的每个结点</a:t>
            </a:r>
            <a:endParaRPr lang="en-US" altLang="zh-CN" sz="2000" b="1" dirty="0">
              <a:ea typeface="宋体" panose="02010600030101010101" pitchFamily="2" charset="-122"/>
            </a:endParaRPr>
          </a:p>
        </p:txBody>
      </p:sp>
    </p:spTree>
  </p:cSld>
  <p:clrMapOvr>
    <a:masterClrMapping/>
  </p:clrMapOvr>
  <p:transition spd="slow"/>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26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通过扫描进行模式匹配（</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755650" y="1447800"/>
            <a:ext cx="78486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一个特殊的匹配方法</a:t>
            </a:r>
            <a:endParaRPr kumimoji="0" lang="en-GB"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使用</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rPr>
              <a:t>LR</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分析器完成模式匹配</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输入树可以用前缀方式表示为一个串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8-19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的树表示为：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ind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a</a:t>
            </a:r>
            <a:r>
              <a:rPr kumimoji="0" lang="zh-CN" altLang="en-US"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SP</a:t>
            </a:r>
            <a:r>
              <a:rPr kumimoji="0" lang="zh-CN" altLang="en-US"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ind</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i</a:t>
            </a:r>
            <a:r>
              <a:rPr kumimoji="0" lang="zh-CN" altLang="en-US"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SP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b</a:t>
            </a:r>
            <a:r>
              <a:rPr kumimoji="0" lang="zh-CN" altLang="en-US" sz="2000" b="1" i="1"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2000" b="1" i="1"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rPr>
              <a:t>1</a:t>
            </a:r>
            <a:endParaRPr kumimoji="0" lang="en-US" altLang="zh-CN" sz="2000" b="1" i="1" u="none" strike="noStrike" kern="0" cap="none" spc="0" normalizeH="0" baseline="-2500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树翻译方案转换为语法制导的翻译方案（如下页所示）</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将每个树重写规则替换为相应的上下文无关文法的产生式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产生式的右部是该重写规则指令模板的前缀表示方式</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8-21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的翻译方案中：</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文法非终结符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M</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表示特定的内存位置</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2057400" marR="0" lvl="4"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产生式</a:t>
            </a:r>
            <a:r>
              <a:rPr kumimoji="0" lang="en-US" altLang="zh-CN" sz="1600" b="1" i="0" u="none" strike="noStrike" kern="0" cap="none" spc="0" normalizeH="0" baseline="0" noProof="0" dirty="0" err="1">
                <a:ln>
                  <a:noFill/>
                </a:ln>
                <a:solidFill>
                  <a:schemeClr val="tx1"/>
                </a:solidFill>
                <a:effectLst/>
                <a:uLnTx/>
                <a:uFillTx/>
                <a:latin typeface="+mn-lt"/>
                <a:ea typeface="宋体" panose="02010600030101010101" pitchFamily="2" charset="-122"/>
              </a:rPr>
              <a:t>M→m</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表示：在使用涉及</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的某个模板前，首先把</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rPr>
              <a:t>匹配</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终结符</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sp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表示寄存器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SP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，并增加产生式</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R→sp</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终结符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表示常量</a:t>
            </a:r>
            <a:endParaRPr kumimoji="0" lang="zh-CN" altLang="en-GB"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47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通过扫描进行模式匹配（</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14723" name="Rectangle 3"/>
          <p:cNvSpPr>
            <a:spLocks noGrp="1"/>
          </p:cNvSpPr>
          <p:nvPr>
            <p:ph idx="1"/>
          </p:nvPr>
        </p:nvSpPr>
        <p:spPr>
          <a:xfrm>
            <a:off x="755650" y="1447800"/>
            <a:ext cx="7848600" cy="4724400"/>
          </a:xfrm>
        </p:spPr>
        <p:txBody>
          <a:bodyPr vert="horz" wrap="square" lIns="92075" tIns="46038" rIns="92075" bIns="46038" anchor="t" anchorCtr="0"/>
          <a:p>
            <a:r>
              <a:rPr lang="zh-CN" altLang="en-US" sz="2400" b="1" dirty="0">
                <a:ea typeface="宋体" panose="02010600030101010101" pitchFamily="2" charset="-122"/>
              </a:rPr>
              <a:t>例</a:t>
            </a:r>
            <a:r>
              <a:rPr lang="en-US" altLang="zh-CN" sz="2400" b="1" dirty="0">
                <a:ea typeface="宋体" panose="02010600030101010101" pitchFamily="2" charset="-122"/>
              </a:rPr>
              <a:t>8.21</a:t>
            </a:r>
            <a:r>
              <a:rPr lang="zh-CN" altLang="en-US" sz="2400" b="1" dirty="0">
                <a:ea typeface="宋体" panose="02010600030101010101" pitchFamily="2" charset="-122"/>
              </a:rPr>
              <a:t>：由图</a:t>
            </a:r>
            <a:r>
              <a:rPr lang="en-US" altLang="zh-CN" sz="2400" b="1" dirty="0">
                <a:ea typeface="宋体" panose="02010600030101010101" pitchFamily="2" charset="-122"/>
              </a:rPr>
              <a:t>8-20</a:t>
            </a:r>
            <a:r>
              <a:rPr lang="zh-CN" altLang="en-US" sz="2400" b="1" dirty="0">
                <a:ea typeface="宋体" panose="02010600030101010101" pitchFamily="2" charset="-122"/>
              </a:rPr>
              <a:t>构造的语法制导翻译方案</a:t>
            </a:r>
            <a:endParaRPr lang="en-GB" altLang="zh-CN" sz="2400" b="1" dirty="0">
              <a:ea typeface="宋体" panose="02010600030101010101" pitchFamily="2" charset="-122"/>
            </a:endParaRPr>
          </a:p>
        </p:txBody>
      </p:sp>
      <p:pic>
        <p:nvPicPr>
          <p:cNvPr id="414724" name="Picture 2"/>
          <p:cNvPicPr>
            <a:picLocks noChangeAspect="1"/>
          </p:cNvPicPr>
          <p:nvPr/>
        </p:nvPicPr>
        <p:blipFill>
          <a:blip r:embed="rId1"/>
          <a:stretch>
            <a:fillRect/>
          </a:stretch>
        </p:blipFill>
        <p:spPr>
          <a:xfrm>
            <a:off x="381000" y="2060575"/>
            <a:ext cx="8331200" cy="3913188"/>
          </a:xfrm>
          <a:prstGeom prst="rect">
            <a:avLst/>
          </a:prstGeom>
          <a:noFill/>
          <a:ln w="9525">
            <a:noFill/>
          </a:ln>
        </p:spPr>
      </p:pic>
    </p:spTree>
  </p:cSld>
  <p:clrMapOvr>
    <a:masterClrMapping/>
  </p:clrMapOvr>
  <p:transition spd="slow"/>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67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通过扫描进行模式匹配（</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16771" name="Rectangle 3"/>
          <p:cNvSpPr>
            <a:spLocks noGrp="1"/>
          </p:cNvSpPr>
          <p:nvPr>
            <p:ph idx="1"/>
          </p:nvPr>
        </p:nvSpPr>
        <p:spPr>
          <a:xfrm>
            <a:off x="611188" y="1371600"/>
            <a:ext cx="7993062" cy="4800600"/>
          </a:xfrm>
        </p:spPr>
        <p:txBody>
          <a:bodyPr vert="horz" wrap="square" lIns="92075" tIns="46038" rIns="92075" bIns="46038" anchor="t" anchorCtr="0"/>
          <a:p>
            <a:r>
              <a:rPr lang="zh-CN" altLang="en-US" sz="2400" b="1" dirty="0">
                <a:ea typeface="宋体" panose="02010600030101010101" pitchFamily="2" charset="-122"/>
              </a:rPr>
              <a:t>可以利用某个</a:t>
            </a:r>
            <a:r>
              <a:rPr lang="en-US" altLang="zh-CN" sz="2400" b="1" dirty="0">
                <a:ea typeface="宋体" panose="02010600030101010101" pitchFamily="2" charset="-122"/>
              </a:rPr>
              <a:t>LR</a:t>
            </a:r>
            <a:r>
              <a:rPr lang="zh-CN" altLang="en-US" sz="2400" b="1" dirty="0">
                <a:ea typeface="宋体" panose="02010600030101010101" pitchFamily="2" charset="-122"/>
              </a:rPr>
              <a:t>语法分析器实现上述翻译方案</a:t>
            </a:r>
            <a:endParaRPr lang="en-US" altLang="zh-CN" sz="2400" b="1" dirty="0">
              <a:ea typeface="宋体" panose="02010600030101010101" pitchFamily="2" charset="-122"/>
            </a:endParaRPr>
          </a:p>
          <a:p>
            <a:pPr lvl="1"/>
            <a:r>
              <a:rPr lang="zh-CN" altLang="en-US" sz="2200" b="1" dirty="0">
                <a:ea typeface="宋体" panose="02010600030101010101" pitchFamily="2" charset="-122"/>
              </a:rPr>
              <a:t>目标代码通过每一步归约中发出的机器指令来生成</a:t>
            </a:r>
            <a:endParaRPr lang="en-US" altLang="zh-CN" sz="2200" b="1" dirty="0">
              <a:ea typeface="宋体" panose="02010600030101010101" pitchFamily="2" charset="-122"/>
            </a:endParaRPr>
          </a:p>
          <a:p>
            <a:pPr lvl="1"/>
            <a:r>
              <a:rPr lang="zh-CN" altLang="en-US" sz="2200" b="1" dirty="0">
                <a:ea typeface="宋体" panose="02010600030101010101" pitchFamily="2" charset="-122"/>
              </a:rPr>
              <a:t>优点：</a:t>
            </a:r>
            <a:endParaRPr lang="en-US" altLang="zh-CN" sz="2200" b="1" dirty="0">
              <a:ea typeface="宋体" panose="02010600030101010101" pitchFamily="2" charset="-122"/>
            </a:endParaRPr>
          </a:p>
          <a:p>
            <a:pPr lvl="2"/>
            <a:r>
              <a:rPr lang="zh-CN" altLang="en-US" sz="2000" b="1" dirty="0">
                <a:ea typeface="宋体" panose="02010600030101010101" pitchFamily="2" charset="-122"/>
              </a:rPr>
              <a:t>语法分析方法高效且易理解</a:t>
            </a:r>
            <a:endParaRPr lang="en-US" altLang="zh-CN" sz="2000" b="1" dirty="0">
              <a:ea typeface="宋体" panose="02010600030101010101" pitchFamily="2" charset="-122"/>
            </a:endParaRPr>
          </a:p>
          <a:p>
            <a:pPr lvl="2"/>
            <a:r>
              <a:rPr lang="zh-CN" altLang="en-US" sz="2000" b="1" dirty="0">
                <a:ea typeface="宋体" panose="02010600030101010101" pitchFamily="2" charset="-122"/>
              </a:rPr>
              <a:t>较容易为所得代码生成器重新确定目标，改写文法即可</a:t>
            </a:r>
            <a:endParaRPr lang="en-US" altLang="zh-CN" sz="2000" b="1" dirty="0">
              <a:ea typeface="宋体" panose="02010600030101010101" pitchFamily="2" charset="-122"/>
            </a:endParaRPr>
          </a:p>
          <a:p>
            <a:pPr lvl="2"/>
            <a:r>
              <a:rPr lang="zh-CN" altLang="en-US" sz="2000" b="1" dirty="0">
                <a:ea typeface="宋体" panose="02010600030101010101" pitchFamily="2" charset="-122"/>
              </a:rPr>
              <a:t>可通过增加特殊产生式利用机器特有的指令，生成高效代码</a:t>
            </a:r>
            <a:endParaRPr lang="en-US" altLang="zh-CN" sz="2000" b="1" dirty="0">
              <a:ea typeface="宋体" panose="02010600030101010101" pitchFamily="2" charset="-122"/>
            </a:endParaRPr>
          </a:p>
          <a:p>
            <a:pPr lvl="1"/>
            <a:r>
              <a:rPr lang="zh-CN" altLang="en-US" sz="2200" b="1" dirty="0">
                <a:ea typeface="宋体" panose="02010600030101010101" pitchFamily="2" charset="-122"/>
              </a:rPr>
              <a:t>要小心处理翻译中二义性</a:t>
            </a:r>
            <a:endParaRPr lang="en-US" altLang="zh-CN" sz="2200" b="1" dirty="0">
              <a:ea typeface="宋体" panose="02010600030101010101" pitchFamily="2" charset="-122"/>
            </a:endParaRPr>
          </a:p>
          <a:p>
            <a:pPr lvl="2"/>
            <a:r>
              <a:rPr lang="zh-CN" altLang="en-US" sz="2000" b="1" dirty="0">
                <a:ea typeface="宋体" panose="02010600030101010101" pitchFamily="2" charset="-122"/>
              </a:rPr>
              <a:t>如果不考虑指令代价，则总体原则是执行较大的归约</a:t>
            </a:r>
            <a:endParaRPr lang="en-US" altLang="zh-CN" sz="2000" b="1" dirty="0">
              <a:ea typeface="宋体" panose="02010600030101010101" pitchFamily="2" charset="-122"/>
            </a:endParaRPr>
          </a:p>
          <a:p>
            <a:pPr lvl="3"/>
            <a:r>
              <a:rPr lang="zh-CN" altLang="en-US" sz="1800" b="1" dirty="0">
                <a:ea typeface="宋体" panose="02010600030101010101" pitchFamily="2" charset="-122"/>
              </a:rPr>
              <a:t>归约</a:t>
            </a:r>
            <a:r>
              <a:rPr lang="en-US" altLang="zh-CN" sz="1800" b="1" dirty="0">
                <a:ea typeface="宋体" panose="02010600030101010101" pitchFamily="2" charset="-122"/>
              </a:rPr>
              <a:t>-</a:t>
            </a:r>
            <a:r>
              <a:rPr lang="zh-CN" altLang="en-US" sz="1800" b="1" dirty="0">
                <a:ea typeface="宋体" panose="02010600030101010101" pitchFamily="2" charset="-122"/>
              </a:rPr>
              <a:t>归约冲突中，倾向于选择较长串的归约</a:t>
            </a:r>
            <a:endParaRPr lang="en-US" altLang="zh-CN" sz="1800" b="1" dirty="0">
              <a:ea typeface="宋体" panose="02010600030101010101" pitchFamily="2" charset="-122"/>
            </a:endParaRPr>
          </a:p>
          <a:p>
            <a:pPr lvl="3"/>
            <a:r>
              <a:rPr lang="zh-CN" altLang="en-US" sz="1800" b="1" dirty="0">
                <a:ea typeface="宋体" panose="02010600030101010101" pitchFamily="2" charset="-122"/>
              </a:rPr>
              <a:t>移进</a:t>
            </a:r>
            <a:r>
              <a:rPr lang="en-US" altLang="zh-CN" sz="1800" b="1" dirty="0">
                <a:ea typeface="宋体" panose="02010600030101010101" pitchFamily="2" charset="-122"/>
              </a:rPr>
              <a:t>-</a:t>
            </a:r>
            <a:r>
              <a:rPr lang="zh-CN" altLang="en-US" sz="1800" b="1" dirty="0">
                <a:ea typeface="宋体" panose="02010600030101010101" pitchFamily="2" charset="-122"/>
              </a:rPr>
              <a:t>归约冲突中，优先选择移进</a:t>
            </a:r>
            <a:endParaRPr lang="en-US" altLang="zh-CN" sz="1800" b="1" dirty="0">
              <a:ea typeface="宋体" panose="02010600030101010101" pitchFamily="2" charset="-122"/>
            </a:endParaRPr>
          </a:p>
          <a:p>
            <a:pPr lvl="2"/>
            <a:r>
              <a:rPr lang="zh-CN" altLang="en-US" sz="2000" b="1" dirty="0">
                <a:ea typeface="宋体" panose="02010600030101010101" pitchFamily="2" charset="-122"/>
              </a:rPr>
              <a:t>可使得多个运算由一条机器指令完成</a:t>
            </a:r>
            <a:endParaRPr lang="en-US" altLang="zh-CN" sz="2000" b="1" dirty="0">
              <a:ea typeface="宋体" panose="02010600030101010101" pitchFamily="2" charset="-122"/>
            </a:endParaRPr>
          </a:p>
          <a:p>
            <a:pPr lvl="1"/>
            <a:r>
              <a:rPr lang="zh-CN" altLang="en-US" sz="2200" b="1" dirty="0">
                <a:ea typeface="宋体" panose="02010600030101010101" pitchFamily="2" charset="-122"/>
              </a:rPr>
              <a:t>需要注意的问题</a:t>
            </a:r>
            <a:endParaRPr lang="en-US" altLang="zh-CN" sz="2200" b="1" dirty="0">
              <a:ea typeface="宋体" panose="02010600030101010101" pitchFamily="2" charset="-122"/>
            </a:endParaRPr>
          </a:p>
          <a:p>
            <a:pPr lvl="2"/>
            <a:r>
              <a:rPr lang="zh-CN" altLang="en-US" sz="2000" b="1" dirty="0">
                <a:ea typeface="宋体" panose="02010600030101010101" pitchFamily="2" charset="-122"/>
              </a:rPr>
              <a:t>求值过程必须是从左到右的</a:t>
            </a:r>
            <a:endParaRPr lang="en-US" altLang="zh-CN" sz="2000" b="1" dirty="0">
              <a:ea typeface="宋体" panose="02010600030101010101" pitchFamily="2" charset="-122"/>
            </a:endParaRPr>
          </a:p>
          <a:p>
            <a:pPr lvl="2"/>
            <a:r>
              <a:rPr lang="zh-CN" altLang="en-US" sz="2000" b="1" dirty="0">
                <a:ea typeface="宋体" panose="02010600030101010101" pitchFamily="2" charset="-122"/>
              </a:rPr>
              <a:t>避免阻塞等</a:t>
            </a:r>
            <a:endParaRPr lang="en-US" altLang="zh-CN" sz="2000" b="1" dirty="0">
              <a:ea typeface="宋体" panose="02010600030101010101" pitchFamily="2" charset="-122"/>
            </a:endParaRPr>
          </a:p>
        </p:txBody>
      </p:sp>
    </p:spTree>
  </p:cSld>
  <p:clrMapOvr>
    <a:masterClrMapping/>
  </p:clrMapOvr>
  <p:transition spd="slow"/>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88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用于语义检查的例程</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914400" y="1447800"/>
            <a:ext cx="7543800" cy="47244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解决翻译方案中属性下标取值限制等问题</a:t>
            </a:r>
            <a:endParaRPr kumimoji="0" lang="en-GB"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可用断言来实现，如下图，归约时根据断言满足的情况选择对应的动作</a:t>
            </a:r>
            <a:endParaRPr kumimoji="0" lang="zh-CN" altLang="en-GB"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可以通过特定的断言消除二义性</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允许不同的上下文使用不同的选择策略</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解决语法分析中动作冲突的问题</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418820" name="图片 1"/>
          <p:cNvPicPr>
            <a:picLocks noChangeAspect="1"/>
          </p:cNvPicPr>
          <p:nvPr/>
        </p:nvPicPr>
        <p:blipFill>
          <a:blip r:embed="rId1"/>
          <a:stretch>
            <a:fillRect/>
          </a:stretch>
        </p:blipFill>
        <p:spPr>
          <a:xfrm>
            <a:off x="1619250" y="2635250"/>
            <a:ext cx="4645025" cy="1081088"/>
          </a:xfrm>
          <a:prstGeom prst="rect">
            <a:avLst/>
          </a:prstGeom>
          <a:noFill/>
          <a:ln w="9525">
            <a:noFill/>
          </a:ln>
        </p:spPr>
      </p:pic>
    </p:spTree>
  </p:cSld>
  <p:clrMapOvr>
    <a:masterClrMapping/>
  </p:clrMapOvr>
  <p:transition spd="slow"/>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08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通用的树匹配方法（</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20867"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基于前缀的用于模式匹配的</a:t>
            </a:r>
            <a:r>
              <a:rPr lang="en-US" altLang="zh-CN" sz="2400" b="1" dirty="0">
                <a:ea typeface="宋体" panose="02010600030101010101" pitchFamily="2" charset="-122"/>
              </a:rPr>
              <a:t>LR</a:t>
            </a:r>
            <a:r>
              <a:rPr lang="zh-CN" altLang="en-US" sz="2400" b="1" dirty="0">
                <a:ea typeface="宋体" panose="02010600030101010101" pitchFamily="2" charset="-122"/>
              </a:rPr>
              <a:t>语法分析方法优先处理双目算符中的左运算分量</a:t>
            </a:r>
            <a:endParaRPr lang="en-US" altLang="zh-CN" sz="2400" b="1" dirty="0">
              <a:ea typeface="宋体" panose="02010600030101010101" pitchFamily="2" charset="-122"/>
            </a:endParaRPr>
          </a:p>
          <a:p>
            <a:pPr lvl="1"/>
            <a:r>
              <a:rPr lang="zh-CN" altLang="en-US" sz="2200" b="1" dirty="0">
                <a:ea typeface="宋体" panose="02010600030101010101" pitchFamily="2" charset="-122"/>
              </a:rPr>
              <a:t>语义动作的决定必须根据某个前缀做出</a:t>
            </a:r>
            <a:endParaRPr lang="en-US" altLang="zh-CN" sz="2200" b="1" dirty="0">
              <a:ea typeface="宋体" panose="02010600030101010101" pitchFamily="2" charset="-122"/>
            </a:endParaRPr>
          </a:p>
          <a:p>
            <a:pPr lvl="1"/>
            <a:r>
              <a:rPr lang="zh-CN" altLang="en-US" sz="2200" b="1" dirty="0">
                <a:ea typeface="宋体" panose="02010600030101010101" pitchFamily="2" charset="-122"/>
              </a:rPr>
              <a:t>由于左运算分量长度的不确定性，即便右运算分量可能会带来一些选择较好指令的机会，也可能被错失</a:t>
            </a:r>
            <a:endParaRPr lang="en-US" altLang="zh-CN" sz="2200" b="1" dirty="0">
              <a:ea typeface="宋体" panose="02010600030101010101" pitchFamily="2" charset="-122"/>
            </a:endParaRPr>
          </a:p>
          <a:p>
            <a:r>
              <a:rPr lang="zh-CN" altLang="en-US" sz="2400" b="1" dirty="0">
                <a:ea typeface="宋体" panose="02010600030101010101" pitchFamily="2" charset="-122"/>
              </a:rPr>
              <a:t>基于后缀方式，则</a:t>
            </a:r>
            <a:r>
              <a:rPr lang="en-US" altLang="zh-CN" sz="2400" b="1" dirty="0">
                <a:ea typeface="宋体" panose="02010600030101010101" pitchFamily="2" charset="-122"/>
              </a:rPr>
              <a:t>LR</a:t>
            </a:r>
            <a:r>
              <a:rPr lang="zh-CN" altLang="en-US" sz="2400" b="1" dirty="0">
                <a:ea typeface="宋体" panose="02010600030101010101" pitchFamily="2" charset="-122"/>
              </a:rPr>
              <a:t>方法会优先处理右运算分量</a:t>
            </a:r>
            <a:endParaRPr lang="en-US" altLang="zh-CN" sz="2400" b="1" dirty="0">
              <a:ea typeface="宋体" panose="02010600030101010101" pitchFamily="2" charset="-122"/>
            </a:endParaRPr>
          </a:p>
          <a:p>
            <a:r>
              <a:rPr lang="zh-CN" altLang="en-US" sz="2400" b="1" dirty="0">
                <a:ea typeface="宋体" panose="02010600030101010101" pitchFamily="2" charset="-122"/>
              </a:rPr>
              <a:t>用图</a:t>
            </a:r>
            <a:r>
              <a:rPr lang="en-US" altLang="zh-CN" sz="2400" b="1" dirty="0">
                <a:ea typeface="宋体" panose="02010600030101010101" pitchFamily="2" charset="-122"/>
              </a:rPr>
              <a:t>8-20</a:t>
            </a:r>
            <a:r>
              <a:rPr lang="zh-CN" altLang="en-US" sz="2400" b="1" dirty="0">
                <a:ea typeface="宋体" panose="02010600030101010101" pitchFamily="2" charset="-122"/>
              </a:rPr>
              <a:t>所示树模板作指南，手写一个代码生成器</a:t>
            </a:r>
            <a:endParaRPr lang="en-US" altLang="zh-CN" sz="2400" b="1" dirty="0">
              <a:ea typeface="宋体" panose="02010600030101010101" pitchFamily="2" charset="-122"/>
            </a:endParaRPr>
          </a:p>
          <a:p>
            <a:pPr lvl="1"/>
            <a:r>
              <a:rPr lang="zh-CN" altLang="en-US" sz="2200" b="1" dirty="0">
                <a:ea typeface="宋体" panose="02010600030101010101" pitchFamily="2" charset="-122"/>
              </a:rPr>
              <a:t>编写专用的匹配程序，如</a:t>
            </a:r>
            <a:endParaRPr lang="en-US" altLang="zh-CN" sz="2200" b="1" dirty="0">
              <a:ea typeface="宋体" panose="02010600030101010101" pitchFamily="2" charset="-122"/>
            </a:endParaRPr>
          </a:p>
          <a:p>
            <a:pPr lvl="2"/>
            <a:r>
              <a:rPr lang="zh-CN" altLang="en-US" sz="2000" b="1" dirty="0">
                <a:ea typeface="宋体" panose="02010600030101010101" pitchFamily="2" charset="-122"/>
              </a:rPr>
              <a:t>如果输入树的根的标号是</a:t>
            </a:r>
            <a:r>
              <a:rPr lang="en-US" altLang="zh-CN" sz="2000" b="1" dirty="0">
                <a:ea typeface="宋体" panose="02010600030101010101" pitchFamily="2" charset="-122"/>
              </a:rPr>
              <a:t>ind</a:t>
            </a:r>
            <a:r>
              <a:rPr lang="zh-CN" altLang="en-US" sz="2000" b="1" dirty="0">
                <a:ea typeface="宋体" panose="02010600030101010101" pitchFamily="2" charset="-122"/>
              </a:rPr>
              <a:t>，则唯一能匹配的是规则</a:t>
            </a:r>
            <a:r>
              <a:rPr lang="en-US" altLang="zh-CN" sz="2000" b="1" dirty="0">
                <a:ea typeface="宋体" panose="02010600030101010101" pitchFamily="2" charset="-122"/>
              </a:rPr>
              <a:t>5</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如果根的标号是</a:t>
            </a:r>
            <a:r>
              <a:rPr lang="en-US" altLang="zh-CN" sz="2000" b="1" dirty="0">
                <a:ea typeface="宋体" panose="02010600030101010101" pitchFamily="2" charset="-122"/>
              </a:rPr>
              <a:t>+</a:t>
            </a:r>
            <a:r>
              <a:rPr lang="zh-CN" altLang="en-US" sz="2000" b="1" dirty="0">
                <a:ea typeface="宋体" panose="02010600030101010101" pitchFamily="2" charset="-122"/>
              </a:rPr>
              <a:t>，则可能匹配的是规则</a:t>
            </a:r>
            <a:r>
              <a:rPr lang="en-US" altLang="zh-CN" sz="2000" b="1" dirty="0">
                <a:ea typeface="宋体" panose="02010600030101010101" pitchFamily="2" charset="-122"/>
              </a:rPr>
              <a:t>6~8</a:t>
            </a:r>
            <a:r>
              <a:rPr lang="zh-CN" altLang="en-US" sz="2000" b="1" dirty="0">
                <a:ea typeface="宋体" panose="02010600030101010101" pitchFamily="2" charset="-122"/>
              </a:rPr>
              <a:t>的模式</a:t>
            </a:r>
            <a:endParaRPr lang="en-GB" altLang="zh-CN" sz="2000" b="1" dirty="0">
              <a:ea typeface="宋体" panose="02010600030101010101" pitchFamily="2" charset="-122"/>
            </a:endParaRPr>
          </a:p>
        </p:txBody>
      </p:sp>
    </p:spTree>
  </p:cSld>
  <p:clrMapOvr>
    <a:masterClrMapping/>
  </p:clrMapOvr>
  <p:transition spd="slow"/>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29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通用的树匹配方法（</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16067" name="Rectangle 3"/>
          <p:cNvSpPr>
            <a:spLocks noGrp="1" noChangeArrowheads="1"/>
          </p:cNvSpPr>
          <p:nvPr>
            <p:ph idx="1"/>
          </p:nvPr>
        </p:nvSpPr>
        <p:spPr>
          <a:xfrm>
            <a:off x="914400" y="1371600"/>
            <a:ext cx="7543800" cy="4800600"/>
          </a:xfrm>
        </p:spPr>
        <p:txBody>
          <a:bodyPr vert="horz" wrap="square" lIns="92075" tIns="46038" rIns="92075" bIns="46038"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通用的树匹配算法</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扩展第</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章的串模式匹配技术</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把每个模板表示成一个串的集合，每个串对应模板中的一条从根到某个叶结点的路径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在串中（从左到右）</a:t>
            </a:r>
            <a:r>
              <a:rPr kumimoji="0" lang="zh-CN" altLang="en-US" sz="1800" b="1" i="0" u="none" strike="noStrike" kern="0" cap="none" spc="0" normalizeH="0" baseline="0" noProof="0">
                <a:ln>
                  <a:noFill/>
                </a:ln>
                <a:solidFill>
                  <a:schemeClr val="tx1"/>
                </a:solidFill>
                <a:effectLst/>
                <a:uLnTx/>
                <a:uFillTx/>
                <a:latin typeface="+mn-lt"/>
                <a:ea typeface="宋体" panose="02010600030101010101" pitchFamily="2" charset="-122"/>
              </a:rPr>
              <a:t>为每个子结点</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加入位置编号，平等地处理每个运算分量</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8.22</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在处理一个指令集构造串集合时，去掉下标，因为只需要考虑属性，不需要考虑它们的值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图</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8-22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有如下的从根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到叶子结点的串集合</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R</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C</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+ 2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ind</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1 + 2 R</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+ 2 R</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422916" name="Picture 2"/>
          <p:cNvPicPr>
            <a:picLocks noChangeAspect="1"/>
          </p:cNvPicPr>
          <p:nvPr/>
        </p:nvPicPr>
        <p:blipFill>
          <a:blip r:embed="rId1"/>
          <a:stretch>
            <a:fillRect/>
          </a:stretch>
        </p:blipFill>
        <p:spPr>
          <a:xfrm>
            <a:off x="4284663" y="4581525"/>
            <a:ext cx="4821237" cy="2276475"/>
          </a:xfrm>
          <a:prstGeom prst="rect">
            <a:avLst/>
          </a:prstGeom>
          <a:noFill/>
          <a:ln w="9525">
            <a:noFill/>
          </a:ln>
        </p:spPr>
      </p:pic>
    </p:spTree>
  </p:cSld>
  <p:clrMapOvr>
    <a:masterClrMapping/>
  </p:clrMapOvr>
  <p:transition spd="slow"/>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49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通用的树匹配方法（</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24963" name="Rectangle 3"/>
          <p:cNvSpPr>
            <a:spLocks noGrp="1"/>
          </p:cNvSpPr>
          <p:nvPr>
            <p:ph idx="1"/>
          </p:nvPr>
        </p:nvSpPr>
        <p:spPr>
          <a:xfrm>
            <a:off x="755650" y="1447800"/>
            <a:ext cx="7702550" cy="4724400"/>
          </a:xfrm>
        </p:spPr>
        <p:txBody>
          <a:bodyPr vert="horz" wrap="square" lIns="92075" tIns="46038" rIns="92075" bIns="46038" anchor="t" anchorCtr="0"/>
          <a:p>
            <a:r>
              <a:rPr lang="zh-CN" altLang="en-US" sz="2400" b="1" dirty="0">
                <a:ea typeface="宋体" panose="02010600030101010101" pitchFamily="2" charset="-122"/>
              </a:rPr>
              <a:t>例</a:t>
            </a:r>
            <a:r>
              <a:rPr lang="en-US" altLang="zh-CN" sz="2400" b="1" dirty="0">
                <a:ea typeface="宋体" panose="02010600030101010101" pitchFamily="2" charset="-122"/>
              </a:rPr>
              <a:t>8.22</a:t>
            </a:r>
            <a:r>
              <a:rPr lang="zh-CN" altLang="en-US" sz="2400" b="1" dirty="0">
                <a:ea typeface="宋体" panose="02010600030101010101" pitchFamily="2" charset="-122"/>
              </a:rPr>
              <a:t>构造的匹配程序使用了可以高效地并行匹配多个串的技术</a:t>
            </a:r>
            <a:endParaRPr lang="en-US" altLang="zh-CN" sz="2400" b="1" dirty="0">
              <a:ea typeface="宋体" panose="02010600030101010101" pitchFamily="2" charset="-122"/>
            </a:endParaRPr>
          </a:p>
          <a:p>
            <a:r>
              <a:rPr lang="zh-CN" altLang="en-US" sz="2400" b="1" dirty="0">
                <a:ea typeface="宋体" panose="02010600030101010101" pitchFamily="2" charset="-122"/>
              </a:rPr>
              <a:t>实践中，树重写过程的实现参考</a:t>
            </a:r>
            <a:endParaRPr lang="en-US" altLang="zh-CN" sz="2400" b="1" dirty="0">
              <a:ea typeface="宋体" panose="02010600030101010101" pitchFamily="2" charset="-122"/>
            </a:endParaRPr>
          </a:p>
          <a:p>
            <a:pPr lvl="1"/>
            <a:r>
              <a:rPr lang="zh-CN" altLang="en-US" sz="2200" b="1" dirty="0">
                <a:ea typeface="宋体" panose="02010600030101010101" pitchFamily="2" charset="-122"/>
              </a:rPr>
              <a:t>对输入树进行深度优先遍历的同时运行树模式匹配程序</a:t>
            </a:r>
            <a:endParaRPr lang="en-US" altLang="zh-CN" sz="2200" b="1" dirty="0">
              <a:ea typeface="宋体" panose="02010600030101010101" pitchFamily="2" charset="-122"/>
            </a:endParaRPr>
          </a:p>
          <a:p>
            <a:pPr lvl="1"/>
            <a:r>
              <a:rPr lang="zh-CN" altLang="en-US" sz="2200" b="1" dirty="0">
                <a:ea typeface="宋体" panose="02010600030101010101" pitchFamily="2" charset="-122"/>
              </a:rPr>
              <a:t>在最后一次访问这个结点时进行归约</a:t>
            </a:r>
            <a:endParaRPr lang="en-US" altLang="zh-CN" sz="2200" b="1" dirty="0">
              <a:ea typeface="宋体" panose="02010600030101010101" pitchFamily="2" charset="-122"/>
            </a:endParaRPr>
          </a:p>
          <a:p>
            <a:r>
              <a:rPr lang="zh-CN" altLang="en-US" sz="2400" b="1" dirty="0">
                <a:ea typeface="宋体" panose="02010600030101010101" pitchFamily="2" charset="-122"/>
              </a:rPr>
              <a:t>可以给每个树重写规则关联一个代价值，从而考虑指令代价问题</a:t>
            </a:r>
            <a:endParaRPr lang="en-US" altLang="zh-CN" sz="2400" b="1" dirty="0">
              <a:ea typeface="宋体" panose="02010600030101010101" pitchFamily="2" charset="-122"/>
            </a:endParaRPr>
          </a:p>
          <a:p>
            <a:r>
              <a:rPr lang="zh-CN" altLang="en-US" sz="2400" b="1" dirty="0">
                <a:ea typeface="宋体" panose="02010600030101010101" pitchFamily="2" charset="-122"/>
              </a:rPr>
              <a:t>可构建一个与树匹配算法联合使用的动态优化算法</a:t>
            </a:r>
            <a:endParaRPr lang="en-US" altLang="zh-CN" sz="2400" b="1" dirty="0">
              <a:ea typeface="宋体" panose="02010600030101010101" pitchFamily="2" charset="-122"/>
            </a:endParaRPr>
          </a:p>
          <a:p>
            <a:pPr lvl="1"/>
            <a:r>
              <a:rPr lang="zh-CN" altLang="en-US" sz="2200" b="1" dirty="0">
                <a:ea typeface="宋体" panose="02010600030101010101" pitchFamily="2" charset="-122"/>
              </a:rPr>
              <a:t>可通过并行地运行动态规划算法，利用各个规则相关的代价信息选择一个最优的匹配序列</a:t>
            </a:r>
            <a:endParaRPr lang="en-US" altLang="zh-CN" sz="2200" b="1" dirty="0">
              <a:ea typeface="宋体" panose="02010600030101010101" pitchFamily="2" charset="-122"/>
            </a:endParaRPr>
          </a:p>
        </p:txBody>
      </p:sp>
    </p:spTree>
  </p:cSld>
  <p:clrMapOvr>
    <a:masterClrMapping/>
  </p:clrMapOvr>
  <p:transition spd="slow"/>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70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第八章	代码生成和优化</a:t>
            </a:r>
            <a:endParaRPr lang="en-US" altLang="zh-CN" dirty="0">
              <a:latin typeface="Times New Roman" panose="02020603050405020304" pitchFamily="18" charset="0"/>
              <a:ea typeface="宋体" panose="02010600030101010101" pitchFamily="2" charset="-122"/>
            </a:endParaRPr>
          </a:p>
        </p:txBody>
      </p:sp>
      <p:sp>
        <p:nvSpPr>
          <p:cNvPr id="427011" name="Rectangle 3"/>
          <p:cNvSpPr>
            <a:spLocks noGrp="1"/>
          </p:cNvSpPr>
          <p:nvPr>
            <p:ph idx="1"/>
          </p:nvPr>
        </p:nvSpPr>
        <p:spPr>
          <a:xfrm>
            <a:off x="990600" y="1371600"/>
            <a:ext cx="7391400" cy="4419600"/>
          </a:xfrm>
        </p:spPr>
        <p:txBody>
          <a:bodyPr vert="horz" wrap="square" lIns="92075" tIns="46038" rIns="92075" bIns="46038" anchor="t" anchorCtr="0"/>
          <a:p>
            <a:pPr>
              <a:lnSpc>
                <a:spcPct val="90000"/>
              </a:lnSpc>
              <a:spcBef>
                <a:spcPts val="600"/>
              </a:spcBef>
            </a:pPr>
            <a:r>
              <a:rPr lang="zh-CN" altLang="en-US" sz="2400" b="1" dirty="0">
                <a:solidFill>
                  <a:schemeClr val="bg2"/>
                </a:solidFill>
                <a:ea typeface="宋体" panose="02010600030101010101" pitchFamily="2" charset="-122"/>
              </a:rPr>
              <a:t>代码生成器设计中的问题</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目标语言</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目标代码中的地址</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基本块及其优化</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控制流图及流分析</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跨越基本块的优化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一个简单的代码生成器</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窥孔优化</a:t>
            </a:r>
            <a:endParaRPr lang="zh-CN" altLang="en-US"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寄存器分配和指派</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2400" b="1" dirty="0">
                <a:solidFill>
                  <a:schemeClr val="bg2"/>
                </a:solidFill>
                <a:ea typeface="宋体" panose="02010600030101010101" pitchFamily="2" charset="-122"/>
              </a:rPr>
              <a:t>通过树重写来选择指令</a:t>
            </a:r>
            <a:endParaRPr lang="en-US" altLang="zh-CN" sz="2400" b="1" dirty="0">
              <a:solidFill>
                <a:schemeClr val="bg2"/>
              </a:solidFill>
              <a:ea typeface="宋体" panose="02010600030101010101" pitchFamily="2" charset="-122"/>
            </a:endParaRPr>
          </a:p>
          <a:p>
            <a:pPr>
              <a:lnSpc>
                <a:spcPct val="90000"/>
              </a:lnSpc>
              <a:spcBef>
                <a:spcPts val="600"/>
              </a:spcBef>
            </a:pPr>
            <a:r>
              <a:rPr lang="zh-CN" altLang="en-US" sz="3000" b="1" dirty="0">
                <a:solidFill>
                  <a:srgbClr val="FF0000"/>
                </a:solidFill>
                <a:ea typeface="宋体" panose="02010600030101010101" pitchFamily="2" charset="-122"/>
              </a:rPr>
              <a:t>指令调度</a:t>
            </a:r>
            <a:endParaRPr lang="zh-CN" altLang="en-US" sz="3000" b="1" dirty="0">
              <a:solidFill>
                <a:srgbClr val="FF0000"/>
              </a:solidFill>
              <a:ea typeface="宋体" panose="02010600030101010101" pitchFamily="2" charset="-122"/>
            </a:endParaRPr>
          </a:p>
        </p:txBody>
      </p:sp>
    </p:spTree>
  </p:cSld>
  <p:clrMapOvr>
    <a:masterClrMapping/>
  </p:clrMapOvr>
  <p:transition spd="slow"/>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9058" name="Rectangle 2"/>
          <p:cNvSpPr>
            <a:spLocks noGrp="1"/>
          </p:cNvSpPr>
          <p:nvPr>
            <p:ph type="title"/>
          </p:nvPr>
        </p:nvSpPr>
        <p:spPr>
          <a:xfrm>
            <a:off x="827088" y="476250"/>
            <a:ext cx="7543800" cy="914400"/>
          </a:xfrm>
        </p:spPr>
        <p:txBody>
          <a:bodyPr vert="horz" wrap="square" lIns="92075" tIns="46038" rIns="92075" bIns="46038" anchor="ctr" anchorCtr="0"/>
          <a:p>
            <a:r>
              <a:rPr lang="zh-CN" altLang="en-US" dirty="0">
                <a:ea typeface="宋体" panose="02010600030101010101" pitchFamily="2" charset="-122"/>
              </a:rPr>
              <a:t>程序的依赖关系</a:t>
            </a:r>
            <a:endParaRPr lang="zh-CN" altLang="en-US" dirty="0">
              <a:ea typeface="宋体" panose="02010600030101010101" pitchFamily="2" charset="-122"/>
            </a:endParaRPr>
          </a:p>
        </p:txBody>
      </p:sp>
      <p:sp>
        <p:nvSpPr>
          <p:cNvPr id="429059" name="Rectangle 6"/>
          <p:cNvSpPr>
            <a:spLocks noGrp="1"/>
          </p:cNvSpPr>
          <p:nvPr>
            <p:ph idx="1"/>
          </p:nvPr>
        </p:nvSpPr>
        <p:spPr>
          <a:xfrm>
            <a:off x="990600" y="1524000"/>
            <a:ext cx="7467600" cy="4724400"/>
          </a:xfrm>
        </p:spPr>
        <p:txBody>
          <a:bodyPr vert="horz" wrap="square" lIns="92075" tIns="46038" rIns="92075" bIns="46038" anchor="t" anchorCtr="0"/>
          <a:p>
            <a:pPr marL="495300" indent="-495300">
              <a:lnSpc>
                <a:spcPct val="80000"/>
              </a:lnSpc>
            </a:pPr>
            <a:r>
              <a:rPr lang="zh-CN" altLang="en-US" sz="2200" b="1" dirty="0">
                <a:ea typeface="宋体" panose="02010600030101010101" pitchFamily="2" charset="-122"/>
              </a:rPr>
              <a:t>依赖关系是什么？</a:t>
            </a:r>
            <a:endParaRPr lang="zh-CN" altLang="en-US" sz="2200" b="1" dirty="0">
              <a:ea typeface="宋体" panose="02010600030101010101" pitchFamily="2" charset="-122"/>
            </a:endParaRPr>
          </a:p>
          <a:p>
            <a:pPr marL="914400" lvl="1" indent="-457200">
              <a:lnSpc>
                <a:spcPct val="80000"/>
              </a:lnSpc>
            </a:pPr>
            <a:r>
              <a:rPr lang="zh-CN" altLang="en-US" sz="2000" b="1" dirty="0">
                <a:ea typeface="宋体" panose="02010600030101010101" pitchFamily="2" charset="-122"/>
              </a:rPr>
              <a:t>依赖关系表明了两个语句（或操作、计算）之间在执行顺序上存在的限制</a:t>
            </a:r>
            <a:endParaRPr lang="zh-CN" altLang="en-US" sz="2000" b="1" dirty="0">
              <a:ea typeface="宋体" panose="02010600030101010101" pitchFamily="2" charset="-122"/>
            </a:endParaRPr>
          </a:p>
          <a:p>
            <a:pPr marL="1333500" lvl="2" indent="-419100">
              <a:lnSpc>
                <a:spcPct val="80000"/>
              </a:lnSpc>
            </a:pPr>
            <a:r>
              <a:rPr lang="zh-CN" altLang="en-US" sz="2000" b="1" dirty="0">
                <a:ea typeface="宋体" panose="02010600030101010101" pitchFamily="2" charset="-122"/>
              </a:rPr>
              <a:t>如果两个语句（或操作、计算）间存在着依赖关系，则这两个语句（或操作、计算）的执行必须满足依赖关系的要求</a:t>
            </a:r>
            <a:endParaRPr lang="zh-CN" altLang="en-US" sz="2000" b="1" dirty="0">
              <a:ea typeface="宋体" panose="02010600030101010101" pitchFamily="2" charset="-122"/>
            </a:endParaRPr>
          </a:p>
          <a:p>
            <a:pPr marL="1333500" lvl="2" indent="-419100">
              <a:lnSpc>
                <a:spcPct val="80000"/>
              </a:lnSpc>
            </a:pPr>
            <a:r>
              <a:rPr lang="zh-CN" altLang="en-US" sz="2000" b="1" dirty="0">
                <a:ea typeface="宋体" panose="02010600030101010101" pitchFamily="2" charset="-122"/>
              </a:rPr>
              <a:t>如果两个语句（或操作、计算）间没有依赖关系，则这两个语句（或操作、计算）可以被并行执行或调整执行的顺序。</a:t>
            </a:r>
            <a:r>
              <a:rPr lang="zh-CN" altLang="en-US" sz="2000" dirty="0">
                <a:ea typeface="宋体" panose="02010600030101010101" pitchFamily="2" charset="-122"/>
              </a:rPr>
              <a:t> </a:t>
            </a:r>
            <a:endParaRPr lang="zh-CN" altLang="en-US" sz="2000" b="1" dirty="0">
              <a:ea typeface="宋体" panose="02010600030101010101" pitchFamily="2" charset="-122"/>
            </a:endParaRPr>
          </a:p>
          <a:p>
            <a:pPr marL="914400" lvl="1" indent="-457200">
              <a:lnSpc>
                <a:spcPct val="80000"/>
              </a:lnSpc>
            </a:pPr>
            <a:r>
              <a:rPr lang="zh-CN" altLang="en-US" sz="2000" b="1" dirty="0">
                <a:ea typeface="宋体" panose="02010600030101010101" pitchFamily="2" charset="-122"/>
              </a:rPr>
              <a:t>依赖分析是分析语句（或操作、计算）间的依赖关系，从而确定它们是否可以并行执行</a:t>
            </a:r>
            <a:endParaRPr lang="zh-CN" altLang="en-US" sz="2000" b="1" dirty="0">
              <a:ea typeface="宋体" panose="02010600030101010101" pitchFamily="2" charset="-122"/>
            </a:endParaRPr>
          </a:p>
          <a:p>
            <a:pPr marL="495300" indent="-495300">
              <a:lnSpc>
                <a:spcPct val="80000"/>
              </a:lnSpc>
            </a:pPr>
            <a:r>
              <a:rPr lang="zh-CN" altLang="en-US" sz="2200" b="1" dirty="0">
                <a:ea typeface="宋体" panose="02010600030101010101" pitchFamily="2" charset="-122"/>
              </a:rPr>
              <a:t>依赖关系的分类</a:t>
            </a:r>
            <a:endParaRPr lang="zh-CN" altLang="en-US" sz="2200" b="1" dirty="0">
              <a:ea typeface="宋体" panose="02010600030101010101" pitchFamily="2" charset="-122"/>
            </a:endParaRPr>
          </a:p>
          <a:p>
            <a:pPr marL="914400" lvl="1" indent="-457200">
              <a:lnSpc>
                <a:spcPct val="80000"/>
              </a:lnSpc>
            </a:pPr>
            <a:r>
              <a:rPr lang="zh-CN" altLang="en-US" sz="2000" b="1" dirty="0">
                <a:ea typeface="宋体" panose="02010600030101010101" pitchFamily="2" charset="-122"/>
              </a:rPr>
              <a:t>数据依赖关系</a:t>
            </a:r>
            <a:endParaRPr lang="zh-CN" altLang="en-US" sz="2000" b="1" dirty="0">
              <a:ea typeface="宋体" panose="02010600030101010101" pitchFamily="2" charset="-122"/>
            </a:endParaRPr>
          </a:p>
          <a:p>
            <a:pPr marL="914400" lvl="1" indent="-457200">
              <a:lnSpc>
                <a:spcPct val="80000"/>
              </a:lnSpc>
            </a:pPr>
            <a:r>
              <a:rPr lang="zh-CN" altLang="en-US" sz="2000" b="1" dirty="0">
                <a:ea typeface="宋体" panose="02010600030101010101" pitchFamily="2" charset="-122"/>
              </a:rPr>
              <a:t>控制依赖关系</a:t>
            </a:r>
            <a:endParaRPr lang="zh-CN" altLang="en-US" sz="2000" b="1" dirty="0">
              <a:ea typeface="宋体" panose="02010600030101010101" pitchFamily="2" charset="-122"/>
            </a:endParaRPr>
          </a:p>
          <a:p>
            <a:pPr marL="1333500" lvl="2" indent="-419100">
              <a:lnSpc>
                <a:spcPct val="80000"/>
              </a:lnSpc>
            </a:pPr>
            <a:r>
              <a:rPr lang="zh-CN" altLang="en-US" sz="2000" b="1" dirty="0">
                <a:ea typeface="宋体" panose="02010600030101010101" pitchFamily="2" charset="-122"/>
              </a:rPr>
              <a:t>控制流分析的结果</a:t>
            </a:r>
            <a:endParaRPr lang="zh-CN" altLang="en-US" sz="2000" b="1" dirty="0">
              <a:ea typeface="宋体" panose="02010600030101010101" pitchFamily="2" charset="-122"/>
            </a:endParaRPr>
          </a:p>
          <a:p>
            <a:pPr marL="1333500" lvl="2" indent="-419100">
              <a:lnSpc>
                <a:spcPct val="80000"/>
              </a:lnSpc>
            </a:pPr>
            <a:r>
              <a:rPr lang="zh-CN" altLang="en-US" sz="2000" b="1" dirty="0">
                <a:ea typeface="宋体" panose="02010600030101010101" pitchFamily="2" charset="-122"/>
              </a:rPr>
              <a:t>计算的执行与否取决于控制条件是否满足</a:t>
            </a:r>
            <a:endParaRPr lang="zh-CN" altLang="en-US" sz="2000" b="1" dirty="0">
              <a:ea typeface="宋体" panose="02010600030101010101" pitchFamily="2" charset="-122"/>
            </a:endParaRPr>
          </a:p>
        </p:txBody>
      </p:sp>
    </p:spTree>
  </p:cSld>
  <p:clrMapOvr>
    <a:masterClrMapping/>
  </p:clrMapOvr>
  <p:transition spd="slow"/>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1106" name="Rectangle 2"/>
          <p:cNvSpPr>
            <a:spLocks noGrp="1"/>
          </p:cNvSpPr>
          <p:nvPr>
            <p:ph type="title"/>
          </p:nvPr>
        </p:nvSpPr>
        <p:spPr>
          <a:xfrm>
            <a:off x="838200" y="685800"/>
            <a:ext cx="7543800" cy="914400"/>
          </a:xfrm>
        </p:spPr>
        <p:txBody>
          <a:bodyPr vert="horz" wrap="square" lIns="92075" tIns="46038" rIns="92075" bIns="46038" anchor="ctr" anchorCtr="0"/>
          <a:p>
            <a:r>
              <a:rPr lang="zh-CN" altLang="en-US" dirty="0">
                <a:ea typeface="宋体" panose="02010600030101010101" pitchFamily="2" charset="-122"/>
              </a:rPr>
              <a:t>数据依赖关系的定义</a:t>
            </a:r>
            <a:endParaRPr lang="zh-CN" altLang="en-US" dirty="0">
              <a:ea typeface="宋体" panose="02010600030101010101" pitchFamily="2" charset="-122"/>
            </a:endParaRPr>
          </a:p>
        </p:txBody>
      </p:sp>
      <p:sp>
        <p:nvSpPr>
          <p:cNvPr id="431107" name="Rectangle 5"/>
          <p:cNvSpPr>
            <a:spLocks noGrp="1"/>
          </p:cNvSpPr>
          <p:nvPr>
            <p:ph idx="1"/>
          </p:nvPr>
        </p:nvSpPr>
        <p:spPr>
          <a:xfrm>
            <a:off x="990600" y="1524000"/>
            <a:ext cx="7467600" cy="4724400"/>
          </a:xfrm>
        </p:spPr>
        <p:txBody>
          <a:bodyPr vert="horz" wrap="square" lIns="92075" tIns="46038" rIns="92075" bIns="46038" anchor="t" anchorCtr="0"/>
          <a:p>
            <a:pPr marL="495300" indent="-495300"/>
            <a:r>
              <a:rPr lang="zh-CN" altLang="en-US" sz="2200" b="1" dirty="0">
                <a:ea typeface="宋体" panose="02010600030101010101" pitchFamily="2" charset="-122"/>
              </a:rPr>
              <a:t>定义：</a:t>
            </a:r>
            <a:r>
              <a:rPr lang="zh-CN" altLang="en-US" sz="2000" b="1" dirty="0">
                <a:latin typeface="宋体" panose="02010600030101010101" pitchFamily="2" charset="-122"/>
                <a:ea typeface="宋体" panose="02010600030101010101" pitchFamily="2" charset="-122"/>
              </a:rPr>
              <a:t>如果语句</a:t>
            </a:r>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在语句</a:t>
            </a:r>
            <a:r>
              <a:rPr lang="en-US" altLang="zh-CN" sz="2000" b="1" dirty="0">
                <a:latin typeface="宋体" panose="02010600030101010101" pitchFamily="2" charset="-122"/>
                <a:ea typeface="宋体" panose="02010600030101010101" pitchFamily="2" charset="-122"/>
              </a:rPr>
              <a:t>S</a:t>
            </a:r>
            <a:r>
              <a:rPr lang="en-US" altLang="zh-CN" sz="2000" b="1" dirty="0">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之前执行，且两个语句访问相同变量</a:t>
            </a:r>
            <a:r>
              <a:rPr lang="en-US" altLang="zh-CN" sz="2000" b="1" dirty="0">
                <a:latin typeface="宋体" panose="02010600030101010101" pitchFamily="2" charset="-122"/>
                <a:ea typeface="宋体" panose="02010600030101010101" pitchFamily="2" charset="-122"/>
              </a:rPr>
              <a:t>V,</a:t>
            </a:r>
            <a:r>
              <a:rPr lang="zh-CN" altLang="en-US" sz="2000" b="1" dirty="0">
                <a:latin typeface="宋体" panose="02010600030101010101" pitchFamily="2" charset="-122"/>
                <a:ea typeface="宋体" panose="02010600030101010101" pitchFamily="2" charset="-122"/>
              </a:rPr>
              <a:t>其中至少有一个语句是对</a:t>
            </a:r>
            <a:r>
              <a:rPr lang="en-US" altLang="zh-CN" sz="2000" b="1" dirty="0">
                <a:latin typeface="宋体" panose="02010600030101010101" pitchFamily="2" charset="-122"/>
                <a:ea typeface="宋体" panose="02010600030101010101" pitchFamily="2" charset="-122"/>
              </a:rPr>
              <a:t>V</a:t>
            </a:r>
            <a:r>
              <a:rPr lang="zh-CN" altLang="en-US" sz="2000" b="1" dirty="0">
                <a:latin typeface="宋体" panose="02010600030101010101" pitchFamily="2" charset="-122"/>
                <a:ea typeface="宋体" panose="02010600030101010101" pitchFamily="2" charset="-122"/>
              </a:rPr>
              <a:t>赋值，则我们说这两个语句之间存在数据依赖关系，记为</a:t>
            </a:r>
            <a:r>
              <a:rPr lang="en-US" altLang="zh-CN" sz="2000" b="1" dirty="0">
                <a:latin typeface="宋体" panose="02010600030101010101" pitchFamily="2" charset="-122"/>
                <a:ea typeface="宋体" panose="02010600030101010101" pitchFamily="2" charset="-122"/>
              </a:rPr>
              <a:t>sδs</a:t>
            </a:r>
            <a:r>
              <a:rPr lang="en-US" altLang="zh-CN" sz="2000" b="1" dirty="0">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endParaRPr lang="zh-CN" altLang="en-US" sz="2200" b="1" dirty="0">
              <a:ea typeface="宋体" panose="02010600030101010101" pitchFamily="2" charset="-122"/>
            </a:endParaRPr>
          </a:p>
          <a:p>
            <a:pPr marL="914400" lvl="1" indent="-457200"/>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V</a:t>
            </a:r>
            <a:r>
              <a:rPr lang="zh-CN" altLang="en-US" sz="1800" b="1" dirty="0">
                <a:latin typeface="宋体" panose="02010600030101010101" pitchFamily="2" charset="-122"/>
                <a:ea typeface="宋体" panose="02010600030101010101" pitchFamily="2" charset="-122"/>
              </a:rPr>
              <a:t>在</a:t>
            </a:r>
            <a:r>
              <a:rPr lang="en-US" altLang="zh-CN" sz="1800" b="1" dirty="0">
                <a:latin typeface="宋体" panose="02010600030101010101" pitchFamily="2" charset="-122"/>
                <a:ea typeface="宋体" panose="02010600030101010101" pitchFamily="2" charset="-122"/>
              </a:rPr>
              <a:t>S</a:t>
            </a:r>
            <a:r>
              <a:rPr lang="zh-CN" altLang="en-US" sz="1800" b="1" dirty="0">
                <a:latin typeface="宋体" panose="02010600030101010101" pitchFamily="2" charset="-122"/>
                <a:ea typeface="宋体" panose="02010600030101010101" pitchFamily="2" charset="-122"/>
              </a:rPr>
              <a:t>中定义，在</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中使用，称为真依赖，或流依赖，记为</a:t>
            </a:r>
            <a:r>
              <a:rPr lang="en-US" altLang="zh-CN" sz="1800" b="1" dirty="0">
                <a:latin typeface="宋体" panose="02010600030101010101" pitchFamily="2" charset="-122"/>
                <a:ea typeface="宋体" panose="02010600030101010101" pitchFamily="2" charset="-122"/>
              </a:rPr>
              <a:t>s δ</a:t>
            </a:r>
            <a:r>
              <a:rPr lang="en-US" altLang="zh-CN" sz="1800" b="1" baseline="30000" dirty="0">
                <a:latin typeface="宋体" panose="02010600030101010101" pitchFamily="2" charset="-122"/>
                <a:ea typeface="宋体" panose="02010600030101010101" pitchFamily="2" charset="-122"/>
              </a:rPr>
              <a:t>t</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914400" lvl="1" indent="-457200"/>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V</a:t>
            </a:r>
            <a:r>
              <a:rPr lang="zh-CN" altLang="en-US" sz="1800" b="1" dirty="0">
                <a:latin typeface="宋体" panose="02010600030101010101" pitchFamily="2" charset="-122"/>
                <a:ea typeface="宋体" panose="02010600030101010101" pitchFamily="2" charset="-122"/>
              </a:rPr>
              <a:t>在</a:t>
            </a:r>
            <a:r>
              <a:rPr lang="en-US" altLang="zh-CN" sz="1800" b="1" dirty="0">
                <a:latin typeface="宋体" panose="02010600030101010101" pitchFamily="2" charset="-122"/>
                <a:ea typeface="宋体" panose="02010600030101010101" pitchFamily="2" charset="-122"/>
              </a:rPr>
              <a:t>S</a:t>
            </a:r>
            <a:r>
              <a:rPr lang="zh-CN" altLang="en-US" sz="1800" b="1" dirty="0">
                <a:latin typeface="宋体" panose="02010600030101010101" pitchFamily="2" charset="-122"/>
                <a:ea typeface="宋体" panose="02010600030101010101" pitchFamily="2" charset="-122"/>
              </a:rPr>
              <a:t>中使用，在</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中定义，称为反依赖，记为</a:t>
            </a:r>
            <a:r>
              <a:rPr lang="en-US" altLang="zh-CN" sz="1800" b="1" dirty="0">
                <a:latin typeface="宋体" panose="02010600030101010101" pitchFamily="2" charset="-122"/>
                <a:ea typeface="宋体" panose="02010600030101010101" pitchFamily="2" charset="-122"/>
              </a:rPr>
              <a:t>sδ</a:t>
            </a:r>
            <a:r>
              <a:rPr lang="en-US" altLang="zh-CN" sz="1800" b="1" baseline="30000" dirty="0">
                <a:latin typeface="宋体" panose="02010600030101010101" pitchFamily="2" charset="-122"/>
                <a:ea typeface="宋体" panose="02010600030101010101" pitchFamily="2" charset="-122"/>
              </a:rPr>
              <a:t>a</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914400" lvl="1" indent="-457200"/>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V</a:t>
            </a:r>
            <a:r>
              <a:rPr lang="zh-CN" altLang="en-US" sz="1800" b="1" dirty="0">
                <a:latin typeface="宋体" panose="02010600030101010101" pitchFamily="2" charset="-122"/>
                <a:ea typeface="宋体" panose="02010600030101010101" pitchFamily="2" charset="-122"/>
              </a:rPr>
              <a:t>在</a:t>
            </a:r>
            <a:r>
              <a:rPr lang="en-US" altLang="zh-CN" sz="1800" b="1" dirty="0">
                <a:latin typeface="宋体" panose="02010600030101010101" pitchFamily="2" charset="-122"/>
                <a:ea typeface="宋体" panose="02010600030101010101" pitchFamily="2" charset="-122"/>
              </a:rPr>
              <a:t>S</a:t>
            </a:r>
            <a:r>
              <a:rPr lang="zh-CN" altLang="en-US" sz="1800" b="1" dirty="0">
                <a:latin typeface="宋体" panose="02010600030101010101" pitchFamily="2" charset="-122"/>
                <a:ea typeface="宋体" panose="02010600030101010101" pitchFamily="2" charset="-122"/>
              </a:rPr>
              <a:t>和</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中定义，称为输出依赖，记为</a:t>
            </a:r>
            <a:r>
              <a:rPr lang="en-US" altLang="zh-CN" sz="1800" b="1" dirty="0">
                <a:latin typeface="宋体" panose="02010600030101010101" pitchFamily="2" charset="-122"/>
                <a:ea typeface="宋体" panose="02010600030101010101" pitchFamily="2" charset="-122"/>
              </a:rPr>
              <a:t>Sδ</a:t>
            </a:r>
            <a:r>
              <a:rPr lang="en-US" altLang="zh-CN" sz="1800" b="1" baseline="30000" dirty="0">
                <a:latin typeface="宋体" panose="02010600030101010101" pitchFamily="2" charset="-122"/>
                <a:ea typeface="宋体" panose="02010600030101010101" pitchFamily="2" charset="-122"/>
              </a:rPr>
              <a:t>o</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914400" lvl="1" indent="-457200"/>
            <a:r>
              <a:rPr lang="zh-CN" altLang="en-US" sz="1800" b="1" dirty="0">
                <a:latin typeface="宋体" panose="02010600030101010101" pitchFamily="2" charset="-122"/>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V</a:t>
            </a:r>
            <a:r>
              <a:rPr lang="zh-CN" altLang="en-US" sz="1800" b="1" dirty="0">
                <a:latin typeface="宋体" panose="02010600030101010101" pitchFamily="2" charset="-122"/>
                <a:ea typeface="宋体" panose="02010600030101010101" pitchFamily="2" charset="-122"/>
              </a:rPr>
              <a:t>在</a:t>
            </a:r>
            <a:r>
              <a:rPr lang="en-US" altLang="zh-CN" sz="1800" b="1" dirty="0">
                <a:latin typeface="宋体" panose="02010600030101010101" pitchFamily="2" charset="-122"/>
                <a:ea typeface="宋体" panose="02010600030101010101" pitchFamily="2" charset="-122"/>
              </a:rPr>
              <a:t>S</a:t>
            </a:r>
            <a:r>
              <a:rPr lang="zh-CN" altLang="en-US" sz="1800" b="1" dirty="0">
                <a:latin typeface="宋体" panose="02010600030101010101" pitchFamily="2" charset="-122"/>
                <a:ea typeface="宋体" panose="02010600030101010101" pitchFamily="2" charset="-122"/>
              </a:rPr>
              <a:t>和</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中使用，称为输入依赖，记为</a:t>
            </a:r>
            <a:r>
              <a:rPr lang="en-US" altLang="zh-CN" sz="1800" b="1" dirty="0">
                <a:latin typeface="宋体" panose="02010600030101010101" pitchFamily="2" charset="-122"/>
                <a:ea typeface="宋体" panose="02010600030101010101" pitchFamily="2" charset="-122"/>
              </a:rPr>
              <a:t>Sδ</a:t>
            </a:r>
            <a:r>
              <a:rPr lang="en-US" altLang="zh-CN" sz="1800" b="1" baseline="30000" dirty="0">
                <a:latin typeface="宋体" panose="02010600030101010101" pitchFamily="2" charset="-122"/>
                <a:ea typeface="宋体" panose="02010600030101010101" pitchFamily="2" charset="-122"/>
              </a:rPr>
              <a:t>i</a:t>
            </a:r>
            <a:r>
              <a:rPr lang="en-US" altLang="zh-CN" sz="1800" b="1" dirty="0">
                <a:latin typeface="宋体" panose="02010600030101010101" pitchFamily="2" charset="-122"/>
                <a:ea typeface="宋体" panose="02010600030101010101" pitchFamily="2" charset="-122"/>
              </a:rPr>
              <a:t>S</a:t>
            </a:r>
            <a:r>
              <a:rPr lang="en-US" altLang="zh-CN" sz="1800" b="1" dirty="0">
                <a:ea typeface="宋体" panose="02010600030101010101" pitchFamily="2" charset="-122"/>
              </a:rPr>
              <a:t>’</a:t>
            </a:r>
            <a:endParaRPr lang="zh-CN" altLang="en-US" sz="2000" b="1" dirty="0">
              <a:ea typeface="宋体" panose="02010600030101010101" pitchFamily="2" charset="-122"/>
            </a:endParaRPr>
          </a:p>
          <a:p>
            <a:pPr marL="495300" indent="-495300"/>
            <a:r>
              <a:rPr lang="zh-CN" altLang="en-US" sz="2200" b="1" dirty="0">
                <a:ea typeface="宋体" panose="02010600030101010101" pitchFamily="2" charset="-122"/>
              </a:rPr>
              <a:t>例子</a:t>
            </a:r>
            <a:endParaRPr lang="zh-CN" altLang="en-US" sz="2200" b="1" dirty="0">
              <a:ea typeface="宋体" panose="02010600030101010101" pitchFamily="2" charset="-122"/>
            </a:endParaRPr>
          </a:p>
          <a:p>
            <a:pPr marL="914400" lvl="1" indent="-457200">
              <a:buNone/>
            </a:pPr>
            <a:r>
              <a:rPr lang="en-US" altLang="zh-CN" sz="1800" b="1" dirty="0">
                <a:latin typeface="宋体" panose="02010600030101010101" pitchFamily="2" charset="-122"/>
                <a:ea typeface="宋体" panose="02010600030101010101" pitchFamily="2" charset="-122"/>
              </a:rPr>
              <a:t>S1:  A=1.0</a:t>
            </a:r>
            <a:endParaRPr lang="en-US" altLang="zh-CN" sz="1800" b="1" dirty="0">
              <a:latin typeface="宋体" panose="02010600030101010101" pitchFamily="2" charset="-122"/>
              <a:ea typeface="宋体" panose="02010600030101010101" pitchFamily="2" charset="-122"/>
            </a:endParaRPr>
          </a:p>
          <a:p>
            <a:pPr marL="914400" lvl="1" indent="-457200">
              <a:buNone/>
            </a:pPr>
            <a:r>
              <a:rPr lang="en-US" altLang="zh-CN" sz="1800" b="1" dirty="0">
                <a:latin typeface="宋体" panose="02010600030101010101" pitchFamily="2" charset="-122"/>
                <a:ea typeface="宋体" panose="02010600030101010101" pitchFamily="2" charset="-122"/>
              </a:rPr>
              <a:t>S2:  B=A+3.14159</a:t>
            </a:r>
            <a:endParaRPr lang="en-US" altLang="zh-CN" sz="1800" b="1" dirty="0">
              <a:latin typeface="宋体" panose="02010600030101010101" pitchFamily="2" charset="-122"/>
              <a:ea typeface="宋体" panose="02010600030101010101" pitchFamily="2" charset="-122"/>
            </a:endParaRPr>
          </a:p>
          <a:p>
            <a:pPr marL="914400" lvl="1" indent="-457200">
              <a:buNone/>
            </a:pPr>
            <a:r>
              <a:rPr lang="en-US" altLang="zh-CN" sz="1800" b="1" dirty="0">
                <a:latin typeface="宋体" panose="02010600030101010101" pitchFamily="2" charset="-122"/>
                <a:ea typeface="宋体" panose="02010600030101010101" pitchFamily="2" charset="-122"/>
              </a:rPr>
              <a:t>S3:  A=1/3*(C-D)</a:t>
            </a:r>
            <a:endParaRPr lang="en-US" altLang="zh-CN" sz="1800" b="1" dirty="0">
              <a:latin typeface="宋体" panose="02010600030101010101" pitchFamily="2" charset="-122"/>
              <a:ea typeface="宋体" panose="02010600030101010101" pitchFamily="2" charset="-122"/>
            </a:endParaRPr>
          </a:p>
          <a:p>
            <a:pPr marL="914400" lvl="1" indent="-457200">
              <a:buNone/>
            </a:pPr>
            <a:r>
              <a:rPr lang="en-US" altLang="zh-CN" sz="1800" b="1" dirty="0">
                <a:latin typeface="宋体" panose="02010600030101010101" pitchFamily="2" charset="-122"/>
                <a:ea typeface="宋体" panose="02010600030101010101" pitchFamily="2" charset="-122"/>
              </a:rPr>
              <a:t>     </a:t>
            </a:r>
            <a:r>
              <a:rPr lang="en-US" altLang="zh-CN" sz="1800" b="1" dirty="0">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无对</a:t>
            </a:r>
            <a:r>
              <a:rPr lang="en-US" altLang="zh-CN" sz="1800" b="1" dirty="0">
                <a:latin typeface="宋体" panose="02010600030101010101" pitchFamily="2" charset="-122"/>
                <a:ea typeface="宋体" panose="02010600030101010101" pitchFamily="2" charset="-122"/>
              </a:rPr>
              <a:t>A,B,C,D</a:t>
            </a:r>
            <a:r>
              <a:rPr lang="zh-CN" altLang="en-US" sz="1800" b="1" dirty="0">
                <a:latin typeface="宋体" panose="02010600030101010101" pitchFamily="2" charset="-122"/>
                <a:ea typeface="宋体" panose="02010600030101010101" pitchFamily="2" charset="-122"/>
              </a:rPr>
              <a:t>赋值）</a:t>
            </a:r>
            <a:endParaRPr lang="zh-CN" altLang="en-US" sz="1800" b="1" dirty="0">
              <a:latin typeface="宋体" panose="02010600030101010101" pitchFamily="2" charset="-122"/>
              <a:ea typeface="宋体" panose="02010600030101010101" pitchFamily="2" charset="-122"/>
            </a:endParaRPr>
          </a:p>
          <a:p>
            <a:pPr marL="914400" lvl="1" indent="-457200">
              <a:buNone/>
            </a:pPr>
            <a:r>
              <a:rPr lang="en-US" altLang="zh-CN" sz="1800" b="1" dirty="0">
                <a:latin typeface="宋体" panose="02010600030101010101" pitchFamily="2" charset="-122"/>
                <a:ea typeface="宋体" panose="02010600030101010101" pitchFamily="2" charset="-122"/>
              </a:rPr>
              <a:t>S4:  A=(B*3.8)/1.78</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3154" name="Rectangle 2"/>
          <p:cNvSpPr>
            <a:spLocks noGrp="1"/>
          </p:cNvSpPr>
          <p:nvPr>
            <p:ph type="title"/>
          </p:nvPr>
        </p:nvSpPr>
        <p:spPr>
          <a:xfrm>
            <a:off x="971550" y="549275"/>
            <a:ext cx="7543800" cy="914400"/>
          </a:xfrm>
        </p:spPr>
        <p:txBody>
          <a:bodyPr vert="horz" wrap="square" lIns="92075" tIns="46038" rIns="92075" bIns="46038" anchor="ctr" anchorCtr="0"/>
          <a:p>
            <a:r>
              <a:rPr lang="zh-CN" altLang="en-US" dirty="0">
                <a:ea typeface="宋体" panose="02010600030101010101" pitchFamily="2" charset="-122"/>
              </a:rPr>
              <a:t>依赖图</a:t>
            </a:r>
            <a:r>
              <a:rPr lang="zh-CN" altLang="en-US" sz="2400" dirty="0">
                <a:ea typeface="宋体" panose="02010600030101010101" pitchFamily="2" charset="-122"/>
              </a:rPr>
              <a:t> </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433155" name="Rectangle 3"/>
          <p:cNvSpPr>
            <a:spLocks noGrp="1"/>
          </p:cNvSpPr>
          <p:nvPr>
            <p:ph idx="1"/>
          </p:nvPr>
        </p:nvSpPr>
        <p:spPr>
          <a:xfrm>
            <a:off x="685800" y="1447800"/>
            <a:ext cx="7696200" cy="762000"/>
          </a:xfrm>
        </p:spPr>
        <p:txBody>
          <a:bodyPr vert="horz" wrap="square" lIns="92075" tIns="46038" rIns="92075" bIns="46038" anchor="t" anchorCtr="0"/>
          <a:p>
            <a:pPr>
              <a:buNone/>
            </a:pPr>
            <a:r>
              <a:rPr lang="zh-CN" altLang="en-US" sz="2400" b="1" dirty="0">
                <a:latin typeface="宋体" panose="02010600030101010101" pitchFamily="2" charset="-122"/>
                <a:ea typeface="宋体" panose="02010600030101010101" pitchFamily="2" charset="-122"/>
              </a:rPr>
              <a:t>以语句为节点，依赖关系为边，上例的依赖图为：</a:t>
            </a:r>
            <a:endParaRPr lang="zh-CN" altLang="en-US" sz="3400" b="1" dirty="0">
              <a:ea typeface="宋体" panose="02010600030101010101" pitchFamily="2" charset="-122"/>
            </a:endParaRPr>
          </a:p>
        </p:txBody>
      </p:sp>
      <p:sp>
        <p:nvSpPr>
          <p:cNvPr id="433156" name="Text Box 21"/>
          <p:cNvSpPr txBox="1"/>
          <p:nvPr/>
        </p:nvSpPr>
        <p:spPr>
          <a:xfrm>
            <a:off x="914400" y="5638800"/>
            <a:ext cx="6858000" cy="457200"/>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grpSp>
        <p:nvGrpSpPr>
          <p:cNvPr id="433157" name="Group 25"/>
          <p:cNvGrpSpPr/>
          <p:nvPr/>
        </p:nvGrpSpPr>
        <p:grpSpPr>
          <a:xfrm>
            <a:off x="3059113" y="2276475"/>
            <a:ext cx="1981200" cy="3001963"/>
            <a:chOff x="1920" y="1680"/>
            <a:chExt cx="1248" cy="1872"/>
          </a:xfrm>
        </p:grpSpPr>
        <p:sp>
          <p:nvSpPr>
            <p:cNvPr id="433160" name="Oval 4"/>
            <p:cNvSpPr/>
            <p:nvPr/>
          </p:nvSpPr>
          <p:spPr>
            <a:xfrm>
              <a:off x="2352" y="1680"/>
              <a:ext cx="240" cy="240"/>
            </a:xfrm>
            <a:prstGeom prst="ellipse">
              <a:avLst/>
            </a:prstGeom>
            <a:solidFill>
              <a:schemeClr val="accent1"/>
            </a:solidFill>
            <a:ln w="222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33161" name="Oval 5"/>
            <p:cNvSpPr/>
            <p:nvPr/>
          </p:nvSpPr>
          <p:spPr>
            <a:xfrm>
              <a:off x="2352" y="2208"/>
              <a:ext cx="240" cy="240"/>
            </a:xfrm>
            <a:prstGeom prst="ellipse">
              <a:avLst/>
            </a:prstGeom>
            <a:solidFill>
              <a:schemeClr val="accent1"/>
            </a:solidFill>
            <a:ln w="222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33162" name="Oval 6"/>
            <p:cNvSpPr/>
            <p:nvPr/>
          </p:nvSpPr>
          <p:spPr>
            <a:xfrm>
              <a:off x="2352" y="2784"/>
              <a:ext cx="240" cy="240"/>
            </a:xfrm>
            <a:prstGeom prst="ellipse">
              <a:avLst/>
            </a:prstGeom>
            <a:solidFill>
              <a:schemeClr val="accent1"/>
            </a:solidFill>
            <a:ln w="222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33163" name="Oval 7"/>
            <p:cNvSpPr/>
            <p:nvPr/>
          </p:nvSpPr>
          <p:spPr>
            <a:xfrm>
              <a:off x="2400" y="3312"/>
              <a:ext cx="240" cy="240"/>
            </a:xfrm>
            <a:prstGeom prst="ellipse">
              <a:avLst/>
            </a:prstGeom>
            <a:solidFill>
              <a:schemeClr val="accent1"/>
            </a:solidFill>
            <a:ln w="222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cxnSp>
          <p:nvCxnSpPr>
            <p:cNvPr id="433164" name="AutoShape 8"/>
            <p:cNvCxnSpPr/>
            <p:nvPr/>
          </p:nvCxnSpPr>
          <p:spPr>
            <a:xfrm>
              <a:off x="2600" y="1776"/>
              <a:ext cx="1" cy="1104"/>
            </a:xfrm>
            <a:prstGeom prst="curvedConnector3">
              <a:avLst>
                <a:gd name="adj1" fmla="val 14400000"/>
              </a:avLst>
            </a:prstGeom>
            <a:ln w="12700" cap="flat" cmpd="sng">
              <a:solidFill>
                <a:schemeClr val="tx1"/>
              </a:solidFill>
              <a:prstDash val="solid"/>
              <a:headEnd type="none" w="sm" len="sm"/>
              <a:tailEnd type="triangle" w="lg" len="med"/>
            </a:ln>
          </p:spPr>
        </p:cxnSp>
        <p:sp>
          <p:nvSpPr>
            <p:cNvPr id="433165" name="Line 9"/>
            <p:cNvSpPr/>
            <p:nvPr/>
          </p:nvSpPr>
          <p:spPr>
            <a:xfrm>
              <a:off x="2496" y="1872"/>
              <a:ext cx="0" cy="336"/>
            </a:xfrm>
            <a:prstGeom prst="line">
              <a:avLst/>
            </a:prstGeom>
            <a:ln w="12700" cap="flat" cmpd="sng">
              <a:solidFill>
                <a:schemeClr val="tx1"/>
              </a:solidFill>
              <a:prstDash val="solid"/>
              <a:headEnd type="none" w="sm" len="sm"/>
              <a:tailEnd type="triangle" w="lg" len="med"/>
            </a:ln>
          </p:spPr>
        </p:sp>
        <p:sp>
          <p:nvSpPr>
            <p:cNvPr id="433166" name="Line 10"/>
            <p:cNvSpPr/>
            <p:nvPr/>
          </p:nvSpPr>
          <p:spPr>
            <a:xfrm>
              <a:off x="2496" y="2448"/>
              <a:ext cx="0" cy="336"/>
            </a:xfrm>
            <a:prstGeom prst="line">
              <a:avLst/>
            </a:prstGeom>
            <a:ln w="12700" cap="flat" cmpd="sng">
              <a:solidFill>
                <a:schemeClr val="tx1"/>
              </a:solidFill>
              <a:prstDash val="solid"/>
              <a:headEnd type="none" w="sm" len="sm"/>
              <a:tailEnd type="triangle" w="lg" len="med"/>
            </a:ln>
          </p:spPr>
        </p:sp>
        <p:sp>
          <p:nvSpPr>
            <p:cNvPr id="433167" name="Line 11"/>
            <p:cNvSpPr/>
            <p:nvPr/>
          </p:nvSpPr>
          <p:spPr>
            <a:xfrm>
              <a:off x="2496" y="2976"/>
              <a:ext cx="0" cy="336"/>
            </a:xfrm>
            <a:prstGeom prst="line">
              <a:avLst/>
            </a:prstGeom>
            <a:ln w="12700" cap="flat" cmpd="sng">
              <a:solidFill>
                <a:schemeClr val="tx1"/>
              </a:solidFill>
              <a:prstDash val="solid"/>
              <a:headEnd type="none" w="sm" len="sm"/>
              <a:tailEnd type="triangle" w="lg" len="med"/>
            </a:ln>
          </p:spPr>
        </p:sp>
        <p:sp>
          <p:nvSpPr>
            <p:cNvPr id="433168" name="Text Box 12"/>
            <p:cNvSpPr txBox="1"/>
            <p:nvPr/>
          </p:nvSpPr>
          <p:spPr>
            <a:xfrm>
              <a:off x="2352" y="1680"/>
              <a:ext cx="268" cy="229"/>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800" dirty="0">
                  <a:ea typeface="宋体" panose="02010600030101010101" pitchFamily="2" charset="-122"/>
                </a:rPr>
                <a:t>S1</a:t>
              </a:r>
              <a:endParaRPr lang="en-US" altLang="zh-CN" sz="1800" dirty="0">
                <a:ea typeface="宋体" panose="02010600030101010101" pitchFamily="2" charset="-122"/>
              </a:endParaRPr>
            </a:p>
          </p:txBody>
        </p:sp>
        <p:sp>
          <p:nvSpPr>
            <p:cNvPr id="433169" name="Text Box 13"/>
            <p:cNvSpPr txBox="1"/>
            <p:nvPr/>
          </p:nvSpPr>
          <p:spPr>
            <a:xfrm>
              <a:off x="2352" y="2208"/>
              <a:ext cx="268" cy="228"/>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Bef>
                  <a:spcPct val="0"/>
                </a:spcBef>
                <a:buClrTx/>
                <a:buSzTx/>
                <a:buNone/>
              </a:pPr>
              <a:r>
                <a:rPr lang="en-US" altLang="zh-CN" sz="1800" dirty="0">
                  <a:ea typeface="宋体" panose="02010600030101010101" pitchFamily="2" charset="-122"/>
                </a:rPr>
                <a:t>S2</a:t>
              </a:r>
              <a:endParaRPr lang="en-US" altLang="zh-CN" sz="1800" dirty="0">
                <a:ea typeface="宋体" panose="02010600030101010101" pitchFamily="2" charset="-122"/>
              </a:endParaRPr>
            </a:p>
          </p:txBody>
        </p:sp>
        <p:sp>
          <p:nvSpPr>
            <p:cNvPr id="433170" name="Text Box 14"/>
            <p:cNvSpPr txBox="1"/>
            <p:nvPr/>
          </p:nvSpPr>
          <p:spPr>
            <a:xfrm>
              <a:off x="2352" y="2784"/>
              <a:ext cx="268" cy="22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800" dirty="0">
                  <a:ea typeface="宋体" panose="02010600030101010101" pitchFamily="2" charset="-122"/>
                </a:rPr>
                <a:t>S3</a:t>
              </a:r>
              <a:endParaRPr lang="en-US" altLang="zh-CN" sz="1800" dirty="0">
                <a:ea typeface="宋体" panose="02010600030101010101" pitchFamily="2" charset="-122"/>
              </a:endParaRPr>
            </a:p>
          </p:txBody>
        </p:sp>
        <p:sp>
          <p:nvSpPr>
            <p:cNvPr id="433171" name="Text Box 15"/>
            <p:cNvSpPr txBox="1"/>
            <p:nvPr/>
          </p:nvSpPr>
          <p:spPr>
            <a:xfrm>
              <a:off x="2400" y="3312"/>
              <a:ext cx="336" cy="22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800" dirty="0">
                  <a:ea typeface="宋体" panose="02010600030101010101" pitchFamily="2" charset="-122"/>
                </a:rPr>
                <a:t>S4</a:t>
              </a:r>
              <a:endParaRPr lang="en-US" altLang="zh-CN" sz="1800" dirty="0">
                <a:ea typeface="宋体" panose="02010600030101010101" pitchFamily="2" charset="-122"/>
              </a:endParaRPr>
            </a:p>
          </p:txBody>
        </p:sp>
        <p:sp>
          <p:nvSpPr>
            <p:cNvPr id="433172" name="Text Box 16"/>
            <p:cNvSpPr txBox="1"/>
            <p:nvPr/>
          </p:nvSpPr>
          <p:spPr>
            <a:xfrm>
              <a:off x="1920" y="2352"/>
              <a:ext cx="233" cy="230"/>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800" dirty="0">
                  <a:ea typeface="宋体" panose="02010600030101010101" pitchFamily="2" charset="-122"/>
                </a:rPr>
                <a:t>δ</a:t>
              </a:r>
              <a:r>
                <a:rPr lang="en-US" altLang="zh-CN" sz="1800" baseline="50000" dirty="0">
                  <a:ea typeface="仿宋_GB2312" panose="02010609030101010101" pitchFamily="49" charset="-122"/>
                </a:rPr>
                <a:t>o</a:t>
              </a:r>
              <a:endParaRPr lang="en-US" altLang="zh-CN" sz="1800" baseline="50000" dirty="0">
                <a:ea typeface="宋体" panose="02010600030101010101" pitchFamily="2" charset="-122"/>
              </a:endParaRPr>
            </a:p>
          </p:txBody>
        </p:sp>
        <p:sp>
          <p:nvSpPr>
            <p:cNvPr id="433173" name="Text Box 17"/>
            <p:cNvSpPr txBox="1"/>
            <p:nvPr/>
          </p:nvSpPr>
          <p:spPr>
            <a:xfrm>
              <a:off x="2400" y="1872"/>
              <a:ext cx="116" cy="285"/>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endParaRPr lang="zh-CN" altLang="en-US" sz="2400" dirty="0">
                <a:ea typeface="宋体" panose="02010600030101010101" pitchFamily="2" charset="-122"/>
              </a:endParaRPr>
            </a:p>
          </p:txBody>
        </p:sp>
        <p:sp>
          <p:nvSpPr>
            <p:cNvPr id="433174" name="Text Box 18"/>
            <p:cNvSpPr txBox="1"/>
            <p:nvPr/>
          </p:nvSpPr>
          <p:spPr>
            <a:xfrm>
              <a:off x="2448" y="1968"/>
              <a:ext cx="370" cy="22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800" dirty="0">
                  <a:ea typeface="宋体" panose="02010600030101010101" pitchFamily="2" charset="-122"/>
                </a:rPr>
                <a:t>δ</a:t>
              </a:r>
              <a:r>
                <a:rPr lang="en-US" altLang="zh-CN" sz="1800" baseline="50000" dirty="0">
                  <a:ea typeface="仿宋_GB2312" panose="02010609030101010101" pitchFamily="49" charset="-122"/>
                </a:rPr>
                <a:t>t</a:t>
              </a:r>
              <a:endParaRPr lang="en-US" altLang="zh-CN" sz="1800" baseline="50000" dirty="0">
                <a:ea typeface="宋体" panose="02010600030101010101" pitchFamily="2" charset="-122"/>
              </a:endParaRPr>
            </a:p>
          </p:txBody>
        </p:sp>
        <p:sp>
          <p:nvSpPr>
            <p:cNvPr id="433175" name="Text Box 19"/>
            <p:cNvSpPr txBox="1"/>
            <p:nvPr/>
          </p:nvSpPr>
          <p:spPr>
            <a:xfrm>
              <a:off x="2448" y="2400"/>
              <a:ext cx="303" cy="228"/>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800" dirty="0">
                  <a:ea typeface="宋体" panose="02010600030101010101" pitchFamily="2" charset="-122"/>
                </a:rPr>
                <a:t>δ</a:t>
              </a:r>
              <a:r>
                <a:rPr lang="en-US" altLang="zh-CN" sz="1800" baseline="50000" dirty="0">
                  <a:ea typeface="仿宋_GB2312" panose="02010609030101010101" pitchFamily="49" charset="-122"/>
                </a:rPr>
                <a:t>a</a:t>
              </a:r>
              <a:endParaRPr lang="en-US" altLang="zh-CN" sz="1800" baseline="50000" dirty="0">
                <a:ea typeface="宋体" panose="02010600030101010101" pitchFamily="2" charset="-122"/>
              </a:endParaRPr>
            </a:p>
          </p:txBody>
        </p:sp>
        <p:sp>
          <p:nvSpPr>
            <p:cNvPr id="433176" name="Text Box 20"/>
            <p:cNvSpPr txBox="1"/>
            <p:nvPr/>
          </p:nvSpPr>
          <p:spPr>
            <a:xfrm>
              <a:off x="2448" y="3024"/>
              <a:ext cx="336" cy="22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800" dirty="0">
                  <a:ea typeface="宋体" panose="02010600030101010101" pitchFamily="2" charset="-122"/>
                </a:rPr>
                <a:t>δ</a:t>
              </a:r>
              <a:r>
                <a:rPr lang="en-US" altLang="zh-CN" sz="1800" baseline="50000" dirty="0">
                  <a:ea typeface="宋体" panose="02010600030101010101" pitchFamily="2" charset="-122"/>
                </a:rPr>
                <a:t>o</a:t>
              </a:r>
              <a:endParaRPr lang="en-US" altLang="zh-CN" sz="1800" baseline="30000" dirty="0">
                <a:ea typeface="宋体" panose="02010600030101010101" pitchFamily="2" charset="-122"/>
              </a:endParaRPr>
            </a:p>
          </p:txBody>
        </p:sp>
        <p:cxnSp>
          <p:nvCxnSpPr>
            <p:cNvPr id="433177" name="AutoShape 23"/>
            <p:cNvCxnSpPr>
              <a:stCxn id="433168" idx="1"/>
              <a:endCxn id="433163" idx="2"/>
            </p:cNvCxnSpPr>
            <p:nvPr/>
          </p:nvCxnSpPr>
          <p:spPr>
            <a:xfrm rot="10800000" flipH="1" flipV="1">
              <a:off x="2352" y="1796"/>
              <a:ext cx="48" cy="1636"/>
            </a:xfrm>
            <a:prstGeom prst="curvedConnector3">
              <a:avLst>
                <a:gd name="adj1" fmla="val -300000"/>
              </a:avLst>
            </a:prstGeom>
            <a:ln w="12700" cap="flat" cmpd="sng">
              <a:solidFill>
                <a:schemeClr val="tx1"/>
              </a:solidFill>
              <a:prstDash val="solid"/>
              <a:headEnd type="none" w="med" len="med"/>
              <a:tailEnd type="triangle" w="med" len="med"/>
            </a:ln>
          </p:spPr>
        </p:cxnSp>
        <p:sp>
          <p:nvSpPr>
            <p:cNvPr id="433178" name="Text Box 24"/>
            <p:cNvSpPr txBox="1"/>
            <p:nvPr/>
          </p:nvSpPr>
          <p:spPr>
            <a:xfrm>
              <a:off x="2736" y="2256"/>
              <a:ext cx="432" cy="22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800" dirty="0">
                  <a:latin typeface="宋体" panose="02010600030101010101" pitchFamily="2" charset="-122"/>
                  <a:ea typeface="宋体" panose="02010600030101010101" pitchFamily="2" charset="-122"/>
                </a:rPr>
                <a:t>δ</a:t>
              </a:r>
              <a:r>
                <a:rPr lang="en-US" altLang="zh-CN" sz="1800" baseline="50000" dirty="0">
                  <a:ea typeface="仿宋_GB2312" panose="02010609030101010101" pitchFamily="49" charset="-122"/>
                </a:rPr>
                <a:t>o</a:t>
              </a:r>
              <a:endParaRPr lang="en-US" altLang="zh-CN" sz="1800" baseline="50000" dirty="0">
                <a:ea typeface="宋体" panose="02010600030101010101" pitchFamily="2" charset="-122"/>
              </a:endParaRPr>
            </a:p>
          </p:txBody>
        </p:sp>
      </p:grpSp>
      <p:sp>
        <p:nvSpPr>
          <p:cNvPr id="433158" name="Text Box 18"/>
          <p:cNvSpPr txBox="1"/>
          <p:nvPr/>
        </p:nvSpPr>
        <p:spPr>
          <a:xfrm>
            <a:off x="4932363" y="3925888"/>
            <a:ext cx="587375" cy="366712"/>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800" dirty="0">
                <a:ea typeface="宋体" panose="02010600030101010101" pitchFamily="2" charset="-122"/>
              </a:rPr>
              <a:t>δ</a:t>
            </a:r>
            <a:r>
              <a:rPr lang="en-US" altLang="zh-CN" sz="1800" baseline="50000" dirty="0">
                <a:ea typeface="仿宋_GB2312" panose="02010609030101010101" pitchFamily="49" charset="-122"/>
              </a:rPr>
              <a:t>t</a:t>
            </a:r>
            <a:endParaRPr lang="en-US" altLang="zh-CN" sz="1800" baseline="50000" dirty="0">
              <a:ea typeface="宋体" panose="02010600030101010101" pitchFamily="2" charset="-122"/>
            </a:endParaRPr>
          </a:p>
        </p:txBody>
      </p:sp>
      <p:cxnSp>
        <p:nvCxnSpPr>
          <p:cNvPr id="433159" name="AutoShape 8"/>
          <p:cNvCxnSpPr/>
          <p:nvPr/>
        </p:nvCxnSpPr>
        <p:spPr>
          <a:xfrm>
            <a:off x="4132263" y="3295650"/>
            <a:ext cx="1587" cy="1770063"/>
          </a:xfrm>
          <a:prstGeom prst="curvedConnector3">
            <a:avLst>
              <a:gd name="adj1" fmla="val 47877833"/>
            </a:avLst>
          </a:prstGeom>
          <a:ln w="12700" cap="flat" cmpd="sng">
            <a:solidFill>
              <a:schemeClr val="tx1"/>
            </a:solidFill>
            <a:prstDash val="solid"/>
            <a:headEnd type="none" w="sm" len="sm"/>
            <a:tailEnd type="triangle" w="lg" len="med"/>
          </a:ln>
        </p:spPr>
      </p:cxnSp>
    </p:spTree>
  </p:cSld>
  <p:clrMapOvr>
    <a:masterClrMapping/>
  </p:clrMapOvr>
  <p:transition spd="slow"/>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52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面向指令调度的依赖图</a:t>
            </a:r>
            <a:endParaRPr lang="zh-CN" altLang="en-US" dirty="0">
              <a:latin typeface="Times New Roman" panose="02020603050405020304" pitchFamily="18" charset="0"/>
              <a:ea typeface="宋体" panose="02010600030101010101" pitchFamily="2" charset="-122"/>
            </a:endParaRPr>
          </a:p>
        </p:txBody>
      </p:sp>
      <p:sp>
        <p:nvSpPr>
          <p:cNvPr id="435203"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zh-CN" altLang="en-US" sz="2400" b="1" dirty="0">
                <a:ea typeface="宋体" panose="02010600030101010101" pitchFamily="2" charset="-122"/>
              </a:rPr>
              <a:t>无环区域的依赖图是一个有向无环图</a:t>
            </a:r>
            <a:r>
              <a:rPr lang="en-US" altLang="zh-CN" sz="2400" b="1" dirty="0">
                <a:ea typeface="宋体" panose="02010600030101010101" pitchFamily="2" charset="-122"/>
              </a:rPr>
              <a:t>G(V, E)， </a:t>
            </a:r>
            <a:r>
              <a:rPr lang="zh-CN" altLang="en-US" sz="2400" b="1" dirty="0">
                <a:ea typeface="宋体" panose="02010600030101010101" pitchFamily="2" charset="-122"/>
              </a:rPr>
              <a:t>其中节点表示操作，边表示两个操作的执行时刻必须满足的约束。</a:t>
            </a:r>
            <a:endParaRPr lang="zh-CN" altLang="en-US" sz="2400" b="1" dirty="0">
              <a:ea typeface="宋体" panose="02010600030101010101" pitchFamily="2" charset="-122"/>
            </a:endParaRPr>
          </a:p>
          <a:p>
            <a:pPr>
              <a:lnSpc>
                <a:spcPct val="90000"/>
              </a:lnSpc>
            </a:pPr>
            <a:r>
              <a:rPr lang="zh-CN" altLang="en-US" sz="2400" b="1" dirty="0">
                <a:ea typeface="宋体" panose="02010600030101010101" pitchFamily="2" charset="-122"/>
              </a:rPr>
              <a:t>依赖边的分类</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流依赖、反依赖、输出依赖</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由访问寄存器导致的依赖 </a:t>
            </a:r>
            <a:r>
              <a:rPr lang="en-US" altLang="zh-CN" sz="2200" b="1" dirty="0">
                <a:ea typeface="宋体" panose="02010600030101010101" pitchFamily="2" charset="-122"/>
              </a:rPr>
              <a:t>vs </a:t>
            </a:r>
            <a:r>
              <a:rPr lang="zh-CN" altLang="en-US" sz="2200" b="1" dirty="0">
                <a:ea typeface="宋体" panose="02010600030101010101" pitchFamily="2" charset="-122"/>
              </a:rPr>
              <a:t>由访问内存导致的依赖</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投机依赖边</a:t>
            </a:r>
            <a:endParaRPr lang="zh-CN" altLang="en-US" sz="2200" b="1" dirty="0">
              <a:ea typeface="宋体" panose="02010600030101010101" pitchFamily="2" charset="-122"/>
            </a:endParaRPr>
          </a:p>
          <a:p>
            <a:pPr>
              <a:lnSpc>
                <a:spcPct val="90000"/>
              </a:lnSpc>
            </a:pPr>
            <a:r>
              <a:rPr lang="zh-CN" altLang="en-US" sz="2400" b="1" dirty="0">
                <a:ea typeface="宋体" panose="02010600030101010101" pitchFamily="2" charset="-122"/>
              </a:rPr>
              <a:t>边上通常记有所需的延迟，这个延迟与操作及依赖边的类型有关</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伪依赖所需的延迟通常不大于1。</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内存取数操作的延迟通常难于在编译时刻确定</a:t>
            </a:r>
            <a:r>
              <a:rPr lang="en-US" altLang="zh-CN" sz="2200" b="1" dirty="0">
                <a:ea typeface="宋体" panose="02010600030101010101" pitchFamily="2" charset="-122"/>
              </a:rPr>
              <a:t>。</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延迟的具体值由机器模型提供。</a:t>
            </a:r>
            <a:endParaRPr lang="zh-CN" altLang="en-US" sz="2200" b="1" dirty="0">
              <a:ea typeface="宋体" panose="02010600030101010101" pitchFamily="2" charset="-122"/>
            </a:endParaRPr>
          </a:p>
        </p:txBody>
      </p:sp>
    </p:spTree>
  </p:cSld>
  <p:clrMapOvr>
    <a:masterClrMapping/>
  </p:clrMapOvr>
  <p:transition spd="slow"/>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72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依赖图的构造</a:t>
            </a:r>
            <a:endParaRPr lang="zh-CN" altLang="en-US" dirty="0">
              <a:latin typeface="Times New Roman" panose="02020603050405020304" pitchFamily="18" charset="0"/>
              <a:ea typeface="宋体" panose="02010600030101010101" pitchFamily="2" charset="-122"/>
            </a:endParaRPr>
          </a:p>
        </p:txBody>
      </p:sp>
      <p:sp>
        <p:nvSpPr>
          <p:cNvPr id="437251"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构造依赖图通常可通过对基本块内的所有操作的一次或多次遍历完成，以构造流依赖边为例，算法如下：</a:t>
            </a:r>
            <a:endParaRPr lang="en-US" altLang="zh-CN" sz="2400" b="1" dirty="0">
              <a:ea typeface="宋体" panose="02010600030101010101" pitchFamily="2" charset="-122"/>
            </a:endParaRPr>
          </a:p>
        </p:txBody>
      </p:sp>
      <p:sp>
        <p:nvSpPr>
          <p:cNvPr id="437252" name="Rectangle 4"/>
          <p:cNvSpPr/>
          <p:nvPr/>
        </p:nvSpPr>
        <p:spPr>
          <a:xfrm>
            <a:off x="1371600" y="2667000"/>
            <a:ext cx="7162800" cy="3200400"/>
          </a:xfrm>
          <a:prstGeom prst="rect">
            <a:avLst/>
          </a:prstGeom>
          <a:no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void Build_DAG_For_BB(BB* </a:t>
            </a:r>
            <a:r>
              <a:rPr lang="en-US" altLang="zh-CN" sz="1600" b="1" i="1" dirty="0">
                <a:solidFill>
                  <a:srgbClr val="000000"/>
                </a:solidFill>
                <a:latin typeface="Arial" panose="020B0604020202020204" pitchFamily="34" charset="0"/>
                <a:ea typeface="黑体" panose="02010609060101010101" pitchFamily="49" charset="-122"/>
              </a:rPr>
              <a:t>bb</a:t>
            </a: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latin typeface="Arial" panose="020B0604020202020204" pitchFamily="34" charset="0"/>
              <a:ea typeface="宋体" panose="02010600030101010101" pitchFamily="2"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latin typeface="Arial" panose="020B0604020202020204" pitchFamily="34" charset="0"/>
              <a:ea typeface="宋体" panose="02010600030101010101" pitchFamily="2"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For each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 in </a:t>
            </a:r>
            <a:r>
              <a:rPr lang="en-US" altLang="zh-CN" sz="1600" b="1" i="1" dirty="0">
                <a:solidFill>
                  <a:srgbClr val="000000"/>
                </a:solidFill>
                <a:latin typeface="Arial" panose="020B0604020202020204" pitchFamily="34" charset="0"/>
                <a:ea typeface="黑体" panose="02010609060101010101" pitchFamily="49" charset="-122"/>
              </a:rPr>
              <a:t>bb</a:t>
            </a:r>
            <a:r>
              <a:rPr lang="en-US" altLang="zh-CN" sz="1600" dirty="0">
                <a:solidFill>
                  <a:srgbClr val="000000"/>
                </a:solidFill>
                <a:latin typeface="Arial" panose="020B0604020202020204" pitchFamily="34" charset="0"/>
                <a:ea typeface="黑体" panose="02010609060101010101" pitchFamily="49" charset="-122"/>
              </a:rPr>
              <a:t>, from head to tail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For each </a:t>
            </a:r>
            <a:r>
              <a:rPr lang="en-US" altLang="zh-CN" sz="1600" b="1" i="1" dirty="0">
                <a:solidFill>
                  <a:srgbClr val="000000"/>
                </a:solidFill>
                <a:latin typeface="Arial" panose="020B0604020202020204" pitchFamily="34" charset="0"/>
                <a:ea typeface="黑体" panose="02010609060101010101" pitchFamily="49" charset="-122"/>
              </a:rPr>
              <a:t>operand</a:t>
            </a:r>
            <a:r>
              <a:rPr lang="en-US" altLang="zh-CN" sz="1600" dirty="0">
                <a:solidFill>
                  <a:srgbClr val="000000"/>
                </a:solidFill>
                <a:latin typeface="Arial" panose="020B0604020202020204" pitchFamily="34" charset="0"/>
                <a:ea typeface="黑体" panose="02010609060101010101" pitchFamily="49" charset="-122"/>
              </a:rPr>
              <a:t> of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Let </a:t>
            </a:r>
            <a:r>
              <a:rPr lang="en-US" altLang="zh-CN" sz="1600" b="1" i="1" dirty="0">
                <a:solidFill>
                  <a:srgbClr val="000000"/>
                </a:solidFill>
                <a:latin typeface="Arial" panose="020B0604020202020204" pitchFamily="34" charset="0"/>
                <a:ea typeface="黑体" panose="02010609060101010101" pitchFamily="49" charset="-122"/>
              </a:rPr>
              <a:t>def_op_list</a:t>
            </a:r>
            <a:r>
              <a:rPr lang="en-US" altLang="zh-CN" sz="1600" dirty="0">
                <a:solidFill>
                  <a:srgbClr val="000000"/>
                </a:solidFill>
                <a:latin typeface="Arial" panose="020B0604020202020204" pitchFamily="34" charset="0"/>
                <a:ea typeface="黑体" panose="02010609060101010101" pitchFamily="49" charset="-122"/>
              </a:rPr>
              <a:t> be the defining op's list of </a:t>
            </a:r>
            <a:r>
              <a:rPr lang="en-US" altLang="zh-CN" sz="1600" b="1" i="1" dirty="0">
                <a:solidFill>
                  <a:srgbClr val="000000"/>
                </a:solidFill>
                <a:latin typeface="Arial" panose="020B0604020202020204" pitchFamily="34" charset="0"/>
                <a:ea typeface="黑体" panose="02010609060101010101" pitchFamily="49" charset="-122"/>
              </a:rPr>
              <a:t>operand</a:t>
            </a: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while (</a:t>
            </a:r>
            <a:r>
              <a:rPr lang="en-US" altLang="zh-CN" sz="1600" b="1" i="1" dirty="0">
                <a:solidFill>
                  <a:srgbClr val="000000"/>
                </a:solidFill>
                <a:latin typeface="Arial" panose="020B0604020202020204" pitchFamily="34" charset="0"/>
                <a:ea typeface="黑体" panose="02010609060101010101" pitchFamily="49" charset="-122"/>
              </a:rPr>
              <a:t>def_op_list</a:t>
            </a:r>
            <a:r>
              <a:rPr lang="en-US" altLang="zh-CN" sz="1600" dirty="0">
                <a:solidFill>
                  <a:srgbClr val="000000"/>
                </a:solidFill>
                <a:latin typeface="Arial" panose="020B0604020202020204" pitchFamily="34" charset="0"/>
                <a:ea typeface="黑体" panose="02010609060101010101" pitchFamily="49" charset="-122"/>
              </a:rPr>
              <a:t> != NULL)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Get an </a:t>
            </a:r>
            <a:r>
              <a:rPr lang="en-US" altLang="zh-CN" sz="1600" b="1" i="1" dirty="0">
                <a:solidFill>
                  <a:srgbClr val="000000"/>
                </a:solidFill>
                <a:latin typeface="Arial" panose="020B0604020202020204" pitchFamily="34" charset="0"/>
                <a:ea typeface="黑体" panose="02010609060101010101" pitchFamily="49" charset="-122"/>
              </a:rPr>
              <a:t>def_op</a:t>
            </a:r>
            <a:r>
              <a:rPr lang="en-US" altLang="zh-CN" sz="1600" dirty="0">
                <a:solidFill>
                  <a:srgbClr val="000000"/>
                </a:solidFill>
                <a:latin typeface="Arial" panose="020B0604020202020204" pitchFamily="34" charset="0"/>
                <a:ea typeface="黑体" panose="02010609060101010101" pitchFamily="49" charset="-122"/>
              </a:rPr>
              <a:t> from def_op_list;</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If (dependence exists between </a:t>
            </a:r>
            <a:r>
              <a:rPr lang="en-US" altLang="zh-CN" sz="1600" b="1" i="1" dirty="0">
                <a:solidFill>
                  <a:srgbClr val="000000"/>
                </a:solidFill>
                <a:latin typeface="Arial" panose="020B0604020202020204" pitchFamily="34" charset="0"/>
                <a:ea typeface="黑体" panose="02010609060101010101" pitchFamily="49" charset="-122"/>
              </a:rPr>
              <a:t>def_op</a:t>
            </a:r>
            <a:r>
              <a:rPr lang="en-US" altLang="zh-CN" sz="1600" dirty="0">
                <a:solidFill>
                  <a:srgbClr val="000000"/>
                </a:solidFill>
                <a:latin typeface="Arial" panose="020B0604020202020204" pitchFamily="34" charset="0"/>
                <a:ea typeface="黑体" panose="02010609060101010101" pitchFamily="49" charset="-122"/>
              </a:rPr>
              <a:t> and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Build an edge between </a:t>
            </a:r>
            <a:r>
              <a:rPr lang="en-US" altLang="zh-CN" sz="1600" b="1" i="1" dirty="0">
                <a:solidFill>
                  <a:srgbClr val="000000"/>
                </a:solidFill>
                <a:latin typeface="Arial" panose="020B0604020202020204" pitchFamily="34" charset="0"/>
                <a:ea typeface="黑体" panose="02010609060101010101" pitchFamily="49" charset="-122"/>
              </a:rPr>
              <a:t>def_op</a:t>
            </a:r>
            <a:r>
              <a:rPr lang="en-US" altLang="zh-CN" sz="1600" dirty="0">
                <a:solidFill>
                  <a:srgbClr val="000000"/>
                </a:solidFill>
                <a:latin typeface="Arial" panose="020B0604020202020204" pitchFamily="34" charset="0"/>
                <a:ea typeface="黑体" panose="02010609060101010101" pitchFamily="49" charset="-122"/>
              </a:rPr>
              <a:t> and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Add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 to the defining op's list of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's </a:t>
            </a:r>
            <a:r>
              <a:rPr lang="en-US" altLang="zh-CN" sz="1600" b="1" i="1" dirty="0">
                <a:solidFill>
                  <a:srgbClr val="000000"/>
                </a:solidFill>
                <a:latin typeface="Arial" panose="020B0604020202020204" pitchFamily="34" charset="0"/>
                <a:ea typeface="黑体" panose="02010609060101010101" pitchFamily="49" charset="-122"/>
              </a:rPr>
              <a:t>results</a:t>
            </a: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Remove those ops in the list that shadowed by </a:t>
            </a:r>
            <a:r>
              <a:rPr lang="en-US" altLang="zh-CN" sz="1600" b="1" i="1" dirty="0">
                <a:solidFill>
                  <a:srgbClr val="000000"/>
                </a:solidFill>
                <a:latin typeface="Arial" panose="020B0604020202020204" pitchFamily="34" charset="0"/>
                <a:ea typeface="黑体" panose="02010609060101010101" pitchFamily="49" charset="-122"/>
              </a:rPr>
              <a:t>op</a:t>
            </a: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solidFill>
                <a:srgbClr val="000000"/>
              </a:solidFill>
              <a:latin typeface="Arial" panose="020B0604020202020204" pitchFamily="34" charset="0"/>
              <a:ea typeface="黑体" panose="02010609060101010101" pitchFamily="49" charset="-122"/>
            </a:endParaRPr>
          </a:p>
        </p:txBody>
      </p:sp>
    </p:spTree>
  </p:cSld>
  <p:clrMapOvr>
    <a:masterClrMapping/>
  </p:clrMapOvr>
  <p:transition spd="slow"/>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298" name="Rectangle 2"/>
          <p:cNvSpPr/>
          <p:nvPr/>
        </p:nvSpPr>
        <p:spPr>
          <a:xfrm>
            <a:off x="5183188" y="1528763"/>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add t1 = 8,p</a:t>
            </a:r>
            <a:endParaRPr lang="en-US" altLang="zh-CN" sz="1400" dirty="0">
              <a:latin typeface="Arial" panose="020B0604020202020204" pitchFamily="34" charset="0"/>
              <a:ea typeface="黑体" panose="02010609060101010101" pitchFamily="49" charset="-122"/>
            </a:endParaRPr>
          </a:p>
        </p:txBody>
      </p:sp>
      <p:sp>
        <p:nvSpPr>
          <p:cNvPr id="439299" name="Rectangle 3"/>
          <p:cNvSpPr/>
          <p:nvPr/>
        </p:nvSpPr>
        <p:spPr>
          <a:xfrm>
            <a:off x="4038600" y="2895600"/>
            <a:ext cx="1862138"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ld4 t2 = [log]</a:t>
            </a:r>
            <a:endParaRPr lang="en-US" altLang="zh-CN" sz="1400" dirty="0">
              <a:latin typeface="Arial" panose="020B0604020202020204" pitchFamily="34" charset="0"/>
              <a:ea typeface="黑体" panose="02010609060101010101" pitchFamily="49" charset="-122"/>
            </a:endParaRPr>
          </a:p>
        </p:txBody>
      </p:sp>
      <p:sp>
        <p:nvSpPr>
          <p:cNvPr id="439300" name="Rectangle 4"/>
          <p:cNvSpPr/>
          <p:nvPr/>
        </p:nvSpPr>
        <p:spPr>
          <a:xfrm>
            <a:off x="4033838" y="3349625"/>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add t2 = 1,t2</a:t>
            </a:r>
            <a:endParaRPr lang="en-US" altLang="zh-CN" sz="1400" dirty="0">
              <a:latin typeface="Arial" panose="020B0604020202020204" pitchFamily="34" charset="0"/>
              <a:ea typeface="黑体" panose="02010609060101010101" pitchFamily="49" charset="-122"/>
            </a:endParaRPr>
          </a:p>
        </p:txBody>
      </p:sp>
      <p:sp>
        <p:nvSpPr>
          <p:cNvPr id="439301" name="Rectangle 5"/>
          <p:cNvSpPr/>
          <p:nvPr/>
        </p:nvSpPr>
        <p:spPr>
          <a:xfrm>
            <a:off x="6451600" y="3805238"/>
            <a:ext cx="1862138"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mov out0 = 0</a:t>
            </a:r>
            <a:endParaRPr lang="en-US" altLang="zh-CN" sz="1400" dirty="0">
              <a:latin typeface="Arial" panose="020B0604020202020204" pitchFamily="34" charset="0"/>
              <a:ea typeface="黑体" panose="02010609060101010101" pitchFamily="49" charset="-122"/>
            </a:endParaRPr>
          </a:p>
        </p:txBody>
      </p:sp>
      <p:sp>
        <p:nvSpPr>
          <p:cNvPr id="439302" name="Rectangle 6"/>
          <p:cNvSpPr/>
          <p:nvPr/>
        </p:nvSpPr>
        <p:spPr>
          <a:xfrm>
            <a:off x="5168900" y="5630863"/>
            <a:ext cx="1862138"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br.ret  rp</a:t>
            </a:r>
            <a:endParaRPr lang="en-US" altLang="zh-CN" sz="1400" dirty="0">
              <a:latin typeface="Arial" panose="020B0604020202020204" pitchFamily="34" charset="0"/>
              <a:ea typeface="黑体" panose="02010609060101010101" pitchFamily="49" charset="-122"/>
            </a:endParaRPr>
          </a:p>
        </p:txBody>
      </p:sp>
      <p:sp>
        <p:nvSpPr>
          <p:cNvPr id="439303" name="Rectangle 7"/>
          <p:cNvSpPr/>
          <p:nvPr/>
        </p:nvSpPr>
        <p:spPr>
          <a:xfrm>
            <a:off x="4040188" y="5164138"/>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ld4 out0 = [t4]</a:t>
            </a:r>
            <a:endParaRPr lang="en-US" altLang="zh-CN" sz="1400" dirty="0">
              <a:latin typeface="Arial" panose="020B0604020202020204" pitchFamily="34" charset="0"/>
              <a:ea typeface="黑体" panose="02010609060101010101" pitchFamily="49" charset="-122"/>
            </a:endParaRPr>
          </a:p>
        </p:txBody>
      </p:sp>
      <p:sp>
        <p:nvSpPr>
          <p:cNvPr id="439304" name="Rectangle 8"/>
          <p:cNvSpPr/>
          <p:nvPr/>
        </p:nvSpPr>
        <p:spPr>
          <a:xfrm>
            <a:off x="4035425" y="4711700"/>
            <a:ext cx="1862138"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shladd t4 = n,2,t3</a:t>
            </a:r>
            <a:endParaRPr lang="en-US" altLang="zh-CN" sz="1400" dirty="0">
              <a:latin typeface="Arial" panose="020B0604020202020204" pitchFamily="34" charset="0"/>
              <a:ea typeface="黑体" panose="02010609060101010101" pitchFamily="49" charset="-122"/>
            </a:endParaRPr>
          </a:p>
        </p:txBody>
      </p:sp>
      <p:sp>
        <p:nvSpPr>
          <p:cNvPr id="439305" name="Rectangle 9"/>
          <p:cNvSpPr/>
          <p:nvPr/>
        </p:nvSpPr>
        <p:spPr>
          <a:xfrm>
            <a:off x="4040188" y="4262438"/>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ld4 t3 = [p]</a:t>
            </a:r>
            <a:endParaRPr lang="en-US" altLang="zh-CN" sz="1400" dirty="0">
              <a:latin typeface="Arial" panose="020B0604020202020204" pitchFamily="34" charset="0"/>
              <a:ea typeface="黑体" panose="02010609060101010101" pitchFamily="49" charset="-122"/>
            </a:endParaRPr>
          </a:p>
        </p:txBody>
      </p:sp>
      <p:sp>
        <p:nvSpPr>
          <p:cNvPr id="439306" name="Rectangle 10"/>
          <p:cNvSpPr/>
          <p:nvPr/>
        </p:nvSpPr>
        <p:spPr>
          <a:xfrm>
            <a:off x="4040188" y="3784600"/>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st4 [log] = t2</a:t>
            </a:r>
            <a:endParaRPr lang="en-US" altLang="zh-CN" sz="1400" dirty="0">
              <a:latin typeface="Arial" panose="020B0604020202020204" pitchFamily="34" charset="0"/>
              <a:ea typeface="黑体" panose="02010609060101010101" pitchFamily="49" charset="-122"/>
            </a:endParaRPr>
          </a:p>
        </p:txBody>
      </p:sp>
      <p:sp>
        <p:nvSpPr>
          <p:cNvPr id="439307" name="Rectangle 11"/>
          <p:cNvSpPr/>
          <p:nvPr/>
        </p:nvSpPr>
        <p:spPr>
          <a:xfrm>
            <a:off x="5183188" y="1955800"/>
            <a:ext cx="1862137"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ld4 count = [t1]</a:t>
            </a:r>
            <a:endParaRPr lang="en-US" altLang="zh-CN" sz="1400" dirty="0">
              <a:latin typeface="Arial" panose="020B0604020202020204" pitchFamily="34" charset="0"/>
              <a:ea typeface="黑体" panose="02010609060101010101" pitchFamily="49" charset="-122"/>
            </a:endParaRPr>
          </a:p>
        </p:txBody>
      </p:sp>
      <p:sp>
        <p:nvSpPr>
          <p:cNvPr id="439308" name="Rectangle 12"/>
          <p:cNvSpPr/>
          <p:nvPr/>
        </p:nvSpPr>
        <p:spPr>
          <a:xfrm>
            <a:off x="5105400" y="2433638"/>
            <a:ext cx="2055813" cy="260350"/>
          </a:xfrm>
          <a:prstGeom prst="rect">
            <a:avLst/>
          </a:prstGeom>
          <a:solidFill>
            <a:srgbClr val="ACC3FE"/>
          </a:solidFill>
          <a:ln w="12700" cap="flat"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0"/>
              </a:spcBef>
              <a:buClrTx/>
              <a:buSzTx/>
              <a:buNone/>
            </a:pPr>
            <a:r>
              <a:rPr lang="en-US" altLang="zh-CN" sz="1400" b="1" dirty="0">
                <a:latin typeface="Arial" panose="020B0604020202020204" pitchFamily="34" charset="0"/>
                <a:ea typeface="黑体" panose="02010609060101010101" pitchFamily="49" charset="-122"/>
              </a:rPr>
              <a:t>cmp4.ge p1,p2=n,count</a:t>
            </a:r>
            <a:endParaRPr lang="en-US" altLang="zh-CN" sz="1400" dirty="0">
              <a:latin typeface="Arial" panose="020B0604020202020204" pitchFamily="34" charset="0"/>
              <a:ea typeface="黑体" panose="02010609060101010101" pitchFamily="49" charset="-122"/>
            </a:endParaRPr>
          </a:p>
        </p:txBody>
      </p:sp>
      <p:sp>
        <p:nvSpPr>
          <p:cNvPr id="439309" name="Rectangle 13"/>
          <p:cNvSpPr>
            <a:spLocks noGrp="1"/>
          </p:cNvSpPr>
          <p:nvPr>
            <p:ph sz="half" idx="1"/>
          </p:nvPr>
        </p:nvSpPr>
        <p:spPr>
          <a:xfrm>
            <a:off x="1066800" y="1905000"/>
            <a:ext cx="3136900" cy="3711575"/>
          </a:xfrm>
        </p:spPr>
        <p:txBody>
          <a:bodyPr vert="horz" wrap="square" lIns="92075" tIns="46038" rIns="92075" bIns="46038" anchor="t" anchorCtr="0"/>
          <a:p>
            <a:pPr>
              <a:lnSpc>
                <a:spcPct val="90000"/>
              </a:lnSpc>
              <a:buClr>
                <a:schemeClr val="bg2"/>
              </a:buClr>
              <a:buSzPct val="125000"/>
              <a:buFontTx/>
              <a:buNone/>
            </a:pPr>
            <a:r>
              <a:rPr lang="en-US" altLang="zh-CN" sz="2000" b="1" dirty="0">
                <a:latin typeface="+mn-lt"/>
                <a:ea typeface="宋体" panose="02010600030101010101" pitchFamily="2" charset="-122"/>
                <a:cs typeface="+mn-cs"/>
              </a:rPr>
              <a:t>struct dyn-array {</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int *x;</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int count;</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dyn-array *p;</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If( n &lt; p-&gt;count ) {</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      (*log)++;</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      return p-&gt;x[n];</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 else {</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      return 0;</a:t>
            </a:r>
            <a:endParaRPr lang="en-US" altLang="zh-CN" sz="2000" b="1" dirty="0">
              <a:latin typeface="+mn-lt"/>
              <a:ea typeface="宋体" panose="02010600030101010101" pitchFamily="2" charset="-122"/>
              <a:cs typeface="+mn-cs"/>
            </a:endParaRPr>
          </a:p>
          <a:p>
            <a:pPr>
              <a:lnSpc>
                <a:spcPct val="90000"/>
              </a:lnSpc>
              <a:buClr>
                <a:schemeClr val="bg2"/>
              </a:buClr>
              <a:buSzPct val="125000"/>
              <a:buFontTx/>
              <a:buNone/>
            </a:pPr>
            <a:r>
              <a:rPr lang="en-US" altLang="zh-CN" sz="2000" b="1" dirty="0">
                <a:latin typeface="+mn-lt"/>
                <a:ea typeface="宋体" panose="02010600030101010101" pitchFamily="2" charset="-122"/>
                <a:cs typeface="+mn-cs"/>
              </a:rPr>
              <a:t>}</a:t>
            </a:r>
            <a:endParaRPr lang="en-US" altLang="zh-CN" sz="2000" b="1" dirty="0">
              <a:latin typeface="+mn-lt"/>
              <a:ea typeface="宋体" panose="02010600030101010101" pitchFamily="2" charset="-122"/>
              <a:cs typeface="+mn-cs"/>
            </a:endParaRPr>
          </a:p>
        </p:txBody>
      </p:sp>
      <p:sp>
        <p:nvSpPr>
          <p:cNvPr id="439310" name="Line 14"/>
          <p:cNvSpPr/>
          <p:nvPr/>
        </p:nvSpPr>
        <p:spPr>
          <a:xfrm>
            <a:off x="6118225" y="1789113"/>
            <a:ext cx="0" cy="185737"/>
          </a:xfrm>
          <a:prstGeom prst="line">
            <a:avLst/>
          </a:prstGeom>
          <a:ln w="12700" cap="flat" cmpd="sng">
            <a:solidFill>
              <a:schemeClr val="tx1"/>
            </a:solidFill>
            <a:prstDash val="solid"/>
            <a:headEnd type="none" w="sm" len="sm"/>
            <a:tailEnd type="triangle" w="med" len="med"/>
          </a:ln>
        </p:spPr>
      </p:sp>
      <p:sp>
        <p:nvSpPr>
          <p:cNvPr id="439311" name="Line 15"/>
          <p:cNvSpPr/>
          <p:nvPr/>
        </p:nvSpPr>
        <p:spPr>
          <a:xfrm>
            <a:off x="6118225" y="2247900"/>
            <a:ext cx="0" cy="185738"/>
          </a:xfrm>
          <a:prstGeom prst="line">
            <a:avLst/>
          </a:prstGeom>
          <a:ln w="12700" cap="flat" cmpd="sng">
            <a:solidFill>
              <a:schemeClr val="tx1"/>
            </a:solidFill>
            <a:prstDash val="solid"/>
            <a:headEnd type="none" w="sm" len="sm"/>
            <a:tailEnd type="triangle" w="med" len="med"/>
          </a:ln>
        </p:spPr>
      </p:sp>
      <p:sp>
        <p:nvSpPr>
          <p:cNvPr id="439312" name="Line 16"/>
          <p:cNvSpPr/>
          <p:nvPr/>
        </p:nvSpPr>
        <p:spPr>
          <a:xfrm flipH="1">
            <a:off x="5183188" y="2693988"/>
            <a:ext cx="935037" cy="190500"/>
          </a:xfrm>
          <a:prstGeom prst="line">
            <a:avLst/>
          </a:prstGeom>
          <a:ln w="12700" cap="flat" cmpd="sng">
            <a:solidFill>
              <a:schemeClr val="tx1"/>
            </a:solidFill>
            <a:prstDash val="solid"/>
            <a:headEnd type="none" w="sm" len="sm"/>
            <a:tailEnd type="triangle" w="med" len="med"/>
          </a:ln>
        </p:spPr>
      </p:sp>
      <p:sp>
        <p:nvSpPr>
          <p:cNvPr id="439313" name="Line 17"/>
          <p:cNvSpPr/>
          <p:nvPr/>
        </p:nvSpPr>
        <p:spPr>
          <a:xfrm>
            <a:off x="4983163" y="3179763"/>
            <a:ext cx="0" cy="185737"/>
          </a:xfrm>
          <a:prstGeom prst="line">
            <a:avLst/>
          </a:prstGeom>
          <a:ln w="12700" cap="flat" cmpd="sng">
            <a:solidFill>
              <a:schemeClr val="tx1"/>
            </a:solidFill>
            <a:prstDash val="solid"/>
            <a:headEnd type="none" w="sm" len="sm"/>
            <a:tailEnd type="triangle" w="med" len="med"/>
          </a:ln>
        </p:spPr>
      </p:sp>
      <p:sp>
        <p:nvSpPr>
          <p:cNvPr id="439314" name="Line 18"/>
          <p:cNvSpPr/>
          <p:nvPr/>
        </p:nvSpPr>
        <p:spPr>
          <a:xfrm>
            <a:off x="4983163" y="3608388"/>
            <a:ext cx="0" cy="185737"/>
          </a:xfrm>
          <a:prstGeom prst="line">
            <a:avLst/>
          </a:prstGeom>
          <a:ln w="12700" cap="flat" cmpd="sng">
            <a:solidFill>
              <a:schemeClr val="tx1"/>
            </a:solidFill>
            <a:prstDash val="solid"/>
            <a:headEnd type="none" w="sm" len="sm"/>
            <a:tailEnd type="triangle" w="med" len="med"/>
          </a:ln>
        </p:spPr>
      </p:sp>
      <p:sp>
        <p:nvSpPr>
          <p:cNvPr id="439315" name="Line 19"/>
          <p:cNvSpPr/>
          <p:nvPr/>
        </p:nvSpPr>
        <p:spPr>
          <a:xfrm>
            <a:off x="4983163" y="4065588"/>
            <a:ext cx="0" cy="185737"/>
          </a:xfrm>
          <a:prstGeom prst="line">
            <a:avLst/>
          </a:prstGeom>
          <a:ln w="12700" cap="flat" cmpd="sng">
            <a:solidFill>
              <a:schemeClr val="tx1"/>
            </a:solidFill>
            <a:prstDash val="solid"/>
            <a:headEnd type="none" w="sm" len="sm"/>
            <a:tailEnd type="triangle" w="med" len="med"/>
          </a:ln>
        </p:spPr>
      </p:sp>
      <p:sp>
        <p:nvSpPr>
          <p:cNvPr id="439316" name="Line 20"/>
          <p:cNvSpPr/>
          <p:nvPr/>
        </p:nvSpPr>
        <p:spPr>
          <a:xfrm>
            <a:off x="4983163" y="4522788"/>
            <a:ext cx="0" cy="185737"/>
          </a:xfrm>
          <a:prstGeom prst="line">
            <a:avLst/>
          </a:prstGeom>
          <a:ln w="12700" cap="flat" cmpd="sng">
            <a:solidFill>
              <a:schemeClr val="tx1"/>
            </a:solidFill>
            <a:prstDash val="solid"/>
            <a:headEnd type="none" w="sm" len="sm"/>
            <a:tailEnd type="triangle" w="med" len="med"/>
          </a:ln>
        </p:spPr>
      </p:sp>
      <p:sp>
        <p:nvSpPr>
          <p:cNvPr id="439317" name="Line 21"/>
          <p:cNvSpPr/>
          <p:nvPr/>
        </p:nvSpPr>
        <p:spPr>
          <a:xfrm>
            <a:off x="4983163" y="4976813"/>
            <a:ext cx="0" cy="185737"/>
          </a:xfrm>
          <a:prstGeom prst="line">
            <a:avLst/>
          </a:prstGeom>
          <a:ln w="12700" cap="flat" cmpd="sng">
            <a:solidFill>
              <a:schemeClr val="tx1"/>
            </a:solidFill>
            <a:prstDash val="solid"/>
            <a:headEnd type="none" w="sm" len="sm"/>
            <a:tailEnd type="triangle" w="med" len="med"/>
          </a:ln>
        </p:spPr>
      </p:sp>
      <p:sp>
        <p:nvSpPr>
          <p:cNvPr id="439318" name="Line 22"/>
          <p:cNvSpPr/>
          <p:nvPr/>
        </p:nvSpPr>
        <p:spPr>
          <a:xfrm>
            <a:off x="4983163" y="5405438"/>
            <a:ext cx="644525" cy="228600"/>
          </a:xfrm>
          <a:prstGeom prst="line">
            <a:avLst/>
          </a:prstGeom>
          <a:ln w="12700" cap="flat" cmpd="sng">
            <a:solidFill>
              <a:schemeClr val="tx1"/>
            </a:solidFill>
            <a:prstDash val="solid"/>
            <a:headEnd type="none" w="sm" len="sm"/>
            <a:tailEnd type="triangle" w="med" len="med"/>
          </a:ln>
        </p:spPr>
      </p:sp>
      <p:sp>
        <p:nvSpPr>
          <p:cNvPr id="439319" name="Line 23"/>
          <p:cNvSpPr/>
          <p:nvPr/>
        </p:nvSpPr>
        <p:spPr>
          <a:xfrm>
            <a:off x="6173788" y="2717800"/>
            <a:ext cx="1312862" cy="1122363"/>
          </a:xfrm>
          <a:prstGeom prst="line">
            <a:avLst/>
          </a:prstGeom>
          <a:ln w="12700" cap="flat" cmpd="sng">
            <a:solidFill>
              <a:schemeClr val="tx1"/>
            </a:solidFill>
            <a:prstDash val="solid"/>
            <a:headEnd type="none" w="sm" len="sm"/>
            <a:tailEnd type="triangle" w="med" len="med"/>
          </a:ln>
        </p:spPr>
      </p:sp>
      <p:sp>
        <p:nvSpPr>
          <p:cNvPr id="439320" name="Line 24"/>
          <p:cNvSpPr/>
          <p:nvPr/>
        </p:nvSpPr>
        <p:spPr>
          <a:xfrm flipH="1">
            <a:off x="6416675" y="4065588"/>
            <a:ext cx="981075" cy="1527175"/>
          </a:xfrm>
          <a:prstGeom prst="line">
            <a:avLst/>
          </a:prstGeom>
          <a:ln w="12700" cap="flat" cmpd="sng">
            <a:solidFill>
              <a:schemeClr val="tx1"/>
            </a:solidFill>
            <a:prstDash val="solid"/>
            <a:headEnd type="none" w="sm" len="sm"/>
            <a:tailEnd type="triangle" w="med" len="med"/>
          </a:ln>
        </p:spPr>
      </p:sp>
      <p:sp>
        <p:nvSpPr>
          <p:cNvPr id="439321" name="Text Box 25"/>
          <p:cNvSpPr txBox="1"/>
          <p:nvPr/>
        </p:nvSpPr>
        <p:spPr>
          <a:xfrm>
            <a:off x="6859588" y="3098800"/>
            <a:ext cx="381000" cy="336550"/>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600" dirty="0">
                <a:latin typeface="Arial" panose="020B0604020202020204" pitchFamily="34" charset="0"/>
                <a:ea typeface="黑体" panose="02010609060101010101" pitchFamily="49" charset="-122"/>
              </a:rPr>
              <a:t>Y</a:t>
            </a:r>
            <a:endParaRPr lang="en-US" altLang="zh-CN" sz="1600" dirty="0">
              <a:latin typeface="Arial" panose="020B0604020202020204" pitchFamily="34" charset="0"/>
              <a:ea typeface="黑体" panose="02010609060101010101" pitchFamily="49" charset="-122"/>
            </a:endParaRPr>
          </a:p>
        </p:txBody>
      </p:sp>
      <p:sp>
        <p:nvSpPr>
          <p:cNvPr id="439322" name="Text Box 26"/>
          <p:cNvSpPr txBox="1"/>
          <p:nvPr/>
        </p:nvSpPr>
        <p:spPr>
          <a:xfrm>
            <a:off x="5868988" y="2717800"/>
            <a:ext cx="381000" cy="336550"/>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1600" dirty="0">
                <a:latin typeface="Arial" panose="020B0604020202020204" pitchFamily="34" charset="0"/>
                <a:ea typeface="黑体" panose="02010609060101010101" pitchFamily="49" charset="-122"/>
              </a:rPr>
              <a:t>N</a:t>
            </a:r>
            <a:endParaRPr lang="en-US" altLang="zh-CN" sz="1600" dirty="0">
              <a:latin typeface="Arial" panose="020B0604020202020204" pitchFamily="34" charset="0"/>
              <a:ea typeface="黑体" panose="02010609060101010101" pitchFamily="49" charset="-122"/>
            </a:endParaRPr>
          </a:p>
        </p:txBody>
      </p:sp>
      <p:sp>
        <p:nvSpPr>
          <p:cNvPr id="439323" name="Rectangle 27"/>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依赖图的例子</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13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a:t>
            </a:r>
            <a:endParaRPr lang="zh-CN" altLang="en-US" dirty="0">
              <a:latin typeface="Times New Roman" panose="02020603050405020304" pitchFamily="18" charset="0"/>
              <a:ea typeface="宋体" panose="02010600030101010101" pitchFamily="2" charset="-122"/>
            </a:endParaRPr>
          </a:p>
        </p:txBody>
      </p:sp>
      <p:sp>
        <p:nvSpPr>
          <p:cNvPr id="441347" name="Rectangle 3"/>
          <p:cNvSpPr>
            <a:spLocks noGrp="1"/>
          </p:cNvSpPr>
          <p:nvPr>
            <p:ph idx="1"/>
          </p:nvPr>
        </p:nvSpPr>
        <p:spPr>
          <a:xfrm>
            <a:off x="914400" y="1371600"/>
            <a:ext cx="7543800" cy="4800600"/>
          </a:xfrm>
        </p:spPr>
        <p:txBody>
          <a:bodyPr vert="horz" wrap="square" lIns="92075" tIns="46038" rIns="92075" bIns="46038" anchor="t" anchorCtr="0"/>
          <a:p>
            <a:r>
              <a:rPr lang="zh-CN" altLang="en-US" sz="2400" b="1" dirty="0">
                <a:ea typeface="宋体" panose="02010600030101010101" pitchFamily="2" charset="-122"/>
              </a:rPr>
              <a:t>在满足依赖关系、资源约束及硬件施加的其它约束条件的前提下，重新排定指令执行的顺序，提高资源利用率，使多个操作能够并行执行，同时减少因相关引起的处理器停顿，以缩短程序的执行时间。</a:t>
            </a:r>
            <a:endParaRPr lang="zh-CN" altLang="en-US" sz="2400" b="1" dirty="0">
              <a:ea typeface="宋体" panose="02010600030101010101" pitchFamily="2" charset="-122"/>
            </a:endParaRPr>
          </a:p>
          <a:p>
            <a:r>
              <a:rPr lang="en-US" altLang="zh-CN" sz="2400" b="1" dirty="0">
                <a:ea typeface="宋体" panose="02010600030101010101" pitchFamily="2" charset="-122"/>
              </a:rPr>
              <a:t>NP－</a:t>
            </a:r>
            <a:r>
              <a:rPr lang="zh-CN" altLang="en-US" sz="2400" b="1" dirty="0">
                <a:ea typeface="宋体" panose="02010600030101010101" pitchFamily="2" charset="-122"/>
              </a:rPr>
              <a:t>完全问题</a:t>
            </a:r>
            <a:endParaRPr lang="zh-CN" altLang="en-US" sz="2400" b="1" dirty="0">
              <a:ea typeface="宋体" panose="02010600030101010101" pitchFamily="2" charset="-122"/>
            </a:endParaRPr>
          </a:p>
          <a:p>
            <a:r>
              <a:rPr lang="zh-CN" altLang="en-US" sz="2400" b="1" dirty="0">
                <a:ea typeface="宋体" panose="02010600030101010101" pitchFamily="2" charset="-122"/>
              </a:rPr>
              <a:t>指令调度的复杂性来自于程序控制流和数据流的复杂性，以及硬件平台的复杂性。</a:t>
            </a:r>
            <a:endParaRPr lang="zh-CN" altLang="en-US" sz="2400" b="1" dirty="0">
              <a:ea typeface="宋体" panose="02010600030101010101" pitchFamily="2" charset="-122"/>
            </a:endParaRPr>
          </a:p>
          <a:p>
            <a:r>
              <a:rPr lang="zh-CN" altLang="en-US" sz="2400" b="1" dirty="0">
                <a:ea typeface="宋体" panose="02010600030101010101" pitchFamily="2" charset="-122"/>
              </a:rPr>
              <a:t>处理上述复杂性的方法：</a:t>
            </a:r>
            <a:endParaRPr lang="zh-CN" altLang="en-US" sz="2400" b="1" dirty="0">
              <a:ea typeface="宋体" panose="02010600030101010101" pitchFamily="2" charset="-122"/>
            </a:endParaRPr>
          </a:p>
          <a:p>
            <a:pPr lvl="1"/>
            <a:r>
              <a:rPr lang="zh-CN" altLang="en-US" sz="2200" b="1" dirty="0">
                <a:ea typeface="宋体" panose="02010600030101010101" pitchFamily="2" charset="-122"/>
              </a:rPr>
              <a:t>限制指令调度的范围，将流图划分为若干具有良好性质的、规模可控的区域。</a:t>
            </a:r>
            <a:endParaRPr lang="zh-CN" altLang="en-US" sz="2200" b="1" dirty="0">
              <a:ea typeface="宋体" panose="02010600030101010101" pitchFamily="2" charset="-122"/>
            </a:endParaRPr>
          </a:p>
          <a:p>
            <a:pPr lvl="1"/>
            <a:r>
              <a:rPr lang="zh-CN" altLang="en-US" sz="2200" b="1" dirty="0">
                <a:ea typeface="宋体" panose="02010600030101010101" pitchFamily="2" charset="-122"/>
              </a:rPr>
              <a:t>将机器相关部分从指令调度中分离出来。</a:t>
            </a:r>
            <a:endParaRPr lang="zh-CN" altLang="en-US" sz="2200" b="1" dirty="0">
              <a:ea typeface="宋体" panose="02010600030101010101" pitchFamily="2" charset="-122"/>
            </a:endParaRPr>
          </a:p>
        </p:txBody>
      </p:sp>
    </p:spTree>
  </p:cSld>
  <p:clrMapOvr>
    <a:masterClrMapping/>
  </p:clrMapOvr>
  <p:transition spd="slow"/>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339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指令调度的一般步骤</a:t>
            </a:r>
            <a:endParaRPr lang="zh-CN" altLang="en-US" dirty="0">
              <a:latin typeface="Times New Roman" panose="02020603050405020304" pitchFamily="18" charset="0"/>
              <a:ea typeface="宋体" panose="02010600030101010101" pitchFamily="2" charset="-122"/>
            </a:endParaRPr>
          </a:p>
        </p:txBody>
      </p:sp>
      <p:sp>
        <p:nvSpPr>
          <p:cNvPr id="443395" name="Rectangle 3"/>
          <p:cNvSpPr>
            <a:spLocks noGrp="1"/>
          </p:cNvSpPr>
          <p:nvPr>
            <p:ph idx="1"/>
          </p:nvPr>
        </p:nvSpPr>
        <p:spPr/>
        <p:txBody>
          <a:bodyPr vert="horz" wrap="square" lIns="92075" tIns="46038" rIns="92075" bIns="46038" anchor="t" anchorCtr="0"/>
          <a:p>
            <a:pPr marL="457200" indent="-457200">
              <a:buFontTx/>
              <a:buAutoNum type="arabicPeriod"/>
            </a:pPr>
            <a:r>
              <a:rPr lang="zh-CN" altLang="en-US" sz="2400" b="1" dirty="0">
                <a:ea typeface="宋体" panose="02010600030101010101" pitchFamily="2" charset="-122"/>
              </a:rPr>
              <a:t>构造区域 (</a:t>
            </a:r>
            <a:r>
              <a:rPr lang="en-US" altLang="zh-CN" sz="2400" b="1" dirty="0">
                <a:ea typeface="宋体" panose="02010600030101010101" pitchFamily="2" charset="-122"/>
              </a:rPr>
              <a:t>Region)</a:t>
            </a:r>
            <a:endParaRPr lang="en-US" altLang="zh-CN" sz="2400" b="1" dirty="0">
              <a:ea typeface="宋体" panose="02010600030101010101" pitchFamily="2" charset="-122"/>
            </a:endParaRPr>
          </a:p>
          <a:p>
            <a:pPr marL="457200" indent="-457200">
              <a:buFontTx/>
              <a:buAutoNum type="arabicPeriod"/>
            </a:pPr>
            <a:r>
              <a:rPr lang="zh-CN" altLang="en-US" sz="2400" b="1" dirty="0">
                <a:ea typeface="宋体" panose="02010600030101010101" pitchFamily="2" charset="-122"/>
              </a:rPr>
              <a:t>构造区域上的依赖图</a:t>
            </a:r>
            <a:endParaRPr lang="zh-CN" altLang="en-US" sz="2400" b="1" dirty="0">
              <a:ea typeface="宋体" panose="02010600030101010101" pitchFamily="2" charset="-122"/>
            </a:endParaRPr>
          </a:p>
          <a:p>
            <a:pPr marL="457200" indent="-457200">
              <a:buFontTx/>
              <a:buAutoNum type="arabicPeriod"/>
            </a:pPr>
            <a:r>
              <a:rPr lang="zh-CN" altLang="en-US" sz="2400" b="1" dirty="0">
                <a:ea typeface="宋体" panose="02010600030101010101" pitchFamily="2" charset="-122"/>
              </a:rPr>
              <a:t>根据依赖图进行调度</a:t>
            </a:r>
            <a:endParaRPr lang="zh-CN" altLang="en-US" sz="2400" b="1" dirty="0">
              <a:ea typeface="宋体" panose="02010600030101010101" pitchFamily="2" charset="-122"/>
            </a:endParaRPr>
          </a:p>
          <a:p>
            <a:pPr marL="457200" indent="-457200">
              <a:buFontTx/>
              <a:buAutoNum type="arabicPeriod"/>
            </a:pPr>
            <a:r>
              <a:rPr lang="zh-CN" altLang="en-US" sz="2400" b="1" dirty="0">
                <a:ea typeface="宋体" panose="02010600030101010101" pitchFamily="2" charset="-122"/>
              </a:rPr>
              <a:t>代码的修正</a:t>
            </a:r>
            <a:endParaRPr lang="zh-CN" altLang="en-US" sz="2400" b="1" dirty="0">
              <a:ea typeface="宋体" panose="02010600030101010101" pitchFamily="2" charset="-122"/>
            </a:endParaRPr>
          </a:p>
          <a:p>
            <a:pPr marL="457200" indent="-457200">
              <a:buFontTx/>
              <a:buAutoNum type="arabicPeriod"/>
            </a:pPr>
            <a:r>
              <a:rPr lang="zh-CN" altLang="en-US" sz="2400" b="1" dirty="0">
                <a:ea typeface="宋体" panose="02010600030101010101" pitchFamily="2" charset="-122"/>
              </a:rPr>
              <a:t>若有未调度的代码，重复上述步骤。</a:t>
            </a:r>
            <a:endParaRPr lang="zh-CN" altLang="en-US" sz="2400" b="1" dirty="0">
              <a:ea typeface="宋体" panose="02010600030101010101" pitchFamily="2" charset="-122"/>
            </a:endParaRPr>
          </a:p>
        </p:txBody>
      </p:sp>
    </p:spTree>
  </p:cSld>
  <p:clrMapOvr>
    <a:masterClrMapping/>
  </p:clrMapOvr>
  <p:transition spd="slow"/>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544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a:t>
            </a:r>
            <a:endParaRPr lang="zh-CN" altLang="en-US" dirty="0">
              <a:latin typeface="Times New Roman" panose="02020603050405020304" pitchFamily="18" charset="0"/>
              <a:ea typeface="宋体" panose="02010600030101010101" pitchFamily="2" charset="-122"/>
            </a:endParaRPr>
          </a:p>
        </p:txBody>
      </p:sp>
      <p:sp>
        <p:nvSpPr>
          <p:cNvPr id="445443" name="Rectangle 3"/>
          <p:cNvSpPr>
            <a:spLocks noGrp="1"/>
          </p:cNvSpPr>
          <p:nvPr>
            <p:ph idx="1"/>
          </p:nvPr>
        </p:nvSpPr>
        <p:spPr/>
        <p:txBody>
          <a:bodyPr vert="horz" wrap="square" lIns="92075" tIns="46038" rIns="92075" bIns="46038" anchor="t" anchorCtr="0"/>
          <a:p>
            <a:r>
              <a:rPr lang="zh-CN" altLang="en-US" sz="2400" b="1" dirty="0">
                <a:ea typeface="宋体" panose="02010600030101010101" pitchFamily="2" charset="-122"/>
              </a:rPr>
              <a:t>依据区域流图的性质，可如下分类：</a:t>
            </a:r>
            <a:endParaRPr lang="zh-CN" altLang="en-US" sz="2400" b="1" dirty="0">
              <a:ea typeface="宋体" panose="02010600030101010101" pitchFamily="2" charset="-122"/>
            </a:endParaRPr>
          </a:p>
        </p:txBody>
      </p:sp>
      <p:sp>
        <p:nvSpPr>
          <p:cNvPr id="445444" name="Rectangle 4"/>
          <p:cNvSpPr/>
          <p:nvPr/>
        </p:nvSpPr>
        <p:spPr>
          <a:xfrm>
            <a:off x="1295400" y="2895600"/>
            <a:ext cx="1143000" cy="381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指令调度</a:t>
            </a:r>
            <a:endParaRPr lang="zh-CN" altLang="en-US" sz="2000" b="1" dirty="0">
              <a:ea typeface="宋体" panose="02010600030101010101" pitchFamily="2" charset="-122"/>
            </a:endParaRPr>
          </a:p>
        </p:txBody>
      </p:sp>
      <p:sp>
        <p:nvSpPr>
          <p:cNvPr id="445445" name="Line 5"/>
          <p:cNvSpPr/>
          <p:nvPr/>
        </p:nvSpPr>
        <p:spPr>
          <a:xfrm>
            <a:off x="2667000" y="2514600"/>
            <a:ext cx="0" cy="1219200"/>
          </a:xfrm>
          <a:prstGeom prst="line">
            <a:avLst/>
          </a:prstGeom>
          <a:ln w="19050" cap="flat" cmpd="sng">
            <a:solidFill>
              <a:schemeClr val="tx1"/>
            </a:solidFill>
            <a:prstDash val="solid"/>
            <a:miter/>
            <a:headEnd type="none" w="med" len="med"/>
            <a:tailEnd type="none" w="med" len="med"/>
          </a:ln>
        </p:spPr>
      </p:sp>
      <p:sp>
        <p:nvSpPr>
          <p:cNvPr id="445446" name="Line 6"/>
          <p:cNvSpPr/>
          <p:nvPr/>
        </p:nvSpPr>
        <p:spPr>
          <a:xfrm>
            <a:off x="5715000" y="2209800"/>
            <a:ext cx="0" cy="1219200"/>
          </a:xfrm>
          <a:prstGeom prst="line">
            <a:avLst/>
          </a:prstGeom>
          <a:ln w="19050" cap="flat" cmpd="sng">
            <a:solidFill>
              <a:schemeClr val="tx1"/>
            </a:solidFill>
            <a:prstDash val="solid"/>
            <a:miter/>
            <a:headEnd type="none" w="med" len="med"/>
            <a:tailEnd type="none" w="med" len="med"/>
          </a:ln>
        </p:spPr>
      </p:sp>
      <p:sp>
        <p:nvSpPr>
          <p:cNvPr id="445447" name="Rectangle 7"/>
          <p:cNvSpPr/>
          <p:nvPr/>
        </p:nvSpPr>
        <p:spPr>
          <a:xfrm>
            <a:off x="5943600" y="2057400"/>
            <a:ext cx="12954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2000" b="1" dirty="0">
                <a:ea typeface="宋体" panose="02010600030101010101" pitchFamily="2" charset="-122"/>
              </a:rPr>
              <a:t>Trace </a:t>
            </a:r>
            <a:r>
              <a:rPr lang="zh-CN" altLang="en-US" sz="2000" b="1" dirty="0">
                <a:ea typeface="宋体" panose="02010600030101010101" pitchFamily="2" charset="-122"/>
              </a:rPr>
              <a:t>调度</a:t>
            </a:r>
            <a:endParaRPr lang="zh-CN" altLang="en-US" sz="2000" b="1" dirty="0">
              <a:ea typeface="宋体" panose="02010600030101010101" pitchFamily="2" charset="-122"/>
            </a:endParaRPr>
          </a:p>
        </p:txBody>
      </p:sp>
      <p:sp>
        <p:nvSpPr>
          <p:cNvPr id="445448" name="Rectangle 8"/>
          <p:cNvSpPr/>
          <p:nvPr/>
        </p:nvSpPr>
        <p:spPr>
          <a:xfrm>
            <a:off x="5943600" y="45720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选择调度</a:t>
            </a:r>
            <a:endParaRPr lang="zh-CN" altLang="en-US" sz="2000" b="1" dirty="0">
              <a:ea typeface="宋体" panose="02010600030101010101" pitchFamily="2" charset="-122"/>
            </a:endParaRPr>
          </a:p>
        </p:txBody>
      </p:sp>
      <p:sp>
        <p:nvSpPr>
          <p:cNvPr id="445449" name="Rectangle 9"/>
          <p:cNvSpPr/>
          <p:nvPr/>
        </p:nvSpPr>
        <p:spPr>
          <a:xfrm>
            <a:off x="5943600" y="2667000"/>
            <a:ext cx="28194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2000" b="1" dirty="0">
                <a:ea typeface="宋体" panose="02010600030101010101" pitchFamily="2" charset="-122"/>
              </a:rPr>
              <a:t>Superblock/Hyperblock</a:t>
            </a:r>
            <a:endParaRPr lang="en-US" altLang="zh-CN" sz="2000" b="1" dirty="0">
              <a:ea typeface="宋体" panose="02010600030101010101" pitchFamily="2" charset="-122"/>
            </a:endParaRPr>
          </a:p>
        </p:txBody>
      </p:sp>
      <p:sp>
        <p:nvSpPr>
          <p:cNvPr id="445450" name="Rectangle 10"/>
          <p:cNvSpPr/>
          <p:nvPr/>
        </p:nvSpPr>
        <p:spPr>
          <a:xfrm>
            <a:off x="5943600" y="3276600"/>
            <a:ext cx="12954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en-US" altLang="zh-CN" sz="2000" b="1" dirty="0">
                <a:ea typeface="宋体" panose="02010600030101010101" pitchFamily="2" charset="-122"/>
              </a:rPr>
              <a:t>SEME</a:t>
            </a:r>
            <a:r>
              <a:rPr lang="zh-CN" altLang="en-US" sz="2000" b="1" dirty="0">
                <a:ea typeface="宋体" panose="02010600030101010101" pitchFamily="2" charset="-122"/>
              </a:rPr>
              <a:t>区域调度</a:t>
            </a:r>
            <a:endParaRPr lang="zh-CN" altLang="en-US" sz="2000" b="1" dirty="0">
              <a:ea typeface="宋体" panose="02010600030101010101" pitchFamily="2" charset="-122"/>
            </a:endParaRPr>
          </a:p>
        </p:txBody>
      </p:sp>
      <p:sp>
        <p:nvSpPr>
          <p:cNvPr id="445451" name="Line 11"/>
          <p:cNvSpPr/>
          <p:nvPr/>
        </p:nvSpPr>
        <p:spPr>
          <a:xfrm>
            <a:off x="4191000" y="2819400"/>
            <a:ext cx="0" cy="1905000"/>
          </a:xfrm>
          <a:prstGeom prst="line">
            <a:avLst/>
          </a:prstGeom>
          <a:ln w="19050" cap="flat" cmpd="sng">
            <a:solidFill>
              <a:schemeClr val="tx1"/>
            </a:solidFill>
            <a:prstDash val="solid"/>
            <a:miter/>
            <a:headEnd type="none" w="med" len="med"/>
            <a:tailEnd type="none" w="med" len="med"/>
          </a:ln>
        </p:spPr>
      </p:sp>
      <p:sp>
        <p:nvSpPr>
          <p:cNvPr id="445452" name="Rectangle 12"/>
          <p:cNvSpPr/>
          <p:nvPr/>
        </p:nvSpPr>
        <p:spPr>
          <a:xfrm>
            <a:off x="4419600" y="26670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无环调度</a:t>
            </a:r>
            <a:endParaRPr lang="zh-CN" altLang="en-US" sz="2000" b="1" dirty="0">
              <a:ea typeface="宋体" panose="02010600030101010101" pitchFamily="2" charset="-122"/>
            </a:endParaRPr>
          </a:p>
        </p:txBody>
      </p:sp>
      <p:sp>
        <p:nvSpPr>
          <p:cNvPr id="445453" name="Line 13"/>
          <p:cNvSpPr/>
          <p:nvPr/>
        </p:nvSpPr>
        <p:spPr>
          <a:xfrm>
            <a:off x="5562600" y="4724400"/>
            <a:ext cx="152400" cy="0"/>
          </a:xfrm>
          <a:prstGeom prst="line">
            <a:avLst/>
          </a:prstGeom>
          <a:ln w="19050" cap="flat" cmpd="sng">
            <a:solidFill>
              <a:schemeClr val="tx1"/>
            </a:solidFill>
            <a:prstDash val="solid"/>
            <a:miter/>
            <a:headEnd type="none" w="med" len="med"/>
            <a:tailEnd type="none" w="med" len="med"/>
          </a:ln>
        </p:spPr>
      </p:sp>
      <p:sp>
        <p:nvSpPr>
          <p:cNvPr id="445454" name="Line 14"/>
          <p:cNvSpPr/>
          <p:nvPr/>
        </p:nvSpPr>
        <p:spPr>
          <a:xfrm>
            <a:off x="5715000" y="4114800"/>
            <a:ext cx="0" cy="1295400"/>
          </a:xfrm>
          <a:prstGeom prst="line">
            <a:avLst/>
          </a:prstGeom>
          <a:ln w="19050" cap="flat" cmpd="sng">
            <a:solidFill>
              <a:schemeClr val="tx1"/>
            </a:solidFill>
            <a:prstDash val="solid"/>
            <a:miter/>
            <a:headEnd type="none" w="med" len="med"/>
            <a:tailEnd type="none" w="med" len="med"/>
          </a:ln>
        </p:spPr>
      </p:sp>
      <p:sp>
        <p:nvSpPr>
          <p:cNvPr id="445455" name="Rectangle 15"/>
          <p:cNvSpPr/>
          <p:nvPr/>
        </p:nvSpPr>
        <p:spPr>
          <a:xfrm>
            <a:off x="5943600" y="52578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核心识别</a:t>
            </a:r>
            <a:endParaRPr lang="zh-CN" altLang="en-US" sz="2000" b="1" dirty="0">
              <a:ea typeface="宋体" panose="02010600030101010101" pitchFamily="2" charset="-122"/>
            </a:endParaRPr>
          </a:p>
        </p:txBody>
      </p:sp>
      <p:sp>
        <p:nvSpPr>
          <p:cNvPr id="445456" name="Rectangle 16"/>
          <p:cNvSpPr/>
          <p:nvPr/>
        </p:nvSpPr>
        <p:spPr>
          <a:xfrm>
            <a:off x="5943600" y="39624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模调度</a:t>
            </a:r>
            <a:endParaRPr lang="zh-CN" altLang="en-US" sz="2000" b="1" dirty="0">
              <a:ea typeface="宋体" panose="02010600030101010101" pitchFamily="2" charset="-122"/>
            </a:endParaRPr>
          </a:p>
        </p:txBody>
      </p:sp>
      <p:sp>
        <p:nvSpPr>
          <p:cNvPr id="445457" name="Rectangle 17"/>
          <p:cNvSpPr/>
          <p:nvPr/>
        </p:nvSpPr>
        <p:spPr>
          <a:xfrm>
            <a:off x="4419600" y="45720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软件流水</a:t>
            </a:r>
            <a:endParaRPr lang="zh-CN" altLang="en-US" sz="2000" b="1" dirty="0">
              <a:ea typeface="宋体" panose="02010600030101010101" pitchFamily="2" charset="-122"/>
            </a:endParaRPr>
          </a:p>
        </p:txBody>
      </p:sp>
      <p:sp>
        <p:nvSpPr>
          <p:cNvPr id="445458" name="Line 18"/>
          <p:cNvSpPr/>
          <p:nvPr/>
        </p:nvSpPr>
        <p:spPr>
          <a:xfrm>
            <a:off x="2438400" y="3124200"/>
            <a:ext cx="228600" cy="0"/>
          </a:xfrm>
          <a:prstGeom prst="line">
            <a:avLst/>
          </a:prstGeom>
          <a:ln w="19050" cap="flat" cmpd="sng">
            <a:solidFill>
              <a:schemeClr val="tx1"/>
            </a:solidFill>
            <a:prstDash val="solid"/>
            <a:miter/>
            <a:headEnd type="none" w="med" len="med"/>
            <a:tailEnd type="none" w="med" len="med"/>
          </a:ln>
        </p:spPr>
      </p:sp>
      <p:sp>
        <p:nvSpPr>
          <p:cNvPr id="445459" name="Rectangle 19"/>
          <p:cNvSpPr/>
          <p:nvPr/>
        </p:nvSpPr>
        <p:spPr>
          <a:xfrm>
            <a:off x="2895600" y="35814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全局调度</a:t>
            </a:r>
            <a:endParaRPr lang="zh-CN" altLang="en-US" sz="2000" b="1" dirty="0">
              <a:ea typeface="宋体" panose="02010600030101010101" pitchFamily="2" charset="-122"/>
            </a:endParaRPr>
          </a:p>
        </p:txBody>
      </p:sp>
      <p:sp>
        <p:nvSpPr>
          <p:cNvPr id="445460" name="Rectangle 20"/>
          <p:cNvSpPr/>
          <p:nvPr/>
        </p:nvSpPr>
        <p:spPr>
          <a:xfrm>
            <a:off x="2895600" y="2362200"/>
            <a:ext cx="1143000" cy="304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eaLnBrk="1" hangingPunct="1">
              <a:spcBef>
                <a:spcPct val="0"/>
              </a:spcBef>
              <a:buClrTx/>
              <a:buSzTx/>
              <a:buNone/>
            </a:pPr>
            <a:r>
              <a:rPr lang="zh-CN" altLang="en-US" sz="2000" b="1" dirty="0">
                <a:ea typeface="宋体" panose="02010600030101010101" pitchFamily="2" charset="-122"/>
              </a:rPr>
              <a:t>局部调度</a:t>
            </a:r>
            <a:endParaRPr lang="zh-CN" altLang="en-US" sz="2000" b="1" dirty="0">
              <a:ea typeface="宋体" panose="02010600030101010101" pitchFamily="2" charset="-122"/>
            </a:endParaRPr>
          </a:p>
        </p:txBody>
      </p:sp>
      <p:sp>
        <p:nvSpPr>
          <p:cNvPr id="445461" name="Line 21"/>
          <p:cNvSpPr/>
          <p:nvPr/>
        </p:nvSpPr>
        <p:spPr>
          <a:xfrm>
            <a:off x="5562600" y="2819400"/>
            <a:ext cx="152400" cy="0"/>
          </a:xfrm>
          <a:prstGeom prst="line">
            <a:avLst/>
          </a:prstGeom>
          <a:ln w="19050" cap="flat" cmpd="sng">
            <a:solidFill>
              <a:schemeClr val="tx1"/>
            </a:solidFill>
            <a:prstDash val="solid"/>
            <a:miter/>
            <a:headEnd type="none" w="med" len="med"/>
            <a:tailEnd type="none" w="med" len="med"/>
          </a:ln>
        </p:spPr>
      </p:sp>
      <p:sp>
        <p:nvSpPr>
          <p:cNvPr id="445462" name="Line 22"/>
          <p:cNvSpPr/>
          <p:nvPr/>
        </p:nvSpPr>
        <p:spPr>
          <a:xfrm>
            <a:off x="4038600" y="3733800"/>
            <a:ext cx="152400" cy="0"/>
          </a:xfrm>
          <a:prstGeom prst="line">
            <a:avLst/>
          </a:prstGeom>
          <a:ln w="19050" cap="flat" cmpd="sng">
            <a:solidFill>
              <a:schemeClr val="tx1"/>
            </a:solidFill>
            <a:prstDash val="solid"/>
            <a:miter/>
            <a:headEnd type="none" w="med" len="med"/>
            <a:tailEnd type="none" w="med" len="med"/>
          </a:ln>
        </p:spPr>
      </p:sp>
      <p:sp>
        <p:nvSpPr>
          <p:cNvPr id="445463" name="Line 23"/>
          <p:cNvSpPr/>
          <p:nvPr/>
        </p:nvSpPr>
        <p:spPr>
          <a:xfrm>
            <a:off x="2667000" y="2514600"/>
            <a:ext cx="228600" cy="0"/>
          </a:xfrm>
          <a:prstGeom prst="line">
            <a:avLst/>
          </a:prstGeom>
          <a:ln w="19050" cap="flat" cmpd="sng">
            <a:solidFill>
              <a:schemeClr val="tx1"/>
            </a:solidFill>
            <a:prstDash val="solid"/>
            <a:miter/>
            <a:headEnd type="none" w="med" len="med"/>
            <a:tailEnd type="none" w="med" len="med"/>
          </a:ln>
        </p:spPr>
      </p:sp>
      <p:sp>
        <p:nvSpPr>
          <p:cNvPr id="445464" name="Line 24"/>
          <p:cNvSpPr/>
          <p:nvPr/>
        </p:nvSpPr>
        <p:spPr>
          <a:xfrm>
            <a:off x="2667000" y="3733800"/>
            <a:ext cx="228600" cy="0"/>
          </a:xfrm>
          <a:prstGeom prst="line">
            <a:avLst/>
          </a:prstGeom>
          <a:ln w="19050" cap="flat" cmpd="sng">
            <a:solidFill>
              <a:schemeClr val="tx1"/>
            </a:solidFill>
            <a:prstDash val="solid"/>
            <a:miter/>
            <a:headEnd type="none" w="med" len="med"/>
            <a:tailEnd type="none" w="med" len="med"/>
          </a:ln>
        </p:spPr>
      </p:sp>
      <p:sp>
        <p:nvSpPr>
          <p:cNvPr id="445465" name="Line 25"/>
          <p:cNvSpPr/>
          <p:nvPr/>
        </p:nvSpPr>
        <p:spPr>
          <a:xfrm>
            <a:off x="4191000" y="2819400"/>
            <a:ext cx="228600" cy="0"/>
          </a:xfrm>
          <a:prstGeom prst="line">
            <a:avLst/>
          </a:prstGeom>
          <a:ln w="19050" cap="flat" cmpd="sng">
            <a:solidFill>
              <a:schemeClr val="tx1"/>
            </a:solidFill>
            <a:prstDash val="solid"/>
            <a:miter/>
            <a:headEnd type="none" w="med" len="med"/>
            <a:tailEnd type="none" w="med" len="med"/>
          </a:ln>
        </p:spPr>
      </p:sp>
      <p:sp>
        <p:nvSpPr>
          <p:cNvPr id="445466" name="Line 26"/>
          <p:cNvSpPr/>
          <p:nvPr/>
        </p:nvSpPr>
        <p:spPr>
          <a:xfrm>
            <a:off x="4191000" y="4724400"/>
            <a:ext cx="228600" cy="0"/>
          </a:xfrm>
          <a:prstGeom prst="line">
            <a:avLst/>
          </a:prstGeom>
          <a:ln w="19050" cap="flat" cmpd="sng">
            <a:solidFill>
              <a:schemeClr val="tx1"/>
            </a:solidFill>
            <a:prstDash val="solid"/>
            <a:miter/>
            <a:headEnd type="none" w="med" len="med"/>
            <a:tailEnd type="none" w="med" len="med"/>
          </a:ln>
        </p:spPr>
      </p:sp>
      <p:sp>
        <p:nvSpPr>
          <p:cNvPr id="445467" name="Line 27"/>
          <p:cNvSpPr/>
          <p:nvPr/>
        </p:nvSpPr>
        <p:spPr>
          <a:xfrm>
            <a:off x="5715000" y="2209800"/>
            <a:ext cx="228600" cy="0"/>
          </a:xfrm>
          <a:prstGeom prst="line">
            <a:avLst/>
          </a:prstGeom>
          <a:ln w="19050" cap="flat" cmpd="sng">
            <a:solidFill>
              <a:schemeClr val="tx1"/>
            </a:solidFill>
            <a:prstDash val="solid"/>
            <a:miter/>
            <a:headEnd type="none" w="med" len="med"/>
            <a:tailEnd type="none" w="med" len="med"/>
          </a:ln>
        </p:spPr>
      </p:sp>
      <p:sp>
        <p:nvSpPr>
          <p:cNvPr id="445468" name="Line 28"/>
          <p:cNvSpPr/>
          <p:nvPr/>
        </p:nvSpPr>
        <p:spPr>
          <a:xfrm>
            <a:off x="5715000" y="2819400"/>
            <a:ext cx="228600" cy="0"/>
          </a:xfrm>
          <a:prstGeom prst="line">
            <a:avLst/>
          </a:prstGeom>
          <a:ln w="19050" cap="flat" cmpd="sng">
            <a:solidFill>
              <a:schemeClr val="tx1"/>
            </a:solidFill>
            <a:prstDash val="solid"/>
            <a:miter/>
            <a:headEnd type="none" w="med" len="med"/>
            <a:tailEnd type="none" w="med" len="med"/>
          </a:ln>
        </p:spPr>
      </p:sp>
      <p:sp>
        <p:nvSpPr>
          <p:cNvPr id="445469" name="Line 29"/>
          <p:cNvSpPr/>
          <p:nvPr/>
        </p:nvSpPr>
        <p:spPr>
          <a:xfrm>
            <a:off x="5715000" y="3429000"/>
            <a:ext cx="228600" cy="0"/>
          </a:xfrm>
          <a:prstGeom prst="line">
            <a:avLst/>
          </a:prstGeom>
          <a:ln w="19050" cap="flat" cmpd="sng">
            <a:solidFill>
              <a:schemeClr val="tx1"/>
            </a:solidFill>
            <a:prstDash val="solid"/>
            <a:miter/>
            <a:headEnd type="none" w="med" len="med"/>
            <a:tailEnd type="none" w="med" len="med"/>
          </a:ln>
        </p:spPr>
      </p:sp>
      <p:sp>
        <p:nvSpPr>
          <p:cNvPr id="445470" name="Line 30"/>
          <p:cNvSpPr/>
          <p:nvPr/>
        </p:nvSpPr>
        <p:spPr>
          <a:xfrm>
            <a:off x="5715000" y="4114800"/>
            <a:ext cx="228600" cy="0"/>
          </a:xfrm>
          <a:prstGeom prst="line">
            <a:avLst/>
          </a:prstGeom>
          <a:ln w="19050" cap="flat" cmpd="sng">
            <a:solidFill>
              <a:schemeClr val="tx1"/>
            </a:solidFill>
            <a:prstDash val="solid"/>
            <a:miter/>
            <a:headEnd type="none" w="med" len="med"/>
            <a:tailEnd type="none" w="med" len="med"/>
          </a:ln>
        </p:spPr>
      </p:sp>
      <p:sp>
        <p:nvSpPr>
          <p:cNvPr id="445471" name="Line 31"/>
          <p:cNvSpPr/>
          <p:nvPr/>
        </p:nvSpPr>
        <p:spPr>
          <a:xfrm>
            <a:off x="5715000" y="4724400"/>
            <a:ext cx="228600" cy="0"/>
          </a:xfrm>
          <a:prstGeom prst="line">
            <a:avLst/>
          </a:prstGeom>
          <a:ln w="19050" cap="flat" cmpd="sng">
            <a:solidFill>
              <a:schemeClr val="tx1"/>
            </a:solidFill>
            <a:prstDash val="solid"/>
            <a:miter/>
            <a:headEnd type="none" w="med" len="med"/>
            <a:tailEnd type="none" w="med" len="med"/>
          </a:ln>
        </p:spPr>
      </p:sp>
      <p:sp>
        <p:nvSpPr>
          <p:cNvPr id="445472" name="Line 32"/>
          <p:cNvSpPr/>
          <p:nvPr/>
        </p:nvSpPr>
        <p:spPr>
          <a:xfrm>
            <a:off x="5715000" y="5410200"/>
            <a:ext cx="228600" cy="0"/>
          </a:xfrm>
          <a:prstGeom prst="line">
            <a:avLst/>
          </a:prstGeom>
          <a:ln w="19050" cap="flat" cmpd="sng">
            <a:solidFill>
              <a:schemeClr val="tx1"/>
            </a:solidFill>
            <a:prstDash val="solid"/>
            <a:miter/>
            <a:headEnd type="none" w="med" len="med"/>
            <a:tailEnd type="none" w="med" len="med"/>
          </a:ln>
        </p:spPr>
      </p:sp>
    </p:spTree>
  </p:cSld>
  <p:clrMapOvr>
    <a:masterClrMapping/>
  </p:clrMapOvr>
  <p:transition spd="slow"/>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749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局部指令调度算法－表调度</a:t>
            </a:r>
            <a:endParaRPr lang="zh-CN" altLang="en-US" dirty="0">
              <a:latin typeface="Times New Roman" panose="02020603050405020304" pitchFamily="18" charset="0"/>
              <a:ea typeface="宋体" panose="02010600030101010101" pitchFamily="2" charset="-122"/>
            </a:endParaRPr>
          </a:p>
        </p:txBody>
      </p:sp>
      <p:sp>
        <p:nvSpPr>
          <p:cNvPr id="447491" name="Rectangle 3"/>
          <p:cNvSpPr/>
          <p:nvPr/>
        </p:nvSpPr>
        <p:spPr>
          <a:xfrm>
            <a:off x="838200" y="1219200"/>
            <a:ext cx="7543800" cy="5181600"/>
          </a:xfrm>
          <a:prstGeom prst="rect">
            <a:avLst/>
          </a:prstGeom>
          <a:noFill/>
          <a:ln w="9525">
            <a:noFill/>
          </a:ln>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void Schedule_BB(BB* bb)</a:t>
            </a:r>
            <a:endParaRPr lang="en-US" altLang="zh-CN" sz="1600" dirty="0">
              <a:latin typeface="Arial" panose="020B0604020202020204" pitchFamily="34" charset="0"/>
              <a:ea typeface="宋体" panose="02010600030101010101" pitchFamily="2"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latin typeface="Arial" panose="020B0604020202020204" pitchFamily="34" charset="0"/>
              <a:ea typeface="宋体" panose="02010600030101010101" pitchFamily="2"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Build dependence graph for bb;</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Compute ready candidates for current cycle;</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while (candidate list not empty)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If (</a:t>
            </a:r>
            <a:r>
              <a:rPr lang="en-US" altLang="zh-CN" sz="1600" dirty="0">
                <a:latin typeface="Arial" panose="020B0604020202020204" pitchFamily="34" charset="0"/>
                <a:ea typeface="黑体" panose="02010609060101010101" pitchFamily="49" charset="-122"/>
              </a:rPr>
              <a:t>there's no empty slot in current cycle or all candidates tried</a:t>
            </a: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Advance to next cycle.</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Reset all candidates untried.</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Update micro-scheduler's internal states.</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Pick an op with highest priority from the candidate list to schedule;</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r>
              <a:rPr lang="en-US" altLang="zh-CN" sz="1600" b="1" i="1" dirty="0">
                <a:solidFill>
                  <a:schemeClr val="accent2"/>
                </a:solidFill>
                <a:latin typeface="Arial" panose="020B0604020202020204" pitchFamily="34" charset="0"/>
                <a:ea typeface="黑体" panose="02010609060101010101" pitchFamily="49" charset="-122"/>
              </a:rPr>
              <a:t>Query machine model whether the selected op can be commited.</a:t>
            </a:r>
            <a:endParaRPr lang="en-US" altLang="zh-CN" sz="1600" b="1" i="1" dirty="0">
              <a:solidFill>
                <a:schemeClr val="accent2"/>
              </a:solidFill>
              <a:latin typeface="Arial" panose="020B0604020202020204" pitchFamily="34" charset="0"/>
              <a:ea typeface="黑体" panose="02010609060101010101" pitchFamily="49" charset="-122"/>
            </a:endParaRPr>
          </a:p>
          <a:p>
            <a:pPr marL="342900" lvl="0" indent="-342900">
              <a:lnSpc>
                <a:spcPct val="75000"/>
              </a:lnSpc>
              <a:buNone/>
            </a:pP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if (machine model answers NO)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set the op tried so that it will not be tried in current cycle.</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 else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commit the code motion.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Update DAG, Candidate list, and Micro-Scheduler internal states, etc.</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	}</a:t>
            </a:r>
            <a:endParaRPr lang="en-US" altLang="zh-CN" sz="1600" dirty="0">
              <a:solidFill>
                <a:srgbClr val="000000"/>
              </a:solidFill>
              <a:latin typeface="Arial" panose="020B0604020202020204" pitchFamily="34" charset="0"/>
              <a:ea typeface="黑体" panose="02010609060101010101" pitchFamily="49" charset="-122"/>
            </a:endParaRPr>
          </a:p>
          <a:p>
            <a:pPr marL="342900" lvl="0" indent="-342900">
              <a:lnSpc>
                <a:spcPct val="75000"/>
              </a:lnSpc>
              <a:buNone/>
            </a:pPr>
            <a:r>
              <a:rPr lang="en-US" altLang="zh-CN" sz="1600" dirty="0">
                <a:solidFill>
                  <a:srgbClr val="000000"/>
                </a:solidFill>
                <a:latin typeface="Arial" panose="020B0604020202020204" pitchFamily="34" charset="0"/>
                <a:ea typeface="黑体" panose="02010609060101010101" pitchFamily="49" charset="-122"/>
              </a:rPr>
              <a:t>}</a:t>
            </a:r>
            <a:endParaRPr lang="en-US" altLang="zh-CN" sz="1600" dirty="0">
              <a:solidFill>
                <a:srgbClr val="000000"/>
              </a:solidFill>
              <a:latin typeface="Arial" panose="020B0604020202020204" pitchFamily="34" charset="0"/>
              <a:ea typeface="黑体" panose="02010609060101010101" pitchFamily="49" charset="-122"/>
            </a:endParaRPr>
          </a:p>
        </p:txBody>
      </p:sp>
    </p:spTree>
  </p:cSld>
  <p:clrMapOvr>
    <a:masterClrMapping/>
  </p:clrMapOvr>
  <p:transition spd="slow"/>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953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就绪队列</a:t>
            </a:r>
            <a:endParaRPr lang="zh-CN" altLang="en-US" dirty="0">
              <a:latin typeface="Times New Roman" panose="02020603050405020304" pitchFamily="18" charset="0"/>
              <a:ea typeface="宋体" panose="02010600030101010101" pitchFamily="2" charset="-122"/>
            </a:endParaRPr>
          </a:p>
        </p:txBody>
      </p:sp>
      <p:sp>
        <p:nvSpPr>
          <p:cNvPr id="449539" name="Rectangle 3"/>
          <p:cNvSpPr>
            <a:spLocks noGrp="1"/>
          </p:cNvSpPr>
          <p:nvPr>
            <p:ph idx="1"/>
          </p:nvPr>
        </p:nvSpPr>
        <p:spPr>
          <a:xfrm>
            <a:off x="914400" y="1371600"/>
            <a:ext cx="7543800" cy="4800600"/>
          </a:xfrm>
        </p:spPr>
        <p:txBody>
          <a:bodyPr vert="horz" wrap="square" lIns="92075" tIns="46038" rIns="92075" bIns="46038" anchor="t" anchorCtr="0"/>
          <a:p>
            <a:pPr algn="just">
              <a:lnSpc>
                <a:spcPct val="90000"/>
              </a:lnSpc>
            </a:pPr>
            <a:r>
              <a:rPr lang="zh-CN" altLang="en-US" sz="2400" b="1" dirty="0">
                <a:solidFill>
                  <a:srgbClr val="000000"/>
                </a:solidFill>
                <a:ea typeface="宋体" panose="02010600030101010101" pitchFamily="2" charset="-122"/>
              </a:rPr>
              <a:t>一般而言，在某一时刻的就绪操作应满足下列条件：</a:t>
            </a:r>
            <a:endParaRPr lang="en-US" altLang="zh-CN" sz="2400" b="1" dirty="0">
              <a:solidFill>
                <a:srgbClr val="000000"/>
              </a:solidFill>
              <a:ea typeface="宋体" panose="02010600030101010101" pitchFamily="2" charset="-122"/>
            </a:endParaRPr>
          </a:p>
          <a:p>
            <a:pPr lvl="1" algn="just">
              <a:lnSpc>
                <a:spcPct val="90000"/>
              </a:lnSpc>
            </a:pPr>
            <a:r>
              <a:rPr lang="en-US" altLang="zh-CN" sz="2200" b="1" i="1" dirty="0">
                <a:solidFill>
                  <a:srgbClr val="000000"/>
                </a:solidFill>
                <a:ea typeface="宋体" panose="02010600030101010101" pitchFamily="2" charset="-122"/>
              </a:rPr>
              <a:t>op</a:t>
            </a:r>
            <a:r>
              <a:rPr lang="zh-CN" altLang="en-US" sz="2200" b="1" dirty="0">
                <a:solidFill>
                  <a:srgbClr val="000000"/>
                </a:solidFill>
                <a:ea typeface="宋体" panose="02010600030101010101" pitchFamily="2" charset="-122"/>
              </a:rPr>
              <a:t>在依赖图上的所有依赖前驱均已调度过。</a:t>
            </a:r>
            <a:endParaRPr lang="zh-CN" altLang="en-US" sz="2200" b="1" dirty="0">
              <a:solidFill>
                <a:srgbClr val="000000"/>
              </a:solidFill>
              <a:ea typeface="宋体" panose="02010600030101010101" pitchFamily="2" charset="-122"/>
            </a:endParaRPr>
          </a:p>
          <a:p>
            <a:pPr lvl="1" algn="just">
              <a:lnSpc>
                <a:spcPct val="90000"/>
              </a:lnSpc>
            </a:pPr>
            <a:r>
              <a:rPr lang="zh-CN" altLang="en-US" sz="2200" b="1" dirty="0">
                <a:solidFill>
                  <a:srgbClr val="000000"/>
                </a:solidFill>
                <a:ea typeface="宋体" panose="02010600030101010101" pitchFamily="2" charset="-122"/>
              </a:rPr>
              <a:t>若</a:t>
            </a:r>
            <a:r>
              <a:rPr lang="en-US" altLang="zh-CN" sz="2200" b="1" i="1" dirty="0">
                <a:solidFill>
                  <a:srgbClr val="000000"/>
                </a:solidFill>
                <a:ea typeface="宋体" panose="02010600030101010101" pitchFamily="2" charset="-122"/>
              </a:rPr>
              <a:t>op</a:t>
            </a:r>
            <a:r>
              <a:rPr lang="zh-CN" altLang="en-US" sz="2200" b="1" dirty="0">
                <a:solidFill>
                  <a:srgbClr val="000000"/>
                </a:solidFill>
                <a:ea typeface="宋体" panose="02010600030101010101" pitchFamily="2" charset="-122"/>
              </a:rPr>
              <a:t>引用了某个操作</a:t>
            </a:r>
            <a:r>
              <a:rPr lang="en-US" altLang="zh-CN" sz="2200" b="1" i="1" dirty="0">
                <a:solidFill>
                  <a:srgbClr val="000000"/>
                </a:solidFill>
                <a:ea typeface="宋体" panose="02010600030101010101" pitchFamily="2" charset="-122"/>
              </a:rPr>
              <a:t>op'</a:t>
            </a:r>
            <a:r>
              <a:rPr lang="zh-CN" altLang="en-US" sz="2200" b="1" dirty="0">
                <a:solidFill>
                  <a:srgbClr val="000000"/>
                </a:solidFill>
                <a:ea typeface="宋体" panose="02010600030101010101" pitchFamily="2" charset="-122"/>
              </a:rPr>
              <a:t>的结果，</a:t>
            </a:r>
            <a:r>
              <a:rPr lang="en-US" altLang="zh-CN" sz="2200" b="1" i="1" dirty="0">
                <a:solidFill>
                  <a:srgbClr val="000000"/>
                </a:solidFill>
                <a:ea typeface="宋体" panose="02010600030101010101" pitchFamily="2" charset="-122"/>
              </a:rPr>
              <a:t>op'</a:t>
            </a:r>
            <a:r>
              <a:rPr lang="zh-CN" altLang="en-US" sz="2200" b="1" dirty="0">
                <a:solidFill>
                  <a:srgbClr val="000000"/>
                </a:solidFill>
                <a:ea typeface="宋体" panose="02010600030101010101" pitchFamily="2" charset="-122"/>
              </a:rPr>
              <a:t>于第</a:t>
            </a:r>
            <a:r>
              <a:rPr lang="en-US" altLang="zh-CN" sz="2200" b="1" i="1" dirty="0">
                <a:solidFill>
                  <a:srgbClr val="000000"/>
                </a:solidFill>
                <a:ea typeface="宋体" panose="02010600030101010101" pitchFamily="2" charset="-122"/>
              </a:rPr>
              <a:t>i</a:t>
            </a:r>
            <a:r>
              <a:rPr lang="zh-CN" altLang="en-US" sz="2200" b="1" dirty="0">
                <a:solidFill>
                  <a:srgbClr val="000000"/>
                </a:solidFill>
                <a:ea typeface="宋体" panose="02010600030101010101" pitchFamily="2" charset="-122"/>
              </a:rPr>
              <a:t>拍发出，且两者之间的延迟为</a:t>
            </a:r>
            <a:r>
              <a:rPr lang="en-US" altLang="zh-CN" sz="2200" b="1" i="1" dirty="0">
                <a:solidFill>
                  <a:srgbClr val="000000"/>
                </a:solidFill>
                <a:ea typeface="宋体" panose="02010600030101010101" pitchFamily="2" charset="-122"/>
              </a:rPr>
              <a:t>l</a:t>
            </a:r>
            <a:r>
              <a:rPr lang="en-US" altLang="zh-CN" sz="2200" b="1" dirty="0">
                <a:solidFill>
                  <a:srgbClr val="000000"/>
                </a:solidFill>
                <a:ea typeface="宋体" panose="02010600030101010101" pitchFamily="2" charset="-122"/>
              </a:rPr>
              <a:t>，</a:t>
            </a:r>
            <a:r>
              <a:rPr lang="zh-CN" altLang="en-US" sz="2200" b="1" dirty="0">
                <a:solidFill>
                  <a:srgbClr val="000000"/>
                </a:solidFill>
                <a:ea typeface="宋体" panose="02010600030101010101" pitchFamily="2" charset="-122"/>
              </a:rPr>
              <a:t>则</a:t>
            </a:r>
            <a:r>
              <a:rPr lang="en-US" altLang="zh-CN" sz="2200" b="1" i="1" dirty="0">
                <a:solidFill>
                  <a:srgbClr val="000000"/>
                </a:solidFill>
                <a:ea typeface="宋体" panose="02010600030101010101" pitchFamily="2" charset="-122"/>
              </a:rPr>
              <a:t>op</a:t>
            </a:r>
            <a:r>
              <a:rPr lang="zh-CN" altLang="en-US" sz="2200" b="1" dirty="0">
                <a:solidFill>
                  <a:srgbClr val="000000"/>
                </a:solidFill>
                <a:ea typeface="宋体" panose="02010600030101010101" pitchFamily="2" charset="-122"/>
              </a:rPr>
              <a:t>的发出时刻不得早于</a:t>
            </a:r>
            <a:r>
              <a:rPr lang="en-US" altLang="zh-CN" sz="2200" b="1" i="1" dirty="0">
                <a:solidFill>
                  <a:srgbClr val="000000"/>
                </a:solidFill>
                <a:ea typeface="宋体" panose="02010600030101010101" pitchFamily="2" charset="-122"/>
              </a:rPr>
              <a:t>i+l</a:t>
            </a:r>
            <a:r>
              <a:rPr lang="en-US" altLang="zh-CN" sz="2200" b="1" dirty="0">
                <a:solidFill>
                  <a:srgbClr val="000000"/>
                </a:solidFill>
                <a:ea typeface="宋体" panose="02010600030101010101" pitchFamily="2" charset="-122"/>
              </a:rPr>
              <a:t>。</a:t>
            </a:r>
            <a:endParaRPr lang="en-US" altLang="zh-CN" sz="2200" b="1" dirty="0">
              <a:solidFill>
                <a:srgbClr val="000000"/>
              </a:solidFill>
              <a:ea typeface="宋体" panose="02010600030101010101" pitchFamily="2" charset="-122"/>
            </a:endParaRPr>
          </a:p>
          <a:p>
            <a:pPr algn="just">
              <a:lnSpc>
                <a:spcPct val="90000"/>
              </a:lnSpc>
            </a:pPr>
            <a:r>
              <a:rPr lang="zh-CN" altLang="en-US" sz="2400" b="1" dirty="0">
                <a:solidFill>
                  <a:srgbClr val="000000"/>
                </a:solidFill>
                <a:ea typeface="宋体" panose="02010600030101010101" pitchFamily="2" charset="-122"/>
              </a:rPr>
              <a:t>若硬件有记分牌，则条件 2 可以去掉，这样在调度过程中就绪队列不会为空，但队列中的操作地位不同。</a:t>
            </a:r>
            <a:endParaRPr lang="zh-CN" altLang="en-US" sz="2400" b="1" dirty="0">
              <a:solidFill>
                <a:srgbClr val="000000"/>
              </a:solidFill>
              <a:ea typeface="宋体" panose="02010600030101010101" pitchFamily="2" charset="-122"/>
            </a:endParaRPr>
          </a:p>
          <a:p>
            <a:pPr lvl="1" algn="just">
              <a:lnSpc>
                <a:spcPct val="90000"/>
              </a:lnSpc>
            </a:pPr>
            <a:r>
              <a:rPr lang="zh-CN" altLang="en-US" sz="2200" b="1" dirty="0">
                <a:solidFill>
                  <a:srgbClr val="000000"/>
                </a:solidFill>
                <a:ea typeface="宋体" panose="02010600030101010101" pitchFamily="2" charset="-122"/>
              </a:rPr>
              <a:t>给每个就绪操作加一个等待时间，每次调度总是选取等待时间最小的操作。</a:t>
            </a:r>
            <a:endParaRPr lang="zh-CN" altLang="en-US" sz="2200" b="1" dirty="0">
              <a:solidFill>
                <a:srgbClr val="000000"/>
              </a:solidFill>
              <a:ea typeface="宋体" panose="02010600030101010101" pitchFamily="2" charset="-122"/>
            </a:endParaRPr>
          </a:p>
          <a:p>
            <a:pPr lvl="1" algn="just">
              <a:lnSpc>
                <a:spcPct val="90000"/>
              </a:lnSpc>
            </a:pPr>
            <a:r>
              <a:rPr lang="zh-CN" altLang="en-US" sz="2200" b="1" dirty="0">
                <a:solidFill>
                  <a:srgbClr val="000000"/>
                </a:solidFill>
                <a:ea typeface="宋体" panose="02010600030101010101" pitchFamily="2" charset="-122"/>
              </a:rPr>
              <a:t>比较当前时刻与每个操作的最早开始时间。</a:t>
            </a:r>
            <a:endParaRPr lang="zh-CN" altLang="en-US" sz="2200" b="1" dirty="0">
              <a:solidFill>
                <a:srgbClr val="000000"/>
              </a:solidFill>
              <a:ea typeface="宋体" panose="02010600030101010101" pitchFamily="2" charset="-122"/>
            </a:endParaRPr>
          </a:p>
          <a:p>
            <a:pPr algn="just">
              <a:lnSpc>
                <a:spcPct val="90000"/>
              </a:lnSpc>
            </a:pPr>
            <a:r>
              <a:rPr lang="zh-CN" altLang="en-US" sz="2400" b="1" dirty="0">
                <a:solidFill>
                  <a:srgbClr val="000000"/>
                </a:solidFill>
                <a:ea typeface="宋体" panose="02010600030101010101" pitchFamily="2" charset="-122"/>
              </a:rPr>
              <a:t>就绪队列在调度开始前计算一次，以后每调度一个操作，只需检查其在依赖图上的后继。</a:t>
            </a:r>
            <a:endParaRPr lang="zh-CN" altLang="en-US" sz="2400" b="1" dirty="0">
              <a:solidFill>
                <a:srgbClr val="000000"/>
              </a:solidFill>
              <a:ea typeface="宋体" panose="02010600030101010101" pitchFamily="2" charset="-122"/>
            </a:endParaRPr>
          </a:p>
        </p:txBody>
      </p:sp>
    </p:spTree>
  </p:cSld>
  <p:clrMapOvr>
    <a:masterClrMapping/>
  </p:clrMapOvr>
  <p:transition spd="slow"/>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158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操作的调度优先序</a:t>
            </a:r>
            <a:endParaRPr lang="zh-CN" altLang="en-US" dirty="0">
              <a:latin typeface="Times New Roman" panose="02020603050405020304" pitchFamily="18" charset="0"/>
              <a:ea typeface="宋体" panose="02010600030101010101" pitchFamily="2" charset="-122"/>
            </a:endParaRPr>
          </a:p>
        </p:txBody>
      </p:sp>
      <p:sp>
        <p:nvSpPr>
          <p:cNvPr id="451587" name="Rectangle 3"/>
          <p:cNvSpPr>
            <a:spLocks noGrp="1"/>
          </p:cNvSpPr>
          <p:nvPr>
            <p:ph idx="1"/>
          </p:nvPr>
        </p:nvSpPr>
        <p:spPr>
          <a:xfrm>
            <a:off x="914400" y="1371600"/>
            <a:ext cx="7543800" cy="4800600"/>
          </a:xfrm>
        </p:spPr>
        <p:txBody>
          <a:bodyPr vert="horz" wrap="square" lIns="92075" tIns="46038" rIns="92075" bIns="46038" anchor="t" anchorCtr="0"/>
          <a:p>
            <a:r>
              <a:rPr lang="zh-CN" altLang="en-US" sz="2400" b="1" dirty="0">
                <a:ea typeface="宋体" panose="02010600030101010101" pitchFamily="2" charset="-122"/>
              </a:rPr>
              <a:t>决定调度操作的先后顺序时使用的启发式信息：</a:t>
            </a:r>
            <a:endParaRPr lang="zh-CN" altLang="en-US" sz="2400" b="1" dirty="0">
              <a:ea typeface="宋体" panose="02010600030101010101" pitchFamily="2" charset="-122"/>
            </a:endParaRPr>
          </a:p>
          <a:p>
            <a:pPr lvl="1"/>
            <a:r>
              <a:rPr lang="zh-CN" altLang="en-US" sz="2200" b="1" dirty="0">
                <a:ea typeface="宋体" panose="02010600030101010101" pitchFamily="2" charset="-122"/>
              </a:rPr>
              <a:t>执行频率</a:t>
            </a:r>
            <a:endParaRPr lang="zh-CN" altLang="en-US" sz="2200" b="1" dirty="0">
              <a:ea typeface="宋体" panose="02010600030101010101" pitchFamily="2" charset="-122"/>
            </a:endParaRPr>
          </a:p>
          <a:p>
            <a:pPr lvl="1"/>
            <a:r>
              <a:rPr lang="zh-CN" altLang="en-US" sz="2200" b="1" dirty="0">
                <a:ea typeface="宋体" panose="02010600030101010101" pitchFamily="2" charset="-122"/>
              </a:rPr>
              <a:t>关键路径</a:t>
            </a:r>
            <a:endParaRPr lang="zh-CN" altLang="en-US" sz="2200" b="1" dirty="0">
              <a:ea typeface="宋体" panose="02010600030101010101" pitchFamily="2" charset="-122"/>
            </a:endParaRPr>
          </a:p>
          <a:p>
            <a:pPr lvl="1"/>
            <a:r>
              <a:rPr lang="zh-CN" altLang="en-US" sz="2200" b="1" dirty="0">
                <a:ea typeface="宋体" panose="02010600030101010101" pitchFamily="2" charset="-122"/>
              </a:rPr>
              <a:t>投机性</a:t>
            </a:r>
            <a:endParaRPr lang="zh-CN" altLang="en-US" sz="2200" b="1" dirty="0">
              <a:ea typeface="宋体" panose="02010600030101010101" pitchFamily="2" charset="-122"/>
            </a:endParaRPr>
          </a:p>
          <a:p>
            <a:pPr lvl="1"/>
            <a:r>
              <a:rPr lang="zh-CN" altLang="en-US" sz="2200" b="1" dirty="0">
                <a:ea typeface="宋体" panose="02010600030101010101" pitchFamily="2" charset="-122"/>
              </a:rPr>
              <a:t>所需补偿代码数量</a:t>
            </a:r>
            <a:endParaRPr lang="zh-CN" altLang="en-US" sz="2200" b="1" dirty="0">
              <a:ea typeface="宋体" panose="02010600030101010101" pitchFamily="2" charset="-122"/>
            </a:endParaRPr>
          </a:p>
          <a:p>
            <a:pPr lvl="1"/>
            <a:r>
              <a:rPr lang="zh-CN" altLang="en-US" sz="2200" b="1" dirty="0">
                <a:ea typeface="宋体" panose="02010600030101010101" pitchFamily="2" charset="-122"/>
              </a:rPr>
              <a:t>依赖图上的后继个数</a:t>
            </a:r>
            <a:endParaRPr lang="zh-CN" altLang="en-US" sz="2200" b="1" dirty="0">
              <a:ea typeface="宋体" panose="02010600030101010101" pitchFamily="2" charset="-122"/>
            </a:endParaRPr>
          </a:p>
          <a:p>
            <a:pPr lvl="1"/>
            <a:r>
              <a:rPr lang="zh-CN" altLang="en-US" sz="2200" b="1" dirty="0">
                <a:ea typeface="宋体" panose="02010600030101010101" pitchFamily="2" charset="-122"/>
              </a:rPr>
              <a:t>寄存器的使用情况</a:t>
            </a:r>
            <a:endParaRPr lang="zh-CN" altLang="en-US" sz="2200" b="1" dirty="0">
              <a:ea typeface="宋体" panose="02010600030101010101" pitchFamily="2" charset="-122"/>
            </a:endParaRPr>
          </a:p>
          <a:p>
            <a:pPr lvl="1"/>
            <a:r>
              <a:rPr lang="zh-CN" altLang="en-US" sz="2200" b="1" dirty="0">
                <a:ea typeface="宋体" panose="02010600030101010101" pitchFamily="2" charset="-122"/>
              </a:rPr>
              <a:t>…</a:t>
            </a:r>
            <a:endParaRPr lang="zh-CN" altLang="en-US" sz="2200" b="1" dirty="0">
              <a:ea typeface="宋体" panose="02010600030101010101" pitchFamily="2" charset="-122"/>
            </a:endParaRPr>
          </a:p>
          <a:p>
            <a:r>
              <a:rPr lang="zh-CN" altLang="en-US" sz="2400" b="1" dirty="0">
                <a:ea typeface="宋体" panose="02010600030101010101" pitchFamily="2" charset="-122"/>
              </a:rPr>
              <a:t>是否在调度过程中动态更新上述信息需在代码质量与编译时间之间作出折中。</a:t>
            </a:r>
            <a:endParaRPr lang="zh-CN" altLang="en-US" sz="2400" b="1" dirty="0">
              <a:ea typeface="宋体" panose="02010600030101010101" pitchFamily="2" charset="-122"/>
            </a:endParaRPr>
          </a:p>
        </p:txBody>
      </p:sp>
    </p:spTree>
  </p:cSld>
  <p:clrMapOvr>
    <a:masterClrMapping/>
  </p:clrMapOvr>
  <p:transition spd="slow"/>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53634" name="组合 2"/>
          <p:cNvGrpSpPr/>
          <p:nvPr/>
        </p:nvGrpSpPr>
        <p:grpSpPr>
          <a:xfrm>
            <a:off x="1395413" y="2743200"/>
            <a:ext cx="2425700" cy="2941638"/>
            <a:chOff x="1395413" y="2743200"/>
            <a:chExt cx="2425700" cy="2941638"/>
          </a:xfrm>
        </p:grpSpPr>
        <p:sp>
          <p:nvSpPr>
            <p:cNvPr id="453662" name="Rectangle 24"/>
            <p:cNvSpPr/>
            <p:nvPr/>
          </p:nvSpPr>
          <p:spPr>
            <a:xfrm>
              <a:off x="1395413" y="37163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63" name="Rectangle 25"/>
            <p:cNvSpPr/>
            <p:nvPr/>
          </p:nvSpPr>
          <p:spPr>
            <a:xfrm>
              <a:off x="3300413" y="35639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64" name="Rectangle 26"/>
            <p:cNvSpPr/>
            <p:nvPr/>
          </p:nvSpPr>
          <p:spPr>
            <a:xfrm>
              <a:off x="2005013" y="53165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65" name="Line 27"/>
            <p:cNvSpPr/>
            <p:nvPr/>
          </p:nvSpPr>
          <p:spPr>
            <a:xfrm flipH="1">
              <a:off x="1693863" y="3100388"/>
              <a:ext cx="685800" cy="609600"/>
            </a:xfrm>
            <a:prstGeom prst="line">
              <a:avLst/>
            </a:prstGeom>
            <a:ln w="12700" cap="flat" cmpd="sng">
              <a:solidFill>
                <a:schemeClr val="tx1"/>
              </a:solidFill>
              <a:prstDash val="solid"/>
              <a:headEnd type="none" w="sm" len="sm"/>
              <a:tailEnd type="stealth" w="med" len="lg"/>
            </a:ln>
          </p:spPr>
        </p:sp>
        <p:sp>
          <p:nvSpPr>
            <p:cNvPr id="453666" name="Line 28"/>
            <p:cNvSpPr/>
            <p:nvPr/>
          </p:nvSpPr>
          <p:spPr>
            <a:xfrm>
              <a:off x="2532063" y="3100388"/>
              <a:ext cx="990600" cy="457200"/>
            </a:xfrm>
            <a:prstGeom prst="line">
              <a:avLst/>
            </a:prstGeom>
            <a:ln w="12700" cap="flat" cmpd="sng">
              <a:solidFill>
                <a:schemeClr val="tx1"/>
              </a:solidFill>
              <a:prstDash val="solid"/>
              <a:headEnd type="none" w="sm" len="sm"/>
              <a:tailEnd type="stealth" w="med" len="lg"/>
            </a:ln>
          </p:spPr>
        </p:sp>
        <p:sp>
          <p:nvSpPr>
            <p:cNvPr id="453667" name="Line 29"/>
            <p:cNvSpPr/>
            <p:nvPr/>
          </p:nvSpPr>
          <p:spPr>
            <a:xfrm>
              <a:off x="2455863" y="3100388"/>
              <a:ext cx="609600" cy="1371600"/>
            </a:xfrm>
            <a:prstGeom prst="line">
              <a:avLst/>
            </a:prstGeom>
            <a:ln w="12700" cap="flat" cmpd="sng">
              <a:solidFill>
                <a:schemeClr val="tx1"/>
              </a:solidFill>
              <a:prstDash val="solid"/>
              <a:headEnd type="none" w="sm" len="sm"/>
              <a:tailEnd type="stealth" w="med" len="lg"/>
            </a:ln>
          </p:spPr>
        </p:sp>
        <p:sp>
          <p:nvSpPr>
            <p:cNvPr id="453668" name="Line 30"/>
            <p:cNvSpPr/>
            <p:nvPr/>
          </p:nvSpPr>
          <p:spPr>
            <a:xfrm>
              <a:off x="1617663" y="4090988"/>
              <a:ext cx="685800" cy="1219200"/>
            </a:xfrm>
            <a:prstGeom prst="line">
              <a:avLst/>
            </a:prstGeom>
            <a:ln w="12700" cap="flat" cmpd="sng">
              <a:solidFill>
                <a:schemeClr val="tx1"/>
              </a:solidFill>
              <a:prstDash val="solid"/>
              <a:headEnd type="none" w="sm" len="sm"/>
              <a:tailEnd type="stealth" w="med" len="lg"/>
            </a:ln>
          </p:spPr>
        </p:sp>
        <p:sp>
          <p:nvSpPr>
            <p:cNvPr id="453669" name="Line 31"/>
            <p:cNvSpPr/>
            <p:nvPr/>
          </p:nvSpPr>
          <p:spPr>
            <a:xfrm flipH="1">
              <a:off x="2379663" y="4852988"/>
              <a:ext cx="685800" cy="457200"/>
            </a:xfrm>
            <a:prstGeom prst="line">
              <a:avLst/>
            </a:prstGeom>
            <a:ln w="12700" cap="flat" cmpd="sng">
              <a:solidFill>
                <a:schemeClr val="tx1"/>
              </a:solidFill>
              <a:prstDash val="solid"/>
              <a:headEnd type="none" w="sm" len="sm"/>
              <a:tailEnd type="stealth" w="med" len="lg"/>
            </a:ln>
          </p:spPr>
        </p:sp>
        <p:sp>
          <p:nvSpPr>
            <p:cNvPr id="453670" name="Line 32"/>
            <p:cNvSpPr/>
            <p:nvPr/>
          </p:nvSpPr>
          <p:spPr>
            <a:xfrm flipH="1">
              <a:off x="3141663" y="3938588"/>
              <a:ext cx="457200" cy="533400"/>
            </a:xfrm>
            <a:prstGeom prst="line">
              <a:avLst/>
            </a:prstGeom>
            <a:ln w="12700" cap="flat" cmpd="sng">
              <a:solidFill>
                <a:schemeClr val="tx1"/>
              </a:solidFill>
              <a:prstDash val="solid"/>
              <a:headEnd type="none" w="sm" len="sm"/>
              <a:tailEnd type="stealth" w="med" len="lg"/>
            </a:ln>
          </p:spPr>
        </p:sp>
        <p:sp>
          <p:nvSpPr>
            <p:cNvPr id="453671" name="Rectangle 33"/>
            <p:cNvSpPr/>
            <p:nvPr/>
          </p:nvSpPr>
          <p:spPr>
            <a:xfrm>
              <a:off x="3352800" y="3581400"/>
              <a:ext cx="303213"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E</a:t>
              </a:r>
              <a:endParaRPr lang="en-US" altLang="zh-CN" sz="1400" dirty="0">
                <a:latin typeface="Arial" panose="020B0604020202020204" pitchFamily="34" charset="0"/>
                <a:ea typeface="黑体" panose="02010609060101010101" pitchFamily="49" charset="-122"/>
              </a:endParaRPr>
            </a:p>
          </p:txBody>
        </p:sp>
        <p:sp>
          <p:nvSpPr>
            <p:cNvPr id="453672" name="Rectangle 34"/>
            <p:cNvSpPr/>
            <p:nvPr/>
          </p:nvSpPr>
          <p:spPr>
            <a:xfrm>
              <a:off x="2057400" y="2743200"/>
              <a:ext cx="549275" cy="314325"/>
            </a:xfrm>
            <a:prstGeom prst="rect">
              <a:avLst/>
            </a:prstGeom>
            <a:solidFill>
              <a:srgbClr val="DDDDDD"/>
            </a:solidFill>
            <a:ln w="9525" cap="flat" cmpd="sng">
              <a:solidFill>
                <a:schemeClr val="tx1"/>
              </a:solidFill>
              <a:prstDash val="solid"/>
              <a:miter/>
              <a:headEnd type="none" w="med" len="med"/>
              <a:tailEnd type="none" w="med" len="med"/>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400"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NR</a:t>
              </a:r>
              <a:r>
                <a:rPr lang="en-US" altLang="zh-CN" sz="1400" dirty="0">
                  <a:latin typeface="Arial" panose="020B0604020202020204" pitchFamily="34" charset="0"/>
                  <a:ea typeface="黑体" panose="02010609060101010101" pitchFamily="49" charset="-122"/>
                </a:rPr>
                <a:t> </a:t>
              </a:r>
              <a:endParaRPr lang="en-US" altLang="zh-CN" sz="1400" dirty="0">
                <a:latin typeface="Arial" panose="020B0604020202020204" pitchFamily="34" charset="0"/>
                <a:ea typeface="黑体" panose="02010609060101010101" pitchFamily="49" charset="-122"/>
              </a:endParaRPr>
            </a:p>
          </p:txBody>
        </p:sp>
        <p:sp>
          <p:nvSpPr>
            <p:cNvPr id="453673" name="Rectangle 35"/>
            <p:cNvSpPr/>
            <p:nvPr/>
          </p:nvSpPr>
          <p:spPr>
            <a:xfrm>
              <a:off x="2836863" y="4471988"/>
              <a:ext cx="533400" cy="314325"/>
            </a:xfrm>
            <a:prstGeom prst="rect">
              <a:avLst/>
            </a:prstGeom>
            <a:solidFill>
              <a:srgbClr val="DDDDDD"/>
            </a:solidFill>
            <a:ln w="9525" cap="flat" cmpd="sng">
              <a:solidFill>
                <a:schemeClr val="tx1"/>
              </a:solidFill>
              <a:prstDash val="solid"/>
              <a:miter/>
              <a:headEnd type="none" w="med" len="med"/>
              <a:tailEnd type="none" w="med" len="med"/>
            </a:ln>
          </p:spPr>
          <p:txBody>
            <a:bodyPr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1400" dirty="0">
                  <a:latin typeface="Arial" panose="020B0604020202020204" pitchFamily="34" charset="0"/>
                  <a:ea typeface="黑体" panose="02010609060101010101" pitchFamily="49" charset="-122"/>
                </a:rPr>
                <a:t> </a:t>
              </a:r>
              <a:r>
                <a:rPr lang="zh-CN" altLang="en-US" sz="1400" b="1" dirty="0">
                  <a:latin typeface="Arial" panose="020B0604020202020204" pitchFamily="34" charset="0"/>
                  <a:ea typeface="黑体" panose="02010609060101010101" pitchFamily="49" charset="-122"/>
                </a:rPr>
                <a:t> </a:t>
              </a:r>
              <a:r>
                <a:rPr lang="en-US" altLang="zh-CN" sz="1400" b="1" dirty="0">
                  <a:latin typeface="Arial" panose="020B0604020202020204" pitchFamily="34" charset="0"/>
                  <a:ea typeface="黑体" panose="02010609060101010101" pitchFamily="49" charset="-122"/>
                </a:rPr>
                <a:t>F</a:t>
              </a:r>
              <a:endParaRPr lang="en-US" altLang="zh-CN" sz="1400" dirty="0">
                <a:latin typeface="Arial" panose="020B0604020202020204" pitchFamily="34" charset="0"/>
                <a:ea typeface="黑体" panose="02010609060101010101" pitchFamily="49" charset="-122"/>
              </a:endParaRPr>
            </a:p>
          </p:txBody>
        </p:sp>
        <p:sp>
          <p:nvSpPr>
            <p:cNvPr id="453674" name="Rectangle 36"/>
            <p:cNvSpPr/>
            <p:nvPr/>
          </p:nvSpPr>
          <p:spPr>
            <a:xfrm>
              <a:off x="1449388" y="3733800"/>
              <a:ext cx="312737"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B</a:t>
              </a:r>
              <a:endParaRPr lang="en-US" altLang="zh-CN" sz="1400" dirty="0">
                <a:latin typeface="Arial" panose="020B0604020202020204" pitchFamily="34" charset="0"/>
                <a:ea typeface="黑体" panose="02010609060101010101" pitchFamily="49" charset="-122"/>
              </a:endParaRPr>
            </a:p>
          </p:txBody>
        </p:sp>
        <p:sp>
          <p:nvSpPr>
            <p:cNvPr id="453675" name="Rectangle 37"/>
            <p:cNvSpPr/>
            <p:nvPr/>
          </p:nvSpPr>
          <p:spPr>
            <a:xfrm>
              <a:off x="2058988" y="5334000"/>
              <a:ext cx="322262"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G</a:t>
              </a:r>
              <a:endParaRPr lang="en-US" altLang="zh-CN" sz="1400" dirty="0">
                <a:latin typeface="Arial" panose="020B0604020202020204" pitchFamily="34" charset="0"/>
                <a:ea typeface="黑体" panose="02010609060101010101" pitchFamily="49" charset="-122"/>
              </a:endParaRPr>
            </a:p>
          </p:txBody>
        </p:sp>
      </p:grpSp>
      <p:grpSp>
        <p:nvGrpSpPr>
          <p:cNvPr id="453635" name="组合 1"/>
          <p:cNvGrpSpPr/>
          <p:nvPr/>
        </p:nvGrpSpPr>
        <p:grpSpPr>
          <a:xfrm>
            <a:off x="4421188" y="2306638"/>
            <a:ext cx="3743325" cy="3944937"/>
            <a:chOff x="4421188" y="2306638"/>
            <a:chExt cx="3743325" cy="3944937"/>
          </a:xfrm>
        </p:grpSpPr>
        <p:sp>
          <p:nvSpPr>
            <p:cNvPr id="453638" name="Rectangle 2"/>
            <p:cNvSpPr/>
            <p:nvPr/>
          </p:nvSpPr>
          <p:spPr>
            <a:xfrm>
              <a:off x="6113463" y="241458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39" name="Rectangle 3"/>
            <p:cNvSpPr/>
            <p:nvPr/>
          </p:nvSpPr>
          <p:spPr>
            <a:xfrm>
              <a:off x="6196013" y="54689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0" name="Rectangle 4"/>
            <p:cNvSpPr/>
            <p:nvPr/>
          </p:nvSpPr>
          <p:spPr>
            <a:xfrm>
              <a:off x="7110413" y="29543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1" name="Rectangle 5"/>
            <p:cNvSpPr/>
            <p:nvPr/>
          </p:nvSpPr>
          <p:spPr>
            <a:xfrm>
              <a:off x="6500813" y="37163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2" name="Rectangle 6"/>
            <p:cNvSpPr/>
            <p:nvPr/>
          </p:nvSpPr>
          <p:spPr>
            <a:xfrm>
              <a:off x="7643813" y="37163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3" name="Rectangle 7"/>
            <p:cNvSpPr/>
            <p:nvPr/>
          </p:nvSpPr>
          <p:spPr>
            <a:xfrm>
              <a:off x="7110413" y="44783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4" name="Rectangle 8"/>
            <p:cNvSpPr/>
            <p:nvPr/>
          </p:nvSpPr>
          <p:spPr>
            <a:xfrm>
              <a:off x="5281613" y="3487738"/>
              <a:ext cx="520700" cy="368300"/>
            </a:xfrm>
            <a:prstGeom prst="rect">
              <a:avLst/>
            </a:prstGeom>
            <a:solidFill>
              <a:srgbClr val="DDDDDD"/>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3645" name="Line 9"/>
            <p:cNvSpPr/>
            <p:nvPr/>
          </p:nvSpPr>
          <p:spPr>
            <a:xfrm>
              <a:off x="6418263" y="2795588"/>
              <a:ext cx="990600" cy="152400"/>
            </a:xfrm>
            <a:prstGeom prst="line">
              <a:avLst/>
            </a:prstGeom>
            <a:ln w="12700" cap="flat" cmpd="sng">
              <a:solidFill>
                <a:schemeClr val="tx1"/>
              </a:solidFill>
              <a:prstDash val="solid"/>
              <a:headEnd type="none" w="sm" len="sm"/>
              <a:tailEnd type="stealth" w="med" len="lg"/>
            </a:ln>
          </p:spPr>
        </p:sp>
        <p:sp>
          <p:nvSpPr>
            <p:cNvPr id="453646" name="Line 10"/>
            <p:cNvSpPr/>
            <p:nvPr/>
          </p:nvSpPr>
          <p:spPr>
            <a:xfrm flipH="1">
              <a:off x="5580063" y="2795588"/>
              <a:ext cx="762000" cy="685800"/>
            </a:xfrm>
            <a:prstGeom prst="line">
              <a:avLst/>
            </a:prstGeom>
            <a:ln w="12700" cap="flat" cmpd="sng">
              <a:solidFill>
                <a:schemeClr val="tx1"/>
              </a:solidFill>
              <a:prstDash val="solid"/>
              <a:headEnd type="none" w="sm" len="sm"/>
              <a:tailEnd type="stealth" w="med" len="lg"/>
            </a:ln>
          </p:spPr>
        </p:sp>
        <p:sp>
          <p:nvSpPr>
            <p:cNvPr id="453647" name="Line 11"/>
            <p:cNvSpPr/>
            <p:nvPr/>
          </p:nvSpPr>
          <p:spPr>
            <a:xfrm>
              <a:off x="5580063" y="3862388"/>
              <a:ext cx="914400" cy="1600200"/>
            </a:xfrm>
            <a:prstGeom prst="line">
              <a:avLst/>
            </a:prstGeom>
            <a:ln w="12700" cap="flat" cmpd="sng">
              <a:solidFill>
                <a:schemeClr val="tx1"/>
              </a:solidFill>
              <a:prstDash val="solid"/>
              <a:headEnd type="none" w="sm" len="sm"/>
              <a:tailEnd type="stealth" w="med" len="lg"/>
            </a:ln>
          </p:spPr>
        </p:sp>
        <p:sp>
          <p:nvSpPr>
            <p:cNvPr id="453648" name="Line 12"/>
            <p:cNvSpPr/>
            <p:nvPr/>
          </p:nvSpPr>
          <p:spPr>
            <a:xfrm flipH="1">
              <a:off x="6723063" y="3328988"/>
              <a:ext cx="685800" cy="381000"/>
            </a:xfrm>
            <a:prstGeom prst="line">
              <a:avLst/>
            </a:prstGeom>
            <a:ln w="12700" cap="flat" cmpd="sng">
              <a:solidFill>
                <a:schemeClr val="tx1"/>
              </a:solidFill>
              <a:prstDash val="solid"/>
              <a:headEnd type="none" w="sm" len="sm"/>
              <a:tailEnd type="stealth" w="med" len="lg"/>
            </a:ln>
          </p:spPr>
        </p:sp>
        <p:sp>
          <p:nvSpPr>
            <p:cNvPr id="453649" name="Line 13"/>
            <p:cNvSpPr/>
            <p:nvPr/>
          </p:nvSpPr>
          <p:spPr>
            <a:xfrm>
              <a:off x="7408863" y="3328988"/>
              <a:ext cx="533400" cy="381000"/>
            </a:xfrm>
            <a:prstGeom prst="line">
              <a:avLst/>
            </a:prstGeom>
            <a:ln w="12700" cap="flat" cmpd="sng">
              <a:solidFill>
                <a:schemeClr val="tx1"/>
              </a:solidFill>
              <a:prstDash val="solid"/>
              <a:headEnd type="none" w="sm" len="sm"/>
              <a:tailEnd type="stealth" w="med" len="lg"/>
            </a:ln>
          </p:spPr>
        </p:sp>
        <p:sp>
          <p:nvSpPr>
            <p:cNvPr id="453650" name="Line 14"/>
            <p:cNvSpPr/>
            <p:nvPr/>
          </p:nvSpPr>
          <p:spPr>
            <a:xfrm>
              <a:off x="6723063" y="4090988"/>
              <a:ext cx="609600" cy="381000"/>
            </a:xfrm>
            <a:prstGeom prst="line">
              <a:avLst/>
            </a:prstGeom>
            <a:ln w="12700" cap="flat" cmpd="sng">
              <a:solidFill>
                <a:schemeClr val="tx1"/>
              </a:solidFill>
              <a:prstDash val="solid"/>
              <a:headEnd type="none" w="sm" len="sm"/>
              <a:tailEnd type="stealth" w="med" len="lg"/>
            </a:ln>
          </p:spPr>
        </p:sp>
        <p:sp>
          <p:nvSpPr>
            <p:cNvPr id="453651" name="Line 15"/>
            <p:cNvSpPr/>
            <p:nvPr/>
          </p:nvSpPr>
          <p:spPr>
            <a:xfrm flipH="1">
              <a:off x="7332663" y="4090988"/>
              <a:ext cx="609600" cy="381000"/>
            </a:xfrm>
            <a:prstGeom prst="line">
              <a:avLst/>
            </a:prstGeom>
            <a:ln w="12700" cap="flat" cmpd="sng">
              <a:solidFill>
                <a:schemeClr val="tx1"/>
              </a:solidFill>
              <a:prstDash val="solid"/>
              <a:headEnd type="none" w="sm" len="sm"/>
              <a:tailEnd type="stealth" w="med" len="lg"/>
            </a:ln>
          </p:spPr>
        </p:sp>
        <p:sp>
          <p:nvSpPr>
            <p:cNvPr id="453652" name="Line 16"/>
            <p:cNvSpPr/>
            <p:nvPr/>
          </p:nvSpPr>
          <p:spPr>
            <a:xfrm flipH="1">
              <a:off x="6494463" y="4852988"/>
              <a:ext cx="914400" cy="609600"/>
            </a:xfrm>
            <a:prstGeom prst="line">
              <a:avLst/>
            </a:prstGeom>
            <a:ln w="12700" cap="flat" cmpd="sng">
              <a:solidFill>
                <a:schemeClr val="tx1"/>
              </a:solidFill>
              <a:prstDash val="solid"/>
              <a:headEnd type="none" w="sm" len="sm"/>
              <a:tailEnd type="stealth" w="med" len="lg"/>
            </a:ln>
          </p:spPr>
        </p:sp>
        <p:sp>
          <p:nvSpPr>
            <p:cNvPr id="453653" name="Rectangle 17"/>
            <p:cNvSpPr/>
            <p:nvPr/>
          </p:nvSpPr>
          <p:spPr>
            <a:xfrm>
              <a:off x="6172200" y="2513013"/>
              <a:ext cx="312738"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A</a:t>
              </a:r>
              <a:endParaRPr lang="en-US" altLang="zh-CN" sz="1400" dirty="0">
                <a:latin typeface="Arial" panose="020B0604020202020204" pitchFamily="34" charset="0"/>
                <a:ea typeface="黑体" panose="02010609060101010101" pitchFamily="49" charset="-122"/>
              </a:endParaRPr>
            </a:p>
          </p:txBody>
        </p:sp>
        <p:sp>
          <p:nvSpPr>
            <p:cNvPr id="453654" name="Rectangle 18"/>
            <p:cNvSpPr/>
            <p:nvPr/>
          </p:nvSpPr>
          <p:spPr>
            <a:xfrm>
              <a:off x="5334000" y="3579813"/>
              <a:ext cx="312738"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B</a:t>
              </a:r>
              <a:endParaRPr lang="en-US" altLang="zh-CN" sz="1400" dirty="0">
                <a:latin typeface="Arial" panose="020B0604020202020204" pitchFamily="34" charset="0"/>
                <a:ea typeface="黑体" panose="02010609060101010101" pitchFamily="49" charset="-122"/>
              </a:endParaRPr>
            </a:p>
          </p:txBody>
        </p:sp>
        <p:sp>
          <p:nvSpPr>
            <p:cNvPr id="453655" name="Rectangle 19"/>
            <p:cNvSpPr/>
            <p:nvPr/>
          </p:nvSpPr>
          <p:spPr>
            <a:xfrm>
              <a:off x="7162800" y="2970213"/>
              <a:ext cx="312738"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C</a:t>
              </a:r>
              <a:endParaRPr lang="en-US" altLang="zh-CN" sz="1400" dirty="0">
                <a:latin typeface="Arial" panose="020B0604020202020204" pitchFamily="34" charset="0"/>
                <a:ea typeface="黑体" panose="02010609060101010101" pitchFamily="49" charset="-122"/>
              </a:endParaRPr>
            </a:p>
          </p:txBody>
        </p:sp>
        <p:sp>
          <p:nvSpPr>
            <p:cNvPr id="453656" name="Rectangle 20"/>
            <p:cNvSpPr/>
            <p:nvPr/>
          </p:nvSpPr>
          <p:spPr>
            <a:xfrm>
              <a:off x="6630988" y="3808413"/>
              <a:ext cx="312737"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D</a:t>
              </a:r>
              <a:endParaRPr lang="en-US" altLang="zh-CN" sz="1400" dirty="0">
                <a:latin typeface="Arial" panose="020B0604020202020204" pitchFamily="34" charset="0"/>
                <a:ea typeface="黑体" panose="02010609060101010101" pitchFamily="49" charset="-122"/>
              </a:endParaRPr>
            </a:p>
          </p:txBody>
        </p:sp>
        <p:sp>
          <p:nvSpPr>
            <p:cNvPr id="453657" name="Rectangle 21"/>
            <p:cNvSpPr/>
            <p:nvPr/>
          </p:nvSpPr>
          <p:spPr>
            <a:xfrm>
              <a:off x="7697788" y="3808413"/>
              <a:ext cx="303212"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E</a:t>
              </a:r>
              <a:endParaRPr lang="en-US" altLang="zh-CN" sz="1400" dirty="0">
                <a:latin typeface="Arial" panose="020B0604020202020204" pitchFamily="34" charset="0"/>
                <a:ea typeface="黑体" panose="02010609060101010101" pitchFamily="49" charset="-122"/>
              </a:endParaRPr>
            </a:p>
          </p:txBody>
        </p:sp>
        <p:sp>
          <p:nvSpPr>
            <p:cNvPr id="453658" name="Rectangle 22"/>
            <p:cNvSpPr/>
            <p:nvPr/>
          </p:nvSpPr>
          <p:spPr>
            <a:xfrm>
              <a:off x="7240588" y="4570413"/>
              <a:ext cx="292100"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F</a:t>
              </a:r>
              <a:endParaRPr lang="en-US" altLang="zh-CN" sz="1400" dirty="0">
                <a:latin typeface="Arial" panose="020B0604020202020204" pitchFamily="34" charset="0"/>
                <a:ea typeface="黑体" panose="02010609060101010101" pitchFamily="49" charset="-122"/>
              </a:endParaRPr>
            </a:p>
          </p:txBody>
        </p:sp>
        <p:sp>
          <p:nvSpPr>
            <p:cNvPr id="453659" name="Rectangle 23"/>
            <p:cNvSpPr/>
            <p:nvPr/>
          </p:nvSpPr>
          <p:spPr>
            <a:xfrm>
              <a:off x="6249988" y="5561013"/>
              <a:ext cx="322262" cy="304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en-US" altLang="zh-CN" sz="1400" b="1" dirty="0">
                  <a:latin typeface="Arial" panose="020B0604020202020204" pitchFamily="34" charset="0"/>
                  <a:ea typeface="黑体" panose="02010609060101010101" pitchFamily="49" charset="-122"/>
                </a:rPr>
                <a:t>G</a:t>
              </a:r>
              <a:endParaRPr lang="en-US" altLang="zh-CN" sz="1400" dirty="0">
                <a:latin typeface="Arial" panose="020B0604020202020204" pitchFamily="34" charset="0"/>
                <a:ea typeface="黑体" panose="02010609060101010101" pitchFamily="49" charset="-122"/>
              </a:endParaRPr>
            </a:p>
          </p:txBody>
        </p:sp>
        <p:sp>
          <p:nvSpPr>
            <p:cNvPr id="453660" name="Freeform 38"/>
            <p:cNvSpPr/>
            <p:nvPr/>
          </p:nvSpPr>
          <p:spPr>
            <a:xfrm>
              <a:off x="5842000" y="2306638"/>
              <a:ext cx="1941513" cy="201453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23" h="1269">
                  <a:moveTo>
                    <a:pt x="219" y="1268"/>
                  </a:moveTo>
                  <a:lnTo>
                    <a:pt x="224" y="1228"/>
                  </a:lnTo>
                  <a:lnTo>
                    <a:pt x="224" y="1207"/>
                  </a:lnTo>
                  <a:lnTo>
                    <a:pt x="224" y="1192"/>
                  </a:lnTo>
                  <a:lnTo>
                    <a:pt x="217" y="1163"/>
                  </a:lnTo>
                  <a:lnTo>
                    <a:pt x="202" y="1142"/>
                  </a:lnTo>
                  <a:lnTo>
                    <a:pt x="202" y="1127"/>
                  </a:lnTo>
                  <a:lnTo>
                    <a:pt x="195" y="1105"/>
                  </a:lnTo>
                  <a:lnTo>
                    <a:pt x="180" y="1098"/>
                  </a:lnTo>
                  <a:lnTo>
                    <a:pt x="173" y="1077"/>
                  </a:lnTo>
                  <a:lnTo>
                    <a:pt x="166" y="1062"/>
                  </a:lnTo>
                  <a:lnTo>
                    <a:pt x="152" y="1033"/>
                  </a:lnTo>
                  <a:lnTo>
                    <a:pt x="137" y="1004"/>
                  </a:lnTo>
                  <a:lnTo>
                    <a:pt x="123" y="975"/>
                  </a:lnTo>
                  <a:lnTo>
                    <a:pt x="108" y="939"/>
                  </a:lnTo>
                  <a:lnTo>
                    <a:pt x="94" y="903"/>
                  </a:lnTo>
                  <a:lnTo>
                    <a:pt x="79" y="874"/>
                  </a:lnTo>
                  <a:lnTo>
                    <a:pt x="65" y="845"/>
                  </a:lnTo>
                  <a:lnTo>
                    <a:pt x="50" y="809"/>
                  </a:lnTo>
                  <a:lnTo>
                    <a:pt x="50" y="787"/>
                  </a:lnTo>
                  <a:lnTo>
                    <a:pt x="43" y="766"/>
                  </a:lnTo>
                  <a:lnTo>
                    <a:pt x="36" y="751"/>
                  </a:lnTo>
                  <a:lnTo>
                    <a:pt x="29" y="730"/>
                  </a:lnTo>
                  <a:lnTo>
                    <a:pt x="29" y="715"/>
                  </a:lnTo>
                  <a:lnTo>
                    <a:pt x="29" y="693"/>
                  </a:lnTo>
                  <a:lnTo>
                    <a:pt x="14" y="665"/>
                  </a:lnTo>
                  <a:lnTo>
                    <a:pt x="14" y="643"/>
                  </a:lnTo>
                  <a:lnTo>
                    <a:pt x="14" y="628"/>
                  </a:lnTo>
                  <a:lnTo>
                    <a:pt x="14" y="600"/>
                  </a:lnTo>
                  <a:lnTo>
                    <a:pt x="7" y="578"/>
                  </a:lnTo>
                  <a:lnTo>
                    <a:pt x="7" y="556"/>
                  </a:lnTo>
                  <a:lnTo>
                    <a:pt x="0" y="520"/>
                  </a:lnTo>
                  <a:lnTo>
                    <a:pt x="0" y="498"/>
                  </a:lnTo>
                  <a:lnTo>
                    <a:pt x="0" y="462"/>
                  </a:lnTo>
                  <a:lnTo>
                    <a:pt x="0" y="433"/>
                  </a:lnTo>
                  <a:lnTo>
                    <a:pt x="0" y="404"/>
                  </a:lnTo>
                  <a:lnTo>
                    <a:pt x="0" y="383"/>
                  </a:lnTo>
                  <a:lnTo>
                    <a:pt x="0" y="368"/>
                  </a:lnTo>
                  <a:lnTo>
                    <a:pt x="0" y="339"/>
                  </a:lnTo>
                  <a:lnTo>
                    <a:pt x="0" y="318"/>
                  </a:lnTo>
                  <a:lnTo>
                    <a:pt x="0" y="303"/>
                  </a:lnTo>
                  <a:lnTo>
                    <a:pt x="7" y="274"/>
                  </a:lnTo>
                  <a:lnTo>
                    <a:pt x="14" y="253"/>
                  </a:lnTo>
                  <a:lnTo>
                    <a:pt x="21" y="231"/>
                  </a:lnTo>
                  <a:lnTo>
                    <a:pt x="29" y="209"/>
                  </a:lnTo>
                  <a:lnTo>
                    <a:pt x="43" y="180"/>
                  </a:lnTo>
                  <a:lnTo>
                    <a:pt x="50" y="151"/>
                  </a:lnTo>
                  <a:lnTo>
                    <a:pt x="58" y="130"/>
                  </a:lnTo>
                  <a:lnTo>
                    <a:pt x="65" y="115"/>
                  </a:lnTo>
                  <a:lnTo>
                    <a:pt x="72" y="94"/>
                  </a:lnTo>
                  <a:lnTo>
                    <a:pt x="79" y="79"/>
                  </a:lnTo>
                  <a:lnTo>
                    <a:pt x="94" y="57"/>
                  </a:lnTo>
                  <a:lnTo>
                    <a:pt x="115" y="36"/>
                  </a:lnTo>
                  <a:lnTo>
                    <a:pt x="130" y="28"/>
                  </a:lnTo>
                  <a:lnTo>
                    <a:pt x="152" y="21"/>
                  </a:lnTo>
                  <a:lnTo>
                    <a:pt x="173" y="7"/>
                  </a:lnTo>
                  <a:lnTo>
                    <a:pt x="188" y="7"/>
                  </a:lnTo>
                  <a:lnTo>
                    <a:pt x="209" y="0"/>
                  </a:lnTo>
                  <a:lnTo>
                    <a:pt x="224" y="0"/>
                  </a:lnTo>
                  <a:lnTo>
                    <a:pt x="246" y="0"/>
                  </a:lnTo>
                  <a:lnTo>
                    <a:pt x="274" y="0"/>
                  </a:lnTo>
                  <a:lnTo>
                    <a:pt x="289" y="0"/>
                  </a:lnTo>
                  <a:lnTo>
                    <a:pt x="318" y="0"/>
                  </a:lnTo>
                  <a:lnTo>
                    <a:pt x="340" y="0"/>
                  </a:lnTo>
                  <a:lnTo>
                    <a:pt x="368" y="0"/>
                  </a:lnTo>
                  <a:lnTo>
                    <a:pt x="390" y="0"/>
                  </a:lnTo>
                  <a:lnTo>
                    <a:pt x="405" y="0"/>
                  </a:lnTo>
                  <a:lnTo>
                    <a:pt x="433" y="0"/>
                  </a:lnTo>
                  <a:lnTo>
                    <a:pt x="455" y="0"/>
                  </a:lnTo>
                  <a:lnTo>
                    <a:pt x="477" y="0"/>
                  </a:lnTo>
                  <a:lnTo>
                    <a:pt x="506" y="0"/>
                  </a:lnTo>
                  <a:lnTo>
                    <a:pt x="527" y="7"/>
                  </a:lnTo>
                  <a:lnTo>
                    <a:pt x="542" y="7"/>
                  </a:lnTo>
                  <a:lnTo>
                    <a:pt x="571" y="14"/>
                  </a:lnTo>
                  <a:lnTo>
                    <a:pt x="607" y="21"/>
                  </a:lnTo>
                  <a:lnTo>
                    <a:pt x="643" y="28"/>
                  </a:lnTo>
                  <a:lnTo>
                    <a:pt x="658" y="28"/>
                  </a:lnTo>
                  <a:lnTo>
                    <a:pt x="679" y="43"/>
                  </a:lnTo>
                  <a:lnTo>
                    <a:pt x="701" y="43"/>
                  </a:lnTo>
                  <a:lnTo>
                    <a:pt x="730" y="50"/>
                  </a:lnTo>
                  <a:lnTo>
                    <a:pt x="752" y="57"/>
                  </a:lnTo>
                  <a:lnTo>
                    <a:pt x="773" y="65"/>
                  </a:lnTo>
                  <a:lnTo>
                    <a:pt x="795" y="72"/>
                  </a:lnTo>
                  <a:lnTo>
                    <a:pt x="817" y="79"/>
                  </a:lnTo>
                  <a:lnTo>
                    <a:pt x="846" y="94"/>
                  </a:lnTo>
                  <a:lnTo>
                    <a:pt x="867" y="108"/>
                  </a:lnTo>
                  <a:lnTo>
                    <a:pt x="882" y="115"/>
                  </a:lnTo>
                  <a:lnTo>
                    <a:pt x="911" y="130"/>
                  </a:lnTo>
                  <a:lnTo>
                    <a:pt x="932" y="144"/>
                  </a:lnTo>
                  <a:lnTo>
                    <a:pt x="947" y="151"/>
                  </a:lnTo>
                  <a:lnTo>
                    <a:pt x="976" y="166"/>
                  </a:lnTo>
                  <a:lnTo>
                    <a:pt x="997" y="173"/>
                  </a:lnTo>
                  <a:lnTo>
                    <a:pt x="1019" y="188"/>
                  </a:lnTo>
                  <a:lnTo>
                    <a:pt x="1034" y="195"/>
                  </a:lnTo>
                  <a:lnTo>
                    <a:pt x="1055" y="202"/>
                  </a:lnTo>
                  <a:lnTo>
                    <a:pt x="1077" y="216"/>
                  </a:lnTo>
                  <a:lnTo>
                    <a:pt x="1106" y="224"/>
                  </a:lnTo>
                  <a:lnTo>
                    <a:pt x="1128" y="245"/>
                  </a:lnTo>
                  <a:lnTo>
                    <a:pt x="1149" y="260"/>
                  </a:lnTo>
                  <a:lnTo>
                    <a:pt x="1164" y="274"/>
                  </a:lnTo>
                  <a:lnTo>
                    <a:pt x="1178" y="289"/>
                  </a:lnTo>
                  <a:lnTo>
                    <a:pt x="1193" y="303"/>
                  </a:lnTo>
                  <a:lnTo>
                    <a:pt x="1200" y="318"/>
                  </a:lnTo>
                  <a:lnTo>
                    <a:pt x="1207" y="347"/>
                  </a:lnTo>
                  <a:lnTo>
                    <a:pt x="1222" y="375"/>
                  </a:lnTo>
                  <a:lnTo>
                    <a:pt x="1222" y="390"/>
                  </a:lnTo>
                  <a:lnTo>
                    <a:pt x="1222" y="412"/>
                  </a:lnTo>
                  <a:lnTo>
                    <a:pt x="1222" y="433"/>
                  </a:lnTo>
                  <a:lnTo>
                    <a:pt x="1222" y="448"/>
                  </a:lnTo>
                  <a:lnTo>
                    <a:pt x="1222" y="477"/>
                  </a:lnTo>
                  <a:lnTo>
                    <a:pt x="1222" y="506"/>
                  </a:lnTo>
                  <a:lnTo>
                    <a:pt x="1222" y="527"/>
                  </a:lnTo>
                  <a:lnTo>
                    <a:pt x="1222" y="542"/>
                  </a:lnTo>
                  <a:lnTo>
                    <a:pt x="1222" y="563"/>
                  </a:lnTo>
                  <a:lnTo>
                    <a:pt x="1214" y="578"/>
                  </a:lnTo>
                  <a:lnTo>
                    <a:pt x="1207" y="600"/>
                  </a:lnTo>
                  <a:lnTo>
                    <a:pt x="1193" y="621"/>
                  </a:lnTo>
                  <a:lnTo>
                    <a:pt x="1185" y="636"/>
                  </a:lnTo>
                  <a:lnTo>
                    <a:pt x="1171" y="657"/>
                  </a:lnTo>
                  <a:lnTo>
                    <a:pt x="1157" y="672"/>
                  </a:lnTo>
                  <a:lnTo>
                    <a:pt x="1149" y="693"/>
                  </a:lnTo>
                  <a:lnTo>
                    <a:pt x="1142" y="708"/>
                  </a:lnTo>
                  <a:lnTo>
                    <a:pt x="1128" y="737"/>
                  </a:lnTo>
                  <a:lnTo>
                    <a:pt x="1113" y="751"/>
                  </a:lnTo>
                  <a:lnTo>
                    <a:pt x="1106" y="766"/>
                  </a:lnTo>
                  <a:lnTo>
                    <a:pt x="1084" y="780"/>
                  </a:lnTo>
                  <a:lnTo>
                    <a:pt x="1077" y="795"/>
                  </a:lnTo>
                  <a:lnTo>
                    <a:pt x="1055" y="816"/>
                  </a:lnTo>
                  <a:lnTo>
                    <a:pt x="1041" y="831"/>
                  </a:lnTo>
                  <a:lnTo>
                    <a:pt x="1026" y="838"/>
                  </a:lnTo>
                  <a:lnTo>
                    <a:pt x="1012" y="860"/>
                  </a:lnTo>
                  <a:lnTo>
                    <a:pt x="997" y="867"/>
                  </a:lnTo>
                  <a:lnTo>
                    <a:pt x="976" y="889"/>
                  </a:lnTo>
                  <a:lnTo>
                    <a:pt x="954" y="903"/>
                  </a:lnTo>
                  <a:lnTo>
                    <a:pt x="947" y="918"/>
                  </a:lnTo>
                  <a:lnTo>
                    <a:pt x="925" y="939"/>
                  </a:lnTo>
                  <a:lnTo>
                    <a:pt x="911" y="954"/>
                  </a:lnTo>
                  <a:lnTo>
                    <a:pt x="896" y="961"/>
                  </a:lnTo>
                  <a:lnTo>
                    <a:pt x="882" y="983"/>
                  </a:lnTo>
                  <a:lnTo>
                    <a:pt x="867" y="997"/>
                  </a:lnTo>
                  <a:lnTo>
                    <a:pt x="853" y="1012"/>
                  </a:lnTo>
                  <a:lnTo>
                    <a:pt x="838" y="1026"/>
                  </a:lnTo>
                  <a:lnTo>
                    <a:pt x="824" y="1048"/>
                  </a:lnTo>
                  <a:lnTo>
                    <a:pt x="809" y="1062"/>
                  </a:lnTo>
                  <a:lnTo>
                    <a:pt x="802" y="1084"/>
                  </a:lnTo>
                  <a:lnTo>
                    <a:pt x="781" y="1098"/>
                  </a:lnTo>
                  <a:lnTo>
                    <a:pt x="766" y="1113"/>
                  </a:lnTo>
                  <a:lnTo>
                    <a:pt x="744" y="1134"/>
                  </a:lnTo>
                  <a:lnTo>
                    <a:pt x="723" y="1149"/>
                  </a:lnTo>
                  <a:lnTo>
                    <a:pt x="701" y="1178"/>
                  </a:lnTo>
                  <a:lnTo>
                    <a:pt x="679" y="1192"/>
                  </a:lnTo>
                  <a:lnTo>
                    <a:pt x="665" y="1207"/>
                  </a:lnTo>
                  <a:lnTo>
                    <a:pt x="650" y="1214"/>
                  </a:lnTo>
                  <a:lnTo>
                    <a:pt x="629" y="1228"/>
                  </a:lnTo>
                  <a:lnTo>
                    <a:pt x="614" y="1236"/>
                  </a:lnTo>
                  <a:lnTo>
                    <a:pt x="585" y="1243"/>
                  </a:lnTo>
                  <a:lnTo>
                    <a:pt x="564" y="1250"/>
                  </a:lnTo>
                  <a:lnTo>
                    <a:pt x="549" y="1250"/>
                  </a:lnTo>
                  <a:lnTo>
                    <a:pt x="527" y="1257"/>
                  </a:lnTo>
                  <a:lnTo>
                    <a:pt x="499" y="1257"/>
                  </a:lnTo>
                  <a:lnTo>
                    <a:pt x="484" y="1257"/>
                  </a:lnTo>
                  <a:lnTo>
                    <a:pt x="462" y="1257"/>
                  </a:lnTo>
                  <a:lnTo>
                    <a:pt x="441" y="1257"/>
                  </a:lnTo>
                  <a:lnTo>
                    <a:pt x="426" y="1257"/>
                  </a:lnTo>
                  <a:lnTo>
                    <a:pt x="405" y="1264"/>
                  </a:lnTo>
                  <a:lnTo>
                    <a:pt x="383" y="1264"/>
                  </a:lnTo>
                  <a:lnTo>
                    <a:pt x="368" y="1264"/>
                  </a:lnTo>
                  <a:lnTo>
                    <a:pt x="347" y="1264"/>
                  </a:lnTo>
                  <a:lnTo>
                    <a:pt x="332" y="1264"/>
                  </a:lnTo>
                  <a:lnTo>
                    <a:pt x="311" y="1264"/>
                  </a:lnTo>
                  <a:lnTo>
                    <a:pt x="296" y="1264"/>
                  </a:lnTo>
                  <a:lnTo>
                    <a:pt x="274" y="1257"/>
                  </a:lnTo>
                  <a:lnTo>
                    <a:pt x="253" y="1250"/>
                  </a:lnTo>
                  <a:lnTo>
                    <a:pt x="219" y="1268"/>
                  </a:lnTo>
                </a:path>
              </a:pathLst>
            </a:custGeom>
            <a:noFill/>
            <a:ln w="50800" cap="rnd" cmpd="sng">
              <a:solidFill>
                <a:srgbClr val="0000CC">
                  <a:alpha val="100000"/>
                </a:srgbClr>
              </a:solidFill>
              <a:prstDash val="solid"/>
              <a:round/>
              <a:headEnd type="none" w="med" len="med"/>
              <a:tailEnd type="none" w="med" len="med"/>
            </a:ln>
          </p:spPr>
          <p:txBody>
            <a:bodyPr/>
            <a:p>
              <a:endParaRPr lang="zh-CN" altLang="en-US"/>
            </a:p>
          </p:txBody>
        </p:sp>
        <p:sp>
          <p:nvSpPr>
            <p:cNvPr id="453661" name="Text Box 39"/>
            <p:cNvSpPr txBox="1"/>
            <p:nvPr/>
          </p:nvSpPr>
          <p:spPr>
            <a:xfrm>
              <a:off x="4421188" y="5854700"/>
              <a:ext cx="3625850" cy="39687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r>
                <a:rPr lang="zh-CN" altLang="en-US" sz="2000" dirty="0">
                  <a:solidFill>
                    <a:srgbClr val="0000CC"/>
                  </a:solidFill>
                  <a:latin typeface="Arial" panose="020B0604020202020204" pitchFamily="34" charset="0"/>
                  <a:ea typeface="黑体" panose="02010609060101010101" pitchFamily="49" charset="-122"/>
                </a:rPr>
                <a:t>{</a:t>
              </a:r>
              <a:r>
                <a:rPr lang="en-US" altLang="zh-CN" sz="2000" dirty="0">
                  <a:solidFill>
                    <a:srgbClr val="0000CC"/>
                  </a:solidFill>
                  <a:latin typeface="Arial" panose="020B0604020202020204" pitchFamily="34" charset="0"/>
                  <a:ea typeface="黑体" panose="02010609060101010101" pitchFamily="49" charset="-122"/>
                </a:rPr>
                <a:t>A,C,D} a nested region as NR</a:t>
              </a:r>
              <a:endParaRPr lang="en-US" altLang="zh-CN" sz="2000" dirty="0">
                <a:solidFill>
                  <a:srgbClr val="0000CC"/>
                </a:solidFill>
                <a:latin typeface="Arial" panose="020B0604020202020204" pitchFamily="34" charset="0"/>
                <a:ea typeface="黑体" panose="02010609060101010101" pitchFamily="49" charset="-122"/>
              </a:endParaRPr>
            </a:p>
          </p:txBody>
        </p:sp>
      </p:grpSp>
      <p:sp>
        <p:nvSpPr>
          <p:cNvPr id="453636" name="Rectangle 40"/>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全局的情形：构造区域</a:t>
            </a:r>
            <a:endParaRPr lang="zh-CN" altLang="en-US" dirty="0">
              <a:latin typeface="Times New Roman" panose="02020603050405020304" pitchFamily="18" charset="0"/>
              <a:ea typeface="宋体" panose="02010600030101010101" pitchFamily="2" charset="-122"/>
            </a:endParaRPr>
          </a:p>
        </p:txBody>
      </p:sp>
      <p:sp>
        <p:nvSpPr>
          <p:cNvPr id="453637" name="Rectangle 41"/>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调度区域一般是无环的。依据流图的结构，基本块的执行频率，以及区域的预期大小等启发式信息构造。</a:t>
            </a:r>
            <a:endParaRPr lang="zh-CN" altLang="en-US" sz="2400" b="1" dirty="0">
              <a:ea typeface="宋体" panose="02010600030101010101" pitchFamily="2" charset="-122"/>
            </a:endParaRPr>
          </a:p>
        </p:txBody>
      </p:sp>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568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Trace </a:t>
            </a:r>
            <a:r>
              <a:rPr lang="zh-CN" altLang="en-US" dirty="0">
                <a:latin typeface="Times New Roman" panose="02020603050405020304" pitchFamily="18" charset="0"/>
                <a:ea typeface="宋体" panose="02010600030101010101" pitchFamily="2" charset="-122"/>
              </a:rPr>
              <a:t>调度</a:t>
            </a:r>
            <a:endParaRPr lang="zh-CN" altLang="en-US" dirty="0">
              <a:latin typeface="Times New Roman" panose="02020603050405020304" pitchFamily="18" charset="0"/>
              <a:ea typeface="宋体" panose="02010600030101010101" pitchFamily="2" charset="-122"/>
            </a:endParaRPr>
          </a:p>
        </p:txBody>
      </p:sp>
      <p:sp>
        <p:nvSpPr>
          <p:cNvPr id="455683" name="Rectangle 3"/>
          <p:cNvSpPr>
            <a:spLocks noGrp="1"/>
          </p:cNvSpPr>
          <p:nvPr>
            <p:ph idx="1"/>
          </p:nvPr>
        </p:nvSpPr>
        <p:spPr/>
        <p:txBody>
          <a:bodyPr vert="horz" wrap="square" lIns="92075" tIns="46038" rIns="92075" bIns="46038" anchor="t" anchorCtr="0"/>
          <a:p>
            <a:r>
              <a:rPr lang="en-US" altLang="zh-CN" sz="2400" b="1" dirty="0">
                <a:ea typeface="宋体" panose="02010600030101010101" pitchFamily="2" charset="-122"/>
              </a:rPr>
              <a:t>Trace:</a:t>
            </a:r>
            <a:endParaRPr lang="en-US" altLang="zh-CN" sz="2400" b="1" dirty="0">
              <a:ea typeface="宋体" panose="02010600030101010101" pitchFamily="2" charset="-122"/>
            </a:endParaRPr>
          </a:p>
          <a:p>
            <a:pPr lvl="1"/>
            <a:r>
              <a:rPr lang="zh-CN" altLang="en-US" sz="2200" b="1" dirty="0">
                <a:ea typeface="宋体" panose="02010600030101010101" pitchFamily="2" charset="-122"/>
              </a:rPr>
              <a:t>执行过程中可能经过的一个基本块的线性序列</a:t>
            </a:r>
            <a:endParaRPr lang="zh-CN" altLang="en-US" sz="2200" b="1" dirty="0">
              <a:ea typeface="宋体" panose="02010600030101010101" pitchFamily="2" charset="-122"/>
            </a:endParaRPr>
          </a:p>
          <a:p>
            <a:r>
              <a:rPr lang="en-US" altLang="zh-CN" sz="2400" b="1" dirty="0">
                <a:ea typeface="宋体" panose="02010600030101010101" pitchFamily="2" charset="-122"/>
              </a:rPr>
              <a:t>Trace </a:t>
            </a:r>
            <a:r>
              <a:rPr lang="zh-CN" altLang="en-US" sz="2400" b="1" dirty="0">
                <a:ea typeface="宋体" panose="02010600030101010101" pitchFamily="2" charset="-122"/>
              </a:rPr>
              <a:t>的选择：</a:t>
            </a:r>
            <a:endParaRPr lang="zh-CN" altLang="en-US" sz="2400" b="1" dirty="0">
              <a:ea typeface="宋体" panose="02010600030101010101" pitchFamily="2" charset="-122"/>
            </a:endParaRPr>
          </a:p>
          <a:p>
            <a:pPr lvl="1"/>
            <a:r>
              <a:rPr lang="zh-CN" altLang="en-US" sz="2200" b="1" dirty="0">
                <a:ea typeface="宋体" panose="02010600030101010101" pitchFamily="2" charset="-122"/>
              </a:rPr>
              <a:t>根据分支概率及是否需要插入补偿代码等启发式规则选择执行路径，代码移动局限于该路径</a:t>
            </a:r>
            <a:endParaRPr lang="zh-CN" altLang="en-US" sz="2200" b="1" dirty="0">
              <a:ea typeface="宋体" panose="02010600030101010101" pitchFamily="2" charset="-122"/>
            </a:endParaRPr>
          </a:p>
          <a:p>
            <a:r>
              <a:rPr lang="zh-CN" altLang="en-US" sz="2400" b="1" dirty="0">
                <a:ea typeface="宋体" panose="02010600030101010101" pitchFamily="2" charset="-122"/>
              </a:rPr>
              <a:t>局部调度方法的延伸：以执行频率较低的路径上代码执行时间的增加为代价，换取频繁执行的路径上代码执行时间的缩减</a:t>
            </a:r>
            <a:endParaRPr lang="zh-CN" altLang="en-US" sz="2400" b="1" dirty="0">
              <a:ea typeface="宋体" panose="02010600030101010101" pitchFamily="2" charset="-122"/>
            </a:endParaRPr>
          </a:p>
        </p:txBody>
      </p:sp>
    </p:spTree>
  </p:cSld>
  <p:clrMapOvr>
    <a:masterClrMapping/>
  </p:clrMapOvr>
  <p:transition spd="slow"/>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773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Trace </a:t>
            </a:r>
            <a:r>
              <a:rPr lang="zh-CN" altLang="en-US" dirty="0">
                <a:latin typeface="Times New Roman" panose="02020603050405020304" pitchFamily="18" charset="0"/>
                <a:ea typeface="宋体" panose="02010600030101010101" pitchFamily="2" charset="-122"/>
              </a:rPr>
              <a:t>调度：算法</a:t>
            </a:r>
            <a:endParaRPr lang="zh-CN" altLang="en-US" dirty="0">
              <a:latin typeface="Times New Roman" panose="02020603050405020304" pitchFamily="18" charset="0"/>
              <a:ea typeface="宋体" panose="02010600030101010101" pitchFamily="2" charset="-122"/>
            </a:endParaRPr>
          </a:p>
        </p:txBody>
      </p:sp>
      <p:sp>
        <p:nvSpPr>
          <p:cNvPr id="457731" name="Rectangle 3"/>
          <p:cNvSpPr>
            <a:spLocks noGrp="1"/>
          </p:cNvSpPr>
          <p:nvPr>
            <p:ph idx="1"/>
          </p:nvPr>
        </p:nvSpPr>
        <p:spPr>
          <a:xfrm>
            <a:off x="914400" y="1371600"/>
            <a:ext cx="7543800" cy="4800600"/>
          </a:xfrm>
        </p:spPr>
        <p:txBody>
          <a:bodyPr vert="horz" wrap="square" lIns="92075" tIns="46038" rIns="92075" bIns="46038" anchor="t" anchorCtr="0"/>
          <a:p>
            <a:pPr>
              <a:lnSpc>
                <a:spcPct val="90000"/>
              </a:lnSpc>
            </a:pPr>
            <a:r>
              <a:rPr lang="zh-CN" altLang="en-US" sz="2400" b="1" dirty="0">
                <a:ea typeface="宋体" panose="02010600030101010101" pitchFamily="2" charset="-122"/>
              </a:rPr>
              <a:t>步骤：</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估算每个操作的执行频率</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挑选</a:t>
            </a:r>
            <a:r>
              <a:rPr lang="en-US" altLang="zh-CN" sz="2200" b="1" dirty="0">
                <a:ea typeface="宋体" panose="02010600030101010101" pitchFamily="2" charset="-122"/>
              </a:rPr>
              <a:t>Trace</a:t>
            </a:r>
            <a:endParaRPr lang="en-US" altLang="zh-CN" sz="2200" b="1" dirty="0">
              <a:ea typeface="宋体" panose="02010600030101010101" pitchFamily="2" charset="-122"/>
            </a:endParaRPr>
          </a:p>
          <a:p>
            <a:pPr lvl="1">
              <a:lnSpc>
                <a:spcPct val="90000"/>
              </a:lnSpc>
            </a:pPr>
            <a:r>
              <a:rPr lang="zh-CN" altLang="en-US" sz="2200" b="1" dirty="0">
                <a:ea typeface="宋体" panose="02010600030101010101" pitchFamily="2" charset="-122"/>
              </a:rPr>
              <a:t>使用某种局部指令调度方法—如表调度—对形成的</a:t>
            </a:r>
            <a:r>
              <a:rPr lang="en-US" altLang="zh-CN" sz="2200" b="1" dirty="0">
                <a:ea typeface="宋体" panose="02010600030101010101" pitchFamily="2" charset="-122"/>
              </a:rPr>
              <a:t>Trace</a:t>
            </a:r>
            <a:r>
              <a:rPr lang="zh-CN" altLang="en-US" sz="2200" b="1" dirty="0">
                <a:ea typeface="宋体" panose="02010600030101010101" pitchFamily="2" charset="-122"/>
              </a:rPr>
              <a:t>进行调度</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用调度完的代码替换流图中原来的</a:t>
            </a:r>
            <a:r>
              <a:rPr lang="en-US" altLang="zh-CN" sz="2200" b="1" dirty="0">
                <a:ea typeface="宋体" panose="02010600030101010101" pitchFamily="2" charset="-122"/>
              </a:rPr>
              <a:t>Trace，</a:t>
            </a:r>
            <a:r>
              <a:rPr lang="zh-CN" altLang="en-US" sz="2200" b="1" dirty="0">
                <a:ea typeface="宋体" panose="02010600030101010101" pitchFamily="2" charset="-122"/>
              </a:rPr>
              <a:t>必要时在</a:t>
            </a:r>
            <a:r>
              <a:rPr lang="en-US" altLang="zh-CN" sz="2200" b="1" dirty="0">
                <a:ea typeface="宋体" panose="02010600030101010101" pitchFamily="2" charset="-122"/>
              </a:rPr>
              <a:t>Trace</a:t>
            </a:r>
            <a:r>
              <a:rPr lang="zh-CN" altLang="en-US" sz="2200" b="1" dirty="0">
                <a:ea typeface="宋体" panose="02010600030101010101" pitchFamily="2" charset="-122"/>
              </a:rPr>
              <a:t>之外插入相应的补偿代码</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遍历调度后的流图并释放代码</a:t>
            </a:r>
            <a:endParaRPr lang="zh-CN" altLang="en-US" sz="2200" b="1" dirty="0">
              <a:ea typeface="宋体" panose="02010600030101010101" pitchFamily="2" charset="-122"/>
            </a:endParaRPr>
          </a:p>
          <a:p>
            <a:pPr>
              <a:lnSpc>
                <a:spcPct val="90000"/>
              </a:lnSpc>
            </a:pPr>
            <a:r>
              <a:rPr lang="en-US" altLang="zh-CN" sz="2400" b="1" dirty="0">
                <a:ea typeface="宋体" panose="02010600030101010101" pitchFamily="2" charset="-122"/>
              </a:rPr>
              <a:t>Trace </a:t>
            </a:r>
            <a:r>
              <a:rPr lang="zh-CN" altLang="en-US" sz="2400" b="1" dirty="0">
                <a:ea typeface="宋体" panose="02010600030101010101" pitchFamily="2" charset="-122"/>
              </a:rPr>
              <a:t>调度的问题：</a:t>
            </a:r>
            <a:endParaRPr lang="zh-CN" altLang="en-US" sz="2400" b="1" dirty="0">
              <a:ea typeface="宋体" panose="02010600030101010101" pitchFamily="2" charset="-122"/>
            </a:endParaRPr>
          </a:p>
          <a:p>
            <a:pPr lvl="1">
              <a:lnSpc>
                <a:spcPct val="90000"/>
              </a:lnSpc>
            </a:pPr>
            <a:r>
              <a:rPr lang="zh-CN" altLang="en-US" sz="2200" b="1" dirty="0">
                <a:ea typeface="宋体" panose="02010600030101010101" pitchFamily="2" charset="-122"/>
              </a:rPr>
              <a:t>插入补偿代码的过程在实现上复杂，且可能产生冗余</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在</a:t>
            </a:r>
            <a:r>
              <a:rPr lang="en-US" altLang="zh-CN" sz="2200" b="1" dirty="0">
                <a:ea typeface="宋体" panose="02010600030101010101" pitchFamily="2" charset="-122"/>
              </a:rPr>
              <a:t>Trace </a:t>
            </a:r>
            <a:r>
              <a:rPr lang="zh-CN" altLang="en-US" sz="2200" b="1" dirty="0">
                <a:ea typeface="宋体" panose="02010600030101010101" pitchFamily="2" charset="-122"/>
              </a:rPr>
              <a:t>内作的一些优化，如复写传播，死代码删除等，由于</a:t>
            </a:r>
            <a:r>
              <a:rPr lang="en-US" altLang="zh-CN" sz="2200" b="1" dirty="0">
                <a:ea typeface="宋体" panose="02010600030101010101" pitchFamily="2" charset="-122"/>
              </a:rPr>
              <a:t>split</a:t>
            </a:r>
            <a:r>
              <a:rPr lang="zh-CN" altLang="en-US" sz="2200" b="1" dirty="0">
                <a:ea typeface="宋体" panose="02010600030101010101" pitchFamily="2" charset="-122"/>
              </a:rPr>
              <a:t>和</a:t>
            </a:r>
            <a:r>
              <a:rPr lang="en-US" altLang="zh-CN" sz="2200" b="1" dirty="0">
                <a:ea typeface="宋体" panose="02010600030101010101" pitchFamily="2" charset="-122"/>
              </a:rPr>
              <a:t>join</a:t>
            </a:r>
            <a:r>
              <a:rPr lang="zh-CN" altLang="en-US" sz="2200" b="1" dirty="0">
                <a:ea typeface="宋体" panose="02010600030101010101" pitchFamily="2" charset="-122"/>
              </a:rPr>
              <a:t>节点的存在而受到限制</a:t>
            </a:r>
            <a:endParaRPr lang="zh-CN" altLang="en-US" sz="2200" b="1" dirty="0">
              <a:ea typeface="宋体" panose="02010600030101010101" pitchFamily="2" charset="-122"/>
            </a:endParaRPr>
          </a:p>
          <a:p>
            <a:pPr lvl="1">
              <a:lnSpc>
                <a:spcPct val="90000"/>
              </a:lnSpc>
            </a:pPr>
            <a:r>
              <a:rPr lang="zh-CN" altLang="en-US" sz="2200" b="1" dirty="0">
                <a:ea typeface="宋体" panose="02010600030101010101" pitchFamily="2" charset="-122"/>
              </a:rPr>
              <a:t>若分支概率相近，</a:t>
            </a:r>
            <a:r>
              <a:rPr lang="en-US" altLang="zh-CN" sz="2200" b="1" dirty="0">
                <a:ea typeface="宋体" panose="02010600030101010101" pitchFamily="2" charset="-122"/>
              </a:rPr>
              <a:t>Trace </a:t>
            </a:r>
            <a:r>
              <a:rPr lang="zh-CN" altLang="en-US" sz="2200" b="1" dirty="0">
                <a:ea typeface="宋体" panose="02010600030101010101" pitchFamily="2" charset="-122"/>
              </a:rPr>
              <a:t>难于选择。</a:t>
            </a:r>
            <a:endParaRPr lang="zh-CN" altLang="en-US" sz="2200" b="1" dirty="0">
              <a:ea typeface="宋体" panose="02010600030101010101" pitchFamily="2" charset="-122"/>
            </a:endParaRPr>
          </a:p>
        </p:txBody>
      </p:sp>
    </p:spTree>
  </p:cSld>
  <p:clrMapOvr>
    <a:masterClrMapping/>
  </p:clrMapOvr>
  <p:transition spd="slow"/>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977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Superblock </a:t>
            </a:r>
            <a:r>
              <a:rPr lang="zh-CN" altLang="en-US" dirty="0">
                <a:latin typeface="Times New Roman" panose="02020603050405020304" pitchFamily="18" charset="0"/>
                <a:ea typeface="宋体" panose="02010600030101010101" pitchFamily="2" charset="-122"/>
              </a:rPr>
              <a:t>调度</a:t>
            </a:r>
            <a:endParaRPr lang="zh-CN" altLang="en-US" dirty="0">
              <a:latin typeface="Times New Roman" panose="02020603050405020304" pitchFamily="18" charset="0"/>
              <a:ea typeface="宋体" panose="02010600030101010101" pitchFamily="2" charset="-122"/>
            </a:endParaRPr>
          </a:p>
        </p:txBody>
      </p:sp>
      <p:sp>
        <p:nvSpPr>
          <p:cNvPr id="459779" name="Rectangle 3"/>
          <p:cNvSpPr/>
          <p:nvPr/>
        </p:nvSpPr>
        <p:spPr>
          <a:xfrm>
            <a:off x="2514600" y="1828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A</a:t>
            </a:r>
            <a:endParaRPr lang="en-US" altLang="zh-CN" sz="1200" dirty="0">
              <a:latin typeface="Arial" panose="020B0604020202020204" pitchFamily="34" charset="0"/>
              <a:ea typeface="黑体" panose="02010609060101010101" pitchFamily="49" charset="-122"/>
            </a:endParaRPr>
          </a:p>
        </p:txBody>
      </p:sp>
      <p:sp>
        <p:nvSpPr>
          <p:cNvPr id="459780" name="Rectangle 4"/>
          <p:cNvSpPr/>
          <p:nvPr/>
        </p:nvSpPr>
        <p:spPr>
          <a:xfrm>
            <a:off x="2514600" y="2590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B</a:t>
            </a:r>
            <a:endParaRPr lang="en-US" altLang="zh-CN" sz="1200" dirty="0">
              <a:latin typeface="Arial" panose="020B0604020202020204" pitchFamily="34" charset="0"/>
              <a:ea typeface="黑体" panose="02010609060101010101" pitchFamily="49" charset="-122"/>
            </a:endParaRPr>
          </a:p>
        </p:txBody>
      </p:sp>
      <p:sp>
        <p:nvSpPr>
          <p:cNvPr id="459781" name="Rectangle 5"/>
          <p:cNvSpPr/>
          <p:nvPr/>
        </p:nvSpPr>
        <p:spPr>
          <a:xfrm>
            <a:off x="3429000" y="2590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C</a:t>
            </a:r>
            <a:endParaRPr lang="en-US" altLang="zh-CN" sz="1200" dirty="0">
              <a:latin typeface="Arial" panose="020B0604020202020204" pitchFamily="34" charset="0"/>
              <a:ea typeface="黑体" panose="02010609060101010101" pitchFamily="49" charset="-122"/>
            </a:endParaRPr>
          </a:p>
        </p:txBody>
      </p:sp>
      <p:sp>
        <p:nvSpPr>
          <p:cNvPr id="459782" name="Rectangle 6"/>
          <p:cNvSpPr/>
          <p:nvPr/>
        </p:nvSpPr>
        <p:spPr>
          <a:xfrm>
            <a:off x="2514600" y="4114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F</a:t>
            </a:r>
            <a:endParaRPr lang="en-US" altLang="zh-CN" sz="1200" dirty="0">
              <a:latin typeface="Arial" panose="020B0604020202020204" pitchFamily="34" charset="0"/>
              <a:ea typeface="黑体" panose="02010609060101010101" pitchFamily="49" charset="-122"/>
            </a:endParaRPr>
          </a:p>
        </p:txBody>
      </p:sp>
      <p:sp>
        <p:nvSpPr>
          <p:cNvPr id="459783" name="Line 7"/>
          <p:cNvSpPr/>
          <p:nvPr/>
        </p:nvSpPr>
        <p:spPr>
          <a:xfrm flipH="1">
            <a:off x="2895600" y="2895600"/>
            <a:ext cx="838200" cy="1219200"/>
          </a:xfrm>
          <a:prstGeom prst="line">
            <a:avLst/>
          </a:prstGeom>
          <a:ln w="12700" cap="sq" cmpd="sng">
            <a:solidFill>
              <a:schemeClr val="tx1"/>
            </a:solidFill>
            <a:prstDash val="solid"/>
            <a:headEnd type="none" w="med" len="med"/>
            <a:tailEnd type="triangle" w="med" len="med"/>
          </a:ln>
        </p:spPr>
      </p:sp>
      <p:sp>
        <p:nvSpPr>
          <p:cNvPr id="459784" name="Line 8"/>
          <p:cNvSpPr/>
          <p:nvPr/>
        </p:nvSpPr>
        <p:spPr>
          <a:xfrm flipH="1">
            <a:off x="1905000" y="2895600"/>
            <a:ext cx="914400" cy="457200"/>
          </a:xfrm>
          <a:prstGeom prst="line">
            <a:avLst/>
          </a:prstGeom>
          <a:ln w="12700" cap="sq" cmpd="sng">
            <a:solidFill>
              <a:schemeClr val="tx1"/>
            </a:solidFill>
            <a:prstDash val="solid"/>
            <a:headEnd type="none" w="med" len="med"/>
            <a:tailEnd type="triangle" w="med" len="med"/>
          </a:ln>
        </p:spPr>
      </p:sp>
      <p:sp>
        <p:nvSpPr>
          <p:cNvPr id="459785" name="Line 9"/>
          <p:cNvSpPr/>
          <p:nvPr/>
        </p:nvSpPr>
        <p:spPr>
          <a:xfrm>
            <a:off x="2819400" y="2133600"/>
            <a:ext cx="914400" cy="457200"/>
          </a:xfrm>
          <a:prstGeom prst="line">
            <a:avLst/>
          </a:prstGeom>
          <a:ln w="12700" cap="sq" cmpd="sng">
            <a:solidFill>
              <a:schemeClr val="tx1"/>
            </a:solidFill>
            <a:prstDash val="solid"/>
            <a:headEnd type="none" w="med" len="med"/>
            <a:tailEnd type="triangle" w="med" len="med"/>
          </a:ln>
        </p:spPr>
      </p:sp>
      <p:sp>
        <p:nvSpPr>
          <p:cNvPr id="459786" name="Line 10"/>
          <p:cNvSpPr/>
          <p:nvPr/>
        </p:nvSpPr>
        <p:spPr>
          <a:xfrm flipH="1">
            <a:off x="2819400" y="2125663"/>
            <a:ext cx="0" cy="465137"/>
          </a:xfrm>
          <a:prstGeom prst="line">
            <a:avLst/>
          </a:prstGeom>
          <a:ln w="12700" cap="sq" cmpd="sng">
            <a:solidFill>
              <a:schemeClr val="tx1"/>
            </a:solidFill>
            <a:prstDash val="solid"/>
            <a:headEnd type="none" w="med" len="med"/>
            <a:tailEnd type="triangle" w="med" len="med"/>
          </a:ln>
        </p:spPr>
      </p:sp>
      <p:sp>
        <p:nvSpPr>
          <p:cNvPr id="459787" name="Line 11"/>
          <p:cNvSpPr/>
          <p:nvPr/>
        </p:nvSpPr>
        <p:spPr>
          <a:xfrm>
            <a:off x="2819400" y="4419600"/>
            <a:ext cx="0" cy="304800"/>
          </a:xfrm>
          <a:prstGeom prst="line">
            <a:avLst/>
          </a:prstGeom>
          <a:ln w="12700" cap="sq" cmpd="sng">
            <a:solidFill>
              <a:schemeClr val="tx1"/>
            </a:solidFill>
            <a:prstDash val="solid"/>
            <a:headEnd type="none" w="med" len="med"/>
            <a:tailEnd type="triangle" w="med" len="med"/>
          </a:ln>
        </p:spPr>
      </p:sp>
      <p:sp>
        <p:nvSpPr>
          <p:cNvPr id="459788" name="Line 12"/>
          <p:cNvSpPr/>
          <p:nvPr/>
        </p:nvSpPr>
        <p:spPr>
          <a:xfrm>
            <a:off x="2819400" y="1516063"/>
            <a:ext cx="0" cy="304800"/>
          </a:xfrm>
          <a:prstGeom prst="line">
            <a:avLst/>
          </a:prstGeom>
          <a:ln w="12700" cap="sq" cmpd="sng">
            <a:solidFill>
              <a:schemeClr val="tx1"/>
            </a:solidFill>
            <a:prstDash val="solid"/>
            <a:headEnd type="none" w="med" len="med"/>
            <a:tailEnd type="triangle" w="med" len="med"/>
          </a:ln>
        </p:spPr>
      </p:sp>
      <p:sp>
        <p:nvSpPr>
          <p:cNvPr id="459789" name="Rectangle 13"/>
          <p:cNvSpPr/>
          <p:nvPr/>
        </p:nvSpPr>
        <p:spPr>
          <a:xfrm>
            <a:off x="2514600" y="3352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E</a:t>
            </a:r>
            <a:endParaRPr lang="en-US" altLang="zh-CN" sz="1200" dirty="0">
              <a:latin typeface="Arial" panose="020B0604020202020204" pitchFamily="34" charset="0"/>
              <a:ea typeface="黑体" panose="02010609060101010101" pitchFamily="49" charset="-122"/>
            </a:endParaRPr>
          </a:p>
        </p:txBody>
      </p:sp>
      <p:sp>
        <p:nvSpPr>
          <p:cNvPr id="459790" name="Rectangle 14"/>
          <p:cNvSpPr/>
          <p:nvPr/>
        </p:nvSpPr>
        <p:spPr>
          <a:xfrm>
            <a:off x="1524000" y="3352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D</a:t>
            </a:r>
            <a:endParaRPr lang="en-US" altLang="zh-CN" sz="1200" dirty="0">
              <a:latin typeface="Arial" panose="020B0604020202020204" pitchFamily="34" charset="0"/>
              <a:ea typeface="黑体" panose="02010609060101010101" pitchFamily="49" charset="-122"/>
            </a:endParaRPr>
          </a:p>
        </p:txBody>
      </p:sp>
      <p:sp>
        <p:nvSpPr>
          <p:cNvPr id="459791" name="Line 15"/>
          <p:cNvSpPr/>
          <p:nvPr/>
        </p:nvSpPr>
        <p:spPr>
          <a:xfrm>
            <a:off x="1905000" y="3657600"/>
            <a:ext cx="914400" cy="457200"/>
          </a:xfrm>
          <a:prstGeom prst="line">
            <a:avLst/>
          </a:prstGeom>
          <a:ln w="12700" cap="sq" cmpd="sng">
            <a:solidFill>
              <a:schemeClr val="tx1"/>
            </a:solidFill>
            <a:prstDash val="solid"/>
            <a:headEnd type="none" w="med" len="med"/>
            <a:tailEnd type="triangle" w="med" len="med"/>
          </a:ln>
        </p:spPr>
      </p:sp>
      <p:sp>
        <p:nvSpPr>
          <p:cNvPr id="459792" name="Line 16"/>
          <p:cNvSpPr/>
          <p:nvPr/>
        </p:nvSpPr>
        <p:spPr>
          <a:xfrm flipH="1">
            <a:off x="2819400" y="2895600"/>
            <a:ext cx="0" cy="465138"/>
          </a:xfrm>
          <a:prstGeom prst="line">
            <a:avLst/>
          </a:prstGeom>
          <a:ln w="12700" cap="sq" cmpd="sng">
            <a:solidFill>
              <a:schemeClr val="tx1"/>
            </a:solidFill>
            <a:prstDash val="solid"/>
            <a:headEnd type="none" w="med" len="med"/>
            <a:tailEnd type="triangle" w="med" len="med"/>
          </a:ln>
        </p:spPr>
      </p:sp>
      <p:sp>
        <p:nvSpPr>
          <p:cNvPr id="459793" name="Line 17"/>
          <p:cNvSpPr/>
          <p:nvPr/>
        </p:nvSpPr>
        <p:spPr>
          <a:xfrm flipH="1">
            <a:off x="2819400" y="3657600"/>
            <a:ext cx="0" cy="465138"/>
          </a:xfrm>
          <a:prstGeom prst="line">
            <a:avLst/>
          </a:prstGeom>
          <a:ln w="12700" cap="sq" cmpd="sng">
            <a:solidFill>
              <a:schemeClr val="tx1"/>
            </a:solidFill>
            <a:prstDash val="solid"/>
            <a:headEnd type="none" w="med" len="med"/>
            <a:tailEnd type="triangle" w="med" len="med"/>
          </a:ln>
        </p:spPr>
      </p:sp>
      <p:sp>
        <p:nvSpPr>
          <p:cNvPr id="459794" name="Rectangle 18"/>
          <p:cNvSpPr/>
          <p:nvPr/>
        </p:nvSpPr>
        <p:spPr>
          <a:xfrm>
            <a:off x="2438400" y="1600200"/>
            <a:ext cx="762000" cy="29718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795" name="Freeform 19"/>
          <p:cNvSpPr/>
          <p:nvPr/>
        </p:nvSpPr>
        <p:spPr>
          <a:xfrm>
            <a:off x="2286000" y="1384300"/>
            <a:ext cx="381000" cy="3479800"/>
          </a:xfrm>
          <a:custGeom>
            <a:avLst/>
            <a:gdLst/>
            <a:ahLst/>
            <a:cxnLst>
              <a:cxn ang="0">
                <a:pos x="2147483646" y="2147483646"/>
              </a:cxn>
              <a:cxn ang="0">
                <a:pos x="2147483646" y="2147483646"/>
              </a:cxn>
              <a:cxn ang="0">
                <a:pos x="0" y="2147483646"/>
              </a:cxn>
              <a:cxn ang="0">
                <a:pos x="2147483646" y="2147483646"/>
              </a:cxn>
              <a:cxn ang="0">
                <a:pos x="2147483646" y="2147483646"/>
              </a:cxn>
            </a:cxnLst>
            <a:pathLst>
              <a:path w="240" h="2192">
                <a:moveTo>
                  <a:pt x="240" y="1912"/>
                </a:moveTo>
                <a:cubicBezTo>
                  <a:pt x="212" y="2052"/>
                  <a:pt x="184" y="2192"/>
                  <a:pt x="144" y="2056"/>
                </a:cubicBezTo>
                <a:cubicBezTo>
                  <a:pt x="104" y="1920"/>
                  <a:pt x="0" y="1416"/>
                  <a:pt x="0" y="1096"/>
                </a:cubicBezTo>
                <a:cubicBezTo>
                  <a:pt x="0" y="776"/>
                  <a:pt x="104" y="272"/>
                  <a:pt x="144" y="136"/>
                </a:cubicBezTo>
                <a:cubicBezTo>
                  <a:pt x="184" y="0"/>
                  <a:pt x="212" y="140"/>
                  <a:pt x="240" y="280"/>
                </a:cubicBezTo>
              </a:path>
            </a:pathLst>
          </a:custGeom>
          <a:noFill/>
          <a:ln w="12700" cap="flat" cmpd="sng">
            <a:solidFill>
              <a:schemeClr val="tx1">
                <a:alpha val="100000"/>
              </a:schemeClr>
            </a:solidFill>
            <a:prstDash val="solid"/>
            <a:round/>
            <a:headEnd type="none" w="sm" len="sm"/>
            <a:tailEnd type="triangle" w="med" len="med"/>
          </a:ln>
        </p:spPr>
        <p:txBody>
          <a:bodyPr/>
          <a:p>
            <a:endParaRPr lang="zh-CN" altLang="en-US"/>
          </a:p>
        </p:txBody>
      </p:sp>
      <p:sp>
        <p:nvSpPr>
          <p:cNvPr id="459796" name="Rectangle 20"/>
          <p:cNvSpPr/>
          <p:nvPr/>
        </p:nvSpPr>
        <p:spPr>
          <a:xfrm>
            <a:off x="3352800" y="2438400"/>
            <a:ext cx="762000" cy="6096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797" name="Rectangle 21"/>
          <p:cNvSpPr/>
          <p:nvPr/>
        </p:nvSpPr>
        <p:spPr>
          <a:xfrm>
            <a:off x="1447800" y="3200400"/>
            <a:ext cx="762000" cy="6096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798" name="Rectangle 22"/>
          <p:cNvSpPr/>
          <p:nvPr/>
        </p:nvSpPr>
        <p:spPr>
          <a:xfrm>
            <a:off x="5867400" y="1828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A</a:t>
            </a:r>
            <a:endParaRPr lang="en-US" altLang="zh-CN" sz="1200" dirty="0">
              <a:latin typeface="Arial" panose="020B0604020202020204" pitchFamily="34" charset="0"/>
              <a:ea typeface="黑体" panose="02010609060101010101" pitchFamily="49" charset="-122"/>
            </a:endParaRPr>
          </a:p>
        </p:txBody>
      </p:sp>
      <p:sp>
        <p:nvSpPr>
          <p:cNvPr id="459799" name="Rectangle 23"/>
          <p:cNvSpPr/>
          <p:nvPr/>
        </p:nvSpPr>
        <p:spPr>
          <a:xfrm>
            <a:off x="5867400" y="2590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B</a:t>
            </a:r>
            <a:endParaRPr lang="en-US" altLang="zh-CN" sz="1200" dirty="0">
              <a:latin typeface="Arial" panose="020B0604020202020204" pitchFamily="34" charset="0"/>
              <a:ea typeface="黑体" panose="02010609060101010101" pitchFamily="49" charset="-122"/>
            </a:endParaRPr>
          </a:p>
        </p:txBody>
      </p:sp>
      <p:sp>
        <p:nvSpPr>
          <p:cNvPr id="459800" name="Rectangle 24"/>
          <p:cNvSpPr/>
          <p:nvPr/>
        </p:nvSpPr>
        <p:spPr>
          <a:xfrm>
            <a:off x="6781800" y="2590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C</a:t>
            </a:r>
            <a:endParaRPr lang="en-US" altLang="zh-CN" sz="1200" dirty="0">
              <a:latin typeface="Arial" panose="020B0604020202020204" pitchFamily="34" charset="0"/>
              <a:ea typeface="黑体" panose="02010609060101010101" pitchFamily="49" charset="-122"/>
            </a:endParaRPr>
          </a:p>
        </p:txBody>
      </p:sp>
      <p:sp>
        <p:nvSpPr>
          <p:cNvPr id="459801" name="Rectangle 25"/>
          <p:cNvSpPr/>
          <p:nvPr/>
        </p:nvSpPr>
        <p:spPr>
          <a:xfrm>
            <a:off x="5867400" y="4114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F</a:t>
            </a:r>
            <a:endParaRPr lang="en-US" altLang="zh-CN" sz="1200" dirty="0">
              <a:latin typeface="Arial" panose="020B0604020202020204" pitchFamily="34" charset="0"/>
              <a:ea typeface="黑体" panose="02010609060101010101" pitchFamily="49" charset="-122"/>
            </a:endParaRPr>
          </a:p>
        </p:txBody>
      </p:sp>
      <p:sp>
        <p:nvSpPr>
          <p:cNvPr id="459802" name="Line 26"/>
          <p:cNvSpPr/>
          <p:nvPr/>
        </p:nvSpPr>
        <p:spPr>
          <a:xfrm flipH="1">
            <a:off x="6172200" y="2895600"/>
            <a:ext cx="914400" cy="2590800"/>
          </a:xfrm>
          <a:prstGeom prst="line">
            <a:avLst/>
          </a:prstGeom>
          <a:ln w="12700" cap="sq" cmpd="sng">
            <a:solidFill>
              <a:schemeClr val="accent2"/>
            </a:solidFill>
            <a:prstDash val="solid"/>
            <a:headEnd type="none" w="med" len="med"/>
            <a:tailEnd type="triangle" w="med" len="med"/>
          </a:ln>
        </p:spPr>
      </p:sp>
      <p:sp>
        <p:nvSpPr>
          <p:cNvPr id="459803" name="Line 27"/>
          <p:cNvSpPr/>
          <p:nvPr/>
        </p:nvSpPr>
        <p:spPr>
          <a:xfrm flipH="1">
            <a:off x="5257800" y="2895600"/>
            <a:ext cx="914400" cy="457200"/>
          </a:xfrm>
          <a:prstGeom prst="line">
            <a:avLst/>
          </a:prstGeom>
          <a:ln w="12700" cap="sq" cmpd="sng">
            <a:solidFill>
              <a:schemeClr val="tx1"/>
            </a:solidFill>
            <a:prstDash val="solid"/>
            <a:headEnd type="none" w="med" len="med"/>
            <a:tailEnd type="triangle" w="med" len="med"/>
          </a:ln>
        </p:spPr>
      </p:sp>
      <p:sp>
        <p:nvSpPr>
          <p:cNvPr id="459804" name="Line 28"/>
          <p:cNvSpPr/>
          <p:nvPr/>
        </p:nvSpPr>
        <p:spPr>
          <a:xfrm>
            <a:off x="6172200" y="2133600"/>
            <a:ext cx="914400" cy="457200"/>
          </a:xfrm>
          <a:prstGeom prst="line">
            <a:avLst/>
          </a:prstGeom>
          <a:ln w="12700" cap="sq" cmpd="sng">
            <a:solidFill>
              <a:schemeClr val="tx1"/>
            </a:solidFill>
            <a:prstDash val="solid"/>
            <a:headEnd type="none" w="med" len="med"/>
            <a:tailEnd type="triangle" w="med" len="med"/>
          </a:ln>
        </p:spPr>
      </p:sp>
      <p:sp>
        <p:nvSpPr>
          <p:cNvPr id="459805" name="Line 29"/>
          <p:cNvSpPr/>
          <p:nvPr/>
        </p:nvSpPr>
        <p:spPr>
          <a:xfrm flipH="1">
            <a:off x="6172200" y="2125663"/>
            <a:ext cx="0" cy="465137"/>
          </a:xfrm>
          <a:prstGeom prst="line">
            <a:avLst/>
          </a:prstGeom>
          <a:ln w="12700" cap="sq" cmpd="sng">
            <a:solidFill>
              <a:schemeClr val="tx1"/>
            </a:solidFill>
            <a:prstDash val="solid"/>
            <a:headEnd type="none" w="med" len="med"/>
            <a:tailEnd type="triangle" w="med" len="med"/>
          </a:ln>
        </p:spPr>
      </p:sp>
      <p:sp>
        <p:nvSpPr>
          <p:cNvPr id="459806" name="Line 30"/>
          <p:cNvSpPr/>
          <p:nvPr/>
        </p:nvSpPr>
        <p:spPr>
          <a:xfrm>
            <a:off x="6172200" y="4419600"/>
            <a:ext cx="0" cy="304800"/>
          </a:xfrm>
          <a:prstGeom prst="line">
            <a:avLst/>
          </a:prstGeom>
          <a:ln w="12700" cap="sq" cmpd="sng">
            <a:solidFill>
              <a:schemeClr val="tx1"/>
            </a:solidFill>
            <a:prstDash val="solid"/>
            <a:headEnd type="none" w="med" len="med"/>
            <a:tailEnd type="triangle" w="med" len="med"/>
          </a:ln>
        </p:spPr>
      </p:sp>
      <p:sp>
        <p:nvSpPr>
          <p:cNvPr id="459807" name="Line 31"/>
          <p:cNvSpPr/>
          <p:nvPr/>
        </p:nvSpPr>
        <p:spPr>
          <a:xfrm>
            <a:off x="6172200" y="1516063"/>
            <a:ext cx="0" cy="304800"/>
          </a:xfrm>
          <a:prstGeom prst="line">
            <a:avLst/>
          </a:prstGeom>
          <a:ln w="12700" cap="sq" cmpd="sng">
            <a:solidFill>
              <a:schemeClr val="tx1"/>
            </a:solidFill>
            <a:prstDash val="solid"/>
            <a:headEnd type="none" w="med" len="med"/>
            <a:tailEnd type="triangle" w="med" len="med"/>
          </a:ln>
        </p:spPr>
      </p:sp>
      <p:sp>
        <p:nvSpPr>
          <p:cNvPr id="459808" name="Rectangle 32"/>
          <p:cNvSpPr/>
          <p:nvPr/>
        </p:nvSpPr>
        <p:spPr>
          <a:xfrm>
            <a:off x="5867400" y="3352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E</a:t>
            </a:r>
            <a:endParaRPr lang="en-US" altLang="zh-CN" sz="1200" dirty="0">
              <a:latin typeface="Arial" panose="020B0604020202020204" pitchFamily="34" charset="0"/>
              <a:ea typeface="黑体" panose="02010609060101010101" pitchFamily="49" charset="-122"/>
            </a:endParaRPr>
          </a:p>
        </p:txBody>
      </p:sp>
      <p:sp>
        <p:nvSpPr>
          <p:cNvPr id="459809" name="Rectangle 33"/>
          <p:cNvSpPr/>
          <p:nvPr/>
        </p:nvSpPr>
        <p:spPr>
          <a:xfrm>
            <a:off x="4876800" y="3352800"/>
            <a:ext cx="609600" cy="287338"/>
          </a:xfrm>
          <a:prstGeom prst="rect">
            <a:avLst/>
          </a:prstGeom>
          <a:solidFill>
            <a:schemeClr val="folHlink"/>
          </a:solidFill>
          <a:ln w="12700" cap="sq"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D</a:t>
            </a:r>
            <a:endParaRPr lang="en-US" altLang="zh-CN" sz="1200" dirty="0">
              <a:latin typeface="Arial" panose="020B0604020202020204" pitchFamily="34" charset="0"/>
              <a:ea typeface="黑体" panose="02010609060101010101" pitchFamily="49" charset="-122"/>
            </a:endParaRPr>
          </a:p>
        </p:txBody>
      </p:sp>
      <p:sp>
        <p:nvSpPr>
          <p:cNvPr id="459810" name="Line 34"/>
          <p:cNvSpPr/>
          <p:nvPr/>
        </p:nvSpPr>
        <p:spPr>
          <a:xfrm>
            <a:off x="5257800" y="3657600"/>
            <a:ext cx="914400" cy="1828800"/>
          </a:xfrm>
          <a:prstGeom prst="line">
            <a:avLst/>
          </a:prstGeom>
          <a:ln w="12700" cap="sq" cmpd="sng">
            <a:solidFill>
              <a:schemeClr val="accent2"/>
            </a:solidFill>
            <a:prstDash val="solid"/>
            <a:headEnd type="none" w="med" len="med"/>
            <a:tailEnd type="triangle" w="med" len="med"/>
          </a:ln>
        </p:spPr>
      </p:sp>
      <p:sp>
        <p:nvSpPr>
          <p:cNvPr id="459811" name="Line 35"/>
          <p:cNvSpPr/>
          <p:nvPr/>
        </p:nvSpPr>
        <p:spPr>
          <a:xfrm flipH="1">
            <a:off x="6172200" y="2895600"/>
            <a:ext cx="0" cy="465138"/>
          </a:xfrm>
          <a:prstGeom prst="line">
            <a:avLst/>
          </a:prstGeom>
          <a:ln w="12700" cap="sq" cmpd="sng">
            <a:solidFill>
              <a:schemeClr val="tx1"/>
            </a:solidFill>
            <a:prstDash val="solid"/>
            <a:headEnd type="none" w="med" len="med"/>
            <a:tailEnd type="triangle" w="med" len="med"/>
          </a:ln>
        </p:spPr>
      </p:sp>
      <p:sp>
        <p:nvSpPr>
          <p:cNvPr id="459812" name="Line 36"/>
          <p:cNvSpPr/>
          <p:nvPr/>
        </p:nvSpPr>
        <p:spPr>
          <a:xfrm flipH="1">
            <a:off x="6172200" y="3657600"/>
            <a:ext cx="0" cy="465138"/>
          </a:xfrm>
          <a:prstGeom prst="line">
            <a:avLst/>
          </a:prstGeom>
          <a:ln w="12700" cap="sq" cmpd="sng">
            <a:solidFill>
              <a:schemeClr val="tx1"/>
            </a:solidFill>
            <a:prstDash val="solid"/>
            <a:headEnd type="none" w="med" len="med"/>
            <a:tailEnd type="triangle" w="med" len="med"/>
          </a:ln>
        </p:spPr>
      </p:sp>
      <p:sp>
        <p:nvSpPr>
          <p:cNvPr id="459813" name="Rectangle 37"/>
          <p:cNvSpPr/>
          <p:nvPr/>
        </p:nvSpPr>
        <p:spPr>
          <a:xfrm>
            <a:off x="5791200" y="1600200"/>
            <a:ext cx="762000" cy="29718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814" name="Freeform 38"/>
          <p:cNvSpPr/>
          <p:nvPr/>
        </p:nvSpPr>
        <p:spPr>
          <a:xfrm>
            <a:off x="5638800" y="1384300"/>
            <a:ext cx="381000" cy="3479800"/>
          </a:xfrm>
          <a:custGeom>
            <a:avLst/>
            <a:gdLst/>
            <a:ahLst/>
            <a:cxnLst>
              <a:cxn ang="0">
                <a:pos x="2147483646" y="2147483646"/>
              </a:cxn>
              <a:cxn ang="0">
                <a:pos x="2147483646" y="2147483646"/>
              </a:cxn>
              <a:cxn ang="0">
                <a:pos x="0" y="2147483646"/>
              </a:cxn>
              <a:cxn ang="0">
                <a:pos x="2147483646" y="2147483646"/>
              </a:cxn>
              <a:cxn ang="0">
                <a:pos x="2147483646" y="2147483646"/>
              </a:cxn>
            </a:cxnLst>
            <a:pathLst>
              <a:path w="240" h="2192">
                <a:moveTo>
                  <a:pt x="240" y="1912"/>
                </a:moveTo>
                <a:cubicBezTo>
                  <a:pt x="212" y="2052"/>
                  <a:pt x="184" y="2192"/>
                  <a:pt x="144" y="2056"/>
                </a:cubicBezTo>
                <a:cubicBezTo>
                  <a:pt x="104" y="1920"/>
                  <a:pt x="0" y="1416"/>
                  <a:pt x="0" y="1096"/>
                </a:cubicBezTo>
                <a:cubicBezTo>
                  <a:pt x="0" y="776"/>
                  <a:pt x="104" y="272"/>
                  <a:pt x="144" y="136"/>
                </a:cubicBezTo>
                <a:cubicBezTo>
                  <a:pt x="184" y="0"/>
                  <a:pt x="212" y="140"/>
                  <a:pt x="240" y="280"/>
                </a:cubicBezTo>
              </a:path>
            </a:pathLst>
          </a:custGeom>
          <a:noFill/>
          <a:ln w="12700" cap="flat" cmpd="sng">
            <a:solidFill>
              <a:schemeClr val="tx1">
                <a:alpha val="100000"/>
              </a:schemeClr>
            </a:solidFill>
            <a:prstDash val="solid"/>
            <a:round/>
            <a:headEnd type="none" w="sm" len="sm"/>
            <a:tailEnd type="triangle" w="med" len="med"/>
          </a:ln>
        </p:spPr>
        <p:txBody>
          <a:bodyPr/>
          <a:p>
            <a:endParaRPr lang="zh-CN" altLang="en-US"/>
          </a:p>
        </p:txBody>
      </p:sp>
      <p:sp>
        <p:nvSpPr>
          <p:cNvPr id="459815" name="Rectangle 39"/>
          <p:cNvSpPr/>
          <p:nvPr/>
        </p:nvSpPr>
        <p:spPr>
          <a:xfrm>
            <a:off x="6705600" y="2438400"/>
            <a:ext cx="762000" cy="6096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816" name="Rectangle 40"/>
          <p:cNvSpPr/>
          <p:nvPr/>
        </p:nvSpPr>
        <p:spPr>
          <a:xfrm>
            <a:off x="4800600" y="3200400"/>
            <a:ext cx="762000" cy="6096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817" name="Rectangle 41"/>
          <p:cNvSpPr/>
          <p:nvPr/>
        </p:nvSpPr>
        <p:spPr>
          <a:xfrm>
            <a:off x="5867400" y="5486400"/>
            <a:ext cx="609600" cy="287338"/>
          </a:xfrm>
          <a:prstGeom prst="rect">
            <a:avLst/>
          </a:prstGeom>
          <a:solidFill>
            <a:schemeClr val="folHlink"/>
          </a:solidFill>
          <a:ln w="12700" cap="sq" cmpd="sng">
            <a:solidFill>
              <a:schemeClr val="hlink"/>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en-US" altLang="zh-CN" sz="1200" dirty="0">
                <a:latin typeface="Arial" panose="020B0604020202020204" pitchFamily="34" charset="0"/>
                <a:ea typeface="黑体" panose="02010609060101010101" pitchFamily="49" charset="-122"/>
              </a:rPr>
              <a:t>F'</a:t>
            </a:r>
            <a:endParaRPr lang="en-US" altLang="zh-CN" sz="1200" dirty="0">
              <a:latin typeface="Arial" panose="020B0604020202020204" pitchFamily="34" charset="0"/>
              <a:ea typeface="黑体" panose="02010609060101010101" pitchFamily="49" charset="-122"/>
            </a:endParaRPr>
          </a:p>
        </p:txBody>
      </p:sp>
      <p:sp>
        <p:nvSpPr>
          <p:cNvPr id="459818" name="Oval 42"/>
          <p:cNvSpPr/>
          <p:nvPr/>
        </p:nvSpPr>
        <p:spPr>
          <a:xfrm>
            <a:off x="6019800" y="4724400"/>
            <a:ext cx="304800" cy="228600"/>
          </a:xfrm>
          <a:prstGeom prst="ellipse">
            <a:avLst/>
          </a:prstGeom>
          <a:noFill/>
          <a:ln w="22225" cap="flat" cmpd="sng">
            <a:solidFill>
              <a:schemeClr val="tx1"/>
            </a:solidFill>
            <a:prstDash val="solid"/>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Bef>
                <a:spcPct val="0"/>
              </a:spcBef>
              <a:buClrTx/>
              <a:buSzTx/>
              <a:buNone/>
            </a:pPr>
            <a:r>
              <a:rPr lang="en-US" altLang="zh-CN" sz="1200" dirty="0">
                <a:latin typeface="Arial" panose="020B0604020202020204" pitchFamily="34" charset="0"/>
                <a:ea typeface="黑体" panose="02010609060101010101" pitchFamily="49" charset="-122"/>
              </a:rPr>
              <a:t>Z</a:t>
            </a:r>
            <a:endParaRPr lang="en-US" altLang="zh-CN" sz="1200" dirty="0">
              <a:latin typeface="Arial" panose="020B0604020202020204" pitchFamily="34" charset="0"/>
              <a:ea typeface="黑体" panose="02010609060101010101" pitchFamily="49" charset="-122"/>
            </a:endParaRPr>
          </a:p>
        </p:txBody>
      </p:sp>
      <p:sp>
        <p:nvSpPr>
          <p:cNvPr id="459819" name="Oval 43"/>
          <p:cNvSpPr/>
          <p:nvPr/>
        </p:nvSpPr>
        <p:spPr>
          <a:xfrm>
            <a:off x="2667000" y="4724400"/>
            <a:ext cx="304800" cy="228600"/>
          </a:xfrm>
          <a:prstGeom prst="ellipse">
            <a:avLst/>
          </a:prstGeom>
          <a:noFill/>
          <a:ln w="22225" cap="flat" cmpd="sng">
            <a:solidFill>
              <a:schemeClr val="tx1"/>
            </a:solidFill>
            <a:prstDash val="solid"/>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Bef>
                <a:spcPct val="0"/>
              </a:spcBef>
              <a:buClrTx/>
              <a:buSzTx/>
              <a:buNone/>
            </a:pPr>
            <a:r>
              <a:rPr lang="en-US" altLang="zh-CN" sz="1200" dirty="0">
                <a:latin typeface="Arial" panose="020B0604020202020204" pitchFamily="34" charset="0"/>
                <a:ea typeface="黑体" panose="02010609060101010101" pitchFamily="49" charset="-122"/>
              </a:rPr>
              <a:t>Z</a:t>
            </a:r>
            <a:endParaRPr lang="en-US" altLang="zh-CN" sz="1200" dirty="0">
              <a:latin typeface="Arial" panose="020B0604020202020204" pitchFamily="34" charset="0"/>
              <a:ea typeface="黑体" panose="02010609060101010101" pitchFamily="49" charset="-122"/>
            </a:endParaRPr>
          </a:p>
        </p:txBody>
      </p:sp>
      <p:sp>
        <p:nvSpPr>
          <p:cNvPr id="459820" name="Oval 44"/>
          <p:cNvSpPr/>
          <p:nvPr/>
        </p:nvSpPr>
        <p:spPr>
          <a:xfrm>
            <a:off x="6019800" y="1295400"/>
            <a:ext cx="304800" cy="228600"/>
          </a:xfrm>
          <a:prstGeom prst="ellipse">
            <a:avLst/>
          </a:prstGeom>
          <a:noFill/>
          <a:ln w="22225" cap="flat" cmpd="sng">
            <a:solidFill>
              <a:schemeClr val="tx1"/>
            </a:solidFill>
            <a:prstDash val="solid"/>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Bef>
                <a:spcPct val="0"/>
              </a:spcBef>
              <a:buClrTx/>
              <a:buSzTx/>
              <a:buNone/>
            </a:pPr>
            <a:r>
              <a:rPr lang="en-US" altLang="zh-CN" sz="1200" dirty="0">
                <a:latin typeface="Arial" panose="020B0604020202020204" pitchFamily="34" charset="0"/>
                <a:ea typeface="黑体" panose="02010609060101010101" pitchFamily="49" charset="-122"/>
              </a:rPr>
              <a:t>Y</a:t>
            </a:r>
            <a:endParaRPr lang="en-US" altLang="zh-CN" sz="1200" dirty="0">
              <a:latin typeface="Arial" panose="020B0604020202020204" pitchFamily="34" charset="0"/>
              <a:ea typeface="黑体" panose="02010609060101010101" pitchFamily="49" charset="-122"/>
            </a:endParaRPr>
          </a:p>
        </p:txBody>
      </p:sp>
      <p:sp>
        <p:nvSpPr>
          <p:cNvPr id="459821" name="Oval 45"/>
          <p:cNvSpPr/>
          <p:nvPr/>
        </p:nvSpPr>
        <p:spPr>
          <a:xfrm>
            <a:off x="2667000" y="1295400"/>
            <a:ext cx="304800" cy="228600"/>
          </a:xfrm>
          <a:prstGeom prst="ellipse">
            <a:avLst/>
          </a:prstGeom>
          <a:noFill/>
          <a:ln w="22225" cap="flat" cmpd="sng">
            <a:solidFill>
              <a:schemeClr val="tx1"/>
            </a:solidFill>
            <a:prstDash val="solid"/>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a:spcBef>
                <a:spcPct val="0"/>
              </a:spcBef>
              <a:buClrTx/>
              <a:buSzTx/>
              <a:buNone/>
            </a:pPr>
            <a:r>
              <a:rPr lang="en-US" altLang="zh-CN" sz="1200" dirty="0">
                <a:latin typeface="Arial" panose="020B0604020202020204" pitchFamily="34" charset="0"/>
                <a:ea typeface="黑体" panose="02010609060101010101" pitchFamily="49" charset="-122"/>
              </a:rPr>
              <a:t>Y</a:t>
            </a:r>
            <a:endParaRPr lang="en-US" altLang="zh-CN" sz="1200" dirty="0">
              <a:latin typeface="Arial" panose="020B0604020202020204" pitchFamily="34" charset="0"/>
              <a:ea typeface="黑体" panose="02010609060101010101" pitchFamily="49" charset="-122"/>
            </a:endParaRPr>
          </a:p>
        </p:txBody>
      </p:sp>
      <p:sp>
        <p:nvSpPr>
          <p:cNvPr id="459822" name="Line 46"/>
          <p:cNvSpPr/>
          <p:nvPr/>
        </p:nvSpPr>
        <p:spPr>
          <a:xfrm>
            <a:off x="6477000" y="5638800"/>
            <a:ext cx="381000" cy="0"/>
          </a:xfrm>
          <a:prstGeom prst="line">
            <a:avLst/>
          </a:prstGeom>
          <a:ln w="12700" cap="sq" cmpd="sng">
            <a:solidFill>
              <a:schemeClr val="hlink"/>
            </a:solidFill>
            <a:prstDash val="solid"/>
            <a:headEnd type="none" w="med" len="med"/>
            <a:tailEnd type="none" w="med" len="med"/>
          </a:ln>
        </p:spPr>
      </p:sp>
      <p:sp>
        <p:nvSpPr>
          <p:cNvPr id="459823" name="Line 47"/>
          <p:cNvSpPr/>
          <p:nvPr/>
        </p:nvSpPr>
        <p:spPr>
          <a:xfrm flipV="1">
            <a:off x="6858000" y="4800600"/>
            <a:ext cx="0" cy="838200"/>
          </a:xfrm>
          <a:prstGeom prst="line">
            <a:avLst/>
          </a:prstGeom>
          <a:ln w="12700" cap="sq" cmpd="sng">
            <a:solidFill>
              <a:schemeClr val="hlink"/>
            </a:solidFill>
            <a:prstDash val="solid"/>
            <a:headEnd type="none" w="med" len="med"/>
            <a:tailEnd type="none" w="med" len="med"/>
          </a:ln>
        </p:spPr>
      </p:sp>
      <p:sp>
        <p:nvSpPr>
          <p:cNvPr id="459824" name="Line 48"/>
          <p:cNvSpPr/>
          <p:nvPr/>
        </p:nvSpPr>
        <p:spPr>
          <a:xfrm flipH="1">
            <a:off x="6324600" y="4800600"/>
            <a:ext cx="533400" cy="0"/>
          </a:xfrm>
          <a:prstGeom prst="line">
            <a:avLst/>
          </a:prstGeom>
          <a:ln w="12700" cap="sq" cmpd="sng">
            <a:solidFill>
              <a:schemeClr val="hlink"/>
            </a:solidFill>
            <a:prstDash val="solid"/>
            <a:headEnd type="none" w="med" len="med"/>
            <a:tailEnd type="triangle" w="med" len="med"/>
          </a:ln>
        </p:spPr>
      </p:sp>
      <p:sp>
        <p:nvSpPr>
          <p:cNvPr id="459825" name="Freeform 49"/>
          <p:cNvSpPr/>
          <p:nvPr/>
        </p:nvSpPr>
        <p:spPr>
          <a:xfrm>
            <a:off x="5410200" y="1092200"/>
            <a:ext cx="685800" cy="5308600"/>
          </a:xfrm>
          <a:custGeom>
            <a:avLst/>
            <a:gdLst/>
            <a:ahLst/>
            <a:cxnLst>
              <a:cxn ang="0">
                <a:pos x="2147483646" y="2147483646"/>
              </a:cxn>
              <a:cxn ang="0">
                <a:pos x="2147483646" y="2147483646"/>
              </a:cxn>
              <a:cxn ang="0">
                <a:pos x="0" y="2147483646"/>
              </a:cxn>
              <a:cxn ang="0">
                <a:pos x="2147483646" y="2147483646"/>
              </a:cxn>
              <a:cxn ang="0">
                <a:pos x="2147483646" y="2147483646"/>
              </a:cxn>
            </a:cxnLst>
            <a:pathLst>
              <a:path w="432" h="3344">
                <a:moveTo>
                  <a:pt x="432" y="2960"/>
                </a:moveTo>
                <a:cubicBezTo>
                  <a:pt x="396" y="3152"/>
                  <a:pt x="360" y="3344"/>
                  <a:pt x="288" y="3104"/>
                </a:cubicBezTo>
                <a:cubicBezTo>
                  <a:pt x="216" y="2864"/>
                  <a:pt x="0" y="2008"/>
                  <a:pt x="0" y="1520"/>
                </a:cubicBezTo>
                <a:cubicBezTo>
                  <a:pt x="0" y="1032"/>
                  <a:pt x="216" y="352"/>
                  <a:pt x="288" y="176"/>
                </a:cubicBezTo>
                <a:cubicBezTo>
                  <a:pt x="360" y="0"/>
                  <a:pt x="396" y="232"/>
                  <a:pt x="432" y="464"/>
                </a:cubicBezTo>
              </a:path>
            </a:pathLst>
          </a:custGeom>
          <a:noFill/>
          <a:ln w="12700" cap="flat" cmpd="sng">
            <a:solidFill>
              <a:schemeClr val="hlink">
                <a:alpha val="100000"/>
              </a:schemeClr>
            </a:solidFill>
            <a:prstDash val="solid"/>
            <a:round/>
            <a:headEnd type="none" w="sm" len="sm"/>
            <a:tailEnd type="triangle" w="med" len="med"/>
          </a:ln>
        </p:spPr>
        <p:txBody>
          <a:bodyPr/>
          <a:p>
            <a:endParaRPr lang="zh-CN" altLang="en-US"/>
          </a:p>
        </p:txBody>
      </p:sp>
      <p:sp>
        <p:nvSpPr>
          <p:cNvPr id="459826" name="Rectangle 50"/>
          <p:cNvSpPr/>
          <p:nvPr/>
        </p:nvSpPr>
        <p:spPr>
          <a:xfrm>
            <a:off x="5791200" y="5334000"/>
            <a:ext cx="762000" cy="609600"/>
          </a:xfrm>
          <a:prstGeom prst="rect">
            <a:avLst/>
          </a:prstGeom>
          <a:noFill/>
          <a:ln w="12700" cap="flat" cmpd="sng">
            <a:solidFill>
              <a:schemeClr val="tx1"/>
            </a:solidFill>
            <a:prstDash val="dash"/>
            <a:miter/>
            <a:headEnd type="none" w="sm" len="sm"/>
            <a:tailEnd type="none" w="lg" len="med"/>
          </a:ln>
        </p:spPr>
        <p:txBody>
          <a:bodyPr wrap="none" anchor="ctr" anchorCtr="0"/>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0"/>
              </a:spcBef>
              <a:buClrTx/>
              <a:buSzTx/>
              <a:buNone/>
            </a:pPr>
            <a:endParaRPr lang="zh-CN" altLang="en-US" sz="2400" dirty="0">
              <a:ea typeface="宋体" panose="02010600030101010101" pitchFamily="2" charset="-122"/>
            </a:endParaRPr>
          </a:p>
        </p:txBody>
      </p:sp>
      <p:sp>
        <p:nvSpPr>
          <p:cNvPr id="459827" name="Rectangle 51"/>
          <p:cNvSpPr/>
          <p:nvPr/>
        </p:nvSpPr>
        <p:spPr>
          <a:xfrm>
            <a:off x="3733800" y="5364163"/>
            <a:ext cx="1143000" cy="366712"/>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lgn="ctr" eaLnBrk="1" hangingPunct="1">
              <a:spcBef>
                <a:spcPct val="50000"/>
              </a:spcBef>
              <a:buClrTx/>
              <a:buSzTx/>
              <a:buNone/>
            </a:pPr>
            <a:r>
              <a:rPr lang="zh-CN" altLang="en-US" sz="1800" dirty="0">
                <a:latin typeface="Arial" panose="020B0604020202020204" pitchFamily="34" charset="0"/>
                <a:ea typeface="黑体" panose="02010609060101010101" pitchFamily="49" charset="-122"/>
              </a:rPr>
              <a:t>尾复制</a:t>
            </a:r>
            <a:endParaRPr lang="zh-CN" altLang="en-US" sz="1800" dirty="0">
              <a:latin typeface="Arial" panose="020B0604020202020204" pitchFamily="34" charset="0"/>
              <a:ea typeface="黑体" panose="02010609060101010101" pitchFamily="49" charset="-122"/>
            </a:endParaRPr>
          </a:p>
        </p:txBody>
      </p:sp>
    </p:spTree>
  </p:cSld>
  <p:clrMapOvr>
    <a:masterClrMapping/>
  </p:clrMapOvr>
  <p:transition spd="slow"/>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182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Hyperblock </a:t>
            </a:r>
            <a:r>
              <a:rPr lang="zh-CN" altLang="en-US" dirty="0">
                <a:latin typeface="Times New Roman" panose="02020603050405020304" pitchFamily="18" charset="0"/>
                <a:ea typeface="宋体" panose="02010600030101010101" pitchFamily="2" charset="-122"/>
              </a:rPr>
              <a:t>调度</a:t>
            </a:r>
            <a:endParaRPr lang="zh-CN" altLang="en-US" dirty="0">
              <a:latin typeface="Times New Roman" panose="02020603050405020304" pitchFamily="18" charset="0"/>
              <a:ea typeface="宋体" panose="02010600030101010101" pitchFamily="2" charset="-122"/>
            </a:endParaRPr>
          </a:p>
        </p:txBody>
      </p:sp>
      <p:sp>
        <p:nvSpPr>
          <p:cNvPr id="461827" name="Rectangle 3"/>
          <p:cNvSpPr>
            <a:spLocks noGrp="1"/>
          </p:cNvSpPr>
          <p:nvPr>
            <p:ph idx="1"/>
          </p:nvPr>
        </p:nvSpPr>
        <p:spPr>
          <a:xfrm>
            <a:off x="914400" y="1447800"/>
            <a:ext cx="7543800" cy="4724400"/>
          </a:xfrm>
        </p:spPr>
        <p:txBody>
          <a:bodyPr vert="horz" wrap="square" lIns="92075" tIns="46038" rIns="92075" bIns="46038" anchor="t" anchorCtr="0"/>
          <a:p>
            <a:r>
              <a:rPr lang="zh-CN" altLang="en-US" sz="2400" b="1" dirty="0">
                <a:ea typeface="宋体" panose="02010600030101010101" pitchFamily="2" charset="-122"/>
              </a:rPr>
              <a:t>条件执行</a:t>
            </a:r>
            <a:endParaRPr lang="en-US" altLang="zh-CN" sz="2400" b="1" dirty="0">
              <a:ea typeface="宋体" panose="02010600030101010101" pitchFamily="2" charset="-122"/>
            </a:endParaRPr>
          </a:p>
          <a:p>
            <a:pPr lvl="1"/>
            <a:r>
              <a:rPr lang="zh-CN" altLang="en-US" sz="2200" b="1" dirty="0">
                <a:ea typeface="宋体" panose="02010600030101010101" pitchFamily="2" charset="-122"/>
              </a:rPr>
              <a:t>体系结构提供64个1位的谓词寄存器(</a:t>
            </a:r>
            <a:r>
              <a:rPr lang="en-US" altLang="zh-CN" sz="2200" b="1" dirty="0">
                <a:ea typeface="宋体" panose="02010600030101010101" pitchFamily="2" charset="-122"/>
              </a:rPr>
              <a:t>predicate registers)</a:t>
            </a:r>
            <a:endParaRPr lang="en-US" altLang="zh-CN" sz="2200" b="1" dirty="0">
              <a:ea typeface="宋体" panose="02010600030101010101" pitchFamily="2" charset="-122"/>
            </a:endParaRPr>
          </a:p>
          <a:p>
            <a:pPr lvl="1"/>
            <a:r>
              <a:rPr lang="zh-CN" altLang="en-US" sz="2200" b="1" dirty="0">
                <a:ea typeface="宋体" panose="02010600030101010101" pitchFamily="2" charset="-122"/>
              </a:rPr>
              <a:t>带有谓词的指令仅当谓词为真时改变机器状态，否则相当于一条</a:t>
            </a:r>
            <a:r>
              <a:rPr lang="en-US" altLang="zh-CN" sz="2200" b="1" dirty="0">
                <a:ea typeface="宋体" panose="02010600030101010101" pitchFamily="2" charset="-122"/>
              </a:rPr>
              <a:t>NOP</a:t>
            </a:r>
            <a:r>
              <a:rPr lang="zh-CN" altLang="en-US" sz="2200" b="1" dirty="0">
                <a:ea typeface="宋体" panose="02010600030101010101" pitchFamily="2" charset="-122"/>
              </a:rPr>
              <a:t>指令</a:t>
            </a:r>
            <a:endParaRPr lang="zh-CN" altLang="en-US" sz="2200" b="1" dirty="0">
              <a:ea typeface="宋体" panose="02010600030101010101" pitchFamily="2" charset="-122"/>
            </a:endParaRPr>
          </a:p>
          <a:p>
            <a:pPr lvl="1"/>
            <a:r>
              <a:rPr lang="zh-CN" altLang="en-US" sz="2200" b="1" dirty="0">
                <a:ea typeface="宋体" panose="02010600030101010101" pitchFamily="2" charset="-122"/>
              </a:rPr>
              <a:t>编译器为分支两侧的指令分配不同的谓词寄存器，由比较 </a:t>
            </a:r>
            <a:r>
              <a:rPr lang="en-US" altLang="zh-CN" sz="2200" b="1" dirty="0">
                <a:ea typeface="宋体" panose="02010600030101010101" pitchFamily="2" charset="-122"/>
              </a:rPr>
              <a:t>(cmp) </a:t>
            </a:r>
            <a:r>
              <a:rPr lang="zh-CN" altLang="en-US" sz="2200" b="1" dirty="0">
                <a:ea typeface="宋体" panose="02010600030101010101" pitchFamily="2" charset="-122"/>
              </a:rPr>
              <a:t>指令在执行时刻为谓词赋值。</a:t>
            </a:r>
            <a:endParaRPr lang="zh-CN" altLang="en-US" sz="2200" b="1" dirty="0">
              <a:ea typeface="宋体" panose="02010600030101010101" pitchFamily="2" charset="-122"/>
            </a:endParaRPr>
          </a:p>
          <a:p>
            <a:r>
              <a:rPr lang="zh-CN" altLang="en-US" sz="2400" b="1" dirty="0">
                <a:ea typeface="宋体" panose="02010600030101010101" pitchFamily="2" charset="-122"/>
              </a:rPr>
              <a:t>条件执行可消除分支</a:t>
            </a:r>
            <a:endParaRPr lang="zh-CN" altLang="en-US" sz="2400" b="1" dirty="0">
              <a:ea typeface="宋体" panose="02010600030101010101" pitchFamily="2" charset="-122"/>
            </a:endParaRPr>
          </a:p>
          <a:p>
            <a:pPr lvl="1"/>
            <a:r>
              <a:rPr lang="zh-CN" altLang="en-US" sz="2200" b="1" dirty="0">
                <a:ea typeface="宋体" panose="02010600030101010101" pitchFamily="2" charset="-122"/>
              </a:rPr>
              <a:t>将控制依赖转化为数据依赖</a:t>
            </a:r>
            <a:endParaRPr lang="zh-CN" altLang="en-US" sz="2200" b="1" dirty="0">
              <a:ea typeface="宋体" panose="02010600030101010101" pitchFamily="2" charset="-122"/>
            </a:endParaRPr>
          </a:p>
          <a:p>
            <a:pPr lvl="1"/>
            <a:r>
              <a:rPr lang="zh-CN" altLang="en-US" sz="2200" b="1" dirty="0">
                <a:ea typeface="宋体" panose="02010600030101010101" pitchFamily="2" charset="-122"/>
              </a:rPr>
              <a:t>减少由于分支预测错误带来的开销</a:t>
            </a:r>
            <a:endParaRPr lang="zh-CN" altLang="en-US" sz="2200" b="1" dirty="0">
              <a:ea typeface="宋体" panose="02010600030101010101" pitchFamily="2" charset="-122"/>
            </a:endParaRPr>
          </a:p>
          <a:p>
            <a:pPr lvl="1"/>
            <a:r>
              <a:rPr lang="zh-CN" altLang="en-US" sz="2200" b="1" dirty="0">
                <a:ea typeface="宋体" panose="02010600030101010101" pitchFamily="2" charset="-122"/>
              </a:rPr>
              <a:t>有可能增加关键路径长度</a:t>
            </a:r>
            <a:endParaRPr lang="zh-CN" altLang="en-US" sz="2000" b="1" dirty="0">
              <a:ea typeface="宋体" panose="02010600030101010101" pitchFamily="2" charset="-122"/>
            </a:endParaRPr>
          </a:p>
        </p:txBody>
      </p:sp>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指令调度和寄存器优化的时序问题</a:t>
            </a:r>
            <a:endParaRPr lang="zh-CN" altLang="en-US" dirty="0">
              <a:latin typeface="Times New Roman" panose="02020603050405020304" pitchFamily="18" charset="0"/>
              <a:ea typeface="宋体" panose="02010600030101010101" pitchFamily="2" charset="-122"/>
            </a:endParaRPr>
          </a:p>
        </p:txBody>
      </p:sp>
      <p:sp>
        <p:nvSpPr>
          <p:cNvPr id="463875" name="Rectangle 3"/>
          <p:cNvSpPr>
            <a:spLocks noGrp="1"/>
          </p:cNvSpPr>
          <p:nvPr>
            <p:ph idx="1"/>
          </p:nvPr>
        </p:nvSpPr>
        <p:spPr>
          <a:xfrm>
            <a:off x="914400" y="1447800"/>
            <a:ext cx="7543800" cy="4724400"/>
          </a:xfrm>
        </p:spPr>
        <p:txBody>
          <a:bodyPr vert="horz" wrap="square" lIns="92075" tIns="46038" rIns="92075" bIns="46038" anchor="t" anchorCtr="0"/>
          <a:p>
            <a:pPr>
              <a:lnSpc>
                <a:spcPct val="90000"/>
              </a:lnSpc>
            </a:pPr>
            <a:r>
              <a:rPr lang="zh-CN" altLang="en-GB" sz="2400" b="1" dirty="0">
                <a:ea typeface="宋体" panose="02010600030101010101" pitchFamily="2" charset="-122"/>
              </a:rPr>
              <a:t>先做寄存器分配，再作指令调度</a:t>
            </a:r>
            <a:endParaRPr lang="zh-CN" altLang="en-GB" sz="2400" b="1" dirty="0">
              <a:ea typeface="宋体" panose="02010600030101010101" pitchFamily="2" charset="-122"/>
            </a:endParaRPr>
          </a:p>
          <a:p>
            <a:pPr lvl="1">
              <a:lnSpc>
                <a:spcPct val="90000"/>
              </a:lnSpc>
            </a:pPr>
            <a:r>
              <a:rPr lang="zh-CN" altLang="en-GB" sz="2200" b="1" dirty="0">
                <a:ea typeface="宋体" panose="02010600030101010101" pitchFamily="2" charset="-122"/>
              </a:rPr>
              <a:t>先做寄存器分配的优点在指令级并行度低、寄存器又少的处理机上得以体现</a:t>
            </a:r>
            <a:endParaRPr lang="zh-CN" altLang="en-GB" sz="2200" b="1" dirty="0">
              <a:ea typeface="宋体" panose="02010600030101010101" pitchFamily="2" charset="-122"/>
            </a:endParaRPr>
          </a:p>
          <a:p>
            <a:pPr lvl="1">
              <a:lnSpc>
                <a:spcPct val="90000"/>
              </a:lnSpc>
            </a:pPr>
            <a:r>
              <a:rPr lang="zh-CN" altLang="en-GB" sz="2200" b="1" dirty="0">
                <a:ea typeface="宋体" panose="02010600030101010101" pitchFamily="2" charset="-122"/>
              </a:rPr>
              <a:t>从指令调度的观点看该顺序的最主要问题是：寄存器分配会带来反依赖和输出依赖，这将在一定程度上影响指令调度的效果</a:t>
            </a:r>
            <a:endParaRPr lang="zh-CN" altLang="en-GB" sz="2200" b="1" dirty="0">
              <a:ea typeface="宋体" panose="02010600030101010101" pitchFamily="2" charset="-122"/>
            </a:endParaRPr>
          </a:p>
          <a:p>
            <a:pPr>
              <a:lnSpc>
                <a:spcPct val="90000"/>
              </a:lnSpc>
            </a:pPr>
            <a:r>
              <a:rPr lang="zh-CN" altLang="en-GB" sz="2400" b="1" dirty="0">
                <a:ea typeface="宋体" panose="02010600030101010101" pitchFamily="2" charset="-122"/>
              </a:rPr>
              <a:t>先做指令调度，再作寄存器分配</a:t>
            </a:r>
            <a:endParaRPr lang="zh-CN" altLang="en-GB" sz="2400" b="1" dirty="0">
              <a:ea typeface="宋体" panose="02010600030101010101" pitchFamily="2" charset="-122"/>
            </a:endParaRPr>
          </a:p>
          <a:p>
            <a:pPr lvl="1">
              <a:lnSpc>
                <a:spcPct val="90000"/>
              </a:lnSpc>
            </a:pPr>
            <a:r>
              <a:rPr lang="zh-CN" altLang="en-GB" sz="2200" b="1" dirty="0">
                <a:ea typeface="宋体" panose="02010600030101010101" pitchFamily="2" charset="-122"/>
              </a:rPr>
              <a:t>虽然更好的指令调度是人们所期望的，但如果代码需要的寄存器比能获得的寄存器还要多的话，则这个事实是不能令人接受的</a:t>
            </a:r>
            <a:endParaRPr lang="zh-CN" altLang="en-GB" sz="2200" b="1" dirty="0">
              <a:ea typeface="宋体" panose="02010600030101010101" pitchFamily="2" charset="-122"/>
            </a:endParaRPr>
          </a:p>
          <a:p>
            <a:pPr lvl="1">
              <a:lnSpc>
                <a:spcPct val="90000"/>
              </a:lnSpc>
            </a:pPr>
            <a:r>
              <a:rPr lang="zh-CN" altLang="en-GB" sz="2200" b="1" dirty="0">
                <a:ea typeface="宋体" panose="02010600030101010101" pitchFamily="2" charset="-122"/>
              </a:rPr>
              <a:t>指令调度会增大寄存器分配的压力，再好的指令调度所获得的性能的提高也无法弥补由于较差的寄存器分配所带来的损失</a:t>
            </a:r>
            <a:endParaRPr lang="zh-CN" altLang="en-GB" sz="2200" b="1" dirty="0">
              <a:ea typeface="宋体" panose="02010600030101010101" pitchFamily="2" charset="-122"/>
            </a:endParaRPr>
          </a:p>
        </p:txBody>
      </p:sp>
    </p:spTree>
  </p:cSld>
  <p:clrMapOvr>
    <a:masterClrMapping/>
  </p:clrMapOvr>
  <p:transition spd="slow"/>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592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指令调度和寄存器优化的时序问题的例子</a:t>
            </a:r>
            <a:endParaRPr lang="zh-CN" altLang="en-US" dirty="0">
              <a:latin typeface="Times New Roman" panose="02020603050405020304" pitchFamily="18" charset="0"/>
              <a:ea typeface="宋体" panose="02010600030101010101" pitchFamily="2" charset="-122"/>
            </a:endParaRPr>
          </a:p>
        </p:txBody>
      </p:sp>
      <p:sp>
        <p:nvSpPr>
          <p:cNvPr id="465923" name="Rectangle 3"/>
          <p:cNvSpPr>
            <a:spLocks noGrp="1"/>
          </p:cNvSpPr>
          <p:nvPr>
            <p:ph idx="1"/>
          </p:nvPr>
        </p:nvSpPr>
        <p:spPr>
          <a:xfrm>
            <a:off x="914400" y="1447800"/>
            <a:ext cx="7543800" cy="4724400"/>
          </a:xfrm>
        </p:spPr>
        <p:txBody>
          <a:bodyPr vert="horz" wrap="square" lIns="92075" tIns="46038" rIns="92075" bIns="46038" anchor="t" anchorCtr="0"/>
          <a:p>
            <a:pPr>
              <a:buNone/>
            </a:pPr>
            <a:r>
              <a:rPr lang="en-GB" altLang="zh-CN" sz="2000" b="1" dirty="0">
                <a:ea typeface="宋体" panose="02010600030101010101" pitchFamily="2" charset="-122"/>
              </a:rPr>
              <a:t>1) Val3 &lt;= val1 * 3		</a:t>
            </a:r>
            <a:r>
              <a:rPr lang="zh-CN" altLang="en-GB" sz="2000" b="1" dirty="0">
                <a:ea typeface="宋体" panose="02010600030101010101" pitchFamily="2" charset="-122"/>
              </a:rPr>
              <a:t>假设乘法指令需要</a:t>
            </a:r>
            <a:r>
              <a:rPr lang="en-GB" altLang="zh-CN" sz="2000" b="1" dirty="0">
                <a:ea typeface="宋体" panose="02010600030101010101" pitchFamily="2" charset="-122"/>
              </a:rPr>
              <a:t>4</a:t>
            </a:r>
            <a:r>
              <a:rPr lang="zh-CN" altLang="en-GB" sz="2000" b="1" dirty="0">
                <a:ea typeface="宋体" panose="02010600030101010101" pitchFamily="2" charset="-122"/>
              </a:rPr>
              <a:t>拍</a:t>
            </a:r>
            <a:endParaRPr lang="zh-CN" altLang="en-GB" sz="2000" b="1" dirty="0">
              <a:ea typeface="宋体" panose="02010600030101010101" pitchFamily="2" charset="-122"/>
            </a:endParaRPr>
          </a:p>
          <a:p>
            <a:pPr>
              <a:buNone/>
            </a:pPr>
            <a:r>
              <a:rPr lang="en-GB" altLang="zh-CN" sz="2000" b="1" dirty="0">
                <a:ea typeface="宋体" panose="02010600030101010101" pitchFamily="2" charset="-122"/>
              </a:rPr>
              <a:t>2) [addr1] &lt;= val3</a:t>
            </a:r>
            <a:endParaRPr lang="en-GB" altLang="zh-CN" sz="2000" b="1" dirty="0">
              <a:ea typeface="宋体" panose="02010600030101010101" pitchFamily="2" charset="-122"/>
            </a:endParaRPr>
          </a:p>
          <a:p>
            <a:pPr>
              <a:buNone/>
            </a:pPr>
            <a:r>
              <a:rPr lang="en-GB" altLang="zh-CN" sz="2000" b="1" dirty="0">
                <a:ea typeface="宋体" panose="02010600030101010101" pitchFamily="2" charset="-122"/>
              </a:rPr>
              <a:t>3) Val4 &lt;= val1 * 2</a:t>
            </a:r>
            <a:endParaRPr lang="en-GB" altLang="zh-CN" sz="2000" b="1" dirty="0">
              <a:ea typeface="宋体" panose="02010600030101010101" pitchFamily="2" charset="-122"/>
            </a:endParaRPr>
          </a:p>
          <a:p>
            <a:pPr>
              <a:buNone/>
            </a:pPr>
            <a:r>
              <a:rPr lang="en-GB" altLang="zh-CN" sz="2000" b="1" dirty="0">
                <a:ea typeface="宋体" panose="02010600030101010101" pitchFamily="2" charset="-122"/>
              </a:rPr>
              <a:t>4) [addr2] &lt;= val4</a:t>
            </a:r>
            <a:endParaRPr lang="en-GB" altLang="zh-CN" sz="2000" b="1" dirty="0">
              <a:ea typeface="宋体" panose="02010600030101010101" pitchFamily="2" charset="-122"/>
            </a:endParaRPr>
          </a:p>
          <a:p>
            <a:r>
              <a:rPr lang="zh-CN" altLang="en-GB" sz="2000" b="1" dirty="0">
                <a:ea typeface="宋体" panose="02010600030101010101" pitchFamily="2" charset="-122"/>
              </a:rPr>
              <a:t>若先做寄存器分配，再作指令调度</a:t>
            </a:r>
            <a:endParaRPr lang="zh-CN" altLang="en-GB" sz="2000" b="1" dirty="0">
              <a:ea typeface="宋体" panose="02010600030101010101" pitchFamily="2" charset="-122"/>
            </a:endParaRPr>
          </a:p>
          <a:p>
            <a:pPr lvl="1"/>
            <a:r>
              <a:rPr lang="zh-CN" altLang="en-GB" sz="2000" b="1" dirty="0">
                <a:ea typeface="宋体" panose="02010600030101010101" pitchFamily="2" charset="-122"/>
              </a:rPr>
              <a:t>由于</a:t>
            </a:r>
            <a:r>
              <a:rPr lang="en-GB" altLang="zh-CN" sz="2000" b="1" dirty="0">
                <a:ea typeface="宋体" panose="02010600030101010101" pitchFamily="2" charset="-122"/>
              </a:rPr>
              <a:t>val3</a:t>
            </a:r>
            <a:r>
              <a:rPr lang="zh-CN" altLang="en-GB" sz="2000" b="1" dirty="0">
                <a:ea typeface="宋体" panose="02010600030101010101" pitchFamily="2" charset="-122"/>
              </a:rPr>
              <a:t>和</a:t>
            </a:r>
            <a:r>
              <a:rPr lang="en-GB" altLang="zh-CN" sz="2000" b="1" dirty="0">
                <a:ea typeface="宋体" panose="02010600030101010101" pitchFamily="2" charset="-122"/>
              </a:rPr>
              <a:t>val4</a:t>
            </a:r>
            <a:r>
              <a:rPr lang="zh-CN" altLang="en-GB" sz="2000" b="1" dirty="0">
                <a:ea typeface="宋体" panose="02010600030101010101" pitchFamily="2" charset="-122"/>
              </a:rPr>
              <a:t>此后不再被继续引用，所以可以分在一个寄存器中</a:t>
            </a:r>
            <a:endParaRPr lang="zh-CN" altLang="en-GB" sz="2000" b="1" dirty="0">
              <a:ea typeface="宋体" panose="02010600030101010101" pitchFamily="2" charset="-122"/>
            </a:endParaRPr>
          </a:p>
          <a:p>
            <a:pPr lvl="1">
              <a:buNone/>
            </a:pPr>
            <a:r>
              <a:rPr lang="zh-CN" altLang="en-GB" sz="2000" b="1" dirty="0">
                <a:ea typeface="宋体" panose="02010600030101010101" pitchFamily="2" charset="-122"/>
              </a:rPr>
              <a:t>发射时间		指令</a:t>
            </a:r>
            <a:endParaRPr lang="zh-CN" altLang="en-GB" sz="2000" b="1" dirty="0">
              <a:ea typeface="宋体" panose="02010600030101010101" pitchFamily="2" charset="-122"/>
            </a:endParaRPr>
          </a:p>
          <a:p>
            <a:pPr lvl="1">
              <a:buNone/>
            </a:pPr>
            <a:r>
              <a:rPr lang="zh-CN" altLang="en-GB" sz="2000" b="1" dirty="0">
                <a:ea typeface="宋体" panose="02010600030101010101" pitchFamily="2" charset="-122"/>
              </a:rPr>
              <a:t>	</a:t>
            </a:r>
            <a:r>
              <a:rPr lang="en-GB" altLang="zh-CN" sz="2000" b="1" dirty="0">
                <a:ea typeface="宋体" panose="02010600030101010101" pitchFamily="2" charset="-122"/>
              </a:rPr>
              <a:t>0		r3 &lt;= r1 * 3</a:t>
            </a:r>
            <a:endParaRPr lang="en-GB" altLang="zh-CN" sz="2000" b="1" dirty="0">
              <a:ea typeface="宋体" panose="02010600030101010101" pitchFamily="2" charset="-122"/>
            </a:endParaRPr>
          </a:p>
          <a:p>
            <a:pPr lvl="1">
              <a:buNone/>
            </a:pPr>
            <a:r>
              <a:rPr lang="zh-CN" altLang="en-GB" sz="2000" b="1" dirty="0">
                <a:ea typeface="宋体" panose="02010600030101010101" pitchFamily="2" charset="-122"/>
              </a:rPr>
              <a:t>	</a:t>
            </a:r>
            <a:r>
              <a:rPr lang="en-GB" altLang="zh-CN" sz="2000" b="1" dirty="0">
                <a:ea typeface="宋体" panose="02010600030101010101" pitchFamily="2" charset="-122"/>
              </a:rPr>
              <a:t>4		store [addr1] , r3</a:t>
            </a:r>
            <a:endParaRPr lang="en-GB" altLang="zh-CN" sz="2000" b="1" dirty="0">
              <a:ea typeface="宋体" panose="02010600030101010101" pitchFamily="2" charset="-122"/>
            </a:endParaRPr>
          </a:p>
          <a:p>
            <a:pPr lvl="1">
              <a:buNone/>
            </a:pPr>
            <a:r>
              <a:rPr lang="en-GB" altLang="zh-CN" sz="2000" b="1" dirty="0">
                <a:ea typeface="宋体" panose="02010600030101010101" pitchFamily="2" charset="-122"/>
              </a:rPr>
              <a:t>	5		r3 &lt;= r1 * 2</a:t>
            </a:r>
            <a:endParaRPr lang="en-GB" altLang="zh-CN" sz="2000" b="1" dirty="0">
              <a:ea typeface="宋体" panose="02010600030101010101" pitchFamily="2" charset="-122"/>
            </a:endParaRPr>
          </a:p>
          <a:p>
            <a:pPr lvl="1">
              <a:buNone/>
            </a:pPr>
            <a:r>
              <a:rPr lang="en-GB" altLang="zh-CN" sz="2000" b="1" dirty="0">
                <a:ea typeface="宋体" panose="02010600030101010101" pitchFamily="2" charset="-122"/>
              </a:rPr>
              <a:t>	9		store [addr2] , r3	</a:t>
            </a:r>
            <a:r>
              <a:rPr lang="zh-CN" altLang="en-GB" sz="2000" b="1" dirty="0">
                <a:ea typeface="宋体" panose="02010600030101010101" pitchFamily="2" charset="-122"/>
              </a:rPr>
              <a:t>共需要</a:t>
            </a:r>
            <a:r>
              <a:rPr lang="en-GB" altLang="zh-CN" sz="2000" b="1" dirty="0">
                <a:ea typeface="宋体" panose="02010600030101010101" pitchFamily="2" charset="-122"/>
              </a:rPr>
              <a:t>10</a:t>
            </a:r>
            <a:r>
              <a:rPr lang="zh-CN" altLang="en-GB" sz="2000" b="1" dirty="0">
                <a:ea typeface="宋体" panose="02010600030101010101" pitchFamily="2" charset="-122"/>
              </a:rPr>
              <a:t>拍</a:t>
            </a:r>
            <a:endParaRPr lang="zh-CN" altLang="en-GB" sz="2000" b="1" dirty="0">
              <a:ea typeface="宋体" panose="02010600030101010101" pitchFamily="2" charset="-122"/>
            </a:endParaRPr>
          </a:p>
        </p:txBody>
      </p:sp>
    </p:spTree>
  </p:cSld>
  <p:clrMapOvr>
    <a:masterClrMapping/>
  </p:clrMapOvr>
  <p:transition spd="slow"/>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797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指令调度和寄存器优化的时序问题的例子</a:t>
            </a:r>
            <a:endParaRPr lang="zh-CN" altLang="en-US" dirty="0">
              <a:latin typeface="Times New Roman" panose="02020603050405020304" pitchFamily="18" charset="0"/>
              <a:ea typeface="宋体" panose="02010600030101010101" pitchFamily="2" charset="-122"/>
            </a:endParaRPr>
          </a:p>
        </p:txBody>
      </p:sp>
      <p:sp>
        <p:nvSpPr>
          <p:cNvPr id="467971" name="Rectangle 3"/>
          <p:cNvSpPr>
            <a:spLocks noGrp="1"/>
          </p:cNvSpPr>
          <p:nvPr>
            <p:ph idx="1"/>
          </p:nvPr>
        </p:nvSpPr>
        <p:spPr>
          <a:xfrm>
            <a:off x="914400" y="1447800"/>
            <a:ext cx="7543800" cy="4724400"/>
          </a:xfrm>
        </p:spPr>
        <p:txBody>
          <a:bodyPr vert="horz" wrap="square" lIns="92075" tIns="46038" rIns="92075" bIns="46038" anchor="t" anchorCtr="0"/>
          <a:p>
            <a:r>
              <a:rPr lang="zh-CN" altLang="en-GB" sz="2000" b="1" dirty="0">
                <a:ea typeface="宋体" panose="02010600030101010101" pitchFamily="2" charset="-122"/>
              </a:rPr>
              <a:t>若先做指令调度，再作寄存器分配</a:t>
            </a:r>
            <a:endParaRPr lang="zh-CN" altLang="en-GB" sz="2000" b="1" dirty="0">
              <a:ea typeface="宋体" panose="02010600030101010101" pitchFamily="2" charset="-122"/>
            </a:endParaRPr>
          </a:p>
          <a:p>
            <a:pPr lvl="1"/>
            <a:r>
              <a:rPr lang="zh-CN" altLang="en-GB" sz="2000" b="1" dirty="0">
                <a:ea typeface="宋体" panose="02010600030101010101" pitchFamily="2" charset="-122"/>
              </a:rPr>
              <a:t>此时，由于</a:t>
            </a:r>
            <a:r>
              <a:rPr lang="en-GB" altLang="zh-CN" sz="2000" b="1" dirty="0">
                <a:ea typeface="宋体" panose="02010600030101010101" pitchFamily="2" charset="-122"/>
              </a:rPr>
              <a:t>val3</a:t>
            </a:r>
            <a:r>
              <a:rPr lang="zh-CN" altLang="en-GB" sz="2000" b="1" dirty="0">
                <a:ea typeface="宋体" panose="02010600030101010101" pitchFamily="2" charset="-122"/>
              </a:rPr>
              <a:t>和</a:t>
            </a:r>
            <a:r>
              <a:rPr lang="en-GB" altLang="zh-CN" sz="2000" b="1" dirty="0">
                <a:ea typeface="宋体" panose="02010600030101010101" pitchFamily="2" charset="-122"/>
              </a:rPr>
              <a:t>val4</a:t>
            </a:r>
            <a:r>
              <a:rPr lang="zh-CN" altLang="en-GB" sz="2000" b="1" dirty="0">
                <a:ea typeface="宋体" panose="02010600030101010101" pitchFamily="2" charset="-122"/>
              </a:rPr>
              <a:t>活跃区间重叠，所以不可以分在一个寄存器中</a:t>
            </a:r>
            <a:endParaRPr lang="zh-CN" altLang="en-GB" sz="2000" b="1" dirty="0">
              <a:ea typeface="宋体" panose="02010600030101010101" pitchFamily="2" charset="-122"/>
            </a:endParaRPr>
          </a:p>
          <a:p>
            <a:pPr lvl="1">
              <a:buNone/>
            </a:pPr>
            <a:r>
              <a:rPr lang="zh-CN" altLang="en-GB" sz="2000" b="1" dirty="0">
                <a:ea typeface="宋体" panose="02010600030101010101" pitchFamily="2" charset="-122"/>
              </a:rPr>
              <a:t>发射时间		指令</a:t>
            </a:r>
            <a:endParaRPr lang="zh-CN" altLang="en-GB" sz="2000" b="1" dirty="0">
              <a:ea typeface="宋体" panose="02010600030101010101" pitchFamily="2" charset="-122"/>
            </a:endParaRPr>
          </a:p>
          <a:p>
            <a:pPr lvl="1">
              <a:buNone/>
            </a:pPr>
            <a:r>
              <a:rPr lang="zh-CN" altLang="en-GB" sz="2000" b="1" dirty="0">
                <a:ea typeface="宋体" panose="02010600030101010101" pitchFamily="2" charset="-122"/>
              </a:rPr>
              <a:t>	</a:t>
            </a:r>
            <a:r>
              <a:rPr lang="en-GB" altLang="zh-CN" sz="2000" b="1" dirty="0">
                <a:ea typeface="宋体" panose="02010600030101010101" pitchFamily="2" charset="-122"/>
              </a:rPr>
              <a:t>0		r3 &lt;= r1 * 3</a:t>
            </a:r>
            <a:endParaRPr lang="en-GB" altLang="zh-CN" sz="2000" b="1" dirty="0">
              <a:ea typeface="宋体" panose="02010600030101010101" pitchFamily="2" charset="-122"/>
            </a:endParaRPr>
          </a:p>
          <a:p>
            <a:pPr lvl="1">
              <a:buNone/>
            </a:pPr>
            <a:r>
              <a:rPr lang="en-GB" altLang="zh-CN" sz="2000" b="1" dirty="0">
                <a:ea typeface="宋体" panose="02010600030101010101" pitchFamily="2" charset="-122"/>
              </a:rPr>
              <a:t>	1		r4 &lt;= r1 * 2</a:t>
            </a:r>
            <a:endParaRPr lang="en-GB" altLang="zh-CN" sz="2000" b="1" dirty="0">
              <a:ea typeface="宋体" panose="02010600030101010101" pitchFamily="2" charset="-122"/>
            </a:endParaRPr>
          </a:p>
          <a:p>
            <a:pPr lvl="1">
              <a:buNone/>
            </a:pPr>
            <a:r>
              <a:rPr lang="zh-CN" altLang="en-GB" sz="2000" b="1" dirty="0">
                <a:ea typeface="宋体" panose="02010600030101010101" pitchFamily="2" charset="-122"/>
              </a:rPr>
              <a:t>	</a:t>
            </a:r>
            <a:r>
              <a:rPr lang="en-GB" altLang="zh-CN" sz="2000" b="1" dirty="0">
                <a:ea typeface="宋体" panose="02010600030101010101" pitchFamily="2" charset="-122"/>
              </a:rPr>
              <a:t>4		store [addr1] , r3</a:t>
            </a:r>
            <a:endParaRPr lang="en-GB" altLang="zh-CN" sz="2000" b="1" dirty="0">
              <a:ea typeface="宋体" panose="02010600030101010101" pitchFamily="2" charset="-122"/>
            </a:endParaRPr>
          </a:p>
          <a:p>
            <a:pPr lvl="1">
              <a:buNone/>
            </a:pPr>
            <a:r>
              <a:rPr lang="en-GB" altLang="zh-CN" sz="2000" b="1" dirty="0">
                <a:ea typeface="宋体" panose="02010600030101010101" pitchFamily="2" charset="-122"/>
              </a:rPr>
              <a:t>	5		store [addr2] , r4	</a:t>
            </a:r>
            <a:r>
              <a:rPr lang="zh-CN" altLang="en-GB" sz="2000" b="1" dirty="0">
                <a:ea typeface="宋体" panose="02010600030101010101" pitchFamily="2" charset="-122"/>
              </a:rPr>
              <a:t>共需要</a:t>
            </a:r>
            <a:r>
              <a:rPr lang="en-GB" altLang="zh-CN" sz="2000" b="1" dirty="0">
                <a:ea typeface="宋体" panose="02010600030101010101" pitchFamily="2" charset="-122"/>
              </a:rPr>
              <a:t>6</a:t>
            </a:r>
            <a:r>
              <a:rPr lang="zh-CN" altLang="en-GB" sz="2000" b="1" dirty="0">
                <a:ea typeface="宋体" panose="02010600030101010101" pitchFamily="2" charset="-122"/>
              </a:rPr>
              <a:t>拍</a:t>
            </a:r>
            <a:endParaRPr lang="zh-CN" altLang="en-GB" sz="2000" b="1" dirty="0">
              <a:ea typeface="宋体" panose="02010600030101010101" pitchFamily="2" charset="-122"/>
            </a:endParaRPr>
          </a:p>
          <a:p>
            <a:pPr lvl="1">
              <a:buNone/>
            </a:pPr>
            <a:endParaRPr lang="zh-CN" altLang="en-GB" sz="2000" b="1" dirty="0">
              <a:ea typeface="宋体" panose="02010600030101010101" pitchFamily="2" charset="-122"/>
            </a:endParaRPr>
          </a:p>
          <a:p>
            <a:pPr lvl="1">
              <a:buNone/>
            </a:pPr>
            <a:r>
              <a:rPr lang="zh-CN" altLang="en-GB" sz="2000" b="1" dirty="0">
                <a:ea typeface="宋体" panose="02010600030101010101" pitchFamily="2" charset="-122"/>
              </a:rPr>
              <a:t>	而且如果处理机能同时发射两条定点乘法和两条</a:t>
            </a:r>
            <a:r>
              <a:rPr lang="en-GB" altLang="zh-CN" sz="2000" b="1" dirty="0">
                <a:ea typeface="宋体" panose="02010600030101010101" pitchFamily="2" charset="-122"/>
              </a:rPr>
              <a:t>store</a:t>
            </a:r>
            <a:r>
              <a:rPr lang="zh-CN" altLang="en-GB" sz="2000" b="1" dirty="0">
                <a:ea typeface="宋体" panose="02010600030101010101" pitchFamily="2" charset="-122"/>
              </a:rPr>
              <a:t>指令的话，这一组指令可以在</a:t>
            </a:r>
            <a:r>
              <a:rPr lang="en-GB" altLang="zh-CN" sz="2000" b="1" dirty="0">
                <a:ea typeface="宋体" panose="02010600030101010101" pitchFamily="2" charset="-122"/>
              </a:rPr>
              <a:t>5</a:t>
            </a:r>
            <a:r>
              <a:rPr lang="zh-CN" altLang="en-GB" sz="2000" b="1" dirty="0">
                <a:ea typeface="宋体" panose="02010600030101010101" pitchFamily="2" charset="-122"/>
              </a:rPr>
              <a:t>拍完成</a:t>
            </a:r>
            <a:endParaRPr lang="zh-CN" altLang="en-GB" sz="2000" b="1" dirty="0">
              <a:ea typeface="宋体" panose="02010600030101010101" pitchFamily="2" charset="-122"/>
            </a:endParaRPr>
          </a:p>
        </p:txBody>
      </p:sp>
    </p:spTree>
  </p:cSld>
  <p:clrMapOvr>
    <a:masterClrMapping/>
  </p:clrMapOvr>
  <p:transition spd="slow"/>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00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指令调度和寄存器优化的时序问题（续）</a:t>
            </a:r>
            <a:endParaRPr lang="zh-CN" altLang="en-US" dirty="0">
              <a:latin typeface="Times New Roman" panose="02020603050405020304" pitchFamily="18" charset="0"/>
              <a:ea typeface="宋体" panose="02010600030101010101" pitchFamily="2" charset="-122"/>
            </a:endParaRPr>
          </a:p>
        </p:txBody>
      </p:sp>
      <p:sp>
        <p:nvSpPr>
          <p:cNvPr id="470019" name="Rectangle 3"/>
          <p:cNvSpPr>
            <a:spLocks noGrp="1"/>
          </p:cNvSpPr>
          <p:nvPr>
            <p:ph idx="1"/>
          </p:nvPr>
        </p:nvSpPr>
        <p:spPr>
          <a:xfrm>
            <a:off x="914400" y="1447800"/>
            <a:ext cx="7543800" cy="4724400"/>
          </a:xfrm>
        </p:spPr>
        <p:txBody>
          <a:bodyPr vert="horz" wrap="square" lIns="92075" tIns="46038" rIns="92075" bIns="46038" anchor="t" anchorCtr="0"/>
          <a:p>
            <a:r>
              <a:rPr lang="zh-CN" altLang="en-GB" sz="2400" b="1" dirty="0">
                <a:ea typeface="宋体" panose="02010600030101010101" pitchFamily="2" charset="-122"/>
              </a:rPr>
              <a:t>协作式指令调度和寄存器分配</a:t>
            </a:r>
            <a:endParaRPr lang="zh-CN" altLang="en-GB" sz="2400" b="1" dirty="0">
              <a:ea typeface="宋体" panose="02010600030101010101" pitchFamily="2" charset="-122"/>
            </a:endParaRPr>
          </a:p>
          <a:p>
            <a:pPr lvl="1"/>
            <a:r>
              <a:rPr lang="zh-CN" altLang="en-GB" sz="2200" b="1" dirty="0">
                <a:ea typeface="宋体" panose="02010600030101010101" pitchFamily="2" charset="-122"/>
              </a:rPr>
              <a:t>避免的分裂考虑上述两个问题引起的缺乏通讯的问题</a:t>
            </a:r>
            <a:endParaRPr lang="zh-CN" altLang="en-GB" sz="2200" b="1" dirty="0">
              <a:ea typeface="宋体" panose="02010600030101010101" pitchFamily="2" charset="-122"/>
            </a:endParaRPr>
          </a:p>
          <a:p>
            <a:pPr lvl="1"/>
            <a:r>
              <a:rPr lang="zh-CN" altLang="en-GB" sz="2200" b="1" dirty="0">
                <a:ea typeface="宋体" panose="02010600030101010101" pitchFamily="2" charset="-122"/>
              </a:rPr>
              <a:t>但算法过于复杂，难于实现，具有理论意义</a:t>
            </a:r>
            <a:endParaRPr lang="zh-CN" altLang="en-GB" sz="2200" b="1" dirty="0">
              <a:ea typeface="宋体" panose="02010600030101010101" pitchFamily="2" charset="-122"/>
            </a:endParaRPr>
          </a:p>
          <a:p>
            <a:r>
              <a:rPr lang="zh-CN" altLang="en-GB" sz="2400" b="1" dirty="0">
                <a:ea typeface="宋体" panose="02010600030101010101" pitchFamily="2" charset="-122"/>
              </a:rPr>
              <a:t>一种实际的时序</a:t>
            </a:r>
            <a:endParaRPr lang="zh-CN" altLang="en-GB" sz="2400" b="1" dirty="0">
              <a:ea typeface="宋体" panose="02010600030101010101" pitchFamily="2" charset="-122"/>
            </a:endParaRPr>
          </a:p>
          <a:p>
            <a:pPr lvl="1"/>
            <a:r>
              <a:rPr lang="zh-CN" altLang="en-GB" sz="2200" b="1" dirty="0">
                <a:ea typeface="宋体" panose="02010600030101010101" pitchFamily="2" charset="-122"/>
              </a:rPr>
              <a:t>先做指令调度（由于寄存器较多，所以可以忍受）</a:t>
            </a:r>
            <a:endParaRPr lang="zh-CN" altLang="en-GB" sz="2200" b="1" dirty="0">
              <a:ea typeface="宋体" panose="02010600030101010101" pitchFamily="2" charset="-122"/>
            </a:endParaRPr>
          </a:p>
          <a:p>
            <a:pPr lvl="1"/>
            <a:r>
              <a:rPr lang="zh-CN" altLang="en-GB" sz="2200" b="1" dirty="0">
                <a:ea typeface="宋体" panose="02010600030101010101" pitchFamily="2" charset="-122"/>
              </a:rPr>
              <a:t>再作寄存器分配，但为了获得较好的效果，可能会移动基本块中的指令位置或由于寄存器溢出和恢复增加了基本块中的指令</a:t>
            </a:r>
            <a:endParaRPr lang="zh-CN" altLang="en-GB" sz="2200" b="1" dirty="0">
              <a:ea typeface="宋体" panose="02010600030101010101" pitchFamily="2" charset="-122"/>
            </a:endParaRPr>
          </a:p>
          <a:p>
            <a:pPr lvl="1"/>
            <a:r>
              <a:rPr lang="zh-CN" altLang="en-GB" sz="2200" b="1" dirty="0">
                <a:ea typeface="宋体" panose="02010600030101010101" pitchFamily="2" charset="-122"/>
              </a:rPr>
              <a:t>在基本块内，对已经更改过的基本块重新进行指令调度</a:t>
            </a:r>
            <a:endParaRPr lang="zh-CN" altLang="en-GB" sz="2200" b="1" dirty="0">
              <a:ea typeface="宋体" panose="02010600030101010101" pitchFamily="2" charset="-122"/>
            </a:endParaRPr>
          </a:p>
        </p:txBody>
      </p:sp>
    </p:spTree>
  </p:cSld>
  <p:clrMapOvr>
    <a:masterClrMapping/>
  </p:clrMapOvr>
  <p:transition spd="slow"/>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20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作业一</a:t>
            </a:r>
            <a:endParaRPr lang="zh-CN" altLang="en-US" dirty="0">
              <a:latin typeface="Times New Roman" panose="02020603050405020304" pitchFamily="18" charset="0"/>
              <a:ea typeface="宋体" panose="02010600030101010101" pitchFamily="2" charset="-122"/>
            </a:endParaRPr>
          </a:p>
        </p:txBody>
      </p:sp>
      <p:sp>
        <p:nvSpPr>
          <p:cNvPr id="472067" name="Rectangle 3"/>
          <p:cNvSpPr>
            <a:spLocks noGrp="1"/>
          </p:cNvSpPr>
          <p:nvPr>
            <p:ph idx="1"/>
          </p:nvPr>
        </p:nvSpPr>
        <p:spPr>
          <a:xfrm>
            <a:off x="611188" y="1371600"/>
            <a:ext cx="7993062" cy="5029200"/>
          </a:xfrm>
        </p:spPr>
        <p:txBody>
          <a:bodyPr vert="horz" wrap="square" lIns="92075" tIns="46038" rIns="92075" bIns="46038" anchor="t" anchorCtr="0"/>
          <a:p>
            <a:pPr marL="495300" indent="-495300"/>
            <a:r>
              <a:rPr lang="en-US" altLang="zh-CN" sz="2000" b="1" dirty="0">
                <a:ea typeface="宋体" panose="02010600030101010101" pitchFamily="2" charset="-122"/>
              </a:rPr>
              <a:t>8.2.5</a:t>
            </a:r>
            <a:r>
              <a:rPr lang="zh-CN" altLang="en-US" sz="2000" b="1" dirty="0">
                <a:ea typeface="宋体" panose="02010600030101010101" pitchFamily="2" charset="-122"/>
              </a:rPr>
              <a:t>：假设</a:t>
            </a:r>
            <a:r>
              <a:rPr lang="en-US" altLang="zh-CN" sz="2000" b="1" dirty="0">
                <a:ea typeface="宋体" panose="02010600030101010101" pitchFamily="2" charset="-122"/>
              </a:rPr>
              <a:t>n</a:t>
            </a:r>
            <a:r>
              <a:rPr lang="zh-CN" altLang="en-US" sz="2000" b="1" dirty="0">
                <a:ea typeface="宋体" panose="02010600030101010101" pitchFamily="2" charset="-122"/>
              </a:rPr>
              <a:t>在一个内存位置中，为下面的语句序列生成代码，并计算生成的目标代码的代价：</a:t>
            </a:r>
            <a:endParaRPr lang="en-US" altLang="zh-CN" sz="2000" b="1" dirty="0">
              <a:ea typeface="宋体" panose="02010600030101010101" pitchFamily="2" charset="-122"/>
            </a:endParaRPr>
          </a:p>
          <a:p>
            <a:pPr marL="800100" lvl="2" indent="0">
              <a:buNone/>
            </a:pPr>
            <a:r>
              <a:rPr lang="en-US" altLang="zh-CN" sz="1800" b="1" dirty="0">
                <a:ea typeface="宋体" panose="02010600030101010101" pitchFamily="2" charset="-122"/>
              </a:rPr>
              <a:t>		s = 0</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i = 0</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L1: 	if i &gt; n goto L2</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s = s + i</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i = i + 1</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goto L1</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L2:</a:t>
            </a:r>
            <a:endParaRPr lang="en-US" altLang="zh-CN" sz="1800" b="1" dirty="0">
              <a:ea typeface="宋体" panose="02010600030101010101" pitchFamily="2" charset="-122"/>
            </a:endParaRPr>
          </a:p>
          <a:p>
            <a:pPr marL="495300" indent="-495300"/>
            <a:r>
              <a:rPr lang="en-US" altLang="zh-CN" sz="2000" b="1" dirty="0">
                <a:ea typeface="宋体" panose="02010600030101010101" pitchFamily="2" charset="-122"/>
              </a:rPr>
              <a:t>8.3.3</a:t>
            </a:r>
            <a:r>
              <a:rPr lang="zh-CN" altLang="en-US" sz="2000" b="1" dirty="0">
                <a:ea typeface="宋体" panose="02010600030101010101" pitchFamily="2" charset="-122"/>
              </a:rPr>
              <a:t>：假设使用栈式分配，且假设</a:t>
            </a:r>
            <a:r>
              <a:rPr lang="en-US" altLang="zh-CN" sz="2000" b="1" dirty="0">
                <a:ea typeface="宋体" panose="02010600030101010101" pitchFamily="2" charset="-122"/>
              </a:rPr>
              <a:t>a</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都是元素大小为</a:t>
            </a:r>
            <a:r>
              <a:rPr lang="en-US" altLang="zh-CN" sz="2000" b="1" dirty="0">
                <a:ea typeface="宋体" panose="02010600030101010101" pitchFamily="2" charset="-122"/>
              </a:rPr>
              <a:t>4</a:t>
            </a:r>
            <a:r>
              <a:rPr lang="zh-CN" altLang="en-US" sz="2000" b="1" dirty="0">
                <a:ea typeface="宋体" panose="02010600030101010101" pitchFamily="2" charset="-122"/>
              </a:rPr>
              <a:t>字节的数组，为下面的三地址语句生成代码：</a:t>
            </a:r>
            <a:endParaRPr lang="en-US" altLang="zh-CN" sz="2000" b="1" dirty="0">
              <a:ea typeface="宋体" panose="02010600030101010101" pitchFamily="2" charset="-122"/>
            </a:endParaRPr>
          </a:p>
          <a:p>
            <a:pPr marL="800100" lvl="2" indent="0">
              <a:buNone/>
            </a:pPr>
            <a:r>
              <a:rPr lang="en-US" altLang="zh-CN" sz="1800" b="1" dirty="0">
                <a:ea typeface="宋体" panose="02010600030101010101" pitchFamily="2" charset="-122"/>
              </a:rPr>
              <a:t>1</a:t>
            </a:r>
            <a:r>
              <a:rPr lang="zh-CN" altLang="en-US" sz="1800" b="1" dirty="0">
                <a:ea typeface="宋体" panose="02010600030101010101" pitchFamily="2" charset="-122"/>
              </a:rPr>
              <a:t>）四个语句的序列</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x = a [ i ]</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y = b [ j ]</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a [ i ] = y</a:t>
            </a:r>
            <a:endParaRPr lang="en-US" altLang="zh-CN" sz="1800" b="1" dirty="0">
              <a:ea typeface="宋体" panose="02010600030101010101" pitchFamily="2" charset="-122"/>
            </a:endParaRPr>
          </a:p>
          <a:p>
            <a:pPr marL="800100" lvl="2" indent="0">
              <a:buNone/>
            </a:pPr>
            <a:r>
              <a:rPr lang="en-US" altLang="zh-CN" sz="1800" b="1" dirty="0">
                <a:ea typeface="宋体" panose="02010600030101010101" pitchFamily="2" charset="-122"/>
              </a:rPr>
              <a:t>		b [ j ] = x</a:t>
            </a:r>
            <a:endParaRPr lang="en-US" altLang="zh-CN" sz="1800" b="1" dirty="0">
              <a:ea typeface="宋体" panose="02010600030101010101" pitchFamily="2" charset="-122"/>
            </a:endParaRPr>
          </a:p>
          <a:p>
            <a:pPr marL="800100" lvl="2" indent="0">
              <a:buNone/>
            </a:pPr>
            <a:endParaRPr lang="en-US" altLang="zh-CN" sz="1800" b="1" dirty="0">
              <a:ea typeface="宋体" panose="02010600030101010101" pitchFamily="2" charset="-122"/>
            </a:endParaRPr>
          </a:p>
        </p:txBody>
      </p:sp>
    </p:spTree>
  </p:cSld>
  <p:clrMapOvr>
    <a:masterClrMapping/>
  </p:clrMapOvr>
  <p:transition spd="slow"/>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41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作业二</a:t>
            </a:r>
            <a:endParaRPr lang="zh-CN" altLang="en-US" dirty="0">
              <a:latin typeface="Times New Roman" panose="02020603050405020304" pitchFamily="18" charset="0"/>
              <a:ea typeface="宋体" panose="02010600030101010101" pitchFamily="2" charset="-122"/>
            </a:endParaRPr>
          </a:p>
        </p:txBody>
      </p:sp>
      <p:sp>
        <p:nvSpPr>
          <p:cNvPr id="474115" name="Rectangle 3"/>
          <p:cNvSpPr>
            <a:spLocks noGrp="1"/>
          </p:cNvSpPr>
          <p:nvPr>
            <p:ph idx="1"/>
          </p:nvPr>
        </p:nvSpPr>
        <p:spPr>
          <a:xfrm>
            <a:off x="539750" y="1371600"/>
            <a:ext cx="8064500" cy="5029200"/>
          </a:xfrm>
        </p:spPr>
        <p:txBody>
          <a:bodyPr vert="horz" wrap="square" lIns="92075" tIns="46038" rIns="92075" bIns="46038" anchor="t" anchorCtr="0"/>
          <a:p>
            <a:pPr marL="495300" indent="-495300"/>
            <a:r>
              <a:rPr lang="en-US" altLang="zh-CN" sz="2000" b="1" dirty="0">
                <a:ea typeface="宋体" panose="02010600030101010101" pitchFamily="2" charset="-122"/>
              </a:rPr>
              <a:t>8.4.1</a:t>
            </a:r>
            <a:r>
              <a:rPr lang="zh-CN" altLang="en-US" sz="2000" b="1" dirty="0">
                <a:ea typeface="宋体" panose="02010600030101010101" pitchFamily="2" charset="-122"/>
              </a:rPr>
              <a:t>：图</a:t>
            </a:r>
            <a:r>
              <a:rPr lang="en-US" altLang="zh-CN" sz="2000" b="1" dirty="0">
                <a:ea typeface="宋体" panose="02010600030101010101" pitchFamily="2" charset="-122"/>
              </a:rPr>
              <a:t>8-10</a:t>
            </a:r>
            <a:r>
              <a:rPr lang="zh-CN" altLang="en-US" sz="2000" b="1" dirty="0">
                <a:ea typeface="宋体" panose="02010600030101010101" pitchFamily="2" charset="-122"/>
              </a:rPr>
              <a:t>是一个简单的矩阵乘法程序。</a:t>
            </a:r>
            <a:endParaRPr lang="en-US" altLang="zh-CN" sz="2000" b="1" dirty="0">
              <a:ea typeface="宋体" panose="02010600030101010101" pitchFamily="2" charset="-122"/>
            </a:endParaRPr>
          </a:p>
          <a:p>
            <a:pPr marL="400050" lvl="1" indent="0">
              <a:buNone/>
            </a:pPr>
            <a:r>
              <a:rPr lang="en-US" altLang="zh-CN" sz="1800" b="1" dirty="0">
                <a:ea typeface="宋体" panose="02010600030101010101" pitchFamily="2" charset="-122"/>
              </a:rPr>
              <a:t>1</a:t>
            </a:r>
            <a:r>
              <a:rPr lang="zh-CN" altLang="en-US" sz="1800" b="1" dirty="0">
                <a:ea typeface="宋体" panose="02010600030101010101" pitchFamily="2" charset="-122"/>
              </a:rPr>
              <a:t>）假设矩阵的元素是需要</a:t>
            </a:r>
            <a:r>
              <a:rPr lang="en-US" altLang="zh-CN" sz="1800" b="1" dirty="0">
                <a:ea typeface="宋体" panose="02010600030101010101" pitchFamily="2" charset="-122"/>
              </a:rPr>
              <a:t>8</a:t>
            </a:r>
            <a:r>
              <a:rPr lang="zh-CN" altLang="en-US" sz="1800" b="1" dirty="0">
                <a:ea typeface="宋体" panose="02010600030101010101" pitchFamily="2" charset="-122"/>
              </a:rPr>
              <a:t>个字节的数值，而且矩阵按行存放。把程序翻译成为我们在本节中一直使用的那种三地址语句</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2</a:t>
            </a:r>
            <a:r>
              <a:rPr lang="zh-CN" altLang="en-US" sz="1800" b="1" dirty="0">
                <a:ea typeface="宋体" panose="02010600030101010101" pitchFamily="2" charset="-122"/>
              </a:rPr>
              <a:t>）为</a:t>
            </a:r>
            <a:r>
              <a:rPr lang="en-US" altLang="zh-CN" sz="1800" b="1" dirty="0">
                <a:ea typeface="宋体" panose="02010600030101010101" pitchFamily="2" charset="-122"/>
              </a:rPr>
              <a:t>1</a:t>
            </a:r>
            <a:r>
              <a:rPr lang="zh-CN" altLang="en-US" sz="1800" b="1" dirty="0">
                <a:ea typeface="宋体" panose="02010600030101010101" pitchFamily="2" charset="-122"/>
              </a:rPr>
              <a:t>）中得到的代码构造流图</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3</a:t>
            </a:r>
            <a:r>
              <a:rPr lang="zh-CN" altLang="en-US" sz="1800" b="1" dirty="0">
                <a:ea typeface="宋体" panose="02010600030101010101" pitchFamily="2" charset="-122"/>
              </a:rPr>
              <a:t>）找出在</a:t>
            </a:r>
            <a:r>
              <a:rPr lang="en-US" altLang="zh-CN" sz="1800" b="1" dirty="0">
                <a:ea typeface="宋体" panose="02010600030101010101" pitchFamily="2" charset="-122"/>
              </a:rPr>
              <a:t>2</a:t>
            </a:r>
            <a:r>
              <a:rPr lang="zh-CN" altLang="en-US" sz="1800" b="1" dirty="0">
                <a:ea typeface="宋体" panose="02010600030101010101" pitchFamily="2" charset="-122"/>
              </a:rPr>
              <a:t>）中得到的流图的循环</a:t>
            </a:r>
            <a:endParaRPr lang="en-US" altLang="zh-CN" sz="1800" b="1" dirty="0">
              <a:ea typeface="宋体" panose="02010600030101010101" pitchFamily="2" charset="-122"/>
            </a:endParaRPr>
          </a:p>
          <a:p>
            <a:pPr marL="400050" lvl="1" indent="0">
              <a:buNone/>
            </a:pPr>
            <a:endParaRPr lang="en-US" altLang="zh-CN" sz="1800" b="1" dirty="0">
              <a:ea typeface="宋体" panose="02010600030101010101" pitchFamily="2" charset="-122"/>
            </a:endParaRPr>
          </a:p>
          <a:p>
            <a:pPr marL="400050" lvl="1" indent="0">
              <a:buNone/>
            </a:pPr>
            <a:endParaRPr lang="en-US" altLang="zh-CN" sz="1800" b="1" dirty="0">
              <a:ea typeface="宋体" panose="02010600030101010101" pitchFamily="2" charset="-122"/>
            </a:endParaRPr>
          </a:p>
          <a:p>
            <a:pPr marL="400050" lvl="1" indent="0">
              <a:buNone/>
            </a:pPr>
            <a:endParaRPr lang="en-US" altLang="zh-CN" sz="1800" b="1" dirty="0">
              <a:ea typeface="宋体" panose="02010600030101010101" pitchFamily="2" charset="-122"/>
            </a:endParaRPr>
          </a:p>
          <a:p>
            <a:pPr marL="400050" lvl="1" indent="0">
              <a:buNone/>
            </a:pPr>
            <a:endParaRPr lang="en-US" altLang="zh-CN" sz="1800" b="1" dirty="0">
              <a:ea typeface="宋体" panose="02010600030101010101" pitchFamily="2" charset="-122"/>
            </a:endParaRPr>
          </a:p>
          <a:p>
            <a:pPr marL="400050" lvl="1" indent="0">
              <a:buNone/>
            </a:pPr>
            <a:endParaRPr lang="en-US" altLang="zh-CN" sz="1800" b="1" dirty="0">
              <a:ea typeface="宋体" panose="02010600030101010101" pitchFamily="2" charset="-122"/>
            </a:endParaRPr>
          </a:p>
          <a:p>
            <a:pPr marL="495300" indent="-495300"/>
            <a:r>
              <a:rPr lang="en-US" altLang="zh-CN" sz="2000" b="1" dirty="0">
                <a:ea typeface="宋体" panose="02010600030101010101" pitchFamily="2" charset="-122"/>
              </a:rPr>
              <a:t>8.5.1&amp;2</a:t>
            </a:r>
            <a:r>
              <a:rPr lang="zh-CN" altLang="en-US" sz="2000" b="1" dirty="0">
                <a:ea typeface="宋体" panose="02010600030101010101" pitchFamily="2" charset="-122"/>
              </a:rPr>
              <a:t>：为下面的基本块构造</a:t>
            </a:r>
            <a:r>
              <a:rPr lang="en-US" altLang="zh-CN" sz="2000" b="1" dirty="0">
                <a:ea typeface="宋体" panose="02010600030101010101" pitchFamily="2" charset="-122"/>
              </a:rPr>
              <a:t>DAG</a:t>
            </a:r>
            <a:r>
              <a:rPr lang="zh-CN" altLang="en-US" sz="2000" b="1" dirty="0">
                <a:ea typeface="宋体" panose="02010600030101010101" pitchFamily="2" charset="-122"/>
              </a:rPr>
              <a:t>，并假设只有</a:t>
            </a:r>
            <a:r>
              <a:rPr lang="en-US" altLang="zh-CN" sz="2000" b="1" dirty="0">
                <a:ea typeface="宋体" panose="02010600030101010101" pitchFamily="2" charset="-122"/>
              </a:rPr>
              <a:t>a</a:t>
            </a:r>
            <a:r>
              <a:rPr lang="zh-CN" altLang="en-US" sz="2000" b="1" dirty="0">
                <a:ea typeface="宋体" panose="02010600030101010101" pitchFamily="2" charset="-122"/>
              </a:rPr>
              <a:t>在基本块出口活跃，简化下述三地址代码</a:t>
            </a:r>
            <a:endParaRPr lang="en-US" altLang="zh-CN" sz="2000" b="1" dirty="0">
              <a:ea typeface="宋体" panose="02010600030101010101" pitchFamily="2" charset="-122"/>
            </a:endParaRPr>
          </a:p>
          <a:p>
            <a:pPr marL="400050" lvl="1" indent="0">
              <a:buNone/>
            </a:pPr>
            <a:r>
              <a:rPr lang="en-US" altLang="zh-CN" sz="1800" b="1" dirty="0">
                <a:ea typeface="宋体" panose="02010600030101010101" pitchFamily="2" charset="-122"/>
              </a:rPr>
              <a:t>d</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b + c</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e</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a + b</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b</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b * c</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a</a:t>
            </a:r>
            <a:r>
              <a:rPr lang="zh-CN" altLang="en-US" sz="1800" b="1" dirty="0">
                <a:ea typeface="宋体" panose="02010600030101010101" pitchFamily="2" charset="-122"/>
              </a:rPr>
              <a:t> </a:t>
            </a:r>
            <a:r>
              <a:rPr lang="en-US" altLang="zh-CN" sz="1800" b="1" dirty="0">
                <a:ea typeface="宋体" panose="02010600030101010101" pitchFamily="2" charset="-122"/>
              </a:rPr>
              <a:t>=</a:t>
            </a:r>
            <a:r>
              <a:rPr lang="zh-CN" altLang="en-US" sz="1800" b="1" dirty="0">
                <a:ea typeface="宋体" panose="02010600030101010101" pitchFamily="2" charset="-122"/>
              </a:rPr>
              <a:t> </a:t>
            </a:r>
            <a:r>
              <a:rPr lang="en-US" altLang="zh-CN" sz="1800" b="1" dirty="0">
                <a:ea typeface="宋体" panose="02010600030101010101" pitchFamily="2" charset="-122"/>
              </a:rPr>
              <a:t>e - d</a:t>
            </a:r>
            <a:endParaRPr lang="en-US" altLang="zh-CN" sz="1800" b="1" dirty="0">
              <a:ea typeface="宋体" panose="02010600030101010101" pitchFamily="2" charset="-122"/>
            </a:endParaRPr>
          </a:p>
        </p:txBody>
      </p:sp>
      <p:pic>
        <p:nvPicPr>
          <p:cNvPr id="474116" name="Picture 2"/>
          <p:cNvPicPr>
            <a:picLocks noChangeAspect="1"/>
          </p:cNvPicPr>
          <p:nvPr/>
        </p:nvPicPr>
        <p:blipFill>
          <a:blip r:embed="rId1"/>
          <a:stretch>
            <a:fillRect/>
          </a:stretch>
        </p:blipFill>
        <p:spPr>
          <a:xfrm>
            <a:off x="592138" y="3063875"/>
            <a:ext cx="8188325" cy="1660525"/>
          </a:xfrm>
          <a:prstGeom prst="rect">
            <a:avLst/>
          </a:prstGeom>
          <a:noFill/>
          <a:ln w="9525">
            <a:noFill/>
          </a:ln>
        </p:spPr>
      </p:pic>
    </p:spTree>
  </p:cSld>
  <p:clrMapOvr>
    <a:masterClrMapping/>
  </p:clrMapOvr>
  <p:transition spd="slow"/>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6162" name="Picture 4"/>
          <p:cNvPicPr>
            <a:picLocks noChangeAspect="1"/>
          </p:cNvPicPr>
          <p:nvPr/>
        </p:nvPicPr>
        <p:blipFill>
          <a:blip r:embed="rId1"/>
          <a:stretch>
            <a:fillRect/>
          </a:stretch>
        </p:blipFill>
        <p:spPr>
          <a:xfrm>
            <a:off x="2843213" y="1700213"/>
            <a:ext cx="4583112" cy="4029075"/>
          </a:xfrm>
          <a:prstGeom prst="rect">
            <a:avLst/>
          </a:prstGeom>
          <a:noFill/>
          <a:ln w="22225">
            <a:noFill/>
          </a:ln>
        </p:spPr>
      </p:pic>
      <p:sp>
        <p:nvSpPr>
          <p:cNvPr id="476163" name="Rectangle 2"/>
          <p:cNvSpPr>
            <a:spLocks noGrp="1"/>
          </p:cNvSpPr>
          <p:nvPr>
            <p:ph type="title"/>
          </p:nvPr>
        </p:nvSpPr>
        <p:spPr/>
        <p:txBody>
          <a:bodyPr vert="horz" wrap="square" lIns="92075" tIns="46038" rIns="92075" bIns="46038" anchor="ctr" anchorCtr="0"/>
          <a:p>
            <a:r>
              <a:rPr lang="zh-CN" altLang="en-US" dirty="0">
                <a:ea typeface="宋体" panose="02010600030101010101" pitchFamily="2" charset="-122"/>
              </a:rPr>
              <a:t>作业三</a:t>
            </a:r>
            <a:endParaRPr lang="zh-CN" altLang="en-US" dirty="0">
              <a:ea typeface="宋体" panose="02010600030101010101" pitchFamily="2" charset="-122"/>
            </a:endParaRPr>
          </a:p>
        </p:txBody>
      </p:sp>
      <p:sp>
        <p:nvSpPr>
          <p:cNvPr id="476164" name="Rectangle 3"/>
          <p:cNvSpPr>
            <a:spLocks noGrp="1"/>
          </p:cNvSpPr>
          <p:nvPr>
            <p:ph idx="1"/>
          </p:nvPr>
        </p:nvSpPr>
        <p:spPr>
          <a:xfrm>
            <a:off x="990600" y="1524000"/>
            <a:ext cx="7391400" cy="4724400"/>
          </a:xfrm>
        </p:spPr>
        <p:txBody>
          <a:bodyPr vert="horz" wrap="square" lIns="92075" tIns="46038" rIns="92075" bIns="46038" anchor="t" anchorCtr="0"/>
          <a:p>
            <a:pPr>
              <a:buFontTx/>
              <a:buAutoNum type="arabicPeriod"/>
            </a:pPr>
            <a:r>
              <a:rPr lang="zh-CN" altLang="en-US" sz="1600" b="1" dirty="0">
                <a:ea typeface="宋体" panose="02010600030101010101" pitchFamily="2" charset="-122"/>
              </a:rPr>
              <a:t>对右面的流图，计算：</a:t>
            </a:r>
            <a:endParaRPr lang="en-US" altLang="zh-CN" sz="1600" b="1" dirty="0">
              <a:ea typeface="宋体" panose="02010600030101010101" pitchFamily="2" charset="-122"/>
            </a:endParaRPr>
          </a:p>
          <a:p>
            <a:pPr marL="457200" lvl="1" indent="0">
              <a:buNone/>
            </a:pPr>
            <a:r>
              <a:rPr lang="en-US" altLang="zh-CN" sz="1400" b="1" dirty="0">
                <a:ea typeface="宋体" panose="02010600030101010101" pitchFamily="2" charset="-122"/>
              </a:rPr>
              <a:t>(a) ud</a:t>
            </a:r>
            <a:r>
              <a:rPr lang="zh-CN" altLang="en-US" sz="1400" b="1" dirty="0">
                <a:ea typeface="宋体" panose="02010600030101010101" pitchFamily="2" charset="-122"/>
              </a:rPr>
              <a:t>链和</a:t>
            </a:r>
            <a:r>
              <a:rPr lang="en-US" altLang="zh-CN" sz="1400" b="1" dirty="0">
                <a:ea typeface="宋体" panose="02010600030101010101" pitchFamily="2" charset="-122"/>
              </a:rPr>
              <a:t>du</a:t>
            </a:r>
            <a:r>
              <a:rPr lang="zh-CN" altLang="en-US" sz="1400" b="1" dirty="0">
                <a:ea typeface="宋体" panose="02010600030101010101" pitchFamily="2" charset="-122"/>
              </a:rPr>
              <a:t>链</a:t>
            </a:r>
            <a:endParaRPr lang="en-US" altLang="zh-CN" sz="1400" b="1" dirty="0">
              <a:ea typeface="宋体" panose="02010600030101010101" pitchFamily="2" charset="-122"/>
            </a:endParaRPr>
          </a:p>
          <a:p>
            <a:pPr marL="457200" lvl="1" indent="0">
              <a:buNone/>
            </a:pPr>
            <a:r>
              <a:rPr lang="en-US" altLang="zh-CN" sz="1400" b="1" dirty="0">
                <a:ea typeface="宋体" panose="02010600030101010101" pitchFamily="2" charset="-122"/>
              </a:rPr>
              <a:t>(b) </a:t>
            </a:r>
            <a:r>
              <a:rPr lang="zh-CN" altLang="en-US" sz="1400" b="1" dirty="0">
                <a:ea typeface="宋体" panose="02010600030101010101" pitchFamily="2" charset="-122"/>
              </a:rPr>
              <a:t>每块末尾的活跃变量</a:t>
            </a:r>
            <a:endParaRPr lang="en-US" altLang="zh-CN" sz="1400" b="1" dirty="0">
              <a:ea typeface="宋体" panose="02010600030101010101" pitchFamily="2" charset="-122"/>
            </a:endParaRPr>
          </a:p>
          <a:p>
            <a:pPr marL="457200" lvl="1" indent="0">
              <a:buNone/>
            </a:pPr>
            <a:r>
              <a:rPr lang="en-US" altLang="zh-CN" sz="1400" b="1" dirty="0">
                <a:ea typeface="宋体" panose="02010600030101010101" pitchFamily="2" charset="-122"/>
              </a:rPr>
              <a:t>(c)  </a:t>
            </a:r>
            <a:r>
              <a:rPr lang="zh-CN" altLang="en-US" sz="1400" b="1" dirty="0">
                <a:ea typeface="宋体" panose="02010600030101010101" pitchFamily="2" charset="-122"/>
              </a:rPr>
              <a:t>可用表达式</a:t>
            </a:r>
            <a:endParaRPr lang="en-US" altLang="zh-CN" sz="1400" b="1" dirty="0">
              <a:ea typeface="宋体" panose="02010600030101010101" pitchFamily="2" charset="-122"/>
            </a:endParaRPr>
          </a:p>
        </p:txBody>
      </p:sp>
    </p:spTree>
  </p:cSld>
  <p:clrMapOvr>
    <a:masterClrMapping/>
  </p:clrMapOvr>
  <p:transition spd="slow"/>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82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作业四</a:t>
            </a:r>
            <a:endParaRPr lang="zh-CN" altLang="en-US" dirty="0">
              <a:latin typeface="Times New Roman" panose="02020603050405020304" pitchFamily="18" charset="0"/>
              <a:ea typeface="宋体" panose="02010600030101010101" pitchFamily="2" charset="-122"/>
            </a:endParaRPr>
          </a:p>
        </p:txBody>
      </p:sp>
      <p:sp>
        <p:nvSpPr>
          <p:cNvPr id="478211" name="Rectangle 3"/>
          <p:cNvSpPr>
            <a:spLocks noGrp="1"/>
          </p:cNvSpPr>
          <p:nvPr>
            <p:ph idx="1"/>
          </p:nvPr>
        </p:nvSpPr>
        <p:spPr>
          <a:xfrm>
            <a:off x="539750" y="1371600"/>
            <a:ext cx="8064500" cy="5029200"/>
          </a:xfrm>
        </p:spPr>
        <p:txBody>
          <a:bodyPr vert="horz" wrap="square" lIns="92075" tIns="46038" rIns="92075" bIns="46038" anchor="t" anchorCtr="0"/>
          <a:p>
            <a:pPr marL="495300" indent="-495300"/>
            <a:r>
              <a:rPr lang="en-US" altLang="zh-CN" sz="2000" b="1" dirty="0">
                <a:ea typeface="宋体" panose="02010600030101010101" pitchFamily="2" charset="-122"/>
              </a:rPr>
              <a:t>8.6.1</a:t>
            </a:r>
            <a:r>
              <a:rPr lang="zh-CN" altLang="en-US" sz="2000" b="1" dirty="0">
                <a:ea typeface="宋体" panose="02010600030101010101" pitchFamily="2" charset="-122"/>
              </a:rPr>
              <a:t>：为下面的每个</a:t>
            </a:r>
            <a:r>
              <a:rPr lang="en-US" altLang="zh-CN" sz="2000" b="1" dirty="0">
                <a:ea typeface="宋体" panose="02010600030101010101" pitchFamily="2" charset="-122"/>
              </a:rPr>
              <a:t>C</a:t>
            </a:r>
            <a:r>
              <a:rPr lang="zh-CN" altLang="en-US" sz="2000" b="1" dirty="0">
                <a:ea typeface="宋体" panose="02010600030101010101" pitchFamily="2" charset="-122"/>
              </a:rPr>
              <a:t>语言复制语句生成三地址代码：只做</a:t>
            </a:r>
            <a:r>
              <a:rPr lang="en-US" altLang="zh-CN" sz="2000" b="1" dirty="0">
                <a:ea typeface="宋体" panose="02010600030101010101" pitchFamily="2" charset="-122"/>
              </a:rPr>
              <a:t>1,4,6</a:t>
            </a:r>
            <a:endParaRPr lang="en-US" altLang="zh-CN" sz="2000" b="1" dirty="0">
              <a:ea typeface="宋体" panose="02010600030101010101" pitchFamily="2" charset="-122"/>
            </a:endParaRPr>
          </a:p>
          <a:p>
            <a:pPr marL="400050" lvl="1" indent="0">
              <a:buNone/>
            </a:pPr>
            <a:r>
              <a:rPr lang="en-US" altLang="zh-CN" sz="1800" b="1" dirty="0">
                <a:ea typeface="宋体" panose="02010600030101010101" pitchFamily="2" charset="-122"/>
              </a:rPr>
              <a:t>1</a:t>
            </a:r>
            <a:r>
              <a:rPr lang="zh-CN" altLang="en-US" sz="1800" b="1" dirty="0">
                <a:ea typeface="宋体" panose="02010600030101010101" pitchFamily="2" charset="-122"/>
              </a:rPr>
              <a:t>）</a:t>
            </a:r>
            <a:r>
              <a:rPr lang="en-US" altLang="zh-CN" sz="1800" b="1" dirty="0">
                <a:ea typeface="宋体" panose="02010600030101010101" pitchFamily="2" charset="-122"/>
              </a:rPr>
              <a:t>x = a + b * c;</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4</a:t>
            </a:r>
            <a:r>
              <a:rPr lang="zh-CN" altLang="en-US" sz="1800" b="1" dirty="0">
                <a:ea typeface="宋体" panose="02010600030101010101" pitchFamily="2" charset="-122"/>
              </a:rPr>
              <a:t>）</a:t>
            </a:r>
            <a:r>
              <a:rPr lang="en-US" altLang="zh-CN" sz="1800" b="1" dirty="0">
                <a:ea typeface="宋体" panose="02010600030101010101" pitchFamily="2" charset="-122"/>
              </a:rPr>
              <a:t>a [ i ] = b [ c [ i ] ];</a:t>
            </a:r>
            <a:endParaRPr lang="en-US" altLang="zh-CN" sz="1800" b="1" dirty="0">
              <a:ea typeface="宋体" panose="02010600030101010101" pitchFamily="2" charset="-122"/>
            </a:endParaRPr>
          </a:p>
          <a:p>
            <a:pPr marL="400050" lvl="1" indent="0">
              <a:buNone/>
            </a:pPr>
            <a:r>
              <a:rPr lang="en-US" altLang="zh-CN" sz="1800" b="1" dirty="0">
                <a:ea typeface="宋体" panose="02010600030101010101" pitchFamily="2" charset="-122"/>
              </a:rPr>
              <a:t>6</a:t>
            </a:r>
            <a:r>
              <a:rPr lang="zh-CN" altLang="en-US" sz="1800" b="1" dirty="0">
                <a:ea typeface="宋体" panose="02010600030101010101" pitchFamily="2" charset="-122"/>
              </a:rPr>
              <a:t>）</a:t>
            </a:r>
            <a:r>
              <a:rPr lang="en-US" altLang="zh-CN" sz="1800" b="1" dirty="0">
                <a:ea typeface="宋体" panose="02010600030101010101" pitchFamily="2" charset="-122"/>
              </a:rPr>
              <a:t>*p++ = *q++</a:t>
            </a:r>
            <a:endParaRPr lang="en-US" altLang="zh-CN" sz="1800" b="1" dirty="0">
              <a:ea typeface="宋体" panose="02010600030101010101" pitchFamily="2" charset="-122"/>
            </a:endParaRPr>
          </a:p>
          <a:p>
            <a:pPr marL="495300" indent="-495300"/>
            <a:r>
              <a:rPr lang="en-US" altLang="zh-CN" sz="2000" b="1" dirty="0">
                <a:ea typeface="宋体" panose="02010600030101010101" pitchFamily="2" charset="-122"/>
              </a:rPr>
              <a:t>8.8.1</a:t>
            </a:r>
            <a:r>
              <a:rPr lang="zh-CN" altLang="en-US" sz="2000" b="1" dirty="0">
                <a:ea typeface="宋体" panose="02010600030101010101" pitchFamily="2" charset="-122"/>
              </a:rPr>
              <a:t>：为图</a:t>
            </a:r>
            <a:r>
              <a:rPr lang="en-US" altLang="zh-CN" sz="2000" b="1" dirty="0">
                <a:ea typeface="宋体" panose="02010600030101010101" pitchFamily="2" charset="-122"/>
              </a:rPr>
              <a:t>8-17</a:t>
            </a:r>
            <a:r>
              <a:rPr lang="zh-CN" altLang="en-US" sz="2000" b="1" dirty="0">
                <a:ea typeface="宋体" panose="02010600030101010101" pitchFamily="2" charset="-122"/>
              </a:rPr>
              <a:t>的程序构造寄存器冲突图（干涉图）</a:t>
            </a:r>
            <a:endParaRPr lang="en-US" altLang="zh-CN" sz="1800" b="1" dirty="0">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46353</Words>
  <Application>WPS 演示</Application>
  <PresentationFormat>全屏显示(4:3)</PresentationFormat>
  <Paragraphs>3292</Paragraphs>
  <Slides>235</Slides>
  <Notes>230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26</vt:i4>
      </vt:variant>
      <vt:variant>
        <vt:lpstr>幻灯片标题</vt:lpstr>
      </vt:variant>
      <vt:variant>
        <vt:i4>235</vt:i4>
      </vt:variant>
    </vt:vector>
  </HeadingPairs>
  <TitlesOfParts>
    <vt:vector size="278" baseType="lpstr">
      <vt:lpstr>Arial</vt:lpstr>
      <vt:lpstr>宋体</vt:lpstr>
      <vt:lpstr>Wingdings</vt:lpstr>
      <vt:lpstr>Times New Roman</vt:lpstr>
      <vt:lpstr>Tahoma</vt:lpstr>
      <vt:lpstr>Book Antiqua</vt:lpstr>
      <vt:lpstr>Monotype Sorts</vt:lpstr>
      <vt:lpstr>Wingdings</vt:lpstr>
      <vt:lpstr>微软雅黑</vt:lpstr>
      <vt:lpstr>Arial Unicode MS</vt:lpstr>
      <vt:lpstr>System</vt:lpstr>
      <vt:lpstr>Segoe Print</vt:lpstr>
      <vt:lpstr>Symbol</vt:lpstr>
      <vt:lpstr>黑体</vt:lpstr>
      <vt:lpstr>华文新魏</vt:lpstr>
      <vt:lpstr>仿宋_GB2312</vt:lpstr>
      <vt:lpstr>ibm0325</vt:lpstr>
      <vt:lpstr>Visio.Drawing.5</vt:lpstr>
      <vt:lpstr>Equation.3</vt:lpstr>
      <vt:lpstr>Visio.Drawing.4</vt:lpstr>
      <vt:lpstr>Equation.3</vt:lpstr>
      <vt:lpstr>Equation.3</vt:lpstr>
      <vt:lpstr>Equation.3</vt:lpstr>
      <vt:lpstr>Visio.Drawing.4</vt:lpstr>
      <vt:lpstr>Visio.Drawing.4</vt:lpstr>
      <vt:lpstr>Visio.Drawing.4</vt:lpstr>
      <vt:lpstr>Visio.Drawing.4</vt:lpstr>
      <vt:lpstr>Equation.3</vt:lpstr>
      <vt:lpstr>Visio.Drawing.4</vt:lpstr>
      <vt:lpstr>Visio.Drawing.11</vt:lpstr>
      <vt:lpstr>Visio.Drawing.4</vt:lpstr>
      <vt:lpstr>Visio.Drawing.4</vt:lpstr>
      <vt:lpstr>Visio.Drawing.4</vt:lpstr>
      <vt:lpstr>Visio.Drawing.4</vt:lpstr>
      <vt:lpstr>Visio.Drawing.4</vt:lpstr>
      <vt:lpstr>Word.Picture.8</vt:lpstr>
      <vt:lpstr>Equation.3</vt:lpstr>
      <vt:lpstr>Equation.3</vt:lpstr>
      <vt:lpstr>Equation.3</vt:lpstr>
      <vt:lpstr>Equation.3</vt:lpstr>
      <vt:lpstr>Visio.Drawing.4</vt:lpstr>
      <vt:lpstr>Visio.Drawing.4</vt:lpstr>
      <vt:lpstr>Visio.Drawing.4</vt:lpstr>
      <vt:lpstr>第八章	代码生成和优化</vt:lpstr>
      <vt:lpstr>代码生成器的位置</vt:lpstr>
      <vt:lpstr>第八章	代码生成和优化</vt:lpstr>
      <vt:lpstr>代码生成器设计中的问题</vt:lpstr>
      <vt:lpstr>代码生成器的输入</vt:lpstr>
      <vt:lpstr>目标程序（1）</vt:lpstr>
      <vt:lpstr>目标程序（2）</vt:lpstr>
      <vt:lpstr>指令选择（1）</vt:lpstr>
      <vt:lpstr>指令选择（2）</vt:lpstr>
      <vt:lpstr>指令选择（3）</vt:lpstr>
      <vt:lpstr>寄存器分配</vt:lpstr>
      <vt:lpstr>寄存器分配（续）</vt:lpstr>
      <vt:lpstr>PowerPoint 演示文稿</vt:lpstr>
      <vt:lpstr>求值顺序</vt:lpstr>
      <vt:lpstr>第八章	代码生成和优化</vt:lpstr>
      <vt:lpstr>目标语言</vt:lpstr>
      <vt:lpstr>一个简单的目标机模型（1）</vt:lpstr>
      <vt:lpstr>一个简单的目标机模型（2）</vt:lpstr>
      <vt:lpstr>一个简单的目标机模型（3）</vt:lpstr>
      <vt:lpstr>一个简单的目标机模型（4）</vt:lpstr>
      <vt:lpstr>一个简单的目标机模型（5）</vt:lpstr>
      <vt:lpstr>一个简单的目标机模型（6）</vt:lpstr>
      <vt:lpstr>一个简单的目标机模型（7）</vt:lpstr>
      <vt:lpstr>程序和指令的代价（1）</vt:lpstr>
      <vt:lpstr>程序和指令的代价（2）</vt:lpstr>
      <vt:lpstr>第八章	代码生成和优化</vt:lpstr>
      <vt:lpstr>目标代码中的地址</vt:lpstr>
      <vt:lpstr>静态分配管理</vt:lpstr>
      <vt:lpstr>静态存储管理的例子</vt:lpstr>
      <vt:lpstr>PowerPoint 演示文稿</vt:lpstr>
      <vt:lpstr>栈式分配管理（1）</vt:lpstr>
      <vt:lpstr>栈式分配管理（2）</vt:lpstr>
      <vt:lpstr>栈式分配管理（续）</vt:lpstr>
      <vt:lpstr>栈式分配管理的例子</vt:lpstr>
      <vt:lpstr>PowerPoint 演示文稿</vt:lpstr>
      <vt:lpstr>名字的运行时刻地址</vt:lpstr>
      <vt:lpstr>第八章	代码生成和优化</vt:lpstr>
      <vt:lpstr>程序分析技术（1）</vt:lpstr>
      <vt:lpstr>程序分析技术（2）</vt:lpstr>
      <vt:lpstr>程序分析技术（3）</vt:lpstr>
      <vt:lpstr>程序分析技术（4）</vt:lpstr>
      <vt:lpstr>流分析</vt:lpstr>
      <vt:lpstr>第八章	代码生成和优化</vt:lpstr>
      <vt:lpstr>基本块和流图</vt:lpstr>
      <vt:lpstr>基本块（１）</vt:lpstr>
      <vt:lpstr>基本块（2）</vt:lpstr>
      <vt:lpstr>基本块（3）</vt:lpstr>
      <vt:lpstr>PowerPoint 演示文稿</vt:lpstr>
      <vt:lpstr>后续使用信息（1）</vt:lpstr>
      <vt:lpstr>后续使用信息（2）</vt:lpstr>
      <vt:lpstr>后续使用信息（3）</vt:lpstr>
      <vt:lpstr>基本块的优化</vt:lpstr>
      <vt:lpstr>基本块的DAG表示的例子</vt:lpstr>
      <vt:lpstr>DAG的应用</vt:lpstr>
      <vt:lpstr>寻找局部公共子表达式（1）</vt:lpstr>
      <vt:lpstr>寻找局部公共子表达式（2）</vt:lpstr>
      <vt:lpstr>寻找局部公共子表达式（3）</vt:lpstr>
      <vt:lpstr>消除死代码</vt:lpstr>
      <vt:lpstr>代数恒等式的使用（1）</vt:lpstr>
      <vt:lpstr>代数恒等式的使用（2）</vt:lpstr>
      <vt:lpstr>代数恒等式的使用（3）</vt:lpstr>
      <vt:lpstr>数组引用的表示（1）</vt:lpstr>
      <vt:lpstr>数组引用的表示（2）</vt:lpstr>
      <vt:lpstr>数组引用的表示（3）</vt:lpstr>
      <vt:lpstr>指针赋值和过程调用</vt:lpstr>
      <vt:lpstr>从DAG到基本块的重组（1）</vt:lpstr>
      <vt:lpstr>从DAG到基本块的重组（2）</vt:lpstr>
      <vt:lpstr>从DAG到基本块的重组（3）</vt:lpstr>
      <vt:lpstr>第八章	代码生成和优化</vt:lpstr>
      <vt:lpstr>控制流图（1）</vt:lpstr>
      <vt:lpstr>控制流图（2）</vt:lpstr>
      <vt:lpstr>控制流图的表示方式</vt:lpstr>
      <vt:lpstr>流图的遍历</vt:lpstr>
      <vt:lpstr>深度优先遍历的例子</vt:lpstr>
      <vt:lpstr>深度优先搜索树</vt:lpstr>
      <vt:lpstr>求深度优先序的算法</vt:lpstr>
      <vt:lpstr>深度优先序</vt:lpstr>
      <vt:lpstr>控制结点（1）</vt:lpstr>
      <vt:lpstr>控制结点（2）</vt:lpstr>
      <vt:lpstr>求控制结点的算法</vt:lpstr>
      <vt:lpstr>求控制结点的例子</vt:lpstr>
      <vt:lpstr>控制树</vt:lpstr>
      <vt:lpstr>后控制结点</vt:lpstr>
      <vt:lpstr>循环（1）</vt:lpstr>
      <vt:lpstr>循环（2）</vt:lpstr>
      <vt:lpstr>寻找循环的算法</vt:lpstr>
      <vt:lpstr>寻找循环的例子</vt:lpstr>
      <vt:lpstr>循环的性质</vt:lpstr>
      <vt:lpstr>前置结点</vt:lpstr>
      <vt:lpstr>可归约流图和不可归约流图</vt:lpstr>
      <vt:lpstr>可归约流图的性质</vt:lpstr>
      <vt:lpstr>过程间的控制流图：调用图</vt:lpstr>
      <vt:lpstr>数据流分析基础</vt:lpstr>
      <vt:lpstr>数据流分析的例子</vt:lpstr>
      <vt:lpstr>数据流分析基础（续）</vt:lpstr>
      <vt:lpstr>数据流分析的原则</vt:lpstr>
      <vt:lpstr>过程内数据流分析（1）</vt:lpstr>
      <vt:lpstr>过程内数据流分析（2）</vt:lpstr>
      <vt:lpstr>到达-定值</vt:lpstr>
      <vt:lpstr>到达-定值的例子</vt:lpstr>
      <vt:lpstr>到达-定值的数据流方程</vt:lpstr>
      <vt:lpstr>到达-定值的数据流方程迭代算法</vt:lpstr>
      <vt:lpstr>到达-定值的迭代算法的讨论</vt:lpstr>
      <vt:lpstr>到达-定值的迭代算法的例子</vt:lpstr>
      <vt:lpstr>到达-定值的迭代算法的例子的解</vt:lpstr>
      <vt:lpstr>迭代法的一般形式</vt:lpstr>
      <vt:lpstr>可用表达式</vt:lpstr>
      <vt:lpstr>例子</vt:lpstr>
      <vt:lpstr>可用表达式计算的非形式化描述</vt:lpstr>
      <vt:lpstr>可用表达式计算的例子</vt:lpstr>
      <vt:lpstr>可用表达式的数据流方程</vt:lpstr>
      <vt:lpstr>可用表达式的数据流方程 与到达—定值数据流方程的比较</vt:lpstr>
      <vt:lpstr>可用表达式数据流方程求解的例子</vt:lpstr>
      <vt:lpstr>可用表达式算法</vt:lpstr>
      <vt:lpstr>活跃变量分析</vt:lpstr>
      <vt:lpstr>活跃变量数据流方程</vt:lpstr>
      <vt:lpstr>活跃变量分析的算法</vt:lpstr>
      <vt:lpstr>处理更复杂的数据类型（1）</vt:lpstr>
      <vt:lpstr>处理更复杂的数据类型（2）</vt:lpstr>
      <vt:lpstr>第八章	代码生成和优化</vt:lpstr>
      <vt:lpstr>公共子表达式</vt:lpstr>
      <vt:lpstr>公共子表达式全局优化的例子</vt:lpstr>
      <vt:lpstr>公共子表达式（续）</vt:lpstr>
      <vt:lpstr>公共子表达式删除的算法</vt:lpstr>
      <vt:lpstr>算法的讨论</vt:lpstr>
      <vt:lpstr>关于临时变量公共子表达式的优化</vt:lpstr>
      <vt:lpstr>复写传播</vt:lpstr>
      <vt:lpstr>复写传播的数据流方程（1）</vt:lpstr>
      <vt:lpstr>复写传播的数据流方程（2）</vt:lpstr>
      <vt:lpstr>复写传播的例子</vt:lpstr>
      <vt:lpstr>复写传播的算法</vt:lpstr>
      <vt:lpstr>寻找循环不变计算</vt:lpstr>
      <vt:lpstr>寻找循环不变计算的算法</vt:lpstr>
      <vt:lpstr>寻找循环不变计算的例子</vt:lpstr>
      <vt:lpstr>代码外提</vt:lpstr>
      <vt:lpstr>非法的代码外提例子（1）</vt:lpstr>
      <vt:lpstr>非法的代码外提例子（2）</vt:lpstr>
      <vt:lpstr>非法的代码外提例子（3）</vt:lpstr>
      <vt:lpstr>代码外提的算法</vt:lpstr>
      <vt:lpstr>代码外提算法的讨论</vt:lpstr>
      <vt:lpstr>代码外提后数据流信息的维护</vt:lpstr>
      <vt:lpstr>归纳变量</vt:lpstr>
      <vt:lpstr>归纳变量识别算法</vt:lpstr>
      <vt:lpstr>归纳变量的例子</vt:lpstr>
      <vt:lpstr>强度削弱</vt:lpstr>
      <vt:lpstr>强度削弱的例子</vt:lpstr>
      <vt:lpstr>强度削弱的算法</vt:lpstr>
      <vt:lpstr>归纳变量删除的算法</vt:lpstr>
      <vt:lpstr>归纳变量删除的算法（续）</vt:lpstr>
      <vt:lpstr>归纳变量删除的例子</vt:lpstr>
      <vt:lpstr>循环不变计算的归纳变量</vt:lpstr>
      <vt:lpstr>第八章	代码生成和优化</vt:lpstr>
      <vt:lpstr>一个简单的代码生成器（1）</vt:lpstr>
      <vt:lpstr>一个简单的代码生成器（2）</vt:lpstr>
      <vt:lpstr>一个简单的代码生成器（3）</vt:lpstr>
      <vt:lpstr>一个简单的代码生成器（4）</vt:lpstr>
      <vt:lpstr>一个简单的代码生成器（5）</vt:lpstr>
      <vt:lpstr>一个简单的代码生成器（6）</vt:lpstr>
      <vt:lpstr>一个简单的代码生成器（7）</vt:lpstr>
      <vt:lpstr>一个简单的代码生成器（8）</vt:lpstr>
      <vt:lpstr>一个简单的代码生成器（9）</vt:lpstr>
      <vt:lpstr>一个简单的代码生成器（10）</vt:lpstr>
      <vt:lpstr>一个简单的代码生成器（11）</vt:lpstr>
      <vt:lpstr>第八章	代码生成和优化</vt:lpstr>
      <vt:lpstr>窥孔优化（peephole optimization）</vt:lpstr>
      <vt:lpstr>消除冗余的加载和保存指令</vt:lpstr>
      <vt:lpstr>消除不可达代码</vt:lpstr>
      <vt:lpstr>控制流优化（1）</vt:lpstr>
      <vt:lpstr>控制流优化（2）</vt:lpstr>
      <vt:lpstr>代数化简和强度消减</vt:lpstr>
      <vt:lpstr>使用机器特有的指令</vt:lpstr>
      <vt:lpstr>第八章	代码生成和优化</vt:lpstr>
      <vt:lpstr>寄存器分配和指派</vt:lpstr>
      <vt:lpstr>简单粗暴的分配方法</vt:lpstr>
      <vt:lpstr>全局寄存器分配</vt:lpstr>
      <vt:lpstr>使用计数法（1）</vt:lpstr>
      <vt:lpstr>使用计数法（2）</vt:lpstr>
      <vt:lpstr>使用计数法（3）</vt:lpstr>
      <vt:lpstr>使用计数法（4）</vt:lpstr>
      <vt:lpstr>利用图着色方法进行寄存器分配</vt:lpstr>
      <vt:lpstr>活跃区间与干涉</vt:lpstr>
      <vt:lpstr>图的着色与寄存器分配</vt:lpstr>
      <vt:lpstr>干涉图的例子</vt:lpstr>
      <vt:lpstr>图着色寄存器分配－Chaitin’s</vt:lpstr>
      <vt:lpstr>极小化活跃区间</vt:lpstr>
      <vt:lpstr>极小化活跃区间</vt:lpstr>
      <vt:lpstr>建干涉图</vt:lpstr>
      <vt:lpstr>计算溢出代价</vt:lpstr>
      <vt:lpstr>图着色寄存器分配－Priority-Based</vt:lpstr>
      <vt:lpstr>第八章	代码生成和优化</vt:lpstr>
      <vt:lpstr>指令选择</vt:lpstr>
      <vt:lpstr>树翻译方案（1）</vt:lpstr>
      <vt:lpstr>树翻译方案（2）</vt:lpstr>
      <vt:lpstr>树翻译方案（3）</vt:lpstr>
      <vt:lpstr>PowerPoint 演示文稿</vt:lpstr>
      <vt:lpstr>通过覆盖一个输入树来生成代码（1）</vt:lpstr>
      <vt:lpstr>通过覆盖一个输入树来生成代码（2）</vt:lpstr>
      <vt:lpstr>通过覆盖一个输入树来生成代码（3）</vt:lpstr>
      <vt:lpstr>通过覆盖一个输入树来生成代码（4）</vt:lpstr>
      <vt:lpstr>通过覆盖一个输入树来生成代码（5）</vt:lpstr>
      <vt:lpstr>通过覆盖一个输入树来生成代码（6）</vt:lpstr>
      <vt:lpstr>通过覆盖一个输入树来生成代码（7）</vt:lpstr>
      <vt:lpstr>通过扫描进行模式匹配（1）</vt:lpstr>
      <vt:lpstr>通过扫描进行模式匹配（2）</vt:lpstr>
      <vt:lpstr>通过扫描进行模式匹配（3）</vt:lpstr>
      <vt:lpstr>用于语义检查的例程</vt:lpstr>
      <vt:lpstr>通用的树匹配方法（1）</vt:lpstr>
      <vt:lpstr>通用的树匹配方法（2）</vt:lpstr>
      <vt:lpstr>通用的树匹配方法（3）</vt:lpstr>
      <vt:lpstr>第八章	代码生成和优化</vt:lpstr>
      <vt:lpstr>程序的依赖关系</vt:lpstr>
      <vt:lpstr>数据依赖关系的定义</vt:lpstr>
      <vt:lpstr>依赖图  </vt:lpstr>
      <vt:lpstr>面向指令调度的依赖图</vt:lpstr>
      <vt:lpstr>依赖图的构造</vt:lpstr>
      <vt:lpstr>依赖图的例子</vt:lpstr>
      <vt:lpstr>指令调度</vt:lpstr>
      <vt:lpstr>指令调度的一般步骤</vt:lpstr>
      <vt:lpstr>指令调度</vt:lpstr>
      <vt:lpstr>局部指令调度算法－表调度</vt:lpstr>
      <vt:lpstr>就绪队列</vt:lpstr>
      <vt:lpstr>操作的调度优先序</vt:lpstr>
      <vt:lpstr>全局的情形：构造区域</vt:lpstr>
      <vt:lpstr>Trace 调度</vt:lpstr>
      <vt:lpstr>Trace 调度：算法</vt:lpstr>
      <vt:lpstr>Superblock 调度</vt:lpstr>
      <vt:lpstr>Hyperblock 调度</vt:lpstr>
      <vt:lpstr>指令调度和寄存器优化的时序问题</vt:lpstr>
      <vt:lpstr>指令调度和寄存器优化的时序问题的例子</vt:lpstr>
      <vt:lpstr>指令调度和寄存器优化的时序问题的例子</vt:lpstr>
      <vt:lpstr>指令调度和寄存器优化的时序问题（续）</vt:lpstr>
      <vt:lpstr>作业一</vt:lpstr>
      <vt:lpstr>作业二</vt:lpstr>
      <vt:lpstr>作业三</vt:lpstr>
      <vt:lpstr>作业四</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781</cp:revision>
  <cp:lastPrinted>2000-08-04T00:01:00Z</cp:lastPrinted>
  <dcterms:created xsi:type="dcterms:W3CDTF">1999-10-09T18:48:00Z</dcterms:created>
  <dcterms:modified xsi:type="dcterms:W3CDTF">2026-06-11T08:56:37Z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5F7D89936C104A319ED20D6ABB062773_13</vt:lpwstr>
  </property>
  <property fmtid="{D5CDD505-2E9C-101B-9397-08002B2CF9AE}" pid="3" name="KSOProductBuildVer">
    <vt:lpwstr>2052-12.1.0.23542</vt:lpwstr>
  </property>
</Properties>
</file>