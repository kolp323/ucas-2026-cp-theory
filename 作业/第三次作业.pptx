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lvl1pPr lvl="0" algn="l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/>
        <a:ea typeface="+mn-ea"/>
      </a:defRPr>
    </a:lvl1pPr>
    <a:lvl2pPr marL="457200" lvl="1" algn="l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/>
        <a:ea typeface="+mn-ea"/>
      </a:defRPr>
    </a:lvl2pPr>
    <a:lvl3pPr marL="914400" lvl="2" algn="l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/>
        <a:ea typeface="+mn-ea"/>
      </a:defRPr>
    </a:lvl3pPr>
    <a:lvl4pPr marL="1371600" lvl="3" algn="l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/>
        <a:ea typeface="+mn-ea"/>
      </a:defRPr>
    </a:lvl4pPr>
    <a:lvl5pPr marL="1828800" lvl="4" algn="l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/>
        <a:ea typeface="+mn-ea"/>
      </a:defRPr>
    </a:lvl5pPr>
    <a:lvl6pPr marL="2286000" lvl="5" algn="l" defTabSz="914400">
      <a:defRPr sz="2400" kern="1200">
        <a:solidFill>
          <a:schemeClr val="tx1"/>
        </a:solidFill>
        <a:latin typeface="Times New Roman" panose="02020603050405020304"/>
        <a:ea typeface="+mn-ea"/>
      </a:defRPr>
    </a:lvl6pPr>
    <a:lvl7pPr marL="2743200" lvl="6" algn="l" defTabSz="914400">
      <a:defRPr sz="2400" kern="1200">
        <a:solidFill>
          <a:schemeClr val="tx1"/>
        </a:solidFill>
        <a:latin typeface="Times New Roman" panose="02020603050405020304"/>
        <a:ea typeface="+mn-ea"/>
      </a:defRPr>
    </a:lvl7pPr>
    <a:lvl8pPr marL="3200400" lvl="7" algn="l" defTabSz="914400">
      <a:defRPr sz="2400" kern="1200">
        <a:solidFill>
          <a:schemeClr val="tx1"/>
        </a:solidFill>
        <a:latin typeface="Times New Roman" panose="02020603050405020304"/>
        <a:ea typeface="+mn-ea"/>
      </a:defRPr>
    </a:lvl8pPr>
    <a:lvl9pPr marL="3657600" lvl="8" algn="l" defTabSz="914400">
      <a:defRPr sz="2400" kern="1200">
        <a:solidFill>
          <a:schemeClr val="tx1"/>
        </a:solidFill>
        <a:latin typeface="Times New Roman" panose="02020603050405020304"/>
        <a:ea typeface="+mn-e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lvl="0" indent="0" algn="ctr">
              <a:buNone/>
            </a:lvl1pPr>
            <a:lvl2pPr marL="457200" lvl="1" indent="0" algn="ctr">
              <a:buNone/>
            </a:lvl2pPr>
            <a:lvl3pPr marL="914400" lvl="2" indent="0" algn="ctr">
              <a:buNone/>
            </a:lvl3pPr>
            <a:lvl4pPr marL="1371600" lvl="3" indent="0" algn="ctr">
              <a:buNone/>
            </a:lvl4pPr>
            <a:lvl5pPr marL="1828800" lvl="4" indent="0" algn="ctr">
              <a:buNone/>
            </a:lvl5pPr>
            <a:lvl6pPr marL="2286000" lvl="5" indent="0" algn="ctr">
              <a:buNone/>
            </a:lvl6pPr>
            <a:lvl7pPr marL="2743200" lvl="6" indent="0" algn="ctr">
              <a:buNone/>
            </a:lvl7pPr>
            <a:lvl8pPr marL="3200400" lvl="7" indent="0" algn="ctr">
              <a:buNone/>
            </a:lvl8pPr>
            <a:lvl9pPr marL="3657600" lvl="8" indent="0" algn="ctr">
              <a:buNone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7543800" cy="4495800"/>
          </a:xfrm>
        </p:spPr>
        <p:txBody>
          <a:bodyPr/>
          <a:lstStyle>
            <a:lvl1pPr marL="457200" lvl="0" indent="-457200">
              <a:buFont typeface="Book Antiqua" panose="02040602050305030304"/>
              <a:buAutoNum type="arabicPeriod"/>
              <a:defRPr sz="2000" b="0"/>
            </a:lvl1pPr>
            <a:lvl2pPr marL="800100" lvl="1" indent="-342900">
              <a:buFont typeface="Book Antiqua" panose="02040602050305030304"/>
              <a:buAutoNum type="arabicPeriod"/>
              <a:defRPr sz="1800"/>
            </a:lvl2pPr>
            <a:lvl3pPr lvl="2">
              <a:defRPr sz="1800"/>
            </a:lvl3pPr>
            <a:lvl4pPr lvl="3">
              <a:defRPr sz="1600"/>
            </a:lvl4pPr>
            <a:lvl5pPr lvl="4">
              <a:defRPr sz="1400"/>
            </a:lvl5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1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lvl="0" algn="l">
              <a:defRPr sz="4000" b="1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lvl="0" indent="0">
              <a:buNone/>
              <a:defRPr sz="2000"/>
            </a:lvl1pPr>
            <a:lvl2pPr marL="457200" lvl="1" indent="0">
              <a:buNone/>
              <a:defRPr sz="1800"/>
            </a:lvl2pPr>
            <a:lvl3pPr marL="914400" lvl="2" indent="0">
              <a:buNone/>
              <a:defRPr sz="1600"/>
            </a:lvl3pPr>
            <a:lvl4pPr marL="1371600" lvl="3" indent="0">
              <a:buNone/>
              <a:defRPr sz="1400"/>
            </a:lvl4pPr>
            <a:lvl5pPr marL="1828800" lvl="4" indent="0">
              <a:buNone/>
              <a:defRPr sz="1400"/>
            </a:lvl5pPr>
            <a:lvl6pPr marL="2286000" lvl="5" indent="0">
              <a:buNone/>
              <a:defRPr sz="1400"/>
            </a:lvl6pPr>
            <a:lvl7pPr marL="2743200" lvl="6" indent="0">
              <a:buNone/>
              <a:defRPr sz="1400"/>
            </a:lvl7pPr>
            <a:lvl8pPr marL="3200400" lvl="7" indent="0">
              <a:buNone/>
              <a:defRPr sz="1400"/>
            </a:lvl8pPr>
            <a:lvl9pPr marL="3657600" lvl="8" indent="0">
              <a:buNone/>
              <a:defRPr sz="14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3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4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3695700" cy="4495800"/>
          </a:xfrm>
        </p:spPr>
        <p:txBody>
          <a:bodyPr/>
          <a:lstStyle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4762500" y="1676400"/>
            <a:ext cx="3695700" cy="4495800"/>
          </a:xfrm>
        </p:spPr>
        <p:txBody>
          <a:bodyPr/>
          <a:lstStyle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29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0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1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38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9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0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4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5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8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9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lvl="0" algn="l">
              <a:defRPr sz="2000" b="1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lvl="0" indent="0">
              <a:buNone/>
              <a:defRPr sz="1400"/>
            </a:lvl1pPr>
            <a:lvl2pPr marL="457200" lvl="1" indent="0">
              <a:buNone/>
              <a:defRPr sz="1200"/>
            </a:lvl2pPr>
            <a:lvl3pPr marL="914400" lvl="2" indent="0">
              <a:buNone/>
              <a:defRPr sz="1000"/>
            </a:lvl3pPr>
            <a:lvl4pPr marL="1371600" lvl="3" indent="0">
              <a:buNone/>
              <a:defRPr sz="900"/>
            </a:lvl4pPr>
            <a:lvl5pPr marL="1828800" lvl="4" indent="0">
              <a:buNone/>
              <a:defRPr sz="900"/>
            </a:lvl5pPr>
            <a:lvl6pPr marL="2286000" lvl="5" indent="0">
              <a:buNone/>
              <a:defRPr sz="900"/>
            </a:lvl6pPr>
            <a:lvl7pPr marL="2743200" lvl="6" indent="0">
              <a:buNone/>
              <a:defRPr sz="900"/>
            </a:lvl7pPr>
            <a:lvl8pPr marL="3200400" lvl="7" indent="0">
              <a:buNone/>
              <a:defRPr sz="900"/>
            </a:lvl8pPr>
            <a:lvl9pPr marL="3657600" lvl="8" indent="0">
              <a:buNone/>
              <a:defRPr sz="9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54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5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6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lvl="0" algn="l">
              <a:defRPr sz="2000" b="1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 lvl="0"/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lvl="0" indent="0">
              <a:buNone/>
              <a:defRPr sz="1400"/>
            </a:lvl1pPr>
            <a:lvl2pPr marL="457200" lvl="1" indent="0">
              <a:buNone/>
              <a:defRPr sz="1200"/>
            </a:lvl2pPr>
            <a:lvl3pPr marL="914400" lvl="2" indent="0">
              <a:buNone/>
              <a:defRPr sz="1000"/>
            </a:lvl3pPr>
            <a:lvl4pPr marL="1371600" lvl="3" indent="0">
              <a:buNone/>
              <a:defRPr sz="900"/>
            </a:lvl4pPr>
            <a:lvl5pPr marL="1828800" lvl="4" indent="0">
              <a:buNone/>
              <a:defRPr sz="900"/>
            </a:lvl5pPr>
            <a:lvl6pPr marL="2286000" lvl="5" indent="0">
              <a:buNone/>
              <a:defRPr sz="900"/>
            </a:lvl6pPr>
            <a:lvl7pPr marL="2743200" lvl="6" indent="0">
              <a:buNone/>
              <a:defRPr sz="900"/>
            </a:lvl7pPr>
            <a:lvl8pPr marL="3200400" lvl="7" indent="0">
              <a:buNone/>
              <a:defRPr sz="900"/>
            </a:lvl8pPr>
            <a:lvl9pPr marL="3657600" lvl="8" indent="0">
              <a:buNone/>
              <a:defRPr sz="9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61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2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3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67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8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9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垂直排列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6572250" y="457200"/>
            <a:ext cx="1885950" cy="5715000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914400" y="457200"/>
            <a:ext cx="5505450" cy="5715000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7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8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2"/>
          </p:nvPr>
        </p:nvSpPr>
        <p:spPr>
          <a:xfrm>
            <a:off x="914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/>
          <a:lstStyle>
            <a:lvl1pPr lvl="0">
              <a:defRPr sz="1400">
                <a:latin typeface="Times New Roman" panose="02020603050405020304"/>
                <a:ea typeface="宋体" panose="02010600030101010101" pitchFamily="2" charset="-122"/>
              </a:defRPr>
            </a:lvl1pPr>
          </a:lstStyle>
          <a:p>
            <a:endParaRPr 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3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/>
          <a:lstStyle>
            <a:lvl1pPr lvl="0" algn="ctr">
              <a:defRPr sz="1400">
                <a:latin typeface="Times New Roman" panose="02020603050405020304"/>
                <a:ea typeface="宋体" panose="02010600030101010101" pitchFamily="2" charset="-122"/>
              </a:defRPr>
            </a:lvl1pPr>
          </a:lstStyle>
          <a:p>
            <a:endParaRPr 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4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/>
          <a:lstStyle>
            <a:lvl1pPr lvl="0" algn="r">
              <a:defRPr sz="1400">
                <a:latin typeface="Times New Roman" panose="02020603050405020304"/>
                <a:ea typeface="宋体" panose="02010600030101010101" pitchFamily="2" charset="-122"/>
              </a:defRPr>
            </a:lvl1pPr>
          </a:lstStyle>
          <a:p>
            <a:endParaRPr 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4572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body" idx="9"/>
          </p:nvPr>
        </p:nvSpPr>
        <p:spPr>
          <a:xfrm>
            <a:off x="914400" y="1676400"/>
            <a:ext cx="7543800" cy="4495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>
          <a:xfrm>
            <a:off x="288925" y="425450"/>
            <a:ext cx="8574088" cy="1173163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lvl="0">
              <a:defRPr sz="2400">
                <a:solidFill>
                  <a:schemeClr val="tx1"/>
                </a:solidFill>
                <a:latin typeface="Times New Roman" panose="02020603050405020304"/>
              </a:defRPr>
            </a:lvl1pPr>
            <a:lvl2pPr marL="742950" lvl="1" indent="-285750">
              <a:defRPr sz="2400">
                <a:solidFill>
                  <a:schemeClr val="tx1"/>
                </a:solidFill>
                <a:latin typeface="Times New Roman" panose="02020603050405020304"/>
              </a:defRPr>
            </a:lvl2pPr>
            <a:lvl3pPr marL="1143000" lvl="2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3pPr>
            <a:lvl4pPr marL="1600200" lvl="3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4pPr>
            <a:lvl5pPr marL="2057400" lvl="4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5pPr>
            <a:lvl6pPr marL="2514600" lvl="5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6pPr>
            <a:lvl7pPr marL="2971800" lvl="6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7pPr>
            <a:lvl8pPr marL="3429000" lvl="7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8pPr>
            <a:lvl9pPr marL="3886200" lvl="8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9pPr>
          </a:lstStyle>
          <a:p>
            <a:endParaRPr lang="zh-CN">
              <a:ea typeface="宋体" panose="02010600030101010101" pitchFamily="2" charset="-122"/>
            </a:endParaRP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>
          <a:xfrm>
            <a:off x="4191000" y="6477000"/>
            <a:ext cx="390525" cy="304800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>
            <a:spAutoFit/>
          </a:bodyPr>
          <a:lstStyle>
            <a:lvl1pPr lvl="0">
              <a:defRPr sz="2400">
                <a:solidFill>
                  <a:schemeClr val="tx1"/>
                </a:solidFill>
                <a:latin typeface="Times New Roman" panose="02020603050405020304"/>
              </a:defRPr>
            </a:lvl1pPr>
            <a:lvl2pPr marL="742950" lvl="1" indent="-285750">
              <a:defRPr sz="2400">
                <a:solidFill>
                  <a:schemeClr val="tx1"/>
                </a:solidFill>
                <a:latin typeface="Times New Roman" panose="02020603050405020304"/>
              </a:defRPr>
            </a:lvl2pPr>
            <a:lvl3pPr marL="1143000" lvl="2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3pPr>
            <a:lvl4pPr marL="1600200" lvl="3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4pPr>
            <a:lvl5pPr marL="2057400" lvl="4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5pPr>
            <a:lvl6pPr marL="2514600" lvl="5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6pPr>
            <a:lvl7pPr marL="2971800" lvl="6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7pPr>
            <a:lvl8pPr marL="3429000" lvl="7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8pPr>
            <a:lvl9pPr marL="3886200" lvl="8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9pPr>
          </a:lstStyle>
          <a:p>
            <a:fld id="{CDBD6E61-2A9D-4A79-B32E-4F4ABD903B94}" type="slidenum">
              <a:rPr lang="en-US" altLang="zh-CN" sz="140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sz="1200">
              <a:solidFill>
                <a:schemeClr val="tx2"/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9" name="Picture 15"/>
          <p:cNvPicPr>
            <a:picLocks noChangeAspect="1" noChangeArrowheads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" y="223838"/>
            <a:ext cx="3505200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17"/>
          <p:cNvSpPr>
            <a:spLocks noChangeArrowheads="1"/>
          </p:cNvSpPr>
          <p:nvPr/>
        </p:nvSpPr>
        <p:spPr>
          <a:xfrm>
            <a:off x="917575" y="13398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lvl="0">
              <a:defRPr sz="2400">
                <a:solidFill>
                  <a:schemeClr val="tx1"/>
                </a:solidFill>
                <a:latin typeface="Times New Roman" panose="02020603050405020304"/>
              </a:defRPr>
            </a:lvl1pPr>
            <a:lvl2pPr marL="742950" lvl="1" indent="-285750">
              <a:defRPr sz="2400">
                <a:solidFill>
                  <a:schemeClr val="tx1"/>
                </a:solidFill>
                <a:latin typeface="Times New Roman" panose="02020603050405020304"/>
              </a:defRPr>
            </a:lvl2pPr>
            <a:lvl3pPr marL="1143000" lvl="2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3pPr>
            <a:lvl4pPr marL="1600200" lvl="3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4pPr>
            <a:lvl5pPr marL="2057400" lvl="4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5pPr>
            <a:lvl6pPr marL="2514600" lvl="5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6pPr>
            <a:lvl7pPr marL="2971800" lvl="6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7pPr>
            <a:lvl8pPr marL="3429000" lvl="7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8pPr>
            <a:lvl9pPr marL="3886200" lvl="8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9pPr>
          </a:lstStyle>
          <a:p>
            <a:pPr algn="ctr"/>
            <a:endParaRPr lang="zh-CN">
              <a:latin typeface="Tahoma" panose="020B0604030504040204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  <a:ea typeface="+mj-ea"/>
        </a:defRPr>
      </a:lvl1pPr>
      <a:lvl2pPr lvl="1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2pPr>
      <a:lvl3pPr lvl="2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3pPr>
      <a:lvl4pPr lvl="3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4pPr>
      <a:lvl5pPr lvl="4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5pPr>
      <a:lvl6pPr marL="457200" lvl="5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6pPr>
      <a:lvl7pPr marL="914400" lvl="6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7pPr>
      <a:lvl8pPr marL="1371600" lvl="7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8pPr>
      <a:lvl9pPr marL="1828800" lvl="8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9pPr>
    </p:titleStyle>
    <p:bodyStyle>
      <a:lvl1pPr marL="342900" lvl="0" indent="-3429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 sz="2600">
          <a:solidFill>
            <a:schemeClr val="tx1"/>
          </a:solidFill>
          <a:latin typeface="Times New Roman" panose="02020603050405020304"/>
          <a:ea typeface="+mn-ea"/>
        </a:defRPr>
      </a:lvl1pPr>
      <a:lvl2pPr marL="742950" lvl="1" indent="-285750" algn="l">
        <a:spcBef>
          <a:spcPct val="20000"/>
        </a:spcBef>
        <a:spcAft>
          <a:spcPct val="0"/>
        </a:spcAft>
        <a:buClr>
          <a:srgbClr val="063DE8"/>
        </a:buClr>
        <a:buSzPct val="70000"/>
        <a:buFont typeface="Monotype Sorts" charset="2"/>
        <a:buChar char="ä"/>
        <a:defRPr sz="2400">
          <a:solidFill>
            <a:schemeClr val="tx1"/>
          </a:solidFill>
          <a:latin typeface="Times New Roman" panose="02020603050405020304"/>
        </a:defRPr>
      </a:lvl2pPr>
      <a:lvl3pPr marL="1143000" lvl="2" indent="-2286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 sz="2200">
          <a:solidFill>
            <a:schemeClr val="tx1"/>
          </a:solidFill>
          <a:latin typeface="Times New Roman" panose="02020603050405020304"/>
        </a:defRPr>
      </a:lvl3pPr>
      <a:lvl4pPr marL="1600200" lvl="3" indent="-228600" algn="l">
        <a:spcBef>
          <a:spcPct val="20000"/>
        </a:spcBef>
        <a:spcAft>
          <a:spcPct val="0"/>
        </a:spcAft>
        <a:buClr>
          <a:srgbClr val="063DE8"/>
        </a:buClr>
        <a:buSzPct val="70000"/>
        <a:buFont typeface="Monotype Sorts" charset="2"/>
        <a:buChar char="ä"/>
        <a:defRPr sz="2000">
          <a:solidFill>
            <a:schemeClr val="tx1"/>
          </a:solidFill>
          <a:latin typeface="Times New Roman" panose="02020603050405020304"/>
        </a:defRPr>
      </a:lvl4pPr>
      <a:lvl5pPr marL="2057400" lvl="4" indent="-2286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Times New Roman" panose="02020603050405020304"/>
        </a:defRPr>
      </a:lvl5pPr>
      <a:lvl6pPr marL="2514600" lvl="5" indent="-2286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Times New Roman" panose="02020603050405020304"/>
        </a:defRPr>
      </a:lvl6pPr>
      <a:lvl7pPr marL="2971800" lvl="6" indent="-2286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Times New Roman" panose="02020603050405020304"/>
        </a:defRPr>
      </a:lvl7pPr>
      <a:lvl8pPr marL="3429000" lvl="7" indent="-2286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Times New Roman" panose="02020603050405020304"/>
        </a:defRPr>
      </a:lvl8pPr>
      <a:lvl9pPr marL="3886200" lvl="8" indent="-2286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Times New Roman" panose="02020603050405020304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1pPr>
      <a:lvl2pPr marL="457200" lvl="1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2pPr>
      <a:lvl3pPr marL="914400" lvl="2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3pPr>
      <a:lvl4pPr marL="1371600" lvl="3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4pPr>
      <a:lvl5pPr marL="1828800" lvl="4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5pPr>
      <a:lvl6pPr marL="2286000" lvl="5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6pPr>
      <a:lvl7pPr marL="2743200" lvl="6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7pPr>
      <a:lvl8pPr marL="3200400" lvl="7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8pPr>
      <a:lvl9pPr marL="3657600" lvl="8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latin typeface="宋体" panose="02010600030101010101" pitchFamily="2" charset="-122"/>
                <a:ea typeface="宋体" panose="02010600030101010101" pitchFamily="2" charset="-122"/>
              </a:rPr>
              <a:t>第三次作业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484630"/>
            <a:ext cx="7809865" cy="5080635"/>
          </a:xfrm>
        </p:spPr>
        <p:txBody>
          <a:bodyPr/>
          <a:lstStyle/>
          <a:p>
            <a:pPr>
              <a:buChar char="•"/>
            </a:pPr>
            <a:r>
              <a:rPr lang="zh-CN" b="1" dirty="0">
                <a:solidFill>
                  <a:schemeClr val="tx1"/>
                </a:solidFill>
                <a:ea typeface="宋体" panose="02010600030101010101" pitchFamily="2" charset="-122"/>
              </a:rPr>
              <a:t>练习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  <a:r>
              <a:rPr lang="en-US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1：根据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3.1.2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节中的讨论，将下面的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程序划分为正确的词素序列。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哪些词素应该有相关联的词法值？应该有什么值？</a:t>
            </a:r>
            <a:endParaRPr 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457200" lvl="1" indent="0">
              <a:buNone/>
            </a:pPr>
            <a:endParaRPr 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457200" lvl="1" indent="0">
              <a:buNone/>
            </a:pPr>
            <a:endParaRPr 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457200" lvl="1" indent="0">
              <a:buNone/>
            </a:pPr>
            <a:endParaRPr 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algn="just">
              <a:buChar char="•"/>
            </a:pPr>
            <a:r>
              <a:rPr lang="zh-CN" b="1" dirty="0">
                <a:solidFill>
                  <a:schemeClr val="tx1"/>
                </a:solidFill>
                <a:ea typeface="宋体" panose="02010600030101010101" pitchFamily="2" charset="-122"/>
              </a:rPr>
              <a:t>练习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  <a:r>
              <a:rPr lang="en-US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zh-CN" b="1" dirty="0">
                <a:solidFill>
                  <a:schemeClr val="tx1"/>
                </a:solidFill>
                <a:ea typeface="宋体" panose="02010600030101010101" pitchFamily="2" charset="-122"/>
              </a:rPr>
              <a:t>2：试描述下列正则表达式定义的语言</a:t>
            </a:r>
            <a:endParaRPr 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zh-CN" sz="2000" b="1" dirty="0">
                <a:ea typeface="宋体" panose="02010600030101010101" pitchFamily="2" charset="-122"/>
                <a:sym typeface="+mn-ea"/>
              </a:rPr>
              <a:t>1) </a:t>
            </a:r>
            <a:r>
              <a:rPr lang="en-US" altLang="zh-CN" sz="2000" b="1" dirty="0">
                <a:ea typeface="宋体" panose="02010600030101010101" pitchFamily="2" charset="-122"/>
                <a:sym typeface="+mn-ea"/>
              </a:rPr>
              <a:t>b(</a:t>
            </a:r>
            <a:r>
              <a:rPr lang="en-US" altLang="zh-CN" sz="2000" b="1" dirty="0" err="1">
                <a:ea typeface="宋体" panose="02010600030101010101" pitchFamily="2" charset="-122"/>
                <a:sym typeface="+mn-ea"/>
              </a:rPr>
              <a:t>a|b</a:t>
            </a:r>
            <a:r>
              <a:rPr lang="en-US" altLang="zh-CN" sz="2000" b="1" dirty="0">
                <a:ea typeface="宋体" panose="02010600030101010101" pitchFamily="2" charset="-122"/>
                <a:sym typeface="+mn-ea"/>
              </a:rPr>
              <a:t>)*b</a:t>
            </a:r>
            <a:endParaRPr lang="en-US" altLang="zh-CN" sz="2000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zh-CN" sz="2000" b="1" dirty="0">
                <a:ea typeface="宋体" panose="02010600030101010101" pitchFamily="2" charset="-122"/>
                <a:sym typeface="+mn-ea"/>
              </a:rPr>
              <a:t>2) </a:t>
            </a:r>
            <a:r>
              <a:rPr lang="en-US" altLang="zh-CN" sz="2000" b="1" dirty="0">
                <a:ea typeface="宋体" panose="02010600030101010101" pitchFamily="2" charset="-122"/>
                <a:sym typeface="+mn-ea"/>
              </a:rPr>
              <a:t>(a|ba)*</a:t>
            </a:r>
            <a:endParaRPr lang="en-US" altLang="zh-CN" sz="2000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2000" b="1" dirty="0">
                <a:ea typeface="宋体" panose="02010600030101010101" pitchFamily="2" charset="-122"/>
                <a:sym typeface="+mn-ea"/>
              </a:rPr>
              <a:t>3) (</a:t>
            </a:r>
            <a:r>
              <a:rPr lang="en-US" altLang="zh-CN" sz="2000" b="1" dirty="0" err="1">
                <a:ea typeface="宋体" panose="02010600030101010101" pitchFamily="2" charset="-122"/>
                <a:sym typeface="+mn-ea"/>
              </a:rPr>
              <a:t>a|b</a:t>
            </a:r>
            <a:r>
              <a:rPr lang="en-US" altLang="zh-CN" sz="2000" b="1" dirty="0">
                <a:ea typeface="宋体" panose="02010600030101010101" pitchFamily="2" charset="-122"/>
                <a:sym typeface="+mn-ea"/>
              </a:rPr>
              <a:t>)*b(</a:t>
            </a:r>
            <a:r>
              <a:rPr lang="en-US" altLang="zh-CN" sz="2000" b="1" dirty="0" err="1">
                <a:ea typeface="宋体" panose="02010600030101010101" pitchFamily="2" charset="-122"/>
                <a:sym typeface="+mn-ea"/>
              </a:rPr>
              <a:t>a|b</a:t>
            </a:r>
            <a:r>
              <a:rPr lang="en-US" altLang="zh-CN" sz="2000" b="1" dirty="0">
                <a:ea typeface="宋体" panose="02010600030101010101" pitchFamily="2" charset="-122"/>
                <a:sym typeface="+mn-ea"/>
              </a:rPr>
              <a:t>)(</a:t>
            </a:r>
            <a:r>
              <a:rPr lang="en-US" altLang="zh-CN" sz="2000" b="1" dirty="0" err="1">
                <a:ea typeface="宋体" panose="02010600030101010101" pitchFamily="2" charset="-122"/>
                <a:sym typeface="+mn-ea"/>
              </a:rPr>
              <a:t>a|b</a:t>
            </a:r>
            <a:r>
              <a:rPr lang="en-US" altLang="zh-CN" sz="2000" b="1" dirty="0">
                <a:ea typeface="宋体" panose="02010600030101010101" pitchFamily="2" charset="-122"/>
                <a:sym typeface="+mn-ea"/>
              </a:rPr>
              <a:t>)</a:t>
            </a:r>
            <a:endParaRPr 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algn="just">
              <a:buChar char="•"/>
            </a:pPr>
            <a:r>
              <a:rPr lang="zh-CN" b="1" dirty="0">
                <a:solidFill>
                  <a:schemeClr val="tx1"/>
                </a:solidFill>
                <a:ea typeface="宋体" panose="02010600030101010101" pitchFamily="2" charset="-122"/>
              </a:rPr>
              <a:t>练习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3.1.3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：给出描述对应语言的正则表达式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zh-CN" sz="2000" b="1" dirty="0">
                <a:ea typeface="宋体" panose="02010600030101010101" pitchFamily="2" charset="-122"/>
                <a:sym typeface="+mn-ea"/>
              </a:rPr>
              <a:t>1) 包含</a:t>
            </a:r>
            <a:r>
              <a:rPr lang="en-US" altLang="zh-CN" sz="2000" b="1" dirty="0">
                <a:ea typeface="宋体" panose="02010600030101010101" pitchFamily="2" charset="-122"/>
                <a:sym typeface="+mn-ea"/>
              </a:rPr>
              <a:t>5</a:t>
            </a:r>
            <a:r>
              <a:rPr lang="zh-CN" altLang="en-US" sz="2000" b="1" dirty="0">
                <a:ea typeface="宋体" panose="02010600030101010101" pitchFamily="2" charset="-122"/>
                <a:sym typeface="+mn-ea"/>
              </a:rPr>
              <a:t>个元音的所有小写字母串，这些串中的元音按顺序出现</a:t>
            </a:r>
            <a:endParaRPr lang="zh-CN" altLang="en-US" sz="2000" b="1" dirty="0">
              <a:ea typeface="宋体" panose="02010600030101010101" pitchFamily="2" charset="-122"/>
              <a:sym typeface="+mn-ea"/>
            </a:endParaRPr>
          </a:p>
          <a:p>
            <a:pPr marL="457200" lvl="1" indent="0">
              <a:buNone/>
            </a:pPr>
            <a:r>
              <a:rPr lang="en-US" altLang="zh-CN" sz="2000" b="1" dirty="0">
                <a:ea typeface="宋体" panose="02010600030101010101" pitchFamily="2" charset="-122"/>
                <a:sym typeface="+mn-ea"/>
              </a:rPr>
              <a:t>2) </a:t>
            </a:r>
            <a:r>
              <a:rPr lang="zh-CN" altLang="en-US" sz="2000" b="1" dirty="0">
                <a:ea typeface="宋体" panose="02010600030101010101" pitchFamily="2" charset="-122"/>
                <a:sym typeface="+mn-ea"/>
              </a:rPr>
              <a:t>所有由</a:t>
            </a:r>
            <a:r>
              <a:rPr lang="en-US" altLang="zh-CN" sz="2000" b="1" dirty="0">
                <a:ea typeface="宋体" panose="02010600030101010101" pitchFamily="2" charset="-122"/>
                <a:sym typeface="+mn-ea"/>
              </a:rPr>
              <a:t>a</a:t>
            </a:r>
            <a:r>
              <a:rPr lang="zh-CN" altLang="en-US" sz="2000" b="1" dirty="0">
                <a:ea typeface="宋体" panose="02010600030101010101" pitchFamily="2" charset="-122"/>
                <a:sym typeface="+mn-ea"/>
              </a:rPr>
              <a:t>和</a:t>
            </a:r>
            <a:r>
              <a:rPr lang="en-US" altLang="zh-CN" sz="2000" b="1" dirty="0">
                <a:ea typeface="宋体" panose="02010600030101010101" pitchFamily="2" charset="-122"/>
                <a:sym typeface="+mn-ea"/>
              </a:rPr>
              <a:t>b</a:t>
            </a:r>
            <a:r>
              <a:rPr lang="zh-CN" altLang="en-US" sz="2000" b="1" dirty="0">
                <a:ea typeface="宋体" panose="02010600030101010101" pitchFamily="2" charset="-122"/>
                <a:sym typeface="+mn-ea"/>
              </a:rPr>
              <a:t>组成且不含子串</a:t>
            </a:r>
            <a:r>
              <a:rPr lang="en-US" altLang="zh-CN" sz="2000" b="1" dirty="0">
                <a:ea typeface="宋体" panose="02010600030101010101" pitchFamily="2" charset="-122"/>
                <a:sym typeface="+mn-ea"/>
              </a:rPr>
              <a:t>baa</a:t>
            </a:r>
            <a:r>
              <a:rPr lang="zh-CN" altLang="en-US" sz="2000" b="1" dirty="0">
                <a:ea typeface="宋体" panose="02010600030101010101" pitchFamily="2" charset="-122"/>
                <a:sym typeface="+mn-ea"/>
              </a:rPr>
              <a:t>的串</a:t>
            </a:r>
            <a:endParaRPr lang="zh-CN" altLang="en-US" sz="2000" b="1" dirty="0">
              <a:ea typeface="宋体" panose="02010600030101010101" pitchFamily="2" charset="-122"/>
              <a:sym typeface="+mn-ea"/>
            </a:endParaRPr>
          </a:p>
          <a:p>
            <a:pPr marL="457200" lvl="1" indent="0">
              <a:buNone/>
            </a:pPr>
            <a:r>
              <a:rPr lang="en-US" altLang="zh-CN" sz="2000" b="1" dirty="0">
                <a:ea typeface="宋体" panose="02010600030101010101" pitchFamily="2" charset="-122"/>
                <a:sym typeface="+mn-ea"/>
              </a:rPr>
              <a:t>3) </a:t>
            </a:r>
            <a:r>
              <a:rPr lang="zh-CN" altLang="en-US" sz="2000" b="1" dirty="0">
                <a:ea typeface="宋体" panose="02010600030101010101" pitchFamily="2" charset="-122"/>
                <a:sym typeface="+mn-ea"/>
              </a:rPr>
              <a:t>所有由</a:t>
            </a:r>
            <a:r>
              <a:rPr lang="en-US" altLang="zh-CN" sz="2000" b="1" dirty="0">
                <a:ea typeface="宋体" panose="02010600030101010101" pitchFamily="2" charset="-122"/>
                <a:sym typeface="+mn-ea"/>
              </a:rPr>
              <a:t>a</a:t>
            </a:r>
            <a:r>
              <a:rPr lang="zh-CN" altLang="en-US" sz="2000" b="1" dirty="0">
                <a:ea typeface="宋体" panose="02010600030101010101" pitchFamily="2" charset="-122"/>
                <a:sym typeface="+mn-ea"/>
              </a:rPr>
              <a:t>和</a:t>
            </a:r>
            <a:r>
              <a:rPr lang="en-US" altLang="zh-CN" sz="2000" b="1" dirty="0">
                <a:ea typeface="宋体" panose="02010600030101010101" pitchFamily="2" charset="-122"/>
                <a:sym typeface="+mn-ea"/>
              </a:rPr>
              <a:t>b</a:t>
            </a:r>
            <a:r>
              <a:rPr lang="zh-CN" altLang="en-US" sz="2000" b="1" dirty="0">
                <a:ea typeface="宋体" panose="02010600030101010101" pitchFamily="2" charset="-122"/>
                <a:sym typeface="+mn-ea"/>
              </a:rPr>
              <a:t>组成且不含子序列</a:t>
            </a:r>
            <a:r>
              <a:rPr lang="en-US" altLang="zh-CN" sz="2000" b="1" dirty="0">
                <a:ea typeface="宋体" panose="02010600030101010101" pitchFamily="2" charset="-122"/>
                <a:sym typeface="+mn-ea"/>
              </a:rPr>
              <a:t>baa</a:t>
            </a:r>
            <a:r>
              <a:rPr lang="zh-CN" altLang="en-US" sz="2000" b="1" dirty="0">
                <a:ea typeface="宋体" panose="02010600030101010101" pitchFamily="2" charset="-122"/>
                <a:sym typeface="+mn-ea"/>
              </a:rPr>
              <a:t>的串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algn="just">
              <a:buChar char="•"/>
            </a:pP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algn="just">
              <a:buChar char="•"/>
            </a:pP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algn="just">
              <a:buChar char="•"/>
            </a:pPr>
            <a:endParaRPr 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b="1" dirty="0"/>
          </a:p>
        </p:txBody>
      </p:sp>
      <p:sp>
        <p:nvSpPr>
          <p:cNvPr id="4" name="文本框 10"/>
          <p:cNvSpPr txBox="1"/>
          <p:nvPr/>
        </p:nvSpPr>
        <p:spPr>
          <a:xfrm>
            <a:off x="6372200" y="950467"/>
            <a:ext cx="25202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b="1">
                <a:solidFill>
                  <a:srgbClr val="063DE8"/>
                </a:solidFill>
              </a:rPr>
              <a:t>截止日期：202</a:t>
            </a:r>
            <a:r>
              <a:rPr lang="en-US" altLang="zh-CN" sz="1800" b="1">
                <a:solidFill>
                  <a:srgbClr val="063DE8"/>
                </a:solidFill>
              </a:rPr>
              <a:t>6</a:t>
            </a:r>
            <a:r>
              <a:rPr lang="en-US" sz="1800" b="1">
                <a:solidFill>
                  <a:srgbClr val="063DE8"/>
                </a:solidFill>
              </a:rPr>
              <a:t>.</a:t>
            </a:r>
            <a:r>
              <a:rPr lang="zh-CN" sz="1800" b="1">
                <a:solidFill>
                  <a:srgbClr val="063DE8"/>
                </a:solidFill>
              </a:rPr>
              <a:t>0</a:t>
            </a:r>
            <a:r>
              <a:rPr lang="en-US" altLang="zh-CN" sz="1800" b="1">
                <a:solidFill>
                  <a:srgbClr val="063DE8"/>
                </a:solidFill>
              </a:rPr>
              <a:t>3</a:t>
            </a:r>
            <a:r>
              <a:rPr lang="en-US" sz="1800" b="1">
                <a:solidFill>
                  <a:srgbClr val="063DE8"/>
                </a:solidFill>
              </a:rPr>
              <a:t>.23</a:t>
            </a:r>
            <a:endParaRPr lang="zh-CN" sz="1800" b="1">
              <a:solidFill>
                <a:srgbClr val="063DE8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150" y="2214245"/>
            <a:ext cx="4442460" cy="12655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WPS 演示</Application>
  <PresentationFormat/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Times New Roman</vt:lpstr>
      <vt:lpstr>Arial</vt:lpstr>
      <vt:lpstr>Tahoma</vt:lpstr>
      <vt:lpstr>Book Antiqua</vt:lpstr>
      <vt:lpstr>Monotype Sorts</vt:lpstr>
      <vt:lpstr>Wingdings</vt:lpstr>
      <vt:lpstr>微软雅黑</vt:lpstr>
      <vt:lpstr>Arial Unicode MS</vt:lpstr>
      <vt:lpstr>Calibri</vt:lpstr>
      <vt:lpstr>Book Antiqua</vt:lpstr>
      <vt:lpstr>Tahoma</vt:lpstr>
      <vt:lpstr>Times New Roman</vt:lpstr>
      <vt:lpstr>Office 主题​​</vt:lpstr>
      <vt:lpstr>第三次作业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第三次作业</dc:title>
  <dc:creator/>
  <cp:lastModifiedBy>Cheng Yue</cp:lastModifiedBy>
  <cp:revision>3</cp:revision>
  <dcterms:created xsi:type="dcterms:W3CDTF">2025-03-17T11:44:00Z</dcterms:created>
  <dcterms:modified xsi:type="dcterms:W3CDTF">2026-03-16T08:28:37Z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847D2A9D8834466EBA754D95F4DEE618_13</vt:lpwstr>
  </property>
  <property fmtid="{D5CDD505-2E9C-101B-9397-08002B2CF9AE}" pid="3" name="KSOProductBuildVer">
    <vt:lpwstr>2052-12.1.0.25225</vt:lpwstr>
  </property>
</Properties>
</file>