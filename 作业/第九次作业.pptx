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708775" cy="9774238"/>
  <p:defaultTextStyle>
    <a:defPPr>
      <a:defRPr lang="en-US"/>
    </a:defPPr>
    <a:lvl1pPr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1"/>
      </a:spcBef>
      <a:spcAft>
        <a:spcPct val="1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CC"/>
    <a:srgbClr val="CCFFCC"/>
    <a:srgbClr val="FFCCFF"/>
    <a:srgbClr val="CCFFFF"/>
    <a:srgbClr val="CCECFF"/>
    <a:srgbClr val="66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900" autoAdjust="0"/>
  </p:normalViewPr>
  <p:slideViewPr>
    <p:cSldViewPr>
      <p:cViewPr varScale="1">
        <p:scale>
          <a:sx n="70" d="100"/>
          <a:sy n="70" d="100"/>
        </p:scale>
        <p:origin x="867" y="42"/>
      </p:cViewPr>
      <p:guideLst>
        <p:guide orient="horz" pos="144"/>
        <p:guide pos="5759"/>
      </p:guideLst>
    </p:cSldViewPr>
  </p:slideViewPr>
  <p:outlineViewPr>
    <p:cViewPr>
      <p:scale>
        <a:sx n="33" d="100"/>
        <a:sy n="33" d="100"/>
      </p:scale>
      <p:origin x="0" y="-201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2063" y="0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>
            <a:lvl1pPr algn="r"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1225" y="733425"/>
            <a:ext cx="48879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41850"/>
            <a:ext cx="4921250" cy="4398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6713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defTabSz="91630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2063" y="9285288"/>
            <a:ext cx="2906712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34" tIns="45768" rIns="91534" bIns="45768" numCol="1" anchor="b" anchorCtr="0" compatLnSpc="1"/>
          <a:lstStyle>
            <a:lvl1pPr algn="r" defTabSz="916305" eaLnBrk="0" hangingPunct="0">
              <a:defRPr sz="1200"/>
            </a:lvl1pPr>
          </a:lstStyle>
          <a:p>
            <a:pPr>
              <a:defRPr/>
            </a:pPr>
            <a:fld id="{A274B8ED-3803-4C8E-B5B0-93EBFA3759D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3535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402080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1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000" b="1"/>
            </a:lvl1pPr>
            <a:lvl2pPr marL="800100" indent="-342900">
              <a:buFont typeface="+mj-lt"/>
              <a:buAutoNum type="arabicPeriod"/>
              <a:defRPr sz="1800" b="1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 bwMode="auto"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defRPr/>
            </a:pPr>
            <a:fld id="{DB7B3039-5302-4A8A-872F-68F8A6D6B3FA}" type="slidenum">
              <a:rPr lang="zh-CN" altLang="en-US" sz="1400">
                <a:solidFill>
                  <a:schemeClr val="tx2"/>
                </a:solidFill>
                <a:ea typeface="宋体" panose="02010600030101010101" pitchFamily="2" charset="-122"/>
              </a:rPr>
              <a:t>‹#›</a:t>
            </a:fld>
            <a:endParaRPr lang="en-US" altLang="zh-CN" sz="12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15" descr="ict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 bwMode="gray"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1"/>
              </a:spcBef>
              <a:spcAft>
                <a:spcPct val="1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kumimoji="1"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2pPr>
      <a:lvl3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3pPr>
      <a:lvl4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4pPr>
      <a:lvl5pPr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5pPr>
      <a:lvl6pPr marL="4572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6pPr>
      <a:lvl7pPr marL="9144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7pPr>
      <a:lvl8pPr marL="13716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8pPr>
      <a:lvl9pPr marL="1828800" algn="ctr" rtl="0" eaLnBrk="0" fontAlgn="base" hangingPunct="0">
        <a:spcBef>
          <a:spcPct val="1"/>
        </a:spcBef>
        <a:spcAft>
          <a:spcPct val="1"/>
        </a:spcAft>
        <a:defRPr sz="3200" b="1">
          <a:solidFill>
            <a:srgbClr val="063DE8"/>
          </a:solidFill>
          <a:latin typeface="Book Antiqua" panose="0204060205030503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70000"/>
        <a:buFont typeface="Monotype Sorts" pitchFamily="2" charset="2"/>
        <a:buChar char="ä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1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九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</a:rPr>
              <a:t>次作业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690048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6.1.1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为下列表达式构建 </a:t>
            </a:r>
            <a:r>
              <a:rPr lang="en-US" altLang="zh-CN" b="1" dirty="0"/>
              <a:t>DAG </a:t>
            </a:r>
            <a:r>
              <a:rPr lang="zh-CN" altLang="en-US" b="1" dirty="0"/>
              <a:t>并指出每个子表达式的值编码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	((a + b) * (a + (a + b))) - ((a + b) * (a - b))</a:t>
            </a:r>
            <a:endParaRPr lang="es-ES" altLang="zh-CN" b="1" dirty="0"/>
          </a:p>
          <a:p>
            <a:endParaRPr lang="es-ES" altLang="zh-CN" b="1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6.1.2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将语句</a:t>
            </a:r>
            <a:r>
              <a:rPr lang="en-US" altLang="zh-CN" b="1" dirty="0"/>
              <a:t> a = (b + c) * (- (b + c)) </a:t>
            </a:r>
            <a:r>
              <a:rPr lang="zh-CN" altLang="en-US" b="1" dirty="0"/>
              <a:t>翻译为</a:t>
            </a:r>
            <a:endParaRPr lang="en-US" altLang="zh-CN" b="1" dirty="0"/>
          </a:p>
          <a:p>
            <a:pPr lvl="1"/>
            <a:r>
              <a:rPr lang="zh-CN" altLang="en-US" b="1" dirty="0"/>
              <a:t>抽象语法树</a:t>
            </a:r>
            <a:endParaRPr lang="en-US" altLang="zh-CN" b="1" dirty="0"/>
          </a:p>
          <a:p>
            <a:pPr lvl="1"/>
            <a:r>
              <a:rPr lang="zh-CN" altLang="en-US" b="1" dirty="0"/>
              <a:t>四元式序列</a:t>
            </a:r>
            <a:endParaRPr lang="en-US" altLang="zh-CN" b="1" dirty="0"/>
          </a:p>
          <a:p>
            <a:pPr lvl="1"/>
            <a:r>
              <a:rPr lang="zh-CN" altLang="en-US" b="1" dirty="0"/>
              <a:t>三元式序列</a:t>
            </a:r>
            <a:endParaRPr lang="en-US" altLang="zh-CN" b="1" dirty="0"/>
          </a:p>
          <a:p>
            <a:pPr lvl="1"/>
            <a:r>
              <a:rPr lang="zh-CN" altLang="en-US" b="1" dirty="0"/>
              <a:t>间接三元式序列</a:t>
            </a:r>
            <a:endParaRPr lang="en-US" altLang="zh-CN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63DE8"/>
                </a:solidFill>
              </a:rPr>
              <a:t>截止日期：202</a:t>
            </a:r>
            <a:r>
              <a:rPr lang="en-US" altLang="zh-CN" sz="1800" b="1" dirty="0">
                <a:solidFill>
                  <a:srgbClr val="063DE8"/>
                </a:solidFill>
              </a:rPr>
              <a:t>6.</a:t>
            </a:r>
            <a:r>
              <a:rPr lang="zh-CN" altLang="en-US" sz="1800" b="1" dirty="0">
                <a:solidFill>
                  <a:srgbClr val="063DE8"/>
                </a:solidFill>
              </a:rPr>
              <a:t>0</a:t>
            </a:r>
            <a:r>
              <a:rPr lang="en-US" altLang="zh-CN" sz="1800" b="1" dirty="0">
                <a:solidFill>
                  <a:srgbClr val="063DE8"/>
                </a:solidFill>
              </a:rPr>
              <a:t>5.18</a:t>
            </a:r>
            <a:endParaRPr lang="zh-CN" altLang="en-US" sz="1800" b="1" dirty="0">
              <a:solidFill>
                <a:srgbClr val="063DE8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九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次作业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834064" cy="4495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6.1.3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确定下列声明序列中各个标识符的类型和相对地址。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float x;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record { float x; float y; } p;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record {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record { int tag; float x; } m;</a:t>
            </a:r>
          </a:p>
          <a:p>
            <a:pPr marL="0" indent="0">
              <a:buNone/>
            </a:pPr>
            <a:r>
              <a:rPr lang="en-US" altLang="zh-CN" dirty="0"/>
              <a:t>		record { int idx; </a:t>
            </a:r>
            <a:r>
              <a:rPr lang="zh-CN" altLang="en-US" dirty="0"/>
              <a:t>float y;</a:t>
            </a:r>
            <a:r>
              <a:rPr lang="en-US" altLang="zh-CN" dirty="0"/>
              <a:t>}  n;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} q;</a:t>
            </a:r>
          </a:p>
          <a:p>
            <a:pPr marL="0" indent="0">
              <a:buNone/>
            </a:pPr>
            <a:endParaRPr lang="en-US" altLang="zh-CN" b="1" dirty="0"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ea typeface="宋体" panose="02010600030101010101" pitchFamily="2" charset="-122"/>
              </a:rPr>
              <a:t>练习</a:t>
            </a:r>
            <a:r>
              <a:rPr lang="en-US" altLang="zh-CN" b="1" dirty="0">
                <a:ea typeface="宋体" panose="02010600030101010101" pitchFamily="2" charset="-122"/>
              </a:rPr>
              <a:t>6.1.4</a:t>
            </a:r>
            <a:r>
              <a:rPr lang="zh-CN" altLang="en-US" b="1" dirty="0">
                <a:ea typeface="宋体" panose="02010600030101010101" pitchFamily="2" charset="-122"/>
              </a:rPr>
              <a:t>：</a:t>
            </a:r>
            <a:r>
              <a:rPr lang="zh-CN" altLang="en-US" b="1" dirty="0"/>
              <a:t>考虑龙书图</a:t>
            </a:r>
            <a:r>
              <a:rPr lang="en-US" altLang="zh-CN" b="1" dirty="0"/>
              <a:t> 6-22 </a:t>
            </a:r>
            <a:r>
              <a:rPr lang="zh-CN" altLang="en-US" b="1" dirty="0"/>
              <a:t>的翻译方案，翻译下列赋值语句</a:t>
            </a:r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pl-PL" altLang="zh-CN" dirty="0"/>
              <a:t>x = a[b[i][j]][c[k]];</a:t>
            </a: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/>
              <a:t>       </a:t>
            </a:r>
            <a:r>
              <a:rPr lang="zh-CN" altLang="en-US" b="1" dirty="0"/>
              <a:t>并给出注释语法分析树。</a:t>
            </a:r>
          </a:p>
          <a:p>
            <a:pPr marL="0" indent="0">
              <a:buNone/>
            </a:pPr>
            <a:endParaRPr lang="zh-CN" altLang="en-US" b="1" dirty="0">
              <a:latin typeface="Consolas" panose="020B0609020204030204" pitchFamily="49" charset="0"/>
            </a:endParaRPr>
          </a:p>
          <a:p>
            <a:endParaRPr lang="zh-CN" altLang="en-US" b="1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ibm0325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bm0325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195</Words>
  <Application>Microsoft Office PowerPoint</Application>
  <PresentationFormat>全屏显示(4:3)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Monotype Sorts</vt:lpstr>
      <vt:lpstr>宋体</vt:lpstr>
      <vt:lpstr>Arial</vt:lpstr>
      <vt:lpstr>Book Antiqua</vt:lpstr>
      <vt:lpstr>Consolas</vt:lpstr>
      <vt:lpstr>Tahoma</vt:lpstr>
      <vt:lpstr>Times New Roman</vt:lpstr>
      <vt:lpstr>ibm0325</vt:lpstr>
      <vt:lpstr>第九次作业</vt:lpstr>
      <vt:lpstr>第九次作业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玉龙 张</cp:lastModifiedBy>
  <cp:revision>9</cp:revision>
  <dcterms:created xsi:type="dcterms:W3CDTF">2026-05-11T11:32:51Z</dcterms:created>
  <dcterms:modified xsi:type="dcterms:W3CDTF">2026-05-11T07:55:12Z</dcterms:modified>
</cp:coreProperties>
</file>