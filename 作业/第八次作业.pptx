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92" r:id="rId3"/>
    <p:sldId id="493" r:id="rId4"/>
  </p:sldIdLst>
  <p:sldSz cx="9144000" cy="6858000" type="screen4x3"/>
  <p:notesSz cx="6708775" cy="977392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 f" initials="" lastIdx="1" clrIdx="0"/>
  <p:cmAuthor id="2" name="未知用户1" initials="未知用户1" lastIdx="1" clrIdx="1"/>
  <p:cmAuthor id="3" name="未知用户2" initials="未知用户2" lastIdx="1" clrIdx="2"/>
  <p:cmAuthor id="4" name="f ja" initials="" lastIdx="1" clrIdx="3"/>
  <p:cmAuthor id="5" name="未知用户3" initials="未知用户3" lastIdx="1" clrIdx="4"/>
  <p:cmAuthor id="6" name="未知用户4" initials="未知用户4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 showGuides="1">
      <p:cViewPr varScale="1">
        <p:scale>
          <a:sx n="128" d="100"/>
          <a:sy n="128" d="100"/>
        </p:scale>
        <p:origin x="1544" y="176"/>
      </p:cViewPr>
      <p:guideLst>
        <p:guide orient="horz" pos="144"/>
        <p:guide pos="5759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4175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t" anchorCtr="0" compatLnSpc="1"/>
          <a:lstStyle>
            <a:lvl1pPr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2063" y="0"/>
            <a:ext cx="2925762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t" anchorCtr="0" compatLnSpc="1"/>
          <a:lstStyle>
            <a:lvl1pPr algn="r"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24175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b" anchorCtr="0" compatLnSpc="1"/>
          <a:lstStyle>
            <a:lvl1pPr defTabSz="900430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2063" y="9307513"/>
            <a:ext cx="2925762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14" tIns="45007" rIns="90014" bIns="45007" numCol="1" anchor="b" anchorCtr="0" compatLnSpc="1"/>
          <a:lstStyle>
            <a:lvl1pPr algn="r" defTabSz="900430" eaLnBrk="0" hangingPunct="0">
              <a:defRPr sz="1200"/>
            </a:lvl1pPr>
          </a:lstStyle>
          <a:p>
            <a:pPr>
              <a:defRPr/>
            </a:pPr>
            <a:fld id="{9F0F5E15-0D75-439A-A50B-97EE4185C33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15" descr="ict1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八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906072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5.1.1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考虑文法</a:t>
            </a:r>
            <a:endParaRPr lang="zh-CN" altLang="en-US" b="1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b="1" dirty="0"/>
              <a:t>	S → E </a:t>
            </a:r>
            <a:r>
              <a:rPr lang="en-US" altLang="zh-CN" dirty="0"/>
              <a:t>n</a:t>
            </a:r>
            <a:endParaRPr lang="en-US" altLang="zh-CN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	E → </a:t>
            </a:r>
            <a:r>
              <a:rPr lang="en-US" altLang="zh-CN"/>
              <a:t>E - </a:t>
            </a:r>
            <a:r>
              <a:rPr lang="en-US" altLang="zh-CN" dirty="0"/>
              <a:t>T | T</a:t>
            </a:r>
            <a:endParaRPr lang="en-US" altLang="zh-CN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	T → T / F | F</a:t>
            </a:r>
            <a:endParaRPr lang="en-US" altLang="zh-CN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	F </a:t>
            </a:r>
            <a:r>
              <a:rPr lang="en-US" altLang="zh-CN" dirty="0">
                <a:sym typeface="+mn-ea"/>
              </a:rPr>
              <a:t>→  ( E ) | digit</a:t>
            </a:r>
            <a:endParaRPr lang="en-US" altLang="zh-CN" dirty="0">
              <a:sym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ea typeface="宋体" panose="02010600030101010101" pitchFamily="2" charset="-122"/>
              </a:rPr>
              <a:t> S, E, T, F </a:t>
            </a:r>
            <a:r>
              <a:rPr lang="zh-CN" altLang="en-US" b="1" dirty="0">
                <a:ea typeface="宋体" panose="02010600030101010101" pitchFamily="2" charset="-122"/>
              </a:rPr>
              <a:t>为非终结符</a:t>
            </a:r>
            <a:endParaRPr lang="en-US" altLang="zh-CN" b="1" dirty="0"/>
          </a:p>
          <a:p>
            <a:pPr lvl="1"/>
            <a:r>
              <a:rPr lang="zh-CN" altLang="en-US" b="1" dirty="0"/>
              <a:t>消除左递归</a:t>
            </a:r>
            <a:endParaRPr lang="zh-CN" altLang="en-US" b="1" dirty="0"/>
          </a:p>
          <a:p>
            <a:pPr lvl="1"/>
            <a:r>
              <a:rPr lang="zh-CN" altLang="en-US" b="1" dirty="0"/>
              <a:t>对消除左递归后的文法，给出一个语法制导定义，使得 </a:t>
            </a:r>
            <a:r>
              <a:rPr lang="en-US" altLang="zh-CN" b="1" dirty="0" err="1"/>
              <a:t>S.val</a:t>
            </a:r>
            <a:r>
              <a:rPr lang="en-US" altLang="zh-CN" b="1" dirty="0"/>
              <a:t> </a:t>
            </a:r>
            <a:r>
              <a:rPr lang="zh-CN" altLang="en-US" b="1" dirty="0"/>
              <a:t>为表达式 </a:t>
            </a:r>
            <a:r>
              <a:rPr lang="en-US" altLang="zh-CN" b="1" dirty="0"/>
              <a:t>S </a:t>
            </a:r>
            <a:r>
              <a:rPr lang="zh-CN" altLang="en-US" b="1" dirty="0"/>
              <a:t>的值。注：</a:t>
            </a:r>
            <a:r>
              <a:rPr lang="en-US" altLang="zh-CN" b="1" dirty="0" err="1"/>
              <a:t>digit.lexval</a:t>
            </a:r>
            <a:r>
              <a:rPr lang="en-US" altLang="zh-CN" b="1" dirty="0"/>
              <a:t> </a:t>
            </a:r>
            <a:r>
              <a:rPr lang="zh-CN" altLang="en-US" b="1" dirty="0"/>
              <a:t>表示数字字面量的值</a:t>
            </a:r>
            <a:endParaRPr lang="en-US" altLang="zh-CN" b="1" dirty="0"/>
          </a:p>
          <a:p>
            <a:pPr lvl="1"/>
            <a:r>
              <a:rPr lang="zh-CN" altLang="en-US" b="1" dirty="0"/>
              <a:t>使用上面得到的 </a:t>
            </a:r>
            <a:r>
              <a:rPr lang="en-US" altLang="zh-CN" b="1" dirty="0"/>
              <a:t>SDD</a:t>
            </a:r>
            <a:r>
              <a:rPr lang="zh-CN" altLang="en-US" b="1" dirty="0"/>
              <a:t>，给出</a:t>
            </a:r>
            <a:r>
              <a:rPr lang="en-US" altLang="zh-CN" b="1" dirty="0"/>
              <a:t> 8 /4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3 </a:t>
            </a:r>
            <a:r>
              <a:rPr lang="en-US" altLang="zh-CN" b="1" dirty="0"/>
              <a:t>n </a:t>
            </a:r>
            <a:r>
              <a:rPr lang="zh-CN" altLang="en-US" b="1" dirty="0"/>
              <a:t>的注释语法分析树</a:t>
            </a:r>
            <a:endParaRPr lang="zh-CN" altLang="en-US" b="1" dirty="0"/>
          </a:p>
          <a:p>
            <a:endParaRPr lang="zh-CN" altLang="en-US" b="1" dirty="0"/>
          </a:p>
          <a:p>
            <a:pPr lvl="1"/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5.07</a:t>
            </a:r>
            <a:endParaRPr lang="en-US" altLang="zh-CN" sz="1800" b="1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八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5.1.2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考虑产生式</a:t>
            </a:r>
            <a:r>
              <a:rPr lang="en-US" altLang="zh-CN" b="1" dirty="0"/>
              <a:t> A→BCD</a:t>
            </a:r>
            <a:r>
              <a:rPr lang="zh-CN" altLang="en-US" b="1" dirty="0"/>
              <a:t>，其中</a:t>
            </a:r>
            <a:r>
              <a:rPr lang="en-US" altLang="zh-CN" b="1" dirty="0"/>
              <a:t> A</a:t>
            </a:r>
            <a:r>
              <a:rPr lang="zh-CN" altLang="en-US" b="1" dirty="0"/>
              <a:t>、</a:t>
            </a:r>
            <a:r>
              <a:rPr lang="en-US" altLang="zh-CN" b="1" dirty="0"/>
              <a:t>B</a:t>
            </a:r>
            <a:r>
              <a:rPr lang="zh-CN" altLang="en-US" b="1" dirty="0"/>
              <a:t>、</a:t>
            </a:r>
            <a:r>
              <a:rPr lang="en-US" altLang="zh-CN" b="1" dirty="0"/>
              <a:t>C</a:t>
            </a:r>
            <a:r>
              <a:rPr lang="zh-CN" altLang="en-US" b="1" dirty="0"/>
              <a:t>、</a:t>
            </a:r>
            <a:r>
              <a:rPr lang="en-US" altLang="zh-CN" b="1" dirty="0"/>
              <a:t>D </a:t>
            </a:r>
            <a:r>
              <a:rPr lang="zh-CN" altLang="en-US" b="1" dirty="0"/>
              <a:t>四个非终结符各有综合属性</a:t>
            </a:r>
            <a:r>
              <a:rPr lang="en-US" altLang="zh-CN" b="1" dirty="0"/>
              <a:t> s </a:t>
            </a:r>
            <a:r>
              <a:rPr lang="zh-CN" altLang="en-US" b="1" dirty="0"/>
              <a:t>和继承属性</a:t>
            </a:r>
            <a:r>
              <a:rPr lang="en-US" altLang="zh-CN" b="1" dirty="0"/>
              <a:t> i </a:t>
            </a:r>
            <a:r>
              <a:rPr lang="zh-CN" altLang="en-US" b="1" dirty="0"/>
              <a:t>。对于下面的规则</a:t>
            </a:r>
            <a:endParaRPr lang="en-US" altLang="zh-CN" b="1" dirty="0"/>
          </a:p>
          <a:p>
            <a:pPr lvl="1">
              <a:buFont typeface="+mj-lt"/>
              <a:buAutoNum type="alphaLcParenR"/>
            </a:pPr>
            <a:r>
              <a:rPr lang="en-US" altLang="zh-CN" b="1"/>
              <a:t>A.s = B.s + C.s + D.s</a:t>
            </a:r>
            <a:endParaRPr lang="en-US" altLang="zh-CN">
              <a:sym typeface="+mn-ea"/>
            </a:endParaRPr>
          </a:p>
          <a:p>
            <a:pPr lvl="1">
              <a:buFont typeface="+mj-lt"/>
              <a:buAutoNum type="alphaLcParenR"/>
            </a:pPr>
            <a:r>
              <a:rPr lang="en-US" altLang="zh-CN">
                <a:sym typeface="+mn-ea"/>
              </a:rPr>
              <a:t>B.i = A.i; C.i = B.s; </a:t>
            </a:r>
            <a:r>
              <a:rPr lang="en-US" altLang="zh-CN">
                <a:sym typeface="+mn-ea"/>
              </a:rPr>
              <a:t>D.i = B.s + C.s; A.s = B.s; </a:t>
            </a:r>
            <a:endParaRPr lang="en-US" altLang="zh-CN" b="1"/>
          </a:p>
          <a:p>
            <a:pPr lvl="1">
              <a:buFont typeface="+mj-lt"/>
              <a:buAutoNum type="alphaLcParenR"/>
            </a:pPr>
            <a:r>
              <a:rPr lang="en-US" altLang="zh-CN" b="1" dirty="0"/>
              <a:t>B.i = C.s; C.i = B.s + 1; A.s = B.s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分别讨论</a:t>
            </a:r>
            <a:endParaRPr lang="en-US" altLang="zh-CN" b="1" dirty="0"/>
          </a:p>
          <a:p>
            <a:pPr lvl="1"/>
            <a:r>
              <a:rPr lang="zh-CN" altLang="en-US" b="1" dirty="0"/>
              <a:t>这些规则是否满足 </a:t>
            </a:r>
            <a:r>
              <a:rPr lang="en-US" altLang="zh-CN" b="1" dirty="0"/>
              <a:t>S </a:t>
            </a:r>
            <a:r>
              <a:rPr lang="zh-CN" altLang="en-US" b="1" dirty="0"/>
              <a:t>属性的要求？</a:t>
            </a:r>
            <a:endParaRPr lang="en-US" altLang="zh-CN" b="1" dirty="0"/>
          </a:p>
          <a:p>
            <a:pPr lvl="1"/>
            <a:r>
              <a:rPr lang="zh-CN" altLang="en-US" b="1" dirty="0"/>
              <a:t>这些规则是否满足 </a:t>
            </a:r>
            <a:r>
              <a:rPr lang="en-US" altLang="zh-CN" b="1" dirty="0"/>
              <a:t>L </a:t>
            </a:r>
            <a:r>
              <a:rPr lang="zh-CN" altLang="en-US" b="1" dirty="0"/>
              <a:t>属性的要求？</a:t>
            </a:r>
            <a:endParaRPr lang="en-US" altLang="zh-CN" b="1" dirty="0"/>
          </a:p>
          <a:p>
            <a:pPr lvl="1"/>
            <a:r>
              <a:rPr lang="zh-CN" altLang="en-US" b="1" dirty="0"/>
              <a:t>是否存在和这些规则一致的求值过程？若不存在，请说明理由</a:t>
            </a:r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5.07</a:t>
            </a:r>
            <a:endParaRPr lang="en-US" altLang="zh-CN" sz="1800" b="1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TY2NzViMGE0MGY5ZGIzNTc4NDAxZjMyNDJhZDRmODQifQ=="/>
</p:tagLst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2225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2225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bm0325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bm0325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bm0325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E:\weldon\src\ipd_seminar\ibm0325.ppt</Template>
  <TotalTime>0</TotalTime>
  <Words>463</Words>
  <Application>WPS 演示</Application>
  <PresentationFormat>全屏显示(4:3)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Tahoma</vt:lpstr>
      <vt:lpstr>Book Antiqua</vt:lpstr>
      <vt:lpstr>Monotype Sorts</vt:lpstr>
      <vt:lpstr>Wingdings</vt:lpstr>
      <vt:lpstr>微软雅黑</vt:lpstr>
      <vt:lpstr>Arial Unicode MS</vt:lpstr>
      <vt:lpstr>ibm0325</vt:lpstr>
      <vt:lpstr>第八次作业</vt:lpstr>
      <vt:lpstr>第八次作业</vt:lpstr>
    </vt:vector>
  </TitlesOfParts>
  <Company>Micron Electronics,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Cheng Yue</cp:lastModifiedBy>
  <cp:revision>620</cp:revision>
  <cp:lastPrinted>2023-02-16T07:14:00Z</cp:lastPrinted>
  <dcterms:created xsi:type="dcterms:W3CDTF">2023-02-16T07:14:00Z</dcterms:created>
  <dcterms:modified xsi:type="dcterms:W3CDTF">2026-04-22T02:18:27Z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944FA857AE3246BF9FA5F1D32C6ABE9B_13</vt:lpwstr>
  </property>
</Properties>
</file>