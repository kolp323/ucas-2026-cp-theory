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92" r:id="rId3"/>
    <p:sldId id="493" r:id="rId4"/>
    <p:sldId id="494" r:id="rId5"/>
  </p:sldIdLst>
  <p:sldSz cx="9144000" cy="6858000" type="screen4x3"/>
  <p:notesSz cx="6708775" cy="9773920"/>
  <p:custDataLst>
    <p:tags r:id="rId1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575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 f" initials="" lastIdx="1" clrIdx="0"/>
  <p:cmAuthor id="2" name="未知用户1" initials="未知用户1" lastIdx="1" clrIdx="1"/>
  <p:cmAuthor id="3" name="未知用户2" initials="未知用户2" lastIdx="1" clrIdx="2"/>
  <p:cmAuthor id="4" name="f ja" initials="" lastIdx="1" clrIdx="3"/>
  <p:cmAuthor id="5" name="未知用户3" initials="未知用户3" lastIdx="1" clrIdx="4"/>
  <p:cmAuthor id="6" name="未知用户4" initials="未知用户4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00"/>
    <a:srgbClr val="FFFFCC"/>
    <a:srgbClr val="CCFFCC"/>
    <a:srgbClr val="FFCCFF"/>
    <a:srgbClr val="CCFFFF"/>
    <a:srgbClr val="CCECFF"/>
    <a:srgbClr val="66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900" autoAdjust="0"/>
  </p:normalViewPr>
  <p:slideViewPr>
    <p:cSldViewPr showGuides="1">
      <p:cViewPr varScale="1">
        <p:scale>
          <a:sx n="128" d="100"/>
          <a:sy n="128" d="100"/>
        </p:scale>
        <p:origin x="1544" y="176"/>
      </p:cViewPr>
      <p:guideLst>
        <p:guide orient="horz" pos="144"/>
        <p:guide pos="5759"/>
      </p:guideLst>
    </p:cSldViewPr>
  </p:slideViewPr>
  <p:outlineViewPr>
    <p:cViewPr>
      <p:scale>
        <a:sx n="33" d="100"/>
        <a:sy n="33" d="100"/>
      </p:scale>
      <p:origin x="0" y="-201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4175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t" anchorCtr="0" compatLnSpc="1"/>
          <a:lstStyle>
            <a:lvl1pPr defTabSz="900430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2063" y="0"/>
            <a:ext cx="2925762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t" anchorCtr="0" compatLnSpc="1"/>
          <a:lstStyle>
            <a:lvl1pPr algn="r" defTabSz="900430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24175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b" anchorCtr="0" compatLnSpc="1"/>
          <a:lstStyle>
            <a:lvl1pPr defTabSz="900430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02063" y="9307513"/>
            <a:ext cx="2925762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b" anchorCtr="0" compatLnSpc="1"/>
          <a:lstStyle>
            <a:lvl1pPr algn="r" defTabSz="900430" eaLnBrk="0" hangingPunct="0">
              <a:defRPr sz="1200"/>
            </a:lvl1pPr>
          </a:lstStyle>
          <a:p>
            <a:pPr>
              <a:defRPr/>
            </a:pPr>
            <a:fld id="{9F0F5E15-0D75-439A-A50B-97EE4185C33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2063" y="0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algn="r"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1225" y="733425"/>
            <a:ext cx="48879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41850"/>
            <a:ext cx="4921250" cy="4398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2063" y="9285288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algn="r" defTabSz="916305" eaLnBrk="0" hangingPunct="0">
              <a:defRPr sz="1200"/>
            </a:lvl1pPr>
          </a:lstStyle>
          <a:p>
            <a:pPr>
              <a:defRPr/>
            </a:pPr>
            <a:fld id="{A274B8ED-3803-4C8E-B5B0-93EBFA3759D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3535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402080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000" b="1"/>
            </a:lvl1pPr>
            <a:lvl2pPr marL="800100" indent="-342900">
              <a:buFont typeface="+mj-lt"/>
              <a:buAutoNum type="arabicPeriod"/>
              <a:defRPr sz="1800" b="1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fld id="{DB7B3039-5302-4A8A-872F-68F8A6D6B3FA}" type="slidenum">
              <a:rPr lang="zh-CN" altLang="en-US" sz="140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120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3" name="Picture 15" descr="ict1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7"/>
          <p:cNvSpPr>
            <a:spLocks noChangeArrowheads="1"/>
          </p:cNvSpPr>
          <p:nvPr/>
        </p:nvSpPr>
        <p:spPr bwMode="gray"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kumimoji="1"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pitchFamily="2" charset="2"/>
        <a:buChar char="ä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pitchFamily="2" charset="2"/>
        <a:buChar char="ä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十一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次作业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906072" cy="4495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7.1.1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考虑</a:t>
            </a:r>
            <a:r>
              <a:rPr lang="en-US" altLang="zh-CN" b="1" dirty="0"/>
              <a:t>C </a:t>
            </a:r>
            <a:r>
              <a:rPr lang="zh-CN" altLang="en-US" b="1" dirty="0"/>
              <a:t>语言的函数</a:t>
            </a:r>
            <a:r>
              <a:rPr lang="en-US" altLang="zh-CN" b="1" dirty="0"/>
              <a:t>f </a:t>
            </a:r>
            <a:r>
              <a:rPr lang="zh-CN" altLang="en-US" b="1" dirty="0"/>
              <a:t>和</a:t>
            </a:r>
            <a:r>
              <a:rPr lang="en-US" altLang="zh-CN" b="1" dirty="0"/>
              <a:t>g：</a:t>
            </a:r>
            <a:r>
              <a:rPr lang="zh-CN" altLang="en-US" b="1" dirty="0"/>
              <a:t>按照图7-7的约定，不考虑编译器优化，讨论当</a:t>
            </a:r>
            <a:r>
              <a:rPr lang="en-US" altLang="zh-CN" b="1" dirty="0"/>
              <a:t>h </a:t>
            </a:r>
            <a:r>
              <a:rPr lang="zh-CN" altLang="en-US" b="1" dirty="0"/>
              <a:t>调用</a:t>
            </a:r>
            <a:r>
              <a:rPr lang="en-US" altLang="zh-CN" b="1" dirty="0"/>
              <a:t>k </a:t>
            </a:r>
            <a:r>
              <a:rPr lang="zh-CN" altLang="en-US" b="1" dirty="0"/>
              <a:t>而</a:t>
            </a:r>
            <a:r>
              <a:rPr lang="en-US" altLang="zh-CN" b="1" dirty="0"/>
              <a:t>k </a:t>
            </a:r>
            <a:r>
              <a:rPr lang="zh-CN" altLang="en-US" b="1" dirty="0"/>
              <a:t>即将返回时运行时栈的状态，其中</a:t>
            </a:r>
            <a:r>
              <a:rPr lang="en-US" altLang="zh-CN" b="1" dirty="0"/>
              <a:t>h</a:t>
            </a:r>
            <a:r>
              <a:rPr lang="en-US" altLang="zh-CN" b="1" dirty="0"/>
              <a:t> </a:t>
            </a:r>
            <a:r>
              <a:rPr lang="zh-CN" altLang="en-US" b="1" dirty="0"/>
              <a:t>的参数</a:t>
            </a:r>
            <a:r>
              <a:rPr lang="en-US" altLang="zh-CN" b="1" dirty="0"/>
              <a:t>a= 2。</a:t>
            </a:r>
            <a:r>
              <a:rPr lang="zh-CN" altLang="en-US" b="1" dirty="0"/>
              <a:t>只需要讨论返回值、参数、控制链和代码中体现的局部数据。指出</a:t>
            </a: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b="1" dirty="0"/>
          </a:p>
          <a:p>
            <a:pPr lvl="1"/>
            <a:endParaRPr lang="zh-CN" altLang="en-US" b="1" dirty="0">
              <a:sym typeface="+mn-ea"/>
            </a:endParaRPr>
          </a:p>
          <a:p>
            <a:pPr lvl="1"/>
            <a:endParaRPr lang="zh-CN" altLang="en-US" b="1" dirty="0">
              <a:sym typeface="+mn-ea"/>
            </a:endParaRPr>
          </a:p>
          <a:p>
            <a:pPr lvl="1"/>
            <a:endParaRPr lang="zh-CN" altLang="en-US" b="1" dirty="0">
              <a:sym typeface="+mn-ea"/>
            </a:endParaRPr>
          </a:p>
          <a:p>
            <a:pPr lvl="1"/>
            <a:endParaRPr lang="zh-CN" altLang="en-US" b="1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哪个函数在栈中为各个元素创建了所使用的空间？</a:t>
            </a:r>
            <a:endParaRPr lang="zh-CN" altLang="en-US" b="1" dirty="0"/>
          </a:p>
          <a:p>
            <a:pPr lvl="1" algn="l"/>
            <a:r>
              <a:rPr lang="zh-CN" altLang="en-US" dirty="0">
                <a:cs typeface="+mn-ea"/>
                <a:sym typeface="+mn-ea"/>
              </a:rPr>
              <a:t>哪个函数写入了各个元素的值？参数、返回值和局部变量的值是什么？</a:t>
            </a:r>
            <a:endParaRPr lang="zh-CN" altLang="en-US" strike="noStrike" dirty="0">
              <a:cs typeface="+mn-ea"/>
            </a:endParaRPr>
          </a:p>
          <a:p>
            <a:pPr lvl="1" algn="l"/>
            <a:r>
              <a:rPr lang="zh-CN" altLang="en-US" dirty="0">
                <a:cs typeface="+mn-ea"/>
                <a:sym typeface="+mn-ea"/>
              </a:rPr>
              <a:t>这些元素属于哪个活动记录？</a:t>
            </a:r>
            <a:endParaRPr lang="zh-CN" altLang="en-US" strike="noStrike" dirty="0">
              <a:cs typeface="+mn-ea"/>
            </a:endParaRPr>
          </a:p>
          <a:p>
            <a:pPr lvl="1"/>
            <a:endParaRPr lang="zh-CN" altLang="en-US" b="1" dirty="0"/>
          </a:p>
          <a:p>
            <a:pPr lvl="1"/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6</a:t>
            </a:r>
            <a:r>
              <a:rPr lang="en-US" altLang="zh-CN" sz="1800" b="1" dirty="0">
                <a:solidFill>
                  <a:srgbClr val="063DE8"/>
                </a:solidFill>
              </a:rPr>
              <a:t>.01</a:t>
            </a:r>
            <a:endParaRPr lang="en-US" altLang="zh-CN" sz="1800" b="1" dirty="0">
              <a:solidFill>
                <a:srgbClr val="063DE8"/>
              </a:solidFill>
            </a:endParaRPr>
          </a:p>
        </p:txBody>
      </p:sp>
      <p:sp>
        <p:nvSpPr>
          <p:cNvPr id="17" name="Shape 4"/>
          <p:cNvSpPr/>
          <p:nvPr/>
        </p:nvSpPr>
        <p:spPr>
          <a:xfrm>
            <a:off x="2411730" y="2924810"/>
            <a:ext cx="3084830" cy="211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C7D3E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Text 5"/>
          <p:cNvSpPr/>
          <p:nvPr/>
        </p:nvSpPr>
        <p:spPr>
          <a:xfrm>
            <a:off x="2596515" y="2997200"/>
            <a:ext cx="2647315" cy="21120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k(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*,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h(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a) {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i = a * 3 + 1;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return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k(&amp;i, a);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k(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*p,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q) {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int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s = *p + q;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return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s + 2;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400" b="0" strike="noStrike" spc="-1">
              <a:solidFill>
                <a:srgbClr val="1F2937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十一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7</a:t>
            </a:r>
            <a:r>
              <a:rPr lang="en-US" altLang="zh-CN" b="1" dirty="0">
                <a:ea typeface="宋体" panose="02010600030101010101" pitchFamily="2" charset="-122"/>
              </a:rPr>
              <a:t>.1.2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考虑下面的</a:t>
            </a:r>
            <a:r>
              <a:rPr lang="en-US" altLang="zh-CN" b="1" dirty="0"/>
              <a:t>Fibonacci</a:t>
            </a:r>
            <a:r>
              <a:rPr lang="zh-CN" altLang="en-US" b="1" dirty="0"/>
              <a:t>函数：</a:t>
            </a:r>
            <a:endParaRPr lang="zh-CN" altLang="en-US" b="1" dirty="0"/>
          </a:p>
          <a:p>
            <a:pPr marL="0" indent="457200">
              <a:buFont typeface="Arial" panose="020B0604020202020204" pitchFamily="34" charset="0"/>
              <a:buNone/>
            </a:pPr>
            <a:r>
              <a:rPr lang="zh-CN" altLang="en-US" b="1" dirty="0"/>
              <a:t>嵌套在</a:t>
            </a:r>
            <a:r>
              <a:rPr lang="en-US" altLang="zh-CN" b="1" dirty="0"/>
              <a:t>fib0</a:t>
            </a:r>
            <a:r>
              <a:rPr lang="zh-CN" altLang="en-US" b="1" dirty="0"/>
              <a:t>中的是</a:t>
            </a:r>
            <a:r>
              <a:rPr lang="en-US" altLang="zh-CN" b="1" dirty="0"/>
              <a:t>fib1，</a:t>
            </a:r>
            <a:r>
              <a:rPr lang="zh-CN" altLang="en-US" b="1" dirty="0"/>
              <a:t>它假设</a:t>
            </a:r>
            <a:r>
              <a:rPr lang="en-US" altLang="zh-CN" b="1" dirty="0"/>
              <a:t>n &gt;= 2</a:t>
            </a:r>
            <a:r>
              <a:rPr lang="zh-CN" altLang="en-US" b="1" dirty="0"/>
              <a:t>并计算第</a:t>
            </a:r>
            <a:r>
              <a:rPr lang="en-US" altLang="zh-CN" b="1" dirty="0"/>
              <a:t>n</a:t>
            </a:r>
            <a:r>
              <a:rPr lang="zh-CN" altLang="en-US" b="1" dirty="0"/>
              <a:t>个</a:t>
            </a:r>
            <a:r>
              <a:rPr lang="en-US" altLang="zh-CN" b="1" dirty="0"/>
              <a:t>Fibonacci</a:t>
            </a:r>
            <a:r>
              <a:rPr lang="zh-CN" altLang="en-US" b="1" dirty="0"/>
              <a:t>数；嵌套在</a:t>
            </a:r>
            <a:r>
              <a:rPr lang="en-US" altLang="zh-CN" b="1" dirty="0"/>
              <a:t>fib1</a:t>
            </a:r>
            <a:r>
              <a:rPr lang="zh-CN" altLang="en-US" b="1" dirty="0"/>
              <a:t>中的是</a:t>
            </a:r>
            <a:r>
              <a:rPr lang="en-US" altLang="zh-CN" b="1" dirty="0"/>
              <a:t>fib2，</a:t>
            </a:r>
            <a:r>
              <a:rPr lang="zh-CN" altLang="en-US" b="1" dirty="0"/>
              <a:t>它假设</a:t>
            </a:r>
            <a:r>
              <a:rPr lang="en-US" altLang="zh-CN" b="1" dirty="0"/>
              <a:t>n &gt;= 4。</a:t>
            </a:r>
            <a:r>
              <a:rPr lang="zh-CN" altLang="en-US" b="1" dirty="0"/>
              <a:t>请注意，</a:t>
            </a:r>
            <a:r>
              <a:rPr lang="en-US" altLang="zh-CN" b="1" dirty="0"/>
              <a:t>fib1</a:t>
            </a:r>
            <a:r>
              <a:rPr lang="zh-CN" altLang="en-US" b="1" dirty="0"/>
              <a:t>和</a:t>
            </a:r>
            <a:r>
              <a:rPr lang="en-US" altLang="zh-CN" b="1" dirty="0"/>
              <a:t>fib2</a:t>
            </a:r>
            <a:r>
              <a:rPr lang="zh-CN" altLang="en-US" b="1" dirty="0"/>
              <a:t>都不需要检查基本情况。我们考虑从对</a:t>
            </a:r>
            <a:r>
              <a:rPr lang="en-US" altLang="zh-CN" b="1" dirty="0"/>
              <a:t>main</a:t>
            </a:r>
            <a:r>
              <a:rPr lang="zh-CN" altLang="en-US" b="1" dirty="0"/>
              <a:t>的调用开始，直到（对</a:t>
            </a:r>
            <a:r>
              <a:rPr lang="en-US" altLang="zh-CN" b="1" dirty="0"/>
              <a:t>fib0(1)</a:t>
            </a:r>
            <a:r>
              <a:rPr lang="zh-CN" altLang="en-US" b="1" dirty="0"/>
              <a:t>的）第一次调用即将返回的时段。</a:t>
            </a:r>
            <a:endParaRPr lang="zh-CN" altLang="en-US" b="1" dirty="0"/>
          </a:p>
          <a:p>
            <a:pPr lvl="1" algn="l">
              <a:buAutoNum type="arabicPeriod"/>
            </a:pPr>
            <a:r>
              <a:rPr lang="zh-CN" altLang="en-US" b="1" dirty="0">
                <a:cs typeface="+mn-ea"/>
              </a:rPr>
              <a:t>请描述出当时的活动记录栈，并给出栈中的各个活动记录的访问链。</a:t>
            </a:r>
            <a:endParaRPr lang="zh-CN" altLang="en-US" b="1" dirty="0">
              <a:cs typeface="+mn-ea"/>
            </a:endParaRPr>
          </a:p>
          <a:p>
            <a:pPr lvl="1" algn="l">
              <a:buAutoNum type="arabicPeriod"/>
            </a:pPr>
            <a:r>
              <a:rPr lang="zh-CN" altLang="en-US" b="1" dirty="0"/>
              <a:t>假设我们使用</a:t>
            </a:r>
            <a:r>
              <a:rPr lang="en-US" altLang="zh-CN" b="1" dirty="0"/>
              <a:t>display</a:t>
            </a:r>
            <a:r>
              <a:rPr lang="zh-CN" altLang="en-US" b="1" dirty="0"/>
              <a:t>表来实现下图中的函数。请给出</a:t>
            </a:r>
            <a:r>
              <a:rPr lang="en-US" altLang="zh-CN" b="1" dirty="0"/>
              <a:t>fib0(1) </a:t>
            </a:r>
            <a:r>
              <a:rPr lang="zh-CN" altLang="en-US" b="1" dirty="0"/>
              <a:t>的第一次调用即将返回时的</a:t>
            </a:r>
            <a:r>
              <a:rPr lang="en-US" altLang="zh-CN" b="1" dirty="0"/>
              <a:t>display</a:t>
            </a:r>
            <a:r>
              <a:rPr lang="zh-CN" altLang="en-US" b="1" dirty="0"/>
              <a:t>表。同时指明那时在栈中的各个活动记录中保存的</a:t>
            </a:r>
            <a:r>
              <a:rPr lang="en-US" altLang="zh-CN" b="1" dirty="0"/>
              <a:t>display</a:t>
            </a:r>
            <a:r>
              <a:rPr lang="zh-CN" altLang="en-US" b="1" dirty="0"/>
              <a:t>表条目。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6</a:t>
            </a:r>
            <a:r>
              <a:rPr lang="en-US" altLang="zh-CN" sz="1800" b="1" dirty="0">
                <a:solidFill>
                  <a:srgbClr val="063DE8"/>
                </a:solidFill>
              </a:rPr>
              <a:t>.01</a:t>
            </a:r>
            <a:endParaRPr lang="en-US" altLang="zh-CN" sz="1800" b="1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十一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6</a:t>
            </a:r>
            <a:r>
              <a:rPr lang="en-US" altLang="zh-CN" sz="1800" b="1" dirty="0">
                <a:solidFill>
                  <a:srgbClr val="063DE8"/>
                </a:solidFill>
              </a:rPr>
              <a:t>.01</a:t>
            </a:r>
            <a:endParaRPr lang="en-US" altLang="zh-CN" sz="1800" b="1" dirty="0">
              <a:solidFill>
                <a:srgbClr val="063DE8"/>
              </a:solidFill>
            </a:endParaRPr>
          </a:p>
        </p:txBody>
      </p:sp>
      <p:sp>
        <p:nvSpPr>
          <p:cNvPr id="81" name="Shape 4"/>
          <p:cNvSpPr/>
          <p:nvPr/>
        </p:nvSpPr>
        <p:spPr>
          <a:xfrm>
            <a:off x="1979930" y="1587500"/>
            <a:ext cx="5348605" cy="3955415"/>
          </a:xfrm>
          <a:prstGeom prst="rect">
            <a:avLst/>
          </a:prstGeom>
          <a:solidFill>
            <a:srgbClr val="EEF3F8"/>
          </a:solidFill>
          <a:ln w="12700">
            <a:solidFill>
              <a:srgbClr val="C7D3E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" name="Text 5"/>
          <p:cNvSpPr/>
          <p:nvPr/>
        </p:nvSpPr>
        <p:spPr>
          <a:xfrm>
            <a:off x="2162810" y="1724660"/>
            <a:ext cx="5074285" cy="39211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fun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main() {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let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fun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fib0(n) =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let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fun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fib1(n) =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  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let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    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fun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fib2(n) = fib1(n-1) + fib1(n-2)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  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           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if n &gt;= 4 then fib2(n)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           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else fib0(n-1) + fib0(n-2)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        </a:t>
            </a: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if n &gt;= 2 then fib1(n) else 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  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end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in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D97757"/>
                </a:solidFill>
                <a:latin typeface="Consolas" panose="020B0609020204030204"/>
                <a:ea typeface="Consolas" panose="020B0609020204030204"/>
              </a:rPr>
              <a:t>    </a:t>
            </a:r>
            <a:r>
              <a:rPr lang="en-US" sz="1400" b="1" strike="noStrike" spc="-1">
                <a:solidFill>
                  <a:srgbClr val="D97757"/>
                </a:solidFill>
                <a:latin typeface="Consolas" panose="020B0609020204030204"/>
                <a:ea typeface="Consolas" panose="020B0609020204030204"/>
              </a:rPr>
              <a:t>fib0(5)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400" b="1" strike="noStrike" spc="-1">
                <a:solidFill>
                  <a:srgbClr val="065A82"/>
                </a:solidFill>
                <a:latin typeface="Consolas" panose="020B0609020204030204"/>
                <a:ea typeface="Consolas" panose="020B0609020204030204"/>
              </a:rPr>
              <a:t>end;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F2937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YTY2NzViMGE0MGY5ZGIzNTc4NDAxZjMyNDJhZDRmODQifQ=="/>
</p:tagLst>
</file>

<file path=ppt/theme/theme1.xml><?xml version="1.0" encoding="utf-8"?>
<a:theme xmlns:a="http://schemas.openxmlformats.org/drawingml/2006/main" name="ibm0325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bm0325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2225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2225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bm0325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bm0325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E:\weldon\src\ipd_seminar\ibm0325.ppt</Template>
  <TotalTime>0</TotalTime>
  <Words>928</Words>
  <Application>WPS 演示</Application>
  <PresentationFormat>全屏显示(4:3)</PresentationFormat>
  <Paragraphs>58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Tahoma</vt:lpstr>
      <vt:lpstr>Book Antiqua</vt:lpstr>
      <vt:lpstr>Monotype Sorts</vt:lpstr>
      <vt:lpstr>Wingdings</vt:lpstr>
      <vt:lpstr>Arial</vt:lpstr>
      <vt:lpstr>Consolas</vt:lpstr>
      <vt:lpstr>微软雅黑</vt:lpstr>
      <vt:lpstr>Arial Unicode MS</vt:lpstr>
      <vt:lpstr>ibm0325</vt:lpstr>
      <vt:lpstr>第十次作业</vt:lpstr>
      <vt:lpstr>第十次作业</vt:lpstr>
      <vt:lpstr>第十次作业</vt:lpstr>
    </vt:vector>
  </TitlesOfParts>
  <Company>Micron Electronics,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Cheng Yue</cp:lastModifiedBy>
  <cp:revision>622</cp:revision>
  <cp:lastPrinted>2023-02-16T07:14:00Z</cp:lastPrinted>
  <dcterms:created xsi:type="dcterms:W3CDTF">2023-02-16T07:14:00Z</dcterms:created>
  <dcterms:modified xsi:type="dcterms:W3CDTF">2026-05-23T03:18:13Z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25ABEDC27A5944E0982C9C68A5664DF4_13</vt:lpwstr>
  </property>
</Properties>
</file>