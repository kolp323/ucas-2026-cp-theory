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708775" cy="9774238"/>
  <p:defaultTextStyle>
    <a:defPPr>
      <a:defRPr lang="en-US"/>
    </a:defPPr>
    <a:lvl1pPr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5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CC"/>
    <a:srgbClr val="CCFFCC"/>
    <a:srgbClr val="FFCCFF"/>
    <a:srgbClr val="CCFFFF"/>
    <a:srgbClr val="CCECFF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900" autoAdjust="0"/>
  </p:normalViewPr>
  <p:slideViewPr>
    <p:cSldViewPr showGuides="1">
      <p:cViewPr varScale="1">
        <p:scale>
          <a:sx n="90" d="100"/>
          <a:sy n="90" d="100"/>
        </p:scale>
        <p:origin x="771" y="45"/>
      </p:cViewPr>
      <p:guideLst>
        <p:guide orient="horz" pos="144"/>
        <p:guide pos="5735"/>
      </p:guideLst>
    </p:cSldViewPr>
  </p:slideViewPr>
  <p:outlineViewPr>
    <p:cViewPr>
      <p:scale>
        <a:sx n="33" d="100"/>
        <a:sy n="33" d="100"/>
      </p:scale>
      <p:origin x="0" y="-201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2063" y="0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algn="r"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1225" y="733425"/>
            <a:ext cx="48879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41850"/>
            <a:ext cx="4921250" cy="4398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2063" y="9285288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algn="r" defTabSz="916305" eaLnBrk="0" hangingPunct="0">
              <a:defRPr sz="1200"/>
            </a:lvl1pPr>
          </a:lstStyle>
          <a:p>
            <a:pPr>
              <a:defRPr/>
            </a:pPr>
            <a:fld id="{A274B8ED-3803-4C8E-B5B0-93EBFA3759D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35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2080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000" b="1"/>
            </a:lvl1pPr>
            <a:lvl2pPr marL="800100" indent="-342900">
              <a:buFont typeface="+mj-lt"/>
              <a:buAutoNum type="arabicPeriod"/>
              <a:defRPr sz="1800" b="1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1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2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3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fld id="{DB7B3039-5302-4A8A-872F-68F8A6D6B3FA}" type="slidenum">
              <a:rPr lang="zh-CN" altLang="en-US" sz="1400">
                <a:solidFill>
                  <a:schemeClr val="tx2"/>
                </a:solidFill>
                <a:ea typeface="宋体" panose="02010600030101010101" pitchFamily="2" charset="-122"/>
              </a:rPr>
              <a:t>‹#›</a:t>
            </a:fld>
            <a:endParaRPr lang="en-US" altLang="zh-CN" sz="12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15" descr="ict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7"/>
          <p:cNvSpPr>
            <a:spLocks noChangeArrowheads="1"/>
          </p:cNvSpPr>
          <p:nvPr/>
        </p:nvSpPr>
        <p:spPr bwMode="gray"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kumimoji="1"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2pPr>
      <a:lvl3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3pPr>
      <a:lvl4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4pPr>
      <a:lvl5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5pPr>
      <a:lvl6pPr marL="4572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6pPr>
      <a:lvl7pPr marL="9144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7pPr>
      <a:lvl8pPr marL="13716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8pPr>
      <a:lvl9pPr marL="18288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十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练习</a:t>
            </a:r>
            <a:r>
              <a:rPr lang="en-US" altLang="zh-CN" dirty="0">
                <a:ea typeface="宋体" panose="02010600030101010101" pitchFamily="2" charset="-122"/>
              </a:rPr>
              <a:t>8.1.1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zh-CN" altLang="en-US" dirty="0"/>
              <a:t>假设 n 在一个内存位置中， s 、 i 分配在寄存器中，为下面的语句序列生成代码，并计算生成的目标代码的代价（其中访存代价为</a:t>
            </a:r>
            <a:r>
              <a:rPr lang="en-US" altLang="zh-CN" dirty="0"/>
              <a:t>3</a:t>
            </a:r>
            <a:r>
              <a:rPr lang="zh-CN" altLang="en-US" dirty="0">
                <a:ea typeface="宋体" panose="02010600030101010101" pitchFamily="2" charset="-122"/>
              </a:rPr>
              <a:t>，分支代价为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，其他指令代价为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练习8.1.2：假设使用栈式分配，且假设 a 和 b 都是元素大小为</a:t>
            </a:r>
            <a:r>
              <a:rPr lang="en-US" altLang="zh-CN" dirty="0"/>
              <a:t>4</a:t>
            </a:r>
            <a:r>
              <a:rPr lang="zh-CN" altLang="en-US" dirty="0"/>
              <a:t>字节的数组，为下面的三地址语句生成代码</a:t>
            </a:r>
          </a:p>
          <a:p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6.22</a:t>
            </a:r>
          </a:p>
        </p:txBody>
      </p:sp>
      <p:sp>
        <p:nvSpPr>
          <p:cNvPr id="5" name="文本框 8"/>
          <p:cNvSpPr txBox="1"/>
          <p:nvPr/>
        </p:nvSpPr>
        <p:spPr>
          <a:xfrm>
            <a:off x="3780155" y="5445125"/>
            <a:ext cx="115824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x = a[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]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y = b[j]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a[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] = y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b[j] = x</a:t>
            </a:r>
          </a:p>
        </p:txBody>
      </p:sp>
      <p:sp>
        <p:nvSpPr>
          <p:cNvPr id="6" name="文本框 9"/>
          <p:cNvSpPr txBox="1"/>
          <p:nvPr/>
        </p:nvSpPr>
        <p:spPr>
          <a:xfrm>
            <a:off x="3275965" y="2780665"/>
            <a:ext cx="164160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   s = 0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  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= 0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L1: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   if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&gt;= n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goto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L2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   s = s +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endParaRPr lang="en-US" altLang="zh-CN" sz="1600" dirty="0">
              <a:latin typeface="Tlwg Mono" panose="02000603000000000000" charset="0"/>
              <a:cs typeface="Tlwg Mono" panose="02000603000000000000" charset="0"/>
            </a:endParaRP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  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=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i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+ 2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   </a:t>
            </a:r>
            <a:r>
              <a:rPr lang="en-US" altLang="zh-CN" sz="1600" dirty="0" err="1">
                <a:latin typeface="Tlwg Mono" panose="02000603000000000000" charset="0"/>
                <a:cs typeface="Tlwg Mono" panose="02000603000000000000" charset="0"/>
              </a:rPr>
              <a:t>goto</a:t>
            </a:r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 L1</a:t>
            </a:r>
          </a:p>
          <a:p>
            <a:r>
              <a:rPr lang="en-US" altLang="zh-CN" sz="1600" dirty="0">
                <a:latin typeface="Tlwg Mono" panose="02000603000000000000" charset="0"/>
                <a:cs typeface="Tlwg Mono" panose="02000603000000000000" charset="0"/>
              </a:rPr>
              <a:t>L2: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第十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lang="zh-CN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4435" cy="44958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练习</a:t>
            </a:r>
            <a:r>
              <a:rPr lang="en-US" altLang="zh-CN" dirty="0">
                <a:ea typeface="宋体" panose="02010600030101010101" pitchFamily="2" charset="-122"/>
              </a:rPr>
              <a:t>8.1.3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dirty="0"/>
              <a:t>考虑</a:t>
            </a:r>
            <a:r>
              <a:rPr lang="zh-CN" dirty="0">
                <a:ea typeface="宋体" panose="02010600030101010101" pitchFamily="2" charset="-122"/>
              </a:rPr>
              <a:t>下</a:t>
            </a:r>
            <a:r>
              <a:rPr dirty="0"/>
              <a:t>面的矩阵乘法程序：</a:t>
            </a:r>
          </a:p>
          <a:p>
            <a:pPr lvl="1"/>
            <a:r>
              <a:rPr dirty="0"/>
              <a:t>假设每个矩阵元素占4字节，且矩阵按行存放，把程序翻译成本节中的三地址语句并标出基本块</a:t>
            </a:r>
          </a:p>
          <a:p>
            <a:pPr lvl="1"/>
            <a:r>
              <a:rPr lang="zh-CN" altLang="en-US" dirty="0"/>
              <a:t>为</a:t>
            </a:r>
            <a:r>
              <a:rPr lang="en-US" altLang="zh-CN" dirty="0"/>
              <a:t>1. </a:t>
            </a:r>
            <a:r>
              <a:rPr lang="zh-CN" altLang="en-US" dirty="0"/>
              <a:t>中得到的代码构造流图</a:t>
            </a:r>
            <a:endParaRPr lang="en-US" altLang="zh-CN" dirty="0"/>
          </a:p>
          <a:p>
            <a:pPr lvl="1"/>
            <a:r>
              <a:rPr lang="zh-CN" altLang="en-US" dirty="0"/>
              <a:t>找到</a:t>
            </a:r>
            <a:r>
              <a:rPr lang="en-US" altLang="zh-CN" dirty="0"/>
              <a:t>2. </a:t>
            </a:r>
            <a:r>
              <a:rPr lang="zh-CN" altLang="en-US" dirty="0"/>
              <a:t>中流图中的循环</a:t>
            </a:r>
          </a:p>
          <a:p>
            <a:pPr lvl="1"/>
            <a:endParaRPr lang="zh-CN" altLang="en-US" dirty="0"/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练习</a:t>
            </a:r>
            <a:r>
              <a:rPr lang="en-US" altLang="zh-CN" dirty="0">
                <a:ea typeface="宋体" panose="02010600030101010101" pitchFamily="2" charset="-122"/>
              </a:rPr>
              <a:t>8.1.4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zh-CN" altLang="en-US" dirty="0"/>
              <a:t>考虑右面的基本块</a:t>
            </a:r>
            <a:endParaRPr lang="en-US" altLang="zh-CN" dirty="0"/>
          </a:p>
          <a:p>
            <a:pPr lvl="1"/>
            <a:r>
              <a:rPr lang="zh-CN" altLang="en-US" dirty="0"/>
              <a:t>构造 </a:t>
            </a:r>
            <a:r>
              <a:rPr lang="en-US" altLang="zh-CN" dirty="0"/>
              <a:t>DAG</a:t>
            </a:r>
          </a:p>
          <a:p>
            <a:pPr lvl="1"/>
            <a:r>
              <a:rPr lang="zh-CN" altLang="en-US" dirty="0"/>
              <a:t>假设只有</a:t>
            </a:r>
            <a:r>
              <a:rPr lang="en-US" altLang="zh-CN" dirty="0"/>
              <a:t> a </a:t>
            </a:r>
            <a:r>
              <a:rPr lang="zh-CN" altLang="en-US" dirty="0"/>
              <a:t>在基本块出口活跃，尝试</a:t>
            </a:r>
          </a:p>
          <a:p>
            <a:pPr marL="457200" lvl="1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优化右面的代码，并简述用到的技术</a:t>
            </a:r>
          </a:p>
          <a:p>
            <a:endParaRPr lang="zh-CN" altLang="en-US" dirty="0"/>
          </a:p>
        </p:txBody>
      </p:sp>
      <p:pic>
        <p:nvPicPr>
          <p:cNvPr id="10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914" y="3382645"/>
            <a:ext cx="4892040" cy="1630680"/>
          </a:xfrm>
          <a:prstGeom prst="rect">
            <a:avLst/>
          </a:prstGeom>
        </p:spPr>
      </p:pic>
      <p:sp>
        <p:nvSpPr>
          <p:cNvPr id="12" name="文本框 3"/>
          <p:cNvSpPr txBox="1"/>
          <p:nvPr/>
        </p:nvSpPr>
        <p:spPr>
          <a:xfrm>
            <a:off x="6588125" y="5013325"/>
            <a:ext cx="14389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d = b + c</a:t>
            </a:r>
          </a:p>
          <a:p>
            <a:r>
              <a:rPr lang="zh-CN" altLang="en-US"/>
              <a:t>e = </a:t>
            </a:r>
            <a:r>
              <a:rPr lang="en-US" altLang="zh-CN"/>
              <a:t>b</a:t>
            </a:r>
            <a:r>
              <a:rPr lang="zh-CN" altLang="en-US"/>
              <a:t> + </a:t>
            </a:r>
            <a:r>
              <a:rPr lang="en-US" altLang="zh-CN"/>
              <a:t>c</a:t>
            </a:r>
            <a:endParaRPr lang="zh-CN" altLang="en-US"/>
          </a:p>
          <a:p>
            <a:r>
              <a:rPr lang="zh-CN" altLang="en-US"/>
              <a:t>b = b * c</a:t>
            </a:r>
          </a:p>
          <a:p>
            <a:r>
              <a:rPr lang="zh-CN" altLang="en-US"/>
              <a:t>a = e </a:t>
            </a:r>
            <a:r>
              <a:rPr lang="en-US" altLang="zh-CN"/>
              <a:t>+ </a:t>
            </a:r>
            <a:r>
              <a:rPr lang="zh-CN" altLang="en-US"/>
              <a:t>d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ibm0325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bm0325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244</Words>
  <Application>Microsoft Office PowerPoint</Application>
  <PresentationFormat>全屏显示(4:3)</PresentationFormat>
  <Paragraphs>40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Monotype Sorts</vt:lpstr>
      <vt:lpstr>Tlwg Mono</vt:lpstr>
      <vt:lpstr>宋体</vt:lpstr>
      <vt:lpstr>Arial</vt:lpstr>
      <vt:lpstr>Book Antiqua</vt:lpstr>
      <vt:lpstr>Tahoma</vt:lpstr>
      <vt:lpstr>Times New Roman</vt:lpstr>
      <vt:lpstr>ibm0325</vt:lpstr>
      <vt:lpstr>第十二次作业</vt:lpstr>
      <vt:lpstr>第十二次作业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玉龙 张</cp:lastModifiedBy>
  <cp:revision>5</cp:revision>
  <dcterms:created xsi:type="dcterms:W3CDTF">2026-06-13T10:31:07Z</dcterms:created>
  <dcterms:modified xsi:type="dcterms:W3CDTF">2026-06-14T08:31:37Z</dcterms:modified>
</cp:coreProperties>
</file>