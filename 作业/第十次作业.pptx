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708775" cy="9774238"/>
  <p:defaultTextStyle>
    <a:defPPr>
      <a:defRPr lang="en-US"/>
    </a:defPPr>
    <a:lvl1pPr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 showGuides="1">
      <p:cViewPr varScale="1">
        <p:scale>
          <a:sx n="103" d="100"/>
          <a:sy n="103" d="100"/>
        </p:scale>
        <p:origin x="394" y="62"/>
      </p:cViewPr>
      <p:guideLst>
        <p:guide orient="horz" pos="144"/>
        <p:guide pos="5759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</a:rPr>
              <a:t>‹#›</a:t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15" descr="ict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2pPr>
      <a:lvl3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3pPr>
      <a:lvl4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4pPr>
      <a:lvl5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5pPr>
      <a:lvl6pPr marL="4572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6pPr>
      <a:lvl7pPr marL="9144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7pPr>
      <a:lvl8pPr marL="13716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8pPr>
      <a:lvl9pPr marL="18288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第十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688580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6.2.1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假定图 6-26 中的函数 widen 可以处理图 6-25a 的层次结构中的所有类型，翻译下列表达式。假定 </a:t>
            </a:r>
            <a:r>
              <a:rPr lang="en-US" altLang="zh-CN" b="1" dirty="0"/>
              <a:t>c</a:t>
            </a:r>
            <a:r>
              <a:rPr lang="zh-CN" altLang="en-US" b="1" dirty="0"/>
              <a:t> 是 char 型，</a:t>
            </a:r>
            <a:r>
              <a:rPr lang="en-US" altLang="zh-CN" b="1" dirty="0" err="1"/>
              <a:t>i</a:t>
            </a:r>
            <a:r>
              <a:rPr lang="zh-CN" altLang="en-US" b="1" dirty="0"/>
              <a:t>是</a:t>
            </a:r>
            <a:r>
              <a:rPr lang="en-US" altLang="zh-CN" dirty="0"/>
              <a:t> int </a:t>
            </a:r>
            <a:r>
              <a:rPr lang="zh-CN" altLang="en-US" dirty="0"/>
              <a:t>型，</a:t>
            </a:r>
            <a:r>
              <a:rPr lang="en-US" altLang="zh-CN" dirty="0"/>
              <a:t>s </a:t>
            </a:r>
            <a:r>
              <a:rPr lang="zh-CN" altLang="en-US" dirty="0"/>
              <a:t>是 </a:t>
            </a:r>
            <a:r>
              <a:rPr lang="en-US" altLang="zh-CN" dirty="0"/>
              <a:t>short </a:t>
            </a:r>
            <a:r>
              <a:rPr lang="zh-CN" altLang="en-US" dirty="0"/>
              <a:t>型，</a:t>
            </a:r>
            <a:r>
              <a:rPr lang="en-US" altLang="zh-CN" dirty="0"/>
              <a:t>f </a:t>
            </a:r>
            <a:r>
              <a:rPr lang="zh-CN" altLang="en-US" dirty="0"/>
              <a:t>是 </a:t>
            </a:r>
            <a:r>
              <a:rPr lang="en-US" altLang="zh-CN" dirty="0"/>
              <a:t>float </a:t>
            </a:r>
            <a:r>
              <a:rPr lang="zh-CN" altLang="en-US" dirty="0"/>
              <a:t>型，</a:t>
            </a:r>
            <a:r>
              <a:rPr lang="en-US" altLang="zh-CN" dirty="0"/>
              <a:t>y </a:t>
            </a:r>
            <a:r>
              <a:rPr lang="zh-CN" altLang="en-US" dirty="0"/>
              <a:t>是 </a:t>
            </a:r>
            <a:r>
              <a:rPr lang="en-US" altLang="zh-CN" dirty="0"/>
              <a:t>double </a:t>
            </a:r>
            <a:r>
              <a:rPr lang="zh-CN" altLang="en-US" dirty="0"/>
              <a:t>型</a:t>
            </a:r>
            <a:r>
              <a:rPr lang="zh-CN" altLang="en-US" b="1" dirty="0"/>
              <a:t>。</a:t>
            </a:r>
          </a:p>
          <a:p>
            <a:pPr lvl="1" algn="l"/>
            <a:r>
              <a:rPr lang="en-US" altLang="zh-CN" sz="2000" b="1" dirty="0">
                <a:cs typeface="+mn-ea"/>
              </a:rPr>
              <a:t>f = </a:t>
            </a:r>
            <a:r>
              <a:rPr lang="en-US" altLang="zh-CN" sz="2000" b="1" dirty="0" err="1">
                <a:cs typeface="+mn-ea"/>
              </a:rPr>
              <a:t>i</a:t>
            </a:r>
            <a:r>
              <a:rPr lang="en-US" altLang="zh-CN" sz="2000" b="1">
                <a:cs typeface="+mn-ea"/>
              </a:rPr>
              <a:t> </a:t>
            </a:r>
            <a:r>
              <a:rPr lang="en-US" altLang="zh-CN" sz="2000" dirty="0">
                <a:cs typeface="+mn-ea"/>
              </a:rPr>
              <a:t>*</a:t>
            </a:r>
            <a:r>
              <a:rPr lang="en-US" altLang="zh-CN" sz="2000" b="1">
                <a:cs typeface="+mn-ea"/>
              </a:rPr>
              <a:t> </a:t>
            </a:r>
            <a:r>
              <a:rPr lang="en-US" altLang="zh-CN" sz="2000" b="1" dirty="0">
                <a:cs typeface="+mn-ea"/>
              </a:rPr>
              <a:t>c</a:t>
            </a:r>
          </a:p>
          <a:p>
            <a:pPr lvl="1">
              <a:buFont typeface="Arial" panose="020B0604020202020204" pitchFamily="34" charset="0"/>
            </a:pPr>
            <a:r>
              <a:rPr lang="en-US" altLang="zh-CN" b="1" dirty="0">
                <a:cs typeface="+mn-lt"/>
              </a:rPr>
              <a:t>y</a:t>
            </a:r>
            <a:r>
              <a:rPr lang="zh-CN" altLang="en-US" b="1" dirty="0">
                <a:cs typeface="+mn-lt"/>
              </a:rPr>
              <a:t> = ( </a:t>
            </a:r>
            <a:r>
              <a:rPr lang="en-US" altLang="zh-CN" b="1" dirty="0" err="1">
                <a:cs typeface="+mn-lt"/>
              </a:rPr>
              <a:t>i</a:t>
            </a:r>
            <a:r>
              <a:rPr lang="zh-CN" altLang="en-US" b="1" dirty="0">
                <a:cs typeface="+mn-lt"/>
              </a:rPr>
              <a:t> + </a:t>
            </a:r>
            <a:r>
              <a:rPr lang="en-US" altLang="zh-CN" b="1" dirty="0">
                <a:cs typeface="+mn-lt"/>
              </a:rPr>
              <a:t>f</a:t>
            </a:r>
            <a:r>
              <a:rPr lang="zh-CN" altLang="en-US" b="1" dirty="0">
                <a:cs typeface="+mn-lt"/>
              </a:rPr>
              <a:t> ) </a:t>
            </a:r>
            <a:r>
              <a:rPr lang="en-US" altLang="zh-CN" b="1" dirty="0">
                <a:cs typeface="+mn-lt"/>
              </a:rPr>
              <a:t>-</a:t>
            </a:r>
            <a:r>
              <a:rPr lang="zh-CN" altLang="en-US" b="1" dirty="0">
                <a:cs typeface="+mn-lt"/>
              </a:rPr>
              <a:t> ( </a:t>
            </a:r>
            <a:r>
              <a:rPr lang="en-US" altLang="zh-CN" b="1" dirty="0">
                <a:cs typeface="+mn-lt"/>
              </a:rPr>
              <a:t>s</a:t>
            </a:r>
            <a:r>
              <a:rPr lang="zh-CN" altLang="en-US" b="1" dirty="0">
                <a:cs typeface="+mn-lt"/>
              </a:rPr>
              <a:t> + </a:t>
            </a:r>
            <a:r>
              <a:rPr lang="en-US" altLang="zh-CN" dirty="0">
                <a:cs typeface="+mn-lt"/>
              </a:rPr>
              <a:t>c</a:t>
            </a:r>
            <a:r>
              <a:rPr lang="zh-CN" altLang="en-US" b="1" dirty="0">
                <a:cs typeface="+mn-lt"/>
              </a:rPr>
              <a:t> )</a:t>
            </a:r>
          </a:p>
          <a:p>
            <a:pPr lvl="1">
              <a:buFont typeface="Arial" panose="020B0604020202020204" pitchFamily="34" charset="0"/>
            </a:pP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练习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6.2.2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sym typeface="+mn-ea"/>
              </a:rPr>
              <a:t>在图 </a:t>
            </a:r>
            <a:r>
              <a:rPr lang="en-US" altLang="zh-CN" sz="2000" dirty="0">
                <a:sym typeface="+mn-ea"/>
              </a:rPr>
              <a:t>6-36 </a:t>
            </a:r>
            <a:r>
              <a:rPr lang="zh-CN" altLang="en-US" sz="2000" dirty="0">
                <a:sym typeface="+mn-ea"/>
              </a:rPr>
              <a:t>的语法制导定义中添加处理下列控制流构造的规则：</a:t>
            </a:r>
            <a:endParaRPr lang="en-US" altLang="zh-CN" sz="2000" b="1" dirty="0"/>
          </a:p>
          <a:p>
            <a:pPr lvl="1"/>
            <a:r>
              <a:rPr lang="en-US" altLang="zh-CN" sz="2000" dirty="0">
                <a:sym typeface="+mn-ea"/>
              </a:rPr>
              <a:t>S→ repeat S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 until B</a:t>
            </a:r>
            <a:r>
              <a:rPr lang="zh-CN" altLang="en-US" sz="2000" dirty="0">
                <a:sym typeface="+mn-ea"/>
              </a:rPr>
              <a:t>，当</a:t>
            </a:r>
            <a:r>
              <a:rPr lang="en-US" altLang="zh-CN" sz="2000" dirty="0">
                <a:sym typeface="+mn-ea"/>
              </a:rPr>
              <a:t> B </a:t>
            </a:r>
            <a:r>
              <a:rPr lang="zh-CN" altLang="en-US" sz="2000" dirty="0">
                <a:sym typeface="+mn-ea"/>
              </a:rPr>
              <a:t>为真时结束循环</a:t>
            </a:r>
            <a:endParaRPr lang="zh-CN" altLang="en-US" sz="2000" b="1" dirty="0"/>
          </a:p>
          <a:p>
            <a:pPr lvl="1"/>
            <a:r>
              <a:rPr lang="en-US" altLang="zh-CN" sz="2000" dirty="0">
                <a:sym typeface="+mn-ea"/>
              </a:rPr>
              <a:t>S→ for ( S</a:t>
            </a:r>
            <a:r>
              <a:rPr lang="en-US" altLang="zh-CN" sz="2000" baseline="-25000" dirty="0">
                <a:sym typeface="+mn-ea"/>
              </a:rPr>
              <a:t>1</a:t>
            </a:r>
            <a:r>
              <a:rPr lang="en-US" altLang="zh-CN" sz="2000" dirty="0">
                <a:sym typeface="+mn-ea"/>
              </a:rPr>
              <a:t> ; B ; S</a:t>
            </a:r>
            <a:r>
              <a:rPr lang="en-US" altLang="zh-CN" sz="2000" baseline="-25000" dirty="0">
                <a:sym typeface="+mn-ea"/>
              </a:rPr>
              <a:t>2</a:t>
            </a:r>
            <a:r>
              <a:rPr lang="en-US" altLang="zh-CN" sz="2000" dirty="0">
                <a:sym typeface="+mn-ea"/>
              </a:rPr>
              <a:t> ) S</a:t>
            </a:r>
            <a:r>
              <a:rPr lang="en-US" altLang="zh-CN" sz="2000" baseline="-25000" dirty="0">
                <a:sym typeface="+mn-ea"/>
              </a:rPr>
              <a:t>3</a:t>
            </a:r>
            <a:endParaRPr lang="en-US" altLang="zh-CN" sz="2000" b="1" dirty="0"/>
          </a:p>
          <a:p>
            <a:pPr marL="457200" lvl="1" indent="0">
              <a:buNone/>
            </a:pPr>
            <a:endParaRPr lang="zh-CN" altLang="en-US" b="1" dirty="0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5.23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第十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lang="zh-CN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688580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6.2.3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使用图</a:t>
            </a:r>
            <a:r>
              <a:rPr lang="en-US" altLang="zh-CN" b="1" dirty="0"/>
              <a:t> 6-43 </a:t>
            </a:r>
            <a:r>
              <a:rPr lang="zh-CN" altLang="en-US" b="1" dirty="0"/>
              <a:t>中的翻译方案翻译下列表达式。给出每个子表达式的</a:t>
            </a:r>
            <a:r>
              <a:rPr lang="en-US" altLang="zh-CN" b="1" dirty="0"/>
              <a:t> truelist </a:t>
            </a:r>
            <a:r>
              <a:rPr lang="zh-CN" altLang="en-US" b="1" dirty="0"/>
              <a:t>和</a:t>
            </a:r>
            <a:r>
              <a:rPr lang="en-US" altLang="zh-CN" b="1" dirty="0"/>
              <a:t> falselist</a:t>
            </a:r>
            <a:r>
              <a:rPr lang="zh-CN" altLang="en-US" b="1" dirty="0"/>
              <a:t>。你可以假设第一条被生成的指令的地址是</a:t>
            </a:r>
            <a:r>
              <a:rPr lang="en-US" altLang="zh-CN" b="1" dirty="0"/>
              <a:t> 100.</a:t>
            </a:r>
          </a:p>
          <a:p>
            <a:pPr lvl="1"/>
            <a:r>
              <a:rPr lang="en-US" altLang="zh-CN" sz="2000" dirty="0">
                <a:sym typeface="+mn-ea"/>
              </a:rPr>
              <a:t>a==b &amp;&amp; (c==d || e==f)</a:t>
            </a:r>
            <a:endParaRPr lang="en-US" altLang="zh-CN" sz="2000" b="1" dirty="0"/>
          </a:p>
          <a:p>
            <a:pPr lvl="1"/>
            <a:r>
              <a:rPr lang="en-US" altLang="zh-CN" sz="2000" dirty="0">
                <a:sym typeface="+mn-ea"/>
              </a:rPr>
              <a:t>(a==b || c==d) || e==f</a:t>
            </a:r>
          </a:p>
          <a:p>
            <a:pPr lvl="1"/>
            <a:r>
              <a:rPr lang="en-US" altLang="zh-CN" sz="2000" dirty="0">
                <a:sym typeface="+mn-ea"/>
              </a:rPr>
              <a:t>(a==b &amp;&amp; c==d) &amp;&amp; e==f</a:t>
            </a:r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 lvl="1"/>
            <a:endParaRPr lang="en-US" altLang="zh-CN" sz="2000" b="1" dirty="0"/>
          </a:p>
          <a:p>
            <a:pPr>
              <a:buFont typeface="Arial" panose="020B0604020202020204" pitchFamily="34" charset="0"/>
              <a:buAutoNum type="arabicPeriod"/>
            </a:pPr>
            <a:endParaRPr lang="en-US" altLang="zh-CN" b="1" dirty="0"/>
          </a:p>
          <a:p>
            <a:pPr marL="457200" lvl="1" indent="0">
              <a:buNone/>
            </a:pPr>
            <a:endParaRPr lang="zh-CN" altLang="en-US" b="1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208</Words>
  <Application>Microsoft Office PowerPoint</Application>
  <PresentationFormat>全屏显示(4:3)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Monotype Sorts</vt:lpstr>
      <vt:lpstr>宋体</vt:lpstr>
      <vt:lpstr>Arial</vt:lpstr>
      <vt:lpstr>Book Antiqua</vt:lpstr>
      <vt:lpstr>Tahoma</vt:lpstr>
      <vt:lpstr>Times New Roman</vt:lpstr>
      <vt:lpstr>ibm0325</vt:lpstr>
      <vt:lpstr>第十次作业</vt:lpstr>
      <vt:lpstr>第十次作业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玉龙 张</cp:lastModifiedBy>
  <cp:revision>3</cp:revision>
  <dcterms:created xsi:type="dcterms:W3CDTF">2026-05-15T15:59:35Z</dcterms:created>
  <dcterms:modified xsi:type="dcterms:W3CDTF">2026-05-16T07:09:16Z</dcterms:modified>
</cp:coreProperties>
</file>